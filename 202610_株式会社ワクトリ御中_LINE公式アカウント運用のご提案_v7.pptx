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58"/>
  </p:notesMasterIdLst>
  <p:handoutMasterIdLst>
    <p:handoutMasterId r:id="rId59"/>
  </p:handoutMasterIdLst>
  <p:sldIdLst>
    <p:sldId id="2363" r:id="rId3"/>
    <p:sldId id="2726" r:id="rId4"/>
    <p:sldId id="2721" r:id="rId5"/>
    <p:sldId id="2723" r:id="rId6"/>
    <p:sldId id="2724" r:id="rId7"/>
    <p:sldId id="2364" r:id="rId8"/>
    <p:sldId id="2365" r:id="rId9"/>
    <p:sldId id="2725" r:id="rId10"/>
    <p:sldId id="3152" r:id="rId11"/>
    <p:sldId id="3153" r:id="rId12"/>
    <p:sldId id="3154" r:id="rId13"/>
    <p:sldId id="3155" r:id="rId14"/>
    <p:sldId id="3156" r:id="rId15"/>
    <p:sldId id="3157" r:id="rId16"/>
    <p:sldId id="3158" r:id="rId17"/>
    <p:sldId id="3159" r:id="rId18"/>
    <p:sldId id="2727" r:id="rId19"/>
    <p:sldId id="3131" r:id="rId20"/>
    <p:sldId id="3132" r:id="rId21"/>
    <p:sldId id="3150" r:id="rId22"/>
    <p:sldId id="2732" r:id="rId23"/>
    <p:sldId id="2733" r:id="rId24"/>
    <p:sldId id="2728" r:id="rId28"/>
    <p:sldId id="3177" r:id="rId64"/>
    <p:sldId id="3178" r:id="rId65"/>
    <p:sldId id="3179" r:id="rId66"/>
    <p:sldId id="3180" r:id="rId67"/>
    <p:sldId id="3181" r:id="rId68"/>
    <p:sldId id="3182" r:id="rId69"/>
    <p:sldId id="3183" r:id="rId70"/>
    <p:sldId id="3184" r:id="rId71"/>
    <p:sldId id="3174" r:id="rId25"/>
    <p:sldId id="3175" r:id="rId26"/>
    <p:sldId id="3176" r:id="rId27"/>
    <p:sldId id="2729" r:id="rId36"/>
    <p:sldId id="3168" r:id="rId37"/>
    <p:sldId id="3169" r:id="rId38"/>
    <p:sldId id="3170" r:id="rId39"/>
    <p:sldId id="2730" r:id="rId40"/>
    <p:sldId id="2563" r:id="rId41"/>
    <p:sldId id="2959" r:id="rId42"/>
    <p:sldId id="2970" r:id="rId43"/>
    <p:sldId id="2968" r:id="rId44"/>
    <p:sldId id="2969" r:id="rId45"/>
    <p:sldId id="3151" r:id="rId46"/>
    <p:sldId id="2575" r:id="rId47"/>
    <p:sldId id="2910" r:id="rId48"/>
    <p:sldId id="3171" r:id="rId49"/>
    <p:sldId id="3172" r:id="rId50"/>
    <p:sldId id="3173" r:id="rId51"/>
    <p:sldId id="3136" r:id="rId52"/>
    <p:sldId id="3137" r:id="rId53"/>
    <p:sldId id="3138" r:id="rId54"/>
    <p:sldId id="3139" r:id="rId55"/>
    <p:sldId id="3140" r:id="rId56"/>
    <p:sldId id="1169" r:id="rId57"/>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notesMaster" Target="notesMasters/notesMaster1.xml"/><Relationship Id="rId59" Type="http://schemas.openxmlformats.org/officeDocument/2006/relationships/handoutMaster" Target="handoutMasters/handout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2026/10/30</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55</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17.png"/><Relationship Id="rId5"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jpg"/><Relationship Id="rId3" Type="http://schemas.openxmlformats.org/officeDocument/2006/relationships/image" Target="../media/image22.jpg"/><Relationship Id="rId4" Type="http://schemas.openxmlformats.org/officeDocument/2006/relationships/image" Target="../media/image2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jpg"/><Relationship Id="rId3" Type="http://schemas.openxmlformats.org/officeDocument/2006/relationships/image" Target="../media/image25.jpg"/><Relationship Id="rId4" Type="http://schemas.openxmlformats.org/officeDocument/2006/relationships/image" Target="../media/image2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jpg"/><Relationship Id="rId3" Type="http://schemas.openxmlformats.org/officeDocument/2006/relationships/image" Target="../media/image2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jpg"/><Relationship Id="rId3" Type="http://schemas.openxmlformats.org/officeDocument/2006/relationships/image" Target="../media/image3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jpg"/><Relationship Id="rId3" Type="http://schemas.openxmlformats.org/officeDocument/2006/relationships/image" Target="../media/image32.jpg"/><Relationship Id="rId4" Type="http://schemas.openxmlformats.org/officeDocument/2006/relationships/image" Target="../media/image33.jpg"/><Relationship Id="rId5" Type="http://schemas.openxmlformats.org/officeDocument/2006/relationships/image" Target="../media/image3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image" Target="../media/image36.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7.png"/><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image" Target="../media/image6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3.jpg"/><Relationship Id="rId3" Type="http://schemas.openxmlformats.org/officeDocument/2006/relationships/image" Target="../media/image64.jp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image" Target="../media/image68.jpeg"/><Relationship Id="rId8" Type="http://schemas.openxmlformats.org/officeDocument/2006/relationships/image" Target="../media/image69.jpg"/><Relationship Id="rId9" Type="http://schemas.openxmlformats.org/officeDocument/2006/relationships/image" Target="../media/image70.png"/><Relationship Id="rId10" Type="http://schemas.openxmlformats.org/officeDocument/2006/relationships/image" Target="../media/image71.png"/><Relationship Id="rId11" Type="http://schemas.openxmlformats.org/officeDocument/2006/relationships/hyperlink" Target="https://youtube.com/shorts/0qI4QgrOppQ"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emf"/><Relationship Id="rId4" Type="http://schemas.openxmlformats.org/officeDocument/2006/relationships/image" Target="../media/image75.jpeg"/><Relationship Id="rId5" Type="http://schemas.openxmlformats.org/officeDocument/2006/relationships/image" Target="../media/image76.jpeg"/><Relationship Id="rId6" Type="http://schemas.openxmlformats.org/officeDocument/2006/relationships/image" Target="../media/image77.jpeg"/><Relationship Id="rId7" Type="http://schemas.openxmlformats.org/officeDocument/2006/relationships/image" Target="../media/image78.jpeg"/><Relationship Id="rId8" Type="http://schemas.openxmlformats.org/officeDocument/2006/relationships/image" Target="../media/image79.jpe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335024" y="2224725"/>
            <a:ext cx="7232904"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追客・ファン化を再構築する、LINE公式アカウントの設計見直し</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en-US" altLang="ja-JP" sz="1600" b="1" dirty="0">
                <a:solidFill>
                  <a:schemeClr val="tx1">
                    <a:lumMod val="50000"/>
                    <a:lumOff val="50000"/>
                  </a:schemeClr>
                </a:solidFill>
                <a:latin typeface="Meiryo" panose="020B0604030504040204" pitchFamily="34" charset="-128"/>
                <a:ea typeface="Meiryo" panose="020B0604030504040204" pitchFamily="34" charset="-128"/>
              </a:rPr>
              <a:t>株式会社ワクトリ 御中</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14BD-61D8-2EDF-00C5-CC99878DCBE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D26128CF-BCED-5375-A761-44A2026897C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2" name="図 1">
            <a:extLst>
              <a:ext uri="{FF2B5EF4-FFF2-40B4-BE49-F238E27FC236}">
                <a16:creationId xmlns:a16="http://schemas.microsoft.com/office/drawing/2014/main" id="{EE2AAF13-DB10-C453-237D-21D704CF1C48}"/>
              </a:ext>
            </a:extLst>
          </p:cNvPr>
          <p:cNvPicPr>
            <a:picLocks noChangeAspect="1"/>
          </p:cNvPicPr>
          <p:nvPr/>
        </p:nvPicPr>
        <p:blipFill>
          <a:blip r:embed="rId2"/>
          <a:stretch>
            <a:fillRect/>
          </a:stretch>
        </p:blipFill>
        <p:spPr>
          <a:xfrm>
            <a:off x="97593" y="604446"/>
            <a:ext cx="9710814" cy="5910368"/>
          </a:xfrm>
          <a:prstGeom prst="rect">
            <a:avLst/>
          </a:prstGeom>
        </p:spPr>
      </p:pic>
    </p:spTree>
    <p:extLst>
      <p:ext uri="{BB962C8B-B14F-4D97-AF65-F5344CB8AC3E}">
        <p14:creationId xmlns:p14="http://schemas.microsoft.com/office/powerpoint/2010/main" val="2404371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2026</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取扱社数は</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pic>
        <p:nvPicPr>
          <p:cNvPr id="5" name="図 4">
            <a:extLst>
              <a:ext uri="{FF2B5EF4-FFF2-40B4-BE49-F238E27FC236}">
                <a16:creationId xmlns:a16="http://schemas.microsoft.com/office/drawing/2014/main" id="{1F013E1B-3D36-6118-A1E8-A84BF28EDE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extLst>
      <p:ext uri="{BB962C8B-B14F-4D97-AF65-F5344CB8AC3E}">
        <p14:creationId xmlns:p14="http://schemas.microsoft.com/office/powerpoint/2010/main" val="3320555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a:t>
            </a:r>
            <a:r>
              <a:rPr kumimoji="1" lang="en-US" altLang="ja-JP" sz="1000" dirty="0">
                <a:solidFill>
                  <a:schemeClr val="tx1"/>
                </a:solidFill>
                <a:latin typeface="メイリオ" panose="020B0604030504040204" pitchFamily="50" charset="-128"/>
                <a:ea typeface="メイリオ" panose="020B0604030504040204" pitchFamily="50" charset="-128"/>
              </a:rPr>
              <a:t>CRM</a:t>
            </a:r>
            <a:r>
              <a:rPr kumimoji="1" lang="ja-JP" altLang="en-US" sz="1000"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88778"/>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99280"/>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704431"/>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61290"/>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739795"/>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88778"/>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94514"/>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740053"/>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54506"/>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553998"/>
          </a:xfrm>
          <a:prstGeom prst="rect">
            <a:avLst/>
          </a:prstGeom>
          <a:noFill/>
        </p:spPr>
        <p:txBody>
          <a:bodyPr wrap="square">
            <a:spAutoFit/>
          </a:bodyPr>
          <a:lstStyle/>
          <a:p>
            <a:pPr algn="ct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316755"/>
            <a:ext cx="4311647" cy="400110"/>
          </a:xfrm>
          <a:prstGeom prst="rect">
            <a:avLst/>
          </a:prstGeom>
          <a:noFill/>
        </p:spPr>
        <p:txBody>
          <a:bodyPr wrap="square" anchor="ctr">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738200"/>
            <a:ext cx="9005456" cy="5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400" dirty="0">
                <a:solidFill>
                  <a:schemeClr val="tx1"/>
                </a:solidFill>
                <a:latin typeface="メイリオ" panose="020B0604030504040204" pitchFamily="50" charset="-128"/>
                <a:ea typeface="メイリオ" panose="020B0604030504040204" pitchFamily="50" charset="-128"/>
              </a:rPr>
              <a:t>LINEOA</a:t>
            </a:r>
            <a:r>
              <a:rPr lang="ja-JP" altLang="en-US" sz="1400"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貴社社内部隊と連携して、一部委託もご相談いただけます。</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9F8FD3D-D156-D73A-268D-4BD2C4EFA147}"/>
              </a:ext>
            </a:extLst>
          </p:cNvPr>
          <p:cNvSpPr txBox="1"/>
          <p:nvPr/>
        </p:nvSpPr>
        <p:spPr>
          <a:xfrm>
            <a:off x="1659517" y="1322455"/>
            <a:ext cx="6603340" cy="260597"/>
          </a:xfrm>
          <a:prstGeom prst="rect">
            <a:avLst/>
          </a:prstGeom>
          <a:noFill/>
        </p:spPr>
        <p:txBody>
          <a:bodyPr wrap="square">
            <a:spAutoFit/>
          </a:bodyPr>
          <a:lstStyle/>
          <a:p>
            <a:pPr algn="ctr"/>
            <a:r>
              <a:rPr lang="en-US" altLang="ja-JP" sz="1050" dirty="0">
                <a:solidFill>
                  <a:srgbClr val="FF0000"/>
                </a:solidFill>
                <a:latin typeface="メイリオ" panose="020B0604030504040204" pitchFamily="50" charset="-128"/>
                <a:ea typeface="メイリオ" panose="020B0604030504040204" pitchFamily="50" charset="-128"/>
              </a:rPr>
              <a:t>※</a:t>
            </a:r>
            <a:r>
              <a:rPr lang="ja-JP" altLang="en-US" sz="1050"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2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11381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D8079-0D33-0F1A-6794-86CD36E2B42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01</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施策背景</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6426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42436-AC50-73E1-6EBE-63A7C5BBF42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6C8986CB-406D-05C6-C63F-77B94833C59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31CD8C5-8C6B-79E9-DFB1-36686BF9F96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100" dirty="0"/>
          </a:p>
        </p:txBody>
      </p:sp>
      <p:sp>
        <p:nvSpPr>
          <p:cNvPr id="7" name="テキスト ボックス 6">
            <a:extLst>
              <a:ext uri="{FF2B5EF4-FFF2-40B4-BE49-F238E27FC236}">
                <a16:creationId xmlns:a16="http://schemas.microsoft.com/office/drawing/2014/main" id="{0F9B49E5-148A-C9A5-79D8-759C503842C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市況の変化に伴い、リスト保有・マネタイズ・</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LTV</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の重要性は拡大している。</a:t>
            </a:r>
            <a:endParaRPr lang="ja-JP" altLang="en-US" sz="1000" dirty="0"/>
          </a:p>
        </p:txBody>
      </p:sp>
      <p:sp>
        <p:nvSpPr>
          <p:cNvPr id="9" name="テキスト ボックス 8">
            <a:extLst>
              <a:ext uri="{FF2B5EF4-FFF2-40B4-BE49-F238E27FC236}">
                <a16:creationId xmlns:a16="http://schemas.microsoft.com/office/drawing/2014/main" id="{E8BEF693-34F0-FCA3-0D13-025ADA077FA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1" name="正方形/長方形 10">
            <a:extLst>
              <a:ext uri="{FF2B5EF4-FFF2-40B4-BE49-F238E27FC236}">
                <a16:creationId xmlns:a16="http://schemas.microsoft.com/office/drawing/2014/main" id="{0F0E6BAB-8E00-CEF9-3F7F-B243C9622CE9}"/>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2" name="Rectangle 3">
            <a:extLst>
              <a:ext uri="{FF2B5EF4-FFF2-40B4-BE49-F238E27FC236}">
                <a16:creationId xmlns:a16="http://schemas.microsoft.com/office/drawing/2014/main" id="{AD99B47E-7A67-A20F-FA23-6FFE48B38289}"/>
              </a:ext>
            </a:extLst>
          </p:cNvPr>
          <p:cNvSpPr/>
          <p:nvPr/>
        </p:nvSpPr>
        <p:spPr>
          <a:xfrm>
            <a:off x="426720" y="1872996"/>
            <a:ext cx="15544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変化</a:t>
            </a:r>
          </a:p>
        </p:txBody>
      </p:sp>
      <p:sp>
        <p:nvSpPr>
          <p:cNvPr id="13" name="Rectangle 4">
            <a:extLst>
              <a:ext uri="{FF2B5EF4-FFF2-40B4-BE49-F238E27FC236}">
                <a16:creationId xmlns:a16="http://schemas.microsoft.com/office/drawing/2014/main" id="{3E0DC48D-92CE-9229-ADC8-397327218608}"/>
              </a:ext>
            </a:extLst>
          </p:cNvPr>
          <p:cNvSpPr/>
          <p:nvPr/>
        </p:nvSpPr>
        <p:spPr>
          <a:xfrm>
            <a:off x="2118360" y="1872996"/>
            <a:ext cx="26517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背景データ</a:t>
            </a:r>
          </a:p>
        </p:txBody>
      </p:sp>
      <p:sp>
        <p:nvSpPr>
          <p:cNvPr id="14" name="Rectangle 5">
            <a:extLst>
              <a:ext uri="{FF2B5EF4-FFF2-40B4-BE49-F238E27FC236}">
                <a16:creationId xmlns:a16="http://schemas.microsoft.com/office/drawing/2014/main" id="{E32730EA-2FDC-122D-34A0-22348B3965AF}"/>
              </a:ext>
            </a:extLst>
          </p:cNvPr>
          <p:cNvSpPr/>
          <p:nvPr/>
        </p:nvSpPr>
        <p:spPr>
          <a:xfrm>
            <a:off x="4907280" y="1872996"/>
            <a:ext cx="20116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lang="ja-JP" altLang="en-US" sz="1100" b="1" dirty="0">
                <a:solidFill>
                  <a:srgbClr val="1F2A5C"/>
                </a:solidFill>
                <a:latin typeface="メイリオ" panose="020B0604030504040204" pitchFamily="50" charset="-128"/>
                <a:ea typeface="メイリオ" panose="020B0604030504040204" pitchFamily="50" charset="-128"/>
              </a:rPr>
              <a:t>マーケティング</a:t>
            </a:r>
            <a:r>
              <a:rPr sz="1100" b="1" dirty="0" err="1">
                <a:solidFill>
                  <a:srgbClr val="1F2A5C"/>
                </a:solidFill>
                <a:latin typeface="メイリオ" panose="020B0604030504040204" pitchFamily="50" charset="-128"/>
                <a:ea typeface="メイリオ" panose="020B0604030504040204" pitchFamily="50" charset="-128"/>
              </a:rPr>
              <a:t>への影響</a:t>
            </a:r>
            <a:endParaRPr sz="1100" b="1" dirty="0">
              <a:solidFill>
                <a:srgbClr val="1F2A5C"/>
              </a:solidFill>
              <a:latin typeface="メイリオ" panose="020B0604030504040204" pitchFamily="50" charset="-128"/>
              <a:ea typeface="メイリオ" panose="020B0604030504040204" pitchFamily="50" charset="-128"/>
            </a:endParaRPr>
          </a:p>
        </p:txBody>
      </p:sp>
      <p:sp>
        <p:nvSpPr>
          <p:cNvPr id="15" name="Rectangle 6">
            <a:extLst>
              <a:ext uri="{FF2B5EF4-FFF2-40B4-BE49-F238E27FC236}">
                <a16:creationId xmlns:a16="http://schemas.microsoft.com/office/drawing/2014/main" id="{E20F6A55-5A9A-17DC-163C-8353499D7D59}"/>
              </a:ext>
            </a:extLst>
          </p:cNvPr>
          <p:cNvSpPr/>
          <p:nvPr/>
        </p:nvSpPr>
        <p:spPr>
          <a:xfrm>
            <a:off x="7056120" y="1872996"/>
            <a:ext cx="24231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C8102E"/>
                </a:solidFill>
                <a:latin typeface="メイリオ" panose="020B0604030504040204" pitchFamily="50" charset="-128"/>
                <a:ea typeface="メイリオ" panose="020B0604030504040204" pitchFamily="50" charset="-128"/>
              </a:rPr>
              <a:t>LINE OAでの対応</a:t>
            </a:r>
          </a:p>
        </p:txBody>
      </p:sp>
      <p:sp>
        <p:nvSpPr>
          <p:cNvPr id="16" name="Rectangle 7">
            <a:extLst>
              <a:ext uri="{FF2B5EF4-FFF2-40B4-BE49-F238E27FC236}">
                <a16:creationId xmlns:a16="http://schemas.microsoft.com/office/drawing/2014/main" id="{5C785CCD-8743-8281-EE42-652E7CC6C711}"/>
              </a:ext>
            </a:extLst>
          </p:cNvPr>
          <p:cNvSpPr/>
          <p:nvPr/>
        </p:nvSpPr>
        <p:spPr>
          <a:xfrm>
            <a:off x="381000" y="219303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①</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広告接点の早期化</a:t>
            </a:r>
          </a:p>
        </p:txBody>
      </p:sp>
      <p:sp>
        <p:nvSpPr>
          <p:cNvPr id="17" name="Rectangle 8">
            <a:extLst>
              <a:ext uri="{FF2B5EF4-FFF2-40B4-BE49-F238E27FC236}">
                <a16:creationId xmlns:a16="http://schemas.microsoft.com/office/drawing/2014/main" id="{51B35245-DA01-007C-B2BF-E2F0A67DC3C4}"/>
              </a:ext>
            </a:extLst>
          </p:cNvPr>
          <p:cNvSpPr/>
          <p:nvPr/>
        </p:nvSpPr>
        <p:spPr>
          <a:xfrm>
            <a:off x="2072640" y="219303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7,249億円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動画広告市場（2024年・前年比115.9%）。</a:t>
            </a:r>
            <a:r>
              <a:rPr sz="950" b="1" dirty="0">
                <a:solidFill>
                  <a:srgbClr val="777777"/>
                </a:solidFill>
                <a:latin typeface="メイリオ" panose="020B0604030504040204" pitchFamily="50" charset="-128"/>
                <a:ea typeface="メイリオ" panose="020B0604030504040204" pitchFamily="50" charset="-128"/>
              </a:rPr>
              <a:t>縦型動画は前年比171.1%</a:t>
            </a:r>
          </a:p>
        </p:txBody>
      </p:sp>
      <p:sp>
        <p:nvSpPr>
          <p:cNvPr id="18" name="Rectangle 9">
            <a:extLst>
              <a:ext uri="{FF2B5EF4-FFF2-40B4-BE49-F238E27FC236}">
                <a16:creationId xmlns:a16="http://schemas.microsoft.com/office/drawing/2014/main" id="{8A01196A-31FA-AA2D-83D7-5C664ABF1B2A}"/>
              </a:ext>
            </a:extLst>
          </p:cNvPr>
          <p:cNvSpPr/>
          <p:nvPr/>
        </p:nvSpPr>
        <p:spPr>
          <a:xfrm>
            <a:off x="4861560" y="219303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購入前の接触が増え</a:t>
            </a:r>
            <a:r>
              <a:rPr sz="1000" b="0" dirty="0">
                <a:solidFill>
                  <a:srgbClr val="333333"/>
                </a:solidFill>
                <a:latin typeface="メイリオ" panose="020B0604030504040204" pitchFamily="50" charset="-128"/>
                <a:ea typeface="メイリオ" panose="020B0604030504040204" pitchFamily="50" charset="-128"/>
              </a:rPr>
              <a:t>、</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CVだけで接点の価値が見えない</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19" name="Rectangle 10">
            <a:extLst>
              <a:ext uri="{FF2B5EF4-FFF2-40B4-BE49-F238E27FC236}">
                <a16:creationId xmlns:a16="http://schemas.microsoft.com/office/drawing/2014/main" id="{CA8C05AB-C62C-76A1-00F4-F4DE182A4C8A}"/>
              </a:ext>
            </a:extLst>
          </p:cNvPr>
          <p:cNvSpPr/>
          <p:nvPr/>
        </p:nvSpPr>
        <p:spPr>
          <a:xfrm>
            <a:off x="7010400" y="219303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CV前に友だち化し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検討中も接点を維持する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0" name="Rectangle 11">
            <a:extLst>
              <a:ext uri="{FF2B5EF4-FFF2-40B4-BE49-F238E27FC236}">
                <a16:creationId xmlns:a16="http://schemas.microsoft.com/office/drawing/2014/main" id="{A17D7EF3-1AC3-4FC4-0524-407D9564A31C}"/>
              </a:ext>
            </a:extLst>
          </p:cNvPr>
          <p:cNvSpPr/>
          <p:nvPr/>
        </p:nvSpPr>
        <p:spPr>
          <a:xfrm>
            <a:off x="381000" y="324459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②</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CPCの高騰</a:t>
            </a:r>
          </a:p>
        </p:txBody>
      </p:sp>
      <p:sp>
        <p:nvSpPr>
          <p:cNvPr id="21" name="Rectangle 12">
            <a:extLst>
              <a:ext uri="{FF2B5EF4-FFF2-40B4-BE49-F238E27FC236}">
                <a16:creationId xmlns:a16="http://schemas.microsoft.com/office/drawing/2014/main" id="{9C9A8D6A-35C3-09FD-E00C-AF890038B7F2}"/>
              </a:ext>
            </a:extLst>
          </p:cNvPr>
          <p:cNvSpPr/>
          <p:nvPr/>
        </p:nvSpPr>
        <p:spPr>
          <a:xfrm>
            <a:off x="2072640" y="324459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1兆1,931億円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検索連動型広告（前年比111.2%）。ネット広告媒体費は2兆9,611億円</a:t>
            </a:r>
          </a:p>
        </p:txBody>
      </p:sp>
      <p:sp>
        <p:nvSpPr>
          <p:cNvPr id="22" name="Rectangle 13">
            <a:extLst>
              <a:ext uri="{FF2B5EF4-FFF2-40B4-BE49-F238E27FC236}">
                <a16:creationId xmlns:a16="http://schemas.microsoft.com/office/drawing/2014/main" id="{45BA9884-66A6-4B9C-6CA2-F04CF341DAAF}"/>
              </a:ext>
            </a:extLst>
          </p:cNvPr>
          <p:cNvSpPr/>
          <p:nvPr/>
        </p:nvSpPr>
        <p:spPr>
          <a:xfrm>
            <a:off x="4861560" y="324459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入札競争が続き、離脱した</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流入の広告費が回収できない</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lang="en-US" altLang="ja-JP" sz="1000" b="1" dirty="0">
                <a:solidFill>
                  <a:srgbClr val="333333"/>
                </a:solidFill>
                <a:latin typeface="メイリオ" panose="020B0604030504040204" pitchFamily="50" charset="-128"/>
                <a:ea typeface="メイリオ" panose="020B0604030504040204" pitchFamily="50" charset="-128"/>
              </a:rPr>
              <a:t>3</a:t>
            </a:r>
            <a:r>
              <a:rPr lang="ja-JP" altLang="en-US" sz="1000" b="1" dirty="0">
                <a:solidFill>
                  <a:srgbClr val="333333"/>
                </a:solidFill>
                <a:latin typeface="メイリオ" panose="020B0604030504040204" pitchFamily="50" charset="-128"/>
                <a:ea typeface="メイリオ" panose="020B0604030504040204" pitchFamily="50" charset="-128"/>
              </a:rPr>
              <a:t>年前比：</a:t>
            </a:r>
            <a:r>
              <a:rPr lang="en-US" altLang="ja-JP" sz="1000" b="1" dirty="0">
                <a:solidFill>
                  <a:srgbClr val="333333"/>
                </a:solidFill>
                <a:latin typeface="メイリオ" panose="020B0604030504040204" pitchFamily="50" charset="-128"/>
                <a:ea typeface="メイリオ" panose="020B0604030504040204" pitchFamily="50" charset="-128"/>
              </a:rPr>
              <a:t>32%</a:t>
            </a:r>
            <a:r>
              <a:rPr lang="ja-JP" altLang="en-US" sz="1000" b="1" dirty="0">
                <a:solidFill>
                  <a:srgbClr val="333333"/>
                </a:solidFill>
                <a:latin typeface="メイリオ" panose="020B0604030504040204" pitchFamily="50" charset="-128"/>
                <a:ea typeface="メイリオ" panose="020B0604030504040204" pitchFamily="50" charset="-128"/>
              </a:rPr>
              <a:t>程度増</a:t>
            </a:r>
            <a:endParaRPr sz="1000" b="1" dirty="0">
              <a:solidFill>
                <a:srgbClr val="333333"/>
              </a:solidFill>
              <a:latin typeface="メイリオ" panose="020B0604030504040204" pitchFamily="50" charset="-128"/>
              <a:ea typeface="メイリオ" panose="020B0604030504040204" pitchFamily="50" charset="-128"/>
            </a:endParaRPr>
          </a:p>
        </p:txBody>
      </p:sp>
      <p:sp>
        <p:nvSpPr>
          <p:cNvPr id="23" name="Rectangle 14">
            <a:extLst>
              <a:ext uri="{FF2B5EF4-FFF2-40B4-BE49-F238E27FC236}">
                <a16:creationId xmlns:a16="http://schemas.microsoft.com/office/drawing/2014/main" id="{0F279B57-A5CD-5ABE-1169-BA1B16859218}"/>
              </a:ext>
            </a:extLst>
          </p:cNvPr>
          <p:cNvSpPr/>
          <p:nvPr/>
        </p:nvSpPr>
        <p:spPr>
          <a:xfrm>
            <a:off x="7010400" y="324459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離脱後も友だち化し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lang="ja-JP" altLang="en-US" sz="1150" b="1" dirty="0">
                <a:solidFill>
                  <a:srgbClr val="FF0000"/>
                </a:solidFill>
                <a:latin typeface="メイリオ" panose="020B0604030504040204" pitchFamily="50" charset="-128"/>
                <a:ea typeface="メイリオ" panose="020B0604030504040204" pitchFamily="50" charset="-128"/>
              </a:rPr>
              <a:t>セグメント配信</a:t>
            </a:r>
            <a:r>
              <a:rPr lang="ja-JP" altLang="en-US" sz="1150" b="1" dirty="0">
                <a:solidFill>
                  <a:srgbClr val="1F2A5C"/>
                </a:solidFill>
                <a:latin typeface="メイリオ" panose="020B0604030504040204" pitchFamily="50" charset="-128"/>
                <a:ea typeface="メイリオ" panose="020B0604030504040204" pitchFamily="50" charset="-128"/>
              </a:rPr>
              <a:t>で</a:t>
            </a:r>
            <a:r>
              <a:rPr sz="1150" b="1" dirty="0" err="1">
                <a:solidFill>
                  <a:srgbClr val="1F2A5C"/>
                </a:solidFill>
                <a:latin typeface="メイリオ" panose="020B0604030504040204" pitchFamily="50" charset="-128"/>
                <a:ea typeface="メイリオ" panose="020B0604030504040204" pitchFamily="50" charset="-128"/>
              </a:rPr>
              <a:t>CV回収する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4" name="Rectangle 15">
            <a:extLst>
              <a:ext uri="{FF2B5EF4-FFF2-40B4-BE49-F238E27FC236}">
                <a16:creationId xmlns:a16="http://schemas.microsoft.com/office/drawing/2014/main" id="{63F6C682-E819-BB1D-789F-194C9870942B}"/>
              </a:ext>
            </a:extLst>
          </p:cNvPr>
          <p:cNvSpPr/>
          <p:nvPr/>
        </p:nvSpPr>
        <p:spPr>
          <a:xfrm>
            <a:off x="381000" y="429615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③</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リマケリストの難化</a:t>
            </a:r>
          </a:p>
        </p:txBody>
      </p:sp>
      <p:sp>
        <p:nvSpPr>
          <p:cNvPr id="25" name="Rectangle 16">
            <a:extLst>
              <a:ext uri="{FF2B5EF4-FFF2-40B4-BE49-F238E27FC236}">
                <a16:creationId xmlns:a16="http://schemas.microsoft.com/office/drawing/2014/main" id="{CE444CC6-8444-A56B-53F6-34549AA5E5D5}"/>
              </a:ext>
            </a:extLst>
          </p:cNvPr>
          <p:cNvSpPr/>
          <p:nvPr/>
        </p:nvSpPr>
        <p:spPr>
          <a:xfrm>
            <a:off x="2072640" y="429615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7日／24時間</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Safariの保持期間上限（2022年秋〜）。2020年に全面ブロック、法改正で同意・通知も必要</a:t>
            </a:r>
          </a:p>
        </p:txBody>
      </p:sp>
      <p:sp>
        <p:nvSpPr>
          <p:cNvPr id="26" name="Rectangle 17">
            <a:extLst>
              <a:ext uri="{FF2B5EF4-FFF2-40B4-BE49-F238E27FC236}">
                <a16:creationId xmlns:a16="http://schemas.microsoft.com/office/drawing/2014/main" id="{A35C0F42-C61B-5793-966E-BE564AA54CFB}"/>
              </a:ext>
            </a:extLst>
          </p:cNvPr>
          <p:cNvSpPr/>
          <p:nvPr/>
        </p:nvSpPr>
        <p:spPr>
          <a:xfrm>
            <a:off x="4861560" y="429615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a:solidFill>
                  <a:srgbClr val="333333"/>
                </a:solidFill>
                <a:latin typeface="メイリオ" panose="020B0604030504040204" pitchFamily="50" charset="-128"/>
                <a:ea typeface="メイリオ" panose="020B0604030504040204" pitchFamily="50" charset="-128"/>
              </a:rPr>
              <a:t>再訪問者リストを長く持てない</a:t>
            </a:r>
          </a:p>
        </p:txBody>
      </p:sp>
      <p:sp>
        <p:nvSpPr>
          <p:cNvPr id="27" name="Rectangle 18">
            <a:extLst>
              <a:ext uri="{FF2B5EF4-FFF2-40B4-BE49-F238E27FC236}">
                <a16:creationId xmlns:a16="http://schemas.microsoft.com/office/drawing/2014/main" id="{DF93DF39-4FD7-9BA0-BEEB-470FA702AFD7}"/>
              </a:ext>
            </a:extLst>
          </p:cNvPr>
          <p:cNvSpPr/>
          <p:nvPr/>
        </p:nvSpPr>
        <p:spPr>
          <a:xfrm>
            <a:off x="7010400" y="429615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許諾済みの自社リストとして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友だちを保持する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8" name="Rectangle 19">
            <a:extLst>
              <a:ext uri="{FF2B5EF4-FFF2-40B4-BE49-F238E27FC236}">
                <a16:creationId xmlns:a16="http://schemas.microsoft.com/office/drawing/2014/main" id="{4AD57304-3963-5332-753B-F508A6F0B113}"/>
              </a:ext>
            </a:extLst>
          </p:cNvPr>
          <p:cNvSpPr/>
          <p:nvPr/>
        </p:nvSpPr>
        <p:spPr>
          <a:xfrm>
            <a:off x="381000" y="534771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dirty="0">
                <a:solidFill>
                  <a:srgbClr val="FFFFFF"/>
                </a:solidFill>
                <a:latin typeface="メイリオ" panose="020B0604030504040204" pitchFamily="50" charset="-128"/>
                <a:ea typeface="メイリオ" panose="020B0604030504040204" pitchFamily="50" charset="-128"/>
              </a:rPr>
              <a:t>④</a:t>
            </a: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選択肢</a:t>
            </a:r>
            <a:r>
              <a:rPr lang="ja-JP" altLang="en-US" sz="1200" b="1" dirty="0">
                <a:solidFill>
                  <a:srgbClr val="FFFFFF"/>
                </a:solidFill>
                <a:latin typeface="メイリオ" panose="020B0604030504040204" pitchFamily="50" charset="-128"/>
                <a:ea typeface="メイリオ" panose="020B0604030504040204" pitchFamily="50" charset="-128"/>
              </a:rPr>
              <a:t>の</a:t>
            </a:r>
            <a:r>
              <a:rPr sz="1200" b="1" dirty="0">
                <a:solidFill>
                  <a:srgbClr val="FFFFFF"/>
                </a:solidFill>
                <a:latin typeface="メイリオ" panose="020B0604030504040204" pitchFamily="50" charset="-128"/>
                <a:ea typeface="メイリオ" panose="020B0604030504040204" pitchFamily="50" charset="-128"/>
              </a:rPr>
              <a:t>増</a:t>
            </a:r>
            <a:r>
              <a:rPr lang="ja-JP" altLang="en-US" sz="1200" b="1" dirty="0">
                <a:solidFill>
                  <a:srgbClr val="FFFFFF"/>
                </a:solidFill>
                <a:latin typeface="メイリオ" panose="020B0604030504040204" pitchFamily="50" charset="-128"/>
                <a:ea typeface="メイリオ" panose="020B0604030504040204" pitchFamily="50" charset="-128"/>
              </a:rPr>
              <a:t>加</a:t>
            </a:r>
            <a:endParaRPr lang="en-US" sz="1200" b="1" dirty="0">
              <a:solidFill>
                <a:srgbClr val="FFFFFF"/>
              </a:solidFill>
              <a:latin typeface="メイリオ" panose="020B0604030504040204" pitchFamily="50" charset="-128"/>
              <a:ea typeface="メイリオ" panose="020B0604030504040204" pitchFamily="50" charset="-128"/>
            </a:endParaRP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検討長期化</a:t>
            </a:r>
            <a:endParaRPr sz="1200" b="1" dirty="0">
              <a:solidFill>
                <a:srgbClr val="FFFFFF"/>
              </a:solidFill>
              <a:latin typeface="メイリオ" panose="020B0604030504040204" pitchFamily="50" charset="-128"/>
              <a:ea typeface="メイリオ" panose="020B0604030504040204" pitchFamily="50" charset="-128"/>
            </a:endParaRPr>
          </a:p>
        </p:txBody>
      </p:sp>
      <p:sp>
        <p:nvSpPr>
          <p:cNvPr id="29" name="Rectangle 20">
            <a:extLst>
              <a:ext uri="{FF2B5EF4-FFF2-40B4-BE49-F238E27FC236}">
                <a16:creationId xmlns:a16="http://schemas.microsoft.com/office/drawing/2014/main" id="{4C419739-A588-2E5A-0FCA-992B80A6DB23}"/>
              </a:ext>
            </a:extLst>
          </p:cNvPr>
          <p:cNvSpPr/>
          <p:nvPr/>
        </p:nvSpPr>
        <p:spPr>
          <a:xfrm>
            <a:off x="2072640" y="534771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9,900万人</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LINE月間利用者（2025年6月末）。広告費は前年比110.2%で比較対象が増加</a:t>
            </a:r>
          </a:p>
        </p:txBody>
      </p:sp>
      <p:sp>
        <p:nvSpPr>
          <p:cNvPr id="30" name="Rectangle 21">
            <a:extLst>
              <a:ext uri="{FF2B5EF4-FFF2-40B4-BE49-F238E27FC236}">
                <a16:creationId xmlns:a16="http://schemas.microsoft.com/office/drawing/2014/main" id="{4DBE8D20-D000-63F5-78E8-0E87974E1648}"/>
              </a:ext>
            </a:extLst>
          </p:cNvPr>
          <p:cNvSpPr/>
          <p:nvPr/>
        </p:nvSpPr>
        <p:spPr>
          <a:xfrm>
            <a:off x="4861560" y="534771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a:solidFill>
                  <a:srgbClr val="333333"/>
                </a:solidFill>
                <a:latin typeface="メイリオ" panose="020B0604030504040204" pitchFamily="50" charset="-128"/>
                <a:ea typeface="メイリオ" panose="020B0604030504040204" pitchFamily="50" charset="-128"/>
              </a:rPr>
              <a:t>1回の接触では決まらず、</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離脱後の追客が要る</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31" name="Rectangle 22">
            <a:extLst>
              <a:ext uri="{FF2B5EF4-FFF2-40B4-BE49-F238E27FC236}">
                <a16:creationId xmlns:a16="http://schemas.microsoft.com/office/drawing/2014/main" id="{E546F08F-DCDF-7DC5-B4A8-B1568842B1C8}"/>
              </a:ext>
            </a:extLst>
          </p:cNvPr>
          <p:cNvSpPr/>
          <p:nvPr/>
        </p:nvSpPr>
        <p:spPr>
          <a:xfrm>
            <a:off x="7010400" y="534771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検討段階に合わせて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FF0000"/>
                </a:solidFill>
                <a:latin typeface="メイリオ" panose="020B0604030504040204" pitchFamily="50" charset="-128"/>
                <a:ea typeface="メイリオ" panose="020B0604030504040204" pitchFamily="50" charset="-128"/>
              </a:rPr>
              <a:t>ステップ配信</a:t>
            </a:r>
            <a:r>
              <a:rPr sz="1150" b="1" dirty="0" err="1">
                <a:solidFill>
                  <a:srgbClr val="1F2A5C"/>
                </a:solidFill>
                <a:latin typeface="メイリオ" panose="020B0604030504040204" pitchFamily="50" charset="-128"/>
                <a:ea typeface="メイリオ" panose="020B0604030504040204" pitchFamily="50" charset="-128"/>
              </a:rPr>
              <a:t>で接触する</a:t>
            </a:r>
            <a:endParaRPr sz="1150" b="1" dirty="0">
              <a:solidFill>
                <a:srgbClr val="1F2A5C"/>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69381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42F3-A366-2F77-BD90-8553126BF31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10EB49B5-9FC5-84CA-4DB1-FD1822B1AD4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AE0FF34-E36F-DACD-C81B-257EFD178A2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CBE40DF-02FF-09AD-254C-C183AF288F03}"/>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6F82A582-FD96-0975-8BC7-695742F3474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AA2B66CF-65F8-FB43-708F-6D49976FCE6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23" name="図 22">
            <a:extLst>
              <a:ext uri="{FF2B5EF4-FFF2-40B4-BE49-F238E27FC236}">
                <a16:creationId xmlns:a16="http://schemas.microsoft.com/office/drawing/2014/main" id="{A3ED5CD5-2475-1675-D861-6DF0FEF85224}"/>
              </a:ext>
            </a:extLst>
          </p:cNvPr>
          <p:cNvPicPr>
            <a:picLocks noChangeAspect="1"/>
          </p:cNvPicPr>
          <p:nvPr/>
        </p:nvPicPr>
        <p:blipFill>
          <a:blip r:embed="rId2"/>
          <a:stretch>
            <a:fillRect/>
          </a:stretch>
        </p:blipFill>
        <p:spPr>
          <a:xfrm>
            <a:off x="4731535" y="1769209"/>
            <a:ext cx="4865885" cy="2313349"/>
          </a:xfrm>
          <a:prstGeom prst="rect">
            <a:avLst/>
          </a:prstGeom>
        </p:spPr>
      </p:pic>
      <p:pic>
        <p:nvPicPr>
          <p:cNvPr id="55" name="図 54">
            <a:extLst>
              <a:ext uri="{FF2B5EF4-FFF2-40B4-BE49-F238E27FC236}">
                <a16:creationId xmlns:a16="http://schemas.microsoft.com/office/drawing/2014/main" id="{6F101A2A-4E40-54D6-6EFF-FC688C1D2F0B}"/>
              </a:ext>
            </a:extLst>
          </p:cNvPr>
          <p:cNvPicPr>
            <a:picLocks noChangeAspect="1"/>
          </p:cNvPicPr>
          <p:nvPr/>
        </p:nvPicPr>
        <p:blipFill>
          <a:blip r:embed="rId3"/>
          <a:stretch>
            <a:fillRect/>
          </a:stretch>
        </p:blipFill>
        <p:spPr>
          <a:xfrm>
            <a:off x="121721" y="1796423"/>
            <a:ext cx="4547463" cy="2282442"/>
          </a:xfrm>
          <a:prstGeom prst="rect">
            <a:avLst/>
          </a:prstGeom>
        </p:spPr>
      </p:pic>
      <p:pic>
        <p:nvPicPr>
          <p:cNvPr id="4" name="図 3">
            <a:extLst>
              <a:ext uri="{FF2B5EF4-FFF2-40B4-BE49-F238E27FC236}">
                <a16:creationId xmlns:a16="http://schemas.microsoft.com/office/drawing/2014/main" id="{E64EEB20-E6D7-1754-B863-CE02D1637BAF}"/>
              </a:ext>
            </a:extLst>
          </p:cNvPr>
          <p:cNvPicPr>
            <a:picLocks noChangeAspect="1"/>
          </p:cNvPicPr>
          <p:nvPr/>
        </p:nvPicPr>
        <p:blipFill>
          <a:blip r:embed="rId4"/>
          <a:stretch>
            <a:fillRect/>
          </a:stretch>
        </p:blipFill>
        <p:spPr>
          <a:xfrm>
            <a:off x="4743273" y="4163531"/>
            <a:ext cx="5026817" cy="2263604"/>
          </a:xfrm>
          <a:prstGeom prst="rect">
            <a:avLst/>
          </a:prstGeom>
        </p:spPr>
      </p:pic>
      <p:pic>
        <p:nvPicPr>
          <p:cNvPr id="8" name="図 7">
            <a:extLst>
              <a:ext uri="{FF2B5EF4-FFF2-40B4-BE49-F238E27FC236}">
                <a16:creationId xmlns:a16="http://schemas.microsoft.com/office/drawing/2014/main" id="{4155BE30-8F47-BE42-0733-C328ACCE19E0}"/>
              </a:ext>
            </a:extLst>
          </p:cNvPr>
          <p:cNvPicPr>
            <a:picLocks noChangeAspect="1"/>
          </p:cNvPicPr>
          <p:nvPr/>
        </p:nvPicPr>
        <p:blipFill>
          <a:blip r:embed="rId5"/>
          <a:stretch>
            <a:fillRect/>
          </a:stretch>
        </p:blipFill>
        <p:spPr>
          <a:xfrm>
            <a:off x="144233" y="4162283"/>
            <a:ext cx="4502439" cy="2249497"/>
          </a:xfrm>
          <a:prstGeom prst="rect">
            <a:avLst/>
          </a:prstGeom>
        </p:spPr>
      </p:pic>
    </p:spTree>
    <p:extLst>
      <p:ext uri="{BB962C8B-B14F-4D97-AF65-F5344CB8AC3E}">
        <p14:creationId xmlns:p14="http://schemas.microsoft.com/office/powerpoint/2010/main" val="886819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F785-21C2-3B5C-6EEA-F1CBBF75AF74}"/>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0A6CFA27-8734-0256-59C9-95D2B252C11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705FD20-7673-B4F7-9F0F-FDAA55CE0655}"/>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4C9CF45E-C71E-D1AB-5CC4-7A1544E4139F}"/>
              </a:ext>
            </a:extLst>
          </p:cNvPr>
          <p:cNvSpPr txBox="1"/>
          <p:nvPr/>
        </p:nvSpPr>
        <p:spPr>
          <a:xfrm>
            <a:off x="96788" y="1202790"/>
            <a:ext cx="7594930"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市況変化の中で、</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公式アカウントを導入・最適化すべき</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4</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つの理由</a:t>
            </a:r>
            <a:endParaRPr lang="ja-JP" altLang="en-US" sz="1000" dirty="0"/>
          </a:p>
        </p:txBody>
      </p:sp>
      <p:sp>
        <p:nvSpPr>
          <p:cNvPr id="9" name="テキスト ボックス 8">
            <a:extLst>
              <a:ext uri="{FF2B5EF4-FFF2-40B4-BE49-F238E27FC236}">
                <a16:creationId xmlns:a16="http://schemas.microsoft.com/office/drawing/2014/main" id="{2466A3D1-79A2-FC11-5F03-CB24F3F95CFB}"/>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70" name="図 69">
            <a:extLst>
              <a:ext uri="{FF2B5EF4-FFF2-40B4-BE49-F238E27FC236}">
                <a16:creationId xmlns:a16="http://schemas.microsoft.com/office/drawing/2014/main" id="{BD57C684-39A2-ED1F-858B-037F82BEC993}"/>
              </a:ext>
            </a:extLst>
          </p:cNvPr>
          <p:cNvPicPr>
            <a:picLocks noChangeAspect="1"/>
          </p:cNvPicPr>
          <p:nvPr/>
        </p:nvPicPr>
        <p:blipFill>
          <a:blip r:embed="rId2"/>
          <a:stretch>
            <a:fillRect/>
          </a:stretch>
        </p:blipFill>
        <p:spPr>
          <a:xfrm>
            <a:off x="4743273" y="4163531"/>
            <a:ext cx="5026817" cy="2263604"/>
          </a:xfrm>
          <a:prstGeom prst="rect">
            <a:avLst/>
          </a:prstGeom>
        </p:spPr>
      </p:pic>
      <p:pic>
        <p:nvPicPr>
          <p:cNvPr id="72" name="図 71">
            <a:extLst>
              <a:ext uri="{FF2B5EF4-FFF2-40B4-BE49-F238E27FC236}">
                <a16:creationId xmlns:a16="http://schemas.microsoft.com/office/drawing/2014/main" id="{CAD0F638-4BB5-8204-757C-602FB0EFC388}"/>
              </a:ext>
            </a:extLst>
          </p:cNvPr>
          <p:cNvPicPr>
            <a:picLocks noChangeAspect="1"/>
          </p:cNvPicPr>
          <p:nvPr/>
        </p:nvPicPr>
        <p:blipFill>
          <a:blip r:embed="rId3"/>
          <a:stretch>
            <a:fillRect/>
          </a:stretch>
        </p:blipFill>
        <p:spPr>
          <a:xfrm>
            <a:off x="144233" y="4162283"/>
            <a:ext cx="4502439" cy="2249497"/>
          </a:xfrm>
          <a:prstGeom prst="rect">
            <a:avLst/>
          </a:prstGeom>
        </p:spPr>
      </p:pic>
      <p:pic>
        <p:nvPicPr>
          <p:cNvPr id="89" name="図 88">
            <a:extLst>
              <a:ext uri="{FF2B5EF4-FFF2-40B4-BE49-F238E27FC236}">
                <a16:creationId xmlns:a16="http://schemas.microsoft.com/office/drawing/2014/main" id="{1E7DD73A-5ACE-57F2-3D84-1CCFDEA9CEE5}"/>
              </a:ext>
            </a:extLst>
          </p:cNvPr>
          <p:cNvPicPr>
            <a:picLocks noChangeAspect="1"/>
          </p:cNvPicPr>
          <p:nvPr/>
        </p:nvPicPr>
        <p:blipFill>
          <a:blip r:embed="rId4"/>
          <a:stretch>
            <a:fillRect/>
          </a:stretch>
        </p:blipFill>
        <p:spPr>
          <a:xfrm>
            <a:off x="4731535" y="1777918"/>
            <a:ext cx="4865885" cy="2313349"/>
          </a:xfrm>
          <a:prstGeom prst="rect">
            <a:avLst/>
          </a:prstGeom>
        </p:spPr>
      </p:pic>
      <p:pic>
        <p:nvPicPr>
          <p:cNvPr id="91" name="図 90">
            <a:extLst>
              <a:ext uri="{FF2B5EF4-FFF2-40B4-BE49-F238E27FC236}">
                <a16:creationId xmlns:a16="http://schemas.microsoft.com/office/drawing/2014/main" id="{FCAF1797-0FF8-82BA-FC52-3C1CCD7A2ED5}"/>
              </a:ext>
            </a:extLst>
          </p:cNvPr>
          <p:cNvPicPr>
            <a:picLocks noChangeAspect="1"/>
          </p:cNvPicPr>
          <p:nvPr/>
        </p:nvPicPr>
        <p:blipFill>
          <a:blip r:embed="rId5"/>
          <a:stretch>
            <a:fillRect/>
          </a:stretch>
        </p:blipFill>
        <p:spPr>
          <a:xfrm>
            <a:off x="121721" y="1805132"/>
            <a:ext cx="4547463" cy="2282442"/>
          </a:xfrm>
          <a:prstGeom prst="rect">
            <a:avLst/>
          </a:prstGeom>
        </p:spPr>
      </p:pic>
      <p:sp>
        <p:nvSpPr>
          <p:cNvPr id="109" name="正方形/長方形 108">
            <a:extLst>
              <a:ext uri="{FF2B5EF4-FFF2-40B4-BE49-F238E27FC236}">
                <a16:creationId xmlns:a16="http://schemas.microsoft.com/office/drawing/2014/main" id="{75E2613C-ECFC-1043-6B48-5CC36CDAEA49}"/>
              </a:ext>
            </a:extLst>
          </p:cNvPr>
          <p:cNvSpPr/>
          <p:nvPr/>
        </p:nvSpPr>
        <p:spPr>
          <a:xfrm>
            <a:off x="79632" y="1705966"/>
            <a:ext cx="9721727" cy="4805339"/>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1" name="正方形/長方形 110">
            <a:extLst>
              <a:ext uri="{FF2B5EF4-FFF2-40B4-BE49-F238E27FC236}">
                <a16:creationId xmlns:a16="http://schemas.microsoft.com/office/drawing/2014/main" id="{99739246-55F4-690F-7FCA-3A6125F81DC0}"/>
              </a:ext>
            </a:extLst>
          </p:cNvPr>
          <p:cNvSpPr/>
          <p:nvPr/>
        </p:nvSpPr>
        <p:spPr>
          <a:xfrm>
            <a:off x="212090" y="1717992"/>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LINE</a:t>
            </a:r>
            <a:r>
              <a:rPr lang="ja-JP" altLang="en-US" sz="2000" b="1" dirty="0">
                <a:solidFill>
                  <a:schemeClr val="tx1"/>
                </a:solidFill>
                <a:latin typeface="メイリオ" panose="020B0604030504040204" pitchFamily="50" charset="-128"/>
                <a:ea typeface="メイリオ" panose="020B0604030504040204" pitchFamily="50" charset="-128"/>
              </a:rPr>
              <a:t>施策の重要性</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開封率、開封時間ともに高効率</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今後のマーケティングに必須のチャネル。</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3" name="正方形/長方形 112">
            <a:extLst>
              <a:ext uri="{FF2B5EF4-FFF2-40B4-BE49-F238E27FC236}">
                <a16:creationId xmlns:a16="http://schemas.microsoft.com/office/drawing/2014/main" id="{36DF7064-F61C-CF57-16F4-3ED4FE3F0D7A}"/>
              </a:ext>
            </a:extLst>
          </p:cNvPr>
          <p:cNvSpPr/>
          <p:nvPr/>
        </p:nvSpPr>
        <p:spPr>
          <a:xfrm>
            <a:off x="4929998" y="1717020"/>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メイリオ" panose="020B0604030504040204" pitchFamily="50" charset="-128"/>
                <a:ea typeface="メイリオ" panose="020B0604030504040204" pitchFamily="50" charset="-128"/>
              </a:rPr>
              <a:t>友だち追加後の最適化</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友だち追加後</a:t>
            </a:r>
            <a:r>
              <a:rPr lang="en-US" altLang="ja-JP" sz="1400" dirty="0">
                <a:solidFill>
                  <a:schemeClr val="tx1"/>
                </a:solidFill>
                <a:latin typeface="メイリオ" panose="020B0604030504040204" pitchFamily="50" charset="-128"/>
                <a:ea typeface="メイリオ" panose="020B0604030504040204" pitchFamily="50" charset="-128"/>
              </a:rPr>
              <a:t>30</a:t>
            </a:r>
            <a:r>
              <a:rPr lang="ja-JP" altLang="en-US" sz="1400" dirty="0">
                <a:solidFill>
                  <a:schemeClr val="tx1"/>
                </a:solidFill>
                <a:latin typeface="メイリオ" panose="020B0604030504040204" pitchFamily="50" charset="-128"/>
                <a:ea typeface="メイリオ" panose="020B0604030504040204" pitchFamily="50" charset="-128"/>
              </a:rPr>
              <a:t>日、</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初期誘導の最適化は重要性が高い</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5" name="正方形/長方形 114">
            <a:extLst>
              <a:ext uri="{FF2B5EF4-FFF2-40B4-BE49-F238E27FC236}">
                <a16:creationId xmlns:a16="http://schemas.microsoft.com/office/drawing/2014/main" id="{B413D49B-5D6C-8C2D-7652-878361DCE9FD}"/>
              </a:ext>
            </a:extLst>
          </p:cNvPr>
          <p:cNvSpPr/>
          <p:nvPr/>
        </p:nvSpPr>
        <p:spPr>
          <a:xfrm>
            <a:off x="212090"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FF0000"/>
                </a:solidFill>
                <a:latin typeface="メイリオ" panose="020B0604030504040204" pitchFamily="50" charset="-128"/>
                <a:ea typeface="メイリオ" panose="020B0604030504040204" pitchFamily="50" charset="-128"/>
              </a:rPr>
              <a:t>集客</a:t>
            </a:r>
            <a:r>
              <a:rPr kumimoji="1" lang="en-US" altLang="ja-JP" sz="2000" b="1" dirty="0">
                <a:solidFill>
                  <a:srgbClr val="FF0000"/>
                </a:solidFill>
                <a:latin typeface="メイリオ" panose="020B0604030504040204" pitchFamily="50" charset="-128"/>
                <a:ea typeface="メイリオ" panose="020B0604030504040204" pitchFamily="50" charset="-128"/>
              </a:rPr>
              <a:t>CPA</a:t>
            </a:r>
            <a:r>
              <a:rPr kumimoji="1" lang="ja-JP" altLang="en-US" sz="2000" b="1" dirty="0">
                <a:solidFill>
                  <a:srgbClr val="FF0000"/>
                </a:solidFill>
                <a:latin typeface="メイリオ" panose="020B0604030504040204" pitchFamily="50" charset="-128"/>
                <a:ea typeface="メイリオ" panose="020B0604030504040204" pitchFamily="50" charset="-128"/>
              </a:rPr>
              <a:t>改善の必要性</a:t>
            </a:r>
            <a:endParaRPr kumimoji="1"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kumimoji="1" lang="ja-JP" altLang="en-US" sz="1400" dirty="0">
                <a:solidFill>
                  <a:srgbClr val="FF0000"/>
                </a:solidFill>
                <a:latin typeface="メイリオ" panose="020B0604030504040204" pitchFamily="50" charset="-128"/>
                <a:ea typeface="メイリオ" panose="020B0604030504040204" pitchFamily="50" charset="-128"/>
              </a:rPr>
              <a:t>広告離脱の</a:t>
            </a:r>
            <a:r>
              <a:rPr kumimoji="1" lang="en-US" altLang="ja-JP" sz="1400" dirty="0">
                <a:solidFill>
                  <a:srgbClr val="FF0000"/>
                </a:solidFill>
                <a:latin typeface="メイリオ" panose="020B0604030504040204" pitchFamily="50" charset="-128"/>
                <a:ea typeface="メイリオ" panose="020B0604030504040204" pitchFamily="50" charset="-128"/>
              </a:rPr>
              <a:t>98%</a:t>
            </a:r>
            <a:r>
              <a:rPr kumimoji="1" lang="ja-JP" altLang="en-US" sz="1400" dirty="0">
                <a:solidFill>
                  <a:srgbClr val="FF0000"/>
                </a:solidFill>
                <a:latin typeface="メイリオ" panose="020B0604030504040204" pitchFamily="50" charset="-128"/>
                <a:ea typeface="メイリオ" panose="020B0604030504040204" pitchFamily="50" charset="-128"/>
              </a:rPr>
              <a:t>は接触が難しい。</a:t>
            </a:r>
            <a:endParaRPr kumimoji="1" lang="en-US" altLang="ja-JP" sz="1400" dirty="0">
              <a:solidFill>
                <a:srgbClr val="FF0000"/>
              </a:solidFill>
              <a:latin typeface="メイリオ" panose="020B0604030504040204" pitchFamily="50" charset="-128"/>
              <a:ea typeface="メイリオ" panose="020B0604030504040204" pitchFamily="50" charset="-128"/>
            </a:endParaRPr>
          </a:p>
          <a:p>
            <a:pPr algn="ctr"/>
            <a:r>
              <a:rPr lang="ja-JP" altLang="en-US" sz="1400" b="1" dirty="0">
                <a:solidFill>
                  <a:srgbClr val="FF0000"/>
                </a:solidFill>
                <a:latin typeface="メイリオ" panose="020B0604030504040204" pitchFamily="50" charset="-128"/>
                <a:ea typeface="メイリオ" panose="020B0604030504040204" pitchFamily="50" charset="-128"/>
              </a:rPr>
              <a:t>離脱理由を洗い出し再追客へ</a:t>
            </a:r>
            <a:r>
              <a:rPr lang="ja-JP" altLang="en-US" sz="1400" dirty="0">
                <a:solidFill>
                  <a:srgbClr val="FF0000"/>
                </a:solidFill>
                <a:latin typeface="メイリオ" panose="020B0604030504040204" pitchFamily="50" charset="-128"/>
                <a:ea typeface="メイリオ" panose="020B0604030504040204" pitchFamily="50" charset="-128"/>
              </a:rPr>
              <a:t>乗せる。</a:t>
            </a:r>
            <a:endParaRPr kumimoji="1"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19" name="正方形/長方形 118">
            <a:extLst>
              <a:ext uri="{FF2B5EF4-FFF2-40B4-BE49-F238E27FC236}">
                <a16:creationId xmlns:a16="http://schemas.microsoft.com/office/drawing/2014/main" id="{C700F13F-7FE1-285C-0D95-84AA99805426}"/>
              </a:ext>
            </a:extLst>
          </p:cNvPr>
          <p:cNvSpPr/>
          <p:nvPr/>
        </p:nvSpPr>
        <p:spPr>
          <a:xfrm>
            <a:off x="4929998"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FF0000"/>
                </a:solidFill>
                <a:latin typeface="メイリオ" panose="020B0604030504040204" pitchFamily="50" charset="-128"/>
                <a:ea typeface="メイリオ" panose="020B0604030504040204" pitchFamily="50" charset="-128"/>
              </a:rPr>
              <a:t>CPO</a:t>
            </a:r>
            <a:r>
              <a:rPr lang="ja-JP" altLang="en-US" sz="2000" b="1" dirty="0">
                <a:solidFill>
                  <a:srgbClr val="FF0000"/>
                </a:solidFill>
                <a:latin typeface="メイリオ" panose="020B0604030504040204" pitchFamily="50" charset="-128"/>
                <a:ea typeface="メイリオ" panose="020B0604030504040204" pitchFamily="50" charset="-128"/>
              </a:rPr>
              <a:t>・</a:t>
            </a:r>
            <a:r>
              <a:rPr lang="en-US" altLang="ja-JP" sz="2000" b="1" dirty="0">
                <a:solidFill>
                  <a:srgbClr val="FF0000"/>
                </a:solidFill>
                <a:latin typeface="メイリオ" panose="020B0604030504040204" pitchFamily="50" charset="-128"/>
                <a:ea typeface="メイリオ" panose="020B0604030504040204" pitchFamily="50" charset="-128"/>
              </a:rPr>
              <a:t>CPA</a:t>
            </a:r>
            <a:r>
              <a:rPr lang="ja-JP" altLang="en-US" sz="2000" b="1" dirty="0">
                <a:solidFill>
                  <a:srgbClr val="FF0000"/>
                </a:solidFill>
                <a:latin typeface="メイリオ" panose="020B0604030504040204" pitchFamily="50" charset="-128"/>
                <a:ea typeface="メイリオ" panose="020B0604030504040204" pitchFamily="50" charset="-128"/>
              </a:rPr>
              <a:t>改善</a:t>
            </a:r>
            <a:endParaRPr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lang="ja-JP" altLang="en-US" sz="1400" dirty="0">
                <a:solidFill>
                  <a:srgbClr val="FF0000"/>
                </a:solidFill>
                <a:latin typeface="メイリオ" panose="020B0604030504040204" pitchFamily="50" charset="-128"/>
                <a:ea typeface="メイリオ" panose="020B0604030504040204" pitchFamily="50" charset="-128"/>
              </a:rPr>
              <a:t>成果地点、課金地点には、</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追加から平均</a:t>
            </a:r>
            <a:r>
              <a:rPr lang="en-US" altLang="ja-JP" sz="1400" b="1" dirty="0">
                <a:solidFill>
                  <a:srgbClr val="FF0000"/>
                </a:solidFill>
                <a:latin typeface="メイリオ" panose="020B0604030504040204" pitchFamily="50" charset="-128"/>
                <a:ea typeface="メイリオ" panose="020B0604030504040204" pitchFamily="50" charset="-128"/>
              </a:rPr>
              <a:t>3%</a:t>
            </a:r>
            <a:r>
              <a:rPr lang="ja-JP" altLang="en-US" sz="1400" b="1" dirty="0">
                <a:solidFill>
                  <a:srgbClr val="FF0000"/>
                </a:solidFill>
                <a:latin typeface="メイリオ" panose="020B0604030504040204" pitchFamily="50" charset="-128"/>
                <a:ea typeface="メイリオ" panose="020B0604030504040204" pitchFamily="50" charset="-128"/>
              </a:rPr>
              <a:t>が到達</a:t>
            </a:r>
            <a:r>
              <a:rPr lang="ja-JP" altLang="en-US" sz="1400" dirty="0">
                <a:solidFill>
                  <a:srgbClr val="FF0000"/>
                </a:solidFill>
                <a:latin typeface="メイリオ" panose="020B0604030504040204" pitchFamily="50" charset="-128"/>
                <a:ea typeface="メイリオ" panose="020B0604030504040204" pitchFamily="50" charset="-128"/>
              </a:rPr>
              <a:t>する。</a:t>
            </a: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3" name="テキスト ボックス 122">
            <a:extLst>
              <a:ext uri="{FF2B5EF4-FFF2-40B4-BE49-F238E27FC236}">
                <a16:creationId xmlns:a16="http://schemas.microsoft.com/office/drawing/2014/main" id="{9E10ACB5-DE72-A1D7-3234-7AA6EA065B02}"/>
              </a:ext>
            </a:extLst>
          </p:cNvPr>
          <p:cNvSpPr txBox="1"/>
          <p:nvPr/>
        </p:nvSpPr>
        <p:spPr>
          <a:xfrm>
            <a:off x="5001123" y="5732571"/>
            <a:ext cx="4512622" cy="2308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rPr>
              <a:t>友だち追加動線により変動します。</a:t>
            </a:r>
            <a:endParaRPr lang="ja-JP" altLang="en-US" sz="1050" dirty="0"/>
          </a:p>
        </p:txBody>
      </p:sp>
      <p:sp>
        <p:nvSpPr>
          <p:cNvPr id="125" name="正方形/長方形 124">
            <a:extLst>
              <a:ext uri="{FF2B5EF4-FFF2-40B4-BE49-F238E27FC236}">
                <a16:creationId xmlns:a16="http://schemas.microsoft.com/office/drawing/2014/main" id="{8AA79FF8-045D-B91F-3862-26BD57F723BA}"/>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19059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8404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リゾートバイト業界のLINE活用</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主要5社のLINEを比べると、友だち追加の直後から、登録・相談へつなぐ配信が当たり前になっている。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Rectangle 58"/>
          <p:cNvSpPr/>
          <p:nvPr/>
        </p:nvSpPr>
        <p:spPr>
          <a:xfrm>
            <a:off x="384048" y="1810512"/>
            <a:ext cx="1737359"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会社</a:t>
            </a:r>
          </a:p>
        </p:txBody>
      </p:sp>
      <p:sp>
        <p:nvSpPr>
          <p:cNvPr id="60" name="Rectangle 59"/>
          <p:cNvSpPr/>
          <p:nvPr/>
        </p:nvSpPr>
        <p:spPr>
          <a:xfrm>
            <a:off x="2148840" y="1810512"/>
            <a:ext cx="96012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友だち数</a:t>
            </a:r>
          </a:p>
        </p:txBody>
      </p:sp>
      <p:sp>
        <p:nvSpPr>
          <p:cNvPr id="61" name="Rectangle 60"/>
          <p:cNvSpPr/>
          <p:nvPr/>
        </p:nvSpPr>
        <p:spPr>
          <a:xfrm>
            <a:off x="3136391" y="1810512"/>
            <a:ext cx="18288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追加の直後</a:t>
            </a:r>
          </a:p>
        </p:txBody>
      </p:sp>
      <p:sp>
        <p:nvSpPr>
          <p:cNvPr id="62" name="Rectangle 61"/>
          <p:cNvSpPr/>
          <p:nvPr/>
        </p:nvSpPr>
        <p:spPr>
          <a:xfrm>
            <a:off x="4992624" y="1810512"/>
            <a:ext cx="132588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配信の頻度</a:t>
            </a:r>
          </a:p>
        </p:txBody>
      </p:sp>
      <p:sp>
        <p:nvSpPr>
          <p:cNvPr id="63" name="Rectangle 62"/>
          <p:cNvSpPr/>
          <p:nvPr/>
        </p:nvSpPr>
        <p:spPr>
          <a:xfrm>
            <a:off x="6345936" y="1810512"/>
            <a:ext cx="178308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相談の入口</a:t>
            </a:r>
          </a:p>
        </p:txBody>
      </p:sp>
      <p:sp>
        <p:nvSpPr>
          <p:cNvPr id="64" name="Rectangle 63"/>
          <p:cNvSpPr/>
          <p:nvPr/>
        </p:nvSpPr>
        <p:spPr>
          <a:xfrm>
            <a:off x="8156448" y="1810512"/>
            <a:ext cx="13716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リッチメニュー</a:t>
            </a:r>
          </a:p>
        </p:txBody>
      </p:sp>
      <p:sp>
        <p:nvSpPr>
          <p:cNvPr id="65" name="Rectangle 64"/>
          <p:cNvSpPr/>
          <p:nvPr/>
        </p:nvSpPr>
        <p:spPr>
          <a:xfrm>
            <a:off x="384048" y="2212848"/>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ワクトリ</a:t>
            </a:r>
          </a:p>
        </p:txBody>
      </p:sp>
      <p:sp>
        <p:nvSpPr>
          <p:cNvPr id="66" name="Rectangle 65"/>
          <p:cNvSpPr/>
          <p:nvPr/>
        </p:nvSpPr>
        <p:spPr>
          <a:xfrm>
            <a:off x="2148840" y="2212848"/>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79,904</a:t>
            </a:r>
          </a:p>
        </p:txBody>
      </p:sp>
      <p:sp>
        <p:nvSpPr>
          <p:cNvPr id="67" name="Rectangle 66"/>
          <p:cNvSpPr/>
          <p:nvPr/>
        </p:nvSpPr>
        <p:spPr>
          <a:xfrm>
            <a:off x="3136391" y="2212848"/>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アンケート3問</a:t>
            </a:r>
          </a:p>
          <a:p>
            <a:pPr algn="l">
              <a:lnSpc>
                <a:spcPct val="110000"/>
              </a:lnSpc>
              <a:spcAft>
                <a:spcPts val="0"/>
              </a:spcAft>
            </a:pPr>
            <a:r>
              <a:rPr sz="1100" b="0">
                <a:solidFill>
                  <a:srgbClr val="333333"/>
                </a:solidFill>
                <a:latin typeface="メイリオ"/>
                <a:ea typeface="メイリオ"/>
                <a:cs typeface="メイリオ"/>
              </a:rPr>
              <a:t>（エントリー・開始時期・エリア）</a:t>
            </a:r>
          </a:p>
        </p:txBody>
      </p:sp>
      <p:sp>
        <p:nvSpPr>
          <p:cNvPr id="68" name="Rectangle 67"/>
          <p:cNvSpPr/>
          <p:nvPr/>
        </p:nvSpPr>
        <p:spPr>
          <a:xfrm>
            <a:off x="4992624" y="2212848"/>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翌日にENTRY</a:t>
            </a:r>
          </a:p>
          <a:p>
            <a:pPr algn="l">
              <a:lnSpc>
                <a:spcPct val="110000"/>
              </a:lnSpc>
              <a:spcAft>
                <a:spcPts val="0"/>
              </a:spcAft>
            </a:pPr>
            <a:r>
              <a:rPr sz="1100" b="0">
                <a:solidFill>
                  <a:srgbClr val="333333"/>
                </a:solidFill>
                <a:latin typeface="メイリオ"/>
                <a:ea typeface="メイリオ"/>
                <a:cs typeface="メイリオ"/>
              </a:rPr>
              <a:t>その後は週1回</a:t>
            </a:r>
          </a:p>
        </p:txBody>
      </p:sp>
      <p:sp>
        <p:nvSpPr>
          <p:cNvPr id="69" name="Rectangle 68"/>
          <p:cNvSpPr/>
          <p:nvPr/>
        </p:nvSpPr>
        <p:spPr>
          <a:xfrm>
            <a:off x="6345936" y="2212848"/>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専属エージェント</a:t>
            </a:r>
          </a:p>
          <a:p>
            <a:pPr algn="l">
              <a:lnSpc>
                <a:spcPct val="110000"/>
              </a:lnSpc>
              <a:spcAft>
                <a:spcPts val="0"/>
              </a:spcAft>
            </a:pPr>
            <a:r>
              <a:rPr sz="1100" b="0">
                <a:solidFill>
                  <a:srgbClr val="333333"/>
                </a:solidFill>
                <a:latin typeface="メイリオ"/>
                <a:ea typeface="メイリオ"/>
                <a:cs typeface="メイリオ"/>
              </a:rPr>
              <a:t>（ENTRY）</a:t>
            </a:r>
          </a:p>
        </p:txBody>
      </p:sp>
      <p:sp>
        <p:nvSpPr>
          <p:cNvPr id="70" name="Rectangle 69"/>
          <p:cNvSpPr/>
          <p:nvPr/>
        </p:nvSpPr>
        <p:spPr>
          <a:xfrm>
            <a:off x="8156448" y="2212848"/>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お仕事探し</a:t>
            </a:r>
          </a:p>
        </p:txBody>
      </p:sp>
      <p:sp>
        <p:nvSpPr>
          <p:cNvPr id="71" name="Rectangle 70"/>
          <p:cNvSpPr/>
          <p:nvPr/>
        </p:nvSpPr>
        <p:spPr>
          <a:xfrm>
            <a:off x="384048" y="2962656"/>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リゾートバイトダイブ</a:t>
            </a:r>
          </a:p>
        </p:txBody>
      </p:sp>
      <p:sp>
        <p:nvSpPr>
          <p:cNvPr id="72" name="Rectangle 71"/>
          <p:cNvSpPr/>
          <p:nvPr/>
        </p:nvSpPr>
        <p:spPr>
          <a:xfrm>
            <a:off x="2148840" y="2962656"/>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256,680</a:t>
            </a:r>
          </a:p>
        </p:txBody>
      </p:sp>
      <p:sp>
        <p:nvSpPr>
          <p:cNvPr id="73" name="Rectangle 72"/>
          <p:cNvSpPr/>
          <p:nvPr/>
        </p:nvSpPr>
        <p:spPr>
          <a:xfrm>
            <a:off x="3136391" y="2962656"/>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マイページ登録のURL</a:t>
            </a:r>
          </a:p>
          <a:p>
            <a:pPr algn="l">
              <a:lnSpc>
                <a:spcPct val="110000"/>
              </a:lnSpc>
              <a:spcAft>
                <a:spcPts val="0"/>
              </a:spcAft>
            </a:pPr>
            <a:r>
              <a:rPr sz="1100" b="0">
                <a:solidFill>
                  <a:srgbClr val="333333"/>
                </a:solidFill>
                <a:latin typeface="メイリオ"/>
                <a:ea typeface="メイリオ"/>
                <a:cs typeface="メイリオ"/>
              </a:rPr>
              <a:t>＋LINEでできること</a:t>
            </a:r>
          </a:p>
        </p:txBody>
      </p:sp>
      <p:sp>
        <p:nvSpPr>
          <p:cNvPr id="74" name="Rectangle 73"/>
          <p:cNvSpPr/>
          <p:nvPr/>
        </p:nvSpPr>
        <p:spPr>
          <a:xfrm>
            <a:off x="4992624" y="2962656"/>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毎日1通</a:t>
            </a:r>
          </a:p>
        </p:txBody>
      </p:sp>
      <p:sp>
        <p:nvSpPr>
          <p:cNvPr id="75" name="Rectangle 74"/>
          <p:cNvSpPr/>
          <p:nvPr/>
        </p:nvSpPr>
        <p:spPr>
          <a:xfrm>
            <a:off x="6345936" y="2962656"/>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初回カウンセリングの予約</a:t>
            </a:r>
          </a:p>
          <a:p>
            <a:pPr algn="l">
              <a:lnSpc>
                <a:spcPct val="110000"/>
              </a:lnSpc>
              <a:spcAft>
                <a:spcPts val="0"/>
              </a:spcAft>
            </a:pPr>
            <a:r>
              <a:rPr sz="1100" b="0">
                <a:solidFill>
                  <a:srgbClr val="333333"/>
                </a:solidFill>
                <a:latin typeface="メイリオ"/>
                <a:ea typeface="メイリオ"/>
                <a:cs typeface="メイリオ"/>
              </a:rPr>
              <a:t>（電話15分）</a:t>
            </a:r>
          </a:p>
        </p:txBody>
      </p:sp>
      <p:sp>
        <p:nvSpPr>
          <p:cNvPr id="76" name="Rectangle 75"/>
          <p:cNvSpPr/>
          <p:nvPr/>
        </p:nvSpPr>
        <p:spPr>
          <a:xfrm>
            <a:off x="8156448" y="2962656"/>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6マス</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77" name="Rectangle 76"/>
          <p:cNvSpPr/>
          <p:nvPr/>
        </p:nvSpPr>
        <p:spPr>
          <a:xfrm>
            <a:off x="384048" y="3712464"/>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リゾバ.com</a:t>
            </a:r>
          </a:p>
        </p:txBody>
      </p:sp>
      <p:sp>
        <p:nvSpPr>
          <p:cNvPr id="78" name="Rectangle 77"/>
          <p:cNvSpPr/>
          <p:nvPr/>
        </p:nvSpPr>
        <p:spPr>
          <a:xfrm>
            <a:off x="2148840" y="3712464"/>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156,010</a:t>
            </a:r>
          </a:p>
        </p:txBody>
      </p:sp>
      <p:sp>
        <p:nvSpPr>
          <p:cNvPr id="79" name="Rectangle 78"/>
          <p:cNvSpPr/>
          <p:nvPr/>
        </p:nvSpPr>
        <p:spPr>
          <a:xfrm>
            <a:off x="3136391" y="3712464"/>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リゾートバイト経験の</a:t>
            </a:r>
          </a:p>
          <a:p>
            <a:pPr algn="l">
              <a:lnSpc>
                <a:spcPct val="110000"/>
              </a:lnSpc>
              <a:spcAft>
                <a:spcPts val="0"/>
              </a:spcAft>
            </a:pPr>
            <a:r>
              <a:rPr sz="1100" b="0">
                <a:solidFill>
                  <a:srgbClr val="333333"/>
                </a:solidFill>
                <a:latin typeface="メイリオ"/>
                <a:ea typeface="メイリオ"/>
                <a:cs typeface="メイリオ"/>
              </a:rPr>
              <a:t>有無を質問</a:t>
            </a:r>
          </a:p>
        </p:txBody>
      </p:sp>
      <p:sp>
        <p:nvSpPr>
          <p:cNvPr id="80" name="Rectangle 79"/>
          <p:cNvSpPr/>
          <p:nvPr/>
        </p:nvSpPr>
        <p:spPr>
          <a:xfrm>
            <a:off x="4992624" y="3712464"/>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1日2通</a:t>
            </a:r>
          </a:p>
        </p:txBody>
      </p:sp>
      <p:sp>
        <p:nvSpPr>
          <p:cNvPr id="81" name="Rectangle 80"/>
          <p:cNvSpPr/>
          <p:nvPr/>
        </p:nvSpPr>
        <p:spPr>
          <a:xfrm>
            <a:off x="6345936" y="3712464"/>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まずは相談する</a:t>
            </a:r>
          </a:p>
          <a:p>
            <a:pPr algn="l">
              <a:lnSpc>
                <a:spcPct val="110000"/>
              </a:lnSpc>
              <a:spcAft>
                <a:spcPts val="0"/>
              </a:spcAft>
            </a:pPr>
            <a:r>
              <a:rPr sz="1100" b="0">
                <a:solidFill>
                  <a:srgbClr val="333333"/>
                </a:solidFill>
                <a:latin typeface="メイリオ"/>
                <a:ea typeface="メイリオ"/>
                <a:cs typeface="メイリオ"/>
              </a:rPr>
              <a:t>担当者がチャットで返信</a:t>
            </a:r>
          </a:p>
        </p:txBody>
      </p:sp>
      <p:sp>
        <p:nvSpPr>
          <p:cNvPr id="82" name="Rectangle 81"/>
          <p:cNvSpPr/>
          <p:nvPr/>
        </p:nvSpPr>
        <p:spPr>
          <a:xfrm>
            <a:off x="8156448" y="3712464"/>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タブ2つ</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83" name="Rectangle 82"/>
          <p:cNvSpPr/>
          <p:nvPr/>
        </p:nvSpPr>
        <p:spPr>
          <a:xfrm>
            <a:off x="384048" y="4462272"/>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リゾートバイト.com</a:t>
            </a:r>
          </a:p>
        </p:txBody>
      </p:sp>
      <p:sp>
        <p:nvSpPr>
          <p:cNvPr id="84" name="Rectangle 83"/>
          <p:cNvSpPr/>
          <p:nvPr/>
        </p:nvSpPr>
        <p:spPr>
          <a:xfrm>
            <a:off x="2148840" y="4462272"/>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32,225</a:t>
            </a:r>
          </a:p>
        </p:txBody>
      </p:sp>
      <p:sp>
        <p:nvSpPr>
          <p:cNvPr id="85" name="Rectangle 84"/>
          <p:cNvSpPr/>
          <p:nvPr/>
        </p:nvSpPr>
        <p:spPr>
          <a:xfrm>
            <a:off x="3136391" y="4462272"/>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アンケート</a:t>
            </a:r>
          </a:p>
          <a:p>
            <a:pPr algn="l">
              <a:lnSpc>
                <a:spcPct val="110000"/>
              </a:lnSpc>
              <a:spcAft>
                <a:spcPts val="0"/>
              </a:spcAft>
            </a:pPr>
            <a:r>
              <a:rPr sz="1100" b="0">
                <a:solidFill>
                  <a:srgbClr val="333333"/>
                </a:solidFill>
                <a:latin typeface="メイリオ"/>
                <a:ea typeface="メイリオ"/>
                <a:cs typeface="メイリオ"/>
              </a:rPr>
              <a:t>（性別から）</a:t>
            </a:r>
          </a:p>
        </p:txBody>
      </p:sp>
      <p:sp>
        <p:nvSpPr>
          <p:cNvPr id="86" name="Rectangle 85"/>
          <p:cNvSpPr/>
          <p:nvPr/>
        </p:nvSpPr>
        <p:spPr>
          <a:xfrm>
            <a:off x="4992624" y="4462272"/>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a:t>
            </a:r>
          </a:p>
        </p:txBody>
      </p:sp>
      <p:sp>
        <p:nvSpPr>
          <p:cNvPr id="87" name="Rectangle 86"/>
          <p:cNvSpPr/>
          <p:nvPr/>
        </p:nvSpPr>
        <p:spPr>
          <a:xfrm>
            <a:off x="6345936" y="4462272"/>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お問い合わせ</a:t>
            </a:r>
          </a:p>
          <a:p>
            <a:pPr algn="l">
              <a:lnSpc>
                <a:spcPct val="110000"/>
              </a:lnSpc>
              <a:spcAft>
                <a:spcPts val="0"/>
              </a:spcAft>
            </a:pPr>
            <a:r>
              <a:rPr sz="1100" b="0">
                <a:solidFill>
                  <a:srgbClr val="333333"/>
                </a:solidFill>
                <a:latin typeface="メイリオ"/>
                <a:ea typeface="メイリオ"/>
                <a:cs typeface="メイリオ"/>
              </a:rPr>
              <a:t>（メニュー）</a:t>
            </a:r>
          </a:p>
        </p:txBody>
      </p:sp>
      <p:sp>
        <p:nvSpPr>
          <p:cNvPr id="88" name="Rectangle 87"/>
          <p:cNvSpPr/>
          <p:nvPr/>
        </p:nvSpPr>
        <p:spPr>
          <a:xfrm>
            <a:off x="8156448" y="4462272"/>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タブ2つ</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89" name="Rectangle 88"/>
          <p:cNvSpPr/>
          <p:nvPr/>
        </p:nvSpPr>
        <p:spPr>
          <a:xfrm>
            <a:off x="384048" y="5212080"/>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アルファリゾート</a:t>
            </a:r>
          </a:p>
        </p:txBody>
      </p:sp>
      <p:sp>
        <p:nvSpPr>
          <p:cNvPr id="90" name="Rectangle 89"/>
          <p:cNvSpPr/>
          <p:nvPr/>
        </p:nvSpPr>
        <p:spPr>
          <a:xfrm>
            <a:off x="2148840" y="5212080"/>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26,846</a:t>
            </a:r>
          </a:p>
        </p:txBody>
      </p:sp>
      <p:sp>
        <p:nvSpPr>
          <p:cNvPr id="91" name="Rectangle 90"/>
          <p:cNvSpPr/>
          <p:nvPr/>
        </p:nvSpPr>
        <p:spPr>
          <a:xfrm>
            <a:off x="3136391" y="5212080"/>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会員登録と</a:t>
            </a:r>
          </a:p>
          <a:p>
            <a:pPr algn="l">
              <a:lnSpc>
                <a:spcPct val="110000"/>
              </a:lnSpc>
              <a:spcAft>
                <a:spcPts val="0"/>
              </a:spcAft>
            </a:pPr>
            <a:r>
              <a:rPr sz="1100" b="0">
                <a:solidFill>
                  <a:srgbClr val="333333"/>
                </a:solidFill>
                <a:latin typeface="メイリオ"/>
                <a:ea typeface="メイリオ"/>
                <a:cs typeface="メイリオ"/>
              </a:rPr>
              <a:t>カウンセリング予約のURL</a:t>
            </a:r>
          </a:p>
        </p:txBody>
      </p:sp>
      <p:sp>
        <p:nvSpPr>
          <p:cNvPr id="92" name="Rectangle 91"/>
          <p:cNvSpPr/>
          <p:nvPr/>
        </p:nvSpPr>
        <p:spPr>
          <a:xfrm>
            <a:off x="4992624" y="5212080"/>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a:t>
            </a:r>
          </a:p>
        </p:txBody>
      </p:sp>
      <p:sp>
        <p:nvSpPr>
          <p:cNvPr id="93" name="Rectangle 92"/>
          <p:cNvSpPr/>
          <p:nvPr/>
        </p:nvSpPr>
        <p:spPr>
          <a:xfrm>
            <a:off x="6345936" y="5212080"/>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初回カウンセリング必須</a:t>
            </a:r>
          </a:p>
          <a:p>
            <a:pPr algn="l">
              <a:lnSpc>
                <a:spcPct val="110000"/>
              </a:lnSpc>
              <a:spcAft>
                <a:spcPts val="0"/>
              </a:spcAft>
            </a:pPr>
            <a:r>
              <a:rPr sz="1100" b="0">
                <a:solidFill>
                  <a:srgbClr val="333333"/>
                </a:solidFill>
                <a:latin typeface="メイリオ"/>
                <a:ea typeface="メイリオ"/>
                <a:cs typeface="メイリオ"/>
              </a:rPr>
              <a:t>担当者がチャットで返信</a:t>
            </a:r>
          </a:p>
        </p:txBody>
      </p:sp>
      <p:sp>
        <p:nvSpPr>
          <p:cNvPr id="94" name="Rectangle 93"/>
          <p:cNvSpPr/>
          <p:nvPr/>
        </p:nvSpPr>
        <p:spPr>
          <a:xfrm>
            <a:off x="8156448" y="5212080"/>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6マス</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95" name="TextBox 94"/>
          <p:cNvSpPr txBox="1"/>
          <p:nvPr/>
        </p:nvSpPr>
        <p:spPr>
          <a:xfrm>
            <a:off x="384048" y="6385762"/>
            <a:ext cx="9144000" cy="167235"/>
          </a:xfrm>
          <a:prstGeom prst="rect">
            <a:avLst/>
          </a:prstGeom>
          <a:noFill/>
        </p:spPr>
        <p:txBody>
          <a:bodyPr wrap="square" lIns="36000" tIns="10800" rIns="36000" bIns="10800" anchor="ctr">
            <a:spAutoFit/>
          </a:bodyPr>
          <a:lstStyle/>
          <a:p>
            <a:pPr algn="l">
              <a:lnSpc>
                <a:spcPct val="105000"/>
              </a:lnSpc>
              <a:spcAft>
                <a:spcPts val="200"/>
              </a:spcAft>
            </a:pPr>
            <a:r>
              <a:rPr sz="900" b="0" dirty="0">
                <a:solidFill>
                  <a:srgbClr val="777777"/>
                </a:solidFill>
                <a:latin typeface="メイリオ"/>
                <a:ea typeface="メイリオ"/>
                <a:cs typeface="メイリオ"/>
              </a:rPr>
              <a:t>出典｜各社のLINE公式アカウント（2026年10月に確認）。</a:t>
            </a:r>
            <a:r>
              <a:rPr sz="900" b="0" dirty="0" err="1">
                <a:solidFill>
                  <a:srgbClr val="777777"/>
                </a:solidFill>
                <a:latin typeface="メイリオ"/>
                <a:ea typeface="メイリオ"/>
                <a:cs typeface="メイリオ"/>
              </a:rPr>
              <a:t>友だち数はプロフィールの表示</a:t>
            </a:r>
            <a:r>
              <a:rPr sz="900" b="0" dirty="0">
                <a:solidFill>
                  <a:srgbClr val="777777"/>
                </a:solidFill>
                <a:latin typeface="メイリオ"/>
                <a:ea typeface="メイリオ"/>
                <a:cs typeface="メイリオ"/>
              </a:rPr>
              <a:t>。</a:t>
            </a:r>
            <a:endParaRPr lang="en-US" sz="900" b="0" dirty="0">
              <a:solidFill>
                <a:srgbClr val="777777"/>
              </a:solidFill>
              <a:latin typeface="メイリオ"/>
              <a:ea typeface="メイリオ"/>
              <a:cs typeface="メイリオ"/>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42976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各社の取り組み｜リゾートバイトダイブ</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追加の直後から毎日1通。登録 → 流れ → カウンセリング → 稼げる額の順に、不安を消して登録・相談へつなぐ。</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ダイブ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ダイブ_03.jpg"/>
          <p:cNvPicPr>
            <a:picLocks noChangeAspect="1"/>
          </p:cNvPicPr>
          <p:nvPr/>
        </p:nvPicPr>
        <p:blipFill>
          <a:blip r:embed="rId3"/>
          <a:stretch>
            <a:fillRect/>
          </a:stretch>
        </p:blipFill>
        <p:spPr>
          <a:xfrm>
            <a:off x="2463088" y="1810512"/>
            <a:ext cx="1941880" cy="4206240"/>
          </a:xfrm>
          <a:prstGeom prst="rect">
            <a:avLst/>
          </a:prstGeom>
        </p:spPr>
      </p:pic>
      <p:pic>
        <p:nvPicPr>
          <p:cNvPr id="61" name="Picture 60" descr="ダイブ_04.jpg"/>
          <p:cNvPicPr>
            <a:picLocks noChangeAspect="1"/>
          </p:cNvPicPr>
          <p:nvPr/>
        </p:nvPicPr>
        <p:blipFill>
          <a:blip r:embed="rId4"/>
          <a:stretch>
            <a:fillRect/>
          </a:stretch>
        </p:blipFill>
        <p:spPr>
          <a:xfrm>
            <a:off x="4514697" y="1810512"/>
            <a:ext cx="1941880" cy="4206240"/>
          </a:xfrm>
          <a:prstGeom prst="rect">
            <a:avLst/>
          </a:prstGeom>
        </p:spPr>
      </p:pic>
      <p:sp>
        <p:nvSpPr>
          <p:cNvPr id="62" name="Rectangle 61"/>
          <p:cNvSpPr/>
          <p:nvPr/>
        </p:nvSpPr>
        <p:spPr>
          <a:xfrm>
            <a:off x="6776618" y="1810512"/>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3" name="Rectangle 62"/>
          <p:cNvSpPr/>
          <p:nvPr/>
        </p:nvSpPr>
        <p:spPr>
          <a:xfrm>
            <a:off x="6776618" y="2121408"/>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マイページ登録のURLを最初に置き、LINEでできること（求人を探す・探してもらう・相談）を案内</a:t>
            </a:r>
          </a:p>
        </p:txBody>
      </p:sp>
      <p:sp>
        <p:nvSpPr>
          <p:cNvPr id="64" name="Rectangle 63"/>
          <p:cNvSpPr/>
          <p:nvPr/>
        </p:nvSpPr>
        <p:spPr>
          <a:xfrm>
            <a:off x="6776618" y="3246120"/>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追加後の配信（毎日1通）</a:t>
            </a:r>
          </a:p>
        </p:txBody>
      </p:sp>
      <p:sp>
        <p:nvSpPr>
          <p:cNvPr id="65" name="Rectangle 64"/>
          <p:cNvSpPr/>
          <p:nvPr/>
        </p:nvSpPr>
        <p:spPr>
          <a:xfrm>
            <a:off x="6776618" y="3557016"/>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開始までの5ステップ → 初回カウンセリング（電話15分・履歴書不要）→ 稼げる額（平均月収 約25万円）→ 口コミ・SNS</a:t>
            </a:r>
          </a:p>
        </p:txBody>
      </p:sp>
      <p:sp>
        <p:nvSpPr>
          <p:cNvPr id="66" name="Rectangle 65"/>
          <p:cNvSpPr/>
          <p:nvPr/>
        </p:nvSpPr>
        <p:spPr>
          <a:xfrm>
            <a:off x="6776618" y="4681727"/>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a:t>
            </a:r>
          </a:p>
        </p:txBody>
      </p:sp>
      <p:sp>
        <p:nvSpPr>
          <p:cNvPr id="67" name="Rectangle 66"/>
          <p:cNvSpPr/>
          <p:nvPr/>
        </p:nvSpPr>
        <p:spPr>
          <a:xfrm>
            <a:off x="6776618" y="4992623"/>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求人を探す／会員登録／ログイン／11月・12月開始のお仕事／よくある質問</a:t>
            </a:r>
          </a:p>
        </p:txBody>
      </p:sp>
      <p:sp>
        <p:nvSpPr>
          <p:cNvPr id="68" name="TextBox 67"/>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出典｜リゾートバイトダイブ LINE公式アカウント（2026年10月20〜24日の配信）</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6118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各社の取り組み｜リゾバ.com</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追加の直後に経験の有無を聞き、1日2通、相談・タイプ別・条件別・エリア別の特集で求人へつなぐ。</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リゾバ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リゾバ_02.jpg"/>
          <p:cNvPicPr>
            <a:picLocks noChangeAspect="1"/>
          </p:cNvPicPr>
          <p:nvPr/>
        </p:nvPicPr>
        <p:blipFill>
          <a:blip r:embed="rId3"/>
          <a:stretch>
            <a:fillRect/>
          </a:stretch>
        </p:blipFill>
        <p:spPr>
          <a:xfrm>
            <a:off x="2463088" y="1810512"/>
            <a:ext cx="1941880" cy="4206240"/>
          </a:xfrm>
          <a:prstGeom prst="rect">
            <a:avLst/>
          </a:prstGeom>
        </p:spPr>
      </p:pic>
      <p:pic>
        <p:nvPicPr>
          <p:cNvPr id="61" name="Picture 60" descr="リゾバ_05.jpg"/>
          <p:cNvPicPr>
            <a:picLocks noChangeAspect="1"/>
          </p:cNvPicPr>
          <p:nvPr/>
        </p:nvPicPr>
        <p:blipFill>
          <a:blip r:embed="rId4"/>
          <a:stretch>
            <a:fillRect/>
          </a:stretch>
        </p:blipFill>
        <p:spPr>
          <a:xfrm>
            <a:off x="4514697" y="1810512"/>
            <a:ext cx="1941880" cy="4206240"/>
          </a:xfrm>
          <a:prstGeom prst="rect">
            <a:avLst/>
          </a:prstGeom>
        </p:spPr>
      </p:pic>
      <p:sp>
        <p:nvSpPr>
          <p:cNvPr id="62" name="Rectangle 61"/>
          <p:cNvSpPr/>
          <p:nvPr/>
        </p:nvSpPr>
        <p:spPr>
          <a:xfrm>
            <a:off x="6776618" y="1810512"/>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3" name="Rectangle 62"/>
          <p:cNvSpPr/>
          <p:nvPr/>
        </p:nvSpPr>
        <p:spPr>
          <a:xfrm>
            <a:off x="6776618" y="2121408"/>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採用コーディネーターがサポートすると伝え、会員登録（まずは相談する）へ。続けて「リゾートバイト経験はありますか？」</a:t>
            </a:r>
          </a:p>
        </p:txBody>
      </p:sp>
      <p:sp>
        <p:nvSpPr>
          <p:cNvPr id="64" name="Rectangle 63"/>
          <p:cNvSpPr/>
          <p:nvPr/>
        </p:nvSpPr>
        <p:spPr>
          <a:xfrm>
            <a:off x="6776618" y="3246120"/>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追加後の配信（1日2通）</a:t>
            </a:r>
          </a:p>
        </p:txBody>
      </p:sp>
      <p:sp>
        <p:nvSpPr>
          <p:cNvPr id="65" name="Rectangle 64"/>
          <p:cNvSpPr/>
          <p:nvPr/>
        </p:nvSpPr>
        <p:spPr>
          <a:xfrm>
            <a:off x="6776618" y="3557016"/>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「話を聞いてみませんか？」／「あなたはどのタイプ？」（タイプ別の求人）／条件特集・エリア特集・レア求人</a:t>
            </a:r>
          </a:p>
        </p:txBody>
      </p:sp>
      <p:sp>
        <p:nvSpPr>
          <p:cNvPr id="66" name="Rectangle 65"/>
          <p:cNvSpPr/>
          <p:nvPr/>
        </p:nvSpPr>
        <p:spPr>
          <a:xfrm>
            <a:off x="6776618" y="4681727"/>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a:t>
            </a:r>
          </a:p>
        </p:txBody>
      </p:sp>
      <p:sp>
        <p:nvSpPr>
          <p:cNvPr id="67" name="Rectangle 66"/>
          <p:cNvSpPr/>
          <p:nvPr/>
        </p:nvSpPr>
        <p:spPr>
          <a:xfrm>
            <a:off x="6776618" y="4992623"/>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探したい・働きたい（新着・条件検索・応募・11〜1月開始）／知りたい（はじめての方へ・体験談・特典）</a:t>
            </a:r>
          </a:p>
        </p:txBody>
      </p:sp>
      <p:sp>
        <p:nvSpPr>
          <p:cNvPr id="68" name="TextBox 67"/>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出典｜リゾバ.com LINE公式アカウント（2026年10月20〜22日の配信）</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45262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各社の取り組み｜リゾートバイト.com</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追加の直後にアンケートから始め、リッチメニューで開始月別の求人と登録へつなぐ。</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リゾートバイトcom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リゾートバイトcom_02.jpg"/>
          <p:cNvPicPr>
            <a:picLocks noChangeAspect="1"/>
          </p:cNvPicPr>
          <p:nvPr/>
        </p:nvPicPr>
        <p:blipFill>
          <a:blip r:embed="rId3"/>
          <a:stretch>
            <a:fillRect/>
          </a:stretch>
        </p:blipFill>
        <p:spPr>
          <a:xfrm>
            <a:off x="2463088" y="1810512"/>
            <a:ext cx="1941880" cy="4206240"/>
          </a:xfrm>
          <a:prstGeom prst="rect">
            <a:avLst/>
          </a:prstGeom>
        </p:spPr>
      </p:pic>
      <p:sp>
        <p:nvSpPr>
          <p:cNvPr id="61" name="Rectangle 60"/>
          <p:cNvSpPr/>
          <p:nvPr/>
        </p:nvSpPr>
        <p:spPr>
          <a:xfrm>
            <a:off x="4725009" y="1810512"/>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2" name="Rectangle 61"/>
          <p:cNvSpPr/>
          <p:nvPr/>
        </p:nvSpPr>
        <p:spPr>
          <a:xfrm>
            <a:off x="4725009" y="2121408"/>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アンケート「Q1.性別を教えてください」から始める</a:t>
            </a:r>
          </a:p>
        </p:txBody>
      </p:sp>
      <p:sp>
        <p:nvSpPr>
          <p:cNvPr id="63" name="Rectangle 62"/>
          <p:cNvSpPr/>
          <p:nvPr/>
        </p:nvSpPr>
        <p:spPr>
          <a:xfrm>
            <a:off x="4725009" y="3246120"/>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リッチメニュー（おしごと探し）</a:t>
            </a:r>
          </a:p>
        </p:txBody>
      </p:sp>
      <p:sp>
        <p:nvSpPr>
          <p:cNvPr id="64" name="Rectangle 63"/>
          <p:cNvSpPr/>
          <p:nvPr/>
        </p:nvSpPr>
        <p:spPr>
          <a:xfrm>
            <a:off x="4725009" y="3557016"/>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リゾートバイト検索／10月・11月勤務開始／スキー場バイト／かんたんWEB登録（約50秒）</a:t>
            </a:r>
          </a:p>
        </p:txBody>
      </p:sp>
      <p:sp>
        <p:nvSpPr>
          <p:cNvPr id="65" name="Rectangle 64"/>
          <p:cNvSpPr/>
          <p:nvPr/>
        </p:nvSpPr>
        <p:spPr>
          <a:xfrm>
            <a:off x="4725009" y="4681727"/>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リッチメニュー（サポートナビ）</a:t>
            </a:r>
          </a:p>
        </p:txBody>
      </p:sp>
      <p:sp>
        <p:nvSpPr>
          <p:cNvPr id="66" name="Rectangle 65"/>
          <p:cNvSpPr/>
          <p:nvPr/>
        </p:nvSpPr>
        <p:spPr>
          <a:xfrm>
            <a:off x="4725009" y="4992623"/>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はじめての方へ／質問はこちら／体験談／お問い合わせ／マイページ／配信設定</a:t>
            </a:r>
          </a:p>
        </p:txBody>
      </p:sp>
      <p:sp>
        <p:nvSpPr>
          <p:cNvPr id="67" name="TextBox 66"/>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出典｜リゾートバイト.com LINE公式アカウント（2026年10月20日の画面）</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8404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各社の取り組み｜アルファリゾート</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あいさつで会員登録と初回カウンセリングの予約を案内し、担当者がチャットで相談に乗る。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アルファ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アルファ_02.jpg"/>
          <p:cNvPicPr>
            <a:picLocks noChangeAspect="1"/>
          </p:cNvPicPr>
          <p:nvPr/>
        </p:nvPicPr>
        <p:blipFill>
          <a:blip r:embed="rId3"/>
          <a:stretch>
            <a:fillRect/>
          </a:stretch>
        </p:blipFill>
        <p:spPr>
          <a:xfrm>
            <a:off x="2463088" y="1810512"/>
            <a:ext cx="1941880" cy="4206240"/>
          </a:xfrm>
          <a:prstGeom prst="rect">
            <a:avLst/>
          </a:prstGeom>
        </p:spPr>
      </p:pic>
      <p:sp>
        <p:nvSpPr>
          <p:cNvPr id="61" name="Rectangle 60"/>
          <p:cNvSpPr/>
          <p:nvPr/>
        </p:nvSpPr>
        <p:spPr>
          <a:xfrm>
            <a:off x="4725009" y="1810512"/>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2" name="Rectangle 61"/>
          <p:cNvSpPr/>
          <p:nvPr/>
        </p:nvSpPr>
        <p:spPr>
          <a:xfrm>
            <a:off x="4725009" y="2121408"/>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まずは無料で会員登録（URL）／初回カウンセリングの予約（URL・必須）／気になることは担当者が返信</a:t>
            </a:r>
          </a:p>
        </p:txBody>
      </p:sp>
      <p:sp>
        <p:nvSpPr>
          <p:cNvPr id="63" name="Rectangle 62"/>
          <p:cNvSpPr/>
          <p:nvPr/>
        </p:nvSpPr>
        <p:spPr>
          <a:xfrm>
            <a:off x="4725009" y="3246120"/>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a:t>
            </a:r>
          </a:p>
        </p:txBody>
      </p:sp>
      <p:sp>
        <p:nvSpPr>
          <p:cNvPr id="64" name="Rectangle 63"/>
          <p:cNvSpPr/>
          <p:nvPr/>
        </p:nvSpPr>
        <p:spPr>
          <a:xfrm>
            <a:off x="4725009" y="3557016"/>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マイページ ログイン／求人検索／お役立ち情報／マイページ作成／よくある質問／10月・11月スタートのお仕事</a:t>
            </a:r>
          </a:p>
        </p:txBody>
      </p:sp>
      <p:sp>
        <p:nvSpPr>
          <p:cNvPr id="65" name="Rectangle 64"/>
          <p:cNvSpPr/>
          <p:nvPr/>
        </p:nvSpPr>
        <p:spPr>
          <a:xfrm>
            <a:off x="4725009" y="4681727"/>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ねらい</a:t>
            </a:r>
          </a:p>
        </p:txBody>
      </p:sp>
      <p:sp>
        <p:nvSpPr>
          <p:cNvPr id="66" name="Rectangle 65"/>
          <p:cNvSpPr/>
          <p:nvPr/>
        </p:nvSpPr>
        <p:spPr>
          <a:xfrm>
            <a:off x="4725009" y="4992623"/>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LINEを、登録とカウンセリングの受付の窓口にしている</a:t>
            </a:r>
          </a:p>
        </p:txBody>
      </p:sp>
      <p:sp>
        <p:nvSpPr>
          <p:cNvPr id="67" name="TextBox 66"/>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出典｜リゾートバイトならアルファリゾート LINE公式アカウント（2026年10月20日の画面）</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1546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他社のLINE活用のまとめ</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他社は、追加の直後から登録・相談へつないでいる。リゾートバイトの集客で、LINEは必須の接点になっている。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69" name="Rectangle 58"/>
          <p:cNvSpPr/>
          <p:nvPr/>
        </p:nvSpPr>
        <p:spPr>
          <a:xfrm>
            <a:off x="384048" y="1828800"/>
            <a:ext cx="20574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他社がやっていること</a:t>
            </a:r>
          </a:p>
        </p:txBody>
      </p:sp>
      <p:sp>
        <p:nvSpPr>
          <p:cNvPr id="70" name="Rectangle 59"/>
          <p:cNvSpPr/>
          <p:nvPr/>
        </p:nvSpPr>
        <p:spPr>
          <a:xfrm>
            <a:off x="2478024" y="1828800"/>
            <a:ext cx="30632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どこがやっているか</a:t>
            </a:r>
          </a:p>
        </p:txBody>
      </p:sp>
      <p:sp>
        <p:nvSpPr>
          <p:cNvPr id="71" name="Rectangle 59"/>
          <p:cNvSpPr/>
          <p:nvPr/>
        </p:nvSpPr>
        <p:spPr>
          <a:xfrm>
            <a:off x="5577840" y="1828800"/>
            <a:ext cx="164592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ワクトリの今</a:t>
            </a:r>
          </a:p>
        </p:txBody>
      </p:sp>
      <p:sp>
        <p:nvSpPr>
          <p:cNvPr id="72" name="Rectangle 59"/>
          <p:cNvSpPr/>
          <p:nvPr/>
        </p:nvSpPr>
        <p:spPr>
          <a:xfrm>
            <a:off x="7260336" y="1828800"/>
            <a:ext cx="2267712"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ご提案での打ち手</a:t>
            </a:r>
          </a:p>
        </p:txBody>
      </p:sp>
      <p:sp>
        <p:nvSpPr>
          <p:cNvPr id="73" name="Rectangle 60"/>
          <p:cNvSpPr/>
          <p:nvPr/>
        </p:nvSpPr>
        <p:spPr>
          <a:xfrm>
            <a:off x="384048" y="2231136"/>
            <a:ext cx="2057400" cy="65836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1. 追加の直後に、</a:t>
            </a:r>
          </a:p>
          <a:p>
            <a:pPr algn="l">
              <a:lnSpc>
                <a:spcPct val="110000"/>
              </a:lnSpc>
              <a:spcAft>
                <a:spcPts val="0"/>
              </a:spcAft>
            </a:pPr>
            <a:r>
              <a:rPr sz="1250" b="1">
                <a:solidFill>
                  <a:srgbClr val="1F2A5C"/>
                </a:solidFill>
                <a:latin typeface="メイリオ"/>
                <a:ea typeface="メイリオ"/>
                <a:cs typeface="メイリオ"/>
              </a:rPr>
              <a:t>登録・相談へ誘導する</a:t>
            </a:r>
          </a:p>
        </p:txBody>
      </p:sp>
      <p:sp>
        <p:nvSpPr>
          <p:cNvPr id="74" name="Rectangle 61"/>
          <p:cNvSpPr/>
          <p:nvPr/>
        </p:nvSpPr>
        <p:spPr>
          <a:xfrm>
            <a:off x="2478024" y="2231136"/>
            <a:ext cx="306324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リゾートバイトダイブ／</a:t>
            </a:r>
          </a:p>
          <a:p>
            <a:pPr algn="l">
              <a:lnSpc>
                <a:spcPct val="110000"/>
              </a:lnSpc>
              <a:spcAft>
                <a:spcPts val="0"/>
              </a:spcAft>
            </a:pPr>
            <a:r>
              <a:rPr sz="1250" b="0">
                <a:solidFill>
                  <a:srgbClr val="333333"/>
                </a:solidFill>
                <a:latin typeface="メイリオ"/>
                <a:ea typeface="メイリオ"/>
                <a:cs typeface="メイリオ"/>
              </a:rPr>
              <a:t>リゾバ.com／アルファリゾート</a:t>
            </a:r>
          </a:p>
        </p:txBody>
      </p:sp>
      <p:sp>
        <p:nvSpPr>
          <p:cNvPr id="75" name="Rectangle 61"/>
          <p:cNvSpPr/>
          <p:nvPr/>
        </p:nvSpPr>
        <p:spPr>
          <a:xfrm>
            <a:off x="5577840" y="2231136"/>
            <a:ext cx="164592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翌日に</a:t>
            </a:r>
          </a:p>
          <a:p>
            <a:pPr algn="l">
              <a:lnSpc>
                <a:spcPct val="110000"/>
              </a:lnSpc>
              <a:spcAft>
                <a:spcPts val="0"/>
              </a:spcAft>
            </a:pPr>
            <a:r>
              <a:rPr sz="1250" b="0">
                <a:solidFill>
                  <a:srgbClr val="333333"/>
                </a:solidFill>
                <a:latin typeface="メイリオ"/>
                <a:ea typeface="メイリオ"/>
                <a:cs typeface="メイリオ"/>
              </a:rPr>
              <a:t>ENTRYの案内</a:t>
            </a:r>
          </a:p>
        </p:txBody>
      </p:sp>
      <p:sp>
        <p:nvSpPr>
          <p:cNvPr id="76" name="Rectangle 61"/>
          <p:cNvSpPr/>
          <p:nvPr/>
        </p:nvSpPr>
        <p:spPr>
          <a:xfrm>
            <a:off x="7260336" y="2231136"/>
            <a:ext cx="2267712"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追加直後からの</a:t>
            </a:r>
          </a:p>
          <a:p>
            <a:pPr algn="l">
              <a:lnSpc>
                <a:spcPct val="110000"/>
              </a:lnSpc>
              <a:spcAft>
                <a:spcPts val="0"/>
              </a:spcAft>
            </a:pPr>
            <a:r>
              <a:rPr sz="1250" b="0">
                <a:solidFill>
                  <a:srgbClr val="333333"/>
                </a:solidFill>
                <a:latin typeface="メイリオ"/>
                <a:ea typeface="メイリオ"/>
                <a:cs typeface="メイリオ"/>
              </a:rPr>
              <a:t>ステップ配信（P26）</a:t>
            </a:r>
          </a:p>
        </p:txBody>
      </p:sp>
      <p:sp>
        <p:nvSpPr>
          <p:cNvPr id="77" name="Rectangle 60"/>
          <p:cNvSpPr/>
          <p:nvPr/>
        </p:nvSpPr>
        <p:spPr>
          <a:xfrm>
            <a:off x="384048" y="2926080"/>
            <a:ext cx="2057400" cy="65836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2. 追加の後も、</a:t>
            </a:r>
          </a:p>
          <a:p>
            <a:pPr algn="l">
              <a:lnSpc>
                <a:spcPct val="110000"/>
              </a:lnSpc>
              <a:spcAft>
                <a:spcPts val="0"/>
              </a:spcAft>
            </a:pPr>
            <a:r>
              <a:rPr sz="1250" b="1">
                <a:solidFill>
                  <a:srgbClr val="1F2A5C"/>
                </a:solidFill>
                <a:latin typeface="メイリオ"/>
                <a:ea typeface="メイリオ"/>
                <a:cs typeface="メイリオ"/>
              </a:rPr>
              <a:t>毎日配信する会社もある</a:t>
            </a:r>
          </a:p>
        </p:txBody>
      </p:sp>
      <p:sp>
        <p:nvSpPr>
          <p:cNvPr id="78" name="Rectangle 61"/>
          <p:cNvSpPr/>
          <p:nvPr/>
        </p:nvSpPr>
        <p:spPr>
          <a:xfrm>
            <a:off x="2478024" y="2926080"/>
            <a:ext cx="306324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リゾートバイトダイブ（毎日1通）／</a:t>
            </a:r>
          </a:p>
          <a:p>
            <a:pPr algn="l">
              <a:lnSpc>
                <a:spcPct val="110000"/>
              </a:lnSpc>
              <a:spcAft>
                <a:spcPts val="0"/>
              </a:spcAft>
            </a:pPr>
            <a:r>
              <a:rPr sz="1250" b="0">
                <a:solidFill>
                  <a:srgbClr val="333333"/>
                </a:solidFill>
                <a:latin typeface="メイリオ"/>
                <a:ea typeface="メイリオ"/>
                <a:cs typeface="メイリオ"/>
              </a:rPr>
              <a:t>リゾバ.com（1日2通）</a:t>
            </a:r>
          </a:p>
        </p:txBody>
      </p:sp>
      <p:sp>
        <p:nvSpPr>
          <p:cNvPr id="79" name="Rectangle 61"/>
          <p:cNvSpPr/>
          <p:nvPr/>
        </p:nvSpPr>
        <p:spPr>
          <a:xfrm>
            <a:off x="5577840" y="2926080"/>
            <a:ext cx="164592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週1回の企画配信</a:t>
            </a:r>
          </a:p>
        </p:txBody>
      </p:sp>
      <p:sp>
        <p:nvSpPr>
          <p:cNvPr id="80" name="Rectangle 61"/>
          <p:cNvSpPr/>
          <p:nvPr/>
        </p:nvSpPr>
        <p:spPr>
          <a:xfrm>
            <a:off x="7260336" y="2926080"/>
            <a:ext cx="2267712"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追加後15日の</a:t>
            </a:r>
          </a:p>
          <a:p>
            <a:pPr algn="l">
              <a:lnSpc>
                <a:spcPct val="110000"/>
              </a:lnSpc>
              <a:spcAft>
                <a:spcPts val="0"/>
              </a:spcAft>
            </a:pPr>
            <a:r>
              <a:rPr sz="1250" b="0">
                <a:solidFill>
                  <a:srgbClr val="333333"/>
                </a:solidFill>
                <a:latin typeface="メイリオ"/>
                <a:ea typeface="メイリオ"/>
                <a:cs typeface="メイリオ"/>
              </a:rPr>
              <a:t>ステップ配信</a:t>
            </a:r>
          </a:p>
          <a:p>
            <a:pPr algn="l">
              <a:lnSpc>
                <a:spcPct val="110000"/>
              </a:lnSpc>
              <a:spcAft>
                <a:spcPts val="0"/>
              </a:spcAft>
            </a:pPr>
            <a:r>
              <a:rPr sz="1250" b="0">
                <a:solidFill>
                  <a:srgbClr val="333333"/>
                </a:solidFill>
                <a:latin typeface="メイリオ"/>
                <a:ea typeface="メイリオ"/>
                <a:cs typeface="メイリオ"/>
              </a:rPr>
              <a:t>（P26・P33）</a:t>
            </a:r>
          </a:p>
        </p:txBody>
      </p:sp>
      <p:sp>
        <p:nvSpPr>
          <p:cNvPr id="81" name="Rectangle 60"/>
          <p:cNvSpPr/>
          <p:nvPr/>
        </p:nvSpPr>
        <p:spPr>
          <a:xfrm>
            <a:off x="384048" y="3621024"/>
            <a:ext cx="2057400" cy="65836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3. 経験・タイプを聞き、</a:t>
            </a:r>
          </a:p>
          <a:p>
            <a:pPr algn="l">
              <a:lnSpc>
                <a:spcPct val="110000"/>
              </a:lnSpc>
              <a:spcAft>
                <a:spcPts val="0"/>
              </a:spcAft>
            </a:pPr>
            <a:r>
              <a:rPr sz="1250" b="1">
                <a:solidFill>
                  <a:srgbClr val="1F2A5C"/>
                </a:solidFill>
                <a:latin typeface="メイリオ"/>
                <a:ea typeface="メイリオ"/>
                <a:cs typeface="メイリオ"/>
              </a:rPr>
              <a:t>合う求人を出し分ける</a:t>
            </a:r>
          </a:p>
        </p:txBody>
      </p:sp>
      <p:sp>
        <p:nvSpPr>
          <p:cNvPr id="82" name="Rectangle 61"/>
          <p:cNvSpPr/>
          <p:nvPr/>
        </p:nvSpPr>
        <p:spPr>
          <a:xfrm>
            <a:off x="2478024" y="3621024"/>
            <a:ext cx="306324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リゾバ.com（経験・タイプ別）／</a:t>
            </a:r>
          </a:p>
          <a:p>
            <a:pPr algn="l">
              <a:lnSpc>
                <a:spcPct val="110000"/>
              </a:lnSpc>
              <a:spcAft>
                <a:spcPts val="0"/>
              </a:spcAft>
            </a:pPr>
            <a:r>
              <a:rPr sz="1250" b="0">
                <a:solidFill>
                  <a:srgbClr val="333333"/>
                </a:solidFill>
                <a:latin typeface="メイリオ"/>
                <a:ea typeface="メイリオ"/>
                <a:cs typeface="メイリオ"/>
              </a:rPr>
              <a:t>リゾートバイト.com（アンケート）</a:t>
            </a:r>
          </a:p>
        </p:txBody>
      </p:sp>
      <p:sp>
        <p:nvSpPr>
          <p:cNvPr id="83" name="Rectangle 61"/>
          <p:cNvSpPr/>
          <p:nvPr/>
        </p:nvSpPr>
        <p:spPr>
          <a:xfrm>
            <a:off x="5577840" y="3621024"/>
            <a:ext cx="164592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アンケート3問で</a:t>
            </a:r>
          </a:p>
          <a:p>
            <a:pPr algn="l">
              <a:lnSpc>
                <a:spcPct val="110000"/>
              </a:lnSpc>
              <a:spcAft>
                <a:spcPts val="0"/>
              </a:spcAft>
            </a:pPr>
            <a:r>
              <a:rPr sz="1250" b="0">
                <a:solidFill>
                  <a:srgbClr val="333333"/>
                </a:solidFill>
                <a:latin typeface="メイリオ"/>
                <a:ea typeface="メイリオ"/>
                <a:cs typeface="メイリオ"/>
              </a:rPr>
              <a:t>開始時期と</a:t>
            </a:r>
          </a:p>
          <a:p>
            <a:pPr algn="l">
              <a:lnSpc>
                <a:spcPct val="110000"/>
              </a:lnSpc>
              <a:spcAft>
                <a:spcPts val="0"/>
              </a:spcAft>
            </a:pPr>
            <a:r>
              <a:rPr sz="1250" b="0">
                <a:solidFill>
                  <a:srgbClr val="333333"/>
                </a:solidFill>
                <a:latin typeface="メイリオ"/>
                <a:ea typeface="メイリオ"/>
                <a:cs typeface="メイリオ"/>
              </a:rPr>
              <a:t>エリアを伺う</a:t>
            </a:r>
          </a:p>
        </p:txBody>
      </p:sp>
      <p:sp>
        <p:nvSpPr>
          <p:cNvPr id="84" name="Rectangle 61"/>
          <p:cNvSpPr/>
          <p:nvPr/>
        </p:nvSpPr>
        <p:spPr>
          <a:xfrm>
            <a:off x="7260336" y="3621024"/>
            <a:ext cx="2267712"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適正バイト診断と</a:t>
            </a:r>
          </a:p>
          <a:p>
            <a:pPr algn="l">
              <a:lnSpc>
                <a:spcPct val="110000"/>
              </a:lnSpc>
              <a:spcAft>
                <a:spcPts val="0"/>
              </a:spcAft>
            </a:pPr>
            <a:r>
              <a:rPr sz="1250" b="0">
                <a:solidFill>
                  <a:srgbClr val="333333"/>
                </a:solidFill>
                <a:latin typeface="メイリオ"/>
                <a:ea typeface="メイリオ"/>
                <a:cs typeface="メイリオ"/>
              </a:rPr>
              <a:t>開始時期・エリア別の配信</a:t>
            </a:r>
          </a:p>
          <a:p>
            <a:pPr algn="l">
              <a:lnSpc>
                <a:spcPct val="110000"/>
              </a:lnSpc>
              <a:spcAft>
                <a:spcPts val="0"/>
              </a:spcAft>
            </a:pPr>
            <a:r>
              <a:rPr sz="1250" b="0">
                <a:solidFill>
                  <a:srgbClr val="333333"/>
                </a:solidFill>
                <a:latin typeface="メイリオ"/>
                <a:ea typeface="メイリオ"/>
                <a:cs typeface="メイリオ"/>
              </a:rPr>
              <a:t>（P26・P29）</a:t>
            </a:r>
          </a:p>
        </p:txBody>
      </p:sp>
      <p:sp>
        <p:nvSpPr>
          <p:cNvPr id="85" name="Rectangle 60"/>
          <p:cNvSpPr/>
          <p:nvPr/>
        </p:nvSpPr>
        <p:spPr>
          <a:xfrm>
            <a:off x="384048" y="4315968"/>
            <a:ext cx="2057400" cy="65836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4. リッチメニューに、</a:t>
            </a:r>
          </a:p>
          <a:p>
            <a:pPr algn="l">
              <a:lnSpc>
                <a:spcPct val="110000"/>
              </a:lnSpc>
              <a:spcAft>
                <a:spcPts val="0"/>
              </a:spcAft>
            </a:pPr>
            <a:r>
              <a:rPr sz="1250" b="1">
                <a:solidFill>
                  <a:srgbClr val="1F2A5C"/>
                </a:solidFill>
                <a:latin typeface="メイリオ"/>
                <a:ea typeface="メイリオ"/>
                <a:cs typeface="メイリオ"/>
              </a:rPr>
              <a:t>開始月別の求人を置く</a:t>
            </a:r>
          </a:p>
        </p:txBody>
      </p:sp>
      <p:sp>
        <p:nvSpPr>
          <p:cNvPr id="86" name="Rectangle 61"/>
          <p:cNvSpPr/>
          <p:nvPr/>
        </p:nvSpPr>
        <p:spPr>
          <a:xfrm>
            <a:off x="2478024" y="4315968"/>
            <a:ext cx="306324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4社とも</a:t>
            </a:r>
          </a:p>
        </p:txBody>
      </p:sp>
      <p:sp>
        <p:nvSpPr>
          <p:cNvPr id="87" name="Rectangle 61"/>
          <p:cNvSpPr/>
          <p:nvPr/>
        </p:nvSpPr>
        <p:spPr>
          <a:xfrm>
            <a:off x="5577840" y="4315968"/>
            <a:ext cx="164592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11月開始の求人と</a:t>
            </a:r>
          </a:p>
          <a:p>
            <a:pPr algn="l">
              <a:lnSpc>
                <a:spcPct val="110000"/>
              </a:lnSpc>
              <a:spcAft>
                <a:spcPts val="0"/>
              </a:spcAft>
            </a:pPr>
            <a:r>
              <a:rPr sz="1250" b="0">
                <a:solidFill>
                  <a:srgbClr val="333333"/>
                </a:solidFill>
                <a:latin typeface="メイリオ"/>
                <a:ea typeface="メイリオ"/>
                <a:cs typeface="メイリオ"/>
              </a:rPr>
              <a:t>スキー特集の入口</a:t>
            </a:r>
          </a:p>
        </p:txBody>
      </p:sp>
      <p:sp>
        <p:nvSpPr>
          <p:cNvPr id="88" name="Rectangle 61"/>
          <p:cNvSpPr/>
          <p:nvPr/>
        </p:nvSpPr>
        <p:spPr>
          <a:xfrm>
            <a:off x="7260336" y="4315968"/>
            <a:ext cx="2267712"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上段に開始月別の求人</a:t>
            </a:r>
          </a:p>
          <a:p>
            <a:pPr algn="l">
              <a:lnSpc>
                <a:spcPct val="110000"/>
              </a:lnSpc>
              <a:spcAft>
                <a:spcPts val="0"/>
              </a:spcAft>
            </a:pPr>
            <a:r>
              <a:rPr sz="1250" b="0">
                <a:solidFill>
                  <a:srgbClr val="333333"/>
                </a:solidFill>
                <a:latin typeface="メイリオ"/>
                <a:ea typeface="メイリオ"/>
                <a:cs typeface="メイリオ"/>
              </a:rPr>
              <a:t>（P25）</a:t>
            </a:r>
          </a:p>
        </p:txBody>
      </p:sp>
      <p:sp>
        <p:nvSpPr>
          <p:cNvPr id="89" name="Rectangle 60"/>
          <p:cNvSpPr/>
          <p:nvPr/>
        </p:nvSpPr>
        <p:spPr>
          <a:xfrm>
            <a:off x="384048" y="5010912"/>
            <a:ext cx="2057400" cy="65836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5. 相談の入口を、</a:t>
            </a:r>
          </a:p>
          <a:p>
            <a:pPr algn="l">
              <a:lnSpc>
                <a:spcPct val="110000"/>
              </a:lnSpc>
              <a:spcAft>
                <a:spcPts val="0"/>
              </a:spcAft>
            </a:pPr>
            <a:r>
              <a:rPr sz="1250" b="1">
                <a:solidFill>
                  <a:srgbClr val="1F2A5C"/>
                </a:solidFill>
                <a:latin typeface="メイリオ"/>
                <a:ea typeface="メイリオ"/>
                <a:cs typeface="メイリオ"/>
              </a:rPr>
              <a:t>最初から見せる</a:t>
            </a:r>
          </a:p>
        </p:txBody>
      </p:sp>
      <p:sp>
        <p:nvSpPr>
          <p:cNvPr id="90" name="Rectangle 61"/>
          <p:cNvSpPr/>
          <p:nvPr/>
        </p:nvSpPr>
        <p:spPr>
          <a:xfrm>
            <a:off x="2478024" y="5010912"/>
            <a:ext cx="306324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リゾートバイトダイブ（電話15分）／</a:t>
            </a:r>
          </a:p>
          <a:p>
            <a:pPr algn="l">
              <a:lnSpc>
                <a:spcPct val="110000"/>
              </a:lnSpc>
              <a:spcAft>
                <a:spcPts val="0"/>
              </a:spcAft>
            </a:pPr>
            <a:r>
              <a:rPr sz="1250" b="0">
                <a:solidFill>
                  <a:srgbClr val="333333"/>
                </a:solidFill>
                <a:latin typeface="メイリオ"/>
                <a:ea typeface="メイリオ"/>
                <a:cs typeface="メイリオ"/>
              </a:rPr>
              <a:t>リゾバ.com・アルファリゾート</a:t>
            </a:r>
          </a:p>
          <a:p>
            <a:pPr algn="l">
              <a:lnSpc>
                <a:spcPct val="110000"/>
              </a:lnSpc>
              <a:spcAft>
                <a:spcPts val="0"/>
              </a:spcAft>
            </a:pPr>
            <a:r>
              <a:rPr sz="1250" b="0">
                <a:solidFill>
                  <a:srgbClr val="333333"/>
                </a:solidFill>
                <a:latin typeface="メイリオ"/>
                <a:ea typeface="メイリオ"/>
                <a:cs typeface="メイリオ"/>
              </a:rPr>
              <a:t>（チャット）</a:t>
            </a:r>
          </a:p>
        </p:txBody>
      </p:sp>
      <p:sp>
        <p:nvSpPr>
          <p:cNvPr id="91" name="Rectangle 61"/>
          <p:cNvSpPr/>
          <p:nvPr/>
        </p:nvSpPr>
        <p:spPr>
          <a:xfrm>
            <a:off x="5577840" y="5010912"/>
            <a:ext cx="164592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専属エージェント</a:t>
            </a:r>
          </a:p>
          <a:p>
            <a:pPr algn="l">
              <a:lnSpc>
                <a:spcPct val="110000"/>
              </a:lnSpc>
              <a:spcAft>
                <a:spcPts val="0"/>
              </a:spcAft>
            </a:pPr>
            <a:r>
              <a:rPr sz="1250" b="0">
                <a:solidFill>
                  <a:srgbClr val="333333"/>
                </a:solidFill>
                <a:latin typeface="メイリオ"/>
                <a:ea typeface="メイリオ"/>
                <a:cs typeface="メイリオ"/>
              </a:rPr>
              <a:t>（ENTRYの後）</a:t>
            </a:r>
          </a:p>
        </p:txBody>
      </p:sp>
      <p:sp>
        <p:nvSpPr>
          <p:cNvPr id="92" name="Rectangle 61"/>
          <p:cNvSpPr/>
          <p:nvPr/>
        </p:nvSpPr>
        <p:spPr>
          <a:xfrm>
            <a:off x="7260336" y="5010912"/>
            <a:ext cx="2267712"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ステップ配信と</a:t>
            </a:r>
          </a:p>
          <a:p>
            <a:pPr algn="l">
              <a:lnSpc>
                <a:spcPct val="110000"/>
              </a:lnSpc>
              <a:spcAft>
                <a:spcPts val="0"/>
              </a:spcAft>
            </a:pPr>
            <a:r>
              <a:rPr sz="1250" b="0">
                <a:solidFill>
                  <a:srgbClr val="333333"/>
                </a:solidFill>
                <a:latin typeface="メイリオ"/>
                <a:ea typeface="メイリオ"/>
                <a:cs typeface="メイリオ"/>
              </a:rPr>
              <a:t>リッチメニューに</a:t>
            </a:r>
          </a:p>
          <a:p>
            <a:pPr algn="l">
              <a:lnSpc>
                <a:spcPct val="110000"/>
              </a:lnSpc>
              <a:spcAft>
                <a:spcPts val="0"/>
              </a:spcAft>
            </a:pPr>
            <a:r>
              <a:rPr sz="1250" b="0">
                <a:solidFill>
                  <a:srgbClr val="333333"/>
                </a:solidFill>
                <a:latin typeface="メイリオ"/>
                <a:ea typeface="メイリオ"/>
                <a:cs typeface="メイリオ"/>
              </a:rPr>
              <a:t>相談の入口（P33・P25）</a:t>
            </a:r>
          </a:p>
        </p:txBody>
      </p:sp>
      <p:sp>
        <p:nvSpPr>
          <p:cNvPr id="93" name="Rectangle 92"/>
          <p:cNvSpPr/>
          <p:nvPr/>
        </p:nvSpPr>
        <p:spPr>
          <a:xfrm>
            <a:off x="384048" y="5815584"/>
            <a:ext cx="9144000" cy="457200"/>
          </a:xfrm>
          <a:prstGeom prst="rect">
            <a:avLst/>
          </a:prstGeom>
          <a:solidFill>
            <a:srgbClr val="F2F2F2"/>
          </a:solidFill>
          <a:ln>
            <a:noFill/>
          </a:ln>
          <a:effectLst/>
        </p:spPr>
        <p:txBody>
          <a:bodyPr wrap="square" lIns="137160" rIns="137160" rtlCol="0" anchor="ctr"/>
          <a:lstStyle/>
          <a:p>
            <a:pPr algn="ctr"/>
            <a:r>
              <a:rPr sz="1300" b="1">
                <a:solidFill>
                  <a:srgbClr val="1F2A5C"/>
                </a:solidFill>
                <a:latin typeface="メイリオ"/>
                <a:ea typeface="メイリオ"/>
                <a:cs typeface="メイリオ"/>
              </a:rPr>
              <a:t>アンケートで希望を聞けているため、その分析を用いた配信が重要</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29260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ワクトリの現状のLINE</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今の流れは、あいさつ → アンケート3問 → 翌日のENTRY → 週1回の企画配信。絵と文面は見やすく整っている。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ワクトリ_01.jpg"/>
          <p:cNvPicPr>
            <a:picLocks noChangeAspect="1"/>
          </p:cNvPicPr>
          <p:nvPr/>
        </p:nvPicPr>
        <p:blipFill>
          <a:blip r:embed="rId2"/>
          <a:stretch>
            <a:fillRect/>
          </a:stretch>
        </p:blipFill>
        <p:spPr>
          <a:xfrm>
            <a:off x="685800" y="1783080"/>
            <a:ext cx="1393088" cy="3017520"/>
          </a:xfrm>
          <a:prstGeom prst="rect">
            <a:avLst/>
          </a:prstGeom>
        </p:spPr>
      </p:pic>
      <p:sp>
        <p:nvSpPr>
          <p:cNvPr id="60" name="TextBox 59"/>
          <p:cNvSpPr txBox="1"/>
          <p:nvPr/>
        </p:nvSpPr>
        <p:spPr>
          <a:xfrm>
            <a:off x="640079"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あいさつ</a:t>
            </a:r>
          </a:p>
        </p:txBody>
      </p:sp>
      <p:pic>
        <p:nvPicPr>
          <p:cNvPr id="61" name="Picture 60" descr="ワクトリ_02.jpg"/>
          <p:cNvPicPr>
            <a:picLocks noChangeAspect="1"/>
          </p:cNvPicPr>
          <p:nvPr/>
        </p:nvPicPr>
        <p:blipFill>
          <a:blip r:embed="rId3"/>
          <a:stretch>
            <a:fillRect/>
          </a:stretch>
        </p:blipFill>
        <p:spPr>
          <a:xfrm>
            <a:off x="2764688" y="1783080"/>
            <a:ext cx="1393088" cy="3017520"/>
          </a:xfrm>
          <a:prstGeom prst="rect">
            <a:avLst/>
          </a:prstGeom>
        </p:spPr>
      </p:pic>
      <p:sp>
        <p:nvSpPr>
          <p:cNvPr id="62" name="TextBox 61"/>
          <p:cNvSpPr txBox="1"/>
          <p:nvPr/>
        </p:nvSpPr>
        <p:spPr>
          <a:xfrm>
            <a:off x="2718968"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アンケート3問</a:t>
            </a:r>
          </a:p>
        </p:txBody>
      </p:sp>
      <p:pic>
        <p:nvPicPr>
          <p:cNvPr id="63" name="Picture 62" descr="ワクトリ_04.jpg"/>
          <p:cNvPicPr>
            <a:picLocks noChangeAspect="1"/>
          </p:cNvPicPr>
          <p:nvPr/>
        </p:nvPicPr>
        <p:blipFill>
          <a:blip r:embed="rId4"/>
          <a:stretch>
            <a:fillRect/>
          </a:stretch>
        </p:blipFill>
        <p:spPr>
          <a:xfrm>
            <a:off x="4843576" y="1783080"/>
            <a:ext cx="1393088" cy="3017520"/>
          </a:xfrm>
          <a:prstGeom prst="rect">
            <a:avLst/>
          </a:prstGeom>
        </p:spPr>
      </p:pic>
      <p:sp>
        <p:nvSpPr>
          <p:cNvPr id="64" name="TextBox 63"/>
          <p:cNvSpPr txBox="1"/>
          <p:nvPr/>
        </p:nvSpPr>
        <p:spPr>
          <a:xfrm>
            <a:off x="4797856"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翌日のENTRY</a:t>
            </a:r>
          </a:p>
        </p:txBody>
      </p:sp>
      <p:pic>
        <p:nvPicPr>
          <p:cNvPr id="65" name="Picture 64" descr="ワクトリ_07.jpg"/>
          <p:cNvPicPr>
            <a:picLocks noChangeAspect="1"/>
          </p:cNvPicPr>
          <p:nvPr/>
        </p:nvPicPr>
        <p:blipFill>
          <a:blip r:embed="rId5"/>
          <a:stretch>
            <a:fillRect/>
          </a:stretch>
        </p:blipFill>
        <p:spPr>
          <a:xfrm>
            <a:off x="6922465" y="1783080"/>
            <a:ext cx="1393088" cy="3017520"/>
          </a:xfrm>
          <a:prstGeom prst="rect">
            <a:avLst/>
          </a:prstGeom>
        </p:spPr>
      </p:pic>
      <p:sp>
        <p:nvSpPr>
          <p:cNvPr id="66" name="TextBox 65"/>
          <p:cNvSpPr txBox="1"/>
          <p:nvPr/>
        </p:nvSpPr>
        <p:spPr>
          <a:xfrm>
            <a:off x="6876745"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企画配信（毎週火曜）</a:t>
            </a:r>
          </a:p>
        </p:txBody>
      </p:sp>
      <p:sp>
        <p:nvSpPr>
          <p:cNvPr id="67" name="Rectangle 66"/>
          <p:cNvSpPr/>
          <p:nvPr/>
        </p:nvSpPr>
        <p:spPr>
          <a:xfrm>
            <a:off x="384048" y="5193792"/>
            <a:ext cx="237744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企画投稿の2種</a:t>
            </a:r>
          </a:p>
        </p:txBody>
      </p:sp>
      <p:sp>
        <p:nvSpPr>
          <p:cNvPr id="68" name="Rectangle 67"/>
          <p:cNvSpPr/>
          <p:nvPr/>
        </p:nvSpPr>
        <p:spPr>
          <a:xfrm>
            <a:off x="2788920" y="5193792"/>
            <a:ext cx="6739128"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中身</a:t>
            </a:r>
          </a:p>
        </p:txBody>
      </p:sp>
      <p:sp>
        <p:nvSpPr>
          <p:cNvPr id="69" name="Rectangle 68"/>
          <p:cNvSpPr/>
          <p:nvPr/>
        </p:nvSpPr>
        <p:spPr>
          <a:xfrm>
            <a:off x="384048" y="5522976"/>
            <a:ext cx="2377440" cy="36576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直接応募</a:t>
            </a:r>
          </a:p>
        </p:txBody>
      </p:sp>
      <p:sp>
        <p:nvSpPr>
          <p:cNvPr id="70" name="Rectangle 69"/>
          <p:cNvSpPr/>
          <p:nvPr/>
        </p:nvSpPr>
        <p:spPr>
          <a:xfrm>
            <a:off x="2788920" y="5522976"/>
            <a:ext cx="6739128" cy="3657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悩み3つ → 条件の特集10選 → 求人カード → 今すぐチェック</a:t>
            </a:r>
          </a:p>
        </p:txBody>
      </p:sp>
      <p:sp>
        <p:nvSpPr>
          <p:cNvPr id="71" name="Rectangle 70"/>
          <p:cNvSpPr/>
          <p:nvPr/>
        </p:nvSpPr>
        <p:spPr>
          <a:xfrm>
            <a:off x="384048" y="5925312"/>
            <a:ext cx="2377440" cy="36576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会員登録の引き上げ</a:t>
            </a:r>
          </a:p>
        </p:txBody>
      </p:sp>
      <p:sp>
        <p:nvSpPr>
          <p:cNvPr id="72" name="Rectangle 71"/>
          <p:cNvSpPr/>
          <p:nvPr/>
        </p:nvSpPr>
        <p:spPr>
          <a:xfrm>
            <a:off x="2788920" y="5925312"/>
            <a:ext cx="6739128" cy="3657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専属エージェントがサポート → 重視したいポイント（立地・稼げる など）→ ENTRY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これまでの運用について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これまでの運用の課題感と、これからやりたい施策を伺う。</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4535424"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これまでの運用の課題感</a:t>
            </a:r>
          </a:p>
        </p:txBody>
      </p:sp>
      <p:sp>
        <p:nvSpPr>
          <p:cNvPr id="55" name="Rectangle 54"/>
          <p:cNvSpPr/>
          <p:nvPr/>
        </p:nvSpPr>
        <p:spPr>
          <a:xfrm>
            <a:off x="384048" y="2231136"/>
            <a:ext cx="4535424" cy="365760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56" name="Rectangle 55"/>
          <p:cNvSpPr/>
          <p:nvPr/>
        </p:nvSpPr>
        <p:spPr>
          <a:xfrm>
            <a:off x="4992624" y="1828800"/>
            <a:ext cx="4535424"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これからやりたい施策</a:t>
            </a:r>
          </a:p>
        </p:txBody>
      </p:sp>
      <p:sp>
        <p:nvSpPr>
          <p:cNvPr id="57" name="Rectangle 56"/>
          <p:cNvSpPr/>
          <p:nvPr/>
        </p:nvSpPr>
        <p:spPr>
          <a:xfrm>
            <a:off x="4992624" y="2231136"/>
            <a:ext cx="4535424" cy="365760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BF2E0-298A-DE54-F38D-F332A9024833}"/>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FE01AEC-8FF5-06AC-4A88-BD6045B9E3F6}"/>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7016A7A6-DF0F-17C1-E44D-81012735C6E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02</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FD928B8B-A353-F88C-1716-B9953B8561FD}"/>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LINE</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施策全体図</a:t>
            </a:r>
          </a:p>
        </p:txBody>
      </p:sp>
      <p:cxnSp>
        <p:nvCxnSpPr>
          <p:cNvPr id="17" name="直線コネクタ 16">
            <a:extLst>
              <a:ext uri="{FF2B5EF4-FFF2-40B4-BE49-F238E27FC236}">
                <a16:creationId xmlns:a16="http://schemas.microsoft.com/office/drawing/2014/main" id="{DE9E7AD0-8EFD-8BF5-38BD-5DDFF49DC62F}"/>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525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AA833-D3F3-93C3-12E0-73EBD257A29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EDFC864-0FC1-906B-B68E-650BA4B41D40}"/>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F535991-533F-EFBE-4AEE-48F51BFAA70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6CD0D3C-91C0-AC26-EA06-0D9436780C74}"/>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ユーザーファネルの考え方</a:t>
            </a:r>
            <a:endParaRPr lang="ja-JP" altLang="en-US" sz="1100" dirty="0"/>
          </a:p>
        </p:txBody>
      </p:sp>
      <p:sp>
        <p:nvSpPr>
          <p:cNvPr id="7" name="テキスト ボックス 6">
            <a:extLst>
              <a:ext uri="{FF2B5EF4-FFF2-40B4-BE49-F238E27FC236}">
                <a16:creationId xmlns:a16="http://schemas.microsoft.com/office/drawing/2014/main" id="{E2E43B61-D3D6-CF9F-215E-9E9F057C93FC}"/>
              </a:ext>
            </a:extLst>
          </p:cNvPr>
          <p:cNvSpPr txBox="1"/>
          <p:nvPr/>
        </p:nvSpPr>
        <p:spPr>
          <a:xfrm>
            <a:off x="96788" y="1202790"/>
            <a:ext cx="9687414" cy="307777"/>
          </a:xfrm>
          <a:prstGeom prst="rect">
            <a:avLst/>
          </a:prstGeom>
          <a:noFill/>
        </p:spPr>
        <p:txBody>
          <a:bodyPr wrap="square">
            <a:spAutoFit/>
          </a:bodyPr>
          <a:lstStyle/>
          <a:p>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集客・友だち追加</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から </a:t>
            </a: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育成・反響</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までの全体動線設計</a:t>
            </a:r>
            <a:endParaRPr lang="ja-JP" altLang="en-US" sz="1000" dirty="0"/>
          </a:p>
        </p:txBody>
      </p:sp>
      <p:sp>
        <p:nvSpPr>
          <p:cNvPr id="9" name="テキスト ボックス 8">
            <a:extLst>
              <a:ext uri="{FF2B5EF4-FFF2-40B4-BE49-F238E27FC236}">
                <a16:creationId xmlns:a16="http://schemas.microsoft.com/office/drawing/2014/main" id="{68CB1203-9B68-6A7A-DAA2-3E7F946368F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cxnSp>
        <p:nvCxnSpPr>
          <p:cNvPr id="48" name="直線コネクタ 47">
            <a:extLst>
              <a:ext uri="{FF2B5EF4-FFF2-40B4-BE49-F238E27FC236}">
                <a16:creationId xmlns:a16="http://schemas.microsoft.com/office/drawing/2014/main" id="{8D0721AE-E7E5-698E-E773-F2614C0DBB07}"/>
              </a:ext>
            </a:extLst>
          </p:cNvPr>
          <p:cNvCxnSpPr>
            <a:cxnSpLocks/>
          </p:cNvCxnSpPr>
          <p:nvPr/>
        </p:nvCxnSpPr>
        <p:spPr>
          <a:xfrm>
            <a:off x="240222" y="1892621"/>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3BFFC88E-A589-D631-D366-94F280EFF67D}"/>
              </a:ext>
            </a:extLst>
          </p:cNvPr>
          <p:cNvCxnSpPr>
            <a:cxnSpLocks/>
          </p:cNvCxnSpPr>
          <p:nvPr/>
        </p:nvCxnSpPr>
        <p:spPr>
          <a:xfrm>
            <a:off x="1600733"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D90E23BB-3076-5B7D-82F3-8433A2B09D1F}"/>
              </a:ext>
            </a:extLst>
          </p:cNvPr>
          <p:cNvCxnSpPr>
            <a:cxnSpLocks/>
          </p:cNvCxnSpPr>
          <p:nvPr/>
        </p:nvCxnSpPr>
        <p:spPr>
          <a:xfrm>
            <a:off x="2773855"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6558815C-4A36-8DFA-3258-ADAC642B44B6}"/>
              </a:ext>
            </a:extLst>
          </p:cNvPr>
          <p:cNvCxnSpPr>
            <a:cxnSpLocks/>
          </p:cNvCxnSpPr>
          <p:nvPr/>
        </p:nvCxnSpPr>
        <p:spPr>
          <a:xfrm>
            <a:off x="3936993" y="1892621"/>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9B24DBF0-6A3A-0783-C6E3-74B28D837D9E}"/>
              </a:ext>
            </a:extLst>
          </p:cNvPr>
          <p:cNvCxnSpPr>
            <a:cxnSpLocks/>
          </p:cNvCxnSpPr>
          <p:nvPr/>
        </p:nvCxnSpPr>
        <p:spPr>
          <a:xfrm>
            <a:off x="5079515" y="194096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D9F92929-7F37-647E-2D3E-0EB84FFB20D1}"/>
              </a:ext>
            </a:extLst>
          </p:cNvPr>
          <p:cNvCxnSpPr>
            <a:cxnSpLocks/>
          </p:cNvCxnSpPr>
          <p:nvPr/>
        </p:nvCxnSpPr>
        <p:spPr>
          <a:xfrm>
            <a:off x="6233170" y="191158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A53FD7B1-4120-4E04-0DDF-B4B54EDB9BFD}"/>
              </a:ext>
            </a:extLst>
          </p:cNvPr>
          <p:cNvCxnSpPr>
            <a:cxnSpLocks/>
          </p:cNvCxnSpPr>
          <p:nvPr/>
        </p:nvCxnSpPr>
        <p:spPr>
          <a:xfrm>
            <a:off x="7398333" y="190184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565A72C8-45FF-A070-3E5F-46A3A7352507}"/>
              </a:ext>
            </a:extLst>
          </p:cNvPr>
          <p:cNvCxnSpPr>
            <a:cxnSpLocks/>
          </p:cNvCxnSpPr>
          <p:nvPr/>
        </p:nvCxnSpPr>
        <p:spPr>
          <a:xfrm>
            <a:off x="9719357" y="2048213"/>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11" name="直線コネクタ 310">
            <a:extLst>
              <a:ext uri="{FF2B5EF4-FFF2-40B4-BE49-F238E27FC236}">
                <a16:creationId xmlns:a16="http://schemas.microsoft.com/office/drawing/2014/main" id="{490BDABD-2035-40BF-A521-7BBCDAFC6FFE}"/>
              </a:ext>
            </a:extLst>
          </p:cNvPr>
          <p:cNvCxnSpPr>
            <a:cxnSpLocks/>
          </p:cNvCxnSpPr>
          <p:nvPr/>
        </p:nvCxnSpPr>
        <p:spPr>
          <a:xfrm>
            <a:off x="8549009" y="2036711"/>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pic>
        <p:nvPicPr>
          <p:cNvPr id="345" name="図 344">
            <a:extLst>
              <a:ext uri="{FF2B5EF4-FFF2-40B4-BE49-F238E27FC236}">
                <a16:creationId xmlns:a16="http://schemas.microsoft.com/office/drawing/2014/main" id="{89F7A10B-75A8-6EC6-A69F-413DDACCFE56}"/>
              </a:ext>
            </a:extLst>
          </p:cNvPr>
          <p:cNvPicPr>
            <a:picLocks noChangeAspect="1"/>
          </p:cNvPicPr>
          <p:nvPr/>
        </p:nvPicPr>
        <p:blipFill>
          <a:blip r:embed="rId2"/>
          <a:stretch>
            <a:fillRect/>
          </a:stretch>
        </p:blipFill>
        <p:spPr>
          <a:xfrm>
            <a:off x="117307" y="1707348"/>
            <a:ext cx="9666895" cy="952587"/>
          </a:xfrm>
          <a:prstGeom prst="rect">
            <a:avLst/>
          </a:prstGeom>
        </p:spPr>
      </p:pic>
      <p:sp>
        <p:nvSpPr>
          <p:cNvPr id="348" name="Pentagon 10">
            <a:extLst>
              <a:ext uri="{FF2B5EF4-FFF2-40B4-BE49-F238E27FC236}">
                <a16:creationId xmlns:a16="http://schemas.microsoft.com/office/drawing/2014/main" id="{D60CF545-0B19-2223-E0F6-EE6FBF96A846}"/>
              </a:ext>
            </a:extLst>
          </p:cNvPr>
          <p:cNvSpPr/>
          <p:nvPr/>
        </p:nvSpPr>
        <p:spPr>
          <a:xfrm>
            <a:off x="240491" y="1840092"/>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349" name="Chevron 11">
            <a:extLst>
              <a:ext uri="{FF2B5EF4-FFF2-40B4-BE49-F238E27FC236}">
                <a16:creationId xmlns:a16="http://schemas.microsoft.com/office/drawing/2014/main" id="{6D6E4BCF-267F-981F-EDFF-6E6633C27F06}"/>
              </a:ext>
            </a:extLst>
          </p:cNvPr>
          <p:cNvSpPr/>
          <p:nvPr/>
        </p:nvSpPr>
        <p:spPr>
          <a:xfrm>
            <a:off x="127714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0" name="Chevron 12">
            <a:extLst>
              <a:ext uri="{FF2B5EF4-FFF2-40B4-BE49-F238E27FC236}">
                <a16:creationId xmlns:a16="http://schemas.microsoft.com/office/drawing/2014/main" id="{EC978F15-CE92-BED7-7057-8873621D3985}"/>
              </a:ext>
            </a:extLst>
          </p:cNvPr>
          <p:cNvSpPr/>
          <p:nvPr/>
        </p:nvSpPr>
        <p:spPr>
          <a:xfrm>
            <a:off x="359706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1" name="Chevron 13">
            <a:extLst>
              <a:ext uri="{FF2B5EF4-FFF2-40B4-BE49-F238E27FC236}">
                <a16:creationId xmlns:a16="http://schemas.microsoft.com/office/drawing/2014/main" id="{326837EC-FB23-5C3F-80BE-2EB4C32996AB}"/>
              </a:ext>
            </a:extLst>
          </p:cNvPr>
          <p:cNvSpPr/>
          <p:nvPr/>
        </p:nvSpPr>
        <p:spPr>
          <a:xfrm>
            <a:off x="7076940"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2" name="Chevron 11">
            <a:extLst>
              <a:ext uri="{FF2B5EF4-FFF2-40B4-BE49-F238E27FC236}">
                <a16:creationId xmlns:a16="http://schemas.microsoft.com/office/drawing/2014/main" id="{F00C946B-3DA8-CABA-0BC5-3A47F04D04EB}"/>
              </a:ext>
            </a:extLst>
          </p:cNvPr>
          <p:cNvSpPr/>
          <p:nvPr/>
        </p:nvSpPr>
        <p:spPr>
          <a:xfrm>
            <a:off x="243710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3" name="Chevron 12">
            <a:extLst>
              <a:ext uri="{FF2B5EF4-FFF2-40B4-BE49-F238E27FC236}">
                <a16:creationId xmlns:a16="http://schemas.microsoft.com/office/drawing/2014/main" id="{4734BA7D-D5B4-15DE-E6B2-03A372158F7F}"/>
              </a:ext>
            </a:extLst>
          </p:cNvPr>
          <p:cNvSpPr/>
          <p:nvPr/>
        </p:nvSpPr>
        <p:spPr>
          <a:xfrm>
            <a:off x="591698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4" name="Chevron 11">
            <a:extLst>
              <a:ext uri="{FF2B5EF4-FFF2-40B4-BE49-F238E27FC236}">
                <a16:creationId xmlns:a16="http://schemas.microsoft.com/office/drawing/2014/main" id="{394E8B7C-CBBB-1A12-4306-5A441E1EEA9D}"/>
              </a:ext>
            </a:extLst>
          </p:cNvPr>
          <p:cNvSpPr/>
          <p:nvPr/>
        </p:nvSpPr>
        <p:spPr>
          <a:xfrm>
            <a:off x="475702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5" name="Chevron 13">
            <a:extLst>
              <a:ext uri="{FF2B5EF4-FFF2-40B4-BE49-F238E27FC236}">
                <a16:creationId xmlns:a16="http://schemas.microsoft.com/office/drawing/2014/main" id="{EB635053-C38A-55EE-802F-AC6DA46611CC}"/>
              </a:ext>
            </a:extLst>
          </p:cNvPr>
          <p:cNvSpPr/>
          <p:nvPr/>
        </p:nvSpPr>
        <p:spPr>
          <a:xfrm>
            <a:off x="8236902"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6" name="テキスト ボックス 355">
            <a:extLst>
              <a:ext uri="{FF2B5EF4-FFF2-40B4-BE49-F238E27FC236}">
                <a16:creationId xmlns:a16="http://schemas.microsoft.com/office/drawing/2014/main" id="{473AD700-DED1-D270-A19A-6794676F7FBF}"/>
              </a:ext>
            </a:extLst>
          </p:cNvPr>
          <p:cNvSpPr txBox="1"/>
          <p:nvPr/>
        </p:nvSpPr>
        <p:spPr>
          <a:xfrm>
            <a:off x="1594177"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57" name="テキスト ボックス 356">
            <a:extLst>
              <a:ext uri="{FF2B5EF4-FFF2-40B4-BE49-F238E27FC236}">
                <a16:creationId xmlns:a16="http://schemas.microsoft.com/office/drawing/2014/main" id="{8D0682B5-5691-0BAD-1DEA-C5B42E971AE4}"/>
              </a:ext>
            </a:extLst>
          </p:cNvPr>
          <p:cNvSpPr txBox="1"/>
          <p:nvPr/>
        </p:nvSpPr>
        <p:spPr>
          <a:xfrm>
            <a:off x="2765459"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58" name="テキスト ボックス 357">
            <a:extLst>
              <a:ext uri="{FF2B5EF4-FFF2-40B4-BE49-F238E27FC236}">
                <a16:creationId xmlns:a16="http://schemas.microsoft.com/office/drawing/2014/main" id="{58A1D426-1AFD-A9B8-69FC-8C2417EF20DC}"/>
              </a:ext>
            </a:extLst>
          </p:cNvPr>
          <p:cNvSpPr txBox="1"/>
          <p:nvPr/>
        </p:nvSpPr>
        <p:spPr>
          <a:xfrm>
            <a:off x="422895"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359" name="テキスト ボックス 358">
            <a:extLst>
              <a:ext uri="{FF2B5EF4-FFF2-40B4-BE49-F238E27FC236}">
                <a16:creationId xmlns:a16="http://schemas.microsoft.com/office/drawing/2014/main" id="{805EA854-7800-18C4-DB2F-0B1684AFD649}"/>
              </a:ext>
            </a:extLst>
          </p:cNvPr>
          <p:cNvSpPr txBox="1"/>
          <p:nvPr/>
        </p:nvSpPr>
        <p:spPr>
          <a:xfrm>
            <a:off x="7398333" y="2075045"/>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360" name="テキスト ボックス 359">
            <a:extLst>
              <a:ext uri="{FF2B5EF4-FFF2-40B4-BE49-F238E27FC236}">
                <a16:creationId xmlns:a16="http://schemas.microsoft.com/office/drawing/2014/main" id="{1DCB6D4B-003C-2B81-10F1-B8085D0EF871}"/>
              </a:ext>
            </a:extLst>
          </p:cNvPr>
          <p:cNvSpPr txBox="1"/>
          <p:nvPr/>
        </p:nvSpPr>
        <p:spPr>
          <a:xfrm>
            <a:off x="3936741"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361" name="テキスト ボックス 360">
            <a:extLst>
              <a:ext uri="{FF2B5EF4-FFF2-40B4-BE49-F238E27FC236}">
                <a16:creationId xmlns:a16="http://schemas.microsoft.com/office/drawing/2014/main" id="{5694FDD1-6764-7963-230E-B55B3C5E6AE8}"/>
              </a:ext>
            </a:extLst>
          </p:cNvPr>
          <p:cNvSpPr txBox="1"/>
          <p:nvPr/>
        </p:nvSpPr>
        <p:spPr>
          <a:xfrm>
            <a:off x="5108023" y="1990407"/>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362" name="テキスト ボックス 361">
            <a:extLst>
              <a:ext uri="{FF2B5EF4-FFF2-40B4-BE49-F238E27FC236}">
                <a16:creationId xmlns:a16="http://schemas.microsoft.com/office/drawing/2014/main" id="{4FFDA1D0-E62A-A391-F7C2-2B8A8B4FAC30}"/>
              </a:ext>
            </a:extLst>
          </p:cNvPr>
          <p:cNvSpPr txBox="1"/>
          <p:nvPr/>
        </p:nvSpPr>
        <p:spPr>
          <a:xfrm>
            <a:off x="6279305" y="199040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363" name="テキスト ボックス 362">
            <a:extLst>
              <a:ext uri="{FF2B5EF4-FFF2-40B4-BE49-F238E27FC236}">
                <a16:creationId xmlns:a16="http://schemas.microsoft.com/office/drawing/2014/main" id="{950238DC-BC8D-67A5-9664-2467CA1CCC24}"/>
              </a:ext>
            </a:extLst>
          </p:cNvPr>
          <p:cNvSpPr txBox="1"/>
          <p:nvPr/>
        </p:nvSpPr>
        <p:spPr>
          <a:xfrm>
            <a:off x="8565884" y="1990407"/>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92" name="正方形/長方形 391">
            <a:extLst>
              <a:ext uri="{FF2B5EF4-FFF2-40B4-BE49-F238E27FC236}">
                <a16:creationId xmlns:a16="http://schemas.microsoft.com/office/drawing/2014/main" id="{F2695BAE-49A0-C99D-85EB-9666DE14C4B0}"/>
              </a:ext>
            </a:extLst>
          </p:cNvPr>
          <p:cNvSpPr/>
          <p:nvPr/>
        </p:nvSpPr>
        <p:spPr>
          <a:xfrm>
            <a:off x="134519" y="2643132"/>
            <a:ext cx="9687414"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99" name="正方形/長方形 398">
            <a:extLst>
              <a:ext uri="{FF2B5EF4-FFF2-40B4-BE49-F238E27FC236}">
                <a16:creationId xmlns:a16="http://schemas.microsoft.com/office/drawing/2014/main" id="{0D7E2DB9-3642-9C9A-E851-E5DD52315F1D}"/>
              </a:ext>
            </a:extLst>
          </p:cNvPr>
          <p:cNvSpPr/>
          <p:nvPr/>
        </p:nvSpPr>
        <p:spPr>
          <a:xfrm>
            <a:off x="2646720" y="4590888"/>
            <a:ext cx="7175212"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cxnSp>
        <p:nvCxnSpPr>
          <p:cNvPr id="428" name="直線矢印コネクタ 427">
            <a:extLst>
              <a:ext uri="{FF2B5EF4-FFF2-40B4-BE49-F238E27FC236}">
                <a16:creationId xmlns:a16="http://schemas.microsoft.com/office/drawing/2014/main" id="{4DD36FC2-6468-F5B5-EFB8-BBFB2CF7F452}"/>
              </a:ext>
            </a:extLst>
          </p:cNvPr>
          <p:cNvCxnSpPr>
            <a:cxnSpLocks/>
          </p:cNvCxnSpPr>
          <p:nvPr/>
        </p:nvCxnSpPr>
        <p:spPr>
          <a:xfrm>
            <a:off x="3366878" y="37501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9" name="テキスト ボックス 428">
            <a:extLst>
              <a:ext uri="{FF2B5EF4-FFF2-40B4-BE49-F238E27FC236}">
                <a16:creationId xmlns:a16="http://schemas.microsoft.com/office/drawing/2014/main" id="{52205788-B1CC-5FF9-ED78-B6DD32267E17}"/>
              </a:ext>
            </a:extLst>
          </p:cNvPr>
          <p:cNvSpPr txBox="1"/>
          <p:nvPr/>
        </p:nvSpPr>
        <p:spPr>
          <a:xfrm>
            <a:off x="3735917" y="36163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0" name="直線矢印コネクタ 429">
            <a:extLst>
              <a:ext uri="{FF2B5EF4-FFF2-40B4-BE49-F238E27FC236}">
                <a16:creationId xmlns:a16="http://schemas.microsoft.com/office/drawing/2014/main" id="{923E43E2-8157-8C38-4A7C-C186793E6650}"/>
              </a:ext>
            </a:extLst>
          </p:cNvPr>
          <p:cNvCxnSpPr>
            <a:cxnSpLocks/>
          </p:cNvCxnSpPr>
          <p:nvPr/>
        </p:nvCxnSpPr>
        <p:spPr>
          <a:xfrm>
            <a:off x="3366878" y="400340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1" name="テキスト ボックス 430">
            <a:extLst>
              <a:ext uri="{FF2B5EF4-FFF2-40B4-BE49-F238E27FC236}">
                <a16:creationId xmlns:a16="http://schemas.microsoft.com/office/drawing/2014/main" id="{9B46B511-7630-9D21-552D-BAD1DCEC8387}"/>
              </a:ext>
            </a:extLst>
          </p:cNvPr>
          <p:cNvSpPr txBox="1"/>
          <p:nvPr/>
        </p:nvSpPr>
        <p:spPr>
          <a:xfrm>
            <a:off x="3735917" y="3869624"/>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32" name="直線矢印コネクタ 431">
            <a:extLst>
              <a:ext uri="{FF2B5EF4-FFF2-40B4-BE49-F238E27FC236}">
                <a16:creationId xmlns:a16="http://schemas.microsoft.com/office/drawing/2014/main" id="{64D8562C-014D-DFB4-2D01-7479448659D1}"/>
              </a:ext>
            </a:extLst>
          </p:cNvPr>
          <p:cNvCxnSpPr>
            <a:cxnSpLocks/>
          </p:cNvCxnSpPr>
          <p:nvPr/>
        </p:nvCxnSpPr>
        <p:spPr>
          <a:xfrm>
            <a:off x="1275980" y="3570877"/>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3" name="テキスト ボックス 432">
            <a:extLst>
              <a:ext uri="{FF2B5EF4-FFF2-40B4-BE49-F238E27FC236}">
                <a16:creationId xmlns:a16="http://schemas.microsoft.com/office/drawing/2014/main" id="{540E1D19-5457-9319-2789-430F63EC5A42}"/>
              </a:ext>
            </a:extLst>
          </p:cNvPr>
          <p:cNvSpPr txBox="1"/>
          <p:nvPr/>
        </p:nvSpPr>
        <p:spPr>
          <a:xfrm>
            <a:off x="1645019" y="3437093"/>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4" name="直線矢印コネクタ 433">
            <a:extLst>
              <a:ext uri="{FF2B5EF4-FFF2-40B4-BE49-F238E27FC236}">
                <a16:creationId xmlns:a16="http://schemas.microsoft.com/office/drawing/2014/main" id="{490155E9-25FB-3090-382A-CA0B7F87F965}"/>
              </a:ext>
            </a:extLst>
          </p:cNvPr>
          <p:cNvCxnSpPr>
            <a:cxnSpLocks/>
          </p:cNvCxnSpPr>
          <p:nvPr/>
        </p:nvCxnSpPr>
        <p:spPr>
          <a:xfrm>
            <a:off x="1275980" y="380202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5" name="テキスト ボックス 434">
            <a:extLst>
              <a:ext uri="{FF2B5EF4-FFF2-40B4-BE49-F238E27FC236}">
                <a16:creationId xmlns:a16="http://schemas.microsoft.com/office/drawing/2014/main" id="{08D35021-E114-E4DF-FF22-BF7BE0CDF4D8}"/>
              </a:ext>
            </a:extLst>
          </p:cNvPr>
          <p:cNvSpPr txBox="1"/>
          <p:nvPr/>
        </p:nvSpPr>
        <p:spPr>
          <a:xfrm>
            <a:off x="1645019" y="3668238"/>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サイト動線の整備</a:t>
            </a:r>
          </a:p>
        </p:txBody>
      </p:sp>
      <p:cxnSp>
        <p:nvCxnSpPr>
          <p:cNvPr id="436" name="直線矢印コネクタ 435">
            <a:extLst>
              <a:ext uri="{FF2B5EF4-FFF2-40B4-BE49-F238E27FC236}">
                <a16:creationId xmlns:a16="http://schemas.microsoft.com/office/drawing/2014/main" id="{6840C346-E790-A413-26C5-79129D6F5FB7}"/>
              </a:ext>
            </a:extLst>
          </p:cNvPr>
          <p:cNvCxnSpPr>
            <a:cxnSpLocks/>
          </p:cNvCxnSpPr>
          <p:nvPr/>
        </p:nvCxnSpPr>
        <p:spPr>
          <a:xfrm>
            <a:off x="3825040" y="34398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7" name="テキスト ボックス 436">
            <a:extLst>
              <a:ext uri="{FF2B5EF4-FFF2-40B4-BE49-F238E27FC236}">
                <a16:creationId xmlns:a16="http://schemas.microsoft.com/office/drawing/2014/main" id="{715CC99E-9A08-159E-0120-31020FC33D0F}"/>
              </a:ext>
            </a:extLst>
          </p:cNvPr>
          <p:cNvSpPr txBox="1"/>
          <p:nvPr/>
        </p:nvSpPr>
        <p:spPr>
          <a:xfrm>
            <a:off x="4194079" y="330607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900" b="1" dirty="0">
              <a:latin typeface="メイリオ" panose="020B0604030504040204" pitchFamily="50" charset="-128"/>
              <a:ea typeface="メイリオ" panose="020B0604030504040204" pitchFamily="50" charset="-128"/>
              <a:cs typeface="Meiryo"/>
              <a:sym typeface="Meiryo"/>
            </a:endParaRPr>
          </a:p>
        </p:txBody>
      </p:sp>
      <p:cxnSp>
        <p:nvCxnSpPr>
          <p:cNvPr id="438" name="直線矢印コネクタ 437">
            <a:extLst>
              <a:ext uri="{FF2B5EF4-FFF2-40B4-BE49-F238E27FC236}">
                <a16:creationId xmlns:a16="http://schemas.microsoft.com/office/drawing/2014/main" id="{C26FDFF8-ECDB-0D20-5A53-4F74EF6D93F8}"/>
              </a:ext>
            </a:extLst>
          </p:cNvPr>
          <p:cNvCxnSpPr>
            <a:cxnSpLocks/>
          </p:cNvCxnSpPr>
          <p:nvPr/>
        </p:nvCxnSpPr>
        <p:spPr>
          <a:xfrm>
            <a:off x="5418772" y="374623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9" name="テキスト ボックス 438">
            <a:extLst>
              <a:ext uri="{FF2B5EF4-FFF2-40B4-BE49-F238E27FC236}">
                <a16:creationId xmlns:a16="http://schemas.microsoft.com/office/drawing/2014/main" id="{03517788-8A00-3CE9-B8A0-DC9904CB9E29}"/>
              </a:ext>
            </a:extLst>
          </p:cNvPr>
          <p:cNvSpPr txBox="1"/>
          <p:nvPr/>
        </p:nvSpPr>
        <p:spPr>
          <a:xfrm>
            <a:off x="5787811" y="361245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40" name="直線矢印コネクタ 439">
            <a:extLst>
              <a:ext uri="{FF2B5EF4-FFF2-40B4-BE49-F238E27FC236}">
                <a16:creationId xmlns:a16="http://schemas.microsoft.com/office/drawing/2014/main" id="{8A08B47D-236B-D58F-E880-0E520352BC81}"/>
              </a:ext>
            </a:extLst>
          </p:cNvPr>
          <p:cNvCxnSpPr>
            <a:cxnSpLocks/>
          </p:cNvCxnSpPr>
          <p:nvPr/>
        </p:nvCxnSpPr>
        <p:spPr>
          <a:xfrm>
            <a:off x="5418772" y="40090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1" name="テキスト ボックス 440">
            <a:extLst>
              <a:ext uri="{FF2B5EF4-FFF2-40B4-BE49-F238E27FC236}">
                <a16:creationId xmlns:a16="http://schemas.microsoft.com/office/drawing/2014/main" id="{8376E216-AB77-BC34-74BE-9C14746155C3}"/>
              </a:ext>
            </a:extLst>
          </p:cNvPr>
          <p:cNvSpPr txBox="1"/>
          <p:nvPr/>
        </p:nvSpPr>
        <p:spPr>
          <a:xfrm>
            <a:off x="5787811" y="38752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42" name="直線矢印コネクタ 441">
            <a:extLst>
              <a:ext uri="{FF2B5EF4-FFF2-40B4-BE49-F238E27FC236}">
                <a16:creationId xmlns:a16="http://schemas.microsoft.com/office/drawing/2014/main" id="{D6F7AD1E-A403-6C2E-4207-BA25C2D7BCC6}"/>
              </a:ext>
            </a:extLst>
          </p:cNvPr>
          <p:cNvCxnSpPr>
            <a:cxnSpLocks/>
          </p:cNvCxnSpPr>
          <p:nvPr/>
        </p:nvCxnSpPr>
        <p:spPr>
          <a:xfrm>
            <a:off x="675354" y="4048370"/>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3" name="テキスト ボックス 442">
            <a:extLst>
              <a:ext uri="{FF2B5EF4-FFF2-40B4-BE49-F238E27FC236}">
                <a16:creationId xmlns:a16="http://schemas.microsoft.com/office/drawing/2014/main" id="{7D798DBD-5393-6131-8034-EC789105D05B}"/>
              </a:ext>
            </a:extLst>
          </p:cNvPr>
          <p:cNvSpPr txBox="1"/>
          <p:nvPr/>
        </p:nvSpPr>
        <p:spPr>
          <a:xfrm>
            <a:off x="908229" y="3944309"/>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444" name="直線矢印コネクタ 443">
            <a:extLst>
              <a:ext uri="{FF2B5EF4-FFF2-40B4-BE49-F238E27FC236}">
                <a16:creationId xmlns:a16="http://schemas.microsoft.com/office/drawing/2014/main" id="{527AED14-C910-4D3E-987F-EA62ABD18D90}"/>
              </a:ext>
            </a:extLst>
          </p:cNvPr>
          <p:cNvCxnSpPr>
            <a:cxnSpLocks/>
          </p:cNvCxnSpPr>
          <p:nvPr/>
        </p:nvCxnSpPr>
        <p:spPr>
          <a:xfrm>
            <a:off x="672248" y="431511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5" name="テキスト ボックス 444">
            <a:extLst>
              <a:ext uri="{FF2B5EF4-FFF2-40B4-BE49-F238E27FC236}">
                <a16:creationId xmlns:a16="http://schemas.microsoft.com/office/drawing/2014/main" id="{9644DD32-D05B-DE83-7791-37895274BDE9}"/>
              </a:ext>
            </a:extLst>
          </p:cNvPr>
          <p:cNvSpPr txBox="1"/>
          <p:nvPr/>
        </p:nvSpPr>
        <p:spPr>
          <a:xfrm>
            <a:off x="894117" y="4203750"/>
            <a:ext cx="1117086" cy="231238"/>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446" name="直線矢印コネクタ 445">
            <a:extLst>
              <a:ext uri="{FF2B5EF4-FFF2-40B4-BE49-F238E27FC236}">
                <a16:creationId xmlns:a16="http://schemas.microsoft.com/office/drawing/2014/main" id="{D3D532EE-6712-DE63-E452-E8BEAA167260}"/>
              </a:ext>
            </a:extLst>
          </p:cNvPr>
          <p:cNvCxnSpPr>
            <a:cxnSpLocks/>
          </p:cNvCxnSpPr>
          <p:nvPr/>
        </p:nvCxnSpPr>
        <p:spPr>
          <a:xfrm>
            <a:off x="7458966" y="3862297"/>
            <a:ext cx="2184020"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7" name="テキスト ボックス 446">
            <a:extLst>
              <a:ext uri="{FF2B5EF4-FFF2-40B4-BE49-F238E27FC236}">
                <a16:creationId xmlns:a16="http://schemas.microsoft.com/office/drawing/2014/main" id="{DCDD6E46-B8C3-8536-41F9-F39EB73CBD24}"/>
              </a:ext>
            </a:extLst>
          </p:cNvPr>
          <p:cNvSpPr txBox="1"/>
          <p:nvPr/>
        </p:nvSpPr>
        <p:spPr>
          <a:xfrm>
            <a:off x="8013302" y="3728513"/>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900" b="1" dirty="0">
              <a:solidFill>
                <a:schemeClr val="tx1">
                  <a:lumMod val="50000"/>
                  <a:lumOff val="50000"/>
                </a:schemeClr>
              </a:solidFill>
            </a:endParaRPr>
          </a:p>
        </p:txBody>
      </p:sp>
      <p:cxnSp>
        <p:nvCxnSpPr>
          <p:cNvPr id="448" name="直線矢印コネクタ 447">
            <a:extLst>
              <a:ext uri="{FF2B5EF4-FFF2-40B4-BE49-F238E27FC236}">
                <a16:creationId xmlns:a16="http://schemas.microsoft.com/office/drawing/2014/main" id="{B94F8848-87A6-4A24-C2DE-D4A5BD2787D7}"/>
              </a:ext>
            </a:extLst>
          </p:cNvPr>
          <p:cNvCxnSpPr>
            <a:cxnSpLocks/>
          </p:cNvCxnSpPr>
          <p:nvPr/>
        </p:nvCxnSpPr>
        <p:spPr>
          <a:xfrm>
            <a:off x="313007" y="3382504"/>
            <a:ext cx="124270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9" name="テキスト ボックス 448">
            <a:extLst>
              <a:ext uri="{FF2B5EF4-FFF2-40B4-BE49-F238E27FC236}">
                <a16:creationId xmlns:a16="http://schemas.microsoft.com/office/drawing/2014/main" id="{88C02960-866B-6E8C-A752-2889BC37BC11}"/>
              </a:ext>
            </a:extLst>
          </p:cNvPr>
          <p:cNvSpPr txBox="1"/>
          <p:nvPr/>
        </p:nvSpPr>
        <p:spPr>
          <a:xfrm>
            <a:off x="588964" y="3278443"/>
            <a:ext cx="747951"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CPF</a:t>
            </a:r>
            <a:r>
              <a:rPr lang="ja-JP" altLang="en-US" sz="900" b="1" dirty="0">
                <a:latin typeface="メイリオ" panose="020B0604030504040204" pitchFamily="50" charset="-128"/>
                <a:ea typeface="メイリオ" panose="020B0604030504040204" pitchFamily="50" charset="-128"/>
                <a:cs typeface="Meiryo"/>
                <a:sym typeface="Meiryo"/>
              </a:rPr>
              <a:t>広告</a:t>
            </a:r>
            <a:endParaRPr lang="ja-JP" altLang="en-US" sz="900" b="1" dirty="0"/>
          </a:p>
        </p:txBody>
      </p:sp>
      <p:cxnSp>
        <p:nvCxnSpPr>
          <p:cNvPr id="450" name="直線矢印コネクタ 449">
            <a:extLst>
              <a:ext uri="{FF2B5EF4-FFF2-40B4-BE49-F238E27FC236}">
                <a16:creationId xmlns:a16="http://schemas.microsoft.com/office/drawing/2014/main" id="{3F2ACC73-0643-27D8-F1B3-1B871FCEF141}"/>
              </a:ext>
            </a:extLst>
          </p:cNvPr>
          <p:cNvCxnSpPr>
            <a:cxnSpLocks/>
          </p:cNvCxnSpPr>
          <p:nvPr/>
        </p:nvCxnSpPr>
        <p:spPr>
          <a:xfrm>
            <a:off x="258586" y="2898668"/>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1" name="直線矢印コネクタ 450">
            <a:extLst>
              <a:ext uri="{FF2B5EF4-FFF2-40B4-BE49-F238E27FC236}">
                <a16:creationId xmlns:a16="http://schemas.microsoft.com/office/drawing/2014/main" id="{C2DCC080-98CE-945F-96A2-C42DE7E0C936}"/>
              </a:ext>
            </a:extLst>
          </p:cNvPr>
          <p:cNvCxnSpPr>
            <a:cxnSpLocks/>
          </p:cNvCxnSpPr>
          <p:nvPr/>
        </p:nvCxnSpPr>
        <p:spPr>
          <a:xfrm>
            <a:off x="3534258" y="2887662"/>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2" name="テキスト ボックス 451">
            <a:extLst>
              <a:ext uri="{FF2B5EF4-FFF2-40B4-BE49-F238E27FC236}">
                <a16:creationId xmlns:a16="http://schemas.microsoft.com/office/drawing/2014/main" id="{46C960EE-3214-11A7-C2A3-07025A9849E3}"/>
              </a:ext>
            </a:extLst>
          </p:cNvPr>
          <p:cNvSpPr txBox="1"/>
          <p:nvPr/>
        </p:nvSpPr>
        <p:spPr>
          <a:xfrm>
            <a:off x="1262357" y="2775091"/>
            <a:ext cx="1319856" cy="230832"/>
          </a:xfrm>
          <a:prstGeom prst="rect">
            <a:avLst/>
          </a:prstGeom>
          <a:solidFill>
            <a:schemeClr val="bg1"/>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WEB</a:t>
            </a:r>
            <a:r>
              <a:rPr lang="ja-JP" altLang="en-US" sz="900" b="1" dirty="0">
                <a:latin typeface="メイリオ" panose="020B0604030504040204" pitchFamily="50" charset="-128"/>
                <a:ea typeface="メイリオ" panose="020B0604030504040204" pitchFamily="50" charset="-128"/>
                <a:cs typeface="Meiryo"/>
                <a:sym typeface="Meiryo"/>
              </a:rPr>
              <a:t>→</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3" name="テキスト ボックス 452">
            <a:extLst>
              <a:ext uri="{FF2B5EF4-FFF2-40B4-BE49-F238E27FC236}">
                <a16:creationId xmlns:a16="http://schemas.microsoft.com/office/drawing/2014/main" id="{6035DF7C-B4BD-5EC8-7209-4196763C930C}"/>
              </a:ext>
            </a:extLst>
          </p:cNvPr>
          <p:cNvSpPr txBox="1"/>
          <p:nvPr/>
        </p:nvSpPr>
        <p:spPr>
          <a:xfrm>
            <a:off x="3961298" y="2771249"/>
            <a:ext cx="1597026" cy="230832"/>
          </a:xfrm>
          <a:prstGeom prst="rect">
            <a:avLst/>
          </a:prstGeom>
          <a:solidFill>
            <a:schemeClr val="bg1"/>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オフライン→</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4" name="正方形/長方形 453">
            <a:extLst>
              <a:ext uri="{FF2B5EF4-FFF2-40B4-BE49-F238E27FC236}">
                <a16:creationId xmlns:a16="http://schemas.microsoft.com/office/drawing/2014/main" id="{E33317FD-3364-4CC0-4FE2-E3D336A50C78}"/>
              </a:ext>
            </a:extLst>
          </p:cNvPr>
          <p:cNvSpPr/>
          <p:nvPr/>
        </p:nvSpPr>
        <p:spPr>
          <a:xfrm>
            <a:off x="240222" y="3031675"/>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WEB</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LINE</a:t>
            </a:r>
            <a:r>
              <a:rPr kumimoji="1" lang="ja-JP" altLang="en-US" sz="1000" dirty="0">
                <a:solidFill>
                  <a:srgbClr val="FFFFFF"/>
                </a:solidFill>
                <a:latin typeface="メイリオ" panose="020B0604030504040204" pitchFamily="50" charset="-128"/>
                <a:ea typeface="メイリオ" panose="020B0604030504040204" pitchFamily="50" charset="-128"/>
              </a:rPr>
              <a:t>）</a:t>
            </a:r>
          </a:p>
        </p:txBody>
      </p:sp>
      <p:cxnSp>
        <p:nvCxnSpPr>
          <p:cNvPr id="455" name="直線矢印コネクタ 454">
            <a:extLst>
              <a:ext uri="{FF2B5EF4-FFF2-40B4-BE49-F238E27FC236}">
                <a16:creationId xmlns:a16="http://schemas.microsoft.com/office/drawing/2014/main" id="{69C05BA8-18F6-F344-3C54-A5E03AFE2368}"/>
              </a:ext>
            </a:extLst>
          </p:cNvPr>
          <p:cNvCxnSpPr>
            <a:cxnSpLocks/>
          </p:cNvCxnSpPr>
          <p:nvPr/>
        </p:nvCxnSpPr>
        <p:spPr>
          <a:xfrm>
            <a:off x="2892769" y="4798575"/>
            <a:ext cx="6752172"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6" name="テキスト ボックス 455">
            <a:extLst>
              <a:ext uri="{FF2B5EF4-FFF2-40B4-BE49-F238E27FC236}">
                <a16:creationId xmlns:a16="http://schemas.microsoft.com/office/drawing/2014/main" id="{5B6D9466-EC9E-4057-AB18-8974D147F3E8}"/>
              </a:ext>
            </a:extLst>
          </p:cNvPr>
          <p:cNvSpPr txBox="1"/>
          <p:nvPr/>
        </p:nvSpPr>
        <p:spPr>
          <a:xfrm>
            <a:off x="5430583" y="4657308"/>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457" name="直線矢印コネクタ 456">
            <a:extLst>
              <a:ext uri="{FF2B5EF4-FFF2-40B4-BE49-F238E27FC236}">
                <a16:creationId xmlns:a16="http://schemas.microsoft.com/office/drawing/2014/main" id="{B9C84515-E6C9-A256-421E-9C3EFEBBFF17}"/>
              </a:ext>
            </a:extLst>
          </p:cNvPr>
          <p:cNvCxnSpPr>
            <a:cxnSpLocks/>
          </p:cNvCxnSpPr>
          <p:nvPr/>
        </p:nvCxnSpPr>
        <p:spPr>
          <a:xfrm>
            <a:off x="7622020" y="536575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8" name="テキスト ボックス 457">
            <a:extLst>
              <a:ext uri="{FF2B5EF4-FFF2-40B4-BE49-F238E27FC236}">
                <a16:creationId xmlns:a16="http://schemas.microsoft.com/office/drawing/2014/main" id="{7E002B77-EFC0-55F3-D3E6-100837F9B195}"/>
              </a:ext>
            </a:extLst>
          </p:cNvPr>
          <p:cNvSpPr txBox="1"/>
          <p:nvPr/>
        </p:nvSpPr>
        <p:spPr>
          <a:xfrm>
            <a:off x="8102883" y="5231969"/>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900" b="1" dirty="0">
              <a:solidFill>
                <a:schemeClr val="tx1">
                  <a:lumMod val="50000"/>
                  <a:lumOff val="50000"/>
                </a:schemeClr>
              </a:solidFill>
            </a:endParaRPr>
          </a:p>
        </p:txBody>
      </p:sp>
      <p:cxnSp>
        <p:nvCxnSpPr>
          <p:cNvPr id="459" name="直線矢印コネクタ 458">
            <a:extLst>
              <a:ext uri="{FF2B5EF4-FFF2-40B4-BE49-F238E27FC236}">
                <a16:creationId xmlns:a16="http://schemas.microsoft.com/office/drawing/2014/main" id="{03BD82C1-8BEC-3E49-C1DA-A1C214DB1C8C}"/>
              </a:ext>
            </a:extLst>
          </p:cNvPr>
          <p:cNvCxnSpPr>
            <a:cxnSpLocks/>
          </p:cNvCxnSpPr>
          <p:nvPr/>
        </p:nvCxnSpPr>
        <p:spPr>
          <a:xfrm>
            <a:off x="4443737" y="536428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0" name="テキスト ボックス 459">
            <a:extLst>
              <a:ext uri="{FF2B5EF4-FFF2-40B4-BE49-F238E27FC236}">
                <a16:creationId xmlns:a16="http://schemas.microsoft.com/office/drawing/2014/main" id="{919F797F-1B6A-876C-B468-E147B3D97E8A}"/>
              </a:ext>
            </a:extLst>
          </p:cNvPr>
          <p:cNvSpPr txBox="1"/>
          <p:nvPr/>
        </p:nvSpPr>
        <p:spPr>
          <a:xfrm>
            <a:off x="5470240" y="5239208"/>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ステップ配信</a:t>
            </a:r>
            <a:endParaRPr lang="ja-JP" altLang="en-US" sz="900" b="1" dirty="0"/>
          </a:p>
        </p:txBody>
      </p:sp>
      <p:cxnSp>
        <p:nvCxnSpPr>
          <p:cNvPr id="461" name="直線矢印コネクタ 460">
            <a:extLst>
              <a:ext uri="{FF2B5EF4-FFF2-40B4-BE49-F238E27FC236}">
                <a16:creationId xmlns:a16="http://schemas.microsoft.com/office/drawing/2014/main" id="{C96E67E6-B364-7DED-CDB8-DDCEEFB96AD2}"/>
              </a:ext>
            </a:extLst>
          </p:cNvPr>
          <p:cNvCxnSpPr>
            <a:cxnSpLocks/>
          </p:cNvCxnSpPr>
          <p:nvPr/>
        </p:nvCxnSpPr>
        <p:spPr>
          <a:xfrm>
            <a:off x="4443578" y="563739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2" name="テキスト ボックス 461">
            <a:extLst>
              <a:ext uri="{FF2B5EF4-FFF2-40B4-BE49-F238E27FC236}">
                <a16:creationId xmlns:a16="http://schemas.microsoft.com/office/drawing/2014/main" id="{335DB4AB-DEFA-E356-751F-7106100F929E}"/>
              </a:ext>
            </a:extLst>
          </p:cNvPr>
          <p:cNvSpPr txBox="1"/>
          <p:nvPr/>
        </p:nvSpPr>
        <p:spPr>
          <a:xfrm>
            <a:off x="5470081" y="5512324"/>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企画配信</a:t>
            </a:r>
            <a:endParaRPr lang="ja-JP" altLang="en-US" sz="900" b="1" dirty="0"/>
          </a:p>
        </p:txBody>
      </p:sp>
      <p:cxnSp>
        <p:nvCxnSpPr>
          <p:cNvPr id="463" name="直線矢印コネクタ 462">
            <a:extLst>
              <a:ext uri="{FF2B5EF4-FFF2-40B4-BE49-F238E27FC236}">
                <a16:creationId xmlns:a16="http://schemas.microsoft.com/office/drawing/2014/main" id="{7884810E-3E89-4CCB-C00C-B386A34717E4}"/>
              </a:ext>
            </a:extLst>
          </p:cNvPr>
          <p:cNvCxnSpPr>
            <a:cxnSpLocks/>
          </p:cNvCxnSpPr>
          <p:nvPr/>
        </p:nvCxnSpPr>
        <p:spPr>
          <a:xfrm>
            <a:off x="3989118" y="585218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4" name="テキスト ボックス 463">
            <a:extLst>
              <a:ext uri="{FF2B5EF4-FFF2-40B4-BE49-F238E27FC236}">
                <a16:creationId xmlns:a16="http://schemas.microsoft.com/office/drawing/2014/main" id="{6FD45AC0-2372-776F-6D16-846C0FB7AC64}"/>
              </a:ext>
            </a:extLst>
          </p:cNvPr>
          <p:cNvSpPr txBox="1"/>
          <p:nvPr/>
        </p:nvSpPr>
        <p:spPr>
          <a:xfrm>
            <a:off x="4304358" y="5753281"/>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アンケート回収</a:t>
            </a:r>
            <a:endParaRPr lang="ja-JP" altLang="en-US" sz="900" b="1" dirty="0"/>
          </a:p>
        </p:txBody>
      </p:sp>
      <p:cxnSp>
        <p:nvCxnSpPr>
          <p:cNvPr id="465" name="直線矢印コネクタ 464">
            <a:extLst>
              <a:ext uri="{FF2B5EF4-FFF2-40B4-BE49-F238E27FC236}">
                <a16:creationId xmlns:a16="http://schemas.microsoft.com/office/drawing/2014/main" id="{5BF3558A-EBED-81EE-B158-28A7CA5D6693}"/>
              </a:ext>
            </a:extLst>
          </p:cNvPr>
          <p:cNvCxnSpPr>
            <a:cxnSpLocks/>
          </p:cNvCxnSpPr>
          <p:nvPr/>
        </p:nvCxnSpPr>
        <p:spPr>
          <a:xfrm>
            <a:off x="3986817" y="6094511"/>
            <a:ext cx="2027163"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6" name="テキスト ボックス 465">
            <a:extLst>
              <a:ext uri="{FF2B5EF4-FFF2-40B4-BE49-F238E27FC236}">
                <a16:creationId xmlns:a16="http://schemas.microsoft.com/office/drawing/2014/main" id="{001266CB-AC56-8914-0ACE-8B554DB19B76}"/>
              </a:ext>
            </a:extLst>
          </p:cNvPr>
          <p:cNvSpPr txBox="1"/>
          <p:nvPr/>
        </p:nvSpPr>
        <p:spPr>
          <a:xfrm>
            <a:off x="4319604" y="5997197"/>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スコアリング等</a:t>
            </a:r>
            <a:endParaRPr lang="ja-JP" altLang="en-US" sz="900" b="1" dirty="0"/>
          </a:p>
        </p:txBody>
      </p:sp>
      <p:cxnSp>
        <p:nvCxnSpPr>
          <p:cNvPr id="467" name="直線矢印コネクタ 466">
            <a:extLst>
              <a:ext uri="{FF2B5EF4-FFF2-40B4-BE49-F238E27FC236}">
                <a16:creationId xmlns:a16="http://schemas.microsoft.com/office/drawing/2014/main" id="{1B403718-ABF2-11BC-1A05-A9E208B7C0F7}"/>
              </a:ext>
            </a:extLst>
          </p:cNvPr>
          <p:cNvCxnSpPr>
            <a:cxnSpLocks/>
          </p:cNvCxnSpPr>
          <p:nvPr/>
        </p:nvCxnSpPr>
        <p:spPr>
          <a:xfrm>
            <a:off x="7042649" y="585610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8" name="直線矢印コネクタ 467">
            <a:extLst>
              <a:ext uri="{FF2B5EF4-FFF2-40B4-BE49-F238E27FC236}">
                <a16:creationId xmlns:a16="http://schemas.microsoft.com/office/drawing/2014/main" id="{B31EBA12-BB45-627B-A1FD-F44E077537B1}"/>
              </a:ext>
            </a:extLst>
          </p:cNvPr>
          <p:cNvCxnSpPr>
            <a:cxnSpLocks/>
          </p:cNvCxnSpPr>
          <p:nvPr/>
        </p:nvCxnSpPr>
        <p:spPr>
          <a:xfrm>
            <a:off x="6911926" y="611361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9" name="テキスト ボックス 468">
            <a:extLst>
              <a:ext uri="{FF2B5EF4-FFF2-40B4-BE49-F238E27FC236}">
                <a16:creationId xmlns:a16="http://schemas.microsoft.com/office/drawing/2014/main" id="{B0C05E5D-44B4-DA5D-7C04-0BDC8A4602CE}"/>
              </a:ext>
            </a:extLst>
          </p:cNvPr>
          <p:cNvSpPr txBox="1"/>
          <p:nvPr/>
        </p:nvSpPr>
        <p:spPr>
          <a:xfrm>
            <a:off x="7260372" y="6007902"/>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900" b="1" dirty="0">
              <a:solidFill>
                <a:schemeClr val="tx1">
                  <a:lumMod val="50000"/>
                  <a:lumOff val="50000"/>
                </a:schemeClr>
              </a:solidFill>
            </a:endParaRPr>
          </a:p>
        </p:txBody>
      </p:sp>
      <p:pic>
        <p:nvPicPr>
          <p:cNvPr id="470" name="図 469">
            <a:extLst>
              <a:ext uri="{FF2B5EF4-FFF2-40B4-BE49-F238E27FC236}">
                <a16:creationId xmlns:a16="http://schemas.microsoft.com/office/drawing/2014/main" id="{2F4B65BB-B8AA-5045-2074-C574F9423E61}"/>
              </a:ext>
            </a:extLst>
          </p:cNvPr>
          <p:cNvPicPr>
            <a:picLocks noChangeAspect="1"/>
          </p:cNvPicPr>
          <p:nvPr/>
        </p:nvPicPr>
        <p:blipFill>
          <a:blip r:embed="rId3" cstate="print">
            <a:extLst>
              <a:ext uri="{28A0092B-C50C-407E-A947-70E740481C1C}">
                <a14:useLocalDpi xmlns:a14="http://schemas.microsoft.com/office/drawing/2010/main" val="0"/>
              </a:ext>
            </a:extLst>
          </a:blip>
          <a:srcRect t="4981" b="4075"/>
          <a:stretch>
            <a:fillRect/>
          </a:stretch>
        </p:blipFill>
        <p:spPr>
          <a:xfrm>
            <a:off x="2929897" y="4918748"/>
            <a:ext cx="703970" cy="1385346"/>
          </a:xfrm>
          <a:prstGeom prst="rect">
            <a:avLst/>
          </a:prstGeom>
        </p:spPr>
      </p:pic>
      <p:sp>
        <p:nvSpPr>
          <p:cNvPr id="471" name="正方形/長方形 470">
            <a:extLst>
              <a:ext uri="{FF2B5EF4-FFF2-40B4-BE49-F238E27FC236}">
                <a16:creationId xmlns:a16="http://schemas.microsoft.com/office/drawing/2014/main" id="{D22C9FBF-7B93-079A-E87E-A4C967CD0194}"/>
              </a:ext>
            </a:extLst>
          </p:cNvPr>
          <p:cNvSpPr/>
          <p:nvPr/>
        </p:nvSpPr>
        <p:spPr>
          <a:xfrm>
            <a:off x="3832763" y="520693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2" name="テキスト ボックス 471">
            <a:extLst>
              <a:ext uri="{FF2B5EF4-FFF2-40B4-BE49-F238E27FC236}">
                <a16:creationId xmlns:a16="http://schemas.microsoft.com/office/drawing/2014/main" id="{89B35388-9C44-6C01-ACAA-2E691617E119}"/>
              </a:ext>
            </a:extLst>
          </p:cNvPr>
          <p:cNvSpPr txBox="1"/>
          <p:nvPr/>
        </p:nvSpPr>
        <p:spPr>
          <a:xfrm>
            <a:off x="5647624" y="617359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
        <p:nvSpPr>
          <p:cNvPr id="473" name="テキスト ボックス 472">
            <a:extLst>
              <a:ext uri="{FF2B5EF4-FFF2-40B4-BE49-F238E27FC236}">
                <a16:creationId xmlns:a16="http://schemas.microsoft.com/office/drawing/2014/main" id="{BD1C4614-6833-006B-0695-58E26A5CFFB7}"/>
              </a:ext>
            </a:extLst>
          </p:cNvPr>
          <p:cNvSpPr txBox="1"/>
          <p:nvPr/>
        </p:nvSpPr>
        <p:spPr>
          <a:xfrm>
            <a:off x="7434640" y="5741676"/>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900" b="1" dirty="0">
              <a:solidFill>
                <a:schemeClr val="tx1">
                  <a:lumMod val="50000"/>
                  <a:lumOff val="50000"/>
                </a:schemeClr>
              </a:solidFill>
            </a:endParaRPr>
          </a:p>
        </p:txBody>
      </p:sp>
      <p:sp>
        <p:nvSpPr>
          <p:cNvPr id="474" name="正方形/長方形 473">
            <a:extLst>
              <a:ext uri="{FF2B5EF4-FFF2-40B4-BE49-F238E27FC236}">
                <a16:creationId xmlns:a16="http://schemas.microsoft.com/office/drawing/2014/main" id="{149FC944-C0B9-A202-3A0B-03CB7D89620A}"/>
              </a:ext>
            </a:extLst>
          </p:cNvPr>
          <p:cNvSpPr/>
          <p:nvPr/>
        </p:nvSpPr>
        <p:spPr>
          <a:xfrm>
            <a:off x="3046381" y="492178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LINE</a:t>
            </a:r>
            <a:r>
              <a:rPr kumimoji="1" lang="ja-JP" altLang="en-US" sz="1000" dirty="0">
                <a:solidFill>
                  <a:srgbClr val="FFFFFF"/>
                </a:solidFill>
                <a:latin typeface="メイリオ" panose="020B0604030504040204" pitchFamily="50" charset="-128"/>
                <a:ea typeface="メイリオ" panose="020B0604030504040204" pitchFamily="50" charset="-128"/>
              </a:rPr>
              <a:t>→反響）</a:t>
            </a:r>
          </a:p>
        </p:txBody>
      </p:sp>
    </p:spTree>
    <p:extLst>
      <p:ext uri="{BB962C8B-B14F-4D97-AF65-F5344CB8AC3E}">
        <p14:creationId xmlns:p14="http://schemas.microsoft.com/office/powerpoint/2010/main" val="3464468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43DE1-3ED3-F966-F6AD-4C1C8BF7CC0E}"/>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2E6701D8-9A90-E152-7C18-C7706967BB9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1E62FB26-1D1E-5A11-19DE-1FB175754D5C}"/>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598B957-A9E7-BDB0-A5F6-72D1122A5B6E}"/>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施策パターン（主要５パターン）</a:t>
            </a:r>
            <a:endParaRPr lang="ja-JP" altLang="en-US" sz="1100" dirty="0"/>
          </a:p>
        </p:txBody>
      </p:sp>
      <p:sp>
        <p:nvSpPr>
          <p:cNvPr id="7" name="テキスト ボックス 6">
            <a:extLst>
              <a:ext uri="{FF2B5EF4-FFF2-40B4-BE49-F238E27FC236}">
                <a16:creationId xmlns:a16="http://schemas.microsoft.com/office/drawing/2014/main" id="{45E74368-07DB-CE00-62F1-E5548485D6FB}"/>
              </a:ext>
            </a:extLst>
          </p:cNvPr>
          <p:cNvSpPr txBox="1"/>
          <p:nvPr/>
        </p:nvSpPr>
        <p:spPr>
          <a:xfrm>
            <a:off x="96788" y="1202790"/>
            <a:ext cx="9687414" cy="307777"/>
          </a:xfrm>
          <a:prstGeom prst="rect">
            <a:avLst/>
          </a:prstGeom>
          <a:noFill/>
        </p:spPr>
        <p:txBody>
          <a:bodyPr wrap="square">
            <a:spAutoFit/>
          </a:bodyPr>
          <a:lstStyle/>
          <a:p>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運用で追うべき重要指標（</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KPI</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）と、目的に応じた</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5</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つの施策方針</a:t>
            </a:r>
            <a:endParaRPr lang="ja-JP" altLang="en-US" sz="1000" dirty="0"/>
          </a:p>
        </p:txBody>
      </p:sp>
      <p:sp>
        <p:nvSpPr>
          <p:cNvPr id="9" name="テキスト ボックス 8">
            <a:extLst>
              <a:ext uri="{FF2B5EF4-FFF2-40B4-BE49-F238E27FC236}">
                <a16:creationId xmlns:a16="http://schemas.microsoft.com/office/drawing/2014/main" id="{29ADE9C4-EDB0-BC95-CE8E-626E80FB4D48}"/>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2" name="Rectangle 4">
            <a:extLst>
              <a:ext uri="{FF2B5EF4-FFF2-40B4-BE49-F238E27FC236}">
                <a16:creationId xmlns:a16="http://schemas.microsoft.com/office/drawing/2014/main" id="{49E79A83-D923-CF9A-2A1A-3D2E1673FD4A}"/>
              </a:ext>
            </a:extLst>
          </p:cNvPr>
          <p:cNvSpPr/>
          <p:nvPr/>
        </p:nvSpPr>
        <p:spPr>
          <a:xfrm>
            <a:off x="4084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err="1">
                <a:solidFill>
                  <a:srgbClr val="FFFFFF"/>
                </a:solidFill>
                <a:latin typeface="メイリオ"/>
                <a:ea typeface="メイリオ"/>
                <a:cs typeface="メイリオ"/>
              </a:rPr>
              <a:t>露出強化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ブランディング・告知</a:t>
            </a:r>
            <a:endParaRPr sz="950" b="0" dirty="0">
              <a:solidFill>
                <a:srgbClr val="FFFFFF"/>
              </a:solidFill>
              <a:latin typeface="メイリオ"/>
              <a:ea typeface="メイリオ"/>
              <a:cs typeface="メイリオ"/>
            </a:endParaRPr>
          </a:p>
        </p:txBody>
      </p:sp>
      <p:sp>
        <p:nvSpPr>
          <p:cNvPr id="16" name="Rectangle 5">
            <a:extLst>
              <a:ext uri="{FF2B5EF4-FFF2-40B4-BE49-F238E27FC236}">
                <a16:creationId xmlns:a16="http://schemas.microsoft.com/office/drawing/2014/main" id="{155E13D8-2298-8094-68E3-69F442818216}"/>
              </a:ext>
            </a:extLst>
          </p:cNvPr>
          <p:cNvSpPr/>
          <p:nvPr/>
        </p:nvSpPr>
        <p:spPr>
          <a:xfrm>
            <a:off x="4084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20" name="Rectangle 6">
            <a:extLst>
              <a:ext uri="{FF2B5EF4-FFF2-40B4-BE49-F238E27FC236}">
                <a16:creationId xmlns:a16="http://schemas.microsoft.com/office/drawing/2014/main" id="{6C7DBB20-26A1-8B8F-32D4-0B15E548F56E}"/>
              </a:ext>
            </a:extLst>
          </p:cNvPr>
          <p:cNvSpPr/>
          <p:nvPr/>
        </p:nvSpPr>
        <p:spPr>
          <a:xfrm>
            <a:off x="4084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新商品・イベントを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広く知らせ、接触量</a:t>
            </a:r>
            <a:r>
              <a:rPr lang="ja-JP" altLang="en-US" sz="1100" b="1" dirty="0">
                <a:solidFill>
                  <a:srgbClr val="333333"/>
                </a:solidFill>
                <a:latin typeface="メイリオ"/>
                <a:ea typeface="メイリオ"/>
                <a:cs typeface="メイリオ"/>
              </a:rPr>
              <a:t>増加</a:t>
            </a:r>
            <a:endParaRPr sz="1100" b="1" dirty="0">
              <a:solidFill>
                <a:srgbClr val="333333"/>
              </a:solidFill>
              <a:latin typeface="メイリオ"/>
              <a:ea typeface="メイリオ"/>
              <a:cs typeface="メイリオ"/>
            </a:endParaRPr>
          </a:p>
        </p:txBody>
      </p:sp>
      <p:sp>
        <p:nvSpPr>
          <p:cNvPr id="24" name="Rectangle 7">
            <a:extLst>
              <a:ext uri="{FF2B5EF4-FFF2-40B4-BE49-F238E27FC236}">
                <a16:creationId xmlns:a16="http://schemas.microsoft.com/office/drawing/2014/main" id="{6811CAAE-5198-A8F3-058F-450EB5ADBA4E}"/>
              </a:ext>
            </a:extLst>
          </p:cNvPr>
          <p:cNvSpPr/>
          <p:nvPr/>
        </p:nvSpPr>
        <p:spPr>
          <a:xfrm>
            <a:off x="4084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28" name="Rectangle 8">
            <a:extLst>
              <a:ext uri="{FF2B5EF4-FFF2-40B4-BE49-F238E27FC236}">
                <a16:creationId xmlns:a16="http://schemas.microsoft.com/office/drawing/2014/main" id="{1C3C93C7-EF49-8EB4-41C3-62A45A431458}"/>
              </a:ext>
            </a:extLst>
          </p:cNvPr>
          <p:cNvSpPr/>
          <p:nvPr/>
        </p:nvSpPr>
        <p:spPr>
          <a:xfrm>
            <a:off x="4084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友だち数／配信到達数／開封率</a:t>
            </a:r>
          </a:p>
        </p:txBody>
      </p:sp>
      <p:sp>
        <p:nvSpPr>
          <p:cNvPr id="32" name="Rectangle 9">
            <a:extLst>
              <a:ext uri="{FF2B5EF4-FFF2-40B4-BE49-F238E27FC236}">
                <a16:creationId xmlns:a16="http://schemas.microsoft.com/office/drawing/2014/main" id="{24002695-377E-A008-465B-19DAB55618DC}"/>
              </a:ext>
            </a:extLst>
          </p:cNvPr>
          <p:cNvSpPr/>
          <p:nvPr/>
        </p:nvSpPr>
        <p:spPr>
          <a:xfrm>
            <a:off x="4084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36" name="Rectangle 10">
            <a:extLst>
              <a:ext uri="{FF2B5EF4-FFF2-40B4-BE49-F238E27FC236}">
                <a16:creationId xmlns:a16="http://schemas.microsoft.com/office/drawing/2014/main" id="{83F02ED9-D873-788D-4F8B-840F449F5E67}"/>
              </a:ext>
            </a:extLst>
          </p:cNvPr>
          <p:cNvSpPr/>
          <p:nvPr/>
        </p:nvSpPr>
        <p:spPr>
          <a:xfrm>
            <a:off x="4084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企画配信／リッチメニュー</a:t>
            </a:r>
          </a:p>
        </p:txBody>
      </p:sp>
      <p:sp>
        <p:nvSpPr>
          <p:cNvPr id="41" name="Rectangle 12">
            <a:extLst>
              <a:ext uri="{FF2B5EF4-FFF2-40B4-BE49-F238E27FC236}">
                <a16:creationId xmlns:a16="http://schemas.microsoft.com/office/drawing/2014/main" id="{88068114-91B2-5D9E-47D2-54CBE30DEF89}"/>
              </a:ext>
            </a:extLst>
          </p:cNvPr>
          <p:cNvSpPr/>
          <p:nvPr/>
        </p:nvSpPr>
        <p:spPr>
          <a:xfrm>
            <a:off x="22372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a:solidFill>
                  <a:srgbClr val="FFFFFF"/>
                </a:solidFill>
                <a:latin typeface="メイリオ"/>
                <a:ea typeface="メイリオ"/>
                <a:cs typeface="メイリオ"/>
              </a:rPr>
              <a:t>CV</a:t>
            </a:r>
            <a:r>
              <a:rPr lang="ja-JP" altLang="en-US" sz="1250" b="1" dirty="0">
                <a:solidFill>
                  <a:srgbClr val="FFFFFF"/>
                </a:solidFill>
                <a:latin typeface="メイリオ"/>
                <a:ea typeface="メイリオ"/>
                <a:cs typeface="メイリオ"/>
              </a:rPr>
              <a:t>最大化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WEB・実店舗</a:t>
            </a:r>
            <a:endParaRPr sz="950" b="0" dirty="0">
              <a:solidFill>
                <a:srgbClr val="FFFFFF"/>
              </a:solidFill>
              <a:latin typeface="メイリオ"/>
              <a:ea typeface="メイリオ"/>
              <a:cs typeface="メイリオ"/>
            </a:endParaRPr>
          </a:p>
        </p:txBody>
      </p:sp>
      <p:sp>
        <p:nvSpPr>
          <p:cNvPr id="43" name="Rectangle 13">
            <a:extLst>
              <a:ext uri="{FF2B5EF4-FFF2-40B4-BE49-F238E27FC236}">
                <a16:creationId xmlns:a16="http://schemas.microsoft.com/office/drawing/2014/main" id="{35D95F17-69A9-BFB0-0DEF-22C0EB725ED0}"/>
              </a:ext>
            </a:extLst>
          </p:cNvPr>
          <p:cNvSpPr/>
          <p:nvPr/>
        </p:nvSpPr>
        <p:spPr>
          <a:xfrm>
            <a:off x="22372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45" name="Rectangle 14">
            <a:extLst>
              <a:ext uri="{FF2B5EF4-FFF2-40B4-BE49-F238E27FC236}">
                <a16:creationId xmlns:a16="http://schemas.microsoft.com/office/drawing/2014/main" id="{AF16D352-C907-9B65-3BE4-49A79ABEB20F}"/>
              </a:ext>
            </a:extLst>
          </p:cNvPr>
          <p:cNvSpPr/>
          <p:nvPr/>
        </p:nvSpPr>
        <p:spPr>
          <a:xfrm>
            <a:off x="22372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WEBの申込・予約や</a:t>
            </a:r>
            <a:r>
              <a:rPr sz="1100" b="1" dirty="0">
                <a:solidFill>
                  <a:srgbClr val="333333"/>
                </a:solidFill>
                <a:latin typeface="メイリオ"/>
                <a:ea typeface="メイリオ"/>
                <a:cs typeface="メイリオ"/>
              </a:rPr>
              <a:t>、</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実店舗の来店</a:t>
            </a:r>
            <a:r>
              <a:rPr sz="1100" b="1" dirty="0">
                <a:solidFill>
                  <a:srgbClr val="333333"/>
                </a:solidFill>
                <a:latin typeface="メイリオ"/>
                <a:ea typeface="メイリオ"/>
                <a:cs typeface="メイリオ"/>
              </a:rPr>
              <a:t>・</a:t>
            </a:r>
            <a:r>
              <a:rPr lang="ja-JP" altLang="en-US" sz="1100" b="1" dirty="0">
                <a:solidFill>
                  <a:srgbClr val="333333"/>
                </a:solidFill>
                <a:latin typeface="メイリオ"/>
                <a:ea typeface="メイリオ"/>
                <a:cs typeface="メイリオ"/>
              </a:rPr>
              <a:t>購入に</a:t>
            </a:r>
            <a:endParaRPr sz="1100" b="1" dirty="0">
              <a:solidFill>
                <a:srgbClr val="333333"/>
              </a:solidFill>
              <a:latin typeface="メイリオ"/>
              <a:ea typeface="メイリオ"/>
              <a:cs typeface="メイリオ"/>
            </a:endParaRPr>
          </a:p>
        </p:txBody>
      </p:sp>
      <p:sp>
        <p:nvSpPr>
          <p:cNvPr id="47" name="Rectangle 15">
            <a:extLst>
              <a:ext uri="{FF2B5EF4-FFF2-40B4-BE49-F238E27FC236}">
                <a16:creationId xmlns:a16="http://schemas.microsoft.com/office/drawing/2014/main" id="{ECF548BA-4F25-D357-FFD9-560CFBC52E16}"/>
              </a:ext>
            </a:extLst>
          </p:cNvPr>
          <p:cNvSpPr/>
          <p:nvPr/>
        </p:nvSpPr>
        <p:spPr>
          <a:xfrm>
            <a:off x="22372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49" name="Rectangle 16">
            <a:extLst>
              <a:ext uri="{FF2B5EF4-FFF2-40B4-BE49-F238E27FC236}">
                <a16:creationId xmlns:a16="http://schemas.microsoft.com/office/drawing/2014/main" id="{4CD5FF1A-1457-7314-0F3D-AA97E2FA4A98}"/>
              </a:ext>
            </a:extLst>
          </p:cNvPr>
          <p:cNvSpPr/>
          <p:nvPr/>
        </p:nvSpPr>
        <p:spPr>
          <a:xfrm>
            <a:off x="22372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CV数／CVR／CPA／来店数</a:t>
            </a:r>
          </a:p>
        </p:txBody>
      </p:sp>
      <p:sp>
        <p:nvSpPr>
          <p:cNvPr id="51" name="Rectangle 17">
            <a:extLst>
              <a:ext uri="{FF2B5EF4-FFF2-40B4-BE49-F238E27FC236}">
                <a16:creationId xmlns:a16="http://schemas.microsoft.com/office/drawing/2014/main" id="{12D05AB9-222E-9902-8290-186E965B6FC0}"/>
              </a:ext>
            </a:extLst>
          </p:cNvPr>
          <p:cNvSpPr/>
          <p:nvPr/>
        </p:nvSpPr>
        <p:spPr>
          <a:xfrm>
            <a:off x="22372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53" name="Rectangle 18">
            <a:extLst>
              <a:ext uri="{FF2B5EF4-FFF2-40B4-BE49-F238E27FC236}">
                <a16:creationId xmlns:a16="http://schemas.microsoft.com/office/drawing/2014/main" id="{DC3C0252-EAC5-F636-A132-78E1C2C2B2AA}"/>
              </a:ext>
            </a:extLst>
          </p:cNvPr>
          <p:cNvSpPr/>
          <p:nvPr/>
        </p:nvSpPr>
        <p:spPr>
          <a:xfrm>
            <a:off x="22372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ポップアップ／ステップ配信／リッチメニュー</a:t>
            </a:r>
          </a:p>
        </p:txBody>
      </p:sp>
      <p:sp>
        <p:nvSpPr>
          <p:cNvPr id="57" name="Rectangle 20">
            <a:extLst>
              <a:ext uri="{FF2B5EF4-FFF2-40B4-BE49-F238E27FC236}">
                <a16:creationId xmlns:a16="http://schemas.microsoft.com/office/drawing/2014/main" id="{AB9E57D2-9C3A-6A00-A6E2-0F2E56AC5C82}"/>
              </a:ext>
            </a:extLst>
          </p:cNvPr>
          <p:cNvSpPr/>
          <p:nvPr/>
        </p:nvSpPr>
        <p:spPr>
          <a:xfrm>
            <a:off x="40660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LTV・ユーザーの質</a:t>
            </a:r>
          </a:p>
          <a:p>
            <a:pPr algn="ctr">
              <a:spcAft>
                <a:spcPts val="0"/>
              </a:spcAft>
            </a:pPr>
            <a:r>
              <a:rPr sz="950" b="0">
                <a:solidFill>
                  <a:srgbClr val="FFFFFF"/>
                </a:solidFill>
                <a:latin typeface="メイリオ"/>
                <a:ea typeface="メイリオ"/>
                <a:cs typeface="メイリオ"/>
              </a:rPr>
              <a:t>優良顧客の育成</a:t>
            </a:r>
          </a:p>
        </p:txBody>
      </p:sp>
      <p:sp>
        <p:nvSpPr>
          <p:cNvPr id="60" name="Rectangle 21">
            <a:extLst>
              <a:ext uri="{FF2B5EF4-FFF2-40B4-BE49-F238E27FC236}">
                <a16:creationId xmlns:a16="http://schemas.microsoft.com/office/drawing/2014/main" id="{8A9C7FAF-EA45-CF24-B656-908F5442F50C}"/>
              </a:ext>
            </a:extLst>
          </p:cNvPr>
          <p:cNvSpPr/>
          <p:nvPr/>
        </p:nvSpPr>
        <p:spPr>
          <a:xfrm>
            <a:off x="40660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62" name="Rectangle 22">
            <a:extLst>
              <a:ext uri="{FF2B5EF4-FFF2-40B4-BE49-F238E27FC236}">
                <a16:creationId xmlns:a16="http://schemas.microsoft.com/office/drawing/2014/main" id="{6CC7BF41-8887-8361-4328-893877256850}"/>
              </a:ext>
            </a:extLst>
          </p:cNvPr>
          <p:cNvSpPr/>
          <p:nvPr/>
        </p:nvSpPr>
        <p:spPr>
          <a:xfrm>
            <a:off x="40660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優良な見込み・顧客を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見極め、育てる</a:t>
            </a:r>
            <a:endParaRPr sz="1100" b="1" dirty="0">
              <a:solidFill>
                <a:srgbClr val="333333"/>
              </a:solidFill>
              <a:latin typeface="メイリオ"/>
              <a:ea typeface="メイリオ"/>
              <a:cs typeface="メイリオ"/>
            </a:endParaRPr>
          </a:p>
        </p:txBody>
      </p:sp>
      <p:sp>
        <p:nvSpPr>
          <p:cNvPr id="64" name="Rectangle 23">
            <a:extLst>
              <a:ext uri="{FF2B5EF4-FFF2-40B4-BE49-F238E27FC236}">
                <a16:creationId xmlns:a16="http://schemas.microsoft.com/office/drawing/2014/main" id="{0DDBE270-09C3-11A4-38F6-4AD200C9C94D}"/>
              </a:ext>
            </a:extLst>
          </p:cNvPr>
          <p:cNvSpPr/>
          <p:nvPr/>
        </p:nvSpPr>
        <p:spPr>
          <a:xfrm>
            <a:off x="40660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66" name="Rectangle 24">
            <a:extLst>
              <a:ext uri="{FF2B5EF4-FFF2-40B4-BE49-F238E27FC236}">
                <a16:creationId xmlns:a16="http://schemas.microsoft.com/office/drawing/2014/main" id="{A6EECE04-D4EC-CDF0-B34C-60A31C1CDC8D}"/>
              </a:ext>
            </a:extLst>
          </p:cNvPr>
          <p:cNvSpPr/>
          <p:nvPr/>
        </p:nvSpPr>
        <p:spPr>
          <a:xfrm>
            <a:off x="40660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アクティブ率／ブロック率／継続率／客単価</a:t>
            </a:r>
          </a:p>
        </p:txBody>
      </p:sp>
      <p:sp>
        <p:nvSpPr>
          <p:cNvPr id="68" name="Rectangle 25">
            <a:extLst>
              <a:ext uri="{FF2B5EF4-FFF2-40B4-BE49-F238E27FC236}">
                <a16:creationId xmlns:a16="http://schemas.microsoft.com/office/drawing/2014/main" id="{EBC8045D-930A-FA3E-65AE-3A756DDEA8D0}"/>
              </a:ext>
            </a:extLst>
          </p:cNvPr>
          <p:cNvSpPr/>
          <p:nvPr/>
        </p:nvSpPr>
        <p:spPr>
          <a:xfrm>
            <a:off x="40660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70" name="Rectangle 26">
            <a:extLst>
              <a:ext uri="{FF2B5EF4-FFF2-40B4-BE49-F238E27FC236}">
                <a16:creationId xmlns:a16="http://schemas.microsoft.com/office/drawing/2014/main" id="{FAB78CD6-C04D-A78B-1979-D1C6E3031729}"/>
              </a:ext>
            </a:extLst>
          </p:cNvPr>
          <p:cNvSpPr/>
          <p:nvPr/>
        </p:nvSpPr>
        <p:spPr>
          <a:xfrm>
            <a:off x="40660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アンケート／タグ・セグメント／挨拶メッセージ</a:t>
            </a:r>
          </a:p>
        </p:txBody>
      </p:sp>
      <p:sp>
        <p:nvSpPr>
          <p:cNvPr id="74" name="Rectangle 28">
            <a:extLst>
              <a:ext uri="{FF2B5EF4-FFF2-40B4-BE49-F238E27FC236}">
                <a16:creationId xmlns:a16="http://schemas.microsoft.com/office/drawing/2014/main" id="{D6A1A411-0761-977A-6EC4-652572684D97}"/>
              </a:ext>
            </a:extLst>
          </p:cNvPr>
          <p:cNvSpPr/>
          <p:nvPr/>
        </p:nvSpPr>
        <p:spPr>
          <a:xfrm>
            <a:off x="58948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リピート</a:t>
            </a:r>
          </a:p>
          <a:p>
            <a:pPr algn="ctr">
              <a:spcAft>
                <a:spcPts val="0"/>
              </a:spcAft>
            </a:pPr>
            <a:r>
              <a:rPr sz="950" b="0">
                <a:solidFill>
                  <a:srgbClr val="FFFFFF"/>
                </a:solidFill>
                <a:latin typeface="メイリオ"/>
                <a:ea typeface="メイリオ"/>
                <a:cs typeface="メイリオ"/>
              </a:rPr>
              <a:t>再購入・再来店</a:t>
            </a:r>
          </a:p>
        </p:txBody>
      </p:sp>
      <p:sp>
        <p:nvSpPr>
          <p:cNvPr id="76" name="Rectangle 29">
            <a:extLst>
              <a:ext uri="{FF2B5EF4-FFF2-40B4-BE49-F238E27FC236}">
                <a16:creationId xmlns:a16="http://schemas.microsoft.com/office/drawing/2014/main" id="{75906DAF-D632-DFE1-A336-7943CDAA5379}"/>
              </a:ext>
            </a:extLst>
          </p:cNvPr>
          <p:cNvSpPr/>
          <p:nvPr/>
        </p:nvSpPr>
        <p:spPr>
          <a:xfrm>
            <a:off x="58948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78" name="Rectangle 30">
            <a:extLst>
              <a:ext uri="{FF2B5EF4-FFF2-40B4-BE49-F238E27FC236}">
                <a16:creationId xmlns:a16="http://schemas.microsoft.com/office/drawing/2014/main" id="{CD032C05-9EE1-EF04-2AFC-D7D5BC88127F}"/>
              </a:ext>
            </a:extLst>
          </p:cNvPr>
          <p:cNvSpPr/>
          <p:nvPr/>
        </p:nvSpPr>
        <p:spPr>
          <a:xfrm>
            <a:off x="58948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再購入・再来店の</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タイミングで必要な人</a:t>
            </a:r>
            <a:r>
              <a:rPr lang="ja-JP" altLang="en-US" sz="1100" b="1" dirty="0">
                <a:solidFill>
                  <a:srgbClr val="333333"/>
                </a:solidFill>
                <a:latin typeface="メイリオ"/>
                <a:ea typeface="メイリオ"/>
                <a:cs typeface="メイリオ"/>
              </a:rPr>
              <a:t>へ</a:t>
            </a:r>
            <a:endParaRPr sz="1100" b="1" dirty="0">
              <a:solidFill>
                <a:srgbClr val="333333"/>
              </a:solidFill>
              <a:latin typeface="メイリオ"/>
              <a:ea typeface="メイリオ"/>
              <a:cs typeface="メイリオ"/>
            </a:endParaRPr>
          </a:p>
        </p:txBody>
      </p:sp>
      <p:sp>
        <p:nvSpPr>
          <p:cNvPr id="80" name="Rectangle 31">
            <a:extLst>
              <a:ext uri="{FF2B5EF4-FFF2-40B4-BE49-F238E27FC236}">
                <a16:creationId xmlns:a16="http://schemas.microsoft.com/office/drawing/2014/main" id="{BFF607A5-74EE-9D3F-E07E-23B5DAB0505C}"/>
              </a:ext>
            </a:extLst>
          </p:cNvPr>
          <p:cNvSpPr/>
          <p:nvPr/>
        </p:nvSpPr>
        <p:spPr>
          <a:xfrm>
            <a:off x="58948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82" name="Rectangle 32">
            <a:extLst>
              <a:ext uri="{FF2B5EF4-FFF2-40B4-BE49-F238E27FC236}">
                <a16:creationId xmlns:a16="http://schemas.microsoft.com/office/drawing/2014/main" id="{50FD0BE7-952B-2A01-998C-6E1602F9524C}"/>
              </a:ext>
            </a:extLst>
          </p:cNvPr>
          <p:cNvSpPr/>
          <p:nvPr/>
        </p:nvSpPr>
        <p:spPr>
          <a:xfrm>
            <a:off x="58948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リピート率／再来店数／購入間隔</a:t>
            </a:r>
          </a:p>
        </p:txBody>
      </p:sp>
      <p:sp>
        <p:nvSpPr>
          <p:cNvPr id="84" name="Rectangle 33">
            <a:extLst>
              <a:ext uri="{FF2B5EF4-FFF2-40B4-BE49-F238E27FC236}">
                <a16:creationId xmlns:a16="http://schemas.microsoft.com/office/drawing/2014/main" id="{FC2A570B-9E54-FAC3-01D5-C53C4A413CC4}"/>
              </a:ext>
            </a:extLst>
          </p:cNvPr>
          <p:cNvSpPr/>
          <p:nvPr/>
        </p:nvSpPr>
        <p:spPr>
          <a:xfrm>
            <a:off x="58948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86" name="Rectangle 34">
            <a:extLst>
              <a:ext uri="{FF2B5EF4-FFF2-40B4-BE49-F238E27FC236}">
                <a16:creationId xmlns:a16="http://schemas.microsoft.com/office/drawing/2014/main" id="{CC3A9112-7923-428F-67F2-2231466F8C27}"/>
              </a:ext>
            </a:extLst>
          </p:cNvPr>
          <p:cNvSpPr/>
          <p:nvPr/>
        </p:nvSpPr>
        <p:spPr>
          <a:xfrm>
            <a:off x="58948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企画配信／セグメント／ステップ配信</a:t>
            </a:r>
          </a:p>
        </p:txBody>
      </p:sp>
      <p:sp>
        <p:nvSpPr>
          <p:cNvPr id="90" name="Rectangle 36">
            <a:extLst>
              <a:ext uri="{FF2B5EF4-FFF2-40B4-BE49-F238E27FC236}">
                <a16:creationId xmlns:a16="http://schemas.microsoft.com/office/drawing/2014/main" id="{E81296C5-352B-E383-B51D-61DCBDFB5FD6}"/>
              </a:ext>
            </a:extLst>
          </p:cNvPr>
          <p:cNvSpPr/>
          <p:nvPr/>
        </p:nvSpPr>
        <p:spPr>
          <a:xfrm>
            <a:off x="7723632" y="2163060"/>
            <a:ext cx="1773936" cy="685800"/>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限定コミュニティ運営</a:t>
            </a:r>
          </a:p>
          <a:p>
            <a:pPr algn="ctr">
              <a:spcAft>
                <a:spcPts val="0"/>
              </a:spcAft>
            </a:pPr>
            <a:r>
              <a:rPr sz="950" b="0">
                <a:solidFill>
                  <a:srgbClr val="FFFFFF"/>
                </a:solidFill>
                <a:latin typeface="メイリオ"/>
                <a:ea typeface="メイリオ"/>
                <a:cs typeface="メイリオ"/>
              </a:rPr>
              <a:t>ファン化</a:t>
            </a:r>
          </a:p>
        </p:txBody>
      </p:sp>
      <p:sp>
        <p:nvSpPr>
          <p:cNvPr id="92" name="Rectangle 37">
            <a:extLst>
              <a:ext uri="{FF2B5EF4-FFF2-40B4-BE49-F238E27FC236}">
                <a16:creationId xmlns:a16="http://schemas.microsoft.com/office/drawing/2014/main" id="{4F8A6AAC-536B-B6BB-71E9-3125F900E9F4}"/>
              </a:ext>
            </a:extLst>
          </p:cNvPr>
          <p:cNvSpPr/>
          <p:nvPr/>
        </p:nvSpPr>
        <p:spPr>
          <a:xfrm>
            <a:off x="77236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94" name="Rectangle 38">
            <a:extLst>
              <a:ext uri="{FF2B5EF4-FFF2-40B4-BE49-F238E27FC236}">
                <a16:creationId xmlns:a16="http://schemas.microsoft.com/office/drawing/2014/main" id="{D7046182-3DF8-2C37-71A9-B94D9F3579B2}"/>
              </a:ext>
            </a:extLst>
          </p:cNvPr>
          <p:cNvSpPr/>
          <p:nvPr/>
        </p:nvSpPr>
        <p:spPr>
          <a:xfrm>
            <a:off x="77236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会員・ファン向けに</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限定情報と特典を届け</a:t>
            </a:r>
            <a:r>
              <a:rPr lang="ja-JP" altLang="en-US" sz="1100" b="1" dirty="0">
                <a:solidFill>
                  <a:srgbClr val="333333"/>
                </a:solidFill>
                <a:latin typeface="メイリオ"/>
                <a:ea typeface="メイリオ"/>
                <a:cs typeface="メイリオ"/>
              </a:rPr>
              <a:t>る</a:t>
            </a:r>
            <a:endParaRPr sz="1100" b="1" dirty="0">
              <a:solidFill>
                <a:srgbClr val="333333"/>
              </a:solidFill>
              <a:latin typeface="メイリオ"/>
              <a:ea typeface="メイリオ"/>
              <a:cs typeface="メイリオ"/>
            </a:endParaRPr>
          </a:p>
        </p:txBody>
      </p:sp>
      <p:sp>
        <p:nvSpPr>
          <p:cNvPr id="96" name="Rectangle 39">
            <a:extLst>
              <a:ext uri="{FF2B5EF4-FFF2-40B4-BE49-F238E27FC236}">
                <a16:creationId xmlns:a16="http://schemas.microsoft.com/office/drawing/2014/main" id="{B6098F37-D497-5015-0B5E-21B88967F2BD}"/>
              </a:ext>
            </a:extLst>
          </p:cNvPr>
          <p:cNvSpPr/>
          <p:nvPr/>
        </p:nvSpPr>
        <p:spPr>
          <a:xfrm>
            <a:off x="77236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98" name="Rectangle 40">
            <a:extLst>
              <a:ext uri="{FF2B5EF4-FFF2-40B4-BE49-F238E27FC236}">
                <a16:creationId xmlns:a16="http://schemas.microsoft.com/office/drawing/2014/main" id="{0BE96C36-A9FB-4161-3395-F63CA2F081B0}"/>
              </a:ext>
            </a:extLst>
          </p:cNvPr>
          <p:cNvSpPr/>
          <p:nvPr/>
        </p:nvSpPr>
        <p:spPr>
          <a:xfrm>
            <a:off x="77236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会員数／反応率／参加率／紹介数</a:t>
            </a:r>
          </a:p>
        </p:txBody>
      </p:sp>
      <p:sp>
        <p:nvSpPr>
          <p:cNvPr id="100" name="Rectangle 41">
            <a:extLst>
              <a:ext uri="{FF2B5EF4-FFF2-40B4-BE49-F238E27FC236}">
                <a16:creationId xmlns:a16="http://schemas.microsoft.com/office/drawing/2014/main" id="{F797EE57-6A7A-D477-5F93-76E5E55D9A24}"/>
              </a:ext>
            </a:extLst>
          </p:cNvPr>
          <p:cNvSpPr/>
          <p:nvPr/>
        </p:nvSpPr>
        <p:spPr>
          <a:xfrm>
            <a:off x="77236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102" name="Rectangle 42">
            <a:extLst>
              <a:ext uri="{FF2B5EF4-FFF2-40B4-BE49-F238E27FC236}">
                <a16:creationId xmlns:a16="http://schemas.microsoft.com/office/drawing/2014/main" id="{23E4C735-B371-F9B9-63D2-A7A1E489E4DC}"/>
              </a:ext>
            </a:extLst>
          </p:cNvPr>
          <p:cNvSpPr/>
          <p:nvPr/>
        </p:nvSpPr>
        <p:spPr>
          <a:xfrm>
            <a:off x="77236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タグ・セグメント／企画配信／リッチメニュー</a:t>
            </a:r>
          </a:p>
        </p:txBody>
      </p:sp>
      <p:sp>
        <p:nvSpPr>
          <p:cNvPr id="104" name="Rectangle 43">
            <a:extLst>
              <a:ext uri="{FF2B5EF4-FFF2-40B4-BE49-F238E27FC236}">
                <a16:creationId xmlns:a16="http://schemas.microsoft.com/office/drawing/2014/main" id="{FADE5E5B-B891-E92E-6D6C-55784FACE1C5}"/>
              </a:ext>
            </a:extLst>
          </p:cNvPr>
          <p:cNvSpPr/>
          <p:nvPr/>
        </p:nvSpPr>
        <p:spPr>
          <a:xfrm>
            <a:off x="408432" y="6373649"/>
            <a:ext cx="9144000" cy="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a:p>
        </p:txBody>
      </p:sp>
      <p:sp>
        <p:nvSpPr>
          <p:cNvPr id="106" name="Rectangle 44">
            <a:extLst>
              <a:ext uri="{FF2B5EF4-FFF2-40B4-BE49-F238E27FC236}">
                <a16:creationId xmlns:a16="http://schemas.microsoft.com/office/drawing/2014/main" id="{1398E17B-A660-9AA8-3264-8469AAE20AC9}"/>
              </a:ext>
            </a:extLst>
          </p:cNvPr>
          <p:cNvSpPr/>
          <p:nvPr/>
        </p:nvSpPr>
        <p:spPr>
          <a:xfrm>
            <a:off x="408432" y="6316543"/>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※一般的な整理。貴社の目的に合わせて重みづけを調整します</a:t>
            </a:r>
          </a:p>
        </p:txBody>
      </p:sp>
      <p:sp>
        <p:nvSpPr>
          <p:cNvPr id="108" name="Oval 3">
            <a:extLst>
              <a:ext uri="{FF2B5EF4-FFF2-40B4-BE49-F238E27FC236}">
                <a16:creationId xmlns:a16="http://schemas.microsoft.com/office/drawing/2014/main" id="{57AC0B05-AFA9-1596-F07B-3F4E24B73CD1}"/>
              </a:ext>
            </a:extLst>
          </p:cNvPr>
          <p:cNvSpPr/>
          <p:nvPr/>
        </p:nvSpPr>
        <p:spPr>
          <a:xfrm>
            <a:off x="3823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1</a:t>
            </a:r>
          </a:p>
        </p:txBody>
      </p:sp>
      <p:sp>
        <p:nvSpPr>
          <p:cNvPr id="110" name="Oval 11">
            <a:extLst>
              <a:ext uri="{FF2B5EF4-FFF2-40B4-BE49-F238E27FC236}">
                <a16:creationId xmlns:a16="http://schemas.microsoft.com/office/drawing/2014/main" id="{301FA881-6688-198B-2701-68129B242FE7}"/>
              </a:ext>
            </a:extLst>
          </p:cNvPr>
          <p:cNvSpPr/>
          <p:nvPr/>
        </p:nvSpPr>
        <p:spPr>
          <a:xfrm>
            <a:off x="22111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2</a:t>
            </a:r>
          </a:p>
        </p:txBody>
      </p:sp>
      <p:sp>
        <p:nvSpPr>
          <p:cNvPr id="112" name="Oval 19">
            <a:extLst>
              <a:ext uri="{FF2B5EF4-FFF2-40B4-BE49-F238E27FC236}">
                <a16:creationId xmlns:a16="http://schemas.microsoft.com/office/drawing/2014/main" id="{E3DF8A67-626B-3C95-A49A-BFCF74DB564F}"/>
              </a:ext>
            </a:extLst>
          </p:cNvPr>
          <p:cNvSpPr/>
          <p:nvPr/>
        </p:nvSpPr>
        <p:spPr>
          <a:xfrm>
            <a:off x="40399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3</a:t>
            </a:r>
          </a:p>
        </p:txBody>
      </p:sp>
      <p:sp>
        <p:nvSpPr>
          <p:cNvPr id="114" name="Oval 27">
            <a:extLst>
              <a:ext uri="{FF2B5EF4-FFF2-40B4-BE49-F238E27FC236}">
                <a16:creationId xmlns:a16="http://schemas.microsoft.com/office/drawing/2014/main" id="{31028558-CEAD-B484-640D-13F5CB89F12B}"/>
              </a:ext>
            </a:extLst>
          </p:cNvPr>
          <p:cNvSpPr/>
          <p:nvPr/>
        </p:nvSpPr>
        <p:spPr>
          <a:xfrm>
            <a:off x="58687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4</a:t>
            </a:r>
          </a:p>
        </p:txBody>
      </p:sp>
      <p:sp>
        <p:nvSpPr>
          <p:cNvPr id="116" name="Oval 35">
            <a:extLst>
              <a:ext uri="{FF2B5EF4-FFF2-40B4-BE49-F238E27FC236}">
                <a16:creationId xmlns:a16="http://schemas.microsoft.com/office/drawing/2014/main" id="{713600C5-45EC-B1DD-3B2D-86B0566C431F}"/>
              </a:ext>
            </a:extLst>
          </p:cNvPr>
          <p:cNvSpPr/>
          <p:nvPr/>
        </p:nvSpPr>
        <p:spPr>
          <a:xfrm>
            <a:off x="76975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5</a:t>
            </a:r>
          </a:p>
        </p:txBody>
      </p:sp>
    </p:spTree>
    <p:extLst>
      <p:ext uri="{BB962C8B-B14F-4D97-AF65-F5344CB8AC3E}">
        <p14:creationId xmlns:p14="http://schemas.microsoft.com/office/powerpoint/2010/main" val="40808659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97C76-735E-4062-F6F5-F8388CBB95DC}"/>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集客・獲得 → 即時分類 → 分岐育成 → 成果回収 の4ステップで描く、LINE施策の全体図</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Pentagon 58"/>
          <p:cNvSpPr/>
          <p:nvPr/>
        </p:nvSpPr>
        <p:spPr>
          <a:xfrm>
            <a:off x="365760" y="1810512"/>
            <a:ext cx="2258568" cy="420624"/>
          </a:xfrm>
          <a:prstGeom prst="homePlate">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STEP1　集客・獲得</a:t>
            </a:r>
          </a:p>
        </p:txBody>
      </p:sp>
      <p:sp>
        <p:nvSpPr>
          <p:cNvPr id="60" name="Chevron 59"/>
          <p:cNvSpPr/>
          <p:nvPr/>
        </p:nvSpPr>
        <p:spPr>
          <a:xfrm>
            <a:off x="2496312" y="1810512"/>
            <a:ext cx="245973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STEP2　即時分類</a:t>
            </a:r>
          </a:p>
        </p:txBody>
      </p:sp>
      <p:sp>
        <p:nvSpPr>
          <p:cNvPr id="61" name="Chevron 60"/>
          <p:cNvSpPr/>
          <p:nvPr/>
        </p:nvSpPr>
        <p:spPr>
          <a:xfrm>
            <a:off x="4919472" y="1810512"/>
            <a:ext cx="255117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STEP3　分岐育成</a:t>
            </a:r>
          </a:p>
        </p:txBody>
      </p:sp>
      <p:sp>
        <p:nvSpPr>
          <p:cNvPr id="62" name="Chevron 61"/>
          <p:cNvSpPr/>
          <p:nvPr/>
        </p:nvSpPr>
        <p:spPr>
          <a:xfrm>
            <a:off x="7434071" y="1810512"/>
            <a:ext cx="2304288" cy="420624"/>
          </a:xfrm>
          <a:prstGeom prst="chevron">
            <a:avLst>
              <a:gd name="adj" fmla="val 30000"/>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STEP4　成果回収</a:t>
            </a:r>
          </a:p>
        </p:txBody>
      </p:sp>
      <p:sp>
        <p:nvSpPr>
          <p:cNvPr id="63" name="Rectangle 62"/>
          <p:cNvSpPr/>
          <p:nvPr/>
        </p:nvSpPr>
        <p:spPr>
          <a:xfrm>
            <a:off x="36576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広告・SEOの来訪者のうち</a:t>
            </a:r>
          </a:p>
          <a:p>
            <a:pPr algn="ctr">
              <a:lnSpc>
                <a:spcPct val="110000"/>
              </a:lnSpc>
              <a:spcAft>
                <a:spcPts val="0"/>
              </a:spcAft>
            </a:pPr>
            <a:r>
              <a:rPr sz="1400" b="1">
                <a:solidFill>
                  <a:srgbClr val="1F2A5C"/>
                </a:solidFill>
                <a:latin typeface="メイリオ"/>
                <a:ea typeface="メイリオ"/>
                <a:cs typeface="メイリオ"/>
              </a:rPr>
              <a:t>離脱する 約99%</a:t>
            </a:r>
          </a:p>
        </p:txBody>
      </p:sp>
      <p:cxnSp>
        <p:nvCxnSpPr>
          <p:cNvPr id="64" name="Connector 63"/>
          <p:cNvCxnSpPr/>
          <p:nvPr/>
        </p:nvCxnSpPr>
        <p:spPr>
          <a:xfrm>
            <a:off x="139446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5" name="Rectangle 64"/>
          <p:cNvSpPr/>
          <p:nvPr/>
        </p:nvSpPr>
        <p:spPr>
          <a:xfrm>
            <a:off x="365760" y="3337559"/>
            <a:ext cx="2057400" cy="73152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300" b="1">
                <a:solidFill>
                  <a:srgbClr val="1F2A5C"/>
                </a:solidFill>
                <a:latin typeface="メイリオ"/>
                <a:ea typeface="メイリオ"/>
                <a:cs typeface="メイリオ"/>
              </a:rPr>
              <a:t>ポップアップ</a:t>
            </a:r>
          </a:p>
          <a:p>
            <a:pPr algn="ctr">
              <a:lnSpc>
                <a:spcPct val="110000"/>
              </a:lnSpc>
              <a:spcAft>
                <a:spcPts val="0"/>
              </a:spcAft>
            </a:pPr>
            <a:r>
              <a:rPr sz="1300" b="1">
                <a:solidFill>
                  <a:srgbClr val="1F2A5C"/>
                </a:solidFill>
                <a:latin typeface="メイリオ"/>
                <a:ea typeface="メイリオ"/>
                <a:cs typeface="メイリオ"/>
              </a:rPr>
              <a:t>通知メッセージ</a:t>
            </a:r>
          </a:p>
        </p:txBody>
      </p:sp>
      <p:sp>
        <p:nvSpPr>
          <p:cNvPr id="66" name="TextBox 65"/>
          <p:cNvSpPr txBox="1"/>
          <p:nvPr/>
        </p:nvSpPr>
        <p:spPr>
          <a:xfrm>
            <a:off x="36576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サイトを離れる前に表示</a:t>
            </a:r>
          </a:p>
          <a:p>
            <a:pPr algn="ctr">
              <a:lnSpc>
                <a:spcPct val="105000"/>
              </a:lnSpc>
              <a:spcAft>
                <a:spcPts val="200"/>
              </a:spcAft>
            </a:pPr>
            <a:r>
              <a:rPr sz="1050" b="0">
                <a:solidFill>
                  <a:srgbClr val="777777"/>
                </a:solidFill>
                <a:latin typeface="メイリオ"/>
                <a:ea typeface="メイリオ"/>
                <a:cs typeface="メイリオ"/>
              </a:rPr>
              <a:t>保有リストにも届ける</a:t>
            </a:r>
          </a:p>
        </p:txBody>
      </p:sp>
      <p:cxnSp>
        <p:nvCxnSpPr>
          <p:cNvPr id="67" name="Connector 66"/>
          <p:cNvCxnSpPr/>
          <p:nvPr/>
        </p:nvCxnSpPr>
        <p:spPr>
          <a:xfrm>
            <a:off x="2423160" y="3703319"/>
            <a:ext cx="274320"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8" name="Rectangle 67"/>
          <p:cNvSpPr/>
          <p:nvPr/>
        </p:nvSpPr>
        <p:spPr>
          <a:xfrm>
            <a:off x="269748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最も反応が高い</a:t>
            </a:r>
          </a:p>
          <a:p>
            <a:pPr algn="ctr">
              <a:lnSpc>
                <a:spcPct val="110000"/>
              </a:lnSpc>
              <a:spcAft>
                <a:spcPts val="0"/>
              </a:spcAft>
            </a:pPr>
            <a:r>
              <a:rPr sz="1400" b="1">
                <a:solidFill>
                  <a:srgbClr val="1F2A5C"/>
                </a:solidFill>
                <a:latin typeface="メイリオ"/>
                <a:ea typeface="メイリオ"/>
                <a:cs typeface="メイリオ"/>
              </a:rPr>
              <a:t>友だち追加の直後</a:t>
            </a:r>
          </a:p>
        </p:txBody>
      </p:sp>
      <p:cxnSp>
        <p:nvCxnSpPr>
          <p:cNvPr id="69" name="Connector 68"/>
          <p:cNvCxnSpPr/>
          <p:nvPr/>
        </p:nvCxnSpPr>
        <p:spPr>
          <a:xfrm>
            <a:off x="372618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70" name="Rectangle 69"/>
          <p:cNvSpPr/>
          <p:nvPr/>
        </p:nvSpPr>
        <p:spPr>
          <a:xfrm>
            <a:off x="2697480" y="3337559"/>
            <a:ext cx="2057400" cy="274320"/>
          </a:xfrm>
          <a:prstGeom prst="rect">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LINE友だち追加</a:t>
            </a:r>
          </a:p>
        </p:txBody>
      </p:sp>
      <p:sp>
        <p:nvSpPr>
          <p:cNvPr id="71" name="Rectangle 70"/>
          <p:cNvSpPr/>
          <p:nvPr/>
        </p:nvSpPr>
        <p:spPr>
          <a:xfrm>
            <a:off x="2697480" y="3611880"/>
            <a:ext cx="205740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Day0 アンケート・診断</a:t>
            </a:r>
          </a:p>
        </p:txBody>
      </p:sp>
      <p:sp>
        <p:nvSpPr>
          <p:cNvPr id="72" name="TextBox 71"/>
          <p:cNvSpPr txBox="1"/>
          <p:nvPr/>
        </p:nvSpPr>
        <p:spPr>
          <a:xfrm>
            <a:off x="269748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属性・検討度を分け、</a:t>
            </a:r>
          </a:p>
          <a:p>
            <a:pPr algn="ctr">
              <a:lnSpc>
                <a:spcPct val="105000"/>
              </a:lnSpc>
              <a:spcAft>
                <a:spcPts val="200"/>
              </a:spcAft>
            </a:pPr>
            <a:r>
              <a:rPr sz="1050" b="0">
                <a:solidFill>
                  <a:srgbClr val="777777"/>
                </a:solidFill>
                <a:latin typeface="メイリオ"/>
                <a:ea typeface="メイリオ"/>
                <a:cs typeface="メイリオ"/>
              </a:rPr>
              <a:t>次の配信を出し分ける</a:t>
            </a:r>
          </a:p>
        </p:txBody>
      </p:sp>
      <p:sp>
        <p:nvSpPr>
          <p:cNvPr id="73" name="Rectangle 72"/>
          <p:cNvSpPr/>
          <p:nvPr/>
        </p:nvSpPr>
        <p:spPr>
          <a:xfrm>
            <a:off x="5120639" y="246888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短期集中トラック</a:t>
            </a:r>
          </a:p>
          <a:p>
            <a:pPr algn="ctr">
              <a:lnSpc>
                <a:spcPct val="110000"/>
              </a:lnSpc>
              <a:spcAft>
                <a:spcPts val="0"/>
              </a:spcAft>
            </a:pPr>
            <a:r>
              <a:rPr sz="1050" b="0">
                <a:solidFill>
                  <a:srgbClr val="333333"/>
                </a:solidFill>
                <a:latin typeface="メイリオ"/>
                <a:ea typeface="メイリオ"/>
                <a:cs typeface="メイリオ"/>
              </a:rPr>
              <a:t>Day0〜15｜検討度が高い方</a:t>
            </a:r>
          </a:p>
          <a:p>
            <a:pPr algn="ctr">
              <a:lnSpc>
                <a:spcPct val="110000"/>
              </a:lnSpc>
              <a:spcAft>
                <a:spcPts val="0"/>
              </a:spcAft>
            </a:pPr>
            <a:r>
              <a:rPr sz="1050" b="1">
                <a:solidFill>
                  <a:srgbClr val="333333"/>
                </a:solidFill>
                <a:latin typeface="メイリオ"/>
                <a:ea typeface="メイリオ"/>
                <a:cs typeface="メイリオ"/>
              </a:rPr>
              <a:t>15日の壁を超えるステップ配信</a:t>
            </a:r>
          </a:p>
        </p:txBody>
      </p:sp>
      <p:sp>
        <p:nvSpPr>
          <p:cNvPr id="74" name="Rectangle 73"/>
          <p:cNvSpPr/>
          <p:nvPr/>
        </p:nvSpPr>
        <p:spPr>
          <a:xfrm>
            <a:off x="5120639" y="374904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中長期トラック</a:t>
            </a:r>
          </a:p>
          <a:p>
            <a:pPr algn="ctr">
              <a:lnSpc>
                <a:spcPct val="110000"/>
              </a:lnSpc>
              <a:spcAft>
                <a:spcPts val="0"/>
              </a:spcAft>
            </a:pPr>
            <a:r>
              <a:rPr sz="1050" b="0">
                <a:solidFill>
                  <a:srgbClr val="333333"/>
                </a:solidFill>
                <a:latin typeface="メイリオ"/>
                <a:ea typeface="メイリオ"/>
                <a:cs typeface="メイリオ"/>
              </a:rPr>
              <a:t>15日以降｜検討度が中・低の方</a:t>
            </a:r>
          </a:p>
          <a:p>
            <a:pPr algn="ctr">
              <a:lnSpc>
                <a:spcPct val="110000"/>
              </a:lnSpc>
              <a:spcAft>
                <a:spcPts val="0"/>
              </a:spcAft>
            </a:pPr>
            <a:r>
              <a:rPr sz="1050" b="1">
                <a:solidFill>
                  <a:srgbClr val="333333"/>
                </a:solidFill>
                <a:latin typeface="メイリオ"/>
                <a:ea typeface="メイリオ"/>
                <a:cs typeface="メイリオ"/>
              </a:rPr>
              <a:t>シーズナリティ連動の企画配信</a:t>
            </a:r>
          </a:p>
        </p:txBody>
      </p:sp>
      <p:cxnSp>
        <p:nvCxnSpPr>
          <p:cNvPr id="75" name="Connector 74"/>
          <p:cNvCxnSpPr/>
          <p:nvPr/>
        </p:nvCxnSpPr>
        <p:spPr>
          <a:xfrm>
            <a:off x="4754880" y="3703319"/>
            <a:ext cx="146304"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6" name="Connector 75"/>
          <p:cNvCxnSpPr/>
          <p:nvPr/>
        </p:nvCxnSpPr>
        <p:spPr>
          <a:xfrm>
            <a:off x="4901184"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a:off x="4901184" y="299466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a:off x="4901184" y="427482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a:off x="6195059" y="3520440"/>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0" name="TextBox 79"/>
          <p:cNvSpPr txBox="1"/>
          <p:nvPr/>
        </p:nvSpPr>
        <p:spPr>
          <a:xfrm>
            <a:off x="6249923" y="3529583"/>
            <a:ext cx="914400" cy="210312"/>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15日後に合流</a:t>
            </a:r>
          </a:p>
        </p:txBody>
      </p:sp>
      <p:cxnSp>
        <p:nvCxnSpPr>
          <p:cNvPr id="81" name="Connector 80"/>
          <p:cNvCxnSpPr/>
          <p:nvPr/>
        </p:nvCxnSpPr>
        <p:spPr>
          <a:xfrm>
            <a:off x="7269479" y="299466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2" name="Connector 81"/>
          <p:cNvCxnSpPr/>
          <p:nvPr/>
        </p:nvCxnSpPr>
        <p:spPr>
          <a:xfrm>
            <a:off x="7269479" y="427482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7406639"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a:off x="7406639" y="3703319"/>
            <a:ext cx="228601"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5" name="Rectangle 84"/>
          <p:cNvSpPr/>
          <p:nvPr/>
        </p:nvSpPr>
        <p:spPr>
          <a:xfrm>
            <a:off x="7635240" y="2468880"/>
            <a:ext cx="1901952"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200" b="1">
                <a:solidFill>
                  <a:srgbClr val="1F2A5C"/>
                </a:solidFill>
                <a:latin typeface="メイリオ"/>
                <a:ea typeface="メイリオ"/>
                <a:cs typeface="メイリオ"/>
              </a:rPr>
              <a:t>不安・手続きの壁を</a:t>
            </a:r>
          </a:p>
          <a:p>
            <a:pPr algn="ctr">
              <a:lnSpc>
                <a:spcPct val="110000"/>
              </a:lnSpc>
              <a:spcAft>
                <a:spcPts val="0"/>
              </a:spcAft>
            </a:pPr>
            <a:r>
              <a:rPr sz="1200" b="1">
                <a:solidFill>
                  <a:srgbClr val="1F2A5C"/>
                </a:solidFill>
                <a:latin typeface="メイリオ"/>
                <a:ea typeface="メイリオ"/>
                <a:cs typeface="メイリオ"/>
              </a:rPr>
              <a:t>ひとつずつ解消</a:t>
            </a:r>
          </a:p>
        </p:txBody>
      </p:sp>
      <p:cxnSp>
        <p:nvCxnSpPr>
          <p:cNvPr id="86" name="Connector 85"/>
          <p:cNvCxnSpPr/>
          <p:nvPr/>
        </p:nvCxnSpPr>
        <p:spPr>
          <a:xfrm>
            <a:off x="8586216"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7" name="Rectangle 86"/>
          <p:cNvSpPr/>
          <p:nvPr/>
        </p:nvSpPr>
        <p:spPr>
          <a:xfrm>
            <a:off x="7635240" y="3337559"/>
            <a:ext cx="1901952" cy="73152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500" b="1">
                <a:solidFill>
                  <a:srgbClr val="FFFFFF"/>
                </a:solidFill>
                <a:latin typeface="メイリオ"/>
                <a:ea typeface="メイリオ"/>
                <a:cs typeface="メイリオ"/>
              </a:rPr>
              <a:t>CV</a:t>
            </a:r>
          </a:p>
          <a:p>
            <a:pPr algn="ctr">
              <a:lnSpc>
                <a:spcPct val="110000"/>
              </a:lnSpc>
              <a:spcAft>
                <a:spcPts val="0"/>
              </a:spcAft>
            </a:pPr>
            <a:r>
              <a:rPr sz="1100" b="0">
                <a:solidFill>
                  <a:srgbClr val="FFFFFF"/>
                </a:solidFill>
                <a:latin typeface="メイリオ"/>
                <a:ea typeface="メイリオ"/>
                <a:cs typeface="メイリオ"/>
              </a:rPr>
              <a:t>予約・面談・購入</a:t>
            </a:r>
          </a:p>
        </p:txBody>
      </p:sp>
      <p:cxnSp>
        <p:nvCxnSpPr>
          <p:cNvPr id="88" name="Connector 87"/>
          <p:cNvCxnSpPr/>
          <p:nvPr/>
        </p:nvCxnSpPr>
        <p:spPr>
          <a:xfrm>
            <a:off x="8586216" y="4087368"/>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9" name="Rectangle 88"/>
          <p:cNvSpPr/>
          <p:nvPr/>
        </p:nvSpPr>
        <p:spPr>
          <a:xfrm>
            <a:off x="7635240" y="4334255"/>
            <a:ext cx="1901952" cy="502920"/>
          </a:xfrm>
          <a:prstGeom prst="rect">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400" b="1">
                <a:solidFill>
                  <a:srgbClr val="FFFFFF"/>
                </a:solidFill>
                <a:latin typeface="メイリオ"/>
                <a:ea typeface="メイリオ"/>
                <a:cs typeface="メイリオ"/>
              </a:rPr>
              <a:t>CPA・CPO 改善</a:t>
            </a:r>
          </a:p>
        </p:txBody>
      </p:sp>
      <p:cxnSp>
        <p:nvCxnSpPr>
          <p:cNvPr id="90" name="Connector 89"/>
          <p:cNvCxnSpPr/>
          <p:nvPr/>
        </p:nvCxnSpPr>
        <p:spPr>
          <a:xfrm>
            <a:off x="365760" y="5074920"/>
            <a:ext cx="9171432" cy="0"/>
          </a:xfrm>
          <a:prstGeom prst="line">
            <a:avLst/>
          </a:prstGeom>
          <a:ln w="9525">
            <a:solidFill>
              <a:srgbClr val="D0D5E0"/>
            </a:solidFill>
          </a:ln>
        </p:spPr>
        <p:style>
          <a:lnRef idx="2">
            <a:schemeClr val="accent1"/>
          </a:lnRef>
          <a:fillRef idx="0">
            <a:schemeClr val="accent1"/>
          </a:fillRef>
          <a:effectRef idx="0">
            <a:schemeClr val="accent1"/>
          </a:effectRef>
          <a:fontRef idx="minor">
            <a:schemeClr val="tx1"/>
          </a:fontRef>
        </p:style>
      </p:cxnSp>
      <p:sp>
        <p:nvSpPr>
          <p:cNvPr id="91" name="TextBox 90"/>
          <p:cNvSpPr txBox="1"/>
          <p:nvPr/>
        </p:nvSpPr>
        <p:spPr>
          <a:xfrm>
            <a:off x="36576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見る数字：友だち追加数</a:t>
            </a:r>
          </a:p>
        </p:txBody>
      </p:sp>
      <p:sp>
        <p:nvSpPr>
          <p:cNvPr id="92" name="TextBox 91"/>
          <p:cNvSpPr txBox="1"/>
          <p:nvPr/>
        </p:nvSpPr>
        <p:spPr>
          <a:xfrm>
            <a:off x="269748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見る数字：回答率</a:t>
            </a:r>
          </a:p>
        </p:txBody>
      </p:sp>
      <p:sp>
        <p:nvSpPr>
          <p:cNvPr id="93" name="TextBox 92"/>
          <p:cNvSpPr txBox="1"/>
          <p:nvPr/>
        </p:nvSpPr>
        <p:spPr>
          <a:xfrm>
            <a:off x="5120639" y="5120639"/>
            <a:ext cx="214884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見る数字：開封率・クリック率</a:t>
            </a:r>
          </a:p>
        </p:txBody>
      </p:sp>
      <p:sp>
        <p:nvSpPr>
          <p:cNvPr id="94" name="TextBox 93"/>
          <p:cNvSpPr txBox="1"/>
          <p:nvPr/>
        </p:nvSpPr>
        <p:spPr>
          <a:xfrm>
            <a:off x="7406639" y="5120639"/>
            <a:ext cx="2130552"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見る数字：CV数・CPA・CPO</a:t>
            </a:r>
          </a:p>
        </p:txBody>
      </p:sp>
      <p:sp>
        <p:nvSpPr>
          <p:cNvPr id="95" name="Rectangle 94"/>
          <p:cNvSpPr/>
          <p:nvPr/>
        </p:nvSpPr>
        <p:spPr>
          <a:xfrm>
            <a:off x="365760" y="5623560"/>
            <a:ext cx="9171432" cy="43891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取りこぼしていた約99%を、LINEで追い続けてCVに変える</a:t>
            </a:r>
          </a:p>
        </p:txBody>
      </p:sp>
    </p:spTree>
    <p:extLst>
      <p:ext uri="{BB962C8B-B14F-4D97-AF65-F5344CB8AC3E}">
        <p14:creationId xmlns:p14="http://schemas.microsoft.com/office/powerpoint/2010/main" val="29139488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9BA6-A528-73A9-B0F4-DEDDF51B3A4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5F0E4CA-460F-19EB-3FE1-5585A9B3E061}"/>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5CD68471-CCDB-50E6-0285-35BF38F933E4}"/>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93E92412-8323-7637-01F3-37AEDFFA3E18}"/>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D4A0FD7C-1D07-79B6-CA6F-47DF2D8CF1E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初期に整える標準設定と、運用しながら改善する施策の一覧</a:t>
            </a:r>
            <a:endParaRPr lang="ja-JP" altLang="en-US" sz="1000" dirty="0"/>
          </a:p>
        </p:txBody>
      </p:sp>
      <p:sp>
        <p:nvSpPr>
          <p:cNvPr id="9" name="テキスト ボックス 8">
            <a:extLst>
              <a:ext uri="{FF2B5EF4-FFF2-40B4-BE49-F238E27FC236}">
                <a16:creationId xmlns:a16="http://schemas.microsoft.com/office/drawing/2014/main" id="{FBA2E1AE-C51F-8327-AEB6-88548FDE3911}"/>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2" name="Rectangle 3">
            <a:extLst>
              <a:ext uri="{FF2B5EF4-FFF2-40B4-BE49-F238E27FC236}">
                <a16:creationId xmlns:a16="http://schemas.microsoft.com/office/drawing/2014/main" id="{8EDF250F-68CF-F752-3821-E813039B5143}"/>
              </a:ext>
            </a:extLst>
          </p:cNvPr>
          <p:cNvSpPr/>
          <p:nvPr/>
        </p:nvSpPr>
        <p:spPr>
          <a:xfrm>
            <a:off x="384048" y="1751297"/>
            <a:ext cx="3611880" cy="256032"/>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初期の標準設定（構築時に設定）</a:t>
            </a:r>
          </a:p>
        </p:txBody>
      </p:sp>
      <p:sp>
        <p:nvSpPr>
          <p:cNvPr id="4" name="Rectangle 4">
            <a:extLst>
              <a:ext uri="{FF2B5EF4-FFF2-40B4-BE49-F238E27FC236}">
                <a16:creationId xmlns:a16="http://schemas.microsoft.com/office/drawing/2014/main" id="{00BC86A0-1945-0E28-F906-696A5BE460B5}"/>
              </a:ext>
            </a:extLst>
          </p:cNvPr>
          <p:cNvSpPr/>
          <p:nvPr/>
        </p:nvSpPr>
        <p:spPr>
          <a:xfrm>
            <a:off x="384048" y="2027227"/>
            <a:ext cx="3611880" cy="438307"/>
          </a:xfrm>
          <a:prstGeom prst="rect">
            <a:avLst/>
          </a:prstGeom>
          <a:solidFill>
            <a:srgbClr val="EEF1F8"/>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 name="Rounded Rectangle 5">
            <a:extLst>
              <a:ext uri="{FF2B5EF4-FFF2-40B4-BE49-F238E27FC236}">
                <a16:creationId xmlns:a16="http://schemas.microsoft.com/office/drawing/2014/main" id="{9590B812-0BE4-8959-A859-DFBF68A13331}"/>
              </a:ext>
            </a:extLst>
          </p:cNvPr>
          <p:cNvSpPr/>
          <p:nvPr/>
        </p:nvSpPr>
        <p:spPr>
          <a:xfrm>
            <a:off x="457200"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② 挨拶メッセージ</a:t>
            </a:r>
          </a:p>
        </p:txBody>
      </p:sp>
      <p:sp>
        <p:nvSpPr>
          <p:cNvPr id="8" name="Rounded Rectangle 6">
            <a:extLst>
              <a:ext uri="{FF2B5EF4-FFF2-40B4-BE49-F238E27FC236}">
                <a16:creationId xmlns:a16="http://schemas.microsoft.com/office/drawing/2014/main" id="{C604752C-4276-622A-392D-CD8A49B0584B}"/>
              </a:ext>
            </a:extLst>
          </p:cNvPr>
          <p:cNvSpPr/>
          <p:nvPr/>
        </p:nvSpPr>
        <p:spPr>
          <a:xfrm>
            <a:off x="1627632"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⑦ リッチメニュー</a:t>
            </a:r>
          </a:p>
        </p:txBody>
      </p:sp>
      <p:sp>
        <p:nvSpPr>
          <p:cNvPr id="10" name="Rounded Rectangle 7">
            <a:extLst>
              <a:ext uri="{FF2B5EF4-FFF2-40B4-BE49-F238E27FC236}">
                <a16:creationId xmlns:a16="http://schemas.microsoft.com/office/drawing/2014/main" id="{1F06A184-DB9D-F2CB-0471-0929DEE9A890}"/>
              </a:ext>
            </a:extLst>
          </p:cNvPr>
          <p:cNvSpPr/>
          <p:nvPr/>
        </p:nvSpPr>
        <p:spPr>
          <a:xfrm>
            <a:off x="2798064"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⑧ 自動応答</a:t>
            </a:r>
          </a:p>
        </p:txBody>
      </p:sp>
      <p:sp>
        <p:nvSpPr>
          <p:cNvPr id="11" name="Rectangle 8">
            <a:extLst>
              <a:ext uri="{FF2B5EF4-FFF2-40B4-BE49-F238E27FC236}">
                <a16:creationId xmlns:a16="http://schemas.microsoft.com/office/drawing/2014/main" id="{021E765B-A271-DE02-1792-DC9E5CE154F8}"/>
              </a:ext>
            </a:extLst>
          </p:cNvPr>
          <p:cNvSpPr/>
          <p:nvPr/>
        </p:nvSpPr>
        <p:spPr>
          <a:xfrm>
            <a:off x="4160520" y="1751297"/>
            <a:ext cx="5367528" cy="2560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運用施策（運用しながら改善）</a:t>
            </a:r>
          </a:p>
        </p:txBody>
      </p:sp>
      <p:sp>
        <p:nvSpPr>
          <p:cNvPr id="12" name="Rectangle 9">
            <a:extLst>
              <a:ext uri="{FF2B5EF4-FFF2-40B4-BE49-F238E27FC236}">
                <a16:creationId xmlns:a16="http://schemas.microsoft.com/office/drawing/2014/main" id="{99190E0E-1162-5C21-4FF0-A5498319FCC2}"/>
              </a:ext>
            </a:extLst>
          </p:cNvPr>
          <p:cNvSpPr/>
          <p:nvPr/>
        </p:nvSpPr>
        <p:spPr>
          <a:xfrm>
            <a:off x="4160520" y="2027227"/>
            <a:ext cx="5367528" cy="438307"/>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3" name="Rounded Rectangle 10">
            <a:extLst>
              <a:ext uri="{FF2B5EF4-FFF2-40B4-BE49-F238E27FC236}">
                <a16:creationId xmlns:a16="http://schemas.microsoft.com/office/drawing/2014/main" id="{6525B561-FBF1-FB44-C0A8-CC3FE6C9680F}"/>
              </a:ext>
            </a:extLst>
          </p:cNvPr>
          <p:cNvSpPr/>
          <p:nvPr/>
        </p:nvSpPr>
        <p:spPr>
          <a:xfrm>
            <a:off x="4224528"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① ポップアップ</a:t>
            </a:r>
          </a:p>
        </p:txBody>
      </p:sp>
      <p:sp>
        <p:nvSpPr>
          <p:cNvPr id="14" name="Rounded Rectangle 11">
            <a:extLst>
              <a:ext uri="{FF2B5EF4-FFF2-40B4-BE49-F238E27FC236}">
                <a16:creationId xmlns:a16="http://schemas.microsoft.com/office/drawing/2014/main" id="{C4024D48-4A70-13B2-70F7-88912D787030}"/>
              </a:ext>
            </a:extLst>
          </p:cNvPr>
          <p:cNvSpPr/>
          <p:nvPr/>
        </p:nvSpPr>
        <p:spPr>
          <a:xfrm>
            <a:off x="5266944"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③ アンケート</a:t>
            </a:r>
          </a:p>
        </p:txBody>
      </p:sp>
      <p:sp>
        <p:nvSpPr>
          <p:cNvPr id="15" name="Rounded Rectangle 12">
            <a:extLst>
              <a:ext uri="{FF2B5EF4-FFF2-40B4-BE49-F238E27FC236}">
                <a16:creationId xmlns:a16="http://schemas.microsoft.com/office/drawing/2014/main" id="{D6345F19-2B8B-BAED-2EDE-1419C87C7D29}"/>
              </a:ext>
            </a:extLst>
          </p:cNvPr>
          <p:cNvSpPr/>
          <p:nvPr/>
        </p:nvSpPr>
        <p:spPr>
          <a:xfrm>
            <a:off x="6309360"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dirty="0">
                <a:solidFill>
                  <a:srgbClr val="C8102E"/>
                </a:solidFill>
                <a:latin typeface="メイリオ" panose="020B0604030504040204" pitchFamily="50" charset="-128"/>
                <a:ea typeface="メイリオ" panose="020B0604030504040204" pitchFamily="50" charset="-128"/>
                <a:cs typeface="メイリオ"/>
              </a:rPr>
              <a:t>④ </a:t>
            </a:r>
            <a:r>
              <a:rPr sz="800" b="1" dirty="0" err="1">
                <a:solidFill>
                  <a:srgbClr val="C8102E"/>
                </a:solidFill>
                <a:latin typeface="メイリオ" panose="020B0604030504040204" pitchFamily="50" charset="-128"/>
                <a:ea typeface="メイリオ" panose="020B0604030504040204" pitchFamily="50" charset="-128"/>
                <a:cs typeface="メイリオ"/>
              </a:rPr>
              <a:t>タグ</a:t>
            </a:r>
            <a:endParaRPr lang="en-US" sz="800" b="1" dirty="0">
              <a:solidFill>
                <a:srgbClr val="C8102E"/>
              </a:solidFill>
              <a:latin typeface="メイリオ" panose="020B0604030504040204" pitchFamily="50" charset="-128"/>
              <a:ea typeface="メイリオ" panose="020B0604030504040204" pitchFamily="50" charset="-128"/>
              <a:cs typeface="メイリオ"/>
            </a:endParaRPr>
          </a:p>
          <a:p>
            <a:pPr algn="ctr">
              <a:spcAft>
                <a:spcPts val="0"/>
              </a:spcAft>
            </a:pPr>
            <a:r>
              <a:rPr sz="800" b="1" dirty="0" err="1">
                <a:solidFill>
                  <a:srgbClr val="C8102E"/>
                </a:solidFill>
                <a:latin typeface="メイリオ" panose="020B0604030504040204" pitchFamily="50" charset="-128"/>
                <a:ea typeface="メイリオ" panose="020B0604030504040204" pitchFamily="50" charset="-128"/>
                <a:cs typeface="メイリオ"/>
              </a:rPr>
              <a:t>セグメント</a:t>
            </a:r>
            <a:endParaRPr sz="800" b="1" dirty="0">
              <a:solidFill>
                <a:srgbClr val="C8102E"/>
              </a:solidFill>
              <a:latin typeface="メイリオ" panose="020B0604030504040204" pitchFamily="50" charset="-128"/>
              <a:ea typeface="メイリオ" panose="020B0604030504040204" pitchFamily="50" charset="-128"/>
              <a:cs typeface="メイリオ"/>
            </a:endParaRPr>
          </a:p>
        </p:txBody>
      </p:sp>
      <p:sp>
        <p:nvSpPr>
          <p:cNvPr id="16" name="Rounded Rectangle 13">
            <a:extLst>
              <a:ext uri="{FF2B5EF4-FFF2-40B4-BE49-F238E27FC236}">
                <a16:creationId xmlns:a16="http://schemas.microsoft.com/office/drawing/2014/main" id="{B6BAB4F4-45CE-B7A8-528B-A94A518CCAAA}"/>
              </a:ext>
            </a:extLst>
          </p:cNvPr>
          <p:cNvSpPr/>
          <p:nvPr/>
        </p:nvSpPr>
        <p:spPr>
          <a:xfrm>
            <a:off x="7351775"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⑤ ステップ配信</a:t>
            </a:r>
          </a:p>
        </p:txBody>
      </p:sp>
      <p:sp>
        <p:nvSpPr>
          <p:cNvPr id="17" name="Rounded Rectangle 14">
            <a:extLst>
              <a:ext uri="{FF2B5EF4-FFF2-40B4-BE49-F238E27FC236}">
                <a16:creationId xmlns:a16="http://schemas.microsoft.com/office/drawing/2014/main" id="{F70AA91C-29B1-D2A6-C89C-6EE4F60F14DB}"/>
              </a:ext>
            </a:extLst>
          </p:cNvPr>
          <p:cNvSpPr/>
          <p:nvPr/>
        </p:nvSpPr>
        <p:spPr>
          <a:xfrm>
            <a:off x="8394192"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⑥ 企画配信</a:t>
            </a:r>
          </a:p>
        </p:txBody>
      </p:sp>
      <p:sp>
        <p:nvSpPr>
          <p:cNvPr id="18" name="Rectangle 15">
            <a:extLst>
              <a:ext uri="{FF2B5EF4-FFF2-40B4-BE49-F238E27FC236}">
                <a16:creationId xmlns:a16="http://schemas.microsoft.com/office/drawing/2014/main" id="{013A02CB-0DA2-C819-A363-A0BFC4E5F783}"/>
              </a:ext>
            </a:extLst>
          </p:cNvPr>
          <p:cNvSpPr/>
          <p:nvPr/>
        </p:nvSpPr>
        <p:spPr>
          <a:xfrm>
            <a:off x="384048" y="2586136"/>
            <a:ext cx="2468880" cy="1657418"/>
          </a:xfrm>
          <a:prstGeom prst="rect">
            <a:avLst/>
          </a:prstGeom>
          <a:solidFill>
            <a:srgbClr val="FFFFFF"/>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9" name="Rectangle 16">
            <a:extLst>
              <a:ext uri="{FF2B5EF4-FFF2-40B4-BE49-F238E27FC236}">
                <a16:creationId xmlns:a16="http://schemas.microsoft.com/office/drawing/2014/main" id="{E86D2C36-78EC-6854-E4E1-7334CABCDC1A}"/>
              </a:ext>
            </a:extLst>
          </p:cNvPr>
          <p:cNvSpPr/>
          <p:nvPr/>
        </p:nvSpPr>
        <p:spPr>
          <a:xfrm>
            <a:off x="384048" y="2588622"/>
            <a:ext cx="2468880" cy="2377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0" name="Oval 17">
            <a:extLst>
              <a:ext uri="{FF2B5EF4-FFF2-40B4-BE49-F238E27FC236}">
                <a16:creationId xmlns:a16="http://schemas.microsoft.com/office/drawing/2014/main" id="{094197D1-B3A2-167E-A162-4DA5857C26B2}"/>
              </a:ext>
            </a:extLst>
          </p:cNvPr>
          <p:cNvSpPr/>
          <p:nvPr/>
        </p:nvSpPr>
        <p:spPr>
          <a:xfrm>
            <a:off x="457200" y="2661774"/>
            <a:ext cx="91440" cy="9144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1" name="Oval 18">
            <a:extLst>
              <a:ext uri="{FF2B5EF4-FFF2-40B4-BE49-F238E27FC236}">
                <a16:creationId xmlns:a16="http://schemas.microsoft.com/office/drawing/2014/main" id="{1C9CC394-D94D-C09E-632E-D667409C8EAC}"/>
              </a:ext>
            </a:extLst>
          </p:cNvPr>
          <p:cNvSpPr/>
          <p:nvPr/>
        </p:nvSpPr>
        <p:spPr>
          <a:xfrm>
            <a:off x="612648" y="2661774"/>
            <a:ext cx="91440" cy="91440"/>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2" name="Oval 19">
            <a:extLst>
              <a:ext uri="{FF2B5EF4-FFF2-40B4-BE49-F238E27FC236}">
                <a16:creationId xmlns:a16="http://schemas.microsoft.com/office/drawing/2014/main" id="{1E0A0DDB-0FA0-A8C4-EFC1-1987BE7B342B}"/>
              </a:ext>
            </a:extLst>
          </p:cNvPr>
          <p:cNvSpPr/>
          <p:nvPr/>
        </p:nvSpPr>
        <p:spPr>
          <a:xfrm>
            <a:off x="768096" y="2661774"/>
            <a:ext cx="91440" cy="91440"/>
          </a:xfrm>
          <a:prstGeom prst="ellipse">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3" name="Rectangle 20">
            <a:extLst>
              <a:ext uri="{FF2B5EF4-FFF2-40B4-BE49-F238E27FC236}">
                <a16:creationId xmlns:a16="http://schemas.microsoft.com/office/drawing/2014/main" id="{C7D8DE35-18E9-B2F8-EBB6-F5D39FC00825}"/>
              </a:ext>
            </a:extLst>
          </p:cNvPr>
          <p:cNvSpPr/>
          <p:nvPr/>
        </p:nvSpPr>
        <p:spPr>
          <a:xfrm>
            <a:off x="475488" y="2862942"/>
            <a:ext cx="1005840" cy="91440"/>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4" name="Rectangle 21">
            <a:extLst>
              <a:ext uri="{FF2B5EF4-FFF2-40B4-BE49-F238E27FC236}">
                <a16:creationId xmlns:a16="http://schemas.microsoft.com/office/drawing/2014/main" id="{5A60E50B-1463-C428-350C-6B20BB14F600}"/>
              </a:ext>
            </a:extLst>
          </p:cNvPr>
          <p:cNvSpPr/>
          <p:nvPr/>
        </p:nvSpPr>
        <p:spPr>
          <a:xfrm>
            <a:off x="475488" y="3000102"/>
            <a:ext cx="228600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5" name="Rectangle 22">
            <a:extLst>
              <a:ext uri="{FF2B5EF4-FFF2-40B4-BE49-F238E27FC236}">
                <a16:creationId xmlns:a16="http://schemas.microsoft.com/office/drawing/2014/main" id="{51632E22-3CBA-3EB1-097C-B5A452ACFB3F}"/>
              </a:ext>
            </a:extLst>
          </p:cNvPr>
          <p:cNvSpPr/>
          <p:nvPr/>
        </p:nvSpPr>
        <p:spPr>
          <a:xfrm>
            <a:off x="475488" y="3109830"/>
            <a:ext cx="201168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6" name="Rectangle 23">
            <a:extLst>
              <a:ext uri="{FF2B5EF4-FFF2-40B4-BE49-F238E27FC236}">
                <a16:creationId xmlns:a16="http://schemas.microsoft.com/office/drawing/2014/main" id="{A95F03D9-D5D2-F49D-3FA0-8D85F2FD1C45}"/>
              </a:ext>
            </a:extLst>
          </p:cNvPr>
          <p:cNvSpPr/>
          <p:nvPr/>
        </p:nvSpPr>
        <p:spPr>
          <a:xfrm>
            <a:off x="475488"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7" name="Rectangle 24">
            <a:extLst>
              <a:ext uri="{FF2B5EF4-FFF2-40B4-BE49-F238E27FC236}">
                <a16:creationId xmlns:a16="http://schemas.microsoft.com/office/drawing/2014/main" id="{9C4DBD8F-DB8B-6351-EA24-784802E89E28}"/>
              </a:ext>
            </a:extLst>
          </p:cNvPr>
          <p:cNvSpPr/>
          <p:nvPr/>
        </p:nvSpPr>
        <p:spPr>
          <a:xfrm>
            <a:off x="1417320"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8" name="Rounded Rectangle 25">
            <a:extLst>
              <a:ext uri="{FF2B5EF4-FFF2-40B4-BE49-F238E27FC236}">
                <a16:creationId xmlns:a16="http://schemas.microsoft.com/office/drawing/2014/main" id="{1214AD64-46E6-CE51-6B77-7D205CC291B6}"/>
              </a:ext>
            </a:extLst>
          </p:cNvPr>
          <p:cNvSpPr/>
          <p:nvPr/>
        </p:nvSpPr>
        <p:spPr>
          <a:xfrm>
            <a:off x="825135" y="3159858"/>
            <a:ext cx="1783080" cy="982414"/>
          </a:xfrm>
          <a:prstGeom prst="roundRect">
            <a:avLst/>
          </a:prstGeom>
          <a:solidFill>
            <a:srgbClr val="FFFFFF"/>
          </a:solidFill>
          <a:ln w="254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ご予約・お問い合わせ前に</a:t>
            </a:r>
            <a:endParaRPr sz="700" b="0" dirty="0">
              <a:solidFill>
                <a:srgbClr val="777777"/>
              </a:solidFill>
              <a:latin typeface="メイリオ" panose="020B0604030504040204" pitchFamily="50" charset="-128"/>
              <a:ea typeface="メイリオ" panose="020B0604030504040204" pitchFamily="50" charset="-128"/>
              <a:cs typeface="メイリオ"/>
            </a:endParaRPr>
          </a:p>
          <a:p>
            <a:pPr algn="ctr">
              <a:spcAft>
                <a:spcPts val="0"/>
              </a:spcAft>
            </a:pPr>
            <a:r>
              <a:rPr sz="900" b="1" dirty="0" err="1">
                <a:solidFill>
                  <a:srgbClr val="1F2A5C"/>
                </a:solidFill>
                <a:latin typeface="メイリオ" panose="020B0604030504040204" pitchFamily="50" charset="-128"/>
                <a:ea typeface="メイリオ" panose="020B0604030504040204" pitchFamily="50" charset="-128"/>
                <a:cs typeface="メイリオ"/>
              </a:rPr>
              <a:t>LINE友だち追加で特典</a:t>
            </a:r>
            <a:r>
              <a:rPr sz="900" b="1" dirty="0">
                <a:solidFill>
                  <a:srgbClr val="1F2A5C"/>
                </a:solidFill>
                <a:latin typeface="メイリオ" panose="020B0604030504040204" pitchFamily="50" charset="-128"/>
                <a:ea typeface="メイリオ" panose="020B0604030504040204" pitchFamily="50" charset="-128"/>
                <a:cs typeface="メイリオ"/>
              </a:rPr>
              <a:t>！</a:t>
            </a: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sz="9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Rounded Rectangle 26">
            <a:extLst>
              <a:ext uri="{FF2B5EF4-FFF2-40B4-BE49-F238E27FC236}">
                <a16:creationId xmlns:a16="http://schemas.microsoft.com/office/drawing/2014/main" id="{998E2A17-395F-CCDF-55C9-6834BD58C112}"/>
              </a:ext>
            </a:extLst>
          </p:cNvPr>
          <p:cNvSpPr/>
          <p:nvPr/>
        </p:nvSpPr>
        <p:spPr>
          <a:xfrm>
            <a:off x="1099455" y="3688154"/>
            <a:ext cx="1234440" cy="332509"/>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友だち追加</a:t>
            </a:r>
          </a:p>
        </p:txBody>
      </p:sp>
      <p:sp>
        <p:nvSpPr>
          <p:cNvPr id="30" name="Oval 27">
            <a:extLst>
              <a:ext uri="{FF2B5EF4-FFF2-40B4-BE49-F238E27FC236}">
                <a16:creationId xmlns:a16="http://schemas.microsoft.com/office/drawing/2014/main" id="{AD747F76-72D9-179D-BBA8-F6B4DCA2093D}"/>
              </a:ext>
            </a:extLst>
          </p:cNvPr>
          <p:cNvSpPr/>
          <p:nvPr/>
        </p:nvSpPr>
        <p:spPr>
          <a:xfrm>
            <a:off x="596535" y="2995984"/>
            <a:ext cx="292608" cy="266007"/>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1</a:t>
            </a:r>
          </a:p>
        </p:txBody>
      </p:sp>
      <p:sp>
        <p:nvSpPr>
          <p:cNvPr id="31" name="Rectangle 28">
            <a:extLst>
              <a:ext uri="{FF2B5EF4-FFF2-40B4-BE49-F238E27FC236}">
                <a16:creationId xmlns:a16="http://schemas.microsoft.com/office/drawing/2014/main" id="{1010E9AC-BCA0-BF47-C7F8-A152DF96AA04}"/>
              </a:ext>
            </a:extLst>
          </p:cNvPr>
          <p:cNvSpPr/>
          <p:nvPr/>
        </p:nvSpPr>
        <p:spPr>
          <a:xfrm>
            <a:off x="384048" y="4234536"/>
            <a:ext cx="2468880" cy="502920"/>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dirty="0">
                <a:solidFill>
                  <a:srgbClr val="C8102E"/>
                </a:solidFill>
                <a:latin typeface="メイリオ" panose="020B0604030504040204" pitchFamily="50" charset="-128"/>
                <a:ea typeface="メイリオ" panose="020B0604030504040204" pitchFamily="50" charset="-128"/>
                <a:cs typeface="メイリオ"/>
              </a:rPr>
              <a:t>① </a:t>
            </a:r>
            <a:r>
              <a:rPr sz="1000" b="1" dirty="0" err="1">
                <a:solidFill>
                  <a:srgbClr val="C8102E"/>
                </a:solidFill>
                <a:latin typeface="メイリオ" panose="020B0604030504040204" pitchFamily="50" charset="-128"/>
                <a:ea typeface="メイリオ" panose="020B0604030504040204" pitchFamily="50" charset="-128"/>
                <a:cs typeface="メイリオ"/>
              </a:rPr>
              <a:t>サイトのポップアップ</a:t>
            </a:r>
            <a:endParaRPr sz="1000" b="1" dirty="0">
              <a:solidFill>
                <a:srgbClr val="C8102E"/>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サイトからLINEへ誘導（専用ツール</a:t>
            </a:r>
            <a:r>
              <a:rPr sz="800" b="0" dirty="0">
                <a:solidFill>
                  <a:srgbClr val="333333"/>
                </a:solidFill>
                <a:latin typeface="メイリオ" panose="020B0604030504040204" pitchFamily="50" charset="-128"/>
                <a:ea typeface="メイリオ" panose="020B0604030504040204" pitchFamily="50" charset="-128"/>
                <a:cs typeface="メイリオ"/>
              </a:rPr>
              <a:t>）</a:t>
            </a:r>
          </a:p>
        </p:txBody>
      </p:sp>
      <p:sp>
        <p:nvSpPr>
          <p:cNvPr id="32" name="Rectangle 29">
            <a:extLst>
              <a:ext uri="{FF2B5EF4-FFF2-40B4-BE49-F238E27FC236}">
                <a16:creationId xmlns:a16="http://schemas.microsoft.com/office/drawing/2014/main" id="{C9B761A3-7BC1-BEDC-5294-579F8513A3B8}"/>
              </a:ext>
            </a:extLst>
          </p:cNvPr>
          <p:cNvSpPr/>
          <p:nvPr/>
        </p:nvSpPr>
        <p:spPr>
          <a:xfrm>
            <a:off x="384048" y="4900742"/>
            <a:ext cx="2468880" cy="1463040"/>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3" name="Rectangle 30">
            <a:extLst>
              <a:ext uri="{FF2B5EF4-FFF2-40B4-BE49-F238E27FC236}">
                <a16:creationId xmlns:a16="http://schemas.microsoft.com/office/drawing/2014/main" id="{D5B2D1C3-B341-4022-F0D3-00797EE985D3}"/>
              </a:ext>
            </a:extLst>
          </p:cNvPr>
          <p:cNvSpPr/>
          <p:nvPr/>
        </p:nvSpPr>
        <p:spPr>
          <a:xfrm>
            <a:off x="384048" y="4900742"/>
            <a:ext cx="2468880" cy="2926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④ タグ・セグメント</a:t>
            </a:r>
          </a:p>
        </p:txBody>
      </p:sp>
      <p:sp>
        <p:nvSpPr>
          <p:cNvPr id="34" name="Oval 31">
            <a:extLst>
              <a:ext uri="{FF2B5EF4-FFF2-40B4-BE49-F238E27FC236}">
                <a16:creationId xmlns:a16="http://schemas.microsoft.com/office/drawing/2014/main" id="{44AA6966-72C4-4DBF-CD4A-516799942AE3}"/>
              </a:ext>
            </a:extLst>
          </p:cNvPr>
          <p:cNvSpPr/>
          <p:nvPr/>
        </p:nvSpPr>
        <p:spPr>
          <a:xfrm>
            <a:off x="502920" y="5266502"/>
            <a:ext cx="256032" cy="256032"/>
          </a:xfrm>
          <a:prstGeom prst="ellipse">
            <a:avLst/>
          </a:prstGeom>
          <a:solidFill>
            <a:srgbClr val="B8C2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5" name="Rectangle 32">
            <a:extLst>
              <a:ext uri="{FF2B5EF4-FFF2-40B4-BE49-F238E27FC236}">
                <a16:creationId xmlns:a16="http://schemas.microsoft.com/office/drawing/2014/main" id="{7E386317-C0CE-5DF8-898B-CDBB3753252D}"/>
              </a:ext>
            </a:extLst>
          </p:cNvPr>
          <p:cNvSpPr/>
          <p:nvPr/>
        </p:nvSpPr>
        <p:spPr>
          <a:xfrm>
            <a:off x="822960" y="5275646"/>
            <a:ext cx="6400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Aさん</a:t>
            </a:r>
          </a:p>
        </p:txBody>
      </p:sp>
      <p:sp>
        <p:nvSpPr>
          <p:cNvPr id="36" name="Rounded Rectangle 33">
            <a:extLst>
              <a:ext uri="{FF2B5EF4-FFF2-40B4-BE49-F238E27FC236}">
                <a16:creationId xmlns:a16="http://schemas.microsoft.com/office/drawing/2014/main" id="{FDBC4478-2C7F-2573-7388-907010AB0607}"/>
              </a:ext>
            </a:extLst>
          </p:cNvPr>
          <p:cNvSpPr/>
          <p:nvPr/>
        </p:nvSpPr>
        <p:spPr>
          <a:xfrm>
            <a:off x="502920" y="5586542"/>
            <a:ext cx="105156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運動に興味</a:t>
            </a:r>
          </a:p>
        </p:txBody>
      </p:sp>
      <p:sp>
        <p:nvSpPr>
          <p:cNvPr id="37" name="Rounded Rectangle 34">
            <a:extLst>
              <a:ext uri="{FF2B5EF4-FFF2-40B4-BE49-F238E27FC236}">
                <a16:creationId xmlns:a16="http://schemas.microsoft.com/office/drawing/2014/main" id="{8BC31972-FFC1-17C4-77C9-69243CB4E570}"/>
              </a:ext>
            </a:extLst>
          </p:cNvPr>
          <p:cNvSpPr/>
          <p:nvPr/>
        </p:nvSpPr>
        <p:spPr>
          <a:xfrm>
            <a:off x="1627632" y="5586542"/>
            <a:ext cx="109728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乗車5回以上</a:t>
            </a:r>
          </a:p>
        </p:txBody>
      </p:sp>
      <p:sp>
        <p:nvSpPr>
          <p:cNvPr id="38" name="Rectangle 35">
            <a:extLst>
              <a:ext uri="{FF2B5EF4-FFF2-40B4-BE49-F238E27FC236}">
                <a16:creationId xmlns:a16="http://schemas.microsoft.com/office/drawing/2014/main" id="{EFFFAAD6-D553-33A2-0CDA-D0F89C23C45A}"/>
              </a:ext>
            </a:extLst>
          </p:cNvPr>
          <p:cNvSpPr/>
          <p:nvPr/>
        </p:nvSpPr>
        <p:spPr>
          <a:xfrm>
            <a:off x="475488" y="5879150"/>
            <a:ext cx="22860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t"/>
          <a:lstStyle/>
          <a:p>
            <a:pPr algn="l">
              <a:spcAft>
                <a:spcPts val="0"/>
              </a:spcAft>
            </a:pPr>
            <a:r>
              <a:rPr sz="800" b="1" dirty="0" err="1">
                <a:solidFill>
                  <a:srgbClr val="1F2A5C"/>
                </a:solidFill>
                <a:latin typeface="メイリオ" panose="020B0604030504040204" pitchFamily="50" charset="-128"/>
                <a:ea typeface="メイリオ" panose="020B0604030504040204" pitchFamily="50" charset="-128"/>
                <a:cs typeface="メイリオ"/>
              </a:rPr>
              <a:t>タグで対象を絞る</a:t>
            </a:r>
            <a:endParaRPr lang="en-US"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1" dirty="0">
                <a:solidFill>
                  <a:srgbClr val="1F2A5C"/>
                </a:solidFill>
                <a:latin typeface="メイリオ" panose="020B0604030504040204" pitchFamily="50" charset="-128"/>
                <a:ea typeface="メイリオ" panose="020B0604030504040204" pitchFamily="50" charset="-128"/>
                <a:cs typeface="メイリオ"/>
              </a:rPr>
              <a:t>→「</a:t>
            </a:r>
            <a:r>
              <a:rPr sz="800" b="1" dirty="0" err="1">
                <a:solidFill>
                  <a:srgbClr val="1F2A5C"/>
                </a:solidFill>
                <a:latin typeface="メイリオ" panose="020B0604030504040204" pitchFamily="50" charset="-128"/>
                <a:ea typeface="メイリオ" panose="020B0604030504040204" pitchFamily="50" charset="-128"/>
                <a:cs typeface="メイリオ"/>
              </a:rPr>
              <a:t>運動に興味」の人だけに配信</a:t>
            </a:r>
            <a:endParaRPr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標準＋APIツール</a:t>
            </a:r>
            <a:endParaRPr sz="700" b="0" dirty="0">
              <a:solidFill>
                <a:srgbClr val="777777"/>
              </a:solidFill>
              <a:latin typeface="メイリオ" panose="020B0604030504040204" pitchFamily="50" charset="-128"/>
              <a:ea typeface="メイリオ" panose="020B0604030504040204" pitchFamily="50" charset="-128"/>
              <a:cs typeface="メイリオ"/>
            </a:endParaRPr>
          </a:p>
        </p:txBody>
      </p:sp>
      <p:sp>
        <p:nvSpPr>
          <p:cNvPr id="39" name="Rounded Rectangle 36">
            <a:extLst>
              <a:ext uri="{FF2B5EF4-FFF2-40B4-BE49-F238E27FC236}">
                <a16:creationId xmlns:a16="http://schemas.microsoft.com/office/drawing/2014/main" id="{EB89F4C5-3674-C37F-0213-9BCB6D7C0FCB}"/>
              </a:ext>
            </a:extLst>
          </p:cNvPr>
          <p:cNvSpPr/>
          <p:nvPr/>
        </p:nvSpPr>
        <p:spPr>
          <a:xfrm>
            <a:off x="3200400" y="2663021"/>
            <a:ext cx="2514600" cy="3865418"/>
          </a:xfrm>
          <a:prstGeom prst="roundRect">
            <a:avLst/>
          </a:prstGeom>
          <a:solidFill>
            <a:srgbClr val="FFFFFF"/>
          </a:solidFill>
          <a:ln w="38100">
            <a:solidFill>
              <a:srgbClr val="33333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0" name="Rectangle 38">
            <a:extLst>
              <a:ext uri="{FF2B5EF4-FFF2-40B4-BE49-F238E27FC236}">
                <a16:creationId xmlns:a16="http://schemas.microsoft.com/office/drawing/2014/main" id="{B3A9B786-A08F-9876-275C-37DD07EED86E}"/>
              </a:ext>
            </a:extLst>
          </p:cNvPr>
          <p:cNvSpPr/>
          <p:nvPr/>
        </p:nvSpPr>
        <p:spPr>
          <a:xfrm>
            <a:off x="3255264" y="2853798"/>
            <a:ext cx="2404872" cy="3310128"/>
          </a:xfrm>
          <a:prstGeom prst="rect">
            <a:avLst/>
          </a:prstGeom>
          <a:solidFill>
            <a:srgbClr val="A8BDD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1" name="Rounded Rectangle 40">
            <a:extLst>
              <a:ext uri="{FF2B5EF4-FFF2-40B4-BE49-F238E27FC236}">
                <a16:creationId xmlns:a16="http://schemas.microsoft.com/office/drawing/2014/main" id="{24EFF532-6FA6-26BB-0FC6-B24E4302C463}"/>
              </a:ext>
            </a:extLst>
          </p:cNvPr>
          <p:cNvSpPr/>
          <p:nvPr/>
        </p:nvSpPr>
        <p:spPr>
          <a:xfrm>
            <a:off x="3611880" y="2768505"/>
            <a:ext cx="1783080" cy="31602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友だち追加ありがとう！特典</a:t>
            </a:r>
            <a:r>
              <a:rPr lang="ja-JP" altLang="en-US" sz="800" b="0" dirty="0">
                <a:solidFill>
                  <a:srgbClr val="333333"/>
                </a:solidFill>
                <a:latin typeface="メイリオ" panose="020B0604030504040204" pitchFamily="50" charset="-128"/>
                <a:ea typeface="メイリオ" panose="020B0604030504040204" pitchFamily="50" charset="-128"/>
                <a:cs typeface="メイリオ"/>
              </a:rPr>
              <a:t>は</a:t>
            </a:r>
            <a:r>
              <a:rPr lang="en-US" altLang="ja-JP" sz="800" b="0" dirty="0">
                <a:solidFill>
                  <a:srgbClr val="333333"/>
                </a:solidFill>
                <a:latin typeface="メイリオ" panose="020B0604030504040204" pitchFamily="50" charset="-128"/>
                <a:ea typeface="メイリオ" panose="020B0604030504040204" pitchFamily="50" charset="-128"/>
                <a:cs typeface="メイリオ"/>
              </a:rPr>
              <a:t>…</a:t>
            </a:r>
            <a:endParaRPr sz="800" b="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42" name="Oval 41">
            <a:extLst>
              <a:ext uri="{FF2B5EF4-FFF2-40B4-BE49-F238E27FC236}">
                <a16:creationId xmlns:a16="http://schemas.microsoft.com/office/drawing/2014/main" id="{D7BDF01D-C3F2-A3DE-0264-B338980A05DB}"/>
              </a:ext>
            </a:extLst>
          </p:cNvPr>
          <p:cNvSpPr/>
          <p:nvPr/>
        </p:nvSpPr>
        <p:spPr>
          <a:xfrm>
            <a:off x="3310128" y="327442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3" name="Rounded Rectangle 42">
            <a:extLst>
              <a:ext uri="{FF2B5EF4-FFF2-40B4-BE49-F238E27FC236}">
                <a16:creationId xmlns:a16="http://schemas.microsoft.com/office/drawing/2014/main" id="{4600E2F1-69A4-314B-7CDE-2291AF5A0480}"/>
              </a:ext>
            </a:extLst>
          </p:cNvPr>
          <p:cNvSpPr/>
          <p:nvPr/>
        </p:nvSpPr>
        <p:spPr>
          <a:xfrm>
            <a:off x="3611880" y="3321789"/>
            <a:ext cx="1371600" cy="2335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お子様の興味は？</a:t>
            </a:r>
          </a:p>
        </p:txBody>
      </p:sp>
      <p:sp>
        <p:nvSpPr>
          <p:cNvPr id="44" name="Rounded Rectangle 43">
            <a:extLst>
              <a:ext uri="{FF2B5EF4-FFF2-40B4-BE49-F238E27FC236}">
                <a16:creationId xmlns:a16="http://schemas.microsoft.com/office/drawing/2014/main" id="{8F18330F-E519-5A48-F5E6-F01F2E7FAE51}"/>
              </a:ext>
            </a:extLst>
          </p:cNvPr>
          <p:cNvSpPr/>
          <p:nvPr/>
        </p:nvSpPr>
        <p:spPr>
          <a:xfrm>
            <a:off x="3611880"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英語</a:t>
            </a:r>
          </a:p>
        </p:txBody>
      </p:sp>
      <p:sp>
        <p:nvSpPr>
          <p:cNvPr id="45" name="Rounded Rectangle 44">
            <a:extLst>
              <a:ext uri="{FF2B5EF4-FFF2-40B4-BE49-F238E27FC236}">
                <a16:creationId xmlns:a16="http://schemas.microsoft.com/office/drawing/2014/main" id="{EA318321-B2AF-46BA-7FE3-7773EC6AACFE}"/>
              </a:ext>
            </a:extLst>
          </p:cNvPr>
          <p:cNvSpPr/>
          <p:nvPr/>
        </p:nvSpPr>
        <p:spPr>
          <a:xfrm>
            <a:off x="4123944" y="3640182"/>
            <a:ext cx="475488" cy="237744"/>
          </a:xfrm>
          <a:prstGeom prst="roundRect">
            <a:avLst/>
          </a:prstGeom>
          <a:solidFill>
            <a:srgbClr val="06C755"/>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a:t>
            </a:r>
          </a:p>
        </p:txBody>
      </p:sp>
      <p:sp>
        <p:nvSpPr>
          <p:cNvPr id="46" name="Rounded Rectangle 45">
            <a:extLst>
              <a:ext uri="{FF2B5EF4-FFF2-40B4-BE49-F238E27FC236}">
                <a16:creationId xmlns:a16="http://schemas.microsoft.com/office/drawing/2014/main" id="{671CB2FB-6AD7-FF9C-FB8A-30A83CB7BDBC}"/>
              </a:ext>
            </a:extLst>
          </p:cNvPr>
          <p:cNvSpPr/>
          <p:nvPr/>
        </p:nvSpPr>
        <p:spPr>
          <a:xfrm>
            <a:off x="4636008"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知育</a:t>
            </a:r>
          </a:p>
        </p:txBody>
      </p:sp>
      <p:sp>
        <p:nvSpPr>
          <p:cNvPr id="47" name="Rounded Rectangle 46">
            <a:extLst>
              <a:ext uri="{FF2B5EF4-FFF2-40B4-BE49-F238E27FC236}">
                <a16:creationId xmlns:a16="http://schemas.microsoft.com/office/drawing/2014/main" id="{7F504588-536C-8EE6-8E6F-816EF8C24633}"/>
              </a:ext>
            </a:extLst>
          </p:cNvPr>
          <p:cNvSpPr/>
          <p:nvPr/>
        </p:nvSpPr>
        <p:spPr>
          <a:xfrm>
            <a:off x="5166360" y="3640182"/>
            <a:ext cx="457200" cy="237744"/>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dirty="0">
                <a:solidFill>
                  <a:srgbClr val="FFFFFF"/>
                </a:solidFill>
                <a:latin typeface="メイリオ" panose="020B0604030504040204" pitchFamily="50" charset="-128"/>
                <a:ea typeface="メイリオ" panose="020B0604030504040204" pitchFamily="50" charset="-128"/>
                <a:cs typeface="メイリオ"/>
              </a:rPr>
              <a:t>＋</a:t>
            </a:r>
            <a:r>
              <a:rPr sz="700" b="1" dirty="0" err="1">
                <a:solidFill>
                  <a:srgbClr val="FFFFFF"/>
                </a:solidFill>
                <a:latin typeface="メイリオ" panose="020B0604030504040204" pitchFamily="50" charset="-128"/>
                <a:ea typeface="メイリオ" panose="020B0604030504040204" pitchFamily="50" charset="-128"/>
                <a:cs typeface="メイリオ"/>
              </a:rPr>
              <a:t>タグ</a:t>
            </a:r>
            <a:endParaRPr sz="700" b="1" dirty="0">
              <a:solidFill>
                <a:srgbClr val="FFFFFF"/>
              </a:solidFill>
              <a:latin typeface="メイリオ" panose="020B0604030504040204" pitchFamily="50" charset="-128"/>
              <a:ea typeface="メイリオ" panose="020B0604030504040204" pitchFamily="50" charset="-128"/>
              <a:cs typeface="メイリオ"/>
            </a:endParaRPr>
          </a:p>
        </p:txBody>
      </p:sp>
      <p:sp>
        <p:nvSpPr>
          <p:cNvPr id="48" name="Oval 47">
            <a:extLst>
              <a:ext uri="{FF2B5EF4-FFF2-40B4-BE49-F238E27FC236}">
                <a16:creationId xmlns:a16="http://schemas.microsoft.com/office/drawing/2014/main" id="{39641FC3-997E-E41B-0786-B2A8B72615F1}"/>
              </a:ext>
            </a:extLst>
          </p:cNvPr>
          <p:cNvSpPr/>
          <p:nvPr/>
        </p:nvSpPr>
        <p:spPr>
          <a:xfrm>
            <a:off x="3310128" y="4024230"/>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9" name="Rounded Rectangle 48">
            <a:extLst>
              <a:ext uri="{FF2B5EF4-FFF2-40B4-BE49-F238E27FC236}">
                <a16:creationId xmlns:a16="http://schemas.microsoft.com/office/drawing/2014/main" id="{D1AA4CAE-145A-9C37-0213-1B07344EFDA8}"/>
              </a:ext>
            </a:extLst>
          </p:cNvPr>
          <p:cNvSpPr/>
          <p:nvPr/>
        </p:nvSpPr>
        <p:spPr>
          <a:xfrm>
            <a:off x="3611880" y="4018959"/>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【Day3】運動指導のご紹介</a:t>
            </a:r>
          </a:p>
        </p:txBody>
      </p:sp>
      <p:sp>
        <p:nvSpPr>
          <p:cNvPr id="50" name="Oval 49">
            <a:extLst>
              <a:ext uri="{FF2B5EF4-FFF2-40B4-BE49-F238E27FC236}">
                <a16:creationId xmlns:a16="http://schemas.microsoft.com/office/drawing/2014/main" id="{D7FC1F60-741B-1216-E3C2-B9A9825969FD}"/>
              </a:ext>
            </a:extLst>
          </p:cNvPr>
          <p:cNvSpPr/>
          <p:nvPr/>
        </p:nvSpPr>
        <p:spPr>
          <a:xfrm>
            <a:off x="3310128" y="46003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1" name="Rounded Rectangle 50">
            <a:extLst>
              <a:ext uri="{FF2B5EF4-FFF2-40B4-BE49-F238E27FC236}">
                <a16:creationId xmlns:a16="http://schemas.microsoft.com/office/drawing/2014/main" id="{4B728E47-8A05-CAAD-5316-3E29B59A0677}"/>
              </a:ext>
            </a:extLst>
          </p:cNvPr>
          <p:cNvSpPr/>
          <p:nvPr/>
        </p:nvSpPr>
        <p:spPr>
          <a:xfrm>
            <a:off x="3611880" y="4595031"/>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【今月】夏のイベント開催</a:t>
            </a:r>
          </a:p>
        </p:txBody>
      </p:sp>
      <p:sp>
        <p:nvSpPr>
          <p:cNvPr id="52" name="Rounded Rectangle 51">
            <a:extLst>
              <a:ext uri="{FF2B5EF4-FFF2-40B4-BE49-F238E27FC236}">
                <a16:creationId xmlns:a16="http://schemas.microsoft.com/office/drawing/2014/main" id="{EDE632CC-3F09-E201-A757-0B2AF49C1E03}"/>
              </a:ext>
            </a:extLst>
          </p:cNvPr>
          <p:cNvSpPr/>
          <p:nvPr/>
        </p:nvSpPr>
        <p:spPr>
          <a:xfrm>
            <a:off x="4434840" y="5084934"/>
            <a:ext cx="1097280" cy="237744"/>
          </a:xfrm>
          <a:prstGeom prst="roundRect">
            <a:avLst/>
          </a:prstGeom>
          <a:solidFill>
            <a:srgbClr val="B7E36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700" b="0">
                <a:solidFill>
                  <a:srgbClr val="333333"/>
                </a:solidFill>
                <a:latin typeface="メイリオ" panose="020B0604030504040204" pitchFamily="50" charset="-128"/>
                <a:ea typeface="メイリオ" panose="020B0604030504040204" pitchFamily="50" charset="-128"/>
                <a:cs typeface="メイリオ"/>
              </a:rPr>
              <a:t>料金を教えて</a:t>
            </a:r>
          </a:p>
        </p:txBody>
      </p:sp>
      <p:sp>
        <p:nvSpPr>
          <p:cNvPr id="53" name="Oval 52">
            <a:extLst>
              <a:ext uri="{FF2B5EF4-FFF2-40B4-BE49-F238E27FC236}">
                <a16:creationId xmlns:a16="http://schemas.microsoft.com/office/drawing/2014/main" id="{33F79F6F-0ADE-256D-5DA4-A82E51FAF5E9}"/>
              </a:ext>
            </a:extLst>
          </p:cNvPr>
          <p:cNvSpPr/>
          <p:nvPr/>
        </p:nvSpPr>
        <p:spPr>
          <a:xfrm>
            <a:off x="3310128" y="537754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4" name="Rounded Rectangle 53">
            <a:extLst>
              <a:ext uri="{FF2B5EF4-FFF2-40B4-BE49-F238E27FC236}">
                <a16:creationId xmlns:a16="http://schemas.microsoft.com/office/drawing/2014/main" id="{442A5F6A-8638-8BB7-0CCD-0A2E2B0A2BCC}"/>
              </a:ext>
            </a:extLst>
          </p:cNvPr>
          <p:cNvSpPr/>
          <p:nvPr/>
        </p:nvSpPr>
        <p:spPr>
          <a:xfrm>
            <a:off x="3611880" y="5395155"/>
            <a:ext cx="1463040" cy="27480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料金はこちらです→</a:t>
            </a:r>
          </a:p>
        </p:txBody>
      </p:sp>
      <p:sp>
        <p:nvSpPr>
          <p:cNvPr id="55" name="Rectangle 54">
            <a:extLst>
              <a:ext uri="{FF2B5EF4-FFF2-40B4-BE49-F238E27FC236}">
                <a16:creationId xmlns:a16="http://schemas.microsoft.com/office/drawing/2014/main" id="{3692DFC3-6CB4-FCCE-9844-CF7F277EAFA4}"/>
              </a:ext>
            </a:extLst>
          </p:cNvPr>
          <p:cNvSpPr/>
          <p:nvPr/>
        </p:nvSpPr>
        <p:spPr>
          <a:xfrm>
            <a:off x="3255264" y="6042006"/>
            <a:ext cx="2404872" cy="457200"/>
          </a:xfrm>
          <a:prstGeom prst="rect">
            <a:avLst/>
          </a:prstGeom>
          <a:solidFill>
            <a:srgbClr val="FFFFFF"/>
          </a:solid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6" name="Rectangle 55">
            <a:extLst>
              <a:ext uri="{FF2B5EF4-FFF2-40B4-BE49-F238E27FC236}">
                <a16:creationId xmlns:a16="http://schemas.microsoft.com/office/drawing/2014/main" id="{F986ADF8-29C3-6A68-1DFA-FFA26561F2B3}"/>
              </a:ext>
            </a:extLst>
          </p:cNvPr>
          <p:cNvSpPr/>
          <p:nvPr/>
        </p:nvSpPr>
        <p:spPr>
          <a:xfrm>
            <a:off x="327355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予約</a:t>
            </a:r>
          </a:p>
        </p:txBody>
      </p:sp>
      <p:sp>
        <p:nvSpPr>
          <p:cNvPr id="57" name="Rectangle 56">
            <a:extLst>
              <a:ext uri="{FF2B5EF4-FFF2-40B4-BE49-F238E27FC236}">
                <a16:creationId xmlns:a16="http://schemas.microsoft.com/office/drawing/2014/main" id="{3AB1081A-487F-780B-49C7-1270ED530C1F}"/>
              </a:ext>
            </a:extLst>
          </p:cNvPr>
          <p:cNvSpPr/>
          <p:nvPr/>
        </p:nvSpPr>
        <p:spPr>
          <a:xfrm>
            <a:off x="386791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質問</a:t>
            </a:r>
          </a:p>
        </p:txBody>
      </p:sp>
      <p:sp>
        <p:nvSpPr>
          <p:cNvPr id="59" name="Rectangle 57">
            <a:extLst>
              <a:ext uri="{FF2B5EF4-FFF2-40B4-BE49-F238E27FC236}">
                <a16:creationId xmlns:a16="http://schemas.microsoft.com/office/drawing/2014/main" id="{6F0CCA9C-BDA8-04BF-077D-3A8F5CFF41C8}"/>
              </a:ext>
            </a:extLst>
          </p:cNvPr>
          <p:cNvSpPr/>
          <p:nvPr/>
        </p:nvSpPr>
        <p:spPr>
          <a:xfrm>
            <a:off x="446227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特典</a:t>
            </a:r>
          </a:p>
        </p:txBody>
      </p:sp>
      <p:sp>
        <p:nvSpPr>
          <p:cNvPr id="60" name="Rectangle 58">
            <a:extLst>
              <a:ext uri="{FF2B5EF4-FFF2-40B4-BE49-F238E27FC236}">
                <a16:creationId xmlns:a16="http://schemas.microsoft.com/office/drawing/2014/main" id="{985C54A4-91FC-0879-5A7C-BF14447F2D4C}"/>
              </a:ext>
            </a:extLst>
          </p:cNvPr>
          <p:cNvSpPr/>
          <p:nvPr/>
        </p:nvSpPr>
        <p:spPr>
          <a:xfrm>
            <a:off x="505663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店舗</a:t>
            </a:r>
          </a:p>
        </p:txBody>
      </p:sp>
      <p:sp>
        <p:nvSpPr>
          <p:cNvPr id="61" name="Oval 60">
            <a:extLst>
              <a:ext uri="{FF2B5EF4-FFF2-40B4-BE49-F238E27FC236}">
                <a16:creationId xmlns:a16="http://schemas.microsoft.com/office/drawing/2014/main" id="{078D547B-19C0-D1D7-0B0A-A47E1EF12496}"/>
              </a:ext>
            </a:extLst>
          </p:cNvPr>
          <p:cNvSpPr/>
          <p:nvPr/>
        </p:nvSpPr>
        <p:spPr>
          <a:xfrm>
            <a:off x="3063240" y="3210414"/>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3</a:t>
            </a:r>
          </a:p>
        </p:txBody>
      </p:sp>
      <p:sp>
        <p:nvSpPr>
          <p:cNvPr id="62" name="Oval 61">
            <a:extLst>
              <a:ext uri="{FF2B5EF4-FFF2-40B4-BE49-F238E27FC236}">
                <a16:creationId xmlns:a16="http://schemas.microsoft.com/office/drawing/2014/main" id="{D5B5DA36-D1AC-3FF4-B014-CB1D23230DF3}"/>
              </a:ext>
            </a:extLst>
          </p:cNvPr>
          <p:cNvSpPr/>
          <p:nvPr/>
        </p:nvSpPr>
        <p:spPr>
          <a:xfrm>
            <a:off x="3063240" y="3914502"/>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5</a:t>
            </a:r>
          </a:p>
        </p:txBody>
      </p:sp>
      <p:sp>
        <p:nvSpPr>
          <p:cNvPr id="63" name="Oval 62">
            <a:extLst>
              <a:ext uri="{FF2B5EF4-FFF2-40B4-BE49-F238E27FC236}">
                <a16:creationId xmlns:a16="http://schemas.microsoft.com/office/drawing/2014/main" id="{AD9506F4-3424-385A-C649-D53A66ECE0FA}"/>
              </a:ext>
            </a:extLst>
          </p:cNvPr>
          <p:cNvSpPr/>
          <p:nvPr/>
        </p:nvSpPr>
        <p:spPr>
          <a:xfrm>
            <a:off x="3063240" y="4481430"/>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6</a:t>
            </a:r>
          </a:p>
        </p:txBody>
      </p:sp>
      <p:sp>
        <p:nvSpPr>
          <p:cNvPr id="64" name="Oval 63">
            <a:extLst>
              <a:ext uri="{FF2B5EF4-FFF2-40B4-BE49-F238E27FC236}">
                <a16:creationId xmlns:a16="http://schemas.microsoft.com/office/drawing/2014/main" id="{E17B94F9-0158-3E3C-FFDC-922E33C08ACA}"/>
              </a:ext>
            </a:extLst>
          </p:cNvPr>
          <p:cNvSpPr/>
          <p:nvPr/>
        </p:nvSpPr>
        <p:spPr>
          <a:xfrm>
            <a:off x="3063240" y="528610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8</a:t>
            </a:r>
          </a:p>
        </p:txBody>
      </p:sp>
      <p:sp>
        <p:nvSpPr>
          <p:cNvPr id="65" name="Oval 64">
            <a:extLst>
              <a:ext uri="{FF2B5EF4-FFF2-40B4-BE49-F238E27FC236}">
                <a16:creationId xmlns:a16="http://schemas.microsoft.com/office/drawing/2014/main" id="{C5EFD1D0-F44A-23A1-ADF0-04BFFF1243A0}"/>
              </a:ext>
            </a:extLst>
          </p:cNvPr>
          <p:cNvSpPr/>
          <p:nvPr/>
        </p:nvSpPr>
        <p:spPr>
          <a:xfrm>
            <a:off x="3063240" y="59871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7</a:t>
            </a:r>
          </a:p>
        </p:txBody>
      </p:sp>
      <p:cxnSp>
        <p:nvCxnSpPr>
          <p:cNvPr id="66" name="Connector 65">
            <a:extLst>
              <a:ext uri="{FF2B5EF4-FFF2-40B4-BE49-F238E27FC236}">
                <a16:creationId xmlns:a16="http://schemas.microsoft.com/office/drawing/2014/main" id="{1B3B9544-3929-8790-DDDE-E6205C63DB3B}"/>
              </a:ext>
            </a:extLst>
          </p:cNvPr>
          <p:cNvCxnSpPr/>
          <p:nvPr/>
        </p:nvCxnSpPr>
        <p:spPr>
          <a:xfrm>
            <a:off x="5715000" y="286294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67" name="Rectangle 66">
            <a:extLst>
              <a:ext uri="{FF2B5EF4-FFF2-40B4-BE49-F238E27FC236}">
                <a16:creationId xmlns:a16="http://schemas.microsoft.com/office/drawing/2014/main" id="{BACF9AB3-5E23-75E5-2907-1B4CAA7E7697}"/>
              </a:ext>
            </a:extLst>
          </p:cNvPr>
          <p:cNvSpPr/>
          <p:nvPr/>
        </p:nvSpPr>
        <p:spPr>
          <a:xfrm>
            <a:off x="5989320" y="256119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8" name="Rectangle 67">
            <a:extLst>
              <a:ext uri="{FF2B5EF4-FFF2-40B4-BE49-F238E27FC236}">
                <a16:creationId xmlns:a16="http://schemas.microsoft.com/office/drawing/2014/main" id="{D99B972D-7A0F-C085-4B94-F0E1D1E5B217}"/>
              </a:ext>
            </a:extLst>
          </p:cNvPr>
          <p:cNvSpPr/>
          <p:nvPr/>
        </p:nvSpPr>
        <p:spPr>
          <a:xfrm>
            <a:off x="5989320" y="256119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9" name="Rectangle 68">
            <a:extLst>
              <a:ext uri="{FF2B5EF4-FFF2-40B4-BE49-F238E27FC236}">
                <a16:creationId xmlns:a16="http://schemas.microsoft.com/office/drawing/2014/main" id="{16F41EB6-80FA-E920-A132-BB4988500C60}"/>
              </a:ext>
            </a:extLst>
          </p:cNvPr>
          <p:cNvSpPr/>
          <p:nvPr/>
        </p:nvSpPr>
        <p:spPr>
          <a:xfrm>
            <a:off x="6108192" y="257947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2　挨拶メッセージ</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追加直後に自動で届く最初のメッセージ</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cxnSp>
        <p:nvCxnSpPr>
          <p:cNvPr id="70" name="Connector 69">
            <a:extLst>
              <a:ext uri="{FF2B5EF4-FFF2-40B4-BE49-F238E27FC236}">
                <a16:creationId xmlns:a16="http://schemas.microsoft.com/office/drawing/2014/main" id="{1CC8A23C-C7AE-2F6C-E6D0-69403F4AE719}"/>
              </a:ext>
            </a:extLst>
          </p:cNvPr>
          <p:cNvCxnSpPr/>
          <p:nvPr/>
        </p:nvCxnSpPr>
        <p:spPr>
          <a:xfrm>
            <a:off x="5715000" y="34573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1" name="Rectangle 70">
            <a:extLst>
              <a:ext uri="{FF2B5EF4-FFF2-40B4-BE49-F238E27FC236}">
                <a16:creationId xmlns:a16="http://schemas.microsoft.com/office/drawing/2014/main" id="{2878551C-954D-5600-4A28-2FB6B2FC835B}"/>
              </a:ext>
            </a:extLst>
          </p:cNvPr>
          <p:cNvSpPr/>
          <p:nvPr/>
        </p:nvSpPr>
        <p:spPr>
          <a:xfrm>
            <a:off x="5989320" y="3164694"/>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2" name="Rectangle 71">
            <a:extLst>
              <a:ext uri="{FF2B5EF4-FFF2-40B4-BE49-F238E27FC236}">
                <a16:creationId xmlns:a16="http://schemas.microsoft.com/office/drawing/2014/main" id="{08D588BD-CE61-D530-7D53-445F6FE2028D}"/>
              </a:ext>
            </a:extLst>
          </p:cNvPr>
          <p:cNvSpPr/>
          <p:nvPr/>
        </p:nvSpPr>
        <p:spPr>
          <a:xfrm>
            <a:off x="5989320" y="3164694"/>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3" name="Rectangle 72">
            <a:extLst>
              <a:ext uri="{FF2B5EF4-FFF2-40B4-BE49-F238E27FC236}">
                <a16:creationId xmlns:a16="http://schemas.microsoft.com/office/drawing/2014/main" id="{BEFBEC83-9F5E-D6AF-38B6-828597BBE02B}"/>
              </a:ext>
            </a:extLst>
          </p:cNvPr>
          <p:cNvSpPr/>
          <p:nvPr/>
        </p:nvSpPr>
        <p:spPr>
          <a:xfrm>
            <a:off x="6108192" y="318298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3　アンケート</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1タップで回答。興味・状況を把握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運用施策｜標準（簡易）／APIツール</a:t>
            </a:r>
          </a:p>
        </p:txBody>
      </p:sp>
      <p:cxnSp>
        <p:nvCxnSpPr>
          <p:cNvPr id="74" name="Connector 73">
            <a:extLst>
              <a:ext uri="{FF2B5EF4-FFF2-40B4-BE49-F238E27FC236}">
                <a16:creationId xmlns:a16="http://schemas.microsoft.com/office/drawing/2014/main" id="{087854F0-E07A-106C-2F55-5F4540F70FC7}"/>
              </a:ext>
            </a:extLst>
          </p:cNvPr>
          <p:cNvCxnSpPr/>
          <p:nvPr/>
        </p:nvCxnSpPr>
        <p:spPr>
          <a:xfrm>
            <a:off x="5715000" y="41431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5" name="Rectangle 74">
            <a:extLst>
              <a:ext uri="{FF2B5EF4-FFF2-40B4-BE49-F238E27FC236}">
                <a16:creationId xmlns:a16="http://schemas.microsoft.com/office/drawing/2014/main" id="{5E635C83-4255-D874-02BA-723D8D3945A1}"/>
              </a:ext>
            </a:extLst>
          </p:cNvPr>
          <p:cNvSpPr/>
          <p:nvPr/>
        </p:nvSpPr>
        <p:spPr>
          <a:xfrm>
            <a:off x="5989320" y="3841350"/>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6" name="Rectangle 75">
            <a:extLst>
              <a:ext uri="{FF2B5EF4-FFF2-40B4-BE49-F238E27FC236}">
                <a16:creationId xmlns:a16="http://schemas.microsoft.com/office/drawing/2014/main" id="{DA813A00-D7BA-7CEB-2811-E995F53B6411}"/>
              </a:ext>
            </a:extLst>
          </p:cNvPr>
          <p:cNvSpPr/>
          <p:nvPr/>
        </p:nvSpPr>
        <p:spPr>
          <a:xfrm>
            <a:off x="5989320" y="3841350"/>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7" name="Rectangle 76">
            <a:extLst>
              <a:ext uri="{FF2B5EF4-FFF2-40B4-BE49-F238E27FC236}">
                <a16:creationId xmlns:a16="http://schemas.microsoft.com/office/drawing/2014/main" id="{37095BF6-3F59-87B8-0E59-07F70CAF7197}"/>
              </a:ext>
            </a:extLst>
          </p:cNvPr>
          <p:cNvSpPr/>
          <p:nvPr/>
        </p:nvSpPr>
        <p:spPr>
          <a:xfrm>
            <a:off x="6108192" y="385963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5　ステップ配信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追加日などを起点に、日数で自動配信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運用施策｜APIツール</a:t>
            </a:r>
          </a:p>
        </p:txBody>
      </p:sp>
      <p:cxnSp>
        <p:nvCxnSpPr>
          <p:cNvPr id="78" name="Connector 77">
            <a:extLst>
              <a:ext uri="{FF2B5EF4-FFF2-40B4-BE49-F238E27FC236}">
                <a16:creationId xmlns:a16="http://schemas.microsoft.com/office/drawing/2014/main" id="{14DA0944-ACF0-26E9-C341-0F08287E50E0}"/>
              </a:ext>
            </a:extLst>
          </p:cNvPr>
          <p:cNvCxnSpPr/>
          <p:nvPr/>
        </p:nvCxnSpPr>
        <p:spPr>
          <a:xfrm>
            <a:off x="5715000" y="473746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9" name="Rectangle 78">
            <a:extLst>
              <a:ext uri="{FF2B5EF4-FFF2-40B4-BE49-F238E27FC236}">
                <a16:creationId xmlns:a16="http://schemas.microsoft.com/office/drawing/2014/main" id="{04741443-9216-D183-86C7-C1D3D8CD0F86}"/>
              </a:ext>
            </a:extLst>
          </p:cNvPr>
          <p:cNvSpPr/>
          <p:nvPr/>
        </p:nvSpPr>
        <p:spPr>
          <a:xfrm>
            <a:off x="5989320" y="4463142"/>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0" name="Rectangle 79">
            <a:extLst>
              <a:ext uri="{FF2B5EF4-FFF2-40B4-BE49-F238E27FC236}">
                <a16:creationId xmlns:a16="http://schemas.microsoft.com/office/drawing/2014/main" id="{EF62B91B-5616-0CBB-42CD-ABFAF3770BE1}"/>
              </a:ext>
            </a:extLst>
          </p:cNvPr>
          <p:cNvSpPr/>
          <p:nvPr/>
        </p:nvSpPr>
        <p:spPr>
          <a:xfrm>
            <a:off x="5989320" y="4463142"/>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1" name="Rectangle 80">
            <a:extLst>
              <a:ext uri="{FF2B5EF4-FFF2-40B4-BE49-F238E27FC236}">
                <a16:creationId xmlns:a16="http://schemas.microsoft.com/office/drawing/2014/main" id="{2D902E01-6B95-274E-8EFB-9F3B88059A6D}"/>
              </a:ext>
            </a:extLst>
          </p:cNvPr>
          <p:cNvSpPr/>
          <p:nvPr/>
        </p:nvSpPr>
        <p:spPr>
          <a:xfrm>
            <a:off x="6108192" y="4481429"/>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6　企画配信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季節・キャンペーンに合わせた定期配信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運用施策｜標準機能</a:t>
            </a:r>
          </a:p>
        </p:txBody>
      </p:sp>
      <p:cxnSp>
        <p:nvCxnSpPr>
          <p:cNvPr id="82" name="Connector 81">
            <a:extLst>
              <a:ext uri="{FF2B5EF4-FFF2-40B4-BE49-F238E27FC236}">
                <a16:creationId xmlns:a16="http://schemas.microsoft.com/office/drawing/2014/main" id="{9FBE9224-F179-3806-57FD-B70E3DD7299F}"/>
              </a:ext>
            </a:extLst>
          </p:cNvPr>
          <p:cNvCxnSpPr/>
          <p:nvPr/>
        </p:nvCxnSpPr>
        <p:spPr>
          <a:xfrm>
            <a:off x="5715000" y="542326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3" name="Rectangle 82">
            <a:extLst>
              <a:ext uri="{FF2B5EF4-FFF2-40B4-BE49-F238E27FC236}">
                <a16:creationId xmlns:a16="http://schemas.microsoft.com/office/drawing/2014/main" id="{1AB67702-2E81-6221-4139-488E660CAB4E}"/>
              </a:ext>
            </a:extLst>
          </p:cNvPr>
          <p:cNvSpPr/>
          <p:nvPr/>
        </p:nvSpPr>
        <p:spPr>
          <a:xfrm>
            <a:off x="5989320" y="512151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4" name="Rectangle 83">
            <a:extLst>
              <a:ext uri="{FF2B5EF4-FFF2-40B4-BE49-F238E27FC236}">
                <a16:creationId xmlns:a16="http://schemas.microsoft.com/office/drawing/2014/main" id="{3938AC4A-CD97-D0B1-CB8F-46DDCFAE35FE}"/>
              </a:ext>
            </a:extLst>
          </p:cNvPr>
          <p:cNvSpPr/>
          <p:nvPr/>
        </p:nvSpPr>
        <p:spPr>
          <a:xfrm>
            <a:off x="5989320" y="512151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5" name="Rectangle 84">
            <a:extLst>
              <a:ext uri="{FF2B5EF4-FFF2-40B4-BE49-F238E27FC236}">
                <a16:creationId xmlns:a16="http://schemas.microsoft.com/office/drawing/2014/main" id="{E093121A-3AE3-1B04-1572-43FD309CC342}"/>
              </a:ext>
            </a:extLst>
          </p:cNvPr>
          <p:cNvSpPr/>
          <p:nvPr/>
        </p:nvSpPr>
        <p:spPr>
          <a:xfrm>
            <a:off x="6108192" y="5139797"/>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dirty="0">
                <a:solidFill>
                  <a:srgbClr val="1F2A5C"/>
                </a:solidFill>
                <a:latin typeface="メイリオ" panose="020B0604030504040204" pitchFamily="50" charset="-128"/>
                <a:ea typeface="メイリオ" panose="020B0604030504040204" pitchFamily="50" charset="-128"/>
                <a:cs typeface="メイリオ"/>
              </a:rPr>
              <a:t>8　</a:t>
            </a:r>
            <a:r>
              <a:rPr sz="1000" b="1" dirty="0" err="1">
                <a:solidFill>
                  <a:srgbClr val="1F2A5C"/>
                </a:solidFill>
                <a:latin typeface="メイリオ" panose="020B0604030504040204" pitchFamily="50" charset="-128"/>
                <a:ea typeface="メイリオ" panose="020B0604030504040204" pitchFamily="50" charset="-128"/>
                <a:cs typeface="メイリオ"/>
              </a:rPr>
              <a:t>自動応答</a:t>
            </a:r>
            <a:endParaRPr sz="10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キーワードに自動で返信</a:t>
            </a:r>
            <a:endParaRPr sz="800" b="0" dirty="0">
              <a:solidFill>
                <a:srgbClr val="333333"/>
              </a:solidFill>
              <a:latin typeface="メイリオ" panose="020B0604030504040204" pitchFamily="50" charset="-128"/>
              <a:ea typeface="メイリオ" panose="020B0604030504040204" pitchFamily="50" charset="-128"/>
              <a:cs typeface="メイリオ"/>
            </a:endParaRPr>
          </a:p>
          <a:p>
            <a:pPr algn="l">
              <a:spcAft>
                <a:spcPts val="0"/>
              </a:spcAft>
            </a:pPr>
            <a:r>
              <a:rPr sz="700" b="1" dirty="0" err="1">
                <a:solidFill>
                  <a:srgbClr val="1F2A5C"/>
                </a:solidFill>
                <a:latin typeface="メイリオ" panose="020B0604030504040204" pitchFamily="50" charset="-128"/>
                <a:ea typeface="メイリオ" panose="020B0604030504040204" pitchFamily="50" charset="-128"/>
                <a:cs typeface="メイリオ"/>
              </a:rPr>
              <a:t>初期標準設定｜標準（FAQ・有人は別途</a:t>
            </a:r>
            <a:r>
              <a:rPr sz="700" b="1" dirty="0">
                <a:solidFill>
                  <a:srgbClr val="1F2A5C"/>
                </a:solidFill>
                <a:latin typeface="メイリオ" panose="020B0604030504040204" pitchFamily="50" charset="-128"/>
                <a:ea typeface="メイリオ" panose="020B0604030504040204" pitchFamily="50" charset="-128"/>
                <a:cs typeface="メイリオ"/>
              </a:rPr>
              <a:t>）</a:t>
            </a:r>
          </a:p>
        </p:txBody>
      </p:sp>
      <p:cxnSp>
        <p:nvCxnSpPr>
          <p:cNvPr id="86" name="Connector 85">
            <a:extLst>
              <a:ext uri="{FF2B5EF4-FFF2-40B4-BE49-F238E27FC236}">
                <a16:creationId xmlns:a16="http://schemas.microsoft.com/office/drawing/2014/main" id="{4A507D46-E245-9BC1-8E49-9B98A20927EE}"/>
              </a:ext>
            </a:extLst>
          </p:cNvPr>
          <p:cNvCxnSpPr/>
          <p:nvPr/>
        </p:nvCxnSpPr>
        <p:spPr>
          <a:xfrm>
            <a:off x="5715000" y="617002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7" name="Rectangle 86">
            <a:extLst>
              <a:ext uri="{FF2B5EF4-FFF2-40B4-BE49-F238E27FC236}">
                <a16:creationId xmlns:a16="http://schemas.microsoft.com/office/drawing/2014/main" id="{BA218128-D353-B007-1B9E-9CC4F4C7DA73}"/>
              </a:ext>
            </a:extLst>
          </p:cNvPr>
          <p:cNvSpPr/>
          <p:nvPr/>
        </p:nvSpPr>
        <p:spPr>
          <a:xfrm>
            <a:off x="5989320" y="5877414"/>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8" name="Rectangle 87">
            <a:extLst>
              <a:ext uri="{FF2B5EF4-FFF2-40B4-BE49-F238E27FC236}">
                <a16:creationId xmlns:a16="http://schemas.microsoft.com/office/drawing/2014/main" id="{D31DED20-2693-1ECE-3338-7CEF9571C52B}"/>
              </a:ext>
            </a:extLst>
          </p:cNvPr>
          <p:cNvSpPr/>
          <p:nvPr/>
        </p:nvSpPr>
        <p:spPr>
          <a:xfrm>
            <a:off x="5989320" y="5877414"/>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9" name="Rectangle 88">
            <a:extLst>
              <a:ext uri="{FF2B5EF4-FFF2-40B4-BE49-F238E27FC236}">
                <a16:creationId xmlns:a16="http://schemas.microsoft.com/office/drawing/2014/main" id="{D03442D7-B1E7-5F7B-CB6D-531AF520BA8B}"/>
              </a:ext>
            </a:extLst>
          </p:cNvPr>
          <p:cNvSpPr/>
          <p:nvPr/>
        </p:nvSpPr>
        <p:spPr>
          <a:xfrm>
            <a:off x="6108192" y="589570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7　リッチメニュー</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トーク下部に常時表示。1タップで行動</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sp>
        <p:nvSpPr>
          <p:cNvPr id="90" name="Rectangle 89">
            <a:extLst>
              <a:ext uri="{FF2B5EF4-FFF2-40B4-BE49-F238E27FC236}">
                <a16:creationId xmlns:a16="http://schemas.microsoft.com/office/drawing/2014/main" id="{6504280E-50E9-27C6-B905-70CBC084EA6F}"/>
              </a:ext>
            </a:extLst>
          </p:cNvPr>
          <p:cNvSpPr/>
          <p:nvPr/>
        </p:nvSpPr>
        <p:spPr>
          <a:xfrm>
            <a:off x="384048" y="6822294"/>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p>
        </p:txBody>
      </p:sp>
      <p:sp>
        <p:nvSpPr>
          <p:cNvPr id="91" name="Rectangle 37">
            <a:extLst>
              <a:ext uri="{FF2B5EF4-FFF2-40B4-BE49-F238E27FC236}">
                <a16:creationId xmlns:a16="http://schemas.microsoft.com/office/drawing/2014/main" id="{815B0ED0-A740-600B-6C02-0EA2C830954C}"/>
              </a:ext>
            </a:extLst>
          </p:cNvPr>
          <p:cNvSpPr/>
          <p:nvPr/>
        </p:nvSpPr>
        <p:spPr>
          <a:xfrm>
            <a:off x="3504539" y="2556296"/>
            <a:ext cx="1493235" cy="233581"/>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900" b="1">
                <a:solidFill>
                  <a:srgbClr val="FFFFFF"/>
                </a:solidFill>
                <a:latin typeface="メイリオ" panose="020B0604030504040204" pitchFamily="50" charset="-128"/>
                <a:ea typeface="メイリオ" panose="020B0604030504040204" pitchFamily="50" charset="-128"/>
                <a:cs typeface="メイリオ"/>
              </a:rPr>
              <a:t>公式アカウント</a:t>
            </a:r>
          </a:p>
        </p:txBody>
      </p:sp>
      <p:sp>
        <p:nvSpPr>
          <p:cNvPr id="92" name="Oval 59">
            <a:extLst>
              <a:ext uri="{FF2B5EF4-FFF2-40B4-BE49-F238E27FC236}">
                <a16:creationId xmlns:a16="http://schemas.microsoft.com/office/drawing/2014/main" id="{AE3F0BB7-CAA2-7DC4-5444-A62887C4147B}"/>
              </a:ext>
            </a:extLst>
          </p:cNvPr>
          <p:cNvSpPr/>
          <p:nvPr/>
        </p:nvSpPr>
        <p:spPr>
          <a:xfrm>
            <a:off x="3063240" y="26343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2</a:t>
            </a:r>
          </a:p>
        </p:txBody>
      </p:sp>
      <p:sp>
        <p:nvSpPr>
          <p:cNvPr id="93" name="Oval 39">
            <a:extLst>
              <a:ext uri="{FF2B5EF4-FFF2-40B4-BE49-F238E27FC236}">
                <a16:creationId xmlns:a16="http://schemas.microsoft.com/office/drawing/2014/main" id="{BD5572D2-C987-F20B-3DAE-F41EEAF2F9EC}"/>
              </a:ext>
            </a:extLst>
          </p:cNvPr>
          <p:cNvSpPr/>
          <p:nvPr/>
        </p:nvSpPr>
        <p:spPr>
          <a:xfrm>
            <a:off x="3310128" y="27715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785488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7116C-C503-AD0E-1DC9-89A610BC5463}"/>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3CAF7A2C-02DA-8C56-48F2-6F9C35F802AB}"/>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7E688361-05C3-950A-7ADB-027296FECB9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0798B0F8-1488-15A2-554D-D8BA88CE6CBC}"/>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C3DDC107-5B3F-A510-D857-9EB2AC13C8E6}"/>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機能ごとの区分と、各施策への有効度</a:t>
            </a:r>
            <a:endParaRPr lang="ja-JP" altLang="en-US" sz="1000" dirty="0"/>
          </a:p>
        </p:txBody>
      </p:sp>
      <p:sp>
        <p:nvSpPr>
          <p:cNvPr id="9" name="テキスト ボックス 8">
            <a:extLst>
              <a:ext uri="{FF2B5EF4-FFF2-40B4-BE49-F238E27FC236}">
                <a16:creationId xmlns:a16="http://schemas.microsoft.com/office/drawing/2014/main" id="{E73117CB-A562-540A-5859-17084973099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90" name="Rectangle 89">
            <a:extLst>
              <a:ext uri="{FF2B5EF4-FFF2-40B4-BE49-F238E27FC236}">
                <a16:creationId xmlns:a16="http://schemas.microsoft.com/office/drawing/2014/main" id="{D3CD1414-1712-221C-F683-DBEB34A5718E}"/>
              </a:ext>
            </a:extLst>
          </p:cNvPr>
          <p:cNvSpPr/>
          <p:nvPr/>
        </p:nvSpPr>
        <p:spPr>
          <a:xfrm>
            <a:off x="384048" y="6308486"/>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dirty="0">
                <a:solidFill>
                  <a:srgbClr val="777777"/>
                </a:solidFill>
                <a:latin typeface="メイリオ" panose="020B0604030504040204" pitchFamily="50" charset="-128"/>
                <a:ea typeface="メイリオ" panose="020B0604030504040204" pitchFamily="50" charset="-128"/>
                <a:cs typeface="メイリオ"/>
              </a:rPr>
              <a:t>※</a:t>
            </a:r>
            <a:r>
              <a:rPr sz="600" b="0" dirty="0" err="1">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r>
              <a:rPr sz="600" b="0" dirty="0">
                <a:solidFill>
                  <a:srgbClr val="777777"/>
                </a:solidFill>
                <a:latin typeface="メイリオ" panose="020B0604030504040204" pitchFamily="50" charset="-128"/>
                <a:ea typeface="メイリオ" panose="020B0604030504040204" pitchFamily="50" charset="-128"/>
                <a:cs typeface="メイリオ"/>
              </a:rPr>
              <a:t>）</a:t>
            </a:r>
          </a:p>
        </p:txBody>
      </p:sp>
      <p:sp>
        <p:nvSpPr>
          <p:cNvPr id="95" name="Rectangle 3">
            <a:extLst>
              <a:ext uri="{FF2B5EF4-FFF2-40B4-BE49-F238E27FC236}">
                <a16:creationId xmlns:a16="http://schemas.microsoft.com/office/drawing/2014/main" id="{49EA327F-E96A-0E42-51BE-B55AF4253D76}"/>
              </a:ext>
            </a:extLst>
          </p:cNvPr>
          <p:cNvSpPr/>
          <p:nvPr/>
        </p:nvSpPr>
        <p:spPr>
          <a:xfrm>
            <a:off x="384048" y="1772236"/>
            <a:ext cx="216712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機能</a:t>
            </a:r>
          </a:p>
        </p:txBody>
      </p:sp>
      <p:sp>
        <p:nvSpPr>
          <p:cNvPr id="97" name="Rectangle 4">
            <a:extLst>
              <a:ext uri="{FF2B5EF4-FFF2-40B4-BE49-F238E27FC236}">
                <a16:creationId xmlns:a16="http://schemas.microsoft.com/office/drawing/2014/main" id="{A8E732CD-14AC-5A08-4E7F-82ED6AF4AA6B}"/>
              </a:ext>
            </a:extLst>
          </p:cNvPr>
          <p:cNvSpPr/>
          <p:nvPr/>
        </p:nvSpPr>
        <p:spPr>
          <a:xfrm>
            <a:off x="2578608" y="1772236"/>
            <a:ext cx="116128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区分</a:t>
            </a:r>
          </a:p>
        </p:txBody>
      </p:sp>
      <p:sp>
        <p:nvSpPr>
          <p:cNvPr id="99" name="Rectangle 5">
            <a:extLst>
              <a:ext uri="{FF2B5EF4-FFF2-40B4-BE49-F238E27FC236}">
                <a16:creationId xmlns:a16="http://schemas.microsoft.com/office/drawing/2014/main" id="{D2E91A74-DE49-482E-7EBE-AD0D0EE66A34}"/>
              </a:ext>
            </a:extLst>
          </p:cNvPr>
          <p:cNvSpPr/>
          <p:nvPr/>
        </p:nvSpPr>
        <p:spPr>
          <a:xfrm>
            <a:off x="3767328"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1 露出強化</a:t>
            </a:r>
          </a:p>
        </p:txBody>
      </p:sp>
      <p:sp>
        <p:nvSpPr>
          <p:cNvPr id="101" name="Rectangle 6">
            <a:extLst>
              <a:ext uri="{FF2B5EF4-FFF2-40B4-BE49-F238E27FC236}">
                <a16:creationId xmlns:a16="http://schemas.microsoft.com/office/drawing/2014/main" id="{C4777D6E-7DF6-A05E-5153-229B34E8BA1D}"/>
              </a:ext>
            </a:extLst>
          </p:cNvPr>
          <p:cNvSpPr/>
          <p:nvPr/>
        </p:nvSpPr>
        <p:spPr>
          <a:xfrm>
            <a:off x="4919472"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2 CV</a:t>
            </a:r>
          </a:p>
        </p:txBody>
      </p:sp>
      <p:sp>
        <p:nvSpPr>
          <p:cNvPr id="103" name="Rectangle 7">
            <a:extLst>
              <a:ext uri="{FF2B5EF4-FFF2-40B4-BE49-F238E27FC236}">
                <a16:creationId xmlns:a16="http://schemas.microsoft.com/office/drawing/2014/main" id="{7EC19AA3-119E-E5FD-C316-5A3BEA9CE35A}"/>
              </a:ext>
            </a:extLst>
          </p:cNvPr>
          <p:cNvSpPr/>
          <p:nvPr/>
        </p:nvSpPr>
        <p:spPr>
          <a:xfrm>
            <a:off x="6071616"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3 LTV・質</a:t>
            </a:r>
          </a:p>
        </p:txBody>
      </p:sp>
      <p:sp>
        <p:nvSpPr>
          <p:cNvPr id="105" name="Rectangle 8">
            <a:extLst>
              <a:ext uri="{FF2B5EF4-FFF2-40B4-BE49-F238E27FC236}">
                <a16:creationId xmlns:a16="http://schemas.microsoft.com/office/drawing/2014/main" id="{54AC6625-CD1A-C326-598A-628F361B05A1}"/>
              </a:ext>
            </a:extLst>
          </p:cNvPr>
          <p:cNvSpPr/>
          <p:nvPr/>
        </p:nvSpPr>
        <p:spPr>
          <a:xfrm>
            <a:off x="7223760"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4 リピート</a:t>
            </a:r>
          </a:p>
        </p:txBody>
      </p:sp>
      <p:sp>
        <p:nvSpPr>
          <p:cNvPr id="107" name="Rectangle 9">
            <a:extLst>
              <a:ext uri="{FF2B5EF4-FFF2-40B4-BE49-F238E27FC236}">
                <a16:creationId xmlns:a16="http://schemas.microsoft.com/office/drawing/2014/main" id="{5E88DC84-02C4-EEA1-3E9D-0DFFE020630D}"/>
              </a:ext>
            </a:extLst>
          </p:cNvPr>
          <p:cNvSpPr/>
          <p:nvPr/>
        </p:nvSpPr>
        <p:spPr>
          <a:xfrm>
            <a:off x="8375904"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5 コミュニティ</a:t>
            </a:r>
          </a:p>
        </p:txBody>
      </p:sp>
      <p:sp>
        <p:nvSpPr>
          <p:cNvPr id="109" name="Rectangle 10">
            <a:extLst>
              <a:ext uri="{FF2B5EF4-FFF2-40B4-BE49-F238E27FC236}">
                <a16:creationId xmlns:a16="http://schemas.microsoft.com/office/drawing/2014/main" id="{F8AF94DD-6BD0-815B-7F96-916DA7A75686}"/>
              </a:ext>
            </a:extLst>
          </p:cNvPr>
          <p:cNvSpPr/>
          <p:nvPr/>
        </p:nvSpPr>
        <p:spPr>
          <a:xfrm>
            <a:off x="384048" y="2148229"/>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① ポップアップ</a:t>
            </a:r>
          </a:p>
        </p:txBody>
      </p:sp>
      <p:sp>
        <p:nvSpPr>
          <p:cNvPr id="111" name="Rectangle 11">
            <a:extLst>
              <a:ext uri="{FF2B5EF4-FFF2-40B4-BE49-F238E27FC236}">
                <a16:creationId xmlns:a16="http://schemas.microsoft.com/office/drawing/2014/main" id="{EAC07884-840F-9E39-DF22-1A68ACDBB41F}"/>
              </a:ext>
            </a:extLst>
          </p:cNvPr>
          <p:cNvSpPr/>
          <p:nvPr/>
        </p:nvSpPr>
        <p:spPr>
          <a:xfrm>
            <a:off x="2578608" y="2148229"/>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入口</a:t>
            </a:r>
          </a:p>
        </p:txBody>
      </p:sp>
      <p:sp>
        <p:nvSpPr>
          <p:cNvPr id="113" name="Rectangle 12">
            <a:extLst>
              <a:ext uri="{FF2B5EF4-FFF2-40B4-BE49-F238E27FC236}">
                <a16:creationId xmlns:a16="http://schemas.microsoft.com/office/drawing/2014/main" id="{311D7915-7E63-7CCC-0695-EFC6BA2C3ADA}"/>
              </a:ext>
            </a:extLst>
          </p:cNvPr>
          <p:cNvSpPr/>
          <p:nvPr/>
        </p:nvSpPr>
        <p:spPr>
          <a:xfrm>
            <a:off x="3767328"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15" name="Rectangle 13">
            <a:extLst>
              <a:ext uri="{FF2B5EF4-FFF2-40B4-BE49-F238E27FC236}">
                <a16:creationId xmlns:a16="http://schemas.microsoft.com/office/drawing/2014/main" id="{60BE805D-C095-F8E7-7A94-0B18AEB6F84C}"/>
              </a:ext>
            </a:extLst>
          </p:cNvPr>
          <p:cNvSpPr/>
          <p:nvPr/>
        </p:nvSpPr>
        <p:spPr>
          <a:xfrm>
            <a:off x="4919472" y="2148229"/>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17" name="Rectangle 14">
            <a:extLst>
              <a:ext uri="{FF2B5EF4-FFF2-40B4-BE49-F238E27FC236}">
                <a16:creationId xmlns:a16="http://schemas.microsoft.com/office/drawing/2014/main" id="{39625F34-980E-D2C8-E6DD-8B8B44D77878}"/>
              </a:ext>
            </a:extLst>
          </p:cNvPr>
          <p:cNvSpPr/>
          <p:nvPr/>
        </p:nvSpPr>
        <p:spPr>
          <a:xfrm>
            <a:off x="6071616"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19" name="Rectangle 15">
            <a:extLst>
              <a:ext uri="{FF2B5EF4-FFF2-40B4-BE49-F238E27FC236}">
                <a16:creationId xmlns:a16="http://schemas.microsoft.com/office/drawing/2014/main" id="{24EDAC7A-83AC-8541-1B88-A1D93D0649D0}"/>
              </a:ext>
            </a:extLst>
          </p:cNvPr>
          <p:cNvSpPr/>
          <p:nvPr/>
        </p:nvSpPr>
        <p:spPr>
          <a:xfrm>
            <a:off x="7223760"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1" name="Rectangle 16">
            <a:extLst>
              <a:ext uri="{FF2B5EF4-FFF2-40B4-BE49-F238E27FC236}">
                <a16:creationId xmlns:a16="http://schemas.microsoft.com/office/drawing/2014/main" id="{4DC3437B-9697-00DC-A150-0F58E0E7685B}"/>
              </a:ext>
            </a:extLst>
          </p:cNvPr>
          <p:cNvSpPr/>
          <p:nvPr/>
        </p:nvSpPr>
        <p:spPr>
          <a:xfrm>
            <a:off x="8375904"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23" name="Rectangle 17">
            <a:extLst>
              <a:ext uri="{FF2B5EF4-FFF2-40B4-BE49-F238E27FC236}">
                <a16:creationId xmlns:a16="http://schemas.microsoft.com/office/drawing/2014/main" id="{A38047BC-377A-0AF5-F712-50F5C69AF30C}"/>
              </a:ext>
            </a:extLst>
          </p:cNvPr>
          <p:cNvSpPr/>
          <p:nvPr/>
        </p:nvSpPr>
        <p:spPr>
          <a:xfrm>
            <a:off x="384048" y="2643310"/>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② 挨拶メッセージ</a:t>
            </a:r>
          </a:p>
        </p:txBody>
      </p:sp>
      <p:sp>
        <p:nvSpPr>
          <p:cNvPr id="125" name="Rectangle 18">
            <a:extLst>
              <a:ext uri="{FF2B5EF4-FFF2-40B4-BE49-F238E27FC236}">
                <a16:creationId xmlns:a16="http://schemas.microsoft.com/office/drawing/2014/main" id="{A9F3AEF1-F5C3-F86D-A4DE-DC40884A3A77}"/>
              </a:ext>
            </a:extLst>
          </p:cNvPr>
          <p:cNvSpPr/>
          <p:nvPr/>
        </p:nvSpPr>
        <p:spPr>
          <a:xfrm>
            <a:off x="2578608" y="2643310"/>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27" name="Rectangle 19">
            <a:extLst>
              <a:ext uri="{FF2B5EF4-FFF2-40B4-BE49-F238E27FC236}">
                <a16:creationId xmlns:a16="http://schemas.microsoft.com/office/drawing/2014/main" id="{1A5FF7DD-0DFB-757E-EED7-59CFFD8427A5}"/>
              </a:ext>
            </a:extLst>
          </p:cNvPr>
          <p:cNvSpPr/>
          <p:nvPr/>
        </p:nvSpPr>
        <p:spPr>
          <a:xfrm>
            <a:off x="3767328"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9" name="Rectangle 20">
            <a:extLst>
              <a:ext uri="{FF2B5EF4-FFF2-40B4-BE49-F238E27FC236}">
                <a16:creationId xmlns:a16="http://schemas.microsoft.com/office/drawing/2014/main" id="{74E363AF-90CC-FE97-A178-1488F203CCC6}"/>
              </a:ext>
            </a:extLst>
          </p:cNvPr>
          <p:cNvSpPr/>
          <p:nvPr/>
        </p:nvSpPr>
        <p:spPr>
          <a:xfrm>
            <a:off x="4919472"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1" name="Rectangle 21">
            <a:extLst>
              <a:ext uri="{FF2B5EF4-FFF2-40B4-BE49-F238E27FC236}">
                <a16:creationId xmlns:a16="http://schemas.microsoft.com/office/drawing/2014/main" id="{6AC96041-BB43-D3DA-9D34-9C915166E941}"/>
              </a:ext>
            </a:extLst>
          </p:cNvPr>
          <p:cNvSpPr/>
          <p:nvPr/>
        </p:nvSpPr>
        <p:spPr>
          <a:xfrm>
            <a:off x="6071616" y="2643310"/>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33" name="Rectangle 22">
            <a:extLst>
              <a:ext uri="{FF2B5EF4-FFF2-40B4-BE49-F238E27FC236}">
                <a16:creationId xmlns:a16="http://schemas.microsoft.com/office/drawing/2014/main" id="{06964474-BEB7-B1A3-7CC2-7091782D3005}"/>
              </a:ext>
            </a:extLst>
          </p:cNvPr>
          <p:cNvSpPr/>
          <p:nvPr/>
        </p:nvSpPr>
        <p:spPr>
          <a:xfrm>
            <a:off x="7223760"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35" name="Rectangle 23">
            <a:extLst>
              <a:ext uri="{FF2B5EF4-FFF2-40B4-BE49-F238E27FC236}">
                <a16:creationId xmlns:a16="http://schemas.microsoft.com/office/drawing/2014/main" id="{8D23914E-C971-EE96-4111-076CA6C88E76}"/>
              </a:ext>
            </a:extLst>
          </p:cNvPr>
          <p:cNvSpPr/>
          <p:nvPr/>
        </p:nvSpPr>
        <p:spPr>
          <a:xfrm>
            <a:off x="8375904"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7" name="Rectangle 24">
            <a:extLst>
              <a:ext uri="{FF2B5EF4-FFF2-40B4-BE49-F238E27FC236}">
                <a16:creationId xmlns:a16="http://schemas.microsoft.com/office/drawing/2014/main" id="{9A69F835-F2FD-D659-DCE3-F67F1A44358D}"/>
              </a:ext>
            </a:extLst>
          </p:cNvPr>
          <p:cNvSpPr/>
          <p:nvPr/>
        </p:nvSpPr>
        <p:spPr>
          <a:xfrm>
            <a:off x="384048" y="3138391"/>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③ アンケート</a:t>
            </a:r>
          </a:p>
        </p:txBody>
      </p:sp>
      <p:sp>
        <p:nvSpPr>
          <p:cNvPr id="139" name="Rectangle 25">
            <a:extLst>
              <a:ext uri="{FF2B5EF4-FFF2-40B4-BE49-F238E27FC236}">
                <a16:creationId xmlns:a16="http://schemas.microsoft.com/office/drawing/2014/main" id="{73D5E841-C5F6-49BC-FC6C-246893B9A073}"/>
              </a:ext>
            </a:extLst>
          </p:cNvPr>
          <p:cNvSpPr/>
          <p:nvPr/>
        </p:nvSpPr>
        <p:spPr>
          <a:xfrm>
            <a:off x="2578608" y="3138391"/>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41" name="Rectangle 26">
            <a:extLst>
              <a:ext uri="{FF2B5EF4-FFF2-40B4-BE49-F238E27FC236}">
                <a16:creationId xmlns:a16="http://schemas.microsoft.com/office/drawing/2014/main" id="{6E33CD1B-69FA-AAA6-AC07-587E543F496B}"/>
              </a:ext>
            </a:extLst>
          </p:cNvPr>
          <p:cNvSpPr/>
          <p:nvPr/>
        </p:nvSpPr>
        <p:spPr>
          <a:xfrm>
            <a:off x="3767328"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43" name="Rectangle 27">
            <a:extLst>
              <a:ext uri="{FF2B5EF4-FFF2-40B4-BE49-F238E27FC236}">
                <a16:creationId xmlns:a16="http://schemas.microsoft.com/office/drawing/2014/main" id="{B1237B51-61FD-415A-B88D-9D4093177C7E}"/>
              </a:ext>
            </a:extLst>
          </p:cNvPr>
          <p:cNvSpPr/>
          <p:nvPr/>
        </p:nvSpPr>
        <p:spPr>
          <a:xfrm>
            <a:off x="4919472"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5" name="Rectangle 28">
            <a:extLst>
              <a:ext uri="{FF2B5EF4-FFF2-40B4-BE49-F238E27FC236}">
                <a16:creationId xmlns:a16="http://schemas.microsoft.com/office/drawing/2014/main" id="{698EED6C-FFE7-DAA0-F5E4-938EB0082F32}"/>
              </a:ext>
            </a:extLst>
          </p:cNvPr>
          <p:cNvSpPr/>
          <p:nvPr/>
        </p:nvSpPr>
        <p:spPr>
          <a:xfrm>
            <a:off x="6071616" y="3138391"/>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47" name="Rectangle 29">
            <a:extLst>
              <a:ext uri="{FF2B5EF4-FFF2-40B4-BE49-F238E27FC236}">
                <a16:creationId xmlns:a16="http://schemas.microsoft.com/office/drawing/2014/main" id="{39F28ADA-54CB-21A9-D4E0-5A9FC11D5B5E}"/>
              </a:ext>
            </a:extLst>
          </p:cNvPr>
          <p:cNvSpPr/>
          <p:nvPr/>
        </p:nvSpPr>
        <p:spPr>
          <a:xfrm>
            <a:off x="7223760"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9" name="Rectangle 30">
            <a:extLst>
              <a:ext uri="{FF2B5EF4-FFF2-40B4-BE49-F238E27FC236}">
                <a16:creationId xmlns:a16="http://schemas.microsoft.com/office/drawing/2014/main" id="{05051530-F83D-00C2-4F87-FEB4B1CF2797}"/>
              </a:ext>
            </a:extLst>
          </p:cNvPr>
          <p:cNvSpPr/>
          <p:nvPr/>
        </p:nvSpPr>
        <p:spPr>
          <a:xfrm>
            <a:off x="8375904"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1" name="Rectangle 31">
            <a:extLst>
              <a:ext uri="{FF2B5EF4-FFF2-40B4-BE49-F238E27FC236}">
                <a16:creationId xmlns:a16="http://schemas.microsoft.com/office/drawing/2014/main" id="{61A04942-3698-E590-BEA7-6EF906A190B1}"/>
              </a:ext>
            </a:extLst>
          </p:cNvPr>
          <p:cNvSpPr/>
          <p:nvPr/>
        </p:nvSpPr>
        <p:spPr>
          <a:xfrm>
            <a:off x="384048" y="363347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④ タグ・セグメント</a:t>
            </a:r>
          </a:p>
        </p:txBody>
      </p:sp>
      <p:sp>
        <p:nvSpPr>
          <p:cNvPr id="153" name="Rectangle 32">
            <a:extLst>
              <a:ext uri="{FF2B5EF4-FFF2-40B4-BE49-F238E27FC236}">
                <a16:creationId xmlns:a16="http://schemas.microsoft.com/office/drawing/2014/main" id="{1E39E853-C262-3BCD-C77F-9B94DE1F207C}"/>
              </a:ext>
            </a:extLst>
          </p:cNvPr>
          <p:cNvSpPr/>
          <p:nvPr/>
        </p:nvSpPr>
        <p:spPr>
          <a:xfrm>
            <a:off x="2578608" y="363347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55" name="Rectangle 33">
            <a:extLst>
              <a:ext uri="{FF2B5EF4-FFF2-40B4-BE49-F238E27FC236}">
                <a16:creationId xmlns:a16="http://schemas.microsoft.com/office/drawing/2014/main" id="{7DDE9A5B-F57A-CB76-B304-0E68CA66FC16}"/>
              </a:ext>
            </a:extLst>
          </p:cNvPr>
          <p:cNvSpPr/>
          <p:nvPr/>
        </p:nvSpPr>
        <p:spPr>
          <a:xfrm>
            <a:off x="3767328"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57" name="Rectangle 34">
            <a:extLst>
              <a:ext uri="{FF2B5EF4-FFF2-40B4-BE49-F238E27FC236}">
                <a16:creationId xmlns:a16="http://schemas.microsoft.com/office/drawing/2014/main" id="{3A07BE12-AC72-F155-28A9-47640CE9BCD1}"/>
              </a:ext>
            </a:extLst>
          </p:cNvPr>
          <p:cNvSpPr/>
          <p:nvPr/>
        </p:nvSpPr>
        <p:spPr>
          <a:xfrm>
            <a:off x="4919472"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9" name="Rectangle 35">
            <a:extLst>
              <a:ext uri="{FF2B5EF4-FFF2-40B4-BE49-F238E27FC236}">
                <a16:creationId xmlns:a16="http://schemas.microsoft.com/office/drawing/2014/main" id="{027726E8-B7E9-98DB-B7EA-DD4F11AB37AF}"/>
              </a:ext>
            </a:extLst>
          </p:cNvPr>
          <p:cNvSpPr/>
          <p:nvPr/>
        </p:nvSpPr>
        <p:spPr>
          <a:xfrm>
            <a:off x="6071616"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1" name="Rectangle 36">
            <a:extLst>
              <a:ext uri="{FF2B5EF4-FFF2-40B4-BE49-F238E27FC236}">
                <a16:creationId xmlns:a16="http://schemas.microsoft.com/office/drawing/2014/main" id="{BD93EC24-9E89-5DFD-1A06-5A3F18ADE95C}"/>
              </a:ext>
            </a:extLst>
          </p:cNvPr>
          <p:cNvSpPr/>
          <p:nvPr/>
        </p:nvSpPr>
        <p:spPr>
          <a:xfrm>
            <a:off x="7223760"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3" name="Rectangle 37">
            <a:extLst>
              <a:ext uri="{FF2B5EF4-FFF2-40B4-BE49-F238E27FC236}">
                <a16:creationId xmlns:a16="http://schemas.microsoft.com/office/drawing/2014/main" id="{CC63009F-72DA-DCD6-5469-085A390B1CFE}"/>
              </a:ext>
            </a:extLst>
          </p:cNvPr>
          <p:cNvSpPr/>
          <p:nvPr/>
        </p:nvSpPr>
        <p:spPr>
          <a:xfrm>
            <a:off x="8375904"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65" name="Rectangle 38">
            <a:extLst>
              <a:ext uri="{FF2B5EF4-FFF2-40B4-BE49-F238E27FC236}">
                <a16:creationId xmlns:a16="http://schemas.microsoft.com/office/drawing/2014/main" id="{7B60F0BC-54A4-8C7F-5CFA-B0D158A96A5B}"/>
              </a:ext>
            </a:extLst>
          </p:cNvPr>
          <p:cNvSpPr/>
          <p:nvPr/>
        </p:nvSpPr>
        <p:spPr>
          <a:xfrm>
            <a:off x="384048" y="412855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⑤ ステップ配信</a:t>
            </a:r>
          </a:p>
        </p:txBody>
      </p:sp>
      <p:sp>
        <p:nvSpPr>
          <p:cNvPr id="167" name="Rectangle 39">
            <a:extLst>
              <a:ext uri="{FF2B5EF4-FFF2-40B4-BE49-F238E27FC236}">
                <a16:creationId xmlns:a16="http://schemas.microsoft.com/office/drawing/2014/main" id="{806AF363-F59B-F87D-1131-F239AB9F2E26}"/>
              </a:ext>
            </a:extLst>
          </p:cNvPr>
          <p:cNvSpPr/>
          <p:nvPr/>
        </p:nvSpPr>
        <p:spPr>
          <a:xfrm>
            <a:off x="2578608" y="412855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69" name="Rectangle 40">
            <a:extLst>
              <a:ext uri="{FF2B5EF4-FFF2-40B4-BE49-F238E27FC236}">
                <a16:creationId xmlns:a16="http://schemas.microsoft.com/office/drawing/2014/main" id="{75CC7116-0D68-AEE0-F3AA-5738E7C9F663}"/>
              </a:ext>
            </a:extLst>
          </p:cNvPr>
          <p:cNvSpPr/>
          <p:nvPr/>
        </p:nvSpPr>
        <p:spPr>
          <a:xfrm>
            <a:off x="3767328"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1" name="Rectangle 41">
            <a:extLst>
              <a:ext uri="{FF2B5EF4-FFF2-40B4-BE49-F238E27FC236}">
                <a16:creationId xmlns:a16="http://schemas.microsoft.com/office/drawing/2014/main" id="{0331AD44-DDB1-9676-B388-6C92C21A0A0D}"/>
              </a:ext>
            </a:extLst>
          </p:cNvPr>
          <p:cNvSpPr/>
          <p:nvPr/>
        </p:nvSpPr>
        <p:spPr>
          <a:xfrm>
            <a:off x="4919472"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3" name="Rectangle 42">
            <a:extLst>
              <a:ext uri="{FF2B5EF4-FFF2-40B4-BE49-F238E27FC236}">
                <a16:creationId xmlns:a16="http://schemas.microsoft.com/office/drawing/2014/main" id="{E8FFC0A2-2357-92B7-1C19-EEA69C76294B}"/>
              </a:ext>
            </a:extLst>
          </p:cNvPr>
          <p:cNvSpPr/>
          <p:nvPr/>
        </p:nvSpPr>
        <p:spPr>
          <a:xfrm>
            <a:off x="6071616"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5" name="Rectangle 43">
            <a:extLst>
              <a:ext uri="{FF2B5EF4-FFF2-40B4-BE49-F238E27FC236}">
                <a16:creationId xmlns:a16="http://schemas.microsoft.com/office/drawing/2014/main" id="{6B13204F-831A-41C7-355D-11C8A35D7F53}"/>
              </a:ext>
            </a:extLst>
          </p:cNvPr>
          <p:cNvSpPr/>
          <p:nvPr/>
        </p:nvSpPr>
        <p:spPr>
          <a:xfrm>
            <a:off x="7223760"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77" name="Rectangle 44">
            <a:extLst>
              <a:ext uri="{FF2B5EF4-FFF2-40B4-BE49-F238E27FC236}">
                <a16:creationId xmlns:a16="http://schemas.microsoft.com/office/drawing/2014/main" id="{97032AD7-3026-A0FE-32F3-DD27D7313366}"/>
              </a:ext>
            </a:extLst>
          </p:cNvPr>
          <p:cNvSpPr/>
          <p:nvPr/>
        </p:nvSpPr>
        <p:spPr>
          <a:xfrm>
            <a:off x="8375904"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9" name="Rectangle 45">
            <a:extLst>
              <a:ext uri="{FF2B5EF4-FFF2-40B4-BE49-F238E27FC236}">
                <a16:creationId xmlns:a16="http://schemas.microsoft.com/office/drawing/2014/main" id="{3ADF3E0A-9911-06FB-98B2-85AD95D9DC05}"/>
              </a:ext>
            </a:extLst>
          </p:cNvPr>
          <p:cNvSpPr/>
          <p:nvPr/>
        </p:nvSpPr>
        <p:spPr>
          <a:xfrm>
            <a:off x="384048" y="4623634"/>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⑥ 企画配信</a:t>
            </a:r>
          </a:p>
        </p:txBody>
      </p:sp>
      <p:sp>
        <p:nvSpPr>
          <p:cNvPr id="181" name="Rectangle 46">
            <a:extLst>
              <a:ext uri="{FF2B5EF4-FFF2-40B4-BE49-F238E27FC236}">
                <a16:creationId xmlns:a16="http://schemas.microsoft.com/office/drawing/2014/main" id="{81A43C7F-2A31-08D4-D136-672F79B135F4}"/>
              </a:ext>
            </a:extLst>
          </p:cNvPr>
          <p:cNvSpPr/>
          <p:nvPr/>
        </p:nvSpPr>
        <p:spPr>
          <a:xfrm>
            <a:off x="2578608" y="4623634"/>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83" name="Rectangle 47">
            <a:extLst>
              <a:ext uri="{FF2B5EF4-FFF2-40B4-BE49-F238E27FC236}">
                <a16:creationId xmlns:a16="http://schemas.microsoft.com/office/drawing/2014/main" id="{AC663C8A-1A44-5E0D-18DB-CDEBA22BD084}"/>
              </a:ext>
            </a:extLst>
          </p:cNvPr>
          <p:cNvSpPr/>
          <p:nvPr/>
        </p:nvSpPr>
        <p:spPr>
          <a:xfrm>
            <a:off x="3767328"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5" name="Rectangle 48">
            <a:extLst>
              <a:ext uri="{FF2B5EF4-FFF2-40B4-BE49-F238E27FC236}">
                <a16:creationId xmlns:a16="http://schemas.microsoft.com/office/drawing/2014/main" id="{593C58F8-7428-8726-B84F-B1A8BF819D76}"/>
              </a:ext>
            </a:extLst>
          </p:cNvPr>
          <p:cNvSpPr/>
          <p:nvPr/>
        </p:nvSpPr>
        <p:spPr>
          <a:xfrm>
            <a:off x="4919472"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7" name="Rectangle 49">
            <a:extLst>
              <a:ext uri="{FF2B5EF4-FFF2-40B4-BE49-F238E27FC236}">
                <a16:creationId xmlns:a16="http://schemas.microsoft.com/office/drawing/2014/main" id="{623B2847-331D-6B25-8DD7-9819D7D1BA82}"/>
              </a:ext>
            </a:extLst>
          </p:cNvPr>
          <p:cNvSpPr/>
          <p:nvPr/>
        </p:nvSpPr>
        <p:spPr>
          <a:xfrm>
            <a:off x="6071616"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89" name="Rectangle 50">
            <a:extLst>
              <a:ext uri="{FF2B5EF4-FFF2-40B4-BE49-F238E27FC236}">
                <a16:creationId xmlns:a16="http://schemas.microsoft.com/office/drawing/2014/main" id="{EA6E0F6C-83E1-4256-F51C-9E8CC7E87158}"/>
              </a:ext>
            </a:extLst>
          </p:cNvPr>
          <p:cNvSpPr/>
          <p:nvPr/>
        </p:nvSpPr>
        <p:spPr>
          <a:xfrm>
            <a:off x="7223760"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91" name="Rectangle 51">
            <a:extLst>
              <a:ext uri="{FF2B5EF4-FFF2-40B4-BE49-F238E27FC236}">
                <a16:creationId xmlns:a16="http://schemas.microsoft.com/office/drawing/2014/main" id="{30FBCC1D-C3D9-761F-4E3B-CDF1D885FD38}"/>
              </a:ext>
            </a:extLst>
          </p:cNvPr>
          <p:cNvSpPr/>
          <p:nvPr/>
        </p:nvSpPr>
        <p:spPr>
          <a:xfrm>
            <a:off x="8375904"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93" name="Rectangle 52">
            <a:extLst>
              <a:ext uri="{FF2B5EF4-FFF2-40B4-BE49-F238E27FC236}">
                <a16:creationId xmlns:a16="http://schemas.microsoft.com/office/drawing/2014/main" id="{9F969861-65E2-7DEA-1D8D-3C991DC6FCAD}"/>
              </a:ext>
            </a:extLst>
          </p:cNvPr>
          <p:cNvSpPr/>
          <p:nvPr/>
        </p:nvSpPr>
        <p:spPr>
          <a:xfrm>
            <a:off x="384048" y="5118715"/>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⑦ リッチメニュー</a:t>
            </a:r>
          </a:p>
        </p:txBody>
      </p:sp>
      <p:sp>
        <p:nvSpPr>
          <p:cNvPr id="195" name="Rectangle 53">
            <a:extLst>
              <a:ext uri="{FF2B5EF4-FFF2-40B4-BE49-F238E27FC236}">
                <a16:creationId xmlns:a16="http://schemas.microsoft.com/office/drawing/2014/main" id="{FEB00F4C-6D07-AD41-CDD3-7D400EE74D94}"/>
              </a:ext>
            </a:extLst>
          </p:cNvPr>
          <p:cNvSpPr/>
          <p:nvPr/>
        </p:nvSpPr>
        <p:spPr>
          <a:xfrm>
            <a:off x="2578608" y="5118715"/>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97" name="Rectangle 54">
            <a:extLst>
              <a:ext uri="{FF2B5EF4-FFF2-40B4-BE49-F238E27FC236}">
                <a16:creationId xmlns:a16="http://schemas.microsoft.com/office/drawing/2014/main" id="{474006B6-8EF9-5160-0A19-AAD059407EE5}"/>
              </a:ext>
            </a:extLst>
          </p:cNvPr>
          <p:cNvSpPr/>
          <p:nvPr/>
        </p:nvSpPr>
        <p:spPr>
          <a:xfrm>
            <a:off x="3767328"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99" name="Rectangle 55">
            <a:extLst>
              <a:ext uri="{FF2B5EF4-FFF2-40B4-BE49-F238E27FC236}">
                <a16:creationId xmlns:a16="http://schemas.microsoft.com/office/drawing/2014/main" id="{835DFC8E-494C-23F3-5A75-365D4389E0A1}"/>
              </a:ext>
            </a:extLst>
          </p:cNvPr>
          <p:cNvSpPr/>
          <p:nvPr/>
        </p:nvSpPr>
        <p:spPr>
          <a:xfrm>
            <a:off x="4919472" y="5118715"/>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201" name="Rectangle 56">
            <a:extLst>
              <a:ext uri="{FF2B5EF4-FFF2-40B4-BE49-F238E27FC236}">
                <a16:creationId xmlns:a16="http://schemas.microsoft.com/office/drawing/2014/main" id="{508AA054-C140-CE04-06DD-6D9CFC991D51}"/>
              </a:ext>
            </a:extLst>
          </p:cNvPr>
          <p:cNvSpPr/>
          <p:nvPr/>
        </p:nvSpPr>
        <p:spPr>
          <a:xfrm>
            <a:off x="6071616"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03" name="Rectangle 57">
            <a:extLst>
              <a:ext uri="{FF2B5EF4-FFF2-40B4-BE49-F238E27FC236}">
                <a16:creationId xmlns:a16="http://schemas.microsoft.com/office/drawing/2014/main" id="{0A32F90C-518A-01EC-ACCD-61CF0DA46AE2}"/>
              </a:ext>
            </a:extLst>
          </p:cNvPr>
          <p:cNvSpPr/>
          <p:nvPr/>
        </p:nvSpPr>
        <p:spPr>
          <a:xfrm>
            <a:off x="7223760"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5" name="Rectangle 58">
            <a:extLst>
              <a:ext uri="{FF2B5EF4-FFF2-40B4-BE49-F238E27FC236}">
                <a16:creationId xmlns:a16="http://schemas.microsoft.com/office/drawing/2014/main" id="{E5905130-E57A-E645-DD15-13FCB3239157}"/>
              </a:ext>
            </a:extLst>
          </p:cNvPr>
          <p:cNvSpPr/>
          <p:nvPr/>
        </p:nvSpPr>
        <p:spPr>
          <a:xfrm>
            <a:off x="8375904"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7" name="Rectangle 59">
            <a:extLst>
              <a:ext uri="{FF2B5EF4-FFF2-40B4-BE49-F238E27FC236}">
                <a16:creationId xmlns:a16="http://schemas.microsoft.com/office/drawing/2014/main" id="{670A42D2-0E96-12D3-B85F-5BE6BFDE1675}"/>
              </a:ext>
            </a:extLst>
          </p:cNvPr>
          <p:cNvSpPr/>
          <p:nvPr/>
        </p:nvSpPr>
        <p:spPr>
          <a:xfrm>
            <a:off x="384048" y="5613796"/>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⑧ 自動応答</a:t>
            </a:r>
          </a:p>
        </p:txBody>
      </p:sp>
      <p:sp>
        <p:nvSpPr>
          <p:cNvPr id="209" name="Rectangle 60">
            <a:extLst>
              <a:ext uri="{FF2B5EF4-FFF2-40B4-BE49-F238E27FC236}">
                <a16:creationId xmlns:a16="http://schemas.microsoft.com/office/drawing/2014/main" id="{BA384BB0-B57F-BDEA-8AFD-F70160763ED6}"/>
              </a:ext>
            </a:extLst>
          </p:cNvPr>
          <p:cNvSpPr/>
          <p:nvPr/>
        </p:nvSpPr>
        <p:spPr>
          <a:xfrm>
            <a:off x="2578608" y="5613796"/>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211" name="Rectangle 61">
            <a:extLst>
              <a:ext uri="{FF2B5EF4-FFF2-40B4-BE49-F238E27FC236}">
                <a16:creationId xmlns:a16="http://schemas.microsoft.com/office/drawing/2014/main" id="{8CF9A974-AF48-0226-F298-3354D9E8A871}"/>
              </a:ext>
            </a:extLst>
          </p:cNvPr>
          <p:cNvSpPr/>
          <p:nvPr/>
        </p:nvSpPr>
        <p:spPr>
          <a:xfrm>
            <a:off x="3767328"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3" name="Rectangle 62">
            <a:extLst>
              <a:ext uri="{FF2B5EF4-FFF2-40B4-BE49-F238E27FC236}">
                <a16:creationId xmlns:a16="http://schemas.microsoft.com/office/drawing/2014/main" id="{4AF384A8-31D1-31F4-4E26-ECFC1A5A1189}"/>
              </a:ext>
            </a:extLst>
          </p:cNvPr>
          <p:cNvSpPr/>
          <p:nvPr/>
        </p:nvSpPr>
        <p:spPr>
          <a:xfrm>
            <a:off x="4919472"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5" name="Rectangle 63">
            <a:extLst>
              <a:ext uri="{FF2B5EF4-FFF2-40B4-BE49-F238E27FC236}">
                <a16:creationId xmlns:a16="http://schemas.microsoft.com/office/drawing/2014/main" id="{EBB135C8-694D-04ED-2331-A114B5F6A2E2}"/>
              </a:ext>
            </a:extLst>
          </p:cNvPr>
          <p:cNvSpPr/>
          <p:nvPr/>
        </p:nvSpPr>
        <p:spPr>
          <a:xfrm>
            <a:off x="6071616"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7" name="Rectangle 64">
            <a:extLst>
              <a:ext uri="{FF2B5EF4-FFF2-40B4-BE49-F238E27FC236}">
                <a16:creationId xmlns:a16="http://schemas.microsoft.com/office/drawing/2014/main" id="{7BE70E8C-EF6D-E9D1-E47E-1FD6C3CCD3C9}"/>
              </a:ext>
            </a:extLst>
          </p:cNvPr>
          <p:cNvSpPr/>
          <p:nvPr/>
        </p:nvSpPr>
        <p:spPr>
          <a:xfrm>
            <a:off x="7223760"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9" name="Rectangle 65">
            <a:extLst>
              <a:ext uri="{FF2B5EF4-FFF2-40B4-BE49-F238E27FC236}">
                <a16:creationId xmlns:a16="http://schemas.microsoft.com/office/drawing/2014/main" id="{1EE8F08D-6C1C-22F4-2DD7-D1DDB06A7245}"/>
              </a:ext>
            </a:extLst>
          </p:cNvPr>
          <p:cNvSpPr/>
          <p:nvPr/>
        </p:nvSpPr>
        <p:spPr>
          <a:xfrm>
            <a:off x="8375904"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21" name="Rectangle 66">
            <a:extLst>
              <a:ext uri="{FF2B5EF4-FFF2-40B4-BE49-F238E27FC236}">
                <a16:creationId xmlns:a16="http://schemas.microsoft.com/office/drawing/2014/main" id="{5AB0CFB9-851A-14A5-120D-2BF5670B93F5}"/>
              </a:ext>
            </a:extLst>
          </p:cNvPr>
          <p:cNvSpPr/>
          <p:nvPr/>
        </p:nvSpPr>
        <p:spPr>
          <a:xfrm>
            <a:off x="384048" y="6124303"/>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当社想定の整理</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初期標準」は構築時に設定する標準機能</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運用</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入口」は運用しながら改善する施策</a:t>
            </a:r>
            <a:endParaRPr sz="800" b="0" dirty="0">
              <a:solidFill>
                <a:srgbClr val="777777"/>
              </a:solidFill>
              <a:latin typeface="メイリオ"/>
              <a:ea typeface="メイリオ"/>
              <a:cs typeface="メイリオ"/>
            </a:endParaRPr>
          </a:p>
        </p:txBody>
      </p:sp>
    </p:spTree>
    <p:extLst>
      <p:ext uri="{BB962C8B-B14F-4D97-AF65-F5344CB8AC3E}">
        <p14:creationId xmlns:p14="http://schemas.microsoft.com/office/powerpoint/2010/main" val="25879365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65A1212B-9A99-C03C-9B39-B48B0013BC6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77655FAD-2CE9-1ACF-42D9-A55667D797D3}"/>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endParaRPr kumimoji="1" lang="ja-JP" altLang="en-US" sz="1400" dirty="0">
              <a:latin typeface="メイリオ" panose="020B0604030504040204" pitchFamily="50" charset="-128"/>
              <a:ea typeface="メイリオ" panose="020B0604030504040204" pitchFamily="50" charset="-128"/>
            </a:endParaRPr>
          </a:p>
        </p:txBody>
      </p:sp>
      <p:sp>
        <p:nvSpPr>
          <p:cNvPr id="10" name="Google Shape;752;p28">
            <a:extLst>
              <a:ext uri="{FF2B5EF4-FFF2-40B4-BE49-F238E27FC236}">
                <a16:creationId xmlns:a16="http://schemas.microsoft.com/office/drawing/2014/main" id="{B56FE2F8-7980-8B94-6C87-C3C5C519D1BB}"/>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ユーザーニーズが高まったタイミング（業界キーワードの検索）を軸に</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比較されるサービスや懸念軸を参照し、ステップ配信を構築。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877" name="四角形: 角を丸くする 876">
            <a:extLst>
              <a:ext uri="{FF2B5EF4-FFF2-40B4-BE49-F238E27FC236}">
                <a16:creationId xmlns:a16="http://schemas.microsoft.com/office/drawing/2014/main" id="{A27EA2E2-51F5-1DC6-547F-CC48303CA4E1}"/>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pic>
        <p:nvPicPr>
          <p:cNvPr id="262" name="前後検索 派遣 登録（色分け）">
            <a:extLst>
              <a:ext uri="{FF2B5EF4-FFF2-40B4-BE49-F238E27FC236}">
                <a16:creationId xmlns:a16="http://schemas.microsoft.com/office/drawing/2014/main" id="{B2125166-5E25-29DA-D966-FEA0209E7D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698" y="2159248"/>
            <a:ext cx="7040655" cy="4107050"/>
          </a:xfrm>
          <a:prstGeom prst="rect">
            <a:avLst/>
          </a:prstGeom>
        </p:spPr>
      </p:pic>
      <p:sp>
        <p:nvSpPr>
          <p:cNvPr id="263" name="正方形/長方形 262">
            <a:extLst>
              <a:ext uri="{FF2B5EF4-FFF2-40B4-BE49-F238E27FC236}">
                <a16:creationId xmlns:a16="http://schemas.microsoft.com/office/drawing/2014/main" id="{748363DA-2C29-7135-6BD0-55F74CF1062A}"/>
              </a:ext>
            </a:extLst>
          </p:cNvPr>
          <p:cNvSpPr/>
          <p:nvPr/>
        </p:nvSpPr>
        <p:spPr>
          <a:xfrm>
            <a:off x="1141763" y="6219402"/>
            <a:ext cx="3202899"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前</a:t>
            </a:r>
            <a:r>
              <a:rPr kumimoji="1" lang="en-US" altLang="ja-JP" sz="1050" b="1" dirty="0">
                <a:solidFill>
                  <a:schemeClr val="tx1"/>
                </a:solidFill>
                <a:latin typeface="メイリオ" panose="020B0604030504040204" pitchFamily="50" charset="-128"/>
                <a:ea typeface="メイリオ" panose="020B0604030504040204" pitchFamily="50" charset="-128"/>
              </a:rPr>
              <a:t>”15</a:t>
            </a:r>
            <a:r>
              <a:rPr kumimoji="1"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264" name="正方形/長方形 263">
            <a:extLst>
              <a:ext uri="{FF2B5EF4-FFF2-40B4-BE49-F238E27FC236}">
                <a16:creationId xmlns:a16="http://schemas.microsoft.com/office/drawing/2014/main" id="{E30C2E59-75D1-61B8-7100-9431FCDA1BB0}"/>
              </a:ext>
            </a:extLst>
          </p:cNvPr>
          <p:cNvSpPr/>
          <p:nvPr/>
        </p:nvSpPr>
        <p:spPr>
          <a:xfrm>
            <a:off x="4454391" y="6219402"/>
            <a:ext cx="3400636"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後</a:t>
            </a:r>
            <a:r>
              <a:rPr lang="en-US" altLang="ja-JP" sz="1050" b="1" dirty="0">
                <a:solidFill>
                  <a:schemeClr val="tx1"/>
                </a:solidFill>
                <a:latin typeface="メイリオ" panose="020B0604030504040204" pitchFamily="50" charset="-128"/>
                <a:ea typeface="メイリオ" panose="020B0604030504040204" pitchFamily="50" charset="-128"/>
              </a:rPr>
              <a:t>”15</a:t>
            </a:r>
            <a:r>
              <a:rPr lang="ja-JP" altLang="en-US" sz="1050" b="1" dirty="0">
                <a:solidFill>
                  <a:schemeClr val="tx1"/>
                </a:solidFill>
                <a:latin typeface="メイリオ" panose="020B0604030504040204" pitchFamily="50" charset="-128"/>
                <a:ea typeface="メイリオ" panose="020B0604030504040204" pitchFamily="50" charset="-128"/>
              </a:rPr>
              <a:t>日</a:t>
            </a:r>
          </a:p>
        </p:txBody>
      </p:sp>
      <p:cxnSp>
        <p:nvCxnSpPr>
          <p:cNvPr id="265" name="直線矢印コネクタ 264">
            <a:extLst>
              <a:ext uri="{FF2B5EF4-FFF2-40B4-BE49-F238E27FC236}">
                <a16:creationId xmlns:a16="http://schemas.microsoft.com/office/drawing/2014/main" id="{D5256C44-BCFD-25DA-BA57-DCD0FDFF9A61}"/>
              </a:ext>
            </a:extLst>
          </p:cNvPr>
          <p:cNvCxnSpPr>
            <a:cxnSpLocks/>
          </p:cNvCxnSpPr>
          <p:nvPr/>
        </p:nvCxnSpPr>
        <p:spPr>
          <a:xfrm flipV="1">
            <a:off x="245734" y="1875367"/>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66" name="テキスト ボックス 265">
            <a:extLst>
              <a:ext uri="{FF2B5EF4-FFF2-40B4-BE49-F238E27FC236}">
                <a16:creationId xmlns:a16="http://schemas.microsoft.com/office/drawing/2014/main" id="{7C17D56F-1AC6-34AD-A4BB-4EC0DABD016D}"/>
              </a:ext>
            </a:extLst>
          </p:cNvPr>
          <p:cNvSpPr txBox="1"/>
          <p:nvPr/>
        </p:nvSpPr>
        <p:spPr>
          <a:xfrm>
            <a:off x="174707" y="2012591"/>
            <a:ext cx="1079863" cy="253916"/>
          </a:xfrm>
          <a:prstGeom prst="rect">
            <a:avLst/>
          </a:prstGeom>
          <a:noFill/>
        </p:spPr>
        <p:txBody>
          <a:bodyPr wrap="square">
            <a:spAutoFit/>
          </a:bodyPr>
          <a:lstStyle/>
          <a:p>
            <a:r>
              <a:rPr lang="ja-JP" altLang="en-US" sz="1050" b="1" dirty="0">
                <a:solidFill>
                  <a:srgbClr val="FF0000"/>
                </a:solidFill>
                <a:latin typeface="メイリオ" panose="020B0604030504040204" pitchFamily="50" charset="-128"/>
                <a:ea typeface="メイリオ" panose="020B0604030504040204" pitchFamily="50" charset="-128"/>
              </a:rPr>
              <a:t>検索</a:t>
            </a:r>
            <a:r>
              <a:rPr lang="en-US" altLang="ja-JP" sz="1050" b="1" dirty="0">
                <a:solidFill>
                  <a:srgbClr val="FF0000"/>
                </a:solidFill>
                <a:latin typeface="メイリオ" panose="020B0604030504040204" pitchFamily="50" charset="-128"/>
                <a:ea typeface="メイリオ" panose="020B0604030504040204" pitchFamily="50" charset="-128"/>
              </a:rPr>
              <a:t>Vol:</a:t>
            </a:r>
            <a:r>
              <a:rPr lang="ja-JP" altLang="en-US" sz="1050" b="1" dirty="0">
                <a:solidFill>
                  <a:srgbClr val="FF0000"/>
                </a:solidFill>
                <a:latin typeface="メイリオ" panose="020B0604030504040204" pitchFamily="50" charset="-128"/>
                <a:ea typeface="メイリオ" panose="020B0604030504040204" pitchFamily="50" charset="-128"/>
              </a:rPr>
              <a:t>多</a:t>
            </a:r>
            <a:endParaRPr kumimoji="1" lang="ja-JP" altLang="en-US" sz="1050" b="1" dirty="0">
              <a:solidFill>
                <a:srgbClr val="FF0000"/>
              </a:solidFill>
              <a:latin typeface="メイリオ" panose="020B0604030504040204" pitchFamily="50" charset="-128"/>
              <a:ea typeface="メイリオ" panose="020B0604030504040204" pitchFamily="50" charset="-128"/>
            </a:endParaRPr>
          </a:p>
        </p:txBody>
      </p:sp>
      <p:sp>
        <p:nvSpPr>
          <p:cNvPr id="267" name="正方形/長方形 266">
            <a:extLst>
              <a:ext uri="{FF2B5EF4-FFF2-40B4-BE49-F238E27FC236}">
                <a16:creationId xmlns:a16="http://schemas.microsoft.com/office/drawing/2014/main" id="{AD15A6B3-E0B8-2B6E-5872-4F23BABCE27E}"/>
              </a:ext>
            </a:extLst>
          </p:cNvPr>
          <p:cNvSpPr/>
          <p:nvPr/>
        </p:nvSpPr>
        <p:spPr>
          <a:xfrm>
            <a:off x="4454391" y="1702353"/>
            <a:ext cx="841358"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68" name="図 267" descr="LINE公式アカウントのロゴを活用しよう！注意点やNG例も合わせて解説 - LINEマーケティングツールFANVO">
            <a:extLst>
              <a:ext uri="{FF2B5EF4-FFF2-40B4-BE49-F238E27FC236}">
                <a16:creationId xmlns:a16="http://schemas.microsoft.com/office/drawing/2014/main" id="{4024ED2F-A038-044E-2128-7BF7E408248D}"/>
              </a:ext>
            </a:extLst>
          </p:cNvPr>
          <p:cNvPicPr>
            <a:picLocks noChangeAspect="1"/>
          </p:cNvPicPr>
          <p:nvPr/>
        </p:nvPicPr>
        <p:blipFill>
          <a:blip r:embed="rId3"/>
          <a:stretch>
            <a:fillRect/>
          </a:stretch>
        </p:blipFill>
        <p:spPr>
          <a:xfrm>
            <a:off x="4317231" y="1580689"/>
            <a:ext cx="419340" cy="418460"/>
          </a:xfrm>
          <a:prstGeom prst="rect">
            <a:avLst/>
          </a:prstGeom>
        </p:spPr>
      </p:pic>
      <p:sp>
        <p:nvSpPr>
          <p:cNvPr id="269" name="テキスト ボックス 268">
            <a:extLst>
              <a:ext uri="{FF2B5EF4-FFF2-40B4-BE49-F238E27FC236}">
                <a16:creationId xmlns:a16="http://schemas.microsoft.com/office/drawing/2014/main" id="{3EAD58A7-446F-1E3A-A612-6D6F889B81B1}"/>
              </a:ext>
            </a:extLst>
          </p:cNvPr>
          <p:cNvSpPr txBox="1"/>
          <p:nvPr/>
        </p:nvSpPr>
        <p:spPr>
          <a:xfrm>
            <a:off x="4646415" y="1744562"/>
            <a:ext cx="1195820" cy="430887"/>
          </a:xfrm>
          <a:prstGeom prst="rect">
            <a:avLst/>
          </a:prstGeom>
          <a:noFill/>
        </p:spPr>
        <p:txBody>
          <a:bodyPr wrap="square">
            <a:spAutoFit/>
          </a:bodyPr>
          <a:lstStyle/>
          <a:p>
            <a:r>
              <a:rPr lang="en-US" altLang="ja-JP" sz="1100" b="1" dirty="0">
                <a:latin typeface="Meiryo"/>
                <a:ea typeface="Meiryo"/>
                <a:cs typeface="Meiryo"/>
                <a:sym typeface="Meiryo"/>
              </a:rPr>
              <a:t>OA</a:t>
            </a:r>
            <a:r>
              <a:rPr lang="ja-JP" altLang="en-US" sz="1100" b="1" dirty="0">
                <a:latin typeface="Meiryo"/>
                <a:ea typeface="Meiryo"/>
                <a:cs typeface="Meiryo"/>
                <a:sym typeface="Meiryo"/>
              </a:rPr>
              <a:t>追加想定</a:t>
            </a:r>
            <a:endParaRPr lang="en-US" altLang="ja-JP" sz="1100" b="1" dirty="0">
              <a:latin typeface="Meiryo"/>
              <a:ea typeface="Meiryo"/>
              <a:cs typeface="Meiryo"/>
              <a:sym typeface="Meiryo"/>
            </a:endParaRPr>
          </a:p>
          <a:p>
            <a:r>
              <a:rPr lang="en-US" altLang="ja-JP" sz="1000" b="1" dirty="0">
                <a:solidFill>
                  <a:srgbClr val="00B050"/>
                </a:solidFill>
                <a:latin typeface="Meiryo"/>
                <a:ea typeface="Meiryo"/>
                <a:sym typeface="Meiryo"/>
              </a:rPr>
              <a:t>※</a:t>
            </a:r>
            <a:r>
              <a:rPr lang="ja-JP" altLang="en-US" sz="1000" b="1" dirty="0">
                <a:solidFill>
                  <a:srgbClr val="00B050"/>
                </a:solidFill>
                <a:latin typeface="Meiryo"/>
                <a:ea typeface="Meiryo"/>
                <a:sym typeface="Meiryo"/>
              </a:rPr>
              <a:t>検索</a:t>
            </a:r>
            <a:r>
              <a:rPr lang="en-US" altLang="ja-JP" sz="1000" b="1" dirty="0">
                <a:solidFill>
                  <a:srgbClr val="00B050"/>
                </a:solidFill>
                <a:latin typeface="Meiryo"/>
                <a:ea typeface="Meiryo"/>
                <a:sym typeface="Meiryo"/>
              </a:rPr>
              <a:t>0-1</a:t>
            </a:r>
            <a:r>
              <a:rPr lang="ja-JP" altLang="en-US" sz="1000" b="1" dirty="0">
                <a:solidFill>
                  <a:srgbClr val="00B050"/>
                </a:solidFill>
                <a:latin typeface="Meiryo"/>
                <a:ea typeface="Meiryo"/>
                <a:sym typeface="Meiryo"/>
              </a:rPr>
              <a:t>日後</a:t>
            </a:r>
            <a:endParaRPr lang="ja-JP" altLang="en-US" sz="1050" dirty="0">
              <a:solidFill>
                <a:srgbClr val="00B050"/>
              </a:solidFill>
            </a:endParaRPr>
          </a:p>
        </p:txBody>
      </p:sp>
      <p:sp>
        <p:nvSpPr>
          <p:cNvPr id="270" name="四角形: 角を丸くする 269">
            <a:extLst>
              <a:ext uri="{FF2B5EF4-FFF2-40B4-BE49-F238E27FC236}">
                <a16:creationId xmlns:a16="http://schemas.microsoft.com/office/drawing/2014/main" id="{77F6F52A-D5A9-4873-22B4-9CE879E47445}"/>
              </a:ext>
            </a:extLst>
          </p:cNvPr>
          <p:cNvSpPr/>
          <p:nvPr/>
        </p:nvSpPr>
        <p:spPr>
          <a:xfrm>
            <a:off x="7920174" y="1851176"/>
            <a:ext cx="1463040" cy="253916"/>
          </a:xfrm>
          <a:prstGeom prst="roundRect">
            <a:avLst/>
          </a:prstGeom>
          <a:solidFill>
            <a:srgbClr val="3467B2">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働き方・会社を比べる</a:t>
            </a:r>
          </a:p>
        </p:txBody>
      </p:sp>
      <p:sp>
        <p:nvSpPr>
          <p:cNvPr id="271" name="四角形: 角を丸くする 270">
            <a:extLst>
              <a:ext uri="{FF2B5EF4-FFF2-40B4-BE49-F238E27FC236}">
                <a16:creationId xmlns:a16="http://schemas.microsoft.com/office/drawing/2014/main" id="{BDF2EB8F-D2D1-3527-8285-48540FD924E7}"/>
              </a:ext>
            </a:extLst>
          </p:cNvPr>
          <p:cNvSpPr/>
          <p:nvPr/>
        </p:nvSpPr>
        <p:spPr>
          <a:xfrm>
            <a:off x="7920174" y="2146211"/>
            <a:ext cx="1463040" cy="253916"/>
          </a:xfrm>
          <a:prstGeom prst="roundRect">
            <a:avLst/>
          </a:prstGeom>
          <a:solidFill>
            <a:srgbClr val="8E4EC6">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登録・応募の準備</a:t>
            </a:r>
          </a:p>
        </p:txBody>
      </p:sp>
      <p:sp>
        <p:nvSpPr>
          <p:cNvPr id="272" name="四角形: 角を丸くする 271">
            <a:extLst>
              <a:ext uri="{FF2B5EF4-FFF2-40B4-BE49-F238E27FC236}">
                <a16:creationId xmlns:a16="http://schemas.microsoft.com/office/drawing/2014/main" id="{8E99E04D-7CD5-C5BF-1D3C-9103098EBCA6}"/>
              </a:ext>
            </a:extLst>
          </p:cNvPr>
          <p:cNvSpPr/>
          <p:nvPr/>
        </p:nvSpPr>
        <p:spPr>
          <a:xfrm>
            <a:off x="7920174" y="2435334"/>
            <a:ext cx="1463040" cy="253916"/>
          </a:xfrm>
          <a:prstGeom prst="roundRect">
            <a:avLst/>
          </a:prstGeom>
          <a:solidFill>
            <a:srgbClr val="00897B">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お金・保険を調べる</a:t>
            </a:r>
          </a:p>
        </p:txBody>
      </p:sp>
      <p:pic>
        <p:nvPicPr>
          <p:cNvPr id="849" name="図 848" descr="LINEヤフー株式会社」発足 | LINEヤフー株式会社のプレスリリース">
            <a:extLst>
              <a:ext uri="{FF2B5EF4-FFF2-40B4-BE49-F238E27FC236}">
                <a16:creationId xmlns:a16="http://schemas.microsoft.com/office/drawing/2014/main" id="{60D7FCFC-3E1E-701A-1303-62D7A9D128FA}"/>
              </a:ext>
            </a:extLst>
          </p:cNvPr>
          <p:cNvPicPr>
            <a:picLocks noChangeAspect="1"/>
          </p:cNvPicPr>
          <p:nvPr/>
        </p:nvPicPr>
        <p:blipFill>
          <a:blip r:embed="rId4"/>
          <a:stretch>
            <a:fillRect/>
          </a:stretch>
        </p:blipFill>
        <p:spPr>
          <a:xfrm>
            <a:off x="46676" y="1461167"/>
            <a:ext cx="1005885" cy="288352"/>
          </a:xfrm>
          <a:prstGeom prst="rect">
            <a:avLst/>
          </a:prstGeom>
        </p:spPr>
      </p:pic>
      <p:sp>
        <p:nvSpPr>
          <p:cNvPr id="850" name="テキスト ボックス 849">
            <a:extLst>
              <a:ext uri="{FF2B5EF4-FFF2-40B4-BE49-F238E27FC236}">
                <a16:creationId xmlns:a16="http://schemas.microsoft.com/office/drawing/2014/main" id="{3A261F00-4A8B-21CB-F7B0-8CC632CF7CDD}"/>
              </a:ext>
            </a:extLst>
          </p:cNvPr>
          <p:cNvSpPr txBox="1"/>
          <p:nvPr/>
        </p:nvSpPr>
        <p:spPr>
          <a:xfrm>
            <a:off x="1009178" y="1497381"/>
            <a:ext cx="4962524" cy="253916"/>
          </a:xfrm>
          <a:prstGeom prst="rect">
            <a:avLst/>
          </a:prstGeom>
          <a:noFill/>
        </p:spPr>
        <p:txBody>
          <a:bodyPr wrap="square">
            <a:spAutoFit/>
          </a:bodyPr>
          <a:lstStyle/>
          <a:p>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上位代理店限定での公開データ</a:t>
            </a:r>
          </a:p>
        </p:txBody>
      </p:sp>
      <p:sp>
        <p:nvSpPr>
          <p:cNvPr id="851" name="テキスト ボックス 850">
            <a:extLst>
              <a:ext uri="{FF2B5EF4-FFF2-40B4-BE49-F238E27FC236}">
                <a16:creationId xmlns:a16="http://schemas.microsoft.com/office/drawing/2014/main" id="{3BD55E69-4725-07C2-26E9-B6484FEEF81E}"/>
              </a:ext>
            </a:extLst>
          </p:cNvPr>
          <p:cNvSpPr txBox="1"/>
          <p:nvPr/>
        </p:nvSpPr>
        <p:spPr>
          <a:xfrm>
            <a:off x="5870448" y="2542032"/>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852" name="正方形/長方形 851">
            <a:extLst>
              <a:ext uri="{FF2B5EF4-FFF2-40B4-BE49-F238E27FC236}">
                <a16:creationId xmlns:a16="http://schemas.microsoft.com/office/drawing/2014/main" id="{461533CA-41F7-8934-E587-4E31271808B7}"/>
              </a:ext>
            </a:extLst>
          </p:cNvPr>
          <p:cNvSpPr/>
          <p:nvPr/>
        </p:nvSpPr>
        <p:spPr>
          <a:xfrm>
            <a:off x="5623560" y="2240280"/>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派遣 登録</a:t>
            </a:r>
          </a:p>
        </p:txBody>
      </p:sp>
      <p:sp>
        <p:nvSpPr>
          <p:cNvPr id="3" name="矢印: 下 2">
            <a:extLst>
              <a:ext uri="{FF2B5EF4-FFF2-40B4-BE49-F238E27FC236}">
                <a16:creationId xmlns:a16="http://schemas.microsoft.com/office/drawing/2014/main" id="{4F31925E-982C-C749-2736-F69C9019276B}"/>
              </a:ext>
            </a:extLst>
          </p:cNvPr>
          <p:cNvSpPr/>
          <p:nvPr/>
        </p:nvSpPr>
        <p:spPr>
          <a:xfrm rot="16200000">
            <a:off x="7818572" y="4034181"/>
            <a:ext cx="792480" cy="586887"/>
          </a:xfrm>
          <a:prstGeom prst="downArrow">
            <a:avLst/>
          </a:prstGeom>
          <a:gradFill>
            <a:gsLst>
              <a:gs pos="4000">
                <a:schemeClr val="bg1">
                  <a:alpha val="70000"/>
                </a:schemeClr>
              </a:gs>
              <a:gs pos="100000">
                <a:schemeClr val="accent1">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D67EC0E9-2D4D-AC08-2177-AA06F517920B}"/>
              </a:ext>
            </a:extLst>
          </p:cNvPr>
          <p:cNvSpPr txBox="1"/>
          <p:nvPr/>
        </p:nvSpPr>
        <p:spPr>
          <a:xfrm>
            <a:off x="8439270" y="4065718"/>
            <a:ext cx="1461731" cy="523220"/>
          </a:xfrm>
          <a:prstGeom prst="rect">
            <a:avLst/>
          </a:prstGeom>
          <a:noFill/>
        </p:spPr>
        <p:txBody>
          <a:bodyPr wrap="square">
            <a:spAutoFit/>
          </a:bodyPr>
          <a:lstStyle/>
          <a:p>
            <a:r>
              <a:rPr lang="ja-JP" altLang="en-US" sz="800" b="1" dirty="0">
                <a:latin typeface="メイリオ" panose="020B0604030504040204" pitchFamily="50" charset="-128"/>
                <a:ea typeface="メイリオ" panose="020B0604030504040204" pitchFamily="50" charset="-128"/>
              </a:rPr>
              <a:t>長期検討</a:t>
            </a:r>
            <a:r>
              <a:rPr lang="ja-JP" altLang="en-US" sz="800" dirty="0">
                <a:latin typeface="メイリオ" panose="020B0604030504040204" pitchFamily="50" charset="-128"/>
                <a:ea typeface="メイリオ" panose="020B0604030504040204" pitchFamily="50" charset="-128"/>
              </a:rPr>
              <a:t>へ</a:t>
            </a:r>
            <a:endParaRPr lang="en-US" altLang="ja-JP" sz="800" dirty="0">
              <a:latin typeface="メイリオ" panose="020B0604030504040204" pitchFamily="50" charset="-128"/>
              <a:ea typeface="メイリオ" panose="020B0604030504040204" pitchFamily="50" charset="-128"/>
            </a:endParaRPr>
          </a:p>
          <a:p>
            <a:endParaRPr lang="en-US" altLang="ja-JP" sz="400">
              <a:latin typeface="メイリオ" panose="020B0604030504040204" pitchFamily="50" charset="-128"/>
              <a:ea typeface="メイリオ" panose="020B0604030504040204" pitchFamily="50" charset="-128"/>
            </a:endParaRPr>
          </a:p>
          <a:p>
            <a:r>
              <a:rPr lang="ja-JP" altLang="en-US" sz="800">
                <a:solidFill>
                  <a:schemeClr val="tx1">
                    <a:lumMod val="65000"/>
                    <a:lumOff val="35000"/>
                  </a:schemeClr>
                </a:solidFill>
                <a:latin typeface="メイリオ" panose="020B0604030504040204" pitchFamily="50" charset="-128"/>
                <a:ea typeface="メイリオ" panose="020B0604030504040204" pitchFamily="50" charset="-128"/>
              </a:rPr>
              <a:t>（休眠顧客開拓）</a:t>
            </a:r>
            <a:endParaRPr lang="en-US" altLang="ja-JP" sz="800">
              <a:solidFill>
                <a:schemeClr val="tx1">
                  <a:lumMod val="65000"/>
                  <a:lumOff val="35000"/>
                </a:schemeClr>
              </a:solidFill>
              <a:latin typeface="メイリオ" panose="020B0604030504040204" pitchFamily="50" charset="-128"/>
              <a:ea typeface="メイリオ" panose="020B0604030504040204" pitchFamily="50" charset="-128"/>
            </a:endParaRPr>
          </a:p>
          <a:p>
            <a:r>
              <a:rPr kumimoji="1" lang="ja-JP" altLang="en-US" sz="800">
                <a:solidFill>
                  <a:schemeClr val="tx1">
                    <a:lumMod val="65000"/>
                    <a:lumOff val="35000"/>
                  </a:schemeClr>
                </a:solidFill>
                <a:latin typeface="メイリオ" panose="020B0604030504040204" pitchFamily="50" charset="-128"/>
                <a:ea typeface="メイリオ" panose="020B0604030504040204" pitchFamily="50" charset="-128"/>
              </a:rPr>
              <a:t>（検討時期の長期化）</a:t>
            </a:r>
            <a:endParaRPr kumimoji="1" lang="ja-JP" altLang="en-US" sz="8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8C4735AA-05E6-2765-3241-F1C0FD49D261}"/>
              </a:ext>
            </a:extLst>
          </p:cNvPr>
          <p:cNvSpPr/>
          <p:nvPr/>
        </p:nvSpPr>
        <p:spPr>
          <a:xfrm>
            <a:off x="8469785" y="4170045"/>
            <a:ext cx="980015" cy="6331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816EC0D3-8B92-C366-931F-8E0D0054419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315B3646-9E2E-6F40-2994-87803CA084A9}"/>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p>
        </p:txBody>
      </p:sp>
      <p:sp>
        <p:nvSpPr>
          <p:cNvPr id="10" name="Google Shape;752;p28">
            <a:extLst>
              <a:ext uri="{FF2B5EF4-FFF2-40B4-BE49-F238E27FC236}">
                <a16:creationId xmlns:a16="http://schemas.microsoft.com/office/drawing/2014/main" id="{6C3BE050-25AB-CAF4-DDEA-32FB95EA3D92}"/>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検討が始まったタイミング（業界キーワードの検索）から段階ごとに</a:t>
            </a:r>
          </a:p>
          <a:p>
            <a:r>
              <a:rPr lang="ja-JP" altLang="en-US" sz="1600" b="1" dirty="0">
                <a:latin typeface="メイリオ" panose="020B0604030504040204" pitchFamily="50" charset="-128"/>
                <a:ea typeface="メイリオ" panose="020B0604030504040204" pitchFamily="50" charset="-128"/>
                <a:cs typeface="Meiryo"/>
                <a:sym typeface="Meiryo"/>
              </a:rPr>
              <a:t>不安を解消し、信頼を積み上げて15日以内に、CVへつなげる配信を構築。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42" name="四角形: 角を丸くする 241">
            <a:extLst>
              <a:ext uri="{FF2B5EF4-FFF2-40B4-BE49-F238E27FC236}">
                <a16:creationId xmlns:a16="http://schemas.microsoft.com/office/drawing/2014/main" id="{812533A9-C7B7-5409-741D-9F06F60FC4F0}"/>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915" name="TextBox 27">
            <a:extLst>
              <a:ext uri="{FF2B5EF4-FFF2-40B4-BE49-F238E27FC236}">
                <a16:creationId xmlns:a16="http://schemas.microsoft.com/office/drawing/2014/main" id="{5BFBF573-5D82-D526-FDE7-07974DC4CAE4}"/>
              </a:ext>
            </a:extLst>
          </p:cNvPr>
          <p:cNvSpPr txBox="1"/>
          <p:nvPr/>
        </p:nvSpPr>
        <p:spPr>
          <a:xfrm>
            <a:off x="266700" y="5459687"/>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検索当日の働き方の比較（Day1〜2）→ お金・保険の不安の解消（Day3〜4）→ 会社選び（Day6〜7）</a:t>
            </a:r>
            <a:endParaRPr kumimoji="0" lang="en-US" sz="1150" kern="0" dirty="0">
              <a:solidFill>
                <a:srgbClr val="5A6378"/>
              </a:solidFill>
              <a:latin typeface="メイリオ" panose="020B0604030504040204" pitchFamily="50" charset="-128"/>
              <a:ea typeface="メイリオ" panose="020B0604030504040204" pitchFamily="50" charset="-128"/>
              <a:cs typeface="Arial"/>
              <a:sym typeface="Arial"/>
            </a:endParaRPr>
          </a:p>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 </a:t>
            </a:r>
            <a:r>
              <a:rPr kumimoji="0" sz="1150" kern="0" dirty="0" err="1">
                <a:solidFill>
                  <a:srgbClr val="5A6378"/>
                </a:solidFill>
                <a:latin typeface="メイリオ" panose="020B0604030504040204" pitchFamily="50" charset="-128"/>
                <a:ea typeface="メイリオ" panose="020B0604030504040204" pitchFamily="50" charset="-128"/>
                <a:cs typeface="Arial"/>
                <a:sym typeface="Arial"/>
              </a:rPr>
              <a:t>ENTRYの案内</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（Day10〜15）と、</a:t>
            </a:r>
            <a:r>
              <a:rPr kumimoji="0" sz="1150" b="1" kern="0" dirty="0">
                <a:solidFill>
                  <a:srgbClr val="FF0000"/>
                </a:solidFill>
                <a:latin typeface="メイリオ" panose="020B0604030504040204" pitchFamily="50" charset="-128"/>
                <a:ea typeface="メイリオ" panose="020B0604030504040204" pitchFamily="50" charset="-128"/>
                <a:cs typeface="Arial"/>
                <a:sym typeface="Arial"/>
              </a:rPr>
              <a:t>段階的に信頼を積み上げながらENTRYへつなげる</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設計。</a:t>
            </a:r>
          </a:p>
        </p:txBody>
      </p:sp>
      <p:sp>
        <p:nvSpPr>
          <p:cNvPr id="181" name="Shape 13">
            <a:extLst>
              <a:ext uri="{FF2B5EF4-FFF2-40B4-BE49-F238E27FC236}">
                <a16:creationId xmlns:a16="http://schemas.microsoft.com/office/drawing/2014/main" id="{613DD4CE-3458-6634-E8E7-A78BCB6B80C7}"/>
              </a:ext>
            </a:extLst>
          </p:cNvPr>
          <p:cNvSpPr/>
          <p:nvPr/>
        </p:nvSpPr>
        <p:spPr>
          <a:xfrm>
            <a:off x="548883"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183" name="Shape 14">
            <a:extLst>
              <a:ext uri="{FF2B5EF4-FFF2-40B4-BE49-F238E27FC236}">
                <a16:creationId xmlns:a16="http://schemas.microsoft.com/office/drawing/2014/main" id="{F241DEE0-466F-BF0F-A5D7-0B83ECC33CF4}"/>
              </a:ext>
            </a:extLst>
          </p:cNvPr>
          <p:cNvSpPr/>
          <p:nvPr/>
        </p:nvSpPr>
        <p:spPr>
          <a:xfrm>
            <a:off x="548883" y="1835845"/>
            <a:ext cx="1719072" cy="585216"/>
          </a:xfrm>
          <a:prstGeom prst="roundRect">
            <a:avLst>
              <a:gd name="adj" fmla="val 9375"/>
            </a:avLst>
          </a:prstGeom>
          <a:solidFill>
            <a:srgbClr val="1F2B5C"/>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85" name="Text 15">
            <a:extLst>
              <a:ext uri="{FF2B5EF4-FFF2-40B4-BE49-F238E27FC236}">
                <a16:creationId xmlns:a16="http://schemas.microsoft.com/office/drawing/2014/main" id="{C3796E8D-94B9-ADB9-C46C-B3B1E855AC20}"/>
              </a:ext>
            </a:extLst>
          </p:cNvPr>
          <p:cNvSpPr/>
          <p:nvPr/>
        </p:nvSpPr>
        <p:spPr>
          <a:xfrm>
            <a:off x="640323"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Day0</a:t>
            </a:r>
            <a:endParaRPr lang="en-US" sz="1500" dirty="0">
              <a:latin typeface="メイリオ" panose="020B0604030504040204" pitchFamily="50" charset="-128"/>
              <a:ea typeface="メイリオ" panose="020B0604030504040204" pitchFamily="50" charset="-128"/>
            </a:endParaRPr>
          </a:p>
        </p:txBody>
      </p:sp>
      <p:sp>
        <p:nvSpPr>
          <p:cNvPr id="187" name="Text 16">
            <a:extLst>
              <a:ext uri="{FF2B5EF4-FFF2-40B4-BE49-F238E27FC236}">
                <a16:creationId xmlns:a16="http://schemas.microsoft.com/office/drawing/2014/main" id="{40B1EBE9-513F-1DA2-57B8-10DEB735AFF1}"/>
              </a:ext>
            </a:extLst>
          </p:cNvPr>
          <p:cNvSpPr/>
          <p:nvPr/>
        </p:nvSpPr>
        <p:spPr>
          <a:xfrm>
            <a:off x="640323"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追加直後：診断</a:t>
            </a:r>
            <a:endParaRPr lang="en-US" sz="900" dirty="0">
              <a:latin typeface="メイリオ" panose="020B0604030504040204" pitchFamily="50" charset="-128"/>
              <a:ea typeface="メイリオ" panose="020B0604030504040204" pitchFamily="50" charset="-128"/>
            </a:endParaRPr>
          </a:p>
        </p:txBody>
      </p:sp>
      <p:sp>
        <p:nvSpPr>
          <p:cNvPr id="189" name="Text 17">
            <a:extLst>
              <a:ext uri="{FF2B5EF4-FFF2-40B4-BE49-F238E27FC236}">
                <a16:creationId xmlns:a16="http://schemas.microsoft.com/office/drawing/2014/main" id="{A58EB949-612E-4D86-A2F6-7E6DFE1C9A09}"/>
              </a:ext>
            </a:extLst>
          </p:cNvPr>
          <p:cNvSpPr/>
          <p:nvPr/>
        </p:nvSpPr>
        <p:spPr>
          <a:xfrm>
            <a:off x="658611"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F2B5C"/>
                </a:solidFill>
                <a:latin typeface="メイリオ" panose="020B0604030504040204" pitchFamily="50" charset="-128"/>
                <a:ea typeface="メイリオ" panose="020B0604030504040204" pitchFamily="50" charset="-128"/>
                <a:cs typeface="Calibri" pitchFamily="34" charset="-120"/>
              </a:rPr>
              <a:t>ご登録ありがとう</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rgbClr val="1F2B5C"/>
                </a:solidFill>
                <a:latin typeface="メイリオ" panose="020B0604030504040204" pitchFamily="50" charset="-128"/>
                <a:ea typeface="メイリオ" panose="020B0604030504040204" pitchFamily="50" charset="-128"/>
                <a:cs typeface="Calibri" pitchFamily="34" charset="-120"/>
              </a:rPr>
              <a:t>ございます！</a:t>
            </a:r>
            <a:endParaRPr lang="en-US" sz="1200" dirty="0">
              <a:latin typeface="メイリオ" panose="020B0604030504040204" pitchFamily="50" charset="-128"/>
              <a:ea typeface="メイリオ" panose="020B0604030504040204" pitchFamily="50" charset="-128"/>
            </a:endParaRPr>
          </a:p>
        </p:txBody>
      </p:sp>
      <p:sp>
        <p:nvSpPr>
          <p:cNvPr id="191" name="Text 18">
            <a:extLst>
              <a:ext uri="{FF2B5EF4-FFF2-40B4-BE49-F238E27FC236}">
                <a16:creationId xmlns:a16="http://schemas.microsoft.com/office/drawing/2014/main" id="{7676C898-C17D-7E2E-B6BF-9ECC1859A649}"/>
              </a:ext>
            </a:extLst>
          </p:cNvPr>
          <p:cNvSpPr/>
          <p:nvPr/>
        </p:nvSpPr>
        <p:spPr>
          <a:xfrm>
            <a:off x="658611"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3問タップで</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エントリー状況・</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開始時期・エリアを分岐</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・タグ付け</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（今のアンケートを活かす）</a:t>
            </a:r>
            <a:endParaRPr lang="en-US" sz="700" dirty="0">
              <a:latin typeface="メイリオ" panose="020B0604030504040204" pitchFamily="50" charset="-128"/>
              <a:ea typeface="メイリオ" panose="020B0604030504040204" pitchFamily="50" charset="-128"/>
            </a:endParaRPr>
          </a:p>
        </p:txBody>
      </p:sp>
      <p:sp>
        <p:nvSpPr>
          <p:cNvPr id="193" name="Shape 19">
            <a:extLst>
              <a:ext uri="{FF2B5EF4-FFF2-40B4-BE49-F238E27FC236}">
                <a16:creationId xmlns:a16="http://schemas.microsoft.com/office/drawing/2014/main" id="{3F13F0D2-3523-AEE0-91B0-8E81E05DDA0A}"/>
              </a:ext>
            </a:extLst>
          </p:cNvPr>
          <p:cNvSpPr/>
          <p:nvPr/>
        </p:nvSpPr>
        <p:spPr>
          <a:xfrm>
            <a:off x="640323"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95" name="Text 20">
            <a:extLst>
              <a:ext uri="{FF2B5EF4-FFF2-40B4-BE49-F238E27FC236}">
                <a16:creationId xmlns:a16="http://schemas.microsoft.com/office/drawing/2014/main" id="{2441CFFD-892A-3183-D026-E486644DEE53}"/>
              </a:ext>
            </a:extLst>
          </p:cNvPr>
          <p:cNvSpPr/>
          <p:nvPr/>
        </p:nvSpPr>
        <p:spPr>
          <a:xfrm>
            <a:off x="713475"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197" name="Text 21">
            <a:extLst>
              <a:ext uri="{FF2B5EF4-FFF2-40B4-BE49-F238E27FC236}">
                <a16:creationId xmlns:a16="http://schemas.microsoft.com/office/drawing/2014/main" id="{02E571B0-469E-27C6-416F-54EE99A83950}"/>
              </a:ext>
            </a:extLst>
          </p:cNvPr>
          <p:cNvSpPr/>
          <p:nvPr/>
        </p:nvSpPr>
        <p:spPr>
          <a:xfrm>
            <a:off x="713475"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（追加直後は検索データなし。</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アンケートの回答で配信を出し分け）</a:t>
            </a:r>
            <a:endParaRPr lang="en-US" sz="600" dirty="0">
              <a:latin typeface="メイリオ" panose="020B0604030504040204" pitchFamily="50" charset="-128"/>
              <a:ea typeface="メイリオ" panose="020B0604030504040204" pitchFamily="50" charset="-128"/>
            </a:endParaRPr>
          </a:p>
        </p:txBody>
      </p:sp>
      <p:sp>
        <p:nvSpPr>
          <p:cNvPr id="199" name="Shape 22">
            <a:extLst>
              <a:ext uri="{FF2B5EF4-FFF2-40B4-BE49-F238E27FC236}">
                <a16:creationId xmlns:a16="http://schemas.microsoft.com/office/drawing/2014/main" id="{A9B7453E-695C-212F-38BF-388DF6783D18}"/>
              </a:ext>
            </a:extLst>
          </p:cNvPr>
          <p:cNvSpPr/>
          <p:nvPr/>
        </p:nvSpPr>
        <p:spPr>
          <a:xfrm>
            <a:off x="640323" y="4765410"/>
            <a:ext cx="1536192" cy="310896"/>
          </a:xfrm>
          <a:prstGeom prst="roundRect">
            <a:avLst>
              <a:gd name="adj" fmla="val 35294"/>
            </a:avLst>
          </a:prstGeom>
          <a:solidFill>
            <a:srgbClr val="FFFFFF"/>
          </a:solidFill>
          <a:ln w="12700">
            <a:solidFill>
              <a:srgbClr val="1F2B5C"/>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1" name="Text 23">
            <a:extLst>
              <a:ext uri="{FF2B5EF4-FFF2-40B4-BE49-F238E27FC236}">
                <a16:creationId xmlns:a16="http://schemas.microsoft.com/office/drawing/2014/main" id="{8953102A-09F1-A735-DE78-9D1620CCFC78}"/>
              </a:ext>
            </a:extLst>
          </p:cNvPr>
          <p:cNvSpPr/>
          <p:nvPr/>
        </p:nvSpPr>
        <p:spPr>
          <a:xfrm>
            <a:off x="640323" y="4765410"/>
            <a:ext cx="1536192" cy="310896"/>
          </a:xfrm>
          <a:prstGeom prst="rect">
            <a:avLst/>
          </a:prstGeom>
          <a:noFill/>
          <a:ln/>
        </p:spPr>
        <p:txBody>
          <a:bodyPr wrap="square" lIns="0" tIns="0" rIns="0" bIns="0" rtlCol="0" anchor="ctr"/>
          <a:lstStyle/>
          <a:p>
            <a:pPr marL="0" indent="0" algn="ctr">
              <a:buNone/>
            </a:pPr>
            <a:r>
              <a:rPr lang="en-US" sz="950" b="1" dirty="0">
                <a:latin typeface="メイリオ" panose="020B0604030504040204" pitchFamily="50" charset="-128"/>
                <a:ea typeface="メイリオ" panose="020B0604030504040204" pitchFamily="50" charset="-128"/>
                <a:cs typeface="Calibri" pitchFamily="34" charset="-120"/>
              </a:rPr>
              <a:t>おすすめ求人</a:t>
            </a:r>
            <a:endParaRPr lang="en-US" sz="950" dirty="0">
              <a:latin typeface="メイリオ" panose="020B0604030504040204" pitchFamily="50" charset="-128"/>
              <a:ea typeface="メイリオ" panose="020B0604030504040204" pitchFamily="50" charset="-128"/>
            </a:endParaRPr>
          </a:p>
        </p:txBody>
      </p:sp>
      <p:sp>
        <p:nvSpPr>
          <p:cNvPr id="203" name="Shape 24">
            <a:extLst>
              <a:ext uri="{FF2B5EF4-FFF2-40B4-BE49-F238E27FC236}">
                <a16:creationId xmlns:a16="http://schemas.microsoft.com/office/drawing/2014/main" id="{C88FA24B-5601-EF2D-1F8E-3C4F217194A0}"/>
              </a:ext>
            </a:extLst>
          </p:cNvPr>
          <p:cNvSpPr/>
          <p:nvPr/>
        </p:nvSpPr>
        <p:spPr>
          <a:xfrm>
            <a:off x="2341107"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05" name="Shape 25">
            <a:extLst>
              <a:ext uri="{FF2B5EF4-FFF2-40B4-BE49-F238E27FC236}">
                <a16:creationId xmlns:a16="http://schemas.microsoft.com/office/drawing/2014/main" id="{B6268B67-5D90-26D0-5BCD-52C7F292C8B0}"/>
              </a:ext>
            </a:extLst>
          </p:cNvPr>
          <p:cNvSpPr/>
          <p:nvPr/>
        </p:nvSpPr>
        <p:spPr>
          <a:xfrm>
            <a:off x="2341107" y="1835845"/>
            <a:ext cx="1719072" cy="585216"/>
          </a:xfrm>
          <a:prstGeom prst="roundRect">
            <a:avLst>
              <a:gd name="adj" fmla="val 9375"/>
            </a:avLst>
          </a:prstGeom>
          <a:solidFill>
            <a:srgbClr val="1565C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7" name="Text 26">
            <a:extLst>
              <a:ext uri="{FF2B5EF4-FFF2-40B4-BE49-F238E27FC236}">
                <a16:creationId xmlns:a16="http://schemas.microsoft.com/office/drawing/2014/main" id="{89D42342-00AC-8FE9-32F8-067BB3EBE2A4}"/>
              </a:ext>
            </a:extLst>
          </p:cNvPr>
          <p:cNvSpPr/>
          <p:nvPr/>
        </p:nvSpPr>
        <p:spPr>
          <a:xfrm>
            <a:off x="2432547"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Day1〜2</a:t>
            </a:r>
            <a:endParaRPr lang="en-US" sz="1500" dirty="0">
              <a:latin typeface="メイリオ" panose="020B0604030504040204" pitchFamily="50" charset="-128"/>
              <a:ea typeface="メイリオ" panose="020B0604030504040204" pitchFamily="50" charset="-128"/>
            </a:endParaRPr>
          </a:p>
        </p:txBody>
      </p:sp>
      <p:sp>
        <p:nvSpPr>
          <p:cNvPr id="209" name="Text 27">
            <a:extLst>
              <a:ext uri="{FF2B5EF4-FFF2-40B4-BE49-F238E27FC236}">
                <a16:creationId xmlns:a16="http://schemas.microsoft.com/office/drawing/2014/main" id="{DDDA5299-26E4-761F-DC5F-D6ED5EDD3F65}"/>
              </a:ext>
            </a:extLst>
          </p:cNvPr>
          <p:cNvSpPr/>
          <p:nvPr/>
        </p:nvSpPr>
        <p:spPr>
          <a:xfrm>
            <a:off x="2432547"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働き方の比較</a:t>
            </a:r>
            <a:endParaRPr lang="en-US" sz="900" dirty="0">
              <a:latin typeface="メイリオ" panose="020B0604030504040204" pitchFamily="50" charset="-128"/>
              <a:ea typeface="メイリオ" panose="020B0604030504040204" pitchFamily="50" charset="-128"/>
            </a:endParaRPr>
          </a:p>
        </p:txBody>
      </p:sp>
      <p:sp>
        <p:nvSpPr>
          <p:cNvPr id="211" name="Text 28">
            <a:extLst>
              <a:ext uri="{FF2B5EF4-FFF2-40B4-BE49-F238E27FC236}">
                <a16:creationId xmlns:a16="http://schemas.microsoft.com/office/drawing/2014/main" id="{289FA38A-B858-EAC9-F39D-14780D290081}"/>
              </a:ext>
            </a:extLst>
          </p:cNvPr>
          <p:cNvSpPr/>
          <p:nvPr/>
        </p:nvSpPr>
        <p:spPr>
          <a:xfrm>
            <a:off x="2450835"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565C0"/>
                </a:solidFill>
                <a:latin typeface="メイリオ" panose="020B0604030504040204" pitchFamily="50" charset="-128"/>
                <a:ea typeface="メイリオ" panose="020B0604030504040204" pitchFamily="50" charset="-128"/>
                <a:cs typeface="Calibri" pitchFamily="34" charset="-120"/>
              </a:rPr>
              <a:t>リゾートバイトの</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rgbClr val="1565C0"/>
                </a:solidFill>
                <a:latin typeface="メイリオ" panose="020B0604030504040204" pitchFamily="50" charset="-128"/>
                <a:ea typeface="メイリオ" panose="020B0604030504040204" pitchFamily="50" charset="-128"/>
                <a:cs typeface="Calibri" pitchFamily="34" charset="-120"/>
              </a:rPr>
              <a:t>働き方がわかる</a:t>
            </a:r>
            <a:endParaRPr lang="en-US" sz="1200" dirty="0">
              <a:latin typeface="メイリオ" panose="020B0604030504040204" pitchFamily="50" charset="-128"/>
              <a:ea typeface="メイリオ" panose="020B0604030504040204" pitchFamily="50" charset="-128"/>
            </a:endParaRPr>
          </a:p>
        </p:txBody>
      </p:sp>
      <p:sp>
        <p:nvSpPr>
          <p:cNvPr id="213" name="Text 29">
            <a:extLst>
              <a:ext uri="{FF2B5EF4-FFF2-40B4-BE49-F238E27FC236}">
                <a16:creationId xmlns:a16="http://schemas.microsoft.com/office/drawing/2014/main" id="{150DA1ED-B1CD-1150-347A-518E97A2A6AD}"/>
              </a:ext>
            </a:extLst>
          </p:cNvPr>
          <p:cNvSpPr/>
          <p:nvPr/>
        </p:nvSpPr>
        <p:spPr>
          <a:xfrm>
            <a:off x="2450835"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住み込みで働く流れと、</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食費無料・Wi-Fi完備など</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寮・生活の条件を紹介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派遣・単発と比べて</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選ばれる理由を伝える</a:t>
            </a:r>
            <a:endParaRPr lang="en-US" sz="700" dirty="0">
              <a:latin typeface="メイリオ" panose="020B0604030504040204" pitchFamily="50" charset="-128"/>
              <a:ea typeface="メイリオ" panose="020B0604030504040204" pitchFamily="50" charset="-128"/>
            </a:endParaRPr>
          </a:p>
        </p:txBody>
      </p:sp>
      <p:sp>
        <p:nvSpPr>
          <p:cNvPr id="215" name="Shape 30">
            <a:extLst>
              <a:ext uri="{FF2B5EF4-FFF2-40B4-BE49-F238E27FC236}">
                <a16:creationId xmlns:a16="http://schemas.microsoft.com/office/drawing/2014/main" id="{76E377BC-43E4-750C-D8A2-6481DE03C768}"/>
              </a:ext>
            </a:extLst>
          </p:cNvPr>
          <p:cNvSpPr/>
          <p:nvPr/>
        </p:nvSpPr>
        <p:spPr>
          <a:xfrm>
            <a:off x="2432547"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17" name="Text 31">
            <a:extLst>
              <a:ext uri="{FF2B5EF4-FFF2-40B4-BE49-F238E27FC236}">
                <a16:creationId xmlns:a16="http://schemas.microsoft.com/office/drawing/2014/main" id="{FF84F76B-5C74-7B62-2528-5D8C6B827AAE}"/>
              </a:ext>
            </a:extLst>
          </p:cNvPr>
          <p:cNvSpPr/>
          <p:nvPr/>
        </p:nvSpPr>
        <p:spPr>
          <a:xfrm>
            <a:off x="2505699"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19" name="Text 32">
            <a:extLst>
              <a:ext uri="{FF2B5EF4-FFF2-40B4-BE49-F238E27FC236}">
                <a16:creationId xmlns:a16="http://schemas.microsoft.com/office/drawing/2014/main" id="{BF0CE63B-9D9B-B598-BC2E-ED84243D6BD2}"/>
              </a:ext>
            </a:extLst>
          </p:cNvPr>
          <p:cNvSpPr/>
          <p:nvPr/>
        </p:nvSpPr>
        <p:spPr>
          <a:xfrm>
            <a:off x="2505699"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検索の直前・当日に</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「派遣会社」「単発バイト」</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「リゾートバイト」などを検索。</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働き方を比べている</a:t>
            </a:r>
            <a:endParaRPr lang="en-US" sz="600" dirty="0">
              <a:latin typeface="メイリオ" panose="020B0604030504040204" pitchFamily="50" charset="-128"/>
              <a:ea typeface="メイリオ" panose="020B0604030504040204" pitchFamily="50" charset="-128"/>
            </a:endParaRPr>
          </a:p>
        </p:txBody>
      </p:sp>
      <p:sp>
        <p:nvSpPr>
          <p:cNvPr id="221" name="Shape 33">
            <a:extLst>
              <a:ext uri="{FF2B5EF4-FFF2-40B4-BE49-F238E27FC236}">
                <a16:creationId xmlns:a16="http://schemas.microsoft.com/office/drawing/2014/main" id="{3B3F2D53-D4B6-4F72-F11A-BF340CD1F372}"/>
              </a:ext>
            </a:extLst>
          </p:cNvPr>
          <p:cNvSpPr/>
          <p:nvPr/>
        </p:nvSpPr>
        <p:spPr>
          <a:xfrm>
            <a:off x="2432547" y="4765410"/>
            <a:ext cx="1536192" cy="310896"/>
          </a:xfrm>
          <a:prstGeom prst="roundRect">
            <a:avLst>
              <a:gd name="adj" fmla="val 35294"/>
            </a:avLst>
          </a:prstGeom>
          <a:solidFill>
            <a:srgbClr val="FFFFFF"/>
          </a:solidFill>
          <a:ln w="12700">
            <a:solidFill>
              <a:srgbClr val="1565C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3" name="Text 34">
            <a:extLst>
              <a:ext uri="{FF2B5EF4-FFF2-40B4-BE49-F238E27FC236}">
                <a16:creationId xmlns:a16="http://schemas.microsoft.com/office/drawing/2014/main" id="{50528FA6-6538-9244-6433-A9A55F723AD1}"/>
              </a:ext>
            </a:extLst>
          </p:cNvPr>
          <p:cNvSpPr/>
          <p:nvPr/>
        </p:nvSpPr>
        <p:spPr>
          <a:xfrm>
            <a:off x="2432547"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お役立ち情報</a:t>
            </a:r>
            <a:endParaRPr lang="en-US" sz="950" dirty="0">
              <a:latin typeface="メイリオ" panose="020B0604030504040204" pitchFamily="50" charset="-128"/>
              <a:ea typeface="メイリオ" panose="020B0604030504040204" pitchFamily="50" charset="-128"/>
            </a:endParaRPr>
          </a:p>
        </p:txBody>
      </p:sp>
      <p:sp>
        <p:nvSpPr>
          <p:cNvPr id="225" name="Shape 35">
            <a:extLst>
              <a:ext uri="{FF2B5EF4-FFF2-40B4-BE49-F238E27FC236}">
                <a16:creationId xmlns:a16="http://schemas.microsoft.com/office/drawing/2014/main" id="{53797D95-7FA3-EAB7-FD16-E3CAA1B9A8E9}"/>
              </a:ext>
            </a:extLst>
          </p:cNvPr>
          <p:cNvSpPr/>
          <p:nvPr/>
        </p:nvSpPr>
        <p:spPr>
          <a:xfrm>
            <a:off x="4133331"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7" name="Shape 36">
            <a:extLst>
              <a:ext uri="{FF2B5EF4-FFF2-40B4-BE49-F238E27FC236}">
                <a16:creationId xmlns:a16="http://schemas.microsoft.com/office/drawing/2014/main" id="{629B1933-CCE8-4801-AEDC-00D8587663D2}"/>
              </a:ext>
            </a:extLst>
          </p:cNvPr>
          <p:cNvSpPr/>
          <p:nvPr/>
        </p:nvSpPr>
        <p:spPr>
          <a:xfrm>
            <a:off x="4133331" y="1835845"/>
            <a:ext cx="1719072" cy="585216"/>
          </a:xfrm>
          <a:prstGeom prst="roundRect">
            <a:avLst>
              <a:gd name="adj" fmla="val 9375"/>
            </a:avLst>
          </a:prstGeom>
          <a:solidFill>
            <a:schemeClr val="accent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9" name="Text 37">
            <a:extLst>
              <a:ext uri="{FF2B5EF4-FFF2-40B4-BE49-F238E27FC236}">
                <a16:creationId xmlns:a16="http://schemas.microsoft.com/office/drawing/2014/main" id="{092214EE-AC44-038C-2722-B308FA576ED9}"/>
              </a:ext>
            </a:extLst>
          </p:cNvPr>
          <p:cNvSpPr/>
          <p:nvPr/>
        </p:nvSpPr>
        <p:spPr>
          <a:xfrm>
            <a:off x="4224771"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Day3〜4</a:t>
            </a:r>
            <a:endParaRPr lang="en-US" sz="1500" dirty="0">
              <a:latin typeface="メイリオ" panose="020B0604030504040204" pitchFamily="50" charset="-128"/>
              <a:ea typeface="メイリオ" panose="020B0604030504040204" pitchFamily="50" charset="-128"/>
            </a:endParaRPr>
          </a:p>
        </p:txBody>
      </p:sp>
      <p:sp>
        <p:nvSpPr>
          <p:cNvPr id="231" name="Text 38">
            <a:extLst>
              <a:ext uri="{FF2B5EF4-FFF2-40B4-BE49-F238E27FC236}">
                <a16:creationId xmlns:a16="http://schemas.microsoft.com/office/drawing/2014/main" id="{2956D39A-AB56-1D2C-A166-5AD97BF4555B}"/>
              </a:ext>
            </a:extLst>
          </p:cNvPr>
          <p:cNvSpPr/>
          <p:nvPr/>
        </p:nvSpPr>
        <p:spPr>
          <a:xfrm>
            <a:off x="4224771"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お金・保険の不安</a:t>
            </a:r>
            <a:endParaRPr lang="en-US" sz="900" dirty="0">
              <a:latin typeface="メイリオ" panose="020B0604030504040204" pitchFamily="50" charset="-128"/>
              <a:ea typeface="メイリオ" panose="020B0604030504040204" pitchFamily="50" charset="-128"/>
            </a:endParaRPr>
          </a:p>
        </p:txBody>
      </p:sp>
      <p:sp>
        <p:nvSpPr>
          <p:cNvPr id="235" name="Text 39">
            <a:extLst>
              <a:ext uri="{FF2B5EF4-FFF2-40B4-BE49-F238E27FC236}">
                <a16:creationId xmlns:a16="http://schemas.microsoft.com/office/drawing/2014/main" id="{9FD8369A-6329-B6BB-FF1E-783F5AE7FD45}"/>
              </a:ext>
            </a:extLst>
          </p:cNvPr>
          <p:cNvSpPr/>
          <p:nvPr/>
        </p:nvSpPr>
        <p:spPr>
          <a:xfrm>
            <a:off x="4243059"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働く前の</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お金の疑問Q&amp;A</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37" name="Text 40">
            <a:extLst>
              <a:ext uri="{FF2B5EF4-FFF2-40B4-BE49-F238E27FC236}">
                <a16:creationId xmlns:a16="http://schemas.microsoft.com/office/drawing/2014/main" id="{199D3821-33AB-4ABB-7E4F-446E2E140608}"/>
              </a:ext>
            </a:extLst>
          </p:cNvPr>
          <p:cNvSpPr/>
          <p:nvPr/>
        </p:nvSpPr>
        <p:spPr>
          <a:xfrm>
            <a:off x="4243059"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保険料・年金はどうなる？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扶養内で働ける金額は？</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など、働く前に気になる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お金の疑問に</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先回りして答える</a:t>
            </a:r>
            <a:endParaRPr lang="en-US" sz="700" dirty="0">
              <a:latin typeface="メイリオ" panose="020B0604030504040204" pitchFamily="50" charset="-128"/>
              <a:ea typeface="メイリオ" panose="020B0604030504040204" pitchFamily="50" charset="-128"/>
            </a:endParaRPr>
          </a:p>
        </p:txBody>
      </p:sp>
      <p:sp>
        <p:nvSpPr>
          <p:cNvPr id="240" name="Shape 41">
            <a:extLst>
              <a:ext uri="{FF2B5EF4-FFF2-40B4-BE49-F238E27FC236}">
                <a16:creationId xmlns:a16="http://schemas.microsoft.com/office/drawing/2014/main" id="{FE05CBF8-66A0-3EAA-B719-3E5BEB3DFC1F}"/>
              </a:ext>
            </a:extLst>
          </p:cNvPr>
          <p:cNvSpPr/>
          <p:nvPr/>
        </p:nvSpPr>
        <p:spPr>
          <a:xfrm>
            <a:off x="4224771"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43" name="Text 42">
            <a:extLst>
              <a:ext uri="{FF2B5EF4-FFF2-40B4-BE49-F238E27FC236}">
                <a16:creationId xmlns:a16="http://schemas.microsoft.com/office/drawing/2014/main" id="{598E8C1A-CF8F-CADC-BEB1-4963E41378B1}"/>
              </a:ext>
            </a:extLst>
          </p:cNvPr>
          <p:cNvSpPr/>
          <p:nvPr/>
        </p:nvSpPr>
        <p:spPr>
          <a:xfrm>
            <a:off x="4297923"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47" name="Text 43">
            <a:extLst>
              <a:ext uri="{FF2B5EF4-FFF2-40B4-BE49-F238E27FC236}">
                <a16:creationId xmlns:a16="http://schemas.microsoft.com/office/drawing/2014/main" id="{61A890BF-9DE4-3C72-A92B-372EE26EBBC9}"/>
              </a:ext>
            </a:extLst>
          </p:cNvPr>
          <p:cNvSpPr/>
          <p:nvPr/>
        </p:nvSpPr>
        <p:spPr>
          <a:xfrm>
            <a:off x="4297923"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検索の当日〜1日後に</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「扶養内で働ける金額 2025」</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「国民健康保険料」など、</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お金・保険の検索が続く</a:t>
            </a:r>
            <a:endParaRPr lang="en-US" sz="600" dirty="0">
              <a:latin typeface="メイリオ" panose="020B0604030504040204" pitchFamily="50" charset="-128"/>
              <a:ea typeface="メイリオ" panose="020B0604030504040204" pitchFamily="50" charset="-128"/>
            </a:endParaRPr>
          </a:p>
        </p:txBody>
      </p:sp>
      <p:sp>
        <p:nvSpPr>
          <p:cNvPr id="251" name="Shape 44">
            <a:extLst>
              <a:ext uri="{FF2B5EF4-FFF2-40B4-BE49-F238E27FC236}">
                <a16:creationId xmlns:a16="http://schemas.microsoft.com/office/drawing/2014/main" id="{70455440-ACF9-976A-9AAB-2C130E817A9A}"/>
              </a:ext>
            </a:extLst>
          </p:cNvPr>
          <p:cNvSpPr/>
          <p:nvPr/>
        </p:nvSpPr>
        <p:spPr>
          <a:xfrm>
            <a:off x="4224771" y="4765410"/>
            <a:ext cx="1536192" cy="310896"/>
          </a:xfrm>
          <a:prstGeom prst="roundRect">
            <a:avLst>
              <a:gd name="adj" fmla="val 35294"/>
            </a:avLst>
          </a:prstGeom>
          <a:solidFill>
            <a:srgbClr val="FFFFFF"/>
          </a:solidFill>
          <a:ln w="12700">
            <a:solidFill>
              <a:srgbClr val="0D7377"/>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3" name="Text 45">
            <a:extLst>
              <a:ext uri="{FF2B5EF4-FFF2-40B4-BE49-F238E27FC236}">
                <a16:creationId xmlns:a16="http://schemas.microsoft.com/office/drawing/2014/main" id="{7CE38A7E-B59E-4734-BBB2-CDBD38980874}"/>
              </a:ext>
            </a:extLst>
          </p:cNvPr>
          <p:cNvSpPr/>
          <p:nvPr/>
        </p:nvSpPr>
        <p:spPr>
          <a:xfrm>
            <a:off x="4224771"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解決したいQ&amp;A</a:t>
            </a:r>
            <a:endParaRPr lang="en-US" sz="950" dirty="0">
              <a:latin typeface="メイリオ" panose="020B0604030504040204" pitchFamily="50" charset="-128"/>
              <a:ea typeface="メイリオ" panose="020B0604030504040204" pitchFamily="50" charset="-128"/>
            </a:endParaRPr>
          </a:p>
        </p:txBody>
      </p:sp>
      <p:sp>
        <p:nvSpPr>
          <p:cNvPr id="255" name="Shape 46">
            <a:extLst>
              <a:ext uri="{FF2B5EF4-FFF2-40B4-BE49-F238E27FC236}">
                <a16:creationId xmlns:a16="http://schemas.microsoft.com/office/drawing/2014/main" id="{AE76465E-F5D4-326A-00DE-566AF4D0ED4F}"/>
              </a:ext>
            </a:extLst>
          </p:cNvPr>
          <p:cNvSpPr/>
          <p:nvPr/>
        </p:nvSpPr>
        <p:spPr>
          <a:xfrm>
            <a:off x="5925555"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57" name="Shape 47">
            <a:extLst>
              <a:ext uri="{FF2B5EF4-FFF2-40B4-BE49-F238E27FC236}">
                <a16:creationId xmlns:a16="http://schemas.microsoft.com/office/drawing/2014/main" id="{4CE9A042-BEA8-8E3F-7458-7B837D4C3B49}"/>
              </a:ext>
            </a:extLst>
          </p:cNvPr>
          <p:cNvSpPr/>
          <p:nvPr/>
        </p:nvSpPr>
        <p:spPr>
          <a:xfrm>
            <a:off x="5925555" y="1835845"/>
            <a:ext cx="1719072" cy="585216"/>
          </a:xfrm>
          <a:prstGeom prst="roundRect">
            <a:avLst>
              <a:gd name="adj" fmla="val 9375"/>
            </a:avLst>
          </a:prstGeom>
          <a:solidFill>
            <a:schemeClr val="tx2">
              <a:lumMod val="60000"/>
              <a:lumOff val="40000"/>
            </a:schemeClr>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9" name="Text 48">
            <a:extLst>
              <a:ext uri="{FF2B5EF4-FFF2-40B4-BE49-F238E27FC236}">
                <a16:creationId xmlns:a16="http://schemas.microsoft.com/office/drawing/2014/main" id="{7AF37BD4-4646-F464-3A02-960B3183EDAC}"/>
              </a:ext>
            </a:extLst>
          </p:cNvPr>
          <p:cNvSpPr/>
          <p:nvPr/>
        </p:nvSpPr>
        <p:spPr>
          <a:xfrm>
            <a:off x="6016995"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Day6〜7</a:t>
            </a:r>
            <a:endParaRPr lang="en-US" sz="1500" dirty="0">
              <a:latin typeface="メイリオ" panose="020B0604030504040204" pitchFamily="50" charset="-128"/>
              <a:ea typeface="メイリオ" panose="020B0604030504040204" pitchFamily="50" charset="-128"/>
            </a:endParaRPr>
          </a:p>
        </p:txBody>
      </p:sp>
      <p:sp>
        <p:nvSpPr>
          <p:cNvPr id="261" name="Text 49">
            <a:extLst>
              <a:ext uri="{FF2B5EF4-FFF2-40B4-BE49-F238E27FC236}">
                <a16:creationId xmlns:a16="http://schemas.microsoft.com/office/drawing/2014/main" id="{A2C54EA1-48FF-25BB-CAB7-CF9E2CE2A6BE}"/>
              </a:ext>
            </a:extLst>
          </p:cNvPr>
          <p:cNvSpPr/>
          <p:nvPr/>
        </p:nvSpPr>
        <p:spPr>
          <a:xfrm>
            <a:off x="6016995"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会社の比較・選び方</a:t>
            </a:r>
            <a:endParaRPr lang="en-US" sz="900" dirty="0">
              <a:latin typeface="メイリオ" panose="020B0604030504040204" pitchFamily="50" charset="-128"/>
              <a:ea typeface="メイリオ" panose="020B0604030504040204" pitchFamily="50" charset="-128"/>
            </a:endParaRPr>
          </a:p>
        </p:txBody>
      </p:sp>
      <p:sp>
        <p:nvSpPr>
          <p:cNvPr id="263" name="Text 50">
            <a:extLst>
              <a:ext uri="{FF2B5EF4-FFF2-40B4-BE49-F238E27FC236}">
                <a16:creationId xmlns:a16="http://schemas.microsoft.com/office/drawing/2014/main" id="{471AEB23-B4DA-3C81-62CB-E912A644460B}"/>
              </a:ext>
            </a:extLst>
          </p:cNvPr>
          <p:cNvSpPr/>
          <p:nvPr/>
        </p:nvSpPr>
        <p:spPr>
          <a:xfrm>
            <a:off x="6035283"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お仕事探しの</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会社の選び方</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65" name="Text 51">
            <a:extLst>
              <a:ext uri="{FF2B5EF4-FFF2-40B4-BE49-F238E27FC236}">
                <a16:creationId xmlns:a16="http://schemas.microsoft.com/office/drawing/2014/main" id="{75F01DF6-8600-1DAC-987C-C3554E20E240}"/>
              </a:ext>
            </a:extLst>
          </p:cNvPr>
          <p:cNvSpPr/>
          <p:nvPr/>
        </p:nvSpPr>
        <p:spPr>
          <a:xfrm>
            <a:off x="6035283"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専属エージェントの</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サポートを、他社との</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違いとして伝える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体験談で信頼を積み上げる</a:t>
            </a:r>
            <a:endParaRPr lang="en-US" sz="700" dirty="0">
              <a:latin typeface="メイリオ" panose="020B0604030504040204" pitchFamily="50" charset="-128"/>
              <a:ea typeface="メイリオ" panose="020B0604030504040204" pitchFamily="50" charset="-128"/>
            </a:endParaRPr>
          </a:p>
        </p:txBody>
      </p:sp>
      <p:sp>
        <p:nvSpPr>
          <p:cNvPr id="267" name="Shape 52">
            <a:extLst>
              <a:ext uri="{FF2B5EF4-FFF2-40B4-BE49-F238E27FC236}">
                <a16:creationId xmlns:a16="http://schemas.microsoft.com/office/drawing/2014/main" id="{81626C02-0128-391F-1AF0-59D225D419BC}"/>
              </a:ext>
            </a:extLst>
          </p:cNvPr>
          <p:cNvSpPr/>
          <p:nvPr/>
        </p:nvSpPr>
        <p:spPr>
          <a:xfrm>
            <a:off x="6016995"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69" name="Text 53">
            <a:extLst>
              <a:ext uri="{FF2B5EF4-FFF2-40B4-BE49-F238E27FC236}">
                <a16:creationId xmlns:a16="http://schemas.microsoft.com/office/drawing/2014/main" id="{6A730545-9554-14ED-6B2A-1B88A1389EEA}"/>
              </a:ext>
            </a:extLst>
          </p:cNvPr>
          <p:cNvSpPr/>
          <p:nvPr/>
        </p:nvSpPr>
        <p:spPr>
          <a:xfrm>
            <a:off x="6090147"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71" name="Text 54">
            <a:extLst>
              <a:ext uri="{FF2B5EF4-FFF2-40B4-BE49-F238E27FC236}">
                <a16:creationId xmlns:a16="http://schemas.microsoft.com/office/drawing/2014/main" id="{D66B723A-593B-D13D-0018-C9E7DAEBCB1C}"/>
              </a:ext>
            </a:extLst>
          </p:cNvPr>
          <p:cNvSpPr/>
          <p:nvPr/>
        </p:nvSpPr>
        <p:spPr>
          <a:xfrm>
            <a:off x="6090147"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当日〜3日後に</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「派遣会社 おすすめ企業」</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「バイトル」「エン派遣」など、</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会社・サービスを比べる検索が続く</a:t>
            </a:r>
            <a:endParaRPr lang="en-US" sz="600" dirty="0">
              <a:latin typeface="メイリオ" panose="020B0604030504040204" pitchFamily="50" charset="-128"/>
              <a:ea typeface="メイリオ" panose="020B0604030504040204" pitchFamily="50" charset="-128"/>
            </a:endParaRPr>
          </a:p>
        </p:txBody>
      </p:sp>
      <p:sp>
        <p:nvSpPr>
          <p:cNvPr id="273" name="Shape 55">
            <a:extLst>
              <a:ext uri="{FF2B5EF4-FFF2-40B4-BE49-F238E27FC236}">
                <a16:creationId xmlns:a16="http://schemas.microsoft.com/office/drawing/2014/main" id="{83516F18-5DB0-D001-7E95-B25134EA6409}"/>
              </a:ext>
            </a:extLst>
          </p:cNvPr>
          <p:cNvSpPr/>
          <p:nvPr/>
        </p:nvSpPr>
        <p:spPr>
          <a:xfrm>
            <a:off x="6016995"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75" name="Text 56">
            <a:extLst>
              <a:ext uri="{FF2B5EF4-FFF2-40B4-BE49-F238E27FC236}">
                <a16:creationId xmlns:a16="http://schemas.microsoft.com/office/drawing/2014/main" id="{6F27A7FC-1886-3E15-FE13-B49B5E6B58C4}"/>
              </a:ext>
            </a:extLst>
          </p:cNvPr>
          <p:cNvSpPr/>
          <p:nvPr/>
        </p:nvSpPr>
        <p:spPr>
          <a:xfrm>
            <a:off x="6016995"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体験談</a:t>
            </a:r>
            <a:endParaRPr lang="en-US" sz="950" dirty="0">
              <a:latin typeface="メイリオ" panose="020B0604030504040204" pitchFamily="50" charset="-128"/>
              <a:ea typeface="メイリオ" panose="020B0604030504040204" pitchFamily="50" charset="-128"/>
            </a:endParaRPr>
          </a:p>
        </p:txBody>
      </p:sp>
      <p:sp>
        <p:nvSpPr>
          <p:cNvPr id="277" name="Shape 46">
            <a:extLst>
              <a:ext uri="{FF2B5EF4-FFF2-40B4-BE49-F238E27FC236}">
                <a16:creationId xmlns:a16="http://schemas.microsoft.com/office/drawing/2014/main" id="{81FDC777-C320-5C75-D3A4-A08DD76D7E5F}"/>
              </a:ext>
            </a:extLst>
          </p:cNvPr>
          <p:cNvSpPr/>
          <p:nvPr/>
        </p:nvSpPr>
        <p:spPr>
          <a:xfrm>
            <a:off x="7740422"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79" name="Shape 47">
            <a:extLst>
              <a:ext uri="{FF2B5EF4-FFF2-40B4-BE49-F238E27FC236}">
                <a16:creationId xmlns:a16="http://schemas.microsoft.com/office/drawing/2014/main" id="{3035F905-AAB5-7BEB-2025-12D56AFD692F}"/>
              </a:ext>
            </a:extLst>
          </p:cNvPr>
          <p:cNvSpPr/>
          <p:nvPr/>
        </p:nvSpPr>
        <p:spPr>
          <a:xfrm>
            <a:off x="7740422" y="1835845"/>
            <a:ext cx="1719072" cy="585216"/>
          </a:xfrm>
          <a:prstGeom prst="roundRect">
            <a:avLst>
              <a:gd name="adj" fmla="val 9375"/>
            </a:avLst>
          </a:prstGeom>
          <a:solidFill>
            <a:srgbClr val="FF000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81" name="Text 48">
            <a:extLst>
              <a:ext uri="{FF2B5EF4-FFF2-40B4-BE49-F238E27FC236}">
                <a16:creationId xmlns:a16="http://schemas.microsoft.com/office/drawing/2014/main" id="{68E2156B-2D0C-D7CD-E58E-0CEE790D2936}"/>
              </a:ext>
            </a:extLst>
          </p:cNvPr>
          <p:cNvSpPr/>
          <p:nvPr/>
        </p:nvSpPr>
        <p:spPr>
          <a:xfrm>
            <a:off x="7831862"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Day10〜15</a:t>
            </a:r>
            <a:endParaRPr lang="en-US" sz="1500" dirty="0">
              <a:latin typeface="メイリオ" panose="020B0604030504040204" pitchFamily="50" charset="-128"/>
              <a:ea typeface="メイリオ" panose="020B0604030504040204" pitchFamily="50" charset="-128"/>
            </a:endParaRPr>
          </a:p>
        </p:txBody>
      </p:sp>
      <p:sp>
        <p:nvSpPr>
          <p:cNvPr id="283" name="Text 49">
            <a:extLst>
              <a:ext uri="{FF2B5EF4-FFF2-40B4-BE49-F238E27FC236}">
                <a16:creationId xmlns:a16="http://schemas.microsoft.com/office/drawing/2014/main" id="{D56A2492-EC40-760E-3C3E-A80DBBA1A3A6}"/>
              </a:ext>
            </a:extLst>
          </p:cNvPr>
          <p:cNvSpPr/>
          <p:nvPr/>
        </p:nvSpPr>
        <p:spPr>
          <a:xfrm>
            <a:off x="7831862"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ENTRYの案内</a:t>
            </a:r>
            <a:endParaRPr lang="en-US" sz="900" dirty="0">
              <a:latin typeface="メイリオ" panose="020B0604030504040204" pitchFamily="50" charset="-128"/>
              <a:ea typeface="メイリオ" panose="020B0604030504040204" pitchFamily="50" charset="-128"/>
            </a:endParaRPr>
          </a:p>
        </p:txBody>
      </p:sp>
      <p:sp>
        <p:nvSpPr>
          <p:cNvPr id="285" name="Text 50">
            <a:extLst>
              <a:ext uri="{FF2B5EF4-FFF2-40B4-BE49-F238E27FC236}">
                <a16:creationId xmlns:a16="http://schemas.microsoft.com/office/drawing/2014/main" id="{A0703C68-0981-D8D2-C5DE-76BA82B621A9}"/>
              </a:ext>
            </a:extLst>
          </p:cNvPr>
          <p:cNvSpPr/>
          <p:nvPr/>
        </p:nvSpPr>
        <p:spPr>
          <a:xfrm>
            <a:off x="7850150" y="2494213"/>
            <a:ext cx="1499616" cy="530352"/>
          </a:xfrm>
          <a:prstGeom prst="rect">
            <a:avLst/>
          </a:prstGeom>
          <a:noFill/>
          <a:ln/>
        </p:spPr>
        <p:txBody>
          <a:bodyPr wrap="square" lIns="0" tIns="0" rIns="0" bIns="0" rtlCol="0" anchor="ctr"/>
          <a:lstStyle/>
          <a:p>
            <a:pPr marL="0" indent="0">
              <a:lnSpc>
                <a:spcPct val="130000"/>
              </a:lnSpc>
              <a:buNone/>
            </a:pPr>
            <a:r>
              <a:rPr lang="ja-JP" altLang="en-US" sz="1200" b="1" dirty="0">
                <a:solidFill>
                  <a:srgbClr val="FF0000"/>
                </a:solidFill>
                <a:latin typeface="メイリオ" panose="020B0604030504040204" pitchFamily="50" charset="-128"/>
                <a:ea typeface="メイリオ" panose="020B0604030504040204" pitchFamily="50" charset="-128"/>
                <a:cs typeface="Calibri" pitchFamily="34" charset="-120"/>
              </a:rPr>
              <a:t>かんたん1分</a:t>
            </a:r>
            <a:endParaRPr lang="en-US" sz="1200" dirty="0">
              <a:solidFill>
                <a:srgbClr val="FF0000"/>
              </a:solidFill>
              <a:latin typeface="メイリオ" panose="020B0604030504040204" pitchFamily="50" charset="-128"/>
              <a:ea typeface="メイリオ" panose="020B0604030504040204" pitchFamily="50" charset="-128"/>
            </a:endParaRPr>
          </a:p>
          <a:p>
            <a:pPr marL="0" indent="0">
              <a:lnSpc>
                <a:spcPct val="130000"/>
              </a:lnSpc>
              <a:buNone/>
            </a:pPr>
            <a:r>
              <a:rPr lang="ja-JP" altLang="en-US" sz="1200" b="1" dirty="0">
                <a:solidFill>
                  <a:srgbClr val="FF0000"/>
                </a:solidFill>
                <a:latin typeface="メイリオ" panose="020B0604030504040204" pitchFamily="50" charset="-128"/>
                <a:ea typeface="メイリオ" panose="020B0604030504040204" pitchFamily="50" charset="-128"/>
                <a:cs typeface="Calibri" pitchFamily="34" charset="-120"/>
              </a:rPr>
              <a:t>ENTRYへ</a:t>
            </a:r>
            <a:endParaRPr lang="en-US" sz="1200" dirty="0">
              <a:solidFill>
                <a:srgbClr val="FF0000"/>
              </a:solidFill>
              <a:latin typeface="メイリオ" panose="020B0604030504040204" pitchFamily="50" charset="-128"/>
              <a:ea typeface="メイリオ" panose="020B0604030504040204" pitchFamily="50" charset="-128"/>
            </a:endParaRPr>
          </a:p>
        </p:txBody>
      </p:sp>
      <p:sp>
        <p:nvSpPr>
          <p:cNvPr id="287" name="Text 51">
            <a:extLst>
              <a:ext uri="{FF2B5EF4-FFF2-40B4-BE49-F238E27FC236}">
                <a16:creationId xmlns:a16="http://schemas.microsoft.com/office/drawing/2014/main" id="{CBAD27DA-89EF-E7ED-15D2-58AF159CACA9}"/>
              </a:ext>
            </a:extLst>
          </p:cNvPr>
          <p:cNvSpPr/>
          <p:nvPr/>
        </p:nvSpPr>
        <p:spPr>
          <a:xfrm>
            <a:off x="7850150" y="3061141"/>
            <a:ext cx="1499616" cy="749808"/>
          </a:xfrm>
          <a:prstGeom prst="rect">
            <a:avLst/>
          </a:prstGeom>
          <a:noFill/>
          <a:ln/>
        </p:spPr>
        <p:txBody>
          <a:bodyPr wrap="square" lIns="0" tIns="0" rIns="0" bIns="0" rtlCol="0" anchor="ctr"/>
          <a:lstStyle/>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面接・履歴書作成ナシ</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専属エージェントが</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お仕事中も終了後も</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サポート</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開始時期・エリアに合う求人</a:t>
            </a:r>
          </a:p>
        </p:txBody>
      </p:sp>
      <p:sp>
        <p:nvSpPr>
          <p:cNvPr id="289" name="Shape 52">
            <a:extLst>
              <a:ext uri="{FF2B5EF4-FFF2-40B4-BE49-F238E27FC236}">
                <a16:creationId xmlns:a16="http://schemas.microsoft.com/office/drawing/2014/main" id="{01255A9D-11A8-3A64-125C-E28C1B6380B3}"/>
              </a:ext>
            </a:extLst>
          </p:cNvPr>
          <p:cNvSpPr/>
          <p:nvPr/>
        </p:nvSpPr>
        <p:spPr>
          <a:xfrm>
            <a:off x="7831862"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91" name="Text 53">
            <a:extLst>
              <a:ext uri="{FF2B5EF4-FFF2-40B4-BE49-F238E27FC236}">
                <a16:creationId xmlns:a16="http://schemas.microsoft.com/office/drawing/2014/main" id="{8AE4DE94-CD9A-396B-D28D-D8148037F66F}"/>
              </a:ext>
            </a:extLst>
          </p:cNvPr>
          <p:cNvSpPr/>
          <p:nvPr/>
        </p:nvSpPr>
        <p:spPr>
          <a:xfrm>
            <a:off x="7905014"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93" name="Text 54">
            <a:extLst>
              <a:ext uri="{FF2B5EF4-FFF2-40B4-BE49-F238E27FC236}">
                <a16:creationId xmlns:a16="http://schemas.microsoft.com/office/drawing/2014/main" id="{8DA89E85-A3D3-6550-47A4-205B7B8B6D62}"/>
              </a:ext>
            </a:extLst>
          </p:cNvPr>
          <p:cNvSpPr/>
          <p:nvPr/>
        </p:nvSpPr>
        <p:spPr>
          <a:xfrm>
            <a:off x="7905014" y="4143618"/>
            <a:ext cx="1389888" cy="493776"/>
          </a:xfrm>
          <a:prstGeom prst="rect">
            <a:avLst/>
          </a:prstGeom>
          <a:noFill/>
          <a:ln/>
        </p:spPr>
        <p:txBody>
          <a:bodyPr wrap="square" lIns="0" tIns="0" rIns="0" bIns="0" rtlCol="0" anchor="ctr"/>
          <a:lstStyle/>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2〜7日後に</a:t>
            </a:r>
          </a:p>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「派遣 職場見学 落ちる確率」</a:t>
            </a:r>
          </a:p>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「履歴書 書き方」など、</a:t>
            </a:r>
          </a:p>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応募・面接の準備の検索が増える</a:t>
            </a:r>
          </a:p>
        </p:txBody>
      </p:sp>
      <p:sp>
        <p:nvSpPr>
          <p:cNvPr id="295" name="Shape 55">
            <a:extLst>
              <a:ext uri="{FF2B5EF4-FFF2-40B4-BE49-F238E27FC236}">
                <a16:creationId xmlns:a16="http://schemas.microsoft.com/office/drawing/2014/main" id="{517894E9-DBEF-7477-92C8-3AEB98A883F2}"/>
              </a:ext>
            </a:extLst>
          </p:cNvPr>
          <p:cNvSpPr/>
          <p:nvPr/>
        </p:nvSpPr>
        <p:spPr>
          <a:xfrm>
            <a:off x="7831862"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97" name="Text 56">
            <a:extLst>
              <a:ext uri="{FF2B5EF4-FFF2-40B4-BE49-F238E27FC236}">
                <a16:creationId xmlns:a16="http://schemas.microsoft.com/office/drawing/2014/main" id="{DDF1E411-39CC-22B3-B963-FAA79AD524DD}"/>
              </a:ext>
            </a:extLst>
          </p:cNvPr>
          <p:cNvSpPr/>
          <p:nvPr/>
        </p:nvSpPr>
        <p:spPr>
          <a:xfrm>
            <a:off x="7831862" y="4765410"/>
            <a:ext cx="1536192" cy="310896"/>
          </a:xfrm>
          <a:prstGeom prst="rect">
            <a:avLst/>
          </a:prstGeom>
          <a:noFill/>
          <a:ln/>
        </p:spPr>
        <p:txBody>
          <a:bodyPr wrap="square" lIns="0" tIns="0" rIns="0" bIns="0" rtlCol="0" anchor="ctr"/>
          <a:lstStyle/>
          <a:p>
            <a:pPr marL="0" indent="0" algn="ctr">
              <a:buNone/>
            </a:pPr>
            <a:r>
              <a:rPr lang="ja-JP" altLang="en-US" sz="950" b="1" dirty="0">
                <a:latin typeface="メイリオ" panose="020B0604030504040204" pitchFamily="50" charset="-128"/>
                <a:ea typeface="メイリオ" panose="020B0604030504040204" pitchFamily="50" charset="-128"/>
                <a:cs typeface="Calibri" pitchFamily="34" charset="-120"/>
              </a:rPr>
              <a:t>会員登録</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49D91DB9-7A9D-6C3B-8557-DFE5FEA59B4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施策の考え方（長期：企画配信）</a:t>
            </a:r>
          </a:p>
        </p:txBody>
      </p:sp>
      <p:sp>
        <p:nvSpPr>
          <p:cNvPr id="8" name="正方形/長方形 7">
            <a:extLst>
              <a:ext uri="{FF2B5EF4-FFF2-40B4-BE49-F238E27FC236}">
                <a16:creationId xmlns:a16="http://schemas.microsoft.com/office/drawing/2014/main" id="{0DA40860-795C-02D9-8E20-768167E5BE2B}"/>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企画配信</a:t>
            </a:r>
          </a:p>
        </p:txBody>
      </p:sp>
      <p:sp>
        <p:nvSpPr>
          <p:cNvPr id="10" name="Google Shape;752;p28">
            <a:extLst>
              <a:ext uri="{FF2B5EF4-FFF2-40B4-BE49-F238E27FC236}">
                <a16:creationId xmlns:a16="http://schemas.microsoft.com/office/drawing/2014/main" id="{AB994752-49F6-3841-3471-21EFE66BFB15}"/>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再びニーズが高まる時期（シーズナリティ）を軸に、</a:t>
            </a:r>
          </a:p>
          <a:p>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日を過ぎた友だちにも企画配信で再アプローチし、再活性化を図る。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Googleトレンド リゾートバイト・スキー場バイト（月ごと）">
            <a:extLst>
              <a:ext uri="{FF2B5EF4-FFF2-40B4-BE49-F238E27FC236}">
                <a16:creationId xmlns:a16="http://schemas.microsoft.com/office/drawing/2014/main" id="{6E74B780-0053-8D9C-7393-EEF0666D1B29}"/>
              </a:ext>
            </a:extLst>
          </p:cNvPr>
          <p:cNvPicPr>
            <a:picLocks noChangeAspect="1"/>
          </p:cNvPicPr>
          <p:nvPr/>
        </p:nvPicPr>
        <p:blipFill>
          <a:blip r:embed="rId2"/>
          <a:stretch>
            <a:fillRect/>
          </a:stretch>
        </p:blipFill>
        <p:spPr>
          <a:xfrm>
            <a:off x="1570034" y="1491240"/>
            <a:ext cx="6765932" cy="2464732"/>
          </a:xfrm>
          <a:prstGeom prst="rect">
            <a:avLst/>
          </a:prstGeom>
        </p:spPr>
      </p:pic>
      <p:sp>
        <p:nvSpPr>
          <p:cNvPr id="9" name="テキスト ボックス 8">
            <a:extLst>
              <a:ext uri="{FF2B5EF4-FFF2-40B4-BE49-F238E27FC236}">
                <a16:creationId xmlns:a16="http://schemas.microsoft.com/office/drawing/2014/main" id="{DC8BF96D-584A-E1C6-6217-4B8E3A069BAC}"/>
              </a:ext>
            </a:extLst>
          </p:cNvPr>
          <p:cNvSpPr txBox="1"/>
          <p:nvPr/>
        </p:nvSpPr>
        <p:spPr>
          <a:xfrm>
            <a:off x="8134788" y="1514702"/>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のトレンド情報</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8074073A-1881-D07F-BFBF-D955541CB814}"/>
              </a:ext>
            </a:extLst>
          </p:cNvPr>
          <p:cNvSpPr/>
          <p:nvPr/>
        </p:nvSpPr>
        <p:spPr>
          <a:xfrm>
            <a:off x="6764522" y="1491240"/>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リゾートバイト</a:t>
            </a:r>
          </a:p>
        </p:txBody>
      </p:sp>
      <p:sp>
        <p:nvSpPr>
          <p:cNvPr id="18" name="四角形: 角を丸くする 17">
            <a:extLst>
              <a:ext uri="{FF2B5EF4-FFF2-40B4-BE49-F238E27FC236}">
                <a16:creationId xmlns:a16="http://schemas.microsoft.com/office/drawing/2014/main" id="{6582B463-2E55-3216-C313-C99DAF3A7B69}"/>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20" name="Shape 29">
            <a:extLst>
              <a:ext uri="{FF2B5EF4-FFF2-40B4-BE49-F238E27FC236}">
                <a16:creationId xmlns:a16="http://schemas.microsoft.com/office/drawing/2014/main" id="{369E970F-2C41-E080-117D-29AFB73E3495}"/>
              </a:ext>
            </a:extLst>
          </p:cNvPr>
          <p:cNvSpPr/>
          <p:nvPr/>
        </p:nvSpPr>
        <p:spPr>
          <a:xfrm>
            <a:off x="3593323"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1">
            <a:extLst>
              <a:ext uri="{FF2B5EF4-FFF2-40B4-BE49-F238E27FC236}">
                <a16:creationId xmlns:a16="http://schemas.microsoft.com/office/drawing/2014/main" id="{FCD65E22-4E82-E3BE-F7D7-233F34810826}"/>
              </a:ext>
            </a:extLst>
          </p:cNvPr>
          <p:cNvSpPr/>
          <p:nvPr/>
        </p:nvSpPr>
        <p:spPr>
          <a:xfrm>
            <a:off x="4060092"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矢印: 下 25">
            <a:extLst>
              <a:ext uri="{FF2B5EF4-FFF2-40B4-BE49-F238E27FC236}">
                <a16:creationId xmlns:a16="http://schemas.microsoft.com/office/drawing/2014/main" id="{064EB21E-55AC-291D-BD68-D99487ED9214}"/>
              </a:ext>
            </a:extLst>
          </p:cNvPr>
          <p:cNvSpPr/>
          <p:nvPr/>
        </p:nvSpPr>
        <p:spPr>
          <a:xfrm>
            <a:off x="5341874"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矢印: 下 27">
            <a:extLst>
              <a:ext uri="{FF2B5EF4-FFF2-40B4-BE49-F238E27FC236}">
                <a16:creationId xmlns:a16="http://schemas.microsoft.com/office/drawing/2014/main" id="{FB72B5BF-4992-BBB8-E5B3-E5EBD3C2D3AC}"/>
              </a:ext>
            </a:extLst>
          </p:cNvPr>
          <p:cNvSpPr/>
          <p:nvPr/>
        </p:nvSpPr>
        <p:spPr>
          <a:xfrm>
            <a:off x="2174122"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9122B12C-726B-347C-08BA-51C1DD7B1B37}"/>
              </a:ext>
            </a:extLst>
          </p:cNvPr>
          <p:cNvSpPr txBox="1"/>
          <p:nvPr/>
        </p:nvSpPr>
        <p:spPr>
          <a:xfrm>
            <a:off x="1518065" y="4007678"/>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2" name="テキスト ボックス 31">
            <a:extLst>
              <a:ext uri="{FF2B5EF4-FFF2-40B4-BE49-F238E27FC236}">
                <a16:creationId xmlns:a16="http://schemas.microsoft.com/office/drawing/2014/main" id="{302C7D03-D37A-C26E-B969-DD0DB3163FBC}"/>
              </a:ext>
            </a:extLst>
          </p:cNvPr>
          <p:cNvSpPr txBox="1"/>
          <p:nvPr/>
        </p:nvSpPr>
        <p:spPr>
          <a:xfrm>
            <a:off x="4685816" y="4009455"/>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4" name="テキスト ボックス 33">
            <a:extLst>
              <a:ext uri="{FF2B5EF4-FFF2-40B4-BE49-F238E27FC236}">
                <a16:creationId xmlns:a16="http://schemas.microsoft.com/office/drawing/2014/main" id="{A2AD2662-C588-A66D-EA47-21DA7A09CF26}"/>
              </a:ext>
            </a:extLst>
          </p:cNvPr>
          <p:cNvSpPr txBox="1"/>
          <p:nvPr/>
        </p:nvSpPr>
        <p:spPr>
          <a:xfrm>
            <a:off x="7099855" y="4053844"/>
            <a:ext cx="2315055" cy="3693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その他、ニーズが高まる前のタイミング</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でアプローチする等の施策に活用。</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p:txBody>
      </p:sp>
      <p:cxnSp>
        <p:nvCxnSpPr>
          <p:cNvPr id="36" name="直線矢印コネクタ 35">
            <a:extLst>
              <a:ext uri="{FF2B5EF4-FFF2-40B4-BE49-F238E27FC236}">
                <a16:creationId xmlns:a16="http://schemas.microsoft.com/office/drawing/2014/main" id="{53784701-DE88-24A4-1652-CE66A993AA9A}"/>
              </a:ext>
            </a:extLst>
          </p:cNvPr>
          <p:cNvCxnSpPr>
            <a:cxnSpLocks/>
          </p:cNvCxnSpPr>
          <p:nvPr/>
        </p:nvCxnSpPr>
        <p:spPr>
          <a:xfrm flipH="1" flipV="1">
            <a:off x="6437376" y="3465576"/>
            <a:ext cx="914400" cy="566928"/>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8" name="四角形: 角を丸くする 37">
            <a:extLst>
              <a:ext uri="{FF2B5EF4-FFF2-40B4-BE49-F238E27FC236}">
                <a16:creationId xmlns:a16="http://schemas.microsoft.com/office/drawing/2014/main" id="{9C8551D0-7316-37F3-A274-247A41CF4DC1}"/>
              </a:ext>
            </a:extLst>
          </p:cNvPr>
          <p:cNvSpPr/>
          <p:nvPr/>
        </p:nvSpPr>
        <p:spPr>
          <a:xfrm>
            <a:off x="6181344" y="1856231"/>
            <a:ext cx="512064" cy="1591056"/>
          </a:xfrm>
          <a:prstGeom prst="roundRect">
            <a:avLst>
              <a:gd name="adj" fmla="val 9639"/>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 name="Rectangle 2012">
            <a:extLst>
              <a:ext uri="{FF2B5EF4-FFF2-40B4-BE49-F238E27FC236}">
                <a16:creationId xmlns:a16="http://schemas.microsoft.com/office/drawing/2014/main" id="{38D4CCB3-6A52-E243-EBF3-4D9F3E0779B3}"/>
              </a:ext>
            </a:extLst>
          </p:cNvPr>
          <p:cNvSpPr/>
          <p:nvPr/>
        </p:nvSpPr>
        <p:spPr>
          <a:xfrm>
            <a:off x="461554"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1月</a:t>
            </a:r>
          </a:p>
        </p:txBody>
      </p:sp>
      <p:sp>
        <p:nvSpPr>
          <p:cNvPr id="7" name="Rectangle 2011">
            <a:extLst>
              <a:ext uri="{FF2B5EF4-FFF2-40B4-BE49-F238E27FC236}">
                <a16:creationId xmlns:a16="http://schemas.microsoft.com/office/drawing/2014/main" id="{523206B0-A248-EDFA-FDF7-111D4BDD0015}"/>
              </a:ext>
            </a:extLst>
          </p:cNvPr>
          <p:cNvSpPr/>
          <p:nvPr/>
        </p:nvSpPr>
        <p:spPr>
          <a:xfrm>
            <a:off x="121805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2月</a:t>
            </a:r>
          </a:p>
        </p:txBody>
      </p:sp>
      <p:sp>
        <p:nvSpPr>
          <p:cNvPr id="13" name="Rectangle 2011">
            <a:extLst>
              <a:ext uri="{FF2B5EF4-FFF2-40B4-BE49-F238E27FC236}">
                <a16:creationId xmlns:a16="http://schemas.microsoft.com/office/drawing/2014/main" id="{523206B0-A248-EDFA-FDF7-111D4BDD0015}"/>
              </a:ext>
            </a:extLst>
          </p:cNvPr>
          <p:cNvSpPr/>
          <p:nvPr/>
        </p:nvSpPr>
        <p:spPr>
          <a:xfrm>
            <a:off x="197454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3月</a:t>
            </a:r>
          </a:p>
        </p:txBody>
      </p:sp>
      <p:sp>
        <p:nvSpPr>
          <p:cNvPr id="17" name="Rectangle 2011">
            <a:extLst>
              <a:ext uri="{FF2B5EF4-FFF2-40B4-BE49-F238E27FC236}">
                <a16:creationId xmlns:a16="http://schemas.microsoft.com/office/drawing/2014/main" id="{523206B0-A248-EDFA-FDF7-111D4BDD0015}"/>
              </a:ext>
            </a:extLst>
          </p:cNvPr>
          <p:cNvSpPr/>
          <p:nvPr/>
        </p:nvSpPr>
        <p:spPr>
          <a:xfrm>
            <a:off x="2731042"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4月</a:t>
            </a:r>
          </a:p>
        </p:txBody>
      </p:sp>
      <p:sp>
        <p:nvSpPr>
          <p:cNvPr id="21" name="Rectangle 2011">
            <a:extLst>
              <a:ext uri="{FF2B5EF4-FFF2-40B4-BE49-F238E27FC236}">
                <a16:creationId xmlns:a16="http://schemas.microsoft.com/office/drawing/2014/main" id="{523206B0-A248-EDFA-FDF7-111D4BDD0015}"/>
              </a:ext>
            </a:extLst>
          </p:cNvPr>
          <p:cNvSpPr/>
          <p:nvPr/>
        </p:nvSpPr>
        <p:spPr>
          <a:xfrm>
            <a:off x="3487538"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5月</a:t>
            </a:r>
          </a:p>
        </p:txBody>
      </p:sp>
      <p:sp>
        <p:nvSpPr>
          <p:cNvPr id="24" name="Rectangle 2012">
            <a:extLst>
              <a:ext uri="{FF2B5EF4-FFF2-40B4-BE49-F238E27FC236}">
                <a16:creationId xmlns:a16="http://schemas.microsoft.com/office/drawing/2014/main" id="{38D4CCB3-6A52-E243-EBF3-4D9F3E0779B3}"/>
              </a:ext>
            </a:extLst>
          </p:cNvPr>
          <p:cNvSpPr/>
          <p:nvPr/>
        </p:nvSpPr>
        <p:spPr>
          <a:xfrm>
            <a:off x="4244034"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6月</a:t>
            </a:r>
          </a:p>
        </p:txBody>
      </p:sp>
      <p:sp>
        <p:nvSpPr>
          <p:cNvPr id="27" name="Rectangle 2012">
            <a:extLst>
              <a:ext uri="{FF2B5EF4-FFF2-40B4-BE49-F238E27FC236}">
                <a16:creationId xmlns:a16="http://schemas.microsoft.com/office/drawing/2014/main" id="{38D4CCB3-6A52-E243-EBF3-4D9F3E0779B3}"/>
              </a:ext>
            </a:extLst>
          </p:cNvPr>
          <p:cNvSpPr/>
          <p:nvPr/>
        </p:nvSpPr>
        <p:spPr>
          <a:xfrm>
            <a:off x="5000530"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7月</a:t>
            </a:r>
          </a:p>
        </p:txBody>
      </p:sp>
      <p:sp>
        <p:nvSpPr>
          <p:cNvPr id="31" name="Rectangle 2011">
            <a:extLst>
              <a:ext uri="{FF2B5EF4-FFF2-40B4-BE49-F238E27FC236}">
                <a16:creationId xmlns:a16="http://schemas.microsoft.com/office/drawing/2014/main" id="{523206B0-A248-EDFA-FDF7-111D4BDD0015}"/>
              </a:ext>
            </a:extLst>
          </p:cNvPr>
          <p:cNvSpPr/>
          <p:nvPr/>
        </p:nvSpPr>
        <p:spPr>
          <a:xfrm>
            <a:off x="575702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8月</a:t>
            </a:r>
          </a:p>
        </p:txBody>
      </p:sp>
      <p:sp>
        <p:nvSpPr>
          <p:cNvPr id="41" name="Rectangle 2011">
            <a:extLst>
              <a:ext uri="{FF2B5EF4-FFF2-40B4-BE49-F238E27FC236}">
                <a16:creationId xmlns:a16="http://schemas.microsoft.com/office/drawing/2014/main" id="{523206B0-A248-EDFA-FDF7-111D4BDD0015}"/>
              </a:ext>
            </a:extLst>
          </p:cNvPr>
          <p:cNvSpPr/>
          <p:nvPr/>
        </p:nvSpPr>
        <p:spPr>
          <a:xfrm>
            <a:off x="8026514"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11月</a:t>
            </a:r>
          </a:p>
        </p:txBody>
      </p:sp>
      <p:sp>
        <p:nvSpPr>
          <p:cNvPr id="49" name="Rectangle 2008">
            <a:extLst>
              <a:ext uri="{FF2B5EF4-FFF2-40B4-BE49-F238E27FC236}">
                <a16:creationId xmlns:a16="http://schemas.microsoft.com/office/drawing/2014/main" id="{82B3CC5E-6187-AF51-5435-202392E72C80}"/>
              </a:ext>
            </a:extLst>
          </p:cNvPr>
          <p:cNvSpPr/>
          <p:nvPr/>
        </p:nvSpPr>
        <p:spPr>
          <a:xfrm>
            <a:off x="6512070"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9月</a:t>
            </a:r>
          </a:p>
        </p:txBody>
      </p:sp>
      <p:sp>
        <p:nvSpPr>
          <p:cNvPr id="51" name="Rectangle 2011">
            <a:extLst>
              <a:ext uri="{FF2B5EF4-FFF2-40B4-BE49-F238E27FC236}">
                <a16:creationId xmlns:a16="http://schemas.microsoft.com/office/drawing/2014/main" id="{523206B0-A248-EDFA-FDF7-111D4BDD0015}"/>
              </a:ext>
            </a:extLst>
          </p:cNvPr>
          <p:cNvSpPr/>
          <p:nvPr/>
        </p:nvSpPr>
        <p:spPr>
          <a:xfrm>
            <a:off x="726856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10月</a:t>
            </a:r>
          </a:p>
        </p:txBody>
      </p:sp>
      <p:sp>
        <p:nvSpPr>
          <p:cNvPr id="55" name="Rectangle 2012">
            <a:extLst>
              <a:ext uri="{FF2B5EF4-FFF2-40B4-BE49-F238E27FC236}">
                <a16:creationId xmlns:a16="http://schemas.microsoft.com/office/drawing/2014/main" id="{38D4CCB3-6A52-E243-EBF3-4D9F3E0779B3}"/>
              </a:ext>
            </a:extLst>
          </p:cNvPr>
          <p:cNvSpPr/>
          <p:nvPr/>
        </p:nvSpPr>
        <p:spPr>
          <a:xfrm>
            <a:off x="8808410"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12月</a:t>
            </a:r>
          </a:p>
        </p:txBody>
      </p:sp>
      <p:sp>
        <p:nvSpPr>
          <p:cNvPr id="6" name="テキスト ボックス 5">
            <a:extLst>
              <a:ext uri="{FF2B5EF4-FFF2-40B4-BE49-F238E27FC236}">
                <a16:creationId xmlns:a16="http://schemas.microsoft.com/office/drawing/2014/main" id="{C5613934-3058-7342-6086-B74E9E936123}"/>
              </a:ext>
            </a:extLst>
          </p:cNvPr>
          <p:cNvSpPr txBox="1"/>
          <p:nvPr/>
        </p:nvSpPr>
        <p:spPr>
          <a:xfrm>
            <a:off x="1333625" y="4709544"/>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・10〜11月：</a:t>
            </a:r>
            <a:b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b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「12月・1月開始のスキー場の求人」特集</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68DA1071-AA58-705C-A547-3B4B60150699}"/>
              </a:ext>
            </a:extLst>
          </p:cNvPr>
          <p:cNvSpPr txBox="1"/>
          <p:nvPr/>
        </p:nvSpPr>
        <p:spPr>
          <a:xfrm>
            <a:off x="1333625" y="5183337"/>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・「2026-2027 winter SKI Resort」</a:t>
            </a:r>
            <a:b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b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　求人を、開始時期・エリアで出し分け</a:t>
            </a:r>
          </a:p>
        </p:txBody>
      </p:sp>
      <p:sp>
        <p:nvSpPr>
          <p:cNvPr id="23" name="テキスト ボックス 22">
            <a:extLst>
              <a:ext uri="{FF2B5EF4-FFF2-40B4-BE49-F238E27FC236}">
                <a16:creationId xmlns:a16="http://schemas.microsoft.com/office/drawing/2014/main" id="{5E084692-8341-F62C-BDA3-93FFBCF87329}"/>
              </a:ext>
            </a:extLst>
          </p:cNvPr>
          <p:cNvSpPr txBox="1"/>
          <p:nvPr/>
        </p:nvSpPr>
        <p:spPr>
          <a:xfrm>
            <a:off x="1319183" y="5657130"/>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・冬の終わりに、春からの次のお仕事を案内</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9" name="Shape 29">
            <a:extLst>
              <a:ext uri="{FF2B5EF4-FFF2-40B4-BE49-F238E27FC236}">
                <a16:creationId xmlns:a16="http://schemas.microsoft.com/office/drawing/2014/main" id="{B20887B4-FA60-453A-DF70-39F5445ADC5F}"/>
              </a:ext>
            </a:extLst>
          </p:cNvPr>
          <p:cNvSpPr/>
          <p:nvPr/>
        </p:nvSpPr>
        <p:spPr>
          <a:xfrm>
            <a:off x="6604040" y="4681749"/>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テキスト ボックス 38">
            <a:extLst>
              <a:ext uri="{FF2B5EF4-FFF2-40B4-BE49-F238E27FC236}">
                <a16:creationId xmlns:a16="http://schemas.microsoft.com/office/drawing/2014/main" id="{8472013D-5308-599C-BCBD-A2C7ADFD17E4}"/>
              </a:ext>
            </a:extLst>
          </p:cNvPr>
          <p:cNvSpPr txBox="1"/>
          <p:nvPr/>
        </p:nvSpPr>
        <p:spPr>
          <a:xfrm>
            <a:off x="4344342" y="4695532"/>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夏（6〜7月）は</a:t>
            </a:r>
            <a:b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b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「リゾートバイト」の検索が最も多い。</a:t>
            </a:r>
          </a:p>
        </p:txBody>
      </p:sp>
      <p:sp>
        <p:nvSpPr>
          <p:cNvPr id="42" name="テキスト ボックス 41">
            <a:extLst>
              <a:ext uri="{FF2B5EF4-FFF2-40B4-BE49-F238E27FC236}">
                <a16:creationId xmlns:a16="http://schemas.microsoft.com/office/drawing/2014/main" id="{159782BD-D49E-7D50-5922-BF0AFE41609D}"/>
              </a:ext>
            </a:extLst>
          </p:cNvPr>
          <p:cNvSpPr txBox="1"/>
          <p:nvPr/>
        </p:nvSpPr>
        <p:spPr>
          <a:xfrm>
            <a:off x="4344342" y="5005823"/>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海・離島・高原など、夏のエリアの求人特集。</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46" name="テキスト ボックス 45">
            <a:extLst>
              <a:ext uri="{FF2B5EF4-FFF2-40B4-BE49-F238E27FC236}">
                <a16:creationId xmlns:a16="http://schemas.microsoft.com/office/drawing/2014/main" id="{DFA1ED2F-ED5C-555B-A807-54C30A8D6A03}"/>
              </a:ext>
            </a:extLst>
          </p:cNvPr>
          <p:cNvSpPr txBox="1"/>
          <p:nvPr/>
        </p:nvSpPr>
        <p:spPr>
          <a:xfrm>
            <a:off x="7268565" y="4476013"/>
            <a:ext cx="2442473" cy="861774"/>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・9月：冬の求人の先行案内</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・4〜5月：夏の求人の先行案内</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・「LINE友だち限定・先行公開」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1" name="テキスト ボックス 10">
            <a:extLst>
              <a:ext uri="{FF2B5EF4-FFF2-40B4-BE49-F238E27FC236}">
                <a16:creationId xmlns:a16="http://schemas.microsoft.com/office/drawing/2014/main" id="{212FC656-86E9-6A8C-0891-DCF1433F5FA2}"/>
              </a:ext>
            </a:extLst>
          </p:cNvPr>
          <p:cNvSpPr txBox="1"/>
          <p:nvPr/>
        </p:nvSpPr>
        <p:spPr>
          <a:xfrm>
            <a:off x="4344341" y="5316114"/>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希望のエリア・開始時期の答えで出し分け。</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4695B-DA8B-628A-D7EF-2A893347868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630470A8-B84B-B148-A204-2590B40142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45CF9DAE-30BF-EBB4-2738-8B519663A3C2}"/>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03</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1074280A-D5C9-01AC-8681-B924D4C79238}"/>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施策詳細（</a:t>
            </a:r>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DYM</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プラン）</a:t>
            </a:r>
          </a:p>
        </p:txBody>
      </p:sp>
      <p:cxnSp>
        <p:nvCxnSpPr>
          <p:cNvPr id="17" name="直線コネクタ 16">
            <a:extLst>
              <a:ext uri="{FF2B5EF4-FFF2-40B4-BE49-F238E27FC236}">
                <a16:creationId xmlns:a16="http://schemas.microsoft.com/office/drawing/2014/main" id="{507E5E5E-0A73-E2C6-D228-2CEEE9F667CD}"/>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13998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A1A8D-DF9B-DC16-FB09-828A6A4245C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F62311B2-8B20-5404-3961-D924DB3A31A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E54327E7-0F08-0D05-B25E-DE55D46BB2EB}"/>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04</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2D19382B-2C00-B10F-B0BE-D0D83D18ADF1}"/>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料金形態</a:t>
            </a:r>
          </a:p>
        </p:txBody>
      </p:sp>
      <p:cxnSp>
        <p:nvCxnSpPr>
          <p:cNvPr id="17" name="直線コネクタ 16">
            <a:extLst>
              <a:ext uri="{FF2B5EF4-FFF2-40B4-BE49-F238E27FC236}">
                <a16:creationId xmlns:a16="http://schemas.microsoft.com/office/drawing/2014/main" id="{017042CD-D697-408D-A1BC-4F66A205DD0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36243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rPr>
              <a:t>概算お見積り：月33万円で、6か月目に友だち 86,631人・応募 月232件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初期</a:t>
            </a:r>
            <a:endParaRPr lang="en-US" sz="1400" b="0" u="none" strike="noStrike">
              <a:solidFill>
                <a:srgbClr val="FFFFFF"/>
              </a:solidFill>
              <a:effectLst/>
              <a:uFillTx/>
              <a:latin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月次</a:t>
            </a:r>
            <a:endParaRPr lang="en-US" sz="1400" b="0" u="none" strike="noStrike">
              <a:solidFill>
                <a:srgbClr val="FFFFFF"/>
              </a:solidFill>
              <a:effectLst/>
              <a:uFillTx/>
              <a:latin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¥215,000〜</a:t>
            </a:r>
            <a:endParaRPr lang="en-US" sz="1600" b="0" u="none" strike="noStrike">
              <a:solidFill>
                <a:srgbClr val="000000"/>
              </a:solidFill>
              <a:effectLst/>
              <a:uFillTx/>
              <a:latin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¥330,000〜</a:t>
            </a:r>
            <a:endParaRPr lang="en-US" sz="1600" b="0" u="none" strike="noStrike">
              <a:solidFill>
                <a:srgbClr val="000000"/>
              </a:solidFill>
              <a:effectLst/>
              <a:uFillTx/>
              <a:latin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rPr>
              <a:t>6</a:t>
            </a:r>
            <a:r>
              <a:rPr lang="ja-JP" sz="1400" b="0" u="none" strike="noStrike">
                <a:solidFill>
                  <a:schemeClr val="lt1"/>
                </a:solidFill>
                <a:effectLst/>
                <a:uFillTx/>
                <a:latin typeface="メイリオ"/>
                <a:ea typeface="メイリオ"/>
              </a:rPr>
              <a:t>か月後</a:t>
            </a:r>
            <a:endParaRPr lang="en-US" sz="1400" b="0" u="none" strike="noStrike">
              <a:solidFill>
                <a:srgbClr val="FFFFFF"/>
              </a:solidFill>
              <a:effectLst/>
              <a:uFillTx/>
              <a:latin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企画配信</a:t>
            </a:r>
            <a:endParaRPr lang="en-US" sz="1300" b="0" u="none" strike="noStrike">
              <a:solidFill>
                <a:srgbClr val="FFFFFF"/>
              </a:solidFill>
              <a:effectLst/>
              <a:uFillTx/>
              <a:latin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月3回</a:t>
            </a:r>
            <a:endParaRPr lang="en-US" sz="1300" b="0" u="none" strike="noStrike">
              <a:solidFill>
                <a:srgbClr val="000000"/>
              </a:solidFill>
              <a:effectLst/>
              <a:uFillTx/>
              <a:latin typeface="メイリオ"/>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a:solidFill>
                  <a:schemeClr val="lt1"/>
                </a:solidFill>
                <a:effectLst/>
                <a:uFillTx/>
                <a:latin typeface="メイリオ"/>
                <a:ea typeface="メイリオ"/>
              </a:rPr>
              <a:t>開始時期・</a:t>
            </a:r>
            <a:br>
              <a:rPr lang="ja-JP" sz="1200" b="0" u="none" strike="noStrike">
                <a:solidFill>
                  <a:schemeClr val="lt1"/>
                </a:solidFill>
                <a:effectLst/>
                <a:uFillTx/>
                <a:latin typeface="メイリオ"/>
                <a:ea typeface="メイリオ"/>
              </a:rPr>
            </a:br>
            <a:r>
              <a:rPr lang="ja-JP" sz="1200" b="0" u="none" strike="noStrike">
                <a:solidFill>
                  <a:schemeClr val="lt1"/>
                </a:solidFill>
                <a:effectLst/>
                <a:uFillTx/>
                <a:latin typeface="メイリオ"/>
                <a:ea typeface="メイリオ"/>
              </a:rPr>
              <a:t>エリア別</a:t>
            </a:r>
            <a:endParaRPr lang="en-US" sz="1200" b="0" u="none" strike="noStrike">
              <a:solidFill>
                <a:srgbClr val="FFFFFF"/>
              </a:solidFill>
              <a:effectLst/>
              <a:uFillTx/>
              <a:latin typeface="メイリオ"/>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rPr>
              <a:t>配信</a:t>
            </a:r>
            <a:endParaRPr lang="en-US" sz="1200" b="0" u="none" strike="noStrike">
              <a:solidFill>
                <a:srgbClr val="000000"/>
              </a:solidFill>
              <a:effectLst/>
              <a:uFillTx/>
              <a:latin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5通の改善</a:t>
            </a:r>
            <a:endParaRPr lang="en-US" sz="1300" b="0" u="none" strike="noStrike">
              <a:solidFill>
                <a:srgbClr val="000000"/>
              </a:solidFill>
              <a:effectLst/>
              <a:uFillTx/>
              <a:latin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月次レポート</a:t>
            </a:r>
            <a:endParaRPr lang="en-US" sz="1300" b="0" u="none" strike="noStrike">
              <a:solidFill>
                <a:srgbClr val="FFFFFF"/>
              </a:solidFill>
              <a:effectLst/>
              <a:uFillTx/>
              <a:latin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月次定例会</a:t>
            </a:r>
            <a:endParaRPr lang="en-US" sz="1300" b="0" u="none" strike="noStrike">
              <a:solidFill>
                <a:srgbClr val="FFFFFF"/>
              </a:solidFill>
              <a:effectLst/>
              <a:uFillTx/>
              <a:latin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友だちの入口</a:t>
            </a:r>
            <a:endParaRPr lang="en-US" sz="1300" b="0" u="none" strike="noStrike">
              <a:solidFill>
                <a:srgbClr val="FFFFFF"/>
              </a:solidFill>
              <a:effectLst/>
              <a:uFillTx/>
              <a:latin typeface="メイリオ"/>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運用</a:t>
            </a:r>
            <a:endParaRPr lang="en-US" sz="1300" b="0" u="none" strike="noStrike">
              <a:solidFill>
                <a:srgbClr val="000000"/>
              </a:solidFill>
              <a:effectLst/>
              <a:uFillTx/>
              <a:latin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友だち数</a:t>
            </a:r>
            <a:endParaRPr lang="en-US" sz="1400" b="0" u="none" strike="noStrike">
              <a:solidFill>
                <a:srgbClr val="000000"/>
              </a:solidFill>
              <a:effectLst/>
              <a:uFillTx/>
              <a:latin typeface="メイリオ"/>
            </a:endParaRPr>
          </a:p>
        </p:txBody>
      </p:sp>
      <p:sp>
        <p:nvSpPr>
          <p:cNvPr id="364" name="正方形/長方形 85"/>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rPr>
              <a:t>応募</a:t>
            </a:r>
            <a:endParaRPr lang="en-US" sz="1400" b="0" u="none" strike="noStrike">
              <a:solidFill>
                <a:srgbClr val="000000"/>
              </a:solidFill>
              <a:effectLst/>
              <a:uFillTx/>
              <a:latin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ポップアップ</a:t>
            </a:r>
            <a:endParaRPr lang="en-US" sz="1300" b="0" u="none" strike="noStrike">
              <a:solidFill>
                <a:srgbClr val="FFFFFF"/>
              </a:solidFill>
              <a:effectLst/>
              <a:uFillTx/>
              <a:latin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リッチメニュー</a:t>
            </a:r>
            <a:endParaRPr lang="en-US" sz="1300" b="0" u="none" strike="noStrike">
              <a:solidFill>
                <a:srgbClr val="FFFFFF"/>
              </a:solidFill>
              <a:effectLst/>
              <a:uFillTx/>
              <a:latin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設計・構築</a:t>
            </a:r>
            <a:endParaRPr lang="en-US" sz="1300" b="0" u="none" strike="noStrike">
              <a:solidFill>
                <a:srgbClr val="000000"/>
              </a:solidFill>
              <a:effectLst/>
              <a:uFillTx/>
              <a:latin typeface="メイリオ"/>
            </a:endParaRPr>
          </a:p>
        </p:txBody>
      </p:sp>
      <p:sp>
        <p:nvSpPr>
          <p:cNvPr id="371" name="正方形/長方形 33"/>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72" name="正方形/長方形 37"/>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5通を構築</a:t>
            </a:r>
            <a:endParaRPr lang="en-US" sz="1300" b="0" u="none" strike="noStrike">
              <a:solidFill>
                <a:srgbClr val="000000"/>
              </a:solidFill>
              <a:effectLst/>
              <a:uFillTx/>
              <a:latin typeface="メイリオ"/>
            </a:endParaRPr>
          </a:p>
        </p:txBody>
      </p:sp>
      <p:sp>
        <p:nvSpPr>
          <p:cNvPr id="373" name="正方形/長方形 41"/>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配信の設計</a:t>
            </a:r>
            <a:endParaRPr lang="en-US" sz="1300" b="0" u="none" strike="noStrike">
              <a:solidFill>
                <a:srgbClr val="FFFFFF"/>
              </a:solidFill>
              <a:effectLst/>
              <a:uFillTx/>
              <a:latin typeface="メイリオ"/>
            </a:endParaRPr>
          </a:p>
        </p:txBody>
      </p:sp>
      <p:sp>
        <p:nvSpPr>
          <p:cNvPr id="374" name="正方形/長方形 46"/>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前後検索を</a:t>
            </a:r>
            <a:br>
              <a:rPr lang="ja-JP" sz="1300" b="0" u="none" strike="noStrike">
                <a:solidFill>
                  <a:schemeClr val="dk1"/>
                </a:solidFill>
                <a:effectLst/>
                <a:uFillTx/>
                <a:latin typeface="メイリオ"/>
                <a:ea typeface="メイリオ"/>
              </a:rPr>
            </a:br>
            <a:r>
              <a:rPr lang="ja-JP" sz="1300" b="0" u="none" strike="noStrike">
                <a:solidFill>
                  <a:schemeClr val="dk1"/>
                </a:solidFill>
                <a:effectLst/>
                <a:uFillTx/>
                <a:latin typeface="メイリオ"/>
                <a:ea typeface="メイリオ"/>
              </a:rPr>
              <a:t>もとに設計</a:t>
            </a:r>
            <a:endParaRPr lang="en-US" sz="1300" b="0" u="none" strike="noStrike">
              <a:solidFill>
                <a:srgbClr val="000000"/>
              </a:solidFill>
              <a:effectLst/>
              <a:uFillTx/>
              <a:latin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rPr>
              <a:t>86,631人</a:t>
            </a:r>
            <a:endParaRPr lang="en-US" sz="1400" b="0" u="none" strike="noStrike">
              <a:solidFill>
                <a:srgbClr val="000000"/>
              </a:solidFill>
              <a:effectLst/>
              <a:uFillTx/>
              <a:latin typeface="メイリオ"/>
            </a:endParaRPr>
          </a:p>
        </p:txBody>
      </p:sp>
      <p:sp>
        <p:nvSpPr>
          <p:cNvPr id="378" name="テキスト ボックス 26"/>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232件/月</a:t>
            </a:r>
            <a:endParaRPr lang="en-US" sz="1400" b="0" u="none" strike="noStrike">
              <a:solidFill>
                <a:srgbClr val="000000"/>
              </a:solidFill>
              <a:effectLst/>
              <a:uFillTx/>
              <a:latin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プラン①（月3投稿）で、友だちの入口を増やし、検討の順番に沿った配信で応募を増やす</a:t>
            </a:r>
            <a:endParaRPr lang="en-US" sz="1400" b="0" u="none" strike="noStrike">
              <a:solidFill>
                <a:srgbClr val="000000"/>
              </a:solidFill>
              <a:effectLst/>
              <a:uFillTx/>
              <a:latin typeface="メイリオ"/>
            </a:endParaRPr>
          </a:p>
        </p:txBody>
      </p:sp>
      <p:sp>
        <p:nvSpPr>
          <p:cNvPr id="382" name="初期 来場前のお知らせ"/>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適正バイト</a:t>
            </a:r>
            <a:endParaRPr lang="en-US" sz="1300" b="0" u="none" strike="noStrike">
              <a:solidFill>
                <a:srgbClr val="FFFFFF"/>
              </a:solidFill>
              <a:effectLst/>
              <a:uFillTx/>
              <a:latin typeface="メイリオ"/>
            </a:endParaRPr>
          </a:p>
          <a:p>
            <a:pPr algn="ctr" defTabSz="914400">
              <a:lnSpc>
                <a:spcPct val="100000"/>
              </a:lnSpc>
            </a:pPr>
            <a:r>
              <a:rPr lang="ja-JP" sz="1300" b="0" u="none" strike="noStrike">
                <a:solidFill>
                  <a:schemeClr val="lt1"/>
                </a:solidFill>
                <a:effectLst/>
                <a:uFillTx/>
                <a:latin typeface="メイリオ"/>
                <a:ea typeface="メイリオ"/>
              </a:rPr>
              <a:t>診断</a:t>
            </a:r>
            <a:endParaRPr lang="en-US" sz="1300" b="0" u="none" strike="noStrike">
              <a:solidFill>
                <a:srgbClr val="FFFFFF"/>
              </a:solidFill>
              <a:effectLst/>
              <a:uFillTx/>
              <a:latin typeface="メイリオ"/>
            </a:endParaRPr>
          </a:p>
        </p:txBody>
      </p:sp>
      <p:sp>
        <p:nvSpPr>
          <p:cNvPr id="383" name="初期 型をつくる"/>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設計・構築</a:t>
            </a:r>
            <a:endParaRPr lang="en-US" sz="1300" b="0" u="none" strike="noStrike">
              <a:solidFill>
                <a:srgbClr val="000000"/>
              </a:solidFill>
              <a:effectLst/>
              <a:uFillTx/>
              <a:latin typeface="メイリオ"/>
            </a:endParaRPr>
          </a:p>
        </p:txBody>
      </p:sp>
      <p:sp>
        <p:nvSpPr>
          <p:cNvPr id="384" name="TextBox 383"/>
          <p:cNvSpPr txBox="1"/>
          <p:nvPr/>
        </p:nvSpPr>
        <p:spPr>
          <a:xfrm>
            <a:off x="265176" y="6035040"/>
            <a:ext cx="9326880" cy="411480"/>
          </a:xfrm>
          <a:prstGeom prst="rect">
            <a:avLst/>
          </a:prstGeom>
          <a:noFill/>
        </p:spPr>
        <p:txBody>
          <a:bodyPr wrap="square" lIns="36000" tIns="10800" rIns="36000" bIns="10800" anchor="t">
            <a:spAutoFit/>
          </a:bodyPr>
          <a:lstStyle/>
          <a:p>
            <a:pPr algn="l">
              <a:lnSpc>
                <a:spcPct val="105000"/>
              </a:lnSpc>
              <a:spcAft>
                <a:spcPts val="200"/>
              </a:spcAft>
            </a:pPr>
            <a:r>
              <a:rPr sz="900" b="0">
                <a:solidFill>
                  <a:srgbClr val="595959"/>
                </a:solidFill>
                <a:latin typeface="メイリオ"/>
                <a:ea typeface="メイリオ"/>
                <a:cs typeface="メイリオ"/>
              </a:rPr>
              <a:t>※前提：サイトの訪問 月85,887人／友だちの入口＝サイトのLINEボタン・ポップアップ／ブロック率34.1%から／</a:t>
            </a:r>
            <a:br>
              <a:rPr sz="900" b="0">
                <a:solidFill>
                  <a:srgbClr val="595959"/>
                </a:solidFill>
                <a:latin typeface="メイリオ"/>
                <a:ea typeface="メイリオ"/>
                <a:cs typeface="メイリオ"/>
              </a:rPr>
            </a:br>
            <a:r>
              <a:rPr sz="900" b="0">
                <a:solidFill>
                  <a:srgbClr val="595959"/>
                </a:solidFill>
                <a:latin typeface="メイリオ"/>
                <a:ea typeface="メイリオ"/>
                <a:cs typeface="メイリオ"/>
              </a:rPr>
              <a:t>企画配信 月3本・ステップ配信5通／応募＝LINEからのクリックの0.4〜0.9%</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料金プラン：2つのプランの費用</a:t>
            </a:r>
            <a:endParaRPr lang="en-US" sz="1600" b="0" u="none" strike="noStrike">
              <a:solidFill>
                <a:srgbClr val="000000"/>
              </a:solidFill>
              <a:effectLst/>
              <a:uFillTx/>
              <a:latin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rPr>
              <a:t>料金プランの比較</a:t>
            </a:r>
            <a:endParaRPr lang="en-US" sz="1400" b="0" u="none" strike="noStrike" dirty="0">
              <a:solidFill>
                <a:srgbClr val="FFFFFF"/>
              </a:solidFill>
              <a:effectLst/>
              <a:uFillTx/>
              <a:latin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運用範囲に合わせて、2つのプランをご用意</a:t>
            </a:r>
            <a:endParaRPr lang="en-US" sz="1600" b="0" u="none" strike="noStrike" dirty="0">
              <a:solidFill>
                <a:srgbClr val="000000"/>
              </a:solidFill>
              <a:effectLst/>
              <a:uFillTx/>
              <a:latin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749040"/>
        </p:xfrm>
        <a:graphic>
          <a:graphicData uri="http://schemas.openxmlformats.org/drawingml/2006/table">
            <a:tbl>
              <a:tblPr/>
              <a:tblGrid>
                <a:gridCol w="2286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77724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プラン①（月3投稿）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プラン②（月5投稿）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初期費用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215,000円〜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月額コンサルティング費</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350,000円〜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月額ツール・LINE関連費</a:t>
                      </a:r>
                      <a:endParaRPr lang="ja-JP" altLang="en-US" sz="1400" dirty="0"/>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月額費用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330,000円〜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380,000円〜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4"/>
                  </a:ext>
                </a:extLst>
              </a:tr>
            </a:tbl>
          </a:graphicData>
        </a:graphic>
      </p:graphicFrame>
      <p:sp>
        <p:nvSpPr>
          <p:cNvPr id="640" name="注記"/>
          <p:cNvSpPr/>
          <p:nvPr/>
        </p:nvSpPr>
        <p:spPr>
          <a:xfrm>
            <a:off x="384048" y="525780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※初期費用＝運用設計・構築（プラン① 200,000円〜／プラン② 250,000円〜）＋ポップアップ 15,000円</a:t>
            </a:r>
            <a:endParaRPr lang="ja-JP" altLang="en-US" sz="1200" dirty="0"/>
          </a:p>
        </p:txBody>
      </p:sp>
      <p:sp>
        <p:nvSpPr>
          <p:cNvPr id="641" name="注記"/>
          <p:cNvSpPr/>
          <p:nvPr/>
        </p:nvSpPr>
        <p:spPr>
          <a:xfrm>
            <a:off x="384048" y="5504688"/>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※月額ツール・LINE関連費＝ポップアップ 30,000円。サンクスLINE誘導はオプション（初期150,000円・月額30,000円〜）。LINE公式アカウント利用料は別</a:t>
            </a:r>
            <a:endParaRPr lang="ja-JP" altLang="en-US" sz="1200" dirty="0"/>
          </a:p>
        </p:txBody>
      </p:sp>
      <p:sp>
        <p:nvSpPr>
          <p:cNvPr id="642" name="注記"/>
          <p:cNvSpPr/>
          <p:nvPr/>
        </p:nvSpPr>
        <p:spPr>
          <a:xfrm>
            <a:off x="384048" y="5751576"/>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※契約期間は6か月〜。概算お見積りのページはプラン①の場合</a:t>
            </a:r>
            <a:endParaRPr lang="ja-JP" altLang="en-US" sz="1200" dirty="0"/>
          </a:p>
        </p:txBody>
      </p:sp>
      <p:sp>
        <p:nvSpPr>
          <p:cNvPr id="643" name="注記"/>
          <p:cNvSpPr/>
          <p:nvPr/>
        </p:nvSpPr>
        <p:spPr>
          <a:xfrm>
            <a:off x="384048" y="599846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※施策内容・配信本数・連携範囲等により、費用は個別にお見積もりいたします。</a:t>
            </a:r>
            <a:endParaRPr lang="ja-JP" alt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運用内容：プランごとの対応範囲</a:t>
            </a:r>
            <a:endParaRPr lang="en-US" sz="1600" b="0" u="none" strike="noStrike">
              <a:solidFill>
                <a:srgbClr val="000000"/>
              </a:solidFill>
              <a:effectLst/>
              <a:uFillTx/>
              <a:latin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運用内容の比較</a:t>
            </a:r>
            <a:endParaRPr lang="en-US" sz="1400" b="0" u="none" strike="noStrike">
              <a:solidFill>
                <a:srgbClr val="FFFFFF"/>
              </a:solidFill>
              <a:effectLst/>
              <a:uFillTx/>
              <a:latin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2つのプランの運用内容の比較</a:t>
            </a:r>
            <a:endParaRPr lang="en-US" sz="1600" b="0" u="none" strike="noStrike" dirty="0">
              <a:solidFill>
                <a:srgbClr val="000000"/>
              </a:solidFill>
              <a:effectLst/>
              <a:uFillTx/>
              <a:latin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3686588805"/>
              </p:ext>
            </p:extLst>
          </p:nvPr>
        </p:nvGraphicFramePr>
        <p:xfrm>
          <a:off x="384048" y="1353312"/>
          <a:ext cx="9144000" cy="3829506"/>
        </p:xfrm>
        <a:graphic>
          <a:graphicData uri="http://schemas.openxmlformats.org/drawingml/2006/table">
            <a:tbl>
              <a:tblPr/>
              <a:tblGrid>
                <a:gridCol w="2286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プラン①（月3投稿）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プラン②（月5投稿）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ポップアップ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適正バイト診断・</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ステップ配信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設計・構築・改善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設計・構築・改善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企画配信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月3回程度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月5回程度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開始時期・エリア別の配信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結果の分析・改善</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（月次レポート・定例会）</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680313">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オプション</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オプション</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384048" y="530352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※サンクスLINE誘導はオプション（初期150,000円・月額30,000円〜）</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94FA4-D911-000B-186B-940B357210A1}"/>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5360B94-F496-92C9-5C32-EC2AC156401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E4BE408-251A-7ED1-17D3-E2E4ABC5E278}"/>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05</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9B6D6E21-585B-EA4B-DB51-75A8EE77309D}"/>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サポート体制</a:t>
            </a:r>
          </a:p>
        </p:txBody>
      </p:sp>
      <p:cxnSp>
        <p:nvCxnSpPr>
          <p:cNvPr id="17" name="直線コネクタ 16">
            <a:extLst>
              <a:ext uri="{FF2B5EF4-FFF2-40B4-BE49-F238E27FC236}">
                <a16:creationId xmlns:a16="http://schemas.microsoft.com/office/drawing/2014/main" id="{7E8CBA0C-5F08-1BB2-E25B-5B850FE183D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4557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ポップアップ</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398393"/>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利用までナーチャリング</a:t>
            </a:r>
            <a:endParaRPr lang="en-US" altLang="ja-JP" sz="1600" dirty="0">
              <a:latin typeface="Meiryo"/>
              <a:ea typeface="Meiryo"/>
              <a:cs typeface="Meiryo"/>
              <a:sym typeface="Meiryo"/>
            </a:endParaRPr>
          </a:p>
        </p:txBody>
      </p:sp>
    </p:spTree>
    <p:extLst>
      <p:ext uri="{BB962C8B-B14F-4D97-AF65-F5344CB8AC3E}">
        <p14:creationId xmlns:p14="http://schemas.microsoft.com/office/powerpoint/2010/main" val="30001345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通数単価：</a:t>
            </a:r>
            <a:r>
              <a:rPr lang="en-US" altLang="ja-JP" sz="1050" b="1" dirty="0">
                <a:solidFill>
                  <a:srgbClr val="FFFFFF"/>
                </a:solidFill>
                <a:latin typeface="Meiryo"/>
                <a:ea typeface="Meiryo"/>
                <a:cs typeface="Meiryo"/>
                <a:sym typeface="Meiryo"/>
              </a:rPr>
              <a:t>7</a:t>
            </a:r>
            <a:r>
              <a:rPr lang="ja-JP" altLang="en-US" sz="1050" b="1" dirty="0">
                <a:solidFill>
                  <a:srgbClr val="FFFFFF"/>
                </a:solidFill>
                <a:latin typeface="Meiryo"/>
                <a:ea typeface="Meiryo"/>
                <a:cs typeface="Meiryo"/>
                <a:sym typeface="Meiryo"/>
              </a:rPr>
              <a:t>円</a:t>
            </a:r>
            <a:endParaRPr sz="1050" b="1" i="0" u="none" strike="noStrike" cap="none" dirty="0">
              <a:solidFill>
                <a:srgbClr val="FFFFFF"/>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通数単価：</a:t>
            </a:r>
            <a:r>
              <a:rPr lang="en-US" altLang="ja-JP" sz="1050" b="1" dirty="0">
                <a:solidFill>
                  <a:srgbClr val="FFFFFF"/>
                </a:solidFill>
                <a:latin typeface="Meiryo"/>
                <a:ea typeface="Meiryo"/>
                <a:cs typeface="Meiryo"/>
                <a:sym typeface="Meiryo"/>
              </a:rPr>
              <a:t>7</a:t>
            </a:r>
            <a:r>
              <a:rPr lang="ja-JP" altLang="en-US" sz="1050" b="1" dirty="0">
                <a:solidFill>
                  <a:srgbClr val="FFFFFF"/>
                </a:solidFill>
                <a:latin typeface="Meiryo"/>
                <a:ea typeface="Meiryo"/>
                <a:cs typeface="Meiryo"/>
                <a:sym typeface="Meiryo"/>
              </a:rPr>
              <a:t>円</a:t>
            </a:r>
            <a:endParaRPr sz="1050" b="1" i="0" u="none" strike="noStrike" cap="none" dirty="0">
              <a:solidFill>
                <a:srgbClr val="FFFFFF"/>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FF"/>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rPr>
                <a:t>サンクス</a:t>
              </a:r>
              <a:r>
                <a:rPr lang="en-US" altLang="ja-JP" sz="1200" b="1" dirty="0">
                  <a:solidFill>
                    <a:schemeClr val="bg1"/>
                  </a:solidFill>
                  <a:latin typeface="メイリオ" panose="020B0604030504040204" pitchFamily="34" charset="-128"/>
                  <a:ea typeface="メイリオ" panose="020B0604030504040204" pitchFamily="34" charset="-128"/>
                </a:rPr>
                <a:t>LINE</a:t>
              </a:r>
              <a:r>
                <a:rPr lang="ja-JP" altLang="en-US" sz="1200" b="1" dirty="0">
                  <a:solidFill>
                    <a:schemeClr val="bg1"/>
                  </a:solidFill>
                  <a:latin typeface="メイリオ" panose="020B0604030504040204" pitchFamily="34" charset="-128"/>
                  <a:ea typeface="メイリオ"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7729169" y="4623314"/>
            <a:ext cx="730843" cy="6496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4180596" y="846996"/>
            <a:ext cx="4575836" cy="307777"/>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rPr>
            </a:br>
            <a:r>
              <a:rPr lang="en-US" altLang="ja-JP" sz="1300" dirty="0">
                <a:solidFill>
                  <a:schemeClr val="tx1"/>
                </a:solidFill>
                <a:latin typeface="メイリオ" panose="020B0604030504040204" pitchFamily="50" charset="-128"/>
                <a:ea typeface="メイリオ" panose="020B0604030504040204" pitchFamily="50" charset="-128"/>
              </a:rPr>
              <a:t>LINE</a:t>
            </a:r>
            <a:r>
              <a:rPr lang="ja-JP" altLang="en-US" sz="1300" dirty="0">
                <a:solidFill>
                  <a:schemeClr val="tx1"/>
                </a:solidFill>
                <a:latin typeface="メイリオ" panose="020B0604030504040204" pitchFamily="50" charset="-128"/>
                <a:ea typeface="メイリオ" panose="020B0604030504040204" pitchFamily="50" charset="-128"/>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完了後約</a:t>
            </a:r>
            <a:r>
              <a:rPr lang="en-US" altLang="ja-JP" sz="1100" dirty="0">
                <a:solidFill>
                  <a:schemeClr val="tx1"/>
                </a:solidFill>
                <a:latin typeface="メイリオ" panose="020B0604030504040204" pitchFamily="50" charset="-128"/>
                <a:ea typeface="メイリオ" panose="020B0604030504040204" pitchFamily="50" charset="-128"/>
              </a:rPr>
              <a:t>2~3</a:t>
            </a:r>
            <a:r>
              <a:rPr lang="ja-JP" altLang="en-US" sz="1100" dirty="0">
                <a:solidFill>
                  <a:schemeClr val="tx1"/>
                </a:solidFill>
                <a:latin typeface="メイリオ" panose="020B0604030504040204" pitchFamily="50" charset="-128"/>
                <a:ea typeface="メイリオ" panose="020B0604030504040204" pitchFamily="50" charset="-128"/>
              </a:rPr>
              <a:t>秒で</a:t>
            </a:r>
            <a:br>
              <a:rPr lang="en-US" altLang="ja-JP" sz="1100" dirty="0">
                <a:solidFill>
                  <a:schemeClr val="tx1"/>
                </a:solidFill>
                <a:latin typeface="メイリオ" panose="020B0604030504040204" pitchFamily="50" charset="-128"/>
                <a:ea typeface="メイリオ" panose="020B0604030504040204" pitchFamily="50" charset="-128"/>
              </a:rPr>
            </a:b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へ自動遷移</a:t>
            </a:r>
            <a:endParaRPr lang="en-US" altLang="ja-JP" sz="1100" dirty="0">
              <a:solidFill>
                <a:schemeClr val="tx1"/>
              </a:solidFill>
              <a:latin typeface="メイリオ" panose="020B0604030504040204" pitchFamily="50" charset="-128"/>
              <a:ea typeface="メイリオ" panose="020B0604030504040204" pitchFamily="50" charset="-128"/>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rPr>
              <a:t>QRコードを読み取って</a:t>
            </a:r>
            <a:endParaRPr lang="en-US" altLang="ja-JP" sz="1050" b="1" dirty="0">
              <a:latin typeface="メイリオ" panose="020B0604030504040204" pitchFamily="50" charset="-128"/>
              <a:ea typeface="メイリオ" panose="020B0604030504040204" pitchFamily="50" charset="-128"/>
            </a:endParaRPr>
          </a:p>
          <a:p>
            <a:r>
              <a:rPr lang="ja-JP" altLang="ja-JP" sz="1050" b="1" dirty="0">
                <a:latin typeface="メイリオ" panose="020B0604030504040204" pitchFamily="50" charset="-128"/>
                <a:ea typeface="メイリオ" panose="020B0604030504040204" pitchFamily="50" charset="-128"/>
              </a:rPr>
              <a:t>動画を見る（約22秒）</a:t>
            </a:r>
            <a:endParaRPr lang="en-US" altLang="ja-JP" sz="1050" b="1" dirty="0">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クリックして再生</a:t>
            </a:r>
            <a:endParaRPr lang="en-US" altLang="ja-JP" sz="1050" b="1" dirty="0">
              <a:latin typeface="メイリオ" panose="020B0604030504040204" pitchFamily="50" charset="-128"/>
              <a:ea typeface="メイリオ" panose="020B0604030504040204" pitchFamily="50" charset="-128"/>
            </a:endParaRPr>
          </a:p>
        </p:txBody>
      </p:sp>
      <p:sp>
        <p:nvSpPr>
          <p:cNvPr id="1053" name="Rectangle 1052"/>
          <p:cNvSpPr/>
          <p:nvPr/>
        </p:nvSpPr>
        <p:spPr>
          <a:xfrm>
            <a:off x="4178808" y="1216152"/>
            <a:ext cx="114300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初期：15万円</a:t>
            </a:r>
          </a:p>
        </p:txBody>
      </p:sp>
      <p:sp>
        <p:nvSpPr>
          <p:cNvPr id="1054" name="Rectangle 1053"/>
          <p:cNvSpPr/>
          <p:nvPr/>
        </p:nvSpPr>
        <p:spPr>
          <a:xfrm>
            <a:off x="5394960" y="1216152"/>
            <a:ext cx="210312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月額3万円〜＋設定地点追加</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17202631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FF"/>
                </a:solidFill>
                <a:latin typeface="メイリオ" panose="020B0604030504040204" pitchFamily="50" charset="-128"/>
                <a:ea typeface="メイリオ" panose="020B0604030504040204" pitchFamily="50" charset="-128"/>
              </a:rPr>
              <a:t>※CPF</a:t>
            </a:r>
            <a:r>
              <a:rPr lang="ja-JP" altLang="en-US" sz="1200" b="1" dirty="0">
                <a:solidFill>
                  <a:srgbClr val="FFFFFF"/>
                </a:solidFill>
                <a:latin typeface="メイリオ" panose="020B0604030504040204" pitchFamily="50" charset="-128"/>
                <a:ea typeface="メイリオ" panose="020B0604030504040204" pitchFamily="50" charset="-128"/>
              </a:rPr>
              <a:t>広告</a:t>
            </a:r>
            <a:r>
              <a:rPr lang="en-US" altLang="ja-JP" sz="1200" b="1" dirty="0">
                <a:solidFill>
                  <a:srgbClr val="FFFFFF"/>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741189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効果が悪いときの改善例</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数字が伸びないときは、どこで止まっているかを見て、配信の中身・順番・対象を直す。</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23774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止まっているところ</a:t>
            </a:r>
          </a:p>
        </p:txBody>
      </p:sp>
      <p:sp>
        <p:nvSpPr>
          <p:cNvPr id="55" name="Rectangle 54"/>
          <p:cNvSpPr/>
          <p:nvPr/>
        </p:nvSpPr>
        <p:spPr>
          <a:xfrm>
            <a:off x="2788920" y="1828800"/>
            <a:ext cx="23774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見る数字</a:t>
            </a:r>
          </a:p>
        </p:txBody>
      </p:sp>
      <p:sp>
        <p:nvSpPr>
          <p:cNvPr id="56" name="Rectangle 55"/>
          <p:cNvSpPr/>
          <p:nvPr/>
        </p:nvSpPr>
        <p:spPr>
          <a:xfrm>
            <a:off x="5193792" y="1828800"/>
            <a:ext cx="4361687"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直し方</a:t>
            </a:r>
          </a:p>
        </p:txBody>
      </p:sp>
      <p:sp>
        <p:nvSpPr>
          <p:cNvPr id="57" name="Rectangle 56"/>
          <p:cNvSpPr/>
          <p:nvPr/>
        </p:nvSpPr>
        <p:spPr>
          <a:xfrm>
            <a:off x="384048" y="223113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友だちが増えない</a:t>
            </a:r>
          </a:p>
        </p:txBody>
      </p:sp>
      <p:sp>
        <p:nvSpPr>
          <p:cNvPr id="58" name="Rectangle 57"/>
          <p:cNvSpPr/>
          <p:nvPr/>
        </p:nvSpPr>
        <p:spPr>
          <a:xfrm>
            <a:off x="2788920" y="223113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友だち追加数・ポップアップの表示回数</a:t>
            </a:r>
          </a:p>
        </p:txBody>
      </p:sp>
      <p:sp>
        <p:nvSpPr>
          <p:cNvPr id="59" name="Rectangle 58"/>
          <p:cNvSpPr/>
          <p:nvPr/>
        </p:nvSpPr>
        <p:spPr>
          <a:xfrm>
            <a:off x="5193792" y="223113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ポップアップの出し方と訴求、広告の着地ページの導線を見直す</a:t>
            </a:r>
          </a:p>
        </p:txBody>
      </p:sp>
      <p:sp>
        <p:nvSpPr>
          <p:cNvPr id="60" name="Rectangle 59"/>
          <p:cNvSpPr/>
          <p:nvPr/>
        </p:nvSpPr>
        <p:spPr>
          <a:xfrm>
            <a:off x="384048" y="287121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ブロックが多い</a:t>
            </a:r>
          </a:p>
        </p:txBody>
      </p:sp>
      <p:sp>
        <p:nvSpPr>
          <p:cNvPr id="61" name="Rectangle 60"/>
          <p:cNvSpPr/>
          <p:nvPr/>
        </p:nvSpPr>
        <p:spPr>
          <a:xfrm>
            <a:off x="2788920" y="287121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ブロック率（配信ごと）</a:t>
            </a:r>
          </a:p>
        </p:txBody>
      </p:sp>
      <p:sp>
        <p:nvSpPr>
          <p:cNvPr id="62" name="Rectangle 61"/>
          <p:cNvSpPr/>
          <p:nvPr/>
        </p:nvSpPr>
        <p:spPr>
          <a:xfrm>
            <a:off x="5193792" y="287121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配信の頻度と対象を絞る。診断の答えに合わない配信を止める</a:t>
            </a:r>
          </a:p>
        </p:txBody>
      </p:sp>
      <p:sp>
        <p:nvSpPr>
          <p:cNvPr id="63" name="Rectangle 62"/>
          <p:cNvSpPr/>
          <p:nvPr/>
        </p:nvSpPr>
        <p:spPr>
          <a:xfrm>
            <a:off x="384048" y="351129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開封・クリックが低い</a:t>
            </a:r>
          </a:p>
        </p:txBody>
      </p:sp>
      <p:sp>
        <p:nvSpPr>
          <p:cNvPr id="64" name="Rectangle 63"/>
          <p:cNvSpPr/>
          <p:nvPr/>
        </p:nvSpPr>
        <p:spPr>
          <a:xfrm>
            <a:off x="2788920" y="351129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開封率・クリック率</a:t>
            </a:r>
          </a:p>
        </p:txBody>
      </p:sp>
      <p:sp>
        <p:nvSpPr>
          <p:cNvPr id="65" name="Rectangle 64"/>
          <p:cNvSpPr/>
          <p:nvPr/>
        </p:nvSpPr>
        <p:spPr>
          <a:xfrm>
            <a:off x="5193792" y="351129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見出し・画像・送る時間を変えて比べる</a:t>
            </a:r>
          </a:p>
        </p:txBody>
      </p:sp>
      <p:sp>
        <p:nvSpPr>
          <p:cNvPr id="66" name="Rectangle 65"/>
          <p:cNvSpPr/>
          <p:nvPr/>
        </p:nvSpPr>
        <p:spPr>
          <a:xfrm>
            <a:off x="384048" y="415137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ENTRYにつながらない</a:t>
            </a:r>
          </a:p>
        </p:txBody>
      </p:sp>
      <p:sp>
        <p:nvSpPr>
          <p:cNvPr id="67" name="Rectangle 66"/>
          <p:cNvSpPr/>
          <p:nvPr/>
        </p:nvSpPr>
        <p:spPr>
          <a:xfrm>
            <a:off x="2788920" y="415137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ENTRY数・ENTRY率</a:t>
            </a:r>
          </a:p>
        </p:txBody>
      </p:sp>
      <p:sp>
        <p:nvSpPr>
          <p:cNvPr id="68" name="Rectangle 67"/>
          <p:cNvSpPr/>
          <p:nvPr/>
        </p:nvSpPr>
        <p:spPr>
          <a:xfrm>
            <a:off x="5193792" y="415137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診断の結果に合う求人と、ステップ配信の順番を見直す</a:t>
            </a:r>
          </a:p>
        </p:txBody>
      </p:sp>
      <p:sp>
        <p:nvSpPr>
          <p:cNvPr id="69" name="Rectangle 68"/>
          <p:cNvSpPr/>
          <p:nvPr/>
        </p:nvSpPr>
        <p:spPr>
          <a:xfrm>
            <a:off x="384048" y="479145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登録後に応募が進まない</a:t>
            </a:r>
          </a:p>
        </p:txBody>
      </p:sp>
      <p:sp>
        <p:nvSpPr>
          <p:cNvPr id="70" name="Rectangle 69"/>
          <p:cNvSpPr/>
          <p:nvPr/>
        </p:nvSpPr>
        <p:spPr>
          <a:xfrm>
            <a:off x="2788920" y="479145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カウンセリング・応募の数</a:t>
            </a:r>
          </a:p>
        </p:txBody>
      </p:sp>
      <p:sp>
        <p:nvSpPr>
          <p:cNvPr id="71" name="Rectangle 70"/>
          <p:cNvSpPr/>
          <p:nvPr/>
        </p:nvSpPr>
        <p:spPr>
          <a:xfrm>
            <a:off x="5193792" y="479145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サンクスLINEの後の案内と、カウンセリングの予約の導線を見直す</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報告の粒度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毎月のレポートと定例会で、数字と次の打ち手を共有する。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14630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頻度</a:t>
            </a:r>
          </a:p>
        </p:txBody>
      </p:sp>
      <p:sp>
        <p:nvSpPr>
          <p:cNvPr id="55" name="Rectangle 54"/>
          <p:cNvSpPr/>
          <p:nvPr/>
        </p:nvSpPr>
        <p:spPr>
          <a:xfrm>
            <a:off x="1874520" y="1828800"/>
            <a:ext cx="292608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やること</a:t>
            </a:r>
          </a:p>
        </p:txBody>
      </p:sp>
      <p:sp>
        <p:nvSpPr>
          <p:cNvPr id="56" name="Rectangle 55"/>
          <p:cNvSpPr/>
          <p:nvPr/>
        </p:nvSpPr>
        <p:spPr>
          <a:xfrm>
            <a:off x="4828032" y="1828800"/>
            <a:ext cx="4727448"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中身</a:t>
            </a:r>
          </a:p>
        </p:txBody>
      </p:sp>
      <p:sp>
        <p:nvSpPr>
          <p:cNvPr id="57" name="Rectangle 56"/>
          <p:cNvSpPr/>
          <p:nvPr/>
        </p:nvSpPr>
        <p:spPr>
          <a:xfrm>
            <a:off x="384048" y="2231136"/>
            <a:ext cx="1463040" cy="56692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毎月</a:t>
            </a:r>
          </a:p>
        </p:txBody>
      </p:sp>
      <p:sp>
        <p:nvSpPr>
          <p:cNvPr id="58" name="Rectangle 57"/>
          <p:cNvSpPr/>
          <p:nvPr/>
        </p:nvSpPr>
        <p:spPr>
          <a:xfrm>
            <a:off x="1874520" y="2231136"/>
            <a:ext cx="2926080"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月次レポート</a:t>
            </a:r>
          </a:p>
        </p:txBody>
      </p:sp>
      <p:sp>
        <p:nvSpPr>
          <p:cNvPr id="59" name="Rectangle 58"/>
          <p:cNvSpPr/>
          <p:nvPr/>
        </p:nvSpPr>
        <p:spPr>
          <a:xfrm>
            <a:off x="4828032" y="2231136"/>
            <a:ext cx="4727448"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友だち数・ブロック率、配信ごとの開封・クリック、ENTRY・応募</a:t>
            </a:r>
          </a:p>
        </p:txBody>
      </p:sp>
      <p:sp>
        <p:nvSpPr>
          <p:cNvPr id="60" name="Rectangle 59"/>
          <p:cNvSpPr/>
          <p:nvPr/>
        </p:nvSpPr>
        <p:spPr>
          <a:xfrm>
            <a:off x="384048" y="2834640"/>
            <a:ext cx="1463040" cy="56692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毎月</a:t>
            </a:r>
          </a:p>
        </p:txBody>
      </p:sp>
      <p:sp>
        <p:nvSpPr>
          <p:cNvPr id="61" name="Rectangle 60"/>
          <p:cNvSpPr/>
          <p:nvPr/>
        </p:nvSpPr>
        <p:spPr>
          <a:xfrm>
            <a:off x="1874520" y="2834640"/>
            <a:ext cx="2926080"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定例会</a:t>
            </a:r>
          </a:p>
        </p:txBody>
      </p:sp>
      <p:sp>
        <p:nvSpPr>
          <p:cNvPr id="62" name="Rectangle 61"/>
          <p:cNvSpPr/>
          <p:nvPr/>
        </p:nvSpPr>
        <p:spPr>
          <a:xfrm>
            <a:off x="4828032" y="2834640"/>
            <a:ext cx="4727448"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先月の振り返りと、翌月の企画配信の内容</a:t>
            </a:r>
          </a:p>
        </p:txBody>
      </p:sp>
      <p:sp>
        <p:nvSpPr>
          <p:cNvPr id="63" name="Rectangle 62"/>
          <p:cNvSpPr/>
          <p:nvPr/>
        </p:nvSpPr>
        <p:spPr>
          <a:xfrm>
            <a:off x="384048" y="3438144"/>
            <a:ext cx="1463040" cy="56692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四半期</a:t>
            </a:r>
          </a:p>
        </p:txBody>
      </p:sp>
      <p:sp>
        <p:nvSpPr>
          <p:cNvPr id="64" name="Rectangle 63"/>
          <p:cNvSpPr/>
          <p:nvPr/>
        </p:nvSpPr>
        <p:spPr>
          <a:xfrm>
            <a:off x="1874520" y="3438144"/>
            <a:ext cx="2926080"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設計の見直し</a:t>
            </a:r>
          </a:p>
        </p:txBody>
      </p:sp>
      <p:sp>
        <p:nvSpPr>
          <p:cNvPr id="65" name="Rectangle 64"/>
          <p:cNvSpPr/>
          <p:nvPr/>
        </p:nvSpPr>
        <p:spPr>
          <a:xfrm>
            <a:off x="4828032" y="3438144"/>
            <a:ext cx="4727448"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診断の項目、ステップ配信の順番、リッチメニューの並び</a:t>
            </a:r>
          </a:p>
        </p:txBody>
      </p:sp>
      <p:sp>
        <p:nvSpPr>
          <p:cNvPr id="66" name="Rectangle 65"/>
          <p:cNvSpPr/>
          <p:nvPr/>
        </p:nvSpPr>
        <p:spPr>
          <a:xfrm>
            <a:off x="384048" y="4160520"/>
            <a:ext cx="9116568" cy="1965959"/>
          </a:xfrm>
          <a:prstGeom prst="rect">
            <a:avLst/>
          </a:prstGeom>
          <a:noFill/>
          <a:ln w="12700">
            <a:solidFill>
              <a:srgbClr val="A6A6A6"/>
            </a:solidFill>
            <a:prstDash val="dash"/>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0">
                <a:solidFill>
                  <a:srgbClr val="777777"/>
                </a:solidFill>
                <a:latin typeface="メイリオ"/>
                <a:ea typeface="メイリオ"/>
                <a:cs typeface="メイリオ"/>
              </a:rPr>
              <a:t>差し込み：月次レポートの見本</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体制・スケジュール</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設計 → 構築 → 運用開始 → 改善の順に進める。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18288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段階</a:t>
            </a:r>
          </a:p>
        </p:txBody>
      </p:sp>
      <p:sp>
        <p:nvSpPr>
          <p:cNvPr id="55" name="Rectangle 54"/>
          <p:cNvSpPr/>
          <p:nvPr/>
        </p:nvSpPr>
        <p:spPr>
          <a:xfrm>
            <a:off x="2240279" y="1828800"/>
            <a:ext cx="7287768"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やること</a:t>
            </a:r>
          </a:p>
        </p:txBody>
      </p:sp>
      <p:sp>
        <p:nvSpPr>
          <p:cNvPr id="56" name="Rectangle 55"/>
          <p:cNvSpPr/>
          <p:nvPr/>
        </p:nvSpPr>
        <p:spPr>
          <a:xfrm>
            <a:off x="384048" y="2231136"/>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設計</a:t>
            </a:r>
          </a:p>
        </p:txBody>
      </p:sp>
      <p:sp>
        <p:nvSpPr>
          <p:cNvPr id="57" name="Rectangle 56"/>
          <p:cNvSpPr/>
          <p:nvPr/>
        </p:nvSpPr>
        <p:spPr>
          <a:xfrm>
            <a:off x="2240279" y="2231136"/>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友だちの入口、適正バイト診断の項目、ステップ配信の内容と順番</a:t>
            </a:r>
          </a:p>
        </p:txBody>
      </p:sp>
      <p:sp>
        <p:nvSpPr>
          <p:cNvPr id="58" name="Rectangle 57"/>
          <p:cNvSpPr/>
          <p:nvPr/>
        </p:nvSpPr>
        <p:spPr>
          <a:xfrm>
            <a:off x="384048" y="2816352"/>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構築</a:t>
            </a:r>
          </a:p>
        </p:txBody>
      </p:sp>
      <p:sp>
        <p:nvSpPr>
          <p:cNvPr id="59" name="Rectangle 58"/>
          <p:cNvSpPr/>
          <p:nvPr/>
        </p:nvSpPr>
        <p:spPr>
          <a:xfrm>
            <a:off x="2240279" y="2816352"/>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ポップアップ・サンクスLINE誘導、診断、ステップ配信、リッチメニュー</a:t>
            </a:r>
          </a:p>
        </p:txBody>
      </p:sp>
      <p:sp>
        <p:nvSpPr>
          <p:cNvPr id="60" name="Rectangle 59"/>
          <p:cNvSpPr/>
          <p:nvPr/>
        </p:nvSpPr>
        <p:spPr>
          <a:xfrm>
            <a:off x="384048" y="3401568"/>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運用開始</a:t>
            </a:r>
          </a:p>
        </p:txBody>
      </p:sp>
      <p:sp>
        <p:nvSpPr>
          <p:cNvPr id="61" name="Rectangle 60"/>
          <p:cNvSpPr/>
          <p:nvPr/>
        </p:nvSpPr>
        <p:spPr>
          <a:xfrm>
            <a:off x="2240279" y="3401568"/>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企画配信と、開始時期・エリア別の配信</a:t>
            </a:r>
          </a:p>
        </p:txBody>
      </p:sp>
      <p:sp>
        <p:nvSpPr>
          <p:cNvPr id="62" name="Rectangle 61"/>
          <p:cNvSpPr/>
          <p:nvPr/>
        </p:nvSpPr>
        <p:spPr>
          <a:xfrm>
            <a:off x="384048" y="3986783"/>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改善</a:t>
            </a:r>
          </a:p>
        </p:txBody>
      </p:sp>
      <p:sp>
        <p:nvSpPr>
          <p:cNvPr id="63" name="Rectangle 62"/>
          <p:cNvSpPr/>
          <p:nvPr/>
        </p:nvSpPr>
        <p:spPr>
          <a:xfrm>
            <a:off x="2240279" y="3986783"/>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月次レポート・定例会で、配信の中身・順番・対象を見直す</a:t>
            </a:r>
          </a:p>
        </p:txBody>
      </p:sp>
      <p:sp>
        <p:nvSpPr>
          <p:cNvPr id="64" name="Rectangle 63"/>
          <p:cNvSpPr/>
          <p:nvPr/>
        </p:nvSpPr>
        <p:spPr>
          <a:xfrm>
            <a:off x="384048" y="4526280"/>
            <a:ext cx="9116568" cy="1600200"/>
          </a:xfrm>
          <a:prstGeom prst="rect">
            <a:avLst/>
          </a:prstGeom>
          <a:noFill/>
          <a:ln w="12700">
            <a:solidFill>
              <a:srgbClr val="A6A6A6"/>
            </a:solidFill>
            <a:prstDash val="dash"/>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0">
                <a:solidFill>
                  <a:srgbClr val="777777"/>
                </a:solidFill>
                <a:latin typeface="メイリオ"/>
                <a:ea typeface="メイリオ"/>
                <a:cs typeface="メイリオ"/>
              </a:rPr>
              <a:t>差し込み：体制図（弊社と貴社の役割）</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2D1DD-CAE7-7DB8-9684-F3A91B9AE85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357DA0F-C67D-8DDD-608D-27940C40784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6E1192D-9AA2-9014-0964-28399C9BEE8D}"/>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06</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C6DC77DA-F435-23D0-D2CE-3DB2470F38A6}"/>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次回ご提案に向けて</a:t>
            </a:r>
          </a:p>
        </p:txBody>
      </p:sp>
      <p:cxnSp>
        <p:nvCxnSpPr>
          <p:cNvPr id="17" name="直線コネクタ 16">
            <a:extLst>
              <a:ext uri="{FF2B5EF4-FFF2-40B4-BE49-F238E27FC236}">
                <a16:creationId xmlns:a16="http://schemas.microsoft.com/office/drawing/2014/main" id="{3F50B547-1157-51AB-1A19-0181140945B2}"/>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66723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4FD29-E6FC-0B1A-9DA4-17FF75836D9E}"/>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提案に向けて明確化したいポイント①　施策の重要度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新規／既存／ファン化／効率化のうち、何を、どの程度重視するか</a:t>
            </a:r>
          </a:p>
        </p:txBody>
      </p:sp>
      <p:sp>
        <p:nvSpPr>
          <p:cNvPr id="7" name="Rectangle 3">
            <a:extLst>
              <a:ext uri="{FF2B5EF4-FFF2-40B4-BE49-F238E27FC236}">
                <a16:creationId xmlns:a16="http://schemas.microsoft.com/office/drawing/2014/main" id="{0E411E5A-CC07-761C-CB20-F06A383B1BB9}"/>
              </a:ext>
            </a:extLst>
          </p:cNvPr>
          <p:cNvSpPr/>
          <p:nvPr/>
        </p:nvSpPr>
        <p:spPr>
          <a:xfrm>
            <a:off x="1632204" y="1746073"/>
            <a:ext cx="12527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軸</a:t>
            </a:r>
          </a:p>
        </p:txBody>
      </p:sp>
      <p:sp>
        <p:nvSpPr>
          <p:cNvPr id="9" name="Rectangle 4">
            <a:extLst>
              <a:ext uri="{FF2B5EF4-FFF2-40B4-BE49-F238E27FC236}">
                <a16:creationId xmlns:a16="http://schemas.microsoft.com/office/drawing/2014/main" id="{7E370F07-31E8-4A03-CB72-CF991FB2B5C1}"/>
              </a:ext>
            </a:extLst>
          </p:cNvPr>
          <p:cNvSpPr/>
          <p:nvPr/>
        </p:nvSpPr>
        <p:spPr>
          <a:xfrm>
            <a:off x="2912363" y="1746073"/>
            <a:ext cx="39959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施策の例</a:t>
            </a:r>
          </a:p>
        </p:txBody>
      </p:sp>
      <p:sp>
        <p:nvSpPr>
          <p:cNvPr id="11" name="Rectangle 5">
            <a:extLst>
              <a:ext uri="{FF2B5EF4-FFF2-40B4-BE49-F238E27FC236}">
                <a16:creationId xmlns:a16="http://schemas.microsoft.com/office/drawing/2014/main" id="{3AA8E495-6AA3-81B3-F377-60D6929EA446}"/>
              </a:ext>
            </a:extLst>
          </p:cNvPr>
          <p:cNvSpPr/>
          <p:nvPr/>
        </p:nvSpPr>
        <p:spPr>
          <a:xfrm>
            <a:off x="6935724" y="1746073"/>
            <a:ext cx="134416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重要度</a:t>
            </a:r>
          </a:p>
        </p:txBody>
      </p:sp>
      <p:sp>
        <p:nvSpPr>
          <p:cNvPr id="18" name="Rectangle 7">
            <a:extLst>
              <a:ext uri="{FF2B5EF4-FFF2-40B4-BE49-F238E27FC236}">
                <a16:creationId xmlns:a16="http://schemas.microsoft.com/office/drawing/2014/main" id="{0DE26C81-EAA6-9BC7-2010-07A0AE499222}"/>
              </a:ext>
            </a:extLst>
          </p:cNvPr>
          <p:cNvSpPr/>
          <p:nvPr/>
        </p:nvSpPr>
        <p:spPr>
          <a:xfrm>
            <a:off x="1632204" y="21941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新規</a:t>
            </a:r>
          </a:p>
        </p:txBody>
      </p:sp>
      <p:sp>
        <p:nvSpPr>
          <p:cNvPr id="20" name="Rectangle 8">
            <a:extLst>
              <a:ext uri="{FF2B5EF4-FFF2-40B4-BE49-F238E27FC236}">
                <a16:creationId xmlns:a16="http://schemas.microsoft.com/office/drawing/2014/main" id="{104C26B0-503F-BDBF-1F0A-FBB30E665B09}"/>
              </a:ext>
            </a:extLst>
          </p:cNvPr>
          <p:cNvSpPr/>
          <p:nvPr/>
        </p:nvSpPr>
        <p:spPr>
          <a:xfrm>
            <a:off x="2912363" y="21941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dirty="0" err="1">
                <a:solidFill>
                  <a:srgbClr val="333333"/>
                </a:solidFill>
                <a:latin typeface="メイリオ"/>
                <a:ea typeface="メイリオ"/>
                <a:cs typeface="メイリオ"/>
              </a:rPr>
              <a:t>友だち追加の入口を増やす</a:t>
            </a:r>
            <a:br>
              <a:rPr sz="1400" b="0" dirty="0" err="1">
                <a:solidFill>
                  <a:srgbClr val="333333"/>
                </a:solidFill>
                <a:latin typeface="メイリオ"/>
                <a:ea typeface="メイリオ"/>
                <a:cs typeface="メイリオ"/>
              </a:rPr>
            </a:br>
            <a:r>
              <a:rPr sz="1400" b="0" dirty="0" err="1">
                <a:solidFill>
                  <a:srgbClr val="333333"/>
                </a:solidFill>
                <a:latin typeface="メイリオ"/>
                <a:ea typeface="メイリオ"/>
                <a:cs typeface="メイリオ"/>
              </a:rPr>
              <a:t>（ポップアップ・広告・店頭）</a:t>
            </a:r>
          </a:p>
        </p:txBody>
      </p:sp>
      <p:sp>
        <p:nvSpPr>
          <p:cNvPr id="23" name="Rectangle 9">
            <a:extLst>
              <a:ext uri="{FF2B5EF4-FFF2-40B4-BE49-F238E27FC236}">
                <a16:creationId xmlns:a16="http://schemas.microsoft.com/office/drawing/2014/main" id="{4D555954-77CD-7E09-CEBD-4C58033525FD}"/>
              </a:ext>
            </a:extLst>
          </p:cNvPr>
          <p:cNvSpPr/>
          <p:nvPr/>
        </p:nvSpPr>
        <p:spPr>
          <a:xfrm>
            <a:off x="6935724" y="21941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27" name="Rectangle 11">
            <a:extLst>
              <a:ext uri="{FF2B5EF4-FFF2-40B4-BE49-F238E27FC236}">
                <a16:creationId xmlns:a16="http://schemas.microsoft.com/office/drawing/2014/main" id="{CB2A3195-221A-72EE-7427-467D873BA83B}"/>
              </a:ext>
            </a:extLst>
          </p:cNvPr>
          <p:cNvSpPr/>
          <p:nvPr/>
        </p:nvSpPr>
        <p:spPr>
          <a:xfrm>
            <a:off x="1632204" y="31085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既存</a:t>
            </a:r>
          </a:p>
        </p:txBody>
      </p:sp>
      <p:sp>
        <p:nvSpPr>
          <p:cNvPr id="29" name="Rectangle 12">
            <a:extLst>
              <a:ext uri="{FF2B5EF4-FFF2-40B4-BE49-F238E27FC236}">
                <a16:creationId xmlns:a16="http://schemas.microsoft.com/office/drawing/2014/main" id="{A4AC3903-60B0-B8B7-E4C3-00D581DF3EF8}"/>
              </a:ext>
            </a:extLst>
          </p:cNvPr>
          <p:cNvSpPr/>
          <p:nvPr/>
        </p:nvSpPr>
        <p:spPr>
          <a:xfrm>
            <a:off x="2912363" y="31085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既存の友だち・顧客へのCV・リピート促進</a:t>
            </a:r>
          </a:p>
        </p:txBody>
      </p:sp>
      <p:sp>
        <p:nvSpPr>
          <p:cNvPr id="31" name="Rectangle 13">
            <a:extLst>
              <a:ext uri="{FF2B5EF4-FFF2-40B4-BE49-F238E27FC236}">
                <a16:creationId xmlns:a16="http://schemas.microsoft.com/office/drawing/2014/main" id="{584CF8C4-B5B9-FFE8-EA87-8C8DDDF96F7B}"/>
              </a:ext>
            </a:extLst>
          </p:cNvPr>
          <p:cNvSpPr/>
          <p:nvPr/>
        </p:nvSpPr>
        <p:spPr>
          <a:xfrm>
            <a:off x="6935724" y="31085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35" name="Rectangle 15">
            <a:extLst>
              <a:ext uri="{FF2B5EF4-FFF2-40B4-BE49-F238E27FC236}">
                <a16:creationId xmlns:a16="http://schemas.microsoft.com/office/drawing/2014/main" id="{6C54381C-EDB8-6610-8581-D5F4C5355345}"/>
              </a:ext>
            </a:extLst>
          </p:cNvPr>
          <p:cNvSpPr/>
          <p:nvPr/>
        </p:nvSpPr>
        <p:spPr>
          <a:xfrm>
            <a:off x="1632204" y="40229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ファン化</a:t>
            </a:r>
          </a:p>
        </p:txBody>
      </p:sp>
      <p:sp>
        <p:nvSpPr>
          <p:cNvPr id="37" name="Rectangle 16">
            <a:extLst>
              <a:ext uri="{FF2B5EF4-FFF2-40B4-BE49-F238E27FC236}">
                <a16:creationId xmlns:a16="http://schemas.microsoft.com/office/drawing/2014/main" id="{9C16E17E-2CCE-D35F-C811-2C0A6D66E20F}"/>
              </a:ext>
            </a:extLst>
          </p:cNvPr>
          <p:cNvSpPr/>
          <p:nvPr/>
        </p:nvSpPr>
        <p:spPr>
          <a:xfrm>
            <a:off x="2912363" y="40229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限定コミュニティ・特典でLTVを高める</a:t>
            </a:r>
          </a:p>
        </p:txBody>
      </p:sp>
      <p:sp>
        <p:nvSpPr>
          <p:cNvPr id="39" name="Rectangle 17">
            <a:extLst>
              <a:ext uri="{FF2B5EF4-FFF2-40B4-BE49-F238E27FC236}">
                <a16:creationId xmlns:a16="http://schemas.microsoft.com/office/drawing/2014/main" id="{6F107650-F753-AB36-FB6A-2B9143014268}"/>
              </a:ext>
            </a:extLst>
          </p:cNvPr>
          <p:cNvSpPr/>
          <p:nvPr/>
        </p:nvSpPr>
        <p:spPr>
          <a:xfrm>
            <a:off x="6935724" y="40229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43" name="Rectangle 19">
            <a:extLst>
              <a:ext uri="{FF2B5EF4-FFF2-40B4-BE49-F238E27FC236}">
                <a16:creationId xmlns:a16="http://schemas.microsoft.com/office/drawing/2014/main" id="{16CB7492-2668-EFB7-5628-A5714FE43E02}"/>
              </a:ext>
            </a:extLst>
          </p:cNvPr>
          <p:cNvSpPr/>
          <p:nvPr/>
        </p:nvSpPr>
        <p:spPr>
          <a:xfrm>
            <a:off x="1632204" y="49373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効率化</a:t>
            </a:r>
          </a:p>
        </p:txBody>
      </p:sp>
      <p:sp>
        <p:nvSpPr>
          <p:cNvPr id="45" name="Rectangle 20">
            <a:extLst>
              <a:ext uri="{FF2B5EF4-FFF2-40B4-BE49-F238E27FC236}">
                <a16:creationId xmlns:a16="http://schemas.microsoft.com/office/drawing/2014/main" id="{B7F2AF46-39FB-CD72-C394-6101BBA1E6AE}"/>
              </a:ext>
            </a:extLst>
          </p:cNvPr>
          <p:cNvSpPr/>
          <p:nvPr/>
        </p:nvSpPr>
        <p:spPr>
          <a:xfrm>
            <a:off x="2912363" y="49373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通数費・運用工数の削減</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（セグメント・自動化）</a:t>
            </a:r>
          </a:p>
        </p:txBody>
      </p:sp>
      <p:sp>
        <p:nvSpPr>
          <p:cNvPr id="47" name="Rectangle 21">
            <a:extLst>
              <a:ext uri="{FF2B5EF4-FFF2-40B4-BE49-F238E27FC236}">
                <a16:creationId xmlns:a16="http://schemas.microsoft.com/office/drawing/2014/main" id="{1C65ED6F-D773-2D2E-6B1F-B627C96E1B17}"/>
              </a:ext>
            </a:extLst>
          </p:cNvPr>
          <p:cNvSpPr/>
          <p:nvPr/>
        </p:nvSpPr>
        <p:spPr>
          <a:xfrm>
            <a:off x="6935724" y="49373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51" name="Rectangle 23">
            <a:extLst>
              <a:ext uri="{FF2B5EF4-FFF2-40B4-BE49-F238E27FC236}">
                <a16:creationId xmlns:a16="http://schemas.microsoft.com/office/drawing/2014/main" id="{B53BF0F8-9B97-5A93-DC50-8004A6ADA6B5}"/>
              </a:ext>
            </a:extLst>
          </p:cNvPr>
          <p:cNvSpPr/>
          <p:nvPr/>
        </p:nvSpPr>
        <p:spPr>
          <a:xfrm>
            <a:off x="384048" y="5893528"/>
            <a:ext cx="9144000" cy="54864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◎＝最重視／○＝重視／△＝優先度は低い。ヒアリングで記入し、施策の配分と予算の目安に反映する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3860698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DE2BF-63A1-B882-547A-489CE17D8FD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422549E-4218-60BD-B63F-BC5503BDE6D6}"/>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提案に向けて明確化したいポイント②　既存WEBサイトのパワー</a:t>
            </a:r>
          </a:p>
        </p:txBody>
      </p:sp>
      <p:sp>
        <p:nvSpPr>
          <p:cNvPr id="5" name="Rectangle 2">
            <a:extLst>
              <a:ext uri="{FF2B5EF4-FFF2-40B4-BE49-F238E27FC236}">
                <a16:creationId xmlns:a16="http://schemas.microsoft.com/office/drawing/2014/main" id="{29DDE3F2-B3CE-2F35-E720-21B38FDDB0E2}"/>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流入量・CV・CV地点から、LINEで拾えるユーザーの規模を見積もる</a:t>
            </a:r>
          </a:p>
        </p:txBody>
      </p:sp>
      <p:sp>
        <p:nvSpPr>
          <p:cNvPr id="53" name="正方形/長方形 52">
            <a:extLst>
              <a:ext uri="{FF2B5EF4-FFF2-40B4-BE49-F238E27FC236}">
                <a16:creationId xmlns:a16="http://schemas.microsoft.com/office/drawing/2014/main" id="{407A83F0-AB60-A7A3-0DE3-ADB4AB08723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EBAA925A-E8DA-FF18-93A2-9EA6DA656475}"/>
              </a:ext>
            </a:extLst>
          </p:cNvPr>
          <p:cNvSpPr/>
          <p:nvPr/>
        </p:nvSpPr>
        <p:spPr>
          <a:xfrm>
            <a:off x="1860804" y="1754781"/>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F99B4A0-CAAB-226D-724F-0101D5180384}"/>
              </a:ext>
            </a:extLst>
          </p:cNvPr>
          <p:cNvSpPr/>
          <p:nvPr/>
        </p:nvSpPr>
        <p:spPr>
          <a:xfrm>
            <a:off x="4055364" y="1754781"/>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CF4FAB5-94CA-8D75-4428-FE51AE61E877}"/>
              </a:ext>
            </a:extLst>
          </p:cNvPr>
          <p:cNvSpPr/>
          <p:nvPr/>
        </p:nvSpPr>
        <p:spPr>
          <a:xfrm>
            <a:off x="1860804" y="217210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サイトUU（月間）</a:t>
            </a:r>
          </a:p>
        </p:txBody>
      </p:sp>
      <p:sp>
        <p:nvSpPr>
          <p:cNvPr id="17" name="Rectangle 7">
            <a:extLst>
              <a:ext uri="{FF2B5EF4-FFF2-40B4-BE49-F238E27FC236}">
                <a16:creationId xmlns:a16="http://schemas.microsoft.com/office/drawing/2014/main" id="{59ABF4AC-E182-56EE-AF0A-8E996E913D89}"/>
              </a:ext>
            </a:extLst>
          </p:cNvPr>
          <p:cNvSpPr/>
          <p:nvPr/>
        </p:nvSpPr>
        <p:spPr>
          <a:xfrm>
            <a:off x="4055364" y="217210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サイト全体のユニークユーザー数</a:t>
            </a:r>
          </a:p>
        </p:txBody>
      </p:sp>
      <p:sp>
        <p:nvSpPr>
          <p:cNvPr id="24" name="Rectangle 9">
            <a:extLst>
              <a:ext uri="{FF2B5EF4-FFF2-40B4-BE49-F238E27FC236}">
                <a16:creationId xmlns:a16="http://schemas.microsoft.com/office/drawing/2014/main" id="{D73FA1D7-BEA3-B981-6155-AEFEF0286995}"/>
              </a:ext>
            </a:extLst>
          </p:cNvPr>
          <p:cNvSpPr/>
          <p:nvPr/>
        </p:nvSpPr>
        <p:spPr>
          <a:xfrm>
            <a:off x="1860804" y="273989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広告UU・広告費用</a:t>
            </a:r>
          </a:p>
        </p:txBody>
      </p:sp>
      <p:sp>
        <p:nvSpPr>
          <p:cNvPr id="28" name="Rectangle 10">
            <a:extLst>
              <a:ext uri="{FF2B5EF4-FFF2-40B4-BE49-F238E27FC236}">
                <a16:creationId xmlns:a16="http://schemas.microsoft.com/office/drawing/2014/main" id="{C1EFEFFE-E7CB-5EE7-1AB5-590315FE3980}"/>
              </a:ext>
            </a:extLst>
          </p:cNvPr>
          <p:cNvSpPr/>
          <p:nvPr/>
        </p:nvSpPr>
        <p:spPr>
          <a:xfrm>
            <a:off x="4055364" y="273989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広告経由の流入と月間の広告費</a:t>
            </a:r>
          </a:p>
        </p:txBody>
      </p:sp>
      <p:sp>
        <p:nvSpPr>
          <p:cNvPr id="36" name="Rectangle 12">
            <a:extLst>
              <a:ext uri="{FF2B5EF4-FFF2-40B4-BE49-F238E27FC236}">
                <a16:creationId xmlns:a16="http://schemas.microsoft.com/office/drawing/2014/main" id="{697ECEAF-7BB9-7DE2-205B-BF4102EA1DC3}"/>
              </a:ext>
            </a:extLst>
          </p:cNvPr>
          <p:cNvSpPr/>
          <p:nvPr/>
        </p:nvSpPr>
        <p:spPr>
          <a:xfrm>
            <a:off x="1860804" y="3307697"/>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月間CV数</a:t>
            </a:r>
          </a:p>
        </p:txBody>
      </p:sp>
      <p:sp>
        <p:nvSpPr>
          <p:cNvPr id="40" name="Rectangle 13">
            <a:extLst>
              <a:ext uri="{FF2B5EF4-FFF2-40B4-BE49-F238E27FC236}">
                <a16:creationId xmlns:a16="http://schemas.microsoft.com/office/drawing/2014/main" id="{C02F7488-4398-6603-803E-B682EA6639F8}"/>
              </a:ext>
            </a:extLst>
          </p:cNvPr>
          <p:cNvSpPr/>
          <p:nvPr/>
        </p:nvSpPr>
        <p:spPr>
          <a:xfrm>
            <a:off x="4055364" y="3307697"/>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申込・予約・購入などの件数</a:t>
            </a:r>
          </a:p>
        </p:txBody>
      </p:sp>
      <p:sp>
        <p:nvSpPr>
          <p:cNvPr id="48" name="Rectangle 15">
            <a:extLst>
              <a:ext uri="{FF2B5EF4-FFF2-40B4-BE49-F238E27FC236}">
                <a16:creationId xmlns:a16="http://schemas.microsoft.com/office/drawing/2014/main" id="{61F4857C-44FC-330D-6E38-FCB957103270}"/>
              </a:ext>
            </a:extLst>
          </p:cNvPr>
          <p:cNvSpPr/>
          <p:nvPr/>
        </p:nvSpPr>
        <p:spPr>
          <a:xfrm>
            <a:off x="1860804" y="3875494"/>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CV地点</a:t>
            </a:r>
          </a:p>
        </p:txBody>
      </p:sp>
      <p:sp>
        <p:nvSpPr>
          <p:cNvPr id="52" name="Rectangle 16">
            <a:extLst>
              <a:ext uri="{FF2B5EF4-FFF2-40B4-BE49-F238E27FC236}">
                <a16:creationId xmlns:a16="http://schemas.microsoft.com/office/drawing/2014/main" id="{83517BD4-932E-04BC-6215-04A0EC53978D}"/>
              </a:ext>
            </a:extLst>
          </p:cNvPr>
          <p:cNvSpPr/>
          <p:nvPr/>
        </p:nvSpPr>
        <p:spPr>
          <a:xfrm>
            <a:off x="4055364" y="3875494"/>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電話／フォーム／来店予約／購入など</a:t>
            </a:r>
          </a:p>
        </p:txBody>
      </p:sp>
      <p:sp>
        <p:nvSpPr>
          <p:cNvPr id="57" name="Rectangle 18">
            <a:extLst>
              <a:ext uri="{FF2B5EF4-FFF2-40B4-BE49-F238E27FC236}">
                <a16:creationId xmlns:a16="http://schemas.microsoft.com/office/drawing/2014/main" id="{E3B3C022-C821-43A8-BDFA-36760FBCB427}"/>
              </a:ext>
            </a:extLst>
          </p:cNvPr>
          <p:cNvSpPr/>
          <p:nvPr/>
        </p:nvSpPr>
        <p:spPr>
          <a:xfrm>
            <a:off x="1860804" y="4443293"/>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主な流入元</a:t>
            </a:r>
          </a:p>
        </p:txBody>
      </p:sp>
      <p:sp>
        <p:nvSpPr>
          <p:cNvPr id="59" name="Rectangle 19">
            <a:extLst>
              <a:ext uri="{FF2B5EF4-FFF2-40B4-BE49-F238E27FC236}">
                <a16:creationId xmlns:a16="http://schemas.microsoft.com/office/drawing/2014/main" id="{4FEAAEBA-5690-AC8F-8FF3-276F88FCE6A0}"/>
              </a:ext>
            </a:extLst>
          </p:cNvPr>
          <p:cNvSpPr/>
          <p:nvPr/>
        </p:nvSpPr>
        <p:spPr>
          <a:xfrm>
            <a:off x="4055364" y="4443293"/>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SEO・広告・SNS・ディスプレイの比率</a:t>
            </a:r>
          </a:p>
        </p:txBody>
      </p:sp>
      <p:sp>
        <p:nvSpPr>
          <p:cNvPr id="63" name="Rectangle 21">
            <a:extLst>
              <a:ext uri="{FF2B5EF4-FFF2-40B4-BE49-F238E27FC236}">
                <a16:creationId xmlns:a16="http://schemas.microsoft.com/office/drawing/2014/main" id="{7313DF05-AD69-66C6-AA40-BD1CA81439B5}"/>
              </a:ext>
            </a:extLst>
          </p:cNvPr>
          <p:cNvSpPr/>
          <p:nvPr/>
        </p:nvSpPr>
        <p:spPr>
          <a:xfrm>
            <a:off x="1860804" y="501109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現在のLINE導線</a:t>
            </a:r>
          </a:p>
        </p:txBody>
      </p:sp>
      <p:sp>
        <p:nvSpPr>
          <p:cNvPr id="65" name="Rectangle 22">
            <a:extLst>
              <a:ext uri="{FF2B5EF4-FFF2-40B4-BE49-F238E27FC236}">
                <a16:creationId xmlns:a16="http://schemas.microsoft.com/office/drawing/2014/main" id="{E8EA0A2C-B891-6674-4DCF-61D5975B1186}"/>
              </a:ext>
            </a:extLst>
          </p:cNvPr>
          <p:cNvSpPr/>
          <p:nvPr/>
        </p:nvSpPr>
        <p:spPr>
          <a:xfrm>
            <a:off x="4055364" y="501109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サイト上の友だち追加の入口の有無</a:t>
            </a:r>
          </a:p>
        </p:txBody>
      </p:sp>
      <p:sp>
        <p:nvSpPr>
          <p:cNvPr id="69" name="Rectangle 24">
            <a:extLst>
              <a:ext uri="{FF2B5EF4-FFF2-40B4-BE49-F238E27FC236}">
                <a16:creationId xmlns:a16="http://schemas.microsoft.com/office/drawing/2014/main" id="{C6E03287-2BFA-C776-5D36-CFA637C8C321}"/>
              </a:ext>
            </a:extLst>
          </p:cNvPr>
          <p:cNvSpPr/>
          <p:nvPr/>
        </p:nvSpPr>
        <p:spPr>
          <a:xfrm>
            <a:off x="1860804" y="557888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リード保有数・他SNS</a:t>
            </a:r>
          </a:p>
        </p:txBody>
      </p:sp>
      <p:sp>
        <p:nvSpPr>
          <p:cNvPr id="71" name="Rectangle 25">
            <a:extLst>
              <a:ext uri="{FF2B5EF4-FFF2-40B4-BE49-F238E27FC236}">
                <a16:creationId xmlns:a16="http://schemas.microsoft.com/office/drawing/2014/main" id="{FC84BF14-9CF1-6C23-B694-B5ABD998471B}"/>
              </a:ext>
            </a:extLst>
          </p:cNvPr>
          <p:cNvSpPr/>
          <p:nvPr/>
        </p:nvSpPr>
        <p:spPr>
          <a:xfrm>
            <a:off x="4055364" y="557888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メール会員・他SNSのフォロワー数など</a:t>
            </a:r>
          </a:p>
        </p:txBody>
      </p:sp>
      <p:sp>
        <p:nvSpPr>
          <p:cNvPr id="75" name="Rectangle 27">
            <a:extLst>
              <a:ext uri="{FF2B5EF4-FFF2-40B4-BE49-F238E27FC236}">
                <a16:creationId xmlns:a16="http://schemas.microsoft.com/office/drawing/2014/main" id="{9173779F-195E-9786-2251-C130A6484F81}"/>
              </a:ext>
            </a:extLst>
          </p:cNvPr>
          <p:cNvSpPr/>
          <p:nvPr/>
        </p:nvSpPr>
        <p:spPr>
          <a:xfrm>
            <a:off x="384048" y="6307118"/>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※数値は貴社ヒアリングおよびGA等の外部計測をもとに想定します</a:t>
            </a:r>
          </a:p>
        </p:txBody>
      </p:sp>
    </p:spTree>
    <p:extLst>
      <p:ext uri="{BB962C8B-B14F-4D97-AF65-F5344CB8AC3E}">
        <p14:creationId xmlns:p14="http://schemas.microsoft.com/office/powerpoint/2010/main" val="33060639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0FB08-13E3-C993-1F60-B189537A26F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637A23C-033D-1544-8EE9-E879FC52D382}"/>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提案に向けて明確化したいポイント③　既存LINE公式アカウント</a:t>
            </a:r>
          </a:p>
        </p:txBody>
      </p:sp>
      <p:sp>
        <p:nvSpPr>
          <p:cNvPr id="5" name="Rectangle 2">
            <a:extLst>
              <a:ext uri="{FF2B5EF4-FFF2-40B4-BE49-F238E27FC236}">
                <a16:creationId xmlns:a16="http://schemas.microsoft.com/office/drawing/2014/main" id="{A3FC988D-B1DD-8205-D73C-DA166AB12BB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現状の規模・活用度・費用から、改善余地を見極める</a:t>
            </a:r>
          </a:p>
        </p:txBody>
      </p:sp>
      <p:sp>
        <p:nvSpPr>
          <p:cNvPr id="53" name="正方形/長方形 52">
            <a:extLst>
              <a:ext uri="{FF2B5EF4-FFF2-40B4-BE49-F238E27FC236}">
                <a16:creationId xmlns:a16="http://schemas.microsoft.com/office/drawing/2014/main" id="{019F89D8-176F-C4D3-FA4F-CC6F45A8E89D}"/>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1860804"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4055364"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友だち数</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累計と、直近の月間増加数</a:t>
            </a:r>
          </a:p>
        </p:txBody>
      </p:sp>
      <p:sp>
        <p:nvSpPr>
          <p:cNvPr id="24" name="Rectangle 9">
            <a:extLst>
              <a:ext uri="{FF2B5EF4-FFF2-40B4-BE49-F238E27FC236}">
                <a16:creationId xmlns:a16="http://schemas.microsoft.com/office/drawing/2014/main" id="{382D44E1-F4E2-5751-D452-0D8CCC481730}"/>
              </a:ext>
            </a:extLst>
          </p:cNvPr>
          <p:cNvSpPr/>
          <p:nvPr/>
        </p:nvSpPr>
        <p:spPr>
          <a:xfrm>
            <a:off x="1860804" y="280978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アクティブ率</a:t>
            </a:r>
          </a:p>
        </p:txBody>
      </p:sp>
      <p:sp>
        <p:nvSpPr>
          <p:cNvPr id="28" name="Rectangle 10">
            <a:extLst>
              <a:ext uri="{FF2B5EF4-FFF2-40B4-BE49-F238E27FC236}">
                <a16:creationId xmlns:a16="http://schemas.microsoft.com/office/drawing/2014/main" id="{8BBA3D2A-3669-05A3-FEA9-C9200F5ACDCB}"/>
              </a:ext>
            </a:extLst>
          </p:cNvPr>
          <p:cNvSpPr/>
          <p:nvPr/>
        </p:nvSpPr>
        <p:spPr>
          <a:xfrm>
            <a:off x="4055364" y="280978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ブロック率、開封率、クリック率</a:t>
            </a:r>
          </a:p>
        </p:txBody>
      </p:sp>
      <p:sp>
        <p:nvSpPr>
          <p:cNvPr id="36" name="Rectangle 12">
            <a:extLst>
              <a:ext uri="{FF2B5EF4-FFF2-40B4-BE49-F238E27FC236}">
                <a16:creationId xmlns:a16="http://schemas.microsoft.com/office/drawing/2014/main" id="{C5BC36E1-E9EC-5F99-6730-862D59A7268A}"/>
              </a:ext>
            </a:extLst>
          </p:cNvPr>
          <p:cNvSpPr/>
          <p:nvPr/>
        </p:nvSpPr>
        <p:spPr>
          <a:xfrm>
            <a:off x="1860804" y="342460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月間投稿数</a:t>
            </a:r>
          </a:p>
        </p:txBody>
      </p:sp>
      <p:sp>
        <p:nvSpPr>
          <p:cNvPr id="40" name="Rectangle 13">
            <a:extLst>
              <a:ext uri="{FF2B5EF4-FFF2-40B4-BE49-F238E27FC236}">
                <a16:creationId xmlns:a16="http://schemas.microsoft.com/office/drawing/2014/main" id="{D7C51E36-A3E0-FAF5-4F2A-F634C9ABFEB4}"/>
              </a:ext>
            </a:extLst>
          </p:cNvPr>
          <p:cNvSpPr/>
          <p:nvPr/>
        </p:nvSpPr>
        <p:spPr>
          <a:xfrm>
            <a:off x="4055364" y="342460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一斉配信・ステップ配信の本数、月間通数</a:t>
            </a:r>
          </a:p>
        </p:txBody>
      </p:sp>
      <p:sp>
        <p:nvSpPr>
          <p:cNvPr id="48" name="Rectangle 15">
            <a:extLst>
              <a:ext uri="{FF2B5EF4-FFF2-40B4-BE49-F238E27FC236}">
                <a16:creationId xmlns:a16="http://schemas.microsoft.com/office/drawing/2014/main" id="{7A4A3E0B-F476-7DC4-F177-948A5D80A39F}"/>
              </a:ext>
            </a:extLst>
          </p:cNvPr>
          <p:cNvSpPr/>
          <p:nvPr/>
        </p:nvSpPr>
        <p:spPr>
          <a:xfrm>
            <a:off x="1860804" y="4030719"/>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契約プラン</a:t>
            </a:r>
          </a:p>
        </p:txBody>
      </p:sp>
      <p:sp>
        <p:nvSpPr>
          <p:cNvPr id="52" name="Rectangle 16">
            <a:extLst>
              <a:ext uri="{FF2B5EF4-FFF2-40B4-BE49-F238E27FC236}">
                <a16:creationId xmlns:a16="http://schemas.microsoft.com/office/drawing/2014/main" id="{A4648CD6-60C7-E224-DC81-0EA8893B695C}"/>
              </a:ext>
            </a:extLst>
          </p:cNvPr>
          <p:cNvSpPr/>
          <p:nvPr/>
        </p:nvSpPr>
        <p:spPr>
          <a:xfrm>
            <a:off x="4055364" y="4030719"/>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LINE公式アカウントの料金プラン</a:t>
            </a:r>
          </a:p>
        </p:txBody>
      </p:sp>
      <p:sp>
        <p:nvSpPr>
          <p:cNvPr id="57" name="Rectangle 18">
            <a:extLst>
              <a:ext uri="{FF2B5EF4-FFF2-40B4-BE49-F238E27FC236}">
                <a16:creationId xmlns:a16="http://schemas.microsoft.com/office/drawing/2014/main" id="{279B2C05-4721-5850-5790-24F42D16195C}"/>
              </a:ext>
            </a:extLst>
          </p:cNvPr>
          <p:cNvSpPr/>
          <p:nvPr/>
        </p:nvSpPr>
        <p:spPr>
          <a:xfrm>
            <a:off x="1860804" y="464554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契約ツール</a:t>
            </a:r>
          </a:p>
        </p:txBody>
      </p:sp>
      <p:sp>
        <p:nvSpPr>
          <p:cNvPr id="59" name="Rectangle 19">
            <a:extLst>
              <a:ext uri="{FF2B5EF4-FFF2-40B4-BE49-F238E27FC236}">
                <a16:creationId xmlns:a16="http://schemas.microsoft.com/office/drawing/2014/main" id="{072A4C57-A1E2-FE0C-0F9A-495CB437882F}"/>
              </a:ext>
            </a:extLst>
          </p:cNvPr>
          <p:cNvSpPr/>
          <p:nvPr/>
        </p:nvSpPr>
        <p:spPr>
          <a:xfrm>
            <a:off x="4055364" y="464554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APIツール（Lステップ等）の有無・プラン</a:t>
            </a:r>
          </a:p>
        </p:txBody>
      </p:sp>
      <p:sp>
        <p:nvSpPr>
          <p:cNvPr id="63" name="Rectangle 21">
            <a:extLst>
              <a:ext uri="{FF2B5EF4-FFF2-40B4-BE49-F238E27FC236}">
                <a16:creationId xmlns:a16="http://schemas.microsoft.com/office/drawing/2014/main" id="{F4210959-8935-1BA3-A155-B4D4B1BE79EA}"/>
              </a:ext>
            </a:extLst>
          </p:cNvPr>
          <p:cNvSpPr/>
          <p:nvPr/>
        </p:nvSpPr>
        <p:spPr>
          <a:xfrm>
            <a:off x="1860804" y="525165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全体費用感</a:t>
            </a:r>
          </a:p>
        </p:txBody>
      </p:sp>
      <p:sp>
        <p:nvSpPr>
          <p:cNvPr id="65" name="Rectangle 22">
            <a:extLst>
              <a:ext uri="{FF2B5EF4-FFF2-40B4-BE49-F238E27FC236}">
                <a16:creationId xmlns:a16="http://schemas.microsoft.com/office/drawing/2014/main" id="{16CDB4BF-4971-BB2D-5EDB-62359C5FCF0B}"/>
              </a:ext>
            </a:extLst>
          </p:cNvPr>
          <p:cNvSpPr/>
          <p:nvPr/>
        </p:nvSpPr>
        <p:spPr>
          <a:xfrm>
            <a:off x="4055364" y="525165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アカウント費・ツール費・運用費・</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通数費の月額合計</a:t>
            </a:r>
          </a:p>
        </p:txBody>
      </p:sp>
      <p:sp>
        <p:nvSpPr>
          <p:cNvPr id="69" name="Rectangle 24">
            <a:extLst>
              <a:ext uri="{FF2B5EF4-FFF2-40B4-BE49-F238E27FC236}">
                <a16:creationId xmlns:a16="http://schemas.microsoft.com/office/drawing/2014/main" id="{809B7433-BAD1-B81E-97BD-B889CD809E1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アクティブ率・通数費の現状を見て、セグメント配信などで改善できる範囲を提案に反映する</a:t>
            </a:r>
          </a:p>
        </p:txBody>
      </p:sp>
    </p:spTree>
    <p:extLst>
      <p:ext uri="{BB962C8B-B14F-4D97-AF65-F5344CB8AC3E}">
        <p14:creationId xmlns:p14="http://schemas.microsoft.com/office/powerpoint/2010/main" val="23631056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C866B-D0C2-7EA1-2C00-9FD2CFA7473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49E6FCE-AA7B-DE7B-9452-E5F490B34B37}"/>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提案に向けて明確化したいポイント④　その他</a:t>
            </a:r>
          </a:p>
        </p:txBody>
      </p:sp>
      <p:sp>
        <p:nvSpPr>
          <p:cNvPr id="5" name="Rectangle 2">
            <a:extLst>
              <a:ext uri="{FF2B5EF4-FFF2-40B4-BE49-F238E27FC236}">
                <a16:creationId xmlns:a16="http://schemas.microsoft.com/office/drawing/2014/main" id="{2A2003E7-DEBA-516C-5544-9E84FEB0FAAA}"/>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配信の体制や社内の確認の流れなど、運用の進め方に関わる確認事項</a:t>
            </a:r>
          </a:p>
        </p:txBody>
      </p:sp>
      <p:sp>
        <p:nvSpPr>
          <p:cNvPr id="53" name="正方形/長方形 52">
            <a:extLst>
              <a:ext uri="{FF2B5EF4-FFF2-40B4-BE49-F238E27FC236}">
                <a16:creationId xmlns:a16="http://schemas.microsoft.com/office/drawing/2014/main" id="{5161E2C4-62DD-580C-6DB6-319F2E18B5A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1860804"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4055364"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配信の確認体制</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確認する方・承認の流れ・確認にかかる日数</a:t>
            </a:r>
          </a:p>
        </p:txBody>
      </p:sp>
      <p:sp>
        <p:nvSpPr>
          <p:cNvPr id="2" name="Rectangle 6">
            <a:extLst>
              <a:ext uri="{FF2B5EF4-FFF2-40B4-BE49-F238E27FC236}">
                <a16:creationId xmlns:a16="http://schemas.microsoft.com/office/drawing/2014/main" id="{E019A0C2-CAAE-25A0-61D2-699B65C42417}"/>
              </a:ext>
            </a:extLst>
          </p:cNvPr>
          <p:cNvSpPr/>
          <p:nvPr/>
        </p:nvSpPr>
        <p:spPr>
          <a:xfrm>
            <a:off x="1860804" y="2811744"/>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窓口・素材</a:t>
            </a:r>
          </a:p>
        </p:txBody>
      </p:sp>
      <p:sp>
        <p:nvSpPr>
          <p:cNvPr id="6" name="Rectangle 7">
            <a:extLst>
              <a:ext uri="{FF2B5EF4-FFF2-40B4-BE49-F238E27FC236}">
                <a16:creationId xmlns:a16="http://schemas.microsoft.com/office/drawing/2014/main" id="{18AC0B76-9D3D-7E03-E909-B45DC15D43B6}"/>
              </a:ext>
            </a:extLst>
          </p:cNvPr>
          <p:cNvSpPr/>
          <p:nvPr/>
        </p:nvSpPr>
        <p:spPr>
          <a:xfrm>
            <a:off x="4055364" y="2811744"/>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社内の窓口、写真・事例などの素材</a:t>
            </a:r>
          </a:p>
        </p:txBody>
      </p:sp>
      <p:sp>
        <p:nvSpPr>
          <p:cNvPr id="7" name="Rectangle 6">
            <a:extLst>
              <a:ext uri="{FF2B5EF4-FFF2-40B4-BE49-F238E27FC236}">
                <a16:creationId xmlns:a16="http://schemas.microsoft.com/office/drawing/2014/main" id="{E019A0C2-CAAE-25A0-61D2-699B65C42417}"/>
              </a:ext>
            </a:extLst>
          </p:cNvPr>
          <p:cNvSpPr/>
          <p:nvPr/>
        </p:nvSpPr>
        <p:spPr>
          <a:xfrm>
            <a:off x="1860804" y="3419820"/>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年間の予定</a:t>
            </a:r>
          </a:p>
        </p:txBody>
      </p:sp>
      <p:sp>
        <p:nvSpPr>
          <p:cNvPr id="9" name="Rectangle 7">
            <a:extLst>
              <a:ext uri="{FF2B5EF4-FFF2-40B4-BE49-F238E27FC236}">
                <a16:creationId xmlns:a16="http://schemas.microsoft.com/office/drawing/2014/main" id="{18AC0B76-9D3D-7E03-E909-B45DC15D43B6}"/>
              </a:ext>
            </a:extLst>
          </p:cNvPr>
          <p:cNvSpPr/>
          <p:nvPr/>
        </p:nvSpPr>
        <p:spPr>
          <a:xfrm>
            <a:off x="4055364" y="3419820"/>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繁忙期・キャンペーン・イベントの時期</a:t>
            </a:r>
          </a:p>
        </p:txBody>
      </p:sp>
      <p:sp>
        <p:nvSpPr>
          <p:cNvPr id="10" name="Rectangle 6">
            <a:extLst>
              <a:ext uri="{FF2B5EF4-FFF2-40B4-BE49-F238E27FC236}">
                <a16:creationId xmlns:a16="http://schemas.microsoft.com/office/drawing/2014/main" id="{E019A0C2-CAAE-25A0-61D2-699B65C42417}"/>
              </a:ext>
            </a:extLst>
          </p:cNvPr>
          <p:cNvSpPr/>
          <p:nvPr/>
        </p:nvSpPr>
        <p:spPr>
          <a:xfrm>
            <a:off x="1860804" y="4027896"/>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予約・顧客管理</a:t>
            </a:r>
          </a:p>
        </p:txBody>
      </p:sp>
      <p:sp>
        <p:nvSpPr>
          <p:cNvPr id="11" name="Rectangle 7">
            <a:extLst>
              <a:ext uri="{FF2B5EF4-FFF2-40B4-BE49-F238E27FC236}">
                <a16:creationId xmlns:a16="http://schemas.microsoft.com/office/drawing/2014/main" id="{18AC0B76-9D3D-7E03-E909-B45DC15D43B6}"/>
              </a:ext>
            </a:extLst>
          </p:cNvPr>
          <p:cNvSpPr/>
          <p:nvPr/>
        </p:nvSpPr>
        <p:spPr>
          <a:xfrm>
            <a:off x="4055364" y="4027896"/>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使っているシステムと、LINE連携の可否</a:t>
            </a:r>
          </a:p>
        </p:txBody>
      </p:sp>
      <p:sp>
        <p:nvSpPr>
          <p:cNvPr id="12" name="Rectangle 6">
            <a:extLst>
              <a:ext uri="{FF2B5EF4-FFF2-40B4-BE49-F238E27FC236}">
                <a16:creationId xmlns:a16="http://schemas.microsoft.com/office/drawing/2014/main" id="{E019A0C2-CAAE-25A0-61D2-699B65C42417}"/>
              </a:ext>
            </a:extLst>
          </p:cNvPr>
          <p:cNvSpPr/>
          <p:nvPr/>
        </p:nvSpPr>
        <p:spPr>
          <a:xfrm>
            <a:off x="1860804" y="463597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表現の決まり</a:t>
            </a:r>
          </a:p>
        </p:txBody>
      </p:sp>
      <p:sp>
        <p:nvSpPr>
          <p:cNvPr id="13" name="Rectangle 7">
            <a:extLst>
              <a:ext uri="{FF2B5EF4-FFF2-40B4-BE49-F238E27FC236}">
                <a16:creationId xmlns:a16="http://schemas.microsoft.com/office/drawing/2014/main" id="{18AC0B76-9D3D-7E03-E909-B45DC15D43B6}"/>
              </a:ext>
            </a:extLst>
          </p:cNvPr>
          <p:cNvSpPr/>
          <p:nvPr/>
        </p:nvSpPr>
        <p:spPr>
          <a:xfrm>
            <a:off x="4055364" y="463597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業法・社内ルールで使えない表現</a:t>
            </a:r>
          </a:p>
        </p:txBody>
      </p:sp>
      <p:sp>
        <p:nvSpPr>
          <p:cNvPr id="69" name="Rectangle 24">
            <a:extLst>
              <a:ext uri="{FF2B5EF4-FFF2-40B4-BE49-F238E27FC236}">
                <a16:creationId xmlns:a16="http://schemas.microsoft.com/office/drawing/2014/main" id="{A485A409-0FAF-105F-F311-A3F789094A8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lang="en-US" altLang="ja-JP" sz="1400" b="1" dirty="0">
                <a:solidFill>
                  <a:srgbClr val="1F2A5C"/>
                </a:solidFill>
                <a:latin typeface="メイリオ"/>
                <a:ea typeface="メイリオ"/>
                <a:cs typeface="メイリオ"/>
              </a:rPr>
              <a:t>LINE Official</a:t>
            </a:r>
            <a:r>
              <a:rPr lang="ja-JP" altLang="en-US" sz="1400" b="1" dirty="0">
                <a:solidFill>
                  <a:srgbClr val="1F2A5C"/>
                </a:solidFill>
                <a:latin typeface="メイリオ"/>
                <a:ea typeface="メイリオ"/>
                <a:cs typeface="メイリオ"/>
              </a:rPr>
              <a:t> </a:t>
            </a:r>
            <a:r>
              <a:rPr lang="en-US" altLang="ja-JP" sz="1400" b="1" dirty="0">
                <a:solidFill>
                  <a:srgbClr val="1F2A5C"/>
                </a:solidFill>
                <a:latin typeface="メイリオ"/>
                <a:ea typeface="メイリオ"/>
                <a:cs typeface="メイリオ"/>
              </a:rPr>
              <a:t>Manager</a:t>
            </a:r>
            <a:r>
              <a:rPr lang="ja-JP" altLang="en-US" sz="1400" b="1" dirty="0">
                <a:solidFill>
                  <a:srgbClr val="1F2A5C"/>
                </a:solidFill>
                <a:latin typeface="メイリオ"/>
                <a:ea typeface="メイリオ"/>
                <a:cs typeface="メイリオ"/>
              </a:rPr>
              <a:t>、</a:t>
            </a:r>
            <a:r>
              <a:rPr lang="en-US" altLang="ja-JP" sz="1400" b="1" dirty="0">
                <a:solidFill>
                  <a:srgbClr val="1F2A5C"/>
                </a:solidFill>
                <a:latin typeface="メイリオ"/>
                <a:ea typeface="メイリオ"/>
                <a:cs typeface="メイリオ"/>
              </a:rPr>
              <a:t>API</a:t>
            </a:r>
            <a:r>
              <a:rPr lang="ja-JP" altLang="en-US" sz="1400" b="1" dirty="0">
                <a:solidFill>
                  <a:srgbClr val="1F2A5C"/>
                </a:solidFill>
                <a:latin typeface="メイリオ"/>
                <a:ea typeface="メイリオ"/>
                <a:cs typeface="メイリオ"/>
              </a:rPr>
              <a:t>ツール等、配信にかかわる管理画面の共有をいただければ詳細なご提案が可能</a:t>
            </a:r>
            <a:endParaRPr sz="1400" b="1" dirty="0">
              <a:solidFill>
                <a:srgbClr val="1F2A5C"/>
              </a:solidFill>
              <a:latin typeface="メイリオ"/>
              <a:ea typeface="メイリオ"/>
              <a:cs typeface="メイリオ"/>
            </a:endParaRPr>
          </a:p>
        </p:txBody>
      </p:sp>
    </p:spTree>
    <p:extLst>
      <p:ext uri="{BB962C8B-B14F-4D97-AF65-F5344CB8AC3E}">
        <p14:creationId xmlns:p14="http://schemas.microsoft.com/office/powerpoint/2010/main" val="16349532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C88AC88B-A817-4005-424A-224DED0BFBAF}"/>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1675F9-B5FA-2EC4-257D-CF7E4918BA44}"/>
              </a:ext>
            </a:extLst>
          </p:cNvPr>
          <p:cNvSpPr/>
          <p:nvPr/>
        </p:nvSpPr>
        <p:spPr>
          <a:xfrm>
            <a:off x="2659553" y="109691"/>
            <a:ext cx="1992986" cy="326496"/>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LINEの友だちへ</a:t>
            </a:r>
          </a:p>
        </p:txBody>
      </p:sp>
      <p:sp>
        <p:nvSpPr>
          <p:cNvPr id="4" name="Chevron 13">
            <a:extLst>
              <a:ext uri="{FF2B5EF4-FFF2-40B4-BE49-F238E27FC236}">
                <a16:creationId xmlns:a16="http://schemas.microsoft.com/office/drawing/2014/main" id="{E810FD3A-0007-FF3D-2EE2-9D3DBDBDF9B7}"/>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FDD7F035-7D30-BE00-2E6D-62EECA96060F}"/>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62FA9A97-2CD9-6261-526D-BDC7E9F5991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1F077936-19EC-1BA9-8307-61A4C0787876}"/>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BA3C3F08-3D41-4AB0-6301-E28F75F92824}"/>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FB88429-899A-764B-8985-89BDCA69FA89}"/>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B7136484-8522-1579-D263-EAACFB1889EB}"/>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4979BDA7-0F1E-E435-A28C-9423621EC42F}"/>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27" name="Chevron 11">
            <a:extLst>
              <a:ext uri="{FF2B5EF4-FFF2-40B4-BE49-F238E27FC236}">
                <a16:creationId xmlns:a16="http://schemas.microsoft.com/office/drawing/2014/main" id="{71817687-7D9D-3B4B-F550-ACDFD57436B2}"/>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9" name="Chevron 11">
            <a:extLst>
              <a:ext uri="{FF2B5EF4-FFF2-40B4-BE49-F238E27FC236}">
                <a16:creationId xmlns:a16="http://schemas.microsoft.com/office/drawing/2014/main" id="{554D37E9-1335-2651-1815-E7257F5AF134}"/>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E5FD654E-DA39-F87F-E126-D2CA3BCFECFA}"/>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3" name="テキスト ボックス 32">
            <a:extLst>
              <a:ext uri="{FF2B5EF4-FFF2-40B4-BE49-F238E27FC236}">
                <a16:creationId xmlns:a16="http://schemas.microsoft.com/office/drawing/2014/main" id="{ABCB2BE8-6C91-F80E-49A7-AA2E377146D3}"/>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7" name="Chevron 12">
            <a:extLst>
              <a:ext uri="{FF2B5EF4-FFF2-40B4-BE49-F238E27FC236}">
                <a16:creationId xmlns:a16="http://schemas.microsoft.com/office/drawing/2014/main" id="{35150713-047B-D9D4-872A-3A7863929939}"/>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D2ED9B44-C4F0-1A57-C3AD-9651A637F2B6}"/>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4" name="正方形/長方形 83">
            <a:extLst>
              <a:ext uri="{FF2B5EF4-FFF2-40B4-BE49-F238E27FC236}">
                <a16:creationId xmlns:a16="http://schemas.microsoft.com/office/drawing/2014/main" id="{3F86528F-074B-2CD3-B672-1A9E0ADF36D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6" name="Pentagon 10">
            <a:extLst>
              <a:ext uri="{FF2B5EF4-FFF2-40B4-BE49-F238E27FC236}">
                <a16:creationId xmlns:a16="http://schemas.microsoft.com/office/drawing/2014/main" id="{BC454E1A-6C9B-81E7-66B6-86546B3BD10E}"/>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88" name="テキスト ボックス 87">
            <a:extLst>
              <a:ext uri="{FF2B5EF4-FFF2-40B4-BE49-F238E27FC236}">
                <a16:creationId xmlns:a16="http://schemas.microsoft.com/office/drawing/2014/main" id="{90007845-B74B-5EB8-01A2-F0D0B3B107AA}"/>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6" name="四角形: 角を丸くする 5">
            <a:extLst>
              <a:ext uri="{FF2B5EF4-FFF2-40B4-BE49-F238E27FC236}">
                <a16:creationId xmlns:a16="http://schemas.microsoft.com/office/drawing/2014/main" id="{4A672F05-4819-7C65-3B2F-FE8247A0F4A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54330A3-6E6E-081D-CE86-E6E991D271E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80BEFA75-B102-C230-3C22-72F3A514CEB4}"/>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7F6B650E-CBCB-6054-2356-DEAFE87D97A9}"/>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F459B5A5-8632-46A3-40F1-E4DEBFD1FCA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Rectangle 88"/>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90" name="Rectangle 89"/>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サイト来訪・広告</a:t>
            </a:r>
          </a:p>
          <a:p>
            <a:pPr algn="l">
              <a:lnSpc>
                <a:spcPct val="110000"/>
              </a:lnSpc>
              <a:spcAft>
                <a:spcPts val="0"/>
              </a:spcAft>
            </a:pPr>
            <a:r>
              <a:rPr sz="1050" b="0">
                <a:solidFill>
                  <a:srgbClr val="333333"/>
                </a:solidFill>
                <a:latin typeface="メイリオ"/>
                <a:ea typeface="メイリオ"/>
                <a:cs typeface="メイリオ"/>
              </a:rPr>
              <a:t>サイトのLINEボタン／ポップアップ／</a:t>
            </a:r>
          </a:p>
          <a:p>
            <a:pPr algn="l">
              <a:lnSpc>
                <a:spcPct val="110000"/>
              </a:lnSpc>
              <a:spcAft>
                <a:spcPts val="0"/>
              </a:spcAft>
            </a:pPr>
            <a:r>
              <a:rPr sz="1050" b="0">
                <a:solidFill>
                  <a:srgbClr val="333333"/>
                </a:solidFill>
                <a:latin typeface="メイリオ"/>
                <a:ea typeface="メイリオ"/>
                <a:cs typeface="メイリオ"/>
              </a:rPr>
              <a:t>応募完了画面（サンクスLINE誘導）</a:t>
            </a:r>
          </a:p>
        </p:txBody>
      </p:sp>
      <p:sp>
        <p:nvSpPr>
          <p:cNvPr id="91" name="TextBox 90"/>
          <p:cNvSpPr txBox="1"/>
          <p:nvPr/>
        </p:nvSpPr>
        <p:spPr>
          <a:xfrm>
            <a:off x="854964" y="3177539"/>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2" name="Rectangle 91"/>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93" name="Rectangle 92"/>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友だち追加</a:t>
            </a:r>
          </a:p>
        </p:txBody>
      </p:sp>
      <p:sp>
        <p:nvSpPr>
          <p:cNvPr id="94" name="TextBox 93"/>
          <p:cNvSpPr txBox="1"/>
          <p:nvPr/>
        </p:nvSpPr>
        <p:spPr>
          <a:xfrm>
            <a:off x="854964" y="3945635"/>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5" name="Rectangle 94"/>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96" name="Rectangle 95"/>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あいさつメッセージ・適正バイト診断</a:t>
            </a:r>
          </a:p>
        </p:txBody>
      </p:sp>
      <p:sp>
        <p:nvSpPr>
          <p:cNvPr id="97" name="TextBox 96"/>
          <p:cNvSpPr txBox="1"/>
          <p:nvPr/>
        </p:nvSpPr>
        <p:spPr>
          <a:xfrm>
            <a:off x="854964" y="4713731"/>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8" name="Rectangle 97"/>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99" name="Rectangle 98"/>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友だちとしてつながり続ける</a:t>
            </a:r>
          </a:p>
        </p:txBody>
      </p:sp>
      <p:sp>
        <p:nvSpPr>
          <p:cNvPr id="100" name="TextBox 99"/>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サイトに来た方・応募した方を、</a:t>
            </a:r>
          </a:p>
          <a:p>
            <a:pPr algn="l">
              <a:lnSpc>
                <a:spcPct val="105000"/>
              </a:lnSpc>
              <a:spcAft>
                <a:spcPts val="200"/>
              </a:spcAft>
            </a:pPr>
            <a:r>
              <a:rPr sz="1200" b="0">
                <a:solidFill>
                  <a:srgbClr val="333333"/>
                </a:solidFill>
                <a:latin typeface="メイリオ"/>
                <a:ea typeface="メイリオ"/>
                <a:cs typeface="メイリオ"/>
              </a:rPr>
              <a:t>LINEの友だちとして残す</a:t>
            </a:r>
          </a:p>
        </p:txBody>
      </p:sp>
      <p:sp>
        <p:nvSpPr>
          <p:cNvPr id="101" name="TextBox 100"/>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サイトに来た方（月 約8.6万人）／</a:t>
            </a:r>
          </a:p>
          <a:p>
            <a:pPr algn="l">
              <a:lnSpc>
                <a:spcPct val="105000"/>
              </a:lnSpc>
              <a:spcAft>
                <a:spcPts val="200"/>
              </a:spcAft>
            </a:pPr>
            <a:r>
              <a:rPr sz="1200" b="0">
                <a:solidFill>
                  <a:srgbClr val="333333"/>
                </a:solidFill>
                <a:latin typeface="メイリオ"/>
                <a:ea typeface="メイリオ"/>
                <a:cs typeface="メイリオ"/>
              </a:rPr>
              <a:t>応募せずに離れる方／応募した方</a:t>
            </a:r>
          </a:p>
        </p:txBody>
      </p:sp>
      <p:sp>
        <p:nvSpPr>
          <p:cNvPr id="102" name="TextBox 101"/>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求人ページ・トップのLINEボタン／</a:t>
            </a:r>
          </a:p>
          <a:p>
            <a:pPr algn="l">
              <a:lnSpc>
                <a:spcPct val="105000"/>
              </a:lnSpc>
              <a:spcAft>
                <a:spcPts val="200"/>
              </a:spcAft>
            </a:pPr>
            <a:r>
              <a:rPr sz="1200" b="0">
                <a:solidFill>
                  <a:srgbClr val="333333"/>
                </a:solidFill>
                <a:latin typeface="メイリオ"/>
                <a:ea typeface="メイリオ"/>
                <a:cs typeface="メイリオ"/>
              </a:rPr>
              <a:t>離れるときのポップアップ／</a:t>
            </a:r>
          </a:p>
          <a:p>
            <a:pPr algn="l">
              <a:lnSpc>
                <a:spcPct val="105000"/>
              </a:lnSpc>
              <a:spcAft>
                <a:spcPts val="200"/>
              </a:spcAft>
            </a:pPr>
            <a:r>
              <a:rPr sz="1200" b="0">
                <a:solidFill>
                  <a:srgbClr val="333333"/>
                </a:solidFill>
                <a:latin typeface="メイリオ"/>
                <a:ea typeface="メイリオ"/>
                <a:cs typeface="メイリオ"/>
              </a:rPr>
              <a:t>応募完了画面からのLINE誘導</a:t>
            </a:r>
          </a:p>
        </p:txBody>
      </p:sp>
      <p:sp>
        <p:nvSpPr>
          <p:cNvPr id="103" name="TextBox 102"/>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友だち追加数／入口ごとの追加数</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露出の強化</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B8E2DC18-3E5E-447C-CEDF-5068AF4D0A32}"/>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5D50EF2A-1185-0E22-D912-9AEA3CB774BC}"/>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95CDFDF2-ACE7-3D27-F326-7F888F2AC7B9}"/>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Rectangle 84"/>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86" name="Rectangle 85"/>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友だち全体</a:t>
            </a:r>
          </a:p>
        </p:txBody>
      </p:sp>
      <p:sp>
        <p:nvSpPr>
          <p:cNvPr id="87" name="TextBox 86"/>
          <p:cNvSpPr txBox="1"/>
          <p:nvPr/>
        </p:nvSpPr>
        <p:spPr>
          <a:xfrm>
            <a:off x="854964" y="3177539"/>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88" name="Rectangle 87"/>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89" name="Rectangle 88"/>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リッチメニュー</a:t>
            </a:r>
          </a:p>
          <a:p>
            <a:pPr algn="l">
              <a:lnSpc>
                <a:spcPct val="110000"/>
              </a:lnSpc>
              <a:spcAft>
                <a:spcPts val="0"/>
              </a:spcAft>
            </a:pPr>
            <a:r>
              <a:rPr sz="1050" b="0">
                <a:solidFill>
                  <a:srgbClr val="333333"/>
                </a:solidFill>
                <a:latin typeface="メイリオ"/>
                <a:ea typeface="メイリオ"/>
                <a:cs typeface="メイリオ"/>
              </a:rPr>
              <a:t>開始月別の求人・季節の特集・相談の入口</a:t>
            </a:r>
          </a:p>
        </p:txBody>
      </p:sp>
      <p:sp>
        <p:nvSpPr>
          <p:cNvPr id="90" name="TextBox 89"/>
          <p:cNvSpPr txBox="1"/>
          <p:nvPr/>
        </p:nvSpPr>
        <p:spPr>
          <a:xfrm>
            <a:off x="854964" y="3945635"/>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1" name="Rectangle 90"/>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92" name="Rectangle 91"/>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企画配信</a:t>
            </a:r>
          </a:p>
          <a:p>
            <a:pPr algn="l">
              <a:lnSpc>
                <a:spcPct val="110000"/>
              </a:lnSpc>
              <a:spcAft>
                <a:spcPts val="0"/>
              </a:spcAft>
            </a:pPr>
            <a:r>
              <a:rPr sz="1050" b="0">
                <a:solidFill>
                  <a:srgbClr val="333333"/>
                </a:solidFill>
                <a:latin typeface="メイリオ"/>
                <a:ea typeface="メイリオ"/>
                <a:cs typeface="メイリオ"/>
              </a:rPr>
              <a:t>季節の特集（冬はスキー場、夏は海）</a:t>
            </a:r>
          </a:p>
        </p:txBody>
      </p:sp>
      <p:sp>
        <p:nvSpPr>
          <p:cNvPr id="93" name="TextBox 92"/>
          <p:cNvSpPr txBox="1"/>
          <p:nvPr/>
        </p:nvSpPr>
        <p:spPr>
          <a:xfrm>
            <a:off x="854964" y="4713731"/>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4" name="Rectangle 93"/>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95" name="Rectangle 94"/>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求人ページ・特集ページへの来訪</a:t>
            </a:r>
          </a:p>
        </p:txBody>
      </p:sp>
      <p:sp>
        <p:nvSpPr>
          <p:cNvPr id="96" name="TextBox 95"/>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季節の求人を広く知らせ、</a:t>
            </a:r>
          </a:p>
          <a:p>
            <a:pPr algn="l">
              <a:lnSpc>
                <a:spcPct val="105000"/>
              </a:lnSpc>
              <a:spcAft>
                <a:spcPts val="200"/>
              </a:spcAft>
            </a:pPr>
            <a:r>
              <a:rPr sz="1200" b="0">
                <a:solidFill>
                  <a:srgbClr val="333333"/>
                </a:solidFill>
                <a:latin typeface="メイリオ"/>
                <a:ea typeface="メイリオ"/>
                <a:cs typeface="メイリオ"/>
              </a:rPr>
              <a:t>求人を見る機会を増やす</a:t>
            </a:r>
          </a:p>
        </p:txBody>
      </p:sp>
      <p:sp>
        <p:nvSpPr>
          <p:cNvPr id="97" name="TextBox 96"/>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友だち全体（反応の少ない方も含む）</a:t>
            </a:r>
          </a:p>
        </p:txBody>
      </p:sp>
      <p:sp>
        <p:nvSpPr>
          <p:cNvPr id="98" name="TextBox 97"/>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季節に合わせた特集の企画配信／</a:t>
            </a:r>
          </a:p>
          <a:p>
            <a:pPr algn="l">
              <a:lnSpc>
                <a:spcPct val="105000"/>
              </a:lnSpc>
              <a:spcAft>
                <a:spcPts val="200"/>
              </a:spcAft>
            </a:pPr>
            <a:r>
              <a:rPr sz="1200" b="0">
                <a:solidFill>
                  <a:srgbClr val="333333"/>
                </a:solidFill>
                <a:latin typeface="メイリオ"/>
                <a:ea typeface="メイリオ"/>
                <a:cs typeface="メイリオ"/>
              </a:rPr>
              <a:t>リッチメニューに開始月別の求人／</a:t>
            </a:r>
          </a:p>
          <a:p>
            <a:pPr algn="l">
              <a:lnSpc>
                <a:spcPct val="105000"/>
              </a:lnSpc>
              <a:spcAft>
                <a:spcPts val="200"/>
              </a:spcAft>
            </a:pPr>
            <a:r>
              <a:rPr sz="1200" b="0">
                <a:solidFill>
                  <a:srgbClr val="333333"/>
                </a:solidFill>
                <a:latin typeface="メイリオ"/>
                <a:ea typeface="メイリオ"/>
                <a:cs typeface="メイリオ"/>
              </a:rPr>
              <a:t>特集の入口は季節ごとに入れ替え</a:t>
            </a:r>
          </a:p>
        </p:txBody>
      </p:sp>
      <p:sp>
        <p:nvSpPr>
          <p:cNvPr id="99" name="TextBox 98"/>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配信到達数／開封率／</a:t>
            </a:r>
          </a:p>
          <a:p>
            <a:pPr algn="l">
              <a:lnSpc>
                <a:spcPct val="105000"/>
              </a:lnSpc>
              <a:spcAft>
                <a:spcPts val="200"/>
              </a:spcAft>
            </a:pPr>
            <a:r>
              <a:rPr sz="1200" b="0">
                <a:solidFill>
                  <a:srgbClr val="333333"/>
                </a:solidFill>
                <a:latin typeface="メイリオ"/>
                <a:ea typeface="メイリオ"/>
                <a:cs typeface="メイリオ"/>
              </a:rPr>
              <a:t>求人ページへのクリック数</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AFF39C41-BBAA-4AF0-A049-DFB0AE8E1584}"/>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04911599-3976-0BE2-40B0-51ACC39CBFED}"/>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rPr>
              <a:t>CV</a:t>
            </a:r>
            <a:r>
              <a:rPr kumimoji="1" lang="ja-JP" altLang="en-US" sz="1200" b="1" dirty="0">
                <a:solidFill>
                  <a:srgbClr val="FFFFFF"/>
                </a:solidFill>
                <a:latin typeface="メイリオ" panose="020B0604030504040204" pitchFamily="50" charset="-128"/>
                <a:ea typeface="メイリオ" panose="020B0604030504040204" pitchFamily="50" charset="-128"/>
              </a:rPr>
              <a:t>の最大化</a:t>
            </a:r>
          </a:p>
        </p:txBody>
      </p:sp>
      <p:sp>
        <p:nvSpPr>
          <p:cNvPr id="51" name="Chevron 13">
            <a:extLst>
              <a:ext uri="{FF2B5EF4-FFF2-40B4-BE49-F238E27FC236}">
                <a16:creationId xmlns:a16="http://schemas.microsoft.com/office/drawing/2014/main" id="{F4A886C9-FE65-EAF2-0560-7B118F2A0853}"/>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8844DA0-F5E5-1A45-00EC-394320B24C31}"/>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7" name="Chevron 11">
            <a:extLst>
              <a:ext uri="{FF2B5EF4-FFF2-40B4-BE49-F238E27FC236}">
                <a16:creationId xmlns:a16="http://schemas.microsoft.com/office/drawing/2014/main" id="{F724F92B-580B-B89B-155A-257BE4A243F8}"/>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2FC80F6A-1EC7-915D-082F-12807C0FBB3F}"/>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83FEBD46-AE15-A94C-5D92-AAB331223E06}"/>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1" name="テキスト ボックス 70">
            <a:extLst>
              <a:ext uri="{FF2B5EF4-FFF2-40B4-BE49-F238E27FC236}">
                <a16:creationId xmlns:a16="http://schemas.microsoft.com/office/drawing/2014/main" id="{04C13BD3-240E-4D3F-E67B-71FB080F80EA}"/>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73" name="テキスト ボックス 72">
            <a:extLst>
              <a:ext uri="{FF2B5EF4-FFF2-40B4-BE49-F238E27FC236}">
                <a16:creationId xmlns:a16="http://schemas.microsoft.com/office/drawing/2014/main" id="{6F7EC4A8-A113-362B-E4F8-1ABE0311DEDC}"/>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44766F87-46C0-5918-4D18-E86304A53499}"/>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77" name="正方形/長方形 76">
            <a:extLst>
              <a:ext uri="{FF2B5EF4-FFF2-40B4-BE49-F238E27FC236}">
                <a16:creationId xmlns:a16="http://schemas.microsoft.com/office/drawing/2014/main" id="{9B95ECD3-1A7E-924D-3F0F-41FC24730C6B}"/>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1" name="正方形/長方形 90">
            <a:extLst>
              <a:ext uri="{FF2B5EF4-FFF2-40B4-BE49-F238E27FC236}">
                <a16:creationId xmlns:a16="http://schemas.microsoft.com/office/drawing/2014/main" id="{23860B2B-6C5B-ADF7-C12E-AF8E17FF13B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3" name="Pentagon 10">
            <a:extLst>
              <a:ext uri="{FF2B5EF4-FFF2-40B4-BE49-F238E27FC236}">
                <a16:creationId xmlns:a16="http://schemas.microsoft.com/office/drawing/2014/main" id="{B7A320F8-6ED0-8FDE-8D8D-FA43DDE77D55}"/>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6E5F2CF6-FF83-E04E-9531-1DC5EE779FA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B164AAA0-8B15-6967-1000-89ADA173306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77B323D-2B30-D972-4650-75C5772F0DFD}"/>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8596EDD7-92C6-DCF0-41B5-5C2035C55EF9}"/>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D8D0F28C-4241-75CC-7936-4CB65160DD9F}"/>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05" name="Chevron 12">
            <a:extLst>
              <a:ext uri="{FF2B5EF4-FFF2-40B4-BE49-F238E27FC236}">
                <a16:creationId xmlns:a16="http://schemas.microsoft.com/office/drawing/2014/main" id="{1EFB2CD0-8FEA-F120-3BD8-EB2D15D982D1}"/>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D63C1B14-4B6B-558C-38F0-B4738CA178DB}"/>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四角形: 角を丸くする 3">
            <a:extLst>
              <a:ext uri="{FF2B5EF4-FFF2-40B4-BE49-F238E27FC236}">
                <a16:creationId xmlns:a16="http://schemas.microsoft.com/office/drawing/2014/main" id="{3F141C4D-4CEC-0747-B5CB-58BA10FE3830}"/>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0BC92DCD-F746-7AC5-0C7C-F6039EE861B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2DCC85EB-7726-39A6-E767-A7E7AF9FC9A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D941B869-0BE3-91CA-64FF-DE13FF4539A3}"/>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F7F5C7CD-143E-D046-95E0-587BA9375C6D}"/>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8" name="Rectangle 107"/>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109" name="Rectangle 108"/>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友だち追加から15日以内の方</a:t>
            </a:r>
          </a:p>
        </p:txBody>
      </p:sp>
      <p:sp>
        <p:nvSpPr>
          <p:cNvPr id="110" name="TextBox 109"/>
          <p:cNvSpPr txBox="1"/>
          <p:nvPr/>
        </p:nvSpPr>
        <p:spPr>
          <a:xfrm>
            <a:off x="854964" y="3177539"/>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1" name="Rectangle 110"/>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112" name="Rectangle 111"/>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Day0 適正バイト診断</a:t>
            </a:r>
          </a:p>
          <a:p>
            <a:pPr algn="l">
              <a:lnSpc>
                <a:spcPct val="110000"/>
              </a:lnSpc>
              <a:spcAft>
                <a:spcPts val="0"/>
              </a:spcAft>
            </a:pPr>
            <a:r>
              <a:rPr sz="1050" b="0">
                <a:solidFill>
                  <a:srgbClr val="333333"/>
                </a:solidFill>
                <a:latin typeface="メイリオ"/>
                <a:ea typeface="メイリオ"/>
                <a:cs typeface="メイリオ"/>
              </a:rPr>
              <a:t>エントリー状況・開始時期・エリア</a:t>
            </a:r>
          </a:p>
        </p:txBody>
      </p:sp>
      <p:sp>
        <p:nvSpPr>
          <p:cNvPr id="113" name="TextBox 112"/>
          <p:cNvSpPr txBox="1"/>
          <p:nvPr/>
        </p:nvSpPr>
        <p:spPr>
          <a:xfrm>
            <a:off x="854964" y="3945635"/>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4" name="Rectangle 113"/>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115" name="Rectangle 114"/>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ステップ配信（Day0〜15）</a:t>
            </a:r>
          </a:p>
          <a:p>
            <a:pPr algn="l">
              <a:lnSpc>
                <a:spcPct val="110000"/>
              </a:lnSpc>
              <a:spcAft>
                <a:spcPts val="0"/>
              </a:spcAft>
            </a:pPr>
            <a:r>
              <a:rPr sz="1050" b="0">
                <a:solidFill>
                  <a:srgbClr val="333333"/>
                </a:solidFill>
                <a:latin typeface="メイリオ"/>
                <a:ea typeface="メイリオ"/>
                <a:cs typeface="メイリオ"/>
              </a:rPr>
              <a:t>働き方→お金の疑問→会社の選び方→ENTRY</a:t>
            </a:r>
          </a:p>
        </p:txBody>
      </p:sp>
      <p:sp>
        <p:nvSpPr>
          <p:cNvPr id="116" name="TextBox 115"/>
          <p:cNvSpPr txBox="1"/>
          <p:nvPr/>
        </p:nvSpPr>
        <p:spPr>
          <a:xfrm>
            <a:off x="854964" y="4713731"/>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7" name="Rectangle 116"/>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118" name="Rectangle 117"/>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応募（ENTRY）</a:t>
            </a:r>
          </a:p>
        </p:txBody>
      </p:sp>
      <p:sp>
        <p:nvSpPr>
          <p:cNvPr id="119" name="TextBox 118"/>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友だち追加の直後の反応が高い時期に、</a:t>
            </a:r>
          </a:p>
          <a:p>
            <a:pPr algn="l">
              <a:lnSpc>
                <a:spcPct val="105000"/>
              </a:lnSpc>
              <a:spcAft>
                <a:spcPts val="200"/>
              </a:spcAft>
            </a:pPr>
            <a:r>
              <a:rPr sz="1200" b="0">
                <a:solidFill>
                  <a:srgbClr val="333333"/>
                </a:solidFill>
                <a:latin typeface="メイリオ"/>
                <a:ea typeface="メイリオ"/>
                <a:cs typeface="メイリオ"/>
              </a:rPr>
              <a:t>応募（ENTRY）につなげる</a:t>
            </a:r>
          </a:p>
        </p:txBody>
      </p:sp>
      <p:sp>
        <p:nvSpPr>
          <p:cNvPr id="120" name="TextBox 119"/>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友だち追加から15日以内の方</a:t>
            </a:r>
          </a:p>
        </p:txBody>
      </p:sp>
      <p:sp>
        <p:nvSpPr>
          <p:cNvPr id="121" name="TextBox 120"/>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前後検索の順に疑問に答える5通／</a:t>
            </a:r>
          </a:p>
          <a:p>
            <a:pPr algn="l">
              <a:lnSpc>
                <a:spcPct val="105000"/>
              </a:lnSpc>
              <a:spcAft>
                <a:spcPts val="200"/>
              </a:spcAft>
            </a:pPr>
            <a:r>
              <a:rPr sz="1200" b="0">
                <a:solidFill>
                  <a:srgbClr val="333333"/>
                </a:solidFill>
                <a:latin typeface="メイリオ"/>
                <a:ea typeface="メイリオ"/>
                <a:cs typeface="メイリオ"/>
              </a:rPr>
              <a:t>診断の答えで合う求人を出し分け／</a:t>
            </a:r>
          </a:p>
          <a:p>
            <a:pPr algn="l">
              <a:lnSpc>
                <a:spcPct val="105000"/>
              </a:lnSpc>
              <a:spcAft>
                <a:spcPts val="200"/>
              </a:spcAft>
            </a:pPr>
            <a:r>
              <a:rPr sz="1200" b="0">
                <a:solidFill>
                  <a:srgbClr val="333333"/>
                </a:solidFill>
                <a:latin typeface="メイリオ"/>
                <a:ea typeface="メイリオ"/>
                <a:cs typeface="メイリオ"/>
              </a:rPr>
              <a:t>応募したら配信を止める</a:t>
            </a:r>
          </a:p>
        </p:txBody>
      </p:sp>
      <p:sp>
        <p:nvSpPr>
          <p:cNvPr id="122" name="TextBox 121"/>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応募数／各通のクリック率</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C55FD271-DD54-8C2A-3532-3C2A03D95615}"/>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EED6D7-2A94-A6CB-0BBE-334005590BEA}"/>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rPr>
              <a:t>CPO</a:t>
            </a:r>
            <a:r>
              <a:rPr kumimoji="1" lang="ja-JP" altLang="en-US" sz="1200" b="1" dirty="0">
                <a:solidFill>
                  <a:srgbClr val="FFFFFF"/>
                </a:solidFill>
                <a:latin typeface="メイリオ" panose="020B0604030504040204" pitchFamily="50" charset="-128"/>
                <a:ea typeface="メイリオ" panose="020B0604030504040204" pitchFamily="50" charset="-128"/>
              </a:rPr>
              <a:t>の改善（</a:t>
            </a:r>
            <a:r>
              <a:rPr kumimoji="1" lang="en-US" altLang="ja-JP" sz="1200" b="1" dirty="0">
                <a:solidFill>
                  <a:srgbClr val="FFFFFF"/>
                </a:solidFill>
                <a:latin typeface="メイリオ" panose="020B0604030504040204" pitchFamily="50" charset="-128"/>
                <a:ea typeface="メイリオ" panose="020B0604030504040204" pitchFamily="50" charset="-128"/>
              </a:rPr>
              <a:t>CV</a:t>
            </a:r>
            <a:r>
              <a:rPr kumimoji="1" lang="ja-JP" altLang="en-US" sz="1200" b="1" dirty="0">
                <a:solidFill>
                  <a:srgbClr val="FFFFFF"/>
                </a:solidFill>
                <a:latin typeface="メイリオ" panose="020B0604030504040204" pitchFamily="50" charset="-128"/>
                <a:ea typeface="メイリオ" panose="020B0604030504040204" pitchFamily="50" charset="-128"/>
              </a:rPr>
              <a:t>質）</a:t>
            </a:r>
          </a:p>
        </p:txBody>
      </p:sp>
      <p:sp>
        <p:nvSpPr>
          <p:cNvPr id="51" name="Chevron 13">
            <a:extLst>
              <a:ext uri="{FF2B5EF4-FFF2-40B4-BE49-F238E27FC236}">
                <a16:creationId xmlns:a16="http://schemas.microsoft.com/office/drawing/2014/main" id="{1D355FA4-4572-41DB-ADDB-72C9328CFA54}"/>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5692A60-CF72-AD98-4C83-9F592CF492E0}"/>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66C0F59A-8A6F-2FF8-83E3-2F298F1F2AC0}"/>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55D40F01-14E7-7602-20AC-BAAC200BE3B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EF5D364D-D947-42EA-9004-919D75BD67E2}"/>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7D2B1035-4C9A-C019-739F-BAA82A8C0A80}"/>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E7FB1180-9A4A-AE57-1F59-565896215179}"/>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0B0B60C6-5DCD-AEAE-569B-FA25089F13B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A4623768-2D8F-7D2D-6B3F-6C18DF141747}"/>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0A113B5-1B73-69E4-E6AB-E295D6D4D7F6}"/>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9C383105-7C60-9319-5CDD-067E90A78396}"/>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F9F43CC2-32B7-852A-1FBD-45B2EB27CFB5}"/>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1" name="正方形/長方形 10">
            <a:extLst>
              <a:ext uri="{FF2B5EF4-FFF2-40B4-BE49-F238E27FC236}">
                <a16:creationId xmlns:a16="http://schemas.microsoft.com/office/drawing/2014/main" id="{B493BCB4-E00B-E0BE-D79E-5C1F31081B18}"/>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59ADA20E-51F8-4962-4E73-FE0A21ED1C8D}"/>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5" name="Chevron 12">
            <a:extLst>
              <a:ext uri="{FF2B5EF4-FFF2-40B4-BE49-F238E27FC236}">
                <a16:creationId xmlns:a16="http://schemas.microsoft.com/office/drawing/2014/main" id="{49BBC152-C183-765C-41EA-73A50F842FC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6961C103-0619-18B0-5114-11BA2CE4CF4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D8CD547B-AAA5-239F-5275-F1E6B4C136D6}"/>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8F8D1CD4-558F-D99F-A672-878D8BA20B7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四角形: 角を丸くする 3">
            <a:extLst>
              <a:ext uri="{FF2B5EF4-FFF2-40B4-BE49-F238E27FC236}">
                <a16:creationId xmlns:a16="http://schemas.microsoft.com/office/drawing/2014/main" id="{C8DD6A89-9E15-EF97-006E-AAD167825BE6}"/>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B0607C34-BCAC-36D4-6E5B-D4E83859DFE4}"/>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EA7B3E98-3D68-0C62-992B-836D9101D96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7F965D0E-3CAC-A55D-5335-0187FA81CB54}"/>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EC9AAED-0E7E-3F8D-0A4E-056B8E955E7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Rectangle 103"/>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105" name="Rectangle 104"/>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応募（ENTRY）の完了画面</a:t>
            </a:r>
          </a:p>
          <a:p>
            <a:pPr algn="l">
              <a:lnSpc>
                <a:spcPct val="110000"/>
              </a:lnSpc>
              <a:spcAft>
                <a:spcPts val="0"/>
              </a:spcAft>
            </a:pPr>
            <a:r>
              <a:rPr sz="1050" b="0">
                <a:solidFill>
                  <a:srgbClr val="333333"/>
                </a:solidFill>
                <a:latin typeface="メイリオ"/>
                <a:ea typeface="メイリオ"/>
                <a:cs typeface="メイリオ"/>
              </a:rPr>
              <a:t>サンクスLINE誘導</a:t>
            </a:r>
          </a:p>
        </p:txBody>
      </p:sp>
      <p:sp>
        <p:nvSpPr>
          <p:cNvPr id="106" name="TextBox 105"/>
          <p:cNvSpPr txBox="1"/>
          <p:nvPr/>
        </p:nvSpPr>
        <p:spPr>
          <a:xfrm>
            <a:off x="854964" y="3177539"/>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7" name="Rectangle 106"/>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108" name="Rectangle 107"/>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友だち追加・応募済みのタグ付け</a:t>
            </a:r>
          </a:p>
        </p:txBody>
      </p:sp>
      <p:sp>
        <p:nvSpPr>
          <p:cNvPr id="109" name="TextBox 108"/>
          <p:cNvSpPr txBox="1"/>
          <p:nvPr/>
        </p:nvSpPr>
        <p:spPr>
          <a:xfrm>
            <a:off x="854964" y="3945635"/>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0" name="Rectangle 109"/>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111" name="Rectangle 110"/>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受付と次の流れのご案内</a:t>
            </a:r>
          </a:p>
          <a:p>
            <a:pPr algn="l">
              <a:lnSpc>
                <a:spcPct val="110000"/>
              </a:lnSpc>
              <a:spcAft>
                <a:spcPts val="0"/>
              </a:spcAft>
            </a:pPr>
            <a:r>
              <a:rPr sz="1050" b="0">
                <a:solidFill>
                  <a:srgbClr val="333333"/>
                </a:solidFill>
                <a:latin typeface="メイリオ"/>
                <a:ea typeface="メイリオ"/>
                <a:cs typeface="メイリオ"/>
              </a:rPr>
              <a:t>担当のおすすめ求人・専属エージェントのご案内</a:t>
            </a:r>
          </a:p>
        </p:txBody>
      </p:sp>
      <p:sp>
        <p:nvSpPr>
          <p:cNvPr id="112" name="TextBox 111"/>
          <p:cNvSpPr txBox="1"/>
          <p:nvPr/>
        </p:nvSpPr>
        <p:spPr>
          <a:xfrm>
            <a:off x="854964" y="4713731"/>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3" name="Rectangle 112"/>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114" name="Rectangle 113"/>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お仕事開始</a:t>
            </a:r>
          </a:p>
        </p:txBody>
      </p:sp>
      <p:sp>
        <p:nvSpPr>
          <p:cNvPr id="115" name="TextBox 114"/>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応募した方を、お仕事開始まで</a:t>
            </a:r>
          </a:p>
          <a:p>
            <a:pPr algn="l">
              <a:lnSpc>
                <a:spcPct val="105000"/>
              </a:lnSpc>
              <a:spcAft>
                <a:spcPts val="200"/>
              </a:spcAft>
            </a:pPr>
            <a:r>
              <a:rPr sz="1200" b="0">
                <a:solidFill>
                  <a:srgbClr val="333333"/>
                </a:solidFill>
                <a:latin typeface="メイリオ"/>
                <a:ea typeface="メイリオ"/>
                <a:cs typeface="メイリオ"/>
              </a:rPr>
              <a:t>LINEで追う</a:t>
            </a:r>
          </a:p>
        </p:txBody>
      </p:sp>
      <p:sp>
        <p:nvSpPr>
          <p:cNvPr id="116" name="TextBox 115"/>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応募（ENTRY）した方</a:t>
            </a:r>
          </a:p>
        </p:txBody>
      </p:sp>
      <p:sp>
        <p:nvSpPr>
          <p:cNvPr id="117" name="TextBox 116"/>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応募の受付と次の流れのご案内／</a:t>
            </a:r>
          </a:p>
          <a:p>
            <a:pPr algn="l">
              <a:lnSpc>
                <a:spcPct val="105000"/>
              </a:lnSpc>
              <a:spcAft>
                <a:spcPts val="200"/>
              </a:spcAft>
            </a:pPr>
            <a:r>
              <a:rPr sz="1200" b="0">
                <a:solidFill>
                  <a:srgbClr val="333333"/>
                </a:solidFill>
                <a:latin typeface="メイリオ"/>
                <a:ea typeface="メイリオ"/>
                <a:cs typeface="メイリオ"/>
              </a:rPr>
              <a:t>担当のおすすめ求人／</a:t>
            </a:r>
          </a:p>
          <a:p>
            <a:pPr algn="l">
              <a:lnSpc>
                <a:spcPct val="105000"/>
              </a:lnSpc>
              <a:spcAft>
                <a:spcPts val="200"/>
              </a:spcAft>
            </a:pPr>
            <a:r>
              <a:rPr sz="1200" b="0">
                <a:solidFill>
                  <a:srgbClr val="333333"/>
                </a:solidFill>
                <a:latin typeface="メイリオ"/>
                <a:ea typeface="メイリオ"/>
                <a:cs typeface="メイリオ"/>
              </a:rPr>
              <a:t>寮・持ち物など不安に答える配信</a:t>
            </a:r>
          </a:p>
        </p:txBody>
      </p:sp>
      <p:sp>
        <p:nvSpPr>
          <p:cNvPr id="118" name="TextBox 117"/>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応募した方の友だち追加数／</a:t>
            </a:r>
          </a:p>
          <a:p>
            <a:pPr algn="l">
              <a:lnSpc>
                <a:spcPct val="105000"/>
              </a:lnSpc>
              <a:spcAft>
                <a:spcPts val="200"/>
              </a:spcAft>
            </a:pPr>
            <a:r>
              <a:rPr sz="1200" b="0">
                <a:solidFill>
                  <a:srgbClr val="333333"/>
                </a:solidFill>
                <a:latin typeface="メイリオ"/>
                <a:ea typeface="メイリオ"/>
                <a:cs typeface="メイリオ"/>
              </a:rPr>
              <a:t>応募からお仕事開始の割合</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5868997F-46B4-7BA9-BC42-4A9C872CA868}"/>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D47B23B-3577-8555-FFA8-3F6625859F4B}"/>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休眠顧客の有効化</a:t>
            </a:r>
          </a:p>
        </p:txBody>
      </p:sp>
      <p:sp>
        <p:nvSpPr>
          <p:cNvPr id="51" name="Chevron 13">
            <a:extLst>
              <a:ext uri="{FF2B5EF4-FFF2-40B4-BE49-F238E27FC236}">
                <a16:creationId xmlns:a16="http://schemas.microsoft.com/office/drawing/2014/main" id="{D8820E1E-FCC6-0351-0262-F0A662620D7E}"/>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42A824CD-AD31-00AF-D740-24B8329BA211}"/>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D974AD9B-8902-BFDF-E4F0-952CE0B08B09}"/>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5" name="テキスト ボックス 74">
            <a:extLst>
              <a:ext uri="{FF2B5EF4-FFF2-40B4-BE49-F238E27FC236}">
                <a16:creationId xmlns:a16="http://schemas.microsoft.com/office/drawing/2014/main" id="{9D71AFEB-56DC-574C-A3FE-D6ED52BB3648}"/>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C35DFC7-047F-4445-6485-A587DE019B83}"/>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37CAF156-89B2-5154-8249-AED0CB0552E6}"/>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40555260-5155-C957-DF45-AA2E0C3AF2D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2BD5B61-1C23-D5EA-685B-AB00A3A95300}"/>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ABA0293E-0A1C-8B4C-AC25-F1D65105B112}"/>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436E3F3-B650-6233-648E-9FCBA0908DC8}"/>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6ED729F-B19D-D81D-6F94-82B592CBD5C0}"/>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B46A1456-9D10-C361-8904-956CBC7F1CD7}"/>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正方形/長方形 3">
            <a:extLst>
              <a:ext uri="{FF2B5EF4-FFF2-40B4-BE49-F238E27FC236}">
                <a16:creationId xmlns:a16="http://schemas.microsoft.com/office/drawing/2014/main" id="{F308840B-61C6-BA05-C93D-D818E6E827C3}"/>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DFDE99D-1BE1-0B34-3609-FD827D701531}"/>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2">
            <a:extLst>
              <a:ext uri="{FF2B5EF4-FFF2-40B4-BE49-F238E27FC236}">
                <a16:creationId xmlns:a16="http://schemas.microsoft.com/office/drawing/2014/main" id="{1EE7C547-FD59-69A9-89BE-65E5F3370324}"/>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BB4C9F68-E568-903C-F9CF-8C2C3C5BF6C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6" name="Chevron 11">
            <a:extLst>
              <a:ext uri="{FF2B5EF4-FFF2-40B4-BE49-F238E27FC236}">
                <a16:creationId xmlns:a16="http://schemas.microsoft.com/office/drawing/2014/main" id="{2047273C-15BE-5CA7-505C-5A86165CEAE9}"/>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201F0B06-F741-FC93-4675-CFD629658555}"/>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四角形: 角を丸くする 5">
            <a:extLst>
              <a:ext uri="{FF2B5EF4-FFF2-40B4-BE49-F238E27FC236}">
                <a16:creationId xmlns:a16="http://schemas.microsoft.com/office/drawing/2014/main" id="{EB887024-2BBA-BA65-7274-B6C19830B375}"/>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EF085179-F637-C078-F968-9B03AFE0C41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D54D3EDD-30AC-24FB-8D5A-5513D1411FF3}"/>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A1BBBE87-752F-09D4-9E13-13A9F878286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D870C123-133D-9CF1-6418-078AA9217B26}"/>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Rectangle 103"/>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105" name="Rectangle 104"/>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一定期間、反応のない友だち</a:t>
            </a:r>
          </a:p>
          <a:p>
            <a:pPr algn="l">
              <a:lnSpc>
                <a:spcPct val="110000"/>
              </a:lnSpc>
              <a:spcAft>
                <a:spcPts val="0"/>
              </a:spcAft>
            </a:pPr>
            <a:r>
              <a:rPr sz="1050" b="0">
                <a:solidFill>
                  <a:srgbClr val="333333"/>
                </a:solidFill>
                <a:latin typeface="メイリオ"/>
                <a:ea typeface="メイリオ"/>
                <a:cs typeface="メイリオ"/>
              </a:rPr>
              <a:t>開封・クリックなし</a:t>
            </a:r>
          </a:p>
        </p:txBody>
      </p:sp>
      <p:sp>
        <p:nvSpPr>
          <p:cNvPr id="106" name="TextBox 105"/>
          <p:cNvSpPr txBox="1"/>
          <p:nvPr/>
        </p:nvSpPr>
        <p:spPr>
          <a:xfrm>
            <a:off x="854964" y="3177539"/>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7" name="Rectangle 106"/>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108" name="Rectangle 107"/>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タグで反応のない方を絞り込む</a:t>
            </a:r>
          </a:p>
        </p:txBody>
      </p:sp>
      <p:sp>
        <p:nvSpPr>
          <p:cNvPr id="109" name="TextBox 108"/>
          <p:cNvSpPr txBox="1"/>
          <p:nvPr/>
        </p:nvSpPr>
        <p:spPr>
          <a:xfrm>
            <a:off x="854964" y="3945635"/>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0" name="Rectangle 109"/>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111" name="Rectangle 110"/>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次のシーズンの企画配信</a:t>
            </a:r>
          </a:p>
          <a:p>
            <a:pPr algn="l">
              <a:lnSpc>
                <a:spcPct val="110000"/>
              </a:lnSpc>
              <a:spcAft>
                <a:spcPts val="0"/>
              </a:spcAft>
            </a:pPr>
            <a:r>
              <a:rPr sz="1050" b="0">
                <a:solidFill>
                  <a:srgbClr val="333333"/>
                </a:solidFill>
                <a:latin typeface="メイリオ"/>
                <a:ea typeface="メイリオ"/>
                <a:cs typeface="メイリオ"/>
              </a:rPr>
              <a:t>冬はスキー場、夏は海・開始月別の新着</a:t>
            </a:r>
          </a:p>
        </p:txBody>
      </p:sp>
      <p:sp>
        <p:nvSpPr>
          <p:cNvPr id="112" name="TextBox 111"/>
          <p:cNvSpPr txBox="1"/>
          <p:nvPr/>
        </p:nvSpPr>
        <p:spPr>
          <a:xfrm>
            <a:off x="854964" y="4713731"/>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3" name="Rectangle 112"/>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114" name="Rectangle 113"/>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再び応募（ENTRY）へ</a:t>
            </a:r>
          </a:p>
        </p:txBody>
      </p:sp>
      <p:sp>
        <p:nvSpPr>
          <p:cNvPr id="115" name="TextBox 114"/>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反応が止まった友だちに、</a:t>
            </a:r>
          </a:p>
          <a:p>
            <a:pPr algn="l">
              <a:lnSpc>
                <a:spcPct val="105000"/>
              </a:lnSpc>
              <a:spcAft>
                <a:spcPts val="200"/>
              </a:spcAft>
            </a:pPr>
            <a:r>
              <a:rPr sz="1200" b="0">
                <a:solidFill>
                  <a:srgbClr val="333333"/>
                </a:solidFill>
                <a:latin typeface="メイリオ"/>
                <a:ea typeface="メイリオ"/>
                <a:cs typeface="メイリオ"/>
              </a:rPr>
              <a:t>次のシーズンの求人をもう一度届ける</a:t>
            </a:r>
          </a:p>
        </p:txBody>
      </p:sp>
      <p:sp>
        <p:nvSpPr>
          <p:cNvPr id="116" name="TextBox 115"/>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追加から15日を過ぎ、反応のない方／</a:t>
            </a:r>
          </a:p>
          <a:p>
            <a:pPr algn="l">
              <a:lnSpc>
                <a:spcPct val="105000"/>
              </a:lnSpc>
              <a:spcAft>
                <a:spcPts val="200"/>
              </a:spcAft>
            </a:pPr>
            <a:r>
              <a:rPr sz="1200" b="0">
                <a:solidFill>
                  <a:srgbClr val="333333"/>
                </a:solidFill>
                <a:latin typeface="メイリオ"/>
                <a:ea typeface="メイリオ"/>
                <a:cs typeface="メイリオ"/>
              </a:rPr>
              <a:t>応募まで進まなかった方</a:t>
            </a:r>
          </a:p>
        </p:txBody>
      </p:sp>
      <p:sp>
        <p:nvSpPr>
          <p:cNvPr id="117" name="TextBox 116"/>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反応の有無でタグを分けて配信／</a:t>
            </a:r>
          </a:p>
          <a:p>
            <a:pPr algn="l">
              <a:lnSpc>
                <a:spcPct val="105000"/>
              </a:lnSpc>
              <a:spcAft>
                <a:spcPts val="200"/>
              </a:spcAft>
            </a:pPr>
            <a:r>
              <a:rPr sz="1200" b="0">
                <a:solidFill>
                  <a:srgbClr val="333333"/>
                </a:solidFill>
                <a:latin typeface="メイリオ"/>
                <a:ea typeface="メイリオ"/>
                <a:cs typeface="メイリオ"/>
              </a:rPr>
              <a:t>シーズンの前に開始月別の求人を案内／</a:t>
            </a:r>
          </a:p>
          <a:p>
            <a:pPr algn="l">
              <a:lnSpc>
                <a:spcPct val="105000"/>
              </a:lnSpc>
              <a:spcAft>
                <a:spcPts val="200"/>
              </a:spcAft>
            </a:pPr>
            <a:r>
              <a:rPr sz="1200" b="0">
                <a:solidFill>
                  <a:srgbClr val="333333"/>
                </a:solidFill>
                <a:latin typeface="メイリオ"/>
                <a:ea typeface="メイリオ"/>
                <a:cs typeface="メイリオ"/>
              </a:rPr>
              <a:t>アンケートで開始時期を聞き直す</a:t>
            </a:r>
          </a:p>
        </p:txBody>
      </p:sp>
      <p:sp>
        <p:nvSpPr>
          <p:cNvPr id="118" name="TextBox 117"/>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再開封率／再クリック率／</a:t>
            </a:r>
          </a:p>
          <a:p>
            <a:pPr algn="l">
              <a:lnSpc>
                <a:spcPct val="105000"/>
              </a:lnSpc>
              <a:spcAft>
                <a:spcPts val="200"/>
              </a:spcAft>
            </a:pPr>
            <a:r>
              <a:rPr sz="1200" b="0">
                <a:solidFill>
                  <a:srgbClr val="333333"/>
                </a:solidFill>
                <a:latin typeface="メイリオ"/>
                <a:ea typeface="メイリオ"/>
                <a:cs typeface="メイリオ"/>
              </a:rPr>
              <a:t>休眠からの応募数</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557E5823-79CB-79CF-DD07-21851266A6F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1E195F02-0BE8-1161-7792-37774CB37C2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マネタイズ最大化</a:t>
            </a:r>
          </a:p>
        </p:txBody>
      </p:sp>
      <p:sp>
        <p:nvSpPr>
          <p:cNvPr id="59" name="Chevron 13">
            <a:extLst>
              <a:ext uri="{FF2B5EF4-FFF2-40B4-BE49-F238E27FC236}">
                <a16:creationId xmlns:a16="http://schemas.microsoft.com/office/drawing/2014/main" id="{89590842-2A09-C403-C1A7-D0632594BF04}"/>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5" name="テキスト ボックス 74">
            <a:extLst>
              <a:ext uri="{FF2B5EF4-FFF2-40B4-BE49-F238E27FC236}">
                <a16:creationId xmlns:a16="http://schemas.microsoft.com/office/drawing/2014/main" id="{12D9BFE2-CB63-417C-A20D-B9821D0107A5}"/>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1C9FB43-DBA3-EA85-05DF-AE178836A78D}"/>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F9CF7B55-ABF2-9927-A557-D4F3EF2DF29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203D985A-07CB-6B2B-4A38-1E9BA4CDA42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3868298-612A-E7EA-3955-A46C112AF68C}"/>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B1C1BD77-0A03-135D-FA57-5809267D4770}"/>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C224908-2FD0-1514-BACD-7F6558F09AA2}"/>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8FE0D0D7-6CDA-A5D9-5092-FCB405EBD3A3}"/>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12488706-D231-32C7-26F9-D9CFE1BA5E6C}"/>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6" name="Chevron 11">
            <a:extLst>
              <a:ext uri="{FF2B5EF4-FFF2-40B4-BE49-F238E27FC236}">
                <a16:creationId xmlns:a16="http://schemas.microsoft.com/office/drawing/2014/main" id="{0AE256B2-7E32-A02D-D53F-FF495523BBAD}"/>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E4FEEB2-BD75-74F5-892E-BB00B34A19C1}"/>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正方形/長方形 5">
            <a:extLst>
              <a:ext uri="{FF2B5EF4-FFF2-40B4-BE49-F238E27FC236}">
                <a16:creationId xmlns:a16="http://schemas.microsoft.com/office/drawing/2014/main" id="{2B757B0D-5672-2DBF-99A3-B8B407F70FEA}"/>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BCB263E2-823E-545D-4E23-6526BDDF63F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Chevron 13">
            <a:extLst>
              <a:ext uri="{FF2B5EF4-FFF2-40B4-BE49-F238E27FC236}">
                <a16:creationId xmlns:a16="http://schemas.microsoft.com/office/drawing/2014/main" id="{E71A1805-4F7A-19B6-8CAB-65DAB13A046F}"/>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A0A85333-5E90-D48C-7292-FEE54783258F}"/>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21" name="Chevron 12">
            <a:extLst>
              <a:ext uri="{FF2B5EF4-FFF2-40B4-BE49-F238E27FC236}">
                <a16:creationId xmlns:a16="http://schemas.microsoft.com/office/drawing/2014/main" id="{1783606B-DD54-1208-7E4B-9811ECD1BB55}"/>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92CDBEB6-422E-01E9-0FE6-2116B0ADE9E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4" name="四角形: 角を丸くする 3">
            <a:extLst>
              <a:ext uri="{FF2B5EF4-FFF2-40B4-BE49-F238E27FC236}">
                <a16:creationId xmlns:a16="http://schemas.microsoft.com/office/drawing/2014/main" id="{923FB0AD-5795-4174-961E-6636BB6435AD}"/>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06A126BE-8D6C-B00B-4224-DD59072FF345}"/>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AF4D2433-0552-CC23-D4A0-E5C59759DDB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367937DA-B7CA-9F47-D5F6-7CB5CBBCCBB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E2E40065-F00C-4873-7138-F81C1E4B9727}"/>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Rectangle 103"/>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105" name="Rectangle 104"/>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診断に答えた方・求人を見ている方</a:t>
            </a:r>
          </a:p>
        </p:txBody>
      </p:sp>
      <p:sp>
        <p:nvSpPr>
          <p:cNvPr id="106" name="TextBox 105"/>
          <p:cNvSpPr txBox="1"/>
          <p:nvPr/>
        </p:nvSpPr>
        <p:spPr>
          <a:xfrm>
            <a:off x="854964" y="3177539"/>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7" name="Rectangle 106"/>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108" name="Rectangle 107"/>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診断タグ＋行動タグ</a:t>
            </a:r>
          </a:p>
          <a:p>
            <a:pPr algn="l">
              <a:lnSpc>
                <a:spcPct val="110000"/>
              </a:lnSpc>
              <a:spcAft>
                <a:spcPts val="0"/>
              </a:spcAft>
            </a:pPr>
            <a:r>
              <a:rPr sz="1050" b="0">
                <a:solidFill>
                  <a:srgbClr val="333333"/>
                </a:solidFill>
                <a:latin typeface="メイリオ"/>
                <a:ea typeface="メイリオ"/>
                <a:cs typeface="メイリオ"/>
              </a:rPr>
              <a:t>開始時期・エリア／押した求人・関心（お金・寮）</a:t>
            </a:r>
          </a:p>
        </p:txBody>
      </p:sp>
      <p:sp>
        <p:nvSpPr>
          <p:cNvPr id="109" name="TextBox 108"/>
          <p:cNvSpPr txBox="1"/>
          <p:nvPr/>
        </p:nvSpPr>
        <p:spPr>
          <a:xfrm>
            <a:off x="854964" y="3945635"/>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0" name="Rectangle 109"/>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111" name="Rectangle 110"/>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合う求人だけの配信</a:t>
            </a:r>
          </a:p>
          <a:p>
            <a:pPr algn="l">
              <a:lnSpc>
                <a:spcPct val="110000"/>
              </a:lnSpc>
              <a:spcAft>
                <a:spcPts val="0"/>
              </a:spcAft>
            </a:pPr>
            <a:r>
              <a:rPr sz="1050" b="0">
                <a:solidFill>
                  <a:srgbClr val="333333"/>
                </a:solidFill>
                <a:latin typeface="メイリオ"/>
                <a:ea typeface="メイリオ"/>
                <a:cs typeface="メイリオ"/>
              </a:rPr>
              <a:t>開始時期・エリア別の特集</a:t>
            </a:r>
          </a:p>
        </p:txBody>
      </p:sp>
      <p:sp>
        <p:nvSpPr>
          <p:cNvPr id="112" name="TextBox 111"/>
          <p:cNvSpPr txBox="1"/>
          <p:nvPr/>
        </p:nvSpPr>
        <p:spPr>
          <a:xfrm>
            <a:off x="854964" y="4713731"/>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3" name="Rectangle 112"/>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114" name="Rectangle 113"/>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応募（ENTRY）</a:t>
            </a:r>
          </a:p>
        </p:txBody>
      </p:sp>
      <p:sp>
        <p:nvSpPr>
          <p:cNvPr id="115" name="TextBox 114"/>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検討度の高い方を取りこぼさず、</a:t>
            </a:r>
          </a:p>
          <a:p>
            <a:pPr algn="l">
              <a:lnSpc>
                <a:spcPct val="105000"/>
              </a:lnSpc>
              <a:spcAft>
                <a:spcPts val="200"/>
              </a:spcAft>
            </a:pPr>
            <a:r>
              <a:rPr sz="1200" b="0">
                <a:solidFill>
                  <a:srgbClr val="333333"/>
                </a:solidFill>
                <a:latin typeface="メイリオ"/>
                <a:ea typeface="メイリオ"/>
                <a:cs typeface="メイリオ"/>
              </a:rPr>
              <a:t>合う求人で応募まで進める</a:t>
            </a:r>
          </a:p>
        </p:txBody>
      </p:sp>
      <p:sp>
        <p:nvSpPr>
          <p:cNvPr id="116" name="TextBox 115"/>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開始時期・エリアに答えた方／</a:t>
            </a:r>
          </a:p>
          <a:p>
            <a:pPr algn="l">
              <a:lnSpc>
                <a:spcPct val="105000"/>
              </a:lnSpc>
              <a:spcAft>
                <a:spcPts val="200"/>
              </a:spcAft>
            </a:pPr>
            <a:r>
              <a:rPr sz="1200" b="0">
                <a:solidFill>
                  <a:srgbClr val="333333"/>
                </a:solidFill>
                <a:latin typeface="メイリオ"/>
                <a:ea typeface="メイリオ"/>
                <a:cs typeface="メイリオ"/>
              </a:rPr>
              <a:t>求人を押したが応募していない方</a:t>
            </a:r>
          </a:p>
        </p:txBody>
      </p:sp>
      <p:sp>
        <p:nvSpPr>
          <p:cNvPr id="117" name="TextBox 116"/>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開始時期×エリアで合う求人だけ配信／</a:t>
            </a:r>
          </a:p>
          <a:p>
            <a:pPr algn="l">
              <a:lnSpc>
                <a:spcPct val="105000"/>
              </a:lnSpc>
              <a:spcAft>
                <a:spcPts val="200"/>
              </a:spcAft>
            </a:pPr>
            <a:r>
              <a:rPr sz="1200" b="0">
                <a:solidFill>
                  <a:srgbClr val="333333"/>
                </a:solidFill>
                <a:latin typeface="メイリオ"/>
                <a:ea typeface="メイリオ"/>
                <a:cs typeface="メイリオ"/>
              </a:rPr>
              <a:t>押した関心（お金・寮）に答える配信／</a:t>
            </a:r>
          </a:p>
          <a:p>
            <a:pPr algn="l">
              <a:lnSpc>
                <a:spcPct val="105000"/>
              </a:lnSpc>
              <a:spcAft>
                <a:spcPts val="200"/>
              </a:spcAft>
            </a:pPr>
            <a:r>
              <a:rPr sz="1200" b="0">
                <a:solidFill>
                  <a:srgbClr val="333333"/>
                </a:solidFill>
                <a:latin typeface="メイリオ"/>
                <a:ea typeface="メイリオ"/>
                <a:cs typeface="メイリオ"/>
              </a:rPr>
              <a:t>専属エージェントへの相談の入口</a:t>
            </a:r>
          </a:p>
        </p:txBody>
      </p:sp>
      <p:sp>
        <p:nvSpPr>
          <p:cNvPr id="118" name="TextBox 117"/>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応募数／クリック率／ブロック率</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70CBF08D-A75A-0470-2FBB-3028F9D942F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3C7D88F4-3C3C-3E2E-C03F-2CCC867D89EC}"/>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リピート施策</a:t>
            </a:r>
          </a:p>
        </p:txBody>
      </p:sp>
      <p:sp>
        <p:nvSpPr>
          <p:cNvPr id="51" name="Chevron 13">
            <a:extLst>
              <a:ext uri="{FF2B5EF4-FFF2-40B4-BE49-F238E27FC236}">
                <a16:creationId xmlns:a16="http://schemas.microsoft.com/office/drawing/2014/main" id="{759E7DA1-B0BF-83B4-5B22-46858D37029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E1C272E5-75EC-C617-4703-013CF3754F63}"/>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E9DA71D7-9C78-CD2C-7714-F3A95FFC1731}"/>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8CCD9A2E-65D9-A3A7-1F9E-9F339A653484}"/>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A3BB58FC-6C79-950E-F1BC-61DF96A00F4B}"/>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CF6FF1B6-0073-1D5C-E7B4-9CD1A7C404F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F755585F-9990-C994-AFCB-6B55869BB11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1A586438-3489-526C-D969-F3D159B19FC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20A32186-62A1-3BBF-CED6-D509ABE569B8}"/>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29F4C005-9928-FAAC-6A92-971D5F0B969B}"/>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48B7705-5A53-CB64-8318-08FA7AC165A4}"/>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9F8A8E43-9950-E3F2-F3FE-9C9B3CFBF78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B125C3F7-8289-EA3D-F9C3-E4122A1EF6CC}"/>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C4497524-AB39-B15B-217D-366289997E7B}"/>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C49ED30C-CEC0-2E49-5CC6-AB9E06E1664C}"/>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7095497-8A9F-3AE5-CF43-E456608BFED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1DE68DC3-7D7A-9CDB-56F3-E6921DE8DBAD}"/>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1C592B4B-F240-144A-4EC6-877E40B5DA24}"/>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A6208BB2-3F77-CF64-CB2E-3FF447A9F5F7}"/>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4FD2BF1B-521D-CC1A-7BFD-A22AA1142DA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C915B36-4012-C279-83CB-222ABE1F6039}"/>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9E5CE7E-1D8F-576F-9D97-DFF65D6EF007}"/>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3D248B8A-3417-C9D7-9DE8-CF0AAB168222}"/>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Rectangle 103"/>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105" name="Rectangle 104"/>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お仕事を終えた方</a:t>
            </a:r>
          </a:p>
        </p:txBody>
      </p:sp>
      <p:sp>
        <p:nvSpPr>
          <p:cNvPr id="106" name="TextBox 105"/>
          <p:cNvSpPr txBox="1"/>
          <p:nvPr/>
        </p:nvSpPr>
        <p:spPr>
          <a:xfrm>
            <a:off x="854964" y="3177539"/>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7" name="Rectangle 106"/>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108" name="Rectangle 107"/>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勤務の実績・時期・エリアでタグ付け</a:t>
            </a:r>
          </a:p>
        </p:txBody>
      </p:sp>
      <p:sp>
        <p:nvSpPr>
          <p:cNvPr id="109" name="TextBox 108"/>
          <p:cNvSpPr txBox="1"/>
          <p:nvPr/>
        </p:nvSpPr>
        <p:spPr>
          <a:xfrm>
            <a:off x="854964" y="3945635"/>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0" name="Rectangle 109"/>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111" name="Rectangle 110"/>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次のシーズンのお仕事の案内</a:t>
            </a:r>
          </a:p>
          <a:p>
            <a:pPr algn="l">
              <a:lnSpc>
                <a:spcPct val="110000"/>
              </a:lnSpc>
              <a:spcAft>
                <a:spcPts val="0"/>
              </a:spcAft>
            </a:pPr>
            <a:r>
              <a:rPr sz="1050" b="0">
                <a:solidFill>
                  <a:srgbClr val="333333"/>
                </a:solidFill>
                <a:latin typeface="メイリオ"/>
                <a:ea typeface="メイリオ"/>
                <a:cs typeface="メイリオ"/>
              </a:rPr>
              <a:t>冬→夏、夏→冬の開始月別の求人</a:t>
            </a:r>
          </a:p>
        </p:txBody>
      </p:sp>
      <p:sp>
        <p:nvSpPr>
          <p:cNvPr id="112" name="TextBox 111"/>
          <p:cNvSpPr txBox="1"/>
          <p:nvPr/>
        </p:nvSpPr>
        <p:spPr>
          <a:xfrm>
            <a:off x="854964" y="4713731"/>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3" name="Rectangle 112"/>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114" name="Rectangle 113"/>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次のお仕事への応募（ENTRY）</a:t>
            </a:r>
          </a:p>
        </p:txBody>
      </p:sp>
      <p:sp>
        <p:nvSpPr>
          <p:cNvPr id="115" name="TextBox 114"/>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お仕事を終えた方に、</a:t>
            </a:r>
          </a:p>
          <a:p>
            <a:pPr algn="l">
              <a:lnSpc>
                <a:spcPct val="105000"/>
              </a:lnSpc>
              <a:spcAft>
                <a:spcPts val="200"/>
              </a:spcAft>
            </a:pPr>
            <a:r>
              <a:rPr sz="1200" b="0">
                <a:solidFill>
                  <a:srgbClr val="333333"/>
                </a:solidFill>
                <a:latin typeface="メイリオ"/>
                <a:ea typeface="メイリオ"/>
                <a:cs typeface="メイリオ"/>
              </a:rPr>
              <a:t>次のシーズンのお仕事を届ける</a:t>
            </a:r>
          </a:p>
        </p:txBody>
      </p:sp>
      <p:sp>
        <p:nvSpPr>
          <p:cNvPr id="116" name="TextBox 115"/>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勤務の実績を確認できた方</a:t>
            </a:r>
          </a:p>
        </p:txBody>
      </p:sp>
      <p:sp>
        <p:nvSpPr>
          <p:cNvPr id="117" name="TextBox 116"/>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お仕事の終わる時期を起点にした配信／</a:t>
            </a:r>
          </a:p>
          <a:p>
            <a:pPr algn="l">
              <a:lnSpc>
                <a:spcPct val="105000"/>
              </a:lnSpc>
              <a:spcAft>
                <a:spcPts val="200"/>
              </a:spcAft>
            </a:pPr>
            <a:r>
              <a:rPr sz="1200" b="0">
                <a:solidFill>
                  <a:srgbClr val="333333"/>
                </a:solidFill>
                <a:latin typeface="メイリオ"/>
                <a:ea typeface="メイリオ"/>
                <a:cs typeface="メイリオ"/>
              </a:rPr>
              <a:t>前回と同じエリア・違うエリアの求人／</a:t>
            </a:r>
          </a:p>
          <a:p>
            <a:pPr algn="l">
              <a:lnSpc>
                <a:spcPct val="105000"/>
              </a:lnSpc>
              <a:spcAft>
                <a:spcPts val="200"/>
              </a:spcAft>
            </a:pPr>
            <a:r>
              <a:rPr sz="1200" b="0">
                <a:solidFill>
                  <a:srgbClr val="333333"/>
                </a:solidFill>
                <a:latin typeface="メイリオ"/>
                <a:ea typeface="メイリオ"/>
                <a:cs typeface="メイリオ"/>
              </a:rPr>
              <a:t>開始月別の新着の先行案内</a:t>
            </a:r>
          </a:p>
        </p:txBody>
      </p:sp>
      <p:sp>
        <p:nvSpPr>
          <p:cNvPr id="118" name="TextBox 117"/>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再応募数／リピート率</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53FE06A6-86EF-D7B0-BBFB-528ECC073C7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01D9328-0162-B9BC-14E5-4043C4775398}"/>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コミュニティ運営</a:t>
            </a:r>
          </a:p>
        </p:txBody>
      </p:sp>
      <p:sp>
        <p:nvSpPr>
          <p:cNvPr id="51" name="Chevron 13">
            <a:extLst>
              <a:ext uri="{FF2B5EF4-FFF2-40B4-BE49-F238E27FC236}">
                <a16:creationId xmlns:a16="http://schemas.microsoft.com/office/drawing/2014/main" id="{CE22BBFE-2B26-237F-982B-2EA5618B295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80FBA5C2-85D8-876D-21BD-21D8CBF46DCA}"/>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414E7487-2F11-DE25-DBC0-3F05BADEBBB5}"/>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520F0369-7B38-CED2-FDCE-2A3D5E2FBA45}"/>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6ACC63D7-6F52-9BE7-B7F1-06941B3FB662}"/>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41EEE8B7-3911-9FA9-D5E8-3DA2ED3998D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00F69354-CC26-C840-A15E-CBD7B45B2E08}"/>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5A3585B4-3CB4-7042-40C9-E33D520250E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37372EB0-F5E6-65AF-7C6F-6ED9C8B77FAA}"/>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AA83D2FD-45C9-0F59-802A-AF2C5668C61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59DD36B2-96D9-D151-9C00-1072C4868402}"/>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439A3FCC-970E-F0D5-83C6-3DB1603A260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FFB75D8D-CCC8-08DA-9374-BDCC4DBC0F8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053B8822-C5C6-7FF1-2E68-9A537E44EC6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D30303D8-861D-2829-9C34-EB5B96556F40}"/>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BF23443-3F44-9153-9179-100EF3B83E19}"/>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09B631BF-2611-3282-49CE-E252DECDE27A}"/>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E0CC1822-52C4-D2B9-7FF9-B51A2204E8B1}"/>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F9C56CF2-60DE-DF0B-73AB-C8769DA02AE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DC098DF-392C-B85B-2BD7-9024C9265A47}"/>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4E5D985-1393-630A-EACC-F61C1CA5E4B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0043C29-FD63-A762-3BE9-A94DAE22A315}"/>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0666F0DA-BF7D-5966-BD1A-BE7B1A9ECF9F}"/>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Rectangle 103"/>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105" name="Rectangle 104"/>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お仕事をした方</a:t>
            </a:r>
          </a:p>
          <a:p>
            <a:pPr algn="l">
              <a:lnSpc>
                <a:spcPct val="110000"/>
              </a:lnSpc>
              <a:spcAft>
                <a:spcPts val="0"/>
              </a:spcAft>
            </a:pPr>
            <a:r>
              <a:rPr sz="1050" b="0">
                <a:solidFill>
                  <a:srgbClr val="333333"/>
                </a:solidFill>
                <a:latin typeface="メイリオ"/>
                <a:ea typeface="メイリオ"/>
                <a:cs typeface="メイリオ"/>
              </a:rPr>
              <a:t>くり返し働いている方</a:t>
            </a:r>
          </a:p>
        </p:txBody>
      </p:sp>
      <p:sp>
        <p:nvSpPr>
          <p:cNvPr id="106" name="TextBox 105"/>
          <p:cNvSpPr txBox="1"/>
          <p:nvPr/>
        </p:nvSpPr>
        <p:spPr>
          <a:xfrm>
            <a:off x="854964" y="3177539"/>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7" name="Rectangle 106"/>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108" name="Rectangle 107"/>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経験者のタグ付け</a:t>
            </a:r>
          </a:p>
          <a:p>
            <a:pPr algn="l">
              <a:lnSpc>
                <a:spcPct val="110000"/>
              </a:lnSpc>
              <a:spcAft>
                <a:spcPts val="0"/>
              </a:spcAft>
            </a:pPr>
            <a:r>
              <a:rPr sz="1050" b="0">
                <a:solidFill>
                  <a:srgbClr val="333333"/>
                </a:solidFill>
                <a:latin typeface="メイリオ"/>
                <a:ea typeface="メイリオ"/>
                <a:cs typeface="メイリオ"/>
              </a:rPr>
              <a:t>リッチメニューに体験談・紹介の入口</a:t>
            </a:r>
          </a:p>
        </p:txBody>
      </p:sp>
      <p:sp>
        <p:nvSpPr>
          <p:cNvPr id="109" name="TextBox 108"/>
          <p:cNvSpPr txBox="1"/>
          <p:nvPr/>
        </p:nvSpPr>
        <p:spPr>
          <a:xfrm>
            <a:off x="854964" y="3945635"/>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0" name="Rectangle 109"/>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111" name="Rectangle 110"/>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体験談・友だちへの紹介のご案内</a:t>
            </a:r>
          </a:p>
          <a:p>
            <a:pPr algn="l">
              <a:lnSpc>
                <a:spcPct val="110000"/>
              </a:lnSpc>
              <a:spcAft>
                <a:spcPts val="0"/>
              </a:spcAft>
            </a:pPr>
            <a:r>
              <a:rPr sz="1050" b="0">
                <a:solidFill>
                  <a:srgbClr val="333333"/>
                </a:solidFill>
                <a:latin typeface="メイリオ"/>
                <a:ea typeface="メイリオ"/>
                <a:cs typeface="メイリオ"/>
              </a:rPr>
              <a:t>LINEの転送で友だちに紹介</a:t>
            </a:r>
          </a:p>
        </p:txBody>
      </p:sp>
      <p:sp>
        <p:nvSpPr>
          <p:cNvPr id="112" name="TextBox 111"/>
          <p:cNvSpPr txBox="1"/>
          <p:nvPr/>
        </p:nvSpPr>
        <p:spPr>
          <a:xfrm>
            <a:off x="854964" y="4713731"/>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3" name="Rectangle 112"/>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114" name="Rectangle 113"/>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継続利用・紹介</a:t>
            </a:r>
          </a:p>
        </p:txBody>
      </p:sp>
      <p:sp>
        <p:nvSpPr>
          <p:cNvPr id="115" name="TextBox 114"/>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お仕事をした方とのつながりを強くし、</a:t>
            </a:r>
          </a:p>
          <a:p>
            <a:pPr algn="l">
              <a:lnSpc>
                <a:spcPct val="105000"/>
              </a:lnSpc>
              <a:spcAft>
                <a:spcPts val="200"/>
              </a:spcAft>
            </a:pPr>
            <a:r>
              <a:rPr sz="1200" b="0">
                <a:solidFill>
                  <a:srgbClr val="333333"/>
                </a:solidFill>
                <a:latin typeface="メイリオ"/>
                <a:ea typeface="メイリオ"/>
                <a:cs typeface="メイリオ"/>
              </a:rPr>
              <a:t>次のお仕事と紹介につなげる</a:t>
            </a:r>
          </a:p>
        </p:txBody>
      </p:sp>
      <p:sp>
        <p:nvSpPr>
          <p:cNvPr id="116" name="TextBox 115"/>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お仕事をした方／</a:t>
            </a:r>
          </a:p>
          <a:p>
            <a:pPr algn="l">
              <a:lnSpc>
                <a:spcPct val="105000"/>
              </a:lnSpc>
              <a:spcAft>
                <a:spcPts val="200"/>
              </a:spcAft>
            </a:pPr>
            <a:r>
              <a:rPr sz="1200" b="0">
                <a:solidFill>
                  <a:srgbClr val="333333"/>
                </a:solidFill>
                <a:latin typeface="メイリオ"/>
                <a:ea typeface="メイリオ"/>
                <a:cs typeface="メイリオ"/>
              </a:rPr>
              <a:t>くり返し働いている方</a:t>
            </a:r>
          </a:p>
        </p:txBody>
      </p:sp>
      <p:sp>
        <p:nvSpPr>
          <p:cNvPr id="117" name="TextBox 116"/>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経験者の体験談を届ける・集める／</a:t>
            </a:r>
          </a:p>
          <a:p>
            <a:pPr algn="l">
              <a:lnSpc>
                <a:spcPct val="105000"/>
              </a:lnSpc>
              <a:spcAft>
                <a:spcPts val="200"/>
              </a:spcAft>
            </a:pPr>
            <a:r>
              <a:rPr sz="1200" b="0">
                <a:solidFill>
                  <a:srgbClr val="333333"/>
                </a:solidFill>
                <a:latin typeface="メイリオ"/>
                <a:ea typeface="メイリオ"/>
                <a:cs typeface="メイリオ"/>
              </a:rPr>
              <a:t>LINEの転送で友だちに紹介／</a:t>
            </a:r>
          </a:p>
          <a:p>
            <a:pPr algn="l">
              <a:lnSpc>
                <a:spcPct val="105000"/>
              </a:lnSpc>
              <a:spcAft>
                <a:spcPts val="200"/>
              </a:spcAft>
            </a:pPr>
            <a:r>
              <a:rPr sz="1200" b="0">
                <a:solidFill>
                  <a:srgbClr val="333333"/>
                </a:solidFill>
                <a:latin typeface="メイリオ"/>
                <a:ea typeface="メイリオ"/>
                <a:cs typeface="メイリオ"/>
              </a:rPr>
              <a:t>紹介の特典の案内（中身は貴社で決める）</a:t>
            </a:r>
          </a:p>
        </p:txBody>
      </p:sp>
      <p:sp>
        <p:nvSpPr>
          <p:cNvPr id="118" name="TextBox 117"/>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紹介からの友だち追加数／</a:t>
            </a:r>
          </a:p>
          <a:p>
            <a:pPr algn="l">
              <a:lnSpc>
                <a:spcPct val="105000"/>
              </a:lnSpc>
              <a:spcAft>
                <a:spcPts val="200"/>
              </a:spcAft>
            </a:pPr>
            <a:r>
              <a:rPr sz="1200" b="0">
                <a:solidFill>
                  <a:srgbClr val="333333"/>
                </a:solidFill>
                <a:latin typeface="メイリオ"/>
                <a:ea typeface="メイリオ"/>
                <a:cs typeface="メイリオ"/>
              </a:rPr>
              <a:t>紹介からの応募数</a:t>
            </a:r>
          </a:p>
        </p:txBody>
      </p:sp>
    </p:spTree>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145429</TotalTime>
  <Words>5139</Words>
  <Application>Microsoft Office PowerPoint</Application>
  <PresentationFormat>A4 210 x 297 mm</PresentationFormat>
  <Paragraphs>1218</Paragraphs>
  <Slides>55</Slides>
  <Notes>1</Notes>
  <HiddenSlides>1</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55</vt:i4>
      </vt:variant>
    </vt:vector>
  </HeadingPairs>
  <TitlesOfParts>
    <vt:vector size="62" baseType="lpstr">
      <vt:lpstr>Meiryo</vt:lpstr>
      <vt:lpstr>Meiryo</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1986</cp:revision>
  <cp:lastPrinted>2022-11-01T11:38:14Z</cp:lastPrinted>
  <dcterms:created xsi:type="dcterms:W3CDTF">2015-09-04T09:21:15Z</dcterms:created>
  <dcterms:modified xsi:type="dcterms:W3CDTF">2026-10-30T03:13:46Z</dcterms:modified>
</cp:coreProperties>
</file>