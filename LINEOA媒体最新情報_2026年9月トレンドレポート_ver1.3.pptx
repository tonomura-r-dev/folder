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4" r:id="rId7"/>
    <p:sldId id="265" r:id="rId8"/>
    <p:sldId id="261" r:id="rId9"/>
    <p:sldId id="266" r:id="rId11"/>
    <p:sldId id="267" r:id="rId12"/>
    <p:sldId id="268" r:id="rId13"/>
    <p:sldId id="260" r:id="rId6"/>
    <p:sldId id="263" r:id="rId10"/>
  </p:sldIdLst>
  <p:sldSz cx="9906000" cy="6858000" type="A4"/>
  <p:notesSz cx="6799263" cy="9929813"/>
  <p:embeddedFontLst>
    <p:embeddedFont>
      <p:font typeface="Century Gothic" panose="020B0502020202020204" pitchFamily="34" charset="0"/>
      <p:regular r:id="rId15"/>
      <p:bold r:id="rId16"/>
      <p:italic r:id="rId17"/>
      <p:boldItalic r:id="rId18"/>
    </p:embeddedFont>
    <p:embeddedFont>
      <p:font typeface="Meiryo UI" panose="020B0604030504040204" pitchFamily="50" charset="-128"/>
      <p:regular r:id="rId19"/>
      <p:bold r:id="rId20"/>
      <p:italic r:id="rId21"/>
      <p:boldItalic r:id="rId22"/>
    </p:embeddedFont>
    <p:embeddedFont>
      <p:font typeface="メイリオ" panose="020B0604030504040204" pitchFamily="50" charset="-128"/>
      <p:regular r:id="rId23"/>
      <p:bold r:id="rId24"/>
      <p:italic r:id="rId25"/>
      <p:boldItalic r:id="rId26"/>
    </p:embeddedFont>
    <p:embeddedFont>
      <p:font typeface="メイリオ" panose="020B0604030504040204" pitchFamily="50" charset="-128"/>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QCoaVnfxROPv51WSWo8GFar7+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232AC2F-9110-45D6-A1EA-E37EBF87FD90}">
  <a:tblStyle styleId="{5232AC2F-9110-45D6-A1EA-E37EBF87FD9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70" d="100"/>
          <a:sy n="70" d="100"/>
        </p:scale>
        <p:origin x="7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rgbClr val="1F497D"/>
        </a:solidFill>
        <a:ln>
          <a:solidFill>
            <a:schemeClr val="tx2"/>
          </a:solidFill>
          <a:prstDash val="solid"/>
        </a:ln>
      </dgm:spPr>
      <dgm:t>
        <a:bodyPr/>
        <a:lstStyle/>
        <a:p>
          <a:r>
            <a:rPr kumimoji="1" lang="ja-JP" altLang="en-US" sz="800" b="1" dirty="0">
              <a:solidFill>
                <a:schemeClr val="bg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rgbClr val="4F81BD"/>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rgbClr val="1F497D"/>
        </a:solidFill>
        <a:ln>
          <a:solidFill>
            <a:schemeClr val="tx2"/>
          </a:solidFill>
          <a:prstDash val="solid"/>
        </a:ln>
      </dgm:spPr>
      <dgm:t>
        <a:bodyPr/>
        <a:lstStyle/>
        <a:p>
          <a:r>
            <a:rPr kumimoji="1" lang="ja-JP" altLang="en-US" sz="800" b="1" dirty="0">
              <a:solidFill>
                <a:schemeClr val="bg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rgbClr val="4F81BD"/>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chemeClr val="bg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rgbClr val="4F81BD"/>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rgbClr val="4F81BD"/>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rgbClr val="4F81BD"/>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0E3F613-9D79-4E12-BAA8-ACC6DAD489F2}" type="doc">
      <dgm:prSet loTypeId="urn:microsoft.com/office/officeart/2005/8/layout/pyramid3" loCatId="pyramid" qsTypeId="urn:microsoft.com/office/officeart/2005/8/quickstyle/simple1#2" qsCatId="simple" csTypeId="urn:microsoft.com/office/officeart/2005/8/colors/colorful5#2" csCatId="colorful" phldr="1"/>
      <dgm:spPr/>
      <dgm:t>
        <a:bodyPr/>
        <a:lstStyle/>
        <a:p>
          <a:endParaRPr kumimoji="1" lang="ja-JP" altLang="en-US"/>
        </a:p>
      </dgm:t>
    </dgm:pt>
    <dgm:pt modelId="{DA6B1852-C691-428D-A811-8860E5E3B2A7}">
      <dgm:prSet phldrT="[テキスト]" custT="1"/>
      <dgm:spPr>
        <a:solidFill>
          <a:srgbClr val="EAEDF5"/>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認知</a:t>
          </a:r>
        </a:p>
      </dgm:t>
    </dgm:pt>
    <dgm:pt modelId="{BF1B4D8A-6D42-4545-8418-E3A7D6320547}" type="par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1A1AC929-CF10-46C2-8451-E7F602BD035B}" type="sibTrans" cxnId="{30E106D7-FFE1-4904-8EEA-549AA0A9751C}">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FBD67ADE-8F44-46B6-9ACE-0A94B357FEC4}">
      <dgm:prSet phldrT="[テキスト]" custT="1"/>
      <dgm:spPr>
        <a:solidFill>
          <a:srgbClr val="C6D9F1"/>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検討</a:t>
          </a:r>
        </a:p>
      </dgm:t>
    </dgm:pt>
    <dgm:pt modelId="{68BB1780-63EF-4B0C-9D7A-F907CBA19032}" type="par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8A4C25F8-45C5-40D1-B614-4801E03FADDE}" type="sibTrans" cxnId="{315E4672-BB05-4C59-AAAC-1B029B5B2255}">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3815C9C8-FF61-4CE0-BC38-ECC38B5F5159}">
      <dgm:prSet phldrT="[テキスト]" custT="1"/>
      <dgm:spPr>
        <a:solidFill>
          <a:schemeClr val="bg1"/>
        </a:solidFill>
        <a:ln>
          <a:solidFill>
            <a:schemeClr val="tx2"/>
          </a:solidFill>
          <a:prstDash val="solid"/>
        </a:ln>
      </dgm:spPr>
      <dgm:t>
        <a:bodyPr/>
        <a:lstStyle/>
        <a:p>
          <a:r>
            <a:rPr kumimoji="1" lang="ja-JP" altLang="en-US" sz="800" b="1" dirty="0">
              <a:solidFill>
                <a:schemeClr val="tx1"/>
              </a:solidFill>
              <a:latin typeface="メイリオ" panose="020B0604030504040204" pitchFamily="50" charset="-128"/>
              <a:ea typeface="メイリオ" panose="020B0604030504040204" pitchFamily="50" charset="-128"/>
            </a:rPr>
            <a:t>伸長</a:t>
          </a:r>
        </a:p>
      </dgm:t>
    </dgm:pt>
    <dgm:pt modelId="{CB5A4D3D-A846-46A6-B1A7-D022CB45CAC5}" type="sib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44DDD4BA-1DEA-433C-93E5-87C980C04C37}" type="parTrans" cxnId="{7E82F4F4-8751-4EFE-86F3-4F7FD773BEF0}">
      <dgm:prSet/>
      <dgm:spPr/>
      <dgm:t>
        <a:bodyPr/>
        <a:lstStyle/>
        <a:p>
          <a:endParaRPr kumimoji="1" lang="ja-JP" altLang="en-US" sz="800">
            <a:latin typeface="メイリオ" panose="020B0604030504040204" pitchFamily="50" charset="-128"/>
            <a:ea typeface="メイリオ" panose="020B0604030504040204" pitchFamily="50" charset="-128"/>
          </a:endParaRPr>
        </a:p>
      </dgm:t>
    </dgm:pt>
    <dgm:pt modelId="{0D641293-FFC8-4FB2-892B-65F872D445ED}">
      <dgm:prSet phldrT="[テキスト]" custT="1"/>
      <dgm:spPr>
        <a:solidFill>
          <a:srgbClr val="4F81BD"/>
        </a:solidFill>
        <a:ln>
          <a:solidFill>
            <a:schemeClr val="tx2"/>
          </a:solidFill>
        </a:ln>
      </dgm:spPr>
      <dgm:t>
        <a:bodyPr/>
        <a:lstStyle/>
        <a:p>
          <a:r>
            <a:rPr kumimoji="1" lang="ja-JP" altLang="en-US" sz="800" b="1" dirty="0">
              <a:solidFill>
                <a:schemeClr val="tx1">
                  <a:lumMod val="85000"/>
                  <a:lumOff val="15000"/>
                </a:schemeClr>
              </a:solidFill>
              <a:latin typeface="メイリオ" panose="020B0604030504040204" pitchFamily="50" charset="-128"/>
              <a:ea typeface="メイリオ" panose="020B0604030504040204" pitchFamily="50" charset="-128"/>
            </a:rPr>
            <a:t>獲得</a:t>
          </a:r>
        </a:p>
      </dgm:t>
    </dgm:pt>
    <dgm:pt modelId="{E7A5D44A-C8B0-48EC-A474-216D9E5C0FB0}" type="par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E517452E-DF83-4693-8DB5-42A7D659A4CF}" type="sibTrans" cxnId="{80988F1D-BF3D-4B59-B0E2-1D009D8AF87E}">
      <dgm:prSet/>
      <dgm:spPr/>
      <dgm:t>
        <a:bodyPr/>
        <a:lstStyle/>
        <a:p>
          <a:endParaRPr kumimoji="1" lang="ja-JP" altLang="en-US">
            <a:latin typeface="メイリオ" panose="020B0604030504040204" pitchFamily="50" charset="-128"/>
            <a:ea typeface="メイリオ" panose="020B0604030504040204" pitchFamily="50" charset="-128"/>
          </a:endParaRPr>
        </a:p>
      </dgm:t>
    </dgm:pt>
    <dgm:pt modelId="{52E5737E-99EC-4FF7-BD26-B3A0328D5C59}" type="pres">
      <dgm:prSet presAssocID="{10E3F613-9D79-4E12-BAA8-ACC6DAD489F2}" presName="Name0" presStyleCnt="0">
        <dgm:presLayoutVars>
          <dgm:dir/>
          <dgm:animLvl val="lvl"/>
          <dgm:resizeHandles val="exact"/>
        </dgm:presLayoutVars>
      </dgm:prSet>
      <dgm:spPr/>
    </dgm:pt>
    <dgm:pt modelId="{30284D9E-7274-4A14-BA0D-65CF8A7CD6E5}" type="pres">
      <dgm:prSet presAssocID="{DA6B1852-C691-428D-A811-8860E5E3B2A7}" presName="Name8" presStyleCnt="0"/>
      <dgm:spPr/>
    </dgm:pt>
    <dgm:pt modelId="{93E1E5AB-6C3B-4B67-BDD8-437DE1E0EC79}" type="pres">
      <dgm:prSet presAssocID="{DA6B1852-C691-428D-A811-8860E5E3B2A7}" presName="level" presStyleLbl="node1" presStyleIdx="0" presStyleCnt="4" custLinFactY="-61767" custLinFactNeighborX="0" custLinFactNeighborY="-100000">
        <dgm:presLayoutVars>
          <dgm:chMax val="1"/>
          <dgm:bulletEnabled val="1"/>
        </dgm:presLayoutVars>
      </dgm:prSet>
      <dgm:spPr/>
    </dgm:pt>
    <dgm:pt modelId="{43D722C1-2BFB-46C0-BC3F-23478CFB543E}" type="pres">
      <dgm:prSet presAssocID="{DA6B1852-C691-428D-A811-8860E5E3B2A7}" presName="levelTx" presStyleLbl="revTx" presStyleIdx="0" presStyleCnt="0">
        <dgm:presLayoutVars>
          <dgm:chMax val="1"/>
          <dgm:bulletEnabled val="1"/>
        </dgm:presLayoutVars>
      </dgm:prSet>
      <dgm:spPr/>
    </dgm:pt>
    <dgm:pt modelId="{61D64E67-D630-4D0B-986F-1C5FA78063F9}" type="pres">
      <dgm:prSet presAssocID="{FBD67ADE-8F44-46B6-9ACE-0A94B357FEC4}" presName="Name8" presStyleCnt="0"/>
      <dgm:spPr/>
    </dgm:pt>
    <dgm:pt modelId="{A068BCD1-FF16-4C2F-8C8A-77AD9453FA43}" type="pres">
      <dgm:prSet presAssocID="{FBD67ADE-8F44-46B6-9ACE-0A94B357FEC4}" presName="level" presStyleLbl="node1" presStyleIdx="1" presStyleCnt="4">
        <dgm:presLayoutVars>
          <dgm:chMax val="1"/>
          <dgm:bulletEnabled val="1"/>
        </dgm:presLayoutVars>
      </dgm:prSet>
      <dgm:spPr/>
    </dgm:pt>
    <dgm:pt modelId="{AD3B46F4-90DE-4C24-87C5-688C7652E867}" type="pres">
      <dgm:prSet presAssocID="{FBD67ADE-8F44-46B6-9ACE-0A94B357FEC4}" presName="levelTx" presStyleLbl="revTx" presStyleIdx="0" presStyleCnt="0">
        <dgm:presLayoutVars>
          <dgm:chMax val="1"/>
          <dgm:bulletEnabled val="1"/>
        </dgm:presLayoutVars>
      </dgm:prSet>
      <dgm:spPr/>
    </dgm:pt>
    <dgm:pt modelId="{82A72C9B-9BE1-471C-AF53-77F8516241C7}" type="pres">
      <dgm:prSet presAssocID="{0D641293-FFC8-4FB2-892B-65F872D445ED}" presName="Name8" presStyleCnt="0"/>
      <dgm:spPr/>
    </dgm:pt>
    <dgm:pt modelId="{ABC58F61-C8FA-430B-80CD-EFA86F8171FD}" type="pres">
      <dgm:prSet presAssocID="{0D641293-FFC8-4FB2-892B-65F872D445ED}" presName="level" presStyleLbl="node1" presStyleIdx="2" presStyleCnt="4">
        <dgm:presLayoutVars>
          <dgm:chMax val="1"/>
          <dgm:bulletEnabled val="1"/>
        </dgm:presLayoutVars>
      </dgm:prSet>
      <dgm:spPr/>
    </dgm:pt>
    <dgm:pt modelId="{9CED9FF0-E6E1-499F-B31F-01F69910471E}" type="pres">
      <dgm:prSet presAssocID="{0D641293-FFC8-4FB2-892B-65F872D445ED}" presName="levelTx" presStyleLbl="revTx" presStyleIdx="0" presStyleCnt="0">
        <dgm:presLayoutVars>
          <dgm:chMax val="1"/>
          <dgm:bulletEnabled val="1"/>
        </dgm:presLayoutVars>
      </dgm:prSet>
      <dgm:spPr/>
    </dgm:pt>
    <dgm:pt modelId="{F4F41BAB-3FC7-4B31-A46A-9035BC91B0C7}" type="pres">
      <dgm:prSet presAssocID="{3815C9C8-FF61-4CE0-BC38-ECC38B5F5159}" presName="Name8" presStyleCnt="0"/>
      <dgm:spPr/>
    </dgm:pt>
    <dgm:pt modelId="{80503AEC-DCAD-415C-87B0-8F7263CDB933}" type="pres">
      <dgm:prSet presAssocID="{3815C9C8-FF61-4CE0-BC38-ECC38B5F5159}" presName="level" presStyleLbl="node1" presStyleIdx="3" presStyleCnt="4">
        <dgm:presLayoutVars>
          <dgm:chMax val="1"/>
          <dgm:bulletEnabled val="1"/>
        </dgm:presLayoutVars>
      </dgm:prSet>
      <dgm:spPr/>
    </dgm:pt>
    <dgm:pt modelId="{74B94E17-1357-40DE-9DCE-BE934A774DEB}" type="pres">
      <dgm:prSet presAssocID="{3815C9C8-FF61-4CE0-BC38-ECC38B5F5159}" presName="levelTx" presStyleLbl="revTx" presStyleIdx="0" presStyleCnt="0">
        <dgm:presLayoutVars>
          <dgm:chMax val="1"/>
          <dgm:bulletEnabled val="1"/>
        </dgm:presLayoutVars>
      </dgm:prSet>
      <dgm:spPr/>
    </dgm:pt>
  </dgm:ptLst>
  <dgm:cxnLst>
    <dgm:cxn modelId="{FEC8B113-B847-4B63-8A22-DA285E7DBBE4}" type="presOf" srcId="{DA6B1852-C691-428D-A811-8860E5E3B2A7}" destId="{93E1E5AB-6C3B-4B67-BDD8-437DE1E0EC79}" srcOrd="0" destOrd="0" presId="urn:microsoft.com/office/officeart/2005/8/layout/pyramid3"/>
    <dgm:cxn modelId="{80988F1D-BF3D-4B59-B0E2-1D009D8AF87E}" srcId="{10E3F613-9D79-4E12-BAA8-ACC6DAD489F2}" destId="{0D641293-FFC8-4FB2-892B-65F872D445ED}" srcOrd="2" destOrd="0" parTransId="{E7A5D44A-C8B0-48EC-A474-216D9E5C0FB0}" sibTransId="{E517452E-DF83-4693-8DB5-42A7D659A4CF}"/>
    <dgm:cxn modelId="{A55AEA29-B3C3-4D5D-8CF0-ECF4B6F82E46}" type="presOf" srcId="{3815C9C8-FF61-4CE0-BC38-ECC38B5F5159}" destId="{80503AEC-DCAD-415C-87B0-8F7263CDB933}" srcOrd="0" destOrd="0" presId="urn:microsoft.com/office/officeart/2005/8/layout/pyramid3"/>
    <dgm:cxn modelId="{857D8964-3B89-4B7A-A838-DBCB38FD7F67}" type="presOf" srcId="{0D641293-FFC8-4FB2-892B-65F872D445ED}" destId="{9CED9FF0-E6E1-499F-B31F-01F69910471E}" srcOrd="1" destOrd="0" presId="urn:microsoft.com/office/officeart/2005/8/layout/pyramid3"/>
    <dgm:cxn modelId="{315E4672-BB05-4C59-AAAC-1B029B5B2255}" srcId="{10E3F613-9D79-4E12-BAA8-ACC6DAD489F2}" destId="{FBD67ADE-8F44-46B6-9ACE-0A94B357FEC4}" srcOrd="1" destOrd="0" parTransId="{68BB1780-63EF-4B0C-9D7A-F907CBA19032}" sibTransId="{8A4C25F8-45C5-40D1-B614-4801E03FADDE}"/>
    <dgm:cxn modelId="{9A6E4CAD-94C1-419F-9D81-728BCA52829F}" type="presOf" srcId="{DA6B1852-C691-428D-A811-8860E5E3B2A7}" destId="{43D722C1-2BFB-46C0-BC3F-23478CFB543E}" srcOrd="1" destOrd="0" presId="urn:microsoft.com/office/officeart/2005/8/layout/pyramid3"/>
    <dgm:cxn modelId="{72BF49C1-B938-4F9A-B300-9078C833EC96}" type="presOf" srcId="{10E3F613-9D79-4E12-BAA8-ACC6DAD489F2}" destId="{52E5737E-99EC-4FF7-BD26-B3A0328D5C59}" srcOrd="0" destOrd="0" presId="urn:microsoft.com/office/officeart/2005/8/layout/pyramid3"/>
    <dgm:cxn modelId="{647EBDC7-A57E-439B-B79D-7D6A818BEA4E}" type="presOf" srcId="{3815C9C8-FF61-4CE0-BC38-ECC38B5F5159}" destId="{74B94E17-1357-40DE-9DCE-BE934A774DEB}" srcOrd="1" destOrd="0" presId="urn:microsoft.com/office/officeart/2005/8/layout/pyramid3"/>
    <dgm:cxn modelId="{30E106D7-FFE1-4904-8EEA-549AA0A9751C}" srcId="{10E3F613-9D79-4E12-BAA8-ACC6DAD489F2}" destId="{DA6B1852-C691-428D-A811-8860E5E3B2A7}" srcOrd="0" destOrd="0" parTransId="{BF1B4D8A-6D42-4545-8418-E3A7D6320547}" sibTransId="{1A1AC929-CF10-46C2-8451-E7F602BD035B}"/>
    <dgm:cxn modelId="{73EAFEE5-591A-42B0-A5DB-A65EF4A2B1AE}" type="presOf" srcId="{FBD67ADE-8F44-46B6-9ACE-0A94B357FEC4}" destId="{A068BCD1-FF16-4C2F-8C8A-77AD9453FA43}" srcOrd="0" destOrd="0" presId="urn:microsoft.com/office/officeart/2005/8/layout/pyramid3"/>
    <dgm:cxn modelId="{124613E7-7223-4D7B-8F48-81B32285D0F3}" type="presOf" srcId="{FBD67ADE-8F44-46B6-9ACE-0A94B357FEC4}" destId="{AD3B46F4-90DE-4C24-87C5-688C7652E867}" srcOrd="1" destOrd="0" presId="urn:microsoft.com/office/officeart/2005/8/layout/pyramid3"/>
    <dgm:cxn modelId="{AEE348EE-199D-46FB-983A-2DE7E3EF48DB}" type="presOf" srcId="{0D641293-FFC8-4FB2-892B-65F872D445ED}" destId="{ABC58F61-C8FA-430B-80CD-EFA86F8171FD}" srcOrd="0" destOrd="0" presId="urn:microsoft.com/office/officeart/2005/8/layout/pyramid3"/>
    <dgm:cxn modelId="{7E82F4F4-8751-4EFE-86F3-4F7FD773BEF0}" srcId="{10E3F613-9D79-4E12-BAA8-ACC6DAD489F2}" destId="{3815C9C8-FF61-4CE0-BC38-ECC38B5F5159}" srcOrd="3" destOrd="0" parTransId="{44DDD4BA-1DEA-433C-93E5-87C980C04C37}" sibTransId="{CB5A4D3D-A846-46A6-B1A7-D022CB45CAC5}"/>
    <dgm:cxn modelId="{DC259AA0-33FD-48C2-8A12-76DDDF75252D}" type="presParOf" srcId="{52E5737E-99EC-4FF7-BD26-B3A0328D5C59}" destId="{30284D9E-7274-4A14-BA0D-65CF8A7CD6E5}" srcOrd="0" destOrd="0" presId="urn:microsoft.com/office/officeart/2005/8/layout/pyramid3"/>
    <dgm:cxn modelId="{7F25ADD9-2C8D-48AE-96E0-94640241A39A}" type="presParOf" srcId="{30284D9E-7274-4A14-BA0D-65CF8A7CD6E5}" destId="{93E1E5AB-6C3B-4B67-BDD8-437DE1E0EC79}" srcOrd="0" destOrd="0" presId="urn:microsoft.com/office/officeart/2005/8/layout/pyramid3"/>
    <dgm:cxn modelId="{420B34F6-8A58-4405-9671-FE9224A71255}" type="presParOf" srcId="{30284D9E-7274-4A14-BA0D-65CF8A7CD6E5}" destId="{43D722C1-2BFB-46C0-BC3F-23478CFB543E}" srcOrd="1" destOrd="0" presId="urn:microsoft.com/office/officeart/2005/8/layout/pyramid3"/>
    <dgm:cxn modelId="{324A9D28-106B-4DB5-8AD0-E172A633EE89}" type="presParOf" srcId="{52E5737E-99EC-4FF7-BD26-B3A0328D5C59}" destId="{61D64E67-D630-4D0B-986F-1C5FA78063F9}" srcOrd="1" destOrd="0" presId="urn:microsoft.com/office/officeart/2005/8/layout/pyramid3"/>
    <dgm:cxn modelId="{04A9C681-9161-49FF-B96A-DB78A7B7CCA2}" type="presParOf" srcId="{61D64E67-D630-4D0B-986F-1C5FA78063F9}" destId="{A068BCD1-FF16-4C2F-8C8A-77AD9453FA43}" srcOrd="0" destOrd="0" presId="urn:microsoft.com/office/officeart/2005/8/layout/pyramid3"/>
    <dgm:cxn modelId="{A52A31A0-3E2D-4C23-B1E7-3DC17397A80F}" type="presParOf" srcId="{61D64E67-D630-4D0B-986F-1C5FA78063F9}" destId="{AD3B46F4-90DE-4C24-87C5-688C7652E867}" srcOrd="1" destOrd="0" presId="urn:microsoft.com/office/officeart/2005/8/layout/pyramid3"/>
    <dgm:cxn modelId="{F4E9CD9D-15B3-4A6B-BC91-6ADF853C125C}" type="presParOf" srcId="{52E5737E-99EC-4FF7-BD26-B3A0328D5C59}" destId="{82A72C9B-9BE1-471C-AF53-77F8516241C7}" srcOrd="2" destOrd="0" presId="urn:microsoft.com/office/officeart/2005/8/layout/pyramid3"/>
    <dgm:cxn modelId="{541FFF70-6072-4192-8BF6-602A95DC97DC}" type="presParOf" srcId="{82A72C9B-9BE1-471C-AF53-77F8516241C7}" destId="{ABC58F61-C8FA-430B-80CD-EFA86F8171FD}" srcOrd="0" destOrd="0" presId="urn:microsoft.com/office/officeart/2005/8/layout/pyramid3"/>
    <dgm:cxn modelId="{1E675731-FC2A-412B-B2A7-167926C643FC}" type="presParOf" srcId="{82A72C9B-9BE1-471C-AF53-77F8516241C7}" destId="{9CED9FF0-E6E1-499F-B31F-01F69910471E}" srcOrd="1" destOrd="0" presId="urn:microsoft.com/office/officeart/2005/8/layout/pyramid3"/>
    <dgm:cxn modelId="{B32E97A1-D052-4075-9C23-423E8C700E12}" type="presParOf" srcId="{52E5737E-99EC-4FF7-BD26-B3A0328D5C59}" destId="{F4F41BAB-3FC7-4B31-A46A-9035BC91B0C7}" srcOrd="3" destOrd="0" presId="urn:microsoft.com/office/officeart/2005/8/layout/pyramid3"/>
    <dgm:cxn modelId="{56A549CF-502F-4ECA-8875-75031440054E}" type="presParOf" srcId="{F4F41BAB-3FC7-4B31-A46A-9035BC91B0C7}" destId="{80503AEC-DCAD-415C-87B0-8F7263CDB933}" srcOrd="0" destOrd="0" presId="urn:microsoft.com/office/officeart/2005/8/layout/pyramid3"/>
    <dgm:cxn modelId="{FB922722-550F-48ED-8A71-06805CE1A40B}" type="presParOf" srcId="{F4F41BAB-3FC7-4B31-A46A-9035BC91B0C7}" destId="{74B94E17-1357-40DE-9DCE-BE934A774DEB}" srcOrd="1" destOrd="0" presId="urn:microsoft.com/office/officeart/2005/8/layout/pyramid3"/>
  </dgm:cxnLst>
  <dgm:bg>
    <a:solidFill>
      <a:schemeClr val="bg1"/>
    </a:solidFill>
  </dgm:bg>
  <dgm:whole>
    <a:ln>
      <a:solidFill>
        <a:schemeClr val="accent1">
          <a:shade val="95000"/>
          <a:satMod val="10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rgbClr val="4F81B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rgbClr val="1F497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bg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rgbClr val="4F81B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rgbClr val="1F497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bg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rgbClr val="4F81B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rgbClr val="4F81B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rgbClr val="4F81B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5AB-6C3B-4B67-BDD8-437DE1E0EC79}">
      <dsp:nvSpPr>
        <dsp:cNvPr id="0" name=""/>
        <dsp:cNvSpPr/>
      </dsp:nvSpPr>
      <dsp:spPr>
        <a:xfrm rot="10800000">
          <a:off x="0" y="0"/>
          <a:ext cx="1376241" cy="282982"/>
        </a:xfrm>
        <a:prstGeom prst="trapezoid">
          <a:avLst>
            <a:gd name="adj" fmla="val 60792"/>
          </a:avLst>
        </a:prstGeom>
        <a:solidFill>
          <a:srgbClr val="EAEDF5"/>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認知</a:t>
          </a:r>
        </a:p>
      </dsp:txBody>
      <dsp:txXfrm rot="-10800000">
        <a:off x="240842" y="0"/>
        <a:ext cx="894556" cy="282982"/>
      </dsp:txXfrm>
    </dsp:sp>
    <dsp:sp modelId="{A068BCD1-FF16-4C2F-8C8A-77AD9453FA43}">
      <dsp:nvSpPr>
        <dsp:cNvPr id="0" name=""/>
        <dsp:cNvSpPr/>
      </dsp:nvSpPr>
      <dsp:spPr>
        <a:xfrm rot="10800000">
          <a:off x="172030" y="282982"/>
          <a:ext cx="1032180" cy="282982"/>
        </a:xfrm>
        <a:prstGeom prst="trapezoid">
          <a:avLst>
            <a:gd name="adj" fmla="val 60792"/>
          </a:avLst>
        </a:prstGeom>
        <a:solidFill>
          <a:srgbClr val="C6D9F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検討</a:t>
          </a:r>
        </a:p>
      </dsp:txBody>
      <dsp:txXfrm rot="-10800000">
        <a:off x="352661" y="282982"/>
        <a:ext cx="670917" cy="282982"/>
      </dsp:txXfrm>
    </dsp:sp>
    <dsp:sp modelId="{ABC58F61-C8FA-430B-80CD-EFA86F8171FD}">
      <dsp:nvSpPr>
        <dsp:cNvPr id="0" name=""/>
        <dsp:cNvSpPr/>
      </dsp:nvSpPr>
      <dsp:spPr>
        <a:xfrm rot="10800000">
          <a:off x="344060" y="565965"/>
          <a:ext cx="688120" cy="282982"/>
        </a:xfrm>
        <a:prstGeom prst="trapezoid">
          <a:avLst>
            <a:gd name="adj" fmla="val 60792"/>
          </a:avLst>
        </a:prstGeom>
        <a:solidFill>
          <a:srgbClr val="4F81BD"/>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lumMod val="85000"/>
                  <a:lumOff val="15000"/>
                </a:schemeClr>
              </a:solidFill>
              <a:latin typeface="メイリオ" panose="020B0604030504040204" pitchFamily="50" charset="-128"/>
              <a:ea typeface="メイリオ" panose="020B0604030504040204" pitchFamily="50" charset="-128"/>
            </a:rPr>
            <a:t>獲得</a:t>
          </a:r>
        </a:p>
      </dsp:txBody>
      <dsp:txXfrm rot="-10800000">
        <a:off x="464481" y="565965"/>
        <a:ext cx="447278" cy="282982"/>
      </dsp:txXfrm>
    </dsp:sp>
    <dsp:sp modelId="{80503AEC-DCAD-415C-87B0-8F7263CDB933}">
      <dsp:nvSpPr>
        <dsp:cNvPr id="0" name=""/>
        <dsp:cNvSpPr/>
      </dsp:nvSpPr>
      <dsp:spPr>
        <a:xfrm rot="10800000">
          <a:off x="516090" y="848948"/>
          <a:ext cx="344060" cy="282982"/>
        </a:xfrm>
        <a:prstGeom prst="trapezoid">
          <a:avLst>
            <a:gd name="adj" fmla="val 60792"/>
          </a:avLst>
        </a:prstGeom>
        <a:solidFill>
          <a:schemeClr val="bg1"/>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kumimoji="1" lang="ja-JP" altLang="en-US" sz="800" b="1" kern="1200" dirty="0">
              <a:solidFill>
                <a:schemeClr val="tx1"/>
              </a:solidFill>
              <a:latin typeface="メイリオ" panose="020B0604030504040204" pitchFamily="50" charset="-128"/>
              <a:ea typeface="メイリオ" panose="020B0604030504040204" pitchFamily="50" charset="-128"/>
            </a:rPr>
            <a:t>伸長</a:t>
          </a:r>
        </a:p>
      </dsp:txBody>
      <dsp:txXfrm rot="-10800000">
        <a:off x="516090" y="848948"/>
        <a:ext cx="344060" cy="28298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6094" cy="495952"/>
          </a:xfrm>
          <a:prstGeom prst="rect">
            <a:avLst/>
          </a:prstGeom>
          <a:noFill/>
          <a:ln>
            <a:noFill/>
          </a:ln>
        </p:spPr>
        <p:txBody>
          <a:bodyPr spcFirstLastPara="1" wrap="square" lIns="88200" tIns="44100" rIns="88200" bIns="441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1650" y="0"/>
            <a:ext cx="2946093" cy="495952"/>
          </a:xfrm>
          <a:prstGeom prst="rect">
            <a:avLst/>
          </a:prstGeom>
          <a:noFill/>
          <a:ln>
            <a:noFill/>
          </a:ln>
        </p:spPr>
        <p:txBody>
          <a:bodyPr spcFirstLastPara="1" wrap="square" lIns="88200" tIns="44100" rIns="88200" bIns="441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1200" y="744538"/>
            <a:ext cx="5376863"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686" y="4716161"/>
            <a:ext cx="5439410" cy="4468185"/>
          </a:xfrm>
          <a:prstGeom prst="rect">
            <a:avLst/>
          </a:prstGeom>
          <a:noFill/>
          <a:ln>
            <a:noFill/>
          </a:ln>
        </p:spPr>
        <p:txBody>
          <a:bodyPr spcFirstLastPara="1" wrap="square" lIns="88200" tIns="44100" rIns="88200" bIns="441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32321"/>
            <a:ext cx="2946094" cy="495952"/>
          </a:xfrm>
          <a:prstGeom prst="rect">
            <a:avLst/>
          </a:prstGeom>
          <a:noFill/>
          <a:ln>
            <a:noFill/>
          </a:ln>
        </p:spPr>
        <p:txBody>
          <a:bodyPr spcFirstLastPara="1" wrap="square" lIns="88200" tIns="44100" rIns="88200" bIns="441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1650" y="9432321"/>
            <a:ext cx="2946093" cy="495952"/>
          </a:xfrm>
          <a:prstGeom prst="rect">
            <a:avLst/>
          </a:prstGeom>
          <a:noFill/>
          <a:ln>
            <a:noFill/>
          </a:ln>
        </p:spPr>
        <p:txBody>
          <a:bodyPr spcFirstLastPara="1" wrap="square" lIns="88200" tIns="44100" rIns="88200" bIns="44100" anchor="b" anchorCtr="0">
            <a:noAutofit/>
          </a:bodyPr>
          <a:lstStyle/>
          <a:p>
            <a:pPr marL="0" marR="0" lvl="0" indent="0" algn="r" rtl="0">
              <a:spcBef>
                <a:spcPts val="0"/>
              </a:spcBef>
              <a:spcAft>
                <a:spcPts val="0"/>
              </a:spcAft>
              <a:buNone/>
            </a:pPr>
            <a:fld id="{00000000-1234-1234-1234-123412341234}" type="slidenum">
              <a:rPr 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1: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2" name="Google Shape;22;p1:notes"/>
          <p:cNvSpPr txBox="1">
            <a:spLocks noGrp="1"/>
          </p:cNvSpPr>
          <p:nvPr>
            <p:ph type="body" idx="1"/>
          </p:nvPr>
        </p:nvSpPr>
        <p:spPr>
          <a:xfrm>
            <a:off x="680686" y="4716161"/>
            <a:ext cx="5439410" cy="4468185"/>
          </a:xfrm>
          <a:prstGeom prst="rect">
            <a:avLst/>
          </a:prstGeom>
          <a:noFill/>
          <a:ln>
            <a:noFill/>
          </a:ln>
        </p:spPr>
        <p:txBody>
          <a:bodyPr spcFirstLastPara="1" wrap="square" lIns="88200" tIns="44100" rIns="88200" bIns="44100"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3" name="Google Shape;23;p1:notes"/>
          <p:cNvSpPr txBox="1">
            <a:spLocks noGrp="1"/>
          </p:cNvSpPr>
          <p:nvPr>
            <p:ph type="ftr" idx="11"/>
          </p:nvPr>
        </p:nvSpPr>
        <p:spPr>
          <a:xfrm>
            <a:off x="1" y="9432321"/>
            <a:ext cx="2946094" cy="495952"/>
          </a:xfrm>
          <a:prstGeom prst="rect">
            <a:avLst/>
          </a:prstGeom>
          <a:noFill/>
          <a:ln>
            <a:noFill/>
          </a:ln>
        </p:spPr>
        <p:txBody>
          <a:bodyPr spcFirstLastPara="1" wrap="square" lIns="88200" tIns="44100" rIns="88200" bIns="44100" anchor="b" anchorCtr="0">
            <a:noAutofit/>
          </a:bodyPr>
          <a:lstStyle/>
          <a:p>
            <a:pPr marL="0" lvl="0" indent="0" algn="l" rtl="0">
              <a:spcBef>
                <a:spcPts val="0"/>
              </a:spcBef>
              <a:spcAft>
                <a:spcPts val="0"/>
              </a:spcAft>
              <a:buNone/>
            </a:pPr>
            <a:endParaRPr/>
          </a:p>
        </p:txBody>
      </p:sp>
      <p:sp>
        <p:nvSpPr>
          <p:cNvPr id="24" name="Google Shape;24;p1:notes"/>
          <p:cNvSpPr txBox="1">
            <a:spLocks noGrp="1"/>
          </p:cNvSpPr>
          <p:nvPr>
            <p:ph type="sldNum" idx="12"/>
          </p:nvPr>
        </p:nvSpPr>
        <p:spPr>
          <a:xfrm>
            <a:off x="3851650" y="9432321"/>
            <a:ext cx="2946093" cy="495952"/>
          </a:xfrm>
          <a:prstGeom prst="rect">
            <a:avLst/>
          </a:prstGeom>
          <a:noFill/>
          <a:ln>
            <a:noFill/>
          </a:ln>
        </p:spPr>
        <p:txBody>
          <a:bodyPr spcFirstLastPara="1" wrap="square" lIns="88200" tIns="44100" rIns="88200" bIns="44100" anchor="b" anchorCtr="0">
            <a:noAutofit/>
          </a:bodyPr>
          <a:lstStyle/>
          <a:p>
            <a:pPr marL="0" lvl="0" indent="0" algn="r" rtl="0">
              <a:spcBef>
                <a:spcPts val="0"/>
              </a:spcBef>
              <a:spcAft>
                <a:spcPts val="0"/>
              </a:spcAft>
              <a:buNone/>
            </a:pPr>
            <a:fld id="{00000000-1234-1234-1234-123412341234}" type="slidenum">
              <a:rPr lang="en-US" altLang="ja-JP" sz="1300" b="0" i="0" u="none" strike="noStrike" cap="none">
                <a:solidFill>
                  <a:schemeClr val="dk1"/>
                </a:solidFill>
                <a:latin typeface="Calibri"/>
                <a:ea typeface="Calibri"/>
                <a:cs typeface="Calibri"/>
                <a:sym typeface="Calibri"/>
              </a:rPr>
              <a:t>1</a:t>
            </a:fld>
            <a:endParaRPr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2: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2" name="Google Shape;32;p2:notes"/>
          <p:cNvSpPr>
            <a:spLocks noGrp="1" noRot="1" noChangeAspect="1"/>
          </p:cNvSpPr>
          <p:nvPr>
            <p:ph type="sldImg" idx="2"/>
          </p:nvPr>
        </p:nvSpPr>
        <p:spPr>
          <a:xfrm>
            <a:off x="981075" y="1243013"/>
            <a:ext cx="48450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3:notes"/>
          <p:cNvSpPr txBox="1">
            <a:spLocks noGrp="1"/>
          </p:cNvSpPr>
          <p:nvPr>
            <p:ph type="body" idx="1"/>
          </p:nvPr>
        </p:nvSpPr>
        <p:spPr>
          <a:xfrm>
            <a:off x="680686" y="4716161"/>
            <a:ext cx="5439410" cy="4468185"/>
          </a:xfrm>
          <a:prstGeom prst="rect">
            <a:avLst/>
          </a:prstGeom>
        </p:spPr>
        <p:txBody>
          <a:bodyPr spcFirstLastPara="1" wrap="square" lIns="88200" tIns="44100" rIns="88200" bIns="44100" anchor="t" anchorCtr="0">
            <a:noAutofit/>
          </a:bodyPr>
          <a:lstStyle/>
          <a:p>
            <a:pPr marL="0" lvl="0" indent="0" algn="l" rtl="0">
              <a:spcBef>
                <a:spcPts val="0"/>
              </a:spcBef>
              <a:spcAft>
                <a:spcPts val="0"/>
              </a:spcAft>
              <a:buNone/>
            </a:pPr>
            <a:endParaRPr dirty="0"/>
          </a:p>
        </p:txBody>
      </p:sp>
      <p:sp>
        <p:nvSpPr>
          <p:cNvPr id="38" name="Google Shape;38;p3:notes"/>
          <p:cNvSpPr>
            <a:spLocks noGrp="1" noRot="1" noChangeAspect="1"/>
          </p:cNvSpPr>
          <p:nvPr>
            <p:ph type="sldImg" idx="2"/>
          </p:nvPr>
        </p:nvSpPr>
        <p:spPr>
          <a:xfrm>
            <a:off x="711200" y="744538"/>
            <a:ext cx="5376863"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altLang="ja-JP" sz="1200" b="0" i="0" u="none" strike="noStrike" cap="none" smtClean="0">
                <a:solidFill>
                  <a:schemeClr val="dk1"/>
                </a:solidFill>
                <a:latin typeface="Calibri"/>
                <a:ea typeface="Calibri"/>
                <a:cs typeface="Calibri"/>
                <a:sym typeface="Calibri"/>
              </a:rPr>
              <a:t>8</a:t>
            </a:fld>
            <a:endParaRPr lang="ja-JP" alt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5584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3:notes"/>
          <p:cNvSpPr txBox="1">
            <a:spLocks noGrp="1"/>
          </p:cNvSpPr>
          <p:nvPr>
            <p:ph type="body" idx="1"/>
          </p:nvPr>
        </p:nvSpPr>
        <p:spPr>
          <a:xfrm>
            <a:off x="680686" y="4716161"/>
            <a:ext cx="5439410" cy="4468185"/>
          </a:xfrm>
          <a:prstGeom prst="rect">
            <a:avLst/>
          </a:prstGeom>
        </p:spPr>
        <p:txBody>
          <a:bodyPr spcFirstLastPara="1" wrap="square" lIns="88200" tIns="44100" rIns="88200" bIns="44100" anchor="t" anchorCtr="0">
            <a:noAutofit/>
          </a:bodyPr>
          <a:lstStyle/>
          <a:p>
            <a:pPr marL="0" lvl="0" indent="0" algn="l" rtl="0">
              <a:spcBef>
                <a:spcPts val="0"/>
              </a:spcBef>
              <a:spcAft>
                <a:spcPts val="0"/>
              </a:spcAft>
              <a:buNone/>
            </a:pPr>
            <a:endParaRPr dirty="0"/>
          </a:p>
        </p:txBody>
      </p:sp>
      <p:sp>
        <p:nvSpPr>
          <p:cNvPr id="38" name="Google Shape;38;p3:notes"/>
          <p:cNvSpPr>
            <a:spLocks noGrp="1" noRot="1" noChangeAspect="1"/>
          </p:cNvSpPr>
          <p:nvPr>
            <p:ph type="sldImg" idx="2"/>
          </p:nvPr>
        </p:nvSpPr>
        <p:spPr>
          <a:xfrm>
            <a:off x="711200" y="744538"/>
            <a:ext cx="5376863"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タイトル スライド">
  <p:cSld name="1_タイトル スライド">
    <p:spTree>
      <p:nvGrpSpPr>
        <p:cNvPr id="1"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4_タイトルとコンテンツ">
  <p:cSld name="4_タイトルとコンテンツ">
    <p:spTree>
      <p:nvGrpSpPr>
        <p:cNvPr id="1" name="Shape 17"/>
        <p:cNvGrpSpPr/>
        <p:nvPr/>
      </p:nvGrpSpPr>
      <p:grpSpPr>
        <a:xfrm>
          <a:off x="0" y="0"/>
          <a:ext cx="0" cy="0"/>
          <a:chOff x="0" y="0"/>
          <a:chExt cx="0" cy="0"/>
        </a:xfrm>
      </p:grpSpPr>
      <p:sp>
        <p:nvSpPr>
          <p:cNvPr id="18" name="Google Shape;18;p14"/>
          <p:cNvSpPr/>
          <p:nvPr/>
        </p:nvSpPr>
        <p:spPr>
          <a:xfrm>
            <a:off x="0" y="0"/>
            <a:ext cx="451204" cy="548680"/>
          </a:xfrm>
          <a:prstGeom prst="rect">
            <a:avLst/>
          </a:prstGeom>
          <a:solidFill>
            <a:srgbClr val="191F5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p:txBody>
      </p:sp>
      <p:cxnSp>
        <p:nvCxnSpPr>
          <p:cNvPr id="19" name="Google Shape;19;p14"/>
          <p:cNvCxnSpPr/>
          <p:nvPr/>
        </p:nvCxnSpPr>
        <p:spPr>
          <a:xfrm>
            <a:off x="0" y="548680"/>
            <a:ext cx="9906000" cy="0"/>
          </a:xfrm>
          <a:prstGeom prst="straightConnector1">
            <a:avLst/>
          </a:prstGeom>
          <a:noFill/>
          <a:ln w="25400" cap="flat" cmpd="sng">
            <a:solidFill>
              <a:srgbClr val="191F54"/>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p:nvPr/>
        </p:nvSpPr>
        <p:spPr>
          <a:xfrm>
            <a:off x="0" y="6552728"/>
            <a:ext cx="9906000" cy="332656"/>
          </a:xfrm>
          <a:prstGeom prst="rect">
            <a:avLst/>
          </a:prstGeom>
          <a:solidFill>
            <a:srgbClr val="191F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p12"/>
          <p:cNvSpPr txBox="1"/>
          <p:nvPr/>
        </p:nvSpPr>
        <p:spPr>
          <a:xfrm>
            <a:off x="116569" y="6597932"/>
            <a:ext cx="366630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800" b="1" i="0" u="none" strike="noStrike" cap="none">
                <a:solidFill>
                  <a:schemeClr val="lt1"/>
                </a:solidFill>
                <a:latin typeface="Arial"/>
                <a:ea typeface="Arial"/>
                <a:cs typeface="Arial"/>
                <a:sym typeface="Arial"/>
              </a:rPr>
              <a:t>Copyright(c) 2025 DYM inc. All Rights Reserved.</a:t>
            </a:r>
            <a:endParaRPr/>
          </a:p>
        </p:txBody>
      </p:sp>
      <p:sp>
        <p:nvSpPr>
          <p:cNvPr id="12" name="Google Shape;12;p12"/>
          <p:cNvSpPr/>
          <p:nvPr/>
        </p:nvSpPr>
        <p:spPr>
          <a:xfrm>
            <a:off x="0" y="0"/>
            <a:ext cx="416496" cy="548680"/>
          </a:xfrm>
          <a:prstGeom prst="rect">
            <a:avLst/>
          </a:prstGeom>
          <a:solidFill>
            <a:srgbClr val="191F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3" name="Google Shape;13;p12"/>
          <p:cNvCxnSpPr/>
          <p:nvPr/>
        </p:nvCxnSpPr>
        <p:spPr>
          <a:xfrm>
            <a:off x="0" y="548680"/>
            <a:ext cx="9906000" cy="0"/>
          </a:xfrm>
          <a:prstGeom prst="straightConnector1">
            <a:avLst/>
          </a:prstGeom>
          <a:noFill/>
          <a:ln w="25400" cap="flat" cmpd="sng">
            <a:solidFill>
              <a:srgbClr val="00324B"/>
            </a:solidFill>
            <a:prstDash val="solid"/>
            <a:round/>
            <a:headEnd type="none" w="sm" len="sm"/>
            <a:tailEnd type="none" w="sm" len="sm"/>
          </a:ln>
        </p:spPr>
      </p:cxnSp>
      <p:pic>
        <p:nvPicPr>
          <p:cNvPr id="14" name="Google Shape;14;p12"/>
          <p:cNvPicPr preferRelativeResize="0"/>
          <p:nvPr/>
        </p:nvPicPr>
        <p:blipFill rotWithShape="1">
          <a:blip r:embed="rId4">
            <a:alphaModFix/>
          </a:blip>
          <a:srcRect l="-1647" r="-11171"/>
          <a:stretch/>
        </p:blipFill>
        <p:spPr>
          <a:xfrm>
            <a:off x="8619408" y="161057"/>
            <a:ext cx="1192729" cy="263314"/>
          </a:xfrm>
          <a:prstGeom prst="rect">
            <a:avLst/>
          </a:prstGeom>
          <a:noFill/>
          <a:ln>
            <a:noFill/>
          </a:ln>
        </p:spPr>
      </p:pic>
      <p:sp>
        <p:nvSpPr>
          <p:cNvPr id="15" name="Google Shape;15;p12"/>
          <p:cNvSpPr txBox="1"/>
          <p:nvPr/>
        </p:nvSpPr>
        <p:spPr>
          <a:xfrm>
            <a:off x="7545288" y="6571255"/>
            <a:ext cx="2133600" cy="216000"/>
          </a:xfrm>
          <a:prstGeom prst="rect">
            <a:avLst/>
          </a:prstGeom>
          <a:noFill/>
          <a:ln>
            <a:noFill/>
          </a:ln>
        </p:spPr>
        <p:txBody>
          <a:bodyPr spcFirstLastPara="1" wrap="square" lIns="91425" tIns="25200" rIns="91425" bIns="45700" anchor="t" anchorCtr="0">
            <a:noAutofit/>
          </a:bodyPr>
          <a:lstStyle/>
          <a:p>
            <a:pPr marL="0" marR="0" lvl="0" indent="0" algn="r" rtl="0">
              <a:spcBef>
                <a:spcPts val="0"/>
              </a:spcBef>
              <a:spcAft>
                <a:spcPts val="0"/>
              </a:spcAft>
              <a:buNone/>
            </a:pPr>
            <a:fld id="{00000000-1234-1234-1234-123412341234}" type="slidenum">
              <a:rPr lang="ja-JP" sz="1400" b="0" i="1" u="none" strike="noStrike" cap="none">
                <a:solidFill>
                  <a:schemeClr val="lt1"/>
                </a:solidFill>
                <a:latin typeface="Century Gothic"/>
                <a:ea typeface="Century Gothic"/>
                <a:cs typeface="Century Gothic"/>
                <a:sym typeface="Century Gothic"/>
              </a:rPr>
              <a:t>‹#›</a:t>
            </a:fld>
            <a:endParaRPr sz="1400" b="0" i="1" u="none" strike="noStrike" cap="none">
              <a:solidFill>
                <a:schemeClr val="lt1"/>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diagramData" Target="../diagrams/data1.xml"/><Relationship Id="rId6" Type="http://schemas.openxmlformats.org/officeDocument/2006/relationships/diagramLayout" Target="../diagrams/layout1.xml"/><Relationship Id="rId7" Type="http://schemas.openxmlformats.org/officeDocument/2006/relationships/diagramQuickStyle" Target="../diagrams/quickStyle1.xml"/><Relationship Id="rId8" Type="http://schemas.openxmlformats.org/officeDocument/2006/relationships/diagramColors" Target="../diagrams/colors1.xml"/><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8" Type="http://schemas.openxmlformats.org/officeDocument/2006/relationships/diagramData" Target="../diagrams/data6.xml"/><Relationship Id="rId9" Type="http://schemas.openxmlformats.org/officeDocument/2006/relationships/diagramLayout" Target="../diagrams/layout6.xml"/><Relationship Id="rId10" Type="http://schemas.openxmlformats.org/officeDocument/2006/relationships/diagramQuickStyle" Target="../diagrams/quickStyle6.xml"/><Relationship Id="rId11" Type="http://schemas.openxmlformats.org/officeDocument/2006/relationships/diagramColors" Target="../diagrams/colors6.xml"/><Relationship Id="rId12" Type="http://schemas.microsoft.com/office/2007/relationships/diagramDrawing" Target="../diagrams/drawing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diagramData" Target="../diagrams/data7.xml"/><Relationship Id="rId6" Type="http://schemas.openxmlformats.org/officeDocument/2006/relationships/diagramLayout" Target="../diagrams/layout7.xml"/><Relationship Id="rId7" Type="http://schemas.openxmlformats.org/officeDocument/2006/relationships/diagramQuickStyle" Target="../diagrams/quickStyle7.xml"/><Relationship Id="rId8" Type="http://schemas.openxmlformats.org/officeDocument/2006/relationships/diagramColors" Target="../diagrams/colors7.xml"/><Relationship Id="rId9" Type="http://schemas.microsoft.com/office/2007/relationships/diagramDrawing" Target="../diagrams/drawing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diagramData" Target="../diagrams/data9.xml"/><Relationship Id="rId5" Type="http://schemas.openxmlformats.org/officeDocument/2006/relationships/diagramLayout" Target="../diagrams/layout9.xml"/><Relationship Id="rId6" Type="http://schemas.openxmlformats.org/officeDocument/2006/relationships/diagramQuickStyle" Target="../diagrams/quickStyle9.xml"/><Relationship Id="rId7" Type="http://schemas.openxmlformats.org/officeDocument/2006/relationships/diagramColors" Target="../diagrams/colors9.xml"/><Relationship Id="rId8" Type="http://schemas.microsoft.com/office/2007/relationships/diagramDrawing" Target="../diagrams/drawing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10.xml"/><Relationship Id="rId4" Type="http://schemas.openxmlformats.org/officeDocument/2006/relationships/diagramLayout" Target="../diagrams/layout10.xml"/><Relationship Id="rId5" Type="http://schemas.openxmlformats.org/officeDocument/2006/relationships/diagramQuickStyle" Target="../diagrams/quickStyle10.xml"/><Relationship Id="rId6" Type="http://schemas.openxmlformats.org/officeDocument/2006/relationships/diagramColors" Target="../diagrams/colors10.xml"/><Relationship Id="rId7" Type="http://schemas.microsoft.com/office/2007/relationships/diagramDrawing" Target="../diagrams/drawing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diagramData" Target="../diagrams/data11.xml"/><Relationship Id="rId4" Type="http://schemas.openxmlformats.org/officeDocument/2006/relationships/diagramLayout" Target="../diagrams/layout11.xml"/><Relationship Id="rId5" Type="http://schemas.openxmlformats.org/officeDocument/2006/relationships/diagramQuickStyle" Target="../diagrams/quickStyle11.xml"/><Relationship Id="rId6" Type="http://schemas.openxmlformats.org/officeDocument/2006/relationships/diagramColors" Target="../diagrams/colors11.xml"/><Relationship Id="rId7" Type="http://schemas.microsoft.com/office/2007/relationships/diagramDrawing" Target="../diagrams/drawin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26" name="Google Shape;26;p1"/>
          <p:cNvSpPr/>
          <p:nvPr/>
        </p:nvSpPr>
        <p:spPr>
          <a:xfrm>
            <a:off x="0" y="0"/>
            <a:ext cx="9906000" cy="8367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7" name="Google Shape;27;p1"/>
          <p:cNvPicPr preferRelativeResize="0"/>
          <p:nvPr/>
        </p:nvPicPr>
        <p:blipFill rotWithShape="1">
          <a:blip r:embed="rId3">
            <a:alphaModFix/>
          </a:blip>
          <a:srcRect l="-1647" r="-11171"/>
          <a:stretch/>
        </p:blipFill>
        <p:spPr>
          <a:xfrm>
            <a:off x="8619408" y="188641"/>
            <a:ext cx="1192729" cy="243605"/>
          </a:xfrm>
          <a:prstGeom prst="rect">
            <a:avLst/>
          </a:prstGeom>
          <a:noFill/>
          <a:ln>
            <a:noFill/>
          </a:ln>
        </p:spPr>
      </p:pic>
      <p:sp>
        <p:nvSpPr>
          <p:cNvPr id="28" name="Google Shape;28;p1"/>
          <p:cNvSpPr/>
          <p:nvPr/>
        </p:nvSpPr>
        <p:spPr>
          <a:xfrm>
            <a:off x="1026684" y="3645024"/>
            <a:ext cx="7873109" cy="45719"/>
          </a:xfrm>
          <a:prstGeom prst="rect">
            <a:avLst/>
          </a:prstGeom>
          <a:solidFill>
            <a:srgbClr val="1513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
        <p:nvSpPr>
          <p:cNvPr id="29" name="Google Shape;29;p1"/>
          <p:cNvSpPr/>
          <p:nvPr/>
        </p:nvSpPr>
        <p:spPr>
          <a:xfrm>
            <a:off x="781200" y="3044550"/>
            <a:ext cx="83436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3600" b="1" i="0" u="none" strike="noStrike" cap="none" dirty="0">
                <a:solidFill>
                  <a:srgbClr val="0F243E"/>
                </a:solidFill>
                <a:latin typeface="メイリオ" panose="020B0604030504040204" pitchFamily="50" charset="-128"/>
                <a:ea typeface="Meiryo UI" panose="020B0604030504040204" pitchFamily="50" charset="-128"/>
                <a:sym typeface="Arial"/>
              </a:rPr>
              <a:t>2026年9月　LINEOAトレンドレポート　</a:t>
            </a:r>
            <a:endParaRPr sz="2000" b="1" i="0" u="none" strike="noStrike" cap="none" dirty="0">
              <a:solidFill>
                <a:srgbClr val="0F243E"/>
              </a:solidFill>
              <a:latin typeface="Meiryo UI" panose="020B0604030504040204" pitchFamily="50" charset="-128"/>
              <a:ea typeface="Meiryo UI" panose="020B0604030504040204" pitchFamily="50" charset="-128"/>
              <a:sym typeface="Arial"/>
            </a:endParaRPr>
          </a:p>
        </p:txBody>
      </p:sp>
      <p:sp>
        <p:nvSpPr>
          <p:cNvPr id="5" name="テキスト ボックス 4">
            <a:extLst>
              <a:ext uri="{FF2B5EF4-FFF2-40B4-BE49-F238E27FC236}">
                <a16:creationId xmlns:a16="http://schemas.microsoft.com/office/drawing/2014/main" id="{021A1D84-934B-A0D5-B787-4B2E5A619797}"/>
              </a:ext>
            </a:extLst>
          </p:cNvPr>
          <p:cNvSpPr txBox="1"/>
          <p:nvPr/>
        </p:nvSpPr>
        <p:spPr>
          <a:xfrm>
            <a:off x="4038600" y="4461933"/>
            <a:ext cx="184731" cy="307777"/>
          </a:xfrm>
          <a:prstGeom prst="rect">
            <a:avLst/>
          </a:prstGeom>
          <a:noFill/>
        </p:spPr>
        <p:txBody>
          <a:bodyPr wrap="none" rtlCol="0">
            <a:spAutoFit/>
          </a:bodyPr>
          <a:lstStyle/>
          <a:p>
            <a:endParaRPr kumimoji="1"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1034" name="Google Shape;34;p2_page"/>
          <p:cNvSpPr txBox="1"/>
          <p:nvPr/>
        </p:nvSpPr>
        <p:spPr>
          <a:xfrm>
            <a:off x="318183" y="1483585"/>
            <a:ext cx="1005840" cy="3136413"/>
          </a:xfrm>
          <a:prstGeom prst="rect">
            <a:avLst/>
          </a:prstGeom>
          <a:noFill/>
          <a:ln>
            <a:noFill/>
          </a:ln>
        </p:spPr>
        <p:txBody>
          <a:bodyPr spcFirstLastPara="1" wrap="square" lIns="91425" tIns="90000" rIns="91425" bIns="90000" anchor="t" anchorCtr="0">
            <a:spAutoFit/>
          </a:bodyPr>
          <a:lstStyle/>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P.3</a:t>
            </a:r>
            <a:endParaRPr sz="1600" dirty="0">
              <a:latin typeface="Meiryo UI" panose="020B0604030504040204" pitchFamily="50" charset="-128"/>
              <a:ea typeface="Meiryo UI" panose="020B0604030504040204" pitchFamily="50" charset="-128"/>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P.4</a:t>
            </a:r>
            <a:endParaRPr sz="1600" dirty="0">
              <a:latin typeface="Meiryo UI" panose="020B0604030504040204" pitchFamily="50" charset="-128"/>
              <a:ea typeface="Meiryo UI" panose="020B0604030504040204" pitchFamily="50" charset="-128"/>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P.5-6</a:t>
            </a:r>
            <a:endParaRPr sz="1600" b="1" i="0" u="none" strike="noStrike" cap="none" dirty="0">
              <a:solidFill>
                <a:schemeClr val="dk1"/>
              </a:solidFill>
              <a:latin typeface="Meiryo UI" panose="020B0604030504040204" pitchFamily="50" charset="-128"/>
              <a:ea typeface="Meiryo UI" panose="020B0604030504040204" pitchFamily="50" charset="-128"/>
              <a:cs typeface="Meiryo"/>
              <a:sym typeface="Meiryo"/>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P.7</a:t>
            </a:r>
            <a:endParaRPr sz="1600" b="1" i="0" u="none" strike="noStrike" cap="none" dirty="0">
              <a:solidFill>
                <a:schemeClr val="dk1"/>
              </a:solidFill>
              <a:latin typeface="Meiryo UI" panose="020B0604030504040204" pitchFamily="50" charset="-128"/>
              <a:ea typeface="Meiryo UI" panose="020B0604030504040204" pitchFamily="50" charset="-128"/>
              <a:cs typeface="Meiryo"/>
              <a:sym typeface="Meiryo"/>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P.8-10</a:t>
            </a:r>
            <a:endParaRPr sz="1600" b="1" i="0" u="none" strike="noStrike" cap="none" dirty="0">
              <a:solidFill>
                <a:schemeClr val="dk1"/>
              </a:solidFill>
              <a:latin typeface="Meiryo UI" panose="020B0604030504040204" pitchFamily="50" charset="-128"/>
              <a:ea typeface="Meiryo UI" panose="020B0604030504040204" pitchFamily="50" charset="-128"/>
              <a:cs typeface="Meiryo"/>
              <a:sym typeface="Meiryo"/>
            </a:endParaRPr>
          </a:p>
        </p:txBody>
      </p:sp>
      <p:sp>
        <p:nvSpPr>
          <p:cNvPr id="34" name="Google Shape;34;p2"/>
          <p:cNvSpPr txBox="1"/>
          <p:nvPr/>
        </p:nvSpPr>
        <p:spPr>
          <a:xfrm>
            <a:off x="1461183" y="1483585"/>
            <a:ext cx="8155331" cy="3136413"/>
          </a:xfrm>
          <a:prstGeom prst="rect">
            <a:avLst/>
          </a:prstGeom>
          <a:noFill/>
          <a:ln>
            <a:noFill/>
          </a:ln>
        </p:spPr>
        <p:txBody>
          <a:bodyPr spcFirstLastPara="1" wrap="square" lIns="91425" tIns="90000" rIns="91425" bIns="90000" anchor="t" anchorCtr="0">
            <a:spAutoFit/>
          </a:bodyPr>
          <a:lstStyle/>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【LINEミニアプリ】お気に入り追加促進機能のご案内</a:t>
            </a:r>
            <a:endParaRPr sz="1600" dirty="0">
              <a:latin typeface="Meiryo UI" panose="020B0604030504040204" pitchFamily="50" charset="-128"/>
              <a:ea typeface="Meiryo UI" panose="020B0604030504040204" pitchFamily="50" charset="-128"/>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【LINE公式アカウント】「分析」データ参照期間 過去36カ月への変更</a:t>
            </a:r>
            <a:endParaRPr sz="1600" dirty="0">
              <a:latin typeface="Meiryo UI" panose="020B0604030504040204" pitchFamily="50" charset="-128"/>
              <a:ea typeface="Meiryo UI" panose="020B0604030504040204" pitchFamily="50" charset="-128"/>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【LINEプロモーションスタンプ】アップデート内容・インパクト</a:t>
            </a:r>
            <a:endParaRPr sz="1600" b="1" i="0" u="none" strike="noStrike" cap="none" dirty="0">
              <a:solidFill>
                <a:schemeClr val="dk1"/>
              </a:solidFill>
              <a:latin typeface="Meiryo UI" panose="020B0604030504040204" pitchFamily="50" charset="-128"/>
              <a:ea typeface="Meiryo UI" panose="020B0604030504040204" pitchFamily="50" charset="-128"/>
              <a:cs typeface="Meiryo"/>
              <a:sym typeface="Meiryo"/>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【LINEミニアプリ】友だち追加オプションの複数アカウント対応</a:t>
            </a:r>
            <a:endParaRPr sz="1600" b="1" i="0" u="none" strike="noStrike" cap="none" dirty="0">
              <a:solidFill>
                <a:schemeClr val="dk1"/>
              </a:solidFill>
              <a:latin typeface="Meiryo UI" panose="020B0604030504040204" pitchFamily="50" charset="-128"/>
              <a:ea typeface="Meiryo UI" panose="020B0604030504040204" pitchFamily="50" charset="-128"/>
              <a:cs typeface="Meiryo"/>
              <a:sym typeface="Meiryo"/>
            </a:endParaRPr>
          </a:p>
          <a:p>
            <a:pPr marL="0" marR="0" lvl="0" indent="0" algn="l" rtl="0">
              <a:lnSpc>
                <a:spcPct val="200000"/>
              </a:lnSpc>
              <a:spcBef>
                <a:spcPts val="0"/>
              </a:spcBef>
              <a:spcAft>
                <a:spcPts val="0"/>
              </a:spcAft>
              <a:buNone/>
            </a:pPr>
            <a:r>
              <a:rPr lang="ja-JP" sz="1600" b="1" i="0" u="none" strike="noStrike" cap="none" dirty="0">
                <a:solidFill>
                  <a:schemeClr val="dk1"/>
                </a:solidFill>
                <a:latin typeface="メイリオ" panose="020B0604030504040204" pitchFamily="50" charset="-128"/>
                <a:ea typeface="Meiryo UI" panose="020B0604030504040204" pitchFamily="50" charset="-128"/>
                <a:cs typeface="Meiryo"/>
                <a:sym typeface="Meiryo"/>
              </a:rPr>
              <a:t>【LINEオープンキャンペーン】特典内容・実施スケジュール・注意点・ご利用条件</a:t>
            </a:r>
            <a:endParaRPr sz="1600" b="1" i="0" u="none" strike="noStrike" cap="none" dirty="0">
              <a:solidFill>
                <a:schemeClr val="dk1"/>
              </a:solidFill>
              <a:latin typeface="Meiryo UI" panose="020B0604030504040204" pitchFamily="50" charset="-128"/>
              <a:ea typeface="Meiryo UI" panose="020B0604030504040204" pitchFamily="50" charset="-128"/>
              <a:cs typeface="Meiryo"/>
              <a:sym typeface="Meiryo"/>
            </a:endParaRPr>
          </a:p>
        </p:txBody>
      </p:sp>
      <p:sp>
        <p:nvSpPr>
          <p:cNvPr id="35" name="Google Shape;35;p2"/>
          <p:cNvSpPr txBox="1"/>
          <p:nvPr/>
        </p:nvSpPr>
        <p:spPr>
          <a:xfrm>
            <a:off x="292801" y="62027"/>
            <a:ext cx="7512385" cy="395848"/>
          </a:xfrm>
          <a:prstGeom prst="rect">
            <a:avLst/>
          </a:prstGeom>
          <a:noFill/>
          <a:ln>
            <a:noFill/>
          </a:ln>
        </p:spPr>
        <p:txBody>
          <a:bodyPr spcFirstLastPara="1" wrap="square" lIns="91425" tIns="720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800" b="1" i="0" u="none" strike="noStrike" cap="none" dirty="0">
                <a:solidFill>
                  <a:srgbClr val="000000"/>
                </a:solidFill>
                <a:latin typeface="メイリオ"/>
                <a:ea typeface="Meiryo"/>
                <a:cs typeface="Meiryo"/>
                <a:sym typeface="Meiryo"/>
              </a:rPr>
              <a:t>    目次</a:t>
            </a:r>
            <a:endParaRPr sz="1800" b="1" i="0" u="none" strike="noStrike" cap="none" dirty="0">
              <a:solidFill>
                <a:srgbClr val="000000"/>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dirty="0">
                <a:solidFill>
                  <a:schemeClr val="dk1"/>
                </a:solidFill>
                <a:latin typeface="メイリオ"/>
                <a:ea typeface="Meiryo"/>
                <a:cs typeface="Meiryo"/>
                <a:sym typeface="Meiryo"/>
              </a:rPr>
              <a:t>全業種</a:t>
            </a:r>
            <a:endParaRPr dirty="0"/>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b="1">
                <a:solidFill>
                  <a:srgbClr val="004DE6"/>
                </a:solidFill>
                <a:latin typeface="メイリオ"/>
                <a:ea typeface="Meiryo"/>
                <a:cs typeface="Meiryo"/>
                <a:sym typeface="Meiryo"/>
              </a:rPr>
              <a:t>【LINEミニアプリ】お気に入り追加促進機能のご案内</a:t>
            </a:r>
            <a:endParaRPr sz="1600" b="1">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dirty="0">
                <a:solidFill>
                  <a:schemeClr val="dk1"/>
                </a:solidFill>
                <a:latin typeface="メイリオ"/>
                <a:ea typeface="Meiryo"/>
                <a:cs typeface="Meiryo"/>
                <a:sym typeface="Meiryo"/>
              </a:rPr>
              <a:t>    今後のアップデート情報</a:t>
            </a:r>
            <a:endParaRPr sz="1600" b="0" u="none" dirty="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chemeClr val="dk1"/>
              </a:solidFill>
              <a:latin typeface="Meiryo"/>
              <a:ea typeface="Meiryo"/>
              <a:cs typeface="Meiryo"/>
              <a:sym typeface="Meiryo"/>
            </a:endParaRPr>
          </a:p>
        </p:txBody>
      </p:sp>
      <p:sp>
        <p:nvSpPr>
          <p:cNvPr id="51" name="Google Shape;51;p3"/>
          <p:cNvSpPr/>
          <p:nvPr/>
        </p:nvSpPr>
        <p:spPr>
          <a:xfrm>
            <a:off x="544108" y="1952015"/>
            <a:ext cx="8817783"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マイミニアプリの「履歴」からアクセス、または7日以内に2日以上アクセスしたユーザーに対し、</a:t>
            </a:r>
            <a:endParaRPr sz="1200" b="1" dirty="0">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ミニアプリを閉じたタイミングでお気に入り追加を促すポップアップが表示される。</a:t>
            </a:r>
            <a:br>
              <a:rPr lang="en-US" altLang="ja-JP" sz="1200" b="1" dirty="0">
                <a:solidFill>
                  <a:schemeClr val="dk1"/>
                </a:solidFill>
                <a:latin typeface="メイリオ"/>
                <a:ea typeface="Meiryo"/>
                <a:cs typeface="Meiryo"/>
                <a:sym typeface="Meiryo"/>
              </a:rPr>
            </a:br>
            <a:r>
              <a:rPr lang="ja-JP" altLang="en-US" sz="1200" b="1" dirty="0">
                <a:solidFill>
                  <a:schemeClr val="dk1"/>
                </a:solidFill>
                <a:latin typeface="メイリオ"/>
                <a:ea typeface="Meiryo"/>
                <a:cs typeface="Meiryo"/>
                <a:sym typeface="Meiryo"/>
              </a:rPr>
              <a:t>そのため、リピート利用の導線強化につながる。</a:t>
            </a:r>
            <a:endParaRPr dirty="0"/>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3">
            <a:alphaModFix/>
          </a:blip>
          <a:srcRect/>
          <a:stretch/>
        </p:blipFill>
        <p:spPr>
          <a:xfrm>
            <a:off x="351381" y="1234746"/>
            <a:ext cx="656177" cy="655521"/>
          </a:xfrm>
          <a:prstGeom prst="rect">
            <a:avLst/>
          </a:prstGeom>
          <a:noFill/>
          <a:ln>
            <a:noFill/>
          </a:ln>
        </p:spPr>
      </p:pic>
      <p:pic>
        <p:nvPicPr>
          <p:cNvPr id="5" name="図 4">
            <a:extLst>
              <a:ext uri="{FF2B5EF4-FFF2-40B4-BE49-F238E27FC236}">
                <a16:creationId xmlns:a16="http://schemas.microsoft.com/office/drawing/2014/main" id="{1E7577C3-0D8A-95E2-CC11-1062F40E583D}"/>
              </a:ext>
            </a:extLst>
          </p:cNvPr>
          <p:cNvPicPr>
            <a:picLocks noChangeAspect="1"/>
          </p:cNvPicPr>
          <p:nvPr/>
        </p:nvPicPr>
        <p:blipFill>
          <a:blip r:embed="rId4"/>
          <a:srcRect r="2306"/>
          <a:stretch>
            <a:fillRect/>
          </a:stretch>
        </p:blipFill>
        <p:spPr>
          <a:xfrm>
            <a:off x="182880" y="2668856"/>
            <a:ext cx="9677513" cy="3883485"/>
          </a:xfrm>
          <a:prstGeom prst="rect">
            <a:avLst/>
          </a:prstGeom>
        </p:spPr>
      </p:pic>
      <p:sp>
        <p:nvSpPr>
          <p:cNvPr id="15" name="正方形/長方形 14">
            <a:extLst>
              <a:ext uri="{FF2B5EF4-FFF2-40B4-BE49-F238E27FC236}">
                <a16:creationId xmlns:a16="http://schemas.microsoft.com/office/drawing/2014/main" id="{778AD0E5-2C7B-71F7-850A-E2EA95049F88}"/>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35C97AE-D6E1-65C9-0D4A-3C1114C439D3}"/>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09869A0B-68BB-AB2B-0537-108F0101AC6D}"/>
              </a:ext>
            </a:extLst>
          </p:cNvPr>
          <p:cNvSpPr/>
          <p:nvPr/>
        </p:nvSpPr>
        <p:spPr>
          <a:xfrm>
            <a:off x="4915470" y="730955"/>
            <a:ext cx="829618" cy="435690"/>
          </a:xfrm>
          <a:prstGeom prst="rect">
            <a:avLst/>
          </a:prstGeom>
          <a:solidFill>
            <a:srgbClr val="C6D9F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graphicFrame>
        <p:nvGraphicFramePr>
          <p:cNvPr id="21" name="図表 20">
            <a:extLst>
              <a:ext uri="{FF2B5EF4-FFF2-40B4-BE49-F238E27FC236}">
                <a16:creationId xmlns:a16="http://schemas.microsoft.com/office/drawing/2014/main" id="{08E3C51D-0F46-ABF4-4A3C-986EC7D9BE74}"/>
              </a:ext>
            </a:extLst>
          </p:cNvPr>
          <p:cNvGraphicFramePr/>
          <p:nvPr>
            <p:extLst>
              <p:ext uri="{D42A27DB-BD31-4B8C-83A1-F6EECF244321}">
                <p14:modId xmlns:p14="http://schemas.microsoft.com/office/powerpoint/2010/main" val="2903241317"/>
              </p:ext>
            </p:extLst>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3" name="正方形/長方形 22">
            <a:extLst>
              <a:ext uri="{FF2B5EF4-FFF2-40B4-BE49-F238E27FC236}">
                <a16:creationId xmlns:a16="http://schemas.microsoft.com/office/drawing/2014/main" id="{570552D1-CEEE-1FF7-B6FF-567A5C93FC80}"/>
              </a:ext>
            </a:extLst>
          </p:cNvPr>
          <p:cNvSpPr/>
          <p:nvPr/>
        </p:nvSpPr>
        <p:spPr>
          <a:xfrm>
            <a:off x="6679050" y="730955"/>
            <a:ext cx="829618" cy="435690"/>
          </a:xfrm>
          <a:prstGeom prst="rect">
            <a:avLst/>
          </a:prstGeom>
          <a:no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全業種</a:t>
            </a:r>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b="1">
                <a:solidFill>
                  <a:srgbClr val="004DE6"/>
                </a:solidFill>
                <a:latin typeface="メイリオ"/>
                <a:ea typeface="Meiryo"/>
                <a:cs typeface="Meiryo"/>
                <a:sym typeface="Meiryo"/>
              </a:rPr>
              <a:t>【LINE公式アカウント】「分析」データ参照期間 過去36カ月への変更</a:t>
            </a:r>
            <a:endParaRPr sz="1600" b="1">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2021348"/>
            <a:ext cx="8817783"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b="1" dirty="0">
                <a:solidFill>
                  <a:schemeClr val="dk1"/>
                </a:solidFill>
                <a:latin typeface="メイリオ"/>
                <a:ea typeface="Meiryo"/>
                <a:cs typeface="Meiryo"/>
                <a:sym typeface="Meiryo"/>
              </a:rPr>
              <a:t>LINE公式アカウントの管理画面「分析」タブで確認できる実績値の参照期間を、過去36カ月までに</a:t>
            </a:r>
            <a:r>
              <a:rPr lang="ja-JP" altLang="en-US" b="1" dirty="0">
                <a:solidFill>
                  <a:schemeClr val="dk1"/>
                </a:solidFill>
                <a:latin typeface="メイリオ"/>
                <a:ea typeface="Meiryo"/>
                <a:cs typeface="Meiryo"/>
                <a:sym typeface="Meiryo"/>
              </a:rPr>
              <a:t>変更</a:t>
            </a:r>
            <a:r>
              <a:rPr lang="ja-JP" b="1" dirty="0">
                <a:solidFill>
                  <a:schemeClr val="dk1"/>
                </a:solidFill>
                <a:latin typeface="メイリオ"/>
                <a:ea typeface="Meiryo"/>
                <a:cs typeface="Meiryo"/>
                <a:sym typeface="Meiryo"/>
              </a:rPr>
              <a:t>。</a:t>
            </a:r>
            <a:endParaRPr lang="en-US" altLang="ja-JP" b="1" dirty="0">
              <a:solidFill>
                <a:schemeClr val="dk1"/>
              </a:solidFill>
              <a:latin typeface="メイリオ"/>
              <a:ea typeface="Meiryo"/>
              <a:cs typeface="Meiryo"/>
              <a:sym typeface="Meiryo"/>
            </a:endParaRPr>
          </a:p>
          <a:p>
            <a:pPr marL="0" marR="0" lvl="0" indent="0" algn="ctr" rtl="0">
              <a:spcBef>
                <a:spcPts val="0"/>
              </a:spcBef>
              <a:spcAft>
                <a:spcPts val="0"/>
              </a:spcAft>
              <a:buNone/>
            </a:pPr>
            <a:r>
              <a:rPr lang="ja-JP" altLang="en-US" b="1" dirty="0">
                <a:solidFill>
                  <a:schemeClr val="dk1"/>
                </a:solidFill>
                <a:latin typeface="メイリオ"/>
                <a:ea typeface="Meiryo"/>
                <a:sym typeface="Meiryo"/>
              </a:rPr>
              <a:t>→季節性比較や長期トレンド分析が可能になり、各時期に合わせた配信が可能になる。</a:t>
            </a:r>
            <a:endParaRPr sz="1600" dirty="0"/>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sp>
        <p:nvSpPr>
          <p:cNvPr id="3" name="Google Shape;52;p3">
            <a:extLst>
              <a:ext uri="{FF2B5EF4-FFF2-40B4-BE49-F238E27FC236}">
                <a16:creationId xmlns:a16="http://schemas.microsoft.com/office/drawing/2014/main" id="{7F52AB45-C569-0EE1-8236-CDB7565D18DF}"/>
              </a:ext>
            </a:extLst>
          </p:cNvPr>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dirty="0">
                <a:solidFill>
                  <a:srgbClr val="15133D"/>
                </a:solidFill>
                <a:latin typeface="メイリオ"/>
                <a:ea typeface="Meiryo"/>
                <a:cs typeface="Meiryo"/>
                <a:sym typeface="Meiryo"/>
              </a:rPr>
              <a:t>■ 詳細</a:t>
            </a:r>
            <a:endParaRPr dirty="0"/>
          </a:p>
        </p:txBody>
      </p:sp>
      <p:graphicFrame>
        <p:nvGraphicFramePr>
          <p:cNvPr id="5" name="Table 62">
            <a:extLst>
              <a:ext uri="{FF2B5EF4-FFF2-40B4-BE49-F238E27FC236}">
                <a16:creationId xmlns:a16="http://schemas.microsoft.com/office/drawing/2014/main" id="{9EBF385C-FF7F-11CE-7311-F8AB67ECADB8}"/>
              </a:ext>
            </a:extLst>
          </p:cNvPr>
          <p:cNvGraphicFramePr>
            <a:graphicFrameLocks noGrp="1"/>
          </p:cNvGraphicFramePr>
          <p:nvPr>
            <p:extLst>
              <p:ext uri="{D42A27DB-BD31-4B8C-83A1-F6EECF244321}">
                <p14:modId xmlns:p14="http://schemas.microsoft.com/office/powerpoint/2010/main" val="3431321320"/>
              </p:ext>
            </p:extLst>
          </p:nvPr>
        </p:nvGraphicFramePr>
        <p:xfrm>
          <a:off x="436158" y="3052727"/>
          <a:ext cx="9033681" cy="2417440"/>
        </p:xfrm>
        <a:graphic>
          <a:graphicData uri="http://schemas.openxmlformats.org/drawingml/2006/table">
            <a:tbl>
              <a:tblPr firstRow="1" bandRow="1">
                <a:tableStyleId>{5C22544A-7EE6-4342-B048-85BDC9FD1C3A}</a:tableStyleId>
              </a:tblPr>
              <a:tblGrid>
                <a:gridCol w="2001295">
                  <a:extLst>
                    <a:ext uri="{9D8B030D-6E8A-4147-A177-3AD203B41FA5}">
                      <a16:colId xmlns:a16="http://schemas.microsoft.com/office/drawing/2014/main" val="20000"/>
                    </a:ext>
                  </a:extLst>
                </a:gridCol>
                <a:gridCol w="7032386">
                  <a:extLst>
                    <a:ext uri="{9D8B030D-6E8A-4147-A177-3AD203B41FA5}">
                      <a16:colId xmlns:a16="http://schemas.microsoft.com/office/drawing/2014/main" val="20001"/>
                    </a:ext>
                  </a:extLst>
                </a:gridCol>
              </a:tblGrid>
              <a:tr h="993977">
                <a:tc>
                  <a:txBody>
                    <a:bodyPr/>
                    <a:lstStyle/>
                    <a:p>
                      <a:r>
                        <a:rPr sz="1200" b="1" dirty="0" err="1">
                          <a:solidFill>
                            <a:srgbClr val="FFFFFF"/>
                          </a:solidFill>
                          <a:latin typeface="メイリオ"/>
                        </a:rPr>
                        <a:t>概要・変更点</a:t>
                      </a:r>
                      <a:endParaRPr sz="1200" b="1" dirty="0">
                        <a:solidFill>
                          <a:srgbClr val="FFFFFF"/>
                        </a:solidFill>
                        <a:latin typeface="メイリオ"/>
                      </a:endParaRPr>
                    </a:p>
                  </a:txBody>
                  <a:tcPr marL="73152" marR="45720" anchor="ctr">
                    <a:solidFill>
                      <a:srgbClr val="15133D"/>
                    </a:solidFill>
                  </a:tcPr>
                </a:tc>
                <a:tc>
                  <a:txBody>
                    <a:bodyPr/>
                    <a:lstStyle/>
                    <a:p>
                      <a:pPr>
                        <a:lnSpc>
                          <a:spcPct val="110000"/>
                        </a:lnSpc>
                        <a:spcAft>
                          <a:spcPts val="200"/>
                        </a:spcAft>
                      </a:pPr>
                      <a:r>
                        <a:rPr sz="1200" dirty="0">
                          <a:solidFill>
                            <a:srgbClr val="333333"/>
                          </a:solidFill>
                          <a:latin typeface="メイリオ"/>
                        </a:rPr>
                        <a:t>・</a:t>
                      </a:r>
                      <a:r>
                        <a:rPr sz="1200" dirty="0" err="1">
                          <a:solidFill>
                            <a:srgbClr val="333333"/>
                          </a:solidFill>
                          <a:latin typeface="メイリオ"/>
                        </a:rPr>
                        <a:t>Web版管理画面／管理アプリの「分析」タブで確認できる実績値の参照期間を</a:t>
                      </a:r>
                      <a:r>
                        <a:rPr lang="ja-JP" altLang="en-US" sz="1200" dirty="0">
                          <a:solidFill>
                            <a:srgbClr val="333333"/>
                          </a:solidFill>
                          <a:latin typeface="メイリオ"/>
                        </a:rPr>
                        <a:t>、</a:t>
                      </a:r>
                      <a:endParaRPr lang="en-US" altLang="ja-JP" sz="1200" dirty="0">
                        <a:solidFill>
                          <a:srgbClr val="333333"/>
                        </a:solidFill>
                        <a:latin typeface="メイリオ"/>
                      </a:endParaRPr>
                    </a:p>
                    <a:p>
                      <a:pPr>
                        <a:lnSpc>
                          <a:spcPct val="110000"/>
                        </a:lnSpc>
                        <a:spcAft>
                          <a:spcPts val="200"/>
                        </a:spcAft>
                      </a:pPr>
                      <a:r>
                        <a:rPr sz="1200" dirty="0">
                          <a:solidFill>
                            <a:srgbClr val="333333"/>
                          </a:solidFill>
                          <a:latin typeface="メイリオ"/>
                        </a:rPr>
                        <a:t>過去36カ月までに変更</a:t>
                      </a:r>
                    </a:p>
                    <a:p>
                      <a:pPr>
                        <a:lnSpc>
                          <a:spcPct val="110000"/>
                        </a:lnSpc>
                        <a:spcAft>
                          <a:spcPts val="200"/>
                        </a:spcAft>
                      </a:pPr>
                      <a:r>
                        <a:rPr sz="1200" dirty="0">
                          <a:solidFill>
                            <a:srgbClr val="333333"/>
                          </a:solidFill>
                          <a:latin typeface="メイリオ"/>
                        </a:rPr>
                        <a:t>・</a:t>
                      </a:r>
                      <a:r>
                        <a:rPr sz="1200" dirty="0" err="1">
                          <a:solidFill>
                            <a:srgbClr val="333333"/>
                          </a:solidFill>
                          <a:latin typeface="メイリオ"/>
                        </a:rPr>
                        <a:t>対象は「分析」タブの実績値のみ。それ以外のデータや作成済みメッセージには影響なし</a:t>
                      </a:r>
                      <a:endParaRPr sz="1200" dirty="0">
                        <a:solidFill>
                          <a:srgbClr val="333333"/>
                        </a:solidFill>
                        <a:latin typeface="メイリオ"/>
                      </a:endParaRPr>
                    </a:p>
                  </a:txBody>
                  <a:tcPr marT="36576" marB="36576" anchor="ctr">
                    <a:solidFill>
                      <a:srgbClr val="FFFFFF"/>
                    </a:solidFill>
                  </a:tcPr>
                </a:tc>
                <a:extLst>
                  <a:ext uri="{0D108BD9-81ED-4DB2-BD59-A6C34878D82A}">
                    <a16:rowId xmlns:a16="http://schemas.microsoft.com/office/drawing/2014/main" val="10000"/>
                  </a:ext>
                </a:extLst>
              </a:tr>
              <a:tr h="498099">
                <a:tc>
                  <a:txBody>
                    <a:bodyPr/>
                    <a:lstStyle/>
                    <a:p>
                      <a:r>
                        <a:rPr sz="1200" b="1" dirty="0" err="1">
                          <a:solidFill>
                            <a:srgbClr val="FFFFFF"/>
                          </a:solidFill>
                          <a:latin typeface="メイリオ"/>
                        </a:rPr>
                        <a:t>スケジュール・導入フロ</a:t>
                      </a:r>
                      <a:r>
                        <a:rPr sz="1200" b="1" dirty="0">
                          <a:solidFill>
                            <a:srgbClr val="FFFFFF"/>
                          </a:solidFill>
                          <a:latin typeface="メイリオ"/>
                        </a:rPr>
                        <a:t>ー</a:t>
                      </a:r>
                    </a:p>
                  </a:txBody>
                  <a:tcPr marL="73152" marR="45720" anchor="ctr">
                    <a:solidFill>
                      <a:srgbClr val="15133D"/>
                    </a:solidFill>
                  </a:tcPr>
                </a:tc>
                <a:tc>
                  <a:txBody>
                    <a:bodyPr/>
                    <a:lstStyle/>
                    <a:p>
                      <a:pPr marL="0" marR="0" lvl="0" indent="0" algn="l" defTabSz="914400" rtl="0" eaLnBrk="1" fontAlgn="auto" latinLnBrk="0" hangingPunct="1">
                        <a:lnSpc>
                          <a:spcPct val="110000"/>
                        </a:lnSpc>
                        <a:spcBef>
                          <a:spcPts val="0"/>
                        </a:spcBef>
                        <a:spcAft>
                          <a:spcPts val="200"/>
                        </a:spcAft>
                        <a:buClr>
                          <a:srgbClr val="000000"/>
                        </a:buClr>
                        <a:buSzTx/>
                        <a:buFont typeface="Arial"/>
                        <a:buNone/>
                        <a:tabLst/>
                        <a:defRPr/>
                      </a:pPr>
                      <a:r>
                        <a:rPr sz="1200" dirty="0">
                          <a:solidFill>
                            <a:srgbClr val="333333"/>
                          </a:solidFill>
                          <a:latin typeface="メイリオ"/>
                        </a:rPr>
                        <a:t>・リリース日：2026年11月頃</a:t>
                      </a:r>
                      <a:r>
                        <a:rPr lang="ja-JP" altLang="en-US" sz="1200" dirty="0">
                          <a:solidFill>
                            <a:srgbClr val="333333"/>
                          </a:solidFill>
                          <a:latin typeface="メイリオ" panose="020B0604030504040204" pitchFamily="50" charset="-128"/>
                          <a:ea typeface="メイリオ" panose="020B0604030504040204" pitchFamily="50" charset="-128"/>
                        </a:rPr>
                        <a:t>（管理画面のお知らせで案内）</a:t>
                      </a:r>
                      <a:endParaRPr lang="en-US" sz="1200" dirty="0">
                        <a:solidFill>
                          <a:srgbClr val="333333"/>
                        </a:solidFill>
                        <a:latin typeface="メイリオ" panose="020B0604030504040204" pitchFamily="50" charset="-128"/>
                        <a:ea typeface="メイリオ" panose="020B0604030504040204" pitchFamily="50" charset="-128"/>
                      </a:endParaRPr>
                    </a:p>
                  </a:txBody>
                  <a:tcPr marT="36576" marB="36576" anchor="ctr">
                    <a:solidFill>
                      <a:srgbClr val="FFFFFF"/>
                    </a:solidFill>
                  </a:tcPr>
                </a:tc>
                <a:extLst>
                  <a:ext uri="{0D108BD9-81ED-4DB2-BD59-A6C34878D82A}">
                    <a16:rowId xmlns:a16="http://schemas.microsoft.com/office/drawing/2014/main" val="10002"/>
                  </a:ext>
                </a:extLst>
              </a:tr>
              <a:tr h="925364">
                <a:tc>
                  <a:txBody>
                    <a:bodyPr/>
                    <a:lstStyle/>
                    <a:p>
                      <a:r>
                        <a:rPr sz="1200" b="1" dirty="0" err="1">
                          <a:solidFill>
                            <a:srgbClr val="FFFFFF"/>
                          </a:solidFill>
                          <a:latin typeface="メイリオ"/>
                        </a:rPr>
                        <a:t>注意点・影響</a:t>
                      </a:r>
                      <a:endParaRPr sz="1200" b="1" dirty="0">
                        <a:solidFill>
                          <a:srgbClr val="FFFFFF"/>
                        </a:solidFill>
                        <a:latin typeface="メイリオ"/>
                      </a:endParaRPr>
                    </a:p>
                  </a:txBody>
                  <a:tcPr marL="73152" marR="45720" anchor="ctr">
                    <a:solidFill>
                      <a:srgbClr val="15133D"/>
                    </a:solidFill>
                  </a:tcPr>
                </a:tc>
                <a:tc>
                  <a:txBody>
                    <a:bodyPr/>
                    <a:lstStyle/>
                    <a:p>
                      <a:pPr>
                        <a:lnSpc>
                          <a:spcPct val="105000"/>
                        </a:lnSpc>
                        <a:spcAft>
                          <a:spcPts val="150"/>
                        </a:spcAft>
                      </a:pPr>
                      <a:r>
                        <a:rPr sz="1200" dirty="0">
                          <a:solidFill>
                            <a:srgbClr val="333333"/>
                          </a:solidFill>
                          <a:latin typeface="メイリオ"/>
                        </a:rPr>
                        <a:t>・36カ月より前の実績データが必要なクライアントには変更前の確認・保存を案内</a:t>
                      </a:r>
                    </a:p>
                    <a:p>
                      <a:pPr>
                        <a:lnSpc>
                          <a:spcPct val="105000"/>
                        </a:lnSpc>
                        <a:spcAft>
                          <a:spcPts val="150"/>
                        </a:spcAft>
                      </a:pPr>
                      <a:r>
                        <a:rPr sz="1200" dirty="0">
                          <a:solidFill>
                            <a:srgbClr val="333333"/>
                          </a:solidFill>
                          <a:latin typeface="メイリオ"/>
                        </a:rPr>
                        <a:t>・「</a:t>
                      </a:r>
                      <a:r>
                        <a:rPr sz="1200" dirty="0" err="1">
                          <a:solidFill>
                            <a:srgbClr val="333333"/>
                          </a:solidFill>
                          <a:latin typeface="メイリオ"/>
                        </a:rPr>
                        <a:t>分析」タブの一部データはダウンロード</a:t>
                      </a:r>
                      <a:endParaRPr lang="en-US" sz="1200" dirty="0">
                        <a:solidFill>
                          <a:srgbClr val="333333"/>
                        </a:solidFill>
                        <a:latin typeface="メイリオ"/>
                      </a:endParaRP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正方形/長方形 6">
            <a:extLst>
              <a:ext uri="{FF2B5EF4-FFF2-40B4-BE49-F238E27FC236}">
                <a16:creationId xmlns:a16="http://schemas.microsoft.com/office/drawing/2014/main" id="{FBC7C0E9-ADF7-4B98-E225-396043E50E52}"/>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ABD8120-C41D-B0B6-4237-7C86082C2F6F}"/>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BD0952C3-F721-46DB-00AB-F834EA652AA3}"/>
              </a:ext>
            </a:extLst>
          </p:cNvPr>
          <p:cNvSpPr/>
          <p:nvPr/>
        </p:nvSpPr>
        <p:spPr>
          <a:xfrm>
            <a:off x="4915470" y="730955"/>
            <a:ext cx="829618" cy="435690"/>
          </a:xfrm>
          <a:prstGeom prst="rect">
            <a:avLst/>
          </a:prstGeom>
          <a:solidFill>
            <a:srgbClr val="C6D9F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graphicFrame>
        <p:nvGraphicFramePr>
          <p:cNvPr id="13" name="図表 12">
            <a:extLst>
              <a:ext uri="{FF2B5EF4-FFF2-40B4-BE49-F238E27FC236}">
                <a16:creationId xmlns:a16="http://schemas.microsoft.com/office/drawing/2014/main" id="{E6499C1C-30DD-CA5B-70B2-675BD90CA94F}"/>
              </a:ext>
            </a:extLst>
          </p:cNvPr>
          <p:cNvGraphicFramePr/>
          <p:nvPr>
            <p:extLst>
              <p:ext uri="{D42A27DB-BD31-4B8C-83A1-F6EECF244321}">
                <p14:modId xmlns:p14="http://schemas.microsoft.com/office/powerpoint/2010/main" val="110758186"/>
              </p:ext>
            </p:extLst>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正方形/長方形 14">
            <a:extLst>
              <a:ext uri="{FF2B5EF4-FFF2-40B4-BE49-F238E27FC236}">
                <a16:creationId xmlns:a16="http://schemas.microsoft.com/office/drawing/2014/main" id="{C17465F8-D1C3-C203-D87E-D31D5922F9F1}"/>
              </a:ext>
            </a:extLst>
          </p:cNvPr>
          <p:cNvSpPr/>
          <p:nvPr/>
        </p:nvSpPr>
        <p:spPr>
          <a:xfrm>
            <a:off x="6679050" y="730955"/>
            <a:ext cx="829618" cy="435690"/>
          </a:xfrm>
          <a:prstGeom prst="rect">
            <a:avLst/>
          </a:prstGeom>
          <a:no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4" name="Google Shape;44;p3"/>
          <p:cNvSpPr txBox="1"/>
          <p:nvPr/>
        </p:nvSpPr>
        <p:spPr>
          <a:xfrm>
            <a:off x="3296816" y="6597352"/>
            <a:ext cx="620909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800" b="0" i="0" u="none" strike="noStrike" cap="none">
                <a:solidFill>
                  <a:schemeClr val="lt1"/>
                </a:solidFill>
                <a:latin typeface="メイリオ"/>
                <a:ea typeface="Meiryo"/>
                <a:cs typeface="Meiryo"/>
                <a:sym typeface="Meiryo"/>
              </a:rPr>
              <a:t>出典：https://workers-hub.box.com/s/rgfhp6hxyusj7domi1irjx68jld23k9r</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b="1" dirty="0">
                <a:solidFill>
                  <a:srgbClr val="004DE6"/>
                </a:solidFill>
                <a:latin typeface="メイリオ"/>
                <a:ea typeface="Meiryo"/>
                <a:cs typeface="Meiryo"/>
                <a:sym typeface="Meiryo"/>
              </a:rPr>
              <a:t>【LINEプロモーションスタンプ】ダウンロード機会拡大のご案内</a:t>
            </a:r>
            <a:endParaRPr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a:solidFill>
                  <a:schemeClr val="dk1"/>
                </a:solidFill>
                <a:latin typeface="メイリオ"/>
                <a:ea typeface="Meiryo"/>
                <a:cs typeface="Meiryo"/>
                <a:sym typeface="Meiryo"/>
              </a:rPr>
              <a:t>LINEキーボードのサジェスト機能で無料スタンプが表示される条件を緩和し、</a:t>
            </a:r>
            <a:endParaRPr sz="1200" b="1">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これまで一部だったユーザー表示が全ユーザーに拡大された。</a:t>
            </a:r>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適用開始は2026年8月28日、DL数は平均+5.63%増加している。</a:t>
            </a:r>
            <a:endParaRPr sz="1400" b="1">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a:solidFill>
                  <a:srgbClr val="15133D"/>
                </a:solidFill>
                <a:latin typeface="メイリオ"/>
                <a:ea typeface="Meiryo"/>
                <a:cs typeface="Meiryo"/>
                <a:sym typeface="Meiryo"/>
              </a:rPr>
              <a:t>■ 詳細</a:t>
            </a:r>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graphicFrame>
        <p:nvGraphicFramePr>
          <p:cNvPr id="63" name="Table 62"/>
          <p:cNvGraphicFramePr>
            <a:graphicFrameLocks noGrp="1"/>
          </p:cNvGraphicFramePr>
          <p:nvPr>
            <p:extLst>
              <p:ext uri="{D42A27DB-BD31-4B8C-83A1-F6EECF244321}">
                <p14:modId xmlns:p14="http://schemas.microsoft.com/office/powerpoint/2010/main" val="1178564674"/>
              </p:ext>
            </p:extLst>
          </p:nvPr>
        </p:nvGraphicFramePr>
        <p:xfrm>
          <a:off x="429808" y="3052727"/>
          <a:ext cx="8387555" cy="2811046"/>
        </p:xfrm>
        <a:graphic>
          <a:graphicData uri="http://schemas.openxmlformats.org/drawingml/2006/table">
            <a:tbl>
              <a:tblPr firstRow="1" bandRow="1">
                <a:tableStyleId>{5C22544A-7EE6-4342-B048-85BDC9FD1C3A}</a:tableStyleId>
              </a:tblPr>
              <a:tblGrid>
                <a:gridCol w="2168211">
                  <a:extLst>
                    <a:ext uri="{9D8B030D-6E8A-4147-A177-3AD203B41FA5}">
                      <a16:colId xmlns:a16="http://schemas.microsoft.com/office/drawing/2014/main" val="20000"/>
                    </a:ext>
                  </a:extLst>
                </a:gridCol>
                <a:gridCol w="6219344">
                  <a:extLst>
                    <a:ext uri="{9D8B030D-6E8A-4147-A177-3AD203B41FA5}">
                      <a16:colId xmlns:a16="http://schemas.microsoft.com/office/drawing/2014/main" val="20001"/>
                    </a:ext>
                  </a:extLst>
                </a:gridCol>
              </a:tblGrid>
              <a:tr h="1290397">
                <a:tc>
                  <a:txBody>
                    <a:bodyPr/>
                    <a:lstStyle/>
                    <a:p>
                      <a:r>
                        <a:rPr sz="1050" b="1" dirty="0" err="1">
                          <a:solidFill>
                            <a:srgbClr val="FFFFFF"/>
                          </a:solidFill>
                          <a:latin typeface="メイリオ"/>
                        </a:rPr>
                        <a:t>概要・変更点</a:t>
                      </a:r>
                      <a:endParaRPr sz="1050" b="1" dirty="0">
                        <a:solidFill>
                          <a:srgbClr val="FFFFFF"/>
                        </a:solidFill>
                        <a:latin typeface="メイリオ"/>
                      </a:endParaRPr>
                    </a:p>
                  </a:txBody>
                  <a:tcPr marL="73152" marR="45720" anchor="ctr">
                    <a:solidFill>
                      <a:srgbClr val="15133D"/>
                    </a:solidFill>
                  </a:tcPr>
                </a:tc>
                <a:tc>
                  <a:txBody>
                    <a:bodyPr/>
                    <a:lstStyle/>
                    <a:p>
                      <a:pPr>
                        <a:lnSpc>
                          <a:spcPct val="105000"/>
                        </a:lnSpc>
                        <a:spcAft>
                          <a:spcPts val="150"/>
                        </a:spcAft>
                      </a:pPr>
                      <a:r>
                        <a:rPr sz="1200" dirty="0">
                          <a:solidFill>
                            <a:srgbClr val="333333"/>
                          </a:solidFill>
                          <a:latin typeface="メイリオ"/>
                        </a:rPr>
                        <a:t>・</a:t>
                      </a:r>
                      <a:r>
                        <a:rPr sz="1200" dirty="0" err="1">
                          <a:solidFill>
                            <a:srgbClr val="333333"/>
                          </a:solidFill>
                          <a:latin typeface="メイリオ"/>
                        </a:rPr>
                        <a:t>サジェスト面（ユーザーの入力内容に応じてスタンプを提案する機能）での</a:t>
                      </a:r>
                      <a:endParaRPr lang="en-US" sz="1200" dirty="0">
                        <a:solidFill>
                          <a:srgbClr val="333333"/>
                        </a:solidFill>
                        <a:latin typeface="メイリオ"/>
                      </a:endParaRPr>
                    </a:p>
                    <a:p>
                      <a:pPr>
                        <a:lnSpc>
                          <a:spcPct val="105000"/>
                        </a:lnSpc>
                        <a:spcAft>
                          <a:spcPts val="150"/>
                        </a:spcAft>
                      </a:pPr>
                      <a:r>
                        <a:rPr sz="1200" dirty="0" err="1">
                          <a:solidFill>
                            <a:srgbClr val="333333"/>
                          </a:solidFill>
                          <a:latin typeface="メイリオ"/>
                        </a:rPr>
                        <a:t>無料スタンプ表示ユーザー条件を緩和</a:t>
                      </a:r>
                      <a:endParaRPr sz="1200" dirty="0">
                        <a:solidFill>
                          <a:srgbClr val="333333"/>
                        </a:solidFill>
                        <a:latin typeface="メイリオ"/>
                      </a:endParaRPr>
                    </a:p>
                    <a:p>
                      <a:pPr>
                        <a:lnSpc>
                          <a:spcPct val="105000"/>
                        </a:lnSpc>
                        <a:spcAft>
                          <a:spcPts val="150"/>
                        </a:spcAft>
                      </a:pPr>
                      <a:r>
                        <a:rPr sz="1200" dirty="0">
                          <a:solidFill>
                            <a:srgbClr val="333333"/>
                          </a:solidFill>
                          <a:latin typeface="メイリオ"/>
                        </a:rPr>
                        <a:t>・</a:t>
                      </a:r>
                      <a:r>
                        <a:rPr sz="1200" dirty="0" err="1">
                          <a:solidFill>
                            <a:srgbClr val="333333"/>
                          </a:solidFill>
                          <a:latin typeface="メイリオ"/>
                        </a:rPr>
                        <a:t>AS-IS：一部のユーザーにのみ表示</a:t>
                      </a:r>
                      <a:r>
                        <a:rPr sz="1200" dirty="0">
                          <a:solidFill>
                            <a:srgbClr val="333333"/>
                          </a:solidFill>
                          <a:latin typeface="メイリオ"/>
                        </a:rPr>
                        <a:t> </a:t>
                      </a:r>
                      <a:endParaRPr lang="en-US" sz="1200" dirty="0">
                        <a:solidFill>
                          <a:srgbClr val="333333"/>
                        </a:solidFill>
                        <a:latin typeface="メイリオ"/>
                      </a:endParaRPr>
                    </a:p>
                    <a:p>
                      <a:pPr>
                        <a:lnSpc>
                          <a:spcPct val="105000"/>
                        </a:lnSpc>
                        <a:spcAft>
                          <a:spcPts val="150"/>
                        </a:spcAft>
                      </a:pPr>
                      <a:r>
                        <a:rPr sz="1200" dirty="0">
                          <a:solidFill>
                            <a:srgbClr val="333333"/>
                          </a:solidFill>
                          <a:latin typeface="メイリオ"/>
                        </a:rPr>
                        <a:t>→ </a:t>
                      </a:r>
                      <a:r>
                        <a:rPr sz="1200" dirty="0" err="1">
                          <a:solidFill>
                            <a:srgbClr val="333333"/>
                          </a:solidFill>
                          <a:latin typeface="メイリオ"/>
                        </a:rPr>
                        <a:t>TO-BE：すべてのユーザーに表示（これまで対象外だった層にもリーチ可能</a:t>
                      </a:r>
                      <a:r>
                        <a:rPr sz="1200" dirty="0">
                          <a:solidFill>
                            <a:srgbClr val="333333"/>
                          </a:solidFill>
                          <a:latin typeface="メイリオ"/>
                        </a:rPr>
                        <a:t>）</a:t>
                      </a:r>
                    </a:p>
                    <a:p>
                      <a:pPr>
                        <a:lnSpc>
                          <a:spcPct val="105000"/>
                        </a:lnSpc>
                        <a:spcAft>
                          <a:spcPts val="150"/>
                        </a:spcAft>
                      </a:pPr>
                      <a:r>
                        <a:rPr sz="1200" dirty="0">
                          <a:solidFill>
                            <a:srgbClr val="333333"/>
                          </a:solidFill>
                          <a:latin typeface="メイリオ"/>
                        </a:rPr>
                        <a:t>・</a:t>
                      </a:r>
                      <a:r>
                        <a:rPr sz="1200" dirty="0" err="1">
                          <a:solidFill>
                            <a:srgbClr val="333333"/>
                          </a:solidFill>
                          <a:latin typeface="メイリオ"/>
                        </a:rPr>
                        <a:t>配信中の案件を含む全案件に自動適用（広告主・案件側の対応は不要</a:t>
                      </a:r>
                      <a:r>
                        <a:rPr sz="1200" dirty="0">
                          <a:solidFill>
                            <a:srgbClr val="333333"/>
                          </a:solidFill>
                          <a:latin typeface="メイリオ"/>
                        </a:rPr>
                        <a:t>）</a:t>
                      </a:r>
                    </a:p>
                  </a:txBody>
                  <a:tcPr marT="36576" marB="36576" anchor="ctr">
                    <a:solidFill>
                      <a:srgbClr val="FFFFFF"/>
                    </a:solidFill>
                  </a:tcPr>
                </a:tc>
                <a:extLst>
                  <a:ext uri="{0D108BD9-81ED-4DB2-BD59-A6C34878D82A}">
                    <a16:rowId xmlns:a16="http://schemas.microsoft.com/office/drawing/2014/main" val="10000"/>
                  </a:ext>
                </a:extLst>
              </a:tr>
              <a:tr h="1520649">
                <a:tc>
                  <a:txBody>
                    <a:bodyPr/>
                    <a:lstStyle/>
                    <a:p>
                      <a:r>
                        <a:rPr sz="1100" b="1" dirty="0" err="1">
                          <a:solidFill>
                            <a:srgbClr val="FFFFFF"/>
                          </a:solidFill>
                          <a:latin typeface="メイリオ"/>
                        </a:rPr>
                        <a:t>注意点・影響</a:t>
                      </a:r>
                      <a:endParaRPr sz="1100" b="1" dirty="0">
                        <a:solidFill>
                          <a:srgbClr val="FFFFFF"/>
                        </a:solidFill>
                        <a:latin typeface="メイリオ"/>
                      </a:endParaRPr>
                    </a:p>
                  </a:txBody>
                  <a:tcPr marL="73152" marR="45720" anchor="ctr">
                    <a:solidFill>
                      <a:srgbClr val="15133D"/>
                    </a:solidFill>
                  </a:tcPr>
                </a:tc>
                <a:tc>
                  <a:txBody>
                    <a:bodyPr/>
                    <a:lstStyle/>
                    <a:p>
                      <a:pPr>
                        <a:lnSpc>
                          <a:spcPct val="100000"/>
                        </a:lnSpc>
                        <a:spcAft>
                          <a:spcPts val="100"/>
                        </a:spcAft>
                      </a:pPr>
                      <a:r>
                        <a:rPr sz="1200" dirty="0">
                          <a:solidFill>
                            <a:srgbClr val="333333"/>
                          </a:solidFill>
                          <a:latin typeface="メイリオ"/>
                        </a:rPr>
                        <a:t>・DL数+5.63%増</a:t>
                      </a:r>
                      <a:br>
                        <a:rPr lang="en-US" sz="1200" dirty="0">
                          <a:solidFill>
                            <a:srgbClr val="333333"/>
                          </a:solidFill>
                          <a:latin typeface="メイリオ"/>
                        </a:rPr>
                      </a:br>
                      <a:r>
                        <a:rPr sz="1200" dirty="0">
                          <a:solidFill>
                            <a:srgbClr val="333333"/>
                          </a:solidFill>
                          <a:latin typeface="メイリオ"/>
                        </a:rPr>
                        <a:t>・サジェスト経由は友だち追加率74.6%・当日ブロック率9.53%（平均約60%・約22%より好水準）</a:t>
                      </a:r>
                    </a:p>
                    <a:p>
                      <a:pPr>
                        <a:lnSpc>
                          <a:spcPct val="100000"/>
                        </a:lnSpc>
                        <a:spcAft>
                          <a:spcPts val="100"/>
                        </a:spcAft>
                      </a:pPr>
                      <a:r>
                        <a:rPr sz="1200" dirty="0">
                          <a:solidFill>
                            <a:srgbClr val="333333"/>
                          </a:solidFill>
                          <a:latin typeface="メイリオ"/>
                        </a:rPr>
                        <a:t>・過去6〜18ヶ月DLなし層で約3.0倍</a:t>
                      </a:r>
                    </a:p>
                    <a:p>
                      <a:pPr>
                        <a:lnSpc>
                          <a:spcPct val="100000"/>
                        </a:lnSpc>
                        <a:spcAft>
                          <a:spcPts val="100"/>
                        </a:spcAft>
                      </a:pPr>
                      <a:r>
                        <a:rPr sz="1200" dirty="0">
                          <a:solidFill>
                            <a:srgbClr val="333333"/>
                          </a:solidFill>
                          <a:latin typeface="メイリオ"/>
                        </a:rPr>
                        <a:t>・</a:t>
                      </a:r>
                      <a:r>
                        <a:rPr sz="1200" dirty="0" err="1">
                          <a:solidFill>
                            <a:srgbClr val="333333"/>
                          </a:solidFill>
                          <a:latin typeface="メイリオ"/>
                        </a:rPr>
                        <a:t>運用中クライアントへの実績報告・追加提案の材料に使える</a:t>
                      </a:r>
                      <a:endParaRPr sz="1200" dirty="0">
                        <a:solidFill>
                          <a:srgbClr val="333333"/>
                        </a:solidFill>
                        <a:latin typeface="メイリオ"/>
                      </a:endParaRP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3" name="正方形/長方形 2">
            <a:extLst>
              <a:ext uri="{FF2B5EF4-FFF2-40B4-BE49-F238E27FC236}">
                <a16:creationId xmlns:a16="http://schemas.microsoft.com/office/drawing/2014/main" id="{BA15A3E1-1B15-2AB4-7BD5-31104F3AF764}"/>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A8B2DD9-FE56-61EE-61D3-B56499FEDF42}"/>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BFE878AF-9155-C011-C36E-3107D1F6B04E}"/>
              </a:ext>
            </a:extLst>
          </p:cNvPr>
          <p:cNvSpPr/>
          <p:nvPr/>
        </p:nvSpPr>
        <p:spPr>
          <a:xfrm>
            <a:off x="4915470" y="730955"/>
            <a:ext cx="829618" cy="435690"/>
          </a:xfrm>
          <a:prstGeom prst="rect">
            <a:avLst/>
          </a:prstGeom>
          <a:solidFill>
            <a:srgbClr val="C6D9F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graphicFrame>
        <p:nvGraphicFramePr>
          <p:cNvPr id="9" name="図表 8">
            <a:extLst>
              <a:ext uri="{FF2B5EF4-FFF2-40B4-BE49-F238E27FC236}">
                <a16:creationId xmlns:a16="http://schemas.microsoft.com/office/drawing/2014/main" id="{070F1D99-B035-C902-8074-181C1632DB64}"/>
              </a:ext>
            </a:extLst>
          </p:cNvPr>
          <p:cNvGraphicFramePr/>
          <p:nvPr>
            <p:extLst>
              <p:ext uri="{D42A27DB-BD31-4B8C-83A1-F6EECF244321}">
                <p14:modId xmlns:p14="http://schemas.microsoft.com/office/powerpoint/2010/main" val="558520007"/>
              </p:ext>
            </p:extLst>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正方形/長方形 10">
            <a:extLst>
              <a:ext uri="{FF2B5EF4-FFF2-40B4-BE49-F238E27FC236}">
                <a16:creationId xmlns:a16="http://schemas.microsoft.com/office/drawing/2014/main" id="{03058F07-2A81-9D7D-4421-E80EB6D98CB7}"/>
              </a:ext>
            </a:extLst>
          </p:cNvPr>
          <p:cNvSpPr/>
          <p:nvPr/>
        </p:nvSpPr>
        <p:spPr>
          <a:xfrm>
            <a:off x="6679050" y="730955"/>
            <a:ext cx="829618" cy="435690"/>
          </a:xfrm>
          <a:prstGeom prst="rect">
            <a:avLst/>
          </a:prstGeom>
          <a:no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13" name="テキスト ボックス 12">
            <a:extLst>
              <a:ext uri="{FF2B5EF4-FFF2-40B4-BE49-F238E27FC236}">
                <a16:creationId xmlns:a16="http://schemas.microsoft.com/office/drawing/2014/main" id="{AC603382-2AAB-8564-CC3B-DF58099DC1DC}"/>
              </a:ext>
            </a:extLst>
          </p:cNvPr>
          <p:cNvSpPr txBox="1"/>
          <p:nvPr/>
        </p:nvSpPr>
        <p:spPr>
          <a:xfrm>
            <a:off x="8473303" y="6597352"/>
            <a:ext cx="1032604" cy="215444"/>
          </a:xfrm>
          <a:prstGeom prst="rect">
            <a:avLst/>
          </a:prstGeom>
          <a:noFill/>
        </p:spPr>
        <p:txBody>
          <a:bodyPr wrap="square">
            <a:spAutoFit/>
          </a:bodyPr>
          <a:lstStyle/>
          <a:p>
            <a:r>
              <a:rPr lang="ja-JP" altLang="en-US" sz="800" dirty="0">
                <a:solidFill>
                  <a:schemeClr val="bg1"/>
                </a:solidFill>
                <a:latin typeface="メイリオ" panose="020B0604030504040204" pitchFamily="50" charset="-128"/>
                <a:ea typeface="メイリオ" panose="020B0604030504040204" pitchFamily="50" charset="-128"/>
              </a:rPr>
              <a:t>出典：代理店情報</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lvl="0"/>
            <a:r>
              <a:rPr lang="en-US" altLang="ja-JP" sz="1600" b="1" dirty="0">
                <a:solidFill>
                  <a:srgbClr val="004DE6"/>
                </a:solidFill>
                <a:latin typeface="メイリオ"/>
                <a:ea typeface="Meiryo"/>
                <a:cs typeface="Meiryo"/>
                <a:sym typeface="Meiryo"/>
              </a:rPr>
              <a:t>【LINE</a:t>
            </a:r>
            <a:r>
              <a:rPr lang="ja-JP" altLang="en-US" sz="1600" b="1" dirty="0">
                <a:solidFill>
                  <a:srgbClr val="004DE6"/>
                </a:solidFill>
                <a:latin typeface="メイリオ"/>
                <a:ea typeface="Meiryo"/>
                <a:cs typeface="Meiryo"/>
                <a:sym typeface="Meiryo"/>
              </a:rPr>
              <a:t>プロモーションスタンプ</a:t>
            </a:r>
            <a:r>
              <a:rPr lang="en-US" altLang="ja-JP" sz="1600" b="1" dirty="0">
                <a:solidFill>
                  <a:srgbClr val="004DE6"/>
                </a:solidFill>
                <a:latin typeface="メイリオ"/>
                <a:ea typeface="Meiryo"/>
                <a:cs typeface="Meiryo"/>
                <a:sym typeface="Meiryo"/>
              </a:rPr>
              <a:t>】</a:t>
            </a:r>
            <a:r>
              <a:rPr lang="ja-JP" altLang="en-US" sz="1600" b="1" dirty="0">
                <a:solidFill>
                  <a:srgbClr val="004DE6"/>
                </a:solidFill>
                <a:latin typeface="メイリオ"/>
                <a:ea typeface="Meiryo"/>
                <a:cs typeface="Meiryo"/>
                <a:sym typeface="Meiryo"/>
              </a:rPr>
              <a:t>ダウンロード機会拡大のご案内</a:t>
            </a:r>
            <a:endParaRPr lang="ja-JP" altLang="en-US"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a:solidFill>
                  <a:schemeClr val="dk1"/>
                </a:solidFill>
                <a:latin typeface="メイリオ"/>
                <a:ea typeface="Meiryo"/>
                <a:cs typeface="Meiryo"/>
                <a:sym typeface="Meiryo"/>
              </a:rPr>
              <a:t>LINEキーボードのサジェスト機能で無料スタンプが表示される条件を緩和し、</a:t>
            </a:r>
            <a:endParaRPr sz="1200" b="1">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これまで一部だったユーザー表示が全ユーザーに拡大された。</a:t>
            </a:r>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適用開始は2026年8月28日、DL数は平均+5.63%増加している。</a:t>
            </a:r>
            <a:endParaRPr sz="1400" b="1">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a:solidFill>
                  <a:srgbClr val="15133D"/>
                </a:solidFill>
                <a:latin typeface="メイリオ"/>
                <a:ea typeface="Meiryo"/>
                <a:cs typeface="Meiryo"/>
                <a:sym typeface="Meiryo"/>
              </a:rPr>
              <a:t>■ 詳細</a:t>
            </a:r>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sp>
        <p:nvSpPr>
          <p:cNvPr id="63" name="Rectangle 62"/>
          <p:cNvSpPr/>
          <p:nvPr/>
        </p:nvSpPr>
        <p:spPr>
          <a:xfrm>
            <a:off x="544108" y="3068960"/>
            <a:ext cx="344115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333333"/>
                </a:solidFill>
                <a:latin typeface="メイリオ"/>
              </a:rPr>
              <a:t>AS-IS</a:t>
            </a:r>
          </a:p>
        </p:txBody>
      </p:sp>
      <p:sp>
        <p:nvSpPr>
          <p:cNvPr id="64" name="Rectangle 63"/>
          <p:cNvSpPr/>
          <p:nvPr/>
        </p:nvSpPr>
        <p:spPr>
          <a:xfrm>
            <a:off x="544108" y="3343280"/>
            <a:ext cx="3441152" cy="640080"/>
          </a:xfrm>
          <a:prstGeom prst="rect">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800" b="1">
                <a:solidFill>
                  <a:srgbClr val="15133D"/>
                </a:solidFill>
                <a:latin typeface="メイリオ"/>
              </a:rPr>
              <a:t>一部のユーザーにのみ表示</a:t>
            </a:r>
          </a:p>
        </p:txBody>
      </p:sp>
      <p:sp>
        <p:nvSpPr>
          <p:cNvPr id="65" name="TextBox 64"/>
          <p:cNvSpPr txBox="1"/>
          <p:nvPr/>
        </p:nvSpPr>
        <p:spPr>
          <a:xfrm>
            <a:off x="3985260" y="3387214"/>
            <a:ext cx="354758" cy="369332"/>
          </a:xfrm>
          <a:prstGeom prst="rect">
            <a:avLst/>
          </a:prstGeom>
          <a:noFill/>
        </p:spPr>
        <p:txBody>
          <a:bodyPr wrap="square" anchor="ctr">
            <a:spAutoFit/>
          </a:bodyPr>
          <a:lstStyle/>
          <a:p>
            <a:pPr algn="ctr"/>
            <a:r>
              <a:rPr sz="1800" b="1">
                <a:solidFill>
                  <a:srgbClr val="3467B2"/>
                </a:solidFill>
                <a:latin typeface="メイリオ"/>
              </a:rPr>
              <a:t>▶</a:t>
            </a:r>
          </a:p>
        </p:txBody>
      </p:sp>
      <p:sp>
        <p:nvSpPr>
          <p:cNvPr id="66" name="Rectangle 65"/>
          <p:cNvSpPr/>
          <p:nvPr/>
        </p:nvSpPr>
        <p:spPr>
          <a:xfrm>
            <a:off x="4520951" y="3071645"/>
            <a:ext cx="3441152" cy="27432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FFFFFF"/>
                </a:solidFill>
                <a:latin typeface="メイリオ"/>
              </a:rPr>
              <a:t>TO-BE</a:t>
            </a:r>
          </a:p>
        </p:txBody>
      </p:sp>
      <p:sp>
        <p:nvSpPr>
          <p:cNvPr id="67" name="Rectangle 66"/>
          <p:cNvSpPr/>
          <p:nvPr/>
        </p:nvSpPr>
        <p:spPr>
          <a:xfrm>
            <a:off x="4520951" y="3345965"/>
            <a:ext cx="3441152" cy="64008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800" b="1" dirty="0" err="1">
                <a:solidFill>
                  <a:srgbClr val="15133D"/>
                </a:solidFill>
                <a:latin typeface="メイリオ"/>
              </a:rPr>
              <a:t>すべてのユーザーに表示</a:t>
            </a:r>
            <a:endParaRPr sz="1800" b="1" dirty="0">
              <a:solidFill>
                <a:srgbClr val="15133D"/>
              </a:solidFill>
              <a:latin typeface="メイリオ"/>
            </a:endParaRPr>
          </a:p>
          <a:p>
            <a:pPr>
              <a:lnSpc>
                <a:spcPct val="110000"/>
              </a:lnSpc>
              <a:spcBef>
                <a:spcPts val="500"/>
              </a:spcBef>
            </a:pPr>
            <a:r>
              <a:rPr sz="1050" dirty="0">
                <a:solidFill>
                  <a:srgbClr val="333333"/>
                </a:solidFill>
                <a:latin typeface="メイリオ"/>
              </a:rPr>
              <a:t>※</a:t>
            </a:r>
            <a:r>
              <a:rPr sz="1050" dirty="0" err="1">
                <a:solidFill>
                  <a:srgbClr val="333333"/>
                </a:solidFill>
                <a:latin typeface="メイリオ"/>
              </a:rPr>
              <a:t>これまで対象外だったユーザーにもリーチ可能</a:t>
            </a:r>
            <a:endParaRPr sz="1050" dirty="0">
              <a:solidFill>
                <a:srgbClr val="333333"/>
              </a:solidFill>
              <a:latin typeface="メイリオ"/>
            </a:endParaRPr>
          </a:p>
        </p:txBody>
      </p:sp>
      <p:sp>
        <p:nvSpPr>
          <p:cNvPr id="68" name="Rounded Rectangle 67"/>
          <p:cNvSpPr/>
          <p:nvPr/>
        </p:nvSpPr>
        <p:spPr>
          <a:xfrm>
            <a:off x="544108" y="4211959"/>
            <a:ext cx="3441152" cy="1664965"/>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b="1" dirty="0" err="1">
                <a:solidFill>
                  <a:srgbClr val="15133D"/>
                </a:solidFill>
                <a:latin typeface="メイリオ"/>
              </a:rPr>
              <a:t>届かなかった層にも自動でリーチ</a:t>
            </a:r>
            <a:endParaRPr b="1" dirty="0">
              <a:solidFill>
                <a:srgbClr val="15133D"/>
              </a:solidFill>
              <a:latin typeface="メイリオ"/>
            </a:endParaRPr>
          </a:p>
          <a:p>
            <a:pPr algn="l">
              <a:lnSpc>
                <a:spcPct val="115000"/>
              </a:lnSpc>
              <a:spcBef>
                <a:spcPts val="600"/>
              </a:spcBef>
            </a:pPr>
            <a:r>
              <a:rPr sz="1100" dirty="0" err="1">
                <a:solidFill>
                  <a:srgbClr val="333333"/>
                </a:solidFill>
                <a:latin typeface="メイリオ"/>
              </a:rPr>
              <a:t>表示対象が「一部</a:t>
            </a:r>
            <a:r>
              <a:rPr sz="1100" dirty="0">
                <a:solidFill>
                  <a:srgbClr val="333333"/>
                </a:solidFill>
                <a:latin typeface="メイリオ"/>
              </a:rPr>
              <a:t>」→「</a:t>
            </a:r>
            <a:r>
              <a:rPr sz="1100" dirty="0" err="1">
                <a:solidFill>
                  <a:srgbClr val="333333"/>
                </a:solidFill>
                <a:latin typeface="メイリオ"/>
              </a:rPr>
              <a:t>全ユーザ</a:t>
            </a:r>
            <a:r>
              <a:rPr sz="1100" dirty="0">
                <a:solidFill>
                  <a:srgbClr val="333333"/>
                </a:solidFill>
                <a:latin typeface="メイリオ"/>
              </a:rPr>
              <a:t>ー」</a:t>
            </a:r>
            <a:r>
              <a:rPr sz="1100" dirty="0" err="1">
                <a:solidFill>
                  <a:srgbClr val="333333"/>
                </a:solidFill>
                <a:latin typeface="メイリオ"/>
              </a:rPr>
              <a:t>に拡大されたことで、これまで接点を持てなかった層にも自動的にアプローチできる</a:t>
            </a:r>
            <a:r>
              <a:rPr sz="1100" dirty="0">
                <a:solidFill>
                  <a:srgbClr val="333333"/>
                </a:solidFill>
                <a:latin typeface="メイリオ"/>
              </a:rPr>
              <a:t>。</a:t>
            </a:r>
          </a:p>
        </p:txBody>
      </p:sp>
      <p:sp>
        <p:nvSpPr>
          <p:cNvPr id="3" name="正方形/長方形 2">
            <a:extLst>
              <a:ext uri="{FF2B5EF4-FFF2-40B4-BE49-F238E27FC236}">
                <a16:creationId xmlns:a16="http://schemas.microsoft.com/office/drawing/2014/main" id="{A4AE8D43-48A3-197E-7FAD-34466EBDA054}"/>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5460F31-B070-9877-3616-D8924F0B8D95}"/>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graphicFrame>
        <p:nvGraphicFramePr>
          <p:cNvPr id="9" name="図表 8">
            <a:extLst>
              <a:ext uri="{FF2B5EF4-FFF2-40B4-BE49-F238E27FC236}">
                <a16:creationId xmlns:a16="http://schemas.microsoft.com/office/drawing/2014/main" id="{11916708-A016-4529-FB2B-C553041DEA0C}"/>
              </a:ext>
            </a:extLst>
          </p:cNvPr>
          <p:cNvGraphicFramePr/>
          <p:nvPr>
            <p:extLst>
              <p:ext uri="{D42A27DB-BD31-4B8C-83A1-F6EECF244321}">
                <p14:modId xmlns:p14="http://schemas.microsoft.com/office/powerpoint/2010/main" val="2135527879"/>
              </p:ext>
            </p:extLst>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正方形/長方形 10">
            <a:extLst>
              <a:ext uri="{FF2B5EF4-FFF2-40B4-BE49-F238E27FC236}">
                <a16:creationId xmlns:a16="http://schemas.microsoft.com/office/drawing/2014/main" id="{4734481D-35CC-DDFF-D6CB-09E6EF4B62BB}"/>
              </a:ext>
            </a:extLst>
          </p:cNvPr>
          <p:cNvSpPr/>
          <p:nvPr/>
        </p:nvSpPr>
        <p:spPr>
          <a:xfrm>
            <a:off x="6679050" y="730955"/>
            <a:ext cx="829618" cy="435690"/>
          </a:xfrm>
          <a:prstGeom prst="rect">
            <a:avLst/>
          </a:prstGeom>
          <a:solidFill>
            <a:schemeClr val="accent1">
              <a:lumMod val="40000"/>
              <a:lumOff val="60000"/>
            </a:schemeClr>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13" name="正方形/長方形 12">
            <a:extLst>
              <a:ext uri="{FF2B5EF4-FFF2-40B4-BE49-F238E27FC236}">
                <a16:creationId xmlns:a16="http://schemas.microsoft.com/office/drawing/2014/main" id="{83CBE833-4019-DF96-3401-9374039C8406}"/>
              </a:ext>
            </a:extLst>
          </p:cNvPr>
          <p:cNvSpPr/>
          <p:nvPr/>
        </p:nvSpPr>
        <p:spPr>
          <a:xfrm>
            <a:off x="4886375" y="735143"/>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en-US" altLang="ja-JP" sz="1000" kern="1200" dirty="0">
                <a:latin typeface="メイリオ" panose="020B0604030504040204" pitchFamily="50" charset="-128"/>
                <a:ea typeface="メイリオ" panose="020B0604030504040204" pitchFamily="50" charset="-128"/>
              </a:rPr>
              <a:t>LINE</a:t>
            </a:r>
            <a:r>
              <a:rPr kumimoji="1" lang="ja-JP" altLang="en-US" sz="1000" kern="1200" dirty="0">
                <a:latin typeface="メイリオ" panose="020B0604030504040204" pitchFamily="50" charset="-128"/>
                <a:ea typeface="メイリオ" panose="020B0604030504040204" pitchFamily="50" charset="-128"/>
              </a:rPr>
              <a:t>公式アカウント</a:t>
            </a:r>
            <a:endParaRPr kumimoji="1" lang="en-US" altLang="ja-JP" sz="1000" kern="1200" dirty="0">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BA7F29CF-FAEF-5AB2-469D-A94CD1ADF5B2}"/>
              </a:ext>
            </a:extLst>
          </p:cNvPr>
          <p:cNvPicPr>
            <a:picLocks noChangeAspect="1"/>
          </p:cNvPicPr>
          <p:nvPr/>
        </p:nvPicPr>
        <p:blipFill>
          <a:blip r:embed="rId8"/>
          <a:srcRect b="33596"/>
          <a:stretch>
            <a:fillRect/>
          </a:stretch>
        </p:blipFill>
        <p:spPr>
          <a:xfrm>
            <a:off x="4520951" y="4058926"/>
            <a:ext cx="3441152" cy="2429132"/>
          </a:xfrm>
          <a:prstGeom prst="rect">
            <a:avLst/>
          </a:prstGeom>
        </p:spPr>
      </p:pic>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lvl="0"/>
            <a:r>
              <a:rPr lang="en-US" altLang="ja-JP" sz="1600" b="1" dirty="0">
                <a:solidFill>
                  <a:srgbClr val="004DE6"/>
                </a:solidFill>
                <a:latin typeface="メイリオ"/>
                <a:ea typeface="Meiryo"/>
                <a:cs typeface="Meiryo"/>
                <a:sym typeface="Meiryo"/>
              </a:rPr>
              <a:t>【LINE</a:t>
            </a:r>
            <a:r>
              <a:rPr lang="ja-JP" altLang="en-US" sz="1600" b="1" dirty="0">
                <a:solidFill>
                  <a:srgbClr val="004DE6"/>
                </a:solidFill>
                <a:latin typeface="メイリオ"/>
                <a:ea typeface="Meiryo"/>
                <a:cs typeface="Meiryo"/>
                <a:sym typeface="Meiryo"/>
              </a:rPr>
              <a:t>プロモーションスタンプ</a:t>
            </a:r>
            <a:r>
              <a:rPr lang="en-US" altLang="ja-JP" sz="1600" b="1" dirty="0">
                <a:solidFill>
                  <a:srgbClr val="004DE6"/>
                </a:solidFill>
                <a:latin typeface="メイリオ"/>
                <a:ea typeface="Meiryo"/>
                <a:cs typeface="Meiryo"/>
                <a:sym typeface="Meiryo"/>
              </a:rPr>
              <a:t>】</a:t>
            </a:r>
            <a:r>
              <a:rPr lang="ja-JP" altLang="en-US" sz="1600" b="1" dirty="0">
                <a:solidFill>
                  <a:srgbClr val="004DE6"/>
                </a:solidFill>
                <a:latin typeface="メイリオ"/>
                <a:ea typeface="Meiryo"/>
                <a:cs typeface="Meiryo"/>
                <a:sym typeface="Meiryo"/>
              </a:rPr>
              <a:t>ダウンロード機会拡大のご案内</a:t>
            </a:r>
            <a:endParaRPr lang="ja-JP" altLang="en-US"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34589"/>
            <a:ext cx="8817783" cy="73862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b="1" dirty="0">
                <a:solidFill>
                  <a:schemeClr val="dk1"/>
                </a:solidFill>
                <a:latin typeface="メイリオ"/>
                <a:ea typeface="Meiryo"/>
                <a:cs typeface="Meiryo"/>
                <a:sym typeface="Meiryo"/>
              </a:rPr>
              <a:t>LINEキーボードのサジェスト機能で無料スタンプが表示される条件を緩和し、</a:t>
            </a:r>
            <a:endParaRPr b="1" dirty="0">
              <a:solidFill>
                <a:schemeClr val="dk1"/>
              </a:solidFill>
              <a:latin typeface="Meiryo"/>
              <a:ea typeface="Meiryo"/>
              <a:cs typeface="Meiryo"/>
              <a:sym typeface="Meiryo"/>
            </a:endParaRPr>
          </a:p>
          <a:p>
            <a:pPr marL="0" marR="0" lvl="0" indent="0" algn="ctr" rtl="0">
              <a:spcBef>
                <a:spcPts val="0"/>
              </a:spcBef>
              <a:spcAft>
                <a:spcPts val="0"/>
              </a:spcAft>
              <a:buNone/>
            </a:pPr>
            <a:r>
              <a:rPr lang="ja-JP" b="1" dirty="0">
                <a:solidFill>
                  <a:schemeClr val="dk1"/>
                </a:solidFill>
                <a:latin typeface="メイリオ"/>
                <a:ea typeface="Meiryo"/>
                <a:cs typeface="Meiryo"/>
                <a:sym typeface="Meiryo"/>
              </a:rPr>
              <a:t>これまで一部だったユーザー表示が全ユーザーに拡大された。</a:t>
            </a:r>
            <a:endParaRPr sz="1600" dirty="0"/>
          </a:p>
          <a:p>
            <a:pPr marL="0" marR="0" lvl="0" indent="0" algn="ctr" rtl="0">
              <a:spcBef>
                <a:spcPts val="0"/>
              </a:spcBef>
              <a:spcAft>
                <a:spcPts val="0"/>
              </a:spcAft>
              <a:buNone/>
            </a:pPr>
            <a:r>
              <a:rPr lang="ja-JP" b="1" dirty="0">
                <a:solidFill>
                  <a:schemeClr val="dk1"/>
                </a:solidFill>
                <a:latin typeface="メイリオ"/>
                <a:ea typeface="Meiryo"/>
                <a:cs typeface="Meiryo"/>
                <a:sym typeface="Meiryo"/>
              </a:rPr>
              <a:t>適用開始は2026年8月28日、DL数は平均+5.63%増加している。</a:t>
            </a:r>
            <a:endParaRPr sz="1600" b="1" dirty="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600" b="1">
                <a:solidFill>
                  <a:srgbClr val="15133D"/>
                </a:solidFill>
                <a:latin typeface="メイリオ"/>
                <a:ea typeface="Meiryo"/>
                <a:cs typeface="Meiryo"/>
                <a:sym typeface="Meiryo"/>
              </a:rPr>
              <a:t>■ 詳細</a:t>
            </a:r>
            <a:endParaRPr sz="1600"/>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sp>
        <p:nvSpPr>
          <p:cNvPr id="63" name="Rounded Rectangle 62"/>
          <p:cNvSpPr/>
          <p:nvPr/>
        </p:nvSpPr>
        <p:spPr>
          <a:xfrm>
            <a:off x="351381" y="3062934"/>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dirty="0">
                <a:solidFill>
                  <a:srgbClr val="15133D"/>
                </a:solidFill>
                <a:latin typeface="メイリオ"/>
              </a:rPr>
              <a:t>+5.63%</a:t>
            </a:r>
          </a:p>
          <a:p>
            <a:pPr algn="ctr">
              <a:spcBef>
                <a:spcPts val="200"/>
              </a:spcBef>
            </a:pPr>
            <a:r>
              <a:rPr b="1" dirty="0" err="1">
                <a:solidFill>
                  <a:srgbClr val="3467B2"/>
                </a:solidFill>
                <a:latin typeface="メイリオ"/>
              </a:rPr>
              <a:t>DL数</a:t>
            </a:r>
            <a:endParaRPr b="1" dirty="0">
              <a:solidFill>
                <a:srgbClr val="3467B2"/>
              </a:solidFill>
              <a:latin typeface="メイリオ"/>
            </a:endParaRPr>
          </a:p>
          <a:p>
            <a:pPr algn="ctr">
              <a:spcBef>
                <a:spcPts val="200"/>
              </a:spcBef>
            </a:pPr>
            <a:r>
              <a:rPr sz="1000" dirty="0" err="1">
                <a:solidFill>
                  <a:srgbClr val="333333"/>
                </a:solidFill>
                <a:latin typeface="メイリオ"/>
              </a:rPr>
              <a:t>全ダウンロード経路合計</a:t>
            </a:r>
            <a:endParaRPr lang="en-US" sz="1000" dirty="0">
              <a:solidFill>
                <a:srgbClr val="333333"/>
              </a:solidFill>
              <a:latin typeface="メイリオ"/>
            </a:endParaRPr>
          </a:p>
          <a:p>
            <a:pPr algn="ctr">
              <a:spcBef>
                <a:spcPts val="200"/>
              </a:spcBef>
            </a:pPr>
            <a:r>
              <a:rPr sz="1000" dirty="0" err="1">
                <a:solidFill>
                  <a:srgbClr val="333333"/>
                </a:solidFill>
                <a:latin typeface="メイリオ"/>
              </a:rPr>
              <a:t>現行条件比較</a:t>
            </a:r>
            <a:endParaRPr sz="1000" dirty="0">
              <a:solidFill>
                <a:srgbClr val="333333"/>
              </a:solidFill>
              <a:latin typeface="メイリオ"/>
            </a:endParaRPr>
          </a:p>
        </p:txBody>
      </p:sp>
      <p:sp>
        <p:nvSpPr>
          <p:cNvPr id="64" name="Rounded Rectangle 63"/>
          <p:cNvSpPr/>
          <p:nvPr/>
        </p:nvSpPr>
        <p:spPr>
          <a:xfrm>
            <a:off x="2717391" y="3062934"/>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dirty="0">
                <a:solidFill>
                  <a:srgbClr val="15133D"/>
                </a:solidFill>
                <a:latin typeface="メイリオ"/>
              </a:rPr>
              <a:t>74.6%</a:t>
            </a:r>
          </a:p>
          <a:p>
            <a:pPr algn="ctr">
              <a:spcBef>
                <a:spcPts val="200"/>
              </a:spcBef>
            </a:pPr>
            <a:r>
              <a:rPr b="1" dirty="0" err="1">
                <a:solidFill>
                  <a:srgbClr val="3467B2"/>
                </a:solidFill>
                <a:latin typeface="メイリオ"/>
              </a:rPr>
              <a:t>友だち追加率</a:t>
            </a:r>
            <a:endParaRPr b="1" dirty="0">
              <a:solidFill>
                <a:srgbClr val="3467B2"/>
              </a:solidFill>
              <a:latin typeface="メイリオ"/>
            </a:endParaRPr>
          </a:p>
          <a:p>
            <a:pPr algn="ctr">
              <a:spcBef>
                <a:spcPts val="200"/>
              </a:spcBef>
            </a:pPr>
            <a:r>
              <a:rPr sz="1000" dirty="0">
                <a:solidFill>
                  <a:srgbClr val="333333"/>
                </a:solidFill>
                <a:latin typeface="メイリオ"/>
              </a:rPr>
              <a:t>プロダクト平均約60%を上回る</a:t>
            </a:r>
          </a:p>
        </p:txBody>
      </p:sp>
      <p:sp>
        <p:nvSpPr>
          <p:cNvPr id="65" name="Rounded Rectangle 64"/>
          <p:cNvSpPr/>
          <p:nvPr/>
        </p:nvSpPr>
        <p:spPr>
          <a:xfrm>
            <a:off x="5083401" y="3062934"/>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dirty="0">
                <a:solidFill>
                  <a:srgbClr val="15133D"/>
                </a:solidFill>
                <a:latin typeface="メイリオ"/>
              </a:rPr>
              <a:t>9.53%</a:t>
            </a:r>
          </a:p>
          <a:p>
            <a:pPr algn="ctr">
              <a:spcBef>
                <a:spcPts val="200"/>
              </a:spcBef>
            </a:pPr>
            <a:r>
              <a:rPr b="1" dirty="0" err="1">
                <a:solidFill>
                  <a:srgbClr val="3467B2"/>
                </a:solidFill>
                <a:latin typeface="メイリオ"/>
              </a:rPr>
              <a:t>当日ブロック率</a:t>
            </a:r>
            <a:endParaRPr b="1" dirty="0">
              <a:solidFill>
                <a:srgbClr val="3467B2"/>
              </a:solidFill>
              <a:latin typeface="メイリオ"/>
            </a:endParaRPr>
          </a:p>
          <a:p>
            <a:pPr algn="ctr">
              <a:spcBef>
                <a:spcPts val="200"/>
              </a:spcBef>
            </a:pPr>
            <a:r>
              <a:rPr sz="1000" dirty="0">
                <a:solidFill>
                  <a:srgbClr val="333333"/>
                </a:solidFill>
                <a:latin typeface="メイリオ"/>
              </a:rPr>
              <a:t>プロダクト平均約22%の半分以下</a:t>
            </a:r>
          </a:p>
        </p:txBody>
      </p:sp>
      <p:sp>
        <p:nvSpPr>
          <p:cNvPr id="66" name="Rounded Rectangle 65"/>
          <p:cNvSpPr/>
          <p:nvPr/>
        </p:nvSpPr>
        <p:spPr>
          <a:xfrm>
            <a:off x="7449411" y="3062934"/>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dirty="0">
                <a:solidFill>
                  <a:srgbClr val="15133D"/>
                </a:solidFill>
                <a:latin typeface="メイリオ"/>
              </a:rPr>
              <a:t>約3.0倍</a:t>
            </a:r>
          </a:p>
          <a:p>
            <a:pPr algn="ctr">
              <a:spcBef>
                <a:spcPts val="200"/>
              </a:spcBef>
            </a:pPr>
            <a:r>
              <a:rPr b="1" dirty="0" err="1">
                <a:solidFill>
                  <a:srgbClr val="3467B2"/>
                </a:solidFill>
                <a:latin typeface="メイリオ"/>
              </a:rPr>
              <a:t>改善倍率（最大</a:t>
            </a:r>
            <a:r>
              <a:rPr b="1" dirty="0">
                <a:solidFill>
                  <a:srgbClr val="3467B2"/>
                </a:solidFill>
                <a:latin typeface="メイリオ"/>
              </a:rPr>
              <a:t>）</a:t>
            </a:r>
          </a:p>
          <a:p>
            <a:pPr algn="ctr">
              <a:spcBef>
                <a:spcPts val="200"/>
              </a:spcBef>
            </a:pPr>
            <a:r>
              <a:rPr sz="1000" dirty="0">
                <a:solidFill>
                  <a:srgbClr val="333333"/>
                </a:solidFill>
                <a:latin typeface="メイリオ"/>
              </a:rPr>
              <a:t>過去6〜18ヶ月DLなし層</a:t>
            </a:r>
          </a:p>
        </p:txBody>
      </p:sp>
      <p:graphicFrame>
        <p:nvGraphicFramePr>
          <p:cNvPr id="67" name="Table 66"/>
          <p:cNvGraphicFramePr>
            <a:graphicFrameLocks noGrp="1"/>
          </p:cNvGraphicFramePr>
          <p:nvPr>
            <p:extLst>
              <p:ext uri="{D42A27DB-BD31-4B8C-83A1-F6EECF244321}">
                <p14:modId xmlns:p14="http://schemas.microsoft.com/office/powerpoint/2010/main" val="2068225781"/>
              </p:ext>
            </p:extLst>
          </p:nvPr>
        </p:nvGraphicFramePr>
        <p:xfrm>
          <a:off x="351381" y="4617414"/>
          <a:ext cx="9326880" cy="82296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411480">
                <a:tc>
                  <a:txBody>
                    <a:bodyPr/>
                    <a:lstStyle/>
                    <a:p>
                      <a:pPr algn="ctr"/>
                      <a:r>
                        <a:rPr sz="1050" b="1" dirty="0">
                          <a:solidFill>
                            <a:srgbClr val="FFFFFF"/>
                          </a:solidFill>
                          <a:latin typeface="メイリオ"/>
                        </a:rPr>
                        <a:t>過去3ヶ月以内にDL</a:t>
                      </a:r>
                    </a:p>
                  </a:txBody>
                  <a:tcPr anchor="ctr">
                    <a:solidFill>
                      <a:srgbClr val="15133D"/>
                    </a:solidFill>
                  </a:tcPr>
                </a:tc>
                <a:tc>
                  <a:txBody>
                    <a:bodyPr/>
                    <a:lstStyle/>
                    <a:p>
                      <a:pPr algn="ctr"/>
                      <a:r>
                        <a:rPr sz="1050" b="1" dirty="0">
                          <a:solidFill>
                            <a:srgbClr val="FFFFFF"/>
                          </a:solidFill>
                          <a:latin typeface="メイリオ"/>
                        </a:rPr>
                        <a:t>過去3〜6ヶ月にDL</a:t>
                      </a:r>
                    </a:p>
                  </a:txBody>
                  <a:tcPr anchor="ctr">
                    <a:solidFill>
                      <a:srgbClr val="15133D"/>
                    </a:solidFill>
                  </a:tcPr>
                </a:tc>
                <a:tc>
                  <a:txBody>
                    <a:bodyPr/>
                    <a:lstStyle/>
                    <a:p>
                      <a:pPr algn="ctr"/>
                      <a:r>
                        <a:rPr sz="1050" b="1" dirty="0">
                          <a:solidFill>
                            <a:srgbClr val="FFFFFF"/>
                          </a:solidFill>
                          <a:latin typeface="メイリオ"/>
                        </a:rPr>
                        <a:t>過去6〜18ヶ月にDL</a:t>
                      </a:r>
                    </a:p>
                  </a:txBody>
                  <a:tcPr anchor="ctr">
                    <a:solidFill>
                      <a:srgbClr val="15133D"/>
                    </a:solidFill>
                  </a:tcPr>
                </a:tc>
                <a:tc>
                  <a:txBody>
                    <a:bodyPr/>
                    <a:lstStyle/>
                    <a:p>
                      <a:pPr algn="ctr"/>
                      <a:r>
                        <a:rPr sz="1050" b="1" dirty="0">
                          <a:solidFill>
                            <a:srgbClr val="FFFFFF"/>
                          </a:solidFill>
                          <a:latin typeface="メイリオ"/>
                        </a:rPr>
                        <a:t>過去18ヶ月以内DLなし</a:t>
                      </a:r>
                    </a:p>
                  </a:txBody>
                  <a:tcPr anchor="ctr">
                    <a:solidFill>
                      <a:srgbClr val="15133D"/>
                    </a:solidFill>
                  </a:tcPr>
                </a:tc>
                <a:extLst>
                  <a:ext uri="{0D108BD9-81ED-4DB2-BD59-A6C34878D82A}">
                    <a16:rowId xmlns:a16="http://schemas.microsoft.com/office/drawing/2014/main" val="10000"/>
                  </a:ext>
                </a:extLst>
              </a:tr>
              <a:tr h="411480">
                <a:tc>
                  <a:txBody>
                    <a:bodyPr/>
                    <a:lstStyle/>
                    <a:p>
                      <a:pPr algn="ctr"/>
                      <a:r>
                        <a:rPr sz="1600" b="1" dirty="0">
                          <a:solidFill>
                            <a:srgbClr val="15133D"/>
                          </a:solidFill>
                          <a:latin typeface="メイリオ"/>
                        </a:rPr>
                        <a:t>約1.7倍</a:t>
                      </a:r>
                    </a:p>
                  </a:txBody>
                  <a:tcPr anchor="ctr">
                    <a:solidFill>
                      <a:srgbClr val="EAF0FA"/>
                    </a:solidFill>
                  </a:tcPr>
                </a:tc>
                <a:tc>
                  <a:txBody>
                    <a:bodyPr/>
                    <a:lstStyle/>
                    <a:p>
                      <a:pPr algn="ctr"/>
                      <a:r>
                        <a:rPr sz="1600" b="1" dirty="0">
                          <a:solidFill>
                            <a:srgbClr val="15133D"/>
                          </a:solidFill>
                          <a:latin typeface="メイリオ"/>
                        </a:rPr>
                        <a:t>約2.8倍</a:t>
                      </a:r>
                    </a:p>
                  </a:txBody>
                  <a:tcPr anchor="ctr">
                    <a:solidFill>
                      <a:srgbClr val="EAF0FA"/>
                    </a:solidFill>
                  </a:tcPr>
                </a:tc>
                <a:tc>
                  <a:txBody>
                    <a:bodyPr/>
                    <a:lstStyle/>
                    <a:p>
                      <a:pPr algn="ctr"/>
                      <a:r>
                        <a:rPr sz="1600" b="1" dirty="0">
                          <a:solidFill>
                            <a:srgbClr val="15133D"/>
                          </a:solidFill>
                          <a:latin typeface="メイリオ"/>
                        </a:rPr>
                        <a:t>約3.0倍</a:t>
                      </a:r>
                    </a:p>
                  </a:txBody>
                  <a:tcPr anchor="ctr">
                    <a:solidFill>
                      <a:srgbClr val="EAF0FA"/>
                    </a:solidFill>
                  </a:tcPr>
                </a:tc>
                <a:tc>
                  <a:txBody>
                    <a:bodyPr/>
                    <a:lstStyle/>
                    <a:p>
                      <a:pPr algn="ctr"/>
                      <a:r>
                        <a:rPr sz="1600" b="1" dirty="0">
                          <a:solidFill>
                            <a:srgbClr val="15133D"/>
                          </a:solidFill>
                          <a:latin typeface="メイリオ"/>
                        </a:rPr>
                        <a:t>約2.1倍</a:t>
                      </a:r>
                    </a:p>
                  </a:txBody>
                  <a:tcPr anchor="ctr">
                    <a:solidFill>
                      <a:srgbClr val="EAF0FA"/>
                    </a:solidFill>
                  </a:tcPr>
                </a:tc>
                <a:extLst>
                  <a:ext uri="{0D108BD9-81ED-4DB2-BD59-A6C34878D82A}">
                    <a16:rowId xmlns:a16="http://schemas.microsoft.com/office/drawing/2014/main" val="10001"/>
                  </a:ext>
                </a:extLst>
              </a:tr>
            </a:tbl>
          </a:graphicData>
        </a:graphic>
      </p:graphicFrame>
      <p:sp>
        <p:nvSpPr>
          <p:cNvPr id="68" name="Rounded Rectangle 67"/>
          <p:cNvSpPr/>
          <p:nvPr/>
        </p:nvSpPr>
        <p:spPr>
          <a:xfrm>
            <a:off x="351381" y="5623254"/>
            <a:ext cx="9326880" cy="7772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2000" b="1" dirty="0" err="1">
                <a:solidFill>
                  <a:srgbClr val="15133D"/>
                </a:solidFill>
                <a:latin typeface="メイリオ"/>
              </a:rPr>
              <a:t>活用メリット</a:t>
            </a:r>
            <a:endParaRPr sz="2000" b="1" dirty="0">
              <a:solidFill>
                <a:srgbClr val="15133D"/>
              </a:solidFill>
              <a:latin typeface="メイリオ"/>
            </a:endParaRPr>
          </a:p>
          <a:p>
            <a:pPr algn="l">
              <a:lnSpc>
                <a:spcPct val="115000"/>
              </a:lnSpc>
              <a:spcBef>
                <a:spcPts val="600"/>
              </a:spcBef>
            </a:pPr>
            <a:r>
              <a:rPr dirty="0" err="1">
                <a:solidFill>
                  <a:srgbClr val="333333"/>
                </a:solidFill>
                <a:latin typeface="メイリオ"/>
              </a:rPr>
              <a:t>この実績数字を使って、運用中クライアントへの追加提案・実績報告ができる</a:t>
            </a:r>
            <a:r>
              <a:rPr dirty="0">
                <a:solidFill>
                  <a:srgbClr val="333333"/>
                </a:solidFill>
                <a:latin typeface="メイリオ"/>
              </a:rPr>
              <a:t>。</a:t>
            </a:r>
            <a:endParaRPr sz="1100" dirty="0">
              <a:solidFill>
                <a:srgbClr val="333333"/>
              </a:solidFill>
              <a:latin typeface="メイリオ"/>
            </a:endParaRPr>
          </a:p>
        </p:txBody>
      </p:sp>
      <p:sp>
        <p:nvSpPr>
          <p:cNvPr id="3" name="正方形/長方形 2">
            <a:extLst>
              <a:ext uri="{FF2B5EF4-FFF2-40B4-BE49-F238E27FC236}">
                <a16:creationId xmlns:a16="http://schemas.microsoft.com/office/drawing/2014/main" id="{CF06D28D-92DA-E6D9-7A95-450C6395C6FD}"/>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7C5581E9-27DE-8396-E42A-851B117CE0BD}"/>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graphicFrame>
        <p:nvGraphicFramePr>
          <p:cNvPr id="7" name="図表 6">
            <a:extLst>
              <a:ext uri="{FF2B5EF4-FFF2-40B4-BE49-F238E27FC236}">
                <a16:creationId xmlns:a16="http://schemas.microsoft.com/office/drawing/2014/main" id="{92D807FF-2665-A344-A25F-8F49D54BCD78}"/>
              </a:ext>
            </a:extLst>
          </p:cNvPr>
          <p:cNvGraphicFramePr/>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正方形/長方形 8">
            <a:extLst>
              <a:ext uri="{FF2B5EF4-FFF2-40B4-BE49-F238E27FC236}">
                <a16:creationId xmlns:a16="http://schemas.microsoft.com/office/drawing/2014/main" id="{291A04CF-E60B-B0DE-F28C-D1FF038B54A1}"/>
              </a:ext>
            </a:extLst>
          </p:cNvPr>
          <p:cNvSpPr/>
          <p:nvPr/>
        </p:nvSpPr>
        <p:spPr>
          <a:xfrm>
            <a:off x="6679050" y="730955"/>
            <a:ext cx="829618" cy="435690"/>
          </a:xfrm>
          <a:prstGeom prst="rect">
            <a:avLst/>
          </a:prstGeom>
          <a:solidFill>
            <a:schemeClr val="accent1">
              <a:lumMod val="40000"/>
              <a:lumOff val="60000"/>
            </a:schemeClr>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11" name="正方形/長方形 10">
            <a:extLst>
              <a:ext uri="{FF2B5EF4-FFF2-40B4-BE49-F238E27FC236}">
                <a16:creationId xmlns:a16="http://schemas.microsoft.com/office/drawing/2014/main" id="{52635D77-4A59-35D4-EF89-0BD87B2137C6}"/>
              </a:ext>
            </a:extLst>
          </p:cNvPr>
          <p:cNvSpPr/>
          <p:nvPr/>
        </p:nvSpPr>
        <p:spPr>
          <a:xfrm>
            <a:off x="4886375" y="735143"/>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en-US" altLang="ja-JP" sz="1000" kern="1200" dirty="0">
                <a:latin typeface="メイリオ" panose="020B0604030504040204" pitchFamily="50" charset="-128"/>
                <a:ea typeface="メイリオ" panose="020B0604030504040204" pitchFamily="50" charset="-128"/>
              </a:rPr>
              <a:t>LINE</a:t>
            </a:r>
            <a:r>
              <a:rPr kumimoji="1" lang="ja-JP" altLang="en-US" sz="1000" kern="1200" dirty="0">
                <a:latin typeface="メイリオ" panose="020B0604030504040204" pitchFamily="50" charset="-128"/>
                <a:ea typeface="メイリオ" panose="020B0604030504040204" pitchFamily="50" charset="-128"/>
              </a:rPr>
              <a:t>公式アカウント</a:t>
            </a:r>
            <a:endParaRPr kumimoji="1" lang="en-US" altLang="ja-JP" sz="1000" kern="1200" dirty="0">
              <a:latin typeface="メイリオ" panose="020B0604030504040204" pitchFamily="50" charset="-128"/>
              <a:ea typeface="メイリオ" panose="020B0604030504040204" pitchFamily="50" charset="-128"/>
            </a:endParaRPr>
          </a:p>
        </p:txBody>
      </p:sp>
      <p:graphicFrame>
        <p:nvGraphicFramePr>
          <p:cNvPr id="8" name="図表 7">
            <a:extLst>
              <a:ext uri="{FF2B5EF4-FFF2-40B4-BE49-F238E27FC236}">
                <a16:creationId xmlns:a16="http://schemas.microsoft.com/office/drawing/2014/main" id="{2353CC94-5577-0A0C-48C7-5DE5DDD73C22}"/>
              </a:ext>
            </a:extLst>
          </p:cNvPr>
          <p:cNvGraphicFramePr/>
          <p:nvPr>
            <p:extLst>
              <p:ext uri="{D42A27DB-BD31-4B8C-83A1-F6EECF244321}">
                <p14:modId xmlns:p14="http://schemas.microsoft.com/office/powerpoint/2010/main" val="1465029824"/>
              </p:ext>
            </p:extLst>
          </p:nvPr>
        </p:nvGraphicFramePr>
        <p:xfrm>
          <a:off x="8529758" y="668009"/>
          <a:ext cx="1376241" cy="11319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200" dirty="0">
                <a:solidFill>
                  <a:schemeClr val="dk1"/>
                </a:solidFill>
                <a:latin typeface="メイリオ"/>
                <a:ea typeface="Meiryo"/>
                <a:sym typeface="Meiryo"/>
              </a:rPr>
              <a:t>小売・飲食・サロン・クリニックなど</a:t>
            </a:r>
            <a:endParaRPr sz="1200" dirty="0"/>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b="1">
                <a:solidFill>
                  <a:srgbClr val="004DE6"/>
                </a:solidFill>
                <a:latin typeface="メイリオ"/>
                <a:ea typeface="Meiryo"/>
                <a:cs typeface="Meiryo"/>
                <a:sym typeface="Meiryo"/>
              </a:rPr>
              <a:t>【LINEミニアプリ】友だち追加オプションの複数アカウント対応</a:t>
            </a:r>
            <a:endParaRPr sz="1600" b="1">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1つのLINEミニアプリに連携するLINE公式アカウントが、これまでの1つ限定から複数設定できるようになる。</a:t>
            </a:r>
            <a:endParaRPr lang="en-US" altLang="ja-JP" sz="1200" b="1" dirty="0">
              <a:solidFill>
                <a:schemeClr val="dk1"/>
              </a:solidFill>
              <a:latin typeface="メイリオ"/>
              <a:ea typeface="Meiryo"/>
              <a:cs typeface="Meiryo"/>
              <a:sym typeface="Meiryo"/>
            </a:endParaRPr>
          </a:p>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流入経路ごとに異なる公式アカウントへ友だち追加を誘導可能に。</a:t>
            </a:r>
            <a:endParaRPr dirty="0"/>
          </a:p>
          <a:p>
            <a:pPr marL="0" marR="0" lvl="0" indent="0" algn="ctr" rtl="0">
              <a:spcBef>
                <a:spcPts val="0"/>
              </a:spcBef>
              <a:spcAft>
                <a:spcPts val="0"/>
              </a:spcAft>
              <a:buNone/>
            </a:pPr>
            <a:r>
              <a:rPr lang="ja-JP" altLang="en-US" sz="1200" b="1" dirty="0">
                <a:solidFill>
                  <a:schemeClr val="dk1"/>
                </a:solidFill>
                <a:latin typeface="メイリオ"/>
                <a:ea typeface="Meiryo"/>
                <a:cs typeface="Meiryo"/>
                <a:sym typeface="Meiryo"/>
              </a:rPr>
              <a:t>→タグ設置によってセグメント配信が可能に。</a:t>
            </a:r>
            <a:endParaRPr sz="1400" b="1" dirty="0">
              <a:solidFill>
                <a:schemeClr val="dk1"/>
              </a:solidFill>
              <a:latin typeface="Meiryo"/>
              <a:ea typeface="Meiryo"/>
              <a:cs typeface="Meiryo"/>
              <a:sym typeface="Meiryo"/>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3">
            <a:alphaModFix/>
          </a:blip>
          <a:srcRect/>
          <a:stretch/>
        </p:blipFill>
        <p:spPr>
          <a:xfrm>
            <a:off x="351381" y="1234746"/>
            <a:ext cx="656177" cy="655521"/>
          </a:xfrm>
          <a:prstGeom prst="rect">
            <a:avLst/>
          </a:prstGeom>
          <a:noFill/>
          <a:ln>
            <a:noFill/>
          </a:ln>
        </p:spPr>
      </p:pic>
      <p:pic>
        <p:nvPicPr>
          <p:cNvPr id="3" name="図 2">
            <a:extLst>
              <a:ext uri="{FF2B5EF4-FFF2-40B4-BE49-F238E27FC236}">
                <a16:creationId xmlns:a16="http://schemas.microsoft.com/office/drawing/2014/main" id="{D65550AB-BA33-6419-8304-052F84D17B64}"/>
              </a:ext>
            </a:extLst>
          </p:cNvPr>
          <p:cNvPicPr>
            <a:picLocks noChangeAspect="1"/>
          </p:cNvPicPr>
          <p:nvPr/>
        </p:nvPicPr>
        <p:blipFill>
          <a:blip r:embed="rId4"/>
          <a:srcRect b="6207"/>
          <a:stretch>
            <a:fillRect/>
          </a:stretch>
        </p:blipFill>
        <p:spPr>
          <a:xfrm>
            <a:off x="0" y="2678123"/>
            <a:ext cx="9906000" cy="3776954"/>
          </a:xfrm>
          <a:prstGeom prst="rect">
            <a:avLst/>
          </a:prstGeom>
        </p:spPr>
      </p:pic>
      <p:sp>
        <p:nvSpPr>
          <p:cNvPr id="4" name="正方形/長方形 3">
            <a:extLst>
              <a:ext uri="{FF2B5EF4-FFF2-40B4-BE49-F238E27FC236}">
                <a16:creationId xmlns:a16="http://schemas.microsoft.com/office/drawing/2014/main" id="{CFECD594-6927-B60D-A2CE-D15A12DE1C83}"/>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0C16A9F-2385-D86D-73AC-3F33AED1ACAB}"/>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3ADC0D2D-8905-41DB-6EBA-6699F3797E84}"/>
              </a:ext>
            </a:extLst>
          </p:cNvPr>
          <p:cNvSpPr/>
          <p:nvPr/>
        </p:nvSpPr>
        <p:spPr>
          <a:xfrm>
            <a:off x="4915470" y="730955"/>
            <a:ext cx="829618" cy="435690"/>
          </a:xfrm>
          <a:prstGeom prst="rect">
            <a:avLst/>
          </a:prstGeom>
          <a:solidFill>
            <a:srgbClr val="C6D9F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graphicFrame>
        <p:nvGraphicFramePr>
          <p:cNvPr id="10" name="図表 9">
            <a:extLst>
              <a:ext uri="{FF2B5EF4-FFF2-40B4-BE49-F238E27FC236}">
                <a16:creationId xmlns:a16="http://schemas.microsoft.com/office/drawing/2014/main" id="{961825DA-C639-B51F-6E7C-A7D66F97CDFF}"/>
              </a:ext>
            </a:extLst>
          </p:cNvPr>
          <p:cNvGraphicFramePr/>
          <p:nvPr>
            <p:extLst>
              <p:ext uri="{D42A27DB-BD31-4B8C-83A1-F6EECF244321}">
                <p14:modId xmlns:p14="http://schemas.microsoft.com/office/powerpoint/2010/main" val="1937735416"/>
              </p:ext>
            </p:extLst>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2" name="正方形/長方形 11">
            <a:extLst>
              <a:ext uri="{FF2B5EF4-FFF2-40B4-BE49-F238E27FC236}">
                <a16:creationId xmlns:a16="http://schemas.microsoft.com/office/drawing/2014/main" id="{6CB72BE6-1AEA-9AEA-57E0-95EE2EFD4D87}"/>
              </a:ext>
            </a:extLst>
          </p:cNvPr>
          <p:cNvSpPr/>
          <p:nvPr/>
        </p:nvSpPr>
        <p:spPr>
          <a:xfrm>
            <a:off x="6679050" y="730955"/>
            <a:ext cx="829618" cy="435690"/>
          </a:xfrm>
          <a:prstGeom prst="rect">
            <a:avLst/>
          </a:prstGeom>
          <a:no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出典：https://developers.line.biz/ja/docs/line-mini-app/service/add-friend-option/#what-is-add-friend-option</a:t>
            </a:r>
            <a:endParaRPr sz="800">
              <a:solidFill>
                <a:schemeClr val="lt1"/>
              </a:solidFill>
              <a:latin typeface="Meiryo"/>
              <a:ea typeface="Meiryo"/>
              <a:cs typeface="Meiryo"/>
              <a:sym typeface="Meiry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4" name="Google Shape;44;p3"/>
          <p:cNvSpPr txBox="1"/>
          <p:nvPr/>
        </p:nvSpPr>
        <p:spPr>
          <a:xfrm>
            <a:off x="3296816" y="6597352"/>
            <a:ext cx="620909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800" b="0" i="0" u="none" strike="noStrike" cap="none">
                <a:solidFill>
                  <a:schemeClr val="lt1"/>
                </a:solidFill>
                <a:latin typeface="メイリオ"/>
                <a:ea typeface="Meiryo"/>
                <a:cs typeface="Meiryo"/>
                <a:sym typeface="Meiryo"/>
              </a:rPr>
              <a:t>出典：https://workers-hub.box.com/s/odilqpe44tp398zlfko148yggcgj68ny</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600" b="1" dirty="0">
                <a:solidFill>
                  <a:srgbClr val="004DE6"/>
                </a:solidFill>
                <a:latin typeface="メイリオ"/>
                <a:ea typeface="Meiryo"/>
                <a:cs typeface="Meiryo"/>
                <a:sym typeface="Meiryo"/>
              </a:rPr>
              <a:t>【LINEオープンキャンペーン】26年10-12月 期間限定キャンペーン</a:t>
            </a:r>
            <a:endParaRPr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2026年10月20日開始〜12月25日までに終了する案件限定で、</a:t>
            </a:r>
            <a:endParaRPr sz="1200" b="1" dirty="0">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特別価格・特別掲載期間・特別通数の3特典が適用される期間限定キャンペーン。</a:t>
            </a:r>
            <a:endParaRPr dirty="0"/>
          </a:p>
          <a:p>
            <a:pPr marL="0" marR="0" lvl="0" indent="0" algn="ctr" rtl="0">
              <a:spcBef>
                <a:spcPts val="0"/>
              </a:spcBef>
              <a:spcAft>
                <a:spcPts val="0"/>
              </a:spcAft>
              <a:buNone/>
            </a:pPr>
            <a:r>
              <a:rPr lang="ja-JP" sz="1200" b="1" dirty="0">
                <a:solidFill>
                  <a:schemeClr val="dk1"/>
                </a:solidFill>
                <a:latin typeface="メイリオ"/>
                <a:ea typeface="Meiryo"/>
                <a:cs typeface="Meiryo"/>
                <a:sym typeface="Meiryo"/>
              </a:rPr>
              <a:t>友だち獲得を一気に伸ばしたいクライアントへの提案材料になる。</a:t>
            </a:r>
            <a:endParaRPr sz="1400" b="1" dirty="0">
              <a:solidFill>
                <a:schemeClr val="dk1"/>
              </a:solidFill>
              <a:latin typeface="Meiryo"/>
              <a:ea typeface="Meiryo"/>
              <a:cs typeface="Meiryo"/>
              <a:sym typeface="Meiryo"/>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sp>
        <p:nvSpPr>
          <p:cNvPr id="3" name="正方形/長方形 2">
            <a:extLst>
              <a:ext uri="{FF2B5EF4-FFF2-40B4-BE49-F238E27FC236}">
                <a16:creationId xmlns:a16="http://schemas.microsoft.com/office/drawing/2014/main" id="{FDC2FD67-A62F-6E18-8EDA-DB1187DC9A48}"/>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047198E-5C74-A939-E628-2EA5E2D7BDAD}"/>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BB87F300-C517-8B6A-DECA-E2AC2F874676}"/>
              </a:ext>
            </a:extLst>
          </p:cNvPr>
          <p:cNvSpPr/>
          <p:nvPr/>
        </p:nvSpPr>
        <p:spPr>
          <a:xfrm>
            <a:off x="4915470" y="730955"/>
            <a:ext cx="829618" cy="435690"/>
          </a:xfrm>
          <a:prstGeom prst="rect">
            <a:avLst/>
          </a:prstGeom>
          <a:solidFill>
            <a:srgbClr val="C6D9F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graphicFrame>
        <p:nvGraphicFramePr>
          <p:cNvPr id="10" name="図表 9">
            <a:extLst>
              <a:ext uri="{FF2B5EF4-FFF2-40B4-BE49-F238E27FC236}">
                <a16:creationId xmlns:a16="http://schemas.microsoft.com/office/drawing/2014/main" id="{434171DE-9398-A4AE-F24E-2F86F40A3619}"/>
              </a:ext>
            </a:extLst>
          </p:cNvPr>
          <p:cNvGraphicFramePr/>
          <p:nvPr>
            <p:extLst>
              <p:ext uri="{D42A27DB-BD31-4B8C-83A1-F6EECF244321}">
                <p14:modId xmlns:p14="http://schemas.microsoft.com/office/powerpoint/2010/main" val="4005745952"/>
              </p:ext>
            </p:extLst>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正方形/長方形 11">
            <a:extLst>
              <a:ext uri="{FF2B5EF4-FFF2-40B4-BE49-F238E27FC236}">
                <a16:creationId xmlns:a16="http://schemas.microsoft.com/office/drawing/2014/main" id="{1E4429CE-620E-8CAE-98BB-55D6126937EB}"/>
              </a:ext>
            </a:extLst>
          </p:cNvPr>
          <p:cNvSpPr/>
          <p:nvPr/>
        </p:nvSpPr>
        <p:spPr>
          <a:xfrm>
            <a:off x="6679050" y="730955"/>
            <a:ext cx="829618" cy="435690"/>
          </a:xfrm>
          <a:prstGeom prst="rect">
            <a:avLst/>
          </a:prstGeom>
          <a:no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lvl="0"/>
            <a:r>
              <a:rPr lang="en-US" altLang="ja-JP" sz="1600" b="1" dirty="0">
                <a:solidFill>
                  <a:srgbClr val="004DE6"/>
                </a:solidFill>
                <a:latin typeface="メイリオ"/>
                <a:ea typeface="Meiryo"/>
                <a:cs typeface="Meiryo"/>
                <a:sym typeface="Meiryo"/>
              </a:rPr>
              <a:t>【LINE</a:t>
            </a:r>
            <a:r>
              <a:rPr lang="ja-JP" altLang="en-US" sz="1600" b="1" dirty="0">
                <a:solidFill>
                  <a:srgbClr val="004DE6"/>
                </a:solidFill>
                <a:latin typeface="メイリオ"/>
                <a:ea typeface="Meiryo"/>
                <a:cs typeface="Meiryo"/>
                <a:sym typeface="Meiryo"/>
              </a:rPr>
              <a:t>オープンキャンペーン</a:t>
            </a:r>
            <a:r>
              <a:rPr lang="en-US" altLang="ja-JP" sz="1600" b="1" dirty="0">
                <a:solidFill>
                  <a:srgbClr val="004DE6"/>
                </a:solidFill>
                <a:latin typeface="メイリオ"/>
                <a:ea typeface="Meiryo"/>
                <a:cs typeface="Meiryo"/>
                <a:sym typeface="Meiryo"/>
              </a:rPr>
              <a:t>】26</a:t>
            </a:r>
            <a:r>
              <a:rPr lang="ja-JP" altLang="en-US" sz="1600" b="1" dirty="0">
                <a:solidFill>
                  <a:srgbClr val="004DE6"/>
                </a:solidFill>
                <a:latin typeface="メイリオ"/>
                <a:ea typeface="Meiryo"/>
                <a:cs typeface="Meiryo"/>
                <a:sym typeface="Meiryo"/>
              </a:rPr>
              <a:t>年</a:t>
            </a:r>
            <a:r>
              <a:rPr lang="en-US" altLang="ja-JP" sz="1600" b="1" dirty="0">
                <a:solidFill>
                  <a:srgbClr val="004DE6"/>
                </a:solidFill>
                <a:latin typeface="メイリオ"/>
                <a:ea typeface="Meiryo"/>
                <a:cs typeface="Meiryo"/>
                <a:sym typeface="Meiryo"/>
              </a:rPr>
              <a:t>10-12</a:t>
            </a:r>
            <a:r>
              <a:rPr lang="ja-JP" altLang="en-US" sz="1600" b="1" dirty="0">
                <a:solidFill>
                  <a:srgbClr val="004DE6"/>
                </a:solidFill>
                <a:latin typeface="メイリオ"/>
                <a:ea typeface="Meiryo"/>
                <a:cs typeface="Meiryo"/>
                <a:sym typeface="Meiryo"/>
              </a:rPr>
              <a:t>月 期間限定キャンペーン</a:t>
            </a:r>
            <a:endParaRPr lang="ja-JP" altLang="en-US"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a:solidFill>
                  <a:schemeClr val="dk1"/>
                </a:solidFill>
                <a:latin typeface="メイリオ"/>
                <a:ea typeface="Meiryo"/>
                <a:cs typeface="Meiryo"/>
                <a:sym typeface="Meiryo"/>
              </a:rPr>
              <a:t>2026年10月20日開始〜12月25日までに終了する案件限定で、</a:t>
            </a:r>
            <a:endParaRPr sz="1200" b="1">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基本費用・掲載期間・配信通数の3点が特別条件になるキャンペーン。</a:t>
            </a:r>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友だち獲得を一気に伸ばしたいクライアントへの提案材料になる。</a:t>
            </a:r>
            <a:endParaRPr sz="1400" b="1">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a:solidFill>
                  <a:srgbClr val="15133D"/>
                </a:solidFill>
                <a:latin typeface="メイリオ"/>
                <a:ea typeface="Meiryo"/>
                <a:cs typeface="Meiryo"/>
                <a:sym typeface="Meiryo"/>
              </a:rPr>
              <a:t>■ 詳細</a:t>
            </a:r>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3">
            <a:alphaModFix/>
          </a:blip>
          <a:srcRect/>
          <a:stretch/>
        </p:blipFill>
        <p:spPr>
          <a:xfrm>
            <a:off x="351381" y="1234746"/>
            <a:ext cx="656177" cy="655521"/>
          </a:xfrm>
          <a:prstGeom prst="rect">
            <a:avLst/>
          </a:prstGeom>
          <a:noFill/>
          <a:ln>
            <a:noFill/>
          </a:ln>
        </p:spPr>
      </p:pic>
      <p:sp>
        <p:nvSpPr>
          <p:cNvPr id="63" name="Rectangle 62"/>
          <p:cNvSpPr/>
          <p:nvPr/>
        </p:nvSpPr>
        <p:spPr>
          <a:xfrm>
            <a:off x="544108" y="3068960"/>
            <a:ext cx="354787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333333"/>
                </a:solidFill>
                <a:latin typeface="メイリオ"/>
              </a:rPr>
              <a:t>AS-IS</a:t>
            </a:r>
          </a:p>
        </p:txBody>
      </p:sp>
      <p:sp>
        <p:nvSpPr>
          <p:cNvPr id="64" name="Rectangle 63"/>
          <p:cNvSpPr/>
          <p:nvPr/>
        </p:nvSpPr>
        <p:spPr>
          <a:xfrm>
            <a:off x="544108" y="3343280"/>
            <a:ext cx="3547872" cy="640080"/>
          </a:xfrm>
          <a:prstGeom prst="rect">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300" b="1" dirty="0">
                <a:solidFill>
                  <a:srgbClr val="15133D"/>
                </a:solidFill>
                <a:latin typeface="メイリオ"/>
              </a:rPr>
              <a:t>通常プラン｜基本費用1,800万円・</a:t>
            </a:r>
            <a:endParaRPr lang="en-US" sz="1300" b="1" dirty="0">
              <a:solidFill>
                <a:srgbClr val="15133D"/>
              </a:solidFill>
              <a:latin typeface="メイリオ"/>
            </a:endParaRPr>
          </a:p>
          <a:p>
            <a:pPr algn="ctr">
              <a:lnSpc>
                <a:spcPct val="110000"/>
              </a:lnSpc>
            </a:pPr>
            <a:r>
              <a:rPr sz="1300" b="1" dirty="0">
                <a:solidFill>
                  <a:srgbClr val="15133D"/>
                </a:solidFill>
                <a:latin typeface="メイリオ"/>
              </a:rPr>
              <a:t>掲載期間7日間・配信900万通</a:t>
            </a:r>
          </a:p>
        </p:txBody>
      </p:sp>
      <p:sp>
        <p:nvSpPr>
          <p:cNvPr id="65" name="TextBox 64"/>
          <p:cNvSpPr txBox="1"/>
          <p:nvPr/>
        </p:nvSpPr>
        <p:spPr>
          <a:xfrm>
            <a:off x="4091980" y="3068960"/>
            <a:ext cx="457200" cy="914400"/>
          </a:xfrm>
          <a:prstGeom prst="rect">
            <a:avLst/>
          </a:prstGeom>
          <a:noFill/>
        </p:spPr>
        <p:txBody>
          <a:bodyPr wrap="none" anchor="ctr">
            <a:spAutoFit/>
          </a:bodyPr>
          <a:lstStyle/>
          <a:p>
            <a:pPr algn="ctr"/>
            <a:r>
              <a:rPr sz="1800" b="1">
                <a:solidFill>
                  <a:srgbClr val="3467B2"/>
                </a:solidFill>
                <a:latin typeface="メイリオ"/>
              </a:rPr>
              <a:t>▶</a:t>
            </a:r>
          </a:p>
        </p:txBody>
      </p:sp>
      <p:sp>
        <p:nvSpPr>
          <p:cNvPr id="66" name="Rectangle 65"/>
          <p:cNvSpPr/>
          <p:nvPr/>
        </p:nvSpPr>
        <p:spPr>
          <a:xfrm>
            <a:off x="4549180" y="3068960"/>
            <a:ext cx="5059521" cy="27432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FFFFFF"/>
                </a:solidFill>
                <a:latin typeface="メイリオ"/>
              </a:rPr>
              <a:t>TO-BE</a:t>
            </a:r>
          </a:p>
        </p:txBody>
      </p:sp>
      <p:sp>
        <p:nvSpPr>
          <p:cNvPr id="67" name="Rectangle 66"/>
          <p:cNvSpPr/>
          <p:nvPr/>
        </p:nvSpPr>
        <p:spPr>
          <a:xfrm>
            <a:off x="4549180" y="3343280"/>
            <a:ext cx="5059521" cy="64008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2200" b="1" dirty="0">
                <a:solidFill>
                  <a:srgbClr val="15133D"/>
                </a:solidFill>
                <a:latin typeface="メイリオ"/>
              </a:rPr>
              <a:t>特別プラン｜基本費用1,500万円</a:t>
            </a:r>
          </a:p>
          <a:p>
            <a:pPr>
              <a:lnSpc>
                <a:spcPct val="110000"/>
              </a:lnSpc>
              <a:spcBef>
                <a:spcPts val="500"/>
              </a:spcBef>
            </a:pPr>
            <a:r>
              <a:rPr sz="1100" dirty="0">
                <a:solidFill>
                  <a:srgbClr val="333333"/>
                </a:solidFill>
                <a:latin typeface="メイリオ"/>
              </a:rPr>
              <a:t>掲載期間15日間・配信1,050万通に拡大</a:t>
            </a:r>
          </a:p>
        </p:txBody>
      </p:sp>
      <p:sp>
        <p:nvSpPr>
          <p:cNvPr id="68" name="Rounded Rectangle 67"/>
          <p:cNvSpPr/>
          <p:nvPr/>
        </p:nvSpPr>
        <p:spPr>
          <a:xfrm>
            <a:off x="544108" y="4211960"/>
            <a:ext cx="3547872"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800" b="1" dirty="0" err="1">
                <a:solidFill>
                  <a:srgbClr val="15133D"/>
                </a:solidFill>
                <a:latin typeface="メイリオ"/>
              </a:rPr>
              <a:t>特別価格で提案しやすい</a:t>
            </a:r>
            <a:endParaRPr sz="1800" b="1" dirty="0">
              <a:solidFill>
                <a:srgbClr val="15133D"/>
              </a:solidFill>
              <a:latin typeface="メイリオ"/>
            </a:endParaRPr>
          </a:p>
          <a:p>
            <a:pPr algn="l">
              <a:lnSpc>
                <a:spcPct val="115000"/>
              </a:lnSpc>
              <a:spcBef>
                <a:spcPts val="600"/>
              </a:spcBef>
            </a:pPr>
            <a:r>
              <a:rPr sz="1200" dirty="0">
                <a:solidFill>
                  <a:srgbClr val="333333"/>
                </a:solidFill>
                <a:latin typeface="メイリオ"/>
              </a:rPr>
              <a:t>基本費用が1,800万円→1,500万円に。</a:t>
            </a:r>
            <a:endParaRPr lang="en-US" sz="1200" dirty="0">
              <a:solidFill>
                <a:srgbClr val="333333"/>
              </a:solidFill>
              <a:latin typeface="メイリオ"/>
            </a:endParaRPr>
          </a:p>
          <a:p>
            <a:pPr algn="l">
              <a:lnSpc>
                <a:spcPct val="115000"/>
              </a:lnSpc>
              <a:spcBef>
                <a:spcPts val="600"/>
              </a:spcBef>
            </a:pPr>
            <a:r>
              <a:rPr sz="1200" dirty="0" err="1">
                <a:solidFill>
                  <a:srgbClr val="333333"/>
                </a:solidFill>
                <a:latin typeface="メイリオ"/>
              </a:rPr>
              <a:t>期間限定の特別プランとして提案の後押しになる</a:t>
            </a:r>
            <a:r>
              <a:rPr sz="1200" dirty="0">
                <a:solidFill>
                  <a:srgbClr val="333333"/>
                </a:solidFill>
                <a:latin typeface="メイリオ"/>
              </a:rPr>
              <a:t>。</a:t>
            </a:r>
          </a:p>
        </p:txBody>
      </p:sp>
      <p:sp>
        <p:nvSpPr>
          <p:cNvPr id="69" name="Rounded Rectangle 68"/>
          <p:cNvSpPr/>
          <p:nvPr/>
        </p:nvSpPr>
        <p:spPr>
          <a:xfrm>
            <a:off x="4549180" y="4211960"/>
            <a:ext cx="5059521"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700" b="1" dirty="0">
                <a:solidFill>
                  <a:srgbClr val="15133D"/>
                </a:solidFill>
                <a:latin typeface="メイリオ"/>
              </a:rPr>
              <a:t>景品はLINEポイント2pt総付</a:t>
            </a:r>
          </a:p>
          <a:p>
            <a:pPr algn="l">
              <a:lnSpc>
                <a:spcPct val="115000"/>
              </a:lnSpc>
              <a:spcBef>
                <a:spcPts val="600"/>
              </a:spcBef>
            </a:pPr>
            <a:r>
              <a:rPr sz="1100" dirty="0">
                <a:solidFill>
                  <a:srgbClr val="333333"/>
                </a:solidFill>
                <a:latin typeface="メイリオ"/>
              </a:rPr>
              <a:t>応募者全員にLINEポイント2ptを進呈するアンケート型キャンペーン。</a:t>
            </a:r>
            <a:endParaRPr lang="en-US" sz="1100" dirty="0">
              <a:solidFill>
                <a:srgbClr val="333333"/>
              </a:solidFill>
              <a:latin typeface="メイリオ"/>
            </a:endParaRPr>
          </a:p>
          <a:p>
            <a:pPr algn="l">
              <a:lnSpc>
                <a:spcPct val="115000"/>
              </a:lnSpc>
              <a:spcBef>
                <a:spcPts val="600"/>
              </a:spcBef>
            </a:pPr>
            <a:r>
              <a:rPr sz="1100" dirty="0" err="1">
                <a:solidFill>
                  <a:srgbClr val="333333"/>
                </a:solidFill>
                <a:latin typeface="メイリオ"/>
              </a:rPr>
              <a:t>対象はLINE公式アカウント・Messaging</a:t>
            </a:r>
            <a:r>
              <a:rPr sz="1100" dirty="0">
                <a:solidFill>
                  <a:srgbClr val="333333"/>
                </a:solidFill>
                <a:latin typeface="メイリオ"/>
              </a:rPr>
              <a:t> </a:t>
            </a:r>
            <a:r>
              <a:rPr sz="1100" dirty="0" err="1">
                <a:solidFill>
                  <a:srgbClr val="333333"/>
                </a:solidFill>
                <a:latin typeface="メイリオ"/>
              </a:rPr>
              <a:t>API対応かつ認証プロバイダー必須</a:t>
            </a:r>
            <a:r>
              <a:rPr sz="1100" dirty="0">
                <a:solidFill>
                  <a:srgbClr val="333333"/>
                </a:solidFill>
                <a:latin typeface="メイリオ"/>
              </a:rPr>
              <a:t>。</a:t>
            </a:r>
          </a:p>
        </p:txBody>
      </p:sp>
      <p:sp>
        <p:nvSpPr>
          <p:cNvPr id="3" name="正方形/長方形 2">
            <a:extLst>
              <a:ext uri="{FF2B5EF4-FFF2-40B4-BE49-F238E27FC236}">
                <a16:creationId xmlns:a16="http://schemas.microsoft.com/office/drawing/2014/main" id="{B4A2C5C5-23E7-72FD-079B-3C246572FE9A}"/>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2024E7FC-BCCF-EF5E-24E7-6708EA4D9CE6}"/>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F0E0E3F0-F17E-3F21-B751-96468BECEAD0}"/>
              </a:ext>
            </a:extLst>
          </p:cNvPr>
          <p:cNvSpPr/>
          <p:nvPr/>
        </p:nvSpPr>
        <p:spPr>
          <a:xfrm>
            <a:off x="4915470" y="730955"/>
            <a:ext cx="829618" cy="435690"/>
          </a:xfrm>
          <a:prstGeom prst="rect">
            <a:avLst/>
          </a:prstGeom>
          <a:solidFill>
            <a:schemeClr val="bg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graphicFrame>
        <p:nvGraphicFramePr>
          <p:cNvPr id="9" name="図表 8">
            <a:extLst>
              <a:ext uri="{FF2B5EF4-FFF2-40B4-BE49-F238E27FC236}">
                <a16:creationId xmlns:a16="http://schemas.microsoft.com/office/drawing/2014/main" id="{C761A312-CBA2-643B-0133-3A448D5EB91C}"/>
              </a:ext>
            </a:extLst>
          </p:cNvPr>
          <p:cNvGraphicFramePr/>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正方形/長方形 10">
            <a:extLst>
              <a:ext uri="{FF2B5EF4-FFF2-40B4-BE49-F238E27FC236}">
                <a16:creationId xmlns:a16="http://schemas.microsoft.com/office/drawing/2014/main" id="{361304B1-F9A7-8DB6-7F0D-C4C8C50522F4}"/>
              </a:ext>
            </a:extLst>
          </p:cNvPr>
          <p:cNvSpPr/>
          <p:nvPr/>
        </p:nvSpPr>
        <p:spPr>
          <a:xfrm>
            <a:off x="6679050" y="730955"/>
            <a:ext cx="829618" cy="435690"/>
          </a:xfrm>
          <a:prstGeom prst="rect">
            <a:avLst/>
          </a:prstGeom>
          <a:solidFill>
            <a:schemeClr val="bg2">
              <a:lumMod val="20000"/>
              <a:lumOff val="80000"/>
            </a:schemeClr>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出典：https://www.lycbiz.com/jp/service/line-sales-promotion/</a:t>
            </a:r>
            <a:endParaRPr sz="800">
              <a:solidFill>
                <a:schemeClr val="lt1"/>
              </a:solidFill>
              <a:latin typeface="Meiryo"/>
              <a:ea typeface="Meiryo"/>
              <a:cs typeface="Meiryo"/>
              <a:sym typeface="Meiry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lvl="0"/>
            <a:r>
              <a:rPr lang="en-US" altLang="ja-JP" sz="1600" b="1" dirty="0">
                <a:solidFill>
                  <a:srgbClr val="004DE6"/>
                </a:solidFill>
                <a:latin typeface="メイリオ"/>
                <a:ea typeface="Meiryo"/>
                <a:cs typeface="Meiryo"/>
                <a:sym typeface="Meiryo"/>
              </a:rPr>
              <a:t>【LINE</a:t>
            </a:r>
            <a:r>
              <a:rPr lang="ja-JP" altLang="en-US" sz="1600" b="1" dirty="0">
                <a:solidFill>
                  <a:srgbClr val="004DE6"/>
                </a:solidFill>
                <a:latin typeface="メイリオ"/>
                <a:ea typeface="Meiryo"/>
                <a:cs typeface="Meiryo"/>
                <a:sym typeface="Meiryo"/>
              </a:rPr>
              <a:t>オープンキャンペーン</a:t>
            </a:r>
            <a:r>
              <a:rPr lang="en-US" altLang="ja-JP" sz="1600" b="1" dirty="0">
                <a:solidFill>
                  <a:srgbClr val="004DE6"/>
                </a:solidFill>
                <a:latin typeface="メイリオ"/>
                <a:ea typeface="Meiryo"/>
                <a:cs typeface="Meiryo"/>
                <a:sym typeface="Meiryo"/>
              </a:rPr>
              <a:t>】26</a:t>
            </a:r>
            <a:r>
              <a:rPr lang="ja-JP" altLang="en-US" sz="1600" b="1" dirty="0">
                <a:solidFill>
                  <a:srgbClr val="004DE6"/>
                </a:solidFill>
                <a:latin typeface="メイリオ"/>
                <a:ea typeface="Meiryo"/>
                <a:cs typeface="Meiryo"/>
                <a:sym typeface="Meiryo"/>
              </a:rPr>
              <a:t>年</a:t>
            </a:r>
            <a:r>
              <a:rPr lang="en-US" altLang="ja-JP" sz="1600" b="1" dirty="0">
                <a:solidFill>
                  <a:srgbClr val="004DE6"/>
                </a:solidFill>
                <a:latin typeface="メイリオ"/>
                <a:ea typeface="Meiryo"/>
                <a:cs typeface="Meiryo"/>
                <a:sym typeface="Meiryo"/>
              </a:rPr>
              <a:t>10-12</a:t>
            </a:r>
            <a:r>
              <a:rPr lang="ja-JP" altLang="en-US" sz="1600" b="1" dirty="0">
                <a:solidFill>
                  <a:srgbClr val="004DE6"/>
                </a:solidFill>
                <a:latin typeface="メイリオ"/>
                <a:ea typeface="Meiryo"/>
                <a:cs typeface="Meiryo"/>
                <a:sym typeface="Meiryo"/>
              </a:rPr>
              <a:t>月 期間限定キャンペーン</a:t>
            </a:r>
            <a:endParaRPr lang="ja-JP" altLang="en-US"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a:solidFill>
                  <a:schemeClr val="dk1"/>
                </a:solidFill>
                <a:latin typeface="メイリオ"/>
                <a:ea typeface="Meiryo"/>
                <a:cs typeface="Meiryo"/>
                <a:sym typeface="Meiryo"/>
              </a:rPr>
              <a:t>申込みから掲載開始まで、審査・枠おさえ・入稿の3段階を経る。</a:t>
            </a:r>
            <a:endParaRPr sz="1200" b="1">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配信枠は早い者勝ちのため、各締切の厳守が前提条件になる。</a:t>
            </a:r>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土日祝日の掲載開始は不可なので、平日での日程調整が必要。</a:t>
            </a:r>
            <a:endParaRPr sz="1400" b="1">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a:solidFill>
                  <a:srgbClr val="15133D"/>
                </a:solidFill>
                <a:latin typeface="メイリオ"/>
                <a:ea typeface="Meiryo"/>
                <a:cs typeface="Meiryo"/>
                <a:sym typeface="Meiryo"/>
              </a:rPr>
              <a:t>■ 詳細</a:t>
            </a:r>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sp>
        <p:nvSpPr>
          <p:cNvPr id="63" name="Rectangle 62"/>
          <p:cNvSpPr/>
          <p:nvPr/>
        </p:nvSpPr>
        <p:spPr>
          <a:xfrm>
            <a:off x="544108" y="3068960"/>
            <a:ext cx="1730462" cy="36576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FFFFFF"/>
                </a:solidFill>
                <a:latin typeface="メイリオ"/>
              </a:rPr>
              <a:t>30営業日前</a:t>
            </a:r>
          </a:p>
        </p:txBody>
      </p:sp>
      <p:sp>
        <p:nvSpPr>
          <p:cNvPr id="64" name="Rectangle 63"/>
          <p:cNvSpPr/>
          <p:nvPr/>
        </p:nvSpPr>
        <p:spPr>
          <a:xfrm>
            <a:off x="544108" y="3434720"/>
            <a:ext cx="1730462" cy="100584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200" dirty="0" err="1">
                <a:solidFill>
                  <a:srgbClr val="333333"/>
                </a:solidFill>
                <a:latin typeface="メイリオ"/>
              </a:rPr>
              <a:t>企業・商材審査</a:t>
            </a:r>
            <a:endParaRPr lang="en-US" sz="1200" dirty="0">
              <a:solidFill>
                <a:srgbClr val="333333"/>
              </a:solidFill>
              <a:latin typeface="メイリオ"/>
            </a:endParaRPr>
          </a:p>
          <a:p>
            <a:pPr algn="ctr">
              <a:lnSpc>
                <a:spcPct val="110000"/>
              </a:lnSpc>
            </a:pPr>
            <a:r>
              <a:rPr sz="1200" dirty="0" err="1">
                <a:solidFill>
                  <a:srgbClr val="333333"/>
                </a:solidFill>
                <a:latin typeface="メイリオ"/>
              </a:rPr>
              <a:t>企画審査</a:t>
            </a:r>
            <a:endParaRPr sz="1200" dirty="0">
              <a:solidFill>
                <a:srgbClr val="333333"/>
              </a:solidFill>
              <a:latin typeface="メイリオ"/>
            </a:endParaRPr>
          </a:p>
        </p:txBody>
      </p:sp>
      <p:sp>
        <p:nvSpPr>
          <p:cNvPr id="65" name="TextBox 64"/>
          <p:cNvSpPr txBox="1"/>
          <p:nvPr/>
        </p:nvSpPr>
        <p:spPr>
          <a:xfrm>
            <a:off x="2477677" y="3693842"/>
            <a:ext cx="264770" cy="338554"/>
          </a:xfrm>
          <a:prstGeom prst="rect">
            <a:avLst/>
          </a:prstGeom>
          <a:noFill/>
        </p:spPr>
        <p:txBody>
          <a:bodyPr wrap="square" anchor="ctr">
            <a:spAutoFit/>
          </a:bodyPr>
          <a:lstStyle/>
          <a:p>
            <a:pPr algn="ctr"/>
            <a:r>
              <a:rPr sz="1600" b="1">
                <a:solidFill>
                  <a:srgbClr val="3467B2"/>
                </a:solidFill>
                <a:latin typeface="メイリオ"/>
              </a:rPr>
              <a:t>▶</a:t>
            </a:r>
          </a:p>
        </p:txBody>
      </p:sp>
      <p:sp>
        <p:nvSpPr>
          <p:cNvPr id="66" name="Rectangle 65"/>
          <p:cNvSpPr/>
          <p:nvPr/>
        </p:nvSpPr>
        <p:spPr>
          <a:xfrm>
            <a:off x="2955838" y="3068960"/>
            <a:ext cx="1730462" cy="36576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FFFFFF"/>
                </a:solidFill>
                <a:latin typeface="メイリオ"/>
              </a:rPr>
              <a:t>25営業日前 17時</a:t>
            </a:r>
          </a:p>
        </p:txBody>
      </p:sp>
      <p:sp>
        <p:nvSpPr>
          <p:cNvPr id="67" name="Rectangle 66"/>
          <p:cNvSpPr/>
          <p:nvPr/>
        </p:nvSpPr>
        <p:spPr>
          <a:xfrm>
            <a:off x="2955838" y="3434720"/>
            <a:ext cx="1730462" cy="100584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200" dirty="0" err="1">
                <a:solidFill>
                  <a:srgbClr val="333333"/>
                </a:solidFill>
                <a:latin typeface="メイリオ"/>
              </a:rPr>
              <a:t>配信枠おさえ</a:t>
            </a:r>
            <a:endParaRPr lang="en-US" sz="1200" dirty="0">
              <a:solidFill>
                <a:srgbClr val="333333"/>
              </a:solidFill>
              <a:latin typeface="メイリオ"/>
            </a:endParaRPr>
          </a:p>
          <a:p>
            <a:pPr algn="ctr">
              <a:lnSpc>
                <a:spcPct val="110000"/>
              </a:lnSpc>
            </a:pPr>
            <a:r>
              <a:rPr sz="1200" dirty="0" err="1">
                <a:solidFill>
                  <a:srgbClr val="333333"/>
                </a:solidFill>
                <a:latin typeface="メイリオ"/>
              </a:rPr>
              <a:t>申込み</a:t>
            </a:r>
            <a:endParaRPr sz="1200" dirty="0">
              <a:solidFill>
                <a:srgbClr val="333333"/>
              </a:solidFill>
              <a:latin typeface="メイリオ"/>
            </a:endParaRPr>
          </a:p>
        </p:txBody>
      </p:sp>
      <p:sp>
        <p:nvSpPr>
          <p:cNvPr id="68" name="TextBox 67"/>
          <p:cNvSpPr txBox="1"/>
          <p:nvPr/>
        </p:nvSpPr>
        <p:spPr>
          <a:xfrm>
            <a:off x="4899691" y="3699414"/>
            <a:ext cx="264770" cy="338554"/>
          </a:xfrm>
          <a:prstGeom prst="rect">
            <a:avLst/>
          </a:prstGeom>
          <a:noFill/>
        </p:spPr>
        <p:txBody>
          <a:bodyPr wrap="square" anchor="ctr">
            <a:spAutoFit/>
          </a:bodyPr>
          <a:lstStyle/>
          <a:p>
            <a:pPr algn="ctr"/>
            <a:r>
              <a:rPr sz="1600" b="1" dirty="0">
                <a:solidFill>
                  <a:srgbClr val="3467B2"/>
                </a:solidFill>
                <a:latin typeface="メイリオ"/>
              </a:rPr>
              <a:t>▶</a:t>
            </a:r>
          </a:p>
        </p:txBody>
      </p:sp>
      <p:sp>
        <p:nvSpPr>
          <p:cNvPr id="69" name="Rectangle 68"/>
          <p:cNvSpPr/>
          <p:nvPr/>
        </p:nvSpPr>
        <p:spPr>
          <a:xfrm>
            <a:off x="5367568" y="3068960"/>
            <a:ext cx="1730462" cy="36576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FFFFFF"/>
                </a:solidFill>
                <a:latin typeface="メイリオ"/>
              </a:rPr>
              <a:t>20営業日前 17時</a:t>
            </a:r>
          </a:p>
        </p:txBody>
      </p:sp>
      <p:sp>
        <p:nvSpPr>
          <p:cNvPr id="70" name="Rectangle 69"/>
          <p:cNvSpPr/>
          <p:nvPr/>
        </p:nvSpPr>
        <p:spPr>
          <a:xfrm>
            <a:off x="5367568" y="3434720"/>
            <a:ext cx="1730462" cy="100584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200">
                <a:solidFill>
                  <a:srgbClr val="333333"/>
                </a:solidFill>
                <a:latin typeface="メイリオ"/>
              </a:rPr>
              <a:t>入稿物の提出</a:t>
            </a:r>
          </a:p>
        </p:txBody>
      </p:sp>
      <p:sp>
        <p:nvSpPr>
          <p:cNvPr id="71" name="TextBox 70"/>
          <p:cNvSpPr txBox="1"/>
          <p:nvPr/>
        </p:nvSpPr>
        <p:spPr>
          <a:xfrm>
            <a:off x="7194082" y="3693842"/>
            <a:ext cx="264770" cy="338554"/>
          </a:xfrm>
          <a:prstGeom prst="rect">
            <a:avLst/>
          </a:prstGeom>
          <a:noFill/>
        </p:spPr>
        <p:txBody>
          <a:bodyPr wrap="square" anchor="ctr">
            <a:spAutoFit/>
          </a:bodyPr>
          <a:lstStyle/>
          <a:p>
            <a:pPr algn="ctr"/>
            <a:r>
              <a:rPr sz="1600" b="1" dirty="0">
                <a:solidFill>
                  <a:srgbClr val="3467B2"/>
                </a:solidFill>
                <a:latin typeface="メイリオ"/>
              </a:rPr>
              <a:t>▶</a:t>
            </a:r>
          </a:p>
        </p:txBody>
      </p:sp>
      <p:sp>
        <p:nvSpPr>
          <p:cNvPr id="72" name="Rectangle 71"/>
          <p:cNvSpPr/>
          <p:nvPr/>
        </p:nvSpPr>
        <p:spPr>
          <a:xfrm>
            <a:off x="7554904" y="3068960"/>
            <a:ext cx="1730462" cy="36576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wrap="square" rIns="45720" rtlCol="0" anchor="ctr"/>
          <a:lstStyle/>
          <a:p>
            <a:pPr algn="ctr"/>
            <a:r>
              <a:rPr sz="1300" b="1">
                <a:solidFill>
                  <a:srgbClr val="FFFFFF"/>
                </a:solidFill>
                <a:latin typeface="メイリオ"/>
              </a:rPr>
              <a:t>開始日</a:t>
            </a:r>
          </a:p>
        </p:txBody>
      </p:sp>
      <p:sp>
        <p:nvSpPr>
          <p:cNvPr id="73" name="Rectangle 72"/>
          <p:cNvSpPr/>
          <p:nvPr/>
        </p:nvSpPr>
        <p:spPr>
          <a:xfrm>
            <a:off x="7554904" y="3434720"/>
            <a:ext cx="1730462" cy="100584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37160" bIns="54864" rtlCol="0" anchor="ctr"/>
          <a:lstStyle/>
          <a:p>
            <a:pPr algn="ctr">
              <a:lnSpc>
                <a:spcPct val="110000"/>
              </a:lnSpc>
            </a:pPr>
            <a:r>
              <a:rPr sz="1200" dirty="0" err="1">
                <a:solidFill>
                  <a:srgbClr val="333333"/>
                </a:solidFill>
                <a:latin typeface="メイリオ"/>
              </a:rPr>
              <a:t>掲載開始</a:t>
            </a:r>
            <a:endParaRPr lang="en-US" sz="1200" dirty="0">
              <a:solidFill>
                <a:srgbClr val="333333"/>
              </a:solidFill>
              <a:latin typeface="メイリオ"/>
            </a:endParaRPr>
          </a:p>
          <a:p>
            <a:pPr algn="ctr">
              <a:lnSpc>
                <a:spcPct val="110000"/>
              </a:lnSpc>
            </a:pPr>
            <a:r>
              <a:rPr sz="1200" dirty="0">
                <a:solidFill>
                  <a:srgbClr val="333333"/>
                </a:solidFill>
                <a:latin typeface="メイリオ"/>
              </a:rPr>
              <a:t>（</a:t>
            </a:r>
            <a:r>
              <a:rPr sz="1200" dirty="0" err="1">
                <a:solidFill>
                  <a:srgbClr val="333333"/>
                </a:solidFill>
                <a:latin typeface="メイリオ"/>
              </a:rPr>
              <a:t>土日祝日不可</a:t>
            </a:r>
            <a:r>
              <a:rPr sz="1200" dirty="0">
                <a:solidFill>
                  <a:srgbClr val="333333"/>
                </a:solidFill>
                <a:latin typeface="メイリオ"/>
              </a:rPr>
              <a:t>）</a:t>
            </a:r>
          </a:p>
        </p:txBody>
      </p:sp>
      <p:sp>
        <p:nvSpPr>
          <p:cNvPr id="74" name="Rounded Rectangle 73"/>
          <p:cNvSpPr/>
          <p:nvPr/>
        </p:nvSpPr>
        <p:spPr>
          <a:xfrm>
            <a:off x="544108" y="4669160"/>
            <a:ext cx="8737052" cy="10058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2000" b="1" dirty="0" err="1">
                <a:solidFill>
                  <a:srgbClr val="15133D"/>
                </a:solidFill>
                <a:latin typeface="メイリオ"/>
              </a:rPr>
              <a:t>早めの申込みが必須</a:t>
            </a:r>
            <a:endParaRPr sz="2000" b="1" dirty="0">
              <a:solidFill>
                <a:srgbClr val="15133D"/>
              </a:solidFill>
              <a:latin typeface="メイリオ"/>
            </a:endParaRPr>
          </a:p>
          <a:p>
            <a:pPr algn="l">
              <a:lnSpc>
                <a:spcPct val="115000"/>
              </a:lnSpc>
              <a:spcBef>
                <a:spcPts val="600"/>
              </a:spcBef>
            </a:pPr>
            <a:r>
              <a:rPr dirty="0" err="1">
                <a:solidFill>
                  <a:srgbClr val="333333"/>
                </a:solidFill>
                <a:latin typeface="メイリオ"/>
              </a:rPr>
              <a:t>期間・条件限定のキャンペーンのため、早めの提案・申込み誘導がカギ</a:t>
            </a:r>
            <a:r>
              <a:rPr dirty="0">
                <a:solidFill>
                  <a:srgbClr val="333333"/>
                </a:solidFill>
                <a:latin typeface="メイリオ"/>
              </a:rPr>
              <a:t>。</a:t>
            </a:r>
            <a:endParaRPr lang="en-US" dirty="0">
              <a:solidFill>
                <a:srgbClr val="333333"/>
              </a:solidFill>
              <a:latin typeface="メイリオ"/>
            </a:endParaRPr>
          </a:p>
          <a:p>
            <a:pPr algn="l">
              <a:lnSpc>
                <a:spcPct val="115000"/>
              </a:lnSpc>
              <a:spcBef>
                <a:spcPts val="600"/>
              </a:spcBef>
            </a:pPr>
            <a:r>
              <a:rPr dirty="0" err="1">
                <a:solidFill>
                  <a:srgbClr val="333333"/>
                </a:solidFill>
                <a:latin typeface="メイリオ"/>
              </a:rPr>
              <a:t>配信枠は先着で埋まるため、審査期間も見込んだ逆算スケジュールを組む</a:t>
            </a:r>
            <a:r>
              <a:rPr dirty="0">
                <a:solidFill>
                  <a:srgbClr val="333333"/>
                </a:solidFill>
                <a:latin typeface="メイリオ"/>
              </a:rPr>
              <a:t>。</a:t>
            </a:r>
          </a:p>
        </p:txBody>
      </p:sp>
      <p:graphicFrame>
        <p:nvGraphicFramePr>
          <p:cNvPr id="9" name="図表 8">
            <a:extLst>
              <a:ext uri="{FF2B5EF4-FFF2-40B4-BE49-F238E27FC236}">
                <a16:creationId xmlns:a16="http://schemas.microsoft.com/office/drawing/2014/main" id="{FB91556C-B694-7FDD-BAA5-4D6F5B361174}"/>
              </a:ext>
            </a:extLst>
          </p:cNvPr>
          <p:cNvGraphicFramePr/>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正方形/長方形 12">
            <a:extLst>
              <a:ext uri="{FF2B5EF4-FFF2-40B4-BE49-F238E27FC236}">
                <a16:creationId xmlns:a16="http://schemas.microsoft.com/office/drawing/2014/main" id="{AC20BBD9-4A18-AAE8-35A2-AE112AFF738F}"/>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40F3355E-080B-0A5A-34B5-42D33EF674CE}"/>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CD3D93BD-8423-CC15-ADA5-9715DA4FA257}"/>
              </a:ext>
            </a:extLst>
          </p:cNvPr>
          <p:cNvSpPr/>
          <p:nvPr/>
        </p:nvSpPr>
        <p:spPr>
          <a:xfrm>
            <a:off x="4915470" y="730955"/>
            <a:ext cx="829618" cy="435690"/>
          </a:xfrm>
          <a:prstGeom prst="rect">
            <a:avLst/>
          </a:prstGeom>
          <a:solidFill>
            <a:schemeClr val="bg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03EFA71-D6B2-4EAF-80D9-77D6A4FC03BB}"/>
              </a:ext>
            </a:extLst>
          </p:cNvPr>
          <p:cNvSpPr/>
          <p:nvPr/>
        </p:nvSpPr>
        <p:spPr>
          <a:xfrm>
            <a:off x="6679050" y="730955"/>
            <a:ext cx="829618" cy="435690"/>
          </a:xfrm>
          <a:prstGeom prst="rect">
            <a:avLst/>
          </a:prstGeom>
          <a:solidFill>
            <a:schemeClr val="bg2">
              <a:lumMod val="20000"/>
              <a:lumOff val="80000"/>
            </a:schemeClr>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出典：https://www.lycbiz.com/jp/service/line-sales-promotion/</a:t>
            </a:r>
            <a:endParaRPr sz="800">
              <a:solidFill>
                <a:schemeClr val="lt1"/>
              </a:solidFill>
              <a:latin typeface="Meiryo"/>
              <a:ea typeface="Meiryo"/>
              <a:cs typeface="Meiryo"/>
              <a:sym typeface="Meiry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メイリオ"/>
                <a:ea typeface="Meiryo"/>
                <a:cs typeface="Meiryo"/>
                <a:sym typeface="Meiryo"/>
              </a:rPr>
              <a:t>対象業界</a:t>
            </a:r>
            <a:endParaRPr/>
          </a:p>
        </p:txBody>
      </p:sp>
      <p:sp>
        <p:nvSpPr>
          <p:cNvPr id="43" name="Google Shape;43;p3"/>
          <p:cNvSpPr/>
          <p:nvPr/>
        </p:nvSpPr>
        <p:spPr>
          <a:xfrm>
            <a:off x="1594068" y="730955"/>
            <a:ext cx="2926883" cy="435690"/>
          </a:xfrm>
          <a:prstGeom prst="rect">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300" b="0" i="0" u="none" strike="noStrike" cap="none">
                <a:solidFill>
                  <a:schemeClr val="dk1"/>
                </a:solidFill>
                <a:latin typeface="メイリオ"/>
                <a:ea typeface="Meiryo"/>
                <a:cs typeface="Meiryo"/>
                <a:sym typeface="Meiryo"/>
              </a:rPr>
              <a:t>友だち獲得を強化したい全業種</a:t>
            </a:r>
            <a:endParaRPr/>
          </a:p>
        </p:txBody>
      </p:sp>
      <p:sp>
        <p:nvSpPr>
          <p:cNvPr id="45" name="Google Shape;45;p3"/>
          <p:cNvSpPr/>
          <p:nvPr/>
        </p:nvSpPr>
        <p:spPr>
          <a:xfrm>
            <a:off x="0" y="1234746"/>
            <a:ext cx="9906000" cy="672259"/>
          </a:xfrm>
          <a:prstGeom prst="rect">
            <a:avLst/>
          </a:prstGeom>
          <a:solidFill>
            <a:srgbClr val="C5D8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600" b="1">
                <a:solidFill>
                  <a:srgbClr val="004DE6"/>
                </a:solidFill>
                <a:latin typeface="メイリオ"/>
                <a:ea typeface="Meiryo"/>
                <a:cs typeface="Meiryo"/>
                <a:sym typeface="Meiryo"/>
              </a:rPr>
              <a:t>　　　　　　</a:t>
            </a:r>
            <a:endParaRPr sz="1800" b="1">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spcFirstLastPara="1" wrap="square" lIns="91425" tIns="45700" rIns="91425" bIns="45700" anchor="t" anchorCtr="0">
            <a:spAutoFit/>
          </a:bodyPr>
          <a:lstStyle/>
          <a:p>
            <a:pPr lvl="0"/>
            <a:r>
              <a:rPr lang="en-US" altLang="ja-JP" sz="1600" b="1" dirty="0">
                <a:solidFill>
                  <a:srgbClr val="004DE6"/>
                </a:solidFill>
                <a:latin typeface="メイリオ"/>
                <a:ea typeface="Meiryo"/>
                <a:cs typeface="Meiryo"/>
                <a:sym typeface="Meiryo"/>
              </a:rPr>
              <a:t>【LINE</a:t>
            </a:r>
            <a:r>
              <a:rPr lang="ja-JP" altLang="en-US" sz="1600" b="1" dirty="0">
                <a:solidFill>
                  <a:srgbClr val="004DE6"/>
                </a:solidFill>
                <a:latin typeface="メイリオ"/>
                <a:ea typeface="Meiryo"/>
                <a:cs typeface="Meiryo"/>
                <a:sym typeface="Meiryo"/>
              </a:rPr>
              <a:t>オープンキャンペーン</a:t>
            </a:r>
            <a:r>
              <a:rPr lang="en-US" altLang="ja-JP" sz="1600" b="1" dirty="0">
                <a:solidFill>
                  <a:srgbClr val="004DE6"/>
                </a:solidFill>
                <a:latin typeface="メイリオ"/>
                <a:ea typeface="Meiryo"/>
                <a:cs typeface="Meiryo"/>
                <a:sym typeface="Meiryo"/>
              </a:rPr>
              <a:t>】26</a:t>
            </a:r>
            <a:r>
              <a:rPr lang="ja-JP" altLang="en-US" sz="1600" b="1" dirty="0">
                <a:solidFill>
                  <a:srgbClr val="004DE6"/>
                </a:solidFill>
                <a:latin typeface="メイリオ"/>
                <a:ea typeface="Meiryo"/>
                <a:cs typeface="Meiryo"/>
                <a:sym typeface="Meiryo"/>
              </a:rPr>
              <a:t>年</a:t>
            </a:r>
            <a:r>
              <a:rPr lang="en-US" altLang="ja-JP" sz="1600" b="1" dirty="0">
                <a:solidFill>
                  <a:srgbClr val="004DE6"/>
                </a:solidFill>
                <a:latin typeface="メイリオ"/>
                <a:ea typeface="Meiryo"/>
                <a:cs typeface="Meiryo"/>
                <a:sym typeface="Meiryo"/>
              </a:rPr>
              <a:t>10-12</a:t>
            </a:r>
            <a:r>
              <a:rPr lang="ja-JP" altLang="en-US" sz="1600" b="1" dirty="0">
                <a:solidFill>
                  <a:srgbClr val="004DE6"/>
                </a:solidFill>
                <a:latin typeface="メイリオ"/>
                <a:ea typeface="Meiryo"/>
                <a:cs typeface="Meiryo"/>
                <a:sym typeface="Meiryo"/>
              </a:rPr>
              <a:t>月 期間限定キャンペーン</a:t>
            </a:r>
            <a:endParaRPr lang="ja-JP" altLang="en-US" sz="1600" b="1" dirty="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spcFirstLastPara="1" wrap="square" lIns="91425" tIns="72000" rIns="91425" bIns="45700" anchor="t" anchorCtr="0">
            <a:spAutoFit/>
          </a:bodyPr>
          <a:lstStyle/>
          <a:p>
            <a:pPr marL="0" marR="0" lvl="0" indent="0" algn="l" rtl="0">
              <a:spcBef>
                <a:spcPts val="0"/>
              </a:spcBef>
              <a:spcAft>
                <a:spcPts val="0"/>
              </a:spcAft>
              <a:buClr>
                <a:schemeClr val="dk1"/>
              </a:buClr>
              <a:buSzPts val="1600"/>
              <a:buFont typeface="Arial"/>
              <a:buNone/>
            </a:pPr>
            <a:r>
              <a:rPr lang="ja-JP" sz="1600" b="0" u="none">
                <a:solidFill>
                  <a:schemeClr val="dk1"/>
                </a:solidFill>
                <a:latin typeface="メイリオ"/>
                <a:ea typeface="Meiryo"/>
                <a:cs typeface="Meiryo"/>
                <a:sym typeface="Meiryo"/>
              </a:rPr>
              <a:t>    今後のアップデート情報</a:t>
            </a:r>
            <a:endParaRPr sz="1600" b="0" u="none">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200" b="1">
                <a:solidFill>
                  <a:schemeClr val="dk1"/>
                </a:solidFill>
                <a:latin typeface="メイリオ"/>
                <a:ea typeface="Meiryo"/>
                <a:cs typeface="Meiryo"/>
                <a:sym typeface="Meiryo"/>
              </a:rPr>
              <a:t>キャンセル規定・割引の併用可否など、提案前に必ず確認したい4点。</a:t>
            </a:r>
            <a:endParaRPr sz="1200" b="1">
              <a:solidFill>
                <a:schemeClr val="dk1"/>
              </a:solidFill>
              <a:latin typeface="Meiryo"/>
              <a:ea typeface="Meiryo"/>
              <a:cs typeface="Meiryo"/>
              <a:sym typeface="Meiryo"/>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特にキャンセル規定は発注後の費用に直結するため要注意。</a:t>
            </a:r>
            <a:endParaRPr/>
          </a:p>
          <a:p>
            <a:pPr marL="0" marR="0" lvl="0" indent="0" algn="ctr" rtl="0">
              <a:spcBef>
                <a:spcPts val="0"/>
              </a:spcBef>
              <a:spcAft>
                <a:spcPts val="0"/>
              </a:spcAft>
              <a:buNone/>
            </a:pPr>
            <a:r>
              <a:rPr lang="ja-JP" sz="1200" b="1">
                <a:solidFill>
                  <a:schemeClr val="dk1"/>
                </a:solidFill>
                <a:latin typeface="メイリオ"/>
                <a:ea typeface="Meiryo"/>
                <a:cs typeface="Meiryo"/>
                <a:sym typeface="Meiryo"/>
              </a:rPr>
              <a:t>景品内容は変更となる場合があり、事前の合意形成が欠かせない。</a:t>
            </a:r>
            <a:endParaRPr sz="1400" b="1">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a:solidFill>
                  <a:srgbClr val="15133D"/>
                </a:solidFill>
                <a:latin typeface="メイリオ"/>
                <a:ea typeface="Meiryo"/>
                <a:cs typeface="Meiryo"/>
                <a:sym typeface="Meiryo"/>
              </a:rPr>
              <a:t>■ 詳細</a:t>
            </a:r>
            <a:endParaRPr/>
          </a:p>
        </p:txBody>
      </p:sp>
      <p:pic>
        <p:nvPicPr>
          <p:cNvPr id="62" name="Google Shape;62;p3" descr="LINE公式アカウントのロゴの使用方法とは？種類やダウンロード方法、利用時の注意点を紹介 | Mico（ミコ）"/>
          <p:cNvPicPr preferRelativeResize="0"/>
          <p:nvPr/>
        </p:nvPicPr>
        <p:blipFill rotWithShape="1">
          <a:blip r:embed="rId2">
            <a:alphaModFix/>
          </a:blip>
          <a:srcRect/>
          <a:stretch/>
        </p:blipFill>
        <p:spPr>
          <a:xfrm>
            <a:off x="351381" y="1234746"/>
            <a:ext cx="656177" cy="655521"/>
          </a:xfrm>
          <a:prstGeom prst="rect">
            <a:avLst/>
          </a:prstGeom>
          <a:noFill/>
          <a:ln>
            <a:noFill/>
          </a:ln>
        </p:spPr>
      </p:pic>
      <p:sp>
        <p:nvSpPr>
          <p:cNvPr id="63" name="Rounded Rectangle 62"/>
          <p:cNvSpPr/>
          <p:nvPr/>
        </p:nvSpPr>
        <p:spPr>
          <a:xfrm>
            <a:off x="544108" y="3068960"/>
            <a:ext cx="4206495"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2000" b="1" dirty="0" err="1">
                <a:solidFill>
                  <a:srgbClr val="15133D"/>
                </a:solidFill>
                <a:latin typeface="メイリオ"/>
              </a:rPr>
              <a:t>キャンセル規定</a:t>
            </a:r>
            <a:endParaRPr sz="2000" b="1" dirty="0">
              <a:solidFill>
                <a:srgbClr val="15133D"/>
              </a:solidFill>
              <a:latin typeface="メイリオ"/>
            </a:endParaRPr>
          </a:p>
          <a:p>
            <a:pPr algn="l">
              <a:lnSpc>
                <a:spcPct val="115000"/>
              </a:lnSpc>
              <a:spcBef>
                <a:spcPts val="600"/>
              </a:spcBef>
            </a:pPr>
            <a:r>
              <a:rPr dirty="0" err="1">
                <a:solidFill>
                  <a:srgbClr val="333333"/>
                </a:solidFill>
                <a:latin typeface="メイリオ"/>
              </a:rPr>
              <a:t>発注期日超過後のキャンセルは</a:t>
            </a:r>
            <a:r>
              <a:rPr dirty="0">
                <a:solidFill>
                  <a:srgbClr val="333333"/>
                </a:solidFill>
                <a:latin typeface="メイリオ"/>
              </a:rPr>
              <a:t>、</a:t>
            </a:r>
            <a:endParaRPr lang="en-US" dirty="0">
              <a:solidFill>
                <a:srgbClr val="333333"/>
              </a:solidFill>
              <a:latin typeface="メイリオ"/>
            </a:endParaRPr>
          </a:p>
          <a:p>
            <a:pPr algn="l">
              <a:lnSpc>
                <a:spcPct val="115000"/>
              </a:lnSpc>
              <a:spcBef>
                <a:spcPts val="600"/>
              </a:spcBef>
            </a:pPr>
            <a:r>
              <a:rPr dirty="0">
                <a:solidFill>
                  <a:srgbClr val="333333"/>
                </a:solidFill>
                <a:latin typeface="メイリオ"/>
              </a:rPr>
              <a:t>最低発注金額1,500万円を請求。</a:t>
            </a:r>
          </a:p>
        </p:txBody>
      </p:sp>
      <p:sp>
        <p:nvSpPr>
          <p:cNvPr id="64" name="Rounded Rectangle 63"/>
          <p:cNvSpPr/>
          <p:nvPr/>
        </p:nvSpPr>
        <p:spPr>
          <a:xfrm>
            <a:off x="5298988" y="3068960"/>
            <a:ext cx="4206495"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2000" b="1" dirty="0" err="1">
                <a:solidFill>
                  <a:srgbClr val="15133D"/>
                </a:solidFill>
                <a:latin typeface="メイリオ"/>
              </a:rPr>
              <a:t>他割引との併用不可</a:t>
            </a:r>
            <a:endParaRPr sz="2000" b="1" dirty="0">
              <a:solidFill>
                <a:srgbClr val="15133D"/>
              </a:solidFill>
              <a:latin typeface="メイリオ"/>
            </a:endParaRPr>
          </a:p>
          <a:p>
            <a:pPr algn="l">
              <a:lnSpc>
                <a:spcPct val="115000"/>
              </a:lnSpc>
              <a:spcBef>
                <a:spcPts val="600"/>
              </a:spcBef>
            </a:pPr>
            <a:r>
              <a:rPr dirty="0" err="1">
                <a:solidFill>
                  <a:srgbClr val="333333"/>
                </a:solidFill>
                <a:latin typeface="メイリオ"/>
              </a:rPr>
              <a:t>既存の各種割引施策とは併用不可</a:t>
            </a:r>
            <a:r>
              <a:rPr dirty="0">
                <a:solidFill>
                  <a:srgbClr val="333333"/>
                </a:solidFill>
                <a:latin typeface="メイリオ"/>
              </a:rPr>
              <a:t>。</a:t>
            </a:r>
            <a:endParaRPr lang="en-US" dirty="0">
              <a:solidFill>
                <a:srgbClr val="333333"/>
              </a:solidFill>
              <a:latin typeface="メイリオ"/>
            </a:endParaRPr>
          </a:p>
          <a:p>
            <a:pPr algn="l">
              <a:lnSpc>
                <a:spcPct val="115000"/>
              </a:lnSpc>
              <a:spcBef>
                <a:spcPts val="600"/>
              </a:spcBef>
            </a:pPr>
            <a:r>
              <a:rPr dirty="0" err="1">
                <a:solidFill>
                  <a:srgbClr val="333333"/>
                </a:solidFill>
                <a:latin typeface="メイリオ"/>
              </a:rPr>
              <a:t>特別プラン単体での提案が前提</a:t>
            </a:r>
            <a:r>
              <a:rPr dirty="0">
                <a:solidFill>
                  <a:srgbClr val="333333"/>
                </a:solidFill>
                <a:latin typeface="メイリオ"/>
              </a:rPr>
              <a:t>。</a:t>
            </a:r>
          </a:p>
        </p:txBody>
      </p:sp>
      <p:sp>
        <p:nvSpPr>
          <p:cNvPr id="65" name="Rounded Rectangle 64"/>
          <p:cNvSpPr/>
          <p:nvPr/>
        </p:nvSpPr>
        <p:spPr>
          <a:xfrm>
            <a:off x="544108" y="4714880"/>
            <a:ext cx="4206495"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2000" b="1">
                <a:solidFill>
                  <a:srgbClr val="15133D"/>
                </a:solidFill>
                <a:latin typeface="メイリオ"/>
              </a:rPr>
              <a:t>景品変更の可能性あり</a:t>
            </a:r>
          </a:p>
          <a:p>
            <a:pPr algn="l">
              <a:lnSpc>
                <a:spcPct val="115000"/>
              </a:lnSpc>
              <a:spcBef>
                <a:spcPts val="600"/>
              </a:spcBef>
            </a:pPr>
            <a:r>
              <a:rPr>
                <a:solidFill>
                  <a:srgbClr val="333333"/>
                </a:solidFill>
                <a:latin typeface="メイリオ"/>
              </a:rPr>
              <a:t>景品はLINEポイント2pt固定だが変更となる場合があり、変更不可のお申し出は受付不可。</a:t>
            </a:r>
          </a:p>
        </p:txBody>
      </p:sp>
      <p:sp>
        <p:nvSpPr>
          <p:cNvPr id="66" name="Rounded Rectangle 65"/>
          <p:cNvSpPr/>
          <p:nvPr/>
        </p:nvSpPr>
        <p:spPr>
          <a:xfrm>
            <a:off x="5298988" y="4714880"/>
            <a:ext cx="4206495"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2000" b="1" dirty="0" err="1">
                <a:solidFill>
                  <a:srgbClr val="15133D"/>
                </a:solidFill>
                <a:latin typeface="メイリオ"/>
              </a:rPr>
              <a:t>対象は認証プロバイダー必須</a:t>
            </a:r>
            <a:endParaRPr sz="2000" b="1" dirty="0">
              <a:solidFill>
                <a:srgbClr val="15133D"/>
              </a:solidFill>
              <a:latin typeface="メイリオ"/>
            </a:endParaRPr>
          </a:p>
          <a:p>
            <a:pPr algn="l">
              <a:lnSpc>
                <a:spcPct val="115000"/>
              </a:lnSpc>
              <a:spcBef>
                <a:spcPts val="600"/>
              </a:spcBef>
            </a:pPr>
            <a:r>
              <a:rPr dirty="0" err="1">
                <a:solidFill>
                  <a:srgbClr val="333333"/>
                </a:solidFill>
                <a:latin typeface="メイリオ"/>
              </a:rPr>
              <a:t>LINE公式アカウント・Messaging</a:t>
            </a:r>
            <a:r>
              <a:rPr dirty="0">
                <a:solidFill>
                  <a:srgbClr val="333333"/>
                </a:solidFill>
                <a:latin typeface="メイリオ"/>
              </a:rPr>
              <a:t> </a:t>
            </a:r>
            <a:r>
              <a:rPr dirty="0" err="1">
                <a:solidFill>
                  <a:srgbClr val="333333"/>
                </a:solidFill>
                <a:latin typeface="メイリオ"/>
              </a:rPr>
              <a:t>API対応</a:t>
            </a:r>
            <a:endParaRPr lang="en-US" dirty="0">
              <a:solidFill>
                <a:srgbClr val="333333"/>
              </a:solidFill>
              <a:latin typeface="メイリオ"/>
            </a:endParaRPr>
          </a:p>
          <a:p>
            <a:pPr algn="l">
              <a:lnSpc>
                <a:spcPct val="115000"/>
              </a:lnSpc>
              <a:spcBef>
                <a:spcPts val="600"/>
              </a:spcBef>
            </a:pPr>
            <a:r>
              <a:rPr dirty="0" err="1">
                <a:solidFill>
                  <a:srgbClr val="333333"/>
                </a:solidFill>
                <a:latin typeface="メイリオ"/>
              </a:rPr>
              <a:t>かつ認証プロバイダーのアカウントが対象</a:t>
            </a:r>
            <a:r>
              <a:rPr dirty="0">
                <a:solidFill>
                  <a:srgbClr val="333333"/>
                </a:solidFill>
                <a:latin typeface="メイリオ"/>
              </a:rPr>
              <a:t>。</a:t>
            </a:r>
          </a:p>
        </p:txBody>
      </p:sp>
      <p:graphicFrame>
        <p:nvGraphicFramePr>
          <p:cNvPr id="9" name="図表 8">
            <a:extLst>
              <a:ext uri="{FF2B5EF4-FFF2-40B4-BE49-F238E27FC236}">
                <a16:creationId xmlns:a16="http://schemas.microsoft.com/office/drawing/2014/main" id="{6FC267C2-70E9-9711-AD38-1AC7966B788A}"/>
              </a:ext>
            </a:extLst>
          </p:cNvPr>
          <p:cNvGraphicFramePr/>
          <p:nvPr/>
        </p:nvGraphicFramePr>
        <p:xfrm>
          <a:off x="8529759" y="688315"/>
          <a:ext cx="1376241" cy="11319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正方形/長方形 12">
            <a:extLst>
              <a:ext uri="{FF2B5EF4-FFF2-40B4-BE49-F238E27FC236}">
                <a16:creationId xmlns:a16="http://schemas.microsoft.com/office/drawing/2014/main" id="{128C879A-AED3-F562-8AE3-911224502B88}"/>
              </a:ext>
            </a:extLst>
          </p:cNvPr>
          <p:cNvSpPr/>
          <p:nvPr/>
        </p:nvSpPr>
        <p:spPr>
          <a:xfrm>
            <a:off x="7560840" y="730955"/>
            <a:ext cx="829618" cy="435690"/>
          </a:xfrm>
          <a:prstGeom prst="rect">
            <a:avLst/>
          </a:prstGeom>
          <a:solidFill>
            <a:schemeClr val="bg1"/>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その他</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88C1830F-8861-5F71-3530-6EEF3E0E398B}"/>
              </a:ext>
            </a:extLst>
          </p:cNvPr>
          <p:cNvSpPr/>
          <p:nvPr/>
        </p:nvSpPr>
        <p:spPr>
          <a:xfrm>
            <a:off x="5797260" y="730955"/>
            <a:ext cx="829618" cy="435690"/>
          </a:xfrm>
          <a:prstGeom prst="rect">
            <a:avLst/>
          </a:prstGeom>
          <a:solidFill>
            <a:schemeClr val="bg1"/>
          </a:solidFill>
          <a:ln w="9525" cap="flat" cmpd="sng" algn="ctr">
            <a:solidFill>
              <a:srgbClr val="4F81BD"/>
            </a:solidFill>
            <a:prstDash val="sysDash"/>
          </a:ln>
          <a:effectLst/>
        </p:spPr>
        <p:txBody>
          <a:bodyPr rtlCol="0" anchor="ctr"/>
          <a:lstStyle/>
          <a:p>
            <a:pPr algn="ctr">
              <a:buClrTx/>
              <a:buFontTx/>
              <a:buNone/>
            </a:pPr>
            <a:r>
              <a:rPr kumimoji="1" lang="ja-JP" altLang="en-US" sz="1000" kern="1200" dirty="0">
                <a:latin typeface="メイリオ" panose="020B0604030504040204" pitchFamily="50" charset="-128"/>
                <a:ea typeface="メイリオ" panose="020B0604030504040204" pitchFamily="50" charset="-128"/>
              </a:rPr>
              <a:t>開発</a:t>
            </a:r>
            <a:endParaRPr kumimoji="1" lang="en-US" altLang="ja-JP" sz="1000" kern="1200" dirty="0">
              <a:latin typeface="メイリオ" panose="020B0604030504040204" pitchFamily="50" charset="-128"/>
              <a:ea typeface="メイリオ" panose="020B0604030504040204" pitchFamily="50" charset="-128"/>
            </a:endParaRPr>
          </a:p>
          <a:p>
            <a:pPr algn="ctr">
              <a:buClrTx/>
              <a:buFontTx/>
              <a:buNone/>
            </a:pP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endParaRPr kumimoji="1" lang="ja-JP" altLang="en-US" sz="1000" kern="1200" dirty="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CDC540A-F0EE-DCD6-674E-5657F64D95DA}"/>
              </a:ext>
            </a:extLst>
          </p:cNvPr>
          <p:cNvSpPr/>
          <p:nvPr/>
        </p:nvSpPr>
        <p:spPr>
          <a:xfrm>
            <a:off x="4915470" y="730955"/>
            <a:ext cx="829618" cy="435690"/>
          </a:xfrm>
          <a:prstGeom prst="rect">
            <a:avLst/>
          </a:prstGeom>
          <a:solidFill>
            <a:schemeClr val="bg1"/>
          </a:solidFill>
          <a:ln w="9525">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LINE</a:t>
            </a:r>
            <a:r>
              <a:rPr lang="ja-JP" altLang="en-US" sz="1000" dirty="0">
                <a:solidFill>
                  <a:schemeClr val="tx1"/>
                </a:solidFill>
                <a:latin typeface="メイリオ" panose="020B0604030504040204" pitchFamily="50" charset="-128"/>
                <a:ea typeface="メイリオ" panose="020B0604030504040204" pitchFamily="50" charset="-128"/>
              </a:rPr>
              <a:t>公式アカウント</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BC7E0C56-DE14-39F3-091C-4DCC9039A494}"/>
              </a:ext>
            </a:extLst>
          </p:cNvPr>
          <p:cNvSpPr/>
          <p:nvPr/>
        </p:nvSpPr>
        <p:spPr>
          <a:xfrm>
            <a:off x="6679050" y="730955"/>
            <a:ext cx="829618" cy="435690"/>
          </a:xfrm>
          <a:prstGeom prst="rect">
            <a:avLst/>
          </a:prstGeom>
          <a:solidFill>
            <a:schemeClr val="bg2">
              <a:lumMod val="20000"/>
              <a:lumOff val="80000"/>
            </a:schemeClr>
          </a:solidFill>
          <a:ln w="9525">
            <a:solidFill>
              <a:srgbClr val="4F81B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オプション</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rPr>
              <a:t>商材</a:t>
            </a: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出典：https://www.lycbiz.com/jp/service/line-sales-promotion/</a:t>
            </a:r>
            <a:endParaRPr sz="800">
              <a:solidFill>
                <a:schemeClr val="lt1"/>
              </a:solidFill>
              <a:latin typeface="Meiryo"/>
              <a:ea typeface="Meiryo"/>
              <a:cs typeface="Meiryo"/>
              <a:sym typeface="Meiryo"/>
            </a:endParaRPr>
          </a:p>
        </p:txBody>
      </p:sp>
    </p:spTree>
  </p:cSld>
  <p:clrMapOvr>
    <a:masterClrMapping/>
  </p:clrMapOvr>
</p:sld>
</file>

<file path=ppt/theme/theme1.xml><?xml version="1.0" encoding="utf-8"?>
<a:theme xmlns:a="http://schemas.openxmlformats.org/drawingml/2006/main" name="DYMJAPA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624</TotalTime>
  <Words>1402</Words>
  <Application>Microsoft Office PowerPoint</Application>
  <PresentationFormat>A4 210 x 297 mm</PresentationFormat>
  <Paragraphs>301</Paragraphs>
  <Slides>12</Slides>
  <Notes>5</Notes>
  <HiddenSlides>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Arial</vt:lpstr>
      <vt:lpstr>メイリオ</vt:lpstr>
      <vt:lpstr>メイリオ</vt:lpstr>
      <vt:lpstr>Century Gothic</vt:lpstr>
      <vt:lpstr>Calibri</vt:lpstr>
      <vt:lpstr>Meiryo UI</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横田 澪央</dc:creator>
  <cp:lastModifiedBy>殿村 亮太</cp:lastModifiedBy>
  <cp:revision>11</cp:revision>
  <dcterms:created xsi:type="dcterms:W3CDTF">2021-08-26T12:24:15Z</dcterms:created>
  <dcterms:modified xsi:type="dcterms:W3CDTF">2026-09-18T02:49:05Z</dcterms:modified>
</cp:coreProperties>
</file>