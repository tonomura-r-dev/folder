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40.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5"/>
  </p:notesMasterIdLst>
  <p:handoutMasterIdLst>
    <p:handoutMasterId r:id="rId56"/>
  </p:handoutMasterIdLst>
  <p:sldIdLst>
    <p:sldId id="2363" r:id="rId3"/>
    <p:sldId id="2971" r:id="rId4"/>
    <p:sldId id="2972" r:id="rId5"/>
    <p:sldId id="3007" r:id="rId6"/>
    <p:sldId id="2994" r:id="rId7"/>
    <p:sldId id="2995" r:id="rId8"/>
    <p:sldId id="3001" r:id="rId9"/>
    <p:sldId id="2999" r:id="rId10"/>
    <p:sldId id="2736" r:id="rId11"/>
    <p:sldId id="2987" r:id="rId12"/>
    <p:sldId id="2997" r:id="rId13"/>
    <p:sldId id="2996" r:id="rId14"/>
    <p:sldId id="2973" r:id="rId15"/>
    <p:sldId id="2977" r:id="rId16"/>
    <p:sldId id="2979" r:id="rId17"/>
    <p:sldId id="3000" r:id="rId18"/>
    <p:sldId id="2968" r:id="rId19"/>
    <p:sldId id="2908" r:id="rId20"/>
    <p:sldId id="2998" r:id="rId21"/>
    <p:sldId id="2990" r:id="rId22"/>
    <p:sldId id="2986" r:id="rId23"/>
    <p:sldId id="2991" r:id="rId24"/>
    <p:sldId id="2737" r:id="rId25"/>
    <p:sldId id="2989" r:id="rId26"/>
    <p:sldId id="2563" r:id="rId27"/>
    <p:sldId id="2959" r:id="rId28"/>
    <p:sldId id="2970" r:id="rId29"/>
    <p:sldId id="2639" r:id="rId30"/>
    <p:sldId id="2957" r:id="rId31"/>
    <p:sldId id="2951" r:id="rId32"/>
    <p:sldId id="2841" r:id="rId33"/>
    <p:sldId id="2734" r:id="rId34"/>
    <p:sldId id="2595" r:id="rId35"/>
    <p:sldId id="2566" r:id="rId36"/>
    <p:sldId id="2915" r:id="rId37"/>
    <p:sldId id="2619" r:id="rId38"/>
    <p:sldId id="2761" r:id="rId39"/>
    <p:sldId id="2919" r:id="rId41"/>
    <p:sldId id="2931" r:id="rId43"/>
    <p:sldId id="2935" r:id="rId40"/>
    <p:sldId id="2519" r:id="rId42"/>
    <p:sldId id="2749" r:id="rId44"/>
    <p:sldId id="2950" r:id="rId45"/>
    <p:sldId id="2961" r:id="rId46"/>
    <p:sldId id="2849" r:id="rId47"/>
    <p:sldId id="2904" r:id="rId48"/>
    <p:sldId id="2905" r:id="rId49"/>
    <p:sldId id="2906" r:id="rId50"/>
    <p:sldId id="2907" r:id="rId51"/>
    <p:sldId id="2575" r:id="rId52"/>
    <p:sldId id="2910" r:id="rId53"/>
    <p:sldId id="1169" r:id="rId5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100" d="100"/>
          <a:sy n="100" d="100"/>
        </p:scale>
        <p:origin x="40" y="-436"/>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notesMaster" Target="notesMasters/notesMaster1.xml"/><Relationship Id="rId56" Type="http://schemas.openxmlformats.org/officeDocument/2006/relationships/handoutMaster" Target="handoutMasters/handout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2026/9/24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00FA-BE78-95FE-0350-A4F0396FFF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FC15E1A-F54C-3203-065A-E98A027A09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AE28B8-9549-F5B4-6969-5885B85CCC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C20ED0-F80D-F8F8-F1CB-2D28DC68BCAB}"/>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191895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D3C2E-8631-0E38-6C31-C6DED150D2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48057B-4969-D8FF-F0AC-CA210AA37C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70A271-6E49-37E3-A907-5C2BD56721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C12D90D-F41A-5474-D369-5759C78B843B}"/>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3162817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880EF-6C8C-B780-9BB3-1B0757C006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AB9840-7942-E115-501A-18129D7717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A1841C-729C-28E2-58FF-5212B200D2B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47DBBA-098F-116B-BB87-D1F9D32E060E}"/>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790818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291335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8432E-C2C6-89CF-C006-DD360C6CBC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7CA1C0-54B2-C273-9EFA-4A233AA33F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6AE94C-3A31-DE43-5CF3-F8B06624D4B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92184BA-3FBD-5E23-D138-23E1190BD57E}"/>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783841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9F94-460F-5A9A-D53E-BD9AF25C60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80BBC6-A0FB-42D9-3A8A-800D9E47CF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DCB781-2099-65DC-EA96-CC827630AFB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72154FB-F3CF-6922-2040-70A35BD97D62}"/>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1023598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29496486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994786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1158505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66D97-D2AE-47E8-CEF6-DF7B01DBF3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7462C0-C3A5-BB88-91F7-226AFC2244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40E553-EB2C-9ACD-C50F-CC21DD6D00A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59E7342-2894-A379-2FAD-61B82347D6FE}"/>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28297304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AC78-50A4-F913-B3AF-274D32241D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EBEBB5-128F-0CAF-8FD7-D219209161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9E3D02-55AC-2638-9F09-898F0C8E633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51B9F10-F34C-A78C-BAAF-5494CD58A784}"/>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3985453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40</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52</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66.png"/><Relationship Id="rId5" Type="http://schemas.openxmlformats.org/officeDocument/2006/relationships/image" Target="../media/image6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jpe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svg"/><Relationship Id="rId8"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2.svg"/><Relationship Id="rId4" Type="http://schemas.openxmlformats.org/officeDocument/2006/relationships/image" Target="../media/image43.svg"/><Relationship Id="rId5" Type="http://schemas.openxmlformats.org/officeDocument/2006/relationships/image" Target="../media/image44.svg"/><Relationship Id="rId6" Type="http://schemas.openxmlformats.org/officeDocument/2006/relationships/image" Target="../media/image45.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emf"/><Relationship Id="rId4" Type="http://schemas.openxmlformats.org/officeDocument/2006/relationships/image" Target="../media/image61.jpeg"/><Relationship Id="rId5" Type="http://schemas.openxmlformats.org/officeDocument/2006/relationships/image" Target="../media/image62.jpeg"/><Relationship Id="rId6" Type="http://schemas.openxmlformats.org/officeDocument/2006/relationships/image" Target="../media/image63.jpeg"/><Relationship Id="rId7" Type="http://schemas.openxmlformats.org/officeDocument/2006/relationships/image" Target="../media/image64.jpeg"/><Relationship Id="rId8" Type="http://schemas.openxmlformats.org/officeDocument/2006/relationships/image" Target="../media/image6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7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株式会社チェングロウス 御中</a:t>
            </a:r>
          </a:p>
        </p:txBody>
      </p:sp>
      <p:pic>
        <p:nvPicPr>
          <p:cNvPr id="11" name="Picture 10" descr="chengrowth_logo.png"/>
          <p:cNvPicPr>
            <a:picLocks noChangeAspect="1"/>
          </p:cNvPicPr>
          <p:nvPr/>
        </p:nvPicPr>
        <p:blipFill>
          <a:blip r:embed="rId3"/>
          <a:stretch>
            <a:fillRect/>
          </a:stretch>
        </p:blipFill>
        <p:spPr>
          <a:xfrm>
            <a:off x="3513000" y="3478502"/>
            <a:ext cx="2880000" cy="337171"/>
          </a:xfrm>
          <a:prstGeom prst="rect">
            <a:avLst/>
          </a:prstGeom>
        </p:spPr>
      </p:pic>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現状把握【自動車 求人Navi】</a:t>
            </a:r>
          </a:p>
        </p:txBody>
      </p:sp>
      <p:sp>
        <p:nvSpPr>
          <p:cNvPr id="3" name="TextBox 2"/>
          <p:cNvSpPr txBox="1"/>
          <p:nvPr/>
        </p:nvSpPr>
        <p:spPr>
          <a:xfrm>
            <a:off x="432000" y="819206"/>
            <a:ext cx="9036000" cy="341589"/>
          </a:xfrm>
          <a:prstGeom prst="rect">
            <a:avLst/>
          </a:prstGeom>
          <a:noFill/>
        </p:spPr>
        <p:txBody>
          <a:bodyPr wrap="square" lIns="0" tIns="21600" rIns="0" bIns="21600" anchor="ctr">
            <a:spAutoFit/>
          </a:bodyPr>
          <a:lstStyle/>
          <a:p>
            <a:pPr algn="l">
              <a:lnSpc>
                <a:spcPct val="128000"/>
              </a:lnSpc>
            </a:pPr>
            <a:r>
              <a:rPr sz="1600">
                <a:solidFill>
                  <a:srgbClr val="333333"/>
                </a:solidFill>
                <a:latin typeface="メイリオ"/>
                <a:ea typeface="メイリオ"/>
                <a:cs typeface="メイリオ"/>
              </a:rPr>
              <a:t>広告は動いている。しかし、応募につながっていない。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728000"/>
            <a:ext cx="2942400" cy="251999"/>
          </a:xfrm>
          <a:prstGeom prst="rect">
            <a:avLst/>
          </a:prstGeom>
          <a:noFill/>
        </p:spPr>
        <p:txBody>
          <a:bodyPr wrap="square" lIns="50400" tIns="21600" rIns="50400" bIns="21600" anchor="ctr">
            <a:spAutoFit/>
          </a:bodyPr>
          <a:lstStyle/>
          <a:p>
            <a:pPr algn="ctr"/>
            <a:r>
              <a:rPr sz="1250" b="1">
                <a:solidFill>
                  <a:srgbClr val="1F285A"/>
                </a:solidFill>
                <a:latin typeface="メイリオ"/>
                <a:ea typeface="メイリオ"/>
                <a:cs typeface="メイリオ"/>
              </a:rPr>
              <a:t>Meta広告の応募単価</a:t>
            </a:r>
          </a:p>
        </p:txBody>
      </p:sp>
      <p:sp>
        <p:nvSpPr>
          <p:cNvPr id="7" name="TextBox 6"/>
          <p:cNvSpPr txBox="1"/>
          <p:nvPr/>
        </p:nvSpPr>
        <p:spPr>
          <a:xfrm>
            <a:off x="432000" y="2051999"/>
            <a:ext cx="2942400" cy="540000"/>
          </a:xfrm>
          <a:prstGeom prst="rect">
            <a:avLst/>
          </a:prstGeom>
          <a:noFill/>
        </p:spPr>
        <p:txBody>
          <a:bodyPr wrap="square" lIns="50400" tIns="21600" rIns="50400" bIns="21600" anchor="ctr">
            <a:spAutoFit/>
          </a:bodyPr>
          <a:lstStyle/>
          <a:p>
            <a:pPr algn="ctr"/>
            <a:r>
              <a:rPr sz="2600" b="1" dirty="0">
                <a:solidFill>
                  <a:srgbClr val="ED7D31"/>
                </a:solidFill>
                <a:latin typeface="メイリオ"/>
                <a:ea typeface="メイリオ"/>
                <a:cs typeface="メイリオ"/>
              </a:rPr>
              <a:t>約70万円/件</a:t>
            </a:r>
          </a:p>
        </p:txBody>
      </p:sp>
      <p:sp>
        <p:nvSpPr>
          <p:cNvPr id="8" name="TextBox 7"/>
          <p:cNvSpPr txBox="1"/>
          <p:nvPr/>
        </p:nvSpPr>
        <p:spPr>
          <a:xfrm>
            <a:off x="432000" y="2625048"/>
            <a:ext cx="2942400" cy="509903"/>
          </a:xfrm>
          <a:prstGeom prst="rect">
            <a:avLst/>
          </a:prstGeom>
          <a:noFill/>
        </p:spPr>
        <p:txBody>
          <a:bodyPr wrap="square" lIns="50400" tIns="21600" rIns="50400" bIns="21600" anchor="ctr">
            <a:spAutoFit/>
          </a:bodyPr>
          <a:lstStyle/>
          <a:p>
            <a:pPr algn="ctr">
              <a:lnSpc>
                <a:spcPct val="130000"/>
              </a:lnSpc>
            </a:pPr>
            <a:r>
              <a:rPr sz="1200" dirty="0">
                <a:solidFill>
                  <a:srgbClr val="333333"/>
                </a:solidFill>
                <a:latin typeface="メイリオ"/>
                <a:ea typeface="メイリオ"/>
                <a:cs typeface="メイリオ"/>
              </a:rPr>
              <a:t>年250万円の投下で</a:t>
            </a:r>
          </a:p>
          <a:p>
            <a:pPr algn="ctr">
              <a:lnSpc>
                <a:spcPct val="130000"/>
              </a:lnSpc>
            </a:pPr>
            <a:r>
              <a:rPr sz="1200" dirty="0">
                <a:solidFill>
                  <a:srgbClr val="333333"/>
                </a:solidFill>
                <a:latin typeface="メイリオ"/>
                <a:ea typeface="メイリオ"/>
                <a:cs typeface="メイリオ"/>
              </a:rPr>
              <a:t>応募は年3〜4件</a:t>
            </a:r>
          </a:p>
        </p:txBody>
      </p:sp>
      <p:sp>
        <p:nvSpPr>
          <p:cNvPr id="9" name="Rounded Rectangle 8"/>
          <p:cNvSpPr/>
          <p:nvPr/>
        </p:nvSpPr>
        <p:spPr>
          <a:xfrm>
            <a:off x="3482400" y="1620000"/>
            <a:ext cx="29424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2400" y="1728000"/>
            <a:ext cx="2942400" cy="251999"/>
          </a:xfrm>
          <a:prstGeom prst="rect">
            <a:avLst/>
          </a:prstGeom>
          <a:noFill/>
        </p:spPr>
        <p:txBody>
          <a:bodyPr wrap="square" lIns="50400" tIns="21600" rIns="50400" bIns="21600" anchor="ctr">
            <a:spAutoFit/>
          </a:bodyPr>
          <a:lstStyle/>
          <a:p>
            <a:pPr algn="ctr"/>
            <a:r>
              <a:rPr sz="1250" b="1">
                <a:solidFill>
                  <a:srgbClr val="1F285A"/>
                </a:solidFill>
                <a:latin typeface="メイリオ"/>
                <a:ea typeface="メイリオ"/>
                <a:cs typeface="メイリオ"/>
              </a:rPr>
              <a:t>整備士の応募単価（Google）</a:t>
            </a:r>
          </a:p>
        </p:txBody>
      </p:sp>
      <p:sp>
        <p:nvSpPr>
          <p:cNvPr id="11" name="TextBox 10"/>
          <p:cNvSpPr txBox="1"/>
          <p:nvPr/>
        </p:nvSpPr>
        <p:spPr>
          <a:xfrm>
            <a:off x="3482400" y="2051999"/>
            <a:ext cx="2942400" cy="540000"/>
          </a:xfrm>
          <a:prstGeom prst="rect">
            <a:avLst/>
          </a:prstGeom>
          <a:noFill/>
        </p:spPr>
        <p:txBody>
          <a:bodyPr wrap="square" lIns="50400" tIns="21600" rIns="50400" bIns="21600" anchor="ctr">
            <a:spAutoFit/>
          </a:bodyPr>
          <a:lstStyle/>
          <a:p>
            <a:pPr algn="ctr"/>
            <a:r>
              <a:rPr sz="2600" b="1">
                <a:solidFill>
                  <a:srgbClr val="ED7D31"/>
                </a:solidFill>
                <a:latin typeface="メイリオ"/>
                <a:ea typeface="メイリオ"/>
                <a:cs typeface="メイリオ"/>
              </a:rPr>
              <a:t>6万円</a:t>
            </a:r>
          </a:p>
        </p:txBody>
      </p:sp>
      <p:sp>
        <p:nvSpPr>
          <p:cNvPr id="12" name="TextBox 11"/>
          <p:cNvSpPr txBox="1"/>
          <p:nvPr/>
        </p:nvSpPr>
        <p:spPr>
          <a:xfrm>
            <a:off x="3482400" y="2625048"/>
            <a:ext cx="2942400" cy="509903"/>
          </a:xfrm>
          <a:prstGeom prst="rect">
            <a:avLst/>
          </a:prstGeom>
          <a:noFill/>
        </p:spPr>
        <p:txBody>
          <a:bodyPr wrap="square" lIns="50400" tIns="21600" rIns="50400" bIns="21600" anchor="ctr">
            <a:spAutoFit/>
          </a:bodyPr>
          <a:lstStyle/>
          <a:p>
            <a:pPr algn="ctr">
              <a:lnSpc>
                <a:spcPct val="130000"/>
              </a:lnSpc>
            </a:pPr>
            <a:r>
              <a:rPr sz="1200">
                <a:solidFill>
                  <a:srgbClr val="333333"/>
                </a:solidFill>
                <a:latin typeface="メイリオ"/>
                <a:ea typeface="メイリオ"/>
                <a:cs typeface="メイリオ"/>
              </a:rPr>
              <a:t>目標は2〜2.5万円</a:t>
            </a:r>
          </a:p>
          <a:p>
            <a:pPr algn="ctr">
              <a:lnSpc>
                <a:spcPct val="130000"/>
              </a:lnSpc>
            </a:pPr>
            <a:r>
              <a:rPr sz="1200">
                <a:solidFill>
                  <a:srgbClr val="333333"/>
                </a:solidFill>
                <a:latin typeface="メイリオ"/>
                <a:ea typeface="メイリオ"/>
                <a:cs typeface="メイリオ"/>
              </a:rPr>
              <a:t>＝2.4〜3倍の乖離</a:t>
            </a:r>
          </a:p>
        </p:txBody>
      </p:sp>
      <p:sp>
        <p:nvSpPr>
          <p:cNvPr id="13" name="Rounded Rectangle 12"/>
          <p:cNvSpPr/>
          <p:nvPr/>
        </p:nvSpPr>
        <p:spPr>
          <a:xfrm>
            <a:off x="6532800" y="1620000"/>
            <a:ext cx="29424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2800" y="1728000"/>
            <a:ext cx="2942400" cy="251999"/>
          </a:xfrm>
          <a:prstGeom prst="rect">
            <a:avLst/>
          </a:prstGeom>
          <a:noFill/>
        </p:spPr>
        <p:txBody>
          <a:bodyPr wrap="square" lIns="50400" tIns="21600" rIns="50400" bIns="21600" anchor="ctr">
            <a:spAutoFit/>
          </a:bodyPr>
          <a:lstStyle/>
          <a:p>
            <a:pPr algn="ctr"/>
            <a:r>
              <a:rPr sz="1250" b="1">
                <a:solidFill>
                  <a:srgbClr val="1F285A"/>
                </a:solidFill>
                <a:latin typeface="メイリオ"/>
                <a:ea typeface="メイリオ"/>
                <a:cs typeface="メイリオ"/>
              </a:rPr>
              <a:t>月間サイト訪問</a:t>
            </a:r>
          </a:p>
        </p:txBody>
      </p:sp>
      <p:sp>
        <p:nvSpPr>
          <p:cNvPr id="15" name="TextBox 14"/>
          <p:cNvSpPr txBox="1"/>
          <p:nvPr/>
        </p:nvSpPr>
        <p:spPr>
          <a:xfrm>
            <a:off x="6532800" y="2051999"/>
            <a:ext cx="2942400" cy="540000"/>
          </a:xfrm>
          <a:prstGeom prst="rect">
            <a:avLst/>
          </a:prstGeom>
          <a:noFill/>
        </p:spPr>
        <p:txBody>
          <a:bodyPr wrap="square" lIns="50400" tIns="21600" rIns="50400" bIns="21600" anchor="ctr">
            <a:spAutoFit/>
          </a:bodyPr>
          <a:lstStyle/>
          <a:p>
            <a:pPr algn="ctr"/>
            <a:r>
              <a:rPr sz="2600" b="1">
                <a:solidFill>
                  <a:srgbClr val="ED7D31"/>
                </a:solidFill>
                <a:latin typeface="メイリオ"/>
                <a:ea typeface="メイリオ"/>
                <a:cs typeface="メイリオ"/>
              </a:rPr>
              <a:t>3,215 UU</a:t>
            </a:r>
          </a:p>
        </p:txBody>
      </p:sp>
      <p:sp>
        <p:nvSpPr>
          <p:cNvPr id="16" name="TextBox 15"/>
          <p:cNvSpPr txBox="1"/>
          <p:nvPr/>
        </p:nvSpPr>
        <p:spPr>
          <a:xfrm>
            <a:off x="6532800" y="2625048"/>
            <a:ext cx="2942400" cy="509903"/>
          </a:xfrm>
          <a:prstGeom prst="rect">
            <a:avLst/>
          </a:prstGeom>
          <a:noFill/>
        </p:spPr>
        <p:txBody>
          <a:bodyPr wrap="square" lIns="50400" tIns="21600" rIns="50400" bIns="21600" anchor="ctr">
            <a:spAutoFit/>
          </a:bodyPr>
          <a:lstStyle/>
          <a:p>
            <a:pPr algn="ctr">
              <a:lnSpc>
                <a:spcPct val="130000"/>
              </a:lnSpc>
            </a:pPr>
            <a:r>
              <a:rPr sz="1200">
                <a:solidFill>
                  <a:srgbClr val="333333"/>
                </a:solidFill>
                <a:latin typeface="メイリオ"/>
                <a:ea typeface="メイリオ"/>
                <a:cs typeface="メイリオ"/>
              </a:rPr>
              <a:t>SimilarWeb推計</a:t>
            </a:r>
          </a:p>
          <a:p>
            <a:pPr algn="ctr">
              <a:lnSpc>
                <a:spcPct val="130000"/>
              </a:lnSpc>
            </a:pPr>
            <a:r>
              <a:rPr sz="1200">
                <a:solidFill>
                  <a:srgbClr val="333333"/>
                </a:solidFill>
                <a:latin typeface="メイリオ"/>
                <a:ea typeface="メイリオ"/>
                <a:cs typeface="メイリオ"/>
              </a:rPr>
              <a:t>応募まで進むのはごく一部</a:t>
            </a:r>
          </a:p>
        </p:txBody>
      </p:sp>
      <p:sp>
        <p:nvSpPr>
          <p:cNvPr id="17" name="Rounded Rectangle 16"/>
          <p:cNvSpPr/>
          <p:nvPr/>
        </p:nvSpPr>
        <p:spPr>
          <a:xfrm>
            <a:off x="432000" y="3537000"/>
            <a:ext cx="9043200" cy="957362"/>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TextBox 17"/>
          <p:cNvSpPr txBox="1"/>
          <p:nvPr/>
        </p:nvSpPr>
        <p:spPr>
          <a:xfrm>
            <a:off x="608400" y="3580639"/>
            <a:ext cx="8683200" cy="854357"/>
          </a:xfrm>
          <a:prstGeom prst="rect">
            <a:avLst/>
          </a:prstGeom>
          <a:noFill/>
        </p:spPr>
        <p:txBody>
          <a:bodyPr wrap="square" lIns="50400" tIns="21600" rIns="50400" bIns="21600" anchor="ctr">
            <a:spAutoFit/>
          </a:bodyPr>
          <a:lstStyle/>
          <a:p>
            <a:pPr algn="l">
              <a:spcAft>
                <a:spcPts val="400"/>
              </a:spcAft>
            </a:pPr>
            <a:r>
              <a:rPr sz="1400" b="1" dirty="0">
                <a:solidFill>
                  <a:srgbClr val="C00000"/>
                </a:solidFill>
                <a:latin typeface="メイリオ"/>
                <a:ea typeface="メイリオ"/>
                <a:cs typeface="メイリオ"/>
              </a:rPr>
              <a:t>あわせて2点、すぐに直せる改善点があります。</a:t>
            </a:r>
          </a:p>
          <a:p>
            <a:pPr algn="l">
              <a:lnSpc>
                <a:spcPct val="130000"/>
              </a:lnSpc>
            </a:pPr>
            <a:r>
              <a:rPr sz="1400" dirty="0">
                <a:solidFill>
                  <a:srgbClr val="333333"/>
                </a:solidFill>
                <a:latin typeface="メイリオ"/>
                <a:ea typeface="メイリオ"/>
                <a:cs typeface="メイリオ"/>
              </a:rPr>
              <a:t>① </a:t>
            </a:r>
            <a:r>
              <a:rPr sz="1400" dirty="0" err="1">
                <a:solidFill>
                  <a:srgbClr val="333333"/>
                </a:solidFill>
                <a:latin typeface="メイリオ"/>
                <a:ea typeface="メイリオ"/>
                <a:cs typeface="メイリオ"/>
              </a:rPr>
              <a:t>トップページの「転職支援サービス申込」ボタンが現在リンク切れ（押した先が非公開の求人ページ</a:t>
            </a:r>
            <a:r>
              <a:rPr sz="1400" dirty="0">
                <a:solidFill>
                  <a:srgbClr val="333333"/>
                </a:solidFill>
                <a:latin typeface="メイリオ"/>
                <a:ea typeface="メイリオ"/>
                <a:cs typeface="メイリオ"/>
              </a:rPr>
              <a:t>）</a:t>
            </a:r>
          </a:p>
          <a:p>
            <a:pPr algn="l">
              <a:lnSpc>
                <a:spcPct val="130000"/>
              </a:lnSpc>
            </a:pPr>
            <a:r>
              <a:rPr sz="1400" dirty="0">
                <a:solidFill>
                  <a:srgbClr val="333333"/>
                </a:solidFill>
                <a:latin typeface="メイリオ"/>
                <a:ea typeface="メイリオ"/>
                <a:cs typeface="メイリオ"/>
              </a:rPr>
              <a:t>② 電話相談の受付が平日10:00〜18:00のみ ＝ </a:t>
            </a:r>
            <a:r>
              <a:rPr sz="1400" dirty="0" err="1">
                <a:solidFill>
                  <a:srgbClr val="333333"/>
                </a:solidFill>
                <a:latin typeface="メイリオ"/>
                <a:ea typeface="メイリオ"/>
                <a:cs typeface="メイリオ"/>
              </a:rPr>
              <a:t>整備士の方が働いている時間帯</a:t>
            </a:r>
            <a:endParaRPr sz="1400" dirty="0">
              <a:solidFill>
                <a:srgbClr val="333333"/>
              </a:solidFill>
              <a:latin typeface="メイリオ"/>
              <a:ea typeface="メイリオ"/>
              <a:cs typeface="メイリオ"/>
            </a:endParaRP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出典：与件ヒアリング（2026-09）／サイト実査 2026-09-21。UUはSimilarWeb推計のため、GA実測値をいただき次第置き換え</a:t>
            </a:r>
          </a:p>
        </p:txBody>
      </p:sp>
    </p:spTree>
    <p:extLst>
      <p:ext uri="{BB962C8B-B14F-4D97-AF65-F5344CB8AC3E}">
        <p14:creationId xmlns:p14="http://schemas.microsoft.com/office/powerpoint/2010/main" val="237848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想定動線【自動車 求人Navi】</a:t>
            </a:r>
          </a:p>
        </p:txBody>
      </p:sp>
      <p:sp>
        <p:nvSpPr>
          <p:cNvPr id="3" name="TextBox 2"/>
          <p:cNvSpPr txBox="1"/>
          <p:nvPr/>
        </p:nvSpPr>
        <p:spPr>
          <a:xfrm>
            <a:off x="432000" y="648000"/>
            <a:ext cx="9036000" cy="684000"/>
          </a:xfrm>
          <a:prstGeom prst="rect">
            <a:avLst/>
          </a:prstGeom>
          <a:noFill/>
        </p:spPr>
        <p:txBody>
          <a:bodyPr wrap="square" lIns="0" tIns="21600" rIns="0" bIns="21600" anchor="ctr">
            <a:spAutoFit/>
          </a:bodyPr>
          <a:lstStyle/>
          <a:p>
            <a:pPr algn="l">
              <a:lnSpc>
                <a:spcPct val="128000"/>
              </a:lnSpc>
            </a:pPr>
            <a:r>
              <a:rPr sz="1300">
                <a:solidFill>
                  <a:srgbClr val="333333"/>
                </a:solidFill>
                <a:latin typeface="メイリオ"/>
                <a:ea typeface="メイリオ"/>
                <a:cs typeface="メイリオ"/>
              </a:rPr>
              <a:t>現状は「今すぐ応募する」の一段のみ。迷っている段階の受け皿をLINEでつくる。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2000" y="1944641"/>
            <a:ext cx="1440000" cy="289843"/>
          </a:xfrm>
          <a:prstGeom prst="rect">
            <a:avLst/>
          </a:prstGeom>
          <a:noFill/>
        </p:spPr>
        <p:txBody>
          <a:bodyPr wrap="square" lIns="50400" tIns="21600" rIns="50400" bIns="21600" anchor="ctr">
            <a:spAutoFit/>
          </a:bodyPr>
          <a:lstStyle/>
          <a:p>
            <a:pPr algn="l"/>
            <a:r>
              <a:rPr sz="1600" b="1">
                <a:solidFill>
                  <a:srgbClr val="7F7F7F"/>
                </a:solidFill>
                <a:latin typeface="メイリオ"/>
                <a:ea typeface="メイリオ"/>
                <a:cs typeface="メイリオ"/>
              </a:rPr>
              <a:t>現状</a:t>
            </a:r>
          </a:p>
        </p:txBody>
      </p:sp>
      <p:sp>
        <p:nvSpPr>
          <p:cNvPr id="6" name="Rounded Rectangle 5"/>
          <p:cNvSpPr/>
          <p:nvPr/>
        </p:nvSpPr>
        <p:spPr>
          <a:xfrm>
            <a:off x="432000" y="2215561"/>
            <a:ext cx="2098800" cy="396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21600" rIns="50400" bIns="21600" rtlCol="0" anchor="ctr"/>
          <a:lstStyle/>
          <a:p>
            <a:pPr algn="ctr"/>
            <a:r>
              <a:rPr sz="1600" b="1">
                <a:solidFill>
                  <a:srgbClr val="FFFFFF"/>
                </a:solidFill>
                <a:latin typeface="メイリオ"/>
                <a:ea typeface="メイリオ"/>
                <a:cs typeface="メイリオ"/>
              </a:rPr>
              <a:t>流入</a:t>
            </a:r>
          </a:p>
        </p:txBody>
      </p:sp>
      <p:sp>
        <p:nvSpPr>
          <p:cNvPr id="7" name="TextBox 6"/>
          <p:cNvSpPr txBox="1"/>
          <p:nvPr/>
        </p:nvSpPr>
        <p:spPr>
          <a:xfrm>
            <a:off x="2548800" y="2253252"/>
            <a:ext cx="180000" cy="320621"/>
          </a:xfrm>
          <a:prstGeom prst="rect">
            <a:avLst/>
          </a:prstGeom>
          <a:noFill/>
        </p:spPr>
        <p:txBody>
          <a:bodyPr wrap="square" lIns="50400" tIns="21600" rIns="50400" bIns="21600" anchor="ctr">
            <a:spAutoFit/>
          </a:bodyPr>
          <a:lstStyle/>
          <a:p>
            <a:pPr algn="ctr"/>
            <a:r>
              <a:rPr b="1">
                <a:solidFill>
                  <a:srgbClr val="7F7F7F"/>
                </a:solidFill>
                <a:latin typeface="メイリオ"/>
                <a:ea typeface="メイリオ"/>
                <a:cs typeface="メイリオ"/>
              </a:rPr>
              <a:t>→</a:t>
            </a:r>
          </a:p>
        </p:txBody>
      </p:sp>
      <p:sp>
        <p:nvSpPr>
          <p:cNvPr id="8" name="Rounded Rectangle 7"/>
          <p:cNvSpPr/>
          <p:nvPr/>
        </p:nvSpPr>
        <p:spPr>
          <a:xfrm>
            <a:off x="2746800" y="2215561"/>
            <a:ext cx="2098800" cy="396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21600" rIns="50400" bIns="21600" rtlCol="0" anchor="ctr"/>
          <a:lstStyle/>
          <a:p>
            <a:pPr algn="ctr"/>
            <a:r>
              <a:rPr sz="1600" b="1">
                <a:solidFill>
                  <a:srgbClr val="FFFFFF"/>
                </a:solidFill>
                <a:latin typeface="メイリオ"/>
                <a:ea typeface="メイリオ"/>
                <a:cs typeface="メイリオ"/>
              </a:rPr>
              <a:t>求人を見る</a:t>
            </a:r>
          </a:p>
        </p:txBody>
      </p:sp>
      <p:sp>
        <p:nvSpPr>
          <p:cNvPr id="9" name="TextBox 8"/>
          <p:cNvSpPr txBox="1"/>
          <p:nvPr/>
        </p:nvSpPr>
        <p:spPr>
          <a:xfrm>
            <a:off x="4863600" y="2253252"/>
            <a:ext cx="180000" cy="320621"/>
          </a:xfrm>
          <a:prstGeom prst="rect">
            <a:avLst/>
          </a:prstGeom>
          <a:noFill/>
        </p:spPr>
        <p:txBody>
          <a:bodyPr wrap="square" lIns="50400" tIns="21600" rIns="50400" bIns="21600" anchor="ctr">
            <a:spAutoFit/>
          </a:bodyPr>
          <a:lstStyle/>
          <a:p>
            <a:pPr algn="ctr"/>
            <a:r>
              <a:rPr b="1">
                <a:solidFill>
                  <a:srgbClr val="7F7F7F"/>
                </a:solidFill>
                <a:latin typeface="メイリオ"/>
                <a:ea typeface="メイリオ"/>
                <a:cs typeface="メイリオ"/>
              </a:rPr>
              <a:t>→</a:t>
            </a:r>
          </a:p>
        </p:txBody>
      </p:sp>
      <p:sp>
        <p:nvSpPr>
          <p:cNvPr id="10" name="Rounded Rectangle 9"/>
          <p:cNvSpPr/>
          <p:nvPr/>
        </p:nvSpPr>
        <p:spPr>
          <a:xfrm>
            <a:off x="5061600" y="2215561"/>
            <a:ext cx="2098800" cy="396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21600" rIns="50400" bIns="21600" rtlCol="0" anchor="ctr"/>
          <a:lstStyle/>
          <a:p>
            <a:pPr algn="ctr"/>
            <a:r>
              <a:rPr sz="1600" b="1">
                <a:solidFill>
                  <a:srgbClr val="FFFFFF"/>
                </a:solidFill>
                <a:latin typeface="メイリオ"/>
                <a:ea typeface="メイリオ"/>
                <a:cs typeface="メイリオ"/>
              </a:rPr>
              <a:t>今すぐ応募する</a:t>
            </a:r>
          </a:p>
        </p:txBody>
      </p:sp>
      <p:sp>
        <p:nvSpPr>
          <p:cNvPr id="11" name="TextBox 10"/>
          <p:cNvSpPr txBox="1"/>
          <p:nvPr/>
        </p:nvSpPr>
        <p:spPr>
          <a:xfrm>
            <a:off x="7178400" y="2253252"/>
            <a:ext cx="180000" cy="320621"/>
          </a:xfrm>
          <a:prstGeom prst="rect">
            <a:avLst/>
          </a:prstGeom>
          <a:noFill/>
        </p:spPr>
        <p:txBody>
          <a:bodyPr wrap="square" lIns="50400" tIns="21600" rIns="50400" bIns="21600" anchor="ctr">
            <a:spAutoFit/>
          </a:bodyPr>
          <a:lstStyle/>
          <a:p>
            <a:pPr algn="ctr"/>
            <a:r>
              <a:rPr b="1">
                <a:solidFill>
                  <a:srgbClr val="7F7F7F"/>
                </a:solidFill>
                <a:latin typeface="メイリオ"/>
                <a:ea typeface="メイリオ"/>
                <a:cs typeface="メイリオ"/>
              </a:rPr>
              <a:t>→</a:t>
            </a:r>
          </a:p>
        </p:txBody>
      </p:sp>
      <p:sp>
        <p:nvSpPr>
          <p:cNvPr id="12" name="Rounded Rectangle 11"/>
          <p:cNvSpPr/>
          <p:nvPr/>
        </p:nvSpPr>
        <p:spPr>
          <a:xfrm>
            <a:off x="7376399" y="2215561"/>
            <a:ext cx="2098800" cy="396000"/>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0400" tIns="21600" rIns="50400" bIns="21600" rtlCol="0" anchor="ctr"/>
          <a:lstStyle/>
          <a:p>
            <a:pPr algn="ctr"/>
            <a:r>
              <a:rPr sz="1600" b="1">
                <a:solidFill>
                  <a:srgbClr val="C00000"/>
                </a:solidFill>
                <a:latin typeface="メイリオ"/>
                <a:ea typeface="メイリオ"/>
                <a:cs typeface="メイリオ"/>
              </a:rPr>
              <a:t>迷った人は離脱</a:t>
            </a:r>
          </a:p>
        </p:txBody>
      </p:sp>
      <p:sp>
        <p:nvSpPr>
          <p:cNvPr id="13" name="TextBox 12"/>
          <p:cNvSpPr txBox="1"/>
          <p:nvPr/>
        </p:nvSpPr>
        <p:spPr>
          <a:xfrm>
            <a:off x="432000" y="2718641"/>
            <a:ext cx="2160000" cy="289843"/>
          </a:xfrm>
          <a:prstGeom prst="rect">
            <a:avLst/>
          </a:prstGeom>
          <a:noFill/>
        </p:spPr>
        <p:txBody>
          <a:bodyPr wrap="square" lIns="50400" tIns="21600" rIns="50400" bIns="21600" anchor="ctr">
            <a:spAutoFit/>
          </a:bodyPr>
          <a:lstStyle/>
          <a:p>
            <a:pPr algn="l"/>
            <a:r>
              <a:rPr sz="1600" b="1">
                <a:solidFill>
                  <a:srgbClr val="06C755"/>
                </a:solidFill>
                <a:latin typeface="メイリオ"/>
                <a:ea typeface="メイリオ"/>
                <a:cs typeface="メイリオ"/>
              </a:rPr>
              <a:t>LINE導入後</a:t>
            </a:r>
          </a:p>
        </p:txBody>
      </p:sp>
      <p:sp>
        <p:nvSpPr>
          <p:cNvPr id="14" name="Rounded Rectangle 13"/>
          <p:cNvSpPr/>
          <p:nvPr/>
        </p:nvSpPr>
        <p:spPr>
          <a:xfrm>
            <a:off x="432000" y="2989561"/>
            <a:ext cx="1213201" cy="859953"/>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1600" rIns="28800" bIns="21600" rtlCol="0" anchor="ctr"/>
          <a:lstStyle/>
          <a:p>
            <a:pPr algn="ctr">
              <a:lnSpc>
                <a:spcPct val="115000"/>
              </a:lnSpc>
            </a:pPr>
            <a:r>
              <a:rPr sz="1400" b="1">
                <a:solidFill>
                  <a:srgbClr val="FFFFFF"/>
                </a:solidFill>
                <a:latin typeface="メイリオ"/>
                <a:ea typeface="メイリオ"/>
                <a:cs typeface="メイリオ"/>
              </a:rPr>
              <a:t>流入</a:t>
            </a:r>
          </a:p>
        </p:txBody>
      </p:sp>
      <p:sp>
        <p:nvSpPr>
          <p:cNvPr id="15" name="TextBox 14"/>
          <p:cNvSpPr txBox="1"/>
          <p:nvPr/>
        </p:nvSpPr>
        <p:spPr>
          <a:xfrm>
            <a:off x="1669971" y="3201860"/>
            <a:ext cx="148030" cy="289843"/>
          </a:xfrm>
          <a:prstGeom prst="rect">
            <a:avLst/>
          </a:prstGeom>
          <a:noFill/>
        </p:spPr>
        <p:txBody>
          <a:bodyPr wrap="square" lIns="50400" tIns="21600" rIns="50400" bIns="21600" anchor="ctr">
            <a:spAutoFit/>
          </a:bodyPr>
          <a:lstStyle/>
          <a:p>
            <a:pPr algn="ctr"/>
            <a:r>
              <a:rPr sz="1600" b="1" dirty="0">
                <a:solidFill>
                  <a:srgbClr val="7F7F7F"/>
                </a:solidFill>
                <a:latin typeface="メイリオ"/>
                <a:ea typeface="メイリオ"/>
                <a:cs typeface="メイリオ"/>
              </a:rPr>
              <a:t>→</a:t>
            </a:r>
          </a:p>
        </p:txBody>
      </p:sp>
      <p:sp>
        <p:nvSpPr>
          <p:cNvPr id="16" name="Rounded Rectangle 15"/>
          <p:cNvSpPr/>
          <p:nvPr/>
        </p:nvSpPr>
        <p:spPr>
          <a:xfrm>
            <a:off x="1857975" y="2989560"/>
            <a:ext cx="1368459" cy="859953"/>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1600" rIns="28800" bIns="21600" rtlCol="0" anchor="ctr"/>
          <a:lstStyle/>
          <a:p>
            <a:pPr algn="ctr">
              <a:lnSpc>
                <a:spcPct val="115000"/>
              </a:lnSpc>
            </a:pPr>
            <a:r>
              <a:rPr sz="1400" b="1" dirty="0" err="1">
                <a:solidFill>
                  <a:srgbClr val="FFFFFF"/>
                </a:solidFill>
                <a:latin typeface="メイリオ"/>
                <a:ea typeface="メイリオ"/>
                <a:cs typeface="メイリオ"/>
              </a:rPr>
              <a:t>LINE友だち化</a:t>
            </a:r>
            <a:endParaRPr sz="1400" b="1" dirty="0">
              <a:solidFill>
                <a:srgbClr val="FFFFFF"/>
              </a:solidFill>
              <a:latin typeface="メイリオ"/>
              <a:ea typeface="メイリオ"/>
              <a:cs typeface="メイリオ"/>
            </a:endParaRPr>
          </a:p>
          <a:p>
            <a:pPr algn="ctr">
              <a:lnSpc>
                <a:spcPct val="115000"/>
              </a:lnSpc>
            </a:pPr>
            <a:r>
              <a:rPr sz="1400" b="1" dirty="0">
                <a:solidFill>
                  <a:srgbClr val="FFFFFF"/>
                </a:solidFill>
                <a:latin typeface="メイリオ"/>
                <a:ea typeface="メイリオ"/>
                <a:cs typeface="メイリオ"/>
              </a:rPr>
              <a:t>（</a:t>
            </a:r>
            <a:r>
              <a:rPr sz="1400" b="1" dirty="0" err="1">
                <a:solidFill>
                  <a:srgbClr val="FFFFFF"/>
                </a:solidFill>
                <a:latin typeface="メイリオ"/>
                <a:ea typeface="メイリオ"/>
                <a:cs typeface="メイリオ"/>
              </a:rPr>
              <a:t>離脱防止・CPF</a:t>
            </a:r>
            <a:r>
              <a:rPr sz="1400" b="1" dirty="0">
                <a:solidFill>
                  <a:srgbClr val="FFFFFF"/>
                </a:solidFill>
                <a:latin typeface="メイリオ"/>
                <a:ea typeface="メイリオ"/>
                <a:cs typeface="メイリオ"/>
              </a:rPr>
              <a:t>）</a:t>
            </a:r>
          </a:p>
        </p:txBody>
      </p:sp>
      <p:sp>
        <p:nvSpPr>
          <p:cNvPr id="17" name="TextBox 16"/>
          <p:cNvSpPr txBox="1"/>
          <p:nvPr/>
        </p:nvSpPr>
        <p:spPr>
          <a:xfrm>
            <a:off x="3203243" y="3196920"/>
            <a:ext cx="287567" cy="289843"/>
          </a:xfrm>
          <a:prstGeom prst="rect">
            <a:avLst/>
          </a:prstGeom>
          <a:noFill/>
        </p:spPr>
        <p:txBody>
          <a:bodyPr wrap="square" lIns="50400" tIns="21600" rIns="50400" bIns="21600" anchor="ctr">
            <a:spAutoFit/>
          </a:bodyPr>
          <a:lstStyle/>
          <a:p>
            <a:pPr algn="ctr"/>
            <a:r>
              <a:rPr sz="1600" b="1" dirty="0">
                <a:solidFill>
                  <a:srgbClr val="7F7F7F"/>
                </a:solidFill>
                <a:latin typeface="メイリオ"/>
                <a:ea typeface="メイリオ"/>
                <a:cs typeface="メイリオ"/>
              </a:rPr>
              <a:t>→</a:t>
            </a:r>
          </a:p>
        </p:txBody>
      </p:sp>
      <p:sp>
        <p:nvSpPr>
          <p:cNvPr id="18" name="Rounded Rectangle 17"/>
          <p:cNvSpPr/>
          <p:nvPr/>
        </p:nvSpPr>
        <p:spPr>
          <a:xfrm>
            <a:off x="3467619" y="2989559"/>
            <a:ext cx="1368459" cy="859953"/>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1600" rIns="28800" bIns="21600" rtlCol="0" anchor="ctr"/>
          <a:lstStyle/>
          <a:p>
            <a:pPr algn="ctr">
              <a:lnSpc>
                <a:spcPct val="115000"/>
              </a:lnSpc>
            </a:pPr>
            <a:r>
              <a:rPr sz="1400" b="1" dirty="0">
                <a:solidFill>
                  <a:srgbClr val="FFFFFF"/>
                </a:solidFill>
                <a:latin typeface="メイリオ"/>
                <a:ea typeface="メイリオ"/>
                <a:cs typeface="メイリオ"/>
              </a:rPr>
              <a:t>30秒診断</a:t>
            </a:r>
          </a:p>
          <a:p>
            <a:pPr algn="ctr">
              <a:lnSpc>
                <a:spcPct val="115000"/>
              </a:lnSpc>
            </a:pPr>
            <a:r>
              <a:rPr sz="1400" b="1" dirty="0">
                <a:solidFill>
                  <a:srgbClr val="FFFFFF"/>
                </a:solidFill>
                <a:latin typeface="メイリオ"/>
                <a:ea typeface="メイリオ"/>
                <a:cs typeface="メイリオ"/>
              </a:rPr>
              <a:t>（</a:t>
            </a:r>
            <a:r>
              <a:rPr sz="1400" b="1" dirty="0" err="1">
                <a:solidFill>
                  <a:srgbClr val="FFFFFF"/>
                </a:solidFill>
                <a:latin typeface="メイリオ"/>
                <a:ea typeface="メイリオ"/>
                <a:cs typeface="メイリオ"/>
              </a:rPr>
              <a:t>職種・資格・温度感</a:t>
            </a:r>
            <a:r>
              <a:rPr sz="1400" b="1" dirty="0">
                <a:solidFill>
                  <a:srgbClr val="FFFFFF"/>
                </a:solidFill>
                <a:latin typeface="メイリオ"/>
                <a:ea typeface="メイリオ"/>
                <a:cs typeface="メイリオ"/>
              </a:rPr>
              <a:t>）</a:t>
            </a:r>
          </a:p>
        </p:txBody>
      </p:sp>
      <p:sp>
        <p:nvSpPr>
          <p:cNvPr id="19" name="TextBox 18"/>
          <p:cNvSpPr txBox="1"/>
          <p:nvPr/>
        </p:nvSpPr>
        <p:spPr>
          <a:xfrm>
            <a:off x="4877964" y="3196921"/>
            <a:ext cx="166974" cy="289843"/>
          </a:xfrm>
          <a:prstGeom prst="rect">
            <a:avLst/>
          </a:prstGeom>
          <a:noFill/>
        </p:spPr>
        <p:txBody>
          <a:bodyPr wrap="square" lIns="50400" tIns="21600" rIns="50400" bIns="21600" anchor="ctr">
            <a:spAutoFit/>
          </a:bodyPr>
          <a:lstStyle/>
          <a:p>
            <a:pPr algn="ctr"/>
            <a:r>
              <a:rPr sz="1600" b="1" dirty="0">
                <a:solidFill>
                  <a:srgbClr val="7F7F7F"/>
                </a:solidFill>
                <a:latin typeface="メイリオ"/>
                <a:ea typeface="メイリオ"/>
                <a:cs typeface="メイリオ"/>
              </a:rPr>
              <a:t>→</a:t>
            </a:r>
          </a:p>
        </p:txBody>
      </p:sp>
      <p:sp>
        <p:nvSpPr>
          <p:cNvPr id="20" name="Rounded Rectangle 19"/>
          <p:cNvSpPr/>
          <p:nvPr/>
        </p:nvSpPr>
        <p:spPr>
          <a:xfrm>
            <a:off x="5097584" y="2989560"/>
            <a:ext cx="1368459" cy="859953"/>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1600" rIns="28800" bIns="21600" rtlCol="0" anchor="ctr"/>
          <a:lstStyle/>
          <a:p>
            <a:pPr algn="ctr">
              <a:lnSpc>
                <a:spcPct val="115000"/>
              </a:lnSpc>
            </a:pPr>
            <a:r>
              <a:rPr sz="1200" b="1" dirty="0">
                <a:solidFill>
                  <a:srgbClr val="FFFFFF"/>
                </a:solidFill>
                <a:latin typeface="メイリオ"/>
                <a:ea typeface="メイリオ"/>
                <a:cs typeface="メイリオ"/>
              </a:rPr>
              <a:t>14日間の情報配信</a:t>
            </a:r>
          </a:p>
          <a:p>
            <a:pPr algn="ctr">
              <a:lnSpc>
                <a:spcPct val="115000"/>
              </a:lnSpc>
            </a:pPr>
            <a:r>
              <a:rPr sz="1200" b="1" dirty="0">
                <a:solidFill>
                  <a:srgbClr val="FFFFFF"/>
                </a:solidFill>
                <a:latin typeface="メイリオ"/>
                <a:ea typeface="メイリオ"/>
                <a:cs typeface="メイリオ"/>
              </a:rPr>
              <a:t>（</a:t>
            </a:r>
            <a:r>
              <a:rPr sz="1200" b="1" dirty="0" err="1">
                <a:solidFill>
                  <a:srgbClr val="FFFFFF"/>
                </a:solidFill>
                <a:latin typeface="メイリオ"/>
                <a:ea typeface="メイリオ"/>
                <a:cs typeface="メイリオ"/>
              </a:rPr>
              <a:t>年収相場・体験談</a:t>
            </a:r>
            <a:r>
              <a:rPr sz="1200" b="1" dirty="0">
                <a:solidFill>
                  <a:srgbClr val="FFFFFF"/>
                </a:solidFill>
                <a:latin typeface="メイリオ"/>
                <a:ea typeface="メイリオ"/>
                <a:cs typeface="メイリオ"/>
              </a:rPr>
              <a:t>）</a:t>
            </a:r>
          </a:p>
        </p:txBody>
      </p:sp>
      <p:sp>
        <p:nvSpPr>
          <p:cNvPr id="21" name="TextBox 20"/>
          <p:cNvSpPr txBox="1"/>
          <p:nvPr/>
        </p:nvSpPr>
        <p:spPr>
          <a:xfrm>
            <a:off x="6512428" y="3201859"/>
            <a:ext cx="148030" cy="289843"/>
          </a:xfrm>
          <a:prstGeom prst="rect">
            <a:avLst/>
          </a:prstGeom>
          <a:noFill/>
        </p:spPr>
        <p:txBody>
          <a:bodyPr wrap="square" lIns="50400" tIns="21600" rIns="50400" bIns="21600" anchor="ctr">
            <a:spAutoFit/>
          </a:bodyPr>
          <a:lstStyle/>
          <a:p>
            <a:pPr algn="ctr"/>
            <a:r>
              <a:rPr sz="1600" b="1" dirty="0">
                <a:solidFill>
                  <a:srgbClr val="7F7F7F"/>
                </a:solidFill>
                <a:latin typeface="メイリオ"/>
                <a:ea typeface="メイリオ"/>
                <a:cs typeface="メイリオ"/>
              </a:rPr>
              <a:t>→</a:t>
            </a:r>
          </a:p>
        </p:txBody>
      </p:sp>
      <p:sp>
        <p:nvSpPr>
          <p:cNvPr id="22" name="Rounded Rectangle 21"/>
          <p:cNvSpPr/>
          <p:nvPr/>
        </p:nvSpPr>
        <p:spPr>
          <a:xfrm>
            <a:off x="6707228" y="2989561"/>
            <a:ext cx="1213201" cy="859953"/>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1600" rIns="28800" bIns="21600" rtlCol="0" anchor="ctr"/>
          <a:lstStyle/>
          <a:p>
            <a:pPr algn="ctr">
              <a:lnSpc>
                <a:spcPct val="115000"/>
              </a:lnSpc>
            </a:pPr>
            <a:r>
              <a:rPr sz="1400" b="1" dirty="0" err="1">
                <a:solidFill>
                  <a:srgbClr val="FFFFFF"/>
                </a:solidFill>
                <a:latin typeface="メイリオ"/>
                <a:ea typeface="メイリオ"/>
                <a:cs typeface="メイリオ"/>
              </a:rPr>
              <a:t>面談・応募</a:t>
            </a:r>
            <a:endParaRPr sz="1400" b="1" dirty="0">
              <a:solidFill>
                <a:srgbClr val="FFFFFF"/>
              </a:solidFill>
              <a:latin typeface="メイリオ"/>
              <a:ea typeface="メイリオ"/>
              <a:cs typeface="メイリオ"/>
            </a:endParaRPr>
          </a:p>
        </p:txBody>
      </p:sp>
      <p:sp>
        <p:nvSpPr>
          <p:cNvPr id="23" name="TextBox 22"/>
          <p:cNvSpPr txBox="1"/>
          <p:nvPr/>
        </p:nvSpPr>
        <p:spPr>
          <a:xfrm>
            <a:off x="7945199" y="3204640"/>
            <a:ext cx="148030" cy="289843"/>
          </a:xfrm>
          <a:prstGeom prst="rect">
            <a:avLst/>
          </a:prstGeom>
          <a:noFill/>
        </p:spPr>
        <p:txBody>
          <a:bodyPr wrap="square" lIns="50400" tIns="21600" rIns="50400" bIns="21600" anchor="ctr">
            <a:spAutoFit/>
          </a:bodyPr>
          <a:lstStyle/>
          <a:p>
            <a:pPr algn="ctr"/>
            <a:r>
              <a:rPr sz="1600" b="1">
                <a:solidFill>
                  <a:srgbClr val="7F7F7F"/>
                </a:solidFill>
                <a:latin typeface="メイリオ"/>
                <a:ea typeface="メイリオ"/>
                <a:cs typeface="メイリオ"/>
              </a:rPr>
              <a:t>→</a:t>
            </a:r>
          </a:p>
        </p:txBody>
      </p:sp>
      <p:sp>
        <p:nvSpPr>
          <p:cNvPr id="24" name="Rounded Rectangle 23"/>
          <p:cNvSpPr/>
          <p:nvPr/>
        </p:nvSpPr>
        <p:spPr>
          <a:xfrm>
            <a:off x="8117999" y="2989561"/>
            <a:ext cx="1213201" cy="859953"/>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1600" rIns="28800" bIns="21600" rtlCol="0" anchor="ctr"/>
          <a:lstStyle/>
          <a:p>
            <a:pPr algn="ctr">
              <a:lnSpc>
                <a:spcPct val="115000"/>
              </a:lnSpc>
            </a:pPr>
            <a:r>
              <a:rPr sz="1400" b="1">
                <a:solidFill>
                  <a:srgbClr val="FFFFFF"/>
                </a:solidFill>
                <a:latin typeface="メイリオ"/>
                <a:ea typeface="メイリオ"/>
                <a:cs typeface="メイリオ"/>
              </a:rPr>
              <a:t>就業</a:t>
            </a:r>
          </a:p>
        </p:txBody>
      </p:sp>
      <p:sp>
        <p:nvSpPr>
          <p:cNvPr id="25" name="Rounded Rectangle 24"/>
          <p:cNvSpPr/>
          <p:nvPr/>
        </p:nvSpPr>
        <p:spPr>
          <a:xfrm>
            <a:off x="432000" y="4246440"/>
            <a:ext cx="9043200" cy="39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b="1">
                <a:solidFill>
                  <a:srgbClr val="FFFFFF"/>
                </a:solidFill>
                <a:latin typeface="メイリオ"/>
                <a:ea typeface="メイリオ"/>
                <a:cs typeface="メイリオ"/>
              </a:rPr>
              <a:t>広告・サイトは変えない。「応募の手前」に、相談の階段を1段足すだけ。</a:t>
            </a:r>
          </a:p>
        </p:txBody>
      </p:sp>
      <p:sp>
        <p:nvSpPr>
          <p:cNvPr id="26" name="TextBox 2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意見｜DYM提案。CV地点＝求人応募・転職支援サービス登録（面談）</a:t>
            </a: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37160"/>
            <a:ext cx="6858000" cy="365760"/>
          </a:xfrm>
          <a:prstGeom prst="rect">
            <a:avLst/>
          </a:prstGeom>
          <a:noFill/>
        </p:spPr>
        <p:txBody>
          <a:bodyPr wrap="square">
            <a:spAutoFit/>
          </a:bodyPr>
          <a:lstStyle/>
          <a:p>
            <a:pPr algn="l"/>
            <a:r>
              <a:rPr sz="1400" b="1">
                <a:solidFill>
                  <a:srgbClr val="002060"/>
                </a:solidFill>
                <a:latin typeface="メイリオ"/>
                <a:ea typeface="メイリオ"/>
                <a:cs typeface="メイリオ"/>
              </a:rPr>
              <a:t>本提案の考え方</a:t>
            </a:r>
          </a:p>
        </p:txBody>
      </p:sp>
      <p:sp>
        <p:nvSpPr>
          <p:cNvPr id="3" name="TextBox 2"/>
          <p:cNvSpPr txBox="1"/>
          <p:nvPr/>
        </p:nvSpPr>
        <p:spPr>
          <a:xfrm>
            <a:off x="548640" y="1234440"/>
            <a:ext cx="8805672" cy="548640"/>
          </a:xfrm>
          <a:prstGeom prst="rect">
            <a:avLst/>
          </a:prstGeom>
          <a:noFill/>
        </p:spPr>
        <p:txBody>
          <a:bodyPr wrap="square">
            <a:spAutoFit/>
          </a:bodyPr>
          <a:lstStyle/>
          <a:p>
            <a:pPr algn="ctr"/>
            <a:r>
              <a:rPr sz="2400" b="1">
                <a:solidFill>
                  <a:srgbClr val="333333"/>
                </a:solidFill>
                <a:latin typeface="メイリオ"/>
                <a:ea typeface="メイリオ"/>
                <a:cs typeface="メイリオ"/>
              </a:rPr>
              <a:t>広告は、CVの瞬間で接点が終わる。</a:t>
            </a:r>
          </a:p>
        </p:txBody>
      </p:sp>
      <p:sp>
        <p:nvSpPr>
          <p:cNvPr id="4" name="TextBox 3"/>
          <p:cNvSpPr txBox="1"/>
          <p:nvPr/>
        </p:nvSpPr>
        <p:spPr>
          <a:xfrm>
            <a:off x="548640" y="1828800"/>
            <a:ext cx="8805672" cy="640080"/>
          </a:xfrm>
          <a:prstGeom prst="rect">
            <a:avLst/>
          </a:prstGeom>
          <a:noFill/>
        </p:spPr>
        <p:txBody>
          <a:bodyPr wrap="square">
            <a:spAutoFit/>
          </a:bodyPr>
          <a:lstStyle/>
          <a:p>
            <a:pPr algn="ctr"/>
            <a:r>
              <a:rPr sz="3000" b="1">
                <a:solidFill>
                  <a:srgbClr val="BF4E0E"/>
                </a:solidFill>
                <a:latin typeface="メイリオ"/>
                <a:ea typeface="メイリオ"/>
                <a:cs typeface="メイリオ"/>
              </a:rPr>
              <a:t>LINEは、CVの先まで追いきれる。</a:t>
            </a:r>
          </a:p>
        </p:txBody>
      </p:sp>
      <p:sp>
        <p:nvSpPr>
          <p:cNvPr id="5" name="TextBox 4"/>
          <p:cNvSpPr txBox="1"/>
          <p:nvPr/>
        </p:nvSpPr>
        <p:spPr>
          <a:xfrm>
            <a:off x="548640" y="2610000"/>
            <a:ext cx="8805672" cy="822960"/>
          </a:xfrm>
          <a:prstGeom prst="rect">
            <a:avLst/>
          </a:prstGeom>
          <a:noFill/>
        </p:spPr>
        <p:txBody>
          <a:bodyPr wrap="square">
            <a:spAutoFit/>
          </a:bodyPr>
          <a:lstStyle/>
          <a:p>
            <a:pPr algn="ctr"/>
            <a:r>
              <a:rPr sz="1500" b="0" dirty="0" err="1">
                <a:solidFill>
                  <a:srgbClr val="333333"/>
                </a:solidFill>
                <a:latin typeface="メイリオ"/>
                <a:ea typeface="メイリオ"/>
                <a:cs typeface="メイリオ"/>
              </a:rPr>
              <a:t>一度つながれば、接点を持ち続けられる。情報を渡し続けられる</a:t>
            </a:r>
            <a:r>
              <a:rPr sz="1500" b="0" dirty="0">
                <a:solidFill>
                  <a:srgbClr val="333333"/>
                </a:solidFill>
                <a:latin typeface="メイリオ"/>
                <a:ea typeface="メイリオ"/>
                <a:cs typeface="メイリオ"/>
              </a:rPr>
              <a:t>。</a:t>
            </a:r>
          </a:p>
          <a:p>
            <a:pPr algn="ctr"/>
            <a:r>
              <a:rPr sz="1500" b="0" dirty="0" err="1">
                <a:solidFill>
                  <a:srgbClr val="333333"/>
                </a:solidFill>
                <a:latin typeface="メイリオ"/>
                <a:ea typeface="メイリオ"/>
                <a:cs typeface="メイリオ"/>
              </a:rPr>
              <a:t>応募で終わらず、面談</a:t>
            </a:r>
            <a:r>
              <a:rPr sz="1500" b="0" dirty="0">
                <a:solidFill>
                  <a:srgbClr val="333333"/>
                </a:solidFill>
                <a:latin typeface="メイリオ"/>
                <a:ea typeface="メイリオ"/>
                <a:cs typeface="メイリオ"/>
              </a:rPr>
              <a:t> → </a:t>
            </a:r>
            <a:r>
              <a:rPr sz="1500" b="0" dirty="0" err="1">
                <a:solidFill>
                  <a:srgbClr val="333333"/>
                </a:solidFill>
                <a:latin typeface="メイリオ"/>
                <a:ea typeface="メイリオ"/>
                <a:cs typeface="メイリオ"/>
              </a:rPr>
              <a:t>就業</a:t>
            </a:r>
            <a:r>
              <a:rPr sz="1500" b="0" dirty="0">
                <a:solidFill>
                  <a:srgbClr val="333333"/>
                </a:solidFill>
                <a:latin typeface="メイリオ"/>
                <a:ea typeface="メイリオ"/>
                <a:cs typeface="メイリオ"/>
              </a:rPr>
              <a:t> → </a:t>
            </a:r>
            <a:r>
              <a:rPr sz="1500" b="0" dirty="0" err="1">
                <a:solidFill>
                  <a:srgbClr val="333333"/>
                </a:solidFill>
                <a:latin typeface="メイリオ"/>
                <a:ea typeface="メイリオ"/>
                <a:cs typeface="メイリオ"/>
              </a:rPr>
              <a:t>定着まで並走できる</a:t>
            </a:r>
            <a:r>
              <a:rPr sz="1500" b="0" dirty="0">
                <a:solidFill>
                  <a:srgbClr val="333333"/>
                </a:solidFill>
                <a:latin typeface="メイリオ"/>
                <a:ea typeface="メイリオ"/>
                <a:cs typeface="メイリオ"/>
              </a:rPr>
              <a:t>——</a:t>
            </a:r>
            <a:r>
              <a:rPr sz="1500" b="0" dirty="0" err="1">
                <a:solidFill>
                  <a:srgbClr val="333333"/>
                </a:solidFill>
                <a:latin typeface="メイリオ"/>
                <a:ea typeface="メイリオ"/>
                <a:cs typeface="メイリオ"/>
              </a:rPr>
              <a:t>これがLINE最大の魅力です</a:t>
            </a:r>
            <a:r>
              <a:rPr sz="1500" b="0" dirty="0">
                <a:solidFill>
                  <a:srgbClr val="333333"/>
                </a:solidFill>
                <a:latin typeface="メイリオ"/>
                <a:ea typeface="メイリオ"/>
                <a:cs typeface="メイリオ"/>
              </a:rPr>
              <a:t>。</a:t>
            </a:r>
          </a:p>
        </p:txBody>
      </p:sp>
      <p:sp>
        <p:nvSpPr>
          <p:cNvPr id="6" name="TextBox 5"/>
          <p:cNvSpPr txBox="1"/>
          <p:nvPr/>
        </p:nvSpPr>
        <p:spPr>
          <a:xfrm>
            <a:off x="594360" y="3508977"/>
            <a:ext cx="822960" cy="365760"/>
          </a:xfrm>
          <a:prstGeom prst="rect">
            <a:avLst/>
          </a:prstGeom>
          <a:noFill/>
        </p:spPr>
        <p:txBody>
          <a:bodyPr wrap="square">
            <a:spAutoFit/>
          </a:bodyPr>
          <a:lstStyle/>
          <a:p>
            <a:pPr algn="l"/>
            <a:r>
              <a:rPr sz="1500" b="1">
                <a:solidFill>
                  <a:srgbClr val="333333"/>
                </a:solidFill>
                <a:latin typeface="メイリオ"/>
                <a:ea typeface="メイリオ"/>
                <a:cs typeface="メイリオ"/>
              </a:rPr>
              <a:t>広告</a:t>
            </a:r>
          </a:p>
        </p:txBody>
      </p:sp>
      <p:sp>
        <p:nvSpPr>
          <p:cNvPr id="7" name="Rounded Rectangle 6"/>
          <p:cNvSpPr/>
          <p:nvPr/>
        </p:nvSpPr>
        <p:spPr>
          <a:xfrm>
            <a:off x="1508760" y="3463257"/>
            <a:ext cx="132588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333333"/>
                </a:solidFill>
                <a:latin typeface="メイリオ"/>
                <a:ea typeface="メイリオ"/>
                <a:cs typeface="メイリオ"/>
              </a:rPr>
              <a:t>接触</a:t>
            </a:r>
          </a:p>
        </p:txBody>
      </p:sp>
      <p:sp>
        <p:nvSpPr>
          <p:cNvPr id="8" name="TextBox 7"/>
          <p:cNvSpPr txBox="1"/>
          <p:nvPr/>
        </p:nvSpPr>
        <p:spPr>
          <a:xfrm>
            <a:off x="2862072" y="3536409"/>
            <a:ext cx="274320" cy="365760"/>
          </a:xfrm>
          <a:prstGeom prst="rect">
            <a:avLst/>
          </a:prstGeom>
          <a:noFill/>
        </p:spPr>
        <p:txBody>
          <a:bodyPr wrap="square">
            <a:spAutoFit/>
          </a:bodyPr>
          <a:lstStyle/>
          <a:p>
            <a:pPr algn="ctr"/>
            <a:r>
              <a:rPr sz="1500" b="1">
                <a:solidFill>
                  <a:srgbClr val="1F285A"/>
                </a:solidFill>
                <a:latin typeface="メイリオ"/>
                <a:ea typeface="メイリオ"/>
                <a:cs typeface="メイリオ"/>
              </a:rPr>
              <a:t>→</a:t>
            </a:r>
          </a:p>
        </p:txBody>
      </p:sp>
      <p:sp>
        <p:nvSpPr>
          <p:cNvPr id="9" name="Rounded Rectangle 8"/>
          <p:cNvSpPr/>
          <p:nvPr/>
        </p:nvSpPr>
        <p:spPr>
          <a:xfrm>
            <a:off x="3172968" y="3463257"/>
            <a:ext cx="173736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333333"/>
                </a:solidFill>
                <a:latin typeface="メイリオ"/>
                <a:ea typeface="メイリオ"/>
                <a:cs typeface="メイリオ"/>
              </a:rPr>
              <a:t>応募・相談（CV）</a:t>
            </a:r>
          </a:p>
        </p:txBody>
      </p:sp>
      <p:sp>
        <p:nvSpPr>
          <p:cNvPr id="10" name="TextBox 9"/>
          <p:cNvSpPr txBox="1"/>
          <p:nvPr/>
        </p:nvSpPr>
        <p:spPr>
          <a:xfrm>
            <a:off x="5120640" y="3527265"/>
            <a:ext cx="3108960" cy="365760"/>
          </a:xfrm>
          <a:prstGeom prst="rect">
            <a:avLst/>
          </a:prstGeom>
          <a:noFill/>
        </p:spPr>
        <p:txBody>
          <a:bodyPr wrap="square">
            <a:spAutoFit/>
          </a:bodyPr>
          <a:lstStyle/>
          <a:p>
            <a:pPr algn="l"/>
            <a:r>
              <a:rPr sz="1400" b="1">
                <a:solidFill>
                  <a:srgbClr val="C00000"/>
                </a:solidFill>
                <a:latin typeface="メイリオ"/>
                <a:ea typeface="メイリオ"/>
                <a:cs typeface="メイリオ"/>
              </a:rPr>
              <a:t>✕ ここで接点が途切れる</a:t>
            </a:r>
          </a:p>
        </p:txBody>
      </p:sp>
      <p:sp>
        <p:nvSpPr>
          <p:cNvPr id="11" name="TextBox 10"/>
          <p:cNvSpPr txBox="1"/>
          <p:nvPr/>
        </p:nvSpPr>
        <p:spPr>
          <a:xfrm>
            <a:off x="594360" y="4154817"/>
            <a:ext cx="822960" cy="365760"/>
          </a:xfrm>
          <a:prstGeom prst="rect">
            <a:avLst/>
          </a:prstGeom>
          <a:noFill/>
        </p:spPr>
        <p:txBody>
          <a:bodyPr wrap="square">
            <a:spAutoFit/>
          </a:bodyPr>
          <a:lstStyle/>
          <a:p>
            <a:pPr algn="l"/>
            <a:r>
              <a:rPr sz="1500" b="1">
                <a:solidFill>
                  <a:srgbClr val="1F285A"/>
                </a:solidFill>
                <a:latin typeface="メイリオ"/>
                <a:ea typeface="メイリオ"/>
                <a:cs typeface="メイリオ"/>
              </a:rPr>
              <a:t>LINE</a:t>
            </a:r>
          </a:p>
        </p:txBody>
      </p:sp>
      <p:sp>
        <p:nvSpPr>
          <p:cNvPr id="12" name="Rounded Rectangle 11"/>
          <p:cNvSpPr/>
          <p:nvPr/>
        </p:nvSpPr>
        <p:spPr>
          <a:xfrm>
            <a:off x="1508760" y="4109097"/>
            <a:ext cx="13258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285A"/>
                </a:solidFill>
                <a:latin typeface="メイリオ"/>
                <a:ea typeface="メイリオ"/>
                <a:cs typeface="メイリオ"/>
              </a:rPr>
              <a:t>接触</a:t>
            </a:r>
          </a:p>
        </p:txBody>
      </p:sp>
      <p:sp>
        <p:nvSpPr>
          <p:cNvPr id="13" name="TextBox 12"/>
          <p:cNvSpPr txBox="1"/>
          <p:nvPr/>
        </p:nvSpPr>
        <p:spPr>
          <a:xfrm>
            <a:off x="2862072" y="4182249"/>
            <a:ext cx="274320" cy="365760"/>
          </a:xfrm>
          <a:prstGeom prst="rect">
            <a:avLst/>
          </a:prstGeom>
          <a:noFill/>
        </p:spPr>
        <p:txBody>
          <a:bodyPr wrap="square">
            <a:spAutoFit/>
          </a:bodyPr>
          <a:lstStyle/>
          <a:p>
            <a:pPr algn="ctr"/>
            <a:r>
              <a:rPr sz="1500" b="1">
                <a:solidFill>
                  <a:srgbClr val="1F285A"/>
                </a:solidFill>
                <a:latin typeface="メイリオ"/>
                <a:ea typeface="メイリオ"/>
                <a:cs typeface="メイリオ"/>
              </a:rPr>
              <a:t>→</a:t>
            </a:r>
          </a:p>
        </p:txBody>
      </p:sp>
      <p:sp>
        <p:nvSpPr>
          <p:cNvPr id="14" name="Rounded Rectangle 13"/>
          <p:cNvSpPr/>
          <p:nvPr/>
        </p:nvSpPr>
        <p:spPr>
          <a:xfrm>
            <a:off x="3172968" y="4109097"/>
            <a:ext cx="173736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285A"/>
                </a:solidFill>
                <a:latin typeface="メイリオ"/>
                <a:ea typeface="メイリオ"/>
                <a:cs typeface="メイリオ"/>
              </a:rPr>
              <a:t>応募・相談（CV）</a:t>
            </a:r>
          </a:p>
        </p:txBody>
      </p:sp>
      <p:sp>
        <p:nvSpPr>
          <p:cNvPr id="15" name="TextBox 14"/>
          <p:cNvSpPr txBox="1"/>
          <p:nvPr/>
        </p:nvSpPr>
        <p:spPr>
          <a:xfrm>
            <a:off x="4937760" y="4182249"/>
            <a:ext cx="274320" cy="365760"/>
          </a:xfrm>
          <a:prstGeom prst="rect">
            <a:avLst/>
          </a:prstGeom>
          <a:noFill/>
        </p:spPr>
        <p:txBody>
          <a:bodyPr wrap="square">
            <a:spAutoFit/>
          </a:bodyPr>
          <a:lstStyle/>
          <a:p>
            <a:pPr algn="ctr"/>
            <a:r>
              <a:rPr sz="1500" b="1">
                <a:solidFill>
                  <a:srgbClr val="1F285A"/>
                </a:solidFill>
                <a:latin typeface="メイリオ"/>
                <a:ea typeface="メイリオ"/>
                <a:cs typeface="メイリオ"/>
              </a:rPr>
              <a:t>→</a:t>
            </a:r>
          </a:p>
        </p:txBody>
      </p:sp>
      <p:sp>
        <p:nvSpPr>
          <p:cNvPr id="16" name="Rounded Rectangle 15"/>
          <p:cNvSpPr/>
          <p:nvPr/>
        </p:nvSpPr>
        <p:spPr>
          <a:xfrm>
            <a:off x="5248656" y="4109097"/>
            <a:ext cx="10972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285A"/>
                </a:solidFill>
                <a:latin typeface="メイリオ"/>
                <a:ea typeface="メイリオ"/>
                <a:cs typeface="メイリオ"/>
              </a:rPr>
              <a:t>面談</a:t>
            </a:r>
          </a:p>
        </p:txBody>
      </p:sp>
      <p:sp>
        <p:nvSpPr>
          <p:cNvPr id="17" name="TextBox 16"/>
          <p:cNvSpPr txBox="1"/>
          <p:nvPr/>
        </p:nvSpPr>
        <p:spPr>
          <a:xfrm>
            <a:off x="6373368" y="4182249"/>
            <a:ext cx="274320" cy="365760"/>
          </a:xfrm>
          <a:prstGeom prst="rect">
            <a:avLst/>
          </a:prstGeom>
          <a:noFill/>
        </p:spPr>
        <p:txBody>
          <a:bodyPr wrap="square">
            <a:spAutoFit/>
          </a:bodyPr>
          <a:lstStyle/>
          <a:p>
            <a:pPr algn="ctr"/>
            <a:r>
              <a:rPr sz="1500" b="1">
                <a:solidFill>
                  <a:srgbClr val="1F285A"/>
                </a:solidFill>
                <a:latin typeface="メイリオ"/>
                <a:ea typeface="メイリオ"/>
                <a:cs typeface="メイリオ"/>
              </a:rPr>
              <a:t>→</a:t>
            </a:r>
          </a:p>
        </p:txBody>
      </p:sp>
      <p:sp>
        <p:nvSpPr>
          <p:cNvPr id="18" name="Rounded Rectangle 17"/>
          <p:cNvSpPr/>
          <p:nvPr/>
        </p:nvSpPr>
        <p:spPr>
          <a:xfrm>
            <a:off x="6684264" y="4109097"/>
            <a:ext cx="1097280" cy="475488"/>
          </a:xfrm>
          <a:prstGeom prst="roundRect">
            <a:avLst>
              <a:gd name="adj" fmla="val 12000"/>
            </a:avLst>
          </a:prstGeom>
          <a:solidFill>
            <a:srgbClr val="1F285A"/>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メイリオ"/>
                <a:ea typeface="メイリオ"/>
                <a:cs typeface="メイリオ"/>
              </a:rPr>
              <a:t>就業</a:t>
            </a:r>
          </a:p>
        </p:txBody>
      </p:sp>
      <p:sp>
        <p:nvSpPr>
          <p:cNvPr id="19" name="TextBox 18"/>
          <p:cNvSpPr txBox="1"/>
          <p:nvPr/>
        </p:nvSpPr>
        <p:spPr>
          <a:xfrm>
            <a:off x="7808976" y="4182249"/>
            <a:ext cx="274320" cy="365760"/>
          </a:xfrm>
          <a:prstGeom prst="rect">
            <a:avLst/>
          </a:prstGeom>
          <a:noFill/>
        </p:spPr>
        <p:txBody>
          <a:bodyPr wrap="square">
            <a:spAutoFit/>
          </a:bodyPr>
          <a:lstStyle/>
          <a:p>
            <a:pPr algn="ctr"/>
            <a:r>
              <a:rPr sz="1500" b="1">
                <a:solidFill>
                  <a:srgbClr val="1F285A"/>
                </a:solidFill>
                <a:latin typeface="メイリオ"/>
                <a:ea typeface="メイリオ"/>
                <a:cs typeface="メイリオ"/>
              </a:rPr>
              <a:t>→</a:t>
            </a:r>
          </a:p>
        </p:txBody>
      </p:sp>
      <p:sp>
        <p:nvSpPr>
          <p:cNvPr id="20" name="Rounded Rectangle 19"/>
          <p:cNvSpPr/>
          <p:nvPr/>
        </p:nvSpPr>
        <p:spPr>
          <a:xfrm>
            <a:off x="8119872" y="4109097"/>
            <a:ext cx="123444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285A"/>
                </a:solidFill>
                <a:latin typeface="メイリオ"/>
                <a:ea typeface="メイリオ"/>
                <a:cs typeface="メイリオ"/>
              </a:rPr>
              <a:t>定着・紹介</a:t>
            </a:r>
          </a:p>
        </p:txBody>
      </p:sp>
      <p:sp>
        <p:nvSpPr>
          <p:cNvPr id="21" name="Rectangle 20"/>
          <p:cNvSpPr/>
          <p:nvPr/>
        </p:nvSpPr>
        <p:spPr>
          <a:xfrm>
            <a:off x="432000" y="4698000"/>
            <a:ext cx="903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250" b="1">
                <a:solidFill>
                  <a:srgbClr val="1F285A"/>
                </a:solidFill>
                <a:latin typeface="メイリオ"/>
                <a:ea typeface="メイリオ"/>
                <a:cs typeface="メイリオ"/>
              </a:rPr>
              <a:t>LINE導入で得られる3つのメリット</a:t>
            </a:r>
          </a:p>
        </p:txBody>
      </p:sp>
      <p:sp>
        <p:nvSpPr>
          <p:cNvPr id="22" name="Rounded Rectangle 21"/>
          <p:cNvSpPr/>
          <p:nvPr/>
        </p:nvSpPr>
        <p:spPr>
          <a:xfrm>
            <a:off x="432000" y="4986000"/>
            <a:ext cx="2966400" cy="1188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200" b="1">
                <a:solidFill>
                  <a:srgbClr val="1F285A"/>
                </a:solidFill>
                <a:latin typeface="メイリオ"/>
                <a:ea typeface="メイリオ"/>
                <a:cs typeface="メイリオ"/>
              </a:rPr>
              <a:t>① 広告費のロスを減らす</a:t>
            </a:r>
          </a:p>
          <a:p>
            <a:pPr algn="ctr"/>
            <a:r>
              <a:rPr sz="1050" b="0">
                <a:solidFill>
                  <a:srgbClr val="333333"/>
                </a:solidFill>
                <a:latin typeface="メイリオ"/>
                <a:ea typeface="メイリオ"/>
                <a:cs typeface="メイリオ"/>
              </a:rPr>
              <a:t>サイトに来て応募せず帰る整備士を、離脱防止からLINEで拾う</a:t>
            </a:r>
          </a:p>
        </p:txBody>
      </p:sp>
      <p:sp>
        <p:nvSpPr>
          <p:cNvPr id="23" name="Rounded Rectangle 22"/>
          <p:cNvSpPr/>
          <p:nvPr/>
        </p:nvSpPr>
        <p:spPr>
          <a:xfrm>
            <a:off x="3470399" y="4986000"/>
            <a:ext cx="2966400" cy="1188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200" b="1">
                <a:solidFill>
                  <a:srgbClr val="1F285A"/>
                </a:solidFill>
                <a:latin typeface="メイリオ"/>
                <a:ea typeface="メイリオ"/>
                <a:cs typeface="メイリオ"/>
              </a:rPr>
              <a:t>② 面談・内定の辞退を防ぐ</a:t>
            </a:r>
          </a:p>
          <a:p>
            <a:pPr algn="ctr"/>
            <a:r>
              <a:rPr sz="1050" b="0">
                <a:solidFill>
                  <a:srgbClr val="333333"/>
                </a:solidFill>
                <a:latin typeface="メイリオ"/>
                <a:ea typeface="メイリオ"/>
                <a:cs typeface="メイリオ"/>
              </a:rPr>
              <a:t>面談前日のリマインド、内定後の不安にLINEですぐ答える</a:t>
            </a:r>
          </a:p>
        </p:txBody>
      </p:sp>
      <p:sp>
        <p:nvSpPr>
          <p:cNvPr id="24" name="Rounded Rectangle 23"/>
          <p:cNvSpPr/>
          <p:nvPr/>
        </p:nvSpPr>
        <p:spPr>
          <a:xfrm>
            <a:off x="6508799" y="4986000"/>
            <a:ext cx="2966400" cy="1188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200" b="1">
                <a:solidFill>
                  <a:srgbClr val="1F285A"/>
                </a:solidFill>
                <a:latin typeface="メイリオ"/>
                <a:ea typeface="メイリオ"/>
                <a:cs typeface="メイリオ"/>
              </a:rPr>
              <a:t>③ 連絡をLINEに一本化</a:t>
            </a:r>
          </a:p>
          <a:p>
            <a:pPr algn="ctr"/>
            <a:r>
              <a:rPr sz="1050" b="0">
                <a:solidFill>
                  <a:srgbClr val="333333"/>
                </a:solidFill>
                <a:latin typeface="メイリオ"/>
                <a:ea typeface="メイリオ"/>
                <a:cs typeface="メイリオ"/>
              </a:rPr>
              <a:t>電話は平日10〜18時のみ。在職中の整備士とは夜のLINEでつながる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BEBFCB2D-6FAD-96C0-BD6C-51465F2A4A6E}"/>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市場分析</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841486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AEA3-5B74-7C38-9336-4D6A18C7CFB5}"/>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市場分析（前後検索クエリ）</a:t>
            </a:r>
          </a:p>
        </p:txBody>
      </p:sp>
      <p:sp>
        <p:nvSpPr>
          <p:cNvPr id="3" name="TextBox 2"/>
          <p:cNvSpPr txBox="1"/>
          <p:nvPr/>
        </p:nvSpPr>
        <p:spPr>
          <a:xfrm>
            <a:off x="432000" y="630000"/>
            <a:ext cx="9036000" cy="684000"/>
          </a:xfrm>
          <a:prstGeom prst="rect">
            <a:avLst/>
          </a:prstGeom>
          <a:noFill/>
        </p:spPr>
        <p:txBody>
          <a:bodyPr wrap="square" lIns="0" tIns="21600" rIns="0" bIns="21600" anchor="ctr">
            <a:spAutoFit/>
          </a:bodyPr>
          <a:lstStyle/>
          <a:p>
            <a:pPr algn="l">
              <a:lnSpc>
                <a:spcPct val="128000"/>
              </a:lnSpc>
            </a:pPr>
            <a:r>
              <a:rPr sz="1300">
                <a:solidFill>
                  <a:srgbClr val="333333"/>
                </a:solidFill>
                <a:latin typeface="メイリオ"/>
                <a:ea typeface="メイリオ"/>
                <a:cs typeface="メイリオ"/>
              </a:rPr>
              <a:t>「カーディーラー」の検索前後15日間。LINEの友だちにできる機会は、検索当日〜翌日だけ。</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pic>
        <p:nvPicPr>
          <p:cNvPr id="11" name="Picture 10" descr="image.png"/>
          <p:cNvPicPr>
            <a:picLocks noChangeAspect="1"/>
          </p:cNvPicPr>
          <p:nvPr/>
        </p:nvPicPr>
        <p:blipFill>
          <a:blip r:embed="rId5"/>
          <a:stretch>
            <a:fillRect/>
          </a:stretch>
        </p:blipFill>
        <p:spPr>
          <a:xfrm>
            <a:off x="432000" y="1458000"/>
            <a:ext cx="5112000" cy="2982852"/>
          </a:xfrm>
          <a:prstGeom prst="rect">
            <a:avLst/>
          </a:prstGeom>
        </p:spPr>
      </p:pic>
      <p:sp>
        <p:nvSpPr>
          <p:cNvPr id="12" name="Rectangle 11"/>
          <p:cNvSpPr/>
          <p:nvPr/>
        </p:nvSpPr>
        <p:spPr>
          <a:xfrm>
            <a:off x="2907233" y="4397400"/>
            <a:ext cx="936000" cy="223200"/>
          </a:xfrm>
          <a:prstGeom prst="rect">
            <a:avLst/>
          </a:prstGeom>
          <a:solidFill>
            <a:srgbClr val="C6EF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0873C"/>
                </a:solidFill>
                <a:latin typeface="メイリオ"/>
                <a:ea typeface="メイリオ"/>
                <a:cs typeface="メイリオ"/>
              </a:rPr>
              <a:t>LINE追加</a:t>
            </a:r>
          </a:p>
        </p:txBody>
      </p:sp>
      <p:sp>
        <p:nvSpPr>
          <p:cNvPr id="13" name="Rectangle 12"/>
          <p:cNvSpPr/>
          <p:nvPr/>
        </p:nvSpPr>
        <p:spPr>
          <a:xfrm>
            <a:off x="3072347" y="1458000"/>
            <a:ext cx="605772" cy="2946851"/>
          </a:xfrm>
          <a:prstGeom prst="rect">
            <a:avLst/>
          </a:prstGeom>
          <a:solidFill>
            <a:srgbClr val="06C755">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724000" y="1458000"/>
            <a:ext cx="1857600" cy="223200"/>
          </a:xfrm>
          <a:prstGeom prst="roundRect">
            <a:avLst>
              <a:gd name="adj" fmla="val 8000"/>
            </a:avLst>
          </a:prstGeom>
          <a:solidFill>
            <a:srgbClr val="FBE0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C0561A"/>
                </a:solidFill>
                <a:latin typeface="メイリオ"/>
                <a:ea typeface="メイリオ"/>
                <a:cs typeface="メイリオ"/>
              </a:rPr>
              <a:t>職業・働き方</a:t>
            </a:r>
          </a:p>
        </p:txBody>
      </p:sp>
      <p:sp>
        <p:nvSpPr>
          <p:cNvPr id="15" name="Rounded Rectangle 14"/>
          <p:cNvSpPr/>
          <p:nvPr/>
        </p:nvSpPr>
        <p:spPr>
          <a:xfrm>
            <a:off x="7617600" y="1458000"/>
            <a:ext cx="1857600" cy="223200"/>
          </a:xfrm>
          <a:prstGeom prst="roundRect">
            <a:avLst>
              <a:gd name="adj" fmla="val 8000"/>
            </a:avLst>
          </a:prstGeom>
          <a:solidFill>
            <a:srgbClr val="D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2B5797"/>
                </a:solidFill>
                <a:latin typeface="メイリオ"/>
                <a:ea typeface="メイリオ"/>
                <a:cs typeface="メイリオ"/>
              </a:rPr>
              <a:t>整備・工具・カー用品</a:t>
            </a:r>
          </a:p>
        </p:txBody>
      </p:sp>
      <p:sp>
        <p:nvSpPr>
          <p:cNvPr id="16" name="Rounded Rectangle 15"/>
          <p:cNvSpPr/>
          <p:nvPr/>
        </p:nvSpPr>
        <p:spPr>
          <a:xfrm>
            <a:off x="5724000" y="1717199"/>
            <a:ext cx="1857600" cy="223200"/>
          </a:xfrm>
          <a:prstGeom prst="roundRect">
            <a:avLst>
              <a:gd name="adj" fmla="val 8000"/>
            </a:avLst>
          </a:prstGeom>
          <a:solidFill>
            <a:srgbClr val="E8D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7440A8"/>
                </a:solidFill>
                <a:latin typeface="メイリオ"/>
                <a:ea typeface="メイリオ"/>
                <a:cs typeface="メイリオ"/>
              </a:rPr>
              <a:t>お金・手続き</a:t>
            </a:r>
          </a:p>
        </p:txBody>
      </p:sp>
      <p:sp>
        <p:nvSpPr>
          <p:cNvPr id="17" name="Rounded Rectangle 16"/>
          <p:cNvSpPr/>
          <p:nvPr/>
        </p:nvSpPr>
        <p:spPr>
          <a:xfrm>
            <a:off x="7617600" y="1717199"/>
            <a:ext cx="1857600" cy="223200"/>
          </a:xfrm>
          <a:prstGeom prst="roundRect">
            <a:avLst>
              <a:gd name="adj" fmla="val 8000"/>
            </a:avLst>
          </a:prstGeom>
          <a:solidFill>
            <a:srgbClr val="CCE7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0796B"/>
                </a:solidFill>
                <a:latin typeface="メイリオ"/>
                <a:ea typeface="メイリオ"/>
                <a:cs typeface="メイリオ"/>
              </a:rPr>
              <a:t>クルマ選び（車種・店舗）</a:t>
            </a:r>
          </a:p>
        </p:txBody>
      </p:sp>
      <p:sp>
        <p:nvSpPr>
          <p:cNvPr id="18" name="Rounded Rectangle 17"/>
          <p:cNvSpPr/>
          <p:nvPr/>
        </p:nvSpPr>
        <p:spPr>
          <a:xfrm>
            <a:off x="5724000" y="2052000"/>
            <a:ext cx="3751200" cy="2232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333333"/>
                </a:solidFill>
                <a:latin typeface="メイリオ"/>
                <a:ea typeface="メイリオ"/>
                <a:cs typeface="メイリオ"/>
              </a:rPr>
              <a:t>LINE追加率を上げるコンテンツ（検索当日〜翌日）</a:t>
            </a:r>
          </a:p>
        </p:txBody>
      </p:sp>
      <p:sp>
        <p:nvSpPr>
          <p:cNvPr id="19" name="Rounded Rectangle 18"/>
          <p:cNvSpPr/>
          <p:nvPr/>
        </p:nvSpPr>
        <p:spPr>
          <a:xfrm>
            <a:off x="5724000" y="2322000"/>
            <a:ext cx="1839600" cy="917999"/>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0">
                <a:solidFill>
                  <a:srgbClr val="FFFFFF"/>
                </a:solidFill>
                <a:latin typeface="メイリオ"/>
                <a:ea typeface="メイリオ"/>
                <a:cs typeface="メイリオ"/>
              </a:rPr>
              <a:t>離脱防止で…</a:t>
            </a:r>
          </a:p>
          <a:p>
            <a:pPr algn="ctr"/>
            <a:r>
              <a:rPr sz="1100" b="1">
                <a:solidFill>
                  <a:srgbClr val="FFFFFF"/>
                </a:solidFill>
                <a:latin typeface="メイリオ"/>
                <a:ea typeface="メイリオ"/>
                <a:cs typeface="メイリオ"/>
              </a:rPr>
              <a:t>「整備士の年収相場」</a:t>
            </a:r>
          </a:p>
          <a:p>
            <a:pPr algn="ctr"/>
            <a:r>
              <a:rPr sz="1050" b="1">
                <a:solidFill>
                  <a:srgbClr val="FFFFFF"/>
                </a:solidFill>
                <a:latin typeface="メイリオ"/>
                <a:ea typeface="メイリオ"/>
                <a:cs typeface="メイリオ"/>
              </a:rPr>
              <a:t>をLINEで見られます</a:t>
            </a:r>
          </a:p>
        </p:txBody>
      </p:sp>
      <p:sp>
        <p:nvSpPr>
          <p:cNvPr id="20" name="Rounded Rectangle 19"/>
          <p:cNvSpPr/>
          <p:nvPr/>
        </p:nvSpPr>
        <p:spPr>
          <a:xfrm>
            <a:off x="7635600" y="2322000"/>
            <a:ext cx="1839600" cy="917999"/>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0">
                <a:solidFill>
                  <a:srgbClr val="FFFFFF"/>
                </a:solidFill>
                <a:latin typeface="メイリオ"/>
                <a:ea typeface="メイリオ"/>
                <a:cs typeface="メイリオ"/>
              </a:rPr>
              <a:t>この機会に</a:t>
            </a:r>
          </a:p>
          <a:p>
            <a:pPr algn="ctr"/>
            <a:r>
              <a:rPr sz="1100" b="1">
                <a:solidFill>
                  <a:srgbClr val="FFFFFF"/>
                </a:solidFill>
                <a:latin typeface="メイリオ"/>
                <a:ea typeface="メイリオ"/>
                <a:cs typeface="メイリオ"/>
              </a:rPr>
              <a:t>LINEで30秒</a:t>
            </a:r>
          </a:p>
          <a:p>
            <a:pPr algn="ctr"/>
            <a:r>
              <a:rPr sz="1050" b="1">
                <a:solidFill>
                  <a:srgbClr val="FFFFFF"/>
                </a:solidFill>
                <a:latin typeface="メイリオ"/>
                <a:ea typeface="メイリオ"/>
                <a:cs typeface="メイリオ"/>
              </a:rPr>
              <a:t>適職診断しませんか？</a:t>
            </a:r>
          </a:p>
        </p:txBody>
      </p:sp>
      <p:sp>
        <p:nvSpPr>
          <p:cNvPr id="21" name="Rounded Rectangle 20"/>
          <p:cNvSpPr/>
          <p:nvPr/>
        </p:nvSpPr>
        <p:spPr>
          <a:xfrm>
            <a:off x="5724000" y="3276000"/>
            <a:ext cx="1839600" cy="70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1F285A"/>
                </a:solidFill>
                <a:latin typeface="メイリオ"/>
                <a:ea typeface="メイリオ"/>
                <a:cs typeface="メイリオ"/>
              </a:rPr>
              <a:t>当日の検索は「年収」</a:t>
            </a:r>
          </a:p>
          <a:p>
            <a:pPr algn="ctr"/>
            <a:r>
              <a:rPr sz="1000" b="0">
                <a:solidFill>
                  <a:srgbClr val="1F285A"/>
                </a:solidFill>
                <a:latin typeface="メイリオ"/>
                <a:ea typeface="メイリオ"/>
                <a:cs typeface="メイリオ"/>
              </a:rPr>
              <a:t>その場で答えを出す</a:t>
            </a:r>
          </a:p>
        </p:txBody>
      </p:sp>
      <p:sp>
        <p:nvSpPr>
          <p:cNvPr id="22" name="Rounded Rectangle 21"/>
          <p:cNvSpPr/>
          <p:nvPr/>
        </p:nvSpPr>
        <p:spPr>
          <a:xfrm>
            <a:off x="7635600" y="3276000"/>
            <a:ext cx="1839600" cy="70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1F285A"/>
                </a:solidFill>
                <a:latin typeface="メイリオ"/>
                <a:ea typeface="メイリオ"/>
                <a:cs typeface="メイリオ"/>
              </a:rPr>
              <a:t>電話なし・履歴書なし</a:t>
            </a:r>
          </a:p>
          <a:p>
            <a:pPr algn="ctr"/>
            <a:r>
              <a:rPr sz="1000" b="0">
                <a:solidFill>
                  <a:srgbClr val="1F285A"/>
                </a:solidFill>
                <a:latin typeface="メイリオ"/>
                <a:ea typeface="メイリオ"/>
                <a:cs typeface="メイリオ"/>
              </a:rPr>
              <a:t>応募前の人でも動きやすい</a:t>
            </a:r>
          </a:p>
        </p:txBody>
      </p:sp>
      <p:cxnSp>
        <p:nvCxnSpPr>
          <p:cNvPr id="23" name="Connector 22"/>
          <p:cNvCxnSpPr/>
          <p:nvPr/>
        </p:nvCxnSpPr>
        <p:spPr>
          <a:xfrm flipV="1">
            <a:off x="3375233" y="2772000"/>
            <a:ext cx="2312767" cy="1548720"/>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32000" y="4710852"/>
            <a:ext cx="9043200" cy="2232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333333"/>
                </a:solidFill>
                <a:latin typeface="メイリオ"/>
                <a:ea typeface="メイリオ"/>
                <a:cs typeface="メイリオ"/>
              </a:rPr>
              <a:t>LINEでのリード有効化率を上げるコンテンツ（翌日〜14日・前後検索の関心の順番）</a:t>
            </a:r>
          </a:p>
        </p:txBody>
      </p:sp>
      <p:sp>
        <p:nvSpPr>
          <p:cNvPr id="25" name="Rounded Rectangle 24"/>
          <p:cNvSpPr/>
          <p:nvPr/>
        </p:nvSpPr>
        <p:spPr>
          <a:xfrm>
            <a:off x="432000" y="4980852"/>
            <a:ext cx="1230171" cy="121114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FFFFFF"/>
                </a:solidFill>
                <a:latin typeface="メイリオ"/>
                <a:ea typeface="メイリオ"/>
                <a:cs typeface="メイリオ"/>
              </a:rPr>
              <a:t>1日目</a:t>
            </a:r>
          </a:p>
          <a:p>
            <a:pPr algn="ctr"/>
            <a:r>
              <a:rPr sz="1050" b="1">
                <a:solidFill>
                  <a:srgbClr val="FFFFFF"/>
                </a:solidFill>
                <a:latin typeface="メイリオ"/>
                <a:ea typeface="メイリオ"/>
                <a:cs typeface="メイリオ"/>
              </a:rPr>
              <a:t>職種図鑑</a:t>
            </a:r>
          </a:p>
          <a:p>
            <a:pPr algn="ctr"/>
            <a:r>
              <a:rPr sz="950" b="0">
                <a:solidFill>
                  <a:srgbClr val="FFFFFF"/>
                </a:solidFill>
                <a:latin typeface="メイリオ"/>
                <a:ea typeface="メイリオ"/>
                <a:cs typeface="メイリオ"/>
              </a:rPr>
              <a:t>整備・受付・営業の違い</a:t>
            </a:r>
          </a:p>
        </p:txBody>
      </p:sp>
      <p:sp>
        <p:nvSpPr>
          <p:cNvPr id="26" name="Rounded Rectangle 25"/>
          <p:cNvSpPr/>
          <p:nvPr/>
        </p:nvSpPr>
        <p:spPr>
          <a:xfrm>
            <a:off x="1734171" y="4980852"/>
            <a:ext cx="1230171" cy="121114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FFFFFF"/>
                </a:solidFill>
                <a:latin typeface="メイリオ"/>
                <a:ea typeface="メイリオ"/>
                <a:cs typeface="メイリオ"/>
              </a:rPr>
              <a:t>2日目</a:t>
            </a:r>
          </a:p>
          <a:p>
            <a:pPr algn="ctr"/>
            <a:r>
              <a:rPr sz="1050" b="1">
                <a:solidFill>
                  <a:srgbClr val="FFFFFF"/>
                </a:solidFill>
                <a:latin typeface="メイリオ"/>
                <a:ea typeface="メイリオ"/>
                <a:cs typeface="メイリオ"/>
              </a:rPr>
              <a:t>働き方</a:t>
            </a:r>
          </a:p>
          <a:p>
            <a:pPr algn="ctr"/>
            <a:r>
              <a:rPr sz="950" b="0">
                <a:solidFill>
                  <a:srgbClr val="FFFFFF"/>
                </a:solidFill>
                <a:latin typeface="メイリオ"/>
                <a:ea typeface="メイリオ"/>
                <a:cs typeface="メイリオ"/>
              </a:rPr>
              <a:t>休み・残業・ホワイトな職場</a:t>
            </a:r>
          </a:p>
        </p:txBody>
      </p:sp>
      <p:sp>
        <p:nvSpPr>
          <p:cNvPr id="27" name="Rounded Rectangle 26"/>
          <p:cNvSpPr/>
          <p:nvPr/>
        </p:nvSpPr>
        <p:spPr>
          <a:xfrm>
            <a:off x="3036342" y="4980852"/>
            <a:ext cx="1230171" cy="1211148"/>
          </a:xfrm>
          <a:prstGeom prst="roundRect">
            <a:avLst>
              <a:gd name="adj" fmla="val 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FFFFFF"/>
                </a:solidFill>
                <a:latin typeface="メイリオ"/>
                <a:ea typeface="メイリオ"/>
                <a:cs typeface="メイリオ"/>
              </a:rPr>
              <a:t>3日目</a:t>
            </a:r>
          </a:p>
          <a:p>
            <a:pPr algn="ctr"/>
            <a:r>
              <a:rPr sz="1050" b="1">
                <a:solidFill>
                  <a:srgbClr val="FFFFFF"/>
                </a:solidFill>
                <a:latin typeface="メイリオ"/>
                <a:ea typeface="メイリオ"/>
                <a:cs typeface="メイリオ"/>
              </a:rPr>
              <a:t>面談のご案内①</a:t>
            </a:r>
          </a:p>
          <a:p>
            <a:pPr algn="ctr"/>
            <a:r>
              <a:rPr sz="950" b="0">
                <a:solidFill>
                  <a:srgbClr val="FFFFFF"/>
                </a:solidFill>
                <a:latin typeface="メイリオ"/>
                <a:ea typeface="メイリオ"/>
                <a:cs typeface="メイリオ"/>
              </a:rPr>
              <a:t>（CV）</a:t>
            </a:r>
          </a:p>
        </p:txBody>
      </p:sp>
      <p:sp>
        <p:nvSpPr>
          <p:cNvPr id="28" name="Rounded Rectangle 27"/>
          <p:cNvSpPr/>
          <p:nvPr/>
        </p:nvSpPr>
        <p:spPr>
          <a:xfrm>
            <a:off x="4338514" y="4980852"/>
            <a:ext cx="1230171" cy="121114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FFFFFF"/>
                </a:solidFill>
                <a:latin typeface="メイリオ"/>
                <a:ea typeface="メイリオ"/>
                <a:cs typeface="メイリオ"/>
              </a:rPr>
              <a:t>5日目</a:t>
            </a:r>
          </a:p>
          <a:p>
            <a:pPr algn="ctr"/>
            <a:r>
              <a:rPr sz="1050" b="1">
                <a:solidFill>
                  <a:srgbClr val="FFFFFF"/>
                </a:solidFill>
                <a:latin typeface="メイリオ"/>
                <a:ea typeface="メイリオ"/>
                <a:cs typeface="メイリオ"/>
              </a:rPr>
              <a:t>他職種と比較</a:t>
            </a:r>
          </a:p>
          <a:p>
            <a:pPr algn="ctr"/>
            <a:r>
              <a:rPr sz="950" b="0">
                <a:solidFill>
                  <a:srgbClr val="FFFFFF"/>
                </a:solidFill>
                <a:latin typeface="メイリオ"/>
                <a:ea typeface="メイリオ"/>
                <a:cs typeface="メイリオ"/>
              </a:rPr>
              <a:t>営業・施工管理</a:t>
            </a:r>
          </a:p>
        </p:txBody>
      </p:sp>
      <p:sp>
        <p:nvSpPr>
          <p:cNvPr id="29" name="Rounded Rectangle 28"/>
          <p:cNvSpPr/>
          <p:nvPr/>
        </p:nvSpPr>
        <p:spPr>
          <a:xfrm>
            <a:off x="5640685" y="4980852"/>
            <a:ext cx="1230171" cy="121114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FFFFFF"/>
                </a:solidFill>
                <a:latin typeface="メイリオ"/>
                <a:ea typeface="メイリオ"/>
                <a:cs typeface="メイリオ"/>
              </a:rPr>
              <a:t>7日目</a:t>
            </a:r>
          </a:p>
          <a:p>
            <a:pPr algn="ctr"/>
            <a:r>
              <a:rPr sz="1050" b="1">
                <a:solidFill>
                  <a:srgbClr val="FFFFFF"/>
                </a:solidFill>
                <a:latin typeface="メイリオ"/>
                <a:ea typeface="メイリオ"/>
                <a:cs typeface="メイリオ"/>
              </a:rPr>
              <a:t>資格別の年収相場</a:t>
            </a:r>
          </a:p>
          <a:p>
            <a:pPr algn="ctr"/>
            <a:r>
              <a:rPr sz="950" b="0">
                <a:solidFill>
                  <a:srgbClr val="FFFFFF"/>
                </a:solidFill>
                <a:latin typeface="メイリオ"/>
                <a:ea typeface="メイリオ"/>
                <a:cs typeface="メイリオ"/>
              </a:rPr>
              <a:t>キャリアマップ</a:t>
            </a:r>
          </a:p>
        </p:txBody>
      </p:sp>
      <p:sp>
        <p:nvSpPr>
          <p:cNvPr id="30" name="Rounded Rectangle 29"/>
          <p:cNvSpPr/>
          <p:nvPr/>
        </p:nvSpPr>
        <p:spPr>
          <a:xfrm>
            <a:off x="6942857" y="4980852"/>
            <a:ext cx="1230171" cy="121114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FFFFFF"/>
                </a:solidFill>
                <a:latin typeface="メイリオ"/>
                <a:ea typeface="メイリオ"/>
                <a:cs typeface="メイリオ"/>
              </a:rPr>
              <a:t>10日目</a:t>
            </a:r>
          </a:p>
          <a:p>
            <a:pPr algn="ctr"/>
            <a:r>
              <a:rPr sz="1050" b="1">
                <a:solidFill>
                  <a:srgbClr val="FFFFFF"/>
                </a:solidFill>
                <a:latin typeface="メイリオ"/>
                <a:ea typeface="メイリオ"/>
                <a:cs typeface="メイリオ"/>
              </a:rPr>
              <a:t>現場のリアル</a:t>
            </a:r>
          </a:p>
          <a:p>
            <a:pPr algn="ctr"/>
            <a:r>
              <a:rPr sz="950" b="0">
                <a:solidFill>
                  <a:srgbClr val="FFFFFF"/>
                </a:solidFill>
                <a:latin typeface="メイリオ"/>
                <a:ea typeface="メイリオ"/>
                <a:cs typeface="メイリオ"/>
              </a:rPr>
              <a:t>冬の繁忙期</a:t>
            </a:r>
          </a:p>
        </p:txBody>
      </p:sp>
      <p:sp>
        <p:nvSpPr>
          <p:cNvPr id="31" name="Rounded Rectangle 30"/>
          <p:cNvSpPr/>
          <p:nvPr/>
        </p:nvSpPr>
        <p:spPr>
          <a:xfrm>
            <a:off x="8245028" y="4980852"/>
            <a:ext cx="1230171" cy="1211148"/>
          </a:xfrm>
          <a:prstGeom prst="roundRect">
            <a:avLst>
              <a:gd name="adj" fmla="val 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FFFFFF"/>
                </a:solidFill>
                <a:latin typeface="メイリオ"/>
                <a:ea typeface="メイリオ"/>
                <a:cs typeface="メイリオ"/>
              </a:rPr>
              <a:t>14日目</a:t>
            </a:r>
          </a:p>
          <a:p>
            <a:pPr algn="ctr"/>
            <a:r>
              <a:rPr sz="1050" b="1">
                <a:solidFill>
                  <a:srgbClr val="FFFFFF"/>
                </a:solidFill>
                <a:latin typeface="メイリオ"/>
                <a:ea typeface="メイリオ"/>
                <a:cs typeface="メイリオ"/>
              </a:rPr>
              <a:t>面談のご案内②</a:t>
            </a:r>
          </a:p>
          <a:p>
            <a:pPr algn="ctr"/>
            <a:r>
              <a:rPr sz="950" b="0">
                <a:solidFill>
                  <a:srgbClr val="FFFFFF"/>
                </a:solidFill>
                <a:latin typeface="メイリオ"/>
                <a:ea typeface="メイリオ"/>
                <a:cs typeface="メイリオ"/>
              </a:rPr>
              <a:t>（CV）</a:t>
            </a:r>
          </a:p>
        </p:txBody>
      </p:sp>
      <p:cxnSp>
        <p:nvCxnSpPr>
          <p:cNvPr id="32" name="Connector 31"/>
          <p:cNvCxnSpPr/>
          <p:nvPr/>
        </p:nvCxnSpPr>
        <p:spPr>
          <a:xfrm>
            <a:off x="4521600" y="4320720"/>
            <a:ext cx="255599" cy="372131"/>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2000" y="6282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出典：LINEヤフー 前後検索データ（起点KW：カーディーラー／2026-09-23取得）。色分けはDYM分類（ラベル129件）</a:t>
            </a:r>
          </a:p>
        </p:txBody>
      </p:sp>
    </p:spTree>
    <p:extLst>
      <p:ext uri="{BB962C8B-B14F-4D97-AF65-F5344CB8AC3E}">
        <p14:creationId xmlns:p14="http://schemas.microsoft.com/office/powerpoint/2010/main" val="2053170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9E4EC-2612-49EF-3949-DD4AEE06BA6E}"/>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市場分析（検索トレンド）</a:t>
            </a:r>
          </a:p>
        </p:txBody>
      </p:sp>
      <p:sp>
        <p:nvSpPr>
          <p:cNvPr id="3" name="TextBox 2"/>
          <p:cNvSpPr txBox="1"/>
          <p:nvPr/>
        </p:nvSpPr>
        <p:spPr>
          <a:xfrm>
            <a:off x="432000" y="648000"/>
            <a:ext cx="9036000" cy="684000"/>
          </a:xfrm>
          <a:prstGeom prst="rect">
            <a:avLst/>
          </a:prstGeom>
          <a:noFill/>
        </p:spPr>
        <p:txBody>
          <a:bodyPr wrap="square" lIns="0" tIns="21600" rIns="0" bIns="21600" anchor="ctr">
            <a:spAutoFit/>
          </a:bodyPr>
          <a:lstStyle/>
          <a:p>
            <a:pPr algn="l">
              <a:lnSpc>
                <a:spcPct val="128000"/>
              </a:lnSpc>
            </a:pPr>
            <a:r>
              <a:rPr sz="1300">
                <a:solidFill>
                  <a:srgbClr val="333333"/>
                </a:solidFill>
                <a:latin typeface="メイリオ"/>
                <a:ea typeface="メイリオ"/>
                <a:cs typeface="メイリオ"/>
              </a:rPr>
              <a:t>「整備士」の検索は一年中ほぼフラット。転職検討は季節を選ばず続いている。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32000" y="4505040"/>
            <a:ext cx="29424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2000" y="4559039"/>
            <a:ext cx="2942400" cy="180000"/>
          </a:xfrm>
          <a:prstGeom prst="rect">
            <a:avLst/>
          </a:prstGeom>
          <a:noFill/>
        </p:spPr>
        <p:txBody>
          <a:bodyPr wrap="square" lIns="50400" tIns="21600" rIns="50400" bIns="21600" anchor="ctr">
            <a:spAutoFit/>
          </a:bodyPr>
          <a:lstStyle/>
          <a:p>
            <a:pPr algn="ctr"/>
            <a:r>
              <a:rPr sz="1150" b="1">
                <a:solidFill>
                  <a:srgbClr val="7F7F7F"/>
                </a:solidFill>
                <a:latin typeface="メイリオ"/>
                <a:ea typeface="メイリオ"/>
                <a:cs typeface="メイリオ"/>
              </a:rPr>
              <a:t>山</a:t>
            </a:r>
          </a:p>
        </p:txBody>
      </p:sp>
      <p:sp>
        <p:nvSpPr>
          <p:cNvPr id="8" name="TextBox 7"/>
          <p:cNvSpPr txBox="1"/>
          <p:nvPr/>
        </p:nvSpPr>
        <p:spPr>
          <a:xfrm>
            <a:off x="432000" y="4721039"/>
            <a:ext cx="2942400" cy="288000"/>
          </a:xfrm>
          <a:prstGeom prst="rect">
            <a:avLst/>
          </a:prstGeom>
          <a:noFill/>
        </p:spPr>
        <p:txBody>
          <a:bodyPr wrap="square" lIns="50400" tIns="21600" rIns="50400" bIns="21600" anchor="ctr">
            <a:spAutoFit/>
          </a:bodyPr>
          <a:lstStyle/>
          <a:p>
            <a:pPr algn="ctr"/>
            <a:r>
              <a:rPr sz="1700" b="1">
                <a:solidFill>
                  <a:srgbClr val="ED7D31"/>
                </a:solidFill>
                <a:latin typeface="メイリオ"/>
                <a:ea typeface="メイリオ"/>
                <a:cs typeface="メイリオ"/>
              </a:rPr>
              <a:t>3月</a:t>
            </a:r>
          </a:p>
        </p:txBody>
      </p:sp>
      <p:sp>
        <p:nvSpPr>
          <p:cNvPr id="9" name="TextBox 8"/>
          <p:cNvSpPr txBox="1"/>
          <p:nvPr/>
        </p:nvSpPr>
        <p:spPr>
          <a:xfrm>
            <a:off x="432000" y="5009040"/>
            <a:ext cx="2942400" cy="216000"/>
          </a:xfrm>
          <a:prstGeom prst="rect">
            <a:avLst/>
          </a:prstGeom>
          <a:noFill/>
        </p:spPr>
        <p:txBody>
          <a:bodyPr wrap="square" lIns="50400" tIns="21600" rIns="50400" bIns="21600" anchor="ctr">
            <a:spAutoFit/>
          </a:bodyPr>
          <a:lstStyle/>
          <a:p>
            <a:pPr algn="ctr"/>
            <a:r>
              <a:rPr sz="1050">
                <a:solidFill>
                  <a:srgbClr val="333333"/>
                </a:solidFill>
                <a:latin typeface="メイリオ"/>
                <a:ea typeface="メイリオ"/>
                <a:cs typeface="メイリオ"/>
              </a:rPr>
              <a:t>年度替わり・転職の動きが最大</a:t>
            </a:r>
          </a:p>
        </p:txBody>
      </p:sp>
      <p:sp>
        <p:nvSpPr>
          <p:cNvPr id="10" name="Rounded Rectangle 9"/>
          <p:cNvSpPr/>
          <p:nvPr/>
        </p:nvSpPr>
        <p:spPr>
          <a:xfrm>
            <a:off x="3482400" y="4505040"/>
            <a:ext cx="29424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82400" y="4559039"/>
            <a:ext cx="2942400" cy="180000"/>
          </a:xfrm>
          <a:prstGeom prst="rect">
            <a:avLst/>
          </a:prstGeom>
          <a:noFill/>
        </p:spPr>
        <p:txBody>
          <a:bodyPr wrap="square" lIns="50400" tIns="21600" rIns="50400" bIns="21600" anchor="ctr">
            <a:spAutoFit/>
          </a:bodyPr>
          <a:lstStyle/>
          <a:p>
            <a:pPr algn="ctr"/>
            <a:r>
              <a:rPr sz="1150" b="1">
                <a:solidFill>
                  <a:srgbClr val="7F7F7F"/>
                </a:solidFill>
                <a:latin typeface="メイリオ"/>
                <a:ea typeface="メイリオ"/>
                <a:cs typeface="メイリオ"/>
              </a:rPr>
              <a:t>谷</a:t>
            </a:r>
          </a:p>
        </p:txBody>
      </p:sp>
      <p:sp>
        <p:nvSpPr>
          <p:cNvPr id="12" name="TextBox 11"/>
          <p:cNvSpPr txBox="1"/>
          <p:nvPr/>
        </p:nvSpPr>
        <p:spPr>
          <a:xfrm>
            <a:off x="3482400" y="4721039"/>
            <a:ext cx="2942400" cy="288000"/>
          </a:xfrm>
          <a:prstGeom prst="rect">
            <a:avLst/>
          </a:prstGeom>
          <a:noFill/>
        </p:spPr>
        <p:txBody>
          <a:bodyPr wrap="square" lIns="50400" tIns="21600" rIns="50400" bIns="21600" anchor="ctr">
            <a:spAutoFit/>
          </a:bodyPr>
          <a:lstStyle/>
          <a:p>
            <a:pPr algn="ctr"/>
            <a:r>
              <a:rPr sz="1700" b="1">
                <a:solidFill>
                  <a:srgbClr val="ED7D31"/>
                </a:solidFill>
                <a:latin typeface="メイリオ"/>
                <a:ea typeface="メイリオ"/>
                <a:cs typeface="メイリオ"/>
              </a:rPr>
              <a:t>12月</a:t>
            </a:r>
          </a:p>
        </p:txBody>
      </p:sp>
      <p:sp>
        <p:nvSpPr>
          <p:cNvPr id="13" name="TextBox 12"/>
          <p:cNvSpPr txBox="1"/>
          <p:nvPr/>
        </p:nvSpPr>
        <p:spPr>
          <a:xfrm>
            <a:off x="3482400" y="5009040"/>
            <a:ext cx="2942400" cy="216000"/>
          </a:xfrm>
          <a:prstGeom prst="rect">
            <a:avLst/>
          </a:prstGeom>
          <a:noFill/>
        </p:spPr>
        <p:txBody>
          <a:bodyPr wrap="square" lIns="50400" tIns="21600" rIns="50400" bIns="21600" anchor="ctr">
            <a:spAutoFit/>
          </a:bodyPr>
          <a:lstStyle/>
          <a:p>
            <a:pPr algn="ctr"/>
            <a:r>
              <a:rPr sz="1050">
                <a:solidFill>
                  <a:srgbClr val="333333"/>
                </a:solidFill>
                <a:latin typeface="メイリオ"/>
                <a:ea typeface="メイリオ"/>
                <a:cs typeface="メイリオ"/>
              </a:rPr>
              <a:t>それでも山との差は約1.4倍</a:t>
            </a:r>
          </a:p>
        </p:txBody>
      </p:sp>
      <p:sp>
        <p:nvSpPr>
          <p:cNvPr id="14" name="Rounded Rectangle 13"/>
          <p:cNvSpPr/>
          <p:nvPr/>
        </p:nvSpPr>
        <p:spPr>
          <a:xfrm>
            <a:off x="6532800" y="4505040"/>
            <a:ext cx="29424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2800" y="4559039"/>
            <a:ext cx="2942400" cy="180000"/>
          </a:xfrm>
          <a:prstGeom prst="rect">
            <a:avLst/>
          </a:prstGeom>
          <a:noFill/>
        </p:spPr>
        <p:txBody>
          <a:bodyPr wrap="square" lIns="50400" tIns="21600" rIns="50400" bIns="21600" anchor="ctr">
            <a:spAutoFit/>
          </a:bodyPr>
          <a:lstStyle/>
          <a:p>
            <a:pPr algn="ctr"/>
            <a:r>
              <a:rPr sz="1150" b="1">
                <a:solidFill>
                  <a:srgbClr val="7F7F7F"/>
                </a:solidFill>
                <a:latin typeface="メイリオ"/>
                <a:ea typeface="メイリオ"/>
                <a:cs typeface="メイリオ"/>
              </a:rPr>
              <a:t>含意</a:t>
            </a:r>
          </a:p>
        </p:txBody>
      </p:sp>
      <p:sp>
        <p:nvSpPr>
          <p:cNvPr id="16" name="TextBox 15"/>
          <p:cNvSpPr txBox="1"/>
          <p:nvPr/>
        </p:nvSpPr>
        <p:spPr>
          <a:xfrm>
            <a:off x="6532800" y="4721039"/>
            <a:ext cx="2942400" cy="288000"/>
          </a:xfrm>
          <a:prstGeom prst="rect">
            <a:avLst/>
          </a:prstGeom>
          <a:noFill/>
        </p:spPr>
        <p:txBody>
          <a:bodyPr wrap="square" lIns="50400" tIns="21600" rIns="50400" bIns="21600" anchor="ctr">
            <a:spAutoFit/>
          </a:bodyPr>
          <a:lstStyle/>
          <a:p>
            <a:pPr algn="ctr"/>
            <a:r>
              <a:rPr sz="1700" b="1">
                <a:solidFill>
                  <a:srgbClr val="ED7D31"/>
                </a:solidFill>
                <a:latin typeface="メイリオ"/>
                <a:ea typeface="メイリオ"/>
                <a:cs typeface="メイリオ"/>
              </a:rPr>
              <a:t>通年</a:t>
            </a:r>
          </a:p>
        </p:txBody>
      </p:sp>
      <p:sp>
        <p:nvSpPr>
          <p:cNvPr id="17" name="TextBox 16"/>
          <p:cNvSpPr txBox="1"/>
          <p:nvPr/>
        </p:nvSpPr>
        <p:spPr>
          <a:xfrm>
            <a:off x="6532800" y="5009040"/>
            <a:ext cx="2942400" cy="216000"/>
          </a:xfrm>
          <a:prstGeom prst="rect">
            <a:avLst/>
          </a:prstGeom>
          <a:noFill/>
        </p:spPr>
        <p:txBody>
          <a:bodyPr wrap="square" lIns="50400" tIns="21600" rIns="50400" bIns="21600" anchor="ctr">
            <a:spAutoFit/>
          </a:bodyPr>
          <a:lstStyle/>
          <a:p>
            <a:pPr algn="ctr"/>
            <a:r>
              <a:rPr sz="1050">
                <a:solidFill>
                  <a:srgbClr val="333333"/>
                </a:solidFill>
                <a:latin typeface="メイリオ"/>
                <a:ea typeface="メイリオ"/>
                <a:cs typeface="メイリオ"/>
              </a:rPr>
              <a:t>検討は一年中。接点は3月に集中</a:t>
            </a:r>
          </a:p>
        </p:txBody>
      </p:sp>
      <p:sp>
        <p:nvSpPr>
          <p:cNvPr id="18" name="Rounded Rectangle 17"/>
          <p:cNvSpPr/>
          <p:nvPr/>
        </p:nvSpPr>
        <p:spPr>
          <a:xfrm>
            <a:off x="432000" y="5369040"/>
            <a:ext cx="9043200" cy="36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350" b="1">
                <a:solidFill>
                  <a:srgbClr val="FFFFFF"/>
                </a:solidFill>
                <a:latin typeface="メイリオ"/>
                <a:ea typeface="メイリオ"/>
                <a:cs typeface="メイリオ"/>
              </a:rPr>
              <a:t>業界の接点は3月に集中。通年で検討層を受け止める先は、空いている。</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出典：Googleトレンド（日本・過去5年・2026-09-21取得）。相対指標のため他KWとの数値比較は不可</a:t>
            </a:r>
          </a:p>
        </p:txBody>
      </p:sp>
      <p:pic>
        <p:nvPicPr>
          <p:cNvPr id="20" name="Picture 19" descr="chengrowth_trend_seibishi_5y_L.png"/>
          <p:cNvPicPr>
            <a:picLocks noChangeAspect="1"/>
          </p:cNvPicPr>
          <p:nvPr/>
        </p:nvPicPr>
        <p:blipFill>
          <a:blip r:embed="rId3"/>
          <a:stretch>
            <a:fillRect/>
          </a:stretch>
        </p:blipFill>
        <p:spPr>
          <a:xfrm>
            <a:off x="432000" y="1475999"/>
            <a:ext cx="9043200" cy="2939040"/>
          </a:xfrm>
          <a:prstGeom prst="rect">
            <a:avLst/>
          </a:prstGeom>
        </p:spPr>
      </p:pic>
    </p:spTree>
    <p:extLst>
      <p:ext uri="{BB962C8B-B14F-4D97-AF65-F5344CB8AC3E}">
        <p14:creationId xmlns:p14="http://schemas.microsoft.com/office/powerpoint/2010/main" val="995195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BAA-8C2D-2DC3-A995-CBA086D445D9}"/>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競合分析（求人サービスのLINE活用状況）</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総合大手はLINEが標準装備。一方、自動車・整備士特化は空白地帯。</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3070262570"/>
              </p:ext>
            </p:extLst>
          </p:nvPr>
        </p:nvGraphicFramePr>
        <p:xfrm>
          <a:off x="432000" y="1619999"/>
          <a:ext cx="9043200" cy="2249352"/>
        </p:xfrm>
        <a:graphic>
          <a:graphicData uri="http://schemas.openxmlformats.org/drawingml/2006/table">
            <a:tbl>
              <a:tblPr firstRow="1" bandRow="1">
                <a:tableStyleId>{5C22544A-7EE6-4342-B048-85BDC9FD1C3A}</a:tableStyleId>
              </a:tblPr>
              <a:tblGrid>
                <a:gridCol w="2907966">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940674">
                  <a:extLst>
                    <a:ext uri="{9D8B030D-6E8A-4147-A177-3AD203B41FA5}">
                      <a16:colId xmlns:a16="http://schemas.microsoft.com/office/drawing/2014/main" val="20002"/>
                    </a:ext>
                  </a:extLst>
                </a:gridCol>
              </a:tblGrid>
              <a:tr h="321336">
                <a:tc>
                  <a:txBody>
                    <a:bodyPr/>
                    <a:lstStyle/>
                    <a:p>
                      <a:pPr algn="ctr"/>
                      <a:r>
                        <a:rPr sz="1150" b="1">
                          <a:solidFill>
                            <a:srgbClr val="FFFFFF"/>
                          </a:solidFill>
                          <a:latin typeface="メイリオ"/>
                          <a:ea typeface="メイリオ"/>
                          <a:cs typeface="メイリオ"/>
                        </a:rPr>
                        <a:t>サービス</a:t>
                      </a:r>
                    </a:p>
                  </a:txBody>
                  <a:tcPr anchor="ctr">
                    <a:solidFill>
                      <a:srgbClr val="1F285A"/>
                    </a:solidFill>
                  </a:tcPr>
                </a:tc>
                <a:tc>
                  <a:txBody>
                    <a:bodyPr/>
                    <a:lstStyle/>
                    <a:p>
                      <a:pPr algn="ctr"/>
                      <a:r>
                        <a:rPr sz="1150" b="1">
                          <a:solidFill>
                            <a:srgbClr val="FFFFFF"/>
                          </a:solidFill>
                          <a:latin typeface="メイリオ"/>
                          <a:ea typeface="メイリオ"/>
                          <a:cs typeface="メイリオ"/>
                        </a:rPr>
                        <a:t>種別</a:t>
                      </a:r>
                    </a:p>
                  </a:txBody>
                  <a:tcPr anchor="ctr">
                    <a:solidFill>
                      <a:srgbClr val="1F285A"/>
                    </a:solidFill>
                  </a:tcPr>
                </a:tc>
                <a:tc>
                  <a:txBody>
                    <a:bodyPr/>
                    <a:lstStyle/>
                    <a:p>
                      <a:pPr algn="ctr"/>
                      <a:r>
                        <a:rPr sz="1150" b="1">
                          <a:solidFill>
                            <a:srgbClr val="FFFFFF"/>
                          </a:solidFill>
                          <a:latin typeface="メイリオ"/>
                          <a:ea typeface="メイリオ"/>
                          <a:cs typeface="メイリオ"/>
                        </a:rPr>
                        <a:t>LINE友だち数</a:t>
                      </a:r>
                    </a:p>
                  </a:txBody>
                  <a:tcPr anchor="ctr">
                    <a:solidFill>
                      <a:srgbClr val="1F285A"/>
                    </a:solidFill>
                  </a:tcPr>
                </a:tc>
                <a:extLst>
                  <a:ext uri="{0D108BD9-81ED-4DB2-BD59-A6C34878D82A}">
                    <a16:rowId xmlns:a16="http://schemas.microsoft.com/office/drawing/2014/main" val="10000"/>
                  </a:ext>
                </a:extLst>
              </a:tr>
              <a:tr h="321336">
                <a:tc>
                  <a:txBody>
                    <a:bodyPr/>
                    <a:lstStyle/>
                    <a:p>
                      <a:pPr algn="l"/>
                      <a:r>
                        <a:rPr sz="1400">
                          <a:solidFill>
                            <a:srgbClr val="333333"/>
                          </a:solidFill>
                          <a:latin typeface="メイリオ"/>
                          <a:ea typeface="メイリオ"/>
                          <a:cs typeface="メイリオ"/>
                        </a:rPr>
                        <a:t>リクナビNEXT</a:t>
                      </a:r>
                    </a:p>
                  </a:txBody>
                  <a:tcPr anchor="ctr">
                    <a:solidFill>
                      <a:srgbClr val="FFFFFF"/>
                    </a:solidFill>
                  </a:tcPr>
                </a:tc>
                <a:tc>
                  <a:txBody>
                    <a:bodyPr/>
                    <a:lstStyle/>
                    <a:p>
                      <a:pPr algn="l"/>
                      <a:r>
                        <a:rPr sz="1400">
                          <a:solidFill>
                            <a:srgbClr val="333333"/>
                          </a:solidFill>
                          <a:latin typeface="メイリオ"/>
                          <a:ea typeface="メイリオ"/>
                          <a:cs typeface="メイリオ"/>
                        </a:rPr>
                        <a:t>総合・転職サイト</a:t>
                      </a:r>
                    </a:p>
                  </a:txBody>
                  <a:tcPr anchor="ctr">
                    <a:solidFill>
                      <a:srgbClr val="FFFFFF"/>
                    </a:solidFill>
                  </a:tcPr>
                </a:tc>
                <a:tc>
                  <a:txBody>
                    <a:bodyPr/>
                    <a:lstStyle/>
                    <a:p>
                      <a:pPr algn="l"/>
                      <a:r>
                        <a:rPr sz="1400">
                          <a:solidFill>
                            <a:srgbClr val="333333"/>
                          </a:solidFill>
                          <a:latin typeface="メイリオ"/>
                          <a:ea typeface="メイリオ"/>
                          <a:cs typeface="メイリオ"/>
                        </a:rPr>
                        <a:t>3,235,678人</a:t>
                      </a:r>
                    </a:p>
                  </a:txBody>
                  <a:tcPr anchor="ctr">
                    <a:solidFill>
                      <a:srgbClr val="FFFFFF"/>
                    </a:solidFill>
                  </a:tcPr>
                </a:tc>
                <a:extLst>
                  <a:ext uri="{0D108BD9-81ED-4DB2-BD59-A6C34878D82A}">
                    <a16:rowId xmlns:a16="http://schemas.microsoft.com/office/drawing/2014/main" val="10001"/>
                  </a:ext>
                </a:extLst>
              </a:tr>
              <a:tr h="321336">
                <a:tc>
                  <a:txBody>
                    <a:bodyPr/>
                    <a:lstStyle/>
                    <a:p>
                      <a:pPr algn="l"/>
                      <a:r>
                        <a:rPr sz="1400">
                          <a:solidFill>
                            <a:srgbClr val="333333"/>
                          </a:solidFill>
                          <a:latin typeface="メイリオ"/>
                          <a:ea typeface="メイリオ"/>
                          <a:cs typeface="メイリオ"/>
                        </a:rPr>
                        <a:t>求人ボックス</a:t>
                      </a:r>
                    </a:p>
                  </a:txBody>
                  <a:tcPr anchor="ctr">
                    <a:solidFill>
                      <a:srgbClr val="F4F7FF"/>
                    </a:solidFill>
                  </a:tcPr>
                </a:tc>
                <a:tc>
                  <a:txBody>
                    <a:bodyPr/>
                    <a:lstStyle/>
                    <a:p>
                      <a:pPr algn="l"/>
                      <a:r>
                        <a:rPr sz="1400">
                          <a:solidFill>
                            <a:srgbClr val="333333"/>
                          </a:solidFill>
                          <a:latin typeface="メイリオ"/>
                          <a:ea typeface="メイリオ"/>
                          <a:cs typeface="メイリオ"/>
                        </a:rPr>
                        <a:t>総合・アグリゲーション</a:t>
                      </a:r>
                    </a:p>
                  </a:txBody>
                  <a:tcPr anchor="ctr">
                    <a:solidFill>
                      <a:srgbClr val="F4F7FF"/>
                    </a:solidFill>
                  </a:tcPr>
                </a:tc>
                <a:tc>
                  <a:txBody>
                    <a:bodyPr/>
                    <a:lstStyle/>
                    <a:p>
                      <a:pPr algn="l"/>
                      <a:r>
                        <a:rPr sz="1400">
                          <a:solidFill>
                            <a:srgbClr val="333333"/>
                          </a:solidFill>
                          <a:latin typeface="メイリオ"/>
                          <a:ea typeface="メイリオ"/>
                          <a:cs typeface="メイリオ"/>
                        </a:rPr>
                        <a:t>1,862,866人</a:t>
                      </a:r>
                    </a:p>
                  </a:txBody>
                  <a:tcPr anchor="ctr">
                    <a:solidFill>
                      <a:srgbClr val="F4F7FF"/>
                    </a:solidFill>
                  </a:tcPr>
                </a:tc>
                <a:extLst>
                  <a:ext uri="{0D108BD9-81ED-4DB2-BD59-A6C34878D82A}">
                    <a16:rowId xmlns:a16="http://schemas.microsoft.com/office/drawing/2014/main" val="10002"/>
                  </a:ext>
                </a:extLst>
              </a:tr>
              <a:tr h="321336">
                <a:tc>
                  <a:txBody>
                    <a:bodyPr/>
                    <a:lstStyle/>
                    <a:p>
                      <a:pPr algn="l"/>
                      <a:r>
                        <a:rPr sz="1400">
                          <a:solidFill>
                            <a:srgbClr val="333333"/>
                          </a:solidFill>
                          <a:latin typeface="メイリオ"/>
                          <a:ea typeface="メイリオ"/>
                          <a:cs typeface="メイリオ"/>
                        </a:rPr>
                        <a:t>マイナビ転職</a:t>
                      </a:r>
                    </a:p>
                  </a:txBody>
                  <a:tcPr anchor="ctr">
                    <a:solidFill>
                      <a:srgbClr val="FFFFFF"/>
                    </a:solidFill>
                  </a:tcPr>
                </a:tc>
                <a:tc>
                  <a:txBody>
                    <a:bodyPr/>
                    <a:lstStyle/>
                    <a:p>
                      <a:pPr algn="l"/>
                      <a:r>
                        <a:rPr sz="1400">
                          <a:solidFill>
                            <a:srgbClr val="333333"/>
                          </a:solidFill>
                          <a:latin typeface="メイリオ"/>
                          <a:ea typeface="メイリオ"/>
                          <a:cs typeface="メイリオ"/>
                        </a:rPr>
                        <a:t>総合・転職サイト</a:t>
                      </a:r>
                    </a:p>
                  </a:txBody>
                  <a:tcPr anchor="ctr">
                    <a:solidFill>
                      <a:srgbClr val="FFFFFF"/>
                    </a:solidFill>
                  </a:tcPr>
                </a:tc>
                <a:tc>
                  <a:txBody>
                    <a:bodyPr/>
                    <a:lstStyle/>
                    <a:p>
                      <a:pPr algn="l"/>
                      <a:r>
                        <a:rPr sz="1400">
                          <a:solidFill>
                            <a:srgbClr val="333333"/>
                          </a:solidFill>
                          <a:latin typeface="メイリオ"/>
                          <a:ea typeface="メイリオ"/>
                          <a:cs typeface="メイリオ"/>
                        </a:rPr>
                        <a:t>754,302人</a:t>
                      </a:r>
                    </a:p>
                  </a:txBody>
                  <a:tcPr anchor="ctr">
                    <a:solidFill>
                      <a:srgbClr val="FFFFFF"/>
                    </a:solidFill>
                  </a:tcPr>
                </a:tc>
                <a:extLst>
                  <a:ext uri="{0D108BD9-81ED-4DB2-BD59-A6C34878D82A}">
                    <a16:rowId xmlns:a16="http://schemas.microsoft.com/office/drawing/2014/main" val="10003"/>
                  </a:ext>
                </a:extLst>
              </a:tr>
              <a:tr h="321336">
                <a:tc>
                  <a:txBody>
                    <a:bodyPr/>
                    <a:lstStyle/>
                    <a:p>
                      <a:pPr algn="l"/>
                      <a:r>
                        <a:rPr sz="1400">
                          <a:solidFill>
                            <a:srgbClr val="333333"/>
                          </a:solidFill>
                          <a:latin typeface="メイリオ"/>
                          <a:ea typeface="メイリオ"/>
                          <a:cs typeface="メイリオ"/>
                        </a:rPr>
                        <a:t>doda</a:t>
                      </a:r>
                    </a:p>
                  </a:txBody>
                  <a:tcPr anchor="ctr">
                    <a:solidFill>
                      <a:srgbClr val="F4F7FF"/>
                    </a:solidFill>
                  </a:tcPr>
                </a:tc>
                <a:tc>
                  <a:txBody>
                    <a:bodyPr/>
                    <a:lstStyle/>
                    <a:p>
                      <a:pPr algn="l"/>
                      <a:r>
                        <a:rPr sz="1400">
                          <a:solidFill>
                            <a:srgbClr val="333333"/>
                          </a:solidFill>
                          <a:latin typeface="メイリオ"/>
                          <a:ea typeface="メイリオ"/>
                          <a:cs typeface="メイリオ"/>
                        </a:rPr>
                        <a:t>総合・エージェント</a:t>
                      </a:r>
                    </a:p>
                  </a:txBody>
                  <a:tcPr anchor="ctr">
                    <a:solidFill>
                      <a:srgbClr val="F4F7FF"/>
                    </a:solidFill>
                  </a:tcPr>
                </a:tc>
                <a:tc>
                  <a:txBody>
                    <a:bodyPr/>
                    <a:lstStyle/>
                    <a:p>
                      <a:pPr algn="l"/>
                      <a:r>
                        <a:rPr sz="1400" dirty="0">
                          <a:solidFill>
                            <a:srgbClr val="333333"/>
                          </a:solidFill>
                          <a:latin typeface="メイリオ"/>
                          <a:ea typeface="メイリオ"/>
                          <a:cs typeface="メイリオ"/>
                        </a:rPr>
                        <a:t>公開アカウントなし（会員登録後に1:1連携）</a:t>
                      </a:r>
                    </a:p>
                  </a:txBody>
                  <a:tcPr anchor="ctr">
                    <a:solidFill>
                      <a:srgbClr val="F4F7FF"/>
                    </a:solidFill>
                  </a:tcPr>
                </a:tc>
                <a:extLst>
                  <a:ext uri="{0D108BD9-81ED-4DB2-BD59-A6C34878D82A}">
                    <a16:rowId xmlns:a16="http://schemas.microsoft.com/office/drawing/2014/main" val="10004"/>
                  </a:ext>
                </a:extLst>
              </a:tr>
              <a:tr h="321336">
                <a:tc>
                  <a:txBody>
                    <a:bodyPr/>
                    <a:lstStyle/>
                    <a:p>
                      <a:pPr algn="l"/>
                      <a:r>
                        <a:rPr sz="1400">
                          <a:solidFill>
                            <a:srgbClr val="333333"/>
                          </a:solidFill>
                          <a:latin typeface="メイリオ"/>
                          <a:ea typeface="メイリオ"/>
                          <a:cs typeface="メイリオ"/>
                        </a:rPr>
                        <a:t>プレックスジョブ【整備士】</a:t>
                      </a:r>
                    </a:p>
                  </a:txBody>
                  <a:tcPr anchor="ctr">
                    <a:solidFill>
                      <a:srgbClr val="FFFFFF"/>
                    </a:solidFill>
                  </a:tcPr>
                </a:tc>
                <a:tc>
                  <a:txBody>
                    <a:bodyPr/>
                    <a:lstStyle/>
                    <a:p>
                      <a:pPr algn="l"/>
                      <a:r>
                        <a:rPr sz="1400">
                          <a:solidFill>
                            <a:srgbClr val="333333"/>
                          </a:solidFill>
                          <a:latin typeface="メイリオ"/>
                          <a:ea typeface="メイリオ"/>
                          <a:cs typeface="メイリオ"/>
                        </a:rPr>
                        <a:t>整備士特化</a:t>
                      </a:r>
                    </a:p>
                  </a:txBody>
                  <a:tcPr anchor="ctr">
                    <a:solidFill>
                      <a:srgbClr val="FFFFFF"/>
                    </a:solidFill>
                  </a:tcPr>
                </a:tc>
                <a:tc>
                  <a:txBody>
                    <a:bodyPr/>
                    <a:lstStyle/>
                    <a:p>
                      <a:pPr algn="l"/>
                      <a:r>
                        <a:rPr sz="1400">
                          <a:solidFill>
                            <a:srgbClr val="333333"/>
                          </a:solidFill>
                          <a:latin typeface="メイリオ"/>
                          <a:ea typeface="メイリオ"/>
                          <a:cs typeface="メイリオ"/>
                        </a:rPr>
                        <a:t>6,288人</a:t>
                      </a:r>
                    </a:p>
                  </a:txBody>
                  <a:tcPr anchor="ctr">
                    <a:solidFill>
                      <a:srgbClr val="FFFFFF"/>
                    </a:solidFill>
                  </a:tcPr>
                </a:tc>
                <a:extLst>
                  <a:ext uri="{0D108BD9-81ED-4DB2-BD59-A6C34878D82A}">
                    <a16:rowId xmlns:a16="http://schemas.microsoft.com/office/drawing/2014/main" val="10005"/>
                  </a:ext>
                </a:extLst>
              </a:tr>
              <a:tr h="321336">
                <a:tc>
                  <a:txBody>
                    <a:bodyPr/>
                    <a:lstStyle/>
                    <a:p>
                      <a:pPr algn="l"/>
                      <a:r>
                        <a:rPr sz="1400" dirty="0" err="1">
                          <a:solidFill>
                            <a:srgbClr val="333333"/>
                          </a:solidFill>
                          <a:latin typeface="メイリオ"/>
                          <a:ea typeface="メイリオ"/>
                          <a:cs typeface="メイリオ"/>
                        </a:rPr>
                        <a:t>整備士の求人・転職｜カンパネル</a:t>
                      </a:r>
                      <a:endParaRPr sz="1400" dirty="0">
                        <a:solidFill>
                          <a:srgbClr val="333333"/>
                        </a:solidFill>
                        <a:latin typeface="メイリオ"/>
                        <a:ea typeface="メイリオ"/>
                        <a:cs typeface="メイリオ"/>
                      </a:endParaRPr>
                    </a:p>
                  </a:txBody>
                  <a:tcPr anchor="ctr">
                    <a:solidFill>
                      <a:srgbClr val="F4F7FF"/>
                    </a:solidFill>
                  </a:tcPr>
                </a:tc>
                <a:tc>
                  <a:txBody>
                    <a:bodyPr/>
                    <a:lstStyle/>
                    <a:p>
                      <a:pPr algn="l"/>
                      <a:r>
                        <a:rPr sz="1400">
                          <a:solidFill>
                            <a:srgbClr val="333333"/>
                          </a:solidFill>
                          <a:latin typeface="メイリオ"/>
                          <a:ea typeface="メイリオ"/>
                          <a:cs typeface="メイリオ"/>
                        </a:rPr>
                        <a:t>整備士特化</a:t>
                      </a:r>
                    </a:p>
                  </a:txBody>
                  <a:tcPr anchor="ctr">
                    <a:solidFill>
                      <a:srgbClr val="F4F7FF"/>
                    </a:solidFill>
                  </a:tcPr>
                </a:tc>
                <a:tc>
                  <a:txBody>
                    <a:bodyPr/>
                    <a:lstStyle/>
                    <a:p>
                      <a:pPr algn="l"/>
                      <a:r>
                        <a:rPr sz="1400" dirty="0">
                          <a:solidFill>
                            <a:srgbClr val="333333"/>
                          </a:solidFill>
                          <a:latin typeface="メイリオ"/>
                          <a:ea typeface="メイリオ"/>
                          <a:cs typeface="メイリオ"/>
                        </a:rPr>
                        <a:t>196人</a:t>
                      </a:r>
                    </a:p>
                  </a:txBody>
                  <a:tcPr anchor="ctr">
                    <a:solidFill>
                      <a:srgbClr val="F4F7FF"/>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432000" y="4380253"/>
            <a:ext cx="9043200" cy="39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400" b="1" dirty="0">
                <a:solidFill>
                  <a:srgbClr val="FFFFFF"/>
                </a:solidFill>
                <a:latin typeface="メイリオ"/>
                <a:ea typeface="メイリオ"/>
                <a:cs typeface="メイリオ"/>
              </a:rPr>
              <a:t>「</a:t>
            </a:r>
            <a:r>
              <a:rPr sz="1400" b="1" dirty="0" err="1">
                <a:solidFill>
                  <a:srgbClr val="FFFFFF"/>
                </a:solidFill>
                <a:latin typeface="メイリオ"/>
                <a:ea typeface="メイリオ"/>
                <a:cs typeface="メイリオ"/>
              </a:rPr>
              <a:t>整備士</a:t>
            </a:r>
            <a:r>
              <a:rPr sz="1400" b="1" dirty="0">
                <a:solidFill>
                  <a:srgbClr val="FFFFFF"/>
                </a:solidFill>
                <a:latin typeface="メイリオ"/>
                <a:ea typeface="メイリオ"/>
                <a:cs typeface="メイリオ"/>
              </a:rPr>
              <a:t> × </a:t>
            </a:r>
            <a:r>
              <a:rPr sz="1400" b="1" dirty="0" err="1">
                <a:solidFill>
                  <a:srgbClr val="FFFFFF"/>
                </a:solidFill>
                <a:latin typeface="メイリオ"/>
                <a:ea typeface="メイリオ"/>
                <a:cs typeface="メイリオ"/>
              </a:rPr>
              <a:t>LINE」はまだ誰も取っていない。総合大手の型を持ち込むだけで先行者になれる</a:t>
            </a:r>
            <a:r>
              <a:rPr sz="1400" b="1" dirty="0">
                <a:solidFill>
                  <a:srgbClr val="FFFFFF"/>
                </a:solidFill>
                <a:latin typeface="メイリオ"/>
                <a:ea typeface="メイリオ"/>
                <a:cs typeface="メイリオ"/>
              </a:rPr>
              <a:t>。</a:t>
            </a:r>
          </a:p>
        </p:txBody>
      </p:sp>
      <p:sp>
        <p:nvSpPr>
          <p:cNvPr id="7" name="TextBox 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出典：page.line.me（公式）2026-09-21実測。友だち数は取得日時点の公表値</a:t>
            </a:r>
          </a:p>
        </p:txBody>
      </p:sp>
    </p:spTree>
    <p:extLst>
      <p:ext uri="{BB962C8B-B14F-4D97-AF65-F5344CB8AC3E}">
        <p14:creationId xmlns:p14="http://schemas.microsoft.com/office/powerpoint/2010/main" val="1405796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施策概要</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6359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前提整理</a:t>
            </a:r>
            <a:endParaRPr sz="1600" b="1" dirty="0">
              <a:solidFill>
                <a:srgbClr val="002060"/>
              </a:solidFill>
              <a:latin typeface="Meiryo"/>
              <a:ea typeface="Meiryo"/>
              <a:cs typeface="Meiryo"/>
              <a:sym typeface="Meiryo"/>
            </a:endParaRPr>
          </a:p>
        </p:txBody>
      </p:sp>
      <p:sp>
        <p:nvSpPr>
          <p:cNvPr id="39" name="Shape 3">
            <a:extLst>
              <a:ext uri="{FF2B5EF4-FFF2-40B4-BE49-F238E27FC236}">
                <a16:creationId xmlns:a16="http://schemas.microsoft.com/office/drawing/2014/main" id="{2C0CE6CF-CF29-4F13-E14D-6FE57E16D201}"/>
              </a:ext>
            </a:extLst>
          </p:cNvPr>
          <p:cNvSpPr/>
          <p:nvPr/>
        </p:nvSpPr>
        <p:spPr>
          <a:xfrm>
            <a:off x="972158" y="178003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Text 4">
            <a:extLst>
              <a:ext uri="{FF2B5EF4-FFF2-40B4-BE49-F238E27FC236}">
                <a16:creationId xmlns:a16="http://schemas.microsoft.com/office/drawing/2014/main" id="{4B15C96A-F0B8-F18C-6254-B162AFC457A6}"/>
              </a:ext>
            </a:extLst>
          </p:cNvPr>
          <p:cNvSpPr txBox="1"/>
          <p:nvPr/>
        </p:nvSpPr>
        <p:spPr>
          <a:xfrm>
            <a:off x="972158" y="1780035"/>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100" dirty="0">
              <a:latin typeface="メイリオ" panose="020B0604030504040204" pitchFamily="50" charset="-128"/>
              <a:ea typeface="メイリオ" panose="020B0604030504040204" pitchFamily="50" charset="-128"/>
            </a:endParaRPr>
          </a:p>
        </p:txBody>
      </p:sp>
      <p:sp>
        <p:nvSpPr>
          <p:cNvPr id="43" name="Text 5">
            <a:extLst>
              <a:ext uri="{FF2B5EF4-FFF2-40B4-BE49-F238E27FC236}">
                <a16:creationId xmlns:a16="http://schemas.microsoft.com/office/drawing/2014/main" id="{1AB7025E-6AD2-DE33-BC65-0B02037301DF}"/>
              </a:ext>
            </a:extLst>
          </p:cNvPr>
          <p:cNvSpPr txBox="1"/>
          <p:nvPr/>
        </p:nvSpPr>
        <p:spPr>
          <a:xfrm>
            <a:off x="1539086" y="1907185"/>
            <a:ext cx="1745198" cy="1051560"/>
          </a:xfrm>
          <a:prstGeom prst="rect">
            <a:avLst/>
          </a:prstGeom>
          <a:noFill/>
          <a:ln/>
        </p:spPr>
        <p:txBody>
          <a:bodyPr wrap="square" lIns="0" tIns="0" rIns="0" bIns="0" rtlCol="0" anchor="t"/>
          <a:lstStyle/>
          <a:p>
            <a:pPr marL="0" indent="0">
              <a:buNone/>
            </a:pPr>
            <a:r>
              <a:rPr lang="en-US" sz="1500" b="1" dirty="0">
                <a:solidFill>
                  <a:srgbClr val="1B3A4B"/>
                </a:solidFill>
                <a:latin typeface="メイリオ" panose="020B0604030504040204" pitchFamily="50" charset="-128"/>
                <a:ea typeface="メイリオ" panose="020B0604030504040204" pitchFamily="50" charset="-128"/>
                <a:cs typeface="Calibri" pitchFamily="34" charset="-120"/>
              </a:rPr>
              <a:t>対象範囲</a:t>
            </a:r>
            <a:endParaRPr lang="en-US" sz="1400" dirty="0">
              <a:latin typeface="メイリオ" panose="020B0604030504040204" pitchFamily="50" charset="-128"/>
              <a:ea typeface="メイリオ" panose="020B0604030504040204" pitchFamily="50" charset="-128"/>
            </a:endParaRPr>
          </a:p>
        </p:txBody>
      </p:sp>
      <p:sp>
        <p:nvSpPr>
          <p:cNvPr id="46" name="Text 6">
            <a:extLst>
              <a:ext uri="{FF2B5EF4-FFF2-40B4-BE49-F238E27FC236}">
                <a16:creationId xmlns:a16="http://schemas.microsoft.com/office/drawing/2014/main" id="{EE17545A-2363-AE72-B300-AAA28328E975}"/>
              </a:ext>
            </a:extLst>
          </p:cNvPr>
          <p:cNvSpPr txBox="1"/>
          <p:nvPr/>
        </p:nvSpPr>
        <p:spPr>
          <a:xfrm>
            <a:off x="3120996" y="1907182"/>
            <a:ext cx="6841609" cy="548643"/>
          </a:xfrm>
          <a:prstGeom prst="rect">
            <a:avLst/>
          </a:prstGeom>
          <a:noFill/>
          <a:ln/>
        </p:spPr>
        <p:txBody>
          <a:bodyPr wrap="square" lIns="0" tIns="0" rIns="0" bIns="0" rtlCol="0" anchor="t"/>
          <a:lstStyle/>
          <a:p>
            <a:pPr marL="0" indent="0">
              <a:lnSpc>
                <a:spcPts val="1700"/>
              </a:lnSpc>
              <a:buNone/>
            </a:pP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LINE公式アカウントにおける</a:t>
            </a:r>
            <a:r>
              <a:rPr lang="en-US" sz="1300" b="1" dirty="0">
                <a:solidFill>
                  <a:srgbClr val="1F2937"/>
                </a:solidFill>
                <a:latin typeface="メイリオ" panose="020B0604030504040204" pitchFamily="50" charset="-128"/>
                <a:ea typeface="メイリオ" panose="020B0604030504040204" pitchFamily="50" charset="-128"/>
                <a:cs typeface="Calibri" pitchFamily="34" charset="-120"/>
              </a:rPr>
              <a:t>「① 友だち追加」「② </a:t>
            </a:r>
            <a:r>
              <a:rPr lang="en-US" sz="1300" b="1" dirty="0" err="1">
                <a:solidFill>
                  <a:srgbClr val="1F2937"/>
                </a:solidFill>
                <a:latin typeface="メイリオ" panose="020B0604030504040204" pitchFamily="50" charset="-128"/>
                <a:ea typeface="メイリオ" panose="020B0604030504040204" pitchFamily="50" charset="-128"/>
                <a:cs typeface="Calibri" pitchFamily="34" charset="-120"/>
              </a:rPr>
              <a:t>配信の効率改善</a:t>
            </a:r>
            <a:r>
              <a:rPr lang="en-US" sz="1300" b="1"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300" b="1" dirty="0">
                <a:solidFill>
                  <a:srgbClr val="1F2937"/>
                </a:solidFill>
                <a:latin typeface="メイリオ" panose="020B0604030504040204" pitchFamily="50" charset="-128"/>
                <a:ea typeface="メイリオ" panose="020B0604030504040204" pitchFamily="50" charset="-128"/>
                <a:cs typeface="Calibri" pitchFamily="34" charset="-120"/>
              </a:rPr>
              <a:t>「③ ユーザー満足度改善」「④ 管理側の業務効率化」の4領域</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を対象に施策を設計。</a:t>
            </a:r>
          </a:p>
          <a:p>
            <a:pPr marL="0" indent="0">
              <a:lnSpc>
                <a:spcPts val="1700"/>
              </a:lnSpc>
              <a:buNone/>
            </a:pP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700"/>
              </a:lnSpc>
              <a:buNone/>
            </a:pP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700"/>
              </a:lnSpc>
              <a:buNone/>
            </a:pP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p:txBody>
      </p:sp>
      <p:sp>
        <p:nvSpPr>
          <p:cNvPr id="48" name="Shape 7">
            <a:extLst>
              <a:ext uri="{FF2B5EF4-FFF2-40B4-BE49-F238E27FC236}">
                <a16:creationId xmlns:a16="http://schemas.microsoft.com/office/drawing/2014/main" id="{821FB137-60FE-5372-085D-B747D9EC59DC}"/>
              </a:ext>
            </a:extLst>
          </p:cNvPr>
          <p:cNvSpPr/>
          <p:nvPr/>
        </p:nvSpPr>
        <p:spPr>
          <a:xfrm>
            <a:off x="641683" y="271272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50" name="Shape 8">
            <a:extLst>
              <a:ext uri="{FF2B5EF4-FFF2-40B4-BE49-F238E27FC236}">
                <a16:creationId xmlns:a16="http://schemas.microsoft.com/office/drawing/2014/main" id="{DC9A3D51-C45E-51F8-860D-57ECD88D6555}"/>
              </a:ext>
            </a:extLst>
          </p:cNvPr>
          <p:cNvSpPr/>
          <p:nvPr/>
        </p:nvSpPr>
        <p:spPr>
          <a:xfrm>
            <a:off x="972158" y="283159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52" name="Text 9">
            <a:extLst>
              <a:ext uri="{FF2B5EF4-FFF2-40B4-BE49-F238E27FC236}">
                <a16:creationId xmlns:a16="http://schemas.microsoft.com/office/drawing/2014/main" id="{669B4352-D816-9A0C-A8DD-7BC84307D168}"/>
              </a:ext>
            </a:extLst>
          </p:cNvPr>
          <p:cNvSpPr txBox="1"/>
          <p:nvPr/>
        </p:nvSpPr>
        <p:spPr>
          <a:xfrm>
            <a:off x="972158" y="2831595"/>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100" dirty="0">
              <a:latin typeface="メイリオ" panose="020B0604030504040204" pitchFamily="50" charset="-128"/>
              <a:ea typeface="メイリオ" panose="020B0604030504040204" pitchFamily="50" charset="-128"/>
            </a:endParaRPr>
          </a:p>
        </p:txBody>
      </p:sp>
      <p:sp>
        <p:nvSpPr>
          <p:cNvPr id="54" name="Text 10">
            <a:extLst>
              <a:ext uri="{FF2B5EF4-FFF2-40B4-BE49-F238E27FC236}">
                <a16:creationId xmlns:a16="http://schemas.microsoft.com/office/drawing/2014/main" id="{75F48AE9-A6FD-422C-ACDF-7B652462C746}"/>
              </a:ext>
            </a:extLst>
          </p:cNvPr>
          <p:cNvSpPr txBox="1"/>
          <p:nvPr/>
        </p:nvSpPr>
        <p:spPr>
          <a:xfrm>
            <a:off x="1539086" y="2958745"/>
            <a:ext cx="1745198" cy="1051560"/>
          </a:xfrm>
          <a:prstGeom prst="rect">
            <a:avLst/>
          </a:prstGeom>
          <a:noFill/>
          <a:ln/>
        </p:spPr>
        <p:txBody>
          <a:bodyPr wrap="square" lIns="0" tIns="0" rIns="0" bIns="0" rtlCol="0" anchor="t"/>
          <a:lstStyle/>
          <a:p>
            <a:pPr marL="0" indent="0">
              <a:buNone/>
            </a:pPr>
            <a:r>
              <a:rPr lang="en-US" sz="1500" b="1" dirty="0">
                <a:solidFill>
                  <a:srgbClr val="1B3A4B"/>
                </a:solidFill>
                <a:latin typeface="メイリオ" panose="020B0604030504040204" pitchFamily="50" charset="-128"/>
                <a:ea typeface="メイリオ" panose="020B0604030504040204" pitchFamily="50" charset="-128"/>
                <a:cs typeface="Calibri" pitchFamily="34" charset="-120"/>
              </a:rPr>
              <a:t>想定UU規模</a:t>
            </a:r>
            <a:endParaRPr lang="en-US" sz="1400" dirty="0">
              <a:latin typeface="メイリオ" panose="020B0604030504040204" pitchFamily="50" charset="-128"/>
              <a:ea typeface="メイリオ" panose="020B0604030504040204" pitchFamily="50" charset="-128"/>
            </a:endParaRPr>
          </a:p>
        </p:txBody>
      </p:sp>
      <p:sp>
        <p:nvSpPr>
          <p:cNvPr id="56" name="Text 11">
            <a:extLst>
              <a:ext uri="{FF2B5EF4-FFF2-40B4-BE49-F238E27FC236}">
                <a16:creationId xmlns:a16="http://schemas.microsoft.com/office/drawing/2014/main" id="{61156CBF-D9B3-DD3C-8ACD-8372D9D326A2}"/>
              </a:ext>
            </a:extLst>
          </p:cNvPr>
          <p:cNvSpPr txBox="1"/>
          <p:nvPr/>
        </p:nvSpPr>
        <p:spPr>
          <a:xfrm>
            <a:off x="3120996" y="2958742"/>
            <a:ext cx="6841609" cy="548643"/>
          </a:xfrm>
          <a:prstGeom prst="rect">
            <a:avLst/>
          </a:prstGeom>
          <a:noFill/>
          <a:ln/>
        </p:spPr>
        <p:txBody>
          <a:bodyPr wrap="square" lIns="0" tIns="0" rIns="0" bIns="0" rtlCol="0" anchor="t"/>
          <a:lstStyle/>
          <a:p>
            <a:pPr marL="0" indent="0">
              <a:lnSpc>
                <a:spcPts val="17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友だち数（登録ユーザー数）は</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 </a:t>
            </a:r>
            <a:r>
              <a:rPr lang="ja-JP" altLang="en-US" sz="1300" dirty="0">
                <a:solidFill>
                  <a:srgbClr val="1F2937"/>
                </a:solidFill>
                <a:latin typeface="メイリオ" panose="020B0604030504040204" pitchFamily="50" charset="-128"/>
                <a:ea typeface="メイリオ" panose="020B0604030504040204" pitchFamily="50" charset="-128"/>
                <a:cs typeface="Calibri" pitchFamily="34" charset="-120"/>
              </a:rPr>
              <a:t>導入できる 動線の本数、整備の進捗により変動</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数値はこのレンジの中間帯を基準とした試算例</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58" name="Shape 12">
            <a:extLst>
              <a:ext uri="{FF2B5EF4-FFF2-40B4-BE49-F238E27FC236}">
                <a16:creationId xmlns:a16="http://schemas.microsoft.com/office/drawing/2014/main" id="{B7E37F63-4443-61AC-C507-6249BCEA8B03}"/>
              </a:ext>
            </a:extLst>
          </p:cNvPr>
          <p:cNvSpPr/>
          <p:nvPr/>
        </p:nvSpPr>
        <p:spPr>
          <a:xfrm>
            <a:off x="641683" y="376428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BC3F4295-B343-9929-79BF-0E90AC24E637}"/>
              </a:ext>
            </a:extLst>
          </p:cNvPr>
          <p:cNvSpPr/>
          <p:nvPr/>
        </p:nvSpPr>
        <p:spPr>
          <a:xfrm>
            <a:off x="972158" y="388315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62" name="Text 14">
            <a:extLst>
              <a:ext uri="{FF2B5EF4-FFF2-40B4-BE49-F238E27FC236}">
                <a16:creationId xmlns:a16="http://schemas.microsoft.com/office/drawing/2014/main" id="{4F7035AD-D7AD-4365-9CE5-C9A141A3387A}"/>
              </a:ext>
            </a:extLst>
          </p:cNvPr>
          <p:cNvSpPr txBox="1"/>
          <p:nvPr/>
        </p:nvSpPr>
        <p:spPr>
          <a:xfrm>
            <a:off x="972158" y="3883155"/>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4" name="Text 15">
            <a:extLst>
              <a:ext uri="{FF2B5EF4-FFF2-40B4-BE49-F238E27FC236}">
                <a16:creationId xmlns:a16="http://schemas.microsoft.com/office/drawing/2014/main" id="{86468759-90EC-B496-2A22-F5CEEF26BB6D}"/>
              </a:ext>
            </a:extLst>
          </p:cNvPr>
          <p:cNvSpPr txBox="1"/>
          <p:nvPr/>
        </p:nvSpPr>
        <p:spPr>
          <a:xfrm>
            <a:off x="1539086" y="4010305"/>
            <a:ext cx="1745198" cy="1051560"/>
          </a:xfrm>
          <a:prstGeom prst="rect">
            <a:avLst/>
          </a:prstGeom>
          <a:noFill/>
          <a:ln/>
        </p:spPr>
        <p:txBody>
          <a:bodyPr wrap="square" lIns="0" tIns="0" rIns="0" bIns="0" rtlCol="0" anchor="t"/>
          <a:lstStyle/>
          <a:p>
            <a:pPr marL="0" indent="0">
              <a:buNone/>
            </a:pPr>
            <a:r>
              <a:rPr lang="en-US" sz="1500" b="1" dirty="0">
                <a:solidFill>
                  <a:srgbClr val="1B3A4B"/>
                </a:solidFill>
                <a:latin typeface="メイリオ" panose="020B0604030504040204" pitchFamily="50" charset="-128"/>
                <a:ea typeface="メイリオ" panose="020B0604030504040204" pitchFamily="50" charset="-128"/>
                <a:cs typeface="Calibri" pitchFamily="34" charset="-120"/>
              </a:rPr>
              <a:t>数値の位置づけ</a:t>
            </a:r>
            <a:endParaRPr lang="en-US" sz="1400" dirty="0">
              <a:latin typeface="メイリオ" panose="020B0604030504040204" pitchFamily="50" charset="-128"/>
              <a:ea typeface="メイリオ" panose="020B0604030504040204" pitchFamily="50" charset="-128"/>
            </a:endParaRPr>
          </a:p>
        </p:txBody>
      </p:sp>
      <p:sp>
        <p:nvSpPr>
          <p:cNvPr id="66" name="Text 16">
            <a:extLst>
              <a:ext uri="{FF2B5EF4-FFF2-40B4-BE49-F238E27FC236}">
                <a16:creationId xmlns:a16="http://schemas.microsoft.com/office/drawing/2014/main" id="{904F2FF7-14A1-F39C-A8CB-E14A07B717DD}"/>
              </a:ext>
            </a:extLst>
          </p:cNvPr>
          <p:cNvSpPr txBox="1"/>
          <p:nvPr/>
        </p:nvSpPr>
        <p:spPr>
          <a:xfrm>
            <a:off x="3120996" y="4010302"/>
            <a:ext cx="6841609" cy="548643"/>
          </a:xfrm>
          <a:prstGeom prst="rect">
            <a:avLst/>
          </a:prstGeom>
          <a:noFill/>
          <a:ln/>
        </p:spPr>
        <p:txBody>
          <a:bodyPr wrap="square" lIns="0" tIns="0" rIns="0" bIns="0" rtlCol="0" anchor="t"/>
          <a:lstStyle/>
          <a:p>
            <a:pPr marL="0" indent="0">
              <a:lnSpc>
                <a:spcPts val="17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開封率・クリック率・CVR・獲得件数は、業界一般値</a:t>
            </a:r>
            <a:r>
              <a:rPr lang="ja-JP" altLang="en-US" sz="1300" dirty="0">
                <a:solidFill>
                  <a:srgbClr val="1F2937"/>
                </a:solidFill>
                <a:latin typeface="メイリオ" panose="020B0604030504040204" pitchFamily="50" charset="-128"/>
                <a:ea typeface="メイリオ" panose="020B0604030504040204" pitchFamily="50" charset="-128"/>
                <a:cs typeface="Calibri" pitchFamily="34" charset="-120"/>
              </a:rPr>
              <a:t>・弊社実績に基づく数値</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ja-JP" altLang="en-US" sz="1300" dirty="0">
                <a:solidFill>
                  <a:srgbClr val="1F2937"/>
                </a:solidFill>
                <a:latin typeface="メイリオ" panose="020B0604030504040204" pitchFamily="50" charset="-128"/>
                <a:ea typeface="メイリオ" panose="020B0604030504040204" pitchFamily="50" charset="-128"/>
                <a:cs typeface="Calibri" pitchFamily="34" charset="-120"/>
              </a:rPr>
              <a:t>実際の実装可能領域によって変動する為、すり合わせの上で</a:t>
            </a: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精緻化する</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68" name="Shape 17">
            <a:extLst>
              <a:ext uri="{FF2B5EF4-FFF2-40B4-BE49-F238E27FC236}">
                <a16:creationId xmlns:a16="http://schemas.microsoft.com/office/drawing/2014/main" id="{D7D046F7-16D5-8951-536B-10884484DE02}"/>
              </a:ext>
            </a:extLst>
          </p:cNvPr>
          <p:cNvSpPr/>
          <p:nvPr/>
        </p:nvSpPr>
        <p:spPr>
          <a:xfrm>
            <a:off x="641683" y="481584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0" name="Shape 18">
            <a:extLst>
              <a:ext uri="{FF2B5EF4-FFF2-40B4-BE49-F238E27FC236}">
                <a16:creationId xmlns:a16="http://schemas.microsoft.com/office/drawing/2014/main" id="{0D1FC647-1BC2-58C5-04C4-BE8B359A6F8D}"/>
              </a:ext>
            </a:extLst>
          </p:cNvPr>
          <p:cNvSpPr/>
          <p:nvPr/>
        </p:nvSpPr>
        <p:spPr>
          <a:xfrm>
            <a:off x="972158" y="493471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2" name="Text 19">
            <a:extLst>
              <a:ext uri="{FF2B5EF4-FFF2-40B4-BE49-F238E27FC236}">
                <a16:creationId xmlns:a16="http://schemas.microsoft.com/office/drawing/2014/main" id="{C7DA095C-5CED-C617-CCA7-2F5D20F16832}"/>
              </a:ext>
            </a:extLst>
          </p:cNvPr>
          <p:cNvSpPr txBox="1"/>
          <p:nvPr/>
        </p:nvSpPr>
        <p:spPr>
          <a:xfrm>
            <a:off x="972158" y="4934715"/>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メイリオ" panose="020B0604030504040204" pitchFamily="50" charset="-128"/>
                <a:ea typeface="メイリオ" panose="020B0604030504040204" pitchFamily="50" charset="-128"/>
                <a:cs typeface="Calibri" pitchFamily="34" charset="-120"/>
              </a:rPr>
              <a:t>4</a:t>
            </a:r>
            <a:endParaRPr lang="en-US" sz="1100" dirty="0">
              <a:latin typeface="メイリオ" panose="020B0604030504040204" pitchFamily="50" charset="-128"/>
              <a:ea typeface="メイリオ" panose="020B0604030504040204" pitchFamily="50" charset="-128"/>
            </a:endParaRPr>
          </a:p>
        </p:txBody>
      </p:sp>
      <p:sp>
        <p:nvSpPr>
          <p:cNvPr id="74" name="Text 20">
            <a:extLst>
              <a:ext uri="{FF2B5EF4-FFF2-40B4-BE49-F238E27FC236}">
                <a16:creationId xmlns:a16="http://schemas.microsoft.com/office/drawing/2014/main" id="{4C2E6E88-6123-B50A-ED01-1E64CDAD3404}"/>
              </a:ext>
            </a:extLst>
          </p:cNvPr>
          <p:cNvSpPr txBox="1"/>
          <p:nvPr/>
        </p:nvSpPr>
        <p:spPr>
          <a:xfrm>
            <a:off x="1539086" y="5061865"/>
            <a:ext cx="1745198" cy="1051560"/>
          </a:xfrm>
          <a:prstGeom prst="rect">
            <a:avLst/>
          </a:prstGeom>
          <a:noFill/>
          <a:ln/>
        </p:spPr>
        <p:txBody>
          <a:bodyPr wrap="square" lIns="0" tIns="0" rIns="0" bIns="0" rtlCol="0" anchor="t"/>
          <a:lstStyle/>
          <a:p>
            <a:pPr marL="0" indent="0">
              <a:buNone/>
            </a:pPr>
            <a:r>
              <a:rPr lang="en-US" sz="1500" b="1" dirty="0">
                <a:solidFill>
                  <a:srgbClr val="1B3A4B"/>
                </a:solidFill>
                <a:latin typeface="メイリオ" panose="020B0604030504040204" pitchFamily="50" charset="-128"/>
                <a:ea typeface="メイリオ" panose="020B0604030504040204" pitchFamily="50" charset="-128"/>
                <a:cs typeface="Calibri" pitchFamily="34" charset="-120"/>
              </a:rPr>
              <a:t>費用について</a:t>
            </a:r>
            <a:endParaRPr lang="en-US" sz="1400" dirty="0">
              <a:latin typeface="メイリオ" panose="020B0604030504040204" pitchFamily="50" charset="-128"/>
              <a:ea typeface="メイリオ" panose="020B0604030504040204" pitchFamily="50" charset="-128"/>
            </a:endParaRPr>
          </a:p>
        </p:txBody>
      </p:sp>
      <p:sp>
        <p:nvSpPr>
          <p:cNvPr id="76" name="Text 21">
            <a:extLst>
              <a:ext uri="{FF2B5EF4-FFF2-40B4-BE49-F238E27FC236}">
                <a16:creationId xmlns:a16="http://schemas.microsoft.com/office/drawing/2014/main" id="{F5F82988-82B4-B2FE-6595-2DA583169883}"/>
              </a:ext>
            </a:extLst>
          </p:cNvPr>
          <p:cNvSpPr txBox="1"/>
          <p:nvPr/>
        </p:nvSpPr>
        <p:spPr>
          <a:xfrm>
            <a:off x="3120996" y="5061862"/>
            <a:ext cx="6841609" cy="548643"/>
          </a:xfrm>
          <a:prstGeom prst="rect">
            <a:avLst/>
          </a:prstGeom>
          <a:noFill/>
          <a:ln/>
        </p:spPr>
        <p:txBody>
          <a:bodyPr wrap="square" lIns="0" tIns="0" rIns="0" bIns="0" rtlCol="0" anchor="t"/>
          <a:lstStyle/>
          <a:p>
            <a:pPr marL="0" indent="0">
              <a:lnSpc>
                <a:spcPts val="17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本資料</a:t>
            </a:r>
            <a:r>
              <a:rPr lang="ja-JP" altLang="en-US" sz="1300" dirty="0">
                <a:solidFill>
                  <a:srgbClr val="1F2937"/>
                </a:solidFill>
                <a:latin typeface="メイリオ" panose="020B0604030504040204" pitchFamily="50" charset="-128"/>
                <a:ea typeface="メイリオ" panose="020B0604030504040204" pitchFamily="50" charset="-128"/>
                <a:cs typeface="Calibri" pitchFamily="34" charset="-120"/>
              </a:rPr>
              <a:t>内</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で</a:t>
            </a:r>
            <a:r>
              <a:rPr lang="ja-JP" altLang="en-US" sz="1300" dirty="0">
                <a:solidFill>
                  <a:srgbClr val="1F2937"/>
                </a:solidFill>
                <a:latin typeface="メイリオ" panose="020B0604030504040204" pitchFamily="50" charset="-128"/>
                <a:ea typeface="メイリオ" panose="020B0604030504040204" pitchFamily="50" charset="-128"/>
                <a:cs typeface="Calibri" pitchFamily="34" charset="-120"/>
              </a:rPr>
              <a:t>記載の</a:t>
            </a:r>
            <a:r>
              <a:rPr lang="en-US" sz="1300" b="1" dirty="0" err="1">
                <a:solidFill>
                  <a:srgbClr val="1F2937"/>
                </a:solidFill>
                <a:latin typeface="メイリオ" panose="020B0604030504040204" pitchFamily="50" charset="-128"/>
                <a:ea typeface="メイリオ" panose="020B0604030504040204" pitchFamily="50" charset="-128"/>
                <a:cs typeface="Calibri" pitchFamily="34" charset="-120"/>
              </a:rPr>
              <a:t>費用（初期費用・月額費用）は</a:t>
            </a:r>
            <a:r>
              <a:rPr lang="ja-JP" altLang="en-US" sz="1300" b="1" dirty="0">
                <a:solidFill>
                  <a:srgbClr val="1F2937"/>
                </a:solidFill>
                <a:latin typeface="メイリオ" panose="020B0604030504040204" pitchFamily="50" charset="-128"/>
                <a:ea typeface="メイリオ" panose="020B0604030504040204" pitchFamily="50" charset="-128"/>
                <a:cs typeface="Calibri" pitchFamily="34" charset="-120"/>
              </a:rPr>
              <a:t>前提参考値</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施策範囲の合意後、別途お見積りをご案内</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EED395D3-960C-4F52-4CB0-7C6BFD98B4E4}"/>
              </a:ext>
            </a:extLst>
          </p:cNvPr>
          <p:cNvSpPr txBox="1"/>
          <p:nvPr/>
        </p:nvSpPr>
        <p:spPr>
          <a:xfrm>
            <a:off x="561786" y="882657"/>
            <a:ext cx="8797260" cy="523220"/>
          </a:xfrm>
          <a:prstGeom prst="rect">
            <a:avLst/>
          </a:prstGeom>
          <a:noFill/>
        </p:spPr>
        <p:txBody>
          <a:bodyPr wrap="square">
            <a:spAutoFit/>
          </a:bodyPr>
          <a:lstStyle/>
          <a:p>
            <a:pPr algn="ctr"/>
            <a:r>
              <a:rPr lang="ja-JP" altLang="en-US" sz="1500" b="1" dirty="0">
                <a:solidFill>
                  <a:schemeClr val="tx1">
                    <a:lumMod val="50000"/>
                    <a:lumOff val="50000"/>
                  </a:schemeClr>
                </a:solidFill>
                <a:latin typeface="Meiryo" panose="020B0604030504040204" pitchFamily="34" charset="-128"/>
                <a:ea typeface="Meiryo" panose="020B0604030504040204" pitchFamily="34" charset="-128"/>
              </a:rPr>
              <a:t>ご提案にお持ちしているのは費用感の算出ではなく施策方針です。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500" b="1" dirty="0">
                <a:solidFill>
                  <a:schemeClr val="tx1">
                    <a:lumMod val="50000"/>
                    <a:lumOff val="50000"/>
                  </a:schemeClr>
                </a:solidFill>
                <a:latin typeface="Meiryo" panose="020B0604030504040204" pitchFamily="34" charset="-128"/>
                <a:ea typeface="Meiryo" panose="020B0604030504040204" pitchFamily="34" charset="-128"/>
              </a:rPr>
              <a:t>施策切り出しでのご依頼、複数機能の導入によるディスカウント等の調整もご相談ください。</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985544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EC9E0-2ED9-448E-0518-C4BB6687193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BBA5CE5E-41EC-1762-2B4B-1C21C78DBE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7B94669E-0A81-5BCB-3602-33AE08C2923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6F74B94C-3E60-E212-F97E-79756D17F00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7" name="Shape 3">
            <a:extLst>
              <a:ext uri="{FF2B5EF4-FFF2-40B4-BE49-F238E27FC236}">
                <a16:creationId xmlns:a16="http://schemas.microsoft.com/office/drawing/2014/main" id="{05B92B5B-D67F-58CF-8CC2-331F749D479C}"/>
              </a:ext>
            </a:extLst>
          </p:cNvPr>
          <p:cNvSpPr/>
          <p:nvPr/>
        </p:nvSpPr>
        <p:spPr>
          <a:xfrm>
            <a:off x="847998"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Shape 4">
            <a:extLst>
              <a:ext uri="{FF2B5EF4-FFF2-40B4-BE49-F238E27FC236}">
                <a16:creationId xmlns:a16="http://schemas.microsoft.com/office/drawing/2014/main" id="{84E1D0B6-1448-5A19-5CEB-FF4D5F46D6FC}"/>
              </a:ext>
            </a:extLst>
          </p:cNvPr>
          <p:cNvSpPr/>
          <p:nvPr/>
        </p:nvSpPr>
        <p:spPr>
          <a:xfrm>
            <a:off x="1076598" y="2105293"/>
            <a:ext cx="365268" cy="377851"/>
          </a:xfrm>
          <a:prstGeom prst="ellipse">
            <a:avLst/>
          </a:prstGeom>
          <a:solidFill>
            <a:srgbClr val="06C755"/>
          </a:solidFill>
          <a:ln/>
        </p:spPr>
        <p:txBody>
          <a:bodyPr anchor="ctr"/>
          <a:lstStyle/>
          <a:p>
            <a:pPr algn="ctr"/>
            <a:r>
              <a:rPr lang="en-US" altLang="ja-JP" sz="1300" dirty="0">
                <a:solidFill>
                  <a:schemeClr val="bg1"/>
                </a:solidFill>
                <a:latin typeface="メイリオ" panose="020B0604030504040204" pitchFamily="50" charset="-128"/>
                <a:ea typeface="メイリオ" panose="020B0604030504040204" pitchFamily="50" charset="-128"/>
              </a:rPr>
              <a:t>1</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13" name="Text 6">
            <a:extLst>
              <a:ext uri="{FF2B5EF4-FFF2-40B4-BE49-F238E27FC236}">
                <a16:creationId xmlns:a16="http://schemas.microsoft.com/office/drawing/2014/main" id="{7E87A6C6-A98D-9DBF-6D4A-E28F254E152A}"/>
              </a:ext>
            </a:extLst>
          </p:cNvPr>
          <p:cNvSpPr txBox="1"/>
          <p:nvPr/>
        </p:nvSpPr>
        <p:spPr>
          <a:xfrm>
            <a:off x="1716678" y="1997038"/>
            <a:ext cx="3021761" cy="365760"/>
          </a:xfrm>
          <a:prstGeom prst="rect">
            <a:avLst/>
          </a:prstGeom>
          <a:noFill/>
          <a:ln/>
        </p:spPr>
        <p:txBody>
          <a:bodyPr wrap="square" lIns="0" tIns="0" rIns="0" bIns="0" rtlCol="0" anchor="ctr"/>
          <a:lstStyle/>
          <a:p>
            <a:pPr marL="0" indent="0">
              <a:buNone/>
            </a:pPr>
            <a:r>
              <a:rPr lang="en-US" sz="1800" b="1" dirty="0">
                <a:solidFill>
                  <a:srgbClr val="1B3A4B"/>
                </a:solidFill>
                <a:latin typeface="メイリオ" panose="020B0604030504040204" pitchFamily="50" charset="-128"/>
                <a:ea typeface="メイリオ" panose="020B0604030504040204" pitchFamily="50" charset="-128"/>
                <a:cs typeface="Century Schoolbook" pitchFamily="34" charset="-120"/>
              </a:rPr>
              <a:t>友だち追加</a:t>
            </a:r>
            <a:endParaRPr lang="en-US" sz="1700" dirty="0">
              <a:latin typeface="メイリオ" panose="020B0604030504040204" pitchFamily="50" charset="-128"/>
              <a:ea typeface="メイリオ" panose="020B0604030504040204" pitchFamily="50" charset="-128"/>
            </a:endParaRPr>
          </a:p>
        </p:txBody>
      </p:sp>
      <p:sp>
        <p:nvSpPr>
          <p:cNvPr id="15" name="Text 7">
            <a:extLst>
              <a:ext uri="{FF2B5EF4-FFF2-40B4-BE49-F238E27FC236}">
                <a16:creationId xmlns:a16="http://schemas.microsoft.com/office/drawing/2014/main" id="{3D4AF8DD-9D51-A269-6557-0363B326A0A0}"/>
              </a:ext>
            </a:extLst>
          </p:cNvPr>
          <p:cNvSpPr txBox="1"/>
          <p:nvPr/>
        </p:nvSpPr>
        <p:spPr>
          <a:xfrm>
            <a:off x="1716678" y="2344510"/>
            <a:ext cx="3021761" cy="274320"/>
          </a:xfrm>
          <a:prstGeom prst="rect">
            <a:avLst/>
          </a:prstGeom>
          <a:noFill/>
          <a:ln/>
        </p:spPr>
        <p:txBody>
          <a:bodyPr wrap="square" lIns="0" tIns="0" rIns="0" bIns="0" rtlCol="0" anchor="ctr"/>
          <a:lstStyle/>
          <a:p>
            <a:pPr marL="0" indent="0">
              <a:buNone/>
            </a:pPr>
            <a:r>
              <a:rPr lang="en-US" sz="1200" b="1" dirty="0">
                <a:solidFill>
                  <a:srgbClr val="06C755"/>
                </a:solidFill>
                <a:latin typeface="メイリオ" panose="020B0604030504040204" pitchFamily="50" charset="-128"/>
                <a:ea typeface="メイリオ" panose="020B0604030504040204" pitchFamily="50" charset="-128"/>
                <a:cs typeface="Calibri" pitchFamily="34" charset="-120"/>
              </a:rPr>
              <a:t>接点を増やし母数を拡大</a:t>
            </a:r>
            <a:endParaRPr lang="en-US" sz="1100" dirty="0">
              <a:latin typeface="メイリオ" panose="020B0604030504040204" pitchFamily="50" charset="-128"/>
              <a:ea typeface="メイリオ" panose="020B0604030504040204" pitchFamily="50" charset="-128"/>
            </a:endParaRPr>
          </a:p>
        </p:txBody>
      </p:sp>
      <p:sp>
        <p:nvSpPr>
          <p:cNvPr id="17" name="Text 8">
            <a:extLst>
              <a:ext uri="{FF2B5EF4-FFF2-40B4-BE49-F238E27FC236}">
                <a16:creationId xmlns:a16="http://schemas.microsoft.com/office/drawing/2014/main" id="{006EDC0A-D1B3-1FB0-B41A-15583F5C13E9}"/>
              </a:ext>
            </a:extLst>
          </p:cNvPr>
          <p:cNvSpPr txBox="1"/>
          <p:nvPr/>
        </p:nvSpPr>
        <p:spPr>
          <a:xfrm>
            <a:off x="1122318" y="2774278"/>
            <a:ext cx="3420235" cy="1051560"/>
          </a:xfrm>
          <a:prstGeom prst="rect">
            <a:avLst/>
          </a:prstGeom>
          <a:noFill/>
          <a:ln/>
        </p:spPr>
        <p:txBody>
          <a:bodyPr wrap="square" lIns="0" tIns="0" rIns="0" bIns="0" rtlCol="0" anchor="t"/>
          <a:lstStyle/>
          <a:p>
            <a:pPr marL="0" indent="0">
              <a:lnSpc>
                <a:spcPts val="16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店頭・Web・同梱物など複数の接点から</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訴求とセットでLINE友だち登録へ誘導する</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p>
        </p:txBody>
      </p:sp>
      <p:sp>
        <p:nvSpPr>
          <p:cNvPr id="19" name="Shape 9">
            <a:extLst>
              <a:ext uri="{FF2B5EF4-FFF2-40B4-BE49-F238E27FC236}">
                <a16:creationId xmlns:a16="http://schemas.microsoft.com/office/drawing/2014/main" id="{D46829D5-C4A7-00A2-EB59-4F0181ABF3E8}"/>
              </a:ext>
            </a:extLst>
          </p:cNvPr>
          <p:cNvSpPr/>
          <p:nvPr/>
        </p:nvSpPr>
        <p:spPr>
          <a:xfrm>
            <a:off x="5154385"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1" name="Shape 10">
            <a:extLst>
              <a:ext uri="{FF2B5EF4-FFF2-40B4-BE49-F238E27FC236}">
                <a16:creationId xmlns:a16="http://schemas.microsoft.com/office/drawing/2014/main" id="{5F94C612-6888-B502-7823-012E190DAC5E}"/>
              </a:ext>
            </a:extLst>
          </p:cNvPr>
          <p:cNvSpPr/>
          <p:nvPr/>
        </p:nvSpPr>
        <p:spPr>
          <a:xfrm>
            <a:off x="5382985" y="2105293"/>
            <a:ext cx="365268" cy="377851"/>
          </a:xfrm>
          <a:prstGeom prst="ellipse">
            <a:avLst/>
          </a:prstGeom>
          <a:solidFill>
            <a:schemeClr val="accent5"/>
          </a:solidFill>
          <a:ln/>
        </p:spPr>
        <p:txBody>
          <a:bodyPr anchor="ctr"/>
          <a:lstStyle/>
          <a:p>
            <a:pPr algn="ctr"/>
            <a:r>
              <a:rPr lang="en-US" altLang="ja-JP" sz="1300" dirty="0">
                <a:solidFill>
                  <a:schemeClr val="bg1"/>
                </a:solidFill>
                <a:latin typeface="メイリオ" panose="020B0604030504040204" pitchFamily="50" charset="-128"/>
                <a:ea typeface="メイリオ" panose="020B0604030504040204" pitchFamily="50" charset="-128"/>
              </a:rPr>
              <a:t>2</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5" name="Text 12">
            <a:extLst>
              <a:ext uri="{FF2B5EF4-FFF2-40B4-BE49-F238E27FC236}">
                <a16:creationId xmlns:a16="http://schemas.microsoft.com/office/drawing/2014/main" id="{63279BBA-A879-BA09-E7B2-0716F8DB89DB}"/>
              </a:ext>
            </a:extLst>
          </p:cNvPr>
          <p:cNvSpPr txBox="1"/>
          <p:nvPr/>
        </p:nvSpPr>
        <p:spPr>
          <a:xfrm>
            <a:off x="6023065" y="1997038"/>
            <a:ext cx="3021761" cy="365760"/>
          </a:xfrm>
          <a:prstGeom prst="rect">
            <a:avLst/>
          </a:prstGeom>
          <a:noFill/>
          <a:ln/>
        </p:spPr>
        <p:txBody>
          <a:bodyPr wrap="square" lIns="0" tIns="0" rIns="0" bIns="0" rtlCol="0" anchor="ctr"/>
          <a:lstStyle/>
          <a:p>
            <a:pPr marL="0" indent="0">
              <a:buNone/>
            </a:pPr>
            <a:r>
              <a:rPr lang="en-US" sz="18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効率改善（配信）</a:t>
            </a:r>
            <a:endParaRPr lang="en-US" sz="1700" dirty="0">
              <a:latin typeface="メイリオ" panose="020B0604030504040204" pitchFamily="50" charset="-128"/>
              <a:ea typeface="メイリオ" panose="020B0604030504040204" pitchFamily="50" charset="-128"/>
            </a:endParaRPr>
          </a:p>
        </p:txBody>
      </p:sp>
      <p:sp>
        <p:nvSpPr>
          <p:cNvPr id="27" name="Text 13">
            <a:extLst>
              <a:ext uri="{FF2B5EF4-FFF2-40B4-BE49-F238E27FC236}">
                <a16:creationId xmlns:a16="http://schemas.microsoft.com/office/drawing/2014/main" id="{B2834EBB-F184-C52C-D6A4-B76283F84E90}"/>
              </a:ext>
            </a:extLst>
          </p:cNvPr>
          <p:cNvSpPr txBox="1"/>
          <p:nvPr/>
        </p:nvSpPr>
        <p:spPr>
          <a:xfrm>
            <a:off x="6023065" y="2344510"/>
            <a:ext cx="3021761" cy="274320"/>
          </a:xfrm>
          <a:prstGeom prst="rect">
            <a:avLst/>
          </a:prstGeom>
          <a:noFill/>
          <a:ln/>
        </p:spPr>
        <p:txBody>
          <a:bodyPr wrap="square" lIns="0" tIns="0" rIns="0" bIns="0" rtlCol="0" anchor="ctr"/>
          <a:lstStyle/>
          <a:p>
            <a:pPr marL="0" indent="0">
              <a:buNone/>
            </a:pPr>
            <a:r>
              <a:rPr lang="en-US" sz="1200" b="1" dirty="0">
                <a:solidFill>
                  <a:schemeClr val="accent5"/>
                </a:solidFill>
                <a:latin typeface="メイリオ" panose="020B0604030504040204" pitchFamily="50" charset="-128"/>
                <a:ea typeface="メイリオ" panose="020B0604030504040204" pitchFamily="50" charset="-128"/>
                <a:cs typeface="Calibri" pitchFamily="34" charset="-120"/>
              </a:rPr>
              <a:t>ステップ配信・企画配信の設計</a:t>
            </a:r>
            <a:endParaRPr lang="en-US" sz="1100" dirty="0">
              <a:solidFill>
                <a:schemeClr val="accent5"/>
              </a:solidFill>
              <a:latin typeface="メイリオ" panose="020B0604030504040204" pitchFamily="50" charset="-128"/>
              <a:ea typeface="メイリオ" panose="020B0604030504040204" pitchFamily="50" charset="-128"/>
            </a:endParaRPr>
          </a:p>
        </p:txBody>
      </p:sp>
      <p:sp>
        <p:nvSpPr>
          <p:cNvPr id="29" name="Text 14">
            <a:extLst>
              <a:ext uri="{FF2B5EF4-FFF2-40B4-BE49-F238E27FC236}">
                <a16:creationId xmlns:a16="http://schemas.microsoft.com/office/drawing/2014/main" id="{57B1EDEB-4BA3-D781-8DE2-68F5F4A20A81}"/>
              </a:ext>
            </a:extLst>
          </p:cNvPr>
          <p:cNvSpPr txBox="1"/>
          <p:nvPr/>
        </p:nvSpPr>
        <p:spPr>
          <a:xfrm>
            <a:off x="5428705" y="2774278"/>
            <a:ext cx="3420235" cy="1051560"/>
          </a:xfrm>
          <a:prstGeom prst="rect">
            <a:avLst/>
          </a:prstGeom>
          <a:noFill/>
          <a:ln/>
        </p:spPr>
        <p:txBody>
          <a:bodyPr wrap="square" lIns="0" tIns="0" rIns="0" bIns="0" rtlCol="0" anchor="t"/>
          <a:lstStyle/>
          <a:p>
            <a:pPr marL="0" indent="0">
              <a:lnSpc>
                <a:spcPts val="16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登録後の自動ステップ配信と、セグメント別の企画配信で、開封〜CVまでの導線を最適化する。</a:t>
            </a: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p:txBody>
      </p:sp>
      <p:sp>
        <p:nvSpPr>
          <p:cNvPr id="31" name="Shape 15">
            <a:extLst>
              <a:ext uri="{FF2B5EF4-FFF2-40B4-BE49-F238E27FC236}">
                <a16:creationId xmlns:a16="http://schemas.microsoft.com/office/drawing/2014/main" id="{756ECCA6-F7D5-C161-4122-409E50DB0B3A}"/>
              </a:ext>
            </a:extLst>
          </p:cNvPr>
          <p:cNvSpPr/>
          <p:nvPr/>
        </p:nvSpPr>
        <p:spPr>
          <a:xfrm>
            <a:off x="847998"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16">
            <a:extLst>
              <a:ext uri="{FF2B5EF4-FFF2-40B4-BE49-F238E27FC236}">
                <a16:creationId xmlns:a16="http://schemas.microsoft.com/office/drawing/2014/main" id="{752C3BA3-61AC-9915-5565-38F14554F3BD}"/>
              </a:ext>
            </a:extLst>
          </p:cNvPr>
          <p:cNvSpPr/>
          <p:nvPr/>
        </p:nvSpPr>
        <p:spPr>
          <a:xfrm>
            <a:off x="1076598" y="4206238"/>
            <a:ext cx="365268" cy="377851"/>
          </a:xfrm>
          <a:prstGeom prst="ellipse">
            <a:avLst/>
          </a:prstGeom>
          <a:solidFill>
            <a:schemeClr val="accent1"/>
          </a:solidFill>
          <a:ln/>
        </p:spPr>
        <p:txBody>
          <a:bodyPr anchor="ctr"/>
          <a:lstStyle/>
          <a:p>
            <a:pPr algn="ctr"/>
            <a:r>
              <a:rPr lang="en-US" altLang="ja-JP" sz="1300" dirty="0">
                <a:solidFill>
                  <a:schemeClr val="bg1"/>
                </a:solidFill>
                <a:latin typeface="メイリオ" panose="020B0604030504040204" pitchFamily="50" charset="-128"/>
                <a:ea typeface="メイリオ" panose="020B0604030504040204" pitchFamily="50" charset="-128"/>
              </a:rPr>
              <a:t>3</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7" name="Text 18">
            <a:extLst>
              <a:ext uri="{FF2B5EF4-FFF2-40B4-BE49-F238E27FC236}">
                <a16:creationId xmlns:a16="http://schemas.microsoft.com/office/drawing/2014/main" id="{23D1E819-C691-D0D7-BE43-A76BB729138D}"/>
              </a:ext>
            </a:extLst>
          </p:cNvPr>
          <p:cNvSpPr txBox="1"/>
          <p:nvPr/>
        </p:nvSpPr>
        <p:spPr>
          <a:xfrm>
            <a:off x="1716678" y="4097983"/>
            <a:ext cx="3021761" cy="365760"/>
          </a:xfrm>
          <a:prstGeom prst="rect">
            <a:avLst/>
          </a:prstGeom>
          <a:noFill/>
          <a:ln/>
        </p:spPr>
        <p:txBody>
          <a:bodyPr wrap="square" lIns="0" tIns="0" rIns="0" bIns="0" rtlCol="0" anchor="ctr"/>
          <a:lstStyle/>
          <a:p>
            <a:pPr marL="0" indent="0">
              <a:buNone/>
            </a:pPr>
            <a:r>
              <a:rPr lang="en-US" sz="1800" b="1" dirty="0">
                <a:solidFill>
                  <a:srgbClr val="1B3A4B"/>
                </a:solidFill>
                <a:latin typeface="メイリオ" panose="020B0604030504040204" pitchFamily="50" charset="-128"/>
                <a:ea typeface="メイリオ" panose="020B0604030504040204" pitchFamily="50" charset="-128"/>
                <a:cs typeface="Century Schoolbook" pitchFamily="34" charset="-120"/>
              </a:rPr>
              <a:t>満足度改善（ユーザー）</a:t>
            </a:r>
            <a:endParaRPr lang="en-US" sz="1700" dirty="0">
              <a:latin typeface="メイリオ" panose="020B0604030504040204" pitchFamily="50" charset="-128"/>
              <a:ea typeface="メイリオ" panose="020B0604030504040204" pitchFamily="50" charset="-128"/>
            </a:endParaRPr>
          </a:p>
        </p:txBody>
      </p:sp>
      <p:sp>
        <p:nvSpPr>
          <p:cNvPr id="40" name="Text 19">
            <a:extLst>
              <a:ext uri="{FF2B5EF4-FFF2-40B4-BE49-F238E27FC236}">
                <a16:creationId xmlns:a16="http://schemas.microsoft.com/office/drawing/2014/main" id="{82D0FC0F-1D31-300C-7AB1-D0912A7E029E}"/>
              </a:ext>
            </a:extLst>
          </p:cNvPr>
          <p:cNvSpPr txBox="1"/>
          <p:nvPr/>
        </p:nvSpPr>
        <p:spPr>
          <a:xfrm>
            <a:off x="1716678" y="4445455"/>
            <a:ext cx="3021761" cy="274320"/>
          </a:xfrm>
          <a:prstGeom prst="rect">
            <a:avLst/>
          </a:prstGeom>
          <a:noFill/>
          <a:ln/>
        </p:spPr>
        <p:txBody>
          <a:bodyPr wrap="square" lIns="0" tIns="0" rIns="0" bIns="0" rtlCol="0" anchor="ctr"/>
          <a:lstStyle/>
          <a:p>
            <a:pPr marL="0" indent="0">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QA自動化・個別対応の強化</a:t>
            </a:r>
            <a:endParaRPr lang="en-US" sz="1100" dirty="0">
              <a:solidFill>
                <a:schemeClr val="accent1"/>
              </a:solidFill>
              <a:latin typeface="メイリオ" panose="020B0604030504040204" pitchFamily="50" charset="-128"/>
              <a:ea typeface="メイリオ" panose="020B0604030504040204" pitchFamily="50" charset="-128"/>
            </a:endParaRPr>
          </a:p>
        </p:txBody>
      </p:sp>
      <p:sp>
        <p:nvSpPr>
          <p:cNvPr id="44" name="Text 20">
            <a:extLst>
              <a:ext uri="{FF2B5EF4-FFF2-40B4-BE49-F238E27FC236}">
                <a16:creationId xmlns:a16="http://schemas.microsoft.com/office/drawing/2014/main" id="{DDC03FE7-3F21-E248-3ACE-D83BF971AA2D}"/>
              </a:ext>
            </a:extLst>
          </p:cNvPr>
          <p:cNvSpPr txBox="1"/>
          <p:nvPr/>
        </p:nvSpPr>
        <p:spPr>
          <a:xfrm>
            <a:off x="1122318" y="4875223"/>
            <a:ext cx="3420235" cy="1051560"/>
          </a:xfrm>
          <a:prstGeom prst="rect">
            <a:avLst/>
          </a:prstGeom>
          <a:noFill/>
          <a:ln/>
        </p:spPr>
        <p:txBody>
          <a:bodyPr wrap="square" lIns="0" tIns="0" rIns="0" bIns="0" rtlCol="0" anchor="t"/>
          <a:lstStyle/>
          <a:p>
            <a:pPr marL="0" indent="0">
              <a:lnSpc>
                <a:spcPts val="16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よくある質問への自動応答と、必要な場面での個別チャット対応でユーザー体験を向上させる。</a:t>
            </a: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p:txBody>
      </p:sp>
      <p:sp>
        <p:nvSpPr>
          <p:cNvPr id="49" name="Shape 21">
            <a:extLst>
              <a:ext uri="{FF2B5EF4-FFF2-40B4-BE49-F238E27FC236}">
                <a16:creationId xmlns:a16="http://schemas.microsoft.com/office/drawing/2014/main" id="{82BACBFF-FBAA-0B5D-6800-119BCE06D8E4}"/>
              </a:ext>
            </a:extLst>
          </p:cNvPr>
          <p:cNvSpPr/>
          <p:nvPr/>
        </p:nvSpPr>
        <p:spPr>
          <a:xfrm>
            <a:off x="5154385"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22">
            <a:extLst>
              <a:ext uri="{FF2B5EF4-FFF2-40B4-BE49-F238E27FC236}">
                <a16:creationId xmlns:a16="http://schemas.microsoft.com/office/drawing/2014/main" id="{06D0A506-C06B-2472-7C9A-C6A3F8F4DE0C}"/>
              </a:ext>
            </a:extLst>
          </p:cNvPr>
          <p:cNvSpPr/>
          <p:nvPr/>
        </p:nvSpPr>
        <p:spPr>
          <a:xfrm>
            <a:off x="5382985" y="4206238"/>
            <a:ext cx="365268" cy="377851"/>
          </a:xfrm>
          <a:prstGeom prst="ellipse">
            <a:avLst/>
          </a:prstGeom>
          <a:solidFill>
            <a:srgbClr val="2C5364"/>
          </a:solidFill>
          <a:ln/>
        </p:spPr>
        <p:txBody>
          <a:bodyPr anchor="ctr"/>
          <a:lstStyle/>
          <a:p>
            <a:pPr algn="ctr"/>
            <a:r>
              <a:rPr lang="en-US" altLang="ja-JP" sz="1300" dirty="0">
                <a:solidFill>
                  <a:schemeClr val="bg1"/>
                </a:solidFill>
                <a:latin typeface="メイリオ" panose="020B0604030504040204" pitchFamily="50" charset="-128"/>
                <a:ea typeface="メイリオ" panose="020B0604030504040204" pitchFamily="50" charset="-128"/>
              </a:rPr>
              <a:t>4</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61" name="Text 24">
            <a:extLst>
              <a:ext uri="{FF2B5EF4-FFF2-40B4-BE49-F238E27FC236}">
                <a16:creationId xmlns:a16="http://schemas.microsoft.com/office/drawing/2014/main" id="{7E387CA0-ACAD-6B69-2324-44C6B8151A62}"/>
              </a:ext>
            </a:extLst>
          </p:cNvPr>
          <p:cNvSpPr txBox="1"/>
          <p:nvPr/>
        </p:nvSpPr>
        <p:spPr>
          <a:xfrm>
            <a:off x="6023065" y="4097983"/>
            <a:ext cx="3021761" cy="365760"/>
          </a:xfrm>
          <a:prstGeom prst="rect">
            <a:avLst/>
          </a:prstGeom>
          <a:noFill/>
          <a:ln/>
        </p:spPr>
        <p:txBody>
          <a:bodyPr wrap="square" lIns="0" tIns="0" rIns="0" bIns="0" rtlCol="0" anchor="ctr"/>
          <a:lstStyle/>
          <a:p>
            <a:pPr marL="0" indent="0">
              <a:buNone/>
            </a:pPr>
            <a:r>
              <a:rPr lang="en-US" sz="18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効率改善（管理側）</a:t>
            </a:r>
            <a:endParaRPr lang="en-US" sz="1700" dirty="0">
              <a:latin typeface="メイリオ" panose="020B0604030504040204" pitchFamily="50" charset="-128"/>
              <a:ea typeface="メイリオ" panose="020B0604030504040204" pitchFamily="50" charset="-128"/>
            </a:endParaRPr>
          </a:p>
        </p:txBody>
      </p:sp>
      <p:sp>
        <p:nvSpPr>
          <p:cNvPr id="65" name="Text 25">
            <a:extLst>
              <a:ext uri="{FF2B5EF4-FFF2-40B4-BE49-F238E27FC236}">
                <a16:creationId xmlns:a16="http://schemas.microsoft.com/office/drawing/2014/main" id="{DD4F65C4-8B59-E246-52A4-392800008403}"/>
              </a:ext>
            </a:extLst>
          </p:cNvPr>
          <p:cNvSpPr txBox="1"/>
          <p:nvPr/>
        </p:nvSpPr>
        <p:spPr>
          <a:xfrm>
            <a:off x="6023065" y="4445455"/>
            <a:ext cx="3021761" cy="274320"/>
          </a:xfrm>
          <a:prstGeom prst="rect">
            <a:avLst/>
          </a:prstGeom>
          <a:noFill/>
          <a:ln/>
        </p:spPr>
        <p:txBody>
          <a:bodyPr wrap="square" lIns="0" tIns="0" rIns="0" bIns="0" rtlCol="0" anchor="ctr"/>
          <a:lstStyle/>
          <a:p>
            <a:pPr marL="0" indent="0">
              <a:buNone/>
            </a:pPr>
            <a:r>
              <a:rPr lang="en-US" sz="1200" b="1" dirty="0">
                <a:solidFill>
                  <a:srgbClr val="2C5364"/>
                </a:solidFill>
                <a:latin typeface="メイリオ" panose="020B0604030504040204" pitchFamily="50" charset="-128"/>
                <a:ea typeface="メイリオ" panose="020B0604030504040204" pitchFamily="50" charset="-128"/>
                <a:cs typeface="Calibri" pitchFamily="34" charset="-120"/>
              </a:rPr>
              <a:t>自動応答・運用負荷の軽減</a:t>
            </a:r>
            <a:endParaRPr lang="en-US" sz="1100" dirty="0">
              <a:latin typeface="メイリオ" panose="020B0604030504040204" pitchFamily="50" charset="-128"/>
              <a:ea typeface="メイリオ" panose="020B0604030504040204" pitchFamily="50" charset="-128"/>
            </a:endParaRPr>
          </a:p>
        </p:txBody>
      </p:sp>
      <p:sp>
        <p:nvSpPr>
          <p:cNvPr id="69" name="Text 26">
            <a:extLst>
              <a:ext uri="{FF2B5EF4-FFF2-40B4-BE49-F238E27FC236}">
                <a16:creationId xmlns:a16="http://schemas.microsoft.com/office/drawing/2014/main" id="{BF1F9D45-7BE1-B51C-A85A-C438E8EC236C}"/>
              </a:ext>
            </a:extLst>
          </p:cNvPr>
          <p:cNvSpPr txBox="1"/>
          <p:nvPr/>
        </p:nvSpPr>
        <p:spPr>
          <a:xfrm>
            <a:off x="5428705" y="4875223"/>
            <a:ext cx="3420235" cy="1051560"/>
          </a:xfrm>
          <a:prstGeom prst="rect">
            <a:avLst/>
          </a:prstGeom>
          <a:noFill/>
          <a:ln/>
        </p:spPr>
        <p:txBody>
          <a:bodyPr wrap="square" lIns="0" tIns="0" rIns="0" bIns="0" rtlCol="0" anchor="t"/>
          <a:lstStyle/>
          <a:p>
            <a:pPr marL="0" indent="0">
              <a:lnSpc>
                <a:spcPts val="1600"/>
              </a:lnSpc>
              <a:buNone/>
            </a:pP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自動応答の仕組み化や運用フローの整備により、管理側の対応工数を削減する。</a:t>
            </a:r>
            <a:endParaRPr lang="en-US" sz="1200"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1E39E92-BE3C-9C91-B84F-53B25B9196F1}"/>
              </a:ext>
            </a:extLst>
          </p:cNvPr>
          <p:cNvSpPr txBox="1"/>
          <p:nvPr/>
        </p:nvSpPr>
        <p:spPr>
          <a:xfrm>
            <a:off x="561786" y="882657"/>
            <a:ext cx="8797260" cy="523220"/>
          </a:xfrm>
          <a:prstGeom prst="rect">
            <a:avLst/>
          </a:prstGeom>
          <a:noFill/>
        </p:spPr>
        <p:txBody>
          <a:bodyPr wrap="square">
            <a:spAutoFit/>
          </a:bodyPr>
          <a:lstStyle/>
          <a:p>
            <a:pPr algn="ctr"/>
            <a:r>
              <a:rPr lang="en-US" altLang="ja-JP" sz="1500" b="1" dirty="0">
                <a:solidFill>
                  <a:schemeClr val="tx1">
                    <a:lumMod val="50000"/>
                    <a:lumOff val="50000"/>
                  </a:schemeClr>
                </a:solidFill>
                <a:latin typeface="Meiryo" panose="020B0604030504040204" pitchFamily="34" charset="-128"/>
                <a:ea typeface="Meiryo" panose="020B0604030504040204" pitchFamily="34" charset="-128"/>
              </a:rPr>
              <a:t>DYM</a:t>
            </a:r>
            <a:r>
              <a:rPr lang="ja-JP" altLang="en-US" sz="1500" b="1" dirty="0">
                <a:solidFill>
                  <a:schemeClr val="tx1">
                    <a:lumMod val="50000"/>
                    <a:lumOff val="50000"/>
                  </a:schemeClr>
                </a:solidFill>
                <a:latin typeface="Meiryo" panose="020B0604030504040204" pitchFamily="34" charset="-128"/>
                <a:ea typeface="Meiryo" panose="020B0604030504040204" pitchFamily="34" charset="-128"/>
              </a:rPr>
              <a:t>では基本的に①②の施策を中心に展開させていただきながら、</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500" b="1" dirty="0">
                <a:solidFill>
                  <a:schemeClr val="tx1">
                    <a:lumMod val="50000"/>
                    <a:lumOff val="50000"/>
                  </a:schemeClr>
                </a:solidFill>
                <a:latin typeface="Meiryo" panose="020B0604030504040204" pitchFamily="34" charset="-128"/>
                <a:ea typeface="Meiryo" panose="020B0604030504040204" pitchFamily="34" charset="-128"/>
              </a:rPr>
              <a:t>事業会社ならではの③④におけるノウハウ共有等が可能です。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797552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7C615-BEE8-3B16-A209-225180EB573F}"/>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93A1A5A-4695-1785-1F7A-2FFF7723D88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F088CF0-DAD8-024E-9D5D-9E8A5A7610A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CFC8F68-E536-2BAD-437B-4F354ADD7BA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5" name="Heading">
            <a:extLst>
              <a:ext uri="{FF2B5EF4-FFF2-40B4-BE49-F238E27FC236}">
                <a16:creationId xmlns:a16="http://schemas.microsoft.com/office/drawing/2014/main" id="{412505BE-7AC7-15E1-7427-2273456C3176}"/>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500" b="1" dirty="0">
                <a:solidFill>
                  <a:srgbClr val="1F2A5C"/>
                </a:solidFill>
                <a:latin typeface="メイリオ" panose="020B0604030504040204" pitchFamily="50" charset="-128"/>
                <a:ea typeface="メイリオ" panose="020B0604030504040204" pitchFamily="50" charset="-128"/>
              </a:rPr>
              <a:t>LINE運用ツール</a:t>
            </a:r>
            <a:r>
              <a:rPr lang="ja-JP" altLang="en-US" sz="15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7E8BB5F2-25D8-6C40-B6B8-51E193FDD0D5}"/>
              </a:ext>
            </a:extLst>
          </p:cNvPr>
          <p:cNvSpPr txBox="1"/>
          <p:nvPr/>
        </p:nvSpPr>
        <p:spPr>
          <a:xfrm>
            <a:off x="381000" y="1320738"/>
            <a:ext cx="4445000" cy="381000"/>
          </a:xfrm>
          <a:prstGeom prst="rect">
            <a:avLst/>
          </a:prstGeom>
          <a:solidFill>
            <a:srgbClr val="1F2A5C"/>
          </a:solidFill>
          <a:ln>
            <a:noFill/>
          </a:ln>
        </p:spPr>
        <p:txBody>
          <a:bodyPr wrap="square" lIns="152400" tIns="76200" rIns="152400" bIns="76200" anchor="ctr"/>
          <a:lstStyle/>
          <a:p>
            <a:pPr algn="ctr">
              <a:buNone/>
            </a:pPr>
            <a:r>
              <a:rPr lang="ja-JP" altLang="en-US" sz="1500" b="1" dirty="0">
                <a:solidFill>
                  <a:srgbClr val="FFFFFF"/>
                </a:solidFill>
                <a:latin typeface="メイリオ" panose="020B0604030504040204" pitchFamily="50" charset="-128"/>
                <a:ea typeface="メイリオ" panose="020B0604030504040204" pitchFamily="50" charset="-128"/>
              </a:rPr>
              <a:t>なし </a:t>
            </a:r>
            <a:r>
              <a:rPr lang="en-US" altLang="ja-JP" sz="1200" dirty="0">
                <a:solidFill>
                  <a:srgbClr val="FFFFFF"/>
                </a:solidFill>
                <a:latin typeface="メイリオ" panose="020B0604030504040204" pitchFamily="50" charset="-128"/>
                <a:ea typeface="メイリオ" panose="020B0604030504040204" pitchFamily="50" charset="-128"/>
              </a:rPr>
              <a:t>※OAM</a:t>
            </a:r>
            <a:r>
              <a:rPr lang="ja-JP" altLang="en-US" sz="1200" dirty="0">
                <a:solidFill>
                  <a:srgbClr val="FFFFFF"/>
                </a:solidFill>
                <a:latin typeface="メイリオ" panose="020B0604030504040204" pitchFamily="50" charset="-128"/>
                <a:ea typeface="メイリオ" panose="020B0604030504040204" pitchFamily="50" charset="-128"/>
              </a:rPr>
              <a:t>にて運用する</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11" name="RightHeader">
            <a:extLst>
              <a:ext uri="{FF2B5EF4-FFF2-40B4-BE49-F238E27FC236}">
                <a16:creationId xmlns:a16="http://schemas.microsoft.com/office/drawing/2014/main" id="{51D83F88-8CDC-20C8-A161-92ACE9AE14FE}"/>
              </a:ext>
            </a:extLst>
          </p:cNvPr>
          <p:cNvSpPr txBox="1"/>
          <p:nvPr/>
        </p:nvSpPr>
        <p:spPr>
          <a:xfrm>
            <a:off x="5080000" y="1320738"/>
            <a:ext cx="4445000" cy="381000"/>
          </a:xfrm>
          <a:prstGeom prst="rect">
            <a:avLst/>
          </a:prstGeom>
          <a:solidFill>
            <a:srgbClr val="00B050"/>
          </a:solidFill>
          <a:ln>
            <a:noFill/>
          </a:ln>
        </p:spPr>
        <p:txBody>
          <a:bodyPr wrap="square" lIns="152400" tIns="76200" rIns="152400" bIns="76200" anchor="ctr"/>
          <a:lstStyle/>
          <a:p>
            <a:pPr algn="ctr">
              <a:buNone/>
            </a:pPr>
            <a:r>
              <a:rPr lang="ja-JP" altLang="en-US" sz="1500" b="1" dirty="0">
                <a:solidFill>
                  <a:srgbClr val="FFFFFF"/>
                </a:solidFill>
                <a:latin typeface="メイリオ" panose="020B0604030504040204" pitchFamily="50" charset="-128"/>
                <a:ea typeface="メイリオ" panose="020B0604030504040204" pitchFamily="50" charset="-128"/>
              </a:rPr>
              <a:t>あり</a:t>
            </a:r>
            <a:r>
              <a:rPr lang="ja-JP" altLang="en-US" sz="1400" dirty="0">
                <a:solidFill>
                  <a:srgbClr val="FFFFFF"/>
                </a:solidFill>
                <a:latin typeface="メイリオ" panose="020B0604030504040204" pitchFamily="50" charset="-128"/>
                <a:ea typeface="メイリオ" panose="020B0604030504040204" pitchFamily="50" charset="-128"/>
              </a:rPr>
              <a:t> </a:t>
            </a:r>
            <a:r>
              <a:rPr lang="en-US" altLang="ja-JP" sz="1200" dirty="0">
                <a:solidFill>
                  <a:srgbClr val="FFFFFF"/>
                </a:solidFill>
                <a:latin typeface="メイリオ" panose="020B0604030504040204" pitchFamily="50" charset="-128"/>
                <a:ea typeface="メイリオ" panose="020B0604030504040204" pitchFamily="50" charset="-128"/>
              </a:rPr>
              <a:t>※</a:t>
            </a:r>
            <a:r>
              <a:rPr lang="en-US" altLang="ja-JP" sz="1200" dirty="0" err="1">
                <a:solidFill>
                  <a:srgbClr val="FFFFFF"/>
                </a:solidFill>
                <a:latin typeface="メイリオ" panose="020B0604030504040204" pitchFamily="50" charset="-128"/>
                <a:ea typeface="メイリオ" panose="020B0604030504040204" pitchFamily="50" charset="-128"/>
              </a:rPr>
              <a:t>Lstep</a:t>
            </a:r>
            <a:r>
              <a:rPr lang="ja-JP" altLang="en-US" sz="1200" dirty="0">
                <a:solidFill>
                  <a:srgbClr val="FFFFFF"/>
                </a:solidFill>
                <a:latin typeface="メイリオ" panose="020B0604030504040204" pitchFamily="50" charset="-128"/>
                <a:ea typeface="メイリオ" panose="020B0604030504040204" pitchFamily="50" charset="-128"/>
              </a:rPr>
              <a:t>など汎用的なもの</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15" name="Conclusion">
            <a:extLst>
              <a:ext uri="{FF2B5EF4-FFF2-40B4-BE49-F238E27FC236}">
                <a16:creationId xmlns:a16="http://schemas.microsoft.com/office/drawing/2014/main" id="{C4320929-5504-DE1B-B0F4-5AA55B09745C}"/>
              </a:ext>
            </a:extLst>
          </p:cNvPr>
          <p:cNvSpPr txBox="1"/>
          <p:nvPr/>
        </p:nvSpPr>
        <p:spPr>
          <a:xfrm>
            <a:off x="396857" y="4978338"/>
            <a:ext cx="9144000" cy="1044000"/>
          </a:xfrm>
          <a:prstGeom prst="rect">
            <a:avLst/>
          </a:prstGeom>
          <a:solidFill>
            <a:srgbClr val="F0F2F7"/>
          </a:solidFill>
          <a:ln>
            <a:noFill/>
          </a:ln>
        </p:spPr>
        <p:txBody>
          <a:bodyPr wrap="square" lIns="177800" tIns="127000" rIns="177800" bIns="127000" anchor="t"/>
          <a:lstStyle/>
          <a:p>
            <a:pPr>
              <a:buNone/>
            </a:pPr>
            <a:r>
              <a:rPr lang="ja-JP" sz="1300" b="1" dirty="0">
                <a:solidFill>
                  <a:srgbClr val="1F2A5C"/>
                </a:solidFill>
                <a:latin typeface="メイリオ" panose="020B0604030504040204" pitchFamily="50" charset="-128"/>
                <a:ea typeface="メイリオ" panose="020B0604030504040204" pitchFamily="50" charset="-128"/>
              </a:rPr>
              <a:t>結論・推奨</a:t>
            </a:r>
          </a:p>
          <a:p>
            <a:pPr>
              <a:spcBef>
                <a:spcPts val="200"/>
              </a:spcBef>
              <a:buNone/>
            </a:pPr>
            <a:r>
              <a:rPr lang="ja-JP" sz="1300" dirty="0">
                <a:solidFill>
                  <a:srgbClr val="333333"/>
                </a:solidFill>
                <a:latin typeface="メイリオ" panose="020B0604030504040204" pitchFamily="50" charset="-128"/>
                <a:ea typeface="メイリオ" panose="020B0604030504040204" pitchFamily="50" charset="-128"/>
              </a:rPr>
              <a:t>API連携の有無が今後のデータ活用</a:t>
            </a:r>
            <a:r>
              <a:rPr lang="ja-JP" altLang="en-US" sz="1300" dirty="0">
                <a:solidFill>
                  <a:srgbClr val="333333"/>
                </a:solidFill>
                <a:latin typeface="メイリオ" panose="020B0604030504040204" pitchFamily="50" charset="-128"/>
                <a:ea typeface="メイリオ" panose="020B0604030504040204" pitchFamily="50" charset="-128"/>
              </a:rPr>
              <a:t>や、詳細なセグメント設定</a:t>
            </a:r>
            <a:r>
              <a:rPr lang="ja-JP" sz="1300" dirty="0">
                <a:solidFill>
                  <a:srgbClr val="333333"/>
                </a:solidFill>
                <a:latin typeface="メイリオ" panose="020B0604030504040204" pitchFamily="50" charset="-128"/>
                <a:ea typeface="メイリオ" panose="020B0604030504040204" pitchFamily="50" charset="-128"/>
              </a:rPr>
              <a:t>を左右する</a:t>
            </a:r>
            <a:r>
              <a:rPr lang="ja-JP" altLang="en-US" sz="1300" dirty="0">
                <a:solidFill>
                  <a:srgbClr val="333333"/>
                </a:solidFill>
                <a:latin typeface="メイリオ" panose="020B0604030504040204" pitchFamily="50" charset="-128"/>
                <a:ea typeface="メイリオ" panose="020B0604030504040204" pitchFamily="50" charset="-128"/>
              </a:rPr>
              <a:t>。</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300" dirty="0">
                <a:solidFill>
                  <a:srgbClr val="333333"/>
                </a:solidFill>
                <a:latin typeface="メイリオ" panose="020B0604030504040204" pitchFamily="50" charset="-128"/>
                <a:ea typeface="メイリオ" panose="020B0604030504040204" pitchFamily="50" charset="-128"/>
              </a:rPr>
              <a:t>ユーザーアンケートを活用して、利用ステータスやユーザー情報の回収→配信に活用といったフローを踏みたいところ。</a:t>
            </a: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23" name="LeftBody">
            <a:extLst>
              <a:ext uri="{FF2B5EF4-FFF2-40B4-BE49-F238E27FC236}">
                <a16:creationId xmlns:a16="http://schemas.microsoft.com/office/drawing/2014/main" id="{359AC927-F2C5-652F-EEA1-6D298DADB703}"/>
              </a:ext>
            </a:extLst>
          </p:cNvPr>
          <p:cNvSpPr txBox="1"/>
          <p:nvPr/>
        </p:nvSpPr>
        <p:spPr>
          <a:xfrm>
            <a:off x="381000" y="1701738"/>
            <a:ext cx="4445000" cy="980502"/>
          </a:xfrm>
          <a:prstGeom prst="rect">
            <a:avLst/>
          </a:prstGeom>
          <a:solidFill>
            <a:srgbClr val="F5F7FA"/>
          </a:solidFill>
          <a:ln w="6350">
            <a:solidFill>
              <a:srgbClr val="D1D8E0"/>
            </a:solidFill>
          </a:ln>
        </p:spPr>
        <p:txBody>
          <a:bodyPr wrap="square" lIns="177800" tIns="152400" rIns="177800" bIns="152400" anchor="t"/>
          <a:lstStyle/>
          <a:p>
            <a:pPr>
              <a:buNone/>
            </a:pPr>
            <a:r>
              <a:rPr lang="ja-JP" sz="13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300" dirty="0">
                <a:solidFill>
                  <a:srgbClr val="333333"/>
                </a:solidFill>
                <a:latin typeface="メイリオ" panose="020B0604030504040204" pitchFamily="50" charset="-128"/>
                <a:ea typeface="メイリオ" panose="020B0604030504040204" pitchFamily="50" charset="-128"/>
              </a:rPr>
              <a:t>コストが最小限に抑えられる</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en-US" altLang="ja-JP" sz="1200" b="1" dirty="0">
              <a:solidFill>
                <a:srgbClr val="333333"/>
              </a:solidFill>
              <a:latin typeface="メイリオ" panose="020B0604030504040204" pitchFamily="50" charset="-128"/>
              <a:ea typeface="メイリオ" panose="020B0604030504040204" pitchFamily="50" charset="-128"/>
            </a:endParaRPr>
          </a:p>
        </p:txBody>
      </p:sp>
      <p:sp>
        <p:nvSpPr>
          <p:cNvPr id="25" name="RightBody">
            <a:extLst>
              <a:ext uri="{FF2B5EF4-FFF2-40B4-BE49-F238E27FC236}">
                <a16:creationId xmlns:a16="http://schemas.microsoft.com/office/drawing/2014/main" id="{5C2B33B3-486B-54AD-7340-8E91653B11C6}"/>
              </a:ext>
            </a:extLst>
          </p:cNvPr>
          <p:cNvSpPr txBox="1"/>
          <p:nvPr/>
        </p:nvSpPr>
        <p:spPr>
          <a:xfrm>
            <a:off x="5080000" y="1701738"/>
            <a:ext cx="4445000" cy="980502"/>
          </a:xfrm>
          <a:prstGeom prst="rect">
            <a:avLst/>
          </a:prstGeom>
          <a:solidFill>
            <a:srgbClr val="FFFFFF"/>
          </a:solidFill>
          <a:ln w="12700">
            <a:solidFill>
              <a:srgbClr val="00B050"/>
            </a:solidFill>
          </a:ln>
        </p:spPr>
        <p:txBody>
          <a:bodyPr wrap="square" lIns="177800" tIns="152400" rIns="177800" bIns="152400" anchor="t"/>
          <a:lstStyle/>
          <a:p>
            <a:pPr>
              <a:buNone/>
            </a:pPr>
            <a:r>
              <a:rPr lang="ja-JP" sz="13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C8102E"/>
              </a:buClr>
            </a:pPr>
            <a:r>
              <a:rPr lang="ja-JP" sz="1300" dirty="0">
                <a:solidFill>
                  <a:srgbClr val="333333"/>
                </a:solidFill>
                <a:latin typeface="メイリオ" panose="020B0604030504040204" pitchFamily="50" charset="-128"/>
                <a:ea typeface="メイリオ" panose="020B0604030504040204" pitchFamily="50" charset="-128"/>
              </a:rPr>
              <a:t>API連携を前提としたステップ配信に強み</a:t>
            </a:r>
          </a:p>
          <a:p>
            <a:pPr>
              <a:spcBef>
                <a:spcPts val="200"/>
              </a:spcBef>
              <a:buClr>
                <a:srgbClr val="C8102E"/>
              </a:buClr>
            </a:pPr>
            <a:r>
              <a:rPr lang="ja-JP" sz="1300" dirty="0">
                <a:solidFill>
                  <a:srgbClr val="333333"/>
                </a:solidFill>
                <a:latin typeface="メイリオ" panose="020B0604030504040204" pitchFamily="50" charset="-128"/>
                <a:ea typeface="メイリオ" panose="020B0604030504040204" pitchFamily="50" charset="-128"/>
              </a:rPr>
              <a:t>セグメント配信・タグ管理も柔軟に設計可能</a:t>
            </a:r>
          </a:p>
          <a:p>
            <a:pPr>
              <a:spcBef>
                <a:spcPts val="600"/>
              </a:spcBef>
              <a:buNone/>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1" name="LeftBody">
            <a:extLst>
              <a:ext uri="{FF2B5EF4-FFF2-40B4-BE49-F238E27FC236}">
                <a16:creationId xmlns:a16="http://schemas.microsoft.com/office/drawing/2014/main" id="{C22CD48D-CDD7-8246-0A2F-0204B2112294}"/>
              </a:ext>
            </a:extLst>
          </p:cNvPr>
          <p:cNvSpPr txBox="1"/>
          <p:nvPr/>
        </p:nvSpPr>
        <p:spPr>
          <a:xfrm>
            <a:off x="396857" y="2743201"/>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300" b="1" dirty="0">
                <a:solidFill>
                  <a:srgbClr val="1F2A5C"/>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300" dirty="0">
                <a:solidFill>
                  <a:srgbClr val="333333"/>
                </a:solidFill>
                <a:latin typeface="メイリオ" panose="020B0604030504040204" pitchFamily="50" charset="-128"/>
                <a:ea typeface="メイリオ" panose="020B0604030504040204" pitchFamily="50" charset="-128"/>
              </a:rPr>
              <a:t>顧客情報を活かしたセグメント配信が可能</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altLang="en-US" sz="1300" dirty="0">
                <a:solidFill>
                  <a:srgbClr val="333333"/>
                </a:solidFill>
                <a:latin typeface="メイリオ" panose="020B0604030504040204" pitchFamily="50" charset="-128"/>
                <a:ea typeface="メイリオ" panose="020B0604030504040204" pitchFamily="50" charset="-128"/>
              </a:rPr>
              <a:t>画一的な管理であれば導入が可能</a:t>
            </a: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3" name="RightBody">
            <a:extLst>
              <a:ext uri="{FF2B5EF4-FFF2-40B4-BE49-F238E27FC236}">
                <a16:creationId xmlns:a16="http://schemas.microsoft.com/office/drawing/2014/main" id="{33E816DC-7F71-9436-3A2A-835086253EF7}"/>
              </a:ext>
            </a:extLst>
          </p:cNvPr>
          <p:cNvSpPr txBox="1"/>
          <p:nvPr/>
        </p:nvSpPr>
        <p:spPr>
          <a:xfrm>
            <a:off x="5095857" y="2743201"/>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300" b="1" dirty="0">
                <a:solidFill>
                  <a:srgbClr val="00B050"/>
                </a:solidFill>
                <a:latin typeface="メイリオ" panose="020B0604030504040204" pitchFamily="50" charset="-128"/>
                <a:ea typeface="メイリオ" panose="020B0604030504040204" pitchFamily="50" charset="-128"/>
              </a:rPr>
              <a:t>メリット</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300" dirty="0">
                <a:solidFill>
                  <a:srgbClr val="333333"/>
                </a:solidFill>
                <a:latin typeface="メイリオ" panose="020B0604030504040204" pitchFamily="50" charset="-128"/>
                <a:ea typeface="メイリオ" panose="020B0604030504040204" pitchFamily="50" charset="-128"/>
              </a:rPr>
              <a:t>経過日数・タグ条件を組み合わせた配信設計が可能</a:t>
            </a:r>
          </a:p>
          <a:p>
            <a:pPr>
              <a:spcBef>
                <a:spcPts val="200"/>
              </a:spcBef>
              <a:buClr>
                <a:srgbClr val="C8102E"/>
              </a:buClr>
            </a:pPr>
            <a:r>
              <a:rPr lang="ja-JP" sz="1300" dirty="0">
                <a:solidFill>
                  <a:srgbClr val="333333"/>
                </a:solidFill>
                <a:latin typeface="メイリオ" panose="020B0604030504040204" pitchFamily="50" charset="-128"/>
                <a:ea typeface="メイリオ" panose="020B0604030504040204" pitchFamily="50" charset="-128"/>
              </a:rPr>
              <a:t>API連携により外部データとの連携もしやすい</a:t>
            </a:r>
          </a:p>
          <a:p>
            <a:pPr>
              <a:spcBef>
                <a:spcPts val="600"/>
              </a:spcBef>
              <a:buNone/>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5" name="LeftBody">
            <a:extLst>
              <a:ext uri="{FF2B5EF4-FFF2-40B4-BE49-F238E27FC236}">
                <a16:creationId xmlns:a16="http://schemas.microsoft.com/office/drawing/2014/main" id="{C28C8264-FFE5-64B4-9624-4781A568525A}"/>
              </a:ext>
            </a:extLst>
          </p:cNvPr>
          <p:cNvSpPr txBox="1"/>
          <p:nvPr/>
        </p:nvSpPr>
        <p:spPr>
          <a:xfrm>
            <a:off x="396857" y="3784664"/>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3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300" dirty="0">
                <a:solidFill>
                  <a:srgbClr val="333333"/>
                </a:solidFill>
                <a:latin typeface="メイリオ" panose="020B0604030504040204" pitchFamily="50" charset="-128"/>
                <a:ea typeface="メイリオ" panose="020B0604030504040204" pitchFamily="50" charset="-128"/>
              </a:rPr>
              <a:t>現状LINEとAPI連携ができておらず、データ活用が限定的</a:t>
            </a:r>
          </a:p>
        </p:txBody>
      </p:sp>
      <p:sp>
        <p:nvSpPr>
          <p:cNvPr id="37" name="RightBody">
            <a:extLst>
              <a:ext uri="{FF2B5EF4-FFF2-40B4-BE49-F238E27FC236}">
                <a16:creationId xmlns:a16="http://schemas.microsoft.com/office/drawing/2014/main" id="{CD03D279-8570-6C99-6FEA-8EDFE942CC76}"/>
              </a:ext>
            </a:extLst>
          </p:cNvPr>
          <p:cNvSpPr txBox="1"/>
          <p:nvPr/>
        </p:nvSpPr>
        <p:spPr>
          <a:xfrm>
            <a:off x="5095857" y="3784664"/>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300" b="1" dirty="0">
                <a:solidFill>
                  <a:srgbClr val="00B050"/>
                </a:solidFill>
                <a:latin typeface="メイリオ" panose="020B0604030504040204" pitchFamily="50" charset="-128"/>
                <a:ea typeface="メイリオ" panose="020B0604030504040204" pitchFamily="50" charset="-128"/>
              </a:rPr>
              <a:t>デメリット</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300" dirty="0">
                <a:solidFill>
                  <a:srgbClr val="333333"/>
                </a:solidFill>
                <a:latin typeface="メイリオ" panose="020B0604030504040204" pitchFamily="50" charset="-128"/>
                <a:ea typeface="メイリオ" panose="020B0604030504040204" pitchFamily="50" charset="-128"/>
              </a:rPr>
              <a:t>移行には初期設定・データ移行の工数が発生</a:t>
            </a:r>
          </a:p>
        </p:txBody>
      </p:sp>
    </p:spTree>
    <p:extLst>
      <p:ext uri="{BB962C8B-B14F-4D97-AF65-F5344CB8AC3E}">
        <p14:creationId xmlns:p14="http://schemas.microsoft.com/office/powerpoint/2010/main" val="4161387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全体設計｜整備士の転職カスタマージャーニー</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l"/>
            <a:r>
              <a:rPr sz="1300" b="0">
                <a:solidFill>
                  <a:srgbClr val="333333"/>
                </a:solidFill>
                <a:latin typeface="メイリオ"/>
                <a:ea typeface="メイリオ"/>
                <a:cs typeface="メイリオ"/>
              </a:rPr>
              <a:t>整備士の転職の流れにあわせて、LINEの施策を配置します。</a:t>
            </a:r>
          </a:p>
          <a:p>
            <a:pPr algn="l"/>
            <a:r>
              <a:rPr sz="1300" b="0">
                <a:solidFill>
                  <a:srgbClr val="333333"/>
                </a:solidFill>
                <a:latin typeface="メイリオ"/>
                <a:ea typeface="メイリオ"/>
                <a:cs typeface="メイリオ"/>
              </a:rPr>
              <a:t>主戦場は④友だち追加ではなく⑤面談。そこから先も同じLINEで就業・定着まで運びます。</a:t>
            </a:r>
          </a:p>
        </p:txBody>
      </p:sp>
      <p:sp>
        <p:nvSpPr>
          <p:cNvPr id="47" name="Rounded Rectangle 46"/>
          <p:cNvSpPr/>
          <p:nvPr/>
        </p:nvSpPr>
        <p:spPr>
          <a:xfrm>
            <a:off x="432000" y="1512000"/>
            <a:ext cx="4494600" cy="2340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50" b="1">
                <a:solidFill>
                  <a:srgbClr val="333333"/>
                </a:solidFill>
                <a:latin typeface="メイリオ"/>
                <a:ea typeface="メイリオ"/>
                <a:cs typeface="メイリオ"/>
              </a:rPr>
              <a:t>WEB → LINE：どう友だちにするか</a:t>
            </a:r>
          </a:p>
        </p:txBody>
      </p:sp>
      <p:sp>
        <p:nvSpPr>
          <p:cNvPr id="48" name="Rounded Rectangle 47"/>
          <p:cNvSpPr/>
          <p:nvPr/>
        </p:nvSpPr>
        <p:spPr>
          <a:xfrm>
            <a:off x="4980600" y="1512000"/>
            <a:ext cx="4494600" cy="234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50" b="1">
                <a:solidFill>
                  <a:srgbClr val="333333"/>
                </a:solidFill>
                <a:latin typeface="メイリオ"/>
                <a:ea typeface="メイリオ"/>
                <a:cs typeface="メイリオ"/>
              </a:rPr>
              <a:t>LINE → 就業：どう面談・就業につなげるか</a:t>
            </a:r>
          </a:p>
        </p:txBody>
      </p:sp>
      <p:sp>
        <p:nvSpPr>
          <p:cNvPr id="49" name="Pentagon 48"/>
          <p:cNvSpPr/>
          <p:nvPr/>
        </p:nvSpPr>
        <p:spPr>
          <a:xfrm>
            <a:off x="432000" y="1818000"/>
            <a:ext cx="1083150" cy="396000"/>
          </a:xfrm>
          <a:prstGeom prst="homePlate">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1000" b="1">
                <a:solidFill>
                  <a:srgbClr val="333333"/>
                </a:solidFill>
                <a:latin typeface="メイリオ"/>
                <a:ea typeface="メイリオ"/>
                <a:cs typeface="メイリオ"/>
              </a:rPr>
              <a:t>①接触</a:t>
            </a:r>
          </a:p>
        </p:txBody>
      </p:sp>
      <p:sp>
        <p:nvSpPr>
          <p:cNvPr id="50" name="Chevron 49"/>
          <p:cNvSpPr/>
          <p:nvPr/>
        </p:nvSpPr>
        <p:spPr>
          <a:xfrm>
            <a:off x="1569150" y="1818000"/>
            <a:ext cx="1083150" cy="396000"/>
          </a:xfrm>
          <a:prstGeom prst="chevron">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1000" b="1">
                <a:solidFill>
                  <a:srgbClr val="333333"/>
                </a:solidFill>
                <a:latin typeface="メイリオ"/>
                <a:ea typeface="メイリオ"/>
                <a:cs typeface="メイリオ"/>
              </a:rPr>
              <a:t>②離脱</a:t>
            </a:r>
          </a:p>
        </p:txBody>
      </p:sp>
      <p:sp>
        <p:nvSpPr>
          <p:cNvPr id="51" name="Chevron 50"/>
          <p:cNvSpPr/>
          <p:nvPr/>
        </p:nvSpPr>
        <p:spPr>
          <a:xfrm>
            <a:off x="2706300" y="1818000"/>
            <a:ext cx="1083150" cy="396000"/>
          </a:xfrm>
          <a:prstGeom prst="chevron">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1000" b="1">
                <a:solidFill>
                  <a:srgbClr val="333333"/>
                </a:solidFill>
                <a:latin typeface="メイリオ"/>
                <a:ea typeface="メイリオ"/>
                <a:cs typeface="メイリオ"/>
              </a:rPr>
              <a:t>③興味喚起</a:t>
            </a:r>
          </a:p>
        </p:txBody>
      </p:sp>
      <p:sp>
        <p:nvSpPr>
          <p:cNvPr id="52" name="Chevron 51"/>
          <p:cNvSpPr/>
          <p:nvPr/>
        </p:nvSpPr>
        <p:spPr>
          <a:xfrm>
            <a:off x="3843450" y="1818000"/>
            <a:ext cx="1083150" cy="396000"/>
          </a:xfrm>
          <a:prstGeom prst="chevron">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1000" b="1">
                <a:solidFill>
                  <a:srgbClr val="333333"/>
                </a:solidFill>
                <a:latin typeface="メイリオ"/>
                <a:ea typeface="メイリオ"/>
                <a:cs typeface="メイリオ"/>
              </a:rPr>
              <a:t>④友だち追加</a:t>
            </a:r>
          </a:p>
        </p:txBody>
      </p:sp>
      <p:sp>
        <p:nvSpPr>
          <p:cNvPr id="53" name="Chevron 52"/>
          <p:cNvSpPr/>
          <p:nvPr/>
        </p:nvSpPr>
        <p:spPr>
          <a:xfrm>
            <a:off x="4980600" y="1818000"/>
            <a:ext cx="1083150" cy="396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1000" b="1">
                <a:solidFill>
                  <a:srgbClr val="FFFFFF"/>
                </a:solidFill>
                <a:latin typeface="メイリオ"/>
                <a:ea typeface="メイリオ"/>
                <a:cs typeface="メイリオ"/>
              </a:rPr>
              <a:t>⑤面談</a:t>
            </a:r>
          </a:p>
        </p:txBody>
      </p:sp>
      <p:sp>
        <p:nvSpPr>
          <p:cNvPr id="54" name="Chevron 53"/>
          <p:cNvSpPr/>
          <p:nvPr/>
        </p:nvSpPr>
        <p:spPr>
          <a:xfrm>
            <a:off x="6117749" y="1818000"/>
            <a:ext cx="1083150" cy="396000"/>
          </a:xfrm>
          <a:prstGeom prst="chevron">
            <a:avLst/>
          </a:prstGeom>
          <a:solidFill>
            <a:srgbClr val="BDD7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1000" b="1">
                <a:solidFill>
                  <a:srgbClr val="333333"/>
                </a:solidFill>
                <a:latin typeface="メイリオ"/>
                <a:ea typeface="メイリオ"/>
                <a:cs typeface="メイリオ"/>
              </a:rPr>
              <a:t>⑥求人紹介</a:t>
            </a:r>
          </a:p>
        </p:txBody>
      </p:sp>
      <p:sp>
        <p:nvSpPr>
          <p:cNvPr id="55" name="Chevron 54"/>
          <p:cNvSpPr/>
          <p:nvPr/>
        </p:nvSpPr>
        <p:spPr>
          <a:xfrm>
            <a:off x="7254900" y="1818000"/>
            <a:ext cx="1083150" cy="396000"/>
          </a:xfrm>
          <a:prstGeom prst="chevron">
            <a:avLst/>
          </a:prstGeom>
          <a:solidFill>
            <a:srgbClr val="BDD7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1000" b="1">
                <a:solidFill>
                  <a:srgbClr val="333333"/>
                </a:solidFill>
                <a:latin typeface="メイリオ"/>
                <a:ea typeface="メイリオ"/>
                <a:cs typeface="メイリオ"/>
              </a:rPr>
              <a:t>⑦内定承諾</a:t>
            </a:r>
          </a:p>
        </p:txBody>
      </p:sp>
      <p:sp>
        <p:nvSpPr>
          <p:cNvPr id="56" name="Chevron 55"/>
          <p:cNvSpPr/>
          <p:nvPr/>
        </p:nvSpPr>
        <p:spPr>
          <a:xfrm>
            <a:off x="8392050" y="1818000"/>
            <a:ext cx="1083150" cy="396000"/>
          </a:xfrm>
          <a:prstGeom prst="chevron">
            <a:avLst/>
          </a:prstGeom>
          <a:solidFill>
            <a:srgbClr val="BDD7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1000" b="1">
                <a:solidFill>
                  <a:srgbClr val="333333"/>
                </a:solidFill>
                <a:latin typeface="メイリオ"/>
                <a:ea typeface="メイリオ"/>
                <a:cs typeface="メイリオ"/>
              </a:rPr>
              <a:t>⑧定着・紹介</a:t>
            </a:r>
          </a:p>
        </p:txBody>
      </p:sp>
      <p:sp>
        <p:nvSpPr>
          <p:cNvPr id="57" name="Rectangle 56"/>
          <p:cNvSpPr/>
          <p:nvPr/>
        </p:nvSpPr>
        <p:spPr>
          <a:xfrm>
            <a:off x="432000" y="2286000"/>
            <a:ext cx="2160000" cy="19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000" b="1">
                <a:solidFill>
                  <a:srgbClr val="7F7F7F"/>
                </a:solidFill>
                <a:latin typeface="メイリオ"/>
                <a:ea typeface="メイリオ"/>
                <a:cs typeface="メイリオ"/>
              </a:rPr>
              <a:t>ユーザーの状態</a:t>
            </a:r>
          </a:p>
        </p:txBody>
      </p:sp>
      <p:sp>
        <p:nvSpPr>
          <p:cNvPr id="58" name="Rectangle 57"/>
          <p:cNvSpPr/>
          <p:nvPr/>
        </p:nvSpPr>
        <p:spPr>
          <a:xfrm>
            <a:off x="432000" y="3438000"/>
            <a:ext cx="2160000" cy="19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000" b="1">
                <a:solidFill>
                  <a:srgbClr val="7F7F7F"/>
                </a:solidFill>
                <a:latin typeface="メイリオ"/>
                <a:ea typeface="メイリオ"/>
                <a:cs typeface="メイリオ"/>
              </a:rPr>
              <a:t>LINEの施策</a:t>
            </a:r>
          </a:p>
        </p:txBody>
      </p:sp>
      <p:sp>
        <p:nvSpPr>
          <p:cNvPr id="59" name="Rounded Rectangle 58"/>
          <p:cNvSpPr/>
          <p:nvPr/>
        </p:nvSpPr>
        <p:spPr>
          <a:xfrm>
            <a:off x="43200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0">
                <a:solidFill>
                  <a:srgbClr val="333333"/>
                </a:solidFill>
                <a:latin typeface="メイリオ"/>
                <a:ea typeface="メイリオ"/>
                <a:cs typeface="メイリオ"/>
              </a:rPr>
              <a:t>年収・職種が気になり検索する</a:t>
            </a:r>
          </a:p>
        </p:txBody>
      </p:sp>
      <p:sp>
        <p:nvSpPr>
          <p:cNvPr id="60" name="Rounded Rectangle 59"/>
          <p:cNvSpPr/>
          <p:nvPr/>
        </p:nvSpPr>
        <p:spPr>
          <a:xfrm>
            <a:off x="432000"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50" b="1">
                <a:solidFill>
                  <a:srgbClr val="1F285A"/>
                </a:solidFill>
                <a:latin typeface="メイリオ"/>
                <a:ea typeface="メイリオ"/>
                <a:cs typeface="メイリオ"/>
              </a:rPr>
              <a:t>CPF広告（Meta予算を転用）</a:t>
            </a:r>
          </a:p>
        </p:txBody>
      </p:sp>
      <p:sp>
        <p:nvSpPr>
          <p:cNvPr id="61" name="Rounded Rectangle 60"/>
          <p:cNvSpPr/>
          <p:nvPr/>
        </p:nvSpPr>
        <p:spPr>
          <a:xfrm>
            <a:off x="156915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0">
                <a:solidFill>
                  <a:srgbClr val="333333"/>
                </a:solidFill>
                <a:latin typeface="メイリオ"/>
                <a:ea typeface="メイリオ"/>
                <a:cs typeface="メイリオ"/>
              </a:rPr>
              <a:t>応募はまだ。そのまま帰る</a:t>
            </a:r>
          </a:p>
        </p:txBody>
      </p:sp>
      <p:sp>
        <p:nvSpPr>
          <p:cNvPr id="62" name="Rounded Rectangle 61"/>
          <p:cNvSpPr/>
          <p:nvPr/>
        </p:nvSpPr>
        <p:spPr>
          <a:xfrm>
            <a:off x="1569150"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50" b="1">
                <a:solidFill>
                  <a:srgbClr val="1F285A"/>
                </a:solidFill>
                <a:latin typeface="メイリオ"/>
                <a:ea typeface="メイリオ"/>
                <a:cs typeface="メイリオ"/>
              </a:rPr>
              <a:t>離脱防止ポップアップ</a:t>
            </a:r>
          </a:p>
        </p:txBody>
      </p:sp>
      <p:sp>
        <p:nvSpPr>
          <p:cNvPr id="63" name="Rounded Rectangle 62"/>
          <p:cNvSpPr/>
          <p:nvPr/>
        </p:nvSpPr>
        <p:spPr>
          <a:xfrm>
            <a:off x="270630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0">
                <a:solidFill>
                  <a:srgbClr val="333333"/>
                </a:solidFill>
                <a:latin typeface="メイリオ"/>
                <a:ea typeface="メイリオ"/>
                <a:cs typeface="メイリオ"/>
              </a:rPr>
              <a:t>年収・働き方を知りたい</a:t>
            </a:r>
          </a:p>
        </p:txBody>
      </p:sp>
      <p:sp>
        <p:nvSpPr>
          <p:cNvPr id="64" name="Rounded Rectangle 63"/>
          <p:cNvSpPr/>
          <p:nvPr/>
        </p:nvSpPr>
        <p:spPr>
          <a:xfrm>
            <a:off x="2706300"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50" b="1">
                <a:solidFill>
                  <a:srgbClr val="1F285A"/>
                </a:solidFill>
                <a:latin typeface="メイリオ"/>
                <a:ea typeface="メイリオ"/>
                <a:cs typeface="メイリオ"/>
              </a:rPr>
              <a:t>年収相場・職種図鑑の配信</a:t>
            </a:r>
          </a:p>
        </p:txBody>
      </p:sp>
      <p:sp>
        <p:nvSpPr>
          <p:cNvPr id="65" name="Rounded Rectangle 64"/>
          <p:cNvSpPr/>
          <p:nvPr/>
        </p:nvSpPr>
        <p:spPr>
          <a:xfrm>
            <a:off x="384345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0">
                <a:solidFill>
                  <a:srgbClr val="333333"/>
                </a:solidFill>
                <a:latin typeface="メイリオ"/>
                <a:ea typeface="メイリオ"/>
                <a:cs typeface="メイリオ"/>
              </a:rPr>
              <a:t>30秒の診断なら答える</a:t>
            </a:r>
          </a:p>
        </p:txBody>
      </p:sp>
      <p:sp>
        <p:nvSpPr>
          <p:cNvPr id="66" name="Rounded Rectangle 65"/>
          <p:cNvSpPr/>
          <p:nvPr/>
        </p:nvSpPr>
        <p:spPr>
          <a:xfrm>
            <a:off x="3843450"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50" b="1">
                <a:solidFill>
                  <a:srgbClr val="1F285A"/>
                </a:solidFill>
                <a:latin typeface="メイリオ"/>
                <a:ea typeface="メイリオ"/>
                <a:cs typeface="メイリオ"/>
              </a:rPr>
              <a:t>あいさつ＋30秒適職診断</a:t>
            </a:r>
          </a:p>
        </p:txBody>
      </p:sp>
      <p:sp>
        <p:nvSpPr>
          <p:cNvPr id="67" name="Rounded Rectangle 66"/>
          <p:cNvSpPr/>
          <p:nvPr/>
        </p:nvSpPr>
        <p:spPr>
          <a:xfrm>
            <a:off x="498060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0">
                <a:solidFill>
                  <a:srgbClr val="333333"/>
                </a:solidFill>
                <a:latin typeface="メイリオ"/>
                <a:ea typeface="メイリオ"/>
                <a:cs typeface="メイリオ"/>
              </a:rPr>
              <a:t>電話は無理。夜なら話せる</a:t>
            </a:r>
          </a:p>
        </p:txBody>
      </p:sp>
      <p:sp>
        <p:nvSpPr>
          <p:cNvPr id="68" name="Rounded Rectangle 67"/>
          <p:cNvSpPr/>
          <p:nvPr/>
        </p:nvSpPr>
        <p:spPr>
          <a:xfrm>
            <a:off x="4980600" y="3636000"/>
            <a:ext cx="1083150" cy="108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50" b="1">
                <a:solidFill>
                  <a:srgbClr val="FFFFFF"/>
                </a:solidFill>
                <a:latin typeface="メイリオ"/>
                <a:ea typeface="メイリオ"/>
                <a:cs typeface="メイリオ"/>
              </a:rPr>
              <a:t>LINEで面談予約＋前日リマインド</a:t>
            </a:r>
          </a:p>
        </p:txBody>
      </p:sp>
      <p:sp>
        <p:nvSpPr>
          <p:cNvPr id="69" name="Rounded Rectangle 68"/>
          <p:cNvSpPr/>
          <p:nvPr/>
        </p:nvSpPr>
        <p:spPr>
          <a:xfrm>
            <a:off x="6117749"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0">
                <a:solidFill>
                  <a:srgbClr val="333333"/>
                </a:solidFill>
                <a:latin typeface="メイリオ"/>
                <a:ea typeface="メイリオ"/>
                <a:cs typeface="メイリオ"/>
              </a:rPr>
              <a:t>自分に合う求人か見極めたい</a:t>
            </a:r>
          </a:p>
        </p:txBody>
      </p:sp>
      <p:sp>
        <p:nvSpPr>
          <p:cNvPr id="70" name="Rounded Rectangle 69"/>
          <p:cNvSpPr/>
          <p:nvPr/>
        </p:nvSpPr>
        <p:spPr>
          <a:xfrm>
            <a:off x="6117749"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50" b="1">
                <a:solidFill>
                  <a:srgbClr val="1F285A"/>
                </a:solidFill>
                <a:latin typeface="メイリオ"/>
                <a:ea typeface="メイリオ"/>
                <a:cs typeface="メイリオ"/>
              </a:rPr>
              <a:t>地域別の求人ピックアップ</a:t>
            </a:r>
          </a:p>
        </p:txBody>
      </p:sp>
      <p:sp>
        <p:nvSpPr>
          <p:cNvPr id="71" name="Rounded Rectangle 70"/>
          <p:cNvSpPr/>
          <p:nvPr/>
        </p:nvSpPr>
        <p:spPr>
          <a:xfrm>
            <a:off x="725490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0">
                <a:solidFill>
                  <a:srgbClr val="333333"/>
                </a:solidFill>
                <a:latin typeface="メイリオ"/>
                <a:ea typeface="メイリオ"/>
                <a:cs typeface="メイリオ"/>
              </a:rPr>
              <a:t>本当にこの会社でいいか不安</a:t>
            </a:r>
          </a:p>
        </p:txBody>
      </p:sp>
      <p:sp>
        <p:nvSpPr>
          <p:cNvPr id="72" name="Rounded Rectangle 71"/>
          <p:cNvSpPr/>
          <p:nvPr/>
        </p:nvSpPr>
        <p:spPr>
          <a:xfrm>
            <a:off x="7254900"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50" b="1">
                <a:solidFill>
                  <a:srgbClr val="1F285A"/>
                </a:solidFill>
                <a:latin typeface="メイリオ"/>
                <a:ea typeface="メイリオ"/>
                <a:cs typeface="メイリオ"/>
              </a:rPr>
              <a:t>不安に即答する自動応答・体験談</a:t>
            </a:r>
          </a:p>
        </p:txBody>
      </p:sp>
      <p:sp>
        <p:nvSpPr>
          <p:cNvPr id="73" name="Rounded Rectangle 72"/>
          <p:cNvSpPr/>
          <p:nvPr/>
        </p:nvSpPr>
        <p:spPr>
          <a:xfrm>
            <a:off x="839205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0">
                <a:solidFill>
                  <a:srgbClr val="333333"/>
                </a:solidFill>
                <a:latin typeface="メイリオ"/>
                <a:ea typeface="メイリオ"/>
                <a:cs typeface="メイリオ"/>
              </a:rPr>
              <a:t>入社後のギャップが不安</a:t>
            </a:r>
          </a:p>
        </p:txBody>
      </p:sp>
      <p:sp>
        <p:nvSpPr>
          <p:cNvPr id="74" name="Rounded Rectangle 73"/>
          <p:cNvSpPr/>
          <p:nvPr/>
        </p:nvSpPr>
        <p:spPr>
          <a:xfrm>
            <a:off x="8392050"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50" b="1">
                <a:solidFill>
                  <a:srgbClr val="1F285A"/>
                </a:solidFill>
                <a:latin typeface="メイリオ"/>
                <a:ea typeface="メイリオ"/>
                <a:cs typeface="メイリオ"/>
              </a:rPr>
              <a:t>定着フォロー・友だち紹介</a:t>
            </a:r>
          </a:p>
        </p:txBody>
      </p:sp>
      <p:sp>
        <p:nvSpPr>
          <p:cNvPr id="75" name="Rounded Rectangle 74"/>
          <p:cNvSpPr/>
          <p:nvPr/>
        </p:nvSpPr>
        <p:spPr>
          <a:xfrm>
            <a:off x="432000" y="49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300" b="1">
                <a:solidFill>
                  <a:srgbClr val="FFFFFF"/>
                </a:solidFill>
                <a:latin typeface="メイリオ"/>
                <a:ea typeface="メイリオ"/>
                <a:cs typeface="メイリオ"/>
              </a:rPr>
              <a:t>①〜④で友だちにし、⑤面談を成果（CV）に。⑥〜⑧も同じLINEで就業・定着まで運ぶ。</a:t>
            </a:r>
          </a:p>
        </p:txBody>
      </p:sp>
      <p:sp>
        <p:nvSpPr>
          <p:cNvPr id="76" name="Rectangle 75"/>
          <p:cNvSpPr/>
          <p:nvPr/>
        </p:nvSpPr>
        <p:spPr>
          <a:xfrm>
            <a:off x="432000" y="5400000"/>
            <a:ext cx="9036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950" b="0">
                <a:solidFill>
                  <a:srgbClr val="7F7F7F"/>
                </a:solidFill>
                <a:latin typeface="メイリオ"/>
                <a:ea typeface="メイリオ"/>
                <a:cs typeface="メイリオ"/>
              </a:rPr>
              <a:t>※ 各フェーズの具体策は、改善モデル①〜④（P40〜43）</a:t>
            </a:r>
          </a:p>
        </p:txBody>
      </p:sp>
    </p:spTree>
    <p:extLst>
      <p:ext uri="{BB962C8B-B14F-4D97-AF65-F5344CB8AC3E}">
        <p14:creationId xmlns:p14="http://schemas.microsoft.com/office/powerpoint/2010/main" val="507335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施策の考え方｜どこでLINEにつなぐか（3パターン）</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l"/>
            <a:r>
              <a:rPr sz="1300" b="0">
                <a:solidFill>
                  <a:srgbClr val="333333"/>
                </a:solidFill>
                <a:latin typeface="メイリオ"/>
                <a:ea typeface="メイリオ"/>
                <a:cs typeface="メイリオ"/>
              </a:rPr>
              <a:t>LINEにつなぐ地点で、3つの型に分かれます。</a:t>
            </a:r>
          </a:p>
          <a:p>
            <a:pPr algn="l"/>
            <a:r>
              <a:rPr sz="1300" b="0">
                <a:solidFill>
                  <a:srgbClr val="333333"/>
                </a:solidFill>
                <a:latin typeface="メイリオ"/>
                <a:ea typeface="メイリオ"/>
                <a:cs typeface="メイリオ"/>
              </a:rPr>
              <a:t>チェングロウスは「電話なしで面談まで進める」B 日程調整型が本命です。</a:t>
            </a:r>
          </a:p>
        </p:txBody>
      </p:sp>
      <p:sp>
        <p:nvSpPr>
          <p:cNvPr id="47" name="Rounded Rectangle 46"/>
          <p:cNvSpPr/>
          <p:nvPr/>
        </p:nvSpPr>
        <p:spPr>
          <a:xfrm>
            <a:off x="432000" y="1548000"/>
            <a:ext cx="9043200" cy="1278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48" name="Rounded Rectangle 47"/>
          <p:cNvSpPr/>
          <p:nvPr/>
        </p:nvSpPr>
        <p:spPr>
          <a:xfrm>
            <a:off x="522000" y="1655999"/>
            <a:ext cx="1440000" cy="1062000"/>
          </a:xfrm>
          <a:prstGeom prst="roundRect">
            <a:avLst>
              <a:gd name="adj" fmla="val 8000"/>
            </a:avLst>
          </a:prstGeom>
          <a:solidFill>
            <a:srgbClr val="5A6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100" b="1">
                <a:solidFill>
                  <a:srgbClr val="FFFFFF"/>
                </a:solidFill>
                <a:latin typeface="メイリオ"/>
                <a:ea typeface="メイリオ"/>
                <a:cs typeface="メイリオ"/>
              </a:rPr>
              <a:t>パターンA</a:t>
            </a:r>
          </a:p>
          <a:p>
            <a:pPr algn="ctr"/>
            <a:r>
              <a:rPr sz="1300" b="1">
                <a:solidFill>
                  <a:srgbClr val="FFFFFF"/>
                </a:solidFill>
                <a:latin typeface="メイリオ"/>
                <a:ea typeface="メイリオ"/>
                <a:cs typeface="メイリオ"/>
              </a:rPr>
              <a:t>会員登録型</a:t>
            </a:r>
          </a:p>
        </p:txBody>
      </p:sp>
      <p:sp>
        <p:nvSpPr>
          <p:cNvPr id="49" name="Rounded Rectangle 48"/>
          <p:cNvSpPr/>
          <p:nvPr/>
        </p:nvSpPr>
        <p:spPr>
          <a:xfrm>
            <a:off x="2070000" y="1673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1">
                <a:solidFill>
                  <a:srgbClr val="333333"/>
                </a:solidFill>
                <a:latin typeface="メイリオ"/>
                <a:ea typeface="メイリオ"/>
                <a:cs typeface="メイリオ"/>
              </a:rPr>
              <a:t>求人応募・登録</a:t>
            </a:r>
          </a:p>
        </p:txBody>
      </p:sp>
      <p:cxnSp>
        <p:nvCxnSpPr>
          <p:cNvPr id="50" name="Connector 49"/>
          <p:cNvCxnSpPr/>
          <p:nvPr/>
        </p:nvCxnSpPr>
        <p:spPr>
          <a:xfrm>
            <a:off x="3103199" y="1897199"/>
            <a:ext cx="111601"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3221999" y="1673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1">
                <a:solidFill>
                  <a:srgbClr val="333333"/>
                </a:solidFill>
                <a:latin typeface="メイリオ"/>
                <a:ea typeface="メイリオ"/>
                <a:cs typeface="メイリオ"/>
              </a:rPr>
              <a:t>面談</a:t>
            </a:r>
          </a:p>
        </p:txBody>
      </p:sp>
      <p:cxnSp>
        <p:nvCxnSpPr>
          <p:cNvPr id="52" name="Connector 51"/>
          <p:cNvCxnSpPr/>
          <p:nvPr/>
        </p:nvCxnSpPr>
        <p:spPr>
          <a:xfrm>
            <a:off x="4255199" y="1897199"/>
            <a:ext cx="111601"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4374000" y="1673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1">
                <a:solidFill>
                  <a:srgbClr val="333333"/>
                </a:solidFill>
                <a:latin typeface="メイリオ"/>
                <a:ea typeface="メイリオ"/>
                <a:cs typeface="メイリオ"/>
              </a:rPr>
              <a:t>求人紹介</a:t>
            </a:r>
          </a:p>
        </p:txBody>
      </p:sp>
      <p:cxnSp>
        <p:nvCxnSpPr>
          <p:cNvPr id="54" name="Connector 53"/>
          <p:cNvCxnSpPr/>
          <p:nvPr/>
        </p:nvCxnSpPr>
        <p:spPr>
          <a:xfrm>
            <a:off x="5407200" y="1897199"/>
            <a:ext cx="111600"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5526000" y="1673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1">
                <a:solidFill>
                  <a:srgbClr val="333333"/>
                </a:solidFill>
                <a:latin typeface="メイリオ"/>
                <a:ea typeface="メイリオ"/>
                <a:cs typeface="メイリオ"/>
              </a:rPr>
              <a:t>内定・就業</a:t>
            </a:r>
          </a:p>
        </p:txBody>
      </p:sp>
      <p:sp>
        <p:nvSpPr>
          <p:cNvPr id="56" name="Rectangle 55"/>
          <p:cNvSpPr/>
          <p:nvPr/>
        </p:nvSpPr>
        <p:spPr>
          <a:xfrm>
            <a:off x="2070000" y="2196000"/>
            <a:ext cx="4464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l"/>
            <a:r>
              <a:rPr sz="1050" b="0">
                <a:solidFill>
                  <a:srgbClr val="333333"/>
                </a:solidFill>
                <a:latin typeface="メイリオ"/>
                <a:ea typeface="メイリオ"/>
                <a:cs typeface="メイリオ"/>
              </a:rPr>
              <a:t>友だち化を早く済ませ、休眠層に再アプローチできる</a:t>
            </a:r>
          </a:p>
        </p:txBody>
      </p:sp>
      <p:sp>
        <p:nvSpPr>
          <p:cNvPr id="57" name="Rounded Rectangle 56"/>
          <p:cNvSpPr/>
          <p:nvPr/>
        </p:nvSpPr>
        <p:spPr>
          <a:xfrm>
            <a:off x="6750000" y="1655999"/>
            <a:ext cx="2628000" cy="106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050" b="1">
                <a:solidFill>
                  <a:srgbClr val="1F285A"/>
                </a:solidFill>
                <a:latin typeface="メイリオ"/>
                <a:ea typeface="メイリオ"/>
                <a:cs typeface="メイリオ"/>
              </a:rPr>
              <a:t>求人応募の完了画面からLINEへ（サンクスLINE誘導）</a:t>
            </a:r>
          </a:p>
        </p:txBody>
      </p:sp>
      <p:sp>
        <p:nvSpPr>
          <p:cNvPr id="58" name="Rounded Rectangle 57"/>
          <p:cNvSpPr/>
          <p:nvPr/>
        </p:nvSpPr>
        <p:spPr>
          <a:xfrm>
            <a:off x="432000" y="2916000"/>
            <a:ext cx="9043200" cy="1278000"/>
          </a:xfrm>
          <a:prstGeom prst="roundRect">
            <a:avLst>
              <a:gd name="adj" fmla="val 8000"/>
            </a:avLst>
          </a:prstGeom>
          <a:solidFill>
            <a:srgbClr val="FFFFFF"/>
          </a:solidFill>
          <a:ln w="3175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59" name="Rounded Rectangle 58"/>
          <p:cNvSpPr/>
          <p:nvPr/>
        </p:nvSpPr>
        <p:spPr>
          <a:xfrm>
            <a:off x="522000" y="3024000"/>
            <a:ext cx="1440000" cy="106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100" b="1">
                <a:solidFill>
                  <a:srgbClr val="FFFFFF"/>
                </a:solidFill>
                <a:latin typeface="メイリオ"/>
                <a:ea typeface="メイリオ"/>
                <a:cs typeface="メイリオ"/>
              </a:rPr>
              <a:t>パターンB ★本命</a:t>
            </a:r>
          </a:p>
          <a:p>
            <a:pPr algn="ctr"/>
            <a:r>
              <a:rPr sz="1300" b="1">
                <a:solidFill>
                  <a:srgbClr val="FFFFFF"/>
                </a:solidFill>
                <a:latin typeface="メイリオ"/>
                <a:ea typeface="メイリオ"/>
                <a:cs typeface="メイリオ"/>
              </a:rPr>
              <a:t>日程調整型</a:t>
            </a:r>
          </a:p>
        </p:txBody>
      </p:sp>
      <p:sp>
        <p:nvSpPr>
          <p:cNvPr id="60" name="Rounded Rectangle 59"/>
          <p:cNvSpPr/>
          <p:nvPr/>
        </p:nvSpPr>
        <p:spPr>
          <a:xfrm>
            <a:off x="2070000" y="3041999"/>
            <a:ext cx="1026000" cy="450000"/>
          </a:xfrm>
          <a:prstGeom prst="roundRect">
            <a:avLst>
              <a:gd name="adj" fmla="val 8000"/>
            </a:avLst>
          </a:prstGeom>
          <a:solidFill>
            <a:srgbClr val="FFE6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1">
                <a:solidFill>
                  <a:srgbClr val="333333"/>
                </a:solidFill>
                <a:latin typeface="メイリオ"/>
                <a:ea typeface="メイリオ"/>
                <a:cs typeface="メイリオ"/>
              </a:rPr>
              <a:t>30秒診断（LINE）</a:t>
            </a:r>
          </a:p>
        </p:txBody>
      </p:sp>
      <p:cxnSp>
        <p:nvCxnSpPr>
          <p:cNvPr id="61" name="Connector 60"/>
          <p:cNvCxnSpPr/>
          <p:nvPr/>
        </p:nvCxnSpPr>
        <p:spPr>
          <a:xfrm>
            <a:off x="3103199" y="3265200"/>
            <a:ext cx="111601"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3221999" y="3041999"/>
            <a:ext cx="1026000" cy="450000"/>
          </a:xfrm>
          <a:prstGeom prst="roundRect">
            <a:avLst>
              <a:gd name="adj" fmla="val 8000"/>
            </a:avLst>
          </a:prstGeom>
          <a:solidFill>
            <a:srgbClr val="FFE6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1">
                <a:solidFill>
                  <a:srgbClr val="333333"/>
                </a:solidFill>
                <a:latin typeface="メイリオ"/>
                <a:ea typeface="メイリオ"/>
                <a:cs typeface="メイリオ"/>
              </a:rPr>
              <a:t>LINEで面談予約</a:t>
            </a:r>
          </a:p>
        </p:txBody>
      </p:sp>
      <p:cxnSp>
        <p:nvCxnSpPr>
          <p:cNvPr id="63" name="Connector 62"/>
          <p:cNvCxnSpPr/>
          <p:nvPr/>
        </p:nvCxnSpPr>
        <p:spPr>
          <a:xfrm>
            <a:off x="4255199" y="3265200"/>
            <a:ext cx="111601"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4374000" y="3041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1">
                <a:solidFill>
                  <a:srgbClr val="333333"/>
                </a:solidFill>
                <a:latin typeface="メイリオ"/>
                <a:ea typeface="メイリオ"/>
                <a:cs typeface="メイリオ"/>
              </a:rPr>
              <a:t>面談・求人紹介</a:t>
            </a:r>
          </a:p>
        </p:txBody>
      </p:sp>
      <p:cxnSp>
        <p:nvCxnSpPr>
          <p:cNvPr id="65" name="Connector 64"/>
          <p:cNvCxnSpPr/>
          <p:nvPr/>
        </p:nvCxnSpPr>
        <p:spPr>
          <a:xfrm>
            <a:off x="5407200" y="3265200"/>
            <a:ext cx="111600"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5526000" y="3041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1">
                <a:solidFill>
                  <a:srgbClr val="333333"/>
                </a:solidFill>
                <a:latin typeface="メイリオ"/>
                <a:ea typeface="メイリオ"/>
                <a:cs typeface="メイリオ"/>
              </a:rPr>
              <a:t>内定・就業</a:t>
            </a:r>
          </a:p>
        </p:txBody>
      </p:sp>
      <p:sp>
        <p:nvSpPr>
          <p:cNvPr id="67" name="Rectangle 66"/>
          <p:cNvSpPr/>
          <p:nvPr/>
        </p:nvSpPr>
        <p:spPr>
          <a:xfrm>
            <a:off x="2070000" y="3564000"/>
            <a:ext cx="4464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l"/>
            <a:r>
              <a:rPr sz="1050" b="0">
                <a:solidFill>
                  <a:srgbClr val="333333"/>
                </a:solidFill>
                <a:latin typeface="メイリオ"/>
                <a:ea typeface="メイリオ"/>
                <a:cs typeface="メイリオ"/>
              </a:rPr>
              <a:t>電話なしで面談まで進める。在職中の整備士に合う</a:t>
            </a:r>
          </a:p>
        </p:txBody>
      </p:sp>
      <p:sp>
        <p:nvSpPr>
          <p:cNvPr id="68" name="Rounded Rectangle 67"/>
          <p:cNvSpPr/>
          <p:nvPr/>
        </p:nvSpPr>
        <p:spPr>
          <a:xfrm>
            <a:off x="6750000" y="3024000"/>
            <a:ext cx="2628000" cy="106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050" b="1">
                <a:solidFill>
                  <a:srgbClr val="1F285A"/>
                </a:solidFill>
                <a:latin typeface="メイリオ"/>
                <a:ea typeface="メイリオ"/>
                <a:cs typeface="メイリオ"/>
              </a:rPr>
              <a:t>本提案の主軸（3日目・14日目に面談をご案内）</a:t>
            </a:r>
          </a:p>
        </p:txBody>
      </p:sp>
      <p:sp>
        <p:nvSpPr>
          <p:cNvPr id="69" name="Rounded Rectangle 68"/>
          <p:cNvSpPr/>
          <p:nvPr/>
        </p:nvSpPr>
        <p:spPr>
          <a:xfrm>
            <a:off x="432000" y="4283999"/>
            <a:ext cx="9043200" cy="1278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70" name="Rounded Rectangle 69"/>
          <p:cNvSpPr/>
          <p:nvPr/>
        </p:nvSpPr>
        <p:spPr>
          <a:xfrm>
            <a:off x="522000" y="4392000"/>
            <a:ext cx="1440000" cy="1062000"/>
          </a:xfrm>
          <a:prstGeom prst="roundRect">
            <a:avLst>
              <a:gd name="adj" fmla="val 8000"/>
            </a:avLst>
          </a:prstGeom>
          <a:solidFill>
            <a:srgbClr val="5A6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100" b="1">
                <a:solidFill>
                  <a:srgbClr val="FFFFFF"/>
                </a:solidFill>
                <a:latin typeface="メイリオ"/>
                <a:ea typeface="メイリオ"/>
                <a:cs typeface="メイリオ"/>
              </a:rPr>
              <a:t>パターンC</a:t>
            </a:r>
          </a:p>
          <a:p>
            <a:pPr algn="ctr"/>
            <a:r>
              <a:rPr sz="1300" b="1">
                <a:solidFill>
                  <a:srgbClr val="FFFFFF"/>
                </a:solidFill>
                <a:latin typeface="メイリオ"/>
                <a:ea typeface="メイリオ"/>
                <a:cs typeface="メイリオ"/>
              </a:rPr>
              <a:t>LINE内完結型</a:t>
            </a:r>
          </a:p>
        </p:txBody>
      </p:sp>
      <p:sp>
        <p:nvSpPr>
          <p:cNvPr id="71" name="Rounded Rectangle 70"/>
          <p:cNvSpPr/>
          <p:nvPr/>
        </p:nvSpPr>
        <p:spPr>
          <a:xfrm>
            <a:off x="2070000" y="4409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1">
                <a:solidFill>
                  <a:srgbClr val="333333"/>
                </a:solidFill>
                <a:latin typeface="メイリオ"/>
                <a:ea typeface="メイリオ"/>
                <a:cs typeface="メイリオ"/>
              </a:rPr>
              <a:t>診断（LINE）</a:t>
            </a:r>
          </a:p>
        </p:txBody>
      </p:sp>
      <p:cxnSp>
        <p:nvCxnSpPr>
          <p:cNvPr id="72" name="Connector 71"/>
          <p:cNvCxnSpPr/>
          <p:nvPr/>
        </p:nvCxnSpPr>
        <p:spPr>
          <a:xfrm>
            <a:off x="3103199" y="4633200"/>
            <a:ext cx="111601"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3221999" y="4409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1">
                <a:solidFill>
                  <a:srgbClr val="333333"/>
                </a:solidFill>
                <a:latin typeface="メイリオ"/>
                <a:ea typeface="メイリオ"/>
                <a:cs typeface="メイリオ"/>
              </a:rPr>
              <a:t>LINE内で求人紹介</a:t>
            </a:r>
          </a:p>
        </p:txBody>
      </p:sp>
      <p:cxnSp>
        <p:nvCxnSpPr>
          <p:cNvPr id="74" name="Connector 73"/>
          <p:cNvCxnSpPr/>
          <p:nvPr/>
        </p:nvCxnSpPr>
        <p:spPr>
          <a:xfrm>
            <a:off x="4255199" y="4633200"/>
            <a:ext cx="111601"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4374000" y="4409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1">
                <a:solidFill>
                  <a:srgbClr val="333333"/>
                </a:solidFill>
                <a:latin typeface="メイリオ"/>
                <a:ea typeface="メイリオ"/>
                <a:cs typeface="メイリオ"/>
              </a:rPr>
              <a:t>興味があれば面談</a:t>
            </a:r>
          </a:p>
        </p:txBody>
      </p:sp>
      <p:cxnSp>
        <p:nvCxnSpPr>
          <p:cNvPr id="76" name="Connector 75"/>
          <p:cNvCxnSpPr/>
          <p:nvPr/>
        </p:nvCxnSpPr>
        <p:spPr>
          <a:xfrm>
            <a:off x="5407200" y="4633200"/>
            <a:ext cx="111600"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77" name="Rounded Rectangle 76"/>
          <p:cNvSpPr/>
          <p:nvPr/>
        </p:nvSpPr>
        <p:spPr>
          <a:xfrm>
            <a:off x="5526000" y="4409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000" b="1">
                <a:solidFill>
                  <a:srgbClr val="333333"/>
                </a:solidFill>
                <a:latin typeface="メイリオ"/>
                <a:ea typeface="メイリオ"/>
                <a:cs typeface="メイリオ"/>
              </a:rPr>
              <a:t>内定・就業</a:t>
            </a:r>
          </a:p>
        </p:txBody>
      </p:sp>
      <p:sp>
        <p:nvSpPr>
          <p:cNvPr id="78" name="Rectangle 77"/>
          <p:cNvSpPr/>
          <p:nvPr/>
        </p:nvSpPr>
        <p:spPr>
          <a:xfrm>
            <a:off x="2070000" y="4932000"/>
            <a:ext cx="4464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l"/>
            <a:r>
              <a:rPr sz="1050" b="0">
                <a:solidFill>
                  <a:srgbClr val="333333"/>
                </a:solidFill>
                <a:latin typeface="メイリオ"/>
                <a:ea typeface="メイリオ"/>
                <a:cs typeface="メイリオ"/>
              </a:rPr>
              <a:t>人手を増やさずに、多くの友だちをさばける</a:t>
            </a:r>
          </a:p>
        </p:txBody>
      </p:sp>
      <p:sp>
        <p:nvSpPr>
          <p:cNvPr id="79" name="Rounded Rectangle 78"/>
          <p:cNvSpPr/>
          <p:nvPr/>
        </p:nvSpPr>
        <p:spPr>
          <a:xfrm>
            <a:off x="6750000" y="4392000"/>
            <a:ext cx="2628000" cy="106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050" b="1">
                <a:solidFill>
                  <a:srgbClr val="1F285A"/>
                </a:solidFill>
                <a:latin typeface="メイリオ"/>
                <a:ea typeface="メイリオ"/>
                <a:cs typeface="メイリオ"/>
              </a:rPr>
              <a:t>中長期（地域別の求人配信が育ってから）</a:t>
            </a:r>
          </a:p>
        </p:txBody>
      </p:sp>
      <p:sp>
        <p:nvSpPr>
          <p:cNvPr id="80" name="Rounded Rectangle 79"/>
          <p:cNvSpPr/>
          <p:nvPr/>
        </p:nvSpPr>
        <p:spPr>
          <a:xfrm>
            <a:off x="432000" y="5742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300" b="1">
                <a:solidFill>
                  <a:srgbClr val="FFFFFF"/>
                </a:solidFill>
                <a:latin typeface="メイリオ"/>
                <a:ea typeface="メイリオ"/>
                <a:cs typeface="メイリオ"/>
              </a:rPr>
              <a:t>まずBで「電話なしで面談まで」をつくり、Aで応募者を、Cで友だち資産を広げる。</a:t>
            </a:r>
          </a:p>
        </p:txBody>
      </p:sp>
    </p:spTree>
    <p:extLst>
      <p:ext uri="{BB962C8B-B14F-4D97-AF65-F5344CB8AC3E}">
        <p14:creationId xmlns:p14="http://schemas.microsoft.com/office/powerpoint/2010/main" val="3651825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3167381"/>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の初期構築と効果の最大化</a:t>
            </a:r>
            <a:endPar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3204084"/>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759311"/>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4180114"/>
            <a:ext cx="8898070" cy="2285834"/>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・豊富な弊社実績を活用した配信設計の構築</a:t>
            </a:r>
            <a:r>
              <a:rPr lang="en-US" altLang="ja-JP"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企画投稿</a:t>
            </a:r>
            <a:r>
              <a:rPr lang="en-US" altLang="ja-JP"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a:t>
            </a:r>
            <a:r>
              <a:rPr lang="en-US" altLang="ja-JP"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弊社の豊富な実績や市場調査を活かし、最適なタイミングで最適なメッセージを送付し</a:t>
            </a:r>
            <a:r>
              <a:rPr lang="en-US" altLang="ja-JP"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へ</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また、職種・年収コンテンツの展開でサービス理解度を引き上げ、来店意欲</a:t>
            </a:r>
            <a:r>
              <a:rPr lang="en-US" altLang="ja-JP"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UP</a:t>
            </a:r>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を狙う。</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・フェーズ毎に戦略を変えることで来店意欲の醸成</a:t>
            </a:r>
            <a:r>
              <a:rPr lang="en-US" altLang="ja-JP"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動線・セグメント設定</a:t>
            </a:r>
            <a:r>
              <a:rPr lang="en-US" altLang="ja-JP"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設定セグメント・ターゲティングを変化させ複数回違う訴求にて接触。</a:t>
            </a:r>
            <a:endParaRPr lang="en-US" altLang="ja-JP" sz="1400" dirty="0">
              <a:solidFill>
                <a:schemeClr val="tx2">
                  <a:lumMod val="75000"/>
                </a:schemeClr>
              </a:solidFill>
              <a:latin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・売上計測環境の整備及び</a:t>
            </a:r>
            <a:r>
              <a:rPr lang="en-US" altLang="ja-JP" sz="1700" b="1" dirty="0" err="1">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GoogleAnalytics</a:t>
            </a:r>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の整備</a:t>
            </a:r>
            <a:endPar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タグを整備することで</a:t>
            </a:r>
            <a:r>
              <a:rPr lang="en-US" altLang="ja-JP"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経由の成果可視化を実行。</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企画・動線ごとに成果を可視化し、訴求テストなどを実施しながら効率化を図る。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5"/>
            <a:ext cx="8898070" cy="102115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①離脱ユーザーの再育成（再アプローチ）による</a:t>
            </a:r>
            <a:r>
              <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数増加 </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②応募に至らない検討ユーザーの面談化 → 就業サポート</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中長期施策として展開予定</a:t>
            </a:r>
            <a:endParaRPr lang="en-US" altLang="ja-JP"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151343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DCB94-34C8-7DB0-D6CB-991D39D9B9D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869BC935-5DB9-4560-B356-B396B93603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7880C836-A2BC-2FC7-3468-9B9075E279C9}"/>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01B38E14-DD7E-D8D3-B41B-B992885905C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¥245,000</a:t>
            </a:r>
            <a:endParaRPr kumimoji="1" lang="ja-JP" altLang="en-US" sz="1400" dirty="0">
              <a:solidFill>
                <a:schemeClr val="tx1"/>
              </a:solidFill>
              <a:latin typeface="メイリオ" panose="020B0604030504040204" pitchFamily="50" charset="-128"/>
              <a:ea typeface="メイリオ" panose="020B0604030504040204" pitchFamily="50" charset="-128"/>
            </a:endParaRPr>
          </a:p>
          <a:p>
            <a:pPr algn="ctr"/>
            <a:r>
              <a:rPr kumimoji="1" lang="en-US" altLang="ja-JP" sz="900" b="0" dirty="0">
                <a:solidFill>
                  <a:schemeClr val="tx1"/>
                </a:solidFill>
                <a:latin typeface="メイリオ" panose="020B0604030504040204" pitchFamily="50" charset="-128"/>
                <a:ea typeface="メイリオ" panose="020B0604030504040204" pitchFamily="50" charset="-128"/>
              </a:rPr>
              <a:t>構築20万＋離脱防止1.5万＋アカウント3万</a:t>
            </a:r>
            <a:endParaRPr kumimoji="1"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D37009A-88DD-861E-09A2-546B9A58E210}"/>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コンサル費 ¥150,000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 離脱防止 ¥30,000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 アカウント費 ¥5,000〜</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FC496752-169B-38CE-883D-84ADB306D799}"/>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DA148636-1253-1384-2015-E2EB8852C9F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6</a:t>
            </a:r>
            <a:r>
              <a:rPr kumimoji="1" lang="ja-JP" altLang="en-US" sz="12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51BCDCE3-E0DC-64C9-5AE4-D62A1BB2F0B2}"/>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93377C5E-E0F0-CDD7-88D4-BB2DFD34BDB7}"/>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423E80D8-0677-EA4F-9E76-E96BE86C80F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月次投稿</a:t>
            </a:r>
          </a:p>
        </p:txBody>
      </p:sp>
      <p:sp>
        <p:nvSpPr>
          <p:cNvPr id="29" name="正方形/長方形 28">
            <a:extLst>
              <a:ext uri="{FF2B5EF4-FFF2-40B4-BE49-F238E27FC236}">
                <a16:creationId xmlns:a16="http://schemas.microsoft.com/office/drawing/2014/main" id="{0D7C10C7-D0BA-2429-4E3C-3C9B1A0BD42B}"/>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4回</a:t>
            </a:r>
          </a:p>
        </p:txBody>
      </p:sp>
      <p:sp>
        <p:nvSpPr>
          <p:cNvPr id="33" name="正方形/長方形 32">
            <a:extLst>
              <a:ext uri="{FF2B5EF4-FFF2-40B4-BE49-F238E27FC236}">
                <a16:creationId xmlns:a16="http://schemas.microsoft.com/office/drawing/2014/main" id="{7C01E0B6-089E-D0CB-E2F1-931D297B273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a:p>
            <a:pPr algn="ctr"/>
            <a:r>
              <a:rPr lang="ja-JP" altLang="en-US" sz="1100" dirty="0">
                <a:solidFill>
                  <a:schemeClr val="bg1"/>
                </a:solidFill>
                <a:latin typeface="メイリオ" panose="020B0604030504040204" pitchFamily="50" charset="-128"/>
                <a:ea typeface="メイリオ" panose="020B0604030504040204" pitchFamily="50" charset="-128"/>
              </a:rPr>
              <a:t>修正変更</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8E28FD05-4146-E3E7-076F-F0405244D430}"/>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41" name="正方形/長方形 40">
            <a:extLst>
              <a:ext uri="{FF2B5EF4-FFF2-40B4-BE49-F238E27FC236}">
                <a16:creationId xmlns:a16="http://schemas.microsoft.com/office/drawing/2014/main" id="{0BCA0670-1E25-A137-DE69-4285D1972C41}"/>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月次レポート</a:t>
            </a:r>
          </a:p>
        </p:txBody>
      </p:sp>
      <p:sp>
        <p:nvSpPr>
          <p:cNvPr id="46" name="正方形/長方形 45">
            <a:extLst>
              <a:ext uri="{FF2B5EF4-FFF2-40B4-BE49-F238E27FC236}">
                <a16:creationId xmlns:a16="http://schemas.microsoft.com/office/drawing/2014/main" id="{BABF4F76-4A93-A922-BEA6-2B8E93EAFA64}"/>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1</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50" name="正方形/長方形 49">
            <a:extLst>
              <a:ext uri="{FF2B5EF4-FFF2-40B4-BE49-F238E27FC236}">
                <a16:creationId xmlns:a16="http://schemas.microsoft.com/office/drawing/2014/main" id="{B9BBAE1C-A24C-C8BA-EC21-E3C3004B99D5}"/>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月次定例会</a:t>
            </a:r>
          </a:p>
        </p:txBody>
      </p:sp>
      <p:sp>
        <p:nvSpPr>
          <p:cNvPr id="54" name="正方形/長方形 53">
            <a:extLst>
              <a:ext uri="{FF2B5EF4-FFF2-40B4-BE49-F238E27FC236}">
                <a16:creationId xmlns:a16="http://schemas.microsoft.com/office/drawing/2014/main" id="{5356490D-00B0-A4A4-46A8-C05373647872}"/>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1回</a:t>
            </a:r>
          </a:p>
        </p:txBody>
      </p:sp>
      <p:sp>
        <p:nvSpPr>
          <p:cNvPr id="66" name="正方形/長方形 65">
            <a:extLst>
              <a:ext uri="{FF2B5EF4-FFF2-40B4-BE49-F238E27FC236}">
                <a16:creationId xmlns:a16="http://schemas.microsoft.com/office/drawing/2014/main" id="{1B7BC116-FC44-14F8-A570-7E8F4A6BB425}"/>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ステップ改善</a:t>
            </a:r>
          </a:p>
        </p:txBody>
      </p:sp>
      <p:sp>
        <p:nvSpPr>
          <p:cNvPr id="70" name="正方形/長方形 69">
            <a:extLst>
              <a:ext uri="{FF2B5EF4-FFF2-40B4-BE49-F238E27FC236}">
                <a16:creationId xmlns:a16="http://schemas.microsoft.com/office/drawing/2014/main" id="{4F35ECFF-76E2-1684-79A2-B91FDAC2A015}"/>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ABテスト随時</a:t>
            </a:r>
          </a:p>
        </p:txBody>
      </p:sp>
      <p:sp>
        <p:nvSpPr>
          <p:cNvPr id="80" name="正方形/長方形 79">
            <a:extLst>
              <a:ext uri="{FF2B5EF4-FFF2-40B4-BE49-F238E27FC236}">
                <a16:creationId xmlns:a16="http://schemas.microsoft.com/office/drawing/2014/main" id="{4D93C7A0-5D0C-D57D-DA97-71D42D2D5517}"/>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6F215F53-D8D8-2192-C7D6-49E3B32E635B}"/>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有効友だち</a:t>
            </a:r>
          </a:p>
        </p:txBody>
      </p:sp>
      <p:sp>
        <p:nvSpPr>
          <p:cNvPr id="84" name="正方形/長方形 83">
            <a:extLst>
              <a:ext uri="{FF2B5EF4-FFF2-40B4-BE49-F238E27FC236}">
                <a16:creationId xmlns:a16="http://schemas.microsoft.com/office/drawing/2014/main" id="{F86385E5-9ACB-BD7D-FFF1-9DCAFEF8B9DE}"/>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流入</a:t>
            </a:r>
          </a:p>
        </p:txBody>
      </p:sp>
      <p:sp>
        <p:nvSpPr>
          <p:cNvPr id="86" name="正方形/長方形 85">
            <a:extLst>
              <a:ext uri="{FF2B5EF4-FFF2-40B4-BE49-F238E27FC236}">
                <a16:creationId xmlns:a16="http://schemas.microsoft.com/office/drawing/2014/main" id="{38F3E569-103C-B3AD-15E9-E0BB6026E36F}"/>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CV</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70CAF89E-948C-8174-50B7-652B3FB76359}"/>
              </a:ext>
            </a:extLst>
          </p:cNvPr>
          <p:cNvSpPr/>
          <p:nvPr/>
        </p:nvSpPr>
        <p:spPr>
          <a:xfrm>
            <a:off x="37997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あいさつ＋診断</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45597D5C-32BC-9BDB-E27E-1B11A18AC67F}"/>
              </a:ext>
            </a:extLst>
          </p:cNvPr>
          <p:cNvSpPr/>
          <p:nvPr/>
        </p:nvSpPr>
        <p:spPr>
          <a:xfrm>
            <a:off x="162912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1回（4問）</a:t>
            </a:r>
          </a:p>
        </p:txBody>
      </p:sp>
      <p:sp>
        <p:nvSpPr>
          <p:cNvPr id="18" name="正方形/長方形 17">
            <a:extLst>
              <a:ext uri="{FF2B5EF4-FFF2-40B4-BE49-F238E27FC236}">
                <a16:creationId xmlns:a16="http://schemas.microsoft.com/office/drawing/2014/main" id="{090DF4E7-D151-CBC4-8EE6-8BDDE6D781F4}"/>
              </a:ext>
            </a:extLst>
          </p:cNvPr>
          <p:cNvSpPr/>
          <p:nvPr/>
        </p:nvSpPr>
        <p:spPr>
          <a:xfrm>
            <a:off x="37997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BF367B4C-D17E-5506-831E-4FEBA9B6D301}"/>
              </a:ext>
            </a:extLst>
          </p:cNvPr>
          <p:cNvSpPr/>
          <p:nvPr/>
        </p:nvSpPr>
        <p:spPr>
          <a:xfrm>
            <a:off x="162912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3タブ×6枠</a:t>
            </a:r>
          </a:p>
        </p:txBody>
      </p:sp>
      <p:sp>
        <p:nvSpPr>
          <p:cNvPr id="26" name="正方形/長方形 25">
            <a:extLst>
              <a:ext uri="{FF2B5EF4-FFF2-40B4-BE49-F238E27FC236}">
                <a16:creationId xmlns:a16="http://schemas.microsoft.com/office/drawing/2014/main" id="{E7327D35-78D9-E895-4E23-A03DB4CE4A0C}"/>
              </a:ext>
            </a:extLst>
          </p:cNvPr>
          <p:cNvSpPr/>
          <p:nvPr/>
        </p:nvSpPr>
        <p:spPr>
          <a:xfrm>
            <a:off x="37997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a:t>
            </a:r>
          </a:p>
        </p:txBody>
      </p:sp>
      <p:sp>
        <p:nvSpPr>
          <p:cNvPr id="30" name="正方形/長方形 29">
            <a:extLst>
              <a:ext uri="{FF2B5EF4-FFF2-40B4-BE49-F238E27FC236}">
                <a16:creationId xmlns:a16="http://schemas.microsoft.com/office/drawing/2014/main" id="{A410D671-A6B2-5AE8-F4DD-54B5BBF27257}"/>
              </a:ext>
            </a:extLst>
          </p:cNvPr>
          <p:cNvSpPr/>
          <p:nvPr/>
        </p:nvSpPr>
        <p:spPr>
          <a:xfrm>
            <a:off x="162912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構築×10</a:t>
            </a:r>
          </a:p>
        </p:txBody>
      </p:sp>
      <p:sp>
        <p:nvSpPr>
          <p:cNvPr id="34" name="正方形/長方形 33">
            <a:extLst>
              <a:ext uri="{FF2B5EF4-FFF2-40B4-BE49-F238E27FC236}">
                <a16:creationId xmlns:a16="http://schemas.microsoft.com/office/drawing/2014/main" id="{9B0CC343-76BC-C31F-6705-9435FB623B52}"/>
              </a:ext>
            </a:extLst>
          </p:cNvPr>
          <p:cNvSpPr/>
          <p:nvPr/>
        </p:nvSpPr>
        <p:spPr>
          <a:xfrm>
            <a:off x="37997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離脱防止</a:t>
            </a:r>
          </a:p>
        </p:txBody>
      </p:sp>
      <p:sp>
        <p:nvSpPr>
          <p:cNvPr id="38" name="正方形/長方形 37">
            <a:extLst>
              <a:ext uri="{FF2B5EF4-FFF2-40B4-BE49-F238E27FC236}">
                <a16:creationId xmlns:a16="http://schemas.microsoft.com/office/drawing/2014/main" id="{49ED896C-A686-A829-DAA8-B1457276C2D4}"/>
              </a:ext>
            </a:extLst>
          </p:cNvPr>
          <p:cNvSpPr/>
          <p:nvPr/>
        </p:nvSpPr>
        <p:spPr>
          <a:xfrm>
            <a:off x="162912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rPr>
              <a:t>ポップアップ設置</a:t>
            </a:r>
          </a:p>
        </p:txBody>
      </p:sp>
      <p:sp>
        <p:nvSpPr>
          <p:cNvPr id="42" name="正方形/長方形 41">
            <a:extLst>
              <a:ext uri="{FF2B5EF4-FFF2-40B4-BE49-F238E27FC236}">
                <a16:creationId xmlns:a16="http://schemas.microsoft.com/office/drawing/2014/main" id="{C65954D2-6D54-912C-BFAD-8EED93525578}"/>
              </a:ext>
            </a:extLst>
          </p:cNvPr>
          <p:cNvSpPr/>
          <p:nvPr/>
        </p:nvSpPr>
        <p:spPr>
          <a:xfrm>
            <a:off x="379976" y="5185247"/>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47" name="正方形/長方形 46">
            <a:extLst>
              <a:ext uri="{FF2B5EF4-FFF2-40B4-BE49-F238E27FC236}">
                <a16:creationId xmlns:a16="http://schemas.microsoft.com/office/drawing/2014/main" id="{2038AF25-F542-6F19-F289-5B1A91D9EA78}"/>
              </a:ext>
            </a:extLst>
          </p:cNvPr>
          <p:cNvSpPr/>
          <p:nvPr/>
        </p:nvSpPr>
        <p:spPr>
          <a:xfrm>
            <a:off x="162912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11" name="テキスト ボックス 10">
            <a:extLst>
              <a:ext uri="{FF2B5EF4-FFF2-40B4-BE49-F238E27FC236}">
                <a16:creationId xmlns:a16="http://schemas.microsoft.com/office/drawing/2014/main" id="{2241A890-8CD9-48E8-BAC6-6130718F79E3}"/>
              </a:ext>
            </a:extLst>
          </p:cNvPr>
          <p:cNvSpPr txBox="1"/>
          <p:nvPr/>
        </p:nvSpPr>
        <p:spPr>
          <a:xfrm>
            <a:off x="8194767" y="2323720"/>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約4,350人</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CA402BB-70E0-1712-5155-FB13E1EFE697}"/>
              </a:ext>
            </a:extLst>
          </p:cNvPr>
          <p:cNvSpPr txBox="1"/>
          <p:nvPr/>
        </p:nvSpPr>
        <p:spPr>
          <a:xfrm>
            <a:off x="8194767" y="2750357"/>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約2,350人</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F1C71F01-1D77-2899-A43D-B86BFA13E86D}"/>
              </a:ext>
            </a:extLst>
          </p:cNvPr>
          <p:cNvSpPr txBox="1"/>
          <p:nvPr/>
        </p:nvSpPr>
        <p:spPr>
          <a:xfrm>
            <a:off x="8175536" y="3152001"/>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2,390件/月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8AD9CF0C-6AE4-2654-E1CB-1BB84E7C6E83}"/>
              </a:ext>
            </a:extLst>
          </p:cNvPr>
          <p:cNvSpPr txBox="1"/>
          <p:nvPr/>
        </p:nvSpPr>
        <p:spPr>
          <a:xfrm>
            <a:off x="8194767" y="3561556"/>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23件/月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62E19C90-7458-8C36-243E-9FE1F44520EC}"/>
              </a:ext>
            </a:extLst>
          </p:cNvPr>
          <p:cNvSpPr txBox="1"/>
          <p:nvPr/>
        </p:nvSpPr>
        <p:spPr>
          <a:xfrm>
            <a:off x="6746399" y="3906000"/>
            <a:ext cx="2901600" cy="1080000"/>
          </a:xfrm>
          <a:prstGeom prst="rect">
            <a:avLst/>
          </a:prstGeom>
          <a:noFill/>
        </p:spPr>
        <p:txBody>
          <a:bodyPr wrap="square">
            <a:spAutoFit/>
          </a:bodyPr>
          <a:lstStyle/>
          <a:p>
            <a:pPr algn="ctr"/>
            <a:r>
              <a:rPr lang="ja-JP" altLang="en-US" sz="1100" b="1" dirty="0">
                <a:latin typeface="メイリオ" panose="020B0604030504040204" pitchFamily="50" charset="-128"/>
                <a:ea typeface="メイリオ" panose="020B0604030504040204" pitchFamily="50" charset="-128"/>
              </a:rPr>
              <a:t>半年累計89件・累計CPA 29,697円</a:t>
            </a:r>
            <a:endParaRPr kumimoji="1" lang="ja-JP" altLang="en-US" sz="1200" b="1" dirty="0">
              <a:latin typeface="メイリオ" panose="020B0604030504040204" pitchFamily="50" charset="-128"/>
              <a:ea typeface="メイリオ" panose="020B0604030504040204" pitchFamily="50" charset="-128"/>
            </a:endParaRPr>
          </a:p>
          <a:p>
            <a:pPr algn="ctr"/>
            <a:r>
              <a:rPr lang="ja-JP" altLang="en-US" sz="950" b="0" dirty="0">
                <a:solidFill>
                  <a:srgbClr val="333333"/>
                </a:solidFill>
                <a:latin typeface="メイリオ" panose="020B0604030504040204" pitchFamily="50" charset="-128"/>
                <a:ea typeface="メイリオ" panose="020B0604030504040204" pitchFamily="50" charset="-128"/>
              </a:rPr>
              <a:t>現状の整備士CPA 6万円の約半分</a:t>
            </a:r>
            <a:endParaRPr kumimoji="1" lang="ja-JP" altLang="en-US" sz="1200" b="1" dirty="0">
              <a:latin typeface="メイリオ" panose="020B0604030504040204" pitchFamily="50" charset="-128"/>
              <a:ea typeface="メイリオ" panose="020B0604030504040204" pitchFamily="50" charset="-128"/>
            </a:endParaRPr>
          </a:p>
          <a:p>
            <a:pPr algn="ctr"/>
            <a:r>
              <a:rPr lang="ja-JP" altLang="en-US" sz="900" b="0" dirty="0">
                <a:solidFill>
                  <a:srgbClr val="7F7F7F"/>
                </a:solidFill>
                <a:latin typeface="メイリオ" panose="020B0604030504040204" pitchFamily="50" charset="-128"/>
                <a:ea typeface="メイリオ" panose="020B0604030504040204" pitchFamily="50" charset="-128"/>
              </a:rPr>
              <a:t>参考：CPFなし＝半年4件</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Meta広告の目的を「応募獲得」から「友だち獲得」へ切り替え（広告費は据え置き）、</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初期24.5万円・月額18.5万円〜の運用で、面談・応募を半年89件と見込みます。</a:t>
            </a:r>
          </a:p>
        </p:txBody>
      </p:sp>
      <p:sp>
        <p:nvSpPr>
          <p:cNvPr id="88" name="TextBox 1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SIM①（CPFあり・コンサル運営）より。前提：UU3,215（SimilarWeb推計）・CPF単価300円（LINEヤフー公式事例）ほか仮置き値を含む。実績値をいただき次第、再試算</a:t>
            </a:r>
          </a:p>
        </p:txBody>
      </p:sp>
      <p:sp>
        <p:nvSpPr>
          <p:cNvPr id="87" name="TextBox 86"/>
          <p:cNvSpPr txBox="1"/>
          <p:nvPr/>
        </p:nvSpPr>
        <p:spPr>
          <a:xfrm>
            <a:off x="381600" y="5670000"/>
            <a:ext cx="9144000" cy="342000"/>
          </a:xfrm>
          <a:prstGeom prst="rect">
            <a:avLst/>
          </a:prstGeom>
          <a:noFill/>
        </p:spPr>
        <p:txBody>
          <a:bodyPr wrap="square" lIns="36000" rIns="36000" anchor="t">
            <a:spAutoFit/>
          </a:bodyPr>
          <a:lstStyle/>
          <a:p>
            <a:pPr algn="l"/>
            <a:r>
              <a:rPr sz="1000" b="0">
                <a:solidFill>
                  <a:srgbClr val="595959"/>
                </a:solidFill>
                <a:latin typeface="メイリオ"/>
                <a:ea typeface="メイリオ"/>
                <a:cs typeface="メイリオ"/>
              </a:rPr>
              <a:t>※ 別途 CPF広告費 月20.8万円は、既存Meta予算（年250万円）からの転用＝追加出費ゼロ。</a:t>
            </a:r>
          </a:p>
          <a:p>
            <a:pPr algn="l"/>
            <a:r>
              <a:rPr sz="1000" b="0">
                <a:solidFill>
                  <a:srgbClr val="595959"/>
                </a:solidFill>
                <a:latin typeface="メイリオ"/>
                <a:ea typeface="メイリオ"/>
                <a:cs typeface="メイリオ"/>
              </a:rPr>
              <a:t>※ アカウント費は配信数に応じて自動切替（5,000円→3ヶ月目以降15,000円）。</a:t>
            </a:r>
          </a:p>
        </p:txBody>
      </p:sp>
      <p:sp>
        <p:nvSpPr>
          <p:cNvPr id="89" name="Rounded Rectangle 88"/>
          <p:cNvSpPr/>
          <p:nvPr/>
        </p:nvSpPr>
        <p:spPr>
          <a:xfrm>
            <a:off x="6746399" y="5040000"/>
            <a:ext cx="2901600" cy="558000"/>
          </a:xfrm>
          <a:prstGeom prst="roundRect">
            <a:avLst>
              <a:gd name="adj" fmla="val 8000"/>
            </a:avLst>
          </a:prstGeom>
          <a:solidFill>
            <a:srgbClr val="FFFFFF"/>
          </a:solidFill>
          <a:ln w="2540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150" b="1">
                <a:solidFill>
                  <a:srgbClr val="1F285A"/>
                </a:solidFill>
                <a:latin typeface="メイリオ"/>
                <a:ea typeface="メイリオ"/>
                <a:cs typeface="メイリオ"/>
              </a:rPr>
              <a:t>損益分岐：半年で約3人の就業で回収</a:t>
            </a:r>
          </a:p>
          <a:p>
            <a:pPr algn="ctr"/>
            <a:r>
              <a:rPr sz="900" b="0">
                <a:solidFill>
                  <a:srgbClr val="7F7F7F"/>
                </a:solidFill>
                <a:latin typeface="メイリオ"/>
                <a:ea typeface="メイリオ"/>
                <a:cs typeface="メイリオ"/>
              </a:rPr>
              <a:t>総額264万円 ÷ 1就業あたり売上120万円（仮定）</a:t>
            </a:r>
          </a:p>
        </p:txBody>
      </p:sp>
    </p:spTree>
    <p:extLst>
      <p:ext uri="{BB962C8B-B14F-4D97-AF65-F5344CB8AC3E}">
        <p14:creationId xmlns:p14="http://schemas.microsoft.com/office/powerpoint/2010/main" val="2658526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公式実績【求人・人材 × LINE】</a:t>
            </a:r>
          </a:p>
        </p:txBody>
      </p:sp>
      <p:sp>
        <p:nvSpPr>
          <p:cNvPr id="3" name="TextBox 2"/>
          <p:cNvSpPr txBox="1"/>
          <p:nvPr/>
        </p:nvSpPr>
        <p:spPr>
          <a:xfrm>
            <a:off x="432000" y="648000"/>
            <a:ext cx="9036000" cy="684000"/>
          </a:xfrm>
          <a:prstGeom prst="rect">
            <a:avLst/>
          </a:prstGeom>
          <a:noFill/>
        </p:spPr>
        <p:txBody>
          <a:bodyPr wrap="square" lIns="0" tIns="21600" rIns="0" bIns="21600" anchor="ctr">
            <a:spAutoFit/>
          </a:bodyPr>
          <a:lstStyle/>
          <a:p>
            <a:pPr algn="l">
              <a:lnSpc>
                <a:spcPct val="128000"/>
              </a:lnSpc>
            </a:pPr>
            <a:r>
              <a:rPr sz="1300">
                <a:solidFill>
                  <a:srgbClr val="333333"/>
                </a:solidFill>
                <a:latin typeface="メイリオ"/>
                <a:ea typeface="メイリオ"/>
                <a:cs typeface="メイリオ"/>
              </a:rPr>
              <a:t>LINEヤフー社の公式導入事例より（いずれも実名・公開情報）。</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431600"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00" y="1728000"/>
            <a:ext cx="4143600" cy="216000"/>
          </a:xfrm>
          <a:prstGeom prst="rect">
            <a:avLst/>
          </a:prstGeom>
          <a:noFill/>
        </p:spPr>
        <p:txBody>
          <a:bodyPr wrap="square" lIns="50400" tIns="21600" rIns="50400" bIns="21600" anchor="ctr">
            <a:spAutoFit/>
          </a:bodyPr>
          <a:lstStyle/>
          <a:p>
            <a:pPr algn="l"/>
            <a:r>
              <a:rPr sz="1300" b="1">
                <a:solidFill>
                  <a:srgbClr val="1F285A"/>
                </a:solidFill>
                <a:latin typeface="メイリオ"/>
                <a:ea typeface="メイリオ"/>
                <a:cs typeface="メイリオ"/>
              </a:rPr>
              <a:t>UZUZ（20代の就職・転職サポート）</a:t>
            </a:r>
          </a:p>
        </p:txBody>
      </p:sp>
      <p:sp>
        <p:nvSpPr>
          <p:cNvPr id="7" name="TextBox 6"/>
          <p:cNvSpPr txBox="1"/>
          <p:nvPr/>
        </p:nvSpPr>
        <p:spPr>
          <a:xfrm>
            <a:off x="576000" y="1980000"/>
            <a:ext cx="4143600" cy="216000"/>
          </a:xfrm>
          <a:prstGeom prst="rect">
            <a:avLst/>
          </a:prstGeom>
          <a:noFill/>
        </p:spPr>
        <p:txBody>
          <a:bodyPr wrap="square" lIns="50400" tIns="21600" rIns="50400" bIns="21600" anchor="ctr">
            <a:spAutoFit/>
          </a:bodyPr>
          <a:lstStyle/>
          <a:p>
            <a:pPr algn="ctr"/>
            <a:r>
              <a:rPr sz="1250">
                <a:solidFill>
                  <a:srgbClr val="333333"/>
                </a:solidFill>
                <a:latin typeface="メイリオ"/>
                <a:ea typeface="メイリオ"/>
                <a:cs typeface="メイリオ"/>
              </a:rPr>
              <a:t>LINE経由の面談予約率</a:t>
            </a:r>
          </a:p>
        </p:txBody>
      </p:sp>
      <p:sp>
        <p:nvSpPr>
          <p:cNvPr id="8" name="TextBox 7"/>
          <p:cNvSpPr txBox="1"/>
          <p:nvPr/>
        </p:nvSpPr>
        <p:spPr>
          <a:xfrm>
            <a:off x="576000" y="2196000"/>
            <a:ext cx="4143600" cy="503999"/>
          </a:xfrm>
          <a:prstGeom prst="rect">
            <a:avLst/>
          </a:prstGeom>
          <a:noFill/>
        </p:spPr>
        <p:txBody>
          <a:bodyPr wrap="square" lIns="50400" tIns="21600" rIns="50400" bIns="21600" anchor="ctr">
            <a:spAutoFit/>
          </a:bodyPr>
          <a:lstStyle/>
          <a:p>
            <a:pPr algn="ctr"/>
            <a:r>
              <a:rPr sz="3400" b="1">
                <a:solidFill>
                  <a:srgbClr val="ED7D31"/>
                </a:solidFill>
                <a:latin typeface="メイリオ"/>
                <a:ea typeface="メイリオ"/>
                <a:cs typeface="メイリオ"/>
              </a:rPr>
              <a:t>55%</a:t>
            </a:r>
          </a:p>
        </p:txBody>
      </p:sp>
      <p:sp>
        <p:nvSpPr>
          <p:cNvPr id="9" name="TextBox 8"/>
          <p:cNvSpPr txBox="1"/>
          <p:nvPr/>
        </p:nvSpPr>
        <p:spPr>
          <a:xfrm>
            <a:off x="576000" y="2736000"/>
            <a:ext cx="4143600" cy="900000"/>
          </a:xfrm>
          <a:prstGeom prst="rect">
            <a:avLst/>
          </a:prstGeom>
          <a:noFill/>
        </p:spPr>
        <p:txBody>
          <a:bodyPr wrap="square" lIns="50400" tIns="21600" rIns="50400" bIns="21600" anchor="t">
            <a:spAutoFit/>
          </a:bodyPr>
          <a:lstStyle/>
          <a:p>
            <a:pPr algn="l">
              <a:lnSpc>
                <a:spcPct val="135000"/>
              </a:lnSpc>
              <a:spcAft>
                <a:spcPts val="200"/>
              </a:spcAft>
            </a:pPr>
            <a:r>
              <a:rPr sz="1150">
                <a:solidFill>
                  <a:srgbClr val="333333"/>
                </a:solidFill>
                <a:latin typeface="メイリオ"/>
                <a:ea typeface="メイリオ"/>
                <a:cs typeface="メイリオ"/>
              </a:rPr>
              <a:t>・問い合わせの約3割がLINE経由。他チャネル比で高水準</a:t>
            </a:r>
          </a:p>
          <a:p>
            <a:pPr algn="l">
              <a:lnSpc>
                <a:spcPct val="135000"/>
              </a:lnSpc>
              <a:spcAft>
                <a:spcPts val="200"/>
              </a:spcAft>
            </a:pPr>
            <a:r>
              <a:rPr sz="1150">
                <a:solidFill>
                  <a:srgbClr val="333333"/>
                </a:solidFill>
                <a:latin typeface="メイリオ"/>
                <a:ea typeface="メイリオ"/>
                <a:cs typeface="メイリオ"/>
              </a:rPr>
              <a:t>・友だち追加広告（CPF）の獲得単価 約300円</a:t>
            </a:r>
          </a:p>
          <a:p>
            <a:pPr algn="l">
              <a:lnSpc>
                <a:spcPct val="135000"/>
              </a:lnSpc>
            </a:pPr>
            <a:r>
              <a:rPr sz="1150">
                <a:solidFill>
                  <a:srgbClr val="333333"/>
                </a:solidFill>
                <a:latin typeface="メイリオ"/>
                <a:ea typeface="メイリオ"/>
                <a:cs typeface="メイリオ"/>
              </a:rPr>
              <a:t>・チャットボットで求人紹介〜面談予約を自動化</a:t>
            </a:r>
          </a:p>
        </p:txBody>
      </p:sp>
      <p:sp>
        <p:nvSpPr>
          <p:cNvPr id="10" name="Rounded Rectangle 9"/>
          <p:cNvSpPr/>
          <p:nvPr/>
        </p:nvSpPr>
        <p:spPr>
          <a:xfrm>
            <a:off x="5043600" y="1620000"/>
            <a:ext cx="4431600"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187600" y="1728000"/>
            <a:ext cx="4143600" cy="216000"/>
          </a:xfrm>
          <a:prstGeom prst="rect">
            <a:avLst/>
          </a:prstGeom>
          <a:noFill/>
        </p:spPr>
        <p:txBody>
          <a:bodyPr wrap="square" lIns="50400" tIns="21600" rIns="50400" bIns="21600" anchor="ctr">
            <a:spAutoFit/>
          </a:bodyPr>
          <a:lstStyle/>
          <a:p>
            <a:pPr algn="l"/>
            <a:r>
              <a:rPr sz="1300" b="1">
                <a:solidFill>
                  <a:srgbClr val="1F285A"/>
                </a:solidFill>
                <a:latin typeface="メイリオ"/>
                <a:ea typeface="メイリオ"/>
                <a:cs typeface="メイリオ"/>
              </a:rPr>
              <a:t>タウンワーク（求人メディア）</a:t>
            </a:r>
          </a:p>
        </p:txBody>
      </p:sp>
      <p:sp>
        <p:nvSpPr>
          <p:cNvPr id="12" name="TextBox 11"/>
          <p:cNvSpPr txBox="1"/>
          <p:nvPr/>
        </p:nvSpPr>
        <p:spPr>
          <a:xfrm>
            <a:off x="5187600" y="1980000"/>
            <a:ext cx="4143600" cy="216000"/>
          </a:xfrm>
          <a:prstGeom prst="rect">
            <a:avLst/>
          </a:prstGeom>
          <a:noFill/>
        </p:spPr>
        <p:txBody>
          <a:bodyPr wrap="square" lIns="50400" tIns="21600" rIns="50400" bIns="21600" anchor="ctr">
            <a:spAutoFit/>
          </a:bodyPr>
          <a:lstStyle/>
          <a:p>
            <a:pPr algn="ctr"/>
            <a:r>
              <a:rPr sz="1250">
                <a:solidFill>
                  <a:srgbClr val="333333"/>
                </a:solidFill>
                <a:latin typeface="メイリオ"/>
                <a:ea typeface="メイリオ"/>
                <a:cs typeface="メイリオ"/>
              </a:rPr>
              <a:t>リッチメニュー経由の応募数</a:t>
            </a:r>
          </a:p>
        </p:txBody>
      </p:sp>
      <p:sp>
        <p:nvSpPr>
          <p:cNvPr id="13" name="TextBox 12"/>
          <p:cNvSpPr txBox="1"/>
          <p:nvPr/>
        </p:nvSpPr>
        <p:spPr>
          <a:xfrm>
            <a:off x="5187600" y="2196000"/>
            <a:ext cx="4143600" cy="503999"/>
          </a:xfrm>
          <a:prstGeom prst="rect">
            <a:avLst/>
          </a:prstGeom>
          <a:noFill/>
        </p:spPr>
        <p:txBody>
          <a:bodyPr wrap="square" lIns="50400" tIns="21600" rIns="50400" bIns="21600" anchor="ctr">
            <a:spAutoFit/>
          </a:bodyPr>
          <a:lstStyle/>
          <a:p>
            <a:pPr algn="ctr"/>
            <a:r>
              <a:rPr sz="3400" b="1">
                <a:solidFill>
                  <a:srgbClr val="ED7D31"/>
                </a:solidFill>
                <a:latin typeface="メイリオ"/>
                <a:ea typeface="メイリオ"/>
                <a:cs typeface="メイリオ"/>
              </a:rPr>
              <a:t>+79%</a:t>
            </a:r>
          </a:p>
        </p:txBody>
      </p:sp>
      <p:sp>
        <p:nvSpPr>
          <p:cNvPr id="14" name="TextBox 13"/>
          <p:cNvSpPr txBox="1"/>
          <p:nvPr/>
        </p:nvSpPr>
        <p:spPr>
          <a:xfrm>
            <a:off x="5187600" y="2736000"/>
            <a:ext cx="4143600" cy="900000"/>
          </a:xfrm>
          <a:prstGeom prst="rect">
            <a:avLst/>
          </a:prstGeom>
          <a:noFill/>
        </p:spPr>
        <p:txBody>
          <a:bodyPr wrap="square" lIns="50400" tIns="21600" rIns="50400" bIns="21600" anchor="t">
            <a:spAutoFit/>
          </a:bodyPr>
          <a:lstStyle/>
          <a:p>
            <a:pPr algn="l">
              <a:lnSpc>
                <a:spcPct val="135000"/>
              </a:lnSpc>
              <a:spcAft>
                <a:spcPts val="200"/>
              </a:spcAft>
            </a:pPr>
            <a:r>
              <a:rPr sz="1150">
                <a:solidFill>
                  <a:srgbClr val="333333"/>
                </a:solidFill>
                <a:latin typeface="メイリオ"/>
                <a:ea typeface="メイリオ"/>
                <a:cs typeface="メイリオ"/>
              </a:rPr>
              <a:t>・リッチメニュー改善でタップ数+20%</a:t>
            </a:r>
          </a:p>
          <a:p>
            <a:pPr algn="l">
              <a:lnSpc>
                <a:spcPct val="135000"/>
              </a:lnSpc>
              <a:spcAft>
                <a:spcPts val="200"/>
              </a:spcAft>
            </a:pPr>
            <a:r>
              <a:rPr sz="1150">
                <a:solidFill>
                  <a:srgbClr val="333333"/>
                </a:solidFill>
                <a:latin typeface="メイリオ"/>
                <a:ea typeface="メイリオ"/>
                <a:cs typeface="メイリオ"/>
              </a:rPr>
              <a:t>・その結果、メニュー経由の応募が79%向上</a:t>
            </a:r>
          </a:p>
          <a:p>
            <a:pPr algn="l">
              <a:lnSpc>
                <a:spcPct val="135000"/>
              </a:lnSpc>
            </a:pPr>
            <a:r>
              <a:rPr sz="1150">
                <a:solidFill>
                  <a:srgbClr val="333333"/>
                </a:solidFill>
                <a:latin typeface="メイリオ"/>
                <a:ea typeface="メイリオ"/>
                <a:cs typeface="メイリオ"/>
              </a:rPr>
              <a:t>・入口設計への投資が応募数に直結した事例</a:t>
            </a:r>
          </a:p>
        </p:txBody>
      </p:sp>
      <p:sp>
        <p:nvSpPr>
          <p:cNvPr id="15" name="Rounded Rectangle 14"/>
          <p:cNvSpPr/>
          <p:nvPr/>
        </p:nvSpPr>
        <p:spPr>
          <a:xfrm>
            <a:off x="432000" y="3924000"/>
            <a:ext cx="9043200" cy="39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350" b="1">
                <a:solidFill>
                  <a:srgbClr val="FFFFFF"/>
                </a:solidFill>
                <a:latin typeface="メイリオ"/>
                <a:ea typeface="メイリオ"/>
                <a:cs typeface="メイリオ"/>
              </a:rPr>
              <a:t>「面談への近さ」と「入口設計の効果」。本提案の2本柱には、どちらも公式実績がある。</a:t>
            </a:r>
          </a:p>
        </p:txBody>
      </p:sp>
      <p:sp>
        <p:nvSpPr>
          <p:cNvPr id="16" name="TextBox 1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出典：LINEヤフー for Business 導入事例（UZUZ／タウンワーク）。数値は各事例記事の公表値</a:t>
            </a:r>
          </a:p>
        </p:txBody>
      </p:sp>
    </p:spTree>
    <p:extLst>
      <p:ext uri="{BB962C8B-B14F-4D97-AF65-F5344CB8AC3E}">
        <p14:creationId xmlns:p14="http://schemas.microsoft.com/office/powerpoint/2010/main" val="3731031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3212290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A82F-6F2C-17B3-F79B-7B5B5CE9686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CFE6082-7D98-8143-1FF3-237252E680EE}"/>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954AB23-5BD2-D3D6-314F-6A94411406D6}"/>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72401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実施施策【14日間ステップ配信】</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460211"/>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友だち追加後14日間で、前後検索で見えた関心の順番（年収・職種 → 働き方 → 比較 → 現場）に沿って配信する</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（関心が消える前の3日目に1回目の面談案内。未予約者には再アプローチ、面談予約者は別シナリオへ分岐）</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849747981"/>
              </p:ext>
            </p:extLst>
          </p:nvPr>
        </p:nvGraphicFramePr>
        <p:xfrm>
          <a:off x="429768" y="1234440"/>
          <a:ext cx="9054000" cy="4114800"/>
        </p:xfrm>
        <a:graphic>
          <a:graphicData uri="http://schemas.openxmlformats.org/drawingml/2006/table">
            <a:tbl>
              <a:tblPr firstRow="1" bandRow="1">
                <a:tableStyleId>{5C22544A-7EE6-4342-B048-85BDC9FD1C3A}</a:tableStyleId>
              </a:tblPr>
              <a:tblGrid>
                <a:gridCol w="1087200">
                  <a:extLst>
                    <a:ext uri="{9D8B030D-6E8A-4147-A177-3AD203B41FA5}">
                      <a16:colId xmlns:a16="http://schemas.microsoft.com/office/drawing/2014/main" val="20000"/>
                    </a:ext>
                  </a:extLst>
                </a:gridCol>
                <a:gridCol w="1810800">
                  <a:extLst>
                    <a:ext uri="{9D8B030D-6E8A-4147-A177-3AD203B41FA5}">
                      <a16:colId xmlns:a16="http://schemas.microsoft.com/office/drawing/2014/main" val="20001"/>
                    </a:ext>
                  </a:extLst>
                </a:gridCol>
                <a:gridCol w="615600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0日後</a:t>
                      </a:r>
                    </a:p>
                  </a:txBody>
                  <a:tcPr>
                    <a:solidFill>
                      <a:srgbClr val="FFFFFF"/>
                    </a:solidFill>
                  </a:tcPr>
                </a:tc>
                <a:tc>
                  <a:txBody>
                    <a:bodyPr/>
                    <a:lstStyle/>
                    <a:p>
                      <a:r>
                        <a:rPr sz="1400" b="0" dirty="0" err="1">
                          <a:solidFill>
                            <a:srgbClr val="333333"/>
                          </a:solidFill>
                          <a:latin typeface="Meiryo"/>
                          <a:ea typeface="メイリオ"/>
                          <a:cs typeface="Meiryo"/>
                        </a:rPr>
                        <a:t>全員</a:t>
                      </a:r>
                      <a:endParaRPr sz="1400" b="0" dirty="0">
                        <a:solidFill>
                          <a:srgbClr val="333333"/>
                        </a:solidFill>
                        <a:latin typeface="Meiryo"/>
                        <a:ea typeface="メイリオ"/>
                        <a:cs typeface="Meiryo"/>
                      </a:endParaRPr>
                    </a:p>
                  </a:txBody>
                  <a:tcPr>
                    <a:solidFill>
                      <a:srgbClr val="FFFFFF"/>
                    </a:solidFill>
                  </a:tcPr>
                </a:tc>
                <a:tc>
                  <a:txBody>
                    <a:bodyPr/>
                    <a:lstStyle/>
                    <a:p>
                      <a:r>
                        <a:rPr sz="1250" b="0">
                          <a:solidFill>
                            <a:srgbClr val="333333"/>
                          </a:solidFill>
                          <a:latin typeface="Meiryo"/>
                          <a:ea typeface="メイリオ"/>
                          <a:cs typeface="Meiryo"/>
                        </a:rPr>
                        <a:t>あいさつ＋30秒診断＋「整備士の年収相場」を一言</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1日後</a:t>
                      </a:r>
                    </a:p>
                  </a:txBody>
                  <a:tcPr>
                    <a:solidFill>
                      <a:srgbClr val="FFFFFF"/>
                    </a:solidFill>
                  </a:tcPr>
                </a:tc>
                <a:tc>
                  <a:txBody>
                    <a:bodyPr/>
                    <a:lstStyle/>
                    <a:p>
                      <a:r>
                        <a:rPr sz="1400" b="0" dirty="0" err="1">
                          <a:solidFill>
                            <a:srgbClr val="333333"/>
                          </a:solidFill>
                          <a:latin typeface="Meiryo"/>
                          <a:ea typeface="メイリオ"/>
                          <a:cs typeface="Meiryo"/>
                        </a:rPr>
                        <a:t>全員</a:t>
                      </a:r>
                      <a:endParaRPr sz="1400" b="0" dirty="0">
                        <a:solidFill>
                          <a:srgbClr val="333333"/>
                        </a:solidFill>
                        <a:latin typeface="Meiryo"/>
                        <a:ea typeface="メイリオ"/>
                        <a:cs typeface="Meiryo"/>
                      </a:endParaRPr>
                    </a:p>
                  </a:txBody>
                  <a:tcPr>
                    <a:solidFill>
                      <a:srgbClr val="FFFFFF"/>
                    </a:solidFill>
                  </a:tcPr>
                </a:tc>
                <a:tc>
                  <a:txBody>
                    <a:bodyPr/>
                    <a:lstStyle/>
                    <a:p>
                      <a:r>
                        <a:rPr sz="1250" b="0" dirty="0" err="1">
                          <a:solidFill>
                            <a:srgbClr val="333333"/>
                          </a:solidFill>
                          <a:latin typeface="Meiryo"/>
                          <a:ea typeface="メイリオ"/>
                          <a:cs typeface="Meiryo"/>
                        </a:rPr>
                        <a:t>職種図鑑（整備・受付・営業の仕事と年収の違い）</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2日後</a:t>
                      </a:r>
                    </a:p>
                  </a:txBody>
                  <a:tcPr>
                    <a:solidFill>
                      <a:srgbClr val="FFFFFF"/>
                    </a:solidFill>
                  </a:tcPr>
                </a:tc>
                <a:tc>
                  <a:txBody>
                    <a:bodyPr/>
                    <a:lstStyle/>
                    <a:p>
                      <a:r>
                        <a:rPr sz="1400" b="0" dirty="0" err="1">
                          <a:solidFill>
                            <a:srgbClr val="333333"/>
                          </a:solidFill>
                          <a:latin typeface="Meiryo"/>
                          <a:ea typeface="メイリオ"/>
                          <a:cs typeface="Meiryo"/>
                        </a:rPr>
                        <a:t>全員</a:t>
                      </a:r>
                      <a:endParaRPr sz="1400" b="0" dirty="0">
                        <a:solidFill>
                          <a:srgbClr val="333333"/>
                        </a:solidFill>
                        <a:latin typeface="Meiryo"/>
                        <a:ea typeface="メイリオ"/>
                        <a:cs typeface="Meiryo"/>
                      </a:endParaRPr>
                    </a:p>
                  </a:txBody>
                  <a:tcPr>
                    <a:solidFill>
                      <a:srgbClr val="FFFFFF"/>
                    </a:solidFill>
                  </a:tcPr>
                </a:tc>
                <a:tc>
                  <a:txBody>
                    <a:bodyPr/>
                    <a:lstStyle/>
                    <a:p>
                      <a:r>
                        <a:rPr sz="1250" b="0" dirty="0" err="1">
                          <a:solidFill>
                            <a:srgbClr val="333333"/>
                          </a:solidFill>
                          <a:latin typeface="Meiryo"/>
                          <a:ea typeface="メイリオ"/>
                          <a:cs typeface="Meiryo"/>
                        </a:rPr>
                        <a:t>働き方（休み・残業・「ホワイトな職場」の見分け方）</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3日後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250" b="0" dirty="0" err="1">
                          <a:solidFill>
                            <a:srgbClr val="333333"/>
                          </a:solidFill>
                          <a:latin typeface="Meiryo"/>
                          <a:ea typeface="メイリオ"/>
                          <a:cs typeface="Meiryo"/>
                        </a:rPr>
                        <a:t>面談のご案内①「履歴書、まだ要りません」</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5日後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250" b="0" dirty="0" err="1">
                          <a:solidFill>
                            <a:srgbClr val="333333"/>
                          </a:solidFill>
                          <a:latin typeface="Meiryo"/>
                          <a:ea typeface="メイリオ"/>
                          <a:cs typeface="Meiryo"/>
                        </a:rPr>
                        <a:t>ほかの職種との比較（整備士 vs 営業・施工管理）</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7日後</a:t>
                      </a:r>
                    </a:p>
                  </a:txBody>
                  <a:tcPr>
                    <a:solidFill>
                      <a:srgbClr val="FFFFFF"/>
                    </a:solidFill>
                  </a:tcPr>
                </a:tc>
                <a:tc>
                  <a:txBody>
                    <a:bodyPr/>
                    <a:lstStyle/>
                    <a:p>
                      <a:r>
                        <a:rPr sz="1400" b="0">
                          <a:solidFill>
                            <a:srgbClr val="333333"/>
                          </a:solidFill>
                          <a:latin typeface="Meiryo"/>
                          <a:ea typeface="メイリオ"/>
                          <a:cs typeface="Meiryo"/>
                        </a:rPr>
                        <a:t>資格別</a:t>
                      </a:r>
                    </a:p>
                  </a:txBody>
                  <a:tcPr>
                    <a:solidFill>
                      <a:srgbClr val="FFFFFF"/>
                    </a:solidFill>
                  </a:tcPr>
                </a:tc>
                <a:tc>
                  <a:txBody>
                    <a:bodyPr/>
                    <a:lstStyle/>
                    <a:p>
                      <a:r>
                        <a:rPr sz="1250" b="0" dirty="0">
                          <a:solidFill>
                            <a:srgbClr val="333333"/>
                          </a:solidFill>
                          <a:latin typeface="Meiryo"/>
                          <a:ea typeface="メイリオ"/>
                          <a:cs typeface="Meiryo"/>
                        </a:rPr>
                        <a:t>資格別の年収相場・キャリアマップ</a:t>
                      </a: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10日後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250" b="0" dirty="0" err="1">
                          <a:solidFill>
                            <a:srgbClr val="333333"/>
                          </a:solidFill>
                          <a:latin typeface="Meiryo"/>
                          <a:ea typeface="メイリオ"/>
                          <a:cs typeface="Meiryo"/>
                        </a:rPr>
                        <a:t>現場のリアル（タイヤ交換の繁忙期・工具・手当）</a:t>
                      </a: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12日後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250" b="0" dirty="0" err="1">
                          <a:solidFill>
                            <a:srgbClr val="333333"/>
                          </a:solidFill>
                          <a:latin typeface="Meiryo"/>
                          <a:ea typeface="メイリオ"/>
                          <a:cs typeface="Meiryo"/>
                        </a:rPr>
                        <a:t>地域別の求人ピックアップ（オートバックスG）</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r h="411480">
                <a:tc>
                  <a:txBody>
                    <a:bodyPr/>
                    <a:lstStyle/>
                    <a:p>
                      <a:r>
                        <a:rPr sz="1400" b="0">
                          <a:solidFill>
                            <a:srgbClr val="333333"/>
                          </a:solidFill>
                          <a:latin typeface="Meiryo"/>
                          <a:ea typeface="メイリオ"/>
                          <a:cs typeface="Meiryo"/>
                        </a:rPr>
                        <a:t>14日後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250" b="0" dirty="0" err="1">
                          <a:solidFill>
                            <a:srgbClr val="333333"/>
                          </a:solidFill>
                          <a:latin typeface="Meiryo"/>
                          <a:ea typeface="メイリオ"/>
                          <a:cs typeface="Meiryo"/>
                        </a:rPr>
                        <a:t>面談のご案内②＋以後は月数回の定常配信へ切替</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9"/>
                  </a:ext>
                </a:extLst>
              </a:tr>
            </a:tbl>
          </a:graphicData>
        </a:graphic>
      </p:graphicFrame>
      <p:sp>
        <p:nvSpPr>
          <p:cNvPr id="47" name="TextBox 46"/>
          <p:cNvSpPr txBox="1"/>
          <p:nvPr/>
        </p:nvSpPr>
        <p:spPr>
          <a:xfrm>
            <a:off x="429768" y="5439240"/>
            <a:ext cx="9052560" cy="677108"/>
          </a:xfrm>
          <a:prstGeom prst="rect">
            <a:avLst/>
          </a:prstGeom>
          <a:noFill/>
        </p:spPr>
        <p:txBody>
          <a:bodyPr wrap="square">
            <a:spAutoFit/>
          </a:bodyPr>
          <a:lstStyle/>
          <a:p>
            <a:r>
              <a:rPr sz="1400" b="1" dirty="0">
                <a:solidFill>
                  <a:srgbClr val="BF4E0E"/>
                </a:solidFill>
                <a:latin typeface="Meiryo"/>
                <a:ea typeface="メイリオ"/>
                <a:cs typeface="Meiryo"/>
              </a:rPr>
              <a:t>職業への関心は検索当日〜2日後に集中 → 関心が消える前の3日目に1回目の面談案内</a:t>
            </a:r>
          </a:p>
          <a:p>
            <a:r>
              <a:rPr sz="1400" b="1" dirty="0">
                <a:solidFill>
                  <a:srgbClr val="BF4E0E"/>
                </a:solidFill>
                <a:latin typeface="Meiryo"/>
                <a:ea typeface="メイリオ"/>
                <a:cs typeface="Meiryo"/>
              </a:rPr>
              <a:t>面談・応募 89件（6ヶ月累計・SIM①）＝ 累計CPA 29,697円として算出</a:t>
            </a:r>
          </a:p>
          <a:p>
            <a:r>
              <a:rPr sz="1400" b="1" dirty="0">
                <a:solidFill>
                  <a:srgbClr val="BF4E0E"/>
                </a:solidFill>
                <a:latin typeface="Meiryo"/>
                <a:ea typeface="メイリオ"/>
                <a:cs typeface="Meiryo"/>
              </a:rPr>
              <a:t>面談予約で止めず、就業までLINEで追いきります（面談前日リマインド→当日案内→面談後フォロー）</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出典：LINEヤフー 前後検索データ（起点KW：カーディーラー）／コンテンツ案v1（別紙・配信文面の全文）</a:t>
            </a:r>
          </a:p>
        </p:txBody>
      </p:sp>
    </p:spTree>
    <p:extLst>
      <p:ext uri="{BB962C8B-B14F-4D97-AF65-F5344CB8AC3E}">
        <p14:creationId xmlns:p14="http://schemas.microsoft.com/office/powerpoint/2010/main" val="1451945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2631F-440C-AF04-0C69-2C8669EB8048}"/>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想定企画【年間】</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07777"/>
          </a:xfrm>
          <a:prstGeom prst="rect">
            <a:avLst/>
          </a:prstGeom>
          <a:noFill/>
        </p:spPr>
        <p:txBody>
          <a:bodyPr wrap="square">
            <a:spAutoFit/>
          </a:bodyPr>
          <a:lstStyle/>
          <a:p>
            <a:pPr algn="l"/>
            <a:r>
              <a:rPr sz="1400" b="0" i="0" dirty="0" err="1">
                <a:solidFill>
                  <a:srgbClr val="333333"/>
                </a:solidFill>
                <a:latin typeface="Meiryo"/>
                <a:ea typeface="メイリオ"/>
                <a:cs typeface="Meiryo"/>
              </a:rPr>
              <a:t>年間を通じて、友だち増加・面談獲得・ブロック防止を狙う企画投稿を月別に配置する（月4本）</a:t>
            </a:r>
            <a:endParaRPr sz="1400" b="0" i="0" dirty="0">
              <a:solidFill>
                <a:srgbClr val="333333"/>
              </a:solidFill>
              <a:latin typeface="Meiryo"/>
              <a:ea typeface="メイリオ"/>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87126696"/>
              </p:ext>
            </p:extLst>
          </p:nvPr>
        </p:nvGraphicFramePr>
        <p:xfrm>
          <a:off x="457200" y="1371600"/>
          <a:ext cx="8988551" cy="4526280"/>
        </p:xfrm>
        <a:graphic>
          <a:graphicData uri="http://schemas.openxmlformats.org/drawingml/2006/table">
            <a:tbl>
              <a:tblPr firstRow="1" bandRow="1">
                <a:tableStyleId>{5C22544A-7EE6-4342-B048-85BDC9FD1C3A}</a:tableStyleId>
              </a:tblPr>
              <a:tblGrid>
                <a:gridCol w="1438168">
                  <a:extLst>
                    <a:ext uri="{9D8B030D-6E8A-4147-A177-3AD203B41FA5}">
                      <a16:colId xmlns:a16="http://schemas.microsoft.com/office/drawing/2014/main" val="20000"/>
                    </a:ext>
                  </a:extLst>
                </a:gridCol>
                <a:gridCol w="2696565">
                  <a:extLst>
                    <a:ext uri="{9D8B030D-6E8A-4147-A177-3AD203B41FA5}">
                      <a16:colId xmlns:a16="http://schemas.microsoft.com/office/drawing/2014/main" val="20001"/>
                    </a:ext>
                  </a:extLst>
                </a:gridCol>
                <a:gridCol w="4853818">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1-2月</a:t>
                      </a:r>
                    </a:p>
                  </a:txBody>
                  <a:tcPr>
                    <a:solidFill>
                      <a:srgbClr val="FFFFFF"/>
                    </a:solidFill>
                  </a:tcPr>
                </a:tc>
                <a:tc>
                  <a:txBody>
                    <a:bodyPr/>
                    <a:lstStyle/>
                    <a:p>
                      <a:r>
                        <a:rPr sz="1400" b="0">
                          <a:solidFill>
                            <a:srgbClr val="333333"/>
                          </a:solidFill>
                          <a:latin typeface="Meiryo"/>
                          <a:ea typeface="メイリオ"/>
                          <a:cs typeface="Meiryo"/>
                        </a:rPr>
                        <a:t>「冬のうちに相談だけ」訴求</a:t>
                      </a:r>
                    </a:p>
                  </a:txBody>
                  <a:tcPr>
                    <a:solidFill>
                      <a:srgbClr val="FFFFFF"/>
                    </a:solidFill>
                  </a:tcPr>
                </a:tc>
                <a:tc>
                  <a:txBody>
                    <a:bodyPr/>
                    <a:lstStyle/>
                    <a:p>
                      <a:r>
                        <a:rPr sz="1400" b="0">
                          <a:solidFill>
                            <a:srgbClr val="333333"/>
                          </a:solidFill>
                          <a:latin typeface="Meiryo"/>
                          <a:ea typeface="メイリオ"/>
                          <a:cs typeface="Meiryo"/>
                        </a:rPr>
                        <a:t>3月の山に向けて前倒し。在職中でも相談OKを打ち出す</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3月</a:t>
                      </a:r>
                    </a:p>
                  </a:txBody>
                  <a:tcPr>
                    <a:solidFill>
                      <a:srgbClr val="FFFFFF"/>
                    </a:solidFill>
                  </a:tcPr>
                </a:tc>
                <a:tc>
                  <a:txBody>
                    <a:bodyPr/>
                    <a:lstStyle/>
                    <a:p>
                      <a:r>
                        <a:rPr sz="1400" b="0">
                          <a:solidFill>
                            <a:srgbClr val="333333"/>
                          </a:solidFill>
                          <a:latin typeface="Meiryo"/>
                          <a:ea typeface="メイリオ"/>
                          <a:cs typeface="Meiryo"/>
                        </a:rPr>
                        <a:t>年度替わり求人特集</a:t>
                      </a:r>
                    </a:p>
                  </a:txBody>
                  <a:tcPr>
                    <a:solidFill>
                      <a:srgbClr val="FFFFFF"/>
                    </a:solidFill>
                  </a:tcPr>
                </a:tc>
                <a:tc>
                  <a:txBody>
                    <a:bodyPr/>
                    <a:lstStyle/>
                    <a:p>
                      <a:r>
                        <a:rPr sz="1400" b="0">
                          <a:solidFill>
                            <a:srgbClr val="333333"/>
                          </a:solidFill>
                          <a:latin typeface="Meiryo"/>
                          <a:ea typeface="メイリオ"/>
                          <a:cs typeface="Meiryo"/>
                        </a:rPr>
                        <a:t>4月入社求人を地域別に配信（3月＝検索の山）</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3-4月</a:t>
                      </a:r>
                    </a:p>
                  </a:txBody>
                  <a:tcPr>
                    <a:solidFill>
                      <a:srgbClr val="FFFFFF"/>
                    </a:solidFill>
                  </a:tcPr>
                </a:tc>
                <a:tc>
                  <a:txBody>
                    <a:bodyPr/>
                    <a:lstStyle/>
                    <a:p>
                      <a:r>
                        <a:rPr sz="1400" b="0">
                          <a:solidFill>
                            <a:srgbClr val="333333"/>
                          </a:solidFill>
                          <a:latin typeface="Meiryo"/>
                          <a:ea typeface="メイリオ"/>
                          <a:cs typeface="Meiryo"/>
                        </a:rPr>
                        <a:t>資格取得者向け特集</a:t>
                      </a:r>
                    </a:p>
                  </a:txBody>
                  <a:tcPr>
                    <a:solidFill>
                      <a:srgbClr val="FFFFFF"/>
                    </a:solidFill>
                  </a:tcPr>
                </a:tc>
                <a:tc>
                  <a:txBody>
                    <a:bodyPr/>
                    <a:lstStyle/>
                    <a:p>
                      <a:r>
                        <a:rPr sz="1400" b="0">
                          <a:solidFill>
                            <a:srgbClr val="333333"/>
                          </a:solidFill>
                          <a:latin typeface="Meiryo"/>
                          <a:ea typeface="メイリオ"/>
                          <a:cs typeface="Meiryo"/>
                        </a:rPr>
                        <a:t>2級・検査員の合格者へ資格別の年収相場を配信</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5月</a:t>
                      </a:r>
                    </a:p>
                  </a:txBody>
                  <a:tcPr>
                    <a:solidFill>
                      <a:srgbClr val="FFFFFF"/>
                    </a:solidFill>
                  </a:tcPr>
                </a:tc>
                <a:tc>
                  <a:txBody>
                    <a:bodyPr/>
                    <a:lstStyle/>
                    <a:p>
                      <a:r>
                        <a:rPr sz="1400" b="0" dirty="0" err="1">
                          <a:solidFill>
                            <a:srgbClr val="333333"/>
                          </a:solidFill>
                          <a:latin typeface="Meiryo"/>
                          <a:ea typeface="メイリオ"/>
                          <a:cs typeface="Meiryo"/>
                        </a:rPr>
                        <a:t>連休明けの見直し訴求</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GW明けの「このままでいいか」層を面談へ</a:t>
                      </a: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6月</a:t>
                      </a:r>
                    </a:p>
                  </a:txBody>
                  <a:tcPr>
                    <a:solidFill>
                      <a:srgbClr val="FFFFFF"/>
                    </a:solidFill>
                  </a:tcPr>
                </a:tc>
                <a:tc>
                  <a:txBody>
                    <a:bodyPr/>
                    <a:lstStyle/>
                    <a:p>
                      <a:r>
                        <a:rPr sz="1400" b="0">
                          <a:solidFill>
                            <a:srgbClr val="333333"/>
                          </a:solidFill>
                          <a:latin typeface="Meiryo"/>
                          <a:ea typeface="メイリオ"/>
                          <a:cs typeface="Meiryo"/>
                        </a:rPr>
                        <a:t>LINEリサーチでニーズ収集</a:t>
                      </a:r>
                    </a:p>
                  </a:txBody>
                  <a:tcPr>
                    <a:solidFill>
                      <a:srgbClr val="FFFFFF"/>
                    </a:solidFill>
                  </a:tcPr>
                </a:tc>
                <a:tc>
                  <a:txBody>
                    <a:bodyPr/>
                    <a:lstStyle/>
                    <a:p>
                      <a:r>
                        <a:rPr sz="1400" b="0">
                          <a:solidFill>
                            <a:srgbClr val="333333"/>
                          </a:solidFill>
                          <a:latin typeface="Meiryo"/>
                          <a:ea typeface="メイリオ"/>
                          <a:cs typeface="Meiryo"/>
                        </a:rPr>
                        <a:t>転職理由・希望条件を簡易アンケートで把握し企画に反映</a:t>
                      </a: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7-8月</a:t>
                      </a:r>
                    </a:p>
                  </a:txBody>
                  <a:tcPr>
                    <a:solidFill>
                      <a:srgbClr val="FFFFFF"/>
                    </a:solidFill>
                  </a:tcPr>
                </a:tc>
                <a:tc>
                  <a:txBody>
                    <a:bodyPr/>
                    <a:lstStyle/>
                    <a:p>
                      <a:r>
                        <a:rPr sz="1400" b="0" dirty="0" err="1">
                          <a:solidFill>
                            <a:srgbClr val="333333"/>
                          </a:solidFill>
                          <a:latin typeface="Meiryo"/>
                          <a:ea typeface="メイリオ"/>
                          <a:cs typeface="Meiryo"/>
                        </a:rPr>
                        <a:t>賞与後の転職検討特集</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夏のボーナス後に動く層へ年収相場・求人を配信</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9月</a:t>
                      </a:r>
                    </a:p>
                  </a:txBody>
                  <a:tcPr>
                    <a:solidFill>
                      <a:srgbClr val="FFFFFF"/>
                    </a:solidFill>
                  </a:tcPr>
                </a:tc>
                <a:tc>
                  <a:txBody>
                    <a:bodyPr/>
                    <a:lstStyle/>
                    <a:p>
                      <a:r>
                        <a:rPr sz="1400" b="0">
                          <a:solidFill>
                            <a:srgbClr val="333333"/>
                          </a:solidFill>
                          <a:latin typeface="Meiryo"/>
                          <a:ea typeface="メイリオ"/>
                          <a:cs typeface="Meiryo"/>
                        </a:rPr>
                        <a:t>資格取得・キャリア特集</a:t>
                      </a:r>
                    </a:p>
                  </a:txBody>
                  <a:tcPr>
                    <a:solidFill>
                      <a:srgbClr val="FFFFFF"/>
                    </a:solidFill>
                  </a:tcPr>
                </a:tc>
                <a:tc>
                  <a:txBody>
                    <a:bodyPr/>
                    <a:lstStyle/>
                    <a:p>
                      <a:r>
                        <a:rPr sz="1400" b="0" dirty="0" err="1">
                          <a:solidFill>
                            <a:srgbClr val="333333"/>
                          </a:solidFill>
                          <a:latin typeface="Meiryo"/>
                          <a:ea typeface="メイリオ"/>
                          <a:cs typeface="Meiryo"/>
                        </a:rPr>
                        <a:t>無資格・3級向けに整備士育成プロジェクトを案内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10月</a:t>
                      </a:r>
                    </a:p>
                  </a:txBody>
                  <a:tcPr>
                    <a:solidFill>
                      <a:srgbClr val="FFFFFF"/>
                    </a:solidFill>
                  </a:tcPr>
                </a:tc>
                <a:tc>
                  <a:txBody>
                    <a:bodyPr/>
                    <a:lstStyle/>
                    <a:p>
                      <a:r>
                        <a:rPr sz="1400" b="0">
                          <a:solidFill>
                            <a:srgbClr val="333333"/>
                          </a:solidFill>
                          <a:latin typeface="Meiryo"/>
                          <a:ea typeface="メイリオ"/>
                          <a:cs typeface="Meiryo"/>
                        </a:rPr>
                        <a:t>年内入社ラストコール</a:t>
                      </a:r>
                    </a:p>
                  </a:txBody>
                  <a:tcPr>
                    <a:solidFill>
                      <a:srgbClr val="FFFFFF"/>
                    </a:solidFill>
                  </a:tcPr>
                </a:tc>
                <a:tc>
                  <a:txBody>
                    <a:bodyPr/>
                    <a:lstStyle/>
                    <a:p>
                      <a:r>
                        <a:rPr sz="1400" b="0" dirty="0" err="1">
                          <a:solidFill>
                            <a:srgbClr val="333333"/>
                          </a:solidFill>
                          <a:latin typeface="Meiryo"/>
                          <a:ea typeface="メイリオ"/>
                          <a:cs typeface="Meiryo"/>
                        </a:rPr>
                        <a:t>年内に動きたい層へ面談枠をご案内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r h="411480">
                <a:tc>
                  <a:txBody>
                    <a:bodyPr/>
                    <a:lstStyle/>
                    <a:p>
                      <a:r>
                        <a:rPr sz="1400" b="0">
                          <a:solidFill>
                            <a:srgbClr val="333333"/>
                          </a:solidFill>
                          <a:latin typeface="Meiryo"/>
                          <a:ea typeface="メイリオ"/>
                          <a:cs typeface="Meiryo"/>
                        </a:rPr>
                        <a:t>11月</a:t>
                      </a:r>
                    </a:p>
                  </a:txBody>
                  <a:tcPr>
                    <a:solidFill>
                      <a:srgbClr val="FFFFFF"/>
                    </a:solidFill>
                  </a:tcPr>
                </a:tc>
                <a:tc>
                  <a:txBody>
                    <a:bodyPr/>
                    <a:lstStyle/>
                    <a:p>
                      <a:r>
                        <a:rPr sz="1400" b="0">
                          <a:solidFill>
                            <a:srgbClr val="333333"/>
                          </a:solidFill>
                          <a:latin typeface="Meiryo"/>
                          <a:ea typeface="メイリオ"/>
                          <a:cs typeface="Meiryo"/>
                        </a:rPr>
                        <a:t>冬の繁忙期＝現場のリアル</a:t>
                      </a:r>
                    </a:p>
                  </a:txBody>
                  <a:tcPr>
                    <a:solidFill>
                      <a:srgbClr val="FFFFFF"/>
                    </a:solidFill>
                  </a:tcPr>
                </a:tc>
                <a:tc>
                  <a:txBody>
                    <a:bodyPr/>
                    <a:lstStyle/>
                    <a:p>
                      <a:r>
                        <a:rPr sz="1400" b="0" dirty="0" err="1">
                          <a:solidFill>
                            <a:srgbClr val="333333"/>
                          </a:solidFill>
                          <a:latin typeface="Meiryo"/>
                          <a:ea typeface="メイリオ"/>
                          <a:cs typeface="Meiryo"/>
                        </a:rPr>
                        <a:t>スタッドレス・タイヤ交換期の現場と手当を紹介</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9"/>
                  </a:ext>
                </a:extLst>
              </a:tr>
              <a:tr h="411480">
                <a:tc>
                  <a:txBody>
                    <a:bodyPr/>
                    <a:lstStyle/>
                    <a:p>
                      <a:r>
                        <a:rPr sz="1400" b="0">
                          <a:solidFill>
                            <a:srgbClr val="333333"/>
                          </a:solidFill>
                          <a:latin typeface="Meiryo"/>
                          <a:ea typeface="メイリオ"/>
                          <a:cs typeface="Meiryo"/>
                        </a:rPr>
                        <a:t>12月</a:t>
                      </a:r>
                    </a:p>
                  </a:txBody>
                  <a:tcPr>
                    <a:solidFill>
                      <a:srgbClr val="FFFFFF"/>
                    </a:solidFill>
                  </a:tcPr>
                </a:tc>
                <a:tc>
                  <a:txBody>
                    <a:bodyPr/>
                    <a:lstStyle/>
                    <a:p>
                      <a:r>
                        <a:rPr sz="1400" b="0">
                          <a:solidFill>
                            <a:srgbClr val="333333"/>
                          </a:solidFill>
                          <a:latin typeface="Meiryo"/>
                          <a:ea typeface="メイリオ"/>
                          <a:cs typeface="Meiryo"/>
                        </a:rPr>
                        <a:t>冬も相談だけOK訴求</a:t>
                      </a:r>
                    </a:p>
                  </a:txBody>
                  <a:tcPr>
                    <a:solidFill>
                      <a:srgbClr val="FFFFFF"/>
                    </a:solidFill>
                  </a:tcPr>
                </a:tc>
                <a:tc>
                  <a:txBody>
                    <a:bodyPr/>
                    <a:lstStyle/>
                    <a:p>
                      <a:r>
                        <a:rPr sz="1400" b="0" dirty="0" err="1">
                          <a:solidFill>
                            <a:srgbClr val="333333"/>
                          </a:solidFill>
                          <a:latin typeface="Meiryo"/>
                          <a:ea typeface="メイリオ"/>
                          <a:cs typeface="Meiryo"/>
                        </a:rPr>
                        <a:t>検索の谷でも検討は続く。配信は止めず関係を維持</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10"/>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出典：Googleトレンド「整備士」（山3月・谷12月）／前後検索KW「カーディーラー」／コンテンツ案v1</a:t>
            </a:r>
          </a:p>
        </p:txBody>
      </p:sp>
    </p:spTree>
    <p:extLst>
      <p:ext uri="{BB962C8B-B14F-4D97-AF65-F5344CB8AC3E}">
        <p14:creationId xmlns:p14="http://schemas.microsoft.com/office/powerpoint/2010/main" val="1269822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通知メッセージと特殊動線の使いどころ</a:t>
            </a:r>
            <a:endParaRPr sz="1600" b="1" dirty="0">
              <a:solidFill>
                <a:srgbClr val="002060"/>
              </a:solidFill>
              <a:latin typeface="Meiryo"/>
              <a:ea typeface="Meiryo"/>
              <a:cs typeface="Meiryo"/>
              <a:sym typeface="Meiryo"/>
            </a:endParaRPr>
          </a:p>
        </p:txBody>
      </p:sp>
      <p:cxnSp>
        <p:nvCxnSpPr>
          <p:cNvPr id="46" name="Connector 45"/>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l"/>
            <a:r>
              <a:rPr sz="1300" b="0">
                <a:solidFill>
                  <a:srgbClr val="333333"/>
                </a:solidFill>
                <a:latin typeface="メイリオ"/>
                <a:ea typeface="メイリオ"/>
                <a:cs typeface="メイリオ"/>
              </a:rPr>
              <a:t>通知メッセージは、友だち追加していない人にも電話番号あてに届きます。</a:t>
            </a:r>
          </a:p>
          <a:p>
            <a:pPr algn="l"/>
            <a:r>
              <a:rPr sz="1300" b="0">
                <a:solidFill>
                  <a:srgbClr val="333333"/>
                </a:solidFill>
                <a:latin typeface="メイリオ"/>
                <a:ea typeface="メイリオ"/>
                <a:cs typeface="メイリオ"/>
              </a:rPr>
              <a:t>過去リストの掘り起こしではなく、「面談に来てもらう」ために使います。</a:t>
            </a:r>
          </a:p>
        </p:txBody>
      </p:sp>
      <p:sp>
        <p:nvSpPr>
          <p:cNvPr id="48" name="Rectangle 47"/>
          <p:cNvSpPr/>
          <p:nvPr/>
        </p:nvSpPr>
        <p:spPr>
          <a:xfrm>
            <a:off x="432000" y="1530000"/>
            <a:ext cx="72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200" b="1">
                <a:solidFill>
                  <a:srgbClr val="1F285A"/>
                </a:solidFill>
                <a:latin typeface="メイリオ"/>
                <a:ea typeface="メイリオ"/>
                <a:cs typeface="メイリオ"/>
              </a:rPr>
              <a:t>■ 通知メッセージの利用シーン</a:t>
            </a:r>
          </a:p>
        </p:txBody>
      </p:sp>
      <p:sp>
        <p:nvSpPr>
          <p:cNvPr id="49" name="Rounded Rectangle 48"/>
          <p:cNvSpPr/>
          <p:nvPr/>
        </p:nvSpPr>
        <p:spPr>
          <a:xfrm>
            <a:off x="432000" y="1782000"/>
            <a:ext cx="2206800" cy="97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150" b="1">
                <a:solidFill>
                  <a:srgbClr val="1F285A"/>
                </a:solidFill>
                <a:latin typeface="メイリオ"/>
                <a:ea typeface="メイリオ"/>
                <a:cs typeface="メイリオ"/>
              </a:rPr>
              <a:t>面談予約の確定通知</a:t>
            </a:r>
          </a:p>
          <a:p>
            <a:pPr algn="ctr"/>
            <a:r>
              <a:rPr sz="1000" b="0">
                <a:solidFill>
                  <a:srgbClr val="333333"/>
                </a:solidFill>
                <a:latin typeface="メイリオ"/>
                <a:ea typeface="メイリオ"/>
                <a:cs typeface="メイリオ"/>
              </a:rPr>
              <a:t>来場率を上げる → 面談実施（CV）</a:t>
            </a:r>
          </a:p>
        </p:txBody>
      </p:sp>
      <p:sp>
        <p:nvSpPr>
          <p:cNvPr id="50" name="Rounded Rectangle 49"/>
          <p:cNvSpPr/>
          <p:nvPr/>
        </p:nvSpPr>
        <p:spPr>
          <a:xfrm>
            <a:off x="2710800" y="1782000"/>
            <a:ext cx="2206800" cy="97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150" b="1">
                <a:solidFill>
                  <a:srgbClr val="1F285A"/>
                </a:solidFill>
                <a:latin typeface="メイリオ"/>
                <a:ea typeface="メイリオ"/>
                <a:cs typeface="メイリオ"/>
              </a:rPr>
              <a:t>面談前日のリマインド</a:t>
            </a:r>
          </a:p>
          <a:p>
            <a:pPr algn="ctr"/>
            <a:r>
              <a:rPr sz="1000" b="0">
                <a:solidFill>
                  <a:srgbClr val="333333"/>
                </a:solidFill>
                <a:latin typeface="メイリオ"/>
                <a:ea typeface="メイリオ"/>
                <a:cs typeface="メイリオ"/>
              </a:rPr>
              <a:t>当日キャンセルを防ぐ</a:t>
            </a:r>
          </a:p>
        </p:txBody>
      </p:sp>
      <p:sp>
        <p:nvSpPr>
          <p:cNvPr id="51" name="Rounded Rectangle 50"/>
          <p:cNvSpPr/>
          <p:nvPr/>
        </p:nvSpPr>
        <p:spPr>
          <a:xfrm>
            <a:off x="4989600" y="1782000"/>
            <a:ext cx="2206800" cy="97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150" b="1">
                <a:solidFill>
                  <a:srgbClr val="1F285A"/>
                </a:solidFill>
                <a:latin typeface="メイリオ"/>
                <a:ea typeface="メイリオ"/>
                <a:cs typeface="メイリオ"/>
              </a:rPr>
              <a:t>内定通知・入社日の確定</a:t>
            </a:r>
          </a:p>
          <a:p>
            <a:pPr algn="ctr"/>
            <a:r>
              <a:rPr sz="1000" b="0">
                <a:solidFill>
                  <a:srgbClr val="333333"/>
                </a:solidFill>
                <a:latin typeface="メイリオ"/>
                <a:ea typeface="メイリオ"/>
                <a:cs typeface="メイリオ"/>
              </a:rPr>
              <a:t>満足度を上げる → 友だち紹介</a:t>
            </a:r>
          </a:p>
        </p:txBody>
      </p:sp>
      <p:sp>
        <p:nvSpPr>
          <p:cNvPr id="52" name="Rounded Rectangle 51"/>
          <p:cNvSpPr/>
          <p:nvPr/>
        </p:nvSpPr>
        <p:spPr>
          <a:xfrm>
            <a:off x="7268400" y="1782000"/>
            <a:ext cx="2206800" cy="97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150" b="1">
                <a:solidFill>
                  <a:srgbClr val="1F285A"/>
                </a:solidFill>
                <a:latin typeface="メイリオ"/>
                <a:ea typeface="メイリオ"/>
                <a:cs typeface="メイリオ"/>
              </a:rPr>
              <a:t>求人フェア・相談会の告知</a:t>
            </a:r>
          </a:p>
          <a:p>
            <a:pPr algn="ctr"/>
            <a:r>
              <a:rPr sz="1000" b="0">
                <a:solidFill>
                  <a:srgbClr val="333333"/>
                </a:solidFill>
                <a:latin typeface="メイリオ"/>
                <a:ea typeface="メイリオ"/>
                <a:cs typeface="メイリオ"/>
              </a:rPr>
              <a:t>保有リストへ再接触</a:t>
            </a:r>
          </a:p>
        </p:txBody>
      </p:sp>
      <p:sp>
        <p:nvSpPr>
          <p:cNvPr id="53" name="Rectangle 52"/>
          <p:cNvSpPr/>
          <p:nvPr/>
        </p:nvSpPr>
        <p:spPr>
          <a:xfrm>
            <a:off x="432000" y="2916000"/>
            <a:ext cx="72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200" b="1">
                <a:solidFill>
                  <a:srgbClr val="1F285A"/>
                </a:solidFill>
                <a:latin typeface="メイリオ"/>
                <a:ea typeface="メイリオ"/>
                <a:cs typeface="メイリオ"/>
              </a:rPr>
              <a:t>■ その他の特殊動線（LINEで答えるだけ）</a:t>
            </a:r>
          </a:p>
        </p:txBody>
      </p:sp>
      <p:sp>
        <p:nvSpPr>
          <p:cNvPr id="54" name="Rounded Rectangle 53"/>
          <p:cNvSpPr/>
          <p:nvPr/>
        </p:nvSpPr>
        <p:spPr>
          <a:xfrm>
            <a:off x="432000" y="3168000"/>
            <a:ext cx="2206800" cy="97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150" b="1">
                <a:solidFill>
                  <a:srgbClr val="FFFFFF"/>
                </a:solidFill>
                <a:latin typeface="メイリオ"/>
                <a:ea typeface="メイリオ"/>
                <a:cs typeface="メイリオ"/>
              </a:rPr>
              <a:t>3問で簡易キャリア診断</a:t>
            </a:r>
          </a:p>
          <a:p>
            <a:pPr algn="ctr"/>
            <a:r>
              <a:rPr sz="1000" b="0">
                <a:solidFill>
                  <a:srgbClr val="FFFFFF"/>
                </a:solidFill>
                <a:latin typeface="メイリオ"/>
                <a:ea typeface="メイリオ"/>
                <a:cs typeface="メイリオ"/>
              </a:rPr>
              <a:t>答えるだけ。心理ハードルを最小に</a:t>
            </a:r>
          </a:p>
        </p:txBody>
      </p:sp>
      <p:sp>
        <p:nvSpPr>
          <p:cNvPr id="55" name="Rounded Rectangle 54"/>
          <p:cNvSpPr/>
          <p:nvPr/>
        </p:nvSpPr>
        <p:spPr>
          <a:xfrm>
            <a:off x="2710800" y="3168000"/>
            <a:ext cx="2206800" cy="97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150" b="1">
                <a:solidFill>
                  <a:srgbClr val="FFFFFF"/>
                </a:solidFill>
                <a:latin typeface="メイリオ"/>
                <a:ea typeface="メイリオ"/>
                <a:cs typeface="メイリオ"/>
              </a:rPr>
              <a:t>「あなたに合う職場」診断</a:t>
            </a:r>
          </a:p>
          <a:p>
            <a:pPr algn="ctr"/>
            <a:r>
              <a:rPr sz="1000" b="0">
                <a:solidFill>
                  <a:srgbClr val="FFFFFF"/>
                </a:solidFill>
                <a:latin typeface="メイリオ"/>
                <a:ea typeface="メイリオ"/>
                <a:cs typeface="メイリオ"/>
              </a:rPr>
              <a:t>数問で求人を提示 → 面談予約へ</a:t>
            </a:r>
          </a:p>
        </p:txBody>
      </p:sp>
      <p:sp>
        <p:nvSpPr>
          <p:cNvPr id="56" name="Rounded Rectangle 55"/>
          <p:cNvSpPr/>
          <p:nvPr/>
        </p:nvSpPr>
        <p:spPr>
          <a:xfrm>
            <a:off x="4989600" y="3168000"/>
            <a:ext cx="2206800" cy="97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150" b="1">
                <a:solidFill>
                  <a:srgbClr val="FFFFFF"/>
                </a:solidFill>
                <a:latin typeface="メイリオ"/>
                <a:ea typeface="メイリオ"/>
                <a:cs typeface="メイリオ"/>
              </a:rPr>
              <a:t>資格別の年収シミュレーション</a:t>
            </a:r>
          </a:p>
          <a:p>
            <a:pPr algn="ctr"/>
            <a:r>
              <a:rPr sz="1000" b="0">
                <a:solidFill>
                  <a:srgbClr val="FFFFFF"/>
                </a:solidFill>
                <a:latin typeface="メイリオ"/>
                <a:ea typeface="メイリオ"/>
                <a:cs typeface="メイリオ"/>
              </a:rPr>
              <a:t>参加型で友だち獲得</a:t>
            </a:r>
          </a:p>
        </p:txBody>
      </p:sp>
      <p:sp>
        <p:nvSpPr>
          <p:cNvPr id="57" name="Rounded Rectangle 56"/>
          <p:cNvSpPr/>
          <p:nvPr/>
        </p:nvSpPr>
        <p:spPr>
          <a:xfrm>
            <a:off x="7268400" y="3168000"/>
            <a:ext cx="2206800" cy="97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150" b="1">
                <a:solidFill>
                  <a:srgbClr val="FFFFFF"/>
                </a:solidFill>
                <a:latin typeface="メイリオ"/>
                <a:ea typeface="メイリオ"/>
                <a:cs typeface="メイリオ"/>
              </a:rPr>
              <a:t>整備士向けキャリア相談会</a:t>
            </a:r>
          </a:p>
          <a:p>
            <a:pPr algn="ctr"/>
            <a:r>
              <a:rPr sz="1000" b="0">
                <a:solidFill>
                  <a:srgbClr val="FFFFFF"/>
                </a:solidFill>
                <a:latin typeface="メイリオ"/>
                <a:ea typeface="メイリオ"/>
                <a:cs typeface="メイリオ"/>
              </a:rPr>
              <a:t>特化型の入口に</a:t>
            </a:r>
          </a:p>
        </p:txBody>
      </p:sp>
      <p:sp>
        <p:nvSpPr>
          <p:cNvPr id="58" name="Rectangle 57"/>
          <p:cNvSpPr/>
          <p:nvPr/>
        </p:nvSpPr>
        <p:spPr>
          <a:xfrm>
            <a:off x="432000" y="4248000"/>
            <a:ext cx="9036000" cy="3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950" b="0">
                <a:solidFill>
                  <a:srgbClr val="7F7F7F"/>
                </a:solidFill>
                <a:latin typeface="メイリオ"/>
                <a:ea typeface="メイリオ"/>
                <a:cs typeface="メイリオ"/>
              </a:rPr>
              <a:t>※ 通知メッセージは、予約確認・リマインドなど本人の行動に紐づく連絡に使う機能です（広告目的の一斉送信は不可）。</a:t>
            </a:r>
          </a:p>
          <a:p>
            <a:pPr algn="l"/>
            <a:r>
              <a:rPr sz="950" b="0">
                <a:solidFill>
                  <a:srgbClr val="7F7F7F"/>
                </a:solidFill>
                <a:latin typeface="メイリオ"/>
                <a:ea typeface="メイリオ"/>
                <a:cs typeface="メイリオ"/>
              </a:rPr>
              <a:t>※ 導入費用は初期20万円〜（P31 都度発注プラン）。</a:t>
            </a:r>
          </a:p>
        </p:txBody>
      </p:sp>
      <p:sp>
        <p:nvSpPr>
          <p:cNvPr id="59" name="Rounded Rectangle 58"/>
          <p:cNvSpPr/>
          <p:nvPr/>
        </p:nvSpPr>
        <p:spPr>
          <a:xfrm>
            <a:off x="432000" y="4788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300" b="1">
                <a:solidFill>
                  <a:srgbClr val="FFFFFF"/>
                </a:solidFill>
                <a:latin typeface="メイリオ"/>
                <a:ea typeface="メイリオ"/>
                <a:cs typeface="メイリオ"/>
              </a:rPr>
              <a:t>面談の「予約」で終わらせず、「実施」まで届ける。</a:t>
            </a:r>
          </a:p>
        </p:txBody>
      </p:sp>
    </p:spTree>
    <p:extLst>
      <p:ext uri="{BB962C8B-B14F-4D97-AF65-F5344CB8AC3E}">
        <p14:creationId xmlns:p14="http://schemas.microsoft.com/office/powerpoint/2010/main" val="189377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10" name="TextBox 2">
            <a:extLst>
              <a:ext uri="{FF2B5EF4-FFF2-40B4-BE49-F238E27FC236}">
                <a16:creationId xmlns:a16="http://schemas.microsoft.com/office/drawing/2014/main" id="{88F34F17-1222-19B2-703D-3A639F6FB75B}"/>
              </a:ext>
            </a:extLst>
          </p:cNvPr>
          <p:cNvSpPr/>
          <p:nvPr/>
        </p:nvSpPr>
        <p:spPr>
          <a:xfrm>
            <a:off x="426900" y="1777180"/>
            <a:ext cx="9052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500" b="0" strike="noStrike" spc="-1">
                <a:solidFill>
                  <a:srgbClr val="5A6378"/>
                </a:solidFill>
                <a:latin typeface="メイリオ" panose="020B0604030504040204" pitchFamily="50" charset="-128"/>
                <a:ea typeface="メイリオ" panose="020B0604030504040204" pitchFamily="50" charset="-128"/>
              </a:rPr>
              <a:t>各接点（箇所）ごとに訴求を出し分け、LINE友だち追加へつなげる（診断コンテンツを起点に設計）</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690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30秒 適職診断コンテンツ</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a:off x="324930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354198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診断結果をLINEで送付</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a:off x="636438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6657060" y="246298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1" strike="noStrike" spc="-1">
                <a:solidFill>
                  <a:srgbClr val="FFFFFF"/>
                </a:solidFill>
                <a:latin typeface="メイリオ" panose="020B0604030504040204" pitchFamily="50" charset="-128"/>
                <a:ea typeface="メイリオ" panose="020B0604030504040204" pitchFamily="50" charset="-128"/>
              </a:rPr>
              <a:t>LINE</a:t>
            </a:r>
            <a:r>
              <a:rPr lang="zh-CN" sz="12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42690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マイページ登録・求職者会員登録案内</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a:off x="324930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354198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新着求人の通知もLINEで受け取れる</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a:off x="636438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6657060" y="333166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1" strike="noStrike" spc="-1">
                <a:solidFill>
                  <a:srgbClr val="FFFFFF"/>
                </a:solidFill>
                <a:latin typeface="メイリオ" panose="020B0604030504040204" pitchFamily="50" charset="-128"/>
                <a:ea typeface="メイリオ" panose="020B0604030504040204" pitchFamily="50" charset="-128"/>
              </a:rPr>
              <a:t>LINE</a:t>
            </a:r>
            <a:r>
              <a:rPr lang="zh-CN" sz="12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34" name="Rounded Rectangle 13">
            <a:extLst>
              <a:ext uri="{FF2B5EF4-FFF2-40B4-BE49-F238E27FC236}">
                <a16:creationId xmlns:a16="http://schemas.microsoft.com/office/drawing/2014/main" id="{22D948EF-E8AB-9977-D385-ECE4F24EA2A6}"/>
              </a:ext>
            </a:extLst>
          </p:cNvPr>
          <p:cNvSpPr/>
          <p:nvPr/>
        </p:nvSpPr>
        <p:spPr>
          <a:xfrm>
            <a:off x="42690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地域別・希望条件別 求人相談キャンペーン</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5" name="Right Arrow 14">
            <a:extLst>
              <a:ext uri="{FF2B5EF4-FFF2-40B4-BE49-F238E27FC236}">
                <a16:creationId xmlns:a16="http://schemas.microsoft.com/office/drawing/2014/main" id="{ED599AD2-9433-037D-4055-3CD5D868773E}"/>
              </a:ext>
            </a:extLst>
          </p:cNvPr>
          <p:cNvSpPr/>
          <p:nvPr/>
        </p:nvSpPr>
        <p:spPr>
          <a:xfrm>
            <a:off x="324930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6" name="Rounded Rectangle 15">
            <a:extLst>
              <a:ext uri="{FF2B5EF4-FFF2-40B4-BE49-F238E27FC236}">
                <a16:creationId xmlns:a16="http://schemas.microsoft.com/office/drawing/2014/main" id="{AB67C977-69C9-A50F-851E-986C7CB7A3D5}"/>
              </a:ext>
            </a:extLst>
          </p:cNvPr>
          <p:cNvSpPr/>
          <p:nvPr/>
        </p:nvSpPr>
        <p:spPr>
          <a:xfrm>
            <a:off x="354198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申込完了特典をLINEでお届け</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43" name="Right Arrow 16">
            <a:extLst>
              <a:ext uri="{FF2B5EF4-FFF2-40B4-BE49-F238E27FC236}">
                <a16:creationId xmlns:a16="http://schemas.microsoft.com/office/drawing/2014/main" id="{526CE94B-E706-E4C3-FD31-99BF0647BBEF}"/>
              </a:ext>
            </a:extLst>
          </p:cNvPr>
          <p:cNvSpPr/>
          <p:nvPr/>
        </p:nvSpPr>
        <p:spPr>
          <a:xfrm>
            <a:off x="636438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44" name="Rounded Rectangle 17">
            <a:extLst>
              <a:ext uri="{FF2B5EF4-FFF2-40B4-BE49-F238E27FC236}">
                <a16:creationId xmlns:a16="http://schemas.microsoft.com/office/drawing/2014/main" id="{3B4A80AC-373C-53F9-4A7E-460E1983856E}"/>
              </a:ext>
            </a:extLst>
          </p:cNvPr>
          <p:cNvSpPr/>
          <p:nvPr/>
        </p:nvSpPr>
        <p:spPr>
          <a:xfrm>
            <a:off x="6657060" y="420034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1" strike="noStrike" spc="-1">
                <a:solidFill>
                  <a:srgbClr val="FFFFFF"/>
                </a:solidFill>
                <a:latin typeface="メイリオ" panose="020B0604030504040204" pitchFamily="50" charset="-128"/>
                <a:ea typeface="メイリオ" panose="020B0604030504040204" pitchFamily="50" charset="-128"/>
              </a:rPr>
              <a:t>LINE</a:t>
            </a:r>
            <a:r>
              <a:rPr lang="zh-CN" sz="12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548883" y="5211344"/>
            <a:ext cx="9052200" cy="2601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200" b="0" strike="noStrike" spc="-1">
                <a:solidFill>
                  <a:srgbClr val="9AA1AE"/>
                </a:solidFill>
                <a:latin typeface="メイリオ" panose="020B0604030504040204" pitchFamily="50" charset="-128"/>
                <a:ea typeface="メイリオ" panose="020B0604030504040204" pitchFamily="50" charset="-128"/>
              </a:rPr>
              <a:t>※「30秒 適職診断」はサイト上に簡易診断フォームを設置し、結果をLINEで送付する動線を想定（要開発）</a:t>
            </a:r>
            <a:endParaRPr lang="en-US" sz="11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面談・就業までナーチャリングが可能</a:t>
            </a:r>
            <a:endParaRPr lang="en-US" altLang="ja-JP" sz="16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月額固定のコンサル運営で、費用を抑えた運用スタートを実現。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求職者（整備士）のカスタマージャーニー（8フェーズ）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接触〜面談・就業までの動線設計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制作業務を一部外出ししてご依頼いただくことも可能です。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LINE公式アカウント運用のメリットと改善モデル</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改善モデル①｜友だち・リードを増やす</a:t>
            </a:r>
            <a:r>
              <a:rPr lang="ja-JP" altLang="en-US" sz="1600" b="1" dirty="0">
                <a:solidFill>
                  <a:srgbClr val="002060"/>
                </a:solidFill>
                <a:latin typeface="Meiryo"/>
                <a:ea typeface="Meiryo"/>
                <a:cs typeface="Meiryo"/>
                <a:sym typeface="Meiryo"/>
              </a:rPr>
              <a:t/>
            </a:r>
            <a:endParaRPr sz="1600" b="1" dirty="0">
              <a:solidFill>
                <a:srgbClr val="002060"/>
              </a:solidFill>
              <a:latin typeface="Meiryo"/>
              <a:ea typeface="Meiryo"/>
              <a:cs typeface="Meiryo"/>
              <a:sym typeface="Meiryo"/>
            </a:endParaRPr>
          </a:p>
        </p:txBody>
      </p:sp>
      <p:sp>
        <p:nvSpPr>
          <p:cNvPr id="46" name="Rectangle 45"/>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l"/>
            <a:r>
              <a:rPr sz="1300" b="0">
                <a:solidFill>
                  <a:srgbClr val="333333"/>
                </a:solidFill>
                <a:latin typeface="メイリオ"/>
                <a:ea typeface="メイリオ"/>
                <a:cs typeface="メイリオ"/>
              </a:rPr>
              <a:t>広告・サイトの集客地点に「LINE追加」を加え、</a:t>
            </a:r>
          </a:p>
          <a:p>
            <a:pPr algn="l"/>
            <a:r>
              <a:rPr sz="1300" b="0">
                <a:solidFill>
                  <a:srgbClr val="333333"/>
                </a:solidFill>
                <a:latin typeface="メイリオ"/>
                <a:ea typeface="メイリオ"/>
                <a:cs typeface="メイリオ"/>
              </a:rPr>
              <a:t>応募まで行かない整備士もリストとして残します。</a:t>
            </a:r>
          </a:p>
        </p:txBody>
      </p:sp>
      <p:sp>
        <p:nvSpPr>
          <p:cNvPr id="47" name="Pentagon 46"/>
          <p:cNvSpPr/>
          <p:nvPr/>
        </p:nvSpPr>
        <p:spPr>
          <a:xfrm>
            <a:off x="432000" y="1494000"/>
            <a:ext cx="1092600" cy="288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FFFFFF"/>
                </a:solidFill>
                <a:latin typeface="メイリオ"/>
                <a:ea typeface="メイリオ"/>
                <a:cs typeface="メイリオ"/>
              </a:rPr>
              <a:t>①接触</a:t>
            </a:r>
          </a:p>
        </p:txBody>
      </p:sp>
      <p:sp>
        <p:nvSpPr>
          <p:cNvPr id="48" name="Chevron 47"/>
          <p:cNvSpPr/>
          <p:nvPr/>
        </p:nvSpPr>
        <p:spPr>
          <a:xfrm>
            <a:off x="1567800"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FFFFFF"/>
                </a:solidFill>
                <a:latin typeface="メイリオ"/>
                <a:ea typeface="メイリオ"/>
                <a:cs typeface="メイリオ"/>
              </a:rPr>
              <a:t>②離脱</a:t>
            </a:r>
          </a:p>
        </p:txBody>
      </p:sp>
      <p:sp>
        <p:nvSpPr>
          <p:cNvPr id="49" name="Chevron 48"/>
          <p:cNvSpPr/>
          <p:nvPr/>
        </p:nvSpPr>
        <p:spPr>
          <a:xfrm>
            <a:off x="2703600"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FFFFFF"/>
                </a:solidFill>
                <a:latin typeface="メイリオ"/>
                <a:ea typeface="メイリオ"/>
                <a:cs typeface="メイリオ"/>
              </a:rPr>
              <a:t>③興味喚起</a:t>
            </a:r>
          </a:p>
        </p:txBody>
      </p:sp>
      <p:sp>
        <p:nvSpPr>
          <p:cNvPr id="50" name="Chevron 49"/>
          <p:cNvSpPr/>
          <p:nvPr/>
        </p:nvSpPr>
        <p:spPr>
          <a:xfrm>
            <a:off x="3839399"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FFFFFF"/>
                </a:solidFill>
                <a:latin typeface="メイリオ"/>
                <a:ea typeface="メイリオ"/>
                <a:cs typeface="メイリオ"/>
              </a:rPr>
              <a:t>④友だち追加</a:t>
            </a:r>
          </a:p>
        </p:txBody>
      </p:sp>
      <p:sp>
        <p:nvSpPr>
          <p:cNvPr id="51" name="Chevron 50"/>
          <p:cNvSpPr/>
          <p:nvPr/>
        </p:nvSpPr>
        <p:spPr>
          <a:xfrm>
            <a:off x="49752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⑤面談</a:t>
            </a:r>
          </a:p>
        </p:txBody>
      </p:sp>
      <p:sp>
        <p:nvSpPr>
          <p:cNvPr id="52" name="Chevron 51"/>
          <p:cNvSpPr/>
          <p:nvPr/>
        </p:nvSpPr>
        <p:spPr>
          <a:xfrm>
            <a:off x="61110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⑥求人紹介</a:t>
            </a:r>
          </a:p>
        </p:txBody>
      </p:sp>
      <p:sp>
        <p:nvSpPr>
          <p:cNvPr id="53" name="Chevron 52"/>
          <p:cNvSpPr/>
          <p:nvPr/>
        </p:nvSpPr>
        <p:spPr>
          <a:xfrm>
            <a:off x="72468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⑦内定承諾</a:t>
            </a:r>
          </a:p>
        </p:txBody>
      </p:sp>
      <p:sp>
        <p:nvSpPr>
          <p:cNvPr id="54" name="Chevron 53"/>
          <p:cNvSpPr/>
          <p:nvPr/>
        </p:nvSpPr>
        <p:spPr>
          <a:xfrm>
            <a:off x="83826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⑧定着・紹介</a:t>
            </a:r>
          </a:p>
        </p:txBody>
      </p:sp>
      <p:sp>
        <p:nvSpPr>
          <p:cNvPr id="55" name="Rounded Rectangle 54"/>
          <p:cNvSpPr/>
          <p:nvPr/>
        </p:nvSpPr>
        <p:spPr>
          <a:xfrm>
            <a:off x="4320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56" name="Rounded Rectangle 55"/>
          <p:cNvSpPr/>
          <p:nvPr/>
        </p:nvSpPr>
        <p:spPr>
          <a:xfrm>
            <a:off x="4320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1600" bIns="21600"/>
          <a:lstStyle/>
          <a:p>
            <a:pPr algn="l"/>
            <a:r>
              <a:rPr sz="1200" b="1">
                <a:solidFill>
                  <a:srgbClr val="FFFFFF"/>
                </a:solidFill>
                <a:latin typeface="メイリオ"/>
                <a:ea typeface="メイリオ"/>
                <a:cs typeface="メイリオ"/>
              </a:rPr>
              <a:t>1  CPF完結型</a:t>
            </a:r>
          </a:p>
        </p:txBody>
      </p:sp>
      <p:sp>
        <p:nvSpPr>
          <p:cNvPr id="57" name="Rectangle 56"/>
          <p:cNvSpPr/>
          <p:nvPr/>
        </p:nvSpPr>
        <p:spPr>
          <a:xfrm>
            <a:off x="5220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150" b="0">
                <a:solidFill>
                  <a:srgbClr val="333333"/>
                </a:solidFill>
                <a:latin typeface="メイリオ"/>
                <a:ea typeface="メイリオ"/>
                <a:cs typeface="メイリオ"/>
              </a:rPr>
              <a:t>Meta広告の目的を友だち獲得に変える。タップするだけで友だちになり、そのままLINE内で30秒診断まで進む。サイトに移動させないので離脱が起きない。</a:t>
            </a:r>
          </a:p>
        </p:txBody>
      </p:sp>
      <p:sp>
        <p:nvSpPr>
          <p:cNvPr id="58" name="Rounded Rectangle 57"/>
          <p:cNvSpPr/>
          <p:nvPr/>
        </p:nvSpPr>
        <p:spPr>
          <a:xfrm>
            <a:off x="522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CPF広告をタップ</a:t>
            </a:r>
          </a:p>
        </p:txBody>
      </p:sp>
      <p:sp>
        <p:nvSpPr>
          <p:cNvPr id="59" name="Rounded Rectangle 58"/>
          <p:cNvSpPr/>
          <p:nvPr/>
        </p:nvSpPr>
        <p:spPr>
          <a:xfrm>
            <a:off x="1476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友だち追加</a:t>
            </a:r>
          </a:p>
        </p:txBody>
      </p:sp>
      <p:sp>
        <p:nvSpPr>
          <p:cNvPr id="60" name="Rounded Rectangle 59"/>
          <p:cNvSpPr/>
          <p:nvPr/>
        </p:nvSpPr>
        <p:spPr>
          <a:xfrm>
            <a:off x="2431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診断・配信が起動</a:t>
            </a:r>
          </a:p>
        </p:txBody>
      </p:sp>
      <p:sp>
        <p:nvSpPr>
          <p:cNvPr id="61" name="Rounded Rectangle 60"/>
          <p:cNvSpPr/>
          <p:nvPr/>
        </p:nvSpPr>
        <p:spPr>
          <a:xfrm>
            <a:off x="5220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既存のMeta予算（年250万円）の転用＝追加出費ゼロ</a:t>
            </a:r>
          </a:p>
        </p:txBody>
      </p:sp>
      <p:sp>
        <p:nvSpPr>
          <p:cNvPr id="62" name="Rounded Rectangle 61"/>
          <p:cNvSpPr/>
          <p:nvPr/>
        </p:nvSpPr>
        <p:spPr>
          <a:xfrm>
            <a:off x="34764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63" name="Rounded Rectangle 62"/>
          <p:cNvSpPr/>
          <p:nvPr/>
        </p:nvSpPr>
        <p:spPr>
          <a:xfrm>
            <a:off x="34764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1600" bIns="21600"/>
          <a:lstStyle/>
          <a:p>
            <a:pPr algn="l"/>
            <a:r>
              <a:rPr sz="1200" b="1">
                <a:solidFill>
                  <a:srgbClr val="FFFFFF"/>
                </a:solidFill>
                <a:latin typeface="メイリオ"/>
                <a:ea typeface="メイリオ"/>
                <a:cs typeface="メイリオ"/>
              </a:rPr>
              <a:t>2  離脱防止ポップアップ</a:t>
            </a:r>
          </a:p>
        </p:txBody>
      </p:sp>
      <p:sp>
        <p:nvSpPr>
          <p:cNvPr id="64" name="Rectangle 63"/>
          <p:cNvSpPr/>
          <p:nvPr/>
        </p:nvSpPr>
        <p:spPr>
          <a:xfrm>
            <a:off x="35664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150" b="0">
                <a:solidFill>
                  <a:srgbClr val="333333"/>
                </a:solidFill>
                <a:latin typeface="メイリオ"/>
                <a:ea typeface="メイリオ"/>
                <a:cs typeface="メイリオ"/>
              </a:rPr>
              <a:t>求人ページを見て帰ろうとした瞬間に「整備士の年収相場をLINEで見られます」を表示。「応募する」より手前の、軽い一歩を用意する。</a:t>
            </a:r>
          </a:p>
        </p:txBody>
      </p:sp>
      <p:sp>
        <p:nvSpPr>
          <p:cNvPr id="65" name="Rounded Rectangle 64"/>
          <p:cNvSpPr/>
          <p:nvPr/>
        </p:nvSpPr>
        <p:spPr>
          <a:xfrm>
            <a:off x="3566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離脱を検知</a:t>
            </a:r>
          </a:p>
        </p:txBody>
      </p:sp>
      <p:sp>
        <p:nvSpPr>
          <p:cNvPr id="66" name="Rounded Rectangle 65"/>
          <p:cNvSpPr/>
          <p:nvPr/>
        </p:nvSpPr>
        <p:spPr>
          <a:xfrm>
            <a:off x="45212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ポップアップ表示</a:t>
            </a:r>
          </a:p>
        </p:txBody>
      </p:sp>
      <p:sp>
        <p:nvSpPr>
          <p:cNvPr id="67" name="Rounded Rectangle 66"/>
          <p:cNvSpPr/>
          <p:nvPr/>
        </p:nvSpPr>
        <p:spPr>
          <a:xfrm>
            <a:off x="5476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LINE追加</a:t>
            </a:r>
          </a:p>
        </p:txBody>
      </p:sp>
      <p:sp>
        <p:nvSpPr>
          <p:cNvPr id="68" name="Rounded Rectangle 67"/>
          <p:cNvSpPr/>
          <p:nvPr/>
        </p:nvSpPr>
        <p:spPr>
          <a:xfrm>
            <a:off x="35664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関心が高い「検索当日」の訪問を、その場で拾う</a:t>
            </a:r>
          </a:p>
        </p:txBody>
      </p:sp>
      <p:sp>
        <p:nvSpPr>
          <p:cNvPr id="69" name="Rounded Rectangle 68"/>
          <p:cNvSpPr/>
          <p:nvPr/>
        </p:nvSpPr>
        <p:spPr>
          <a:xfrm>
            <a:off x="65208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70" name="Rounded Rectangle 69"/>
          <p:cNvSpPr/>
          <p:nvPr/>
        </p:nvSpPr>
        <p:spPr>
          <a:xfrm>
            <a:off x="65208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1600" bIns="21600"/>
          <a:lstStyle/>
          <a:p>
            <a:pPr algn="l"/>
            <a:r>
              <a:rPr sz="1200" b="1">
                <a:solidFill>
                  <a:srgbClr val="FFFFFF"/>
                </a:solidFill>
                <a:latin typeface="メイリオ"/>
                <a:ea typeface="メイリオ"/>
                <a:cs typeface="メイリオ"/>
              </a:rPr>
              <a:t>3  サンクスLINE誘導</a:t>
            </a:r>
          </a:p>
        </p:txBody>
      </p:sp>
      <p:sp>
        <p:nvSpPr>
          <p:cNvPr id="71" name="Rectangle 70"/>
          <p:cNvSpPr/>
          <p:nvPr/>
        </p:nvSpPr>
        <p:spPr>
          <a:xfrm>
            <a:off x="66108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150" b="0">
                <a:solidFill>
                  <a:srgbClr val="333333"/>
                </a:solidFill>
                <a:latin typeface="メイリオ"/>
                <a:ea typeface="メイリオ"/>
                <a:cs typeface="メイリオ"/>
              </a:rPr>
              <a:t>求人応募・転職支援サービス登録の完了画面で「選考の連絡はLINEで届きます」と案内。応募した人をLINEに乗せ、連絡を一本化する。</a:t>
            </a:r>
          </a:p>
        </p:txBody>
      </p:sp>
      <p:sp>
        <p:nvSpPr>
          <p:cNvPr id="72" name="Rounded Rectangle 71"/>
          <p:cNvSpPr/>
          <p:nvPr/>
        </p:nvSpPr>
        <p:spPr>
          <a:xfrm>
            <a:off x="6610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応募完了</a:t>
            </a:r>
          </a:p>
        </p:txBody>
      </p:sp>
      <p:sp>
        <p:nvSpPr>
          <p:cNvPr id="73" name="Rounded Rectangle 72"/>
          <p:cNvSpPr/>
          <p:nvPr/>
        </p:nvSpPr>
        <p:spPr>
          <a:xfrm>
            <a:off x="7565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完了画面で案内</a:t>
            </a:r>
          </a:p>
        </p:txBody>
      </p:sp>
      <p:sp>
        <p:nvSpPr>
          <p:cNvPr id="74" name="Rounded Rectangle 73"/>
          <p:cNvSpPr/>
          <p:nvPr/>
        </p:nvSpPr>
        <p:spPr>
          <a:xfrm>
            <a:off x="8520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LINE追加</a:t>
            </a:r>
          </a:p>
        </p:txBody>
      </p:sp>
      <p:sp>
        <p:nvSpPr>
          <p:cNvPr id="75" name="Rounded Rectangle 74"/>
          <p:cNvSpPr/>
          <p:nvPr/>
        </p:nvSpPr>
        <p:spPr>
          <a:xfrm>
            <a:off x="66108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電話がつながらない在職中の人にも連絡が届く</a:t>
            </a:r>
          </a:p>
        </p:txBody>
      </p:sp>
      <p:sp>
        <p:nvSpPr>
          <p:cNvPr id="76" name="Rounded Rectangle 75"/>
          <p:cNvSpPr/>
          <p:nvPr/>
        </p:nvSpPr>
        <p:spPr>
          <a:xfrm>
            <a:off x="432000" y="5472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300" b="1">
                <a:solidFill>
                  <a:srgbClr val="FFFFFF"/>
                </a:solidFill>
                <a:latin typeface="メイリオ"/>
                <a:ea typeface="メイリオ"/>
                <a:cs typeface="メイリオ"/>
              </a:rPr>
              <a:t>応募しないで帰る訪問者を、LINEの友だちとして残す。</a:t>
            </a:r>
          </a:p>
        </p:txBody>
      </p:sp>
    </p:spTree>
    <p:extLst>
      <p:ext uri="{BB962C8B-B14F-4D97-AF65-F5344CB8AC3E}">
        <p14:creationId xmlns:p14="http://schemas.microsoft.com/office/powerpoint/2010/main" val="4265136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改善モデル②｜面談に引き上げる</a:t>
            </a:r>
            <a:r>
              <a:rPr lang="ja-JP" altLang="en-US" sz="1600" b="1" dirty="0">
                <a:solidFill>
                  <a:srgbClr val="002060"/>
                </a:solidFill>
                <a:latin typeface="Meiryo"/>
                <a:ea typeface="Meiryo"/>
                <a:cs typeface="Meiryo"/>
                <a:sym typeface="Meiryo"/>
              </a:rPr>
              <a:t/>
            </a:r>
            <a:endParaRPr sz="1600" b="1" dirty="0">
              <a:solidFill>
                <a:srgbClr val="002060"/>
              </a:solidFill>
              <a:latin typeface="Meiryo"/>
              <a:ea typeface="Meiryo"/>
              <a:cs typeface="Meiryo"/>
              <a:sym typeface="Meiryo"/>
            </a:endParaRPr>
          </a:p>
        </p:txBody>
      </p:sp>
      <p:sp>
        <p:nvSpPr>
          <p:cNvPr id="46" name="Rectangle 45"/>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l"/>
            <a:r>
              <a:rPr sz="1300" b="0">
                <a:solidFill>
                  <a:srgbClr val="333333"/>
                </a:solidFill>
                <a:latin typeface="メイリオ"/>
                <a:ea typeface="メイリオ"/>
                <a:cs typeface="メイリオ"/>
              </a:rPr>
              <a:t>友だちになった人を「まず話を聞くだけ」の面談へ。</a:t>
            </a:r>
          </a:p>
          <a:p>
            <a:pPr algn="l"/>
            <a:r>
              <a:rPr sz="1300" b="0">
                <a:solidFill>
                  <a:srgbClr val="333333"/>
                </a:solidFill>
                <a:latin typeface="メイリオ"/>
                <a:ea typeface="メイリオ"/>
                <a:cs typeface="メイリオ"/>
              </a:rPr>
              <a:t>売り込みは2回だけにします。</a:t>
            </a:r>
          </a:p>
        </p:txBody>
      </p:sp>
      <p:sp>
        <p:nvSpPr>
          <p:cNvPr id="47" name="Pentagon 46"/>
          <p:cNvSpPr/>
          <p:nvPr/>
        </p:nvSpPr>
        <p:spPr>
          <a:xfrm>
            <a:off x="432000" y="1494000"/>
            <a:ext cx="1092600" cy="288000"/>
          </a:xfrm>
          <a:prstGeom prst="homePlate">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①接触</a:t>
            </a:r>
          </a:p>
        </p:txBody>
      </p:sp>
      <p:sp>
        <p:nvSpPr>
          <p:cNvPr id="48" name="Chevron 47"/>
          <p:cNvSpPr/>
          <p:nvPr/>
        </p:nvSpPr>
        <p:spPr>
          <a:xfrm>
            <a:off x="15678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②離脱</a:t>
            </a:r>
          </a:p>
        </p:txBody>
      </p:sp>
      <p:sp>
        <p:nvSpPr>
          <p:cNvPr id="49" name="Chevron 48"/>
          <p:cNvSpPr/>
          <p:nvPr/>
        </p:nvSpPr>
        <p:spPr>
          <a:xfrm>
            <a:off x="27036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③興味喚起</a:t>
            </a:r>
          </a:p>
        </p:txBody>
      </p:sp>
      <p:sp>
        <p:nvSpPr>
          <p:cNvPr id="50" name="Chevron 49"/>
          <p:cNvSpPr/>
          <p:nvPr/>
        </p:nvSpPr>
        <p:spPr>
          <a:xfrm>
            <a:off x="3839399"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④友だち追加</a:t>
            </a:r>
          </a:p>
        </p:txBody>
      </p:sp>
      <p:sp>
        <p:nvSpPr>
          <p:cNvPr id="51" name="Chevron 50"/>
          <p:cNvSpPr/>
          <p:nvPr/>
        </p:nvSpPr>
        <p:spPr>
          <a:xfrm>
            <a:off x="4975200"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FFFFFF"/>
                </a:solidFill>
                <a:latin typeface="メイリオ"/>
                <a:ea typeface="メイリオ"/>
                <a:cs typeface="メイリオ"/>
              </a:rPr>
              <a:t>⑤面談</a:t>
            </a:r>
          </a:p>
        </p:txBody>
      </p:sp>
      <p:sp>
        <p:nvSpPr>
          <p:cNvPr id="52" name="Chevron 51"/>
          <p:cNvSpPr/>
          <p:nvPr/>
        </p:nvSpPr>
        <p:spPr>
          <a:xfrm>
            <a:off x="6111000"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FFFFFF"/>
                </a:solidFill>
                <a:latin typeface="メイリオ"/>
                <a:ea typeface="メイリオ"/>
                <a:cs typeface="メイリオ"/>
              </a:rPr>
              <a:t>⑥求人紹介</a:t>
            </a:r>
          </a:p>
        </p:txBody>
      </p:sp>
      <p:sp>
        <p:nvSpPr>
          <p:cNvPr id="53" name="Chevron 52"/>
          <p:cNvSpPr/>
          <p:nvPr/>
        </p:nvSpPr>
        <p:spPr>
          <a:xfrm>
            <a:off x="72468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⑦内定承諾</a:t>
            </a:r>
          </a:p>
        </p:txBody>
      </p:sp>
      <p:sp>
        <p:nvSpPr>
          <p:cNvPr id="54" name="Chevron 53"/>
          <p:cNvSpPr/>
          <p:nvPr/>
        </p:nvSpPr>
        <p:spPr>
          <a:xfrm>
            <a:off x="83826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⑧定着・紹介</a:t>
            </a:r>
          </a:p>
        </p:txBody>
      </p:sp>
      <p:sp>
        <p:nvSpPr>
          <p:cNvPr id="55" name="Rounded Rectangle 54"/>
          <p:cNvSpPr/>
          <p:nvPr/>
        </p:nvSpPr>
        <p:spPr>
          <a:xfrm>
            <a:off x="4320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56" name="Rounded Rectangle 55"/>
          <p:cNvSpPr/>
          <p:nvPr/>
        </p:nvSpPr>
        <p:spPr>
          <a:xfrm>
            <a:off x="4320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1600" bIns="21600"/>
          <a:lstStyle/>
          <a:p>
            <a:pPr algn="l"/>
            <a:r>
              <a:rPr sz="1200" b="1">
                <a:solidFill>
                  <a:srgbClr val="FFFFFF"/>
                </a:solidFill>
                <a:latin typeface="メイリオ"/>
                <a:ea typeface="メイリオ"/>
                <a:cs typeface="メイリオ"/>
              </a:rPr>
              <a:t>1  14日ステップ×面談オファー</a:t>
            </a:r>
          </a:p>
        </p:txBody>
      </p:sp>
      <p:sp>
        <p:nvSpPr>
          <p:cNvPr id="57" name="Rectangle 56"/>
          <p:cNvSpPr/>
          <p:nvPr/>
        </p:nvSpPr>
        <p:spPr>
          <a:xfrm>
            <a:off x="5220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150" b="0">
                <a:solidFill>
                  <a:srgbClr val="333333"/>
                </a:solidFill>
                <a:latin typeface="メイリオ"/>
                <a:ea typeface="メイリオ"/>
                <a:cs typeface="メイリオ"/>
              </a:rPr>
              <a:t>年収相場→職種図鑑→働き方の順に届け、関心が消える前の3日目と14日目に面談をご案内。「履歴書不要・夜OK・Webで30分」とハードルを下げる。</a:t>
            </a:r>
          </a:p>
        </p:txBody>
      </p:sp>
      <p:sp>
        <p:nvSpPr>
          <p:cNvPr id="58" name="Rounded Rectangle 57"/>
          <p:cNvSpPr/>
          <p:nvPr/>
        </p:nvSpPr>
        <p:spPr>
          <a:xfrm>
            <a:off x="522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1〜2日目 情報</a:t>
            </a:r>
          </a:p>
        </p:txBody>
      </p:sp>
      <p:sp>
        <p:nvSpPr>
          <p:cNvPr id="59" name="Rounded Rectangle 58"/>
          <p:cNvSpPr/>
          <p:nvPr/>
        </p:nvSpPr>
        <p:spPr>
          <a:xfrm>
            <a:off x="1476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3日目 面談①</a:t>
            </a:r>
          </a:p>
        </p:txBody>
      </p:sp>
      <p:sp>
        <p:nvSpPr>
          <p:cNvPr id="60" name="Rounded Rectangle 59"/>
          <p:cNvSpPr/>
          <p:nvPr/>
        </p:nvSpPr>
        <p:spPr>
          <a:xfrm>
            <a:off x="2431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14日目 面談②</a:t>
            </a:r>
          </a:p>
        </p:txBody>
      </p:sp>
      <p:sp>
        <p:nvSpPr>
          <p:cNvPr id="61" name="Rounded Rectangle 60"/>
          <p:cNvSpPr/>
          <p:nvPr/>
        </p:nvSpPr>
        <p:spPr>
          <a:xfrm>
            <a:off x="5220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前後検索：職業の関心は当日〜2日後に集中</a:t>
            </a:r>
          </a:p>
        </p:txBody>
      </p:sp>
      <p:sp>
        <p:nvSpPr>
          <p:cNvPr id="62" name="Rounded Rectangle 61"/>
          <p:cNvSpPr/>
          <p:nvPr/>
        </p:nvSpPr>
        <p:spPr>
          <a:xfrm>
            <a:off x="34764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63" name="Rounded Rectangle 62"/>
          <p:cNvSpPr/>
          <p:nvPr/>
        </p:nvSpPr>
        <p:spPr>
          <a:xfrm>
            <a:off x="34764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1600" bIns="21600"/>
          <a:lstStyle/>
          <a:p>
            <a:pPr algn="l"/>
            <a:r>
              <a:rPr sz="1200" b="1">
                <a:solidFill>
                  <a:srgbClr val="FFFFFF"/>
                </a:solidFill>
                <a:latin typeface="メイリオ"/>
                <a:ea typeface="メイリオ"/>
                <a:cs typeface="メイリオ"/>
              </a:rPr>
              <a:t>2  3問アンケート×スコアリング</a:t>
            </a:r>
          </a:p>
        </p:txBody>
      </p:sp>
      <p:sp>
        <p:nvSpPr>
          <p:cNvPr id="64" name="Rectangle 63"/>
          <p:cNvSpPr/>
          <p:nvPr/>
        </p:nvSpPr>
        <p:spPr>
          <a:xfrm>
            <a:off x="35664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150" b="0">
                <a:solidFill>
                  <a:srgbClr val="333333"/>
                </a:solidFill>
                <a:latin typeface="メイリオ"/>
                <a:ea typeface="メイリオ"/>
                <a:cs typeface="メイリオ"/>
              </a:rPr>
              <a:t>「いまの温度感」を3問で聞き、「3ヶ月以内に動きたい」「今すぐ相談したい」と答えた人だけを担当者が即日フォロー。全員に電話しない。</a:t>
            </a:r>
          </a:p>
        </p:txBody>
      </p:sp>
      <p:sp>
        <p:nvSpPr>
          <p:cNvPr id="65" name="Rounded Rectangle 64"/>
          <p:cNvSpPr/>
          <p:nvPr/>
        </p:nvSpPr>
        <p:spPr>
          <a:xfrm>
            <a:off x="3566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3問を配信</a:t>
            </a:r>
          </a:p>
        </p:txBody>
      </p:sp>
      <p:sp>
        <p:nvSpPr>
          <p:cNvPr id="66" name="Rounded Rectangle 65"/>
          <p:cNvSpPr/>
          <p:nvPr/>
        </p:nvSpPr>
        <p:spPr>
          <a:xfrm>
            <a:off x="45212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温度感を判定</a:t>
            </a:r>
          </a:p>
        </p:txBody>
      </p:sp>
      <p:sp>
        <p:nvSpPr>
          <p:cNvPr id="67" name="Rounded Rectangle 66"/>
          <p:cNvSpPr/>
          <p:nvPr/>
        </p:nvSpPr>
        <p:spPr>
          <a:xfrm>
            <a:off x="5476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担当者へ連携</a:t>
            </a:r>
          </a:p>
        </p:txBody>
      </p:sp>
      <p:sp>
        <p:nvSpPr>
          <p:cNvPr id="68" name="Rounded Rectangle 67"/>
          <p:cNvSpPr/>
          <p:nvPr/>
        </p:nvSpPr>
        <p:spPr>
          <a:xfrm>
            <a:off x="35664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担当者の手間を増やさず、熱い人から面談へ</a:t>
            </a:r>
          </a:p>
        </p:txBody>
      </p:sp>
      <p:sp>
        <p:nvSpPr>
          <p:cNvPr id="69" name="Rounded Rectangle 68"/>
          <p:cNvSpPr/>
          <p:nvPr/>
        </p:nvSpPr>
        <p:spPr>
          <a:xfrm>
            <a:off x="65208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70" name="Rounded Rectangle 69"/>
          <p:cNvSpPr/>
          <p:nvPr/>
        </p:nvSpPr>
        <p:spPr>
          <a:xfrm>
            <a:off x="65208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1600" bIns="21600"/>
          <a:lstStyle/>
          <a:p>
            <a:pPr algn="l"/>
            <a:r>
              <a:rPr sz="1200" b="1">
                <a:solidFill>
                  <a:srgbClr val="FFFFFF"/>
                </a:solidFill>
                <a:latin typeface="メイリオ"/>
                <a:ea typeface="メイリオ"/>
                <a:cs typeface="メイリオ"/>
              </a:rPr>
              <a:t>3  季節企画で休眠を起こす</a:t>
            </a:r>
          </a:p>
        </p:txBody>
      </p:sp>
      <p:sp>
        <p:nvSpPr>
          <p:cNvPr id="71" name="Rectangle 70"/>
          <p:cNvSpPr/>
          <p:nvPr/>
        </p:nvSpPr>
        <p:spPr>
          <a:xfrm>
            <a:off x="66108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150" b="0">
                <a:solidFill>
                  <a:srgbClr val="333333"/>
                </a:solidFill>
                <a:latin typeface="メイリオ"/>
                <a:ea typeface="メイリオ"/>
                <a:cs typeface="メイリオ"/>
              </a:rPr>
              <a:t>検索の山（3月）の2〜3週前に「年度替わりの転職、今から準備する人が増えています」と配信。売り込みではなく「タイミングの案内」として届ける。</a:t>
            </a:r>
          </a:p>
        </p:txBody>
      </p:sp>
      <p:sp>
        <p:nvSpPr>
          <p:cNvPr id="72" name="Rounded Rectangle 71"/>
          <p:cNvSpPr/>
          <p:nvPr/>
        </p:nvSpPr>
        <p:spPr>
          <a:xfrm>
            <a:off x="6610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山の2〜3週前</a:t>
            </a:r>
          </a:p>
        </p:txBody>
      </p:sp>
      <p:sp>
        <p:nvSpPr>
          <p:cNvPr id="73" name="Rounded Rectangle 72"/>
          <p:cNvSpPr/>
          <p:nvPr/>
        </p:nvSpPr>
        <p:spPr>
          <a:xfrm>
            <a:off x="7565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「今だから」配信</a:t>
            </a:r>
          </a:p>
        </p:txBody>
      </p:sp>
      <p:sp>
        <p:nvSpPr>
          <p:cNvPr id="74" name="Rounded Rectangle 73"/>
          <p:cNvSpPr/>
          <p:nvPr/>
        </p:nvSpPr>
        <p:spPr>
          <a:xfrm>
            <a:off x="8520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休眠層が再反応</a:t>
            </a:r>
          </a:p>
        </p:txBody>
      </p:sp>
      <p:sp>
        <p:nvSpPr>
          <p:cNvPr id="75" name="Rounded Rectangle 74"/>
          <p:cNvSpPr/>
          <p:nvPr/>
        </p:nvSpPr>
        <p:spPr>
          <a:xfrm>
            <a:off x="66108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整備士の検索は山3月・谷12月（Googleトレンド）</a:t>
            </a:r>
          </a:p>
        </p:txBody>
      </p:sp>
      <p:sp>
        <p:nvSpPr>
          <p:cNvPr id="76" name="Rounded Rectangle 75"/>
          <p:cNvSpPr/>
          <p:nvPr/>
        </p:nvSpPr>
        <p:spPr>
          <a:xfrm>
            <a:off x="432000" y="5472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300" b="1">
                <a:solidFill>
                  <a:srgbClr val="FFFFFF"/>
                </a:solidFill>
                <a:latin typeface="メイリオ"/>
                <a:ea typeface="メイリオ"/>
                <a:cs typeface="メイリオ"/>
              </a:rPr>
              <a:t>面談の「予約」をゴールにせず、「実施」まで運ぶ。</a:t>
            </a:r>
          </a:p>
        </p:txBody>
      </p:sp>
    </p:spTree>
    <p:extLst>
      <p:ext uri="{BB962C8B-B14F-4D97-AF65-F5344CB8AC3E}">
        <p14:creationId xmlns:p14="http://schemas.microsoft.com/office/powerpoint/2010/main" val="35621484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改善モデル③｜内定辞退を防ぐ</a:t>
            </a:r>
            <a:r>
              <a:rPr lang="ja-JP" altLang="en-US" sz="1600" b="1" dirty="0">
                <a:solidFill>
                  <a:srgbClr val="002060"/>
                </a:solidFill>
                <a:latin typeface="Meiryo"/>
                <a:ea typeface="Meiryo"/>
                <a:cs typeface="Meiryo"/>
                <a:sym typeface="Meiryo"/>
              </a:rPr>
              <a:t/>
            </a:r>
          </a:p>
        </p:txBody>
      </p:sp>
      <p:cxnSp>
        <p:nvCxnSpPr>
          <p:cNvPr id="5" name="Connector 4"/>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l"/>
            <a:r>
              <a:rPr sz="1300" b="0">
                <a:solidFill>
                  <a:srgbClr val="333333"/>
                </a:solidFill>
                <a:latin typeface="メイリオ"/>
                <a:ea typeface="メイリオ"/>
                <a:cs typeface="メイリオ"/>
              </a:rPr>
              <a:t>内定から承諾までの不安にLINEですぐ答え、</a:t>
            </a:r>
          </a:p>
          <a:p>
            <a:pPr algn="l"/>
            <a:r>
              <a:rPr sz="1300" b="0">
                <a:solidFill>
                  <a:srgbClr val="333333"/>
                </a:solidFill>
                <a:latin typeface="メイリオ"/>
                <a:ea typeface="メイリオ"/>
                <a:cs typeface="メイリオ"/>
              </a:rPr>
              <a:t>辞退・音信不通を防ぎます。</a:t>
            </a:r>
          </a:p>
        </p:txBody>
      </p:sp>
      <p:sp>
        <p:nvSpPr>
          <p:cNvPr id="7" name="Pentagon 6"/>
          <p:cNvSpPr/>
          <p:nvPr/>
        </p:nvSpPr>
        <p:spPr>
          <a:xfrm>
            <a:off x="432000" y="1494000"/>
            <a:ext cx="1092600" cy="288000"/>
          </a:xfrm>
          <a:prstGeom prst="homePlate">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①接触</a:t>
            </a:r>
          </a:p>
        </p:txBody>
      </p:sp>
      <p:sp>
        <p:nvSpPr>
          <p:cNvPr id="8" name="Chevron 7"/>
          <p:cNvSpPr/>
          <p:nvPr/>
        </p:nvSpPr>
        <p:spPr>
          <a:xfrm>
            <a:off x="15678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②離脱</a:t>
            </a:r>
          </a:p>
        </p:txBody>
      </p:sp>
      <p:sp>
        <p:nvSpPr>
          <p:cNvPr id="9" name="Chevron 8"/>
          <p:cNvSpPr/>
          <p:nvPr/>
        </p:nvSpPr>
        <p:spPr>
          <a:xfrm>
            <a:off x="27036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③興味喚起</a:t>
            </a:r>
          </a:p>
        </p:txBody>
      </p:sp>
      <p:sp>
        <p:nvSpPr>
          <p:cNvPr id="10" name="Chevron 9"/>
          <p:cNvSpPr/>
          <p:nvPr/>
        </p:nvSpPr>
        <p:spPr>
          <a:xfrm>
            <a:off x="3839399"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④友だち追加</a:t>
            </a:r>
          </a:p>
        </p:txBody>
      </p:sp>
      <p:sp>
        <p:nvSpPr>
          <p:cNvPr id="11" name="Chevron 10"/>
          <p:cNvSpPr/>
          <p:nvPr/>
        </p:nvSpPr>
        <p:spPr>
          <a:xfrm>
            <a:off x="49752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⑤面談</a:t>
            </a:r>
          </a:p>
        </p:txBody>
      </p:sp>
      <p:sp>
        <p:nvSpPr>
          <p:cNvPr id="12" name="Chevron 11"/>
          <p:cNvSpPr/>
          <p:nvPr/>
        </p:nvSpPr>
        <p:spPr>
          <a:xfrm>
            <a:off x="61110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⑥求人紹介</a:t>
            </a:r>
          </a:p>
        </p:txBody>
      </p:sp>
      <p:sp>
        <p:nvSpPr>
          <p:cNvPr id="13" name="Chevron 12"/>
          <p:cNvSpPr/>
          <p:nvPr/>
        </p:nvSpPr>
        <p:spPr>
          <a:xfrm>
            <a:off x="7246800"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FFFFFF"/>
                </a:solidFill>
                <a:latin typeface="メイリオ"/>
                <a:ea typeface="メイリオ"/>
                <a:cs typeface="メイリオ"/>
              </a:rPr>
              <a:t>⑦内定承諾</a:t>
            </a:r>
          </a:p>
        </p:txBody>
      </p:sp>
      <p:sp>
        <p:nvSpPr>
          <p:cNvPr id="14" name="Chevron 13"/>
          <p:cNvSpPr/>
          <p:nvPr/>
        </p:nvSpPr>
        <p:spPr>
          <a:xfrm>
            <a:off x="83826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⑧定着・紹介</a:t>
            </a:r>
          </a:p>
        </p:txBody>
      </p:sp>
      <p:sp>
        <p:nvSpPr>
          <p:cNvPr id="15" name="Rounded Rectangle 14"/>
          <p:cNvSpPr/>
          <p:nvPr/>
        </p:nvSpPr>
        <p:spPr>
          <a:xfrm>
            <a:off x="4320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16" name="Rounded Rectangle 15"/>
          <p:cNvSpPr/>
          <p:nvPr/>
        </p:nvSpPr>
        <p:spPr>
          <a:xfrm>
            <a:off x="4320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1600" bIns="21600"/>
          <a:lstStyle/>
          <a:p>
            <a:pPr algn="l"/>
            <a:r>
              <a:rPr sz="1200" b="1">
                <a:solidFill>
                  <a:srgbClr val="FFFFFF"/>
                </a:solidFill>
                <a:latin typeface="メイリオ"/>
                <a:ea typeface="メイリオ"/>
                <a:cs typeface="メイリオ"/>
              </a:rPr>
              <a:t>1  不安に即答する自動応答</a:t>
            </a:r>
          </a:p>
        </p:txBody>
      </p:sp>
      <p:sp>
        <p:nvSpPr>
          <p:cNvPr id="17" name="Rectangle 16"/>
          <p:cNvSpPr/>
          <p:nvPr/>
        </p:nvSpPr>
        <p:spPr>
          <a:xfrm>
            <a:off x="5220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150" b="0">
                <a:solidFill>
                  <a:srgbClr val="333333"/>
                </a:solidFill>
                <a:latin typeface="メイリオ"/>
                <a:ea typeface="メイリオ"/>
                <a:cs typeface="メイリオ"/>
              </a:rPr>
              <a:t>「入社日は選べる？」「給与は交渉できる？」「休みは本当に取れる？」など内定後によくある質問に、LINEの自動応答で即答。答えきれないものは担当者へ。</a:t>
            </a:r>
          </a:p>
        </p:txBody>
      </p:sp>
      <p:sp>
        <p:nvSpPr>
          <p:cNvPr id="18" name="Rounded Rectangle 17"/>
          <p:cNvSpPr/>
          <p:nvPr/>
        </p:nvSpPr>
        <p:spPr>
          <a:xfrm>
            <a:off x="522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質問を受信</a:t>
            </a:r>
          </a:p>
        </p:txBody>
      </p:sp>
      <p:sp>
        <p:nvSpPr>
          <p:cNvPr id="19" name="Rounded Rectangle 18"/>
          <p:cNvSpPr/>
          <p:nvPr/>
        </p:nvSpPr>
        <p:spPr>
          <a:xfrm>
            <a:off x="1476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自動で即答</a:t>
            </a:r>
          </a:p>
        </p:txBody>
      </p:sp>
      <p:sp>
        <p:nvSpPr>
          <p:cNvPr id="20" name="Rounded Rectangle 19"/>
          <p:cNvSpPr/>
          <p:nvPr/>
        </p:nvSpPr>
        <p:spPr>
          <a:xfrm>
            <a:off x="2431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担当者の面談へ</a:t>
            </a:r>
          </a:p>
        </p:txBody>
      </p:sp>
      <p:sp>
        <p:nvSpPr>
          <p:cNvPr id="21" name="Rounded Rectangle 20"/>
          <p:cNvSpPr/>
          <p:nvPr/>
        </p:nvSpPr>
        <p:spPr>
          <a:xfrm>
            <a:off x="5220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夜間・休日でも止まらない</a:t>
            </a:r>
          </a:p>
        </p:txBody>
      </p:sp>
      <p:sp>
        <p:nvSpPr>
          <p:cNvPr id="22" name="Rounded Rectangle 21"/>
          <p:cNvSpPr/>
          <p:nvPr/>
        </p:nvSpPr>
        <p:spPr>
          <a:xfrm>
            <a:off x="34764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23" name="Rounded Rectangle 22"/>
          <p:cNvSpPr/>
          <p:nvPr/>
        </p:nvSpPr>
        <p:spPr>
          <a:xfrm>
            <a:off x="34764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1600" bIns="21600"/>
          <a:lstStyle/>
          <a:p>
            <a:pPr algn="l"/>
            <a:r>
              <a:rPr sz="1200" b="1">
                <a:solidFill>
                  <a:srgbClr val="FFFFFF"/>
                </a:solidFill>
                <a:latin typeface="メイリオ"/>
                <a:ea typeface="メイリオ"/>
                <a:cs typeface="メイリオ"/>
              </a:rPr>
              <a:t>2  日程調整の自動化</a:t>
            </a:r>
          </a:p>
        </p:txBody>
      </p:sp>
      <p:sp>
        <p:nvSpPr>
          <p:cNvPr id="24" name="Rectangle 23"/>
          <p:cNvSpPr/>
          <p:nvPr/>
        </p:nvSpPr>
        <p:spPr>
          <a:xfrm>
            <a:off x="35664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150" b="0">
                <a:solidFill>
                  <a:srgbClr val="333333"/>
                </a:solidFill>
                <a:latin typeface="メイリオ"/>
                <a:ea typeface="メイリオ"/>
                <a:cs typeface="メイリオ"/>
              </a:rPr>
              <a:t>「相談したい」と送った瞬間に候補日を表示し、タップで確定。前日にリマインドを自動送付。電話やメールの往復で気持ちが冷めるのを防ぐ。</a:t>
            </a:r>
          </a:p>
        </p:txBody>
      </p:sp>
      <p:sp>
        <p:nvSpPr>
          <p:cNvPr id="25" name="Rounded Rectangle 24"/>
          <p:cNvSpPr/>
          <p:nvPr/>
        </p:nvSpPr>
        <p:spPr>
          <a:xfrm>
            <a:off x="3566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「相談したい」</a:t>
            </a:r>
          </a:p>
        </p:txBody>
      </p:sp>
      <p:sp>
        <p:nvSpPr>
          <p:cNvPr id="26" name="Rounded Rectangle 25"/>
          <p:cNvSpPr/>
          <p:nvPr/>
        </p:nvSpPr>
        <p:spPr>
          <a:xfrm>
            <a:off x="45212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候補日から選ぶ</a:t>
            </a:r>
          </a:p>
        </p:txBody>
      </p:sp>
      <p:sp>
        <p:nvSpPr>
          <p:cNvPr id="27" name="Rounded Rectangle 26"/>
          <p:cNvSpPr/>
          <p:nvPr/>
        </p:nvSpPr>
        <p:spPr>
          <a:xfrm>
            <a:off x="5476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前日リマインド</a:t>
            </a:r>
          </a:p>
        </p:txBody>
      </p:sp>
      <p:sp>
        <p:nvSpPr>
          <p:cNvPr id="28" name="Rounded Rectangle 27"/>
          <p:cNvSpPr/>
          <p:nvPr/>
        </p:nvSpPr>
        <p:spPr>
          <a:xfrm>
            <a:off x="35664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面談・内定者面談の当日キャンセルを減らす</a:t>
            </a:r>
          </a:p>
        </p:txBody>
      </p:sp>
      <p:sp>
        <p:nvSpPr>
          <p:cNvPr id="29" name="Rounded Rectangle 28"/>
          <p:cNvSpPr/>
          <p:nvPr/>
        </p:nvSpPr>
        <p:spPr>
          <a:xfrm>
            <a:off x="65208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30" name="Rounded Rectangle 29"/>
          <p:cNvSpPr/>
          <p:nvPr/>
        </p:nvSpPr>
        <p:spPr>
          <a:xfrm>
            <a:off x="65208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1600" bIns="21600"/>
          <a:lstStyle/>
          <a:p>
            <a:pPr algn="l"/>
            <a:r>
              <a:rPr sz="1200" b="1">
                <a:solidFill>
                  <a:srgbClr val="FFFFFF"/>
                </a:solidFill>
                <a:latin typeface="メイリオ"/>
                <a:ea typeface="メイリオ"/>
                <a:cs typeface="メイリオ"/>
              </a:rPr>
              <a:t>3  入社後がわかる体験談</a:t>
            </a:r>
          </a:p>
        </p:txBody>
      </p:sp>
      <p:sp>
        <p:nvSpPr>
          <p:cNvPr id="31" name="Rectangle 30"/>
          <p:cNvSpPr/>
          <p:nvPr/>
        </p:nvSpPr>
        <p:spPr>
          <a:xfrm>
            <a:off x="66108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150" b="0">
                <a:solidFill>
                  <a:srgbClr val="333333"/>
                </a:solidFill>
                <a:latin typeface="メイリオ"/>
                <a:ea typeface="メイリオ"/>
                <a:cs typeface="メイリオ"/>
              </a:rPr>
              <a:t>「入社3ヶ月の先輩整備士の1日」「工場の設備・工具」など、入社後が想像できる体験談を配信。入社後どうなるかの不安を、実例で解消する。</a:t>
            </a:r>
          </a:p>
        </p:txBody>
      </p:sp>
      <p:sp>
        <p:nvSpPr>
          <p:cNvPr id="32" name="Rounded Rectangle 31"/>
          <p:cNvSpPr/>
          <p:nvPr/>
        </p:nvSpPr>
        <p:spPr>
          <a:xfrm>
            <a:off x="6610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体験談を配信</a:t>
            </a:r>
          </a:p>
        </p:txBody>
      </p:sp>
      <p:sp>
        <p:nvSpPr>
          <p:cNvPr id="33" name="Rounded Rectangle 32"/>
          <p:cNvSpPr/>
          <p:nvPr/>
        </p:nvSpPr>
        <p:spPr>
          <a:xfrm>
            <a:off x="7565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不安を解消</a:t>
            </a:r>
          </a:p>
        </p:txBody>
      </p:sp>
      <p:sp>
        <p:nvSpPr>
          <p:cNvPr id="34" name="Rounded Rectangle 33"/>
          <p:cNvSpPr/>
          <p:nvPr/>
        </p:nvSpPr>
        <p:spPr>
          <a:xfrm>
            <a:off x="8520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内定承諾</a:t>
            </a:r>
          </a:p>
        </p:txBody>
      </p:sp>
      <p:sp>
        <p:nvSpPr>
          <p:cNvPr id="35" name="Rounded Rectangle 34"/>
          <p:cNvSpPr/>
          <p:nvPr/>
        </p:nvSpPr>
        <p:spPr>
          <a:xfrm>
            <a:off x="66108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前後検索：検索の直後に「ホワイト企業」など働き方の検索</a:t>
            </a:r>
          </a:p>
        </p:txBody>
      </p:sp>
      <p:sp>
        <p:nvSpPr>
          <p:cNvPr id="36" name="Rounded Rectangle 35"/>
          <p:cNvSpPr/>
          <p:nvPr/>
        </p:nvSpPr>
        <p:spPr>
          <a:xfrm>
            <a:off x="432000" y="5472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300" b="1">
                <a:solidFill>
                  <a:srgbClr val="FFFFFF"/>
                </a:solidFill>
                <a:latin typeface="メイリオ"/>
                <a:ea typeface="メイリオ"/>
                <a:cs typeface="メイリオ"/>
              </a:rPr>
              <a:t>内定の後もLINEでつながっているから、辞退を防げる。</a:t>
            </a:r>
          </a:p>
        </p:txBody>
      </p:sp>
    </p:spTree>
    <p:extLst>
      <p:ext uri="{BB962C8B-B14F-4D97-AF65-F5344CB8AC3E}">
        <p14:creationId xmlns:p14="http://schemas.microsoft.com/office/powerpoint/2010/main" val="24218423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改善モデル④｜定着・紹介につなげる</a:t>
            </a:r>
            <a:r>
              <a:rPr lang="ja-JP" altLang="en-US" sz="1600" b="1" dirty="0">
                <a:solidFill>
                  <a:srgbClr val="002060"/>
                </a:solidFill>
                <a:latin typeface="Meiryo"/>
                <a:ea typeface="Meiryo"/>
                <a:cs typeface="Meiryo"/>
                <a:sym typeface="Meiryo"/>
              </a:rPr>
              <a:t/>
            </a:r>
            <a:endParaRPr sz="1600" b="1" dirty="0">
              <a:solidFill>
                <a:srgbClr val="002060"/>
              </a:solidFill>
              <a:latin typeface="Meiryo"/>
              <a:ea typeface="Meiryo"/>
              <a:cs typeface="Meiryo"/>
              <a:sym typeface="Meiryo"/>
            </a:endParaRPr>
          </a:p>
        </p:txBody>
      </p:sp>
      <p:sp>
        <p:nvSpPr>
          <p:cNvPr id="46" name="Rectangle 45"/>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l"/>
            <a:r>
              <a:rPr sz="1300" b="0">
                <a:solidFill>
                  <a:srgbClr val="333333"/>
                </a:solidFill>
                <a:latin typeface="メイリオ"/>
                <a:ea typeface="メイリオ"/>
                <a:cs typeface="メイリオ"/>
              </a:rPr>
              <a:t>入社後3ヶ月の定着を支え、</a:t>
            </a:r>
          </a:p>
          <a:p>
            <a:pPr algn="l"/>
            <a:r>
              <a:rPr sz="1300" b="0">
                <a:solidFill>
                  <a:srgbClr val="333333"/>
                </a:solidFill>
                <a:latin typeface="メイリオ"/>
                <a:ea typeface="メイリオ"/>
                <a:cs typeface="メイリオ"/>
              </a:rPr>
              <a:t>友だち紹介と、次の転職時の再利用につなげます。</a:t>
            </a:r>
          </a:p>
        </p:txBody>
      </p:sp>
      <p:sp>
        <p:nvSpPr>
          <p:cNvPr id="47" name="Pentagon 46"/>
          <p:cNvSpPr/>
          <p:nvPr/>
        </p:nvSpPr>
        <p:spPr>
          <a:xfrm>
            <a:off x="432000" y="1494000"/>
            <a:ext cx="1092600" cy="288000"/>
          </a:xfrm>
          <a:prstGeom prst="homePlate">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①接触</a:t>
            </a:r>
          </a:p>
        </p:txBody>
      </p:sp>
      <p:sp>
        <p:nvSpPr>
          <p:cNvPr id="48" name="Chevron 47"/>
          <p:cNvSpPr/>
          <p:nvPr/>
        </p:nvSpPr>
        <p:spPr>
          <a:xfrm>
            <a:off x="15678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②離脱</a:t>
            </a:r>
          </a:p>
        </p:txBody>
      </p:sp>
      <p:sp>
        <p:nvSpPr>
          <p:cNvPr id="49" name="Chevron 48"/>
          <p:cNvSpPr/>
          <p:nvPr/>
        </p:nvSpPr>
        <p:spPr>
          <a:xfrm>
            <a:off x="27036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③興味喚起</a:t>
            </a:r>
          </a:p>
        </p:txBody>
      </p:sp>
      <p:sp>
        <p:nvSpPr>
          <p:cNvPr id="50" name="Chevron 49"/>
          <p:cNvSpPr/>
          <p:nvPr/>
        </p:nvSpPr>
        <p:spPr>
          <a:xfrm>
            <a:off x="3839399"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④友だち追加</a:t>
            </a:r>
          </a:p>
        </p:txBody>
      </p:sp>
      <p:sp>
        <p:nvSpPr>
          <p:cNvPr id="51" name="Chevron 50"/>
          <p:cNvSpPr/>
          <p:nvPr/>
        </p:nvSpPr>
        <p:spPr>
          <a:xfrm>
            <a:off x="49752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⑤面談</a:t>
            </a:r>
          </a:p>
        </p:txBody>
      </p:sp>
      <p:sp>
        <p:nvSpPr>
          <p:cNvPr id="52" name="Chevron 51"/>
          <p:cNvSpPr/>
          <p:nvPr/>
        </p:nvSpPr>
        <p:spPr>
          <a:xfrm>
            <a:off x="61110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⑥求人紹介</a:t>
            </a:r>
          </a:p>
        </p:txBody>
      </p:sp>
      <p:sp>
        <p:nvSpPr>
          <p:cNvPr id="53" name="Chevron 52"/>
          <p:cNvSpPr/>
          <p:nvPr/>
        </p:nvSpPr>
        <p:spPr>
          <a:xfrm>
            <a:off x="72468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A6A6A6"/>
                </a:solidFill>
                <a:latin typeface="メイリオ"/>
                <a:ea typeface="メイリオ"/>
                <a:cs typeface="メイリオ"/>
              </a:rPr>
              <a:t>⑦内定承諾</a:t>
            </a:r>
          </a:p>
        </p:txBody>
      </p:sp>
      <p:sp>
        <p:nvSpPr>
          <p:cNvPr id="54" name="Chevron 53"/>
          <p:cNvSpPr/>
          <p:nvPr/>
        </p:nvSpPr>
        <p:spPr>
          <a:xfrm>
            <a:off x="8382600"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r>
              <a:rPr sz="900" b="1">
                <a:solidFill>
                  <a:srgbClr val="FFFFFF"/>
                </a:solidFill>
                <a:latin typeface="メイリオ"/>
                <a:ea typeface="メイリオ"/>
                <a:cs typeface="メイリオ"/>
              </a:rPr>
              <a:t>⑧定着・紹介</a:t>
            </a:r>
          </a:p>
        </p:txBody>
      </p:sp>
      <p:sp>
        <p:nvSpPr>
          <p:cNvPr id="55" name="Rounded Rectangle 54"/>
          <p:cNvSpPr/>
          <p:nvPr/>
        </p:nvSpPr>
        <p:spPr>
          <a:xfrm>
            <a:off x="4320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56" name="Rounded Rectangle 55"/>
          <p:cNvSpPr/>
          <p:nvPr/>
        </p:nvSpPr>
        <p:spPr>
          <a:xfrm>
            <a:off x="4320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1600" bIns="21600"/>
          <a:lstStyle/>
          <a:p>
            <a:pPr algn="l"/>
            <a:r>
              <a:rPr sz="1200" b="1">
                <a:solidFill>
                  <a:srgbClr val="FFFFFF"/>
                </a:solidFill>
                <a:latin typeface="メイリオ"/>
                <a:ea typeface="メイリオ"/>
                <a:cs typeface="メイリオ"/>
              </a:rPr>
              <a:t>1  定着フォロー</a:t>
            </a:r>
          </a:p>
        </p:txBody>
      </p:sp>
      <p:sp>
        <p:nvSpPr>
          <p:cNvPr id="57" name="Rectangle 56"/>
          <p:cNvSpPr/>
          <p:nvPr/>
        </p:nvSpPr>
        <p:spPr>
          <a:xfrm>
            <a:off x="5220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150" b="0">
                <a:solidFill>
                  <a:srgbClr val="333333"/>
                </a:solidFill>
                <a:latin typeface="メイリオ"/>
                <a:ea typeface="メイリオ"/>
                <a:cs typeface="メイリオ"/>
              </a:rPr>
              <a:t>入社日からの日数をタグで管理し、1週間後・1ヶ月後・3ヶ月後に「困っていることはありませんか？」を自動配信。早期離職の兆しがあれば担当者が介入。</a:t>
            </a:r>
          </a:p>
        </p:txBody>
      </p:sp>
      <p:sp>
        <p:nvSpPr>
          <p:cNvPr id="58" name="Rounded Rectangle 57"/>
          <p:cNvSpPr/>
          <p:nvPr/>
        </p:nvSpPr>
        <p:spPr>
          <a:xfrm>
            <a:off x="522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入社日をタグ化</a:t>
            </a:r>
          </a:p>
        </p:txBody>
      </p:sp>
      <p:sp>
        <p:nvSpPr>
          <p:cNvPr id="59" name="Rounded Rectangle 58"/>
          <p:cNvSpPr/>
          <p:nvPr/>
        </p:nvSpPr>
        <p:spPr>
          <a:xfrm>
            <a:off x="1476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1週・1ヶ月・3ヶ月</a:t>
            </a:r>
          </a:p>
        </p:txBody>
      </p:sp>
      <p:sp>
        <p:nvSpPr>
          <p:cNvPr id="60" name="Rounded Rectangle 59"/>
          <p:cNvSpPr/>
          <p:nvPr/>
        </p:nvSpPr>
        <p:spPr>
          <a:xfrm>
            <a:off x="2431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早期離職を防ぐ</a:t>
            </a:r>
          </a:p>
        </p:txBody>
      </p:sp>
      <p:sp>
        <p:nvSpPr>
          <p:cNvPr id="61" name="Rounded Rectangle 60"/>
          <p:cNvSpPr/>
          <p:nvPr/>
        </p:nvSpPr>
        <p:spPr>
          <a:xfrm>
            <a:off x="5220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定着が、紹介・再利用の土台になる</a:t>
            </a:r>
          </a:p>
        </p:txBody>
      </p:sp>
      <p:sp>
        <p:nvSpPr>
          <p:cNvPr id="62" name="Rounded Rectangle 61"/>
          <p:cNvSpPr/>
          <p:nvPr/>
        </p:nvSpPr>
        <p:spPr>
          <a:xfrm>
            <a:off x="34764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63" name="Rounded Rectangle 62"/>
          <p:cNvSpPr/>
          <p:nvPr/>
        </p:nvSpPr>
        <p:spPr>
          <a:xfrm>
            <a:off x="34764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1600" bIns="21600"/>
          <a:lstStyle/>
          <a:p>
            <a:pPr algn="l"/>
            <a:r>
              <a:rPr sz="1200" b="1">
                <a:solidFill>
                  <a:srgbClr val="FFFFFF"/>
                </a:solidFill>
                <a:latin typeface="メイリオ"/>
                <a:ea typeface="メイリオ"/>
                <a:cs typeface="メイリオ"/>
              </a:rPr>
              <a:t>2  友だち紹介キャンペーン</a:t>
            </a:r>
          </a:p>
        </p:txBody>
      </p:sp>
      <p:sp>
        <p:nvSpPr>
          <p:cNvPr id="64" name="Rectangle 63"/>
          <p:cNvSpPr/>
          <p:nvPr/>
        </p:nvSpPr>
        <p:spPr>
          <a:xfrm>
            <a:off x="35664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150" b="0">
                <a:solidFill>
                  <a:srgbClr val="333333"/>
                </a:solidFill>
                <a:latin typeface="メイリオ"/>
                <a:ea typeface="メイリオ"/>
                <a:cs typeface="メイリオ"/>
              </a:rPr>
              <a:t>定着を確認できたタイミング（入社3ヶ月が目安）で「整備士仲間をご紹介ください」を配信。LINEでシェアでき、紹介経由の人はミスマッチが少ない。</a:t>
            </a:r>
          </a:p>
        </p:txBody>
      </p:sp>
      <p:sp>
        <p:nvSpPr>
          <p:cNvPr id="65" name="Rounded Rectangle 64"/>
          <p:cNvSpPr/>
          <p:nvPr/>
        </p:nvSpPr>
        <p:spPr>
          <a:xfrm>
            <a:off x="3566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定着を確認</a:t>
            </a:r>
          </a:p>
        </p:txBody>
      </p:sp>
      <p:sp>
        <p:nvSpPr>
          <p:cNvPr id="66" name="Rounded Rectangle 65"/>
          <p:cNvSpPr/>
          <p:nvPr/>
        </p:nvSpPr>
        <p:spPr>
          <a:xfrm>
            <a:off x="45212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紹介のご案内</a:t>
            </a:r>
          </a:p>
        </p:txBody>
      </p:sp>
      <p:sp>
        <p:nvSpPr>
          <p:cNvPr id="67" name="Rounded Rectangle 66"/>
          <p:cNvSpPr/>
          <p:nvPr/>
        </p:nvSpPr>
        <p:spPr>
          <a:xfrm>
            <a:off x="5476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紹介経由の登録</a:t>
            </a:r>
          </a:p>
        </p:txBody>
      </p:sp>
      <p:sp>
        <p:nvSpPr>
          <p:cNvPr id="68" name="Rounded Rectangle 67"/>
          <p:cNvSpPr/>
          <p:nvPr/>
        </p:nvSpPr>
        <p:spPr>
          <a:xfrm>
            <a:off x="35664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広告費ゼロで新しい友だちが増える</a:t>
            </a:r>
          </a:p>
        </p:txBody>
      </p:sp>
      <p:sp>
        <p:nvSpPr>
          <p:cNvPr id="69" name="Rounded Rectangle 68"/>
          <p:cNvSpPr/>
          <p:nvPr/>
        </p:nvSpPr>
        <p:spPr>
          <a:xfrm>
            <a:off x="65208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p>
        </p:txBody>
      </p:sp>
      <p:sp>
        <p:nvSpPr>
          <p:cNvPr id="70" name="Rounded Rectangle 69"/>
          <p:cNvSpPr/>
          <p:nvPr/>
        </p:nvSpPr>
        <p:spPr>
          <a:xfrm>
            <a:off x="65208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1600" bIns="21600"/>
          <a:lstStyle/>
          <a:p>
            <a:pPr algn="l"/>
            <a:r>
              <a:rPr sz="1200" b="1">
                <a:solidFill>
                  <a:srgbClr val="FFFFFF"/>
                </a:solidFill>
                <a:latin typeface="メイリオ"/>
                <a:ea typeface="メイリオ"/>
                <a:cs typeface="メイリオ"/>
              </a:rPr>
              <a:t>3  長期離脱層への再接触</a:t>
            </a:r>
          </a:p>
        </p:txBody>
      </p:sp>
      <p:sp>
        <p:nvSpPr>
          <p:cNvPr id="71" name="Rectangle 70"/>
          <p:cNvSpPr/>
          <p:nvPr/>
        </p:nvSpPr>
        <p:spPr>
          <a:xfrm>
            <a:off x="66108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1600" bIns="21600"/>
          <a:lstStyle/>
          <a:p>
            <a:pPr algn="l"/>
            <a:r>
              <a:rPr sz="1150" b="0">
                <a:solidFill>
                  <a:srgbClr val="333333"/>
                </a:solidFill>
                <a:latin typeface="メイリオ"/>
                <a:ea typeface="メイリオ"/>
                <a:cs typeface="メイリオ"/>
              </a:rPr>
              <a:t>半年以上反応がない人には、売り込みをせず整備士の年収動向・資格情報を2〜3回届けて関係を戻す。そのうえで再登録・紹介へ。</a:t>
            </a:r>
          </a:p>
        </p:txBody>
      </p:sp>
      <p:sp>
        <p:nvSpPr>
          <p:cNvPr id="72" name="Rounded Rectangle 71"/>
          <p:cNvSpPr/>
          <p:nvPr/>
        </p:nvSpPr>
        <p:spPr>
          <a:xfrm>
            <a:off x="6610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情報だけを届ける</a:t>
            </a:r>
          </a:p>
        </p:txBody>
      </p:sp>
      <p:sp>
        <p:nvSpPr>
          <p:cNvPr id="73" name="Rounded Rectangle 72"/>
          <p:cNvSpPr/>
          <p:nvPr/>
        </p:nvSpPr>
        <p:spPr>
          <a:xfrm>
            <a:off x="7565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関係を戻す</a:t>
            </a:r>
          </a:p>
        </p:txBody>
      </p:sp>
      <p:sp>
        <p:nvSpPr>
          <p:cNvPr id="74" name="Rounded Rectangle 73"/>
          <p:cNvSpPr/>
          <p:nvPr/>
        </p:nvSpPr>
        <p:spPr>
          <a:xfrm>
            <a:off x="8520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再登録・紹介</a:t>
            </a:r>
          </a:p>
        </p:txBody>
      </p:sp>
      <p:sp>
        <p:nvSpPr>
          <p:cNvPr id="75" name="Rounded Rectangle 74"/>
          <p:cNvSpPr/>
          <p:nvPr/>
        </p:nvSpPr>
        <p:spPr>
          <a:xfrm>
            <a:off x="66108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ブロックされない接し方で、次の転職時に思い出してもらう</a:t>
            </a:r>
          </a:p>
        </p:txBody>
      </p:sp>
      <p:sp>
        <p:nvSpPr>
          <p:cNvPr id="76" name="Rounded Rectangle 75"/>
          <p:cNvSpPr/>
          <p:nvPr/>
        </p:nvSpPr>
        <p:spPr>
          <a:xfrm>
            <a:off x="432000" y="5472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1600" bIns="21600"/>
          <a:lstStyle/>
          <a:p>
            <a:pPr algn="ctr"/>
            <a:r>
              <a:rPr sz="1300" b="1">
                <a:solidFill>
                  <a:srgbClr val="FFFFFF"/>
                </a:solidFill>
                <a:latin typeface="メイリオ"/>
                <a:ea typeface="メイリオ"/>
                <a:cs typeface="メイリオ"/>
              </a:rPr>
              <a:t>一度つながった整備士と、次の転職まで関係を続ける。</a:t>
            </a:r>
          </a:p>
        </p:txBody>
      </p:sp>
    </p:spTree>
    <p:extLst>
      <p:ext uri="{BB962C8B-B14F-4D97-AF65-F5344CB8AC3E}">
        <p14:creationId xmlns:p14="http://schemas.microsoft.com/office/powerpoint/2010/main" val="12698883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143144</TotalTime>
  <Words>5417</Words>
  <Application>Microsoft Office PowerPoint</Application>
  <PresentationFormat>A4 210 x 297 mm</PresentationFormat>
  <Paragraphs>1081</Paragraphs>
  <Slides>52</Slides>
  <Notes>25</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52</vt:i4>
      </vt:variant>
    </vt:vector>
  </HeadingPairs>
  <TitlesOfParts>
    <vt:vector size="59"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1956</cp:revision>
  <cp:lastPrinted>2022-11-01T11:38:14Z</cp:lastPrinted>
  <dcterms:created xsi:type="dcterms:W3CDTF">2015-09-04T09:21:15Z</dcterms:created>
  <dcterms:modified xsi:type="dcterms:W3CDTF">2026-09-24T05:35:16Z</dcterms:modified>
</cp:coreProperties>
</file>