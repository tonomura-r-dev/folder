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72" r:id="rId6"/>
    <p:sldId id="3007" r:id="rId67"/>
    <p:sldId id="2994" r:id="rId7"/>
    <p:sldId id="2995" r:id="rId8"/>
    <p:sldId id="3001" r:id="rId11"/>
    <p:sldId id="2999" r:id="rId12"/>
    <p:sldId id="2736" r:id="rId14"/>
    <p:sldId id="2987" r:id="rId15"/>
    <p:sldId id="2997" r:id="rId16"/>
    <p:sldId id="2996" r:id="rId17"/>
    <p:sldId id="2973" r:id="rId18"/>
    <p:sldId id="2977" r:id="rId19"/>
    <p:sldId id="2979" r:id="rId20"/>
    <p:sldId id="3000" r:id="rId21"/>
    <p:sldId id="2968" r:id="rId34"/>
    <p:sldId id="2908" r:id="rId22"/>
    <p:sldId id="2998" r:id="rId23"/>
    <p:sldId id="2990" r:id="rId24"/>
    <p:sldId id="2986" r:id="rId26"/>
    <p:sldId id="2991" r:id="rId28"/>
    <p:sldId id="2737" r:id="rId29"/>
    <p:sldId id="2989" r:id="rId30"/>
    <p:sldId id="2563" r:id="rId31"/>
    <p:sldId id="2959" r:id="rId32"/>
    <p:sldId id="2970" r:id="rId33"/>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5.xml"/><Relationship Id="rId8"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1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7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1" name="Picture 10" descr="chengrowth_logo.png"/>
          <p:cNvPicPr>
            <a:picLocks noChangeAspect="1"/>
          </p:cNvPicPr>
          <p:nvPr/>
        </p:nvPicPr>
        <p:blipFill>
          <a:blip r:embed="rId5"/>
          <a:stretch>
            <a:fillRect/>
          </a:stretch>
        </p:blipFill>
        <p:spPr>
          <a:xfrm>
            <a:off x="3513000" y="3478502"/>
            <a:ext cx="2880000" cy="337171"/>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2000" y="1728000"/>
            <a:ext cx="2942400" cy="251999"/>
          </a:xfrm>
          <a:prstGeom prst="rect">
            <a:avLst/>
          </a:prstGeom>
          <a:noFill/>
        </p:spPr>
        <p:txBody>
          <a:bodyPr wrap="square" lIns="50400" rIns="50400" tIns="21600" bIns="21600" anchor="ctr">
            <a:spAutoFit/>
          </a:bodyPr>
          <a:lstStyle/>
          <a:p>
            <a:pPr algn="ctr"/>
            <a:r>
              <a:rPr sz="12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約70万円/件</a:t>
            </a:r>
          </a:p>
        </p:txBody>
      </p:sp>
      <p:sp>
        <p:nvSpPr>
          <p:cNvPr id="8" name="TextBox 7"/>
          <p:cNvSpPr txBox="1"/>
          <p:nvPr/>
        </p:nvSpPr>
        <p:spPr>
          <a:xfrm>
            <a:off x="432000" y="2628000"/>
            <a:ext cx="2942400" cy="503999"/>
          </a:xfrm>
          <a:prstGeom prst="rect">
            <a:avLst/>
          </a:prstGeom>
          <a:noFill/>
        </p:spPr>
        <p:txBody>
          <a:bodyPr wrap="square" lIns="50400" rIns="50400" tIns="21600" bIns="21600" anchor="ctr">
            <a:spAutoFit/>
          </a:bodyPr>
          <a:lstStyle/>
          <a:p>
            <a:pPr algn="ctr">
              <a:lnSpc>
                <a:spcPct val="130000"/>
              </a:lnSpc>
            </a:pPr>
            <a:r>
              <a:rPr sz="1150">
                <a:solidFill>
                  <a:srgbClr val="333333"/>
                </a:solidFill>
                <a:latin typeface="メイリオ"/>
                <a:ea typeface="メイリオ"/>
                <a:cs typeface="メイリオ"/>
              </a:rPr>
              <a:t>年250万円の投下で</a:t>
            </a:r>
          </a:p>
          <a:p>
            <a:pPr algn="ctr">
              <a:lnSpc>
                <a:spcPct val="130000"/>
              </a:lnSpc>
            </a:pPr>
            <a:r>
              <a:rPr sz="115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82400" y="1728000"/>
            <a:ext cx="2942400" cy="251999"/>
          </a:xfrm>
          <a:prstGeom prst="rect">
            <a:avLst/>
          </a:prstGeom>
          <a:noFill/>
        </p:spPr>
        <p:txBody>
          <a:bodyPr wrap="square" lIns="50400" rIns="50400" tIns="21600" bIns="21600" anchor="ctr">
            <a:spAutoFit/>
          </a:bodyPr>
          <a:lstStyle/>
          <a:p>
            <a:pPr algn="ctr"/>
            <a:r>
              <a:rPr sz="12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8000"/>
            <a:ext cx="2942400" cy="503999"/>
          </a:xfrm>
          <a:prstGeom prst="rect">
            <a:avLst/>
          </a:prstGeom>
          <a:noFill/>
        </p:spPr>
        <p:txBody>
          <a:bodyPr wrap="square" lIns="50400" rIns="50400" tIns="21600" bIns="21600" anchor="ctr">
            <a:spAutoFit/>
          </a:bodyPr>
          <a:lstStyle/>
          <a:p>
            <a:pPr algn="ctr">
              <a:lnSpc>
                <a:spcPct val="130000"/>
              </a:lnSpc>
            </a:pPr>
            <a:r>
              <a:rPr sz="1150">
                <a:solidFill>
                  <a:srgbClr val="333333"/>
                </a:solidFill>
                <a:latin typeface="メイリオ"/>
                <a:ea typeface="メイリオ"/>
                <a:cs typeface="メイリオ"/>
              </a:rPr>
              <a:t>目標は2〜2.5万円</a:t>
            </a:r>
          </a:p>
          <a:p>
            <a:pPr algn="ctr">
              <a:lnSpc>
                <a:spcPct val="130000"/>
              </a:lnSpc>
            </a:pPr>
            <a:r>
              <a:rPr sz="115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2800" y="1728000"/>
            <a:ext cx="2942400" cy="251999"/>
          </a:xfrm>
          <a:prstGeom prst="rect">
            <a:avLst/>
          </a:prstGeom>
          <a:noFill/>
        </p:spPr>
        <p:txBody>
          <a:bodyPr wrap="square" lIns="50400" rIns="50400" tIns="21600" bIns="21600" anchor="ctr">
            <a:spAutoFit/>
          </a:bodyPr>
          <a:lstStyle/>
          <a:p>
            <a:pPr algn="ctr"/>
            <a:r>
              <a:rPr sz="12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8000"/>
            <a:ext cx="2942400" cy="503999"/>
          </a:xfrm>
          <a:prstGeom prst="rect">
            <a:avLst/>
          </a:prstGeom>
          <a:noFill/>
        </p:spPr>
        <p:txBody>
          <a:bodyPr wrap="square" lIns="50400" rIns="50400" tIns="21600" bIns="21600" anchor="ctr">
            <a:spAutoFit/>
          </a:bodyPr>
          <a:lstStyle/>
          <a:p>
            <a:pPr algn="ctr">
              <a:lnSpc>
                <a:spcPct val="130000"/>
              </a:lnSpc>
            </a:pPr>
            <a:r>
              <a:rPr sz="1150">
                <a:solidFill>
                  <a:srgbClr val="333333"/>
                </a:solidFill>
                <a:latin typeface="メイリオ"/>
                <a:ea typeface="メイリオ"/>
                <a:cs typeface="メイリオ"/>
              </a:rPr>
              <a:t>SimilarWeb推計</a:t>
            </a:r>
          </a:p>
          <a:p>
            <a:pPr algn="ctr">
              <a:lnSpc>
                <a:spcPct val="130000"/>
              </a:lnSpc>
            </a:pPr>
            <a:r>
              <a:rPr sz="115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348000"/>
            <a:ext cx="9043200" cy="792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000" y="3401999"/>
            <a:ext cx="8683200" cy="684000"/>
          </a:xfrm>
          <a:prstGeom prst="rect">
            <a:avLst/>
          </a:prstGeom>
          <a:noFill/>
        </p:spPr>
        <p:txBody>
          <a:bodyPr wrap="square" lIns="50400" rIns="50400" tIns="21600" bIns="21600" anchor="ctr">
            <a:spAutoFit/>
          </a:bodyPr>
          <a:lstStyle/>
          <a:p>
            <a:pPr algn="l">
              <a:spcAft>
                <a:spcPts val="400"/>
              </a:spcAft>
            </a:pPr>
            <a:r>
              <a:rPr sz="1300" b="1">
                <a:solidFill>
                  <a:srgbClr val="C00000"/>
                </a:solidFill>
                <a:latin typeface="メイリオ"/>
                <a:ea typeface="メイリオ"/>
                <a:cs typeface="メイリオ"/>
              </a:rPr>
              <a:t>あわせて2点、すぐに直せる改善点があります。</a:t>
            </a:r>
          </a:p>
          <a:p>
            <a:pPr algn="l">
              <a:lnSpc>
                <a:spcPct val="130000"/>
              </a:lnSpc>
            </a:pPr>
            <a:r>
              <a:rPr sz="1250">
                <a:solidFill>
                  <a:srgbClr val="333333"/>
                </a:solidFill>
                <a:latin typeface="メイリオ"/>
                <a:ea typeface="メイリオ"/>
                <a:cs typeface="メイリオ"/>
              </a:rPr>
              <a:t>① トップページの「転職支援サービス申込」ボタンが現在リンク切れ（押した先が非公開の求人ページ）</a:t>
            </a:r>
          </a:p>
          <a:p>
            <a:pPr algn="l">
              <a:lnSpc>
                <a:spcPct val="130000"/>
              </a:lnSpc>
            </a:pPr>
            <a:r>
              <a:rPr sz="1250">
                <a:solidFill>
                  <a:srgbClr val="333333"/>
                </a:solidFill>
                <a:latin typeface="メイリオ"/>
                <a:ea typeface="メイリオ"/>
                <a:cs typeface="メイリオ"/>
              </a:rPr>
              <a:t>② 電話相談の受付が平日10:00〜18:00のみ ＝ 整備士の方が働いている時間帯</a:t>
            </a:r>
          </a:p>
        </p:txBody>
      </p:sp>
      <p:sp>
        <p:nvSpPr>
          <p:cNvPr id="19" name="TextBox 1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出典：与件ヒアリング（2026-09）／サイト実査 2026-09-21。UUはSimilarWeb推計のため、GA実測値をいただき次第置き換え</a:t>
            </a: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602000"/>
            <a:ext cx="1440000" cy="216000"/>
          </a:xfrm>
          <a:prstGeom prst="rect">
            <a:avLst/>
          </a:prstGeom>
          <a:noFill/>
        </p:spPr>
        <p:txBody>
          <a:bodyPr wrap="square" lIns="50400" rIns="50400" tIns="21600" bIns="21600" anchor="ctr">
            <a:spAutoFit/>
          </a:bodyPr>
          <a:lstStyle/>
          <a:p>
            <a:pPr algn="l"/>
            <a:r>
              <a:rPr sz="1200" b="1">
                <a:solidFill>
                  <a:srgbClr val="7F7F7F"/>
                </a:solidFill>
                <a:latin typeface="メイリオ"/>
                <a:ea typeface="メイリオ"/>
                <a:cs typeface="メイリオ"/>
              </a:rPr>
              <a:t>現状</a:t>
            </a:r>
          </a:p>
        </p:txBody>
      </p:sp>
      <p:sp>
        <p:nvSpPr>
          <p:cNvPr id="6" name="Rounded Rectangle 5"/>
          <p:cNvSpPr/>
          <p:nvPr/>
        </p:nvSpPr>
        <p:spPr>
          <a:xfrm>
            <a:off x="432000" y="1835999"/>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200" b="1">
                <a:solidFill>
                  <a:srgbClr val="FFFFFF"/>
                </a:solidFill>
                <a:latin typeface="メイリオ"/>
                <a:ea typeface="メイリオ"/>
                <a:cs typeface="メイリオ"/>
              </a:rPr>
              <a:t>流入</a:t>
            </a:r>
          </a:p>
        </p:txBody>
      </p:sp>
      <p:sp>
        <p:nvSpPr>
          <p:cNvPr id="7" name="TextBox 6"/>
          <p:cNvSpPr txBox="1"/>
          <p:nvPr/>
        </p:nvSpPr>
        <p:spPr>
          <a:xfrm>
            <a:off x="2548800" y="1890000"/>
            <a:ext cx="180000" cy="288000"/>
          </a:xfrm>
          <a:prstGeom prst="rect">
            <a:avLst/>
          </a:prstGeom>
          <a:noFill/>
        </p:spPr>
        <p:txBody>
          <a:bodyPr wrap="square" lIns="50400" rIns="50400" tIns="21600" bIns="21600" anchor="ctr">
            <a:spAutoFit/>
          </a:bodyPr>
          <a:lstStyle/>
          <a:p>
            <a:pPr algn="ctr"/>
            <a:r>
              <a:rPr sz="1500" b="1">
                <a:solidFill>
                  <a:srgbClr val="7F7F7F"/>
                </a:solidFill>
                <a:latin typeface="メイリオ"/>
                <a:ea typeface="メイリオ"/>
                <a:cs typeface="メイリオ"/>
              </a:rPr>
              <a:t>→</a:t>
            </a:r>
          </a:p>
        </p:txBody>
      </p:sp>
      <p:sp>
        <p:nvSpPr>
          <p:cNvPr id="8" name="Rounded Rectangle 7"/>
          <p:cNvSpPr/>
          <p:nvPr/>
        </p:nvSpPr>
        <p:spPr>
          <a:xfrm>
            <a:off x="2746800" y="1835999"/>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200" b="1">
                <a:solidFill>
                  <a:srgbClr val="FFFFFF"/>
                </a:solidFill>
                <a:latin typeface="メイリオ"/>
                <a:ea typeface="メイリオ"/>
                <a:cs typeface="メイリオ"/>
              </a:rPr>
              <a:t>求人を見る</a:t>
            </a:r>
          </a:p>
        </p:txBody>
      </p:sp>
      <p:sp>
        <p:nvSpPr>
          <p:cNvPr id="9" name="TextBox 8"/>
          <p:cNvSpPr txBox="1"/>
          <p:nvPr/>
        </p:nvSpPr>
        <p:spPr>
          <a:xfrm>
            <a:off x="4863600" y="1890000"/>
            <a:ext cx="180000" cy="288000"/>
          </a:xfrm>
          <a:prstGeom prst="rect">
            <a:avLst/>
          </a:prstGeom>
          <a:noFill/>
        </p:spPr>
        <p:txBody>
          <a:bodyPr wrap="square" lIns="50400" rIns="50400" tIns="21600" bIns="21600" anchor="ctr">
            <a:spAutoFit/>
          </a:bodyPr>
          <a:lstStyle/>
          <a:p>
            <a:pPr algn="ctr"/>
            <a:r>
              <a:rPr sz="1500" b="1">
                <a:solidFill>
                  <a:srgbClr val="7F7F7F"/>
                </a:solidFill>
                <a:latin typeface="メイリオ"/>
                <a:ea typeface="メイリオ"/>
                <a:cs typeface="メイリオ"/>
              </a:rPr>
              <a:t>→</a:t>
            </a:r>
          </a:p>
        </p:txBody>
      </p:sp>
      <p:sp>
        <p:nvSpPr>
          <p:cNvPr id="10" name="Rounded Rectangle 9"/>
          <p:cNvSpPr/>
          <p:nvPr/>
        </p:nvSpPr>
        <p:spPr>
          <a:xfrm>
            <a:off x="5061600" y="1835999"/>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200" b="1">
                <a:solidFill>
                  <a:srgbClr val="FFFFFF"/>
                </a:solidFill>
                <a:latin typeface="メイリオ"/>
                <a:ea typeface="メイリオ"/>
                <a:cs typeface="メイリオ"/>
              </a:rPr>
              <a:t>今すぐ応募する</a:t>
            </a:r>
          </a:p>
        </p:txBody>
      </p:sp>
      <p:sp>
        <p:nvSpPr>
          <p:cNvPr id="11" name="TextBox 10"/>
          <p:cNvSpPr txBox="1"/>
          <p:nvPr/>
        </p:nvSpPr>
        <p:spPr>
          <a:xfrm>
            <a:off x="7178400" y="1890000"/>
            <a:ext cx="180000" cy="288000"/>
          </a:xfrm>
          <a:prstGeom prst="rect">
            <a:avLst/>
          </a:prstGeom>
          <a:noFill/>
        </p:spPr>
        <p:txBody>
          <a:bodyPr wrap="square" lIns="50400" rIns="50400" tIns="21600" bIns="21600" anchor="ctr">
            <a:spAutoFit/>
          </a:bodyPr>
          <a:lstStyle/>
          <a:p>
            <a:pPr algn="ctr"/>
            <a:r>
              <a:rPr sz="1500" b="1">
                <a:solidFill>
                  <a:srgbClr val="7F7F7F"/>
                </a:solidFill>
                <a:latin typeface="メイリオ"/>
                <a:ea typeface="メイリオ"/>
                <a:cs typeface="メイリオ"/>
              </a:rPr>
              <a:t>→</a:t>
            </a:r>
          </a:p>
        </p:txBody>
      </p:sp>
      <p:sp>
        <p:nvSpPr>
          <p:cNvPr id="12" name="Rounded Rectangle 11"/>
          <p:cNvSpPr/>
          <p:nvPr/>
        </p:nvSpPr>
        <p:spPr>
          <a:xfrm>
            <a:off x="7376399" y="1835999"/>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200" b="1">
                <a:solidFill>
                  <a:srgbClr val="C00000"/>
                </a:solidFill>
                <a:latin typeface="メイリオ"/>
                <a:ea typeface="メイリオ"/>
                <a:cs typeface="メイリオ"/>
              </a:rPr>
              <a:t>迷った人は離脱</a:t>
            </a:r>
          </a:p>
        </p:txBody>
      </p:sp>
      <p:sp>
        <p:nvSpPr>
          <p:cNvPr id="13" name="TextBox 12"/>
          <p:cNvSpPr txBox="1"/>
          <p:nvPr/>
        </p:nvSpPr>
        <p:spPr>
          <a:xfrm>
            <a:off x="432000" y="2376000"/>
            <a:ext cx="2160000" cy="216000"/>
          </a:xfrm>
          <a:prstGeom prst="rect">
            <a:avLst/>
          </a:prstGeom>
          <a:noFill/>
        </p:spPr>
        <p:txBody>
          <a:bodyPr wrap="square" lIns="50400" rIns="50400" tIns="21600" bIns="21600" anchor="ctr">
            <a:spAutoFit/>
          </a:bodyPr>
          <a:lstStyle/>
          <a:p>
            <a:pPr algn="l"/>
            <a:r>
              <a:rPr sz="1200" b="1">
                <a:solidFill>
                  <a:srgbClr val="06C755"/>
                </a:solidFill>
                <a:latin typeface="メイリオ"/>
                <a:ea typeface="メイリオ"/>
                <a:cs typeface="メイリオ"/>
              </a:rPr>
              <a:t>LINE導入後</a:t>
            </a:r>
          </a:p>
        </p:txBody>
      </p:sp>
      <p:sp>
        <p:nvSpPr>
          <p:cNvPr id="14" name="Rounded Rectangle 13"/>
          <p:cNvSpPr/>
          <p:nvPr/>
        </p:nvSpPr>
        <p:spPr>
          <a:xfrm>
            <a:off x="432000" y="2610000"/>
            <a:ext cx="1357200" cy="75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1100" b="1">
                <a:solidFill>
                  <a:srgbClr val="FFFFFF"/>
                </a:solidFill>
                <a:latin typeface="メイリオ"/>
                <a:ea typeface="メイリオ"/>
                <a:cs typeface="メイリオ"/>
              </a:rPr>
              <a:t>流入</a:t>
            </a:r>
          </a:p>
        </p:txBody>
      </p:sp>
      <p:sp>
        <p:nvSpPr>
          <p:cNvPr id="15" name="TextBox 14"/>
          <p:cNvSpPr txBox="1"/>
          <p:nvPr/>
        </p:nvSpPr>
        <p:spPr>
          <a:xfrm>
            <a:off x="1796399" y="2826000"/>
            <a:ext cx="165600" cy="288000"/>
          </a:xfrm>
          <a:prstGeom prst="rect">
            <a:avLst/>
          </a:prstGeom>
          <a:noFill/>
        </p:spPr>
        <p:txBody>
          <a:bodyPr wrap="square" lIns="50400" rIns="50400" tIns="21600" bIns="21600" anchor="ctr">
            <a:spAutoFit/>
          </a:bodyPr>
          <a:lstStyle/>
          <a:p>
            <a:pPr algn="ctr"/>
            <a:r>
              <a:rPr sz="1300" b="1">
                <a:solidFill>
                  <a:srgbClr val="7F7F7F"/>
                </a:solidFill>
                <a:latin typeface="メイリオ"/>
                <a:ea typeface="メイリオ"/>
                <a:cs typeface="メイリオ"/>
              </a:rPr>
              <a:t>→</a:t>
            </a:r>
          </a:p>
        </p:txBody>
      </p:sp>
      <p:sp>
        <p:nvSpPr>
          <p:cNvPr id="16" name="Rounded Rectangle 15"/>
          <p:cNvSpPr/>
          <p:nvPr/>
        </p:nvSpPr>
        <p:spPr>
          <a:xfrm>
            <a:off x="1969200" y="2610000"/>
            <a:ext cx="1357200" cy="756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1100" b="1">
                <a:solidFill>
                  <a:srgbClr val="FFFFFF"/>
                </a:solidFill>
                <a:latin typeface="メイリオ"/>
                <a:ea typeface="メイリオ"/>
                <a:cs typeface="メイリオ"/>
              </a:rPr>
              <a:t>LINE友だち化</a:t>
            </a:r>
          </a:p>
          <a:p>
            <a:pPr algn="ctr">
              <a:lnSpc>
                <a:spcPct val="115000"/>
              </a:lnSpc>
            </a:pPr>
            <a:r>
              <a:rPr sz="1100" b="1">
                <a:solidFill>
                  <a:srgbClr val="FFFFFF"/>
                </a:solidFill>
                <a:latin typeface="メイリオ"/>
                <a:ea typeface="メイリオ"/>
                <a:cs typeface="メイリオ"/>
              </a:rPr>
              <a:t>（離脱防止・CPF）</a:t>
            </a:r>
          </a:p>
        </p:txBody>
      </p:sp>
      <p:sp>
        <p:nvSpPr>
          <p:cNvPr id="17" name="TextBox 16"/>
          <p:cNvSpPr txBox="1"/>
          <p:nvPr/>
        </p:nvSpPr>
        <p:spPr>
          <a:xfrm>
            <a:off x="3333600" y="2826000"/>
            <a:ext cx="165600" cy="288000"/>
          </a:xfrm>
          <a:prstGeom prst="rect">
            <a:avLst/>
          </a:prstGeom>
          <a:noFill/>
        </p:spPr>
        <p:txBody>
          <a:bodyPr wrap="square" lIns="50400" rIns="50400" tIns="21600" bIns="21600" anchor="ctr">
            <a:spAutoFit/>
          </a:bodyPr>
          <a:lstStyle/>
          <a:p>
            <a:pPr algn="ctr"/>
            <a:r>
              <a:rPr sz="1300" b="1">
                <a:solidFill>
                  <a:srgbClr val="7F7F7F"/>
                </a:solidFill>
                <a:latin typeface="メイリオ"/>
                <a:ea typeface="メイリオ"/>
                <a:cs typeface="メイリオ"/>
              </a:rPr>
              <a:t>→</a:t>
            </a:r>
          </a:p>
        </p:txBody>
      </p:sp>
      <p:sp>
        <p:nvSpPr>
          <p:cNvPr id="18" name="Rounded Rectangle 17"/>
          <p:cNvSpPr/>
          <p:nvPr/>
        </p:nvSpPr>
        <p:spPr>
          <a:xfrm>
            <a:off x="3506399" y="2610000"/>
            <a:ext cx="1357200" cy="756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1100" b="1">
                <a:solidFill>
                  <a:srgbClr val="FFFFFF"/>
                </a:solidFill>
                <a:latin typeface="メイリオ"/>
                <a:ea typeface="メイリオ"/>
                <a:cs typeface="メイリオ"/>
              </a:rPr>
              <a:t>30秒診断</a:t>
            </a:r>
          </a:p>
          <a:p>
            <a:pPr algn="ctr">
              <a:lnSpc>
                <a:spcPct val="115000"/>
              </a:lnSpc>
            </a:pPr>
            <a:r>
              <a:rPr sz="1100" b="1">
                <a:solidFill>
                  <a:srgbClr val="FFFFFF"/>
                </a:solidFill>
                <a:latin typeface="メイリオ"/>
                <a:ea typeface="メイリオ"/>
                <a:cs typeface="メイリオ"/>
              </a:rPr>
              <a:t>（職種・資格・温度感）</a:t>
            </a:r>
          </a:p>
        </p:txBody>
      </p:sp>
      <p:sp>
        <p:nvSpPr>
          <p:cNvPr id="19" name="TextBox 18"/>
          <p:cNvSpPr txBox="1"/>
          <p:nvPr/>
        </p:nvSpPr>
        <p:spPr>
          <a:xfrm>
            <a:off x="4870799" y="2826000"/>
            <a:ext cx="165600" cy="288000"/>
          </a:xfrm>
          <a:prstGeom prst="rect">
            <a:avLst/>
          </a:prstGeom>
          <a:noFill/>
        </p:spPr>
        <p:txBody>
          <a:bodyPr wrap="square" lIns="50400" rIns="50400" tIns="21600" bIns="21600" anchor="ctr">
            <a:spAutoFit/>
          </a:bodyPr>
          <a:lstStyle/>
          <a:p>
            <a:pPr algn="ctr"/>
            <a:r>
              <a:rPr sz="1300" b="1">
                <a:solidFill>
                  <a:srgbClr val="7F7F7F"/>
                </a:solidFill>
                <a:latin typeface="メイリオ"/>
                <a:ea typeface="メイリオ"/>
                <a:cs typeface="メイリオ"/>
              </a:rPr>
              <a:t>→</a:t>
            </a:r>
          </a:p>
        </p:txBody>
      </p:sp>
      <p:sp>
        <p:nvSpPr>
          <p:cNvPr id="20" name="Rounded Rectangle 19"/>
          <p:cNvSpPr/>
          <p:nvPr/>
        </p:nvSpPr>
        <p:spPr>
          <a:xfrm>
            <a:off x="5043599" y="2610000"/>
            <a:ext cx="1357200" cy="756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1100" b="1">
                <a:solidFill>
                  <a:srgbClr val="FFFFFF"/>
                </a:solidFill>
                <a:latin typeface="メイリオ"/>
                <a:ea typeface="メイリオ"/>
                <a:cs typeface="メイリオ"/>
              </a:rPr>
              <a:t>14日間の情報配信</a:t>
            </a:r>
          </a:p>
          <a:p>
            <a:pPr algn="ctr">
              <a:lnSpc>
                <a:spcPct val="115000"/>
              </a:lnSpc>
            </a:pPr>
            <a:r>
              <a:rPr sz="1100" b="1">
                <a:solidFill>
                  <a:srgbClr val="FFFFFF"/>
                </a:solidFill>
                <a:latin typeface="メイリオ"/>
                <a:ea typeface="メイリオ"/>
                <a:cs typeface="メイリオ"/>
              </a:rPr>
              <a:t>（年収相場・体験談）</a:t>
            </a:r>
          </a:p>
        </p:txBody>
      </p:sp>
      <p:sp>
        <p:nvSpPr>
          <p:cNvPr id="21" name="TextBox 20"/>
          <p:cNvSpPr txBox="1"/>
          <p:nvPr/>
        </p:nvSpPr>
        <p:spPr>
          <a:xfrm>
            <a:off x="6407999" y="2826000"/>
            <a:ext cx="165600" cy="288000"/>
          </a:xfrm>
          <a:prstGeom prst="rect">
            <a:avLst/>
          </a:prstGeom>
          <a:noFill/>
        </p:spPr>
        <p:txBody>
          <a:bodyPr wrap="square" lIns="50400" rIns="50400" tIns="21600" bIns="21600" anchor="ctr">
            <a:spAutoFit/>
          </a:bodyPr>
          <a:lstStyle/>
          <a:p>
            <a:pPr algn="ctr"/>
            <a:r>
              <a:rPr sz="1300" b="1">
                <a:solidFill>
                  <a:srgbClr val="7F7F7F"/>
                </a:solidFill>
                <a:latin typeface="メイリオ"/>
                <a:ea typeface="メイリオ"/>
                <a:cs typeface="メイリオ"/>
              </a:rPr>
              <a:t>→</a:t>
            </a:r>
          </a:p>
        </p:txBody>
      </p:sp>
      <p:sp>
        <p:nvSpPr>
          <p:cNvPr id="22" name="Rounded Rectangle 21"/>
          <p:cNvSpPr/>
          <p:nvPr/>
        </p:nvSpPr>
        <p:spPr>
          <a:xfrm>
            <a:off x="6580799" y="2610000"/>
            <a:ext cx="1357200" cy="75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1100" b="1">
                <a:solidFill>
                  <a:srgbClr val="FFFFFF"/>
                </a:solidFill>
                <a:latin typeface="メイリオ"/>
                <a:ea typeface="メイリオ"/>
                <a:cs typeface="メイリオ"/>
              </a:rPr>
              <a:t>面談・応募</a:t>
            </a:r>
          </a:p>
        </p:txBody>
      </p:sp>
      <p:sp>
        <p:nvSpPr>
          <p:cNvPr id="23" name="TextBox 22"/>
          <p:cNvSpPr txBox="1"/>
          <p:nvPr/>
        </p:nvSpPr>
        <p:spPr>
          <a:xfrm>
            <a:off x="7945199" y="2826000"/>
            <a:ext cx="165600" cy="288000"/>
          </a:xfrm>
          <a:prstGeom prst="rect">
            <a:avLst/>
          </a:prstGeom>
          <a:noFill/>
        </p:spPr>
        <p:txBody>
          <a:bodyPr wrap="square" lIns="50400" rIns="50400" tIns="21600" bIns="21600" anchor="ctr">
            <a:spAutoFit/>
          </a:bodyPr>
          <a:lstStyle/>
          <a:p>
            <a:pPr algn="ctr"/>
            <a:r>
              <a:rPr sz="1300" b="1">
                <a:solidFill>
                  <a:srgbClr val="7F7F7F"/>
                </a:solidFill>
                <a:latin typeface="メイリオ"/>
                <a:ea typeface="メイリオ"/>
                <a:cs typeface="メイリオ"/>
              </a:rPr>
              <a:t>→</a:t>
            </a:r>
          </a:p>
        </p:txBody>
      </p:sp>
      <p:sp>
        <p:nvSpPr>
          <p:cNvPr id="24" name="Rounded Rectangle 23"/>
          <p:cNvSpPr/>
          <p:nvPr/>
        </p:nvSpPr>
        <p:spPr>
          <a:xfrm>
            <a:off x="8117999" y="2610000"/>
            <a:ext cx="1357200" cy="75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1100" b="1">
                <a:solidFill>
                  <a:srgbClr val="FFFFFF"/>
                </a:solidFill>
                <a:latin typeface="メイリオ"/>
                <a:ea typeface="メイリオ"/>
                <a:cs typeface="メイリオ"/>
              </a:rPr>
              <a:t>就業</a:t>
            </a:r>
          </a:p>
        </p:txBody>
      </p:sp>
      <p:sp>
        <p:nvSpPr>
          <p:cNvPr id="25" name="Rounded Rectangle 24"/>
          <p:cNvSpPr/>
          <p:nvPr/>
        </p:nvSpPr>
        <p:spPr>
          <a:xfrm>
            <a:off x="432000" y="3600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400"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500" b="0">
                <a:solidFill>
                  <a:srgbClr val="333333"/>
                </a:solidFill>
                <a:latin typeface="メイリオ"/>
                <a:ea typeface="メイリオ"/>
                <a:cs typeface="メイリオ"/>
              </a:rPr>
              <a:t>一度つながれば、接点を持ち続けられる。情報を渡し続けられる。</a:t>
            </a:r>
          </a:p>
          <a:p>
            <a:pPr algn="ctr"/>
            <a:r>
              <a:rPr sz="1500" b="0">
                <a:solidFill>
                  <a:srgbClr val="333333"/>
                </a:solidFill>
                <a:latin typeface="メイリオ"/>
                <a:ea typeface="メイリオ"/>
                <a:cs typeface="メイリオ"/>
              </a:rPr>
              <a:t>応募で終わらず、面談 → 就業 → 定着まで並走できる——これがLINE最大の魅力です。</a:t>
            </a:r>
          </a:p>
        </p:txBody>
      </p:sp>
      <p:sp>
        <p:nvSpPr>
          <p:cNvPr id="6" name="TextBox 5"/>
          <p:cNvSpPr txBox="1"/>
          <p:nvPr/>
        </p:nvSpPr>
        <p:spPr>
          <a:xfrm>
            <a:off x="640080" y="4206240"/>
            <a:ext cx="822960" cy="365760"/>
          </a:xfrm>
          <a:prstGeom prst="rect">
            <a:avLst/>
          </a:prstGeom>
          <a:noFill/>
        </p:spPr>
        <p:txBody>
          <a:bodyPr wrap="square">
            <a:spAutoFit/>
          </a:bodyPr>
          <a:lstStyle/>
          <a:p>
            <a:pPr algn="l"/>
            <a:r>
              <a:rPr sz="1500" b="1">
                <a:solidFill>
                  <a:srgbClr val="333333"/>
                </a:solidFill>
                <a:latin typeface="メイリオ"/>
                <a:ea typeface="メイリオ"/>
                <a:cs typeface="メイリオ"/>
              </a:rPr>
              <a:t>広告</a:t>
            </a:r>
          </a:p>
        </p:txBody>
      </p:sp>
      <p:sp>
        <p:nvSpPr>
          <p:cNvPr id="7" name="Rounded Rectangle 6"/>
          <p:cNvSpPr/>
          <p:nvPr/>
        </p:nvSpPr>
        <p:spPr>
          <a:xfrm>
            <a:off x="1554480" y="41605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333333"/>
                </a:solidFill>
                <a:latin typeface="メイリオ"/>
                <a:ea typeface="メイリオ"/>
                <a:cs typeface="メイリオ"/>
              </a:rPr>
              <a:t>接触</a:t>
            </a:r>
          </a:p>
        </p:txBody>
      </p:sp>
      <p:sp>
        <p:nvSpPr>
          <p:cNvPr id="8" name="TextBox 7"/>
          <p:cNvSpPr txBox="1"/>
          <p:nvPr/>
        </p:nvSpPr>
        <p:spPr>
          <a:xfrm>
            <a:off x="2907792" y="4233672"/>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9" name="Rounded Rectangle 8"/>
          <p:cNvSpPr/>
          <p:nvPr/>
        </p:nvSpPr>
        <p:spPr>
          <a:xfrm>
            <a:off x="3218688" y="41605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333333"/>
                </a:solidFill>
                <a:latin typeface="メイリオ"/>
                <a:ea typeface="メイリオ"/>
                <a:cs typeface="メイリオ"/>
              </a:rPr>
              <a:t>応募・相談（CV）</a:t>
            </a:r>
          </a:p>
        </p:txBody>
      </p:sp>
      <p:sp>
        <p:nvSpPr>
          <p:cNvPr id="10" name="TextBox 9"/>
          <p:cNvSpPr txBox="1"/>
          <p:nvPr/>
        </p:nvSpPr>
        <p:spPr>
          <a:xfrm>
            <a:off x="5166360" y="4224528"/>
            <a:ext cx="3108960" cy="365760"/>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640080" y="5212080"/>
            <a:ext cx="822960" cy="365760"/>
          </a:xfrm>
          <a:prstGeom prst="rect">
            <a:avLst/>
          </a:prstGeom>
          <a:noFill/>
        </p:spPr>
        <p:txBody>
          <a:bodyPr wrap="square">
            <a:spAutoFit/>
          </a:bodyPr>
          <a:lstStyle/>
          <a:p>
            <a:pPr algn="l"/>
            <a:r>
              <a:rPr sz="1500" b="1">
                <a:solidFill>
                  <a:srgbClr val="1F285A"/>
                </a:solidFill>
                <a:latin typeface="メイリオ"/>
                <a:ea typeface="メイリオ"/>
                <a:cs typeface="メイリオ"/>
              </a:rPr>
              <a:t>LINE</a:t>
            </a:r>
          </a:p>
        </p:txBody>
      </p:sp>
      <p:sp>
        <p:nvSpPr>
          <p:cNvPr id="12" name="Rounded Rectangle 11"/>
          <p:cNvSpPr/>
          <p:nvPr/>
        </p:nvSpPr>
        <p:spPr>
          <a:xfrm>
            <a:off x="1554480" y="51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285A"/>
                </a:solidFill>
                <a:latin typeface="メイリオ"/>
                <a:ea typeface="メイリオ"/>
                <a:cs typeface="メイリオ"/>
              </a:rPr>
              <a:t>接触</a:t>
            </a:r>
          </a:p>
        </p:txBody>
      </p:sp>
      <p:sp>
        <p:nvSpPr>
          <p:cNvPr id="13" name="TextBox 12"/>
          <p:cNvSpPr txBox="1"/>
          <p:nvPr/>
        </p:nvSpPr>
        <p:spPr>
          <a:xfrm>
            <a:off x="2907792" y="5239512"/>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4" name="Rounded Rectangle 13"/>
          <p:cNvSpPr/>
          <p:nvPr/>
        </p:nvSpPr>
        <p:spPr>
          <a:xfrm>
            <a:off x="3218688" y="51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285A"/>
                </a:solidFill>
                <a:latin typeface="メイリオ"/>
                <a:ea typeface="メイリオ"/>
                <a:cs typeface="メイリオ"/>
              </a:rPr>
              <a:t>応募・相談（CV）</a:t>
            </a:r>
          </a:p>
        </p:txBody>
      </p:sp>
      <p:sp>
        <p:nvSpPr>
          <p:cNvPr id="15" name="TextBox 14"/>
          <p:cNvSpPr txBox="1"/>
          <p:nvPr/>
        </p:nvSpPr>
        <p:spPr>
          <a:xfrm>
            <a:off x="4983480" y="5239512"/>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6" name="Rounded Rectangle 15"/>
          <p:cNvSpPr/>
          <p:nvPr/>
        </p:nvSpPr>
        <p:spPr>
          <a:xfrm>
            <a:off x="5294376" y="51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285A"/>
                </a:solidFill>
                <a:latin typeface="メイリオ"/>
                <a:ea typeface="メイリオ"/>
                <a:cs typeface="メイリオ"/>
              </a:rPr>
              <a:t>面談</a:t>
            </a:r>
          </a:p>
        </p:txBody>
      </p:sp>
      <p:sp>
        <p:nvSpPr>
          <p:cNvPr id="17" name="TextBox 16"/>
          <p:cNvSpPr txBox="1"/>
          <p:nvPr/>
        </p:nvSpPr>
        <p:spPr>
          <a:xfrm>
            <a:off x="6419088" y="5239512"/>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8" name="Rounded Rectangle 17"/>
          <p:cNvSpPr/>
          <p:nvPr/>
        </p:nvSpPr>
        <p:spPr>
          <a:xfrm>
            <a:off x="6729984" y="51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FFFFFF"/>
                </a:solidFill>
                <a:latin typeface="メイリオ"/>
                <a:ea typeface="メイリオ"/>
                <a:cs typeface="メイリオ"/>
              </a:rPr>
              <a:t>就業</a:t>
            </a:r>
          </a:p>
        </p:txBody>
      </p:sp>
      <p:sp>
        <p:nvSpPr>
          <p:cNvPr id="19" name="TextBox 18"/>
          <p:cNvSpPr txBox="1"/>
          <p:nvPr/>
        </p:nvSpPr>
        <p:spPr>
          <a:xfrm>
            <a:off x="7854696" y="5239512"/>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20" name="Rounded Rectangle 19"/>
          <p:cNvSpPr/>
          <p:nvPr/>
        </p:nvSpPr>
        <p:spPr>
          <a:xfrm>
            <a:off x="8165592" y="51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1F285A"/>
                </a:solidFill>
                <a:latin typeface="メイリオ"/>
                <a:ea typeface="メイリオ"/>
                <a:cs typeface="メイリオ"/>
              </a:rPr>
              <a:t>定着・紹介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LINEヤフーの前後検索データ（起点KW：カーディーラー）。</a:t>
            </a:r>
          </a:p>
          <a:p>
            <a:pPr algn="l">
              <a:lnSpc>
                <a:spcPct val="128000"/>
              </a:lnSpc>
            </a:pPr>
            <a:r>
              <a:rPr sz="1300">
                <a:solidFill>
                  <a:srgbClr val="333333"/>
                </a:solidFill>
                <a:latin typeface="メイリオ"/>
                <a:ea typeface="メイリオ"/>
                <a:cs typeface="メイリオ"/>
              </a:rPr>
              <a:t>職業への関心は、クルマを「買う人」の検索の中に埋もれている。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5" name="Picture 4" descr="cardealer.png"/>
          <p:cNvPicPr>
            <a:picLocks noChangeAspect="1"/>
          </p:cNvPicPr>
          <p:nvPr/>
        </p:nvPicPr>
        <p:blipFill>
          <a:blip r:embed="rId5"/>
          <a:stretch>
            <a:fillRect/>
          </a:stretch>
        </p:blipFill>
        <p:spPr>
          <a:xfrm>
            <a:off x="432000" y="1655999"/>
            <a:ext cx="4896000" cy="2856816"/>
          </a:xfrm>
          <a:prstGeom prst="rect">
            <a:avLst/>
          </a:prstGeom>
        </p:spPr>
      </p:pic>
      <p:sp>
        <p:nvSpPr>
          <p:cNvPr id="6" name="Rounded Rectangle 5"/>
          <p:cNvSpPr/>
          <p:nvPr/>
        </p:nvSpPr>
        <p:spPr>
          <a:xfrm>
            <a:off x="5508000" y="1655999"/>
            <a:ext cx="3967200" cy="104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200" b="1">
                <a:solidFill>
                  <a:srgbClr val="1F285A"/>
                </a:solidFill>
                <a:latin typeface="メイリオ"/>
                <a:ea typeface="メイリオ"/>
                <a:cs typeface="メイリオ"/>
              </a:rPr>
              <a:t>① 職業クエリは0日周辺に実在する</a:t>
            </a:r>
          </a:p>
          <a:p>
            <a:pPr algn="l">
              <a:lnSpc>
                <a:spcPct val="130000"/>
              </a:lnSpc>
            </a:pPr>
            <a:r>
              <a:rPr sz="1150">
                <a:solidFill>
                  <a:srgbClr val="333333"/>
                </a:solidFill>
                <a:latin typeface="メイリオ"/>
                <a:ea typeface="メイリオ"/>
                <a:cs typeface="メイリオ"/>
              </a:rPr>
              <a:t>「カーディーラー 年収」「受付嬢」</a:t>
            </a:r>
          </a:p>
          <a:p>
            <a:pPr algn="l">
              <a:lnSpc>
                <a:spcPct val="130000"/>
              </a:lnSpc>
            </a:pPr>
            <a:r>
              <a:rPr sz="1150">
                <a:solidFill>
                  <a:srgbClr val="333333"/>
                </a:solidFill>
                <a:latin typeface="メイリオ"/>
                <a:ea typeface="メイリオ"/>
                <a:cs typeface="メイリオ"/>
              </a:rPr>
              <a:t>「ディーラー 営業マン」が起点前後に出現</a:t>
            </a:r>
          </a:p>
        </p:txBody>
      </p:sp>
      <p:sp>
        <p:nvSpPr>
          <p:cNvPr id="7" name="Rounded Rectangle 6"/>
          <p:cNvSpPr/>
          <p:nvPr/>
        </p:nvSpPr>
        <p:spPr>
          <a:xfrm>
            <a:off x="5508000" y="2772000"/>
            <a:ext cx="3967200" cy="104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200" b="1">
                <a:solidFill>
                  <a:srgbClr val="1F285A"/>
                </a:solidFill>
                <a:latin typeface="メイリオ"/>
                <a:ea typeface="メイリオ"/>
                <a:cs typeface="メイリオ"/>
              </a:rPr>
              <a:t>② ただし大半は「買う人」の検索</a:t>
            </a:r>
          </a:p>
          <a:p>
            <a:pPr algn="l">
              <a:lnSpc>
                <a:spcPct val="130000"/>
              </a:lnSpc>
            </a:pPr>
            <a:r>
              <a:rPr sz="1150">
                <a:solidFill>
                  <a:srgbClr val="333333"/>
                </a:solidFill>
                <a:latin typeface="メイリオ"/>
                <a:ea typeface="メイリオ"/>
                <a:cs typeface="メイリオ"/>
              </a:rPr>
              <a:t>車種名・店舗名・マイカーローンが支配的。</a:t>
            </a:r>
          </a:p>
          <a:p>
            <a:pPr algn="l">
              <a:lnSpc>
                <a:spcPct val="130000"/>
              </a:lnSpc>
            </a:pPr>
            <a:r>
              <a:rPr sz="1150">
                <a:solidFill>
                  <a:srgbClr val="333333"/>
                </a:solidFill>
                <a:latin typeface="メイリオ"/>
                <a:ea typeface="メイリオ"/>
                <a:cs typeface="メイリオ"/>
              </a:rPr>
              <a:t>働きたい人は、その中に埋もれている</a:t>
            </a:r>
          </a:p>
        </p:txBody>
      </p:sp>
      <p:sp>
        <p:nvSpPr>
          <p:cNvPr id="8" name="Rounded Rectangle 7"/>
          <p:cNvSpPr/>
          <p:nvPr/>
        </p:nvSpPr>
        <p:spPr>
          <a:xfrm>
            <a:off x="5508000" y="3888000"/>
            <a:ext cx="3967200" cy="104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200" b="1">
                <a:solidFill>
                  <a:srgbClr val="1F285A"/>
                </a:solidFill>
                <a:latin typeface="メイリオ"/>
                <a:ea typeface="メイリオ"/>
                <a:cs typeface="メイリオ"/>
              </a:rPr>
              <a:t>③ だから検索広告では狙い撃てない</a:t>
            </a:r>
          </a:p>
          <a:p>
            <a:pPr algn="l">
              <a:lnSpc>
                <a:spcPct val="130000"/>
              </a:lnSpc>
            </a:pPr>
            <a:r>
              <a:rPr sz="1150">
                <a:solidFill>
                  <a:srgbClr val="333333"/>
                </a:solidFill>
                <a:latin typeface="メイリオ"/>
                <a:ea typeface="メイリオ"/>
                <a:cs typeface="メイリオ"/>
              </a:rPr>
              <a:t>職業関心層だけを抽出する配信は困難。</a:t>
            </a:r>
          </a:p>
          <a:p>
            <a:pPr algn="l">
              <a:lnSpc>
                <a:spcPct val="130000"/>
              </a:lnSpc>
            </a:pPr>
            <a:r>
              <a:rPr sz="1150">
                <a:solidFill>
                  <a:srgbClr val="333333"/>
                </a:solidFill>
                <a:latin typeface="メイリオ"/>
                <a:ea typeface="メイリオ"/>
                <a:cs typeface="メイリオ"/>
              </a:rPr>
              <a:t>サイトに来た瞬間に受け止める＝</a:t>
            </a:r>
          </a:p>
          <a:p>
            <a:pPr algn="l">
              <a:lnSpc>
                <a:spcPct val="130000"/>
              </a:lnSpc>
            </a:pPr>
            <a:r>
              <a:rPr sz="1150">
                <a:solidFill>
                  <a:srgbClr val="333333"/>
                </a:solidFill>
                <a:latin typeface="メイリオ"/>
                <a:ea typeface="メイリオ"/>
                <a:cs typeface="メイリオ"/>
              </a:rPr>
              <a:t>離脱防止とLINEの役割</a:t>
            </a:r>
          </a:p>
        </p:txBody>
      </p:sp>
      <p:sp>
        <p:nvSpPr>
          <p:cNvPr id="9" name="Rounded Rectangle 8"/>
          <p:cNvSpPr/>
          <p:nvPr/>
        </p:nvSpPr>
        <p:spPr>
          <a:xfrm>
            <a:off x="432000" y="5040000"/>
            <a:ext cx="90432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ctr"/>
            <a:r>
              <a:rPr sz="1350" b="1">
                <a:solidFill>
                  <a:srgbClr val="FFFFFF"/>
                </a:solidFill>
                <a:latin typeface="メイリオ"/>
                <a:ea typeface="メイリオ"/>
                <a:cs typeface="メイリオ"/>
              </a:rPr>
              <a:t>検索で狙えない層は、来た瞬間に受け止める。それが本提案の入口設計。</a:t>
            </a:r>
          </a:p>
        </p:txBody>
      </p:sp>
      <p:sp>
        <p:nvSpPr>
          <p:cNvPr id="10" name="TextBox 9"/>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出典：LINEヤフー 前後検索データ（起点KW：カーディーラー／2026-09-23取得）。横軸=検索起点からの日数、縦軸=UU（相対）</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5" name="Picture 4" descr="chengrowth_trend_seibishi_5y.png"/>
          <p:cNvPicPr>
            <a:picLocks noChangeAspect="1"/>
          </p:cNvPicPr>
          <p:nvPr/>
        </p:nvPicPr>
        <p:blipFill>
          <a:blip r:embed="rId3"/>
          <a:stretch>
            <a:fillRect/>
          </a:stretch>
        </p:blipFill>
        <p:spPr>
          <a:xfrm>
            <a:off x="1533600" y="1620000"/>
            <a:ext cx="6840000" cy="2304000"/>
          </a:xfrm>
          <a:prstGeom prst="rect">
            <a:avLst/>
          </a:prstGeom>
        </p:spPr>
      </p:pic>
      <p:sp>
        <p:nvSpPr>
          <p:cNvPr id="6" name="Rounded Rectangle 5"/>
          <p:cNvSpPr/>
          <p:nvPr/>
        </p:nvSpPr>
        <p:spPr>
          <a:xfrm>
            <a:off x="4320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2000" y="4121999"/>
            <a:ext cx="2942400" cy="180000"/>
          </a:xfrm>
          <a:prstGeom prst="rect">
            <a:avLst/>
          </a:prstGeom>
          <a:noFill/>
        </p:spPr>
        <p:txBody>
          <a:bodyPr wrap="square" lIns="50400" rIns="50400" tIns="21600" bIns="21600" anchor="ctr">
            <a:spAutoFit/>
          </a:bodyPr>
          <a:lstStyle/>
          <a:p>
            <a:pPr algn="ctr"/>
            <a:r>
              <a:rPr sz="1150" b="1">
                <a:solidFill>
                  <a:srgbClr val="7F7F7F"/>
                </a:solidFill>
                <a:latin typeface="メイリオ"/>
                <a:ea typeface="メイリオ"/>
                <a:cs typeface="メイリオ"/>
              </a:rPr>
              <a:t>山</a:t>
            </a:r>
          </a:p>
        </p:txBody>
      </p:sp>
      <p:sp>
        <p:nvSpPr>
          <p:cNvPr id="8" name="TextBox 7"/>
          <p:cNvSpPr txBox="1"/>
          <p:nvPr/>
        </p:nvSpPr>
        <p:spPr>
          <a:xfrm>
            <a:off x="432000" y="4283999"/>
            <a:ext cx="2942400" cy="288000"/>
          </a:xfrm>
          <a:prstGeom prst="rect">
            <a:avLst/>
          </a:prstGeom>
          <a:noFill/>
        </p:spPr>
        <p:txBody>
          <a:bodyPr wrap="square" lIns="50400" rIns="50400" tIns="21600" bIns="21600" anchor="ctr">
            <a:spAutoFit/>
          </a:bodyPr>
          <a:lstStyle/>
          <a:p>
            <a:pPr algn="ctr"/>
            <a:r>
              <a:rPr sz="1700" b="1">
                <a:solidFill>
                  <a:srgbClr val="ED7D31"/>
                </a:solidFill>
                <a:latin typeface="メイリオ"/>
                <a:ea typeface="メイリオ"/>
                <a:cs typeface="メイリオ"/>
              </a:rPr>
              <a:t>3月</a:t>
            </a:r>
          </a:p>
        </p:txBody>
      </p:sp>
      <p:sp>
        <p:nvSpPr>
          <p:cNvPr id="9" name="TextBox 8"/>
          <p:cNvSpPr txBox="1"/>
          <p:nvPr/>
        </p:nvSpPr>
        <p:spPr>
          <a:xfrm>
            <a:off x="432000" y="4572000"/>
            <a:ext cx="29424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82400" y="4121999"/>
            <a:ext cx="2942400" cy="180000"/>
          </a:xfrm>
          <a:prstGeom prst="rect">
            <a:avLst/>
          </a:prstGeom>
          <a:noFill/>
        </p:spPr>
        <p:txBody>
          <a:bodyPr wrap="square" lIns="50400" rIns="50400" tIns="21600" bIns="21600" anchor="ctr">
            <a:spAutoFit/>
          </a:bodyPr>
          <a:lstStyle/>
          <a:p>
            <a:pPr algn="ctr"/>
            <a:r>
              <a:rPr sz="1150" b="1">
                <a:solidFill>
                  <a:srgbClr val="7F7F7F"/>
                </a:solidFill>
                <a:latin typeface="メイリオ"/>
                <a:ea typeface="メイリオ"/>
                <a:cs typeface="メイリオ"/>
              </a:rPr>
              <a:t>谷</a:t>
            </a:r>
          </a:p>
        </p:txBody>
      </p:sp>
      <p:sp>
        <p:nvSpPr>
          <p:cNvPr id="12" name="TextBox 11"/>
          <p:cNvSpPr txBox="1"/>
          <p:nvPr/>
        </p:nvSpPr>
        <p:spPr>
          <a:xfrm>
            <a:off x="3482400" y="4283999"/>
            <a:ext cx="2942400" cy="288000"/>
          </a:xfrm>
          <a:prstGeom prst="rect">
            <a:avLst/>
          </a:prstGeom>
          <a:noFill/>
        </p:spPr>
        <p:txBody>
          <a:bodyPr wrap="square" lIns="50400" rIns="50400" tIns="21600" bIns="21600" anchor="ctr">
            <a:spAutoFit/>
          </a:bodyPr>
          <a:lstStyle/>
          <a:p>
            <a:pPr algn="ctr"/>
            <a:r>
              <a:rPr sz="1700" b="1">
                <a:solidFill>
                  <a:srgbClr val="ED7D31"/>
                </a:solidFill>
                <a:latin typeface="メイリオ"/>
                <a:ea typeface="メイリオ"/>
                <a:cs typeface="メイリオ"/>
              </a:rPr>
              <a:t>12月</a:t>
            </a:r>
          </a:p>
        </p:txBody>
      </p:sp>
      <p:sp>
        <p:nvSpPr>
          <p:cNvPr id="13" name="TextBox 12"/>
          <p:cNvSpPr txBox="1"/>
          <p:nvPr/>
        </p:nvSpPr>
        <p:spPr>
          <a:xfrm>
            <a:off x="3482400" y="4572000"/>
            <a:ext cx="29424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2800" y="4121999"/>
            <a:ext cx="2942400" cy="180000"/>
          </a:xfrm>
          <a:prstGeom prst="rect">
            <a:avLst/>
          </a:prstGeom>
          <a:noFill/>
        </p:spPr>
        <p:txBody>
          <a:bodyPr wrap="square" lIns="50400" rIns="50400" tIns="21600" bIns="21600" anchor="ctr">
            <a:spAutoFit/>
          </a:bodyPr>
          <a:lstStyle/>
          <a:p>
            <a:pPr algn="ctr"/>
            <a:r>
              <a:rPr sz="1150" b="1">
                <a:solidFill>
                  <a:srgbClr val="7F7F7F"/>
                </a:solidFill>
                <a:latin typeface="メイリオ"/>
                <a:ea typeface="メイリオ"/>
                <a:cs typeface="メイリオ"/>
              </a:rPr>
              <a:t>含意</a:t>
            </a:r>
          </a:p>
        </p:txBody>
      </p:sp>
      <p:sp>
        <p:nvSpPr>
          <p:cNvPr id="16" name="TextBox 15"/>
          <p:cNvSpPr txBox="1"/>
          <p:nvPr/>
        </p:nvSpPr>
        <p:spPr>
          <a:xfrm>
            <a:off x="6532800" y="4283999"/>
            <a:ext cx="2942400" cy="288000"/>
          </a:xfrm>
          <a:prstGeom prst="rect">
            <a:avLst/>
          </a:prstGeom>
          <a:noFill/>
        </p:spPr>
        <p:txBody>
          <a:bodyPr wrap="square" lIns="50400" rIns="50400" tIns="21600" bIns="21600" anchor="ctr">
            <a:spAutoFit/>
          </a:bodyPr>
          <a:lstStyle/>
          <a:p>
            <a:pPr algn="ctr"/>
            <a:r>
              <a:rPr sz="1700" b="1">
                <a:solidFill>
                  <a:srgbClr val="ED7D31"/>
                </a:solidFill>
                <a:latin typeface="メイリオ"/>
                <a:ea typeface="メイリオ"/>
                <a:cs typeface="メイリオ"/>
              </a:rPr>
              <a:t>通年</a:t>
            </a:r>
          </a:p>
        </p:txBody>
      </p:sp>
      <p:sp>
        <p:nvSpPr>
          <p:cNvPr id="17" name="TextBox 16"/>
          <p:cNvSpPr txBox="1"/>
          <p:nvPr/>
        </p:nvSpPr>
        <p:spPr>
          <a:xfrm>
            <a:off x="6532800" y="4572000"/>
            <a:ext cx="29424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4932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3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出典：Googleトレンド（日本・過去5年・2026-09-21取得）。相対指標のため他KWとの数値比較は不可</a:t>
            </a:r>
          </a:p>
        </p:txBody>
      </p:sp>
    </p:spTree>
    <p:extLst>
      <p:ext uri="{BB962C8B-B14F-4D97-AF65-F5344CB8AC3E}">
        <p14:creationId xmlns:p14="http://schemas.microsoft.com/office/powerpoint/2010/main" val="995195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nvGraphicFramePr>
        <p:xfrm>
          <a:off x="432000" y="1620000"/>
          <a:ext cx="9043200" cy="1890000"/>
        </p:xfrm>
        <a:graphic>
          <a:graphicData uri="http://schemas.openxmlformats.org/drawingml/2006/table">
            <a:tbl>
              <a:tblPr firstRow="1" bandRow="1">
                <a:tableStyleId>{5C22544A-7EE6-4342-B048-85BDC9FD1C3A}</a:tableStyleId>
              </a:tblPr>
              <a:tblGrid>
                <a:gridCol w="3255552"/>
                <a:gridCol w="2532096"/>
                <a:gridCol w="3255552"/>
              </a:tblGrid>
              <a:tr h="270000">
                <a:tc>
                  <a:txBody>
                    <a:bodyPr wrap="square" lIns="43200" rIns="43200" tIns="7200" bIns="7200" anchor="ctr"/>
                    <a:lstStyle/>
                    <a:p>
                      <a:pPr algn="ctr"/>
                      <a:r>
                        <a:rPr sz="1150" b="1">
                          <a:solidFill>
                            <a:srgbClr val="FFFFFF"/>
                          </a:solidFill>
                          <a:latin typeface="メイリオ"/>
                          <a:ea typeface="メイリオ"/>
                          <a:cs typeface="メイリオ"/>
                        </a:rPr>
                        <a:t>サービス</a:t>
                      </a:r>
                    </a:p>
                  </a:txBody>
                  <a:tcPr anchor="ctr">
                    <a:solidFill>
                      <a:srgbClr val="1F285A"/>
                    </a:solidFill>
                  </a:tcPr>
                </a:tc>
                <a:tc>
                  <a:txBody>
                    <a:bodyPr wrap="square" lIns="43200" rIns="43200" tIns="7200" bIns="7200" anchor="ctr"/>
                    <a:lstStyle/>
                    <a:p>
                      <a:pPr algn="ctr"/>
                      <a:r>
                        <a:rPr sz="1150" b="1">
                          <a:solidFill>
                            <a:srgbClr val="FFFFFF"/>
                          </a:solidFill>
                          <a:latin typeface="メイリオ"/>
                          <a:ea typeface="メイリオ"/>
                          <a:cs typeface="メイリオ"/>
                        </a:rPr>
                        <a:t>種別</a:t>
                      </a:r>
                    </a:p>
                  </a:txBody>
                  <a:tcPr anchor="ctr">
                    <a:solidFill>
                      <a:srgbClr val="1F285A"/>
                    </a:solidFill>
                  </a:tcPr>
                </a:tc>
                <a:tc>
                  <a:txBody>
                    <a:bodyPr wrap="square" lIns="43200" rIns="43200" tIns="7200" bIns="7200" anchor="ctr"/>
                    <a:lstStyle/>
                    <a:p>
                      <a:pPr algn="ctr"/>
                      <a:r>
                        <a:rPr sz="1150" b="1">
                          <a:solidFill>
                            <a:srgbClr val="FFFFFF"/>
                          </a:solidFill>
                          <a:latin typeface="メイリオ"/>
                          <a:ea typeface="メイリオ"/>
                          <a:cs typeface="メイリオ"/>
                        </a:rPr>
                        <a:t>LINE友だち数</a:t>
                      </a:r>
                    </a:p>
                  </a:txBody>
                  <a:tcPr anchor="ctr">
                    <a:solidFill>
                      <a:srgbClr val="1F285A"/>
                    </a:solidFill>
                  </a:tcPr>
                </a:tc>
              </a:tr>
              <a:tr h="270000">
                <a:tc>
                  <a:txBody>
                    <a:bodyPr wrap="square" lIns="43200" rIns="43200" tIns="7200" bIns="7200" anchor="ctr"/>
                    <a:lstStyle/>
                    <a:p>
                      <a:pPr algn="l"/>
                      <a:r>
                        <a:rPr sz="1150">
                          <a:solidFill>
                            <a:srgbClr val="333333"/>
                          </a:solidFill>
                          <a:latin typeface="メイリオ"/>
                          <a:ea typeface="メイリオ"/>
                          <a:cs typeface="メイリオ"/>
                        </a:rPr>
                        <a:t>リクナビNEXT</a:t>
                      </a:r>
                    </a:p>
                  </a:txBody>
                  <a:tcPr anchor="ctr">
                    <a:solidFill>
                      <a:srgbClr val="FFFFFF"/>
                    </a:solidFill>
                  </a:tcPr>
                </a:tc>
                <a:tc>
                  <a:txBody>
                    <a:bodyPr wrap="square" lIns="43200" rIns="43200" tIns="7200" bIns="7200" anchor="ctr"/>
                    <a:lstStyle/>
                    <a:p>
                      <a:pPr algn="l"/>
                      <a:r>
                        <a:rPr sz="1150">
                          <a:solidFill>
                            <a:srgbClr val="333333"/>
                          </a:solidFill>
                          <a:latin typeface="メイリオ"/>
                          <a:ea typeface="メイリオ"/>
                          <a:cs typeface="メイリオ"/>
                        </a:rPr>
                        <a:t>総合・転職サイト</a:t>
                      </a:r>
                    </a:p>
                  </a:txBody>
                  <a:tcPr anchor="ctr">
                    <a:solidFill>
                      <a:srgbClr val="FFFFFF"/>
                    </a:solidFill>
                  </a:tcPr>
                </a:tc>
                <a:tc>
                  <a:txBody>
                    <a:bodyPr wrap="square" lIns="43200" rIns="43200" tIns="7200" bIns="7200" anchor="ctr"/>
                    <a:lstStyle/>
                    <a:p>
                      <a:pPr algn="l"/>
                      <a:r>
                        <a:rPr sz="1150">
                          <a:solidFill>
                            <a:srgbClr val="333333"/>
                          </a:solidFill>
                          <a:latin typeface="メイリオ"/>
                          <a:ea typeface="メイリオ"/>
                          <a:cs typeface="メイリオ"/>
                        </a:rPr>
                        <a:t>3,235,678人</a:t>
                      </a:r>
                    </a:p>
                  </a:txBody>
                  <a:tcPr anchor="ctr">
                    <a:solidFill>
                      <a:srgbClr val="FFFFFF"/>
                    </a:solidFill>
                  </a:tcPr>
                </a:tc>
              </a:tr>
              <a:tr h="270000">
                <a:tc>
                  <a:txBody>
                    <a:bodyPr wrap="square" lIns="43200" rIns="43200" tIns="7200" bIns="7200" anchor="ctr"/>
                    <a:lstStyle/>
                    <a:p>
                      <a:pPr algn="l"/>
                      <a:r>
                        <a:rPr sz="1150">
                          <a:solidFill>
                            <a:srgbClr val="333333"/>
                          </a:solidFill>
                          <a:latin typeface="メイリオ"/>
                          <a:ea typeface="メイリオ"/>
                          <a:cs typeface="メイリオ"/>
                        </a:rPr>
                        <a:t>求人ボックス</a:t>
                      </a:r>
                    </a:p>
                  </a:txBody>
                  <a:tcPr anchor="ctr">
                    <a:solidFill>
                      <a:srgbClr val="F4F7FF"/>
                    </a:solidFill>
                  </a:tcPr>
                </a:tc>
                <a:tc>
                  <a:txBody>
                    <a:bodyPr wrap="square" lIns="43200" rIns="43200" tIns="7200" bIns="7200" anchor="ctr"/>
                    <a:lstStyle/>
                    <a:p>
                      <a:pPr algn="l"/>
                      <a:r>
                        <a:rPr sz="1150">
                          <a:solidFill>
                            <a:srgbClr val="333333"/>
                          </a:solidFill>
                          <a:latin typeface="メイリオ"/>
                          <a:ea typeface="メイリオ"/>
                          <a:cs typeface="メイリオ"/>
                        </a:rPr>
                        <a:t>総合・アグリゲーション</a:t>
                      </a:r>
                    </a:p>
                  </a:txBody>
                  <a:tcPr anchor="ctr">
                    <a:solidFill>
                      <a:srgbClr val="F4F7FF"/>
                    </a:solidFill>
                  </a:tcPr>
                </a:tc>
                <a:tc>
                  <a:txBody>
                    <a:bodyPr wrap="square" lIns="43200" rIns="43200" tIns="7200" bIns="7200" anchor="ctr"/>
                    <a:lstStyle/>
                    <a:p>
                      <a:pPr algn="l"/>
                      <a:r>
                        <a:rPr sz="1150">
                          <a:solidFill>
                            <a:srgbClr val="333333"/>
                          </a:solidFill>
                          <a:latin typeface="メイリオ"/>
                          <a:ea typeface="メイリオ"/>
                          <a:cs typeface="メイリオ"/>
                        </a:rPr>
                        <a:t>1,862,866人</a:t>
                      </a:r>
                    </a:p>
                  </a:txBody>
                  <a:tcPr anchor="ctr">
                    <a:solidFill>
                      <a:srgbClr val="F4F7FF"/>
                    </a:solidFill>
                  </a:tcPr>
                </a:tc>
              </a:tr>
              <a:tr h="270000">
                <a:tc>
                  <a:txBody>
                    <a:bodyPr wrap="square" lIns="43200" rIns="43200" tIns="7200" bIns="7200" anchor="ctr"/>
                    <a:lstStyle/>
                    <a:p>
                      <a:pPr algn="l"/>
                      <a:r>
                        <a:rPr sz="1150">
                          <a:solidFill>
                            <a:srgbClr val="333333"/>
                          </a:solidFill>
                          <a:latin typeface="メイリオ"/>
                          <a:ea typeface="メイリオ"/>
                          <a:cs typeface="メイリオ"/>
                        </a:rPr>
                        <a:t>マイナビ転職</a:t>
                      </a:r>
                    </a:p>
                  </a:txBody>
                  <a:tcPr anchor="ctr">
                    <a:solidFill>
                      <a:srgbClr val="FFFFFF"/>
                    </a:solidFill>
                  </a:tcPr>
                </a:tc>
                <a:tc>
                  <a:txBody>
                    <a:bodyPr wrap="square" lIns="43200" rIns="43200" tIns="7200" bIns="7200" anchor="ctr"/>
                    <a:lstStyle/>
                    <a:p>
                      <a:pPr algn="l"/>
                      <a:r>
                        <a:rPr sz="1150">
                          <a:solidFill>
                            <a:srgbClr val="333333"/>
                          </a:solidFill>
                          <a:latin typeface="メイリオ"/>
                          <a:ea typeface="メイリオ"/>
                          <a:cs typeface="メイリオ"/>
                        </a:rPr>
                        <a:t>総合・転職サイト</a:t>
                      </a:r>
                    </a:p>
                  </a:txBody>
                  <a:tcPr anchor="ctr">
                    <a:solidFill>
                      <a:srgbClr val="FFFFFF"/>
                    </a:solidFill>
                  </a:tcPr>
                </a:tc>
                <a:tc>
                  <a:txBody>
                    <a:bodyPr wrap="square" lIns="43200" rIns="43200" tIns="7200" bIns="7200" anchor="ctr"/>
                    <a:lstStyle/>
                    <a:p>
                      <a:pPr algn="l"/>
                      <a:r>
                        <a:rPr sz="1150">
                          <a:solidFill>
                            <a:srgbClr val="333333"/>
                          </a:solidFill>
                          <a:latin typeface="メイリオ"/>
                          <a:ea typeface="メイリオ"/>
                          <a:cs typeface="メイリオ"/>
                        </a:rPr>
                        <a:t>754,302人</a:t>
                      </a:r>
                    </a:p>
                  </a:txBody>
                  <a:tcPr anchor="ctr">
                    <a:solidFill>
                      <a:srgbClr val="FFFFFF"/>
                    </a:solidFill>
                  </a:tcPr>
                </a:tc>
              </a:tr>
              <a:tr h="270000">
                <a:tc>
                  <a:txBody>
                    <a:bodyPr wrap="square" lIns="43200" rIns="43200" tIns="7200" bIns="7200" anchor="ctr"/>
                    <a:lstStyle/>
                    <a:p>
                      <a:pPr algn="l"/>
                      <a:r>
                        <a:rPr sz="1150">
                          <a:solidFill>
                            <a:srgbClr val="333333"/>
                          </a:solidFill>
                          <a:latin typeface="メイリオ"/>
                          <a:ea typeface="メイリオ"/>
                          <a:cs typeface="メイリオ"/>
                        </a:rPr>
                        <a:t>doda</a:t>
                      </a:r>
                    </a:p>
                  </a:txBody>
                  <a:tcPr anchor="ctr">
                    <a:solidFill>
                      <a:srgbClr val="F4F7FF"/>
                    </a:solidFill>
                  </a:tcPr>
                </a:tc>
                <a:tc>
                  <a:txBody>
                    <a:bodyPr wrap="square" lIns="43200" rIns="43200" tIns="7200" bIns="7200" anchor="ctr"/>
                    <a:lstStyle/>
                    <a:p>
                      <a:pPr algn="l"/>
                      <a:r>
                        <a:rPr sz="1150">
                          <a:solidFill>
                            <a:srgbClr val="333333"/>
                          </a:solidFill>
                          <a:latin typeface="メイリオ"/>
                          <a:ea typeface="メイリオ"/>
                          <a:cs typeface="メイリオ"/>
                        </a:rPr>
                        <a:t>総合・エージェント</a:t>
                      </a:r>
                    </a:p>
                  </a:txBody>
                  <a:tcPr anchor="ctr">
                    <a:solidFill>
                      <a:srgbClr val="F4F7FF"/>
                    </a:solidFill>
                  </a:tcPr>
                </a:tc>
                <a:tc>
                  <a:txBody>
                    <a:bodyPr wrap="square" lIns="43200" rIns="43200" tIns="7200" bIns="7200" anchor="ctr"/>
                    <a:lstStyle/>
                    <a:p>
                      <a:pPr algn="l"/>
                      <a:r>
                        <a:rPr sz="1150">
                          <a:solidFill>
                            <a:srgbClr val="333333"/>
                          </a:solidFill>
                          <a:latin typeface="メイリオ"/>
                          <a:ea typeface="メイリオ"/>
                          <a:cs typeface="メイリオ"/>
                        </a:rPr>
                        <a:t>公開アカウントなし（会員登録後に1:1連携）</a:t>
                      </a:r>
                    </a:p>
                  </a:txBody>
                  <a:tcPr anchor="ctr">
                    <a:solidFill>
                      <a:srgbClr val="F4F7FF"/>
                    </a:solidFill>
                  </a:tcPr>
                </a:tc>
              </a:tr>
              <a:tr h="270000">
                <a:tc>
                  <a:txBody>
                    <a:bodyPr wrap="square" lIns="43200" rIns="43200" tIns="7200" bIns="7200" anchor="ctr"/>
                    <a:lstStyle/>
                    <a:p>
                      <a:pPr algn="l"/>
                      <a:r>
                        <a:rPr sz="1150">
                          <a:solidFill>
                            <a:srgbClr val="333333"/>
                          </a:solidFill>
                          <a:latin typeface="メイリオ"/>
                          <a:ea typeface="メイリオ"/>
                          <a:cs typeface="メイリオ"/>
                        </a:rPr>
                        <a:t>プレックスジョブ【整備士】</a:t>
                      </a:r>
                    </a:p>
                  </a:txBody>
                  <a:tcPr anchor="ctr">
                    <a:solidFill>
                      <a:srgbClr val="FFFFFF"/>
                    </a:solidFill>
                  </a:tcPr>
                </a:tc>
                <a:tc>
                  <a:txBody>
                    <a:bodyPr wrap="square" lIns="43200" rIns="43200" tIns="7200" bIns="7200" anchor="ctr"/>
                    <a:lstStyle/>
                    <a:p>
                      <a:pPr algn="l"/>
                      <a:r>
                        <a:rPr sz="1150">
                          <a:solidFill>
                            <a:srgbClr val="333333"/>
                          </a:solidFill>
                          <a:latin typeface="メイリオ"/>
                          <a:ea typeface="メイリオ"/>
                          <a:cs typeface="メイリオ"/>
                        </a:rPr>
                        <a:t>整備士特化</a:t>
                      </a:r>
                    </a:p>
                  </a:txBody>
                  <a:tcPr anchor="ctr">
                    <a:solidFill>
                      <a:srgbClr val="FFFFFF"/>
                    </a:solidFill>
                  </a:tcPr>
                </a:tc>
                <a:tc>
                  <a:txBody>
                    <a:bodyPr wrap="square" lIns="43200" rIns="43200" tIns="7200" bIns="7200" anchor="ctr"/>
                    <a:lstStyle/>
                    <a:p>
                      <a:pPr algn="l"/>
                      <a:r>
                        <a:rPr sz="1150">
                          <a:solidFill>
                            <a:srgbClr val="333333"/>
                          </a:solidFill>
                          <a:latin typeface="メイリオ"/>
                          <a:ea typeface="メイリオ"/>
                          <a:cs typeface="メイリオ"/>
                        </a:rPr>
                        <a:t>6,288人</a:t>
                      </a:r>
                    </a:p>
                  </a:txBody>
                  <a:tcPr anchor="ctr">
                    <a:solidFill>
                      <a:srgbClr val="FFFFFF"/>
                    </a:solidFill>
                  </a:tcPr>
                </a:tc>
              </a:tr>
              <a:tr h="270000">
                <a:tc>
                  <a:txBody>
                    <a:bodyPr wrap="square" lIns="43200" rIns="43200" tIns="7200" bIns="7200" anchor="ctr"/>
                    <a:lstStyle/>
                    <a:p>
                      <a:pPr algn="l"/>
                      <a:r>
                        <a:rPr sz="1150">
                          <a:solidFill>
                            <a:srgbClr val="333333"/>
                          </a:solidFill>
                          <a:latin typeface="メイリオ"/>
                          <a:ea typeface="メイリオ"/>
                          <a:cs typeface="メイリオ"/>
                        </a:rPr>
                        <a:t>整備士の求人・転職｜カンパネル</a:t>
                      </a:r>
                    </a:p>
                  </a:txBody>
                  <a:tcPr anchor="ctr">
                    <a:solidFill>
                      <a:srgbClr val="F4F7FF"/>
                    </a:solidFill>
                  </a:tcPr>
                </a:tc>
                <a:tc>
                  <a:txBody>
                    <a:bodyPr wrap="square" lIns="43200" rIns="43200" tIns="7200" bIns="7200" anchor="ctr"/>
                    <a:lstStyle/>
                    <a:p>
                      <a:pPr algn="l"/>
                      <a:r>
                        <a:rPr sz="1150">
                          <a:solidFill>
                            <a:srgbClr val="333333"/>
                          </a:solidFill>
                          <a:latin typeface="メイリオ"/>
                          <a:ea typeface="メイリオ"/>
                          <a:cs typeface="メイリオ"/>
                        </a:rPr>
                        <a:t>整備士特化</a:t>
                      </a:r>
                    </a:p>
                  </a:txBody>
                  <a:tcPr anchor="ctr">
                    <a:solidFill>
                      <a:srgbClr val="F4F7FF"/>
                    </a:solidFill>
                  </a:tcPr>
                </a:tc>
                <a:tc>
                  <a:txBody>
                    <a:bodyPr wrap="square" lIns="43200" rIns="43200" tIns="7200" bIns="7200" anchor="ctr"/>
                    <a:lstStyle/>
                    <a:p>
                      <a:pPr algn="l"/>
                      <a:r>
                        <a:rPr sz="1150">
                          <a:solidFill>
                            <a:srgbClr val="333333"/>
                          </a:solidFill>
                          <a:latin typeface="メイリオ"/>
                          <a:ea typeface="メイリオ"/>
                          <a:cs typeface="メイリオ"/>
                        </a:rPr>
                        <a:t>196人</a:t>
                      </a:r>
                    </a:p>
                  </a:txBody>
                  <a:tcPr anchor="ctr">
                    <a:solidFill>
                      <a:srgbClr val="F4F7FF"/>
                    </a:solidFill>
                  </a:tcPr>
                </a:tc>
              </a:tr>
            </a:tbl>
          </a:graphicData>
        </a:graphic>
      </p:graphicFrame>
      <p:sp>
        <p:nvSpPr>
          <p:cNvPr id="6" name="Rounded Rectangle 5"/>
          <p:cNvSpPr/>
          <p:nvPr/>
        </p:nvSpPr>
        <p:spPr>
          <a:xfrm>
            <a:off x="432000" y="4068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350" b="1">
                <a:solidFill>
                  <a:srgbClr val="FFFFFF"/>
                </a:solidFill>
                <a:latin typeface="メイリオ"/>
                <a:ea typeface="メイリオ"/>
                <a:cs typeface="メイリオ"/>
              </a:rPr>
              <a:t>「整備士 × LINE」はまだ誰も取っていない。総合大手の型を持ち込むだけで先行者になれる。</a:t>
            </a:r>
          </a:p>
        </p:txBody>
      </p:sp>
      <p:sp>
        <p:nvSpPr>
          <p:cNvPr id="7" name="TextBox 6"/>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3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5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500" b="1" dirty="0">
                <a:solidFill>
                  <a:srgbClr val="1F2A5C"/>
                </a:solidFill>
                <a:latin typeface="メイリオ" panose="020B0604030504040204" pitchFamily="50" charset="-128"/>
                <a:ea typeface="メイリオ" panose="020B0604030504040204" pitchFamily="50" charset="-128"/>
              </a:rPr>
              <a:t>LINE運用ツール</a:t>
            </a:r>
            <a:r>
              <a:rPr lang="ja-JP" altLang="en-US" sz="15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なし </a:t>
            </a:r>
            <a:r>
              <a:rPr lang="en-US" altLang="ja-JP" sz="1200" dirty="0">
                <a:solidFill>
                  <a:srgbClr val="FFFFFF"/>
                </a:solidFill>
                <a:latin typeface="メイリオ" panose="020B0604030504040204" pitchFamily="50" charset="-128"/>
                <a:ea typeface="メイリオ" panose="020B0604030504040204" pitchFamily="50" charset="-128"/>
              </a:rPr>
              <a:t>※OAM</a:t>
            </a:r>
            <a:r>
              <a:rPr lang="ja-JP" altLang="en-US" sz="12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044000"/>
          </a:xfrm>
          <a:prstGeom prst="rect">
            <a:avLst/>
          </a:prstGeom>
          <a:solidFill>
            <a:srgbClr val="F0F2F7"/>
          </a:solidFill>
          <a:ln>
            <a:noFill/>
          </a:ln>
        </p:spPr>
        <p:txBody>
          <a:bodyPr wrap="square" lIns="177800" tIns="127000" rIns="177800" bIns="1270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3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300" dirty="0">
                <a:solidFill>
                  <a:srgbClr val="333333"/>
                </a:solidFill>
                <a:latin typeface="メイリオ" panose="020B0604030504040204" pitchFamily="50" charset="-128"/>
                <a:ea typeface="メイリオ" panose="020B0604030504040204" pitchFamily="50" charset="-128"/>
              </a:rPr>
              <a:t>や、詳細なセグメント設定</a:t>
            </a:r>
            <a:r>
              <a:rPr lang="ja-JP" sz="1300" dirty="0">
                <a:solidFill>
                  <a:srgbClr val="333333"/>
                </a:solidFill>
                <a:latin typeface="メイリオ" panose="020B0604030504040204" pitchFamily="50" charset="-128"/>
                <a:ea typeface="メイリオ" panose="020B0604030504040204" pitchFamily="50" charset="-128"/>
              </a:rPr>
              <a:t>を左右する</a:t>
            </a:r>
            <a:r>
              <a:rPr lang="ja-JP" altLang="en-US" sz="13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3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3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7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①離脱ユーザーの再育成（再アプローチ）による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2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想定の費用対効果</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Meta広告の目的を「応募獲得」から「友だち獲得」へ切り替える（広告費は据え置き）。</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3798144" cy="266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00" y="1710000"/>
            <a:ext cx="3510143" cy="216000"/>
          </a:xfrm>
          <a:prstGeom prst="rect">
            <a:avLst/>
          </a:prstGeom>
          <a:noFill/>
        </p:spPr>
        <p:txBody>
          <a:bodyPr wrap="square" lIns="50400" rIns="50400" tIns="21600" bIns="21600" anchor="ctr">
            <a:spAutoFit/>
          </a:bodyPr>
          <a:lstStyle/>
          <a:p>
            <a:pPr algn="l"/>
            <a:r>
              <a:rPr sz="1300" b="1">
                <a:solidFill>
                  <a:srgbClr val="1F285A"/>
                </a:solidFill>
                <a:latin typeface="メイリオ"/>
                <a:ea typeface="メイリオ"/>
                <a:cs typeface="メイリオ"/>
              </a:rPr>
              <a:t>費用（税抜）</a:t>
            </a:r>
          </a:p>
        </p:txBody>
      </p:sp>
      <p:sp>
        <p:nvSpPr>
          <p:cNvPr id="7" name="TextBox 6"/>
          <p:cNvSpPr txBox="1"/>
          <p:nvPr/>
        </p:nvSpPr>
        <p:spPr>
          <a:xfrm>
            <a:off x="576000" y="1961999"/>
            <a:ext cx="3510143" cy="1944000"/>
          </a:xfrm>
          <a:prstGeom prst="rect">
            <a:avLst/>
          </a:prstGeom>
          <a:noFill/>
        </p:spPr>
        <p:txBody>
          <a:bodyPr wrap="square" lIns="50400" rIns="50400" tIns="21600" bIns="21600" anchor="t">
            <a:spAutoFit/>
          </a:bodyPr>
          <a:lstStyle/>
          <a:p>
            <a:pPr algn="l">
              <a:spcAft>
                <a:spcPts val="200"/>
              </a:spcAft>
            </a:pPr>
            <a:r>
              <a:rPr sz="1200" b="1">
                <a:solidFill>
                  <a:srgbClr val="333333"/>
                </a:solidFill>
                <a:latin typeface="メイリオ"/>
                <a:ea typeface="メイリオ"/>
                <a:cs typeface="メイリオ"/>
              </a:rPr>
              <a:t>初期　</a:t>
            </a:r>
            <a:r>
              <a:rPr sz="1700" b="1">
                <a:solidFill>
                  <a:srgbClr val="ED7D31"/>
                </a:solidFill>
                <a:latin typeface="メイリオ"/>
                <a:ea typeface="メイリオ"/>
                <a:cs typeface="メイリオ"/>
              </a:rPr>
              <a:t>24.5万円</a:t>
            </a:r>
          </a:p>
          <a:p>
            <a:pPr algn="l">
              <a:spcAft>
                <a:spcPts val="800"/>
              </a:spcAft>
            </a:pPr>
            <a:r>
              <a:rPr sz="1100">
                <a:solidFill>
                  <a:srgbClr val="7F7F7F"/>
                </a:solidFill>
                <a:latin typeface="メイリオ"/>
                <a:ea typeface="メイリオ"/>
                <a:cs typeface="メイリオ"/>
              </a:rPr>
              <a:t>　構築20万＋離脱防止1.5万＋アカウント3万</a:t>
            </a:r>
          </a:p>
          <a:p>
            <a:pPr algn="l">
              <a:spcAft>
                <a:spcPts val="200"/>
              </a:spcAft>
            </a:pPr>
            <a:r>
              <a:rPr sz="1200" b="1">
                <a:solidFill>
                  <a:srgbClr val="333333"/>
                </a:solidFill>
                <a:latin typeface="メイリオ"/>
                <a:ea typeface="メイリオ"/>
                <a:cs typeface="メイリオ"/>
              </a:rPr>
              <a:t>月次　</a:t>
            </a:r>
            <a:r>
              <a:rPr sz="1700" b="1">
                <a:solidFill>
                  <a:srgbClr val="ED7D31"/>
                </a:solidFill>
                <a:latin typeface="メイリオ"/>
                <a:ea typeface="メイリオ"/>
                <a:cs typeface="メイリオ"/>
              </a:rPr>
              <a:t>10.5万円</a:t>
            </a:r>
          </a:p>
          <a:p>
            <a:pPr algn="l">
              <a:spcAft>
                <a:spcPts val="800"/>
              </a:spcAft>
            </a:pPr>
            <a:r>
              <a:rPr sz="1100">
                <a:solidFill>
                  <a:srgbClr val="7F7F7F"/>
                </a:solidFill>
                <a:latin typeface="メイリオ"/>
                <a:ea typeface="メイリオ"/>
                <a:cs typeface="メイリオ"/>
              </a:rPr>
              <a:t>　コンサル7万＋離脱防止3万＋アカウント費5千</a:t>
            </a:r>
          </a:p>
          <a:p>
            <a:pPr algn="l">
              <a:spcAft>
                <a:spcPts val="200"/>
              </a:spcAft>
            </a:pPr>
            <a:r>
              <a:rPr sz="1200" b="1">
                <a:solidFill>
                  <a:srgbClr val="333333"/>
                </a:solidFill>
                <a:latin typeface="メイリオ"/>
                <a:ea typeface="メイリオ"/>
                <a:cs typeface="メイリオ"/>
              </a:rPr>
              <a:t>CPF広告費　</a:t>
            </a:r>
            <a:r>
              <a:rPr sz="1400" b="1">
                <a:solidFill>
                  <a:srgbClr val="333333"/>
                </a:solidFill>
                <a:latin typeface="メイリオ"/>
                <a:ea typeface="メイリオ"/>
                <a:cs typeface="メイリオ"/>
              </a:rPr>
              <a:t>月20.8万円</a:t>
            </a:r>
          </a:p>
          <a:p>
            <a:pPr algn="l"/>
            <a:r>
              <a:rPr sz="1100">
                <a:solidFill>
                  <a:srgbClr val="7F7F7F"/>
                </a:solidFill>
                <a:latin typeface="メイリオ"/>
                <a:ea typeface="メイリオ"/>
                <a:cs typeface="メイリオ"/>
              </a:rPr>
              <a:t>　既存Meta予算（年250万）の転用＝追加出費ゼロ</a:t>
            </a:r>
          </a:p>
        </p:txBody>
      </p:sp>
      <p:sp>
        <p:nvSpPr>
          <p:cNvPr id="8" name="Rounded Rectangle 7"/>
          <p:cNvSpPr/>
          <p:nvPr/>
        </p:nvSpPr>
        <p:spPr>
          <a:xfrm>
            <a:off x="4374144" y="1620000"/>
            <a:ext cx="5101056" cy="2664000"/>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8144" y="1710000"/>
            <a:ext cx="4813056" cy="216000"/>
          </a:xfrm>
          <a:prstGeom prst="rect">
            <a:avLst/>
          </a:prstGeom>
          <a:noFill/>
        </p:spPr>
        <p:txBody>
          <a:bodyPr wrap="square" lIns="50400" rIns="50400" tIns="21600" bIns="21600" anchor="ctr">
            <a:spAutoFit/>
          </a:bodyPr>
          <a:lstStyle/>
          <a:p>
            <a:pPr algn="l"/>
            <a:r>
              <a:rPr sz="1300" b="1">
                <a:solidFill>
                  <a:srgbClr val="1F285A"/>
                </a:solidFill>
                <a:latin typeface="メイリオ"/>
                <a:ea typeface="メイリオ"/>
                <a:cs typeface="メイリオ"/>
              </a:rPr>
              <a:t>効果（6ヶ月・シミュレーション）</a:t>
            </a:r>
          </a:p>
        </p:txBody>
      </p:sp>
      <p:sp>
        <p:nvSpPr>
          <p:cNvPr id="10" name="TextBox 9"/>
          <p:cNvSpPr txBox="1"/>
          <p:nvPr/>
        </p:nvSpPr>
        <p:spPr>
          <a:xfrm>
            <a:off x="4518144" y="2015999"/>
            <a:ext cx="2334528" cy="216000"/>
          </a:xfrm>
          <a:prstGeom prst="rect">
            <a:avLst/>
          </a:prstGeom>
          <a:noFill/>
        </p:spPr>
        <p:txBody>
          <a:bodyPr wrap="square" lIns="50400" rIns="50400" tIns="21600" bIns="21600" anchor="ctr">
            <a:spAutoFit/>
          </a:bodyPr>
          <a:lstStyle/>
          <a:p>
            <a:pPr algn="ctr"/>
            <a:r>
              <a:rPr sz="1250" b="1">
                <a:solidFill>
                  <a:srgbClr val="333333"/>
                </a:solidFill>
                <a:latin typeface="メイリオ"/>
                <a:ea typeface="メイリオ"/>
                <a:cs typeface="メイリオ"/>
              </a:rPr>
              <a:t>面談・応募</a:t>
            </a:r>
          </a:p>
        </p:txBody>
      </p:sp>
      <p:sp>
        <p:nvSpPr>
          <p:cNvPr id="11" name="TextBox 10"/>
          <p:cNvSpPr txBox="1"/>
          <p:nvPr/>
        </p:nvSpPr>
        <p:spPr>
          <a:xfrm>
            <a:off x="4518144" y="2231999"/>
            <a:ext cx="2334528" cy="468000"/>
          </a:xfrm>
          <a:prstGeom prst="rect">
            <a:avLst/>
          </a:prstGeom>
          <a:noFill/>
        </p:spPr>
        <p:txBody>
          <a:bodyPr wrap="square" lIns="50400" rIns="50400" tIns="21600" bIns="21600" anchor="ctr">
            <a:spAutoFit/>
          </a:bodyPr>
          <a:lstStyle/>
          <a:p>
            <a:pPr algn="ctr"/>
            <a:r>
              <a:rPr sz="3000" b="1">
                <a:solidFill>
                  <a:srgbClr val="ED7D31"/>
                </a:solidFill>
                <a:latin typeface="メイリオ"/>
                <a:ea typeface="メイリオ"/>
                <a:cs typeface="メイリオ"/>
              </a:rPr>
              <a:t>196件</a:t>
            </a:r>
          </a:p>
        </p:txBody>
      </p:sp>
      <p:sp>
        <p:nvSpPr>
          <p:cNvPr id="12" name="TextBox 11"/>
          <p:cNvSpPr txBox="1"/>
          <p:nvPr/>
        </p:nvSpPr>
        <p:spPr>
          <a:xfrm>
            <a:off x="6996671" y="2015999"/>
            <a:ext cx="2334528" cy="216000"/>
          </a:xfrm>
          <a:prstGeom prst="rect">
            <a:avLst/>
          </a:prstGeom>
          <a:noFill/>
        </p:spPr>
        <p:txBody>
          <a:bodyPr wrap="square" lIns="50400" rIns="50400" tIns="21600" bIns="21600" anchor="ctr">
            <a:spAutoFit/>
          </a:bodyPr>
          <a:lstStyle/>
          <a:p>
            <a:pPr algn="ctr"/>
            <a:r>
              <a:rPr sz="1250" b="1">
                <a:solidFill>
                  <a:srgbClr val="333333"/>
                </a:solidFill>
                <a:latin typeface="メイリオ"/>
                <a:ea typeface="メイリオ"/>
                <a:cs typeface="メイリオ"/>
              </a:rPr>
              <a:t>獲得単価（累計CPA）</a:t>
            </a:r>
          </a:p>
        </p:txBody>
      </p:sp>
      <p:sp>
        <p:nvSpPr>
          <p:cNvPr id="13" name="TextBox 12"/>
          <p:cNvSpPr txBox="1"/>
          <p:nvPr/>
        </p:nvSpPr>
        <p:spPr>
          <a:xfrm>
            <a:off x="6996671" y="2231999"/>
            <a:ext cx="2334528" cy="468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11,036円</a:t>
            </a:r>
          </a:p>
        </p:txBody>
      </p:sp>
      <p:sp>
        <p:nvSpPr>
          <p:cNvPr id="14" name="TextBox 13"/>
          <p:cNvSpPr txBox="1"/>
          <p:nvPr/>
        </p:nvSpPr>
        <p:spPr>
          <a:xfrm>
            <a:off x="4518144" y="2808000"/>
            <a:ext cx="4813056" cy="1368000"/>
          </a:xfrm>
          <a:prstGeom prst="rect">
            <a:avLst/>
          </a:prstGeom>
          <a:noFill/>
        </p:spPr>
        <p:txBody>
          <a:bodyPr wrap="square" lIns="50400" rIns="50400" tIns="21600" bIns="21600" anchor="t">
            <a:spAutoFit/>
          </a:bodyPr>
          <a:lstStyle/>
          <a:p>
            <a:pPr algn="l">
              <a:lnSpc>
                <a:spcPct val="130000"/>
              </a:lnSpc>
              <a:spcAft>
                <a:spcPts val="300"/>
              </a:spcAft>
            </a:pPr>
            <a:r>
              <a:rPr sz="1250" b="1">
                <a:solidFill>
                  <a:srgbClr val="333333"/>
                </a:solidFill>
                <a:latin typeface="メイリオ"/>
                <a:ea typeface="メイリオ"/>
                <a:cs typeface="メイリオ"/>
              </a:rPr>
              <a:t>現状の整備士CPA 6万円・目標2〜2.5万円に対し、大幅に下回る水準。</a:t>
            </a:r>
          </a:p>
          <a:p>
            <a:pPr algn="l">
              <a:lnSpc>
                <a:spcPct val="130000"/>
              </a:lnSpc>
              <a:spcAft>
                <a:spcPts val="300"/>
              </a:spcAft>
            </a:pPr>
            <a:r>
              <a:rPr sz="1150">
                <a:solidFill>
                  <a:srgbClr val="333333"/>
                </a:solidFill>
                <a:latin typeface="メイリオ"/>
                <a:ea typeface="メイリオ"/>
                <a:cs typeface="メイリオ"/>
              </a:rPr>
              <a:t>6ヶ月目の単月CPAは8,730円まで低下（友だち資産の積み上がりによる）。</a:t>
            </a:r>
          </a:p>
          <a:p>
            <a:pPr algn="l">
              <a:lnSpc>
                <a:spcPct val="130000"/>
              </a:lnSpc>
            </a:pPr>
            <a:r>
              <a:rPr sz="1050">
                <a:solidFill>
                  <a:srgbClr val="7F7F7F"/>
                </a:solidFill>
                <a:latin typeface="メイリオ"/>
                <a:ea typeface="メイリオ"/>
                <a:cs typeface="メイリオ"/>
              </a:rPr>
              <a:t>参考：CPFを使わない場合＝6ヶ月42件・累計CPA 20,833円</a:t>
            </a:r>
          </a:p>
        </p:txBody>
      </p:sp>
      <p:sp>
        <p:nvSpPr>
          <p:cNvPr id="15" name="TextBox 14"/>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SIM①（CPFあり・コンサル運営）より。前提：UU3,215（SimilarWeb推計）・CPF単価280円ほか仮置き値を含む。実績値をいただき次第、再試算</a:t>
            </a:r>
          </a:p>
        </p:txBody>
      </p:sp>
    </p:spTree>
    <p:extLst>
      <p:ext uri="{BB962C8B-B14F-4D97-AF65-F5344CB8AC3E}">
        <p14:creationId xmlns:p14="http://schemas.microsoft.com/office/powerpoint/2010/main" val="2658526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00" y="1728000"/>
            <a:ext cx="4143600" cy="216000"/>
          </a:xfrm>
          <a:prstGeom prst="rect">
            <a:avLst/>
          </a:prstGeom>
          <a:noFill/>
        </p:spPr>
        <p:txBody>
          <a:bodyPr wrap="square" lIns="50400" rIns="50400" tIns="21600" bIns="21600" anchor="ctr">
            <a:spAutoFit/>
          </a:bodyPr>
          <a:lstStyle/>
          <a:p>
            <a:pPr algn="l"/>
            <a:r>
              <a:rPr sz="13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rIns="50400" tIns="21600" bIns="21600" anchor="ctr">
            <a:spAutoFit/>
          </a:bodyPr>
          <a:lstStyle/>
          <a:p>
            <a:pPr algn="ctr"/>
            <a:r>
              <a:rPr sz="12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rIns="50400" tIns="216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900000"/>
          </a:xfrm>
          <a:prstGeom prst="rect">
            <a:avLst/>
          </a:prstGeom>
          <a:noFill/>
        </p:spPr>
        <p:txBody>
          <a:bodyPr wrap="square" lIns="50400" rIns="50400" tIns="21600" bIns="21600" anchor="t">
            <a:spAutoFit/>
          </a:bodyPr>
          <a:lstStyle/>
          <a:p>
            <a:pPr algn="l">
              <a:lnSpc>
                <a:spcPct val="135000"/>
              </a:lnSpc>
              <a:spcAft>
                <a:spcPts val="200"/>
              </a:spcAft>
            </a:pPr>
            <a:r>
              <a:rPr sz="11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1150">
                <a:solidFill>
                  <a:srgbClr val="333333"/>
                </a:solidFill>
                <a:latin typeface="メイリオ"/>
                <a:ea typeface="メイリオ"/>
                <a:cs typeface="メイリオ"/>
              </a:rPr>
              <a:t>・友だち追加広告（CPF）の獲得単価 約300円</a:t>
            </a:r>
          </a:p>
          <a:p>
            <a:pPr algn="l">
              <a:lnSpc>
                <a:spcPct val="135000"/>
              </a:lnSpc>
            </a:pPr>
            <a:r>
              <a:rPr sz="11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87600" y="1728000"/>
            <a:ext cx="4143600" cy="216000"/>
          </a:xfrm>
          <a:prstGeom prst="rect">
            <a:avLst/>
          </a:prstGeom>
          <a:noFill/>
        </p:spPr>
        <p:txBody>
          <a:bodyPr wrap="square" lIns="50400" rIns="50400" tIns="21600" bIns="21600" anchor="ctr">
            <a:spAutoFit/>
          </a:bodyPr>
          <a:lstStyle/>
          <a:p>
            <a:pPr algn="l"/>
            <a:r>
              <a:rPr sz="13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rIns="50400" tIns="21600" bIns="21600" anchor="ctr">
            <a:spAutoFit/>
          </a:bodyPr>
          <a:lstStyle/>
          <a:p>
            <a:pPr algn="ctr"/>
            <a:r>
              <a:rPr sz="12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rIns="50400" tIns="216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900000"/>
          </a:xfrm>
          <a:prstGeom prst="rect">
            <a:avLst/>
          </a:prstGeom>
          <a:noFill/>
        </p:spPr>
        <p:txBody>
          <a:bodyPr wrap="square" lIns="50400" rIns="50400" tIns="21600" bIns="21600" anchor="t">
            <a:spAutoFit/>
          </a:bodyPr>
          <a:lstStyle/>
          <a:p>
            <a:pPr algn="l">
              <a:lnSpc>
                <a:spcPct val="135000"/>
              </a:lnSpc>
              <a:spcAft>
                <a:spcPts val="200"/>
              </a:spcAft>
            </a:pPr>
            <a:r>
              <a:rPr sz="1150">
                <a:solidFill>
                  <a:srgbClr val="333333"/>
                </a:solidFill>
                <a:latin typeface="メイリオ"/>
                <a:ea typeface="メイリオ"/>
                <a:cs typeface="メイリオ"/>
              </a:rPr>
              <a:t>・リッチメニュー改善でタップ数+20%</a:t>
            </a:r>
          </a:p>
          <a:p>
            <a:pPr algn="l">
              <a:lnSpc>
                <a:spcPct val="135000"/>
              </a:lnSpc>
              <a:spcAft>
                <a:spcPts val="200"/>
              </a:spcAft>
            </a:pPr>
            <a:r>
              <a:rPr sz="1150">
                <a:solidFill>
                  <a:srgbClr val="333333"/>
                </a:solidFill>
                <a:latin typeface="メイリオ"/>
                <a:ea typeface="メイリオ"/>
                <a:cs typeface="メイリオ"/>
              </a:rPr>
              <a:t>・その結果、メニュー経由の応募が79%向上</a:t>
            </a:r>
          </a:p>
          <a:p>
            <a:pPr algn="l">
              <a:lnSpc>
                <a:spcPct val="135000"/>
              </a:lnSpc>
            </a:pPr>
            <a:r>
              <a:rPr sz="11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924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3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実施施策【14日間ステップ配信】</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友だち追加後14日間で、診断結果をもとに内容を出し分けながら面談へご案内する。</a:t>
            </a:r>
          </a:p>
          <a:p>
            <a:pPr algn="l">
              <a:lnSpc>
                <a:spcPct val="128000"/>
              </a:lnSpc>
            </a:pPr>
            <a:r>
              <a:rPr sz="1300">
                <a:solidFill>
                  <a:srgbClr val="333333"/>
                </a:solidFill>
                <a:latin typeface="メイリオ"/>
                <a:ea typeface="メイリオ"/>
                <a:cs typeface="メイリオ"/>
              </a:rPr>
              <a:t>売り込みは14日間で2回だけ。残りは「不安に先回りして答える」情報配信。</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179800" cy="251999"/>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1150" b="1">
                <a:solidFill>
                  <a:srgbClr val="FFFFFF"/>
                </a:solidFill>
                <a:latin typeface="メイリオ"/>
                <a:ea typeface="メイリオ"/>
                <a:cs typeface="メイリオ"/>
              </a:rPr>
              <a:t>Day 0｜あいさつ＋30秒診断</a:t>
            </a:r>
          </a:p>
        </p:txBody>
      </p:sp>
      <p:sp>
        <p:nvSpPr>
          <p:cNvPr id="6" name="Rounded Rectangle 5"/>
          <p:cNvSpPr/>
          <p:nvPr/>
        </p:nvSpPr>
        <p:spPr>
          <a:xfrm>
            <a:off x="432000" y="1908000"/>
            <a:ext cx="2179800" cy="151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1000">
                <a:solidFill>
                  <a:srgbClr val="333333"/>
                </a:solidFill>
                <a:latin typeface="メイリオ"/>
                <a:ea typeface="メイリオ"/>
                <a:cs typeface="メイリオ"/>
              </a:rPr>
              <a:t>「こちらから電話をかけることは</a:t>
            </a:r>
          </a:p>
          <a:p>
            <a:pPr algn="l">
              <a:lnSpc>
                <a:spcPct val="135000"/>
              </a:lnSpc>
              <a:spcAft>
                <a:spcPts val="100"/>
              </a:spcAft>
            </a:pPr>
            <a:r>
              <a:rPr sz="1000">
                <a:solidFill>
                  <a:srgbClr val="333333"/>
                </a:solidFill>
                <a:latin typeface="メイリオ"/>
                <a:ea typeface="メイリオ"/>
                <a:cs typeface="メイリオ"/>
              </a:rPr>
              <a:t>ありません」を明言。</a:t>
            </a:r>
          </a:p>
          <a:p>
            <a:pPr algn="l">
              <a:lnSpc>
                <a:spcPct val="135000"/>
              </a:lnSpc>
              <a:spcAft>
                <a:spcPts val="100"/>
              </a:spcAft>
            </a:pPr>
            <a:r>
              <a:rPr sz="1000">
                <a:solidFill>
                  <a:srgbClr val="333333"/>
                </a:solidFill>
                <a:latin typeface="メイリオ"/>
                <a:ea typeface="メイリオ"/>
                <a:cs typeface="メイリオ"/>
              </a:rPr>
              <a:t>職種・資格・温度感を4問で取得</a:t>
            </a:r>
          </a:p>
        </p:txBody>
      </p:sp>
      <p:sp>
        <p:nvSpPr>
          <p:cNvPr id="7" name="TextBox 6"/>
          <p:cNvSpPr txBox="1"/>
          <p:nvPr/>
        </p:nvSpPr>
        <p:spPr>
          <a:xfrm>
            <a:off x="2619000" y="2196000"/>
            <a:ext cx="1080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8" name="Rounded Rectangle 7"/>
          <p:cNvSpPr/>
          <p:nvPr/>
        </p:nvSpPr>
        <p:spPr>
          <a:xfrm>
            <a:off x="2719800" y="1620000"/>
            <a:ext cx="2179800" cy="251999"/>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1150" b="1">
                <a:solidFill>
                  <a:srgbClr val="FFFFFF"/>
                </a:solidFill>
                <a:latin typeface="メイリオ"/>
                <a:ea typeface="メイリオ"/>
                <a:cs typeface="メイリオ"/>
              </a:rPr>
              <a:t>Day 3｜年収相場コンテンツ</a:t>
            </a:r>
          </a:p>
        </p:txBody>
      </p:sp>
      <p:sp>
        <p:nvSpPr>
          <p:cNvPr id="9" name="Rounded Rectangle 8"/>
          <p:cNvSpPr/>
          <p:nvPr/>
        </p:nvSpPr>
        <p:spPr>
          <a:xfrm>
            <a:off x="2719800" y="1908000"/>
            <a:ext cx="2179800" cy="151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1000">
                <a:solidFill>
                  <a:srgbClr val="333333"/>
                </a:solidFill>
                <a:latin typeface="メイリオ"/>
                <a:ea typeface="メイリオ"/>
                <a:cs typeface="メイリオ"/>
              </a:rPr>
              <a:t>資格タグ別に出し分け。</a:t>
            </a:r>
          </a:p>
          <a:p>
            <a:pPr algn="l">
              <a:lnSpc>
                <a:spcPct val="135000"/>
              </a:lnSpc>
              <a:spcAft>
                <a:spcPts val="100"/>
              </a:spcAft>
            </a:pPr>
            <a:r>
              <a:rPr sz="1000">
                <a:solidFill>
                  <a:srgbClr val="333333"/>
                </a:solidFill>
                <a:latin typeface="メイリオ"/>
                <a:ea typeface="メイリオ"/>
                <a:cs typeface="メイリオ"/>
              </a:rPr>
              <a:t>「2級整備士の年収には</a:t>
            </a:r>
          </a:p>
          <a:p>
            <a:pPr algn="l">
              <a:lnSpc>
                <a:spcPct val="135000"/>
              </a:lnSpc>
              <a:spcAft>
                <a:spcPts val="100"/>
              </a:spcAft>
            </a:pPr>
            <a:r>
              <a:rPr sz="1000">
                <a:solidFill>
                  <a:srgbClr val="333333"/>
                </a:solidFill>
                <a:latin typeface="メイリオ"/>
                <a:ea typeface="メイリオ"/>
                <a:cs typeface="メイリオ"/>
              </a:rPr>
              <a:t>100万円以上の幅がある」</a:t>
            </a:r>
          </a:p>
        </p:txBody>
      </p:sp>
      <p:sp>
        <p:nvSpPr>
          <p:cNvPr id="10" name="TextBox 9"/>
          <p:cNvSpPr txBox="1"/>
          <p:nvPr/>
        </p:nvSpPr>
        <p:spPr>
          <a:xfrm>
            <a:off x="4906800" y="2196000"/>
            <a:ext cx="1080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11" name="Rounded Rectangle 10"/>
          <p:cNvSpPr/>
          <p:nvPr/>
        </p:nvSpPr>
        <p:spPr>
          <a:xfrm>
            <a:off x="5007600" y="1620000"/>
            <a:ext cx="2179800" cy="251999"/>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1150" b="1">
                <a:solidFill>
                  <a:srgbClr val="FFFFFF"/>
                </a:solidFill>
                <a:latin typeface="メイリオ"/>
                <a:ea typeface="メイリオ"/>
                <a:cs typeface="メイリオ"/>
              </a:rPr>
              <a:t>Day 7｜面談のご案内 ①</a:t>
            </a:r>
          </a:p>
        </p:txBody>
      </p:sp>
      <p:sp>
        <p:nvSpPr>
          <p:cNvPr id="12" name="Rounded Rectangle 11"/>
          <p:cNvSpPr/>
          <p:nvPr/>
        </p:nvSpPr>
        <p:spPr>
          <a:xfrm>
            <a:off x="5007600" y="1908000"/>
            <a:ext cx="2179800" cy="151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1000">
                <a:solidFill>
                  <a:srgbClr val="333333"/>
                </a:solidFill>
                <a:latin typeface="メイリオ"/>
                <a:ea typeface="メイリオ"/>
                <a:cs typeface="メイリオ"/>
              </a:rPr>
              <a:t>「履歴書、まだ要りません」</a:t>
            </a:r>
          </a:p>
          <a:p>
            <a:pPr algn="l">
              <a:lnSpc>
                <a:spcPct val="135000"/>
              </a:lnSpc>
              <a:spcAft>
                <a:spcPts val="100"/>
              </a:spcAft>
            </a:pPr>
            <a:r>
              <a:rPr sz="1000">
                <a:solidFill>
                  <a:srgbClr val="333333"/>
                </a:solidFill>
                <a:latin typeface="メイリオ"/>
                <a:ea typeface="メイリオ"/>
                <a:cs typeface="メイリオ"/>
              </a:rPr>
              <a:t>在職中は夜の面談OK・</a:t>
            </a:r>
          </a:p>
          <a:p>
            <a:pPr algn="l">
              <a:lnSpc>
                <a:spcPct val="135000"/>
              </a:lnSpc>
              <a:spcAft>
                <a:spcPts val="100"/>
              </a:spcAft>
            </a:pPr>
            <a:r>
              <a:rPr sz="1000">
                <a:solidFill>
                  <a:srgbClr val="333333"/>
                </a:solidFill>
                <a:latin typeface="メイリオ"/>
                <a:ea typeface="メイリオ"/>
                <a:cs typeface="メイリオ"/>
              </a:rPr>
              <a:t>紹介は自動車業界のみを明記</a:t>
            </a:r>
          </a:p>
        </p:txBody>
      </p:sp>
      <p:sp>
        <p:nvSpPr>
          <p:cNvPr id="13" name="TextBox 12"/>
          <p:cNvSpPr txBox="1"/>
          <p:nvPr/>
        </p:nvSpPr>
        <p:spPr>
          <a:xfrm>
            <a:off x="7194600" y="2196000"/>
            <a:ext cx="1080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14" name="Rounded Rectangle 13"/>
          <p:cNvSpPr/>
          <p:nvPr/>
        </p:nvSpPr>
        <p:spPr>
          <a:xfrm>
            <a:off x="7295400" y="1620000"/>
            <a:ext cx="2179800" cy="251999"/>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1150" b="1">
                <a:solidFill>
                  <a:srgbClr val="FFFFFF"/>
                </a:solidFill>
                <a:latin typeface="メイリオ"/>
                <a:ea typeface="メイリオ"/>
                <a:cs typeface="メイリオ"/>
              </a:rPr>
              <a:t>Day 14｜面談のご案内 ②</a:t>
            </a:r>
          </a:p>
        </p:txBody>
      </p:sp>
      <p:sp>
        <p:nvSpPr>
          <p:cNvPr id="15" name="Rounded Rectangle 14"/>
          <p:cNvSpPr/>
          <p:nvPr/>
        </p:nvSpPr>
        <p:spPr>
          <a:xfrm>
            <a:off x="7295400" y="1908000"/>
            <a:ext cx="2179800" cy="151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1000">
                <a:solidFill>
                  <a:srgbClr val="333333"/>
                </a:solidFill>
                <a:latin typeface="メイリオ"/>
                <a:ea typeface="メイリオ"/>
                <a:cs typeface="メイリオ"/>
              </a:rPr>
              <a:t>毎日の配信はここで終了。</a:t>
            </a:r>
          </a:p>
          <a:p>
            <a:pPr algn="l">
              <a:lnSpc>
                <a:spcPct val="135000"/>
              </a:lnSpc>
              <a:spcAft>
                <a:spcPts val="100"/>
              </a:spcAft>
            </a:pPr>
            <a:r>
              <a:rPr sz="1000">
                <a:solidFill>
                  <a:srgbClr val="333333"/>
                </a:solidFill>
                <a:latin typeface="メイリオ"/>
                <a:ea typeface="メイリオ"/>
                <a:cs typeface="メイリオ"/>
              </a:rPr>
              <a:t>以後は月数回、新着求人と</a:t>
            </a:r>
          </a:p>
          <a:p>
            <a:pPr algn="l">
              <a:lnSpc>
                <a:spcPct val="135000"/>
              </a:lnSpc>
              <a:spcAft>
                <a:spcPts val="100"/>
              </a:spcAft>
            </a:pPr>
            <a:r>
              <a:rPr sz="1000">
                <a:solidFill>
                  <a:srgbClr val="333333"/>
                </a:solidFill>
                <a:latin typeface="メイリオ"/>
                <a:ea typeface="メイリオ"/>
                <a:cs typeface="メイリオ"/>
              </a:rPr>
              <a:t>相場情報だけに切り替え</a:t>
            </a:r>
          </a:p>
        </p:txBody>
      </p:sp>
      <p:sp>
        <p:nvSpPr>
          <p:cNvPr id="16" name="Rounded Rectangle 15"/>
          <p:cNvSpPr/>
          <p:nvPr/>
        </p:nvSpPr>
        <p:spPr>
          <a:xfrm>
            <a:off x="432000" y="3564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300" b="1">
                <a:solidFill>
                  <a:srgbClr val="FFFFFF"/>
                </a:solidFill>
                <a:latin typeface="メイリオ"/>
                <a:ea typeface="メイリオ"/>
                <a:cs typeface="メイリオ"/>
              </a:rPr>
              <a:t>面談・応募 196件（6ヶ月累計・SIM①）。未予約の方は月数回の定常配信で通年フォロー。</a:t>
            </a:r>
          </a:p>
        </p:txBody>
      </p:sp>
      <p:sp>
        <p:nvSpPr>
          <p:cNvPr id="17" name="TextBox 16"/>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意見｜配信文面の実物はコンテンツ案v1（別紙）に全文記載。Day7・Day14がCVオファー</a:t>
            </a:r>
          </a:p>
        </p:txBody>
      </p:sp>
    </p:spTree>
    <p:extLst>
      <p:ext uri="{BB962C8B-B14F-4D97-AF65-F5344CB8AC3E}">
        <p14:creationId xmlns:p14="http://schemas.microsoft.com/office/powerpoint/2010/main" val="1451945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想定企画【年間】</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300">
                <a:solidFill>
                  <a:srgbClr val="333333"/>
                </a:solidFill>
                <a:latin typeface="メイリオ"/>
                <a:ea typeface="メイリオ"/>
                <a:cs typeface="メイリオ"/>
              </a:rPr>
              <a:t>検索の山（3月）に向けて1〜2月から前倒しで仕込む。谷（12月）も検討は続くため配信は止めない。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1月</a:t>
            </a:r>
          </a:p>
          <a:p>
            <a:pPr algn="l">
              <a:lnSpc>
                <a:spcPct val="115000"/>
              </a:lnSpc>
            </a:pPr>
            <a:r>
              <a:rPr sz="1100">
                <a:solidFill>
                  <a:srgbClr val="333333"/>
                </a:solidFill>
                <a:latin typeface="メイリオ"/>
                <a:ea typeface="メイリオ"/>
                <a:cs typeface="メイリオ"/>
              </a:rPr>
              <a:t>新生活前の転職相談</a:t>
            </a:r>
          </a:p>
        </p:txBody>
      </p:sp>
      <p:sp>
        <p:nvSpPr>
          <p:cNvPr id="6" name="Rounded Rectangle 5"/>
          <p:cNvSpPr/>
          <p:nvPr/>
        </p:nvSpPr>
        <p:spPr>
          <a:xfrm>
            <a:off x="27198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2月</a:t>
            </a:r>
          </a:p>
          <a:p>
            <a:pPr algn="l">
              <a:lnSpc>
                <a:spcPct val="115000"/>
              </a:lnSpc>
            </a:pPr>
            <a:r>
              <a:rPr sz="1100">
                <a:solidFill>
                  <a:srgbClr val="333333"/>
                </a:solidFill>
                <a:latin typeface="メイリオ"/>
                <a:ea typeface="メイリオ"/>
                <a:cs typeface="メイリオ"/>
              </a:rPr>
              <a:t>3月転職の準備特集</a:t>
            </a:r>
          </a:p>
        </p:txBody>
      </p:sp>
      <p:sp>
        <p:nvSpPr>
          <p:cNvPr id="7" name="Rounded Rectangle 6"/>
          <p:cNvSpPr/>
          <p:nvPr/>
        </p:nvSpPr>
        <p:spPr>
          <a:xfrm>
            <a:off x="5007600" y="1620000"/>
            <a:ext cx="2179800" cy="558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ED7D31"/>
                </a:solidFill>
                <a:latin typeface="メイリオ"/>
                <a:ea typeface="メイリオ"/>
                <a:cs typeface="メイリオ"/>
              </a:rPr>
              <a:t>3月</a:t>
            </a:r>
          </a:p>
          <a:p>
            <a:pPr algn="l">
              <a:lnSpc>
                <a:spcPct val="115000"/>
              </a:lnSpc>
            </a:pPr>
            <a:r>
              <a:rPr sz="1100">
                <a:solidFill>
                  <a:srgbClr val="333333"/>
                </a:solidFill>
                <a:latin typeface="メイリオ"/>
                <a:ea typeface="メイリオ"/>
                <a:cs typeface="メイリオ"/>
              </a:rPr>
              <a:t>★年度替わり・求人最大化</a:t>
            </a:r>
          </a:p>
        </p:txBody>
      </p:sp>
      <p:sp>
        <p:nvSpPr>
          <p:cNvPr id="8" name="Rounded Rectangle 7"/>
          <p:cNvSpPr/>
          <p:nvPr/>
        </p:nvSpPr>
        <p:spPr>
          <a:xfrm>
            <a:off x="72954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4月</a:t>
            </a:r>
          </a:p>
          <a:p>
            <a:pPr algn="l">
              <a:lnSpc>
                <a:spcPct val="115000"/>
              </a:lnSpc>
            </a:pPr>
            <a:r>
              <a:rPr sz="1100">
                <a:solidFill>
                  <a:srgbClr val="333333"/>
                </a:solidFill>
                <a:latin typeface="メイリオ"/>
                <a:ea typeface="メイリオ"/>
                <a:cs typeface="メイリオ"/>
              </a:rPr>
              <a:t>新年度スタート応援</a:t>
            </a:r>
          </a:p>
        </p:txBody>
      </p:sp>
      <p:sp>
        <p:nvSpPr>
          <p:cNvPr id="9" name="Rounded Rectangle 8"/>
          <p:cNvSpPr/>
          <p:nvPr/>
        </p:nvSpPr>
        <p:spPr>
          <a:xfrm>
            <a:off x="4320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5月</a:t>
            </a:r>
          </a:p>
          <a:p>
            <a:pPr algn="l">
              <a:lnSpc>
                <a:spcPct val="115000"/>
              </a:lnSpc>
            </a:pPr>
            <a:r>
              <a:rPr sz="1100">
                <a:solidFill>
                  <a:srgbClr val="333333"/>
                </a:solidFill>
                <a:latin typeface="メイリオ"/>
                <a:ea typeface="メイリオ"/>
                <a:cs typeface="メイリオ"/>
              </a:rPr>
              <a:t>連休明けの見直し訴求</a:t>
            </a:r>
          </a:p>
        </p:txBody>
      </p:sp>
      <p:sp>
        <p:nvSpPr>
          <p:cNvPr id="10" name="Rounded Rectangle 9"/>
          <p:cNvSpPr/>
          <p:nvPr/>
        </p:nvSpPr>
        <p:spPr>
          <a:xfrm>
            <a:off x="27198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6月</a:t>
            </a:r>
          </a:p>
          <a:p>
            <a:pPr algn="l">
              <a:lnSpc>
                <a:spcPct val="115000"/>
              </a:lnSpc>
            </a:pPr>
            <a:r>
              <a:rPr sz="1100">
                <a:solidFill>
                  <a:srgbClr val="333333"/>
                </a:solidFill>
                <a:latin typeface="メイリオ"/>
                <a:ea typeface="メイリオ"/>
                <a:cs typeface="メイリオ"/>
              </a:rPr>
              <a:t>夏賞与前の情報提供</a:t>
            </a:r>
          </a:p>
        </p:txBody>
      </p:sp>
      <p:sp>
        <p:nvSpPr>
          <p:cNvPr id="11" name="Rounded Rectangle 10"/>
          <p:cNvSpPr/>
          <p:nvPr/>
        </p:nvSpPr>
        <p:spPr>
          <a:xfrm>
            <a:off x="50076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7月</a:t>
            </a:r>
          </a:p>
          <a:p>
            <a:pPr algn="l">
              <a:lnSpc>
                <a:spcPct val="115000"/>
              </a:lnSpc>
            </a:pPr>
            <a:r>
              <a:rPr sz="1100">
                <a:solidFill>
                  <a:srgbClr val="333333"/>
                </a:solidFill>
                <a:latin typeface="メイリオ"/>
                <a:ea typeface="メイリオ"/>
                <a:cs typeface="メイリオ"/>
              </a:rPr>
              <a:t>賞与後の転職検討期</a:t>
            </a:r>
          </a:p>
        </p:txBody>
      </p:sp>
      <p:sp>
        <p:nvSpPr>
          <p:cNvPr id="12" name="Rounded Rectangle 11"/>
          <p:cNvSpPr/>
          <p:nvPr/>
        </p:nvSpPr>
        <p:spPr>
          <a:xfrm>
            <a:off x="72954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8月</a:t>
            </a:r>
          </a:p>
          <a:p>
            <a:pPr algn="l">
              <a:lnSpc>
                <a:spcPct val="115000"/>
              </a:lnSpc>
            </a:pPr>
            <a:r>
              <a:rPr sz="1100">
                <a:solidFill>
                  <a:srgbClr val="333333"/>
                </a:solidFill>
                <a:latin typeface="メイリオ"/>
                <a:ea typeface="メイリオ"/>
                <a:cs typeface="メイリオ"/>
              </a:rPr>
              <a:t>資格取得・キャリア特集</a:t>
            </a:r>
          </a:p>
        </p:txBody>
      </p:sp>
      <p:sp>
        <p:nvSpPr>
          <p:cNvPr id="13" name="Rounded Rectangle 12"/>
          <p:cNvSpPr/>
          <p:nvPr/>
        </p:nvSpPr>
        <p:spPr>
          <a:xfrm>
            <a:off x="4320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9月</a:t>
            </a:r>
          </a:p>
          <a:p>
            <a:pPr algn="l">
              <a:lnSpc>
                <a:spcPct val="115000"/>
              </a:lnSpc>
            </a:pPr>
            <a:r>
              <a:rPr sz="1100">
                <a:solidFill>
                  <a:srgbClr val="333333"/>
                </a:solidFill>
                <a:latin typeface="メイリオ"/>
                <a:ea typeface="メイリオ"/>
                <a:cs typeface="メイリオ"/>
              </a:rPr>
              <a:t>下期スタート求人</a:t>
            </a:r>
          </a:p>
        </p:txBody>
      </p:sp>
      <p:sp>
        <p:nvSpPr>
          <p:cNvPr id="14" name="Rounded Rectangle 13"/>
          <p:cNvSpPr/>
          <p:nvPr/>
        </p:nvSpPr>
        <p:spPr>
          <a:xfrm>
            <a:off x="27198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10月</a:t>
            </a:r>
          </a:p>
          <a:p>
            <a:pPr algn="l">
              <a:lnSpc>
                <a:spcPct val="115000"/>
              </a:lnSpc>
            </a:pPr>
            <a:r>
              <a:rPr sz="1100">
                <a:solidFill>
                  <a:srgbClr val="333333"/>
                </a:solidFill>
                <a:latin typeface="メイリオ"/>
                <a:ea typeface="メイリオ"/>
                <a:cs typeface="メイリオ"/>
              </a:rPr>
              <a:t>年内転職ラストコール</a:t>
            </a:r>
          </a:p>
        </p:txBody>
      </p:sp>
      <p:sp>
        <p:nvSpPr>
          <p:cNvPr id="15" name="Rounded Rectangle 14"/>
          <p:cNvSpPr/>
          <p:nvPr/>
        </p:nvSpPr>
        <p:spPr>
          <a:xfrm>
            <a:off x="50076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11月</a:t>
            </a:r>
          </a:p>
          <a:p>
            <a:pPr algn="l">
              <a:lnSpc>
                <a:spcPct val="115000"/>
              </a:lnSpc>
            </a:pPr>
            <a:r>
              <a:rPr sz="1100">
                <a:solidFill>
                  <a:srgbClr val="333333"/>
                </a:solidFill>
                <a:latin typeface="メイリオ"/>
                <a:ea typeface="メイリオ"/>
                <a:cs typeface="メイリオ"/>
              </a:rPr>
              <a:t>年末年始の働き方特集</a:t>
            </a:r>
          </a:p>
        </p:txBody>
      </p:sp>
      <p:sp>
        <p:nvSpPr>
          <p:cNvPr id="16" name="Rounded Rectangle 15"/>
          <p:cNvSpPr/>
          <p:nvPr/>
        </p:nvSpPr>
        <p:spPr>
          <a:xfrm>
            <a:off x="72954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200" b="1">
                <a:solidFill>
                  <a:srgbClr val="1F285A"/>
                </a:solidFill>
                <a:latin typeface="メイリオ"/>
                <a:ea typeface="メイリオ"/>
                <a:cs typeface="メイリオ"/>
              </a:rPr>
              <a:t>12月</a:t>
            </a:r>
          </a:p>
          <a:p>
            <a:pPr algn="l">
              <a:lnSpc>
                <a:spcPct val="115000"/>
              </a:lnSpc>
            </a:pPr>
            <a:r>
              <a:rPr sz="1100">
                <a:solidFill>
                  <a:srgbClr val="333333"/>
                </a:solidFill>
                <a:latin typeface="メイリオ"/>
                <a:ea typeface="メイリオ"/>
                <a:cs typeface="メイリオ"/>
              </a:rPr>
              <a:t>冬も相談だけOK訴求</a:t>
            </a:r>
          </a:p>
        </p:txBody>
      </p:sp>
      <p:sp>
        <p:nvSpPr>
          <p:cNvPr id="17" name="Rounded Rectangle 16"/>
          <p:cNvSpPr/>
          <p:nvPr/>
        </p:nvSpPr>
        <p:spPr>
          <a:xfrm>
            <a:off x="432000" y="3600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300" b="1">
                <a:solidFill>
                  <a:srgbClr val="FFFFFF"/>
                </a:solidFill>
                <a:latin typeface="メイリオ"/>
                <a:ea typeface="メイリオ"/>
                <a:cs typeface="メイリオ"/>
              </a:rPr>
              <a:t>配信は月2〜4本。クリックした人でオーディエンスを育て、配信のたびに精度が上がる設計。</a:t>
            </a:r>
          </a:p>
        </p:txBody>
      </p:sp>
      <p:sp>
        <p:nvSpPr>
          <p:cNvPr id="18" name="TextBox 17"/>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950">
                <a:solidFill>
                  <a:srgbClr val="7F7F7F"/>
                </a:solidFill>
                <a:latin typeface="メイリオ"/>
                <a:ea typeface="メイリオ"/>
                <a:cs typeface="メイリオ"/>
              </a:rPr>
              <a:t>出典：GoogleトレンドKW「整備士」（山3月・谷12月）／企画の詳細文面は個別に作成</a:t>
            </a:r>
          </a:p>
        </p:txBody>
      </p:sp>
    </p:spTree>
    <p:extLst>
      <p:ext uri="{BB962C8B-B14F-4D97-AF65-F5344CB8AC3E}">
        <p14:creationId xmlns:p14="http://schemas.microsoft.com/office/powerpoint/2010/main" val="126982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3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3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3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・求人内容や選考プロセス等のよくある質問にLINEチャットボットで自動回答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700" b="1" dirty="0">
                <a:solidFill>
                  <a:srgbClr val="002060"/>
                </a:solidFill>
                <a:latin typeface="Meiryo"/>
                <a:ea typeface="Meiryo"/>
                <a:cs typeface="Meiryo"/>
                <a:sym typeface="Meiryo"/>
              </a:rPr>
              <a:t>その他（コンサルに含む）　　</a:t>
            </a:r>
            <a:r>
              <a:rPr lang="en-US" altLang="ja-JP" sz="1700" b="1" dirty="0">
                <a:solidFill>
                  <a:srgbClr val="002060"/>
                </a:solidFill>
                <a:latin typeface="Meiryo"/>
                <a:ea typeface="Meiryo"/>
                <a:cs typeface="Meiryo"/>
                <a:sym typeface="Meiryo"/>
              </a:rPr>
              <a:t>※</a:t>
            </a:r>
            <a:r>
              <a:rPr lang="ja-JP" altLang="en-US" sz="17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a:solidFill>
                  <a:srgbClr val="404040"/>
                </a:solidFill>
                <a:latin typeface="メイリオ" panose="020B0604030504040204" pitchFamily="50" charset="-128"/>
                <a:ea typeface="メイリオ" panose="020B0604030504040204" pitchFamily="50" charset="-128"/>
              </a:rPr>
              <a:t>・よくある質問（応募方法・年収・勤務地 等）の対応を効率化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5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30秒 適職診断コンテンツ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マイページ登録・求職者会員登録案内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新着求人の通知もLINEで受け取れる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地域別・希望条件別 求人相談キャンペーン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200" b="0" strike="noStrike" spc="-1">
                <a:solidFill>
                  <a:srgbClr val="9AA1AE"/>
                </a:solidFill>
                <a:latin typeface="メイリオ" panose="020B0604030504040204" pitchFamily="50" charset="-128"/>
                <a:ea typeface="メイリオ" panose="020B0604030504040204" pitchFamily="50" charset="-128"/>
              </a:rPr>
              <a:t>※「30秒 適職診断」はサイト上に簡易診断フォームを設置し、結果をLINEで送付する動線を想定（要開発）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面談・就業までナーチャリングが可能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143129</TotalTime>
  <Words>6329</Words>
  <Application>Microsoft Office PowerPoint</Application>
  <PresentationFormat>A4 210 x 297 mm</PresentationFormat>
  <Paragraphs>1593</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1954</cp:revision>
  <cp:lastPrinted>2022-11-01T11:38:14Z</cp:lastPrinted>
  <dcterms:created xsi:type="dcterms:W3CDTF">2015-09-04T09:21:15Z</dcterms:created>
  <dcterms:modified xsi:type="dcterms:W3CDTF">2026-09-19T04:08:40Z</dcterms:modified>
</cp:coreProperties>
</file>