
<file path=[Content_Types].xml><?xml version="1.0" encoding="utf-8"?>
<Types xmlns="http://schemas.openxmlformats.org/package/2006/content-types">
  <Default Extension="emf" ContentType="image/x-emf"/>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handoutMasters/handoutMaster1.xml" ContentType="application/vnd.openxmlformats-officedocument.presentationml.handoutMaster+xml"/>
  <Override PartName="/ppt/media/image40.svg" ContentType="image/svg+xml"/>
  <Override PartName="/ppt/media/image42.svg" ContentType="image/svg+xml"/>
  <Override PartName="/ppt/media/image43.svg" ContentType="image/svg+xml"/>
  <Override PartName="/ppt/media/image44.svg" ContentType="image/svg+xml"/>
  <Override PartName="/ppt/media/image45.svg" ContentType="image/svg+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theme/theme3.xml" ContentType="application/vnd.openxmlformats-officedocument.theme+xml"/>
  <Override PartName="/ppt/theme/theme4.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74" r:id="rId1"/>
    <p:sldMasterId id="2147483687" r:id="rId2"/>
  </p:sldMasterIdLst>
  <p:notesMasterIdLst>
    <p:notesMasterId r:id="rId55"/>
  </p:notesMasterIdLst>
  <p:handoutMasterIdLst>
    <p:handoutMasterId r:id="rId56"/>
  </p:handoutMasterIdLst>
  <p:sldIdLst>
    <p:sldId id="2363" r:id="rId3"/>
    <p:sldId id="2971" r:id="rId4"/>
    <p:sldId id="2972" r:id="rId5"/>
    <p:sldId id="3007" r:id="rId6"/>
    <p:sldId id="2994" r:id="rId7"/>
    <p:sldId id="2995" r:id="rId8"/>
    <p:sldId id="3001" r:id="rId9"/>
    <p:sldId id="2999" r:id="rId10"/>
    <p:sldId id="2736" r:id="rId11"/>
    <p:sldId id="2987" r:id="rId12"/>
    <p:sldId id="2997" r:id="rId13"/>
    <p:sldId id="2996" r:id="rId14"/>
    <p:sldId id="2973" r:id="rId15"/>
    <p:sldId id="2977" r:id="rId16"/>
    <p:sldId id="2979" r:id="rId17"/>
    <p:sldId id="3000" r:id="rId18"/>
    <p:sldId id="2968" r:id="rId19"/>
    <p:sldId id="2908" r:id="rId20"/>
    <p:sldId id="2998" r:id="rId21"/>
    <p:sldId id="2990" r:id="rId22"/>
    <p:sldId id="2986" r:id="rId23"/>
    <p:sldId id="2991" r:id="rId24"/>
    <p:sldId id="2737" r:id="rId25"/>
    <p:sldId id="2989" r:id="rId26"/>
    <p:sldId id="2563" r:id="rId27"/>
    <p:sldId id="2959" r:id="rId28"/>
    <p:sldId id="2970" r:id="rId29"/>
    <p:sldId id="2639" r:id="rId30"/>
    <p:sldId id="2957" r:id="rId31"/>
    <p:sldId id="2951" r:id="rId32"/>
    <p:sldId id="2841" r:id="rId33"/>
    <p:sldId id="2734" r:id="rId34"/>
    <p:sldId id="2595" r:id="rId35"/>
    <p:sldId id="2566" r:id="rId36"/>
    <p:sldId id="2915" r:id="rId37"/>
    <p:sldId id="2619" r:id="rId38"/>
    <p:sldId id="2761" r:id="rId39"/>
    <p:sldId id="2935" r:id="rId40"/>
    <p:sldId id="2919" r:id="rId41"/>
    <p:sldId id="2519" r:id="rId42"/>
    <p:sldId id="2931" r:id="rId43"/>
    <p:sldId id="2749" r:id="rId44"/>
    <p:sldId id="2950" r:id="rId45"/>
    <p:sldId id="2961" r:id="rId46"/>
    <p:sldId id="2849" r:id="rId47"/>
    <p:sldId id="2904" r:id="rId48"/>
    <p:sldId id="2905" r:id="rId49"/>
    <p:sldId id="2906" r:id="rId50"/>
    <p:sldId id="2907" r:id="rId51"/>
    <p:sldId id="2575" r:id="rId52"/>
    <p:sldId id="2910" r:id="rId53"/>
    <p:sldId id="1169" r:id="rId54"/>
  </p:sldIdLst>
  <p:sldSz cx="9906000" cy="6858000" type="A4"/>
  <p:notesSz cx="6807200" cy="9939338"/>
  <p:defaultTex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3158" userDrawn="1">
          <p15:clr>
            <a:srgbClr val="A4A3A4"/>
          </p15:clr>
        </p15:guide>
        <p15:guide id="2" pos="308" userDrawn="1">
          <p15:clr>
            <a:srgbClr val="A4A3A4"/>
          </p15:clr>
        </p15:guide>
      </p15:sldGuideLst>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04FA0A"/>
    <a:srgbClr val="173559"/>
    <a:srgbClr val="FDFDFD"/>
    <a:srgbClr val="2080FF"/>
    <a:srgbClr val="1D8DFF"/>
    <a:srgbClr val="515457"/>
    <a:srgbClr val="F6A454"/>
    <a:srgbClr val="EAEEF4"/>
    <a:srgbClr val="2D6CB9"/>
    <a:srgbClr val="D1D9E8"/>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中間スタイル 2 - アクセント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21E4AEA4-8DFA-4A89-87EB-49C32662AFE0}" styleName="中間スタイル 2 - アクセント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2">
              <a:tint val="20000"/>
            </a:schemeClr>
          </a:solidFill>
        </a:fill>
      </a:tcStyle>
    </a:wholeTbl>
    <a:band1H>
      <a:tcStyle>
        <a:tcBdr/>
        <a:fill>
          <a:solidFill>
            <a:schemeClr val="accent2">
              <a:tint val="40000"/>
            </a:schemeClr>
          </a:solidFill>
        </a:fill>
      </a:tcStyle>
    </a:band1H>
    <a:band2H>
      <a:tcStyle>
        <a:tcBdr/>
      </a:tcStyle>
    </a:band2H>
    <a:band1V>
      <a:tcStyle>
        <a:tcBdr/>
        <a:fill>
          <a:solidFill>
            <a:schemeClr val="accent2">
              <a:tint val="40000"/>
            </a:schemeClr>
          </a:solidFill>
        </a:fill>
      </a:tcStyle>
    </a:band1V>
    <a:band2V>
      <a:tcStyle>
        <a:tcBdr/>
      </a:tcStyle>
    </a:band2V>
    <a:lastCol>
      <a:tcTxStyle b="on">
        <a:fontRef idx="minor">
          <a:prstClr val="black"/>
        </a:fontRef>
        <a:schemeClr val="lt1"/>
      </a:tcTxStyle>
      <a:tcStyle>
        <a:tcBdr/>
        <a:fill>
          <a:solidFill>
            <a:schemeClr val="accent2"/>
          </a:solidFill>
        </a:fill>
      </a:tcStyle>
    </a:lastCol>
    <a:firstCol>
      <a:tcTxStyle b="on">
        <a:fontRef idx="minor">
          <a:prstClr val="black"/>
        </a:fontRef>
        <a:schemeClr val="lt1"/>
      </a:tcTxStyle>
      <a:tcStyle>
        <a:tcBdr/>
        <a:fill>
          <a:solidFill>
            <a:schemeClr val="accent2"/>
          </a:solidFill>
        </a:fill>
      </a:tcStyle>
    </a:firstCol>
    <a:lastRow>
      <a:tcTxStyle b="on">
        <a:fontRef idx="minor">
          <a:prstClr val="black"/>
        </a:fontRef>
        <a:schemeClr val="lt1"/>
      </a:tcTxStyle>
      <a:tcStyle>
        <a:tcBdr>
          <a:top>
            <a:ln w="38100" cmpd="sng">
              <a:solidFill>
                <a:schemeClr val="lt1"/>
              </a:solidFill>
            </a:ln>
          </a:top>
        </a:tcBdr>
        <a:fill>
          <a:solidFill>
            <a:schemeClr val="accent2"/>
          </a:solidFill>
        </a:fill>
      </a:tcStyle>
    </a:lastRow>
    <a:firstRow>
      <a:tcTxStyle b="on">
        <a:fontRef idx="minor">
          <a:prstClr val="black"/>
        </a:fontRef>
        <a:schemeClr val="lt1"/>
      </a:tcTxStyle>
      <a:tcStyle>
        <a:tcBdr>
          <a:bottom>
            <a:ln w="38100" cmpd="sng">
              <a:solidFill>
                <a:schemeClr val="lt1"/>
              </a:solidFill>
            </a:ln>
          </a:bottom>
        </a:tcBdr>
        <a:fill>
          <a:solidFill>
            <a:schemeClr val="accent2"/>
          </a:solidFill>
        </a:fill>
      </a:tcStyle>
    </a:firstRow>
  </a:tblStyle>
  <a:tblStyle styleId="{B301B821-A1FF-4177-AEE7-76D212191A09}" styleName="中間スタイル 1 - アクセント 1">
    <a:wholeTbl>
      <a:tcTxStyle>
        <a:fontRef idx="minor">
          <a:scrgbClr r="0" g="0" b="0"/>
        </a:fontRef>
        <a:schemeClr val="dk1"/>
      </a:tcTxStyle>
      <a:tcStyle>
        <a:tcBdr>
          <a:left>
            <a:ln w="12700" cmpd="sng">
              <a:solidFill>
                <a:schemeClr val="accent1"/>
              </a:solidFill>
            </a:ln>
          </a:left>
          <a:right>
            <a:ln w="12700" cmpd="sng">
              <a:solidFill>
                <a:schemeClr val="accent1"/>
              </a:solidFill>
            </a:ln>
          </a:right>
          <a:top>
            <a:ln w="12700" cmpd="sng">
              <a:solidFill>
                <a:schemeClr val="accent1"/>
              </a:solidFill>
            </a:ln>
          </a:top>
          <a:bottom>
            <a:ln w="12700" cmpd="sng">
              <a:solidFill>
                <a:schemeClr val="accent1"/>
              </a:solidFill>
            </a:ln>
          </a:bottom>
          <a:insideH>
            <a:ln w="12700" cmpd="sng">
              <a:solidFill>
                <a:schemeClr val="accent1"/>
              </a:solidFill>
            </a:ln>
          </a:insideH>
          <a:insideV>
            <a:ln>
              <a:noFill/>
            </a:ln>
          </a:insideV>
        </a:tcBdr>
        <a:fill>
          <a:solidFill>
            <a:schemeClr val="lt1"/>
          </a:solidFill>
        </a:fill>
      </a:tcStyle>
    </a:wholeTbl>
    <a:band1H>
      <a:tcStyle>
        <a:tcBdr/>
        <a:fill>
          <a:solidFill>
            <a:schemeClr val="accent1">
              <a:tint val="20000"/>
            </a:schemeClr>
          </a:solidFill>
        </a:fill>
      </a:tcStyle>
    </a:band1H>
    <a:band1V>
      <a:tcStyle>
        <a:tcBdr/>
        <a:fill>
          <a:solidFill>
            <a:schemeClr val="accent1">
              <a:tint val="20000"/>
            </a:schemeClr>
          </a:solidFill>
        </a:fill>
      </a:tcStyle>
    </a:band1V>
    <a:lastCol>
      <a:tcTxStyle b="on"/>
      <a:tcStyle>
        <a:tcBdr/>
      </a:tcStyle>
    </a:lastCol>
    <a:firstCol>
      <a:tcTxStyle b="on"/>
      <a:tcStyle>
        <a:tcBdr/>
      </a:tcStyle>
    </a:firstCol>
    <a:lastRow>
      <a:tcTxStyle b="on"/>
      <a:tcStyle>
        <a:tcBdr>
          <a:top>
            <a:ln w="50800" cmpd="dbl">
              <a:solidFill>
                <a:schemeClr val="accent1"/>
              </a:solidFill>
            </a:ln>
          </a:top>
        </a:tcBdr>
        <a:fill>
          <a:solidFill>
            <a:schemeClr val="lt1"/>
          </a:solidFill>
        </a:fill>
      </a:tcStyle>
    </a:lastRow>
    <a:firstRow>
      <a:tcTxStyle b="on">
        <a:fontRef idx="minor">
          <a:scrgbClr r="0" g="0" b="0"/>
        </a:fontRef>
        <a:schemeClr val="lt1"/>
      </a:tcTxStyle>
      <a:tcStyle>
        <a:tcBdr/>
        <a:fill>
          <a:solidFill>
            <a:schemeClr val="accent1"/>
          </a:solidFill>
        </a:fill>
      </a:tcStyle>
    </a:firstRow>
  </a:tblStyle>
  <a:tblStyle styleId="{69012ECD-51FC-41F1-AA8D-1B2483CD663E}" styleName="淡色スタイル 2 - アクセント 1">
    <a:wholeTbl>
      <a:tcTxStyle>
        <a:fontRef idx="minor">
          <a:scrgbClr r="0" g="0" b="0"/>
        </a:fontRef>
        <a:schemeClr val="tx1"/>
      </a:tcTxStyle>
      <a:tcStyle>
        <a:tcBdr>
          <a:left>
            <a:lnRef idx="1">
              <a:schemeClr val="accent1"/>
            </a:lnRef>
          </a:left>
          <a:right>
            <a:lnRef idx="1">
              <a:schemeClr val="accent1"/>
            </a:lnRef>
          </a:right>
          <a:top>
            <a:lnRef idx="1">
              <a:schemeClr val="accent1"/>
            </a:lnRef>
          </a:top>
          <a:bottom>
            <a:lnRef idx="1">
              <a:schemeClr val="accent1"/>
            </a:lnRef>
          </a:bottom>
          <a:insideH>
            <a:ln>
              <a:noFill/>
            </a:ln>
          </a:insideH>
          <a:insideV>
            <a:ln>
              <a:noFill/>
            </a:ln>
          </a:insideV>
        </a:tcBdr>
        <a:fill>
          <a:noFill/>
        </a:fill>
      </a:tcStyle>
    </a:wholeTbl>
    <a:band1H>
      <a:tcStyle>
        <a:tcBdr>
          <a:top>
            <a:lnRef idx="1">
              <a:schemeClr val="accent1"/>
            </a:lnRef>
          </a:top>
          <a:bottom>
            <a:lnRef idx="1">
              <a:schemeClr val="accent1"/>
            </a:lnRef>
          </a:bottom>
        </a:tcBdr>
      </a:tcStyle>
    </a:band1H>
    <a:band1V>
      <a:tcStyle>
        <a:tcBdr>
          <a:left>
            <a:lnRef idx="1">
              <a:schemeClr val="accent1"/>
            </a:lnRef>
          </a:left>
          <a:right>
            <a:lnRef idx="1">
              <a:schemeClr val="accent1"/>
            </a:lnRef>
          </a:right>
        </a:tcBdr>
      </a:tcStyle>
    </a:band1V>
    <a:band2V>
      <a:tcStyle>
        <a:tcBdr>
          <a:left>
            <a:lnRef idx="1">
              <a:schemeClr val="accent1"/>
            </a:lnRef>
          </a:left>
          <a:right>
            <a:lnRef idx="1">
              <a:schemeClr val="accent1"/>
            </a:lnRef>
          </a:right>
        </a:tcBdr>
      </a:tcStyle>
    </a:band2V>
    <a:lastCol>
      <a:tcTxStyle b="on"/>
      <a:tcStyle>
        <a:tcBdr/>
      </a:tcStyle>
    </a:lastCol>
    <a:firstCol>
      <a:tcTxStyle b="on"/>
      <a:tcStyle>
        <a:tcBdr/>
      </a:tcStyle>
    </a:firstCol>
    <a:lastRow>
      <a:tcTxStyle b="on"/>
      <a:tcStyle>
        <a:tcBdr>
          <a:top>
            <a:ln w="50800" cmpd="dbl">
              <a:solidFill>
                <a:schemeClr val="accent1"/>
              </a:solidFill>
            </a:ln>
          </a:top>
        </a:tcBdr>
      </a:tcStyle>
    </a:lastRow>
    <a:firstRow>
      <a:tcTxStyle b="on">
        <a:fontRef idx="minor">
          <a:scrgbClr r="0" g="0" b="0"/>
        </a:fontRef>
        <a:schemeClr val="bg1"/>
      </a:tcTxStyle>
      <a:tcStyle>
        <a:tcBdr/>
        <a:fillRef idx="1">
          <a:schemeClr val="accent1"/>
        </a:fillRef>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horzBarState="maximized">
    <p:restoredLeft sz="18157" autoAdjust="0"/>
    <p:restoredTop sz="94424" autoAdjust="0"/>
  </p:normalViewPr>
  <p:slideViewPr>
    <p:cSldViewPr snapToGrid="0">
      <p:cViewPr>
        <p:scale>
          <a:sx n="66" d="100"/>
          <a:sy n="66" d="100"/>
        </p:scale>
        <p:origin x="1024" y="220"/>
      </p:cViewPr>
      <p:guideLst>
        <p:guide orient="horz" pos="3158"/>
        <p:guide pos="308"/>
      </p:guideLst>
    </p:cSldViewPr>
  </p:slideViewPr>
  <p:notesTextViewPr>
    <p:cViewPr>
      <p:scale>
        <a:sx n="1" d="1"/>
        <a:sy n="1" d="1"/>
      </p:scale>
      <p:origin x="0" y="0"/>
    </p:cViewPr>
  </p:notesTextViewPr>
  <p:sorterViewPr>
    <p:cViewPr>
      <p:scale>
        <a:sx n="100" d="100"/>
        <a:sy n="100" d="100"/>
      </p:scale>
      <p:origin x="0" y="-3072"/>
    </p:cViewPr>
  </p:sorterViewPr>
  <p:notesViewPr>
    <p:cSldViewPr snapToGrid="0">
      <p:cViewPr varScale="1">
        <p:scale>
          <a:sx n="79" d="100"/>
          <a:sy n="79" d="100"/>
        </p:scale>
        <p:origin x="4014" y="102"/>
      </p:cViewPr>
      <p:guideLst/>
    </p:cSldViewPr>
  </p:notesViewPr>
  <p:gridSpacing cx="1080001" cy="1080001"/>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Master" Target="slideMasters/slideMaster2.xml"/><Relationship Id="rId3" Type="http://schemas.openxmlformats.org/officeDocument/2006/relationships/slide" Target="slides/slide1.xml"/><Relationship Id="rId4" Type="http://schemas.openxmlformats.org/officeDocument/2006/relationships/slide" Target="slides/slide2.xml"/><Relationship Id="rId5" Type="http://schemas.openxmlformats.org/officeDocument/2006/relationships/slide" Target="slides/slide3.xml"/><Relationship Id="rId6" Type="http://schemas.openxmlformats.org/officeDocument/2006/relationships/slide" Target="slides/slide4.xml"/><Relationship Id="rId7" Type="http://schemas.openxmlformats.org/officeDocument/2006/relationships/slide" Target="slides/slide5.xml"/><Relationship Id="rId8" Type="http://schemas.openxmlformats.org/officeDocument/2006/relationships/slide" Target="slides/slide6.xml"/><Relationship Id="rId9" Type="http://schemas.openxmlformats.org/officeDocument/2006/relationships/slide" Target="slides/slide7.xml"/><Relationship Id="rId10" Type="http://schemas.openxmlformats.org/officeDocument/2006/relationships/slide" Target="slides/slide8.xml"/><Relationship Id="rId11" Type="http://schemas.openxmlformats.org/officeDocument/2006/relationships/slide" Target="slides/slide9.xml"/><Relationship Id="rId12" Type="http://schemas.openxmlformats.org/officeDocument/2006/relationships/slide" Target="slides/slide10.xml"/><Relationship Id="rId13" Type="http://schemas.openxmlformats.org/officeDocument/2006/relationships/slide" Target="slides/slide11.xml"/><Relationship Id="rId14" Type="http://schemas.openxmlformats.org/officeDocument/2006/relationships/slide" Target="slides/slide12.xml"/><Relationship Id="rId15" Type="http://schemas.openxmlformats.org/officeDocument/2006/relationships/slide" Target="slides/slide13.xml"/><Relationship Id="rId16" Type="http://schemas.openxmlformats.org/officeDocument/2006/relationships/slide" Target="slides/slide14.xml"/><Relationship Id="rId17" Type="http://schemas.openxmlformats.org/officeDocument/2006/relationships/slide" Target="slides/slide15.xml"/><Relationship Id="rId18" Type="http://schemas.openxmlformats.org/officeDocument/2006/relationships/slide" Target="slides/slide16.xml"/><Relationship Id="rId19" Type="http://schemas.openxmlformats.org/officeDocument/2006/relationships/slide" Target="slides/slide17.xml"/><Relationship Id="rId20" Type="http://schemas.openxmlformats.org/officeDocument/2006/relationships/slide" Target="slides/slide18.xml"/><Relationship Id="rId21" Type="http://schemas.openxmlformats.org/officeDocument/2006/relationships/slide" Target="slides/slide19.xml"/><Relationship Id="rId22" Type="http://schemas.openxmlformats.org/officeDocument/2006/relationships/slide" Target="slides/slide20.xml"/><Relationship Id="rId23" Type="http://schemas.openxmlformats.org/officeDocument/2006/relationships/slide" Target="slides/slide21.xml"/><Relationship Id="rId24" Type="http://schemas.openxmlformats.org/officeDocument/2006/relationships/slide" Target="slides/slide22.xml"/><Relationship Id="rId25" Type="http://schemas.openxmlformats.org/officeDocument/2006/relationships/slide" Target="slides/slide23.xml"/><Relationship Id="rId26" Type="http://schemas.openxmlformats.org/officeDocument/2006/relationships/slide" Target="slides/slide24.xml"/><Relationship Id="rId27" Type="http://schemas.openxmlformats.org/officeDocument/2006/relationships/slide" Target="slides/slide25.xml"/><Relationship Id="rId28" Type="http://schemas.openxmlformats.org/officeDocument/2006/relationships/slide" Target="slides/slide26.xml"/><Relationship Id="rId29" Type="http://schemas.openxmlformats.org/officeDocument/2006/relationships/slide" Target="slides/slide27.xml"/><Relationship Id="rId30" Type="http://schemas.openxmlformats.org/officeDocument/2006/relationships/slide" Target="slides/slide28.xml"/><Relationship Id="rId31" Type="http://schemas.openxmlformats.org/officeDocument/2006/relationships/slide" Target="slides/slide29.xml"/><Relationship Id="rId32" Type="http://schemas.openxmlformats.org/officeDocument/2006/relationships/slide" Target="slides/slide30.xml"/><Relationship Id="rId33" Type="http://schemas.openxmlformats.org/officeDocument/2006/relationships/slide" Target="slides/slide31.xml"/><Relationship Id="rId34" Type="http://schemas.openxmlformats.org/officeDocument/2006/relationships/slide" Target="slides/slide32.xml"/><Relationship Id="rId35" Type="http://schemas.openxmlformats.org/officeDocument/2006/relationships/slide" Target="slides/slide33.xml"/><Relationship Id="rId36" Type="http://schemas.openxmlformats.org/officeDocument/2006/relationships/slide" Target="slides/slide34.xml"/><Relationship Id="rId37" Type="http://schemas.openxmlformats.org/officeDocument/2006/relationships/slide" Target="slides/slide35.xml"/><Relationship Id="rId38" Type="http://schemas.openxmlformats.org/officeDocument/2006/relationships/slide" Target="slides/slide36.xml"/><Relationship Id="rId39" Type="http://schemas.openxmlformats.org/officeDocument/2006/relationships/slide" Target="slides/slide37.xml"/><Relationship Id="rId40" Type="http://schemas.openxmlformats.org/officeDocument/2006/relationships/slide" Target="slides/slide38.xml"/><Relationship Id="rId41" Type="http://schemas.openxmlformats.org/officeDocument/2006/relationships/slide" Target="slides/slide39.xml"/><Relationship Id="rId42" Type="http://schemas.openxmlformats.org/officeDocument/2006/relationships/slide" Target="slides/slide40.xml"/><Relationship Id="rId43" Type="http://schemas.openxmlformats.org/officeDocument/2006/relationships/slide" Target="slides/slide41.xml"/><Relationship Id="rId44" Type="http://schemas.openxmlformats.org/officeDocument/2006/relationships/slide" Target="slides/slide42.xml"/><Relationship Id="rId45" Type="http://schemas.openxmlformats.org/officeDocument/2006/relationships/slide" Target="slides/slide43.xml"/><Relationship Id="rId46" Type="http://schemas.openxmlformats.org/officeDocument/2006/relationships/slide" Target="slides/slide44.xml"/><Relationship Id="rId47" Type="http://schemas.openxmlformats.org/officeDocument/2006/relationships/slide" Target="slides/slide45.xml"/><Relationship Id="rId48" Type="http://schemas.openxmlformats.org/officeDocument/2006/relationships/slide" Target="slides/slide46.xml"/><Relationship Id="rId49" Type="http://schemas.openxmlformats.org/officeDocument/2006/relationships/slide" Target="slides/slide47.xml"/><Relationship Id="rId50" Type="http://schemas.openxmlformats.org/officeDocument/2006/relationships/slide" Target="slides/slide48.xml"/><Relationship Id="rId51" Type="http://schemas.openxmlformats.org/officeDocument/2006/relationships/slide" Target="slides/slide49.xml"/><Relationship Id="rId52" Type="http://schemas.openxmlformats.org/officeDocument/2006/relationships/slide" Target="slides/slide50.xml"/><Relationship Id="rId53" Type="http://schemas.openxmlformats.org/officeDocument/2006/relationships/slide" Target="slides/slide51.xml"/><Relationship Id="rId54" Type="http://schemas.openxmlformats.org/officeDocument/2006/relationships/slide" Target="slides/slide52.xml"/><Relationship Id="rId55" Type="http://schemas.openxmlformats.org/officeDocument/2006/relationships/notesMaster" Target="notesMasters/notesMaster1.xml"/><Relationship Id="rId56" Type="http://schemas.openxmlformats.org/officeDocument/2006/relationships/handoutMaster" Target="handoutMasters/handoutMaster1.xml"/><Relationship Id="rId57" Type="http://schemas.openxmlformats.org/officeDocument/2006/relationships/presProps" Target="presProps.xml"/><Relationship Id="rId58" Type="http://schemas.openxmlformats.org/officeDocument/2006/relationships/viewProps" Target="viewProps.xml"/><Relationship Id="rId59" Type="http://schemas.openxmlformats.org/officeDocument/2006/relationships/theme" Target="theme/theme1.xml"/><Relationship Id="rId60" Type="http://schemas.openxmlformats.org/officeDocument/2006/relationships/tableStyles" Target="tableStyles.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4.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4" name="フッター プレースホルダー 3"/>
          <p:cNvSpPr>
            <a:spLocks noGrp="1"/>
          </p:cNvSpPr>
          <p:nvPr>
            <p:ph type="ftr" sz="quarter" idx="2"/>
          </p:nvPr>
        </p:nvSpPr>
        <p:spPr>
          <a:xfrm>
            <a:off x="0" y="9441662"/>
            <a:ext cx="2949420" cy="497676"/>
          </a:xfrm>
          <a:prstGeom prst="rect">
            <a:avLst/>
          </a:prstGeom>
        </p:spPr>
        <p:txBody>
          <a:bodyPr vert="horz" lIns="90561" tIns="45280" rIns="90561" bIns="45280" rtlCol="0" anchor="b"/>
          <a:lstStyle>
            <a:lvl1pPr algn="l">
              <a:defRPr sz="1200"/>
            </a:lvl1pPr>
          </a:lstStyle>
          <a:p>
            <a:endParaRPr kumimoji="1" lang="ja-JP" altLang="en-US"/>
          </a:p>
        </p:txBody>
      </p:sp>
      <p:sp>
        <p:nvSpPr>
          <p:cNvPr id="5" name="スライド番号プレースホルダー 4"/>
          <p:cNvSpPr>
            <a:spLocks noGrp="1"/>
          </p:cNvSpPr>
          <p:nvPr>
            <p:ph type="sldNum" sz="quarter" idx="3"/>
          </p:nvPr>
        </p:nvSpPr>
        <p:spPr>
          <a:xfrm>
            <a:off x="3856210" y="9441662"/>
            <a:ext cx="2949420" cy="497676"/>
          </a:xfrm>
          <a:prstGeom prst="rect">
            <a:avLst/>
          </a:prstGeom>
        </p:spPr>
        <p:txBody>
          <a:bodyPr vert="horz" lIns="90561" tIns="45280" rIns="90561" bIns="45280" rtlCol="0" anchor="b"/>
          <a:lstStyle>
            <a:lvl1pPr algn="r">
              <a:defRPr sz="1200"/>
            </a:lvl1pPr>
          </a:lstStyle>
          <a:p>
            <a:fld id="{7B45B759-5475-4693-BFD4-53BF6401E48A}" type="slidenum">
              <a:rPr kumimoji="1" lang="ja-JP" altLang="en-US" smtClean="0"/>
              <a:t>‹#›</a:t>
            </a:fld>
            <a:endParaRPr kumimoji="1" lang="ja-JP" altLang="en-US"/>
          </a:p>
        </p:txBody>
      </p:sp>
    </p:spTree>
    <p:extLst>
      <p:ext uri="{BB962C8B-B14F-4D97-AF65-F5344CB8AC3E}">
        <p14:creationId xmlns:p14="http://schemas.microsoft.com/office/powerpoint/2010/main" val="3259530797"/>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3.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ヘッダー プレースホルダー 1"/>
          <p:cNvSpPr>
            <a:spLocks noGrp="1"/>
          </p:cNvSpPr>
          <p:nvPr>
            <p:ph type="hdr" sz="quarter"/>
          </p:nvPr>
        </p:nvSpPr>
        <p:spPr>
          <a:xfrm>
            <a:off x="1" y="2"/>
            <a:ext cx="2950528" cy="497524"/>
          </a:xfrm>
          <a:prstGeom prst="rect">
            <a:avLst/>
          </a:prstGeom>
        </p:spPr>
        <p:txBody>
          <a:bodyPr vert="horz" lIns="91529" tIns="45765" rIns="91529" bIns="45765" rtlCol="0"/>
          <a:lstStyle>
            <a:lvl1pPr algn="l">
              <a:defRPr sz="1200"/>
            </a:lvl1pPr>
          </a:lstStyle>
          <a:p>
            <a:endParaRPr kumimoji="1" lang="ja-JP" altLang="en-US"/>
          </a:p>
        </p:txBody>
      </p:sp>
      <p:sp>
        <p:nvSpPr>
          <p:cNvPr id="3" name="日付プレースホルダー 2"/>
          <p:cNvSpPr>
            <a:spLocks noGrp="1"/>
          </p:cNvSpPr>
          <p:nvPr>
            <p:ph type="dt" idx="1"/>
          </p:nvPr>
        </p:nvSpPr>
        <p:spPr>
          <a:xfrm>
            <a:off x="3855082" y="2"/>
            <a:ext cx="2950528" cy="497524"/>
          </a:xfrm>
          <a:prstGeom prst="rect">
            <a:avLst/>
          </a:prstGeom>
        </p:spPr>
        <p:txBody>
          <a:bodyPr vert="horz" lIns="91529" tIns="45765" rIns="91529" bIns="45765" rtlCol="0"/>
          <a:lstStyle>
            <a:lvl1pPr algn="r">
              <a:defRPr sz="1200"/>
            </a:lvl1pPr>
          </a:lstStyle>
          <a:p>
            <a:fld id="{6AF8158D-F6B1-45E0-9831-E70689DC8490}" type="datetimeFigureOut">
              <a:rPr kumimoji="1" lang="ja-JP" altLang="en-US" smtClean="0"/>
              <a:t>2026/9/24</a:t>
            </a:fld>
            <a:endParaRPr kumimoji="1" lang="ja-JP" altLang="en-US"/>
          </a:p>
        </p:txBody>
      </p:sp>
      <p:sp>
        <p:nvSpPr>
          <p:cNvPr id="4" name="スライド イメージ プレースホルダー 3"/>
          <p:cNvSpPr>
            <a:spLocks noGrp="1" noRot="1" noChangeAspect="1"/>
          </p:cNvSpPr>
          <p:nvPr>
            <p:ph type="sldImg" idx="2"/>
          </p:nvPr>
        </p:nvSpPr>
        <p:spPr>
          <a:xfrm>
            <a:off x="981075" y="1243013"/>
            <a:ext cx="4845050" cy="3354387"/>
          </a:xfrm>
          <a:prstGeom prst="rect">
            <a:avLst/>
          </a:prstGeom>
          <a:noFill/>
          <a:ln w="12700">
            <a:solidFill>
              <a:prstClr val="black"/>
            </a:solidFill>
          </a:ln>
        </p:spPr>
        <p:txBody>
          <a:bodyPr vert="horz" lIns="91529" tIns="45765" rIns="91529" bIns="45765" rtlCol="0" anchor="ctr"/>
          <a:lstStyle/>
          <a:p>
            <a:endParaRPr lang="ja-JP" altLang="en-US"/>
          </a:p>
        </p:txBody>
      </p:sp>
      <p:sp>
        <p:nvSpPr>
          <p:cNvPr id="5" name="ノート プレースホルダー 4"/>
          <p:cNvSpPr>
            <a:spLocks noGrp="1"/>
          </p:cNvSpPr>
          <p:nvPr>
            <p:ph type="body" sz="quarter" idx="3"/>
          </p:nvPr>
        </p:nvSpPr>
        <p:spPr>
          <a:xfrm>
            <a:off x="680402" y="4782901"/>
            <a:ext cx="5446396" cy="3913426"/>
          </a:xfrm>
          <a:prstGeom prst="rect">
            <a:avLst/>
          </a:prstGeom>
        </p:spPr>
        <p:txBody>
          <a:bodyPr vert="horz" lIns="91529" tIns="45765" rIns="91529" bIns="45765" rtlCol="0"/>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6" name="フッター プレースホルダー 5"/>
          <p:cNvSpPr>
            <a:spLocks noGrp="1"/>
          </p:cNvSpPr>
          <p:nvPr>
            <p:ph type="ftr" sz="quarter" idx="4"/>
          </p:nvPr>
        </p:nvSpPr>
        <p:spPr>
          <a:xfrm>
            <a:off x="1" y="9441817"/>
            <a:ext cx="2950528" cy="497524"/>
          </a:xfrm>
          <a:prstGeom prst="rect">
            <a:avLst/>
          </a:prstGeom>
        </p:spPr>
        <p:txBody>
          <a:bodyPr vert="horz" lIns="91529" tIns="45765" rIns="91529" bIns="45765" rtlCol="0" anchor="b"/>
          <a:lstStyle>
            <a:lvl1pPr algn="l">
              <a:defRPr sz="1200"/>
            </a:lvl1pPr>
          </a:lstStyle>
          <a:p>
            <a:endParaRPr kumimoji="1" lang="ja-JP" altLang="en-US"/>
          </a:p>
        </p:txBody>
      </p:sp>
      <p:sp>
        <p:nvSpPr>
          <p:cNvPr id="7" name="スライド番号プレースホルダー 6"/>
          <p:cNvSpPr>
            <a:spLocks noGrp="1"/>
          </p:cNvSpPr>
          <p:nvPr>
            <p:ph type="sldNum" sz="quarter" idx="5"/>
          </p:nvPr>
        </p:nvSpPr>
        <p:spPr>
          <a:xfrm>
            <a:off x="3855082" y="9441817"/>
            <a:ext cx="2950528" cy="497524"/>
          </a:xfrm>
          <a:prstGeom prst="rect">
            <a:avLst/>
          </a:prstGeom>
        </p:spPr>
        <p:txBody>
          <a:bodyPr vert="horz" lIns="91529" tIns="45765" rIns="91529" bIns="45765" rtlCol="0" anchor="b"/>
          <a:lstStyle>
            <a:lvl1pPr algn="r">
              <a:defRPr sz="1200"/>
            </a:lvl1pPr>
          </a:lstStyle>
          <a:p>
            <a:fld id="{022E43C0-6795-4B13-B37C-259C826D4B6A}" type="slidenum">
              <a:rPr kumimoji="1" lang="ja-JP" altLang="en-US" smtClean="0"/>
              <a:t>‹#›</a:t>
            </a:fld>
            <a:endParaRPr kumimoji="1" lang="ja-JP" altLang="en-US"/>
          </a:p>
        </p:txBody>
      </p:sp>
    </p:spTree>
    <p:extLst>
      <p:ext uri="{BB962C8B-B14F-4D97-AF65-F5344CB8AC3E}">
        <p14:creationId xmlns:p14="http://schemas.microsoft.com/office/powerpoint/2010/main" val="640918907"/>
      </p:ext>
    </p:extLst>
  </p:cSld>
  <p:clrMap bg1="lt1" tx1="dk1" bg2="lt2" tx2="dk2" accent1="accent1" accent2="accent2" accent3="accent3" accent4="accent4" accent5="accent5" accent6="accent6" hlink="hlink" folHlink="folHlink"/>
  <p:notesStyle>
    <a:lvl1pPr marL="0" algn="l" defTabSz="914400" rtl="0" eaLnBrk="1" latinLnBrk="0" hangingPunct="1">
      <a:defRPr kumimoji="1" sz="1200" kern="1200">
        <a:solidFill>
          <a:schemeClr val="tx1"/>
        </a:solidFill>
        <a:latin typeface="+mn-lt"/>
        <a:ea typeface="+mn-ea"/>
        <a:cs typeface="+mn-cs"/>
      </a:defRPr>
    </a:lvl1pPr>
    <a:lvl2pPr marL="457200" algn="l" defTabSz="914400" rtl="0" eaLnBrk="1" latinLnBrk="0" hangingPunct="1">
      <a:defRPr kumimoji="1" sz="1200" kern="1200">
        <a:solidFill>
          <a:schemeClr val="tx1"/>
        </a:solidFill>
        <a:latin typeface="+mn-lt"/>
        <a:ea typeface="+mn-ea"/>
        <a:cs typeface="+mn-cs"/>
      </a:defRPr>
    </a:lvl2pPr>
    <a:lvl3pPr marL="914400" algn="l" defTabSz="914400" rtl="0" eaLnBrk="1" latinLnBrk="0" hangingPunct="1">
      <a:defRPr kumimoji="1" sz="1200" kern="1200">
        <a:solidFill>
          <a:schemeClr val="tx1"/>
        </a:solidFill>
        <a:latin typeface="+mn-lt"/>
        <a:ea typeface="+mn-ea"/>
        <a:cs typeface="+mn-cs"/>
      </a:defRPr>
    </a:lvl3pPr>
    <a:lvl4pPr marL="1371600" algn="l" defTabSz="914400" rtl="0" eaLnBrk="1" latinLnBrk="0" hangingPunct="1">
      <a:defRPr kumimoji="1" sz="1200" kern="1200">
        <a:solidFill>
          <a:schemeClr val="tx1"/>
        </a:solidFill>
        <a:latin typeface="+mn-lt"/>
        <a:ea typeface="+mn-ea"/>
        <a:cs typeface="+mn-cs"/>
      </a:defRPr>
    </a:lvl4pPr>
    <a:lvl5pPr marL="1828800" algn="l" defTabSz="914400" rtl="0" eaLnBrk="1" latinLnBrk="0" hangingPunct="1">
      <a:defRPr kumimoji="1" sz="1200" kern="1200">
        <a:solidFill>
          <a:schemeClr val="tx1"/>
        </a:solidFill>
        <a:latin typeface="+mn-lt"/>
        <a:ea typeface="+mn-ea"/>
        <a:cs typeface="+mn-cs"/>
      </a:defRPr>
    </a:lvl5pPr>
    <a:lvl6pPr marL="2286000" algn="l" defTabSz="914400" rtl="0" eaLnBrk="1" latinLnBrk="0" hangingPunct="1">
      <a:defRPr kumimoji="1" sz="1200" kern="1200">
        <a:solidFill>
          <a:schemeClr val="tx1"/>
        </a:solidFill>
        <a:latin typeface="+mn-lt"/>
        <a:ea typeface="+mn-ea"/>
        <a:cs typeface="+mn-cs"/>
      </a:defRPr>
    </a:lvl6pPr>
    <a:lvl7pPr marL="2743200" algn="l" defTabSz="914400" rtl="0" eaLnBrk="1" latinLnBrk="0" hangingPunct="1">
      <a:defRPr kumimoji="1" sz="1200" kern="1200">
        <a:solidFill>
          <a:schemeClr val="tx1"/>
        </a:solidFill>
        <a:latin typeface="+mn-lt"/>
        <a:ea typeface="+mn-ea"/>
        <a:cs typeface="+mn-cs"/>
      </a:defRPr>
    </a:lvl7pPr>
    <a:lvl8pPr marL="3200400" algn="l" defTabSz="914400" rtl="0" eaLnBrk="1" latinLnBrk="0" hangingPunct="1">
      <a:defRPr kumimoji="1" sz="1200" kern="1200">
        <a:solidFill>
          <a:schemeClr val="tx1"/>
        </a:solidFill>
        <a:latin typeface="+mn-lt"/>
        <a:ea typeface="+mn-ea"/>
        <a:cs typeface="+mn-cs"/>
      </a:defRPr>
    </a:lvl8pPr>
    <a:lvl9pPr marL="3657600" algn="l" defTabSz="914400" rtl="0" eaLnBrk="1" latinLnBrk="0" hangingPunct="1">
      <a:defRPr kumimoji="1"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4215D0A-BA72-DE45-32FA-363803F140CE}"/>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27D2F8A3-D4B3-B9E6-A613-A157696B87F2}"/>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933FBD4A-B575-3375-091A-F6A24B5A9BD0}"/>
              </a:ext>
            </a:extLst>
          </p:cNvPr>
          <p:cNvSpPr>
            <a:spLocks noGrp="1"/>
          </p:cNvSpPr>
          <p:nvPr>
            <p:ph type="body" idx="1"/>
          </p:nvPr>
        </p:nvSpPr>
        <p:spPr/>
        <p:txBody>
          <a:bodyPr/>
          <a:lstStyle/>
          <a:p>
            <a:endParaRPr kumimoji="1" lang="ja-JP" altLang="en-US" dirty="0"/>
          </a:p>
        </p:txBody>
      </p:sp>
      <p:sp>
        <p:nvSpPr>
          <p:cNvPr id="4" name="スライド番号プレースホルダー 3">
            <a:extLst>
              <a:ext uri="{FF2B5EF4-FFF2-40B4-BE49-F238E27FC236}">
                <a16:creationId xmlns:a16="http://schemas.microsoft.com/office/drawing/2014/main" id="{4CAEAEB9-E37C-569F-CBB7-45D65E2A0906}"/>
              </a:ext>
            </a:extLst>
          </p:cNvPr>
          <p:cNvSpPr>
            <a:spLocks noGrp="1"/>
          </p:cNvSpPr>
          <p:nvPr>
            <p:ph type="sldNum" sz="quarter" idx="10"/>
          </p:nvPr>
        </p:nvSpPr>
        <p:spPr/>
        <p:txBody>
          <a:bodyPr/>
          <a:lstStyle/>
          <a:p>
            <a:fld id="{022E43C0-6795-4B13-B37C-259C826D4B6A}" type="slidenum">
              <a:rPr kumimoji="1" lang="ja-JP" altLang="en-US" smtClean="0"/>
              <a:t>2</a:t>
            </a:fld>
            <a:endParaRPr kumimoji="1" lang="ja-JP" altLang="en-US"/>
          </a:p>
        </p:txBody>
      </p:sp>
    </p:spTree>
    <p:extLst>
      <p:ext uri="{BB962C8B-B14F-4D97-AF65-F5344CB8AC3E}">
        <p14:creationId xmlns:p14="http://schemas.microsoft.com/office/powerpoint/2010/main" val="112384761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5681540-B398-8C02-E1F2-1F1C4798CC29}"/>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2A82C74D-328C-FB0E-E710-C92A52BEF4BD}"/>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175EB1E7-3A4C-2E0A-CA67-686800FA87A8}"/>
              </a:ext>
            </a:extLst>
          </p:cNvPr>
          <p:cNvSpPr>
            <a:spLocks noGrp="1"/>
          </p:cNvSpPr>
          <p:nvPr>
            <p:ph type="body" idx="1"/>
          </p:nvPr>
        </p:nvSpPr>
        <p:spPr/>
        <p:txBody>
          <a:bodyPr/>
          <a:lstStyle/>
          <a:p>
            <a:endParaRPr kumimoji="1" lang="ja-JP" altLang="en-US" dirty="0"/>
          </a:p>
        </p:txBody>
      </p:sp>
      <p:sp>
        <p:nvSpPr>
          <p:cNvPr id="4" name="スライド番号プレースホルダー 3">
            <a:extLst>
              <a:ext uri="{FF2B5EF4-FFF2-40B4-BE49-F238E27FC236}">
                <a16:creationId xmlns:a16="http://schemas.microsoft.com/office/drawing/2014/main" id="{2173A52D-F6CC-DC20-5CFE-D4EBA25ECCBC}"/>
              </a:ext>
            </a:extLst>
          </p:cNvPr>
          <p:cNvSpPr>
            <a:spLocks noGrp="1"/>
          </p:cNvSpPr>
          <p:nvPr>
            <p:ph type="sldNum" sz="quarter" idx="10"/>
          </p:nvPr>
        </p:nvSpPr>
        <p:spPr/>
        <p:txBody>
          <a:bodyPr/>
          <a:lstStyle/>
          <a:p>
            <a:fld id="{022E43C0-6795-4B13-B37C-259C826D4B6A}" type="slidenum">
              <a:rPr kumimoji="1" lang="ja-JP" altLang="en-US" smtClean="0"/>
              <a:t>3</a:t>
            </a:fld>
            <a:endParaRPr kumimoji="1" lang="ja-JP" altLang="en-US"/>
          </a:p>
        </p:txBody>
      </p:sp>
    </p:spTree>
    <p:extLst>
      <p:ext uri="{BB962C8B-B14F-4D97-AF65-F5344CB8AC3E}">
        <p14:creationId xmlns:p14="http://schemas.microsoft.com/office/powerpoint/2010/main" val="2737986807"/>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4FB00FA-BE78-95FE-0350-A4F0396FFF9E}"/>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0FC15E1A-F54C-3203-065A-E98A027A0999}"/>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C9AE28B8-9549-F5B4-6969-5885B85CCC6B}"/>
              </a:ext>
            </a:extLst>
          </p:cNvPr>
          <p:cNvSpPr>
            <a:spLocks noGrp="1"/>
          </p:cNvSpPr>
          <p:nvPr>
            <p:ph type="body" idx="1"/>
          </p:nvPr>
        </p:nvSpPr>
        <p:spPr/>
        <p:txBody>
          <a:bodyPr/>
          <a:lstStyle/>
          <a:p>
            <a:endParaRPr kumimoji="1" lang="ja-JP" altLang="en-US" dirty="0"/>
          </a:p>
        </p:txBody>
      </p:sp>
      <p:sp>
        <p:nvSpPr>
          <p:cNvPr id="4" name="スライド番号プレースホルダー 3">
            <a:extLst>
              <a:ext uri="{FF2B5EF4-FFF2-40B4-BE49-F238E27FC236}">
                <a16:creationId xmlns:a16="http://schemas.microsoft.com/office/drawing/2014/main" id="{32C20ED0-F80D-F8F8-F1CB-2D28DC68BCAB}"/>
              </a:ext>
            </a:extLst>
          </p:cNvPr>
          <p:cNvSpPr>
            <a:spLocks noGrp="1"/>
          </p:cNvSpPr>
          <p:nvPr>
            <p:ph type="sldNum" sz="quarter" idx="10"/>
          </p:nvPr>
        </p:nvSpPr>
        <p:spPr/>
        <p:txBody>
          <a:bodyPr/>
          <a:lstStyle/>
          <a:p>
            <a:fld id="{022E43C0-6795-4B13-B37C-259C826D4B6A}" type="slidenum">
              <a:rPr kumimoji="1" lang="ja-JP" altLang="en-US" smtClean="0"/>
              <a:t>6</a:t>
            </a:fld>
            <a:endParaRPr kumimoji="1" lang="ja-JP" altLang="en-US"/>
          </a:p>
        </p:txBody>
      </p:sp>
    </p:spTree>
    <p:extLst>
      <p:ext uri="{BB962C8B-B14F-4D97-AF65-F5344CB8AC3E}">
        <p14:creationId xmlns:p14="http://schemas.microsoft.com/office/powerpoint/2010/main" val="191895482"/>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9AD3C2E-8631-0E38-6C31-C6DED150D218}"/>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8848057B-4969-D8FF-F0AC-CA210AA37C6A}"/>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CF70A271-6E49-37E3-A907-5C2BD5672166}"/>
              </a:ext>
            </a:extLst>
          </p:cNvPr>
          <p:cNvSpPr>
            <a:spLocks noGrp="1"/>
          </p:cNvSpPr>
          <p:nvPr>
            <p:ph type="body" idx="1"/>
          </p:nvPr>
        </p:nvSpPr>
        <p:spPr/>
        <p:txBody>
          <a:bodyPr/>
          <a:lstStyle/>
          <a:p>
            <a:endParaRPr kumimoji="1" lang="ja-JP" altLang="en-US" dirty="0"/>
          </a:p>
        </p:txBody>
      </p:sp>
      <p:sp>
        <p:nvSpPr>
          <p:cNvPr id="4" name="スライド番号プレースホルダー 3">
            <a:extLst>
              <a:ext uri="{FF2B5EF4-FFF2-40B4-BE49-F238E27FC236}">
                <a16:creationId xmlns:a16="http://schemas.microsoft.com/office/drawing/2014/main" id="{AC12D90D-F41A-5474-D369-5759C78B843B}"/>
              </a:ext>
            </a:extLst>
          </p:cNvPr>
          <p:cNvSpPr>
            <a:spLocks noGrp="1"/>
          </p:cNvSpPr>
          <p:nvPr>
            <p:ph type="sldNum" sz="quarter" idx="10"/>
          </p:nvPr>
        </p:nvSpPr>
        <p:spPr/>
        <p:txBody>
          <a:bodyPr/>
          <a:lstStyle/>
          <a:p>
            <a:fld id="{022E43C0-6795-4B13-B37C-259C826D4B6A}" type="slidenum">
              <a:rPr kumimoji="1" lang="ja-JP" altLang="en-US" smtClean="0"/>
              <a:t>7</a:t>
            </a:fld>
            <a:endParaRPr kumimoji="1" lang="ja-JP" altLang="en-US"/>
          </a:p>
        </p:txBody>
      </p:sp>
    </p:spTree>
    <p:extLst>
      <p:ext uri="{BB962C8B-B14F-4D97-AF65-F5344CB8AC3E}">
        <p14:creationId xmlns:p14="http://schemas.microsoft.com/office/powerpoint/2010/main" val="3162817903"/>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A0880EF-6C8C-B780-9BB3-1B0757C006A0}"/>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EDAB9840-7942-E115-501A-18129D77179C}"/>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B2A1841C-729C-28E2-58FF-5212B200D2BA}"/>
              </a:ext>
            </a:extLst>
          </p:cNvPr>
          <p:cNvSpPr>
            <a:spLocks noGrp="1"/>
          </p:cNvSpPr>
          <p:nvPr>
            <p:ph type="body" idx="1"/>
          </p:nvPr>
        </p:nvSpPr>
        <p:spPr/>
        <p:txBody>
          <a:bodyPr/>
          <a:lstStyle/>
          <a:p>
            <a:endParaRPr kumimoji="1" lang="ja-JP" altLang="en-US" dirty="0"/>
          </a:p>
        </p:txBody>
      </p:sp>
      <p:sp>
        <p:nvSpPr>
          <p:cNvPr id="4" name="スライド番号プレースホルダー 3">
            <a:extLst>
              <a:ext uri="{FF2B5EF4-FFF2-40B4-BE49-F238E27FC236}">
                <a16:creationId xmlns:a16="http://schemas.microsoft.com/office/drawing/2014/main" id="{3C47DBBA-098F-116B-BB87-D1F9D32E060E}"/>
              </a:ext>
            </a:extLst>
          </p:cNvPr>
          <p:cNvSpPr>
            <a:spLocks noGrp="1"/>
          </p:cNvSpPr>
          <p:nvPr>
            <p:ph type="sldNum" sz="quarter" idx="10"/>
          </p:nvPr>
        </p:nvSpPr>
        <p:spPr/>
        <p:txBody>
          <a:bodyPr/>
          <a:lstStyle/>
          <a:p>
            <a:fld id="{022E43C0-6795-4B13-B37C-259C826D4B6A}" type="slidenum">
              <a:rPr kumimoji="1" lang="ja-JP" altLang="en-US" smtClean="0"/>
              <a:t>8</a:t>
            </a:fld>
            <a:endParaRPr kumimoji="1" lang="ja-JP" altLang="en-US"/>
          </a:p>
        </p:txBody>
      </p:sp>
    </p:spTree>
    <p:extLst>
      <p:ext uri="{BB962C8B-B14F-4D97-AF65-F5344CB8AC3E}">
        <p14:creationId xmlns:p14="http://schemas.microsoft.com/office/powerpoint/2010/main" val="790818462"/>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D87BDD3-88EE-99A9-AEE2-C1F41DDABDFF}"/>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650017B6-5C78-4075-2708-AC5DB83D5C75}"/>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8ECFD86C-83D9-B8F9-9012-A14834B2031D}"/>
              </a:ext>
            </a:extLst>
          </p:cNvPr>
          <p:cNvSpPr>
            <a:spLocks noGrp="1"/>
          </p:cNvSpPr>
          <p:nvPr>
            <p:ph type="body" idx="1"/>
          </p:nvPr>
        </p:nvSpPr>
        <p:spPr/>
        <p:txBody>
          <a:bodyPr/>
          <a:lstStyle/>
          <a:p>
            <a:endParaRPr kumimoji="1" lang="ja-JP" altLang="en-US" dirty="0"/>
          </a:p>
        </p:txBody>
      </p:sp>
      <p:sp>
        <p:nvSpPr>
          <p:cNvPr id="4" name="スライド番号プレースホルダー 3">
            <a:extLst>
              <a:ext uri="{FF2B5EF4-FFF2-40B4-BE49-F238E27FC236}">
                <a16:creationId xmlns:a16="http://schemas.microsoft.com/office/drawing/2014/main" id="{602F5ACB-1F4C-FA7D-D366-8DCBB1214FD9}"/>
              </a:ext>
            </a:extLst>
          </p:cNvPr>
          <p:cNvSpPr>
            <a:spLocks noGrp="1"/>
          </p:cNvSpPr>
          <p:nvPr>
            <p:ph type="sldNum" sz="quarter" idx="10"/>
          </p:nvPr>
        </p:nvSpPr>
        <p:spPr/>
        <p:txBody>
          <a:bodyPr/>
          <a:lstStyle/>
          <a:p>
            <a:fld id="{022E43C0-6795-4B13-B37C-259C826D4B6A}" type="slidenum">
              <a:rPr kumimoji="1" lang="ja-JP" altLang="en-US" smtClean="0"/>
              <a:t>10</a:t>
            </a:fld>
            <a:endParaRPr kumimoji="1" lang="ja-JP" altLang="en-US"/>
          </a:p>
        </p:txBody>
      </p:sp>
    </p:spTree>
    <p:extLst>
      <p:ext uri="{BB962C8B-B14F-4D97-AF65-F5344CB8AC3E}">
        <p14:creationId xmlns:p14="http://schemas.microsoft.com/office/powerpoint/2010/main" val="3291335215"/>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328432E-C2C6-89CF-C006-DD360C6CBCD6}"/>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EB7CA1C0-54B2-C273-9EFA-4A233AA33F50}"/>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5C6AE94C-3A31-DE43-5CF3-F8B06624D4B3}"/>
              </a:ext>
            </a:extLst>
          </p:cNvPr>
          <p:cNvSpPr>
            <a:spLocks noGrp="1"/>
          </p:cNvSpPr>
          <p:nvPr>
            <p:ph type="body" idx="1"/>
          </p:nvPr>
        </p:nvSpPr>
        <p:spPr/>
        <p:txBody>
          <a:bodyPr/>
          <a:lstStyle/>
          <a:p>
            <a:endParaRPr kumimoji="1" lang="ja-JP" altLang="en-US" dirty="0"/>
          </a:p>
        </p:txBody>
      </p:sp>
      <p:sp>
        <p:nvSpPr>
          <p:cNvPr id="4" name="スライド番号プレースホルダー 3">
            <a:extLst>
              <a:ext uri="{FF2B5EF4-FFF2-40B4-BE49-F238E27FC236}">
                <a16:creationId xmlns:a16="http://schemas.microsoft.com/office/drawing/2014/main" id="{C92184BA-3FBD-5E23-D138-23E1190BD57E}"/>
              </a:ext>
            </a:extLst>
          </p:cNvPr>
          <p:cNvSpPr>
            <a:spLocks noGrp="1"/>
          </p:cNvSpPr>
          <p:nvPr>
            <p:ph type="sldNum" sz="quarter" idx="10"/>
          </p:nvPr>
        </p:nvSpPr>
        <p:spPr/>
        <p:txBody>
          <a:bodyPr/>
          <a:lstStyle/>
          <a:p>
            <a:fld id="{022E43C0-6795-4B13-B37C-259C826D4B6A}" type="slidenum">
              <a:rPr kumimoji="1" lang="ja-JP" altLang="en-US" smtClean="0"/>
              <a:t>11</a:t>
            </a:fld>
            <a:endParaRPr kumimoji="1" lang="ja-JP" altLang="en-US"/>
          </a:p>
        </p:txBody>
      </p:sp>
    </p:spTree>
    <p:extLst>
      <p:ext uri="{BB962C8B-B14F-4D97-AF65-F5344CB8AC3E}">
        <p14:creationId xmlns:p14="http://schemas.microsoft.com/office/powerpoint/2010/main" val="783841727"/>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A609F94-460F-5A9A-D53E-BD9AF25C6006}"/>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0880BBC6-A0FB-42D9-3A8A-800D9E47CF3F}"/>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87DCB781-2099-65DC-EA96-CC827630AFBE}"/>
              </a:ext>
            </a:extLst>
          </p:cNvPr>
          <p:cNvSpPr>
            <a:spLocks noGrp="1"/>
          </p:cNvSpPr>
          <p:nvPr>
            <p:ph type="body" idx="1"/>
          </p:nvPr>
        </p:nvSpPr>
        <p:spPr/>
        <p:txBody>
          <a:bodyPr/>
          <a:lstStyle/>
          <a:p>
            <a:endParaRPr kumimoji="1" lang="ja-JP" altLang="en-US" dirty="0"/>
          </a:p>
        </p:txBody>
      </p:sp>
      <p:sp>
        <p:nvSpPr>
          <p:cNvPr id="4" name="スライド番号プレースホルダー 3">
            <a:extLst>
              <a:ext uri="{FF2B5EF4-FFF2-40B4-BE49-F238E27FC236}">
                <a16:creationId xmlns:a16="http://schemas.microsoft.com/office/drawing/2014/main" id="{372154FB-F3CF-6922-2040-70A35BD97D62}"/>
              </a:ext>
            </a:extLst>
          </p:cNvPr>
          <p:cNvSpPr>
            <a:spLocks noGrp="1"/>
          </p:cNvSpPr>
          <p:nvPr>
            <p:ph type="sldNum" sz="quarter" idx="10"/>
          </p:nvPr>
        </p:nvSpPr>
        <p:spPr/>
        <p:txBody>
          <a:bodyPr/>
          <a:lstStyle/>
          <a:p>
            <a:fld id="{022E43C0-6795-4B13-B37C-259C826D4B6A}" type="slidenum">
              <a:rPr kumimoji="1" lang="ja-JP" altLang="en-US" smtClean="0"/>
              <a:t>12</a:t>
            </a:fld>
            <a:endParaRPr kumimoji="1" lang="ja-JP" altLang="en-US"/>
          </a:p>
        </p:txBody>
      </p:sp>
    </p:spTree>
    <p:extLst>
      <p:ext uri="{BB962C8B-B14F-4D97-AF65-F5344CB8AC3E}">
        <p14:creationId xmlns:p14="http://schemas.microsoft.com/office/powerpoint/2010/main" val="1023598957"/>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F98DFB9-1A0E-AC56-86AB-C554ECA59076}"/>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16E74640-8F62-6E74-5A21-E69A7415BF61}"/>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A566DD76-369D-9DB0-5CDC-B936C94EBB6D}"/>
              </a:ext>
            </a:extLst>
          </p:cNvPr>
          <p:cNvSpPr>
            <a:spLocks noGrp="1"/>
          </p:cNvSpPr>
          <p:nvPr>
            <p:ph type="body" idx="1"/>
          </p:nvPr>
        </p:nvSpPr>
        <p:spPr/>
        <p:txBody>
          <a:bodyPr/>
          <a:lstStyle/>
          <a:p>
            <a:endParaRPr kumimoji="1" lang="ja-JP" altLang="en-US" dirty="0"/>
          </a:p>
        </p:txBody>
      </p:sp>
      <p:sp>
        <p:nvSpPr>
          <p:cNvPr id="4" name="スライド番号プレースホルダー 3">
            <a:extLst>
              <a:ext uri="{FF2B5EF4-FFF2-40B4-BE49-F238E27FC236}">
                <a16:creationId xmlns:a16="http://schemas.microsoft.com/office/drawing/2014/main" id="{AAB7A0C4-A336-4C2C-E97A-0E6D7798D43D}"/>
              </a:ext>
            </a:extLst>
          </p:cNvPr>
          <p:cNvSpPr>
            <a:spLocks noGrp="1"/>
          </p:cNvSpPr>
          <p:nvPr>
            <p:ph type="sldNum" sz="quarter" idx="10"/>
          </p:nvPr>
        </p:nvSpPr>
        <p:spPr/>
        <p:txBody>
          <a:bodyPr/>
          <a:lstStyle/>
          <a:p>
            <a:fld id="{022E43C0-6795-4B13-B37C-259C826D4B6A}" type="slidenum">
              <a:rPr kumimoji="1" lang="ja-JP" altLang="en-US" smtClean="0"/>
              <a:t>13</a:t>
            </a:fld>
            <a:endParaRPr kumimoji="1" lang="ja-JP" altLang="en-US"/>
          </a:p>
        </p:txBody>
      </p:sp>
    </p:spTree>
    <p:extLst>
      <p:ext uri="{BB962C8B-B14F-4D97-AF65-F5344CB8AC3E}">
        <p14:creationId xmlns:p14="http://schemas.microsoft.com/office/powerpoint/2010/main" val="2949648654"/>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C2C3D0E-521D-4421-8E6F-5B072E39273D}"/>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8DA4E99E-E573-FB69-824A-6A64B973F185}"/>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3C7418EF-CD86-6501-70F8-B9DD0191527F}"/>
              </a:ext>
            </a:extLst>
          </p:cNvPr>
          <p:cNvSpPr>
            <a:spLocks noGrp="1"/>
          </p:cNvSpPr>
          <p:nvPr>
            <p:ph type="body" idx="1"/>
          </p:nvPr>
        </p:nvSpPr>
        <p:spPr/>
        <p:txBody>
          <a:bodyPr/>
          <a:lstStyle/>
          <a:p>
            <a:endParaRPr kumimoji="1" lang="ja-JP" altLang="en-US" dirty="0"/>
          </a:p>
        </p:txBody>
      </p:sp>
      <p:sp>
        <p:nvSpPr>
          <p:cNvPr id="4" name="スライド番号プレースホルダー 3">
            <a:extLst>
              <a:ext uri="{FF2B5EF4-FFF2-40B4-BE49-F238E27FC236}">
                <a16:creationId xmlns:a16="http://schemas.microsoft.com/office/drawing/2014/main" id="{3CB86D95-C452-2BDC-5841-170929F80D7E}"/>
              </a:ext>
            </a:extLst>
          </p:cNvPr>
          <p:cNvSpPr>
            <a:spLocks noGrp="1"/>
          </p:cNvSpPr>
          <p:nvPr>
            <p:ph type="sldNum" sz="quarter" idx="10"/>
          </p:nvPr>
        </p:nvSpPr>
        <p:spPr/>
        <p:txBody>
          <a:bodyPr/>
          <a:lstStyle/>
          <a:p>
            <a:fld id="{022E43C0-6795-4B13-B37C-259C826D4B6A}" type="slidenum">
              <a:rPr kumimoji="1" lang="ja-JP" altLang="en-US" smtClean="0"/>
              <a:t>14</a:t>
            </a:fld>
            <a:endParaRPr kumimoji="1" lang="ja-JP" altLang="en-US"/>
          </a:p>
        </p:txBody>
      </p:sp>
    </p:spTree>
    <p:extLst>
      <p:ext uri="{BB962C8B-B14F-4D97-AF65-F5344CB8AC3E}">
        <p14:creationId xmlns:p14="http://schemas.microsoft.com/office/powerpoint/2010/main" val="3994786465"/>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A11E9D4-0876-C25C-8529-8B74AB559B8E}"/>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5CF43F49-5B7A-3752-251E-82690E66FE6F}"/>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35863D13-39F9-D392-9C29-D9EAD3D1EA4D}"/>
              </a:ext>
            </a:extLst>
          </p:cNvPr>
          <p:cNvSpPr>
            <a:spLocks noGrp="1"/>
          </p:cNvSpPr>
          <p:nvPr>
            <p:ph type="body" idx="1"/>
          </p:nvPr>
        </p:nvSpPr>
        <p:spPr/>
        <p:txBody>
          <a:bodyPr/>
          <a:lstStyle/>
          <a:p>
            <a:endParaRPr kumimoji="1" lang="ja-JP" altLang="en-US" dirty="0"/>
          </a:p>
        </p:txBody>
      </p:sp>
      <p:sp>
        <p:nvSpPr>
          <p:cNvPr id="4" name="スライド番号プレースホルダー 3">
            <a:extLst>
              <a:ext uri="{FF2B5EF4-FFF2-40B4-BE49-F238E27FC236}">
                <a16:creationId xmlns:a16="http://schemas.microsoft.com/office/drawing/2014/main" id="{073CE111-A992-AC9F-119C-E1210F4D3DD7}"/>
              </a:ext>
            </a:extLst>
          </p:cNvPr>
          <p:cNvSpPr>
            <a:spLocks noGrp="1"/>
          </p:cNvSpPr>
          <p:nvPr>
            <p:ph type="sldNum" sz="quarter" idx="10"/>
          </p:nvPr>
        </p:nvSpPr>
        <p:spPr/>
        <p:txBody>
          <a:bodyPr/>
          <a:lstStyle/>
          <a:p>
            <a:fld id="{022E43C0-6795-4B13-B37C-259C826D4B6A}" type="slidenum">
              <a:rPr kumimoji="1" lang="ja-JP" altLang="en-US" smtClean="0"/>
              <a:t>15</a:t>
            </a:fld>
            <a:endParaRPr kumimoji="1" lang="ja-JP" altLang="en-US"/>
          </a:p>
        </p:txBody>
      </p:sp>
    </p:spTree>
    <p:extLst>
      <p:ext uri="{BB962C8B-B14F-4D97-AF65-F5344CB8AC3E}">
        <p14:creationId xmlns:p14="http://schemas.microsoft.com/office/powerpoint/2010/main" val="1158505943"/>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5A66D97-D2AE-47E8-CEF6-DF7B01DBF3CE}"/>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E17462C0-C3A5-BB88-91F7-226AFC224479}"/>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BD40E553-EB2C-9ACD-C50F-CC21DD6D00AF}"/>
              </a:ext>
            </a:extLst>
          </p:cNvPr>
          <p:cNvSpPr>
            <a:spLocks noGrp="1"/>
          </p:cNvSpPr>
          <p:nvPr>
            <p:ph type="body" idx="1"/>
          </p:nvPr>
        </p:nvSpPr>
        <p:spPr/>
        <p:txBody>
          <a:bodyPr/>
          <a:lstStyle/>
          <a:p>
            <a:endParaRPr kumimoji="1" lang="ja-JP" altLang="en-US" dirty="0"/>
          </a:p>
        </p:txBody>
      </p:sp>
      <p:sp>
        <p:nvSpPr>
          <p:cNvPr id="4" name="スライド番号プレースホルダー 3">
            <a:extLst>
              <a:ext uri="{FF2B5EF4-FFF2-40B4-BE49-F238E27FC236}">
                <a16:creationId xmlns:a16="http://schemas.microsoft.com/office/drawing/2014/main" id="{D59E7342-2894-A379-2FAD-61B82347D6FE}"/>
              </a:ext>
            </a:extLst>
          </p:cNvPr>
          <p:cNvSpPr>
            <a:spLocks noGrp="1"/>
          </p:cNvSpPr>
          <p:nvPr>
            <p:ph type="sldNum" sz="quarter" idx="10"/>
          </p:nvPr>
        </p:nvSpPr>
        <p:spPr/>
        <p:txBody>
          <a:bodyPr/>
          <a:lstStyle/>
          <a:p>
            <a:fld id="{022E43C0-6795-4B13-B37C-259C826D4B6A}" type="slidenum">
              <a:rPr kumimoji="1" lang="ja-JP" altLang="en-US" smtClean="0"/>
              <a:t>16</a:t>
            </a:fld>
            <a:endParaRPr kumimoji="1" lang="ja-JP" altLang="en-US"/>
          </a:p>
        </p:txBody>
      </p:sp>
    </p:spTree>
    <p:extLst>
      <p:ext uri="{BB962C8B-B14F-4D97-AF65-F5344CB8AC3E}">
        <p14:creationId xmlns:p14="http://schemas.microsoft.com/office/powerpoint/2010/main" val="2829730440"/>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2FBE411-4324-1BAD-C78B-91DF91FD9CC3}"/>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4D549732-A76E-5601-F486-7A42B1789DE1}"/>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03275E6F-98B5-9B49-8F3C-8CAF75C8D6E9}"/>
              </a:ext>
            </a:extLst>
          </p:cNvPr>
          <p:cNvSpPr>
            <a:spLocks noGrp="1"/>
          </p:cNvSpPr>
          <p:nvPr>
            <p:ph type="body" idx="1"/>
          </p:nvPr>
        </p:nvSpPr>
        <p:spPr/>
        <p:txBody>
          <a:bodyPr/>
          <a:lstStyle/>
          <a:p>
            <a:endParaRPr kumimoji="1" lang="ja-JP" altLang="en-US" dirty="0"/>
          </a:p>
        </p:txBody>
      </p:sp>
      <p:sp>
        <p:nvSpPr>
          <p:cNvPr id="4" name="スライド番号プレースホルダー 3">
            <a:extLst>
              <a:ext uri="{FF2B5EF4-FFF2-40B4-BE49-F238E27FC236}">
                <a16:creationId xmlns:a16="http://schemas.microsoft.com/office/drawing/2014/main" id="{E553E365-D354-3F82-CA83-108FC9376A62}"/>
              </a:ext>
            </a:extLst>
          </p:cNvPr>
          <p:cNvSpPr>
            <a:spLocks noGrp="1"/>
          </p:cNvSpPr>
          <p:nvPr>
            <p:ph type="sldNum" sz="quarter" idx="10"/>
          </p:nvPr>
        </p:nvSpPr>
        <p:spPr/>
        <p:txBody>
          <a:bodyPr/>
          <a:lstStyle/>
          <a:p>
            <a:fld id="{022E43C0-6795-4B13-B37C-259C826D4B6A}" type="slidenum">
              <a:rPr kumimoji="1" lang="ja-JP" altLang="en-US" smtClean="0"/>
              <a:t>20</a:t>
            </a:fld>
            <a:endParaRPr kumimoji="1" lang="ja-JP" altLang="en-US"/>
          </a:p>
        </p:txBody>
      </p:sp>
    </p:spTree>
    <p:extLst>
      <p:ext uri="{BB962C8B-B14F-4D97-AF65-F5344CB8AC3E}">
        <p14:creationId xmlns:p14="http://schemas.microsoft.com/office/powerpoint/2010/main" val="1815591478"/>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89CAC78-50A4-F913-B3AF-274D32241D1F}"/>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47EBEBB5-128F-0CAF-8FD7-D21920916131}"/>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779E3D02-55AC-2638-9F09-898F0C8E6336}"/>
              </a:ext>
            </a:extLst>
          </p:cNvPr>
          <p:cNvSpPr>
            <a:spLocks noGrp="1"/>
          </p:cNvSpPr>
          <p:nvPr>
            <p:ph type="body" idx="1"/>
          </p:nvPr>
        </p:nvSpPr>
        <p:spPr/>
        <p:txBody>
          <a:bodyPr/>
          <a:lstStyle/>
          <a:p>
            <a:endParaRPr kumimoji="1" lang="ja-JP" altLang="en-US" dirty="0"/>
          </a:p>
        </p:txBody>
      </p:sp>
      <p:sp>
        <p:nvSpPr>
          <p:cNvPr id="4" name="スライド番号プレースホルダー 3">
            <a:extLst>
              <a:ext uri="{FF2B5EF4-FFF2-40B4-BE49-F238E27FC236}">
                <a16:creationId xmlns:a16="http://schemas.microsoft.com/office/drawing/2014/main" id="{B51B9F10-F34C-A78C-BAAF-5494CD58A784}"/>
              </a:ext>
            </a:extLst>
          </p:cNvPr>
          <p:cNvSpPr>
            <a:spLocks noGrp="1"/>
          </p:cNvSpPr>
          <p:nvPr>
            <p:ph type="sldNum" sz="quarter" idx="10"/>
          </p:nvPr>
        </p:nvSpPr>
        <p:spPr/>
        <p:txBody>
          <a:bodyPr/>
          <a:lstStyle/>
          <a:p>
            <a:fld id="{022E43C0-6795-4B13-B37C-259C826D4B6A}" type="slidenum">
              <a:rPr kumimoji="1" lang="ja-JP" altLang="en-US" smtClean="0"/>
              <a:t>21</a:t>
            </a:fld>
            <a:endParaRPr kumimoji="1" lang="ja-JP" altLang="en-US"/>
          </a:p>
        </p:txBody>
      </p:sp>
    </p:spTree>
    <p:extLst>
      <p:ext uri="{BB962C8B-B14F-4D97-AF65-F5344CB8AC3E}">
        <p14:creationId xmlns:p14="http://schemas.microsoft.com/office/powerpoint/2010/main" val="3985453895"/>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FCDBF5B-1845-D193-7974-D86F6501AAAD}"/>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B241EA19-E230-7BF9-50E1-64D71F07CF84}"/>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00FCC320-6462-2E53-372E-51E35D6A4C3A}"/>
              </a:ext>
            </a:extLst>
          </p:cNvPr>
          <p:cNvSpPr>
            <a:spLocks noGrp="1"/>
          </p:cNvSpPr>
          <p:nvPr>
            <p:ph type="body" idx="1"/>
          </p:nvPr>
        </p:nvSpPr>
        <p:spPr/>
        <p:txBody>
          <a:bodyPr/>
          <a:lstStyle/>
          <a:p>
            <a:endParaRPr kumimoji="1" lang="ja-JP" altLang="en-US" dirty="0"/>
          </a:p>
        </p:txBody>
      </p:sp>
      <p:sp>
        <p:nvSpPr>
          <p:cNvPr id="4" name="スライド番号プレースホルダー 3">
            <a:extLst>
              <a:ext uri="{FF2B5EF4-FFF2-40B4-BE49-F238E27FC236}">
                <a16:creationId xmlns:a16="http://schemas.microsoft.com/office/drawing/2014/main" id="{91D45867-3EDE-BF64-D973-FA5EA5D84F7E}"/>
              </a:ext>
            </a:extLst>
          </p:cNvPr>
          <p:cNvSpPr>
            <a:spLocks noGrp="1"/>
          </p:cNvSpPr>
          <p:nvPr>
            <p:ph type="sldNum" sz="quarter" idx="10"/>
          </p:nvPr>
        </p:nvSpPr>
        <p:spPr/>
        <p:txBody>
          <a:bodyPr/>
          <a:lstStyle/>
          <a:p>
            <a:fld id="{022E43C0-6795-4B13-B37C-259C826D4B6A}" type="slidenum">
              <a:rPr kumimoji="1" lang="ja-JP" altLang="en-US" smtClean="0"/>
              <a:t>22</a:t>
            </a:fld>
            <a:endParaRPr kumimoji="1" lang="ja-JP" altLang="en-US"/>
          </a:p>
        </p:txBody>
      </p:sp>
    </p:spTree>
    <p:extLst>
      <p:ext uri="{BB962C8B-B14F-4D97-AF65-F5344CB8AC3E}">
        <p14:creationId xmlns:p14="http://schemas.microsoft.com/office/powerpoint/2010/main" val="651499599"/>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endParaRPr kumimoji="1" lang="ja-JP" altLang="en-US" dirty="0">
              <a:solidFill>
                <a:schemeClr val="tx1">
                  <a:lumMod val="65000"/>
                  <a:lumOff val="35000"/>
                </a:schemeClr>
              </a:solidFill>
            </a:endParaRPr>
          </a:p>
        </p:txBody>
      </p:sp>
      <p:sp>
        <p:nvSpPr>
          <p:cNvPr id="4" name="スライド番号プレースホルダー 3"/>
          <p:cNvSpPr>
            <a:spLocks noGrp="1"/>
          </p:cNvSpPr>
          <p:nvPr>
            <p:ph type="sldNum" sz="quarter" idx="10"/>
          </p:nvPr>
        </p:nvSpPr>
        <p:spPr/>
        <p:txBody>
          <a:bodyPr/>
          <a:lstStyle/>
          <a:p>
            <a:fld id="{022E43C0-6795-4B13-B37C-259C826D4B6A}" type="slidenum">
              <a:rPr kumimoji="1" lang="ja-JP" altLang="en-US" smtClean="0"/>
              <a:t>33</a:t>
            </a:fld>
            <a:endParaRPr kumimoji="1" lang="ja-JP" altLang="en-US"/>
          </a:p>
        </p:txBody>
      </p:sp>
    </p:spTree>
    <p:extLst>
      <p:ext uri="{BB962C8B-B14F-4D97-AF65-F5344CB8AC3E}">
        <p14:creationId xmlns:p14="http://schemas.microsoft.com/office/powerpoint/2010/main" val="1522324895"/>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endParaRPr kumimoji="1" lang="ja-JP" altLang="en-US" dirty="0"/>
          </a:p>
        </p:txBody>
      </p:sp>
      <p:sp>
        <p:nvSpPr>
          <p:cNvPr id="4" name="スライド番号プレースホルダー 3"/>
          <p:cNvSpPr>
            <a:spLocks noGrp="1"/>
          </p:cNvSpPr>
          <p:nvPr>
            <p:ph type="sldNum" sz="quarter" idx="10"/>
          </p:nvPr>
        </p:nvSpPr>
        <p:spPr/>
        <p:txBody>
          <a:bodyPr/>
          <a:lstStyle/>
          <a:p>
            <a:fld id="{022E43C0-6795-4B13-B37C-259C826D4B6A}" type="slidenum">
              <a:rPr kumimoji="1" lang="ja-JP" altLang="en-US" smtClean="0"/>
              <a:t>34</a:t>
            </a:fld>
            <a:endParaRPr kumimoji="1" lang="ja-JP" altLang="en-US"/>
          </a:p>
        </p:txBody>
      </p:sp>
    </p:spTree>
    <p:extLst>
      <p:ext uri="{BB962C8B-B14F-4D97-AF65-F5344CB8AC3E}">
        <p14:creationId xmlns:p14="http://schemas.microsoft.com/office/powerpoint/2010/main" val="1835064419"/>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2DB6ADA-9EE0-91AA-01F0-865797FB3369}"/>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E48D7824-B497-EEC9-3C27-6A309145FC0A}"/>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A893DCE5-B0D5-3EB2-202E-F260807F7109}"/>
              </a:ext>
            </a:extLst>
          </p:cNvPr>
          <p:cNvSpPr>
            <a:spLocks noGrp="1"/>
          </p:cNvSpPr>
          <p:nvPr>
            <p:ph type="body" idx="1"/>
          </p:nvPr>
        </p:nvSpPr>
        <p:spPr/>
        <p:txBody>
          <a:bodyPr/>
          <a:lstStyle/>
          <a:p>
            <a:endParaRPr kumimoji="1" lang="ja-JP" altLang="en-US" dirty="0"/>
          </a:p>
        </p:txBody>
      </p:sp>
      <p:sp>
        <p:nvSpPr>
          <p:cNvPr id="4" name="スライド番号プレースホルダー 3">
            <a:extLst>
              <a:ext uri="{FF2B5EF4-FFF2-40B4-BE49-F238E27FC236}">
                <a16:creationId xmlns:a16="http://schemas.microsoft.com/office/drawing/2014/main" id="{F8AE7A32-4756-AD3E-9E41-6DB0BE31AC45}"/>
              </a:ext>
            </a:extLst>
          </p:cNvPr>
          <p:cNvSpPr>
            <a:spLocks noGrp="1"/>
          </p:cNvSpPr>
          <p:nvPr>
            <p:ph type="sldNum" sz="quarter" idx="10"/>
          </p:nvPr>
        </p:nvSpPr>
        <p:spPr/>
        <p:txBody>
          <a:bodyPr/>
          <a:lstStyle/>
          <a:p>
            <a:fld id="{022E43C0-6795-4B13-B37C-259C826D4B6A}" type="slidenum">
              <a:rPr kumimoji="1" lang="ja-JP" altLang="en-US" smtClean="0"/>
              <a:t>35</a:t>
            </a:fld>
            <a:endParaRPr kumimoji="1" lang="ja-JP" altLang="en-US"/>
          </a:p>
        </p:txBody>
      </p:sp>
    </p:spTree>
    <p:extLst>
      <p:ext uri="{BB962C8B-B14F-4D97-AF65-F5344CB8AC3E}">
        <p14:creationId xmlns:p14="http://schemas.microsoft.com/office/powerpoint/2010/main" val="3226146832"/>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endParaRPr kumimoji="1" lang="ja-JP" altLang="en-US" dirty="0"/>
          </a:p>
        </p:txBody>
      </p:sp>
      <p:sp>
        <p:nvSpPr>
          <p:cNvPr id="4" name="スライド番号プレースホルダー 3"/>
          <p:cNvSpPr>
            <a:spLocks noGrp="1"/>
          </p:cNvSpPr>
          <p:nvPr>
            <p:ph type="sldNum" sz="quarter" idx="10"/>
          </p:nvPr>
        </p:nvSpPr>
        <p:spPr/>
        <p:txBody>
          <a:bodyPr/>
          <a:lstStyle/>
          <a:p>
            <a:fld id="{022E43C0-6795-4B13-B37C-259C826D4B6A}" type="slidenum">
              <a:rPr kumimoji="1" lang="ja-JP" altLang="en-US" smtClean="0"/>
              <a:t>36</a:t>
            </a:fld>
            <a:endParaRPr kumimoji="1" lang="ja-JP" altLang="en-US"/>
          </a:p>
        </p:txBody>
      </p:sp>
    </p:spTree>
    <p:extLst>
      <p:ext uri="{BB962C8B-B14F-4D97-AF65-F5344CB8AC3E}">
        <p14:creationId xmlns:p14="http://schemas.microsoft.com/office/powerpoint/2010/main" val="3717622456"/>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6EE855B-5535-79F7-D3A0-C0A506787C8C}"/>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3C6FB8FB-0888-2275-ABE8-A13FDAA10E3F}"/>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2D71EA6C-9577-A559-064D-4DE5700FB2FB}"/>
              </a:ext>
            </a:extLst>
          </p:cNvPr>
          <p:cNvSpPr>
            <a:spLocks noGrp="1"/>
          </p:cNvSpPr>
          <p:nvPr>
            <p:ph type="body" idx="1"/>
          </p:nvPr>
        </p:nvSpPr>
        <p:spPr/>
        <p:txBody>
          <a:bodyPr/>
          <a:lstStyle/>
          <a:p>
            <a:endParaRPr kumimoji="1" lang="ja-JP" altLang="en-US" dirty="0"/>
          </a:p>
        </p:txBody>
      </p:sp>
      <p:sp>
        <p:nvSpPr>
          <p:cNvPr id="4" name="スライド番号プレースホルダー 3">
            <a:extLst>
              <a:ext uri="{FF2B5EF4-FFF2-40B4-BE49-F238E27FC236}">
                <a16:creationId xmlns:a16="http://schemas.microsoft.com/office/drawing/2014/main" id="{A1C4F904-4503-6BD1-FC32-6AA038134FF0}"/>
              </a:ext>
            </a:extLst>
          </p:cNvPr>
          <p:cNvSpPr>
            <a:spLocks noGrp="1"/>
          </p:cNvSpPr>
          <p:nvPr>
            <p:ph type="sldNum" sz="quarter" idx="10"/>
          </p:nvPr>
        </p:nvSpPr>
        <p:spPr/>
        <p:txBody>
          <a:bodyPr/>
          <a:lstStyle/>
          <a:p>
            <a:fld id="{022E43C0-6795-4B13-B37C-259C826D4B6A}" type="slidenum">
              <a:rPr kumimoji="1" lang="ja-JP" altLang="en-US" smtClean="0"/>
              <a:t>38</a:t>
            </a:fld>
            <a:endParaRPr kumimoji="1" lang="ja-JP" altLang="en-US"/>
          </a:p>
        </p:txBody>
      </p:sp>
    </p:spTree>
    <p:extLst>
      <p:ext uri="{BB962C8B-B14F-4D97-AF65-F5344CB8AC3E}">
        <p14:creationId xmlns:p14="http://schemas.microsoft.com/office/powerpoint/2010/main" val="247953808"/>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endParaRPr kumimoji="1" lang="ja-JP" altLang="en-US" dirty="0"/>
          </a:p>
        </p:txBody>
      </p:sp>
      <p:sp>
        <p:nvSpPr>
          <p:cNvPr id="4" name="スライド番号プレースホルダー 3"/>
          <p:cNvSpPr>
            <a:spLocks noGrp="1"/>
          </p:cNvSpPr>
          <p:nvPr>
            <p:ph type="sldNum" sz="quarter" idx="10"/>
          </p:nvPr>
        </p:nvSpPr>
        <p:spPr/>
        <p:txBody>
          <a:bodyPr/>
          <a:lstStyle/>
          <a:p>
            <a:fld id="{022E43C0-6795-4B13-B37C-259C826D4B6A}" type="slidenum">
              <a:rPr kumimoji="1" lang="ja-JP" altLang="en-US" smtClean="0"/>
              <a:t>39</a:t>
            </a:fld>
            <a:endParaRPr kumimoji="1" lang="ja-JP" altLang="en-US"/>
          </a:p>
        </p:txBody>
      </p:sp>
    </p:spTree>
    <p:extLst>
      <p:ext uri="{BB962C8B-B14F-4D97-AF65-F5344CB8AC3E}">
        <p14:creationId xmlns:p14="http://schemas.microsoft.com/office/powerpoint/2010/main" val="2985424840"/>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endParaRPr kumimoji="1" lang="ja-JP" altLang="en-US" dirty="0"/>
          </a:p>
        </p:txBody>
      </p:sp>
      <p:sp>
        <p:nvSpPr>
          <p:cNvPr id="4" name="スライド番号プレースホルダー 3"/>
          <p:cNvSpPr>
            <a:spLocks noGrp="1"/>
          </p:cNvSpPr>
          <p:nvPr>
            <p:ph type="sldNum" sz="quarter" idx="10"/>
          </p:nvPr>
        </p:nvSpPr>
        <p:spPr/>
        <p:txBody>
          <a:bodyPr/>
          <a:lstStyle/>
          <a:p>
            <a:fld id="{022E43C0-6795-4B13-B37C-259C826D4B6A}" type="slidenum">
              <a:rPr kumimoji="1" lang="ja-JP" altLang="en-US" smtClean="0"/>
              <a:t>40</a:t>
            </a:fld>
            <a:endParaRPr kumimoji="1" lang="ja-JP" altLang="en-US"/>
          </a:p>
        </p:txBody>
      </p:sp>
    </p:spTree>
    <p:extLst>
      <p:ext uri="{BB962C8B-B14F-4D97-AF65-F5344CB8AC3E}">
        <p14:creationId xmlns:p14="http://schemas.microsoft.com/office/powerpoint/2010/main" val="2370526446"/>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8BED428-D571-14FF-D396-D7175DA0FB54}"/>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D271AB2A-80AE-D1AA-E70B-86CDF9350544}"/>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6C0C2926-5D95-6624-6AD9-E45C5528979C}"/>
              </a:ext>
            </a:extLst>
          </p:cNvPr>
          <p:cNvSpPr>
            <a:spLocks noGrp="1"/>
          </p:cNvSpPr>
          <p:nvPr>
            <p:ph type="body" idx="1"/>
          </p:nvPr>
        </p:nvSpPr>
        <p:spPr/>
        <p:txBody>
          <a:bodyPr/>
          <a:lstStyle/>
          <a:p>
            <a:endParaRPr kumimoji="1" lang="ja-JP" altLang="en-US" dirty="0"/>
          </a:p>
        </p:txBody>
      </p:sp>
      <p:sp>
        <p:nvSpPr>
          <p:cNvPr id="4" name="スライド番号プレースホルダー 3">
            <a:extLst>
              <a:ext uri="{FF2B5EF4-FFF2-40B4-BE49-F238E27FC236}">
                <a16:creationId xmlns:a16="http://schemas.microsoft.com/office/drawing/2014/main" id="{0B6DFD87-0439-882A-B65E-9CEE51F20332}"/>
              </a:ext>
            </a:extLst>
          </p:cNvPr>
          <p:cNvSpPr>
            <a:spLocks noGrp="1"/>
          </p:cNvSpPr>
          <p:nvPr>
            <p:ph type="sldNum" sz="quarter" idx="10"/>
          </p:nvPr>
        </p:nvSpPr>
        <p:spPr/>
        <p:txBody>
          <a:bodyPr/>
          <a:lstStyle/>
          <a:p>
            <a:fld id="{022E43C0-6795-4B13-B37C-259C826D4B6A}" type="slidenum">
              <a:rPr kumimoji="1" lang="ja-JP" altLang="en-US" smtClean="0"/>
              <a:t>41</a:t>
            </a:fld>
            <a:endParaRPr kumimoji="1" lang="ja-JP" altLang="en-US"/>
          </a:p>
        </p:txBody>
      </p:sp>
    </p:spTree>
    <p:extLst>
      <p:ext uri="{BB962C8B-B14F-4D97-AF65-F5344CB8AC3E}">
        <p14:creationId xmlns:p14="http://schemas.microsoft.com/office/powerpoint/2010/main" val="1101405369"/>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7A7E86F-A6D1-E87A-0CDF-967B15A6E033}"/>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2EB2A411-33D2-6528-1C93-D186B1984948}"/>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86218984-9375-B358-47D3-58B36CCF8DAE}"/>
              </a:ext>
            </a:extLst>
          </p:cNvPr>
          <p:cNvSpPr>
            <a:spLocks noGrp="1"/>
          </p:cNvSpPr>
          <p:nvPr>
            <p:ph type="body" idx="1"/>
          </p:nvPr>
        </p:nvSpPr>
        <p:spPr/>
        <p:txBody>
          <a:bodyPr/>
          <a:lstStyle/>
          <a:p>
            <a:endParaRPr kumimoji="1" lang="ja-JP" altLang="en-US" dirty="0"/>
          </a:p>
        </p:txBody>
      </p:sp>
      <p:sp>
        <p:nvSpPr>
          <p:cNvPr id="4" name="スライド番号プレースホルダー 3">
            <a:extLst>
              <a:ext uri="{FF2B5EF4-FFF2-40B4-BE49-F238E27FC236}">
                <a16:creationId xmlns:a16="http://schemas.microsoft.com/office/drawing/2014/main" id="{51F039DC-7BEC-8764-B0DE-E4A154E5A1A8}"/>
              </a:ext>
            </a:extLst>
          </p:cNvPr>
          <p:cNvSpPr>
            <a:spLocks noGrp="1"/>
          </p:cNvSpPr>
          <p:nvPr>
            <p:ph type="sldNum" sz="quarter" idx="10"/>
          </p:nvPr>
        </p:nvSpPr>
        <p:spPr/>
        <p:txBody>
          <a:bodyPr/>
          <a:lstStyle/>
          <a:p>
            <a:fld id="{022E43C0-6795-4B13-B37C-259C826D4B6A}" type="slidenum">
              <a:rPr kumimoji="1" lang="ja-JP" altLang="en-US" smtClean="0"/>
              <a:t>43</a:t>
            </a:fld>
            <a:endParaRPr kumimoji="1" lang="ja-JP" altLang="en-US"/>
          </a:p>
        </p:txBody>
      </p:sp>
    </p:spTree>
    <p:extLst>
      <p:ext uri="{BB962C8B-B14F-4D97-AF65-F5344CB8AC3E}">
        <p14:creationId xmlns:p14="http://schemas.microsoft.com/office/powerpoint/2010/main" val="239023445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endParaRPr kumimoji="1" lang="ja-JP" altLang="en-US"/>
          </a:p>
        </p:txBody>
      </p:sp>
      <p:sp>
        <p:nvSpPr>
          <p:cNvPr id="4" name="フッター プレースホルダー 3"/>
          <p:cNvSpPr>
            <a:spLocks noGrp="1"/>
          </p:cNvSpPr>
          <p:nvPr>
            <p:ph type="ftr" sz="quarter" idx="10"/>
          </p:nvPr>
        </p:nvSpPr>
        <p:spPr/>
        <p:txBody>
          <a:bodyPr/>
          <a:lstStyle/>
          <a:p>
            <a:pPr defTabSz="956886">
              <a:defRPr/>
            </a:pPr>
            <a:endParaRPr lang="ja-JP" altLang="en-US">
              <a:solidFill>
                <a:prstClr val="black"/>
              </a:solidFill>
              <a:latin typeface="Calibri"/>
              <a:ea typeface="ＭＳ Ｐゴシック" panose="020B0600070205080204" pitchFamily="50" charset="-128"/>
            </a:endParaRPr>
          </a:p>
        </p:txBody>
      </p:sp>
      <p:sp>
        <p:nvSpPr>
          <p:cNvPr id="5" name="スライド番号プレースホルダー 4"/>
          <p:cNvSpPr>
            <a:spLocks noGrp="1"/>
          </p:cNvSpPr>
          <p:nvPr>
            <p:ph type="sldNum" sz="quarter" idx="11"/>
          </p:nvPr>
        </p:nvSpPr>
        <p:spPr/>
        <p:txBody>
          <a:bodyPr/>
          <a:lstStyle/>
          <a:p>
            <a:pPr defTabSz="956886">
              <a:defRPr/>
            </a:pPr>
            <a:fld id="{929202D6-C1F5-472A-A72F-285F233F82C2}" type="slidenum">
              <a:rPr lang="ja-JP" altLang="en-US">
                <a:solidFill>
                  <a:prstClr val="black"/>
                </a:solidFill>
                <a:latin typeface="Calibri"/>
                <a:ea typeface="ＭＳ Ｐゴシック" panose="020B0600070205080204" pitchFamily="50" charset="-128"/>
              </a:rPr>
              <a:pPr defTabSz="956886">
                <a:defRPr/>
              </a:pPr>
              <a:t>52</a:t>
            </a:fld>
            <a:endParaRPr lang="ja-JP" altLang="en-US">
              <a:solidFill>
                <a:prstClr val="black"/>
              </a:solidFill>
              <a:latin typeface="Calibri"/>
              <a:ea typeface="ＭＳ Ｐゴシック" panose="020B0600070205080204" pitchFamily="50" charset="-128"/>
            </a:endParaRPr>
          </a:p>
        </p:txBody>
      </p:sp>
    </p:spTree>
    <p:extLst>
      <p:ext uri="{BB962C8B-B14F-4D97-AF65-F5344CB8AC3E}">
        <p14:creationId xmlns:p14="http://schemas.microsoft.com/office/powerpoint/2010/main" val="37920873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2_タイトルとコンテンツ">
    <p:spTree>
      <p:nvGrpSpPr>
        <p:cNvPr id="1" name=""/>
        <p:cNvGrpSpPr/>
        <p:nvPr/>
      </p:nvGrpSpPr>
      <p:grpSpPr>
        <a:xfrm>
          <a:off x="0" y="0"/>
          <a:ext cx="0" cy="0"/>
          <a:chOff x="0" y="0"/>
          <a:chExt cx="0" cy="0"/>
        </a:xfrm>
      </p:grpSpPr>
      <p:sp>
        <p:nvSpPr>
          <p:cNvPr id="2" name="正方形/長方形 1"/>
          <p:cNvSpPr/>
          <p:nvPr userDrawn="1"/>
        </p:nvSpPr>
        <p:spPr>
          <a:xfrm>
            <a:off x="9398000" y="6591300"/>
            <a:ext cx="419100" cy="266700"/>
          </a:xfrm>
          <a:prstGeom prst="rect">
            <a:avLst/>
          </a:prstGeom>
          <a:solidFill>
            <a:srgbClr val="191F5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Tree>
    <p:extLst>
      <p:ext uri="{BB962C8B-B14F-4D97-AF65-F5344CB8AC3E}">
        <p14:creationId xmlns:p14="http://schemas.microsoft.com/office/powerpoint/2010/main" val="2758107768"/>
      </p:ext>
    </p:extLst>
  </p:cSld>
  <p:clrMapOvr>
    <a:masterClrMapping/>
  </p:clrMapOvr>
  <p:hf hdr="0" dt="0"/>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4_タイトルとコンテンツ">
    <p:spTree>
      <p:nvGrpSpPr>
        <p:cNvPr id="1" name=""/>
        <p:cNvGrpSpPr/>
        <p:nvPr/>
      </p:nvGrpSpPr>
      <p:grpSpPr>
        <a:xfrm>
          <a:off x="0" y="0"/>
          <a:ext cx="0" cy="0"/>
          <a:chOff x="0" y="0"/>
          <a:chExt cx="0" cy="0"/>
        </a:xfrm>
      </p:grpSpPr>
      <p:cxnSp>
        <p:nvCxnSpPr>
          <p:cNvPr id="5" name="直線コネクタ 4"/>
          <p:cNvCxnSpPr/>
          <p:nvPr/>
        </p:nvCxnSpPr>
        <p:spPr>
          <a:xfrm>
            <a:off x="0" y="548680"/>
            <a:ext cx="9906000" cy="0"/>
          </a:xfrm>
          <a:prstGeom prst="line">
            <a:avLst/>
          </a:prstGeom>
          <a:ln>
            <a:solidFill>
              <a:srgbClr val="191F54"/>
            </a:solidFill>
          </a:ln>
          <a:effectLst/>
        </p:spPr>
        <p:style>
          <a:lnRef idx="2">
            <a:schemeClr val="accent1"/>
          </a:lnRef>
          <a:fillRef idx="0">
            <a:schemeClr val="accent1"/>
          </a:fillRef>
          <a:effectRef idx="1">
            <a:schemeClr val="accent1"/>
          </a:effectRef>
          <a:fontRef idx="minor">
            <a:schemeClr val="tx1"/>
          </a:fontRef>
        </p:style>
      </p:cxnSp>
      <p:sp>
        <p:nvSpPr>
          <p:cNvPr id="7" name="正方形/長方形 6"/>
          <p:cNvSpPr/>
          <p:nvPr/>
        </p:nvSpPr>
        <p:spPr>
          <a:xfrm>
            <a:off x="0" y="0"/>
            <a:ext cx="451204" cy="548680"/>
          </a:xfrm>
          <a:prstGeom prst="rect">
            <a:avLst/>
          </a:prstGeom>
          <a:solidFill>
            <a:srgbClr val="191F5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ja-JP" altLang="en-US" sz="1800">
              <a:solidFill>
                <a:prstClr val="white"/>
              </a:solidFill>
            </a:endParaRPr>
          </a:p>
        </p:txBody>
      </p:sp>
    </p:spTree>
    <p:extLst>
      <p:ext uri="{BB962C8B-B14F-4D97-AF65-F5344CB8AC3E}">
        <p14:creationId xmlns:p14="http://schemas.microsoft.com/office/powerpoint/2010/main" val="1958189266"/>
      </p:ext>
    </p:extLst>
  </p:cSld>
  <p:clrMapOvr>
    <a:masterClrMapping/>
  </p:clrMapOvr>
  <p:hf hdr="0" dt="0"/>
</p:sldLayout>
</file>

<file path=ppt/slideLayouts/slideLayout3.xml><?xml version="1.0" encoding="utf-8"?>
<p:sldLayout xmlns:a="http://schemas.openxmlformats.org/drawingml/2006/main" xmlns:r="http://schemas.openxmlformats.org/officeDocument/2006/relationships" xmlns:p="http://schemas.openxmlformats.org/presentationml/2006/main" userDrawn="1">
  <p:cSld name="1_タイトル スライド">
    <p:spTree>
      <p:nvGrpSpPr>
        <p:cNvPr id="1" name=""/>
        <p:cNvGrpSpPr/>
        <p:nvPr/>
      </p:nvGrpSpPr>
      <p:grpSpPr>
        <a:xfrm>
          <a:off x="0" y="0"/>
          <a:ext cx="0" cy="0"/>
          <a:chOff x="0" y="0"/>
          <a:chExt cx="0" cy="0"/>
        </a:xfrm>
      </p:grpSpPr>
    </p:spTree>
    <p:extLst>
      <p:ext uri="{BB962C8B-B14F-4D97-AF65-F5344CB8AC3E}">
        <p14:creationId xmlns:p14="http://schemas.microsoft.com/office/powerpoint/2010/main" val="3785212341"/>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 Id="rId5" Type="http://schemas.openxmlformats.org/officeDocument/2006/relationships/image" Target="../media/image1.png"/><Relationship Id="rId6" Type="http://schemas.openxmlformats.org/officeDocument/2006/relationships/image" Target="../media/image2.png"/></Relationships>
</file>

<file path=ppt/slideMasters/_rels/slideMaster2.xml.rels><?xml version='1.0' encoding='UTF-8' standalone='yes'?>
<Relationships xmlns="http://schemas.openxmlformats.org/package/2006/relationships"><Relationship Id="rId1" Type="http://schemas.openxmlformats.org/officeDocument/2006/relationships/theme" Target="../theme/theme2.xml"/><Relationship Id="rId2" Type="http://schemas.openxmlformats.org/officeDocument/2006/relationships/image" Target="../media/image3.emf"/></Relationships>
</file>

<file path=ppt/slideMasters/slideMaster1.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pic>
        <p:nvPicPr>
          <p:cNvPr id="2" name="図 1"/>
          <p:cNvPicPr>
            <a:picLocks noChangeAspect="1"/>
          </p:cNvPicPr>
          <p:nvPr/>
        </p:nvPicPr>
        <p:blipFill>
          <a:blip r:embed="rId5" cstate="print">
            <a:extLst>
              <a:ext uri="{28A0092B-C50C-407E-A947-70E740481C1C}">
                <a14:useLocalDpi xmlns:a14="http://schemas.microsoft.com/office/drawing/2010/main" val="0"/>
              </a:ext>
            </a:extLst>
          </a:blip>
          <a:stretch>
            <a:fillRect/>
          </a:stretch>
        </p:blipFill>
        <p:spPr>
          <a:xfrm>
            <a:off x="8151357" y="72255"/>
            <a:ext cx="1598627" cy="424153"/>
          </a:xfrm>
          <a:prstGeom prst="rect">
            <a:avLst/>
          </a:prstGeom>
        </p:spPr>
      </p:pic>
      <p:pic>
        <p:nvPicPr>
          <p:cNvPr id="5" name="図 4"/>
          <p:cNvPicPr>
            <a:picLocks noChangeAspect="1"/>
          </p:cNvPicPr>
          <p:nvPr/>
        </p:nvPicPr>
        <p:blipFill>
          <a:blip r:embed="rId6"/>
          <a:stretch>
            <a:fillRect/>
          </a:stretch>
        </p:blipFill>
        <p:spPr>
          <a:xfrm>
            <a:off x="8151355" y="32333"/>
            <a:ext cx="1653069" cy="635796"/>
          </a:xfrm>
          <a:prstGeom prst="rect">
            <a:avLst/>
          </a:prstGeom>
        </p:spPr>
      </p:pic>
      <p:sp>
        <p:nvSpPr>
          <p:cNvPr id="6" name="正方形/長方形 5"/>
          <p:cNvSpPr/>
          <p:nvPr/>
        </p:nvSpPr>
        <p:spPr>
          <a:xfrm>
            <a:off x="0" y="6552728"/>
            <a:ext cx="9906000" cy="332656"/>
          </a:xfrm>
          <a:prstGeom prst="rect">
            <a:avLst/>
          </a:prstGeom>
          <a:solidFill>
            <a:srgbClr val="191F5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ja-JP" altLang="en-US" sz="1800">
              <a:solidFill>
                <a:prstClr val="white"/>
              </a:solidFill>
            </a:endParaRPr>
          </a:p>
        </p:txBody>
      </p:sp>
      <p:sp>
        <p:nvSpPr>
          <p:cNvPr id="8" name="スライド番号プレースホルダ 1"/>
          <p:cNvSpPr txBox="1">
            <a:spLocks/>
          </p:cNvSpPr>
          <p:nvPr/>
        </p:nvSpPr>
        <p:spPr>
          <a:xfrm>
            <a:off x="7594600" y="6552729"/>
            <a:ext cx="2311400" cy="365125"/>
          </a:xfrm>
          <a:prstGeom prst="rect">
            <a:avLst/>
          </a:prstGeom>
        </p:spPr>
        <p:txBody>
          <a:bodyPr/>
          <a:ls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pPr algn="r"/>
            <a:fld id="{9FC100E3-15F5-4145-A942-47DB1D8B776D}" type="slidenum">
              <a:rPr lang="ja-JP" altLang="en-US" sz="1400" b="1" smtClean="0">
                <a:solidFill>
                  <a:schemeClr val="bg1"/>
                </a:solidFill>
                <a:latin typeface="メイリオ" panose="020B0604030504040204" pitchFamily="50" charset="-128"/>
                <a:ea typeface="メイリオ" panose="020B0604030504040204" pitchFamily="50" charset="-128"/>
                <a:cs typeface="メイリオ" panose="020B0604030504040204" pitchFamily="50" charset="-128"/>
              </a:rPr>
              <a:pPr algn="r"/>
              <a:t>‹#›</a:t>
            </a:fld>
            <a:endParaRPr lang="ja-JP" altLang="en-US" sz="1400" b="1" dirty="0">
              <a:solidFill>
                <a:schemeClr val="bg1"/>
              </a:solidFill>
              <a:latin typeface="メイリオ" panose="020B0604030504040204" pitchFamily="50" charset="-128"/>
              <a:ea typeface="メイリオ" panose="020B0604030504040204" pitchFamily="50" charset="-128"/>
              <a:cs typeface="メイリオ" panose="020B0604030504040204" pitchFamily="50" charset="-128"/>
            </a:endParaRPr>
          </a:p>
        </p:txBody>
      </p:sp>
      <p:sp>
        <p:nvSpPr>
          <p:cNvPr id="9" name="テキスト ボックス 8"/>
          <p:cNvSpPr txBox="1">
            <a:spLocks noChangeArrowheads="1"/>
          </p:cNvSpPr>
          <p:nvPr userDrawn="1"/>
        </p:nvSpPr>
        <p:spPr bwMode="auto">
          <a:xfrm>
            <a:off x="116569" y="6597932"/>
            <a:ext cx="3666301" cy="21544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a:defRPr kumimoji="1" sz="2400">
                <a:solidFill>
                  <a:schemeClr val="tx1"/>
                </a:solidFill>
                <a:latin typeface="Arial" charset="0"/>
                <a:ea typeface="ＭＳ Ｐゴシック" charset="0"/>
                <a:cs typeface="ＭＳ Ｐゴシック" charset="0"/>
              </a:defRPr>
            </a:lvl1pPr>
            <a:lvl2pPr marL="742950" indent="-285750">
              <a:defRPr kumimoji="1" sz="2400">
                <a:solidFill>
                  <a:schemeClr val="tx1"/>
                </a:solidFill>
                <a:latin typeface="Arial" charset="0"/>
                <a:ea typeface="ＭＳ Ｐゴシック" charset="0"/>
              </a:defRPr>
            </a:lvl2pPr>
            <a:lvl3pPr marL="1143000" indent="-228600">
              <a:defRPr kumimoji="1" sz="2400">
                <a:solidFill>
                  <a:schemeClr val="tx1"/>
                </a:solidFill>
                <a:latin typeface="Arial" charset="0"/>
                <a:ea typeface="ＭＳ Ｐゴシック" charset="0"/>
              </a:defRPr>
            </a:lvl3pPr>
            <a:lvl4pPr marL="1600200" indent="-228600">
              <a:defRPr kumimoji="1" sz="2400">
                <a:solidFill>
                  <a:schemeClr val="tx1"/>
                </a:solidFill>
                <a:latin typeface="Arial" charset="0"/>
                <a:ea typeface="ＭＳ Ｐゴシック" charset="0"/>
              </a:defRPr>
            </a:lvl4pPr>
            <a:lvl5pPr marL="2057400" indent="-228600">
              <a:defRPr kumimoji="1" sz="2400">
                <a:solidFill>
                  <a:schemeClr val="tx1"/>
                </a:solidFill>
                <a:latin typeface="Arial" charset="0"/>
                <a:ea typeface="ＭＳ Ｐゴシック" charset="0"/>
              </a:defRPr>
            </a:lvl5pPr>
            <a:lvl6pPr marL="2514600" indent="-228600" fontAlgn="base">
              <a:spcBef>
                <a:spcPct val="0"/>
              </a:spcBef>
              <a:spcAft>
                <a:spcPct val="0"/>
              </a:spcAft>
              <a:defRPr kumimoji="1" sz="2400">
                <a:solidFill>
                  <a:schemeClr val="tx1"/>
                </a:solidFill>
                <a:latin typeface="Arial" charset="0"/>
                <a:ea typeface="ＭＳ Ｐゴシック" charset="0"/>
              </a:defRPr>
            </a:lvl6pPr>
            <a:lvl7pPr marL="2971800" indent="-228600" fontAlgn="base">
              <a:spcBef>
                <a:spcPct val="0"/>
              </a:spcBef>
              <a:spcAft>
                <a:spcPct val="0"/>
              </a:spcAft>
              <a:defRPr kumimoji="1" sz="2400">
                <a:solidFill>
                  <a:schemeClr val="tx1"/>
                </a:solidFill>
                <a:latin typeface="Arial" charset="0"/>
                <a:ea typeface="ＭＳ Ｐゴシック" charset="0"/>
              </a:defRPr>
            </a:lvl7pPr>
            <a:lvl8pPr marL="3429000" indent="-228600" fontAlgn="base">
              <a:spcBef>
                <a:spcPct val="0"/>
              </a:spcBef>
              <a:spcAft>
                <a:spcPct val="0"/>
              </a:spcAft>
              <a:defRPr kumimoji="1" sz="2400">
                <a:solidFill>
                  <a:schemeClr val="tx1"/>
                </a:solidFill>
                <a:latin typeface="Arial" charset="0"/>
                <a:ea typeface="ＭＳ Ｐゴシック" charset="0"/>
              </a:defRPr>
            </a:lvl8pPr>
            <a:lvl9pPr marL="3886200" indent="-228600" fontAlgn="base">
              <a:spcBef>
                <a:spcPct val="0"/>
              </a:spcBef>
              <a:spcAft>
                <a:spcPct val="0"/>
              </a:spcAft>
              <a:defRPr kumimoji="1" sz="2400">
                <a:solidFill>
                  <a:schemeClr val="tx1"/>
                </a:solidFill>
                <a:latin typeface="Arial" charset="0"/>
                <a:ea typeface="ＭＳ Ｐゴシック" charset="0"/>
              </a:defRPr>
            </a:lvl9pPr>
          </a:lstStyle>
          <a:p>
            <a:pPr>
              <a:defRPr/>
            </a:pPr>
            <a:r>
              <a:rPr lang="en-US" altLang="ja-JP" sz="800" b="1" dirty="0">
                <a:solidFill>
                  <a:schemeClr val="bg1"/>
                </a:solidFill>
                <a:latin typeface="メイリオ"/>
                <a:ea typeface="メイリオ"/>
                <a:cs typeface="メイリオ"/>
              </a:rPr>
              <a:t>Copyright(c) DYM Co., Ltd</a:t>
            </a:r>
            <a:r>
              <a:rPr lang="ja-JP" altLang="en-US" sz="800" b="1" dirty="0" err="1">
                <a:solidFill>
                  <a:schemeClr val="bg1"/>
                </a:solidFill>
                <a:latin typeface="メイリオ"/>
                <a:ea typeface="メイリオ"/>
                <a:cs typeface="メイリオ"/>
              </a:rPr>
              <a:t>．</a:t>
            </a:r>
            <a:r>
              <a:rPr lang="en-US" altLang="ja-JP" sz="800" b="1" dirty="0">
                <a:solidFill>
                  <a:schemeClr val="bg1"/>
                </a:solidFill>
                <a:latin typeface="メイリオ"/>
                <a:ea typeface="メイリオ"/>
                <a:cs typeface="メイリオ"/>
              </a:rPr>
              <a:t> All Rights Reserved.</a:t>
            </a:r>
          </a:p>
        </p:txBody>
      </p:sp>
    </p:spTree>
    <p:extLst>
      <p:ext uri="{BB962C8B-B14F-4D97-AF65-F5344CB8AC3E}">
        <p14:creationId xmlns:p14="http://schemas.microsoft.com/office/powerpoint/2010/main" val="345870335"/>
      </p:ext>
    </p:extLst>
  </p:cSld>
  <p:clrMap bg1="lt1" tx1="dk1" bg2="lt2" tx2="dk2" accent1="accent1" accent2="accent2" accent3="accent3" accent4="accent4" accent5="accent5" accent6="accent6" hlink="hlink" folHlink="folHlink"/>
  <p:sldLayoutIdLst>
    <p:sldLayoutId id="2147483676" r:id="rId1"/>
    <p:sldLayoutId id="2147483683" r:id="rId2"/>
    <p:sldLayoutId id="2147483689" r:id="rId3"/>
  </p:sldLayoutIdLst>
  <p:hf hdr="0" dt="0"/>
  <p:txStyles>
    <p:titleStyle>
      <a:lvl1pPr algn="ctr" rtl="0" eaLnBrk="1" fontAlgn="base" hangingPunct="1">
        <a:spcBef>
          <a:spcPct val="0"/>
        </a:spcBef>
        <a:spcAft>
          <a:spcPct val="0"/>
        </a:spcAft>
        <a:defRPr kumimoji="1" sz="4400" kern="1200">
          <a:solidFill>
            <a:schemeClr val="tx1"/>
          </a:solidFill>
          <a:latin typeface="+mj-lt"/>
          <a:ea typeface="+mj-ea"/>
          <a:cs typeface="+mj-cs"/>
        </a:defRPr>
      </a:lvl1pPr>
      <a:lvl2pPr algn="ctr" rtl="0" eaLnBrk="1" fontAlgn="base" hangingPunct="1">
        <a:spcBef>
          <a:spcPct val="0"/>
        </a:spcBef>
        <a:spcAft>
          <a:spcPct val="0"/>
        </a:spcAft>
        <a:defRPr kumimoji="1" sz="4400">
          <a:solidFill>
            <a:schemeClr val="tx1"/>
          </a:solidFill>
          <a:latin typeface="Calibri" pitchFamily="34" charset="0"/>
          <a:ea typeface="ＭＳ Ｐゴシック" pitchFamily="50" charset="-128"/>
        </a:defRPr>
      </a:lvl2pPr>
      <a:lvl3pPr algn="ctr" rtl="0" eaLnBrk="1" fontAlgn="base" hangingPunct="1">
        <a:spcBef>
          <a:spcPct val="0"/>
        </a:spcBef>
        <a:spcAft>
          <a:spcPct val="0"/>
        </a:spcAft>
        <a:defRPr kumimoji="1" sz="4400">
          <a:solidFill>
            <a:schemeClr val="tx1"/>
          </a:solidFill>
          <a:latin typeface="Calibri" pitchFamily="34" charset="0"/>
          <a:ea typeface="ＭＳ Ｐゴシック" pitchFamily="50" charset="-128"/>
        </a:defRPr>
      </a:lvl3pPr>
      <a:lvl4pPr algn="ctr" rtl="0" eaLnBrk="1" fontAlgn="base" hangingPunct="1">
        <a:spcBef>
          <a:spcPct val="0"/>
        </a:spcBef>
        <a:spcAft>
          <a:spcPct val="0"/>
        </a:spcAft>
        <a:defRPr kumimoji="1" sz="4400">
          <a:solidFill>
            <a:schemeClr val="tx1"/>
          </a:solidFill>
          <a:latin typeface="Calibri" pitchFamily="34" charset="0"/>
          <a:ea typeface="ＭＳ Ｐゴシック" pitchFamily="50" charset="-128"/>
        </a:defRPr>
      </a:lvl4pPr>
      <a:lvl5pPr algn="ctr" rtl="0" eaLnBrk="1" fontAlgn="base" hangingPunct="1">
        <a:spcBef>
          <a:spcPct val="0"/>
        </a:spcBef>
        <a:spcAft>
          <a:spcPct val="0"/>
        </a:spcAft>
        <a:defRPr kumimoji="1" sz="4400">
          <a:solidFill>
            <a:schemeClr val="tx1"/>
          </a:solidFill>
          <a:latin typeface="Calibri" pitchFamily="34" charset="0"/>
          <a:ea typeface="ＭＳ Ｐゴシック" pitchFamily="50" charset="-128"/>
        </a:defRPr>
      </a:lvl5pPr>
      <a:lvl6pPr marL="457200" algn="ctr" rtl="0" eaLnBrk="1" fontAlgn="base" hangingPunct="1">
        <a:spcBef>
          <a:spcPct val="0"/>
        </a:spcBef>
        <a:spcAft>
          <a:spcPct val="0"/>
        </a:spcAft>
        <a:defRPr kumimoji="1" sz="4400">
          <a:solidFill>
            <a:schemeClr val="tx1"/>
          </a:solidFill>
          <a:latin typeface="Calibri" pitchFamily="34" charset="0"/>
          <a:ea typeface="ＭＳ Ｐゴシック" pitchFamily="50" charset="-128"/>
        </a:defRPr>
      </a:lvl6pPr>
      <a:lvl7pPr marL="914400" algn="ctr" rtl="0" eaLnBrk="1" fontAlgn="base" hangingPunct="1">
        <a:spcBef>
          <a:spcPct val="0"/>
        </a:spcBef>
        <a:spcAft>
          <a:spcPct val="0"/>
        </a:spcAft>
        <a:defRPr kumimoji="1" sz="4400">
          <a:solidFill>
            <a:schemeClr val="tx1"/>
          </a:solidFill>
          <a:latin typeface="Calibri" pitchFamily="34" charset="0"/>
          <a:ea typeface="ＭＳ Ｐゴシック" pitchFamily="50" charset="-128"/>
        </a:defRPr>
      </a:lvl7pPr>
      <a:lvl8pPr marL="1371600" algn="ctr" rtl="0" eaLnBrk="1" fontAlgn="base" hangingPunct="1">
        <a:spcBef>
          <a:spcPct val="0"/>
        </a:spcBef>
        <a:spcAft>
          <a:spcPct val="0"/>
        </a:spcAft>
        <a:defRPr kumimoji="1" sz="4400">
          <a:solidFill>
            <a:schemeClr val="tx1"/>
          </a:solidFill>
          <a:latin typeface="Calibri" pitchFamily="34" charset="0"/>
          <a:ea typeface="ＭＳ Ｐゴシック" pitchFamily="50" charset="-128"/>
        </a:defRPr>
      </a:lvl8pPr>
      <a:lvl9pPr marL="1828800" algn="ctr" rtl="0" eaLnBrk="1" fontAlgn="base" hangingPunct="1">
        <a:spcBef>
          <a:spcPct val="0"/>
        </a:spcBef>
        <a:spcAft>
          <a:spcPct val="0"/>
        </a:spcAft>
        <a:defRPr kumimoji="1" sz="4400">
          <a:solidFill>
            <a:schemeClr val="tx1"/>
          </a:solidFill>
          <a:latin typeface="Calibri" pitchFamily="34" charset="0"/>
          <a:ea typeface="ＭＳ Ｐゴシック" pitchFamily="50" charset="-128"/>
        </a:defRPr>
      </a:lvl9pPr>
    </p:titleStyle>
    <p:bodyStyle>
      <a:lvl1pPr marL="342900" indent="-342900" algn="l" rtl="0" eaLnBrk="1" fontAlgn="base" hangingPunct="1">
        <a:spcBef>
          <a:spcPct val="20000"/>
        </a:spcBef>
        <a:spcAft>
          <a:spcPct val="0"/>
        </a:spcAft>
        <a:buFont typeface="Arial" charset="0"/>
        <a:buChar char="•"/>
        <a:defRPr kumimoji="1" sz="3200" kern="1200">
          <a:solidFill>
            <a:schemeClr val="tx1"/>
          </a:solidFill>
          <a:latin typeface="+mn-lt"/>
          <a:ea typeface="+mn-ea"/>
          <a:cs typeface="+mn-cs"/>
        </a:defRPr>
      </a:lvl1pPr>
      <a:lvl2pPr marL="742950" indent="-285750" algn="l" rtl="0" eaLnBrk="1" fontAlgn="base" hangingPunct="1">
        <a:spcBef>
          <a:spcPct val="20000"/>
        </a:spcBef>
        <a:spcAft>
          <a:spcPct val="0"/>
        </a:spcAft>
        <a:buFont typeface="Arial" charset="0"/>
        <a:buChar char="–"/>
        <a:defRPr kumimoji="1" sz="2800" kern="1200">
          <a:solidFill>
            <a:schemeClr val="tx1"/>
          </a:solidFill>
          <a:latin typeface="+mn-lt"/>
          <a:ea typeface="+mn-ea"/>
          <a:cs typeface="+mn-cs"/>
        </a:defRPr>
      </a:lvl2pPr>
      <a:lvl3pPr marL="1143000" indent="-228600" algn="l" rtl="0" eaLnBrk="1" fontAlgn="base" hangingPunct="1">
        <a:spcBef>
          <a:spcPct val="20000"/>
        </a:spcBef>
        <a:spcAft>
          <a:spcPct val="0"/>
        </a:spcAft>
        <a:buFont typeface="Arial" charset="0"/>
        <a:buChar char="•"/>
        <a:defRPr kumimoji="1" sz="2400" kern="1200">
          <a:solidFill>
            <a:schemeClr val="tx1"/>
          </a:solidFill>
          <a:latin typeface="+mn-lt"/>
          <a:ea typeface="+mn-ea"/>
          <a:cs typeface="+mn-cs"/>
        </a:defRPr>
      </a:lvl3pPr>
      <a:lvl4pPr marL="1600200" indent="-228600" algn="l" rtl="0" eaLnBrk="1" fontAlgn="base" hangingPunct="1">
        <a:spcBef>
          <a:spcPct val="20000"/>
        </a:spcBef>
        <a:spcAft>
          <a:spcPct val="0"/>
        </a:spcAft>
        <a:buFont typeface="Arial" charset="0"/>
        <a:buChar char="–"/>
        <a:defRPr kumimoji="1" sz="2000" kern="1200">
          <a:solidFill>
            <a:schemeClr val="tx1"/>
          </a:solidFill>
          <a:latin typeface="+mn-lt"/>
          <a:ea typeface="+mn-ea"/>
          <a:cs typeface="+mn-cs"/>
        </a:defRPr>
      </a:lvl4pPr>
      <a:lvl5pPr marL="2057400" indent="-228600" algn="l" rtl="0" eaLnBrk="1" fontAlgn="base" hangingPunct="1">
        <a:spcBef>
          <a:spcPct val="20000"/>
        </a:spcBef>
        <a:spcAft>
          <a:spcPct val="0"/>
        </a:spcAft>
        <a:buFont typeface="Arial" charset="0"/>
        <a:buChar char="»"/>
        <a:defRPr kumimoji="1"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kumimoji="1"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kumimoji="1"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kumimoji="1"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kumimoji="1" sz="2000" kern="1200">
          <a:solidFill>
            <a:schemeClr val="tx1"/>
          </a:solidFill>
          <a:latin typeface="+mn-lt"/>
          <a:ea typeface="+mn-ea"/>
          <a:cs typeface="+mn-cs"/>
        </a:defRPr>
      </a:lvl9pPr>
    </p:bodyStyle>
    <p:other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sp>
        <p:nvSpPr>
          <p:cNvPr id="5" name="正方形/長方形 4"/>
          <p:cNvSpPr/>
          <p:nvPr/>
        </p:nvSpPr>
        <p:spPr>
          <a:xfrm>
            <a:off x="0" y="6552728"/>
            <a:ext cx="9906000" cy="332656"/>
          </a:xfrm>
          <a:prstGeom prst="rect">
            <a:avLst/>
          </a:prstGeom>
          <a:solidFill>
            <a:srgbClr val="191F5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ja-JP" altLang="en-US">
              <a:solidFill>
                <a:prstClr val="white"/>
              </a:solidFill>
            </a:endParaRPr>
          </a:p>
        </p:txBody>
      </p:sp>
      <p:sp>
        <p:nvSpPr>
          <p:cNvPr id="10" name="テキスト ボックス 9"/>
          <p:cNvSpPr txBox="1">
            <a:spLocks noChangeArrowheads="1"/>
          </p:cNvSpPr>
          <p:nvPr/>
        </p:nvSpPr>
        <p:spPr bwMode="auto">
          <a:xfrm>
            <a:off x="116569" y="6597932"/>
            <a:ext cx="3666301" cy="21544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a:defRPr kumimoji="1" sz="2400">
                <a:solidFill>
                  <a:schemeClr val="tx1"/>
                </a:solidFill>
                <a:latin typeface="Arial" charset="0"/>
                <a:ea typeface="ＭＳ Ｐゴシック" charset="0"/>
                <a:cs typeface="ＭＳ Ｐゴシック" charset="0"/>
              </a:defRPr>
            </a:lvl1pPr>
            <a:lvl2pPr marL="742950" indent="-285750">
              <a:defRPr kumimoji="1" sz="2400">
                <a:solidFill>
                  <a:schemeClr val="tx1"/>
                </a:solidFill>
                <a:latin typeface="Arial" charset="0"/>
                <a:ea typeface="ＭＳ Ｐゴシック" charset="0"/>
              </a:defRPr>
            </a:lvl2pPr>
            <a:lvl3pPr marL="1143000" indent="-228600">
              <a:defRPr kumimoji="1" sz="2400">
                <a:solidFill>
                  <a:schemeClr val="tx1"/>
                </a:solidFill>
                <a:latin typeface="Arial" charset="0"/>
                <a:ea typeface="ＭＳ Ｐゴシック" charset="0"/>
              </a:defRPr>
            </a:lvl3pPr>
            <a:lvl4pPr marL="1600200" indent="-228600">
              <a:defRPr kumimoji="1" sz="2400">
                <a:solidFill>
                  <a:schemeClr val="tx1"/>
                </a:solidFill>
                <a:latin typeface="Arial" charset="0"/>
                <a:ea typeface="ＭＳ Ｐゴシック" charset="0"/>
              </a:defRPr>
            </a:lvl4pPr>
            <a:lvl5pPr marL="2057400" indent="-228600">
              <a:defRPr kumimoji="1" sz="2400">
                <a:solidFill>
                  <a:schemeClr val="tx1"/>
                </a:solidFill>
                <a:latin typeface="Arial" charset="0"/>
                <a:ea typeface="ＭＳ Ｐゴシック" charset="0"/>
              </a:defRPr>
            </a:lvl5pPr>
            <a:lvl6pPr marL="2514600" indent="-228600" fontAlgn="base">
              <a:spcBef>
                <a:spcPct val="0"/>
              </a:spcBef>
              <a:spcAft>
                <a:spcPct val="0"/>
              </a:spcAft>
              <a:defRPr kumimoji="1" sz="2400">
                <a:solidFill>
                  <a:schemeClr val="tx1"/>
                </a:solidFill>
                <a:latin typeface="Arial" charset="0"/>
                <a:ea typeface="ＭＳ Ｐゴシック" charset="0"/>
              </a:defRPr>
            </a:lvl6pPr>
            <a:lvl7pPr marL="2971800" indent="-228600" fontAlgn="base">
              <a:spcBef>
                <a:spcPct val="0"/>
              </a:spcBef>
              <a:spcAft>
                <a:spcPct val="0"/>
              </a:spcAft>
              <a:defRPr kumimoji="1" sz="2400">
                <a:solidFill>
                  <a:schemeClr val="tx1"/>
                </a:solidFill>
                <a:latin typeface="Arial" charset="0"/>
                <a:ea typeface="ＭＳ Ｐゴシック" charset="0"/>
              </a:defRPr>
            </a:lvl7pPr>
            <a:lvl8pPr marL="3429000" indent="-228600" fontAlgn="base">
              <a:spcBef>
                <a:spcPct val="0"/>
              </a:spcBef>
              <a:spcAft>
                <a:spcPct val="0"/>
              </a:spcAft>
              <a:defRPr kumimoji="1" sz="2400">
                <a:solidFill>
                  <a:schemeClr val="tx1"/>
                </a:solidFill>
                <a:latin typeface="Arial" charset="0"/>
                <a:ea typeface="ＭＳ Ｐゴシック" charset="0"/>
              </a:defRPr>
            </a:lvl8pPr>
            <a:lvl9pPr marL="3886200" indent="-228600" fontAlgn="base">
              <a:spcBef>
                <a:spcPct val="0"/>
              </a:spcBef>
              <a:spcAft>
                <a:spcPct val="0"/>
              </a:spcAft>
              <a:defRPr kumimoji="1" sz="2400">
                <a:solidFill>
                  <a:schemeClr val="tx1"/>
                </a:solidFill>
                <a:latin typeface="Arial" charset="0"/>
                <a:ea typeface="ＭＳ Ｐゴシック" charset="0"/>
              </a:defRPr>
            </a:lvl9pPr>
          </a:lstStyle>
          <a:p>
            <a:pPr>
              <a:defRPr/>
            </a:pPr>
            <a:r>
              <a:rPr lang="en-US" altLang="ja-JP" sz="800" b="1" dirty="0">
                <a:solidFill>
                  <a:prstClr val="white"/>
                </a:solidFill>
                <a:latin typeface="メイリオ"/>
                <a:ea typeface="メイリオ"/>
                <a:cs typeface="メイリオ"/>
              </a:rPr>
              <a:t>Copyright(c) DYM Co., </a:t>
            </a:r>
            <a:r>
              <a:rPr lang="en-US" altLang="ja-JP" sz="800" b="1" dirty="0" err="1">
                <a:solidFill>
                  <a:prstClr val="white"/>
                </a:solidFill>
                <a:latin typeface="メイリオ"/>
                <a:ea typeface="メイリオ"/>
                <a:cs typeface="メイリオ"/>
              </a:rPr>
              <a:t>Ltd.All</a:t>
            </a:r>
            <a:r>
              <a:rPr lang="en-US" altLang="ja-JP" sz="800" b="1" dirty="0">
                <a:solidFill>
                  <a:prstClr val="white"/>
                </a:solidFill>
                <a:latin typeface="メイリオ"/>
                <a:ea typeface="メイリオ"/>
                <a:cs typeface="メイリオ"/>
              </a:rPr>
              <a:t> Rights Reserved.</a:t>
            </a:r>
          </a:p>
        </p:txBody>
      </p:sp>
      <p:sp>
        <p:nvSpPr>
          <p:cNvPr id="8" name="正方形/長方形 7"/>
          <p:cNvSpPr/>
          <p:nvPr/>
        </p:nvSpPr>
        <p:spPr>
          <a:xfrm>
            <a:off x="0" y="0"/>
            <a:ext cx="416496" cy="548680"/>
          </a:xfrm>
          <a:prstGeom prst="rect">
            <a:avLst/>
          </a:prstGeom>
          <a:solidFill>
            <a:srgbClr val="191F5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ja-JP" altLang="en-US">
              <a:solidFill>
                <a:prstClr val="white"/>
              </a:solidFill>
            </a:endParaRPr>
          </a:p>
        </p:txBody>
      </p:sp>
      <p:cxnSp>
        <p:nvCxnSpPr>
          <p:cNvPr id="4" name="直線コネクタ 3"/>
          <p:cNvCxnSpPr/>
          <p:nvPr/>
        </p:nvCxnSpPr>
        <p:spPr>
          <a:xfrm>
            <a:off x="0" y="548680"/>
            <a:ext cx="9906000" cy="0"/>
          </a:xfrm>
          <a:prstGeom prst="line">
            <a:avLst/>
          </a:prstGeom>
          <a:ln>
            <a:solidFill>
              <a:srgbClr val="00324B"/>
            </a:solidFill>
          </a:ln>
          <a:effectLst/>
        </p:spPr>
        <p:style>
          <a:lnRef idx="2">
            <a:schemeClr val="accent1"/>
          </a:lnRef>
          <a:fillRef idx="0">
            <a:schemeClr val="accent1"/>
          </a:fillRef>
          <a:effectRef idx="1">
            <a:schemeClr val="accent1"/>
          </a:effectRef>
          <a:fontRef idx="minor">
            <a:schemeClr val="tx1"/>
          </a:fontRef>
        </p:style>
      </p:cxnSp>
      <p:pic>
        <p:nvPicPr>
          <p:cNvPr id="9" name="図 1"/>
          <p:cNvPicPr>
            <a:picLocks/>
          </p:cNvPicPr>
          <p:nvPr userDrawn="1"/>
        </p:nvPicPr>
        <p:blipFill rotWithShape="1">
          <a:blip r:embed="rId2" cstate="hqprint">
            <a:extLst>
              <a:ext uri="{28A0092B-C50C-407E-A947-70E740481C1C}">
                <a14:useLocalDpi xmlns:a14="http://schemas.microsoft.com/office/drawing/2010/main" val="0"/>
              </a:ext>
            </a:extLst>
          </a:blip>
          <a:srcRect l="-1647" r="-11171"/>
          <a:stretch/>
        </p:blipFill>
        <p:spPr bwMode="auto">
          <a:xfrm>
            <a:off x="8619408" y="161057"/>
            <a:ext cx="1192729" cy="263314"/>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11" name="スライド番号プレースホルダ 1"/>
          <p:cNvSpPr txBox="1">
            <a:spLocks/>
          </p:cNvSpPr>
          <p:nvPr userDrawn="1"/>
        </p:nvSpPr>
        <p:spPr>
          <a:xfrm>
            <a:off x="7545288" y="6571255"/>
            <a:ext cx="2133600" cy="216000"/>
          </a:xfrm>
          <a:prstGeom prst="rect">
            <a:avLst/>
          </a:prstGeom>
        </p:spPr>
        <p:txBody>
          <a:bodyPr tIns="25200"/>
          <a:ls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pPr algn="r"/>
            <a:fld id="{9FC100E3-15F5-4145-A942-47DB1D8B776D}" type="slidenum">
              <a:rPr lang="ja-JP" altLang="en-US" sz="1400" i="1" smtClean="0">
                <a:solidFill>
                  <a:prstClr val="white"/>
                </a:solidFill>
                <a:latin typeface="Century Gothic" panose="020B0502020202020204" pitchFamily="34" charset="0"/>
              </a:rPr>
              <a:pPr algn="r"/>
              <a:t>‹#›</a:t>
            </a:fld>
            <a:endParaRPr lang="ja-JP" altLang="en-US" sz="1400" i="1" dirty="0">
              <a:solidFill>
                <a:prstClr val="white"/>
              </a:solidFill>
              <a:latin typeface="Century Gothic" panose="020B0502020202020204" pitchFamily="34" charset="0"/>
            </a:endParaRPr>
          </a:p>
        </p:txBody>
      </p:sp>
    </p:spTree>
    <p:extLst>
      <p:ext uri="{BB962C8B-B14F-4D97-AF65-F5344CB8AC3E}">
        <p14:creationId xmlns:p14="http://schemas.microsoft.com/office/powerpoint/2010/main" val="611138245"/>
      </p:ext>
    </p:extLst>
  </p:cSld>
  <p:clrMap bg1="lt1" tx1="dk1" bg2="lt2" tx2="dk2" accent1="accent1" accent2="accent2" accent3="accent3" accent4="accent4" accent5="accent5" accent6="accent6" hlink="hlink" folHlink="folHlink"/>
  <p:hf hdr="0" dt="0"/>
  <p:txStyles>
    <p:titleStyle>
      <a:lvl1pPr algn="ctr" defTabSz="457200" rtl="0" eaLnBrk="1" fontAlgn="base" hangingPunct="1">
        <a:spcBef>
          <a:spcPct val="0"/>
        </a:spcBef>
        <a:spcAft>
          <a:spcPct val="0"/>
        </a:spcAft>
        <a:defRPr kumimoji="1" sz="4400" kern="1200">
          <a:solidFill>
            <a:schemeClr val="tx1"/>
          </a:solidFill>
          <a:latin typeface="+mj-lt"/>
          <a:ea typeface="+mj-ea"/>
          <a:cs typeface="ＭＳ Ｐゴシック" charset="0"/>
        </a:defRPr>
      </a:lvl1pPr>
      <a:lvl2pPr algn="ctr" defTabSz="457200" rtl="0" eaLnBrk="1" fontAlgn="base" hangingPunct="1">
        <a:spcBef>
          <a:spcPct val="0"/>
        </a:spcBef>
        <a:spcAft>
          <a:spcPct val="0"/>
        </a:spcAft>
        <a:defRPr kumimoji="1" sz="4400">
          <a:solidFill>
            <a:schemeClr val="tx1"/>
          </a:solidFill>
          <a:latin typeface="Calibri" charset="0"/>
          <a:ea typeface="ＭＳ Ｐゴシック" charset="0"/>
          <a:cs typeface="ＭＳ Ｐゴシック" charset="0"/>
        </a:defRPr>
      </a:lvl2pPr>
      <a:lvl3pPr algn="ctr" defTabSz="457200" rtl="0" eaLnBrk="1" fontAlgn="base" hangingPunct="1">
        <a:spcBef>
          <a:spcPct val="0"/>
        </a:spcBef>
        <a:spcAft>
          <a:spcPct val="0"/>
        </a:spcAft>
        <a:defRPr kumimoji="1" sz="4400">
          <a:solidFill>
            <a:schemeClr val="tx1"/>
          </a:solidFill>
          <a:latin typeface="Calibri" charset="0"/>
          <a:ea typeface="ＭＳ Ｐゴシック" charset="0"/>
          <a:cs typeface="ＭＳ Ｐゴシック" charset="0"/>
        </a:defRPr>
      </a:lvl3pPr>
      <a:lvl4pPr algn="ctr" defTabSz="457200" rtl="0" eaLnBrk="1" fontAlgn="base" hangingPunct="1">
        <a:spcBef>
          <a:spcPct val="0"/>
        </a:spcBef>
        <a:spcAft>
          <a:spcPct val="0"/>
        </a:spcAft>
        <a:defRPr kumimoji="1" sz="4400">
          <a:solidFill>
            <a:schemeClr val="tx1"/>
          </a:solidFill>
          <a:latin typeface="Calibri" charset="0"/>
          <a:ea typeface="ＭＳ Ｐゴシック" charset="0"/>
          <a:cs typeface="ＭＳ Ｐゴシック" charset="0"/>
        </a:defRPr>
      </a:lvl4pPr>
      <a:lvl5pPr algn="ctr" defTabSz="457200" rtl="0" eaLnBrk="1" fontAlgn="base" hangingPunct="1">
        <a:spcBef>
          <a:spcPct val="0"/>
        </a:spcBef>
        <a:spcAft>
          <a:spcPct val="0"/>
        </a:spcAft>
        <a:defRPr kumimoji="1" sz="4400">
          <a:solidFill>
            <a:schemeClr val="tx1"/>
          </a:solidFill>
          <a:latin typeface="Calibri" charset="0"/>
          <a:ea typeface="ＭＳ Ｐゴシック" charset="0"/>
          <a:cs typeface="ＭＳ Ｐゴシック" charset="0"/>
        </a:defRPr>
      </a:lvl5pPr>
      <a:lvl6pPr marL="457200" algn="ctr" defTabSz="457200" rtl="0" eaLnBrk="1" fontAlgn="base" hangingPunct="1">
        <a:spcBef>
          <a:spcPct val="0"/>
        </a:spcBef>
        <a:spcAft>
          <a:spcPct val="0"/>
        </a:spcAft>
        <a:defRPr kumimoji="1" sz="4400">
          <a:solidFill>
            <a:schemeClr val="tx1"/>
          </a:solidFill>
          <a:latin typeface="Calibri" charset="0"/>
          <a:ea typeface="ＭＳ Ｐゴシック" charset="0"/>
          <a:cs typeface="ＭＳ Ｐゴシック" charset="0"/>
        </a:defRPr>
      </a:lvl6pPr>
      <a:lvl7pPr marL="914400" algn="ctr" defTabSz="457200" rtl="0" eaLnBrk="1" fontAlgn="base" hangingPunct="1">
        <a:spcBef>
          <a:spcPct val="0"/>
        </a:spcBef>
        <a:spcAft>
          <a:spcPct val="0"/>
        </a:spcAft>
        <a:defRPr kumimoji="1" sz="4400">
          <a:solidFill>
            <a:schemeClr val="tx1"/>
          </a:solidFill>
          <a:latin typeface="Calibri" charset="0"/>
          <a:ea typeface="ＭＳ Ｐゴシック" charset="0"/>
          <a:cs typeface="ＭＳ Ｐゴシック" charset="0"/>
        </a:defRPr>
      </a:lvl7pPr>
      <a:lvl8pPr marL="1371600" algn="ctr" defTabSz="457200" rtl="0" eaLnBrk="1" fontAlgn="base" hangingPunct="1">
        <a:spcBef>
          <a:spcPct val="0"/>
        </a:spcBef>
        <a:spcAft>
          <a:spcPct val="0"/>
        </a:spcAft>
        <a:defRPr kumimoji="1" sz="4400">
          <a:solidFill>
            <a:schemeClr val="tx1"/>
          </a:solidFill>
          <a:latin typeface="Calibri" charset="0"/>
          <a:ea typeface="ＭＳ Ｐゴシック" charset="0"/>
          <a:cs typeface="ＭＳ Ｐゴシック" charset="0"/>
        </a:defRPr>
      </a:lvl8pPr>
      <a:lvl9pPr marL="1828800" algn="ctr" defTabSz="457200" rtl="0" eaLnBrk="1" fontAlgn="base" hangingPunct="1">
        <a:spcBef>
          <a:spcPct val="0"/>
        </a:spcBef>
        <a:spcAft>
          <a:spcPct val="0"/>
        </a:spcAft>
        <a:defRPr kumimoji="1" sz="4400">
          <a:solidFill>
            <a:schemeClr val="tx1"/>
          </a:solidFill>
          <a:latin typeface="Calibri" charset="0"/>
          <a:ea typeface="ＭＳ Ｐゴシック" charset="0"/>
          <a:cs typeface="ＭＳ Ｐゴシック" charset="0"/>
        </a:defRPr>
      </a:lvl9pPr>
    </p:titleStyle>
    <p:bodyStyle>
      <a:lvl1pPr marL="342900" indent="-342900" algn="l" defTabSz="457200" rtl="0" eaLnBrk="1" fontAlgn="base" hangingPunct="1">
        <a:spcBef>
          <a:spcPct val="20000"/>
        </a:spcBef>
        <a:spcAft>
          <a:spcPct val="0"/>
        </a:spcAft>
        <a:buFont typeface="Arial" charset="0"/>
        <a:buChar char="•"/>
        <a:defRPr kumimoji="1" sz="3200" kern="1200">
          <a:solidFill>
            <a:schemeClr val="tx1"/>
          </a:solidFill>
          <a:latin typeface="+mn-lt"/>
          <a:ea typeface="+mn-ea"/>
          <a:cs typeface="ＭＳ Ｐゴシック" charset="0"/>
        </a:defRPr>
      </a:lvl1pPr>
      <a:lvl2pPr marL="742950" indent="-285750" algn="l" defTabSz="457200" rtl="0" eaLnBrk="1" fontAlgn="base" hangingPunct="1">
        <a:spcBef>
          <a:spcPct val="20000"/>
        </a:spcBef>
        <a:spcAft>
          <a:spcPct val="0"/>
        </a:spcAft>
        <a:buFont typeface="Arial" charset="0"/>
        <a:buChar char="–"/>
        <a:defRPr kumimoji="1" sz="2800" kern="1200">
          <a:solidFill>
            <a:schemeClr val="tx1"/>
          </a:solidFill>
          <a:latin typeface="+mn-lt"/>
          <a:ea typeface="+mn-ea"/>
          <a:cs typeface="+mn-cs"/>
        </a:defRPr>
      </a:lvl2pPr>
      <a:lvl3pPr marL="1143000" indent="-228600" algn="l" defTabSz="457200" rtl="0" eaLnBrk="1" fontAlgn="base" hangingPunct="1">
        <a:spcBef>
          <a:spcPct val="20000"/>
        </a:spcBef>
        <a:spcAft>
          <a:spcPct val="0"/>
        </a:spcAft>
        <a:buFont typeface="Arial" charset="0"/>
        <a:buChar char="•"/>
        <a:defRPr kumimoji="1" sz="2400" kern="1200">
          <a:solidFill>
            <a:schemeClr val="tx1"/>
          </a:solidFill>
          <a:latin typeface="+mn-lt"/>
          <a:ea typeface="+mn-ea"/>
          <a:cs typeface="+mn-cs"/>
        </a:defRPr>
      </a:lvl3pPr>
      <a:lvl4pPr marL="1600200" indent="-228600" algn="l" defTabSz="457200" rtl="0" eaLnBrk="1" fontAlgn="base" hangingPunct="1">
        <a:spcBef>
          <a:spcPct val="20000"/>
        </a:spcBef>
        <a:spcAft>
          <a:spcPct val="0"/>
        </a:spcAft>
        <a:buFont typeface="Arial" charset="0"/>
        <a:buChar char="–"/>
        <a:defRPr kumimoji="1" sz="2000" kern="1200">
          <a:solidFill>
            <a:schemeClr val="tx1"/>
          </a:solidFill>
          <a:latin typeface="+mn-lt"/>
          <a:ea typeface="+mn-ea"/>
          <a:cs typeface="+mn-cs"/>
        </a:defRPr>
      </a:lvl4pPr>
      <a:lvl5pPr marL="2057400" indent="-228600" algn="l" defTabSz="457200" rtl="0" eaLnBrk="1" fontAlgn="base" hangingPunct="1">
        <a:spcBef>
          <a:spcPct val="20000"/>
        </a:spcBef>
        <a:spcAft>
          <a:spcPct val="0"/>
        </a:spcAft>
        <a:buFont typeface="Arial" charset="0"/>
        <a:buChar char="»"/>
        <a:defRPr kumimoji="1"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kumimoji="1"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kumimoji="1"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kumimoji="1"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kumimoji="1" sz="2000" kern="1200">
          <a:solidFill>
            <a:schemeClr val="tx1"/>
          </a:solidFill>
          <a:latin typeface="+mn-lt"/>
          <a:ea typeface="+mn-ea"/>
          <a:cs typeface="+mn-cs"/>
        </a:defRPr>
      </a:lvl9pPr>
    </p:bodyStyle>
    <p:otherStyle>
      <a:defPPr>
        <a:defRPr lang="ja-JP"/>
      </a:defPPr>
      <a:lvl1pPr marL="0" algn="l" defTabSz="457200" rtl="0" eaLnBrk="1" latinLnBrk="0" hangingPunct="1">
        <a:defRPr kumimoji="1" sz="1800" kern="1200">
          <a:solidFill>
            <a:schemeClr val="tx1"/>
          </a:solidFill>
          <a:latin typeface="+mn-lt"/>
          <a:ea typeface="+mn-ea"/>
          <a:cs typeface="+mn-cs"/>
        </a:defRPr>
      </a:lvl1pPr>
      <a:lvl2pPr marL="457200" algn="l" defTabSz="457200" rtl="0" eaLnBrk="1" latinLnBrk="0" hangingPunct="1">
        <a:defRPr kumimoji="1" sz="1800" kern="1200">
          <a:solidFill>
            <a:schemeClr val="tx1"/>
          </a:solidFill>
          <a:latin typeface="+mn-lt"/>
          <a:ea typeface="+mn-ea"/>
          <a:cs typeface="+mn-cs"/>
        </a:defRPr>
      </a:lvl2pPr>
      <a:lvl3pPr marL="914400" algn="l" defTabSz="457200" rtl="0" eaLnBrk="1" latinLnBrk="0" hangingPunct="1">
        <a:defRPr kumimoji="1" sz="1800" kern="1200">
          <a:solidFill>
            <a:schemeClr val="tx1"/>
          </a:solidFill>
          <a:latin typeface="+mn-lt"/>
          <a:ea typeface="+mn-ea"/>
          <a:cs typeface="+mn-cs"/>
        </a:defRPr>
      </a:lvl3pPr>
      <a:lvl4pPr marL="1371600" algn="l" defTabSz="457200" rtl="0" eaLnBrk="1" latinLnBrk="0" hangingPunct="1">
        <a:defRPr kumimoji="1" sz="1800" kern="1200">
          <a:solidFill>
            <a:schemeClr val="tx1"/>
          </a:solidFill>
          <a:latin typeface="+mn-lt"/>
          <a:ea typeface="+mn-ea"/>
          <a:cs typeface="+mn-cs"/>
        </a:defRPr>
      </a:lvl4pPr>
      <a:lvl5pPr marL="1828800" algn="l" defTabSz="457200" rtl="0" eaLnBrk="1" latinLnBrk="0" hangingPunct="1">
        <a:defRPr kumimoji="1" sz="1800" kern="1200">
          <a:solidFill>
            <a:schemeClr val="tx1"/>
          </a:solidFill>
          <a:latin typeface="+mn-lt"/>
          <a:ea typeface="+mn-ea"/>
          <a:cs typeface="+mn-cs"/>
        </a:defRPr>
      </a:lvl5pPr>
      <a:lvl6pPr marL="2286000" algn="l" defTabSz="457200" rtl="0" eaLnBrk="1" latinLnBrk="0" hangingPunct="1">
        <a:defRPr kumimoji="1" sz="1800" kern="1200">
          <a:solidFill>
            <a:schemeClr val="tx1"/>
          </a:solidFill>
          <a:latin typeface="+mn-lt"/>
          <a:ea typeface="+mn-ea"/>
          <a:cs typeface="+mn-cs"/>
        </a:defRPr>
      </a:lvl6pPr>
      <a:lvl7pPr marL="2743200" algn="l" defTabSz="457200" rtl="0" eaLnBrk="1" latinLnBrk="0" hangingPunct="1">
        <a:defRPr kumimoji="1" sz="1800" kern="1200">
          <a:solidFill>
            <a:schemeClr val="tx1"/>
          </a:solidFill>
          <a:latin typeface="+mn-lt"/>
          <a:ea typeface="+mn-ea"/>
          <a:cs typeface="+mn-cs"/>
        </a:defRPr>
      </a:lvl7pPr>
      <a:lvl8pPr marL="3200400" algn="l" defTabSz="457200" rtl="0" eaLnBrk="1" latinLnBrk="0" hangingPunct="1">
        <a:defRPr kumimoji="1" sz="1800" kern="1200">
          <a:solidFill>
            <a:schemeClr val="tx1"/>
          </a:solidFill>
          <a:latin typeface="+mn-lt"/>
          <a:ea typeface="+mn-ea"/>
          <a:cs typeface="+mn-cs"/>
        </a:defRPr>
      </a:lvl8pPr>
      <a:lvl9pPr marL="3657600" algn="l" defTabSz="457200" rtl="0" eaLnBrk="1" latinLnBrk="0" hangingPunct="1">
        <a:defRPr kumimoji="1"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4.png"/><Relationship Id="rId3" Type="http://schemas.openxmlformats.org/officeDocument/2006/relationships/image" Target="../media/image5.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 Id="rId3" Type="http://schemas.openxmlformats.org/officeDocument/2006/relationships/image" Target="../media/image6.png"/><Relationship Id="rId4" Type="http://schemas.openxmlformats.org/officeDocument/2006/relationships/image" Target="../media/image66.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 Id="rId3" Type="http://schemas.openxmlformats.org/officeDocument/2006/relationships/image" Target="../media/image7.png"/><Relationship Id="rId4" Type="http://schemas.openxmlformats.org/officeDocument/2006/relationships/image" Target="../media/image67.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8.png"/><Relationship Id="rId3" Type="http://schemas.openxmlformats.org/officeDocument/2006/relationships/image" Target="../media/image9.png"/><Relationship Id="rId4" Type="http://schemas.openxmlformats.org/officeDocument/2006/relationships/image" Target="../media/image10.png"/><Relationship Id="rId5" Type="http://schemas.openxmlformats.org/officeDocument/2006/relationships/image" Target="../media/image11.jpe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12.png"/><Relationship Id="rId3" Type="http://schemas.openxmlformats.org/officeDocument/2006/relationships/image" Target="../media/image13.png"/><Relationship Id="rId4" Type="http://schemas.openxmlformats.org/officeDocument/2006/relationships/image" Target="../media/image14.png"/><Relationship Id="rId5" Type="http://schemas.openxmlformats.org/officeDocument/2006/relationships/image" Target="../media/image15.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16.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17.jpeg"/><Relationship Id="rId3" Type="http://schemas.openxmlformats.org/officeDocument/2006/relationships/image" Target="../media/image18.jpeg"/><Relationship Id="rId4" Type="http://schemas.openxmlformats.org/officeDocument/2006/relationships/image" Target="../media/image19.png"/><Relationship Id="rId5" Type="http://schemas.openxmlformats.org/officeDocument/2006/relationships/image" Target="../media/image20.png"/><Relationship Id="rId6" Type="http://schemas.openxmlformats.org/officeDocument/2006/relationships/image" Target="../media/image21.jpeg"/><Relationship Id="rId7" Type="http://schemas.openxmlformats.org/officeDocument/2006/relationships/image" Target="../media/image22.png"/><Relationship Id="rId8" Type="http://schemas.openxmlformats.org/officeDocument/2006/relationships/image" Target="../media/image23.png"/><Relationship Id="rId9" Type="http://schemas.openxmlformats.org/officeDocument/2006/relationships/image" Target="../media/image24.png"/><Relationship Id="rId10" Type="http://schemas.openxmlformats.org/officeDocument/2006/relationships/image" Target="../media/image25.jpe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 Id="rId3" Type="http://schemas.openxmlformats.org/officeDocument/2006/relationships/image" Target="../media/image26.png"/><Relationship Id="rId4" Type="http://schemas.openxmlformats.org/officeDocument/2006/relationships/image" Target="../media/image27.png"/><Relationship Id="rId5" Type="http://schemas.openxmlformats.org/officeDocument/2006/relationships/image" Target="../media/image28.png"/><Relationship Id="rId6" Type="http://schemas.openxmlformats.org/officeDocument/2006/relationships/image" Target="../media/image29.png"/><Relationship Id="rId7" Type="http://schemas.openxmlformats.org/officeDocument/2006/relationships/image" Target="../media/image30.png"/><Relationship Id="rId8" Type="http://schemas.openxmlformats.org/officeDocument/2006/relationships/image" Target="../media/image31.png"/><Relationship Id="rId9" Type="http://schemas.openxmlformats.org/officeDocument/2006/relationships/image" Target="../media/image32.png"/><Relationship Id="rId10" Type="http://schemas.openxmlformats.org/officeDocument/2006/relationships/image" Target="../media/image33.pn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34.png"/><Relationship Id="rId4" Type="http://schemas.openxmlformats.org/officeDocument/2006/relationships/image" Target="../media/image35.png"/></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36.png"/><Relationship Id="rId4" Type="http://schemas.openxmlformats.org/officeDocument/2006/relationships/image" Target="../media/image37.png"/><Relationship Id="rId5" Type="http://schemas.openxmlformats.org/officeDocument/2006/relationships/image" Target="../media/image38.png"/><Relationship Id="rId6" Type="http://schemas.openxmlformats.org/officeDocument/2006/relationships/image" Target="../media/image39.png"/><Relationship Id="rId7" Type="http://schemas.openxmlformats.org/officeDocument/2006/relationships/image" Target="../media/image40.svg"/><Relationship Id="rId8" Type="http://schemas.openxmlformats.org/officeDocument/2006/relationships/image" Target="../media/image41.png"/></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0.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1.xml"/><Relationship Id="rId3" Type="http://schemas.openxmlformats.org/officeDocument/2006/relationships/image" Target="../media/image42.svg"/><Relationship Id="rId4" Type="http://schemas.openxmlformats.org/officeDocument/2006/relationships/image" Target="../media/image43.svg"/><Relationship Id="rId5" Type="http://schemas.openxmlformats.org/officeDocument/2006/relationships/image" Target="../media/image44.svg"/><Relationship Id="rId6" Type="http://schemas.openxmlformats.org/officeDocument/2006/relationships/image" Target="../media/image45.svg"/></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2.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3.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4.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46.png"/><Relationship Id="rId3" Type="http://schemas.openxmlformats.org/officeDocument/2006/relationships/image" Target="../media/image47.png"/><Relationship Id="rId4" Type="http://schemas.openxmlformats.org/officeDocument/2006/relationships/image" Target="../media/image48.png"/><Relationship Id="rId5" Type="http://schemas.openxmlformats.org/officeDocument/2006/relationships/image" Target="../media/image49.png"/><Relationship Id="rId6" Type="http://schemas.openxmlformats.org/officeDocument/2006/relationships/image" Target="../media/image50.png"/><Relationship Id="rId7" Type="http://schemas.openxmlformats.org/officeDocument/2006/relationships/image" Target="../media/image51.png"/></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52.png"/><Relationship Id="rId3" Type="http://schemas.openxmlformats.org/officeDocument/2006/relationships/image" Target="../media/image53.png"/><Relationship Id="rId4" Type="http://schemas.openxmlformats.org/officeDocument/2006/relationships/image" Target="../media/image54.png"/></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55.png"/></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56.png"/></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57.png"/></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58.png"/><Relationship Id="rId3" Type="http://schemas.openxmlformats.org/officeDocument/2006/relationships/image" Target="../media/image59.png"/><Relationship Id="rId4" Type="http://schemas.openxmlformats.org/officeDocument/2006/relationships/image" Target="../media/image60.png"/></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5.xml"/><Relationship Id="rId3" Type="http://schemas.openxmlformats.org/officeDocument/2006/relationships/image" Target="../media/image3.emf"/><Relationship Id="rId4" Type="http://schemas.openxmlformats.org/officeDocument/2006/relationships/image" Target="../media/image61.jpeg"/><Relationship Id="rId5" Type="http://schemas.openxmlformats.org/officeDocument/2006/relationships/image" Target="../media/image62.jpeg"/><Relationship Id="rId6" Type="http://schemas.openxmlformats.org/officeDocument/2006/relationships/image" Target="../media/image63.jpeg"/><Relationship Id="rId7" Type="http://schemas.openxmlformats.org/officeDocument/2006/relationships/image" Target="../media/image64.jpeg"/><Relationship Id="rId8" Type="http://schemas.openxmlformats.org/officeDocument/2006/relationships/image" Target="../media/image65.jpeg"/></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正方形/長方形 1">
            <a:extLst>
              <a:ext uri="{FF2B5EF4-FFF2-40B4-BE49-F238E27FC236}">
                <a16:creationId xmlns:a16="http://schemas.microsoft.com/office/drawing/2014/main" id="{69A0322D-BA5F-9122-1E12-FB7AC2AF15A5}"/>
              </a:ext>
            </a:extLst>
          </p:cNvPr>
          <p:cNvSpPr/>
          <p:nvPr/>
        </p:nvSpPr>
        <p:spPr>
          <a:xfrm>
            <a:off x="1665887" y="2533105"/>
            <a:ext cx="6574236" cy="584775"/>
          </a:xfrm>
          <a:prstGeom prst="rect">
            <a:avLst/>
          </a:prstGeom>
        </p:spPr>
        <p:txBody>
          <a:bodyPr wrap="none">
            <a:spAutoFit/>
          </a:bodyPr>
          <a:lstStyle/>
          <a:p>
            <a:pPr algn="ctr"/>
            <a:r>
              <a:rPr lang="en-US" altLang="ja-IS" sz="3200" b="1" dirty="0">
                <a:solidFill>
                  <a:schemeClr val="tx1">
                    <a:lumMod val="75000"/>
                    <a:lumOff val="25000"/>
                  </a:schemeClr>
                </a:solidFill>
                <a:latin typeface="メイリオ" panose="020B0604030504040204" pitchFamily="50" charset="-128"/>
                <a:ea typeface="メイリオ" panose="020B0604030504040204" pitchFamily="50" charset="-128"/>
                <a:cs typeface="メイリオ" panose="020B0604030504040204" pitchFamily="50" charset="-128"/>
              </a:rPr>
              <a:t>LINE</a:t>
            </a:r>
            <a:r>
              <a:rPr lang="ja-JP" altLang="en-US" sz="3200" b="1" dirty="0">
                <a:solidFill>
                  <a:schemeClr val="tx1">
                    <a:lumMod val="75000"/>
                    <a:lumOff val="25000"/>
                  </a:schemeClr>
                </a:solidFill>
                <a:latin typeface="メイリオ" panose="020B0604030504040204" pitchFamily="50" charset="-128"/>
                <a:ea typeface="メイリオ" panose="020B0604030504040204" pitchFamily="50" charset="-128"/>
                <a:cs typeface="メイリオ" panose="020B0604030504040204" pitchFamily="50" charset="-128"/>
              </a:rPr>
              <a:t>公式アカウント運用のご提案</a:t>
            </a:r>
            <a:endParaRPr lang="en-US" altLang="ja-IS" sz="3200" b="1" dirty="0">
              <a:solidFill>
                <a:schemeClr val="tx1">
                  <a:lumMod val="75000"/>
                  <a:lumOff val="25000"/>
                </a:schemeClr>
              </a:solidFill>
              <a:latin typeface="メイリオ" panose="020B0604030504040204" pitchFamily="50" charset="-128"/>
              <a:ea typeface="メイリオ" panose="020B0604030504040204" pitchFamily="50" charset="-128"/>
              <a:cs typeface="メイリオ" panose="020B0604030504040204" pitchFamily="50" charset="-128"/>
            </a:endParaRPr>
          </a:p>
        </p:txBody>
      </p:sp>
      <p:sp>
        <p:nvSpPr>
          <p:cNvPr id="6" name="正方形/長方形 5">
            <a:extLst>
              <a:ext uri="{FF2B5EF4-FFF2-40B4-BE49-F238E27FC236}">
                <a16:creationId xmlns:a16="http://schemas.microsoft.com/office/drawing/2014/main" id="{3CC59398-53B4-E01E-A60C-6C13628FCBFB}"/>
              </a:ext>
            </a:extLst>
          </p:cNvPr>
          <p:cNvSpPr/>
          <p:nvPr/>
        </p:nvSpPr>
        <p:spPr>
          <a:xfrm>
            <a:off x="1613481" y="2224725"/>
            <a:ext cx="6626632" cy="338554"/>
          </a:xfrm>
          <a:prstGeom prst="rect">
            <a:avLst/>
          </a:prstGeom>
        </p:spPr>
        <p:txBody>
          <a:bodyPr wrap="square">
            <a:spAutoFit/>
          </a:bodyPr>
          <a:lstStyle/>
          <a:p>
            <a:pPr algn="ctr"/>
            <a:r>
              <a:rPr lang="ja-JP" altLang="en-US" sz="1700" dirty="0">
                <a:solidFill>
                  <a:schemeClr val="tx1">
                    <a:lumMod val="50000"/>
                    <a:lumOff val="50000"/>
                  </a:schemeClr>
                </a:solidFill>
                <a:latin typeface="Meiryo" panose="020B0604030504040204" pitchFamily="34" charset="-128"/>
                <a:ea typeface="Meiryo" panose="020B0604030504040204" pitchFamily="34" charset="-128"/>
              </a:rPr>
              <a:t>最上位パートナーの知見を活用し、獲得に強い動線を構築する</a:t>
            </a:r>
          </a:p>
        </p:txBody>
      </p:sp>
      <p:cxnSp>
        <p:nvCxnSpPr>
          <p:cNvPr id="5" name="直線コネクタ 4">
            <a:extLst>
              <a:ext uri="{FF2B5EF4-FFF2-40B4-BE49-F238E27FC236}">
                <a16:creationId xmlns:a16="http://schemas.microsoft.com/office/drawing/2014/main" id="{B532C1C8-7FE6-8830-B27C-27941421F5F9}"/>
              </a:ext>
            </a:extLst>
          </p:cNvPr>
          <p:cNvCxnSpPr>
            <a:cxnSpLocks/>
          </p:cNvCxnSpPr>
          <p:nvPr/>
        </p:nvCxnSpPr>
        <p:spPr>
          <a:xfrm>
            <a:off x="1337175" y="3199966"/>
            <a:ext cx="7231660" cy="0"/>
          </a:xfrm>
          <a:prstGeom prst="line">
            <a:avLst/>
          </a:prstGeom>
          <a:ln w="19050">
            <a:solidFill>
              <a:schemeClr val="tx1">
                <a:lumMod val="50000"/>
                <a:lumOff val="50000"/>
              </a:schemeClr>
            </a:solidFill>
          </a:ln>
        </p:spPr>
        <p:style>
          <a:lnRef idx="1">
            <a:schemeClr val="accent1"/>
          </a:lnRef>
          <a:fillRef idx="0">
            <a:schemeClr val="accent1"/>
          </a:fillRef>
          <a:effectRef idx="0">
            <a:schemeClr val="accent1"/>
          </a:effectRef>
          <a:fontRef idx="minor">
            <a:schemeClr val="tx1"/>
          </a:fontRef>
        </p:style>
      </p:cxnSp>
      <p:pic>
        <p:nvPicPr>
          <p:cNvPr id="9" name="図 8" descr="背景パターン&#10;&#10;AI 生成コンテンツは誤りを含む可能性があります。">
            <a:extLst>
              <a:ext uri="{FF2B5EF4-FFF2-40B4-BE49-F238E27FC236}">
                <a16:creationId xmlns:a16="http://schemas.microsoft.com/office/drawing/2014/main" id="{FFE022E1-8FF6-B4B4-B955-17E7CFA96460}"/>
              </a:ext>
            </a:extLst>
          </p:cNvPr>
          <p:cNvPicPr>
            <a:picLocks noChangeAspect="1"/>
          </p:cNvPicPr>
          <p:nvPr/>
        </p:nvPicPr>
        <p:blipFill>
          <a:blip r:embed="rId2"/>
          <a:stretch>
            <a:fillRect/>
          </a:stretch>
        </p:blipFill>
        <p:spPr>
          <a:xfrm>
            <a:off x="-1" y="0"/>
            <a:ext cx="8159931" cy="766354"/>
          </a:xfrm>
          <a:prstGeom prst="rect">
            <a:avLst/>
          </a:prstGeom>
        </p:spPr>
      </p:pic>
      <p:pic>
        <p:nvPicPr>
          <p:cNvPr id="10" name="図 9" descr="背景パターン&#10;&#10;AI 生成コンテンツは誤りを含む可能性があります。">
            <a:extLst>
              <a:ext uri="{FF2B5EF4-FFF2-40B4-BE49-F238E27FC236}">
                <a16:creationId xmlns:a16="http://schemas.microsoft.com/office/drawing/2014/main" id="{0F2999B3-5873-C495-70F5-12487911C618}"/>
              </a:ext>
            </a:extLst>
          </p:cNvPr>
          <p:cNvPicPr>
            <a:picLocks noChangeAspect="1"/>
          </p:cNvPicPr>
          <p:nvPr/>
        </p:nvPicPr>
        <p:blipFill>
          <a:blip r:embed="rId2"/>
          <a:stretch>
            <a:fillRect/>
          </a:stretch>
        </p:blipFill>
        <p:spPr>
          <a:xfrm>
            <a:off x="7863840" y="494114"/>
            <a:ext cx="2042161" cy="272239"/>
          </a:xfrm>
          <a:prstGeom prst="rect">
            <a:avLst/>
          </a:prstGeom>
        </p:spPr>
      </p:pic>
      <p:sp>
        <p:nvSpPr>
          <p:cNvPr id="7" name="テキスト ボックス 6">
            <a:extLst>
              <a:ext uri="{FF2B5EF4-FFF2-40B4-BE49-F238E27FC236}">
                <a16:creationId xmlns:a16="http://schemas.microsoft.com/office/drawing/2014/main" id="{7170AE42-913D-895E-A1DE-6A899FE53370}"/>
              </a:ext>
            </a:extLst>
          </p:cNvPr>
          <p:cNvSpPr txBox="1"/>
          <p:nvPr/>
        </p:nvSpPr>
        <p:spPr>
          <a:xfrm>
            <a:off x="291974" y="263665"/>
            <a:ext cx="4965824" cy="338554"/>
          </a:xfrm>
          <a:prstGeom prst="rect">
            <a:avLst/>
          </a:prstGeom>
          <a:noFill/>
        </p:spPr>
        <p:txBody>
          <a:bodyPr wrap="square">
            <a:spAutoFit/>
          </a:bodyPr>
          <a:lstStyle/>
          <a:p>
            <a:r>
              <a:rPr lang="ja-JP" altLang="en-US" sz="1600" b="1" dirty="0">
                <a:solidFill>
                  <a:schemeClr val="tx1">
                    <a:lumMod val="50000"/>
                    <a:lumOff val="50000"/>
                  </a:schemeClr>
                </a:solidFill>
                <a:latin typeface="Meiryo" panose="020B0604030504040204" pitchFamily="34" charset="-128"/>
                <a:ea typeface="Meiryo" panose="020B0604030504040204" pitchFamily="34" charset="-128"/>
              </a:rPr>
              <a:t>株式会社チェングロウス 御中</a:t>
            </a:r>
          </a:p>
        </p:txBody>
      </p:sp>
      <p:pic>
        <p:nvPicPr>
          <p:cNvPr id="11" name="Picture 10" descr="chengrowth_logo.png"/>
          <p:cNvPicPr>
            <a:picLocks noChangeAspect="1"/>
          </p:cNvPicPr>
          <p:nvPr/>
        </p:nvPicPr>
        <p:blipFill>
          <a:blip r:embed="rId3"/>
          <a:stretch>
            <a:fillRect/>
          </a:stretch>
        </p:blipFill>
        <p:spPr>
          <a:xfrm>
            <a:off x="3513000" y="3478502"/>
            <a:ext cx="2880000" cy="337171"/>
          </a:xfrm>
          <a:prstGeom prst="rect">
            <a:avLst/>
          </a:prstGeom>
        </p:spPr>
      </p:pic>
    </p:spTree>
    <p:extLst>
      <p:ext uri="{BB962C8B-B14F-4D97-AF65-F5344CB8AC3E}">
        <p14:creationId xmlns:p14="http://schemas.microsoft.com/office/powerpoint/2010/main" val="3944598036"/>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D6A8E8E-25CB-4B86-C4F6-E5A7023586F7}"/>
            </a:ext>
          </a:extLst>
        </p:cNvPr>
        <p:cNvGrpSpPr/>
        <p:nvPr/>
      </p:nvGrpSpPr>
      <p:grpSpPr>
        <a:xfrm>
          <a:off x="0" y="0"/>
          <a:ext cx="0" cy="0"/>
          <a:chOff x="0" y="0"/>
          <a:chExt cx="0" cy="0"/>
        </a:xfrm>
      </p:grpSpPr>
      <p:sp>
        <p:nvSpPr>
          <p:cNvPr id="2" name="TextBox 1"/>
          <p:cNvSpPr txBox="1"/>
          <p:nvPr/>
        </p:nvSpPr>
        <p:spPr>
          <a:xfrm>
            <a:off x="547200" y="136800"/>
            <a:ext cx="8784000" cy="338400"/>
          </a:xfrm>
          <a:prstGeom prst="rect">
            <a:avLst/>
          </a:prstGeom>
          <a:noFill/>
        </p:spPr>
        <p:txBody>
          <a:bodyPr wrap="square" lIns="0" tIns="21600" rIns="0" bIns="21600" anchor="ctr">
            <a:spAutoFit/>
          </a:bodyPr>
          <a:lstStyle/>
          <a:p>
            <a:pPr algn="l"/>
            <a:r>
              <a:rPr sz="1600" b="1">
                <a:solidFill>
                  <a:srgbClr val="002060"/>
                </a:solidFill>
                <a:latin typeface="メイリオ"/>
                <a:ea typeface="メイリオ"/>
                <a:cs typeface="メイリオ"/>
              </a:rPr>
              <a:t>現状把握【自動車 求人Navi】</a:t>
            </a:r>
          </a:p>
        </p:txBody>
      </p:sp>
      <p:sp>
        <p:nvSpPr>
          <p:cNvPr id="3" name="TextBox 2"/>
          <p:cNvSpPr txBox="1"/>
          <p:nvPr/>
        </p:nvSpPr>
        <p:spPr>
          <a:xfrm>
            <a:off x="432000" y="819206"/>
            <a:ext cx="9036000" cy="341589"/>
          </a:xfrm>
          <a:prstGeom prst="rect">
            <a:avLst/>
          </a:prstGeom>
          <a:noFill/>
        </p:spPr>
        <p:txBody>
          <a:bodyPr wrap="square" lIns="0" tIns="21600" rIns="0" bIns="21600" anchor="ctr">
            <a:spAutoFit/>
          </a:bodyPr>
          <a:lstStyle/>
          <a:p>
            <a:pPr algn="l">
              <a:lnSpc>
                <a:spcPct val="128000"/>
              </a:lnSpc>
            </a:pPr>
            <a:r>
              <a:rPr sz="1600">
                <a:solidFill>
                  <a:srgbClr val="333333"/>
                </a:solidFill>
                <a:latin typeface="メイリオ"/>
                <a:ea typeface="メイリオ"/>
                <a:cs typeface="メイリオ"/>
              </a:rPr>
              <a:t>広告は動いている。しかし、応募につながっていない。</a:t>
            </a:r>
          </a:p>
        </p:txBody>
      </p:sp>
      <p:cxnSp>
        <p:nvCxnSpPr>
          <p:cNvPr id="4" name="Connector 3"/>
          <p:cNvCxnSpPr/>
          <p:nvPr/>
        </p:nvCxnSpPr>
        <p:spPr>
          <a:xfrm>
            <a:off x="0" y="1389600"/>
            <a:ext cx="9907200" cy="0"/>
          </a:xfrm>
          <a:prstGeom prst="line">
            <a:avLst/>
          </a:prstGeom>
          <a:ln w="12700">
            <a:solidFill>
              <a:srgbClr val="D9D9D9"/>
            </a:solidFill>
          </a:ln>
        </p:spPr>
        <p:style>
          <a:lnRef idx="2">
            <a:schemeClr val="accent1"/>
          </a:lnRef>
          <a:fillRef idx="0">
            <a:schemeClr val="accent1"/>
          </a:fillRef>
          <a:effectRef idx="1">
            <a:schemeClr val="accent1"/>
          </a:effectRef>
          <a:fontRef idx="minor">
            <a:schemeClr val="tx1"/>
          </a:fontRef>
        </p:style>
      </p:cxnSp>
      <p:sp>
        <p:nvSpPr>
          <p:cNvPr id="5" name="Rounded Rectangle 4"/>
          <p:cNvSpPr/>
          <p:nvPr/>
        </p:nvSpPr>
        <p:spPr>
          <a:xfrm>
            <a:off x="432000" y="1620000"/>
            <a:ext cx="2942400" cy="1584000"/>
          </a:xfrm>
          <a:prstGeom prst="roundRect">
            <a:avLst>
              <a:gd name="adj" fmla="val 6000"/>
            </a:avLst>
          </a:prstGeom>
          <a:solidFill>
            <a:srgbClr val="F4F7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432000" y="1728000"/>
            <a:ext cx="2942400" cy="251999"/>
          </a:xfrm>
          <a:prstGeom prst="rect">
            <a:avLst/>
          </a:prstGeom>
          <a:noFill/>
        </p:spPr>
        <p:txBody>
          <a:bodyPr wrap="square" lIns="50400" tIns="21600" rIns="50400" bIns="21600" anchor="ctr">
            <a:spAutoFit/>
          </a:bodyPr>
          <a:lstStyle/>
          <a:p>
            <a:pPr algn="ctr"/>
            <a:r>
              <a:rPr sz="1250" b="1">
                <a:solidFill>
                  <a:srgbClr val="1F285A"/>
                </a:solidFill>
                <a:latin typeface="メイリオ"/>
                <a:ea typeface="メイリオ"/>
                <a:cs typeface="メイリオ"/>
              </a:rPr>
              <a:t>Meta広告の応募単価</a:t>
            </a:r>
          </a:p>
        </p:txBody>
      </p:sp>
      <p:sp>
        <p:nvSpPr>
          <p:cNvPr id="7" name="TextBox 6"/>
          <p:cNvSpPr txBox="1"/>
          <p:nvPr/>
        </p:nvSpPr>
        <p:spPr>
          <a:xfrm>
            <a:off x="432000" y="2051999"/>
            <a:ext cx="2942400" cy="540000"/>
          </a:xfrm>
          <a:prstGeom prst="rect">
            <a:avLst/>
          </a:prstGeom>
          <a:noFill/>
        </p:spPr>
        <p:txBody>
          <a:bodyPr wrap="square" lIns="50400" tIns="21600" rIns="50400" bIns="21600" anchor="ctr">
            <a:spAutoFit/>
          </a:bodyPr>
          <a:lstStyle/>
          <a:p>
            <a:pPr algn="ctr"/>
            <a:r>
              <a:rPr sz="2600" b="1" dirty="0">
                <a:solidFill>
                  <a:srgbClr val="ED7D31"/>
                </a:solidFill>
                <a:latin typeface="メイリオ"/>
                <a:ea typeface="メイリオ"/>
                <a:cs typeface="メイリオ"/>
              </a:rPr>
              <a:t>約70万円/件</a:t>
            </a:r>
          </a:p>
        </p:txBody>
      </p:sp>
      <p:sp>
        <p:nvSpPr>
          <p:cNvPr id="8" name="TextBox 7"/>
          <p:cNvSpPr txBox="1"/>
          <p:nvPr/>
        </p:nvSpPr>
        <p:spPr>
          <a:xfrm>
            <a:off x="432000" y="2625048"/>
            <a:ext cx="2942400" cy="509903"/>
          </a:xfrm>
          <a:prstGeom prst="rect">
            <a:avLst/>
          </a:prstGeom>
          <a:noFill/>
        </p:spPr>
        <p:txBody>
          <a:bodyPr wrap="square" lIns="50400" tIns="21600" rIns="50400" bIns="21600" anchor="ctr">
            <a:spAutoFit/>
          </a:bodyPr>
          <a:lstStyle/>
          <a:p>
            <a:pPr algn="ctr">
              <a:lnSpc>
                <a:spcPct val="130000"/>
              </a:lnSpc>
            </a:pPr>
            <a:r>
              <a:rPr sz="1200" dirty="0">
                <a:solidFill>
                  <a:srgbClr val="333333"/>
                </a:solidFill>
                <a:latin typeface="メイリオ"/>
                <a:ea typeface="メイリオ"/>
                <a:cs typeface="メイリオ"/>
              </a:rPr>
              <a:t>年250万円の投下で</a:t>
            </a:r>
          </a:p>
          <a:p>
            <a:pPr algn="ctr">
              <a:lnSpc>
                <a:spcPct val="130000"/>
              </a:lnSpc>
            </a:pPr>
            <a:r>
              <a:rPr sz="1200" dirty="0">
                <a:solidFill>
                  <a:srgbClr val="333333"/>
                </a:solidFill>
                <a:latin typeface="メイリオ"/>
                <a:ea typeface="メイリオ"/>
                <a:cs typeface="メイリオ"/>
              </a:rPr>
              <a:t>応募は年3〜4件</a:t>
            </a:r>
          </a:p>
        </p:txBody>
      </p:sp>
      <p:sp>
        <p:nvSpPr>
          <p:cNvPr id="9" name="Rounded Rectangle 8"/>
          <p:cNvSpPr/>
          <p:nvPr/>
        </p:nvSpPr>
        <p:spPr>
          <a:xfrm>
            <a:off x="3482400" y="1620000"/>
            <a:ext cx="2942400" cy="1584000"/>
          </a:xfrm>
          <a:prstGeom prst="roundRect">
            <a:avLst>
              <a:gd name="adj" fmla="val 6000"/>
            </a:avLst>
          </a:prstGeom>
          <a:solidFill>
            <a:srgbClr val="F4F7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9"/>
          <p:cNvSpPr txBox="1"/>
          <p:nvPr/>
        </p:nvSpPr>
        <p:spPr>
          <a:xfrm>
            <a:off x="3482400" y="1728000"/>
            <a:ext cx="2942400" cy="251999"/>
          </a:xfrm>
          <a:prstGeom prst="rect">
            <a:avLst/>
          </a:prstGeom>
          <a:noFill/>
        </p:spPr>
        <p:txBody>
          <a:bodyPr wrap="square" lIns="50400" tIns="21600" rIns="50400" bIns="21600" anchor="ctr">
            <a:spAutoFit/>
          </a:bodyPr>
          <a:lstStyle/>
          <a:p>
            <a:pPr algn="ctr"/>
            <a:r>
              <a:rPr sz="1250" b="1">
                <a:solidFill>
                  <a:srgbClr val="1F285A"/>
                </a:solidFill>
                <a:latin typeface="メイリオ"/>
                <a:ea typeface="メイリオ"/>
                <a:cs typeface="メイリオ"/>
              </a:rPr>
              <a:t>整備士の応募単価（Google）</a:t>
            </a:r>
          </a:p>
        </p:txBody>
      </p:sp>
      <p:sp>
        <p:nvSpPr>
          <p:cNvPr id="11" name="TextBox 10"/>
          <p:cNvSpPr txBox="1"/>
          <p:nvPr/>
        </p:nvSpPr>
        <p:spPr>
          <a:xfrm>
            <a:off x="3482400" y="2051999"/>
            <a:ext cx="2942400" cy="540000"/>
          </a:xfrm>
          <a:prstGeom prst="rect">
            <a:avLst/>
          </a:prstGeom>
          <a:noFill/>
        </p:spPr>
        <p:txBody>
          <a:bodyPr wrap="square" lIns="50400" tIns="21600" rIns="50400" bIns="21600" anchor="ctr">
            <a:spAutoFit/>
          </a:bodyPr>
          <a:lstStyle/>
          <a:p>
            <a:pPr algn="ctr"/>
            <a:r>
              <a:rPr sz="2600" b="1">
                <a:solidFill>
                  <a:srgbClr val="ED7D31"/>
                </a:solidFill>
                <a:latin typeface="メイリオ"/>
                <a:ea typeface="メイリオ"/>
                <a:cs typeface="メイリオ"/>
              </a:rPr>
              <a:t>6万円</a:t>
            </a:r>
          </a:p>
        </p:txBody>
      </p:sp>
      <p:sp>
        <p:nvSpPr>
          <p:cNvPr id="12" name="TextBox 11"/>
          <p:cNvSpPr txBox="1"/>
          <p:nvPr/>
        </p:nvSpPr>
        <p:spPr>
          <a:xfrm>
            <a:off x="3482400" y="2625048"/>
            <a:ext cx="2942400" cy="509903"/>
          </a:xfrm>
          <a:prstGeom prst="rect">
            <a:avLst/>
          </a:prstGeom>
          <a:noFill/>
        </p:spPr>
        <p:txBody>
          <a:bodyPr wrap="square" lIns="50400" tIns="21600" rIns="50400" bIns="21600" anchor="ctr">
            <a:spAutoFit/>
          </a:bodyPr>
          <a:lstStyle/>
          <a:p>
            <a:pPr algn="ctr">
              <a:lnSpc>
                <a:spcPct val="130000"/>
              </a:lnSpc>
            </a:pPr>
            <a:r>
              <a:rPr sz="1200">
                <a:solidFill>
                  <a:srgbClr val="333333"/>
                </a:solidFill>
                <a:latin typeface="メイリオ"/>
                <a:ea typeface="メイリオ"/>
                <a:cs typeface="メイリオ"/>
              </a:rPr>
              <a:t>目標は2〜2.5万円</a:t>
            </a:r>
          </a:p>
          <a:p>
            <a:pPr algn="ctr">
              <a:lnSpc>
                <a:spcPct val="130000"/>
              </a:lnSpc>
            </a:pPr>
            <a:r>
              <a:rPr sz="1200">
                <a:solidFill>
                  <a:srgbClr val="333333"/>
                </a:solidFill>
                <a:latin typeface="メイリオ"/>
                <a:ea typeface="メイリオ"/>
                <a:cs typeface="メイリオ"/>
              </a:rPr>
              <a:t>＝2.4〜3倍の乖離</a:t>
            </a:r>
          </a:p>
        </p:txBody>
      </p:sp>
      <p:sp>
        <p:nvSpPr>
          <p:cNvPr id="13" name="Rounded Rectangle 12"/>
          <p:cNvSpPr/>
          <p:nvPr/>
        </p:nvSpPr>
        <p:spPr>
          <a:xfrm>
            <a:off x="6532800" y="1620000"/>
            <a:ext cx="2942400" cy="1584000"/>
          </a:xfrm>
          <a:prstGeom prst="roundRect">
            <a:avLst>
              <a:gd name="adj" fmla="val 6000"/>
            </a:avLst>
          </a:prstGeom>
          <a:solidFill>
            <a:srgbClr val="F4F7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13"/>
          <p:cNvSpPr txBox="1"/>
          <p:nvPr/>
        </p:nvSpPr>
        <p:spPr>
          <a:xfrm>
            <a:off x="6532800" y="1728000"/>
            <a:ext cx="2942400" cy="251999"/>
          </a:xfrm>
          <a:prstGeom prst="rect">
            <a:avLst/>
          </a:prstGeom>
          <a:noFill/>
        </p:spPr>
        <p:txBody>
          <a:bodyPr wrap="square" lIns="50400" tIns="21600" rIns="50400" bIns="21600" anchor="ctr">
            <a:spAutoFit/>
          </a:bodyPr>
          <a:lstStyle/>
          <a:p>
            <a:pPr algn="ctr"/>
            <a:r>
              <a:rPr sz="1250" b="1">
                <a:solidFill>
                  <a:srgbClr val="1F285A"/>
                </a:solidFill>
                <a:latin typeface="メイリオ"/>
                <a:ea typeface="メイリオ"/>
                <a:cs typeface="メイリオ"/>
              </a:rPr>
              <a:t>月間サイト訪問</a:t>
            </a:r>
          </a:p>
        </p:txBody>
      </p:sp>
      <p:sp>
        <p:nvSpPr>
          <p:cNvPr id="15" name="TextBox 14"/>
          <p:cNvSpPr txBox="1"/>
          <p:nvPr/>
        </p:nvSpPr>
        <p:spPr>
          <a:xfrm>
            <a:off x="6532800" y="2051999"/>
            <a:ext cx="2942400" cy="540000"/>
          </a:xfrm>
          <a:prstGeom prst="rect">
            <a:avLst/>
          </a:prstGeom>
          <a:noFill/>
        </p:spPr>
        <p:txBody>
          <a:bodyPr wrap="square" lIns="50400" tIns="21600" rIns="50400" bIns="21600" anchor="ctr">
            <a:spAutoFit/>
          </a:bodyPr>
          <a:lstStyle/>
          <a:p>
            <a:pPr algn="ctr"/>
            <a:r>
              <a:rPr sz="2600" b="1">
                <a:solidFill>
                  <a:srgbClr val="ED7D31"/>
                </a:solidFill>
                <a:latin typeface="メイリオ"/>
                <a:ea typeface="メイリオ"/>
                <a:cs typeface="メイリオ"/>
              </a:rPr>
              <a:t>3,215 UU</a:t>
            </a:r>
          </a:p>
        </p:txBody>
      </p:sp>
      <p:sp>
        <p:nvSpPr>
          <p:cNvPr id="16" name="TextBox 15"/>
          <p:cNvSpPr txBox="1"/>
          <p:nvPr/>
        </p:nvSpPr>
        <p:spPr>
          <a:xfrm>
            <a:off x="6532800" y="2625048"/>
            <a:ext cx="2942400" cy="509903"/>
          </a:xfrm>
          <a:prstGeom prst="rect">
            <a:avLst/>
          </a:prstGeom>
          <a:noFill/>
        </p:spPr>
        <p:txBody>
          <a:bodyPr wrap="square" lIns="50400" tIns="21600" rIns="50400" bIns="21600" anchor="ctr">
            <a:spAutoFit/>
          </a:bodyPr>
          <a:lstStyle/>
          <a:p>
            <a:pPr algn="ctr">
              <a:lnSpc>
                <a:spcPct val="130000"/>
              </a:lnSpc>
            </a:pPr>
            <a:r>
              <a:rPr sz="1200">
                <a:solidFill>
                  <a:srgbClr val="333333"/>
                </a:solidFill>
                <a:latin typeface="メイリオ"/>
                <a:ea typeface="メイリオ"/>
                <a:cs typeface="メイリオ"/>
              </a:rPr>
              <a:t>SimilarWeb推計</a:t>
            </a:r>
          </a:p>
          <a:p>
            <a:pPr algn="ctr">
              <a:lnSpc>
                <a:spcPct val="130000"/>
              </a:lnSpc>
            </a:pPr>
            <a:r>
              <a:rPr sz="1200">
                <a:solidFill>
                  <a:srgbClr val="333333"/>
                </a:solidFill>
                <a:latin typeface="メイリオ"/>
                <a:ea typeface="メイリオ"/>
                <a:cs typeface="メイリオ"/>
              </a:rPr>
              <a:t>応募まで進むのはごく一部</a:t>
            </a:r>
          </a:p>
        </p:txBody>
      </p:sp>
      <p:sp>
        <p:nvSpPr>
          <p:cNvPr id="17" name="Rounded Rectangle 16"/>
          <p:cNvSpPr/>
          <p:nvPr/>
        </p:nvSpPr>
        <p:spPr>
          <a:xfrm>
            <a:off x="432000" y="3537000"/>
            <a:ext cx="9043200" cy="957362"/>
          </a:xfrm>
          <a:prstGeom prst="roundRect">
            <a:avLst>
              <a:gd name="adj" fmla="val 6000"/>
            </a:avLst>
          </a:prstGeom>
          <a:solidFill>
            <a:srgbClr val="FDF2F2"/>
          </a:solidFill>
          <a:ln w="15875">
            <a:solidFill>
              <a:srgbClr val="C000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dirty="0"/>
          </a:p>
        </p:txBody>
      </p:sp>
      <p:sp>
        <p:nvSpPr>
          <p:cNvPr id="18" name="TextBox 17"/>
          <p:cNvSpPr txBox="1"/>
          <p:nvPr/>
        </p:nvSpPr>
        <p:spPr>
          <a:xfrm>
            <a:off x="608400" y="3580639"/>
            <a:ext cx="8683200" cy="854357"/>
          </a:xfrm>
          <a:prstGeom prst="rect">
            <a:avLst/>
          </a:prstGeom>
          <a:noFill/>
        </p:spPr>
        <p:txBody>
          <a:bodyPr wrap="square" lIns="50400" tIns="21600" rIns="50400" bIns="21600" anchor="ctr">
            <a:spAutoFit/>
          </a:bodyPr>
          <a:lstStyle/>
          <a:p>
            <a:pPr algn="l">
              <a:spcAft>
                <a:spcPts val="400"/>
              </a:spcAft>
            </a:pPr>
            <a:r>
              <a:rPr sz="1400" b="1" dirty="0">
                <a:solidFill>
                  <a:srgbClr val="C00000"/>
                </a:solidFill>
                <a:latin typeface="メイリオ"/>
                <a:ea typeface="メイリオ"/>
                <a:cs typeface="メイリオ"/>
              </a:rPr>
              <a:t>あわせて2点、すぐに直せる改善点があります。</a:t>
            </a:r>
          </a:p>
          <a:p>
            <a:pPr algn="l">
              <a:lnSpc>
                <a:spcPct val="130000"/>
              </a:lnSpc>
            </a:pPr>
            <a:r>
              <a:rPr sz="1400" dirty="0">
                <a:solidFill>
                  <a:srgbClr val="333333"/>
                </a:solidFill>
                <a:latin typeface="メイリオ"/>
                <a:ea typeface="メイリオ"/>
                <a:cs typeface="メイリオ"/>
              </a:rPr>
              <a:t>① </a:t>
            </a:r>
            <a:r>
              <a:rPr sz="1400" dirty="0" err="1">
                <a:solidFill>
                  <a:srgbClr val="333333"/>
                </a:solidFill>
                <a:latin typeface="メイリオ"/>
                <a:ea typeface="メイリオ"/>
                <a:cs typeface="メイリオ"/>
              </a:rPr>
              <a:t>トップページの「転職支援サービス申込」ボタンが現在リンク切れ（押した先が非公開の求人ページ</a:t>
            </a:r>
            <a:r>
              <a:rPr sz="1400" dirty="0">
                <a:solidFill>
                  <a:srgbClr val="333333"/>
                </a:solidFill>
                <a:latin typeface="メイリオ"/>
                <a:ea typeface="メイリオ"/>
                <a:cs typeface="メイリオ"/>
              </a:rPr>
              <a:t>）</a:t>
            </a:r>
          </a:p>
          <a:p>
            <a:pPr algn="l">
              <a:lnSpc>
                <a:spcPct val="130000"/>
              </a:lnSpc>
            </a:pPr>
            <a:r>
              <a:rPr sz="1400" dirty="0">
                <a:solidFill>
                  <a:srgbClr val="333333"/>
                </a:solidFill>
                <a:latin typeface="メイリオ"/>
                <a:ea typeface="メイリオ"/>
                <a:cs typeface="メイリオ"/>
              </a:rPr>
              <a:t>② 電話相談の受付が平日10:00〜18:00のみ ＝ </a:t>
            </a:r>
            <a:r>
              <a:rPr sz="1400" dirty="0" err="1">
                <a:solidFill>
                  <a:srgbClr val="333333"/>
                </a:solidFill>
                <a:latin typeface="メイリオ"/>
                <a:ea typeface="メイリオ"/>
                <a:cs typeface="メイリオ"/>
              </a:rPr>
              <a:t>整備士の方が働いている時間帯</a:t>
            </a:r>
            <a:endParaRPr sz="1400" dirty="0">
              <a:solidFill>
                <a:srgbClr val="333333"/>
              </a:solidFill>
              <a:latin typeface="メイリオ"/>
              <a:ea typeface="メイリオ"/>
              <a:cs typeface="メイリオ"/>
            </a:endParaRPr>
          </a:p>
        </p:txBody>
      </p:sp>
      <p:sp>
        <p:nvSpPr>
          <p:cNvPr id="19" name="TextBox 18"/>
          <p:cNvSpPr txBox="1"/>
          <p:nvPr/>
        </p:nvSpPr>
        <p:spPr>
          <a:xfrm>
            <a:off x="432000" y="6246000"/>
            <a:ext cx="9043200" cy="324000"/>
          </a:xfrm>
          <a:prstGeom prst="rect">
            <a:avLst/>
          </a:prstGeom>
          <a:noFill/>
        </p:spPr>
        <p:txBody>
          <a:bodyPr wrap="square" lIns="0" tIns="21600" rIns="0" bIns="21600" anchor="t">
            <a:spAutoFit/>
          </a:bodyPr>
          <a:lstStyle/>
          <a:p>
            <a:pPr algn="l">
              <a:lnSpc>
                <a:spcPct val="115000"/>
              </a:lnSpc>
            </a:pPr>
            <a:r>
              <a:rPr sz="950">
                <a:solidFill>
                  <a:srgbClr val="7F7F7F"/>
                </a:solidFill>
                <a:latin typeface="メイリオ"/>
                <a:ea typeface="メイリオ"/>
                <a:cs typeface="メイリオ"/>
              </a:rPr>
              <a:t>出典：与件ヒアリング（2026-09）／サイト実査 2026-09-21。UUはSimilarWeb推計のため、GA実測値をいただき次第置き換え</a:t>
            </a:r>
          </a:p>
        </p:txBody>
      </p:sp>
    </p:spTree>
    <p:extLst>
      <p:ext uri="{BB962C8B-B14F-4D97-AF65-F5344CB8AC3E}">
        <p14:creationId xmlns:p14="http://schemas.microsoft.com/office/powerpoint/2010/main" val="2378484531"/>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70E5221-666F-DE20-B9E8-FDFC607CC22D}"/>
            </a:ext>
          </a:extLst>
        </p:cNvPr>
        <p:cNvGrpSpPr/>
        <p:nvPr/>
      </p:nvGrpSpPr>
      <p:grpSpPr>
        <a:xfrm>
          <a:off x="0" y="0"/>
          <a:ext cx="0" cy="0"/>
          <a:chOff x="0" y="0"/>
          <a:chExt cx="0" cy="0"/>
        </a:xfrm>
      </p:grpSpPr>
      <p:sp>
        <p:nvSpPr>
          <p:cNvPr id="2" name="TextBox 1"/>
          <p:cNvSpPr txBox="1"/>
          <p:nvPr/>
        </p:nvSpPr>
        <p:spPr>
          <a:xfrm>
            <a:off x="547200" y="136800"/>
            <a:ext cx="8784000" cy="338400"/>
          </a:xfrm>
          <a:prstGeom prst="rect">
            <a:avLst/>
          </a:prstGeom>
          <a:noFill/>
        </p:spPr>
        <p:txBody>
          <a:bodyPr wrap="square" lIns="0" tIns="21600" rIns="0" bIns="21600" anchor="ctr">
            <a:spAutoFit/>
          </a:bodyPr>
          <a:lstStyle/>
          <a:p>
            <a:pPr algn="l"/>
            <a:r>
              <a:rPr sz="1600" b="1">
                <a:solidFill>
                  <a:srgbClr val="002060"/>
                </a:solidFill>
                <a:latin typeface="メイリオ"/>
                <a:ea typeface="メイリオ"/>
                <a:cs typeface="メイリオ"/>
              </a:rPr>
              <a:t>想定動線【自動車 求人Navi】</a:t>
            </a:r>
          </a:p>
        </p:txBody>
      </p:sp>
      <p:sp>
        <p:nvSpPr>
          <p:cNvPr id="3" name="TextBox 2"/>
          <p:cNvSpPr txBox="1"/>
          <p:nvPr/>
        </p:nvSpPr>
        <p:spPr>
          <a:xfrm>
            <a:off x="432000" y="648000"/>
            <a:ext cx="9036000" cy="684000"/>
          </a:xfrm>
          <a:prstGeom prst="rect">
            <a:avLst/>
          </a:prstGeom>
          <a:noFill/>
        </p:spPr>
        <p:txBody>
          <a:bodyPr wrap="square" lIns="0" tIns="21600" rIns="0" bIns="21600" anchor="ctr">
            <a:spAutoFit/>
          </a:bodyPr>
          <a:lstStyle/>
          <a:p>
            <a:pPr algn="l">
              <a:lnSpc>
                <a:spcPct val="128000"/>
              </a:lnSpc>
            </a:pPr>
            <a:r>
              <a:rPr sz="1300">
                <a:solidFill>
                  <a:srgbClr val="333333"/>
                </a:solidFill>
                <a:latin typeface="メイリオ"/>
                <a:ea typeface="メイリオ"/>
                <a:cs typeface="メイリオ"/>
              </a:rPr>
              <a:t>現状は「今すぐ応募する」の一段のみ。迷っている段階の受け皿をLINEでつくる。</a:t>
            </a:r>
          </a:p>
        </p:txBody>
      </p:sp>
      <p:cxnSp>
        <p:nvCxnSpPr>
          <p:cNvPr id="4" name="Connector 3"/>
          <p:cNvCxnSpPr/>
          <p:nvPr/>
        </p:nvCxnSpPr>
        <p:spPr>
          <a:xfrm>
            <a:off x="0" y="1389600"/>
            <a:ext cx="9907200" cy="0"/>
          </a:xfrm>
          <a:prstGeom prst="line">
            <a:avLst/>
          </a:prstGeom>
          <a:ln w="12700">
            <a:solidFill>
              <a:srgbClr val="D9D9D9"/>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432000" y="1944641"/>
            <a:ext cx="1440000" cy="289843"/>
          </a:xfrm>
          <a:prstGeom prst="rect">
            <a:avLst/>
          </a:prstGeom>
          <a:noFill/>
        </p:spPr>
        <p:txBody>
          <a:bodyPr wrap="square" lIns="50400" tIns="21600" rIns="50400" bIns="21600" anchor="ctr">
            <a:spAutoFit/>
          </a:bodyPr>
          <a:lstStyle/>
          <a:p>
            <a:pPr algn="l"/>
            <a:r>
              <a:rPr sz="1600" b="1">
                <a:solidFill>
                  <a:srgbClr val="7F7F7F"/>
                </a:solidFill>
                <a:latin typeface="メイリオ"/>
                <a:ea typeface="メイリオ"/>
                <a:cs typeface="メイリオ"/>
              </a:rPr>
              <a:t>現状</a:t>
            </a:r>
          </a:p>
        </p:txBody>
      </p:sp>
      <p:sp>
        <p:nvSpPr>
          <p:cNvPr id="6" name="Rounded Rectangle 5"/>
          <p:cNvSpPr/>
          <p:nvPr/>
        </p:nvSpPr>
        <p:spPr>
          <a:xfrm>
            <a:off x="432000" y="2215561"/>
            <a:ext cx="2098800" cy="396000"/>
          </a:xfrm>
          <a:prstGeom prst="roundRect">
            <a:avLst>
              <a:gd name="adj" fmla="val 6000"/>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wrap="square" lIns="50400" tIns="21600" rIns="50400" bIns="21600" rtlCol="0" anchor="ctr"/>
          <a:lstStyle/>
          <a:p>
            <a:pPr algn="ctr"/>
            <a:r>
              <a:rPr sz="1600" b="1">
                <a:solidFill>
                  <a:srgbClr val="FFFFFF"/>
                </a:solidFill>
                <a:latin typeface="メイリオ"/>
                <a:ea typeface="メイリオ"/>
                <a:cs typeface="メイリオ"/>
              </a:rPr>
              <a:t>流入</a:t>
            </a:r>
          </a:p>
        </p:txBody>
      </p:sp>
      <p:sp>
        <p:nvSpPr>
          <p:cNvPr id="7" name="TextBox 6"/>
          <p:cNvSpPr txBox="1"/>
          <p:nvPr/>
        </p:nvSpPr>
        <p:spPr>
          <a:xfrm>
            <a:off x="2548800" y="2253252"/>
            <a:ext cx="180000" cy="320621"/>
          </a:xfrm>
          <a:prstGeom prst="rect">
            <a:avLst/>
          </a:prstGeom>
          <a:noFill/>
        </p:spPr>
        <p:txBody>
          <a:bodyPr wrap="square" lIns="50400" tIns="21600" rIns="50400" bIns="21600" anchor="ctr">
            <a:spAutoFit/>
          </a:bodyPr>
          <a:lstStyle/>
          <a:p>
            <a:pPr algn="ctr"/>
            <a:r>
              <a:rPr b="1">
                <a:solidFill>
                  <a:srgbClr val="7F7F7F"/>
                </a:solidFill>
                <a:latin typeface="メイリオ"/>
                <a:ea typeface="メイリオ"/>
                <a:cs typeface="メイリオ"/>
              </a:rPr>
              <a:t>→</a:t>
            </a:r>
          </a:p>
        </p:txBody>
      </p:sp>
      <p:sp>
        <p:nvSpPr>
          <p:cNvPr id="8" name="Rounded Rectangle 7"/>
          <p:cNvSpPr/>
          <p:nvPr/>
        </p:nvSpPr>
        <p:spPr>
          <a:xfrm>
            <a:off x="2746800" y="2215561"/>
            <a:ext cx="2098800" cy="396000"/>
          </a:xfrm>
          <a:prstGeom prst="roundRect">
            <a:avLst>
              <a:gd name="adj" fmla="val 6000"/>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wrap="square" lIns="50400" tIns="21600" rIns="50400" bIns="21600" rtlCol="0" anchor="ctr"/>
          <a:lstStyle/>
          <a:p>
            <a:pPr algn="ctr"/>
            <a:r>
              <a:rPr sz="1600" b="1">
                <a:solidFill>
                  <a:srgbClr val="FFFFFF"/>
                </a:solidFill>
                <a:latin typeface="メイリオ"/>
                <a:ea typeface="メイリオ"/>
                <a:cs typeface="メイリオ"/>
              </a:rPr>
              <a:t>求人を見る</a:t>
            </a:r>
          </a:p>
        </p:txBody>
      </p:sp>
      <p:sp>
        <p:nvSpPr>
          <p:cNvPr id="9" name="TextBox 8"/>
          <p:cNvSpPr txBox="1"/>
          <p:nvPr/>
        </p:nvSpPr>
        <p:spPr>
          <a:xfrm>
            <a:off x="4863600" y="2253252"/>
            <a:ext cx="180000" cy="320621"/>
          </a:xfrm>
          <a:prstGeom prst="rect">
            <a:avLst/>
          </a:prstGeom>
          <a:noFill/>
        </p:spPr>
        <p:txBody>
          <a:bodyPr wrap="square" lIns="50400" tIns="21600" rIns="50400" bIns="21600" anchor="ctr">
            <a:spAutoFit/>
          </a:bodyPr>
          <a:lstStyle/>
          <a:p>
            <a:pPr algn="ctr"/>
            <a:r>
              <a:rPr b="1">
                <a:solidFill>
                  <a:srgbClr val="7F7F7F"/>
                </a:solidFill>
                <a:latin typeface="メイリオ"/>
                <a:ea typeface="メイリオ"/>
                <a:cs typeface="メイリオ"/>
              </a:rPr>
              <a:t>→</a:t>
            </a:r>
          </a:p>
        </p:txBody>
      </p:sp>
      <p:sp>
        <p:nvSpPr>
          <p:cNvPr id="10" name="Rounded Rectangle 9"/>
          <p:cNvSpPr/>
          <p:nvPr/>
        </p:nvSpPr>
        <p:spPr>
          <a:xfrm>
            <a:off x="5061600" y="2215561"/>
            <a:ext cx="2098800" cy="396000"/>
          </a:xfrm>
          <a:prstGeom prst="roundRect">
            <a:avLst>
              <a:gd name="adj" fmla="val 6000"/>
            </a:avLst>
          </a:prstGeom>
          <a:solidFill>
            <a:srgbClr val="ED7D31"/>
          </a:solidFill>
          <a:ln>
            <a:noFill/>
          </a:ln>
          <a:effectLst/>
        </p:spPr>
        <p:style>
          <a:lnRef idx="1">
            <a:schemeClr val="accent1"/>
          </a:lnRef>
          <a:fillRef idx="3">
            <a:schemeClr val="accent1"/>
          </a:fillRef>
          <a:effectRef idx="2">
            <a:schemeClr val="accent1"/>
          </a:effectRef>
          <a:fontRef idx="minor">
            <a:schemeClr val="lt1"/>
          </a:fontRef>
        </p:style>
        <p:txBody>
          <a:bodyPr wrap="square" lIns="50400" tIns="21600" rIns="50400" bIns="21600" rtlCol="0" anchor="ctr"/>
          <a:lstStyle/>
          <a:p>
            <a:pPr algn="ctr"/>
            <a:r>
              <a:rPr sz="1600" b="1">
                <a:solidFill>
                  <a:srgbClr val="FFFFFF"/>
                </a:solidFill>
                <a:latin typeface="メイリオ"/>
                <a:ea typeface="メイリオ"/>
                <a:cs typeface="メイリオ"/>
              </a:rPr>
              <a:t>今すぐ応募する</a:t>
            </a:r>
          </a:p>
        </p:txBody>
      </p:sp>
      <p:sp>
        <p:nvSpPr>
          <p:cNvPr id="11" name="TextBox 10"/>
          <p:cNvSpPr txBox="1"/>
          <p:nvPr/>
        </p:nvSpPr>
        <p:spPr>
          <a:xfrm>
            <a:off x="7178400" y="2253252"/>
            <a:ext cx="180000" cy="320621"/>
          </a:xfrm>
          <a:prstGeom prst="rect">
            <a:avLst/>
          </a:prstGeom>
          <a:noFill/>
        </p:spPr>
        <p:txBody>
          <a:bodyPr wrap="square" lIns="50400" tIns="21600" rIns="50400" bIns="21600" anchor="ctr">
            <a:spAutoFit/>
          </a:bodyPr>
          <a:lstStyle/>
          <a:p>
            <a:pPr algn="ctr"/>
            <a:r>
              <a:rPr b="1">
                <a:solidFill>
                  <a:srgbClr val="7F7F7F"/>
                </a:solidFill>
                <a:latin typeface="メイリオ"/>
                <a:ea typeface="メイリオ"/>
                <a:cs typeface="メイリオ"/>
              </a:rPr>
              <a:t>→</a:t>
            </a:r>
          </a:p>
        </p:txBody>
      </p:sp>
      <p:sp>
        <p:nvSpPr>
          <p:cNvPr id="12" name="Rounded Rectangle 11"/>
          <p:cNvSpPr/>
          <p:nvPr/>
        </p:nvSpPr>
        <p:spPr>
          <a:xfrm>
            <a:off x="7376399" y="2215561"/>
            <a:ext cx="2098800" cy="396000"/>
          </a:xfrm>
          <a:prstGeom prst="roundRect">
            <a:avLst>
              <a:gd name="adj" fmla="val 6000"/>
            </a:avLst>
          </a:prstGeom>
          <a:solidFill>
            <a:srgbClr val="FDF2F2"/>
          </a:solidFill>
          <a:ln w="15875">
            <a:solidFill>
              <a:srgbClr val="C00000"/>
            </a:solidFill>
          </a:ln>
          <a:effectLst/>
        </p:spPr>
        <p:style>
          <a:lnRef idx="1">
            <a:schemeClr val="accent1"/>
          </a:lnRef>
          <a:fillRef idx="3">
            <a:schemeClr val="accent1"/>
          </a:fillRef>
          <a:effectRef idx="2">
            <a:schemeClr val="accent1"/>
          </a:effectRef>
          <a:fontRef idx="minor">
            <a:schemeClr val="lt1"/>
          </a:fontRef>
        </p:style>
        <p:txBody>
          <a:bodyPr wrap="square" lIns="50400" tIns="21600" rIns="50400" bIns="21600" rtlCol="0" anchor="ctr"/>
          <a:lstStyle/>
          <a:p>
            <a:pPr algn="ctr"/>
            <a:r>
              <a:rPr sz="1600" b="1">
                <a:solidFill>
                  <a:srgbClr val="C00000"/>
                </a:solidFill>
                <a:latin typeface="メイリオ"/>
                <a:ea typeface="メイリオ"/>
                <a:cs typeface="メイリオ"/>
              </a:rPr>
              <a:t>迷った人は離脱</a:t>
            </a:r>
          </a:p>
        </p:txBody>
      </p:sp>
      <p:sp>
        <p:nvSpPr>
          <p:cNvPr id="13" name="TextBox 12"/>
          <p:cNvSpPr txBox="1"/>
          <p:nvPr/>
        </p:nvSpPr>
        <p:spPr>
          <a:xfrm>
            <a:off x="432000" y="2718641"/>
            <a:ext cx="2160000" cy="289843"/>
          </a:xfrm>
          <a:prstGeom prst="rect">
            <a:avLst/>
          </a:prstGeom>
          <a:noFill/>
        </p:spPr>
        <p:txBody>
          <a:bodyPr wrap="square" lIns="50400" tIns="21600" rIns="50400" bIns="21600" anchor="ctr">
            <a:spAutoFit/>
          </a:bodyPr>
          <a:lstStyle/>
          <a:p>
            <a:pPr algn="l"/>
            <a:r>
              <a:rPr sz="1600" b="1">
                <a:solidFill>
                  <a:srgbClr val="06C755"/>
                </a:solidFill>
                <a:latin typeface="メイリオ"/>
                <a:ea typeface="メイリオ"/>
                <a:cs typeface="メイリオ"/>
              </a:rPr>
              <a:t>LINE導入後</a:t>
            </a:r>
          </a:p>
        </p:txBody>
      </p:sp>
      <p:sp>
        <p:nvSpPr>
          <p:cNvPr id="14" name="Rounded Rectangle 13"/>
          <p:cNvSpPr/>
          <p:nvPr/>
        </p:nvSpPr>
        <p:spPr>
          <a:xfrm>
            <a:off x="432000" y="2989561"/>
            <a:ext cx="1213201" cy="859953"/>
          </a:xfrm>
          <a:prstGeom prst="roundRect">
            <a:avLst>
              <a:gd name="adj" fmla="val 6000"/>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wrap="square" lIns="28800" tIns="21600" rIns="28800" bIns="21600" rtlCol="0" anchor="ctr"/>
          <a:lstStyle/>
          <a:p>
            <a:pPr algn="ctr">
              <a:lnSpc>
                <a:spcPct val="115000"/>
              </a:lnSpc>
            </a:pPr>
            <a:r>
              <a:rPr sz="1400" b="1">
                <a:solidFill>
                  <a:srgbClr val="FFFFFF"/>
                </a:solidFill>
                <a:latin typeface="メイリオ"/>
                <a:ea typeface="メイリオ"/>
                <a:cs typeface="メイリオ"/>
              </a:rPr>
              <a:t>流入</a:t>
            </a:r>
          </a:p>
        </p:txBody>
      </p:sp>
      <p:sp>
        <p:nvSpPr>
          <p:cNvPr id="15" name="TextBox 14"/>
          <p:cNvSpPr txBox="1"/>
          <p:nvPr/>
        </p:nvSpPr>
        <p:spPr>
          <a:xfrm>
            <a:off x="1669971" y="3201860"/>
            <a:ext cx="148030" cy="289843"/>
          </a:xfrm>
          <a:prstGeom prst="rect">
            <a:avLst/>
          </a:prstGeom>
          <a:noFill/>
        </p:spPr>
        <p:txBody>
          <a:bodyPr wrap="square" lIns="50400" tIns="21600" rIns="50400" bIns="21600" anchor="ctr">
            <a:spAutoFit/>
          </a:bodyPr>
          <a:lstStyle/>
          <a:p>
            <a:pPr algn="ctr"/>
            <a:r>
              <a:rPr sz="1600" b="1" dirty="0">
                <a:solidFill>
                  <a:srgbClr val="7F7F7F"/>
                </a:solidFill>
                <a:latin typeface="メイリオ"/>
                <a:ea typeface="メイリオ"/>
                <a:cs typeface="メイリオ"/>
              </a:rPr>
              <a:t>→</a:t>
            </a:r>
          </a:p>
        </p:txBody>
      </p:sp>
      <p:sp>
        <p:nvSpPr>
          <p:cNvPr id="16" name="Rounded Rectangle 15"/>
          <p:cNvSpPr/>
          <p:nvPr/>
        </p:nvSpPr>
        <p:spPr>
          <a:xfrm>
            <a:off x="1857975" y="2989560"/>
            <a:ext cx="1368459" cy="859953"/>
          </a:xfrm>
          <a:prstGeom prst="roundRect">
            <a:avLst>
              <a:gd name="adj" fmla="val 6000"/>
            </a:avLst>
          </a:prstGeom>
          <a:solidFill>
            <a:srgbClr val="06C755"/>
          </a:solidFill>
          <a:ln>
            <a:noFill/>
          </a:ln>
          <a:effectLst/>
        </p:spPr>
        <p:style>
          <a:lnRef idx="1">
            <a:schemeClr val="accent1"/>
          </a:lnRef>
          <a:fillRef idx="3">
            <a:schemeClr val="accent1"/>
          </a:fillRef>
          <a:effectRef idx="2">
            <a:schemeClr val="accent1"/>
          </a:effectRef>
          <a:fontRef idx="minor">
            <a:schemeClr val="lt1"/>
          </a:fontRef>
        </p:style>
        <p:txBody>
          <a:bodyPr wrap="square" lIns="28800" tIns="21600" rIns="28800" bIns="21600" rtlCol="0" anchor="ctr"/>
          <a:lstStyle/>
          <a:p>
            <a:pPr algn="ctr">
              <a:lnSpc>
                <a:spcPct val="115000"/>
              </a:lnSpc>
            </a:pPr>
            <a:r>
              <a:rPr sz="1400" b="1" dirty="0" err="1">
                <a:solidFill>
                  <a:srgbClr val="FFFFFF"/>
                </a:solidFill>
                <a:latin typeface="メイリオ"/>
                <a:ea typeface="メイリオ"/>
                <a:cs typeface="メイリオ"/>
              </a:rPr>
              <a:t>LINE友だち化</a:t>
            </a:r>
            <a:endParaRPr sz="1400" b="1" dirty="0">
              <a:solidFill>
                <a:srgbClr val="FFFFFF"/>
              </a:solidFill>
              <a:latin typeface="メイリオ"/>
              <a:ea typeface="メイリオ"/>
              <a:cs typeface="メイリオ"/>
            </a:endParaRPr>
          </a:p>
          <a:p>
            <a:pPr algn="ctr">
              <a:lnSpc>
                <a:spcPct val="115000"/>
              </a:lnSpc>
            </a:pPr>
            <a:r>
              <a:rPr sz="1400" b="1" dirty="0">
                <a:solidFill>
                  <a:srgbClr val="FFFFFF"/>
                </a:solidFill>
                <a:latin typeface="メイリオ"/>
                <a:ea typeface="メイリオ"/>
                <a:cs typeface="メイリオ"/>
              </a:rPr>
              <a:t>（</a:t>
            </a:r>
            <a:r>
              <a:rPr sz="1400" b="1" dirty="0" err="1">
                <a:solidFill>
                  <a:srgbClr val="FFFFFF"/>
                </a:solidFill>
                <a:latin typeface="メイリオ"/>
                <a:ea typeface="メイリオ"/>
                <a:cs typeface="メイリオ"/>
              </a:rPr>
              <a:t>離脱防止・CPF</a:t>
            </a:r>
            <a:r>
              <a:rPr sz="1400" b="1" dirty="0">
                <a:solidFill>
                  <a:srgbClr val="FFFFFF"/>
                </a:solidFill>
                <a:latin typeface="メイリオ"/>
                <a:ea typeface="メイリオ"/>
                <a:cs typeface="メイリオ"/>
              </a:rPr>
              <a:t>）</a:t>
            </a:r>
          </a:p>
        </p:txBody>
      </p:sp>
      <p:sp>
        <p:nvSpPr>
          <p:cNvPr id="17" name="TextBox 16"/>
          <p:cNvSpPr txBox="1"/>
          <p:nvPr/>
        </p:nvSpPr>
        <p:spPr>
          <a:xfrm>
            <a:off x="3203243" y="3196920"/>
            <a:ext cx="287567" cy="289843"/>
          </a:xfrm>
          <a:prstGeom prst="rect">
            <a:avLst/>
          </a:prstGeom>
          <a:noFill/>
        </p:spPr>
        <p:txBody>
          <a:bodyPr wrap="square" lIns="50400" tIns="21600" rIns="50400" bIns="21600" anchor="ctr">
            <a:spAutoFit/>
          </a:bodyPr>
          <a:lstStyle/>
          <a:p>
            <a:pPr algn="ctr"/>
            <a:r>
              <a:rPr sz="1600" b="1" dirty="0">
                <a:solidFill>
                  <a:srgbClr val="7F7F7F"/>
                </a:solidFill>
                <a:latin typeface="メイリオ"/>
                <a:ea typeface="メイリオ"/>
                <a:cs typeface="メイリオ"/>
              </a:rPr>
              <a:t>→</a:t>
            </a:r>
          </a:p>
        </p:txBody>
      </p:sp>
      <p:sp>
        <p:nvSpPr>
          <p:cNvPr id="18" name="Rounded Rectangle 17"/>
          <p:cNvSpPr/>
          <p:nvPr/>
        </p:nvSpPr>
        <p:spPr>
          <a:xfrm>
            <a:off x="3467619" y="2989559"/>
            <a:ext cx="1368459" cy="859953"/>
          </a:xfrm>
          <a:prstGeom prst="roundRect">
            <a:avLst>
              <a:gd name="adj" fmla="val 6000"/>
            </a:avLst>
          </a:prstGeom>
          <a:solidFill>
            <a:srgbClr val="06C755"/>
          </a:solidFill>
          <a:ln>
            <a:noFill/>
          </a:ln>
          <a:effectLst/>
        </p:spPr>
        <p:style>
          <a:lnRef idx="1">
            <a:schemeClr val="accent1"/>
          </a:lnRef>
          <a:fillRef idx="3">
            <a:schemeClr val="accent1"/>
          </a:fillRef>
          <a:effectRef idx="2">
            <a:schemeClr val="accent1"/>
          </a:effectRef>
          <a:fontRef idx="minor">
            <a:schemeClr val="lt1"/>
          </a:fontRef>
        </p:style>
        <p:txBody>
          <a:bodyPr wrap="square" lIns="28800" tIns="21600" rIns="28800" bIns="21600" rtlCol="0" anchor="ctr"/>
          <a:lstStyle/>
          <a:p>
            <a:pPr algn="ctr">
              <a:lnSpc>
                <a:spcPct val="115000"/>
              </a:lnSpc>
            </a:pPr>
            <a:r>
              <a:rPr sz="1400" b="1" dirty="0">
                <a:solidFill>
                  <a:srgbClr val="FFFFFF"/>
                </a:solidFill>
                <a:latin typeface="メイリオ"/>
                <a:ea typeface="メイリオ"/>
                <a:cs typeface="メイリオ"/>
              </a:rPr>
              <a:t>30秒診断</a:t>
            </a:r>
          </a:p>
          <a:p>
            <a:pPr algn="ctr">
              <a:lnSpc>
                <a:spcPct val="115000"/>
              </a:lnSpc>
            </a:pPr>
            <a:r>
              <a:rPr sz="1400" b="1" dirty="0">
                <a:solidFill>
                  <a:srgbClr val="FFFFFF"/>
                </a:solidFill>
                <a:latin typeface="メイリオ"/>
                <a:ea typeface="メイリオ"/>
                <a:cs typeface="メイリオ"/>
              </a:rPr>
              <a:t>（</a:t>
            </a:r>
            <a:r>
              <a:rPr sz="1400" b="1" dirty="0" err="1">
                <a:solidFill>
                  <a:srgbClr val="FFFFFF"/>
                </a:solidFill>
                <a:latin typeface="メイリオ"/>
                <a:ea typeface="メイリオ"/>
                <a:cs typeface="メイリオ"/>
              </a:rPr>
              <a:t>職種・資格・温度感</a:t>
            </a:r>
            <a:r>
              <a:rPr sz="1400" b="1" dirty="0">
                <a:solidFill>
                  <a:srgbClr val="FFFFFF"/>
                </a:solidFill>
                <a:latin typeface="メイリオ"/>
                <a:ea typeface="メイリオ"/>
                <a:cs typeface="メイリオ"/>
              </a:rPr>
              <a:t>）</a:t>
            </a:r>
          </a:p>
        </p:txBody>
      </p:sp>
      <p:sp>
        <p:nvSpPr>
          <p:cNvPr id="19" name="TextBox 18"/>
          <p:cNvSpPr txBox="1"/>
          <p:nvPr/>
        </p:nvSpPr>
        <p:spPr>
          <a:xfrm>
            <a:off x="4877964" y="3196921"/>
            <a:ext cx="166974" cy="289843"/>
          </a:xfrm>
          <a:prstGeom prst="rect">
            <a:avLst/>
          </a:prstGeom>
          <a:noFill/>
        </p:spPr>
        <p:txBody>
          <a:bodyPr wrap="square" lIns="50400" tIns="21600" rIns="50400" bIns="21600" anchor="ctr">
            <a:spAutoFit/>
          </a:bodyPr>
          <a:lstStyle/>
          <a:p>
            <a:pPr algn="ctr"/>
            <a:r>
              <a:rPr sz="1600" b="1" dirty="0">
                <a:solidFill>
                  <a:srgbClr val="7F7F7F"/>
                </a:solidFill>
                <a:latin typeface="メイリオ"/>
                <a:ea typeface="メイリオ"/>
                <a:cs typeface="メイリオ"/>
              </a:rPr>
              <a:t>→</a:t>
            </a:r>
          </a:p>
        </p:txBody>
      </p:sp>
      <p:sp>
        <p:nvSpPr>
          <p:cNvPr id="20" name="Rounded Rectangle 19"/>
          <p:cNvSpPr/>
          <p:nvPr/>
        </p:nvSpPr>
        <p:spPr>
          <a:xfrm>
            <a:off x="5097584" y="2989560"/>
            <a:ext cx="1368459" cy="859953"/>
          </a:xfrm>
          <a:prstGeom prst="roundRect">
            <a:avLst>
              <a:gd name="adj" fmla="val 6000"/>
            </a:avLst>
          </a:prstGeom>
          <a:solidFill>
            <a:srgbClr val="06C755"/>
          </a:solidFill>
          <a:ln>
            <a:noFill/>
          </a:ln>
          <a:effectLst/>
        </p:spPr>
        <p:style>
          <a:lnRef idx="1">
            <a:schemeClr val="accent1"/>
          </a:lnRef>
          <a:fillRef idx="3">
            <a:schemeClr val="accent1"/>
          </a:fillRef>
          <a:effectRef idx="2">
            <a:schemeClr val="accent1"/>
          </a:effectRef>
          <a:fontRef idx="minor">
            <a:schemeClr val="lt1"/>
          </a:fontRef>
        </p:style>
        <p:txBody>
          <a:bodyPr wrap="square" lIns="28800" tIns="21600" rIns="28800" bIns="21600" rtlCol="0" anchor="ctr"/>
          <a:lstStyle/>
          <a:p>
            <a:pPr algn="ctr">
              <a:lnSpc>
                <a:spcPct val="115000"/>
              </a:lnSpc>
            </a:pPr>
            <a:r>
              <a:rPr sz="1200" b="1" dirty="0">
                <a:solidFill>
                  <a:srgbClr val="FFFFFF"/>
                </a:solidFill>
                <a:latin typeface="メイリオ"/>
                <a:ea typeface="メイリオ"/>
                <a:cs typeface="メイリオ"/>
              </a:rPr>
              <a:t>14日間の情報配信</a:t>
            </a:r>
          </a:p>
          <a:p>
            <a:pPr algn="ctr">
              <a:lnSpc>
                <a:spcPct val="115000"/>
              </a:lnSpc>
            </a:pPr>
            <a:r>
              <a:rPr sz="1200" b="1" dirty="0">
                <a:solidFill>
                  <a:srgbClr val="FFFFFF"/>
                </a:solidFill>
                <a:latin typeface="メイリオ"/>
                <a:ea typeface="メイリオ"/>
                <a:cs typeface="メイリオ"/>
              </a:rPr>
              <a:t>（</a:t>
            </a:r>
            <a:r>
              <a:rPr sz="1200" b="1" dirty="0" err="1">
                <a:solidFill>
                  <a:srgbClr val="FFFFFF"/>
                </a:solidFill>
                <a:latin typeface="メイリオ"/>
                <a:ea typeface="メイリオ"/>
                <a:cs typeface="メイリオ"/>
              </a:rPr>
              <a:t>年収相場・体験談</a:t>
            </a:r>
            <a:r>
              <a:rPr sz="1200" b="1" dirty="0">
                <a:solidFill>
                  <a:srgbClr val="FFFFFF"/>
                </a:solidFill>
                <a:latin typeface="メイリオ"/>
                <a:ea typeface="メイリオ"/>
                <a:cs typeface="メイリオ"/>
              </a:rPr>
              <a:t>）</a:t>
            </a:r>
          </a:p>
        </p:txBody>
      </p:sp>
      <p:sp>
        <p:nvSpPr>
          <p:cNvPr id="21" name="TextBox 20"/>
          <p:cNvSpPr txBox="1"/>
          <p:nvPr/>
        </p:nvSpPr>
        <p:spPr>
          <a:xfrm>
            <a:off x="6512428" y="3201859"/>
            <a:ext cx="148030" cy="289843"/>
          </a:xfrm>
          <a:prstGeom prst="rect">
            <a:avLst/>
          </a:prstGeom>
          <a:noFill/>
        </p:spPr>
        <p:txBody>
          <a:bodyPr wrap="square" lIns="50400" tIns="21600" rIns="50400" bIns="21600" anchor="ctr">
            <a:spAutoFit/>
          </a:bodyPr>
          <a:lstStyle/>
          <a:p>
            <a:pPr algn="ctr"/>
            <a:r>
              <a:rPr sz="1600" b="1" dirty="0">
                <a:solidFill>
                  <a:srgbClr val="7F7F7F"/>
                </a:solidFill>
                <a:latin typeface="メイリオ"/>
                <a:ea typeface="メイリオ"/>
                <a:cs typeface="メイリオ"/>
              </a:rPr>
              <a:t>→</a:t>
            </a:r>
          </a:p>
        </p:txBody>
      </p:sp>
      <p:sp>
        <p:nvSpPr>
          <p:cNvPr id="22" name="Rounded Rectangle 21"/>
          <p:cNvSpPr/>
          <p:nvPr/>
        </p:nvSpPr>
        <p:spPr>
          <a:xfrm>
            <a:off x="6707228" y="2989561"/>
            <a:ext cx="1213201" cy="859953"/>
          </a:xfrm>
          <a:prstGeom prst="roundRect">
            <a:avLst>
              <a:gd name="adj" fmla="val 6000"/>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wrap="square" lIns="28800" tIns="21600" rIns="28800" bIns="21600" rtlCol="0" anchor="ctr"/>
          <a:lstStyle/>
          <a:p>
            <a:pPr algn="ctr">
              <a:lnSpc>
                <a:spcPct val="115000"/>
              </a:lnSpc>
            </a:pPr>
            <a:r>
              <a:rPr sz="1400" b="1" dirty="0" err="1">
                <a:solidFill>
                  <a:srgbClr val="FFFFFF"/>
                </a:solidFill>
                <a:latin typeface="メイリオ"/>
                <a:ea typeface="メイリオ"/>
                <a:cs typeface="メイリオ"/>
              </a:rPr>
              <a:t>面談・応募</a:t>
            </a:r>
            <a:endParaRPr sz="1400" b="1" dirty="0">
              <a:solidFill>
                <a:srgbClr val="FFFFFF"/>
              </a:solidFill>
              <a:latin typeface="メイリオ"/>
              <a:ea typeface="メイリオ"/>
              <a:cs typeface="メイリオ"/>
            </a:endParaRPr>
          </a:p>
        </p:txBody>
      </p:sp>
      <p:sp>
        <p:nvSpPr>
          <p:cNvPr id="23" name="TextBox 22"/>
          <p:cNvSpPr txBox="1"/>
          <p:nvPr/>
        </p:nvSpPr>
        <p:spPr>
          <a:xfrm>
            <a:off x="7945199" y="3204640"/>
            <a:ext cx="148030" cy="289843"/>
          </a:xfrm>
          <a:prstGeom prst="rect">
            <a:avLst/>
          </a:prstGeom>
          <a:noFill/>
        </p:spPr>
        <p:txBody>
          <a:bodyPr wrap="square" lIns="50400" tIns="21600" rIns="50400" bIns="21600" anchor="ctr">
            <a:spAutoFit/>
          </a:bodyPr>
          <a:lstStyle/>
          <a:p>
            <a:pPr algn="ctr"/>
            <a:r>
              <a:rPr sz="1600" b="1">
                <a:solidFill>
                  <a:srgbClr val="7F7F7F"/>
                </a:solidFill>
                <a:latin typeface="メイリオ"/>
                <a:ea typeface="メイリオ"/>
                <a:cs typeface="メイリオ"/>
              </a:rPr>
              <a:t>→</a:t>
            </a:r>
          </a:p>
        </p:txBody>
      </p:sp>
      <p:sp>
        <p:nvSpPr>
          <p:cNvPr id="24" name="Rounded Rectangle 23"/>
          <p:cNvSpPr/>
          <p:nvPr/>
        </p:nvSpPr>
        <p:spPr>
          <a:xfrm>
            <a:off x="8117999" y="2989561"/>
            <a:ext cx="1213201" cy="859953"/>
          </a:xfrm>
          <a:prstGeom prst="roundRect">
            <a:avLst>
              <a:gd name="adj" fmla="val 6000"/>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wrap="square" lIns="28800" tIns="21600" rIns="28800" bIns="21600" rtlCol="0" anchor="ctr"/>
          <a:lstStyle/>
          <a:p>
            <a:pPr algn="ctr">
              <a:lnSpc>
                <a:spcPct val="115000"/>
              </a:lnSpc>
            </a:pPr>
            <a:r>
              <a:rPr sz="1400" b="1">
                <a:solidFill>
                  <a:srgbClr val="FFFFFF"/>
                </a:solidFill>
                <a:latin typeface="メイリオ"/>
                <a:ea typeface="メイリオ"/>
                <a:cs typeface="メイリオ"/>
              </a:rPr>
              <a:t>就業</a:t>
            </a:r>
          </a:p>
        </p:txBody>
      </p:sp>
      <p:sp>
        <p:nvSpPr>
          <p:cNvPr id="25" name="Rounded Rectangle 24"/>
          <p:cNvSpPr/>
          <p:nvPr/>
        </p:nvSpPr>
        <p:spPr>
          <a:xfrm>
            <a:off x="349199" y="5384222"/>
            <a:ext cx="9043200" cy="396000"/>
          </a:xfrm>
          <a:prstGeom prst="roundRect">
            <a:avLst>
              <a:gd name="adj" fmla="val 10000"/>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wrap="square" lIns="108000" tIns="0" rIns="108000" bIns="0" rtlCol="0" anchor="ctr"/>
          <a:lstStyle/>
          <a:p>
            <a:pPr algn="ctr">
              <a:lnSpc>
                <a:spcPct val="125000"/>
              </a:lnSpc>
            </a:pPr>
            <a:r>
              <a:rPr b="1">
                <a:solidFill>
                  <a:srgbClr val="FFFFFF"/>
                </a:solidFill>
                <a:latin typeface="メイリオ"/>
                <a:ea typeface="メイリオ"/>
                <a:cs typeface="メイリオ"/>
              </a:rPr>
              <a:t>広告・サイトは変えない。「応募の手前」に、相談の階段を1段足すだけ。</a:t>
            </a:r>
          </a:p>
        </p:txBody>
      </p:sp>
      <p:sp>
        <p:nvSpPr>
          <p:cNvPr id="26" name="TextBox 25"/>
          <p:cNvSpPr txBox="1"/>
          <p:nvPr/>
        </p:nvSpPr>
        <p:spPr>
          <a:xfrm>
            <a:off x="432000" y="6246000"/>
            <a:ext cx="9043200" cy="324000"/>
          </a:xfrm>
          <a:prstGeom prst="rect">
            <a:avLst/>
          </a:prstGeom>
          <a:noFill/>
        </p:spPr>
        <p:txBody>
          <a:bodyPr wrap="square" lIns="0" tIns="21600" rIns="0" bIns="21600" anchor="t">
            <a:spAutoFit/>
          </a:bodyPr>
          <a:lstStyle/>
          <a:p>
            <a:pPr algn="l">
              <a:lnSpc>
                <a:spcPct val="115000"/>
              </a:lnSpc>
            </a:pPr>
            <a:r>
              <a:rPr sz="950">
                <a:solidFill>
                  <a:srgbClr val="7F7F7F"/>
                </a:solidFill>
                <a:latin typeface="メイリオ"/>
                <a:ea typeface="メイリオ"/>
                <a:cs typeface="メイリオ"/>
              </a:rPr>
              <a:t>意見｜DYM提案。CV地点＝求人応募・転職支援サービス登録（面談）</a:t>
            </a:r>
          </a:p>
        </p:txBody>
      </p:sp>
    </p:spTree>
    <p:extLst>
      <p:ext uri="{BB962C8B-B14F-4D97-AF65-F5344CB8AC3E}">
        <p14:creationId xmlns:p14="http://schemas.microsoft.com/office/powerpoint/2010/main" val="1715909323"/>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48640" y="137160"/>
            <a:ext cx="6858000" cy="365760"/>
          </a:xfrm>
          <a:prstGeom prst="rect">
            <a:avLst/>
          </a:prstGeom>
          <a:noFill/>
        </p:spPr>
        <p:txBody>
          <a:bodyPr wrap="square">
            <a:spAutoFit/>
          </a:bodyPr>
          <a:lstStyle/>
          <a:p>
            <a:pPr algn="l"/>
            <a:r>
              <a:rPr sz="1400" b="1">
                <a:solidFill>
                  <a:srgbClr val="002060"/>
                </a:solidFill>
                <a:latin typeface="メイリオ"/>
                <a:ea typeface="メイリオ"/>
                <a:cs typeface="メイリオ"/>
              </a:rPr>
              <a:t>本提案の考え方</a:t>
            </a:r>
          </a:p>
        </p:txBody>
      </p:sp>
      <p:sp>
        <p:nvSpPr>
          <p:cNvPr id="3" name="TextBox 2"/>
          <p:cNvSpPr txBox="1"/>
          <p:nvPr/>
        </p:nvSpPr>
        <p:spPr>
          <a:xfrm>
            <a:off x="548640" y="1234440"/>
            <a:ext cx="8805672" cy="548640"/>
          </a:xfrm>
          <a:prstGeom prst="rect">
            <a:avLst/>
          </a:prstGeom>
          <a:noFill/>
        </p:spPr>
        <p:txBody>
          <a:bodyPr wrap="square">
            <a:spAutoFit/>
          </a:bodyPr>
          <a:lstStyle/>
          <a:p>
            <a:pPr algn="ctr"/>
            <a:r>
              <a:rPr sz="2400" b="1">
                <a:solidFill>
                  <a:srgbClr val="333333"/>
                </a:solidFill>
                <a:latin typeface="メイリオ"/>
                <a:ea typeface="メイリオ"/>
                <a:cs typeface="メイリオ"/>
              </a:rPr>
              <a:t>広告は、CVの瞬間で接点が終わる。</a:t>
            </a:r>
          </a:p>
        </p:txBody>
      </p:sp>
      <p:sp>
        <p:nvSpPr>
          <p:cNvPr id="4" name="TextBox 3"/>
          <p:cNvSpPr txBox="1"/>
          <p:nvPr/>
        </p:nvSpPr>
        <p:spPr>
          <a:xfrm>
            <a:off x="548640" y="1828800"/>
            <a:ext cx="8805672" cy="640080"/>
          </a:xfrm>
          <a:prstGeom prst="rect">
            <a:avLst/>
          </a:prstGeom>
          <a:noFill/>
        </p:spPr>
        <p:txBody>
          <a:bodyPr wrap="square">
            <a:spAutoFit/>
          </a:bodyPr>
          <a:lstStyle/>
          <a:p>
            <a:pPr algn="ctr"/>
            <a:r>
              <a:rPr sz="3000" b="1">
                <a:solidFill>
                  <a:srgbClr val="BF4E0E"/>
                </a:solidFill>
                <a:latin typeface="メイリオ"/>
                <a:ea typeface="メイリオ"/>
                <a:cs typeface="メイリオ"/>
              </a:rPr>
              <a:t>LINEは、CVの先まで追いきれる。</a:t>
            </a:r>
          </a:p>
        </p:txBody>
      </p:sp>
      <p:sp>
        <p:nvSpPr>
          <p:cNvPr id="5" name="TextBox 4"/>
          <p:cNvSpPr txBox="1"/>
          <p:nvPr/>
        </p:nvSpPr>
        <p:spPr>
          <a:xfrm>
            <a:off x="548640" y="2788920"/>
            <a:ext cx="8805672" cy="822960"/>
          </a:xfrm>
          <a:prstGeom prst="rect">
            <a:avLst/>
          </a:prstGeom>
          <a:noFill/>
        </p:spPr>
        <p:txBody>
          <a:bodyPr wrap="square">
            <a:spAutoFit/>
          </a:bodyPr>
          <a:lstStyle/>
          <a:p>
            <a:pPr algn="ctr"/>
            <a:r>
              <a:rPr sz="1500" b="0" dirty="0" err="1">
                <a:solidFill>
                  <a:srgbClr val="333333"/>
                </a:solidFill>
                <a:latin typeface="メイリオ"/>
                <a:ea typeface="メイリオ"/>
                <a:cs typeface="メイリオ"/>
              </a:rPr>
              <a:t>一度つながれば、接点を持ち続けられる。情報を渡し続けられる</a:t>
            </a:r>
            <a:r>
              <a:rPr sz="1500" b="0" dirty="0">
                <a:solidFill>
                  <a:srgbClr val="333333"/>
                </a:solidFill>
                <a:latin typeface="メイリオ"/>
                <a:ea typeface="メイリオ"/>
                <a:cs typeface="メイリオ"/>
              </a:rPr>
              <a:t>。</a:t>
            </a:r>
          </a:p>
          <a:p>
            <a:pPr algn="ctr"/>
            <a:r>
              <a:rPr sz="1500" b="0" dirty="0" err="1">
                <a:solidFill>
                  <a:srgbClr val="333333"/>
                </a:solidFill>
                <a:latin typeface="メイリオ"/>
                <a:ea typeface="メイリオ"/>
                <a:cs typeface="メイリオ"/>
              </a:rPr>
              <a:t>応募で終わらず、面談</a:t>
            </a:r>
            <a:r>
              <a:rPr sz="1500" b="0" dirty="0">
                <a:solidFill>
                  <a:srgbClr val="333333"/>
                </a:solidFill>
                <a:latin typeface="メイリオ"/>
                <a:ea typeface="メイリオ"/>
                <a:cs typeface="メイリオ"/>
              </a:rPr>
              <a:t> → </a:t>
            </a:r>
            <a:r>
              <a:rPr sz="1500" b="0" dirty="0" err="1">
                <a:solidFill>
                  <a:srgbClr val="333333"/>
                </a:solidFill>
                <a:latin typeface="メイリオ"/>
                <a:ea typeface="メイリオ"/>
                <a:cs typeface="メイリオ"/>
              </a:rPr>
              <a:t>就業</a:t>
            </a:r>
            <a:r>
              <a:rPr sz="1500" b="0" dirty="0">
                <a:solidFill>
                  <a:srgbClr val="333333"/>
                </a:solidFill>
                <a:latin typeface="メイリオ"/>
                <a:ea typeface="メイリオ"/>
                <a:cs typeface="メイリオ"/>
              </a:rPr>
              <a:t> → </a:t>
            </a:r>
            <a:r>
              <a:rPr sz="1500" b="0" dirty="0" err="1">
                <a:solidFill>
                  <a:srgbClr val="333333"/>
                </a:solidFill>
                <a:latin typeface="メイリオ"/>
                <a:ea typeface="メイリオ"/>
                <a:cs typeface="メイリオ"/>
              </a:rPr>
              <a:t>定着まで並走できる</a:t>
            </a:r>
            <a:r>
              <a:rPr sz="1500" b="0" dirty="0">
                <a:solidFill>
                  <a:srgbClr val="333333"/>
                </a:solidFill>
                <a:latin typeface="メイリオ"/>
                <a:ea typeface="メイリオ"/>
                <a:cs typeface="メイリオ"/>
              </a:rPr>
              <a:t>——</a:t>
            </a:r>
            <a:r>
              <a:rPr sz="1500" b="0" dirty="0" err="1">
                <a:solidFill>
                  <a:srgbClr val="333333"/>
                </a:solidFill>
                <a:latin typeface="メイリオ"/>
                <a:ea typeface="メイリオ"/>
                <a:cs typeface="メイリオ"/>
              </a:rPr>
              <a:t>これがLINE最大の魅力です</a:t>
            </a:r>
            <a:r>
              <a:rPr sz="1500" b="0" dirty="0">
                <a:solidFill>
                  <a:srgbClr val="333333"/>
                </a:solidFill>
                <a:latin typeface="メイリオ"/>
                <a:ea typeface="メイリオ"/>
                <a:cs typeface="メイリオ"/>
              </a:rPr>
              <a:t>。</a:t>
            </a:r>
          </a:p>
        </p:txBody>
      </p:sp>
      <p:sp>
        <p:nvSpPr>
          <p:cNvPr id="6" name="TextBox 5"/>
          <p:cNvSpPr txBox="1"/>
          <p:nvPr/>
        </p:nvSpPr>
        <p:spPr>
          <a:xfrm>
            <a:off x="594360" y="3724977"/>
            <a:ext cx="822960" cy="365760"/>
          </a:xfrm>
          <a:prstGeom prst="rect">
            <a:avLst/>
          </a:prstGeom>
          <a:noFill/>
        </p:spPr>
        <p:txBody>
          <a:bodyPr wrap="square">
            <a:spAutoFit/>
          </a:bodyPr>
          <a:lstStyle/>
          <a:p>
            <a:pPr algn="l"/>
            <a:r>
              <a:rPr sz="1500" b="1">
                <a:solidFill>
                  <a:srgbClr val="333333"/>
                </a:solidFill>
                <a:latin typeface="メイリオ"/>
                <a:ea typeface="メイリオ"/>
                <a:cs typeface="メイリオ"/>
              </a:rPr>
              <a:t>広告</a:t>
            </a:r>
          </a:p>
        </p:txBody>
      </p:sp>
      <p:sp>
        <p:nvSpPr>
          <p:cNvPr id="7" name="Rounded Rectangle 6"/>
          <p:cNvSpPr/>
          <p:nvPr/>
        </p:nvSpPr>
        <p:spPr>
          <a:xfrm>
            <a:off x="1508760" y="3679257"/>
            <a:ext cx="1325880" cy="475488"/>
          </a:xfrm>
          <a:prstGeom prst="roundRect">
            <a:avLst>
              <a:gd name="adj" fmla="val 12000"/>
            </a:avLst>
          </a:prstGeom>
          <a:solidFill>
            <a:srgbClr val="F0F0F0"/>
          </a:solidFill>
          <a:ln w="12700">
            <a:solidFill>
              <a:srgbClr val="D9D9D9"/>
            </a:solidFill>
          </a:ln>
        </p:spPr>
        <p:style>
          <a:lnRef idx="1">
            <a:schemeClr val="accent1"/>
          </a:lnRef>
          <a:fillRef idx="3">
            <a:schemeClr val="accent1"/>
          </a:fillRef>
          <a:effectRef idx="2">
            <a:schemeClr val="accent1"/>
          </a:effectRef>
          <a:fontRef idx="minor">
            <a:schemeClr val="lt1"/>
          </a:fontRef>
        </p:style>
        <p:txBody>
          <a:bodyPr wrap="none" lIns="0" tIns="0" rIns="0" bIns="0" rtlCol="0" anchor="ctr"/>
          <a:lstStyle/>
          <a:p>
            <a:pPr algn="ctr"/>
            <a:r>
              <a:rPr sz="1300" b="1">
                <a:solidFill>
                  <a:srgbClr val="333333"/>
                </a:solidFill>
                <a:latin typeface="メイリオ"/>
                <a:ea typeface="メイリオ"/>
                <a:cs typeface="メイリオ"/>
              </a:rPr>
              <a:t>接触</a:t>
            </a:r>
          </a:p>
        </p:txBody>
      </p:sp>
      <p:sp>
        <p:nvSpPr>
          <p:cNvPr id="8" name="TextBox 7"/>
          <p:cNvSpPr txBox="1"/>
          <p:nvPr/>
        </p:nvSpPr>
        <p:spPr>
          <a:xfrm>
            <a:off x="2862072" y="3752409"/>
            <a:ext cx="274320" cy="365760"/>
          </a:xfrm>
          <a:prstGeom prst="rect">
            <a:avLst/>
          </a:prstGeom>
          <a:noFill/>
        </p:spPr>
        <p:txBody>
          <a:bodyPr wrap="square">
            <a:spAutoFit/>
          </a:bodyPr>
          <a:lstStyle/>
          <a:p>
            <a:pPr algn="ctr"/>
            <a:r>
              <a:rPr sz="1500" b="1">
                <a:solidFill>
                  <a:srgbClr val="1F285A"/>
                </a:solidFill>
                <a:latin typeface="メイリオ"/>
                <a:ea typeface="メイリオ"/>
                <a:cs typeface="メイリオ"/>
              </a:rPr>
              <a:t>→</a:t>
            </a:r>
          </a:p>
        </p:txBody>
      </p:sp>
      <p:sp>
        <p:nvSpPr>
          <p:cNvPr id="9" name="Rounded Rectangle 8"/>
          <p:cNvSpPr/>
          <p:nvPr/>
        </p:nvSpPr>
        <p:spPr>
          <a:xfrm>
            <a:off x="3172968" y="3679257"/>
            <a:ext cx="1737360" cy="475488"/>
          </a:xfrm>
          <a:prstGeom prst="roundRect">
            <a:avLst>
              <a:gd name="adj" fmla="val 12000"/>
            </a:avLst>
          </a:prstGeom>
          <a:solidFill>
            <a:srgbClr val="F0F0F0"/>
          </a:solidFill>
          <a:ln w="12700">
            <a:solidFill>
              <a:srgbClr val="D9D9D9"/>
            </a:solidFill>
          </a:ln>
        </p:spPr>
        <p:style>
          <a:lnRef idx="1">
            <a:schemeClr val="accent1"/>
          </a:lnRef>
          <a:fillRef idx="3">
            <a:schemeClr val="accent1"/>
          </a:fillRef>
          <a:effectRef idx="2">
            <a:schemeClr val="accent1"/>
          </a:effectRef>
          <a:fontRef idx="minor">
            <a:schemeClr val="lt1"/>
          </a:fontRef>
        </p:style>
        <p:txBody>
          <a:bodyPr wrap="none" lIns="0" tIns="0" rIns="0" bIns="0" rtlCol="0" anchor="ctr"/>
          <a:lstStyle/>
          <a:p>
            <a:pPr algn="ctr"/>
            <a:r>
              <a:rPr sz="1300" b="1">
                <a:solidFill>
                  <a:srgbClr val="333333"/>
                </a:solidFill>
                <a:latin typeface="メイリオ"/>
                <a:ea typeface="メイリオ"/>
                <a:cs typeface="メイリオ"/>
              </a:rPr>
              <a:t>応募・相談（CV）</a:t>
            </a:r>
          </a:p>
        </p:txBody>
      </p:sp>
      <p:sp>
        <p:nvSpPr>
          <p:cNvPr id="10" name="TextBox 9"/>
          <p:cNvSpPr txBox="1"/>
          <p:nvPr/>
        </p:nvSpPr>
        <p:spPr>
          <a:xfrm>
            <a:off x="5120640" y="3743265"/>
            <a:ext cx="3108960" cy="365760"/>
          </a:xfrm>
          <a:prstGeom prst="rect">
            <a:avLst/>
          </a:prstGeom>
          <a:noFill/>
        </p:spPr>
        <p:txBody>
          <a:bodyPr wrap="square">
            <a:spAutoFit/>
          </a:bodyPr>
          <a:lstStyle/>
          <a:p>
            <a:pPr algn="l"/>
            <a:r>
              <a:rPr sz="1400" b="1">
                <a:solidFill>
                  <a:srgbClr val="C00000"/>
                </a:solidFill>
                <a:latin typeface="メイリオ"/>
                <a:ea typeface="メイリオ"/>
                <a:cs typeface="メイリオ"/>
              </a:rPr>
              <a:t>✕ ここで接点が途切れる</a:t>
            </a:r>
          </a:p>
        </p:txBody>
      </p:sp>
      <p:sp>
        <p:nvSpPr>
          <p:cNvPr id="11" name="TextBox 10"/>
          <p:cNvSpPr txBox="1"/>
          <p:nvPr/>
        </p:nvSpPr>
        <p:spPr>
          <a:xfrm>
            <a:off x="594360" y="4730817"/>
            <a:ext cx="822960" cy="365760"/>
          </a:xfrm>
          <a:prstGeom prst="rect">
            <a:avLst/>
          </a:prstGeom>
          <a:noFill/>
        </p:spPr>
        <p:txBody>
          <a:bodyPr wrap="square">
            <a:spAutoFit/>
          </a:bodyPr>
          <a:lstStyle/>
          <a:p>
            <a:pPr algn="l"/>
            <a:r>
              <a:rPr sz="1500" b="1">
                <a:solidFill>
                  <a:srgbClr val="1F285A"/>
                </a:solidFill>
                <a:latin typeface="メイリオ"/>
                <a:ea typeface="メイリオ"/>
                <a:cs typeface="メイリオ"/>
              </a:rPr>
              <a:t>LINE</a:t>
            </a:r>
          </a:p>
        </p:txBody>
      </p:sp>
      <p:sp>
        <p:nvSpPr>
          <p:cNvPr id="12" name="Rounded Rectangle 11"/>
          <p:cNvSpPr/>
          <p:nvPr/>
        </p:nvSpPr>
        <p:spPr>
          <a:xfrm>
            <a:off x="1508760" y="4685097"/>
            <a:ext cx="1325880" cy="475488"/>
          </a:xfrm>
          <a:prstGeom prst="roundRect">
            <a:avLst>
              <a:gd name="adj" fmla="val 12000"/>
            </a:avLst>
          </a:prstGeom>
          <a:solidFill>
            <a:srgbClr val="F4F7FF"/>
          </a:solidFill>
          <a:ln w="12700">
            <a:solidFill>
              <a:srgbClr val="1F285A"/>
            </a:solidFill>
          </a:ln>
        </p:spPr>
        <p:style>
          <a:lnRef idx="1">
            <a:schemeClr val="accent1"/>
          </a:lnRef>
          <a:fillRef idx="3">
            <a:schemeClr val="accent1"/>
          </a:fillRef>
          <a:effectRef idx="2">
            <a:schemeClr val="accent1"/>
          </a:effectRef>
          <a:fontRef idx="minor">
            <a:schemeClr val="lt1"/>
          </a:fontRef>
        </p:style>
        <p:txBody>
          <a:bodyPr wrap="none" lIns="0" tIns="0" rIns="0" bIns="0" rtlCol="0" anchor="ctr"/>
          <a:lstStyle/>
          <a:p>
            <a:pPr algn="ctr"/>
            <a:r>
              <a:rPr sz="1300" b="1">
                <a:solidFill>
                  <a:srgbClr val="1F285A"/>
                </a:solidFill>
                <a:latin typeface="メイリオ"/>
                <a:ea typeface="メイリオ"/>
                <a:cs typeface="メイリオ"/>
              </a:rPr>
              <a:t>接触</a:t>
            </a:r>
          </a:p>
        </p:txBody>
      </p:sp>
      <p:sp>
        <p:nvSpPr>
          <p:cNvPr id="13" name="TextBox 12"/>
          <p:cNvSpPr txBox="1"/>
          <p:nvPr/>
        </p:nvSpPr>
        <p:spPr>
          <a:xfrm>
            <a:off x="2862072" y="4758249"/>
            <a:ext cx="274320" cy="365760"/>
          </a:xfrm>
          <a:prstGeom prst="rect">
            <a:avLst/>
          </a:prstGeom>
          <a:noFill/>
        </p:spPr>
        <p:txBody>
          <a:bodyPr wrap="square">
            <a:spAutoFit/>
          </a:bodyPr>
          <a:lstStyle/>
          <a:p>
            <a:pPr algn="ctr"/>
            <a:r>
              <a:rPr sz="1500" b="1">
                <a:solidFill>
                  <a:srgbClr val="1F285A"/>
                </a:solidFill>
                <a:latin typeface="メイリオ"/>
                <a:ea typeface="メイリオ"/>
                <a:cs typeface="メイリオ"/>
              </a:rPr>
              <a:t>→</a:t>
            </a:r>
          </a:p>
        </p:txBody>
      </p:sp>
      <p:sp>
        <p:nvSpPr>
          <p:cNvPr id="14" name="Rounded Rectangle 13"/>
          <p:cNvSpPr/>
          <p:nvPr/>
        </p:nvSpPr>
        <p:spPr>
          <a:xfrm>
            <a:off x="3172968" y="4685097"/>
            <a:ext cx="1737360" cy="475488"/>
          </a:xfrm>
          <a:prstGeom prst="roundRect">
            <a:avLst>
              <a:gd name="adj" fmla="val 12000"/>
            </a:avLst>
          </a:prstGeom>
          <a:solidFill>
            <a:srgbClr val="F4F7FF"/>
          </a:solidFill>
          <a:ln w="12700">
            <a:solidFill>
              <a:srgbClr val="1F285A"/>
            </a:solidFill>
          </a:ln>
        </p:spPr>
        <p:style>
          <a:lnRef idx="1">
            <a:schemeClr val="accent1"/>
          </a:lnRef>
          <a:fillRef idx="3">
            <a:schemeClr val="accent1"/>
          </a:fillRef>
          <a:effectRef idx="2">
            <a:schemeClr val="accent1"/>
          </a:effectRef>
          <a:fontRef idx="minor">
            <a:schemeClr val="lt1"/>
          </a:fontRef>
        </p:style>
        <p:txBody>
          <a:bodyPr wrap="none" lIns="0" tIns="0" rIns="0" bIns="0" rtlCol="0" anchor="ctr"/>
          <a:lstStyle/>
          <a:p>
            <a:pPr algn="ctr"/>
            <a:r>
              <a:rPr sz="1300" b="1">
                <a:solidFill>
                  <a:srgbClr val="1F285A"/>
                </a:solidFill>
                <a:latin typeface="メイリオ"/>
                <a:ea typeface="メイリオ"/>
                <a:cs typeface="メイリオ"/>
              </a:rPr>
              <a:t>応募・相談（CV）</a:t>
            </a:r>
          </a:p>
        </p:txBody>
      </p:sp>
      <p:sp>
        <p:nvSpPr>
          <p:cNvPr id="15" name="TextBox 14"/>
          <p:cNvSpPr txBox="1"/>
          <p:nvPr/>
        </p:nvSpPr>
        <p:spPr>
          <a:xfrm>
            <a:off x="4937760" y="4758249"/>
            <a:ext cx="274320" cy="365760"/>
          </a:xfrm>
          <a:prstGeom prst="rect">
            <a:avLst/>
          </a:prstGeom>
          <a:noFill/>
        </p:spPr>
        <p:txBody>
          <a:bodyPr wrap="square">
            <a:spAutoFit/>
          </a:bodyPr>
          <a:lstStyle/>
          <a:p>
            <a:pPr algn="ctr"/>
            <a:r>
              <a:rPr sz="1500" b="1">
                <a:solidFill>
                  <a:srgbClr val="1F285A"/>
                </a:solidFill>
                <a:latin typeface="メイリオ"/>
                <a:ea typeface="メイリオ"/>
                <a:cs typeface="メイリオ"/>
              </a:rPr>
              <a:t>→</a:t>
            </a:r>
          </a:p>
        </p:txBody>
      </p:sp>
      <p:sp>
        <p:nvSpPr>
          <p:cNvPr id="16" name="Rounded Rectangle 15"/>
          <p:cNvSpPr/>
          <p:nvPr/>
        </p:nvSpPr>
        <p:spPr>
          <a:xfrm>
            <a:off x="5248656" y="4685097"/>
            <a:ext cx="1097280" cy="475488"/>
          </a:xfrm>
          <a:prstGeom prst="roundRect">
            <a:avLst>
              <a:gd name="adj" fmla="val 12000"/>
            </a:avLst>
          </a:prstGeom>
          <a:solidFill>
            <a:srgbClr val="F4F7FF"/>
          </a:solidFill>
          <a:ln w="12700">
            <a:solidFill>
              <a:srgbClr val="1F285A"/>
            </a:solidFill>
          </a:ln>
        </p:spPr>
        <p:style>
          <a:lnRef idx="1">
            <a:schemeClr val="accent1"/>
          </a:lnRef>
          <a:fillRef idx="3">
            <a:schemeClr val="accent1"/>
          </a:fillRef>
          <a:effectRef idx="2">
            <a:schemeClr val="accent1"/>
          </a:effectRef>
          <a:fontRef idx="minor">
            <a:schemeClr val="lt1"/>
          </a:fontRef>
        </p:style>
        <p:txBody>
          <a:bodyPr wrap="none" lIns="0" tIns="0" rIns="0" bIns="0" rtlCol="0" anchor="ctr"/>
          <a:lstStyle/>
          <a:p>
            <a:pPr algn="ctr"/>
            <a:r>
              <a:rPr sz="1300" b="1">
                <a:solidFill>
                  <a:srgbClr val="1F285A"/>
                </a:solidFill>
                <a:latin typeface="メイリオ"/>
                <a:ea typeface="メイリオ"/>
                <a:cs typeface="メイリオ"/>
              </a:rPr>
              <a:t>面談</a:t>
            </a:r>
          </a:p>
        </p:txBody>
      </p:sp>
      <p:sp>
        <p:nvSpPr>
          <p:cNvPr id="17" name="TextBox 16"/>
          <p:cNvSpPr txBox="1"/>
          <p:nvPr/>
        </p:nvSpPr>
        <p:spPr>
          <a:xfrm>
            <a:off x="6373368" y="4758249"/>
            <a:ext cx="274320" cy="365760"/>
          </a:xfrm>
          <a:prstGeom prst="rect">
            <a:avLst/>
          </a:prstGeom>
          <a:noFill/>
        </p:spPr>
        <p:txBody>
          <a:bodyPr wrap="square">
            <a:spAutoFit/>
          </a:bodyPr>
          <a:lstStyle/>
          <a:p>
            <a:pPr algn="ctr"/>
            <a:r>
              <a:rPr sz="1500" b="1">
                <a:solidFill>
                  <a:srgbClr val="1F285A"/>
                </a:solidFill>
                <a:latin typeface="メイリオ"/>
                <a:ea typeface="メイリオ"/>
                <a:cs typeface="メイリオ"/>
              </a:rPr>
              <a:t>→</a:t>
            </a:r>
          </a:p>
        </p:txBody>
      </p:sp>
      <p:sp>
        <p:nvSpPr>
          <p:cNvPr id="18" name="Rounded Rectangle 17"/>
          <p:cNvSpPr/>
          <p:nvPr/>
        </p:nvSpPr>
        <p:spPr>
          <a:xfrm>
            <a:off x="6684264" y="4685097"/>
            <a:ext cx="1097280" cy="475488"/>
          </a:xfrm>
          <a:prstGeom prst="roundRect">
            <a:avLst>
              <a:gd name="adj" fmla="val 12000"/>
            </a:avLst>
          </a:prstGeom>
          <a:solidFill>
            <a:srgbClr val="1F285A"/>
          </a:solidFill>
          <a:ln w="12700">
            <a:solidFill>
              <a:srgbClr val="1F285A"/>
            </a:solidFill>
          </a:ln>
        </p:spPr>
        <p:style>
          <a:lnRef idx="1">
            <a:schemeClr val="accent1"/>
          </a:lnRef>
          <a:fillRef idx="3">
            <a:schemeClr val="accent1"/>
          </a:fillRef>
          <a:effectRef idx="2">
            <a:schemeClr val="accent1"/>
          </a:effectRef>
          <a:fontRef idx="minor">
            <a:schemeClr val="lt1"/>
          </a:fontRef>
        </p:style>
        <p:txBody>
          <a:bodyPr wrap="none" lIns="0" tIns="0" rIns="0" bIns="0" rtlCol="0" anchor="ctr"/>
          <a:lstStyle/>
          <a:p>
            <a:pPr algn="ctr"/>
            <a:r>
              <a:rPr sz="1300" b="1">
                <a:solidFill>
                  <a:srgbClr val="FFFFFF"/>
                </a:solidFill>
                <a:latin typeface="メイリオ"/>
                <a:ea typeface="メイリオ"/>
                <a:cs typeface="メイリオ"/>
              </a:rPr>
              <a:t>就業</a:t>
            </a:r>
          </a:p>
        </p:txBody>
      </p:sp>
      <p:sp>
        <p:nvSpPr>
          <p:cNvPr id="19" name="TextBox 18"/>
          <p:cNvSpPr txBox="1"/>
          <p:nvPr/>
        </p:nvSpPr>
        <p:spPr>
          <a:xfrm>
            <a:off x="7808976" y="4758249"/>
            <a:ext cx="274320" cy="365760"/>
          </a:xfrm>
          <a:prstGeom prst="rect">
            <a:avLst/>
          </a:prstGeom>
          <a:noFill/>
        </p:spPr>
        <p:txBody>
          <a:bodyPr wrap="square">
            <a:spAutoFit/>
          </a:bodyPr>
          <a:lstStyle/>
          <a:p>
            <a:pPr algn="ctr"/>
            <a:r>
              <a:rPr sz="1500" b="1">
                <a:solidFill>
                  <a:srgbClr val="1F285A"/>
                </a:solidFill>
                <a:latin typeface="メイリオ"/>
                <a:ea typeface="メイリオ"/>
                <a:cs typeface="メイリオ"/>
              </a:rPr>
              <a:t>→</a:t>
            </a:r>
          </a:p>
        </p:txBody>
      </p:sp>
      <p:sp>
        <p:nvSpPr>
          <p:cNvPr id="20" name="Rounded Rectangle 19"/>
          <p:cNvSpPr/>
          <p:nvPr/>
        </p:nvSpPr>
        <p:spPr>
          <a:xfrm>
            <a:off x="8119872" y="4685097"/>
            <a:ext cx="1234440" cy="475488"/>
          </a:xfrm>
          <a:prstGeom prst="roundRect">
            <a:avLst>
              <a:gd name="adj" fmla="val 12000"/>
            </a:avLst>
          </a:prstGeom>
          <a:solidFill>
            <a:srgbClr val="F4F7FF"/>
          </a:solidFill>
          <a:ln w="12700">
            <a:solidFill>
              <a:srgbClr val="1F285A"/>
            </a:solidFill>
          </a:ln>
        </p:spPr>
        <p:style>
          <a:lnRef idx="1">
            <a:schemeClr val="accent1"/>
          </a:lnRef>
          <a:fillRef idx="3">
            <a:schemeClr val="accent1"/>
          </a:fillRef>
          <a:effectRef idx="2">
            <a:schemeClr val="accent1"/>
          </a:effectRef>
          <a:fontRef idx="minor">
            <a:schemeClr val="lt1"/>
          </a:fontRef>
        </p:style>
        <p:txBody>
          <a:bodyPr wrap="none" lIns="0" tIns="0" rIns="0" bIns="0" rtlCol="0" anchor="ctr"/>
          <a:lstStyle/>
          <a:p>
            <a:pPr algn="ctr"/>
            <a:r>
              <a:rPr sz="1300" b="1">
                <a:solidFill>
                  <a:srgbClr val="1F285A"/>
                </a:solidFill>
                <a:latin typeface="メイリオ"/>
                <a:ea typeface="メイリオ"/>
                <a:cs typeface="メイリオ"/>
              </a:rPr>
              <a:t>定着・紹介</a:t>
            </a: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296375E-1E7D-4890-1258-5DB3117640D2}"/>
            </a:ext>
          </a:extLst>
        </p:cNvPr>
        <p:cNvGrpSpPr/>
        <p:nvPr/>
      </p:nvGrpSpPr>
      <p:grpSpPr>
        <a:xfrm>
          <a:off x="0" y="0"/>
          <a:ext cx="0" cy="0"/>
          <a:chOff x="0" y="0"/>
          <a:chExt cx="0" cy="0"/>
        </a:xfrm>
      </p:grpSpPr>
      <p:sp>
        <p:nvSpPr>
          <p:cNvPr id="4" name="Google Shape;752;p28">
            <a:extLst>
              <a:ext uri="{FF2B5EF4-FFF2-40B4-BE49-F238E27FC236}">
                <a16:creationId xmlns:a16="http://schemas.microsoft.com/office/drawing/2014/main" id="{EDFBA01A-1ABD-808E-C272-C7AE180BC12F}"/>
              </a:ext>
            </a:extLst>
          </p:cNvPr>
          <p:cNvSpPr txBox="1"/>
          <p:nvPr/>
        </p:nvSpPr>
        <p:spPr>
          <a:xfrm>
            <a:off x="548883" y="138137"/>
            <a:ext cx="6276325" cy="338514"/>
          </a:xfrm>
          <a:prstGeom prst="rect">
            <a:avLst/>
          </a:prstGeom>
          <a:noFill/>
          <a:ln>
            <a:noFill/>
          </a:ln>
        </p:spPr>
        <p:txBody>
          <a:bodyPr spcFirstLastPara="1" wrap="square" lIns="91425" tIns="45700" rIns="91425" bIns="45700" anchor="ctr" anchorCtr="0">
            <a:spAutoFit/>
          </a:bodyPr>
          <a:lstStyle/>
          <a:p>
            <a:pPr lvl="0"/>
            <a:r>
              <a:rPr lang="ja-JP" altLang="en-US" sz="1600" b="1" dirty="0">
                <a:solidFill>
                  <a:srgbClr val="323366"/>
                </a:solidFill>
                <a:latin typeface="メイリオ" panose="020B0604030504040204" pitchFamily="50" charset="-128"/>
                <a:ea typeface="メイリオ" panose="020B0604030504040204" pitchFamily="50" charset="-128"/>
                <a:cs typeface="Meiryo"/>
                <a:sym typeface="Meiryo"/>
              </a:rPr>
              <a:t>資料アジェンダ</a:t>
            </a:r>
          </a:p>
        </p:txBody>
      </p:sp>
      <p:sp>
        <p:nvSpPr>
          <p:cNvPr id="2" name="正方形/長方形 1">
            <a:extLst>
              <a:ext uri="{FF2B5EF4-FFF2-40B4-BE49-F238E27FC236}">
                <a16:creationId xmlns:a16="http://schemas.microsoft.com/office/drawing/2014/main" id="{BEBFCB2D-6FAD-96C0-BD6C-51465F2A4A6E}"/>
              </a:ext>
            </a:extLst>
          </p:cNvPr>
          <p:cNvSpPr/>
          <p:nvPr/>
        </p:nvSpPr>
        <p:spPr>
          <a:xfrm>
            <a:off x="4039946" y="3038203"/>
            <a:ext cx="1826141" cy="584775"/>
          </a:xfrm>
          <a:prstGeom prst="rect">
            <a:avLst/>
          </a:prstGeom>
        </p:spPr>
        <p:txBody>
          <a:bodyPr wrap="none">
            <a:spAutoFit/>
          </a:bodyPr>
          <a:lstStyle/>
          <a:p>
            <a:pPr algn="ctr"/>
            <a:r>
              <a:rPr lang="ja-JP" altLang="en-US" sz="3200" b="1" dirty="0">
                <a:solidFill>
                  <a:schemeClr val="tx1">
                    <a:lumMod val="75000"/>
                    <a:lumOff val="25000"/>
                  </a:schemeClr>
                </a:solidFill>
                <a:latin typeface="メイリオ" panose="020B0604030504040204" pitchFamily="50" charset="-128"/>
                <a:ea typeface="メイリオ" panose="020B0604030504040204" pitchFamily="50" charset="-128"/>
                <a:cs typeface="メイリオ" panose="020B0604030504040204" pitchFamily="50" charset="-128"/>
              </a:rPr>
              <a:t>市場分析</a:t>
            </a:r>
            <a:endParaRPr lang="en-US" altLang="ja-IS" sz="3200" b="1" dirty="0">
              <a:solidFill>
                <a:schemeClr val="tx1">
                  <a:lumMod val="75000"/>
                  <a:lumOff val="25000"/>
                </a:schemeClr>
              </a:solidFill>
              <a:latin typeface="メイリオ" panose="020B0604030504040204" pitchFamily="50" charset="-128"/>
              <a:ea typeface="メイリオ" panose="020B0604030504040204" pitchFamily="50" charset="-128"/>
              <a:cs typeface="メイリオ" panose="020B0604030504040204" pitchFamily="50" charset="-128"/>
            </a:endParaRPr>
          </a:p>
        </p:txBody>
      </p:sp>
    </p:spTree>
    <p:extLst>
      <p:ext uri="{BB962C8B-B14F-4D97-AF65-F5344CB8AC3E}">
        <p14:creationId xmlns:p14="http://schemas.microsoft.com/office/powerpoint/2010/main" val="2841486627"/>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801AEA3-5B74-7C38-9336-4D6A18C7CFB5}"/>
            </a:ext>
          </a:extLst>
        </p:cNvPr>
        <p:cNvGrpSpPr/>
        <p:nvPr/>
      </p:nvGrpSpPr>
      <p:grpSpPr>
        <a:xfrm>
          <a:off x="0" y="0"/>
          <a:ext cx="0" cy="0"/>
          <a:chOff x="0" y="0"/>
          <a:chExt cx="0" cy="0"/>
        </a:xfrm>
      </p:grpSpPr>
      <p:sp>
        <p:nvSpPr>
          <p:cNvPr id="2" name="TextBox 1"/>
          <p:cNvSpPr txBox="1"/>
          <p:nvPr/>
        </p:nvSpPr>
        <p:spPr>
          <a:xfrm>
            <a:off x="547200" y="136800"/>
            <a:ext cx="8784000" cy="338400"/>
          </a:xfrm>
          <a:prstGeom prst="rect">
            <a:avLst/>
          </a:prstGeom>
          <a:noFill/>
        </p:spPr>
        <p:txBody>
          <a:bodyPr wrap="square" lIns="0" tIns="21600" rIns="0" bIns="21600" anchor="ctr">
            <a:spAutoFit/>
          </a:bodyPr>
          <a:lstStyle/>
          <a:p>
            <a:pPr algn="l"/>
            <a:r>
              <a:rPr sz="1600" b="1">
                <a:solidFill>
                  <a:srgbClr val="002060"/>
                </a:solidFill>
                <a:latin typeface="メイリオ"/>
                <a:ea typeface="メイリオ"/>
                <a:cs typeface="メイリオ"/>
              </a:rPr>
              <a:t>市場分析（前後検索クエリ）</a:t>
            </a:r>
          </a:p>
        </p:txBody>
      </p:sp>
      <p:sp>
        <p:nvSpPr>
          <p:cNvPr id="3" name="TextBox 2"/>
          <p:cNvSpPr txBox="1"/>
          <p:nvPr/>
        </p:nvSpPr>
        <p:spPr>
          <a:xfrm>
            <a:off x="432000" y="648000"/>
            <a:ext cx="9036000" cy="684000"/>
          </a:xfrm>
          <a:prstGeom prst="rect">
            <a:avLst/>
          </a:prstGeom>
          <a:noFill/>
        </p:spPr>
        <p:txBody>
          <a:bodyPr wrap="square" lIns="0" tIns="21600" rIns="0" bIns="21600" anchor="ctr">
            <a:spAutoFit/>
          </a:bodyPr>
          <a:lstStyle/>
          <a:p>
            <a:pPr algn="l">
              <a:lnSpc>
                <a:spcPct val="128000"/>
              </a:lnSpc>
            </a:pPr>
            <a:r>
              <a:rPr sz="1300">
                <a:solidFill>
                  <a:srgbClr val="333333"/>
                </a:solidFill>
                <a:latin typeface="メイリオ"/>
                <a:ea typeface="メイリオ"/>
                <a:cs typeface="メイリオ"/>
              </a:rPr>
              <a:t>LINEヤフーの前後検索データ（起点KW：カーディーラー）。</a:t>
            </a:r>
          </a:p>
          <a:p>
            <a:pPr algn="l">
              <a:lnSpc>
                <a:spcPct val="128000"/>
              </a:lnSpc>
            </a:pPr>
            <a:r>
              <a:rPr sz="1300">
                <a:solidFill>
                  <a:srgbClr val="333333"/>
                </a:solidFill>
                <a:latin typeface="メイリオ"/>
                <a:ea typeface="メイリオ"/>
                <a:cs typeface="メイリオ"/>
              </a:rPr>
              <a:t>職業への関心は、クルマを「買う人」の検索の中に埋もれている。</a:t>
            </a:r>
          </a:p>
        </p:txBody>
      </p:sp>
      <p:cxnSp>
        <p:nvCxnSpPr>
          <p:cNvPr id="4" name="Connector 3"/>
          <p:cNvCxnSpPr/>
          <p:nvPr/>
        </p:nvCxnSpPr>
        <p:spPr>
          <a:xfrm>
            <a:off x="0" y="1389600"/>
            <a:ext cx="9907200" cy="0"/>
          </a:xfrm>
          <a:prstGeom prst="line">
            <a:avLst/>
          </a:prstGeom>
          <a:ln w="12700">
            <a:solidFill>
              <a:srgbClr val="D9D9D9"/>
            </a:solidFill>
          </a:ln>
        </p:spPr>
        <p:style>
          <a:lnRef idx="2">
            <a:schemeClr val="accent1"/>
          </a:lnRef>
          <a:fillRef idx="0">
            <a:schemeClr val="accent1"/>
          </a:fillRef>
          <a:effectRef idx="1">
            <a:schemeClr val="accent1"/>
          </a:effectRef>
          <a:fontRef idx="minor">
            <a:schemeClr val="tx1"/>
          </a:fontRef>
        </p:style>
      </p:cxnSp>
      <p:sp>
        <p:nvSpPr>
          <p:cNvPr id="6" name="Rounded Rectangle 5"/>
          <p:cNvSpPr/>
          <p:nvPr/>
        </p:nvSpPr>
        <p:spPr>
          <a:xfrm>
            <a:off x="6768000" y="1494000"/>
            <a:ext cx="2707200" cy="1188000"/>
          </a:xfrm>
          <a:prstGeom prst="roundRect">
            <a:avLst>
              <a:gd name="adj" fmla="val 6000"/>
            </a:avLst>
          </a:prstGeom>
          <a:solidFill>
            <a:srgbClr val="F4F7FF"/>
          </a:solidFill>
          <a:ln>
            <a:noFill/>
          </a:ln>
          <a:effectLst/>
        </p:spPr>
        <p:style>
          <a:lnRef idx="1">
            <a:schemeClr val="accent1"/>
          </a:lnRef>
          <a:fillRef idx="3">
            <a:schemeClr val="accent1"/>
          </a:fillRef>
          <a:effectRef idx="2">
            <a:schemeClr val="accent1"/>
          </a:effectRef>
          <a:fontRef idx="minor">
            <a:schemeClr val="lt1"/>
          </a:fontRef>
        </p:style>
        <p:txBody>
          <a:bodyPr wrap="square" lIns="90000" tIns="54000" rIns="72000" bIns="36000" rtlCol="0" anchor="t"/>
          <a:lstStyle/>
          <a:p>
            <a:pPr algn="l">
              <a:lnSpc>
                <a:spcPct val="130000"/>
              </a:lnSpc>
            </a:pPr>
            <a:r>
              <a:rPr sz="1200" b="1">
                <a:solidFill>
                  <a:srgbClr val="1F285A"/>
                </a:solidFill>
                <a:latin typeface="メイリオ"/>
                <a:ea typeface="メイリオ"/>
                <a:cs typeface="メイリオ"/>
              </a:rPr>
              <a:t>① 職業クエリは0日周辺に実在</a:t>
            </a:r>
          </a:p>
          <a:p>
            <a:pPr algn="l">
              <a:lnSpc>
                <a:spcPct val="130000"/>
              </a:lnSpc>
            </a:pPr>
            <a:r>
              <a:rPr sz="1050" b="0">
                <a:solidFill>
                  <a:srgbClr val="333333"/>
                </a:solidFill>
                <a:latin typeface="メイリオ"/>
                <a:ea typeface="メイリオ"/>
                <a:cs typeface="メイリオ"/>
              </a:rPr>
              <a:t>「年収」「受付嬢」「営業マン」</a:t>
            </a:r>
          </a:p>
          <a:p>
            <a:pPr algn="l">
              <a:lnSpc>
                <a:spcPct val="130000"/>
              </a:lnSpc>
            </a:pPr>
            <a:r>
              <a:rPr sz="1050" b="0">
                <a:solidFill>
                  <a:srgbClr val="333333"/>
                </a:solidFill>
                <a:latin typeface="メイリオ"/>
                <a:ea typeface="メイリオ"/>
                <a:cs typeface="メイリオ"/>
              </a:rPr>
              <a:t>「ホワイト企業」等が起点前後に出現</a:t>
            </a:r>
          </a:p>
        </p:txBody>
      </p:sp>
      <p:sp>
        <p:nvSpPr>
          <p:cNvPr id="7" name="Rounded Rectangle 6"/>
          <p:cNvSpPr/>
          <p:nvPr/>
        </p:nvSpPr>
        <p:spPr>
          <a:xfrm>
            <a:off x="6768000" y="2736000"/>
            <a:ext cx="2707200" cy="1188000"/>
          </a:xfrm>
          <a:prstGeom prst="roundRect">
            <a:avLst>
              <a:gd name="adj" fmla="val 6000"/>
            </a:avLst>
          </a:prstGeom>
          <a:solidFill>
            <a:srgbClr val="F4F7FF"/>
          </a:solidFill>
          <a:ln>
            <a:noFill/>
          </a:ln>
          <a:effectLst/>
        </p:spPr>
        <p:style>
          <a:lnRef idx="1">
            <a:schemeClr val="accent1"/>
          </a:lnRef>
          <a:fillRef idx="3">
            <a:schemeClr val="accent1"/>
          </a:fillRef>
          <a:effectRef idx="2">
            <a:schemeClr val="accent1"/>
          </a:effectRef>
          <a:fontRef idx="minor">
            <a:schemeClr val="lt1"/>
          </a:fontRef>
        </p:style>
        <p:txBody>
          <a:bodyPr wrap="square" lIns="90000" tIns="54000" rIns="72000" bIns="36000" rtlCol="0" anchor="t"/>
          <a:lstStyle/>
          <a:p>
            <a:pPr algn="l">
              <a:lnSpc>
                <a:spcPct val="130000"/>
              </a:lnSpc>
            </a:pPr>
            <a:r>
              <a:rPr sz="1200" b="1">
                <a:solidFill>
                  <a:srgbClr val="1F285A"/>
                </a:solidFill>
                <a:latin typeface="メイリオ"/>
                <a:ea typeface="メイリオ"/>
                <a:cs typeface="メイリオ"/>
              </a:rPr>
              <a:t>② 大半は「買う人」の検索</a:t>
            </a:r>
          </a:p>
          <a:p>
            <a:pPr algn="l">
              <a:lnSpc>
                <a:spcPct val="130000"/>
              </a:lnSpc>
            </a:pPr>
            <a:r>
              <a:rPr sz="1050" b="0">
                <a:solidFill>
                  <a:srgbClr val="333333"/>
                </a:solidFill>
                <a:latin typeface="メイリオ"/>
                <a:ea typeface="メイリオ"/>
                <a:cs typeface="メイリオ"/>
              </a:rPr>
              <a:t>車種名・店舗名・ローンが支配的。</a:t>
            </a:r>
          </a:p>
          <a:p>
            <a:pPr algn="l">
              <a:lnSpc>
                <a:spcPct val="130000"/>
              </a:lnSpc>
            </a:pPr>
            <a:r>
              <a:rPr sz="1050" b="0">
                <a:solidFill>
                  <a:srgbClr val="333333"/>
                </a:solidFill>
                <a:latin typeface="メイリオ"/>
                <a:ea typeface="メイリオ"/>
                <a:cs typeface="メイリオ"/>
              </a:rPr>
              <a:t>働きたい人はその中に埋もれている</a:t>
            </a:r>
          </a:p>
        </p:txBody>
      </p:sp>
      <p:sp>
        <p:nvSpPr>
          <p:cNvPr id="8" name="Rounded Rectangle 7"/>
          <p:cNvSpPr/>
          <p:nvPr/>
        </p:nvSpPr>
        <p:spPr>
          <a:xfrm>
            <a:off x="6768000" y="3978000"/>
            <a:ext cx="2707200" cy="1188000"/>
          </a:xfrm>
          <a:prstGeom prst="roundRect">
            <a:avLst>
              <a:gd name="adj" fmla="val 6000"/>
            </a:avLst>
          </a:prstGeom>
          <a:solidFill>
            <a:srgbClr val="F4F7FF"/>
          </a:solidFill>
          <a:ln>
            <a:noFill/>
          </a:ln>
          <a:effectLst/>
        </p:spPr>
        <p:style>
          <a:lnRef idx="1">
            <a:schemeClr val="accent1"/>
          </a:lnRef>
          <a:fillRef idx="3">
            <a:schemeClr val="accent1"/>
          </a:fillRef>
          <a:effectRef idx="2">
            <a:schemeClr val="accent1"/>
          </a:effectRef>
          <a:fontRef idx="minor">
            <a:schemeClr val="lt1"/>
          </a:fontRef>
        </p:style>
        <p:txBody>
          <a:bodyPr wrap="square" lIns="90000" tIns="54000" rIns="72000" bIns="36000" rtlCol="0" anchor="t"/>
          <a:lstStyle/>
          <a:p>
            <a:pPr algn="l">
              <a:lnSpc>
                <a:spcPct val="130000"/>
              </a:lnSpc>
            </a:pPr>
            <a:r>
              <a:rPr sz="1200" b="1">
                <a:solidFill>
                  <a:srgbClr val="1F285A"/>
                </a:solidFill>
                <a:latin typeface="メイリオ"/>
                <a:ea typeface="メイリオ"/>
                <a:cs typeface="メイリオ"/>
              </a:rPr>
              <a:t>③ 検索広告では狙い撃てない</a:t>
            </a:r>
          </a:p>
          <a:p>
            <a:pPr algn="l">
              <a:lnSpc>
                <a:spcPct val="130000"/>
              </a:lnSpc>
            </a:pPr>
            <a:r>
              <a:rPr sz="1050" b="0">
                <a:solidFill>
                  <a:srgbClr val="333333"/>
                </a:solidFill>
                <a:latin typeface="メイリオ"/>
                <a:ea typeface="メイリオ"/>
                <a:cs typeface="メイリオ"/>
              </a:rPr>
              <a:t>サイトに来た瞬間に受け止める</a:t>
            </a:r>
          </a:p>
          <a:p>
            <a:pPr algn="l">
              <a:lnSpc>
                <a:spcPct val="130000"/>
              </a:lnSpc>
            </a:pPr>
            <a:r>
              <a:rPr sz="1050" b="0">
                <a:solidFill>
                  <a:srgbClr val="333333"/>
                </a:solidFill>
                <a:latin typeface="メイリオ"/>
                <a:ea typeface="メイリオ"/>
                <a:cs typeface="メイリオ"/>
              </a:rPr>
              <a:t>＝離脱防止とLINEの役割</a:t>
            </a:r>
          </a:p>
        </p:txBody>
      </p:sp>
      <p:sp>
        <p:nvSpPr>
          <p:cNvPr id="9" name="Rounded Rectangle 8"/>
          <p:cNvSpPr/>
          <p:nvPr/>
        </p:nvSpPr>
        <p:spPr>
          <a:xfrm>
            <a:off x="432000" y="5513238"/>
            <a:ext cx="9043200" cy="360000"/>
          </a:xfrm>
          <a:prstGeom prst="roundRect">
            <a:avLst>
              <a:gd name="adj" fmla="val 6000"/>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wrap="square" lIns="108000" tIns="21600" rIns="108000" bIns="21600" rtlCol="0" anchor="ctr"/>
          <a:lstStyle/>
          <a:p>
            <a:pPr algn="ctr"/>
            <a:r>
              <a:rPr sz="1350" b="1">
                <a:solidFill>
                  <a:srgbClr val="FFFFFF"/>
                </a:solidFill>
                <a:latin typeface="メイリオ"/>
                <a:ea typeface="メイリオ"/>
                <a:cs typeface="メイリオ"/>
              </a:rPr>
              <a:t>検索で狙えない層は、来た瞬間に受け止める。それが本提案の入口設計。</a:t>
            </a:r>
          </a:p>
        </p:txBody>
      </p:sp>
      <p:sp>
        <p:nvSpPr>
          <p:cNvPr id="10" name="TextBox 9"/>
          <p:cNvSpPr txBox="1"/>
          <p:nvPr/>
        </p:nvSpPr>
        <p:spPr>
          <a:xfrm>
            <a:off x="432000" y="6246000"/>
            <a:ext cx="9043200" cy="324000"/>
          </a:xfrm>
          <a:prstGeom prst="rect">
            <a:avLst/>
          </a:prstGeom>
          <a:noFill/>
        </p:spPr>
        <p:txBody>
          <a:bodyPr wrap="square" lIns="0" tIns="21600" rIns="0" bIns="21600" anchor="t">
            <a:spAutoFit/>
          </a:bodyPr>
          <a:lstStyle/>
          <a:p>
            <a:pPr algn="l">
              <a:lnSpc>
                <a:spcPct val="115000"/>
              </a:lnSpc>
            </a:pPr>
            <a:r>
              <a:rPr sz="950">
                <a:solidFill>
                  <a:srgbClr val="7F7F7F"/>
                </a:solidFill>
                <a:latin typeface="メイリオ"/>
                <a:ea typeface="メイリオ"/>
                <a:cs typeface="メイリオ"/>
              </a:rPr>
              <a:t>出典：LINEヤフー 前後検索データ（起点KW：カーディーラー／2026-09-23取得）。横軸=検索起点からの日数、縦軸=UU（相対）</a:t>
            </a:r>
          </a:p>
        </p:txBody>
      </p:sp>
      <p:pic>
        <p:nvPicPr>
          <p:cNvPr id="11" name="Picture 10" descr="chengrowth_zengo_colored.png"/>
          <p:cNvPicPr>
            <a:picLocks noChangeAspect="1"/>
          </p:cNvPicPr>
          <p:nvPr/>
        </p:nvPicPr>
        <p:blipFill>
          <a:blip r:embed="rId4"/>
          <a:stretch>
            <a:fillRect/>
          </a:stretch>
        </p:blipFill>
        <p:spPr>
          <a:xfrm>
            <a:off x="432000" y="1494000"/>
            <a:ext cx="6228000" cy="3634038"/>
          </a:xfrm>
          <a:prstGeom prst="rect">
            <a:avLst/>
          </a:prstGeom>
        </p:spPr>
      </p:pic>
      <p:sp>
        <p:nvSpPr>
          <p:cNvPr id="12" name="Pentagon 11"/>
          <p:cNvSpPr/>
          <p:nvPr/>
        </p:nvSpPr>
        <p:spPr>
          <a:xfrm>
            <a:off x="681120" y="5171238"/>
            <a:ext cx="2967641" cy="259200"/>
          </a:xfrm>
          <a:prstGeom prst="homePlate">
            <a:avLst/>
          </a:prstGeom>
          <a:solidFill>
            <a:srgbClr val="8C8C8C"/>
          </a:solidFill>
          <a:ln>
            <a:noFill/>
          </a:ln>
          <a:effectLst/>
        </p:spPr>
        <p:style>
          <a:lnRef idx="1">
            <a:schemeClr val="accent1"/>
          </a:lnRef>
          <a:fillRef idx="3">
            <a:schemeClr val="accent1"/>
          </a:fillRef>
          <a:effectRef idx="2">
            <a:schemeClr val="accent1"/>
          </a:effectRef>
          <a:fontRef idx="minor">
            <a:schemeClr val="lt1"/>
          </a:fontRef>
        </p:style>
        <p:txBody>
          <a:bodyPr rtlCol="0" anchor="ctr" lIns="36000" rIns="36000" tIns="0" bIns="0"/>
          <a:lstStyle/>
          <a:p>
            <a:pPr algn="ctr"/>
            <a:r>
              <a:rPr sz="1100" b="1">
                <a:solidFill>
                  <a:srgbClr val="FFFFFF"/>
                </a:solidFill>
                <a:latin typeface="メイリオ"/>
                <a:ea typeface="メイリオ"/>
                <a:cs typeface="メイリオ"/>
              </a:rPr>
              <a:t>サイト訪問時：離脱防止バナーで受け止め</a:t>
            </a:r>
          </a:p>
        </p:txBody>
      </p:sp>
      <p:sp>
        <p:nvSpPr>
          <p:cNvPr id="13" name="Pentagon 12"/>
          <p:cNvSpPr/>
          <p:nvPr/>
        </p:nvSpPr>
        <p:spPr>
          <a:xfrm>
            <a:off x="3648761" y="5171238"/>
            <a:ext cx="1476035" cy="259200"/>
          </a:xfrm>
          <a:prstGeom prst="homePlate">
            <a:avLst/>
          </a:prstGeom>
          <a:solidFill>
            <a:srgbClr val="06C755"/>
          </a:solidFill>
          <a:ln>
            <a:noFill/>
          </a:ln>
          <a:effectLst/>
        </p:spPr>
        <p:style>
          <a:lnRef idx="1">
            <a:schemeClr val="accent1"/>
          </a:lnRef>
          <a:fillRef idx="3">
            <a:schemeClr val="accent1"/>
          </a:fillRef>
          <a:effectRef idx="2">
            <a:schemeClr val="accent1"/>
          </a:effectRef>
          <a:fontRef idx="minor">
            <a:schemeClr val="lt1"/>
          </a:fontRef>
        </p:style>
        <p:txBody>
          <a:bodyPr rtlCol="0" anchor="ctr" lIns="36000" rIns="36000" tIns="0" bIns="0"/>
          <a:lstStyle/>
          <a:p>
            <a:pPr algn="ctr"/>
            <a:r>
              <a:rPr sz="1100" b="1">
                <a:solidFill>
                  <a:srgbClr val="FFFFFF"/>
                </a:solidFill>
                <a:latin typeface="メイリオ"/>
                <a:ea typeface="メイリオ"/>
                <a:cs typeface="メイリオ"/>
              </a:rPr>
              <a:t>LINE友だち追加</a:t>
            </a:r>
          </a:p>
        </p:txBody>
      </p:sp>
      <p:sp>
        <p:nvSpPr>
          <p:cNvPr id="14" name="Pentagon 13"/>
          <p:cNvSpPr/>
          <p:nvPr/>
        </p:nvSpPr>
        <p:spPr>
          <a:xfrm>
            <a:off x="5124797" y="5171238"/>
            <a:ext cx="1457352" cy="259200"/>
          </a:xfrm>
          <a:prstGeom prst="homePlate">
            <a:avLst/>
          </a:prstGeom>
          <a:solidFill>
            <a:srgbClr val="00873C"/>
          </a:solidFill>
          <a:ln>
            <a:noFill/>
          </a:ln>
          <a:effectLst/>
        </p:spPr>
        <p:style>
          <a:lnRef idx="1">
            <a:schemeClr val="accent1"/>
          </a:lnRef>
          <a:fillRef idx="3">
            <a:schemeClr val="accent1"/>
          </a:fillRef>
          <a:effectRef idx="2">
            <a:schemeClr val="accent1"/>
          </a:effectRef>
          <a:fontRef idx="minor">
            <a:schemeClr val="lt1"/>
          </a:fontRef>
        </p:style>
        <p:txBody>
          <a:bodyPr rtlCol="0" anchor="ctr" lIns="36000" rIns="36000" tIns="0" bIns="0"/>
          <a:lstStyle/>
          <a:p>
            <a:pPr algn="ctr"/>
            <a:r>
              <a:rPr sz="1100" b="1">
                <a:solidFill>
                  <a:srgbClr val="FFFFFF"/>
                </a:solidFill>
                <a:latin typeface="メイリオ"/>
                <a:ea typeface="メイリオ"/>
                <a:cs typeface="メイリオ"/>
              </a:rPr>
              <a:t>LINE施策（配信）</a:t>
            </a:r>
          </a:p>
        </p:txBody>
      </p:sp>
      <p:sp>
        <p:nvSpPr>
          <p:cNvPr id="15" name="TextBox 14"/>
          <p:cNvSpPr txBox="1"/>
          <p:nvPr/>
        </p:nvSpPr>
        <p:spPr>
          <a:xfrm>
            <a:off x="4573620" y="1584000"/>
            <a:ext cx="2055239" cy="432000"/>
          </a:xfrm>
          <a:prstGeom prst="rect">
            <a:avLst/>
          </a:prstGeom>
          <a:noFill/>
        </p:spPr>
        <p:txBody>
          <a:bodyPr wrap="square" anchor="t" lIns="36000" rIns="36000">
            <a:spAutoFit/>
          </a:bodyPr>
          <a:lstStyle/>
          <a:p>
            <a:pPr algn="l"/>
            <a:r>
              <a:rPr sz="1100" b="1">
                <a:solidFill>
                  <a:srgbClr val="ED7D31"/>
                </a:solidFill>
                <a:latin typeface="メイリオ"/>
                <a:ea typeface="メイリオ"/>
                <a:cs typeface="メイリオ"/>
              </a:rPr>
              <a:t>■ 職業・転職系</a:t>
            </a:r>
          </a:p>
          <a:p>
            <a:pPr algn="l"/>
            <a:r>
              <a:rPr sz="1100" b="1">
                <a:solidFill>
                  <a:srgbClr val="5CBFAF"/>
                </a:solidFill>
                <a:latin typeface="メイリオ"/>
                <a:ea typeface="メイリオ"/>
                <a:cs typeface="メイリオ"/>
              </a:rPr>
              <a:t>■ 車種・店舗・ローン</a:t>
            </a:r>
          </a:p>
        </p:txBody>
      </p:sp>
    </p:spTree>
    <p:extLst>
      <p:ext uri="{BB962C8B-B14F-4D97-AF65-F5344CB8AC3E}">
        <p14:creationId xmlns:p14="http://schemas.microsoft.com/office/powerpoint/2010/main" val="2053170638"/>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659E4EC-2612-49EF-3949-DD4AEE06BA6E}"/>
            </a:ext>
          </a:extLst>
        </p:cNvPr>
        <p:cNvGrpSpPr/>
        <p:nvPr/>
      </p:nvGrpSpPr>
      <p:grpSpPr>
        <a:xfrm>
          <a:off x="0" y="0"/>
          <a:ext cx="0" cy="0"/>
          <a:chOff x="0" y="0"/>
          <a:chExt cx="0" cy="0"/>
        </a:xfrm>
      </p:grpSpPr>
      <p:sp>
        <p:nvSpPr>
          <p:cNvPr id="2" name="TextBox 1"/>
          <p:cNvSpPr txBox="1"/>
          <p:nvPr/>
        </p:nvSpPr>
        <p:spPr>
          <a:xfrm>
            <a:off x="547200" y="136800"/>
            <a:ext cx="8784000" cy="338400"/>
          </a:xfrm>
          <a:prstGeom prst="rect">
            <a:avLst/>
          </a:prstGeom>
          <a:noFill/>
        </p:spPr>
        <p:txBody>
          <a:bodyPr wrap="square" lIns="0" tIns="21600" rIns="0" bIns="21600" anchor="ctr">
            <a:spAutoFit/>
          </a:bodyPr>
          <a:lstStyle/>
          <a:p>
            <a:pPr algn="l"/>
            <a:r>
              <a:rPr sz="1600" b="1">
                <a:solidFill>
                  <a:srgbClr val="002060"/>
                </a:solidFill>
                <a:latin typeface="メイリオ"/>
                <a:ea typeface="メイリオ"/>
                <a:cs typeface="メイリオ"/>
              </a:rPr>
              <a:t>市場分析（検索トレンド）</a:t>
            </a:r>
          </a:p>
        </p:txBody>
      </p:sp>
      <p:sp>
        <p:nvSpPr>
          <p:cNvPr id="3" name="TextBox 2"/>
          <p:cNvSpPr txBox="1"/>
          <p:nvPr/>
        </p:nvSpPr>
        <p:spPr>
          <a:xfrm>
            <a:off x="432000" y="648000"/>
            <a:ext cx="9036000" cy="684000"/>
          </a:xfrm>
          <a:prstGeom prst="rect">
            <a:avLst/>
          </a:prstGeom>
          <a:noFill/>
        </p:spPr>
        <p:txBody>
          <a:bodyPr wrap="square" lIns="0" tIns="21600" rIns="0" bIns="21600" anchor="ctr">
            <a:spAutoFit/>
          </a:bodyPr>
          <a:lstStyle/>
          <a:p>
            <a:pPr algn="l">
              <a:lnSpc>
                <a:spcPct val="128000"/>
              </a:lnSpc>
            </a:pPr>
            <a:r>
              <a:rPr sz="1300">
                <a:solidFill>
                  <a:srgbClr val="333333"/>
                </a:solidFill>
                <a:latin typeface="メイリオ"/>
                <a:ea typeface="メイリオ"/>
                <a:cs typeface="メイリオ"/>
              </a:rPr>
              <a:t>「整備士」の検索は一年中ほぼフラット。転職検討は季節を選ばず続いている。</a:t>
            </a:r>
          </a:p>
        </p:txBody>
      </p:sp>
      <p:cxnSp>
        <p:nvCxnSpPr>
          <p:cNvPr id="4" name="Connector 3"/>
          <p:cNvCxnSpPr/>
          <p:nvPr/>
        </p:nvCxnSpPr>
        <p:spPr>
          <a:xfrm>
            <a:off x="0" y="1389600"/>
            <a:ext cx="9907200" cy="0"/>
          </a:xfrm>
          <a:prstGeom prst="line">
            <a:avLst/>
          </a:prstGeom>
          <a:ln w="12700">
            <a:solidFill>
              <a:srgbClr val="D9D9D9"/>
            </a:solidFill>
          </a:ln>
        </p:spPr>
        <p:style>
          <a:lnRef idx="2">
            <a:schemeClr val="accent1"/>
          </a:lnRef>
          <a:fillRef idx="0">
            <a:schemeClr val="accent1"/>
          </a:fillRef>
          <a:effectRef idx="1">
            <a:schemeClr val="accent1"/>
          </a:effectRef>
          <a:fontRef idx="minor">
            <a:schemeClr val="tx1"/>
          </a:fontRef>
        </p:style>
      </p:cxnSp>
      <p:sp>
        <p:nvSpPr>
          <p:cNvPr id="6" name="Rounded Rectangle 5"/>
          <p:cNvSpPr/>
          <p:nvPr/>
        </p:nvSpPr>
        <p:spPr>
          <a:xfrm>
            <a:off x="432000" y="4505040"/>
            <a:ext cx="2942400" cy="756000"/>
          </a:xfrm>
          <a:prstGeom prst="roundRect">
            <a:avLst>
              <a:gd name="adj" fmla="val 6000"/>
            </a:avLst>
          </a:prstGeom>
          <a:solidFill>
            <a:srgbClr val="F4F7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432000" y="4559039"/>
            <a:ext cx="2942400" cy="180000"/>
          </a:xfrm>
          <a:prstGeom prst="rect">
            <a:avLst/>
          </a:prstGeom>
          <a:noFill/>
        </p:spPr>
        <p:txBody>
          <a:bodyPr wrap="square" lIns="50400" tIns="21600" rIns="50400" bIns="21600" anchor="ctr">
            <a:spAutoFit/>
          </a:bodyPr>
          <a:lstStyle/>
          <a:p>
            <a:pPr algn="ctr"/>
            <a:r>
              <a:rPr sz="1150" b="1">
                <a:solidFill>
                  <a:srgbClr val="7F7F7F"/>
                </a:solidFill>
                <a:latin typeface="メイリオ"/>
                <a:ea typeface="メイリオ"/>
                <a:cs typeface="メイリオ"/>
              </a:rPr>
              <a:t>山</a:t>
            </a:r>
          </a:p>
        </p:txBody>
      </p:sp>
      <p:sp>
        <p:nvSpPr>
          <p:cNvPr id="8" name="TextBox 7"/>
          <p:cNvSpPr txBox="1"/>
          <p:nvPr/>
        </p:nvSpPr>
        <p:spPr>
          <a:xfrm>
            <a:off x="432000" y="4721039"/>
            <a:ext cx="2942400" cy="288000"/>
          </a:xfrm>
          <a:prstGeom prst="rect">
            <a:avLst/>
          </a:prstGeom>
          <a:noFill/>
        </p:spPr>
        <p:txBody>
          <a:bodyPr wrap="square" lIns="50400" tIns="21600" rIns="50400" bIns="21600" anchor="ctr">
            <a:spAutoFit/>
          </a:bodyPr>
          <a:lstStyle/>
          <a:p>
            <a:pPr algn="ctr"/>
            <a:r>
              <a:rPr sz="1700" b="1">
                <a:solidFill>
                  <a:srgbClr val="ED7D31"/>
                </a:solidFill>
                <a:latin typeface="メイリオ"/>
                <a:ea typeface="メイリオ"/>
                <a:cs typeface="メイリオ"/>
              </a:rPr>
              <a:t>3月</a:t>
            </a:r>
          </a:p>
        </p:txBody>
      </p:sp>
      <p:sp>
        <p:nvSpPr>
          <p:cNvPr id="9" name="TextBox 8"/>
          <p:cNvSpPr txBox="1"/>
          <p:nvPr/>
        </p:nvSpPr>
        <p:spPr>
          <a:xfrm>
            <a:off x="432000" y="5009040"/>
            <a:ext cx="2942400" cy="216000"/>
          </a:xfrm>
          <a:prstGeom prst="rect">
            <a:avLst/>
          </a:prstGeom>
          <a:noFill/>
        </p:spPr>
        <p:txBody>
          <a:bodyPr wrap="square" lIns="50400" tIns="21600" rIns="50400" bIns="21600" anchor="ctr">
            <a:spAutoFit/>
          </a:bodyPr>
          <a:lstStyle/>
          <a:p>
            <a:pPr algn="ctr"/>
            <a:r>
              <a:rPr sz="1050">
                <a:solidFill>
                  <a:srgbClr val="333333"/>
                </a:solidFill>
                <a:latin typeface="メイリオ"/>
                <a:ea typeface="メイリオ"/>
                <a:cs typeface="メイリオ"/>
              </a:rPr>
              <a:t>年度替わり・転職の動きが最大</a:t>
            </a:r>
          </a:p>
        </p:txBody>
      </p:sp>
      <p:sp>
        <p:nvSpPr>
          <p:cNvPr id="10" name="Rounded Rectangle 9"/>
          <p:cNvSpPr/>
          <p:nvPr/>
        </p:nvSpPr>
        <p:spPr>
          <a:xfrm>
            <a:off x="3482400" y="4505040"/>
            <a:ext cx="2942400" cy="756000"/>
          </a:xfrm>
          <a:prstGeom prst="roundRect">
            <a:avLst>
              <a:gd name="adj" fmla="val 6000"/>
            </a:avLst>
          </a:prstGeom>
          <a:solidFill>
            <a:srgbClr val="F4F7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3482400" y="4559039"/>
            <a:ext cx="2942400" cy="180000"/>
          </a:xfrm>
          <a:prstGeom prst="rect">
            <a:avLst/>
          </a:prstGeom>
          <a:noFill/>
        </p:spPr>
        <p:txBody>
          <a:bodyPr wrap="square" lIns="50400" tIns="21600" rIns="50400" bIns="21600" anchor="ctr">
            <a:spAutoFit/>
          </a:bodyPr>
          <a:lstStyle/>
          <a:p>
            <a:pPr algn="ctr"/>
            <a:r>
              <a:rPr sz="1150" b="1">
                <a:solidFill>
                  <a:srgbClr val="7F7F7F"/>
                </a:solidFill>
                <a:latin typeface="メイリオ"/>
                <a:ea typeface="メイリオ"/>
                <a:cs typeface="メイリオ"/>
              </a:rPr>
              <a:t>谷</a:t>
            </a:r>
          </a:p>
        </p:txBody>
      </p:sp>
      <p:sp>
        <p:nvSpPr>
          <p:cNvPr id="12" name="TextBox 11"/>
          <p:cNvSpPr txBox="1"/>
          <p:nvPr/>
        </p:nvSpPr>
        <p:spPr>
          <a:xfrm>
            <a:off x="3482400" y="4721039"/>
            <a:ext cx="2942400" cy="288000"/>
          </a:xfrm>
          <a:prstGeom prst="rect">
            <a:avLst/>
          </a:prstGeom>
          <a:noFill/>
        </p:spPr>
        <p:txBody>
          <a:bodyPr wrap="square" lIns="50400" tIns="21600" rIns="50400" bIns="21600" anchor="ctr">
            <a:spAutoFit/>
          </a:bodyPr>
          <a:lstStyle/>
          <a:p>
            <a:pPr algn="ctr"/>
            <a:r>
              <a:rPr sz="1700" b="1">
                <a:solidFill>
                  <a:srgbClr val="ED7D31"/>
                </a:solidFill>
                <a:latin typeface="メイリオ"/>
                <a:ea typeface="メイリオ"/>
                <a:cs typeface="メイリオ"/>
              </a:rPr>
              <a:t>12月</a:t>
            </a:r>
          </a:p>
        </p:txBody>
      </p:sp>
      <p:sp>
        <p:nvSpPr>
          <p:cNvPr id="13" name="TextBox 12"/>
          <p:cNvSpPr txBox="1"/>
          <p:nvPr/>
        </p:nvSpPr>
        <p:spPr>
          <a:xfrm>
            <a:off x="3482400" y="5009040"/>
            <a:ext cx="2942400" cy="216000"/>
          </a:xfrm>
          <a:prstGeom prst="rect">
            <a:avLst/>
          </a:prstGeom>
          <a:noFill/>
        </p:spPr>
        <p:txBody>
          <a:bodyPr wrap="square" lIns="50400" tIns="21600" rIns="50400" bIns="21600" anchor="ctr">
            <a:spAutoFit/>
          </a:bodyPr>
          <a:lstStyle/>
          <a:p>
            <a:pPr algn="ctr"/>
            <a:r>
              <a:rPr sz="1050">
                <a:solidFill>
                  <a:srgbClr val="333333"/>
                </a:solidFill>
                <a:latin typeface="メイリオ"/>
                <a:ea typeface="メイリオ"/>
                <a:cs typeface="メイリオ"/>
              </a:rPr>
              <a:t>それでも山との差は約1.4倍</a:t>
            </a:r>
          </a:p>
        </p:txBody>
      </p:sp>
      <p:sp>
        <p:nvSpPr>
          <p:cNvPr id="14" name="Rounded Rectangle 13"/>
          <p:cNvSpPr/>
          <p:nvPr/>
        </p:nvSpPr>
        <p:spPr>
          <a:xfrm>
            <a:off x="6532800" y="4505040"/>
            <a:ext cx="2942400" cy="756000"/>
          </a:xfrm>
          <a:prstGeom prst="roundRect">
            <a:avLst>
              <a:gd name="adj" fmla="val 6000"/>
            </a:avLst>
          </a:prstGeom>
          <a:solidFill>
            <a:srgbClr val="F4F7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TextBox 14"/>
          <p:cNvSpPr txBox="1"/>
          <p:nvPr/>
        </p:nvSpPr>
        <p:spPr>
          <a:xfrm>
            <a:off x="6532800" y="4559039"/>
            <a:ext cx="2942400" cy="180000"/>
          </a:xfrm>
          <a:prstGeom prst="rect">
            <a:avLst/>
          </a:prstGeom>
          <a:noFill/>
        </p:spPr>
        <p:txBody>
          <a:bodyPr wrap="square" lIns="50400" tIns="21600" rIns="50400" bIns="21600" anchor="ctr">
            <a:spAutoFit/>
          </a:bodyPr>
          <a:lstStyle/>
          <a:p>
            <a:pPr algn="ctr"/>
            <a:r>
              <a:rPr sz="1150" b="1">
                <a:solidFill>
                  <a:srgbClr val="7F7F7F"/>
                </a:solidFill>
                <a:latin typeface="メイリオ"/>
                <a:ea typeface="メイリオ"/>
                <a:cs typeface="メイリオ"/>
              </a:rPr>
              <a:t>含意</a:t>
            </a:r>
          </a:p>
        </p:txBody>
      </p:sp>
      <p:sp>
        <p:nvSpPr>
          <p:cNvPr id="16" name="TextBox 15"/>
          <p:cNvSpPr txBox="1"/>
          <p:nvPr/>
        </p:nvSpPr>
        <p:spPr>
          <a:xfrm>
            <a:off x="6532800" y="4721039"/>
            <a:ext cx="2942400" cy="288000"/>
          </a:xfrm>
          <a:prstGeom prst="rect">
            <a:avLst/>
          </a:prstGeom>
          <a:noFill/>
        </p:spPr>
        <p:txBody>
          <a:bodyPr wrap="square" lIns="50400" tIns="21600" rIns="50400" bIns="21600" anchor="ctr">
            <a:spAutoFit/>
          </a:bodyPr>
          <a:lstStyle/>
          <a:p>
            <a:pPr algn="ctr"/>
            <a:r>
              <a:rPr sz="1700" b="1">
                <a:solidFill>
                  <a:srgbClr val="ED7D31"/>
                </a:solidFill>
                <a:latin typeface="メイリオ"/>
                <a:ea typeface="メイリオ"/>
                <a:cs typeface="メイリオ"/>
              </a:rPr>
              <a:t>通年</a:t>
            </a:r>
          </a:p>
        </p:txBody>
      </p:sp>
      <p:sp>
        <p:nvSpPr>
          <p:cNvPr id="17" name="TextBox 16"/>
          <p:cNvSpPr txBox="1"/>
          <p:nvPr/>
        </p:nvSpPr>
        <p:spPr>
          <a:xfrm>
            <a:off x="6532800" y="5009040"/>
            <a:ext cx="2942400" cy="216000"/>
          </a:xfrm>
          <a:prstGeom prst="rect">
            <a:avLst/>
          </a:prstGeom>
          <a:noFill/>
        </p:spPr>
        <p:txBody>
          <a:bodyPr wrap="square" lIns="50400" tIns="21600" rIns="50400" bIns="21600" anchor="ctr">
            <a:spAutoFit/>
          </a:bodyPr>
          <a:lstStyle/>
          <a:p>
            <a:pPr algn="ctr"/>
            <a:r>
              <a:rPr sz="1050">
                <a:solidFill>
                  <a:srgbClr val="333333"/>
                </a:solidFill>
                <a:latin typeface="メイリオ"/>
                <a:ea typeface="メイリオ"/>
                <a:cs typeface="メイリオ"/>
              </a:rPr>
              <a:t>検討は一年中。接点は3月に集中</a:t>
            </a:r>
          </a:p>
        </p:txBody>
      </p:sp>
      <p:sp>
        <p:nvSpPr>
          <p:cNvPr id="18" name="Rounded Rectangle 17"/>
          <p:cNvSpPr/>
          <p:nvPr/>
        </p:nvSpPr>
        <p:spPr>
          <a:xfrm>
            <a:off x="432000" y="5369040"/>
            <a:ext cx="9043200" cy="360000"/>
          </a:xfrm>
          <a:prstGeom prst="roundRect">
            <a:avLst>
              <a:gd name="adj" fmla="val 10000"/>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wrap="square" lIns="108000" tIns="0" rIns="108000" bIns="0" rtlCol="0" anchor="ctr"/>
          <a:lstStyle/>
          <a:p>
            <a:pPr algn="ctr">
              <a:lnSpc>
                <a:spcPct val="125000"/>
              </a:lnSpc>
            </a:pPr>
            <a:r>
              <a:rPr sz="1350" b="1">
                <a:solidFill>
                  <a:srgbClr val="FFFFFF"/>
                </a:solidFill>
                <a:latin typeface="メイリオ"/>
                <a:ea typeface="メイリオ"/>
                <a:cs typeface="メイリオ"/>
              </a:rPr>
              <a:t>業界の接点は3月に集中。通年で検討層を受け止める先は、空いている。</a:t>
            </a:r>
          </a:p>
        </p:txBody>
      </p:sp>
      <p:sp>
        <p:nvSpPr>
          <p:cNvPr id="19" name="TextBox 18"/>
          <p:cNvSpPr txBox="1"/>
          <p:nvPr/>
        </p:nvSpPr>
        <p:spPr>
          <a:xfrm>
            <a:off x="432000" y="6246000"/>
            <a:ext cx="9043200" cy="324000"/>
          </a:xfrm>
          <a:prstGeom prst="rect">
            <a:avLst/>
          </a:prstGeom>
          <a:noFill/>
        </p:spPr>
        <p:txBody>
          <a:bodyPr wrap="square" lIns="0" tIns="21600" rIns="0" bIns="21600" anchor="t">
            <a:spAutoFit/>
          </a:bodyPr>
          <a:lstStyle/>
          <a:p>
            <a:pPr algn="l">
              <a:lnSpc>
                <a:spcPct val="115000"/>
              </a:lnSpc>
            </a:pPr>
            <a:r>
              <a:rPr sz="950">
                <a:solidFill>
                  <a:srgbClr val="7F7F7F"/>
                </a:solidFill>
                <a:latin typeface="メイリオ"/>
                <a:ea typeface="メイリオ"/>
                <a:cs typeface="メイリオ"/>
              </a:rPr>
              <a:t>出典：Googleトレンド（日本・過去5年・2026-09-21取得）。相対指標のため他KWとの数値比較は不可</a:t>
            </a:r>
          </a:p>
        </p:txBody>
      </p:sp>
      <p:pic>
        <p:nvPicPr>
          <p:cNvPr id="20" name="Picture 19" descr="chengrowth_trend_seibishi_5y_L.png"/>
          <p:cNvPicPr>
            <a:picLocks noChangeAspect="1"/>
          </p:cNvPicPr>
          <p:nvPr/>
        </p:nvPicPr>
        <p:blipFill>
          <a:blip r:embed="rId4"/>
          <a:stretch>
            <a:fillRect/>
          </a:stretch>
        </p:blipFill>
        <p:spPr>
          <a:xfrm>
            <a:off x="432000" y="1475999"/>
            <a:ext cx="9043200" cy="2939040"/>
          </a:xfrm>
          <a:prstGeom prst="rect">
            <a:avLst/>
          </a:prstGeom>
        </p:spPr>
      </p:pic>
    </p:spTree>
    <p:extLst>
      <p:ext uri="{BB962C8B-B14F-4D97-AF65-F5344CB8AC3E}">
        <p14:creationId xmlns:p14="http://schemas.microsoft.com/office/powerpoint/2010/main" val="995195844"/>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4F79BAA-8C2D-2DC3-A995-CBA086D445D9}"/>
            </a:ext>
          </a:extLst>
        </p:cNvPr>
        <p:cNvGrpSpPr/>
        <p:nvPr/>
      </p:nvGrpSpPr>
      <p:grpSpPr>
        <a:xfrm>
          <a:off x="0" y="0"/>
          <a:ext cx="0" cy="0"/>
          <a:chOff x="0" y="0"/>
          <a:chExt cx="0" cy="0"/>
        </a:xfrm>
      </p:grpSpPr>
      <p:sp>
        <p:nvSpPr>
          <p:cNvPr id="2" name="TextBox 1"/>
          <p:cNvSpPr txBox="1"/>
          <p:nvPr/>
        </p:nvSpPr>
        <p:spPr>
          <a:xfrm>
            <a:off x="547200" y="136800"/>
            <a:ext cx="8784000" cy="338400"/>
          </a:xfrm>
          <a:prstGeom prst="rect">
            <a:avLst/>
          </a:prstGeom>
          <a:noFill/>
        </p:spPr>
        <p:txBody>
          <a:bodyPr wrap="square" lIns="0" tIns="21600" rIns="0" bIns="21600" anchor="ctr">
            <a:spAutoFit/>
          </a:bodyPr>
          <a:lstStyle/>
          <a:p>
            <a:pPr algn="l"/>
            <a:r>
              <a:rPr sz="1600" b="1">
                <a:solidFill>
                  <a:srgbClr val="002060"/>
                </a:solidFill>
                <a:latin typeface="メイリオ"/>
                <a:ea typeface="メイリオ"/>
                <a:cs typeface="メイリオ"/>
              </a:rPr>
              <a:t>競合分析（求人サービスのLINE活用状況）</a:t>
            </a:r>
          </a:p>
        </p:txBody>
      </p:sp>
      <p:sp>
        <p:nvSpPr>
          <p:cNvPr id="3" name="TextBox 2"/>
          <p:cNvSpPr txBox="1"/>
          <p:nvPr/>
        </p:nvSpPr>
        <p:spPr>
          <a:xfrm>
            <a:off x="432000" y="837833"/>
            <a:ext cx="9036000" cy="304334"/>
          </a:xfrm>
          <a:prstGeom prst="rect">
            <a:avLst/>
          </a:prstGeom>
          <a:noFill/>
        </p:spPr>
        <p:txBody>
          <a:bodyPr wrap="square" lIns="0" tIns="21600" rIns="0" bIns="21600" anchor="ctr">
            <a:spAutoFit/>
          </a:bodyPr>
          <a:lstStyle/>
          <a:p>
            <a:pPr algn="l">
              <a:lnSpc>
                <a:spcPct val="128000"/>
              </a:lnSpc>
            </a:pPr>
            <a:r>
              <a:rPr sz="1400">
                <a:solidFill>
                  <a:srgbClr val="333333"/>
                </a:solidFill>
                <a:latin typeface="メイリオ"/>
                <a:ea typeface="メイリオ"/>
                <a:cs typeface="メイリオ"/>
              </a:rPr>
              <a:t>総合大手はLINEが標準装備。一方、自動車・整備士特化は空白地帯。</a:t>
            </a:r>
          </a:p>
        </p:txBody>
      </p:sp>
      <p:cxnSp>
        <p:nvCxnSpPr>
          <p:cNvPr id="4" name="Connector 3"/>
          <p:cNvCxnSpPr/>
          <p:nvPr/>
        </p:nvCxnSpPr>
        <p:spPr>
          <a:xfrm>
            <a:off x="0" y="1389600"/>
            <a:ext cx="9907200" cy="0"/>
          </a:xfrm>
          <a:prstGeom prst="line">
            <a:avLst/>
          </a:prstGeom>
          <a:ln w="12700">
            <a:solidFill>
              <a:srgbClr val="D9D9D9"/>
            </a:solidFill>
          </a:ln>
        </p:spPr>
        <p:style>
          <a:lnRef idx="2">
            <a:schemeClr val="accent1"/>
          </a:lnRef>
          <a:fillRef idx="0">
            <a:schemeClr val="accent1"/>
          </a:fillRef>
          <a:effectRef idx="1">
            <a:schemeClr val="accent1"/>
          </a:effectRef>
          <a:fontRef idx="minor">
            <a:schemeClr val="tx1"/>
          </a:fontRef>
        </p:style>
      </p:cxnSp>
      <p:graphicFrame>
        <p:nvGraphicFramePr>
          <p:cNvPr id="5" name="Table 4"/>
          <p:cNvGraphicFramePr>
            <a:graphicFrameLocks noGrp="1"/>
          </p:cNvGraphicFramePr>
          <p:nvPr>
            <p:extLst>
              <p:ext uri="{D42A27DB-BD31-4B8C-83A1-F6EECF244321}">
                <p14:modId xmlns:p14="http://schemas.microsoft.com/office/powerpoint/2010/main" val="3070262570"/>
              </p:ext>
            </p:extLst>
          </p:nvPr>
        </p:nvGraphicFramePr>
        <p:xfrm>
          <a:off x="432000" y="1619999"/>
          <a:ext cx="9043200" cy="2249352"/>
        </p:xfrm>
        <a:graphic>
          <a:graphicData uri="http://schemas.openxmlformats.org/drawingml/2006/table">
            <a:tbl>
              <a:tblPr firstRow="1" bandRow="1">
                <a:tableStyleId>{5C22544A-7EE6-4342-B048-85BDC9FD1C3A}</a:tableStyleId>
              </a:tblPr>
              <a:tblGrid>
                <a:gridCol w="2907966">
                  <a:extLst>
                    <a:ext uri="{9D8B030D-6E8A-4147-A177-3AD203B41FA5}">
                      <a16:colId xmlns:a16="http://schemas.microsoft.com/office/drawing/2014/main" val="20000"/>
                    </a:ext>
                  </a:extLst>
                </a:gridCol>
                <a:gridCol w="2194560">
                  <a:extLst>
                    <a:ext uri="{9D8B030D-6E8A-4147-A177-3AD203B41FA5}">
                      <a16:colId xmlns:a16="http://schemas.microsoft.com/office/drawing/2014/main" val="20001"/>
                    </a:ext>
                  </a:extLst>
                </a:gridCol>
                <a:gridCol w="3940674">
                  <a:extLst>
                    <a:ext uri="{9D8B030D-6E8A-4147-A177-3AD203B41FA5}">
                      <a16:colId xmlns:a16="http://schemas.microsoft.com/office/drawing/2014/main" val="20002"/>
                    </a:ext>
                  </a:extLst>
                </a:gridCol>
              </a:tblGrid>
              <a:tr h="321336">
                <a:tc>
                  <a:txBody>
                    <a:bodyPr/>
                    <a:lstStyle/>
                    <a:p>
                      <a:pPr algn="ctr"/>
                      <a:r>
                        <a:rPr sz="1150" b="1">
                          <a:solidFill>
                            <a:srgbClr val="FFFFFF"/>
                          </a:solidFill>
                          <a:latin typeface="メイリオ"/>
                          <a:ea typeface="メイリオ"/>
                          <a:cs typeface="メイリオ"/>
                        </a:rPr>
                        <a:t>サービス</a:t>
                      </a:r>
                    </a:p>
                  </a:txBody>
                  <a:tcPr anchor="ctr">
                    <a:solidFill>
                      <a:srgbClr val="1F285A"/>
                    </a:solidFill>
                  </a:tcPr>
                </a:tc>
                <a:tc>
                  <a:txBody>
                    <a:bodyPr/>
                    <a:lstStyle/>
                    <a:p>
                      <a:pPr algn="ctr"/>
                      <a:r>
                        <a:rPr sz="1150" b="1">
                          <a:solidFill>
                            <a:srgbClr val="FFFFFF"/>
                          </a:solidFill>
                          <a:latin typeface="メイリオ"/>
                          <a:ea typeface="メイリオ"/>
                          <a:cs typeface="メイリオ"/>
                        </a:rPr>
                        <a:t>種別</a:t>
                      </a:r>
                    </a:p>
                  </a:txBody>
                  <a:tcPr anchor="ctr">
                    <a:solidFill>
                      <a:srgbClr val="1F285A"/>
                    </a:solidFill>
                  </a:tcPr>
                </a:tc>
                <a:tc>
                  <a:txBody>
                    <a:bodyPr/>
                    <a:lstStyle/>
                    <a:p>
                      <a:pPr algn="ctr"/>
                      <a:r>
                        <a:rPr sz="1150" b="1">
                          <a:solidFill>
                            <a:srgbClr val="FFFFFF"/>
                          </a:solidFill>
                          <a:latin typeface="メイリオ"/>
                          <a:ea typeface="メイリオ"/>
                          <a:cs typeface="メイリオ"/>
                        </a:rPr>
                        <a:t>LINE友だち数</a:t>
                      </a:r>
                    </a:p>
                  </a:txBody>
                  <a:tcPr anchor="ctr">
                    <a:solidFill>
                      <a:srgbClr val="1F285A"/>
                    </a:solidFill>
                  </a:tcPr>
                </a:tc>
                <a:extLst>
                  <a:ext uri="{0D108BD9-81ED-4DB2-BD59-A6C34878D82A}">
                    <a16:rowId xmlns:a16="http://schemas.microsoft.com/office/drawing/2014/main" val="10000"/>
                  </a:ext>
                </a:extLst>
              </a:tr>
              <a:tr h="321336">
                <a:tc>
                  <a:txBody>
                    <a:bodyPr/>
                    <a:lstStyle/>
                    <a:p>
                      <a:pPr algn="l"/>
                      <a:r>
                        <a:rPr sz="1400">
                          <a:solidFill>
                            <a:srgbClr val="333333"/>
                          </a:solidFill>
                          <a:latin typeface="メイリオ"/>
                          <a:ea typeface="メイリオ"/>
                          <a:cs typeface="メイリオ"/>
                        </a:rPr>
                        <a:t>リクナビNEXT</a:t>
                      </a:r>
                    </a:p>
                  </a:txBody>
                  <a:tcPr anchor="ctr">
                    <a:solidFill>
                      <a:srgbClr val="FFFFFF"/>
                    </a:solidFill>
                  </a:tcPr>
                </a:tc>
                <a:tc>
                  <a:txBody>
                    <a:bodyPr/>
                    <a:lstStyle/>
                    <a:p>
                      <a:pPr algn="l"/>
                      <a:r>
                        <a:rPr sz="1400">
                          <a:solidFill>
                            <a:srgbClr val="333333"/>
                          </a:solidFill>
                          <a:latin typeface="メイリオ"/>
                          <a:ea typeface="メイリオ"/>
                          <a:cs typeface="メイリオ"/>
                        </a:rPr>
                        <a:t>総合・転職サイト</a:t>
                      </a:r>
                    </a:p>
                  </a:txBody>
                  <a:tcPr anchor="ctr">
                    <a:solidFill>
                      <a:srgbClr val="FFFFFF"/>
                    </a:solidFill>
                  </a:tcPr>
                </a:tc>
                <a:tc>
                  <a:txBody>
                    <a:bodyPr/>
                    <a:lstStyle/>
                    <a:p>
                      <a:pPr algn="l"/>
                      <a:r>
                        <a:rPr sz="1400">
                          <a:solidFill>
                            <a:srgbClr val="333333"/>
                          </a:solidFill>
                          <a:latin typeface="メイリオ"/>
                          <a:ea typeface="メイリオ"/>
                          <a:cs typeface="メイリオ"/>
                        </a:rPr>
                        <a:t>3,235,678人</a:t>
                      </a:r>
                    </a:p>
                  </a:txBody>
                  <a:tcPr anchor="ctr">
                    <a:solidFill>
                      <a:srgbClr val="FFFFFF"/>
                    </a:solidFill>
                  </a:tcPr>
                </a:tc>
                <a:extLst>
                  <a:ext uri="{0D108BD9-81ED-4DB2-BD59-A6C34878D82A}">
                    <a16:rowId xmlns:a16="http://schemas.microsoft.com/office/drawing/2014/main" val="10001"/>
                  </a:ext>
                </a:extLst>
              </a:tr>
              <a:tr h="321336">
                <a:tc>
                  <a:txBody>
                    <a:bodyPr/>
                    <a:lstStyle/>
                    <a:p>
                      <a:pPr algn="l"/>
                      <a:r>
                        <a:rPr sz="1400">
                          <a:solidFill>
                            <a:srgbClr val="333333"/>
                          </a:solidFill>
                          <a:latin typeface="メイリオ"/>
                          <a:ea typeface="メイリオ"/>
                          <a:cs typeface="メイリオ"/>
                        </a:rPr>
                        <a:t>求人ボックス</a:t>
                      </a:r>
                    </a:p>
                  </a:txBody>
                  <a:tcPr anchor="ctr">
                    <a:solidFill>
                      <a:srgbClr val="F4F7FF"/>
                    </a:solidFill>
                  </a:tcPr>
                </a:tc>
                <a:tc>
                  <a:txBody>
                    <a:bodyPr/>
                    <a:lstStyle/>
                    <a:p>
                      <a:pPr algn="l"/>
                      <a:r>
                        <a:rPr sz="1400">
                          <a:solidFill>
                            <a:srgbClr val="333333"/>
                          </a:solidFill>
                          <a:latin typeface="メイリオ"/>
                          <a:ea typeface="メイリオ"/>
                          <a:cs typeface="メイリオ"/>
                        </a:rPr>
                        <a:t>総合・アグリゲーション</a:t>
                      </a:r>
                    </a:p>
                  </a:txBody>
                  <a:tcPr anchor="ctr">
                    <a:solidFill>
                      <a:srgbClr val="F4F7FF"/>
                    </a:solidFill>
                  </a:tcPr>
                </a:tc>
                <a:tc>
                  <a:txBody>
                    <a:bodyPr/>
                    <a:lstStyle/>
                    <a:p>
                      <a:pPr algn="l"/>
                      <a:r>
                        <a:rPr sz="1400">
                          <a:solidFill>
                            <a:srgbClr val="333333"/>
                          </a:solidFill>
                          <a:latin typeface="メイリオ"/>
                          <a:ea typeface="メイリオ"/>
                          <a:cs typeface="メイリオ"/>
                        </a:rPr>
                        <a:t>1,862,866人</a:t>
                      </a:r>
                    </a:p>
                  </a:txBody>
                  <a:tcPr anchor="ctr">
                    <a:solidFill>
                      <a:srgbClr val="F4F7FF"/>
                    </a:solidFill>
                  </a:tcPr>
                </a:tc>
                <a:extLst>
                  <a:ext uri="{0D108BD9-81ED-4DB2-BD59-A6C34878D82A}">
                    <a16:rowId xmlns:a16="http://schemas.microsoft.com/office/drawing/2014/main" val="10002"/>
                  </a:ext>
                </a:extLst>
              </a:tr>
              <a:tr h="321336">
                <a:tc>
                  <a:txBody>
                    <a:bodyPr/>
                    <a:lstStyle/>
                    <a:p>
                      <a:pPr algn="l"/>
                      <a:r>
                        <a:rPr sz="1400">
                          <a:solidFill>
                            <a:srgbClr val="333333"/>
                          </a:solidFill>
                          <a:latin typeface="メイリオ"/>
                          <a:ea typeface="メイリオ"/>
                          <a:cs typeface="メイリオ"/>
                        </a:rPr>
                        <a:t>マイナビ転職</a:t>
                      </a:r>
                    </a:p>
                  </a:txBody>
                  <a:tcPr anchor="ctr">
                    <a:solidFill>
                      <a:srgbClr val="FFFFFF"/>
                    </a:solidFill>
                  </a:tcPr>
                </a:tc>
                <a:tc>
                  <a:txBody>
                    <a:bodyPr/>
                    <a:lstStyle/>
                    <a:p>
                      <a:pPr algn="l"/>
                      <a:r>
                        <a:rPr sz="1400">
                          <a:solidFill>
                            <a:srgbClr val="333333"/>
                          </a:solidFill>
                          <a:latin typeface="メイリオ"/>
                          <a:ea typeface="メイリオ"/>
                          <a:cs typeface="メイリオ"/>
                        </a:rPr>
                        <a:t>総合・転職サイト</a:t>
                      </a:r>
                    </a:p>
                  </a:txBody>
                  <a:tcPr anchor="ctr">
                    <a:solidFill>
                      <a:srgbClr val="FFFFFF"/>
                    </a:solidFill>
                  </a:tcPr>
                </a:tc>
                <a:tc>
                  <a:txBody>
                    <a:bodyPr/>
                    <a:lstStyle/>
                    <a:p>
                      <a:pPr algn="l"/>
                      <a:r>
                        <a:rPr sz="1400">
                          <a:solidFill>
                            <a:srgbClr val="333333"/>
                          </a:solidFill>
                          <a:latin typeface="メイリオ"/>
                          <a:ea typeface="メイリオ"/>
                          <a:cs typeface="メイリオ"/>
                        </a:rPr>
                        <a:t>754,302人</a:t>
                      </a:r>
                    </a:p>
                  </a:txBody>
                  <a:tcPr anchor="ctr">
                    <a:solidFill>
                      <a:srgbClr val="FFFFFF"/>
                    </a:solidFill>
                  </a:tcPr>
                </a:tc>
                <a:extLst>
                  <a:ext uri="{0D108BD9-81ED-4DB2-BD59-A6C34878D82A}">
                    <a16:rowId xmlns:a16="http://schemas.microsoft.com/office/drawing/2014/main" val="10003"/>
                  </a:ext>
                </a:extLst>
              </a:tr>
              <a:tr h="321336">
                <a:tc>
                  <a:txBody>
                    <a:bodyPr/>
                    <a:lstStyle/>
                    <a:p>
                      <a:pPr algn="l"/>
                      <a:r>
                        <a:rPr sz="1400">
                          <a:solidFill>
                            <a:srgbClr val="333333"/>
                          </a:solidFill>
                          <a:latin typeface="メイリオ"/>
                          <a:ea typeface="メイリオ"/>
                          <a:cs typeface="メイリオ"/>
                        </a:rPr>
                        <a:t>doda</a:t>
                      </a:r>
                    </a:p>
                  </a:txBody>
                  <a:tcPr anchor="ctr">
                    <a:solidFill>
                      <a:srgbClr val="F4F7FF"/>
                    </a:solidFill>
                  </a:tcPr>
                </a:tc>
                <a:tc>
                  <a:txBody>
                    <a:bodyPr/>
                    <a:lstStyle/>
                    <a:p>
                      <a:pPr algn="l"/>
                      <a:r>
                        <a:rPr sz="1400">
                          <a:solidFill>
                            <a:srgbClr val="333333"/>
                          </a:solidFill>
                          <a:latin typeface="メイリオ"/>
                          <a:ea typeface="メイリオ"/>
                          <a:cs typeface="メイリオ"/>
                        </a:rPr>
                        <a:t>総合・エージェント</a:t>
                      </a:r>
                    </a:p>
                  </a:txBody>
                  <a:tcPr anchor="ctr">
                    <a:solidFill>
                      <a:srgbClr val="F4F7FF"/>
                    </a:solidFill>
                  </a:tcPr>
                </a:tc>
                <a:tc>
                  <a:txBody>
                    <a:bodyPr/>
                    <a:lstStyle/>
                    <a:p>
                      <a:pPr algn="l"/>
                      <a:r>
                        <a:rPr sz="1400" dirty="0">
                          <a:solidFill>
                            <a:srgbClr val="333333"/>
                          </a:solidFill>
                          <a:latin typeface="メイリオ"/>
                          <a:ea typeface="メイリオ"/>
                          <a:cs typeface="メイリオ"/>
                        </a:rPr>
                        <a:t>公開アカウントなし（会員登録後に1:1連携）</a:t>
                      </a:r>
                    </a:p>
                  </a:txBody>
                  <a:tcPr anchor="ctr">
                    <a:solidFill>
                      <a:srgbClr val="F4F7FF"/>
                    </a:solidFill>
                  </a:tcPr>
                </a:tc>
                <a:extLst>
                  <a:ext uri="{0D108BD9-81ED-4DB2-BD59-A6C34878D82A}">
                    <a16:rowId xmlns:a16="http://schemas.microsoft.com/office/drawing/2014/main" val="10004"/>
                  </a:ext>
                </a:extLst>
              </a:tr>
              <a:tr h="321336">
                <a:tc>
                  <a:txBody>
                    <a:bodyPr/>
                    <a:lstStyle/>
                    <a:p>
                      <a:pPr algn="l"/>
                      <a:r>
                        <a:rPr sz="1400">
                          <a:solidFill>
                            <a:srgbClr val="333333"/>
                          </a:solidFill>
                          <a:latin typeface="メイリオ"/>
                          <a:ea typeface="メイリオ"/>
                          <a:cs typeface="メイリオ"/>
                        </a:rPr>
                        <a:t>プレックスジョブ【整備士】</a:t>
                      </a:r>
                    </a:p>
                  </a:txBody>
                  <a:tcPr anchor="ctr">
                    <a:solidFill>
                      <a:srgbClr val="FFFFFF"/>
                    </a:solidFill>
                  </a:tcPr>
                </a:tc>
                <a:tc>
                  <a:txBody>
                    <a:bodyPr/>
                    <a:lstStyle/>
                    <a:p>
                      <a:pPr algn="l"/>
                      <a:r>
                        <a:rPr sz="1400">
                          <a:solidFill>
                            <a:srgbClr val="333333"/>
                          </a:solidFill>
                          <a:latin typeface="メイリオ"/>
                          <a:ea typeface="メイリオ"/>
                          <a:cs typeface="メイリオ"/>
                        </a:rPr>
                        <a:t>整備士特化</a:t>
                      </a:r>
                    </a:p>
                  </a:txBody>
                  <a:tcPr anchor="ctr">
                    <a:solidFill>
                      <a:srgbClr val="FFFFFF"/>
                    </a:solidFill>
                  </a:tcPr>
                </a:tc>
                <a:tc>
                  <a:txBody>
                    <a:bodyPr/>
                    <a:lstStyle/>
                    <a:p>
                      <a:pPr algn="l"/>
                      <a:r>
                        <a:rPr sz="1400">
                          <a:solidFill>
                            <a:srgbClr val="333333"/>
                          </a:solidFill>
                          <a:latin typeface="メイリオ"/>
                          <a:ea typeface="メイリオ"/>
                          <a:cs typeface="メイリオ"/>
                        </a:rPr>
                        <a:t>6,288人</a:t>
                      </a:r>
                    </a:p>
                  </a:txBody>
                  <a:tcPr anchor="ctr">
                    <a:solidFill>
                      <a:srgbClr val="FFFFFF"/>
                    </a:solidFill>
                  </a:tcPr>
                </a:tc>
                <a:extLst>
                  <a:ext uri="{0D108BD9-81ED-4DB2-BD59-A6C34878D82A}">
                    <a16:rowId xmlns:a16="http://schemas.microsoft.com/office/drawing/2014/main" val="10005"/>
                  </a:ext>
                </a:extLst>
              </a:tr>
              <a:tr h="321336">
                <a:tc>
                  <a:txBody>
                    <a:bodyPr/>
                    <a:lstStyle/>
                    <a:p>
                      <a:pPr algn="l"/>
                      <a:r>
                        <a:rPr sz="1400" dirty="0" err="1">
                          <a:solidFill>
                            <a:srgbClr val="333333"/>
                          </a:solidFill>
                          <a:latin typeface="メイリオ"/>
                          <a:ea typeface="メイリオ"/>
                          <a:cs typeface="メイリオ"/>
                        </a:rPr>
                        <a:t>整備士の求人・転職｜カンパネル</a:t>
                      </a:r>
                      <a:endParaRPr sz="1400" dirty="0">
                        <a:solidFill>
                          <a:srgbClr val="333333"/>
                        </a:solidFill>
                        <a:latin typeface="メイリオ"/>
                        <a:ea typeface="メイリオ"/>
                        <a:cs typeface="メイリオ"/>
                      </a:endParaRPr>
                    </a:p>
                  </a:txBody>
                  <a:tcPr anchor="ctr">
                    <a:solidFill>
                      <a:srgbClr val="F4F7FF"/>
                    </a:solidFill>
                  </a:tcPr>
                </a:tc>
                <a:tc>
                  <a:txBody>
                    <a:bodyPr/>
                    <a:lstStyle/>
                    <a:p>
                      <a:pPr algn="l"/>
                      <a:r>
                        <a:rPr sz="1400">
                          <a:solidFill>
                            <a:srgbClr val="333333"/>
                          </a:solidFill>
                          <a:latin typeface="メイリオ"/>
                          <a:ea typeface="メイリオ"/>
                          <a:cs typeface="メイリオ"/>
                        </a:rPr>
                        <a:t>整備士特化</a:t>
                      </a:r>
                    </a:p>
                  </a:txBody>
                  <a:tcPr anchor="ctr">
                    <a:solidFill>
                      <a:srgbClr val="F4F7FF"/>
                    </a:solidFill>
                  </a:tcPr>
                </a:tc>
                <a:tc>
                  <a:txBody>
                    <a:bodyPr/>
                    <a:lstStyle/>
                    <a:p>
                      <a:pPr algn="l"/>
                      <a:r>
                        <a:rPr sz="1400" dirty="0">
                          <a:solidFill>
                            <a:srgbClr val="333333"/>
                          </a:solidFill>
                          <a:latin typeface="メイリオ"/>
                          <a:ea typeface="メイリオ"/>
                          <a:cs typeface="メイリオ"/>
                        </a:rPr>
                        <a:t>196人</a:t>
                      </a:r>
                    </a:p>
                  </a:txBody>
                  <a:tcPr anchor="ctr">
                    <a:solidFill>
                      <a:srgbClr val="F4F7FF"/>
                    </a:solidFill>
                  </a:tcPr>
                </a:tc>
                <a:extLst>
                  <a:ext uri="{0D108BD9-81ED-4DB2-BD59-A6C34878D82A}">
                    <a16:rowId xmlns:a16="http://schemas.microsoft.com/office/drawing/2014/main" val="10006"/>
                  </a:ext>
                </a:extLst>
              </a:tr>
            </a:tbl>
          </a:graphicData>
        </a:graphic>
      </p:graphicFrame>
      <p:sp>
        <p:nvSpPr>
          <p:cNvPr id="6" name="Rounded Rectangle 5"/>
          <p:cNvSpPr/>
          <p:nvPr/>
        </p:nvSpPr>
        <p:spPr>
          <a:xfrm>
            <a:off x="432000" y="4380253"/>
            <a:ext cx="9043200" cy="396000"/>
          </a:xfrm>
          <a:prstGeom prst="roundRect">
            <a:avLst>
              <a:gd name="adj" fmla="val 10000"/>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wrap="square" lIns="108000" tIns="0" rIns="108000" bIns="0" rtlCol="0" anchor="ctr"/>
          <a:lstStyle/>
          <a:p>
            <a:pPr algn="ctr">
              <a:lnSpc>
                <a:spcPct val="125000"/>
              </a:lnSpc>
            </a:pPr>
            <a:r>
              <a:rPr sz="1400" b="1" dirty="0">
                <a:solidFill>
                  <a:srgbClr val="FFFFFF"/>
                </a:solidFill>
                <a:latin typeface="メイリオ"/>
                <a:ea typeface="メイリオ"/>
                <a:cs typeface="メイリオ"/>
              </a:rPr>
              <a:t>「</a:t>
            </a:r>
            <a:r>
              <a:rPr sz="1400" b="1" dirty="0" err="1">
                <a:solidFill>
                  <a:srgbClr val="FFFFFF"/>
                </a:solidFill>
                <a:latin typeface="メイリオ"/>
                <a:ea typeface="メイリオ"/>
                <a:cs typeface="メイリオ"/>
              </a:rPr>
              <a:t>整備士</a:t>
            </a:r>
            <a:r>
              <a:rPr sz="1400" b="1" dirty="0">
                <a:solidFill>
                  <a:srgbClr val="FFFFFF"/>
                </a:solidFill>
                <a:latin typeface="メイリオ"/>
                <a:ea typeface="メイリオ"/>
                <a:cs typeface="メイリオ"/>
              </a:rPr>
              <a:t> × </a:t>
            </a:r>
            <a:r>
              <a:rPr sz="1400" b="1" dirty="0" err="1">
                <a:solidFill>
                  <a:srgbClr val="FFFFFF"/>
                </a:solidFill>
                <a:latin typeface="メイリオ"/>
                <a:ea typeface="メイリオ"/>
                <a:cs typeface="メイリオ"/>
              </a:rPr>
              <a:t>LINE」はまだ誰も取っていない。総合大手の型を持ち込むだけで先行者になれる</a:t>
            </a:r>
            <a:r>
              <a:rPr sz="1400" b="1" dirty="0">
                <a:solidFill>
                  <a:srgbClr val="FFFFFF"/>
                </a:solidFill>
                <a:latin typeface="メイリオ"/>
                <a:ea typeface="メイリオ"/>
                <a:cs typeface="メイリオ"/>
              </a:rPr>
              <a:t>。</a:t>
            </a:r>
          </a:p>
        </p:txBody>
      </p:sp>
      <p:sp>
        <p:nvSpPr>
          <p:cNvPr id="7" name="TextBox 6"/>
          <p:cNvSpPr txBox="1"/>
          <p:nvPr/>
        </p:nvSpPr>
        <p:spPr>
          <a:xfrm>
            <a:off x="432000" y="6246000"/>
            <a:ext cx="9043200" cy="324000"/>
          </a:xfrm>
          <a:prstGeom prst="rect">
            <a:avLst/>
          </a:prstGeom>
          <a:noFill/>
        </p:spPr>
        <p:txBody>
          <a:bodyPr wrap="square" lIns="0" tIns="21600" rIns="0" bIns="21600" anchor="t">
            <a:spAutoFit/>
          </a:bodyPr>
          <a:lstStyle/>
          <a:p>
            <a:pPr algn="l">
              <a:lnSpc>
                <a:spcPct val="115000"/>
              </a:lnSpc>
            </a:pPr>
            <a:r>
              <a:rPr sz="950">
                <a:solidFill>
                  <a:srgbClr val="7F7F7F"/>
                </a:solidFill>
                <a:latin typeface="メイリオ"/>
                <a:ea typeface="メイリオ"/>
                <a:cs typeface="メイリオ"/>
              </a:rPr>
              <a:t>出典：page.line.me（公式）2026-09-21実測。友だち数は取得日時点の公表値</a:t>
            </a:r>
          </a:p>
        </p:txBody>
      </p:sp>
    </p:spTree>
    <p:extLst>
      <p:ext uri="{BB962C8B-B14F-4D97-AF65-F5344CB8AC3E}">
        <p14:creationId xmlns:p14="http://schemas.microsoft.com/office/powerpoint/2010/main" val="1405796075"/>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9AD501E-4538-865B-06FF-B4530B24F063}"/>
            </a:ext>
          </a:extLst>
        </p:cNvPr>
        <p:cNvGrpSpPr/>
        <p:nvPr/>
      </p:nvGrpSpPr>
      <p:grpSpPr>
        <a:xfrm>
          <a:off x="0" y="0"/>
          <a:ext cx="0" cy="0"/>
          <a:chOff x="0" y="0"/>
          <a:chExt cx="0" cy="0"/>
        </a:xfrm>
      </p:grpSpPr>
      <p:sp>
        <p:nvSpPr>
          <p:cNvPr id="4" name="Google Shape;752;p28">
            <a:extLst>
              <a:ext uri="{FF2B5EF4-FFF2-40B4-BE49-F238E27FC236}">
                <a16:creationId xmlns:a16="http://schemas.microsoft.com/office/drawing/2014/main" id="{3D3533E4-0377-76E5-495C-9BA89161C5A7}"/>
              </a:ext>
            </a:extLst>
          </p:cNvPr>
          <p:cNvSpPr txBox="1"/>
          <p:nvPr/>
        </p:nvSpPr>
        <p:spPr>
          <a:xfrm>
            <a:off x="548883" y="138137"/>
            <a:ext cx="6276325" cy="338514"/>
          </a:xfrm>
          <a:prstGeom prst="rect">
            <a:avLst/>
          </a:prstGeom>
          <a:noFill/>
          <a:ln>
            <a:noFill/>
          </a:ln>
        </p:spPr>
        <p:txBody>
          <a:bodyPr spcFirstLastPara="1" wrap="square" lIns="91425" tIns="45700" rIns="91425" bIns="45700" anchor="ctr" anchorCtr="0">
            <a:spAutoFit/>
          </a:bodyPr>
          <a:lstStyle/>
          <a:p>
            <a:pPr lvl="0"/>
            <a:r>
              <a:rPr lang="ja-JP" altLang="en-US" sz="1600" b="1" dirty="0">
                <a:solidFill>
                  <a:srgbClr val="323366"/>
                </a:solidFill>
                <a:latin typeface="メイリオ" panose="020B0604030504040204" pitchFamily="50" charset="-128"/>
                <a:ea typeface="メイリオ" panose="020B0604030504040204" pitchFamily="50" charset="-128"/>
                <a:cs typeface="Meiryo"/>
                <a:sym typeface="Meiryo"/>
              </a:rPr>
              <a:t>資料アジェンダ</a:t>
            </a:r>
          </a:p>
        </p:txBody>
      </p:sp>
      <p:sp>
        <p:nvSpPr>
          <p:cNvPr id="2" name="正方形/長方形 1">
            <a:extLst>
              <a:ext uri="{FF2B5EF4-FFF2-40B4-BE49-F238E27FC236}">
                <a16:creationId xmlns:a16="http://schemas.microsoft.com/office/drawing/2014/main" id="{602C552F-05B3-B0A8-5D9C-EEE4787A9537}"/>
              </a:ext>
            </a:extLst>
          </p:cNvPr>
          <p:cNvSpPr/>
          <p:nvPr/>
        </p:nvSpPr>
        <p:spPr>
          <a:xfrm>
            <a:off x="4039946" y="3038203"/>
            <a:ext cx="1826141" cy="584775"/>
          </a:xfrm>
          <a:prstGeom prst="rect">
            <a:avLst/>
          </a:prstGeom>
        </p:spPr>
        <p:txBody>
          <a:bodyPr wrap="none">
            <a:spAutoFit/>
          </a:bodyPr>
          <a:lstStyle/>
          <a:p>
            <a:pPr algn="ctr"/>
            <a:r>
              <a:rPr lang="ja-JP" altLang="en-US" sz="3200" b="1" dirty="0">
                <a:solidFill>
                  <a:schemeClr val="tx1">
                    <a:lumMod val="75000"/>
                    <a:lumOff val="25000"/>
                  </a:schemeClr>
                </a:solidFill>
                <a:latin typeface="メイリオ" panose="020B0604030504040204" pitchFamily="50" charset="-128"/>
                <a:ea typeface="メイリオ" panose="020B0604030504040204" pitchFamily="50" charset="-128"/>
                <a:cs typeface="メイリオ" panose="020B0604030504040204" pitchFamily="50" charset="-128"/>
              </a:rPr>
              <a:t>施策概要</a:t>
            </a:r>
            <a:endParaRPr lang="en-US" altLang="ja-IS" sz="3200" b="1" dirty="0">
              <a:solidFill>
                <a:schemeClr val="tx1">
                  <a:lumMod val="75000"/>
                  <a:lumOff val="25000"/>
                </a:schemeClr>
              </a:solidFill>
              <a:latin typeface="メイリオ" panose="020B0604030504040204" pitchFamily="50" charset="-128"/>
              <a:ea typeface="メイリオ" panose="020B0604030504040204" pitchFamily="50" charset="-128"/>
              <a:cs typeface="メイリオ" panose="020B0604030504040204" pitchFamily="50" charset="-128"/>
            </a:endParaRPr>
          </a:p>
        </p:txBody>
      </p:sp>
    </p:spTree>
    <p:extLst>
      <p:ext uri="{BB962C8B-B14F-4D97-AF65-F5344CB8AC3E}">
        <p14:creationId xmlns:p14="http://schemas.microsoft.com/office/powerpoint/2010/main" val="3566359076"/>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AB95DA1-C4AC-9E84-EE81-C643FC320A19}"/>
            </a:ext>
          </a:extLst>
        </p:cNvPr>
        <p:cNvGrpSpPr/>
        <p:nvPr/>
      </p:nvGrpSpPr>
      <p:grpSpPr>
        <a:xfrm>
          <a:off x="0" y="0"/>
          <a:ext cx="0" cy="0"/>
          <a:chOff x="0" y="0"/>
          <a:chExt cx="0" cy="0"/>
        </a:xfrm>
      </p:grpSpPr>
      <p:sp>
        <p:nvSpPr>
          <p:cNvPr id="3" name="正方形/長方形 2">
            <a:extLst>
              <a:ext uri="{FF2B5EF4-FFF2-40B4-BE49-F238E27FC236}">
                <a16:creationId xmlns:a16="http://schemas.microsoft.com/office/drawing/2014/main" id="{D0A4C04F-D2D9-01C2-E8A6-1461C3D732EF}"/>
              </a:ext>
            </a:extLst>
          </p:cNvPr>
          <p:cNvSpPr/>
          <p:nvPr/>
        </p:nvSpPr>
        <p:spPr>
          <a:xfrm>
            <a:off x="0" y="577940"/>
            <a:ext cx="9906000" cy="812735"/>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kumimoji="1" lang="ja-JP" altLang="en-US">
              <a:latin typeface="メイリオ" panose="020B0604030504040204" pitchFamily="50" charset="-128"/>
              <a:ea typeface="メイリオ" panose="020B0604030504040204" pitchFamily="50" charset="-128"/>
            </a:endParaRPr>
          </a:p>
        </p:txBody>
      </p:sp>
      <p:sp>
        <p:nvSpPr>
          <p:cNvPr id="4" name="正方形/長方形 3">
            <a:extLst>
              <a:ext uri="{FF2B5EF4-FFF2-40B4-BE49-F238E27FC236}">
                <a16:creationId xmlns:a16="http://schemas.microsoft.com/office/drawing/2014/main" id="{E18DA7C5-B4CE-72EF-0BE5-E52C6EDDE855}"/>
              </a:ext>
            </a:extLst>
          </p:cNvPr>
          <p:cNvSpPr/>
          <p:nvPr/>
        </p:nvSpPr>
        <p:spPr>
          <a:xfrm>
            <a:off x="379976" y="635062"/>
            <a:ext cx="9160881" cy="698492"/>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tIns="90000" anchor="ctr"/>
          <a:lstStyle/>
          <a:p>
            <a:pPr algn="ctr">
              <a:lnSpc>
                <a:spcPts val="2455"/>
              </a:lnSpc>
            </a:pPr>
            <a:endParaRPr lang="en-US" altLang="ja-JP" sz="1400" dirty="0">
              <a:solidFill>
                <a:srgbClr val="343434"/>
              </a:solidFill>
              <a:latin typeface="メイリオ" panose="020B0604030504040204" pitchFamily="50" charset="-128"/>
              <a:ea typeface="メイリオ" panose="020B0604030504040204" pitchFamily="50" charset="-128"/>
            </a:endParaRPr>
          </a:p>
        </p:txBody>
      </p:sp>
      <p:sp>
        <p:nvSpPr>
          <p:cNvPr id="45" name="Google Shape;156;p7">
            <a:extLst>
              <a:ext uri="{FF2B5EF4-FFF2-40B4-BE49-F238E27FC236}">
                <a16:creationId xmlns:a16="http://schemas.microsoft.com/office/drawing/2014/main" id="{0D487FC4-7DBC-58FC-7A30-5F63295AAB22}"/>
              </a:ext>
            </a:extLst>
          </p:cNvPr>
          <p:cNvSpPr txBox="1"/>
          <p:nvPr/>
        </p:nvSpPr>
        <p:spPr>
          <a:xfrm>
            <a:off x="548883" y="138118"/>
            <a:ext cx="6514857" cy="338554"/>
          </a:xfrm>
          <a:prstGeom prst="rect">
            <a:avLst/>
          </a:prstGeom>
          <a:noFill/>
          <a:ln w="19050">
            <a:noFill/>
          </a:ln>
        </p:spPr>
        <p:txBody>
          <a:bodyPr spcFirstLastPara="1" wrap="square" lIns="91425" tIns="45700" rIns="91425" bIns="45700" anchor="ctr" anchorCtr="0">
            <a:spAutoFit/>
          </a:bodyPr>
          <a:lstStyle/>
          <a:p>
            <a:pPr marL="0" marR="0" lvl="0" indent="0" algn="l" rtl="0">
              <a:spcBef>
                <a:spcPts val="0"/>
              </a:spcBef>
              <a:spcAft>
                <a:spcPts val="0"/>
              </a:spcAft>
              <a:buClr>
                <a:srgbClr val="002060"/>
              </a:buClr>
              <a:buSzPts val="1600"/>
              <a:buFont typeface="Arial"/>
              <a:buNone/>
            </a:pPr>
            <a:r>
              <a:rPr lang="ja-JP" altLang="en-US" sz="1600" b="1" dirty="0">
                <a:solidFill>
                  <a:srgbClr val="002060"/>
                </a:solidFill>
                <a:latin typeface="Meiryo"/>
                <a:ea typeface="Meiryo"/>
                <a:cs typeface="Meiryo"/>
                <a:sym typeface="Meiryo"/>
              </a:rPr>
              <a:t>前提整理</a:t>
            </a:r>
            <a:endParaRPr sz="1600" b="1" dirty="0">
              <a:solidFill>
                <a:srgbClr val="002060"/>
              </a:solidFill>
              <a:latin typeface="Meiryo"/>
              <a:ea typeface="Meiryo"/>
              <a:cs typeface="Meiryo"/>
              <a:sym typeface="Meiryo"/>
            </a:endParaRPr>
          </a:p>
        </p:txBody>
      </p:sp>
      <p:sp>
        <p:nvSpPr>
          <p:cNvPr id="39" name="Shape 3">
            <a:extLst>
              <a:ext uri="{FF2B5EF4-FFF2-40B4-BE49-F238E27FC236}">
                <a16:creationId xmlns:a16="http://schemas.microsoft.com/office/drawing/2014/main" id="{2C0CE6CF-CF29-4F13-E14D-6FE57E16D201}"/>
              </a:ext>
            </a:extLst>
          </p:cNvPr>
          <p:cNvSpPr/>
          <p:nvPr/>
        </p:nvSpPr>
        <p:spPr>
          <a:xfrm>
            <a:off x="972158" y="1780035"/>
            <a:ext cx="384048" cy="384048"/>
          </a:xfrm>
          <a:prstGeom prst="ellipse">
            <a:avLst/>
          </a:prstGeom>
          <a:solidFill>
            <a:srgbClr val="06C755"/>
          </a:solidFill>
          <a:ln/>
        </p:spPr>
        <p:txBody>
          <a:bodyPr/>
          <a:lstStyle/>
          <a:p>
            <a:endParaRPr lang="ja-JP" altLang="en-US">
              <a:latin typeface="メイリオ" panose="020B0604030504040204" pitchFamily="50" charset="-128"/>
              <a:ea typeface="メイリオ" panose="020B0604030504040204" pitchFamily="50" charset="-128"/>
            </a:endParaRPr>
          </a:p>
        </p:txBody>
      </p:sp>
      <p:sp>
        <p:nvSpPr>
          <p:cNvPr id="41" name="Text 4">
            <a:extLst>
              <a:ext uri="{FF2B5EF4-FFF2-40B4-BE49-F238E27FC236}">
                <a16:creationId xmlns:a16="http://schemas.microsoft.com/office/drawing/2014/main" id="{4B15C96A-F0B8-F18C-6254-B162AFC457A6}"/>
              </a:ext>
            </a:extLst>
          </p:cNvPr>
          <p:cNvSpPr txBox="1"/>
          <p:nvPr/>
        </p:nvSpPr>
        <p:spPr>
          <a:xfrm>
            <a:off x="972158" y="1780035"/>
            <a:ext cx="384048" cy="384048"/>
          </a:xfrm>
          <a:prstGeom prst="rect">
            <a:avLst/>
          </a:prstGeom>
          <a:noFill/>
          <a:ln/>
        </p:spPr>
        <p:txBody>
          <a:bodyPr wrap="square" lIns="0" tIns="0" rIns="0" bIns="0" rtlCol="0" anchor="ctr"/>
          <a:lstStyle/>
          <a:p>
            <a:pPr marL="0" indent="0" algn="ctr">
              <a:buNone/>
            </a:pPr>
            <a:r>
              <a:rPr lang="en-US" sz="1200" b="1" dirty="0">
                <a:solidFill>
                  <a:srgbClr val="FFFFFF"/>
                </a:solidFill>
                <a:latin typeface="メイリオ" panose="020B0604030504040204" pitchFamily="50" charset="-128"/>
                <a:ea typeface="メイリオ" panose="020B0604030504040204" pitchFamily="50" charset="-128"/>
                <a:cs typeface="Calibri" pitchFamily="34" charset="-120"/>
              </a:rPr>
              <a:t>1</a:t>
            </a:r>
            <a:endParaRPr lang="en-US" sz="1100" dirty="0">
              <a:latin typeface="メイリオ" panose="020B0604030504040204" pitchFamily="50" charset="-128"/>
              <a:ea typeface="メイリオ" panose="020B0604030504040204" pitchFamily="50" charset="-128"/>
            </a:endParaRPr>
          </a:p>
        </p:txBody>
      </p:sp>
      <p:sp>
        <p:nvSpPr>
          <p:cNvPr id="43" name="Text 5">
            <a:extLst>
              <a:ext uri="{FF2B5EF4-FFF2-40B4-BE49-F238E27FC236}">
                <a16:creationId xmlns:a16="http://schemas.microsoft.com/office/drawing/2014/main" id="{1AB7025E-6AD2-DE33-BC65-0B02037301DF}"/>
              </a:ext>
            </a:extLst>
          </p:cNvPr>
          <p:cNvSpPr txBox="1"/>
          <p:nvPr/>
        </p:nvSpPr>
        <p:spPr>
          <a:xfrm>
            <a:off x="1539086" y="1907185"/>
            <a:ext cx="1745198" cy="1051560"/>
          </a:xfrm>
          <a:prstGeom prst="rect">
            <a:avLst/>
          </a:prstGeom>
          <a:noFill/>
          <a:ln/>
        </p:spPr>
        <p:txBody>
          <a:bodyPr wrap="square" lIns="0" tIns="0" rIns="0" bIns="0" rtlCol="0" anchor="t"/>
          <a:lstStyle/>
          <a:p>
            <a:pPr marL="0" indent="0">
              <a:buNone/>
            </a:pPr>
            <a:r>
              <a:rPr lang="en-US" sz="1500" b="1" dirty="0">
                <a:solidFill>
                  <a:srgbClr val="1B3A4B"/>
                </a:solidFill>
                <a:latin typeface="メイリオ" panose="020B0604030504040204" pitchFamily="50" charset="-128"/>
                <a:ea typeface="メイリオ" panose="020B0604030504040204" pitchFamily="50" charset="-128"/>
                <a:cs typeface="Calibri" pitchFamily="34" charset="-120"/>
              </a:rPr>
              <a:t>対象範囲</a:t>
            </a:r>
            <a:endParaRPr lang="en-US" sz="1400" dirty="0">
              <a:latin typeface="メイリオ" panose="020B0604030504040204" pitchFamily="50" charset="-128"/>
              <a:ea typeface="メイリオ" panose="020B0604030504040204" pitchFamily="50" charset="-128"/>
            </a:endParaRPr>
          </a:p>
        </p:txBody>
      </p:sp>
      <p:sp>
        <p:nvSpPr>
          <p:cNvPr id="46" name="Text 6">
            <a:extLst>
              <a:ext uri="{FF2B5EF4-FFF2-40B4-BE49-F238E27FC236}">
                <a16:creationId xmlns:a16="http://schemas.microsoft.com/office/drawing/2014/main" id="{EE17545A-2363-AE72-B300-AAA28328E975}"/>
              </a:ext>
            </a:extLst>
          </p:cNvPr>
          <p:cNvSpPr txBox="1"/>
          <p:nvPr/>
        </p:nvSpPr>
        <p:spPr>
          <a:xfrm>
            <a:off x="3120996" y="1907182"/>
            <a:ext cx="6841609" cy="548643"/>
          </a:xfrm>
          <a:prstGeom prst="rect">
            <a:avLst/>
          </a:prstGeom>
          <a:noFill/>
          <a:ln/>
        </p:spPr>
        <p:txBody>
          <a:bodyPr wrap="square" lIns="0" tIns="0" rIns="0" bIns="0" rtlCol="0" anchor="t"/>
          <a:lstStyle/>
          <a:p>
            <a:pPr marL="0" indent="0">
              <a:lnSpc>
                <a:spcPts val="1700"/>
              </a:lnSpc>
              <a:buNone/>
            </a:pPr>
            <a:r>
              <a:rPr lang="en-US" sz="1300" dirty="0">
                <a:solidFill>
                  <a:srgbClr val="1F2937"/>
                </a:solidFill>
                <a:latin typeface="メイリオ" panose="020B0604030504040204" pitchFamily="50" charset="-128"/>
                <a:ea typeface="メイリオ" panose="020B0604030504040204" pitchFamily="50" charset="-128"/>
                <a:cs typeface="Calibri" pitchFamily="34" charset="-120"/>
              </a:rPr>
              <a:t>LINE公式アカウントにおける</a:t>
            </a:r>
            <a:r>
              <a:rPr lang="en-US" sz="1300" b="1" dirty="0">
                <a:solidFill>
                  <a:srgbClr val="1F2937"/>
                </a:solidFill>
                <a:latin typeface="メイリオ" panose="020B0604030504040204" pitchFamily="50" charset="-128"/>
                <a:ea typeface="メイリオ" panose="020B0604030504040204" pitchFamily="50" charset="-128"/>
                <a:cs typeface="Calibri" pitchFamily="34" charset="-120"/>
              </a:rPr>
              <a:t>「① 友だち追加」「② </a:t>
            </a:r>
            <a:r>
              <a:rPr lang="en-US" sz="1300" b="1" dirty="0" err="1">
                <a:solidFill>
                  <a:srgbClr val="1F2937"/>
                </a:solidFill>
                <a:latin typeface="メイリオ" panose="020B0604030504040204" pitchFamily="50" charset="-128"/>
                <a:ea typeface="メイリオ" panose="020B0604030504040204" pitchFamily="50" charset="-128"/>
                <a:cs typeface="Calibri" pitchFamily="34" charset="-120"/>
              </a:rPr>
              <a:t>配信の効率改善</a:t>
            </a:r>
            <a:r>
              <a:rPr lang="en-US" sz="1300" b="1" dirty="0">
                <a:solidFill>
                  <a:srgbClr val="1F2937"/>
                </a:solidFill>
                <a:latin typeface="メイリオ" panose="020B0604030504040204" pitchFamily="50" charset="-128"/>
                <a:ea typeface="メイリオ" panose="020B0604030504040204" pitchFamily="50" charset="-128"/>
                <a:cs typeface="Calibri" pitchFamily="34" charset="-120"/>
              </a:rPr>
              <a:t>」</a:t>
            </a:r>
          </a:p>
          <a:p>
            <a:pPr marL="0" indent="0">
              <a:lnSpc>
                <a:spcPts val="1700"/>
              </a:lnSpc>
              <a:buNone/>
            </a:pPr>
            <a:r>
              <a:rPr lang="en-US" sz="1300" b="1" dirty="0">
                <a:solidFill>
                  <a:srgbClr val="1F2937"/>
                </a:solidFill>
                <a:latin typeface="メイリオ" panose="020B0604030504040204" pitchFamily="50" charset="-128"/>
                <a:ea typeface="メイリオ" panose="020B0604030504040204" pitchFamily="50" charset="-128"/>
                <a:cs typeface="Calibri" pitchFamily="34" charset="-120"/>
              </a:rPr>
              <a:t>「③ ユーザー満足度改善」「④ 管理側の業務効率化」の4領域</a:t>
            </a:r>
            <a:r>
              <a:rPr lang="en-US" sz="1300" dirty="0">
                <a:solidFill>
                  <a:srgbClr val="1F2937"/>
                </a:solidFill>
                <a:latin typeface="メイリオ" panose="020B0604030504040204" pitchFamily="50" charset="-128"/>
                <a:ea typeface="メイリオ" panose="020B0604030504040204" pitchFamily="50" charset="-128"/>
                <a:cs typeface="Calibri" pitchFamily="34" charset="-120"/>
              </a:rPr>
              <a:t>を対象に施策を設計。</a:t>
            </a:r>
          </a:p>
          <a:p>
            <a:pPr marL="0" indent="0">
              <a:lnSpc>
                <a:spcPts val="1700"/>
              </a:lnSpc>
              <a:buNone/>
            </a:pPr>
            <a:endParaRPr lang="en-US" sz="1200" dirty="0">
              <a:solidFill>
                <a:srgbClr val="1F2937"/>
              </a:solidFill>
              <a:latin typeface="メイリオ" panose="020B0604030504040204" pitchFamily="50" charset="-128"/>
              <a:ea typeface="メイリオ" panose="020B0604030504040204" pitchFamily="50" charset="-128"/>
              <a:cs typeface="Calibri" pitchFamily="34" charset="-120"/>
            </a:endParaRPr>
          </a:p>
          <a:p>
            <a:pPr marL="0" indent="0">
              <a:lnSpc>
                <a:spcPts val="1700"/>
              </a:lnSpc>
              <a:buNone/>
            </a:pPr>
            <a:endParaRPr lang="en-US" sz="1200" dirty="0">
              <a:solidFill>
                <a:srgbClr val="1F2937"/>
              </a:solidFill>
              <a:latin typeface="メイリオ" panose="020B0604030504040204" pitchFamily="50" charset="-128"/>
              <a:ea typeface="メイリオ" panose="020B0604030504040204" pitchFamily="50" charset="-128"/>
              <a:cs typeface="Calibri" pitchFamily="34" charset="-120"/>
            </a:endParaRPr>
          </a:p>
          <a:p>
            <a:pPr marL="0" indent="0">
              <a:lnSpc>
                <a:spcPts val="1700"/>
              </a:lnSpc>
              <a:buNone/>
            </a:pPr>
            <a:endParaRPr lang="en-US" sz="1200" dirty="0">
              <a:solidFill>
                <a:srgbClr val="1F2937"/>
              </a:solidFill>
              <a:latin typeface="メイリオ" panose="020B0604030504040204" pitchFamily="50" charset="-128"/>
              <a:ea typeface="メイリオ" panose="020B0604030504040204" pitchFamily="50" charset="-128"/>
              <a:cs typeface="Calibri" pitchFamily="34" charset="-120"/>
            </a:endParaRPr>
          </a:p>
        </p:txBody>
      </p:sp>
      <p:sp>
        <p:nvSpPr>
          <p:cNvPr id="48" name="Shape 7">
            <a:extLst>
              <a:ext uri="{FF2B5EF4-FFF2-40B4-BE49-F238E27FC236}">
                <a16:creationId xmlns:a16="http://schemas.microsoft.com/office/drawing/2014/main" id="{821FB137-60FE-5372-085D-B747D9EC59DC}"/>
              </a:ext>
            </a:extLst>
          </p:cNvPr>
          <p:cNvSpPr/>
          <p:nvPr/>
        </p:nvSpPr>
        <p:spPr>
          <a:xfrm>
            <a:off x="641683" y="2712723"/>
            <a:ext cx="8591394" cy="9144"/>
          </a:xfrm>
          <a:prstGeom prst="rect">
            <a:avLst/>
          </a:prstGeom>
          <a:solidFill>
            <a:srgbClr val="EBEEEF"/>
          </a:solidFill>
          <a:ln/>
        </p:spPr>
        <p:txBody>
          <a:bodyPr/>
          <a:lstStyle/>
          <a:p>
            <a:endParaRPr lang="ja-JP" altLang="en-US">
              <a:latin typeface="メイリオ" panose="020B0604030504040204" pitchFamily="50" charset="-128"/>
              <a:ea typeface="メイリオ" panose="020B0604030504040204" pitchFamily="50" charset="-128"/>
            </a:endParaRPr>
          </a:p>
        </p:txBody>
      </p:sp>
      <p:sp>
        <p:nvSpPr>
          <p:cNvPr id="50" name="Shape 8">
            <a:extLst>
              <a:ext uri="{FF2B5EF4-FFF2-40B4-BE49-F238E27FC236}">
                <a16:creationId xmlns:a16="http://schemas.microsoft.com/office/drawing/2014/main" id="{DC9A3D51-C45E-51F8-860D-57ECD88D6555}"/>
              </a:ext>
            </a:extLst>
          </p:cNvPr>
          <p:cNvSpPr/>
          <p:nvPr/>
        </p:nvSpPr>
        <p:spPr>
          <a:xfrm>
            <a:off x="972158" y="2831595"/>
            <a:ext cx="384048" cy="384048"/>
          </a:xfrm>
          <a:prstGeom prst="ellipse">
            <a:avLst/>
          </a:prstGeom>
          <a:solidFill>
            <a:srgbClr val="06C755"/>
          </a:solidFill>
          <a:ln/>
        </p:spPr>
        <p:txBody>
          <a:bodyPr/>
          <a:lstStyle/>
          <a:p>
            <a:endParaRPr lang="ja-JP" altLang="en-US">
              <a:latin typeface="メイリオ" panose="020B0604030504040204" pitchFamily="50" charset="-128"/>
              <a:ea typeface="メイリオ" panose="020B0604030504040204" pitchFamily="50" charset="-128"/>
            </a:endParaRPr>
          </a:p>
        </p:txBody>
      </p:sp>
      <p:sp>
        <p:nvSpPr>
          <p:cNvPr id="52" name="Text 9">
            <a:extLst>
              <a:ext uri="{FF2B5EF4-FFF2-40B4-BE49-F238E27FC236}">
                <a16:creationId xmlns:a16="http://schemas.microsoft.com/office/drawing/2014/main" id="{669B4352-D816-9A0C-A8DD-7BC84307D168}"/>
              </a:ext>
            </a:extLst>
          </p:cNvPr>
          <p:cNvSpPr txBox="1"/>
          <p:nvPr/>
        </p:nvSpPr>
        <p:spPr>
          <a:xfrm>
            <a:off x="972158" y="2831595"/>
            <a:ext cx="384048" cy="384048"/>
          </a:xfrm>
          <a:prstGeom prst="rect">
            <a:avLst/>
          </a:prstGeom>
          <a:noFill/>
          <a:ln/>
        </p:spPr>
        <p:txBody>
          <a:bodyPr wrap="square" lIns="0" tIns="0" rIns="0" bIns="0" rtlCol="0" anchor="ctr"/>
          <a:lstStyle/>
          <a:p>
            <a:pPr marL="0" indent="0" algn="ctr">
              <a:buNone/>
            </a:pPr>
            <a:r>
              <a:rPr lang="en-US" sz="1200" b="1" dirty="0">
                <a:solidFill>
                  <a:srgbClr val="FFFFFF"/>
                </a:solidFill>
                <a:latin typeface="メイリオ" panose="020B0604030504040204" pitchFamily="50" charset="-128"/>
                <a:ea typeface="メイリオ" panose="020B0604030504040204" pitchFamily="50" charset="-128"/>
                <a:cs typeface="Calibri" pitchFamily="34" charset="-120"/>
              </a:rPr>
              <a:t>2</a:t>
            </a:r>
            <a:endParaRPr lang="en-US" sz="1100" dirty="0">
              <a:latin typeface="メイリオ" panose="020B0604030504040204" pitchFamily="50" charset="-128"/>
              <a:ea typeface="メイリオ" panose="020B0604030504040204" pitchFamily="50" charset="-128"/>
            </a:endParaRPr>
          </a:p>
        </p:txBody>
      </p:sp>
      <p:sp>
        <p:nvSpPr>
          <p:cNvPr id="54" name="Text 10">
            <a:extLst>
              <a:ext uri="{FF2B5EF4-FFF2-40B4-BE49-F238E27FC236}">
                <a16:creationId xmlns:a16="http://schemas.microsoft.com/office/drawing/2014/main" id="{75F48AE9-A6FD-422C-ACDF-7B652462C746}"/>
              </a:ext>
            </a:extLst>
          </p:cNvPr>
          <p:cNvSpPr txBox="1"/>
          <p:nvPr/>
        </p:nvSpPr>
        <p:spPr>
          <a:xfrm>
            <a:off x="1539086" y="2958745"/>
            <a:ext cx="1745198" cy="1051560"/>
          </a:xfrm>
          <a:prstGeom prst="rect">
            <a:avLst/>
          </a:prstGeom>
          <a:noFill/>
          <a:ln/>
        </p:spPr>
        <p:txBody>
          <a:bodyPr wrap="square" lIns="0" tIns="0" rIns="0" bIns="0" rtlCol="0" anchor="t"/>
          <a:lstStyle/>
          <a:p>
            <a:pPr marL="0" indent="0">
              <a:buNone/>
            </a:pPr>
            <a:r>
              <a:rPr lang="en-US" sz="1500" b="1" dirty="0">
                <a:solidFill>
                  <a:srgbClr val="1B3A4B"/>
                </a:solidFill>
                <a:latin typeface="メイリオ" panose="020B0604030504040204" pitchFamily="50" charset="-128"/>
                <a:ea typeface="メイリオ" panose="020B0604030504040204" pitchFamily="50" charset="-128"/>
                <a:cs typeface="Calibri" pitchFamily="34" charset="-120"/>
              </a:rPr>
              <a:t>想定UU規模</a:t>
            </a:r>
            <a:endParaRPr lang="en-US" sz="1400" dirty="0">
              <a:latin typeface="メイリオ" panose="020B0604030504040204" pitchFamily="50" charset="-128"/>
              <a:ea typeface="メイリオ" panose="020B0604030504040204" pitchFamily="50" charset="-128"/>
            </a:endParaRPr>
          </a:p>
        </p:txBody>
      </p:sp>
      <p:sp>
        <p:nvSpPr>
          <p:cNvPr id="56" name="Text 11">
            <a:extLst>
              <a:ext uri="{FF2B5EF4-FFF2-40B4-BE49-F238E27FC236}">
                <a16:creationId xmlns:a16="http://schemas.microsoft.com/office/drawing/2014/main" id="{61156CBF-D9B3-DD3C-8ACD-8372D9D326A2}"/>
              </a:ext>
            </a:extLst>
          </p:cNvPr>
          <p:cNvSpPr txBox="1"/>
          <p:nvPr/>
        </p:nvSpPr>
        <p:spPr>
          <a:xfrm>
            <a:off x="3120996" y="2958742"/>
            <a:ext cx="6841609" cy="548643"/>
          </a:xfrm>
          <a:prstGeom prst="rect">
            <a:avLst/>
          </a:prstGeom>
          <a:noFill/>
          <a:ln/>
        </p:spPr>
        <p:txBody>
          <a:bodyPr wrap="square" lIns="0" tIns="0" rIns="0" bIns="0" rtlCol="0" anchor="t"/>
          <a:lstStyle/>
          <a:p>
            <a:pPr marL="0" indent="0">
              <a:lnSpc>
                <a:spcPts val="1700"/>
              </a:lnSpc>
              <a:buNone/>
            </a:pPr>
            <a:r>
              <a:rPr lang="en-US" sz="1300" dirty="0" err="1">
                <a:solidFill>
                  <a:srgbClr val="1F2937"/>
                </a:solidFill>
                <a:latin typeface="メイリオ" panose="020B0604030504040204" pitchFamily="50" charset="-128"/>
                <a:ea typeface="メイリオ" panose="020B0604030504040204" pitchFamily="50" charset="-128"/>
                <a:cs typeface="Calibri" pitchFamily="34" charset="-120"/>
              </a:rPr>
              <a:t>友だち数（登録ユーザー数）は</a:t>
            </a:r>
            <a:r>
              <a:rPr lang="en-US" sz="1200" dirty="0">
                <a:solidFill>
                  <a:srgbClr val="1F2937"/>
                </a:solidFill>
                <a:latin typeface="メイリオ" panose="020B0604030504040204" pitchFamily="50" charset="-128"/>
                <a:ea typeface="メイリオ" panose="020B0604030504040204" pitchFamily="50" charset="-128"/>
                <a:cs typeface="Calibri" pitchFamily="34" charset="-120"/>
              </a:rPr>
              <a:t> </a:t>
            </a:r>
            <a:r>
              <a:rPr lang="ja-JP" altLang="en-US" sz="1300" dirty="0">
                <a:solidFill>
                  <a:srgbClr val="1F2937"/>
                </a:solidFill>
                <a:latin typeface="メイリオ" panose="020B0604030504040204" pitchFamily="50" charset="-128"/>
                <a:ea typeface="メイリオ" panose="020B0604030504040204" pitchFamily="50" charset="-128"/>
                <a:cs typeface="Calibri" pitchFamily="34" charset="-120"/>
              </a:rPr>
              <a:t>導入できる 動線の本数、整備の進捗により変動</a:t>
            </a:r>
            <a:r>
              <a:rPr lang="en-US" sz="1300" dirty="0">
                <a:solidFill>
                  <a:srgbClr val="1F2937"/>
                </a:solidFill>
                <a:latin typeface="メイリオ" panose="020B0604030504040204" pitchFamily="50" charset="-128"/>
                <a:ea typeface="メイリオ" panose="020B0604030504040204" pitchFamily="50" charset="-128"/>
                <a:cs typeface="Calibri" pitchFamily="34" charset="-120"/>
              </a:rPr>
              <a:t>。</a:t>
            </a:r>
          </a:p>
          <a:p>
            <a:pPr marL="0" indent="0">
              <a:lnSpc>
                <a:spcPts val="1700"/>
              </a:lnSpc>
              <a:buNone/>
            </a:pPr>
            <a:r>
              <a:rPr lang="en-US" sz="1300" dirty="0" err="1">
                <a:solidFill>
                  <a:srgbClr val="1F2937"/>
                </a:solidFill>
                <a:latin typeface="メイリオ" panose="020B0604030504040204" pitchFamily="50" charset="-128"/>
                <a:ea typeface="メイリオ" panose="020B0604030504040204" pitchFamily="50" charset="-128"/>
                <a:cs typeface="Calibri" pitchFamily="34" charset="-120"/>
              </a:rPr>
              <a:t>数値はこのレンジの中間帯を基準とした試算例</a:t>
            </a:r>
            <a:r>
              <a:rPr lang="en-US" sz="1300" dirty="0">
                <a:solidFill>
                  <a:srgbClr val="1F2937"/>
                </a:solidFill>
                <a:latin typeface="メイリオ" panose="020B0604030504040204" pitchFamily="50" charset="-128"/>
                <a:ea typeface="メイリオ" panose="020B0604030504040204" pitchFamily="50" charset="-128"/>
                <a:cs typeface="Calibri" pitchFamily="34" charset="-120"/>
              </a:rPr>
              <a:t>。</a:t>
            </a:r>
            <a:endParaRPr lang="en-US" sz="1200" dirty="0">
              <a:latin typeface="メイリオ" panose="020B0604030504040204" pitchFamily="50" charset="-128"/>
              <a:ea typeface="メイリオ" panose="020B0604030504040204" pitchFamily="50" charset="-128"/>
            </a:endParaRPr>
          </a:p>
        </p:txBody>
      </p:sp>
      <p:sp>
        <p:nvSpPr>
          <p:cNvPr id="58" name="Shape 12">
            <a:extLst>
              <a:ext uri="{FF2B5EF4-FFF2-40B4-BE49-F238E27FC236}">
                <a16:creationId xmlns:a16="http://schemas.microsoft.com/office/drawing/2014/main" id="{B7E37F63-4443-61AC-C507-6249BCEA8B03}"/>
              </a:ext>
            </a:extLst>
          </p:cNvPr>
          <p:cNvSpPr/>
          <p:nvPr/>
        </p:nvSpPr>
        <p:spPr>
          <a:xfrm>
            <a:off x="641683" y="3764283"/>
            <a:ext cx="8591394" cy="9144"/>
          </a:xfrm>
          <a:prstGeom prst="rect">
            <a:avLst/>
          </a:prstGeom>
          <a:solidFill>
            <a:srgbClr val="EBEEEF"/>
          </a:solidFill>
          <a:ln/>
        </p:spPr>
        <p:txBody>
          <a:bodyPr/>
          <a:lstStyle/>
          <a:p>
            <a:endParaRPr lang="ja-JP" altLang="en-US">
              <a:latin typeface="メイリオ" panose="020B0604030504040204" pitchFamily="50" charset="-128"/>
              <a:ea typeface="メイリオ" panose="020B0604030504040204" pitchFamily="50" charset="-128"/>
            </a:endParaRPr>
          </a:p>
        </p:txBody>
      </p:sp>
      <p:sp>
        <p:nvSpPr>
          <p:cNvPr id="60" name="Shape 13">
            <a:extLst>
              <a:ext uri="{FF2B5EF4-FFF2-40B4-BE49-F238E27FC236}">
                <a16:creationId xmlns:a16="http://schemas.microsoft.com/office/drawing/2014/main" id="{BC3F4295-B343-9929-79BF-0E90AC24E637}"/>
              </a:ext>
            </a:extLst>
          </p:cNvPr>
          <p:cNvSpPr/>
          <p:nvPr/>
        </p:nvSpPr>
        <p:spPr>
          <a:xfrm>
            <a:off x="972158" y="3883155"/>
            <a:ext cx="384048" cy="384048"/>
          </a:xfrm>
          <a:prstGeom prst="ellipse">
            <a:avLst/>
          </a:prstGeom>
          <a:solidFill>
            <a:srgbClr val="06C755"/>
          </a:solidFill>
          <a:ln/>
        </p:spPr>
        <p:txBody>
          <a:bodyPr/>
          <a:lstStyle/>
          <a:p>
            <a:endParaRPr lang="ja-JP" altLang="en-US">
              <a:latin typeface="メイリオ" panose="020B0604030504040204" pitchFamily="50" charset="-128"/>
              <a:ea typeface="メイリオ" panose="020B0604030504040204" pitchFamily="50" charset="-128"/>
            </a:endParaRPr>
          </a:p>
        </p:txBody>
      </p:sp>
      <p:sp>
        <p:nvSpPr>
          <p:cNvPr id="62" name="Text 14">
            <a:extLst>
              <a:ext uri="{FF2B5EF4-FFF2-40B4-BE49-F238E27FC236}">
                <a16:creationId xmlns:a16="http://schemas.microsoft.com/office/drawing/2014/main" id="{4F7035AD-D7AD-4365-9CE5-C9A141A3387A}"/>
              </a:ext>
            </a:extLst>
          </p:cNvPr>
          <p:cNvSpPr txBox="1"/>
          <p:nvPr/>
        </p:nvSpPr>
        <p:spPr>
          <a:xfrm>
            <a:off x="972158" y="3883155"/>
            <a:ext cx="384048" cy="384048"/>
          </a:xfrm>
          <a:prstGeom prst="rect">
            <a:avLst/>
          </a:prstGeom>
          <a:noFill/>
          <a:ln/>
        </p:spPr>
        <p:txBody>
          <a:bodyPr wrap="square" lIns="0" tIns="0" rIns="0" bIns="0" rtlCol="0" anchor="ctr"/>
          <a:lstStyle/>
          <a:p>
            <a:pPr marL="0" indent="0" algn="ctr">
              <a:buNone/>
            </a:pPr>
            <a:r>
              <a:rPr lang="en-US" sz="1200" b="1" dirty="0">
                <a:solidFill>
                  <a:srgbClr val="FFFFFF"/>
                </a:solidFill>
                <a:latin typeface="メイリオ" panose="020B0604030504040204" pitchFamily="50" charset="-128"/>
                <a:ea typeface="メイリオ" panose="020B0604030504040204" pitchFamily="50" charset="-128"/>
                <a:cs typeface="Calibri" pitchFamily="34" charset="-120"/>
              </a:rPr>
              <a:t>3</a:t>
            </a:r>
            <a:endParaRPr lang="en-US" sz="1100" dirty="0">
              <a:latin typeface="メイリオ" panose="020B0604030504040204" pitchFamily="50" charset="-128"/>
              <a:ea typeface="メイリオ" panose="020B0604030504040204" pitchFamily="50" charset="-128"/>
            </a:endParaRPr>
          </a:p>
        </p:txBody>
      </p:sp>
      <p:sp>
        <p:nvSpPr>
          <p:cNvPr id="64" name="Text 15">
            <a:extLst>
              <a:ext uri="{FF2B5EF4-FFF2-40B4-BE49-F238E27FC236}">
                <a16:creationId xmlns:a16="http://schemas.microsoft.com/office/drawing/2014/main" id="{86468759-90EC-B496-2A22-F5CEEF26BB6D}"/>
              </a:ext>
            </a:extLst>
          </p:cNvPr>
          <p:cNvSpPr txBox="1"/>
          <p:nvPr/>
        </p:nvSpPr>
        <p:spPr>
          <a:xfrm>
            <a:off x="1539086" y="4010305"/>
            <a:ext cx="1745198" cy="1051560"/>
          </a:xfrm>
          <a:prstGeom prst="rect">
            <a:avLst/>
          </a:prstGeom>
          <a:noFill/>
          <a:ln/>
        </p:spPr>
        <p:txBody>
          <a:bodyPr wrap="square" lIns="0" tIns="0" rIns="0" bIns="0" rtlCol="0" anchor="t"/>
          <a:lstStyle/>
          <a:p>
            <a:pPr marL="0" indent="0">
              <a:buNone/>
            </a:pPr>
            <a:r>
              <a:rPr lang="en-US" sz="1500" b="1" dirty="0">
                <a:solidFill>
                  <a:srgbClr val="1B3A4B"/>
                </a:solidFill>
                <a:latin typeface="メイリオ" panose="020B0604030504040204" pitchFamily="50" charset="-128"/>
                <a:ea typeface="メイリオ" panose="020B0604030504040204" pitchFamily="50" charset="-128"/>
                <a:cs typeface="Calibri" pitchFamily="34" charset="-120"/>
              </a:rPr>
              <a:t>数値の位置づけ</a:t>
            </a:r>
            <a:endParaRPr lang="en-US" sz="1400" dirty="0">
              <a:latin typeface="メイリオ" panose="020B0604030504040204" pitchFamily="50" charset="-128"/>
              <a:ea typeface="メイリオ" panose="020B0604030504040204" pitchFamily="50" charset="-128"/>
            </a:endParaRPr>
          </a:p>
        </p:txBody>
      </p:sp>
      <p:sp>
        <p:nvSpPr>
          <p:cNvPr id="66" name="Text 16">
            <a:extLst>
              <a:ext uri="{FF2B5EF4-FFF2-40B4-BE49-F238E27FC236}">
                <a16:creationId xmlns:a16="http://schemas.microsoft.com/office/drawing/2014/main" id="{904F2FF7-14A1-F39C-A8CB-E14A07B717DD}"/>
              </a:ext>
            </a:extLst>
          </p:cNvPr>
          <p:cNvSpPr txBox="1"/>
          <p:nvPr/>
        </p:nvSpPr>
        <p:spPr>
          <a:xfrm>
            <a:off x="3120996" y="4010302"/>
            <a:ext cx="6841609" cy="548643"/>
          </a:xfrm>
          <a:prstGeom prst="rect">
            <a:avLst/>
          </a:prstGeom>
          <a:noFill/>
          <a:ln/>
        </p:spPr>
        <p:txBody>
          <a:bodyPr wrap="square" lIns="0" tIns="0" rIns="0" bIns="0" rtlCol="0" anchor="t"/>
          <a:lstStyle/>
          <a:p>
            <a:pPr marL="0" indent="0">
              <a:lnSpc>
                <a:spcPts val="1700"/>
              </a:lnSpc>
              <a:buNone/>
            </a:pPr>
            <a:r>
              <a:rPr lang="en-US" sz="1300" dirty="0" err="1">
                <a:solidFill>
                  <a:srgbClr val="1F2937"/>
                </a:solidFill>
                <a:latin typeface="メイリオ" panose="020B0604030504040204" pitchFamily="50" charset="-128"/>
                <a:ea typeface="メイリオ" panose="020B0604030504040204" pitchFamily="50" charset="-128"/>
                <a:cs typeface="Calibri" pitchFamily="34" charset="-120"/>
              </a:rPr>
              <a:t>開封率・クリック率・CVR・獲得件数は、業界一般値</a:t>
            </a:r>
            <a:r>
              <a:rPr lang="ja-JP" altLang="en-US" sz="1300" dirty="0">
                <a:solidFill>
                  <a:srgbClr val="1F2937"/>
                </a:solidFill>
                <a:latin typeface="メイリオ" panose="020B0604030504040204" pitchFamily="50" charset="-128"/>
                <a:ea typeface="メイリオ" panose="020B0604030504040204" pitchFamily="50" charset="-128"/>
                <a:cs typeface="Calibri" pitchFamily="34" charset="-120"/>
              </a:rPr>
              <a:t>・弊社実績に基づく数値</a:t>
            </a:r>
            <a:r>
              <a:rPr lang="en-US" sz="1300" dirty="0">
                <a:solidFill>
                  <a:srgbClr val="1F2937"/>
                </a:solidFill>
                <a:latin typeface="メイリオ" panose="020B0604030504040204" pitchFamily="50" charset="-128"/>
                <a:ea typeface="メイリオ" panose="020B0604030504040204" pitchFamily="50" charset="-128"/>
                <a:cs typeface="Calibri" pitchFamily="34" charset="-120"/>
              </a:rPr>
              <a:t>。</a:t>
            </a:r>
          </a:p>
          <a:p>
            <a:pPr marL="0" indent="0">
              <a:lnSpc>
                <a:spcPts val="1700"/>
              </a:lnSpc>
              <a:buNone/>
            </a:pPr>
            <a:r>
              <a:rPr lang="ja-JP" altLang="en-US" sz="1300" dirty="0">
                <a:solidFill>
                  <a:srgbClr val="1F2937"/>
                </a:solidFill>
                <a:latin typeface="メイリオ" panose="020B0604030504040204" pitchFamily="50" charset="-128"/>
                <a:ea typeface="メイリオ" panose="020B0604030504040204" pitchFamily="50" charset="-128"/>
                <a:cs typeface="Calibri" pitchFamily="34" charset="-120"/>
              </a:rPr>
              <a:t>実際の実装可能領域によって変動する為、すり合わせの上で</a:t>
            </a:r>
            <a:r>
              <a:rPr lang="en-US" sz="1300" dirty="0" err="1">
                <a:solidFill>
                  <a:srgbClr val="1F2937"/>
                </a:solidFill>
                <a:latin typeface="メイリオ" panose="020B0604030504040204" pitchFamily="50" charset="-128"/>
                <a:ea typeface="メイリオ" panose="020B0604030504040204" pitchFamily="50" charset="-128"/>
                <a:cs typeface="Calibri" pitchFamily="34" charset="-120"/>
              </a:rPr>
              <a:t>精緻化する</a:t>
            </a:r>
            <a:r>
              <a:rPr lang="en-US" sz="1300" dirty="0">
                <a:solidFill>
                  <a:srgbClr val="1F2937"/>
                </a:solidFill>
                <a:latin typeface="メイリオ" panose="020B0604030504040204" pitchFamily="50" charset="-128"/>
                <a:ea typeface="メイリオ" panose="020B0604030504040204" pitchFamily="50" charset="-128"/>
                <a:cs typeface="Calibri" pitchFamily="34" charset="-120"/>
              </a:rPr>
              <a:t>。</a:t>
            </a:r>
            <a:endParaRPr lang="en-US" sz="1200" dirty="0">
              <a:latin typeface="メイリオ" panose="020B0604030504040204" pitchFamily="50" charset="-128"/>
              <a:ea typeface="メイリオ" panose="020B0604030504040204" pitchFamily="50" charset="-128"/>
            </a:endParaRPr>
          </a:p>
        </p:txBody>
      </p:sp>
      <p:sp>
        <p:nvSpPr>
          <p:cNvPr id="68" name="Shape 17">
            <a:extLst>
              <a:ext uri="{FF2B5EF4-FFF2-40B4-BE49-F238E27FC236}">
                <a16:creationId xmlns:a16="http://schemas.microsoft.com/office/drawing/2014/main" id="{D7D046F7-16D5-8951-536B-10884484DE02}"/>
              </a:ext>
            </a:extLst>
          </p:cNvPr>
          <p:cNvSpPr/>
          <p:nvPr/>
        </p:nvSpPr>
        <p:spPr>
          <a:xfrm>
            <a:off x="641683" y="4815843"/>
            <a:ext cx="8591394" cy="9144"/>
          </a:xfrm>
          <a:prstGeom prst="rect">
            <a:avLst/>
          </a:prstGeom>
          <a:solidFill>
            <a:srgbClr val="EBEEEF"/>
          </a:solidFill>
          <a:ln/>
        </p:spPr>
        <p:txBody>
          <a:bodyPr/>
          <a:lstStyle/>
          <a:p>
            <a:endParaRPr lang="ja-JP" altLang="en-US">
              <a:latin typeface="メイリオ" panose="020B0604030504040204" pitchFamily="50" charset="-128"/>
              <a:ea typeface="メイリオ" panose="020B0604030504040204" pitchFamily="50" charset="-128"/>
            </a:endParaRPr>
          </a:p>
        </p:txBody>
      </p:sp>
      <p:sp>
        <p:nvSpPr>
          <p:cNvPr id="70" name="Shape 18">
            <a:extLst>
              <a:ext uri="{FF2B5EF4-FFF2-40B4-BE49-F238E27FC236}">
                <a16:creationId xmlns:a16="http://schemas.microsoft.com/office/drawing/2014/main" id="{0D1FC647-1BC2-58C5-04C4-BE8B359A6F8D}"/>
              </a:ext>
            </a:extLst>
          </p:cNvPr>
          <p:cNvSpPr/>
          <p:nvPr/>
        </p:nvSpPr>
        <p:spPr>
          <a:xfrm>
            <a:off x="972158" y="4934715"/>
            <a:ext cx="384048" cy="384048"/>
          </a:xfrm>
          <a:prstGeom prst="ellipse">
            <a:avLst/>
          </a:prstGeom>
          <a:solidFill>
            <a:srgbClr val="06C755"/>
          </a:solidFill>
          <a:ln/>
        </p:spPr>
        <p:txBody>
          <a:bodyPr/>
          <a:lstStyle/>
          <a:p>
            <a:endParaRPr lang="ja-JP" altLang="en-US">
              <a:latin typeface="メイリオ" panose="020B0604030504040204" pitchFamily="50" charset="-128"/>
              <a:ea typeface="メイリオ" panose="020B0604030504040204" pitchFamily="50" charset="-128"/>
            </a:endParaRPr>
          </a:p>
        </p:txBody>
      </p:sp>
      <p:sp>
        <p:nvSpPr>
          <p:cNvPr id="72" name="Text 19">
            <a:extLst>
              <a:ext uri="{FF2B5EF4-FFF2-40B4-BE49-F238E27FC236}">
                <a16:creationId xmlns:a16="http://schemas.microsoft.com/office/drawing/2014/main" id="{C7DA095C-5CED-C617-CCA7-2F5D20F16832}"/>
              </a:ext>
            </a:extLst>
          </p:cNvPr>
          <p:cNvSpPr txBox="1"/>
          <p:nvPr/>
        </p:nvSpPr>
        <p:spPr>
          <a:xfrm>
            <a:off x="972158" y="4934715"/>
            <a:ext cx="384048" cy="384048"/>
          </a:xfrm>
          <a:prstGeom prst="rect">
            <a:avLst/>
          </a:prstGeom>
          <a:noFill/>
          <a:ln/>
        </p:spPr>
        <p:txBody>
          <a:bodyPr wrap="square" lIns="0" tIns="0" rIns="0" bIns="0" rtlCol="0" anchor="ctr"/>
          <a:lstStyle/>
          <a:p>
            <a:pPr marL="0" indent="0" algn="ctr">
              <a:buNone/>
            </a:pPr>
            <a:r>
              <a:rPr lang="en-US" sz="1200" b="1" dirty="0">
                <a:solidFill>
                  <a:srgbClr val="FFFFFF"/>
                </a:solidFill>
                <a:latin typeface="メイリオ" panose="020B0604030504040204" pitchFamily="50" charset="-128"/>
                <a:ea typeface="メイリオ" panose="020B0604030504040204" pitchFamily="50" charset="-128"/>
                <a:cs typeface="Calibri" pitchFamily="34" charset="-120"/>
              </a:rPr>
              <a:t>4</a:t>
            </a:r>
            <a:endParaRPr lang="en-US" sz="1100" dirty="0">
              <a:latin typeface="メイリオ" panose="020B0604030504040204" pitchFamily="50" charset="-128"/>
              <a:ea typeface="メイリオ" panose="020B0604030504040204" pitchFamily="50" charset="-128"/>
            </a:endParaRPr>
          </a:p>
        </p:txBody>
      </p:sp>
      <p:sp>
        <p:nvSpPr>
          <p:cNvPr id="74" name="Text 20">
            <a:extLst>
              <a:ext uri="{FF2B5EF4-FFF2-40B4-BE49-F238E27FC236}">
                <a16:creationId xmlns:a16="http://schemas.microsoft.com/office/drawing/2014/main" id="{4C2E6E88-6123-B50A-ED01-1E64CDAD3404}"/>
              </a:ext>
            </a:extLst>
          </p:cNvPr>
          <p:cNvSpPr txBox="1"/>
          <p:nvPr/>
        </p:nvSpPr>
        <p:spPr>
          <a:xfrm>
            <a:off x="1539086" y="5061865"/>
            <a:ext cx="1745198" cy="1051560"/>
          </a:xfrm>
          <a:prstGeom prst="rect">
            <a:avLst/>
          </a:prstGeom>
          <a:noFill/>
          <a:ln/>
        </p:spPr>
        <p:txBody>
          <a:bodyPr wrap="square" lIns="0" tIns="0" rIns="0" bIns="0" rtlCol="0" anchor="t"/>
          <a:lstStyle/>
          <a:p>
            <a:pPr marL="0" indent="0">
              <a:buNone/>
            </a:pPr>
            <a:r>
              <a:rPr lang="en-US" sz="1500" b="1" dirty="0">
                <a:solidFill>
                  <a:srgbClr val="1B3A4B"/>
                </a:solidFill>
                <a:latin typeface="メイリオ" panose="020B0604030504040204" pitchFamily="50" charset="-128"/>
                <a:ea typeface="メイリオ" panose="020B0604030504040204" pitchFamily="50" charset="-128"/>
                <a:cs typeface="Calibri" pitchFamily="34" charset="-120"/>
              </a:rPr>
              <a:t>費用について</a:t>
            </a:r>
            <a:endParaRPr lang="en-US" sz="1400" dirty="0">
              <a:latin typeface="メイリオ" panose="020B0604030504040204" pitchFamily="50" charset="-128"/>
              <a:ea typeface="メイリオ" panose="020B0604030504040204" pitchFamily="50" charset="-128"/>
            </a:endParaRPr>
          </a:p>
        </p:txBody>
      </p:sp>
      <p:sp>
        <p:nvSpPr>
          <p:cNvPr id="76" name="Text 21">
            <a:extLst>
              <a:ext uri="{FF2B5EF4-FFF2-40B4-BE49-F238E27FC236}">
                <a16:creationId xmlns:a16="http://schemas.microsoft.com/office/drawing/2014/main" id="{F5F82988-82B4-B2FE-6595-2DA583169883}"/>
              </a:ext>
            </a:extLst>
          </p:cNvPr>
          <p:cNvSpPr txBox="1"/>
          <p:nvPr/>
        </p:nvSpPr>
        <p:spPr>
          <a:xfrm>
            <a:off x="3120996" y="5061862"/>
            <a:ext cx="6841609" cy="548643"/>
          </a:xfrm>
          <a:prstGeom prst="rect">
            <a:avLst/>
          </a:prstGeom>
          <a:noFill/>
          <a:ln/>
        </p:spPr>
        <p:txBody>
          <a:bodyPr wrap="square" lIns="0" tIns="0" rIns="0" bIns="0" rtlCol="0" anchor="t"/>
          <a:lstStyle/>
          <a:p>
            <a:pPr marL="0" indent="0">
              <a:lnSpc>
                <a:spcPts val="1700"/>
              </a:lnSpc>
              <a:buNone/>
            </a:pPr>
            <a:r>
              <a:rPr lang="en-US" sz="1300" dirty="0" err="1">
                <a:solidFill>
                  <a:srgbClr val="1F2937"/>
                </a:solidFill>
                <a:latin typeface="メイリオ" panose="020B0604030504040204" pitchFamily="50" charset="-128"/>
                <a:ea typeface="メイリオ" panose="020B0604030504040204" pitchFamily="50" charset="-128"/>
                <a:cs typeface="Calibri" pitchFamily="34" charset="-120"/>
              </a:rPr>
              <a:t>本資料</a:t>
            </a:r>
            <a:r>
              <a:rPr lang="ja-JP" altLang="en-US" sz="1300" dirty="0">
                <a:solidFill>
                  <a:srgbClr val="1F2937"/>
                </a:solidFill>
                <a:latin typeface="メイリオ" panose="020B0604030504040204" pitchFamily="50" charset="-128"/>
                <a:ea typeface="メイリオ" panose="020B0604030504040204" pitchFamily="50" charset="-128"/>
                <a:cs typeface="Calibri" pitchFamily="34" charset="-120"/>
              </a:rPr>
              <a:t>内</a:t>
            </a:r>
            <a:r>
              <a:rPr lang="en-US" sz="1300" dirty="0">
                <a:solidFill>
                  <a:srgbClr val="1F2937"/>
                </a:solidFill>
                <a:latin typeface="メイリオ" panose="020B0604030504040204" pitchFamily="50" charset="-128"/>
                <a:ea typeface="メイリオ" panose="020B0604030504040204" pitchFamily="50" charset="-128"/>
                <a:cs typeface="Calibri" pitchFamily="34" charset="-120"/>
              </a:rPr>
              <a:t>で</a:t>
            </a:r>
            <a:r>
              <a:rPr lang="ja-JP" altLang="en-US" sz="1300" dirty="0">
                <a:solidFill>
                  <a:srgbClr val="1F2937"/>
                </a:solidFill>
                <a:latin typeface="メイリオ" panose="020B0604030504040204" pitchFamily="50" charset="-128"/>
                <a:ea typeface="メイリオ" panose="020B0604030504040204" pitchFamily="50" charset="-128"/>
                <a:cs typeface="Calibri" pitchFamily="34" charset="-120"/>
              </a:rPr>
              <a:t>記載の</a:t>
            </a:r>
            <a:r>
              <a:rPr lang="en-US" sz="1300" b="1" dirty="0" err="1">
                <a:solidFill>
                  <a:srgbClr val="1F2937"/>
                </a:solidFill>
                <a:latin typeface="メイリオ" panose="020B0604030504040204" pitchFamily="50" charset="-128"/>
                <a:ea typeface="メイリオ" panose="020B0604030504040204" pitchFamily="50" charset="-128"/>
                <a:cs typeface="Calibri" pitchFamily="34" charset="-120"/>
              </a:rPr>
              <a:t>費用（初期費用・月額費用）は</a:t>
            </a:r>
            <a:r>
              <a:rPr lang="ja-JP" altLang="en-US" sz="1300" b="1" dirty="0">
                <a:solidFill>
                  <a:srgbClr val="1F2937"/>
                </a:solidFill>
                <a:latin typeface="メイリオ" panose="020B0604030504040204" pitchFamily="50" charset="-128"/>
                <a:ea typeface="メイリオ" panose="020B0604030504040204" pitchFamily="50" charset="-128"/>
                <a:cs typeface="Calibri" pitchFamily="34" charset="-120"/>
              </a:rPr>
              <a:t>前提参考値</a:t>
            </a:r>
            <a:r>
              <a:rPr lang="en-US" sz="1300" dirty="0">
                <a:solidFill>
                  <a:srgbClr val="1F2937"/>
                </a:solidFill>
                <a:latin typeface="メイリオ" panose="020B0604030504040204" pitchFamily="50" charset="-128"/>
                <a:ea typeface="メイリオ" panose="020B0604030504040204" pitchFamily="50" charset="-128"/>
                <a:cs typeface="Calibri" pitchFamily="34" charset="-120"/>
              </a:rPr>
              <a:t>。</a:t>
            </a:r>
          </a:p>
          <a:p>
            <a:pPr marL="0" indent="0">
              <a:lnSpc>
                <a:spcPts val="1700"/>
              </a:lnSpc>
              <a:buNone/>
            </a:pPr>
            <a:r>
              <a:rPr lang="en-US" sz="1300" dirty="0" err="1">
                <a:solidFill>
                  <a:srgbClr val="1F2937"/>
                </a:solidFill>
                <a:latin typeface="メイリオ" panose="020B0604030504040204" pitchFamily="50" charset="-128"/>
                <a:ea typeface="メイリオ" panose="020B0604030504040204" pitchFamily="50" charset="-128"/>
                <a:cs typeface="Calibri" pitchFamily="34" charset="-120"/>
              </a:rPr>
              <a:t>施策範囲の合意後、別途お見積りをご案内</a:t>
            </a:r>
            <a:r>
              <a:rPr lang="en-US" sz="1300" dirty="0">
                <a:solidFill>
                  <a:srgbClr val="1F2937"/>
                </a:solidFill>
                <a:latin typeface="メイリオ" panose="020B0604030504040204" pitchFamily="50" charset="-128"/>
                <a:ea typeface="メイリオ" panose="020B0604030504040204" pitchFamily="50" charset="-128"/>
                <a:cs typeface="Calibri" pitchFamily="34" charset="-120"/>
              </a:rPr>
              <a:t>。</a:t>
            </a:r>
            <a:endParaRPr lang="en-US" sz="1200" dirty="0">
              <a:latin typeface="メイリオ" panose="020B0604030504040204" pitchFamily="50" charset="-128"/>
              <a:ea typeface="メイリオ" panose="020B0604030504040204" pitchFamily="50" charset="-128"/>
            </a:endParaRPr>
          </a:p>
        </p:txBody>
      </p:sp>
      <p:sp>
        <p:nvSpPr>
          <p:cNvPr id="78" name="テキスト ボックス 77">
            <a:extLst>
              <a:ext uri="{FF2B5EF4-FFF2-40B4-BE49-F238E27FC236}">
                <a16:creationId xmlns:a16="http://schemas.microsoft.com/office/drawing/2014/main" id="{EED395D3-960C-4F52-4CB0-7C6BFD98B4E4}"/>
              </a:ext>
            </a:extLst>
          </p:cNvPr>
          <p:cNvSpPr txBox="1"/>
          <p:nvPr/>
        </p:nvSpPr>
        <p:spPr>
          <a:xfrm>
            <a:off x="561786" y="882657"/>
            <a:ext cx="8797260" cy="523220"/>
          </a:xfrm>
          <a:prstGeom prst="rect">
            <a:avLst/>
          </a:prstGeom>
          <a:noFill/>
        </p:spPr>
        <p:txBody>
          <a:bodyPr wrap="square">
            <a:spAutoFit/>
          </a:bodyPr>
          <a:lstStyle/>
          <a:p>
            <a:pPr algn="ctr"/>
            <a:r>
              <a:rPr lang="ja-JP" altLang="en-US" sz="1500" b="1" dirty="0">
                <a:solidFill>
                  <a:schemeClr val="tx1">
                    <a:lumMod val="50000"/>
                    <a:lumOff val="50000"/>
                  </a:schemeClr>
                </a:solidFill>
                <a:latin typeface="Meiryo" panose="020B0604030504040204" pitchFamily="34" charset="-128"/>
                <a:ea typeface="Meiryo" panose="020B0604030504040204" pitchFamily="34" charset="-128"/>
              </a:rPr>
              <a:t>ご提案にお持ちしているのは費用感の算出ではなく施策方針です。</a:t>
            </a:r>
            <a:endParaRPr lang="en-US" altLang="ja-JP" sz="1400" b="1" dirty="0">
              <a:solidFill>
                <a:schemeClr val="tx1">
                  <a:lumMod val="50000"/>
                  <a:lumOff val="50000"/>
                </a:schemeClr>
              </a:solidFill>
              <a:latin typeface="Meiryo" panose="020B0604030504040204" pitchFamily="34" charset="-128"/>
              <a:ea typeface="Meiryo" panose="020B0604030504040204" pitchFamily="34" charset="-128"/>
            </a:endParaRPr>
          </a:p>
          <a:p>
            <a:pPr algn="ctr"/>
            <a:r>
              <a:rPr lang="ja-JP" altLang="en-US" sz="1500" b="1" dirty="0">
                <a:solidFill>
                  <a:schemeClr val="tx1">
                    <a:lumMod val="50000"/>
                    <a:lumOff val="50000"/>
                  </a:schemeClr>
                </a:solidFill>
                <a:latin typeface="Meiryo" panose="020B0604030504040204" pitchFamily="34" charset="-128"/>
                <a:ea typeface="Meiryo" panose="020B0604030504040204" pitchFamily="34" charset="-128"/>
              </a:rPr>
              <a:t>施策切り出しでのご依頼、複数機能の導入によるディスカウント等の調整もご相談ください。</a:t>
            </a:r>
            <a:endParaRPr lang="en-US" altLang="ja-JP" sz="1400" b="1" dirty="0">
              <a:solidFill>
                <a:schemeClr val="tx1">
                  <a:lumMod val="50000"/>
                  <a:lumOff val="50000"/>
                </a:schemeClr>
              </a:solidFill>
              <a:latin typeface="Meiryo" panose="020B0604030504040204" pitchFamily="34" charset="-128"/>
              <a:ea typeface="Meiryo" panose="020B0604030504040204" pitchFamily="34" charset="-128"/>
            </a:endParaRPr>
          </a:p>
        </p:txBody>
      </p:sp>
    </p:spTree>
    <p:extLst>
      <p:ext uri="{BB962C8B-B14F-4D97-AF65-F5344CB8AC3E}">
        <p14:creationId xmlns:p14="http://schemas.microsoft.com/office/powerpoint/2010/main" val="1985544786"/>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A1EC9E0-2ED9-448E-0518-C4BB6687193B}"/>
            </a:ext>
          </a:extLst>
        </p:cNvPr>
        <p:cNvGrpSpPr/>
        <p:nvPr/>
      </p:nvGrpSpPr>
      <p:grpSpPr>
        <a:xfrm>
          <a:off x="0" y="0"/>
          <a:ext cx="0" cy="0"/>
          <a:chOff x="0" y="0"/>
          <a:chExt cx="0" cy="0"/>
        </a:xfrm>
      </p:grpSpPr>
      <p:sp>
        <p:nvSpPr>
          <p:cNvPr id="3" name="正方形/長方形 2">
            <a:extLst>
              <a:ext uri="{FF2B5EF4-FFF2-40B4-BE49-F238E27FC236}">
                <a16:creationId xmlns:a16="http://schemas.microsoft.com/office/drawing/2014/main" id="{BBA5CE5E-41EC-1762-2B4B-1C21C78DBE33}"/>
              </a:ext>
            </a:extLst>
          </p:cNvPr>
          <p:cNvSpPr/>
          <p:nvPr/>
        </p:nvSpPr>
        <p:spPr>
          <a:xfrm>
            <a:off x="0" y="577940"/>
            <a:ext cx="9906000" cy="812735"/>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kumimoji="1" lang="ja-JP" altLang="en-US">
              <a:latin typeface="メイリオ" panose="020B0604030504040204" pitchFamily="50" charset="-128"/>
              <a:ea typeface="メイリオ" panose="020B0604030504040204" pitchFamily="50" charset="-128"/>
            </a:endParaRPr>
          </a:p>
        </p:txBody>
      </p:sp>
      <p:sp>
        <p:nvSpPr>
          <p:cNvPr id="4" name="正方形/長方形 3">
            <a:extLst>
              <a:ext uri="{FF2B5EF4-FFF2-40B4-BE49-F238E27FC236}">
                <a16:creationId xmlns:a16="http://schemas.microsoft.com/office/drawing/2014/main" id="{7B94669E-0A81-5BCB-3602-33AE08C2923C}"/>
              </a:ext>
            </a:extLst>
          </p:cNvPr>
          <p:cNvSpPr/>
          <p:nvPr/>
        </p:nvSpPr>
        <p:spPr>
          <a:xfrm>
            <a:off x="379976" y="635062"/>
            <a:ext cx="9160881" cy="698492"/>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tIns="90000" anchor="ctr"/>
          <a:lstStyle/>
          <a:p>
            <a:pPr algn="ctr">
              <a:lnSpc>
                <a:spcPts val="2455"/>
              </a:lnSpc>
            </a:pPr>
            <a:endParaRPr lang="en-US" altLang="ja-JP" sz="1400" dirty="0">
              <a:solidFill>
                <a:srgbClr val="343434"/>
              </a:solidFill>
              <a:latin typeface="メイリオ" panose="020B0604030504040204" pitchFamily="50" charset="-128"/>
              <a:ea typeface="メイリオ" panose="020B0604030504040204" pitchFamily="50" charset="-128"/>
            </a:endParaRPr>
          </a:p>
        </p:txBody>
      </p:sp>
      <p:sp>
        <p:nvSpPr>
          <p:cNvPr id="45" name="Google Shape;156;p7">
            <a:extLst>
              <a:ext uri="{FF2B5EF4-FFF2-40B4-BE49-F238E27FC236}">
                <a16:creationId xmlns:a16="http://schemas.microsoft.com/office/drawing/2014/main" id="{6F74B94C-3E60-E212-F97E-79756D17F00D}"/>
              </a:ext>
            </a:extLst>
          </p:cNvPr>
          <p:cNvSpPr txBox="1"/>
          <p:nvPr/>
        </p:nvSpPr>
        <p:spPr>
          <a:xfrm>
            <a:off x="548883" y="138118"/>
            <a:ext cx="6514857" cy="338554"/>
          </a:xfrm>
          <a:prstGeom prst="rect">
            <a:avLst/>
          </a:prstGeom>
          <a:noFill/>
          <a:ln w="19050">
            <a:noFill/>
          </a:ln>
        </p:spPr>
        <p:txBody>
          <a:bodyPr spcFirstLastPara="1" wrap="square" lIns="91425" tIns="45700" rIns="91425" bIns="45700" anchor="ctr" anchorCtr="0">
            <a:spAutoFit/>
          </a:bodyPr>
          <a:lstStyle/>
          <a:p>
            <a:pPr lvl="0">
              <a:buClr>
                <a:srgbClr val="002060"/>
              </a:buClr>
              <a:buSzPts val="1600"/>
            </a:pPr>
            <a:r>
              <a:rPr lang="ja-JP" altLang="en-US" sz="1600" b="1" dirty="0">
                <a:solidFill>
                  <a:srgbClr val="002060"/>
                </a:solidFill>
                <a:latin typeface="Meiryo"/>
                <a:ea typeface="Meiryo"/>
                <a:cs typeface="Meiryo"/>
                <a:sym typeface="Meiryo"/>
              </a:rPr>
              <a:t>前提整理</a:t>
            </a:r>
          </a:p>
        </p:txBody>
      </p:sp>
      <p:sp>
        <p:nvSpPr>
          <p:cNvPr id="7" name="Shape 3">
            <a:extLst>
              <a:ext uri="{FF2B5EF4-FFF2-40B4-BE49-F238E27FC236}">
                <a16:creationId xmlns:a16="http://schemas.microsoft.com/office/drawing/2014/main" id="{05B92B5B-D67F-58CF-8CC2-331F749D479C}"/>
              </a:ext>
            </a:extLst>
          </p:cNvPr>
          <p:cNvSpPr/>
          <p:nvPr/>
        </p:nvSpPr>
        <p:spPr>
          <a:xfrm>
            <a:off x="847998" y="1814158"/>
            <a:ext cx="3818709" cy="1945766"/>
          </a:xfrm>
          <a:prstGeom prst="roundRect">
            <a:avLst>
              <a:gd name="adj" fmla="val 4255"/>
            </a:avLst>
          </a:prstGeom>
          <a:solidFill>
            <a:srgbClr val="FFFFFF"/>
          </a:solidFill>
          <a:ln w="12700">
            <a:solidFill>
              <a:srgbClr val="E1E5E7"/>
            </a:solidFill>
            <a:prstDash val="solid"/>
          </a:ln>
          <a:effectLst>
            <a:outerShdw blurRad="63500" dist="25400" dir="5400000" algn="bl" rotWithShape="0">
              <a:srgbClr val="808080">
                <a:alpha val="15000"/>
              </a:srgbClr>
            </a:outerShdw>
          </a:effectLst>
        </p:spPr>
        <p:txBody>
          <a:bodyPr/>
          <a:lstStyle/>
          <a:p>
            <a:endParaRPr lang="ja-JP" altLang="en-US">
              <a:latin typeface="メイリオ" panose="020B0604030504040204" pitchFamily="50" charset="-128"/>
              <a:ea typeface="メイリオ" panose="020B0604030504040204" pitchFamily="50" charset="-128"/>
            </a:endParaRPr>
          </a:p>
        </p:txBody>
      </p:sp>
      <p:sp>
        <p:nvSpPr>
          <p:cNvPr id="9" name="Shape 4">
            <a:extLst>
              <a:ext uri="{FF2B5EF4-FFF2-40B4-BE49-F238E27FC236}">
                <a16:creationId xmlns:a16="http://schemas.microsoft.com/office/drawing/2014/main" id="{84E1D0B6-1448-5A19-5CEB-FF4D5F46D6FC}"/>
              </a:ext>
            </a:extLst>
          </p:cNvPr>
          <p:cNvSpPr/>
          <p:nvPr/>
        </p:nvSpPr>
        <p:spPr>
          <a:xfrm>
            <a:off x="1076598" y="2105293"/>
            <a:ext cx="365268" cy="377851"/>
          </a:xfrm>
          <a:prstGeom prst="ellipse">
            <a:avLst/>
          </a:prstGeom>
          <a:solidFill>
            <a:srgbClr val="06C755"/>
          </a:solidFill>
          <a:ln/>
        </p:spPr>
        <p:txBody>
          <a:bodyPr anchor="ctr"/>
          <a:lstStyle/>
          <a:p>
            <a:pPr algn="ctr"/>
            <a:r>
              <a:rPr lang="en-US" altLang="ja-JP" sz="1300" dirty="0">
                <a:solidFill>
                  <a:schemeClr val="bg1"/>
                </a:solidFill>
                <a:latin typeface="メイリオ" panose="020B0604030504040204" pitchFamily="50" charset="-128"/>
                <a:ea typeface="メイリオ" panose="020B0604030504040204" pitchFamily="50" charset="-128"/>
              </a:rPr>
              <a:t>1</a:t>
            </a:r>
            <a:endParaRPr lang="ja-JP" altLang="en-US" sz="1200" dirty="0">
              <a:solidFill>
                <a:schemeClr val="bg1"/>
              </a:solidFill>
              <a:latin typeface="メイリオ" panose="020B0604030504040204" pitchFamily="50" charset="-128"/>
              <a:ea typeface="メイリオ" panose="020B0604030504040204" pitchFamily="50" charset="-128"/>
            </a:endParaRPr>
          </a:p>
        </p:txBody>
      </p:sp>
      <p:sp>
        <p:nvSpPr>
          <p:cNvPr id="13" name="Text 6">
            <a:extLst>
              <a:ext uri="{FF2B5EF4-FFF2-40B4-BE49-F238E27FC236}">
                <a16:creationId xmlns:a16="http://schemas.microsoft.com/office/drawing/2014/main" id="{7E87A6C6-A98D-9DBF-6D4A-E28F254E152A}"/>
              </a:ext>
            </a:extLst>
          </p:cNvPr>
          <p:cNvSpPr txBox="1"/>
          <p:nvPr/>
        </p:nvSpPr>
        <p:spPr>
          <a:xfrm>
            <a:off x="1716678" y="1997038"/>
            <a:ext cx="3021761" cy="365760"/>
          </a:xfrm>
          <a:prstGeom prst="rect">
            <a:avLst/>
          </a:prstGeom>
          <a:noFill/>
          <a:ln/>
        </p:spPr>
        <p:txBody>
          <a:bodyPr wrap="square" lIns="0" tIns="0" rIns="0" bIns="0" rtlCol="0" anchor="ctr"/>
          <a:lstStyle/>
          <a:p>
            <a:pPr marL="0" indent="0">
              <a:buNone/>
            </a:pPr>
            <a:r>
              <a:rPr lang="en-US" sz="1800" b="1" dirty="0">
                <a:solidFill>
                  <a:srgbClr val="1B3A4B"/>
                </a:solidFill>
                <a:latin typeface="メイリオ" panose="020B0604030504040204" pitchFamily="50" charset="-128"/>
                <a:ea typeface="メイリオ" panose="020B0604030504040204" pitchFamily="50" charset="-128"/>
                <a:cs typeface="Century Schoolbook" pitchFamily="34" charset="-120"/>
              </a:rPr>
              <a:t>友だち追加</a:t>
            </a:r>
            <a:endParaRPr lang="en-US" sz="1700" dirty="0">
              <a:latin typeface="メイリオ" panose="020B0604030504040204" pitchFamily="50" charset="-128"/>
              <a:ea typeface="メイリオ" panose="020B0604030504040204" pitchFamily="50" charset="-128"/>
            </a:endParaRPr>
          </a:p>
        </p:txBody>
      </p:sp>
      <p:sp>
        <p:nvSpPr>
          <p:cNvPr id="15" name="Text 7">
            <a:extLst>
              <a:ext uri="{FF2B5EF4-FFF2-40B4-BE49-F238E27FC236}">
                <a16:creationId xmlns:a16="http://schemas.microsoft.com/office/drawing/2014/main" id="{3D4AF8DD-9D51-A269-6557-0363B326A0A0}"/>
              </a:ext>
            </a:extLst>
          </p:cNvPr>
          <p:cNvSpPr txBox="1"/>
          <p:nvPr/>
        </p:nvSpPr>
        <p:spPr>
          <a:xfrm>
            <a:off x="1716678" y="2344510"/>
            <a:ext cx="3021761" cy="274320"/>
          </a:xfrm>
          <a:prstGeom prst="rect">
            <a:avLst/>
          </a:prstGeom>
          <a:noFill/>
          <a:ln/>
        </p:spPr>
        <p:txBody>
          <a:bodyPr wrap="square" lIns="0" tIns="0" rIns="0" bIns="0" rtlCol="0" anchor="ctr"/>
          <a:lstStyle/>
          <a:p>
            <a:pPr marL="0" indent="0">
              <a:buNone/>
            </a:pPr>
            <a:r>
              <a:rPr lang="en-US" sz="1200" b="1" dirty="0">
                <a:solidFill>
                  <a:srgbClr val="06C755"/>
                </a:solidFill>
                <a:latin typeface="メイリオ" panose="020B0604030504040204" pitchFamily="50" charset="-128"/>
                <a:ea typeface="メイリオ" panose="020B0604030504040204" pitchFamily="50" charset="-128"/>
                <a:cs typeface="Calibri" pitchFamily="34" charset="-120"/>
              </a:rPr>
              <a:t>接点を増やし母数を拡大</a:t>
            </a:r>
            <a:endParaRPr lang="en-US" sz="1100" dirty="0">
              <a:latin typeface="メイリオ" panose="020B0604030504040204" pitchFamily="50" charset="-128"/>
              <a:ea typeface="メイリオ" panose="020B0604030504040204" pitchFamily="50" charset="-128"/>
            </a:endParaRPr>
          </a:p>
        </p:txBody>
      </p:sp>
      <p:sp>
        <p:nvSpPr>
          <p:cNvPr id="17" name="Text 8">
            <a:extLst>
              <a:ext uri="{FF2B5EF4-FFF2-40B4-BE49-F238E27FC236}">
                <a16:creationId xmlns:a16="http://schemas.microsoft.com/office/drawing/2014/main" id="{006EDC0A-D1B3-1FB0-B41A-15583F5C13E9}"/>
              </a:ext>
            </a:extLst>
          </p:cNvPr>
          <p:cNvSpPr txBox="1"/>
          <p:nvPr/>
        </p:nvSpPr>
        <p:spPr>
          <a:xfrm>
            <a:off x="1122318" y="2774278"/>
            <a:ext cx="3420235" cy="1051560"/>
          </a:xfrm>
          <a:prstGeom prst="rect">
            <a:avLst/>
          </a:prstGeom>
          <a:noFill/>
          <a:ln/>
        </p:spPr>
        <p:txBody>
          <a:bodyPr wrap="square" lIns="0" tIns="0" rIns="0" bIns="0" rtlCol="0" anchor="t"/>
          <a:lstStyle/>
          <a:p>
            <a:pPr marL="0" indent="0">
              <a:lnSpc>
                <a:spcPts val="1600"/>
              </a:lnSpc>
              <a:buNone/>
            </a:pPr>
            <a:r>
              <a:rPr lang="en-US" sz="1300" dirty="0" err="1">
                <a:solidFill>
                  <a:srgbClr val="1F2937"/>
                </a:solidFill>
                <a:latin typeface="メイリオ" panose="020B0604030504040204" pitchFamily="50" charset="-128"/>
                <a:ea typeface="メイリオ" panose="020B0604030504040204" pitchFamily="50" charset="-128"/>
                <a:cs typeface="Calibri" pitchFamily="34" charset="-120"/>
              </a:rPr>
              <a:t>店頭・Web・同梱物など複数の接点から</a:t>
            </a:r>
            <a:r>
              <a:rPr lang="en-US" sz="1300" dirty="0">
                <a:solidFill>
                  <a:srgbClr val="1F2937"/>
                </a:solidFill>
                <a:latin typeface="メイリオ" panose="020B0604030504040204" pitchFamily="50" charset="-128"/>
                <a:ea typeface="メイリオ" panose="020B0604030504040204" pitchFamily="50" charset="-128"/>
                <a:cs typeface="Calibri" pitchFamily="34" charset="-120"/>
              </a:rPr>
              <a:t>、</a:t>
            </a:r>
          </a:p>
          <a:p>
            <a:pPr marL="0" indent="0">
              <a:lnSpc>
                <a:spcPts val="1600"/>
              </a:lnSpc>
              <a:buNone/>
            </a:pPr>
            <a:r>
              <a:rPr lang="en-US" sz="1300" dirty="0" err="1">
                <a:solidFill>
                  <a:srgbClr val="1F2937"/>
                </a:solidFill>
                <a:latin typeface="メイリオ" panose="020B0604030504040204" pitchFamily="50" charset="-128"/>
                <a:ea typeface="メイリオ" panose="020B0604030504040204" pitchFamily="50" charset="-128"/>
                <a:cs typeface="Calibri" pitchFamily="34" charset="-120"/>
              </a:rPr>
              <a:t>訴求とセットでLINE友だち登録へ誘導する</a:t>
            </a:r>
            <a:r>
              <a:rPr lang="en-US" sz="1300" dirty="0">
                <a:solidFill>
                  <a:srgbClr val="1F2937"/>
                </a:solidFill>
                <a:latin typeface="メイリオ" panose="020B0604030504040204" pitchFamily="50" charset="-128"/>
                <a:ea typeface="メイリオ" panose="020B0604030504040204" pitchFamily="50" charset="-128"/>
                <a:cs typeface="Calibri" pitchFamily="34" charset="-120"/>
              </a:rPr>
              <a:t>。</a:t>
            </a:r>
          </a:p>
        </p:txBody>
      </p:sp>
      <p:sp>
        <p:nvSpPr>
          <p:cNvPr id="19" name="Shape 9">
            <a:extLst>
              <a:ext uri="{FF2B5EF4-FFF2-40B4-BE49-F238E27FC236}">
                <a16:creationId xmlns:a16="http://schemas.microsoft.com/office/drawing/2014/main" id="{D46829D5-C4A7-00A2-EB59-4F0181ABF3E8}"/>
              </a:ext>
            </a:extLst>
          </p:cNvPr>
          <p:cNvSpPr/>
          <p:nvPr/>
        </p:nvSpPr>
        <p:spPr>
          <a:xfrm>
            <a:off x="5154385" y="1814158"/>
            <a:ext cx="3818709" cy="1945766"/>
          </a:xfrm>
          <a:prstGeom prst="roundRect">
            <a:avLst>
              <a:gd name="adj" fmla="val 4255"/>
            </a:avLst>
          </a:prstGeom>
          <a:solidFill>
            <a:srgbClr val="FFFFFF"/>
          </a:solidFill>
          <a:ln w="12700">
            <a:solidFill>
              <a:srgbClr val="E1E5E7"/>
            </a:solidFill>
            <a:prstDash val="solid"/>
          </a:ln>
          <a:effectLst>
            <a:outerShdw blurRad="63500" dist="25400" dir="5400000" algn="bl" rotWithShape="0">
              <a:srgbClr val="808080">
                <a:alpha val="15000"/>
              </a:srgbClr>
            </a:outerShdw>
          </a:effectLst>
        </p:spPr>
        <p:txBody>
          <a:bodyPr/>
          <a:lstStyle/>
          <a:p>
            <a:endParaRPr lang="ja-JP" altLang="en-US">
              <a:latin typeface="メイリオ" panose="020B0604030504040204" pitchFamily="50" charset="-128"/>
              <a:ea typeface="メイリオ" panose="020B0604030504040204" pitchFamily="50" charset="-128"/>
            </a:endParaRPr>
          </a:p>
        </p:txBody>
      </p:sp>
      <p:sp>
        <p:nvSpPr>
          <p:cNvPr id="21" name="Shape 10">
            <a:extLst>
              <a:ext uri="{FF2B5EF4-FFF2-40B4-BE49-F238E27FC236}">
                <a16:creationId xmlns:a16="http://schemas.microsoft.com/office/drawing/2014/main" id="{5F94C612-6888-B502-7823-012E190DAC5E}"/>
              </a:ext>
            </a:extLst>
          </p:cNvPr>
          <p:cNvSpPr/>
          <p:nvPr/>
        </p:nvSpPr>
        <p:spPr>
          <a:xfrm>
            <a:off x="5382985" y="2105293"/>
            <a:ext cx="365268" cy="377851"/>
          </a:xfrm>
          <a:prstGeom prst="ellipse">
            <a:avLst/>
          </a:prstGeom>
          <a:solidFill>
            <a:schemeClr val="accent5"/>
          </a:solidFill>
          <a:ln/>
        </p:spPr>
        <p:txBody>
          <a:bodyPr anchor="ctr"/>
          <a:lstStyle/>
          <a:p>
            <a:pPr algn="ctr"/>
            <a:r>
              <a:rPr lang="en-US" altLang="ja-JP" sz="1300" dirty="0">
                <a:solidFill>
                  <a:schemeClr val="bg1"/>
                </a:solidFill>
                <a:latin typeface="メイリオ" panose="020B0604030504040204" pitchFamily="50" charset="-128"/>
                <a:ea typeface="メイリオ" panose="020B0604030504040204" pitchFamily="50" charset="-128"/>
              </a:rPr>
              <a:t>2</a:t>
            </a:r>
            <a:endParaRPr lang="ja-JP" altLang="en-US" sz="1200" dirty="0">
              <a:solidFill>
                <a:schemeClr val="bg1"/>
              </a:solidFill>
              <a:latin typeface="メイリオ" panose="020B0604030504040204" pitchFamily="50" charset="-128"/>
              <a:ea typeface="メイリオ" panose="020B0604030504040204" pitchFamily="50" charset="-128"/>
            </a:endParaRPr>
          </a:p>
        </p:txBody>
      </p:sp>
      <p:sp>
        <p:nvSpPr>
          <p:cNvPr id="25" name="Text 12">
            <a:extLst>
              <a:ext uri="{FF2B5EF4-FFF2-40B4-BE49-F238E27FC236}">
                <a16:creationId xmlns:a16="http://schemas.microsoft.com/office/drawing/2014/main" id="{63279BBA-A879-BA09-E7B2-0716F8DB89DB}"/>
              </a:ext>
            </a:extLst>
          </p:cNvPr>
          <p:cNvSpPr txBox="1"/>
          <p:nvPr/>
        </p:nvSpPr>
        <p:spPr>
          <a:xfrm>
            <a:off x="6023065" y="1997038"/>
            <a:ext cx="3021761" cy="365760"/>
          </a:xfrm>
          <a:prstGeom prst="rect">
            <a:avLst/>
          </a:prstGeom>
          <a:noFill/>
          <a:ln/>
        </p:spPr>
        <p:txBody>
          <a:bodyPr wrap="square" lIns="0" tIns="0" rIns="0" bIns="0" rtlCol="0" anchor="ctr"/>
          <a:lstStyle/>
          <a:p>
            <a:pPr marL="0" indent="0">
              <a:buNone/>
            </a:pPr>
            <a:r>
              <a:rPr lang="en-US" sz="1800" b="1" dirty="0">
                <a:solidFill>
                  <a:srgbClr val="1B3A4B"/>
                </a:solidFill>
                <a:latin typeface="メイリオ" panose="020B0604030504040204" pitchFamily="50" charset="-128"/>
                <a:ea typeface="メイリオ" panose="020B0604030504040204" pitchFamily="50" charset="-128"/>
                <a:cs typeface="Century Schoolbook" pitchFamily="34" charset="-120"/>
              </a:rPr>
              <a:t>効率改善（配信）</a:t>
            </a:r>
            <a:endParaRPr lang="en-US" sz="1700" dirty="0">
              <a:latin typeface="メイリオ" panose="020B0604030504040204" pitchFamily="50" charset="-128"/>
              <a:ea typeface="メイリオ" panose="020B0604030504040204" pitchFamily="50" charset="-128"/>
            </a:endParaRPr>
          </a:p>
        </p:txBody>
      </p:sp>
      <p:sp>
        <p:nvSpPr>
          <p:cNvPr id="27" name="Text 13">
            <a:extLst>
              <a:ext uri="{FF2B5EF4-FFF2-40B4-BE49-F238E27FC236}">
                <a16:creationId xmlns:a16="http://schemas.microsoft.com/office/drawing/2014/main" id="{B2834EBB-F184-C52C-D6A4-B76283F84E90}"/>
              </a:ext>
            </a:extLst>
          </p:cNvPr>
          <p:cNvSpPr txBox="1"/>
          <p:nvPr/>
        </p:nvSpPr>
        <p:spPr>
          <a:xfrm>
            <a:off x="6023065" y="2344510"/>
            <a:ext cx="3021761" cy="274320"/>
          </a:xfrm>
          <a:prstGeom prst="rect">
            <a:avLst/>
          </a:prstGeom>
          <a:noFill/>
          <a:ln/>
        </p:spPr>
        <p:txBody>
          <a:bodyPr wrap="square" lIns="0" tIns="0" rIns="0" bIns="0" rtlCol="0" anchor="ctr"/>
          <a:lstStyle/>
          <a:p>
            <a:pPr marL="0" indent="0">
              <a:buNone/>
            </a:pPr>
            <a:r>
              <a:rPr lang="en-US" sz="1200" b="1" dirty="0">
                <a:solidFill>
                  <a:schemeClr val="accent5"/>
                </a:solidFill>
                <a:latin typeface="メイリオ" panose="020B0604030504040204" pitchFamily="50" charset="-128"/>
                <a:ea typeface="メイリオ" panose="020B0604030504040204" pitchFamily="50" charset="-128"/>
                <a:cs typeface="Calibri" pitchFamily="34" charset="-120"/>
              </a:rPr>
              <a:t>ステップ配信・企画配信の設計</a:t>
            </a:r>
            <a:endParaRPr lang="en-US" sz="1100" dirty="0">
              <a:solidFill>
                <a:schemeClr val="accent5"/>
              </a:solidFill>
              <a:latin typeface="メイリオ" panose="020B0604030504040204" pitchFamily="50" charset="-128"/>
              <a:ea typeface="メイリオ" panose="020B0604030504040204" pitchFamily="50" charset="-128"/>
            </a:endParaRPr>
          </a:p>
        </p:txBody>
      </p:sp>
      <p:sp>
        <p:nvSpPr>
          <p:cNvPr id="29" name="Text 14">
            <a:extLst>
              <a:ext uri="{FF2B5EF4-FFF2-40B4-BE49-F238E27FC236}">
                <a16:creationId xmlns:a16="http://schemas.microsoft.com/office/drawing/2014/main" id="{57B1EDEB-4BA3-D781-8DE2-68F5F4A20A81}"/>
              </a:ext>
            </a:extLst>
          </p:cNvPr>
          <p:cNvSpPr txBox="1"/>
          <p:nvPr/>
        </p:nvSpPr>
        <p:spPr>
          <a:xfrm>
            <a:off x="5428705" y="2774278"/>
            <a:ext cx="3420235" cy="1051560"/>
          </a:xfrm>
          <a:prstGeom prst="rect">
            <a:avLst/>
          </a:prstGeom>
          <a:noFill/>
          <a:ln/>
        </p:spPr>
        <p:txBody>
          <a:bodyPr wrap="square" lIns="0" tIns="0" rIns="0" bIns="0" rtlCol="0" anchor="t"/>
          <a:lstStyle/>
          <a:p>
            <a:pPr marL="0" indent="0">
              <a:lnSpc>
                <a:spcPts val="1600"/>
              </a:lnSpc>
              <a:buNone/>
            </a:pPr>
            <a:r>
              <a:rPr lang="en-US" sz="1300" dirty="0" err="1">
                <a:solidFill>
                  <a:srgbClr val="1F2937"/>
                </a:solidFill>
                <a:latin typeface="メイリオ" panose="020B0604030504040204" pitchFamily="50" charset="-128"/>
                <a:ea typeface="メイリオ" panose="020B0604030504040204" pitchFamily="50" charset="-128"/>
                <a:cs typeface="Calibri" pitchFamily="34" charset="-120"/>
              </a:rPr>
              <a:t>登録後の自動ステップ配信と、セグメント別の企画配信で、開封〜CVまでの導線を最適化する。</a:t>
            </a:r>
            <a:endParaRPr lang="en-US" sz="1200" dirty="0">
              <a:solidFill>
                <a:srgbClr val="1F2937"/>
              </a:solidFill>
              <a:latin typeface="メイリオ" panose="020B0604030504040204" pitchFamily="50" charset="-128"/>
              <a:ea typeface="メイリオ" panose="020B0604030504040204" pitchFamily="50" charset="-128"/>
              <a:cs typeface="Calibri" pitchFamily="34" charset="-120"/>
            </a:endParaRPr>
          </a:p>
        </p:txBody>
      </p:sp>
      <p:sp>
        <p:nvSpPr>
          <p:cNvPr id="31" name="Shape 15">
            <a:extLst>
              <a:ext uri="{FF2B5EF4-FFF2-40B4-BE49-F238E27FC236}">
                <a16:creationId xmlns:a16="http://schemas.microsoft.com/office/drawing/2014/main" id="{756ECCA6-F7D5-C161-4122-409E50DB0B3A}"/>
              </a:ext>
            </a:extLst>
          </p:cNvPr>
          <p:cNvSpPr/>
          <p:nvPr/>
        </p:nvSpPr>
        <p:spPr>
          <a:xfrm>
            <a:off x="847998" y="3915103"/>
            <a:ext cx="3818709" cy="1945766"/>
          </a:xfrm>
          <a:prstGeom prst="roundRect">
            <a:avLst>
              <a:gd name="adj" fmla="val 4255"/>
            </a:avLst>
          </a:prstGeom>
          <a:solidFill>
            <a:srgbClr val="FFFFFF"/>
          </a:solidFill>
          <a:ln w="12700">
            <a:solidFill>
              <a:srgbClr val="E1E5E7"/>
            </a:solidFill>
            <a:prstDash val="solid"/>
          </a:ln>
          <a:effectLst>
            <a:outerShdw blurRad="63500" dist="25400" dir="5400000" algn="bl" rotWithShape="0">
              <a:srgbClr val="808080">
                <a:alpha val="15000"/>
              </a:srgbClr>
            </a:outerShdw>
          </a:effectLst>
        </p:spPr>
        <p:txBody>
          <a:bodyPr/>
          <a:lstStyle/>
          <a:p>
            <a:endParaRPr lang="ja-JP" altLang="en-US">
              <a:latin typeface="メイリオ" panose="020B0604030504040204" pitchFamily="50" charset="-128"/>
              <a:ea typeface="メイリオ" panose="020B0604030504040204" pitchFamily="50" charset="-128"/>
            </a:endParaRPr>
          </a:p>
        </p:txBody>
      </p:sp>
      <p:sp>
        <p:nvSpPr>
          <p:cNvPr id="33" name="Shape 16">
            <a:extLst>
              <a:ext uri="{FF2B5EF4-FFF2-40B4-BE49-F238E27FC236}">
                <a16:creationId xmlns:a16="http://schemas.microsoft.com/office/drawing/2014/main" id="{752C3BA3-61AC-9915-5565-38F14554F3BD}"/>
              </a:ext>
            </a:extLst>
          </p:cNvPr>
          <p:cNvSpPr/>
          <p:nvPr/>
        </p:nvSpPr>
        <p:spPr>
          <a:xfrm>
            <a:off x="1076598" y="4206238"/>
            <a:ext cx="365268" cy="377851"/>
          </a:xfrm>
          <a:prstGeom prst="ellipse">
            <a:avLst/>
          </a:prstGeom>
          <a:solidFill>
            <a:schemeClr val="accent1"/>
          </a:solidFill>
          <a:ln/>
        </p:spPr>
        <p:txBody>
          <a:bodyPr anchor="ctr"/>
          <a:lstStyle/>
          <a:p>
            <a:pPr algn="ctr"/>
            <a:r>
              <a:rPr lang="en-US" altLang="ja-JP" sz="1300" dirty="0">
                <a:solidFill>
                  <a:schemeClr val="bg1"/>
                </a:solidFill>
                <a:latin typeface="メイリオ" panose="020B0604030504040204" pitchFamily="50" charset="-128"/>
                <a:ea typeface="メイリオ" panose="020B0604030504040204" pitchFamily="50" charset="-128"/>
              </a:rPr>
              <a:t>3</a:t>
            </a:r>
            <a:endParaRPr lang="ja-JP" altLang="en-US" sz="1200" dirty="0">
              <a:solidFill>
                <a:schemeClr val="bg1"/>
              </a:solidFill>
              <a:latin typeface="メイリオ" panose="020B0604030504040204" pitchFamily="50" charset="-128"/>
              <a:ea typeface="メイリオ" panose="020B0604030504040204" pitchFamily="50" charset="-128"/>
            </a:endParaRPr>
          </a:p>
        </p:txBody>
      </p:sp>
      <p:sp>
        <p:nvSpPr>
          <p:cNvPr id="37" name="Text 18">
            <a:extLst>
              <a:ext uri="{FF2B5EF4-FFF2-40B4-BE49-F238E27FC236}">
                <a16:creationId xmlns:a16="http://schemas.microsoft.com/office/drawing/2014/main" id="{23D1E819-C691-D0D7-BE43-A76BB729138D}"/>
              </a:ext>
            </a:extLst>
          </p:cNvPr>
          <p:cNvSpPr txBox="1"/>
          <p:nvPr/>
        </p:nvSpPr>
        <p:spPr>
          <a:xfrm>
            <a:off x="1716678" y="4097983"/>
            <a:ext cx="3021761" cy="365760"/>
          </a:xfrm>
          <a:prstGeom prst="rect">
            <a:avLst/>
          </a:prstGeom>
          <a:noFill/>
          <a:ln/>
        </p:spPr>
        <p:txBody>
          <a:bodyPr wrap="square" lIns="0" tIns="0" rIns="0" bIns="0" rtlCol="0" anchor="ctr"/>
          <a:lstStyle/>
          <a:p>
            <a:pPr marL="0" indent="0">
              <a:buNone/>
            </a:pPr>
            <a:r>
              <a:rPr lang="en-US" sz="1800" b="1" dirty="0">
                <a:solidFill>
                  <a:srgbClr val="1B3A4B"/>
                </a:solidFill>
                <a:latin typeface="メイリオ" panose="020B0604030504040204" pitchFamily="50" charset="-128"/>
                <a:ea typeface="メイリオ" panose="020B0604030504040204" pitchFamily="50" charset="-128"/>
                <a:cs typeface="Century Schoolbook" pitchFamily="34" charset="-120"/>
              </a:rPr>
              <a:t>満足度改善（ユーザー）</a:t>
            </a:r>
            <a:endParaRPr lang="en-US" sz="1700" dirty="0">
              <a:latin typeface="メイリオ" panose="020B0604030504040204" pitchFamily="50" charset="-128"/>
              <a:ea typeface="メイリオ" panose="020B0604030504040204" pitchFamily="50" charset="-128"/>
            </a:endParaRPr>
          </a:p>
        </p:txBody>
      </p:sp>
      <p:sp>
        <p:nvSpPr>
          <p:cNvPr id="40" name="Text 19">
            <a:extLst>
              <a:ext uri="{FF2B5EF4-FFF2-40B4-BE49-F238E27FC236}">
                <a16:creationId xmlns:a16="http://schemas.microsoft.com/office/drawing/2014/main" id="{82D0FC0F-1D31-300C-7AB1-D0912A7E029E}"/>
              </a:ext>
            </a:extLst>
          </p:cNvPr>
          <p:cNvSpPr txBox="1"/>
          <p:nvPr/>
        </p:nvSpPr>
        <p:spPr>
          <a:xfrm>
            <a:off x="1716678" y="4445455"/>
            <a:ext cx="3021761" cy="274320"/>
          </a:xfrm>
          <a:prstGeom prst="rect">
            <a:avLst/>
          </a:prstGeom>
          <a:noFill/>
          <a:ln/>
        </p:spPr>
        <p:txBody>
          <a:bodyPr wrap="square" lIns="0" tIns="0" rIns="0" bIns="0" rtlCol="0" anchor="ctr"/>
          <a:lstStyle/>
          <a:p>
            <a:pPr marL="0" indent="0">
              <a:buNone/>
            </a:pPr>
            <a:r>
              <a:rPr lang="en-US" sz="1200" b="1" dirty="0">
                <a:solidFill>
                  <a:schemeClr val="accent1"/>
                </a:solidFill>
                <a:latin typeface="メイリオ" panose="020B0604030504040204" pitchFamily="50" charset="-128"/>
                <a:ea typeface="メイリオ" panose="020B0604030504040204" pitchFamily="50" charset="-128"/>
                <a:cs typeface="Calibri" pitchFamily="34" charset="-120"/>
              </a:rPr>
              <a:t>QA自動化・個別対応の強化</a:t>
            </a:r>
            <a:endParaRPr lang="en-US" sz="1100" dirty="0">
              <a:solidFill>
                <a:schemeClr val="accent1"/>
              </a:solidFill>
              <a:latin typeface="メイリオ" panose="020B0604030504040204" pitchFamily="50" charset="-128"/>
              <a:ea typeface="メイリオ" panose="020B0604030504040204" pitchFamily="50" charset="-128"/>
            </a:endParaRPr>
          </a:p>
        </p:txBody>
      </p:sp>
      <p:sp>
        <p:nvSpPr>
          <p:cNvPr id="44" name="Text 20">
            <a:extLst>
              <a:ext uri="{FF2B5EF4-FFF2-40B4-BE49-F238E27FC236}">
                <a16:creationId xmlns:a16="http://schemas.microsoft.com/office/drawing/2014/main" id="{DDC03FE7-3F21-E248-3ACE-D83BF971AA2D}"/>
              </a:ext>
            </a:extLst>
          </p:cNvPr>
          <p:cNvSpPr txBox="1"/>
          <p:nvPr/>
        </p:nvSpPr>
        <p:spPr>
          <a:xfrm>
            <a:off x="1122318" y="4875223"/>
            <a:ext cx="3420235" cy="1051560"/>
          </a:xfrm>
          <a:prstGeom prst="rect">
            <a:avLst/>
          </a:prstGeom>
          <a:noFill/>
          <a:ln/>
        </p:spPr>
        <p:txBody>
          <a:bodyPr wrap="square" lIns="0" tIns="0" rIns="0" bIns="0" rtlCol="0" anchor="t"/>
          <a:lstStyle/>
          <a:p>
            <a:pPr marL="0" indent="0">
              <a:lnSpc>
                <a:spcPts val="1600"/>
              </a:lnSpc>
              <a:buNone/>
            </a:pPr>
            <a:r>
              <a:rPr lang="en-US" sz="1300" dirty="0" err="1">
                <a:solidFill>
                  <a:srgbClr val="1F2937"/>
                </a:solidFill>
                <a:latin typeface="メイリオ" panose="020B0604030504040204" pitchFamily="50" charset="-128"/>
                <a:ea typeface="メイリオ" panose="020B0604030504040204" pitchFamily="50" charset="-128"/>
                <a:cs typeface="Calibri" pitchFamily="34" charset="-120"/>
              </a:rPr>
              <a:t>よくある質問への自動応答と、必要な場面での個別チャット対応でユーザー体験を向上させる。</a:t>
            </a:r>
            <a:endParaRPr lang="en-US" sz="1200" dirty="0">
              <a:solidFill>
                <a:srgbClr val="1F2937"/>
              </a:solidFill>
              <a:latin typeface="メイリオ" panose="020B0604030504040204" pitchFamily="50" charset="-128"/>
              <a:ea typeface="メイリオ" panose="020B0604030504040204" pitchFamily="50" charset="-128"/>
              <a:cs typeface="Calibri" pitchFamily="34" charset="-120"/>
            </a:endParaRPr>
          </a:p>
        </p:txBody>
      </p:sp>
      <p:sp>
        <p:nvSpPr>
          <p:cNvPr id="49" name="Shape 21">
            <a:extLst>
              <a:ext uri="{FF2B5EF4-FFF2-40B4-BE49-F238E27FC236}">
                <a16:creationId xmlns:a16="http://schemas.microsoft.com/office/drawing/2014/main" id="{82BACBFF-FBAA-0B5D-6800-119BCE06D8E4}"/>
              </a:ext>
            </a:extLst>
          </p:cNvPr>
          <p:cNvSpPr/>
          <p:nvPr/>
        </p:nvSpPr>
        <p:spPr>
          <a:xfrm>
            <a:off x="5154385" y="3915103"/>
            <a:ext cx="3818709" cy="1945766"/>
          </a:xfrm>
          <a:prstGeom prst="roundRect">
            <a:avLst>
              <a:gd name="adj" fmla="val 4255"/>
            </a:avLst>
          </a:prstGeom>
          <a:solidFill>
            <a:srgbClr val="FFFFFF"/>
          </a:solidFill>
          <a:ln w="12700">
            <a:solidFill>
              <a:srgbClr val="E1E5E7"/>
            </a:solidFill>
            <a:prstDash val="solid"/>
          </a:ln>
          <a:effectLst>
            <a:outerShdw blurRad="63500" dist="25400" dir="5400000" algn="bl" rotWithShape="0">
              <a:srgbClr val="808080">
                <a:alpha val="15000"/>
              </a:srgbClr>
            </a:outerShdw>
          </a:effectLst>
        </p:spPr>
        <p:txBody>
          <a:bodyPr/>
          <a:lstStyle/>
          <a:p>
            <a:endParaRPr lang="ja-JP" altLang="en-US">
              <a:latin typeface="メイリオ" panose="020B0604030504040204" pitchFamily="50" charset="-128"/>
              <a:ea typeface="メイリオ" panose="020B0604030504040204" pitchFamily="50" charset="-128"/>
            </a:endParaRPr>
          </a:p>
        </p:txBody>
      </p:sp>
      <p:sp>
        <p:nvSpPr>
          <p:cNvPr id="53" name="Shape 22">
            <a:extLst>
              <a:ext uri="{FF2B5EF4-FFF2-40B4-BE49-F238E27FC236}">
                <a16:creationId xmlns:a16="http://schemas.microsoft.com/office/drawing/2014/main" id="{06D0A506-C06B-2472-7C9A-C6A3F8F4DE0C}"/>
              </a:ext>
            </a:extLst>
          </p:cNvPr>
          <p:cNvSpPr/>
          <p:nvPr/>
        </p:nvSpPr>
        <p:spPr>
          <a:xfrm>
            <a:off x="5382985" y="4206238"/>
            <a:ext cx="365268" cy="377851"/>
          </a:xfrm>
          <a:prstGeom prst="ellipse">
            <a:avLst/>
          </a:prstGeom>
          <a:solidFill>
            <a:srgbClr val="2C5364"/>
          </a:solidFill>
          <a:ln/>
        </p:spPr>
        <p:txBody>
          <a:bodyPr anchor="ctr"/>
          <a:lstStyle/>
          <a:p>
            <a:pPr algn="ctr"/>
            <a:r>
              <a:rPr lang="en-US" altLang="ja-JP" sz="1300" dirty="0">
                <a:solidFill>
                  <a:schemeClr val="bg1"/>
                </a:solidFill>
                <a:latin typeface="メイリオ" panose="020B0604030504040204" pitchFamily="50" charset="-128"/>
                <a:ea typeface="メイリオ" panose="020B0604030504040204" pitchFamily="50" charset="-128"/>
              </a:rPr>
              <a:t>4</a:t>
            </a:r>
            <a:endParaRPr lang="ja-JP" altLang="en-US" sz="1200" dirty="0">
              <a:solidFill>
                <a:schemeClr val="bg1"/>
              </a:solidFill>
              <a:latin typeface="メイリオ" panose="020B0604030504040204" pitchFamily="50" charset="-128"/>
              <a:ea typeface="メイリオ" panose="020B0604030504040204" pitchFamily="50" charset="-128"/>
            </a:endParaRPr>
          </a:p>
        </p:txBody>
      </p:sp>
      <p:sp>
        <p:nvSpPr>
          <p:cNvPr id="61" name="Text 24">
            <a:extLst>
              <a:ext uri="{FF2B5EF4-FFF2-40B4-BE49-F238E27FC236}">
                <a16:creationId xmlns:a16="http://schemas.microsoft.com/office/drawing/2014/main" id="{7E387CA0-ACAD-6B69-2324-44C6B8151A62}"/>
              </a:ext>
            </a:extLst>
          </p:cNvPr>
          <p:cNvSpPr txBox="1"/>
          <p:nvPr/>
        </p:nvSpPr>
        <p:spPr>
          <a:xfrm>
            <a:off x="6023065" y="4097983"/>
            <a:ext cx="3021761" cy="365760"/>
          </a:xfrm>
          <a:prstGeom prst="rect">
            <a:avLst/>
          </a:prstGeom>
          <a:noFill/>
          <a:ln/>
        </p:spPr>
        <p:txBody>
          <a:bodyPr wrap="square" lIns="0" tIns="0" rIns="0" bIns="0" rtlCol="0" anchor="ctr"/>
          <a:lstStyle/>
          <a:p>
            <a:pPr marL="0" indent="0">
              <a:buNone/>
            </a:pPr>
            <a:r>
              <a:rPr lang="en-US" sz="1800" b="1" dirty="0">
                <a:solidFill>
                  <a:srgbClr val="1B3A4B"/>
                </a:solidFill>
                <a:latin typeface="メイリオ" panose="020B0604030504040204" pitchFamily="50" charset="-128"/>
                <a:ea typeface="メイリオ" panose="020B0604030504040204" pitchFamily="50" charset="-128"/>
                <a:cs typeface="Century Schoolbook" pitchFamily="34" charset="-120"/>
              </a:rPr>
              <a:t>効率改善（管理側）</a:t>
            </a:r>
            <a:endParaRPr lang="en-US" sz="1700" dirty="0">
              <a:latin typeface="メイリオ" panose="020B0604030504040204" pitchFamily="50" charset="-128"/>
              <a:ea typeface="メイリオ" panose="020B0604030504040204" pitchFamily="50" charset="-128"/>
            </a:endParaRPr>
          </a:p>
        </p:txBody>
      </p:sp>
      <p:sp>
        <p:nvSpPr>
          <p:cNvPr id="65" name="Text 25">
            <a:extLst>
              <a:ext uri="{FF2B5EF4-FFF2-40B4-BE49-F238E27FC236}">
                <a16:creationId xmlns:a16="http://schemas.microsoft.com/office/drawing/2014/main" id="{DD4F65C4-8B59-E246-52A4-392800008403}"/>
              </a:ext>
            </a:extLst>
          </p:cNvPr>
          <p:cNvSpPr txBox="1"/>
          <p:nvPr/>
        </p:nvSpPr>
        <p:spPr>
          <a:xfrm>
            <a:off x="6023065" y="4445455"/>
            <a:ext cx="3021761" cy="274320"/>
          </a:xfrm>
          <a:prstGeom prst="rect">
            <a:avLst/>
          </a:prstGeom>
          <a:noFill/>
          <a:ln/>
        </p:spPr>
        <p:txBody>
          <a:bodyPr wrap="square" lIns="0" tIns="0" rIns="0" bIns="0" rtlCol="0" anchor="ctr"/>
          <a:lstStyle/>
          <a:p>
            <a:pPr marL="0" indent="0">
              <a:buNone/>
            </a:pPr>
            <a:r>
              <a:rPr lang="en-US" sz="1200" b="1" dirty="0">
                <a:solidFill>
                  <a:srgbClr val="2C5364"/>
                </a:solidFill>
                <a:latin typeface="メイリオ" panose="020B0604030504040204" pitchFamily="50" charset="-128"/>
                <a:ea typeface="メイリオ" panose="020B0604030504040204" pitchFamily="50" charset="-128"/>
                <a:cs typeface="Calibri" pitchFamily="34" charset="-120"/>
              </a:rPr>
              <a:t>自動応答・運用負荷の軽減</a:t>
            </a:r>
            <a:endParaRPr lang="en-US" sz="1100" dirty="0">
              <a:latin typeface="メイリオ" panose="020B0604030504040204" pitchFamily="50" charset="-128"/>
              <a:ea typeface="メイリオ" panose="020B0604030504040204" pitchFamily="50" charset="-128"/>
            </a:endParaRPr>
          </a:p>
        </p:txBody>
      </p:sp>
      <p:sp>
        <p:nvSpPr>
          <p:cNvPr id="69" name="Text 26">
            <a:extLst>
              <a:ext uri="{FF2B5EF4-FFF2-40B4-BE49-F238E27FC236}">
                <a16:creationId xmlns:a16="http://schemas.microsoft.com/office/drawing/2014/main" id="{BF1F9D45-7BE1-B51C-A85A-C438E8EC236C}"/>
              </a:ext>
            </a:extLst>
          </p:cNvPr>
          <p:cNvSpPr txBox="1"/>
          <p:nvPr/>
        </p:nvSpPr>
        <p:spPr>
          <a:xfrm>
            <a:off x="5428705" y="4875223"/>
            <a:ext cx="3420235" cy="1051560"/>
          </a:xfrm>
          <a:prstGeom prst="rect">
            <a:avLst/>
          </a:prstGeom>
          <a:noFill/>
          <a:ln/>
        </p:spPr>
        <p:txBody>
          <a:bodyPr wrap="square" lIns="0" tIns="0" rIns="0" bIns="0" rtlCol="0" anchor="t"/>
          <a:lstStyle/>
          <a:p>
            <a:pPr marL="0" indent="0">
              <a:lnSpc>
                <a:spcPts val="1600"/>
              </a:lnSpc>
              <a:buNone/>
            </a:pPr>
            <a:r>
              <a:rPr lang="en-US" sz="1300" dirty="0">
                <a:solidFill>
                  <a:srgbClr val="1F2937"/>
                </a:solidFill>
                <a:latin typeface="メイリオ" panose="020B0604030504040204" pitchFamily="50" charset="-128"/>
                <a:ea typeface="メイリオ" panose="020B0604030504040204" pitchFamily="50" charset="-128"/>
                <a:cs typeface="Calibri" pitchFamily="34" charset="-120"/>
              </a:rPr>
              <a:t>自動応答の仕組み化や運用フローの整備により、管理側の対応工数を削減する。</a:t>
            </a:r>
            <a:endParaRPr lang="en-US" sz="1200" dirty="0">
              <a:latin typeface="メイリオ" panose="020B0604030504040204" pitchFamily="50" charset="-128"/>
              <a:ea typeface="メイリオ" panose="020B0604030504040204" pitchFamily="50" charset="-128"/>
            </a:endParaRPr>
          </a:p>
        </p:txBody>
      </p:sp>
      <p:sp>
        <p:nvSpPr>
          <p:cNvPr id="73" name="テキスト ボックス 72">
            <a:extLst>
              <a:ext uri="{FF2B5EF4-FFF2-40B4-BE49-F238E27FC236}">
                <a16:creationId xmlns:a16="http://schemas.microsoft.com/office/drawing/2014/main" id="{C1E39E92-BE3C-9C91-B84F-53B25B9196F1}"/>
              </a:ext>
            </a:extLst>
          </p:cNvPr>
          <p:cNvSpPr txBox="1"/>
          <p:nvPr/>
        </p:nvSpPr>
        <p:spPr>
          <a:xfrm>
            <a:off x="561786" y="882657"/>
            <a:ext cx="8797260" cy="523220"/>
          </a:xfrm>
          <a:prstGeom prst="rect">
            <a:avLst/>
          </a:prstGeom>
          <a:noFill/>
        </p:spPr>
        <p:txBody>
          <a:bodyPr wrap="square">
            <a:spAutoFit/>
          </a:bodyPr>
          <a:lstStyle/>
          <a:p>
            <a:pPr algn="ctr"/>
            <a:r>
              <a:rPr lang="en-US" altLang="ja-JP" sz="1500" b="1" dirty="0">
                <a:solidFill>
                  <a:schemeClr val="tx1">
                    <a:lumMod val="50000"/>
                    <a:lumOff val="50000"/>
                  </a:schemeClr>
                </a:solidFill>
                <a:latin typeface="Meiryo" panose="020B0604030504040204" pitchFamily="34" charset="-128"/>
                <a:ea typeface="Meiryo" panose="020B0604030504040204" pitchFamily="34" charset="-128"/>
              </a:rPr>
              <a:t>DYM</a:t>
            </a:r>
            <a:r>
              <a:rPr lang="ja-JP" altLang="en-US" sz="1500" b="1" dirty="0">
                <a:solidFill>
                  <a:schemeClr val="tx1">
                    <a:lumMod val="50000"/>
                    <a:lumOff val="50000"/>
                  </a:schemeClr>
                </a:solidFill>
                <a:latin typeface="Meiryo" panose="020B0604030504040204" pitchFamily="34" charset="-128"/>
                <a:ea typeface="Meiryo" panose="020B0604030504040204" pitchFamily="34" charset="-128"/>
              </a:rPr>
              <a:t>では基本的に①②の施策を中心に展開させていただきながら、</a:t>
            </a:r>
            <a:endParaRPr lang="en-US" altLang="ja-JP" sz="1400" b="1" dirty="0">
              <a:solidFill>
                <a:schemeClr val="tx1">
                  <a:lumMod val="50000"/>
                  <a:lumOff val="50000"/>
                </a:schemeClr>
              </a:solidFill>
              <a:latin typeface="Meiryo" panose="020B0604030504040204" pitchFamily="34" charset="-128"/>
              <a:ea typeface="Meiryo" panose="020B0604030504040204" pitchFamily="34" charset="-128"/>
            </a:endParaRPr>
          </a:p>
          <a:p>
            <a:pPr algn="ctr"/>
            <a:r>
              <a:rPr lang="ja-JP" altLang="en-US" sz="1500" b="1" dirty="0">
                <a:solidFill>
                  <a:schemeClr val="tx1">
                    <a:lumMod val="50000"/>
                    <a:lumOff val="50000"/>
                  </a:schemeClr>
                </a:solidFill>
                <a:latin typeface="Meiryo" panose="020B0604030504040204" pitchFamily="34" charset="-128"/>
                <a:ea typeface="Meiryo" panose="020B0604030504040204" pitchFamily="34" charset="-128"/>
              </a:rPr>
              <a:t>事業会社ならではの③④におけるノウハウ共有等が可能です。</a:t>
            </a:r>
            <a:endParaRPr lang="en-US" altLang="ja-JP" sz="1400" b="1" dirty="0">
              <a:solidFill>
                <a:schemeClr val="tx1">
                  <a:lumMod val="50000"/>
                  <a:lumOff val="50000"/>
                </a:schemeClr>
              </a:solidFill>
              <a:latin typeface="Meiryo" panose="020B0604030504040204" pitchFamily="34" charset="-128"/>
              <a:ea typeface="Meiryo" panose="020B0604030504040204" pitchFamily="34" charset="-128"/>
            </a:endParaRPr>
          </a:p>
        </p:txBody>
      </p:sp>
    </p:spTree>
    <p:extLst>
      <p:ext uri="{BB962C8B-B14F-4D97-AF65-F5344CB8AC3E}">
        <p14:creationId xmlns:p14="http://schemas.microsoft.com/office/powerpoint/2010/main" val="3797552983"/>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A47C615-BEE8-3B16-A209-225180EB573F}"/>
            </a:ext>
          </a:extLst>
        </p:cNvPr>
        <p:cNvGrpSpPr/>
        <p:nvPr/>
      </p:nvGrpSpPr>
      <p:grpSpPr>
        <a:xfrm>
          <a:off x="0" y="0"/>
          <a:ext cx="0" cy="0"/>
          <a:chOff x="0" y="0"/>
          <a:chExt cx="0" cy="0"/>
        </a:xfrm>
      </p:grpSpPr>
      <p:sp>
        <p:nvSpPr>
          <p:cNvPr id="3" name="正方形/長方形 2">
            <a:extLst>
              <a:ext uri="{FF2B5EF4-FFF2-40B4-BE49-F238E27FC236}">
                <a16:creationId xmlns:a16="http://schemas.microsoft.com/office/drawing/2014/main" id="{E93A1A5A-4695-1785-1F7A-2FFF7723D881}"/>
              </a:ext>
            </a:extLst>
          </p:cNvPr>
          <p:cNvSpPr/>
          <p:nvPr/>
        </p:nvSpPr>
        <p:spPr>
          <a:xfrm>
            <a:off x="0" y="577940"/>
            <a:ext cx="9906000" cy="812735"/>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kumimoji="1" lang="ja-JP" altLang="en-US">
              <a:latin typeface="メイリオ" panose="020B0604030504040204" pitchFamily="50" charset="-128"/>
              <a:ea typeface="メイリオ" panose="020B0604030504040204" pitchFamily="50" charset="-128"/>
            </a:endParaRPr>
          </a:p>
        </p:txBody>
      </p:sp>
      <p:sp>
        <p:nvSpPr>
          <p:cNvPr id="4" name="正方形/長方形 3">
            <a:extLst>
              <a:ext uri="{FF2B5EF4-FFF2-40B4-BE49-F238E27FC236}">
                <a16:creationId xmlns:a16="http://schemas.microsoft.com/office/drawing/2014/main" id="{CF088CF0-DAD8-024E-9D5D-9E8A5A7610A5}"/>
              </a:ext>
            </a:extLst>
          </p:cNvPr>
          <p:cNvSpPr/>
          <p:nvPr/>
        </p:nvSpPr>
        <p:spPr>
          <a:xfrm>
            <a:off x="379976" y="635062"/>
            <a:ext cx="9160881" cy="698492"/>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tIns="90000" anchor="ctr"/>
          <a:lstStyle/>
          <a:p>
            <a:pPr algn="ctr">
              <a:lnSpc>
                <a:spcPts val="2455"/>
              </a:lnSpc>
            </a:pPr>
            <a:endParaRPr lang="en-US" altLang="ja-JP" sz="1400" dirty="0">
              <a:solidFill>
                <a:srgbClr val="343434"/>
              </a:solidFill>
              <a:latin typeface="メイリオ" panose="020B0604030504040204" pitchFamily="50" charset="-128"/>
              <a:ea typeface="メイリオ" panose="020B0604030504040204" pitchFamily="50" charset="-128"/>
            </a:endParaRPr>
          </a:p>
        </p:txBody>
      </p:sp>
      <p:sp>
        <p:nvSpPr>
          <p:cNvPr id="45" name="Google Shape;156;p7">
            <a:extLst>
              <a:ext uri="{FF2B5EF4-FFF2-40B4-BE49-F238E27FC236}">
                <a16:creationId xmlns:a16="http://schemas.microsoft.com/office/drawing/2014/main" id="{BCFC8F68-E536-2BAD-437B-4F354ADD7BAF}"/>
              </a:ext>
            </a:extLst>
          </p:cNvPr>
          <p:cNvSpPr txBox="1"/>
          <p:nvPr/>
        </p:nvSpPr>
        <p:spPr>
          <a:xfrm>
            <a:off x="548883" y="138138"/>
            <a:ext cx="6514857" cy="338514"/>
          </a:xfrm>
          <a:prstGeom prst="rect">
            <a:avLst/>
          </a:prstGeom>
          <a:noFill/>
          <a:ln w="19050">
            <a:noFill/>
          </a:ln>
        </p:spPr>
        <p:txBody>
          <a:bodyPr spcFirstLastPara="1" wrap="square" lIns="91425" tIns="45700" rIns="91425" bIns="45700" anchor="ctr" anchorCtr="0">
            <a:spAutoFit/>
          </a:bodyPr>
          <a:lstStyle/>
          <a:p>
            <a:pPr lvl="0">
              <a:buClr>
                <a:srgbClr val="002060"/>
              </a:buClr>
              <a:buSzPts val="1600"/>
            </a:pPr>
            <a:r>
              <a:rPr lang="ja-JP" altLang="en-US" sz="1600" b="1" dirty="0">
                <a:solidFill>
                  <a:srgbClr val="002060"/>
                </a:solidFill>
                <a:latin typeface="Meiryo"/>
                <a:ea typeface="Meiryo"/>
                <a:cs typeface="Meiryo"/>
                <a:sym typeface="Meiryo"/>
              </a:rPr>
              <a:t>前提整理</a:t>
            </a:r>
          </a:p>
        </p:txBody>
      </p:sp>
      <p:sp>
        <p:nvSpPr>
          <p:cNvPr id="5" name="Heading">
            <a:extLst>
              <a:ext uri="{FF2B5EF4-FFF2-40B4-BE49-F238E27FC236}">
                <a16:creationId xmlns:a16="http://schemas.microsoft.com/office/drawing/2014/main" id="{412505BE-7AC7-15E1-7427-2273456C3176}"/>
              </a:ext>
            </a:extLst>
          </p:cNvPr>
          <p:cNvSpPr txBox="1"/>
          <p:nvPr/>
        </p:nvSpPr>
        <p:spPr>
          <a:xfrm>
            <a:off x="365143" y="835933"/>
            <a:ext cx="9144000" cy="279400"/>
          </a:xfrm>
          <a:prstGeom prst="rect">
            <a:avLst/>
          </a:prstGeom>
          <a:noFill/>
          <a:ln>
            <a:noFill/>
          </a:ln>
        </p:spPr>
        <p:txBody>
          <a:bodyPr wrap="square" lIns="101600" tIns="76200" rIns="101600" bIns="76200" anchor="t"/>
          <a:lstStyle/>
          <a:p>
            <a:pPr>
              <a:buNone/>
            </a:pPr>
            <a:r>
              <a:rPr lang="ja-JP" sz="1500" b="1" dirty="0">
                <a:solidFill>
                  <a:srgbClr val="1F2A5C"/>
                </a:solidFill>
                <a:latin typeface="メイリオ" panose="020B0604030504040204" pitchFamily="50" charset="-128"/>
                <a:ea typeface="メイリオ" panose="020B0604030504040204" pitchFamily="50" charset="-128"/>
              </a:rPr>
              <a:t>LINE運用ツール</a:t>
            </a:r>
            <a:r>
              <a:rPr lang="ja-JP" altLang="en-US" sz="1500" b="1" dirty="0">
                <a:solidFill>
                  <a:srgbClr val="1F2A5C"/>
                </a:solidFill>
                <a:latin typeface="メイリオ" panose="020B0604030504040204" pitchFamily="50" charset="-128"/>
                <a:ea typeface="メイリオ" panose="020B0604030504040204" pitchFamily="50" charset="-128"/>
              </a:rPr>
              <a:t>の選定</a:t>
            </a:r>
            <a:endParaRPr lang="ja-JP" sz="1400" b="1" dirty="0">
              <a:solidFill>
                <a:srgbClr val="1F2A5C"/>
              </a:solidFill>
              <a:latin typeface="メイリオ" panose="020B0604030504040204" pitchFamily="50" charset="-128"/>
              <a:ea typeface="メイリオ" panose="020B0604030504040204" pitchFamily="50" charset="-128"/>
            </a:endParaRPr>
          </a:p>
        </p:txBody>
      </p:sp>
      <p:sp>
        <p:nvSpPr>
          <p:cNvPr id="7" name="LeftHeader">
            <a:extLst>
              <a:ext uri="{FF2B5EF4-FFF2-40B4-BE49-F238E27FC236}">
                <a16:creationId xmlns:a16="http://schemas.microsoft.com/office/drawing/2014/main" id="{7E8BB5F2-25D8-6C40-B6B8-51E193FDD0D5}"/>
              </a:ext>
            </a:extLst>
          </p:cNvPr>
          <p:cNvSpPr txBox="1"/>
          <p:nvPr/>
        </p:nvSpPr>
        <p:spPr>
          <a:xfrm>
            <a:off x="381000" y="1320738"/>
            <a:ext cx="4445000" cy="381000"/>
          </a:xfrm>
          <a:prstGeom prst="rect">
            <a:avLst/>
          </a:prstGeom>
          <a:solidFill>
            <a:srgbClr val="1F2A5C"/>
          </a:solidFill>
          <a:ln>
            <a:noFill/>
          </a:ln>
        </p:spPr>
        <p:txBody>
          <a:bodyPr wrap="square" lIns="152400" tIns="76200" rIns="152400" bIns="76200" anchor="ctr"/>
          <a:lstStyle/>
          <a:p>
            <a:pPr algn="ctr">
              <a:buNone/>
            </a:pPr>
            <a:r>
              <a:rPr lang="ja-JP" altLang="en-US" sz="1500" b="1" dirty="0">
                <a:solidFill>
                  <a:srgbClr val="FFFFFF"/>
                </a:solidFill>
                <a:latin typeface="メイリオ" panose="020B0604030504040204" pitchFamily="50" charset="-128"/>
                <a:ea typeface="メイリオ" panose="020B0604030504040204" pitchFamily="50" charset="-128"/>
              </a:rPr>
              <a:t>なし </a:t>
            </a:r>
            <a:r>
              <a:rPr lang="en-US" altLang="ja-JP" sz="1200" dirty="0">
                <a:solidFill>
                  <a:srgbClr val="FFFFFF"/>
                </a:solidFill>
                <a:latin typeface="メイリオ" panose="020B0604030504040204" pitchFamily="50" charset="-128"/>
                <a:ea typeface="メイリオ" panose="020B0604030504040204" pitchFamily="50" charset="-128"/>
              </a:rPr>
              <a:t>※OAM</a:t>
            </a:r>
            <a:r>
              <a:rPr lang="ja-JP" altLang="en-US" sz="1200" dirty="0">
                <a:solidFill>
                  <a:srgbClr val="FFFFFF"/>
                </a:solidFill>
                <a:latin typeface="メイリオ" panose="020B0604030504040204" pitchFamily="50" charset="-128"/>
                <a:ea typeface="メイリオ" panose="020B0604030504040204" pitchFamily="50" charset="-128"/>
              </a:rPr>
              <a:t>にて運用する</a:t>
            </a:r>
            <a:endParaRPr lang="ja-JP" sz="1400" dirty="0">
              <a:solidFill>
                <a:srgbClr val="FFFFFF"/>
              </a:solidFill>
              <a:latin typeface="メイリオ" panose="020B0604030504040204" pitchFamily="50" charset="-128"/>
              <a:ea typeface="メイリオ" panose="020B0604030504040204" pitchFamily="50" charset="-128"/>
            </a:endParaRPr>
          </a:p>
        </p:txBody>
      </p:sp>
      <p:sp>
        <p:nvSpPr>
          <p:cNvPr id="11" name="RightHeader">
            <a:extLst>
              <a:ext uri="{FF2B5EF4-FFF2-40B4-BE49-F238E27FC236}">
                <a16:creationId xmlns:a16="http://schemas.microsoft.com/office/drawing/2014/main" id="{51D83F88-8CDC-20C8-A161-92ACE9AE14FE}"/>
              </a:ext>
            </a:extLst>
          </p:cNvPr>
          <p:cNvSpPr txBox="1"/>
          <p:nvPr/>
        </p:nvSpPr>
        <p:spPr>
          <a:xfrm>
            <a:off x="5080000" y="1320738"/>
            <a:ext cx="4445000" cy="381000"/>
          </a:xfrm>
          <a:prstGeom prst="rect">
            <a:avLst/>
          </a:prstGeom>
          <a:solidFill>
            <a:srgbClr val="00B050"/>
          </a:solidFill>
          <a:ln>
            <a:noFill/>
          </a:ln>
        </p:spPr>
        <p:txBody>
          <a:bodyPr wrap="square" lIns="152400" tIns="76200" rIns="152400" bIns="76200" anchor="ctr"/>
          <a:lstStyle/>
          <a:p>
            <a:pPr algn="ctr">
              <a:buNone/>
            </a:pPr>
            <a:r>
              <a:rPr lang="ja-JP" altLang="en-US" sz="1500" b="1" dirty="0">
                <a:solidFill>
                  <a:srgbClr val="FFFFFF"/>
                </a:solidFill>
                <a:latin typeface="メイリオ" panose="020B0604030504040204" pitchFamily="50" charset="-128"/>
                <a:ea typeface="メイリオ" panose="020B0604030504040204" pitchFamily="50" charset="-128"/>
              </a:rPr>
              <a:t>あり</a:t>
            </a:r>
            <a:r>
              <a:rPr lang="ja-JP" altLang="en-US" sz="1400" dirty="0">
                <a:solidFill>
                  <a:srgbClr val="FFFFFF"/>
                </a:solidFill>
                <a:latin typeface="メイリオ" panose="020B0604030504040204" pitchFamily="50" charset="-128"/>
                <a:ea typeface="メイリオ" panose="020B0604030504040204" pitchFamily="50" charset="-128"/>
              </a:rPr>
              <a:t> </a:t>
            </a:r>
            <a:r>
              <a:rPr lang="en-US" altLang="ja-JP" sz="1200" dirty="0">
                <a:solidFill>
                  <a:srgbClr val="FFFFFF"/>
                </a:solidFill>
                <a:latin typeface="メイリオ" panose="020B0604030504040204" pitchFamily="50" charset="-128"/>
                <a:ea typeface="メイリオ" panose="020B0604030504040204" pitchFamily="50" charset="-128"/>
              </a:rPr>
              <a:t>※</a:t>
            </a:r>
            <a:r>
              <a:rPr lang="en-US" altLang="ja-JP" sz="1200" dirty="0" err="1">
                <a:solidFill>
                  <a:srgbClr val="FFFFFF"/>
                </a:solidFill>
                <a:latin typeface="メイリオ" panose="020B0604030504040204" pitchFamily="50" charset="-128"/>
                <a:ea typeface="メイリオ" panose="020B0604030504040204" pitchFamily="50" charset="-128"/>
              </a:rPr>
              <a:t>Lstep</a:t>
            </a:r>
            <a:r>
              <a:rPr lang="ja-JP" altLang="en-US" sz="1200" dirty="0">
                <a:solidFill>
                  <a:srgbClr val="FFFFFF"/>
                </a:solidFill>
                <a:latin typeface="メイリオ" panose="020B0604030504040204" pitchFamily="50" charset="-128"/>
                <a:ea typeface="メイリオ" panose="020B0604030504040204" pitchFamily="50" charset="-128"/>
              </a:rPr>
              <a:t>など汎用的なもの</a:t>
            </a:r>
            <a:endParaRPr lang="ja-JP" sz="1400" dirty="0">
              <a:solidFill>
                <a:srgbClr val="FFFFFF"/>
              </a:solidFill>
              <a:latin typeface="メイリオ" panose="020B0604030504040204" pitchFamily="50" charset="-128"/>
              <a:ea typeface="メイリオ" panose="020B0604030504040204" pitchFamily="50" charset="-128"/>
            </a:endParaRPr>
          </a:p>
        </p:txBody>
      </p:sp>
      <p:sp>
        <p:nvSpPr>
          <p:cNvPr id="15" name="Conclusion">
            <a:extLst>
              <a:ext uri="{FF2B5EF4-FFF2-40B4-BE49-F238E27FC236}">
                <a16:creationId xmlns:a16="http://schemas.microsoft.com/office/drawing/2014/main" id="{C4320929-5504-DE1B-B0F4-5AA55B09745C}"/>
              </a:ext>
            </a:extLst>
          </p:cNvPr>
          <p:cNvSpPr txBox="1"/>
          <p:nvPr/>
        </p:nvSpPr>
        <p:spPr>
          <a:xfrm>
            <a:off x="396857" y="4978338"/>
            <a:ext cx="9144000" cy="1044000"/>
          </a:xfrm>
          <a:prstGeom prst="rect">
            <a:avLst/>
          </a:prstGeom>
          <a:solidFill>
            <a:srgbClr val="F0F2F7"/>
          </a:solidFill>
          <a:ln>
            <a:noFill/>
          </a:ln>
        </p:spPr>
        <p:txBody>
          <a:bodyPr wrap="square" lIns="177800" tIns="127000" rIns="177800" bIns="127000" anchor="t"/>
          <a:lstStyle/>
          <a:p>
            <a:pPr>
              <a:buNone/>
            </a:pPr>
            <a:r>
              <a:rPr lang="ja-JP" sz="1300" b="1" dirty="0">
                <a:solidFill>
                  <a:srgbClr val="1F2A5C"/>
                </a:solidFill>
                <a:latin typeface="メイリオ" panose="020B0604030504040204" pitchFamily="50" charset="-128"/>
                <a:ea typeface="メイリオ" panose="020B0604030504040204" pitchFamily="50" charset="-128"/>
              </a:rPr>
              <a:t>結論・推奨</a:t>
            </a:r>
          </a:p>
          <a:p>
            <a:pPr>
              <a:spcBef>
                <a:spcPts val="200"/>
              </a:spcBef>
              <a:buNone/>
            </a:pPr>
            <a:r>
              <a:rPr lang="ja-JP" sz="1300" dirty="0">
                <a:solidFill>
                  <a:srgbClr val="333333"/>
                </a:solidFill>
                <a:latin typeface="メイリオ" panose="020B0604030504040204" pitchFamily="50" charset="-128"/>
                <a:ea typeface="メイリオ" panose="020B0604030504040204" pitchFamily="50" charset="-128"/>
              </a:rPr>
              <a:t>API連携の有無が今後のデータ活用</a:t>
            </a:r>
            <a:r>
              <a:rPr lang="ja-JP" altLang="en-US" sz="1300" dirty="0">
                <a:solidFill>
                  <a:srgbClr val="333333"/>
                </a:solidFill>
                <a:latin typeface="メイリオ" panose="020B0604030504040204" pitchFamily="50" charset="-128"/>
                <a:ea typeface="メイリオ" panose="020B0604030504040204" pitchFamily="50" charset="-128"/>
              </a:rPr>
              <a:t>や、詳細なセグメント設定</a:t>
            </a:r>
            <a:r>
              <a:rPr lang="ja-JP" sz="1300" dirty="0">
                <a:solidFill>
                  <a:srgbClr val="333333"/>
                </a:solidFill>
                <a:latin typeface="メイリオ" panose="020B0604030504040204" pitchFamily="50" charset="-128"/>
                <a:ea typeface="メイリオ" panose="020B0604030504040204" pitchFamily="50" charset="-128"/>
              </a:rPr>
              <a:t>を左右する</a:t>
            </a:r>
            <a:r>
              <a:rPr lang="ja-JP" altLang="en-US" sz="1300" dirty="0">
                <a:solidFill>
                  <a:srgbClr val="333333"/>
                </a:solidFill>
                <a:latin typeface="メイリオ" panose="020B0604030504040204" pitchFamily="50" charset="-128"/>
                <a:ea typeface="メイリオ" panose="020B0604030504040204" pitchFamily="50" charset="-128"/>
              </a:rPr>
              <a:t>。</a:t>
            </a:r>
            <a:endParaRPr lang="en-US" altLang="ja-JP" sz="1200" dirty="0">
              <a:solidFill>
                <a:srgbClr val="333333"/>
              </a:solidFill>
              <a:latin typeface="メイリオ" panose="020B0604030504040204" pitchFamily="50" charset="-128"/>
              <a:ea typeface="メイリオ" panose="020B0604030504040204" pitchFamily="50" charset="-128"/>
            </a:endParaRPr>
          </a:p>
          <a:p>
            <a:pPr>
              <a:spcBef>
                <a:spcPts val="200"/>
              </a:spcBef>
              <a:buNone/>
            </a:pPr>
            <a:r>
              <a:rPr lang="ja-JP" altLang="en-US" sz="1300" dirty="0">
                <a:solidFill>
                  <a:srgbClr val="333333"/>
                </a:solidFill>
                <a:latin typeface="メイリオ" panose="020B0604030504040204" pitchFamily="50" charset="-128"/>
                <a:ea typeface="メイリオ" panose="020B0604030504040204" pitchFamily="50" charset="-128"/>
              </a:rPr>
              <a:t>ユーザーアンケートを活用して、利用ステータスやユーザー情報の回収→配信に活用といったフローを踏みたいところ。</a:t>
            </a:r>
            <a:endParaRPr lang="ja-JP" sz="1200" dirty="0">
              <a:solidFill>
                <a:srgbClr val="333333"/>
              </a:solidFill>
              <a:latin typeface="メイリオ" panose="020B0604030504040204" pitchFamily="50" charset="-128"/>
              <a:ea typeface="メイリオ" panose="020B0604030504040204" pitchFamily="50" charset="-128"/>
            </a:endParaRPr>
          </a:p>
        </p:txBody>
      </p:sp>
      <p:sp>
        <p:nvSpPr>
          <p:cNvPr id="23" name="LeftBody">
            <a:extLst>
              <a:ext uri="{FF2B5EF4-FFF2-40B4-BE49-F238E27FC236}">
                <a16:creationId xmlns:a16="http://schemas.microsoft.com/office/drawing/2014/main" id="{359AC927-F2C5-652F-EEA1-6D298DADB703}"/>
              </a:ext>
            </a:extLst>
          </p:cNvPr>
          <p:cNvSpPr txBox="1"/>
          <p:nvPr/>
        </p:nvSpPr>
        <p:spPr>
          <a:xfrm>
            <a:off x="381000" y="1701738"/>
            <a:ext cx="4445000" cy="980502"/>
          </a:xfrm>
          <a:prstGeom prst="rect">
            <a:avLst/>
          </a:prstGeom>
          <a:solidFill>
            <a:srgbClr val="F5F7FA"/>
          </a:solidFill>
          <a:ln w="6350">
            <a:solidFill>
              <a:srgbClr val="D1D8E0"/>
            </a:solidFill>
          </a:ln>
        </p:spPr>
        <p:txBody>
          <a:bodyPr wrap="square" lIns="177800" tIns="152400" rIns="177800" bIns="152400" anchor="t"/>
          <a:lstStyle/>
          <a:p>
            <a:pPr>
              <a:buNone/>
            </a:pPr>
            <a:r>
              <a:rPr lang="ja-JP" sz="1300" b="1" dirty="0">
                <a:solidFill>
                  <a:srgbClr val="1F2A5C"/>
                </a:solidFill>
                <a:latin typeface="メイリオ" panose="020B0604030504040204" pitchFamily="50" charset="-128"/>
                <a:ea typeface="メイリオ" panose="020B0604030504040204" pitchFamily="50" charset="-128"/>
              </a:rPr>
              <a:t>特徴</a:t>
            </a:r>
          </a:p>
          <a:p>
            <a:pPr>
              <a:spcBef>
                <a:spcPts val="200"/>
              </a:spcBef>
              <a:buClr>
                <a:srgbClr val="1F2A5C"/>
              </a:buClr>
            </a:pPr>
            <a:r>
              <a:rPr lang="ja-JP" altLang="en-US" sz="1300" dirty="0">
                <a:solidFill>
                  <a:srgbClr val="333333"/>
                </a:solidFill>
                <a:latin typeface="メイリオ" panose="020B0604030504040204" pitchFamily="50" charset="-128"/>
                <a:ea typeface="メイリオ" panose="020B0604030504040204" pitchFamily="50" charset="-128"/>
              </a:rPr>
              <a:t>コストが最小限に抑えられる</a:t>
            </a:r>
            <a:endParaRPr lang="en-US" altLang="ja-JP" sz="1200" dirty="0">
              <a:solidFill>
                <a:srgbClr val="333333"/>
              </a:solidFill>
              <a:latin typeface="メイリオ" panose="020B0604030504040204" pitchFamily="50" charset="-128"/>
              <a:ea typeface="メイリオ" panose="020B0604030504040204" pitchFamily="50" charset="-128"/>
            </a:endParaRPr>
          </a:p>
          <a:p>
            <a:pPr>
              <a:spcBef>
                <a:spcPts val="200"/>
              </a:spcBef>
              <a:buClr>
                <a:srgbClr val="1F2A5C"/>
              </a:buClr>
            </a:pPr>
            <a:endParaRPr lang="en-US" altLang="ja-JP" sz="1200" b="1" dirty="0">
              <a:solidFill>
                <a:srgbClr val="333333"/>
              </a:solidFill>
              <a:latin typeface="メイリオ" panose="020B0604030504040204" pitchFamily="50" charset="-128"/>
              <a:ea typeface="メイリオ" panose="020B0604030504040204" pitchFamily="50" charset="-128"/>
            </a:endParaRPr>
          </a:p>
        </p:txBody>
      </p:sp>
      <p:sp>
        <p:nvSpPr>
          <p:cNvPr id="25" name="RightBody">
            <a:extLst>
              <a:ext uri="{FF2B5EF4-FFF2-40B4-BE49-F238E27FC236}">
                <a16:creationId xmlns:a16="http://schemas.microsoft.com/office/drawing/2014/main" id="{5C2B33B3-486B-54AD-7340-8E91653B11C6}"/>
              </a:ext>
            </a:extLst>
          </p:cNvPr>
          <p:cNvSpPr txBox="1"/>
          <p:nvPr/>
        </p:nvSpPr>
        <p:spPr>
          <a:xfrm>
            <a:off x="5080000" y="1701738"/>
            <a:ext cx="4445000" cy="980502"/>
          </a:xfrm>
          <a:prstGeom prst="rect">
            <a:avLst/>
          </a:prstGeom>
          <a:solidFill>
            <a:srgbClr val="FFFFFF"/>
          </a:solidFill>
          <a:ln w="12700">
            <a:solidFill>
              <a:srgbClr val="00B050"/>
            </a:solidFill>
          </a:ln>
        </p:spPr>
        <p:txBody>
          <a:bodyPr wrap="square" lIns="177800" tIns="152400" rIns="177800" bIns="152400" anchor="t"/>
          <a:lstStyle/>
          <a:p>
            <a:pPr>
              <a:buNone/>
            </a:pPr>
            <a:r>
              <a:rPr lang="ja-JP" sz="1300" b="1" dirty="0">
                <a:solidFill>
                  <a:srgbClr val="00B050"/>
                </a:solidFill>
                <a:latin typeface="メイリオ" panose="020B0604030504040204" pitchFamily="50" charset="-128"/>
                <a:ea typeface="メイリオ" panose="020B0604030504040204" pitchFamily="50" charset="-128"/>
              </a:rPr>
              <a:t>特徴</a:t>
            </a:r>
          </a:p>
          <a:p>
            <a:pPr>
              <a:spcBef>
                <a:spcPts val="200"/>
              </a:spcBef>
              <a:buClr>
                <a:srgbClr val="C8102E"/>
              </a:buClr>
            </a:pPr>
            <a:r>
              <a:rPr lang="ja-JP" sz="1300" dirty="0">
                <a:solidFill>
                  <a:srgbClr val="333333"/>
                </a:solidFill>
                <a:latin typeface="メイリオ" panose="020B0604030504040204" pitchFamily="50" charset="-128"/>
                <a:ea typeface="メイリオ" panose="020B0604030504040204" pitchFamily="50" charset="-128"/>
              </a:rPr>
              <a:t>API連携を前提としたステップ配信に強み</a:t>
            </a:r>
          </a:p>
          <a:p>
            <a:pPr>
              <a:spcBef>
                <a:spcPts val="200"/>
              </a:spcBef>
              <a:buClr>
                <a:srgbClr val="C8102E"/>
              </a:buClr>
            </a:pPr>
            <a:r>
              <a:rPr lang="ja-JP" sz="1300" dirty="0">
                <a:solidFill>
                  <a:srgbClr val="333333"/>
                </a:solidFill>
                <a:latin typeface="メイリオ" panose="020B0604030504040204" pitchFamily="50" charset="-128"/>
                <a:ea typeface="メイリオ" panose="020B0604030504040204" pitchFamily="50" charset="-128"/>
              </a:rPr>
              <a:t>セグメント配信・タグ管理も柔軟に設計可能</a:t>
            </a:r>
          </a:p>
          <a:p>
            <a:pPr>
              <a:spcBef>
                <a:spcPts val="600"/>
              </a:spcBef>
              <a:buNone/>
            </a:pPr>
            <a:endParaRPr lang="ja-JP" sz="1200" dirty="0">
              <a:solidFill>
                <a:srgbClr val="333333"/>
              </a:solidFill>
              <a:latin typeface="メイリオ" panose="020B0604030504040204" pitchFamily="50" charset="-128"/>
              <a:ea typeface="メイリオ" panose="020B0604030504040204" pitchFamily="50" charset="-128"/>
            </a:endParaRPr>
          </a:p>
        </p:txBody>
      </p:sp>
      <p:sp>
        <p:nvSpPr>
          <p:cNvPr id="31" name="LeftBody">
            <a:extLst>
              <a:ext uri="{FF2B5EF4-FFF2-40B4-BE49-F238E27FC236}">
                <a16:creationId xmlns:a16="http://schemas.microsoft.com/office/drawing/2014/main" id="{C22CD48D-CDD7-8246-0A2F-0204B2112294}"/>
              </a:ext>
            </a:extLst>
          </p:cNvPr>
          <p:cNvSpPr txBox="1"/>
          <p:nvPr/>
        </p:nvSpPr>
        <p:spPr>
          <a:xfrm>
            <a:off x="396857" y="2743201"/>
            <a:ext cx="4445000" cy="980502"/>
          </a:xfrm>
          <a:prstGeom prst="rect">
            <a:avLst/>
          </a:prstGeom>
          <a:solidFill>
            <a:srgbClr val="F5F7FA"/>
          </a:solidFill>
          <a:ln w="6350">
            <a:solidFill>
              <a:srgbClr val="D1D8E0"/>
            </a:solidFill>
          </a:ln>
        </p:spPr>
        <p:txBody>
          <a:bodyPr wrap="square" lIns="177800" tIns="152400" rIns="177800" bIns="152400" anchor="t"/>
          <a:lstStyle/>
          <a:p>
            <a:pPr>
              <a:spcBef>
                <a:spcPts val="600"/>
              </a:spcBef>
              <a:buNone/>
            </a:pPr>
            <a:r>
              <a:rPr lang="ja-JP" sz="1300" b="1" dirty="0">
                <a:solidFill>
                  <a:srgbClr val="1F2A5C"/>
                </a:solidFill>
                <a:latin typeface="メイリオ" panose="020B0604030504040204" pitchFamily="50" charset="-128"/>
                <a:ea typeface="メイリオ" panose="020B0604030504040204" pitchFamily="50" charset="-128"/>
              </a:rPr>
              <a:t>メリット</a:t>
            </a:r>
          </a:p>
          <a:p>
            <a:pPr>
              <a:spcBef>
                <a:spcPts val="200"/>
              </a:spcBef>
              <a:buClr>
                <a:srgbClr val="1F2A5C"/>
              </a:buClr>
            </a:pPr>
            <a:r>
              <a:rPr lang="ja-JP" sz="1300" dirty="0">
                <a:solidFill>
                  <a:srgbClr val="333333"/>
                </a:solidFill>
                <a:latin typeface="メイリオ" panose="020B0604030504040204" pitchFamily="50" charset="-128"/>
                <a:ea typeface="メイリオ" panose="020B0604030504040204" pitchFamily="50" charset="-128"/>
              </a:rPr>
              <a:t>顧客情報を活かしたセグメント配信が可能</a:t>
            </a:r>
            <a:endParaRPr lang="en-US" altLang="ja-JP" sz="1200" dirty="0">
              <a:solidFill>
                <a:srgbClr val="333333"/>
              </a:solidFill>
              <a:latin typeface="メイリオ" panose="020B0604030504040204" pitchFamily="50" charset="-128"/>
              <a:ea typeface="メイリオ" panose="020B0604030504040204" pitchFamily="50" charset="-128"/>
            </a:endParaRPr>
          </a:p>
          <a:p>
            <a:pPr>
              <a:spcBef>
                <a:spcPts val="200"/>
              </a:spcBef>
              <a:buClr>
                <a:srgbClr val="1F2A5C"/>
              </a:buClr>
            </a:pPr>
            <a:r>
              <a:rPr lang="ja-JP" altLang="en-US" sz="1300" dirty="0">
                <a:solidFill>
                  <a:srgbClr val="333333"/>
                </a:solidFill>
                <a:latin typeface="メイリオ" panose="020B0604030504040204" pitchFamily="50" charset="-128"/>
                <a:ea typeface="メイリオ" panose="020B0604030504040204" pitchFamily="50" charset="-128"/>
              </a:rPr>
              <a:t>画一的な管理であれば導入が可能</a:t>
            </a:r>
            <a:endParaRPr lang="ja-JP" sz="1200" dirty="0">
              <a:solidFill>
                <a:srgbClr val="333333"/>
              </a:solidFill>
              <a:latin typeface="メイリオ" panose="020B0604030504040204" pitchFamily="50" charset="-128"/>
              <a:ea typeface="メイリオ" panose="020B0604030504040204" pitchFamily="50" charset="-128"/>
            </a:endParaRPr>
          </a:p>
        </p:txBody>
      </p:sp>
      <p:sp>
        <p:nvSpPr>
          <p:cNvPr id="33" name="RightBody">
            <a:extLst>
              <a:ext uri="{FF2B5EF4-FFF2-40B4-BE49-F238E27FC236}">
                <a16:creationId xmlns:a16="http://schemas.microsoft.com/office/drawing/2014/main" id="{33E816DC-7F71-9436-3A2A-835086253EF7}"/>
              </a:ext>
            </a:extLst>
          </p:cNvPr>
          <p:cNvSpPr txBox="1"/>
          <p:nvPr/>
        </p:nvSpPr>
        <p:spPr>
          <a:xfrm>
            <a:off x="5095857" y="2743201"/>
            <a:ext cx="4445000" cy="980502"/>
          </a:xfrm>
          <a:prstGeom prst="rect">
            <a:avLst/>
          </a:prstGeom>
          <a:solidFill>
            <a:srgbClr val="FFFFFF"/>
          </a:solidFill>
          <a:ln w="12700">
            <a:solidFill>
              <a:srgbClr val="00B050"/>
            </a:solidFill>
          </a:ln>
        </p:spPr>
        <p:txBody>
          <a:bodyPr wrap="square" lIns="177800" tIns="152400" rIns="177800" bIns="152400" anchor="t"/>
          <a:lstStyle/>
          <a:p>
            <a:pPr>
              <a:spcBef>
                <a:spcPts val="600"/>
              </a:spcBef>
              <a:buNone/>
            </a:pPr>
            <a:r>
              <a:rPr lang="ja-JP" sz="1300" b="1" dirty="0">
                <a:solidFill>
                  <a:srgbClr val="00B050"/>
                </a:solidFill>
                <a:latin typeface="メイリオ" panose="020B0604030504040204" pitchFamily="50" charset="-128"/>
                <a:ea typeface="メイリオ" panose="020B0604030504040204" pitchFamily="50" charset="-128"/>
              </a:rPr>
              <a:t>メリット</a:t>
            </a:r>
            <a:endParaRPr lang="en-US" altLang="ja-JP" sz="1200" dirty="0">
              <a:solidFill>
                <a:srgbClr val="333333"/>
              </a:solidFill>
              <a:latin typeface="メイリオ" panose="020B0604030504040204" pitchFamily="50" charset="-128"/>
              <a:ea typeface="メイリオ" panose="020B0604030504040204" pitchFamily="50" charset="-128"/>
            </a:endParaRPr>
          </a:p>
          <a:p>
            <a:pPr>
              <a:spcBef>
                <a:spcPts val="200"/>
              </a:spcBef>
              <a:buClr>
                <a:srgbClr val="C8102E"/>
              </a:buClr>
            </a:pPr>
            <a:r>
              <a:rPr lang="ja-JP" sz="1300" dirty="0">
                <a:solidFill>
                  <a:srgbClr val="333333"/>
                </a:solidFill>
                <a:latin typeface="メイリオ" panose="020B0604030504040204" pitchFamily="50" charset="-128"/>
                <a:ea typeface="メイリオ" panose="020B0604030504040204" pitchFamily="50" charset="-128"/>
              </a:rPr>
              <a:t>経過日数・タグ条件を組み合わせた配信設計が可能</a:t>
            </a:r>
          </a:p>
          <a:p>
            <a:pPr>
              <a:spcBef>
                <a:spcPts val="200"/>
              </a:spcBef>
              <a:buClr>
                <a:srgbClr val="C8102E"/>
              </a:buClr>
            </a:pPr>
            <a:r>
              <a:rPr lang="ja-JP" sz="1300" dirty="0">
                <a:solidFill>
                  <a:srgbClr val="333333"/>
                </a:solidFill>
                <a:latin typeface="メイリオ" panose="020B0604030504040204" pitchFamily="50" charset="-128"/>
                <a:ea typeface="メイリオ" panose="020B0604030504040204" pitchFamily="50" charset="-128"/>
              </a:rPr>
              <a:t>API連携により外部データとの連携もしやすい</a:t>
            </a:r>
          </a:p>
          <a:p>
            <a:pPr>
              <a:spcBef>
                <a:spcPts val="600"/>
              </a:spcBef>
              <a:buNone/>
            </a:pPr>
            <a:endParaRPr lang="ja-JP" sz="1200" dirty="0">
              <a:solidFill>
                <a:srgbClr val="333333"/>
              </a:solidFill>
              <a:latin typeface="メイリオ" panose="020B0604030504040204" pitchFamily="50" charset="-128"/>
              <a:ea typeface="メイリオ" panose="020B0604030504040204" pitchFamily="50" charset="-128"/>
            </a:endParaRPr>
          </a:p>
        </p:txBody>
      </p:sp>
      <p:sp>
        <p:nvSpPr>
          <p:cNvPr id="35" name="LeftBody">
            <a:extLst>
              <a:ext uri="{FF2B5EF4-FFF2-40B4-BE49-F238E27FC236}">
                <a16:creationId xmlns:a16="http://schemas.microsoft.com/office/drawing/2014/main" id="{C28C8264-FFE5-64B4-9624-4781A568525A}"/>
              </a:ext>
            </a:extLst>
          </p:cNvPr>
          <p:cNvSpPr txBox="1"/>
          <p:nvPr/>
        </p:nvSpPr>
        <p:spPr>
          <a:xfrm>
            <a:off x="396857" y="3784664"/>
            <a:ext cx="4445000" cy="980502"/>
          </a:xfrm>
          <a:prstGeom prst="rect">
            <a:avLst/>
          </a:prstGeom>
          <a:solidFill>
            <a:srgbClr val="F5F7FA"/>
          </a:solidFill>
          <a:ln w="6350">
            <a:solidFill>
              <a:srgbClr val="D1D8E0"/>
            </a:solidFill>
          </a:ln>
        </p:spPr>
        <p:txBody>
          <a:bodyPr wrap="square" lIns="177800" tIns="152400" rIns="177800" bIns="152400" anchor="t"/>
          <a:lstStyle/>
          <a:p>
            <a:pPr>
              <a:spcBef>
                <a:spcPts val="600"/>
              </a:spcBef>
              <a:buNone/>
            </a:pPr>
            <a:r>
              <a:rPr lang="ja-JP" sz="1300" b="1" dirty="0">
                <a:solidFill>
                  <a:srgbClr val="1F2A5C"/>
                </a:solidFill>
                <a:latin typeface="メイリオ" panose="020B0604030504040204" pitchFamily="50" charset="-128"/>
                <a:ea typeface="メイリオ" panose="020B0604030504040204" pitchFamily="50" charset="-128"/>
              </a:rPr>
              <a:t>デメリット</a:t>
            </a:r>
          </a:p>
          <a:p>
            <a:pPr>
              <a:spcBef>
                <a:spcPts val="200"/>
              </a:spcBef>
              <a:buClr>
                <a:srgbClr val="1F2A5C"/>
              </a:buClr>
            </a:pPr>
            <a:r>
              <a:rPr lang="ja-JP" sz="1300" dirty="0">
                <a:solidFill>
                  <a:srgbClr val="333333"/>
                </a:solidFill>
                <a:latin typeface="メイリオ" panose="020B0604030504040204" pitchFamily="50" charset="-128"/>
                <a:ea typeface="メイリオ" panose="020B0604030504040204" pitchFamily="50" charset="-128"/>
              </a:rPr>
              <a:t>現状LINEとAPI連携ができておらず、データ活用が限定的</a:t>
            </a:r>
          </a:p>
        </p:txBody>
      </p:sp>
      <p:sp>
        <p:nvSpPr>
          <p:cNvPr id="37" name="RightBody">
            <a:extLst>
              <a:ext uri="{FF2B5EF4-FFF2-40B4-BE49-F238E27FC236}">
                <a16:creationId xmlns:a16="http://schemas.microsoft.com/office/drawing/2014/main" id="{CD03D279-8570-6C99-6FEA-8EDFE942CC76}"/>
              </a:ext>
            </a:extLst>
          </p:cNvPr>
          <p:cNvSpPr txBox="1"/>
          <p:nvPr/>
        </p:nvSpPr>
        <p:spPr>
          <a:xfrm>
            <a:off x="5095857" y="3784664"/>
            <a:ext cx="4445000" cy="980502"/>
          </a:xfrm>
          <a:prstGeom prst="rect">
            <a:avLst/>
          </a:prstGeom>
          <a:solidFill>
            <a:srgbClr val="FFFFFF"/>
          </a:solidFill>
          <a:ln w="12700">
            <a:solidFill>
              <a:srgbClr val="00B050"/>
            </a:solidFill>
          </a:ln>
        </p:spPr>
        <p:txBody>
          <a:bodyPr wrap="square" lIns="177800" tIns="152400" rIns="177800" bIns="152400" anchor="t"/>
          <a:lstStyle/>
          <a:p>
            <a:pPr>
              <a:spcBef>
                <a:spcPts val="600"/>
              </a:spcBef>
              <a:buNone/>
            </a:pPr>
            <a:r>
              <a:rPr lang="ja-JP" sz="1300" b="1" dirty="0">
                <a:solidFill>
                  <a:srgbClr val="00B050"/>
                </a:solidFill>
                <a:latin typeface="メイリオ" panose="020B0604030504040204" pitchFamily="50" charset="-128"/>
                <a:ea typeface="メイリオ" panose="020B0604030504040204" pitchFamily="50" charset="-128"/>
              </a:rPr>
              <a:t>デメリット</a:t>
            </a:r>
            <a:endParaRPr lang="en-US" altLang="ja-JP" sz="1200" dirty="0">
              <a:solidFill>
                <a:srgbClr val="333333"/>
              </a:solidFill>
              <a:latin typeface="メイリオ" panose="020B0604030504040204" pitchFamily="50" charset="-128"/>
              <a:ea typeface="メイリオ" panose="020B0604030504040204" pitchFamily="50" charset="-128"/>
            </a:endParaRPr>
          </a:p>
          <a:p>
            <a:pPr>
              <a:spcBef>
                <a:spcPts val="200"/>
              </a:spcBef>
              <a:buClr>
                <a:srgbClr val="C8102E"/>
              </a:buClr>
            </a:pPr>
            <a:r>
              <a:rPr lang="ja-JP" sz="1300" dirty="0">
                <a:solidFill>
                  <a:srgbClr val="333333"/>
                </a:solidFill>
                <a:latin typeface="メイリオ" panose="020B0604030504040204" pitchFamily="50" charset="-128"/>
                <a:ea typeface="メイリオ" panose="020B0604030504040204" pitchFamily="50" charset="-128"/>
              </a:rPr>
              <a:t>移行には初期設定・データ移行の工数が発生</a:t>
            </a:r>
          </a:p>
        </p:txBody>
      </p:sp>
    </p:spTree>
    <p:extLst>
      <p:ext uri="{BB962C8B-B14F-4D97-AF65-F5344CB8AC3E}">
        <p14:creationId xmlns:p14="http://schemas.microsoft.com/office/powerpoint/2010/main" val="4161387378"/>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364C018-2F1E-8306-707D-71C186D40816}"/>
            </a:ext>
          </a:extLst>
        </p:cNvPr>
        <p:cNvGrpSpPr/>
        <p:nvPr/>
      </p:nvGrpSpPr>
      <p:grpSpPr>
        <a:xfrm>
          <a:off x="0" y="0"/>
          <a:ext cx="0" cy="0"/>
          <a:chOff x="0" y="0"/>
          <a:chExt cx="0" cy="0"/>
        </a:xfrm>
      </p:grpSpPr>
      <p:sp>
        <p:nvSpPr>
          <p:cNvPr id="3" name="正方形/長方形 2">
            <a:extLst>
              <a:ext uri="{FF2B5EF4-FFF2-40B4-BE49-F238E27FC236}">
                <a16:creationId xmlns:a16="http://schemas.microsoft.com/office/drawing/2014/main" id="{0CBE7AF1-A707-0419-01A2-C566FDAD2E77}"/>
              </a:ext>
            </a:extLst>
          </p:cNvPr>
          <p:cNvSpPr/>
          <p:nvPr/>
        </p:nvSpPr>
        <p:spPr>
          <a:xfrm>
            <a:off x="0" y="577940"/>
            <a:ext cx="9906000" cy="812735"/>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kumimoji="1" lang="ja-JP" altLang="en-US">
              <a:latin typeface="メイリオ" panose="020B0604030504040204" pitchFamily="50" charset="-128"/>
              <a:ea typeface="メイリオ" panose="020B0604030504040204" pitchFamily="50" charset="-128"/>
            </a:endParaRPr>
          </a:p>
        </p:txBody>
      </p:sp>
      <p:sp>
        <p:nvSpPr>
          <p:cNvPr id="45" name="Google Shape;156;p7">
            <a:extLst>
              <a:ext uri="{FF2B5EF4-FFF2-40B4-BE49-F238E27FC236}">
                <a16:creationId xmlns:a16="http://schemas.microsoft.com/office/drawing/2014/main" id="{40D60058-2F60-08D5-B4FD-0E0AADF1465F}"/>
              </a:ext>
            </a:extLst>
          </p:cNvPr>
          <p:cNvSpPr txBox="1"/>
          <p:nvPr/>
        </p:nvSpPr>
        <p:spPr>
          <a:xfrm>
            <a:off x="548883" y="138118"/>
            <a:ext cx="6514857" cy="338554"/>
          </a:xfrm>
          <a:prstGeom prst="rect">
            <a:avLst/>
          </a:prstGeom>
          <a:noFill/>
          <a:ln w="19050">
            <a:noFill/>
          </a:ln>
        </p:spPr>
        <p:txBody>
          <a:bodyPr spcFirstLastPara="1" wrap="square" lIns="91425" tIns="45700" rIns="91425" bIns="45700" anchor="ctr" anchorCtr="0">
            <a:spAutoFit/>
          </a:bodyPr>
          <a:lstStyle/>
          <a:p>
            <a:pPr marL="0" marR="0" lvl="0" indent="0" algn="l" rtl="0">
              <a:spcBef>
                <a:spcPts val="0"/>
              </a:spcBef>
              <a:spcAft>
                <a:spcPts val="0"/>
              </a:spcAft>
              <a:buClr>
                <a:srgbClr val="002060"/>
              </a:buClr>
              <a:buSzPts val="1600"/>
              <a:buFont typeface="Arial"/>
              <a:buNone/>
            </a:pPr>
            <a:r>
              <a:rPr lang="ja-JP" altLang="en-US" sz="1600" b="1" dirty="0">
                <a:solidFill>
                  <a:srgbClr val="002060"/>
                </a:solidFill>
                <a:latin typeface="Meiryo"/>
                <a:ea typeface="Meiryo"/>
                <a:cs typeface="Meiryo"/>
                <a:sym typeface="Meiryo"/>
              </a:rPr>
              <a:t>想定動線</a:t>
            </a:r>
            <a:endParaRPr sz="1600" b="1" dirty="0">
              <a:solidFill>
                <a:srgbClr val="002060"/>
              </a:solidFill>
              <a:latin typeface="Meiryo"/>
              <a:ea typeface="Meiryo"/>
              <a:cs typeface="Meiryo"/>
              <a:sym typeface="Meiryo"/>
            </a:endParaRPr>
          </a:p>
        </p:txBody>
      </p:sp>
      <p:cxnSp>
        <p:nvCxnSpPr>
          <p:cNvPr id="2" name="直線コネクタ 1">
            <a:extLst>
              <a:ext uri="{FF2B5EF4-FFF2-40B4-BE49-F238E27FC236}">
                <a16:creationId xmlns:a16="http://schemas.microsoft.com/office/drawing/2014/main" id="{D3328ECE-A991-2276-8887-D875DA94A571}"/>
              </a:ext>
            </a:extLst>
          </p:cNvPr>
          <p:cNvCxnSpPr>
            <a:cxnSpLocks/>
          </p:cNvCxnSpPr>
          <p:nvPr/>
        </p:nvCxnSpPr>
        <p:spPr>
          <a:xfrm>
            <a:off x="0" y="1390675"/>
            <a:ext cx="9906000" cy="0"/>
          </a:xfrm>
          <a:prstGeom prst="line">
            <a:avLst/>
          </a:prstGeom>
          <a:ln w="19050">
            <a:solidFill>
              <a:schemeClr val="bg1">
                <a:lumMod val="85000"/>
                <a:alpha val="60000"/>
              </a:schemeClr>
            </a:solidFill>
          </a:ln>
          <a:effectLst/>
        </p:spPr>
        <p:style>
          <a:lnRef idx="2">
            <a:schemeClr val="accent1"/>
          </a:lnRef>
          <a:fillRef idx="0">
            <a:schemeClr val="accent1"/>
          </a:fillRef>
          <a:effectRef idx="1">
            <a:schemeClr val="accent1"/>
          </a:effectRef>
          <a:fontRef idx="minor">
            <a:schemeClr val="tx1"/>
          </a:fontRef>
        </p:style>
      </p:cxnSp>
      <p:sp>
        <p:nvSpPr>
          <p:cNvPr id="5" name="正方形/長方形 4">
            <a:extLst>
              <a:ext uri="{FF2B5EF4-FFF2-40B4-BE49-F238E27FC236}">
                <a16:creationId xmlns:a16="http://schemas.microsoft.com/office/drawing/2014/main" id="{91D529F5-1969-8F22-8508-5967D82F7783}"/>
              </a:ext>
            </a:extLst>
          </p:cNvPr>
          <p:cNvSpPr/>
          <p:nvPr/>
        </p:nvSpPr>
        <p:spPr>
          <a:xfrm>
            <a:off x="453390" y="1863614"/>
            <a:ext cx="9190811" cy="2162521"/>
          </a:xfrm>
          <a:prstGeom prst="rect">
            <a:avLst/>
          </a:prstGeom>
          <a:noFill/>
          <a:ln w="635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endParaRPr kumimoji="1" lang="ja-JP" altLang="en-US" sz="1000">
              <a:solidFill>
                <a:schemeClr val="tx1"/>
              </a:solidFill>
              <a:latin typeface="メイリオ" panose="020B0604030504040204" pitchFamily="50" charset="-128"/>
              <a:ea typeface="メイリオ" panose="020B0604030504040204" pitchFamily="50" charset="-128"/>
            </a:endParaRPr>
          </a:p>
        </p:txBody>
      </p:sp>
      <p:sp>
        <p:nvSpPr>
          <p:cNvPr id="6" name="正方形/長方形 5">
            <a:extLst>
              <a:ext uri="{FF2B5EF4-FFF2-40B4-BE49-F238E27FC236}">
                <a16:creationId xmlns:a16="http://schemas.microsoft.com/office/drawing/2014/main" id="{0D32EA92-3996-F5BA-08AE-72B08F79535C}"/>
              </a:ext>
            </a:extLst>
          </p:cNvPr>
          <p:cNvSpPr/>
          <p:nvPr/>
        </p:nvSpPr>
        <p:spPr>
          <a:xfrm>
            <a:off x="453390" y="4425391"/>
            <a:ext cx="9190811" cy="2022499"/>
          </a:xfrm>
          <a:prstGeom prst="rect">
            <a:avLst/>
          </a:prstGeom>
          <a:noFill/>
          <a:ln w="635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endParaRPr kumimoji="1" lang="ja-JP" altLang="en-US" sz="1000">
              <a:latin typeface="メイリオ" panose="020B0604030504040204" pitchFamily="50" charset="-128"/>
              <a:ea typeface="メイリオ" panose="020B0604030504040204" pitchFamily="50" charset="-128"/>
            </a:endParaRPr>
          </a:p>
        </p:txBody>
      </p:sp>
      <p:sp>
        <p:nvSpPr>
          <p:cNvPr id="7" name="テキスト ボックス 7">
            <a:extLst>
              <a:ext uri="{FF2B5EF4-FFF2-40B4-BE49-F238E27FC236}">
                <a16:creationId xmlns:a16="http://schemas.microsoft.com/office/drawing/2014/main" id="{C7E38EC2-DE76-A5FE-A6B8-3B48F7BD7B46}"/>
              </a:ext>
            </a:extLst>
          </p:cNvPr>
          <p:cNvSpPr txBox="1"/>
          <p:nvPr/>
        </p:nvSpPr>
        <p:spPr>
          <a:xfrm>
            <a:off x="453390" y="1555243"/>
            <a:ext cx="4963884" cy="307777"/>
          </a:xfrm>
          <a:prstGeom prst="rect">
            <a:avLst/>
          </a:prstGeom>
          <a:noFill/>
        </p:spPr>
        <p:txBody>
          <a:bodyPr wrap="square">
            <a:spAutoFit/>
          </a:bodyPr>
          <a:ls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r>
              <a:rPr lang="en-US" altLang="ja-JP" sz="1400" b="1" dirty="0">
                <a:solidFill>
                  <a:schemeClr val="tx1">
                    <a:lumMod val="50000"/>
                    <a:lumOff val="50000"/>
                  </a:schemeClr>
                </a:solidFill>
                <a:latin typeface="メイリオ" panose="020B0604030504040204" pitchFamily="50" charset="-128"/>
                <a:ea typeface="メイリオ" panose="020B0604030504040204" pitchFamily="50" charset="-128"/>
                <a:cs typeface="Meiryo"/>
                <a:sym typeface="Meiryo"/>
              </a:rPr>
              <a:t>&lt;</a:t>
            </a:r>
            <a:r>
              <a:rPr lang="ja-JP" altLang="en-US" sz="1400" b="1" dirty="0">
                <a:solidFill>
                  <a:schemeClr val="tx1">
                    <a:lumMod val="50000"/>
                    <a:lumOff val="50000"/>
                  </a:schemeClr>
                </a:solidFill>
                <a:latin typeface="メイリオ" panose="020B0604030504040204" pitchFamily="50" charset="-128"/>
                <a:ea typeface="メイリオ" panose="020B0604030504040204" pitchFamily="50" charset="-128"/>
                <a:cs typeface="Meiryo"/>
                <a:sym typeface="Meiryo"/>
              </a:rPr>
              <a:t>対新規ユーザー領域</a:t>
            </a:r>
            <a:r>
              <a:rPr lang="en-US" altLang="ja-JP" sz="1400" b="1" dirty="0">
                <a:solidFill>
                  <a:schemeClr val="tx1">
                    <a:lumMod val="50000"/>
                    <a:lumOff val="50000"/>
                  </a:schemeClr>
                </a:solidFill>
                <a:latin typeface="メイリオ" panose="020B0604030504040204" pitchFamily="50" charset="-128"/>
                <a:ea typeface="メイリオ" panose="020B0604030504040204" pitchFamily="50" charset="-128"/>
                <a:cs typeface="Meiryo"/>
                <a:sym typeface="Meiryo"/>
              </a:rPr>
              <a:t>&gt;</a:t>
            </a:r>
            <a:endParaRPr lang="ja-JP" altLang="en-US" sz="1400" dirty="0">
              <a:solidFill>
                <a:schemeClr val="tx1">
                  <a:lumMod val="50000"/>
                  <a:lumOff val="50000"/>
                </a:schemeClr>
              </a:solidFill>
            </a:endParaRPr>
          </a:p>
        </p:txBody>
      </p:sp>
      <p:sp>
        <p:nvSpPr>
          <p:cNvPr id="8" name="テキスト ボックス 8">
            <a:extLst>
              <a:ext uri="{FF2B5EF4-FFF2-40B4-BE49-F238E27FC236}">
                <a16:creationId xmlns:a16="http://schemas.microsoft.com/office/drawing/2014/main" id="{315E4FD7-BF96-305B-4DFF-0204D305BAAE}"/>
              </a:ext>
            </a:extLst>
          </p:cNvPr>
          <p:cNvSpPr txBox="1"/>
          <p:nvPr/>
        </p:nvSpPr>
        <p:spPr>
          <a:xfrm>
            <a:off x="453390" y="4117614"/>
            <a:ext cx="4963884" cy="307777"/>
          </a:xfrm>
          <a:prstGeom prst="rect">
            <a:avLst/>
          </a:prstGeom>
          <a:noFill/>
        </p:spPr>
        <p:txBody>
          <a:bodyPr wrap="square">
            <a:spAutoFit/>
          </a:bodyPr>
          <a:ls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r>
              <a:rPr lang="en-US" altLang="ja-JP" sz="1400" b="1" dirty="0">
                <a:solidFill>
                  <a:schemeClr val="tx1">
                    <a:lumMod val="50000"/>
                    <a:lumOff val="50000"/>
                  </a:schemeClr>
                </a:solidFill>
                <a:latin typeface="メイリオ" panose="020B0604030504040204" pitchFamily="50" charset="-128"/>
                <a:ea typeface="メイリオ" panose="020B0604030504040204" pitchFamily="50" charset="-128"/>
                <a:cs typeface="Meiryo"/>
                <a:sym typeface="Meiryo"/>
              </a:rPr>
              <a:t>&lt;</a:t>
            </a:r>
            <a:r>
              <a:rPr lang="ja-JP" altLang="en-US" sz="1400" b="1" dirty="0">
                <a:solidFill>
                  <a:schemeClr val="tx1">
                    <a:lumMod val="50000"/>
                    <a:lumOff val="50000"/>
                  </a:schemeClr>
                </a:solidFill>
                <a:latin typeface="メイリオ" panose="020B0604030504040204" pitchFamily="50" charset="-128"/>
                <a:ea typeface="メイリオ" panose="020B0604030504040204" pitchFamily="50" charset="-128"/>
                <a:cs typeface="Meiryo"/>
                <a:sym typeface="Meiryo"/>
              </a:rPr>
              <a:t>対既存ユーザー</a:t>
            </a:r>
            <a:r>
              <a:rPr lang="en-US" altLang="ja-JP" sz="1400" b="1" dirty="0">
                <a:solidFill>
                  <a:schemeClr val="tx1">
                    <a:lumMod val="50000"/>
                    <a:lumOff val="50000"/>
                  </a:schemeClr>
                </a:solidFill>
                <a:latin typeface="メイリオ" panose="020B0604030504040204" pitchFamily="50" charset="-128"/>
                <a:ea typeface="メイリオ" panose="020B0604030504040204" pitchFamily="50" charset="-128"/>
                <a:cs typeface="Meiryo"/>
                <a:sym typeface="Meiryo"/>
              </a:rPr>
              <a:t>(</a:t>
            </a:r>
            <a:r>
              <a:rPr lang="ja-JP" altLang="en-US" sz="1400" b="1" dirty="0">
                <a:solidFill>
                  <a:schemeClr val="tx1">
                    <a:lumMod val="50000"/>
                    <a:lumOff val="50000"/>
                  </a:schemeClr>
                </a:solidFill>
                <a:latin typeface="メイリオ" panose="020B0604030504040204" pitchFamily="50" charset="-128"/>
                <a:ea typeface="メイリオ" panose="020B0604030504040204" pitchFamily="50" charset="-128"/>
                <a:cs typeface="Meiryo"/>
                <a:sym typeface="Meiryo"/>
              </a:rPr>
              <a:t>顧客</a:t>
            </a:r>
            <a:r>
              <a:rPr lang="en-US" altLang="ja-JP" sz="1400" b="1" dirty="0">
                <a:solidFill>
                  <a:schemeClr val="tx1">
                    <a:lumMod val="50000"/>
                    <a:lumOff val="50000"/>
                  </a:schemeClr>
                </a:solidFill>
                <a:latin typeface="メイリオ" panose="020B0604030504040204" pitchFamily="50" charset="-128"/>
                <a:ea typeface="メイリオ" panose="020B0604030504040204" pitchFamily="50" charset="-128"/>
                <a:cs typeface="Meiryo"/>
                <a:sym typeface="Meiryo"/>
              </a:rPr>
              <a:t>)</a:t>
            </a:r>
            <a:r>
              <a:rPr lang="ja-JP" altLang="en-US" sz="1400" b="1" dirty="0">
                <a:solidFill>
                  <a:schemeClr val="tx1">
                    <a:lumMod val="50000"/>
                    <a:lumOff val="50000"/>
                  </a:schemeClr>
                </a:solidFill>
                <a:latin typeface="メイリオ" panose="020B0604030504040204" pitchFamily="50" charset="-128"/>
                <a:ea typeface="メイリオ" panose="020B0604030504040204" pitchFamily="50" charset="-128"/>
                <a:cs typeface="Meiryo"/>
                <a:sym typeface="Meiryo"/>
              </a:rPr>
              <a:t>領域</a:t>
            </a:r>
            <a:r>
              <a:rPr lang="en-US" altLang="ja-JP" sz="1400" b="1" dirty="0">
                <a:solidFill>
                  <a:schemeClr val="tx1">
                    <a:lumMod val="50000"/>
                    <a:lumOff val="50000"/>
                  </a:schemeClr>
                </a:solidFill>
                <a:latin typeface="メイリオ" panose="020B0604030504040204" pitchFamily="50" charset="-128"/>
                <a:ea typeface="メイリオ" panose="020B0604030504040204" pitchFamily="50" charset="-128"/>
                <a:cs typeface="Meiryo"/>
                <a:sym typeface="Meiryo"/>
              </a:rPr>
              <a:t>&gt;</a:t>
            </a:r>
            <a:endParaRPr lang="ja-JP" altLang="en-US" sz="1400" dirty="0">
              <a:solidFill>
                <a:schemeClr val="tx1">
                  <a:lumMod val="50000"/>
                  <a:lumOff val="50000"/>
                </a:schemeClr>
              </a:solidFill>
            </a:endParaRPr>
          </a:p>
        </p:txBody>
      </p:sp>
      <p:sp>
        <p:nvSpPr>
          <p:cNvPr id="9" name="正方形/長方形 8">
            <a:extLst>
              <a:ext uri="{FF2B5EF4-FFF2-40B4-BE49-F238E27FC236}">
                <a16:creationId xmlns:a16="http://schemas.microsoft.com/office/drawing/2014/main" id="{72450FBF-2EA8-4582-869E-9B2A7C4946D7}"/>
              </a:ext>
            </a:extLst>
          </p:cNvPr>
          <p:cNvSpPr/>
          <p:nvPr/>
        </p:nvSpPr>
        <p:spPr>
          <a:xfrm>
            <a:off x="622365" y="2088682"/>
            <a:ext cx="1355280" cy="243944"/>
          </a:xfrm>
          <a:prstGeom prst="rect">
            <a:avLst/>
          </a:prstGeom>
          <a:solidFill>
            <a:schemeClr val="bg1">
              <a:lumMod val="65000"/>
            </a:schemeClr>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r>
              <a:rPr kumimoji="1" lang="en-US" altLang="ja-JP" sz="1000" b="1" dirty="0">
                <a:solidFill>
                  <a:schemeClr val="bg1"/>
                </a:solidFill>
                <a:latin typeface="メイリオ" panose="020B0604030504040204" pitchFamily="50" charset="-128"/>
                <a:ea typeface="メイリオ" panose="020B0604030504040204" pitchFamily="50" charset="-128"/>
              </a:rPr>
              <a:t>HP</a:t>
            </a:r>
            <a:endParaRPr kumimoji="1" lang="ja-JP" altLang="en-US" sz="1000" b="1" dirty="0">
              <a:solidFill>
                <a:schemeClr val="bg1"/>
              </a:solidFill>
              <a:latin typeface="メイリオ" panose="020B0604030504040204" pitchFamily="50" charset="-128"/>
              <a:ea typeface="メイリオ" panose="020B0604030504040204" pitchFamily="50" charset="-128"/>
            </a:endParaRPr>
          </a:p>
        </p:txBody>
      </p:sp>
      <p:sp>
        <p:nvSpPr>
          <p:cNvPr id="10" name="正方形/長方形 9">
            <a:extLst>
              <a:ext uri="{FF2B5EF4-FFF2-40B4-BE49-F238E27FC236}">
                <a16:creationId xmlns:a16="http://schemas.microsoft.com/office/drawing/2014/main" id="{6891C2D7-8AEF-98E4-337B-283DC4374AFC}"/>
              </a:ext>
            </a:extLst>
          </p:cNvPr>
          <p:cNvSpPr/>
          <p:nvPr/>
        </p:nvSpPr>
        <p:spPr>
          <a:xfrm>
            <a:off x="622365" y="2350718"/>
            <a:ext cx="1355280" cy="243944"/>
          </a:xfrm>
          <a:prstGeom prst="rect">
            <a:avLst/>
          </a:prstGeom>
          <a:solidFill>
            <a:schemeClr val="bg1">
              <a:lumMod val="65000"/>
            </a:schemeClr>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r>
              <a:rPr kumimoji="1" lang="en-US" altLang="ja-JP" sz="1000" b="1" dirty="0">
                <a:solidFill>
                  <a:schemeClr val="bg1"/>
                </a:solidFill>
                <a:latin typeface="メイリオ" panose="020B0604030504040204" pitchFamily="50" charset="-128"/>
                <a:ea typeface="メイリオ" panose="020B0604030504040204" pitchFamily="50" charset="-128"/>
              </a:rPr>
              <a:t>LP</a:t>
            </a:r>
            <a:endParaRPr kumimoji="1" lang="ja-JP" altLang="en-US" sz="1000" b="1" dirty="0">
              <a:solidFill>
                <a:schemeClr val="bg1"/>
              </a:solidFill>
              <a:latin typeface="メイリオ" panose="020B0604030504040204" pitchFamily="50" charset="-128"/>
              <a:ea typeface="メイリオ" panose="020B0604030504040204" pitchFamily="50" charset="-128"/>
            </a:endParaRPr>
          </a:p>
        </p:txBody>
      </p:sp>
      <p:sp>
        <p:nvSpPr>
          <p:cNvPr id="11" name="正方形/長方形 10">
            <a:extLst>
              <a:ext uri="{FF2B5EF4-FFF2-40B4-BE49-F238E27FC236}">
                <a16:creationId xmlns:a16="http://schemas.microsoft.com/office/drawing/2014/main" id="{3670DE23-5EB2-C1E6-9ED3-6176C87DDEA9}"/>
              </a:ext>
            </a:extLst>
          </p:cNvPr>
          <p:cNvSpPr/>
          <p:nvPr/>
        </p:nvSpPr>
        <p:spPr>
          <a:xfrm>
            <a:off x="622365" y="2688156"/>
            <a:ext cx="1355280" cy="243944"/>
          </a:xfrm>
          <a:prstGeom prst="rect">
            <a:avLst/>
          </a:prstGeom>
          <a:solidFill>
            <a:schemeClr val="bg1">
              <a:lumMod val="65000"/>
            </a:schemeClr>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r>
              <a:rPr kumimoji="1" lang="ja-JP" altLang="en-US" sz="1000" b="1" dirty="0">
                <a:solidFill>
                  <a:schemeClr val="bg1"/>
                </a:solidFill>
                <a:latin typeface="メイリオ" panose="020B0604030504040204" pitchFamily="50" charset="-128"/>
                <a:ea typeface="メイリオ" panose="020B0604030504040204" pitchFamily="50" charset="-128"/>
              </a:rPr>
              <a:t>各種</a:t>
            </a:r>
            <a:r>
              <a:rPr kumimoji="1" lang="en-US" altLang="ja-JP" sz="1000" b="1" dirty="0">
                <a:solidFill>
                  <a:schemeClr val="bg1"/>
                </a:solidFill>
                <a:latin typeface="メイリオ" panose="020B0604030504040204" pitchFamily="50" charset="-128"/>
                <a:ea typeface="メイリオ" panose="020B0604030504040204" pitchFamily="50" charset="-128"/>
              </a:rPr>
              <a:t>SNS</a:t>
            </a:r>
            <a:endParaRPr kumimoji="1" lang="ja-JP" altLang="en-US" sz="1000" b="1" dirty="0">
              <a:solidFill>
                <a:schemeClr val="bg1"/>
              </a:solidFill>
              <a:latin typeface="メイリオ" panose="020B0604030504040204" pitchFamily="50" charset="-128"/>
              <a:ea typeface="メイリオ" panose="020B0604030504040204" pitchFamily="50" charset="-128"/>
            </a:endParaRPr>
          </a:p>
        </p:txBody>
      </p:sp>
      <p:sp>
        <p:nvSpPr>
          <p:cNvPr id="12" name="正方形/長方形 11">
            <a:extLst>
              <a:ext uri="{FF2B5EF4-FFF2-40B4-BE49-F238E27FC236}">
                <a16:creationId xmlns:a16="http://schemas.microsoft.com/office/drawing/2014/main" id="{98C708B2-F546-DE85-AA3B-2C7B33013111}"/>
              </a:ext>
            </a:extLst>
          </p:cNvPr>
          <p:cNvSpPr/>
          <p:nvPr/>
        </p:nvSpPr>
        <p:spPr>
          <a:xfrm>
            <a:off x="622365" y="3025594"/>
            <a:ext cx="1355280" cy="243944"/>
          </a:xfrm>
          <a:prstGeom prst="rect">
            <a:avLst/>
          </a:prstGeom>
          <a:solidFill>
            <a:schemeClr val="bg1">
              <a:lumMod val="65000"/>
            </a:schemeClr>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r>
              <a:rPr kumimoji="1" lang="ja-JP" altLang="en-US" sz="1000" b="1" dirty="0">
                <a:solidFill>
                  <a:schemeClr val="bg1"/>
                </a:solidFill>
                <a:latin typeface="メイリオ" panose="020B0604030504040204" pitchFamily="50" charset="-128"/>
                <a:ea typeface="メイリオ" panose="020B0604030504040204" pitchFamily="50" charset="-128"/>
              </a:rPr>
              <a:t>既存ユーザーリスト</a:t>
            </a:r>
          </a:p>
        </p:txBody>
      </p:sp>
      <p:sp>
        <p:nvSpPr>
          <p:cNvPr id="13" name="正方形/長方形 12">
            <a:extLst>
              <a:ext uri="{FF2B5EF4-FFF2-40B4-BE49-F238E27FC236}">
                <a16:creationId xmlns:a16="http://schemas.microsoft.com/office/drawing/2014/main" id="{812C768D-D601-2E13-45FD-BFE5BA587BC6}"/>
              </a:ext>
            </a:extLst>
          </p:cNvPr>
          <p:cNvSpPr/>
          <p:nvPr/>
        </p:nvSpPr>
        <p:spPr>
          <a:xfrm>
            <a:off x="622365" y="3700470"/>
            <a:ext cx="2943254" cy="243944"/>
          </a:xfrm>
          <a:prstGeom prst="rect">
            <a:avLst/>
          </a:prstGeom>
          <a:solidFill>
            <a:schemeClr val="tx2"/>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r>
              <a:rPr kumimoji="1" lang="en-US" altLang="ja-JP" sz="1000" b="1" dirty="0">
                <a:solidFill>
                  <a:schemeClr val="bg1"/>
                </a:solidFill>
                <a:latin typeface="メイリオ" panose="020B0604030504040204" pitchFamily="50" charset="-128"/>
                <a:ea typeface="メイリオ" panose="020B0604030504040204" pitchFamily="50" charset="-128"/>
              </a:rPr>
              <a:t>LINE_CPF</a:t>
            </a:r>
            <a:r>
              <a:rPr kumimoji="1" lang="ja-JP" altLang="en-US" sz="1000" b="1" dirty="0">
                <a:solidFill>
                  <a:schemeClr val="bg1"/>
                </a:solidFill>
                <a:latin typeface="メイリオ" panose="020B0604030504040204" pitchFamily="50" charset="-128"/>
                <a:ea typeface="メイリオ" panose="020B0604030504040204" pitchFamily="50" charset="-128"/>
              </a:rPr>
              <a:t>やその他</a:t>
            </a:r>
          </a:p>
        </p:txBody>
      </p:sp>
      <p:sp>
        <p:nvSpPr>
          <p:cNvPr id="14" name="正方形/長方形 13">
            <a:extLst>
              <a:ext uri="{FF2B5EF4-FFF2-40B4-BE49-F238E27FC236}">
                <a16:creationId xmlns:a16="http://schemas.microsoft.com/office/drawing/2014/main" id="{13127993-BF51-568A-20FB-A9FB1DB6C913}"/>
              </a:ext>
            </a:extLst>
          </p:cNvPr>
          <p:cNvSpPr/>
          <p:nvPr/>
        </p:nvSpPr>
        <p:spPr>
          <a:xfrm>
            <a:off x="8244294" y="2436791"/>
            <a:ext cx="1355280" cy="243944"/>
          </a:xfrm>
          <a:prstGeom prst="rect">
            <a:avLst/>
          </a:prstGeom>
          <a:solidFill>
            <a:srgbClr val="FF0000"/>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r>
              <a:rPr kumimoji="1" lang="en-US" altLang="ja-JP" sz="1000" b="1" dirty="0">
                <a:solidFill>
                  <a:schemeClr val="bg1"/>
                </a:solidFill>
                <a:latin typeface="メイリオ" panose="020B0604030504040204" pitchFamily="50" charset="-128"/>
                <a:ea typeface="メイリオ" panose="020B0604030504040204" pitchFamily="50" charset="-128"/>
              </a:rPr>
              <a:t>CV</a:t>
            </a:r>
            <a:endParaRPr kumimoji="1" lang="ja-JP" altLang="en-US" sz="1000" b="1" dirty="0">
              <a:solidFill>
                <a:schemeClr val="bg1"/>
              </a:solidFill>
              <a:latin typeface="メイリオ" panose="020B0604030504040204" pitchFamily="50" charset="-128"/>
              <a:ea typeface="メイリオ" panose="020B0604030504040204" pitchFamily="50" charset="-128"/>
            </a:endParaRPr>
          </a:p>
        </p:txBody>
      </p:sp>
      <p:sp>
        <p:nvSpPr>
          <p:cNvPr id="15" name="正方形/長方形 14">
            <a:extLst>
              <a:ext uri="{FF2B5EF4-FFF2-40B4-BE49-F238E27FC236}">
                <a16:creationId xmlns:a16="http://schemas.microsoft.com/office/drawing/2014/main" id="{2E81D74A-E79F-C90A-80AF-4F6BDF853777}"/>
              </a:ext>
            </a:extLst>
          </p:cNvPr>
          <p:cNvSpPr/>
          <p:nvPr/>
        </p:nvSpPr>
        <p:spPr>
          <a:xfrm>
            <a:off x="622365" y="3363032"/>
            <a:ext cx="2943254" cy="243944"/>
          </a:xfrm>
          <a:prstGeom prst="rect">
            <a:avLst/>
          </a:prstGeom>
          <a:solidFill>
            <a:schemeClr val="tx2"/>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r>
              <a:rPr lang="ja-JP" altLang="en-US" sz="1000" b="1" dirty="0">
                <a:solidFill>
                  <a:schemeClr val="bg1">
                    <a:lumMod val="75000"/>
                  </a:schemeClr>
                </a:solidFill>
                <a:latin typeface="メイリオ" panose="020B0604030504040204" pitchFamily="50" charset="-128"/>
                <a:ea typeface="メイリオ" panose="020B0604030504040204" pitchFamily="50" charset="-128"/>
              </a:rPr>
              <a:t>オフライン施策（ポップ、チラシ） </a:t>
            </a:r>
            <a:r>
              <a:rPr lang="en-US" altLang="ja-JP" sz="1000" b="1" dirty="0">
                <a:solidFill>
                  <a:schemeClr val="bg1">
                    <a:lumMod val="75000"/>
                  </a:schemeClr>
                </a:solidFill>
                <a:latin typeface="メイリオ" panose="020B0604030504040204" pitchFamily="50" charset="-128"/>
                <a:ea typeface="メイリオ" panose="020B0604030504040204" pitchFamily="50" charset="-128"/>
              </a:rPr>
              <a:t>※</a:t>
            </a:r>
            <a:r>
              <a:rPr lang="ja-JP" altLang="en-US" sz="1000" b="1" dirty="0">
                <a:solidFill>
                  <a:schemeClr val="bg1">
                    <a:lumMod val="75000"/>
                  </a:schemeClr>
                </a:solidFill>
                <a:latin typeface="メイリオ" panose="020B0604030504040204" pitchFamily="50" charset="-128"/>
                <a:ea typeface="メイリオ" panose="020B0604030504040204" pitchFamily="50" charset="-128"/>
              </a:rPr>
              <a:t>デザイン</a:t>
            </a:r>
            <a:endParaRPr kumimoji="1" lang="ja-JP" altLang="en-US" sz="1000" b="1" dirty="0">
              <a:solidFill>
                <a:schemeClr val="bg1">
                  <a:lumMod val="75000"/>
                </a:schemeClr>
              </a:solidFill>
              <a:latin typeface="メイリオ" panose="020B0604030504040204" pitchFamily="50" charset="-128"/>
              <a:ea typeface="メイリオ" panose="020B0604030504040204" pitchFamily="50" charset="-128"/>
            </a:endParaRPr>
          </a:p>
        </p:txBody>
      </p:sp>
      <p:sp>
        <p:nvSpPr>
          <p:cNvPr id="16" name="正方形/長方形 15">
            <a:extLst>
              <a:ext uri="{FF2B5EF4-FFF2-40B4-BE49-F238E27FC236}">
                <a16:creationId xmlns:a16="http://schemas.microsoft.com/office/drawing/2014/main" id="{346217DB-3E59-DD17-6353-BB21863AB6A4}"/>
              </a:ext>
            </a:extLst>
          </p:cNvPr>
          <p:cNvSpPr/>
          <p:nvPr/>
        </p:nvSpPr>
        <p:spPr>
          <a:xfrm>
            <a:off x="2023716" y="3027253"/>
            <a:ext cx="1543806" cy="243944"/>
          </a:xfrm>
          <a:prstGeom prst="rect">
            <a:avLst/>
          </a:prstGeom>
          <a:solidFill>
            <a:schemeClr val="tx2"/>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r>
              <a:rPr lang="ja-JP" altLang="en-US" sz="1000" b="1" dirty="0">
                <a:solidFill>
                  <a:schemeClr val="bg1">
                    <a:lumMod val="75000"/>
                  </a:schemeClr>
                </a:solidFill>
                <a:latin typeface="メイリオ" panose="020B0604030504040204" pitchFamily="50" charset="-128"/>
                <a:ea typeface="メイリオ" panose="020B0604030504040204" pitchFamily="50" charset="-128"/>
              </a:rPr>
              <a:t>メルマガ </a:t>
            </a:r>
            <a:r>
              <a:rPr lang="en-US" altLang="ja-JP" sz="1000" b="1" dirty="0">
                <a:solidFill>
                  <a:schemeClr val="bg1">
                    <a:lumMod val="75000"/>
                  </a:schemeClr>
                </a:solidFill>
                <a:latin typeface="メイリオ" panose="020B0604030504040204" pitchFamily="50" charset="-128"/>
                <a:ea typeface="メイリオ" panose="020B0604030504040204" pitchFamily="50" charset="-128"/>
              </a:rPr>
              <a:t>※</a:t>
            </a:r>
            <a:r>
              <a:rPr lang="ja-JP" altLang="en-US" sz="1000" b="1" dirty="0">
                <a:solidFill>
                  <a:schemeClr val="bg1">
                    <a:lumMod val="75000"/>
                  </a:schemeClr>
                </a:solidFill>
                <a:latin typeface="メイリオ" panose="020B0604030504040204" pitchFamily="50" charset="-128"/>
                <a:ea typeface="メイリオ" panose="020B0604030504040204" pitchFamily="50" charset="-128"/>
              </a:rPr>
              <a:t>デザイン</a:t>
            </a:r>
            <a:endParaRPr kumimoji="1" lang="ja-JP" altLang="en-US" sz="1000" b="1" dirty="0">
              <a:solidFill>
                <a:schemeClr val="bg1">
                  <a:lumMod val="75000"/>
                </a:schemeClr>
              </a:solidFill>
              <a:latin typeface="メイリオ" panose="020B0604030504040204" pitchFamily="50" charset="-128"/>
              <a:ea typeface="メイリオ" panose="020B0604030504040204" pitchFamily="50" charset="-128"/>
            </a:endParaRPr>
          </a:p>
        </p:txBody>
      </p:sp>
      <p:sp>
        <p:nvSpPr>
          <p:cNvPr id="17" name="正方形/長方形 16">
            <a:extLst>
              <a:ext uri="{FF2B5EF4-FFF2-40B4-BE49-F238E27FC236}">
                <a16:creationId xmlns:a16="http://schemas.microsoft.com/office/drawing/2014/main" id="{85B73343-1515-8075-50D7-828D2C7D0482}"/>
              </a:ext>
            </a:extLst>
          </p:cNvPr>
          <p:cNvSpPr/>
          <p:nvPr/>
        </p:nvSpPr>
        <p:spPr>
          <a:xfrm>
            <a:off x="2013104" y="2177900"/>
            <a:ext cx="1543806" cy="295172"/>
          </a:xfrm>
          <a:prstGeom prst="rect">
            <a:avLst/>
          </a:prstGeom>
          <a:solidFill>
            <a:schemeClr val="tx2"/>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r>
              <a:rPr lang="en-US" altLang="ja-JP" sz="1000" b="1" dirty="0">
                <a:solidFill>
                  <a:schemeClr val="bg1"/>
                </a:solidFill>
                <a:latin typeface="メイリオ" panose="020B0604030504040204" pitchFamily="50" charset="-128"/>
                <a:ea typeface="メイリオ" panose="020B0604030504040204" pitchFamily="50" charset="-128"/>
              </a:rPr>
              <a:t>(</a:t>
            </a:r>
            <a:r>
              <a:rPr lang="ja-JP" altLang="en-US" sz="1000" b="1" dirty="0">
                <a:solidFill>
                  <a:schemeClr val="bg1"/>
                </a:solidFill>
                <a:latin typeface="メイリオ" panose="020B0604030504040204" pitchFamily="50" charset="-128"/>
                <a:ea typeface="メイリオ" panose="020B0604030504040204" pitchFamily="50" charset="-128"/>
              </a:rPr>
              <a:t>離脱防止バナー</a:t>
            </a:r>
            <a:r>
              <a:rPr lang="en-US" altLang="ja-JP" sz="1000" b="1" dirty="0">
                <a:solidFill>
                  <a:schemeClr val="bg1"/>
                </a:solidFill>
                <a:latin typeface="メイリオ" panose="020B0604030504040204" pitchFamily="50" charset="-128"/>
                <a:ea typeface="メイリオ" panose="020B0604030504040204" pitchFamily="50" charset="-128"/>
              </a:rPr>
              <a:t>)</a:t>
            </a:r>
            <a:endParaRPr kumimoji="1" lang="ja-JP" altLang="en-US" sz="1000" b="1" dirty="0">
              <a:solidFill>
                <a:schemeClr val="bg1"/>
              </a:solidFill>
              <a:latin typeface="メイリオ" panose="020B0604030504040204" pitchFamily="50" charset="-128"/>
              <a:ea typeface="メイリオ" panose="020B0604030504040204" pitchFamily="50" charset="-128"/>
            </a:endParaRPr>
          </a:p>
        </p:txBody>
      </p:sp>
      <p:cxnSp>
        <p:nvCxnSpPr>
          <p:cNvPr id="18" name="コネクタ: カギ線 17">
            <a:extLst>
              <a:ext uri="{FF2B5EF4-FFF2-40B4-BE49-F238E27FC236}">
                <a16:creationId xmlns:a16="http://schemas.microsoft.com/office/drawing/2014/main" id="{10A164B9-404C-F131-0FB7-4A7EC00628C8}"/>
              </a:ext>
            </a:extLst>
          </p:cNvPr>
          <p:cNvCxnSpPr>
            <a:cxnSpLocks/>
            <a:stCxn id="11" idx="3"/>
          </p:cNvCxnSpPr>
          <p:nvPr/>
        </p:nvCxnSpPr>
        <p:spPr>
          <a:xfrm flipV="1">
            <a:off x="1977645" y="2569014"/>
            <a:ext cx="1898060" cy="241114"/>
          </a:xfrm>
          <a:prstGeom prst="bentConnector3">
            <a:avLst>
              <a:gd name="adj1" fmla="val 88139"/>
            </a:avLst>
          </a:prstGeom>
          <a:ln>
            <a:solidFill>
              <a:schemeClr val="bg1">
                <a:lumMod val="75000"/>
              </a:schemeClr>
            </a:solidFill>
            <a:prstDash val="sysDash"/>
            <a:tailEnd type="triangle"/>
          </a:ln>
        </p:spPr>
        <p:style>
          <a:lnRef idx="1">
            <a:schemeClr val="accent1"/>
          </a:lnRef>
          <a:fillRef idx="0">
            <a:schemeClr val="accent1"/>
          </a:fillRef>
          <a:effectRef idx="0">
            <a:schemeClr val="accent1"/>
          </a:effectRef>
          <a:fontRef idx="minor">
            <a:schemeClr val="tx1"/>
          </a:fontRef>
        </p:style>
      </p:cxnSp>
      <p:sp>
        <p:nvSpPr>
          <p:cNvPr id="19" name="正方形/長方形 18">
            <a:extLst>
              <a:ext uri="{FF2B5EF4-FFF2-40B4-BE49-F238E27FC236}">
                <a16:creationId xmlns:a16="http://schemas.microsoft.com/office/drawing/2014/main" id="{AB39E10C-FA5C-42F3-51FF-A98C96D3A9FE}"/>
              </a:ext>
            </a:extLst>
          </p:cNvPr>
          <p:cNvSpPr/>
          <p:nvPr/>
        </p:nvSpPr>
        <p:spPr>
          <a:xfrm>
            <a:off x="8244294" y="2152294"/>
            <a:ext cx="1355280" cy="243944"/>
          </a:xfrm>
          <a:prstGeom prst="rect">
            <a:avLst/>
          </a:prstGeom>
          <a:solidFill>
            <a:schemeClr val="bg1">
              <a:lumMod val="75000"/>
            </a:schemeClr>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r>
              <a:rPr kumimoji="1" lang="ja-JP" altLang="en-US" sz="1000" b="1" dirty="0">
                <a:solidFill>
                  <a:schemeClr val="bg1"/>
                </a:solidFill>
                <a:latin typeface="メイリオ" panose="020B0604030504040204" pitchFamily="50" charset="-128"/>
                <a:ea typeface="メイリオ" panose="020B0604030504040204" pitchFamily="50" charset="-128"/>
              </a:rPr>
              <a:t>営業トスアップ</a:t>
            </a:r>
          </a:p>
        </p:txBody>
      </p:sp>
      <p:sp>
        <p:nvSpPr>
          <p:cNvPr id="20" name="正方形/長方形 19">
            <a:extLst>
              <a:ext uri="{FF2B5EF4-FFF2-40B4-BE49-F238E27FC236}">
                <a16:creationId xmlns:a16="http://schemas.microsoft.com/office/drawing/2014/main" id="{EF3EB03D-B886-80C5-4DDF-AD318BB1E8CB}"/>
              </a:ext>
            </a:extLst>
          </p:cNvPr>
          <p:cNvSpPr/>
          <p:nvPr/>
        </p:nvSpPr>
        <p:spPr>
          <a:xfrm>
            <a:off x="6518100" y="4966862"/>
            <a:ext cx="2292685" cy="221767"/>
          </a:xfrm>
          <a:prstGeom prst="rect">
            <a:avLst/>
          </a:prstGeom>
          <a:solidFill>
            <a:schemeClr val="tx1">
              <a:lumMod val="50000"/>
              <a:lumOff val="50000"/>
            </a:schemeClr>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r>
              <a:rPr kumimoji="1" lang="en-US" altLang="ja-JP" sz="1000" dirty="0">
                <a:solidFill>
                  <a:schemeClr val="bg1"/>
                </a:solidFill>
                <a:latin typeface="メイリオ" panose="020B0604030504040204" pitchFamily="50" charset="-128"/>
                <a:ea typeface="メイリオ" panose="020B0604030504040204" pitchFamily="50" charset="-128"/>
              </a:rPr>
              <a:t>GA</a:t>
            </a:r>
            <a:r>
              <a:rPr kumimoji="1" lang="ja-JP" altLang="en-US" sz="1000" dirty="0">
                <a:solidFill>
                  <a:schemeClr val="bg1"/>
                </a:solidFill>
                <a:latin typeface="メイリオ" panose="020B0604030504040204" pitchFamily="50" charset="-128"/>
                <a:ea typeface="メイリオ" panose="020B0604030504040204" pitchFamily="50" charset="-128"/>
              </a:rPr>
              <a:t>レポーティング対応</a:t>
            </a:r>
          </a:p>
        </p:txBody>
      </p:sp>
      <p:sp>
        <p:nvSpPr>
          <p:cNvPr id="21" name="正方形/長方形 20">
            <a:extLst>
              <a:ext uri="{FF2B5EF4-FFF2-40B4-BE49-F238E27FC236}">
                <a16:creationId xmlns:a16="http://schemas.microsoft.com/office/drawing/2014/main" id="{8185B158-D6FD-FC9A-D842-E0184FC04A2F}"/>
              </a:ext>
            </a:extLst>
          </p:cNvPr>
          <p:cNvSpPr/>
          <p:nvPr/>
        </p:nvSpPr>
        <p:spPr>
          <a:xfrm>
            <a:off x="6518100" y="5235296"/>
            <a:ext cx="2292685" cy="221767"/>
          </a:xfrm>
          <a:prstGeom prst="rect">
            <a:avLst/>
          </a:prstGeom>
          <a:solidFill>
            <a:schemeClr val="tx1">
              <a:lumMod val="50000"/>
              <a:lumOff val="50000"/>
            </a:schemeClr>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r>
              <a:rPr kumimoji="1" lang="ja-JP" altLang="en-US" sz="1000" dirty="0">
                <a:solidFill>
                  <a:schemeClr val="bg1"/>
                </a:solidFill>
                <a:latin typeface="メイリオ" panose="020B0604030504040204" pitchFamily="50" charset="-128"/>
                <a:ea typeface="メイリオ" panose="020B0604030504040204" pitchFamily="50" charset="-128"/>
              </a:rPr>
              <a:t>投稿スケジュール確認</a:t>
            </a:r>
            <a:endParaRPr kumimoji="1" lang="en-US" altLang="ja-JP" sz="1000" dirty="0">
              <a:solidFill>
                <a:schemeClr val="bg1"/>
              </a:solidFill>
              <a:latin typeface="メイリオ" panose="020B0604030504040204" pitchFamily="50" charset="-128"/>
              <a:ea typeface="メイリオ" panose="020B0604030504040204" pitchFamily="50" charset="-128"/>
            </a:endParaRPr>
          </a:p>
        </p:txBody>
      </p:sp>
      <p:sp>
        <p:nvSpPr>
          <p:cNvPr id="22" name="正方形/長方形 21">
            <a:extLst>
              <a:ext uri="{FF2B5EF4-FFF2-40B4-BE49-F238E27FC236}">
                <a16:creationId xmlns:a16="http://schemas.microsoft.com/office/drawing/2014/main" id="{CAF16DCF-7CE0-97CD-A1FD-09B08149FF7B}"/>
              </a:ext>
            </a:extLst>
          </p:cNvPr>
          <p:cNvSpPr/>
          <p:nvPr/>
        </p:nvSpPr>
        <p:spPr>
          <a:xfrm>
            <a:off x="6518099" y="5772164"/>
            <a:ext cx="2292685" cy="221767"/>
          </a:xfrm>
          <a:prstGeom prst="rect">
            <a:avLst/>
          </a:prstGeom>
          <a:solidFill>
            <a:schemeClr val="tx1">
              <a:lumMod val="50000"/>
              <a:lumOff val="50000"/>
            </a:schemeClr>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r>
              <a:rPr kumimoji="1" lang="en-US" altLang="ja-JP" sz="1000" dirty="0">
                <a:solidFill>
                  <a:schemeClr val="bg1"/>
                </a:solidFill>
                <a:latin typeface="メイリオ" panose="020B0604030504040204" pitchFamily="50" charset="-128"/>
                <a:ea typeface="メイリオ" panose="020B0604030504040204" pitchFamily="50" charset="-128"/>
              </a:rPr>
              <a:t>Call Plus</a:t>
            </a:r>
            <a:endParaRPr kumimoji="1" lang="ja-JP" altLang="en-US" sz="1000" dirty="0">
              <a:solidFill>
                <a:schemeClr val="bg1"/>
              </a:solidFill>
              <a:latin typeface="メイリオ" panose="020B0604030504040204" pitchFamily="50" charset="-128"/>
              <a:ea typeface="メイリオ" panose="020B0604030504040204" pitchFamily="50" charset="-128"/>
            </a:endParaRPr>
          </a:p>
        </p:txBody>
      </p:sp>
      <p:sp>
        <p:nvSpPr>
          <p:cNvPr id="23" name="正方形/長方形 22">
            <a:extLst>
              <a:ext uri="{FF2B5EF4-FFF2-40B4-BE49-F238E27FC236}">
                <a16:creationId xmlns:a16="http://schemas.microsoft.com/office/drawing/2014/main" id="{DE164E19-C9CA-ADE8-FE9B-4A4096DD13BE}"/>
              </a:ext>
            </a:extLst>
          </p:cNvPr>
          <p:cNvSpPr/>
          <p:nvPr/>
        </p:nvSpPr>
        <p:spPr>
          <a:xfrm>
            <a:off x="6518099" y="5503730"/>
            <a:ext cx="2292685" cy="221767"/>
          </a:xfrm>
          <a:prstGeom prst="rect">
            <a:avLst/>
          </a:prstGeom>
          <a:solidFill>
            <a:schemeClr val="tx1">
              <a:lumMod val="50000"/>
              <a:lumOff val="50000"/>
            </a:schemeClr>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r>
              <a:rPr kumimoji="1" lang="en-US" altLang="ja-JP" sz="1000" dirty="0">
                <a:solidFill>
                  <a:schemeClr val="bg1"/>
                </a:solidFill>
                <a:latin typeface="メイリオ" panose="020B0604030504040204" pitchFamily="50" charset="-128"/>
                <a:ea typeface="メイリオ" panose="020B0604030504040204" pitchFamily="50" charset="-128"/>
              </a:rPr>
              <a:t>Chat Plus</a:t>
            </a:r>
            <a:endParaRPr kumimoji="1" lang="ja-JP" altLang="en-US" sz="1000" dirty="0">
              <a:solidFill>
                <a:schemeClr val="bg1"/>
              </a:solidFill>
              <a:latin typeface="メイリオ" panose="020B0604030504040204" pitchFamily="50" charset="-128"/>
              <a:ea typeface="メイリオ" panose="020B0604030504040204" pitchFamily="50" charset="-128"/>
            </a:endParaRPr>
          </a:p>
        </p:txBody>
      </p:sp>
      <p:sp>
        <p:nvSpPr>
          <p:cNvPr id="24" name="正方形/長方形 23">
            <a:extLst>
              <a:ext uri="{FF2B5EF4-FFF2-40B4-BE49-F238E27FC236}">
                <a16:creationId xmlns:a16="http://schemas.microsoft.com/office/drawing/2014/main" id="{FF9A810E-B53B-2631-3BD5-00395512E9C0}"/>
              </a:ext>
            </a:extLst>
          </p:cNvPr>
          <p:cNvSpPr/>
          <p:nvPr/>
        </p:nvSpPr>
        <p:spPr>
          <a:xfrm>
            <a:off x="6518099" y="6040598"/>
            <a:ext cx="2292685" cy="221767"/>
          </a:xfrm>
          <a:prstGeom prst="rect">
            <a:avLst/>
          </a:prstGeom>
          <a:solidFill>
            <a:schemeClr val="tx1">
              <a:lumMod val="50000"/>
              <a:lumOff val="50000"/>
            </a:schemeClr>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r>
              <a:rPr kumimoji="1" lang="ja-JP" altLang="en-US" sz="1000" dirty="0">
                <a:solidFill>
                  <a:schemeClr val="bg1"/>
                </a:solidFill>
                <a:latin typeface="メイリオ" panose="020B0604030504040204" pitchFamily="50" charset="-128"/>
                <a:ea typeface="メイリオ" panose="020B0604030504040204" pitchFamily="50" charset="-128"/>
              </a:rPr>
              <a:t>通知メッセージ</a:t>
            </a:r>
            <a:r>
              <a:rPr kumimoji="1" lang="en-US" altLang="ja-JP" sz="1000" dirty="0">
                <a:solidFill>
                  <a:schemeClr val="bg1"/>
                </a:solidFill>
                <a:latin typeface="メイリオ" panose="020B0604030504040204" pitchFamily="50" charset="-128"/>
                <a:ea typeface="メイリオ" panose="020B0604030504040204" pitchFamily="50" charset="-128"/>
              </a:rPr>
              <a:t>(</a:t>
            </a:r>
            <a:r>
              <a:rPr kumimoji="1" lang="en-US" altLang="ja-JP" sz="1000" dirty="0" err="1">
                <a:solidFill>
                  <a:schemeClr val="bg1"/>
                </a:solidFill>
                <a:latin typeface="メイリオ" panose="020B0604030504040204" pitchFamily="50" charset="-128"/>
                <a:ea typeface="メイリオ" panose="020B0604030504040204" pitchFamily="50" charset="-128"/>
              </a:rPr>
              <a:t>OptionAPI</a:t>
            </a:r>
            <a:r>
              <a:rPr kumimoji="1" lang="en-US" altLang="ja-JP" sz="1000" dirty="0">
                <a:solidFill>
                  <a:schemeClr val="bg1"/>
                </a:solidFill>
                <a:latin typeface="メイリオ" panose="020B0604030504040204" pitchFamily="50" charset="-128"/>
                <a:ea typeface="メイリオ" panose="020B0604030504040204" pitchFamily="50" charset="-128"/>
              </a:rPr>
              <a:t>)</a:t>
            </a:r>
            <a:endParaRPr kumimoji="1" lang="ja-JP" altLang="en-US" sz="1000" dirty="0">
              <a:solidFill>
                <a:schemeClr val="bg1"/>
              </a:solidFill>
              <a:latin typeface="メイリオ" panose="020B0604030504040204" pitchFamily="50" charset="-128"/>
              <a:ea typeface="メイリオ" panose="020B0604030504040204" pitchFamily="50" charset="-128"/>
            </a:endParaRPr>
          </a:p>
        </p:txBody>
      </p:sp>
      <p:sp>
        <p:nvSpPr>
          <p:cNvPr id="25" name="正方形/長方形 24">
            <a:extLst>
              <a:ext uri="{FF2B5EF4-FFF2-40B4-BE49-F238E27FC236}">
                <a16:creationId xmlns:a16="http://schemas.microsoft.com/office/drawing/2014/main" id="{1DF80BB2-F1C3-A39C-D441-B75E4795CC5B}"/>
              </a:ext>
            </a:extLst>
          </p:cNvPr>
          <p:cNvSpPr/>
          <p:nvPr/>
        </p:nvSpPr>
        <p:spPr>
          <a:xfrm>
            <a:off x="6518099" y="4775069"/>
            <a:ext cx="1424263" cy="163739"/>
          </a:xfrm>
          <a:prstGeom prst="rect">
            <a:avLst/>
          </a:prstGeom>
          <a:solidFill>
            <a:schemeClr val="bg1">
              <a:lumMod val="95000"/>
            </a:schemeClr>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r>
              <a:rPr kumimoji="1" lang="ja-JP" altLang="en-US" sz="800" dirty="0">
                <a:solidFill>
                  <a:schemeClr val="tx1">
                    <a:lumMod val="50000"/>
                    <a:lumOff val="50000"/>
                  </a:schemeClr>
                </a:solidFill>
                <a:latin typeface="メイリオ" panose="020B0604030504040204" pitchFamily="50" charset="-128"/>
                <a:ea typeface="メイリオ" panose="020B0604030504040204" pitchFamily="50" charset="-128"/>
              </a:rPr>
              <a:t>定期対応項目</a:t>
            </a:r>
            <a:r>
              <a:rPr kumimoji="1" lang="en-US" altLang="ja-JP" sz="800" dirty="0">
                <a:solidFill>
                  <a:schemeClr val="tx1">
                    <a:lumMod val="50000"/>
                    <a:lumOff val="50000"/>
                  </a:schemeClr>
                </a:solidFill>
                <a:latin typeface="メイリオ" panose="020B0604030504040204" pitchFamily="50" charset="-128"/>
                <a:ea typeface="メイリオ" panose="020B0604030504040204" pitchFamily="50" charset="-128"/>
              </a:rPr>
              <a:t>(</a:t>
            </a:r>
            <a:r>
              <a:rPr kumimoji="1" lang="ja-JP" altLang="en-US" sz="800" dirty="0">
                <a:solidFill>
                  <a:schemeClr val="tx1">
                    <a:lumMod val="50000"/>
                    <a:lumOff val="50000"/>
                  </a:schemeClr>
                </a:solidFill>
                <a:latin typeface="メイリオ" panose="020B0604030504040204" pitchFamily="50" charset="-128"/>
                <a:ea typeface="メイリオ" panose="020B0604030504040204" pitchFamily="50" charset="-128"/>
              </a:rPr>
              <a:t>一部抽出</a:t>
            </a:r>
            <a:r>
              <a:rPr kumimoji="1" lang="en-US" altLang="ja-JP" sz="800" dirty="0">
                <a:solidFill>
                  <a:schemeClr val="tx1">
                    <a:lumMod val="50000"/>
                    <a:lumOff val="50000"/>
                  </a:schemeClr>
                </a:solidFill>
                <a:latin typeface="メイリオ" panose="020B0604030504040204" pitchFamily="50" charset="-128"/>
                <a:ea typeface="メイリオ" panose="020B0604030504040204" pitchFamily="50" charset="-128"/>
              </a:rPr>
              <a:t>)</a:t>
            </a:r>
          </a:p>
        </p:txBody>
      </p:sp>
      <p:sp>
        <p:nvSpPr>
          <p:cNvPr id="26" name="正方形/長方形 25">
            <a:extLst>
              <a:ext uri="{FF2B5EF4-FFF2-40B4-BE49-F238E27FC236}">
                <a16:creationId xmlns:a16="http://schemas.microsoft.com/office/drawing/2014/main" id="{CABD8985-CFB7-BFB4-C5CA-334F6DD3C337}"/>
              </a:ext>
            </a:extLst>
          </p:cNvPr>
          <p:cNvSpPr/>
          <p:nvPr/>
        </p:nvSpPr>
        <p:spPr>
          <a:xfrm>
            <a:off x="3708284" y="2014854"/>
            <a:ext cx="4080010" cy="2098921"/>
          </a:xfrm>
          <a:prstGeom prst="rect">
            <a:avLst/>
          </a:prstGeom>
          <a:solidFill>
            <a:srgbClr val="04FA0A">
              <a:alpha val="8000"/>
            </a:srgbClr>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endParaRPr kumimoji="1" lang="ja-JP" altLang="en-US" sz="1000">
              <a:solidFill>
                <a:schemeClr val="tx1"/>
              </a:solidFill>
              <a:latin typeface="メイリオ" panose="020B0604030504040204" pitchFamily="50" charset="-128"/>
              <a:ea typeface="メイリオ" panose="020B0604030504040204" pitchFamily="50" charset="-128"/>
            </a:endParaRPr>
          </a:p>
        </p:txBody>
      </p:sp>
      <p:sp>
        <p:nvSpPr>
          <p:cNvPr id="27" name="正方形/長方形 26">
            <a:extLst>
              <a:ext uri="{FF2B5EF4-FFF2-40B4-BE49-F238E27FC236}">
                <a16:creationId xmlns:a16="http://schemas.microsoft.com/office/drawing/2014/main" id="{498D1E1C-883A-4348-5898-29B2849E59E6}"/>
              </a:ext>
            </a:extLst>
          </p:cNvPr>
          <p:cNvSpPr/>
          <p:nvPr/>
        </p:nvSpPr>
        <p:spPr>
          <a:xfrm>
            <a:off x="3875705" y="2447042"/>
            <a:ext cx="1355280" cy="243944"/>
          </a:xfrm>
          <a:prstGeom prst="rect">
            <a:avLst/>
          </a:prstGeom>
          <a:solidFill>
            <a:schemeClr val="tx1">
              <a:lumMod val="50000"/>
              <a:lumOff val="50000"/>
            </a:schemeClr>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r>
              <a:rPr kumimoji="1" lang="ja-JP" altLang="en-US" sz="1000" b="1" dirty="0">
                <a:solidFill>
                  <a:schemeClr val="bg1"/>
                </a:solidFill>
                <a:latin typeface="メイリオ" panose="020B0604030504040204" pitchFamily="50" charset="-128"/>
                <a:ea typeface="メイリオ" panose="020B0604030504040204" pitchFamily="50" charset="-128"/>
              </a:rPr>
              <a:t>友だち追加</a:t>
            </a:r>
          </a:p>
        </p:txBody>
      </p:sp>
      <p:cxnSp>
        <p:nvCxnSpPr>
          <p:cNvPr id="28" name="コネクタ: カギ線 27">
            <a:extLst>
              <a:ext uri="{FF2B5EF4-FFF2-40B4-BE49-F238E27FC236}">
                <a16:creationId xmlns:a16="http://schemas.microsoft.com/office/drawing/2014/main" id="{2981AEA5-C263-1A76-AF6F-7D4F94F3AC3F}"/>
              </a:ext>
            </a:extLst>
          </p:cNvPr>
          <p:cNvCxnSpPr>
            <a:cxnSpLocks/>
          </p:cNvCxnSpPr>
          <p:nvPr/>
        </p:nvCxnSpPr>
        <p:spPr>
          <a:xfrm flipV="1">
            <a:off x="3565619" y="2569014"/>
            <a:ext cx="310086" cy="915990"/>
          </a:xfrm>
          <a:prstGeom prst="bentConnector3">
            <a:avLst>
              <a:gd name="adj1" fmla="val 27532"/>
            </a:avLst>
          </a:prstGeom>
          <a:ln>
            <a:solidFill>
              <a:schemeClr val="tx2"/>
            </a:solidFill>
            <a:prstDash val="sysDash"/>
            <a:tailEnd type="triangle"/>
          </a:ln>
        </p:spPr>
        <p:style>
          <a:lnRef idx="1">
            <a:schemeClr val="accent1"/>
          </a:lnRef>
          <a:fillRef idx="0">
            <a:schemeClr val="accent1"/>
          </a:fillRef>
          <a:effectRef idx="0">
            <a:schemeClr val="accent1"/>
          </a:effectRef>
          <a:fontRef idx="minor">
            <a:schemeClr val="tx1"/>
          </a:fontRef>
        </p:style>
      </p:cxnSp>
      <p:cxnSp>
        <p:nvCxnSpPr>
          <p:cNvPr id="29" name="コネクタ: カギ線 28">
            <a:extLst>
              <a:ext uri="{FF2B5EF4-FFF2-40B4-BE49-F238E27FC236}">
                <a16:creationId xmlns:a16="http://schemas.microsoft.com/office/drawing/2014/main" id="{6898DA80-B20A-0E45-B382-62A8490927C1}"/>
              </a:ext>
            </a:extLst>
          </p:cNvPr>
          <p:cNvCxnSpPr>
            <a:cxnSpLocks/>
          </p:cNvCxnSpPr>
          <p:nvPr/>
        </p:nvCxnSpPr>
        <p:spPr>
          <a:xfrm flipV="1">
            <a:off x="3556910" y="2569014"/>
            <a:ext cx="310086" cy="1253428"/>
          </a:xfrm>
          <a:prstGeom prst="bentConnector3">
            <a:avLst>
              <a:gd name="adj1" fmla="val 30341"/>
            </a:avLst>
          </a:prstGeom>
          <a:ln>
            <a:solidFill>
              <a:schemeClr val="tx2"/>
            </a:solidFill>
            <a:prstDash val="sysDash"/>
            <a:tailEnd type="triangle"/>
          </a:ln>
        </p:spPr>
        <p:style>
          <a:lnRef idx="1">
            <a:schemeClr val="accent1"/>
          </a:lnRef>
          <a:fillRef idx="0">
            <a:schemeClr val="accent1"/>
          </a:fillRef>
          <a:effectRef idx="0">
            <a:schemeClr val="accent1"/>
          </a:effectRef>
          <a:fontRef idx="minor">
            <a:schemeClr val="tx1"/>
          </a:fontRef>
        </p:style>
      </p:cxnSp>
      <p:cxnSp>
        <p:nvCxnSpPr>
          <p:cNvPr id="30" name="コネクタ: カギ線 29">
            <a:extLst>
              <a:ext uri="{FF2B5EF4-FFF2-40B4-BE49-F238E27FC236}">
                <a16:creationId xmlns:a16="http://schemas.microsoft.com/office/drawing/2014/main" id="{4194983F-AFC0-FB2F-1207-1AF108AFDA19}"/>
              </a:ext>
            </a:extLst>
          </p:cNvPr>
          <p:cNvCxnSpPr>
            <a:cxnSpLocks/>
          </p:cNvCxnSpPr>
          <p:nvPr/>
        </p:nvCxnSpPr>
        <p:spPr>
          <a:xfrm>
            <a:off x="3556910" y="2325486"/>
            <a:ext cx="318795" cy="243528"/>
          </a:xfrm>
          <a:prstGeom prst="bentConnector3">
            <a:avLst>
              <a:gd name="adj1" fmla="val 28488"/>
            </a:avLst>
          </a:prstGeom>
          <a:ln>
            <a:solidFill>
              <a:schemeClr val="tx2"/>
            </a:solidFill>
            <a:prstDash val="sysDash"/>
            <a:tailEnd type="triangle"/>
          </a:ln>
        </p:spPr>
        <p:style>
          <a:lnRef idx="1">
            <a:schemeClr val="accent1"/>
          </a:lnRef>
          <a:fillRef idx="0">
            <a:schemeClr val="accent1"/>
          </a:fillRef>
          <a:effectRef idx="0">
            <a:schemeClr val="accent1"/>
          </a:effectRef>
          <a:fontRef idx="minor">
            <a:schemeClr val="tx1"/>
          </a:fontRef>
        </p:style>
      </p:cxnSp>
      <p:sp>
        <p:nvSpPr>
          <p:cNvPr id="31" name="正方形/長方形 30">
            <a:extLst>
              <a:ext uri="{FF2B5EF4-FFF2-40B4-BE49-F238E27FC236}">
                <a16:creationId xmlns:a16="http://schemas.microsoft.com/office/drawing/2014/main" id="{B20DB094-045E-2E0D-7026-B0BFFA8F2374}"/>
              </a:ext>
            </a:extLst>
          </p:cNvPr>
          <p:cNvSpPr/>
          <p:nvPr/>
        </p:nvSpPr>
        <p:spPr>
          <a:xfrm>
            <a:off x="5393176" y="2150297"/>
            <a:ext cx="2292685" cy="221767"/>
          </a:xfrm>
          <a:prstGeom prst="rect">
            <a:avLst/>
          </a:prstGeom>
          <a:solidFill>
            <a:schemeClr val="tx2">
              <a:lumMod val="75000"/>
            </a:schemeClr>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r>
              <a:rPr kumimoji="1" lang="ja-JP" altLang="en-US" sz="1000" b="1" dirty="0">
                <a:solidFill>
                  <a:schemeClr val="bg1"/>
                </a:solidFill>
                <a:latin typeface="メイリオ" panose="020B0604030504040204" pitchFamily="50" charset="-128"/>
                <a:ea typeface="メイリオ" panose="020B0604030504040204" pitchFamily="50" charset="-128"/>
              </a:rPr>
              <a:t>企画配信（セグメント配信）</a:t>
            </a:r>
          </a:p>
        </p:txBody>
      </p:sp>
      <p:sp>
        <p:nvSpPr>
          <p:cNvPr id="32" name="正方形/長方形 31">
            <a:extLst>
              <a:ext uri="{FF2B5EF4-FFF2-40B4-BE49-F238E27FC236}">
                <a16:creationId xmlns:a16="http://schemas.microsoft.com/office/drawing/2014/main" id="{960DE889-CA21-9C03-FD30-9F8BA1C11BE0}"/>
              </a:ext>
            </a:extLst>
          </p:cNvPr>
          <p:cNvSpPr/>
          <p:nvPr/>
        </p:nvSpPr>
        <p:spPr>
          <a:xfrm>
            <a:off x="5393176" y="2415892"/>
            <a:ext cx="2292685" cy="221767"/>
          </a:xfrm>
          <a:prstGeom prst="rect">
            <a:avLst/>
          </a:prstGeom>
          <a:solidFill>
            <a:schemeClr val="tx2">
              <a:lumMod val="75000"/>
            </a:schemeClr>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r>
              <a:rPr kumimoji="1" lang="ja-JP" altLang="en-US" sz="1000" b="1" dirty="0">
                <a:solidFill>
                  <a:schemeClr val="bg1"/>
                </a:solidFill>
                <a:latin typeface="メイリオ" panose="020B0604030504040204" pitchFamily="50" charset="-128"/>
                <a:ea typeface="メイリオ" panose="020B0604030504040204" pitchFamily="50" charset="-128"/>
              </a:rPr>
              <a:t>ステップ配信</a:t>
            </a:r>
          </a:p>
        </p:txBody>
      </p:sp>
      <p:sp>
        <p:nvSpPr>
          <p:cNvPr id="33" name="正方形/長方形 32">
            <a:extLst>
              <a:ext uri="{FF2B5EF4-FFF2-40B4-BE49-F238E27FC236}">
                <a16:creationId xmlns:a16="http://schemas.microsoft.com/office/drawing/2014/main" id="{B0198902-7C67-1321-611C-A528F8B056D6}"/>
              </a:ext>
            </a:extLst>
          </p:cNvPr>
          <p:cNvSpPr/>
          <p:nvPr/>
        </p:nvSpPr>
        <p:spPr>
          <a:xfrm>
            <a:off x="5393176" y="2681487"/>
            <a:ext cx="1124924" cy="221767"/>
          </a:xfrm>
          <a:prstGeom prst="rect">
            <a:avLst/>
          </a:prstGeom>
          <a:solidFill>
            <a:schemeClr val="tx2">
              <a:lumMod val="75000"/>
            </a:schemeClr>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r>
              <a:rPr kumimoji="1" lang="ja-JP" altLang="en-US" sz="1000" b="1" dirty="0">
                <a:solidFill>
                  <a:schemeClr val="bg1"/>
                </a:solidFill>
                <a:latin typeface="メイリオ" panose="020B0604030504040204" pitchFamily="50" charset="-128"/>
                <a:ea typeface="メイリオ" panose="020B0604030504040204" pitchFamily="50" charset="-128"/>
              </a:rPr>
              <a:t>アンケート</a:t>
            </a:r>
          </a:p>
        </p:txBody>
      </p:sp>
      <p:sp>
        <p:nvSpPr>
          <p:cNvPr id="34" name="正方形/長方形 33">
            <a:extLst>
              <a:ext uri="{FF2B5EF4-FFF2-40B4-BE49-F238E27FC236}">
                <a16:creationId xmlns:a16="http://schemas.microsoft.com/office/drawing/2014/main" id="{EC9DC48F-C12B-8A2A-8E49-C82DF8C2398F}"/>
              </a:ext>
            </a:extLst>
          </p:cNvPr>
          <p:cNvSpPr/>
          <p:nvPr/>
        </p:nvSpPr>
        <p:spPr>
          <a:xfrm>
            <a:off x="3956800" y="2723466"/>
            <a:ext cx="1274185" cy="166616"/>
          </a:xfrm>
          <a:prstGeom prst="rect">
            <a:avLst/>
          </a:prstGeom>
          <a:solidFill>
            <a:schemeClr val="bg1">
              <a:lumMod val="95000"/>
            </a:schemeClr>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r>
              <a:rPr kumimoji="1" lang="ja-JP" altLang="en-US" sz="800" dirty="0">
                <a:solidFill>
                  <a:schemeClr val="tx1">
                    <a:lumMod val="50000"/>
                    <a:lumOff val="50000"/>
                  </a:schemeClr>
                </a:solidFill>
                <a:latin typeface="メイリオ" panose="020B0604030504040204" pitchFamily="50" charset="-128"/>
                <a:ea typeface="メイリオ" panose="020B0604030504040204" pitchFamily="50" charset="-128"/>
              </a:rPr>
              <a:t>初期設計項目↓</a:t>
            </a:r>
          </a:p>
        </p:txBody>
      </p:sp>
      <p:sp>
        <p:nvSpPr>
          <p:cNvPr id="35" name="テキスト ボックス 67">
            <a:extLst>
              <a:ext uri="{FF2B5EF4-FFF2-40B4-BE49-F238E27FC236}">
                <a16:creationId xmlns:a16="http://schemas.microsoft.com/office/drawing/2014/main" id="{7FD4C92A-1BF4-DC29-74E5-5DDCAEC47D74}"/>
              </a:ext>
            </a:extLst>
          </p:cNvPr>
          <p:cNvSpPr txBox="1"/>
          <p:nvPr/>
        </p:nvSpPr>
        <p:spPr>
          <a:xfrm>
            <a:off x="3967708" y="2907643"/>
            <a:ext cx="1274185" cy="954107"/>
          </a:xfrm>
          <a:prstGeom prst="rect">
            <a:avLst/>
          </a:prstGeom>
          <a:noFill/>
        </p:spPr>
        <p:txBody>
          <a:bodyPr wrap="square">
            <a:spAutoFit/>
          </a:bodyPr>
          <a:ls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r>
              <a:rPr kumimoji="1" lang="ja-JP" altLang="en-US" sz="700" dirty="0">
                <a:solidFill>
                  <a:schemeClr val="tx1">
                    <a:lumMod val="50000"/>
                    <a:lumOff val="50000"/>
                  </a:schemeClr>
                </a:solidFill>
                <a:latin typeface="メイリオ" panose="020B0604030504040204" pitchFamily="50" charset="-128"/>
                <a:ea typeface="メイリオ" panose="020B0604030504040204" pitchFamily="50" charset="-128"/>
              </a:rPr>
              <a:t>・</a:t>
            </a:r>
            <a:r>
              <a:rPr lang="ja-JP" altLang="en-US" sz="700" dirty="0">
                <a:solidFill>
                  <a:schemeClr val="tx1">
                    <a:lumMod val="50000"/>
                    <a:lumOff val="50000"/>
                  </a:schemeClr>
                </a:solidFill>
                <a:latin typeface="メイリオ" panose="020B0604030504040204" pitchFamily="50" charset="-128"/>
                <a:ea typeface="メイリオ" panose="020B0604030504040204" pitchFamily="50" charset="-128"/>
              </a:rPr>
              <a:t>プロフィール画面</a:t>
            </a:r>
            <a:endParaRPr kumimoji="1" lang="en-US" altLang="ja-JP" sz="700" dirty="0">
              <a:solidFill>
                <a:schemeClr val="tx1">
                  <a:lumMod val="50000"/>
                  <a:lumOff val="50000"/>
                </a:schemeClr>
              </a:solidFill>
              <a:latin typeface="メイリオ" panose="020B0604030504040204" pitchFamily="50" charset="-128"/>
              <a:ea typeface="メイリオ" panose="020B0604030504040204" pitchFamily="50" charset="-128"/>
            </a:endParaRPr>
          </a:p>
          <a:p>
            <a:r>
              <a:rPr lang="ja-JP" altLang="en-US" sz="700" dirty="0">
                <a:solidFill>
                  <a:schemeClr val="tx1">
                    <a:lumMod val="50000"/>
                    <a:lumOff val="50000"/>
                  </a:schemeClr>
                </a:solidFill>
                <a:latin typeface="メイリオ" panose="020B0604030504040204" pitchFamily="50" charset="-128"/>
                <a:ea typeface="メイリオ" panose="020B0604030504040204" pitchFamily="50" charset="-128"/>
              </a:rPr>
              <a:t>・</a:t>
            </a:r>
            <a:r>
              <a:rPr kumimoji="1" lang="ja-JP" altLang="en-US" sz="700" dirty="0">
                <a:solidFill>
                  <a:schemeClr val="tx1">
                    <a:lumMod val="50000"/>
                    <a:lumOff val="50000"/>
                  </a:schemeClr>
                </a:solidFill>
                <a:latin typeface="メイリオ" panose="020B0604030504040204" pitchFamily="50" charset="-128"/>
                <a:ea typeface="メイリオ" panose="020B0604030504040204" pitchFamily="50" charset="-128"/>
              </a:rPr>
              <a:t>リッチメニュー</a:t>
            </a:r>
            <a:endParaRPr kumimoji="1" lang="en-US" altLang="ja-JP" sz="700" dirty="0">
              <a:solidFill>
                <a:schemeClr val="tx1">
                  <a:lumMod val="50000"/>
                  <a:lumOff val="50000"/>
                </a:schemeClr>
              </a:solidFill>
              <a:latin typeface="メイリオ" panose="020B0604030504040204" pitchFamily="50" charset="-128"/>
              <a:ea typeface="メイリオ" panose="020B0604030504040204" pitchFamily="50" charset="-128"/>
            </a:endParaRPr>
          </a:p>
          <a:p>
            <a:r>
              <a:rPr lang="ja-JP" altLang="en-US" sz="700" dirty="0">
                <a:solidFill>
                  <a:schemeClr val="tx1">
                    <a:lumMod val="50000"/>
                    <a:lumOff val="50000"/>
                  </a:schemeClr>
                </a:solidFill>
                <a:latin typeface="メイリオ" panose="020B0604030504040204" pitchFamily="50" charset="-128"/>
                <a:ea typeface="メイリオ" panose="020B0604030504040204" pitchFamily="50" charset="-128"/>
              </a:rPr>
              <a:t>・あいさつメッセージ</a:t>
            </a:r>
            <a:endParaRPr lang="en-US" altLang="ja-JP" sz="700" dirty="0">
              <a:solidFill>
                <a:schemeClr val="tx1">
                  <a:lumMod val="50000"/>
                  <a:lumOff val="50000"/>
                </a:schemeClr>
              </a:solidFill>
              <a:latin typeface="メイリオ" panose="020B0604030504040204" pitchFamily="50" charset="-128"/>
              <a:ea typeface="メイリオ" panose="020B0604030504040204" pitchFamily="50" charset="-128"/>
            </a:endParaRPr>
          </a:p>
          <a:p>
            <a:r>
              <a:rPr lang="ja-JP" altLang="en-US" sz="700" dirty="0">
                <a:solidFill>
                  <a:schemeClr val="tx1">
                    <a:lumMod val="50000"/>
                    <a:lumOff val="50000"/>
                  </a:schemeClr>
                </a:solidFill>
                <a:latin typeface="メイリオ" panose="020B0604030504040204" pitchFamily="50" charset="-128"/>
                <a:ea typeface="メイリオ" panose="020B0604030504040204" pitchFamily="50" charset="-128"/>
              </a:rPr>
              <a:t>・応答メッセージ設定</a:t>
            </a:r>
            <a:endParaRPr lang="en-US" altLang="ja-JP" sz="700" dirty="0">
              <a:solidFill>
                <a:schemeClr val="tx1">
                  <a:lumMod val="50000"/>
                  <a:lumOff val="50000"/>
                </a:schemeClr>
              </a:solidFill>
              <a:latin typeface="メイリオ" panose="020B0604030504040204" pitchFamily="50" charset="-128"/>
              <a:ea typeface="メイリオ" panose="020B0604030504040204" pitchFamily="50" charset="-128"/>
            </a:endParaRPr>
          </a:p>
          <a:p>
            <a:r>
              <a:rPr lang="ja-JP" altLang="en-US" sz="700" dirty="0">
                <a:solidFill>
                  <a:schemeClr val="tx1">
                    <a:lumMod val="50000"/>
                    <a:lumOff val="50000"/>
                  </a:schemeClr>
                </a:solidFill>
                <a:latin typeface="メイリオ" panose="020B0604030504040204" pitchFamily="50" charset="-128"/>
                <a:ea typeface="メイリオ" panose="020B0604030504040204" pitchFamily="50" charset="-128"/>
              </a:rPr>
              <a:t>・チャットタグ設定</a:t>
            </a:r>
            <a:endParaRPr lang="en-US" altLang="ja-JP" sz="700" dirty="0">
              <a:solidFill>
                <a:schemeClr val="tx1">
                  <a:lumMod val="50000"/>
                  <a:lumOff val="50000"/>
                </a:schemeClr>
              </a:solidFill>
              <a:latin typeface="メイリオ" panose="020B0604030504040204" pitchFamily="50" charset="-128"/>
              <a:ea typeface="メイリオ" panose="020B0604030504040204" pitchFamily="50" charset="-128"/>
            </a:endParaRPr>
          </a:p>
          <a:p>
            <a:r>
              <a:rPr lang="ja-JP" altLang="en-US" sz="700" dirty="0">
                <a:solidFill>
                  <a:schemeClr val="tx1">
                    <a:lumMod val="50000"/>
                    <a:lumOff val="50000"/>
                  </a:schemeClr>
                </a:solidFill>
                <a:latin typeface="メイリオ" panose="020B0604030504040204" pitchFamily="50" charset="-128"/>
                <a:ea typeface="メイリオ" panose="020B0604030504040204" pitchFamily="50" charset="-128"/>
              </a:rPr>
              <a:t>・計測タグ設定</a:t>
            </a:r>
            <a:endParaRPr lang="en-US" altLang="ja-JP" sz="700" dirty="0">
              <a:solidFill>
                <a:schemeClr val="tx1">
                  <a:lumMod val="50000"/>
                  <a:lumOff val="50000"/>
                </a:schemeClr>
              </a:solidFill>
              <a:latin typeface="メイリオ" panose="020B0604030504040204" pitchFamily="50" charset="-128"/>
              <a:ea typeface="メイリオ" panose="020B0604030504040204" pitchFamily="50" charset="-128"/>
            </a:endParaRPr>
          </a:p>
          <a:p>
            <a:r>
              <a:rPr lang="ja-JP" altLang="en-US" sz="700" dirty="0">
                <a:solidFill>
                  <a:schemeClr val="tx1">
                    <a:lumMod val="50000"/>
                    <a:lumOff val="50000"/>
                  </a:schemeClr>
                </a:solidFill>
                <a:latin typeface="メイリオ" panose="020B0604030504040204" pitchFamily="50" charset="-128"/>
                <a:ea typeface="メイリオ" panose="020B0604030504040204" pitchFamily="50" charset="-128"/>
              </a:rPr>
              <a:t>・</a:t>
            </a:r>
            <a:r>
              <a:rPr lang="en-US" altLang="ja-JP" sz="700" dirty="0">
                <a:solidFill>
                  <a:schemeClr val="tx1">
                    <a:lumMod val="50000"/>
                    <a:lumOff val="50000"/>
                  </a:schemeClr>
                </a:solidFill>
                <a:latin typeface="メイリオ" panose="020B0604030504040204" pitchFamily="50" charset="-128"/>
                <a:ea typeface="メイリオ" panose="020B0604030504040204" pitchFamily="50" charset="-128"/>
              </a:rPr>
              <a:t>LINE</a:t>
            </a:r>
            <a:r>
              <a:rPr lang="ja-JP" altLang="en-US" sz="700" dirty="0">
                <a:solidFill>
                  <a:schemeClr val="tx1">
                    <a:lumMod val="50000"/>
                    <a:lumOff val="50000"/>
                  </a:schemeClr>
                </a:solidFill>
                <a:latin typeface="メイリオ" panose="020B0604030504040204" pitchFamily="50" charset="-128"/>
                <a:ea typeface="メイリオ" panose="020B0604030504040204" pitchFamily="50" charset="-128"/>
              </a:rPr>
              <a:t>ログイン </a:t>
            </a:r>
            <a:r>
              <a:rPr lang="en-US" altLang="ja-JP" sz="600" dirty="0">
                <a:solidFill>
                  <a:srgbClr val="FF0000"/>
                </a:solidFill>
                <a:latin typeface="メイリオ" panose="020B0604030504040204" pitchFamily="50" charset="-128"/>
                <a:ea typeface="メイリオ" panose="020B0604030504040204" pitchFamily="50" charset="-128"/>
              </a:rPr>
              <a:t>※</a:t>
            </a:r>
            <a:r>
              <a:rPr lang="ja-JP" altLang="en-US" sz="600" dirty="0">
                <a:solidFill>
                  <a:srgbClr val="FF0000"/>
                </a:solidFill>
                <a:latin typeface="メイリオ" panose="020B0604030504040204" pitchFamily="50" charset="-128"/>
                <a:ea typeface="メイリオ" panose="020B0604030504040204" pitchFamily="50" charset="-128"/>
              </a:rPr>
              <a:t>別途費用</a:t>
            </a:r>
            <a:endParaRPr lang="en-US" altLang="ja-JP" sz="700" dirty="0">
              <a:solidFill>
                <a:srgbClr val="FF0000"/>
              </a:solidFill>
              <a:latin typeface="メイリオ" panose="020B0604030504040204" pitchFamily="50" charset="-128"/>
              <a:ea typeface="メイリオ" panose="020B0604030504040204" pitchFamily="50" charset="-128"/>
            </a:endParaRPr>
          </a:p>
          <a:p>
            <a:r>
              <a:rPr lang="ja-JP" altLang="en-US" sz="700" dirty="0">
                <a:solidFill>
                  <a:schemeClr val="tx1">
                    <a:lumMod val="50000"/>
                    <a:lumOff val="50000"/>
                  </a:schemeClr>
                </a:solidFill>
                <a:latin typeface="メイリオ" panose="020B0604030504040204" pitchFamily="50" charset="-128"/>
                <a:ea typeface="メイリオ" panose="020B0604030504040204" pitchFamily="50" charset="-128"/>
              </a:rPr>
              <a:t>・</a:t>
            </a:r>
            <a:r>
              <a:rPr lang="en-US" altLang="ja-JP" sz="700" dirty="0">
                <a:solidFill>
                  <a:schemeClr val="tx1">
                    <a:lumMod val="50000"/>
                    <a:lumOff val="50000"/>
                  </a:schemeClr>
                </a:solidFill>
                <a:latin typeface="メイリオ" panose="020B0604030504040204" pitchFamily="50" charset="-128"/>
                <a:ea typeface="メイリオ" panose="020B0604030504040204" pitchFamily="50" charset="-128"/>
              </a:rPr>
              <a:t>LINEID</a:t>
            </a:r>
            <a:r>
              <a:rPr lang="ja-JP" altLang="en-US" sz="700" dirty="0">
                <a:solidFill>
                  <a:schemeClr val="tx1">
                    <a:lumMod val="50000"/>
                    <a:lumOff val="50000"/>
                  </a:schemeClr>
                </a:solidFill>
                <a:latin typeface="メイリオ" panose="020B0604030504040204" pitchFamily="50" charset="-128"/>
                <a:ea typeface="メイリオ" panose="020B0604030504040204" pitchFamily="50" charset="-128"/>
              </a:rPr>
              <a:t>連携 </a:t>
            </a:r>
            <a:r>
              <a:rPr lang="en-US" altLang="ja-JP" sz="700" dirty="0">
                <a:solidFill>
                  <a:srgbClr val="FF0000"/>
                </a:solidFill>
                <a:latin typeface="メイリオ" panose="020B0604030504040204" pitchFamily="50" charset="-128"/>
                <a:ea typeface="メイリオ" panose="020B0604030504040204" pitchFamily="50" charset="-128"/>
              </a:rPr>
              <a:t>※</a:t>
            </a:r>
            <a:r>
              <a:rPr lang="ja-JP" altLang="en-US" sz="700" dirty="0">
                <a:solidFill>
                  <a:srgbClr val="FF0000"/>
                </a:solidFill>
                <a:latin typeface="メイリオ" panose="020B0604030504040204" pitchFamily="50" charset="-128"/>
                <a:ea typeface="メイリオ" panose="020B0604030504040204" pitchFamily="50" charset="-128"/>
              </a:rPr>
              <a:t>別途費用</a:t>
            </a:r>
            <a:endParaRPr lang="en-US" altLang="ja-JP" sz="700" dirty="0">
              <a:solidFill>
                <a:srgbClr val="FF0000"/>
              </a:solidFill>
              <a:latin typeface="メイリオ" panose="020B0604030504040204" pitchFamily="50" charset="-128"/>
              <a:ea typeface="メイリオ" panose="020B0604030504040204" pitchFamily="50" charset="-128"/>
            </a:endParaRPr>
          </a:p>
        </p:txBody>
      </p:sp>
      <p:sp>
        <p:nvSpPr>
          <p:cNvPr id="36" name="正方形/長方形 35">
            <a:extLst>
              <a:ext uri="{FF2B5EF4-FFF2-40B4-BE49-F238E27FC236}">
                <a16:creationId xmlns:a16="http://schemas.microsoft.com/office/drawing/2014/main" id="{3C7CD555-05D0-53EC-B6D5-ED734EBA27DF}"/>
              </a:ext>
            </a:extLst>
          </p:cNvPr>
          <p:cNvSpPr/>
          <p:nvPr/>
        </p:nvSpPr>
        <p:spPr>
          <a:xfrm>
            <a:off x="5400190" y="2947082"/>
            <a:ext cx="2292685" cy="221767"/>
          </a:xfrm>
          <a:prstGeom prst="rect">
            <a:avLst/>
          </a:prstGeom>
          <a:solidFill>
            <a:schemeClr val="tx2">
              <a:lumMod val="75000"/>
            </a:schemeClr>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r>
              <a:rPr kumimoji="1" lang="ja-JP" altLang="en-US" sz="1000" b="1" dirty="0">
                <a:solidFill>
                  <a:schemeClr val="bg1"/>
                </a:solidFill>
                <a:latin typeface="メイリオ" panose="020B0604030504040204" pitchFamily="50" charset="-128"/>
                <a:ea typeface="メイリオ" panose="020B0604030504040204" pitchFamily="50" charset="-128"/>
              </a:rPr>
              <a:t>タグ・セグメントの管理</a:t>
            </a:r>
          </a:p>
        </p:txBody>
      </p:sp>
      <p:sp>
        <p:nvSpPr>
          <p:cNvPr id="37" name="正方形/長方形 36">
            <a:extLst>
              <a:ext uri="{FF2B5EF4-FFF2-40B4-BE49-F238E27FC236}">
                <a16:creationId xmlns:a16="http://schemas.microsoft.com/office/drawing/2014/main" id="{64296BD6-7E19-AF65-3C1F-3AA68F3DB296}"/>
              </a:ext>
            </a:extLst>
          </p:cNvPr>
          <p:cNvSpPr/>
          <p:nvPr/>
        </p:nvSpPr>
        <p:spPr>
          <a:xfrm>
            <a:off x="5400190" y="3478272"/>
            <a:ext cx="2292685" cy="221767"/>
          </a:xfrm>
          <a:prstGeom prst="rect">
            <a:avLst/>
          </a:prstGeom>
          <a:solidFill>
            <a:schemeClr val="bg1">
              <a:lumMod val="65000"/>
            </a:schemeClr>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r>
              <a:rPr kumimoji="1" lang="ja-JP" altLang="en-US" sz="1000" b="1" dirty="0">
                <a:solidFill>
                  <a:schemeClr val="bg1"/>
                </a:solidFill>
                <a:latin typeface="メイリオ" panose="020B0604030504040204" pitchFamily="50" charset="-128"/>
                <a:ea typeface="メイリオ" panose="020B0604030504040204" pitchFamily="50" charset="-128"/>
              </a:rPr>
              <a:t>各種初期設計の調整</a:t>
            </a:r>
          </a:p>
        </p:txBody>
      </p:sp>
      <p:sp>
        <p:nvSpPr>
          <p:cNvPr id="38" name="正方形/長方形 37">
            <a:extLst>
              <a:ext uri="{FF2B5EF4-FFF2-40B4-BE49-F238E27FC236}">
                <a16:creationId xmlns:a16="http://schemas.microsoft.com/office/drawing/2014/main" id="{2B391CFB-A763-8F28-0B80-C4699C620787}"/>
              </a:ext>
            </a:extLst>
          </p:cNvPr>
          <p:cNvSpPr/>
          <p:nvPr/>
        </p:nvSpPr>
        <p:spPr>
          <a:xfrm>
            <a:off x="5400190" y="3212677"/>
            <a:ext cx="2292685" cy="221767"/>
          </a:xfrm>
          <a:prstGeom prst="rect">
            <a:avLst/>
          </a:prstGeom>
          <a:solidFill>
            <a:schemeClr val="tx2">
              <a:lumMod val="75000"/>
            </a:schemeClr>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r>
              <a:rPr lang="en-US" altLang="ja-JP" sz="1000" b="1">
                <a:solidFill>
                  <a:schemeClr val="bg1"/>
                </a:solidFill>
                <a:latin typeface="メイリオ" panose="020B0604030504040204" pitchFamily="50" charset="-128"/>
                <a:ea typeface="メイリオ" panose="020B0604030504040204" pitchFamily="50" charset="-128"/>
              </a:rPr>
              <a:t>QA</a:t>
            </a:r>
            <a:r>
              <a:rPr lang="ja-JP" altLang="en-US" sz="1000" b="1">
                <a:solidFill>
                  <a:schemeClr val="bg1"/>
                </a:solidFill>
                <a:latin typeface="メイリオ" panose="020B0604030504040204" pitchFamily="50" charset="-128"/>
                <a:ea typeface="メイリオ" panose="020B0604030504040204" pitchFamily="50" charset="-128"/>
              </a:rPr>
              <a:t>解消（自動応答）</a:t>
            </a:r>
            <a:endParaRPr lang="ja-JP" altLang="en-US" sz="1000" b="1" dirty="0">
              <a:solidFill>
                <a:schemeClr val="bg1"/>
              </a:solidFill>
              <a:latin typeface="メイリオ" panose="020B0604030504040204" pitchFamily="50" charset="-128"/>
              <a:ea typeface="メイリオ" panose="020B0604030504040204" pitchFamily="50" charset="-128"/>
            </a:endParaRPr>
          </a:p>
        </p:txBody>
      </p:sp>
      <p:sp>
        <p:nvSpPr>
          <p:cNvPr id="39" name="正方形/長方形 38">
            <a:extLst>
              <a:ext uri="{FF2B5EF4-FFF2-40B4-BE49-F238E27FC236}">
                <a16:creationId xmlns:a16="http://schemas.microsoft.com/office/drawing/2014/main" id="{78BE8892-FE50-BF73-B15E-567C1CFD9A8A}"/>
              </a:ext>
            </a:extLst>
          </p:cNvPr>
          <p:cNvSpPr/>
          <p:nvPr/>
        </p:nvSpPr>
        <p:spPr>
          <a:xfrm>
            <a:off x="6560937" y="2683527"/>
            <a:ext cx="1124924" cy="221767"/>
          </a:xfrm>
          <a:prstGeom prst="rect">
            <a:avLst/>
          </a:prstGeom>
          <a:solidFill>
            <a:schemeClr val="tx2">
              <a:lumMod val="75000"/>
            </a:schemeClr>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r>
              <a:rPr kumimoji="1" lang="ja-JP" altLang="en-US" sz="1000" b="1" dirty="0">
                <a:solidFill>
                  <a:schemeClr val="bg1"/>
                </a:solidFill>
                <a:latin typeface="メイリオ" panose="020B0604030504040204" pitchFamily="50" charset="-128"/>
                <a:ea typeface="メイリオ" panose="020B0604030504040204" pitchFamily="50" charset="-128"/>
              </a:rPr>
              <a:t>→ タグ配信</a:t>
            </a:r>
          </a:p>
        </p:txBody>
      </p:sp>
      <p:sp>
        <p:nvSpPr>
          <p:cNvPr id="40" name="正方形/長方形 39">
            <a:extLst>
              <a:ext uri="{FF2B5EF4-FFF2-40B4-BE49-F238E27FC236}">
                <a16:creationId xmlns:a16="http://schemas.microsoft.com/office/drawing/2014/main" id="{5FB8C9E8-13C6-54AE-CC6C-E66EB44BEE66}"/>
              </a:ext>
            </a:extLst>
          </p:cNvPr>
          <p:cNvSpPr/>
          <p:nvPr/>
        </p:nvSpPr>
        <p:spPr>
          <a:xfrm>
            <a:off x="5393175" y="3743869"/>
            <a:ext cx="2292685" cy="221767"/>
          </a:xfrm>
          <a:prstGeom prst="rect">
            <a:avLst/>
          </a:prstGeom>
          <a:solidFill>
            <a:schemeClr val="bg1">
              <a:lumMod val="65000"/>
            </a:schemeClr>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r>
              <a:rPr kumimoji="1" lang="en-US" altLang="ja-JP" sz="1000" b="1" dirty="0">
                <a:solidFill>
                  <a:schemeClr val="bg1"/>
                </a:solidFill>
                <a:latin typeface="メイリオ" panose="020B0604030504040204" pitchFamily="50" charset="-128"/>
                <a:ea typeface="メイリオ" panose="020B0604030504040204" pitchFamily="50" charset="-128"/>
              </a:rPr>
              <a:t>1to1</a:t>
            </a:r>
            <a:r>
              <a:rPr kumimoji="1" lang="ja-JP" altLang="en-US" sz="1000" b="1" dirty="0">
                <a:solidFill>
                  <a:schemeClr val="bg1"/>
                </a:solidFill>
                <a:latin typeface="メイリオ" panose="020B0604030504040204" pitchFamily="50" charset="-128"/>
                <a:ea typeface="メイリオ" panose="020B0604030504040204" pitchFamily="50" charset="-128"/>
              </a:rPr>
              <a:t>チャットルーム</a:t>
            </a:r>
          </a:p>
        </p:txBody>
      </p:sp>
      <p:cxnSp>
        <p:nvCxnSpPr>
          <p:cNvPr id="41" name="コネクタ: カギ線 40">
            <a:extLst>
              <a:ext uri="{FF2B5EF4-FFF2-40B4-BE49-F238E27FC236}">
                <a16:creationId xmlns:a16="http://schemas.microsoft.com/office/drawing/2014/main" id="{A0B29E3B-5447-4104-E77E-C26EB1CB0F8A}"/>
              </a:ext>
            </a:extLst>
          </p:cNvPr>
          <p:cNvCxnSpPr>
            <a:cxnSpLocks/>
            <a:stCxn id="40" idx="3"/>
          </p:cNvCxnSpPr>
          <p:nvPr/>
        </p:nvCxnSpPr>
        <p:spPr>
          <a:xfrm flipV="1">
            <a:off x="7685860" y="2274266"/>
            <a:ext cx="558434" cy="1580487"/>
          </a:xfrm>
          <a:prstGeom prst="bentConnector3">
            <a:avLst>
              <a:gd name="adj1" fmla="val 76511"/>
            </a:avLst>
          </a:prstGeom>
          <a:ln>
            <a:solidFill>
              <a:schemeClr val="tx2"/>
            </a:solidFill>
            <a:prstDash val="sysDash"/>
            <a:tailEnd type="triangle"/>
          </a:ln>
        </p:spPr>
        <p:style>
          <a:lnRef idx="1">
            <a:schemeClr val="accent1"/>
          </a:lnRef>
          <a:fillRef idx="0">
            <a:schemeClr val="accent1"/>
          </a:fillRef>
          <a:effectRef idx="0">
            <a:schemeClr val="accent1"/>
          </a:effectRef>
          <a:fontRef idx="minor">
            <a:schemeClr val="tx1"/>
          </a:fontRef>
        </p:style>
      </p:cxnSp>
      <p:cxnSp>
        <p:nvCxnSpPr>
          <p:cNvPr id="42" name="コネクタ: カギ線 41">
            <a:extLst>
              <a:ext uri="{FF2B5EF4-FFF2-40B4-BE49-F238E27FC236}">
                <a16:creationId xmlns:a16="http://schemas.microsoft.com/office/drawing/2014/main" id="{6F60DF78-AC16-9662-17BD-3EBCD4677BB3}"/>
              </a:ext>
            </a:extLst>
          </p:cNvPr>
          <p:cNvCxnSpPr>
            <a:cxnSpLocks/>
            <a:stCxn id="37" idx="3"/>
          </p:cNvCxnSpPr>
          <p:nvPr/>
        </p:nvCxnSpPr>
        <p:spPr>
          <a:xfrm flipV="1">
            <a:off x="7692875" y="2558763"/>
            <a:ext cx="551419" cy="1030393"/>
          </a:xfrm>
          <a:prstGeom prst="bentConnector3">
            <a:avLst>
              <a:gd name="adj1" fmla="val 50000"/>
            </a:avLst>
          </a:prstGeom>
          <a:ln>
            <a:solidFill>
              <a:schemeClr val="tx1"/>
            </a:solidFill>
            <a:prstDash val="sysDash"/>
            <a:tailEnd type="triangle"/>
          </a:ln>
        </p:spPr>
        <p:style>
          <a:lnRef idx="1">
            <a:schemeClr val="accent1"/>
          </a:lnRef>
          <a:fillRef idx="0">
            <a:schemeClr val="accent1"/>
          </a:fillRef>
          <a:effectRef idx="0">
            <a:schemeClr val="accent1"/>
          </a:effectRef>
          <a:fontRef idx="minor">
            <a:schemeClr val="tx1"/>
          </a:fontRef>
        </p:style>
      </p:cxnSp>
      <p:cxnSp>
        <p:nvCxnSpPr>
          <p:cNvPr id="43" name="コネクタ: カギ線 42">
            <a:extLst>
              <a:ext uri="{FF2B5EF4-FFF2-40B4-BE49-F238E27FC236}">
                <a16:creationId xmlns:a16="http://schemas.microsoft.com/office/drawing/2014/main" id="{9ACE7516-910E-229D-8D61-02389EE1209F}"/>
              </a:ext>
            </a:extLst>
          </p:cNvPr>
          <p:cNvCxnSpPr>
            <a:cxnSpLocks/>
            <a:stCxn id="38" idx="3"/>
          </p:cNvCxnSpPr>
          <p:nvPr/>
        </p:nvCxnSpPr>
        <p:spPr>
          <a:xfrm flipV="1">
            <a:off x="7692875" y="2558763"/>
            <a:ext cx="551419" cy="764798"/>
          </a:xfrm>
          <a:prstGeom prst="bentConnector3">
            <a:avLst>
              <a:gd name="adj1" fmla="val 50000"/>
            </a:avLst>
          </a:prstGeom>
          <a:ln>
            <a:solidFill>
              <a:schemeClr val="tx1"/>
            </a:solidFill>
            <a:prstDash val="sysDash"/>
            <a:tailEnd type="triangle"/>
          </a:ln>
        </p:spPr>
        <p:style>
          <a:lnRef idx="1">
            <a:schemeClr val="accent1"/>
          </a:lnRef>
          <a:fillRef idx="0">
            <a:schemeClr val="accent1"/>
          </a:fillRef>
          <a:effectRef idx="0">
            <a:schemeClr val="accent1"/>
          </a:effectRef>
          <a:fontRef idx="minor">
            <a:schemeClr val="tx1"/>
          </a:fontRef>
        </p:style>
      </p:cxnSp>
      <p:cxnSp>
        <p:nvCxnSpPr>
          <p:cNvPr id="44" name="コネクタ: カギ線 43">
            <a:extLst>
              <a:ext uri="{FF2B5EF4-FFF2-40B4-BE49-F238E27FC236}">
                <a16:creationId xmlns:a16="http://schemas.microsoft.com/office/drawing/2014/main" id="{CFEF0AA5-73C6-3E02-7EDB-57BE374DCDBF}"/>
              </a:ext>
            </a:extLst>
          </p:cNvPr>
          <p:cNvCxnSpPr>
            <a:cxnSpLocks/>
            <a:stCxn id="36" idx="3"/>
          </p:cNvCxnSpPr>
          <p:nvPr/>
        </p:nvCxnSpPr>
        <p:spPr>
          <a:xfrm flipV="1">
            <a:off x="7692875" y="2558763"/>
            <a:ext cx="551419" cy="499203"/>
          </a:xfrm>
          <a:prstGeom prst="bentConnector3">
            <a:avLst>
              <a:gd name="adj1" fmla="val 50000"/>
            </a:avLst>
          </a:prstGeom>
          <a:ln>
            <a:solidFill>
              <a:schemeClr val="tx1"/>
            </a:solidFill>
            <a:prstDash val="sysDash"/>
            <a:tailEnd type="triangle"/>
          </a:ln>
        </p:spPr>
        <p:style>
          <a:lnRef idx="1">
            <a:schemeClr val="accent1"/>
          </a:lnRef>
          <a:fillRef idx="0">
            <a:schemeClr val="accent1"/>
          </a:fillRef>
          <a:effectRef idx="0">
            <a:schemeClr val="accent1"/>
          </a:effectRef>
          <a:fontRef idx="minor">
            <a:schemeClr val="tx1"/>
          </a:fontRef>
        </p:style>
      </p:cxnSp>
      <p:cxnSp>
        <p:nvCxnSpPr>
          <p:cNvPr id="46" name="コネクタ: カギ線 45">
            <a:extLst>
              <a:ext uri="{FF2B5EF4-FFF2-40B4-BE49-F238E27FC236}">
                <a16:creationId xmlns:a16="http://schemas.microsoft.com/office/drawing/2014/main" id="{994CBAF5-3A55-5F8D-2FE3-7E89A4D5C622}"/>
              </a:ext>
            </a:extLst>
          </p:cNvPr>
          <p:cNvCxnSpPr>
            <a:cxnSpLocks/>
            <a:stCxn id="39" idx="3"/>
          </p:cNvCxnSpPr>
          <p:nvPr/>
        </p:nvCxnSpPr>
        <p:spPr>
          <a:xfrm flipV="1">
            <a:off x="7685861" y="2558763"/>
            <a:ext cx="558433" cy="235648"/>
          </a:xfrm>
          <a:prstGeom prst="bentConnector3">
            <a:avLst>
              <a:gd name="adj1" fmla="val 50000"/>
            </a:avLst>
          </a:prstGeom>
          <a:ln>
            <a:solidFill>
              <a:schemeClr val="tx1"/>
            </a:solidFill>
            <a:prstDash val="sysDash"/>
            <a:tailEnd type="triangle"/>
          </a:ln>
        </p:spPr>
        <p:style>
          <a:lnRef idx="1">
            <a:schemeClr val="accent1"/>
          </a:lnRef>
          <a:fillRef idx="0">
            <a:schemeClr val="accent1"/>
          </a:fillRef>
          <a:effectRef idx="0">
            <a:schemeClr val="accent1"/>
          </a:effectRef>
          <a:fontRef idx="minor">
            <a:schemeClr val="tx1"/>
          </a:fontRef>
        </p:style>
      </p:cxnSp>
      <p:cxnSp>
        <p:nvCxnSpPr>
          <p:cNvPr id="47" name="コネクタ: カギ線 46">
            <a:extLst>
              <a:ext uri="{FF2B5EF4-FFF2-40B4-BE49-F238E27FC236}">
                <a16:creationId xmlns:a16="http://schemas.microsoft.com/office/drawing/2014/main" id="{95AFF09E-E9EC-B83D-758F-AB3E03B91C26}"/>
              </a:ext>
            </a:extLst>
          </p:cNvPr>
          <p:cNvCxnSpPr>
            <a:cxnSpLocks/>
            <a:stCxn id="32" idx="3"/>
          </p:cNvCxnSpPr>
          <p:nvPr/>
        </p:nvCxnSpPr>
        <p:spPr>
          <a:xfrm>
            <a:off x="7685861" y="2526776"/>
            <a:ext cx="558433" cy="31987"/>
          </a:xfrm>
          <a:prstGeom prst="bentConnector3">
            <a:avLst>
              <a:gd name="adj1" fmla="val 50000"/>
            </a:avLst>
          </a:prstGeom>
          <a:ln>
            <a:solidFill>
              <a:schemeClr val="tx1"/>
            </a:solidFill>
            <a:prstDash val="sysDash"/>
            <a:tailEnd type="triangle"/>
          </a:ln>
        </p:spPr>
        <p:style>
          <a:lnRef idx="1">
            <a:schemeClr val="accent1"/>
          </a:lnRef>
          <a:fillRef idx="0">
            <a:schemeClr val="accent1"/>
          </a:fillRef>
          <a:effectRef idx="0">
            <a:schemeClr val="accent1"/>
          </a:effectRef>
          <a:fontRef idx="minor">
            <a:schemeClr val="tx1"/>
          </a:fontRef>
        </p:style>
      </p:cxnSp>
      <p:cxnSp>
        <p:nvCxnSpPr>
          <p:cNvPr id="48" name="コネクタ: カギ線 47">
            <a:extLst>
              <a:ext uri="{FF2B5EF4-FFF2-40B4-BE49-F238E27FC236}">
                <a16:creationId xmlns:a16="http://schemas.microsoft.com/office/drawing/2014/main" id="{81E043B6-4E27-2700-F284-741B1F2B6E99}"/>
              </a:ext>
            </a:extLst>
          </p:cNvPr>
          <p:cNvCxnSpPr>
            <a:cxnSpLocks/>
            <a:stCxn id="31" idx="3"/>
          </p:cNvCxnSpPr>
          <p:nvPr/>
        </p:nvCxnSpPr>
        <p:spPr>
          <a:xfrm>
            <a:off x="7685861" y="2261181"/>
            <a:ext cx="558433" cy="297582"/>
          </a:xfrm>
          <a:prstGeom prst="bentConnector3">
            <a:avLst>
              <a:gd name="adj1" fmla="val 50000"/>
            </a:avLst>
          </a:prstGeom>
          <a:ln>
            <a:solidFill>
              <a:schemeClr val="tx1"/>
            </a:solidFill>
            <a:prstDash val="sysDash"/>
            <a:tailEnd type="triangle"/>
          </a:ln>
        </p:spPr>
        <p:style>
          <a:lnRef idx="1">
            <a:schemeClr val="accent1"/>
          </a:lnRef>
          <a:fillRef idx="0">
            <a:schemeClr val="accent1"/>
          </a:fillRef>
          <a:effectRef idx="0">
            <a:schemeClr val="accent1"/>
          </a:effectRef>
          <a:fontRef idx="minor">
            <a:schemeClr val="tx1"/>
          </a:fontRef>
        </p:style>
      </p:cxnSp>
      <p:sp>
        <p:nvSpPr>
          <p:cNvPr id="49" name="左中かっこ 48">
            <a:extLst>
              <a:ext uri="{FF2B5EF4-FFF2-40B4-BE49-F238E27FC236}">
                <a16:creationId xmlns:a16="http://schemas.microsoft.com/office/drawing/2014/main" id="{3EB6A587-08D7-7B0D-8BB4-704F3A9413A8}"/>
              </a:ext>
            </a:extLst>
          </p:cNvPr>
          <p:cNvSpPr/>
          <p:nvPr/>
        </p:nvSpPr>
        <p:spPr>
          <a:xfrm>
            <a:off x="5229703" y="2114487"/>
            <a:ext cx="181099" cy="1866748"/>
          </a:xfrm>
          <a:prstGeom prst="leftBrace">
            <a:avLst>
              <a:gd name="adj1" fmla="val 8333"/>
              <a:gd name="adj2" fmla="val 23194"/>
            </a:avLst>
          </a:prstGeom>
          <a:ln>
            <a:solidFill>
              <a:schemeClr val="tx1"/>
            </a:solidFill>
          </a:ln>
        </p:spPr>
        <p:style>
          <a:lnRef idx="1">
            <a:schemeClr val="accent1"/>
          </a:lnRef>
          <a:fillRef idx="0">
            <a:schemeClr val="accent1"/>
          </a:fillRef>
          <a:effectRef idx="0">
            <a:schemeClr val="accent1"/>
          </a:effectRef>
          <a:fontRef idx="minor">
            <a:schemeClr val="tx1"/>
          </a:fontRef>
        </p:style>
        <p:txBody>
          <a:bodyPr rtlCol="0" anchor="ctr"/>
          <a:ls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pPr algn="ctr"/>
            <a:endParaRPr kumimoji="1" lang="ja-JP" altLang="en-US"/>
          </a:p>
        </p:txBody>
      </p:sp>
      <p:sp>
        <p:nvSpPr>
          <p:cNvPr id="50" name="正方形/長方形 49">
            <a:extLst>
              <a:ext uri="{FF2B5EF4-FFF2-40B4-BE49-F238E27FC236}">
                <a16:creationId xmlns:a16="http://schemas.microsoft.com/office/drawing/2014/main" id="{13F6801A-CC8C-370B-47CD-0E9A8F78DA92}"/>
              </a:ext>
            </a:extLst>
          </p:cNvPr>
          <p:cNvSpPr/>
          <p:nvPr/>
        </p:nvSpPr>
        <p:spPr>
          <a:xfrm>
            <a:off x="542381" y="4614992"/>
            <a:ext cx="5679352" cy="1887988"/>
          </a:xfrm>
          <a:prstGeom prst="rect">
            <a:avLst/>
          </a:prstGeom>
          <a:solidFill>
            <a:srgbClr val="04FA0A">
              <a:alpha val="8000"/>
            </a:srgbClr>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endParaRPr kumimoji="1" lang="ja-JP" altLang="en-US" sz="1000">
              <a:solidFill>
                <a:schemeClr val="tx1"/>
              </a:solidFill>
              <a:latin typeface="メイリオ" panose="020B0604030504040204" pitchFamily="50" charset="-128"/>
              <a:ea typeface="メイリオ" panose="020B0604030504040204" pitchFamily="50" charset="-128"/>
            </a:endParaRPr>
          </a:p>
        </p:txBody>
      </p:sp>
      <p:sp>
        <p:nvSpPr>
          <p:cNvPr id="51" name="正方形/長方形 50">
            <a:extLst>
              <a:ext uri="{FF2B5EF4-FFF2-40B4-BE49-F238E27FC236}">
                <a16:creationId xmlns:a16="http://schemas.microsoft.com/office/drawing/2014/main" id="{EBF6537D-D75B-DA5C-78EC-88D8F874BA82}"/>
              </a:ext>
            </a:extLst>
          </p:cNvPr>
          <p:cNvSpPr/>
          <p:nvPr/>
        </p:nvSpPr>
        <p:spPr>
          <a:xfrm>
            <a:off x="2280539" y="6030746"/>
            <a:ext cx="848549" cy="243944"/>
          </a:xfrm>
          <a:prstGeom prst="rect">
            <a:avLst/>
          </a:prstGeom>
          <a:solidFill>
            <a:schemeClr val="tx1">
              <a:lumMod val="50000"/>
              <a:lumOff val="50000"/>
            </a:schemeClr>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r>
              <a:rPr kumimoji="1" lang="ja-JP" altLang="en-US" sz="1000" b="1" dirty="0">
                <a:solidFill>
                  <a:schemeClr val="bg1"/>
                </a:solidFill>
                <a:latin typeface="メイリオ" panose="020B0604030504040204" pitchFamily="50" charset="-128"/>
                <a:ea typeface="メイリオ" panose="020B0604030504040204" pitchFamily="50" charset="-128"/>
              </a:rPr>
              <a:t>友だち化</a:t>
            </a:r>
          </a:p>
        </p:txBody>
      </p:sp>
      <p:sp>
        <p:nvSpPr>
          <p:cNvPr id="52" name="正方形/長方形 51">
            <a:extLst>
              <a:ext uri="{FF2B5EF4-FFF2-40B4-BE49-F238E27FC236}">
                <a16:creationId xmlns:a16="http://schemas.microsoft.com/office/drawing/2014/main" id="{1A52527A-0CF0-029E-8E86-430BD9DEAAA1}"/>
              </a:ext>
            </a:extLst>
          </p:cNvPr>
          <p:cNvSpPr/>
          <p:nvPr/>
        </p:nvSpPr>
        <p:spPr>
          <a:xfrm>
            <a:off x="622365" y="4733168"/>
            <a:ext cx="731277" cy="243944"/>
          </a:xfrm>
          <a:prstGeom prst="rect">
            <a:avLst/>
          </a:prstGeom>
          <a:solidFill>
            <a:schemeClr val="bg1">
              <a:lumMod val="85000"/>
            </a:schemeClr>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r>
              <a:rPr kumimoji="1" lang="en-US" altLang="ja-JP" sz="1000" b="1" dirty="0">
                <a:solidFill>
                  <a:schemeClr val="bg1"/>
                </a:solidFill>
                <a:latin typeface="メイリオ" panose="020B0604030504040204" pitchFamily="50" charset="-128"/>
                <a:ea typeface="メイリオ" panose="020B0604030504040204" pitchFamily="50" charset="-128"/>
              </a:rPr>
              <a:t>CV</a:t>
            </a:r>
            <a:endParaRPr kumimoji="1" lang="ja-JP" altLang="en-US" sz="1000" b="1" dirty="0">
              <a:solidFill>
                <a:schemeClr val="bg1"/>
              </a:solidFill>
              <a:latin typeface="メイリオ" panose="020B0604030504040204" pitchFamily="50" charset="-128"/>
              <a:ea typeface="メイリオ" panose="020B0604030504040204" pitchFamily="50" charset="-128"/>
            </a:endParaRPr>
          </a:p>
        </p:txBody>
      </p:sp>
      <p:cxnSp>
        <p:nvCxnSpPr>
          <p:cNvPr id="53" name="コネクタ: カギ線 52">
            <a:extLst>
              <a:ext uri="{FF2B5EF4-FFF2-40B4-BE49-F238E27FC236}">
                <a16:creationId xmlns:a16="http://schemas.microsoft.com/office/drawing/2014/main" id="{898B747D-663D-3118-8C11-74EB0324AD5C}"/>
              </a:ext>
            </a:extLst>
          </p:cNvPr>
          <p:cNvCxnSpPr>
            <a:stCxn id="52" idx="0"/>
          </p:cNvCxnSpPr>
          <p:nvPr/>
        </p:nvCxnSpPr>
        <p:spPr>
          <a:xfrm rot="5400000" flipH="1" flipV="1">
            <a:off x="3928753" y="-260013"/>
            <a:ext cx="2052433" cy="7933930"/>
          </a:xfrm>
          <a:prstGeom prst="bentConnector3">
            <a:avLst>
              <a:gd name="adj1" fmla="val 8842"/>
            </a:avLst>
          </a:prstGeom>
          <a:ln>
            <a:solidFill>
              <a:schemeClr val="tx1"/>
            </a:solidFill>
            <a:prstDash val="sysDash"/>
          </a:ln>
        </p:spPr>
        <p:style>
          <a:lnRef idx="1">
            <a:schemeClr val="accent1"/>
          </a:lnRef>
          <a:fillRef idx="0">
            <a:schemeClr val="accent1"/>
          </a:fillRef>
          <a:effectRef idx="0">
            <a:schemeClr val="accent1"/>
          </a:effectRef>
          <a:fontRef idx="minor">
            <a:schemeClr val="tx1"/>
          </a:fontRef>
        </p:style>
      </p:cxnSp>
      <p:cxnSp>
        <p:nvCxnSpPr>
          <p:cNvPr id="54" name="コネクタ: カギ線 53">
            <a:extLst>
              <a:ext uri="{FF2B5EF4-FFF2-40B4-BE49-F238E27FC236}">
                <a16:creationId xmlns:a16="http://schemas.microsoft.com/office/drawing/2014/main" id="{CA244CA5-B309-FA6E-284D-7CBC7CC2508F}"/>
              </a:ext>
            </a:extLst>
          </p:cNvPr>
          <p:cNvCxnSpPr>
            <a:cxnSpLocks/>
            <a:stCxn id="52" idx="2"/>
            <a:endCxn id="51" idx="1"/>
          </p:cNvCxnSpPr>
          <p:nvPr/>
        </p:nvCxnSpPr>
        <p:spPr>
          <a:xfrm rot="16200000" flipH="1">
            <a:off x="1046468" y="4918647"/>
            <a:ext cx="1175606" cy="1292535"/>
          </a:xfrm>
          <a:prstGeom prst="bentConnector2">
            <a:avLst/>
          </a:prstGeom>
          <a:ln>
            <a:solidFill>
              <a:schemeClr val="tx2"/>
            </a:solidFill>
            <a:prstDash val="sysDash"/>
            <a:tailEnd type="triangle"/>
          </a:ln>
        </p:spPr>
        <p:style>
          <a:lnRef idx="1">
            <a:schemeClr val="accent1"/>
          </a:lnRef>
          <a:fillRef idx="0">
            <a:schemeClr val="accent1"/>
          </a:fillRef>
          <a:effectRef idx="0">
            <a:schemeClr val="accent1"/>
          </a:effectRef>
          <a:fontRef idx="minor">
            <a:schemeClr val="tx1"/>
          </a:fontRef>
        </p:style>
      </p:cxnSp>
      <p:sp>
        <p:nvSpPr>
          <p:cNvPr id="55" name="正方形/長方形 54">
            <a:extLst>
              <a:ext uri="{FF2B5EF4-FFF2-40B4-BE49-F238E27FC236}">
                <a16:creationId xmlns:a16="http://schemas.microsoft.com/office/drawing/2014/main" id="{B6490177-CFF0-A875-7C56-F0FC8CA2C530}"/>
              </a:ext>
            </a:extLst>
          </p:cNvPr>
          <p:cNvSpPr/>
          <p:nvPr/>
        </p:nvSpPr>
        <p:spPr>
          <a:xfrm>
            <a:off x="635503" y="5847788"/>
            <a:ext cx="1355280" cy="243944"/>
          </a:xfrm>
          <a:prstGeom prst="rect">
            <a:avLst/>
          </a:prstGeom>
          <a:solidFill>
            <a:schemeClr val="tx2"/>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r>
              <a:rPr kumimoji="1" lang="en-US" altLang="ja-JP" sz="1000" b="1" dirty="0" err="1">
                <a:solidFill>
                  <a:schemeClr val="bg1"/>
                </a:solidFill>
                <a:latin typeface="メイリオ" panose="020B0604030504040204" pitchFamily="50" charset="-128"/>
                <a:ea typeface="メイリオ" panose="020B0604030504040204" pitchFamily="50" charset="-128"/>
              </a:rPr>
              <a:t>OptionAPI</a:t>
            </a:r>
            <a:endParaRPr kumimoji="1" lang="ja-JP" altLang="en-US" sz="1000" b="1" dirty="0">
              <a:solidFill>
                <a:schemeClr val="bg1"/>
              </a:solidFill>
              <a:latin typeface="メイリオ" panose="020B0604030504040204" pitchFamily="50" charset="-128"/>
              <a:ea typeface="メイリオ" panose="020B0604030504040204" pitchFamily="50" charset="-128"/>
            </a:endParaRPr>
          </a:p>
        </p:txBody>
      </p:sp>
      <p:sp>
        <p:nvSpPr>
          <p:cNvPr id="56" name="正方形/長方形 55">
            <a:extLst>
              <a:ext uri="{FF2B5EF4-FFF2-40B4-BE49-F238E27FC236}">
                <a16:creationId xmlns:a16="http://schemas.microsoft.com/office/drawing/2014/main" id="{6D76C720-225A-6A92-8A49-A13770789615}"/>
              </a:ext>
            </a:extLst>
          </p:cNvPr>
          <p:cNvSpPr/>
          <p:nvPr/>
        </p:nvSpPr>
        <p:spPr>
          <a:xfrm>
            <a:off x="635503" y="6112467"/>
            <a:ext cx="1355280" cy="243944"/>
          </a:xfrm>
          <a:prstGeom prst="rect">
            <a:avLst/>
          </a:prstGeom>
          <a:solidFill>
            <a:schemeClr val="tx2"/>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r>
              <a:rPr kumimoji="1" lang="ja-JP" altLang="en-US" sz="1000" b="1" dirty="0">
                <a:solidFill>
                  <a:schemeClr val="bg1"/>
                </a:solidFill>
                <a:latin typeface="メイリオ" panose="020B0604030504040204" pitchFamily="50" charset="-128"/>
                <a:ea typeface="メイリオ" panose="020B0604030504040204" pitchFamily="50" charset="-128"/>
              </a:rPr>
              <a:t>サンクス</a:t>
            </a:r>
            <a:r>
              <a:rPr kumimoji="1" lang="en-US" altLang="ja-JP" sz="1000" b="1" dirty="0">
                <a:solidFill>
                  <a:schemeClr val="bg1"/>
                </a:solidFill>
                <a:latin typeface="メイリオ" panose="020B0604030504040204" pitchFamily="50" charset="-128"/>
                <a:ea typeface="メイリオ" panose="020B0604030504040204" pitchFamily="50" charset="-128"/>
              </a:rPr>
              <a:t>LINE</a:t>
            </a:r>
            <a:r>
              <a:rPr kumimoji="1" lang="ja-JP" altLang="en-US" sz="1000" b="1" dirty="0">
                <a:solidFill>
                  <a:schemeClr val="bg1"/>
                </a:solidFill>
                <a:latin typeface="メイリオ" panose="020B0604030504040204" pitchFamily="50" charset="-128"/>
                <a:ea typeface="メイリオ" panose="020B0604030504040204" pitchFamily="50" charset="-128"/>
              </a:rPr>
              <a:t>誘導</a:t>
            </a:r>
          </a:p>
        </p:txBody>
      </p:sp>
      <p:sp>
        <p:nvSpPr>
          <p:cNvPr id="57" name="正方形/長方形 56">
            <a:extLst>
              <a:ext uri="{FF2B5EF4-FFF2-40B4-BE49-F238E27FC236}">
                <a16:creationId xmlns:a16="http://schemas.microsoft.com/office/drawing/2014/main" id="{9927067B-793F-D21C-B90A-7C7E46812D7F}"/>
              </a:ext>
            </a:extLst>
          </p:cNvPr>
          <p:cNvSpPr/>
          <p:nvPr/>
        </p:nvSpPr>
        <p:spPr>
          <a:xfrm>
            <a:off x="3787185" y="4759542"/>
            <a:ext cx="2292685" cy="221767"/>
          </a:xfrm>
          <a:prstGeom prst="rect">
            <a:avLst/>
          </a:prstGeom>
          <a:solidFill>
            <a:schemeClr val="tx2">
              <a:lumMod val="75000"/>
            </a:schemeClr>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r>
              <a:rPr kumimoji="1" lang="ja-JP" altLang="en-US" sz="1000" b="1" dirty="0">
                <a:solidFill>
                  <a:schemeClr val="bg1"/>
                </a:solidFill>
                <a:latin typeface="メイリオ" panose="020B0604030504040204" pitchFamily="50" charset="-128"/>
                <a:ea typeface="メイリオ" panose="020B0604030504040204" pitchFamily="50" charset="-128"/>
              </a:rPr>
              <a:t>リマインド配信</a:t>
            </a:r>
          </a:p>
        </p:txBody>
      </p:sp>
      <p:sp>
        <p:nvSpPr>
          <p:cNvPr id="58" name="正方形/長方形 57">
            <a:extLst>
              <a:ext uri="{FF2B5EF4-FFF2-40B4-BE49-F238E27FC236}">
                <a16:creationId xmlns:a16="http://schemas.microsoft.com/office/drawing/2014/main" id="{BD2E83D5-3372-C439-208D-783F428C9D84}"/>
              </a:ext>
            </a:extLst>
          </p:cNvPr>
          <p:cNvSpPr/>
          <p:nvPr/>
        </p:nvSpPr>
        <p:spPr>
          <a:xfrm>
            <a:off x="3787185" y="5025137"/>
            <a:ext cx="2292685" cy="221767"/>
          </a:xfrm>
          <a:prstGeom prst="rect">
            <a:avLst/>
          </a:prstGeom>
          <a:solidFill>
            <a:schemeClr val="tx2">
              <a:lumMod val="75000"/>
            </a:schemeClr>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r>
              <a:rPr kumimoji="1" lang="ja-JP" altLang="en-US" sz="1000" b="1" dirty="0">
                <a:solidFill>
                  <a:schemeClr val="bg1"/>
                </a:solidFill>
                <a:latin typeface="メイリオ" panose="020B0604030504040204" pitchFamily="50" charset="-128"/>
                <a:ea typeface="メイリオ" panose="020B0604030504040204" pitchFamily="50" charset="-128"/>
              </a:rPr>
              <a:t>クロスセル配信</a:t>
            </a:r>
          </a:p>
        </p:txBody>
      </p:sp>
      <p:sp>
        <p:nvSpPr>
          <p:cNvPr id="59" name="正方形/長方形 58">
            <a:extLst>
              <a:ext uri="{FF2B5EF4-FFF2-40B4-BE49-F238E27FC236}">
                <a16:creationId xmlns:a16="http://schemas.microsoft.com/office/drawing/2014/main" id="{087D59E0-E0CE-3934-C1B4-0EF4D82E0B2E}"/>
              </a:ext>
            </a:extLst>
          </p:cNvPr>
          <p:cNvSpPr/>
          <p:nvPr/>
        </p:nvSpPr>
        <p:spPr>
          <a:xfrm>
            <a:off x="3787185" y="5290732"/>
            <a:ext cx="1124924" cy="221767"/>
          </a:xfrm>
          <a:prstGeom prst="rect">
            <a:avLst/>
          </a:prstGeom>
          <a:solidFill>
            <a:schemeClr val="tx2">
              <a:lumMod val="75000"/>
            </a:schemeClr>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r>
              <a:rPr kumimoji="1" lang="ja-JP" altLang="en-US" sz="1000" b="1" dirty="0">
                <a:solidFill>
                  <a:schemeClr val="bg1"/>
                </a:solidFill>
                <a:latin typeface="メイリオ" panose="020B0604030504040204" pitchFamily="50" charset="-128"/>
                <a:ea typeface="メイリオ" panose="020B0604030504040204" pitchFamily="50" charset="-128"/>
              </a:rPr>
              <a:t>実反響</a:t>
            </a:r>
            <a:r>
              <a:rPr lang="en-US" altLang="ja-JP" sz="1000" b="1" dirty="0">
                <a:solidFill>
                  <a:schemeClr val="bg1"/>
                </a:solidFill>
                <a:latin typeface="メイリオ" panose="020B0604030504040204" pitchFamily="50" charset="-128"/>
                <a:ea typeface="メイリオ" panose="020B0604030504040204" pitchFamily="50" charset="-128"/>
              </a:rPr>
              <a:t>(</a:t>
            </a:r>
            <a:r>
              <a:rPr lang="ja-JP" altLang="en-US" sz="1000" b="1" dirty="0">
                <a:solidFill>
                  <a:schemeClr val="bg1"/>
                </a:solidFill>
                <a:latin typeface="メイリオ" panose="020B0604030504040204" pitchFamily="50" charset="-128"/>
                <a:ea typeface="メイリオ" panose="020B0604030504040204" pitchFamily="50" charset="-128"/>
              </a:rPr>
              <a:t>購入</a:t>
            </a:r>
            <a:r>
              <a:rPr lang="en-US" altLang="ja-JP" sz="1000" b="1" dirty="0">
                <a:solidFill>
                  <a:schemeClr val="bg1"/>
                </a:solidFill>
                <a:latin typeface="メイリオ" panose="020B0604030504040204" pitchFamily="50" charset="-128"/>
                <a:ea typeface="メイリオ" panose="020B0604030504040204" pitchFamily="50" charset="-128"/>
              </a:rPr>
              <a:t>)</a:t>
            </a:r>
            <a:endParaRPr kumimoji="1" lang="ja-JP" altLang="en-US" sz="1000" b="1" dirty="0">
              <a:solidFill>
                <a:schemeClr val="bg1"/>
              </a:solidFill>
              <a:latin typeface="メイリオ" panose="020B0604030504040204" pitchFamily="50" charset="-128"/>
              <a:ea typeface="メイリオ" panose="020B0604030504040204" pitchFamily="50" charset="-128"/>
            </a:endParaRPr>
          </a:p>
        </p:txBody>
      </p:sp>
      <p:sp>
        <p:nvSpPr>
          <p:cNvPr id="60" name="正方形/長方形 59">
            <a:extLst>
              <a:ext uri="{FF2B5EF4-FFF2-40B4-BE49-F238E27FC236}">
                <a16:creationId xmlns:a16="http://schemas.microsoft.com/office/drawing/2014/main" id="{78BB80E0-2482-846A-E4FE-C1770384E88E}"/>
              </a:ext>
            </a:extLst>
          </p:cNvPr>
          <p:cNvSpPr/>
          <p:nvPr/>
        </p:nvSpPr>
        <p:spPr>
          <a:xfrm>
            <a:off x="3794199" y="5556327"/>
            <a:ext cx="2292685" cy="221767"/>
          </a:xfrm>
          <a:prstGeom prst="rect">
            <a:avLst/>
          </a:prstGeom>
          <a:solidFill>
            <a:schemeClr val="tx2">
              <a:lumMod val="75000"/>
            </a:schemeClr>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r>
              <a:rPr kumimoji="1" lang="ja-JP" altLang="en-US" sz="1000" b="1" dirty="0">
                <a:solidFill>
                  <a:schemeClr val="bg1"/>
                </a:solidFill>
                <a:latin typeface="メイリオ" panose="020B0604030504040204" pitchFamily="50" charset="-128"/>
                <a:ea typeface="メイリオ" panose="020B0604030504040204" pitchFamily="50" charset="-128"/>
              </a:rPr>
              <a:t>利用状況タグの設定</a:t>
            </a:r>
          </a:p>
        </p:txBody>
      </p:sp>
      <p:sp>
        <p:nvSpPr>
          <p:cNvPr id="61" name="正方形/長方形 60">
            <a:extLst>
              <a:ext uri="{FF2B5EF4-FFF2-40B4-BE49-F238E27FC236}">
                <a16:creationId xmlns:a16="http://schemas.microsoft.com/office/drawing/2014/main" id="{C885333E-56CE-B011-72B9-07B332849355}"/>
              </a:ext>
            </a:extLst>
          </p:cNvPr>
          <p:cNvSpPr/>
          <p:nvPr/>
        </p:nvSpPr>
        <p:spPr>
          <a:xfrm>
            <a:off x="4954946" y="5292772"/>
            <a:ext cx="1124924" cy="221767"/>
          </a:xfrm>
          <a:prstGeom prst="rect">
            <a:avLst/>
          </a:prstGeom>
          <a:solidFill>
            <a:schemeClr val="tx2">
              <a:lumMod val="75000"/>
            </a:schemeClr>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r>
              <a:rPr kumimoji="1" lang="ja-JP" altLang="en-US" sz="1000" b="1" dirty="0">
                <a:solidFill>
                  <a:schemeClr val="bg1"/>
                </a:solidFill>
                <a:latin typeface="メイリオ" panose="020B0604030504040204" pitchFamily="50" charset="-128"/>
                <a:ea typeface="メイリオ" panose="020B0604030504040204" pitchFamily="50" charset="-128"/>
              </a:rPr>
              <a:t>リピート配信</a:t>
            </a:r>
          </a:p>
        </p:txBody>
      </p:sp>
      <p:cxnSp>
        <p:nvCxnSpPr>
          <p:cNvPr id="62" name="コネクタ: カギ線 61">
            <a:extLst>
              <a:ext uri="{FF2B5EF4-FFF2-40B4-BE49-F238E27FC236}">
                <a16:creationId xmlns:a16="http://schemas.microsoft.com/office/drawing/2014/main" id="{BDA83037-5C06-C2D0-EF8B-90AE0F4336B5}"/>
              </a:ext>
            </a:extLst>
          </p:cNvPr>
          <p:cNvCxnSpPr>
            <a:cxnSpLocks/>
            <a:stCxn id="52" idx="3"/>
            <a:endCxn id="57" idx="1"/>
          </p:cNvCxnSpPr>
          <p:nvPr/>
        </p:nvCxnSpPr>
        <p:spPr>
          <a:xfrm>
            <a:off x="1353642" y="4855140"/>
            <a:ext cx="2433543" cy="15286"/>
          </a:xfrm>
          <a:prstGeom prst="bentConnector3">
            <a:avLst>
              <a:gd name="adj1" fmla="val 50000"/>
            </a:avLst>
          </a:prstGeom>
          <a:ln>
            <a:solidFill>
              <a:schemeClr val="tx1"/>
            </a:solidFill>
            <a:prstDash val="sysDash"/>
            <a:tailEnd type="triangle"/>
          </a:ln>
        </p:spPr>
        <p:style>
          <a:lnRef idx="1">
            <a:schemeClr val="accent1"/>
          </a:lnRef>
          <a:fillRef idx="0">
            <a:schemeClr val="accent1"/>
          </a:fillRef>
          <a:effectRef idx="0">
            <a:schemeClr val="accent1"/>
          </a:effectRef>
          <a:fontRef idx="minor">
            <a:schemeClr val="tx1"/>
          </a:fontRef>
        </p:style>
      </p:cxnSp>
      <p:cxnSp>
        <p:nvCxnSpPr>
          <p:cNvPr id="63" name="コネクタ: カギ線 62">
            <a:extLst>
              <a:ext uri="{FF2B5EF4-FFF2-40B4-BE49-F238E27FC236}">
                <a16:creationId xmlns:a16="http://schemas.microsoft.com/office/drawing/2014/main" id="{BA23D5BC-C7EC-06D4-215C-2852A68F0F9B}"/>
              </a:ext>
            </a:extLst>
          </p:cNvPr>
          <p:cNvCxnSpPr>
            <a:cxnSpLocks/>
            <a:stCxn id="52" idx="3"/>
            <a:endCxn id="58" idx="1"/>
          </p:cNvCxnSpPr>
          <p:nvPr/>
        </p:nvCxnSpPr>
        <p:spPr>
          <a:xfrm>
            <a:off x="1353642" y="4855140"/>
            <a:ext cx="2433543" cy="280881"/>
          </a:xfrm>
          <a:prstGeom prst="bentConnector3">
            <a:avLst>
              <a:gd name="adj1" fmla="val 50000"/>
            </a:avLst>
          </a:prstGeom>
          <a:ln>
            <a:solidFill>
              <a:schemeClr val="tx1"/>
            </a:solidFill>
            <a:prstDash val="sysDash"/>
            <a:tailEnd type="triangle"/>
          </a:ln>
        </p:spPr>
        <p:style>
          <a:lnRef idx="1">
            <a:schemeClr val="accent1"/>
          </a:lnRef>
          <a:fillRef idx="0">
            <a:schemeClr val="accent1"/>
          </a:fillRef>
          <a:effectRef idx="0">
            <a:schemeClr val="accent1"/>
          </a:effectRef>
          <a:fontRef idx="minor">
            <a:schemeClr val="tx1"/>
          </a:fontRef>
        </p:style>
      </p:cxnSp>
      <p:cxnSp>
        <p:nvCxnSpPr>
          <p:cNvPr id="64" name="コネクタ: カギ線 63">
            <a:extLst>
              <a:ext uri="{FF2B5EF4-FFF2-40B4-BE49-F238E27FC236}">
                <a16:creationId xmlns:a16="http://schemas.microsoft.com/office/drawing/2014/main" id="{F8AA6994-29BC-2C26-DE5F-C0C21F502236}"/>
              </a:ext>
            </a:extLst>
          </p:cNvPr>
          <p:cNvCxnSpPr>
            <a:cxnSpLocks/>
            <a:stCxn id="52" idx="3"/>
            <a:endCxn id="59" idx="1"/>
          </p:cNvCxnSpPr>
          <p:nvPr/>
        </p:nvCxnSpPr>
        <p:spPr>
          <a:xfrm>
            <a:off x="1353642" y="4855140"/>
            <a:ext cx="2433543" cy="546476"/>
          </a:xfrm>
          <a:prstGeom prst="bentConnector3">
            <a:avLst>
              <a:gd name="adj1" fmla="val 50000"/>
            </a:avLst>
          </a:prstGeom>
          <a:ln>
            <a:solidFill>
              <a:schemeClr val="tx1"/>
            </a:solidFill>
            <a:prstDash val="sysDash"/>
            <a:tailEnd type="triangle"/>
          </a:ln>
        </p:spPr>
        <p:style>
          <a:lnRef idx="1">
            <a:schemeClr val="accent1"/>
          </a:lnRef>
          <a:fillRef idx="0">
            <a:schemeClr val="accent1"/>
          </a:fillRef>
          <a:effectRef idx="0">
            <a:schemeClr val="accent1"/>
          </a:effectRef>
          <a:fontRef idx="minor">
            <a:schemeClr val="tx1"/>
          </a:fontRef>
        </p:style>
      </p:cxnSp>
      <p:cxnSp>
        <p:nvCxnSpPr>
          <p:cNvPr id="65" name="コネクタ: カギ線 64">
            <a:extLst>
              <a:ext uri="{FF2B5EF4-FFF2-40B4-BE49-F238E27FC236}">
                <a16:creationId xmlns:a16="http://schemas.microsoft.com/office/drawing/2014/main" id="{3AE4A3D0-6C1F-7BCD-3ED2-5F066684CE21}"/>
              </a:ext>
            </a:extLst>
          </p:cNvPr>
          <p:cNvCxnSpPr>
            <a:cxnSpLocks/>
            <a:stCxn id="52" idx="3"/>
            <a:endCxn id="60" idx="1"/>
          </p:cNvCxnSpPr>
          <p:nvPr/>
        </p:nvCxnSpPr>
        <p:spPr>
          <a:xfrm>
            <a:off x="1353642" y="4855140"/>
            <a:ext cx="2440557" cy="812071"/>
          </a:xfrm>
          <a:prstGeom prst="bentConnector3">
            <a:avLst>
              <a:gd name="adj1" fmla="val 50000"/>
            </a:avLst>
          </a:prstGeom>
          <a:ln>
            <a:solidFill>
              <a:schemeClr val="tx1"/>
            </a:solidFill>
            <a:prstDash val="sysDash"/>
            <a:tailEnd type="triangle"/>
          </a:ln>
        </p:spPr>
        <p:style>
          <a:lnRef idx="1">
            <a:schemeClr val="accent1"/>
          </a:lnRef>
          <a:fillRef idx="0">
            <a:schemeClr val="accent1"/>
          </a:fillRef>
          <a:effectRef idx="0">
            <a:schemeClr val="accent1"/>
          </a:effectRef>
          <a:fontRef idx="minor">
            <a:schemeClr val="tx1"/>
          </a:fontRef>
        </p:style>
      </p:cxnSp>
      <p:sp>
        <p:nvSpPr>
          <p:cNvPr id="66" name="正方形/長方形 65">
            <a:extLst>
              <a:ext uri="{FF2B5EF4-FFF2-40B4-BE49-F238E27FC236}">
                <a16:creationId xmlns:a16="http://schemas.microsoft.com/office/drawing/2014/main" id="{F922E2DE-5C74-6CAA-736C-BAC94D2952DF}"/>
              </a:ext>
            </a:extLst>
          </p:cNvPr>
          <p:cNvSpPr/>
          <p:nvPr/>
        </p:nvSpPr>
        <p:spPr>
          <a:xfrm>
            <a:off x="3787185" y="5821165"/>
            <a:ext cx="2292685" cy="221767"/>
          </a:xfrm>
          <a:prstGeom prst="rect">
            <a:avLst/>
          </a:prstGeom>
          <a:solidFill>
            <a:schemeClr val="tx1">
              <a:lumMod val="65000"/>
              <a:lumOff val="35000"/>
            </a:schemeClr>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r>
              <a:rPr kumimoji="1" lang="ja-JP" altLang="en-US" sz="1000" b="1" dirty="0">
                <a:solidFill>
                  <a:schemeClr val="bg1"/>
                </a:solidFill>
                <a:latin typeface="メイリオ" panose="020B0604030504040204" pitchFamily="50" charset="-128"/>
                <a:ea typeface="メイリオ" panose="020B0604030504040204" pitchFamily="50" charset="-128"/>
              </a:rPr>
              <a:t>クー</a:t>
            </a:r>
            <a:r>
              <a:rPr lang="ja-JP" altLang="en-US" sz="1000" b="1" dirty="0">
                <a:solidFill>
                  <a:schemeClr val="bg1"/>
                </a:solidFill>
                <a:latin typeface="メイリオ" panose="020B0604030504040204" pitchFamily="50" charset="-128"/>
                <a:ea typeface="メイリオ" panose="020B0604030504040204" pitchFamily="50" charset="-128"/>
              </a:rPr>
              <a:t>ポン・リサーチ動線の設計</a:t>
            </a:r>
            <a:endParaRPr kumimoji="1" lang="ja-JP" altLang="en-US" sz="1000" b="1" dirty="0">
              <a:solidFill>
                <a:schemeClr val="bg1"/>
              </a:solidFill>
              <a:latin typeface="メイリオ" panose="020B0604030504040204" pitchFamily="50" charset="-128"/>
              <a:ea typeface="メイリオ" panose="020B0604030504040204" pitchFamily="50" charset="-128"/>
            </a:endParaRPr>
          </a:p>
        </p:txBody>
      </p:sp>
      <p:sp>
        <p:nvSpPr>
          <p:cNvPr id="67" name="正方形/長方形 66">
            <a:extLst>
              <a:ext uri="{FF2B5EF4-FFF2-40B4-BE49-F238E27FC236}">
                <a16:creationId xmlns:a16="http://schemas.microsoft.com/office/drawing/2014/main" id="{03175683-57AB-6FFA-0F27-7E81645CA47B}"/>
              </a:ext>
            </a:extLst>
          </p:cNvPr>
          <p:cNvSpPr/>
          <p:nvPr/>
        </p:nvSpPr>
        <p:spPr>
          <a:xfrm>
            <a:off x="3794199" y="6089850"/>
            <a:ext cx="2292685" cy="221767"/>
          </a:xfrm>
          <a:prstGeom prst="rect">
            <a:avLst/>
          </a:prstGeom>
          <a:solidFill>
            <a:schemeClr val="tx1">
              <a:lumMod val="65000"/>
              <a:lumOff val="35000"/>
            </a:schemeClr>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r>
              <a:rPr kumimoji="1" lang="en-US" altLang="ja-JP" sz="1000" b="1" dirty="0">
                <a:solidFill>
                  <a:schemeClr val="bg1"/>
                </a:solidFill>
                <a:latin typeface="メイリオ" panose="020B0604030504040204" pitchFamily="50" charset="-128"/>
                <a:ea typeface="メイリオ" panose="020B0604030504040204" pitchFamily="50" charset="-128"/>
              </a:rPr>
              <a:t>1to1</a:t>
            </a:r>
            <a:r>
              <a:rPr kumimoji="1" lang="ja-JP" altLang="en-US" sz="1000" b="1" dirty="0">
                <a:solidFill>
                  <a:schemeClr val="bg1"/>
                </a:solidFill>
                <a:latin typeface="メイリオ" panose="020B0604030504040204" pitchFamily="50" charset="-128"/>
                <a:ea typeface="メイリオ" panose="020B0604030504040204" pitchFamily="50" charset="-128"/>
              </a:rPr>
              <a:t>チャット機能</a:t>
            </a:r>
          </a:p>
        </p:txBody>
      </p:sp>
      <p:cxnSp>
        <p:nvCxnSpPr>
          <p:cNvPr id="68" name="コネクタ: カギ線 67">
            <a:extLst>
              <a:ext uri="{FF2B5EF4-FFF2-40B4-BE49-F238E27FC236}">
                <a16:creationId xmlns:a16="http://schemas.microsoft.com/office/drawing/2014/main" id="{30FE3CED-649C-7946-1117-B1E2FD2D7F26}"/>
              </a:ext>
            </a:extLst>
          </p:cNvPr>
          <p:cNvCxnSpPr>
            <a:cxnSpLocks/>
          </p:cNvCxnSpPr>
          <p:nvPr/>
        </p:nvCxnSpPr>
        <p:spPr>
          <a:xfrm rot="5400000" flipH="1" flipV="1">
            <a:off x="1678688" y="3709654"/>
            <a:ext cx="3347219" cy="1294966"/>
          </a:xfrm>
          <a:prstGeom prst="bentConnector3">
            <a:avLst>
              <a:gd name="adj1" fmla="val 46358"/>
            </a:avLst>
          </a:prstGeom>
          <a:ln>
            <a:solidFill>
              <a:schemeClr val="tx1"/>
            </a:solidFill>
            <a:prstDash val="sysDash"/>
          </a:ln>
        </p:spPr>
        <p:style>
          <a:lnRef idx="1">
            <a:schemeClr val="accent1"/>
          </a:lnRef>
          <a:fillRef idx="0">
            <a:schemeClr val="accent1"/>
          </a:fillRef>
          <a:effectRef idx="0">
            <a:schemeClr val="accent1"/>
          </a:effectRef>
          <a:fontRef idx="minor">
            <a:schemeClr val="tx1"/>
          </a:fontRef>
        </p:style>
      </p:cxnSp>
      <p:sp>
        <p:nvSpPr>
          <p:cNvPr id="69" name="正方形/長方形 68">
            <a:extLst>
              <a:ext uri="{FF2B5EF4-FFF2-40B4-BE49-F238E27FC236}">
                <a16:creationId xmlns:a16="http://schemas.microsoft.com/office/drawing/2014/main" id="{5EB01514-8877-C931-E7AA-81B28EB77681}"/>
              </a:ext>
            </a:extLst>
          </p:cNvPr>
          <p:cNvSpPr/>
          <p:nvPr/>
        </p:nvSpPr>
        <p:spPr>
          <a:xfrm>
            <a:off x="7060419" y="1545337"/>
            <a:ext cx="2583782" cy="252610"/>
          </a:xfrm>
          <a:prstGeom prst="rect">
            <a:avLst/>
          </a:prstGeom>
          <a:solidFill>
            <a:srgbClr val="04FA0A">
              <a:alpha val="8000"/>
            </a:srgbClr>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r>
              <a:rPr lang="ja-JP" altLang="en-US" sz="1000" b="1" dirty="0">
                <a:solidFill>
                  <a:srgbClr val="00B050"/>
                </a:solidFill>
                <a:latin typeface="メイリオ" panose="020B0604030504040204" pitchFamily="50" charset="-128"/>
                <a:ea typeface="メイリオ" panose="020B0604030504040204" pitchFamily="50" charset="-128"/>
              </a:rPr>
              <a:t>自動化</a:t>
            </a:r>
            <a:r>
              <a:rPr lang="en-US" altLang="ja-JP" sz="1000" b="1" dirty="0">
                <a:solidFill>
                  <a:srgbClr val="00B050"/>
                </a:solidFill>
                <a:latin typeface="メイリオ" panose="020B0604030504040204" pitchFamily="50" charset="-128"/>
                <a:ea typeface="メイリオ" panose="020B0604030504040204" pitchFamily="50" charset="-128"/>
              </a:rPr>
              <a:t>(</a:t>
            </a:r>
            <a:r>
              <a:rPr lang="ja-JP" altLang="en-US" sz="1000" b="1" dirty="0">
                <a:solidFill>
                  <a:srgbClr val="00B050"/>
                </a:solidFill>
                <a:latin typeface="メイリオ" panose="020B0604030504040204" pitchFamily="50" charset="-128"/>
                <a:ea typeface="メイリオ" panose="020B0604030504040204" pitchFamily="50" charset="-128"/>
              </a:rPr>
              <a:t>ツール導入により</a:t>
            </a:r>
            <a:r>
              <a:rPr lang="en-US" altLang="ja-JP" sz="1000" b="1" dirty="0">
                <a:solidFill>
                  <a:srgbClr val="00B050"/>
                </a:solidFill>
                <a:latin typeface="メイリオ" panose="020B0604030504040204" pitchFamily="50" charset="-128"/>
                <a:ea typeface="メイリオ" panose="020B0604030504040204" pitchFamily="50" charset="-128"/>
              </a:rPr>
              <a:t>)</a:t>
            </a:r>
            <a:r>
              <a:rPr lang="ja-JP" altLang="en-US" sz="1000" b="1" dirty="0">
                <a:solidFill>
                  <a:srgbClr val="00B050"/>
                </a:solidFill>
                <a:latin typeface="メイリオ" panose="020B0604030504040204" pitchFamily="50" charset="-128"/>
                <a:ea typeface="メイリオ" panose="020B0604030504040204" pitchFamily="50" charset="-128"/>
              </a:rPr>
              <a:t>可能領域</a:t>
            </a:r>
            <a:endParaRPr kumimoji="1" lang="ja-JP" altLang="en-US" sz="1000" b="1" dirty="0">
              <a:solidFill>
                <a:srgbClr val="00B050"/>
              </a:solidFill>
              <a:latin typeface="メイリオ" panose="020B0604030504040204" pitchFamily="50" charset="-128"/>
              <a:ea typeface="メイリオ" panose="020B0604030504040204" pitchFamily="50" charset="-128"/>
            </a:endParaRPr>
          </a:p>
        </p:txBody>
      </p:sp>
      <p:sp>
        <p:nvSpPr>
          <p:cNvPr id="70" name="テキスト ボックス 69">
            <a:extLst>
              <a:ext uri="{FF2B5EF4-FFF2-40B4-BE49-F238E27FC236}">
                <a16:creationId xmlns:a16="http://schemas.microsoft.com/office/drawing/2014/main" id="{F13EA781-8267-BC44-F585-50DB7DF86AA2}"/>
              </a:ext>
            </a:extLst>
          </p:cNvPr>
          <p:cNvSpPr txBox="1"/>
          <p:nvPr/>
        </p:nvSpPr>
        <p:spPr>
          <a:xfrm>
            <a:off x="554370" y="735535"/>
            <a:ext cx="8797260" cy="523220"/>
          </a:xfrm>
          <a:prstGeom prst="rect">
            <a:avLst/>
          </a:prstGeom>
          <a:noFill/>
        </p:spPr>
        <p:txBody>
          <a:bodyPr wrap="square">
            <a:spAutoFit/>
          </a:bodyPr>
          <a:lstStyle/>
          <a:p>
            <a:pPr algn="ctr"/>
            <a:r>
              <a:rPr lang="ja-JP" altLang="en-US" sz="1400" b="1" dirty="0">
                <a:solidFill>
                  <a:schemeClr val="tx1">
                    <a:lumMod val="50000"/>
                    <a:lumOff val="50000"/>
                  </a:schemeClr>
                </a:solidFill>
                <a:latin typeface="Meiryo" panose="020B0604030504040204" pitchFamily="34" charset="-128"/>
                <a:ea typeface="Meiryo" panose="020B0604030504040204" pitchFamily="34" charset="-128"/>
              </a:rPr>
              <a:t>導入期間の長期化に伴い、カバー範囲を広げながら</a:t>
            </a:r>
            <a:r>
              <a:rPr lang="en-US" altLang="ja-JP" sz="1400" b="1" dirty="0">
                <a:solidFill>
                  <a:schemeClr val="tx1">
                    <a:lumMod val="50000"/>
                    <a:lumOff val="50000"/>
                  </a:schemeClr>
                </a:solidFill>
                <a:latin typeface="Meiryo" panose="020B0604030504040204" pitchFamily="34" charset="-128"/>
                <a:ea typeface="Meiryo" panose="020B0604030504040204" pitchFamily="34" charset="-128"/>
              </a:rPr>
              <a:t>【</a:t>
            </a:r>
            <a:r>
              <a:rPr lang="ja-JP" altLang="en-US" sz="1400" b="1" dirty="0">
                <a:solidFill>
                  <a:schemeClr val="tx1">
                    <a:lumMod val="50000"/>
                    <a:lumOff val="50000"/>
                  </a:schemeClr>
                </a:solidFill>
                <a:latin typeface="Meiryo" panose="020B0604030504040204" pitchFamily="34" charset="-128"/>
                <a:ea typeface="Meiryo" panose="020B0604030504040204" pitchFamily="34" charset="-128"/>
              </a:rPr>
              <a:t>新規獲得</a:t>
            </a:r>
            <a:r>
              <a:rPr lang="en-US" altLang="ja-JP" sz="1400" b="1" dirty="0">
                <a:solidFill>
                  <a:schemeClr val="tx1">
                    <a:lumMod val="50000"/>
                    <a:lumOff val="50000"/>
                  </a:schemeClr>
                </a:solidFill>
                <a:latin typeface="Meiryo" panose="020B0604030504040204" pitchFamily="34" charset="-128"/>
                <a:ea typeface="Meiryo" panose="020B0604030504040204" pitchFamily="34" charset="-128"/>
              </a:rPr>
              <a:t>】【CV</a:t>
            </a:r>
            <a:r>
              <a:rPr lang="ja-JP" altLang="en-US" sz="1400" b="1" dirty="0">
                <a:solidFill>
                  <a:schemeClr val="tx1">
                    <a:lumMod val="50000"/>
                    <a:lumOff val="50000"/>
                  </a:schemeClr>
                </a:solidFill>
                <a:latin typeface="Meiryo" panose="020B0604030504040204" pitchFamily="34" charset="-128"/>
                <a:ea typeface="Meiryo" panose="020B0604030504040204" pitchFamily="34" charset="-128"/>
              </a:rPr>
              <a:t>質改善</a:t>
            </a:r>
            <a:r>
              <a:rPr lang="en-US" altLang="ja-JP" sz="1400" b="1" dirty="0">
                <a:solidFill>
                  <a:schemeClr val="tx1">
                    <a:lumMod val="50000"/>
                    <a:lumOff val="50000"/>
                  </a:schemeClr>
                </a:solidFill>
                <a:latin typeface="Meiryo" panose="020B0604030504040204" pitchFamily="34" charset="-128"/>
                <a:ea typeface="Meiryo" panose="020B0604030504040204" pitchFamily="34" charset="-128"/>
              </a:rPr>
              <a:t>】【</a:t>
            </a:r>
            <a:r>
              <a:rPr lang="ja-JP" altLang="en-US" sz="1400" b="1" dirty="0">
                <a:solidFill>
                  <a:schemeClr val="tx1">
                    <a:lumMod val="50000"/>
                    <a:lumOff val="50000"/>
                  </a:schemeClr>
                </a:solidFill>
                <a:latin typeface="Meiryo" panose="020B0604030504040204" pitchFamily="34" charset="-128"/>
                <a:ea typeface="Meiryo" panose="020B0604030504040204" pitchFamily="34" charset="-128"/>
              </a:rPr>
              <a:t>リピート率改善</a:t>
            </a:r>
            <a:r>
              <a:rPr lang="en-US" altLang="ja-JP" sz="1400" b="1" dirty="0">
                <a:solidFill>
                  <a:schemeClr val="tx1">
                    <a:lumMod val="50000"/>
                    <a:lumOff val="50000"/>
                  </a:schemeClr>
                </a:solidFill>
                <a:latin typeface="Meiryo" panose="020B0604030504040204" pitchFamily="34" charset="-128"/>
                <a:ea typeface="Meiryo" panose="020B0604030504040204" pitchFamily="34" charset="-128"/>
              </a:rPr>
              <a:t>】</a:t>
            </a:r>
          </a:p>
          <a:p>
            <a:pPr algn="ctr"/>
            <a:r>
              <a:rPr lang="ja-JP" altLang="en-US" sz="1400" b="1" dirty="0">
                <a:solidFill>
                  <a:schemeClr val="tx1">
                    <a:lumMod val="50000"/>
                    <a:lumOff val="50000"/>
                  </a:schemeClr>
                </a:solidFill>
                <a:latin typeface="Meiryo" panose="020B0604030504040204" pitchFamily="34" charset="-128"/>
                <a:ea typeface="Meiryo" panose="020B0604030504040204" pitchFamily="34" charset="-128"/>
              </a:rPr>
              <a:t>など新規・既存の両面から最適な施策をご提供することが可能です。</a:t>
            </a:r>
            <a:endParaRPr lang="en-US" altLang="ja-JP" sz="1400" b="1" dirty="0">
              <a:solidFill>
                <a:schemeClr val="tx1">
                  <a:lumMod val="50000"/>
                  <a:lumOff val="50000"/>
                </a:schemeClr>
              </a:solidFill>
              <a:latin typeface="Meiryo" panose="020B0604030504040204" pitchFamily="34" charset="-128"/>
              <a:ea typeface="Meiryo" panose="020B0604030504040204" pitchFamily="34" charset="-128"/>
            </a:endParaRPr>
          </a:p>
        </p:txBody>
      </p:sp>
    </p:spTree>
    <p:extLst>
      <p:ext uri="{BB962C8B-B14F-4D97-AF65-F5344CB8AC3E}">
        <p14:creationId xmlns:p14="http://schemas.microsoft.com/office/powerpoint/2010/main" val="507335036"/>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D305794-10C5-A163-5F03-DB8F5144F62B}"/>
            </a:ext>
          </a:extLst>
        </p:cNvPr>
        <p:cNvGrpSpPr/>
        <p:nvPr/>
      </p:nvGrpSpPr>
      <p:grpSpPr>
        <a:xfrm>
          <a:off x="0" y="0"/>
          <a:ext cx="0" cy="0"/>
          <a:chOff x="0" y="0"/>
          <a:chExt cx="0" cy="0"/>
        </a:xfrm>
      </p:grpSpPr>
      <p:sp>
        <p:nvSpPr>
          <p:cNvPr id="3" name="正方形/長方形 2">
            <a:extLst>
              <a:ext uri="{FF2B5EF4-FFF2-40B4-BE49-F238E27FC236}">
                <a16:creationId xmlns:a16="http://schemas.microsoft.com/office/drawing/2014/main" id="{06924D46-4ED5-0BE1-9474-C475C9B8B3FD}"/>
              </a:ext>
            </a:extLst>
          </p:cNvPr>
          <p:cNvSpPr/>
          <p:nvPr/>
        </p:nvSpPr>
        <p:spPr>
          <a:xfrm>
            <a:off x="0" y="577940"/>
            <a:ext cx="9906000" cy="812735"/>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kumimoji="1" lang="ja-JP" altLang="en-US">
              <a:latin typeface="メイリオ" panose="020B0604030504040204" pitchFamily="50" charset="-128"/>
              <a:ea typeface="メイリオ" panose="020B0604030504040204" pitchFamily="50" charset="-128"/>
            </a:endParaRPr>
          </a:p>
        </p:txBody>
      </p:sp>
      <p:sp>
        <p:nvSpPr>
          <p:cNvPr id="4" name="正方形/長方形 3">
            <a:extLst>
              <a:ext uri="{FF2B5EF4-FFF2-40B4-BE49-F238E27FC236}">
                <a16:creationId xmlns:a16="http://schemas.microsoft.com/office/drawing/2014/main" id="{550AF59C-8025-B190-6ED3-B311D27BA698}"/>
              </a:ext>
            </a:extLst>
          </p:cNvPr>
          <p:cNvSpPr/>
          <p:nvPr/>
        </p:nvSpPr>
        <p:spPr>
          <a:xfrm>
            <a:off x="379976" y="635062"/>
            <a:ext cx="9160881" cy="698492"/>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tIns="90000" anchor="ctr"/>
          <a:lstStyle/>
          <a:p>
            <a:pPr algn="ctr">
              <a:lnSpc>
                <a:spcPts val="2455"/>
              </a:lnSpc>
            </a:pPr>
            <a:endParaRPr lang="en-US" altLang="ja-JP" sz="1400" dirty="0">
              <a:solidFill>
                <a:srgbClr val="343434"/>
              </a:solidFill>
              <a:latin typeface="メイリオ" panose="020B0604030504040204" pitchFamily="50" charset="-128"/>
              <a:ea typeface="メイリオ" panose="020B0604030504040204" pitchFamily="50" charset="-128"/>
            </a:endParaRPr>
          </a:p>
        </p:txBody>
      </p:sp>
      <p:sp>
        <p:nvSpPr>
          <p:cNvPr id="45" name="Google Shape;156;p7">
            <a:extLst>
              <a:ext uri="{FF2B5EF4-FFF2-40B4-BE49-F238E27FC236}">
                <a16:creationId xmlns:a16="http://schemas.microsoft.com/office/drawing/2014/main" id="{B52FA9B6-1E96-AE6B-376B-08DEB38C8F2E}"/>
              </a:ext>
            </a:extLst>
          </p:cNvPr>
          <p:cNvSpPr txBox="1"/>
          <p:nvPr/>
        </p:nvSpPr>
        <p:spPr>
          <a:xfrm>
            <a:off x="548883" y="138118"/>
            <a:ext cx="6514857" cy="338554"/>
          </a:xfrm>
          <a:prstGeom prst="rect">
            <a:avLst/>
          </a:prstGeom>
          <a:noFill/>
          <a:ln w="19050">
            <a:noFill/>
          </a:ln>
        </p:spPr>
        <p:txBody>
          <a:bodyPr spcFirstLastPara="1" wrap="square" lIns="91425" tIns="45700" rIns="91425" bIns="45700" anchor="ctr" anchorCtr="0">
            <a:spAutoFit/>
          </a:bodyPr>
          <a:lstStyle/>
          <a:p>
            <a:pPr marL="0" marR="0" lvl="0" indent="0" algn="l" rtl="0">
              <a:spcBef>
                <a:spcPts val="0"/>
              </a:spcBef>
              <a:spcAft>
                <a:spcPts val="0"/>
              </a:spcAft>
              <a:buClr>
                <a:srgbClr val="002060"/>
              </a:buClr>
              <a:buSzPts val="1600"/>
              <a:buFont typeface="Arial"/>
              <a:buNone/>
            </a:pPr>
            <a:r>
              <a:rPr lang="ja-JP" altLang="en-US" sz="1600" b="1" dirty="0">
                <a:solidFill>
                  <a:srgbClr val="002060"/>
                </a:solidFill>
                <a:latin typeface="Meiryo"/>
                <a:ea typeface="Meiryo"/>
                <a:cs typeface="Meiryo"/>
                <a:sym typeface="Meiryo"/>
              </a:rPr>
              <a:t>業界平均値</a:t>
            </a:r>
            <a:endParaRPr sz="1600" b="1" dirty="0">
              <a:solidFill>
                <a:srgbClr val="002060"/>
              </a:solidFill>
              <a:latin typeface="Meiryo"/>
              <a:ea typeface="Meiryo"/>
              <a:cs typeface="Meiryo"/>
              <a:sym typeface="Meiryo"/>
            </a:endParaRPr>
          </a:p>
        </p:txBody>
      </p:sp>
      <p:cxnSp>
        <p:nvCxnSpPr>
          <p:cNvPr id="2" name="直線コネクタ 1">
            <a:extLst>
              <a:ext uri="{FF2B5EF4-FFF2-40B4-BE49-F238E27FC236}">
                <a16:creationId xmlns:a16="http://schemas.microsoft.com/office/drawing/2014/main" id="{9466EA77-01E0-CA5D-3176-998FC02FE7DB}"/>
              </a:ext>
            </a:extLst>
          </p:cNvPr>
          <p:cNvCxnSpPr>
            <a:cxnSpLocks/>
          </p:cNvCxnSpPr>
          <p:nvPr/>
        </p:nvCxnSpPr>
        <p:spPr>
          <a:xfrm>
            <a:off x="0" y="1390675"/>
            <a:ext cx="9906000" cy="0"/>
          </a:xfrm>
          <a:prstGeom prst="line">
            <a:avLst/>
          </a:prstGeom>
          <a:ln w="19050">
            <a:solidFill>
              <a:schemeClr val="bg1">
                <a:lumMod val="85000"/>
                <a:alpha val="60000"/>
              </a:schemeClr>
            </a:solidFill>
          </a:ln>
          <a:effectLst/>
        </p:spPr>
        <p:style>
          <a:lnRef idx="2">
            <a:schemeClr val="accent1"/>
          </a:lnRef>
          <a:fillRef idx="0">
            <a:schemeClr val="accent1"/>
          </a:fillRef>
          <a:effectRef idx="1">
            <a:schemeClr val="accent1"/>
          </a:effectRef>
          <a:fontRef idx="minor">
            <a:schemeClr val="tx1"/>
          </a:fontRef>
        </p:style>
      </p:cxnSp>
      <p:sp>
        <p:nvSpPr>
          <p:cNvPr id="5" name="正方形/長方形 4">
            <a:extLst>
              <a:ext uri="{FF2B5EF4-FFF2-40B4-BE49-F238E27FC236}">
                <a16:creationId xmlns:a16="http://schemas.microsoft.com/office/drawing/2014/main" id="{EEF4BB1D-1E6E-955A-85D2-2DAF3FCF967B}"/>
              </a:ext>
            </a:extLst>
          </p:cNvPr>
          <p:cNvSpPr/>
          <p:nvPr/>
        </p:nvSpPr>
        <p:spPr>
          <a:xfrm>
            <a:off x="388225" y="1594309"/>
            <a:ext cx="1425879" cy="314059"/>
          </a:xfrm>
          <a:prstGeom prst="rect">
            <a:avLst/>
          </a:prstGeom>
          <a:solidFill>
            <a:schemeClr val="tx1">
              <a:lumMod val="85000"/>
              <a:lumOff val="1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r>
              <a:rPr kumimoji="1" lang="ja-JP" altLang="en-US" sz="1200" b="1" dirty="0">
                <a:latin typeface="メイリオ" panose="020B0604030504040204" pitchFamily="50" charset="-128"/>
                <a:ea typeface="メイリオ" panose="020B0604030504040204" pitchFamily="50" charset="-128"/>
              </a:rPr>
              <a:t>流入元</a:t>
            </a:r>
          </a:p>
        </p:txBody>
      </p:sp>
      <p:sp>
        <p:nvSpPr>
          <p:cNvPr id="6" name="正方形/長方形 5">
            <a:extLst>
              <a:ext uri="{FF2B5EF4-FFF2-40B4-BE49-F238E27FC236}">
                <a16:creationId xmlns:a16="http://schemas.microsoft.com/office/drawing/2014/main" id="{531C33D5-FD17-057E-9ABE-377B289F9790}"/>
              </a:ext>
            </a:extLst>
          </p:cNvPr>
          <p:cNvSpPr/>
          <p:nvPr/>
        </p:nvSpPr>
        <p:spPr>
          <a:xfrm>
            <a:off x="1890454" y="1594308"/>
            <a:ext cx="1425879" cy="314059"/>
          </a:xfrm>
          <a:prstGeom prst="rect">
            <a:avLst/>
          </a:prstGeom>
          <a:solidFill>
            <a:srgbClr val="04FA0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r>
              <a:rPr kumimoji="1" lang="en-US" altLang="ja-JP" sz="1200" b="1" dirty="0">
                <a:latin typeface="メイリオ" panose="020B0604030504040204" pitchFamily="50" charset="-128"/>
                <a:ea typeface="メイリオ" panose="020B0604030504040204" pitchFamily="50" charset="-128"/>
              </a:rPr>
              <a:t>LINE</a:t>
            </a:r>
            <a:r>
              <a:rPr kumimoji="1" lang="ja-JP" altLang="en-US" sz="1200" b="1" dirty="0">
                <a:latin typeface="メイリオ" panose="020B0604030504040204" pitchFamily="50" charset="-128"/>
                <a:ea typeface="メイリオ" panose="020B0604030504040204" pitchFamily="50" charset="-128"/>
              </a:rPr>
              <a:t>誘導</a:t>
            </a:r>
          </a:p>
        </p:txBody>
      </p:sp>
      <p:sp>
        <p:nvSpPr>
          <p:cNvPr id="7" name="正方形/長方形 6">
            <a:extLst>
              <a:ext uri="{FF2B5EF4-FFF2-40B4-BE49-F238E27FC236}">
                <a16:creationId xmlns:a16="http://schemas.microsoft.com/office/drawing/2014/main" id="{AFB52975-24F0-82CC-8A36-A65D2F539FA3}"/>
              </a:ext>
            </a:extLst>
          </p:cNvPr>
          <p:cNvSpPr/>
          <p:nvPr/>
        </p:nvSpPr>
        <p:spPr>
          <a:xfrm>
            <a:off x="3392683" y="1594308"/>
            <a:ext cx="4320230" cy="314059"/>
          </a:xfrm>
          <a:prstGeom prst="rect">
            <a:avLst/>
          </a:prstGeom>
          <a:solidFill>
            <a:schemeClr val="tx1">
              <a:lumMod val="85000"/>
              <a:lumOff val="1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r>
              <a:rPr kumimoji="1" lang="ja-JP" altLang="en-US" sz="1200" dirty="0">
                <a:latin typeface="メイリオ" panose="020B0604030504040204" pitchFamily="50" charset="-128"/>
                <a:ea typeface="メイリオ" panose="020B0604030504040204" pitchFamily="50" charset="-128"/>
              </a:rPr>
              <a:t>具体の施策方針</a:t>
            </a:r>
          </a:p>
        </p:txBody>
      </p:sp>
      <p:sp>
        <p:nvSpPr>
          <p:cNvPr id="8" name="矢印: 右 7">
            <a:extLst>
              <a:ext uri="{FF2B5EF4-FFF2-40B4-BE49-F238E27FC236}">
                <a16:creationId xmlns:a16="http://schemas.microsoft.com/office/drawing/2014/main" id="{173A008B-7B40-3834-688E-168FABDF16B8}"/>
              </a:ext>
            </a:extLst>
          </p:cNvPr>
          <p:cNvSpPr/>
          <p:nvPr/>
        </p:nvSpPr>
        <p:spPr>
          <a:xfrm>
            <a:off x="1031359" y="2268501"/>
            <a:ext cx="7744217" cy="586917"/>
          </a:xfrm>
          <a:prstGeom prst="rightArrow">
            <a:avLst/>
          </a:prstGeom>
          <a:solidFill>
            <a:schemeClr val="accent1">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endParaRPr kumimoji="1" lang="ja-JP" altLang="en-US"/>
          </a:p>
        </p:txBody>
      </p:sp>
      <p:sp>
        <p:nvSpPr>
          <p:cNvPr id="9" name="正方形/長方形 8">
            <a:extLst>
              <a:ext uri="{FF2B5EF4-FFF2-40B4-BE49-F238E27FC236}">
                <a16:creationId xmlns:a16="http://schemas.microsoft.com/office/drawing/2014/main" id="{FD70E0F9-3A37-9791-A2F1-DB53DFA521CA}"/>
              </a:ext>
            </a:extLst>
          </p:cNvPr>
          <p:cNvSpPr/>
          <p:nvPr/>
        </p:nvSpPr>
        <p:spPr>
          <a:xfrm>
            <a:off x="1890454" y="2002703"/>
            <a:ext cx="1425879" cy="558530"/>
          </a:xfrm>
          <a:prstGeom prst="rect">
            <a:avLst/>
          </a:prstGeom>
          <a:solidFill>
            <a:schemeClr val="bg1"/>
          </a:solidFill>
          <a:ln w="9525">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r>
              <a:rPr lang="ja-JP" altLang="en-US" sz="900" b="1">
                <a:solidFill>
                  <a:schemeClr val="tx1">
                    <a:lumMod val="75000"/>
                    <a:lumOff val="25000"/>
                  </a:schemeClr>
                </a:solidFill>
                <a:latin typeface="メイリオ" panose="020B0604030504040204" pitchFamily="50" charset="-128"/>
                <a:ea typeface="メイリオ" panose="020B0604030504040204" pitchFamily="50" charset="-128"/>
              </a:rPr>
              <a:t>離脱防止</a:t>
            </a:r>
            <a:endParaRPr lang="en-US" altLang="ja-JP" sz="900" b="1" dirty="0">
              <a:solidFill>
                <a:schemeClr val="tx1">
                  <a:lumMod val="75000"/>
                  <a:lumOff val="25000"/>
                </a:schemeClr>
              </a:solidFill>
              <a:latin typeface="メイリオ" panose="020B0604030504040204" pitchFamily="50" charset="-128"/>
              <a:ea typeface="メイリオ" panose="020B0604030504040204" pitchFamily="50" charset="-128"/>
            </a:endParaRPr>
          </a:p>
          <a:p>
            <a:pPr algn="ctr"/>
            <a:r>
              <a:rPr lang="ja-JP" altLang="en-US" sz="900" b="1" dirty="0">
                <a:solidFill>
                  <a:schemeClr val="tx1">
                    <a:lumMod val="75000"/>
                    <a:lumOff val="25000"/>
                  </a:schemeClr>
                </a:solidFill>
                <a:latin typeface="メイリオ" panose="020B0604030504040204" pitchFamily="50" charset="-128"/>
                <a:ea typeface="メイリオ" panose="020B0604030504040204" pitchFamily="50" charset="-128"/>
              </a:rPr>
              <a:t>サイト上ポップアップ</a:t>
            </a:r>
          </a:p>
        </p:txBody>
      </p:sp>
      <p:sp>
        <p:nvSpPr>
          <p:cNvPr id="10" name="正方形/長方形 9">
            <a:extLst>
              <a:ext uri="{FF2B5EF4-FFF2-40B4-BE49-F238E27FC236}">
                <a16:creationId xmlns:a16="http://schemas.microsoft.com/office/drawing/2014/main" id="{BC93A6AA-67BF-84C0-0945-45084140FCCE}"/>
              </a:ext>
            </a:extLst>
          </p:cNvPr>
          <p:cNvSpPr/>
          <p:nvPr/>
        </p:nvSpPr>
        <p:spPr>
          <a:xfrm>
            <a:off x="1890454" y="2615889"/>
            <a:ext cx="1425879" cy="558530"/>
          </a:xfrm>
          <a:prstGeom prst="rect">
            <a:avLst/>
          </a:prstGeom>
          <a:solidFill>
            <a:schemeClr val="bg1"/>
          </a:solidFill>
          <a:ln w="9525">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r>
              <a:rPr lang="ja-JP" altLang="en-US" sz="900" b="1" dirty="0">
                <a:solidFill>
                  <a:schemeClr val="tx1">
                    <a:lumMod val="75000"/>
                    <a:lumOff val="25000"/>
                  </a:schemeClr>
                </a:solidFill>
                <a:latin typeface="メイリオ" panose="020B0604030504040204" pitchFamily="50" charset="-128"/>
                <a:ea typeface="メイリオ" panose="020B0604030504040204" pitchFamily="50" charset="-128"/>
              </a:rPr>
              <a:t>離脱防止</a:t>
            </a:r>
            <a:endParaRPr lang="en-US" altLang="ja-JP" sz="900" b="1" dirty="0">
              <a:solidFill>
                <a:schemeClr val="tx1">
                  <a:lumMod val="75000"/>
                  <a:lumOff val="25000"/>
                </a:schemeClr>
              </a:solidFill>
              <a:latin typeface="メイリオ" panose="020B0604030504040204" pitchFamily="50" charset="-128"/>
              <a:ea typeface="メイリオ" panose="020B0604030504040204" pitchFamily="50" charset="-128"/>
            </a:endParaRPr>
          </a:p>
          <a:p>
            <a:pPr algn="ctr"/>
            <a:r>
              <a:rPr lang="ja-JP" altLang="en-US" sz="900" b="1" dirty="0">
                <a:solidFill>
                  <a:schemeClr val="tx1">
                    <a:lumMod val="75000"/>
                    <a:lumOff val="25000"/>
                  </a:schemeClr>
                </a:solidFill>
                <a:latin typeface="メイリオ" panose="020B0604030504040204" pitchFamily="50" charset="-128"/>
                <a:ea typeface="メイリオ" panose="020B0604030504040204" pitchFamily="50" charset="-128"/>
              </a:rPr>
              <a:t>サイト上ポップアップ</a:t>
            </a:r>
          </a:p>
        </p:txBody>
      </p:sp>
      <p:sp>
        <p:nvSpPr>
          <p:cNvPr id="11" name="正方形/長方形 10">
            <a:extLst>
              <a:ext uri="{FF2B5EF4-FFF2-40B4-BE49-F238E27FC236}">
                <a16:creationId xmlns:a16="http://schemas.microsoft.com/office/drawing/2014/main" id="{1B7DB214-408D-A44C-E3F0-2C35AF01311F}"/>
              </a:ext>
            </a:extLst>
          </p:cNvPr>
          <p:cNvSpPr/>
          <p:nvPr/>
        </p:nvSpPr>
        <p:spPr>
          <a:xfrm>
            <a:off x="388225" y="2002703"/>
            <a:ext cx="1425879" cy="558530"/>
          </a:xfrm>
          <a:prstGeom prst="rect">
            <a:avLst/>
          </a:prstGeom>
          <a:solidFill>
            <a:schemeClr val="bg1">
              <a:lumMod val="95000"/>
            </a:schemeClr>
          </a:solidFill>
          <a:ln w="9525">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r>
              <a:rPr lang="en-US" altLang="ja-JP" sz="1000" b="1">
                <a:solidFill>
                  <a:schemeClr val="tx1">
                    <a:lumMod val="75000"/>
                    <a:lumOff val="25000"/>
                  </a:schemeClr>
                </a:solidFill>
                <a:latin typeface="メイリオ" panose="020B0604030504040204" pitchFamily="50" charset="-128"/>
                <a:ea typeface="メイリオ" panose="020B0604030504040204" pitchFamily="50" charset="-128"/>
              </a:rPr>
              <a:t>SEO</a:t>
            </a:r>
            <a:r>
              <a:rPr lang="ja-JP" altLang="en-US" sz="1000" b="1">
                <a:solidFill>
                  <a:schemeClr val="tx1">
                    <a:lumMod val="75000"/>
                    <a:lumOff val="25000"/>
                  </a:schemeClr>
                </a:solidFill>
                <a:latin typeface="メイリオ" panose="020B0604030504040204" pitchFamily="50" charset="-128"/>
                <a:ea typeface="メイリオ" panose="020B0604030504040204" pitchFamily="50" charset="-128"/>
              </a:rPr>
              <a:t>・</a:t>
            </a:r>
            <a:r>
              <a:rPr lang="en-US" altLang="ja-JP" sz="1000" b="1" dirty="0">
                <a:solidFill>
                  <a:schemeClr val="tx1">
                    <a:lumMod val="75000"/>
                    <a:lumOff val="25000"/>
                  </a:schemeClr>
                </a:solidFill>
                <a:latin typeface="メイリオ" panose="020B0604030504040204" pitchFamily="50" charset="-128"/>
                <a:ea typeface="メイリオ" panose="020B0604030504040204" pitchFamily="50" charset="-128"/>
              </a:rPr>
              <a:t>AIO</a:t>
            </a:r>
            <a:endParaRPr lang="ja-JP" altLang="en-US" sz="1000" b="1" dirty="0">
              <a:solidFill>
                <a:schemeClr val="tx1">
                  <a:lumMod val="75000"/>
                  <a:lumOff val="25000"/>
                </a:schemeClr>
              </a:solidFill>
              <a:latin typeface="メイリオ" panose="020B0604030504040204" pitchFamily="50" charset="-128"/>
              <a:ea typeface="メイリオ" panose="020B0604030504040204" pitchFamily="50" charset="-128"/>
            </a:endParaRPr>
          </a:p>
        </p:txBody>
      </p:sp>
      <p:sp>
        <p:nvSpPr>
          <p:cNvPr id="12" name="正方形/長方形 11">
            <a:extLst>
              <a:ext uri="{FF2B5EF4-FFF2-40B4-BE49-F238E27FC236}">
                <a16:creationId xmlns:a16="http://schemas.microsoft.com/office/drawing/2014/main" id="{4FF021F0-AD46-9EC1-0810-C474BA8335D8}"/>
              </a:ext>
            </a:extLst>
          </p:cNvPr>
          <p:cNvSpPr/>
          <p:nvPr/>
        </p:nvSpPr>
        <p:spPr>
          <a:xfrm>
            <a:off x="388225" y="2615889"/>
            <a:ext cx="1425879" cy="558530"/>
          </a:xfrm>
          <a:prstGeom prst="rect">
            <a:avLst/>
          </a:prstGeom>
          <a:solidFill>
            <a:schemeClr val="bg1">
              <a:lumMod val="95000"/>
            </a:schemeClr>
          </a:solidFill>
          <a:ln w="9525">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r>
              <a:rPr lang="ja-JP" altLang="en-US" sz="1000" b="1" dirty="0">
                <a:solidFill>
                  <a:schemeClr val="tx1">
                    <a:lumMod val="75000"/>
                    <a:lumOff val="25000"/>
                  </a:schemeClr>
                </a:solidFill>
                <a:latin typeface="メイリオ" panose="020B0604030504040204" pitchFamily="50" charset="-128"/>
                <a:ea typeface="メイリオ" panose="020B0604030504040204" pitchFamily="50" charset="-128"/>
              </a:rPr>
              <a:t>広告</a:t>
            </a:r>
          </a:p>
        </p:txBody>
      </p:sp>
      <p:sp>
        <p:nvSpPr>
          <p:cNvPr id="13" name="正方形/長方形 12">
            <a:extLst>
              <a:ext uri="{FF2B5EF4-FFF2-40B4-BE49-F238E27FC236}">
                <a16:creationId xmlns:a16="http://schemas.microsoft.com/office/drawing/2014/main" id="{8A474FF7-4108-C39F-A5EC-7D5691573134}"/>
              </a:ext>
            </a:extLst>
          </p:cNvPr>
          <p:cNvSpPr/>
          <p:nvPr/>
        </p:nvSpPr>
        <p:spPr>
          <a:xfrm>
            <a:off x="3392683" y="1997243"/>
            <a:ext cx="4320230" cy="1177176"/>
          </a:xfrm>
          <a:prstGeom prst="rect">
            <a:avLst/>
          </a:prstGeom>
          <a:solidFill>
            <a:schemeClr val="bg1"/>
          </a:solidFill>
          <a:ln w="9525">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endParaRPr lang="ja-JP" altLang="en-US" sz="900" dirty="0">
              <a:solidFill>
                <a:schemeClr val="tx1">
                  <a:lumMod val="75000"/>
                  <a:lumOff val="25000"/>
                </a:schemeClr>
              </a:solidFill>
              <a:latin typeface="メイリオ" panose="020B0604030504040204" pitchFamily="50" charset="-128"/>
              <a:ea typeface="メイリオ" panose="020B0604030504040204" pitchFamily="50" charset="-128"/>
            </a:endParaRPr>
          </a:p>
        </p:txBody>
      </p:sp>
      <p:sp>
        <p:nvSpPr>
          <p:cNvPr id="14" name="矢印: 右 13">
            <a:extLst>
              <a:ext uri="{FF2B5EF4-FFF2-40B4-BE49-F238E27FC236}">
                <a16:creationId xmlns:a16="http://schemas.microsoft.com/office/drawing/2014/main" id="{7386A58D-9B89-4DB0-7216-4E1CB6B454A9}"/>
              </a:ext>
            </a:extLst>
          </p:cNvPr>
          <p:cNvSpPr/>
          <p:nvPr/>
        </p:nvSpPr>
        <p:spPr>
          <a:xfrm>
            <a:off x="1031361" y="3220341"/>
            <a:ext cx="7744217" cy="586917"/>
          </a:xfrm>
          <a:prstGeom prst="rightArrow">
            <a:avLst/>
          </a:prstGeom>
          <a:solidFill>
            <a:schemeClr val="accent1">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endParaRPr kumimoji="1" lang="ja-JP" altLang="en-US"/>
          </a:p>
        </p:txBody>
      </p:sp>
      <p:sp>
        <p:nvSpPr>
          <p:cNvPr id="15" name="矢印: 右 14">
            <a:extLst>
              <a:ext uri="{FF2B5EF4-FFF2-40B4-BE49-F238E27FC236}">
                <a16:creationId xmlns:a16="http://schemas.microsoft.com/office/drawing/2014/main" id="{D3CE675D-8A5C-D632-6FDA-1C8A7E291893}"/>
              </a:ext>
            </a:extLst>
          </p:cNvPr>
          <p:cNvSpPr/>
          <p:nvPr/>
        </p:nvSpPr>
        <p:spPr>
          <a:xfrm>
            <a:off x="1031360" y="3921407"/>
            <a:ext cx="7744217" cy="586917"/>
          </a:xfrm>
          <a:prstGeom prst="rightArrow">
            <a:avLst/>
          </a:prstGeom>
          <a:solidFill>
            <a:schemeClr val="accent1">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endParaRPr kumimoji="1" lang="ja-JP" altLang="en-US"/>
          </a:p>
        </p:txBody>
      </p:sp>
      <p:cxnSp>
        <p:nvCxnSpPr>
          <p:cNvPr id="16" name="直線コネクタ 15">
            <a:extLst>
              <a:ext uri="{FF2B5EF4-FFF2-40B4-BE49-F238E27FC236}">
                <a16:creationId xmlns:a16="http://schemas.microsoft.com/office/drawing/2014/main" id="{8397AEEA-4837-54CF-13BA-F31B80D1393F}"/>
              </a:ext>
            </a:extLst>
          </p:cNvPr>
          <p:cNvCxnSpPr>
            <a:cxnSpLocks/>
          </p:cNvCxnSpPr>
          <p:nvPr/>
        </p:nvCxnSpPr>
        <p:spPr>
          <a:xfrm flipV="1">
            <a:off x="388225" y="3876481"/>
            <a:ext cx="7324688" cy="1"/>
          </a:xfrm>
          <a:prstGeom prst="line">
            <a:avLst/>
          </a:prstGeom>
          <a:ln>
            <a:prstDash val="sysDash"/>
          </a:ln>
        </p:spPr>
        <p:style>
          <a:lnRef idx="1">
            <a:schemeClr val="accent1"/>
          </a:lnRef>
          <a:fillRef idx="0">
            <a:schemeClr val="accent1"/>
          </a:fillRef>
          <a:effectRef idx="0">
            <a:schemeClr val="accent1"/>
          </a:effectRef>
          <a:fontRef idx="minor">
            <a:schemeClr val="tx1"/>
          </a:fontRef>
        </p:style>
      </p:cxnSp>
      <p:sp>
        <p:nvSpPr>
          <p:cNvPr id="17" name="正方形/長方形 16">
            <a:extLst>
              <a:ext uri="{FF2B5EF4-FFF2-40B4-BE49-F238E27FC236}">
                <a16:creationId xmlns:a16="http://schemas.microsoft.com/office/drawing/2014/main" id="{24D1C472-525A-CFB1-3C6E-3053F2619881}"/>
              </a:ext>
            </a:extLst>
          </p:cNvPr>
          <p:cNvSpPr/>
          <p:nvPr/>
        </p:nvSpPr>
        <p:spPr>
          <a:xfrm>
            <a:off x="388225" y="3229075"/>
            <a:ext cx="2928107" cy="558530"/>
          </a:xfrm>
          <a:prstGeom prst="rect">
            <a:avLst/>
          </a:prstGeom>
          <a:solidFill>
            <a:schemeClr val="bg1">
              <a:lumMod val="95000"/>
            </a:schemeClr>
          </a:solidFill>
          <a:ln w="9525">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r>
              <a:rPr kumimoji="1" lang="en-US" altLang="ja-JP" sz="1000" b="1" dirty="0">
                <a:solidFill>
                  <a:schemeClr val="tx1">
                    <a:lumMod val="65000"/>
                    <a:lumOff val="35000"/>
                  </a:schemeClr>
                </a:solidFill>
                <a:latin typeface="メイリオ" panose="020B0604030504040204" pitchFamily="50" charset="-128"/>
                <a:ea typeface="メイリオ" panose="020B0604030504040204" pitchFamily="50" charset="-128"/>
              </a:rPr>
              <a:t>LINE</a:t>
            </a:r>
            <a:r>
              <a:rPr kumimoji="1" lang="ja-JP" altLang="en-US" sz="1000" b="1" dirty="0">
                <a:solidFill>
                  <a:schemeClr val="tx1">
                    <a:lumMod val="65000"/>
                    <a:lumOff val="35000"/>
                  </a:schemeClr>
                </a:solidFill>
                <a:latin typeface="メイリオ" panose="020B0604030504040204" pitchFamily="50" charset="-128"/>
                <a:ea typeface="メイリオ" panose="020B0604030504040204" pitchFamily="50" charset="-128"/>
              </a:rPr>
              <a:t>広告（</a:t>
            </a:r>
            <a:r>
              <a:rPr kumimoji="1" lang="en-US" altLang="ja-JP" sz="1000" b="1" dirty="0">
                <a:solidFill>
                  <a:schemeClr val="tx1">
                    <a:lumMod val="65000"/>
                    <a:lumOff val="35000"/>
                  </a:schemeClr>
                </a:solidFill>
                <a:latin typeface="メイリオ" panose="020B0604030504040204" pitchFamily="50" charset="-128"/>
                <a:ea typeface="メイリオ" panose="020B0604030504040204" pitchFamily="50" charset="-128"/>
              </a:rPr>
              <a:t>CPF</a:t>
            </a:r>
            <a:r>
              <a:rPr kumimoji="1" lang="ja-JP" altLang="en-US" sz="1000" b="1" dirty="0">
                <a:solidFill>
                  <a:schemeClr val="tx1">
                    <a:lumMod val="65000"/>
                    <a:lumOff val="35000"/>
                  </a:schemeClr>
                </a:solidFill>
                <a:latin typeface="メイリオ" panose="020B0604030504040204" pitchFamily="50" charset="-128"/>
                <a:ea typeface="メイリオ" panose="020B0604030504040204" pitchFamily="50" charset="-128"/>
              </a:rPr>
              <a:t>配信）</a:t>
            </a:r>
            <a:endParaRPr kumimoji="1" lang="en-US" altLang="ja-JP" sz="1000" b="1" dirty="0">
              <a:solidFill>
                <a:schemeClr val="tx1">
                  <a:lumMod val="65000"/>
                  <a:lumOff val="35000"/>
                </a:schemeClr>
              </a:solidFill>
              <a:latin typeface="メイリオ" panose="020B0604030504040204" pitchFamily="50" charset="-128"/>
              <a:ea typeface="メイリオ" panose="020B0604030504040204" pitchFamily="50" charset="-128"/>
            </a:endParaRPr>
          </a:p>
          <a:p>
            <a:pPr algn="ctr"/>
            <a:r>
              <a:rPr lang="ja-JP" altLang="en-US" sz="1000" b="1" dirty="0">
                <a:solidFill>
                  <a:schemeClr val="tx1">
                    <a:lumMod val="65000"/>
                    <a:lumOff val="35000"/>
                  </a:schemeClr>
                </a:solidFill>
                <a:latin typeface="メイリオ" panose="020B0604030504040204" pitchFamily="50" charset="-128"/>
                <a:ea typeface="メイリオ" panose="020B0604030504040204" pitchFamily="50" charset="-128"/>
              </a:rPr>
              <a:t>サイト上ポップアップ</a:t>
            </a:r>
            <a:endParaRPr kumimoji="1" lang="ja-JP" altLang="en-US" sz="1000" b="1" dirty="0">
              <a:solidFill>
                <a:schemeClr val="tx1">
                  <a:lumMod val="65000"/>
                  <a:lumOff val="35000"/>
                </a:schemeClr>
              </a:solidFill>
              <a:latin typeface="メイリオ" panose="020B0604030504040204" pitchFamily="50" charset="-128"/>
              <a:ea typeface="メイリオ" panose="020B0604030504040204" pitchFamily="50" charset="-128"/>
            </a:endParaRPr>
          </a:p>
        </p:txBody>
      </p:sp>
      <p:sp>
        <p:nvSpPr>
          <p:cNvPr id="18" name="正方形/長方形 17">
            <a:extLst>
              <a:ext uri="{FF2B5EF4-FFF2-40B4-BE49-F238E27FC236}">
                <a16:creationId xmlns:a16="http://schemas.microsoft.com/office/drawing/2014/main" id="{CBD188BB-0EA8-4510-DCA0-2AEE1B7CD5EB}"/>
              </a:ext>
            </a:extLst>
          </p:cNvPr>
          <p:cNvSpPr/>
          <p:nvPr/>
        </p:nvSpPr>
        <p:spPr>
          <a:xfrm>
            <a:off x="1890454" y="3965357"/>
            <a:ext cx="1425879" cy="558530"/>
          </a:xfrm>
          <a:prstGeom prst="rect">
            <a:avLst/>
          </a:prstGeom>
          <a:solidFill>
            <a:schemeClr val="bg1"/>
          </a:solidFill>
          <a:ln w="9525">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r>
              <a:rPr kumimoji="1" lang="ja-JP" altLang="en-US" sz="900" b="1" dirty="0">
                <a:solidFill>
                  <a:schemeClr val="tx1">
                    <a:lumMod val="65000"/>
                    <a:lumOff val="35000"/>
                  </a:schemeClr>
                </a:solidFill>
                <a:latin typeface="メイリオ" panose="020B0604030504040204" pitchFamily="50" charset="-128"/>
                <a:ea typeface="メイリオ" panose="020B0604030504040204" pitchFamily="50" charset="-128"/>
              </a:rPr>
              <a:t>通知メッセ</a:t>
            </a:r>
          </a:p>
        </p:txBody>
      </p:sp>
      <p:sp>
        <p:nvSpPr>
          <p:cNvPr id="19" name="正方形/長方形 18">
            <a:extLst>
              <a:ext uri="{FF2B5EF4-FFF2-40B4-BE49-F238E27FC236}">
                <a16:creationId xmlns:a16="http://schemas.microsoft.com/office/drawing/2014/main" id="{29E6B5C9-2FD2-FC57-1789-05FA5F38E1F7}"/>
              </a:ext>
            </a:extLst>
          </p:cNvPr>
          <p:cNvSpPr/>
          <p:nvPr/>
        </p:nvSpPr>
        <p:spPr>
          <a:xfrm>
            <a:off x="388225" y="3965357"/>
            <a:ext cx="1425879" cy="558530"/>
          </a:xfrm>
          <a:prstGeom prst="rect">
            <a:avLst/>
          </a:prstGeom>
          <a:solidFill>
            <a:schemeClr val="bg1">
              <a:lumMod val="95000"/>
            </a:schemeClr>
          </a:solidFill>
          <a:ln w="9525">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r>
              <a:rPr kumimoji="1" lang="en-US" altLang="ja-JP" sz="1000" b="1" dirty="0">
                <a:solidFill>
                  <a:schemeClr val="tx1">
                    <a:lumMod val="65000"/>
                    <a:lumOff val="35000"/>
                  </a:schemeClr>
                </a:solidFill>
                <a:latin typeface="メイリオ" panose="020B0604030504040204" pitchFamily="50" charset="-128"/>
                <a:ea typeface="メイリオ" panose="020B0604030504040204" pitchFamily="50" charset="-128"/>
              </a:rPr>
              <a:t>CV</a:t>
            </a:r>
            <a:r>
              <a:rPr kumimoji="1" lang="ja-JP" altLang="en-US" sz="1000" b="1" dirty="0">
                <a:solidFill>
                  <a:schemeClr val="tx1">
                    <a:lumMod val="65000"/>
                    <a:lumOff val="35000"/>
                  </a:schemeClr>
                </a:solidFill>
                <a:latin typeface="メイリオ" panose="020B0604030504040204" pitchFamily="50" charset="-128"/>
                <a:ea typeface="メイリオ" panose="020B0604030504040204" pitchFamily="50" charset="-128"/>
              </a:rPr>
              <a:t>・</a:t>
            </a:r>
            <a:r>
              <a:rPr kumimoji="1" lang="en-US" altLang="ja-JP" sz="1000" b="1" dirty="0">
                <a:solidFill>
                  <a:schemeClr val="tx1">
                    <a:lumMod val="65000"/>
                    <a:lumOff val="35000"/>
                  </a:schemeClr>
                </a:solidFill>
                <a:latin typeface="メイリオ" panose="020B0604030504040204" pitchFamily="50" charset="-128"/>
                <a:ea typeface="メイリオ" panose="020B0604030504040204" pitchFamily="50" charset="-128"/>
              </a:rPr>
              <a:t>mcv</a:t>
            </a:r>
            <a:r>
              <a:rPr kumimoji="1" lang="ja-JP" altLang="en-US" sz="1000" b="1" dirty="0">
                <a:solidFill>
                  <a:schemeClr val="tx1">
                    <a:lumMod val="65000"/>
                    <a:lumOff val="35000"/>
                  </a:schemeClr>
                </a:solidFill>
                <a:latin typeface="メイリオ" panose="020B0604030504040204" pitchFamily="50" charset="-128"/>
                <a:ea typeface="メイリオ" panose="020B0604030504040204" pitchFamily="50" charset="-128"/>
              </a:rPr>
              <a:t>済</a:t>
            </a:r>
          </a:p>
        </p:txBody>
      </p:sp>
      <p:sp>
        <p:nvSpPr>
          <p:cNvPr id="20" name="正方形/長方形 19">
            <a:extLst>
              <a:ext uri="{FF2B5EF4-FFF2-40B4-BE49-F238E27FC236}">
                <a16:creationId xmlns:a16="http://schemas.microsoft.com/office/drawing/2014/main" id="{533AD0C0-7276-FA17-9FD7-734635201CB2}"/>
              </a:ext>
            </a:extLst>
          </p:cNvPr>
          <p:cNvSpPr/>
          <p:nvPr/>
        </p:nvSpPr>
        <p:spPr>
          <a:xfrm>
            <a:off x="3392682" y="3229075"/>
            <a:ext cx="4320230" cy="558528"/>
          </a:xfrm>
          <a:prstGeom prst="rect">
            <a:avLst/>
          </a:prstGeom>
          <a:solidFill>
            <a:schemeClr val="bg1"/>
          </a:solidFill>
          <a:ln w="9525">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endParaRPr kumimoji="1" lang="ja-JP" altLang="en-US" sz="900" dirty="0">
              <a:solidFill>
                <a:schemeClr val="tx1">
                  <a:lumMod val="65000"/>
                  <a:lumOff val="35000"/>
                </a:schemeClr>
              </a:solidFill>
              <a:latin typeface="メイリオ" panose="020B0604030504040204" pitchFamily="50" charset="-128"/>
              <a:ea typeface="メイリオ" panose="020B0604030504040204" pitchFamily="50" charset="-128"/>
            </a:endParaRPr>
          </a:p>
        </p:txBody>
      </p:sp>
      <p:sp>
        <p:nvSpPr>
          <p:cNvPr id="21" name="正方形/長方形 20">
            <a:extLst>
              <a:ext uri="{FF2B5EF4-FFF2-40B4-BE49-F238E27FC236}">
                <a16:creationId xmlns:a16="http://schemas.microsoft.com/office/drawing/2014/main" id="{415D5861-B108-7E0A-3377-5601EF82149A}"/>
              </a:ext>
            </a:extLst>
          </p:cNvPr>
          <p:cNvSpPr/>
          <p:nvPr/>
        </p:nvSpPr>
        <p:spPr>
          <a:xfrm>
            <a:off x="3392682" y="3965359"/>
            <a:ext cx="4320230" cy="558528"/>
          </a:xfrm>
          <a:prstGeom prst="rect">
            <a:avLst/>
          </a:prstGeom>
          <a:solidFill>
            <a:schemeClr val="bg1"/>
          </a:solidFill>
          <a:ln w="9525">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endParaRPr kumimoji="1" lang="ja-JP" altLang="en-US" sz="900" dirty="0">
              <a:solidFill>
                <a:schemeClr val="tx1">
                  <a:lumMod val="65000"/>
                  <a:lumOff val="35000"/>
                </a:schemeClr>
              </a:solidFill>
              <a:latin typeface="メイリオ" panose="020B0604030504040204" pitchFamily="50" charset="-128"/>
              <a:ea typeface="メイリオ" panose="020B0604030504040204" pitchFamily="50" charset="-128"/>
            </a:endParaRPr>
          </a:p>
        </p:txBody>
      </p:sp>
      <p:sp>
        <p:nvSpPr>
          <p:cNvPr id="22" name="矢印: 右 21">
            <a:extLst>
              <a:ext uri="{FF2B5EF4-FFF2-40B4-BE49-F238E27FC236}">
                <a16:creationId xmlns:a16="http://schemas.microsoft.com/office/drawing/2014/main" id="{94AAFD78-CFCD-8AAC-C5DE-8F785D90C401}"/>
              </a:ext>
            </a:extLst>
          </p:cNvPr>
          <p:cNvSpPr/>
          <p:nvPr/>
        </p:nvSpPr>
        <p:spPr>
          <a:xfrm>
            <a:off x="1031359" y="4568440"/>
            <a:ext cx="7744217" cy="586917"/>
          </a:xfrm>
          <a:prstGeom prst="rightArrow">
            <a:avLst/>
          </a:prstGeom>
          <a:solidFill>
            <a:schemeClr val="accent1">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endParaRPr kumimoji="1" lang="ja-JP" altLang="en-US"/>
          </a:p>
        </p:txBody>
      </p:sp>
      <p:sp>
        <p:nvSpPr>
          <p:cNvPr id="23" name="矢印: 右 22">
            <a:extLst>
              <a:ext uri="{FF2B5EF4-FFF2-40B4-BE49-F238E27FC236}">
                <a16:creationId xmlns:a16="http://schemas.microsoft.com/office/drawing/2014/main" id="{4D8298BD-6809-4C50-E889-0C5F779DE209}"/>
              </a:ext>
            </a:extLst>
          </p:cNvPr>
          <p:cNvSpPr/>
          <p:nvPr/>
        </p:nvSpPr>
        <p:spPr>
          <a:xfrm>
            <a:off x="1031359" y="5800080"/>
            <a:ext cx="7744217" cy="586917"/>
          </a:xfrm>
          <a:prstGeom prst="rightArrow">
            <a:avLst/>
          </a:prstGeom>
          <a:solidFill>
            <a:schemeClr val="accent1">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endParaRPr kumimoji="1" lang="ja-JP" altLang="en-US"/>
          </a:p>
        </p:txBody>
      </p:sp>
      <p:sp>
        <p:nvSpPr>
          <p:cNvPr id="24" name="矢印: 右 23">
            <a:extLst>
              <a:ext uri="{FF2B5EF4-FFF2-40B4-BE49-F238E27FC236}">
                <a16:creationId xmlns:a16="http://schemas.microsoft.com/office/drawing/2014/main" id="{01F0D3B8-3119-304D-228E-ED46B6CAB67D}"/>
              </a:ext>
            </a:extLst>
          </p:cNvPr>
          <p:cNvSpPr/>
          <p:nvPr/>
        </p:nvSpPr>
        <p:spPr>
          <a:xfrm>
            <a:off x="1031359" y="5189826"/>
            <a:ext cx="7744217" cy="586917"/>
          </a:xfrm>
          <a:prstGeom prst="rightArrow">
            <a:avLst/>
          </a:prstGeom>
          <a:solidFill>
            <a:schemeClr val="accent1">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endParaRPr kumimoji="1" lang="ja-JP" altLang="en-US"/>
          </a:p>
        </p:txBody>
      </p:sp>
      <p:sp>
        <p:nvSpPr>
          <p:cNvPr id="25" name="正方形/長方形 24">
            <a:extLst>
              <a:ext uri="{FF2B5EF4-FFF2-40B4-BE49-F238E27FC236}">
                <a16:creationId xmlns:a16="http://schemas.microsoft.com/office/drawing/2014/main" id="{9751A61D-8342-2E71-49E2-6F2A585210CF}"/>
              </a:ext>
            </a:extLst>
          </p:cNvPr>
          <p:cNvSpPr/>
          <p:nvPr/>
        </p:nvSpPr>
        <p:spPr>
          <a:xfrm>
            <a:off x="1890454" y="4584003"/>
            <a:ext cx="1425879" cy="558530"/>
          </a:xfrm>
          <a:prstGeom prst="rect">
            <a:avLst/>
          </a:prstGeom>
          <a:solidFill>
            <a:schemeClr val="bg1"/>
          </a:solidFill>
          <a:ln w="9525">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r>
              <a:rPr kumimoji="1" lang="ja-JP" altLang="en-US" sz="900" b="1" dirty="0">
                <a:solidFill>
                  <a:schemeClr val="tx1">
                    <a:lumMod val="65000"/>
                    <a:lumOff val="35000"/>
                  </a:schemeClr>
                </a:solidFill>
                <a:latin typeface="メイリオ" panose="020B0604030504040204" pitchFamily="50" charset="-128"/>
                <a:ea typeface="メイリオ" panose="020B0604030504040204" pitchFamily="50" charset="-128"/>
              </a:rPr>
              <a:t>サンクス</a:t>
            </a:r>
            <a:r>
              <a:rPr kumimoji="1" lang="en-US" altLang="ja-JP" sz="900" b="1" dirty="0">
                <a:solidFill>
                  <a:schemeClr val="tx1">
                    <a:lumMod val="65000"/>
                    <a:lumOff val="35000"/>
                  </a:schemeClr>
                </a:solidFill>
                <a:latin typeface="メイリオ" panose="020B0604030504040204" pitchFamily="50" charset="-128"/>
                <a:ea typeface="メイリオ" panose="020B0604030504040204" pitchFamily="50" charset="-128"/>
              </a:rPr>
              <a:t>LINE</a:t>
            </a:r>
            <a:r>
              <a:rPr kumimoji="1" lang="ja-JP" altLang="en-US" sz="900" b="1" dirty="0">
                <a:solidFill>
                  <a:schemeClr val="tx1">
                    <a:lumMod val="65000"/>
                    <a:lumOff val="35000"/>
                  </a:schemeClr>
                </a:solidFill>
                <a:latin typeface="メイリオ" panose="020B0604030504040204" pitchFamily="50" charset="-128"/>
                <a:ea typeface="メイリオ" panose="020B0604030504040204" pitchFamily="50" charset="-128"/>
              </a:rPr>
              <a:t>誘導</a:t>
            </a:r>
          </a:p>
        </p:txBody>
      </p:sp>
      <p:sp>
        <p:nvSpPr>
          <p:cNvPr id="26" name="正方形/長方形 25">
            <a:extLst>
              <a:ext uri="{FF2B5EF4-FFF2-40B4-BE49-F238E27FC236}">
                <a16:creationId xmlns:a16="http://schemas.microsoft.com/office/drawing/2014/main" id="{069B86FC-7AC9-2579-6747-94409852E6A9}"/>
              </a:ext>
            </a:extLst>
          </p:cNvPr>
          <p:cNvSpPr/>
          <p:nvPr/>
        </p:nvSpPr>
        <p:spPr>
          <a:xfrm>
            <a:off x="388225" y="4584003"/>
            <a:ext cx="1425879" cy="558530"/>
          </a:xfrm>
          <a:prstGeom prst="rect">
            <a:avLst/>
          </a:prstGeom>
          <a:solidFill>
            <a:schemeClr val="bg1">
              <a:lumMod val="95000"/>
            </a:schemeClr>
          </a:solidFill>
          <a:ln w="9525">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r>
              <a:rPr kumimoji="1" lang="en-US" altLang="ja-JP" sz="1000" b="1" dirty="0">
                <a:solidFill>
                  <a:schemeClr val="tx1">
                    <a:lumMod val="65000"/>
                    <a:lumOff val="35000"/>
                  </a:schemeClr>
                </a:solidFill>
                <a:latin typeface="メイリオ" panose="020B0604030504040204" pitchFamily="50" charset="-128"/>
                <a:ea typeface="メイリオ" panose="020B0604030504040204" pitchFamily="50" charset="-128"/>
              </a:rPr>
              <a:t>CV</a:t>
            </a:r>
            <a:r>
              <a:rPr kumimoji="1" lang="ja-JP" altLang="en-US" sz="1000" b="1" dirty="0">
                <a:solidFill>
                  <a:schemeClr val="tx1">
                    <a:lumMod val="65000"/>
                    <a:lumOff val="35000"/>
                  </a:schemeClr>
                </a:solidFill>
                <a:latin typeface="メイリオ" panose="020B0604030504040204" pitchFamily="50" charset="-128"/>
                <a:ea typeface="メイリオ" panose="020B0604030504040204" pitchFamily="50" charset="-128"/>
              </a:rPr>
              <a:t>・</a:t>
            </a:r>
            <a:r>
              <a:rPr kumimoji="1" lang="en-US" altLang="ja-JP" sz="1000" b="1" dirty="0">
                <a:solidFill>
                  <a:schemeClr val="tx1">
                    <a:lumMod val="65000"/>
                    <a:lumOff val="35000"/>
                  </a:schemeClr>
                </a:solidFill>
                <a:latin typeface="メイリオ" panose="020B0604030504040204" pitchFamily="50" charset="-128"/>
                <a:ea typeface="メイリオ" panose="020B0604030504040204" pitchFamily="50" charset="-128"/>
              </a:rPr>
              <a:t>mcv</a:t>
            </a:r>
            <a:r>
              <a:rPr kumimoji="1" lang="ja-JP" altLang="en-US" sz="1000" b="1" dirty="0">
                <a:solidFill>
                  <a:schemeClr val="tx1">
                    <a:lumMod val="65000"/>
                    <a:lumOff val="35000"/>
                  </a:schemeClr>
                </a:solidFill>
                <a:latin typeface="メイリオ" panose="020B0604030504040204" pitchFamily="50" charset="-128"/>
                <a:ea typeface="メイリオ" panose="020B0604030504040204" pitchFamily="50" charset="-128"/>
              </a:rPr>
              <a:t>済</a:t>
            </a:r>
          </a:p>
        </p:txBody>
      </p:sp>
      <p:sp>
        <p:nvSpPr>
          <p:cNvPr id="27" name="正方形/長方形 26">
            <a:extLst>
              <a:ext uri="{FF2B5EF4-FFF2-40B4-BE49-F238E27FC236}">
                <a16:creationId xmlns:a16="http://schemas.microsoft.com/office/drawing/2014/main" id="{259BCB38-DAF2-BC8F-7410-9383C33A3F86}"/>
              </a:ext>
            </a:extLst>
          </p:cNvPr>
          <p:cNvSpPr/>
          <p:nvPr/>
        </p:nvSpPr>
        <p:spPr>
          <a:xfrm>
            <a:off x="388225" y="5202649"/>
            <a:ext cx="1425879" cy="558530"/>
          </a:xfrm>
          <a:prstGeom prst="rect">
            <a:avLst/>
          </a:prstGeom>
          <a:solidFill>
            <a:schemeClr val="bg1">
              <a:lumMod val="95000"/>
            </a:schemeClr>
          </a:solidFill>
          <a:ln w="9525">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r>
              <a:rPr kumimoji="1" lang="ja-JP" altLang="en-US" sz="1000" b="1" dirty="0">
                <a:solidFill>
                  <a:schemeClr val="tx1">
                    <a:lumMod val="65000"/>
                    <a:lumOff val="35000"/>
                  </a:schemeClr>
                </a:solidFill>
                <a:latin typeface="メイリオ" panose="020B0604030504040204" pitchFamily="50" charset="-128"/>
                <a:ea typeface="メイリオ" panose="020B0604030504040204" pitchFamily="50" charset="-128"/>
              </a:rPr>
              <a:t>保有リスト</a:t>
            </a:r>
          </a:p>
        </p:txBody>
      </p:sp>
      <p:sp>
        <p:nvSpPr>
          <p:cNvPr id="28" name="正方形/長方形 27">
            <a:extLst>
              <a:ext uri="{FF2B5EF4-FFF2-40B4-BE49-F238E27FC236}">
                <a16:creationId xmlns:a16="http://schemas.microsoft.com/office/drawing/2014/main" id="{1F924E3D-9CB9-CA80-4FF6-D62C50842AEB}"/>
              </a:ext>
            </a:extLst>
          </p:cNvPr>
          <p:cNvSpPr/>
          <p:nvPr/>
        </p:nvSpPr>
        <p:spPr>
          <a:xfrm>
            <a:off x="388225" y="5821295"/>
            <a:ext cx="1425879" cy="558530"/>
          </a:xfrm>
          <a:prstGeom prst="rect">
            <a:avLst/>
          </a:prstGeom>
          <a:solidFill>
            <a:schemeClr val="bg1">
              <a:lumMod val="95000"/>
            </a:schemeClr>
          </a:solidFill>
          <a:ln w="9525">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r>
              <a:rPr kumimoji="1" lang="ja-JP" altLang="en-US" sz="1000" b="1" dirty="0">
                <a:solidFill>
                  <a:schemeClr val="tx1">
                    <a:lumMod val="65000"/>
                    <a:lumOff val="35000"/>
                  </a:schemeClr>
                </a:solidFill>
                <a:latin typeface="メイリオ" panose="020B0604030504040204" pitchFamily="50" charset="-128"/>
                <a:ea typeface="メイリオ" panose="020B0604030504040204" pitchFamily="50" charset="-128"/>
              </a:rPr>
              <a:t>保有リスト</a:t>
            </a:r>
          </a:p>
        </p:txBody>
      </p:sp>
      <p:sp>
        <p:nvSpPr>
          <p:cNvPr id="29" name="正方形/長方形 28">
            <a:extLst>
              <a:ext uri="{FF2B5EF4-FFF2-40B4-BE49-F238E27FC236}">
                <a16:creationId xmlns:a16="http://schemas.microsoft.com/office/drawing/2014/main" id="{048444BF-0B54-4CE2-78C3-B78C7FCD001B}"/>
              </a:ext>
            </a:extLst>
          </p:cNvPr>
          <p:cNvSpPr/>
          <p:nvPr/>
        </p:nvSpPr>
        <p:spPr>
          <a:xfrm>
            <a:off x="1890453" y="5202649"/>
            <a:ext cx="1425879" cy="558530"/>
          </a:xfrm>
          <a:prstGeom prst="rect">
            <a:avLst/>
          </a:prstGeom>
          <a:solidFill>
            <a:schemeClr val="bg1"/>
          </a:solidFill>
          <a:ln w="9525">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r>
              <a:rPr kumimoji="1" lang="ja-JP" altLang="en-US" sz="900" b="1" dirty="0">
                <a:solidFill>
                  <a:schemeClr val="tx1">
                    <a:lumMod val="65000"/>
                    <a:lumOff val="35000"/>
                  </a:schemeClr>
                </a:solidFill>
                <a:latin typeface="メイリオ" panose="020B0604030504040204" pitchFamily="50" charset="-128"/>
                <a:ea typeface="メイリオ" panose="020B0604030504040204" pitchFamily="50" charset="-128"/>
              </a:rPr>
              <a:t>通知メッセ</a:t>
            </a:r>
          </a:p>
        </p:txBody>
      </p:sp>
      <p:sp>
        <p:nvSpPr>
          <p:cNvPr id="30" name="正方形/長方形 29">
            <a:extLst>
              <a:ext uri="{FF2B5EF4-FFF2-40B4-BE49-F238E27FC236}">
                <a16:creationId xmlns:a16="http://schemas.microsoft.com/office/drawing/2014/main" id="{AD971EAE-829E-07E1-B15C-D7B9C5538B0F}"/>
              </a:ext>
            </a:extLst>
          </p:cNvPr>
          <p:cNvSpPr/>
          <p:nvPr/>
        </p:nvSpPr>
        <p:spPr>
          <a:xfrm>
            <a:off x="1890453" y="5821295"/>
            <a:ext cx="1425879" cy="558530"/>
          </a:xfrm>
          <a:prstGeom prst="rect">
            <a:avLst/>
          </a:prstGeom>
          <a:solidFill>
            <a:schemeClr val="bg1"/>
          </a:solidFill>
          <a:ln w="9525">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r>
              <a:rPr kumimoji="1" lang="ja-JP" altLang="en-US" sz="900" b="1" dirty="0">
                <a:solidFill>
                  <a:schemeClr val="tx1">
                    <a:lumMod val="65000"/>
                    <a:lumOff val="35000"/>
                  </a:schemeClr>
                </a:solidFill>
                <a:latin typeface="メイリオ" panose="020B0604030504040204" pitchFamily="50" charset="-128"/>
                <a:ea typeface="メイリオ" panose="020B0604030504040204" pitchFamily="50" charset="-128"/>
              </a:rPr>
              <a:t>メルマガ・テレマ</a:t>
            </a:r>
            <a:endParaRPr kumimoji="1" lang="en-US" altLang="ja-JP" sz="900" b="1" dirty="0">
              <a:solidFill>
                <a:schemeClr val="tx1">
                  <a:lumMod val="65000"/>
                  <a:lumOff val="35000"/>
                </a:schemeClr>
              </a:solidFill>
              <a:latin typeface="メイリオ" panose="020B0604030504040204" pitchFamily="50" charset="-128"/>
              <a:ea typeface="メイリオ" panose="020B0604030504040204" pitchFamily="50" charset="-128"/>
            </a:endParaRPr>
          </a:p>
          <a:p>
            <a:pPr algn="ctr"/>
            <a:r>
              <a:rPr lang="en-US" altLang="ja-JP" sz="900" b="1" dirty="0">
                <a:solidFill>
                  <a:schemeClr val="tx1">
                    <a:lumMod val="65000"/>
                    <a:lumOff val="35000"/>
                  </a:schemeClr>
                </a:solidFill>
                <a:latin typeface="メイリオ" panose="020B0604030504040204" pitchFamily="50" charset="-128"/>
                <a:ea typeface="メイリオ" panose="020B0604030504040204" pitchFamily="50" charset="-128"/>
              </a:rPr>
              <a:t>SNS</a:t>
            </a:r>
            <a:r>
              <a:rPr lang="ja-JP" altLang="en-US" sz="900" b="1" dirty="0">
                <a:solidFill>
                  <a:schemeClr val="tx1">
                    <a:lumMod val="65000"/>
                    <a:lumOff val="35000"/>
                  </a:schemeClr>
                </a:solidFill>
                <a:latin typeface="メイリオ" panose="020B0604030504040204" pitchFamily="50" charset="-128"/>
                <a:ea typeface="メイリオ" panose="020B0604030504040204" pitchFamily="50" charset="-128"/>
              </a:rPr>
              <a:t>告知</a:t>
            </a:r>
            <a:endParaRPr kumimoji="1" lang="ja-JP" altLang="en-US" sz="900" b="1" dirty="0">
              <a:solidFill>
                <a:schemeClr val="tx1">
                  <a:lumMod val="65000"/>
                  <a:lumOff val="35000"/>
                </a:schemeClr>
              </a:solidFill>
              <a:latin typeface="メイリオ" panose="020B0604030504040204" pitchFamily="50" charset="-128"/>
              <a:ea typeface="メイリオ" panose="020B0604030504040204" pitchFamily="50" charset="-128"/>
            </a:endParaRPr>
          </a:p>
        </p:txBody>
      </p:sp>
      <p:sp>
        <p:nvSpPr>
          <p:cNvPr id="31" name="正方形/長方形 30">
            <a:extLst>
              <a:ext uri="{FF2B5EF4-FFF2-40B4-BE49-F238E27FC236}">
                <a16:creationId xmlns:a16="http://schemas.microsoft.com/office/drawing/2014/main" id="{1D0E3A14-A5E0-6277-4C0A-37271CE6D04A}"/>
              </a:ext>
            </a:extLst>
          </p:cNvPr>
          <p:cNvSpPr/>
          <p:nvPr/>
        </p:nvSpPr>
        <p:spPr>
          <a:xfrm>
            <a:off x="3392682" y="4584005"/>
            <a:ext cx="4320230" cy="558528"/>
          </a:xfrm>
          <a:prstGeom prst="rect">
            <a:avLst/>
          </a:prstGeom>
          <a:solidFill>
            <a:schemeClr val="bg1"/>
          </a:solidFill>
          <a:ln w="9525">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endParaRPr kumimoji="1" lang="ja-JP" altLang="en-US" sz="900" dirty="0">
              <a:solidFill>
                <a:schemeClr val="tx1">
                  <a:lumMod val="65000"/>
                  <a:lumOff val="35000"/>
                </a:schemeClr>
              </a:solidFill>
              <a:latin typeface="メイリオ" panose="020B0604030504040204" pitchFamily="50" charset="-128"/>
              <a:ea typeface="メイリオ" panose="020B0604030504040204" pitchFamily="50" charset="-128"/>
            </a:endParaRPr>
          </a:p>
        </p:txBody>
      </p:sp>
      <p:sp>
        <p:nvSpPr>
          <p:cNvPr id="32" name="正方形/長方形 31">
            <a:extLst>
              <a:ext uri="{FF2B5EF4-FFF2-40B4-BE49-F238E27FC236}">
                <a16:creationId xmlns:a16="http://schemas.microsoft.com/office/drawing/2014/main" id="{0F8EFC74-4358-EB59-16A6-D864C62AC931}"/>
              </a:ext>
            </a:extLst>
          </p:cNvPr>
          <p:cNvSpPr/>
          <p:nvPr/>
        </p:nvSpPr>
        <p:spPr>
          <a:xfrm>
            <a:off x="3392682" y="5202650"/>
            <a:ext cx="4320230" cy="558528"/>
          </a:xfrm>
          <a:prstGeom prst="rect">
            <a:avLst/>
          </a:prstGeom>
          <a:solidFill>
            <a:schemeClr val="bg1"/>
          </a:solidFill>
          <a:ln w="9525">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endParaRPr kumimoji="1" lang="ja-JP" altLang="en-US" sz="900" dirty="0">
              <a:solidFill>
                <a:schemeClr val="tx1">
                  <a:lumMod val="65000"/>
                  <a:lumOff val="35000"/>
                </a:schemeClr>
              </a:solidFill>
              <a:latin typeface="メイリオ" panose="020B0604030504040204" pitchFamily="50" charset="-128"/>
              <a:ea typeface="メイリオ" panose="020B0604030504040204" pitchFamily="50" charset="-128"/>
            </a:endParaRPr>
          </a:p>
        </p:txBody>
      </p:sp>
      <p:sp>
        <p:nvSpPr>
          <p:cNvPr id="33" name="正方形/長方形 32">
            <a:extLst>
              <a:ext uri="{FF2B5EF4-FFF2-40B4-BE49-F238E27FC236}">
                <a16:creationId xmlns:a16="http://schemas.microsoft.com/office/drawing/2014/main" id="{36006927-A8A5-7A4B-A04C-F5D0808A5304}"/>
              </a:ext>
            </a:extLst>
          </p:cNvPr>
          <p:cNvSpPr/>
          <p:nvPr/>
        </p:nvSpPr>
        <p:spPr>
          <a:xfrm>
            <a:off x="3392682" y="5810369"/>
            <a:ext cx="4320230" cy="558528"/>
          </a:xfrm>
          <a:prstGeom prst="rect">
            <a:avLst/>
          </a:prstGeom>
          <a:solidFill>
            <a:schemeClr val="bg1"/>
          </a:solidFill>
          <a:ln w="9525">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endParaRPr kumimoji="1" lang="ja-JP" altLang="en-US" sz="900" dirty="0">
              <a:solidFill>
                <a:schemeClr val="tx1">
                  <a:lumMod val="65000"/>
                  <a:lumOff val="35000"/>
                </a:schemeClr>
              </a:solidFill>
              <a:latin typeface="メイリオ" panose="020B0604030504040204" pitchFamily="50" charset="-128"/>
              <a:ea typeface="メイリオ" panose="020B0604030504040204" pitchFamily="50" charset="-128"/>
            </a:endParaRPr>
          </a:p>
        </p:txBody>
      </p:sp>
      <p:sp>
        <p:nvSpPr>
          <p:cNvPr id="34" name="Shape 17">
            <a:extLst>
              <a:ext uri="{FF2B5EF4-FFF2-40B4-BE49-F238E27FC236}">
                <a16:creationId xmlns:a16="http://schemas.microsoft.com/office/drawing/2014/main" id="{B77E1FF1-F589-36AA-D779-FABB807F9501}"/>
              </a:ext>
            </a:extLst>
          </p:cNvPr>
          <p:cNvSpPr/>
          <p:nvPr/>
        </p:nvSpPr>
        <p:spPr>
          <a:xfrm>
            <a:off x="3586732" y="2068120"/>
            <a:ext cx="1763487" cy="466492"/>
          </a:xfrm>
          <a:prstGeom prst="rect">
            <a:avLst/>
          </a:prstGeom>
          <a:solidFill>
            <a:srgbClr val="F2F2F2"/>
          </a:solidFill>
          <a:ln w="12700">
            <a:solidFill>
              <a:srgbClr val="CCCCCC"/>
            </a:solidFill>
            <a:prstDash val="solid"/>
          </a:ln>
        </p:spPr>
        <p:txBody>
          <a:bodyPr/>
          <a:ls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pPr>
              <a:lnSpc>
                <a:spcPct val="135000"/>
              </a:lnSpc>
            </a:pPr>
            <a:r>
              <a:rPr lang="en-US" altLang="ja-JP" sz="800" dirty="0" err="1">
                <a:solidFill>
                  <a:schemeClr val="bg1">
                    <a:lumMod val="65000"/>
                  </a:schemeClr>
                </a:solidFill>
                <a:latin typeface="メイリオ" panose="020B0604030504040204" pitchFamily="50" charset="-128"/>
                <a:ea typeface="メイリオ" panose="020B0604030504040204" pitchFamily="50" charset="-128"/>
                <a:cs typeface="Calibri" pitchFamily="34" charset="-120"/>
              </a:rPr>
              <a:t>あいさつMSG</a:t>
            </a:r>
            <a:r>
              <a:rPr lang="en-US" altLang="ja-JP" sz="800" dirty="0">
                <a:solidFill>
                  <a:schemeClr val="bg1">
                    <a:lumMod val="65000"/>
                  </a:schemeClr>
                </a:solidFill>
                <a:latin typeface="メイリオ" panose="020B0604030504040204" pitchFamily="50" charset="-128"/>
                <a:ea typeface="メイリオ" panose="020B0604030504040204" pitchFamily="50" charset="-128"/>
                <a:cs typeface="Calibri" pitchFamily="34" charset="-120"/>
              </a:rPr>
              <a:t>＋</a:t>
            </a:r>
            <a:endParaRPr lang="en-US" altLang="ja-JP" sz="800" dirty="0">
              <a:solidFill>
                <a:schemeClr val="bg1">
                  <a:lumMod val="65000"/>
                </a:schemeClr>
              </a:solidFill>
              <a:latin typeface="メイリオ" panose="020B0604030504040204" pitchFamily="50" charset="-128"/>
              <a:ea typeface="メイリオ" panose="020B0604030504040204" pitchFamily="50" charset="-128"/>
            </a:endParaRPr>
          </a:p>
          <a:p>
            <a:pPr>
              <a:lnSpc>
                <a:spcPct val="135000"/>
              </a:lnSpc>
            </a:pPr>
            <a:r>
              <a:rPr lang="en-US" altLang="ja-JP" sz="800" dirty="0" err="1">
                <a:solidFill>
                  <a:schemeClr val="bg1">
                    <a:lumMod val="65000"/>
                  </a:schemeClr>
                </a:solidFill>
                <a:latin typeface="メイリオ" panose="020B0604030504040204" pitchFamily="50" charset="-128"/>
                <a:ea typeface="メイリオ" panose="020B0604030504040204" pitchFamily="50" charset="-128"/>
                <a:cs typeface="Calibri" pitchFamily="34" charset="-120"/>
              </a:rPr>
              <a:t>登録特典</a:t>
            </a:r>
            <a:r>
              <a:rPr lang="en-US" altLang="ja-JP" sz="800" dirty="0">
                <a:solidFill>
                  <a:schemeClr val="bg1">
                    <a:lumMod val="65000"/>
                  </a:schemeClr>
                </a:solidFill>
                <a:latin typeface="メイリオ" panose="020B0604030504040204" pitchFamily="50" charset="-128"/>
                <a:ea typeface="メイリオ" panose="020B0604030504040204" pitchFamily="50" charset="-128"/>
                <a:cs typeface="Calibri" pitchFamily="34" charset="-120"/>
              </a:rPr>
              <a:t>(</a:t>
            </a:r>
            <a:r>
              <a:rPr lang="en-US" altLang="ja-JP" sz="800" dirty="0" err="1">
                <a:solidFill>
                  <a:schemeClr val="bg1">
                    <a:lumMod val="65000"/>
                  </a:schemeClr>
                </a:solidFill>
                <a:latin typeface="メイリオ" panose="020B0604030504040204" pitchFamily="50" charset="-128"/>
                <a:ea typeface="メイリオ" panose="020B0604030504040204" pitchFamily="50" charset="-128"/>
                <a:cs typeface="Calibri" pitchFamily="34" charset="-120"/>
              </a:rPr>
              <a:t>資料</a:t>
            </a:r>
            <a:r>
              <a:rPr lang="en-US" altLang="ja-JP" sz="800" dirty="0">
                <a:solidFill>
                  <a:schemeClr val="bg1">
                    <a:lumMod val="65000"/>
                  </a:schemeClr>
                </a:solidFill>
                <a:latin typeface="メイリオ" panose="020B0604030504040204" pitchFamily="50" charset="-128"/>
                <a:ea typeface="メイリオ" panose="020B0604030504040204" pitchFamily="50" charset="-128"/>
                <a:cs typeface="Calibri" pitchFamily="34" charset="-120"/>
              </a:rPr>
              <a:t>/</a:t>
            </a:r>
            <a:r>
              <a:rPr lang="en-US" altLang="ja-JP" sz="800" dirty="0" err="1">
                <a:solidFill>
                  <a:schemeClr val="bg1">
                    <a:lumMod val="65000"/>
                  </a:schemeClr>
                </a:solidFill>
                <a:latin typeface="メイリオ" panose="020B0604030504040204" pitchFamily="50" charset="-128"/>
                <a:ea typeface="メイリオ" panose="020B0604030504040204" pitchFamily="50" charset="-128"/>
                <a:cs typeface="Calibri" pitchFamily="34" charset="-120"/>
              </a:rPr>
              <a:t>診断</a:t>
            </a:r>
            <a:r>
              <a:rPr lang="en-US" altLang="ja-JP" sz="800" dirty="0">
                <a:solidFill>
                  <a:schemeClr val="bg1">
                    <a:lumMod val="65000"/>
                  </a:schemeClr>
                </a:solidFill>
                <a:latin typeface="メイリオ" panose="020B0604030504040204" pitchFamily="50" charset="-128"/>
                <a:ea typeface="メイリオ" panose="020B0604030504040204" pitchFamily="50" charset="-128"/>
                <a:cs typeface="Calibri" pitchFamily="34" charset="-120"/>
              </a:rPr>
              <a:t>)</a:t>
            </a:r>
            <a:r>
              <a:rPr lang="en-US" altLang="ja-JP" sz="800" dirty="0" err="1">
                <a:solidFill>
                  <a:schemeClr val="bg1">
                    <a:lumMod val="65000"/>
                  </a:schemeClr>
                </a:solidFill>
                <a:latin typeface="メイリオ" panose="020B0604030504040204" pitchFamily="50" charset="-128"/>
                <a:ea typeface="メイリオ" panose="020B0604030504040204" pitchFamily="50" charset="-128"/>
                <a:cs typeface="Calibri" pitchFamily="34" charset="-120"/>
              </a:rPr>
              <a:t>自動送付</a:t>
            </a:r>
            <a:endParaRPr lang="en-US" altLang="ja-JP" sz="800" dirty="0">
              <a:solidFill>
                <a:schemeClr val="bg1">
                  <a:lumMod val="65000"/>
                </a:schemeClr>
              </a:solidFill>
              <a:latin typeface="メイリオ" panose="020B0604030504040204" pitchFamily="50" charset="-128"/>
              <a:ea typeface="メイリオ" panose="020B0604030504040204" pitchFamily="50" charset="-128"/>
            </a:endParaRPr>
          </a:p>
        </p:txBody>
      </p:sp>
      <p:sp>
        <p:nvSpPr>
          <p:cNvPr id="35" name="Shape 18">
            <a:extLst>
              <a:ext uri="{FF2B5EF4-FFF2-40B4-BE49-F238E27FC236}">
                <a16:creationId xmlns:a16="http://schemas.microsoft.com/office/drawing/2014/main" id="{CA0F439F-8568-5F59-980B-81BDBE16E656}"/>
              </a:ext>
            </a:extLst>
          </p:cNvPr>
          <p:cNvSpPr/>
          <p:nvPr/>
        </p:nvSpPr>
        <p:spPr>
          <a:xfrm>
            <a:off x="5635860" y="2068120"/>
            <a:ext cx="1763486" cy="466492"/>
          </a:xfrm>
          <a:prstGeom prst="rect">
            <a:avLst/>
          </a:prstGeom>
          <a:solidFill>
            <a:srgbClr val="F2F2F2"/>
          </a:solidFill>
          <a:ln w="12700">
            <a:solidFill>
              <a:srgbClr val="CCCCCC"/>
            </a:solidFill>
            <a:prstDash val="solid"/>
          </a:ln>
        </p:spPr>
        <p:txBody>
          <a:bodyPr/>
          <a:ls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pPr>
              <a:lnSpc>
                <a:spcPct val="135000"/>
              </a:lnSpc>
            </a:pPr>
            <a:r>
              <a:rPr lang="en-US" altLang="ja-JP" sz="800">
                <a:solidFill>
                  <a:schemeClr val="bg1">
                    <a:lumMod val="65000"/>
                  </a:schemeClr>
                </a:solidFill>
                <a:latin typeface="メイリオ" panose="020B0604030504040204" pitchFamily="50" charset="-128"/>
                <a:ea typeface="メイリオ" panose="020B0604030504040204" pitchFamily="50" charset="-128"/>
                <a:cs typeface="Calibri" pitchFamily="34" charset="-120"/>
              </a:rPr>
              <a:t>教育コンテンツ配信</a:t>
            </a:r>
            <a:endParaRPr lang="en-US" altLang="ja-JP" sz="800">
              <a:solidFill>
                <a:schemeClr val="bg1">
                  <a:lumMod val="65000"/>
                </a:schemeClr>
              </a:solidFill>
              <a:latin typeface="メイリオ" panose="020B0604030504040204" pitchFamily="50" charset="-128"/>
              <a:ea typeface="メイリオ" panose="020B0604030504040204" pitchFamily="50" charset="-128"/>
            </a:endParaRPr>
          </a:p>
          <a:p>
            <a:pPr>
              <a:lnSpc>
                <a:spcPct val="135000"/>
              </a:lnSpc>
            </a:pPr>
            <a:r>
              <a:rPr lang="en-US" altLang="ja-JP" sz="800">
                <a:solidFill>
                  <a:schemeClr val="bg1">
                    <a:lumMod val="65000"/>
                  </a:schemeClr>
                </a:solidFill>
                <a:latin typeface="メイリオ" panose="020B0604030504040204" pitchFamily="50" charset="-128"/>
                <a:ea typeface="メイリオ" panose="020B0604030504040204" pitchFamily="50" charset="-128"/>
                <a:cs typeface="Calibri" pitchFamily="34" charset="-120"/>
              </a:rPr>
              <a:t>（週1）→ CV誘導オファー</a:t>
            </a:r>
            <a:endParaRPr lang="en-US" altLang="ja-JP" sz="800" dirty="0">
              <a:solidFill>
                <a:schemeClr val="bg1">
                  <a:lumMod val="65000"/>
                </a:schemeClr>
              </a:solidFill>
              <a:latin typeface="メイリオ" panose="020B0604030504040204" pitchFamily="50" charset="-128"/>
              <a:ea typeface="メイリオ" panose="020B0604030504040204" pitchFamily="50" charset="-128"/>
            </a:endParaRPr>
          </a:p>
        </p:txBody>
      </p:sp>
      <p:cxnSp>
        <p:nvCxnSpPr>
          <p:cNvPr id="36" name="直線矢印コネクタ 35">
            <a:extLst>
              <a:ext uri="{FF2B5EF4-FFF2-40B4-BE49-F238E27FC236}">
                <a16:creationId xmlns:a16="http://schemas.microsoft.com/office/drawing/2014/main" id="{F1667E92-F492-3E12-307D-7E98E48B45D9}"/>
              </a:ext>
            </a:extLst>
          </p:cNvPr>
          <p:cNvCxnSpPr>
            <a:endCxn id="35" idx="1"/>
          </p:cNvCxnSpPr>
          <p:nvPr/>
        </p:nvCxnSpPr>
        <p:spPr>
          <a:xfrm>
            <a:off x="5367201" y="2292370"/>
            <a:ext cx="261258" cy="0"/>
          </a:xfrm>
          <a:prstGeom prst="straightConnector1">
            <a:avLst/>
          </a:prstGeom>
          <a:ln>
            <a:solidFill>
              <a:schemeClr val="tx1"/>
            </a:solidFill>
            <a:prstDash val="sysDot"/>
            <a:tailEnd type="triangle"/>
          </a:ln>
        </p:spPr>
        <p:style>
          <a:lnRef idx="1">
            <a:schemeClr val="accent1"/>
          </a:lnRef>
          <a:fillRef idx="0">
            <a:schemeClr val="accent1"/>
          </a:fillRef>
          <a:effectRef idx="0">
            <a:schemeClr val="accent1"/>
          </a:effectRef>
          <a:fontRef idx="minor">
            <a:schemeClr val="tx1"/>
          </a:fontRef>
        </p:style>
      </p:cxnSp>
      <p:sp>
        <p:nvSpPr>
          <p:cNvPr id="37" name="Shape 17">
            <a:extLst>
              <a:ext uri="{FF2B5EF4-FFF2-40B4-BE49-F238E27FC236}">
                <a16:creationId xmlns:a16="http://schemas.microsoft.com/office/drawing/2014/main" id="{9BCE046A-F0B6-BBFD-BFCA-03015B84F033}"/>
              </a:ext>
            </a:extLst>
          </p:cNvPr>
          <p:cNvSpPr/>
          <p:nvPr/>
        </p:nvSpPr>
        <p:spPr>
          <a:xfrm>
            <a:off x="3586732" y="2602307"/>
            <a:ext cx="1763487" cy="466492"/>
          </a:xfrm>
          <a:prstGeom prst="rect">
            <a:avLst/>
          </a:prstGeom>
          <a:solidFill>
            <a:srgbClr val="F2F2F2"/>
          </a:solidFill>
          <a:ln w="12700">
            <a:solidFill>
              <a:srgbClr val="CCCCCC"/>
            </a:solidFill>
            <a:prstDash val="solid"/>
          </a:ln>
        </p:spPr>
        <p:txBody>
          <a:bodyPr/>
          <a:ls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pPr>
              <a:lnSpc>
                <a:spcPct val="135000"/>
              </a:lnSpc>
            </a:pPr>
            <a:r>
              <a:rPr lang="en-US" altLang="ja-JP" sz="800" dirty="0">
                <a:solidFill>
                  <a:schemeClr val="bg1">
                    <a:lumMod val="65000"/>
                  </a:schemeClr>
                </a:solidFill>
                <a:latin typeface="メイリオ" panose="020B0604030504040204" pitchFamily="50" charset="-128"/>
                <a:ea typeface="メイリオ" panose="020B0604030504040204" pitchFamily="50" charset="-128"/>
                <a:cs typeface="Calibri" pitchFamily="34" charset="-120"/>
              </a:rPr>
              <a:t>KW</a:t>
            </a:r>
            <a:r>
              <a:rPr lang="ja-JP" altLang="en-US" sz="800" dirty="0">
                <a:solidFill>
                  <a:schemeClr val="bg1">
                    <a:lumMod val="65000"/>
                  </a:schemeClr>
                </a:solidFill>
                <a:latin typeface="メイリオ" panose="020B0604030504040204" pitchFamily="50" charset="-128"/>
                <a:ea typeface="メイリオ" panose="020B0604030504040204" pitchFamily="50" charset="-128"/>
                <a:cs typeface="Calibri" pitchFamily="34" charset="-120"/>
              </a:rPr>
              <a:t>自動応答設定</a:t>
            </a:r>
          </a:p>
          <a:p>
            <a:pPr>
              <a:lnSpc>
                <a:spcPct val="135000"/>
              </a:lnSpc>
            </a:pPr>
            <a:r>
              <a:rPr lang="ja-JP" altLang="en-US" sz="800" dirty="0">
                <a:solidFill>
                  <a:schemeClr val="bg1">
                    <a:lumMod val="65000"/>
                  </a:schemeClr>
                </a:solidFill>
                <a:latin typeface="メイリオ" panose="020B0604030504040204" pitchFamily="50" charset="-128"/>
                <a:ea typeface="メイリオ" panose="020B0604030504040204" pitchFamily="50" charset="-128"/>
                <a:cs typeface="Calibri" pitchFamily="34" charset="-120"/>
              </a:rPr>
              <a:t>→ ユーザー意図別に即返信</a:t>
            </a:r>
          </a:p>
        </p:txBody>
      </p:sp>
      <p:sp>
        <p:nvSpPr>
          <p:cNvPr id="38" name="Shape 18">
            <a:extLst>
              <a:ext uri="{FF2B5EF4-FFF2-40B4-BE49-F238E27FC236}">
                <a16:creationId xmlns:a16="http://schemas.microsoft.com/office/drawing/2014/main" id="{14F2BF34-2AB8-9060-75EF-F5ADF9F01344}"/>
              </a:ext>
            </a:extLst>
          </p:cNvPr>
          <p:cNvSpPr/>
          <p:nvPr/>
        </p:nvSpPr>
        <p:spPr>
          <a:xfrm>
            <a:off x="5635860" y="2602307"/>
            <a:ext cx="1763486" cy="466492"/>
          </a:xfrm>
          <a:prstGeom prst="rect">
            <a:avLst/>
          </a:prstGeom>
          <a:solidFill>
            <a:srgbClr val="F2F2F2"/>
          </a:solidFill>
          <a:ln w="12700">
            <a:solidFill>
              <a:srgbClr val="CCCCCC"/>
            </a:solidFill>
            <a:prstDash val="solid"/>
          </a:ln>
        </p:spPr>
        <p:txBody>
          <a:bodyPr/>
          <a:ls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pPr>
              <a:lnSpc>
                <a:spcPct val="135000"/>
              </a:lnSpc>
            </a:pPr>
            <a:r>
              <a:rPr lang="ja-JP" altLang="en-US" sz="800" dirty="0">
                <a:solidFill>
                  <a:schemeClr val="bg1">
                    <a:lumMod val="65000"/>
                  </a:schemeClr>
                </a:solidFill>
                <a:latin typeface="メイリオ" panose="020B0604030504040204" pitchFamily="50" charset="-128"/>
                <a:ea typeface="メイリオ" panose="020B0604030504040204" pitchFamily="50" charset="-128"/>
                <a:cs typeface="Calibri" pitchFamily="34" charset="-120"/>
              </a:rPr>
              <a:t>ステップ配信（</a:t>
            </a:r>
            <a:r>
              <a:rPr lang="en-US" altLang="ja-JP" sz="800" dirty="0">
                <a:solidFill>
                  <a:schemeClr val="bg1">
                    <a:lumMod val="65000"/>
                  </a:schemeClr>
                </a:solidFill>
                <a:latin typeface="メイリオ" panose="020B0604030504040204" pitchFamily="50" charset="-128"/>
                <a:ea typeface="メイリオ" panose="020B0604030504040204" pitchFamily="50" charset="-128"/>
                <a:cs typeface="Calibri" pitchFamily="34" charset="-120"/>
              </a:rPr>
              <a:t>7〜14</a:t>
            </a:r>
            <a:r>
              <a:rPr lang="ja-JP" altLang="en-US" sz="800" dirty="0">
                <a:solidFill>
                  <a:schemeClr val="bg1">
                    <a:lumMod val="65000"/>
                  </a:schemeClr>
                </a:solidFill>
                <a:latin typeface="メイリオ" panose="020B0604030504040204" pitchFamily="50" charset="-128"/>
                <a:ea typeface="メイリオ" panose="020B0604030504040204" pitchFamily="50" charset="-128"/>
                <a:cs typeface="Calibri" pitchFamily="34" charset="-120"/>
              </a:rPr>
              <a:t>通）</a:t>
            </a:r>
          </a:p>
          <a:p>
            <a:pPr>
              <a:lnSpc>
                <a:spcPct val="135000"/>
              </a:lnSpc>
            </a:pPr>
            <a:r>
              <a:rPr lang="ja-JP" altLang="en-US" sz="800" dirty="0">
                <a:solidFill>
                  <a:schemeClr val="bg1">
                    <a:lumMod val="65000"/>
                  </a:schemeClr>
                </a:solidFill>
                <a:latin typeface="メイリオ" panose="020B0604030504040204" pitchFamily="50" charset="-128"/>
                <a:ea typeface="メイリオ" panose="020B0604030504040204" pitchFamily="50" charset="-128"/>
                <a:cs typeface="Calibri" pitchFamily="34" charset="-120"/>
              </a:rPr>
              <a:t>→ 商談・申込への誘導</a:t>
            </a:r>
          </a:p>
        </p:txBody>
      </p:sp>
      <p:cxnSp>
        <p:nvCxnSpPr>
          <p:cNvPr id="39" name="直線矢印コネクタ 38">
            <a:extLst>
              <a:ext uri="{FF2B5EF4-FFF2-40B4-BE49-F238E27FC236}">
                <a16:creationId xmlns:a16="http://schemas.microsoft.com/office/drawing/2014/main" id="{B31F7370-9528-F602-262C-2CE6C0CA7D95}"/>
              </a:ext>
            </a:extLst>
          </p:cNvPr>
          <p:cNvCxnSpPr>
            <a:cxnSpLocks/>
            <a:stCxn id="37" idx="3"/>
            <a:endCxn id="38" idx="1"/>
          </p:cNvCxnSpPr>
          <p:nvPr/>
        </p:nvCxnSpPr>
        <p:spPr>
          <a:xfrm>
            <a:off x="5350219" y="2835553"/>
            <a:ext cx="285641" cy="0"/>
          </a:xfrm>
          <a:prstGeom prst="straightConnector1">
            <a:avLst/>
          </a:prstGeom>
          <a:ln>
            <a:solidFill>
              <a:schemeClr val="tx1"/>
            </a:solidFill>
            <a:prstDash val="sysDot"/>
            <a:tailEnd type="triangle"/>
          </a:ln>
        </p:spPr>
        <p:style>
          <a:lnRef idx="1">
            <a:schemeClr val="accent1"/>
          </a:lnRef>
          <a:fillRef idx="0">
            <a:schemeClr val="accent1"/>
          </a:fillRef>
          <a:effectRef idx="0">
            <a:schemeClr val="accent1"/>
          </a:effectRef>
          <a:fontRef idx="minor">
            <a:schemeClr val="tx1"/>
          </a:fontRef>
        </p:style>
      </p:cxnSp>
      <p:sp>
        <p:nvSpPr>
          <p:cNvPr id="40" name="テキスト ボックス 102">
            <a:extLst>
              <a:ext uri="{FF2B5EF4-FFF2-40B4-BE49-F238E27FC236}">
                <a16:creationId xmlns:a16="http://schemas.microsoft.com/office/drawing/2014/main" id="{CB5BD751-9EE2-F77E-B237-6EBEA67F4576}"/>
              </a:ext>
            </a:extLst>
          </p:cNvPr>
          <p:cNvSpPr txBox="1"/>
          <p:nvPr/>
        </p:nvSpPr>
        <p:spPr>
          <a:xfrm>
            <a:off x="7643602" y="1550861"/>
            <a:ext cx="1874173" cy="430887"/>
          </a:xfrm>
          <a:prstGeom prst="rect">
            <a:avLst/>
          </a:prstGeom>
          <a:noFill/>
        </p:spPr>
        <p:txBody>
          <a:bodyPr wrap="square">
            <a:spAutoFit/>
          </a:bodyPr>
          <a:ls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pPr algn="ctr"/>
            <a:r>
              <a:rPr kumimoji="1" lang="en-US" altLang="ja-JP" sz="1100" b="1" dirty="0">
                <a:solidFill>
                  <a:srgbClr val="FF0000"/>
                </a:solidFill>
                <a:latin typeface="メイリオ" panose="020B0604030504040204" pitchFamily="50" charset="-128"/>
                <a:ea typeface="メイリオ" panose="020B0604030504040204" pitchFamily="50" charset="-128"/>
              </a:rPr>
              <a:t>CV</a:t>
            </a:r>
            <a:r>
              <a:rPr kumimoji="1" lang="ja-JP" altLang="en-US" sz="1100" b="1" dirty="0">
                <a:solidFill>
                  <a:srgbClr val="FF0000"/>
                </a:solidFill>
                <a:latin typeface="メイリオ" panose="020B0604030504040204" pitchFamily="50" charset="-128"/>
                <a:ea typeface="メイリオ" panose="020B0604030504040204" pitchFamily="50" charset="-128"/>
              </a:rPr>
              <a:t>するユーザー割合</a:t>
            </a:r>
            <a:endParaRPr kumimoji="1" lang="en-US" altLang="ja-JP" sz="1100" b="1" dirty="0">
              <a:solidFill>
                <a:srgbClr val="FF0000"/>
              </a:solidFill>
              <a:latin typeface="メイリオ" panose="020B0604030504040204" pitchFamily="50" charset="-128"/>
              <a:ea typeface="メイリオ" panose="020B0604030504040204" pitchFamily="50" charset="-128"/>
            </a:endParaRPr>
          </a:p>
          <a:p>
            <a:pPr algn="ctr"/>
            <a:r>
              <a:rPr lang="en-US" altLang="ja-JP" sz="1000" dirty="0">
                <a:solidFill>
                  <a:srgbClr val="FF0000"/>
                </a:solidFill>
                <a:latin typeface="メイリオ" panose="020B0604030504040204" pitchFamily="50" charset="-128"/>
                <a:ea typeface="メイリオ" panose="020B0604030504040204" pitchFamily="50" charset="-128"/>
              </a:rPr>
              <a:t>※</a:t>
            </a:r>
            <a:r>
              <a:rPr lang="ja-JP" altLang="en-US" sz="1000" dirty="0">
                <a:solidFill>
                  <a:srgbClr val="FF0000"/>
                </a:solidFill>
                <a:latin typeface="メイリオ" panose="020B0604030504040204" pitchFamily="50" charset="-128"/>
                <a:ea typeface="メイリオ" panose="020B0604030504040204" pitchFamily="50" charset="-128"/>
              </a:rPr>
              <a:t>平均値 </a:t>
            </a:r>
            <a:r>
              <a:rPr lang="en-US" altLang="ja-JP" sz="1000" dirty="0">
                <a:solidFill>
                  <a:srgbClr val="FF0000"/>
                </a:solidFill>
                <a:highlight>
                  <a:srgbClr val="FFFF00"/>
                </a:highlight>
                <a:latin typeface="メイリオ" panose="020B0604030504040204" pitchFamily="50" charset="-128"/>
                <a:ea typeface="メイリオ" panose="020B0604030504040204" pitchFamily="50" charset="-128"/>
              </a:rPr>
              <a:t>※CVR</a:t>
            </a:r>
            <a:r>
              <a:rPr lang="ja-JP" altLang="en-US" sz="1000" dirty="0">
                <a:solidFill>
                  <a:srgbClr val="FF0000"/>
                </a:solidFill>
                <a:highlight>
                  <a:srgbClr val="FFFF00"/>
                </a:highlight>
                <a:latin typeface="メイリオ" panose="020B0604030504040204" pitchFamily="50" charset="-128"/>
                <a:ea typeface="メイリオ" panose="020B0604030504040204" pitchFamily="50" charset="-128"/>
              </a:rPr>
              <a:t>ではない</a:t>
            </a:r>
            <a:endParaRPr kumimoji="1" lang="ja-JP" altLang="en-US" sz="1000" dirty="0">
              <a:solidFill>
                <a:srgbClr val="FF0000"/>
              </a:solidFill>
              <a:highlight>
                <a:srgbClr val="FFFF00"/>
              </a:highlight>
              <a:latin typeface="メイリオ" panose="020B0604030504040204" pitchFamily="50" charset="-128"/>
              <a:ea typeface="メイリオ" panose="020B0604030504040204" pitchFamily="50" charset="-128"/>
            </a:endParaRPr>
          </a:p>
        </p:txBody>
      </p:sp>
      <p:sp>
        <p:nvSpPr>
          <p:cNvPr id="41" name="テキスト ボックス 104">
            <a:extLst>
              <a:ext uri="{FF2B5EF4-FFF2-40B4-BE49-F238E27FC236}">
                <a16:creationId xmlns:a16="http://schemas.microsoft.com/office/drawing/2014/main" id="{55562E1F-54CF-8256-1530-F264D924D0C4}"/>
              </a:ext>
            </a:extLst>
          </p:cNvPr>
          <p:cNvSpPr txBox="1"/>
          <p:nvPr/>
        </p:nvSpPr>
        <p:spPr>
          <a:xfrm>
            <a:off x="7795459" y="2302105"/>
            <a:ext cx="1361106" cy="523220"/>
          </a:xfrm>
          <a:prstGeom prst="rect">
            <a:avLst/>
          </a:prstGeom>
          <a:noFill/>
        </p:spPr>
        <p:txBody>
          <a:bodyPr wrap="square">
            <a:spAutoFit/>
          </a:bodyPr>
          <a:ls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pPr algn="r"/>
            <a:r>
              <a:rPr kumimoji="1" lang="ja-JP" altLang="en-US" sz="2800" b="1" dirty="0">
                <a:solidFill>
                  <a:srgbClr val="FF0000"/>
                </a:solidFill>
                <a:latin typeface="メイリオ" panose="020B0604030504040204" pitchFamily="50" charset="-128"/>
                <a:ea typeface="メイリオ" panose="020B0604030504040204" pitchFamily="50" charset="-128"/>
              </a:rPr>
              <a:t>３</a:t>
            </a:r>
            <a:r>
              <a:rPr kumimoji="1" lang="ja-JP" altLang="en-US" sz="2400" b="1" dirty="0">
                <a:solidFill>
                  <a:srgbClr val="FF0000"/>
                </a:solidFill>
                <a:latin typeface="メイリオ" panose="020B0604030504040204" pitchFamily="50" charset="-128"/>
                <a:ea typeface="メイリオ" panose="020B0604030504040204" pitchFamily="50" charset="-128"/>
              </a:rPr>
              <a:t>％</a:t>
            </a:r>
            <a:endParaRPr lang="ja-JP" altLang="en-US" sz="2400" dirty="0">
              <a:solidFill>
                <a:srgbClr val="FF0000"/>
              </a:solidFill>
            </a:endParaRPr>
          </a:p>
        </p:txBody>
      </p:sp>
      <p:sp>
        <p:nvSpPr>
          <p:cNvPr id="42" name="テキスト ボックス 106">
            <a:extLst>
              <a:ext uri="{FF2B5EF4-FFF2-40B4-BE49-F238E27FC236}">
                <a16:creationId xmlns:a16="http://schemas.microsoft.com/office/drawing/2014/main" id="{0D6F6472-C1C9-8DD7-5969-2F70988996B7}"/>
              </a:ext>
            </a:extLst>
          </p:cNvPr>
          <p:cNvSpPr txBox="1"/>
          <p:nvPr/>
        </p:nvSpPr>
        <p:spPr>
          <a:xfrm>
            <a:off x="7781456" y="3247026"/>
            <a:ext cx="1361106" cy="523220"/>
          </a:xfrm>
          <a:prstGeom prst="rect">
            <a:avLst/>
          </a:prstGeom>
          <a:noFill/>
        </p:spPr>
        <p:txBody>
          <a:bodyPr wrap="square">
            <a:spAutoFit/>
          </a:bodyPr>
          <a:ls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pPr algn="r"/>
            <a:r>
              <a:rPr kumimoji="1" lang="en-US" altLang="ja-JP" sz="2800" b="1" dirty="0">
                <a:solidFill>
                  <a:srgbClr val="FF0000"/>
                </a:solidFill>
                <a:latin typeface="メイリオ" panose="020B0604030504040204" pitchFamily="50" charset="-128"/>
                <a:ea typeface="メイリオ" panose="020B0604030504040204" pitchFamily="50" charset="-128"/>
              </a:rPr>
              <a:t>1.5</a:t>
            </a:r>
            <a:r>
              <a:rPr kumimoji="1" lang="ja-JP" altLang="en-US" sz="2400" b="1" dirty="0">
                <a:solidFill>
                  <a:srgbClr val="FF0000"/>
                </a:solidFill>
                <a:latin typeface="メイリオ" panose="020B0604030504040204" pitchFamily="50" charset="-128"/>
                <a:ea typeface="メイリオ" panose="020B0604030504040204" pitchFamily="50" charset="-128"/>
              </a:rPr>
              <a:t>％</a:t>
            </a:r>
            <a:endParaRPr lang="ja-JP" altLang="en-US" sz="2400" dirty="0">
              <a:solidFill>
                <a:srgbClr val="FF0000"/>
              </a:solidFill>
            </a:endParaRPr>
          </a:p>
        </p:txBody>
      </p:sp>
      <p:sp>
        <p:nvSpPr>
          <p:cNvPr id="43" name="テキスト ボックス 108">
            <a:extLst>
              <a:ext uri="{FF2B5EF4-FFF2-40B4-BE49-F238E27FC236}">
                <a16:creationId xmlns:a16="http://schemas.microsoft.com/office/drawing/2014/main" id="{3EBEB224-105E-FCC6-752F-0DC0ACDDFEFC}"/>
              </a:ext>
            </a:extLst>
          </p:cNvPr>
          <p:cNvSpPr txBox="1"/>
          <p:nvPr/>
        </p:nvSpPr>
        <p:spPr>
          <a:xfrm>
            <a:off x="7795459" y="3952829"/>
            <a:ext cx="1361106" cy="523220"/>
          </a:xfrm>
          <a:prstGeom prst="rect">
            <a:avLst/>
          </a:prstGeom>
          <a:noFill/>
        </p:spPr>
        <p:txBody>
          <a:bodyPr wrap="square">
            <a:spAutoFit/>
          </a:bodyPr>
          <a:ls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pPr algn="r"/>
            <a:r>
              <a:rPr kumimoji="1" lang="en-US" altLang="ja-JP" sz="2800" b="1" dirty="0">
                <a:solidFill>
                  <a:srgbClr val="FF0000"/>
                </a:solidFill>
                <a:latin typeface="メイリオ" panose="020B0604030504040204" pitchFamily="50" charset="-128"/>
                <a:ea typeface="メイリオ" panose="020B0604030504040204" pitchFamily="50" charset="-128"/>
              </a:rPr>
              <a:t>2.5</a:t>
            </a:r>
            <a:r>
              <a:rPr kumimoji="1" lang="ja-JP" altLang="en-US" sz="2400" b="1" dirty="0">
                <a:solidFill>
                  <a:srgbClr val="FF0000"/>
                </a:solidFill>
                <a:latin typeface="メイリオ" panose="020B0604030504040204" pitchFamily="50" charset="-128"/>
                <a:ea typeface="メイリオ" panose="020B0604030504040204" pitchFamily="50" charset="-128"/>
              </a:rPr>
              <a:t>％</a:t>
            </a:r>
            <a:endParaRPr lang="ja-JP" altLang="en-US" sz="2400" dirty="0">
              <a:solidFill>
                <a:srgbClr val="FF0000"/>
              </a:solidFill>
            </a:endParaRPr>
          </a:p>
        </p:txBody>
      </p:sp>
      <p:sp>
        <p:nvSpPr>
          <p:cNvPr id="44" name="テキスト ボックス 110">
            <a:extLst>
              <a:ext uri="{FF2B5EF4-FFF2-40B4-BE49-F238E27FC236}">
                <a16:creationId xmlns:a16="http://schemas.microsoft.com/office/drawing/2014/main" id="{F26B0A2E-9DBA-FEE5-637F-02A225C02C23}"/>
              </a:ext>
            </a:extLst>
          </p:cNvPr>
          <p:cNvSpPr txBox="1"/>
          <p:nvPr/>
        </p:nvSpPr>
        <p:spPr>
          <a:xfrm>
            <a:off x="7781455" y="4592965"/>
            <a:ext cx="1361106" cy="523220"/>
          </a:xfrm>
          <a:prstGeom prst="rect">
            <a:avLst/>
          </a:prstGeom>
          <a:noFill/>
        </p:spPr>
        <p:txBody>
          <a:bodyPr wrap="square">
            <a:spAutoFit/>
          </a:bodyPr>
          <a:ls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pPr algn="r"/>
            <a:r>
              <a:rPr kumimoji="1" lang="en-US" altLang="ja-JP" sz="2800" b="1" dirty="0">
                <a:solidFill>
                  <a:srgbClr val="FF0000"/>
                </a:solidFill>
                <a:latin typeface="メイリオ" panose="020B0604030504040204" pitchFamily="50" charset="-128"/>
                <a:ea typeface="メイリオ" panose="020B0604030504040204" pitchFamily="50" charset="-128"/>
              </a:rPr>
              <a:t>2.5</a:t>
            </a:r>
            <a:r>
              <a:rPr kumimoji="1" lang="ja-JP" altLang="en-US" sz="2400" b="1" dirty="0">
                <a:solidFill>
                  <a:srgbClr val="FF0000"/>
                </a:solidFill>
                <a:latin typeface="メイリオ" panose="020B0604030504040204" pitchFamily="50" charset="-128"/>
                <a:ea typeface="メイリオ" panose="020B0604030504040204" pitchFamily="50" charset="-128"/>
              </a:rPr>
              <a:t>％</a:t>
            </a:r>
            <a:endParaRPr lang="ja-JP" altLang="en-US" sz="2400" dirty="0">
              <a:solidFill>
                <a:srgbClr val="FF0000"/>
              </a:solidFill>
            </a:endParaRPr>
          </a:p>
        </p:txBody>
      </p:sp>
      <p:sp>
        <p:nvSpPr>
          <p:cNvPr id="46" name="テキスト ボックス 112">
            <a:extLst>
              <a:ext uri="{FF2B5EF4-FFF2-40B4-BE49-F238E27FC236}">
                <a16:creationId xmlns:a16="http://schemas.microsoft.com/office/drawing/2014/main" id="{0C0FA132-24D2-97C7-D00F-5A970556EB00}"/>
              </a:ext>
            </a:extLst>
          </p:cNvPr>
          <p:cNvSpPr txBox="1"/>
          <p:nvPr/>
        </p:nvSpPr>
        <p:spPr>
          <a:xfrm>
            <a:off x="7781455" y="5217138"/>
            <a:ext cx="1361106" cy="523220"/>
          </a:xfrm>
          <a:prstGeom prst="rect">
            <a:avLst/>
          </a:prstGeom>
          <a:noFill/>
        </p:spPr>
        <p:txBody>
          <a:bodyPr wrap="square">
            <a:spAutoFit/>
          </a:bodyPr>
          <a:ls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pPr algn="r"/>
            <a:r>
              <a:rPr kumimoji="1" lang="en-US" altLang="ja-JP" sz="2800" b="1" dirty="0">
                <a:solidFill>
                  <a:srgbClr val="FF0000"/>
                </a:solidFill>
                <a:latin typeface="メイリオ" panose="020B0604030504040204" pitchFamily="50" charset="-128"/>
                <a:ea typeface="メイリオ" panose="020B0604030504040204" pitchFamily="50" charset="-128"/>
              </a:rPr>
              <a:t>2.5</a:t>
            </a:r>
            <a:r>
              <a:rPr kumimoji="1" lang="ja-JP" altLang="en-US" sz="2400" b="1" dirty="0">
                <a:solidFill>
                  <a:srgbClr val="FF0000"/>
                </a:solidFill>
                <a:latin typeface="メイリオ" panose="020B0604030504040204" pitchFamily="50" charset="-128"/>
                <a:ea typeface="メイリオ" panose="020B0604030504040204" pitchFamily="50" charset="-128"/>
              </a:rPr>
              <a:t>％</a:t>
            </a:r>
            <a:endParaRPr lang="ja-JP" altLang="en-US" sz="2400" dirty="0">
              <a:solidFill>
                <a:srgbClr val="FF0000"/>
              </a:solidFill>
            </a:endParaRPr>
          </a:p>
        </p:txBody>
      </p:sp>
      <p:sp>
        <p:nvSpPr>
          <p:cNvPr id="47" name="テキスト ボックス 114">
            <a:extLst>
              <a:ext uri="{FF2B5EF4-FFF2-40B4-BE49-F238E27FC236}">
                <a16:creationId xmlns:a16="http://schemas.microsoft.com/office/drawing/2014/main" id="{FD400E85-93A8-6ADB-337D-4AC8973CAF45}"/>
              </a:ext>
            </a:extLst>
          </p:cNvPr>
          <p:cNvSpPr txBox="1"/>
          <p:nvPr/>
        </p:nvSpPr>
        <p:spPr>
          <a:xfrm>
            <a:off x="7781455" y="5822973"/>
            <a:ext cx="1361106" cy="523220"/>
          </a:xfrm>
          <a:prstGeom prst="rect">
            <a:avLst/>
          </a:prstGeom>
          <a:noFill/>
        </p:spPr>
        <p:txBody>
          <a:bodyPr wrap="square">
            <a:spAutoFit/>
          </a:bodyPr>
          <a:ls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pPr algn="r"/>
            <a:r>
              <a:rPr kumimoji="1" lang="en-US" altLang="ja-JP" sz="2800" b="1" dirty="0">
                <a:solidFill>
                  <a:srgbClr val="FF0000"/>
                </a:solidFill>
                <a:latin typeface="メイリオ" panose="020B0604030504040204" pitchFamily="50" charset="-128"/>
                <a:ea typeface="メイリオ" panose="020B0604030504040204" pitchFamily="50" charset="-128"/>
              </a:rPr>
              <a:t>2</a:t>
            </a:r>
            <a:r>
              <a:rPr kumimoji="1" lang="ja-JP" altLang="en-US" sz="2400" b="1" dirty="0">
                <a:solidFill>
                  <a:srgbClr val="FF0000"/>
                </a:solidFill>
                <a:latin typeface="メイリオ" panose="020B0604030504040204" pitchFamily="50" charset="-128"/>
                <a:ea typeface="メイリオ" panose="020B0604030504040204" pitchFamily="50" charset="-128"/>
              </a:rPr>
              <a:t>％</a:t>
            </a:r>
            <a:endParaRPr lang="ja-JP" altLang="en-US" sz="2400" dirty="0">
              <a:solidFill>
                <a:srgbClr val="FF0000"/>
              </a:solidFill>
            </a:endParaRPr>
          </a:p>
        </p:txBody>
      </p:sp>
      <p:sp>
        <p:nvSpPr>
          <p:cNvPr id="48" name="Shape 17">
            <a:extLst>
              <a:ext uri="{FF2B5EF4-FFF2-40B4-BE49-F238E27FC236}">
                <a16:creationId xmlns:a16="http://schemas.microsoft.com/office/drawing/2014/main" id="{1CA555AB-71AF-EB14-1D64-C35A07A084CC}"/>
              </a:ext>
            </a:extLst>
          </p:cNvPr>
          <p:cNvSpPr/>
          <p:nvPr/>
        </p:nvSpPr>
        <p:spPr>
          <a:xfrm>
            <a:off x="3586732" y="3279991"/>
            <a:ext cx="1763487" cy="466492"/>
          </a:xfrm>
          <a:prstGeom prst="rect">
            <a:avLst/>
          </a:prstGeom>
          <a:solidFill>
            <a:srgbClr val="F2F2F2"/>
          </a:solidFill>
          <a:ln w="12700">
            <a:solidFill>
              <a:srgbClr val="CCCCCC"/>
            </a:solidFill>
            <a:prstDash val="solid"/>
          </a:ln>
        </p:spPr>
        <p:txBody>
          <a:bodyPr/>
          <a:ls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pPr>
              <a:lnSpc>
                <a:spcPct val="135000"/>
              </a:lnSpc>
            </a:pPr>
            <a:r>
              <a:rPr lang="ja-JP" altLang="en-US" sz="800" dirty="0">
                <a:solidFill>
                  <a:schemeClr val="bg1">
                    <a:lumMod val="65000"/>
                  </a:schemeClr>
                </a:solidFill>
                <a:latin typeface="メイリオ" panose="020B0604030504040204" pitchFamily="50" charset="-128"/>
                <a:ea typeface="メイリオ" panose="020B0604030504040204" pitchFamily="50" charset="-128"/>
                <a:cs typeface="Calibri" pitchFamily="34" charset="-120"/>
              </a:rPr>
              <a:t>スクリーニングアンケート</a:t>
            </a:r>
          </a:p>
          <a:p>
            <a:pPr>
              <a:lnSpc>
                <a:spcPct val="135000"/>
              </a:lnSpc>
            </a:pPr>
            <a:r>
              <a:rPr lang="ja-JP" altLang="en-US" sz="800" dirty="0">
                <a:solidFill>
                  <a:schemeClr val="bg1">
                    <a:lumMod val="65000"/>
                  </a:schemeClr>
                </a:solidFill>
                <a:latin typeface="メイリオ" panose="020B0604030504040204" pitchFamily="50" charset="-128"/>
                <a:ea typeface="メイリオ" panose="020B0604030504040204" pitchFamily="50" charset="-128"/>
                <a:cs typeface="Calibri" pitchFamily="34" charset="-120"/>
              </a:rPr>
              <a:t>（</a:t>
            </a:r>
            <a:r>
              <a:rPr lang="en-US" altLang="ja-JP" sz="800" dirty="0">
                <a:solidFill>
                  <a:schemeClr val="bg1">
                    <a:lumMod val="65000"/>
                  </a:schemeClr>
                </a:solidFill>
                <a:latin typeface="メイリオ" panose="020B0604030504040204" pitchFamily="50" charset="-128"/>
                <a:ea typeface="メイリオ" panose="020B0604030504040204" pitchFamily="50" charset="-128"/>
                <a:cs typeface="Calibri" pitchFamily="34" charset="-120"/>
              </a:rPr>
              <a:t>3</a:t>
            </a:r>
            <a:r>
              <a:rPr lang="ja-JP" altLang="en-US" sz="800" dirty="0">
                <a:solidFill>
                  <a:schemeClr val="bg1">
                    <a:lumMod val="65000"/>
                  </a:schemeClr>
                </a:solidFill>
                <a:latin typeface="メイリオ" panose="020B0604030504040204" pitchFamily="50" charset="-128"/>
                <a:ea typeface="メイリオ" panose="020B0604030504040204" pitchFamily="50" charset="-128"/>
                <a:cs typeface="Calibri" pitchFamily="34" charset="-120"/>
              </a:rPr>
              <a:t>問）→ セグメント分類</a:t>
            </a:r>
          </a:p>
        </p:txBody>
      </p:sp>
      <p:sp>
        <p:nvSpPr>
          <p:cNvPr id="49" name="Shape 18">
            <a:extLst>
              <a:ext uri="{FF2B5EF4-FFF2-40B4-BE49-F238E27FC236}">
                <a16:creationId xmlns:a16="http://schemas.microsoft.com/office/drawing/2014/main" id="{019053B5-0AD3-160E-B42A-8528F025A84E}"/>
              </a:ext>
            </a:extLst>
          </p:cNvPr>
          <p:cNvSpPr/>
          <p:nvPr/>
        </p:nvSpPr>
        <p:spPr>
          <a:xfrm>
            <a:off x="5635860" y="3279991"/>
            <a:ext cx="1763486" cy="466492"/>
          </a:xfrm>
          <a:prstGeom prst="rect">
            <a:avLst/>
          </a:prstGeom>
          <a:solidFill>
            <a:srgbClr val="F2F2F2"/>
          </a:solidFill>
          <a:ln w="12700">
            <a:solidFill>
              <a:srgbClr val="CCCCCC"/>
            </a:solidFill>
            <a:prstDash val="solid"/>
          </a:ln>
        </p:spPr>
        <p:txBody>
          <a:bodyPr/>
          <a:ls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pPr>
              <a:lnSpc>
                <a:spcPct val="135000"/>
              </a:lnSpc>
            </a:pPr>
            <a:r>
              <a:rPr lang="ja-JP" altLang="en-US" sz="800" dirty="0">
                <a:solidFill>
                  <a:schemeClr val="bg1">
                    <a:lumMod val="65000"/>
                  </a:schemeClr>
                </a:solidFill>
                <a:latin typeface="メイリオ" panose="020B0604030504040204" pitchFamily="50" charset="-128"/>
                <a:ea typeface="メイリオ" panose="020B0604030504040204" pitchFamily="50" charset="-128"/>
                <a:cs typeface="Calibri" pitchFamily="34" charset="-120"/>
              </a:rPr>
              <a:t>セグメント別シナリオ配信</a:t>
            </a:r>
          </a:p>
          <a:p>
            <a:pPr>
              <a:lnSpc>
                <a:spcPct val="135000"/>
              </a:lnSpc>
            </a:pPr>
            <a:r>
              <a:rPr lang="ja-JP" altLang="en-US" sz="800" dirty="0">
                <a:solidFill>
                  <a:schemeClr val="bg1">
                    <a:lumMod val="65000"/>
                  </a:schemeClr>
                </a:solidFill>
                <a:latin typeface="メイリオ" panose="020B0604030504040204" pitchFamily="50" charset="-128"/>
                <a:ea typeface="メイリオ" panose="020B0604030504040204" pitchFamily="50" charset="-128"/>
                <a:cs typeface="Calibri" pitchFamily="34" charset="-120"/>
              </a:rPr>
              <a:t>ホットリード</a:t>
            </a:r>
            <a:r>
              <a:rPr lang="en-US" altLang="ja-JP" sz="800" dirty="0">
                <a:solidFill>
                  <a:schemeClr val="bg1">
                    <a:lumMod val="65000"/>
                  </a:schemeClr>
                </a:solidFill>
                <a:latin typeface="メイリオ" panose="020B0604030504040204" pitchFamily="50" charset="-128"/>
                <a:ea typeface="メイリオ" panose="020B0604030504040204" pitchFamily="50" charset="-128"/>
                <a:cs typeface="Calibri" pitchFamily="34" charset="-120"/>
              </a:rPr>
              <a:t>:</a:t>
            </a:r>
            <a:r>
              <a:rPr lang="ja-JP" altLang="en-US" sz="800" dirty="0">
                <a:solidFill>
                  <a:schemeClr val="bg1">
                    <a:lumMod val="65000"/>
                  </a:schemeClr>
                </a:solidFill>
                <a:latin typeface="メイリオ" panose="020B0604030504040204" pitchFamily="50" charset="-128"/>
                <a:ea typeface="メイリオ" panose="020B0604030504040204" pitchFamily="50" charset="-128"/>
                <a:cs typeface="Calibri" pitchFamily="34" charset="-120"/>
              </a:rPr>
              <a:t>即スタッフ対応</a:t>
            </a:r>
          </a:p>
        </p:txBody>
      </p:sp>
      <p:cxnSp>
        <p:nvCxnSpPr>
          <p:cNvPr id="50" name="直線矢印コネクタ 49">
            <a:extLst>
              <a:ext uri="{FF2B5EF4-FFF2-40B4-BE49-F238E27FC236}">
                <a16:creationId xmlns:a16="http://schemas.microsoft.com/office/drawing/2014/main" id="{48AC5144-1E7E-4082-003A-97A6D96D2994}"/>
              </a:ext>
            </a:extLst>
          </p:cNvPr>
          <p:cNvCxnSpPr>
            <a:cxnSpLocks/>
            <a:stCxn id="48" idx="3"/>
            <a:endCxn id="49" idx="1"/>
          </p:cNvCxnSpPr>
          <p:nvPr/>
        </p:nvCxnSpPr>
        <p:spPr>
          <a:xfrm>
            <a:off x="5350219" y="3513237"/>
            <a:ext cx="285641" cy="0"/>
          </a:xfrm>
          <a:prstGeom prst="straightConnector1">
            <a:avLst/>
          </a:prstGeom>
          <a:ln>
            <a:solidFill>
              <a:schemeClr val="tx1"/>
            </a:solidFill>
            <a:prstDash val="sysDot"/>
            <a:tailEnd type="triangle"/>
          </a:ln>
        </p:spPr>
        <p:style>
          <a:lnRef idx="1">
            <a:schemeClr val="accent1"/>
          </a:lnRef>
          <a:fillRef idx="0">
            <a:schemeClr val="accent1"/>
          </a:fillRef>
          <a:effectRef idx="0">
            <a:schemeClr val="accent1"/>
          </a:effectRef>
          <a:fontRef idx="minor">
            <a:schemeClr val="tx1"/>
          </a:fontRef>
        </p:style>
      </p:cxnSp>
      <p:sp>
        <p:nvSpPr>
          <p:cNvPr id="51" name="Shape 17">
            <a:extLst>
              <a:ext uri="{FF2B5EF4-FFF2-40B4-BE49-F238E27FC236}">
                <a16:creationId xmlns:a16="http://schemas.microsoft.com/office/drawing/2014/main" id="{03AA9053-24E8-182C-23AA-4BEA28F1863B}"/>
              </a:ext>
            </a:extLst>
          </p:cNvPr>
          <p:cNvSpPr/>
          <p:nvPr/>
        </p:nvSpPr>
        <p:spPr>
          <a:xfrm>
            <a:off x="3586732" y="4020849"/>
            <a:ext cx="1763487" cy="466492"/>
          </a:xfrm>
          <a:prstGeom prst="rect">
            <a:avLst/>
          </a:prstGeom>
          <a:solidFill>
            <a:srgbClr val="F2F2F2"/>
          </a:solidFill>
          <a:ln w="12700">
            <a:solidFill>
              <a:srgbClr val="CCCCCC"/>
            </a:solidFill>
            <a:prstDash val="solid"/>
          </a:ln>
        </p:spPr>
        <p:txBody>
          <a:bodyPr/>
          <a:ls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pPr>
              <a:lnSpc>
                <a:spcPct val="135000"/>
              </a:lnSpc>
            </a:pPr>
            <a:r>
              <a:rPr lang="ja-JP" altLang="en-US" sz="800" dirty="0">
                <a:solidFill>
                  <a:schemeClr val="bg1">
                    <a:lumMod val="65000"/>
                  </a:schemeClr>
                </a:solidFill>
                <a:latin typeface="メイリオ" panose="020B0604030504040204" pitchFamily="50" charset="-128"/>
                <a:ea typeface="メイリオ" panose="020B0604030504040204" pitchFamily="50" charset="-128"/>
                <a:cs typeface="Calibri" pitchFamily="34" charset="-120"/>
              </a:rPr>
              <a:t>サンクス自動</a:t>
            </a:r>
            <a:r>
              <a:rPr lang="en-US" altLang="ja-JP" sz="800" dirty="0">
                <a:solidFill>
                  <a:schemeClr val="bg1">
                    <a:lumMod val="65000"/>
                  </a:schemeClr>
                </a:solidFill>
                <a:latin typeface="メイリオ" panose="020B0604030504040204" pitchFamily="50" charset="-128"/>
                <a:ea typeface="メイリオ" panose="020B0604030504040204" pitchFamily="50" charset="-128"/>
                <a:cs typeface="Calibri" pitchFamily="34" charset="-120"/>
              </a:rPr>
              <a:t>MSG</a:t>
            </a:r>
            <a:r>
              <a:rPr lang="ja-JP" altLang="en-US" sz="800" dirty="0">
                <a:solidFill>
                  <a:schemeClr val="bg1">
                    <a:lumMod val="65000"/>
                  </a:schemeClr>
                </a:solidFill>
                <a:latin typeface="メイリオ" panose="020B0604030504040204" pitchFamily="50" charset="-128"/>
                <a:ea typeface="メイリオ" panose="020B0604030504040204" pitchFamily="50" charset="-128"/>
                <a:cs typeface="Calibri" pitchFamily="34" charset="-120"/>
              </a:rPr>
              <a:t>＋</a:t>
            </a:r>
          </a:p>
          <a:p>
            <a:pPr>
              <a:lnSpc>
                <a:spcPct val="135000"/>
              </a:lnSpc>
            </a:pPr>
            <a:r>
              <a:rPr lang="ja-JP" altLang="en-US" sz="800" dirty="0">
                <a:solidFill>
                  <a:schemeClr val="bg1">
                    <a:lumMod val="65000"/>
                  </a:schemeClr>
                </a:solidFill>
                <a:latin typeface="メイリオ" panose="020B0604030504040204" pitchFamily="50" charset="-128"/>
                <a:ea typeface="メイリオ" panose="020B0604030504040204" pitchFamily="50" charset="-128"/>
                <a:cs typeface="Calibri" pitchFamily="34" charset="-120"/>
              </a:rPr>
              <a:t>次のアクション案内</a:t>
            </a:r>
          </a:p>
        </p:txBody>
      </p:sp>
      <p:sp>
        <p:nvSpPr>
          <p:cNvPr id="52" name="Shape 18">
            <a:extLst>
              <a:ext uri="{FF2B5EF4-FFF2-40B4-BE49-F238E27FC236}">
                <a16:creationId xmlns:a16="http://schemas.microsoft.com/office/drawing/2014/main" id="{760C890D-1868-9325-4069-2354337B0399}"/>
              </a:ext>
            </a:extLst>
          </p:cNvPr>
          <p:cNvSpPr/>
          <p:nvPr/>
        </p:nvSpPr>
        <p:spPr>
          <a:xfrm>
            <a:off x="5635860" y="4020849"/>
            <a:ext cx="1763486" cy="466492"/>
          </a:xfrm>
          <a:prstGeom prst="rect">
            <a:avLst/>
          </a:prstGeom>
          <a:solidFill>
            <a:srgbClr val="F2F2F2"/>
          </a:solidFill>
          <a:ln w="12700">
            <a:solidFill>
              <a:srgbClr val="CCCCCC"/>
            </a:solidFill>
            <a:prstDash val="solid"/>
          </a:ln>
        </p:spPr>
        <p:txBody>
          <a:bodyPr/>
          <a:ls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pPr>
              <a:lnSpc>
                <a:spcPct val="135000"/>
              </a:lnSpc>
            </a:pPr>
            <a:r>
              <a:rPr lang="ja-JP" altLang="en-US" sz="800" dirty="0">
                <a:solidFill>
                  <a:schemeClr val="bg1">
                    <a:lumMod val="65000"/>
                  </a:schemeClr>
                </a:solidFill>
                <a:latin typeface="メイリオ" panose="020B0604030504040204" pitchFamily="50" charset="-128"/>
                <a:ea typeface="メイリオ" panose="020B0604030504040204" pitchFamily="50" charset="-128"/>
                <a:cs typeface="Calibri" pitchFamily="34" charset="-120"/>
              </a:rPr>
              <a:t>リマインド配信</a:t>
            </a:r>
          </a:p>
          <a:p>
            <a:pPr>
              <a:lnSpc>
                <a:spcPct val="135000"/>
              </a:lnSpc>
            </a:pPr>
            <a:r>
              <a:rPr lang="ja-JP" altLang="en-US" sz="800" dirty="0">
                <a:solidFill>
                  <a:schemeClr val="bg1">
                    <a:lumMod val="65000"/>
                  </a:schemeClr>
                </a:solidFill>
                <a:latin typeface="メイリオ" panose="020B0604030504040204" pitchFamily="50" charset="-128"/>
                <a:ea typeface="メイリオ" panose="020B0604030504040204" pitchFamily="50" charset="-128"/>
                <a:cs typeface="Calibri" pitchFamily="34" charset="-120"/>
              </a:rPr>
              <a:t>クロスセル・アップセル</a:t>
            </a:r>
          </a:p>
        </p:txBody>
      </p:sp>
      <p:cxnSp>
        <p:nvCxnSpPr>
          <p:cNvPr id="53" name="直線矢印コネクタ 52">
            <a:extLst>
              <a:ext uri="{FF2B5EF4-FFF2-40B4-BE49-F238E27FC236}">
                <a16:creationId xmlns:a16="http://schemas.microsoft.com/office/drawing/2014/main" id="{CE344BB3-FFA2-50D7-ADEA-7AA9C56BA1E2}"/>
              </a:ext>
            </a:extLst>
          </p:cNvPr>
          <p:cNvCxnSpPr>
            <a:cxnSpLocks/>
            <a:stCxn id="51" idx="3"/>
            <a:endCxn id="52" idx="1"/>
          </p:cNvCxnSpPr>
          <p:nvPr/>
        </p:nvCxnSpPr>
        <p:spPr>
          <a:xfrm>
            <a:off x="5350219" y="4254095"/>
            <a:ext cx="285641" cy="0"/>
          </a:xfrm>
          <a:prstGeom prst="straightConnector1">
            <a:avLst/>
          </a:prstGeom>
          <a:ln>
            <a:solidFill>
              <a:schemeClr val="tx1"/>
            </a:solidFill>
            <a:prstDash val="sysDot"/>
            <a:tailEnd type="triangle"/>
          </a:ln>
        </p:spPr>
        <p:style>
          <a:lnRef idx="1">
            <a:schemeClr val="accent1"/>
          </a:lnRef>
          <a:fillRef idx="0">
            <a:schemeClr val="accent1"/>
          </a:fillRef>
          <a:effectRef idx="0">
            <a:schemeClr val="accent1"/>
          </a:effectRef>
          <a:fontRef idx="minor">
            <a:schemeClr val="tx1"/>
          </a:fontRef>
        </p:style>
      </p:cxnSp>
      <p:sp>
        <p:nvSpPr>
          <p:cNvPr id="54" name="Shape 17">
            <a:extLst>
              <a:ext uri="{FF2B5EF4-FFF2-40B4-BE49-F238E27FC236}">
                <a16:creationId xmlns:a16="http://schemas.microsoft.com/office/drawing/2014/main" id="{9439D4FC-6ABA-77F9-BCBC-39518FFF0A4B}"/>
              </a:ext>
            </a:extLst>
          </p:cNvPr>
          <p:cNvSpPr/>
          <p:nvPr/>
        </p:nvSpPr>
        <p:spPr>
          <a:xfrm>
            <a:off x="3586732" y="4627235"/>
            <a:ext cx="1763487" cy="466492"/>
          </a:xfrm>
          <a:prstGeom prst="rect">
            <a:avLst/>
          </a:prstGeom>
          <a:solidFill>
            <a:srgbClr val="F2F2F2"/>
          </a:solidFill>
          <a:ln w="12700">
            <a:solidFill>
              <a:srgbClr val="CCCCCC"/>
            </a:solidFill>
            <a:prstDash val="solid"/>
          </a:ln>
        </p:spPr>
        <p:txBody>
          <a:bodyPr/>
          <a:ls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pPr>
              <a:lnSpc>
                <a:spcPct val="135000"/>
              </a:lnSpc>
            </a:pPr>
            <a:r>
              <a:rPr lang="ja-JP" altLang="en-US" sz="800" dirty="0">
                <a:solidFill>
                  <a:schemeClr val="bg1">
                    <a:lumMod val="65000"/>
                  </a:schemeClr>
                </a:solidFill>
                <a:latin typeface="メイリオ" panose="020B0604030504040204" pitchFamily="50" charset="-128"/>
                <a:ea typeface="メイリオ" panose="020B0604030504040204" pitchFamily="50" charset="-128"/>
                <a:cs typeface="Calibri" pitchFamily="34" charset="-120"/>
              </a:rPr>
              <a:t>スクリーニング（</a:t>
            </a:r>
            <a:r>
              <a:rPr lang="en-US" altLang="ja-JP" sz="800" dirty="0">
                <a:solidFill>
                  <a:schemeClr val="bg1">
                    <a:lumMod val="65000"/>
                  </a:schemeClr>
                </a:solidFill>
                <a:latin typeface="メイリオ" panose="020B0604030504040204" pitchFamily="50" charset="-128"/>
                <a:ea typeface="メイリオ" panose="020B0604030504040204" pitchFamily="50" charset="-128"/>
                <a:cs typeface="Calibri" pitchFamily="34" charset="-120"/>
              </a:rPr>
              <a:t>3</a:t>
            </a:r>
            <a:r>
              <a:rPr lang="ja-JP" altLang="en-US" sz="800" dirty="0">
                <a:solidFill>
                  <a:schemeClr val="bg1">
                    <a:lumMod val="65000"/>
                  </a:schemeClr>
                </a:solidFill>
                <a:latin typeface="メイリオ" panose="020B0604030504040204" pitchFamily="50" charset="-128"/>
                <a:ea typeface="メイリオ" panose="020B0604030504040204" pitchFamily="50" charset="-128"/>
                <a:cs typeface="Calibri" pitchFamily="34" charset="-120"/>
              </a:rPr>
              <a:t>問）</a:t>
            </a:r>
          </a:p>
          <a:p>
            <a:pPr>
              <a:lnSpc>
                <a:spcPct val="135000"/>
              </a:lnSpc>
            </a:pPr>
            <a:r>
              <a:rPr lang="ja-JP" altLang="en-US" sz="800" dirty="0">
                <a:solidFill>
                  <a:schemeClr val="bg1">
                    <a:lumMod val="65000"/>
                  </a:schemeClr>
                </a:solidFill>
                <a:latin typeface="メイリオ" panose="020B0604030504040204" pitchFamily="50" charset="-128"/>
                <a:ea typeface="メイリオ" panose="020B0604030504040204" pitchFamily="50" charset="-128"/>
                <a:cs typeface="Calibri" pitchFamily="34" charset="-120"/>
              </a:rPr>
              <a:t>温度感・ニーズ把握</a:t>
            </a:r>
          </a:p>
        </p:txBody>
      </p:sp>
      <p:sp>
        <p:nvSpPr>
          <p:cNvPr id="55" name="Shape 18">
            <a:extLst>
              <a:ext uri="{FF2B5EF4-FFF2-40B4-BE49-F238E27FC236}">
                <a16:creationId xmlns:a16="http://schemas.microsoft.com/office/drawing/2014/main" id="{E23B94EA-C025-B46E-3CFE-6F951848C924}"/>
              </a:ext>
            </a:extLst>
          </p:cNvPr>
          <p:cNvSpPr/>
          <p:nvPr/>
        </p:nvSpPr>
        <p:spPr>
          <a:xfrm>
            <a:off x="5635860" y="4627235"/>
            <a:ext cx="1763486" cy="466492"/>
          </a:xfrm>
          <a:prstGeom prst="rect">
            <a:avLst/>
          </a:prstGeom>
          <a:solidFill>
            <a:srgbClr val="F2F2F2"/>
          </a:solidFill>
          <a:ln w="12700">
            <a:solidFill>
              <a:srgbClr val="CCCCCC"/>
            </a:solidFill>
            <a:prstDash val="solid"/>
          </a:ln>
        </p:spPr>
        <p:txBody>
          <a:bodyPr/>
          <a:ls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pPr>
              <a:lnSpc>
                <a:spcPct val="135000"/>
              </a:lnSpc>
            </a:pPr>
            <a:r>
              <a:rPr lang="ja-JP" altLang="en-US" sz="800" dirty="0">
                <a:solidFill>
                  <a:schemeClr val="bg1">
                    <a:lumMod val="65000"/>
                  </a:schemeClr>
                </a:solidFill>
                <a:latin typeface="メイリオ" panose="020B0604030504040204" pitchFamily="50" charset="-128"/>
                <a:ea typeface="メイリオ" panose="020B0604030504040204" pitchFamily="50" charset="-128"/>
                <a:cs typeface="Calibri" pitchFamily="34" charset="-120"/>
              </a:rPr>
              <a:t>有効リード育成シナリオ</a:t>
            </a:r>
          </a:p>
          <a:p>
            <a:pPr>
              <a:lnSpc>
                <a:spcPct val="135000"/>
              </a:lnSpc>
            </a:pPr>
            <a:r>
              <a:rPr lang="ja-JP" altLang="en-US" sz="800" dirty="0">
                <a:solidFill>
                  <a:schemeClr val="bg1">
                    <a:lumMod val="65000"/>
                  </a:schemeClr>
                </a:solidFill>
                <a:latin typeface="メイリオ" panose="020B0604030504040204" pitchFamily="50" charset="-128"/>
                <a:ea typeface="メイリオ" panose="020B0604030504040204" pitchFamily="50" charset="-128"/>
                <a:cs typeface="Calibri" pitchFamily="34" charset="-120"/>
              </a:rPr>
              <a:t>→ 商談・再購入誘導</a:t>
            </a:r>
          </a:p>
        </p:txBody>
      </p:sp>
      <p:cxnSp>
        <p:nvCxnSpPr>
          <p:cNvPr id="56" name="直線矢印コネクタ 55">
            <a:extLst>
              <a:ext uri="{FF2B5EF4-FFF2-40B4-BE49-F238E27FC236}">
                <a16:creationId xmlns:a16="http://schemas.microsoft.com/office/drawing/2014/main" id="{83F28A8E-5BD4-6CFE-A1AB-95F3F23ADFC2}"/>
              </a:ext>
            </a:extLst>
          </p:cNvPr>
          <p:cNvCxnSpPr>
            <a:cxnSpLocks/>
            <a:stCxn id="54" idx="3"/>
            <a:endCxn id="55" idx="1"/>
          </p:cNvCxnSpPr>
          <p:nvPr/>
        </p:nvCxnSpPr>
        <p:spPr>
          <a:xfrm>
            <a:off x="5350219" y="4860481"/>
            <a:ext cx="285641" cy="0"/>
          </a:xfrm>
          <a:prstGeom prst="straightConnector1">
            <a:avLst/>
          </a:prstGeom>
          <a:ln>
            <a:solidFill>
              <a:schemeClr val="tx1"/>
            </a:solidFill>
            <a:prstDash val="sysDot"/>
            <a:tailEnd type="triangle"/>
          </a:ln>
        </p:spPr>
        <p:style>
          <a:lnRef idx="1">
            <a:schemeClr val="accent1"/>
          </a:lnRef>
          <a:fillRef idx="0">
            <a:schemeClr val="accent1"/>
          </a:fillRef>
          <a:effectRef idx="0">
            <a:schemeClr val="accent1"/>
          </a:effectRef>
          <a:fontRef idx="minor">
            <a:schemeClr val="tx1"/>
          </a:fontRef>
        </p:style>
      </p:cxnSp>
      <p:sp>
        <p:nvSpPr>
          <p:cNvPr id="57" name="Shape 17">
            <a:extLst>
              <a:ext uri="{FF2B5EF4-FFF2-40B4-BE49-F238E27FC236}">
                <a16:creationId xmlns:a16="http://schemas.microsoft.com/office/drawing/2014/main" id="{6D4CD712-1339-1DEA-1A5F-9F51874CCCB1}"/>
              </a:ext>
            </a:extLst>
          </p:cNvPr>
          <p:cNvSpPr/>
          <p:nvPr/>
        </p:nvSpPr>
        <p:spPr>
          <a:xfrm>
            <a:off x="3586732" y="5251006"/>
            <a:ext cx="1763487" cy="466492"/>
          </a:xfrm>
          <a:prstGeom prst="rect">
            <a:avLst/>
          </a:prstGeom>
          <a:solidFill>
            <a:srgbClr val="F2F2F2"/>
          </a:solidFill>
          <a:ln w="12700">
            <a:solidFill>
              <a:srgbClr val="CCCCCC"/>
            </a:solidFill>
            <a:prstDash val="solid"/>
          </a:ln>
        </p:spPr>
        <p:txBody>
          <a:bodyPr/>
          <a:ls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pPr>
              <a:lnSpc>
                <a:spcPct val="135000"/>
              </a:lnSpc>
            </a:pPr>
            <a:r>
              <a:rPr lang="ja-JP" altLang="en-US" sz="800" dirty="0">
                <a:solidFill>
                  <a:schemeClr val="bg1">
                    <a:lumMod val="65000"/>
                  </a:schemeClr>
                </a:solidFill>
                <a:latin typeface="メイリオ" panose="020B0604030504040204" pitchFamily="50" charset="-128"/>
                <a:ea typeface="メイリオ" panose="020B0604030504040204" pitchFamily="50" charset="-128"/>
                <a:cs typeface="Calibri" pitchFamily="34" charset="-120"/>
              </a:rPr>
              <a:t>一斉配信でリスト活性化</a:t>
            </a:r>
          </a:p>
          <a:p>
            <a:pPr>
              <a:lnSpc>
                <a:spcPct val="135000"/>
              </a:lnSpc>
            </a:pPr>
            <a:r>
              <a:rPr lang="ja-JP" altLang="en-US" sz="800" dirty="0">
                <a:solidFill>
                  <a:schemeClr val="bg1">
                    <a:lumMod val="65000"/>
                  </a:schemeClr>
                </a:solidFill>
                <a:latin typeface="メイリオ" panose="020B0604030504040204" pitchFamily="50" charset="-128"/>
                <a:ea typeface="メイリオ" panose="020B0604030504040204" pitchFamily="50" charset="-128"/>
                <a:cs typeface="Calibri" pitchFamily="34" charset="-120"/>
              </a:rPr>
              <a:t>アンケートで属性把握</a:t>
            </a:r>
          </a:p>
        </p:txBody>
      </p:sp>
      <p:sp>
        <p:nvSpPr>
          <p:cNvPr id="58" name="Shape 18">
            <a:extLst>
              <a:ext uri="{FF2B5EF4-FFF2-40B4-BE49-F238E27FC236}">
                <a16:creationId xmlns:a16="http://schemas.microsoft.com/office/drawing/2014/main" id="{5F976E27-1C09-25DE-2664-7D927081F231}"/>
              </a:ext>
            </a:extLst>
          </p:cNvPr>
          <p:cNvSpPr/>
          <p:nvPr/>
        </p:nvSpPr>
        <p:spPr>
          <a:xfrm>
            <a:off x="5635860" y="5251006"/>
            <a:ext cx="1763486" cy="466492"/>
          </a:xfrm>
          <a:prstGeom prst="rect">
            <a:avLst/>
          </a:prstGeom>
          <a:solidFill>
            <a:srgbClr val="F2F2F2"/>
          </a:solidFill>
          <a:ln w="12700">
            <a:solidFill>
              <a:srgbClr val="CCCCCC"/>
            </a:solidFill>
            <a:prstDash val="solid"/>
          </a:ln>
        </p:spPr>
        <p:txBody>
          <a:bodyPr/>
          <a:ls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pPr>
              <a:lnSpc>
                <a:spcPct val="135000"/>
              </a:lnSpc>
            </a:pPr>
            <a:r>
              <a:rPr lang="ja-JP" altLang="en-US" sz="800" dirty="0">
                <a:solidFill>
                  <a:schemeClr val="bg1">
                    <a:lumMod val="65000"/>
                  </a:schemeClr>
                </a:solidFill>
                <a:latin typeface="メイリオ" panose="020B0604030504040204" pitchFamily="50" charset="-128"/>
                <a:ea typeface="メイリオ" panose="020B0604030504040204" pitchFamily="50" charset="-128"/>
                <a:cs typeface="Calibri" pitchFamily="34" charset="-120"/>
              </a:rPr>
              <a:t>セグメント別ナーチャリング</a:t>
            </a:r>
          </a:p>
          <a:p>
            <a:pPr>
              <a:lnSpc>
                <a:spcPct val="135000"/>
              </a:lnSpc>
            </a:pPr>
            <a:r>
              <a:rPr lang="ja-JP" altLang="en-US" sz="800" dirty="0">
                <a:solidFill>
                  <a:schemeClr val="bg1">
                    <a:lumMod val="65000"/>
                  </a:schemeClr>
                </a:solidFill>
                <a:latin typeface="メイリオ" panose="020B0604030504040204" pitchFamily="50" charset="-128"/>
                <a:ea typeface="メイリオ" panose="020B0604030504040204" pitchFamily="50" charset="-128"/>
                <a:cs typeface="Calibri" pitchFamily="34" charset="-120"/>
              </a:rPr>
              <a:t>季節・タイミング別企画配信</a:t>
            </a:r>
          </a:p>
        </p:txBody>
      </p:sp>
      <p:cxnSp>
        <p:nvCxnSpPr>
          <p:cNvPr id="59" name="直線矢印コネクタ 58">
            <a:extLst>
              <a:ext uri="{FF2B5EF4-FFF2-40B4-BE49-F238E27FC236}">
                <a16:creationId xmlns:a16="http://schemas.microsoft.com/office/drawing/2014/main" id="{82C1A774-7713-D5A5-03F8-DCE7AD58DB1B}"/>
              </a:ext>
            </a:extLst>
          </p:cNvPr>
          <p:cNvCxnSpPr>
            <a:cxnSpLocks/>
            <a:stCxn id="57" idx="3"/>
            <a:endCxn id="58" idx="1"/>
          </p:cNvCxnSpPr>
          <p:nvPr/>
        </p:nvCxnSpPr>
        <p:spPr>
          <a:xfrm>
            <a:off x="5350219" y="5484252"/>
            <a:ext cx="285641" cy="0"/>
          </a:xfrm>
          <a:prstGeom prst="straightConnector1">
            <a:avLst/>
          </a:prstGeom>
          <a:ln>
            <a:solidFill>
              <a:schemeClr val="tx1"/>
            </a:solidFill>
            <a:prstDash val="sysDot"/>
            <a:tailEnd type="triangle"/>
          </a:ln>
        </p:spPr>
        <p:style>
          <a:lnRef idx="1">
            <a:schemeClr val="accent1"/>
          </a:lnRef>
          <a:fillRef idx="0">
            <a:schemeClr val="accent1"/>
          </a:fillRef>
          <a:effectRef idx="0">
            <a:schemeClr val="accent1"/>
          </a:effectRef>
          <a:fontRef idx="minor">
            <a:schemeClr val="tx1"/>
          </a:fontRef>
        </p:style>
      </p:cxnSp>
      <p:sp>
        <p:nvSpPr>
          <p:cNvPr id="60" name="Shape 17">
            <a:extLst>
              <a:ext uri="{FF2B5EF4-FFF2-40B4-BE49-F238E27FC236}">
                <a16:creationId xmlns:a16="http://schemas.microsoft.com/office/drawing/2014/main" id="{CC857E24-C3F9-53FF-5D44-B2CE0DE30602}"/>
              </a:ext>
            </a:extLst>
          </p:cNvPr>
          <p:cNvSpPr/>
          <p:nvPr/>
        </p:nvSpPr>
        <p:spPr>
          <a:xfrm>
            <a:off x="3586732" y="5859395"/>
            <a:ext cx="1763487" cy="466492"/>
          </a:xfrm>
          <a:prstGeom prst="rect">
            <a:avLst/>
          </a:prstGeom>
          <a:solidFill>
            <a:srgbClr val="F2F2F2"/>
          </a:solidFill>
          <a:ln w="12700">
            <a:solidFill>
              <a:srgbClr val="CCCCCC"/>
            </a:solidFill>
            <a:prstDash val="solid"/>
          </a:ln>
        </p:spPr>
        <p:txBody>
          <a:bodyPr/>
          <a:ls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pPr>
              <a:lnSpc>
                <a:spcPct val="135000"/>
              </a:lnSpc>
            </a:pPr>
            <a:r>
              <a:rPr lang="en-US" altLang="ja-JP" sz="800" dirty="0">
                <a:solidFill>
                  <a:schemeClr val="bg1">
                    <a:lumMod val="65000"/>
                  </a:schemeClr>
                </a:solidFill>
                <a:latin typeface="メイリオ" panose="020B0604030504040204" pitchFamily="50" charset="-128"/>
                <a:ea typeface="メイリオ" panose="020B0604030504040204" pitchFamily="50" charset="-128"/>
                <a:cs typeface="Calibri" pitchFamily="34" charset="-120"/>
              </a:rPr>
              <a:t>LINE</a:t>
            </a:r>
            <a:r>
              <a:rPr lang="ja-JP" altLang="en-US" sz="800" dirty="0">
                <a:solidFill>
                  <a:schemeClr val="bg1">
                    <a:lumMod val="65000"/>
                  </a:schemeClr>
                </a:solidFill>
                <a:latin typeface="メイリオ" panose="020B0604030504040204" pitchFamily="50" charset="-128"/>
                <a:ea typeface="メイリオ" panose="020B0604030504040204" pitchFamily="50" charset="-128"/>
                <a:cs typeface="Calibri" pitchFamily="34" charset="-120"/>
              </a:rPr>
              <a:t>移行キャンペーン</a:t>
            </a:r>
          </a:p>
          <a:p>
            <a:pPr>
              <a:lnSpc>
                <a:spcPct val="135000"/>
              </a:lnSpc>
            </a:pPr>
            <a:r>
              <a:rPr lang="ja-JP" altLang="en-US" sz="800" dirty="0">
                <a:solidFill>
                  <a:schemeClr val="bg1">
                    <a:lumMod val="65000"/>
                  </a:schemeClr>
                </a:solidFill>
                <a:latin typeface="メイリオ" panose="020B0604030504040204" pitchFamily="50" charset="-128"/>
                <a:ea typeface="メイリオ" panose="020B0604030504040204" pitchFamily="50" charset="-128"/>
                <a:cs typeface="Calibri" pitchFamily="34" charset="-120"/>
              </a:rPr>
              <a:t>（特典訴求で友だち追加促進）</a:t>
            </a:r>
          </a:p>
        </p:txBody>
      </p:sp>
      <p:sp>
        <p:nvSpPr>
          <p:cNvPr id="61" name="Shape 18">
            <a:extLst>
              <a:ext uri="{FF2B5EF4-FFF2-40B4-BE49-F238E27FC236}">
                <a16:creationId xmlns:a16="http://schemas.microsoft.com/office/drawing/2014/main" id="{496CBE75-90FF-44E1-05AA-F85C409960A4}"/>
              </a:ext>
            </a:extLst>
          </p:cNvPr>
          <p:cNvSpPr/>
          <p:nvPr/>
        </p:nvSpPr>
        <p:spPr>
          <a:xfrm>
            <a:off x="5635860" y="5859395"/>
            <a:ext cx="1763486" cy="466492"/>
          </a:xfrm>
          <a:prstGeom prst="rect">
            <a:avLst/>
          </a:prstGeom>
          <a:solidFill>
            <a:srgbClr val="F2F2F2"/>
          </a:solidFill>
          <a:ln w="12700">
            <a:solidFill>
              <a:srgbClr val="CCCCCC"/>
            </a:solidFill>
            <a:prstDash val="solid"/>
          </a:ln>
        </p:spPr>
        <p:txBody>
          <a:bodyPr/>
          <a:ls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pPr>
              <a:lnSpc>
                <a:spcPct val="135000"/>
              </a:lnSpc>
            </a:pPr>
            <a:r>
              <a:rPr lang="en-US" altLang="ja-JP" sz="800" dirty="0">
                <a:solidFill>
                  <a:schemeClr val="bg1">
                    <a:lumMod val="65000"/>
                  </a:schemeClr>
                </a:solidFill>
                <a:latin typeface="メイリオ" panose="020B0604030504040204" pitchFamily="50" charset="-128"/>
                <a:ea typeface="メイリオ" panose="020B0604030504040204" pitchFamily="50" charset="-128"/>
                <a:cs typeface="Calibri" pitchFamily="34" charset="-120"/>
              </a:rPr>
              <a:t>LINE</a:t>
            </a:r>
            <a:r>
              <a:rPr lang="ja-JP" altLang="en-US" sz="800" dirty="0">
                <a:solidFill>
                  <a:schemeClr val="bg1">
                    <a:lumMod val="65000"/>
                  </a:schemeClr>
                </a:solidFill>
                <a:latin typeface="メイリオ" panose="020B0604030504040204" pitchFamily="50" charset="-128"/>
                <a:ea typeface="メイリオ" panose="020B0604030504040204" pitchFamily="50" charset="-128"/>
                <a:cs typeface="Calibri" pitchFamily="34" charset="-120"/>
              </a:rPr>
              <a:t>でリピート率向上</a:t>
            </a:r>
          </a:p>
          <a:p>
            <a:pPr>
              <a:lnSpc>
                <a:spcPct val="135000"/>
              </a:lnSpc>
            </a:pPr>
            <a:r>
              <a:rPr lang="ja-JP" altLang="en-US" sz="800" dirty="0">
                <a:solidFill>
                  <a:schemeClr val="bg1">
                    <a:lumMod val="65000"/>
                  </a:schemeClr>
                </a:solidFill>
                <a:latin typeface="メイリオ" panose="020B0604030504040204" pitchFamily="50" charset="-128"/>
                <a:ea typeface="メイリオ" panose="020B0604030504040204" pitchFamily="50" charset="-128"/>
                <a:cs typeface="Calibri" pitchFamily="34" charset="-120"/>
              </a:rPr>
              <a:t>紹介キャンペーン・</a:t>
            </a:r>
            <a:r>
              <a:rPr lang="en-US" altLang="ja-JP" sz="800" dirty="0">
                <a:solidFill>
                  <a:schemeClr val="bg1">
                    <a:lumMod val="65000"/>
                  </a:schemeClr>
                </a:solidFill>
                <a:latin typeface="メイリオ" panose="020B0604030504040204" pitchFamily="50" charset="-128"/>
                <a:ea typeface="メイリオ" panose="020B0604030504040204" pitchFamily="50" charset="-128"/>
                <a:cs typeface="Calibri" pitchFamily="34" charset="-120"/>
              </a:rPr>
              <a:t>LTV</a:t>
            </a:r>
            <a:r>
              <a:rPr lang="ja-JP" altLang="en-US" sz="800" dirty="0">
                <a:solidFill>
                  <a:schemeClr val="bg1">
                    <a:lumMod val="65000"/>
                  </a:schemeClr>
                </a:solidFill>
                <a:latin typeface="メイリオ" panose="020B0604030504040204" pitchFamily="50" charset="-128"/>
                <a:ea typeface="メイリオ" panose="020B0604030504040204" pitchFamily="50" charset="-128"/>
                <a:cs typeface="Calibri" pitchFamily="34" charset="-120"/>
              </a:rPr>
              <a:t>最大化</a:t>
            </a:r>
          </a:p>
        </p:txBody>
      </p:sp>
      <p:cxnSp>
        <p:nvCxnSpPr>
          <p:cNvPr id="62" name="直線矢印コネクタ 61">
            <a:extLst>
              <a:ext uri="{FF2B5EF4-FFF2-40B4-BE49-F238E27FC236}">
                <a16:creationId xmlns:a16="http://schemas.microsoft.com/office/drawing/2014/main" id="{D05BCA3B-7E23-AB71-18F0-5A49C04E309D}"/>
              </a:ext>
            </a:extLst>
          </p:cNvPr>
          <p:cNvCxnSpPr>
            <a:cxnSpLocks/>
            <a:stCxn id="60" idx="3"/>
            <a:endCxn id="61" idx="1"/>
          </p:cNvCxnSpPr>
          <p:nvPr/>
        </p:nvCxnSpPr>
        <p:spPr>
          <a:xfrm>
            <a:off x="5350219" y="6092641"/>
            <a:ext cx="285641" cy="0"/>
          </a:xfrm>
          <a:prstGeom prst="straightConnector1">
            <a:avLst/>
          </a:prstGeom>
          <a:ln>
            <a:solidFill>
              <a:schemeClr val="tx1"/>
            </a:solidFill>
            <a:prstDash val="sysDot"/>
            <a:tailEnd type="triangle"/>
          </a:ln>
        </p:spPr>
        <p:style>
          <a:lnRef idx="1">
            <a:schemeClr val="accent1"/>
          </a:lnRef>
          <a:fillRef idx="0">
            <a:schemeClr val="accent1"/>
          </a:fillRef>
          <a:effectRef idx="0">
            <a:schemeClr val="accent1"/>
          </a:effectRef>
          <a:fontRef idx="minor">
            <a:schemeClr val="tx1"/>
          </a:fontRef>
        </p:style>
      </p:cxnSp>
      <p:sp>
        <p:nvSpPr>
          <p:cNvPr id="64" name="テキスト ボックス 63">
            <a:extLst>
              <a:ext uri="{FF2B5EF4-FFF2-40B4-BE49-F238E27FC236}">
                <a16:creationId xmlns:a16="http://schemas.microsoft.com/office/drawing/2014/main" id="{82CD4DCC-2C80-6383-8368-FB0A87EC66CA}"/>
              </a:ext>
            </a:extLst>
          </p:cNvPr>
          <p:cNvSpPr txBox="1"/>
          <p:nvPr/>
        </p:nvSpPr>
        <p:spPr>
          <a:xfrm>
            <a:off x="554370" y="735535"/>
            <a:ext cx="8797260" cy="523220"/>
          </a:xfrm>
          <a:prstGeom prst="rect">
            <a:avLst/>
          </a:prstGeom>
          <a:noFill/>
        </p:spPr>
        <p:txBody>
          <a:bodyPr wrap="square">
            <a:spAutoFit/>
          </a:bodyPr>
          <a:lstStyle/>
          <a:p>
            <a:pPr algn="ctr"/>
            <a:r>
              <a:rPr lang="ja-JP" altLang="en-US" sz="1400" b="1" dirty="0">
                <a:solidFill>
                  <a:schemeClr val="tx1">
                    <a:lumMod val="50000"/>
                    <a:lumOff val="50000"/>
                  </a:schemeClr>
                </a:solidFill>
                <a:latin typeface="Meiryo" panose="020B0604030504040204" pitchFamily="34" charset="-128"/>
                <a:ea typeface="Meiryo" panose="020B0604030504040204" pitchFamily="34" charset="-128"/>
              </a:rPr>
              <a:t>公式</a:t>
            </a:r>
            <a:r>
              <a:rPr lang="en-US" altLang="ja-JP" sz="1400" b="1" dirty="0">
                <a:solidFill>
                  <a:schemeClr val="tx1">
                    <a:lumMod val="50000"/>
                    <a:lumOff val="50000"/>
                  </a:schemeClr>
                </a:solidFill>
                <a:latin typeface="Meiryo" panose="020B0604030504040204" pitchFamily="34" charset="-128"/>
                <a:ea typeface="Meiryo" panose="020B0604030504040204" pitchFamily="34" charset="-128"/>
              </a:rPr>
              <a:t>LINE</a:t>
            </a:r>
            <a:r>
              <a:rPr lang="ja-JP" altLang="en-US" sz="1400" b="1" dirty="0">
                <a:solidFill>
                  <a:schemeClr val="tx1">
                    <a:lumMod val="50000"/>
                    <a:lumOff val="50000"/>
                  </a:schemeClr>
                </a:solidFill>
                <a:latin typeface="Meiryo" panose="020B0604030504040204" pitchFamily="34" charset="-128"/>
                <a:ea typeface="Meiryo" panose="020B0604030504040204" pitchFamily="34" charset="-128"/>
              </a:rPr>
              <a:t>の友だち追加ユーザーが成果地点（</a:t>
            </a:r>
            <a:r>
              <a:rPr lang="en-US" altLang="ja-JP" sz="1400" b="1" dirty="0">
                <a:solidFill>
                  <a:schemeClr val="tx1">
                    <a:lumMod val="50000"/>
                    <a:lumOff val="50000"/>
                  </a:schemeClr>
                </a:solidFill>
                <a:latin typeface="Meiryo" panose="020B0604030504040204" pitchFamily="34" charset="-128"/>
                <a:ea typeface="Meiryo" panose="020B0604030504040204" pitchFamily="34" charset="-128"/>
              </a:rPr>
              <a:t>CV</a:t>
            </a:r>
            <a:r>
              <a:rPr lang="ja-JP" altLang="en-US" sz="1400" b="1" dirty="0">
                <a:solidFill>
                  <a:schemeClr val="tx1">
                    <a:lumMod val="50000"/>
                    <a:lumOff val="50000"/>
                  </a:schemeClr>
                </a:solidFill>
                <a:latin typeface="Meiryo" panose="020B0604030504040204" pitchFamily="34" charset="-128"/>
                <a:ea typeface="Meiryo" panose="020B0604030504040204" pitchFamily="34" charset="-128"/>
              </a:rPr>
              <a:t>）</a:t>
            </a:r>
            <a:r>
              <a:rPr lang="ja-JP" altLang="en-US" sz="800" b="1" dirty="0">
                <a:solidFill>
                  <a:srgbClr val="FF0000"/>
                </a:solidFill>
                <a:latin typeface="Meiryo" panose="020B0604030504040204" pitchFamily="34" charset="-128"/>
                <a:ea typeface="Meiryo" panose="020B0604030504040204" pitchFamily="34" charset="-128"/>
              </a:rPr>
              <a:t> </a:t>
            </a:r>
            <a:r>
              <a:rPr lang="en-US" altLang="ja-JP" sz="800" b="1" dirty="0">
                <a:solidFill>
                  <a:srgbClr val="FF0000"/>
                </a:solidFill>
                <a:latin typeface="Meiryo" panose="020B0604030504040204" pitchFamily="34" charset="-128"/>
                <a:ea typeface="Meiryo" panose="020B0604030504040204" pitchFamily="34" charset="-128"/>
              </a:rPr>
              <a:t>※</a:t>
            </a:r>
            <a:r>
              <a:rPr lang="ja-JP" altLang="en-US" sz="800" b="1" dirty="0">
                <a:solidFill>
                  <a:srgbClr val="FF0000"/>
                </a:solidFill>
                <a:latin typeface="Meiryo" panose="020B0604030504040204" pitchFamily="34" charset="-128"/>
                <a:ea typeface="Meiryo" panose="020B0604030504040204" pitchFamily="34" charset="-128"/>
              </a:rPr>
              <a:t>業界業態・地点により変動   </a:t>
            </a:r>
            <a:r>
              <a:rPr lang="ja-JP" altLang="en-US" sz="1400" b="1" dirty="0">
                <a:solidFill>
                  <a:schemeClr val="tx1">
                    <a:lumMod val="50000"/>
                    <a:lumOff val="50000"/>
                  </a:schemeClr>
                </a:solidFill>
                <a:latin typeface="Meiryo" panose="020B0604030504040204" pitchFamily="34" charset="-128"/>
                <a:ea typeface="Meiryo" panose="020B0604030504040204" pitchFamily="34" charset="-128"/>
              </a:rPr>
              <a:t>に到達する割合は</a:t>
            </a:r>
            <a:endParaRPr lang="en-US" altLang="ja-JP" sz="1400" b="1" dirty="0">
              <a:solidFill>
                <a:schemeClr val="tx1">
                  <a:lumMod val="50000"/>
                  <a:lumOff val="50000"/>
                </a:schemeClr>
              </a:solidFill>
              <a:latin typeface="Meiryo" panose="020B0604030504040204" pitchFamily="34" charset="-128"/>
              <a:ea typeface="Meiryo" panose="020B0604030504040204" pitchFamily="34" charset="-128"/>
            </a:endParaRPr>
          </a:p>
          <a:p>
            <a:pPr algn="ctr"/>
            <a:r>
              <a:rPr lang="ja-JP" altLang="en-US" sz="1400" b="1" dirty="0">
                <a:solidFill>
                  <a:schemeClr val="tx1">
                    <a:lumMod val="50000"/>
                    <a:lumOff val="50000"/>
                  </a:schemeClr>
                </a:solidFill>
                <a:latin typeface="Meiryo" panose="020B0604030504040204" pitchFamily="34" charset="-128"/>
                <a:ea typeface="Meiryo" panose="020B0604030504040204" pitchFamily="34" charset="-128"/>
              </a:rPr>
              <a:t>通算で３</a:t>
            </a:r>
            <a:r>
              <a:rPr lang="en-US" altLang="ja-JP" sz="1400" b="1" dirty="0">
                <a:solidFill>
                  <a:schemeClr val="tx1">
                    <a:lumMod val="50000"/>
                    <a:lumOff val="50000"/>
                  </a:schemeClr>
                </a:solidFill>
                <a:latin typeface="Meiryo" panose="020B0604030504040204" pitchFamily="34" charset="-128"/>
                <a:ea typeface="Meiryo" panose="020B0604030504040204" pitchFamily="34" charset="-128"/>
              </a:rPr>
              <a:t>%</a:t>
            </a:r>
            <a:r>
              <a:rPr lang="ja-JP" altLang="en-US" sz="1400" b="1" dirty="0">
                <a:solidFill>
                  <a:schemeClr val="tx1">
                    <a:lumMod val="50000"/>
                    <a:lumOff val="50000"/>
                  </a:schemeClr>
                </a:solidFill>
                <a:latin typeface="Meiryo" panose="020B0604030504040204" pitchFamily="34" charset="-128"/>
                <a:ea typeface="Meiryo" panose="020B0604030504040204" pitchFamily="34" charset="-128"/>
              </a:rPr>
              <a:t>前後と言われており、</a:t>
            </a:r>
            <a:r>
              <a:rPr lang="en-US" altLang="ja-JP" sz="1400" b="1" dirty="0">
                <a:solidFill>
                  <a:schemeClr val="tx1">
                    <a:lumMod val="50000"/>
                    <a:lumOff val="50000"/>
                  </a:schemeClr>
                </a:solidFill>
                <a:latin typeface="Meiryo" panose="020B0604030504040204" pitchFamily="34" charset="-128"/>
                <a:ea typeface="Meiryo" panose="020B0604030504040204" pitchFamily="34" charset="-128"/>
              </a:rPr>
              <a:t>LINE</a:t>
            </a:r>
            <a:r>
              <a:rPr lang="ja-JP" altLang="en-US" sz="1400" b="1" dirty="0">
                <a:solidFill>
                  <a:schemeClr val="tx1">
                    <a:lumMod val="50000"/>
                    <a:lumOff val="50000"/>
                  </a:schemeClr>
                </a:solidFill>
                <a:latin typeface="Meiryo" panose="020B0604030504040204" pitchFamily="34" charset="-128"/>
                <a:ea typeface="Meiryo" panose="020B0604030504040204" pitchFamily="34" charset="-128"/>
              </a:rPr>
              <a:t>動線を最適化することはマーケティングにおける重要度が高い。</a:t>
            </a:r>
            <a:endParaRPr lang="en-US" altLang="ja-JP" sz="1400" b="1" dirty="0">
              <a:solidFill>
                <a:srgbClr val="FF0000"/>
              </a:solidFill>
              <a:latin typeface="Meiryo" panose="020B0604030504040204" pitchFamily="34" charset="-128"/>
              <a:ea typeface="Meiryo" panose="020B0604030504040204" pitchFamily="34" charset="-128"/>
            </a:endParaRPr>
          </a:p>
        </p:txBody>
      </p:sp>
    </p:spTree>
    <p:extLst>
      <p:ext uri="{BB962C8B-B14F-4D97-AF65-F5344CB8AC3E}">
        <p14:creationId xmlns:p14="http://schemas.microsoft.com/office/powerpoint/2010/main" val="3651825109"/>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5082CEA-3068-C260-29FA-52D10FA7F467}"/>
            </a:ext>
          </a:extLst>
        </p:cNvPr>
        <p:cNvGrpSpPr/>
        <p:nvPr/>
      </p:nvGrpSpPr>
      <p:grpSpPr>
        <a:xfrm>
          <a:off x="0" y="0"/>
          <a:ext cx="0" cy="0"/>
          <a:chOff x="0" y="0"/>
          <a:chExt cx="0" cy="0"/>
        </a:xfrm>
      </p:grpSpPr>
      <p:sp>
        <p:nvSpPr>
          <p:cNvPr id="3" name="正方形/長方形 2">
            <a:extLst>
              <a:ext uri="{FF2B5EF4-FFF2-40B4-BE49-F238E27FC236}">
                <a16:creationId xmlns:a16="http://schemas.microsoft.com/office/drawing/2014/main" id="{E11A65C8-17C8-D684-CB75-56D55121F866}"/>
              </a:ext>
            </a:extLst>
          </p:cNvPr>
          <p:cNvSpPr/>
          <p:nvPr/>
        </p:nvSpPr>
        <p:spPr>
          <a:xfrm>
            <a:off x="0" y="577940"/>
            <a:ext cx="9906000" cy="812735"/>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kumimoji="1" lang="ja-JP" altLang="en-US">
              <a:latin typeface="メイリオ" panose="020B0604030504040204" pitchFamily="50" charset="-128"/>
              <a:ea typeface="メイリオ" panose="020B0604030504040204" pitchFamily="50" charset="-128"/>
            </a:endParaRPr>
          </a:p>
        </p:txBody>
      </p:sp>
      <p:sp>
        <p:nvSpPr>
          <p:cNvPr id="4" name="正方形/長方形 3">
            <a:extLst>
              <a:ext uri="{FF2B5EF4-FFF2-40B4-BE49-F238E27FC236}">
                <a16:creationId xmlns:a16="http://schemas.microsoft.com/office/drawing/2014/main" id="{52E0E886-3FF7-1177-80B0-EC2CDD9EFAAC}"/>
              </a:ext>
            </a:extLst>
          </p:cNvPr>
          <p:cNvSpPr/>
          <p:nvPr/>
        </p:nvSpPr>
        <p:spPr>
          <a:xfrm>
            <a:off x="379976" y="635062"/>
            <a:ext cx="9160881" cy="698492"/>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tIns="90000" anchor="ctr"/>
          <a:lstStyle/>
          <a:p>
            <a:pPr algn="ctr">
              <a:lnSpc>
                <a:spcPts val="2455"/>
              </a:lnSpc>
            </a:pPr>
            <a:endParaRPr lang="en-US" altLang="ja-JP" sz="1400" dirty="0">
              <a:solidFill>
                <a:srgbClr val="343434"/>
              </a:solidFill>
              <a:latin typeface="メイリオ" panose="020B0604030504040204" pitchFamily="50" charset="-128"/>
              <a:ea typeface="メイリオ" panose="020B0604030504040204" pitchFamily="50" charset="-128"/>
            </a:endParaRPr>
          </a:p>
        </p:txBody>
      </p:sp>
      <p:sp>
        <p:nvSpPr>
          <p:cNvPr id="45" name="Google Shape;156;p7">
            <a:extLst>
              <a:ext uri="{FF2B5EF4-FFF2-40B4-BE49-F238E27FC236}">
                <a16:creationId xmlns:a16="http://schemas.microsoft.com/office/drawing/2014/main" id="{8B2265A6-2819-27E8-AA87-ACBFF2D49AD0}"/>
              </a:ext>
            </a:extLst>
          </p:cNvPr>
          <p:cNvSpPr txBox="1"/>
          <p:nvPr/>
        </p:nvSpPr>
        <p:spPr>
          <a:xfrm>
            <a:off x="548883" y="138118"/>
            <a:ext cx="6514857" cy="338554"/>
          </a:xfrm>
          <a:prstGeom prst="rect">
            <a:avLst/>
          </a:prstGeom>
          <a:noFill/>
          <a:ln w="19050">
            <a:noFill/>
          </a:ln>
        </p:spPr>
        <p:txBody>
          <a:bodyPr spcFirstLastPara="1" wrap="square" lIns="91425" tIns="45700" rIns="91425" bIns="45700" anchor="ctr" anchorCtr="0">
            <a:spAutoFit/>
          </a:bodyPr>
          <a:lstStyle/>
          <a:p>
            <a:pPr marL="0" marR="0" lvl="0" indent="0" algn="l" rtl="0">
              <a:spcBef>
                <a:spcPts val="0"/>
              </a:spcBef>
              <a:spcAft>
                <a:spcPts val="0"/>
              </a:spcAft>
              <a:buClr>
                <a:srgbClr val="002060"/>
              </a:buClr>
              <a:buSzPts val="1600"/>
              <a:buFont typeface="Arial"/>
              <a:buNone/>
            </a:pPr>
            <a:r>
              <a:rPr lang="ja-JP" altLang="en-US" sz="1600" b="1" dirty="0">
                <a:solidFill>
                  <a:srgbClr val="002060"/>
                </a:solidFill>
                <a:latin typeface="Meiryo"/>
                <a:ea typeface="Meiryo"/>
                <a:cs typeface="Meiryo"/>
                <a:sym typeface="Meiryo"/>
              </a:rPr>
              <a:t>要件定義</a:t>
            </a:r>
            <a:endParaRPr sz="1600" b="1" dirty="0">
              <a:solidFill>
                <a:srgbClr val="002060"/>
              </a:solidFill>
              <a:latin typeface="Meiryo"/>
              <a:ea typeface="Meiryo"/>
              <a:cs typeface="Meiryo"/>
              <a:sym typeface="Meiryo"/>
            </a:endParaRPr>
          </a:p>
        </p:txBody>
      </p:sp>
      <p:sp>
        <p:nvSpPr>
          <p:cNvPr id="25" name="二等辺三角形 24">
            <a:extLst>
              <a:ext uri="{FF2B5EF4-FFF2-40B4-BE49-F238E27FC236}">
                <a16:creationId xmlns:a16="http://schemas.microsoft.com/office/drawing/2014/main" id="{3FDFECE2-9923-BB50-13D2-3D4A9E65C558}"/>
              </a:ext>
            </a:extLst>
          </p:cNvPr>
          <p:cNvSpPr/>
          <p:nvPr/>
        </p:nvSpPr>
        <p:spPr>
          <a:xfrm rot="10800000">
            <a:off x="1013700" y="3167381"/>
            <a:ext cx="7965031" cy="486852"/>
          </a:xfrm>
          <a:prstGeom prst="triangle">
            <a:avLst>
              <a:gd name="adj" fmla="val 49365"/>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endParaRPr kumimoji="1" lang="ja-JP" altLang="en-US" dirty="0">
              <a:latin typeface="メイリオ" panose="020B0604030504040204" pitchFamily="50" charset="-128"/>
              <a:ea typeface="メイリオ" panose="020B0604030504040204" pitchFamily="50" charset="-128"/>
            </a:endParaRPr>
          </a:p>
        </p:txBody>
      </p:sp>
      <p:sp>
        <p:nvSpPr>
          <p:cNvPr id="26" name="正方形/長方形 25">
            <a:extLst>
              <a:ext uri="{FF2B5EF4-FFF2-40B4-BE49-F238E27FC236}">
                <a16:creationId xmlns:a16="http://schemas.microsoft.com/office/drawing/2014/main" id="{C4E20CB5-EE4A-545E-031C-B0FF76AEE517}"/>
              </a:ext>
            </a:extLst>
          </p:cNvPr>
          <p:cNvSpPr/>
          <p:nvPr/>
        </p:nvSpPr>
        <p:spPr>
          <a:xfrm>
            <a:off x="503966" y="775227"/>
            <a:ext cx="8898070" cy="297590"/>
          </a:xfrm>
          <a:prstGeom prst="rect">
            <a:avLst/>
          </a:prstGeom>
          <a:solidFill>
            <a:schemeClr val="tx2">
              <a:lumMod val="75000"/>
            </a:schemeClr>
          </a:solidFill>
          <a:ln>
            <a:solidFill>
              <a:schemeClr val="tx2">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tIns="90000"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indent="173038"/>
            <a:r>
              <a:rPr lang="ja-JP" altLang="en-US" b="1" dirty="0">
                <a:effectLst/>
                <a:latin typeface="メイリオ" panose="020B0604030504040204" pitchFamily="50" charset="-128"/>
                <a:ea typeface="メイリオ" panose="020B0604030504040204" pitchFamily="50" charset="-128"/>
                <a:cs typeface="メイリオ" panose="020B0604030504040204" pitchFamily="50" charset="-128"/>
              </a:rPr>
              <a:t>プロモーション目的</a:t>
            </a:r>
          </a:p>
        </p:txBody>
      </p:sp>
      <p:sp>
        <p:nvSpPr>
          <p:cNvPr id="27" name="正方形/長方形 26">
            <a:extLst>
              <a:ext uri="{FF2B5EF4-FFF2-40B4-BE49-F238E27FC236}">
                <a16:creationId xmlns:a16="http://schemas.microsoft.com/office/drawing/2014/main" id="{A773DE68-F51A-B2B7-A85F-DDEF158DE1E8}"/>
              </a:ext>
            </a:extLst>
          </p:cNvPr>
          <p:cNvSpPr/>
          <p:nvPr/>
        </p:nvSpPr>
        <p:spPr>
          <a:xfrm>
            <a:off x="503967" y="1090870"/>
            <a:ext cx="8898070" cy="525365"/>
          </a:xfrm>
          <a:prstGeom prst="rect">
            <a:avLst/>
          </a:prstGeom>
          <a:noFill/>
          <a:ln>
            <a:solidFill>
              <a:schemeClr val="tx2">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r>
              <a:rPr lang="en-US" altLang="ja-JP" sz="2400" b="1" dirty="0">
                <a:solidFill>
                  <a:srgbClr val="FF3300"/>
                </a:solidFill>
                <a:latin typeface="メイリオ" panose="020B0604030504040204" pitchFamily="50" charset="-128"/>
                <a:ea typeface="メイリオ" panose="020B0604030504040204" pitchFamily="50" charset="-128"/>
                <a:cs typeface="メイリオ" panose="020B0604030504040204" pitchFamily="50" charset="-128"/>
              </a:rPr>
              <a:t>LINE</a:t>
            </a:r>
            <a:r>
              <a:rPr lang="ja-JP" altLang="en-US" sz="2400" b="1" dirty="0">
                <a:solidFill>
                  <a:srgbClr val="FF3300"/>
                </a:solidFill>
                <a:latin typeface="メイリオ" panose="020B0604030504040204" pitchFamily="50" charset="-128"/>
                <a:ea typeface="メイリオ" panose="020B0604030504040204" pitchFamily="50" charset="-128"/>
                <a:cs typeface="メイリオ" panose="020B0604030504040204" pitchFamily="50" charset="-128"/>
              </a:rPr>
              <a:t>の初期構築と効果の最大化</a:t>
            </a:r>
            <a:endParaRPr lang="en-US" altLang="ja-JP" sz="2400" b="1" dirty="0">
              <a:solidFill>
                <a:srgbClr val="FF3300"/>
              </a:solidFill>
              <a:latin typeface="メイリオ" panose="020B0604030504040204" pitchFamily="50" charset="-128"/>
              <a:ea typeface="メイリオ" panose="020B0604030504040204" pitchFamily="50" charset="-128"/>
              <a:cs typeface="メイリオ" panose="020B0604030504040204" pitchFamily="50" charset="-128"/>
            </a:endParaRPr>
          </a:p>
        </p:txBody>
      </p:sp>
      <p:sp>
        <p:nvSpPr>
          <p:cNvPr id="28" name="テキスト ボックス 4">
            <a:extLst>
              <a:ext uri="{FF2B5EF4-FFF2-40B4-BE49-F238E27FC236}">
                <a16:creationId xmlns:a16="http://schemas.microsoft.com/office/drawing/2014/main" id="{D82D8E99-CD5B-56FF-33CE-071E3712BDD6}"/>
              </a:ext>
            </a:extLst>
          </p:cNvPr>
          <p:cNvSpPr txBox="1"/>
          <p:nvPr/>
        </p:nvSpPr>
        <p:spPr>
          <a:xfrm>
            <a:off x="3893204" y="3204084"/>
            <a:ext cx="2236946" cy="369332"/>
          </a:xfrm>
          <a:prstGeom prst="rect">
            <a:avLst/>
          </a:prstGeom>
          <a:noFill/>
        </p:spPr>
        <p:txBody>
          <a:bodyPr wrap="square" rtlCol="0">
            <a:spAutoFit/>
          </a:bodyPr>
          <a:ls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pPr algn="ctr"/>
            <a:r>
              <a:rPr lang="ja-JP" altLang="en-US" b="1" dirty="0">
                <a:solidFill>
                  <a:schemeClr val="bg1"/>
                </a:solidFill>
                <a:latin typeface="メイリオ" panose="020B0604030504040204" pitchFamily="50" charset="-128"/>
                <a:ea typeface="メイリオ" panose="020B0604030504040204" pitchFamily="50" charset="-128"/>
                <a:cs typeface="メイリオ" panose="020B0604030504040204" pitchFamily="50" charset="-128"/>
              </a:rPr>
              <a:t>弊社からのご提案</a:t>
            </a:r>
            <a:endParaRPr kumimoji="1" lang="ja-JP" altLang="en-US" b="1" dirty="0">
              <a:solidFill>
                <a:schemeClr val="bg1"/>
              </a:solidFill>
              <a:latin typeface="メイリオ" panose="020B0604030504040204" pitchFamily="50" charset="-128"/>
              <a:ea typeface="メイリオ" panose="020B0604030504040204" pitchFamily="50" charset="-128"/>
              <a:cs typeface="メイリオ" panose="020B0604030504040204" pitchFamily="50" charset="-128"/>
            </a:endParaRPr>
          </a:p>
        </p:txBody>
      </p:sp>
      <p:sp>
        <p:nvSpPr>
          <p:cNvPr id="30" name="正方形/長方形 29">
            <a:extLst>
              <a:ext uri="{FF2B5EF4-FFF2-40B4-BE49-F238E27FC236}">
                <a16:creationId xmlns:a16="http://schemas.microsoft.com/office/drawing/2014/main" id="{FAB8E792-C2AE-2097-2C3E-326F4730D6FF}"/>
              </a:ext>
            </a:extLst>
          </p:cNvPr>
          <p:cNvSpPr/>
          <p:nvPr/>
        </p:nvSpPr>
        <p:spPr>
          <a:xfrm>
            <a:off x="503965" y="3759311"/>
            <a:ext cx="8898070" cy="366112"/>
          </a:xfrm>
          <a:prstGeom prst="rect">
            <a:avLst/>
          </a:prstGeom>
          <a:solidFill>
            <a:schemeClr val="accent1">
              <a:lumMod val="20000"/>
              <a:lumOff val="80000"/>
            </a:schemeClr>
          </a:solidFill>
          <a:ln>
            <a:solidFill>
              <a:schemeClr val="accent1">
                <a:lumMod val="60000"/>
                <a:lumOff val="40000"/>
              </a:schemeClr>
            </a:solidFill>
          </a:ln>
          <a:effectLst/>
        </p:spPr>
        <p:style>
          <a:lnRef idx="2">
            <a:schemeClr val="accent1">
              <a:shade val="50000"/>
            </a:schemeClr>
          </a:lnRef>
          <a:fillRef idx="1">
            <a:schemeClr val="accent1"/>
          </a:fillRef>
          <a:effectRef idx="0">
            <a:schemeClr val="accent1"/>
          </a:effectRef>
          <a:fontRef idx="minor">
            <a:schemeClr val="lt1"/>
          </a:fontRef>
        </p:style>
        <p:txBody>
          <a:bodyPr tIns="90000"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indent="173038"/>
            <a:r>
              <a:rPr lang="ja-JP" altLang="en-US" b="1" dirty="0">
                <a:solidFill>
                  <a:schemeClr val="accent1">
                    <a:lumMod val="75000"/>
                  </a:schemeClr>
                </a:solidFill>
                <a:effectLst/>
                <a:latin typeface="メイリオ" panose="020B0604030504040204" pitchFamily="50" charset="-128"/>
                <a:ea typeface="メイリオ" panose="020B0604030504040204" pitchFamily="50" charset="-128"/>
                <a:cs typeface="メイリオ" panose="020B0604030504040204" pitchFamily="50" charset="-128"/>
              </a:rPr>
              <a:t>手法</a:t>
            </a:r>
          </a:p>
        </p:txBody>
      </p:sp>
      <p:sp>
        <p:nvSpPr>
          <p:cNvPr id="32" name="正方形/長方形 31">
            <a:extLst>
              <a:ext uri="{FF2B5EF4-FFF2-40B4-BE49-F238E27FC236}">
                <a16:creationId xmlns:a16="http://schemas.microsoft.com/office/drawing/2014/main" id="{6CB99AAC-0BEA-E7FB-6909-1C7C68EDF323}"/>
              </a:ext>
            </a:extLst>
          </p:cNvPr>
          <p:cNvSpPr/>
          <p:nvPr/>
        </p:nvSpPr>
        <p:spPr>
          <a:xfrm>
            <a:off x="503965" y="4180114"/>
            <a:ext cx="8898070" cy="2285834"/>
          </a:xfrm>
          <a:prstGeom prst="rect">
            <a:avLst/>
          </a:prstGeom>
          <a:noFill/>
          <a:ln>
            <a:solidFill>
              <a:schemeClr val="accent1">
                <a:lumMod val="60000"/>
                <a:lumOff val="4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r>
              <a:rPr lang="ja-JP" altLang="en-US" sz="1700" b="1" dirty="0">
                <a:solidFill>
                  <a:schemeClr val="tx2">
                    <a:lumMod val="75000"/>
                  </a:schemeClr>
                </a:solidFill>
                <a:latin typeface="メイリオ" panose="020B0604030504040204" pitchFamily="50" charset="-128"/>
                <a:ea typeface="メイリオ" panose="020B0604030504040204" pitchFamily="50" charset="-128"/>
                <a:cs typeface="メイリオ" panose="020B0604030504040204" pitchFamily="50" charset="-128"/>
              </a:rPr>
              <a:t>　・豊富な弊社実績を活用した配信設計の構築</a:t>
            </a:r>
            <a:r>
              <a:rPr lang="en-US" altLang="ja-JP" sz="1700" b="1" dirty="0">
                <a:solidFill>
                  <a:schemeClr val="tx2">
                    <a:lumMod val="75000"/>
                  </a:schemeClr>
                </a:solidFill>
                <a:latin typeface="メイリオ" panose="020B0604030504040204" pitchFamily="50" charset="-128"/>
                <a:ea typeface="メイリオ" panose="020B0604030504040204" pitchFamily="50" charset="-128"/>
                <a:cs typeface="メイリオ" panose="020B0604030504040204" pitchFamily="50" charset="-128"/>
              </a:rPr>
              <a:t>【</a:t>
            </a:r>
            <a:r>
              <a:rPr lang="ja-JP" altLang="en-US" sz="1700" b="1" dirty="0">
                <a:solidFill>
                  <a:schemeClr val="tx2">
                    <a:lumMod val="75000"/>
                  </a:schemeClr>
                </a:solidFill>
                <a:latin typeface="メイリオ" panose="020B0604030504040204" pitchFamily="50" charset="-128"/>
                <a:ea typeface="メイリオ" panose="020B0604030504040204" pitchFamily="50" charset="-128"/>
                <a:cs typeface="メイリオ" panose="020B0604030504040204" pitchFamily="50" charset="-128"/>
              </a:rPr>
              <a:t>企画投稿</a:t>
            </a:r>
            <a:r>
              <a:rPr lang="en-US" altLang="ja-JP" sz="1700" b="1" dirty="0">
                <a:solidFill>
                  <a:schemeClr val="tx2">
                    <a:lumMod val="75000"/>
                  </a:schemeClr>
                </a:solidFill>
                <a:latin typeface="メイリオ" panose="020B0604030504040204" pitchFamily="50" charset="-128"/>
                <a:ea typeface="メイリオ" panose="020B0604030504040204" pitchFamily="50" charset="-128"/>
                <a:cs typeface="メイリオ" panose="020B0604030504040204" pitchFamily="50" charset="-128"/>
              </a:rPr>
              <a:t>】【</a:t>
            </a:r>
            <a:r>
              <a:rPr lang="ja-JP" altLang="en-US" sz="1700" b="1" dirty="0">
                <a:solidFill>
                  <a:schemeClr val="tx2">
                    <a:lumMod val="75000"/>
                  </a:schemeClr>
                </a:solidFill>
                <a:latin typeface="メイリオ" panose="020B0604030504040204" pitchFamily="50" charset="-128"/>
                <a:ea typeface="メイリオ" panose="020B0604030504040204" pitchFamily="50" charset="-128"/>
                <a:cs typeface="メイリオ" panose="020B0604030504040204" pitchFamily="50" charset="-128"/>
              </a:rPr>
              <a:t>ステップ配信</a:t>
            </a:r>
            <a:r>
              <a:rPr lang="en-US" altLang="ja-JP" sz="1700" b="1" dirty="0">
                <a:solidFill>
                  <a:schemeClr val="tx2">
                    <a:lumMod val="75000"/>
                  </a:schemeClr>
                </a:solidFill>
                <a:latin typeface="メイリオ" panose="020B0604030504040204" pitchFamily="50" charset="-128"/>
                <a:ea typeface="メイリオ" panose="020B0604030504040204" pitchFamily="50" charset="-128"/>
                <a:cs typeface="メイリオ" panose="020B0604030504040204" pitchFamily="50" charset="-128"/>
              </a:rPr>
              <a:t>】</a:t>
            </a:r>
          </a:p>
          <a:p>
            <a:r>
              <a:rPr lang="ja-JP" altLang="en-US" sz="1600" dirty="0">
                <a:solidFill>
                  <a:schemeClr val="tx2">
                    <a:lumMod val="75000"/>
                  </a:schemeClr>
                </a:solidFill>
                <a:latin typeface="メイリオ" panose="020B0604030504040204" pitchFamily="50" charset="-128"/>
                <a:ea typeface="メイリオ" panose="020B0604030504040204" pitchFamily="50" charset="-128"/>
                <a:cs typeface="メイリオ" panose="020B0604030504040204" pitchFamily="50" charset="-128"/>
              </a:rPr>
              <a:t>　　　</a:t>
            </a:r>
            <a:r>
              <a:rPr lang="ja-JP" altLang="en-US" sz="1500" dirty="0">
                <a:solidFill>
                  <a:schemeClr val="tx2">
                    <a:lumMod val="75000"/>
                  </a:schemeClr>
                </a:solidFill>
                <a:latin typeface="メイリオ" panose="020B0604030504040204" pitchFamily="50" charset="-128"/>
                <a:ea typeface="メイリオ" panose="020B0604030504040204" pitchFamily="50" charset="-128"/>
                <a:cs typeface="メイリオ" panose="020B0604030504040204" pitchFamily="50" charset="-128"/>
              </a:rPr>
              <a:t>弊社の豊富な実績や市場調査を活かし、最適なタイミングで最適なメッセージを送付し</a:t>
            </a:r>
            <a:r>
              <a:rPr lang="en-US" altLang="ja-JP" sz="1500" dirty="0">
                <a:solidFill>
                  <a:schemeClr val="tx2">
                    <a:lumMod val="75000"/>
                  </a:schemeClr>
                </a:solidFill>
                <a:latin typeface="メイリオ" panose="020B0604030504040204" pitchFamily="50" charset="-128"/>
                <a:ea typeface="メイリオ" panose="020B0604030504040204" pitchFamily="50" charset="-128"/>
                <a:cs typeface="メイリオ" panose="020B0604030504040204" pitchFamily="50" charset="-128"/>
              </a:rPr>
              <a:t>CV</a:t>
            </a:r>
            <a:r>
              <a:rPr lang="ja-JP" altLang="en-US" sz="1500" dirty="0">
                <a:solidFill>
                  <a:schemeClr val="tx2">
                    <a:lumMod val="75000"/>
                  </a:schemeClr>
                </a:solidFill>
                <a:latin typeface="メイリオ" panose="020B0604030504040204" pitchFamily="50" charset="-128"/>
                <a:ea typeface="メイリオ" panose="020B0604030504040204" pitchFamily="50" charset="-128"/>
                <a:cs typeface="メイリオ" panose="020B0604030504040204" pitchFamily="50" charset="-128"/>
              </a:rPr>
              <a:t>へ</a:t>
            </a:r>
            <a:endParaRPr lang="en-US" altLang="ja-JP" sz="1400" dirty="0">
              <a:solidFill>
                <a:schemeClr val="tx2">
                  <a:lumMod val="75000"/>
                </a:schemeClr>
              </a:solidFill>
              <a:latin typeface="メイリオ" panose="020B0604030504040204" pitchFamily="50" charset="-128"/>
              <a:ea typeface="メイリオ" panose="020B0604030504040204" pitchFamily="50" charset="-128"/>
              <a:cs typeface="メイリオ" panose="020B0604030504040204" pitchFamily="50" charset="-128"/>
            </a:endParaRPr>
          </a:p>
          <a:p>
            <a:r>
              <a:rPr lang="ja-JP" altLang="en-US" sz="1500" dirty="0">
                <a:solidFill>
                  <a:schemeClr val="tx2">
                    <a:lumMod val="75000"/>
                  </a:schemeClr>
                </a:solidFill>
                <a:latin typeface="メイリオ" panose="020B0604030504040204" pitchFamily="50" charset="-128"/>
                <a:ea typeface="メイリオ" panose="020B0604030504040204" pitchFamily="50" charset="-128"/>
                <a:cs typeface="メイリオ" panose="020B0604030504040204" pitchFamily="50" charset="-128"/>
              </a:rPr>
              <a:t>          また、職種・年収コンテンツの展開でサービス理解度を引き上げ、来店意欲</a:t>
            </a:r>
            <a:r>
              <a:rPr lang="en-US" altLang="ja-JP" sz="1500" dirty="0">
                <a:solidFill>
                  <a:schemeClr val="tx2">
                    <a:lumMod val="75000"/>
                  </a:schemeClr>
                </a:solidFill>
                <a:latin typeface="メイリオ" panose="020B0604030504040204" pitchFamily="50" charset="-128"/>
                <a:ea typeface="メイリオ" panose="020B0604030504040204" pitchFamily="50" charset="-128"/>
                <a:cs typeface="メイリオ" panose="020B0604030504040204" pitchFamily="50" charset="-128"/>
              </a:rPr>
              <a:t>UP</a:t>
            </a:r>
            <a:r>
              <a:rPr lang="ja-JP" altLang="en-US" sz="1500" dirty="0">
                <a:solidFill>
                  <a:schemeClr val="tx2">
                    <a:lumMod val="75000"/>
                  </a:schemeClr>
                </a:solidFill>
                <a:latin typeface="メイリオ" panose="020B0604030504040204" pitchFamily="50" charset="-128"/>
                <a:ea typeface="メイリオ" panose="020B0604030504040204" pitchFamily="50" charset="-128"/>
                <a:cs typeface="メイリオ" panose="020B0604030504040204" pitchFamily="50" charset="-128"/>
              </a:rPr>
              <a:t>を狙う。</a:t>
            </a:r>
            <a:endParaRPr lang="en-US" altLang="ja-JP" sz="1400" dirty="0">
              <a:solidFill>
                <a:schemeClr val="tx2">
                  <a:lumMod val="75000"/>
                </a:schemeClr>
              </a:solidFill>
              <a:latin typeface="メイリオ" panose="020B0604030504040204" pitchFamily="50" charset="-128"/>
              <a:ea typeface="メイリオ" panose="020B0604030504040204" pitchFamily="50" charset="-128"/>
              <a:cs typeface="メイリオ" panose="020B0604030504040204" pitchFamily="50" charset="-128"/>
            </a:endParaRPr>
          </a:p>
          <a:p>
            <a:endParaRPr lang="en-US" altLang="ja-JP" sz="700" dirty="0">
              <a:solidFill>
                <a:schemeClr val="tx2">
                  <a:lumMod val="75000"/>
                </a:schemeClr>
              </a:solidFill>
              <a:latin typeface="メイリオ" panose="020B0604030504040204" pitchFamily="50" charset="-128"/>
              <a:ea typeface="メイリオ" panose="020B0604030504040204" pitchFamily="50" charset="-128"/>
              <a:cs typeface="メイリオ" panose="020B0604030504040204" pitchFamily="50" charset="-128"/>
            </a:endParaRPr>
          </a:p>
          <a:p>
            <a:r>
              <a:rPr lang="ja-JP" altLang="en-US" sz="1700" b="1" dirty="0">
                <a:solidFill>
                  <a:schemeClr val="tx2">
                    <a:lumMod val="75000"/>
                  </a:schemeClr>
                </a:solidFill>
                <a:latin typeface="メイリオ" panose="020B0604030504040204" pitchFamily="50" charset="-128"/>
                <a:ea typeface="メイリオ" panose="020B0604030504040204" pitchFamily="50" charset="-128"/>
                <a:cs typeface="メイリオ" panose="020B0604030504040204" pitchFamily="50" charset="-128"/>
              </a:rPr>
              <a:t>　・フェーズ毎に戦略を変えることで来店意欲の醸成</a:t>
            </a:r>
            <a:r>
              <a:rPr lang="en-US" altLang="ja-JP" sz="1700" b="1" dirty="0">
                <a:solidFill>
                  <a:schemeClr val="tx2">
                    <a:lumMod val="75000"/>
                  </a:schemeClr>
                </a:solidFill>
                <a:latin typeface="メイリオ" panose="020B0604030504040204" pitchFamily="50" charset="-128"/>
                <a:ea typeface="メイリオ" panose="020B0604030504040204" pitchFamily="50" charset="-128"/>
                <a:cs typeface="メイリオ" panose="020B0604030504040204" pitchFamily="50" charset="-128"/>
              </a:rPr>
              <a:t>【</a:t>
            </a:r>
            <a:r>
              <a:rPr lang="ja-JP" altLang="en-US" sz="1700" b="1" dirty="0">
                <a:solidFill>
                  <a:schemeClr val="tx2">
                    <a:lumMod val="75000"/>
                  </a:schemeClr>
                </a:solidFill>
                <a:latin typeface="メイリオ" panose="020B0604030504040204" pitchFamily="50" charset="-128"/>
                <a:ea typeface="メイリオ" panose="020B0604030504040204" pitchFamily="50" charset="-128"/>
                <a:cs typeface="メイリオ" panose="020B0604030504040204" pitchFamily="50" charset="-128"/>
              </a:rPr>
              <a:t>動線・セグメント設定</a:t>
            </a:r>
            <a:r>
              <a:rPr lang="en-US" altLang="ja-JP" sz="1700" b="1" dirty="0">
                <a:solidFill>
                  <a:schemeClr val="tx2">
                    <a:lumMod val="75000"/>
                  </a:schemeClr>
                </a:solidFill>
                <a:latin typeface="メイリオ" panose="020B0604030504040204" pitchFamily="50" charset="-128"/>
                <a:ea typeface="メイリオ" panose="020B0604030504040204" pitchFamily="50" charset="-128"/>
                <a:cs typeface="メイリオ" panose="020B0604030504040204" pitchFamily="50" charset="-128"/>
              </a:rPr>
              <a:t>】</a:t>
            </a:r>
          </a:p>
          <a:p>
            <a:r>
              <a:rPr lang="ja-JP" altLang="en-US" sz="1400" b="1" dirty="0">
                <a:solidFill>
                  <a:schemeClr val="tx2">
                    <a:lumMod val="75000"/>
                  </a:schemeClr>
                </a:solidFill>
                <a:latin typeface="メイリオ" panose="020B0604030504040204" pitchFamily="50" charset="-128"/>
                <a:ea typeface="メイリオ" panose="020B0604030504040204" pitchFamily="50" charset="-128"/>
                <a:cs typeface="メイリオ" panose="020B0604030504040204" pitchFamily="50" charset="-128"/>
              </a:rPr>
              <a:t>　　　</a:t>
            </a:r>
            <a:r>
              <a:rPr lang="ja-JP" altLang="en-US" sz="1500" dirty="0">
                <a:solidFill>
                  <a:schemeClr val="tx2">
                    <a:lumMod val="75000"/>
                  </a:schemeClr>
                </a:solidFill>
                <a:latin typeface="メイリオ" panose="020B0604030504040204" pitchFamily="50" charset="-128"/>
                <a:ea typeface="メイリオ" panose="020B0604030504040204" pitchFamily="50" charset="-128"/>
                <a:cs typeface="メイリオ" panose="020B0604030504040204" pitchFamily="50" charset="-128"/>
              </a:rPr>
              <a:t>設定セグメント・ターゲティングを変化させ複数回違う訴求にて接触。</a:t>
            </a:r>
            <a:endParaRPr lang="en-US" altLang="ja-JP" sz="1400" dirty="0">
              <a:solidFill>
                <a:schemeClr val="tx2">
                  <a:lumMod val="75000"/>
                </a:schemeClr>
              </a:solidFill>
              <a:latin typeface="メイリオ" panose="020B0604030504040204" pitchFamily="50" charset="-128"/>
              <a:cs typeface="メイリオ" panose="020B0604030504040204" pitchFamily="50" charset="-128"/>
            </a:endParaRPr>
          </a:p>
          <a:p>
            <a:endParaRPr lang="en-US" altLang="ja-JP" sz="700" dirty="0">
              <a:solidFill>
                <a:schemeClr val="tx2">
                  <a:lumMod val="75000"/>
                </a:schemeClr>
              </a:solidFill>
              <a:latin typeface="メイリオ" panose="020B0604030504040204" pitchFamily="50" charset="-128"/>
              <a:ea typeface="メイリオ" panose="020B0604030504040204" pitchFamily="50" charset="-128"/>
              <a:cs typeface="メイリオ" panose="020B0604030504040204" pitchFamily="50" charset="-128"/>
            </a:endParaRPr>
          </a:p>
          <a:p>
            <a:r>
              <a:rPr lang="ja-JP" altLang="en-US" sz="1400" dirty="0">
                <a:solidFill>
                  <a:schemeClr val="tx2">
                    <a:lumMod val="75000"/>
                  </a:schemeClr>
                </a:solidFill>
                <a:latin typeface="メイリオ" panose="020B0604030504040204" pitchFamily="50" charset="-128"/>
                <a:ea typeface="メイリオ" panose="020B0604030504040204" pitchFamily="50" charset="-128"/>
                <a:cs typeface="メイリオ" panose="020B0604030504040204" pitchFamily="50" charset="-128"/>
              </a:rPr>
              <a:t>　</a:t>
            </a:r>
            <a:r>
              <a:rPr lang="ja-JP" altLang="en-US" sz="1700" b="1" dirty="0">
                <a:solidFill>
                  <a:schemeClr val="tx2">
                    <a:lumMod val="75000"/>
                  </a:schemeClr>
                </a:solidFill>
                <a:latin typeface="メイリオ" panose="020B0604030504040204" pitchFamily="50" charset="-128"/>
                <a:ea typeface="メイリオ" panose="020B0604030504040204" pitchFamily="50" charset="-128"/>
                <a:cs typeface="メイリオ" panose="020B0604030504040204" pitchFamily="50" charset="-128"/>
              </a:rPr>
              <a:t>・売上計測環境の整備及び</a:t>
            </a:r>
            <a:r>
              <a:rPr lang="en-US" altLang="ja-JP" sz="1700" b="1" dirty="0" err="1">
                <a:solidFill>
                  <a:schemeClr val="tx2">
                    <a:lumMod val="75000"/>
                  </a:schemeClr>
                </a:solidFill>
                <a:latin typeface="メイリオ" panose="020B0604030504040204" pitchFamily="50" charset="-128"/>
                <a:ea typeface="メイリオ" panose="020B0604030504040204" pitchFamily="50" charset="-128"/>
                <a:cs typeface="メイリオ" panose="020B0604030504040204" pitchFamily="50" charset="-128"/>
              </a:rPr>
              <a:t>GoogleAnalytics</a:t>
            </a:r>
            <a:r>
              <a:rPr lang="ja-JP" altLang="en-US" sz="1700" b="1" dirty="0">
                <a:solidFill>
                  <a:schemeClr val="tx2">
                    <a:lumMod val="75000"/>
                  </a:schemeClr>
                </a:solidFill>
                <a:latin typeface="メイリオ" panose="020B0604030504040204" pitchFamily="50" charset="-128"/>
                <a:ea typeface="メイリオ" panose="020B0604030504040204" pitchFamily="50" charset="-128"/>
                <a:cs typeface="メイリオ" panose="020B0604030504040204" pitchFamily="50" charset="-128"/>
              </a:rPr>
              <a:t>の整備</a:t>
            </a:r>
            <a:endParaRPr lang="ja-JP" altLang="en-US" sz="1400" b="1" dirty="0">
              <a:solidFill>
                <a:schemeClr val="tx2">
                  <a:lumMod val="75000"/>
                </a:schemeClr>
              </a:solidFill>
              <a:latin typeface="メイリオ" panose="020B0604030504040204" pitchFamily="50" charset="-128"/>
              <a:ea typeface="メイリオ" panose="020B0604030504040204" pitchFamily="50" charset="-128"/>
              <a:cs typeface="メイリオ" panose="020B0604030504040204" pitchFamily="50" charset="-128"/>
            </a:endParaRPr>
          </a:p>
          <a:p>
            <a:r>
              <a:rPr lang="ja-JP" altLang="en-US" sz="1500" dirty="0">
                <a:solidFill>
                  <a:schemeClr val="tx2">
                    <a:lumMod val="75000"/>
                  </a:schemeClr>
                </a:solidFill>
                <a:latin typeface="メイリオ" panose="020B0604030504040204" pitchFamily="50" charset="-128"/>
                <a:ea typeface="メイリオ" panose="020B0604030504040204" pitchFamily="50" charset="-128"/>
                <a:cs typeface="メイリオ" panose="020B0604030504040204" pitchFamily="50" charset="-128"/>
              </a:rPr>
              <a:t>　　　 タグを整備することで</a:t>
            </a:r>
            <a:r>
              <a:rPr lang="en-US" altLang="ja-JP" sz="1500" dirty="0">
                <a:solidFill>
                  <a:schemeClr val="tx2">
                    <a:lumMod val="75000"/>
                  </a:schemeClr>
                </a:solidFill>
                <a:latin typeface="メイリオ" panose="020B0604030504040204" pitchFamily="50" charset="-128"/>
                <a:ea typeface="メイリオ" panose="020B0604030504040204" pitchFamily="50" charset="-128"/>
                <a:cs typeface="メイリオ" panose="020B0604030504040204" pitchFamily="50" charset="-128"/>
              </a:rPr>
              <a:t>LINE</a:t>
            </a:r>
            <a:r>
              <a:rPr lang="ja-JP" altLang="en-US" sz="1500" dirty="0">
                <a:solidFill>
                  <a:schemeClr val="tx2">
                    <a:lumMod val="75000"/>
                  </a:schemeClr>
                </a:solidFill>
                <a:latin typeface="メイリオ" panose="020B0604030504040204" pitchFamily="50" charset="-128"/>
                <a:ea typeface="メイリオ" panose="020B0604030504040204" pitchFamily="50" charset="-128"/>
                <a:cs typeface="メイリオ" panose="020B0604030504040204" pitchFamily="50" charset="-128"/>
              </a:rPr>
              <a:t>経由の成果可視化を実行。</a:t>
            </a:r>
            <a:endParaRPr lang="en-US" altLang="ja-JP" sz="1400" dirty="0">
              <a:solidFill>
                <a:schemeClr val="tx2">
                  <a:lumMod val="75000"/>
                </a:schemeClr>
              </a:solidFill>
              <a:latin typeface="メイリオ" panose="020B0604030504040204" pitchFamily="50" charset="-128"/>
              <a:ea typeface="メイリオ" panose="020B0604030504040204" pitchFamily="50" charset="-128"/>
              <a:cs typeface="メイリオ" panose="020B0604030504040204" pitchFamily="50" charset="-128"/>
            </a:endParaRPr>
          </a:p>
          <a:p>
            <a:r>
              <a:rPr lang="ja-JP" altLang="en-US" sz="1500" dirty="0">
                <a:solidFill>
                  <a:schemeClr val="tx2">
                    <a:lumMod val="75000"/>
                  </a:schemeClr>
                </a:solidFill>
                <a:latin typeface="メイリオ" panose="020B0604030504040204" pitchFamily="50" charset="-128"/>
                <a:ea typeface="メイリオ" panose="020B0604030504040204" pitchFamily="50" charset="-128"/>
                <a:cs typeface="メイリオ" panose="020B0604030504040204" pitchFamily="50" charset="-128"/>
              </a:rPr>
              <a:t>　　　 企画・動線ごとに成果を可視化し、訴求テストなどを実施しながら効率化を図る。</a:t>
            </a:r>
            <a:endParaRPr lang="en-US" altLang="ja-JP" sz="1400" dirty="0">
              <a:solidFill>
                <a:schemeClr val="tx2">
                  <a:lumMod val="75000"/>
                </a:schemeClr>
              </a:solidFill>
              <a:latin typeface="メイリオ" panose="020B0604030504040204" pitchFamily="50" charset="-128"/>
              <a:ea typeface="メイリオ" panose="020B0604030504040204" pitchFamily="50" charset="-128"/>
              <a:cs typeface="メイリオ" panose="020B0604030504040204" pitchFamily="50" charset="-128"/>
            </a:endParaRPr>
          </a:p>
        </p:txBody>
      </p:sp>
      <p:sp>
        <p:nvSpPr>
          <p:cNvPr id="33" name="正方形/長方形 32">
            <a:extLst>
              <a:ext uri="{FF2B5EF4-FFF2-40B4-BE49-F238E27FC236}">
                <a16:creationId xmlns:a16="http://schemas.microsoft.com/office/drawing/2014/main" id="{ADCEEB55-8D79-5D37-18D6-691241A3FC15}"/>
              </a:ext>
            </a:extLst>
          </p:cNvPr>
          <p:cNvSpPr/>
          <p:nvPr/>
        </p:nvSpPr>
        <p:spPr>
          <a:xfrm>
            <a:off x="503965" y="1675570"/>
            <a:ext cx="8898070" cy="386003"/>
          </a:xfrm>
          <a:prstGeom prst="rect">
            <a:avLst/>
          </a:prstGeom>
          <a:solidFill>
            <a:schemeClr val="tx2"/>
          </a:solidFill>
          <a:ln>
            <a:solidFill>
              <a:schemeClr val="tx2"/>
            </a:solidFill>
          </a:ln>
        </p:spPr>
        <p:style>
          <a:lnRef idx="2">
            <a:schemeClr val="accent1">
              <a:shade val="50000"/>
            </a:schemeClr>
          </a:lnRef>
          <a:fillRef idx="1">
            <a:schemeClr val="accent1"/>
          </a:fillRef>
          <a:effectRef idx="0">
            <a:schemeClr val="accent1"/>
          </a:effectRef>
          <a:fontRef idx="minor">
            <a:schemeClr val="lt1"/>
          </a:fontRef>
        </p:style>
        <p:txBody>
          <a:bodyPr tIns="90000"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indent="173038"/>
            <a:r>
              <a:rPr lang="ja-JP" altLang="en-US" b="1" dirty="0">
                <a:effectLst/>
                <a:latin typeface="メイリオ" panose="020B0604030504040204" pitchFamily="50" charset="-128"/>
                <a:ea typeface="メイリオ" panose="020B0604030504040204" pitchFamily="50" charset="-128"/>
                <a:cs typeface="メイリオ" panose="020B0604030504040204" pitchFamily="50" charset="-128"/>
              </a:rPr>
              <a:t>配信目標</a:t>
            </a:r>
          </a:p>
        </p:txBody>
      </p:sp>
      <p:sp>
        <p:nvSpPr>
          <p:cNvPr id="34" name="正方形/長方形 33">
            <a:extLst>
              <a:ext uri="{FF2B5EF4-FFF2-40B4-BE49-F238E27FC236}">
                <a16:creationId xmlns:a16="http://schemas.microsoft.com/office/drawing/2014/main" id="{36696439-35BA-93A5-530C-51E6DC29272E}"/>
              </a:ext>
            </a:extLst>
          </p:cNvPr>
          <p:cNvSpPr/>
          <p:nvPr/>
        </p:nvSpPr>
        <p:spPr>
          <a:xfrm>
            <a:off x="503965" y="2077535"/>
            <a:ext cx="8898070" cy="1021153"/>
          </a:xfrm>
          <a:prstGeom prst="rect">
            <a:avLst/>
          </a:prstGeom>
          <a:noFill/>
          <a:ln>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r>
              <a:rPr lang="ja-JP" altLang="en-US" sz="2000" b="1" dirty="0">
                <a:solidFill>
                  <a:srgbClr val="FF3300"/>
                </a:solidFill>
                <a:latin typeface="メイリオ" panose="020B0604030504040204" pitchFamily="50" charset="-128"/>
                <a:ea typeface="メイリオ" panose="020B0604030504040204" pitchFamily="50" charset="-128"/>
                <a:cs typeface="メイリオ" panose="020B0604030504040204" pitchFamily="50" charset="-128"/>
              </a:rPr>
              <a:t>①離脱ユーザーの再育成（再アプローチ）による</a:t>
            </a:r>
            <a:r>
              <a:rPr lang="en-US" altLang="ja-JP" sz="2000" b="1" dirty="0">
                <a:solidFill>
                  <a:srgbClr val="FF3300"/>
                </a:solidFill>
                <a:latin typeface="メイリオ" panose="020B0604030504040204" pitchFamily="50" charset="-128"/>
                <a:ea typeface="メイリオ" panose="020B0604030504040204" pitchFamily="50" charset="-128"/>
                <a:cs typeface="メイリオ" panose="020B0604030504040204" pitchFamily="50" charset="-128"/>
              </a:rPr>
              <a:t>CV</a:t>
            </a:r>
            <a:r>
              <a:rPr lang="ja-JP" altLang="en-US" sz="2000" b="1" dirty="0">
                <a:solidFill>
                  <a:srgbClr val="FF3300"/>
                </a:solidFill>
                <a:latin typeface="メイリオ" panose="020B0604030504040204" pitchFamily="50" charset="-128"/>
                <a:ea typeface="メイリオ" panose="020B0604030504040204" pitchFamily="50" charset="-128"/>
                <a:cs typeface="メイリオ" panose="020B0604030504040204" pitchFamily="50" charset="-128"/>
              </a:rPr>
              <a:t>数増加 </a:t>
            </a:r>
            <a:endParaRPr lang="en-US" altLang="ja-JP" sz="2000" b="1" dirty="0">
              <a:solidFill>
                <a:srgbClr val="FF3300"/>
              </a:solidFill>
              <a:latin typeface="メイリオ" panose="020B0604030504040204" pitchFamily="50" charset="-128"/>
              <a:ea typeface="メイリオ" panose="020B0604030504040204" pitchFamily="50" charset="-128"/>
              <a:cs typeface="メイリオ" panose="020B0604030504040204" pitchFamily="50" charset="-128"/>
            </a:endParaRPr>
          </a:p>
          <a:p>
            <a:pPr algn="ctr"/>
            <a:r>
              <a:rPr lang="ja-JP" altLang="en-US" sz="2000" b="1" dirty="0">
                <a:solidFill>
                  <a:schemeClr val="tx1">
                    <a:lumMod val="50000"/>
                    <a:lumOff val="50000"/>
                  </a:schemeClr>
                </a:solidFill>
                <a:latin typeface="メイリオ" panose="020B0604030504040204" pitchFamily="50" charset="-128"/>
                <a:ea typeface="メイリオ" panose="020B0604030504040204" pitchFamily="50" charset="-128"/>
                <a:cs typeface="メイリオ" panose="020B0604030504040204" pitchFamily="50" charset="-128"/>
              </a:rPr>
              <a:t>②応募に至らない検討ユーザーの面談化 → 就業サポート</a:t>
            </a:r>
            <a:r>
              <a:rPr lang="ja-JP" altLang="en-US" sz="1400" b="1" dirty="0">
                <a:solidFill>
                  <a:schemeClr val="tx1">
                    <a:lumMod val="50000"/>
                    <a:lumOff val="50000"/>
                  </a:schemeClr>
                </a:solidFill>
                <a:latin typeface="メイリオ" panose="020B0604030504040204" pitchFamily="50" charset="-128"/>
                <a:ea typeface="メイリオ" panose="020B0604030504040204" pitchFamily="50" charset="-128"/>
                <a:cs typeface="メイリオ" panose="020B0604030504040204" pitchFamily="50" charset="-128"/>
              </a:rPr>
              <a:t>　</a:t>
            </a:r>
            <a:r>
              <a:rPr lang="en-US" altLang="ja-JP" sz="1200" b="1" dirty="0">
                <a:solidFill>
                  <a:schemeClr val="tx1">
                    <a:lumMod val="50000"/>
                    <a:lumOff val="50000"/>
                  </a:schemeClr>
                </a:solidFill>
                <a:latin typeface="メイリオ" panose="020B0604030504040204" pitchFamily="50" charset="-128"/>
                <a:ea typeface="メイリオ" panose="020B0604030504040204" pitchFamily="50" charset="-128"/>
                <a:cs typeface="メイリオ" panose="020B0604030504040204" pitchFamily="50" charset="-128"/>
              </a:rPr>
              <a:t>※</a:t>
            </a:r>
            <a:r>
              <a:rPr lang="ja-JP" altLang="en-US" sz="1100" b="1" dirty="0">
                <a:solidFill>
                  <a:schemeClr val="tx1">
                    <a:lumMod val="50000"/>
                    <a:lumOff val="50000"/>
                  </a:schemeClr>
                </a:solidFill>
                <a:latin typeface="メイリオ" panose="020B0604030504040204" pitchFamily="50" charset="-128"/>
                <a:ea typeface="メイリオ" panose="020B0604030504040204" pitchFamily="50" charset="-128"/>
                <a:cs typeface="メイリオ" panose="020B0604030504040204" pitchFamily="50" charset="-128"/>
              </a:rPr>
              <a:t>中長期施策として展開予定</a:t>
            </a:r>
            <a:endParaRPr lang="en-US" altLang="ja-JP" sz="2000" b="1" dirty="0">
              <a:solidFill>
                <a:schemeClr val="tx1">
                  <a:lumMod val="50000"/>
                  <a:lumOff val="50000"/>
                </a:schemeClr>
              </a:solidFill>
              <a:latin typeface="メイリオ" panose="020B0604030504040204" pitchFamily="50" charset="-128"/>
              <a:ea typeface="メイリオ" panose="020B0604030504040204" pitchFamily="50" charset="-128"/>
              <a:cs typeface="メイリオ" panose="020B0604030504040204" pitchFamily="50" charset="-128"/>
            </a:endParaRPr>
          </a:p>
        </p:txBody>
      </p:sp>
    </p:spTree>
    <p:extLst>
      <p:ext uri="{BB962C8B-B14F-4D97-AF65-F5344CB8AC3E}">
        <p14:creationId xmlns:p14="http://schemas.microsoft.com/office/powerpoint/2010/main" val="1151343356"/>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ECDCB94-34C8-7DB0-D6CB-991D39D9B9D2}"/>
            </a:ext>
          </a:extLst>
        </p:cNvPr>
        <p:cNvGrpSpPr/>
        <p:nvPr/>
      </p:nvGrpSpPr>
      <p:grpSpPr>
        <a:xfrm>
          <a:off x="0" y="0"/>
          <a:ext cx="0" cy="0"/>
          <a:chOff x="0" y="0"/>
          <a:chExt cx="0" cy="0"/>
        </a:xfrm>
      </p:grpSpPr>
      <p:sp>
        <p:nvSpPr>
          <p:cNvPr id="3" name="正方形/長方形 2">
            <a:extLst>
              <a:ext uri="{FF2B5EF4-FFF2-40B4-BE49-F238E27FC236}">
                <a16:creationId xmlns:a16="http://schemas.microsoft.com/office/drawing/2014/main" id="{2D028149-DEFF-22C6-CAE7-C46667CD5B13}"/>
              </a:ext>
            </a:extLst>
          </p:cNvPr>
          <p:cNvSpPr/>
          <p:nvPr/>
        </p:nvSpPr>
        <p:spPr>
          <a:xfrm>
            <a:off x="0" y="577940"/>
            <a:ext cx="9906000" cy="812735"/>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kumimoji="1" lang="ja-JP" altLang="en-US">
              <a:latin typeface="メイリオ" panose="020B0604030504040204" pitchFamily="50" charset="-128"/>
              <a:ea typeface="メイリオ" panose="020B0604030504040204" pitchFamily="50" charset="-128"/>
            </a:endParaRPr>
          </a:p>
        </p:txBody>
      </p:sp>
      <p:sp>
        <p:nvSpPr>
          <p:cNvPr id="4" name="正方形/長方形 3">
            <a:extLst>
              <a:ext uri="{FF2B5EF4-FFF2-40B4-BE49-F238E27FC236}">
                <a16:creationId xmlns:a16="http://schemas.microsoft.com/office/drawing/2014/main" id="{3B163438-09F4-A453-CFBB-24C6CF88CF89}"/>
              </a:ext>
            </a:extLst>
          </p:cNvPr>
          <p:cNvSpPr/>
          <p:nvPr/>
        </p:nvSpPr>
        <p:spPr>
          <a:xfrm>
            <a:off x="379976" y="635062"/>
            <a:ext cx="9160881" cy="698492"/>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tIns="90000" anchor="ctr"/>
          <a:lstStyle/>
          <a:p>
            <a:pPr algn="ctr">
              <a:lnSpc>
                <a:spcPts val="2455"/>
              </a:lnSpc>
            </a:pPr>
            <a:endParaRPr lang="en-US" altLang="ja-JP" sz="1400" dirty="0">
              <a:solidFill>
                <a:srgbClr val="343434"/>
              </a:solidFill>
              <a:latin typeface="メイリオ" panose="020B0604030504040204" pitchFamily="50" charset="-128"/>
              <a:ea typeface="メイリオ" panose="020B0604030504040204" pitchFamily="50" charset="-128"/>
            </a:endParaRPr>
          </a:p>
        </p:txBody>
      </p:sp>
      <p:sp>
        <p:nvSpPr>
          <p:cNvPr id="45" name="Google Shape;156;p7">
            <a:extLst>
              <a:ext uri="{FF2B5EF4-FFF2-40B4-BE49-F238E27FC236}">
                <a16:creationId xmlns:a16="http://schemas.microsoft.com/office/drawing/2014/main" id="{7AF73B81-5AB2-69AD-0B6B-5E5125231533}"/>
              </a:ext>
            </a:extLst>
          </p:cNvPr>
          <p:cNvSpPr txBox="1"/>
          <p:nvPr/>
        </p:nvSpPr>
        <p:spPr>
          <a:xfrm>
            <a:off x="548883" y="138118"/>
            <a:ext cx="6514857" cy="338554"/>
          </a:xfrm>
          <a:prstGeom prst="rect">
            <a:avLst/>
          </a:prstGeom>
          <a:noFill/>
          <a:ln w="19050">
            <a:noFill/>
          </a:ln>
        </p:spPr>
        <p:txBody>
          <a:bodyPr spcFirstLastPara="1" wrap="square" lIns="91425" tIns="45700" rIns="91425" bIns="45700" anchor="ctr" anchorCtr="0">
            <a:spAutoFit/>
          </a:bodyPr>
          <a:lstStyle/>
          <a:p>
            <a:pPr marL="0" marR="0" lvl="0" indent="0" algn="l" rtl="0">
              <a:spcBef>
                <a:spcPts val="0"/>
              </a:spcBef>
              <a:spcAft>
                <a:spcPts val="0"/>
              </a:spcAft>
              <a:buClr>
                <a:srgbClr val="002060"/>
              </a:buClr>
              <a:buSzPts val="1600"/>
              <a:buFont typeface="Arial"/>
              <a:buNone/>
            </a:pPr>
            <a:r>
              <a:rPr lang="ja-JP" altLang="en-US" sz="1600" b="1" dirty="0">
                <a:solidFill>
                  <a:srgbClr val="002060"/>
                </a:solidFill>
                <a:latin typeface="Meiryo"/>
                <a:ea typeface="Meiryo"/>
                <a:cs typeface="Meiryo"/>
                <a:sym typeface="Meiryo"/>
              </a:rPr>
              <a:t>想定の費用対効果</a:t>
            </a:r>
            <a:endParaRPr sz="1600" b="1" dirty="0">
              <a:solidFill>
                <a:srgbClr val="002060"/>
              </a:solidFill>
              <a:latin typeface="Meiryo"/>
              <a:ea typeface="Meiryo"/>
              <a:cs typeface="Meiryo"/>
              <a:sym typeface="Meiryo"/>
            </a:endParaRPr>
          </a:p>
        </p:txBody>
      </p:sp>
      <p:cxnSp>
        <p:nvCxnSpPr>
          <p:cNvPr id="2" name="直線コネクタ 1">
            <a:extLst>
              <a:ext uri="{FF2B5EF4-FFF2-40B4-BE49-F238E27FC236}">
                <a16:creationId xmlns:a16="http://schemas.microsoft.com/office/drawing/2014/main" id="{6D3B98F3-4025-AFCB-8240-F44980ECB13F}"/>
              </a:ext>
            </a:extLst>
          </p:cNvPr>
          <p:cNvCxnSpPr>
            <a:cxnSpLocks/>
          </p:cNvCxnSpPr>
          <p:nvPr/>
        </p:nvCxnSpPr>
        <p:spPr>
          <a:xfrm>
            <a:off x="0" y="1390675"/>
            <a:ext cx="9906000" cy="0"/>
          </a:xfrm>
          <a:prstGeom prst="line">
            <a:avLst/>
          </a:prstGeom>
          <a:ln w="19050">
            <a:solidFill>
              <a:schemeClr val="bg1">
                <a:lumMod val="85000"/>
                <a:alpha val="60000"/>
              </a:schemeClr>
            </a:solidFill>
          </a:ln>
          <a:effectLst/>
        </p:spPr>
        <p:style>
          <a:lnRef idx="2">
            <a:schemeClr val="accent1"/>
          </a:lnRef>
          <a:fillRef idx="0">
            <a:schemeClr val="accent1"/>
          </a:fillRef>
          <a:effectRef idx="1">
            <a:schemeClr val="accent1"/>
          </a:effectRef>
          <a:fontRef idx="minor">
            <a:schemeClr val="tx1"/>
          </a:fontRef>
        </p:style>
      </p:cxnSp>
      <p:sp>
        <p:nvSpPr>
          <p:cNvPr id="5" name="正方形/長方形 4">
            <a:extLst>
              <a:ext uri="{FF2B5EF4-FFF2-40B4-BE49-F238E27FC236}">
                <a16:creationId xmlns:a16="http://schemas.microsoft.com/office/drawing/2014/main" id="{869BC935-5DB9-4560-B356-B396B9360386}"/>
              </a:ext>
            </a:extLst>
          </p:cNvPr>
          <p:cNvSpPr/>
          <p:nvPr/>
        </p:nvSpPr>
        <p:spPr>
          <a:xfrm>
            <a:off x="261257" y="1672045"/>
            <a:ext cx="2899954" cy="409303"/>
          </a:xfrm>
          <a:prstGeom prst="rect">
            <a:avLst/>
          </a:prstGeom>
          <a:solidFill>
            <a:schemeClr val="tx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200" dirty="0">
                <a:solidFill>
                  <a:schemeClr val="bg1"/>
                </a:solidFill>
                <a:latin typeface="メイリオ" panose="020B0604030504040204" pitchFamily="50" charset="-128"/>
                <a:ea typeface="メイリオ" panose="020B0604030504040204" pitchFamily="50" charset="-128"/>
              </a:rPr>
              <a:t>初期</a:t>
            </a:r>
          </a:p>
        </p:txBody>
      </p:sp>
      <p:sp>
        <p:nvSpPr>
          <p:cNvPr id="7" name="正方形/長方形 6">
            <a:extLst>
              <a:ext uri="{FF2B5EF4-FFF2-40B4-BE49-F238E27FC236}">
                <a16:creationId xmlns:a16="http://schemas.microsoft.com/office/drawing/2014/main" id="{7880C836-A2BC-2FC7-3468-9B9075E279C9}"/>
              </a:ext>
            </a:extLst>
          </p:cNvPr>
          <p:cNvSpPr/>
          <p:nvPr/>
        </p:nvSpPr>
        <p:spPr>
          <a:xfrm>
            <a:off x="3337560" y="1672045"/>
            <a:ext cx="2899954" cy="409303"/>
          </a:xfrm>
          <a:prstGeom prst="rect">
            <a:avLst/>
          </a:prstGeom>
          <a:solidFill>
            <a:schemeClr val="tx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200" dirty="0">
                <a:solidFill>
                  <a:schemeClr val="bg1"/>
                </a:solidFill>
                <a:latin typeface="メイリオ" panose="020B0604030504040204" pitchFamily="50" charset="-128"/>
                <a:ea typeface="メイリオ" panose="020B0604030504040204" pitchFamily="50" charset="-128"/>
              </a:rPr>
              <a:t>月次</a:t>
            </a:r>
          </a:p>
        </p:txBody>
      </p:sp>
      <p:sp>
        <p:nvSpPr>
          <p:cNvPr id="8" name="正方形/長方形 7">
            <a:extLst>
              <a:ext uri="{FF2B5EF4-FFF2-40B4-BE49-F238E27FC236}">
                <a16:creationId xmlns:a16="http://schemas.microsoft.com/office/drawing/2014/main" id="{01B38E14-DD7E-D8D3-B41B-B992885905CB}"/>
              </a:ext>
            </a:extLst>
          </p:cNvPr>
          <p:cNvSpPr/>
          <p:nvPr/>
        </p:nvSpPr>
        <p:spPr>
          <a:xfrm>
            <a:off x="261257" y="2158065"/>
            <a:ext cx="2899954" cy="907352"/>
          </a:xfrm>
          <a:prstGeom prst="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1400" dirty="0">
                <a:solidFill>
                  <a:schemeClr val="tx1"/>
                </a:solidFill>
                <a:latin typeface="メイリオ" panose="020B0604030504040204" pitchFamily="50" charset="-128"/>
                <a:ea typeface="メイリオ" panose="020B0604030504040204" pitchFamily="50" charset="-128"/>
              </a:rPr>
              <a:t>¥245,000</a:t>
            </a:r>
            <a:endParaRPr kumimoji="1" lang="ja-JP" altLang="en-US" sz="1400" dirty="0">
              <a:solidFill>
                <a:schemeClr val="tx1"/>
              </a:solidFill>
              <a:latin typeface="メイリオ" panose="020B0604030504040204" pitchFamily="50" charset="-128"/>
              <a:ea typeface="メイリオ" panose="020B0604030504040204" pitchFamily="50" charset="-128"/>
            </a:endParaRPr>
          </a:p>
          <a:p>
            <a:pPr algn="ctr"/>
            <a:r>
              <a:rPr kumimoji="1" lang="en-US" altLang="ja-JP" sz="900" dirty="0" b="0">
                <a:solidFill>
                  <a:schemeClr val="tx1"/>
                </a:solidFill>
                <a:latin typeface="メイリオ" panose="020B0604030504040204" pitchFamily="50" charset="-128"/>
                <a:ea typeface="メイリオ" panose="020B0604030504040204" pitchFamily="50" charset="-128"/>
              </a:rPr>
              <a:t>構築20万＋離脱防止1.5万＋アカウント3万</a:t>
            </a:r>
            <a:endParaRPr kumimoji="1" lang="ja-JP" altLang="en-US" sz="1400" dirty="0">
              <a:solidFill>
                <a:schemeClr val="tx1"/>
              </a:solidFill>
              <a:latin typeface="メイリオ" panose="020B0604030504040204" pitchFamily="50" charset="-128"/>
              <a:ea typeface="メイリオ" panose="020B0604030504040204" pitchFamily="50" charset="-128"/>
            </a:endParaRPr>
          </a:p>
        </p:txBody>
      </p:sp>
      <p:sp>
        <p:nvSpPr>
          <p:cNvPr id="10" name="正方形/長方形 9">
            <a:extLst>
              <a:ext uri="{FF2B5EF4-FFF2-40B4-BE49-F238E27FC236}">
                <a16:creationId xmlns:a16="http://schemas.microsoft.com/office/drawing/2014/main" id="{6D37009A-88DD-861E-09A2-546B9A58E210}"/>
              </a:ext>
            </a:extLst>
          </p:cNvPr>
          <p:cNvSpPr/>
          <p:nvPr/>
        </p:nvSpPr>
        <p:spPr>
          <a:xfrm>
            <a:off x="3337560" y="2158065"/>
            <a:ext cx="2899954" cy="907352"/>
          </a:xfrm>
          <a:prstGeom prst="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sz="1200" dirty="0">
                <a:solidFill>
                  <a:schemeClr val="tx1"/>
                </a:solidFill>
                <a:latin typeface="メイリオ" panose="020B0604030504040204" pitchFamily="50" charset="-128"/>
                <a:ea typeface="メイリオ" panose="020B0604030504040204" pitchFamily="50" charset="-128"/>
              </a:rPr>
              <a:t>コンサル費 ¥70,000</a:t>
            </a:r>
            <a:endParaRPr lang="en-US" altLang="ja-JP" sz="1400" dirty="0">
              <a:solidFill>
                <a:schemeClr val="tx1"/>
              </a:solidFill>
              <a:latin typeface="メイリオ" panose="020B0604030504040204" pitchFamily="50" charset="-128"/>
              <a:ea typeface="メイリオ" panose="020B0604030504040204" pitchFamily="50" charset="-128"/>
            </a:endParaRPr>
          </a:p>
          <a:p>
            <a:pPr algn="ctr"/>
            <a:r>
              <a:rPr lang="ja-JP" altLang="en-US" sz="1200" dirty="0">
                <a:solidFill>
                  <a:schemeClr val="tx1"/>
                </a:solidFill>
                <a:latin typeface="メイリオ" panose="020B0604030504040204" pitchFamily="50" charset="-128"/>
                <a:ea typeface="メイリオ" panose="020B0604030504040204" pitchFamily="50" charset="-128"/>
              </a:rPr>
              <a:t>＋ 離脱防止 ¥30,000</a:t>
            </a:r>
            <a:endParaRPr lang="en-US" altLang="ja-JP" sz="1400" dirty="0">
              <a:solidFill>
                <a:schemeClr val="tx1"/>
              </a:solidFill>
              <a:latin typeface="メイリオ" panose="020B0604030504040204" pitchFamily="50" charset="-128"/>
              <a:ea typeface="メイリオ" panose="020B0604030504040204" pitchFamily="50" charset="-128"/>
            </a:endParaRPr>
          </a:p>
          <a:p>
            <a:pPr algn="ctr"/>
            <a:r>
              <a:rPr lang="ja-JP" altLang="en-US" sz="1200" dirty="0">
                <a:solidFill>
                  <a:schemeClr val="tx1"/>
                </a:solidFill>
                <a:latin typeface="メイリオ" panose="020B0604030504040204" pitchFamily="50" charset="-128"/>
                <a:ea typeface="メイリオ" panose="020B0604030504040204" pitchFamily="50" charset="-128"/>
              </a:rPr>
              <a:t>＋ アカウント費 ¥5,000〜</a:t>
            </a:r>
            <a:endParaRPr lang="en-US" altLang="ja-JP" sz="1400" dirty="0">
              <a:solidFill>
                <a:schemeClr val="tx1"/>
              </a:solidFill>
              <a:latin typeface="メイリオ" panose="020B0604030504040204" pitchFamily="50" charset="-128"/>
              <a:ea typeface="メイリオ" panose="020B0604030504040204" pitchFamily="50" charset="-128"/>
            </a:endParaRPr>
          </a:p>
        </p:txBody>
      </p:sp>
      <p:sp>
        <p:nvSpPr>
          <p:cNvPr id="15" name="矢印: 右 14">
            <a:extLst>
              <a:ext uri="{FF2B5EF4-FFF2-40B4-BE49-F238E27FC236}">
                <a16:creationId xmlns:a16="http://schemas.microsoft.com/office/drawing/2014/main" id="{FC496752-169B-38CE-883D-84ADB306D799}"/>
              </a:ext>
            </a:extLst>
          </p:cNvPr>
          <p:cNvSpPr/>
          <p:nvPr/>
        </p:nvSpPr>
        <p:spPr>
          <a:xfrm>
            <a:off x="6379031" y="2281645"/>
            <a:ext cx="365760" cy="2795449"/>
          </a:xfrm>
          <a:prstGeom prst="rightArrow">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7" name="正方形/長方形 16">
            <a:extLst>
              <a:ext uri="{FF2B5EF4-FFF2-40B4-BE49-F238E27FC236}">
                <a16:creationId xmlns:a16="http://schemas.microsoft.com/office/drawing/2014/main" id="{DA148636-1253-1384-2015-E2EB8852C9FE}"/>
              </a:ext>
            </a:extLst>
          </p:cNvPr>
          <p:cNvSpPr/>
          <p:nvPr/>
        </p:nvSpPr>
        <p:spPr>
          <a:xfrm>
            <a:off x="6744791" y="1672044"/>
            <a:ext cx="2899952" cy="409303"/>
          </a:xfrm>
          <a:prstGeom prst="rect">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1200" dirty="0">
                <a:solidFill>
                  <a:schemeClr val="bg1"/>
                </a:solidFill>
                <a:latin typeface="メイリオ" panose="020B0604030504040204" pitchFamily="50" charset="-128"/>
                <a:ea typeface="メイリオ" panose="020B0604030504040204" pitchFamily="50" charset="-128"/>
              </a:rPr>
              <a:t>6</a:t>
            </a:r>
            <a:r>
              <a:rPr kumimoji="1" lang="ja-JP" altLang="en-US" sz="1200" dirty="0">
                <a:solidFill>
                  <a:schemeClr val="bg1"/>
                </a:solidFill>
                <a:latin typeface="メイリオ" panose="020B0604030504040204" pitchFamily="50" charset="-128"/>
                <a:ea typeface="メイリオ" panose="020B0604030504040204" pitchFamily="50" charset="-128"/>
              </a:rPr>
              <a:t>か月後</a:t>
            </a:r>
          </a:p>
        </p:txBody>
      </p:sp>
      <p:sp>
        <p:nvSpPr>
          <p:cNvPr id="19" name="テキスト ボックス 18">
            <a:extLst>
              <a:ext uri="{FF2B5EF4-FFF2-40B4-BE49-F238E27FC236}">
                <a16:creationId xmlns:a16="http://schemas.microsoft.com/office/drawing/2014/main" id="{51BCDCE3-E0DC-64C9-5AE4-D62A1BB2F0B2}"/>
              </a:ext>
            </a:extLst>
          </p:cNvPr>
          <p:cNvSpPr txBox="1"/>
          <p:nvPr/>
        </p:nvSpPr>
        <p:spPr>
          <a:xfrm>
            <a:off x="444137" y="3186837"/>
            <a:ext cx="2534194" cy="276999"/>
          </a:xfrm>
          <a:prstGeom prst="rect">
            <a:avLst/>
          </a:prstGeom>
          <a:noFill/>
        </p:spPr>
        <p:txBody>
          <a:bodyPr wrap="square">
            <a:spAutoFit/>
          </a:bodyPr>
          <a:lstStyle/>
          <a:p>
            <a:pPr algn="ctr"/>
            <a:r>
              <a:rPr kumimoji="1" lang="en-US" altLang="ja-JP" sz="1200" dirty="0">
                <a:solidFill>
                  <a:schemeClr val="tx1"/>
                </a:solidFill>
                <a:latin typeface="メイリオ" panose="020B0604030504040204" pitchFamily="50" charset="-128"/>
                <a:ea typeface="メイリオ" panose="020B0604030504040204" pitchFamily="50" charset="-128"/>
              </a:rPr>
              <a:t>&lt;</a:t>
            </a:r>
            <a:r>
              <a:rPr kumimoji="1" lang="ja-JP" altLang="en-US" sz="1200" dirty="0">
                <a:solidFill>
                  <a:schemeClr val="tx1"/>
                </a:solidFill>
                <a:latin typeface="メイリオ" panose="020B0604030504040204" pitchFamily="50" charset="-128"/>
                <a:ea typeface="メイリオ" panose="020B0604030504040204" pitchFamily="50" charset="-128"/>
              </a:rPr>
              <a:t>実施内容</a:t>
            </a:r>
            <a:r>
              <a:rPr kumimoji="1" lang="en-US" altLang="ja-JP" sz="1200" dirty="0">
                <a:solidFill>
                  <a:schemeClr val="tx1"/>
                </a:solidFill>
                <a:latin typeface="メイリオ" panose="020B0604030504040204" pitchFamily="50" charset="-128"/>
                <a:ea typeface="メイリオ" panose="020B0604030504040204" pitchFamily="50" charset="-128"/>
              </a:rPr>
              <a:t>&gt;</a:t>
            </a:r>
            <a:endParaRPr kumimoji="1" lang="ja-JP" altLang="en-US" sz="1200" dirty="0">
              <a:solidFill>
                <a:schemeClr val="tx1"/>
              </a:solidFill>
              <a:latin typeface="メイリオ" panose="020B0604030504040204" pitchFamily="50" charset="-128"/>
              <a:ea typeface="メイリオ" panose="020B0604030504040204" pitchFamily="50" charset="-128"/>
            </a:endParaRPr>
          </a:p>
        </p:txBody>
      </p:sp>
      <p:sp>
        <p:nvSpPr>
          <p:cNvPr id="21" name="テキスト ボックス 20">
            <a:extLst>
              <a:ext uri="{FF2B5EF4-FFF2-40B4-BE49-F238E27FC236}">
                <a16:creationId xmlns:a16="http://schemas.microsoft.com/office/drawing/2014/main" id="{93377C5E-E0F0-CDD7-88D4-BB2DFD34BDB7}"/>
              </a:ext>
            </a:extLst>
          </p:cNvPr>
          <p:cNvSpPr txBox="1"/>
          <p:nvPr/>
        </p:nvSpPr>
        <p:spPr>
          <a:xfrm>
            <a:off x="3503024" y="3186837"/>
            <a:ext cx="2534194" cy="276999"/>
          </a:xfrm>
          <a:prstGeom prst="rect">
            <a:avLst/>
          </a:prstGeom>
          <a:noFill/>
        </p:spPr>
        <p:txBody>
          <a:bodyPr wrap="square">
            <a:spAutoFit/>
          </a:bodyPr>
          <a:lstStyle/>
          <a:p>
            <a:pPr algn="ctr"/>
            <a:r>
              <a:rPr kumimoji="1" lang="en-US" altLang="ja-JP" sz="1200" dirty="0">
                <a:solidFill>
                  <a:schemeClr val="tx1"/>
                </a:solidFill>
                <a:latin typeface="メイリオ" panose="020B0604030504040204" pitchFamily="50" charset="-128"/>
                <a:ea typeface="メイリオ" panose="020B0604030504040204" pitchFamily="50" charset="-128"/>
              </a:rPr>
              <a:t>&lt;</a:t>
            </a:r>
            <a:r>
              <a:rPr kumimoji="1" lang="ja-JP" altLang="en-US" sz="1200" dirty="0">
                <a:solidFill>
                  <a:schemeClr val="tx1"/>
                </a:solidFill>
                <a:latin typeface="メイリオ" panose="020B0604030504040204" pitchFamily="50" charset="-128"/>
                <a:ea typeface="メイリオ" panose="020B0604030504040204" pitchFamily="50" charset="-128"/>
              </a:rPr>
              <a:t>実施内容</a:t>
            </a:r>
            <a:r>
              <a:rPr kumimoji="1" lang="en-US" altLang="ja-JP" sz="1200" dirty="0">
                <a:solidFill>
                  <a:schemeClr val="tx1"/>
                </a:solidFill>
                <a:latin typeface="メイリオ" panose="020B0604030504040204" pitchFamily="50" charset="-128"/>
                <a:ea typeface="メイリオ" panose="020B0604030504040204" pitchFamily="50" charset="-128"/>
              </a:rPr>
              <a:t>&gt;</a:t>
            </a:r>
            <a:endParaRPr kumimoji="1" lang="ja-JP" altLang="en-US" sz="1200" dirty="0">
              <a:solidFill>
                <a:schemeClr val="tx1"/>
              </a:solidFill>
              <a:latin typeface="メイリオ" panose="020B0604030504040204" pitchFamily="50" charset="-128"/>
              <a:ea typeface="メイリオ" panose="020B0604030504040204" pitchFamily="50" charset="-128"/>
            </a:endParaRPr>
          </a:p>
        </p:txBody>
      </p:sp>
      <p:sp>
        <p:nvSpPr>
          <p:cNvPr id="25" name="正方形/長方形 24">
            <a:extLst>
              <a:ext uri="{FF2B5EF4-FFF2-40B4-BE49-F238E27FC236}">
                <a16:creationId xmlns:a16="http://schemas.microsoft.com/office/drawing/2014/main" id="{423E80D8-0677-EA4F-9E76-E96BE86C80F4}"/>
              </a:ext>
            </a:extLst>
          </p:cNvPr>
          <p:cNvSpPr/>
          <p:nvPr/>
        </p:nvSpPr>
        <p:spPr>
          <a:xfrm>
            <a:off x="3408319" y="3478699"/>
            <a:ext cx="1218110" cy="361150"/>
          </a:xfrm>
          <a:prstGeom prst="rect">
            <a:avLst/>
          </a:prstGeom>
          <a:solidFill>
            <a:srgbClr val="00B05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100" dirty="0">
                <a:solidFill>
                  <a:schemeClr val="bg1"/>
                </a:solidFill>
                <a:latin typeface="メイリオ" panose="020B0604030504040204" pitchFamily="50" charset="-128"/>
                <a:ea typeface="メイリオ" panose="020B0604030504040204" pitchFamily="50" charset="-128"/>
              </a:rPr>
              <a:t>月次投稿</a:t>
            </a:r>
          </a:p>
        </p:txBody>
      </p:sp>
      <p:sp>
        <p:nvSpPr>
          <p:cNvPr id="29" name="正方形/長方形 28">
            <a:extLst>
              <a:ext uri="{FF2B5EF4-FFF2-40B4-BE49-F238E27FC236}">
                <a16:creationId xmlns:a16="http://schemas.microsoft.com/office/drawing/2014/main" id="{0D7C10C7-D0BA-2429-4E3C-3C9B1A0BD42B}"/>
              </a:ext>
            </a:extLst>
          </p:cNvPr>
          <p:cNvSpPr/>
          <p:nvPr/>
        </p:nvSpPr>
        <p:spPr>
          <a:xfrm>
            <a:off x="4657463" y="3478699"/>
            <a:ext cx="1473913" cy="361150"/>
          </a:xfrm>
          <a:prstGeom prst="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1000" dirty="0">
                <a:solidFill>
                  <a:schemeClr val="tx1"/>
                </a:solidFill>
                <a:latin typeface="メイリオ" panose="020B0604030504040204" pitchFamily="50" charset="-128"/>
                <a:ea typeface="メイリオ" panose="020B0604030504040204" pitchFamily="50" charset="-128"/>
              </a:rPr>
              <a:t>4回</a:t>
            </a:r>
          </a:p>
        </p:txBody>
      </p:sp>
      <p:sp>
        <p:nvSpPr>
          <p:cNvPr id="33" name="正方形/長方形 32">
            <a:extLst>
              <a:ext uri="{FF2B5EF4-FFF2-40B4-BE49-F238E27FC236}">
                <a16:creationId xmlns:a16="http://schemas.microsoft.com/office/drawing/2014/main" id="{7C01E0B6-089E-D0CB-E2F1-931D297B273B}"/>
              </a:ext>
            </a:extLst>
          </p:cNvPr>
          <p:cNvSpPr/>
          <p:nvPr/>
        </p:nvSpPr>
        <p:spPr>
          <a:xfrm>
            <a:off x="3408319" y="3905336"/>
            <a:ext cx="1218110" cy="361150"/>
          </a:xfrm>
          <a:prstGeom prst="rect">
            <a:avLst/>
          </a:prstGeom>
          <a:solidFill>
            <a:srgbClr val="00B05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100" dirty="0">
                <a:solidFill>
                  <a:schemeClr val="bg1"/>
                </a:solidFill>
                <a:latin typeface="メイリオ" panose="020B0604030504040204" pitchFamily="50" charset="-128"/>
                <a:ea typeface="メイリオ" panose="020B0604030504040204" pitchFamily="50" charset="-128"/>
              </a:rPr>
              <a:t>リッチメニュー</a:t>
            </a:r>
            <a:endParaRPr kumimoji="1" lang="en-US" altLang="ja-JP" sz="1100" dirty="0">
              <a:solidFill>
                <a:schemeClr val="bg1"/>
              </a:solidFill>
              <a:latin typeface="メイリオ" panose="020B0604030504040204" pitchFamily="50" charset="-128"/>
              <a:ea typeface="メイリオ" panose="020B0604030504040204" pitchFamily="50" charset="-128"/>
            </a:endParaRPr>
          </a:p>
          <a:p>
            <a:pPr algn="ctr"/>
            <a:r>
              <a:rPr lang="ja-JP" altLang="en-US" sz="1100" dirty="0">
                <a:solidFill>
                  <a:schemeClr val="bg1"/>
                </a:solidFill>
                <a:latin typeface="メイリオ" panose="020B0604030504040204" pitchFamily="50" charset="-128"/>
                <a:ea typeface="メイリオ" panose="020B0604030504040204" pitchFamily="50" charset="-128"/>
              </a:rPr>
              <a:t>修正変更</a:t>
            </a:r>
            <a:endParaRPr kumimoji="1" lang="ja-JP" altLang="en-US" sz="1100" dirty="0">
              <a:solidFill>
                <a:schemeClr val="bg1"/>
              </a:solidFill>
              <a:latin typeface="メイリオ" panose="020B0604030504040204" pitchFamily="50" charset="-128"/>
              <a:ea typeface="メイリオ" panose="020B0604030504040204" pitchFamily="50" charset="-128"/>
            </a:endParaRPr>
          </a:p>
        </p:txBody>
      </p:sp>
      <p:sp>
        <p:nvSpPr>
          <p:cNvPr id="37" name="正方形/長方形 36">
            <a:extLst>
              <a:ext uri="{FF2B5EF4-FFF2-40B4-BE49-F238E27FC236}">
                <a16:creationId xmlns:a16="http://schemas.microsoft.com/office/drawing/2014/main" id="{8E28FD05-4146-E3E7-076F-F0405244D430}"/>
              </a:ext>
            </a:extLst>
          </p:cNvPr>
          <p:cNvSpPr/>
          <p:nvPr/>
        </p:nvSpPr>
        <p:spPr>
          <a:xfrm>
            <a:off x="4657463" y="3905336"/>
            <a:ext cx="1473913" cy="361150"/>
          </a:xfrm>
          <a:prstGeom prst="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000" dirty="0">
                <a:solidFill>
                  <a:schemeClr val="tx1"/>
                </a:solidFill>
                <a:latin typeface="メイリオ" panose="020B0604030504040204" pitchFamily="50" charset="-128"/>
                <a:ea typeface="メイリオ" panose="020B0604030504040204" pitchFamily="50" charset="-128"/>
              </a:rPr>
              <a:t>♾️</a:t>
            </a:r>
          </a:p>
        </p:txBody>
      </p:sp>
      <p:sp>
        <p:nvSpPr>
          <p:cNvPr id="41" name="正方形/長方形 40">
            <a:extLst>
              <a:ext uri="{FF2B5EF4-FFF2-40B4-BE49-F238E27FC236}">
                <a16:creationId xmlns:a16="http://schemas.microsoft.com/office/drawing/2014/main" id="{0BCA0670-1E25-A137-DE69-4285D1972C41}"/>
              </a:ext>
            </a:extLst>
          </p:cNvPr>
          <p:cNvSpPr/>
          <p:nvPr/>
        </p:nvSpPr>
        <p:spPr>
          <a:xfrm>
            <a:off x="3408319" y="4331973"/>
            <a:ext cx="1218110" cy="361150"/>
          </a:xfrm>
          <a:prstGeom prst="rect">
            <a:avLst/>
          </a:prstGeom>
          <a:solidFill>
            <a:srgbClr val="00B05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100" dirty="0">
                <a:solidFill>
                  <a:schemeClr val="bg1"/>
                </a:solidFill>
                <a:latin typeface="メイリオ" panose="020B0604030504040204" pitchFamily="50" charset="-128"/>
                <a:ea typeface="メイリオ" panose="020B0604030504040204" pitchFamily="50" charset="-128"/>
              </a:rPr>
              <a:t>月次レポート</a:t>
            </a:r>
          </a:p>
        </p:txBody>
      </p:sp>
      <p:sp>
        <p:nvSpPr>
          <p:cNvPr id="46" name="正方形/長方形 45">
            <a:extLst>
              <a:ext uri="{FF2B5EF4-FFF2-40B4-BE49-F238E27FC236}">
                <a16:creationId xmlns:a16="http://schemas.microsoft.com/office/drawing/2014/main" id="{BABF4F76-4A93-A922-BEA6-2B8E93EAFA64}"/>
              </a:ext>
            </a:extLst>
          </p:cNvPr>
          <p:cNvSpPr/>
          <p:nvPr/>
        </p:nvSpPr>
        <p:spPr>
          <a:xfrm>
            <a:off x="4657463" y="4331973"/>
            <a:ext cx="1473913" cy="361150"/>
          </a:xfrm>
          <a:prstGeom prst="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1000" dirty="0">
                <a:solidFill>
                  <a:schemeClr val="tx1"/>
                </a:solidFill>
                <a:latin typeface="メイリオ" panose="020B0604030504040204" pitchFamily="50" charset="-128"/>
                <a:ea typeface="メイリオ" panose="020B0604030504040204" pitchFamily="50" charset="-128"/>
              </a:rPr>
              <a:t>1</a:t>
            </a:r>
            <a:r>
              <a:rPr kumimoji="1" lang="ja-JP" altLang="en-US" sz="1000" dirty="0">
                <a:solidFill>
                  <a:schemeClr val="tx1"/>
                </a:solidFill>
                <a:latin typeface="メイリオ" panose="020B0604030504040204" pitchFamily="50" charset="-128"/>
                <a:ea typeface="メイリオ" panose="020B0604030504040204" pitchFamily="50" charset="-128"/>
              </a:rPr>
              <a:t>回</a:t>
            </a:r>
          </a:p>
        </p:txBody>
      </p:sp>
      <p:sp>
        <p:nvSpPr>
          <p:cNvPr id="50" name="正方形/長方形 49">
            <a:extLst>
              <a:ext uri="{FF2B5EF4-FFF2-40B4-BE49-F238E27FC236}">
                <a16:creationId xmlns:a16="http://schemas.microsoft.com/office/drawing/2014/main" id="{B9BBAE1C-A24C-C8BA-EC21-E3C3004B99D5}"/>
              </a:ext>
            </a:extLst>
          </p:cNvPr>
          <p:cNvSpPr/>
          <p:nvPr/>
        </p:nvSpPr>
        <p:spPr>
          <a:xfrm>
            <a:off x="3408319" y="4758610"/>
            <a:ext cx="1218110" cy="361150"/>
          </a:xfrm>
          <a:prstGeom prst="rect">
            <a:avLst/>
          </a:prstGeom>
          <a:solidFill>
            <a:srgbClr val="00B05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sz="1100" dirty="0">
                <a:solidFill>
                  <a:schemeClr val="bg1"/>
                </a:solidFill>
                <a:latin typeface="メイリオ" panose="020B0604030504040204" pitchFamily="50" charset="-128"/>
                <a:ea typeface="メイリオ" panose="020B0604030504040204" pitchFamily="50" charset="-128"/>
              </a:rPr>
              <a:t>月次定例会</a:t>
            </a:r>
          </a:p>
        </p:txBody>
      </p:sp>
      <p:sp>
        <p:nvSpPr>
          <p:cNvPr id="54" name="正方形/長方形 53">
            <a:extLst>
              <a:ext uri="{FF2B5EF4-FFF2-40B4-BE49-F238E27FC236}">
                <a16:creationId xmlns:a16="http://schemas.microsoft.com/office/drawing/2014/main" id="{5356490D-00B0-A4A4-46A8-C05373647872}"/>
              </a:ext>
            </a:extLst>
          </p:cNvPr>
          <p:cNvSpPr/>
          <p:nvPr/>
        </p:nvSpPr>
        <p:spPr>
          <a:xfrm>
            <a:off x="4657463" y="4758610"/>
            <a:ext cx="1473913" cy="361150"/>
          </a:xfrm>
          <a:prstGeom prst="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ja-JP" sz="1000" dirty="0">
                <a:solidFill>
                  <a:schemeClr val="tx1"/>
                </a:solidFill>
                <a:latin typeface="メイリオ" panose="020B0604030504040204" pitchFamily="50" charset="-128"/>
                <a:ea typeface="メイリオ" panose="020B0604030504040204" pitchFamily="50" charset="-128"/>
              </a:rPr>
              <a:t>1回</a:t>
            </a:r>
          </a:p>
        </p:txBody>
      </p:sp>
      <p:sp>
        <p:nvSpPr>
          <p:cNvPr id="66" name="正方形/長方形 65">
            <a:extLst>
              <a:ext uri="{FF2B5EF4-FFF2-40B4-BE49-F238E27FC236}">
                <a16:creationId xmlns:a16="http://schemas.microsoft.com/office/drawing/2014/main" id="{1B7BC116-FC44-14F8-A570-7E8F4A6BB425}"/>
              </a:ext>
            </a:extLst>
          </p:cNvPr>
          <p:cNvSpPr/>
          <p:nvPr/>
        </p:nvSpPr>
        <p:spPr>
          <a:xfrm>
            <a:off x="3408319" y="5185247"/>
            <a:ext cx="1218110" cy="361150"/>
          </a:xfrm>
          <a:prstGeom prst="rect">
            <a:avLst/>
          </a:prstGeom>
          <a:solidFill>
            <a:srgbClr val="00B05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100" dirty="0">
                <a:solidFill>
                  <a:schemeClr val="bg1"/>
                </a:solidFill>
                <a:latin typeface="メイリオ" panose="020B0604030504040204" pitchFamily="50" charset="-128"/>
                <a:ea typeface="メイリオ" panose="020B0604030504040204" pitchFamily="50" charset="-128"/>
              </a:rPr>
              <a:t>ステップ改善</a:t>
            </a:r>
          </a:p>
        </p:txBody>
      </p:sp>
      <p:sp>
        <p:nvSpPr>
          <p:cNvPr id="70" name="正方形/長方形 69">
            <a:extLst>
              <a:ext uri="{FF2B5EF4-FFF2-40B4-BE49-F238E27FC236}">
                <a16:creationId xmlns:a16="http://schemas.microsoft.com/office/drawing/2014/main" id="{4F35ECFF-76E2-1684-79A2-B91FDAC2A015}"/>
              </a:ext>
            </a:extLst>
          </p:cNvPr>
          <p:cNvSpPr/>
          <p:nvPr/>
        </p:nvSpPr>
        <p:spPr>
          <a:xfrm>
            <a:off x="4657463" y="5185247"/>
            <a:ext cx="1473913" cy="361150"/>
          </a:xfrm>
          <a:prstGeom prst="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1000" dirty="0">
                <a:solidFill>
                  <a:schemeClr val="tx1"/>
                </a:solidFill>
                <a:latin typeface="メイリオ" panose="020B0604030504040204" pitchFamily="50" charset="-128"/>
                <a:ea typeface="メイリオ" panose="020B0604030504040204" pitchFamily="50" charset="-128"/>
              </a:rPr>
              <a:t>ABテスト随時</a:t>
            </a:r>
          </a:p>
        </p:txBody>
      </p:sp>
      <p:sp>
        <p:nvSpPr>
          <p:cNvPr id="80" name="正方形/長方形 79">
            <a:extLst>
              <a:ext uri="{FF2B5EF4-FFF2-40B4-BE49-F238E27FC236}">
                <a16:creationId xmlns:a16="http://schemas.microsoft.com/office/drawing/2014/main" id="{4D93C7A0-5D0C-D57D-DA97-71D42D2D5517}"/>
              </a:ext>
            </a:extLst>
          </p:cNvPr>
          <p:cNvSpPr/>
          <p:nvPr/>
        </p:nvSpPr>
        <p:spPr>
          <a:xfrm>
            <a:off x="6886308" y="2281645"/>
            <a:ext cx="1218110" cy="361150"/>
          </a:xfrm>
          <a:prstGeom prst="rect">
            <a:avLst/>
          </a:prstGeom>
          <a:solidFill>
            <a:srgbClr val="04FA0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sz="1200" b="1" dirty="0">
                <a:solidFill>
                  <a:schemeClr val="bg1"/>
                </a:solidFill>
                <a:latin typeface="メイリオ" panose="020B0604030504040204" pitchFamily="50" charset="-128"/>
                <a:ea typeface="メイリオ" panose="020B0604030504040204" pitchFamily="50" charset="-128"/>
              </a:rPr>
              <a:t>友だち数</a:t>
            </a:r>
            <a:endParaRPr kumimoji="1" lang="ja-JP" altLang="en-US" sz="1200" b="1" dirty="0">
              <a:solidFill>
                <a:schemeClr val="bg1"/>
              </a:solidFill>
              <a:latin typeface="メイリオ" panose="020B0604030504040204" pitchFamily="50" charset="-128"/>
              <a:ea typeface="メイリオ" panose="020B0604030504040204" pitchFamily="50" charset="-128"/>
            </a:endParaRPr>
          </a:p>
        </p:txBody>
      </p:sp>
      <p:sp>
        <p:nvSpPr>
          <p:cNvPr id="82" name="正方形/長方形 81">
            <a:extLst>
              <a:ext uri="{FF2B5EF4-FFF2-40B4-BE49-F238E27FC236}">
                <a16:creationId xmlns:a16="http://schemas.microsoft.com/office/drawing/2014/main" id="{6F215F53-D8D8-2192-C7D6-49E3B32E635B}"/>
              </a:ext>
            </a:extLst>
          </p:cNvPr>
          <p:cNvSpPr/>
          <p:nvPr/>
        </p:nvSpPr>
        <p:spPr>
          <a:xfrm>
            <a:off x="6886308" y="2708282"/>
            <a:ext cx="1218110" cy="361150"/>
          </a:xfrm>
          <a:prstGeom prst="rect">
            <a:avLst/>
          </a:prstGeom>
          <a:solidFill>
            <a:srgbClr val="04FA0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200" b="1" dirty="0">
                <a:solidFill>
                  <a:schemeClr val="bg1"/>
                </a:solidFill>
                <a:latin typeface="メイリオ" panose="020B0604030504040204" pitchFamily="50" charset="-128"/>
                <a:ea typeface="メイリオ" panose="020B0604030504040204" pitchFamily="50" charset="-128"/>
              </a:rPr>
              <a:t>有効友だち</a:t>
            </a:r>
          </a:p>
        </p:txBody>
      </p:sp>
      <p:sp>
        <p:nvSpPr>
          <p:cNvPr id="84" name="正方形/長方形 83">
            <a:extLst>
              <a:ext uri="{FF2B5EF4-FFF2-40B4-BE49-F238E27FC236}">
                <a16:creationId xmlns:a16="http://schemas.microsoft.com/office/drawing/2014/main" id="{F86385E5-9ACB-BD7D-FFF1-9DCAFEF8B9DE}"/>
              </a:ext>
            </a:extLst>
          </p:cNvPr>
          <p:cNvSpPr/>
          <p:nvPr/>
        </p:nvSpPr>
        <p:spPr>
          <a:xfrm>
            <a:off x="6886308" y="3134919"/>
            <a:ext cx="1218110" cy="361150"/>
          </a:xfrm>
          <a:prstGeom prst="rect">
            <a:avLst/>
          </a:prstGeom>
          <a:solidFill>
            <a:srgbClr val="04FA0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200" b="1" dirty="0">
                <a:solidFill>
                  <a:schemeClr val="bg1"/>
                </a:solidFill>
                <a:latin typeface="メイリオ" panose="020B0604030504040204" pitchFamily="50" charset="-128"/>
                <a:ea typeface="メイリオ" panose="020B0604030504040204" pitchFamily="50" charset="-128"/>
              </a:rPr>
              <a:t>流入</a:t>
            </a:r>
          </a:p>
        </p:txBody>
      </p:sp>
      <p:sp>
        <p:nvSpPr>
          <p:cNvPr id="86" name="正方形/長方形 85">
            <a:extLst>
              <a:ext uri="{FF2B5EF4-FFF2-40B4-BE49-F238E27FC236}">
                <a16:creationId xmlns:a16="http://schemas.microsoft.com/office/drawing/2014/main" id="{38F3E569-103C-B3AD-15E9-E0BB6026E36F}"/>
              </a:ext>
            </a:extLst>
          </p:cNvPr>
          <p:cNvSpPr/>
          <p:nvPr/>
        </p:nvSpPr>
        <p:spPr>
          <a:xfrm>
            <a:off x="6886308" y="3561556"/>
            <a:ext cx="1218110" cy="361150"/>
          </a:xfrm>
          <a:prstGeom prst="rect">
            <a:avLst/>
          </a:prstGeom>
          <a:solidFill>
            <a:srgbClr val="04FA0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1200" b="1" dirty="0">
                <a:solidFill>
                  <a:schemeClr val="bg1"/>
                </a:solidFill>
                <a:latin typeface="メイリオ" panose="020B0604030504040204" pitchFamily="50" charset="-128"/>
                <a:ea typeface="メイリオ" panose="020B0604030504040204" pitchFamily="50" charset="-128"/>
              </a:rPr>
              <a:t>CV</a:t>
            </a:r>
            <a:endParaRPr kumimoji="1" lang="ja-JP" altLang="en-US" sz="1200" b="1" dirty="0">
              <a:solidFill>
                <a:schemeClr val="bg1"/>
              </a:solidFill>
              <a:latin typeface="メイリオ" panose="020B0604030504040204" pitchFamily="50" charset="-128"/>
              <a:ea typeface="メイリオ" panose="020B0604030504040204" pitchFamily="50" charset="-128"/>
            </a:endParaRPr>
          </a:p>
        </p:txBody>
      </p:sp>
      <p:sp>
        <p:nvSpPr>
          <p:cNvPr id="12" name="正方形/長方形 11">
            <a:extLst>
              <a:ext uri="{FF2B5EF4-FFF2-40B4-BE49-F238E27FC236}">
                <a16:creationId xmlns:a16="http://schemas.microsoft.com/office/drawing/2014/main" id="{70CAF89E-948C-8174-50B7-652B3FB76359}"/>
              </a:ext>
            </a:extLst>
          </p:cNvPr>
          <p:cNvSpPr/>
          <p:nvPr/>
        </p:nvSpPr>
        <p:spPr>
          <a:xfrm>
            <a:off x="379976" y="3478699"/>
            <a:ext cx="1218110" cy="361150"/>
          </a:xfrm>
          <a:prstGeom prst="rect">
            <a:avLst/>
          </a:prstGeom>
          <a:solidFill>
            <a:srgbClr val="00B05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sz="1100" dirty="0">
                <a:solidFill>
                  <a:schemeClr val="bg1"/>
                </a:solidFill>
                <a:latin typeface="メイリオ" panose="020B0604030504040204" pitchFamily="50" charset="-128"/>
                <a:ea typeface="メイリオ" panose="020B0604030504040204" pitchFamily="50" charset="-128"/>
              </a:rPr>
              <a:t>あいさつ＋診断</a:t>
            </a:r>
            <a:endParaRPr kumimoji="1" lang="ja-JP" altLang="en-US" sz="1100" dirty="0">
              <a:solidFill>
                <a:schemeClr val="bg1"/>
              </a:solidFill>
              <a:latin typeface="メイリオ" panose="020B0604030504040204" pitchFamily="50" charset="-128"/>
              <a:ea typeface="メイリオ" panose="020B0604030504040204" pitchFamily="50" charset="-128"/>
            </a:endParaRPr>
          </a:p>
        </p:txBody>
      </p:sp>
      <p:sp>
        <p:nvSpPr>
          <p:cNvPr id="14" name="正方形/長方形 13">
            <a:extLst>
              <a:ext uri="{FF2B5EF4-FFF2-40B4-BE49-F238E27FC236}">
                <a16:creationId xmlns:a16="http://schemas.microsoft.com/office/drawing/2014/main" id="{45597D5C-32BC-9BDB-E27E-1B11A18AC67F}"/>
              </a:ext>
            </a:extLst>
          </p:cNvPr>
          <p:cNvSpPr/>
          <p:nvPr/>
        </p:nvSpPr>
        <p:spPr>
          <a:xfrm>
            <a:off x="1629120" y="3478699"/>
            <a:ext cx="1473913" cy="361150"/>
          </a:xfrm>
          <a:prstGeom prst="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1000" dirty="0">
                <a:solidFill>
                  <a:schemeClr val="tx1"/>
                </a:solidFill>
                <a:latin typeface="メイリオ" panose="020B0604030504040204" pitchFamily="50" charset="-128"/>
                <a:ea typeface="メイリオ" panose="020B0604030504040204" pitchFamily="50" charset="-128"/>
              </a:rPr>
              <a:t>1回（4問）</a:t>
            </a:r>
          </a:p>
        </p:txBody>
      </p:sp>
      <p:sp>
        <p:nvSpPr>
          <p:cNvPr id="18" name="正方形/長方形 17">
            <a:extLst>
              <a:ext uri="{FF2B5EF4-FFF2-40B4-BE49-F238E27FC236}">
                <a16:creationId xmlns:a16="http://schemas.microsoft.com/office/drawing/2014/main" id="{090DF4E7-D151-CBC4-8EE6-8BDDE6D781F4}"/>
              </a:ext>
            </a:extLst>
          </p:cNvPr>
          <p:cNvSpPr/>
          <p:nvPr/>
        </p:nvSpPr>
        <p:spPr>
          <a:xfrm>
            <a:off x="379976" y="3905336"/>
            <a:ext cx="1218110" cy="361150"/>
          </a:xfrm>
          <a:prstGeom prst="rect">
            <a:avLst/>
          </a:prstGeom>
          <a:solidFill>
            <a:srgbClr val="00B05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100" dirty="0">
                <a:solidFill>
                  <a:schemeClr val="bg1"/>
                </a:solidFill>
                <a:latin typeface="メイリオ" panose="020B0604030504040204" pitchFamily="50" charset="-128"/>
                <a:ea typeface="メイリオ" panose="020B0604030504040204" pitchFamily="50" charset="-128"/>
              </a:rPr>
              <a:t>リッチメニュー</a:t>
            </a:r>
            <a:endParaRPr kumimoji="1" lang="en-US" altLang="ja-JP" sz="1100" dirty="0">
              <a:solidFill>
                <a:schemeClr val="bg1"/>
              </a:solidFill>
              <a:latin typeface="メイリオ" panose="020B0604030504040204" pitchFamily="50" charset="-128"/>
              <a:ea typeface="メイリオ" panose="020B0604030504040204" pitchFamily="50" charset="-128"/>
            </a:endParaRPr>
          </a:p>
        </p:txBody>
      </p:sp>
      <p:sp>
        <p:nvSpPr>
          <p:cNvPr id="22" name="正方形/長方形 21">
            <a:extLst>
              <a:ext uri="{FF2B5EF4-FFF2-40B4-BE49-F238E27FC236}">
                <a16:creationId xmlns:a16="http://schemas.microsoft.com/office/drawing/2014/main" id="{BF367B4C-D17E-5506-831E-4FEBA9B6D301}"/>
              </a:ext>
            </a:extLst>
          </p:cNvPr>
          <p:cNvSpPr/>
          <p:nvPr/>
        </p:nvSpPr>
        <p:spPr>
          <a:xfrm>
            <a:off x="1629120" y="3905336"/>
            <a:ext cx="1473913" cy="361150"/>
          </a:xfrm>
          <a:prstGeom prst="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000" dirty="0">
                <a:solidFill>
                  <a:schemeClr val="tx1"/>
                </a:solidFill>
                <a:latin typeface="メイリオ" panose="020B0604030504040204" pitchFamily="50" charset="-128"/>
                <a:ea typeface="メイリオ" panose="020B0604030504040204" pitchFamily="50" charset="-128"/>
              </a:rPr>
              <a:t>3タブ×6枠</a:t>
            </a:r>
          </a:p>
        </p:txBody>
      </p:sp>
      <p:sp>
        <p:nvSpPr>
          <p:cNvPr id="26" name="正方形/長方形 25">
            <a:extLst>
              <a:ext uri="{FF2B5EF4-FFF2-40B4-BE49-F238E27FC236}">
                <a16:creationId xmlns:a16="http://schemas.microsoft.com/office/drawing/2014/main" id="{E7327D35-78D9-E895-4E23-A03DB4CE4A0C}"/>
              </a:ext>
            </a:extLst>
          </p:cNvPr>
          <p:cNvSpPr/>
          <p:nvPr/>
        </p:nvSpPr>
        <p:spPr>
          <a:xfrm>
            <a:off x="379976" y="4331973"/>
            <a:ext cx="1218110" cy="361150"/>
          </a:xfrm>
          <a:prstGeom prst="rect">
            <a:avLst/>
          </a:prstGeom>
          <a:solidFill>
            <a:srgbClr val="00B05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100" dirty="0">
                <a:solidFill>
                  <a:schemeClr val="bg1"/>
                </a:solidFill>
                <a:latin typeface="メイリオ" panose="020B0604030504040204" pitchFamily="50" charset="-128"/>
                <a:ea typeface="メイリオ" panose="020B0604030504040204" pitchFamily="50" charset="-128"/>
              </a:rPr>
              <a:t>ステップ</a:t>
            </a:r>
          </a:p>
        </p:txBody>
      </p:sp>
      <p:sp>
        <p:nvSpPr>
          <p:cNvPr id="30" name="正方形/長方形 29">
            <a:extLst>
              <a:ext uri="{FF2B5EF4-FFF2-40B4-BE49-F238E27FC236}">
                <a16:creationId xmlns:a16="http://schemas.microsoft.com/office/drawing/2014/main" id="{A410D671-A6B2-5AE8-F4DD-54B5BBF27257}"/>
              </a:ext>
            </a:extLst>
          </p:cNvPr>
          <p:cNvSpPr/>
          <p:nvPr/>
        </p:nvSpPr>
        <p:spPr>
          <a:xfrm>
            <a:off x="1629120" y="4331973"/>
            <a:ext cx="1473913" cy="361150"/>
          </a:xfrm>
          <a:prstGeom prst="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000" dirty="0">
                <a:solidFill>
                  <a:schemeClr val="tx1"/>
                </a:solidFill>
                <a:latin typeface="メイリオ" panose="020B0604030504040204" pitchFamily="50" charset="-128"/>
                <a:ea typeface="メイリオ" panose="020B0604030504040204" pitchFamily="50" charset="-128"/>
              </a:rPr>
              <a:t>構築×10</a:t>
            </a:r>
            <a:endParaRPr kumimoji="1" lang="ja-JP" altLang="en-US" sz="1000" dirty="0">
              <a:solidFill>
                <a:schemeClr val="tx1"/>
              </a:solidFill>
              <a:latin typeface="メイリオ" panose="020B0604030504040204" pitchFamily="50" charset="-128"/>
              <a:ea typeface="メイリオ" panose="020B0604030504040204" pitchFamily="50" charset="-128"/>
            </a:endParaRPr>
          </a:p>
        </p:txBody>
      </p:sp>
      <p:sp>
        <p:nvSpPr>
          <p:cNvPr id="34" name="正方形/長方形 33">
            <a:extLst>
              <a:ext uri="{FF2B5EF4-FFF2-40B4-BE49-F238E27FC236}">
                <a16:creationId xmlns:a16="http://schemas.microsoft.com/office/drawing/2014/main" id="{9B0CC343-76BC-C31F-6705-9435FB623B52}"/>
              </a:ext>
            </a:extLst>
          </p:cNvPr>
          <p:cNvSpPr/>
          <p:nvPr/>
        </p:nvSpPr>
        <p:spPr>
          <a:xfrm>
            <a:off x="379976" y="4758610"/>
            <a:ext cx="1218110" cy="361150"/>
          </a:xfrm>
          <a:prstGeom prst="rect">
            <a:avLst/>
          </a:prstGeom>
          <a:solidFill>
            <a:srgbClr val="00B05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sz="1100" dirty="0">
                <a:solidFill>
                  <a:schemeClr val="bg1"/>
                </a:solidFill>
                <a:latin typeface="メイリオ" panose="020B0604030504040204" pitchFamily="50" charset="-128"/>
                <a:ea typeface="メイリオ" panose="020B0604030504040204" pitchFamily="50" charset="-128"/>
              </a:rPr>
              <a:t>離脱防止</a:t>
            </a:r>
          </a:p>
        </p:txBody>
      </p:sp>
      <p:sp>
        <p:nvSpPr>
          <p:cNvPr id="38" name="正方形/長方形 37">
            <a:extLst>
              <a:ext uri="{FF2B5EF4-FFF2-40B4-BE49-F238E27FC236}">
                <a16:creationId xmlns:a16="http://schemas.microsoft.com/office/drawing/2014/main" id="{49ED896C-A686-A829-DAA8-B1457276C2D4}"/>
              </a:ext>
            </a:extLst>
          </p:cNvPr>
          <p:cNvSpPr/>
          <p:nvPr/>
        </p:nvSpPr>
        <p:spPr>
          <a:xfrm>
            <a:off x="1629120" y="4758610"/>
            <a:ext cx="1473913" cy="361150"/>
          </a:xfrm>
          <a:prstGeom prst="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sz="1000" dirty="0">
                <a:solidFill>
                  <a:schemeClr val="tx1"/>
                </a:solidFill>
                <a:latin typeface="メイリオ" panose="020B0604030504040204" pitchFamily="50" charset="-128"/>
                <a:ea typeface="メイリオ" panose="020B0604030504040204" pitchFamily="50" charset="-128"/>
              </a:rPr>
              <a:t>ポップアップ設置</a:t>
            </a:r>
          </a:p>
        </p:txBody>
      </p:sp>
      <p:sp>
        <p:nvSpPr>
          <p:cNvPr id="42" name="正方形/長方形 41">
            <a:extLst>
              <a:ext uri="{FF2B5EF4-FFF2-40B4-BE49-F238E27FC236}">
                <a16:creationId xmlns:a16="http://schemas.microsoft.com/office/drawing/2014/main" id="{C65954D2-6D54-912C-BFAD-8EED93525578}"/>
              </a:ext>
            </a:extLst>
          </p:cNvPr>
          <p:cNvSpPr/>
          <p:nvPr/>
        </p:nvSpPr>
        <p:spPr>
          <a:xfrm>
            <a:off x="379976" y="5185247"/>
            <a:ext cx="1218110" cy="361150"/>
          </a:xfrm>
          <a:prstGeom prst="rect">
            <a:avLst/>
          </a:prstGeom>
          <a:solidFill>
            <a:schemeClr val="tx1">
              <a:lumMod val="50000"/>
              <a:lumOff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100" dirty="0">
                <a:solidFill>
                  <a:schemeClr val="bg1"/>
                </a:solidFill>
                <a:latin typeface="メイリオ" panose="020B0604030504040204" pitchFamily="50" charset="-128"/>
                <a:ea typeface="メイリオ" panose="020B0604030504040204" pitchFamily="50" charset="-128"/>
              </a:rPr>
              <a:t>連携</a:t>
            </a:r>
          </a:p>
        </p:txBody>
      </p:sp>
      <p:sp>
        <p:nvSpPr>
          <p:cNvPr id="47" name="正方形/長方形 46">
            <a:extLst>
              <a:ext uri="{FF2B5EF4-FFF2-40B4-BE49-F238E27FC236}">
                <a16:creationId xmlns:a16="http://schemas.microsoft.com/office/drawing/2014/main" id="{2038AF25-F542-6F19-F289-5B1A91D9EA78}"/>
              </a:ext>
            </a:extLst>
          </p:cNvPr>
          <p:cNvSpPr/>
          <p:nvPr/>
        </p:nvSpPr>
        <p:spPr>
          <a:xfrm>
            <a:off x="1629120" y="5185247"/>
            <a:ext cx="1473913" cy="361150"/>
          </a:xfrm>
          <a:prstGeom prst="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000" dirty="0">
                <a:solidFill>
                  <a:schemeClr val="tx1"/>
                </a:solidFill>
                <a:latin typeface="メイリオ" panose="020B0604030504040204" pitchFamily="50" charset="-128"/>
                <a:ea typeface="メイリオ" panose="020B0604030504040204" pitchFamily="50" charset="-128"/>
              </a:rPr>
              <a:t>別途開発</a:t>
            </a:r>
          </a:p>
        </p:txBody>
      </p:sp>
      <p:sp>
        <p:nvSpPr>
          <p:cNvPr id="11" name="テキスト ボックス 10">
            <a:extLst>
              <a:ext uri="{FF2B5EF4-FFF2-40B4-BE49-F238E27FC236}">
                <a16:creationId xmlns:a16="http://schemas.microsoft.com/office/drawing/2014/main" id="{2241A890-8CD9-48E8-BAC6-6130718F79E3}"/>
              </a:ext>
            </a:extLst>
          </p:cNvPr>
          <p:cNvSpPr txBox="1"/>
          <p:nvPr/>
        </p:nvSpPr>
        <p:spPr>
          <a:xfrm>
            <a:off x="8194767" y="2323720"/>
            <a:ext cx="1286327" cy="276999"/>
          </a:xfrm>
          <a:prstGeom prst="rect">
            <a:avLst/>
          </a:prstGeom>
          <a:noFill/>
        </p:spPr>
        <p:txBody>
          <a:bodyPr wrap="square">
            <a:spAutoFit/>
          </a:bodyPr>
          <a:lstStyle/>
          <a:p>
            <a:pPr algn="ctr"/>
            <a:r>
              <a:rPr lang="en-US" altLang="ja-JP" sz="1200" b="1" dirty="0">
                <a:solidFill>
                  <a:srgbClr val="FF0000"/>
                </a:solidFill>
                <a:latin typeface="メイリオ" panose="020B0604030504040204" pitchFamily="50" charset="-128"/>
                <a:ea typeface="メイリオ" panose="020B0604030504040204" pitchFamily="50" charset="-128"/>
              </a:rPr>
              <a:t>約4,650人</a:t>
            </a:r>
            <a:endParaRPr kumimoji="1" lang="ja-JP" altLang="en-US" sz="1200" b="1" dirty="0">
              <a:solidFill>
                <a:srgbClr val="FF0000"/>
              </a:solidFill>
              <a:latin typeface="メイリオ" panose="020B0604030504040204" pitchFamily="50" charset="-128"/>
              <a:ea typeface="メイリオ" panose="020B0604030504040204" pitchFamily="50" charset="-128"/>
            </a:endParaRPr>
          </a:p>
        </p:txBody>
      </p:sp>
      <p:sp>
        <p:nvSpPr>
          <p:cNvPr id="16" name="テキスト ボックス 15">
            <a:extLst>
              <a:ext uri="{FF2B5EF4-FFF2-40B4-BE49-F238E27FC236}">
                <a16:creationId xmlns:a16="http://schemas.microsoft.com/office/drawing/2014/main" id="{0CA402BB-70E0-1712-5155-FB13E1EFE697}"/>
              </a:ext>
            </a:extLst>
          </p:cNvPr>
          <p:cNvSpPr txBox="1"/>
          <p:nvPr/>
        </p:nvSpPr>
        <p:spPr>
          <a:xfrm>
            <a:off x="8194767" y="2750357"/>
            <a:ext cx="1286327" cy="276999"/>
          </a:xfrm>
          <a:prstGeom prst="rect">
            <a:avLst/>
          </a:prstGeom>
          <a:noFill/>
        </p:spPr>
        <p:txBody>
          <a:bodyPr wrap="square">
            <a:spAutoFit/>
          </a:bodyPr>
          <a:lstStyle/>
          <a:p>
            <a:pPr algn="ctr"/>
            <a:r>
              <a:rPr lang="en-US" altLang="ja-JP" sz="1200" b="1" dirty="0">
                <a:solidFill>
                  <a:srgbClr val="FF0000"/>
                </a:solidFill>
                <a:latin typeface="メイリオ" panose="020B0604030504040204" pitchFamily="50" charset="-128"/>
                <a:ea typeface="メイリオ" panose="020B0604030504040204" pitchFamily="50" charset="-128"/>
              </a:rPr>
              <a:t>約2,500人</a:t>
            </a:r>
            <a:endParaRPr kumimoji="1" lang="ja-JP" altLang="en-US" sz="1200" b="1" dirty="0">
              <a:solidFill>
                <a:srgbClr val="FF0000"/>
              </a:solidFill>
              <a:latin typeface="メイリオ" panose="020B0604030504040204" pitchFamily="50" charset="-128"/>
              <a:ea typeface="メイリオ" panose="020B0604030504040204" pitchFamily="50" charset="-128"/>
            </a:endParaRPr>
          </a:p>
        </p:txBody>
      </p:sp>
      <p:sp>
        <p:nvSpPr>
          <p:cNvPr id="23" name="テキスト ボックス 22">
            <a:extLst>
              <a:ext uri="{FF2B5EF4-FFF2-40B4-BE49-F238E27FC236}">
                <a16:creationId xmlns:a16="http://schemas.microsoft.com/office/drawing/2014/main" id="{F1C71F01-1D77-2899-A43D-B86BFA13E86D}"/>
              </a:ext>
            </a:extLst>
          </p:cNvPr>
          <p:cNvSpPr txBox="1"/>
          <p:nvPr/>
        </p:nvSpPr>
        <p:spPr>
          <a:xfrm>
            <a:off x="8175536" y="3152001"/>
            <a:ext cx="1286327" cy="276999"/>
          </a:xfrm>
          <a:prstGeom prst="rect">
            <a:avLst/>
          </a:prstGeom>
          <a:noFill/>
        </p:spPr>
        <p:txBody>
          <a:bodyPr wrap="square">
            <a:spAutoFit/>
          </a:bodyPr>
          <a:lstStyle/>
          <a:p>
            <a:pPr algn="ctr"/>
            <a:r>
              <a:rPr lang="en-US" altLang="ja-JP" sz="1200" b="1" dirty="0">
                <a:solidFill>
                  <a:srgbClr val="FF0000"/>
                </a:solidFill>
                <a:latin typeface="メイリオ" panose="020B0604030504040204" pitchFamily="50" charset="-128"/>
                <a:ea typeface="メイリオ" panose="020B0604030504040204" pitchFamily="50" charset="-128"/>
              </a:rPr>
              <a:t>2,560件/月</a:t>
            </a:r>
            <a:endParaRPr kumimoji="1" lang="ja-JP" altLang="en-US" sz="1200" b="1" dirty="0">
              <a:solidFill>
                <a:srgbClr val="FF0000"/>
              </a:solidFill>
              <a:latin typeface="メイリオ" panose="020B0604030504040204" pitchFamily="50" charset="-128"/>
              <a:ea typeface="メイリオ" panose="020B0604030504040204" pitchFamily="50" charset="-128"/>
            </a:endParaRPr>
          </a:p>
        </p:txBody>
      </p:sp>
      <p:sp>
        <p:nvSpPr>
          <p:cNvPr id="27" name="テキスト ボックス 26">
            <a:extLst>
              <a:ext uri="{FF2B5EF4-FFF2-40B4-BE49-F238E27FC236}">
                <a16:creationId xmlns:a16="http://schemas.microsoft.com/office/drawing/2014/main" id="{8AD9CF0C-6AE4-2654-E1CB-1BB84E7C6E83}"/>
              </a:ext>
            </a:extLst>
          </p:cNvPr>
          <p:cNvSpPr txBox="1"/>
          <p:nvPr/>
        </p:nvSpPr>
        <p:spPr>
          <a:xfrm>
            <a:off x="8194767" y="3561556"/>
            <a:ext cx="1286327" cy="276999"/>
          </a:xfrm>
          <a:prstGeom prst="rect">
            <a:avLst/>
          </a:prstGeom>
          <a:noFill/>
        </p:spPr>
        <p:txBody>
          <a:bodyPr wrap="square">
            <a:spAutoFit/>
          </a:bodyPr>
          <a:lstStyle/>
          <a:p>
            <a:pPr algn="ctr"/>
            <a:r>
              <a:rPr lang="en-US" altLang="ja-JP" sz="1200" b="1" dirty="0">
                <a:solidFill>
                  <a:srgbClr val="FF0000"/>
                </a:solidFill>
                <a:latin typeface="メイリオ" panose="020B0604030504040204" pitchFamily="50" charset="-128"/>
                <a:ea typeface="メイリオ" panose="020B0604030504040204" pitchFamily="50" charset="-128"/>
              </a:rPr>
              <a:t>37件/月</a:t>
            </a:r>
            <a:endParaRPr kumimoji="1" lang="ja-JP" altLang="en-US" sz="1200" b="1" dirty="0">
              <a:solidFill>
                <a:srgbClr val="FF0000"/>
              </a:solidFill>
              <a:latin typeface="メイリオ" panose="020B0604030504040204" pitchFamily="50" charset="-128"/>
              <a:ea typeface="メイリオ" panose="020B0604030504040204" pitchFamily="50" charset="-128"/>
            </a:endParaRPr>
          </a:p>
        </p:txBody>
      </p:sp>
      <p:sp>
        <p:nvSpPr>
          <p:cNvPr id="31" name="テキスト ボックス 30">
            <a:extLst>
              <a:ext uri="{FF2B5EF4-FFF2-40B4-BE49-F238E27FC236}">
                <a16:creationId xmlns:a16="http://schemas.microsoft.com/office/drawing/2014/main" id="{62E19C90-7458-8C36-243E-9FE1F44520EC}"/>
              </a:ext>
            </a:extLst>
          </p:cNvPr>
          <p:cNvSpPr txBox="1"/>
          <p:nvPr/>
        </p:nvSpPr>
        <p:spPr>
          <a:xfrm>
            <a:off x="6746399" y="3906000"/>
            <a:ext cx="2901600" cy="1080000"/>
          </a:xfrm>
          <a:prstGeom prst="rect">
            <a:avLst/>
          </a:prstGeom>
          <a:noFill/>
        </p:spPr>
        <p:txBody>
          <a:bodyPr wrap="square">
            <a:spAutoFit/>
          </a:bodyPr>
          <a:lstStyle/>
          <a:p>
            <a:pPr algn="ctr"/>
            <a:r>
              <a:rPr lang="ja-JP" altLang="en-US" sz="1100" b="1" dirty="0">
                <a:latin typeface="メイリオ" panose="020B0604030504040204" pitchFamily="50" charset="-128"/>
                <a:ea typeface="メイリオ" panose="020B0604030504040204" pitchFamily="50" charset="-128"/>
              </a:rPr>
              <a:t>半年累計196件・累計CPA 11,036円</a:t>
            </a:r>
            <a:endParaRPr kumimoji="1" lang="ja-JP" altLang="en-US" sz="1200" b="1" dirty="0">
              <a:latin typeface="メイリオ" panose="020B0604030504040204" pitchFamily="50" charset="-128"/>
              <a:ea typeface="メイリオ" panose="020B0604030504040204" pitchFamily="50" charset="-128"/>
            </a:endParaRPr>
          </a:p>
          <a:p>
            <a:pPr algn="ctr"/>
            <a:r>
              <a:rPr lang="ja-JP" altLang="en-US" sz="950" b="0" dirty="0">
                <a:solidFill>
                  <a:srgbClr val="333333"/>
                </a:solidFill>
                <a:latin typeface="メイリオ" panose="020B0604030504040204" pitchFamily="50" charset="-128"/>
                <a:ea typeface="メイリオ" panose="020B0604030504040204" pitchFamily="50" charset="-128"/>
              </a:rPr>
              <a:t>現状CPA 6万・目標2〜2.5万を大きく下回る</a:t>
            </a:r>
            <a:endParaRPr kumimoji="1" lang="ja-JP" altLang="en-US" sz="1200" b="1" dirty="0">
              <a:latin typeface="メイリオ" panose="020B0604030504040204" pitchFamily="50" charset="-128"/>
              <a:ea typeface="メイリオ" panose="020B0604030504040204" pitchFamily="50" charset="-128"/>
            </a:endParaRPr>
          </a:p>
          <a:p>
            <a:pPr algn="ctr"/>
            <a:r>
              <a:rPr lang="ja-JP" altLang="en-US" sz="900" b="0" dirty="0">
                <a:solidFill>
                  <a:srgbClr val="7F7F7F"/>
                </a:solidFill>
                <a:latin typeface="メイリオ" panose="020B0604030504040204" pitchFamily="50" charset="-128"/>
                <a:ea typeface="メイリオ" panose="020B0604030504040204" pitchFamily="50" charset="-128"/>
              </a:rPr>
              <a:t>参考：CPFなし＝半年42件・CPA 20,833円</a:t>
            </a:r>
            <a:endParaRPr kumimoji="1" lang="ja-JP" altLang="en-US" sz="1200" b="1" dirty="0">
              <a:latin typeface="メイリオ" panose="020B0604030504040204" pitchFamily="50" charset="-128"/>
              <a:ea typeface="メイリオ" panose="020B0604030504040204" pitchFamily="50" charset="-128"/>
            </a:endParaRPr>
          </a:p>
        </p:txBody>
      </p:sp>
      <p:sp>
        <p:nvSpPr>
          <p:cNvPr id="40" name="テキスト ボックス 39">
            <a:extLst>
              <a:ext uri="{FF2B5EF4-FFF2-40B4-BE49-F238E27FC236}">
                <a16:creationId xmlns:a16="http://schemas.microsoft.com/office/drawing/2014/main" id="{2DBFEFD9-CD0A-A87E-2081-34DABD09C9F5}"/>
              </a:ext>
            </a:extLst>
          </p:cNvPr>
          <p:cNvSpPr txBox="1"/>
          <p:nvPr/>
        </p:nvSpPr>
        <p:spPr>
          <a:xfrm>
            <a:off x="554370" y="735535"/>
            <a:ext cx="8797260" cy="523220"/>
          </a:xfrm>
          <a:prstGeom prst="rect">
            <a:avLst/>
          </a:prstGeom>
          <a:noFill/>
        </p:spPr>
        <p:txBody>
          <a:bodyPr wrap="square">
            <a:spAutoFit/>
          </a:bodyPr>
          <a:lstStyle/>
          <a:p>
            <a:pPr algn="ctr"/>
            <a:r>
              <a:rPr lang="ja-JP" altLang="en-US" sz="1400" b="1" dirty="0">
                <a:solidFill>
                  <a:schemeClr val="tx1">
                    <a:lumMod val="50000"/>
                    <a:lumOff val="50000"/>
                  </a:schemeClr>
                </a:solidFill>
                <a:latin typeface="Meiryo" panose="020B0604030504040204" pitchFamily="34" charset="-128"/>
                <a:ea typeface="Meiryo" panose="020B0604030504040204" pitchFamily="34" charset="-128"/>
              </a:rPr>
              <a:t>Meta広告の目的を「応募獲得」から「友だち獲得」へ切り替え（広告費は据え置き）、</a:t>
            </a:r>
          </a:p>
          <a:p>
            <a:pPr algn="ctr"/>
            <a:r>
              <a:rPr lang="ja-JP" altLang="en-US" sz="1400" b="1" dirty="0">
                <a:solidFill>
                  <a:schemeClr val="tx1">
                    <a:lumMod val="50000"/>
                    <a:lumOff val="50000"/>
                  </a:schemeClr>
                </a:solidFill>
                <a:latin typeface="Meiryo" panose="020B0604030504040204" pitchFamily="34" charset="-128"/>
                <a:ea typeface="Meiryo" panose="020B0604030504040204" pitchFamily="34" charset="-128"/>
              </a:rPr>
              <a:t>初期24.5万円・月額10.5万円〜の運用で、面談・応募を半年196件と見込みます。</a:t>
            </a:r>
          </a:p>
        </p:txBody>
      </p:sp>
      <p:sp>
        <p:nvSpPr>
          <p:cNvPr id="88" name="TextBox 14"/>
          <p:cNvSpPr txBox="1"/>
          <p:nvPr/>
        </p:nvSpPr>
        <p:spPr>
          <a:xfrm>
            <a:off x="432000" y="6246000"/>
            <a:ext cx="9043200" cy="324000"/>
          </a:xfrm>
          <a:prstGeom prst="rect">
            <a:avLst/>
          </a:prstGeom>
          <a:noFill/>
        </p:spPr>
        <p:txBody>
          <a:bodyPr wrap="square" lIns="0" tIns="21600" rIns="0" bIns="21600" anchor="t">
            <a:spAutoFit/>
          </a:bodyPr>
          <a:lstStyle/>
          <a:p>
            <a:pPr algn="l">
              <a:lnSpc>
                <a:spcPct val="115000"/>
              </a:lnSpc>
            </a:pPr>
            <a:r>
              <a:rPr sz="950">
                <a:solidFill>
                  <a:srgbClr val="7F7F7F"/>
                </a:solidFill>
                <a:latin typeface="メイリオ"/>
                <a:ea typeface="メイリオ"/>
                <a:cs typeface="メイリオ"/>
              </a:rPr>
              <a:t>SIM①（CPFあり・コンサル運営）より。前提：UU3,215（SimilarWeb推計）・CPF単価280円ほか仮置き値を含む。実績値をいただき次第、再試算</a:t>
            </a:r>
          </a:p>
        </p:txBody>
      </p:sp>
      <p:sp>
        <p:nvSpPr>
          <p:cNvPr id="87" name="TextBox 86"/>
          <p:cNvSpPr txBox="1"/>
          <p:nvPr/>
        </p:nvSpPr>
        <p:spPr>
          <a:xfrm>
            <a:off x="381600" y="5670000"/>
            <a:ext cx="9144000" cy="342000"/>
          </a:xfrm>
          <a:prstGeom prst="rect">
            <a:avLst/>
          </a:prstGeom>
          <a:noFill/>
        </p:spPr>
        <p:txBody>
          <a:bodyPr wrap="square" anchor="t" lIns="36000" rIns="36000">
            <a:spAutoFit/>
          </a:bodyPr>
          <a:lstStyle/>
          <a:p>
            <a:pPr algn="l"/>
            <a:r>
              <a:rPr sz="1000" b="0">
                <a:solidFill>
                  <a:srgbClr val="595959"/>
                </a:solidFill>
                <a:latin typeface="メイリオ"/>
                <a:ea typeface="メイリオ"/>
                <a:cs typeface="メイリオ"/>
              </a:rPr>
              <a:t>※ 別途 CPF広告費 月20.8万円は、既存Meta予算（年250万円）からの転用＝追加出費ゼロ。</a:t>
            </a:r>
          </a:p>
          <a:p>
            <a:pPr algn="l"/>
            <a:r>
              <a:rPr sz="1000" b="0">
                <a:solidFill>
                  <a:srgbClr val="595959"/>
                </a:solidFill>
                <a:latin typeface="メイリオ"/>
                <a:ea typeface="メイリオ"/>
                <a:cs typeface="メイリオ"/>
              </a:rPr>
              <a:t>※ アカウント費は配信数に応じて自動切替（5,000円→3ヶ月目以降15,000円）。</a:t>
            </a:r>
          </a:p>
        </p:txBody>
      </p:sp>
    </p:spTree>
    <p:extLst>
      <p:ext uri="{BB962C8B-B14F-4D97-AF65-F5344CB8AC3E}">
        <p14:creationId xmlns:p14="http://schemas.microsoft.com/office/powerpoint/2010/main" val="2658526210"/>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2E341AF-76F7-F354-A08C-287945F04D7D}"/>
            </a:ext>
          </a:extLst>
        </p:cNvPr>
        <p:cNvGrpSpPr/>
        <p:nvPr/>
      </p:nvGrpSpPr>
      <p:grpSpPr>
        <a:xfrm>
          <a:off x="0" y="0"/>
          <a:ext cx="0" cy="0"/>
          <a:chOff x="0" y="0"/>
          <a:chExt cx="0" cy="0"/>
        </a:xfrm>
      </p:grpSpPr>
      <p:sp>
        <p:nvSpPr>
          <p:cNvPr id="2" name="TextBox 1"/>
          <p:cNvSpPr txBox="1"/>
          <p:nvPr/>
        </p:nvSpPr>
        <p:spPr>
          <a:xfrm>
            <a:off x="547200" y="136800"/>
            <a:ext cx="8784000" cy="338400"/>
          </a:xfrm>
          <a:prstGeom prst="rect">
            <a:avLst/>
          </a:prstGeom>
          <a:noFill/>
        </p:spPr>
        <p:txBody>
          <a:bodyPr wrap="square" lIns="0" tIns="21600" rIns="0" bIns="21600" anchor="ctr">
            <a:spAutoFit/>
          </a:bodyPr>
          <a:lstStyle/>
          <a:p>
            <a:pPr algn="l"/>
            <a:r>
              <a:rPr sz="1600" b="1">
                <a:solidFill>
                  <a:srgbClr val="002060"/>
                </a:solidFill>
                <a:latin typeface="メイリオ"/>
                <a:ea typeface="メイリオ"/>
                <a:cs typeface="メイリオ"/>
              </a:rPr>
              <a:t>公式実績【求人・人材 × LINE】</a:t>
            </a:r>
          </a:p>
        </p:txBody>
      </p:sp>
      <p:sp>
        <p:nvSpPr>
          <p:cNvPr id="3" name="TextBox 2"/>
          <p:cNvSpPr txBox="1"/>
          <p:nvPr/>
        </p:nvSpPr>
        <p:spPr>
          <a:xfrm>
            <a:off x="432000" y="648000"/>
            <a:ext cx="9036000" cy="684000"/>
          </a:xfrm>
          <a:prstGeom prst="rect">
            <a:avLst/>
          </a:prstGeom>
          <a:noFill/>
        </p:spPr>
        <p:txBody>
          <a:bodyPr wrap="square" lIns="0" tIns="21600" rIns="0" bIns="21600" anchor="ctr">
            <a:spAutoFit/>
          </a:bodyPr>
          <a:lstStyle/>
          <a:p>
            <a:pPr algn="l">
              <a:lnSpc>
                <a:spcPct val="128000"/>
              </a:lnSpc>
            </a:pPr>
            <a:r>
              <a:rPr sz="1300">
                <a:solidFill>
                  <a:srgbClr val="333333"/>
                </a:solidFill>
                <a:latin typeface="メイリオ"/>
                <a:ea typeface="メイリオ"/>
                <a:cs typeface="メイリオ"/>
              </a:rPr>
              <a:t>LINEヤフー社の公式導入事例より（いずれも実名・公開情報）。</a:t>
            </a:r>
          </a:p>
        </p:txBody>
      </p:sp>
      <p:cxnSp>
        <p:nvCxnSpPr>
          <p:cNvPr id="4" name="Connector 3"/>
          <p:cNvCxnSpPr/>
          <p:nvPr/>
        </p:nvCxnSpPr>
        <p:spPr>
          <a:xfrm>
            <a:off x="0" y="1389600"/>
            <a:ext cx="9907200" cy="0"/>
          </a:xfrm>
          <a:prstGeom prst="line">
            <a:avLst/>
          </a:prstGeom>
          <a:ln w="12700">
            <a:solidFill>
              <a:srgbClr val="D9D9D9"/>
            </a:solidFill>
          </a:ln>
        </p:spPr>
        <p:style>
          <a:lnRef idx="2">
            <a:schemeClr val="accent1"/>
          </a:lnRef>
          <a:fillRef idx="0">
            <a:schemeClr val="accent1"/>
          </a:fillRef>
          <a:effectRef idx="1">
            <a:schemeClr val="accent1"/>
          </a:effectRef>
          <a:fontRef idx="minor">
            <a:schemeClr val="tx1"/>
          </a:fontRef>
        </p:style>
      </p:cxnSp>
      <p:sp>
        <p:nvSpPr>
          <p:cNvPr id="5" name="Rounded Rectangle 4"/>
          <p:cNvSpPr/>
          <p:nvPr/>
        </p:nvSpPr>
        <p:spPr>
          <a:xfrm>
            <a:off x="432000" y="1620000"/>
            <a:ext cx="4431600" cy="2160000"/>
          </a:xfrm>
          <a:prstGeom prst="roundRect">
            <a:avLst>
              <a:gd name="adj" fmla="val 6000"/>
            </a:avLst>
          </a:prstGeom>
          <a:solidFill>
            <a:srgbClr val="F4F7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576000" y="1728000"/>
            <a:ext cx="4143600" cy="216000"/>
          </a:xfrm>
          <a:prstGeom prst="rect">
            <a:avLst/>
          </a:prstGeom>
          <a:noFill/>
        </p:spPr>
        <p:txBody>
          <a:bodyPr wrap="square" lIns="50400" tIns="21600" rIns="50400" bIns="21600" anchor="ctr">
            <a:spAutoFit/>
          </a:bodyPr>
          <a:lstStyle/>
          <a:p>
            <a:pPr algn="l"/>
            <a:r>
              <a:rPr sz="1300" b="1">
                <a:solidFill>
                  <a:srgbClr val="1F285A"/>
                </a:solidFill>
                <a:latin typeface="メイリオ"/>
                <a:ea typeface="メイリオ"/>
                <a:cs typeface="メイリオ"/>
              </a:rPr>
              <a:t>UZUZ（20代の就職・転職サポート）</a:t>
            </a:r>
          </a:p>
        </p:txBody>
      </p:sp>
      <p:sp>
        <p:nvSpPr>
          <p:cNvPr id="7" name="TextBox 6"/>
          <p:cNvSpPr txBox="1"/>
          <p:nvPr/>
        </p:nvSpPr>
        <p:spPr>
          <a:xfrm>
            <a:off x="576000" y="1980000"/>
            <a:ext cx="4143600" cy="216000"/>
          </a:xfrm>
          <a:prstGeom prst="rect">
            <a:avLst/>
          </a:prstGeom>
          <a:noFill/>
        </p:spPr>
        <p:txBody>
          <a:bodyPr wrap="square" lIns="50400" tIns="21600" rIns="50400" bIns="21600" anchor="ctr">
            <a:spAutoFit/>
          </a:bodyPr>
          <a:lstStyle/>
          <a:p>
            <a:pPr algn="ctr"/>
            <a:r>
              <a:rPr sz="1250">
                <a:solidFill>
                  <a:srgbClr val="333333"/>
                </a:solidFill>
                <a:latin typeface="メイリオ"/>
                <a:ea typeface="メイリオ"/>
                <a:cs typeface="メイリオ"/>
              </a:rPr>
              <a:t>LINE経由の面談予約率</a:t>
            </a:r>
          </a:p>
        </p:txBody>
      </p:sp>
      <p:sp>
        <p:nvSpPr>
          <p:cNvPr id="8" name="TextBox 7"/>
          <p:cNvSpPr txBox="1"/>
          <p:nvPr/>
        </p:nvSpPr>
        <p:spPr>
          <a:xfrm>
            <a:off x="576000" y="2196000"/>
            <a:ext cx="4143600" cy="503999"/>
          </a:xfrm>
          <a:prstGeom prst="rect">
            <a:avLst/>
          </a:prstGeom>
          <a:noFill/>
        </p:spPr>
        <p:txBody>
          <a:bodyPr wrap="square" lIns="50400" tIns="21600" rIns="50400" bIns="21600" anchor="ctr">
            <a:spAutoFit/>
          </a:bodyPr>
          <a:lstStyle/>
          <a:p>
            <a:pPr algn="ctr"/>
            <a:r>
              <a:rPr sz="3400" b="1">
                <a:solidFill>
                  <a:srgbClr val="ED7D31"/>
                </a:solidFill>
                <a:latin typeface="メイリオ"/>
                <a:ea typeface="メイリオ"/>
                <a:cs typeface="メイリオ"/>
              </a:rPr>
              <a:t>55%</a:t>
            </a:r>
          </a:p>
        </p:txBody>
      </p:sp>
      <p:sp>
        <p:nvSpPr>
          <p:cNvPr id="9" name="TextBox 8"/>
          <p:cNvSpPr txBox="1"/>
          <p:nvPr/>
        </p:nvSpPr>
        <p:spPr>
          <a:xfrm>
            <a:off x="576000" y="2736000"/>
            <a:ext cx="4143600" cy="900000"/>
          </a:xfrm>
          <a:prstGeom prst="rect">
            <a:avLst/>
          </a:prstGeom>
          <a:noFill/>
        </p:spPr>
        <p:txBody>
          <a:bodyPr wrap="square" lIns="50400" tIns="21600" rIns="50400" bIns="21600" anchor="t">
            <a:spAutoFit/>
          </a:bodyPr>
          <a:lstStyle/>
          <a:p>
            <a:pPr algn="l">
              <a:lnSpc>
                <a:spcPct val="135000"/>
              </a:lnSpc>
              <a:spcAft>
                <a:spcPts val="200"/>
              </a:spcAft>
            </a:pPr>
            <a:r>
              <a:rPr sz="1150">
                <a:solidFill>
                  <a:srgbClr val="333333"/>
                </a:solidFill>
                <a:latin typeface="メイリオ"/>
                <a:ea typeface="メイリオ"/>
                <a:cs typeface="メイリオ"/>
              </a:rPr>
              <a:t>・問い合わせの約3割がLINE経由。他チャネル比で高水準</a:t>
            </a:r>
          </a:p>
          <a:p>
            <a:pPr algn="l">
              <a:lnSpc>
                <a:spcPct val="135000"/>
              </a:lnSpc>
              <a:spcAft>
                <a:spcPts val="200"/>
              </a:spcAft>
            </a:pPr>
            <a:r>
              <a:rPr sz="1150">
                <a:solidFill>
                  <a:srgbClr val="333333"/>
                </a:solidFill>
                <a:latin typeface="メイリオ"/>
                <a:ea typeface="メイリオ"/>
                <a:cs typeface="メイリオ"/>
              </a:rPr>
              <a:t>・友だち追加広告（CPF）の獲得単価 約300円</a:t>
            </a:r>
          </a:p>
          <a:p>
            <a:pPr algn="l">
              <a:lnSpc>
                <a:spcPct val="135000"/>
              </a:lnSpc>
            </a:pPr>
            <a:r>
              <a:rPr sz="1150">
                <a:solidFill>
                  <a:srgbClr val="333333"/>
                </a:solidFill>
                <a:latin typeface="メイリオ"/>
                <a:ea typeface="メイリオ"/>
                <a:cs typeface="メイリオ"/>
              </a:rPr>
              <a:t>・チャットボットで求人紹介〜面談予約を自動化</a:t>
            </a:r>
          </a:p>
        </p:txBody>
      </p:sp>
      <p:sp>
        <p:nvSpPr>
          <p:cNvPr id="10" name="Rounded Rectangle 9"/>
          <p:cNvSpPr/>
          <p:nvPr/>
        </p:nvSpPr>
        <p:spPr>
          <a:xfrm>
            <a:off x="5043600" y="1620000"/>
            <a:ext cx="4431600" cy="2160000"/>
          </a:xfrm>
          <a:prstGeom prst="roundRect">
            <a:avLst>
              <a:gd name="adj" fmla="val 6000"/>
            </a:avLst>
          </a:prstGeom>
          <a:solidFill>
            <a:srgbClr val="F4F7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5187600" y="1728000"/>
            <a:ext cx="4143600" cy="216000"/>
          </a:xfrm>
          <a:prstGeom prst="rect">
            <a:avLst/>
          </a:prstGeom>
          <a:noFill/>
        </p:spPr>
        <p:txBody>
          <a:bodyPr wrap="square" lIns="50400" tIns="21600" rIns="50400" bIns="21600" anchor="ctr">
            <a:spAutoFit/>
          </a:bodyPr>
          <a:lstStyle/>
          <a:p>
            <a:pPr algn="l"/>
            <a:r>
              <a:rPr sz="1300" b="1">
                <a:solidFill>
                  <a:srgbClr val="1F285A"/>
                </a:solidFill>
                <a:latin typeface="メイリオ"/>
                <a:ea typeface="メイリオ"/>
                <a:cs typeface="メイリオ"/>
              </a:rPr>
              <a:t>タウンワーク（求人メディア）</a:t>
            </a:r>
          </a:p>
        </p:txBody>
      </p:sp>
      <p:sp>
        <p:nvSpPr>
          <p:cNvPr id="12" name="TextBox 11"/>
          <p:cNvSpPr txBox="1"/>
          <p:nvPr/>
        </p:nvSpPr>
        <p:spPr>
          <a:xfrm>
            <a:off x="5187600" y="1980000"/>
            <a:ext cx="4143600" cy="216000"/>
          </a:xfrm>
          <a:prstGeom prst="rect">
            <a:avLst/>
          </a:prstGeom>
          <a:noFill/>
        </p:spPr>
        <p:txBody>
          <a:bodyPr wrap="square" lIns="50400" tIns="21600" rIns="50400" bIns="21600" anchor="ctr">
            <a:spAutoFit/>
          </a:bodyPr>
          <a:lstStyle/>
          <a:p>
            <a:pPr algn="ctr"/>
            <a:r>
              <a:rPr sz="1250">
                <a:solidFill>
                  <a:srgbClr val="333333"/>
                </a:solidFill>
                <a:latin typeface="メイリオ"/>
                <a:ea typeface="メイリオ"/>
                <a:cs typeface="メイリオ"/>
              </a:rPr>
              <a:t>リッチメニュー経由の応募数</a:t>
            </a:r>
          </a:p>
        </p:txBody>
      </p:sp>
      <p:sp>
        <p:nvSpPr>
          <p:cNvPr id="13" name="TextBox 12"/>
          <p:cNvSpPr txBox="1"/>
          <p:nvPr/>
        </p:nvSpPr>
        <p:spPr>
          <a:xfrm>
            <a:off x="5187600" y="2196000"/>
            <a:ext cx="4143600" cy="503999"/>
          </a:xfrm>
          <a:prstGeom prst="rect">
            <a:avLst/>
          </a:prstGeom>
          <a:noFill/>
        </p:spPr>
        <p:txBody>
          <a:bodyPr wrap="square" lIns="50400" tIns="21600" rIns="50400" bIns="21600" anchor="ctr">
            <a:spAutoFit/>
          </a:bodyPr>
          <a:lstStyle/>
          <a:p>
            <a:pPr algn="ctr"/>
            <a:r>
              <a:rPr sz="3400" b="1">
                <a:solidFill>
                  <a:srgbClr val="ED7D31"/>
                </a:solidFill>
                <a:latin typeface="メイリオ"/>
                <a:ea typeface="メイリオ"/>
                <a:cs typeface="メイリオ"/>
              </a:rPr>
              <a:t>+79%</a:t>
            </a:r>
          </a:p>
        </p:txBody>
      </p:sp>
      <p:sp>
        <p:nvSpPr>
          <p:cNvPr id="14" name="TextBox 13"/>
          <p:cNvSpPr txBox="1"/>
          <p:nvPr/>
        </p:nvSpPr>
        <p:spPr>
          <a:xfrm>
            <a:off x="5187600" y="2736000"/>
            <a:ext cx="4143600" cy="900000"/>
          </a:xfrm>
          <a:prstGeom prst="rect">
            <a:avLst/>
          </a:prstGeom>
          <a:noFill/>
        </p:spPr>
        <p:txBody>
          <a:bodyPr wrap="square" lIns="50400" tIns="21600" rIns="50400" bIns="21600" anchor="t">
            <a:spAutoFit/>
          </a:bodyPr>
          <a:lstStyle/>
          <a:p>
            <a:pPr algn="l">
              <a:lnSpc>
                <a:spcPct val="135000"/>
              </a:lnSpc>
              <a:spcAft>
                <a:spcPts val="200"/>
              </a:spcAft>
            </a:pPr>
            <a:r>
              <a:rPr sz="1150">
                <a:solidFill>
                  <a:srgbClr val="333333"/>
                </a:solidFill>
                <a:latin typeface="メイリオ"/>
                <a:ea typeface="メイリオ"/>
                <a:cs typeface="メイリオ"/>
              </a:rPr>
              <a:t>・リッチメニュー改善でタップ数+20%</a:t>
            </a:r>
          </a:p>
          <a:p>
            <a:pPr algn="l">
              <a:lnSpc>
                <a:spcPct val="135000"/>
              </a:lnSpc>
              <a:spcAft>
                <a:spcPts val="200"/>
              </a:spcAft>
            </a:pPr>
            <a:r>
              <a:rPr sz="1150">
                <a:solidFill>
                  <a:srgbClr val="333333"/>
                </a:solidFill>
                <a:latin typeface="メイリオ"/>
                <a:ea typeface="メイリオ"/>
                <a:cs typeface="メイリオ"/>
              </a:rPr>
              <a:t>・その結果、メニュー経由の応募が79%向上</a:t>
            </a:r>
          </a:p>
          <a:p>
            <a:pPr algn="l">
              <a:lnSpc>
                <a:spcPct val="135000"/>
              </a:lnSpc>
            </a:pPr>
            <a:r>
              <a:rPr sz="1150">
                <a:solidFill>
                  <a:srgbClr val="333333"/>
                </a:solidFill>
                <a:latin typeface="メイリオ"/>
                <a:ea typeface="メイリオ"/>
                <a:cs typeface="メイリオ"/>
              </a:rPr>
              <a:t>・入口設計への投資が応募数に直結した事例</a:t>
            </a:r>
          </a:p>
        </p:txBody>
      </p:sp>
      <p:sp>
        <p:nvSpPr>
          <p:cNvPr id="15" name="Rounded Rectangle 14"/>
          <p:cNvSpPr/>
          <p:nvPr/>
        </p:nvSpPr>
        <p:spPr>
          <a:xfrm>
            <a:off x="432000" y="3924000"/>
            <a:ext cx="9043200" cy="396000"/>
          </a:xfrm>
          <a:prstGeom prst="roundRect">
            <a:avLst>
              <a:gd name="adj" fmla="val 10000"/>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wrap="square" lIns="108000" tIns="0" rIns="108000" bIns="0" rtlCol="0" anchor="ctr"/>
          <a:lstStyle/>
          <a:p>
            <a:pPr algn="ctr">
              <a:lnSpc>
                <a:spcPct val="125000"/>
              </a:lnSpc>
            </a:pPr>
            <a:r>
              <a:rPr sz="1350" b="1">
                <a:solidFill>
                  <a:srgbClr val="FFFFFF"/>
                </a:solidFill>
                <a:latin typeface="メイリオ"/>
                <a:ea typeface="メイリオ"/>
                <a:cs typeface="メイリオ"/>
              </a:rPr>
              <a:t>「面談への近さ」と「入口設計の効果」。本提案の2本柱には、どちらも公式実績がある。</a:t>
            </a:r>
          </a:p>
        </p:txBody>
      </p:sp>
      <p:sp>
        <p:nvSpPr>
          <p:cNvPr id="16" name="TextBox 15"/>
          <p:cNvSpPr txBox="1"/>
          <p:nvPr/>
        </p:nvSpPr>
        <p:spPr>
          <a:xfrm>
            <a:off x="432000" y="6246000"/>
            <a:ext cx="9043200" cy="324000"/>
          </a:xfrm>
          <a:prstGeom prst="rect">
            <a:avLst/>
          </a:prstGeom>
          <a:noFill/>
        </p:spPr>
        <p:txBody>
          <a:bodyPr wrap="square" lIns="0" tIns="21600" rIns="0" bIns="21600" anchor="t">
            <a:spAutoFit/>
          </a:bodyPr>
          <a:lstStyle/>
          <a:p>
            <a:pPr algn="l">
              <a:lnSpc>
                <a:spcPct val="115000"/>
              </a:lnSpc>
            </a:pPr>
            <a:r>
              <a:rPr sz="950">
                <a:solidFill>
                  <a:srgbClr val="7F7F7F"/>
                </a:solidFill>
                <a:latin typeface="メイリオ"/>
                <a:ea typeface="メイリオ"/>
                <a:cs typeface="メイリオ"/>
              </a:rPr>
              <a:t>出典：LINEヤフー for Business 導入事例（UZUZ／タウンワーク）。数値は各事例記事の公表値</a:t>
            </a:r>
          </a:p>
        </p:txBody>
      </p:sp>
    </p:spTree>
    <p:extLst>
      <p:ext uri="{BB962C8B-B14F-4D97-AF65-F5344CB8AC3E}">
        <p14:creationId xmlns:p14="http://schemas.microsoft.com/office/powerpoint/2010/main" val="3731031205"/>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DC5A5A4-75AD-516A-9D25-18F8EF002C9C}"/>
            </a:ext>
          </a:extLst>
        </p:cNvPr>
        <p:cNvGrpSpPr/>
        <p:nvPr/>
      </p:nvGrpSpPr>
      <p:grpSpPr>
        <a:xfrm>
          <a:off x="0" y="0"/>
          <a:ext cx="0" cy="0"/>
          <a:chOff x="0" y="0"/>
          <a:chExt cx="0" cy="0"/>
        </a:xfrm>
      </p:grpSpPr>
      <p:sp>
        <p:nvSpPr>
          <p:cNvPr id="6" name="Google Shape;752;p28">
            <a:extLst>
              <a:ext uri="{FF2B5EF4-FFF2-40B4-BE49-F238E27FC236}">
                <a16:creationId xmlns:a16="http://schemas.microsoft.com/office/drawing/2014/main" id="{0308A94D-067F-5D10-BF02-6777DD32E821}"/>
              </a:ext>
            </a:extLst>
          </p:cNvPr>
          <p:cNvSpPr txBox="1"/>
          <p:nvPr/>
        </p:nvSpPr>
        <p:spPr>
          <a:xfrm>
            <a:off x="548883" y="138137"/>
            <a:ext cx="7027574" cy="338514"/>
          </a:xfrm>
          <a:prstGeom prst="rect">
            <a:avLst/>
          </a:prstGeom>
          <a:noFill/>
          <a:ln>
            <a:noFill/>
          </a:ln>
        </p:spPr>
        <p:txBody>
          <a:bodyPr spcFirstLastPara="1" wrap="square" lIns="91425" tIns="45700" rIns="91425" bIns="45700" anchor="ctr" anchorCtr="0">
            <a:spAutoFit/>
          </a:bodyPr>
          <a:lstStyle/>
          <a:p>
            <a:pPr lvl="0"/>
            <a:r>
              <a:rPr lang="en-US" altLang="ja-JP" sz="1600" b="1" dirty="0">
                <a:solidFill>
                  <a:schemeClr val="tx1">
                    <a:lumMod val="50000"/>
                    <a:lumOff val="50000"/>
                  </a:schemeClr>
                </a:solidFill>
                <a:latin typeface="Meiryo"/>
                <a:ea typeface="Meiryo"/>
                <a:cs typeface="Meiryo"/>
                <a:sym typeface="Meiryo"/>
              </a:rPr>
              <a:t>LINE</a:t>
            </a:r>
            <a:r>
              <a:rPr lang="ja-JP" altLang="en-US" sz="1600" b="1" dirty="0">
                <a:solidFill>
                  <a:schemeClr val="tx1">
                    <a:lumMod val="50000"/>
                    <a:lumOff val="50000"/>
                  </a:schemeClr>
                </a:solidFill>
                <a:latin typeface="Meiryo"/>
                <a:ea typeface="Meiryo"/>
                <a:cs typeface="Meiryo"/>
                <a:sym typeface="Meiryo"/>
              </a:rPr>
              <a:t>施策における重要な考え方</a:t>
            </a:r>
            <a:endParaRPr lang="en-US" altLang="ja-JP" sz="1600" b="1" dirty="0">
              <a:solidFill>
                <a:schemeClr val="tx1">
                  <a:lumMod val="50000"/>
                  <a:lumOff val="50000"/>
                </a:schemeClr>
              </a:solidFill>
              <a:latin typeface="Meiryo"/>
              <a:ea typeface="Meiryo"/>
              <a:cs typeface="Meiryo"/>
              <a:sym typeface="Meiryo"/>
            </a:endParaRPr>
          </a:p>
        </p:txBody>
      </p:sp>
      <p:sp>
        <p:nvSpPr>
          <p:cNvPr id="7" name="正方形/長方形 6">
            <a:extLst>
              <a:ext uri="{FF2B5EF4-FFF2-40B4-BE49-F238E27FC236}">
                <a16:creationId xmlns:a16="http://schemas.microsoft.com/office/drawing/2014/main" id="{31489518-639C-6F8B-3CC2-E3A3D82066B2}"/>
              </a:ext>
            </a:extLst>
          </p:cNvPr>
          <p:cNvSpPr/>
          <p:nvPr/>
        </p:nvSpPr>
        <p:spPr>
          <a:xfrm>
            <a:off x="275003" y="1728082"/>
            <a:ext cx="9355994" cy="1391288"/>
          </a:xfrm>
          <a:prstGeom prst="rect">
            <a:avLst/>
          </a:prstGeom>
          <a:solidFill>
            <a:schemeClr val="accent1">
              <a:lumMod val="20000"/>
              <a:lumOff val="80000"/>
            </a:schemeClr>
          </a:solidFill>
          <a:ln w="22225">
            <a:solidFill>
              <a:schemeClr val="bg1">
                <a:lumMod val="9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r>
              <a:rPr lang="ja-JP" altLang="en-US" sz="2400" b="1" dirty="0">
                <a:solidFill>
                  <a:schemeClr val="tx1">
                    <a:lumMod val="50000"/>
                    <a:lumOff val="50000"/>
                  </a:schemeClr>
                </a:solidFill>
                <a:latin typeface="メイリオ" panose="020B0604030504040204" pitchFamily="50" charset="-128"/>
                <a:ea typeface="メイリオ" panose="020B0604030504040204" pitchFamily="50" charset="-128"/>
              </a:rPr>
              <a:t>既存友だち</a:t>
            </a:r>
            <a:r>
              <a:rPr lang="ja-JP" altLang="en-US" sz="2400" dirty="0">
                <a:solidFill>
                  <a:schemeClr val="tx1">
                    <a:lumMod val="50000"/>
                    <a:lumOff val="50000"/>
                  </a:schemeClr>
                </a:solidFill>
                <a:latin typeface="メイリオ" panose="020B0604030504040204" pitchFamily="50" charset="-128"/>
                <a:ea typeface="メイリオ" panose="020B0604030504040204" pitchFamily="50" charset="-128"/>
              </a:rPr>
              <a:t>のメッセージ配信を拡大＆検証し</a:t>
            </a:r>
            <a:endParaRPr lang="en-US" altLang="ja-JP" sz="2400" dirty="0">
              <a:solidFill>
                <a:schemeClr val="tx1">
                  <a:lumMod val="50000"/>
                  <a:lumOff val="50000"/>
                </a:schemeClr>
              </a:solidFill>
              <a:latin typeface="メイリオ" panose="020B0604030504040204" pitchFamily="50" charset="-128"/>
              <a:ea typeface="メイリオ" panose="020B0604030504040204" pitchFamily="50" charset="-128"/>
            </a:endParaRPr>
          </a:p>
          <a:p>
            <a:pPr algn="ctr"/>
            <a:r>
              <a:rPr lang="ja-JP" altLang="en-US" sz="2400" dirty="0">
                <a:solidFill>
                  <a:schemeClr val="tx1">
                    <a:lumMod val="50000"/>
                    <a:lumOff val="50000"/>
                  </a:schemeClr>
                </a:solidFill>
                <a:latin typeface="メイリオ" panose="020B0604030504040204" pitchFamily="50" charset="-128"/>
                <a:ea typeface="メイリオ" panose="020B0604030504040204" pitchFamily="50" charset="-128"/>
              </a:rPr>
              <a:t>課金対効果を向上する</a:t>
            </a:r>
          </a:p>
        </p:txBody>
      </p:sp>
      <p:sp>
        <p:nvSpPr>
          <p:cNvPr id="9" name="正方形/長方形 8">
            <a:extLst>
              <a:ext uri="{FF2B5EF4-FFF2-40B4-BE49-F238E27FC236}">
                <a16:creationId xmlns:a16="http://schemas.microsoft.com/office/drawing/2014/main" id="{DD339252-F691-EA9D-983C-6241C7AABA77}"/>
              </a:ext>
            </a:extLst>
          </p:cNvPr>
          <p:cNvSpPr/>
          <p:nvPr/>
        </p:nvSpPr>
        <p:spPr>
          <a:xfrm>
            <a:off x="275003" y="3221875"/>
            <a:ext cx="9355994" cy="1391288"/>
          </a:xfrm>
          <a:prstGeom prst="rect">
            <a:avLst/>
          </a:prstGeom>
          <a:solidFill>
            <a:schemeClr val="accent1">
              <a:lumMod val="20000"/>
              <a:lumOff val="80000"/>
            </a:schemeClr>
          </a:solidFill>
          <a:ln w="22225">
            <a:solidFill>
              <a:schemeClr val="bg1">
                <a:lumMod val="9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r>
              <a:rPr lang="ja-JP" altLang="en-US" sz="2400" b="1" dirty="0">
                <a:solidFill>
                  <a:schemeClr val="tx1">
                    <a:lumMod val="50000"/>
                    <a:lumOff val="50000"/>
                  </a:schemeClr>
                </a:solidFill>
                <a:latin typeface="メイリオ" panose="020B0604030504040204" pitchFamily="50" charset="-128"/>
                <a:ea typeface="メイリオ" panose="020B0604030504040204" pitchFamily="50" charset="-128"/>
              </a:rPr>
              <a:t>新規友だち</a:t>
            </a:r>
            <a:r>
              <a:rPr lang="ja-JP" altLang="en-US" sz="2400" dirty="0">
                <a:solidFill>
                  <a:schemeClr val="tx1">
                    <a:lumMod val="50000"/>
                    <a:lumOff val="50000"/>
                  </a:schemeClr>
                </a:solidFill>
                <a:latin typeface="メイリオ" panose="020B0604030504040204" pitchFamily="50" charset="-128"/>
                <a:ea typeface="メイリオ" panose="020B0604030504040204" pitchFamily="50" charset="-128"/>
              </a:rPr>
              <a:t>の追加動線を拡大</a:t>
            </a:r>
            <a:r>
              <a:rPr lang="en-US" altLang="ja-JP" sz="2400" dirty="0">
                <a:solidFill>
                  <a:schemeClr val="tx1">
                    <a:lumMod val="50000"/>
                    <a:lumOff val="50000"/>
                  </a:schemeClr>
                </a:solidFill>
                <a:latin typeface="メイリオ" panose="020B0604030504040204" pitchFamily="50" charset="-128"/>
                <a:ea typeface="メイリオ" panose="020B0604030504040204" pitchFamily="50" charset="-128"/>
              </a:rPr>
              <a:t>&amp;</a:t>
            </a:r>
            <a:r>
              <a:rPr lang="ja-JP" altLang="en-US" sz="2400" dirty="0">
                <a:solidFill>
                  <a:schemeClr val="tx1">
                    <a:lumMod val="50000"/>
                    <a:lumOff val="50000"/>
                  </a:schemeClr>
                </a:solidFill>
                <a:latin typeface="メイリオ" panose="020B0604030504040204" pitchFamily="50" charset="-128"/>
                <a:ea typeface="メイリオ" panose="020B0604030504040204" pitchFamily="50" charset="-128"/>
              </a:rPr>
              <a:t>整備し</a:t>
            </a:r>
            <a:endParaRPr lang="en-US" altLang="ja-JP" sz="2400" dirty="0">
              <a:solidFill>
                <a:schemeClr val="tx1">
                  <a:lumMod val="50000"/>
                  <a:lumOff val="50000"/>
                </a:schemeClr>
              </a:solidFill>
              <a:latin typeface="メイリオ" panose="020B0604030504040204" pitchFamily="50" charset="-128"/>
              <a:ea typeface="メイリオ" panose="020B0604030504040204" pitchFamily="50" charset="-128"/>
            </a:endParaRPr>
          </a:p>
          <a:p>
            <a:pPr algn="ctr"/>
            <a:r>
              <a:rPr lang="ja-JP" altLang="en-US" sz="2400" dirty="0">
                <a:solidFill>
                  <a:schemeClr val="tx1">
                    <a:lumMod val="50000"/>
                    <a:lumOff val="50000"/>
                  </a:schemeClr>
                </a:solidFill>
                <a:latin typeface="メイリオ" panose="020B0604030504040204" pitchFamily="50" charset="-128"/>
                <a:ea typeface="メイリオ" panose="020B0604030504040204" pitchFamily="50" charset="-128"/>
              </a:rPr>
              <a:t>見込みの高いユーザーのリードを獲得する</a:t>
            </a:r>
          </a:p>
        </p:txBody>
      </p:sp>
      <p:cxnSp>
        <p:nvCxnSpPr>
          <p:cNvPr id="10" name="直線コネクタ 9">
            <a:extLst>
              <a:ext uri="{FF2B5EF4-FFF2-40B4-BE49-F238E27FC236}">
                <a16:creationId xmlns:a16="http://schemas.microsoft.com/office/drawing/2014/main" id="{71A329C6-D6CA-D19E-C8A2-D6D234F2FA53}"/>
              </a:ext>
            </a:extLst>
          </p:cNvPr>
          <p:cNvCxnSpPr/>
          <p:nvPr/>
        </p:nvCxnSpPr>
        <p:spPr>
          <a:xfrm>
            <a:off x="1519747" y="1452035"/>
            <a:ext cx="6578990" cy="0"/>
          </a:xfrm>
          <a:prstGeom prst="line">
            <a:avLst/>
          </a:prstGeom>
          <a:ln w="12700"/>
        </p:spPr>
        <p:style>
          <a:lnRef idx="1">
            <a:schemeClr val="accent1"/>
          </a:lnRef>
          <a:fillRef idx="0">
            <a:schemeClr val="accent1"/>
          </a:fillRef>
          <a:effectRef idx="0">
            <a:schemeClr val="accent1"/>
          </a:effectRef>
          <a:fontRef idx="minor">
            <a:schemeClr val="tx1"/>
          </a:fontRef>
        </p:style>
      </p:cxnSp>
      <p:sp>
        <p:nvSpPr>
          <p:cNvPr id="13" name="楕円 12">
            <a:extLst>
              <a:ext uri="{FF2B5EF4-FFF2-40B4-BE49-F238E27FC236}">
                <a16:creationId xmlns:a16="http://schemas.microsoft.com/office/drawing/2014/main" id="{718487F9-9129-0E91-A220-B2EF077840F3}"/>
              </a:ext>
            </a:extLst>
          </p:cNvPr>
          <p:cNvSpPr/>
          <p:nvPr/>
        </p:nvSpPr>
        <p:spPr>
          <a:xfrm>
            <a:off x="3756183" y="751045"/>
            <a:ext cx="2022158" cy="589765"/>
          </a:xfrm>
          <a:prstGeom prst="ellipse">
            <a:avLst/>
          </a:prstGeom>
          <a:solidFill>
            <a:schemeClr val="accent1">
              <a:lumMod val="40000"/>
              <a:lumOff val="60000"/>
              <a:alpha val="41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endParaRPr kumimoji="1" lang="ja-JP" altLang="en-US">
              <a:solidFill>
                <a:schemeClr val="tx1">
                  <a:lumMod val="50000"/>
                  <a:lumOff val="50000"/>
                </a:schemeClr>
              </a:solidFill>
            </a:endParaRPr>
          </a:p>
        </p:txBody>
      </p:sp>
      <p:sp>
        <p:nvSpPr>
          <p:cNvPr id="14" name="正方形/長方形 13">
            <a:extLst>
              <a:ext uri="{FF2B5EF4-FFF2-40B4-BE49-F238E27FC236}">
                <a16:creationId xmlns:a16="http://schemas.microsoft.com/office/drawing/2014/main" id="{D2F1E1CA-9D65-A02D-917C-CB72A01459A6}"/>
              </a:ext>
            </a:extLst>
          </p:cNvPr>
          <p:cNvSpPr/>
          <p:nvPr/>
        </p:nvSpPr>
        <p:spPr>
          <a:xfrm>
            <a:off x="1502508" y="842812"/>
            <a:ext cx="6647975" cy="461665"/>
          </a:xfrm>
          <a:prstGeom prst="rect">
            <a:avLst/>
          </a:prstGeom>
        </p:spPr>
        <p:txBody>
          <a:bodyPr wrap="none">
            <a:spAutoFit/>
          </a:bodyPr>
          <a:ls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pPr algn="ctr"/>
            <a:r>
              <a:rPr lang="ja-JP" altLang="en-US" sz="2400" b="1" dirty="0">
                <a:solidFill>
                  <a:schemeClr val="tx1">
                    <a:lumMod val="50000"/>
                    <a:lumOff val="50000"/>
                  </a:schemeClr>
                </a:solidFill>
                <a:latin typeface="メイリオ" panose="020B0604030504040204" pitchFamily="50" charset="-128"/>
                <a:ea typeface="メイリオ" panose="020B0604030504040204" pitchFamily="50" charset="-128"/>
              </a:rPr>
              <a:t>アカウント効果を</a:t>
            </a:r>
            <a:r>
              <a:rPr lang="ja-JP" altLang="en-US" sz="2400" b="1" dirty="0">
                <a:latin typeface="メイリオ" panose="020B0604030504040204" pitchFamily="50" charset="-128"/>
                <a:ea typeface="メイリオ" panose="020B0604030504040204" pitchFamily="50" charset="-128"/>
              </a:rPr>
              <a:t>最大化する</a:t>
            </a:r>
            <a:r>
              <a:rPr lang="ja-JP" altLang="en-US" sz="2400" dirty="0">
                <a:solidFill>
                  <a:schemeClr val="tx1">
                    <a:lumMod val="50000"/>
                    <a:lumOff val="50000"/>
                  </a:schemeClr>
                </a:solidFill>
                <a:latin typeface="メイリオ" panose="020B0604030504040204" pitchFamily="50" charset="-128"/>
                <a:ea typeface="メイリオ" panose="020B0604030504040204" pitchFamily="50" charset="-128"/>
              </a:rPr>
              <a:t>ためには・・・？</a:t>
            </a:r>
          </a:p>
        </p:txBody>
      </p:sp>
      <p:sp>
        <p:nvSpPr>
          <p:cNvPr id="15" name="下矢印 1">
            <a:extLst>
              <a:ext uri="{FF2B5EF4-FFF2-40B4-BE49-F238E27FC236}">
                <a16:creationId xmlns:a16="http://schemas.microsoft.com/office/drawing/2014/main" id="{453026E5-FC32-AC14-0437-B9F8A5DB717B}"/>
              </a:ext>
            </a:extLst>
          </p:cNvPr>
          <p:cNvSpPr/>
          <p:nvPr/>
        </p:nvSpPr>
        <p:spPr>
          <a:xfrm>
            <a:off x="3379742" y="4715668"/>
            <a:ext cx="3196046" cy="421640"/>
          </a:xfrm>
          <a:prstGeom prst="downArrow">
            <a:avLst>
              <a:gd name="adj1" fmla="val 50000"/>
              <a:gd name="adj2" fmla="val 52758"/>
            </a:avLst>
          </a:prstGeom>
          <a:solidFill>
            <a:schemeClr val="bg1">
              <a:lumMod val="95000"/>
            </a:schemeClr>
          </a:solidFill>
          <a:ln>
            <a:solidFill>
              <a:schemeClr val="bg1">
                <a:lumMod val="8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endParaRPr kumimoji="1" lang="ja-JP" altLang="en-US">
              <a:solidFill>
                <a:schemeClr val="tx1">
                  <a:lumMod val="50000"/>
                  <a:lumOff val="50000"/>
                </a:schemeClr>
              </a:solidFill>
            </a:endParaRPr>
          </a:p>
        </p:txBody>
      </p:sp>
      <p:sp>
        <p:nvSpPr>
          <p:cNvPr id="19" name="正方形/長方形 18">
            <a:extLst>
              <a:ext uri="{FF2B5EF4-FFF2-40B4-BE49-F238E27FC236}">
                <a16:creationId xmlns:a16="http://schemas.microsoft.com/office/drawing/2014/main" id="{ED0D0284-90AC-92C0-335B-D83B919080B0}"/>
              </a:ext>
            </a:extLst>
          </p:cNvPr>
          <p:cNvSpPr/>
          <p:nvPr/>
        </p:nvSpPr>
        <p:spPr>
          <a:xfrm>
            <a:off x="275003" y="5239812"/>
            <a:ext cx="9355994" cy="867143"/>
          </a:xfrm>
          <a:prstGeom prst="rect">
            <a:avLst/>
          </a:prstGeom>
          <a:solidFill>
            <a:schemeClr val="accent1">
              <a:lumMod val="20000"/>
              <a:lumOff val="80000"/>
            </a:schemeClr>
          </a:solidFill>
          <a:ln w="22225">
            <a:solidFill>
              <a:schemeClr val="bg1">
                <a:lumMod val="9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r>
              <a:rPr lang="en-US" altLang="ja-JP" sz="2400" dirty="0">
                <a:solidFill>
                  <a:schemeClr val="tx1">
                    <a:lumMod val="50000"/>
                    <a:lumOff val="50000"/>
                  </a:schemeClr>
                </a:solidFill>
                <a:latin typeface="メイリオ" panose="020B0604030504040204" pitchFamily="50" charset="-128"/>
                <a:ea typeface="メイリオ" panose="020B0604030504040204" pitchFamily="50" charset="-128"/>
              </a:rPr>
              <a:t>WEB</a:t>
            </a:r>
            <a:r>
              <a:rPr lang="ja-JP" altLang="en-US" sz="2400" dirty="0">
                <a:solidFill>
                  <a:schemeClr val="tx1">
                    <a:lumMod val="50000"/>
                    <a:lumOff val="50000"/>
                  </a:schemeClr>
                </a:solidFill>
                <a:latin typeface="メイリオ" panose="020B0604030504040204" pitchFamily="50" charset="-128"/>
                <a:ea typeface="メイリオ" panose="020B0604030504040204" pitchFamily="50" charset="-128"/>
              </a:rPr>
              <a:t>サイト上情報と連携させ、配信効果を数値化する</a:t>
            </a:r>
          </a:p>
        </p:txBody>
      </p:sp>
    </p:spTree>
    <p:extLst>
      <p:ext uri="{BB962C8B-B14F-4D97-AF65-F5344CB8AC3E}">
        <p14:creationId xmlns:p14="http://schemas.microsoft.com/office/powerpoint/2010/main" val="3212290559"/>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C09A82F-6F2C-17B3-F79B-7B5B5CE96861}"/>
            </a:ext>
          </a:extLst>
        </p:cNvPr>
        <p:cNvGrpSpPr/>
        <p:nvPr/>
      </p:nvGrpSpPr>
      <p:grpSpPr>
        <a:xfrm>
          <a:off x="0" y="0"/>
          <a:ext cx="0" cy="0"/>
          <a:chOff x="0" y="0"/>
          <a:chExt cx="0" cy="0"/>
        </a:xfrm>
      </p:grpSpPr>
      <p:sp>
        <p:nvSpPr>
          <p:cNvPr id="4" name="Google Shape;752;p28">
            <a:extLst>
              <a:ext uri="{FF2B5EF4-FFF2-40B4-BE49-F238E27FC236}">
                <a16:creationId xmlns:a16="http://schemas.microsoft.com/office/drawing/2014/main" id="{1CFE6082-7D98-8143-1FF3-237252E680EE}"/>
              </a:ext>
            </a:extLst>
          </p:cNvPr>
          <p:cNvSpPr txBox="1"/>
          <p:nvPr/>
        </p:nvSpPr>
        <p:spPr>
          <a:xfrm>
            <a:off x="548883" y="138137"/>
            <a:ext cx="6276325" cy="338514"/>
          </a:xfrm>
          <a:prstGeom prst="rect">
            <a:avLst/>
          </a:prstGeom>
          <a:noFill/>
          <a:ln>
            <a:noFill/>
          </a:ln>
        </p:spPr>
        <p:txBody>
          <a:bodyPr spcFirstLastPara="1" wrap="square" lIns="91425" tIns="45700" rIns="91425" bIns="45700" anchor="ctr" anchorCtr="0">
            <a:spAutoFit/>
          </a:bodyPr>
          <a:lstStyle/>
          <a:p>
            <a:pPr lvl="0"/>
            <a:r>
              <a:rPr lang="ja-JP" altLang="en-US" sz="1600" b="1" dirty="0">
                <a:solidFill>
                  <a:srgbClr val="323366"/>
                </a:solidFill>
                <a:latin typeface="メイリオ" panose="020B0604030504040204" pitchFamily="50" charset="-128"/>
                <a:ea typeface="メイリオ" panose="020B0604030504040204" pitchFamily="50" charset="-128"/>
                <a:cs typeface="Meiryo"/>
                <a:sym typeface="Meiryo"/>
              </a:rPr>
              <a:t>資料アジェンダ</a:t>
            </a:r>
          </a:p>
        </p:txBody>
      </p:sp>
      <p:sp>
        <p:nvSpPr>
          <p:cNvPr id="2" name="正方形/長方形 1">
            <a:extLst>
              <a:ext uri="{FF2B5EF4-FFF2-40B4-BE49-F238E27FC236}">
                <a16:creationId xmlns:a16="http://schemas.microsoft.com/office/drawing/2014/main" id="{C954AB23-5BD2-D3D6-314F-6A94411406D6}"/>
              </a:ext>
            </a:extLst>
          </p:cNvPr>
          <p:cNvSpPr/>
          <p:nvPr/>
        </p:nvSpPr>
        <p:spPr>
          <a:xfrm>
            <a:off x="1988098" y="3038203"/>
            <a:ext cx="5929829" cy="584775"/>
          </a:xfrm>
          <a:prstGeom prst="rect">
            <a:avLst/>
          </a:prstGeom>
        </p:spPr>
        <p:txBody>
          <a:bodyPr wrap="none">
            <a:spAutoFit/>
          </a:bodyPr>
          <a:lstStyle/>
          <a:p>
            <a:pPr algn="ctr"/>
            <a:r>
              <a:rPr lang="ja-JP" altLang="en-US" sz="3200" b="1" dirty="0">
                <a:solidFill>
                  <a:schemeClr val="tx1">
                    <a:lumMod val="75000"/>
                    <a:lumOff val="25000"/>
                  </a:schemeClr>
                </a:solidFill>
                <a:latin typeface="メイリオ" panose="020B0604030504040204" pitchFamily="50" charset="-128"/>
                <a:ea typeface="メイリオ" panose="020B0604030504040204" pitchFamily="50" charset="-128"/>
                <a:cs typeface="メイリオ" panose="020B0604030504040204" pitchFamily="50" charset="-128"/>
              </a:rPr>
              <a:t>施策の詳細（新規友だち獲得）</a:t>
            </a:r>
            <a:endParaRPr lang="en-US" altLang="ja-IS" sz="3200" b="1" dirty="0">
              <a:solidFill>
                <a:schemeClr val="tx1">
                  <a:lumMod val="75000"/>
                  <a:lumOff val="25000"/>
                </a:schemeClr>
              </a:solidFill>
              <a:latin typeface="メイリオ" panose="020B0604030504040204" pitchFamily="50" charset="-128"/>
              <a:ea typeface="メイリオ" panose="020B0604030504040204" pitchFamily="50" charset="-128"/>
              <a:cs typeface="メイリオ" panose="020B0604030504040204" pitchFamily="50" charset="-128"/>
            </a:endParaRPr>
          </a:p>
        </p:txBody>
      </p:sp>
    </p:spTree>
    <p:extLst>
      <p:ext uri="{BB962C8B-B14F-4D97-AF65-F5344CB8AC3E}">
        <p14:creationId xmlns:p14="http://schemas.microsoft.com/office/powerpoint/2010/main" val="172401104"/>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E682CB4-E2E4-29F5-FA9B-848F31DADC7C}"/>
            </a:ext>
          </a:extLst>
        </p:cNvPr>
        <p:cNvGrpSpPr/>
        <p:nvPr/>
      </p:nvGrpSpPr>
      <p:grpSpPr>
        <a:xfrm>
          <a:off x="0" y="0"/>
          <a:ext cx="0" cy="0"/>
          <a:chOff x="0" y="0"/>
          <a:chExt cx="0" cy="0"/>
        </a:xfrm>
      </p:grpSpPr>
      <p:sp>
        <p:nvSpPr>
          <p:cNvPr id="3" name="正方形/長方形 2">
            <a:extLst>
              <a:ext uri="{FF2B5EF4-FFF2-40B4-BE49-F238E27FC236}">
                <a16:creationId xmlns:a16="http://schemas.microsoft.com/office/drawing/2014/main" id="{E4CBB36F-6A78-6E75-241B-56F5E546F316}"/>
              </a:ext>
            </a:extLst>
          </p:cNvPr>
          <p:cNvSpPr/>
          <p:nvPr/>
        </p:nvSpPr>
        <p:spPr>
          <a:xfrm>
            <a:off x="0" y="577940"/>
            <a:ext cx="9906000" cy="812735"/>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kumimoji="1" lang="ja-JP" altLang="en-US">
              <a:latin typeface="メイリオ" panose="020B0604030504040204" pitchFamily="50" charset="-128"/>
              <a:ea typeface="メイリオ" panose="020B0604030504040204" pitchFamily="50" charset="-128"/>
            </a:endParaRPr>
          </a:p>
        </p:txBody>
      </p:sp>
      <p:sp>
        <p:nvSpPr>
          <p:cNvPr id="4" name="正方形/長方形 3">
            <a:extLst>
              <a:ext uri="{FF2B5EF4-FFF2-40B4-BE49-F238E27FC236}">
                <a16:creationId xmlns:a16="http://schemas.microsoft.com/office/drawing/2014/main" id="{DD972FB4-83F9-0440-88DE-3A1A2ED666D1}"/>
              </a:ext>
            </a:extLst>
          </p:cNvPr>
          <p:cNvSpPr/>
          <p:nvPr/>
        </p:nvSpPr>
        <p:spPr>
          <a:xfrm>
            <a:off x="379976" y="635062"/>
            <a:ext cx="9160881" cy="698492"/>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tIns="90000" anchor="ctr"/>
          <a:lstStyle/>
          <a:p>
            <a:pPr algn="ctr">
              <a:lnSpc>
                <a:spcPts val="2455"/>
              </a:lnSpc>
            </a:pPr>
            <a:endParaRPr lang="en-US" altLang="ja-JP" sz="1400" dirty="0">
              <a:solidFill>
                <a:srgbClr val="343434"/>
              </a:solidFill>
              <a:latin typeface="メイリオ" panose="020B0604030504040204" pitchFamily="50" charset="-128"/>
              <a:ea typeface="メイリオ" panose="020B0604030504040204" pitchFamily="50" charset="-128"/>
            </a:endParaRPr>
          </a:p>
        </p:txBody>
      </p:sp>
      <p:sp>
        <p:nvSpPr>
          <p:cNvPr id="45" name="Google Shape;156;p7">
            <a:extLst>
              <a:ext uri="{FF2B5EF4-FFF2-40B4-BE49-F238E27FC236}">
                <a16:creationId xmlns:a16="http://schemas.microsoft.com/office/drawing/2014/main" id="{F192099F-5377-81D7-2989-7E200A0D8A4C}"/>
              </a:ext>
            </a:extLst>
          </p:cNvPr>
          <p:cNvSpPr txBox="1"/>
          <p:nvPr/>
        </p:nvSpPr>
        <p:spPr>
          <a:xfrm>
            <a:off x="548883" y="138118"/>
            <a:ext cx="6514857" cy="338554"/>
          </a:xfrm>
          <a:prstGeom prst="rect">
            <a:avLst/>
          </a:prstGeom>
          <a:noFill/>
          <a:ln w="19050">
            <a:noFill/>
          </a:ln>
        </p:spPr>
        <p:txBody>
          <a:bodyPr spcFirstLastPara="1" wrap="square" lIns="91425" tIns="45700" rIns="91425" bIns="45700" anchor="ctr" anchorCtr="0">
            <a:spAutoFit/>
          </a:bodyPr>
          <a:lstStyle/>
          <a:p>
            <a:pPr marL="0" marR="0" lvl="0" indent="0" algn="l" rtl="0">
              <a:spcBef>
                <a:spcPts val="0"/>
              </a:spcBef>
              <a:spcAft>
                <a:spcPts val="0"/>
              </a:spcAft>
              <a:buClr>
                <a:srgbClr val="002060"/>
              </a:buClr>
              <a:buSzPts val="1600"/>
              <a:buFont typeface="Arial"/>
              <a:buNone/>
            </a:pPr>
            <a:r>
              <a:rPr lang="ja-JP" altLang="en-US" sz="2000" b="1" dirty="0">
                <a:solidFill>
                  <a:srgbClr val="1F2A5C"/>
                </a:solidFill>
                <a:latin typeface="Meiryo"/>
                <a:ea typeface="メイリオ"/>
                <a:cs typeface="Meiryo"/>
                <a:sym typeface="Meiryo"/>
              </a:rPr>
              <a:t>実施施策【14日間ステップ配信】</a:t>
            </a:r>
            <a:endParaRPr sz="1600" b="1" dirty="0">
              <a:solidFill>
                <a:srgbClr val="002060"/>
              </a:solidFill>
              <a:latin typeface="Meiryo"/>
              <a:ea typeface="Meiryo"/>
              <a:cs typeface="Meiryo"/>
              <a:sym typeface="Meiryo"/>
            </a:endParaRPr>
          </a:p>
        </p:txBody>
      </p:sp>
      <p:sp>
        <p:nvSpPr>
          <p:cNvPr id="6" name="TextBox 2">
            <a:extLst>
              <a:ext uri="{FF2B5EF4-FFF2-40B4-BE49-F238E27FC236}">
                <a16:creationId xmlns:a16="http://schemas.microsoft.com/office/drawing/2014/main" id="{A90345F6-8F45-3463-0674-D84ECC52E45F}"/>
              </a:ext>
            </a:extLst>
          </p:cNvPr>
          <p:cNvSpPr/>
          <p:nvPr/>
        </p:nvSpPr>
        <p:spPr>
          <a:xfrm>
            <a:off x="426900" y="695160"/>
            <a:ext cx="9052200" cy="460211"/>
          </a:xfrm>
          <a:prstGeom prst="rect">
            <a:avLst/>
          </a:prstGeom>
          <a:noFill/>
          <a:ln w="0">
            <a:noFill/>
          </a:ln>
          <a:effectLst/>
        </p:spPr>
        <p:txBody>
          <a:bodyPr lIns="90000" tIns="45000" rIns="90000" bIns="45000" anchor="t">
            <a:spAutoFit/>
          </a:bodyPr>
          <a:ls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1" lang="zh-CN" altLang="en-US" sz="1200" b="0" i="0" u="none" strike="noStrike" kern="1200" cap="none" spc="-1" normalizeH="0" baseline="0" noProof="0" dirty="0">
                <a:ln>
                  <a:noFill/>
                </a:ln>
                <a:solidFill>
                  <a:srgbClr val="333333"/>
                </a:solidFill>
                <a:effectLst/>
                <a:uLnTx/>
                <a:uFillTx/>
                <a:latin typeface="Meiryo" panose="020B0604030504040204" pitchFamily="50" charset="-128"/>
                <a:ea typeface="メイリオ" panose="020B0604030504040204" pitchFamily="50" charset="-128"/>
                <a:cs typeface="Meiryo"/>
              </a:rPr>
              <a:t>友だち追加後14日間で、診断結果をもとに内容を出し分けながら面談へのご案内を行う</a:t>
            </a:r>
            <a:endParaRPr kumimoji="1" lang="en-US" altLang="zh-CN" sz="1200" b="0" i="0" u="none" strike="noStrike" kern="1200" cap="none" spc="-1" normalizeH="0" baseline="0" noProof="0" dirty="0">
              <a:ln>
                <a:noFill/>
              </a:ln>
              <a:solidFill>
                <a:srgbClr val="333333"/>
              </a:solidFill>
              <a:effectLst/>
              <a:uLnTx/>
              <a:uFillTx/>
              <a:latin typeface="Meiryo" panose="020B0604030504040204" pitchFamily="50" charset="-128"/>
              <a:ea typeface="メイリオ" panose="020B0604030504040204" pitchFamily="50" charset="-128"/>
              <a:cs typeface="Meiryo"/>
            </a:endParaRPr>
          </a:p>
          <a:p>
            <a:pPr marL="0" marR="0" lvl="0" indent="0" algn="l" defTabSz="914400" rtl="0" eaLnBrk="1" fontAlgn="auto" latinLnBrk="0" hangingPunct="1">
              <a:lnSpc>
                <a:spcPct val="100000"/>
              </a:lnSpc>
              <a:spcBef>
                <a:spcPts val="0"/>
              </a:spcBef>
              <a:spcAft>
                <a:spcPts val="0"/>
              </a:spcAft>
              <a:buClrTx/>
              <a:buSzTx/>
              <a:buFontTx/>
              <a:buNone/>
              <a:tabLst/>
              <a:defRPr/>
            </a:pPr>
            <a:r>
              <a:rPr kumimoji="1" lang="zh-CN" altLang="en-US" sz="1200" b="0" i="0" u="none" strike="noStrike" kern="1200" cap="none" spc="-1" normalizeH="0" baseline="0" noProof="0" dirty="0">
                <a:ln>
                  <a:noFill/>
                </a:ln>
                <a:solidFill>
                  <a:srgbClr val="333333"/>
                </a:solidFill>
                <a:effectLst/>
                <a:uLnTx/>
                <a:uFillTx/>
                <a:latin typeface="Meiryo" panose="020B0604030504040204" pitchFamily="50" charset="-128"/>
                <a:ea typeface="メイリオ" panose="020B0604030504040204" pitchFamily="50" charset="-128"/>
                <a:cs typeface="Meiryo"/>
              </a:rPr>
              <a:t>（売り込みは2回だけ。未予約者には再アプローチ、面談予約者は別シナリオへ分岐）</a:t>
            </a:r>
            <a:endParaRPr kumimoji="1" lang="en-US" altLang="zh-CN" sz="1200" b="0" i="0" u="none" strike="noStrike" kern="1200" cap="none" spc="-1" normalizeH="0" baseline="0" noProof="0" dirty="0">
              <a:ln>
                <a:noFill/>
              </a:ln>
              <a:solidFill>
                <a:srgbClr val="333333"/>
              </a:solidFill>
              <a:effectLst/>
              <a:uLnTx/>
              <a:uFillTx/>
              <a:latin typeface="Meiryo" panose="020B0604030504040204" pitchFamily="50" charset="-128"/>
              <a:ea typeface="メイリオ" panose="020B0604030504040204" pitchFamily="50" charset="-128"/>
              <a:cs typeface="Meiryo"/>
            </a:endParaRPr>
          </a:p>
        </p:txBody>
      </p:sp>
      <p:graphicFrame>
        <p:nvGraphicFramePr>
          <p:cNvPr id="46" name="Table 45"/>
          <p:cNvGraphicFramePr>
            <a:graphicFrameLocks noGrp="1"/>
          </p:cNvGraphicFramePr>
          <p:nvPr>
            <p:extLst>
              <p:ext uri="{D42A27DB-BD31-4B8C-83A1-F6EECF244321}">
                <p14:modId xmlns:p14="http://schemas.microsoft.com/office/powerpoint/2010/main" val="849747981"/>
              </p:ext>
            </p:extLst>
          </p:nvPr>
        </p:nvGraphicFramePr>
        <p:xfrm>
          <a:off x="429768" y="1234440"/>
          <a:ext cx="9052559" cy="3703320"/>
        </p:xfrm>
        <a:graphic>
          <a:graphicData uri="http://schemas.openxmlformats.org/drawingml/2006/table">
            <a:tbl>
              <a:tblPr firstRow="1" bandRow="1">
                <a:tableStyleId>{5C22544A-7EE6-4342-B048-85BDC9FD1C3A}</a:tableStyleId>
              </a:tblPr>
              <a:tblGrid>
                <a:gridCol w="1086307">
                  <a:extLst>
                    <a:ext uri="{9D8B030D-6E8A-4147-A177-3AD203B41FA5}">
                      <a16:colId xmlns:a16="http://schemas.microsoft.com/office/drawing/2014/main" val="20000"/>
                    </a:ext>
                  </a:extLst>
                </a:gridCol>
                <a:gridCol w="1810512">
                  <a:extLst>
                    <a:ext uri="{9D8B030D-6E8A-4147-A177-3AD203B41FA5}">
                      <a16:colId xmlns:a16="http://schemas.microsoft.com/office/drawing/2014/main" val="20001"/>
                    </a:ext>
                  </a:extLst>
                </a:gridCol>
                <a:gridCol w="6155740">
                  <a:extLst>
                    <a:ext uri="{9D8B030D-6E8A-4147-A177-3AD203B41FA5}">
                      <a16:colId xmlns:a16="http://schemas.microsoft.com/office/drawing/2014/main" val="20002"/>
                    </a:ext>
                  </a:extLst>
                </a:gridCol>
              </a:tblGrid>
              <a:tr h="411480">
                <a:tc>
                  <a:txBody>
                    <a:bodyPr/>
                    <a:lstStyle/>
                    <a:p>
                      <a:r>
                        <a:rPr sz="1100" b="1">
                          <a:solidFill>
                            <a:srgbClr val="FFFFFF"/>
                          </a:solidFill>
                          <a:latin typeface="Meiryo"/>
                          <a:ea typeface="メイリオ"/>
                          <a:cs typeface="Meiryo"/>
                        </a:rPr>
                        <a:t>Day</a:t>
                      </a:r>
                    </a:p>
                  </a:txBody>
                  <a:tcPr>
                    <a:solidFill>
                      <a:srgbClr val="1F2A5C"/>
                    </a:solidFill>
                  </a:tcPr>
                </a:tc>
                <a:tc>
                  <a:txBody>
                    <a:bodyPr/>
                    <a:lstStyle/>
                    <a:p>
                      <a:r>
                        <a:rPr sz="1100" b="1">
                          <a:solidFill>
                            <a:srgbClr val="FFFFFF"/>
                          </a:solidFill>
                          <a:latin typeface="Meiryo"/>
                          <a:ea typeface="メイリオ"/>
                          <a:cs typeface="Meiryo"/>
                        </a:rPr>
                        <a:t>対象</a:t>
                      </a:r>
                    </a:p>
                  </a:txBody>
                  <a:tcPr>
                    <a:solidFill>
                      <a:srgbClr val="1F2A5C"/>
                    </a:solidFill>
                  </a:tcPr>
                </a:tc>
                <a:tc>
                  <a:txBody>
                    <a:bodyPr/>
                    <a:lstStyle/>
                    <a:p>
                      <a:r>
                        <a:rPr sz="1100" b="1">
                          <a:solidFill>
                            <a:srgbClr val="FFFFFF"/>
                          </a:solidFill>
                          <a:latin typeface="Meiryo"/>
                          <a:ea typeface="メイリオ"/>
                          <a:cs typeface="Meiryo"/>
                        </a:rPr>
                        <a:t>配信内容</a:t>
                      </a:r>
                    </a:p>
                  </a:txBody>
                  <a:tcPr>
                    <a:solidFill>
                      <a:srgbClr val="1F2A5C"/>
                    </a:solidFill>
                  </a:tcPr>
                </a:tc>
                <a:extLst>
                  <a:ext uri="{0D108BD9-81ED-4DB2-BD59-A6C34878D82A}">
                    <a16:rowId xmlns:a16="http://schemas.microsoft.com/office/drawing/2014/main" val="10000"/>
                  </a:ext>
                </a:extLst>
              </a:tr>
              <a:tr h="411480">
                <a:tc>
                  <a:txBody>
                    <a:bodyPr/>
                    <a:lstStyle/>
                    <a:p>
                      <a:r>
                        <a:rPr sz="1400" b="0" dirty="0">
                          <a:solidFill>
                            <a:srgbClr val="333333"/>
                          </a:solidFill>
                          <a:latin typeface="Meiryo"/>
                          <a:ea typeface="メイリオ"/>
                          <a:cs typeface="Meiryo"/>
                        </a:rPr>
                        <a:t>0日後</a:t>
                      </a:r>
                    </a:p>
                  </a:txBody>
                  <a:tcPr>
                    <a:solidFill>
                      <a:srgbClr val="FFFFFF"/>
                    </a:solidFill>
                  </a:tcPr>
                </a:tc>
                <a:tc>
                  <a:txBody>
                    <a:bodyPr/>
                    <a:lstStyle/>
                    <a:p>
                      <a:r>
                        <a:rPr sz="1400" b="0" dirty="0" err="1">
                          <a:solidFill>
                            <a:srgbClr val="333333"/>
                          </a:solidFill>
                          <a:latin typeface="Meiryo"/>
                          <a:ea typeface="メイリオ"/>
                          <a:cs typeface="Meiryo"/>
                        </a:rPr>
                        <a:t>全員</a:t>
                      </a:r>
                      <a:endParaRPr sz="1400" b="0" dirty="0">
                        <a:solidFill>
                          <a:srgbClr val="333333"/>
                        </a:solidFill>
                        <a:latin typeface="Meiryo"/>
                        <a:ea typeface="メイリオ"/>
                        <a:cs typeface="Meiryo"/>
                      </a:endParaRPr>
                    </a:p>
                  </a:txBody>
                  <a:tcPr>
                    <a:solidFill>
                      <a:srgbClr val="FFFFFF"/>
                    </a:solidFill>
                  </a:tcPr>
                </a:tc>
                <a:tc>
                  <a:txBody>
                    <a:bodyPr/>
                    <a:lstStyle/>
                    <a:p>
                      <a:r>
                        <a:rPr sz="1400" b="0">
                          <a:solidFill>
                            <a:srgbClr val="333333"/>
                          </a:solidFill>
                          <a:latin typeface="Meiryo"/>
                          <a:ea typeface="メイリオ"/>
                          <a:cs typeface="Meiryo"/>
                        </a:rPr>
                        <a:t>あいさつ＋30秒診断（職種・資格・転職理由・温度感の4問）</a:t>
                      </a:r>
                    </a:p>
                  </a:txBody>
                  <a:tcPr>
                    <a:solidFill>
                      <a:srgbClr val="FFFFFF"/>
                    </a:solidFill>
                  </a:tcPr>
                </a:tc>
                <a:extLst>
                  <a:ext uri="{0D108BD9-81ED-4DB2-BD59-A6C34878D82A}">
                    <a16:rowId xmlns:a16="http://schemas.microsoft.com/office/drawing/2014/main" val="10001"/>
                  </a:ext>
                </a:extLst>
              </a:tr>
              <a:tr h="411480">
                <a:tc>
                  <a:txBody>
                    <a:bodyPr/>
                    <a:lstStyle/>
                    <a:p>
                      <a:r>
                        <a:rPr sz="1400" b="0">
                          <a:solidFill>
                            <a:srgbClr val="333333"/>
                          </a:solidFill>
                          <a:latin typeface="Meiryo"/>
                          <a:ea typeface="メイリオ"/>
                          <a:cs typeface="Meiryo"/>
                        </a:rPr>
                        <a:t>1日後</a:t>
                      </a:r>
                    </a:p>
                  </a:txBody>
                  <a:tcPr>
                    <a:solidFill>
                      <a:srgbClr val="FFFFFF"/>
                    </a:solidFill>
                  </a:tcPr>
                </a:tc>
                <a:tc>
                  <a:txBody>
                    <a:bodyPr/>
                    <a:lstStyle/>
                    <a:p>
                      <a:r>
                        <a:rPr sz="1400" b="0" dirty="0" err="1">
                          <a:solidFill>
                            <a:srgbClr val="333333"/>
                          </a:solidFill>
                          <a:latin typeface="Meiryo"/>
                          <a:ea typeface="メイリオ"/>
                          <a:cs typeface="Meiryo"/>
                        </a:rPr>
                        <a:t>診断未回答者</a:t>
                      </a:r>
                      <a:endParaRPr sz="1400" b="0" dirty="0">
                        <a:solidFill>
                          <a:srgbClr val="333333"/>
                        </a:solidFill>
                        <a:latin typeface="Meiryo"/>
                        <a:ea typeface="メイリオ"/>
                        <a:cs typeface="Meiryo"/>
                      </a:endParaRPr>
                    </a:p>
                  </a:txBody>
                  <a:tcPr>
                    <a:solidFill>
                      <a:srgbClr val="FFFFFF"/>
                    </a:solidFill>
                  </a:tcPr>
                </a:tc>
                <a:tc>
                  <a:txBody>
                    <a:bodyPr/>
                    <a:lstStyle/>
                    <a:p>
                      <a:r>
                        <a:rPr sz="1400" b="0" dirty="0" err="1">
                          <a:solidFill>
                            <a:srgbClr val="333333"/>
                          </a:solidFill>
                          <a:latin typeface="Meiryo"/>
                          <a:ea typeface="メイリオ"/>
                          <a:cs typeface="Meiryo"/>
                        </a:rPr>
                        <a:t>診断リマインド（「電話はかかってきません」を再明記）</a:t>
                      </a:r>
                      <a:endParaRPr sz="1400" b="0" dirty="0">
                        <a:solidFill>
                          <a:srgbClr val="333333"/>
                        </a:solidFill>
                        <a:latin typeface="Meiryo"/>
                        <a:ea typeface="メイリオ"/>
                        <a:cs typeface="Meiryo"/>
                      </a:endParaRPr>
                    </a:p>
                  </a:txBody>
                  <a:tcPr>
                    <a:solidFill>
                      <a:srgbClr val="FFFFFF"/>
                    </a:solidFill>
                  </a:tcPr>
                </a:tc>
                <a:extLst>
                  <a:ext uri="{0D108BD9-81ED-4DB2-BD59-A6C34878D82A}">
                    <a16:rowId xmlns:a16="http://schemas.microsoft.com/office/drawing/2014/main" val="10002"/>
                  </a:ext>
                </a:extLst>
              </a:tr>
              <a:tr h="411480">
                <a:tc>
                  <a:txBody>
                    <a:bodyPr/>
                    <a:lstStyle/>
                    <a:p>
                      <a:r>
                        <a:rPr sz="1400" b="0">
                          <a:solidFill>
                            <a:srgbClr val="333333"/>
                          </a:solidFill>
                          <a:latin typeface="Meiryo"/>
                          <a:ea typeface="メイリオ"/>
                          <a:cs typeface="Meiryo"/>
                        </a:rPr>
                        <a:t>3日後</a:t>
                      </a:r>
                    </a:p>
                  </a:txBody>
                  <a:tcPr>
                    <a:solidFill>
                      <a:srgbClr val="FFFFFF"/>
                    </a:solidFill>
                  </a:tcPr>
                </a:tc>
                <a:tc>
                  <a:txBody>
                    <a:bodyPr/>
                    <a:lstStyle/>
                    <a:p>
                      <a:r>
                        <a:rPr sz="1400" b="0" dirty="0" err="1">
                          <a:solidFill>
                            <a:srgbClr val="333333"/>
                          </a:solidFill>
                          <a:latin typeface="Meiryo"/>
                          <a:ea typeface="メイリオ"/>
                          <a:cs typeface="Meiryo"/>
                        </a:rPr>
                        <a:t>診断回答者</a:t>
                      </a:r>
                      <a:endParaRPr sz="1400" b="0" dirty="0">
                        <a:solidFill>
                          <a:srgbClr val="333333"/>
                        </a:solidFill>
                        <a:latin typeface="Meiryo"/>
                        <a:ea typeface="メイリオ"/>
                        <a:cs typeface="Meiryo"/>
                      </a:endParaRPr>
                    </a:p>
                  </a:txBody>
                  <a:tcPr>
                    <a:solidFill>
                      <a:srgbClr val="FFFFFF"/>
                    </a:solidFill>
                  </a:tcPr>
                </a:tc>
                <a:tc>
                  <a:txBody>
                    <a:bodyPr/>
                    <a:lstStyle/>
                    <a:p>
                      <a:r>
                        <a:rPr sz="1400" b="0" dirty="0" err="1">
                          <a:solidFill>
                            <a:srgbClr val="333333"/>
                          </a:solidFill>
                          <a:latin typeface="Meiryo"/>
                          <a:ea typeface="メイリオ"/>
                          <a:cs typeface="Meiryo"/>
                        </a:rPr>
                        <a:t>資格別の年収相場（2級整備士でも100万円以上の幅）</a:t>
                      </a:r>
                      <a:endParaRPr sz="1400" b="0" dirty="0">
                        <a:solidFill>
                          <a:srgbClr val="333333"/>
                        </a:solidFill>
                        <a:latin typeface="Meiryo"/>
                        <a:ea typeface="メイリオ"/>
                        <a:cs typeface="Meiryo"/>
                      </a:endParaRPr>
                    </a:p>
                  </a:txBody>
                  <a:tcPr>
                    <a:solidFill>
                      <a:srgbClr val="FFFFFF"/>
                    </a:solidFill>
                  </a:tcPr>
                </a:tc>
                <a:extLst>
                  <a:ext uri="{0D108BD9-81ED-4DB2-BD59-A6C34878D82A}">
                    <a16:rowId xmlns:a16="http://schemas.microsoft.com/office/drawing/2014/main" val="10003"/>
                  </a:ext>
                </a:extLst>
              </a:tr>
              <a:tr h="411480">
                <a:tc>
                  <a:txBody>
                    <a:bodyPr/>
                    <a:lstStyle/>
                    <a:p>
                      <a:r>
                        <a:rPr sz="1400" b="0">
                          <a:solidFill>
                            <a:srgbClr val="333333"/>
                          </a:solidFill>
                          <a:latin typeface="Meiryo"/>
                          <a:ea typeface="メイリオ"/>
                          <a:cs typeface="Meiryo"/>
                        </a:rPr>
                        <a:t>5日後</a:t>
                      </a:r>
                    </a:p>
                  </a:txBody>
                  <a:tcPr>
                    <a:solidFill>
                      <a:srgbClr val="FFFFFF"/>
                    </a:solidFill>
                  </a:tcPr>
                </a:tc>
                <a:tc>
                  <a:txBody>
                    <a:bodyPr/>
                    <a:lstStyle/>
                    <a:p>
                      <a:r>
                        <a:rPr sz="1400" b="0">
                          <a:solidFill>
                            <a:srgbClr val="333333"/>
                          </a:solidFill>
                          <a:latin typeface="Meiryo"/>
                          <a:ea typeface="メイリオ"/>
                          <a:cs typeface="Meiryo"/>
                        </a:rPr>
                        <a:t>同上</a:t>
                      </a:r>
                    </a:p>
                  </a:txBody>
                  <a:tcPr>
                    <a:solidFill>
                      <a:srgbClr val="FFFFFF"/>
                    </a:solidFill>
                  </a:tcPr>
                </a:tc>
                <a:tc>
                  <a:txBody>
                    <a:bodyPr/>
                    <a:lstStyle/>
                    <a:p>
                      <a:r>
                        <a:rPr sz="1400" b="0" dirty="0" err="1">
                          <a:solidFill>
                            <a:srgbClr val="333333"/>
                          </a:solidFill>
                          <a:latin typeface="Meiryo"/>
                          <a:ea typeface="メイリオ"/>
                          <a:cs typeface="Meiryo"/>
                        </a:rPr>
                        <a:t>資格別キャリアマップ（3級→2級→検査員で年収がどう変わるか）</a:t>
                      </a:r>
                      <a:endParaRPr sz="1400" b="0" dirty="0">
                        <a:solidFill>
                          <a:srgbClr val="333333"/>
                        </a:solidFill>
                        <a:latin typeface="Meiryo"/>
                        <a:ea typeface="メイリオ"/>
                        <a:cs typeface="Meiryo"/>
                      </a:endParaRPr>
                    </a:p>
                  </a:txBody>
                  <a:tcPr>
                    <a:solidFill>
                      <a:srgbClr val="FFFFFF"/>
                    </a:solidFill>
                  </a:tcPr>
                </a:tc>
                <a:extLst>
                  <a:ext uri="{0D108BD9-81ED-4DB2-BD59-A6C34878D82A}">
                    <a16:rowId xmlns:a16="http://schemas.microsoft.com/office/drawing/2014/main" val="10004"/>
                  </a:ext>
                </a:extLst>
              </a:tr>
              <a:tr h="411480">
                <a:tc>
                  <a:txBody>
                    <a:bodyPr/>
                    <a:lstStyle/>
                    <a:p>
                      <a:r>
                        <a:rPr sz="1400" b="0">
                          <a:solidFill>
                            <a:srgbClr val="333333"/>
                          </a:solidFill>
                          <a:latin typeface="Meiryo"/>
                          <a:ea typeface="メイリオ"/>
                          <a:cs typeface="Meiryo"/>
                        </a:rPr>
                        <a:t>7日後</a:t>
                      </a:r>
                    </a:p>
                  </a:txBody>
                  <a:tcPr>
                    <a:solidFill>
                      <a:srgbClr val="FFFFFF"/>
                    </a:solidFill>
                  </a:tcPr>
                </a:tc>
                <a:tc>
                  <a:txBody>
                    <a:bodyPr/>
                    <a:lstStyle/>
                    <a:p>
                      <a:r>
                        <a:rPr sz="1400" b="0">
                          <a:solidFill>
                            <a:srgbClr val="333333"/>
                          </a:solidFill>
                          <a:latin typeface="Meiryo"/>
                          <a:ea typeface="メイリオ"/>
                          <a:cs typeface="Meiryo"/>
                        </a:rPr>
                        <a:t>未予約者</a:t>
                      </a:r>
                    </a:p>
                  </a:txBody>
                  <a:tcPr>
                    <a:solidFill>
                      <a:srgbClr val="FFFFFF"/>
                    </a:solidFill>
                  </a:tcPr>
                </a:tc>
                <a:tc>
                  <a:txBody>
                    <a:bodyPr/>
                    <a:lstStyle/>
                    <a:p>
                      <a:r>
                        <a:rPr sz="1400" b="0" dirty="0" err="1">
                          <a:solidFill>
                            <a:srgbClr val="333333"/>
                          </a:solidFill>
                          <a:latin typeface="Meiryo"/>
                          <a:ea typeface="メイリオ"/>
                          <a:cs typeface="Meiryo"/>
                        </a:rPr>
                        <a:t>面談のご案内①「履歴書、まだ要りません」夜の面談OK</a:t>
                      </a:r>
                      <a:endParaRPr sz="1400" b="0" dirty="0">
                        <a:solidFill>
                          <a:srgbClr val="333333"/>
                        </a:solidFill>
                        <a:latin typeface="Meiryo"/>
                        <a:ea typeface="メイリオ"/>
                        <a:cs typeface="Meiryo"/>
                      </a:endParaRPr>
                    </a:p>
                  </a:txBody>
                  <a:tcPr>
                    <a:solidFill>
                      <a:srgbClr val="FFFFFF"/>
                    </a:solidFill>
                  </a:tcPr>
                </a:tc>
                <a:extLst>
                  <a:ext uri="{0D108BD9-81ED-4DB2-BD59-A6C34878D82A}">
                    <a16:rowId xmlns:a16="http://schemas.microsoft.com/office/drawing/2014/main" val="10005"/>
                  </a:ext>
                </a:extLst>
              </a:tr>
              <a:tr h="411480">
                <a:tc>
                  <a:txBody>
                    <a:bodyPr/>
                    <a:lstStyle/>
                    <a:p>
                      <a:r>
                        <a:rPr sz="1400" b="0">
                          <a:solidFill>
                            <a:srgbClr val="333333"/>
                          </a:solidFill>
                          <a:latin typeface="Meiryo"/>
                          <a:ea typeface="メイリオ"/>
                          <a:cs typeface="Meiryo"/>
                        </a:rPr>
                        <a:t>10日後</a:t>
                      </a:r>
                    </a:p>
                  </a:txBody>
                  <a:tcPr>
                    <a:solidFill>
                      <a:srgbClr val="FFFFFF"/>
                    </a:solidFill>
                  </a:tcPr>
                </a:tc>
                <a:tc>
                  <a:txBody>
                    <a:bodyPr/>
                    <a:lstStyle/>
                    <a:p>
                      <a:r>
                        <a:rPr sz="1400" b="0">
                          <a:solidFill>
                            <a:srgbClr val="333333"/>
                          </a:solidFill>
                          <a:latin typeface="Meiryo"/>
                          <a:ea typeface="メイリオ"/>
                          <a:cs typeface="Meiryo"/>
                        </a:rPr>
                        <a:t>未予約者</a:t>
                      </a:r>
                    </a:p>
                  </a:txBody>
                  <a:tcPr>
                    <a:solidFill>
                      <a:srgbClr val="FFFFFF"/>
                    </a:solidFill>
                  </a:tcPr>
                </a:tc>
                <a:tc>
                  <a:txBody>
                    <a:bodyPr/>
                    <a:lstStyle/>
                    <a:p>
                      <a:r>
                        <a:rPr sz="1400" b="0" dirty="0">
                          <a:solidFill>
                            <a:srgbClr val="333333"/>
                          </a:solidFill>
                          <a:latin typeface="Meiryo"/>
                          <a:ea typeface="メイリオ"/>
                          <a:cs typeface="Meiryo"/>
                        </a:rPr>
                        <a:t>転職体験レポート（同じ職種・同じ地域の実例）</a:t>
                      </a:r>
                      <a:endParaRPr sz="1400" b="0" dirty="0">
                        <a:solidFill>
                          <a:srgbClr val="333333"/>
                        </a:solidFill>
                        <a:latin typeface="Meiryo"/>
                        <a:ea typeface="メイリオ"/>
                        <a:cs typeface="Meiryo"/>
                      </a:endParaRPr>
                    </a:p>
                  </a:txBody>
                  <a:tcPr>
                    <a:solidFill>
                      <a:srgbClr val="FFFFFF"/>
                    </a:solidFill>
                  </a:tcPr>
                </a:tc>
                <a:extLst>
                  <a:ext uri="{0D108BD9-81ED-4DB2-BD59-A6C34878D82A}">
                    <a16:rowId xmlns:a16="http://schemas.microsoft.com/office/drawing/2014/main" val="10006"/>
                  </a:ext>
                </a:extLst>
              </a:tr>
              <a:tr h="411480">
                <a:tc>
                  <a:txBody>
                    <a:bodyPr/>
                    <a:lstStyle/>
                    <a:p>
                      <a:r>
                        <a:rPr sz="1400" b="0">
                          <a:solidFill>
                            <a:srgbClr val="333333"/>
                          </a:solidFill>
                          <a:latin typeface="Meiryo"/>
                          <a:ea typeface="メイリオ"/>
                          <a:cs typeface="Meiryo"/>
                        </a:rPr>
                        <a:t>12日後</a:t>
                      </a:r>
                    </a:p>
                  </a:txBody>
                  <a:tcPr>
                    <a:solidFill>
                      <a:srgbClr val="FFFFFF"/>
                    </a:solidFill>
                  </a:tcPr>
                </a:tc>
                <a:tc>
                  <a:txBody>
                    <a:bodyPr/>
                    <a:lstStyle/>
                    <a:p>
                      <a:r>
                        <a:rPr sz="1400" b="0">
                          <a:solidFill>
                            <a:srgbClr val="333333"/>
                          </a:solidFill>
                          <a:latin typeface="Meiryo"/>
                          <a:ea typeface="メイリオ"/>
                          <a:cs typeface="Meiryo"/>
                        </a:rPr>
                        <a:t>未予約者</a:t>
                      </a:r>
                    </a:p>
                  </a:txBody>
                  <a:tcPr>
                    <a:solidFill>
                      <a:srgbClr val="FFFFFF"/>
                    </a:solidFill>
                  </a:tcPr>
                </a:tc>
                <a:tc>
                  <a:txBody>
                    <a:bodyPr/>
                    <a:lstStyle/>
                    <a:p>
                      <a:r>
                        <a:rPr sz="1400" b="0" dirty="0" err="1">
                          <a:solidFill>
                            <a:srgbClr val="333333"/>
                          </a:solidFill>
                          <a:latin typeface="Meiryo"/>
                          <a:ea typeface="メイリオ"/>
                          <a:cs typeface="Meiryo"/>
                        </a:rPr>
                        <a:t>地域別の求人ピックアップ（オートバックスG特集）</a:t>
                      </a:r>
                    </a:p>
                  </a:txBody>
                  <a:tcPr>
                    <a:solidFill>
                      <a:srgbClr val="FFFFFF"/>
                    </a:solidFill>
                  </a:tcPr>
                </a:tc>
                <a:extLst>
                  <a:ext uri="{0D108BD9-81ED-4DB2-BD59-A6C34878D82A}">
                    <a16:rowId xmlns:a16="http://schemas.microsoft.com/office/drawing/2014/main" val="10007"/>
                  </a:ext>
                </a:extLst>
              </a:tr>
              <a:tr h="411480">
                <a:tc>
                  <a:txBody>
                    <a:bodyPr/>
                    <a:lstStyle/>
                    <a:p>
                      <a:r>
                        <a:rPr sz="1400" b="0">
                          <a:solidFill>
                            <a:srgbClr val="333333"/>
                          </a:solidFill>
                          <a:latin typeface="Meiryo"/>
                          <a:ea typeface="メイリオ"/>
                          <a:cs typeface="Meiryo"/>
                        </a:rPr>
                        <a:t>14日後</a:t>
                      </a:r>
                    </a:p>
                  </a:txBody>
                  <a:tcPr>
                    <a:solidFill>
                      <a:srgbClr val="FFFFFF"/>
                    </a:solidFill>
                  </a:tcPr>
                </a:tc>
                <a:tc>
                  <a:txBody>
                    <a:bodyPr/>
                    <a:lstStyle/>
                    <a:p>
                      <a:r>
                        <a:rPr sz="1400" b="0">
                          <a:solidFill>
                            <a:srgbClr val="333333"/>
                          </a:solidFill>
                          <a:latin typeface="Meiryo"/>
                          <a:ea typeface="メイリオ"/>
                          <a:cs typeface="Meiryo"/>
                        </a:rPr>
                        <a:t>未予約者</a:t>
                      </a:r>
                    </a:p>
                  </a:txBody>
                  <a:tcPr>
                    <a:solidFill>
                      <a:srgbClr val="FFFFFF"/>
                    </a:solidFill>
                  </a:tcPr>
                </a:tc>
                <a:tc>
                  <a:txBody>
                    <a:bodyPr/>
                    <a:lstStyle/>
                    <a:p>
                      <a:r>
                        <a:rPr sz="1400" b="0" dirty="0" err="1">
                          <a:solidFill>
                            <a:srgbClr val="333333"/>
                          </a:solidFill>
                          <a:latin typeface="Meiryo"/>
                          <a:ea typeface="メイリオ"/>
                          <a:cs typeface="Meiryo"/>
                        </a:rPr>
                        <a:t>面談のご案内②＋以後は月数回の定常配信へ切替</a:t>
                      </a:r>
                      <a:endParaRPr sz="1400" b="0" dirty="0">
                        <a:solidFill>
                          <a:srgbClr val="333333"/>
                        </a:solidFill>
                        <a:latin typeface="Meiryo"/>
                        <a:ea typeface="メイリオ"/>
                        <a:cs typeface="Meiryo"/>
                      </a:endParaRPr>
                    </a:p>
                  </a:txBody>
                  <a:tcPr>
                    <a:solidFill>
                      <a:srgbClr val="FFFFFF"/>
                    </a:solidFill>
                  </a:tcPr>
                </a:tc>
                <a:extLst>
                  <a:ext uri="{0D108BD9-81ED-4DB2-BD59-A6C34878D82A}">
                    <a16:rowId xmlns:a16="http://schemas.microsoft.com/office/drawing/2014/main" val="10008"/>
                  </a:ext>
                </a:extLst>
              </a:tr>
            </a:tbl>
          </a:graphicData>
        </a:graphic>
      </p:graphicFrame>
      <p:sp>
        <p:nvSpPr>
          <p:cNvPr id="47" name="TextBox 46"/>
          <p:cNvSpPr txBox="1"/>
          <p:nvPr/>
        </p:nvSpPr>
        <p:spPr>
          <a:xfrm>
            <a:off x="429768" y="5166360"/>
            <a:ext cx="9052560" cy="677108"/>
          </a:xfrm>
          <a:prstGeom prst="rect">
            <a:avLst/>
          </a:prstGeom>
          <a:noFill/>
        </p:spPr>
        <p:txBody>
          <a:bodyPr wrap="square">
            <a:spAutoFit/>
          </a:bodyPr>
          <a:lstStyle/>
          <a:p>
            <a:r>
              <a:rPr sz="1400" b="1" dirty="0">
                <a:solidFill>
                  <a:srgbClr val="BF4E0E"/>
                </a:solidFill>
                <a:latin typeface="Meiryo"/>
                <a:ea typeface="メイリオ"/>
                <a:cs typeface="Meiryo"/>
              </a:rPr>
              <a:t>面談・応募 196件（6ヶ月累計・SIM①）＝ 累計CPA 11,036円として算出</a:t>
            </a:r>
          </a:p>
          <a:p>
            <a:r>
              <a:rPr sz="1400" b="1" dirty="0">
                <a:solidFill>
                  <a:srgbClr val="BF4E0E"/>
                </a:solidFill>
                <a:latin typeface="Meiryo"/>
                <a:ea typeface="メイリオ"/>
                <a:cs typeface="Meiryo"/>
              </a:rPr>
              <a:t>面談予約で止めず、就業までLINEで追いきります</a:t>
            </a:r>
          </a:p>
          <a:p>
            <a:r>
              <a:rPr sz="1400" b="1" dirty="0">
                <a:solidFill>
                  <a:srgbClr val="BF4E0E"/>
                </a:solidFill>
                <a:latin typeface="Meiryo"/>
                <a:ea typeface="メイリオ"/>
                <a:cs typeface="Meiryo"/>
              </a:rPr>
              <a:t>（面談前日リマインド→当日案内→面談後フォロー→選考状況の連絡をLINEに一本化）</a:t>
            </a:r>
          </a:p>
        </p:txBody>
      </p:sp>
      <p:sp>
        <p:nvSpPr>
          <p:cNvPr id="48" name="TextBox 47"/>
          <p:cNvSpPr txBox="1"/>
          <p:nvPr/>
        </p:nvSpPr>
        <p:spPr>
          <a:xfrm>
            <a:off x="384048" y="6355080"/>
            <a:ext cx="9052560" cy="402336"/>
          </a:xfrm>
          <a:prstGeom prst="rect">
            <a:avLst/>
          </a:prstGeom>
          <a:noFill/>
        </p:spPr>
        <p:txBody>
          <a:bodyPr wrap="square">
            <a:spAutoFit/>
          </a:bodyPr>
          <a:lstStyle/>
          <a:p>
            <a:r>
              <a:rPr sz="850">
                <a:solidFill>
                  <a:srgbClr val="9AA1AE"/>
                </a:solidFill>
                <a:latin typeface="Meiryo"/>
                <a:ea typeface="メイリオ"/>
                <a:cs typeface="Meiryo"/>
              </a:rPr>
              <a:t>出典：コンテンツ案v1（別紙・配信文面の全文）／前後検索KW「カーディーラー」／Googleトレンド「整備士」</a:t>
            </a:r>
          </a:p>
        </p:txBody>
      </p:sp>
    </p:spTree>
    <p:extLst>
      <p:ext uri="{BB962C8B-B14F-4D97-AF65-F5344CB8AC3E}">
        <p14:creationId xmlns:p14="http://schemas.microsoft.com/office/powerpoint/2010/main" val="1451945162"/>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852631F-440C-AF04-0C69-2C8669EB8048}"/>
            </a:ext>
          </a:extLst>
        </p:cNvPr>
        <p:cNvGrpSpPr/>
        <p:nvPr/>
      </p:nvGrpSpPr>
      <p:grpSpPr>
        <a:xfrm>
          <a:off x="0" y="0"/>
          <a:ext cx="0" cy="0"/>
          <a:chOff x="0" y="0"/>
          <a:chExt cx="0" cy="0"/>
        </a:xfrm>
      </p:grpSpPr>
      <p:sp>
        <p:nvSpPr>
          <p:cNvPr id="3" name="正方形/長方形 2">
            <a:extLst>
              <a:ext uri="{FF2B5EF4-FFF2-40B4-BE49-F238E27FC236}">
                <a16:creationId xmlns:a16="http://schemas.microsoft.com/office/drawing/2014/main" id="{31E2EA7B-C600-B2D1-CD65-C1E3A0BAC1C2}"/>
              </a:ext>
            </a:extLst>
          </p:cNvPr>
          <p:cNvSpPr/>
          <p:nvPr/>
        </p:nvSpPr>
        <p:spPr>
          <a:xfrm>
            <a:off x="0" y="577940"/>
            <a:ext cx="9906000" cy="812735"/>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kumimoji="1" lang="ja-JP" altLang="en-US">
              <a:latin typeface="メイリオ" panose="020B0604030504040204" pitchFamily="50" charset="-128"/>
              <a:ea typeface="メイリオ" panose="020B0604030504040204" pitchFamily="50" charset="-128"/>
            </a:endParaRPr>
          </a:p>
        </p:txBody>
      </p:sp>
      <p:sp>
        <p:nvSpPr>
          <p:cNvPr id="4" name="正方形/長方形 3">
            <a:extLst>
              <a:ext uri="{FF2B5EF4-FFF2-40B4-BE49-F238E27FC236}">
                <a16:creationId xmlns:a16="http://schemas.microsoft.com/office/drawing/2014/main" id="{0CEAAEBF-17CB-F7AA-64C4-77326BCE5A58}"/>
              </a:ext>
            </a:extLst>
          </p:cNvPr>
          <p:cNvSpPr/>
          <p:nvPr/>
        </p:nvSpPr>
        <p:spPr>
          <a:xfrm>
            <a:off x="379976" y="635062"/>
            <a:ext cx="9160881" cy="698492"/>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tIns="90000" anchor="ctr"/>
          <a:lstStyle/>
          <a:p>
            <a:pPr algn="ctr">
              <a:lnSpc>
                <a:spcPts val="2455"/>
              </a:lnSpc>
            </a:pPr>
            <a:endParaRPr lang="en-US" altLang="ja-JP" sz="1400" dirty="0">
              <a:solidFill>
                <a:srgbClr val="343434"/>
              </a:solidFill>
              <a:latin typeface="メイリオ" panose="020B0604030504040204" pitchFamily="50" charset="-128"/>
              <a:ea typeface="メイリオ" panose="020B0604030504040204" pitchFamily="50" charset="-128"/>
            </a:endParaRPr>
          </a:p>
        </p:txBody>
      </p:sp>
      <p:sp>
        <p:nvSpPr>
          <p:cNvPr id="45" name="Google Shape;156;p7">
            <a:extLst>
              <a:ext uri="{FF2B5EF4-FFF2-40B4-BE49-F238E27FC236}">
                <a16:creationId xmlns:a16="http://schemas.microsoft.com/office/drawing/2014/main" id="{88DE529D-6E0B-3592-BFB0-3C2405533B79}"/>
              </a:ext>
            </a:extLst>
          </p:cNvPr>
          <p:cNvSpPr txBox="1"/>
          <p:nvPr/>
        </p:nvSpPr>
        <p:spPr>
          <a:xfrm>
            <a:off x="548883" y="138118"/>
            <a:ext cx="6514857" cy="338554"/>
          </a:xfrm>
          <a:prstGeom prst="rect">
            <a:avLst/>
          </a:prstGeom>
          <a:noFill/>
          <a:ln w="19050">
            <a:noFill/>
          </a:ln>
        </p:spPr>
        <p:txBody>
          <a:bodyPr spcFirstLastPara="1" wrap="square" lIns="91425" tIns="45700" rIns="91425" bIns="45700" anchor="ctr" anchorCtr="0">
            <a:spAutoFit/>
          </a:bodyPr>
          <a:lstStyle/>
          <a:p>
            <a:pPr marL="0" marR="0" lvl="0" indent="0" algn="l" rtl="0">
              <a:spcBef>
                <a:spcPts val="0"/>
              </a:spcBef>
              <a:spcAft>
                <a:spcPts val="0"/>
              </a:spcAft>
              <a:buClr>
                <a:srgbClr val="002060"/>
              </a:buClr>
              <a:buSzPts val="1600"/>
              <a:buFont typeface="Arial"/>
              <a:buNone/>
            </a:pPr>
            <a:r>
              <a:rPr lang="ja-JP" altLang="en-US" sz="2000" b="1" dirty="0">
                <a:solidFill>
                  <a:srgbClr val="1F2A5C"/>
                </a:solidFill>
                <a:latin typeface="Meiryo"/>
                <a:ea typeface="メイリオ"/>
                <a:cs typeface="Meiryo"/>
                <a:sym typeface="Meiryo"/>
              </a:rPr>
              <a:t>想定企画【年間】</a:t>
            </a:r>
            <a:endParaRPr sz="1600" b="1" dirty="0">
              <a:solidFill>
                <a:srgbClr val="002060"/>
              </a:solidFill>
              <a:latin typeface="Meiryo"/>
              <a:ea typeface="Meiryo"/>
              <a:cs typeface="Meiryo"/>
              <a:sym typeface="Meiryo"/>
            </a:endParaRPr>
          </a:p>
        </p:txBody>
      </p:sp>
      <p:sp>
        <p:nvSpPr>
          <p:cNvPr id="8" name="TextBox 2">
            <a:extLst>
              <a:ext uri="{FF2B5EF4-FFF2-40B4-BE49-F238E27FC236}">
                <a16:creationId xmlns:a16="http://schemas.microsoft.com/office/drawing/2014/main" id="{551FC70B-4309-2843-C73C-E5466FCF9976}"/>
              </a:ext>
            </a:extLst>
          </p:cNvPr>
          <p:cNvSpPr txBox="1"/>
          <p:nvPr/>
        </p:nvSpPr>
        <p:spPr>
          <a:xfrm>
            <a:off x="457200" y="914400"/>
            <a:ext cx="8988552" cy="307777"/>
          </a:xfrm>
          <a:prstGeom prst="rect">
            <a:avLst/>
          </a:prstGeom>
          <a:noFill/>
        </p:spPr>
        <p:txBody>
          <a:bodyPr wrap="square">
            <a:spAutoFit/>
          </a:bodyPr>
          <a:lstStyle/>
          <a:p>
            <a:pPr algn="l"/>
            <a:r>
              <a:rPr sz="1400" b="0" i="0" dirty="0" err="1">
                <a:solidFill>
                  <a:srgbClr val="333333"/>
                </a:solidFill>
                <a:latin typeface="Meiryo"/>
                <a:ea typeface="メイリオ"/>
                <a:cs typeface="Meiryo"/>
              </a:rPr>
              <a:t>年間を通じて、友だち増加・面談獲得・ブロック防止を狙う企画投稿を月別に配置する（月4本）</a:t>
            </a:r>
            <a:endParaRPr sz="1400" b="0" i="0" dirty="0">
              <a:solidFill>
                <a:srgbClr val="333333"/>
              </a:solidFill>
              <a:latin typeface="Meiryo"/>
              <a:ea typeface="メイリオ"/>
              <a:cs typeface="Meiryo"/>
            </a:endParaRPr>
          </a:p>
        </p:txBody>
      </p:sp>
      <p:graphicFrame>
        <p:nvGraphicFramePr>
          <p:cNvPr id="46" name="Table 45"/>
          <p:cNvGraphicFramePr>
            <a:graphicFrameLocks noGrp="1"/>
          </p:cNvGraphicFramePr>
          <p:nvPr>
            <p:extLst>
              <p:ext uri="{D42A27DB-BD31-4B8C-83A1-F6EECF244321}">
                <p14:modId xmlns:p14="http://schemas.microsoft.com/office/powerpoint/2010/main" val="87126696"/>
              </p:ext>
            </p:extLst>
          </p:nvPr>
        </p:nvGraphicFramePr>
        <p:xfrm>
          <a:off x="457200" y="1371600"/>
          <a:ext cx="8988551" cy="4114800"/>
        </p:xfrm>
        <a:graphic>
          <a:graphicData uri="http://schemas.openxmlformats.org/drawingml/2006/table">
            <a:tbl>
              <a:tblPr firstRow="1" bandRow="1">
                <a:tableStyleId>{5C22544A-7EE6-4342-B048-85BDC9FD1C3A}</a:tableStyleId>
              </a:tblPr>
              <a:tblGrid>
                <a:gridCol w="1438168">
                  <a:extLst>
                    <a:ext uri="{9D8B030D-6E8A-4147-A177-3AD203B41FA5}">
                      <a16:colId xmlns:a16="http://schemas.microsoft.com/office/drawing/2014/main" val="20000"/>
                    </a:ext>
                  </a:extLst>
                </a:gridCol>
                <a:gridCol w="2696565">
                  <a:extLst>
                    <a:ext uri="{9D8B030D-6E8A-4147-A177-3AD203B41FA5}">
                      <a16:colId xmlns:a16="http://schemas.microsoft.com/office/drawing/2014/main" val="20001"/>
                    </a:ext>
                  </a:extLst>
                </a:gridCol>
                <a:gridCol w="4853818">
                  <a:extLst>
                    <a:ext uri="{9D8B030D-6E8A-4147-A177-3AD203B41FA5}">
                      <a16:colId xmlns:a16="http://schemas.microsoft.com/office/drawing/2014/main" val="20002"/>
                    </a:ext>
                  </a:extLst>
                </a:gridCol>
              </a:tblGrid>
              <a:tr h="411480">
                <a:tc>
                  <a:txBody>
                    <a:bodyPr/>
                    <a:lstStyle/>
                    <a:p>
                      <a:r>
                        <a:rPr sz="1100" b="1">
                          <a:solidFill>
                            <a:srgbClr val="FFFFFF"/>
                          </a:solidFill>
                          <a:latin typeface="Meiryo"/>
                          <a:ea typeface="メイリオ"/>
                          <a:cs typeface="Meiryo"/>
                        </a:rPr>
                        <a:t>時期</a:t>
                      </a:r>
                    </a:p>
                  </a:txBody>
                  <a:tcPr>
                    <a:solidFill>
                      <a:srgbClr val="1F2A5C"/>
                    </a:solidFill>
                  </a:tcPr>
                </a:tc>
                <a:tc>
                  <a:txBody>
                    <a:bodyPr/>
                    <a:lstStyle/>
                    <a:p>
                      <a:r>
                        <a:rPr sz="1100" b="1">
                          <a:solidFill>
                            <a:srgbClr val="FFFFFF"/>
                          </a:solidFill>
                          <a:latin typeface="Meiryo"/>
                          <a:ea typeface="メイリオ"/>
                          <a:cs typeface="Meiryo"/>
                        </a:rPr>
                        <a:t>企画</a:t>
                      </a:r>
                    </a:p>
                  </a:txBody>
                  <a:tcPr>
                    <a:solidFill>
                      <a:srgbClr val="1F2A5C"/>
                    </a:solidFill>
                  </a:tcPr>
                </a:tc>
                <a:tc>
                  <a:txBody>
                    <a:bodyPr/>
                    <a:lstStyle/>
                    <a:p>
                      <a:r>
                        <a:rPr sz="1100" b="1">
                          <a:solidFill>
                            <a:srgbClr val="FFFFFF"/>
                          </a:solidFill>
                          <a:latin typeface="Meiryo"/>
                          <a:ea typeface="メイリオ"/>
                          <a:cs typeface="Meiryo"/>
                        </a:rPr>
                        <a:t>内容</a:t>
                      </a:r>
                    </a:p>
                  </a:txBody>
                  <a:tcPr>
                    <a:solidFill>
                      <a:srgbClr val="1F2A5C"/>
                    </a:solidFill>
                  </a:tcPr>
                </a:tc>
                <a:extLst>
                  <a:ext uri="{0D108BD9-81ED-4DB2-BD59-A6C34878D82A}">
                    <a16:rowId xmlns:a16="http://schemas.microsoft.com/office/drawing/2014/main" val="10000"/>
                  </a:ext>
                </a:extLst>
              </a:tr>
              <a:tr h="411480">
                <a:tc>
                  <a:txBody>
                    <a:bodyPr/>
                    <a:lstStyle/>
                    <a:p>
                      <a:r>
                        <a:rPr sz="1400" b="0" dirty="0">
                          <a:solidFill>
                            <a:srgbClr val="333333"/>
                          </a:solidFill>
                          <a:latin typeface="Meiryo"/>
                          <a:ea typeface="メイリオ"/>
                          <a:cs typeface="Meiryo"/>
                        </a:rPr>
                        <a:t>1-2月</a:t>
                      </a:r>
                    </a:p>
                  </a:txBody>
                  <a:tcPr>
                    <a:solidFill>
                      <a:srgbClr val="FFFFFF"/>
                    </a:solidFill>
                  </a:tcPr>
                </a:tc>
                <a:tc>
                  <a:txBody>
                    <a:bodyPr/>
                    <a:lstStyle/>
                    <a:p>
                      <a:r>
                        <a:rPr sz="1400" b="0">
                          <a:solidFill>
                            <a:srgbClr val="333333"/>
                          </a:solidFill>
                          <a:latin typeface="Meiryo"/>
                          <a:ea typeface="メイリオ"/>
                          <a:cs typeface="Meiryo"/>
                        </a:rPr>
                        <a:t>「冬のうちに相談だけ」訴求</a:t>
                      </a:r>
                    </a:p>
                  </a:txBody>
                  <a:tcPr>
                    <a:solidFill>
                      <a:srgbClr val="FFFFFF"/>
                    </a:solidFill>
                  </a:tcPr>
                </a:tc>
                <a:tc>
                  <a:txBody>
                    <a:bodyPr/>
                    <a:lstStyle/>
                    <a:p>
                      <a:r>
                        <a:rPr sz="1400" b="0">
                          <a:solidFill>
                            <a:srgbClr val="333333"/>
                          </a:solidFill>
                          <a:latin typeface="Meiryo"/>
                          <a:ea typeface="メイリオ"/>
                          <a:cs typeface="Meiryo"/>
                        </a:rPr>
                        <a:t>3月の山に向けて前倒し。在職中でも相談OKを打ち出す</a:t>
                      </a:r>
                    </a:p>
                  </a:txBody>
                  <a:tcPr>
                    <a:solidFill>
                      <a:srgbClr val="FFFFFF"/>
                    </a:solidFill>
                  </a:tcPr>
                </a:tc>
                <a:extLst>
                  <a:ext uri="{0D108BD9-81ED-4DB2-BD59-A6C34878D82A}">
                    <a16:rowId xmlns:a16="http://schemas.microsoft.com/office/drawing/2014/main" val="10001"/>
                  </a:ext>
                </a:extLst>
              </a:tr>
              <a:tr h="411480">
                <a:tc>
                  <a:txBody>
                    <a:bodyPr/>
                    <a:lstStyle/>
                    <a:p>
                      <a:r>
                        <a:rPr sz="1400" b="0">
                          <a:solidFill>
                            <a:srgbClr val="333333"/>
                          </a:solidFill>
                          <a:latin typeface="Meiryo"/>
                          <a:ea typeface="メイリオ"/>
                          <a:cs typeface="Meiryo"/>
                        </a:rPr>
                        <a:t>3月</a:t>
                      </a:r>
                    </a:p>
                  </a:txBody>
                  <a:tcPr>
                    <a:solidFill>
                      <a:srgbClr val="FFFFFF"/>
                    </a:solidFill>
                  </a:tcPr>
                </a:tc>
                <a:tc>
                  <a:txBody>
                    <a:bodyPr/>
                    <a:lstStyle/>
                    <a:p>
                      <a:r>
                        <a:rPr sz="1400" b="0">
                          <a:solidFill>
                            <a:srgbClr val="333333"/>
                          </a:solidFill>
                          <a:latin typeface="Meiryo"/>
                          <a:ea typeface="メイリオ"/>
                          <a:cs typeface="Meiryo"/>
                        </a:rPr>
                        <a:t>年度替わり求人特集</a:t>
                      </a:r>
                    </a:p>
                  </a:txBody>
                  <a:tcPr>
                    <a:solidFill>
                      <a:srgbClr val="FFFFFF"/>
                    </a:solidFill>
                  </a:tcPr>
                </a:tc>
                <a:tc>
                  <a:txBody>
                    <a:bodyPr/>
                    <a:lstStyle/>
                    <a:p>
                      <a:r>
                        <a:rPr sz="1400" b="0">
                          <a:solidFill>
                            <a:srgbClr val="333333"/>
                          </a:solidFill>
                          <a:latin typeface="Meiryo"/>
                          <a:ea typeface="メイリオ"/>
                          <a:cs typeface="Meiryo"/>
                        </a:rPr>
                        <a:t>4月入社求人を地域別に配信（3月＝検索の山）</a:t>
                      </a:r>
                    </a:p>
                  </a:txBody>
                  <a:tcPr>
                    <a:solidFill>
                      <a:srgbClr val="FFFFFF"/>
                    </a:solidFill>
                  </a:tcPr>
                </a:tc>
                <a:extLst>
                  <a:ext uri="{0D108BD9-81ED-4DB2-BD59-A6C34878D82A}">
                    <a16:rowId xmlns:a16="http://schemas.microsoft.com/office/drawing/2014/main" val="10002"/>
                  </a:ext>
                </a:extLst>
              </a:tr>
              <a:tr h="411480">
                <a:tc>
                  <a:txBody>
                    <a:bodyPr/>
                    <a:lstStyle/>
                    <a:p>
                      <a:r>
                        <a:rPr sz="1400" b="0">
                          <a:solidFill>
                            <a:srgbClr val="333333"/>
                          </a:solidFill>
                          <a:latin typeface="Meiryo"/>
                          <a:ea typeface="メイリオ"/>
                          <a:cs typeface="Meiryo"/>
                        </a:rPr>
                        <a:t>3-4月</a:t>
                      </a:r>
                    </a:p>
                  </a:txBody>
                  <a:tcPr>
                    <a:solidFill>
                      <a:srgbClr val="FFFFFF"/>
                    </a:solidFill>
                  </a:tcPr>
                </a:tc>
                <a:tc>
                  <a:txBody>
                    <a:bodyPr/>
                    <a:lstStyle/>
                    <a:p>
                      <a:r>
                        <a:rPr sz="1400" b="0">
                          <a:solidFill>
                            <a:srgbClr val="333333"/>
                          </a:solidFill>
                          <a:latin typeface="Meiryo"/>
                          <a:ea typeface="メイリオ"/>
                          <a:cs typeface="Meiryo"/>
                        </a:rPr>
                        <a:t>資格取得者向け特集</a:t>
                      </a:r>
                    </a:p>
                  </a:txBody>
                  <a:tcPr>
                    <a:solidFill>
                      <a:srgbClr val="FFFFFF"/>
                    </a:solidFill>
                  </a:tcPr>
                </a:tc>
                <a:tc>
                  <a:txBody>
                    <a:bodyPr/>
                    <a:lstStyle/>
                    <a:p>
                      <a:r>
                        <a:rPr sz="1400" b="0">
                          <a:solidFill>
                            <a:srgbClr val="333333"/>
                          </a:solidFill>
                          <a:latin typeface="Meiryo"/>
                          <a:ea typeface="メイリオ"/>
                          <a:cs typeface="Meiryo"/>
                        </a:rPr>
                        <a:t>2級・検査員の合格者へ資格別の年収相場を配信</a:t>
                      </a:r>
                    </a:p>
                  </a:txBody>
                  <a:tcPr>
                    <a:solidFill>
                      <a:srgbClr val="FFFFFF"/>
                    </a:solidFill>
                  </a:tcPr>
                </a:tc>
                <a:extLst>
                  <a:ext uri="{0D108BD9-81ED-4DB2-BD59-A6C34878D82A}">
                    <a16:rowId xmlns:a16="http://schemas.microsoft.com/office/drawing/2014/main" val="10003"/>
                  </a:ext>
                </a:extLst>
              </a:tr>
              <a:tr h="411480">
                <a:tc>
                  <a:txBody>
                    <a:bodyPr/>
                    <a:lstStyle/>
                    <a:p>
                      <a:r>
                        <a:rPr sz="1400" b="0">
                          <a:solidFill>
                            <a:srgbClr val="333333"/>
                          </a:solidFill>
                          <a:latin typeface="Meiryo"/>
                          <a:ea typeface="メイリオ"/>
                          <a:cs typeface="Meiryo"/>
                        </a:rPr>
                        <a:t>5月</a:t>
                      </a:r>
                    </a:p>
                  </a:txBody>
                  <a:tcPr>
                    <a:solidFill>
                      <a:srgbClr val="FFFFFF"/>
                    </a:solidFill>
                  </a:tcPr>
                </a:tc>
                <a:tc>
                  <a:txBody>
                    <a:bodyPr/>
                    <a:lstStyle/>
                    <a:p>
                      <a:r>
                        <a:rPr sz="1400" b="0" dirty="0" err="1">
                          <a:solidFill>
                            <a:srgbClr val="333333"/>
                          </a:solidFill>
                          <a:latin typeface="Meiryo"/>
                          <a:ea typeface="メイリオ"/>
                          <a:cs typeface="Meiryo"/>
                        </a:rPr>
                        <a:t>連休明けの見直し訴求</a:t>
                      </a:r>
                      <a:endParaRPr sz="1400" b="0" dirty="0">
                        <a:solidFill>
                          <a:srgbClr val="333333"/>
                        </a:solidFill>
                        <a:latin typeface="Meiryo"/>
                        <a:ea typeface="メイリオ"/>
                        <a:cs typeface="Meiryo"/>
                      </a:endParaRPr>
                    </a:p>
                  </a:txBody>
                  <a:tcPr>
                    <a:solidFill>
                      <a:srgbClr val="FFFFFF"/>
                    </a:solidFill>
                  </a:tcPr>
                </a:tc>
                <a:tc>
                  <a:txBody>
                    <a:bodyPr/>
                    <a:lstStyle/>
                    <a:p>
                      <a:r>
                        <a:rPr sz="1400" b="0">
                          <a:solidFill>
                            <a:srgbClr val="333333"/>
                          </a:solidFill>
                          <a:latin typeface="Meiryo"/>
                          <a:ea typeface="メイリオ"/>
                          <a:cs typeface="Meiryo"/>
                        </a:rPr>
                        <a:t>GW明けの「このままでいいか」層を面談へ</a:t>
                      </a:r>
                    </a:p>
                  </a:txBody>
                  <a:tcPr>
                    <a:solidFill>
                      <a:srgbClr val="FFFFFF"/>
                    </a:solidFill>
                  </a:tcPr>
                </a:tc>
                <a:extLst>
                  <a:ext uri="{0D108BD9-81ED-4DB2-BD59-A6C34878D82A}">
                    <a16:rowId xmlns:a16="http://schemas.microsoft.com/office/drawing/2014/main" val="10004"/>
                  </a:ext>
                </a:extLst>
              </a:tr>
              <a:tr h="411480">
                <a:tc>
                  <a:txBody>
                    <a:bodyPr/>
                    <a:lstStyle/>
                    <a:p>
                      <a:r>
                        <a:rPr sz="1400" b="0">
                          <a:solidFill>
                            <a:srgbClr val="333333"/>
                          </a:solidFill>
                          <a:latin typeface="Meiryo"/>
                          <a:ea typeface="メイリオ"/>
                          <a:cs typeface="Meiryo"/>
                        </a:rPr>
                        <a:t>6月</a:t>
                      </a:r>
                    </a:p>
                  </a:txBody>
                  <a:tcPr>
                    <a:solidFill>
                      <a:srgbClr val="FFFFFF"/>
                    </a:solidFill>
                  </a:tcPr>
                </a:tc>
                <a:tc>
                  <a:txBody>
                    <a:bodyPr/>
                    <a:lstStyle/>
                    <a:p>
                      <a:r>
                        <a:rPr sz="1400" b="0">
                          <a:solidFill>
                            <a:srgbClr val="333333"/>
                          </a:solidFill>
                          <a:latin typeface="Meiryo"/>
                          <a:ea typeface="メイリオ"/>
                          <a:cs typeface="Meiryo"/>
                        </a:rPr>
                        <a:t>LINEリサーチでニーズ収集</a:t>
                      </a:r>
                    </a:p>
                  </a:txBody>
                  <a:tcPr>
                    <a:solidFill>
                      <a:srgbClr val="FFFFFF"/>
                    </a:solidFill>
                  </a:tcPr>
                </a:tc>
                <a:tc>
                  <a:txBody>
                    <a:bodyPr/>
                    <a:lstStyle/>
                    <a:p>
                      <a:r>
                        <a:rPr sz="1400" b="0">
                          <a:solidFill>
                            <a:srgbClr val="333333"/>
                          </a:solidFill>
                          <a:latin typeface="Meiryo"/>
                          <a:ea typeface="メイリオ"/>
                          <a:cs typeface="Meiryo"/>
                        </a:rPr>
                        <a:t>転職理由・希望条件を簡易アンケートで把握し企画に反映</a:t>
                      </a:r>
                    </a:p>
                  </a:txBody>
                  <a:tcPr>
                    <a:solidFill>
                      <a:srgbClr val="FFFFFF"/>
                    </a:solidFill>
                  </a:tcPr>
                </a:tc>
                <a:extLst>
                  <a:ext uri="{0D108BD9-81ED-4DB2-BD59-A6C34878D82A}">
                    <a16:rowId xmlns:a16="http://schemas.microsoft.com/office/drawing/2014/main" val="10005"/>
                  </a:ext>
                </a:extLst>
              </a:tr>
              <a:tr h="411480">
                <a:tc>
                  <a:txBody>
                    <a:bodyPr/>
                    <a:lstStyle/>
                    <a:p>
                      <a:r>
                        <a:rPr sz="1400" b="0">
                          <a:solidFill>
                            <a:srgbClr val="333333"/>
                          </a:solidFill>
                          <a:latin typeface="Meiryo"/>
                          <a:ea typeface="メイリオ"/>
                          <a:cs typeface="Meiryo"/>
                        </a:rPr>
                        <a:t>7-8月</a:t>
                      </a:r>
                    </a:p>
                  </a:txBody>
                  <a:tcPr>
                    <a:solidFill>
                      <a:srgbClr val="FFFFFF"/>
                    </a:solidFill>
                  </a:tcPr>
                </a:tc>
                <a:tc>
                  <a:txBody>
                    <a:bodyPr/>
                    <a:lstStyle/>
                    <a:p>
                      <a:r>
                        <a:rPr sz="1400" b="0" dirty="0" err="1">
                          <a:solidFill>
                            <a:srgbClr val="333333"/>
                          </a:solidFill>
                          <a:latin typeface="Meiryo"/>
                          <a:ea typeface="メイリオ"/>
                          <a:cs typeface="Meiryo"/>
                        </a:rPr>
                        <a:t>賞与後の転職検討特集</a:t>
                      </a:r>
                      <a:endParaRPr sz="1400" b="0" dirty="0">
                        <a:solidFill>
                          <a:srgbClr val="333333"/>
                        </a:solidFill>
                        <a:latin typeface="Meiryo"/>
                        <a:ea typeface="メイリオ"/>
                        <a:cs typeface="Meiryo"/>
                      </a:endParaRPr>
                    </a:p>
                  </a:txBody>
                  <a:tcPr>
                    <a:solidFill>
                      <a:srgbClr val="FFFFFF"/>
                    </a:solidFill>
                  </a:tcPr>
                </a:tc>
                <a:tc>
                  <a:txBody>
                    <a:bodyPr/>
                    <a:lstStyle/>
                    <a:p>
                      <a:r>
                        <a:rPr sz="1400" b="0" dirty="0" err="1">
                          <a:solidFill>
                            <a:srgbClr val="333333"/>
                          </a:solidFill>
                          <a:latin typeface="Meiryo"/>
                          <a:ea typeface="メイリオ"/>
                          <a:cs typeface="Meiryo"/>
                        </a:rPr>
                        <a:t>夏のボーナス後に動く層へ年収相場・求人を配信</a:t>
                      </a:r>
                      <a:endParaRPr sz="1400" b="0" dirty="0">
                        <a:solidFill>
                          <a:srgbClr val="333333"/>
                        </a:solidFill>
                        <a:latin typeface="Meiryo"/>
                        <a:ea typeface="メイリオ"/>
                        <a:cs typeface="Meiryo"/>
                      </a:endParaRPr>
                    </a:p>
                  </a:txBody>
                  <a:tcPr>
                    <a:solidFill>
                      <a:srgbClr val="FFFFFF"/>
                    </a:solidFill>
                  </a:tcPr>
                </a:tc>
                <a:extLst>
                  <a:ext uri="{0D108BD9-81ED-4DB2-BD59-A6C34878D82A}">
                    <a16:rowId xmlns:a16="http://schemas.microsoft.com/office/drawing/2014/main" val="10006"/>
                  </a:ext>
                </a:extLst>
              </a:tr>
              <a:tr h="411480">
                <a:tc>
                  <a:txBody>
                    <a:bodyPr/>
                    <a:lstStyle/>
                    <a:p>
                      <a:r>
                        <a:rPr sz="1400" b="0">
                          <a:solidFill>
                            <a:srgbClr val="333333"/>
                          </a:solidFill>
                          <a:latin typeface="Meiryo"/>
                          <a:ea typeface="メイリオ"/>
                          <a:cs typeface="Meiryo"/>
                        </a:rPr>
                        <a:t>9月</a:t>
                      </a:r>
                    </a:p>
                  </a:txBody>
                  <a:tcPr>
                    <a:solidFill>
                      <a:srgbClr val="FFFFFF"/>
                    </a:solidFill>
                  </a:tcPr>
                </a:tc>
                <a:tc>
                  <a:txBody>
                    <a:bodyPr/>
                    <a:lstStyle/>
                    <a:p>
                      <a:r>
                        <a:rPr sz="1400" b="0">
                          <a:solidFill>
                            <a:srgbClr val="333333"/>
                          </a:solidFill>
                          <a:latin typeface="Meiryo"/>
                          <a:ea typeface="メイリオ"/>
                          <a:cs typeface="Meiryo"/>
                        </a:rPr>
                        <a:t>資格取得・キャリア特集</a:t>
                      </a:r>
                    </a:p>
                  </a:txBody>
                  <a:tcPr>
                    <a:solidFill>
                      <a:srgbClr val="FFFFFF"/>
                    </a:solidFill>
                  </a:tcPr>
                </a:tc>
                <a:tc>
                  <a:txBody>
                    <a:bodyPr/>
                    <a:lstStyle/>
                    <a:p>
                      <a:r>
                        <a:rPr sz="1400" b="0" dirty="0" err="1">
                          <a:solidFill>
                            <a:srgbClr val="333333"/>
                          </a:solidFill>
                          <a:latin typeface="Meiryo"/>
                          <a:ea typeface="メイリオ"/>
                          <a:cs typeface="Meiryo"/>
                        </a:rPr>
                        <a:t>無資格・3級向けに整備士育成プロジェクトを案内</a:t>
                      </a:r>
                      <a:endParaRPr sz="1400" b="0" dirty="0">
                        <a:solidFill>
                          <a:srgbClr val="333333"/>
                        </a:solidFill>
                        <a:latin typeface="Meiryo"/>
                        <a:ea typeface="メイリオ"/>
                        <a:cs typeface="Meiryo"/>
                      </a:endParaRPr>
                    </a:p>
                  </a:txBody>
                  <a:tcPr>
                    <a:solidFill>
                      <a:srgbClr val="FFFFFF"/>
                    </a:solidFill>
                  </a:tcPr>
                </a:tc>
                <a:extLst>
                  <a:ext uri="{0D108BD9-81ED-4DB2-BD59-A6C34878D82A}">
                    <a16:rowId xmlns:a16="http://schemas.microsoft.com/office/drawing/2014/main" val="10007"/>
                  </a:ext>
                </a:extLst>
              </a:tr>
              <a:tr h="411480">
                <a:tc>
                  <a:txBody>
                    <a:bodyPr/>
                    <a:lstStyle/>
                    <a:p>
                      <a:r>
                        <a:rPr sz="1400" b="0">
                          <a:solidFill>
                            <a:srgbClr val="333333"/>
                          </a:solidFill>
                          <a:latin typeface="Meiryo"/>
                          <a:ea typeface="メイリオ"/>
                          <a:cs typeface="Meiryo"/>
                        </a:rPr>
                        <a:t>10-11月</a:t>
                      </a:r>
                    </a:p>
                  </a:txBody>
                  <a:tcPr>
                    <a:solidFill>
                      <a:srgbClr val="FFFFFF"/>
                    </a:solidFill>
                  </a:tcPr>
                </a:tc>
                <a:tc>
                  <a:txBody>
                    <a:bodyPr/>
                    <a:lstStyle/>
                    <a:p>
                      <a:r>
                        <a:rPr sz="1400" b="0">
                          <a:solidFill>
                            <a:srgbClr val="333333"/>
                          </a:solidFill>
                          <a:latin typeface="Meiryo"/>
                          <a:ea typeface="メイリオ"/>
                          <a:cs typeface="Meiryo"/>
                        </a:rPr>
                        <a:t>年内入社ラストコール</a:t>
                      </a:r>
                    </a:p>
                  </a:txBody>
                  <a:tcPr>
                    <a:solidFill>
                      <a:srgbClr val="FFFFFF"/>
                    </a:solidFill>
                  </a:tcPr>
                </a:tc>
                <a:tc>
                  <a:txBody>
                    <a:bodyPr/>
                    <a:lstStyle/>
                    <a:p>
                      <a:r>
                        <a:rPr sz="1400" b="0" dirty="0" err="1">
                          <a:solidFill>
                            <a:srgbClr val="333333"/>
                          </a:solidFill>
                          <a:latin typeface="Meiryo"/>
                          <a:ea typeface="メイリオ"/>
                          <a:cs typeface="Meiryo"/>
                        </a:rPr>
                        <a:t>年内に動きたい層へ面談枠をご案内</a:t>
                      </a:r>
                      <a:endParaRPr sz="1400" b="0" dirty="0">
                        <a:solidFill>
                          <a:srgbClr val="333333"/>
                        </a:solidFill>
                        <a:latin typeface="Meiryo"/>
                        <a:ea typeface="メイリオ"/>
                        <a:cs typeface="Meiryo"/>
                      </a:endParaRPr>
                    </a:p>
                  </a:txBody>
                  <a:tcPr>
                    <a:solidFill>
                      <a:srgbClr val="FFFFFF"/>
                    </a:solidFill>
                  </a:tcPr>
                </a:tc>
                <a:extLst>
                  <a:ext uri="{0D108BD9-81ED-4DB2-BD59-A6C34878D82A}">
                    <a16:rowId xmlns:a16="http://schemas.microsoft.com/office/drawing/2014/main" val="10008"/>
                  </a:ext>
                </a:extLst>
              </a:tr>
              <a:tr h="411480">
                <a:tc>
                  <a:txBody>
                    <a:bodyPr/>
                    <a:lstStyle/>
                    <a:p>
                      <a:r>
                        <a:rPr sz="1400" b="0">
                          <a:solidFill>
                            <a:srgbClr val="333333"/>
                          </a:solidFill>
                          <a:latin typeface="Meiryo"/>
                          <a:ea typeface="メイリオ"/>
                          <a:cs typeface="Meiryo"/>
                        </a:rPr>
                        <a:t>12月</a:t>
                      </a:r>
                    </a:p>
                  </a:txBody>
                  <a:tcPr>
                    <a:solidFill>
                      <a:srgbClr val="FFFFFF"/>
                    </a:solidFill>
                  </a:tcPr>
                </a:tc>
                <a:tc>
                  <a:txBody>
                    <a:bodyPr/>
                    <a:lstStyle/>
                    <a:p>
                      <a:r>
                        <a:rPr sz="1400" b="0">
                          <a:solidFill>
                            <a:srgbClr val="333333"/>
                          </a:solidFill>
                          <a:latin typeface="Meiryo"/>
                          <a:ea typeface="メイリオ"/>
                          <a:cs typeface="Meiryo"/>
                        </a:rPr>
                        <a:t>冬も相談だけOK訴求</a:t>
                      </a:r>
                    </a:p>
                  </a:txBody>
                  <a:tcPr>
                    <a:solidFill>
                      <a:srgbClr val="FFFFFF"/>
                    </a:solidFill>
                  </a:tcPr>
                </a:tc>
                <a:tc>
                  <a:txBody>
                    <a:bodyPr/>
                    <a:lstStyle/>
                    <a:p>
                      <a:r>
                        <a:rPr sz="1400" b="0" dirty="0" err="1">
                          <a:solidFill>
                            <a:srgbClr val="333333"/>
                          </a:solidFill>
                          <a:latin typeface="Meiryo"/>
                          <a:ea typeface="メイリオ"/>
                          <a:cs typeface="Meiryo"/>
                        </a:rPr>
                        <a:t>検索の谷でも検討は続く。配信は止めず関係を維持</a:t>
                      </a:r>
                      <a:endParaRPr sz="1400" b="0" dirty="0">
                        <a:solidFill>
                          <a:srgbClr val="333333"/>
                        </a:solidFill>
                        <a:latin typeface="Meiryo"/>
                        <a:ea typeface="メイリオ"/>
                        <a:cs typeface="Meiryo"/>
                      </a:endParaRPr>
                    </a:p>
                  </a:txBody>
                  <a:tcPr>
                    <a:solidFill>
                      <a:srgbClr val="FFFFFF"/>
                    </a:solidFill>
                  </a:tcPr>
                </a:tc>
                <a:extLst>
                  <a:ext uri="{0D108BD9-81ED-4DB2-BD59-A6C34878D82A}">
                    <a16:rowId xmlns:a16="http://schemas.microsoft.com/office/drawing/2014/main" val="10009"/>
                  </a:ext>
                </a:extLst>
              </a:tr>
            </a:tbl>
          </a:graphicData>
        </a:graphic>
      </p:graphicFrame>
      <p:sp>
        <p:nvSpPr>
          <p:cNvPr id="47" name="TextBox 46"/>
          <p:cNvSpPr txBox="1"/>
          <p:nvPr/>
        </p:nvSpPr>
        <p:spPr>
          <a:xfrm>
            <a:off x="384048" y="6355080"/>
            <a:ext cx="9052560" cy="402336"/>
          </a:xfrm>
          <a:prstGeom prst="rect">
            <a:avLst/>
          </a:prstGeom>
          <a:noFill/>
        </p:spPr>
        <p:txBody>
          <a:bodyPr wrap="square">
            <a:spAutoFit/>
          </a:bodyPr>
          <a:lstStyle/>
          <a:p>
            <a:r>
              <a:rPr sz="850">
                <a:solidFill>
                  <a:srgbClr val="9AA1AE"/>
                </a:solidFill>
                <a:latin typeface="Meiryo"/>
                <a:ea typeface="メイリオ"/>
                <a:cs typeface="Meiryo"/>
              </a:rPr>
              <a:t>出典：Googleトレンド「整備士」（山3月・谷12月）／前後検索KW「カーディーラー」／コンテンツ案v1</a:t>
            </a:r>
          </a:p>
        </p:txBody>
      </p:sp>
    </p:spTree>
    <p:extLst>
      <p:ext uri="{BB962C8B-B14F-4D97-AF65-F5344CB8AC3E}">
        <p14:creationId xmlns:p14="http://schemas.microsoft.com/office/powerpoint/2010/main" val="1269822795"/>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347C1D4-87AF-B047-12E0-A214281205E2}"/>
            </a:ext>
          </a:extLst>
        </p:cNvPr>
        <p:cNvGrpSpPr/>
        <p:nvPr/>
      </p:nvGrpSpPr>
      <p:grpSpPr>
        <a:xfrm>
          <a:off x="0" y="0"/>
          <a:ext cx="0" cy="0"/>
          <a:chOff x="0" y="0"/>
          <a:chExt cx="0" cy="0"/>
        </a:xfrm>
      </p:grpSpPr>
      <p:sp>
        <p:nvSpPr>
          <p:cNvPr id="45" name="Google Shape;156;p7">
            <a:extLst>
              <a:ext uri="{FF2B5EF4-FFF2-40B4-BE49-F238E27FC236}">
                <a16:creationId xmlns:a16="http://schemas.microsoft.com/office/drawing/2014/main" id="{723771C4-6264-E0B7-0A8B-36CFE432F84D}"/>
              </a:ext>
            </a:extLst>
          </p:cNvPr>
          <p:cNvSpPr txBox="1"/>
          <p:nvPr/>
        </p:nvSpPr>
        <p:spPr>
          <a:xfrm>
            <a:off x="548883" y="138118"/>
            <a:ext cx="6514857" cy="338554"/>
          </a:xfrm>
          <a:prstGeom prst="rect">
            <a:avLst/>
          </a:prstGeom>
          <a:noFill/>
          <a:ln w="19050">
            <a:noFill/>
          </a:ln>
        </p:spPr>
        <p:txBody>
          <a:bodyPr spcFirstLastPara="1" wrap="square" lIns="91425" tIns="45700" rIns="91425" bIns="45700" anchor="ctr" anchorCtr="0">
            <a:spAutoFit/>
          </a:bodyPr>
          <a:lstStyle/>
          <a:p>
            <a:pPr marL="0" marR="0" lvl="0" indent="0" algn="l" rtl="0">
              <a:spcBef>
                <a:spcPts val="0"/>
              </a:spcBef>
              <a:spcAft>
                <a:spcPts val="0"/>
              </a:spcAft>
              <a:buClr>
                <a:srgbClr val="002060"/>
              </a:buClr>
              <a:buSzPts val="1600"/>
              <a:buFont typeface="Arial"/>
              <a:buNone/>
            </a:pPr>
            <a:r>
              <a:rPr lang="ja-JP" altLang="en-US" sz="1600" b="1" dirty="0">
                <a:solidFill>
                  <a:srgbClr val="002060"/>
                </a:solidFill>
                <a:latin typeface="Meiryo"/>
                <a:ea typeface="Meiryo"/>
                <a:cs typeface="Meiryo"/>
                <a:sym typeface="Meiryo"/>
              </a:rPr>
              <a:t>その他（コンサルに含む）</a:t>
            </a:r>
            <a:endParaRPr sz="1600" b="1" dirty="0">
              <a:solidFill>
                <a:srgbClr val="002060"/>
              </a:solidFill>
              <a:latin typeface="Meiryo"/>
              <a:ea typeface="Meiryo"/>
              <a:cs typeface="Meiryo"/>
              <a:sym typeface="Meiryo"/>
            </a:endParaRPr>
          </a:p>
        </p:txBody>
      </p:sp>
      <p:sp>
        <p:nvSpPr>
          <p:cNvPr id="2" name="TextBox 2">
            <a:extLst>
              <a:ext uri="{FF2B5EF4-FFF2-40B4-BE49-F238E27FC236}">
                <a16:creationId xmlns:a16="http://schemas.microsoft.com/office/drawing/2014/main" id="{A48C561C-B672-4D7C-E0CB-20192CDA08E0}"/>
              </a:ext>
            </a:extLst>
          </p:cNvPr>
          <p:cNvSpPr/>
          <p:nvPr/>
        </p:nvSpPr>
        <p:spPr>
          <a:xfrm>
            <a:off x="426900" y="1051740"/>
            <a:ext cx="9052200" cy="283239"/>
          </a:xfrm>
          <a:prstGeom prst="rect">
            <a:avLst/>
          </a:prstGeom>
          <a:noFill/>
          <a:ln w="0">
            <a:noFill/>
          </a:ln>
          <a:effectLst/>
        </p:spPr>
        <p:txBody>
          <a:bodyPr lIns="90000" tIns="45000" rIns="90000" bIns="45000" anchor="t">
            <a:spAutoFit/>
          </a:bodyPr>
          <a:ls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1" lang="zh-CN" altLang="en-US" sz="1350" b="0" i="0" u="none" strike="noStrike" kern="1200" cap="none" spc="-1" normalizeH="0" baseline="0" noProof="0">
                <a:ln>
                  <a:noFill/>
                </a:ln>
                <a:solidFill>
                  <a:srgbClr val="5A6378"/>
                </a:solidFill>
                <a:effectLst/>
                <a:uLnTx/>
                <a:uFillTx/>
                <a:latin typeface="メイリオ" panose="020B0604030504040204" pitchFamily="50" charset="-128"/>
                <a:ea typeface="メイリオ" panose="020B0604030504040204" pitchFamily="50" charset="-128"/>
              </a:rPr>
              <a:t>ユーザー対応の質を高める</a:t>
            </a:r>
            <a:r>
              <a:rPr kumimoji="1" lang="en-US" altLang="zh-CN" sz="1350" b="0" i="0" u="none" strike="noStrike" kern="1200" cap="none" spc="-1" normalizeH="0" baseline="0" noProof="0">
                <a:ln>
                  <a:noFill/>
                </a:ln>
                <a:solidFill>
                  <a:srgbClr val="5A6378"/>
                </a:solidFill>
                <a:effectLst/>
                <a:uLnTx/>
                <a:uFillTx/>
                <a:latin typeface="メイリオ" panose="020B0604030504040204" pitchFamily="50" charset="-128"/>
                <a:ea typeface="メイリオ" panose="020B0604030504040204" pitchFamily="50" charset="-128"/>
              </a:rPr>
              <a:t>3</a:t>
            </a:r>
            <a:r>
              <a:rPr kumimoji="1" lang="zh-CN" altLang="en-US" sz="1350" b="0" i="0" u="none" strike="noStrike" kern="1200" cap="none" spc="-1" normalizeH="0" baseline="0" noProof="0">
                <a:ln>
                  <a:noFill/>
                </a:ln>
                <a:solidFill>
                  <a:srgbClr val="5A6378"/>
                </a:solidFill>
                <a:effectLst/>
                <a:uLnTx/>
                <a:uFillTx/>
                <a:latin typeface="メイリオ" panose="020B0604030504040204" pitchFamily="50" charset="-128"/>
                <a:ea typeface="メイリオ" panose="020B0604030504040204" pitchFamily="50" charset="-128"/>
              </a:rPr>
              <a:t>つの施策カテゴリ（診断コンテンツを前提に整理）</a:t>
            </a:r>
            <a:endParaRPr kumimoji="1" lang="en-US" sz="1250" b="0" i="0" u="none" strike="noStrike" kern="1200" cap="none" spc="-1" normalizeH="0" baseline="0" noProof="0">
              <a:ln>
                <a:noFill/>
              </a:ln>
              <a:solidFill>
                <a:srgbClr val="000000"/>
              </a:solidFill>
              <a:effectLst/>
              <a:uLnTx/>
              <a:uFillTx/>
              <a:latin typeface="メイリオ" panose="020B0604030504040204" pitchFamily="50" charset="-128"/>
              <a:ea typeface="メイリオ" panose="020B0604030504040204" pitchFamily="50" charset="-128"/>
            </a:endParaRPr>
          </a:p>
        </p:txBody>
      </p:sp>
      <p:sp>
        <p:nvSpPr>
          <p:cNvPr id="5" name="Rounded Rectangle 3">
            <a:extLst>
              <a:ext uri="{FF2B5EF4-FFF2-40B4-BE49-F238E27FC236}">
                <a16:creationId xmlns:a16="http://schemas.microsoft.com/office/drawing/2014/main" id="{48C161C3-997D-031F-FF20-5370159140C1}"/>
              </a:ext>
            </a:extLst>
          </p:cNvPr>
          <p:cNvSpPr/>
          <p:nvPr/>
        </p:nvSpPr>
        <p:spPr>
          <a:xfrm>
            <a:off x="426900" y="1691820"/>
            <a:ext cx="2834280" cy="548280"/>
          </a:xfrm>
          <a:prstGeom prst="roundRect">
            <a:avLst>
              <a:gd name="adj" fmla="val 10000"/>
            </a:avLst>
          </a:prstGeom>
          <a:solidFill>
            <a:srgbClr val="1F2A5C"/>
          </a:solidFill>
          <a:ln w="12700" cap="flat" cmpd="sng" algn="ctr">
            <a:solidFill>
              <a:srgbClr val="1F2A5C"/>
            </a:solidFill>
            <a:prstDash val="solid"/>
            <a:round/>
          </a:ln>
          <a:effectLst>
            <a:outerShdw blurRad="39960" dist="23040" dir="5400000" rotWithShape="0">
              <a:srgbClr val="000000">
                <a:alpha val="35000"/>
              </a:srgbClr>
            </a:outerShdw>
          </a:effectLst>
        </p:spPr>
        <p:txBody>
          <a:bodyPr lIns="50760" tIns="45000" rIns="50760" bIns="45000" anchor="ctr">
            <a:noAutofit/>
          </a:bodyPr>
          <a:ls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1" lang="en-US" sz="1500" b="1" i="0" u="none" strike="noStrike" kern="1200" cap="none" spc="-1" normalizeH="0" baseline="0" noProof="0">
                <a:ln>
                  <a:noFill/>
                </a:ln>
                <a:solidFill>
                  <a:srgbClr val="FFFFFF"/>
                </a:solidFill>
                <a:effectLst/>
                <a:uLnTx/>
                <a:uFillTx/>
                <a:latin typeface="メイリオ" panose="020B0604030504040204" pitchFamily="50" charset="-128"/>
                <a:ea typeface="メイリオ" panose="020B0604030504040204" pitchFamily="50" charset="-128"/>
              </a:rPr>
              <a:t>QA</a:t>
            </a:r>
            <a:r>
              <a:rPr kumimoji="1" lang="zh-CN" altLang="en-US" sz="1500" b="1" i="0" u="none" strike="noStrike" kern="1200" cap="none" spc="-1" normalizeH="0" baseline="0" noProof="0">
                <a:ln>
                  <a:noFill/>
                </a:ln>
                <a:solidFill>
                  <a:srgbClr val="FFFFFF"/>
                </a:solidFill>
                <a:effectLst/>
                <a:uLnTx/>
                <a:uFillTx/>
                <a:latin typeface="メイリオ" panose="020B0604030504040204" pitchFamily="50" charset="-128"/>
                <a:ea typeface="メイリオ" panose="020B0604030504040204" pitchFamily="50" charset="-128"/>
              </a:rPr>
              <a:t>自動化</a:t>
            </a:r>
            <a:endParaRPr kumimoji="1" lang="en-US" sz="1400" b="0" i="0" u="none" strike="noStrike" kern="1200" cap="none" spc="-1" normalizeH="0" baseline="0" noProof="0">
              <a:ln>
                <a:noFill/>
              </a:ln>
              <a:solidFill>
                <a:srgbClr val="FFFFFF"/>
              </a:solidFill>
              <a:effectLst/>
              <a:uLnTx/>
              <a:uFillTx/>
              <a:latin typeface="メイリオ" panose="020B0604030504040204" pitchFamily="50" charset="-128"/>
              <a:ea typeface="メイリオ" panose="020B0604030504040204" pitchFamily="50" charset="-128"/>
            </a:endParaRPr>
          </a:p>
        </p:txBody>
      </p:sp>
      <p:sp>
        <p:nvSpPr>
          <p:cNvPr id="6" name="Rounded Rectangle 4">
            <a:extLst>
              <a:ext uri="{FF2B5EF4-FFF2-40B4-BE49-F238E27FC236}">
                <a16:creationId xmlns:a16="http://schemas.microsoft.com/office/drawing/2014/main" id="{6140F136-C536-8CE1-4ABC-27C53A6C98F3}"/>
              </a:ext>
            </a:extLst>
          </p:cNvPr>
          <p:cNvSpPr/>
          <p:nvPr/>
        </p:nvSpPr>
        <p:spPr>
          <a:xfrm>
            <a:off x="426900" y="2331900"/>
            <a:ext cx="2834280" cy="1425288"/>
          </a:xfrm>
          <a:prstGeom prst="roundRect">
            <a:avLst>
              <a:gd name="adj" fmla="val 10000"/>
            </a:avLst>
          </a:prstGeom>
          <a:solidFill>
            <a:srgbClr val="F5F7FA"/>
          </a:solidFill>
          <a:ln w="12700" cap="flat" cmpd="sng" algn="ctr">
            <a:solidFill>
              <a:srgbClr val="D1D8E0"/>
            </a:solidFill>
            <a:prstDash val="solid"/>
            <a:round/>
          </a:ln>
          <a:effectLst>
            <a:outerShdw blurRad="39960" dist="23040" dir="5400000" rotWithShape="0">
              <a:srgbClr val="000000">
                <a:alpha val="35000"/>
              </a:srgbClr>
            </a:outerShdw>
          </a:effectLst>
        </p:spPr>
        <p:txBody>
          <a:bodyPr wrap="square" lIns="50760" tIns="200000" rIns="50760" bIns="45000" anchor="t">
            <a:noAutofit/>
          </a:bodyPr>
          <a:ls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pPr marL="0" marR="0" lvl="0" indent="0" algn="l" defTabSz="914400" rtl="0" eaLnBrk="1" fontAlgn="auto" latinLnBrk="0" hangingPunct="1">
              <a:lnSpc>
                <a:spcPct val="100000"/>
              </a:lnSpc>
              <a:spcBef>
                <a:spcPts val="0"/>
              </a:spcBef>
              <a:spcAft>
                <a:spcPts val="1000"/>
              </a:spcAft>
              <a:buClrTx/>
              <a:buSzTx/>
              <a:buFontTx/>
              <a:buNone/>
              <a:tabLst/>
              <a:defRPr/>
            </a:pPr>
            <a:r>
              <a:rPr kumimoji="1" sz="1400" b="0" i="0" u="none" strike="noStrike" kern="1200" cap="none" spc="0" normalizeH="0" baseline="0" noProof="0">
                <a:ln>
                  <a:noFill/>
                </a:ln>
                <a:solidFill>
                  <a:srgbClr val="404040"/>
                </a:solidFill>
                <a:effectLst/>
                <a:uLnTx/>
                <a:uFillTx/>
                <a:latin typeface="メイリオ" panose="020B0604030504040204" pitchFamily="50" charset="-128"/>
                <a:ea typeface="メイリオ" panose="020B0604030504040204" pitchFamily="50" charset="-128"/>
              </a:rPr>
              <a:t>・求人内容や選考プロセス等のよくある質問にLINEチャットボットで自動回答</a:t>
            </a:r>
            <a:endParaRPr kumimoji="1" lang="en-US" sz="1100" b="0" i="0" u="none" strike="noStrike" kern="1200" cap="none" spc="-1" normalizeH="0" baseline="0" noProof="0">
              <a:ln>
                <a:noFill/>
              </a:ln>
              <a:solidFill>
                <a:srgbClr val="000000"/>
              </a:solidFill>
              <a:effectLst/>
              <a:uLnTx/>
              <a:uFillTx/>
              <a:latin typeface="メイリオ" panose="020B0604030504040204" pitchFamily="50" charset="-128"/>
              <a:ea typeface="メイリオ" panose="020B0604030504040204" pitchFamily="50" charset="-128"/>
            </a:endParaRPr>
          </a:p>
          <a:p>
            <a:pPr marL="0" marR="0" lvl="0" indent="0" algn="l" defTabSz="914400" rtl="0" eaLnBrk="1" fontAlgn="auto" latinLnBrk="0" hangingPunct="1">
              <a:lnSpc>
                <a:spcPct val="100000"/>
              </a:lnSpc>
              <a:spcBef>
                <a:spcPts val="0"/>
              </a:spcBef>
              <a:spcAft>
                <a:spcPts val="1000"/>
              </a:spcAft>
              <a:buClrTx/>
              <a:buSzTx/>
              <a:buFontTx/>
              <a:buNone/>
              <a:tabLst/>
              <a:defRPr/>
            </a:pPr>
            <a:r>
              <a:rPr kumimoji="1" sz="1400" b="0" i="0" u="none" strike="noStrike" kern="1200" cap="none" spc="0" normalizeH="0" baseline="0" noProof="0">
                <a:ln>
                  <a:noFill/>
                </a:ln>
                <a:solidFill>
                  <a:srgbClr val="404040"/>
                </a:solidFill>
                <a:effectLst/>
                <a:uLnTx/>
                <a:uFillTx/>
                <a:latin typeface="メイリオ" panose="020B0604030504040204" pitchFamily="50" charset="-128"/>
                <a:ea typeface="メイリオ" panose="020B0604030504040204" pitchFamily="50" charset="-128"/>
              </a:rPr>
              <a:t>・診断結果に応じたQ&amp;Aパターンも自動化候補</a:t>
            </a:r>
          </a:p>
        </p:txBody>
      </p:sp>
      <p:sp>
        <p:nvSpPr>
          <p:cNvPr id="7" name="Rounded Rectangle 5">
            <a:extLst>
              <a:ext uri="{FF2B5EF4-FFF2-40B4-BE49-F238E27FC236}">
                <a16:creationId xmlns:a16="http://schemas.microsoft.com/office/drawing/2014/main" id="{49ED863B-16D0-2D6F-E267-38B524C3E460}"/>
              </a:ext>
            </a:extLst>
          </p:cNvPr>
          <p:cNvSpPr/>
          <p:nvPr/>
        </p:nvSpPr>
        <p:spPr>
          <a:xfrm>
            <a:off x="3444420" y="1691820"/>
            <a:ext cx="2834280" cy="548280"/>
          </a:xfrm>
          <a:prstGeom prst="roundRect">
            <a:avLst>
              <a:gd name="adj" fmla="val 10000"/>
            </a:avLst>
          </a:prstGeom>
          <a:solidFill>
            <a:srgbClr val="4A6FA5"/>
          </a:solidFill>
          <a:ln w="12700" cap="flat" cmpd="sng" algn="ctr">
            <a:solidFill>
              <a:srgbClr val="4A6FA5"/>
            </a:solidFill>
            <a:prstDash val="solid"/>
            <a:round/>
          </a:ln>
          <a:effectLst>
            <a:outerShdw blurRad="39960" dist="23040" dir="5400000" rotWithShape="0">
              <a:srgbClr val="000000">
                <a:alpha val="35000"/>
              </a:srgbClr>
            </a:outerShdw>
          </a:effectLst>
        </p:spPr>
        <p:txBody>
          <a:bodyPr lIns="50760" tIns="45000" rIns="50760" bIns="45000" anchor="ctr">
            <a:noAutofit/>
          </a:bodyPr>
          <a:ls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1" lang="zh-CN" altLang="en-US" sz="1500" b="1" i="0" u="none" strike="noStrike" kern="1200" cap="none" spc="-1" normalizeH="0" baseline="0" noProof="0">
                <a:ln>
                  <a:noFill/>
                </a:ln>
                <a:solidFill>
                  <a:srgbClr val="FFFFFF"/>
                </a:solidFill>
                <a:effectLst/>
                <a:uLnTx/>
                <a:uFillTx/>
                <a:latin typeface="メイリオ" panose="020B0604030504040204" pitchFamily="50" charset="-128"/>
                <a:ea typeface="メイリオ" panose="020B0604030504040204" pitchFamily="50" charset="-128"/>
              </a:rPr>
              <a:t>個別チャット</a:t>
            </a:r>
            <a:endParaRPr kumimoji="1" lang="en-US" sz="1400" b="0" i="0" u="none" strike="noStrike" kern="1200" cap="none" spc="-1" normalizeH="0" baseline="0" noProof="0">
              <a:ln>
                <a:noFill/>
              </a:ln>
              <a:solidFill>
                <a:srgbClr val="FFFFFF"/>
              </a:solidFill>
              <a:effectLst/>
              <a:uLnTx/>
              <a:uFillTx/>
              <a:latin typeface="メイリオ" panose="020B0604030504040204" pitchFamily="50" charset="-128"/>
              <a:ea typeface="メイリオ" panose="020B0604030504040204" pitchFamily="50" charset="-128"/>
            </a:endParaRPr>
          </a:p>
        </p:txBody>
      </p:sp>
      <p:sp>
        <p:nvSpPr>
          <p:cNvPr id="9" name="Rounded Rectangle 6">
            <a:extLst>
              <a:ext uri="{FF2B5EF4-FFF2-40B4-BE49-F238E27FC236}">
                <a16:creationId xmlns:a16="http://schemas.microsoft.com/office/drawing/2014/main" id="{2120D6CC-F8E8-A676-5288-0D7CA7AE5EBB}"/>
              </a:ext>
            </a:extLst>
          </p:cNvPr>
          <p:cNvSpPr/>
          <p:nvPr/>
        </p:nvSpPr>
        <p:spPr>
          <a:xfrm>
            <a:off x="3444420" y="2331900"/>
            <a:ext cx="2834280" cy="1425288"/>
          </a:xfrm>
          <a:prstGeom prst="roundRect">
            <a:avLst>
              <a:gd name="adj" fmla="val 10000"/>
            </a:avLst>
          </a:prstGeom>
          <a:solidFill>
            <a:srgbClr val="F5F7FA"/>
          </a:solidFill>
          <a:ln w="12700" cap="flat" cmpd="sng" algn="ctr">
            <a:solidFill>
              <a:srgbClr val="D1D8E0"/>
            </a:solidFill>
            <a:prstDash val="solid"/>
            <a:round/>
          </a:ln>
          <a:effectLst>
            <a:outerShdw blurRad="39960" dist="23040" dir="5400000" rotWithShape="0">
              <a:srgbClr val="000000">
                <a:alpha val="35000"/>
              </a:srgbClr>
            </a:outerShdw>
          </a:effectLst>
        </p:spPr>
        <p:txBody>
          <a:bodyPr wrap="square" lIns="50760" tIns="200000" rIns="50760" bIns="45000" anchor="t">
            <a:noAutofit/>
          </a:bodyPr>
          <a:ls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pPr marL="0" marR="0" lvl="0" indent="0" algn="l" defTabSz="914400" rtl="0" eaLnBrk="1" fontAlgn="auto" latinLnBrk="0" hangingPunct="1">
              <a:lnSpc>
                <a:spcPct val="100000"/>
              </a:lnSpc>
              <a:spcBef>
                <a:spcPts val="0"/>
              </a:spcBef>
              <a:spcAft>
                <a:spcPts val="1000"/>
              </a:spcAft>
              <a:buClrTx/>
              <a:buSzTx/>
              <a:buFontTx/>
              <a:buNone/>
              <a:tabLst/>
              <a:defRPr/>
            </a:pPr>
            <a:r>
              <a:rPr kumimoji="1" sz="1400" b="0" i="0" u="none" strike="noStrike" kern="1200" cap="none" spc="0" normalizeH="0" baseline="0" noProof="0">
                <a:ln>
                  <a:noFill/>
                </a:ln>
                <a:solidFill>
                  <a:srgbClr val="404040"/>
                </a:solidFill>
                <a:effectLst/>
                <a:uLnTx/>
                <a:uFillTx/>
                <a:latin typeface="メイリオ" panose="020B0604030504040204" pitchFamily="50" charset="-128"/>
                <a:ea typeface="メイリオ" panose="020B0604030504040204" pitchFamily="50" charset="-128"/>
              </a:rPr>
              <a:t>・契約内容等の複雑な問い合わせは有人チャットで個別対応</a:t>
            </a:r>
            <a:endParaRPr kumimoji="1" lang="en-US" sz="1100" b="0" i="0" u="none" strike="noStrike" kern="1200" cap="none" spc="-1" normalizeH="0" baseline="0" noProof="0">
              <a:ln>
                <a:noFill/>
              </a:ln>
              <a:solidFill>
                <a:srgbClr val="000000"/>
              </a:solidFill>
              <a:effectLst/>
              <a:uLnTx/>
              <a:uFillTx/>
              <a:latin typeface="メイリオ" panose="020B0604030504040204" pitchFamily="50" charset="-128"/>
              <a:ea typeface="メイリオ" panose="020B0604030504040204" pitchFamily="50" charset="-128"/>
            </a:endParaRPr>
          </a:p>
          <a:p>
            <a:pPr marL="0" marR="0" lvl="0" indent="0" algn="l" defTabSz="914400" rtl="0" eaLnBrk="1" fontAlgn="auto" latinLnBrk="0" hangingPunct="1">
              <a:lnSpc>
                <a:spcPct val="100000"/>
              </a:lnSpc>
              <a:spcBef>
                <a:spcPts val="0"/>
              </a:spcBef>
              <a:spcAft>
                <a:spcPts val="1000"/>
              </a:spcAft>
              <a:buClrTx/>
              <a:buSzTx/>
              <a:buFontTx/>
              <a:buNone/>
              <a:tabLst/>
              <a:defRPr/>
            </a:pPr>
            <a:r>
              <a:rPr kumimoji="1" sz="1400" b="0" i="0" u="none" strike="noStrike" kern="1200" cap="none" spc="0" normalizeH="0" baseline="0" noProof="0">
                <a:ln>
                  <a:noFill/>
                </a:ln>
                <a:solidFill>
                  <a:srgbClr val="404040"/>
                </a:solidFill>
                <a:effectLst/>
                <a:uLnTx/>
                <a:uFillTx/>
                <a:latin typeface="メイリオ" panose="020B0604030504040204" pitchFamily="50" charset="-128"/>
                <a:ea typeface="メイリオ" panose="020B0604030504040204" pitchFamily="50" charset="-128"/>
              </a:rPr>
              <a:t>・タグ管理で乗り換え検討等、優先度の高い問い合わせを可視化</a:t>
            </a:r>
          </a:p>
        </p:txBody>
      </p:sp>
      <p:sp>
        <p:nvSpPr>
          <p:cNvPr id="11" name="Rounded Rectangle 7">
            <a:extLst>
              <a:ext uri="{FF2B5EF4-FFF2-40B4-BE49-F238E27FC236}">
                <a16:creationId xmlns:a16="http://schemas.microsoft.com/office/drawing/2014/main" id="{A110E104-86B5-BECB-43FF-305B6025C5CA}"/>
              </a:ext>
            </a:extLst>
          </p:cNvPr>
          <p:cNvSpPr/>
          <p:nvPr/>
        </p:nvSpPr>
        <p:spPr>
          <a:xfrm>
            <a:off x="6461940" y="1691820"/>
            <a:ext cx="2834280" cy="548280"/>
          </a:xfrm>
          <a:prstGeom prst="roundRect">
            <a:avLst>
              <a:gd name="adj" fmla="val 10000"/>
            </a:avLst>
          </a:prstGeom>
          <a:solidFill>
            <a:srgbClr val="5A6378"/>
          </a:solidFill>
          <a:ln w="12700" cap="flat" cmpd="sng" algn="ctr">
            <a:solidFill>
              <a:srgbClr val="5A6378"/>
            </a:solidFill>
            <a:prstDash val="solid"/>
            <a:round/>
          </a:ln>
          <a:effectLst>
            <a:outerShdw blurRad="39960" dist="23040" dir="5400000" rotWithShape="0">
              <a:srgbClr val="000000">
                <a:alpha val="35000"/>
              </a:srgbClr>
            </a:outerShdw>
          </a:effectLst>
        </p:spPr>
        <p:txBody>
          <a:bodyPr lIns="50760" tIns="45000" rIns="50760" bIns="45000" anchor="ctr">
            <a:noAutofit/>
          </a:bodyPr>
          <a:ls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1" lang="zh-CN" altLang="en-US" sz="1500" b="1" i="0" u="none" strike="noStrike" kern="1200" cap="none" spc="-1" normalizeH="0" baseline="0" noProof="0">
                <a:ln>
                  <a:noFill/>
                </a:ln>
                <a:solidFill>
                  <a:srgbClr val="FFFFFF"/>
                </a:solidFill>
                <a:effectLst/>
                <a:uLnTx/>
                <a:uFillTx/>
                <a:latin typeface="メイリオ" panose="020B0604030504040204" pitchFamily="50" charset="-128"/>
                <a:ea typeface="メイリオ" panose="020B0604030504040204" pitchFamily="50" charset="-128"/>
              </a:rPr>
              <a:t>その他</a:t>
            </a:r>
            <a:endParaRPr kumimoji="1" lang="en-US" sz="1400" b="0" i="0" u="none" strike="noStrike" kern="1200" cap="none" spc="-1" normalizeH="0" baseline="0" noProof="0">
              <a:ln>
                <a:noFill/>
              </a:ln>
              <a:solidFill>
                <a:srgbClr val="FFFFFF"/>
              </a:solidFill>
              <a:effectLst/>
              <a:uLnTx/>
              <a:uFillTx/>
              <a:latin typeface="メイリオ" panose="020B0604030504040204" pitchFamily="50" charset="-128"/>
              <a:ea typeface="メイリオ" panose="020B0604030504040204" pitchFamily="50" charset="-128"/>
            </a:endParaRPr>
          </a:p>
        </p:txBody>
      </p:sp>
      <p:sp>
        <p:nvSpPr>
          <p:cNvPr id="13" name="Rounded Rectangle 8">
            <a:extLst>
              <a:ext uri="{FF2B5EF4-FFF2-40B4-BE49-F238E27FC236}">
                <a16:creationId xmlns:a16="http://schemas.microsoft.com/office/drawing/2014/main" id="{FA298501-38B3-F233-CA41-A026320BA8C3}"/>
              </a:ext>
            </a:extLst>
          </p:cNvPr>
          <p:cNvSpPr/>
          <p:nvPr/>
        </p:nvSpPr>
        <p:spPr>
          <a:xfrm>
            <a:off x="6461940" y="2331900"/>
            <a:ext cx="2834280" cy="1425288"/>
          </a:xfrm>
          <a:prstGeom prst="roundRect">
            <a:avLst>
              <a:gd name="adj" fmla="val 10000"/>
            </a:avLst>
          </a:prstGeom>
          <a:solidFill>
            <a:srgbClr val="F5F7FA"/>
          </a:solidFill>
          <a:ln w="12700" cap="flat" cmpd="sng" algn="ctr">
            <a:solidFill>
              <a:srgbClr val="D1D8E0"/>
            </a:solidFill>
            <a:prstDash val="solid"/>
            <a:round/>
          </a:ln>
          <a:effectLst>
            <a:outerShdw blurRad="39960" dist="23040" dir="5400000" rotWithShape="0">
              <a:srgbClr val="000000">
                <a:alpha val="35000"/>
              </a:srgbClr>
            </a:outerShdw>
          </a:effectLst>
        </p:spPr>
        <p:txBody>
          <a:bodyPr wrap="square" lIns="50760" tIns="200000" rIns="50760" bIns="45000" anchor="t">
            <a:noAutofit/>
          </a:bodyPr>
          <a:ls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pPr marL="0" marR="0" lvl="0" indent="0" algn="l" defTabSz="914400" rtl="0" eaLnBrk="1" fontAlgn="auto" latinLnBrk="0" hangingPunct="1">
              <a:lnSpc>
                <a:spcPct val="100000"/>
              </a:lnSpc>
              <a:spcBef>
                <a:spcPts val="0"/>
              </a:spcBef>
              <a:spcAft>
                <a:spcPts val="1000"/>
              </a:spcAft>
              <a:buClrTx/>
              <a:buSzTx/>
              <a:buFontTx/>
              <a:buNone/>
              <a:tabLst/>
              <a:defRPr/>
            </a:pPr>
            <a:r>
              <a:rPr kumimoji="1" sz="1400" b="0" i="0" u="none" strike="noStrike" kern="1200" cap="none" spc="0" normalizeH="0" baseline="0" noProof="0">
                <a:ln>
                  <a:noFill/>
                </a:ln>
                <a:solidFill>
                  <a:srgbClr val="404040"/>
                </a:solidFill>
                <a:effectLst/>
                <a:uLnTx/>
                <a:uFillTx/>
                <a:latin typeface="メイリオ" panose="020B0604030504040204" pitchFamily="50" charset="-128"/>
                <a:ea typeface="メイリオ" panose="020B0604030504040204" pitchFamily="50" charset="-128"/>
              </a:rPr>
              <a:t>・求職者アンケートをLINEリサーチ機能で実施</a:t>
            </a:r>
            <a:endParaRPr kumimoji="1" lang="en-US" sz="1100" b="0" i="0" u="none" strike="noStrike" kern="1200" cap="none" spc="-1" normalizeH="0" baseline="0" noProof="0">
              <a:ln>
                <a:noFill/>
              </a:ln>
              <a:solidFill>
                <a:srgbClr val="000000"/>
              </a:solidFill>
              <a:effectLst/>
              <a:uLnTx/>
              <a:uFillTx/>
              <a:latin typeface="メイリオ" panose="020B0604030504040204" pitchFamily="50" charset="-128"/>
              <a:ea typeface="メイリオ" panose="020B0604030504040204" pitchFamily="50" charset="-128"/>
            </a:endParaRPr>
          </a:p>
          <a:p>
            <a:pPr marL="0" marR="0" lvl="0" indent="0" algn="l" defTabSz="914400" rtl="0" eaLnBrk="1" fontAlgn="auto" latinLnBrk="0" hangingPunct="1">
              <a:lnSpc>
                <a:spcPct val="100000"/>
              </a:lnSpc>
              <a:spcBef>
                <a:spcPts val="0"/>
              </a:spcBef>
              <a:spcAft>
                <a:spcPts val="1000"/>
              </a:spcAft>
              <a:buClrTx/>
              <a:buSzTx/>
              <a:buFontTx/>
              <a:buNone/>
              <a:tabLst/>
              <a:defRPr/>
            </a:pPr>
            <a:r>
              <a:rPr kumimoji="1" sz="1400" b="0" i="0" u="none" strike="noStrike" kern="1200" cap="none" spc="0" normalizeH="0" baseline="0" noProof="0">
                <a:ln>
                  <a:noFill/>
                </a:ln>
                <a:solidFill>
                  <a:srgbClr val="404040"/>
                </a:solidFill>
                <a:effectLst/>
                <a:uLnTx/>
                <a:uFillTx/>
                <a:latin typeface="メイリオ" panose="020B0604030504040204" pitchFamily="50" charset="-128"/>
                <a:ea typeface="メイリオ" panose="020B0604030504040204" pitchFamily="50" charset="-128"/>
              </a:rPr>
              <a:t>・回答特典を付けて回収率を高める</a:t>
            </a:r>
          </a:p>
        </p:txBody>
      </p:sp>
      <p:sp>
        <p:nvSpPr>
          <p:cNvPr id="15" name="Google Shape;156;p7">
            <a:extLst>
              <a:ext uri="{FF2B5EF4-FFF2-40B4-BE49-F238E27FC236}">
                <a16:creationId xmlns:a16="http://schemas.microsoft.com/office/drawing/2014/main" id="{DCA83424-AED2-9D0C-15FF-C3A1D7D9F90E}"/>
              </a:ext>
            </a:extLst>
          </p:cNvPr>
          <p:cNvSpPr txBox="1"/>
          <p:nvPr/>
        </p:nvSpPr>
        <p:spPr>
          <a:xfrm>
            <a:off x="426900" y="4279347"/>
            <a:ext cx="6514857" cy="338554"/>
          </a:xfrm>
          <a:prstGeom prst="rect">
            <a:avLst/>
          </a:prstGeom>
          <a:noFill/>
          <a:ln w="19050">
            <a:noFill/>
          </a:ln>
        </p:spPr>
        <p:txBody>
          <a:bodyPr spcFirstLastPara="1" wrap="square" lIns="91425" tIns="45700" rIns="91425" bIns="45700" anchor="ctr" anchorCtr="0">
            <a:spAutoFit/>
          </a:bodyPr>
          <a:lstStyle/>
          <a:p>
            <a:pPr marL="0" marR="0" lvl="0" indent="0" algn="l" rtl="0">
              <a:spcBef>
                <a:spcPts val="0"/>
              </a:spcBef>
              <a:spcAft>
                <a:spcPts val="0"/>
              </a:spcAft>
              <a:buClr>
                <a:srgbClr val="002060"/>
              </a:buClr>
              <a:buSzPts val="1600"/>
              <a:buFont typeface="Arial"/>
              <a:buNone/>
            </a:pPr>
            <a:r>
              <a:rPr lang="ja-JP" altLang="en-US" sz="1700" b="1" dirty="0">
                <a:solidFill>
                  <a:srgbClr val="002060"/>
                </a:solidFill>
                <a:latin typeface="Meiryo"/>
                <a:ea typeface="Meiryo"/>
                <a:cs typeface="Meiryo"/>
                <a:sym typeface="Meiryo"/>
              </a:rPr>
              <a:t>その他（コンサルに含む）　　</a:t>
            </a:r>
            <a:r>
              <a:rPr lang="en-US" altLang="ja-JP" sz="1700" b="1" dirty="0">
                <a:solidFill>
                  <a:srgbClr val="002060"/>
                </a:solidFill>
                <a:latin typeface="Meiryo"/>
                <a:ea typeface="Meiryo"/>
                <a:cs typeface="Meiryo"/>
                <a:sym typeface="Meiryo"/>
              </a:rPr>
              <a:t>※</a:t>
            </a:r>
            <a:r>
              <a:rPr lang="ja-JP" altLang="en-US" sz="1700" b="1" dirty="0">
                <a:solidFill>
                  <a:srgbClr val="002060"/>
                </a:solidFill>
                <a:latin typeface="Meiryo"/>
                <a:ea typeface="Meiryo"/>
                <a:cs typeface="Meiryo"/>
                <a:sym typeface="Meiryo"/>
              </a:rPr>
              <a:t>工数削減施策</a:t>
            </a:r>
            <a:endParaRPr sz="1600" b="1" dirty="0">
              <a:solidFill>
                <a:srgbClr val="002060"/>
              </a:solidFill>
              <a:latin typeface="Meiryo"/>
              <a:ea typeface="Meiryo"/>
              <a:cs typeface="Meiryo"/>
              <a:sym typeface="Meiryo"/>
            </a:endParaRPr>
          </a:p>
        </p:txBody>
      </p:sp>
      <p:sp>
        <p:nvSpPr>
          <p:cNvPr id="17" name="Rounded Rectangle 3">
            <a:extLst>
              <a:ext uri="{FF2B5EF4-FFF2-40B4-BE49-F238E27FC236}">
                <a16:creationId xmlns:a16="http://schemas.microsoft.com/office/drawing/2014/main" id="{13A2205C-193F-C8D0-D9D5-28D75F02D3A1}"/>
              </a:ext>
            </a:extLst>
          </p:cNvPr>
          <p:cNvSpPr/>
          <p:nvPr/>
        </p:nvSpPr>
        <p:spPr>
          <a:xfrm>
            <a:off x="426900" y="4753795"/>
            <a:ext cx="4434480" cy="548280"/>
          </a:xfrm>
          <a:prstGeom prst="roundRect">
            <a:avLst>
              <a:gd name="adj" fmla="val 10000"/>
            </a:avLst>
          </a:prstGeom>
          <a:solidFill>
            <a:srgbClr val="1F2A5C"/>
          </a:solidFill>
          <a:ln w="12700">
            <a:solidFill>
              <a:srgbClr val="1F2A5C"/>
            </a:solidFill>
            <a:round/>
          </a:ln>
          <a:effectLst>
            <a:outerShdw blurRad="39960" dist="23040" dir="5400000" rotWithShape="0">
              <a:srgbClr val="000000">
                <a:alpha val="35000"/>
              </a:srgbClr>
            </a:outerShdw>
          </a:effectLst>
        </p:spPr>
        <p:style>
          <a:lnRef idx="1">
            <a:schemeClr val="accent1"/>
          </a:lnRef>
          <a:fillRef idx="3">
            <a:schemeClr val="accent1"/>
          </a:fillRef>
          <a:effectRef idx="2">
            <a:schemeClr val="accent1"/>
          </a:effectRef>
          <a:fontRef idx="minor"/>
        </p:style>
        <p:txBody>
          <a:bodyPr lIns="50760" tIns="45000" rIns="50760" bIns="45000" anchor="ctr">
            <a:noAutofit/>
          </a:bodyPr>
          <a:ls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pPr algn="ctr">
              <a:lnSpc>
                <a:spcPct val="100000"/>
              </a:lnSpc>
            </a:pPr>
            <a:r>
              <a:rPr lang="zh-CN" sz="1500" b="1" strike="noStrike" spc="-1">
                <a:solidFill>
                  <a:srgbClr val="FFFFFF"/>
                </a:solidFill>
                <a:latin typeface="メイリオ" panose="020B0604030504040204" pitchFamily="50" charset="-128"/>
                <a:ea typeface="メイリオ" panose="020B0604030504040204" pitchFamily="50" charset="-128"/>
              </a:rPr>
              <a:t>自動応答</a:t>
            </a:r>
            <a:endParaRPr lang="en-US" sz="1400" b="0" strike="noStrike" spc="-1">
              <a:solidFill>
                <a:srgbClr val="FFFFFF"/>
              </a:solidFill>
              <a:latin typeface="メイリオ" panose="020B0604030504040204" pitchFamily="50" charset="-128"/>
              <a:ea typeface="メイリオ" panose="020B0604030504040204" pitchFamily="50" charset="-128"/>
            </a:endParaRPr>
          </a:p>
        </p:txBody>
      </p:sp>
      <p:sp>
        <p:nvSpPr>
          <p:cNvPr id="19" name="Rounded Rectangle 4">
            <a:extLst>
              <a:ext uri="{FF2B5EF4-FFF2-40B4-BE49-F238E27FC236}">
                <a16:creationId xmlns:a16="http://schemas.microsoft.com/office/drawing/2014/main" id="{71004DFF-0445-5182-FDBF-99D37EEA5C3B}"/>
              </a:ext>
            </a:extLst>
          </p:cNvPr>
          <p:cNvSpPr/>
          <p:nvPr/>
        </p:nvSpPr>
        <p:spPr>
          <a:xfrm>
            <a:off x="426900" y="5393875"/>
            <a:ext cx="4434480" cy="1075371"/>
          </a:xfrm>
          <a:prstGeom prst="roundRect">
            <a:avLst>
              <a:gd name="adj" fmla="val 10000"/>
            </a:avLst>
          </a:prstGeom>
          <a:solidFill>
            <a:srgbClr val="F5F7FA"/>
          </a:solidFill>
          <a:ln w="12700">
            <a:solidFill>
              <a:srgbClr val="D1D8E0"/>
            </a:solidFill>
            <a:round/>
          </a:ln>
          <a:effectLst>
            <a:outerShdw blurRad="39960" dist="23040" dir="5400000" rotWithShape="0">
              <a:srgbClr val="000000">
                <a:alpha val="35000"/>
              </a:srgbClr>
            </a:outerShdw>
          </a:effectLst>
        </p:spPr>
        <p:style>
          <a:lnRef idx="1">
            <a:schemeClr val="accent1"/>
          </a:lnRef>
          <a:fillRef idx="3">
            <a:schemeClr val="accent1"/>
          </a:fillRef>
          <a:effectRef idx="2">
            <a:schemeClr val="accent1"/>
          </a:effectRef>
          <a:fontRef idx="minor"/>
        </p:style>
        <p:txBody>
          <a:bodyPr wrap="square" lIns="50760" tIns="200000" rIns="50760" bIns="45000" anchor="t">
            <a:noAutofit/>
          </a:bodyPr>
          <a:ls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pPr algn="l">
              <a:lnSpc>
                <a:spcPct val="100000"/>
              </a:lnSpc>
              <a:spcAft>
                <a:spcPts val="1000"/>
              </a:spcAft>
            </a:pPr>
            <a:r>
              <a:rPr sz="1200">
                <a:solidFill>
                  <a:srgbClr val="404040"/>
                </a:solidFill>
                <a:latin typeface="メイリオ" panose="020B0604030504040204" pitchFamily="50" charset="-128"/>
                <a:ea typeface="メイリオ" panose="020B0604030504040204" pitchFamily="50" charset="-128"/>
              </a:rPr>
              <a:t>・キーワード応答＋タグ付けで一次対応を自動化</a:t>
            </a:r>
            <a:endParaRPr lang="en-US" sz="1000" b="0" strike="noStrike" spc="-1">
              <a:solidFill>
                <a:srgbClr val="000000"/>
              </a:solidFill>
              <a:latin typeface="メイリオ" panose="020B0604030504040204" pitchFamily="50" charset="-128"/>
              <a:ea typeface="メイリオ" panose="020B0604030504040204" pitchFamily="50" charset="-128"/>
            </a:endParaRPr>
          </a:p>
          <a:p>
            <a:pPr algn="l">
              <a:spcAft>
                <a:spcPts val="1000"/>
              </a:spcAft>
            </a:pPr>
            <a:r>
              <a:rPr sz="1200">
                <a:solidFill>
                  <a:srgbClr val="404040"/>
                </a:solidFill>
                <a:latin typeface="メイリオ" panose="020B0604030504040204" pitchFamily="50" charset="-128"/>
                <a:ea typeface="メイリオ" panose="020B0604030504040204" pitchFamily="50" charset="-128"/>
              </a:rPr>
              <a:t>・よくある質問（応募方法・年収・勤務地 等）の対応を効率化</a:t>
            </a:r>
          </a:p>
        </p:txBody>
      </p:sp>
      <p:sp>
        <p:nvSpPr>
          <p:cNvPr id="21" name="Rounded Rectangle 5">
            <a:extLst>
              <a:ext uri="{FF2B5EF4-FFF2-40B4-BE49-F238E27FC236}">
                <a16:creationId xmlns:a16="http://schemas.microsoft.com/office/drawing/2014/main" id="{99616B08-D6A8-4286-A691-E62AF335E000}"/>
              </a:ext>
            </a:extLst>
          </p:cNvPr>
          <p:cNvSpPr/>
          <p:nvPr/>
        </p:nvSpPr>
        <p:spPr>
          <a:xfrm>
            <a:off x="5044620" y="4753795"/>
            <a:ext cx="4434480" cy="548280"/>
          </a:xfrm>
          <a:prstGeom prst="roundRect">
            <a:avLst>
              <a:gd name="adj" fmla="val 10000"/>
            </a:avLst>
          </a:prstGeom>
          <a:solidFill>
            <a:srgbClr val="5A6378"/>
          </a:solidFill>
          <a:ln w="12700">
            <a:solidFill>
              <a:srgbClr val="5A6378"/>
            </a:solidFill>
            <a:round/>
          </a:ln>
          <a:effectLst>
            <a:outerShdw blurRad="39960" dist="23040" dir="5400000" rotWithShape="0">
              <a:srgbClr val="000000">
                <a:alpha val="35000"/>
              </a:srgbClr>
            </a:outerShdw>
          </a:effectLst>
        </p:spPr>
        <p:style>
          <a:lnRef idx="1">
            <a:schemeClr val="accent1"/>
          </a:lnRef>
          <a:fillRef idx="3">
            <a:schemeClr val="accent1"/>
          </a:fillRef>
          <a:effectRef idx="2">
            <a:schemeClr val="accent1"/>
          </a:effectRef>
          <a:fontRef idx="minor"/>
        </p:style>
        <p:txBody>
          <a:bodyPr lIns="50760" tIns="45000" rIns="50760" bIns="45000" anchor="ctr">
            <a:noAutofit/>
          </a:bodyPr>
          <a:ls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pPr algn="ctr">
              <a:lnSpc>
                <a:spcPct val="100000"/>
              </a:lnSpc>
            </a:pPr>
            <a:r>
              <a:rPr lang="zh-CN" sz="1500" b="1" strike="noStrike" spc="-1">
                <a:solidFill>
                  <a:srgbClr val="FFFFFF"/>
                </a:solidFill>
                <a:latin typeface="メイリオ" panose="020B0604030504040204" pitchFamily="50" charset="-128"/>
                <a:ea typeface="メイリオ" panose="020B0604030504040204" pitchFamily="50" charset="-128"/>
              </a:rPr>
              <a:t>その他</a:t>
            </a:r>
            <a:endParaRPr lang="en-US" sz="1400" b="0" strike="noStrike" spc="-1">
              <a:solidFill>
                <a:srgbClr val="FFFFFF"/>
              </a:solidFill>
              <a:latin typeface="メイリオ" panose="020B0604030504040204" pitchFamily="50" charset="-128"/>
              <a:ea typeface="メイリオ" panose="020B0604030504040204" pitchFamily="50" charset="-128"/>
            </a:endParaRPr>
          </a:p>
        </p:txBody>
      </p:sp>
      <p:sp>
        <p:nvSpPr>
          <p:cNvPr id="23" name="Rounded Rectangle 6">
            <a:extLst>
              <a:ext uri="{FF2B5EF4-FFF2-40B4-BE49-F238E27FC236}">
                <a16:creationId xmlns:a16="http://schemas.microsoft.com/office/drawing/2014/main" id="{C9FC3A12-ACD9-D0EB-C223-270B18E3C1AE}"/>
              </a:ext>
            </a:extLst>
          </p:cNvPr>
          <p:cNvSpPr/>
          <p:nvPr/>
        </p:nvSpPr>
        <p:spPr>
          <a:xfrm>
            <a:off x="5044620" y="5393875"/>
            <a:ext cx="4434480" cy="1075371"/>
          </a:xfrm>
          <a:prstGeom prst="roundRect">
            <a:avLst>
              <a:gd name="adj" fmla="val 10000"/>
            </a:avLst>
          </a:prstGeom>
          <a:solidFill>
            <a:srgbClr val="F5F7FA"/>
          </a:solidFill>
          <a:ln w="12700">
            <a:solidFill>
              <a:srgbClr val="D1D8E0"/>
            </a:solidFill>
            <a:round/>
          </a:ln>
          <a:effectLst>
            <a:outerShdw blurRad="39960" dist="23040" dir="5400000" rotWithShape="0">
              <a:srgbClr val="000000">
                <a:alpha val="35000"/>
              </a:srgbClr>
            </a:outerShdw>
          </a:effectLst>
        </p:spPr>
        <p:style>
          <a:lnRef idx="1">
            <a:schemeClr val="accent1"/>
          </a:lnRef>
          <a:fillRef idx="3">
            <a:schemeClr val="accent1"/>
          </a:fillRef>
          <a:effectRef idx="2">
            <a:schemeClr val="accent1"/>
          </a:effectRef>
          <a:fontRef idx="minor"/>
        </p:style>
        <p:txBody>
          <a:bodyPr wrap="square" lIns="50760" tIns="200000" rIns="50760" bIns="45000" anchor="t">
            <a:noAutofit/>
          </a:bodyPr>
          <a:ls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pPr algn="l">
              <a:lnSpc>
                <a:spcPct val="100000"/>
              </a:lnSpc>
              <a:spcAft>
                <a:spcPts val="1000"/>
              </a:spcAft>
            </a:pPr>
            <a:r>
              <a:rPr sz="1200">
                <a:solidFill>
                  <a:srgbClr val="404040"/>
                </a:solidFill>
                <a:latin typeface="メイリオ" panose="020B0604030504040204" pitchFamily="50" charset="-128"/>
                <a:ea typeface="メイリオ" panose="020B0604030504040204" pitchFamily="50" charset="-128"/>
              </a:rPr>
              <a:t>・配信ログの自動集計（API連携）でレポーティング工数を削減</a:t>
            </a:r>
            <a:endParaRPr lang="en-US" sz="1000" b="0" strike="noStrike" spc="-1">
              <a:solidFill>
                <a:srgbClr val="000000"/>
              </a:solidFill>
              <a:latin typeface="メイリオ" panose="020B0604030504040204" pitchFamily="50" charset="-128"/>
              <a:ea typeface="メイリオ" panose="020B0604030504040204" pitchFamily="50" charset="-128"/>
            </a:endParaRPr>
          </a:p>
          <a:p>
            <a:pPr algn="l">
              <a:spcAft>
                <a:spcPts val="1000"/>
              </a:spcAft>
            </a:pPr>
            <a:r>
              <a:rPr sz="1200">
                <a:solidFill>
                  <a:srgbClr val="404040"/>
                </a:solidFill>
                <a:latin typeface="メイリオ" panose="020B0604030504040204" pitchFamily="50" charset="-128"/>
                <a:ea typeface="メイリオ" panose="020B0604030504040204" pitchFamily="50" charset="-128"/>
              </a:rPr>
              <a:t>・診断結果送付〜ステップ配信までをGAS等で自動化</a:t>
            </a:r>
          </a:p>
        </p:txBody>
      </p:sp>
      <p:sp>
        <p:nvSpPr>
          <p:cNvPr id="25" name="Rounded Rectangle 3">
            <a:extLst>
              <a:ext uri="{FF2B5EF4-FFF2-40B4-BE49-F238E27FC236}">
                <a16:creationId xmlns:a16="http://schemas.microsoft.com/office/drawing/2014/main" id="{C7F21D87-4A15-CE7E-773C-B513888D6575}"/>
              </a:ext>
            </a:extLst>
          </p:cNvPr>
          <p:cNvSpPr/>
          <p:nvPr/>
        </p:nvSpPr>
        <p:spPr>
          <a:xfrm>
            <a:off x="243659" y="4020903"/>
            <a:ext cx="9425441" cy="2497059"/>
          </a:xfrm>
          <a:prstGeom prst="roundRect">
            <a:avLst>
              <a:gd name="adj" fmla="val 10000"/>
            </a:avLst>
          </a:prstGeom>
          <a:solidFill>
            <a:schemeClr val="bg1">
              <a:alpha val="63000"/>
            </a:schemeClr>
          </a:solidFill>
          <a:ln w="12700">
            <a:noFill/>
            <a:round/>
          </a:ln>
          <a:effectLst/>
        </p:spPr>
        <p:style>
          <a:lnRef idx="1">
            <a:schemeClr val="accent1"/>
          </a:lnRef>
          <a:fillRef idx="3">
            <a:schemeClr val="accent1"/>
          </a:fillRef>
          <a:effectRef idx="2">
            <a:schemeClr val="accent1"/>
          </a:effectRef>
          <a:fontRef idx="minor"/>
        </p:style>
        <p:txBody>
          <a:bodyPr lIns="50760" tIns="45000" rIns="50760" bIns="45000" anchor="ctr">
            <a:noAutofit/>
          </a:bodyPr>
          <a:ls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pPr algn="ctr">
              <a:lnSpc>
                <a:spcPct val="100000"/>
              </a:lnSpc>
            </a:pPr>
            <a:endParaRPr lang="en-US" sz="1400" b="0" strike="noStrike" spc="-1" dirty="0">
              <a:solidFill>
                <a:srgbClr val="FFFFFF"/>
              </a:solidFill>
              <a:latin typeface="メイリオ" panose="020B0604030504040204" pitchFamily="50" charset="-128"/>
              <a:ea typeface="メイリオ" panose="020B0604030504040204" pitchFamily="50" charset="-128"/>
            </a:endParaRPr>
          </a:p>
        </p:txBody>
      </p:sp>
    </p:spTree>
    <p:extLst>
      <p:ext uri="{BB962C8B-B14F-4D97-AF65-F5344CB8AC3E}">
        <p14:creationId xmlns:p14="http://schemas.microsoft.com/office/powerpoint/2010/main" val="189377953"/>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148C43D-93AD-C213-ED4C-7741F0FE507D}"/>
            </a:ext>
          </a:extLst>
        </p:cNvPr>
        <p:cNvGrpSpPr/>
        <p:nvPr/>
      </p:nvGrpSpPr>
      <p:grpSpPr>
        <a:xfrm>
          <a:off x="0" y="0"/>
          <a:ext cx="0" cy="0"/>
          <a:chOff x="0" y="0"/>
          <a:chExt cx="0" cy="0"/>
        </a:xfrm>
      </p:grpSpPr>
      <p:sp>
        <p:nvSpPr>
          <p:cNvPr id="4" name="Google Shape;752;p28">
            <a:extLst>
              <a:ext uri="{FF2B5EF4-FFF2-40B4-BE49-F238E27FC236}">
                <a16:creationId xmlns:a16="http://schemas.microsoft.com/office/drawing/2014/main" id="{E72800AA-EBD7-DB78-DF5E-877E18C2F2D7}"/>
              </a:ext>
            </a:extLst>
          </p:cNvPr>
          <p:cNvSpPr txBox="1"/>
          <p:nvPr/>
        </p:nvSpPr>
        <p:spPr>
          <a:xfrm>
            <a:off x="548883" y="138137"/>
            <a:ext cx="6276325" cy="338514"/>
          </a:xfrm>
          <a:prstGeom prst="rect">
            <a:avLst/>
          </a:prstGeom>
          <a:noFill/>
          <a:ln>
            <a:noFill/>
          </a:ln>
        </p:spPr>
        <p:txBody>
          <a:bodyPr spcFirstLastPara="1" wrap="square" lIns="91425" tIns="45700" rIns="91425" bIns="45700" anchor="ctr" anchorCtr="0">
            <a:spAutoFit/>
          </a:bodyPr>
          <a:lstStyle/>
          <a:p>
            <a:pPr lvl="0"/>
            <a:r>
              <a:rPr lang="ja-JP" altLang="en-US" sz="1600" b="1" dirty="0">
                <a:solidFill>
                  <a:srgbClr val="323366"/>
                </a:solidFill>
                <a:latin typeface="メイリオ" panose="020B0604030504040204" pitchFamily="50" charset="-128"/>
                <a:ea typeface="メイリオ" panose="020B0604030504040204" pitchFamily="50" charset="-128"/>
                <a:cs typeface="Meiryo"/>
                <a:sym typeface="Meiryo"/>
              </a:rPr>
              <a:t>資料アジェンダ</a:t>
            </a:r>
          </a:p>
        </p:txBody>
      </p:sp>
      <p:sp>
        <p:nvSpPr>
          <p:cNvPr id="2" name="正方形/長方形 1">
            <a:extLst>
              <a:ext uri="{FF2B5EF4-FFF2-40B4-BE49-F238E27FC236}">
                <a16:creationId xmlns:a16="http://schemas.microsoft.com/office/drawing/2014/main" id="{10683329-D426-0C34-21A1-BB46AEF49EBC}"/>
              </a:ext>
            </a:extLst>
          </p:cNvPr>
          <p:cNvSpPr/>
          <p:nvPr/>
        </p:nvSpPr>
        <p:spPr>
          <a:xfrm>
            <a:off x="1988098" y="3038203"/>
            <a:ext cx="5929829" cy="584775"/>
          </a:xfrm>
          <a:prstGeom prst="rect">
            <a:avLst/>
          </a:prstGeom>
        </p:spPr>
        <p:txBody>
          <a:bodyPr wrap="none">
            <a:spAutoFit/>
          </a:bodyPr>
          <a:lstStyle/>
          <a:p>
            <a:pPr algn="ctr"/>
            <a:r>
              <a:rPr lang="ja-JP" altLang="en-US" sz="3200" b="1" dirty="0">
                <a:solidFill>
                  <a:schemeClr val="tx1">
                    <a:lumMod val="75000"/>
                    <a:lumOff val="25000"/>
                  </a:schemeClr>
                </a:solidFill>
                <a:latin typeface="メイリオ" panose="020B0604030504040204" pitchFamily="50" charset="-128"/>
                <a:ea typeface="メイリオ" panose="020B0604030504040204" pitchFamily="50" charset="-128"/>
                <a:cs typeface="メイリオ" panose="020B0604030504040204" pitchFamily="50" charset="-128"/>
              </a:rPr>
              <a:t>施策の詳細（新規友だち獲得）</a:t>
            </a:r>
            <a:endParaRPr lang="en-US" altLang="ja-IS" sz="3200" b="1" dirty="0">
              <a:solidFill>
                <a:schemeClr val="tx1">
                  <a:lumMod val="75000"/>
                  <a:lumOff val="25000"/>
                </a:schemeClr>
              </a:solidFill>
              <a:latin typeface="メイリオ" panose="020B0604030504040204" pitchFamily="50" charset="-128"/>
              <a:ea typeface="メイリオ" panose="020B0604030504040204" pitchFamily="50" charset="-128"/>
              <a:cs typeface="メイリオ" panose="020B0604030504040204" pitchFamily="50" charset="-128"/>
            </a:endParaRPr>
          </a:p>
        </p:txBody>
      </p:sp>
    </p:spTree>
    <p:extLst>
      <p:ext uri="{BB962C8B-B14F-4D97-AF65-F5344CB8AC3E}">
        <p14:creationId xmlns:p14="http://schemas.microsoft.com/office/powerpoint/2010/main" val="320601730"/>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2EA8C22-A859-569A-8EEC-58728B6BD665}"/>
            </a:ext>
          </a:extLst>
        </p:cNvPr>
        <p:cNvGrpSpPr/>
        <p:nvPr/>
      </p:nvGrpSpPr>
      <p:grpSpPr>
        <a:xfrm>
          <a:off x="0" y="0"/>
          <a:ext cx="0" cy="0"/>
          <a:chOff x="0" y="0"/>
          <a:chExt cx="0" cy="0"/>
        </a:xfrm>
      </p:grpSpPr>
      <p:sp>
        <p:nvSpPr>
          <p:cNvPr id="3" name="Google Shape;752;p28">
            <a:extLst>
              <a:ext uri="{FF2B5EF4-FFF2-40B4-BE49-F238E27FC236}">
                <a16:creationId xmlns:a16="http://schemas.microsoft.com/office/drawing/2014/main" id="{6C96E678-C87E-58F4-6415-8E923AFE9CA5}"/>
              </a:ext>
            </a:extLst>
          </p:cNvPr>
          <p:cNvSpPr txBox="1"/>
          <p:nvPr/>
        </p:nvSpPr>
        <p:spPr>
          <a:xfrm>
            <a:off x="548883" y="138137"/>
            <a:ext cx="6276325" cy="338514"/>
          </a:xfrm>
          <a:prstGeom prst="rect">
            <a:avLst/>
          </a:prstGeom>
          <a:noFill/>
          <a:ln>
            <a:noFill/>
          </a:ln>
        </p:spPr>
        <p:txBody>
          <a:bodyPr spcFirstLastPara="1" wrap="square" lIns="91425" tIns="45700" rIns="91425" bIns="45700" anchor="ctr" anchorCtr="0">
            <a:spAutoFit/>
          </a:bodyPr>
          <a:lstStyle/>
          <a:p>
            <a:pPr lvl="0"/>
            <a:r>
              <a:rPr lang="ja-JP" altLang="en-US" sz="1600" b="1" dirty="0">
                <a:solidFill>
                  <a:srgbClr val="323366"/>
                </a:solidFill>
                <a:latin typeface="メイリオ" panose="020B0604030504040204" pitchFamily="50" charset="-128"/>
                <a:ea typeface="メイリオ" panose="020B0604030504040204" pitchFamily="50" charset="-128"/>
                <a:cs typeface="Meiryo"/>
                <a:sym typeface="Meiryo"/>
              </a:rPr>
              <a:t>提供施策について</a:t>
            </a:r>
          </a:p>
        </p:txBody>
      </p:sp>
      <p:sp>
        <p:nvSpPr>
          <p:cNvPr id="10" name="TextBox 2">
            <a:extLst>
              <a:ext uri="{FF2B5EF4-FFF2-40B4-BE49-F238E27FC236}">
                <a16:creationId xmlns:a16="http://schemas.microsoft.com/office/drawing/2014/main" id="{88F34F17-1222-19B2-703D-3A639F6FB75B}"/>
              </a:ext>
            </a:extLst>
          </p:cNvPr>
          <p:cNvSpPr/>
          <p:nvPr/>
        </p:nvSpPr>
        <p:spPr>
          <a:xfrm>
            <a:off x="426900" y="1777180"/>
            <a:ext cx="9052200" cy="306323"/>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pPr>
              <a:lnSpc>
                <a:spcPct val="100000"/>
              </a:lnSpc>
            </a:pPr>
            <a:r>
              <a:rPr lang="zh-CN" sz="1500" b="0" strike="noStrike" spc="-1">
                <a:solidFill>
                  <a:srgbClr val="5A6378"/>
                </a:solidFill>
                <a:latin typeface="メイリオ" panose="020B0604030504040204" pitchFamily="50" charset="-128"/>
                <a:ea typeface="メイリオ" panose="020B0604030504040204" pitchFamily="50" charset="-128"/>
              </a:rPr>
              <a:t>各接点（箇所）ごとに訴求を出し分け、LINE友だち追加へつなげる（診断コンテンツを起点に設計）</a:t>
            </a:r>
            <a:endParaRPr lang="en-US" sz="1400" b="0" strike="noStrike" spc="-1">
              <a:solidFill>
                <a:srgbClr val="000000"/>
              </a:solidFill>
              <a:latin typeface="メイリオ" panose="020B0604030504040204" pitchFamily="50" charset="-128"/>
              <a:ea typeface="メイリオ" panose="020B0604030504040204" pitchFamily="50" charset="-128"/>
            </a:endParaRPr>
          </a:p>
        </p:txBody>
      </p:sp>
      <p:sp>
        <p:nvSpPr>
          <p:cNvPr id="15" name="Rounded Rectangle 3">
            <a:extLst>
              <a:ext uri="{FF2B5EF4-FFF2-40B4-BE49-F238E27FC236}">
                <a16:creationId xmlns:a16="http://schemas.microsoft.com/office/drawing/2014/main" id="{C4925BB9-D79E-FFBF-0C62-AA4DA1B53D1C}"/>
              </a:ext>
            </a:extLst>
          </p:cNvPr>
          <p:cNvSpPr/>
          <p:nvPr/>
        </p:nvSpPr>
        <p:spPr>
          <a:xfrm>
            <a:off x="426900" y="2462980"/>
            <a:ext cx="2822040" cy="548280"/>
          </a:xfrm>
          <a:prstGeom prst="roundRect">
            <a:avLst>
              <a:gd name="adj" fmla="val 10000"/>
            </a:avLst>
          </a:prstGeom>
          <a:solidFill>
            <a:srgbClr val="F5F7FA"/>
          </a:solidFill>
          <a:ln w="12700">
            <a:solidFill>
              <a:srgbClr val="D1D8E0"/>
            </a:solidFill>
            <a:round/>
          </a:ln>
          <a:effectLst>
            <a:outerShdw blurRad="39960" dist="23040" dir="5400000" rotWithShape="0">
              <a:srgbClr val="000000">
                <a:alpha val="35000"/>
              </a:srgbClr>
            </a:outerShdw>
          </a:effectLst>
        </p:spPr>
        <p:style>
          <a:lnRef idx="1">
            <a:schemeClr val="accent1"/>
          </a:lnRef>
          <a:fillRef idx="3">
            <a:schemeClr val="accent1"/>
          </a:fillRef>
          <a:effectRef idx="2">
            <a:schemeClr val="accent1"/>
          </a:effectRef>
          <a:fontRef idx="minor"/>
        </p:style>
        <p:txBody>
          <a:bodyPr lIns="50760" tIns="45000" rIns="50760" bIns="45000" anchor="ctr">
            <a:noAutofit/>
          </a:bodyPr>
          <a:ls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pPr algn="ctr">
              <a:lnSpc>
                <a:spcPct val="100000"/>
              </a:lnSpc>
            </a:pPr>
            <a:r>
              <a:rPr lang="en-US" sz="1200" b="0" strike="noStrike" spc="-1">
                <a:solidFill>
                  <a:srgbClr val="333333"/>
                </a:solidFill>
                <a:latin typeface="メイリオ" panose="020B0604030504040204" pitchFamily="50" charset="-128"/>
                <a:ea typeface="メイリオ" panose="020B0604030504040204" pitchFamily="50" charset="-128"/>
              </a:rPr>
              <a:t>30秒 適職診断コンテンツ</a:t>
            </a:r>
            <a:endParaRPr lang="en-US" sz="1000" b="0" strike="noStrike" spc="-1">
              <a:solidFill>
                <a:srgbClr val="000000"/>
              </a:solidFill>
              <a:latin typeface="メイリオ" panose="020B0604030504040204" pitchFamily="50" charset="-128"/>
              <a:ea typeface="メイリオ" panose="020B0604030504040204" pitchFamily="50" charset="-128"/>
            </a:endParaRPr>
          </a:p>
        </p:txBody>
      </p:sp>
      <p:sp>
        <p:nvSpPr>
          <p:cNvPr id="18" name="Right Arrow 4">
            <a:extLst>
              <a:ext uri="{FF2B5EF4-FFF2-40B4-BE49-F238E27FC236}">
                <a16:creationId xmlns:a16="http://schemas.microsoft.com/office/drawing/2014/main" id="{88BC1F8F-F7F1-CC07-4381-CFB49926A52D}"/>
              </a:ext>
            </a:extLst>
          </p:cNvPr>
          <p:cNvSpPr/>
          <p:nvPr/>
        </p:nvSpPr>
        <p:spPr>
          <a:xfrm>
            <a:off x="3249300" y="2664220"/>
            <a:ext cx="292320" cy="145800"/>
          </a:xfrm>
          <a:prstGeom prst="rightArrow">
            <a:avLst>
              <a:gd name="adj1" fmla="val 50000"/>
              <a:gd name="adj2" fmla="val 50000"/>
            </a:avLst>
          </a:prstGeom>
          <a:solidFill>
            <a:srgbClr val="9AA1AE"/>
          </a:solidFill>
          <a:ln>
            <a:noFill/>
          </a:ln>
          <a:effectLst>
            <a:outerShdw blurRad="39960" dist="23040" dir="540000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28080" rIns="90000" bIns="28080" anchor="ctr">
            <a:noAutofit/>
          </a:bodyPr>
          <a:ls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pPr algn="ctr">
              <a:lnSpc>
                <a:spcPct val="100000"/>
              </a:lnSpc>
            </a:pPr>
            <a:endParaRPr lang="en-US" sz="1600" b="0" strike="noStrike" spc="-1">
              <a:solidFill>
                <a:schemeClr val="lt1"/>
              </a:solidFill>
              <a:latin typeface="メイリオ" panose="020B0604030504040204" pitchFamily="50" charset="-128"/>
              <a:ea typeface="メイリオ" panose="020B0604030504040204" pitchFamily="50" charset="-128"/>
            </a:endParaRPr>
          </a:p>
        </p:txBody>
      </p:sp>
      <p:sp>
        <p:nvSpPr>
          <p:cNvPr id="26" name="Rounded Rectangle 5">
            <a:extLst>
              <a:ext uri="{FF2B5EF4-FFF2-40B4-BE49-F238E27FC236}">
                <a16:creationId xmlns:a16="http://schemas.microsoft.com/office/drawing/2014/main" id="{43F406FA-C08A-D91A-4E14-2D8412F195E6}"/>
              </a:ext>
            </a:extLst>
          </p:cNvPr>
          <p:cNvSpPr/>
          <p:nvPr/>
        </p:nvSpPr>
        <p:spPr>
          <a:xfrm>
            <a:off x="3541980" y="2462980"/>
            <a:ext cx="2822040" cy="548280"/>
          </a:xfrm>
          <a:prstGeom prst="roundRect">
            <a:avLst>
              <a:gd name="adj" fmla="val 10000"/>
            </a:avLst>
          </a:prstGeom>
          <a:solidFill>
            <a:srgbClr val="F5F7FA"/>
          </a:solidFill>
          <a:ln w="12700">
            <a:solidFill>
              <a:srgbClr val="D1D8E0"/>
            </a:solidFill>
            <a:round/>
          </a:ln>
          <a:effectLst>
            <a:outerShdw blurRad="39960" dist="23040" dir="5400000" rotWithShape="0">
              <a:srgbClr val="000000">
                <a:alpha val="35000"/>
              </a:srgbClr>
            </a:outerShdw>
          </a:effectLst>
        </p:spPr>
        <p:style>
          <a:lnRef idx="1">
            <a:schemeClr val="accent1"/>
          </a:lnRef>
          <a:fillRef idx="3">
            <a:schemeClr val="accent1"/>
          </a:fillRef>
          <a:effectRef idx="2">
            <a:schemeClr val="accent1"/>
          </a:effectRef>
          <a:fontRef idx="minor"/>
        </p:style>
        <p:txBody>
          <a:bodyPr lIns="50760" tIns="45000" rIns="50760" bIns="45000" anchor="ctr">
            <a:noAutofit/>
          </a:bodyPr>
          <a:ls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pPr algn="ctr">
              <a:lnSpc>
                <a:spcPct val="100000"/>
              </a:lnSpc>
            </a:pPr>
            <a:r>
              <a:rPr lang="en-US" sz="1200" b="0" strike="noStrike" spc="-1">
                <a:solidFill>
                  <a:srgbClr val="333333"/>
                </a:solidFill>
                <a:latin typeface="メイリオ" panose="020B0604030504040204" pitchFamily="50" charset="-128"/>
                <a:ea typeface="メイリオ" panose="020B0604030504040204" pitchFamily="50" charset="-128"/>
              </a:rPr>
              <a:t>診断結果をLINEで送付</a:t>
            </a:r>
            <a:endParaRPr lang="en-US" sz="1000" b="0" strike="noStrike" spc="-1">
              <a:solidFill>
                <a:srgbClr val="000000"/>
              </a:solidFill>
              <a:latin typeface="メイリオ" panose="020B0604030504040204" pitchFamily="50" charset="-128"/>
              <a:ea typeface="メイリオ" panose="020B0604030504040204" pitchFamily="50" charset="-128"/>
            </a:endParaRPr>
          </a:p>
        </p:txBody>
      </p:sp>
      <p:sp>
        <p:nvSpPr>
          <p:cNvPr id="27" name="Right Arrow 6">
            <a:extLst>
              <a:ext uri="{FF2B5EF4-FFF2-40B4-BE49-F238E27FC236}">
                <a16:creationId xmlns:a16="http://schemas.microsoft.com/office/drawing/2014/main" id="{7D9F3C04-6BFD-7CFA-B759-ACDA786DAC87}"/>
              </a:ext>
            </a:extLst>
          </p:cNvPr>
          <p:cNvSpPr/>
          <p:nvPr/>
        </p:nvSpPr>
        <p:spPr>
          <a:xfrm>
            <a:off x="6364380" y="2664220"/>
            <a:ext cx="292320" cy="145800"/>
          </a:xfrm>
          <a:prstGeom prst="rightArrow">
            <a:avLst>
              <a:gd name="adj1" fmla="val 50000"/>
              <a:gd name="adj2" fmla="val 50000"/>
            </a:avLst>
          </a:prstGeom>
          <a:solidFill>
            <a:srgbClr val="9AA1AE"/>
          </a:solidFill>
          <a:ln>
            <a:noFill/>
          </a:ln>
          <a:effectLst>
            <a:outerShdw blurRad="39960" dist="23040" dir="540000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28080" rIns="90000" bIns="28080" anchor="ctr">
            <a:noAutofit/>
          </a:bodyPr>
          <a:ls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pPr algn="ctr">
              <a:lnSpc>
                <a:spcPct val="100000"/>
              </a:lnSpc>
            </a:pPr>
            <a:endParaRPr lang="en-US" sz="1600" b="0" strike="noStrike" spc="-1">
              <a:solidFill>
                <a:schemeClr val="lt1"/>
              </a:solidFill>
              <a:latin typeface="メイリオ" panose="020B0604030504040204" pitchFamily="50" charset="-128"/>
              <a:ea typeface="メイリオ" panose="020B0604030504040204" pitchFamily="50" charset="-128"/>
            </a:endParaRPr>
          </a:p>
        </p:txBody>
      </p:sp>
      <p:sp>
        <p:nvSpPr>
          <p:cNvPr id="28" name="Rounded Rectangle 7">
            <a:extLst>
              <a:ext uri="{FF2B5EF4-FFF2-40B4-BE49-F238E27FC236}">
                <a16:creationId xmlns:a16="http://schemas.microsoft.com/office/drawing/2014/main" id="{56BFF9D2-5CEA-F780-1665-E25342AA7BC9}"/>
              </a:ext>
            </a:extLst>
          </p:cNvPr>
          <p:cNvSpPr/>
          <p:nvPr/>
        </p:nvSpPr>
        <p:spPr>
          <a:xfrm>
            <a:off x="6657060" y="2462980"/>
            <a:ext cx="2822040" cy="548280"/>
          </a:xfrm>
          <a:prstGeom prst="roundRect">
            <a:avLst>
              <a:gd name="adj" fmla="val 10000"/>
            </a:avLst>
          </a:prstGeom>
          <a:solidFill>
            <a:srgbClr val="1F2A5C"/>
          </a:solidFill>
          <a:ln w="12700">
            <a:solidFill>
              <a:srgbClr val="1F2A5C"/>
            </a:solidFill>
            <a:round/>
          </a:ln>
          <a:effectLst>
            <a:outerShdw blurRad="39960" dist="23040" dir="5400000" rotWithShape="0">
              <a:srgbClr val="000000">
                <a:alpha val="35000"/>
              </a:srgbClr>
            </a:outerShdw>
          </a:effectLst>
        </p:spPr>
        <p:style>
          <a:lnRef idx="1">
            <a:schemeClr val="accent1"/>
          </a:lnRef>
          <a:fillRef idx="3">
            <a:schemeClr val="accent1"/>
          </a:fillRef>
          <a:effectRef idx="2">
            <a:schemeClr val="accent1"/>
          </a:effectRef>
          <a:fontRef idx="minor"/>
        </p:style>
        <p:txBody>
          <a:bodyPr lIns="50760" tIns="45000" rIns="50760" bIns="45000" anchor="ctr">
            <a:noAutofit/>
          </a:bodyPr>
          <a:ls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pPr algn="ctr">
              <a:lnSpc>
                <a:spcPct val="100000"/>
              </a:lnSpc>
            </a:pPr>
            <a:r>
              <a:rPr lang="en-US" sz="1200" b="1" strike="noStrike" spc="-1">
                <a:solidFill>
                  <a:srgbClr val="FFFFFF"/>
                </a:solidFill>
                <a:latin typeface="メイリオ" panose="020B0604030504040204" pitchFamily="50" charset="-128"/>
                <a:ea typeface="メイリオ" panose="020B0604030504040204" pitchFamily="50" charset="-128"/>
              </a:rPr>
              <a:t>LINE</a:t>
            </a:r>
            <a:r>
              <a:rPr lang="zh-CN" sz="1200" b="1" strike="noStrike" spc="-1">
                <a:solidFill>
                  <a:srgbClr val="FFFFFF"/>
                </a:solidFill>
                <a:latin typeface="メイリオ" panose="020B0604030504040204" pitchFamily="50" charset="-128"/>
                <a:ea typeface="メイリオ" panose="020B0604030504040204" pitchFamily="50" charset="-128"/>
              </a:rPr>
              <a:t>追加</a:t>
            </a:r>
            <a:endParaRPr lang="en-US" sz="1000" b="0" strike="noStrike" spc="-1">
              <a:solidFill>
                <a:srgbClr val="FFFFFF"/>
              </a:solidFill>
              <a:latin typeface="メイリオ" panose="020B0604030504040204" pitchFamily="50" charset="-128"/>
              <a:ea typeface="メイリオ" panose="020B0604030504040204" pitchFamily="50" charset="-128"/>
            </a:endParaRPr>
          </a:p>
        </p:txBody>
      </p:sp>
      <p:sp>
        <p:nvSpPr>
          <p:cNvPr id="29" name="Rounded Rectangle 8">
            <a:extLst>
              <a:ext uri="{FF2B5EF4-FFF2-40B4-BE49-F238E27FC236}">
                <a16:creationId xmlns:a16="http://schemas.microsoft.com/office/drawing/2014/main" id="{F2D5D985-2571-C6B2-6BD5-E19E0FEA1435}"/>
              </a:ext>
            </a:extLst>
          </p:cNvPr>
          <p:cNvSpPr/>
          <p:nvPr/>
        </p:nvSpPr>
        <p:spPr>
          <a:xfrm>
            <a:off x="426900" y="3331660"/>
            <a:ext cx="2822040" cy="548280"/>
          </a:xfrm>
          <a:prstGeom prst="roundRect">
            <a:avLst>
              <a:gd name="adj" fmla="val 10000"/>
            </a:avLst>
          </a:prstGeom>
          <a:solidFill>
            <a:srgbClr val="F5F7FA"/>
          </a:solidFill>
          <a:ln w="12700">
            <a:solidFill>
              <a:srgbClr val="D1D8E0"/>
            </a:solidFill>
            <a:round/>
          </a:ln>
          <a:effectLst>
            <a:outerShdw blurRad="39960" dist="23040" dir="5400000" rotWithShape="0">
              <a:srgbClr val="000000">
                <a:alpha val="35000"/>
              </a:srgbClr>
            </a:outerShdw>
          </a:effectLst>
        </p:spPr>
        <p:style>
          <a:lnRef idx="1">
            <a:schemeClr val="accent1"/>
          </a:lnRef>
          <a:fillRef idx="3">
            <a:schemeClr val="accent1"/>
          </a:fillRef>
          <a:effectRef idx="2">
            <a:schemeClr val="accent1"/>
          </a:effectRef>
          <a:fontRef idx="minor"/>
        </p:style>
        <p:txBody>
          <a:bodyPr lIns="50760" tIns="45000" rIns="50760" bIns="45000" anchor="ctr">
            <a:noAutofit/>
          </a:bodyPr>
          <a:ls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pPr algn="ctr">
              <a:lnSpc>
                <a:spcPct val="100000"/>
              </a:lnSpc>
            </a:pPr>
            <a:r>
              <a:rPr lang="en-US" sz="1200" b="0" strike="noStrike" spc="-1">
                <a:solidFill>
                  <a:srgbClr val="333333"/>
                </a:solidFill>
                <a:latin typeface="メイリオ" panose="020B0604030504040204" pitchFamily="50" charset="-128"/>
                <a:ea typeface="メイリオ" panose="020B0604030504040204" pitchFamily="50" charset="-128"/>
              </a:rPr>
              <a:t>マイページ登録・求職者会員登録案内</a:t>
            </a:r>
            <a:endParaRPr lang="en-US" sz="1000" b="0" strike="noStrike" spc="-1">
              <a:solidFill>
                <a:srgbClr val="000000"/>
              </a:solidFill>
              <a:latin typeface="メイリオ" panose="020B0604030504040204" pitchFamily="50" charset="-128"/>
              <a:ea typeface="メイリオ" panose="020B0604030504040204" pitchFamily="50" charset="-128"/>
            </a:endParaRPr>
          </a:p>
        </p:txBody>
      </p:sp>
      <p:sp>
        <p:nvSpPr>
          <p:cNvPr id="30" name="Right Arrow 9">
            <a:extLst>
              <a:ext uri="{FF2B5EF4-FFF2-40B4-BE49-F238E27FC236}">
                <a16:creationId xmlns:a16="http://schemas.microsoft.com/office/drawing/2014/main" id="{E511E491-CBEA-6A51-3351-3AB67CE6168D}"/>
              </a:ext>
            </a:extLst>
          </p:cNvPr>
          <p:cNvSpPr/>
          <p:nvPr/>
        </p:nvSpPr>
        <p:spPr>
          <a:xfrm>
            <a:off x="3249300" y="3532900"/>
            <a:ext cx="292320" cy="145800"/>
          </a:xfrm>
          <a:prstGeom prst="rightArrow">
            <a:avLst>
              <a:gd name="adj1" fmla="val 50000"/>
              <a:gd name="adj2" fmla="val 50000"/>
            </a:avLst>
          </a:prstGeom>
          <a:solidFill>
            <a:srgbClr val="9AA1AE"/>
          </a:solidFill>
          <a:ln>
            <a:noFill/>
          </a:ln>
          <a:effectLst>
            <a:outerShdw blurRad="39960" dist="23040" dir="540000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28080" rIns="90000" bIns="28080" anchor="ctr">
            <a:noAutofit/>
          </a:bodyPr>
          <a:ls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pPr algn="ctr">
              <a:lnSpc>
                <a:spcPct val="100000"/>
              </a:lnSpc>
            </a:pPr>
            <a:endParaRPr lang="en-US" sz="1600" b="0" strike="noStrike" spc="-1">
              <a:solidFill>
                <a:schemeClr val="lt1"/>
              </a:solidFill>
              <a:latin typeface="メイリオ" panose="020B0604030504040204" pitchFamily="50" charset="-128"/>
              <a:ea typeface="メイリオ" panose="020B0604030504040204" pitchFamily="50" charset="-128"/>
            </a:endParaRPr>
          </a:p>
        </p:txBody>
      </p:sp>
      <p:sp>
        <p:nvSpPr>
          <p:cNvPr id="31" name="Rounded Rectangle 10">
            <a:extLst>
              <a:ext uri="{FF2B5EF4-FFF2-40B4-BE49-F238E27FC236}">
                <a16:creationId xmlns:a16="http://schemas.microsoft.com/office/drawing/2014/main" id="{BF05E24B-C8E2-ED81-489E-0A7E354F89B3}"/>
              </a:ext>
            </a:extLst>
          </p:cNvPr>
          <p:cNvSpPr/>
          <p:nvPr/>
        </p:nvSpPr>
        <p:spPr>
          <a:xfrm>
            <a:off x="3541980" y="3331660"/>
            <a:ext cx="2822040" cy="548280"/>
          </a:xfrm>
          <a:prstGeom prst="roundRect">
            <a:avLst>
              <a:gd name="adj" fmla="val 10000"/>
            </a:avLst>
          </a:prstGeom>
          <a:solidFill>
            <a:srgbClr val="F5F7FA"/>
          </a:solidFill>
          <a:ln w="12700">
            <a:solidFill>
              <a:srgbClr val="D1D8E0"/>
            </a:solidFill>
            <a:round/>
          </a:ln>
          <a:effectLst>
            <a:outerShdw blurRad="39960" dist="23040" dir="5400000" rotWithShape="0">
              <a:srgbClr val="000000">
                <a:alpha val="35000"/>
              </a:srgbClr>
            </a:outerShdw>
          </a:effectLst>
        </p:spPr>
        <p:style>
          <a:lnRef idx="1">
            <a:schemeClr val="accent1"/>
          </a:lnRef>
          <a:fillRef idx="3">
            <a:schemeClr val="accent1"/>
          </a:fillRef>
          <a:effectRef idx="2">
            <a:schemeClr val="accent1"/>
          </a:effectRef>
          <a:fontRef idx="minor"/>
        </p:style>
        <p:txBody>
          <a:bodyPr lIns="50760" tIns="45000" rIns="50760" bIns="45000" anchor="ctr">
            <a:noAutofit/>
          </a:bodyPr>
          <a:ls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pPr algn="ctr">
              <a:lnSpc>
                <a:spcPct val="100000"/>
              </a:lnSpc>
            </a:pPr>
            <a:r>
              <a:rPr lang="en-US" sz="1200" b="0" strike="noStrike" spc="-1">
                <a:solidFill>
                  <a:srgbClr val="333333"/>
                </a:solidFill>
                <a:latin typeface="メイリオ" panose="020B0604030504040204" pitchFamily="50" charset="-128"/>
                <a:ea typeface="メイリオ" panose="020B0604030504040204" pitchFamily="50" charset="-128"/>
              </a:rPr>
              <a:t>新着求人の通知もLINEで受け取れる</a:t>
            </a:r>
            <a:endParaRPr lang="en-US" sz="1000" b="0" strike="noStrike" spc="-1">
              <a:solidFill>
                <a:srgbClr val="000000"/>
              </a:solidFill>
              <a:latin typeface="メイリオ" panose="020B0604030504040204" pitchFamily="50" charset="-128"/>
              <a:ea typeface="メイリオ" panose="020B0604030504040204" pitchFamily="50" charset="-128"/>
            </a:endParaRPr>
          </a:p>
        </p:txBody>
      </p:sp>
      <p:sp>
        <p:nvSpPr>
          <p:cNvPr id="32" name="Right Arrow 11">
            <a:extLst>
              <a:ext uri="{FF2B5EF4-FFF2-40B4-BE49-F238E27FC236}">
                <a16:creationId xmlns:a16="http://schemas.microsoft.com/office/drawing/2014/main" id="{48B569E4-489C-51C8-663D-44B3897EEAAF}"/>
              </a:ext>
            </a:extLst>
          </p:cNvPr>
          <p:cNvSpPr/>
          <p:nvPr/>
        </p:nvSpPr>
        <p:spPr>
          <a:xfrm>
            <a:off x="6364380" y="3532900"/>
            <a:ext cx="292320" cy="145800"/>
          </a:xfrm>
          <a:prstGeom prst="rightArrow">
            <a:avLst>
              <a:gd name="adj1" fmla="val 50000"/>
              <a:gd name="adj2" fmla="val 50000"/>
            </a:avLst>
          </a:prstGeom>
          <a:solidFill>
            <a:srgbClr val="9AA1AE"/>
          </a:solidFill>
          <a:ln>
            <a:noFill/>
          </a:ln>
          <a:effectLst>
            <a:outerShdw blurRad="39960" dist="23040" dir="540000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28080" rIns="90000" bIns="28080" anchor="ctr">
            <a:noAutofit/>
          </a:bodyPr>
          <a:ls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pPr algn="ctr">
              <a:lnSpc>
                <a:spcPct val="100000"/>
              </a:lnSpc>
            </a:pPr>
            <a:endParaRPr lang="en-US" sz="1600" b="0" strike="noStrike" spc="-1">
              <a:solidFill>
                <a:schemeClr val="lt1"/>
              </a:solidFill>
              <a:latin typeface="メイリオ" panose="020B0604030504040204" pitchFamily="50" charset="-128"/>
              <a:ea typeface="メイリオ" panose="020B0604030504040204" pitchFamily="50" charset="-128"/>
            </a:endParaRPr>
          </a:p>
        </p:txBody>
      </p:sp>
      <p:sp>
        <p:nvSpPr>
          <p:cNvPr id="33" name="Rounded Rectangle 12">
            <a:extLst>
              <a:ext uri="{FF2B5EF4-FFF2-40B4-BE49-F238E27FC236}">
                <a16:creationId xmlns:a16="http://schemas.microsoft.com/office/drawing/2014/main" id="{5FC51B9B-AA21-8F66-E3AB-3462FCD63368}"/>
              </a:ext>
            </a:extLst>
          </p:cNvPr>
          <p:cNvSpPr/>
          <p:nvPr/>
        </p:nvSpPr>
        <p:spPr>
          <a:xfrm>
            <a:off x="6657060" y="3331660"/>
            <a:ext cx="2822040" cy="548280"/>
          </a:xfrm>
          <a:prstGeom prst="roundRect">
            <a:avLst>
              <a:gd name="adj" fmla="val 10000"/>
            </a:avLst>
          </a:prstGeom>
          <a:solidFill>
            <a:srgbClr val="1F2A5C"/>
          </a:solidFill>
          <a:ln w="12700">
            <a:solidFill>
              <a:srgbClr val="1F2A5C"/>
            </a:solidFill>
            <a:round/>
          </a:ln>
          <a:effectLst>
            <a:outerShdw blurRad="39960" dist="23040" dir="5400000" rotWithShape="0">
              <a:srgbClr val="000000">
                <a:alpha val="35000"/>
              </a:srgbClr>
            </a:outerShdw>
          </a:effectLst>
        </p:spPr>
        <p:style>
          <a:lnRef idx="1">
            <a:schemeClr val="accent1"/>
          </a:lnRef>
          <a:fillRef idx="3">
            <a:schemeClr val="accent1"/>
          </a:fillRef>
          <a:effectRef idx="2">
            <a:schemeClr val="accent1"/>
          </a:effectRef>
          <a:fontRef idx="minor"/>
        </p:style>
        <p:txBody>
          <a:bodyPr lIns="50760" tIns="45000" rIns="50760" bIns="45000" anchor="ctr">
            <a:noAutofit/>
          </a:bodyPr>
          <a:ls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pPr algn="ctr">
              <a:lnSpc>
                <a:spcPct val="100000"/>
              </a:lnSpc>
            </a:pPr>
            <a:r>
              <a:rPr lang="en-US" sz="1200" b="1" strike="noStrike" spc="-1">
                <a:solidFill>
                  <a:srgbClr val="FFFFFF"/>
                </a:solidFill>
                <a:latin typeface="メイリオ" panose="020B0604030504040204" pitchFamily="50" charset="-128"/>
                <a:ea typeface="メイリオ" panose="020B0604030504040204" pitchFamily="50" charset="-128"/>
              </a:rPr>
              <a:t>LINE</a:t>
            </a:r>
            <a:r>
              <a:rPr lang="zh-CN" sz="1200" b="1" strike="noStrike" spc="-1">
                <a:solidFill>
                  <a:srgbClr val="FFFFFF"/>
                </a:solidFill>
                <a:latin typeface="メイリオ" panose="020B0604030504040204" pitchFamily="50" charset="-128"/>
                <a:ea typeface="メイリオ" panose="020B0604030504040204" pitchFamily="50" charset="-128"/>
              </a:rPr>
              <a:t>追加</a:t>
            </a:r>
            <a:endParaRPr lang="en-US" sz="1000" b="0" strike="noStrike" spc="-1">
              <a:solidFill>
                <a:srgbClr val="FFFFFF"/>
              </a:solidFill>
              <a:latin typeface="メイリオ" panose="020B0604030504040204" pitchFamily="50" charset="-128"/>
              <a:ea typeface="メイリオ" panose="020B0604030504040204" pitchFamily="50" charset="-128"/>
            </a:endParaRPr>
          </a:p>
        </p:txBody>
      </p:sp>
      <p:sp>
        <p:nvSpPr>
          <p:cNvPr id="34" name="Rounded Rectangle 13">
            <a:extLst>
              <a:ext uri="{FF2B5EF4-FFF2-40B4-BE49-F238E27FC236}">
                <a16:creationId xmlns:a16="http://schemas.microsoft.com/office/drawing/2014/main" id="{22D948EF-E8AB-9977-D385-ECE4F24EA2A6}"/>
              </a:ext>
            </a:extLst>
          </p:cNvPr>
          <p:cNvSpPr/>
          <p:nvPr/>
        </p:nvSpPr>
        <p:spPr>
          <a:xfrm>
            <a:off x="426900" y="4200340"/>
            <a:ext cx="2822040" cy="548280"/>
          </a:xfrm>
          <a:prstGeom prst="roundRect">
            <a:avLst>
              <a:gd name="adj" fmla="val 10000"/>
            </a:avLst>
          </a:prstGeom>
          <a:solidFill>
            <a:srgbClr val="F5F7FA"/>
          </a:solidFill>
          <a:ln w="12700">
            <a:solidFill>
              <a:srgbClr val="D1D8E0"/>
            </a:solidFill>
            <a:round/>
          </a:ln>
          <a:effectLst>
            <a:outerShdw blurRad="39960" dist="23040" dir="5400000" rotWithShape="0">
              <a:srgbClr val="000000">
                <a:alpha val="35000"/>
              </a:srgbClr>
            </a:outerShdw>
          </a:effectLst>
        </p:spPr>
        <p:style>
          <a:lnRef idx="1">
            <a:schemeClr val="accent1"/>
          </a:lnRef>
          <a:fillRef idx="3">
            <a:schemeClr val="accent1"/>
          </a:fillRef>
          <a:effectRef idx="2">
            <a:schemeClr val="accent1"/>
          </a:effectRef>
          <a:fontRef idx="minor"/>
        </p:style>
        <p:txBody>
          <a:bodyPr lIns="50760" tIns="45000" rIns="50760" bIns="45000" anchor="ctr">
            <a:noAutofit/>
          </a:bodyPr>
          <a:ls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pPr algn="ctr">
              <a:lnSpc>
                <a:spcPct val="100000"/>
              </a:lnSpc>
            </a:pPr>
            <a:r>
              <a:rPr lang="en-US" sz="1200" b="0" strike="noStrike" spc="-1">
                <a:solidFill>
                  <a:srgbClr val="333333"/>
                </a:solidFill>
                <a:latin typeface="メイリオ" panose="020B0604030504040204" pitchFamily="50" charset="-128"/>
                <a:ea typeface="メイリオ" panose="020B0604030504040204" pitchFamily="50" charset="-128"/>
              </a:rPr>
              <a:t>地域別・希望条件別 求人相談キャンペーン</a:t>
            </a:r>
            <a:endParaRPr lang="en-US" sz="1000" b="0" strike="noStrike" spc="-1">
              <a:solidFill>
                <a:srgbClr val="000000"/>
              </a:solidFill>
              <a:latin typeface="メイリオ" panose="020B0604030504040204" pitchFamily="50" charset="-128"/>
              <a:ea typeface="メイリオ" panose="020B0604030504040204" pitchFamily="50" charset="-128"/>
            </a:endParaRPr>
          </a:p>
        </p:txBody>
      </p:sp>
      <p:sp>
        <p:nvSpPr>
          <p:cNvPr id="35" name="Right Arrow 14">
            <a:extLst>
              <a:ext uri="{FF2B5EF4-FFF2-40B4-BE49-F238E27FC236}">
                <a16:creationId xmlns:a16="http://schemas.microsoft.com/office/drawing/2014/main" id="{ED599AD2-9433-037D-4055-3CD5D868773E}"/>
              </a:ext>
            </a:extLst>
          </p:cNvPr>
          <p:cNvSpPr/>
          <p:nvPr/>
        </p:nvSpPr>
        <p:spPr>
          <a:xfrm>
            <a:off x="3249300" y="4401580"/>
            <a:ext cx="292320" cy="145800"/>
          </a:xfrm>
          <a:prstGeom prst="rightArrow">
            <a:avLst>
              <a:gd name="adj1" fmla="val 50000"/>
              <a:gd name="adj2" fmla="val 50000"/>
            </a:avLst>
          </a:prstGeom>
          <a:solidFill>
            <a:srgbClr val="9AA1AE"/>
          </a:solidFill>
          <a:ln>
            <a:noFill/>
          </a:ln>
          <a:effectLst>
            <a:outerShdw blurRad="39960" dist="23040" dir="540000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28080" rIns="90000" bIns="28080" anchor="ctr">
            <a:noAutofit/>
          </a:bodyPr>
          <a:ls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pPr algn="ctr">
              <a:lnSpc>
                <a:spcPct val="100000"/>
              </a:lnSpc>
            </a:pPr>
            <a:endParaRPr lang="en-US" sz="1600" b="0" strike="noStrike" spc="-1">
              <a:solidFill>
                <a:schemeClr val="lt1"/>
              </a:solidFill>
              <a:latin typeface="メイリオ" panose="020B0604030504040204" pitchFamily="50" charset="-128"/>
              <a:ea typeface="メイリオ" panose="020B0604030504040204" pitchFamily="50" charset="-128"/>
            </a:endParaRPr>
          </a:p>
        </p:txBody>
      </p:sp>
      <p:sp>
        <p:nvSpPr>
          <p:cNvPr id="36" name="Rounded Rectangle 15">
            <a:extLst>
              <a:ext uri="{FF2B5EF4-FFF2-40B4-BE49-F238E27FC236}">
                <a16:creationId xmlns:a16="http://schemas.microsoft.com/office/drawing/2014/main" id="{AB67C977-69C9-A50F-851E-986C7CB7A3D5}"/>
              </a:ext>
            </a:extLst>
          </p:cNvPr>
          <p:cNvSpPr/>
          <p:nvPr/>
        </p:nvSpPr>
        <p:spPr>
          <a:xfrm>
            <a:off x="3541980" y="4200340"/>
            <a:ext cx="2822040" cy="548280"/>
          </a:xfrm>
          <a:prstGeom prst="roundRect">
            <a:avLst>
              <a:gd name="adj" fmla="val 10000"/>
            </a:avLst>
          </a:prstGeom>
          <a:solidFill>
            <a:srgbClr val="F5F7FA"/>
          </a:solidFill>
          <a:ln w="12700">
            <a:solidFill>
              <a:srgbClr val="D1D8E0"/>
            </a:solidFill>
            <a:round/>
          </a:ln>
          <a:effectLst>
            <a:outerShdw blurRad="39960" dist="23040" dir="5400000" rotWithShape="0">
              <a:srgbClr val="000000">
                <a:alpha val="35000"/>
              </a:srgbClr>
            </a:outerShdw>
          </a:effectLst>
        </p:spPr>
        <p:style>
          <a:lnRef idx="1">
            <a:schemeClr val="accent1"/>
          </a:lnRef>
          <a:fillRef idx="3">
            <a:schemeClr val="accent1"/>
          </a:fillRef>
          <a:effectRef idx="2">
            <a:schemeClr val="accent1"/>
          </a:effectRef>
          <a:fontRef idx="minor"/>
        </p:style>
        <p:txBody>
          <a:bodyPr lIns="50760" tIns="45000" rIns="50760" bIns="45000" anchor="ctr">
            <a:noAutofit/>
          </a:bodyPr>
          <a:ls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pPr algn="ctr">
              <a:lnSpc>
                <a:spcPct val="100000"/>
              </a:lnSpc>
            </a:pPr>
            <a:r>
              <a:rPr lang="en-US" sz="1200" b="0" strike="noStrike" spc="-1">
                <a:solidFill>
                  <a:srgbClr val="333333"/>
                </a:solidFill>
                <a:latin typeface="メイリオ" panose="020B0604030504040204" pitchFamily="50" charset="-128"/>
                <a:ea typeface="メイリオ" panose="020B0604030504040204" pitchFamily="50" charset="-128"/>
              </a:rPr>
              <a:t>申込完了特典をLINEでお届け</a:t>
            </a:r>
            <a:endParaRPr lang="en-US" sz="1000" b="0" strike="noStrike" spc="-1">
              <a:solidFill>
                <a:srgbClr val="000000"/>
              </a:solidFill>
              <a:latin typeface="メイリオ" panose="020B0604030504040204" pitchFamily="50" charset="-128"/>
              <a:ea typeface="メイリオ" panose="020B0604030504040204" pitchFamily="50" charset="-128"/>
            </a:endParaRPr>
          </a:p>
        </p:txBody>
      </p:sp>
      <p:sp>
        <p:nvSpPr>
          <p:cNvPr id="43" name="Right Arrow 16">
            <a:extLst>
              <a:ext uri="{FF2B5EF4-FFF2-40B4-BE49-F238E27FC236}">
                <a16:creationId xmlns:a16="http://schemas.microsoft.com/office/drawing/2014/main" id="{526CE94B-E706-E4C3-FD31-99BF0647BBEF}"/>
              </a:ext>
            </a:extLst>
          </p:cNvPr>
          <p:cNvSpPr/>
          <p:nvPr/>
        </p:nvSpPr>
        <p:spPr>
          <a:xfrm>
            <a:off x="6364380" y="4401580"/>
            <a:ext cx="292320" cy="145800"/>
          </a:xfrm>
          <a:prstGeom prst="rightArrow">
            <a:avLst>
              <a:gd name="adj1" fmla="val 50000"/>
              <a:gd name="adj2" fmla="val 50000"/>
            </a:avLst>
          </a:prstGeom>
          <a:solidFill>
            <a:srgbClr val="9AA1AE"/>
          </a:solidFill>
          <a:ln>
            <a:noFill/>
          </a:ln>
          <a:effectLst>
            <a:outerShdw blurRad="39960" dist="23040" dir="540000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28080" rIns="90000" bIns="28080" anchor="ctr">
            <a:noAutofit/>
          </a:bodyPr>
          <a:ls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pPr algn="ctr">
              <a:lnSpc>
                <a:spcPct val="100000"/>
              </a:lnSpc>
            </a:pPr>
            <a:endParaRPr lang="en-US" sz="1600" b="0" strike="noStrike" spc="-1">
              <a:solidFill>
                <a:schemeClr val="lt1"/>
              </a:solidFill>
              <a:latin typeface="メイリオ" panose="020B0604030504040204" pitchFamily="50" charset="-128"/>
              <a:ea typeface="メイリオ" panose="020B0604030504040204" pitchFamily="50" charset="-128"/>
            </a:endParaRPr>
          </a:p>
        </p:txBody>
      </p:sp>
      <p:sp>
        <p:nvSpPr>
          <p:cNvPr id="44" name="Rounded Rectangle 17">
            <a:extLst>
              <a:ext uri="{FF2B5EF4-FFF2-40B4-BE49-F238E27FC236}">
                <a16:creationId xmlns:a16="http://schemas.microsoft.com/office/drawing/2014/main" id="{3B4A80AC-373C-53F9-4A7E-460E1983856E}"/>
              </a:ext>
            </a:extLst>
          </p:cNvPr>
          <p:cNvSpPr/>
          <p:nvPr/>
        </p:nvSpPr>
        <p:spPr>
          <a:xfrm>
            <a:off x="6657060" y="4200340"/>
            <a:ext cx="2822040" cy="548280"/>
          </a:xfrm>
          <a:prstGeom prst="roundRect">
            <a:avLst>
              <a:gd name="adj" fmla="val 10000"/>
            </a:avLst>
          </a:prstGeom>
          <a:solidFill>
            <a:srgbClr val="1F2A5C"/>
          </a:solidFill>
          <a:ln w="12700">
            <a:solidFill>
              <a:srgbClr val="1F2A5C"/>
            </a:solidFill>
            <a:round/>
          </a:ln>
          <a:effectLst>
            <a:outerShdw blurRad="39960" dist="23040" dir="5400000" rotWithShape="0">
              <a:srgbClr val="000000">
                <a:alpha val="35000"/>
              </a:srgbClr>
            </a:outerShdw>
          </a:effectLst>
        </p:spPr>
        <p:style>
          <a:lnRef idx="1">
            <a:schemeClr val="accent1"/>
          </a:lnRef>
          <a:fillRef idx="3">
            <a:schemeClr val="accent1"/>
          </a:fillRef>
          <a:effectRef idx="2">
            <a:schemeClr val="accent1"/>
          </a:effectRef>
          <a:fontRef idx="minor"/>
        </p:style>
        <p:txBody>
          <a:bodyPr lIns="50760" tIns="45000" rIns="50760" bIns="45000" anchor="ctr">
            <a:noAutofit/>
          </a:bodyPr>
          <a:ls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pPr algn="ctr">
              <a:lnSpc>
                <a:spcPct val="100000"/>
              </a:lnSpc>
            </a:pPr>
            <a:r>
              <a:rPr lang="en-US" sz="1200" b="1" strike="noStrike" spc="-1">
                <a:solidFill>
                  <a:srgbClr val="FFFFFF"/>
                </a:solidFill>
                <a:latin typeface="メイリオ" panose="020B0604030504040204" pitchFamily="50" charset="-128"/>
                <a:ea typeface="メイリオ" panose="020B0604030504040204" pitchFamily="50" charset="-128"/>
              </a:rPr>
              <a:t>LINE</a:t>
            </a:r>
            <a:r>
              <a:rPr lang="zh-CN" sz="1200" b="1" strike="noStrike" spc="-1">
                <a:solidFill>
                  <a:srgbClr val="FFFFFF"/>
                </a:solidFill>
                <a:latin typeface="メイリオ" panose="020B0604030504040204" pitchFamily="50" charset="-128"/>
                <a:ea typeface="メイリオ" panose="020B0604030504040204" pitchFamily="50" charset="-128"/>
              </a:rPr>
              <a:t>追加</a:t>
            </a:r>
            <a:endParaRPr lang="en-US" sz="1000" b="0" strike="noStrike" spc="-1">
              <a:solidFill>
                <a:srgbClr val="FFFFFF"/>
              </a:solidFill>
              <a:latin typeface="メイリオ" panose="020B0604030504040204" pitchFamily="50" charset="-128"/>
              <a:ea typeface="メイリオ" panose="020B0604030504040204" pitchFamily="50" charset="-128"/>
            </a:endParaRPr>
          </a:p>
        </p:txBody>
      </p:sp>
      <p:sp>
        <p:nvSpPr>
          <p:cNvPr id="45" name="TextBox 18">
            <a:extLst>
              <a:ext uri="{FF2B5EF4-FFF2-40B4-BE49-F238E27FC236}">
                <a16:creationId xmlns:a16="http://schemas.microsoft.com/office/drawing/2014/main" id="{0E624A20-F489-CA81-0820-C9C371152A6C}"/>
              </a:ext>
            </a:extLst>
          </p:cNvPr>
          <p:cNvSpPr/>
          <p:nvPr/>
        </p:nvSpPr>
        <p:spPr>
          <a:xfrm>
            <a:off x="548883" y="5211344"/>
            <a:ext cx="9052200" cy="260156"/>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pPr>
              <a:lnSpc>
                <a:spcPct val="100000"/>
              </a:lnSpc>
            </a:pPr>
            <a:r>
              <a:rPr lang="en-US" sz="1200" b="0" strike="noStrike" spc="-1">
                <a:solidFill>
                  <a:srgbClr val="9AA1AE"/>
                </a:solidFill>
                <a:latin typeface="メイリオ" panose="020B0604030504040204" pitchFamily="50" charset="-128"/>
                <a:ea typeface="メイリオ" panose="020B0604030504040204" pitchFamily="50" charset="-128"/>
              </a:rPr>
              <a:t>※「30秒 適職診断」はサイト上に簡易診断フォームを設置し、結果をLINEで送付する動線を想定（要開発）</a:t>
            </a:r>
            <a:endParaRPr lang="en-US" sz="1100" b="0" strike="noStrike" spc="-1">
              <a:solidFill>
                <a:srgbClr val="000000"/>
              </a:solidFill>
              <a:latin typeface="メイリオ" panose="020B0604030504040204" pitchFamily="50" charset="-128"/>
              <a:ea typeface="メイリオ" panose="020B0604030504040204" pitchFamily="50" charset="-128"/>
            </a:endParaRPr>
          </a:p>
        </p:txBody>
      </p:sp>
    </p:spTree>
    <p:extLst>
      <p:ext uri="{BB962C8B-B14F-4D97-AF65-F5344CB8AC3E}">
        <p14:creationId xmlns:p14="http://schemas.microsoft.com/office/powerpoint/2010/main" val="1734662866"/>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角丸四角形 6"/>
          <p:cNvSpPr/>
          <p:nvPr/>
        </p:nvSpPr>
        <p:spPr>
          <a:xfrm>
            <a:off x="3459839" y="1776142"/>
            <a:ext cx="2986322" cy="4471347"/>
          </a:xfrm>
          <a:prstGeom prst="roundRect">
            <a:avLst>
              <a:gd name="adj" fmla="val 3567"/>
            </a:avLst>
          </a:prstGeom>
          <a:solidFill>
            <a:srgbClr val="FFFFFF">
              <a:lumMod val="95000"/>
            </a:srgbClr>
          </a:solidFill>
          <a:ln w="25400" cap="flat" cmpd="sng" algn="ctr">
            <a:solidFill>
              <a:srgbClr val="FFFFFF">
                <a:lumMod val="85000"/>
              </a:srgbClr>
            </a:solidFill>
            <a:prstDash val="solid"/>
          </a:ln>
          <a:effectLst/>
        </p:spPr>
        <p:txBody>
          <a:bodyPr rtlCol="0" anchor="ctr"/>
          <a:lstStyle/>
          <a:p>
            <a:pPr marL="0" marR="0" lvl="0" indent="0" algn="ctr" defTabSz="914400" eaLnBrk="1" fontAlgn="auto" latinLnBrk="0" hangingPunct="1">
              <a:lnSpc>
                <a:spcPct val="100000"/>
              </a:lnSpc>
              <a:spcBef>
                <a:spcPts val="0"/>
              </a:spcBef>
              <a:spcAft>
                <a:spcPts val="0"/>
              </a:spcAft>
              <a:buClr>
                <a:srgbClr val="000000"/>
              </a:buClr>
              <a:buSzTx/>
              <a:buFont typeface="Arial"/>
              <a:buNone/>
              <a:tabLst/>
              <a:defRPr/>
            </a:pPr>
            <a:endParaRPr kumimoji="0" lang="ja-JP" altLang="en-US" sz="1400" b="0" i="0" u="none" strike="noStrike" kern="0" cap="none" spc="0" normalizeH="0" baseline="0" noProof="0">
              <a:ln>
                <a:noFill/>
              </a:ln>
              <a:solidFill>
                <a:srgbClr val="FFFFFF"/>
              </a:solidFill>
              <a:effectLst/>
              <a:uLnTx/>
              <a:uFillTx/>
              <a:latin typeface="Arial"/>
              <a:ea typeface="ＭＳ Ｐゴシック" panose="020B0600070205080204" pitchFamily="50" charset="-128"/>
              <a:cs typeface="+mn-cs"/>
              <a:sym typeface="Arial"/>
            </a:endParaRPr>
          </a:p>
        </p:txBody>
      </p:sp>
      <p:sp>
        <p:nvSpPr>
          <p:cNvPr id="8" name="角丸四角形 7"/>
          <p:cNvSpPr/>
          <p:nvPr/>
        </p:nvSpPr>
        <p:spPr>
          <a:xfrm>
            <a:off x="256642" y="1776143"/>
            <a:ext cx="2986322" cy="4471347"/>
          </a:xfrm>
          <a:prstGeom prst="roundRect">
            <a:avLst>
              <a:gd name="adj" fmla="val 3567"/>
            </a:avLst>
          </a:prstGeom>
          <a:solidFill>
            <a:schemeClr val="accent1">
              <a:lumMod val="20000"/>
              <a:lumOff val="80000"/>
            </a:schemeClr>
          </a:solidFill>
          <a:ln w="25400" cap="flat" cmpd="sng" algn="ctr">
            <a:solidFill>
              <a:schemeClr val="accent1"/>
            </a:solidFill>
            <a:prstDash val="solid"/>
          </a:ln>
          <a:effectLst/>
        </p:spPr>
        <p:txBody>
          <a:bodyPr rtlCol="0" anchor="ctr"/>
          <a:lstStyle/>
          <a:p>
            <a:pPr marL="0" marR="0" lvl="0" indent="0" algn="ctr" defTabSz="914400" eaLnBrk="1" fontAlgn="auto" latinLnBrk="0" hangingPunct="1">
              <a:lnSpc>
                <a:spcPct val="100000"/>
              </a:lnSpc>
              <a:spcBef>
                <a:spcPts val="0"/>
              </a:spcBef>
              <a:spcAft>
                <a:spcPts val="0"/>
              </a:spcAft>
              <a:buClr>
                <a:srgbClr val="000000"/>
              </a:buClr>
              <a:buSzTx/>
              <a:buFont typeface="Arial"/>
              <a:buNone/>
              <a:tabLst/>
              <a:defRPr/>
            </a:pPr>
            <a:endParaRPr kumimoji="0" lang="ja-JP" altLang="en-US" sz="1400" b="0" i="0" u="none" strike="noStrike" kern="0" cap="none" spc="0" normalizeH="0" baseline="0" noProof="0">
              <a:ln>
                <a:noFill/>
              </a:ln>
              <a:solidFill>
                <a:srgbClr val="FFFFFF"/>
              </a:solidFill>
              <a:effectLst/>
              <a:uLnTx/>
              <a:uFillTx/>
              <a:latin typeface="Arial"/>
              <a:ea typeface="ＭＳ Ｐゴシック" panose="020B0600070205080204" pitchFamily="50" charset="-128"/>
              <a:cs typeface="+mn-cs"/>
              <a:sym typeface="Arial"/>
            </a:endParaRPr>
          </a:p>
        </p:txBody>
      </p:sp>
      <p:sp>
        <p:nvSpPr>
          <p:cNvPr id="9" name="角丸四角形 8"/>
          <p:cNvSpPr/>
          <p:nvPr/>
        </p:nvSpPr>
        <p:spPr>
          <a:xfrm>
            <a:off x="6663036" y="1776142"/>
            <a:ext cx="2986322" cy="4471347"/>
          </a:xfrm>
          <a:prstGeom prst="roundRect">
            <a:avLst>
              <a:gd name="adj" fmla="val 3567"/>
            </a:avLst>
          </a:prstGeom>
          <a:solidFill>
            <a:schemeClr val="accent1">
              <a:lumMod val="20000"/>
              <a:lumOff val="80000"/>
            </a:schemeClr>
          </a:solidFill>
          <a:ln w="25400" cap="flat" cmpd="sng" algn="ctr">
            <a:solidFill>
              <a:schemeClr val="accent1"/>
            </a:solidFill>
            <a:prstDash val="solid"/>
          </a:ln>
          <a:effectLst/>
        </p:spPr>
        <p:txBody>
          <a:bodyPr rtlCol="0" anchor="ctr"/>
          <a:lstStyle/>
          <a:p>
            <a:pPr marL="0" marR="0" lvl="0" indent="0" algn="ctr" defTabSz="914400" eaLnBrk="1" fontAlgn="auto" latinLnBrk="0" hangingPunct="1">
              <a:lnSpc>
                <a:spcPct val="100000"/>
              </a:lnSpc>
              <a:spcBef>
                <a:spcPts val="0"/>
              </a:spcBef>
              <a:spcAft>
                <a:spcPts val="0"/>
              </a:spcAft>
              <a:buClr>
                <a:srgbClr val="000000"/>
              </a:buClr>
              <a:buSzTx/>
              <a:buFont typeface="Arial"/>
              <a:buNone/>
              <a:tabLst/>
              <a:defRPr/>
            </a:pPr>
            <a:endParaRPr kumimoji="0" lang="ja-JP" altLang="en-US" sz="1400" b="0" i="0" u="none" strike="noStrike" kern="0" cap="none" spc="0" normalizeH="0" baseline="0" noProof="0">
              <a:ln>
                <a:noFill/>
              </a:ln>
              <a:solidFill>
                <a:srgbClr val="FFFFFF"/>
              </a:solidFill>
              <a:effectLst/>
              <a:uLnTx/>
              <a:uFillTx/>
              <a:latin typeface="Arial"/>
              <a:ea typeface="ＭＳ Ｐゴシック" panose="020B0600070205080204" pitchFamily="50" charset="-128"/>
              <a:cs typeface="+mn-cs"/>
              <a:sym typeface="Arial"/>
            </a:endParaRPr>
          </a:p>
        </p:txBody>
      </p:sp>
      <p:sp>
        <p:nvSpPr>
          <p:cNvPr id="11" name="Google Shape;178;p7"/>
          <p:cNvSpPr txBox="1"/>
          <p:nvPr/>
        </p:nvSpPr>
        <p:spPr>
          <a:xfrm>
            <a:off x="592643" y="1940375"/>
            <a:ext cx="2314319" cy="459948"/>
          </a:xfrm>
          <a:prstGeom prst="rect">
            <a:avLst/>
          </a:prstGeom>
          <a:noFill/>
          <a:ln>
            <a:noFill/>
          </a:ln>
        </p:spPr>
        <p:txBody>
          <a:bodyPr spcFirstLastPara="1" wrap="square" lIns="150750" tIns="75350" rIns="150750" bIns="75350" anchor="t" anchorCtr="0">
            <a:spAutoFit/>
          </a:bodyPr>
          <a:lstStyle/>
          <a:p>
            <a:pPr lvl="0" algn="ctr">
              <a:buClr>
                <a:schemeClr val="dk1"/>
              </a:buClr>
              <a:buSzPts val="1500"/>
            </a:pPr>
            <a:r>
              <a:rPr lang="ja-JP" altLang="en-US" sz="2000" b="1" dirty="0">
                <a:solidFill>
                  <a:srgbClr val="002060"/>
                </a:solidFill>
                <a:latin typeface="Meiryo"/>
                <a:ea typeface="Meiryo"/>
                <a:cs typeface="Meiryo"/>
                <a:sym typeface="Meiryo"/>
              </a:rPr>
              <a:t>離脱防止バナー</a:t>
            </a:r>
            <a:endParaRPr lang="en-US" altLang="ja-JP" sz="2000" b="1" dirty="0">
              <a:solidFill>
                <a:srgbClr val="002060"/>
              </a:solidFill>
              <a:latin typeface="Meiryo"/>
              <a:ea typeface="Meiryo"/>
              <a:cs typeface="Meiryo"/>
              <a:sym typeface="Meiryo"/>
            </a:endParaRPr>
          </a:p>
        </p:txBody>
      </p:sp>
      <p:sp>
        <p:nvSpPr>
          <p:cNvPr id="13" name="Google Shape;178;p7"/>
          <p:cNvSpPr txBox="1"/>
          <p:nvPr/>
        </p:nvSpPr>
        <p:spPr>
          <a:xfrm>
            <a:off x="3795840" y="1940375"/>
            <a:ext cx="2314319" cy="459948"/>
          </a:xfrm>
          <a:prstGeom prst="rect">
            <a:avLst/>
          </a:prstGeom>
          <a:noFill/>
          <a:ln>
            <a:noFill/>
          </a:ln>
        </p:spPr>
        <p:txBody>
          <a:bodyPr spcFirstLastPara="1" wrap="square" lIns="150750" tIns="75350" rIns="150750" bIns="75350" anchor="t" anchorCtr="0">
            <a:spAutoFit/>
          </a:bodyPr>
          <a:lstStyle/>
          <a:p>
            <a:pPr lvl="0" algn="ctr">
              <a:buClr>
                <a:schemeClr val="dk1"/>
              </a:buClr>
              <a:buSzPts val="1500"/>
            </a:pPr>
            <a:r>
              <a:rPr lang="en-US" altLang="ja-JP" sz="2000" b="1" dirty="0">
                <a:solidFill>
                  <a:srgbClr val="002060"/>
                </a:solidFill>
                <a:latin typeface="Meiryo"/>
                <a:ea typeface="Meiryo"/>
                <a:cs typeface="Meiryo"/>
                <a:sym typeface="Meiryo"/>
              </a:rPr>
              <a:t>CPF</a:t>
            </a:r>
            <a:r>
              <a:rPr lang="ja-JP" altLang="en-US" sz="2000" b="1" dirty="0">
                <a:solidFill>
                  <a:srgbClr val="002060"/>
                </a:solidFill>
                <a:latin typeface="Meiryo"/>
                <a:ea typeface="Meiryo"/>
                <a:cs typeface="Meiryo"/>
                <a:sym typeface="Meiryo"/>
              </a:rPr>
              <a:t>広告</a:t>
            </a:r>
            <a:endParaRPr lang="en-US" altLang="ja-JP" sz="2000" b="1" dirty="0">
              <a:solidFill>
                <a:srgbClr val="002060"/>
              </a:solidFill>
              <a:latin typeface="Meiryo"/>
              <a:ea typeface="Meiryo"/>
              <a:cs typeface="Meiryo"/>
              <a:sym typeface="Meiryo"/>
            </a:endParaRPr>
          </a:p>
        </p:txBody>
      </p:sp>
      <p:sp>
        <p:nvSpPr>
          <p:cNvPr id="14" name="Google Shape;178;p7"/>
          <p:cNvSpPr txBox="1"/>
          <p:nvPr/>
        </p:nvSpPr>
        <p:spPr>
          <a:xfrm>
            <a:off x="6756033" y="1949959"/>
            <a:ext cx="2800326" cy="767725"/>
          </a:xfrm>
          <a:prstGeom prst="rect">
            <a:avLst/>
          </a:prstGeom>
          <a:noFill/>
          <a:ln>
            <a:noFill/>
          </a:ln>
        </p:spPr>
        <p:txBody>
          <a:bodyPr spcFirstLastPara="1" wrap="square" lIns="150750" tIns="75350" rIns="150750" bIns="75350" anchor="t" anchorCtr="0">
            <a:spAutoFit/>
          </a:bodyPr>
          <a:lstStyle/>
          <a:p>
            <a:pPr lvl="0" algn="ctr">
              <a:buClr>
                <a:schemeClr val="dk1"/>
              </a:buClr>
              <a:buSzPts val="1500"/>
            </a:pPr>
            <a:r>
              <a:rPr lang="ja-JP" altLang="en-US" sz="2000" b="1" dirty="0">
                <a:solidFill>
                  <a:srgbClr val="002060"/>
                </a:solidFill>
                <a:latin typeface="Meiryo"/>
                <a:ea typeface="Meiryo"/>
                <a:cs typeface="Meiryo"/>
                <a:sym typeface="Meiryo"/>
              </a:rPr>
              <a:t>サンクス</a:t>
            </a:r>
            <a:r>
              <a:rPr lang="en-US" altLang="ja-JP" sz="2000" b="1" dirty="0">
                <a:solidFill>
                  <a:srgbClr val="002060"/>
                </a:solidFill>
                <a:latin typeface="Meiryo"/>
                <a:ea typeface="Meiryo"/>
                <a:cs typeface="Meiryo"/>
                <a:sym typeface="Meiryo"/>
              </a:rPr>
              <a:t>LINE</a:t>
            </a:r>
            <a:r>
              <a:rPr lang="ja-JP" altLang="en-US" sz="2000" b="1" dirty="0">
                <a:solidFill>
                  <a:srgbClr val="002060"/>
                </a:solidFill>
                <a:latin typeface="Meiryo"/>
                <a:ea typeface="Meiryo"/>
                <a:cs typeface="Meiryo"/>
                <a:sym typeface="Meiryo"/>
              </a:rPr>
              <a:t>誘導</a:t>
            </a:r>
            <a:endParaRPr lang="en-US" altLang="ja-JP" sz="2000" b="1" dirty="0">
              <a:solidFill>
                <a:srgbClr val="002060"/>
              </a:solidFill>
              <a:latin typeface="Meiryo"/>
              <a:ea typeface="Meiryo"/>
              <a:cs typeface="Meiryo"/>
              <a:sym typeface="Meiryo"/>
            </a:endParaRPr>
          </a:p>
        </p:txBody>
      </p:sp>
      <p:sp>
        <p:nvSpPr>
          <p:cNvPr id="16" name="Google Shape;178;p7"/>
          <p:cNvSpPr txBox="1"/>
          <p:nvPr/>
        </p:nvSpPr>
        <p:spPr>
          <a:xfrm>
            <a:off x="92849" y="5014843"/>
            <a:ext cx="2067109" cy="367615"/>
          </a:xfrm>
          <a:prstGeom prst="rect">
            <a:avLst/>
          </a:prstGeom>
          <a:noFill/>
          <a:ln>
            <a:noFill/>
          </a:ln>
        </p:spPr>
        <p:txBody>
          <a:bodyPr spcFirstLastPara="1" wrap="square" lIns="150750" tIns="75350" rIns="150750" bIns="75350" anchor="t" anchorCtr="0">
            <a:spAutoFit/>
          </a:bodyPr>
          <a:lstStyle/>
          <a:p>
            <a:pPr lvl="0" algn="ctr">
              <a:buClr>
                <a:schemeClr val="dk1"/>
              </a:buClr>
              <a:buSzPts val="1500"/>
            </a:pPr>
            <a:r>
              <a:rPr lang="ja-JP" altLang="en-US" sz="1400" dirty="0">
                <a:solidFill>
                  <a:schemeClr val="tx1">
                    <a:lumMod val="50000"/>
                    <a:lumOff val="50000"/>
                  </a:schemeClr>
                </a:solidFill>
                <a:latin typeface="Meiryo"/>
                <a:ea typeface="Meiryo"/>
                <a:cs typeface="Meiryo"/>
                <a:sym typeface="Meiryo"/>
              </a:rPr>
              <a:t>事例：車買取</a:t>
            </a:r>
            <a:endParaRPr lang="en-US" altLang="ja-JP" sz="1400" dirty="0">
              <a:solidFill>
                <a:schemeClr val="tx1">
                  <a:lumMod val="50000"/>
                  <a:lumOff val="50000"/>
                </a:schemeClr>
              </a:solidFill>
              <a:latin typeface="Meiryo"/>
              <a:ea typeface="Meiryo"/>
              <a:cs typeface="Meiryo"/>
              <a:sym typeface="Meiryo"/>
            </a:endParaRPr>
          </a:p>
        </p:txBody>
      </p:sp>
      <p:pic>
        <p:nvPicPr>
          <p:cNvPr id="2" name="図 1"/>
          <p:cNvPicPr>
            <a:picLocks noChangeAspect="1"/>
          </p:cNvPicPr>
          <p:nvPr/>
        </p:nvPicPr>
        <p:blipFill rotWithShape="1">
          <a:blip r:embed="rId2" cstate="print">
            <a:extLst>
              <a:ext uri="{28A0092B-C50C-407E-A947-70E740481C1C}">
                <a14:useLocalDpi xmlns:a14="http://schemas.microsoft.com/office/drawing/2010/main" val="0"/>
              </a:ext>
            </a:extLst>
          </a:blip>
          <a:srcRect t="34585" b="34763"/>
          <a:stretch/>
        </p:blipFill>
        <p:spPr>
          <a:xfrm>
            <a:off x="314053" y="2324099"/>
            <a:ext cx="2871498" cy="1564723"/>
          </a:xfrm>
          <a:prstGeom prst="rect">
            <a:avLst/>
          </a:prstGeom>
        </p:spPr>
      </p:pic>
      <p:sp>
        <p:nvSpPr>
          <p:cNvPr id="17" name="Google Shape;178;p7"/>
          <p:cNvSpPr txBox="1"/>
          <p:nvPr/>
        </p:nvSpPr>
        <p:spPr>
          <a:xfrm>
            <a:off x="-80913" y="4068767"/>
            <a:ext cx="3501626" cy="798502"/>
          </a:xfrm>
          <a:prstGeom prst="rect">
            <a:avLst/>
          </a:prstGeom>
          <a:noFill/>
          <a:ln>
            <a:noFill/>
          </a:ln>
        </p:spPr>
        <p:txBody>
          <a:bodyPr spcFirstLastPara="1" wrap="square" lIns="150750" tIns="75350" rIns="150750" bIns="75350" anchor="t" anchorCtr="0">
            <a:spAutoFit/>
          </a:bodyPr>
          <a:lstStyle/>
          <a:p>
            <a:pPr lvl="0" algn="ctr">
              <a:buClr>
                <a:schemeClr val="dk1"/>
              </a:buClr>
              <a:buSzPts val="1500"/>
            </a:pPr>
            <a:r>
              <a:rPr lang="ja-JP" altLang="en-US" sz="1400" dirty="0">
                <a:latin typeface="Meiryo"/>
                <a:ea typeface="Meiryo"/>
                <a:cs typeface="Meiryo"/>
                <a:sym typeface="Meiryo"/>
              </a:rPr>
              <a:t>興味はあるが利用まで</a:t>
            </a:r>
            <a:endParaRPr lang="en-US" altLang="ja-JP" sz="1400" dirty="0">
              <a:latin typeface="Meiryo"/>
              <a:ea typeface="Meiryo"/>
              <a:cs typeface="Meiryo"/>
              <a:sym typeface="Meiryo"/>
            </a:endParaRPr>
          </a:p>
          <a:p>
            <a:pPr lvl="0" algn="ctr">
              <a:buClr>
                <a:schemeClr val="dk1"/>
              </a:buClr>
              <a:buSzPts val="1500"/>
            </a:pPr>
            <a:r>
              <a:rPr lang="ja-JP" altLang="en-US" sz="1400" dirty="0">
                <a:latin typeface="Meiryo"/>
                <a:ea typeface="Meiryo"/>
                <a:cs typeface="Meiryo"/>
                <a:sym typeface="Meiryo"/>
              </a:rPr>
              <a:t>至らなかったユーザーを</a:t>
            </a:r>
            <a:endParaRPr lang="en-US" altLang="ja-JP" sz="1400" dirty="0">
              <a:latin typeface="Meiryo"/>
              <a:ea typeface="Meiryo"/>
              <a:cs typeface="Meiryo"/>
              <a:sym typeface="Meiryo"/>
            </a:endParaRPr>
          </a:p>
          <a:p>
            <a:pPr lvl="0" algn="ctr">
              <a:buClr>
                <a:schemeClr val="dk1"/>
              </a:buClr>
              <a:buSzPts val="1500"/>
            </a:pPr>
            <a:r>
              <a:rPr lang="ja-JP" altLang="en-US" sz="1400" dirty="0">
                <a:latin typeface="Meiryo"/>
                <a:ea typeface="Meiryo"/>
                <a:cs typeface="Meiryo"/>
                <a:sym typeface="Meiryo"/>
              </a:rPr>
              <a:t>友だちとして囲い込む。</a:t>
            </a:r>
            <a:endParaRPr lang="en-US" altLang="ja-JP" sz="1400" dirty="0">
              <a:latin typeface="Meiryo"/>
              <a:ea typeface="Meiryo"/>
              <a:cs typeface="Meiryo"/>
              <a:sym typeface="Meiryo"/>
            </a:endParaRPr>
          </a:p>
        </p:txBody>
      </p:sp>
      <p:sp>
        <p:nvSpPr>
          <p:cNvPr id="19" name="Google Shape;178;p7"/>
          <p:cNvSpPr txBox="1"/>
          <p:nvPr/>
        </p:nvSpPr>
        <p:spPr>
          <a:xfrm>
            <a:off x="3161410" y="4053056"/>
            <a:ext cx="3501626" cy="798502"/>
          </a:xfrm>
          <a:prstGeom prst="rect">
            <a:avLst/>
          </a:prstGeom>
          <a:noFill/>
          <a:ln>
            <a:noFill/>
          </a:ln>
        </p:spPr>
        <p:txBody>
          <a:bodyPr spcFirstLastPara="1" wrap="square" lIns="150750" tIns="75350" rIns="150750" bIns="75350" anchor="t" anchorCtr="0">
            <a:spAutoFit/>
          </a:bodyPr>
          <a:lstStyle/>
          <a:p>
            <a:pPr lvl="0" algn="ctr">
              <a:buClr>
                <a:schemeClr val="dk1"/>
              </a:buClr>
              <a:buSzPts val="1500"/>
            </a:pPr>
            <a:r>
              <a:rPr lang="en-US" altLang="ja-JP" sz="1400" dirty="0">
                <a:latin typeface="Meiryo"/>
                <a:ea typeface="Meiryo"/>
                <a:cs typeface="Meiryo"/>
                <a:sym typeface="Meiryo"/>
              </a:rPr>
              <a:t>CPF</a:t>
            </a:r>
            <a:r>
              <a:rPr lang="ja-JP" altLang="en-US" sz="1400" dirty="0">
                <a:latin typeface="Meiryo"/>
                <a:ea typeface="Meiryo"/>
                <a:cs typeface="Meiryo"/>
                <a:sym typeface="Meiryo"/>
              </a:rPr>
              <a:t>約</a:t>
            </a:r>
            <a:r>
              <a:rPr lang="en-US" altLang="ja-JP" sz="1400" dirty="0">
                <a:latin typeface="Meiryo"/>
                <a:ea typeface="Meiryo"/>
                <a:cs typeface="Meiryo"/>
                <a:sym typeface="Meiryo"/>
              </a:rPr>
              <a:t>100-200</a:t>
            </a:r>
            <a:r>
              <a:rPr lang="ja-JP" altLang="en-US" sz="1400" dirty="0">
                <a:latin typeface="Meiryo"/>
                <a:ea typeface="Meiryo"/>
                <a:cs typeface="Meiryo"/>
                <a:sym typeface="Meiryo"/>
              </a:rPr>
              <a:t>円台。</a:t>
            </a:r>
            <a:endParaRPr lang="en-US" altLang="ja-JP" sz="1400" dirty="0">
              <a:latin typeface="Meiryo"/>
              <a:ea typeface="Meiryo"/>
              <a:cs typeface="Meiryo"/>
              <a:sym typeface="Meiryo"/>
            </a:endParaRPr>
          </a:p>
          <a:p>
            <a:pPr lvl="0" algn="ctr">
              <a:buClr>
                <a:schemeClr val="dk1"/>
              </a:buClr>
              <a:buSzPts val="1500"/>
            </a:pPr>
            <a:r>
              <a:rPr lang="ja-JP" altLang="en-US" sz="1400" dirty="0">
                <a:latin typeface="Meiryo"/>
                <a:ea typeface="Meiryo"/>
                <a:cs typeface="Meiryo"/>
                <a:sym typeface="Meiryo"/>
              </a:rPr>
              <a:t>かなり安価かつ成果報酬で</a:t>
            </a:r>
            <a:endParaRPr lang="en-US" altLang="ja-JP" sz="1400" dirty="0">
              <a:latin typeface="Meiryo"/>
              <a:ea typeface="Meiryo"/>
              <a:cs typeface="Meiryo"/>
              <a:sym typeface="Meiryo"/>
            </a:endParaRPr>
          </a:p>
          <a:p>
            <a:pPr lvl="0" algn="ctr">
              <a:buClr>
                <a:schemeClr val="dk1"/>
              </a:buClr>
              <a:buSzPts val="1500"/>
            </a:pPr>
            <a:r>
              <a:rPr lang="ja-JP" altLang="en-US" sz="1400" dirty="0">
                <a:latin typeface="Meiryo"/>
                <a:ea typeface="Meiryo"/>
                <a:cs typeface="Meiryo"/>
                <a:sym typeface="Meiryo"/>
              </a:rPr>
              <a:t>友だちを増やす広告。</a:t>
            </a:r>
            <a:endParaRPr lang="en-US" altLang="ja-JP" sz="1400" dirty="0">
              <a:latin typeface="Meiryo"/>
              <a:ea typeface="Meiryo"/>
              <a:cs typeface="Meiryo"/>
              <a:sym typeface="Meiryo"/>
            </a:endParaRPr>
          </a:p>
        </p:txBody>
      </p:sp>
      <p:sp>
        <p:nvSpPr>
          <p:cNvPr id="20" name="Google Shape;178;p7"/>
          <p:cNvSpPr txBox="1"/>
          <p:nvPr/>
        </p:nvSpPr>
        <p:spPr>
          <a:xfrm>
            <a:off x="3242964" y="5014843"/>
            <a:ext cx="2338123" cy="367615"/>
          </a:xfrm>
          <a:prstGeom prst="rect">
            <a:avLst/>
          </a:prstGeom>
          <a:noFill/>
          <a:ln>
            <a:noFill/>
          </a:ln>
        </p:spPr>
        <p:txBody>
          <a:bodyPr spcFirstLastPara="1" wrap="square" lIns="150750" tIns="75350" rIns="150750" bIns="75350" anchor="t" anchorCtr="0">
            <a:spAutoFit/>
          </a:bodyPr>
          <a:lstStyle/>
          <a:p>
            <a:pPr lvl="0" algn="ctr">
              <a:buClr>
                <a:schemeClr val="dk1"/>
              </a:buClr>
              <a:buSzPts val="1500"/>
            </a:pPr>
            <a:r>
              <a:rPr lang="ja-JP" altLang="en-US" sz="1400" dirty="0">
                <a:solidFill>
                  <a:schemeClr val="tx1">
                    <a:lumMod val="50000"/>
                    <a:lumOff val="50000"/>
                  </a:schemeClr>
                </a:solidFill>
                <a:latin typeface="Meiryo"/>
                <a:ea typeface="Meiryo"/>
                <a:cs typeface="Meiryo"/>
                <a:sym typeface="Meiryo"/>
              </a:rPr>
              <a:t>事例：アパレル</a:t>
            </a:r>
            <a:endParaRPr lang="en-US" altLang="ja-JP" sz="1400" dirty="0">
              <a:solidFill>
                <a:schemeClr val="tx1">
                  <a:lumMod val="50000"/>
                  <a:lumOff val="50000"/>
                </a:schemeClr>
              </a:solidFill>
              <a:latin typeface="Meiryo"/>
              <a:ea typeface="Meiryo"/>
              <a:cs typeface="Meiryo"/>
              <a:sym typeface="Meiryo"/>
            </a:endParaRPr>
          </a:p>
        </p:txBody>
      </p:sp>
      <p:sp>
        <p:nvSpPr>
          <p:cNvPr id="21" name="Google Shape;178;p7"/>
          <p:cNvSpPr txBox="1"/>
          <p:nvPr/>
        </p:nvSpPr>
        <p:spPr>
          <a:xfrm>
            <a:off x="3639325" y="5328640"/>
            <a:ext cx="2795420" cy="521504"/>
          </a:xfrm>
          <a:prstGeom prst="rect">
            <a:avLst/>
          </a:prstGeom>
          <a:noFill/>
          <a:ln>
            <a:noFill/>
          </a:ln>
        </p:spPr>
        <p:txBody>
          <a:bodyPr spcFirstLastPara="1" wrap="square" lIns="150750" tIns="75350" rIns="150750" bIns="75350" anchor="t" anchorCtr="0">
            <a:spAutoFit/>
          </a:bodyPr>
          <a:lstStyle/>
          <a:p>
            <a:pPr lvl="0">
              <a:buClr>
                <a:schemeClr val="dk1"/>
              </a:buClr>
              <a:buSzPts val="1500"/>
            </a:pPr>
            <a:r>
              <a:rPr lang="en-US" altLang="ja-JP" sz="1200" dirty="0">
                <a:solidFill>
                  <a:schemeClr val="tx1">
                    <a:lumMod val="50000"/>
                    <a:lumOff val="50000"/>
                  </a:schemeClr>
                </a:solidFill>
                <a:latin typeface="Meiryo"/>
                <a:ea typeface="Meiryo"/>
                <a:cs typeface="Meiryo"/>
                <a:sym typeface="Meiryo"/>
              </a:rPr>
              <a:t>1</a:t>
            </a:r>
            <a:r>
              <a:rPr lang="ja-JP" altLang="en-US" sz="1200" dirty="0">
                <a:solidFill>
                  <a:schemeClr val="tx1">
                    <a:lumMod val="50000"/>
                    <a:lumOff val="50000"/>
                  </a:schemeClr>
                </a:solidFill>
                <a:latin typeface="Meiryo"/>
                <a:ea typeface="Meiryo"/>
                <a:cs typeface="Meiryo"/>
                <a:sym typeface="Meiryo"/>
              </a:rPr>
              <a:t>人あたり</a:t>
            </a:r>
            <a:r>
              <a:rPr lang="en-US" altLang="ja-JP" sz="1200" dirty="0">
                <a:solidFill>
                  <a:schemeClr val="tx1">
                    <a:lumMod val="50000"/>
                    <a:lumOff val="50000"/>
                  </a:schemeClr>
                </a:solidFill>
                <a:latin typeface="Meiryo"/>
                <a:ea typeface="Meiryo"/>
                <a:cs typeface="Meiryo"/>
                <a:sym typeface="Meiryo"/>
              </a:rPr>
              <a:t>50</a:t>
            </a:r>
            <a:r>
              <a:rPr lang="ja-JP" altLang="en-US" sz="1200" dirty="0">
                <a:solidFill>
                  <a:schemeClr val="tx1">
                    <a:lumMod val="50000"/>
                    <a:lumOff val="50000"/>
                  </a:schemeClr>
                </a:solidFill>
                <a:latin typeface="Meiryo"/>
                <a:ea typeface="Meiryo"/>
                <a:cs typeface="Meiryo"/>
                <a:sym typeface="Meiryo"/>
              </a:rPr>
              <a:t>円で友だち獲得</a:t>
            </a:r>
            <a:endParaRPr lang="en-US" altLang="ja-JP" sz="1200" dirty="0">
              <a:solidFill>
                <a:schemeClr val="tx1">
                  <a:lumMod val="50000"/>
                  <a:lumOff val="50000"/>
                </a:schemeClr>
              </a:solidFill>
              <a:latin typeface="Meiryo"/>
              <a:ea typeface="Meiryo"/>
              <a:cs typeface="Meiryo"/>
              <a:sym typeface="Meiryo"/>
            </a:endParaRPr>
          </a:p>
          <a:p>
            <a:pPr lvl="0">
              <a:buClr>
                <a:schemeClr val="dk1"/>
              </a:buClr>
              <a:buSzPts val="1500"/>
            </a:pPr>
            <a:r>
              <a:rPr lang="en-US" altLang="ja-JP" sz="1200" dirty="0">
                <a:solidFill>
                  <a:schemeClr val="tx1">
                    <a:lumMod val="50000"/>
                    <a:lumOff val="50000"/>
                  </a:schemeClr>
                </a:solidFill>
                <a:latin typeface="Meiryo"/>
                <a:ea typeface="Meiryo"/>
                <a:cs typeface="Meiryo"/>
                <a:sym typeface="Meiryo"/>
              </a:rPr>
              <a:t>LINE</a:t>
            </a:r>
            <a:r>
              <a:rPr lang="ja-JP" altLang="en-US" sz="1200" dirty="0">
                <a:solidFill>
                  <a:schemeClr val="tx1">
                    <a:lumMod val="50000"/>
                    <a:lumOff val="50000"/>
                  </a:schemeClr>
                </a:solidFill>
                <a:latin typeface="Meiryo"/>
                <a:ea typeface="Meiryo"/>
                <a:cs typeface="Meiryo"/>
                <a:sym typeface="Meiryo"/>
              </a:rPr>
              <a:t>経由の購入</a:t>
            </a:r>
            <a:r>
              <a:rPr lang="en-US" altLang="ja-JP" sz="1200" dirty="0">
                <a:solidFill>
                  <a:schemeClr val="tx1">
                    <a:lumMod val="50000"/>
                    <a:lumOff val="50000"/>
                  </a:schemeClr>
                </a:solidFill>
                <a:latin typeface="Meiryo"/>
                <a:ea typeface="Meiryo"/>
                <a:cs typeface="Meiryo"/>
                <a:sym typeface="Meiryo"/>
              </a:rPr>
              <a:t>1.5</a:t>
            </a:r>
            <a:r>
              <a:rPr lang="ja-JP" altLang="en-US" sz="1200" dirty="0">
                <a:solidFill>
                  <a:schemeClr val="tx1">
                    <a:lumMod val="50000"/>
                    <a:lumOff val="50000"/>
                  </a:schemeClr>
                </a:solidFill>
                <a:latin typeface="Meiryo"/>
                <a:ea typeface="Meiryo"/>
                <a:cs typeface="Meiryo"/>
                <a:sym typeface="Meiryo"/>
              </a:rPr>
              <a:t>倍</a:t>
            </a:r>
            <a:endParaRPr lang="en-US" altLang="ja-JP" sz="1200" dirty="0">
              <a:solidFill>
                <a:schemeClr val="tx1">
                  <a:lumMod val="50000"/>
                  <a:lumOff val="50000"/>
                </a:schemeClr>
              </a:solidFill>
              <a:latin typeface="Meiryo"/>
              <a:ea typeface="Meiryo"/>
              <a:cs typeface="Meiryo"/>
              <a:sym typeface="Meiryo"/>
            </a:endParaRPr>
          </a:p>
        </p:txBody>
      </p:sp>
      <p:sp>
        <p:nvSpPr>
          <p:cNvPr id="22" name="Google Shape;178;p7"/>
          <p:cNvSpPr txBox="1"/>
          <p:nvPr/>
        </p:nvSpPr>
        <p:spPr>
          <a:xfrm>
            <a:off x="6434745" y="4068766"/>
            <a:ext cx="3501626" cy="798502"/>
          </a:xfrm>
          <a:prstGeom prst="rect">
            <a:avLst/>
          </a:prstGeom>
          <a:noFill/>
          <a:ln>
            <a:noFill/>
          </a:ln>
        </p:spPr>
        <p:txBody>
          <a:bodyPr spcFirstLastPara="1" wrap="square" lIns="150750" tIns="75350" rIns="150750" bIns="75350" anchor="t" anchorCtr="0">
            <a:spAutoFit/>
          </a:bodyPr>
          <a:lstStyle/>
          <a:p>
            <a:pPr lvl="0" algn="ctr">
              <a:buClr>
                <a:schemeClr val="dk1"/>
              </a:buClr>
              <a:buSzPts val="1500"/>
            </a:pPr>
            <a:r>
              <a:rPr lang="ja-JP" altLang="en-US" sz="1400" dirty="0">
                <a:latin typeface="Meiryo"/>
                <a:ea typeface="Meiryo"/>
                <a:cs typeface="Meiryo"/>
                <a:sym typeface="Meiryo"/>
              </a:rPr>
              <a:t>サンクスページに到達した</a:t>
            </a:r>
            <a:endParaRPr lang="en-US" altLang="ja-JP" sz="1400" dirty="0">
              <a:latin typeface="Meiryo"/>
              <a:ea typeface="Meiryo"/>
              <a:cs typeface="Meiryo"/>
              <a:sym typeface="Meiryo"/>
            </a:endParaRPr>
          </a:p>
          <a:p>
            <a:pPr lvl="0" algn="ctr">
              <a:buClr>
                <a:schemeClr val="dk1"/>
              </a:buClr>
              <a:buSzPts val="1500"/>
            </a:pPr>
            <a:r>
              <a:rPr lang="ja-JP" altLang="en-US" sz="1400" dirty="0">
                <a:latin typeface="Meiryo"/>
                <a:ea typeface="Meiryo"/>
                <a:cs typeface="Meiryo"/>
                <a:sym typeface="Meiryo"/>
              </a:rPr>
              <a:t>ユーザーを自動で</a:t>
            </a:r>
            <a:r>
              <a:rPr lang="en-US" altLang="ja-JP" sz="1400" dirty="0">
                <a:latin typeface="Meiryo"/>
                <a:ea typeface="Meiryo"/>
                <a:cs typeface="Meiryo"/>
                <a:sym typeface="Meiryo"/>
              </a:rPr>
              <a:t>LINE</a:t>
            </a:r>
            <a:r>
              <a:rPr lang="ja-JP" altLang="en-US" sz="1400" dirty="0">
                <a:latin typeface="Meiryo"/>
                <a:ea typeface="Meiryo"/>
                <a:cs typeface="Meiryo"/>
                <a:sym typeface="Meiryo"/>
              </a:rPr>
              <a:t>に誘導。</a:t>
            </a:r>
            <a:endParaRPr lang="en-US" altLang="ja-JP" sz="1400" dirty="0">
              <a:latin typeface="Meiryo"/>
              <a:ea typeface="Meiryo"/>
              <a:cs typeface="Meiryo"/>
              <a:sym typeface="Meiryo"/>
            </a:endParaRPr>
          </a:p>
          <a:p>
            <a:pPr lvl="0" algn="ctr">
              <a:buClr>
                <a:schemeClr val="dk1"/>
              </a:buClr>
              <a:buSzPts val="1500"/>
            </a:pPr>
            <a:r>
              <a:rPr lang="ja-JP" altLang="en-US" sz="1400" dirty="0">
                <a:latin typeface="Meiryo"/>
                <a:ea typeface="Meiryo"/>
                <a:cs typeface="Meiryo"/>
                <a:sym typeface="Meiryo"/>
              </a:rPr>
              <a:t>友だち追加、追客に活用可能。</a:t>
            </a:r>
            <a:endParaRPr lang="en-US" altLang="ja-JP" sz="1400" dirty="0">
              <a:latin typeface="Meiryo"/>
              <a:ea typeface="Meiryo"/>
              <a:cs typeface="Meiryo"/>
              <a:sym typeface="Meiryo"/>
            </a:endParaRPr>
          </a:p>
        </p:txBody>
      </p:sp>
      <p:sp>
        <p:nvSpPr>
          <p:cNvPr id="23" name="Google Shape;178;p7"/>
          <p:cNvSpPr txBox="1"/>
          <p:nvPr/>
        </p:nvSpPr>
        <p:spPr>
          <a:xfrm>
            <a:off x="6434745" y="5014843"/>
            <a:ext cx="2338123" cy="367615"/>
          </a:xfrm>
          <a:prstGeom prst="rect">
            <a:avLst/>
          </a:prstGeom>
          <a:noFill/>
          <a:ln>
            <a:noFill/>
          </a:ln>
        </p:spPr>
        <p:txBody>
          <a:bodyPr spcFirstLastPara="1" wrap="square" lIns="150750" tIns="75350" rIns="150750" bIns="75350" anchor="t" anchorCtr="0">
            <a:spAutoFit/>
          </a:bodyPr>
          <a:lstStyle/>
          <a:p>
            <a:pPr lvl="0" algn="ctr">
              <a:buClr>
                <a:schemeClr val="dk1"/>
              </a:buClr>
              <a:buSzPts val="1500"/>
            </a:pPr>
            <a:r>
              <a:rPr lang="ja-JP" altLang="en-US" sz="1400" dirty="0">
                <a:solidFill>
                  <a:schemeClr val="tx1">
                    <a:lumMod val="50000"/>
                    <a:lumOff val="50000"/>
                  </a:schemeClr>
                </a:solidFill>
                <a:latin typeface="Meiryo"/>
                <a:ea typeface="Meiryo"/>
                <a:cs typeface="Meiryo"/>
                <a:sym typeface="Meiryo"/>
              </a:rPr>
              <a:t>事例：美容医療</a:t>
            </a:r>
            <a:endParaRPr lang="en-US" altLang="ja-JP" sz="1400" dirty="0">
              <a:solidFill>
                <a:schemeClr val="tx1">
                  <a:lumMod val="50000"/>
                  <a:lumOff val="50000"/>
                </a:schemeClr>
              </a:solidFill>
              <a:latin typeface="Meiryo"/>
              <a:ea typeface="Meiryo"/>
              <a:cs typeface="Meiryo"/>
              <a:sym typeface="Meiryo"/>
            </a:endParaRPr>
          </a:p>
        </p:txBody>
      </p:sp>
      <p:pic>
        <p:nvPicPr>
          <p:cNvPr id="4" name="図 3"/>
          <p:cNvPicPr>
            <a:picLocks noChangeAspect="1"/>
          </p:cNvPicPr>
          <p:nvPr/>
        </p:nvPicPr>
        <p:blipFill>
          <a:blip r:embed="rId3"/>
          <a:stretch>
            <a:fillRect/>
          </a:stretch>
        </p:blipFill>
        <p:spPr>
          <a:xfrm>
            <a:off x="3639325" y="2409907"/>
            <a:ext cx="2627350" cy="1492812"/>
          </a:xfrm>
          <a:prstGeom prst="rect">
            <a:avLst/>
          </a:prstGeom>
        </p:spPr>
      </p:pic>
      <p:sp>
        <p:nvSpPr>
          <p:cNvPr id="24" name="Google Shape;178;p7"/>
          <p:cNvSpPr txBox="1"/>
          <p:nvPr/>
        </p:nvSpPr>
        <p:spPr>
          <a:xfrm>
            <a:off x="440374" y="5328640"/>
            <a:ext cx="2752048" cy="890835"/>
          </a:xfrm>
          <a:prstGeom prst="rect">
            <a:avLst/>
          </a:prstGeom>
          <a:noFill/>
          <a:ln>
            <a:noFill/>
          </a:ln>
        </p:spPr>
        <p:txBody>
          <a:bodyPr spcFirstLastPara="1" wrap="square" lIns="150750" tIns="75350" rIns="150750" bIns="75350" anchor="t" anchorCtr="0">
            <a:spAutoFit/>
          </a:bodyPr>
          <a:lstStyle/>
          <a:p>
            <a:pPr lvl="0">
              <a:buClr>
                <a:schemeClr val="dk1"/>
              </a:buClr>
              <a:buSzPts val="1500"/>
            </a:pPr>
            <a:r>
              <a:rPr lang="en-US" altLang="ja-JP" sz="1200" dirty="0">
                <a:solidFill>
                  <a:schemeClr val="tx1">
                    <a:lumMod val="50000"/>
                    <a:lumOff val="50000"/>
                  </a:schemeClr>
                </a:solidFill>
                <a:latin typeface="Meiryo"/>
                <a:ea typeface="Meiryo"/>
                <a:cs typeface="Meiryo"/>
                <a:sym typeface="Meiryo"/>
              </a:rPr>
              <a:t>LP</a:t>
            </a:r>
            <a:r>
              <a:rPr lang="ja-JP" altLang="en-US" sz="1200" dirty="0">
                <a:solidFill>
                  <a:schemeClr val="tx1">
                    <a:lumMod val="50000"/>
                    <a:lumOff val="50000"/>
                  </a:schemeClr>
                </a:solidFill>
                <a:latin typeface="Meiryo"/>
                <a:ea typeface="Meiryo"/>
                <a:cs typeface="Meiryo"/>
                <a:sym typeface="Meiryo"/>
              </a:rPr>
              <a:t>離脱ユーザーに対して</a:t>
            </a:r>
            <a:endParaRPr lang="en-US" altLang="ja-JP" sz="1200" dirty="0">
              <a:solidFill>
                <a:schemeClr val="tx1">
                  <a:lumMod val="50000"/>
                  <a:lumOff val="50000"/>
                </a:schemeClr>
              </a:solidFill>
              <a:latin typeface="Meiryo"/>
              <a:ea typeface="Meiryo"/>
              <a:cs typeface="Meiryo"/>
              <a:sym typeface="Meiryo"/>
            </a:endParaRPr>
          </a:p>
          <a:p>
            <a:pPr lvl="0">
              <a:buClr>
                <a:schemeClr val="dk1"/>
              </a:buClr>
              <a:buSzPts val="1500"/>
            </a:pPr>
            <a:r>
              <a:rPr lang="en-US" altLang="ja-JP" sz="1200" dirty="0">
                <a:solidFill>
                  <a:schemeClr val="tx1">
                    <a:lumMod val="50000"/>
                    <a:lumOff val="50000"/>
                  </a:schemeClr>
                </a:solidFill>
                <a:latin typeface="Meiryo"/>
                <a:ea typeface="Meiryo"/>
                <a:cs typeface="Meiryo"/>
                <a:sym typeface="Meiryo"/>
              </a:rPr>
              <a:t>LINE</a:t>
            </a:r>
            <a:r>
              <a:rPr lang="ja-JP" altLang="en-US" sz="1200" dirty="0">
                <a:solidFill>
                  <a:schemeClr val="tx1">
                    <a:lumMod val="50000"/>
                    <a:lumOff val="50000"/>
                  </a:schemeClr>
                </a:solidFill>
                <a:latin typeface="Meiryo"/>
                <a:ea typeface="Meiryo"/>
                <a:cs typeface="Meiryo"/>
                <a:sym typeface="Meiryo"/>
              </a:rPr>
              <a:t>誘導を実施。</a:t>
            </a:r>
            <a:endParaRPr lang="en-US" altLang="ja-JP" sz="1200" dirty="0">
              <a:solidFill>
                <a:schemeClr val="tx1">
                  <a:lumMod val="50000"/>
                  <a:lumOff val="50000"/>
                </a:schemeClr>
              </a:solidFill>
              <a:latin typeface="Meiryo"/>
              <a:ea typeface="Meiryo"/>
              <a:cs typeface="Meiryo"/>
              <a:sym typeface="Meiryo"/>
            </a:endParaRPr>
          </a:p>
          <a:p>
            <a:pPr lvl="0">
              <a:buClr>
                <a:schemeClr val="dk1"/>
              </a:buClr>
              <a:buSzPts val="1500"/>
            </a:pPr>
            <a:r>
              <a:rPr lang="en-US" altLang="ja-JP" sz="1200" dirty="0">
                <a:solidFill>
                  <a:schemeClr val="tx1">
                    <a:lumMod val="50000"/>
                    <a:lumOff val="50000"/>
                  </a:schemeClr>
                </a:solidFill>
                <a:latin typeface="Meiryo"/>
                <a:ea typeface="Meiryo"/>
                <a:cs typeface="Meiryo"/>
                <a:sym typeface="Meiryo"/>
              </a:rPr>
              <a:t>LINE</a:t>
            </a:r>
            <a:r>
              <a:rPr lang="ja-JP" altLang="en-US" sz="1200" dirty="0">
                <a:solidFill>
                  <a:schemeClr val="tx1">
                    <a:lumMod val="50000"/>
                    <a:lumOff val="50000"/>
                  </a:schemeClr>
                </a:solidFill>
                <a:latin typeface="Meiryo"/>
                <a:ea typeface="Meiryo"/>
                <a:cs typeface="Meiryo"/>
                <a:sym typeface="Meiryo"/>
              </a:rPr>
              <a:t>追加から</a:t>
            </a:r>
            <a:r>
              <a:rPr lang="en-US" altLang="ja-JP" sz="1200" dirty="0">
                <a:solidFill>
                  <a:schemeClr val="tx1">
                    <a:lumMod val="50000"/>
                    <a:lumOff val="50000"/>
                  </a:schemeClr>
                </a:solidFill>
                <a:latin typeface="Meiryo"/>
                <a:ea typeface="Meiryo"/>
                <a:cs typeface="Meiryo"/>
                <a:sym typeface="Meiryo"/>
              </a:rPr>
              <a:t>20</a:t>
            </a:r>
            <a:r>
              <a:rPr lang="ja-JP" altLang="en-US" sz="1200" dirty="0">
                <a:solidFill>
                  <a:schemeClr val="tx1">
                    <a:lumMod val="50000"/>
                    <a:lumOff val="50000"/>
                  </a:schemeClr>
                </a:solidFill>
                <a:latin typeface="Meiryo"/>
                <a:ea typeface="Meiryo"/>
                <a:cs typeface="Meiryo"/>
                <a:sym typeface="Meiryo"/>
              </a:rPr>
              <a:t>％が</a:t>
            </a:r>
            <a:r>
              <a:rPr lang="en-US" altLang="ja-JP" sz="1200" dirty="0">
                <a:solidFill>
                  <a:schemeClr val="tx1">
                    <a:lumMod val="50000"/>
                    <a:lumOff val="50000"/>
                  </a:schemeClr>
                </a:solidFill>
                <a:latin typeface="Meiryo"/>
                <a:ea typeface="Meiryo"/>
                <a:cs typeface="Meiryo"/>
                <a:sym typeface="Meiryo"/>
              </a:rPr>
              <a:t>CV</a:t>
            </a:r>
          </a:p>
          <a:p>
            <a:pPr lvl="0">
              <a:buClr>
                <a:schemeClr val="dk1"/>
              </a:buClr>
              <a:buSzPts val="1500"/>
            </a:pPr>
            <a:endParaRPr lang="en-US" altLang="ja-JP" sz="1200" dirty="0">
              <a:solidFill>
                <a:schemeClr val="tx1">
                  <a:lumMod val="50000"/>
                  <a:lumOff val="50000"/>
                </a:schemeClr>
              </a:solidFill>
              <a:latin typeface="Meiryo"/>
              <a:ea typeface="Meiryo"/>
              <a:cs typeface="Meiryo"/>
              <a:sym typeface="Meiryo"/>
            </a:endParaRPr>
          </a:p>
        </p:txBody>
      </p:sp>
      <p:sp>
        <p:nvSpPr>
          <p:cNvPr id="25" name="Google Shape;178;p7"/>
          <p:cNvSpPr txBox="1"/>
          <p:nvPr/>
        </p:nvSpPr>
        <p:spPr>
          <a:xfrm>
            <a:off x="6825208" y="5328640"/>
            <a:ext cx="2851751" cy="521504"/>
          </a:xfrm>
          <a:prstGeom prst="rect">
            <a:avLst/>
          </a:prstGeom>
          <a:noFill/>
          <a:ln>
            <a:noFill/>
          </a:ln>
        </p:spPr>
        <p:txBody>
          <a:bodyPr spcFirstLastPara="1" wrap="square" lIns="150750" tIns="75350" rIns="150750" bIns="75350" anchor="t" anchorCtr="0">
            <a:spAutoFit/>
          </a:bodyPr>
          <a:lstStyle/>
          <a:p>
            <a:pPr lvl="0">
              <a:buClr>
                <a:schemeClr val="dk1"/>
              </a:buClr>
              <a:buSzPts val="1500"/>
            </a:pPr>
            <a:r>
              <a:rPr lang="ja-JP" altLang="en-US" sz="1200" dirty="0">
                <a:solidFill>
                  <a:schemeClr val="tx1">
                    <a:lumMod val="50000"/>
                    <a:lumOff val="50000"/>
                  </a:schemeClr>
                </a:solidFill>
                <a:latin typeface="Meiryo"/>
                <a:ea typeface="Meiryo"/>
                <a:cs typeface="Meiryo"/>
                <a:sym typeface="Meiryo"/>
              </a:rPr>
              <a:t>導入後友だち増加数が</a:t>
            </a:r>
            <a:r>
              <a:rPr lang="en-US" altLang="ja-JP" sz="1200" dirty="0">
                <a:solidFill>
                  <a:schemeClr val="tx1">
                    <a:lumMod val="50000"/>
                    <a:lumOff val="50000"/>
                  </a:schemeClr>
                </a:solidFill>
                <a:latin typeface="Meiryo"/>
                <a:ea typeface="Meiryo"/>
                <a:cs typeface="Meiryo"/>
                <a:sym typeface="Meiryo"/>
              </a:rPr>
              <a:t>1.5</a:t>
            </a:r>
            <a:r>
              <a:rPr lang="ja-JP" altLang="en-US" sz="1200" dirty="0">
                <a:solidFill>
                  <a:schemeClr val="tx1">
                    <a:lumMod val="50000"/>
                    <a:lumOff val="50000"/>
                  </a:schemeClr>
                </a:solidFill>
                <a:latin typeface="Meiryo"/>
                <a:ea typeface="Meiryo"/>
                <a:cs typeface="Meiryo"/>
                <a:sym typeface="Meiryo"/>
              </a:rPr>
              <a:t>倍に。</a:t>
            </a:r>
            <a:endParaRPr lang="en-US" altLang="ja-JP" sz="1200" dirty="0">
              <a:solidFill>
                <a:schemeClr val="tx1">
                  <a:lumMod val="50000"/>
                  <a:lumOff val="50000"/>
                </a:schemeClr>
              </a:solidFill>
              <a:latin typeface="Meiryo"/>
              <a:ea typeface="Meiryo"/>
              <a:cs typeface="Meiryo"/>
              <a:sym typeface="Meiryo"/>
            </a:endParaRPr>
          </a:p>
          <a:p>
            <a:pPr lvl="0">
              <a:buClr>
                <a:schemeClr val="dk1"/>
              </a:buClr>
              <a:buSzPts val="1500"/>
            </a:pPr>
            <a:r>
              <a:rPr lang="ja-JP" altLang="en-US" sz="1200" dirty="0">
                <a:solidFill>
                  <a:schemeClr val="tx1">
                    <a:lumMod val="50000"/>
                    <a:lumOff val="50000"/>
                  </a:schemeClr>
                </a:solidFill>
                <a:latin typeface="Meiryo"/>
                <a:ea typeface="Meiryo"/>
                <a:cs typeface="Meiryo"/>
                <a:sym typeface="Meiryo"/>
              </a:rPr>
              <a:t>実反響率も</a:t>
            </a:r>
            <a:r>
              <a:rPr lang="en-US" altLang="ja-JP" sz="1200" dirty="0">
                <a:solidFill>
                  <a:schemeClr val="tx1">
                    <a:lumMod val="50000"/>
                    <a:lumOff val="50000"/>
                  </a:schemeClr>
                </a:solidFill>
                <a:latin typeface="Meiryo"/>
                <a:ea typeface="Meiryo"/>
                <a:cs typeface="Meiryo"/>
                <a:sym typeface="Meiryo"/>
              </a:rPr>
              <a:t>40%</a:t>
            </a:r>
            <a:r>
              <a:rPr lang="ja-JP" altLang="en-US" sz="1200" dirty="0">
                <a:solidFill>
                  <a:schemeClr val="tx1">
                    <a:lumMod val="50000"/>
                    <a:lumOff val="50000"/>
                  </a:schemeClr>
                </a:solidFill>
                <a:latin typeface="Meiryo"/>
                <a:ea typeface="Meiryo"/>
                <a:cs typeface="Meiryo"/>
                <a:sym typeface="Meiryo"/>
              </a:rPr>
              <a:t>程度改善。</a:t>
            </a:r>
            <a:endParaRPr lang="en-US" altLang="ja-JP" sz="1200" dirty="0">
              <a:solidFill>
                <a:schemeClr val="tx1">
                  <a:lumMod val="50000"/>
                  <a:lumOff val="50000"/>
                </a:schemeClr>
              </a:solidFill>
              <a:latin typeface="Meiryo"/>
              <a:ea typeface="Meiryo"/>
              <a:cs typeface="Meiryo"/>
              <a:sym typeface="Meiryo"/>
            </a:endParaRPr>
          </a:p>
        </p:txBody>
      </p:sp>
      <p:sp>
        <p:nvSpPr>
          <p:cNvPr id="37" name="角丸四角形 8">
            <a:extLst>
              <a:ext uri="{FF2B5EF4-FFF2-40B4-BE49-F238E27FC236}">
                <a16:creationId xmlns:a16="http://schemas.microsoft.com/office/drawing/2014/main" id="{C9E1ACA7-99C2-0E6B-91F5-B9518FC16E7C}"/>
              </a:ext>
            </a:extLst>
          </p:cNvPr>
          <p:cNvSpPr/>
          <p:nvPr/>
        </p:nvSpPr>
        <p:spPr>
          <a:xfrm>
            <a:off x="3460688" y="1776142"/>
            <a:ext cx="2986322" cy="4471347"/>
          </a:xfrm>
          <a:prstGeom prst="roundRect">
            <a:avLst>
              <a:gd name="adj" fmla="val 3567"/>
            </a:avLst>
          </a:prstGeom>
          <a:solidFill>
            <a:schemeClr val="bg1">
              <a:lumMod val="95000"/>
            </a:schemeClr>
          </a:solidFill>
          <a:ln w="25400" cap="flat" cmpd="sng" algn="ctr">
            <a:solidFill>
              <a:schemeClr val="tx1">
                <a:lumMod val="50000"/>
                <a:lumOff val="50000"/>
              </a:schemeClr>
            </a:solidFill>
            <a:prstDash val="solid"/>
          </a:ln>
          <a:effectLst/>
        </p:spPr>
        <p:txBody>
          <a:bodyPr rtlCol="0" anchor="ctr"/>
          <a:lstStyle/>
          <a:p>
            <a:pPr marL="0" marR="0" lvl="0" indent="0" algn="ctr" defTabSz="914400" eaLnBrk="1" fontAlgn="auto" latinLnBrk="0" hangingPunct="1">
              <a:lnSpc>
                <a:spcPct val="100000"/>
              </a:lnSpc>
              <a:spcBef>
                <a:spcPts val="0"/>
              </a:spcBef>
              <a:spcAft>
                <a:spcPts val="0"/>
              </a:spcAft>
              <a:buClr>
                <a:srgbClr val="000000"/>
              </a:buClr>
              <a:buSzTx/>
              <a:buFont typeface="Arial"/>
              <a:buNone/>
              <a:tabLst/>
              <a:defRPr/>
            </a:pPr>
            <a:endParaRPr kumimoji="0" lang="ja-JP" altLang="en-US" sz="1400" b="0" i="0" u="none" strike="noStrike" kern="0" cap="none" spc="0" normalizeH="0" baseline="0" noProof="0">
              <a:ln>
                <a:noFill/>
              </a:ln>
              <a:solidFill>
                <a:srgbClr val="FFFFFF"/>
              </a:solidFill>
              <a:effectLst/>
              <a:uLnTx/>
              <a:uFillTx/>
              <a:latin typeface="Arial"/>
              <a:ea typeface="ＭＳ Ｐゴシック" panose="020B0600070205080204" pitchFamily="50" charset="-128"/>
              <a:cs typeface="+mn-cs"/>
              <a:sym typeface="Arial"/>
            </a:endParaRPr>
          </a:p>
        </p:txBody>
      </p:sp>
      <p:sp>
        <p:nvSpPr>
          <p:cNvPr id="38" name="Google Shape;178;p7">
            <a:extLst>
              <a:ext uri="{FF2B5EF4-FFF2-40B4-BE49-F238E27FC236}">
                <a16:creationId xmlns:a16="http://schemas.microsoft.com/office/drawing/2014/main" id="{6F13136C-FF05-A088-CA87-3ACA257BC421}"/>
              </a:ext>
            </a:extLst>
          </p:cNvPr>
          <p:cNvSpPr txBox="1"/>
          <p:nvPr/>
        </p:nvSpPr>
        <p:spPr>
          <a:xfrm>
            <a:off x="3796689" y="1949959"/>
            <a:ext cx="2314319" cy="459948"/>
          </a:xfrm>
          <a:prstGeom prst="rect">
            <a:avLst/>
          </a:prstGeom>
          <a:noFill/>
          <a:ln>
            <a:noFill/>
          </a:ln>
        </p:spPr>
        <p:txBody>
          <a:bodyPr spcFirstLastPara="1" wrap="square" lIns="150750" tIns="75350" rIns="150750" bIns="75350" anchor="t" anchorCtr="0">
            <a:spAutoFit/>
          </a:bodyPr>
          <a:lstStyle/>
          <a:p>
            <a:pPr lvl="0" algn="ctr">
              <a:buClr>
                <a:schemeClr val="dk1"/>
              </a:buClr>
              <a:buSzPts val="1500"/>
            </a:pPr>
            <a:r>
              <a:rPr lang="ja-JP" altLang="en-US" sz="2000" b="1" dirty="0">
                <a:solidFill>
                  <a:srgbClr val="002060"/>
                </a:solidFill>
                <a:latin typeface="Meiryo"/>
                <a:ea typeface="Meiryo"/>
                <a:cs typeface="Meiryo"/>
                <a:sym typeface="Meiryo"/>
              </a:rPr>
              <a:t>通知メッセージ</a:t>
            </a:r>
            <a:endParaRPr lang="en-US" altLang="ja-JP" sz="2000" b="1" dirty="0">
              <a:solidFill>
                <a:srgbClr val="002060"/>
              </a:solidFill>
              <a:latin typeface="Meiryo"/>
              <a:ea typeface="Meiryo"/>
              <a:cs typeface="Meiryo"/>
              <a:sym typeface="Meiryo"/>
            </a:endParaRPr>
          </a:p>
        </p:txBody>
      </p:sp>
      <p:sp>
        <p:nvSpPr>
          <p:cNvPr id="39" name="Google Shape;178;p7">
            <a:extLst>
              <a:ext uri="{FF2B5EF4-FFF2-40B4-BE49-F238E27FC236}">
                <a16:creationId xmlns:a16="http://schemas.microsoft.com/office/drawing/2014/main" id="{07FD580D-9A27-0246-033B-9F6EAE799E8D}"/>
              </a:ext>
            </a:extLst>
          </p:cNvPr>
          <p:cNvSpPr txBox="1"/>
          <p:nvPr/>
        </p:nvSpPr>
        <p:spPr>
          <a:xfrm>
            <a:off x="3232397" y="4068766"/>
            <a:ext cx="3501626" cy="798502"/>
          </a:xfrm>
          <a:prstGeom prst="rect">
            <a:avLst/>
          </a:prstGeom>
          <a:noFill/>
          <a:ln>
            <a:noFill/>
          </a:ln>
        </p:spPr>
        <p:txBody>
          <a:bodyPr spcFirstLastPara="1" wrap="square" lIns="150750" tIns="75350" rIns="150750" bIns="75350" anchor="t" anchorCtr="0">
            <a:spAutoFit/>
          </a:bodyPr>
          <a:lstStyle/>
          <a:p>
            <a:pPr lvl="0" algn="ctr">
              <a:buClr>
                <a:schemeClr val="dk1"/>
              </a:buClr>
              <a:buSzPts val="1500"/>
            </a:pPr>
            <a:r>
              <a:rPr lang="ja-JP" altLang="en-US" sz="1400" dirty="0">
                <a:latin typeface="Meiryo"/>
                <a:ea typeface="Meiryo"/>
                <a:cs typeface="Meiryo"/>
                <a:sym typeface="Meiryo"/>
              </a:rPr>
              <a:t>友だちではないユーザーに</a:t>
            </a:r>
            <a:endParaRPr lang="en-US" altLang="ja-JP" sz="1400" dirty="0">
              <a:latin typeface="Meiryo"/>
              <a:ea typeface="Meiryo"/>
              <a:cs typeface="Meiryo"/>
              <a:sym typeface="Meiryo"/>
            </a:endParaRPr>
          </a:p>
          <a:p>
            <a:pPr lvl="0" algn="ctr">
              <a:buClr>
                <a:schemeClr val="dk1"/>
              </a:buClr>
              <a:buSzPts val="1500"/>
            </a:pPr>
            <a:r>
              <a:rPr lang="ja-JP" altLang="en-US" sz="1400" dirty="0">
                <a:latin typeface="Meiryo"/>
                <a:ea typeface="Meiryo"/>
                <a:cs typeface="Meiryo"/>
                <a:sym typeface="Meiryo"/>
              </a:rPr>
              <a:t>対して予約完了通知などを</a:t>
            </a:r>
            <a:endParaRPr lang="en-US" altLang="ja-JP" sz="1400" dirty="0">
              <a:latin typeface="Meiryo"/>
              <a:ea typeface="Meiryo"/>
              <a:cs typeface="Meiryo"/>
              <a:sym typeface="Meiryo"/>
            </a:endParaRPr>
          </a:p>
          <a:p>
            <a:pPr lvl="0" algn="ctr">
              <a:buClr>
                <a:schemeClr val="dk1"/>
              </a:buClr>
              <a:buSzPts val="1500"/>
            </a:pPr>
            <a:r>
              <a:rPr lang="ja-JP" altLang="en-US" sz="1400" dirty="0">
                <a:latin typeface="Meiryo"/>
                <a:ea typeface="Meiryo"/>
                <a:cs typeface="Meiryo"/>
                <a:sym typeface="Meiryo"/>
              </a:rPr>
              <a:t>送り友だちを増やす。</a:t>
            </a:r>
            <a:endParaRPr lang="en-US" altLang="ja-JP" sz="1400" dirty="0">
              <a:latin typeface="Meiryo"/>
              <a:ea typeface="Meiryo"/>
              <a:cs typeface="Meiryo"/>
              <a:sym typeface="Meiryo"/>
            </a:endParaRPr>
          </a:p>
        </p:txBody>
      </p:sp>
      <p:sp>
        <p:nvSpPr>
          <p:cNvPr id="40" name="Google Shape;178;p7">
            <a:extLst>
              <a:ext uri="{FF2B5EF4-FFF2-40B4-BE49-F238E27FC236}">
                <a16:creationId xmlns:a16="http://schemas.microsoft.com/office/drawing/2014/main" id="{9F664541-9CBE-3991-FFCD-6CC51F91112E}"/>
              </a:ext>
            </a:extLst>
          </p:cNvPr>
          <p:cNvSpPr txBox="1"/>
          <p:nvPr/>
        </p:nvSpPr>
        <p:spPr>
          <a:xfrm>
            <a:off x="3232397" y="5014843"/>
            <a:ext cx="2338123" cy="367615"/>
          </a:xfrm>
          <a:prstGeom prst="rect">
            <a:avLst/>
          </a:prstGeom>
          <a:noFill/>
          <a:ln>
            <a:noFill/>
          </a:ln>
        </p:spPr>
        <p:txBody>
          <a:bodyPr spcFirstLastPara="1" wrap="square" lIns="150750" tIns="75350" rIns="150750" bIns="75350" anchor="t" anchorCtr="0">
            <a:spAutoFit/>
          </a:bodyPr>
          <a:lstStyle/>
          <a:p>
            <a:pPr lvl="0" algn="ctr">
              <a:buClr>
                <a:schemeClr val="dk1"/>
              </a:buClr>
              <a:buSzPts val="1500"/>
            </a:pPr>
            <a:r>
              <a:rPr lang="ja-JP" altLang="en-US" sz="1400" dirty="0">
                <a:solidFill>
                  <a:schemeClr val="tx1">
                    <a:lumMod val="50000"/>
                    <a:lumOff val="50000"/>
                  </a:schemeClr>
                </a:solidFill>
                <a:latin typeface="Meiryo"/>
                <a:ea typeface="Meiryo"/>
                <a:cs typeface="Meiryo"/>
                <a:sym typeface="Meiryo"/>
              </a:rPr>
              <a:t>事例：宅配ピザ</a:t>
            </a:r>
            <a:endParaRPr lang="en-US" altLang="ja-JP" sz="1400" dirty="0">
              <a:solidFill>
                <a:schemeClr val="tx1">
                  <a:lumMod val="50000"/>
                  <a:lumOff val="50000"/>
                </a:schemeClr>
              </a:solidFill>
              <a:latin typeface="Meiryo"/>
              <a:ea typeface="Meiryo"/>
              <a:cs typeface="Meiryo"/>
              <a:sym typeface="Meiryo"/>
            </a:endParaRPr>
          </a:p>
        </p:txBody>
      </p:sp>
      <p:pic>
        <p:nvPicPr>
          <p:cNvPr id="41" name="図 40">
            <a:extLst>
              <a:ext uri="{FF2B5EF4-FFF2-40B4-BE49-F238E27FC236}">
                <a16:creationId xmlns:a16="http://schemas.microsoft.com/office/drawing/2014/main" id="{EBE29AD0-3B27-DC79-2BA9-92067E227221}"/>
              </a:ext>
            </a:extLst>
          </p:cNvPr>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3968283" y="1481069"/>
            <a:ext cx="2029853" cy="3608629"/>
          </a:xfrm>
          <a:prstGeom prst="rect">
            <a:avLst/>
          </a:prstGeom>
        </p:spPr>
      </p:pic>
      <p:sp>
        <p:nvSpPr>
          <p:cNvPr id="42" name="Google Shape;178;p7">
            <a:extLst>
              <a:ext uri="{FF2B5EF4-FFF2-40B4-BE49-F238E27FC236}">
                <a16:creationId xmlns:a16="http://schemas.microsoft.com/office/drawing/2014/main" id="{D998E418-5C84-71C1-1C83-DA02AB529AF7}"/>
              </a:ext>
            </a:extLst>
          </p:cNvPr>
          <p:cNvSpPr txBox="1"/>
          <p:nvPr/>
        </p:nvSpPr>
        <p:spPr>
          <a:xfrm>
            <a:off x="3622860" y="5328640"/>
            <a:ext cx="2851751" cy="521504"/>
          </a:xfrm>
          <a:prstGeom prst="rect">
            <a:avLst/>
          </a:prstGeom>
          <a:noFill/>
          <a:ln>
            <a:noFill/>
          </a:ln>
        </p:spPr>
        <p:txBody>
          <a:bodyPr spcFirstLastPara="1" wrap="square" lIns="150750" tIns="75350" rIns="150750" bIns="75350" anchor="t" anchorCtr="0">
            <a:spAutoFit/>
          </a:bodyPr>
          <a:lstStyle/>
          <a:p>
            <a:pPr lvl="0">
              <a:buClr>
                <a:schemeClr val="dk1"/>
              </a:buClr>
              <a:buSzPts val="1500"/>
            </a:pPr>
            <a:r>
              <a:rPr lang="ja-JP" altLang="en-US" sz="1200" dirty="0">
                <a:solidFill>
                  <a:schemeClr val="tx1">
                    <a:lumMod val="50000"/>
                    <a:lumOff val="50000"/>
                  </a:schemeClr>
                </a:solidFill>
                <a:latin typeface="Meiryo"/>
                <a:ea typeface="Meiryo"/>
                <a:cs typeface="Meiryo"/>
                <a:sym typeface="Meiryo"/>
              </a:rPr>
              <a:t>通知メッセージ導入４ヶ月で</a:t>
            </a:r>
            <a:endParaRPr lang="en-US" altLang="ja-JP" sz="1200" dirty="0">
              <a:solidFill>
                <a:schemeClr val="tx1">
                  <a:lumMod val="50000"/>
                  <a:lumOff val="50000"/>
                </a:schemeClr>
              </a:solidFill>
              <a:latin typeface="Meiryo"/>
              <a:ea typeface="Meiryo"/>
              <a:cs typeface="Meiryo"/>
              <a:sym typeface="Meiryo"/>
            </a:endParaRPr>
          </a:p>
          <a:p>
            <a:pPr lvl="0">
              <a:buClr>
                <a:schemeClr val="dk1"/>
              </a:buClr>
              <a:buSzPts val="1500"/>
            </a:pPr>
            <a:r>
              <a:rPr lang="ja-JP" altLang="en-US" sz="1200" dirty="0">
                <a:solidFill>
                  <a:schemeClr val="tx1">
                    <a:lumMod val="50000"/>
                    <a:lumOff val="50000"/>
                  </a:schemeClr>
                </a:solidFill>
                <a:latin typeface="Meiryo"/>
                <a:ea typeface="Meiryo"/>
                <a:cs typeface="Meiryo"/>
                <a:sym typeface="Meiryo"/>
              </a:rPr>
              <a:t>友だち数</a:t>
            </a:r>
            <a:r>
              <a:rPr lang="en-US" altLang="ja-JP" sz="1200" dirty="0">
                <a:solidFill>
                  <a:schemeClr val="tx1">
                    <a:lumMod val="50000"/>
                    <a:lumOff val="50000"/>
                  </a:schemeClr>
                </a:solidFill>
                <a:latin typeface="Meiryo"/>
                <a:ea typeface="Meiryo"/>
                <a:cs typeface="Meiryo"/>
                <a:sym typeface="Meiryo"/>
              </a:rPr>
              <a:t>2</a:t>
            </a:r>
            <a:r>
              <a:rPr lang="ja-JP" altLang="en-US" sz="1200" dirty="0">
                <a:solidFill>
                  <a:schemeClr val="tx1">
                    <a:lumMod val="50000"/>
                    <a:lumOff val="50000"/>
                  </a:schemeClr>
                </a:solidFill>
                <a:latin typeface="Meiryo"/>
                <a:ea typeface="Meiryo"/>
                <a:cs typeface="Meiryo"/>
                <a:sym typeface="Meiryo"/>
              </a:rPr>
              <a:t>倍</a:t>
            </a:r>
            <a:endParaRPr lang="en-US" altLang="ja-JP" sz="1200" dirty="0">
              <a:solidFill>
                <a:schemeClr val="tx1">
                  <a:lumMod val="50000"/>
                  <a:lumOff val="50000"/>
                </a:schemeClr>
              </a:solidFill>
              <a:latin typeface="Meiryo"/>
              <a:ea typeface="Meiryo"/>
              <a:cs typeface="Meiryo"/>
              <a:sym typeface="Meiryo"/>
            </a:endParaRPr>
          </a:p>
        </p:txBody>
      </p:sp>
      <p:pic>
        <p:nvPicPr>
          <p:cNvPr id="1026" name="Picture 2" descr="サンクスページ インスタ無料テンプレートデザイン。イラストや ...">
            <a:extLst>
              <a:ext uri="{FF2B5EF4-FFF2-40B4-BE49-F238E27FC236}">
                <a16:creationId xmlns:a16="http://schemas.microsoft.com/office/drawing/2014/main" id="{EF2FB526-72BA-45FB-7AF8-36501049F967}"/>
              </a:ext>
            </a:extLst>
          </p:cNvPr>
          <p:cNvPicPr>
            <a:picLocks noChangeAspect="1" noChangeArrowheads="1"/>
          </p:cNvPicPr>
          <p:nvPr/>
        </p:nvPicPr>
        <p:blipFill rotWithShape="1">
          <a:blip r:embed="rId5" cstate="print">
            <a:extLst>
              <a:ext uri="{28A0092B-C50C-407E-A947-70E740481C1C}">
                <a14:useLocalDpi xmlns:a14="http://schemas.microsoft.com/office/drawing/2010/main" val="0"/>
              </a:ext>
            </a:extLst>
          </a:blip>
          <a:srcRect t="18239" b="39628"/>
          <a:stretch>
            <a:fillRect/>
          </a:stretch>
        </p:blipFill>
        <p:spPr bwMode="auto">
          <a:xfrm>
            <a:off x="7001437" y="2549254"/>
            <a:ext cx="2326770" cy="1225425"/>
          </a:xfrm>
          <a:prstGeom prst="rect">
            <a:avLst/>
          </a:prstGeom>
          <a:noFill/>
          <a:extLst>
            <a:ext uri="{909E8E84-426E-40DD-AFC4-6F175D3DCCD1}">
              <a14:hiddenFill xmlns:a14="http://schemas.microsoft.com/office/drawing/2010/main">
                <a:solidFill>
                  <a:srgbClr val="FFFFFF"/>
                </a:solidFill>
              </a14:hiddenFill>
            </a:ext>
          </a:extLst>
        </p:spPr>
      </p:pic>
      <p:sp>
        <p:nvSpPr>
          <p:cNvPr id="3" name="Google Shape;752;p28">
            <a:extLst>
              <a:ext uri="{FF2B5EF4-FFF2-40B4-BE49-F238E27FC236}">
                <a16:creationId xmlns:a16="http://schemas.microsoft.com/office/drawing/2014/main" id="{E6ACC822-B6F9-6C30-928D-BAC3D63D473A}"/>
              </a:ext>
            </a:extLst>
          </p:cNvPr>
          <p:cNvSpPr txBox="1"/>
          <p:nvPr/>
        </p:nvSpPr>
        <p:spPr>
          <a:xfrm>
            <a:off x="548883" y="138137"/>
            <a:ext cx="6276325" cy="338514"/>
          </a:xfrm>
          <a:prstGeom prst="rect">
            <a:avLst/>
          </a:prstGeom>
          <a:noFill/>
          <a:ln>
            <a:noFill/>
          </a:ln>
        </p:spPr>
        <p:txBody>
          <a:bodyPr spcFirstLastPara="1" wrap="square" lIns="91425" tIns="45700" rIns="91425" bIns="45700" anchor="ctr" anchorCtr="0">
            <a:spAutoFit/>
          </a:bodyPr>
          <a:lstStyle/>
          <a:p>
            <a:pPr lvl="0"/>
            <a:r>
              <a:rPr lang="ja-JP" altLang="en-US" sz="1600" b="1" dirty="0">
                <a:solidFill>
                  <a:srgbClr val="323366"/>
                </a:solidFill>
                <a:latin typeface="メイリオ" panose="020B0604030504040204" pitchFamily="50" charset="-128"/>
                <a:ea typeface="メイリオ" panose="020B0604030504040204" pitchFamily="50" charset="-128"/>
                <a:cs typeface="Meiryo"/>
                <a:sym typeface="Meiryo"/>
              </a:rPr>
              <a:t>提供施策について</a:t>
            </a:r>
          </a:p>
        </p:txBody>
      </p:sp>
      <p:sp>
        <p:nvSpPr>
          <p:cNvPr id="5" name="Google Shape;178;p7">
            <a:extLst>
              <a:ext uri="{FF2B5EF4-FFF2-40B4-BE49-F238E27FC236}">
                <a16:creationId xmlns:a16="http://schemas.microsoft.com/office/drawing/2014/main" id="{617CCD27-0570-5EC2-D489-ADCA03A0F721}"/>
              </a:ext>
            </a:extLst>
          </p:cNvPr>
          <p:cNvSpPr txBox="1"/>
          <p:nvPr/>
        </p:nvSpPr>
        <p:spPr>
          <a:xfrm>
            <a:off x="77003" y="943920"/>
            <a:ext cx="9751992" cy="583059"/>
          </a:xfrm>
          <a:prstGeom prst="rect">
            <a:avLst/>
          </a:prstGeom>
          <a:noFill/>
          <a:ln>
            <a:noFill/>
          </a:ln>
        </p:spPr>
        <p:txBody>
          <a:bodyPr spcFirstLastPara="1" wrap="square" lIns="150750" tIns="75350" rIns="150750" bIns="75350" anchor="t" anchorCtr="0">
            <a:spAutoFit/>
          </a:bodyPr>
          <a:lstStyle/>
          <a:p>
            <a:pPr lvl="0" algn="ctr">
              <a:buClr>
                <a:schemeClr val="dk1"/>
              </a:buClr>
              <a:buSzPts val="1500"/>
            </a:pPr>
            <a:r>
              <a:rPr lang="ja-JP" altLang="en-US" sz="1600" dirty="0">
                <a:latin typeface="Meiryo"/>
                <a:ea typeface="Meiryo"/>
                <a:cs typeface="Meiryo"/>
                <a:sym typeface="Meiryo"/>
              </a:rPr>
              <a:t>準顕在（獲得見込みが高い）層の</a:t>
            </a:r>
            <a:r>
              <a:rPr lang="ja-JP" altLang="en-US" sz="1600" b="1" dirty="0">
                <a:latin typeface="Meiryo"/>
                <a:ea typeface="Meiryo"/>
                <a:cs typeface="Meiryo"/>
                <a:sym typeface="Meiryo"/>
              </a:rPr>
              <a:t>独自獲得手法が豊富</a:t>
            </a:r>
            <a:r>
              <a:rPr lang="ja-JP" altLang="en-US" sz="1600" dirty="0">
                <a:latin typeface="Meiryo"/>
                <a:ea typeface="Meiryo"/>
                <a:cs typeface="Meiryo"/>
                <a:sym typeface="Meiryo"/>
              </a:rPr>
              <a:t>で、尚且つ</a:t>
            </a:r>
            <a:r>
              <a:rPr lang="ja-JP" altLang="en-US" sz="1600" b="1" dirty="0">
                <a:latin typeface="Meiryo"/>
                <a:ea typeface="Meiryo"/>
                <a:cs typeface="Meiryo"/>
                <a:sym typeface="Meiryo"/>
              </a:rPr>
              <a:t>面談・就業までナーチャリングが可能</a:t>
            </a:r>
            <a:endParaRPr lang="en-US" altLang="ja-JP" sz="1600" b="1" dirty="0">
              <a:latin typeface="Meiryo"/>
              <a:ea typeface="Meiryo"/>
              <a:cs typeface="Meiryo"/>
              <a:sym typeface="Meiryo"/>
            </a:endParaRPr>
          </a:p>
          <a:p>
            <a:pPr lvl="0" algn="ctr">
              <a:buClr>
                <a:schemeClr val="dk1"/>
              </a:buClr>
              <a:buSzPts val="1500"/>
            </a:pPr>
            <a:r>
              <a:rPr lang="en-US" altLang="ja-JP" sz="1100" dirty="0">
                <a:solidFill>
                  <a:srgbClr val="FF0000"/>
                </a:solidFill>
                <a:latin typeface="Meiryo"/>
                <a:ea typeface="Meiryo"/>
                <a:cs typeface="Meiryo"/>
                <a:sym typeface="Meiryo"/>
              </a:rPr>
              <a:t>※</a:t>
            </a:r>
            <a:r>
              <a:rPr lang="ja-JP" altLang="en-US" sz="1100" dirty="0">
                <a:solidFill>
                  <a:srgbClr val="FF0000"/>
                </a:solidFill>
                <a:latin typeface="Meiryo"/>
                <a:ea typeface="Meiryo"/>
                <a:cs typeface="Meiryo"/>
                <a:sym typeface="Meiryo"/>
              </a:rPr>
              <a:t>実施想定の友だち追加動線について、★を記載しております。</a:t>
            </a:r>
            <a:endParaRPr lang="en-US" altLang="ja-JP" sz="1600" dirty="0">
              <a:solidFill>
                <a:srgbClr val="FF0000"/>
              </a:solidFill>
              <a:latin typeface="Meiryo"/>
              <a:ea typeface="Meiryo"/>
              <a:cs typeface="Meiryo"/>
              <a:sym typeface="Meiryo"/>
            </a:endParaRPr>
          </a:p>
        </p:txBody>
      </p:sp>
      <p:sp>
        <p:nvSpPr>
          <p:cNvPr id="6" name="星: 5 pt 5">
            <a:extLst>
              <a:ext uri="{FF2B5EF4-FFF2-40B4-BE49-F238E27FC236}">
                <a16:creationId xmlns:a16="http://schemas.microsoft.com/office/drawing/2014/main" id="{73AA3FF7-ED61-B641-763C-E4940D075F39}"/>
              </a:ext>
            </a:extLst>
          </p:cNvPr>
          <p:cNvSpPr/>
          <p:nvPr/>
        </p:nvSpPr>
        <p:spPr>
          <a:xfrm>
            <a:off x="2749464" y="1706924"/>
            <a:ext cx="540000" cy="540000"/>
          </a:xfrm>
          <a:prstGeom prst="star5">
            <a:avLst>
              <a:gd name="adj" fmla="val 32226"/>
              <a:gd name="hf" fmla="val 105146"/>
              <a:gd name="vf" fmla="val 110557"/>
            </a:avLst>
          </a:prstGeom>
          <a:solidFill>
            <a:srgbClr val="FFC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sp>
        <p:nvSpPr>
          <p:cNvPr id="15" name="星: 5 pt 14">
            <a:extLst>
              <a:ext uri="{FF2B5EF4-FFF2-40B4-BE49-F238E27FC236}">
                <a16:creationId xmlns:a16="http://schemas.microsoft.com/office/drawing/2014/main" id="{E7B29608-5299-2165-6DD5-597E992E7B04}"/>
              </a:ext>
            </a:extLst>
          </p:cNvPr>
          <p:cNvSpPr/>
          <p:nvPr/>
        </p:nvSpPr>
        <p:spPr>
          <a:xfrm>
            <a:off x="9252865" y="1672104"/>
            <a:ext cx="540000" cy="540000"/>
          </a:xfrm>
          <a:prstGeom prst="star5">
            <a:avLst>
              <a:gd name="adj" fmla="val 32226"/>
              <a:gd name="hf" fmla="val 105146"/>
              <a:gd name="vf" fmla="val 110557"/>
            </a:avLst>
          </a:prstGeom>
          <a:solidFill>
            <a:srgbClr val="FFC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spTree>
    <p:extLst>
      <p:ext uri="{BB962C8B-B14F-4D97-AF65-F5344CB8AC3E}">
        <p14:creationId xmlns:p14="http://schemas.microsoft.com/office/powerpoint/2010/main" val="3000134590"/>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2975156-99A2-3647-6F9D-3BD80C596EF5}"/>
            </a:ext>
          </a:extLst>
        </p:cNvPr>
        <p:cNvGrpSpPr/>
        <p:nvPr/>
      </p:nvGrpSpPr>
      <p:grpSpPr>
        <a:xfrm>
          <a:off x="0" y="0"/>
          <a:ext cx="0" cy="0"/>
          <a:chOff x="0" y="0"/>
          <a:chExt cx="0" cy="0"/>
        </a:xfrm>
      </p:grpSpPr>
      <p:sp>
        <p:nvSpPr>
          <p:cNvPr id="22" name="Google Shape;752;p28">
            <a:extLst>
              <a:ext uri="{FF2B5EF4-FFF2-40B4-BE49-F238E27FC236}">
                <a16:creationId xmlns:a16="http://schemas.microsoft.com/office/drawing/2014/main" id="{AB249BA1-EB38-DDA6-8221-FC109239C49F}"/>
              </a:ext>
            </a:extLst>
          </p:cNvPr>
          <p:cNvSpPr txBox="1"/>
          <p:nvPr/>
        </p:nvSpPr>
        <p:spPr>
          <a:xfrm>
            <a:off x="548883" y="138138"/>
            <a:ext cx="6276325" cy="338514"/>
          </a:xfrm>
          <a:prstGeom prst="rect">
            <a:avLst/>
          </a:prstGeom>
          <a:noFill/>
          <a:ln>
            <a:noFill/>
          </a:ln>
        </p:spPr>
        <p:txBody>
          <a:bodyPr spcFirstLastPara="1" wrap="square" lIns="91425" tIns="45700" rIns="91425" bIns="45700" anchor="ctr" anchorCtr="0">
            <a:spAutoFit/>
          </a:bodyPr>
          <a:lstStyle/>
          <a:p>
            <a:pPr lvl="0"/>
            <a:r>
              <a:rPr lang="ja-JP" altLang="en-US" sz="1600" b="1" dirty="0">
                <a:solidFill>
                  <a:srgbClr val="002060"/>
                </a:solidFill>
                <a:latin typeface="Meiryo"/>
                <a:ea typeface="Meiryo"/>
                <a:cs typeface="Meiryo"/>
                <a:sym typeface="Meiryo"/>
              </a:rPr>
              <a:t>新規友だちの追加</a:t>
            </a:r>
            <a:r>
              <a:rPr lang="ja-JP" altLang="en-US" sz="1600" b="1" dirty="0">
                <a:solidFill>
                  <a:srgbClr val="323366"/>
                </a:solidFill>
                <a:latin typeface="メイリオ" panose="020B0604030504040204" pitchFamily="50" charset="-128"/>
                <a:ea typeface="メイリオ" panose="020B0604030504040204" pitchFamily="50" charset="-128"/>
                <a:cs typeface="Meiryo"/>
                <a:sym typeface="Meiryo"/>
              </a:rPr>
              <a:t>（ポップアップ </a:t>
            </a:r>
            <a:r>
              <a:rPr lang="en-US" altLang="ja-JP" sz="1600" b="1" dirty="0">
                <a:solidFill>
                  <a:srgbClr val="323366"/>
                </a:solidFill>
                <a:latin typeface="メイリオ" panose="020B0604030504040204" pitchFamily="50" charset="-128"/>
                <a:ea typeface="メイリオ" panose="020B0604030504040204" pitchFamily="50" charset="-128"/>
                <a:cs typeface="Meiryo"/>
                <a:sym typeface="Meiryo"/>
              </a:rPr>
              <a:t>/ </a:t>
            </a:r>
            <a:r>
              <a:rPr lang="ja-JP" altLang="en-US" sz="1600" b="1" dirty="0">
                <a:solidFill>
                  <a:srgbClr val="323366"/>
                </a:solidFill>
                <a:latin typeface="メイリオ" panose="020B0604030504040204" pitchFamily="50" charset="-128"/>
                <a:ea typeface="メイリオ" panose="020B0604030504040204" pitchFamily="50" charset="-128"/>
                <a:cs typeface="Meiryo"/>
                <a:sym typeface="Meiryo"/>
              </a:rPr>
              <a:t>離脱防止）</a:t>
            </a:r>
          </a:p>
        </p:txBody>
      </p:sp>
      <p:grpSp>
        <p:nvGrpSpPr>
          <p:cNvPr id="3" name="グループ化 2">
            <a:extLst>
              <a:ext uri="{FF2B5EF4-FFF2-40B4-BE49-F238E27FC236}">
                <a16:creationId xmlns:a16="http://schemas.microsoft.com/office/drawing/2014/main" id="{EA805D6F-0719-17C7-4E97-2705F1D9A93C}"/>
              </a:ext>
            </a:extLst>
          </p:cNvPr>
          <p:cNvGrpSpPr/>
          <p:nvPr/>
        </p:nvGrpSpPr>
        <p:grpSpPr>
          <a:xfrm>
            <a:off x="543398" y="777681"/>
            <a:ext cx="3105325" cy="485102"/>
            <a:chOff x="507969" y="928495"/>
            <a:chExt cx="3105325" cy="485102"/>
          </a:xfrm>
        </p:grpSpPr>
        <p:sp>
          <p:nvSpPr>
            <p:cNvPr id="4" name="Google Shape;51;p19">
              <a:extLst>
                <a:ext uri="{FF2B5EF4-FFF2-40B4-BE49-F238E27FC236}">
                  <a16:creationId xmlns:a16="http://schemas.microsoft.com/office/drawing/2014/main" id="{0895EF17-7734-EE92-7BF3-5B0ADCDC65B8}"/>
                </a:ext>
              </a:extLst>
            </p:cNvPr>
            <p:cNvSpPr/>
            <p:nvPr/>
          </p:nvSpPr>
          <p:spPr>
            <a:xfrm>
              <a:off x="507969" y="928495"/>
              <a:ext cx="3105325" cy="485102"/>
            </a:xfrm>
            <a:prstGeom prst="roundRect">
              <a:avLst>
                <a:gd name="adj" fmla="val 16667"/>
              </a:avLst>
            </a:prstGeom>
            <a:solidFill>
              <a:schemeClr val="dk1"/>
            </a:solidFill>
            <a:ln>
              <a:noFill/>
            </a:ln>
          </p:spPr>
          <p:txBody>
            <a:bodyPr spcFirstLastPara="1" wrap="square" lIns="91425" tIns="45700" rIns="91425" bIns="45700" anchor="ctr"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marL="0" marR="0" lvl="0" indent="0" algn="ctr" rtl="0">
                <a:lnSpc>
                  <a:spcPct val="100000"/>
                </a:lnSpc>
                <a:spcBef>
                  <a:spcPts val="0"/>
                </a:spcBef>
                <a:spcAft>
                  <a:spcPts val="0"/>
                </a:spcAft>
                <a:buClr>
                  <a:srgbClr val="000000"/>
                </a:buClr>
                <a:buSzPts val="1400"/>
                <a:buFont typeface="Arial"/>
                <a:buNone/>
              </a:pPr>
              <a:endParaRPr sz="1400" b="1" i="0" u="none" strike="noStrike" cap="none" dirty="0">
                <a:solidFill>
                  <a:schemeClr val="lt1"/>
                </a:solidFill>
                <a:latin typeface="Meiryo"/>
                <a:ea typeface="Meiryo"/>
                <a:cs typeface="Meiryo"/>
                <a:sym typeface="Meiryo"/>
              </a:endParaRPr>
            </a:p>
          </p:txBody>
        </p:sp>
        <p:sp>
          <p:nvSpPr>
            <p:cNvPr id="5" name="テキスト ボックス 4">
              <a:extLst>
                <a:ext uri="{FF2B5EF4-FFF2-40B4-BE49-F238E27FC236}">
                  <a16:creationId xmlns:a16="http://schemas.microsoft.com/office/drawing/2014/main" id="{23AD98A9-882F-05AA-BB4E-3FB88AAA7C20}"/>
                </a:ext>
              </a:extLst>
            </p:cNvPr>
            <p:cNvSpPr txBox="1"/>
            <p:nvPr/>
          </p:nvSpPr>
          <p:spPr>
            <a:xfrm>
              <a:off x="687498" y="938979"/>
              <a:ext cx="2746265" cy="357790"/>
            </a:xfrm>
            <a:prstGeom prst="rect">
              <a:avLst/>
            </a:prstGeom>
            <a:noFill/>
          </p:spPr>
          <p:txBody>
            <a:bodyPr wrap="none" rtlCol="0">
              <a:sp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a:lnSpc>
                  <a:spcPct val="120000"/>
                </a:lnSpc>
              </a:pPr>
              <a:r>
                <a:rPr kumimoji="1" lang="ja-JP" altLang="en-US" sz="1500" b="1" dirty="0">
                  <a:solidFill>
                    <a:schemeClr val="bg1"/>
                  </a:solidFill>
                  <a:latin typeface="Meiryo" panose="020B0604030504040204" pitchFamily="34" charset="-128"/>
                  <a:ea typeface="Meiryo" panose="020B0604030504040204" pitchFamily="34" charset="-128"/>
                </a:rPr>
                <a:t>ポップアップ</a:t>
              </a:r>
              <a:r>
                <a:rPr kumimoji="1" lang="en-US" altLang="ja-JP" sz="1500" b="1" dirty="0">
                  <a:solidFill>
                    <a:schemeClr val="bg1"/>
                  </a:solidFill>
                  <a:latin typeface="Meiryo" panose="020B0604030504040204" pitchFamily="34" charset="-128"/>
                  <a:ea typeface="Meiryo" panose="020B0604030504040204" pitchFamily="34" charset="-128"/>
                </a:rPr>
                <a:t>(</a:t>
              </a:r>
              <a:r>
                <a:rPr kumimoji="1" lang="ja-JP" altLang="en-US" sz="1500" b="1" dirty="0">
                  <a:solidFill>
                    <a:schemeClr val="bg1"/>
                  </a:solidFill>
                  <a:latin typeface="Meiryo" panose="020B0604030504040204" pitchFamily="34" charset="-128"/>
                  <a:ea typeface="Meiryo" panose="020B0604030504040204" pitchFamily="34" charset="-128"/>
                </a:rPr>
                <a:t>離脱防止 など</a:t>
              </a:r>
              <a:r>
                <a:rPr kumimoji="1" lang="en-US" altLang="ja-JP" sz="1500" b="1" dirty="0">
                  <a:solidFill>
                    <a:schemeClr val="bg1"/>
                  </a:solidFill>
                  <a:latin typeface="Meiryo" panose="020B0604030504040204" pitchFamily="34" charset="-128"/>
                  <a:ea typeface="Meiryo" panose="020B0604030504040204" pitchFamily="34" charset="-128"/>
                </a:rPr>
                <a:t>)</a:t>
              </a:r>
              <a:endParaRPr kumimoji="1" lang="ja-JP" altLang="en-US" sz="1500" b="1" dirty="0">
                <a:solidFill>
                  <a:schemeClr val="bg1"/>
                </a:solidFill>
                <a:latin typeface="Meiryo" panose="020B0604030504040204" pitchFamily="34" charset="-128"/>
                <a:ea typeface="Meiryo" panose="020B0604030504040204" pitchFamily="34" charset="-128"/>
              </a:endParaRPr>
            </a:p>
          </p:txBody>
        </p:sp>
      </p:grpSp>
      <p:sp>
        <p:nvSpPr>
          <p:cNvPr id="8" name="正方形/長方形 7">
            <a:extLst>
              <a:ext uri="{FF2B5EF4-FFF2-40B4-BE49-F238E27FC236}">
                <a16:creationId xmlns:a16="http://schemas.microsoft.com/office/drawing/2014/main" id="{EB668975-CA29-64DD-88DF-17EAAC94AE34}"/>
              </a:ext>
            </a:extLst>
          </p:cNvPr>
          <p:cNvSpPr/>
          <p:nvPr/>
        </p:nvSpPr>
        <p:spPr>
          <a:xfrm>
            <a:off x="3806311" y="788165"/>
            <a:ext cx="5880088" cy="584775"/>
          </a:xfrm>
          <a:prstGeom prst="rect">
            <a:avLst/>
          </a:prstGeom>
        </p:spPr>
        <p:txBody>
          <a:bodyPr wrap="square">
            <a:spAutoFit/>
          </a:bodyPr>
          <a:lstStyle/>
          <a:p>
            <a:pPr lvl="0" algn="ctr">
              <a:buClr>
                <a:schemeClr val="dk1"/>
              </a:buClr>
              <a:buSzPts val="1500"/>
            </a:pPr>
            <a:r>
              <a:rPr lang="en-US" altLang="ja-JP" sz="1600" dirty="0">
                <a:latin typeface="Meiryo"/>
                <a:ea typeface="Meiryo"/>
                <a:cs typeface="Meiryo"/>
                <a:sym typeface="Meiryo"/>
              </a:rPr>
              <a:t>WEB</a:t>
            </a:r>
            <a:r>
              <a:rPr lang="ja-JP" altLang="en-US" sz="1600" dirty="0">
                <a:latin typeface="Meiryo"/>
                <a:ea typeface="Meiryo"/>
                <a:cs typeface="Meiryo"/>
                <a:sym typeface="Meiryo"/>
              </a:rPr>
              <a:t>サイト上の特定アクションを起こしたユーザーに対して</a:t>
            </a:r>
            <a:endParaRPr lang="en-US" altLang="ja-JP" sz="1600" dirty="0">
              <a:latin typeface="Meiryo"/>
              <a:ea typeface="Meiryo"/>
              <a:cs typeface="Meiryo"/>
              <a:sym typeface="Meiryo"/>
            </a:endParaRPr>
          </a:p>
          <a:p>
            <a:pPr lvl="0" algn="ctr">
              <a:buClr>
                <a:schemeClr val="dk1"/>
              </a:buClr>
              <a:buSzPts val="1500"/>
            </a:pPr>
            <a:r>
              <a:rPr lang="ja-JP" altLang="en-US" sz="1600" dirty="0">
                <a:latin typeface="Meiryo"/>
                <a:ea typeface="Meiryo"/>
                <a:cs typeface="Meiryo"/>
                <a:sym typeface="Meiryo"/>
              </a:rPr>
              <a:t>ポップアップの形で</a:t>
            </a:r>
            <a:r>
              <a:rPr lang="en-US" altLang="ja-JP" sz="1600" dirty="0">
                <a:latin typeface="Meiryo"/>
                <a:ea typeface="Meiryo"/>
                <a:cs typeface="Meiryo"/>
                <a:sym typeface="Meiryo"/>
              </a:rPr>
              <a:t>LINE</a:t>
            </a:r>
            <a:r>
              <a:rPr lang="ja-JP" altLang="en-US" sz="1600" dirty="0">
                <a:latin typeface="Meiryo"/>
                <a:ea typeface="Meiryo"/>
                <a:cs typeface="Meiryo"/>
                <a:sym typeface="Meiryo"/>
              </a:rPr>
              <a:t>誘導の動線を提示。</a:t>
            </a:r>
          </a:p>
        </p:txBody>
      </p:sp>
      <p:pic>
        <p:nvPicPr>
          <p:cNvPr id="6" name="図 5">
            <a:extLst>
              <a:ext uri="{FF2B5EF4-FFF2-40B4-BE49-F238E27FC236}">
                <a16:creationId xmlns:a16="http://schemas.microsoft.com/office/drawing/2014/main" id="{4BC18E84-0DF3-01E6-D82D-0A9DCD2D5F30}"/>
              </a:ext>
            </a:extLst>
          </p:cNvPr>
          <p:cNvPicPr>
            <a:picLocks noChangeAspect="1"/>
          </p:cNvPicPr>
          <p:nvPr/>
        </p:nvPicPr>
        <p:blipFill>
          <a:blip r:embed="rId2"/>
          <a:stretch>
            <a:fillRect/>
          </a:stretch>
        </p:blipFill>
        <p:spPr>
          <a:xfrm>
            <a:off x="5764329" y="2258734"/>
            <a:ext cx="1524677" cy="3096752"/>
          </a:xfrm>
          <a:prstGeom prst="rect">
            <a:avLst/>
          </a:prstGeom>
        </p:spPr>
      </p:pic>
      <p:sp>
        <p:nvSpPr>
          <p:cNvPr id="9" name="テキスト ボックス 8">
            <a:extLst>
              <a:ext uri="{FF2B5EF4-FFF2-40B4-BE49-F238E27FC236}">
                <a16:creationId xmlns:a16="http://schemas.microsoft.com/office/drawing/2014/main" id="{10FACA28-BE3D-80E4-091C-39F6141694C7}"/>
              </a:ext>
            </a:extLst>
          </p:cNvPr>
          <p:cNvSpPr txBox="1"/>
          <p:nvPr/>
        </p:nvSpPr>
        <p:spPr>
          <a:xfrm>
            <a:off x="5214938" y="1372940"/>
            <a:ext cx="4148137" cy="261610"/>
          </a:xfrm>
          <a:prstGeom prst="rect">
            <a:avLst/>
          </a:prstGeom>
          <a:noFill/>
        </p:spPr>
        <p:txBody>
          <a:bodyPr wrap="square">
            <a:spAutoFit/>
          </a:bodyPr>
          <a:lstStyle/>
          <a:p>
            <a:r>
              <a:rPr lang="en-US" altLang="ja-JP" sz="1050" dirty="0">
                <a:solidFill>
                  <a:srgbClr val="FF0000"/>
                </a:solidFill>
                <a:latin typeface="Meiryo"/>
                <a:ea typeface="Meiryo"/>
                <a:cs typeface="Meiryo"/>
                <a:sym typeface="Meiryo"/>
              </a:rPr>
              <a:t>LINE</a:t>
            </a:r>
            <a:r>
              <a:rPr lang="ja-JP" altLang="en-US" sz="1050" dirty="0">
                <a:solidFill>
                  <a:srgbClr val="FF0000"/>
                </a:solidFill>
                <a:latin typeface="Meiryo"/>
                <a:ea typeface="Meiryo"/>
                <a:cs typeface="Meiryo"/>
                <a:sym typeface="Meiryo"/>
              </a:rPr>
              <a:t>以外の注力動線への誘導も同バナーから実施が可能です。</a:t>
            </a:r>
            <a:endParaRPr lang="ja-JP" altLang="en-US" sz="1050" dirty="0">
              <a:solidFill>
                <a:srgbClr val="FF0000"/>
              </a:solidFill>
            </a:endParaRPr>
          </a:p>
        </p:txBody>
      </p:sp>
      <p:pic>
        <p:nvPicPr>
          <p:cNvPr id="11" name="図 10">
            <a:extLst>
              <a:ext uri="{FF2B5EF4-FFF2-40B4-BE49-F238E27FC236}">
                <a16:creationId xmlns:a16="http://schemas.microsoft.com/office/drawing/2014/main" id="{FC908A63-1EE8-A605-1D4F-460FED9442AA}"/>
              </a:ext>
            </a:extLst>
          </p:cNvPr>
          <p:cNvPicPr>
            <a:picLocks noChangeAspect="1"/>
          </p:cNvPicPr>
          <p:nvPr/>
        </p:nvPicPr>
        <p:blipFill>
          <a:blip r:embed="rId2"/>
          <a:stretch>
            <a:fillRect/>
          </a:stretch>
        </p:blipFill>
        <p:spPr>
          <a:xfrm>
            <a:off x="8032877" y="2846109"/>
            <a:ext cx="1524677" cy="3096752"/>
          </a:xfrm>
          <a:prstGeom prst="rect">
            <a:avLst/>
          </a:prstGeom>
        </p:spPr>
      </p:pic>
      <p:sp>
        <p:nvSpPr>
          <p:cNvPr id="12" name="矢印: 右 11">
            <a:extLst>
              <a:ext uri="{FF2B5EF4-FFF2-40B4-BE49-F238E27FC236}">
                <a16:creationId xmlns:a16="http://schemas.microsoft.com/office/drawing/2014/main" id="{C5B2A6E8-796B-963F-0A04-9B9D1A36ADF0}"/>
              </a:ext>
            </a:extLst>
          </p:cNvPr>
          <p:cNvSpPr/>
          <p:nvPr/>
        </p:nvSpPr>
        <p:spPr>
          <a:xfrm>
            <a:off x="7373222" y="3359435"/>
            <a:ext cx="571500" cy="619125"/>
          </a:xfrm>
          <a:prstGeom prst="rightArrow">
            <a:avLst>
              <a:gd name="adj1" fmla="val 64359"/>
              <a:gd name="adj2" fmla="val 50000"/>
            </a:avLst>
          </a:prstGeom>
          <a:solidFill>
            <a:schemeClr val="tx2">
              <a:lumMod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3" name="正方形/長方形 12">
            <a:extLst>
              <a:ext uri="{FF2B5EF4-FFF2-40B4-BE49-F238E27FC236}">
                <a16:creationId xmlns:a16="http://schemas.microsoft.com/office/drawing/2014/main" id="{DB49FAB7-0FB8-4D5F-CF13-A19BBA28C8C7}"/>
              </a:ext>
            </a:extLst>
          </p:cNvPr>
          <p:cNvSpPr/>
          <p:nvPr/>
        </p:nvSpPr>
        <p:spPr>
          <a:xfrm>
            <a:off x="8117093" y="3057525"/>
            <a:ext cx="1371145" cy="2585494"/>
          </a:xfrm>
          <a:prstGeom prst="rect">
            <a:avLst/>
          </a:prstGeom>
          <a:solidFill>
            <a:schemeClr val="tx1">
              <a:lumMod val="75000"/>
              <a:lumOff val="25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5" name="Google Shape;51;p19">
            <a:extLst>
              <a:ext uri="{FF2B5EF4-FFF2-40B4-BE49-F238E27FC236}">
                <a16:creationId xmlns:a16="http://schemas.microsoft.com/office/drawing/2014/main" id="{1B34220E-1DA3-AC59-C2DE-15AB3320AC1C}"/>
              </a:ext>
            </a:extLst>
          </p:cNvPr>
          <p:cNvSpPr/>
          <p:nvPr/>
        </p:nvSpPr>
        <p:spPr>
          <a:xfrm>
            <a:off x="543399" y="1321261"/>
            <a:ext cx="1510826" cy="485102"/>
          </a:xfrm>
          <a:prstGeom prst="roundRect">
            <a:avLst>
              <a:gd name="adj" fmla="val 16667"/>
            </a:avLst>
          </a:prstGeom>
          <a:solidFill>
            <a:schemeClr val="tx2"/>
          </a:solidFill>
          <a:ln>
            <a:noFill/>
          </a:ln>
        </p:spPr>
        <p:txBody>
          <a:bodyPr spcFirstLastPara="1" wrap="square" lIns="91425" tIns="45700" rIns="91425" bIns="45700" anchor="ctr"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marL="0" marR="0" lvl="0" indent="0" algn="ctr" rtl="0">
              <a:lnSpc>
                <a:spcPct val="100000"/>
              </a:lnSpc>
              <a:spcBef>
                <a:spcPts val="0"/>
              </a:spcBef>
              <a:spcAft>
                <a:spcPts val="0"/>
              </a:spcAft>
              <a:buClr>
                <a:srgbClr val="000000"/>
              </a:buClr>
              <a:buSzPts val="1400"/>
              <a:buFont typeface="Arial"/>
              <a:buNone/>
            </a:pPr>
            <a:r>
              <a:rPr lang="ja-JP" altLang="en-US" sz="1400" b="1" i="0" u="none" strike="noStrike" cap="none" dirty="0">
                <a:solidFill>
                  <a:schemeClr val="lt1"/>
                </a:solidFill>
                <a:latin typeface="Meiryo"/>
                <a:ea typeface="Meiryo"/>
                <a:cs typeface="Meiryo"/>
                <a:sym typeface="Meiryo"/>
              </a:rPr>
              <a:t>初期：</a:t>
            </a:r>
            <a:r>
              <a:rPr lang="en-US" altLang="ja-JP" sz="1400" b="1" i="0" u="none" strike="noStrike" cap="none" dirty="0">
                <a:solidFill>
                  <a:schemeClr val="lt1"/>
                </a:solidFill>
                <a:latin typeface="Meiryo"/>
                <a:ea typeface="Meiryo"/>
                <a:cs typeface="Meiryo"/>
                <a:sym typeface="Meiryo"/>
              </a:rPr>
              <a:t>1.5</a:t>
            </a:r>
            <a:r>
              <a:rPr lang="ja-JP" altLang="en-US" sz="1400" b="1" i="0" u="none" strike="noStrike" cap="none" dirty="0">
                <a:solidFill>
                  <a:schemeClr val="lt1"/>
                </a:solidFill>
                <a:latin typeface="Meiryo"/>
                <a:ea typeface="Meiryo"/>
                <a:cs typeface="Meiryo"/>
                <a:sym typeface="Meiryo"/>
              </a:rPr>
              <a:t>万円</a:t>
            </a:r>
            <a:endParaRPr sz="1400" b="1" i="0" u="none" strike="noStrike" cap="none" dirty="0">
              <a:solidFill>
                <a:schemeClr val="lt1"/>
              </a:solidFill>
              <a:latin typeface="Meiryo"/>
              <a:ea typeface="Meiryo"/>
              <a:cs typeface="Meiryo"/>
              <a:sym typeface="Meiryo"/>
            </a:endParaRPr>
          </a:p>
        </p:txBody>
      </p:sp>
      <p:sp>
        <p:nvSpPr>
          <p:cNvPr id="17" name="Google Shape;51;p19">
            <a:extLst>
              <a:ext uri="{FF2B5EF4-FFF2-40B4-BE49-F238E27FC236}">
                <a16:creationId xmlns:a16="http://schemas.microsoft.com/office/drawing/2014/main" id="{EBA2E7AC-5299-C000-0A43-CCF8CE458AAF}"/>
              </a:ext>
            </a:extLst>
          </p:cNvPr>
          <p:cNvSpPr/>
          <p:nvPr/>
        </p:nvSpPr>
        <p:spPr>
          <a:xfrm>
            <a:off x="2137897" y="1321261"/>
            <a:ext cx="1510826" cy="485102"/>
          </a:xfrm>
          <a:prstGeom prst="roundRect">
            <a:avLst>
              <a:gd name="adj" fmla="val 16667"/>
            </a:avLst>
          </a:prstGeom>
          <a:solidFill>
            <a:schemeClr val="tx2"/>
          </a:solidFill>
          <a:ln>
            <a:noFill/>
          </a:ln>
        </p:spPr>
        <p:txBody>
          <a:bodyPr spcFirstLastPara="1" wrap="square" lIns="91425" tIns="45700" rIns="91425" bIns="45700" anchor="ctr"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marL="0" marR="0" lvl="0" indent="0" algn="ctr" rtl="0">
              <a:lnSpc>
                <a:spcPct val="100000"/>
              </a:lnSpc>
              <a:spcBef>
                <a:spcPts val="0"/>
              </a:spcBef>
              <a:spcAft>
                <a:spcPts val="0"/>
              </a:spcAft>
              <a:buClr>
                <a:srgbClr val="000000"/>
              </a:buClr>
              <a:buSzPts val="1400"/>
              <a:buFont typeface="Arial"/>
              <a:buNone/>
            </a:pPr>
            <a:r>
              <a:rPr lang="ja-JP" altLang="en-US" sz="1400" b="1" i="0" u="none" strike="noStrike" cap="none" dirty="0">
                <a:solidFill>
                  <a:schemeClr val="lt1"/>
                </a:solidFill>
                <a:latin typeface="Meiryo"/>
                <a:ea typeface="Meiryo"/>
                <a:cs typeface="Meiryo"/>
                <a:sym typeface="Meiryo"/>
              </a:rPr>
              <a:t>月額</a:t>
            </a:r>
            <a:r>
              <a:rPr lang="en-US" altLang="ja-JP" sz="1400" b="1" i="0" u="none" strike="noStrike" cap="none" dirty="0">
                <a:solidFill>
                  <a:schemeClr val="lt1"/>
                </a:solidFill>
                <a:latin typeface="Meiryo"/>
                <a:ea typeface="Meiryo"/>
                <a:cs typeface="Meiryo"/>
                <a:sym typeface="Meiryo"/>
              </a:rPr>
              <a:t>3</a:t>
            </a:r>
            <a:r>
              <a:rPr lang="ja-JP" altLang="en-US" sz="1400" b="1" i="0" u="none" strike="noStrike" cap="none" dirty="0">
                <a:solidFill>
                  <a:schemeClr val="lt1"/>
                </a:solidFill>
                <a:latin typeface="Meiryo"/>
                <a:ea typeface="Meiryo"/>
                <a:cs typeface="Meiryo"/>
                <a:sym typeface="Meiryo"/>
              </a:rPr>
              <a:t>万円</a:t>
            </a:r>
            <a:endParaRPr sz="1400" b="1" i="0" u="none" strike="noStrike" cap="none" dirty="0">
              <a:solidFill>
                <a:schemeClr val="lt1"/>
              </a:solidFill>
              <a:latin typeface="Meiryo"/>
              <a:ea typeface="Meiryo"/>
              <a:cs typeface="Meiryo"/>
              <a:sym typeface="Meiryo"/>
            </a:endParaRPr>
          </a:p>
        </p:txBody>
      </p:sp>
      <p:pic>
        <p:nvPicPr>
          <p:cNvPr id="19" name="図 18">
            <a:extLst>
              <a:ext uri="{FF2B5EF4-FFF2-40B4-BE49-F238E27FC236}">
                <a16:creationId xmlns:a16="http://schemas.microsoft.com/office/drawing/2014/main" id="{98FF8283-5B2F-5018-9D25-736A384B4D23}"/>
              </a:ext>
            </a:extLst>
          </p:cNvPr>
          <p:cNvPicPr>
            <a:picLocks noChangeAspect="1"/>
          </p:cNvPicPr>
          <p:nvPr/>
        </p:nvPicPr>
        <p:blipFill>
          <a:blip r:embed="rId3"/>
          <a:stretch>
            <a:fillRect/>
          </a:stretch>
        </p:blipFill>
        <p:spPr>
          <a:xfrm>
            <a:off x="8263942" y="3752836"/>
            <a:ext cx="1062545" cy="1115066"/>
          </a:xfrm>
          <a:prstGeom prst="rect">
            <a:avLst/>
          </a:prstGeom>
        </p:spPr>
      </p:pic>
      <p:sp>
        <p:nvSpPr>
          <p:cNvPr id="24" name="正方形/長方形 23">
            <a:extLst>
              <a:ext uri="{FF2B5EF4-FFF2-40B4-BE49-F238E27FC236}">
                <a16:creationId xmlns:a16="http://schemas.microsoft.com/office/drawing/2014/main" id="{E4AE5F6C-0BA5-6768-64B9-9CD156133552}"/>
              </a:ext>
            </a:extLst>
          </p:cNvPr>
          <p:cNvSpPr/>
          <p:nvPr/>
        </p:nvSpPr>
        <p:spPr>
          <a:xfrm>
            <a:off x="5769326" y="1938056"/>
            <a:ext cx="3788228" cy="244151"/>
          </a:xfrm>
          <a:prstGeom prst="rect">
            <a:avLst/>
          </a:prstGeom>
          <a:solidFill>
            <a:schemeClr val="tx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sz="1100" b="1" dirty="0">
                <a:solidFill>
                  <a:schemeClr val="bg1"/>
                </a:solidFill>
                <a:latin typeface="メイリオ" panose="020B0604030504040204" pitchFamily="50" charset="-128"/>
                <a:ea typeface="メイリオ" panose="020B0604030504040204" pitchFamily="50" charset="-128"/>
              </a:rPr>
              <a:t>動作イメージ</a:t>
            </a:r>
            <a:endParaRPr kumimoji="1" lang="ja-JP" altLang="en-US" sz="1100" b="1" dirty="0">
              <a:solidFill>
                <a:schemeClr val="bg1"/>
              </a:solidFill>
              <a:latin typeface="メイリオ" panose="020B0604030504040204" pitchFamily="50" charset="-128"/>
              <a:ea typeface="メイリオ" panose="020B0604030504040204" pitchFamily="50" charset="-128"/>
            </a:endParaRPr>
          </a:p>
        </p:txBody>
      </p:sp>
      <p:pic>
        <p:nvPicPr>
          <p:cNvPr id="7" name="図 6">
            <a:extLst>
              <a:ext uri="{FF2B5EF4-FFF2-40B4-BE49-F238E27FC236}">
                <a16:creationId xmlns:a16="http://schemas.microsoft.com/office/drawing/2014/main" id="{669C67AE-8870-AB99-9BB8-030F3AB8CB3B}"/>
              </a:ext>
            </a:extLst>
          </p:cNvPr>
          <p:cNvPicPr>
            <a:picLocks noChangeAspect="1"/>
          </p:cNvPicPr>
          <p:nvPr/>
        </p:nvPicPr>
        <p:blipFill>
          <a:blip r:embed="rId4"/>
          <a:stretch>
            <a:fillRect/>
          </a:stretch>
        </p:blipFill>
        <p:spPr>
          <a:xfrm>
            <a:off x="543398" y="4259719"/>
            <a:ext cx="5059180" cy="2191534"/>
          </a:xfrm>
          <a:prstGeom prst="rect">
            <a:avLst/>
          </a:prstGeom>
        </p:spPr>
      </p:pic>
      <p:pic>
        <p:nvPicPr>
          <p:cNvPr id="14" name="図 13">
            <a:extLst>
              <a:ext uri="{FF2B5EF4-FFF2-40B4-BE49-F238E27FC236}">
                <a16:creationId xmlns:a16="http://schemas.microsoft.com/office/drawing/2014/main" id="{CFFD213E-DE33-0075-6E07-F24DBD7A9441}"/>
              </a:ext>
            </a:extLst>
          </p:cNvPr>
          <p:cNvPicPr>
            <a:picLocks noChangeAspect="1"/>
          </p:cNvPicPr>
          <p:nvPr/>
        </p:nvPicPr>
        <p:blipFill>
          <a:blip r:embed="rId5"/>
          <a:stretch>
            <a:fillRect/>
          </a:stretch>
        </p:blipFill>
        <p:spPr>
          <a:xfrm>
            <a:off x="579513" y="1977951"/>
            <a:ext cx="5023065" cy="2231287"/>
          </a:xfrm>
          <a:prstGeom prst="rect">
            <a:avLst/>
          </a:prstGeom>
        </p:spPr>
      </p:pic>
    </p:spTree>
    <p:extLst>
      <p:ext uri="{BB962C8B-B14F-4D97-AF65-F5344CB8AC3E}">
        <p14:creationId xmlns:p14="http://schemas.microsoft.com/office/powerpoint/2010/main" val="1058933459"/>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BC61D1B-00B3-A324-FA45-8227BFE7C87E}"/>
            </a:ext>
          </a:extLst>
        </p:cNvPr>
        <p:cNvGrpSpPr/>
        <p:nvPr/>
      </p:nvGrpSpPr>
      <p:grpSpPr>
        <a:xfrm>
          <a:off x="0" y="0"/>
          <a:ext cx="0" cy="0"/>
          <a:chOff x="0" y="0"/>
          <a:chExt cx="0" cy="0"/>
        </a:xfrm>
      </p:grpSpPr>
      <p:sp>
        <p:nvSpPr>
          <p:cNvPr id="22" name="Google Shape;752;p28">
            <a:extLst>
              <a:ext uri="{FF2B5EF4-FFF2-40B4-BE49-F238E27FC236}">
                <a16:creationId xmlns:a16="http://schemas.microsoft.com/office/drawing/2014/main" id="{A92EBA17-1F28-FC74-FD04-7BBA4028B4C8}"/>
              </a:ext>
            </a:extLst>
          </p:cNvPr>
          <p:cNvSpPr txBox="1"/>
          <p:nvPr/>
        </p:nvSpPr>
        <p:spPr>
          <a:xfrm>
            <a:off x="548883" y="138138"/>
            <a:ext cx="6276325" cy="338514"/>
          </a:xfrm>
          <a:prstGeom prst="rect">
            <a:avLst/>
          </a:prstGeom>
          <a:noFill/>
          <a:ln>
            <a:noFill/>
          </a:ln>
        </p:spPr>
        <p:txBody>
          <a:bodyPr spcFirstLastPara="1" wrap="square" lIns="91425" tIns="45700" rIns="91425" bIns="45700" anchor="ctr" anchorCtr="0">
            <a:spAutoFit/>
          </a:bodyPr>
          <a:lstStyle/>
          <a:p>
            <a:pPr lvl="0"/>
            <a:r>
              <a:rPr lang="ja-JP" altLang="en-US" sz="1600" b="1" dirty="0">
                <a:solidFill>
                  <a:srgbClr val="002060"/>
                </a:solidFill>
                <a:latin typeface="Meiryo"/>
                <a:ea typeface="Meiryo"/>
                <a:cs typeface="Meiryo"/>
                <a:sym typeface="Meiryo"/>
              </a:rPr>
              <a:t>新規友だちの追加</a:t>
            </a:r>
            <a:r>
              <a:rPr lang="ja-JP" altLang="en-US" sz="1600" b="1" dirty="0">
                <a:solidFill>
                  <a:srgbClr val="323366"/>
                </a:solidFill>
                <a:latin typeface="メイリオ" panose="020B0604030504040204" pitchFamily="50" charset="-128"/>
                <a:ea typeface="メイリオ" panose="020B0604030504040204" pitchFamily="50" charset="-128"/>
                <a:cs typeface="Meiryo"/>
                <a:sym typeface="Meiryo"/>
              </a:rPr>
              <a:t>（ポップアップ </a:t>
            </a:r>
            <a:r>
              <a:rPr lang="en-US" altLang="ja-JP" sz="1600" b="1" dirty="0">
                <a:solidFill>
                  <a:srgbClr val="323366"/>
                </a:solidFill>
                <a:latin typeface="メイリオ" panose="020B0604030504040204" pitchFamily="50" charset="-128"/>
                <a:ea typeface="メイリオ" panose="020B0604030504040204" pitchFamily="50" charset="-128"/>
                <a:cs typeface="Meiryo"/>
                <a:sym typeface="Meiryo"/>
              </a:rPr>
              <a:t>/ </a:t>
            </a:r>
            <a:r>
              <a:rPr lang="ja-JP" altLang="en-US" sz="1600" b="1" dirty="0">
                <a:solidFill>
                  <a:srgbClr val="323366"/>
                </a:solidFill>
                <a:latin typeface="メイリオ" panose="020B0604030504040204" pitchFamily="50" charset="-128"/>
                <a:ea typeface="メイリオ" panose="020B0604030504040204" pitchFamily="50" charset="-128"/>
                <a:cs typeface="Meiryo"/>
                <a:sym typeface="Meiryo"/>
              </a:rPr>
              <a:t>離脱防止）</a:t>
            </a:r>
          </a:p>
        </p:txBody>
      </p:sp>
      <p:grpSp>
        <p:nvGrpSpPr>
          <p:cNvPr id="3" name="グループ化 2">
            <a:extLst>
              <a:ext uri="{FF2B5EF4-FFF2-40B4-BE49-F238E27FC236}">
                <a16:creationId xmlns:a16="http://schemas.microsoft.com/office/drawing/2014/main" id="{A495E905-6DD4-9945-098D-841CB438C3EE}"/>
              </a:ext>
            </a:extLst>
          </p:cNvPr>
          <p:cNvGrpSpPr/>
          <p:nvPr/>
        </p:nvGrpSpPr>
        <p:grpSpPr>
          <a:xfrm>
            <a:off x="543398" y="777681"/>
            <a:ext cx="3105325" cy="485102"/>
            <a:chOff x="507969" y="928495"/>
            <a:chExt cx="3105325" cy="485102"/>
          </a:xfrm>
        </p:grpSpPr>
        <p:sp>
          <p:nvSpPr>
            <p:cNvPr id="4" name="Google Shape;51;p19">
              <a:extLst>
                <a:ext uri="{FF2B5EF4-FFF2-40B4-BE49-F238E27FC236}">
                  <a16:creationId xmlns:a16="http://schemas.microsoft.com/office/drawing/2014/main" id="{460E3190-8E00-961F-6C91-89DE5F3546AF}"/>
                </a:ext>
              </a:extLst>
            </p:cNvPr>
            <p:cNvSpPr/>
            <p:nvPr/>
          </p:nvSpPr>
          <p:spPr>
            <a:xfrm>
              <a:off x="507969" y="928495"/>
              <a:ext cx="3105325" cy="485102"/>
            </a:xfrm>
            <a:prstGeom prst="roundRect">
              <a:avLst>
                <a:gd name="adj" fmla="val 16667"/>
              </a:avLst>
            </a:prstGeom>
            <a:solidFill>
              <a:schemeClr val="dk1"/>
            </a:solidFill>
            <a:ln>
              <a:noFill/>
            </a:ln>
          </p:spPr>
          <p:txBody>
            <a:bodyPr spcFirstLastPara="1" wrap="square" lIns="91425" tIns="45700" rIns="91425" bIns="45700" anchor="ctr"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marL="0" marR="0" lvl="0" indent="0" algn="ctr" rtl="0">
                <a:lnSpc>
                  <a:spcPct val="100000"/>
                </a:lnSpc>
                <a:spcBef>
                  <a:spcPts val="0"/>
                </a:spcBef>
                <a:spcAft>
                  <a:spcPts val="0"/>
                </a:spcAft>
                <a:buClr>
                  <a:srgbClr val="000000"/>
                </a:buClr>
                <a:buSzPts val="1400"/>
                <a:buFont typeface="Arial"/>
                <a:buNone/>
              </a:pPr>
              <a:endParaRPr sz="1400" b="1" i="0" u="none" strike="noStrike" cap="none" dirty="0">
                <a:solidFill>
                  <a:schemeClr val="lt1"/>
                </a:solidFill>
                <a:latin typeface="Meiryo"/>
                <a:ea typeface="Meiryo"/>
                <a:cs typeface="Meiryo"/>
                <a:sym typeface="Meiryo"/>
              </a:endParaRPr>
            </a:p>
          </p:txBody>
        </p:sp>
        <p:sp>
          <p:nvSpPr>
            <p:cNvPr id="5" name="テキスト ボックス 4">
              <a:extLst>
                <a:ext uri="{FF2B5EF4-FFF2-40B4-BE49-F238E27FC236}">
                  <a16:creationId xmlns:a16="http://schemas.microsoft.com/office/drawing/2014/main" id="{214929DF-C4CB-63FB-BAED-F6A1BE2438B2}"/>
                </a:ext>
              </a:extLst>
            </p:cNvPr>
            <p:cNvSpPr txBox="1"/>
            <p:nvPr/>
          </p:nvSpPr>
          <p:spPr>
            <a:xfrm>
              <a:off x="687498" y="938979"/>
              <a:ext cx="2746265" cy="357790"/>
            </a:xfrm>
            <a:prstGeom prst="rect">
              <a:avLst/>
            </a:prstGeom>
            <a:noFill/>
          </p:spPr>
          <p:txBody>
            <a:bodyPr wrap="none" rtlCol="0">
              <a:sp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a:lnSpc>
                  <a:spcPct val="120000"/>
                </a:lnSpc>
              </a:pPr>
              <a:r>
                <a:rPr kumimoji="1" lang="ja-JP" altLang="en-US" sz="1500" b="1" dirty="0">
                  <a:solidFill>
                    <a:schemeClr val="bg1"/>
                  </a:solidFill>
                  <a:latin typeface="Meiryo" panose="020B0604030504040204" pitchFamily="34" charset="-128"/>
                  <a:ea typeface="Meiryo" panose="020B0604030504040204" pitchFamily="34" charset="-128"/>
                </a:rPr>
                <a:t>ポップアップ</a:t>
              </a:r>
              <a:r>
                <a:rPr kumimoji="1" lang="en-US" altLang="ja-JP" sz="1500" b="1" dirty="0">
                  <a:solidFill>
                    <a:schemeClr val="bg1"/>
                  </a:solidFill>
                  <a:latin typeface="Meiryo" panose="020B0604030504040204" pitchFamily="34" charset="-128"/>
                  <a:ea typeface="Meiryo" panose="020B0604030504040204" pitchFamily="34" charset="-128"/>
                </a:rPr>
                <a:t>(</a:t>
              </a:r>
              <a:r>
                <a:rPr kumimoji="1" lang="ja-JP" altLang="en-US" sz="1500" b="1" dirty="0">
                  <a:solidFill>
                    <a:schemeClr val="bg1"/>
                  </a:solidFill>
                  <a:latin typeface="Meiryo" panose="020B0604030504040204" pitchFamily="34" charset="-128"/>
                  <a:ea typeface="Meiryo" panose="020B0604030504040204" pitchFamily="34" charset="-128"/>
                </a:rPr>
                <a:t>離脱防止 など</a:t>
              </a:r>
              <a:r>
                <a:rPr kumimoji="1" lang="en-US" altLang="ja-JP" sz="1500" b="1" dirty="0">
                  <a:solidFill>
                    <a:schemeClr val="bg1"/>
                  </a:solidFill>
                  <a:latin typeface="Meiryo" panose="020B0604030504040204" pitchFamily="34" charset="-128"/>
                  <a:ea typeface="Meiryo" panose="020B0604030504040204" pitchFamily="34" charset="-128"/>
                </a:rPr>
                <a:t>)</a:t>
              </a:r>
              <a:endParaRPr kumimoji="1" lang="ja-JP" altLang="en-US" sz="1500" b="1" dirty="0">
                <a:solidFill>
                  <a:schemeClr val="bg1"/>
                </a:solidFill>
                <a:latin typeface="Meiryo" panose="020B0604030504040204" pitchFamily="34" charset="-128"/>
                <a:ea typeface="Meiryo" panose="020B0604030504040204" pitchFamily="34" charset="-128"/>
              </a:endParaRPr>
            </a:p>
          </p:txBody>
        </p:sp>
      </p:grpSp>
      <p:sp>
        <p:nvSpPr>
          <p:cNvPr id="8" name="正方形/長方形 7">
            <a:extLst>
              <a:ext uri="{FF2B5EF4-FFF2-40B4-BE49-F238E27FC236}">
                <a16:creationId xmlns:a16="http://schemas.microsoft.com/office/drawing/2014/main" id="{200A9277-1702-628D-6325-0D765E09FBE7}"/>
              </a:ext>
            </a:extLst>
          </p:cNvPr>
          <p:cNvSpPr/>
          <p:nvPr/>
        </p:nvSpPr>
        <p:spPr>
          <a:xfrm>
            <a:off x="3806311" y="788165"/>
            <a:ext cx="5880088" cy="584775"/>
          </a:xfrm>
          <a:prstGeom prst="rect">
            <a:avLst/>
          </a:prstGeom>
        </p:spPr>
        <p:txBody>
          <a:bodyPr wrap="square">
            <a:spAutoFit/>
          </a:bodyPr>
          <a:lstStyle/>
          <a:p>
            <a:pPr lvl="0" algn="ctr">
              <a:buClr>
                <a:schemeClr val="dk1"/>
              </a:buClr>
              <a:buSzPts val="1500"/>
            </a:pPr>
            <a:r>
              <a:rPr lang="en-US" altLang="ja-JP" sz="1600" dirty="0">
                <a:latin typeface="Meiryo"/>
                <a:ea typeface="Meiryo"/>
                <a:cs typeface="Meiryo"/>
                <a:sym typeface="Meiryo"/>
              </a:rPr>
              <a:t>WEB</a:t>
            </a:r>
            <a:r>
              <a:rPr lang="ja-JP" altLang="en-US" sz="1600" dirty="0">
                <a:latin typeface="Meiryo"/>
                <a:ea typeface="Meiryo"/>
                <a:cs typeface="Meiryo"/>
                <a:sym typeface="Meiryo"/>
              </a:rPr>
              <a:t>サイト上の特定アクションを起こしたユーザーに対して</a:t>
            </a:r>
            <a:endParaRPr lang="en-US" altLang="ja-JP" sz="1600" dirty="0">
              <a:latin typeface="Meiryo"/>
              <a:ea typeface="Meiryo"/>
              <a:cs typeface="Meiryo"/>
              <a:sym typeface="Meiryo"/>
            </a:endParaRPr>
          </a:p>
          <a:p>
            <a:pPr lvl="0" algn="ctr">
              <a:buClr>
                <a:schemeClr val="dk1"/>
              </a:buClr>
              <a:buSzPts val="1500"/>
            </a:pPr>
            <a:r>
              <a:rPr lang="ja-JP" altLang="en-US" sz="1600" dirty="0">
                <a:latin typeface="Meiryo"/>
                <a:ea typeface="Meiryo"/>
                <a:cs typeface="Meiryo"/>
                <a:sym typeface="Meiryo"/>
              </a:rPr>
              <a:t>ポップアップの形で</a:t>
            </a:r>
            <a:r>
              <a:rPr lang="en-US" altLang="ja-JP" sz="1600" dirty="0">
                <a:latin typeface="Meiryo"/>
                <a:ea typeface="Meiryo"/>
                <a:cs typeface="Meiryo"/>
                <a:sym typeface="Meiryo"/>
              </a:rPr>
              <a:t>LINE</a:t>
            </a:r>
            <a:r>
              <a:rPr lang="ja-JP" altLang="en-US" sz="1600" dirty="0">
                <a:latin typeface="Meiryo"/>
                <a:ea typeface="Meiryo"/>
                <a:cs typeface="Meiryo"/>
                <a:sym typeface="Meiryo"/>
              </a:rPr>
              <a:t>誘導の動線を提示。</a:t>
            </a:r>
          </a:p>
        </p:txBody>
      </p:sp>
      <p:sp>
        <p:nvSpPr>
          <p:cNvPr id="9" name="テキスト ボックス 8">
            <a:extLst>
              <a:ext uri="{FF2B5EF4-FFF2-40B4-BE49-F238E27FC236}">
                <a16:creationId xmlns:a16="http://schemas.microsoft.com/office/drawing/2014/main" id="{FC59C8DC-A3F5-6C82-BBB6-1DCA2E2FCA1E}"/>
              </a:ext>
            </a:extLst>
          </p:cNvPr>
          <p:cNvSpPr txBox="1"/>
          <p:nvPr/>
        </p:nvSpPr>
        <p:spPr>
          <a:xfrm>
            <a:off x="5214938" y="1372940"/>
            <a:ext cx="4148137" cy="261610"/>
          </a:xfrm>
          <a:prstGeom prst="rect">
            <a:avLst/>
          </a:prstGeom>
          <a:noFill/>
        </p:spPr>
        <p:txBody>
          <a:bodyPr wrap="square">
            <a:spAutoFit/>
          </a:bodyPr>
          <a:lstStyle/>
          <a:p>
            <a:r>
              <a:rPr lang="en-US" altLang="ja-JP" sz="1050" dirty="0">
                <a:solidFill>
                  <a:srgbClr val="FF0000"/>
                </a:solidFill>
                <a:latin typeface="Meiryo"/>
                <a:ea typeface="Meiryo"/>
                <a:cs typeface="Meiryo"/>
                <a:sym typeface="Meiryo"/>
              </a:rPr>
              <a:t>LINE</a:t>
            </a:r>
            <a:r>
              <a:rPr lang="ja-JP" altLang="en-US" sz="1050" dirty="0">
                <a:solidFill>
                  <a:srgbClr val="FF0000"/>
                </a:solidFill>
                <a:latin typeface="Meiryo"/>
                <a:ea typeface="Meiryo"/>
                <a:cs typeface="Meiryo"/>
                <a:sym typeface="Meiryo"/>
              </a:rPr>
              <a:t>以外の注力動線への誘導も同バナーから実施が可能です。</a:t>
            </a:r>
            <a:endParaRPr lang="ja-JP" altLang="en-US" sz="1050" dirty="0">
              <a:solidFill>
                <a:srgbClr val="FF0000"/>
              </a:solidFill>
            </a:endParaRPr>
          </a:p>
        </p:txBody>
      </p:sp>
      <p:sp>
        <p:nvSpPr>
          <p:cNvPr id="15" name="Google Shape;51;p19">
            <a:extLst>
              <a:ext uri="{FF2B5EF4-FFF2-40B4-BE49-F238E27FC236}">
                <a16:creationId xmlns:a16="http://schemas.microsoft.com/office/drawing/2014/main" id="{ECC096EC-7A42-299D-ADFB-A11583AA36AB}"/>
              </a:ext>
            </a:extLst>
          </p:cNvPr>
          <p:cNvSpPr/>
          <p:nvPr/>
        </p:nvSpPr>
        <p:spPr>
          <a:xfrm>
            <a:off x="543399" y="1321261"/>
            <a:ext cx="1510826" cy="485102"/>
          </a:xfrm>
          <a:prstGeom prst="roundRect">
            <a:avLst>
              <a:gd name="adj" fmla="val 16667"/>
            </a:avLst>
          </a:prstGeom>
          <a:solidFill>
            <a:schemeClr val="tx2"/>
          </a:solidFill>
          <a:ln>
            <a:noFill/>
          </a:ln>
        </p:spPr>
        <p:txBody>
          <a:bodyPr spcFirstLastPara="1" wrap="square" lIns="91425" tIns="45700" rIns="91425" bIns="45700" anchor="ctr"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marL="0" marR="0" lvl="0" indent="0" algn="ctr" rtl="0">
              <a:lnSpc>
                <a:spcPct val="100000"/>
              </a:lnSpc>
              <a:spcBef>
                <a:spcPts val="0"/>
              </a:spcBef>
              <a:spcAft>
                <a:spcPts val="0"/>
              </a:spcAft>
              <a:buClr>
                <a:srgbClr val="000000"/>
              </a:buClr>
              <a:buSzPts val="1400"/>
              <a:buFont typeface="Arial"/>
              <a:buNone/>
            </a:pPr>
            <a:r>
              <a:rPr lang="ja-JP" altLang="en-US" sz="1400" b="1" i="0" u="none" strike="noStrike" cap="none" dirty="0">
                <a:solidFill>
                  <a:schemeClr val="lt1"/>
                </a:solidFill>
                <a:latin typeface="Meiryo"/>
                <a:ea typeface="Meiryo"/>
                <a:cs typeface="Meiryo"/>
                <a:sym typeface="Meiryo"/>
              </a:rPr>
              <a:t>初期：</a:t>
            </a:r>
            <a:r>
              <a:rPr lang="en-US" altLang="ja-JP" sz="1400" b="1" i="0" u="none" strike="noStrike" cap="none" dirty="0">
                <a:solidFill>
                  <a:schemeClr val="lt1"/>
                </a:solidFill>
                <a:latin typeface="Meiryo"/>
                <a:ea typeface="Meiryo"/>
                <a:cs typeface="Meiryo"/>
                <a:sym typeface="Meiryo"/>
              </a:rPr>
              <a:t>1.5</a:t>
            </a:r>
            <a:r>
              <a:rPr lang="ja-JP" altLang="en-US" sz="1400" b="1" i="0" u="none" strike="noStrike" cap="none" dirty="0">
                <a:solidFill>
                  <a:schemeClr val="lt1"/>
                </a:solidFill>
                <a:latin typeface="Meiryo"/>
                <a:ea typeface="Meiryo"/>
                <a:cs typeface="Meiryo"/>
                <a:sym typeface="Meiryo"/>
              </a:rPr>
              <a:t>万円</a:t>
            </a:r>
            <a:endParaRPr sz="1400" b="1" i="0" u="none" strike="noStrike" cap="none" dirty="0">
              <a:solidFill>
                <a:schemeClr val="lt1"/>
              </a:solidFill>
              <a:latin typeface="Meiryo"/>
              <a:ea typeface="Meiryo"/>
              <a:cs typeface="Meiryo"/>
              <a:sym typeface="Meiryo"/>
            </a:endParaRPr>
          </a:p>
        </p:txBody>
      </p:sp>
      <p:sp>
        <p:nvSpPr>
          <p:cNvPr id="17" name="Google Shape;51;p19">
            <a:extLst>
              <a:ext uri="{FF2B5EF4-FFF2-40B4-BE49-F238E27FC236}">
                <a16:creationId xmlns:a16="http://schemas.microsoft.com/office/drawing/2014/main" id="{C52155A1-F32D-8503-456F-3138842AD308}"/>
              </a:ext>
            </a:extLst>
          </p:cNvPr>
          <p:cNvSpPr/>
          <p:nvPr/>
        </p:nvSpPr>
        <p:spPr>
          <a:xfrm>
            <a:off x="2137897" y="1321261"/>
            <a:ext cx="1510826" cy="485102"/>
          </a:xfrm>
          <a:prstGeom prst="roundRect">
            <a:avLst>
              <a:gd name="adj" fmla="val 16667"/>
            </a:avLst>
          </a:prstGeom>
          <a:solidFill>
            <a:schemeClr val="tx2"/>
          </a:solidFill>
          <a:ln>
            <a:noFill/>
          </a:ln>
        </p:spPr>
        <p:txBody>
          <a:bodyPr spcFirstLastPara="1" wrap="square" lIns="91425" tIns="45700" rIns="91425" bIns="45700" anchor="ctr"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marL="0" marR="0" lvl="0" indent="0" algn="ctr" rtl="0">
              <a:lnSpc>
                <a:spcPct val="100000"/>
              </a:lnSpc>
              <a:spcBef>
                <a:spcPts val="0"/>
              </a:spcBef>
              <a:spcAft>
                <a:spcPts val="0"/>
              </a:spcAft>
              <a:buClr>
                <a:srgbClr val="000000"/>
              </a:buClr>
              <a:buSzPts val="1400"/>
              <a:buFont typeface="Arial"/>
              <a:buNone/>
            </a:pPr>
            <a:r>
              <a:rPr lang="ja-JP" altLang="en-US" sz="1400" b="1" i="0" u="none" strike="noStrike" cap="none" dirty="0">
                <a:solidFill>
                  <a:schemeClr val="lt1"/>
                </a:solidFill>
                <a:latin typeface="Meiryo"/>
                <a:ea typeface="Meiryo"/>
                <a:cs typeface="Meiryo"/>
                <a:sym typeface="Meiryo"/>
              </a:rPr>
              <a:t>月額</a:t>
            </a:r>
            <a:r>
              <a:rPr lang="en-US" altLang="ja-JP" sz="1400" b="1" i="0" u="none" strike="noStrike" cap="none" dirty="0">
                <a:solidFill>
                  <a:schemeClr val="lt1"/>
                </a:solidFill>
                <a:latin typeface="Meiryo"/>
                <a:ea typeface="Meiryo"/>
                <a:cs typeface="Meiryo"/>
                <a:sym typeface="Meiryo"/>
              </a:rPr>
              <a:t>3</a:t>
            </a:r>
            <a:r>
              <a:rPr lang="ja-JP" altLang="en-US" sz="1400" b="1" i="0" u="none" strike="noStrike" cap="none" dirty="0">
                <a:solidFill>
                  <a:schemeClr val="lt1"/>
                </a:solidFill>
                <a:latin typeface="Meiryo"/>
                <a:ea typeface="Meiryo"/>
                <a:cs typeface="Meiryo"/>
                <a:sym typeface="Meiryo"/>
              </a:rPr>
              <a:t>万円</a:t>
            </a:r>
            <a:endParaRPr sz="1400" b="1" i="0" u="none" strike="noStrike" cap="none" dirty="0">
              <a:solidFill>
                <a:schemeClr val="lt1"/>
              </a:solidFill>
              <a:latin typeface="Meiryo"/>
              <a:ea typeface="Meiryo"/>
              <a:cs typeface="Meiryo"/>
              <a:sym typeface="Meiryo"/>
            </a:endParaRPr>
          </a:p>
        </p:txBody>
      </p:sp>
      <p:pic>
        <p:nvPicPr>
          <p:cNvPr id="10" name="図 9">
            <a:extLst>
              <a:ext uri="{FF2B5EF4-FFF2-40B4-BE49-F238E27FC236}">
                <a16:creationId xmlns:a16="http://schemas.microsoft.com/office/drawing/2014/main" id="{3B15DB85-15F3-FF15-AB96-FDFE17717CDB}"/>
              </a:ext>
            </a:extLst>
          </p:cNvPr>
          <p:cNvPicPr>
            <a:picLocks noChangeAspect="1"/>
          </p:cNvPicPr>
          <p:nvPr/>
        </p:nvPicPr>
        <p:blipFill>
          <a:blip r:embed="rId2"/>
          <a:stretch>
            <a:fillRect/>
          </a:stretch>
        </p:blipFill>
        <p:spPr>
          <a:xfrm>
            <a:off x="1172081" y="1882008"/>
            <a:ext cx="7561838" cy="4661631"/>
          </a:xfrm>
          <a:prstGeom prst="rect">
            <a:avLst/>
          </a:prstGeom>
        </p:spPr>
      </p:pic>
    </p:spTree>
    <p:extLst>
      <p:ext uri="{BB962C8B-B14F-4D97-AF65-F5344CB8AC3E}">
        <p14:creationId xmlns:p14="http://schemas.microsoft.com/office/powerpoint/2010/main" val="4271334844"/>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B2506C2-B2E5-BEA0-384E-7336F080BD96}"/>
            </a:ext>
          </a:extLst>
        </p:cNvPr>
        <p:cNvGrpSpPr/>
        <p:nvPr/>
      </p:nvGrpSpPr>
      <p:grpSpPr>
        <a:xfrm>
          <a:off x="0" y="0"/>
          <a:ext cx="0" cy="0"/>
          <a:chOff x="0" y="0"/>
          <a:chExt cx="0" cy="0"/>
        </a:xfrm>
      </p:grpSpPr>
      <p:sp>
        <p:nvSpPr>
          <p:cNvPr id="22" name="Google Shape;752;p28">
            <a:extLst>
              <a:ext uri="{FF2B5EF4-FFF2-40B4-BE49-F238E27FC236}">
                <a16:creationId xmlns:a16="http://schemas.microsoft.com/office/drawing/2014/main" id="{AA80CD04-9456-70DB-2E44-D3EDB1461933}"/>
              </a:ext>
            </a:extLst>
          </p:cNvPr>
          <p:cNvSpPr txBox="1"/>
          <p:nvPr/>
        </p:nvSpPr>
        <p:spPr>
          <a:xfrm>
            <a:off x="548883" y="138137"/>
            <a:ext cx="6276325" cy="338514"/>
          </a:xfrm>
          <a:prstGeom prst="rect">
            <a:avLst/>
          </a:prstGeom>
          <a:noFill/>
          <a:ln>
            <a:noFill/>
          </a:ln>
        </p:spPr>
        <p:txBody>
          <a:bodyPr spcFirstLastPara="1" wrap="square" lIns="91425" tIns="45700" rIns="91425" bIns="45700" anchor="ctr" anchorCtr="0">
            <a:spAutoFit/>
          </a:bodyPr>
          <a:lstStyle/>
          <a:p>
            <a:pPr lvl="0"/>
            <a:r>
              <a:rPr lang="ja-JP" altLang="en-US" sz="1600" b="1" dirty="0">
                <a:solidFill>
                  <a:srgbClr val="002060"/>
                </a:solidFill>
                <a:latin typeface="Meiryo"/>
                <a:ea typeface="Meiryo"/>
                <a:cs typeface="Meiryo"/>
                <a:sym typeface="Meiryo"/>
              </a:rPr>
              <a:t>新規友だちの追加</a:t>
            </a:r>
            <a:r>
              <a:rPr lang="ja-JP" altLang="en-US" sz="1600" b="1" dirty="0">
                <a:solidFill>
                  <a:srgbClr val="323366"/>
                </a:solidFill>
                <a:latin typeface="メイリオ" panose="020B0604030504040204" pitchFamily="50" charset="-128"/>
                <a:ea typeface="メイリオ" panose="020B0604030504040204" pitchFamily="50" charset="-128"/>
                <a:cs typeface="Meiryo"/>
                <a:sym typeface="Meiryo"/>
              </a:rPr>
              <a:t>（サンクス</a:t>
            </a:r>
            <a:r>
              <a:rPr lang="en-US" altLang="ja-JP" sz="1600" b="1" dirty="0">
                <a:solidFill>
                  <a:srgbClr val="323366"/>
                </a:solidFill>
                <a:latin typeface="メイリオ" panose="020B0604030504040204" pitchFamily="50" charset="-128"/>
                <a:ea typeface="メイリオ" panose="020B0604030504040204" pitchFamily="50" charset="-128"/>
                <a:cs typeface="Meiryo"/>
                <a:sym typeface="Meiryo"/>
              </a:rPr>
              <a:t>LINE</a:t>
            </a:r>
            <a:r>
              <a:rPr lang="ja-JP" altLang="en-US" sz="1600" b="1" dirty="0">
                <a:solidFill>
                  <a:srgbClr val="323366"/>
                </a:solidFill>
                <a:latin typeface="メイリオ" panose="020B0604030504040204" pitchFamily="50" charset="-128"/>
                <a:ea typeface="メイリオ" panose="020B0604030504040204" pitchFamily="50" charset="-128"/>
                <a:cs typeface="Meiryo"/>
                <a:sym typeface="Meiryo"/>
              </a:rPr>
              <a:t>誘導）</a:t>
            </a:r>
          </a:p>
        </p:txBody>
      </p:sp>
      <p:sp>
        <p:nvSpPr>
          <p:cNvPr id="11" name="正方形/長方形 10">
            <a:extLst>
              <a:ext uri="{FF2B5EF4-FFF2-40B4-BE49-F238E27FC236}">
                <a16:creationId xmlns:a16="http://schemas.microsoft.com/office/drawing/2014/main" id="{189A6A4C-E34E-E7CF-D6DD-C175E600A94D}"/>
              </a:ext>
            </a:extLst>
          </p:cNvPr>
          <p:cNvSpPr/>
          <p:nvPr/>
        </p:nvSpPr>
        <p:spPr>
          <a:xfrm>
            <a:off x="1404798" y="1938056"/>
            <a:ext cx="1859036" cy="244151"/>
          </a:xfrm>
          <a:prstGeom prst="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1100" b="1" dirty="0">
                <a:solidFill>
                  <a:schemeClr val="tx1">
                    <a:lumMod val="50000"/>
                    <a:lumOff val="50000"/>
                  </a:schemeClr>
                </a:solidFill>
                <a:latin typeface="メイリオ" panose="020B0604030504040204" pitchFamily="50" charset="-128"/>
                <a:ea typeface="メイリオ" panose="020B0604030504040204" pitchFamily="50" charset="-128"/>
              </a:rPr>
              <a:t>WEB</a:t>
            </a:r>
            <a:r>
              <a:rPr kumimoji="1" lang="ja-JP" altLang="en-US" sz="1100" b="1" dirty="0">
                <a:solidFill>
                  <a:schemeClr val="tx1">
                    <a:lumMod val="50000"/>
                    <a:lumOff val="50000"/>
                  </a:schemeClr>
                </a:solidFill>
                <a:latin typeface="メイリオ" panose="020B0604030504040204" pitchFamily="50" charset="-128"/>
                <a:ea typeface="メイリオ" panose="020B0604030504040204" pitchFamily="50" charset="-128"/>
              </a:rPr>
              <a:t>サイト</a:t>
            </a:r>
          </a:p>
        </p:txBody>
      </p:sp>
      <p:sp>
        <p:nvSpPr>
          <p:cNvPr id="16" name="正方形/長方形 15">
            <a:extLst>
              <a:ext uri="{FF2B5EF4-FFF2-40B4-BE49-F238E27FC236}">
                <a16:creationId xmlns:a16="http://schemas.microsoft.com/office/drawing/2014/main" id="{32BBF438-B1EF-A61A-EE3D-69CD39766C7E}"/>
              </a:ext>
            </a:extLst>
          </p:cNvPr>
          <p:cNvSpPr/>
          <p:nvPr/>
        </p:nvSpPr>
        <p:spPr>
          <a:xfrm>
            <a:off x="5808682" y="2415743"/>
            <a:ext cx="3748873" cy="1821208"/>
          </a:xfrm>
          <a:prstGeom prst="rect">
            <a:avLst/>
          </a:prstGeom>
          <a:noFill/>
          <a:ln>
            <a:solidFill>
              <a:schemeClr val="tx2">
                <a:lumMod val="20000"/>
                <a:lumOff val="8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7" name="正方形/長方形 16">
            <a:extLst>
              <a:ext uri="{FF2B5EF4-FFF2-40B4-BE49-F238E27FC236}">
                <a16:creationId xmlns:a16="http://schemas.microsoft.com/office/drawing/2014/main" id="{1A1E4128-77DC-C871-EE20-5BD43326E078}"/>
              </a:ext>
            </a:extLst>
          </p:cNvPr>
          <p:cNvSpPr/>
          <p:nvPr/>
        </p:nvSpPr>
        <p:spPr>
          <a:xfrm>
            <a:off x="5808681" y="4588963"/>
            <a:ext cx="3748873" cy="1821208"/>
          </a:xfrm>
          <a:prstGeom prst="rect">
            <a:avLst/>
          </a:prstGeom>
          <a:noFill/>
          <a:ln>
            <a:solidFill>
              <a:schemeClr val="tx2">
                <a:lumMod val="20000"/>
                <a:lumOff val="8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0" name="正方形/長方形 19">
            <a:extLst>
              <a:ext uri="{FF2B5EF4-FFF2-40B4-BE49-F238E27FC236}">
                <a16:creationId xmlns:a16="http://schemas.microsoft.com/office/drawing/2014/main" id="{F37BB268-660A-FEE4-BB39-0E338F1DDC23}"/>
              </a:ext>
            </a:extLst>
          </p:cNvPr>
          <p:cNvSpPr/>
          <p:nvPr/>
        </p:nvSpPr>
        <p:spPr>
          <a:xfrm>
            <a:off x="5974632" y="2304788"/>
            <a:ext cx="1859036" cy="244151"/>
          </a:xfrm>
          <a:prstGeom prst="rect">
            <a:avLst/>
          </a:prstGeom>
          <a:solidFill>
            <a:schemeClr val="accent1">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sz="1100" b="1" dirty="0">
                <a:solidFill>
                  <a:schemeClr val="tx1"/>
                </a:solidFill>
                <a:latin typeface="メイリオ" panose="020B0604030504040204" pitchFamily="50" charset="-128"/>
                <a:ea typeface="メイリオ" panose="020B0604030504040204" pitchFamily="50" charset="-128"/>
              </a:rPr>
              <a:t>非</a:t>
            </a:r>
            <a:r>
              <a:rPr lang="en-US" altLang="ja-JP" sz="1100" b="1" dirty="0">
                <a:solidFill>
                  <a:schemeClr val="tx1"/>
                </a:solidFill>
                <a:latin typeface="メイリオ" panose="020B0604030504040204" pitchFamily="50" charset="-128"/>
                <a:ea typeface="メイリオ" panose="020B0604030504040204" pitchFamily="50" charset="-128"/>
              </a:rPr>
              <a:t>LINE</a:t>
            </a:r>
            <a:r>
              <a:rPr lang="ja-JP" altLang="en-US" sz="1100" b="1" dirty="0">
                <a:solidFill>
                  <a:schemeClr val="tx1"/>
                </a:solidFill>
                <a:latin typeface="メイリオ" panose="020B0604030504040204" pitchFamily="50" charset="-128"/>
                <a:ea typeface="メイリオ" panose="020B0604030504040204" pitchFamily="50" charset="-128"/>
              </a:rPr>
              <a:t>友だちの場合</a:t>
            </a:r>
          </a:p>
        </p:txBody>
      </p:sp>
      <p:sp>
        <p:nvSpPr>
          <p:cNvPr id="21" name="正方形/長方形 20">
            <a:extLst>
              <a:ext uri="{FF2B5EF4-FFF2-40B4-BE49-F238E27FC236}">
                <a16:creationId xmlns:a16="http://schemas.microsoft.com/office/drawing/2014/main" id="{C9FF4626-FD17-CA1C-8064-F46606D0BCCE}"/>
              </a:ext>
            </a:extLst>
          </p:cNvPr>
          <p:cNvSpPr/>
          <p:nvPr/>
        </p:nvSpPr>
        <p:spPr>
          <a:xfrm>
            <a:off x="5974632" y="4466888"/>
            <a:ext cx="1859036" cy="244151"/>
          </a:xfrm>
          <a:prstGeom prst="rect">
            <a:avLst/>
          </a:prstGeom>
          <a:solidFill>
            <a:schemeClr val="accent1">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sz="1100" b="1" dirty="0">
                <a:solidFill>
                  <a:schemeClr val="tx1"/>
                </a:solidFill>
                <a:latin typeface="メイリオ" panose="020B0604030504040204" pitchFamily="50" charset="-128"/>
                <a:ea typeface="メイリオ" panose="020B0604030504040204" pitchFamily="50" charset="-128"/>
              </a:rPr>
              <a:t>既存の</a:t>
            </a:r>
            <a:r>
              <a:rPr lang="en-US" altLang="ja-JP" sz="1100" b="1" dirty="0">
                <a:solidFill>
                  <a:schemeClr val="tx1"/>
                </a:solidFill>
                <a:latin typeface="メイリオ" panose="020B0604030504040204" pitchFamily="50" charset="-128"/>
                <a:ea typeface="メイリオ" panose="020B0604030504040204" pitchFamily="50" charset="-128"/>
              </a:rPr>
              <a:t>LINE</a:t>
            </a:r>
            <a:r>
              <a:rPr lang="ja-JP" altLang="en-US" sz="1100" b="1" dirty="0">
                <a:solidFill>
                  <a:schemeClr val="tx1"/>
                </a:solidFill>
                <a:latin typeface="メイリオ" panose="020B0604030504040204" pitchFamily="50" charset="-128"/>
                <a:ea typeface="メイリオ" panose="020B0604030504040204" pitchFamily="50" charset="-128"/>
              </a:rPr>
              <a:t>友だちの場合</a:t>
            </a:r>
          </a:p>
        </p:txBody>
      </p:sp>
      <p:cxnSp>
        <p:nvCxnSpPr>
          <p:cNvPr id="23" name="直線矢印コネクタ 22">
            <a:extLst>
              <a:ext uri="{FF2B5EF4-FFF2-40B4-BE49-F238E27FC236}">
                <a16:creationId xmlns:a16="http://schemas.microsoft.com/office/drawing/2014/main" id="{8F202453-7FF9-8AE7-D10D-66F74A74A2F4}"/>
              </a:ext>
            </a:extLst>
          </p:cNvPr>
          <p:cNvCxnSpPr/>
          <p:nvPr/>
        </p:nvCxnSpPr>
        <p:spPr>
          <a:xfrm>
            <a:off x="4361857" y="3239708"/>
            <a:ext cx="1407469" cy="0"/>
          </a:xfrm>
          <a:prstGeom prst="straightConnector1">
            <a:avLst/>
          </a:prstGeom>
          <a:ln w="19050">
            <a:solidFill>
              <a:srgbClr val="00B050">
                <a:alpha val="80000"/>
              </a:srgbClr>
            </a:solidFill>
            <a:prstDash val="sysDot"/>
            <a:tailEnd type="triangle"/>
          </a:ln>
        </p:spPr>
        <p:style>
          <a:lnRef idx="1">
            <a:schemeClr val="accent1"/>
          </a:lnRef>
          <a:fillRef idx="0">
            <a:schemeClr val="accent1"/>
          </a:fillRef>
          <a:effectRef idx="0">
            <a:schemeClr val="accent1"/>
          </a:effectRef>
          <a:fontRef idx="minor">
            <a:schemeClr val="tx1"/>
          </a:fontRef>
        </p:style>
      </p:cxnSp>
      <p:cxnSp>
        <p:nvCxnSpPr>
          <p:cNvPr id="24" name="直線矢印コネクタ 23">
            <a:extLst>
              <a:ext uri="{FF2B5EF4-FFF2-40B4-BE49-F238E27FC236}">
                <a16:creationId xmlns:a16="http://schemas.microsoft.com/office/drawing/2014/main" id="{C92F6E28-BBFF-1A56-AC22-CA16D2F1B1EA}"/>
              </a:ext>
            </a:extLst>
          </p:cNvPr>
          <p:cNvCxnSpPr>
            <a:cxnSpLocks/>
          </p:cNvCxnSpPr>
          <p:nvPr/>
        </p:nvCxnSpPr>
        <p:spPr>
          <a:xfrm>
            <a:off x="4361857" y="3392108"/>
            <a:ext cx="1407469" cy="1358385"/>
          </a:xfrm>
          <a:prstGeom prst="straightConnector1">
            <a:avLst/>
          </a:prstGeom>
          <a:ln w="19050">
            <a:solidFill>
              <a:srgbClr val="00B050">
                <a:alpha val="80000"/>
              </a:srgbClr>
            </a:solidFill>
            <a:prstDash val="sysDot"/>
            <a:tailEnd type="triangle"/>
          </a:ln>
        </p:spPr>
        <p:style>
          <a:lnRef idx="1">
            <a:schemeClr val="accent1"/>
          </a:lnRef>
          <a:fillRef idx="0">
            <a:schemeClr val="accent1"/>
          </a:fillRef>
          <a:effectRef idx="0">
            <a:schemeClr val="accent1"/>
          </a:effectRef>
          <a:fontRef idx="minor">
            <a:schemeClr val="tx1"/>
          </a:fontRef>
        </p:style>
      </p:cxnSp>
      <p:sp>
        <p:nvSpPr>
          <p:cNvPr id="29" name="正方形/長方形 28">
            <a:extLst>
              <a:ext uri="{FF2B5EF4-FFF2-40B4-BE49-F238E27FC236}">
                <a16:creationId xmlns:a16="http://schemas.microsoft.com/office/drawing/2014/main" id="{1D29A9C3-A3E8-0780-A758-0C8E7E376668}"/>
              </a:ext>
            </a:extLst>
          </p:cNvPr>
          <p:cNvSpPr/>
          <p:nvPr/>
        </p:nvSpPr>
        <p:spPr>
          <a:xfrm>
            <a:off x="4867227" y="2304788"/>
            <a:ext cx="374449" cy="3205847"/>
          </a:xfrm>
          <a:prstGeom prst="rect">
            <a:avLst/>
          </a:prstGeom>
          <a:solidFill>
            <a:srgbClr val="00FF00">
              <a:alpha val="40000"/>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sz="1100" b="1" dirty="0">
                <a:solidFill>
                  <a:schemeClr val="tx1"/>
                </a:solidFill>
                <a:latin typeface="メイリオ" panose="020B0604030504040204" pitchFamily="50" charset="-128"/>
                <a:ea typeface="メイリオ" panose="020B0604030504040204" pitchFamily="50" charset="-128"/>
              </a:rPr>
              <a:t>｜</a:t>
            </a:r>
            <a:r>
              <a:rPr lang="en-US" altLang="ja-JP" sz="1100" b="1" dirty="0">
                <a:solidFill>
                  <a:schemeClr val="tx1"/>
                </a:solidFill>
                <a:latin typeface="メイリオ" panose="020B0604030504040204" pitchFamily="50" charset="-128"/>
                <a:ea typeface="メイリオ" panose="020B0604030504040204" pitchFamily="50" charset="-128"/>
              </a:rPr>
              <a:t>D</a:t>
            </a:r>
          </a:p>
          <a:p>
            <a:pPr algn="ctr"/>
            <a:r>
              <a:rPr kumimoji="1" lang="en-US" altLang="ja-JP" sz="1100" b="1" dirty="0">
                <a:solidFill>
                  <a:schemeClr val="tx1"/>
                </a:solidFill>
                <a:latin typeface="メイリオ" panose="020B0604030504040204" pitchFamily="50" charset="-128"/>
                <a:ea typeface="メイリオ" panose="020B0604030504040204" pitchFamily="50" charset="-128"/>
              </a:rPr>
              <a:t>Y</a:t>
            </a:r>
          </a:p>
          <a:p>
            <a:pPr algn="ctr"/>
            <a:r>
              <a:rPr lang="en-US" altLang="ja-JP" sz="1100" b="1" dirty="0">
                <a:solidFill>
                  <a:schemeClr val="tx1"/>
                </a:solidFill>
                <a:latin typeface="メイリオ" panose="020B0604030504040204" pitchFamily="50" charset="-128"/>
                <a:ea typeface="メイリオ" panose="020B0604030504040204" pitchFamily="50" charset="-128"/>
              </a:rPr>
              <a:t>M</a:t>
            </a:r>
            <a:r>
              <a:rPr lang="ja-JP" altLang="en-US" sz="1100" b="1" dirty="0">
                <a:solidFill>
                  <a:schemeClr val="tx1"/>
                </a:solidFill>
                <a:latin typeface="メイリオ" panose="020B0604030504040204" pitchFamily="50" charset="-128"/>
                <a:ea typeface="メイリオ" panose="020B0604030504040204" pitchFamily="50" charset="-128"/>
              </a:rPr>
              <a:t>ツ</a:t>
            </a:r>
            <a:endParaRPr lang="en-US" altLang="ja-JP" sz="1100" b="1" dirty="0">
              <a:solidFill>
                <a:schemeClr val="tx1"/>
              </a:solidFill>
              <a:latin typeface="メイリオ" panose="020B0604030504040204" pitchFamily="50" charset="-128"/>
              <a:ea typeface="メイリオ" panose="020B0604030504040204" pitchFamily="50" charset="-128"/>
            </a:endParaRPr>
          </a:p>
          <a:p>
            <a:pPr algn="ctr"/>
            <a:r>
              <a:rPr kumimoji="1" lang="ja-JP" altLang="en-US" sz="1100" b="1" dirty="0">
                <a:solidFill>
                  <a:schemeClr val="tx1"/>
                </a:solidFill>
                <a:latin typeface="メイリオ" panose="020B0604030504040204" pitchFamily="50" charset="-128"/>
                <a:ea typeface="メイリオ" panose="020B0604030504040204" pitchFamily="50" charset="-128"/>
              </a:rPr>
              <a:t>｜ルで</a:t>
            </a:r>
            <a:endParaRPr kumimoji="1" lang="en-US" altLang="ja-JP" sz="1100" b="1" dirty="0">
              <a:solidFill>
                <a:schemeClr val="tx1"/>
              </a:solidFill>
              <a:latin typeface="メイリオ" panose="020B0604030504040204" pitchFamily="50" charset="-128"/>
              <a:ea typeface="メイリオ" panose="020B0604030504040204" pitchFamily="50" charset="-128"/>
            </a:endParaRPr>
          </a:p>
          <a:p>
            <a:pPr algn="ctr"/>
            <a:r>
              <a:rPr kumimoji="1" lang="en-US" altLang="ja-JP" sz="1100" b="1" dirty="0">
                <a:solidFill>
                  <a:schemeClr val="tx1"/>
                </a:solidFill>
                <a:latin typeface="メイリオ" panose="020B0604030504040204" pitchFamily="50" charset="-128"/>
                <a:ea typeface="メイリオ" panose="020B0604030504040204" pitchFamily="50" charset="-128"/>
              </a:rPr>
              <a:t>L</a:t>
            </a:r>
            <a:br>
              <a:rPr kumimoji="1" lang="en-US" altLang="ja-JP" sz="1100" b="1" dirty="0">
                <a:solidFill>
                  <a:schemeClr val="tx1"/>
                </a:solidFill>
                <a:latin typeface="メイリオ" panose="020B0604030504040204" pitchFamily="50" charset="-128"/>
                <a:ea typeface="メイリオ" panose="020B0604030504040204" pitchFamily="50" charset="-128"/>
              </a:rPr>
            </a:br>
            <a:r>
              <a:rPr kumimoji="1" lang="en-US" altLang="ja-JP" sz="1100" b="1" dirty="0">
                <a:solidFill>
                  <a:schemeClr val="tx1"/>
                </a:solidFill>
                <a:latin typeface="メイリオ" panose="020B0604030504040204" pitchFamily="50" charset="-128"/>
                <a:ea typeface="メイリオ" panose="020B0604030504040204" pitchFamily="50" charset="-128"/>
              </a:rPr>
              <a:t>I</a:t>
            </a:r>
          </a:p>
          <a:p>
            <a:pPr algn="ctr"/>
            <a:r>
              <a:rPr lang="en-US" altLang="ja-JP" sz="1100" b="1" dirty="0">
                <a:solidFill>
                  <a:schemeClr val="tx1"/>
                </a:solidFill>
                <a:latin typeface="メイリオ" panose="020B0604030504040204" pitchFamily="50" charset="-128"/>
                <a:ea typeface="メイリオ" panose="020B0604030504040204" pitchFamily="50" charset="-128"/>
              </a:rPr>
              <a:t>N</a:t>
            </a:r>
            <a:br>
              <a:rPr lang="en-US" altLang="ja-JP" sz="1100" b="1" dirty="0">
                <a:solidFill>
                  <a:schemeClr val="tx1"/>
                </a:solidFill>
                <a:latin typeface="メイリオ" panose="020B0604030504040204" pitchFamily="50" charset="-128"/>
                <a:ea typeface="メイリオ" panose="020B0604030504040204" pitchFamily="50" charset="-128"/>
              </a:rPr>
            </a:br>
            <a:r>
              <a:rPr lang="en-US" altLang="ja-JP" sz="1100" b="1" dirty="0">
                <a:solidFill>
                  <a:schemeClr val="tx1"/>
                </a:solidFill>
                <a:latin typeface="メイリオ" panose="020B0604030504040204" pitchFamily="50" charset="-128"/>
                <a:ea typeface="メイリオ" panose="020B0604030504040204" pitchFamily="50" charset="-128"/>
              </a:rPr>
              <a:t>E</a:t>
            </a:r>
          </a:p>
          <a:p>
            <a:pPr algn="ctr"/>
            <a:r>
              <a:rPr kumimoji="1" lang="ja-JP" altLang="en-US" sz="1100" b="1" dirty="0">
                <a:solidFill>
                  <a:schemeClr val="tx1"/>
                </a:solidFill>
                <a:latin typeface="メイリオ" panose="020B0604030504040204" pitchFamily="50" charset="-128"/>
                <a:ea typeface="メイリオ" panose="020B0604030504040204" pitchFamily="50" charset="-128"/>
              </a:rPr>
              <a:t>動線</a:t>
            </a:r>
            <a:endParaRPr kumimoji="1" lang="en-US" altLang="ja-JP" sz="1100" b="1" dirty="0">
              <a:solidFill>
                <a:schemeClr val="tx1"/>
              </a:solidFill>
              <a:latin typeface="メイリオ" panose="020B0604030504040204" pitchFamily="50" charset="-128"/>
              <a:ea typeface="メイリオ" panose="020B0604030504040204" pitchFamily="50" charset="-128"/>
            </a:endParaRPr>
          </a:p>
          <a:p>
            <a:pPr algn="ctr"/>
            <a:r>
              <a:rPr lang="ja-JP" altLang="en-US" sz="1100" b="1" dirty="0">
                <a:solidFill>
                  <a:schemeClr val="tx1"/>
                </a:solidFill>
                <a:latin typeface="メイリオ" panose="020B0604030504040204" pitchFamily="50" charset="-128"/>
                <a:ea typeface="メイリオ" panose="020B0604030504040204" pitchFamily="50" charset="-128"/>
              </a:rPr>
              <a:t>に</a:t>
            </a:r>
            <a:endParaRPr kumimoji="1" lang="en-US" altLang="ja-JP" sz="1100" b="1" dirty="0">
              <a:solidFill>
                <a:schemeClr val="tx1"/>
              </a:solidFill>
              <a:latin typeface="メイリオ" panose="020B0604030504040204" pitchFamily="50" charset="-128"/>
              <a:ea typeface="メイリオ" panose="020B0604030504040204" pitchFamily="50" charset="-128"/>
            </a:endParaRPr>
          </a:p>
          <a:p>
            <a:pPr algn="ctr"/>
            <a:r>
              <a:rPr kumimoji="1" lang="ja-JP" altLang="en-US" sz="1100" b="1" dirty="0">
                <a:solidFill>
                  <a:schemeClr val="tx1"/>
                </a:solidFill>
                <a:latin typeface="メイリオ" panose="020B0604030504040204" pitchFamily="50" charset="-128"/>
                <a:ea typeface="メイリオ" panose="020B0604030504040204" pitchFamily="50" charset="-128"/>
              </a:rPr>
              <a:t>｜</a:t>
            </a:r>
          </a:p>
        </p:txBody>
      </p:sp>
      <p:pic>
        <p:nvPicPr>
          <p:cNvPr id="45" name="図 44" descr="グラフィカル ユーザー インターフェイス, アプリケーション, Teams&#10;&#10;AI 生成コンテンツは誤りを含む可能性があります。">
            <a:extLst>
              <a:ext uri="{FF2B5EF4-FFF2-40B4-BE49-F238E27FC236}">
                <a16:creationId xmlns:a16="http://schemas.microsoft.com/office/drawing/2014/main" id="{E91CA7A5-62B3-F1F8-38C3-DDCE33E1CC3D}"/>
              </a:ext>
            </a:extLst>
          </p:cNvPr>
          <p:cNvPicPr>
            <a:picLocks noChangeAspect="1"/>
          </p:cNvPicPr>
          <p:nvPr/>
        </p:nvPicPr>
        <p:blipFill>
          <a:blip r:embed="rId2" cstate="print">
            <a:extLst>
              <a:ext uri="{28A0092B-C50C-407E-A947-70E740481C1C}">
                <a14:useLocalDpi xmlns:a14="http://schemas.microsoft.com/office/drawing/2010/main" val="0"/>
              </a:ext>
            </a:extLst>
          </a:blip>
          <a:srcRect t="4580"/>
          <a:stretch>
            <a:fillRect/>
          </a:stretch>
        </p:blipFill>
        <p:spPr>
          <a:xfrm>
            <a:off x="7999618" y="2128994"/>
            <a:ext cx="1231081" cy="2085097"/>
          </a:xfrm>
          <a:prstGeom prst="rect">
            <a:avLst/>
          </a:prstGeom>
        </p:spPr>
      </p:pic>
      <p:pic>
        <p:nvPicPr>
          <p:cNvPr id="46" name="図 45" descr="電卓の写真のスマートフォンのスクリーンショット&#10;&#10;AI 生成コンテンツは誤りを含む可能性があります。">
            <a:extLst>
              <a:ext uri="{FF2B5EF4-FFF2-40B4-BE49-F238E27FC236}">
                <a16:creationId xmlns:a16="http://schemas.microsoft.com/office/drawing/2014/main" id="{31EEAD2C-3BE8-0210-FD8E-46D52B30A0AE}"/>
              </a:ext>
            </a:extLst>
          </p:cNvPr>
          <p:cNvPicPr>
            <a:picLocks noChangeAspect="1"/>
          </p:cNvPicPr>
          <p:nvPr/>
        </p:nvPicPr>
        <p:blipFill>
          <a:blip r:embed="rId3" cstate="print">
            <a:extLst>
              <a:ext uri="{28A0092B-C50C-407E-A947-70E740481C1C}">
                <a14:useLocalDpi xmlns:a14="http://schemas.microsoft.com/office/drawing/2010/main" val="0"/>
              </a:ext>
            </a:extLst>
          </a:blip>
          <a:srcRect t="4580"/>
          <a:stretch>
            <a:fillRect/>
          </a:stretch>
        </p:blipFill>
        <p:spPr>
          <a:xfrm>
            <a:off x="7999618" y="4325046"/>
            <a:ext cx="1231081" cy="2085098"/>
          </a:xfrm>
          <a:prstGeom prst="rect">
            <a:avLst/>
          </a:prstGeom>
        </p:spPr>
      </p:pic>
      <p:sp>
        <p:nvSpPr>
          <p:cNvPr id="48" name="テキスト ボックス 47">
            <a:extLst>
              <a:ext uri="{FF2B5EF4-FFF2-40B4-BE49-F238E27FC236}">
                <a16:creationId xmlns:a16="http://schemas.microsoft.com/office/drawing/2014/main" id="{E989AEB3-EF0E-8885-B426-8B6A5E01F40A}"/>
              </a:ext>
            </a:extLst>
          </p:cNvPr>
          <p:cNvSpPr txBox="1"/>
          <p:nvPr/>
        </p:nvSpPr>
        <p:spPr>
          <a:xfrm>
            <a:off x="5974631" y="2701376"/>
            <a:ext cx="1859035" cy="430887"/>
          </a:xfrm>
          <a:prstGeom prst="rect">
            <a:avLst/>
          </a:prstGeom>
          <a:noFill/>
        </p:spPr>
        <p:txBody>
          <a:bodyPr wrap="square">
            <a:spAutoFit/>
          </a:bodyPr>
          <a:lstStyle/>
          <a:p>
            <a:r>
              <a:rPr kumimoji="1" lang="ja-JP" altLang="en-US" sz="1100" b="1" dirty="0">
                <a:latin typeface="メイリオ" panose="020B0604030504040204" pitchFamily="50" charset="-128"/>
                <a:ea typeface="メイリオ" panose="020B0604030504040204" pitchFamily="50" charset="-128"/>
              </a:rPr>
              <a:t>公式アカウントの</a:t>
            </a:r>
            <a:r>
              <a:rPr lang="ja-JP" altLang="en-US" sz="1100" b="1" dirty="0">
                <a:latin typeface="メイリオ" panose="020B0604030504040204" pitchFamily="50" charset="-128"/>
                <a:ea typeface="メイリオ" panose="020B0604030504040204" pitchFamily="50" charset="-128"/>
              </a:rPr>
              <a:t>友だち</a:t>
            </a:r>
            <a:endParaRPr lang="en-US" altLang="ja-JP" sz="1100" b="1" dirty="0">
              <a:latin typeface="メイリオ" panose="020B0604030504040204" pitchFamily="50" charset="-128"/>
              <a:ea typeface="メイリオ" panose="020B0604030504040204" pitchFamily="50" charset="-128"/>
            </a:endParaRPr>
          </a:p>
          <a:p>
            <a:r>
              <a:rPr lang="ja-JP" altLang="en-US" sz="1100" b="1" dirty="0">
                <a:latin typeface="メイリオ" panose="020B0604030504040204" pitchFamily="50" charset="-128"/>
                <a:ea typeface="メイリオ" panose="020B0604030504040204" pitchFamily="50" charset="-128"/>
              </a:rPr>
              <a:t>登録ページ</a:t>
            </a:r>
            <a:r>
              <a:rPr lang="ja-JP" altLang="en-US" sz="1100" dirty="0">
                <a:latin typeface="メイリオ" panose="020B0604030504040204" pitchFamily="50" charset="-128"/>
                <a:ea typeface="メイリオ" panose="020B0604030504040204" pitchFamily="50" charset="-128"/>
              </a:rPr>
              <a:t>へ遷移する。</a:t>
            </a:r>
            <a:endParaRPr kumimoji="1" lang="ja-JP" altLang="en-US" sz="1100" dirty="0">
              <a:latin typeface="メイリオ" panose="020B0604030504040204" pitchFamily="50" charset="-128"/>
              <a:ea typeface="メイリオ" panose="020B0604030504040204" pitchFamily="50" charset="-128"/>
            </a:endParaRPr>
          </a:p>
        </p:txBody>
      </p:sp>
      <p:sp>
        <p:nvSpPr>
          <p:cNvPr id="49" name="テキスト ボックス 48">
            <a:extLst>
              <a:ext uri="{FF2B5EF4-FFF2-40B4-BE49-F238E27FC236}">
                <a16:creationId xmlns:a16="http://schemas.microsoft.com/office/drawing/2014/main" id="{4E6D08E3-E0B3-1DF4-0533-E4EE67240415}"/>
              </a:ext>
            </a:extLst>
          </p:cNvPr>
          <p:cNvSpPr txBox="1"/>
          <p:nvPr/>
        </p:nvSpPr>
        <p:spPr>
          <a:xfrm>
            <a:off x="5971905" y="4914274"/>
            <a:ext cx="1859035" cy="1384995"/>
          </a:xfrm>
          <a:prstGeom prst="rect">
            <a:avLst/>
          </a:prstGeom>
          <a:noFill/>
        </p:spPr>
        <p:txBody>
          <a:bodyPr wrap="square">
            <a:spAutoFit/>
          </a:bodyPr>
          <a:lstStyle/>
          <a:p>
            <a:r>
              <a:rPr kumimoji="1" lang="ja-JP" altLang="en-US" sz="1100" b="1" dirty="0">
                <a:latin typeface="メイリオ" panose="020B0604030504040204" pitchFamily="50" charset="-128"/>
                <a:ea typeface="メイリオ" panose="020B0604030504040204" pitchFamily="50" charset="-128"/>
              </a:rPr>
              <a:t>公式アカウントの</a:t>
            </a:r>
            <a:r>
              <a:rPr lang="ja-JP" altLang="en-US" sz="1100" b="1" dirty="0">
                <a:latin typeface="メイリオ" panose="020B0604030504040204" pitchFamily="50" charset="-128"/>
                <a:ea typeface="メイリオ" panose="020B0604030504040204" pitchFamily="50" charset="-128"/>
              </a:rPr>
              <a:t>トーク</a:t>
            </a:r>
            <a:endParaRPr lang="en-US" altLang="ja-JP" sz="1100" b="1" dirty="0">
              <a:latin typeface="メイリオ" panose="020B0604030504040204" pitchFamily="50" charset="-128"/>
              <a:ea typeface="メイリオ" panose="020B0604030504040204" pitchFamily="50" charset="-128"/>
            </a:endParaRPr>
          </a:p>
          <a:p>
            <a:r>
              <a:rPr lang="ja-JP" altLang="en-US" sz="1100" b="1" dirty="0">
                <a:latin typeface="メイリオ" panose="020B0604030504040204" pitchFamily="50" charset="-128"/>
                <a:ea typeface="メイリオ" panose="020B0604030504040204" pitchFamily="50" charset="-128"/>
              </a:rPr>
              <a:t>画面</a:t>
            </a:r>
            <a:r>
              <a:rPr lang="ja-JP" altLang="en-US" sz="1100" dirty="0">
                <a:latin typeface="メイリオ" panose="020B0604030504040204" pitchFamily="50" charset="-128"/>
                <a:ea typeface="メイリオ" panose="020B0604030504040204" pitchFamily="50" charset="-128"/>
              </a:rPr>
              <a:t>へ遷移する。</a:t>
            </a:r>
            <a:endParaRPr lang="en-US" altLang="ja-JP" sz="1100" dirty="0">
              <a:latin typeface="メイリオ" panose="020B0604030504040204" pitchFamily="50" charset="-128"/>
              <a:ea typeface="メイリオ" panose="020B0604030504040204" pitchFamily="50" charset="-128"/>
            </a:endParaRPr>
          </a:p>
          <a:p>
            <a:r>
              <a:rPr kumimoji="1" lang="en-US" altLang="ja-JP" sz="1000" dirty="0">
                <a:solidFill>
                  <a:srgbClr val="FF0000"/>
                </a:solidFill>
                <a:latin typeface="メイリオ" panose="020B0604030504040204" pitchFamily="50" charset="-128"/>
                <a:ea typeface="メイリオ" panose="020B0604030504040204" pitchFamily="50" charset="-128"/>
              </a:rPr>
              <a:t>※</a:t>
            </a:r>
            <a:r>
              <a:rPr kumimoji="1" lang="ja-JP" altLang="en-US" sz="1000" dirty="0">
                <a:solidFill>
                  <a:srgbClr val="FF0000"/>
                </a:solidFill>
                <a:latin typeface="メイリオ" panose="020B0604030504040204" pitchFamily="50" charset="-128"/>
                <a:ea typeface="メイリオ" panose="020B0604030504040204" pitchFamily="50" charset="-128"/>
              </a:rPr>
              <a:t>設定によりフォーム入力</a:t>
            </a:r>
            <a:endParaRPr kumimoji="1" lang="en-US" altLang="ja-JP" sz="1000" dirty="0">
              <a:solidFill>
                <a:srgbClr val="FF0000"/>
              </a:solidFill>
              <a:latin typeface="メイリオ" panose="020B0604030504040204" pitchFamily="50" charset="-128"/>
              <a:ea typeface="メイリオ" panose="020B0604030504040204" pitchFamily="50" charset="-128"/>
            </a:endParaRPr>
          </a:p>
          <a:p>
            <a:r>
              <a:rPr lang="ja-JP" altLang="en-US" sz="1000" dirty="0">
                <a:solidFill>
                  <a:srgbClr val="FF0000"/>
                </a:solidFill>
                <a:latin typeface="メイリオ" panose="020B0604030504040204" pitchFamily="50" charset="-128"/>
                <a:ea typeface="メイリオ" panose="020B0604030504040204" pitchFamily="50" charset="-128"/>
              </a:rPr>
              <a:t>　内容を踏襲した入力画面</a:t>
            </a:r>
            <a:endParaRPr lang="en-US" altLang="ja-JP" sz="1000" dirty="0">
              <a:solidFill>
                <a:srgbClr val="FF0000"/>
              </a:solidFill>
              <a:latin typeface="メイリオ" panose="020B0604030504040204" pitchFamily="50" charset="-128"/>
              <a:ea typeface="メイリオ" panose="020B0604030504040204" pitchFamily="50" charset="-128"/>
            </a:endParaRPr>
          </a:p>
          <a:p>
            <a:r>
              <a:rPr kumimoji="1" lang="ja-JP" altLang="en-US" sz="1000" dirty="0">
                <a:solidFill>
                  <a:srgbClr val="FF0000"/>
                </a:solidFill>
                <a:latin typeface="メイリオ" panose="020B0604030504040204" pitchFamily="50" charset="-128"/>
                <a:ea typeface="メイリオ" panose="020B0604030504040204" pitchFamily="50" charset="-128"/>
              </a:rPr>
              <a:t>　を表示させることが可能。</a:t>
            </a:r>
            <a:endParaRPr kumimoji="1" lang="en-US" altLang="ja-JP" sz="1000" dirty="0">
              <a:solidFill>
                <a:srgbClr val="FF0000"/>
              </a:solidFill>
              <a:latin typeface="メイリオ" panose="020B0604030504040204" pitchFamily="50" charset="-128"/>
              <a:ea typeface="メイリオ" panose="020B0604030504040204" pitchFamily="50" charset="-128"/>
            </a:endParaRPr>
          </a:p>
          <a:p>
            <a:endParaRPr lang="en-US" altLang="ja-JP" sz="1000" dirty="0">
              <a:solidFill>
                <a:srgbClr val="FF0000"/>
              </a:solidFill>
              <a:latin typeface="メイリオ" panose="020B0604030504040204" pitchFamily="50" charset="-128"/>
              <a:ea typeface="メイリオ" panose="020B0604030504040204" pitchFamily="50" charset="-128"/>
            </a:endParaRPr>
          </a:p>
          <a:p>
            <a:r>
              <a:rPr lang="ja-JP" altLang="en-US" sz="1100" b="1" dirty="0">
                <a:latin typeface="メイリオ" panose="020B0604030504040204" pitchFamily="50" charset="-128"/>
                <a:ea typeface="メイリオ" panose="020B0604030504040204" pitchFamily="50" charset="-128"/>
              </a:rPr>
              <a:t>↓</a:t>
            </a:r>
            <a:endParaRPr lang="en-US" altLang="ja-JP" sz="1100" b="1" dirty="0">
              <a:latin typeface="メイリオ" panose="020B0604030504040204" pitchFamily="50" charset="-128"/>
              <a:ea typeface="メイリオ" panose="020B0604030504040204" pitchFamily="50" charset="-128"/>
            </a:endParaRPr>
          </a:p>
          <a:p>
            <a:r>
              <a:rPr kumimoji="1" lang="ja-JP" altLang="en-US" sz="1100" b="1" dirty="0">
                <a:latin typeface="メイリオ" panose="020B0604030504040204" pitchFamily="50" charset="-128"/>
                <a:ea typeface="メイリオ" panose="020B0604030504040204" pitchFamily="50" charset="-128"/>
              </a:rPr>
              <a:t>配信セグメントに利用可</a:t>
            </a:r>
            <a:endParaRPr kumimoji="1" lang="ja-JP" altLang="en-US" sz="1100" dirty="0">
              <a:latin typeface="メイリオ" panose="020B0604030504040204" pitchFamily="50" charset="-128"/>
              <a:ea typeface="メイリオ" panose="020B0604030504040204" pitchFamily="50" charset="-128"/>
            </a:endParaRPr>
          </a:p>
        </p:txBody>
      </p:sp>
      <p:pic>
        <p:nvPicPr>
          <p:cNvPr id="56" name="図 55">
            <a:extLst>
              <a:ext uri="{FF2B5EF4-FFF2-40B4-BE49-F238E27FC236}">
                <a16:creationId xmlns:a16="http://schemas.microsoft.com/office/drawing/2014/main" id="{0B7B313D-7D5F-4357-9B38-DFC3DBC5FCF6}"/>
              </a:ext>
            </a:extLst>
          </p:cNvPr>
          <p:cNvPicPr>
            <a:picLocks noChangeAspect="1"/>
          </p:cNvPicPr>
          <p:nvPr/>
        </p:nvPicPr>
        <p:blipFill>
          <a:blip r:embed="rId4"/>
          <a:stretch>
            <a:fillRect/>
          </a:stretch>
        </p:blipFill>
        <p:spPr>
          <a:xfrm>
            <a:off x="8048301" y="3085325"/>
            <a:ext cx="1133712" cy="110223"/>
          </a:xfrm>
          <a:prstGeom prst="rect">
            <a:avLst/>
          </a:prstGeom>
        </p:spPr>
      </p:pic>
      <p:pic>
        <p:nvPicPr>
          <p:cNvPr id="57" name="図 56">
            <a:extLst>
              <a:ext uri="{FF2B5EF4-FFF2-40B4-BE49-F238E27FC236}">
                <a16:creationId xmlns:a16="http://schemas.microsoft.com/office/drawing/2014/main" id="{A8EA42C4-338F-850B-B276-B83DC2A73148}"/>
              </a:ext>
            </a:extLst>
          </p:cNvPr>
          <p:cNvPicPr>
            <a:picLocks noChangeAspect="1"/>
          </p:cNvPicPr>
          <p:nvPr/>
        </p:nvPicPr>
        <p:blipFill>
          <a:blip r:embed="rId5"/>
          <a:stretch>
            <a:fillRect/>
          </a:stretch>
        </p:blipFill>
        <p:spPr>
          <a:xfrm>
            <a:off x="8378027" y="3091633"/>
            <a:ext cx="479964" cy="106659"/>
          </a:xfrm>
          <a:prstGeom prst="rect">
            <a:avLst/>
          </a:prstGeom>
        </p:spPr>
      </p:pic>
      <p:pic>
        <p:nvPicPr>
          <p:cNvPr id="58" name="図 57">
            <a:extLst>
              <a:ext uri="{FF2B5EF4-FFF2-40B4-BE49-F238E27FC236}">
                <a16:creationId xmlns:a16="http://schemas.microsoft.com/office/drawing/2014/main" id="{CCB04072-A708-EEE7-1345-D4C9E9FA9C1D}"/>
              </a:ext>
            </a:extLst>
          </p:cNvPr>
          <p:cNvPicPr>
            <a:picLocks noChangeAspect="1"/>
          </p:cNvPicPr>
          <p:nvPr/>
        </p:nvPicPr>
        <p:blipFill>
          <a:blip r:embed="rId5"/>
          <a:stretch>
            <a:fillRect/>
          </a:stretch>
        </p:blipFill>
        <p:spPr>
          <a:xfrm>
            <a:off x="8395919" y="4322141"/>
            <a:ext cx="334412" cy="74315"/>
          </a:xfrm>
          <a:prstGeom prst="rect">
            <a:avLst/>
          </a:prstGeom>
        </p:spPr>
      </p:pic>
      <p:pic>
        <p:nvPicPr>
          <p:cNvPr id="59" name="図 58">
            <a:extLst>
              <a:ext uri="{FF2B5EF4-FFF2-40B4-BE49-F238E27FC236}">
                <a16:creationId xmlns:a16="http://schemas.microsoft.com/office/drawing/2014/main" id="{EDED354B-362F-AAF7-76A6-52D8547EDC91}"/>
              </a:ext>
            </a:extLst>
          </p:cNvPr>
          <p:cNvPicPr>
            <a:picLocks noChangeAspect="1"/>
          </p:cNvPicPr>
          <p:nvPr/>
        </p:nvPicPr>
        <p:blipFill>
          <a:blip r:embed="rId5"/>
          <a:stretch>
            <a:fillRect/>
          </a:stretch>
        </p:blipFill>
        <p:spPr>
          <a:xfrm>
            <a:off x="8548319" y="4474541"/>
            <a:ext cx="334412" cy="74315"/>
          </a:xfrm>
          <a:prstGeom prst="rect">
            <a:avLst/>
          </a:prstGeom>
        </p:spPr>
      </p:pic>
      <p:sp>
        <p:nvSpPr>
          <p:cNvPr id="1030" name="楕円 1029">
            <a:extLst>
              <a:ext uri="{FF2B5EF4-FFF2-40B4-BE49-F238E27FC236}">
                <a16:creationId xmlns:a16="http://schemas.microsoft.com/office/drawing/2014/main" id="{A0934BB8-8F8D-D4F0-8D59-8F32A6A6E03A}"/>
              </a:ext>
            </a:extLst>
          </p:cNvPr>
          <p:cNvSpPr/>
          <p:nvPr/>
        </p:nvSpPr>
        <p:spPr>
          <a:xfrm>
            <a:off x="8414131" y="2644225"/>
            <a:ext cx="396000" cy="396000"/>
          </a:xfrm>
          <a:prstGeom prst="ellipse">
            <a:avLst/>
          </a:prstGeom>
          <a:solidFill>
            <a:schemeClr val="bg1">
              <a:lumMod val="95000"/>
            </a:schemeClr>
          </a:solidFill>
          <a:ln w="952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600" dirty="0">
                <a:solidFill>
                  <a:schemeClr val="tx1"/>
                </a:solidFill>
                <a:latin typeface="メイリオ" panose="020B0604030504040204" pitchFamily="50" charset="-128"/>
                <a:ea typeface="メイリオ" panose="020B0604030504040204" pitchFamily="50" charset="-128"/>
              </a:rPr>
              <a:t>ロゴ</a:t>
            </a:r>
          </a:p>
        </p:txBody>
      </p:sp>
      <p:sp>
        <p:nvSpPr>
          <p:cNvPr id="34" name="正方形/長方形 33">
            <a:extLst>
              <a:ext uri="{FF2B5EF4-FFF2-40B4-BE49-F238E27FC236}">
                <a16:creationId xmlns:a16="http://schemas.microsoft.com/office/drawing/2014/main" id="{A593FC72-954C-48DC-E845-1A5FCE4C9E00}"/>
              </a:ext>
            </a:extLst>
          </p:cNvPr>
          <p:cNvSpPr/>
          <p:nvPr/>
        </p:nvSpPr>
        <p:spPr>
          <a:xfrm>
            <a:off x="315283" y="2196668"/>
            <a:ext cx="1778402" cy="3994401"/>
          </a:xfrm>
          <a:prstGeom prst="rect">
            <a:avLst/>
          </a:prstGeom>
          <a:noFill/>
          <a:ln>
            <a:solidFill>
              <a:schemeClr val="tx2">
                <a:lumMod val="20000"/>
                <a:lumOff val="8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35" name="二等辺三角形 34">
            <a:extLst>
              <a:ext uri="{FF2B5EF4-FFF2-40B4-BE49-F238E27FC236}">
                <a16:creationId xmlns:a16="http://schemas.microsoft.com/office/drawing/2014/main" id="{D9FB7255-AF30-7B82-6180-D447A3754744}"/>
              </a:ext>
            </a:extLst>
          </p:cNvPr>
          <p:cNvSpPr/>
          <p:nvPr/>
        </p:nvSpPr>
        <p:spPr>
          <a:xfrm rot="5400000">
            <a:off x="2108593" y="2360745"/>
            <a:ext cx="252701" cy="198744"/>
          </a:xfrm>
          <a:prstGeom prst="triangle">
            <a:avLst/>
          </a:prstGeom>
          <a:solidFill>
            <a:schemeClr val="tx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36" name="二等辺三角形 35">
            <a:extLst>
              <a:ext uri="{FF2B5EF4-FFF2-40B4-BE49-F238E27FC236}">
                <a16:creationId xmlns:a16="http://schemas.microsoft.com/office/drawing/2014/main" id="{626832A8-575E-5E2B-73F4-BE5567514E57}"/>
              </a:ext>
            </a:extLst>
          </p:cNvPr>
          <p:cNvSpPr/>
          <p:nvPr/>
        </p:nvSpPr>
        <p:spPr>
          <a:xfrm rot="5400000">
            <a:off x="2225165" y="2360745"/>
            <a:ext cx="252701" cy="198744"/>
          </a:xfrm>
          <a:prstGeom prst="triangle">
            <a:avLst/>
          </a:prstGeom>
          <a:solidFill>
            <a:schemeClr val="tx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37" name="二等辺三角形 36">
            <a:extLst>
              <a:ext uri="{FF2B5EF4-FFF2-40B4-BE49-F238E27FC236}">
                <a16:creationId xmlns:a16="http://schemas.microsoft.com/office/drawing/2014/main" id="{9D8E2C96-1207-00B8-6FC3-23370EFD7A03}"/>
              </a:ext>
            </a:extLst>
          </p:cNvPr>
          <p:cNvSpPr/>
          <p:nvPr/>
        </p:nvSpPr>
        <p:spPr>
          <a:xfrm rot="5400000">
            <a:off x="2341737" y="2360745"/>
            <a:ext cx="252701" cy="198744"/>
          </a:xfrm>
          <a:prstGeom prst="triangle">
            <a:avLst/>
          </a:prstGeom>
          <a:solidFill>
            <a:schemeClr val="tx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38" name="正方形/長方形 37">
            <a:extLst>
              <a:ext uri="{FF2B5EF4-FFF2-40B4-BE49-F238E27FC236}">
                <a16:creationId xmlns:a16="http://schemas.microsoft.com/office/drawing/2014/main" id="{28671F13-F479-AFF6-9832-C7C00D2D05EE}"/>
              </a:ext>
            </a:extLst>
          </p:cNvPr>
          <p:cNvSpPr/>
          <p:nvPr/>
        </p:nvSpPr>
        <p:spPr>
          <a:xfrm>
            <a:off x="614547" y="4198381"/>
            <a:ext cx="1154315" cy="244151"/>
          </a:xfrm>
          <a:prstGeom prst="rect">
            <a:avLst/>
          </a:prstGeom>
          <a:solidFill>
            <a:schemeClr val="bg1">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100" b="1" dirty="0">
                <a:latin typeface="メイリオ" panose="020B0604030504040204" pitchFamily="50" charset="-128"/>
                <a:ea typeface="メイリオ" panose="020B0604030504040204" pitchFamily="50" charset="-128"/>
              </a:rPr>
              <a:t>フォーム</a:t>
            </a:r>
          </a:p>
        </p:txBody>
      </p:sp>
      <p:pic>
        <p:nvPicPr>
          <p:cNvPr id="40" name="図 39" descr="テキスト, 手紙&#10;&#10;AI 生成コンテンツは誤りを含む可能性があります。">
            <a:extLst>
              <a:ext uri="{FF2B5EF4-FFF2-40B4-BE49-F238E27FC236}">
                <a16:creationId xmlns:a16="http://schemas.microsoft.com/office/drawing/2014/main" id="{2B8DDCE0-83B3-5BAA-0FFE-3D329FBE2D94}"/>
              </a:ext>
            </a:extLst>
          </p:cNvPr>
          <p:cNvPicPr>
            <a:picLocks noChangeAspect="1"/>
          </p:cNvPicPr>
          <p:nvPr/>
        </p:nvPicPr>
        <p:blipFill>
          <a:blip r:embed="rId6" cstate="print">
            <a:extLst>
              <a:ext uri="{28A0092B-C50C-407E-A947-70E740481C1C}">
                <a14:useLocalDpi xmlns:a14="http://schemas.microsoft.com/office/drawing/2010/main" val="0"/>
              </a:ext>
            </a:extLst>
          </a:blip>
          <a:srcRect t="4580"/>
          <a:stretch>
            <a:fillRect/>
          </a:stretch>
        </p:blipFill>
        <p:spPr>
          <a:xfrm>
            <a:off x="663353" y="2289246"/>
            <a:ext cx="1048252" cy="1775437"/>
          </a:xfrm>
          <a:prstGeom prst="rect">
            <a:avLst/>
          </a:prstGeom>
        </p:spPr>
      </p:pic>
      <p:pic>
        <p:nvPicPr>
          <p:cNvPr id="41" name="図 40">
            <a:extLst>
              <a:ext uri="{FF2B5EF4-FFF2-40B4-BE49-F238E27FC236}">
                <a16:creationId xmlns:a16="http://schemas.microsoft.com/office/drawing/2014/main" id="{EE7C7FD3-78CB-4D67-F96A-D6F8017FE224}"/>
              </a:ext>
            </a:extLst>
          </p:cNvPr>
          <p:cNvPicPr>
            <a:picLocks noChangeAspect="1"/>
          </p:cNvPicPr>
          <p:nvPr/>
        </p:nvPicPr>
        <p:blipFill>
          <a:blip r:embed="rId7"/>
          <a:stretch>
            <a:fillRect/>
          </a:stretch>
        </p:blipFill>
        <p:spPr>
          <a:xfrm>
            <a:off x="641171" y="2325575"/>
            <a:ext cx="494484" cy="86136"/>
          </a:xfrm>
          <a:prstGeom prst="rect">
            <a:avLst/>
          </a:prstGeom>
        </p:spPr>
      </p:pic>
      <p:pic>
        <p:nvPicPr>
          <p:cNvPr id="42" name="図 41">
            <a:extLst>
              <a:ext uri="{FF2B5EF4-FFF2-40B4-BE49-F238E27FC236}">
                <a16:creationId xmlns:a16="http://schemas.microsoft.com/office/drawing/2014/main" id="{2E6CA8C2-2D04-CD9A-C431-4766768BBF3D}"/>
              </a:ext>
            </a:extLst>
          </p:cNvPr>
          <p:cNvPicPr>
            <a:picLocks noChangeAspect="1"/>
          </p:cNvPicPr>
          <p:nvPr/>
        </p:nvPicPr>
        <p:blipFill>
          <a:blip r:embed="rId7"/>
          <a:stretch>
            <a:fillRect/>
          </a:stretch>
        </p:blipFill>
        <p:spPr>
          <a:xfrm>
            <a:off x="630233" y="2328011"/>
            <a:ext cx="494484" cy="86136"/>
          </a:xfrm>
          <a:prstGeom prst="rect">
            <a:avLst/>
          </a:prstGeom>
        </p:spPr>
      </p:pic>
      <p:pic>
        <p:nvPicPr>
          <p:cNvPr id="47" name="図 46">
            <a:extLst>
              <a:ext uri="{FF2B5EF4-FFF2-40B4-BE49-F238E27FC236}">
                <a16:creationId xmlns:a16="http://schemas.microsoft.com/office/drawing/2014/main" id="{E5BE860E-2799-E5F4-ADCA-4ADBD44E0D0C}"/>
              </a:ext>
            </a:extLst>
          </p:cNvPr>
          <p:cNvPicPr>
            <a:picLocks noChangeAspect="1"/>
          </p:cNvPicPr>
          <p:nvPr/>
        </p:nvPicPr>
        <p:blipFill>
          <a:blip r:embed="rId7"/>
          <a:stretch>
            <a:fillRect/>
          </a:stretch>
        </p:blipFill>
        <p:spPr>
          <a:xfrm>
            <a:off x="810116" y="3773334"/>
            <a:ext cx="494484" cy="86136"/>
          </a:xfrm>
          <a:prstGeom prst="rect">
            <a:avLst/>
          </a:prstGeom>
        </p:spPr>
      </p:pic>
      <p:pic>
        <p:nvPicPr>
          <p:cNvPr id="55" name="図 54">
            <a:extLst>
              <a:ext uri="{FF2B5EF4-FFF2-40B4-BE49-F238E27FC236}">
                <a16:creationId xmlns:a16="http://schemas.microsoft.com/office/drawing/2014/main" id="{8AF12F67-4C9A-867F-4608-8FE9DA811630}"/>
              </a:ext>
            </a:extLst>
          </p:cNvPr>
          <p:cNvPicPr>
            <a:picLocks noChangeAspect="1"/>
          </p:cNvPicPr>
          <p:nvPr/>
        </p:nvPicPr>
        <p:blipFill>
          <a:blip r:embed="rId8"/>
          <a:stretch>
            <a:fillRect/>
          </a:stretch>
        </p:blipFill>
        <p:spPr>
          <a:xfrm>
            <a:off x="647157" y="2445202"/>
            <a:ext cx="1076073" cy="1468487"/>
          </a:xfrm>
          <a:prstGeom prst="rect">
            <a:avLst/>
          </a:prstGeom>
        </p:spPr>
      </p:pic>
      <p:pic>
        <p:nvPicPr>
          <p:cNvPr id="1024" name="図 1023">
            <a:extLst>
              <a:ext uri="{FF2B5EF4-FFF2-40B4-BE49-F238E27FC236}">
                <a16:creationId xmlns:a16="http://schemas.microsoft.com/office/drawing/2014/main" id="{E5E4719A-E6F5-34E0-F2FD-37322E2A76AA}"/>
              </a:ext>
            </a:extLst>
          </p:cNvPr>
          <p:cNvPicPr>
            <a:picLocks noChangeAspect="1"/>
          </p:cNvPicPr>
          <p:nvPr/>
        </p:nvPicPr>
        <p:blipFill>
          <a:blip r:embed="rId9"/>
          <a:stretch>
            <a:fillRect/>
          </a:stretch>
        </p:blipFill>
        <p:spPr>
          <a:xfrm>
            <a:off x="1125324" y="2303179"/>
            <a:ext cx="560995" cy="133465"/>
          </a:xfrm>
          <a:prstGeom prst="rect">
            <a:avLst/>
          </a:prstGeom>
        </p:spPr>
      </p:pic>
      <p:sp>
        <p:nvSpPr>
          <p:cNvPr id="1026" name="テキスト ボックス 1025">
            <a:extLst>
              <a:ext uri="{FF2B5EF4-FFF2-40B4-BE49-F238E27FC236}">
                <a16:creationId xmlns:a16="http://schemas.microsoft.com/office/drawing/2014/main" id="{1B57767B-4EA3-C247-B88C-4D505A95BD20}"/>
              </a:ext>
            </a:extLst>
          </p:cNvPr>
          <p:cNvSpPr txBox="1"/>
          <p:nvPr/>
        </p:nvSpPr>
        <p:spPr>
          <a:xfrm>
            <a:off x="-490844" y="4711039"/>
            <a:ext cx="3405553" cy="400110"/>
          </a:xfrm>
          <a:prstGeom prst="rect">
            <a:avLst/>
          </a:prstGeom>
          <a:noFill/>
        </p:spPr>
        <p:txBody>
          <a:bodyPr wrap="square">
            <a:spAutoFit/>
          </a:bodyPr>
          <a:lstStyle/>
          <a:p>
            <a:pPr algn="ctr"/>
            <a:r>
              <a:rPr lang="en-US" altLang="ja-JP" sz="1000" b="1" dirty="0">
                <a:solidFill>
                  <a:srgbClr val="FF0000"/>
                </a:solidFill>
                <a:latin typeface="メイリオ" panose="020B0604030504040204" pitchFamily="50" charset="-128"/>
                <a:ea typeface="メイリオ" panose="020B0604030504040204" pitchFamily="50" charset="-128"/>
              </a:rPr>
              <a:t>※</a:t>
            </a:r>
            <a:r>
              <a:rPr lang="ja-JP" altLang="en-US" sz="1000" b="1" dirty="0">
                <a:solidFill>
                  <a:srgbClr val="FF0000"/>
                </a:solidFill>
                <a:latin typeface="メイリオ" panose="020B0604030504040204" pitchFamily="50" charset="-128"/>
                <a:ea typeface="メイリオ" panose="020B0604030504040204" pitchFamily="50" charset="-128"/>
              </a:rPr>
              <a:t>入力した内容を</a:t>
            </a:r>
            <a:endParaRPr lang="en-US" altLang="ja-JP" sz="1000" b="1" dirty="0">
              <a:solidFill>
                <a:srgbClr val="FF0000"/>
              </a:solidFill>
              <a:latin typeface="メイリオ" panose="020B0604030504040204" pitchFamily="50" charset="-128"/>
              <a:ea typeface="メイリオ" panose="020B0604030504040204" pitchFamily="50" charset="-128"/>
            </a:endParaRPr>
          </a:p>
          <a:p>
            <a:pPr algn="ctr"/>
            <a:r>
              <a:rPr lang="ja-JP" altLang="en-US" sz="1000" b="1" dirty="0">
                <a:solidFill>
                  <a:srgbClr val="FF0000"/>
                </a:solidFill>
                <a:latin typeface="メイリオ" panose="020B0604030504040204" pitchFamily="50" charset="-128"/>
                <a:ea typeface="メイリオ" panose="020B0604030504040204" pitchFamily="50" charset="-128"/>
              </a:rPr>
              <a:t>トークに反映が可能。</a:t>
            </a:r>
            <a:endParaRPr lang="en-US" altLang="ja-JP" sz="1000" b="1" dirty="0">
              <a:solidFill>
                <a:srgbClr val="FF0000"/>
              </a:solidFill>
              <a:latin typeface="メイリオ" panose="020B0604030504040204" pitchFamily="50" charset="-128"/>
              <a:ea typeface="メイリオ" panose="020B0604030504040204" pitchFamily="50" charset="-128"/>
            </a:endParaRPr>
          </a:p>
        </p:txBody>
      </p:sp>
      <p:sp>
        <p:nvSpPr>
          <p:cNvPr id="1032" name="正方形/長方形 1031">
            <a:extLst>
              <a:ext uri="{FF2B5EF4-FFF2-40B4-BE49-F238E27FC236}">
                <a16:creationId xmlns:a16="http://schemas.microsoft.com/office/drawing/2014/main" id="{D1D96D42-255C-636E-49E5-2CDA95DD6764}"/>
              </a:ext>
            </a:extLst>
          </p:cNvPr>
          <p:cNvSpPr/>
          <p:nvPr/>
        </p:nvSpPr>
        <p:spPr>
          <a:xfrm>
            <a:off x="2584156" y="2196668"/>
            <a:ext cx="1778402" cy="3994401"/>
          </a:xfrm>
          <a:prstGeom prst="rect">
            <a:avLst/>
          </a:prstGeom>
          <a:solidFill>
            <a:schemeClr val="bg1"/>
          </a:solidFill>
          <a:ln>
            <a:solidFill>
              <a:schemeClr val="tx2">
                <a:lumMod val="20000"/>
                <a:lumOff val="8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034" name="正方形/長方形 1033">
            <a:extLst>
              <a:ext uri="{FF2B5EF4-FFF2-40B4-BE49-F238E27FC236}">
                <a16:creationId xmlns:a16="http://schemas.microsoft.com/office/drawing/2014/main" id="{8693E451-BCB1-207B-6B73-131F2A8588BF}"/>
              </a:ext>
            </a:extLst>
          </p:cNvPr>
          <p:cNvSpPr/>
          <p:nvPr/>
        </p:nvSpPr>
        <p:spPr>
          <a:xfrm>
            <a:off x="2909322" y="4198381"/>
            <a:ext cx="1154315" cy="244151"/>
          </a:xfrm>
          <a:prstGeom prst="rect">
            <a:avLst/>
          </a:prstGeom>
          <a:solidFill>
            <a:schemeClr val="tx1">
              <a:lumMod val="65000"/>
              <a:lumOff val="3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1100" b="1" dirty="0">
                <a:latin typeface="メイリオ" panose="020B0604030504040204" pitchFamily="50" charset="-128"/>
                <a:ea typeface="メイリオ" panose="020B0604030504040204" pitchFamily="50" charset="-128"/>
              </a:rPr>
              <a:t>CV</a:t>
            </a:r>
            <a:endParaRPr kumimoji="1" lang="ja-JP" altLang="en-US" sz="1100" b="1" dirty="0">
              <a:latin typeface="メイリオ" panose="020B0604030504040204" pitchFamily="50" charset="-128"/>
              <a:ea typeface="メイリオ" panose="020B0604030504040204" pitchFamily="50" charset="-128"/>
            </a:endParaRPr>
          </a:p>
        </p:txBody>
      </p:sp>
      <p:sp>
        <p:nvSpPr>
          <p:cNvPr id="1036" name="正方形/長方形 1035">
            <a:extLst>
              <a:ext uri="{FF2B5EF4-FFF2-40B4-BE49-F238E27FC236}">
                <a16:creationId xmlns:a16="http://schemas.microsoft.com/office/drawing/2014/main" id="{43EEA9CC-C52C-B219-FF18-6E6EA44E4D24}"/>
              </a:ext>
            </a:extLst>
          </p:cNvPr>
          <p:cNvSpPr/>
          <p:nvPr/>
        </p:nvSpPr>
        <p:spPr>
          <a:xfrm>
            <a:off x="2692868" y="4436119"/>
            <a:ext cx="1396722" cy="1045027"/>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kumimoji="1" lang="ja-JP" altLang="en-US" sz="1100" b="1" dirty="0">
                <a:solidFill>
                  <a:schemeClr val="tx1">
                    <a:lumMod val="50000"/>
                    <a:lumOff val="50000"/>
                  </a:schemeClr>
                </a:solidFill>
                <a:latin typeface="メイリオ" panose="020B0604030504040204" pitchFamily="50" charset="-128"/>
                <a:ea typeface="メイリオ" panose="020B0604030504040204" pitchFamily="50" charset="-128"/>
              </a:rPr>
              <a:t>・購入完了</a:t>
            </a:r>
            <a:endParaRPr kumimoji="1" lang="en-US" altLang="ja-JP" sz="1100" b="1" dirty="0">
              <a:solidFill>
                <a:schemeClr val="tx1">
                  <a:lumMod val="50000"/>
                  <a:lumOff val="50000"/>
                </a:schemeClr>
              </a:solidFill>
              <a:latin typeface="メイリオ" panose="020B0604030504040204" pitchFamily="50" charset="-128"/>
              <a:ea typeface="メイリオ" panose="020B0604030504040204" pitchFamily="50" charset="-128"/>
            </a:endParaRPr>
          </a:p>
          <a:p>
            <a:r>
              <a:rPr kumimoji="1" lang="ja-JP" altLang="en-US" sz="1100" b="1" dirty="0">
                <a:solidFill>
                  <a:schemeClr val="tx1">
                    <a:lumMod val="50000"/>
                    <a:lumOff val="50000"/>
                  </a:schemeClr>
                </a:solidFill>
                <a:latin typeface="メイリオ" panose="020B0604030504040204" pitchFamily="50" charset="-128"/>
                <a:ea typeface="メイリオ" panose="020B0604030504040204" pitchFamily="50" charset="-128"/>
              </a:rPr>
              <a:t>・セミナー予約</a:t>
            </a:r>
            <a:endParaRPr kumimoji="1" lang="en-US" altLang="ja-JP" sz="1100" b="1" dirty="0">
              <a:solidFill>
                <a:schemeClr val="tx1">
                  <a:lumMod val="50000"/>
                  <a:lumOff val="50000"/>
                </a:schemeClr>
              </a:solidFill>
              <a:latin typeface="メイリオ" panose="020B0604030504040204" pitchFamily="50" charset="-128"/>
              <a:ea typeface="メイリオ" panose="020B0604030504040204" pitchFamily="50" charset="-128"/>
            </a:endParaRPr>
          </a:p>
          <a:p>
            <a:r>
              <a:rPr kumimoji="1" lang="ja-JP" altLang="en-US" sz="1100" b="1" dirty="0">
                <a:solidFill>
                  <a:schemeClr val="tx1">
                    <a:lumMod val="50000"/>
                    <a:lumOff val="50000"/>
                  </a:schemeClr>
                </a:solidFill>
                <a:latin typeface="メイリオ" panose="020B0604030504040204" pitchFamily="50" charset="-128"/>
                <a:ea typeface="メイリオ" panose="020B0604030504040204" pitchFamily="50" charset="-128"/>
              </a:rPr>
              <a:t>・登録完了</a:t>
            </a:r>
            <a:endParaRPr kumimoji="1" lang="en-US" altLang="ja-JP" sz="1100" b="1" dirty="0">
              <a:solidFill>
                <a:schemeClr val="tx1">
                  <a:lumMod val="50000"/>
                  <a:lumOff val="50000"/>
                </a:schemeClr>
              </a:solidFill>
              <a:latin typeface="メイリオ" panose="020B0604030504040204" pitchFamily="50" charset="-128"/>
              <a:ea typeface="メイリオ" panose="020B0604030504040204" pitchFamily="50" charset="-128"/>
            </a:endParaRPr>
          </a:p>
          <a:p>
            <a:r>
              <a:rPr lang="ja-JP" altLang="en-US" sz="1100" b="1" dirty="0">
                <a:solidFill>
                  <a:schemeClr val="tx1">
                    <a:lumMod val="50000"/>
                    <a:lumOff val="50000"/>
                  </a:schemeClr>
                </a:solidFill>
                <a:latin typeface="メイリオ" panose="020B0604030504040204" pitchFamily="50" charset="-128"/>
                <a:ea typeface="メイリオ" panose="020B0604030504040204" pitchFamily="50" charset="-128"/>
              </a:rPr>
              <a:t>・メルマガ登録</a:t>
            </a:r>
            <a:endParaRPr lang="en-US" altLang="ja-JP" sz="1100" b="1" dirty="0">
              <a:solidFill>
                <a:schemeClr val="tx1">
                  <a:lumMod val="50000"/>
                  <a:lumOff val="50000"/>
                </a:schemeClr>
              </a:solidFill>
              <a:latin typeface="メイリオ" panose="020B0604030504040204" pitchFamily="50" charset="-128"/>
              <a:ea typeface="メイリオ" panose="020B0604030504040204" pitchFamily="50" charset="-128"/>
            </a:endParaRPr>
          </a:p>
          <a:p>
            <a:r>
              <a:rPr kumimoji="1" lang="ja-JP" altLang="en-US" sz="1100" b="1" dirty="0">
                <a:solidFill>
                  <a:schemeClr val="tx1">
                    <a:lumMod val="50000"/>
                    <a:lumOff val="50000"/>
                  </a:schemeClr>
                </a:solidFill>
                <a:latin typeface="メイリオ" panose="020B0604030504040204" pitchFamily="50" charset="-128"/>
                <a:ea typeface="メイリオ" panose="020B0604030504040204" pitchFamily="50" charset="-128"/>
              </a:rPr>
              <a:t>・その他</a:t>
            </a:r>
          </a:p>
        </p:txBody>
      </p:sp>
      <p:pic>
        <p:nvPicPr>
          <p:cNvPr id="1038" name="図 1037" descr="テキスト, 手紙&#10;&#10;AI 生成コンテンツは誤りを含む可能性があります。">
            <a:extLst>
              <a:ext uri="{FF2B5EF4-FFF2-40B4-BE49-F238E27FC236}">
                <a16:creationId xmlns:a16="http://schemas.microsoft.com/office/drawing/2014/main" id="{85260668-6C66-A032-FFE0-0276021F9433}"/>
              </a:ext>
            </a:extLst>
          </p:cNvPr>
          <p:cNvPicPr>
            <a:picLocks noChangeAspect="1"/>
          </p:cNvPicPr>
          <p:nvPr/>
        </p:nvPicPr>
        <p:blipFill>
          <a:blip r:embed="rId6" cstate="print">
            <a:extLst>
              <a:ext uri="{28A0092B-C50C-407E-A947-70E740481C1C}">
                <a14:useLocalDpi xmlns:a14="http://schemas.microsoft.com/office/drawing/2010/main" val="0"/>
              </a:ext>
            </a:extLst>
          </a:blip>
          <a:srcRect t="4580"/>
          <a:stretch>
            <a:fillRect/>
          </a:stretch>
        </p:blipFill>
        <p:spPr>
          <a:xfrm>
            <a:off x="2977448" y="2296209"/>
            <a:ext cx="1048252" cy="1775437"/>
          </a:xfrm>
          <a:prstGeom prst="rect">
            <a:avLst/>
          </a:prstGeom>
        </p:spPr>
      </p:pic>
      <p:pic>
        <p:nvPicPr>
          <p:cNvPr id="1039" name="Picture 2" descr="買い物完了！イラスト｜無料イラスト・フリー素材なら「イラストAC」">
            <a:extLst>
              <a:ext uri="{FF2B5EF4-FFF2-40B4-BE49-F238E27FC236}">
                <a16:creationId xmlns:a16="http://schemas.microsoft.com/office/drawing/2014/main" id="{23D05307-D6FE-6284-27D3-3433EE0122E2}"/>
              </a:ext>
            </a:extLst>
          </p:cNvPr>
          <p:cNvPicPr>
            <a:picLocks noChangeAspect="1" noChangeArrowheads="1"/>
          </p:cNvPicPr>
          <p:nvPr/>
        </p:nvPicPr>
        <p:blipFill rotWithShape="1">
          <a:blip r:embed="rId10" cstate="print">
            <a:extLst>
              <a:ext uri="{28A0092B-C50C-407E-A947-70E740481C1C}">
                <a14:useLocalDpi xmlns:a14="http://schemas.microsoft.com/office/drawing/2010/main" val="0"/>
              </a:ext>
            </a:extLst>
          </a:blip>
          <a:srcRect l="20270" r="23682"/>
          <a:stretch>
            <a:fillRect/>
          </a:stretch>
        </p:blipFill>
        <p:spPr bwMode="auto">
          <a:xfrm>
            <a:off x="3866329" y="4627146"/>
            <a:ext cx="395417" cy="529521"/>
          </a:xfrm>
          <a:prstGeom prst="rect">
            <a:avLst/>
          </a:prstGeom>
          <a:noFill/>
          <a:extLst>
            <a:ext uri="{909E8E84-426E-40DD-AFC4-6F175D3DCCD1}">
              <a14:hiddenFill xmlns:a14="http://schemas.microsoft.com/office/drawing/2010/main">
                <a:solidFill>
                  <a:srgbClr val="FFFFFF"/>
                </a:solidFill>
              </a14:hiddenFill>
            </a:ext>
          </a:extLst>
        </p:spPr>
      </p:pic>
      <p:pic>
        <p:nvPicPr>
          <p:cNvPr id="1040" name="図 1039">
            <a:extLst>
              <a:ext uri="{FF2B5EF4-FFF2-40B4-BE49-F238E27FC236}">
                <a16:creationId xmlns:a16="http://schemas.microsoft.com/office/drawing/2014/main" id="{D40EFC68-F8C8-CACE-392A-C804A102B410}"/>
              </a:ext>
            </a:extLst>
          </p:cNvPr>
          <p:cNvPicPr>
            <a:picLocks noChangeAspect="1"/>
          </p:cNvPicPr>
          <p:nvPr/>
        </p:nvPicPr>
        <p:blipFill>
          <a:blip r:embed="rId7"/>
          <a:stretch>
            <a:fillRect/>
          </a:stretch>
        </p:blipFill>
        <p:spPr>
          <a:xfrm>
            <a:off x="2955266" y="2332538"/>
            <a:ext cx="494484" cy="86136"/>
          </a:xfrm>
          <a:prstGeom prst="rect">
            <a:avLst/>
          </a:prstGeom>
        </p:spPr>
      </p:pic>
      <p:pic>
        <p:nvPicPr>
          <p:cNvPr id="1041" name="図 1040">
            <a:extLst>
              <a:ext uri="{FF2B5EF4-FFF2-40B4-BE49-F238E27FC236}">
                <a16:creationId xmlns:a16="http://schemas.microsoft.com/office/drawing/2014/main" id="{BA9B0596-4197-6BA5-B58D-7E67FD1379B1}"/>
              </a:ext>
            </a:extLst>
          </p:cNvPr>
          <p:cNvPicPr>
            <a:picLocks noChangeAspect="1"/>
          </p:cNvPicPr>
          <p:nvPr/>
        </p:nvPicPr>
        <p:blipFill>
          <a:blip r:embed="rId7"/>
          <a:stretch>
            <a:fillRect/>
          </a:stretch>
        </p:blipFill>
        <p:spPr>
          <a:xfrm>
            <a:off x="2944328" y="2334974"/>
            <a:ext cx="494484" cy="86136"/>
          </a:xfrm>
          <a:prstGeom prst="rect">
            <a:avLst/>
          </a:prstGeom>
        </p:spPr>
      </p:pic>
      <p:pic>
        <p:nvPicPr>
          <p:cNvPr id="1042" name="図 1041">
            <a:extLst>
              <a:ext uri="{FF2B5EF4-FFF2-40B4-BE49-F238E27FC236}">
                <a16:creationId xmlns:a16="http://schemas.microsoft.com/office/drawing/2014/main" id="{A3D5D1CE-703D-3244-20B5-0CBB6C5EB467}"/>
              </a:ext>
            </a:extLst>
          </p:cNvPr>
          <p:cNvPicPr>
            <a:picLocks noChangeAspect="1"/>
          </p:cNvPicPr>
          <p:nvPr/>
        </p:nvPicPr>
        <p:blipFill>
          <a:blip r:embed="rId7"/>
          <a:stretch>
            <a:fillRect/>
          </a:stretch>
        </p:blipFill>
        <p:spPr>
          <a:xfrm>
            <a:off x="3124211" y="3780297"/>
            <a:ext cx="494484" cy="86136"/>
          </a:xfrm>
          <a:prstGeom prst="rect">
            <a:avLst/>
          </a:prstGeom>
        </p:spPr>
      </p:pic>
      <p:sp>
        <p:nvSpPr>
          <p:cNvPr id="1043" name="テキスト ボックス 1042">
            <a:extLst>
              <a:ext uri="{FF2B5EF4-FFF2-40B4-BE49-F238E27FC236}">
                <a16:creationId xmlns:a16="http://schemas.microsoft.com/office/drawing/2014/main" id="{434489DF-76E5-B08D-AB93-7A020A3C23F0}"/>
              </a:ext>
            </a:extLst>
          </p:cNvPr>
          <p:cNvSpPr txBox="1"/>
          <p:nvPr/>
        </p:nvSpPr>
        <p:spPr>
          <a:xfrm>
            <a:off x="1254839" y="5195928"/>
            <a:ext cx="1679395" cy="338554"/>
          </a:xfrm>
          <a:prstGeom prst="rect">
            <a:avLst/>
          </a:prstGeom>
          <a:solidFill>
            <a:schemeClr val="bg1">
              <a:alpha val="56000"/>
            </a:schemeClr>
          </a:solidFill>
        </p:spPr>
        <p:txBody>
          <a:bodyPr wrap="square">
            <a:spAutoFit/>
          </a:bodyPr>
          <a:lstStyle/>
          <a:p>
            <a:pPr algn="ctr"/>
            <a:r>
              <a:rPr lang="en-US" altLang="ja-JP" sz="800" b="1" dirty="0">
                <a:solidFill>
                  <a:schemeClr val="bg1">
                    <a:lumMod val="85000"/>
                  </a:schemeClr>
                </a:solidFill>
                <a:latin typeface="メイリオ" panose="020B0604030504040204" pitchFamily="50" charset="-128"/>
                <a:ea typeface="メイリオ" panose="020B0604030504040204" pitchFamily="50" charset="-128"/>
              </a:rPr>
              <a:t>※</a:t>
            </a:r>
            <a:r>
              <a:rPr lang="ja-JP" altLang="en-US" sz="800" b="1" dirty="0">
                <a:solidFill>
                  <a:schemeClr val="bg1">
                    <a:lumMod val="85000"/>
                  </a:schemeClr>
                </a:solidFill>
                <a:latin typeface="メイリオ" panose="020B0604030504040204" pitchFamily="50" charset="-128"/>
                <a:ea typeface="メイリオ" panose="020B0604030504040204" pitchFamily="50" charset="-128"/>
              </a:rPr>
              <a:t>ユーザーの個人情報収集が</a:t>
            </a:r>
            <a:endParaRPr lang="en-US" altLang="ja-JP" sz="800" b="1" dirty="0">
              <a:solidFill>
                <a:schemeClr val="bg1">
                  <a:lumMod val="85000"/>
                </a:schemeClr>
              </a:solidFill>
              <a:latin typeface="メイリオ" panose="020B0604030504040204" pitchFamily="50" charset="-128"/>
              <a:ea typeface="メイリオ" panose="020B0604030504040204" pitchFamily="50" charset="-128"/>
            </a:endParaRPr>
          </a:p>
          <a:p>
            <a:pPr algn="ctr"/>
            <a:r>
              <a:rPr lang="ja-JP" altLang="en-US" sz="800" b="1" dirty="0">
                <a:solidFill>
                  <a:schemeClr val="bg1">
                    <a:lumMod val="85000"/>
                  </a:schemeClr>
                </a:solidFill>
                <a:latin typeface="メイリオ" panose="020B0604030504040204" pitchFamily="50" charset="-128"/>
                <a:ea typeface="メイリオ" panose="020B0604030504040204" pitchFamily="50" charset="-128"/>
              </a:rPr>
              <a:t>完了したタイミング</a:t>
            </a:r>
            <a:endParaRPr kumimoji="1" lang="ja-JP" altLang="en-US" sz="800" b="1" dirty="0">
              <a:solidFill>
                <a:schemeClr val="bg1">
                  <a:lumMod val="85000"/>
                </a:schemeClr>
              </a:solidFill>
              <a:latin typeface="メイリオ" panose="020B0604030504040204" pitchFamily="50" charset="-128"/>
              <a:ea typeface="メイリオ" panose="020B0604030504040204" pitchFamily="50" charset="-128"/>
            </a:endParaRPr>
          </a:p>
        </p:txBody>
      </p:sp>
      <p:grpSp>
        <p:nvGrpSpPr>
          <p:cNvPr id="3" name="グループ化 2">
            <a:extLst>
              <a:ext uri="{FF2B5EF4-FFF2-40B4-BE49-F238E27FC236}">
                <a16:creationId xmlns:a16="http://schemas.microsoft.com/office/drawing/2014/main" id="{E76D8F54-2926-2D56-7238-F66ACCBC4F20}"/>
              </a:ext>
            </a:extLst>
          </p:cNvPr>
          <p:cNvGrpSpPr/>
          <p:nvPr/>
        </p:nvGrpSpPr>
        <p:grpSpPr>
          <a:xfrm>
            <a:off x="543398" y="777681"/>
            <a:ext cx="3105325" cy="485102"/>
            <a:chOff x="507969" y="928495"/>
            <a:chExt cx="3105325" cy="485102"/>
          </a:xfrm>
        </p:grpSpPr>
        <p:sp>
          <p:nvSpPr>
            <p:cNvPr id="4" name="Google Shape;51;p19">
              <a:extLst>
                <a:ext uri="{FF2B5EF4-FFF2-40B4-BE49-F238E27FC236}">
                  <a16:creationId xmlns:a16="http://schemas.microsoft.com/office/drawing/2014/main" id="{98F6BB16-EFC6-9846-2A11-E624E876E64B}"/>
                </a:ext>
              </a:extLst>
            </p:cNvPr>
            <p:cNvSpPr/>
            <p:nvPr/>
          </p:nvSpPr>
          <p:spPr>
            <a:xfrm>
              <a:off x="507969" y="928495"/>
              <a:ext cx="3105325" cy="485102"/>
            </a:xfrm>
            <a:prstGeom prst="roundRect">
              <a:avLst>
                <a:gd name="adj" fmla="val 16667"/>
              </a:avLst>
            </a:prstGeom>
            <a:solidFill>
              <a:schemeClr val="dk1"/>
            </a:solidFill>
            <a:ln>
              <a:noFill/>
            </a:ln>
          </p:spPr>
          <p:txBody>
            <a:bodyPr spcFirstLastPara="1" wrap="square" lIns="91425" tIns="45700" rIns="91425" bIns="45700" anchor="ctr"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marL="0" marR="0" lvl="0" indent="0" algn="ctr" rtl="0">
                <a:lnSpc>
                  <a:spcPct val="100000"/>
                </a:lnSpc>
                <a:spcBef>
                  <a:spcPts val="0"/>
                </a:spcBef>
                <a:spcAft>
                  <a:spcPts val="0"/>
                </a:spcAft>
                <a:buClr>
                  <a:srgbClr val="000000"/>
                </a:buClr>
                <a:buSzPts val="1400"/>
                <a:buFont typeface="Arial"/>
                <a:buNone/>
              </a:pPr>
              <a:endParaRPr sz="1400" b="1" i="0" u="none" strike="noStrike" cap="none" dirty="0">
                <a:solidFill>
                  <a:schemeClr val="lt1"/>
                </a:solidFill>
                <a:latin typeface="Meiryo"/>
                <a:ea typeface="Meiryo"/>
                <a:cs typeface="Meiryo"/>
                <a:sym typeface="Meiryo"/>
              </a:endParaRPr>
            </a:p>
          </p:txBody>
        </p:sp>
        <p:sp>
          <p:nvSpPr>
            <p:cNvPr id="5" name="テキスト ボックス 4">
              <a:extLst>
                <a:ext uri="{FF2B5EF4-FFF2-40B4-BE49-F238E27FC236}">
                  <a16:creationId xmlns:a16="http://schemas.microsoft.com/office/drawing/2014/main" id="{560EDF30-5F09-B70A-2993-8CD4F9E40EFA}"/>
                </a:ext>
              </a:extLst>
            </p:cNvPr>
            <p:cNvSpPr txBox="1"/>
            <p:nvPr/>
          </p:nvSpPr>
          <p:spPr>
            <a:xfrm>
              <a:off x="1140096" y="988192"/>
              <a:ext cx="1832553" cy="357790"/>
            </a:xfrm>
            <a:prstGeom prst="rect">
              <a:avLst/>
            </a:prstGeom>
            <a:noFill/>
          </p:spPr>
          <p:txBody>
            <a:bodyPr wrap="none" rtlCol="0">
              <a:sp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a:lnSpc>
                  <a:spcPct val="120000"/>
                </a:lnSpc>
              </a:pPr>
              <a:r>
                <a:rPr kumimoji="1" lang="ja-JP" altLang="en-US" sz="1500" b="1" dirty="0">
                  <a:solidFill>
                    <a:schemeClr val="bg1"/>
                  </a:solidFill>
                  <a:latin typeface="Meiryo" panose="020B0604030504040204" pitchFamily="34" charset="-128"/>
                  <a:ea typeface="Meiryo" panose="020B0604030504040204" pitchFamily="34" charset="-128"/>
                </a:rPr>
                <a:t>サンクス</a:t>
              </a:r>
              <a:r>
                <a:rPr kumimoji="1" lang="en-US" altLang="ja-JP" sz="1500" b="1" dirty="0">
                  <a:solidFill>
                    <a:schemeClr val="bg1"/>
                  </a:solidFill>
                  <a:latin typeface="Meiryo" panose="020B0604030504040204" pitchFamily="34" charset="-128"/>
                  <a:ea typeface="Meiryo" panose="020B0604030504040204" pitchFamily="34" charset="-128"/>
                </a:rPr>
                <a:t>LINE</a:t>
              </a:r>
              <a:r>
                <a:rPr kumimoji="1" lang="ja-JP" altLang="en-US" sz="1500" b="1" dirty="0">
                  <a:solidFill>
                    <a:schemeClr val="bg1"/>
                  </a:solidFill>
                  <a:latin typeface="Meiryo" panose="020B0604030504040204" pitchFamily="34" charset="-128"/>
                  <a:ea typeface="Meiryo" panose="020B0604030504040204" pitchFamily="34" charset="-128"/>
                </a:rPr>
                <a:t>誘導</a:t>
              </a:r>
            </a:p>
          </p:txBody>
        </p:sp>
      </p:grpSp>
      <p:sp>
        <p:nvSpPr>
          <p:cNvPr id="6" name="正方形/長方形 5">
            <a:extLst>
              <a:ext uri="{FF2B5EF4-FFF2-40B4-BE49-F238E27FC236}">
                <a16:creationId xmlns:a16="http://schemas.microsoft.com/office/drawing/2014/main" id="{8B20BFF3-9D3E-A4D7-FF5A-70927F78FC9D}"/>
              </a:ext>
            </a:extLst>
          </p:cNvPr>
          <p:cNvSpPr/>
          <p:nvPr/>
        </p:nvSpPr>
        <p:spPr>
          <a:xfrm>
            <a:off x="8247347" y="4702330"/>
            <a:ext cx="899499" cy="799596"/>
          </a:xfrm>
          <a:prstGeom prst="rect">
            <a:avLst/>
          </a:prstGeom>
          <a:no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cxnSp>
        <p:nvCxnSpPr>
          <p:cNvPr id="7" name="コネクタ: カギ線 6">
            <a:extLst>
              <a:ext uri="{FF2B5EF4-FFF2-40B4-BE49-F238E27FC236}">
                <a16:creationId xmlns:a16="http://schemas.microsoft.com/office/drawing/2014/main" id="{C5EB654A-0759-70F8-6BA7-95CA3A0F983F}"/>
              </a:ext>
            </a:extLst>
          </p:cNvPr>
          <p:cNvCxnSpPr>
            <a:cxnSpLocks/>
          </p:cNvCxnSpPr>
          <p:nvPr/>
        </p:nvCxnSpPr>
        <p:spPr>
          <a:xfrm flipV="1">
            <a:off x="7672763" y="5102505"/>
            <a:ext cx="574585" cy="332494"/>
          </a:xfrm>
          <a:prstGeom prst="bentConnector3">
            <a:avLst>
              <a:gd name="adj1" fmla="val 50000"/>
            </a:avLst>
          </a:prstGeom>
          <a:ln w="15875">
            <a:solidFill>
              <a:srgbClr val="FF0000"/>
            </a:solidFill>
            <a:prstDash val="sysDot"/>
            <a:tailEnd type="triangle"/>
          </a:ln>
        </p:spPr>
        <p:style>
          <a:lnRef idx="1">
            <a:schemeClr val="accent1"/>
          </a:lnRef>
          <a:fillRef idx="0">
            <a:schemeClr val="accent1"/>
          </a:fillRef>
          <a:effectRef idx="0">
            <a:schemeClr val="accent1"/>
          </a:effectRef>
          <a:fontRef idx="minor">
            <a:schemeClr val="tx1"/>
          </a:fontRef>
        </p:style>
      </p:cxnSp>
      <p:cxnSp>
        <p:nvCxnSpPr>
          <p:cNvPr id="13" name="直線矢印コネクタ 12">
            <a:extLst>
              <a:ext uri="{FF2B5EF4-FFF2-40B4-BE49-F238E27FC236}">
                <a16:creationId xmlns:a16="http://schemas.microsoft.com/office/drawing/2014/main" id="{218E3FE3-7B20-5966-421F-4ECB81603538}"/>
              </a:ext>
            </a:extLst>
          </p:cNvPr>
          <p:cNvCxnSpPr>
            <a:cxnSpLocks/>
            <a:stCxn id="48" idx="2"/>
            <a:endCxn id="21" idx="0"/>
          </p:cNvCxnSpPr>
          <p:nvPr/>
        </p:nvCxnSpPr>
        <p:spPr>
          <a:xfrm>
            <a:off x="6904149" y="3132263"/>
            <a:ext cx="1" cy="1334625"/>
          </a:xfrm>
          <a:prstGeom prst="straightConnector1">
            <a:avLst/>
          </a:prstGeom>
          <a:ln w="19050">
            <a:solidFill>
              <a:srgbClr val="00B050">
                <a:alpha val="80000"/>
              </a:srgbClr>
            </a:solidFill>
            <a:prstDash val="sysDot"/>
            <a:tailEnd type="triangle"/>
          </a:ln>
        </p:spPr>
        <p:style>
          <a:lnRef idx="1">
            <a:schemeClr val="accent1"/>
          </a:lnRef>
          <a:fillRef idx="0">
            <a:schemeClr val="accent1"/>
          </a:fillRef>
          <a:effectRef idx="0">
            <a:schemeClr val="accent1"/>
          </a:effectRef>
          <a:fontRef idx="minor">
            <a:schemeClr val="tx1"/>
          </a:fontRef>
        </p:style>
      </p:cxnSp>
      <p:sp>
        <p:nvSpPr>
          <p:cNvPr id="19" name="テキスト ボックス 18">
            <a:extLst>
              <a:ext uri="{FF2B5EF4-FFF2-40B4-BE49-F238E27FC236}">
                <a16:creationId xmlns:a16="http://schemas.microsoft.com/office/drawing/2014/main" id="{DBDB9444-3A0E-B235-58FC-9F8C81BAEA44}"/>
              </a:ext>
            </a:extLst>
          </p:cNvPr>
          <p:cNvSpPr txBox="1"/>
          <p:nvPr/>
        </p:nvSpPr>
        <p:spPr>
          <a:xfrm>
            <a:off x="6323825" y="3523709"/>
            <a:ext cx="1161782" cy="261610"/>
          </a:xfrm>
          <a:prstGeom prst="rect">
            <a:avLst/>
          </a:prstGeom>
          <a:solidFill>
            <a:schemeClr val="bg1">
              <a:alpha val="70000"/>
            </a:schemeClr>
          </a:solidFill>
        </p:spPr>
        <p:txBody>
          <a:bodyPr wrap="square">
            <a:spAutoFit/>
          </a:bodyPr>
          <a:lstStyle/>
          <a:p>
            <a:pPr algn="ctr"/>
            <a:r>
              <a:rPr kumimoji="1" lang="ja-JP" altLang="en-US" sz="1100" b="1" dirty="0">
                <a:solidFill>
                  <a:srgbClr val="00C057"/>
                </a:solidFill>
                <a:latin typeface="メイリオ" panose="020B0604030504040204" pitchFamily="50" charset="-128"/>
                <a:ea typeface="メイリオ" panose="020B0604030504040204" pitchFamily="50" charset="-128"/>
              </a:rPr>
              <a:t>友だち追加後</a:t>
            </a:r>
            <a:endParaRPr lang="ja-JP" altLang="en-US" sz="1100" dirty="0">
              <a:solidFill>
                <a:srgbClr val="00C057"/>
              </a:solidFill>
            </a:endParaRPr>
          </a:p>
        </p:txBody>
      </p:sp>
      <p:sp>
        <p:nvSpPr>
          <p:cNvPr id="9" name="正方形/長方形 8">
            <a:extLst>
              <a:ext uri="{FF2B5EF4-FFF2-40B4-BE49-F238E27FC236}">
                <a16:creationId xmlns:a16="http://schemas.microsoft.com/office/drawing/2014/main" id="{DC4FF56C-47EE-47DB-92F1-3F0EF57613D9}"/>
              </a:ext>
            </a:extLst>
          </p:cNvPr>
          <p:cNvSpPr/>
          <p:nvPr/>
        </p:nvSpPr>
        <p:spPr>
          <a:xfrm>
            <a:off x="3806311" y="788165"/>
            <a:ext cx="5880088" cy="584775"/>
          </a:xfrm>
          <a:prstGeom prst="rect">
            <a:avLst/>
          </a:prstGeom>
        </p:spPr>
        <p:txBody>
          <a:bodyPr wrap="square">
            <a:spAutoFit/>
          </a:bodyPr>
          <a:lstStyle/>
          <a:p>
            <a:pPr lvl="0" algn="ctr">
              <a:buClr>
                <a:schemeClr val="dk1"/>
              </a:buClr>
              <a:buSzPts val="1500"/>
            </a:pPr>
            <a:r>
              <a:rPr lang="ja-JP" altLang="en-US" sz="1600" dirty="0">
                <a:latin typeface="Meiryo"/>
                <a:ea typeface="Meiryo"/>
                <a:cs typeface="Meiryo"/>
                <a:sym typeface="Meiryo"/>
              </a:rPr>
              <a:t>サンクス到達時の</a:t>
            </a:r>
            <a:r>
              <a:rPr lang="en-US" altLang="ja-JP" sz="1600" dirty="0">
                <a:latin typeface="Meiryo"/>
                <a:ea typeface="Meiryo"/>
                <a:cs typeface="Meiryo"/>
                <a:sym typeface="Meiryo"/>
              </a:rPr>
              <a:t>LINE</a:t>
            </a:r>
            <a:r>
              <a:rPr lang="ja-JP" altLang="en-US" sz="1600" dirty="0">
                <a:latin typeface="Meiryo"/>
                <a:ea typeface="Meiryo"/>
                <a:cs typeface="Meiryo"/>
                <a:sym typeface="Meiryo"/>
              </a:rPr>
              <a:t>動線が弊社開発により可能に。</a:t>
            </a:r>
            <a:endParaRPr lang="en-US" altLang="ja-JP" sz="1600" dirty="0">
              <a:latin typeface="Meiryo"/>
              <a:ea typeface="Meiryo"/>
              <a:cs typeface="Meiryo"/>
              <a:sym typeface="Meiryo"/>
            </a:endParaRPr>
          </a:p>
          <a:p>
            <a:pPr lvl="0" algn="ctr">
              <a:buClr>
                <a:schemeClr val="dk1"/>
              </a:buClr>
              <a:buSzPts val="1500"/>
            </a:pPr>
            <a:r>
              <a:rPr lang="ja-JP" altLang="en-US" sz="1600" dirty="0">
                <a:latin typeface="Meiryo"/>
                <a:ea typeface="Meiryo"/>
                <a:cs typeface="Meiryo"/>
                <a:sym typeface="Meiryo"/>
              </a:rPr>
              <a:t>費用を抑えての導入が可能で、新規反響の質改善に寄与。</a:t>
            </a:r>
          </a:p>
        </p:txBody>
      </p:sp>
      <p:sp>
        <p:nvSpPr>
          <p:cNvPr id="10" name="テキスト ボックス 9">
            <a:extLst>
              <a:ext uri="{FF2B5EF4-FFF2-40B4-BE49-F238E27FC236}">
                <a16:creationId xmlns:a16="http://schemas.microsoft.com/office/drawing/2014/main" id="{3EACBB40-B311-2012-88DC-7E4CD6FCFF28}"/>
              </a:ext>
            </a:extLst>
          </p:cNvPr>
          <p:cNvSpPr txBox="1"/>
          <p:nvPr/>
        </p:nvSpPr>
        <p:spPr>
          <a:xfrm>
            <a:off x="4091506" y="1391612"/>
            <a:ext cx="4718625" cy="230832"/>
          </a:xfrm>
          <a:prstGeom prst="rect">
            <a:avLst/>
          </a:prstGeom>
          <a:noFill/>
        </p:spPr>
        <p:txBody>
          <a:bodyPr wrap="square">
            <a:spAutoFit/>
          </a:bodyPr>
          <a:lstStyle/>
          <a:p>
            <a:r>
              <a:rPr lang="en-US" altLang="ja-JP" sz="900" dirty="0">
                <a:solidFill>
                  <a:srgbClr val="FF0000"/>
                </a:solidFill>
                <a:latin typeface="メイリオ" panose="020B0604030504040204" pitchFamily="50" charset="-128"/>
                <a:ea typeface="メイリオ" panose="020B0604030504040204" pitchFamily="50" charset="-128"/>
                <a:cs typeface="Meiryo"/>
                <a:sym typeface="Meiryo"/>
              </a:rPr>
              <a:t>※</a:t>
            </a:r>
            <a:r>
              <a:rPr lang="ja-JP" altLang="en-US" sz="900" dirty="0">
                <a:solidFill>
                  <a:srgbClr val="FF0000"/>
                </a:solidFill>
                <a:latin typeface="メイリオ" panose="020B0604030504040204" pitchFamily="50" charset="-128"/>
                <a:ea typeface="メイリオ" panose="020B0604030504040204" pitchFamily="50" charset="-128"/>
                <a:cs typeface="Meiryo"/>
                <a:sym typeface="Meiryo"/>
              </a:rPr>
              <a:t>暫定措置として導入済アカウントについては</a:t>
            </a:r>
            <a:r>
              <a:rPr lang="en-US" altLang="ja-JP" sz="900" dirty="0">
                <a:solidFill>
                  <a:srgbClr val="FF0000"/>
                </a:solidFill>
                <a:latin typeface="メイリオ" panose="020B0604030504040204" pitchFamily="50" charset="-128"/>
                <a:ea typeface="メイリオ" panose="020B0604030504040204" pitchFamily="50" charset="-128"/>
                <a:cs typeface="Meiryo"/>
                <a:sym typeface="Meiryo"/>
              </a:rPr>
              <a:t>2026</a:t>
            </a:r>
            <a:r>
              <a:rPr lang="ja-JP" altLang="en-US" sz="900" dirty="0">
                <a:solidFill>
                  <a:srgbClr val="FF0000"/>
                </a:solidFill>
                <a:latin typeface="メイリオ" panose="020B0604030504040204" pitchFamily="50" charset="-128"/>
                <a:ea typeface="メイリオ" panose="020B0604030504040204" pitchFamily="50" charset="-128"/>
                <a:cs typeface="Meiryo"/>
                <a:sym typeface="Meiryo"/>
              </a:rPr>
              <a:t>年</a:t>
            </a:r>
            <a:r>
              <a:rPr lang="en-US" altLang="ja-JP" sz="900" dirty="0">
                <a:solidFill>
                  <a:srgbClr val="FF0000"/>
                </a:solidFill>
                <a:latin typeface="メイリオ" panose="020B0604030504040204" pitchFamily="50" charset="-128"/>
                <a:ea typeface="メイリオ" panose="020B0604030504040204" pitchFamily="50" charset="-128"/>
                <a:cs typeface="Meiryo"/>
                <a:sym typeface="Meiryo"/>
              </a:rPr>
              <a:t>7</a:t>
            </a:r>
            <a:r>
              <a:rPr lang="ja-JP" altLang="en-US" sz="900" dirty="0">
                <a:solidFill>
                  <a:srgbClr val="FF0000"/>
                </a:solidFill>
                <a:latin typeface="メイリオ" panose="020B0604030504040204" pitchFamily="50" charset="-128"/>
                <a:ea typeface="メイリオ" panose="020B0604030504040204" pitchFamily="50" charset="-128"/>
                <a:cs typeface="Meiryo"/>
                <a:sym typeface="Meiryo"/>
              </a:rPr>
              <a:t>月～の価格改定の予定</a:t>
            </a:r>
            <a:endParaRPr lang="ja-JP" altLang="en-US" sz="900" dirty="0">
              <a:solidFill>
                <a:srgbClr val="FF0000"/>
              </a:solidFill>
            </a:endParaRPr>
          </a:p>
        </p:txBody>
      </p:sp>
      <p:sp>
        <p:nvSpPr>
          <p:cNvPr id="14" name="テキスト ボックス 13">
            <a:extLst>
              <a:ext uri="{FF2B5EF4-FFF2-40B4-BE49-F238E27FC236}">
                <a16:creationId xmlns:a16="http://schemas.microsoft.com/office/drawing/2014/main" id="{5ED6F7D2-546D-BF9F-9805-58455D7E2831}"/>
              </a:ext>
            </a:extLst>
          </p:cNvPr>
          <p:cNvSpPr txBox="1"/>
          <p:nvPr/>
        </p:nvSpPr>
        <p:spPr>
          <a:xfrm>
            <a:off x="4091506" y="1549623"/>
            <a:ext cx="4718625" cy="230832"/>
          </a:xfrm>
          <a:prstGeom prst="rect">
            <a:avLst/>
          </a:prstGeom>
          <a:noFill/>
        </p:spPr>
        <p:txBody>
          <a:bodyPr wrap="square">
            <a:spAutoFit/>
          </a:bodyPr>
          <a:lstStyle/>
          <a:p>
            <a:r>
              <a:rPr lang="en-US" altLang="ja-JP" sz="900" dirty="0">
                <a:solidFill>
                  <a:srgbClr val="FF0000"/>
                </a:solidFill>
                <a:latin typeface="メイリオ" panose="020B0604030504040204" pitchFamily="50" charset="-128"/>
                <a:ea typeface="メイリオ" panose="020B0604030504040204" pitchFamily="50" charset="-128"/>
                <a:cs typeface="Meiryo"/>
                <a:sym typeface="Meiryo"/>
              </a:rPr>
              <a:t>※</a:t>
            </a:r>
            <a:r>
              <a:rPr lang="ja-JP" altLang="en-US" sz="900" dirty="0">
                <a:solidFill>
                  <a:srgbClr val="FF0000"/>
                </a:solidFill>
                <a:latin typeface="メイリオ" panose="020B0604030504040204" pitchFamily="50" charset="-128"/>
                <a:ea typeface="メイリオ" panose="020B0604030504040204" pitchFamily="50" charset="-128"/>
                <a:cs typeface="Meiryo"/>
                <a:sym typeface="Meiryo"/>
              </a:rPr>
              <a:t>既存</a:t>
            </a:r>
            <a:r>
              <a:rPr lang="en-US" altLang="ja-JP" sz="900" dirty="0">
                <a:solidFill>
                  <a:srgbClr val="FF0000"/>
                </a:solidFill>
                <a:latin typeface="メイリオ" panose="020B0604030504040204" pitchFamily="50" charset="-128"/>
                <a:ea typeface="メイリオ" panose="020B0604030504040204" pitchFamily="50" charset="-128"/>
                <a:cs typeface="Meiryo"/>
                <a:sym typeface="Meiryo"/>
              </a:rPr>
              <a:t>API</a:t>
            </a:r>
            <a:r>
              <a:rPr lang="ja-JP" altLang="en-US" sz="900" dirty="0">
                <a:solidFill>
                  <a:srgbClr val="FF0000"/>
                </a:solidFill>
                <a:latin typeface="メイリオ" panose="020B0604030504040204" pitchFamily="50" charset="-128"/>
                <a:ea typeface="メイリオ" panose="020B0604030504040204" pitchFamily="50" charset="-128"/>
                <a:cs typeface="Meiryo"/>
                <a:sym typeface="Meiryo"/>
              </a:rPr>
              <a:t>ツールとの併用についても、問題なく稼働が可能。</a:t>
            </a:r>
            <a:endParaRPr lang="ja-JP" altLang="en-US" sz="900" dirty="0">
              <a:solidFill>
                <a:srgbClr val="FF0000"/>
              </a:solidFill>
            </a:endParaRPr>
          </a:p>
        </p:txBody>
      </p:sp>
      <p:sp>
        <p:nvSpPr>
          <p:cNvPr id="8" name="正方形/長方形 7">
            <a:extLst>
              <a:ext uri="{FF2B5EF4-FFF2-40B4-BE49-F238E27FC236}">
                <a16:creationId xmlns:a16="http://schemas.microsoft.com/office/drawing/2014/main" id="{F5B8C83A-7191-D772-EF88-AE268D007E63}"/>
              </a:ext>
            </a:extLst>
          </p:cNvPr>
          <p:cNvSpPr/>
          <p:nvPr/>
        </p:nvSpPr>
        <p:spPr>
          <a:xfrm>
            <a:off x="5769326" y="1938056"/>
            <a:ext cx="3788228" cy="244151"/>
          </a:xfrm>
          <a:prstGeom prst="rect">
            <a:avLst/>
          </a:prstGeom>
          <a:solidFill>
            <a:schemeClr val="tx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sz="1100" b="1" dirty="0">
                <a:solidFill>
                  <a:schemeClr val="bg1"/>
                </a:solidFill>
                <a:latin typeface="メイリオ" panose="020B0604030504040204" pitchFamily="50" charset="-128"/>
                <a:ea typeface="メイリオ" panose="020B0604030504040204" pitchFamily="50" charset="-128"/>
              </a:rPr>
              <a:t>動作イメージ</a:t>
            </a:r>
            <a:endParaRPr kumimoji="1" lang="ja-JP" altLang="en-US" sz="1100" b="1" dirty="0">
              <a:solidFill>
                <a:schemeClr val="bg1"/>
              </a:solidFill>
              <a:latin typeface="メイリオ" panose="020B0604030504040204" pitchFamily="50" charset="-128"/>
              <a:ea typeface="メイリオ" panose="020B0604030504040204" pitchFamily="50" charset="-128"/>
            </a:endParaRPr>
          </a:p>
        </p:txBody>
      </p:sp>
      <p:sp>
        <p:nvSpPr>
          <p:cNvPr id="26" name="Google Shape;51;p19">
            <a:extLst>
              <a:ext uri="{FF2B5EF4-FFF2-40B4-BE49-F238E27FC236}">
                <a16:creationId xmlns:a16="http://schemas.microsoft.com/office/drawing/2014/main" id="{A4070FDA-7C99-27DE-6A9C-437C1D5DD3B3}"/>
              </a:ext>
            </a:extLst>
          </p:cNvPr>
          <p:cNvSpPr/>
          <p:nvPr/>
        </p:nvSpPr>
        <p:spPr>
          <a:xfrm>
            <a:off x="543399" y="1321261"/>
            <a:ext cx="1510826" cy="485102"/>
          </a:xfrm>
          <a:prstGeom prst="roundRect">
            <a:avLst>
              <a:gd name="adj" fmla="val 16667"/>
            </a:avLst>
          </a:prstGeom>
          <a:solidFill>
            <a:schemeClr val="tx2"/>
          </a:solidFill>
          <a:ln>
            <a:noFill/>
          </a:ln>
        </p:spPr>
        <p:txBody>
          <a:bodyPr spcFirstLastPara="1" wrap="square" lIns="91425" tIns="45700" rIns="91425" bIns="45700" anchor="ctr"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marL="0" marR="0" lvl="0" indent="0" algn="ctr" rtl="0">
              <a:lnSpc>
                <a:spcPct val="100000"/>
              </a:lnSpc>
              <a:spcBef>
                <a:spcPts val="0"/>
              </a:spcBef>
              <a:spcAft>
                <a:spcPts val="0"/>
              </a:spcAft>
              <a:buClr>
                <a:srgbClr val="000000"/>
              </a:buClr>
              <a:buSzPts val="1400"/>
              <a:buFont typeface="Arial"/>
              <a:buNone/>
            </a:pPr>
            <a:r>
              <a:rPr lang="ja-JP" altLang="en-US" sz="1400" b="1" i="0" u="none" strike="noStrike" cap="none" dirty="0">
                <a:solidFill>
                  <a:schemeClr val="lt1"/>
                </a:solidFill>
                <a:latin typeface="Meiryo"/>
                <a:ea typeface="Meiryo"/>
                <a:cs typeface="Meiryo"/>
                <a:sym typeface="Meiryo"/>
              </a:rPr>
              <a:t>初期：</a:t>
            </a:r>
            <a:r>
              <a:rPr lang="en-US" altLang="ja-JP" sz="1400" b="1" i="0" u="none" strike="noStrike" cap="none" dirty="0">
                <a:solidFill>
                  <a:schemeClr val="lt1"/>
                </a:solidFill>
                <a:latin typeface="Meiryo"/>
                <a:ea typeface="Meiryo"/>
                <a:cs typeface="Meiryo"/>
                <a:sym typeface="Meiryo"/>
              </a:rPr>
              <a:t>10</a:t>
            </a:r>
            <a:r>
              <a:rPr lang="ja-JP" altLang="en-US" sz="1400" b="1" i="0" u="none" strike="noStrike" cap="none" dirty="0">
                <a:solidFill>
                  <a:schemeClr val="lt1"/>
                </a:solidFill>
                <a:latin typeface="Meiryo"/>
                <a:ea typeface="Meiryo"/>
                <a:cs typeface="Meiryo"/>
                <a:sym typeface="Meiryo"/>
              </a:rPr>
              <a:t>万円</a:t>
            </a:r>
            <a:endParaRPr sz="1400" b="1" i="0" u="none" strike="noStrike" cap="none" dirty="0">
              <a:solidFill>
                <a:schemeClr val="lt1"/>
              </a:solidFill>
              <a:latin typeface="Meiryo"/>
              <a:ea typeface="Meiryo"/>
              <a:cs typeface="Meiryo"/>
              <a:sym typeface="Meiryo"/>
            </a:endParaRPr>
          </a:p>
        </p:txBody>
      </p:sp>
      <p:sp>
        <p:nvSpPr>
          <p:cNvPr id="28" name="Google Shape;51;p19">
            <a:extLst>
              <a:ext uri="{FF2B5EF4-FFF2-40B4-BE49-F238E27FC236}">
                <a16:creationId xmlns:a16="http://schemas.microsoft.com/office/drawing/2014/main" id="{40C4675F-5DCC-DD57-BE14-B3A7697A02CD}"/>
              </a:ext>
            </a:extLst>
          </p:cNvPr>
          <p:cNvSpPr/>
          <p:nvPr/>
        </p:nvSpPr>
        <p:spPr>
          <a:xfrm>
            <a:off x="2137897" y="1321261"/>
            <a:ext cx="1510826" cy="485102"/>
          </a:xfrm>
          <a:prstGeom prst="roundRect">
            <a:avLst>
              <a:gd name="adj" fmla="val 16667"/>
            </a:avLst>
          </a:prstGeom>
          <a:solidFill>
            <a:schemeClr val="tx2"/>
          </a:solidFill>
          <a:ln>
            <a:noFill/>
          </a:ln>
        </p:spPr>
        <p:txBody>
          <a:bodyPr spcFirstLastPara="1" wrap="square" lIns="91425" tIns="45700" rIns="91425" bIns="45700" anchor="ctr"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marL="0" marR="0" lvl="0" indent="0" algn="ctr" rtl="0">
              <a:lnSpc>
                <a:spcPct val="100000"/>
              </a:lnSpc>
              <a:spcBef>
                <a:spcPts val="0"/>
              </a:spcBef>
              <a:spcAft>
                <a:spcPts val="0"/>
              </a:spcAft>
              <a:buClr>
                <a:srgbClr val="000000"/>
              </a:buClr>
              <a:buSzPts val="1400"/>
              <a:buFont typeface="Arial"/>
              <a:buNone/>
            </a:pPr>
            <a:r>
              <a:rPr lang="ja-JP" altLang="en-US" sz="1400" b="1" i="0" u="none" strike="noStrike" cap="none" dirty="0">
                <a:solidFill>
                  <a:schemeClr val="lt1"/>
                </a:solidFill>
                <a:latin typeface="Meiryo"/>
                <a:ea typeface="Meiryo"/>
                <a:cs typeface="Meiryo"/>
                <a:sym typeface="Meiryo"/>
              </a:rPr>
              <a:t>月額</a:t>
            </a:r>
            <a:r>
              <a:rPr lang="en-US" altLang="ja-JP" sz="1400" b="1" i="0" u="none" strike="noStrike" cap="none" dirty="0">
                <a:solidFill>
                  <a:schemeClr val="lt1"/>
                </a:solidFill>
                <a:latin typeface="Meiryo"/>
                <a:ea typeface="Meiryo"/>
                <a:cs typeface="Meiryo"/>
                <a:sym typeface="Meiryo"/>
              </a:rPr>
              <a:t>3</a:t>
            </a:r>
            <a:r>
              <a:rPr lang="ja-JP" altLang="en-US" sz="1400" b="1" i="0" u="none" strike="noStrike" cap="none" dirty="0">
                <a:solidFill>
                  <a:schemeClr val="lt1"/>
                </a:solidFill>
                <a:latin typeface="Meiryo"/>
                <a:ea typeface="Meiryo"/>
                <a:cs typeface="Meiryo"/>
                <a:sym typeface="Meiryo"/>
              </a:rPr>
              <a:t>万円～</a:t>
            </a:r>
            <a:endParaRPr lang="en-US" altLang="ja-JP" sz="1400" b="1" i="0" u="none" strike="noStrike" cap="none" dirty="0">
              <a:solidFill>
                <a:schemeClr val="lt1"/>
              </a:solidFill>
              <a:latin typeface="Meiryo"/>
              <a:ea typeface="Meiryo"/>
              <a:cs typeface="Meiryo"/>
              <a:sym typeface="Meiryo"/>
            </a:endParaRPr>
          </a:p>
          <a:p>
            <a:pPr marL="0" marR="0" lvl="0" indent="0" algn="ctr" rtl="0">
              <a:lnSpc>
                <a:spcPct val="100000"/>
              </a:lnSpc>
              <a:spcBef>
                <a:spcPts val="0"/>
              </a:spcBef>
              <a:spcAft>
                <a:spcPts val="0"/>
              </a:spcAft>
              <a:buClr>
                <a:srgbClr val="000000"/>
              </a:buClr>
              <a:buSzPts val="1400"/>
              <a:buFont typeface="Arial"/>
              <a:buNone/>
            </a:pPr>
            <a:r>
              <a:rPr lang="en-US" altLang="ja-JP" sz="1050" b="1" dirty="0">
                <a:solidFill>
                  <a:srgbClr val="FFFF00"/>
                </a:solidFill>
                <a:latin typeface="Meiryo"/>
                <a:ea typeface="Meiryo"/>
                <a:cs typeface="Meiryo"/>
                <a:sym typeface="Meiryo"/>
              </a:rPr>
              <a:t>+</a:t>
            </a:r>
            <a:r>
              <a:rPr lang="ja-JP" altLang="en-US" sz="1050" b="1" dirty="0">
                <a:solidFill>
                  <a:srgbClr val="FFFF00"/>
                </a:solidFill>
                <a:latin typeface="Meiryo"/>
                <a:ea typeface="Meiryo"/>
                <a:cs typeface="Meiryo"/>
                <a:sym typeface="Meiryo"/>
              </a:rPr>
              <a:t>設定地点追加</a:t>
            </a:r>
            <a:endParaRPr sz="1050" b="1" i="0" u="none" strike="noStrike" cap="none" dirty="0">
              <a:solidFill>
                <a:srgbClr val="FFFF00"/>
              </a:solidFill>
              <a:latin typeface="Meiryo"/>
              <a:ea typeface="Meiryo"/>
              <a:cs typeface="Meiryo"/>
              <a:sym typeface="Meiryo"/>
            </a:endParaRPr>
          </a:p>
        </p:txBody>
      </p:sp>
      <p:cxnSp>
        <p:nvCxnSpPr>
          <p:cNvPr id="30" name="コネクタ: カギ線 29">
            <a:extLst>
              <a:ext uri="{FF2B5EF4-FFF2-40B4-BE49-F238E27FC236}">
                <a16:creationId xmlns:a16="http://schemas.microsoft.com/office/drawing/2014/main" id="{D9706AF3-2C8D-6646-76C8-7802A4F734FC}"/>
              </a:ext>
            </a:extLst>
          </p:cNvPr>
          <p:cNvCxnSpPr>
            <a:cxnSpLocks/>
          </p:cNvCxnSpPr>
          <p:nvPr/>
        </p:nvCxnSpPr>
        <p:spPr>
          <a:xfrm rot="16200000" flipH="1">
            <a:off x="3294819" y="3047336"/>
            <a:ext cx="430977" cy="4596748"/>
          </a:xfrm>
          <a:prstGeom prst="bentConnector2">
            <a:avLst/>
          </a:prstGeom>
          <a:ln w="15875">
            <a:solidFill>
              <a:srgbClr val="FF0000"/>
            </a:solidFill>
            <a:prstDash val="sysDot"/>
            <a:tailEnd type="triangle"/>
          </a:ln>
        </p:spPr>
        <p:style>
          <a:lnRef idx="1">
            <a:schemeClr val="accent1"/>
          </a:lnRef>
          <a:fillRef idx="0">
            <a:schemeClr val="accent1"/>
          </a:fillRef>
          <a:effectRef idx="0">
            <a:schemeClr val="accent1"/>
          </a:effectRef>
          <a:fontRef idx="minor">
            <a:schemeClr val="tx1"/>
          </a:fontRef>
        </p:style>
      </p:cxnSp>
      <p:sp>
        <p:nvSpPr>
          <p:cNvPr id="50" name="テキスト ボックス 49">
            <a:extLst>
              <a:ext uri="{FF2B5EF4-FFF2-40B4-BE49-F238E27FC236}">
                <a16:creationId xmlns:a16="http://schemas.microsoft.com/office/drawing/2014/main" id="{97C92C6B-4F06-7ED3-0627-D0C168299913}"/>
              </a:ext>
            </a:extLst>
          </p:cNvPr>
          <p:cNvSpPr txBox="1"/>
          <p:nvPr/>
        </p:nvSpPr>
        <p:spPr>
          <a:xfrm>
            <a:off x="115187" y="5639542"/>
            <a:ext cx="5785781" cy="461665"/>
          </a:xfrm>
          <a:prstGeom prst="rect">
            <a:avLst/>
          </a:prstGeom>
          <a:solidFill>
            <a:schemeClr val="bg1">
              <a:alpha val="62000"/>
            </a:schemeClr>
          </a:solidFill>
        </p:spPr>
        <p:txBody>
          <a:bodyPr wrap="square">
            <a:spAutoFit/>
          </a:bodyPr>
          <a:lstStyle/>
          <a:p>
            <a:pPr algn="ctr"/>
            <a:r>
              <a:rPr lang="ja-JP" altLang="ja-JP" sz="1200" dirty="0">
                <a:latin typeface="メイリオ" panose="020B0604030504040204" pitchFamily="50" charset="-128"/>
                <a:ea typeface="メイリオ" panose="020B0604030504040204" pitchFamily="50" charset="-128"/>
              </a:rPr>
              <a:t>高開封率のLINEに誘導</a:t>
            </a:r>
            <a:r>
              <a:rPr lang="ja-JP" altLang="en-US" sz="1200" dirty="0">
                <a:latin typeface="メイリオ" panose="020B0604030504040204" pitchFamily="50" charset="-128"/>
                <a:ea typeface="メイリオ" panose="020B0604030504040204" pitchFamily="50" charset="-128"/>
              </a:rPr>
              <a:t>して</a:t>
            </a:r>
            <a:r>
              <a:rPr lang="ja-JP" altLang="ja-JP" sz="1200" dirty="0">
                <a:latin typeface="メイリオ" panose="020B0604030504040204" pitchFamily="50" charset="-128"/>
                <a:ea typeface="メイリオ" panose="020B0604030504040204" pitchFamily="50" charset="-128"/>
              </a:rPr>
              <a:t>反響→実売上への引上げ率、リピート率改善。</a:t>
            </a:r>
            <a:endParaRPr lang="en-US" altLang="ja-JP" sz="1200" dirty="0">
              <a:latin typeface="メイリオ" panose="020B0604030504040204" pitchFamily="50" charset="-128"/>
              <a:ea typeface="メイリオ" panose="020B0604030504040204" pitchFamily="50" charset="-128"/>
            </a:endParaRPr>
          </a:p>
          <a:p>
            <a:pPr algn="ctr"/>
            <a:r>
              <a:rPr lang="ja-JP" altLang="ja-JP" sz="1200" dirty="0">
                <a:latin typeface="メイリオ" panose="020B0604030504040204" pitchFamily="50" charset="-128"/>
                <a:ea typeface="メイリオ" panose="020B0604030504040204" pitchFamily="50" charset="-128"/>
              </a:rPr>
              <a:t> </a:t>
            </a:r>
            <a:r>
              <a:rPr lang="ja-JP" altLang="ja-JP" sz="1200" b="1" dirty="0">
                <a:solidFill>
                  <a:srgbClr val="FF0000"/>
                </a:solidFill>
                <a:latin typeface="メイリオ" panose="020B0604030504040204" pitchFamily="50" charset="-128"/>
                <a:ea typeface="メイリオ" panose="020B0604030504040204" pitchFamily="50" charset="-128"/>
              </a:rPr>
              <a:t>弊社運用の美容クリニック様では、予約後来院率にて40-50%程度の改善を実現</a:t>
            </a:r>
            <a:r>
              <a:rPr lang="ja-JP" altLang="ja-JP" sz="1200" dirty="0">
                <a:latin typeface="メイリオ" panose="020B0604030504040204" pitchFamily="50" charset="-128"/>
                <a:ea typeface="メイリオ" panose="020B0604030504040204" pitchFamily="50" charset="-128"/>
              </a:rPr>
              <a:t>。</a:t>
            </a:r>
            <a:endParaRPr lang="ja-JP" altLang="en-US" sz="1200" dirty="0">
              <a:latin typeface="メイリオ" panose="020B0604030504040204" pitchFamily="50" charset="-128"/>
              <a:ea typeface="メイリオ" panose="020B0604030504040204" pitchFamily="50" charset="-128"/>
            </a:endParaRPr>
          </a:p>
        </p:txBody>
      </p:sp>
    </p:spTree>
    <p:extLst>
      <p:ext uri="{BB962C8B-B14F-4D97-AF65-F5344CB8AC3E}">
        <p14:creationId xmlns:p14="http://schemas.microsoft.com/office/powerpoint/2010/main" val="3949090116"/>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DF0D4D3-02EA-A5F1-D13F-557CC4270B13}"/>
            </a:ext>
          </a:extLst>
        </p:cNvPr>
        <p:cNvGrpSpPr/>
        <p:nvPr/>
      </p:nvGrpSpPr>
      <p:grpSpPr>
        <a:xfrm>
          <a:off x="0" y="0"/>
          <a:ext cx="0" cy="0"/>
          <a:chOff x="0" y="0"/>
          <a:chExt cx="0" cy="0"/>
        </a:xfrm>
      </p:grpSpPr>
      <p:sp>
        <p:nvSpPr>
          <p:cNvPr id="4" name="Google Shape;752;p28">
            <a:extLst>
              <a:ext uri="{FF2B5EF4-FFF2-40B4-BE49-F238E27FC236}">
                <a16:creationId xmlns:a16="http://schemas.microsoft.com/office/drawing/2014/main" id="{4CE82040-EC6A-3624-AB86-12AD7F91F318}"/>
              </a:ext>
            </a:extLst>
          </p:cNvPr>
          <p:cNvSpPr txBox="1"/>
          <p:nvPr/>
        </p:nvSpPr>
        <p:spPr>
          <a:xfrm>
            <a:off x="548883" y="138137"/>
            <a:ext cx="6276325" cy="338514"/>
          </a:xfrm>
          <a:prstGeom prst="rect">
            <a:avLst/>
          </a:prstGeom>
          <a:noFill/>
          <a:ln>
            <a:noFill/>
          </a:ln>
        </p:spPr>
        <p:txBody>
          <a:bodyPr spcFirstLastPara="1" wrap="square" lIns="91425" tIns="45700" rIns="91425" bIns="45700" anchor="ctr" anchorCtr="0">
            <a:spAutoFit/>
          </a:bodyPr>
          <a:lstStyle/>
          <a:p>
            <a:pPr lvl="0"/>
            <a:r>
              <a:rPr lang="ja-JP" altLang="en-US" sz="1600" b="1" dirty="0">
                <a:solidFill>
                  <a:srgbClr val="323366"/>
                </a:solidFill>
                <a:latin typeface="メイリオ" panose="020B0604030504040204" pitchFamily="50" charset="-128"/>
                <a:ea typeface="メイリオ" panose="020B0604030504040204" pitchFamily="50" charset="-128"/>
                <a:cs typeface="Meiryo"/>
                <a:sym typeface="Meiryo"/>
              </a:rPr>
              <a:t>資料アジェンダ</a:t>
            </a:r>
          </a:p>
        </p:txBody>
      </p:sp>
      <p:sp>
        <p:nvSpPr>
          <p:cNvPr id="2" name="正方形/長方形 1">
            <a:extLst>
              <a:ext uri="{FF2B5EF4-FFF2-40B4-BE49-F238E27FC236}">
                <a16:creationId xmlns:a16="http://schemas.microsoft.com/office/drawing/2014/main" id="{AB48BF19-1E81-18F2-64BE-979545FAE824}"/>
              </a:ext>
            </a:extLst>
          </p:cNvPr>
          <p:cNvSpPr/>
          <p:nvPr/>
        </p:nvSpPr>
        <p:spPr>
          <a:xfrm>
            <a:off x="4245125" y="3038203"/>
            <a:ext cx="1415772" cy="584775"/>
          </a:xfrm>
          <a:prstGeom prst="rect">
            <a:avLst/>
          </a:prstGeom>
        </p:spPr>
        <p:txBody>
          <a:bodyPr wrap="none">
            <a:spAutoFit/>
          </a:bodyPr>
          <a:lstStyle/>
          <a:p>
            <a:pPr algn="ctr"/>
            <a:r>
              <a:rPr lang="ja-JP" altLang="en-US" sz="3200" b="1" dirty="0">
                <a:solidFill>
                  <a:schemeClr val="tx1">
                    <a:lumMod val="75000"/>
                    <a:lumOff val="25000"/>
                  </a:schemeClr>
                </a:solidFill>
                <a:latin typeface="メイリオ" panose="020B0604030504040204" pitchFamily="50" charset="-128"/>
                <a:ea typeface="メイリオ" panose="020B0604030504040204" pitchFamily="50" charset="-128"/>
                <a:cs typeface="メイリオ" panose="020B0604030504040204" pitchFamily="50" charset="-128"/>
              </a:rPr>
              <a:t>費用感</a:t>
            </a:r>
            <a:endParaRPr lang="en-US" altLang="ja-IS" sz="3200" b="1" dirty="0">
              <a:solidFill>
                <a:schemeClr val="tx1">
                  <a:lumMod val="75000"/>
                  <a:lumOff val="25000"/>
                </a:schemeClr>
              </a:solidFill>
              <a:latin typeface="メイリオ" panose="020B0604030504040204" pitchFamily="50" charset="-128"/>
              <a:ea typeface="メイリオ" panose="020B0604030504040204" pitchFamily="50" charset="-128"/>
              <a:cs typeface="メイリオ" panose="020B0604030504040204" pitchFamily="50" charset="-128"/>
            </a:endParaRPr>
          </a:p>
        </p:txBody>
      </p:sp>
    </p:spTree>
    <p:extLst>
      <p:ext uri="{BB962C8B-B14F-4D97-AF65-F5344CB8AC3E}">
        <p14:creationId xmlns:p14="http://schemas.microsoft.com/office/powerpoint/2010/main" val="2619375491"/>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790CDE0-BB10-C7C6-9CB9-785832AABAF6}"/>
            </a:ext>
          </a:extLst>
        </p:cNvPr>
        <p:cNvGrpSpPr/>
        <p:nvPr/>
      </p:nvGrpSpPr>
      <p:grpSpPr>
        <a:xfrm>
          <a:off x="0" y="0"/>
          <a:ext cx="0" cy="0"/>
          <a:chOff x="0" y="0"/>
          <a:chExt cx="0" cy="0"/>
        </a:xfrm>
      </p:grpSpPr>
      <p:sp>
        <p:nvSpPr>
          <p:cNvPr id="4" name="Google Shape;752;p28">
            <a:extLst>
              <a:ext uri="{FF2B5EF4-FFF2-40B4-BE49-F238E27FC236}">
                <a16:creationId xmlns:a16="http://schemas.microsoft.com/office/drawing/2014/main" id="{F4DA5ED1-E7F2-6353-56C2-FA4628CF19B0}"/>
              </a:ext>
            </a:extLst>
          </p:cNvPr>
          <p:cNvSpPr txBox="1"/>
          <p:nvPr/>
        </p:nvSpPr>
        <p:spPr>
          <a:xfrm>
            <a:off x="548883" y="138137"/>
            <a:ext cx="6276325" cy="338514"/>
          </a:xfrm>
          <a:prstGeom prst="rect">
            <a:avLst/>
          </a:prstGeom>
          <a:noFill/>
          <a:ln>
            <a:noFill/>
          </a:ln>
        </p:spPr>
        <p:txBody>
          <a:bodyPr spcFirstLastPara="1" wrap="square" lIns="91425" tIns="45700" rIns="91425" bIns="45700" anchor="ctr" anchorCtr="0">
            <a:spAutoFit/>
          </a:bodyPr>
          <a:lstStyle/>
          <a:p>
            <a:pPr lvl="0"/>
            <a:r>
              <a:rPr lang="ja-JP" altLang="en-US" sz="1600" b="1" dirty="0">
                <a:solidFill>
                  <a:srgbClr val="323366"/>
                </a:solidFill>
                <a:latin typeface="メイリオ" panose="020B0604030504040204" pitchFamily="50" charset="-128"/>
                <a:ea typeface="メイリオ" panose="020B0604030504040204" pitchFamily="50" charset="-128"/>
                <a:cs typeface="Meiryo"/>
                <a:sym typeface="Meiryo"/>
              </a:rPr>
              <a:t>弊社からご提供できる運用プラン</a:t>
            </a:r>
          </a:p>
        </p:txBody>
      </p:sp>
      <p:sp>
        <p:nvSpPr>
          <p:cNvPr id="9" name="正方形/長方形 8">
            <a:extLst>
              <a:ext uri="{FF2B5EF4-FFF2-40B4-BE49-F238E27FC236}">
                <a16:creationId xmlns:a16="http://schemas.microsoft.com/office/drawing/2014/main" id="{2AEA7C23-DE93-9590-AE94-B792C3122BEF}"/>
              </a:ext>
            </a:extLst>
          </p:cNvPr>
          <p:cNvSpPr/>
          <p:nvPr/>
        </p:nvSpPr>
        <p:spPr>
          <a:xfrm>
            <a:off x="0" y="681570"/>
            <a:ext cx="2914650" cy="502920"/>
          </a:xfrm>
          <a:prstGeom prst="rect">
            <a:avLst/>
          </a:prstGeom>
          <a:solidFill>
            <a:srgbClr val="00206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sz="1400" dirty="0">
                <a:latin typeface="メイリオ" panose="020B0604030504040204" pitchFamily="50" charset="-128"/>
                <a:ea typeface="メイリオ" panose="020B0604030504040204" pitchFamily="50" charset="-128"/>
              </a:rPr>
              <a:t>サービス内容</a:t>
            </a:r>
            <a:endParaRPr kumimoji="1" lang="ja-JP" altLang="en-US" sz="1400" dirty="0">
              <a:latin typeface="メイリオ" panose="020B0604030504040204" pitchFamily="50" charset="-128"/>
              <a:ea typeface="メイリオ" panose="020B0604030504040204" pitchFamily="50" charset="-128"/>
            </a:endParaRPr>
          </a:p>
        </p:txBody>
      </p:sp>
      <p:sp>
        <p:nvSpPr>
          <p:cNvPr id="5" name="Google Shape;752;p28">
            <a:extLst>
              <a:ext uri="{FF2B5EF4-FFF2-40B4-BE49-F238E27FC236}">
                <a16:creationId xmlns:a16="http://schemas.microsoft.com/office/drawing/2014/main" id="{9D6FEB09-4D8F-8EAE-D257-4C677C23BB92}"/>
              </a:ext>
            </a:extLst>
          </p:cNvPr>
          <p:cNvSpPr txBox="1"/>
          <p:nvPr/>
        </p:nvSpPr>
        <p:spPr>
          <a:xfrm>
            <a:off x="2983774" y="782870"/>
            <a:ext cx="6619875" cy="338514"/>
          </a:xfrm>
          <a:prstGeom prst="rect">
            <a:avLst/>
          </a:prstGeom>
          <a:noFill/>
          <a:ln>
            <a:noFill/>
          </a:ln>
        </p:spPr>
        <p:txBody>
          <a:bodyPr spcFirstLastPara="1" wrap="square" lIns="91425" tIns="45700" rIns="91425" bIns="45700" anchor="ctr" anchorCtr="0">
            <a:spAutoFit/>
          </a:bodyPr>
          <a:lstStyle/>
          <a:p>
            <a:r>
              <a:rPr lang="ja-JP" altLang="en-US" sz="1600" b="1" dirty="0">
                <a:latin typeface="メイリオ" panose="020B0604030504040204" pitchFamily="50" charset="-128"/>
                <a:ea typeface="メイリオ" panose="020B0604030504040204" pitchFamily="50" charset="-128"/>
                <a:cs typeface="Meiryo"/>
                <a:sym typeface="Meiryo"/>
              </a:rPr>
              <a:t>月額固定のコンサル運営で、費用を抑えた運用スタートを実現。</a:t>
            </a:r>
          </a:p>
        </p:txBody>
      </p:sp>
      <p:sp>
        <p:nvSpPr>
          <p:cNvPr id="17" name="正方形/長方形 16">
            <a:extLst>
              <a:ext uri="{FF2B5EF4-FFF2-40B4-BE49-F238E27FC236}">
                <a16:creationId xmlns:a16="http://schemas.microsoft.com/office/drawing/2014/main" id="{64B91377-FDB2-808E-0970-159FDA78ABB9}"/>
              </a:ext>
            </a:extLst>
          </p:cNvPr>
          <p:cNvSpPr/>
          <p:nvPr/>
        </p:nvSpPr>
        <p:spPr>
          <a:xfrm>
            <a:off x="3996942" y="122215"/>
            <a:ext cx="2083719" cy="320757"/>
          </a:xfrm>
          <a:prstGeom prst="rect">
            <a:avLst/>
          </a:prstGeom>
          <a:solidFill>
            <a:schemeClr val="tx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1400" dirty="0">
                <a:latin typeface="メイリオ" panose="020B0604030504040204" pitchFamily="50" charset="-128"/>
                <a:ea typeface="メイリオ" panose="020B0604030504040204" pitchFamily="50" charset="-128"/>
              </a:rPr>
              <a:t>DYM</a:t>
            </a:r>
            <a:r>
              <a:rPr kumimoji="1" lang="ja-JP" altLang="en-US" sz="1400" dirty="0">
                <a:latin typeface="メイリオ" panose="020B0604030504040204" pitchFamily="50" charset="-128"/>
                <a:ea typeface="メイリオ" panose="020B0604030504040204" pitchFamily="50" charset="-128"/>
              </a:rPr>
              <a:t>プラン</a:t>
            </a:r>
          </a:p>
        </p:txBody>
      </p:sp>
      <p:sp>
        <p:nvSpPr>
          <p:cNvPr id="3" name="Shape 2">
            <a:extLst>
              <a:ext uri="{FF2B5EF4-FFF2-40B4-BE49-F238E27FC236}">
                <a16:creationId xmlns:a16="http://schemas.microsoft.com/office/drawing/2014/main" id="{133EC02F-4D0A-E846-1994-A1FA50AA761C}"/>
              </a:ext>
            </a:extLst>
          </p:cNvPr>
          <p:cNvSpPr/>
          <p:nvPr/>
        </p:nvSpPr>
        <p:spPr>
          <a:xfrm>
            <a:off x="3996942" y="1299722"/>
            <a:ext cx="5180076" cy="658368"/>
          </a:xfrm>
          <a:prstGeom prst="roundRect">
            <a:avLst>
              <a:gd name="adj" fmla="val 11111"/>
            </a:avLst>
          </a:prstGeom>
          <a:solidFill>
            <a:schemeClr val="bg1">
              <a:lumMod val="85000"/>
            </a:schemeClr>
          </a:solidFill>
          <a:ln w="12700">
            <a:solidFill>
              <a:srgbClr val="E8EDF8"/>
            </a:solidFill>
            <a:prstDash val="solid"/>
          </a:ln>
          <a:effectLst>
            <a:outerShdw blurRad="101600" dist="25400" dir="2700000" algn="bl" rotWithShape="0">
              <a:srgbClr val="000000">
                <a:alpha val="10000"/>
              </a:srgbClr>
            </a:outerShdw>
          </a:effectLst>
        </p:spPr>
        <p:txBody>
          <a:bodyPr/>
          <a:lstStyle/>
          <a:p>
            <a:endParaRPr lang="ja-JP" altLang="en-US">
              <a:latin typeface="メイリオ" panose="020B0604030504040204" pitchFamily="50" charset="-128"/>
              <a:ea typeface="メイリオ" panose="020B0604030504040204" pitchFamily="50" charset="-128"/>
            </a:endParaRPr>
          </a:p>
        </p:txBody>
      </p:sp>
      <p:sp>
        <p:nvSpPr>
          <p:cNvPr id="22" name="Shape 3">
            <a:extLst>
              <a:ext uri="{FF2B5EF4-FFF2-40B4-BE49-F238E27FC236}">
                <a16:creationId xmlns:a16="http://schemas.microsoft.com/office/drawing/2014/main" id="{B03D337C-CE0C-8D62-1622-3E7F414F385E}"/>
              </a:ext>
            </a:extLst>
          </p:cNvPr>
          <p:cNvSpPr/>
          <p:nvPr/>
        </p:nvSpPr>
        <p:spPr>
          <a:xfrm>
            <a:off x="4232400" y="1391162"/>
            <a:ext cx="502920" cy="475488"/>
          </a:xfrm>
          <a:prstGeom prst="roundRect">
            <a:avLst>
              <a:gd name="adj" fmla="val 11538"/>
            </a:avLst>
          </a:prstGeom>
          <a:solidFill>
            <a:srgbClr val="1E2761"/>
          </a:solidFill>
          <a:ln w="12700">
            <a:solidFill>
              <a:srgbClr val="1E2761"/>
            </a:solidFill>
            <a:prstDash val="solid"/>
          </a:ln>
        </p:spPr>
        <p:txBody>
          <a:bodyPr/>
          <a:lstStyle/>
          <a:p>
            <a:endParaRPr lang="ja-JP" altLang="en-US">
              <a:latin typeface="メイリオ" panose="020B0604030504040204" pitchFamily="50" charset="-128"/>
              <a:ea typeface="メイリオ" panose="020B0604030504040204" pitchFamily="50" charset="-128"/>
            </a:endParaRPr>
          </a:p>
        </p:txBody>
      </p:sp>
      <p:sp>
        <p:nvSpPr>
          <p:cNvPr id="25" name="Text 4">
            <a:extLst>
              <a:ext uri="{FF2B5EF4-FFF2-40B4-BE49-F238E27FC236}">
                <a16:creationId xmlns:a16="http://schemas.microsoft.com/office/drawing/2014/main" id="{B1A45445-BB59-E57C-783F-82C190B07BF0}"/>
              </a:ext>
            </a:extLst>
          </p:cNvPr>
          <p:cNvSpPr/>
          <p:nvPr/>
        </p:nvSpPr>
        <p:spPr>
          <a:xfrm>
            <a:off x="4232400" y="1391162"/>
            <a:ext cx="502920" cy="475488"/>
          </a:xfrm>
          <a:prstGeom prst="rect">
            <a:avLst/>
          </a:prstGeom>
          <a:noFill/>
          <a:ln/>
        </p:spPr>
        <p:txBody>
          <a:bodyPr wrap="square" rtlCol="0" anchor="ctr"/>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indent="0" algn="ctr">
              <a:buNone/>
            </a:pPr>
            <a:r>
              <a:rPr lang="en-US" sz="1300" b="1" dirty="0">
                <a:solidFill>
                  <a:srgbClr val="CADCFC"/>
                </a:solidFill>
                <a:latin typeface="メイリオ" panose="020B0604030504040204" pitchFamily="50" charset="-128"/>
                <a:ea typeface="メイリオ" panose="020B0604030504040204" pitchFamily="50" charset="-128"/>
                <a:cs typeface="Calibri" pitchFamily="34" charset="-120"/>
              </a:rPr>
              <a:t>01</a:t>
            </a:r>
            <a:endParaRPr lang="en-US" sz="1300" dirty="0">
              <a:latin typeface="メイリオ" panose="020B0604030504040204" pitchFamily="50" charset="-128"/>
              <a:ea typeface="メイリオ" panose="020B0604030504040204" pitchFamily="50" charset="-128"/>
            </a:endParaRPr>
          </a:p>
        </p:txBody>
      </p:sp>
      <p:sp>
        <p:nvSpPr>
          <p:cNvPr id="30" name="Text 5">
            <a:extLst>
              <a:ext uri="{FF2B5EF4-FFF2-40B4-BE49-F238E27FC236}">
                <a16:creationId xmlns:a16="http://schemas.microsoft.com/office/drawing/2014/main" id="{9B28CF00-AAB9-C0E8-E939-BB9A0644E64F}"/>
              </a:ext>
            </a:extLst>
          </p:cNvPr>
          <p:cNvSpPr/>
          <p:nvPr/>
        </p:nvSpPr>
        <p:spPr>
          <a:xfrm>
            <a:off x="4872480" y="1354586"/>
            <a:ext cx="3947160" cy="320040"/>
          </a:xfrm>
          <a:prstGeom prst="rect">
            <a:avLst/>
          </a:prstGeom>
          <a:noFill/>
          <a:ln/>
        </p:spPr>
        <p:txBody>
          <a:bodyPr wrap="square" lIns="0" tIns="0" rIns="0" bIns="0" rtlCol="0" anchor="ctr"/>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indent="0">
              <a:buNone/>
            </a:pPr>
            <a:r>
              <a:rPr lang="en-US" sz="1300" b="1" dirty="0">
                <a:solidFill>
                  <a:srgbClr val="1E2761"/>
                </a:solidFill>
                <a:latin typeface="メイリオ" panose="020B0604030504040204" pitchFamily="50" charset="-128"/>
                <a:ea typeface="メイリオ" panose="020B0604030504040204" pitchFamily="50" charset="-128"/>
                <a:cs typeface="Calibri" pitchFamily="34" charset="-120"/>
              </a:rPr>
              <a:t>求職者（整備士）のカスタマージャーニー（8フェーズ）</a:t>
            </a:r>
            <a:endParaRPr lang="en-US" sz="1300" dirty="0">
              <a:latin typeface="メイリオ" panose="020B0604030504040204" pitchFamily="50" charset="-128"/>
              <a:ea typeface="メイリオ" panose="020B0604030504040204" pitchFamily="50" charset="-128"/>
            </a:endParaRPr>
          </a:p>
        </p:txBody>
      </p:sp>
      <p:sp>
        <p:nvSpPr>
          <p:cNvPr id="31" name="Text 6">
            <a:extLst>
              <a:ext uri="{FF2B5EF4-FFF2-40B4-BE49-F238E27FC236}">
                <a16:creationId xmlns:a16="http://schemas.microsoft.com/office/drawing/2014/main" id="{859B7776-633B-4EB8-939E-2F40912A0B26}"/>
              </a:ext>
            </a:extLst>
          </p:cNvPr>
          <p:cNvSpPr/>
          <p:nvPr/>
        </p:nvSpPr>
        <p:spPr>
          <a:xfrm>
            <a:off x="4872480" y="1647194"/>
            <a:ext cx="4554415" cy="256032"/>
          </a:xfrm>
          <a:prstGeom prst="rect">
            <a:avLst/>
          </a:prstGeom>
          <a:noFill/>
          <a:ln/>
        </p:spPr>
        <p:txBody>
          <a:bodyPr wrap="square" lIns="0" tIns="0" rIns="0" bIns="0" rtlCol="0" anchor="ctr"/>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indent="0">
              <a:buNone/>
            </a:pPr>
            <a:r>
              <a:rPr lang="en-US" sz="1000" dirty="0">
                <a:solidFill>
                  <a:srgbClr val="64748B"/>
                </a:solidFill>
                <a:latin typeface="メイリオ" panose="020B0604030504040204" pitchFamily="50" charset="-128"/>
                <a:ea typeface="メイリオ" panose="020B0604030504040204" pitchFamily="50" charset="-128"/>
                <a:cs typeface="Calibri" pitchFamily="34" charset="-120"/>
              </a:rPr>
              <a:t>接触〜面談・就業までの動線設計</a:t>
            </a:r>
            <a:endParaRPr lang="en-US" sz="1000" dirty="0">
              <a:latin typeface="メイリオ" panose="020B0604030504040204" pitchFamily="50" charset="-128"/>
              <a:ea typeface="メイリオ" panose="020B0604030504040204" pitchFamily="50" charset="-128"/>
            </a:endParaRPr>
          </a:p>
        </p:txBody>
      </p:sp>
      <p:sp>
        <p:nvSpPr>
          <p:cNvPr id="32" name="Shape 7">
            <a:extLst>
              <a:ext uri="{FF2B5EF4-FFF2-40B4-BE49-F238E27FC236}">
                <a16:creationId xmlns:a16="http://schemas.microsoft.com/office/drawing/2014/main" id="{7D44BDCF-0A55-B2C9-910D-3324635E44D1}"/>
              </a:ext>
            </a:extLst>
          </p:cNvPr>
          <p:cNvSpPr/>
          <p:nvPr/>
        </p:nvSpPr>
        <p:spPr>
          <a:xfrm>
            <a:off x="3996942" y="2067818"/>
            <a:ext cx="5180076" cy="658368"/>
          </a:xfrm>
          <a:prstGeom prst="roundRect">
            <a:avLst>
              <a:gd name="adj" fmla="val 11111"/>
            </a:avLst>
          </a:prstGeom>
          <a:solidFill>
            <a:srgbClr val="FFFFFF"/>
          </a:solidFill>
          <a:ln w="12700">
            <a:solidFill>
              <a:srgbClr val="E8EDF8"/>
            </a:solidFill>
            <a:prstDash val="solid"/>
          </a:ln>
          <a:effectLst>
            <a:outerShdw blurRad="101600" dist="25400" dir="2700000" algn="bl" rotWithShape="0">
              <a:srgbClr val="000000">
                <a:alpha val="10000"/>
              </a:srgbClr>
            </a:outerShdw>
          </a:effectLst>
        </p:spPr>
        <p:txBody>
          <a:bodyPr/>
          <a:lstStyle/>
          <a:p>
            <a:endParaRPr lang="ja-JP" altLang="en-US">
              <a:latin typeface="メイリオ" panose="020B0604030504040204" pitchFamily="50" charset="-128"/>
              <a:ea typeface="メイリオ" panose="020B0604030504040204" pitchFamily="50" charset="-128"/>
            </a:endParaRPr>
          </a:p>
        </p:txBody>
      </p:sp>
      <p:sp>
        <p:nvSpPr>
          <p:cNvPr id="33" name="Shape 8">
            <a:extLst>
              <a:ext uri="{FF2B5EF4-FFF2-40B4-BE49-F238E27FC236}">
                <a16:creationId xmlns:a16="http://schemas.microsoft.com/office/drawing/2014/main" id="{6B95D5FC-BCA7-C12E-16F3-F3982D7CB7FF}"/>
              </a:ext>
            </a:extLst>
          </p:cNvPr>
          <p:cNvSpPr/>
          <p:nvPr/>
        </p:nvSpPr>
        <p:spPr>
          <a:xfrm>
            <a:off x="4232400" y="2159258"/>
            <a:ext cx="502920" cy="475488"/>
          </a:xfrm>
          <a:prstGeom prst="roundRect">
            <a:avLst>
              <a:gd name="adj" fmla="val 11538"/>
            </a:avLst>
          </a:prstGeom>
          <a:solidFill>
            <a:srgbClr val="1E2761"/>
          </a:solidFill>
          <a:ln w="12700">
            <a:solidFill>
              <a:srgbClr val="1E2761"/>
            </a:solidFill>
            <a:prstDash val="solid"/>
          </a:ln>
        </p:spPr>
        <p:txBody>
          <a:bodyPr/>
          <a:lstStyle/>
          <a:p>
            <a:endParaRPr lang="ja-JP" altLang="en-US">
              <a:latin typeface="メイリオ" panose="020B0604030504040204" pitchFamily="50" charset="-128"/>
              <a:ea typeface="メイリオ" panose="020B0604030504040204" pitchFamily="50" charset="-128"/>
            </a:endParaRPr>
          </a:p>
        </p:txBody>
      </p:sp>
      <p:sp>
        <p:nvSpPr>
          <p:cNvPr id="34" name="Text 9">
            <a:extLst>
              <a:ext uri="{FF2B5EF4-FFF2-40B4-BE49-F238E27FC236}">
                <a16:creationId xmlns:a16="http://schemas.microsoft.com/office/drawing/2014/main" id="{337B0579-C212-59E6-2BF8-06592B5DE9B2}"/>
              </a:ext>
            </a:extLst>
          </p:cNvPr>
          <p:cNvSpPr/>
          <p:nvPr/>
        </p:nvSpPr>
        <p:spPr>
          <a:xfrm>
            <a:off x="4232400" y="2159258"/>
            <a:ext cx="502920" cy="475488"/>
          </a:xfrm>
          <a:prstGeom prst="rect">
            <a:avLst/>
          </a:prstGeom>
          <a:noFill/>
          <a:ln/>
        </p:spPr>
        <p:txBody>
          <a:bodyPr wrap="square" rtlCol="0" anchor="ctr"/>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indent="0" algn="ctr">
              <a:buNone/>
            </a:pPr>
            <a:r>
              <a:rPr lang="en-US" sz="1300" b="1" dirty="0">
                <a:solidFill>
                  <a:srgbClr val="CADCFC"/>
                </a:solidFill>
                <a:latin typeface="メイリオ" panose="020B0604030504040204" pitchFamily="50" charset="-128"/>
                <a:ea typeface="メイリオ" panose="020B0604030504040204" pitchFamily="50" charset="-128"/>
                <a:cs typeface="Calibri" pitchFamily="34" charset="-120"/>
              </a:rPr>
              <a:t>02</a:t>
            </a:r>
            <a:endParaRPr lang="en-US" sz="1300" dirty="0">
              <a:latin typeface="メイリオ" panose="020B0604030504040204" pitchFamily="50" charset="-128"/>
              <a:ea typeface="メイリオ" panose="020B0604030504040204" pitchFamily="50" charset="-128"/>
            </a:endParaRPr>
          </a:p>
        </p:txBody>
      </p:sp>
      <p:sp>
        <p:nvSpPr>
          <p:cNvPr id="35" name="Text 10">
            <a:extLst>
              <a:ext uri="{FF2B5EF4-FFF2-40B4-BE49-F238E27FC236}">
                <a16:creationId xmlns:a16="http://schemas.microsoft.com/office/drawing/2014/main" id="{920D37BD-A1AA-216C-CD8A-FC40DD16D16E}"/>
              </a:ext>
            </a:extLst>
          </p:cNvPr>
          <p:cNvSpPr/>
          <p:nvPr/>
        </p:nvSpPr>
        <p:spPr>
          <a:xfrm>
            <a:off x="4872480" y="2122682"/>
            <a:ext cx="3947160" cy="320040"/>
          </a:xfrm>
          <a:prstGeom prst="rect">
            <a:avLst/>
          </a:prstGeom>
          <a:noFill/>
          <a:ln/>
        </p:spPr>
        <p:txBody>
          <a:bodyPr wrap="square" lIns="0" tIns="0" rIns="0" bIns="0" rtlCol="0" anchor="ctr"/>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indent="0">
              <a:buNone/>
            </a:pPr>
            <a:r>
              <a:rPr lang="en-US" sz="1300" b="1" dirty="0">
                <a:solidFill>
                  <a:srgbClr val="1E2761"/>
                </a:solidFill>
                <a:latin typeface="メイリオ" panose="020B0604030504040204" pitchFamily="50" charset="-128"/>
                <a:ea typeface="メイリオ" panose="020B0604030504040204" pitchFamily="50" charset="-128"/>
                <a:cs typeface="Calibri" pitchFamily="34" charset="-120"/>
              </a:rPr>
              <a:t>LINEステップ配信シナリオ（</a:t>
            </a:r>
            <a:r>
              <a:rPr lang="en-US" altLang="ja-JP" sz="1300" b="1" dirty="0">
                <a:solidFill>
                  <a:srgbClr val="1E2761"/>
                </a:solidFill>
                <a:latin typeface="メイリオ" panose="020B0604030504040204" pitchFamily="50" charset="-128"/>
                <a:ea typeface="メイリオ" panose="020B0604030504040204" pitchFamily="50" charset="-128"/>
                <a:cs typeface="Calibri" pitchFamily="34" charset="-120"/>
              </a:rPr>
              <a:t>4</a:t>
            </a:r>
            <a:r>
              <a:rPr lang="en-US" sz="1300" b="1" dirty="0">
                <a:solidFill>
                  <a:srgbClr val="1E2761"/>
                </a:solidFill>
                <a:latin typeface="メイリオ" panose="020B0604030504040204" pitchFamily="50" charset="-128"/>
                <a:ea typeface="メイリオ" panose="020B0604030504040204" pitchFamily="50" charset="-128"/>
                <a:cs typeface="Calibri" pitchFamily="34" charset="-120"/>
              </a:rPr>
              <a:t>-8</a:t>
            </a:r>
            <a:r>
              <a:rPr lang="ja-JP" altLang="en-US" sz="1300" b="1" dirty="0">
                <a:solidFill>
                  <a:srgbClr val="1E2761"/>
                </a:solidFill>
                <a:latin typeface="メイリオ" panose="020B0604030504040204" pitchFamily="50" charset="-128"/>
                <a:ea typeface="メイリオ" panose="020B0604030504040204" pitchFamily="50" charset="-128"/>
                <a:cs typeface="Calibri" pitchFamily="34" charset="-120"/>
              </a:rPr>
              <a:t>本</a:t>
            </a:r>
            <a:r>
              <a:rPr lang="en-US" sz="1300" b="1" dirty="0">
                <a:solidFill>
                  <a:srgbClr val="1E2761"/>
                </a:solidFill>
                <a:latin typeface="メイリオ" panose="020B0604030504040204" pitchFamily="50" charset="-128"/>
                <a:ea typeface="メイリオ" panose="020B0604030504040204" pitchFamily="50" charset="-128"/>
                <a:cs typeface="Calibri" pitchFamily="34" charset="-120"/>
              </a:rPr>
              <a:t>）</a:t>
            </a:r>
            <a:endParaRPr lang="en-US" sz="1300" dirty="0">
              <a:latin typeface="メイリオ" panose="020B0604030504040204" pitchFamily="50" charset="-128"/>
              <a:ea typeface="メイリオ" panose="020B0604030504040204" pitchFamily="50" charset="-128"/>
            </a:endParaRPr>
          </a:p>
        </p:txBody>
      </p:sp>
      <p:sp>
        <p:nvSpPr>
          <p:cNvPr id="36" name="Text 11">
            <a:extLst>
              <a:ext uri="{FF2B5EF4-FFF2-40B4-BE49-F238E27FC236}">
                <a16:creationId xmlns:a16="http://schemas.microsoft.com/office/drawing/2014/main" id="{974E4765-6EBA-5838-ABF7-F21BBF0480C5}"/>
              </a:ext>
            </a:extLst>
          </p:cNvPr>
          <p:cNvSpPr/>
          <p:nvPr/>
        </p:nvSpPr>
        <p:spPr>
          <a:xfrm>
            <a:off x="4872480" y="2415290"/>
            <a:ext cx="4554415" cy="256032"/>
          </a:xfrm>
          <a:prstGeom prst="rect">
            <a:avLst/>
          </a:prstGeom>
          <a:noFill/>
          <a:ln/>
        </p:spPr>
        <p:txBody>
          <a:bodyPr wrap="square" lIns="0" tIns="0" rIns="0" bIns="0" rtlCol="0" anchor="ctr"/>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indent="0">
              <a:buNone/>
            </a:pPr>
            <a:r>
              <a:rPr lang="en-US" sz="1000" dirty="0">
                <a:solidFill>
                  <a:srgbClr val="64748B"/>
                </a:solidFill>
                <a:latin typeface="メイリオ" panose="020B0604030504040204" pitchFamily="50" charset="-128"/>
                <a:ea typeface="メイリオ" panose="020B0604030504040204" pitchFamily="50" charset="-128"/>
                <a:cs typeface="Calibri" pitchFamily="34" charset="-120"/>
              </a:rPr>
              <a:t>友だち追加直後〜成約誘導まで</a:t>
            </a:r>
            <a:endParaRPr lang="en-US" sz="1000" dirty="0">
              <a:latin typeface="メイリオ" panose="020B0604030504040204" pitchFamily="50" charset="-128"/>
              <a:ea typeface="メイリオ" panose="020B0604030504040204" pitchFamily="50" charset="-128"/>
            </a:endParaRPr>
          </a:p>
        </p:txBody>
      </p:sp>
      <p:sp>
        <p:nvSpPr>
          <p:cNvPr id="37" name="Shape 12">
            <a:extLst>
              <a:ext uri="{FF2B5EF4-FFF2-40B4-BE49-F238E27FC236}">
                <a16:creationId xmlns:a16="http://schemas.microsoft.com/office/drawing/2014/main" id="{D811E673-9797-08AA-F052-158BFDE9379B}"/>
              </a:ext>
            </a:extLst>
          </p:cNvPr>
          <p:cNvSpPr/>
          <p:nvPr/>
        </p:nvSpPr>
        <p:spPr>
          <a:xfrm>
            <a:off x="3996942" y="2835914"/>
            <a:ext cx="5180076" cy="658368"/>
          </a:xfrm>
          <a:prstGeom prst="roundRect">
            <a:avLst>
              <a:gd name="adj" fmla="val 11111"/>
            </a:avLst>
          </a:prstGeom>
          <a:solidFill>
            <a:srgbClr val="F4F7FF"/>
          </a:solidFill>
          <a:ln w="12700">
            <a:solidFill>
              <a:srgbClr val="E8EDF8"/>
            </a:solidFill>
            <a:prstDash val="solid"/>
          </a:ln>
          <a:effectLst>
            <a:outerShdw blurRad="101600" dist="25400" dir="2700000" algn="bl" rotWithShape="0">
              <a:srgbClr val="000000">
                <a:alpha val="10000"/>
              </a:srgbClr>
            </a:outerShdw>
          </a:effectLst>
        </p:spPr>
        <p:txBody>
          <a:bodyPr/>
          <a:lstStyle/>
          <a:p>
            <a:endParaRPr lang="ja-JP" altLang="en-US">
              <a:latin typeface="メイリオ" panose="020B0604030504040204" pitchFamily="50" charset="-128"/>
              <a:ea typeface="メイリオ" panose="020B0604030504040204" pitchFamily="50" charset="-128"/>
            </a:endParaRPr>
          </a:p>
        </p:txBody>
      </p:sp>
      <p:sp>
        <p:nvSpPr>
          <p:cNvPr id="38" name="Shape 13">
            <a:extLst>
              <a:ext uri="{FF2B5EF4-FFF2-40B4-BE49-F238E27FC236}">
                <a16:creationId xmlns:a16="http://schemas.microsoft.com/office/drawing/2014/main" id="{11CD1AF8-999B-AEAA-EA44-B774D877F777}"/>
              </a:ext>
            </a:extLst>
          </p:cNvPr>
          <p:cNvSpPr/>
          <p:nvPr/>
        </p:nvSpPr>
        <p:spPr>
          <a:xfrm>
            <a:off x="4232400" y="2927354"/>
            <a:ext cx="502920" cy="475488"/>
          </a:xfrm>
          <a:prstGeom prst="roundRect">
            <a:avLst>
              <a:gd name="adj" fmla="val 11538"/>
            </a:avLst>
          </a:prstGeom>
          <a:solidFill>
            <a:srgbClr val="1E2761"/>
          </a:solidFill>
          <a:ln w="12700">
            <a:solidFill>
              <a:srgbClr val="1E2761"/>
            </a:solidFill>
            <a:prstDash val="solid"/>
          </a:ln>
        </p:spPr>
        <p:txBody>
          <a:bodyPr/>
          <a:lstStyle/>
          <a:p>
            <a:endParaRPr lang="ja-JP" altLang="en-US">
              <a:latin typeface="メイリオ" panose="020B0604030504040204" pitchFamily="50" charset="-128"/>
              <a:ea typeface="メイリオ" panose="020B0604030504040204" pitchFamily="50" charset="-128"/>
            </a:endParaRPr>
          </a:p>
        </p:txBody>
      </p:sp>
      <p:sp>
        <p:nvSpPr>
          <p:cNvPr id="39" name="Text 14">
            <a:extLst>
              <a:ext uri="{FF2B5EF4-FFF2-40B4-BE49-F238E27FC236}">
                <a16:creationId xmlns:a16="http://schemas.microsoft.com/office/drawing/2014/main" id="{39EC602B-88CD-63D2-D10B-5FB47EBB73C5}"/>
              </a:ext>
            </a:extLst>
          </p:cNvPr>
          <p:cNvSpPr/>
          <p:nvPr/>
        </p:nvSpPr>
        <p:spPr>
          <a:xfrm>
            <a:off x="4232400" y="2927354"/>
            <a:ext cx="502920" cy="475488"/>
          </a:xfrm>
          <a:prstGeom prst="rect">
            <a:avLst/>
          </a:prstGeom>
          <a:noFill/>
          <a:ln/>
        </p:spPr>
        <p:txBody>
          <a:bodyPr wrap="square" rtlCol="0" anchor="ctr"/>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indent="0" algn="ctr">
              <a:buNone/>
            </a:pPr>
            <a:r>
              <a:rPr lang="en-US" sz="1300" b="1" dirty="0">
                <a:solidFill>
                  <a:srgbClr val="CADCFC"/>
                </a:solidFill>
                <a:latin typeface="メイリオ" panose="020B0604030504040204" pitchFamily="50" charset="-128"/>
                <a:ea typeface="メイリオ" panose="020B0604030504040204" pitchFamily="50" charset="-128"/>
                <a:cs typeface="Calibri" pitchFamily="34" charset="-120"/>
              </a:rPr>
              <a:t>03</a:t>
            </a:r>
            <a:endParaRPr lang="en-US" sz="1300" dirty="0">
              <a:latin typeface="メイリオ" panose="020B0604030504040204" pitchFamily="50" charset="-128"/>
              <a:ea typeface="メイリオ" panose="020B0604030504040204" pitchFamily="50" charset="-128"/>
            </a:endParaRPr>
          </a:p>
        </p:txBody>
      </p:sp>
      <p:sp>
        <p:nvSpPr>
          <p:cNvPr id="40" name="Text 15">
            <a:extLst>
              <a:ext uri="{FF2B5EF4-FFF2-40B4-BE49-F238E27FC236}">
                <a16:creationId xmlns:a16="http://schemas.microsoft.com/office/drawing/2014/main" id="{0AEE18E8-A2E5-2400-F73C-D5891E9A42FC}"/>
              </a:ext>
            </a:extLst>
          </p:cNvPr>
          <p:cNvSpPr/>
          <p:nvPr/>
        </p:nvSpPr>
        <p:spPr>
          <a:xfrm>
            <a:off x="4872480" y="2890778"/>
            <a:ext cx="3947160" cy="320040"/>
          </a:xfrm>
          <a:prstGeom prst="rect">
            <a:avLst/>
          </a:prstGeom>
          <a:noFill/>
          <a:ln/>
        </p:spPr>
        <p:txBody>
          <a:bodyPr wrap="square" lIns="0" tIns="0" rIns="0" bIns="0" rtlCol="0" anchor="ctr"/>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US" altLang="ja-JP" sz="1300" b="1" dirty="0" err="1">
                <a:solidFill>
                  <a:srgbClr val="1E2761"/>
                </a:solidFill>
                <a:latin typeface="メイリオ" panose="020B0604030504040204" pitchFamily="50" charset="-128"/>
                <a:ea typeface="メイリオ" panose="020B0604030504040204" pitchFamily="50" charset="-128"/>
                <a:cs typeface="Calibri" pitchFamily="34" charset="-120"/>
              </a:rPr>
              <a:t>アンケート設計（直接関与</a:t>
            </a:r>
            <a:r>
              <a:rPr lang="en-US" altLang="ja-JP" sz="1300" b="1" dirty="0">
                <a:solidFill>
                  <a:srgbClr val="1E2761"/>
                </a:solidFill>
                <a:latin typeface="メイリオ" panose="020B0604030504040204" pitchFamily="50" charset="-128"/>
                <a:ea typeface="メイリオ" panose="020B0604030504040204" pitchFamily="50" charset="-128"/>
                <a:cs typeface="Calibri" pitchFamily="34" charset="-120"/>
              </a:rPr>
              <a:t> / </a:t>
            </a:r>
            <a:r>
              <a:rPr lang="en-US" altLang="ja-JP" sz="1300" b="1" dirty="0" err="1">
                <a:solidFill>
                  <a:srgbClr val="1E2761"/>
                </a:solidFill>
                <a:latin typeface="メイリオ" panose="020B0604030504040204" pitchFamily="50" charset="-128"/>
                <a:ea typeface="メイリオ" panose="020B0604030504040204" pitchFamily="50" charset="-128"/>
                <a:cs typeface="Calibri" pitchFamily="34" charset="-120"/>
              </a:rPr>
              <a:t>診断型</a:t>
            </a:r>
            <a:r>
              <a:rPr lang="en-US" altLang="ja-JP" sz="1300" b="1" dirty="0">
                <a:solidFill>
                  <a:srgbClr val="1E2761"/>
                </a:solidFill>
                <a:latin typeface="メイリオ" panose="020B0604030504040204" pitchFamily="50" charset="-128"/>
                <a:ea typeface="メイリオ" panose="020B0604030504040204" pitchFamily="50" charset="-128"/>
                <a:cs typeface="Calibri" pitchFamily="34" charset="-120"/>
              </a:rPr>
              <a:t>）</a:t>
            </a:r>
            <a:endParaRPr lang="en-US" altLang="ja-JP" sz="1300" dirty="0">
              <a:latin typeface="メイリオ" panose="020B0604030504040204" pitchFamily="50" charset="-128"/>
              <a:ea typeface="メイリオ" panose="020B0604030504040204" pitchFamily="50" charset="-128"/>
            </a:endParaRPr>
          </a:p>
        </p:txBody>
      </p:sp>
      <p:sp>
        <p:nvSpPr>
          <p:cNvPr id="42" name="Text 16">
            <a:extLst>
              <a:ext uri="{FF2B5EF4-FFF2-40B4-BE49-F238E27FC236}">
                <a16:creationId xmlns:a16="http://schemas.microsoft.com/office/drawing/2014/main" id="{B4775A80-7B08-FF59-7696-55B7BFFE29C0}"/>
              </a:ext>
            </a:extLst>
          </p:cNvPr>
          <p:cNvSpPr/>
          <p:nvPr/>
        </p:nvSpPr>
        <p:spPr>
          <a:xfrm>
            <a:off x="4872480" y="3183386"/>
            <a:ext cx="4554415" cy="256032"/>
          </a:xfrm>
          <a:prstGeom prst="rect">
            <a:avLst/>
          </a:prstGeom>
          <a:noFill/>
          <a:ln/>
        </p:spPr>
        <p:txBody>
          <a:bodyPr wrap="square" lIns="0" tIns="0" rIns="0" bIns="0" rtlCol="0" anchor="ctr"/>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US" altLang="ja-JP" sz="1000" dirty="0" err="1">
                <a:solidFill>
                  <a:srgbClr val="64748B"/>
                </a:solidFill>
                <a:latin typeface="メイリオ" panose="020B0604030504040204" pitchFamily="50" charset="-128"/>
                <a:ea typeface="メイリオ" panose="020B0604030504040204" pitchFamily="50" charset="-128"/>
                <a:cs typeface="Calibri" pitchFamily="34" charset="-120"/>
              </a:rPr>
              <a:t>リード有効化＋長期追客セグメント戦略</a:t>
            </a:r>
            <a:endParaRPr lang="en-US" altLang="ja-JP" sz="1000" dirty="0">
              <a:latin typeface="メイリオ" panose="020B0604030504040204" pitchFamily="50" charset="-128"/>
              <a:ea typeface="メイリオ" panose="020B0604030504040204" pitchFamily="50" charset="-128"/>
            </a:endParaRPr>
          </a:p>
        </p:txBody>
      </p:sp>
      <p:sp>
        <p:nvSpPr>
          <p:cNvPr id="43" name="Shape 17">
            <a:extLst>
              <a:ext uri="{FF2B5EF4-FFF2-40B4-BE49-F238E27FC236}">
                <a16:creationId xmlns:a16="http://schemas.microsoft.com/office/drawing/2014/main" id="{3D356BBE-5EFA-8143-1308-9A8F66D3D8F4}"/>
              </a:ext>
            </a:extLst>
          </p:cNvPr>
          <p:cNvSpPr/>
          <p:nvPr/>
        </p:nvSpPr>
        <p:spPr>
          <a:xfrm>
            <a:off x="3996942" y="3604010"/>
            <a:ext cx="5180076" cy="658368"/>
          </a:xfrm>
          <a:prstGeom prst="roundRect">
            <a:avLst>
              <a:gd name="adj" fmla="val 11111"/>
            </a:avLst>
          </a:prstGeom>
          <a:solidFill>
            <a:srgbClr val="FFFFFF"/>
          </a:solidFill>
          <a:ln w="12700">
            <a:solidFill>
              <a:srgbClr val="E8EDF8"/>
            </a:solidFill>
            <a:prstDash val="solid"/>
          </a:ln>
          <a:effectLst>
            <a:outerShdw blurRad="101600" dist="25400" dir="2700000" algn="bl" rotWithShape="0">
              <a:srgbClr val="000000">
                <a:alpha val="10000"/>
              </a:srgbClr>
            </a:outerShdw>
          </a:effectLst>
        </p:spPr>
        <p:txBody>
          <a:bodyPr/>
          <a:lstStyle/>
          <a:p>
            <a:endParaRPr lang="ja-JP" altLang="en-US">
              <a:latin typeface="メイリオ" panose="020B0604030504040204" pitchFamily="50" charset="-128"/>
              <a:ea typeface="メイリオ" panose="020B0604030504040204" pitchFamily="50" charset="-128"/>
            </a:endParaRPr>
          </a:p>
        </p:txBody>
      </p:sp>
      <p:sp>
        <p:nvSpPr>
          <p:cNvPr id="44" name="Shape 18">
            <a:extLst>
              <a:ext uri="{FF2B5EF4-FFF2-40B4-BE49-F238E27FC236}">
                <a16:creationId xmlns:a16="http://schemas.microsoft.com/office/drawing/2014/main" id="{347BFA19-EB93-7D44-5D29-87E8A0640967}"/>
              </a:ext>
            </a:extLst>
          </p:cNvPr>
          <p:cNvSpPr/>
          <p:nvPr/>
        </p:nvSpPr>
        <p:spPr>
          <a:xfrm>
            <a:off x="4232400" y="3695450"/>
            <a:ext cx="502920" cy="475488"/>
          </a:xfrm>
          <a:prstGeom prst="roundRect">
            <a:avLst>
              <a:gd name="adj" fmla="val 11538"/>
            </a:avLst>
          </a:prstGeom>
          <a:solidFill>
            <a:srgbClr val="1E2761"/>
          </a:solidFill>
          <a:ln w="12700">
            <a:solidFill>
              <a:srgbClr val="1E2761"/>
            </a:solidFill>
            <a:prstDash val="solid"/>
          </a:ln>
        </p:spPr>
        <p:txBody>
          <a:bodyPr/>
          <a:lstStyle/>
          <a:p>
            <a:endParaRPr lang="ja-JP" altLang="en-US">
              <a:latin typeface="メイリオ" panose="020B0604030504040204" pitchFamily="50" charset="-128"/>
              <a:ea typeface="メイリオ" panose="020B0604030504040204" pitchFamily="50" charset="-128"/>
            </a:endParaRPr>
          </a:p>
        </p:txBody>
      </p:sp>
      <p:sp>
        <p:nvSpPr>
          <p:cNvPr id="45" name="Text 19">
            <a:extLst>
              <a:ext uri="{FF2B5EF4-FFF2-40B4-BE49-F238E27FC236}">
                <a16:creationId xmlns:a16="http://schemas.microsoft.com/office/drawing/2014/main" id="{808039CB-8A35-B1E6-353C-C961982DAEEE}"/>
              </a:ext>
            </a:extLst>
          </p:cNvPr>
          <p:cNvSpPr/>
          <p:nvPr/>
        </p:nvSpPr>
        <p:spPr>
          <a:xfrm>
            <a:off x="4232400" y="3695450"/>
            <a:ext cx="502920" cy="475488"/>
          </a:xfrm>
          <a:prstGeom prst="rect">
            <a:avLst/>
          </a:prstGeom>
          <a:noFill/>
          <a:ln/>
        </p:spPr>
        <p:txBody>
          <a:bodyPr wrap="square" rtlCol="0" anchor="ctr"/>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indent="0" algn="ctr">
              <a:buNone/>
            </a:pPr>
            <a:r>
              <a:rPr lang="en-US" sz="1300" b="1" dirty="0">
                <a:solidFill>
                  <a:srgbClr val="CADCFC"/>
                </a:solidFill>
                <a:latin typeface="メイリオ" panose="020B0604030504040204" pitchFamily="50" charset="-128"/>
                <a:ea typeface="メイリオ" panose="020B0604030504040204" pitchFamily="50" charset="-128"/>
                <a:cs typeface="Calibri" pitchFamily="34" charset="-120"/>
              </a:rPr>
              <a:t>04</a:t>
            </a:r>
            <a:endParaRPr lang="en-US" sz="1300" dirty="0">
              <a:latin typeface="メイリオ" panose="020B0604030504040204" pitchFamily="50" charset="-128"/>
              <a:ea typeface="メイリオ" panose="020B0604030504040204" pitchFamily="50" charset="-128"/>
            </a:endParaRPr>
          </a:p>
        </p:txBody>
      </p:sp>
      <p:sp>
        <p:nvSpPr>
          <p:cNvPr id="46" name="Text 20">
            <a:extLst>
              <a:ext uri="{FF2B5EF4-FFF2-40B4-BE49-F238E27FC236}">
                <a16:creationId xmlns:a16="http://schemas.microsoft.com/office/drawing/2014/main" id="{5510FCD4-7246-36B3-3CB6-AE9EB64B95B8}"/>
              </a:ext>
            </a:extLst>
          </p:cNvPr>
          <p:cNvSpPr/>
          <p:nvPr/>
        </p:nvSpPr>
        <p:spPr>
          <a:xfrm>
            <a:off x="4872480" y="3658874"/>
            <a:ext cx="3947160" cy="320040"/>
          </a:xfrm>
          <a:prstGeom prst="rect">
            <a:avLst/>
          </a:prstGeom>
          <a:noFill/>
          <a:ln/>
        </p:spPr>
        <p:txBody>
          <a:bodyPr wrap="square" lIns="0" tIns="0" rIns="0" bIns="0" rtlCol="0" anchor="ctr"/>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ja-JP" altLang="en-US" sz="1300" b="1" dirty="0">
                <a:solidFill>
                  <a:srgbClr val="1E2761"/>
                </a:solidFill>
                <a:latin typeface="メイリオ" panose="020B0604030504040204" pitchFamily="50" charset="-128"/>
                <a:ea typeface="メイリオ" panose="020B0604030504040204" pitchFamily="50" charset="-128"/>
                <a:cs typeface="Calibri" pitchFamily="34" charset="-120"/>
              </a:rPr>
              <a:t>セグメント設定</a:t>
            </a:r>
            <a:endParaRPr lang="en-US" sz="1300" dirty="0">
              <a:latin typeface="メイリオ" panose="020B0604030504040204" pitchFamily="50" charset="-128"/>
              <a:ea typeface="メイリオ" panose="020B0604030504040204" pitchFamily="50" charset="-128"/>
            </a:endParaRPr>
          </a:p>
        </p:txBody>
      </p:sp>
      <p:sp>
        <p:nvSpPr>
          <p:cNvPr id="47" name="Text 21">
            <a:extLst>
              <a:ext uri="{FF2B5EF4-FFF2-40B4-BE49-F238E27FC236}">
                <a16:creationId xmlns:a16="http://schemas.microsoft.com/office/drawing/2014/main" id="{30188B70-2DE7-6DC7-0865-6F6103AD5132}"/>
              </a:ext>
            </a:extLst>
          </p:cNvPr>
          <p:cNvSpPr/>
          <p:nvPr/>
        </p:nvSpPr>
        <p:spPr>
          <a:xfrm>
            <a:off x="4872480" y="3951482"/>
            <a:ext cx="4554415" cy="256032"/>
          </a:xfrm>
          <a:prstGeom prst="rect">
            <a:avLst/>
          </a:prstGeom>
          <a:noFill/>
          <a:ln/>
        </p:spPr>
        <p:txBody>
          <a:bodyPr wrap="square" lIns="0" tIns="0" rIns="0" bIns="0" rtlCol="0" anchor="ctr"/>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indent="0">
              <a:buNone/>
            </a:pPr>
            <a:endParaRPr lang="en-US" sz="1000" dirty="0">
              <a:latin typeface="メイリオ" panose="020B0604030504040204" pitchFamily="50" charset="-128"/>
              <a:ea typeface="メイリオ" panose="020B0604030504040204" pitchFamily="50" charset="-128"/>
            </a:endParaRPr>
          </a:p>
        </p:txBody>
      </p:sp>
      <p:sp>
        <p:nvSpPr>
          <p:cNvPr id="49" name="Text 16">
            <a:extLst>
              <a:ext uri="{FF2B5EF4-FFF2-40B4-BE49-F238E27FC236}">
                <a16:creationId xmlns:a16="http://schemas.microsoft.com/office/drawing/2014/main" id="{5224712D-B17D-A02C-3D89-CC6242B38B83}"/>
              </a:ext>
            </a:extLst>
          </p:cNvPr>
          <p:cNvSpPr/>
          <p:nvPr/>
        </p:nvSpPr>
        <p:spPr>
          <a:xfrm>
            <a:off x="4872480" y="3965198"/>
            <a:ext cx="4554415" cy="256032"/>
          </a:xfrm>
          <a:prstGeom prst="rect">
            <a:avLst/>
          </a:prstGeom>
          <a:noFill/>
          <a:ln/>
        </p:spPr>
        <p:txBody>
          <a:bodyPr wrap="square" lIns="0" tIns="0" rIns="0" bIns="0" rtlCol="0" anchor="ctr"/>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US" altLang="ja-JP" sz="1000" dirty="0">
                <a:latin typeface="メイリオ" panose="020B0604030504040204" pitchFamily="50" charset="-128"/>
                <a:ea typeface="メイリオ" panose="020B0604030504040204" pitchFamily="50" charset="-128"/>
              </a:rPr>
              <a:t>WEB</a:t>
            </a:r>
            <a:r>
              <a:rPr lang="ja-JP" altLang="en-US" sz="1000" dirty="0">
                <a:latin typeface="メイリオ" panose="020B0604030504040204" pitchFamily="50" charset="-128"/>
                <a:ea typeface="メイリオ" panose="020B0604030504040204" pitchFamily="50" charset="-128"/>
              </a:rPr>
              <a:t>サイトアクション、</a:t>
            </a:r>
            <a:r>
              <a:rPr lang="en-US" altLang="ja-JP" sz="1000" dirty="0">
                <a:latin typeface="メイリオ" panose="020B0604030504040204" pitchFamily="50" charset="-128"/>
                <a:ea typeface="メイリオ" panose="020B0604030504040204" pitchFamily="50" charset="-128"/>
              </a:rPr>
              <a:t>LINE</a:t>
            </a:r>
            <a:r>
              <a:rPr lang="ja-JP" altLang="en-US" sz="1000" dirty="0">
                <a:latin typeface="メイリオ" panose="020B0604030504040204" pitchFamily="50" charset="-128"/>
                <a:ea typeface="メイリオ" panose="020B0604030504040204" pitchFamily="50" charset="-128"/>
              </a:rPr>
              <a:t>上アクションのスコアリング 等を活用</a:t>
            </a:r>
            <a:endParaRPr lang="en-US" altLang="ja-JP" sz="1000" dirty="0">
              <a:latin typeface="メイリオ" panose="020B0604030504040204" pitchFamily="50" charset="-128"/>
              <a:ea typeface="メイリオ" panose="020B0604030504040204" pitchFamily="50" charset="-128"/>
            </a:endParaRPr>
          </a:p>
        </p:txBody>
      </p:sp>
      <p:sp>
        <p:nvSpPr>
          <p:cNvPr id="52" name="Shape 12">
            <a:extLst>
              <a:ext uri="{FF2B5EF4-FFF2-40B4-BE49-F238E27FC236}">
                <a16:creationId xmlns:a16="http://schemas.microsoft.com/office/drawing/2014/main" id="{FEE65136-327D-500B-12B2-F775BA661CA0}"/>
              </a:ext>
            </a:extLst>
          </p:cNvPr>
          <p:cNvSpPr/>
          <p:nvPr/>
        </p:nvSpPr>
        <p:spPr>
          <a:xfrm>
            <a:off x="3996942" y="4335530"/>
            <a:ext cx="5180076" cy="658368"/>
          </a:xfrm>
          <a:prstGeom prst="roundRect">
            <a:avLst>
              <a:gd name="adj" fmla="val 11111"/>
            </a:avLst>
          </a:prstGeom>
          <a:solidFill>
            <a:srgbClr val="F4F7FF"/>
          </a:solidFill>
          <a:ln w="12700">
            <a:solidFill>
              <a:srgbClr val="E8EDF8"/>
            </a:solidFill>
            <a:prstDash val="solid"/>
          </a:ln>
          <a:effectLst>
            <a:outerShdw blurRad="101600" dist="25400" dir="2700000" algn="bl" rotWithShape="0">
              <a:srgbClr val="000000">
                <a:alpha val="10000"/>
              </a:srgbClr>
            </a:outerShdw>
          </a:effectLst>
        </p:spPr>
        <p:txBody>
          <a:bodyPr/>
          <a:lstStyle/>
          <a:p>
            <a:endParaRPr lang="ja-JP" altLang="en-US">
              <a:latin typeface="メイリオ" panose="020B0604030504040204" pitchFamily="50" charset="-128"/>
              <a:ea typeface="メイリオ" panose="020B0604030504040204" pitchFamily="50" charset="-128"/>
            </a:endParaRPr>
          </a:p>
        </p:txBody>
      </p:sp>
      <p:sp>
        <p:nvSpPr>
          <p:cNvPr id="53" name="Shape 13">
            <a:extLst>
              <a:ext uri="{FF2B5EF4-FFF2-40B4-BE49-F238E27FC236}">
                <a16:creationId xmlns:a16="http://schemas.microsoft.com/office/drawing/2014/main" id="{4E57D180-2654-0AC3-340A-A6D2C576BF28}"/>
              </a:ext>
            </a:extLst>
          </p:cNvPr>
          <p:cNvSpPr/>
          <p:nvPr/>
        </p:nvSpPr>
        <p:spPr>
          <a:xfrm>
            <a:off x="4232400" y="4426970"/>
            <a:ext cx="502920" cy="475488"/>
          </a:xfrm>
          <a:prstGeom prst="roundRect">
            <a:avLst>
              <a:gd name="adj" fmla="val 11538"/>
            </a:avLst>
          </a:prstGeom>
          <a:solidFill>
            <a:srgbClr val="1E2761"/>
          </a:solidFill>
          <a:ln w="12700">
            <a:solidFill>
              <a:srgbClr val="1E2761"/>
            </a:solidFill>
            <a:prstDash val="solid"/>
          </a:ln>
        </p:spPr>
        <p:txBody>
          <a:bodyPr/>
          <a:lstStyle/>
          <a:p>
            <a:endParaRPr lang="ja-JP" altLang="en-US">
              <a:latin typeface="メイリオ" panose="020B0604030504040204" pitchFamily="50" charset="-128"/>
              <a:ea typeface="メイリオ" panose="020B0604030504040204" pitchFamily="50" charset="-128"/>
            </a:endParaRPr>
          </a:p>
        </p:txBody>
      </p:sp>
      <p:sp>
        <p:nvSpPr>
          <p:cNvPr id="55" name="Text 14">
            <a:extLst>
              <a:ext uri="{FF2B5EF4-FFF2-40B4-BE49-F238E27FC236}">
                <a16:creationId xmlns:a16="http://schemas.microsoft.com/office/drawing/2014/main" id="{246080CC-996D-7BA0-3140-EC427EE9AC6A}"/>
              </a:ext>
            </a:extLst>
          </p:cNvPr>
          <p:cNvSpPr/>
          <p:nvPr/>
        </p:nvSpPr>
        <p:spPr>
          <a:xfrm>
            <a:off x="4232400" y="4426970"/>
            <a:ext cx="502920" cy="475488"/>
          </a:xfrm>
          <a:prstGeom prst="rect">
            <a:avLst/>
          </a:prstGeom>
          <a:noFill/>
          <a:ln/>
        </p:spPr>
        <p:txBody>
          <a:bodyPr wrap="square" rtlCol="0" anchor="ctr"/>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indent="0" algn="ctr">
              <a:buNone/>
            </a:pPr>
            <a:r>
              <a:rPr lang="en-US" altLang="ja-JP" sz="1300" b="1" dirty="0">
                <a:solidFill>
                  <a:srgbClr val="CADCFC"/>
                </a:solidFill>
                <a:latin typeface="メイリオ" panose="020B0604030504040204" pitchFamily="50" charset="-128"/>
                <a:ea typeface="メイリオ" panose="020B0604030504040204" pitchFamily="50" charset="-128"/>
                <a:cs typeface="Calibri" pitchFamily="34" charset="-120"/>
              </a:rPr>
              <a:t>05</a:t>
            </a:r>
            <a:endParaRPr lang="en-US" sz="1300" dirty="0">
              <a:latin typeface="メイリオ" panose="020B0604030504040204" pitchFamily="50" charset="-128"/>
              <a:ea typeface="メイリオ" panose="020B0604030504040204" pitchFamily="50" charset="-128"/>
            </a:endParaRPr>
          </a:p>
        </p:txBody>
      </p:sp>
      <p:sp>
        <p:nvSpPr>
          <p:cNvPr id="56" name="Text 15">
            <a:extLst>
              <a:ext uri="{FF2B5EF4-FFF2-40B4-BE49-F238E27FC236}">
                <a16:creationId xmlns:a16="http://schemas.microsoft.com/office/drawing/2014/main" id="{613A87C0-F021-8C8E-C0C8-7A94F347FD40}"/>
              </a:ext>
            </a:extLst>
          </p:cNvPr>
          <p:cNvSpPr/>
          <p:nvPr/>
        </p:nvSpPr>
        <p:spPr>
          <a:xfrm>
            <a:off x="4872480" y="4390394"/>
            <a:ext cx="3947160" cy="320040"/>
          </a:xfrm>
          <a:prstGeom prst="rect">
            <a:avLst/>
          </a:prstGeom>
          <a:noFill/>
          <a:ln/>
        </p:spPr>
        <p:txBody>
          <a:bodyPr wrap="square" lIns="0" tIns="0" rIns="0" bIns="0" rtlCol="0" anchor="ctr"/>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US" altLang="ja-JP" sz="1300" b="1" dirty="0" err="1">
                <a:solidFill>
                  <a:srgbClr val="1E2761"/>
                </a:solidFill>
                <a:latin typeface="メイリオ" panose="020B0604030504040204" pitchFamily="50" charset="-128"/>
                <a:ea typeface="メイリオ" panose="020B0604030504040204" pitchFamily="50" charset="-128"/>
                <a:cs typeface="Calibri" pitchFamily="34" charset="-120"/>
              </a:rPr>
              <a:t>アンケート設計（直接関与</a:t>
            </a:r>
            <a:r>
              <a:rPr lang="en-US" altLang="ja-JP" sz="1300" b="1" dirty="0">
                <a:solidFill>
                  <a:srgbClr val="1E2761"/>
                </a:solidFill>
                <a:latin typeface="メイリオ" panose="020B0604030504040204" pitchFamily="50" charset="-128"/>
                <a:ea typeface="メイリオ" panose="020B0604030504040204" pitchFamily="50" charset="-128"/>
                <a:cs typeface="Calibri" pitchFamily="34" charset="-120"/>
              </a:rPr>
              <a:t> / </a:t>
            </a:r>
            <a:r>
              <a:rPr lang="en-US" altLang="ja-JP" sz="1300" b="1" dirty="0" err="1">
                <a:solidFill>
                  <a:srgbClr val="1E2761"/>
                </a:solidFill>
                <a:latin typeface="メイリオ" panose="020B0604030504040204" pitchFamily="50" charset="-128"/>
                <a:ea typeface="メイリオ" panose="020B0604030504040204" pitchFamily="50" charset="-128"/>
                <a:cs typeface="Calibri" pitchFamily="34" charset="-120"/>
              </a:rPr>
              <a:t>診断型</a:t>
            </a:r>
            <a:r>
              <a:rPr lang="en-US" altLang="ja-JP" sz="1300" b="1" dirty="0">
                <a:solidFill>
                  <a:srgbClr val="1E2761"/>
                </a:solidFill>
                <a:latin typeface="メイリオ" panose="020B0604030504040204" pitchFamily="50" charset="-128"/>
                <a:ea typeface="メイリオ" panose="020B0604030504040204" pitchFamily="50" charset="-128"/>
                <a:cs typeface="Calibri" pitchFamily="34" charset="-120"/>
              </a:rPr>
              <a:t>）</a:t>
            </a:r>
            <a:endParaRPr lang="en-US" altLang="ja-JP" sz="1300" dirty="0">
              <a:latin typeface="メイリオ" panose="020B0604030504040204" pitchFamily="50" charset="-128"/>
              <a:ea typeface="メイリオ" panose="020B0604030504040204" pitchFamily="50" charset="-128"/>
            </a:endParaRPr>
          </a:p>
        </p:txBody>
      </p:sp>
      <p:sp>
        <p:nvSpPr>
          <p:cNvPr id="58" name="Text 16">
            <a:extLst>
              <a:ext uri="{FF2B5EF4-FFF2-40B4-BE49-F238E27FC236}">
                <a16:creationId xmlns:a16="http://schemas.microsoft.com/office/drawing/2014/main" id="{9DA36E29-5E4C-827F-3F47-7F5A66283E74}"/>
              </a:ext>
            </a:extLst>
          </p:cNvPr>
          <p:cNvSpPr/>
          <p:nvPr/>
        </p:nvSpPr>
        <p:spPr>
          <a:xfrm>
            <a:off x="4872480" y="4683002"/>
            <a:ext cx="4554415" cy="256032"/>
          </a:xfrm>
          <a:prstGeom prst="rect">
            <a:avLst/>
          </a:prstGeom>
          <a:noFill/>
          <a:ln/>
        </p:spPr>
        <p:txBody>
          <a:bodyPr wrap="square" lIns="0" tIns="0" rIns="0" bIns="0" rtlCol="0" anchor="ctr"/>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US" altLang="ja-JP" sz="1000" dirty="0" err="1">
                <a:solidFill>
                  <a:srgbClr val="64748B"/>
                </a:solidFill>
                <a:latin typeface="メイリオ" panose="020B0604030504040204" pitchFamily="50" charset="-128"/>
                <a:ea typeface="メイリオ" panose="020B0604030504040204" pitchFamily="50" charset="-128"/>
                <a:cs typeface="Calibri" pitchFamily="34" charset="-120"/>
              </a:rPr>
              <a:t>リード有効化＋長期追客セグメント戦略</a:t>
            </a:r>
            <a:endParaRPr lang="en-US" altLang="ja-JP" sz="1000" dirty="0">
              <a:latin typeface="メイリオ" panose="020B0604030504040204" pitchFamily="50" charset="-128"/>
              <a:ea typeface="メイリオ" panose="020B0604030504040204" pitchFamily="50" charset="-128"/>
            </a:endParaRPr>
          </a:p>
        </p:txBody>
      </p:sp>
      <p:sp>
        <p:nvSpPr>
          <p:cNvPr id="59" name="Shape 12">
            <a:extLst>
              <a:ext uri="{FF2B5EF4-FFF2-40B4-BE49-F238E27FC236}">
                <a16:creationId xmlns:a16="http://schemas.microsoft.com/office/drawing/2014/main" id="{161B3C95-AA02-BAC5-D24B-86C62582A0EE}"/>
              </a:ext>
            </a:extLst>
          </p:cNvPr>
          <p:cNvSpPr/>
          <p:nvPr/>
        </p:nvSpPr>
        <p:spPr>
          <a:xfrm>
            <a:off x="3996942" y="5085338"/>
            <a:ext cx="5180076" cy="658368"/>
          </a:xfrm>
          <a:prstGeom prst="roundRect">
            <a:avLst>
              <a:gd name="adj" fmla="val 11111"/>
            </a:avLst>
          </a:prstGeom>
          <a:solidFill>
            <a:schemeClr val="bg1"/>
          </a:solidFill>
          <a:ln w="12700">
            <a:solidFill>
              <a:srgbClr val="E8EDF8"/>
            </a:solidFill>
            <a:prstDash val="solid"/>
          </a:ln>
          <a:effectLst>
            <a:outerShdw blurRad="101600" dist="25400" dir="2700000" algn="bl" rotWithShape="0">
              <a:srgbClr val="000000">
                <a:alpha val="10000"/>
              </a:srgbClr>
            </a:outerShdw>
          </a:effectLst>
        </p:spPr>
        <p:txBody>
          <a:bodyPr/>
          <a:lstStyle/>
          <a:p>
            <a:endParaRPr lang="ja-JP" altLang="en-US">
              <a:latin typeface="メイリオ" panose="020B0604030504040204" pitchFamily="50" charset="-128"/>
              <a:ea typeface="メイリオ" panose="020B0604030504040204" pitchFamily="50" charset="-128"/>
            </a:endParaRPr>
          </a:p>
        </p:txBody>
      </p:sp>
      <p:sp>
        <p:nvSpPr>
          <p:cNvPr id="60" name="Shape 13">
            <a:extLst>
              <a:ext uri="{FF2B5EF4-FFF2-40B4-BE49-F238E27FC236}">
                <a16:creationId xmlns:a16="http://schemas.microsoft.com/office/drawing/2014/main" id="{69FCAD8A-755C-CC30-3ED3-D5F11C11A363}"/>
              </a:ext>
            </a:extLst>
          </p:cNvPr>
          <p:cNvSpPr/>
          <p:nvPr/>
        </p:nvSpPr>
        <p:spPr>
          <a:xfrm>
            <a:off x="4232400" y="5176778"/>
            <a:ext cx="502920" cy="475488"/>
          </a:xfrm>
          <a:prstGeom prst="roundRect">
            <a:avLst>
              <a:gd name="adj" fmla="val 11538"/>
            </a:avLst>
          </a:prstGeom>
          <a:solidFill>
            <a:srgbClr val="1E2761"/>
          </a:solidFill>
          <a:ln w="12700">
            <a:solidFill>
              <a:srgbClr val="1E2761"/>
            </a:solidFill>
            <a:prstDash val="solid"/>
          </a:ln>
        </p:spPr>
        <p:txBody>
          <a:bodyPr/>
          <a:lstStyle/>
          <a:p>
            <a:endParaRPr lang="ja-JP" altLang="en-US">
              <a:latin typeface="メイリオ" panose="020B0604030504040204" pitchFamily="50" charset="-128"/>
              <a:ea typeface="メイリオ" panose="020B0604030504040204" pitchFamily="50" charset="-128"/>
            </a:endParaRPr>
          </a:p>
        </p:txBody>
      </p:sp>
      <p:sp>
        <p:nvSpPr>
          <p:cNvPr id="64" name="Text 14">
            <a:extLst>
              <a:ext uri="{FF2B5EF4-FFF2-40B4-BE49-F238E27FC236}">
                <a16:creationId xmlns:a16="http://schemas.microsoft.com/office/drawing/2014/main" id="{6301A83B-57F7-303A-D503-58842AD3A2C9}"/>
              </a:ext>
            </a:extLst>
          </p:cNvPr>
          <p:cNvSpPr/>
          <p:nvPr/>
        </p:nvSpPr>
        <p:spPr>
          <a:xfrm>
            <a:off x="4232400" y="5176778"/>
            <a:ext cx="502920" cy="475488"/>
          </a:xfrm>
          <a:prstGeom prst="rect">
            <a:avLst/>
          </a:prstGeom>
          <a:noFill/>
          <a:ln/>
        </p:spPr>
        <p:txBody>
          <a:bodyPr wrap="square" rtlCol="0" anchor="ctr"/>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indent="0" algn="ctr">
              <a:buNone/>
            </a:pPr>
            <a:r>
              <a:rPr lang="en-US" altLang="ja-JP" sz="1300" b="1" dirty="0">
                <a:solidFill>
                  <a:srgbClr val="CADCFC"/>
                </a:solidFill>
                <a:latin typeface="メイリオ" panose="020B0604030504040204" pitchFamily="50" charset="-128"/>
                <a:ea typeface="メイリオ" panose="020B0604030504040204" pitchFamily="50" charset="-128"/>
                <a:cs typeface="Calibri" pitchFamily="34" charset="-120"/>
              </a:rPr>
              <a:t>06</a:t>
            </a:r>
            <a:endParaRPr lang="en-US" sz="1300" dirty="0">
              <a:latin typeface="メイリオ" panose="020B0604030504040204" pitchFamily="50" charset="-128"/>
              <a:ea typeface="メイリオ" panose="020B0604030504040204" pitchFamily="50" charset="-128"/>
            </a:endParaRPr>
          </a:p>
        </p:txBody>
      </p:sp>
      <p:sp>
        <p:nvSpPr>
          <p:cNvPr id="70" name="Text 15">
            <a:extLst>
              <a:ext uri="{FF2B5EF4-FFF2-40B4-BE49-F238E27FC236}">
                <a16:creationId xmlns:a16="http://schemas.microsoft.com/office/drawing/2014/main" id="{26FF7A4F-5A58-E1CE-107D-E1780C611FE8}"/>
              </a:ext>
            </a:extLst>
          </p:cNvPr>
          <p:cNvSpPr/>
          <p:nvPr/>
        </p:nvSpPr>
        <p:spPr>
          <a:xfrm>
            <a:off x="4872480" y="5140202"/>
            <a:ext cx="3947160" cy="320040"/>
          </a:xfrm>
          <a:prstGeom prst="rect">
            <a:avLst/>
          </a:prstGeom>
          <a:noFill/>
          <a:ln/>
        </p:spPr>
        <p:txBody>
          <a:bodyPr wrap="square" lIns="0" tIns="0" rIns="0" bIns="0" rtlCol="0" anchor="ctr"/>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US" altLang="ja-JP" sz="1300" b="1" dirty="0" err="1">
                <a:solidFill>
                  <a:srgbClr val="1E2761"/>
                </a:solidFill>
                <a:latin typeface="メイリオ" panose="020B0604030504040204" pitchFamily="50" charset="-128"/>
                <a:ea typeface="メイリオ" panose="020B0604030504040204" pitchFamily="50" charset="-128"/>
                <a:cs typeface="Calibri" pitchFamily="34" charset="-120"/>
              </a:rPr>
              <a:t>季節・時期ごとの企画配信</a:t>
            </a:r>
            <a:endParaRPr lang="en-US" altLang="ja-JP" sz="1300" dirty="0">
              <a:latin typeface="メイリオ" panose="020B0604030504040204" pitchFamily="50" charset="-128"/>
              <a:ea typeface="メイリオ" panose="020B0604030504040204" pitchFamily="50" charset="-128"/>
            </a:endParaRPr>
          </a:p>
        </p:txBody>
      </p:sp>
      <p:sp>
        <p:nvSpPr>
          <p:cNvPr id="71" name="Text 16">
            <a:extLst>
              <a:ext uri="{FF2B5EF4-FFF2-40B4-BE49-F238E27FC236}">
                <a16:creationId xmlns:a16="http://schemas.microsoft.com/office/drawing/2014/main" id="{71DABE45-88FB-C5ED-EF05-90FD4F3C4A0B}"/>
              </a:ext>
            </a:extLst>
          </p:cNvPr>
          <p:cNvSpPr/>
          <p:nvPr/>
        </p:nvSpPr>
        <p:spPr>
          <a:xfrm>
            <a:off x="4872480" y="5432810"/>
            <a:ext cx="4554415" cy="256032"/>
          </a:xfrm>
          <a:prstGeom prst="rect">
            <a:avLst/>
          </a:prstGeom>
          <a:noFill/>
          <a:ln/>
        </p:spPr>
        <p:txBody>
          <a:bodyPr wrap="square" lIns="0" tIns="0" rIns="0" bIns="0" rtlCol="0" anchor="ctr"/>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US" altLang="ja-JP" sz="1000" dirty="0" err="1">
                <a:solidFill>
                  <a:srgbClr val="64748B"/>
                </a:solidFill>
                <a:latin typeface="メイリオ" panose="020B0604030504040204" pitchFamily="50" charset="-128"/>
                <a:ea typeface="メイリオ" panose="020B0604030504040204" pitchFamily="50" charset="-128"/>
                <a:cs typeface="Calibri" pitchFamily="34" charset="-120"/>
              </a:rPr>
              <a:t>繁忙期に連動</a:t>
            </a:r>
            <a:r>
              <a:rPr lang="ja-JP" altLang="en-US" sz="1000" dirty="0">
                <a:solidFill>
                  <a:srgbClr val="64748B"/>
                </a:solidFill>
                <a:latin typeface="メイリオ" panose="020B0604030504040204" pitchFamily="50" charset="-128"/>
                <a:ea typeface="メイリオ" panose="020B0604030504040204" pitchFamily="50" charset="-128"/>
                <a:cs typeface="Calibri" pitchFamily="34" charset="-120"/>
              </a:rPr>
              <a:t>・各ユーザー層をターゲットと</a:t>
            </a:r>
            <a:r>
              <a:rPr lang="en-US" altLang="ja-JP" sz="1000" dirty="0" err="1">
                <a:solidFill>
                  <a:srgbClr val="64748B"/>
                </a:solidFill>
                <a:latin typeface="メイリオ" panose="020B0604030504040204" pitchFamily="50" charset="-128"/>
                <a:ea typeface="メイリオ" panose="020B0604030504040204" pitchFamily="50" charset="-128"/>
                <a:cs typeface="Calibri" pitchFamily="34" charset="-120"/>
              </a:rPr>
              <a:t>したキャンペーン案</a:t>
            </a:r>
            <a:endParaRPr lang="en-US" altLang="ja-JP" sz="1000" dirty="0">
              <a:latin typeface="メイリオ" panose="020B0604030504040204" pitchFamily="50" charset="-128"/>
              <a:ea typeface="メイリオ" panose="020B0604030504040204" pitchFamily="50" charset="-128"/>
            </a:endParaRPr>
          </a:p>
        </p:txBody>
      </p:sp>
      <p:sp>
        <p:nvSpPr>
          <p:cNvPr id="74" name="Shape 12">
            <a:extLst>
              <a:ext uri="{FF2B5EF4-FFF2-40B4-BE49-F238E27FC236}">
                <a16:creationId xmlns:a16="http://schemas.microsoft.com/office/drawing/2014/main" id="{B291868D-9C9C-066C-CFF8-87B199CEA5CF}"/>
              </a:ext>
            </a:extLst>
          </p:cNvPr>
          <p:cNvSpPr/>
          <p:nvPr/>
        </p:nvSpPr>
        <p:spPr>
          <a:xfrm>
            <a:off x="3996942" y="5838536"/>
            <a:ext cx="5180076" cy="658368"/>
          </a:xfrm>
          <a:prstGeom prst="roundRect">
            <a:avLst>
              <a:gd name="adj" fmla="val 11111"/>
            </a:avLst>
          </a:prstGeom>
          <a:solidFill>
            <a:srgbClr val="F4F7FF"/>
          </a:solidFill>
          <a:ln w="12700">
            <a:solidFill>
              <a:srgbClr val="E8EDF8"/>
            </a:solidFill>
            <a:prstDash val="solid"/>
          </a:ln>
          <a:effectLst>
            <a:outerShdw blurRad="101600" dist="25400" dir="2700000" algn="bl" rotWithShape="0">
              <a:srgbClr val="000000">
                <a:alpha val="10000"/>
              </a:srgbClr>
            </a:outerShdw>
          </a:effectLst>
        </p:spPr>
        <p:txBody>
          <a:bodyPr/>
          <a:lstStyle/>
          <a:p>
            <a:endParaRPr lang="ja-JP" altLang="en-US">
              <a:latin typeface="メイリオ" panose="020B0604030504040204" pitchFamily="50" charset="-128"/>
              <a:ea typeface="メイリオ" panose="020B0604030504040204" pitchFamily="50" charset="-128"/>
            </a:endParaRPr>
          </a:p>
        </p:txBody>
      </p:sp>
      <p:sp>
        <p:nvSpPr>
          <p:cNvPr id="75" name="Shape 13">
            <a:extLst>
              <a:ext uri="{FF2B5EF4-FFF2-40B4-BE49-F238E27FC236}">
                <a16:creationId xmlns:a16="http://schemas.microsoft.com/office/drawing/2014/main" id="{50DF7319-3B00-9111-2E31-8AC337BA4D33}"/>
              </a:ext>
            </a:extLst>
          </p:cNvPr>
          <p:cNvSpPr/>
          <p:nvPr/>
        </p:nvSpPr>
        <p:spPr>
          <a:xfrm>
            <a:off x="4232400" y="5929976"/>
            <a:ext cx="502920" cy="475488"/>
          </a:xfrm>
          <a:prstGeom prst="roundRect">
            <a:avLst>
              <a:gd name="adj" fmla="val 11538"/>
            </a:avLst>
          </a:prstGeom>
          <a:solidFill>
            <a:srgbClr val="1E2761"/>
          </a:solidFill>
          <a:ln w="12700">
            <a:solidFill>
              <a:srgbClr val="1E2761"/>
            </a:solidFill>
            <a:prstDash val="solid"/>
          </a:ln>
        </p:spPr>
        <p:txBody>
          <a:bodyPr/>
          <a:lstStyle/>
          <a:p>
            <a:endParaRPr lang="ja-JP" altLang="en-US">
              <a:latin typeface="メイリオ" panose="020B0604030504040204" pitchFamily="50" charset="-128"/>
              <a:ea typeface="メイリオ" panose="020B0604030504040204" pitchFamily="50" charset="-128"/>
            </a:endParaRPr>
          </a:p>
        </p:txBody>
      </p:sp>
      <p:sp>
        <p:nvSpPr>
          <p:cNvPr id="76" name="Text 14">
            <a:extLst>
              <a:ext uri="{FF2B5EF4-FFF2-40B4-BE49-F238E27FC236}">
                <a16:creationId xmlns:a16="http://schemas.microsoft.com/office/drawing/2014/main" id="{0C235F7A-0F23-E972-590D-0F6705D7497F}"/>
              </a:ext>
            </a:extLst>
          </p:cNvPr>
          <p:cNvSpPr/>
          <p:nvPr/>
        </p:nvSpPr>
        <p:spPr>
          <a:xfrm>
            <a:off x="4232400" y="5929976"/>
            <a:ext cx="502920" cy="475488"/>
          </a:xfrm>
          <a:prstGeom prst="rect">
            <a:avLst/>
          </a:prstGeom>
          <a:noFill/>
          <a:ln/>
        </p:spPr>
        <p:txBody>
          <a:bodyPr wrap="square" rtlCol="0" anchor="ctr"/>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indent="0" algn="ctr">
              <a:buNone/>
            </a:pPr>
            <a:r>
              <a:rPr lang="en-US" altLang="ja-JP" sz="1300" b="1" dirty="0">
                <a:solidFill>
                  <a:srgbClr val="CADCFC"/>
                </a:solidFill>
                <a:latin typeface="メイリオ" panose="020B0604030504040204" pitchFamily="50" charset="-128"/>
                <a:ea typeface="メイリオ" panose="020B0604030504040204" pitchFamily="50" charset="-128"/>
                <a:cs typeface="Calibri" pitchFamily="34" charset="-120"/>
              </a:rPr>
              <a:t>07</a:t>
            </a:r>
            <a:endParaRPr lang="en-US" sz="1300" dirty="0">
              <a:latin typeface="メイリオ" panose="020B0604030504040204" pitchFamily="50" charset="-128"/>
              <a:ea typeface="メイリオ" panose="020B0604030504040204" pitchFamily="50" charset="-128"/>
            </a:endParaRPr>
          </a:p>
        </p:txBody>
      </p:sp>
      <p:sp>
        <p:nvSpPr>
          <p:cNvPr id="77" name="Text 15">
            <a:extLst>
              <a:ext uri="{FF2B5EF4-FFF2-40B4-BE49-F238E27FC236}">
                <a16:creationId xmlns:a16="http://schemas.microsoft.com/office/drawing/2014/main" id="{A8806AA1-15C3-799B-4DF6-265E528EF9FE}"/>
              </a:ext>
            </a:extLst>
          </p:cNvPr>
          <p:cNvSpPr/>
          <p:nvPr/>
        </p:nvSpPr>
        <p:spPr>
          <a:xfrm>
            <a:off x="4872480" y="5893400"/>
            <a:ext cx="3947160" cy="320040"/>
          </a:xfrm>
          <a:prstGeom prst="rect">
            <a:avLst/>
          </a:prstGeom>
          <a:noFill/>
          <a:ln/>
        </p:spPr>
        <p:txBody>
          <a:bodyPr wrap="square" lIns="0" tIns="0" rIns="0" bIns="0" rtlCol="0" anchor="ctr"/>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ja-JP" altLang="en-US" sz="1300" b="1" dirty="0">
                <a:solidFill>
                  <a:srgbClr val="1E2761"/>
                </a:solidFill>
                <a:latin typeface="メイリオ" panose="020B0604030504040204" pitchFamily="50" charset="-128"/>
                <a:ea typeface="メイリオ" panose="020B0604030504040204" pitchFamily="50" charset="-128"/>
                <a:cs typeface="Calibri" pitchFamily="34" charset="-120"/>
              </a:rPr>
              <a:t>各種設定の更新・改善</a:t>
            </a:r>
            <a:endParaRPr lang="en-US" altLang="ja-JP" sz="1300" dirty="0">
              <a:latin typeface="メイリオ" panose="020B0604030504040204" pitchFamily="50" charset="-128"/>
              <a:ea typeface="メイリオ" panose="020B0604030504040204" pitchFamily="50" charset="-128"/>
            </a:endParaRPr>
          </a:p>
        </p:txBody>
      </p:sp>
      <p:sp>
        <p:nvSpPr>
          <p:cNvPr id="78" name="Text 16">
            <a:extLst>
              <a:ext uri="{FF2B5EF4-FFF2-40B4-BE49-F238E27FC236}">
                <a16:creationId xmlns:a16="http://schemas.microsoft.com/office/drawing/2014/main" id="{60F4341A-D01A-FB28-EE9D-FBD6E531C1A2}"/>
              </a:ext>
            </a:extLst>
          </p:cNvPr>
          <p:cNvSpPr/>
          <p:nvPr/>
        </p:nvSpPr>
        <p:spPr>
          <a:xfrm>
            <a:off x="4872480" y="6186008"/>
            <a:ext cx="4554415" cy="256032"/>
          </a:xfrm>
          <a:prstGeom prst="rect">
            <a:avLst/>
          </a:prstGeom>
          <a:noFill/>
          <a:ln/>
        </p:spPr>
        <p:txBody>
          <a:bodyPr wrap="square" lIns="0" tIns="0" rIns="0" bIns="0" rtlCol="0" anchor="ctr"/>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ja-JP" altLang="en-US" sz="1000" dirty="0">
                <a:latin typeface="メイリオ" panose="020B0604030504040204" pitchFamily="50" charset="-128"/>
                <a:ea typeface="メイリオ" panose="020B0604030504040204" pitchFamily="50" charset="-128"/>
              </a:rPr>
              <a:t>あいさつメッセージ、リッチメニュー、</a:t>
            </a:r>
            <a:r>
              <a:rPr lang="en-US" altLang="ja-JP" sz="1000" dirty="0">
                <a:latin typeface="メイリオ" panose="020B0604030504040204" pitchFamily="50" charset="-128"/>
                <a:ea typeface="メイリオ" panose="020B0604030504040204" pitchFamily="50" charset="-128"/>
              </a:rPr>
              <a:t>LP</a:t>
            </a:r>
            <a:r>
              <a:rPr lang="ja-JP" altLang="en-US" sz="1000" dirty="0">
                <a:latin typeface="メイリオ" panose="020B0604030504040204" pitchFamily="50" charset="-128"/>
                <a:ea typeface="メイリオ" panose="020B0604030504040204" pitchFamily="50" charset="-128"/>
              </a:rPr>
              <a:t>の改修（</a:t>
            </a:r>
            <a:r>
              <a:rPr lang="en-US" altLang="ja-JP" sz="1000" dirty="0">
                <a:latin typeface="メイリオ" panose="020B0604030504040204" pitchFamily="50" charset="-128"/>
                <a:ea typeface="メイリオ" panose="020B0604030504040204" pitchFamily="50" charset="-128"/>
              </a:rPr>
              <a:t>※LP</a:t>
            </a:r>
            <a:r>
              <a:rPr lang="ja-JP" altLang="en-US" sz="1000" dirty="0">
                <a:latin typeface="メイリオ" panose="020B0604030504040204" pitchFamily="50" charset="-128"/>
                <a:ea typeface="メイリオ" panose="020B0604030504040204" pitchFamily="50" charset="-128"/>
              </a:rPr>
              <a:t>は別途費用）</a:t>
            </a:r>
            <a:endParaRPr lang="en-US" altLang="ja-JP" sz="1000" dirty="0">
              <a:latin typeface="メイリオ" panose="020B0604030504040204" pitchFamily="50" charset="-128"/>
              <a:ea typeface="メイリオ" panose="020B0604030504040204" pitchFamily="50" charset="-128"/>
            </a:endParaRPr>
          </a:p>
        </p:txBody>
      </p:sp>
      <p:sp>
        <p:nvSpPr>
          <p:cNvPr id="79" name="テキスト ボックス 78">
            <a:extLst>
              <a:ext uri="{FF2B5EF4-FFF2-40B4-BE49-F238E27FC236}">
                <a16:creationId xmlns:a16="http://schemas.microsoft.com/office/drawing/2014/main" id="{4C2DE5F8-8AC0-6067-4D4C-B9D9A832AFB8}"/>
              </a:ext>
            </a:extLst>
          </p:cNvPr>
          <p:cNvSpPr txBox="1"/>
          <p:nvPr/>
        </p:nvSpPr>
        <p:spPr>
          <a:xfrm>
            <a:off x="320847" y="1664842"/>
            <a:ext cx="2800460" cy="791695"/>
          </a:xfrm>
          <a:prstGeom prst="rect">
            <a:avLst/>
          </a:prstGeom>
          <a:solidFill>
            <a:schemeClr val="tx1">
              <a:lumMod val="65000"/>
              <a:lumOff val="35000"/>
            </a:schemeClr>
          </a:solidFill>
        </p:spPr>
        <p:txBody>
          <a:bodyPr wrap="square" anchor="ctr">
            <a:spAutoFit/>
          </a:bodyPr>
          <a:lstStyle/>
          <a:p>
            <a:pPr algn="ctr"/>
            <a:r>
              <a:rPr kumimoji="1" lang="en-US" altLang="ja-JP" b="1" dirty="0">
                <a:solidFill>
                  <a:schemeClr val="bg1"/>
                </a:solidFill>
                <a:latin typeface="メイリオ" panose="020B0604030504040204" pitchFamily="50" charset="-128"/>
                <a:ea typeface="メイリオ" panose="020B0604030504040204" pitchFamily="50" charset="-128"/>
              </a:rPr>
              <a:t>&lt;</a:t>
            </a:r>
            <a:r>
              <a:rPr kumimoji="1" lang="ja-JP" altLang="en-US" b="1" dirty="0">
                <a:solidFill>
                  <a:schemeClr val="bg1"/>
                </a:solidFill>
                <a:latin typeface="メイリオ" panose="020B0604030504040204" pitchFamily="50" charset="-128"/>
                <a:ea typeface="メイリオ" panose="020B0604030504040204" pitchFamily="50" charset="-128"/>
              </a:rPr>
              <a:t>初期費用</a:t>
            </a:r>
            <a:r>
              <a:rPr kumimoji="1" lang="en-US" altLang="ja-JP" b="1" dirty="0">
                <a:solidFill>
                  <a:schemeClr val="bg1"/>
                </a:solidFill>
                <a:latin typeface="メイリオ" panose="020B0604030504040204" pitchFamily="50" charset="-128"/>
                <a:ea typeface="メイリオ" panose="020B0604030504040204" pitchFamily="50" charset="-128"/>
              </a:rPr>
              <a:t>&gt;</a:t>
            </a:r>
            <a:endParaRPr kumimoji="1" lang="ja-JP" altLang="en-US" b="1" dirty="0">
              <a:solidFill>
                <a:schemeClr val="bg1"/>
              </a:solidFill>
              <a:latin typeface="メイリオ" panose="020B0604030504040204" pitchFamily="50" charset="-128"/>
              <a:ea typeface="メイリオ" panose="020B0604030504040204" pitchFamily="50" charset="-128"/>
            </a:endParaRPr>
          </a:p>
        </p:txBody>
      </p:sp>
      <p:sp>
        <p:nvSpPr>
          <p:cNvPr id="80" name="テキスト ボックス 79">
            <a:extLst>
              <a:ext uri="{FF2B5EF4-FFF2-40B4-BE49-F238E27FC236}">
                <a16:creationId xmlns:a16="http://schemas.microsoft.com/office/drawing/2014/main" id="{E134C725-7D1E-AE55-EE5C-49EE0EE87D93}"/>
              </a:ext>
            </a:extLst>
          </p:cNvPr>
          <p:cNvSpPr txBox="1"/>
          <p:nvPr/>
        </p:nvSpPr>
        <p:spPr>
          <a:xfrm>
            <a:off x="320847" y="2645729"/>
            <a:ext cx="2800460" cy="791695"/>
          </a:xfrm>
          <a:prstGeom prst="rect">
            <a:avLst/>
          </a:prstGeom>
          <a:solidFill>
            <a:schemeClr val="tx1">
              <a:lumMod val="65000"/>
              <a:lumOff val="35000"/>
            </a:schemeClr>
          </a:solidFill>
        </p:spPr>
        <p:txBody>
          <a:bodyPr wrap="square" anchor="ctr">
            <a:spAutoFit/>
          </a:bodyPr>
          <a:lstStyle/>
          <a:p>
            <a:pPr algn="ctr"/>
            <a:r>
              <a:rPr kumimoji="1" lang="en-US" altLang="ja-JP" b="1" dirty="0">
                <a:solidFill>
                  <a:schemeClr val="bg1"/>
                </a:solidFill>
                <a:latin typeface="メイリオ" panose="020B0604030504040204" pitchFamily="50" charset="-128"/>
                <a:ea typeface="メイリオ" panose="020B0604030504040204" pitchFamily="50" charset="-128"/>
              </a:rPr>
              <a:t>&lt;</a:t>
            </a:r>
            <a:r>
              <a:rPr kumimoji="1" lang="ja-JP" altLang="en-US" b="1" dirty="0">
                <a:solidFill>
                  <a:schemeClr val="bg1"/>
                </a:solidFill>
                <a:latin typeface="メイリオ" panose="020B0604030504040204" pitchFamily="50" charset="-128"/>
                <a:ea typeface="メイリオ" panose="020B0604030504040204" pitchFamily="50" charset="-128"/>
              </a:rPr>
              <a:t>月額費用</a:t>
            </a:r>
            <a:r>
              <a:rPr kumimoji="1" lang="en-US" altLang="ja-JP" b="1" dirty="0">
                <a:solidFill>
                  <a:schemeClr val="bg1"/>
                </a:solidFill>
                <a:latin typeface="メイリオ" panose="020B0604030504040204" pitchFamily="50" charset="-128"/>
                <a:ea typeface="メイリオ" panose="020B0604030504040204" pitchFamily="50" charset="-128"/>
              </a:rPr>
              <a:t>&gt;</a:t>
            </a:r>
            <a:endParaRPr kumimoji="1" lang="ja-JP" altLang="en-US" b="1" dirty="0">
              <a:solidFill>
                <a:schemeClr val="bg1"/>
              </a:solidFill>
              <a:latin typeface="メイリオ" panose="020B0604030504040204" pitchFamily="50" charset="-128"/>
              <a:ea typeface="メイリオ" panose="020B0604030504040204" pitchFamily="50" charset="-128"/>
            </a:endParaRPr>
          </a:p>
        </p:txBody>
      </p:sp>
      <p:cxnSp>
        <p:nvCxnSpPr>
          <p:cNvPr id="82" name="直線コネクタ 81">
            <a:extLst>
              <a:ext uri="{FF2B5EF4-FFF2-40B4-BE49-F238E27FC236}">
                <a16:creationId xmlns:a16="http://schemas.microsoft.com/office/drawing/2014/main" id="{831B96C5-FD9C-7953-5A0F-36510DDC3A7B}"/>
              </a:ext>
            </a:extLst>
          </p:cNvPr>
          <p:cNvCxnSpPr>
            <a:cxnSpLocks/>
            <a:stCxn id="79" idx="3"/>
            <a:endCxn id="3" idx="1"/>
          </p:cNvCxnSpPr>
          <p:nvPr/>
        </p:nvCxnSpPr>
        <p:spPr>
          <a:xfrm flipV="1">
            <a:off x="3121307" y="1628906"/>
            <a:ext cx="875635" cy="431784"/>
          </a:xfrm>
          <a:prstGeom prst="line">
            <a:avLst/>
          </a:prstGeom>
        </p:spPr>
        <p:style>
          <a:lnRef idx="1">
            <a:schemeClr val="accent1"/>
          </a:lnRef>
          <a:fillRef idx="0">
            <a:schemeClr val="accent1"/>
          </a:fillRef>
          <a:effectRef idx="0">
            <a:schemeClr val="accent1"/>
          </a:effectRef>
          <a:fontRef idx="minor">
            <a:schemeClr val="tx1"/>
          </a:fontRef>
        </p:style>
      </p:cxnSp>
      <p:cxnSp>
        <p:nvCxnSpPr>
          <p:cNvPr id="83" name="直線コネクタ 82">
            <a:extLst>
              <a:ext uri="{FF2B5EF4-FFF2-40B4-BE49-F238E27FC236}">
                <a16:creationId xmlns:a16="http://schemas.microsoft.com/office/drawing/2014/main" id="{6098E9A1-7354-0021-8518-053452298071}"/>
              </a:ext>
            </a:extLst>
          </p:cNvPr>
          <p:cNvCxnSpPr>
            <a:cxnSpLocks/>
            <a:stCxn id="79" idx="3"/>
            <a:endCxn id="32" idx="1"/>
          </p:cNvCxnSpPr>
          <p:nvPr/>
        </p:nvCxnSpPr>
        <p:spPr>
          <a:xfrm>
            <a:off x="3121307" y="2060690"/>
            <a:ext cx="875635" cy="336312"/>
          </a:xfrm>
          <a:prstGeom prst="line">
            <a:avLst/>
          </a:prstGeom>
        </p:spPr>
        <p:style>
          <a:lnRef idx="1">
            <a:schemeClr val="accent1"/>
          </a:lnRef>
          <a:fillRef idx="0">
            <a:schemeClr val="accent1"/>
          </a:fillRef>
          <a:effectRef idx="0">
            <a:schemeClr val="accent1"/>
          </a:effectRef>
          <a:fontRef idx="minor">
            <a:schemeClr val="tx1"/>
          </a:fontRef>
        </p:style>
      </p:cxnSp>
      <p:cxnSp>
        <p:nvCxnSpPr>
          <p:cNvPr id="86" name="直線コネクタ 85">
            <a:extLst>
              <a:ext uri="{FF2B5EF4-FFF2-40B4-BE49-F238E27FC236}">
                <a16:creationId xmlns:a16="http://schemas.microsoft.com/office/drawing/2014/main" id="{4BFC78F3-17B4-F007-0507-0BCEB9DFB526}"/>
              </a:ext>
            </a:extLst>
          </p:cNvPr>
          <p:cNvCxnSpPr>
            <a:cxnSpLocks/>
            <a:stCxn id="79" idx="3"/>
            <a:endCxn id="37" idx="1"/>
          </p:cNvCxnSpPr>
          <p:nvPr/>
        </p:nvCxnSpPr>
        <p:spPr>
          <a:xfrm>
            <a:off x="3121307" y="2060690"/>
            <a:ext cx="875635" cy="1104408"/>
          </a:xfrm>
          <a:prstGeom prst="line">
            <a:avLst/>
          </a:prstGeom>
        </p:spPr>
        <p:style>
          <a:lnRef idx="1">
            <a:schemeClr val="accent1"/>
          </a:lnRef>
          <a:fillRef idx="0">
            <a:schemeClr val="accent1"/>
          </a:fillRef>
          <a:effectRef idx="0">
            <a:schemeClr val="accent1"/>
          </a:effectRef>
          <a:fontRef idx="minor">
            <a:schemeClr val="tx1"/>
          </a:fontRef>
        </p:style>
      </p:cxnSp>
      <p:cxnSp>
        <p:nvCxnSpPr>
          <p:cNvPr id="89" name="直線コネクタ 88">
            <a:extLst>
              <a:ext uri="{FF2B5EF4-FFF2-40B4-BE49-F238E27FC236}">
                <a16:creationId xmlns:a16="http://schemas.microsoft.com/office/drawing/2014/main" id="{E053B786-BB0C-C1E1-76B7-A9573A626CCC}"/>
              </a:ext>
            </a:extLst>
          </p:cNvPr>
          <p:cNvCxnSpPr>
            <a:cxnSpLocks/>
            <a:stCxn id="79" idx="3"/>
            <a:endCxn id="43" idx="1"/>
          </p:cNvCxnSpPr>
          <p:nvPr/>
        </p:nvCxnSpPr>
        <p:spPr>
          <a:xfrm>
            <a:off x="3121307" y="2060690"/>
            <a:ext cx="875635" cy="1872504"/>
          </a:xfrm>
          <a:prstGeom prst="line">
            <a:avLst/>
          </a:prstGeom>
        </p:spPr>
        <p:style>
          <a:lnRef idx="1">
            <a:schemeClr val="accent1"/>
          </a:lnRef>
          <a:fillRef idx="0">
            <a:schemeClr val="accent1"/>
          </a:fillRef>
          <a:effectRef idx="0">
            <a:schemeClr val="accent1"/>
          </a:effectRef>
          <a:fontRef idx="minor">
            <a:schemeClr val="tx1"/>
          </a:fontRef>
        </p:style>
      </p:cxnSp>
      <p:cxnSp>
        <p:nvCxnSpPr>
          <p:cNvPr id="93" name="直線コネクタ 92">
            <a:extLst>
              <a:ext uri="{FF2B5EF4-FFF2-40B4-BE49-F238E27FC236}">
                <a16:creationId xmlns:a16="http://schemas.microsoft.com/office/drawing/2014/main" id="{903C918B-3600-6FEA-8902-E84AA7410C48}"/>
              </a:ext>
            </a:extLst>
          </p:cNvPr>
          <p:cNvCxnSpPr>
            <a:cxnSpLocks/>
            <a:stCxn id="79" idx="3"/>
            <a:endCxn id="52" idx="1"/>
          </p:cNvCxnSpPr>
          <p:nvPr/>
        </p:nvCxnSpPr>
        <p:spPr>
          <a:xfrm>
            <a:off x="3121307" y="2060690"/>
            <a:ext cx="875635" cy="2604024"/>
          </a:xfrm>
          <a:prstGeom prst="line">
            <a:avLst/>
          </a:prstGeom>
        </p:spPr>
        <p:style>
          <a:lnRef idx="1">
            <a:schemeClr val="accent1"/>
          </a:lnRef>
          <a:fillRef idx="0">
            <a:schemeClr val="accent1"/>
          </a:fillRef>
          <a:effectRef idx="0">
            <a:schemeClr val="accent1"/>
          </a:effectRef>
          <a:fontRef idx="minor">
            <a:schemeClr val="tx1"/>
          </a:fontRef>
        </p:style>
      </p:cxnSp>
      <p:cxnSp>
        <p:nvCxnSpPr>
          <p:cNvPr id="103" name="直線コネクタ 102">
            <a:extLst>
              <a:ext uri="{FF2B5EF4-FFF2-40B4-BE49-F238E27FC236}">
                <a16:creationId xmlns:a16="http://schemas.microsoft.com/office/drawing/2014/main" id="{C69A1662-C040-7006-503F-B8153E815781}"/>
              </a:ext>
            </a:extLst>
          </p:cNvPr>
          <p:cNvCxnSpPr>
            <a:cxnSpLocks/>
            <a:stCxn id="80" idx="3"/>
            <a:endCxn id="59" idx="1"/>
          </p:cNvCxnSpPr>
          <p:nvPr/>
        </p:nvCxnSpPr>
        <p:spPr>
          <a:xfrm>
            <a:off x="3121307" y="3041577"/>
            <a:ext cx="875635" cy="2372945"/>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06" name="直線コネクタ 105">
            <a:extLst>
              <a:ext uri="{FF2B5EF4-FFF2-40B4-BE49-F238E27FC236}">
                <a16:creationId xmlns:a16="http://schemas.microsoft.com/office/drawing/2014/main" id="{A951076B-2FA5-076D-22CD-6FECF9562464}"/>
              </a:ext>
            </a:extLst>
          </p:cNvPr>
          <p:cNvCxnSpPr>
            <a:cxnSpLocks/>
            <a:stCxn id="80" idx="3"/>
            <a:endCxn id="74" idx="1"/>
          </p:cNvCxnSpPr>
          <p:nvPr/>
        </p:nvCxnSpPr>
        <p:spPr>
          <a:xfrm>
            <a:off x="3121307" y="3041577"/>
            <a:ext cx="875635" cy="3126143"/>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sp>
        <p:nvSpPr>
          <p:cNvPr id="111" name="テキスト ボックス 110">
            <a:extLst>
              <a:ext uri="{FF2B5EF4-FFF2-40B4-BE49-F238E27FC236}">
                <a16:creationId xmlns:a16="http://schemas.microsoft.com/office/drawing/2014/main" id="{082BA8EB-3EC9-6EAE-B9FB-1019DA2907F6}"/>
              </a:ext>
            </a:extLst>
          </p:cNvPr>
          <p:cNvSpPr txBox="1"/>
          <p:nvPr/>
        </p:nvSpPr>
        <p:spPr>
          <a:xfrm>
            <a:off x="7438779" y="5177010"/>
            <a:ext cx="1581647" cy="246221"/>
          </a:xfrm>
          <a:prstGeom prst="rect">
            <a:avLst/>
          </a:prstGeom>
          <a:noFill/>
        </p:spPr>
        <p:txBody>
          <a:bodyPr wrap="square">
            <a:spAutoFit/>
          </a:bodyPr>
          <a:lstStyle/>
          <a:p>
            <a:pPr algn="ctr"/>
            <a:r>
              <a:rPr kumimoji="1" lang="en-US" altLang="ja-JP" sz="1000" dirty="0">
                <a:solidFill>
                  <a:srgbClr val="FF0000"/>
                </a:solidFill>
                <a:latin typeface="メイリオ" panose="020B0604030504040204" pitchFamily="50" charset="-128"/>
                <a:ea typeface="メイリオ" panose="020B0604030504040204" pitchFamily="50" charset="-128"/>
              </a:rPr>
              <a:t>※</a:t>
            </a:r>
            <a:r>
              <a:rPr kumimoji="1" lang="ja-JP" altLang="en-US" sz="1000" dirty="0">
                <a:solidFill>
                  <a:srgbClr val="FF0000"/>
                </a:solidFill>
                <a:latin typeface="メイリオ" panose="020B0604030504040204" pitchFamily="50" charset="-128"/>
                <a:ea typeface="メイリオ" panose="020B0604030504040204" pitchFamily="50" charset="-128"/>
              </a:rPr>
              <a:t>本数により金額変動</a:t>
            </a:r>
          </a:p>
        </p:txBody>
      </p:sp>
      <p:sp>
        <p:nvSpPr>
          <p:cNvPr id="20" name="Shape 12">
            <a:extLst>
              <a:ext uri="{FF2B5EF4-FFF2-40B4-BE49-F238E27FC236}">
                <a16:creationId xmlns:a16="http://schemas.microsoft.com/office/drawing/2014/main" id="{18C0BF3B-C933-B900-F923-9B5EF5F7FBFF}"/>
              </a:ext>
            </a:extLst>
          </p:cNvPr>
          <p:cNvSpPr/>
          <p:nvPr/>
        </p:nvSpPr>
        <p:spPr>
          <a:xfrm>
            <a:off x="286011" y="4017770"/>
            <a:ext cx="3214833" cy="1106171"/>
          </a:xfrm>
          <a:prstGeom prst="roundRect">
            <a:avLst>
              <a:gd name="adj" fmla="val 11111"/>
            </a:avLst>
          </a:prstGeom>
          <a:solidFill>
            <a:srgbClr val="FFFF00">
              <a:alpha val="70000"/>
            </a:srgbClr>
          </a:solidFill>
          <a:ln w="12700">
            <a:solidFill>
              <a:srgbClr val="E8EDF8"/>
            </a:solidFill>
            <a:prstDash val="solid"/>
          </a:ln>
          <a:effectLst>
            <a:outerShdw blurRad="101600" dist="25400" dir="2700000" algn="bl" rotWithShape="0">
              <a:srgbClr val="000000">
                <a:alpha val="10000"/>
              </a:srgbClr>
            </a:outerShdw>
          </a:effectLst>
        </p:spPr>
        <p:txBody>
          <a:bodyPr/>
          <a:lstStyle/>
          <a:p>
            <a:endParaRPr lang="ja-JP" altLang="en-US">
              <a:latin typeface="メイリオ" panose="020B0604030504040204" pitchFamily="50" charset="-128"/>
              <a:ea typeface="メイリオ" panose="020B0604030504040204" pitchFamily="50" charset="-128"/>
            </a:endParaRPr>
          </a:p>
        </p:txBody>
      </p:sp>
      <p:sp>
        <p:nvSpPr>
          <p:cNvPr id="23" name="Shape 3">
            <a:extLst>
              <a:ext uri="{FF2B5EF4-FFF2-40B4-BE49-F238E27FC236}">
                <a16:creationId xmlns:a16="http://schemas.microsoft.com/office/drawing/2014/main" id="{A8583825-051F-63CB-E5DA-C6D15505A435}"/>
              </a:ext>
            </a:extLst>
          </p:cNvPr>
          <p:cNvSpPr/>
          <p:nvPr/>
        </p:nvSpPr>
        <p:spPr>
          <a:xfrm>
            <a:off x="396037" y="4146914"/>
            <a:ext cx="502920" cy="475488"/>
          </a:xfrm>
          <a:prstGeom prst="roundRect">
            <a:avLst>
              <a:gd name="adj" fmla="val 11538"/>
            </a:avLst>
          </a:prstGeom>
          <a:solidFill>
            <a:srgbClr val="1E2761"/>
          </a:solidFill>
          <a:ln w="12700">
            <a:solidFill>
              <a:srgbClr val="1E2761"/>
            </a:solidFill>
            <a:prstDash val="solid"/>
          </a:ln>
        </p:spPr>
        <p:txBody>
          <a:bodyPr/>
          <a:lstStyle/>
          <a:p>
            <a:endParaRPr lang="ja-JP" altLang="en-US">
              <a:latin typeface="メイリオ" panose="020B0604030504040204" pitchFamily="50" charset="-128"/>
              <a:ea typeface="メイリオ" panose="020B0604030504040204" pitchFamily="50" charset="-128"/>
            </a:endParaRPr>
          </a:p>
        </p:txBody>
      </p:sp>
      <p:sp>
        <p:nvSpPr>
          <p:cNvPr id="26" name="Text 4">
            <a:extLst>
              <a:ext uri="{FF2B5EF4-FFF2-40B4-BE49-F238E27FC236}">
                <a16:creationId xmlns:a16="http://schemas.microsoft.com/office/drawing/2014/main" id="{3C6030FF-300A-A8F4-53D7-7136504B9465}"/>
              </a:ext>
            </a:extLst>
          </p:cNvPr>
          <p:cNvSpPr/>
          <p:nvPr/>
        </p:nvSpPr>
        <p:spPr>
          <a:xfrm>
            <a:off x="396037" y="4146914"/>
            <a:ext cx="502920" cy="475488"/>
          </a:xfrm>
          <a:prstGeom prst="rect">
            <a:avLst/>
          </a:prstGeom>
          <a:noFill/>
          <a:ln/>
        </p:spPr>
        <p:txBody>
          <a:bodyPr wrap="square" rtlCol="0" anchor="ctr"/>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indent="0" algn="ctr">
              <a:buNone/>
            </a:pPr>
            <a:r>
              <a:rPr lang="en-US" sz="1300" b="1" dirty="0">
                <a:solidFill>
                  <a:srgbClr val="CADCFC"/>
                </a:solidFill>
                <a:latin typeface="メイリオ" panose="020B0604030504040204" pitchFamily="50" charset="-128"/>
                <a:ea typeface="メイリオ" panose="020B0604030504040204" pitchFamily="50" charset="-128"/>
                <a:cs typeface="Calibri" pitchFamily="34" charset="-120"/>
              </a:rPr>
              <a:t>01</a:t>
            </a:r>
            <a:endParaRPr lang="en-US" sz="1300" dirty="0">
              <a:latin typeface="メイリオ" panose="020B0604030504040204" pitchFamily="50" charset="-128"/>
              <a:ea typeface="メイリオ" panose="020B0604030504040204" pitchFamily="50" charset="-128"/>
            </a:endParaRPr>
          </a:p>
        </p:txBody>
      </p:sp>
      <p:sp>
        <p:nvSpPr>
          <p:cNvPr id="28" name="Shape 13">
            <a:extLst>
              <a:ext uri="{FF2B5EF4-FFF2-40B4-BE49-F238E27FC236}">
                <a16:creationId xmlns:a16="http://schemas.microsoft.com/office/drawing/2014/main" id="{BA6E3B17-14AB-43B1-EBF3-8D9704B6BB11}"/>
              </a:ext>
            </a:extLst>
          </p:cNvPr>
          <p:cNvSpPr/>
          <p:nvPr/>
        </p:nvSpPr>
        <p:spPr>
          <a:xfrm>
            <a:off x="1134415" y="4146914"/>
            <a:ext cx="502920" cy="475488"/>
          </a:xfrm>
          <a:prstGeom prst="roundRect">
            <a:avLst>
              <a:gd name="adj" fmla="val 11538"/>
            </a:avLst>
          </a:prstGeom>
          <a:solidFill>
            <a:srgbClr val="1E2761"/>
          </a:solidFill>
          <a:ln w="12700">
            <a:solidFill>
              <a:srgbClr val="1E2761"/>
            </a:solidFill>
            <a:prstDash val="solid"/>
          </a:ln>
        </p:spPr>
        <p:txBody>
          <a:bodyPr anchor="ctr"/>
          <a:lstStyle/>
          <a:p>
            <a:pPr algn="ctr"/>
            <a:r>
              <a:rPr lang="en-US" altLang="ja-JP" sz="1400" b="1" dirty="0">
                <a:solidFill>
                  <a:srgbClr val="CADCFC"/>
                </a:solidFill>
                <a:latin typeface="メイリオ" panose="020B0604030504040204" pitchFamily="50" charset="-128"/>
                <a:ea typeface="メイリオ" panose="020B0604030504040204" pitchFamily="50" charset="-128"/>
                <a:cs typeface="Calibri" pitchFamily="34" charset="-120"/>
              </a:rPr>
              <a:t>05</a:t>
            </a:r>
            <a:endParaRPr lang="en-US" altLang="ja-JP" sz="1400" dirty="0">
              <a:latin typeface="メイリオ" panose="020B0604030504040204" pitchFamily="50" charset="-128"/>
              <a:ea typeface="メイリオ" panose="020B0604030504040204" pitchFamily="50" charset="-128"/>
            </a:endParaRPr>
          </a:p>
        </p:txBody>
      </p:sp>
      <p:sp>
        <p:nvSpPr>
          <p:cNvPr id="41" name="テキスト ボックス 40">
            <a:extLst>
              <a:ext uri="{FF2B5EF4-FFF2-40B4-BE49-F238E27FC236}">
                <a16:creationId xmlns:a16="http://schemas.microsoft.com/office/drawing/2014/main" id="{B64D3BA7-9F12-14DB-A4FB-CDB1ED52D238}"/>
              </a:ext>
            </a:extLst>
          </p:cNvPr>
          <p:cNvSpPr txBox="1"/>
          <p:nvPr/>
        </p:nvSpPr>
        <p:spPr>
          <a:xfrm>
            <a:off x="850134" y="4251844"/>
            <a:ext cx="2789430" cy="738664"/>
          </a:xfrm>
          <a:prstGeom prst="rect">
            <a:avLst/>
          </a:prstGeom>
          <a:noFill/>
        </p:spPr>
        <p:txBody>
          <a:bodyPr wrap="square">
            <a:spAutoFit/>
          </a:bodyPr>
          <a:lstStyle/>
          <a:p>
            <a:r>
              <a:rPr kumimoji="1" lang="ja-JP" altLang="en-US" sz="1400" b="1" dirty="0">
                <a:latin typeface="メイリオ" panose="020B0604030504040204" pitchFamily="50" charset="-128"/>
                <a:ea typeface="メイリオ" panose="020B0604030504040204" pitchFamily="50" charset="-128"/>
              </a:rPr>
              <a:t>～　　　 の修正・調整も</a:t>
            </a:r>
            <a:endParaRPr lang="en-US" altLang="ja-JP" sz="1400" b="1" dirty="0">
              <a:latin typeface="メイリオ" panose="020B0604030504040204" pitchFamily="50" charset="-128"/>
              <a:ea typeface="メイリオ" panose="020B0604030504040204" pitchFamily="50" charset="-128"/>
            </a:endParaRPr>
          </a:p>
          <a:p>
            <a:endParaRPr kumimoji="1" lang="en-US" altLang="ja-JP" sz="1400" b="1" dirty="0">
              <a:latin typeface="メイリオ" panose="020B0604030504040204" pitchFamily="50" charset="-128"/>
              <a:ea typeface="メイリオ" panose="020B0604030504040204" pitchFamily="50" charset="-128"/>
            </a:endParaRPr>
          </a:p>
          <a:p>
            <a:r>
              <a:rPr lang="ja-JP" altLang="en-US" sz="1400" b="1" dirty="0">
                <a:latin typeface="メイリオ" panose="020B0604030504040204" pitchFamily="50" charset="-128"/>
                <a:ea typeface="メイリオ" panose="020B0604030504040204" pitchFamily="50" charset="-128"/>
              </a:rPr>
              <a:t>月次対応内に含んでおります。</a:t>
            </a:r>
            <a:endParaRPr kumimoji="1" lang="en-US" altLang="ja-JP" sz="1400" b="1" dirty="0">
              <a:latin typeface="メイリオ" panose="020B0604030504040204" pitchFamily="50" charset="-128"/>
              <a:ea typeface="メイリオ" panose="020B0604030504040204" pitchFamily="50" charset="-128"/>
            </a:endParaRPr>
          </a:p>
        </p:txBody>
      </p:sp>
    </p:spTree>
    <p:extLst>
      <p:ext uri="{BB962C8B-B14F-4D97-AF65-F5344CB8AC3E}">
        <p14:creationId xmlns:p14="http://schemas.microsoft.com/office/powerpoint/2010/main" val="2369353096"/>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D883023-AF7C-336C-849B-8B85A9ACB9B9}"/>
            </a:ext>
          </a:extLst>
        </p:cNvPr>
        <p:cNvGrpSpPr/>
        <p:nvPr/>
      </p:nvGrpSpPr>
      <p:grpSpPr>
        <a:xfrm>
          <a:off x="0" y="0"/>
          <a:ext cx="0" cy="0"/>
          <a:chOff x="0" y="0"/>
          <a:chExt cx="0" cy="0"/>
        </a:xfrm>
      </p:grpSpPr>
      <p:sp>
        <p:nvSpPr>
          <p:cNvPr id="4" name="Google Shape;752;p28">
            <a:extLst>
              <a:ext uri="{FF2B5EF4-FFF2-40B4-BE49-F238E27FC236}">
                <a16:creationId xmlns:a16="http://schemas.microsoft.com/office/drawing/2014/main" id="{8445BC53-89DD-A84D-9D16-6634A99161D2}"/>
              </a:ext>
            </a:extLst>
          </p:cNvPr>
          <p:cNvSpPr txBox="1"/>
          <p:nvPr/>
        </p:nvSpPr>
        <p:spPr>
          <a:xfrm>
            <a:off x="548883" y="138137"/>
            <a:ext cx="6276325" cy="338514"/>
          </a:xfrm>
          <a:prstGeom prst="rect">
            <a:avLst/>
          </a:prstGeom>
          <a:noFill/>
          <a:ln>
            <a:noFill/>
          </a:ln>
        </p:spPr>
        <p:txBody>
          <a:bodyPr spcFirstLastPara="1" wrap="square" lIns="91425" tIns="45700" rIns="91425" bIns="45700" anchor="ctr" anchorCtr="0">
            <a:spAutoFit/>
          </a:bodyPr>
          <a:lstStyle/>
          <a:p>
            <a:pPr lvl="0"/>
            <a:r>
              <a:rPr lang="ja-JP" altLang="en-US" sz="1600" b="1" dirty="0">
                <a:solidFill>
                  <a:srgbClr val="323366"/>
                </a:solidFill>
                <a:latin typeface="メイリオ" panose="020B0604030504040204" pitchFamily="50" charset="-128"/>
                <a:ea typeface="メイリオ" panose="020B0604030504040204" pitchFamily="50" charset="-128"/>
                <a:cs typeface="Meiryo"/>
                <a:sym typeface="Meiryo"/>
              </a:rPr>
              <a:t>弊社からご提供できる運用プラン</a:t>
            </a:r>
          </a:p>
        </p:txBody>
      </p:sp>
      <p:sp>
        <p:nvSpPr>
          <p:cNvPr id="9" name="正方形/長方形 8">
            <a:extLst>
              <a:ext uri="{FF2B5EF4-FFF2-40B4-BE49-F238E27FC236}">
                <a16:creationId xmlns:a16="http://schemas.microsoft.com/office/drawing/2014/main" id="{9AB03A73-8782-5833-4EC4-7EE6E67551BB}"/>
              </a:ext>
            </a:extLst>
          </p:cNvPr>
          <p:cNvSpPr/>
          <p:nvPr/>
        </p:nvSpPr>
        <p:spPr>
          <a:xfrm>
            <a:off x="0" y="777240"/>
            <a:ext cx="2914650" cy="502920"/>
          </a:xfrm>
          <a:prstGeom prst="rect">
            <a:avLst/>
          </a:prstGeom>
          <a:solidFill>
            <a:srgbClr val="00206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400" dirty="0">
                <a:latin typeface="メイリオ" panose="020B0604030504040204" pitchFamily="50" charset="-128"/>
                <a:ea typeface="メイリオ" panose="020B0604030504040204" pitchFamily="50" charset="-128"/>
              </a:rPr>
              <a:t>都度発注プラン</a:t>
            </a:r>
          </a:p>
        </p:txBody>
      </p:sp>
      <p:sp>
        <p:nvSpPr>
          <p:cNvPr id="3" name="Google Shape;752;p28">
            <a:extLst>
              <a:ext uri="{FF2B5EF4-FFF2-40B4-BE49-F238E27FC236}">
                <a16:creationId xmlns:a16="http://schemas.microsoft.com/office/drawing/2014/main" id="{028B53B5-690E-5899-171E-A9074171D6E9}"/>
              </a:ext>
            </a:extLst>
          </p:cNvPr>
          <p:cNvSpPr txBox="1"/>
          <p:nvPr/>
        </p:nvSpPr>
        <p:spPr>
          <a:xfrm>
            <a:off x="3036570" y="859443"/>
            <a:ext cx="6276325" cy="338514"/>
          </a:xfrm>
          <a:prstGeom prst="rect">
            <a:avLst/>
          </a:prstGeom>
          <a:noFill/>
          <a:ln>
            <a:noFill/>
          </a:ln>
        </p:spPr>
        <p:txBody>
          <a:bodyPr spcFirstLastPara="1" wrap="square" lIns="91425" tIns="45700" rIns="91425" bIns="45700" anchor="ctr" anchorCtr="0">
            <a:spAutoFit/>
          </a:bodyPr>
          <a:lstStyle/>
          <a:p>
            <a:r>
              <a:rPr lang="en-US" altLang="ja-JP" sz="1600" b="1" dirty="0">
                <a:latin typeface="メイリオ" panose="020B0604030504040204" pitchFamily="50" charset="-128"/>
                <a:ea typeface="メイリオ" panose="020B0604030504040204" pitchFamily="50" charset="-128"/>
                <a:cs typeface="Meiryo"/>
                <a:sym typeface="Meiryo"/>
              </a:rPr>
              <a:t>LINEOA</a:t>
            </a:r>
            <a:r>
              <a:rPr lang="ja-JP" altLang="en-US" sz="1600" b="1" dirty="0">
                <a:latin typeface="メイリオ" panose="020B0604030504040204" pitchFamily="50" charset="-128"/>
                <a:ea typeface="メイリオ" panose="020B0604030504040204" pitchFamily="50" charset="-128"/>
                <a:cs typeface="Meiryo"/>
                <a:sym typeface="Meiryo"/>
              </a:rPr>
              <a:t>の運用業務・</a:t>
            </a:r>
            <a:r>
              <a:rPr lang="en-US" altLang="ja-JP" sz="1600" b="1" dirty="0">
                <a:latin typeface="メイリオ" panose="020B0604030504040204" pitchFamily="50" charset="-128"/>
                <a:ea typeface="メイリオ" panose="020B0604030504040204" pitchFamily="50" charset="-128"/>
                <a:cs typeface="Meiryo"/>
                <a:sym typeface="Meiryo"/>
              </a:rPr>
              <a:t>CR</a:t>
            </a:r>
            <a:r>
              <a:rPr lang="ja-JP" altLang="en-US" sz="1600" b="1" dirty="0">
                <a:latin typeface="メイリオ" panose="020B0604030504040204" pitchFamily="50" charset="-128"/>
                <a:ea typeface="メイリオ" panose="020B0604030504040204" pitchFamily="50" charset="-128"/>
                <a:cs typeface="Meiryo"/>
                <a:sym typeface="Meiryo"/>
              </a:rPr>
              <a:t>制作業務を一部外出ししてご依頼いただくことも可能です。</a:t>
            </a:r>
            <a:endParaRPr lang="en-US" altLang="ja-JP" sz="1600" b="1" dirty="0">
              <a:latin typeface="メイリオ" panose="020B0604030504040204" pitchFamily="50" charset="-128"/>
              <a:ea typeface="メイリオ" panose="020B0604030504040204" pitchFamily="50" charset="-128"/>
              <a:cs typeface="Meiryo"/>
              <a:sym typeface="Meiryo"/>
            </a:endParaRPr>
          </a:p>
        </p:txBody>
      </p:sp>
      <p:sp>
        <p:nvSpPr>
          <p:cNvPr id="12" name="正方形/長方形 11">
            <a:extLst>
              <a:ext uri="{FF2B5EF4-FFF2-40B4-BE49-F238E27FC236}">
                <a16:creationId xmlns:a16="http://schemas.microsoft.com/office/drawing/2014/main" id="{E2BC9744-CCD5-D85B-03E7-5884310FE6EE}"/>
              </a:ext>
            </a:extLst>
          </p:cNvPr>
          <p:cNvSpPr/>
          <p:nvPr/>
        </p:nvSpPr>
        <p:spPr>
          <a:xfrm>
            <a:off x="548883" y="1380214"/>
            <a:ext cx="8859613" cy="5081546"/>
          </a:xfrm>
          <a:prstGeom prst="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tLang="ja-JP" sz="1050" dirty="0">
              <a:solidFill>
                <a:schemeClr val="tx1">
                  <a:lumMod val="65000"/>
                  <a:lumOff val="35000"/>
                </a:schemeClr>
              </a:solidFill>
              <a:latin typeface="メイリオ" panose="020B0604030504040204" pitchFamily="50" charset="-128"/>
              <a:ea typeface="メイリオ" panose="020B0604030504040204" pitchFamily="50" charset="-128"/>
            </a:endParaRPr>
          </a:p>
        </p:txBody>
      </p:sp>
      <p:sp>
        <p:nvSpPr>
          <p:cNvPr id="13" name="テキスト ボックス 12">
            <a:extLst>
              <a:ext uri="{FF2B5EF4-FFF2-40B4-BE49-F238E27FC236}">
                <a16:creationId xmlns:a16="http://schemas.microsoft.com/office/drawing/2014/main" id="{B88E2B73-305C-9688-214C-1EF768E484BD}"/>
              </a:ext>
            </a:extLst>
          </p:cNvPr>
          <p:cNvSpPr txBox="1"/>
          <p:nvPr/>
        </p:nvSpPr>
        <p:spPr>
          <a:xfrm>
            <a:off x="706726" y="1569462"/>
            <a:ext cx="4963884" cy="253916"/>
          </a:xfrm>
          <a:prstGeom prst="rect">
            <a:avLst/>
          </a:prstGeom>
          <a:noFill/>
        </p:spPr>
        <p:txBody>
          <a:bodyPr wrap="square">
            <a:spAutoFit/>
          </a:bodyPr>
          <a:lstStyle/>
          <a:p>
            <a:r>
              <a:rPr lang="en-US" altLang="ja-JP" sz="1050" dirty="0">
                <a:solidFill>
                  <a:schemeClr val="tx1">
                    <a:lumMod val="65000"/>
                    <a:lumOff val="35000"/>
                  </a:schemeClr>
                </a:solidFill>
                <a:latin typeface="メイリオ" panose="020B0604030504040204" pitchFamily="50" charset="-128"/>
                <a:ea typeface="メイリオ" panose="020B0604030504040204" pitchFamily="50" charset="-128"/>
                <a:sym typeface="Meiryo"/>
              </a:rPr>
              <a:t>&lt;</a:t>
            </a:r>
            <a:r>
              <a:rPr lang="ja-JP" altLang="en-US" sz="1050" dirty="0">
                <a:solidFill>
                  <a:schemeClr val="tx1">
                    <a:lumMod val="65000"/>
                    <a:lumOff val="35000"/>
                  </a:schemeClr>
                </a:solidFill>
                <a:latin typeface="メイリオ" panose="020B0604030504040204" pitchFamily="50" charset="-128"/>
                <a:ea typeface="メイリオ" panose="020B0604030504040204" pitchFamily="50" charset="-128"/>
                <a:sym typeface="Meiryo"/>
              </a:rPr>
              <a:t>追加作業における費用感　</a:t>
            </a:r>
            <a:r>
              <a:rPr lang="en-US" altLang="ja-JP" sz="900" dirty="0">
                <a:solidFill>
                  <a:srgbClr val="FF0000"/>
                </a:solidFill>
                <a:latin typeface="メイリオ" panose="020B0604030504040204" pitchFamily="50" charset="-128"/>
                <a:ea typeface="メイリオ" panose="020B0604030504040204" pitchFamily="50" charset="-128"/>
                <a:sym typeface="Meiryo"/>
              </a:rPr>
              <a:t>※</a:t>
            </a:r>
            <a:r>
              <a:rPr lang="ja-JP" altLang="en-US" sz="900" dirty="0">
                <a:solidFill>
                  <a:srgbClr val="FF0000"/>
                </a:solidFill>
                <a:latin typeface="メイリオ" panose="020B0604030504040204" pitchFamily="50" charset="-128"/>
                <a:ea typeface="メイリオ" panose="020B0604030504040204" pitchFamily="50" charset="-128"/>
                <a:sym typeface="Meiryo"/>
              </a:rPr>
              <a:t>作業量により変動する可能性がございます</a:t>
            </a:r>
            <a:r>
              <a:rPr lang="en-US" altLang="ja-JP" sz="1050" dirty="0">
                <a:solidFill>
                  <a:schemeClr val="tx1">
                    <a:lumMod val="65000"/>
                    <a:lumOff val="35000"/>
                  </a:schemeClr>
                </a:solidFill>
                <a:latin typeface="メイリオ" panose="020B0604030504040204" pitchFamily="50" charset="-128"/>
                <a:ea typeface="メイリオ" panose="020B0604030504040204" pitchFamily="50" charset="-128"/>
                <a:sym typeface="Meiryo"/>
              </a:rPr>
              <a:t>&gt;</a:t>
            </a:r>
            <a:endParaRPr lang="ja-JP" altLang="en-US" sz="1050" dirty="0">
              <a:solidFill>
                <a:schemeClr val="tx1">
                  <a:lumMod val="65000"/>
                  <a:lumOff val="35000"/>
                </a:schemeClr>
              </a:solidFill>
            </a:endParaRPr>
          </a:p>
        </p:txBody>
      </p:sp>
      <p:graphicFrame>
        <p:nvGraphicFramePr>
          <p:cNvPr id="14" name="表 13">
            <a:extLst>
              <a:ext uri="{FF2B5EF4-FFF2-40B4-BE49-F238E27FC236}">
                <a16:creationId xmlns:a16="http://schemas.microsoft.com/office/drawing/2014/main" id="{09C77DA6-2F75-12F7-39C7-7A6997364857}"/>
              </a:ext>
            </a:extLst>
          </p:cNvPr>
          <p:cNvGraphicFramePr>
            <a:graphicFrameLocks noGrp="1"/>
          </p:cNvGraphicFramePr>
          <p:nvPr/>
        </p:nvGraphicFramePr>
        <p:xfrm>
          <a:off x="706726" y="1862534"/>
          <a:ext cx="8543925" cy="4069730"/>
        </p:xfrm>
        <a:graphic>
          <a:graphicData uri="http://schemas.openxmlformats.org/drawingml/2006/table">
            <a:tbl>
              <a:tblPr/>
              <a:tblGrid>
                <a:gridCol w="1832575">
                  <a:extLst>
                    <a:ext uri="{9D8B030D-6E8A-4147-A177-3AD203B41FA5}">
                      <a16:colId xmlns:a16="http://schemas.microsoft.com/office/drawing/2014/main" val="861741390"/>
                    </a:ext>
                  </a:extLst>
                </a:gridCol>
                <a:gridCol w="1140808">
                  <a:extLst>
                    <a:ext uri="{9D8B030D-6E8A-4147-A177-3AD203B41FA5}">
                      <a16:colId xmlns:a16="http://schemas.microsoft.com/office/drawing/2014/main" val="2023292695"/>
                    </a:ext>
                  </a:extLst>
                </a:gridCol>
                <a:gridCol w="1140808">
                  <a:extLst>
                    <a:ext uri="{9D8B030D-6E8A-4147-A177-3AD203B41FA5}">
                      <a16:colId xmlns:a16="http://schemas.microsoft.com/office/drawing/2014/main" val="3807194112"/>
                    </a:ext>
                  </a:extLst>
                </a:gridCol>
                <a:gridCol w="315543">
                  <a:extLst>
                    <a:ext uri="{9D8B030D-6E8A-4147-A177-3AD203B41FA5}">
                      <a16:colId xmlns:a16="http://schemas.microsoft.com/office/drawing/2014/main" val="1897046241"/>
                    </a:ext>
                  </a:extLst>
                </a:gridCol>
                <a:gridCol w="1832575">
                  <a:extLst>
                    <a:ext uri="{9D8B030D-6E8A-4147-A177-3AD203B41FA5}">
                      <a16:colId xmlns:a16="http://schemas.microsoft.com/office/drawing/2014/main" val="286895173"/>
                    </a:ext>
                  </a:extLst>
                </a:gridCol>
                <a:gridCol w="1140808">
                  <a:extLst>
                    <a:ext uri="{9D8B030D-6E8A-4147-A177-3AD203B41FA5}">
                      <a16:colId xmlns:a16="http://schemas.microsoft.com/office/drawing/2014/main" val="241768133"/>
                    </a:ext>
                  </a:extLst>
                </a:gridCol>
                <a:gridCol w="1140808">
                  <a:extLst>
                    <a:ext uri="{9D8B030D-6E8A-4147-A177-3AD203B41FA5}">
                      <a16:colId xmlns:a16="http://schemas.microsoft.com/office/drawing/2014/main" val="3498780203"/>
                    </a:ext>
                  </a:extLst>
                </a:gridCol>
              </a:tblGrid>
              <a:tr h="290695">
                <a:tc>
                  <a:txBody>
                    <a:bodyPr/>
                    <a:lstStyle/>
                    <a:p>
                      <a:pPr algn="ctr" fontAlgn="ctr">
                        <a:buNone/>
                      </a:pPr>
                      <a:r>
                        <a:rPr lang="ja-JP" altLang="en-US" sz="1100" b="1" i="0" u="none" strike="noStrike" dirty="0">
                          <a:solidFill>
                            <a:srgbClr val="FFFFFF"/>
                          </a:solidFill>
                          <a:effectLst/>
                          <a:latin typeface="メイリオ" panose="020B0604030504040204" pitchFamily="50" charset="-128"/>
                          <a:ea typeface="メイリオ" panose="020B0604030504040204" pitchFamily="50" charset="-128"/>
                        </a:rPr>
                        <a:t>対応項目</a:t>
                      </a:r>
                    </a:p>
                  </a:txBody>
                  <a:tcPr marL="9102" marR="9102" marT="131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0E2841"/>
                    </a:solidFill>
                  </a:tcPr>
                </a:tc>
                <a:tc>
                  <a:txBody>
                    <a:bodyPr/>
                    <a:lstStyle/>
                    <a:p>
                      <a:pPr algn="ctr" fontAlgn="ctr">
                        <a:buNone/>
                      </a:pPr>
                      <a:r>
                        <a:rPr lang="ja-JP" altLang="en-US" sz="1100" b="1" i="0" u="none" strike="noStrike">
                          <a:solidFill>
                            <a:srgbClr val="FFFFFF"/>
                          </a:solidFill>
                          <a:effectLst/>
                          <a:latin typeface="メイリオ" panose="020B0604030504040204" pitchFamily="50" charset="-128"/>
                          <a:ea typeface="メイリオ" panose="020B0604030504040204" pitchFamily="50" charset="-128"/>
                        </a:rPr>
                        <a:t>初期</a:t>
                      </a:r>
                    </a:p>
                  </a:txBody>
                  <a:tcPr marL="9102" marR="9102" marT="131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0E2841"/>
                    </a:solidFill>
                  </a:tcPr>
                </a:tc>
                <a:tc>
                  <a:txBody>
                    <a:bodyPr/>
                    <a:lstStyle/>
                    <a:p>
                      <a:pPr algn="ctr" fontAlgn="ctr">
                        <a:buNone/>
                      </a:pPr>
                      <a:r>
                        <a:rPr lang="ja-JP" altLang="en-US" sz="1100" b="1" i="0" u="none" strike="noStrike" dirty="0">
                          <a:solidFill>
                            <a:srgbClr val="FFFFFF"/>
                          </a:solidFill>
                          <a:effectLst/>
                          <a:latin typeface="メイリオ" panose="020B0604030504040204" pitchFamily="50" charset="-128"/>
                          <a:ea typeface="メイリオ" panose="020B0604030504040204" pitchFamily="50" charset="-128"/>
                        </a:rPr>
                        <a:t>内容</a:t>
                      </a:r>
                    </a:p>
                  </a:txBody>
                  <a:tcPr marL="9102" marR="9102" marT="131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0E2841"/>
                    </a:solidFill>
                  </a:tcPr>
                </a:tc>
                <a:tc>
                  <a:txBody>
                    <a:bodyPr/>
                    <a:lstStyle/>
                    <a:p>
                      <a:pPr algn="l" fontAlgn="ctr">
                        <a:buNone/>
                      </a:pPr>
                      <a:endParaRPr lang="ja-JP" altLang="en-US" sz="1100" b="1" i="0" u="none" strike="noStrike">
                        <a:solidFill>
                          <a:srgbClr val="000000"/>
                        </a:solidFill>
                        <a:effectLst/>
                        <a:latin typeface="メイリオ" panose="020B0604030504040204" pitchFamily="50" charset="-128"/>
                        <a:ea typeface="メイリオ" panose="020B0604030504040204" pitchFamily="50" charset="-128"/>
                      </a:endParaRPr>
                    </a:p>
                  </a:txBody>
                  <a:tcPr marL="9102" marR="9102" marT="131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a:noFill/>
                    </a:lnT>
                    <a:lnB>
                      <a:noFill/>
                    </a:lnB>
                    <a:noFill/>
                  </a:tcPr>
                </a:tc>
                <a:tc>
                  <a:txBody>
                    <a:bodyPr/>
                    <a:lstStyle/>
                    <a:p>
                      <a:pPr algn="ctr" fontAlgn="ctr">
                        <a:buNone/>
                      </a:pPr>
                      <a:r>
                        <a:rPr lang="ja-JP" altLang="en-US" sz="1100" b="1" i="0" u="none" strike="noStrike">
                          <a:solidFill>
                            <a:srgbClr val="FFFFFF"/>
                          </a:solidFill>
                          <a:effectLst/>
                          <a:latin typeface="メイリオ" panose="020B0604030504040204" pitchFamily="50" charset="-128"/>
                          <a:ea typeface="メイリオ" panose="020B0604030504040204" pitchFamily="50" charset="-128"/>
                        </a:rPr>
                        <a:t>対応項目</a:t>
                      </a:r>
                    </a:p>
                  </a:txBody>
                  <a:tcPr marL="9102" marR="9102" marT="131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0E2841"/>
                    </a:solidFill>
                  </a:tcPr>
                </a:tc>
                <a:tc>
                  <a:txBody>
                    <a:bodyPr/>
                    <a:lstStyle/>
                    <a:p>
                      <a:pPr algn="ctr" fontAlgn="ctr">
                        <a:buNone/>
                      </a:pPr>
                      <a:r>
                        <a:rPr lang="ja-JP" altLang="en-US" sz="1100" b="1" i="0" u="none" strike="noStrike" dirty="0">
                          <a:solidFill>
                            <a:srgbClr val="FFFFFF"/>
                          </a:solidFill>
                          <a:effectLst/>
                          <a:latin typeface="メイリオ" panose="020B0604030504040204" pitchFamily="50" charset="-128"/>
                          <a:ea typeface="メイリオ" panose="020B0604030504040204" pitchFamily="50" charset="-128"/>
                        </a:rPr>
                        <a:t>初期</a:t>
                      </a:r>
                    </a:p>
                  </a:txBody>
                  <a:tcPr marL="9102" marR="9102" marT="131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0E2841"/>
                    </a:solidFill>
                  </a:tcPr>
                </a:tc>
                <a:tc>
                  <a:txBody>
                    <a:bodyPr/>
                    <a:lstStyle/>
                    <a:p>
                      <a:pPr algn="ctr" fontAlgn="ctr">
                        <a:buNone/>
                      </a:pPr>
                      <a:r>
                        <a:rPr lang="ja-JP" altLang="en-US" sz="1100" b="1" i="0" u="none" strike="noStrike" dirty="0">
                          <a:solidFill>
                            <a:srgbClr val="FFFFFF"/>
                          </a:solidFill>
                          <a:effectLst/>
                          <a:latin typeface="メイリオ" panose="020B0604030504040204" pitchFamily="50" charset="-128"/>
                          <a:ea typeface="メイリオ" panose="020B0604030504040204" pitchFamily="50" charset="-128"/>
                        </a:rPr>
                        <a:t>月額</a:t>
                      </a:r>
                    </a:p>
                  </a:txBody>
                  <a:tcPr marL="9102" marR="9102" marT="131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0E2841"/>
                    </a:solidFill>
                  </a:tcPr>
                </a:tc>
                <a:extLst>
                  <a:ext uri="{0D108BD9-81ED-4DB2-BD59-A6C34878D82A}">
                    <a16:rowId xmlns:a16="http://schemas.microsoft.com/office/drawing/2014/main" val="1564040789"/>
                  </a:ext>
                </a:extLst>
              </a:tr>
              <a:tr h="290695">
                <a:tc>
                  <a:txBody>
                    <a:bodyPr/>
                    <a:lstStyle/>
                    <a:p>
                      <a:pPr algn="ctr" fontAlgn="ctr">
                        <a:buNone/>
                      </a:pPr>
                      <a:r>
                        <a:rPr lang="ja-JP" altLang="en-US" sz="1100" b="0" i="0" u="none" strike="noStrike" dirty="0">
                          <a:solidFill>
                            <a:srgbClr val="000000"/>
                          </a:solidFill>
                          <a:effectLst/>
                          <a:latin typeface="メイリオ" panose="020B0604030504040204" pitchFamily="50" charset="-128"/>
                          <a:ea typeface="メイリオ" panose="020B0604030504040204" pitchFamily="50" charset="-128"/>
                        </a:rPr>
                        <a:t>アカウント開設</a:t>
                      </a:r>
                    </a:p>
                  </a:txBody>
                  <a:tcPr marL="9102" marR="9102" marT="131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r>
                        <a:rPr lang="en-US" altLang="ja-JP" sz="1000" b="0" i="0" u="none" strike="noStrike" dirty="0">
                          <a:solidFill>
                            <a:srgbClr val="000000"/>
                          </a:solidFill>
                          <a:effectLst/>
                          <a:latin typeface="メイリオ" panose="020B0604030504040204" pitchFamily="50" charset="-128"/>
                          <a:ea typeface="メイリオ" panose="020B0604030504040204" pitchFamily="50" charset="-128"/>
                        </a:rPr>
                        <a:t>¥30,000</a:t>
                      </a: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endParaRPr lang="en-US" altLang="ja-JP" sz="600" b="0" i="0" u="none" strike="noStrike" dirty="0">
                        <a:solidFill>
                          <a:srgbClr val="000000"/>
                        </a:solidFill>
                        <a:effectLst/>
                        <a:latin typeface="メイリオ" panose="020B0604030504040204" pitchFamily="50" charset="-128"/>
                        <a:ea typeface="メイリオ" panose="020B0604030504040204" pitchFamily="50" charset="-128"/>
                      </a:endParaRP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bg1">
                        <a:lumMod val="85000"/>
                      </a:schemeClr>
                    </a:solidFill>
                  </a:tcPr>
                </a:tc>
                <a:tc>
                  <a:txBody>
                    <a:bodyPr/>
                    <a:lstStyle/>
                    <a:p>
                      <a:pPr algn="l" fontAlgn="ctr">
                        <a:buNone/>
                      </a:pPr>
                      <a:endParaRPr lang="ja-JP" altLang="en-US" sz="1100" b="0" i="0" u="none" strike="noStrike">
                        <a:solidFill>
                          <a:srgbClr val="000000"/>
                        </a:solidFill>
                        <a:effectLst/>
                        <a:latin typeface="メイリオ" panose="020B0604030504040204" pitchFamily="50" charset="-128"/>
                        <a:ea typeface="メイリオ" panose="020B0604030504040204" pitchFamily="50" charset="-128"/>
                      </a:endParaRPr>
                    </a:p>
                  </a:txBody>
                  <a:tcPr marL="9102" marR="9102" marT="131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a:noFill/>
                    </a:lnT>
                    <a:lnB>
                      <a:noFill/>
                    </a:lnB>
                    <a:noFill/>
                  </a:tcPr>
                </a:tc>
                <a:tc>
                  <a:txBody>
                    <a:bodyPr/>
                    <a:lstStyle/>
                    <a:p>
                      <a:pPr algn="ctr" fontAlgn="ctr">
                        <a:buNone/>
                      </a:pPr>
                      <a:r>
                        <a:rPr lang="en-US" sz="1100" b="0" i="0" u="none" strike="noStrike" dirty="0">
                          <a:solidFill>
                            <a:srgbClr val="000000"/>
                          </a:solidFill>
                          <a:effectLst/>
                          <a:latin typeface="メイリオ" panose="020B0604030504040204" pitchFamily="50" charset="-128"/>
                          <a:ea typeface="メイリオ" panose="020B0604030504040204" pitchFamily="50" charset="-128"/>
                        </a:rPr>
                        <a:t>API</a:t>
                      </a:r>
                      <a:r>
                        <a:rPr lang="ja-JP" altLang="en-US" sz="1100" b="0" i="0" u="none" strike="noStrike" dirty="0">
                          <a:solidFill>
                            <a:srgbClr val="000000"/>
                          </a:solidFill>
                          <a:effectLst/>
                          <a:latin typeface="メイリオ" panose="020B0604030504040204" pitchFamily="50" charset="-128"/>
                          <a:ea typeface="メイリオ" panose="020B0604030504040204" pitchFamily="50" charset="-128"/>
                        </a:rPr>
                        <a:t>ツール導入</a:t>
                      </a:r>
                    </a:p>
                  </a:txBody>
                  <a:tcPr marL="9102" marR="9102" marT="131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r>
                        <a:rPr lang="en-US" altLang="ja-JP" sz="105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rPr>
                        <a:t>¥50,000~</a:t>
                      </a:r>
                    </a:p>
                  </a:txBody>
                  <a:tcPr marL="9102" marR="9102" marT="131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endParaRPr lang="en-US" altLang="ja-JP" sz="600" b="0" i="0" u="none" strike="noStrike" dirty="0">
                        <a:solidFill>
                          <a:srgbClr val="000000"/>
                        </a:solidFill>
                        <a:effectLst/>
                        <a:latin typeface="メイリオ" panose="020B0604030504040204" pitchFamily="50" charset="-128"/>
                        <a:ea typeface="メイリオ" panose="020B0604030504040204" pitchFamily="50" charset="-128"/>
                      </a:endParaRP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bg1">
                        <a:lumMod val="85000"/>
                      </a:schemeClr>
                    </a:solidFill>
                  </a:tcPr>
                </a:tc>
                <a:extLst>
                  <a:ext uri="{0D108BD9-81ED-4DB2-BD59-A6C34878D82A}">
                    <a16:rowId xmlns:a16="http://schemas.microsoft.com/office/drawing/2014/main" val="1420324702"/>
                  </a:ext>
                </a:extLst>
              </a:tr>
              <a:tr h="290695">
                <a:tc>
                  <a:txBody>
                    <a:bodyPr/>
                    <a:lstStyle/>
                    <a:p>
                      <a:pPr algn="ctr" fontAlgn="ctr">
                        <a:buNone/>
                      </a:pPr>
                      <a:r>
                        <a:rPr lang="ja-JP" altLang="en-US" sz="1100" b="0" i="0" u="none" strike="noStrike" dirty="0">
                          <a:solidFill>
                            <a:srgbClr val="000000"/>
                          </a:solidFill>
                          <a:effectLst/>
                          <a:latin typeface="メイリオ" panose="020B0604030504040204" pitchFamily="50" charset="-128"/>
                          <a:ea typeface="メイリオ" panose="020B0604030504040204" pitchFamily="50" charset="-128"/>
                        </a:rPr>
                        <a:t>プロフィール</a:t>
                      </a:r>
                    </a:p>
                  </a:txBody>
                  <a:tcPr marL="9102" marR="9102" marT="131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r>
                        <a:rPr lang="en-US" altLang="ja-JP" sz="1000" b="0" i="0" u="none" strike="noStrike" dirty="0">
                          <a:solidFill>
                            <a:srgbClr val="000000"/>
                          </a:solidFill>
                          <a:effectLst/>
                          <a:latin typeface="メイリオ" panose="020B0604030504040204" pitchFamily="50" charset="-128"/>
                          <a:ea typeface="メイリオ" panose="020B0604030504040204" pitchFamily="50" charset="-128"/>
                        </a:rPr>
                        <a:t>¥30,000</a:t>
                      </a: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endParaRPr lang="en-US" altLang="ja-JP" sz="600" b="0" i="0" u="none" strike="noStrike" dirty="0">
                        <a:solidFill>
                          <a:srgbClr val="000000"/>
                        </a:solidFill>
                        <a:effectLst/>
                        <a:latin typeface="メイリオ" panose="020B0604030504040204" pitchFamily="50" charset="-128"/>
                        <a:ea typeface="メイリオ" panose="020B0604030504040204" pitchFamily="50" charset="-128"/>
                      </a:endParaRP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bg1">
                        <a:lumMod val="85000"/>
                      </a:schemeClr>
                    </a:solidFill>
                  </a:tcPr>
                </a:tc>
                <a:tc>
                  <a:txBody>
                    <a:bodyPr/>
                    <a:lstStyle/>
                    <a:p>
                      <a:pPr algn="l" fontAlgn="ctr">
                        <a:buNone/>
                      </a:pPr>
                      <a:endParaRPr lang="ja-JP" altLang="en-US" sz="1100" b="0" i="0" u="none" strike="noStrike">
                        <a:solidFill>
                          <a:srgbClr val="000000"/>
                        </a:solidFill>
                        <a:effectLst/>
                        <a:latin typeface="メイリオ" panose="020B0604030504040204" pitchFamily="50" charset="-128"/>
                        <a:ea typeface="メイリオ" panose="020B0604030504040204" pitchFamily="50" charset="-128"/>
                      </a:endParaRPr>
                    </a:p>
                  </a:txBody>
                  <a:tcPr marL="9102" marR="9102" marT="131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a:noFill/>
                    </a:lnT>
                    <a:lnB>
                      <a:noFill/>
                    </a:lnB>
                    <a:noFill/>
                  </a:tcPr>
                </a:tc>
                <a:tc>
                  <a:txBody>
                    <a:bodyPr/>
                    <a:lstStyle/>
                    <a:p>
                      <a:pPr algn="ctr" fontAlgn="ctr">
                        <a:buNone/>
                      </a:pPr>
                      <a:r>
                        <a:rPr lang="en-US" sz="1100" b="0" i="0" u="none" strike="noStrike">
                          <a:solidFill>
                            <a:srgbClr val="000000"/>
                          </a:solidFill>
                          <a:effectLst/>
                          <a:latin typeface="メイリオ" panose="020B0604030504040204" pitchFamily="50" charset="-128"/>
                          <a:ea typeface="メイリオ" panose="020B0604030504040204" pitchFamily="50" charset="-128"/>
                        </a:rPr>
                        <a:t>ID</a:t>
                      </a:r>
                      <a:r>
                        <a:rPr lang="ja-JP" altLang="en-US" sz="1100" b="0" i="0" u="none" strike="noStrike">
                          <a:solidFill>
                            <a:srgbClr val="000000"/>
                          </a:solidFill>
                          <a:effectLst/>
                          <a:latin typeface="メイリオ" panose="020B0604030504040204" pitchFamily="50" charset="-128"/>
                          <a:ea typeface="メイリオ" panose="020B0604030504040204" pitchFamily="50" charset="-128"/>
                        </a:rPr>
                        <a:t>連携</a:t>
                      </a:r>
                    </a:p>
                  </a:txBody>
                  <a:tcPr marL="9102" marR="9102" marT="131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marL="0" algn="ctr" rtl="0" eaLnBrk="1" fontAlgn="ctr" latinLnBrk="0" hangingPunct="1">
                        <a:buNone/>
                      </a:pPr>
                      <a:r>
                        <a:rPr kumimoji="1" lang="en-US" sz="1050" b="0" i="0" u="none" strike="noStrike" kern="1200" dirty="0">
                          <a:solidFill>
                            <a:schemeClr val="tx1">
                              <a:lumMod val="50000"/>
                              <a:lumOff val="50000"/>
                            </a:schemeClr>
                          </a:solidFill>
                          <a:effectLst/>
                          <a:latin typeface="メイリオ" panose="020B0604030504040204" pitchFamily="50" charset="-128"/>
                          <a:ea typeface="メイリオ" panose="020B0604030504040204" pitchFamily="50" charset="-128"/>
                        </a:rPr>
                        <a:t>¥200,000~</a:t>
                      </a:r>
                      <a:endParaRPr lang="en-US" altLang="ja-JP" sz="2800" b="0" i="0" u="none" strike="noStrike" dirty="0">
                        <a:solidFill>
                          <a:schemeClr val="tx1">
                            <a:lumMod val="50000"/>
                            <a:lumOff val="50000"/>
                          </a:schemeClr>
                        </a:solidFill>
                        <a:effectLst/>
                        <a:latin typeface="Arial" panose="020B0604020202020204" pitchFamily="34" charset="0"/>
                      </a:endParaRPr>
                    </a:p>
                  </a:txBody>
                  <a:tcPr marL="9144" marR="9144" marT="9144"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endParaRPr lang="en-US" altLang="ja-JP" sz="600" b="0" i="0" u="none" strike="noStrike" dirty="0">
                        <a:solidFill>
                          <a:srgbClr val="000000"/>
                        </a:solidFill>
                        <a:effectLst/>
                        <a:latin typeface="メイリオ" panose="020B0604030504040204" pitchFamily="50" charset="-128"/>
                        <a:ea typeface="メイリオ" panose="020B0604030504040204" pitchFamily="50" charset="-128"/>
                      </a:endParaRP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bg1">
                        <a:lumMod val="85000"/>
                      </a:schemeClr>
                    </a:solidFill>
                  </a:tcPr>
                </a:tc>
                <a:extLst>
                  <a:ext uri="{0D108BD9-81ED-4DB2-BD59-A6C34878D82A}">
                    <a16:rowId xmlns:a16="http://schemas.microsoft.com/office/drawing/2014/main" val="1272466269"/>
                  </a:ext>
                </a:extLst>
              </a:tr>
              <a:tr h="290695">
                <a:tc>
                  <a:txBody>
                    <a:bodyPr/>
                    <a:lstStyle/>
                    <a:p>
                      <a:pPr algn="ctr" fontAlgn="ctr">
                        <a:buNone/>
                      </a:pPr>
                      <a:r>
                        <a:rPr lang="ja-JP" altLang="en-US" sz="1100" b="0" i="0" u="none" strike="noStrike" dirty="0">
                          <a:solidFill>
                            <a:srgbClr val="000000"/>
                          </a:solidFill>
                          <a:effectLst/>
                          <a:latin typeface="メイリオ" panose="020B0604030504040204" pitchFamily="50" charset="-128"/>
                          <a:ea typeface="メイリオ" panose="020B0604030504040204" pitchFamily="50" charset="-128"/>
                        </a:rPr>
                        <a:t>リッチメニュー</a:t>
                      </a:r>
                    </a:p>
                  </a:txBody>
                  <a:tcPr marL="9102" marR="9102" marT="131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r>
                        <a:rPr lang="en-US" altLang="ja-JP" sz="1000" b="0" i="0" u="none" strike="noStrike" dirty="0">
                          <a:solidFill>
                            <a:srgbClr val="000000"/>
                          </a:solidFill>
                          <a:effectLst/>
                          <a:latin typeface="メイリオ" panose="020B0604030504040204" pitchFamily="50" charset="-128"/>
                          <a:ea typeface="メイリオ" panose="020B0604030504040204" pitchFamily="50" charset="-128"/>
                        </a:rPr>
                        <a:t>¥30,000</a:t>
                      </a: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endParaRPr lang="en-US" altLang="ja-JP" sz="600" b="0" i="0" u="none" strike="noStrike" dirty="0">
                        <a:solidFill>
                          <a:srgbClr val="000000"/>
                        </a:solidFill>
                        <a:effectLst/>
                        <a:latin typeface="メイリオ" panose="020B0604030504040204" pitchFamily="50" charset="-128"/>
                        <a:ea typeface="メイリオ" panose="020B0604030504040204" pitchFamily="50" charset="-128"/>
                      </a:endParaRP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bg1">
                        <a:lumMod val="85000"/>
                      </a:schemeClr>
                    </a:solidFill>
                  </a:tcPr>
                </a:tc>
                <a:tc>
                  <a:txBody>
                    <a:bodyPr/>
                    <a:lstStyle/>
                    <a:p>
                      <a:pPr algn="l" fontAlgn="ctr">
                        <a:buNone/>
                      </a:pPr>
                      <a:endParaRPr lang="ja-JP" altLang="en-US" sz="1100" b="0" i="0" u="none" strike="noStrike">
                        <a:solidFill>
                          <a:srgbClr val="000000"/>
                        </a:solidFill>
                        <a:effectLst/>
                        <a:latin typeface="メイリオ" panose="020B0604030504040204" pitchFamily="50" charset="-128"/>
                        <a:ea typeface="メイリオ" panose="020B0604030504040204" pitchFamily="50" charset="-128"/>
                      </a:endParaRPr>
                    </a:p>
                  </a:txBody>
                  <a:tcPr marL="9102" marR="9102" marT="131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a:noFill/>
                    </a:lnT>
                    <a:lnB>
                      <a:noFill/>
                    </a:lnB>
                    <a:noFill/>
                  </a:tcPr>
                </a:tc>
                <a:tc>
                  <a:txBody>
                    <a:bodyPr/>
                    <a:lstStyle/>
                    <a:p>
                      <a:pPr algn="ctr" fontAlgn="ctr">
                        <a:buNone/>
                      </a:pPr>
                      <a:r>
                        <a:rPr lang="en-US" sz="1100" b="0" i="0" u="none" strike="noStrike">
                          <a:solidFill>
                            <a:srgbClr val="000000"/>
                          </a:solidFill>
                          <a:effectLst/>
                          <a:latin typeface="メイリオ" panose="020B0604030504040204" pitchFamily="50" charset="-128"/>
                          <a:ea typeface="メイリオ" panose="020B0604030504040204" pitchFamily="50" charset="-128"/>
                        </a:rPr>
                        <a:t>LINE</a:t>
                      </a:r>
                      <a:r>
                        <a:rPr lang="ja-JP" altLang="en-US" sz="1100" b="0" i="0" u="none" strike="noStrike">
                          <a:solidFill>
                            <a:srgbClr val="000000"/>
                          </a:solidFill>
                          <a:effectLst/>
                          <a:latin typeface="メイリオ" panose="020B0604030504040204" pitchFamily="50" charset="-128"/>
                          <a:ea typeface="メイリオ" panose="020B0604030504040204" pitchFamily="50" charset="-128"/>
                        </a:rPr>
                        <a:t>ログイン</a:t>
                      </a:r>
                    </a:p>
                  </a:txBody>
                  <a:tcPr marL="9102" marR="9102" marT="131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marL="0" algn="ctr" rtl="0" eaLnBrk="1" fontAlgn="ctr" latinLnBrk="0" hangingPunct="1">
                        <a:buNone/>
                      </a:pPr>
                      <a:r>
                        <a:rPr kumimoji="1" lang="en-US" sz="1050" b="0" i="0" u="none" strike="noStrike" kern="1200" dirty="0">
                          <a:solidFill>
                            <a:schemeClr val="tx1">
                              <a:lumMod val="50000"/>
                              <a:lumOff val="50000"/>
                            </a:schemeClr>
                          </a:solidFill>
                          <a:effectLst/>
                          <a:latin typeface="メイリオ" panose="020B0604030504040204" pitchFamily="50" charset="-128"/>
                          <a:ea typeface="メイリオ" panose="020B0604030504040204" pitchFamily="50" charset="-128"/>
                        </a:rPr>
                        <a:t>¥0</a:t>
                      </a:r>
                      <a:endParaRPr lang="en-US" altLang="ja-JP" sz="2800" b="0" i="0" u="none" strike="noStrike" dirty="0">
                        <a:solidFill>
                          <a:schemeClr val="tx1">
                            <a:lumMod val="50000"/>
                            <a:lumOff val="50000"/>
                          </a:schemeClr>
                        </a:solidFill>
                        <a:effectLst/>
                        <a:latin typeface="Arial" panose="020B0604020202020204" pitchFamily="34" charset="0"/>
                      </a:endParaRPr>
                    </a:p>
                  </a:txBody>
                  <a:tcPr marL="9144" marR="9144" marT="9144"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endParaRPr lang="en-US" altLang="ja-JP" sz="600" b="0" i="0" u="none" strike="noStrike" dirty="0">
                        <a:solidFill>
                          <a:srgbClr val="000000"/>
                        </a:solidFill>
                        <a:effectLst/>
                        <a:latin typeface="メイリオ" panose="020B0604030504040204" pitchFamily="50" charset="-128"/>
                        <a:ea typeface="メイリオ" panose="020B0604030504040204" pitchFamily="50" charset="-128"/>
                      </a:endParaRP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bg1">
                        <a:lumMod val="85000"/>
                      </a:schemeClr>
                    </a:solidFill>
                  </a:tcPr>
                </a:tc>
                <a:extLst>
                  <a:ext uri="{0D108BD9-81ED-4DB2-BD59-A6C34878D82A}">
                    <a16:rowId xmlns:a16="http://schemas.microsoft.com/office/drawing/2014/main" val="843180495"/>
                  </a:ext>
                </a:extLst>
              </a:tr>
              <a:tr h="290695">
                <a:tc>
                  <a:txBody>
                    <a:bodyPr/>
                    <a:lstStyle/>
                    <a:p>
                      <a:pPr algn="ctr" fontAlgn="ctr">
                        <a:buNone/>
                      </a:pPr>
                      <a:r>
                        <a:rPr lang="ja-JP" altLang="en-US" sz="1100" b="0" i="0" u="none" strike="noStrike" dirty="0">
                          <a:solidFill>
                            <a:srgbClr val="000000"/>
                          </a:solidFill>
                          <a:effectLst/>
                          <a:latin typeface="メイリオ" panose="020B0604030504040204" pitchFamily="50" charset="-128"/>
                          <a:ea typeface="メイリオ" panose="020B0604030504040204" pitchFamily="50" charset="-128"/>
                        </a:rPr>
                        <a:t>あいさつメッセージ</a:t>
                      </a:r>
                    </a:p>
                  </a:txBody>
                  <a:tcPr marL="9102" marR="9102" marT="131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r>
                        <a:rPr lang="en-US" altLang="ja-JP" sz="1000" b="0" i="0" u="none" strike="noStrike" dirty="0">
                          <a:solidFill>
                            <a:srgbClr val="000000"/>
                          </a:solidFill>
                          <a:effectLst/>
                          <a:latin typeface="メイリオ" panose="020B0604030504040204" pitchFamily="50" charset="-128"/>
                          <a:ea typeface="メイリオ" panose="020B0604030504040204" pitchFamily="50" charset="-128"/>
                        </a:rPr>
                        <a:t>¥30,000</a:t>
                      </a: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endParaRPr lang="en-US" altLang="ja-JP" sz="600" b="0" i="0" u="none" strike="noStrike" dirty="0">
                        <a:solidFill>
                          <a:srgbClr val="000000"/>
                        </a:solidFill>
                        <a:effectLst/>
                        <a:latin typeface="メイリオ" panose="020B0604030504040204" pitchFamily="50" charset="-128"/>
                        <a:ea typeface="メイリオ" panose="020B0604030504040204" pitchFamily="50" charset="-128"/>
                      </a:endParaRP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bg1">
                        <a:lumMod val="85000"/>
                      </a:schemeClr>
                    </a:solidFill>
                  </a:tcPr>
                </a:tc>
                <a:tc>
                  <a:txBody>
                    <a:bodyPr/>
                    <a:lstStyle/>
                    <a:p>
                      <a:pPr algn="l" fontAlgn="ctr">
                        <a:buNone/>
                      </a:pPr>
                      <a:endParaRPr lang="ja-JP" altLang="en-US" sz="1100" b="0" i="0" u="none" strike="noStrike">
                        <a:solidFill>
                          <a:srgbClr val="000000"/>
                        </a:solidFill>
                        <a:effectLst/>
                        <a:latin typeface="メイリオ" panose="020B0604030504040204" pitchFamily="50" charset="-128"/>
                        <a:ea typeface="メイリオ" panose="020B0604030504040204" pitchFamily="50" charset="-128"/>
                      </a:endParaRPr>
                    </a:p>
                  </a:txBody>
                  <a:tcPr marL="9102" marR="9102" marT="131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a:noFill/>
                    </a:lnT>
                    <a:lnB>
                      <a:noFill/>
                    </a:lnB>
                    <a:noFill/>
                  </a:tcPr>
                </a:tc>
                <a:tc>
                  <a:txBody>
                    <a:bodyPr/>
                    <a:lstStyle/>
                    <a:p>
                      <a:pPr algn="ctr" fontAlgn="ctr">
                        <a:buNone/>
                      </a:pPr>
                      <a:r>
                        <a:rPr lang="ja-JP" altLang="en-US" sz="1100" b="0" i="0" u="none" strike="noStrike">
                          <a:solidFill>
                            <a:srgbClr val="000000"/>
                          </a:solidFill>
                          <a:effectLst/>
                          <a:latin typeface="メイリオ" panose="020B0604030504040204" pitchFamily="50" charset="-128"/>
                          <a:ea typeface="メイリオ" panose="020B0604030504040204" pitchFamily="50" charset="-128"/>
                        </a:rPr>
                        <a:t>通知メッセージ</a:t>
                      </a:r>
                    </a:p>
                  </a:txBody>
                  <a:tcPr marL="9102" marR="9102" marT="131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r>
                        <a:rPr lang="en-US" altLang="ja-JP" sz="105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rPr>
                        <a:t>¥200,000~</a:t>
                      </a:r>
                    </a:p>
                  </a:txBody>
                  <a:tcPr marL="9102" marR="9102" marT="131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endParaRPr lang="en-US" altLang="ja-JP" sz="600" b="0" i="0" u="none" strike="noStrike" dirty="0">
                        <a:solidFill>
                          <a:srgbClr val="000000"/>
                        </a:solidFill>
                        <a:effectLst/>
                        <a:latin typeface="メイリオ" panose="020B0604030504040204" pitchFamily="50" charset="-128"/>
                        <a:ea typeface="メイリオ" panose="020B0604030504040204" pitchFamily="50" charset="-128"/>
                      </a:endParaRP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bg1">
                        <a:lumMod val="85000"/>
                      </a:schemeClr>
                    </a:solidFill>
                  </a:tcPr>
                </a:tc>
                <a:extLst>
                  <a:ext uri="{0D108BD9-81ED-4DB2-BD59-A6C34878D82A}">
                    <a16:rowId xmlns:a16="http://schemas.microsoft.com/office/drawing/2014/main" val="3295619942"/>
                  </a:ext>
                </a:extLst>
              </a:tr>
              <a:tr h="290695">
                <a:tc>
                  <a:txBody>
                    <a:bodyPr/>
                    <a:lstStyle/>
                    <a:p>
                      <a:pPr algn="ctr" fontAlgn="ctr">
                        <a:buNone/>
                      </a:pPr>
                      <a:r>
                        <a:rPr lang="ja-JP" altLang="en-US" sz="1100" b="0" i="0" u="none" strike="noStrike" dirty="0">
                          <a:solidFill>
                            <a:srgbClr val="000000"/>
                          </a:solidFill>
                          <a:effectLst/>
                          <a:latin typeface="メイリオ" panose="020B0604030504040204" pitchFamily="50" charset="-128"/>
                          <a:ea typeface="メイリオ" panose="020B0604030504040204" pitchFamily="50" charset="-128"/>
                        </a:rPr>
                        <a:t>初期アンケート</a:t>
                      </a:r>
                    </a:p>
                  </a:txBody>
                  <a:tcPr marL="9102" marR="9102" marT="131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r>
                        <a:rPr lang="en-US" altLang="ja-JP" sz="1000" b="0" i="0" u="none" strike="noStrike" dirty="0">
                          <a:solidFill>
                            <a:srgbClr val="000000"/>
                          </a:solidFill>
                          <a:effectLst/>
                          <a:latin typeface="メイリオ" panose="020B0604030504040204" pitchFamily="50" charset="-128"/>
                          <a:ea typeface="メイリオ" panose="020B0604030504040204" pitchFamily="50" charset="-128"/>
                        </a:rPr>
                        <a:t>¥50,000</a:t>
                      </a: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endParaRPr lang="en-US" altLang="ja-JP" sz="600" b="0" i="0" u="none" strike="noStrike" dirty="0">
                        <a:solidFill>
                          <a:srgbClr val="000000"/>
                        </a:solidFill>
                        <a:effectLst/>
                        <a:latin typeface="メイリオ" panose="020B0604030504040204" pitchFamily="50" charset="-128"/>
                        <a:ea typeface="メイリオ" panose="020B0604030504040204" pitchFamily="50" charset="-128"/>
                      </a:endParaRP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bg1">
                        <a:lumMod val="85000"/>
                      </a:schemeClr>
                    </a:solidFill>
                  </a:tcPr>
                </a:tc>
                <a:tc>
                  <a:txBody>
                    <a:bodyPr/>
                    <a:lstStyle/>
                    <a:p>
                      <a:pPr algn="l" fontAlgn="ctr">
                        <a:buNone/>
                      </a:pPr>
                      <a:endParaRPr lang="ja-JP" altLang="en-US" sz="1100" b="0" i="0" u="none" strike="noStrike">
                        <a:solidFill>
                          <a:srgbClr val="000000"/>
                        </a:solidFill>
                        <a:effectLst/>
                        <a:latin typeface="メイリオ" panose="020B0604030504040204" pitchFamily="50" charset="-128"/>
                        <a:ea typeface="メイリオ" panose="020B0604030504040204" pitchFamily="50" charset="-128"/>
                      </a:endParaRPr>
                    </a:p>
                  </a:txBody>
                  <a:tcPr marL="9102" marR="9102" marT="131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a:noFill/>
                    </a:lnT>
                    <a:lnB>
                      <a:noFill/>
                    </a:lnB>
                    <a:noFill/>
                  </a:tcPr>
                </a:tc>
                <a:tc>
                  <a:txBody>
                    <a:bodyPr/>
                    <a:lstStyle/>
                    <a:p>
                      <a:pPr algn="ctr" fontAlgn="ctr">
                        <a:buNone/>
                      </a:pPr>
                      <a:r>
                        <a:rPr lang="ja-JP" altLang="en-US" sz="1100" b="0" i="0" u="none" strike="noStrike" dirty="0">
                          <a:solidFill>
                            <a:srgbClr val="000000"/>
                          </a:solidFill>
                          <a:effectLst/>
                          <a:latin typeface="メイリオ" panose="020B0604030504040204" pitchFamily="50" charset="-128"/>
                          <a:ea typeface="メイリオ" panose="020B0604030504040204" pitchFamily="50" charset="-128"/>
                        </a:rPr>
                        <a:t>チャットボット機能</a:t>
                      </a:r>
                    </a:p>
                  </a:txBody>
                  <a:tcPr marL="9102" marR="9102" marT="131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r>
                        <a:rPr lang="en-US" altLang="ja-JP" sz="105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rPr>
                        <a:t>¥50,000~</a:t>
                      </a:r>
                    </a:p>
                  </a:txBody>
                  <a:tcPr marL="9102" marR="9102" marT="131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endParaRPr lang="en-US" altLang="ja-JP" sz="600" b="0" i="0" u="none" strike="noStrike" dirty="0">
                        <a:solidFill>
                          <a:srgbClr val="000000"/>
                        </a:solidFill>
                        <a:effectLst/>
                        <a:latin typeface="メイリオ" panose="020B0604030504040204" pitchFamily="50" charset="-128"/>
                        <a:ea typeface="メイリオ" panose="020B0604030504040204" pitchFamily="50" charset="-128"/>
                      </a:endParaRP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bg1">
                        <a:lumMod val="85000"/>
                      </a:schemeClr>
                    </a:solidFill>
                  </a:tcPr>
                </a:tc>
                <a:extLst>
                  <a:ext uri="{0D108BD9-81ED-4DB2-BD59-A6C34878D82A}">
                    <a16:rowId xmlns:a16="http://schemas.microsoft.com/office/drawing/2014/main" val="3498230469"/>
                  </a:ext>
                </a:extLst>
              </a:tr>
              <a:tr h="290695">
                <a:tc>
                  <a:txBody>
                    <a:bodyPr/>
                    <a:lstStyle/>
                    <a:p>
                      <a:pPr algn="ctr" fontAlgn="ctr">
                        <a:buNone/>
                      </a:pPr>
                      <a:r>
                        <a:rPr lang="en-US" sz="1100" b="0" i="0" u="none" strike="noStrike" dirty="0">
                          <a:solidFill>
                            <a:srgbClr val="000000"/>
                          </a:solidFill>
                          <a:effectLst/>
                          <a:latin typeface="メイリオ" panose="020B0604030504040204" pitchFamily="50" charset="-128"/>
                          <a:ea typeface="メイリオ" panose="020B0604030504040204" pitchFamily="50" charset="-128"/>
                        </a:rPr>
                        <a:t>KW</a:t>
                      </a:r>
                      <a:r>
                        <a:rPr lang="ja-JP" altLang="en-US" sz="1100" b="0" i="0" u="none" strike="noStrike" dirty="0">
                          <a:solidFill>
                            <a:srgbClr val="000000"/>
                          </a:solidFill>
                          <a:effectLst/>
                          <a:latin typeface="メイリオ" panose="020B0604030504040204" pitchFamily="50" charset="-128"/>
                          <a:ea typeface="メイリオ" panose="020B0604030504040204" pitchFamily="50" charset="-128"/>
                        </a:rPr>
                        <a:t>の自動応答</a:t>
                      </a:r>
                    </a:p>
                  </a:txBody>
                  <a:tcPr marL="9102" marR="9102" marT="131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r>
                        <a:rPr lang="en-US" altLang="ja-JP" sz="1000" b="0" i="0" u="none" strike="noStrike" dirty="0">
                          <a:solidFill>
                            <a:srgbClr val="000000"/>
                          </a:solidFill>
                          <a:effectLst/>
                          <a:latin typeface="メイリオ" panose="020B0604030504040204" pitchFamily="50" charset="-128"/>
                          <a:ea typeface="メイリオ" panose="020B0604030504040204" pitchFamily="50" charset="-128"/>
                        </a:rPr>
                        <a:t>¥30,000</a:t>
                      </a: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endParaRPr lang="en-US" altLang="ja-JP" sz="600" b="0" i="0" u="none" strike="noStrike" dirty="0">
                        <a:solidFill>
                          <a:srgbClr val="000000"/>
                        </a:solidFill>
                        <a:effectLst/>
                        <a:latin typeface="メイリオ" panose="020B0604030504040204" pitchFamily="50" charset="-128"/>
                        <a:ea typeface="メイリオ" panose="020B0604030504040204" pitchFamily="50" charset="-128"/>
                      </a:endParaRP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bg1">
                        <a:lumMod val="85000"/>
                      </a:schemeClr>
                    </a:solidFill>
                  </a:tcPr>
                </a:tc>
                <a:tc>
                  <a:txBody>
                    <a:bodyPr/>
                    <a:lstStyle/>
                    <a:p>
                      <a:pPr algn="l" fontAlgn="ctr">
                        <a:buNone/>
                      </a:pPr>
                      <a:endParaRPr lang="ja-JP" altLang="en-US" sz="1100" b="0" i="0" u="none" strike="noStrike" dirty="0">
                        <a:solidFill>
                          <a:srgbClr val="000000"/>
                        </a:solidFill>
                        <a:effectLst/>
                        <a:latin typeface="メイリオ" panose="020B0604030504040204" pitchFamily="50" charset="-128"/>
                        <a:ea typeface="メイリオ" panose="020B0604030504040204" pitchFamily="50" charset="-128"/>
                      </a:endParaRPr>
                    </a:p>
                  </a:txBody>
                  <a:tcPr marL="9102" marR="9102" marT="131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a:noFill/>
                    </a:lnT>
                    <a:lnB>
                      <a:noFill/>
                    </a:lnB>
                    <a:noFill/>
                  </a:tcPr>
                </a:tc>
                <a:tc>
                  <a:txBody>
                    <a:bodyPr/>
                    <a:lstStyle/>
                    <a:p>
                      <a:pPr algn="ctr" fontAlgn="ctr">
                        <a:buNone/>
                      </a:pPr>
                      <a:r>
                        <a:rPr lang="en-US" sz="1100" b="0" i="0" u="none" strike="noStrike" dirty="0">
                          <a:solidFill>
                            <a:srgbClr val="000000"/>
                          </a:solidFill>
                          <a:effectLst/>
                          <a:latin typeface="メイリオ" panose="020B0604030504040204" pitchFamily="50" charset="-128"/>
                          <a:ea typeface="メイリオ" panose="020B0604030504040204" pitchFamily="50" charset="-128"/>
                        </a:rPr>
                        <a:t>Chat Plus</a:t>
                      </a:r>
                    </a:p>
                  </a:txBody>
                  <a:tcPr marL="9102" marR="9102" marT="131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r>
                        <a:rPr lang="en-US" altLang="ja-JP" sz="105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rPr>
                        <a:t>¥30,000~</a:t>
                      </a:r>
                    </a:p>
                  </a:txBody>
                  <a:tcPr marL="9102" marR="9102" marT="131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endParaRPr lang="en-US" altLang="ja-JP" sz="600" b="0" i="0" u="none" strike="noStrike" dirty="0">
                        <a:solidFill>
                          <a:srgbClr val="000000"/>
                        </a:solidFill>
                        <a:effectLst/>
                        <a:latin typeface="メイリオ" panose="020B0604030504040204" pitchFamily="50" charset="-128"/>
                        <a:ea typeface="メイリオ" panose="020B0604030504040204" pitchFamily="50" charset="-128"/>
                      </a:endParaRP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bg1">
                        <a:lumMod val="85000"/>
                      </a:schemeClr>
                    </a:solidFill>
                  </a:tcPr>
                </a:tc>
                <a:extLst>
                  <a:ext uri="{0D108BD9-81ED-4DB2-BD59-A6C34878D82A}">
                    <a16:rowId xmlns:a16="http://schemas.microsoft.com/office/drawing/2014/main" val="141305542"/>
                  </a:ext>
                </a:extLst>
              </a:tr>
              <a:tr h="290695">
                <a:tc>
                  <a:txBody>
                    <a:bodyPr/>
                    <a:lstStyle/>
                    <a:p>
                      <a:pPr algn="ctr" fontAlgn="ctr">
                        <a:buNone/>
                      </a:pPr>
                      <a:r>
                        <a:rPr lang="ja-JP" altLang="en-US" sz="1100" b="0" i="0" u="none" strike="noStrike" dirty="0">
                          <a:solidFill>
                            <a:srgbClr val="000000"/>
                          </a:solidFill>
                          <a:effectLst/>
                          <a:latin typeface="メイリオ" panose="020B0604030504040204" pitchFamily="50" charset="-128"/>
                          <a:ea typeface="メイリオ" panose="020B0604030504040204" pitchFamily="50" charset="-128"/>
                        </a:rPr>
                        <a:t>ステップ配信</a:t>
                      </a:r>
                    </a:p>
                  </a:txBody>
                  <a:tcPr marL="9102" marR="9102" marT="131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r>
                        <a:rPr lang="en-US" altLang="ja-JP" sz="1000" b="0" i="0" u="none" strike="noStrike" dirty="0">
                          <a:solidFill>
                            <a:srgbClr val="000000"/>
                          </a:solidFill>
                          <a:effectLst/>
                          <a:latin typeface="メイリオ" panose="020B0604030504040204" pitchFamily="50" charset="-128"/>
                          <a:ea typeface="メイリオ" panose="020B0604030504040204" pitchFamily="50" charset="-128"/>
                        </a:rPr>
                        <a:t>¥50,000</a:t>
                      </a: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endParaRPr lang="en-US" altLang="ja-JP" sz="600" b="0" i="0" u="none" strike="noStrike" dirty="0">
                        <a:solidFill>
                          <a:srgbClr val="000000"/>
                        </a:solidFill>
                        <a:effectLst/>
                        <a:latin typeface="メイリオ" panose="020B0604030504040204" pitchFamily="50" charset="-128"/>
                        <a:ea typeface="メイリオ" panose="020B0604030504040204" pitchFamily="50" charset="-128"/>
                      </a:endParaRP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bg1">
                        <a:lumMod val="85000"/>
                      </a:schemeClr>
                    </a:solidFill>
                  </a:tcPr>
                </a:tc>
                <a:tc>
                  <a:txBody>
                    <a:bodyPr/>
                    <a:lstStyle/>
                    <a:p>
                      <a:pPr algn="l" fontAlgn="ctr">
                        <a:buNone/>
                      </a:pPr>
                      <a:endParaRPr lang="ja-JP" altLang="en-US" sz="1100" b="0" i="0" u="none" strike="noStrike" dirty="0">
                        <a:solidFill>
                          <a:srgbClr val="000000"/>
                        </a:solidFill>
                        <a:effectLst/>
                        <a:latin typeface="メイリオ" panose="020B0604030504040204" pitchFamily="50" charset="-128"/>
                        <a:ea typeface="メイリオ" panose="020B0604030504040204" pitchFamily="50" charset="-128"/>
                      </a:endParaRPr>
                    </a:p>
                  </a:txBody>
                  <a:tcPr marL="9102" marR="9102" marT="131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a:noFill/>
                    </a:lnT>
                    <a:lnB>
                      <a:noFill/>
                    </a:lnB>
                    <a:noFill/>
                  </a:tcPr>
                </a:tc>
                <a:tc>
                  <a:txBody>
                    <a:bodyPr/>
                    <a:lstStyle/>
                    <a:p>
                      <a:pPr algn="ctr" fontAlgn="ctr">
                        <a:buNone/>
                      </a:pPr>
                      <a:r>
                        <a:rPr lang="en-US" sz="1100" b="0" i="0" u="none" strike="noStrike">
                          <a:solidFill>
                            <a:srgbClr val="000000"/>
                          </a:solidFill>
                          <a:effectLst/>
                          <a:latin typeface="メイリオ" panose="020B0604030504040204" pitchFamily="50" charset="-128"/>
                          <a:ea typeface="メイリオ" panose="020B0604030504040204" pitchFamily="50" charset="-128"/>
                        </a:rPr>
                        <a:t>Call Plus</a:t>
                      </a:r>
                    </a:p>
                  </a:txBody>
                  <a:tcPr marL="9102" marR="9102" marT="131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r>
                        <a:rPr lang="en-US" altLang="ja-JP" sz="105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rPr>
                        <a:t>¥200,000</a:t>
                      </a:r>
                    </a:p>
                  </a:txBody>
                  <a:tcPr marL="9102" marR="9102" marT="131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endParaRPr lang="en-US" altLang="ja-JP" sz="600" b="0" i="0" u="none" strike="noStrike" dirty="0">
                        <a:solidFill>
                          <a:srgbClr val="000000"/>
                        </a:solidFill>
                        <a:effectLst/>
                        <a:latin typeface="メイリオ" panose="020B0604030504040204" pitchFamily="50" charset="-128"/>
                        <a:ea typeface="メイリオ" panose="020B0604030504040204" pitchFamily="50" charset="-128"/>
                      </a:endParaRP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bg1">
                        <a:lumMod val="85000"/>
                      </a:schemeClr>
                    </a:solidFill>
                  </a:tcPr>
                </a:tc>
                <a:extLst>
                  <a:ext uri="{0D108BD9-81ED-4DB2-BD59-A6C34878D82A}">
                    <a16:rowId xmlns:a16="http://schemas.microsoft.com/office/drawing/2014/main" val="4011135084"/>
                  </a:ext>
                </a:extLst>
              </a:tr>
              <a:tr h="290695">
                <a:tc>
                  <a:txBody>
                    <a:bodyPr/>
                    <a:lstStyle/>
                    <a:p>
                      <a:pPr algn="ctr" fontAlgn="ctr">
                        <a:buNone/>
                      </a:pPr>
                      <a:r>
                        <a:rPr lang="ja-JP" altLang="en-US" sz="1100" b="0" i="0" u="none" strike="noStrike" dirty="0">
                          <a:solidFill>
                            <a:srgbClr val="000000"/>
                          </a:solidFill>
                          <a:effectLst/>
                          <a:latin typeface="メイリオ" panose="020B0604030504040204" pitchFamily="50" charset="-128"/>
                          <a:ea typeface="メイリオ" panose="020B0604030504040204" pitchFamily="50" charset="-128"/>
                        </a:rPr>
                        <a:t>セグメント配信</a:t>
                      </a:r>
                    </a:p>
                  </a:txBody>
                  <a:tcPr marL="9102" marR="9102" marT="131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r>
                        <a:rPr lang="en-US" altLang="ja-JP" sz="1000" b="0" i="0" u="none" strike="noStrike" dirty="0">
                          <a:solidFill>
                            <a:srgbClr val="000000"/>
                          </a:solidFill>
                          <a:effectLst/>
                          <a:latin typeface="メイリオ" panose="020B0604030504040204" pitchFamily="50" charset="-128"/>
                          <a:ea typeface="メイリオ" panose="020B0604030504040204" pitchFamily="50" charset="-128"/>
                        </a:rPr>
                        <a:t>--</a:t>
                      </a: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endParaRPr lang="en-US" altLang="ja-JP" sz="600" b="0" i="0" u="none" strike="noStrike" dirty="0">
                        <a:solidFill>
                          <a:srgbClr val="000000"/>
                        </a:solidFill>
                        <a:effectLst/>
                        <a:latin typeface="メイリオ" panose="020B0604030504040204" pitchFamily="50" charset="-128"/>
                        <a:ea typeface="メイリオ" panose="020B0604030504040204" pitchFamily="50" charset="-128"/>
                      </a:endParaRP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bg1">
                        <a:lumMod val="85000"/>
                      </a:schemeClr>
                    </a:solidFill>
                  </a:tcPr>
                </a:tc>
                <a:tc>
                  <a:txBody>
                    <a:bodyPr/>
                    <a:lstStyle/>
                    <a:p>
                      <a:pPr algn="l" fontAlgn="ctr">
                        <a:buNone/>
                      </a:pPr>
                      <a:endParaRPr lang="ja-JP" altLang="en-US" sz="1100" b="0" i="0" u="none" strike="noStrike" dirty="0">
                        <a:solidFill>
                          <a:srgbClr val="000000"/>
                        </a:solidFill>
                        <a:effectLst/>
                        <a:latin typeface="メイリオ" panose="020B0604030504040204" pitchFamily="50" charset="-128"/>
                        <a:ea typeface="メイリオ" panose="020B0604030504040204" pitchFamily="50" charset="-128"/>
                      </a:endParaRPr>
                    </a:p>
                  </a:txBody>
                  <a:tcPr marL="9102" marR="9102" marT="131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a:noFill/>
                    </a:lnT>
                    <a:lnB>
                      <a:noFill/>
                    </a:lnB>
                    <a:noFill/>
                  </a:tcPr>
                </a:tc>
                <a:tc>
                  <a:txBody>
                    <a:bodyPr/>
                    <a:lstStyle/>
                    <a:p>
                      <a:pPr algn="ctr" fontAlgn="ctr">
                        <a:buNone/>
                      </a:pPr>
                      <a:r>
                        <a:rPr lang="en-US" sz="1100" b="0" i="0" u="none" strike="noStrike">
                          <a:solidFill>
                            <a:srgbClr val="000000"/>
                          </a:solidFill>
                          <a:effectLst/>
                          <a:latin typeface="メイリオ" panose="020B0604030504040204" pitchFamily="50" charset="-128"/>
                          <a:ea typeface="メイリオ" panose="020B0604030504040204" pitchFamily="50" charset="-128"/>
                        </a:rPr>
                        <a:t>LINE</a:t>
                      </a:r>
                      <a:r>
                        <a:rPr lang="ja-JP" altLang="en-US" sz="1100" b="0" i="0" u="none" strike="noStrike">
                          <a:solidFill>
                            <a:srgbClr val="000000"/>
                          </a:solidFill>
                          <a:effectLst/>
                          <a:latin typeface="メイリオ" panose="020B0604030504040204" pitchFamily="50" charset="-128"/>
                          <a:ea typeface="メイリオ" panose="020B0604030504040204" pitchFamily="50" charset="-128"/>
                        </a:rPr>
                        <a:t>決済</a:t>
                      </a:r>
                    </a:p>
                  </a:txBody>
                  <a:tcPr marL="9102" marR="9102" marT="131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r>
                        <a:rPr lang="en-US" altLang="ja-JP" sz="105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rPr>
                        <a:t>¥50,000~</a:t>
                      </a:r>
                    </a:p>
                  </a:txBody>
                  <a:tcPr marL="9102" marR="9102" marT="131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endParaRPr lang="en-US" altLang="ja-JP" sz="600" b="0" i="0" u="none" strike="noStrike" dirty="0">
                        <a:solidFill>
                          <a:srgbClr val="000000"/>
                        </a:solidFill>
                        <a:effectLst/>
                        <a:latin typeface="メイリオ" panose="020B0604030504040204" pitchFamily="50" charset="-128"/>
                        <a:ea typeface="メイリオ" panose="020B0604030504040204" pitchFamily="50" charset="-128"/>
                      </a:endParaRP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bg1">
                        <a:lumMod val="85000"/>
                      </a:schemeClr>
                    </a:solidFill>
                  </a:tcPr>
                </a:tc>
                <a:extLst>
                  <a:ext uri="{0D108BD9-81ED-4DB2-BD59-A6C34878D82A}">
                    <a16:rowId xmlns:a16="http://schemas.microsoft.com/office/drawing/2014/main" val="1989714401"/>
                  </a:ext>
                </a:extLst>
              </a:tr>
              <a:tr h="290695">
                <a:tc>
                  <a:txBody>
                    <a:bodyPr/>
                    <a:lstStyle/>
                    <a:p>
                      <a:pPr algn="ctr" fontAlgn="ctr">
                        <a:buNone/>
                      </a:pPr>
                      <a:r>
                        <a:rPr lang="ja-JP" altLang="en-US" sz="1100" b="0" i="0" u="none" strike="noStrike" dirty="0">
                          <a:solidFill>
                            <a:srgbClr val="000000"/>
                          </a:solidFill>
                          <a:effectLst/>
                          <a:latin typeface="メイリオ" panose="020B0604030504040204" pitchFamily="50" charset="-128"/>
                          <a:ea typeface="メイリオ" panose="020B0604030504040204" pitchFamily="50" charset="-128"/>
                        </a:rPr>
                        <a:t>チャットタグ管理</a:t>
                      </a:r>
                    </a:p>
                  </a:txBody>
                  <a:tcPr marL="9102" marR="9102" marT="131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r>
                        <a:rPr lang="en-US" altLang="ja-JP" sz="1000" b="0" i="0" u="none" strike="noStrike" dirty="0">
                          <a:solidFill>
                            <a:srgbClr val="000000"/>
                          </a:solidFill>
                          <a:effectLst/>
                          <a:latin typeface="メイリオ" panose="020B0604030504040204" pitchFamily="50" charset="-128"/>
                          <a:ea typeface="メイリオ" panose="020B0604030504040204" pitchFamily="50" charset="-128"/>
                        </a:rPr>
                        <a:t>¥30,000</a:t>
                      </a: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endParaRPr lang="en-US" altLang="ja-JP" sz="600" b="0" i="0" u="none" strike="noStrike" dirty="0">
                        <a:solidFill>
                          <a:srgbClr val="000000"/>
                        </a:solidFill>
                        <a:effectLst/>
                        <a:latin typeface="メイリオ" panose="020B0604030504040204" pitchFamily="50" charset="-128"/>
                        <a:ea typeface="メイリオ" panose="020B0604030504040204" pitchFamily="50" charset="-128"/>
                      </a:endParaRP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bg1">
                        <a:lumMod val="85000"/>
                      </a:schemeClr>
                    </a:solidFill>
                  </a:tcPr>
                </a:tc>
                <a:tc>
                  <a:txBody>
                    <a:bodyPr/>
                    <a:lstStyle/>
                    <a:p>
                      <a:pPr algn="l" fontAlgn="ctr">
                        <a:buNone/>
                      </a:pPr>
                      <a:endParaRPr lang="ja-JP" altLang="en-US" sz="1100" b="0" i="0" u="none" strike="noStrike">
                        <a:solidFill>
                          <a:srgbClr val="000000"/>
                        </a:solidFill>
                        <a:effectLst/>
                        <a:latin typeface="メイリオ" panose="020B0604030504040204" pitchFamily="50" charset="-128"/>
                        <a:ea typeface="メイリオ" panose="020B0604030504040204" pitchFamily="50" charset="-128"/>
                      </a:endParaRPr>
                    </a:p>
                  </a:txBody>
                  <a:tcPr marL="9102" marR="9102" marT="131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a:noFill/>
                    </a:lnT>
                    <a:lnB>
                      <a:noFill/>
                    </a:lnB>
                    <a:noFill/>
                  </a:tcPr>
                </a:tc>
                <a:tc>
                  <a:txBody>
                    <a:bodyPr/>
                    <a:lstStyle/>
                    <a:p>
                      <a:pPr algn="ctr" fontAlgn="ctr">
                        <a:buNone/>
                      </a:pPr>
                      <a:r>
                        <a:rPr lang="ja-JP" altLang="en-US" sz="1100" b="0" i="0" u="none" strike="noStrike" dirty="0">
                          <a:solidFill>
                            <a:srgbClr val="000000"/>
                          </a:solidFill>
                          <a:effectLst/>
                          <a:latin typeface="メイリオ" panose="020B0604030504040204" pitchFamily="50" charset="-128"/>
                          <a:ea typeface="メイリオ" panose="020B0604030504040204" pitchFamily="50" charset="-128"/>
                        </a:rPr>
                        <a:t>予約管理</a:t>
                      </a:r>
                    </a:p>
                  </a:txBody>
                  <a:tcPr marL="9102" marR="9102" marT="131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r>
                        <a:rPr lang="en-US" altLang="ja-JP" sz="105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rPr>
                        <a:t>¥20,000~</a:t>
                      </a:r>
                    </a:p>
                  </a:txBody>
                  <a:tcPr marL="9102" marR="9102" marT="131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endParaRPr lang="en-US" altLang="ja-JP" sz="600" b="0" i="0" u="none" strike="noStrike" dirty="0">
                        <a:solidFill>
                          <a:srgbClr val="000000"/>
                        </a:solidFill>
                        <a:effectLst/>
                        <a:latin typeface="メイリオ" panose="020B0604030504040204" pitchFamily="50" charset="-128"/>
                        <a:ea typeface="メイリオ" panose="020B0604030504040204" pitchFamily="50" charset="-128"/>
                      </a:endParaRP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bg1">
                        <a:lumMod val="85000"/>
                      </a:schemeClr>
                    </a:solidFill>
                  </a:tcPr>
                </a:tc>
                <a:extLst>
                  <a:ext uri="{0D108BD9-81ED-4DB2-BD59-A6C34878D82A}">
                    <a16:rowId xmlns:a16="http://schemas.microsoft.com/office/drawing/2014/main" val="3160214931"/>
                  </a:ext>
                </a:extLst>
              </a:tr>
              <a:tr h="290695">
                <a:tc>
                  <a:txBody>
                    <a:bodyPr/>
                    <a:lstStyle/>
                    <a:p>
                      <a:pPr algn="ctr" fontAlgn="ctr">
                        <a:buNone/>
                      </a:pPr>
                      <a:r>
                        <a:rPr lang="ja-JP" altLang="en-US" sz="1100" b="0" i="0" u="none" strike="noStrike" dirty="0">
                          <a:solidFill>
                            <a:srgbClr val="000000"/>
                          </a:solidFill>
                          <a:effectLst/>
                          <a:latin typeface="メイリオ" panose="020B0604030504040204" pitchFamily="50" charset="-128"/>
                          <a:ea typeface="メイリオ" panose="020B0604030504040204" pitchFamily="50" charset="-128"/>
                        </a:rPr>
                        <a:t>チャット対応</a:t>
                      </a:r>
                      <a:r>
                        <a:rPr lang="ja-JP" altLang="en-US" sz="700" b="0" i="0" u="none" strike="noStrike" dirty="0">
                          <a:solidFill>
                            <a:srgbClr val="FF0000"/>
                          </a:solidFill>
                          <a:effectLst/>
                          <a:latin typeface="メイリオ" panose="020B0604030504040204" pitchFamily="50" charset="-128"/>
                          <a:ea typeface="メイリオ" panose="020B0604030504040204" pitchFamily="50" charset="-128"/>
                        </a:rPr>
                        <a:t> </a:t>
                      </a:r>
                      <a:r>
                        <a:rPr lang="en-US" altLang="ja-JP" sz="700" b="0" i="0" u="none" strike="noStrike" dirty="0">
                          <a:solidFill>
                            <a:srgbClr val="FF0000"/>
                          </a:solidFill>
                          <a:effectLst/>
                          <a:latin typeface="メイリオ" panose="020B0604030504040204" pitchFamily="50" charset="-128"/>
                          <a:ea typeface="メイリオ" panose="020B0604030504040204" pitchFamily="50" charset="-128"/>
                        </a:rPr>
                        <a:t>※</a:t>
                      </a:r>
                      <a:r>
                        <a:rPr lang="ja-JP" altLang="en-US" sz="700" b="0" i="0" u="none" strike="noStrike" dirty="0">
                          <a:solidFill>
                            <a:srgbClr val="FF0000"/>
                          </a:solidFill>
                          <a:effectLst/>
                          <a:latin typeface="メイリオ" panose="020B0604030504040204" pitchFamily="50" charset="-128"/>
                          <a:ea typeface="メイリオ" panose="020B0604030504040204" pitchFamily="50" charset="-128"/>
                        </a:rPr>
                        <a:t>サポートは可能</a:t>
                      </a:r>
                      <a:endParaRPr lang="ja-JP" altLang="en-US" sz="1100" b="0" i="0" u="none" strike="noStrike" dirty="0">
                        <a:solidFill>
                          <a:srgbClr val="FF0000"/>
                        </a:solidFill>
                        <a:effectLst/>
                        <a:latin typeface="メイリオ" panose="020B0604030504040204" pitchFamily="50" charset="-128"/>
                        <a:ea typeface="メイリオ" panose="020B0604030504040204" pitchFamily="50" charset="-128"/>
                      </a:endParaRPr>
                    </a:p>
                  </a:txBody>
                  <a:tcPr marL="9102" marR="9102" marT="131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r>
                        <a:rPr lang="en-US" altLang="ja-JP" sz="1000" b="0" i="0" u="none" strike="noStrike" dirty="0">
                          <a:solidFill>
                            <a:srgbClr val="000000"/>
                          </a:solidFill>
                          <a:effectLst/>
                          <a:latin typeface="メイリオ" panose="020B0604030504040204" pitchFamily="50" charset="-128"/>
                          <a:ea typeface="メイリオ" panose="020B0604030504040204" pitchFamily="50" charset="-128"/>
                        </a:rPr>
                        <a:t>¥100,000</a:t>
                      </a:r>
                      <a:r>
                        <a:rPr lang="ja-JP" altLang="en-US" sz="1000" b="0" i="0" u="none" strike="noStrike" dirty="0">
                          <a:solidFill>
                            <a:srgbClr val="000000"/>
                          </a:solidFill>
                          <a:effectLst/>
                          <a:latin typeface="メイリオ" panose="020B0604030504040204" pitchFamily="50" charset="-128"/>
                          <a:ea typeface="メイリオ" panose="020B0604030504040204" pitchFamily="50" charset="-128"/>
                        </a:rPr>
                        <a:t>～</a:t>
                      </a:r>
                      <a:endParaRPr lang="en-US" altLang="ja-JP" sz="1000" b="0" i="0" u="none" strike="noStrike" dirty="0">
                        <a:solidFill>
                          <a:srgbClr val="000000"/>
                        </a:solidFill>
                        <a:effectLst/>
                        <a:latin typeface="メイリオ" panose="020B0604030504040204" pitchFamily="50" charset="-128"/>
                        <a:ea typeface="メイリオ" panose="020B0604030504040204" pitchFamily="50" charset="-128"/>
                      </a:endParaRP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r>
                        <a:rPr lang="ja-JP" altLang="en-US" sz="600" b="0" i="0" u="none" strike="noStrike" dirty="0">
                          <a:solidFill>
                            <a:srgbClr val="000000"/>
                          </a:solidFill>
                          <a:effectLst/>
                          <a:latin typeface="メイリオ" panose="020B0604030504040204" pitchFamily="50" charset="-128"/>
                          <a:ea typeface="メイリオ" panose="020B0604030504040204" pitchFamily="50" charset="-128"/>
                        </a:rPr>
                        <a:t>件数により変動</a:t>
                      </a:r>
                      <a:endParaRPr lang="en-US" altLang="ja-JP" sz="600" b="0" i="0" u="none" strike="noStrike" dirty="0">
                        <a:solidFill>
                          <a:srgbClr val="000000"/>
                        </a:solidFill>
                        <a:effectLst/>
                        <a:latin typeface="メイリオ" panose="020B0604030504040204" pitchFamily="50" charset="-128"/>
                        <a:ea typeface="メイリオ" panose="020B0604030504040204" pitchFamily="50" charset="-128"/>
                      </a:endParaRP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bg1">
                        <a:lumMod val="85000"/>
                      </a:schemeClr>
                    </a:solidFill>
                  </a:tcPr>
                </a:tc>
                <a:tc>
                  <a:txBody>
                    <a:bodyPr/>
                    <a:lstStyle/>
                    <a:p>
                      <a:pPr algn="l" fontAlgn="ctr">
                        <a:buNone/>
                      </a:pPr>
                      <a:endParaRPr lang="ja-JP" altLang="en-US" sz="1100" b="0" i="0" u="none" strike="noStrike" dirty="0">
                        <a:solidFill>
                          <a:srgbClr val="000000"/>
                        </a:solidFill>
                        <a:effectLst/>
                        <a:latin typeface="メイリオ" panose="020B0604030504040204" pitchFamily="50" charset="-128"/>
                        <a:ea typeface="メイリオ" panose="020B0604030504040204" pitchFamily="50" charset="-128"/>
                      </a:endParaRPr>
                    </a:p>
                  </a:txBody>
                  <a:tcPr marL="9102" marR="9102" marT="131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a:noFill/>
                    </a:lnT>
                    <a:lnB>
                      <a:noFill/>
                    </a:lnB>
                    <a:noFill/>
                  </a:tcPr>
                </a:tc>
                <a:tc>
                  <a:txBody>
                    <a:bodyPr/>
                    <a:lstStyle/>
                    <a:p>
                      <a:pPr algn="ctr" fontAlgn="ctr">
                        <a:buNone/>
                      </a:pPr>
                      <a:r>
                        <a:rPr lang="en-US" altLang="ja-JP" sz="1100" b="0" i="0" u="none" strike="noStrike" dirty="0">
                          <a:solidFill>
                            <a:srgbClr val="000000"/>
                          </a:solidFill>
                          <a:effectLst/>
                          <a:latin typeface="メイリオ" panose="020B0604030504040204" pitchFamily="50" charset="-128"/>
                          <a:ea typeface="メイリオ" panose="020B0604030504040204" pitchFamily="50" charset="-128"/>
                        </a:rPr>
                        <a:t>-----</a:t>
                      </a:r>
                    </a:p>
                  </a:txBody>
                  <a:tcPr marL="9102" marR="9102" marT="131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r>
                        <a:rPr lang="en-US" altLang="ja-JP" sz="105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rPr>
                        <a:t>-----</a:t>
                      </a:r>
                    </a:p>
                  </a:txBody>
                  <a:tcPr marL="9102" marR="9102" marT="131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endParaRPr lang="en-US" altLang="ja-JP" sz="600" b="0" i="0" u="none" strike="noStrike" dirty="0">
                        <a:solidFill>
                          <a:srgbClr val="000000"/>
                        </a:solidFill>
                        <a:effectLst/>
                        <a:latin typeface="メイリオ" panose="020B0604030504040204" pitchFamily="50" charset="-128"/>
                        <a:ea typeface="メイリオ" panose="020B0604030504040204" pitchFamily="50" charset="-128"/>
                      </a:endParaRP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bg1">
                        <a:lumMod val="85000"/>
                      </a:schemeClr>
                    </a:solidFill>
                  </a:tcPr>
                </a:tc>
                <a:extLst>
                  <a:ext uri="{0D108BD9-81ED-4DB2-BD59-A6C34878D82A}">
                    <a16:rowId xmlns:a16="http://schemas.microsoft.com/office/drawing/2014/main" val="919396613"/>
                  </a:ext>
                </a:extLst>
              </a:tr>
              <a:tr h="290695">
                <a:tc>
                  <a:txBody>
                    <a:bodyPr/>
                    <a:lstStyle/>
                    <a:p>
                      <a:pPr algn="ctr" fontAlgn="ctr">
                        <a:buNone/>
                      </a:pPr>
                      <a:r>
                        <a:rPr lang="en-US" altLang="ja-JP" sz="1100" b="0" i="0" u="none" strike="noStrike" dirty="0">
                          <a:solidFill>
                            <a:srgbClr val="000000"/>
                          </a:solidFill>
                          <a:effectLst/>
                          <a:latin typeface="メイリオ" panose="020B0604030504040204" pitchFamily="50" charset="-128"/>
                          <a:ea typeface="メイリオ" panose="020B0604030504040204" pitchFamily="50" charset="-128"/>
                        </a:rPr>
                        <a:t>GA(CRM)</a:t>
                      </a:r>
                      <a:r>
                        <a:rPr lang="ja-JP" altLang="en-US" sz="1100" b="0" i="0" u="none" strike="noStrike" dirty="0">
                          <a:solidFill>
                            <a:srgbClr val="000000"/>
                          </a:solidFill>
                          <a:effectLst/>
                          <a:latin typeface="メイリオ" panose="020B0604030504040204" pitchFamily="50" charset="-128"/>
                          <a:ea typeface="メイリオ" panose="020B0604030504040204" pitchFamily="50" charset="-128"/>
                        </a:rPr>
                        <a:t>レポート連携</a:t>
                      </a:r>
                    </a:p>
                  </a:txBody>
                  <a:tcPr marL="9102" marR="9102" marT="131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r>
                        <a:rPr lang="en-US" altLang="ja-JP" sz="1000" b="0" i="0" u="none" strike="noStrike" dirty="0">
                          <a:solidFill>
                            <a:srgbClr val="000000"/>
                          </a:solidFill>
                          <a:effectLst/>
                          <a:latin typeface="メイリオ" panose="020B0604030504040204" pitchFamily="50" charset="-128"/>
                          <a:ea typeface="メイリオ" panose="020B0604030504040204" pitchFamily="50" charset="-128"/>
                        </a:rPr>
                        <a:t>¥30,000</a:t>
                      </a: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endParaRPr lang="en-US" altLang="ja-JP" sz="600" b="0" i="0" u="none" strike="noStrike" dirty="0">
                        <a:solidFill>
                          <a:srgbClr val="000000"/>
                        </a:solidFill>
                        <a:effectLst/>
                        <a:latin typeface="メイリオ" panose="020B0604030504040204" pitchFamily="50" charset="-128"/>
                        <a:ea typeface="メイリオ" panose="020B0604030504040204" pitchFamily="50" charset="-128"/>
                      </a:endParaRP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bg1">
                        <a:lumMod val="85000"/>
                      </a:schemeClr>
                    </a:solidFill>
                  </a:tcPr>
                </a:tc>
                <a:tc>
                  <a:txBody>
                    <a:bodyPr/>
                    <a:lstStyle/>
                    <a:p>
                      <a:pPr algn="l" fontAlgn="ctr">
                        <a:buNone/>
                      </a:pPr>
                      <a:endParaRPr lang="ja-JP" altLang="en-US" sz="1100" b="0" i="0" u="none" strike="noStrike">
                        <a:solidFill>
                          <a:srgbClr val="000000"/>
                        </a:solidFill>
                        <a:effectLst/>
                        <a:latin typeface="メイリオ" panose="020B0604030504040204" pitchFamily="50" charset="-128"/>
                        <a:ea typeface="メイリオ" panose="020B0604030504040204" pitchFamily="50" charset="-128"/>
                      </a:endParaRPr>
                    </a:p>
                  </a:txBody>
                  <a:tcPr marL="9102" marR="9102" marT="131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a:noFill/>
                    </a:lnT>
                    <a:lnB>
                      <a:noFill/>
                    </a:lnB>
                    <a:noFill/>
                  </a:tcPr>
                </a:tc>
                <a:tc>
                  <a:txBody>
                    <a:bodyPr/>
                    <a:lstStyle/>
                    <a:p>
                      <a:pPr algn="ctr" fontAlgn="ctr">
                        <a:buNone/>
                      </a:pPr>
                      <a:r>
                        <a:rPr lang="en-US" altLang="ja-JP" sz="1100" b="0" i="0" u="none" strike="noStrike" dirty="0">
                          <a:solidFill>
                            <a:srgbClr val="000000"/>
                          </a:solidFill>
                          <a:effectLst/>
                          <a:latin typeface="メイリオ" panose="020B0604030504040204" pitchFamily="50" charset="-128"/>
                          <a:ea typeface="メイリオ" panose="020B0604030504040204" pitchFamily="50" charset="-128"/>
                        </a:rPr>
                        <a:t>-----</a:t>
                      </a:r>
                    </a:p>
                  </a:txBody>
                  <a:tcPr marL="9102" marR="9102" marT="131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r>
                        <a:rPr lang="en-US" altLang="ja-JP" sz="105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rPr>
                        <a:t>-----</a:t>
                      </a:r>
                    </a:p>
                  </a:txBody>
                  <a:tcPr marL="9102" marR="9102" marT="131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endParaRPr lang="en-US" altLang="ja-JP" sz="600" b="0" i="0" u="none" strike="noStrike" dirty="0">
                        <a:solidFill>
                          <a:srgbClr val="000000"/>
                        </a:solidFill>
                        <a:effectLst/>
                        <a:latin typeface="メイリオ" panose="020B0604030504040204" pitchFamily="50" charset="-128"/>
                        <a:ea typeface="メイリオ" panose="020B0604030504040204" pitchFamily="50" charset="-128"/>
                      </a:endParaRP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bg1">
                        <a:lumMod val="85000"/>
                      </a:schemeClr>
                    </a:solidFill>
                  </a:tcPr>
                </a:tc>
                <a:extLst>
                  <a:ext uri="{0D108BD9-81ED-4DB2-BD59-A6C34878D82A}">
                    <a16:rowId xmlns:a16="http://schemas.microsoft.com/office/drawing/2014/main" val="3802321774"/>
                  </a:ext>
                </a:extLst>
              </a:tr>
              <a:tr h="290695">
                <a:tc>
                  <a:txBody>
                    <a:bodyPr/>
                    <a:lstStyle/>
                    <a:p>
                      <a:pPr algn="ctr" fontAlgn="ctr">
                        <a:buNone/>
                      </a:pPr>
                      <a:r>
                        <a:rPr lang="ja-JP" altLang="en-US" sz="1100" b="0" i="0" u="none" strike="noStrike" dirty="0">
                          <a:solidFill>
                            <a:srgbClr val="000000"/>
                          </a:solidFill>
                          <a:effectLst/>
                          <a:latin typeface="メイリオ" panose="020B0604030504040204" pitchFamily="50" charset="-128"/>
                          <a:ea typeface="メイリオ" panose="020B0604030504040204" pitchFamily="50" charset="-128"/>
                        </a:rPr>
                        <a:t>クリエイティブ</a:t>
                      </a:r>
                    </a:p>
                  </a:txBody>
                  <a:tcPr marL="9102" marR="9102" marT="131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r>
                        <a:rPr lang="en-US" altLang="ja-JP" sz="1000" b="0" i="0" u="none" strike="noStrike" dirty="0">
                          <a:solidFill>
                            <a:srgbClr val="000000"/>
                          </a:solidFill>
                          <a:effectLst/>
                          <a:latin typeface="メイリオ" panose="020B0604030504040204" pitchFamily="50" charset="-128"/>
                          <a:ea typeface="メイリオ" panose="020B0604030504040204" pitchFamily="50" charset="-128"/>
                        </a:rPr>
                        <a:t>¥15,000</a:t>
                      </a: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marL="0" marR="0" lvl="0" indent="0" algn="ctr" defTabSz="914400" rtl="0" eaLnBrk="1" fontAlgn="ctr" latinLnBrk="0" hangingPunct="1">
                        <a:lnSpc>
                          <a:spcPct val="100000"/>
                        </a:lnSpc>
                        <a:spcBef>
                          <a:spcPts val="0"/>
                        </a:spcBef>
                        <a:spcAft>
                          <a:spcPts val="0"/>
                        </a:spcAft>
                        <a:buClrTx/>
                        <a:buSzTx/>
                        <a:buFontTx/>
                        <a:buNone/>
                        <a:tabLst/>
                        <a:defRPr/>
                      </a:pPr>
                      <a:r>
                        <a:rPr lang="ja-JP" altLang="en-US" sz="600" b="0" i="0" u="none" strike="noStrike" dirty="0">
                          <a:solidFill>
                            <a:srgbClr val="000000"/>
                          </a:solidFill>
                          <a:effectLst/>
                          <a:latin typeface="メイリオ" panose="020B0604030504040204" pitchFamily="50" charset="-128"/>
                          <a:ea typeface="メイリオ" panose="020B0604030504040204" pitchFamily="50" charset="-128"/>
                        </a:rPr>
                        <a:t>画像</a:t>
                      </a:r>
                      <a:r>
                        <a:rPr lang="en-US" altLang="ja-JP" sz="600" b="0" i="0" u="none" strike="noStrike" dirty="0">
                          <a:solidFill>
                            <a:srgbClr val="000000"/>
                          </a:solidFill>
                          <a:effectLst/>
                          <a:latin typeface="メイリオ" panose="020B0604030504040204" pitchFamily="50" charset="-128"/>
                          <a:ea typeface="メイリオ" panose="020B0604030504040204" pitchFamily="50" charset="-128"/>
                        </a:rPr>
                        <a:t>1</a:t>
                      </a:r>
                      <a:r>
                        <a:rPr lang="ja-JP" altLang="en-US" sz="600" b="0" i="0" u="none" strike="noStrike" dirty="0">
                          <a:solidFill>
                            <a:srgbClr val="000000"/>
                          </a:solidFill>
                          <a:effectLst/>
                          <a:latin typeface="メイリオ" panose="020B0604030504040204" pitchFamily="50" charset="-128"/>
                          <a:ea typeface="メイリオ" panose="020B0604030504040204" pitchFamily="50" charset="-128"/>
                        </a:rPr>
                        <a:t>枚での想定</a:t>
                      </a:r>
                      <a:endParaRPr lang="en-US" altLang="ja-JP" sz="600" b="0" i="0" u="none" strike="noStrike" dirty="0">
                        <a:solidFill>
                          <a:srgbClr val="000000"/>
                        </a:solidFill>
                        <a:effectLst/>
                        <a:latin typeface="メイリオ" panose="020B0604030504040204" pitchFamily="50" charset="-128"/>
                        <a:ea typeface="メイリオ" panose="020B0604030504040204" pitchFamily="50" charset="-128"/>
                      </a:endParaRPr>
                    </a:p>
                    <a:p>
                      <a:pPr marL="0" marR="0" lvl="0" indent="0" algn="ctr" defTabSz="914400" rtl="0" eaLnBrk="1" fontAlgn="ctr" latinLnBrk="0" hangingPunct="1">
                        <a:lnSpc>
                          <a:spcPct val="100000"/>
                        </a:lnSpc>
                        <a:spcBef>
                          <a:spcPts val="0"/>
                        </a:spcBef>
                        <a:spcAft>
                          <a:spcPts val="0"/>
                        </a:spcAft>
                        <a:buClrTx/>
                        <a:buSzTx/>
                        <a:buFontTx/>
                        <a:buNone/>
                        <a:tabLst/>
                        <a:defRPr/>
                      </a:pPr>
                      <a:r>
                        <a:rPr lang="en-US" altLang="ja-JP" sz="600" b="0" i="0" u="none" strike="noStrike" dirty="0">
                          <a:solidFill>
                            <a:srgbClr val="000000"/>
                          </a:solidFill>
                          <a:effectLst/>
                          <a:latin typeface="メイリオ" panose="020B0604030504040204" pitchFamily="50" charset="-128"/>
                          <a:ea typeface="メイリオ" panose="020B0604030504040204" pitchFamily="50" charset="-128"/>
                        </a:rPr>
                        <a:t>※</a:t>
                      </a:r>
                      <a:r>
                        <a:rPr lang="ja-JP" altLang="en-US" sz="600" b="0" i="0" u="none" strike="noStrike" dirty="0">
                          <a:solidFill>
                            <a:srgbClr val="000000"/>
                          </a:solidFill>
                          <a:effectLst/>
                          <a:latin typeface="メイリオ" panose="020B0604030504040204" pitchFamily="50" charset="-128"/>
                          <a:ea typeface="メイリオ" panose="020B0604030504040204" pitchFamily="50" charset="-128"/>
                        </a:rPr>
                        <a:t>バナー、</a:t>
                      </a:r>
                      <a:r>
                        <a:rPr lang="en-US" altLang="ja-JP" sz="600" b="0" i="0" u="none" strike="noStrike" dirty="0">
                          <a:solidFill>
                            <a:srgbClr val="000000"/>
                          </a:solidFill>
                          <a:effectLst/>
                          <a:latin typeface="メイリオ" panose="020B0604030504040204" pitchFamily="50" charset="-128"/>
                          <a:ea typeface="メイリオ" panose="020B0604030504040204" pitchFamily="50" charset="-128"/>
                        </a:rPr>
                        <a:t>HTML</a:t>
                      </a:r>
                      <a:r>
                        <a:rPr lang="ja-JP" altLang="en-US" sz="600" b="0" i="0" u="none" strike="noStrike" dirty="0">
                          <a:solidFill>
                            <a:srgbClr val="000000"/>
                          </a:solidFill>
                          <a:effectLst/>
                          <a:latin typeface="メイリオ" panose="020B0604030504040204" pitchFamily="50" charset="-128"/>
                          <a:ea typeface="メイリオ" panose="020B0604030504040204" pitchFamily="50" charset="-128"/>
                        </a:rPr>
                        <a:t>メール等</a:t>
                      </a:r>
                      <a:endParaRPr lang="en-US" altLang="ja-JP" sz="600" b="0" i="0" u="none" strike="noStrike" dirty="0">
                        <a:solidFill>
                          <a:srgbClr val="000000"/>
                        </a:solidFill>
                        <a:effectLst/>
                        <a:latin typeface="メイリオ" panose="020B0604030504040204" pitchFamily="50" charset="-128"/>
                        <a:ea typeface="メイリオ" panose="020B0604030504040204" pitchFamily="50" charset="-128"/>
                      </a:endParaRP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bg1">
                        <a:lumMod val="85000"/>
                      </a:schemeClr>
                    </a:solidFill>
                  </a:tcPr>
                </a:tc>
                <a:tc>
                  <a:txBody>
                    <a:bodyPr/>
                    <a:lstStyle/>
                    <a:p>
                      <a:pPr algn="l" fontAlgn="ctr">
                        <a:buNone/>
                      </a:pPr>
                      <a:endParaRPr lang="ja-JP" altLang="en-US" sz="1100" b="0" i="0" u="none" strike="noStrike">
                        <a:solidFill>
                          <a:srgbClr val="000000"/>
                        </a:solidFill>
                        <a:effectLst/>
                        <a:latin typeface="メイリオ" panose="020B0604030504040204" pitchFamily="50" charset="-128"/>
                        <a:ea typeface="メイリオ" panose="020B0604030504040204" pitchFamily="50" charset="-128"/>
                      </a:endParaRPr>
                    </a:p>
                  </a:txBody>
                  <a:tcPr marL="9102" marR="9102" marT="131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a:noFill/>
                    </a:lnT>
                    <a:lnB>
                      <a:noFill/>
                    </a:lnB>
                    <a:noFill/>
                  </a:tcPr>
                </a:tc>
                <a:tc>
                  <a:txBody>
                    <a:bodyPr/>
                    <a:lstStyle/>
                    <a:p>
                      <a:pPr algn="ctr" fontAlgn="ctr">
                        <a:buNone/>
                      </a:pPr>
                      <a:r>
                        <a:rPr lang="ja-JP" altLang="en-US" sz="1100" b="0" i="0" u="none" strike="noStrike" dirty="0">
                          <a:solidFill>
                            <a:srgbClr val="000000"/>
                          </a:solidFill>
                          <a:effectLst/>
                          <a:latin typeface="メイリオ" panose="020B0604030504040204" pitchFamily="50" charset="-128"/>
                          <a:ea typeface="メイリオ" panose="020B0604030504040204" pitchFamily="50" charset="-128"/>
                        </a:rPr>
                        <a:t>離脱防止ツール</a:t>
                      </a:r>
                    </a:p>
                  </a:txBody>
                  <a:tcPr marL="9102" marR="9102" marT="131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r>
                        <a:rPr lang="en-US" altLang="ja-JP" sz="105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rPr>
                        <a:t>¥15,000</a:t>
                      </a:r>
                    </a:p>
                  </a:txBody>
                  <a:tcPr marL="9102" marR="9102" marT="131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marL="0" marR="0" lvl="0" indent="0" algn="ctr" defTabSz="914400" rtl="0" eaLnBrk="1" fontAlgn="ctr" latinLnBrk="0" hangingPunct="1">
                        <a:lnSpc>
                          <a:spcPct val="100000"/>
                        </a:lnSpc>
                        <a:spcBef>
                          <a:spcPts val="0"/>
                        </a:spcBef>
                        <a:spcAft>
                          <a:spcPts val="0"/>
                        </a:spcAft>
                        <a:buClrTx/>
                        <a:buSzTx/>
                        <a:buFontTx/>
                        <a:buNone/>
                        <a:tabLst/>
                        <a:defRPr/>
                      </a:pPr>
                      <a:r>
                        <a:rPr lang="ja-JP" altLang="en-US" sz="600" b="0" i="0" u="none" strike="noStrike" dirty="0">
                          <a:solidFill>
                            <a:srgbClr val="000000"/>
                          </a:solidFill>
                          <a:effectLst/>
                          <a:latin typeface="メイリオ" panose="020B0604030504040204" pitchFamily="50" charset="-128"/>
                          <a:ea typeface="メイリオ" panose="020B0604030504040204" pitchFamily="50" charset="-128"/>
                        </a:rPr>
                        <a:t>画像</a:t>
                      </a:r>
                      <a:r>
                        <a:rPr lang="en-US" altLang="ja-JP" sz="600" b="0" i="0" u="none" strike="noStrike" dirty="0">
                          <a:solidFill>
                            <a:srgbClr val="000000"/>
                          </a:solidFill>
                          <a:effectLst/>
                          <a:latin typeface="メイリオ" panose="020B0604030504040204" pitchFamily="50" charset="-128"/>
                          <a:ea typeface="メイリオ" panose="020B0604030504040204" pitchFamily="50" charset="-128"/>
                        </a:rPr>
                        <a:t>1</a:t>
                      </a:r>
                      <a:r>
                        <a:rPr lang="ja-JP" altLang="en-US" sz="600" b="0" i="0" u="none" strike="noStrike" dirty="0">
                          <a:solidFill>
                            <a:srgbClr val="000000"/>
                          </a:solidFill>
                          <a:effectLst/>
                          <a:latin typeface="メイリオ" panose="020B0604030504040204" pitchFamily="50" charset="-128"/>
                          <a:ea typeface="メイリオ" panose="020B0604030504040204" pitchFamily="50" charset="-128"/>
                        </a:rPr>
                        <a:t>枚での想定</a:t>
                      </a:r>
                      <a:endParaRPr lang="en-US" altLang="ja-JP" sz="600" b="0" i="0" u="none" strike="noStrike" dirty="0">
                        <a:solidFill>
                          <a:srgbClr val="000000"/>
                        </a:solidFill>
                        <a:effectLst/>
                        <a:latin typeface="メイリオ" panose="020B0604030504040204" pitchFamily="50" charset="-128"/>
                        <a:ea typeface="メイリオ" panose="020B0604030504040204" pitchFamily="50" charset="-128"/>
                      </a:endParaRPr>
                    </a:p>
                    <a:p>
                      <a:pPr marL="0" marR="0" lvl="0" indent="0" algn="ctr" defTabSz="914400" rtl="0" eaLnBrk="1" fontAlgn="ctr" latinLnBrk="0" hangingPunct="1">
                        <a:lnSpc>
                          <a:spcPct val="100000"/>
                        </a:lnSpc>
                        <a:spcBef>
                          <a:spcPts val="0"/>
                        </a:spcBef>
                        <a:spcAft>
                          <a:spcPts val="0"/>
                        </a:spcAft>
                        <a:buClrTx/>
                        <a:buSzTx/>
                        <a:buFontTx/>
                        <a:buNone/>
                        <a:tabLst/>
                        <a:defRPr/>
                      </a:pPr>
                      <a:r>
                        <a:rPr lang="en-US" altLang="ja-JP" sz="600" b="0" i="0" u="none" strike="noStrike" dirty="0">
                          <a:solidFill>
                            <a:srgbClr val="000000"/>
                          </a:solidFill>
                          <a:effectLst/>
                          <a:latin typeface="メイリオ" panose="020B0604030504040204" pitchFamily="50" charset="-128"/>
                          <a:ea typeface="メイリオ" panose="020B0604030504040204" pitchFamily="50" charset="-128"/>
                        </a:rPr>
                        <a:t>※</a:t>
                      </a:r>
                      <a:r>
                        <a:rPr lang="ja-JP" altLang="en-US" sz="600" b="0" i="0" u="none" strike="noStrike" dirty="0">
                          <a:solidFill>
                            <a:srgbClr val="000000"/>
                          </a:solidFill>
                          <a:effectLst/>
                          <a:latin typeface="メイリオ" panose="020B0604030504040204" pitchFamily="50" charset="-128"/>
                          <a:ea typeface="メイリオ" panose="020B0604030504040204" pitchFamily="50" charset="-128"/>
                        </a:rPr>
                        <a:t>バナー、</a:t>
                      </a:r>
                      <a:r>
                        <a:rPr lang="en-US" altLang="ja-JP" sz="600" b="0" i="0" u="none" strike="noStrike" dirty="0">
                          <a:solidFill>
                            <a:srgbClr val="000000"/>
                          </a:solidFill>
                          <a:effectLst/>
                          <a:latin typeface="メイリオ" panose="020B0604030504040204" pitchFamily="50" charset="-128"/>
                          <a:ea typeface="メイリオ" panose="020B0604030504040204" pitchFamily="50" charset="-128"/>
                        </a:rPr>
                        <a:t>HTML</a:t>
                      </a:r>
                      <a:r>
                        <a:rPr lang="ja-JP" altLang="en-US" sz="600" b="0" i="0" u="none" strike="noStrike" dirty="0">
                          <a:solidFill>
                            <a:srgbClr val="000000"/>
                          </a:solidFill>
                          <a:effectLst/>
                          <a:latin typeface="メイリオ" panose="020B0604030504040204" pitchFamily="50" charset="-128"/>
                          <a:ea typeface="メイリオ" panose="020B0604030504040204" pitchFamily="50" charset="-128"/>
                        </a:rPr>
                        <a:t>メール等</a:t>
                      </a:r>
                      <a:endParaRPr lang="en-US" altLang="ja-JP" sz="600" b="0" i="0" u="none" strike="noStrike" dirty="0">
                        <a:solidFill>
                          <a:srgbClr val="000000"/>
                        </a:solidFill>
                        <a:effectLst/>
                        <a:latin typeface="メイリオ" panose="020B0604030504040204" pitchFamily="50" charset="-128"/>
                        <a:ea typeface="メイリオ" panose="020B0604030504040204" pitchFamily="50" charset="-128"/>
                      </a:endParaRP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bg1">
                        <a:lumMod val="85000"/>
                      </a:schemeClr>
                    </a:solidFill>
                  </a:tcPr>
                </a:tc>
                <a:extLst>
                  <a:ext uri="{0D108BD9-81ED-4DB2-BD59-A6C34878D82A}">
                    <a16:rowId xmlns:a16="http://schemas.microsoft.com/office/drawing/2014/main" val="1298905920"/>
                  </a:ext>
                </a:extLst>
              </a:tr>
              <a:tr h="290695">
                <a:tc>
                  <a:txBody>
                    <a:bodyPr/>
                    <a:lstStyle/>
                    <a:p>
                      <a:pPr algn="ctr" fontAlgn="ctr">
                        <a:buNone/>
                      </a:pPr>
                      <a:r>
                        <a:rPr lang="ja-JP" altLang="en-US" sz="1100" b="0" i="0" u="none" strike="noStrike" dirty="0">
                          <a:solidFill>
                            <a:srgbClr val="000000"/>
                          </a:solidFill>
                          <a:effectLst/>
                          <a:latin typeface="メイリオ" panose="020B0604030504040204" pitchFamily="50" charset="-128"/>
                          <a:ea typeface="メイリオ" panose="020B0604030504040204" pitchFamily="50" charset="-128"/>
                        </a:rPr>
                        <a:t>投稿作成</a:t>
                      </a:r>
                    </a:p>
                  </a:txBody>
                  <a:tcPr marL="9102" marR="9102" marT="131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r>
                        <a:rPr lang="en-US" altLang="ja-JP" sz="1000" b="0" i="0" u="none" strike="noStrike" dirty="0">
                          <a:solidFill>
                            <a:srgbClr val="000000"/>
                          </a:solidFill>
                          <a:effectLst/>
                          <a:latin typeface="メイリオ" panose="020B0604030504040204" pitchFamily="50" charset="-128"/>
                          <a:ea typeface="メイリオ" panose="020B0604030504040204" pitchFamily="50" charset="-128"/>
                        </a:rPr>
                        <a:t>¥30,000</a:t>
                      </a: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endParaRPr lang="en-US" altLang="ja-JP" sz="600" b="0" i="0" u="none" strike="noStrike" dirty="0">
                        <a:solidFill>
                          <a:srgbClr val="000000"/>
                        </a:solidFill>
                        <a:effectLst/>
                        <a:latin typeface="メイリオ" panose="020B0604030504040204" pitchFamily="50" charset="-128"/>
                        <a:ea typeface="メイリオ" panose="020B0604030504040204" pitchFamily="50" charset="-128"/>
                      </a:endParaRP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bg1">
                        <a:lumMod val="85000"/>
                      </a:schemeClr>
                    </a:solidFill>
                  </a:tcPr>
                </a:tc>
                <a:tc>
                  <a:txBody>
                    <a:bodyPr/>
                    <a:lstStyle/>
                    <a:p>
                      <a:pPr algn="l" fontAlgn="ctr">
                        <a:buNone/>
                      </a:pPr>
                      <a:endParaRPr lang="ja-JP" altLang="en-US" sz="1100" b="0" i="0" u="none" strike="noStrike" dirty="0">
                        <a:solidFill>
                          <a:srgbClr val="000000"/>
                        </a:solidFill>
                        <a:effectLst/>
                        <a:latin typeface="メイリオ" panose="020B0604030504040204" pitchFamily="50" charset="-128"/>
                        <a:ea typeface="メイリオ" panose="020B0604030504040204" pitchFamily="50" charset="-128"/>
                      </a:endParaRPr>
                    </a:p>
                  </a:txBody>
                  <a:tcPr marL="9102" marR="9102" marT="131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a:noFill/>
                    </a:lnT>
                    <a:lnB>
                      <a:noFill/>
                    </a:lnB>
                    <a:noFill/>
                  </a:tcPr>
                </a:tc>
                <a:tc>
                  <a:txBody>
                    <a:bodyPr/>
                    <a:lstStyle/>
                    <a:p>
                      <a:pPr algn="ctr" fontAlgn="ctr">
                        <a:buNone/>
                      </a:pPr>
                      <a:r>
                        <a:rPr lang="ja-JP" altLang="en-US" sz="1100" b="0" i="0" u="none" strike="noStrike" dirty="0">
                          <a:solidFill>
                            <a:srgbClr val="000000"/>
                          </a:solidFill>
                          <a:effectLst/>
                          <a:latin typeface="メイリオ" panose="020B0604030504040204" pitchFamily="50" charset="-128"/>
                          <a:ea typeface="メイリオ" panose="020B0604030504040204" pitchFamily="50" charset="-128"/>
                        </a:rPr>
                        <a:t>サンクス</a:t>
                      </a:r>
                      <a:r>
                        <a:rPr lang="en-US" altLang="ja-JP" sz="1100" b="0" i="0" u="none" strike="noStrike" dirty="0">
                          <a:solidFill>
                            <a:srgbClr val="000000"/>
                          </a:solidFill>
                          <a:effectLst/>
                          <a:latin typeface="メイリオ" panose="020B0604030504040204" pitchFamily="50" charset="-128"/>
                          <a:ea typeface="メイリオ" panose="020B0604030504040204" pitchFamily="50" charset="-128"/>
                        </a:rPr>
                        <a:t>LINE</a:t>
                      </a:r>
                      <a:r>
                        <a:rPr lang="ja-JP" altLang="en-US" sz="1100" b="0" i="0" u="none" strike="noStrike" dirty="0">
                          <a:solidFill>
                            <a:srgbClr val="000000"/>
                          </a:solidFill>
                          <a:effectLst/>
                          <a:latin typeface="メイリオ" panose="020B0604030504040204" pitchFamily="50" charset="-128"/>
                          <a:ea typeface="メイリオ" panose="020B0604030504040204" pitchFamily="50" charset="-128"/>
                        </a:rPr>
                        <a:t>誘導ツール</a:t>
                      </a:r>
                    </a:p>
                  </a:txBody>
                  <a:tcPr marL="9102" marR="9102" marT="131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r>
                        <a:rPr lang="en-US" altLang="ja-JP" sz="105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rPr>
                        <a:t>¥50,000</a:t>
                      </a:r>
                    </a:p>
                  </a:txBody>
                  <a:tcPr marL="9102" marR="9102" marT="131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endParaRPr lang="en-US" altLang="ja-JP" sz="600" b="0" i="0" u="none" strike="noStrike" dirty="0">
                        <a:solidFill>
                          <a:srgbClr val="000000"/>
                        </a:solidFill>
                        <a:effectLst/>
                        <a:latin typeface="メイリオ" panose="020B0604030504040204" pitchFamily="50" charset="-128"/>
                        <a:ea typeface="メイリオ" panose="020B0604030504040204" pitchFamily="50" charset="-128"/>
                      </a:endParaRP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bg1">
                        <a:lumMod val="85000"/>
                      </a:schemeClr>
                    </a:solidFill>
                  </a:tcPr>
                </a:tc>
                <a:extLst>
                  <a:ext uri="{0D108BD9-81ED-4DB2-BD59-A6C34878D82A}">
                    <a16:rowId xmlns:a16="http://schemas.microsoft.com/office/drawing/2014/main" val="2117655704"/>
                  </a:ext>
                </a:extLst>
              </a:tr>
            </a:tbl>
          </a:graphicData>
        </a:graphic>
      </p:graphicFrame>
      <p:sp>
        <p:nvSpPr>
          <p:cNvPr id="5" name="テキスト ボックス 4">
            <a:extLst>
              <a:ext uri="{FF2B5EF4-FFF2-40B4-BE49-F238E27FC236}">
                <a16:creationId xmlns:a16="http://schemas.microsoft.com/office/drawing/2014/main" id="{F7D704DA-4ADC-402A-12BC-1D923B1E3B20}"/>
              </a:ext>
            </a:extLst>
          </p:cNvPr>
          <p:cNvSpPr txBox="1"/>
          <p:nvPr/>
        </p:nvSpPr>
        <p:spPr>
          <a:xfrm>
            <a:off x="1344877" y="6045252"/>
            <a:ext cx="7267622" cy="307777"/>
          </a:xfrm>
          <a:prstGeom prst="rect">
            <a:avLst/>
          </a:prstGeom>
          <a:noFill/>
        </p:spPr>
        <p:txBody>
          <a:bodyPr wrap="square">
            <a:spAutoFit/>
          </a:bodyPr>
          <a:lstStyle/>
          <a:p>
            <a:pPr algn="ctr"/>
            <a:r>
              <a:rPr lang="ja-JP" altLang="en-US" sz="1400" dirty="0">
                <a:solidFill>
                  <a:srgbClr val="FF0000"/>
                </a:solidFill>
                <a:latin typeface="メイリオ" panose="020B0604030504040204" pitchFamily="50" charset="-128"/>
                <a:ea typeface="メイリオ" panose="020B0604030504040204" pitchFamily="50" charset="-128"/>
                <a:sym typeface="Meiryo"/>
              </a:rPr>
              <a:t>貴社リソースの状況に応じて都度発注でのご依頼も各単価で受けさせていただきます。</a:t>
            </a:r>
            <a:endParaRPr lang="ja-JP" altLang="en-US" sz="1400" dirty="0"/>
          </a:p>
        </p:txBody>
      </p:sp>
      <p:sp>
        <p:nvSpPr>
          <p:cNvPr id="2" name="正方形/長方形 1">
            <a:extLst>
              <a:ext uri="{FF2B5EF4-FFF2-40B4-BE49-F238E27FC236}">
                <a16:creationId xmlns:a16="http://schemas.microsoft.com/office/drawing/2014/main" id="{80B84980-B4D9-2F75-F253-D767EB0FFCF5}"/>
              </a:ext>
            </a:extLst>
          </p:cNvPr>
          <p:cNvSpPr/>
          <p:nvPr/>
        </p:nvSpPr>
        <p:spPr>
          <a:xfrm>
            <a:off x="378823" y="1329288"/>
            <a:ext cx="9183188" cy="5219557"/>
          </a:xfrm>
          <a:prstGeom prst="rect">
            <a:avLst/>
          </a:prstGeom>
          <a:solidFill>
            <a:schemeClr val="bg1">
              <a:alpha val="4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400" dirty="0">
              <a:latin typeface="メイリオ" panose="020B0604030504040204" pitchFamily="50" charset="-128"/>
              <a:ea typeface="メイリオ" panose="020B0604030504040204" pitchFamily="50" charset="-128"/>
            </a:endParaRPr>
          </a:p>
        </p:txBody>
      </p:sp>
    </p:spTree>
    <p:extLst>
      <p:ext uri="{BB962C8B-B14F-4D97-AF65-F5344CB8AC3E}">
        <p14:creationId xmlns:p14="http://schemas.microsoft.com/office/powerpoint/2010/main" val="288088193"/>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9D17A57-A342-CB38-A7F8-9DB9EF160348}"/>
            </a:ext>
          </a:extLst>
        </p:cNvPr>
        <p:cNvGrpSpPr/>
        <p:nvPr/>
      </p:nvGrpSpPr>
      <p:grpSpPr>
        <a:xfrm>
          <a:off x="0" y="0"/>
          <a:ext cx="0" cy="0"/>
          <a:chOff x="0" y="0"/>
          <a:chExt cx="0" cy="0"/>
        </a:xfrm>
      </p:grpSpPr>
      <p:sp>
        <p:nvSpPr>
          <p:cNvPr id="4" name="Google Shape;752;p28">
            <a:extLst>
              <a:ext uri="{FF2B5EF4-FFF2-40B4-BE49-F238E27FC236}">
                <a16:creationId xmlns:a16="http://schemas.microsoft.com/office/drawing/2014/main" id="{282D28B4-A2E3-FBF5-60E3-CBDCF57DCEEB}"/>
              </a:ext>
            </a:extLst>
          </p:cNvPr>
          <p:cNvSpPr txBox="1"/>
          <p:nvPr/>
        </p:nvSpPr>
        <p:spPr>
          <a:xfrm>
            <a:off x="548883" y="138137"/>
            <a:ext cx="6276325" cy="338514"/>
          </a:xfrm>
          <a:prstGeom prst="rect">
            <a:avLst/>
          </a:prstGeom>
          <a:noFill/>
          <a:ln>
            <a:noFill/>
          </a:ln>
        </p:spPr>
        <p:txBody>
          <a:bodyPr spcFirstLastPara="1" wrap="square" lIns="91425" tIns="45700" rIns="91425" bIns="45700" anchor="ctr" anchorCtr="0">
            <a:spAutoFit/>
          </a:bodyPr>
          <a:lstStyle/>
          <a:p>
            <a:pPr lvl="0"/>
            <a:r>
              <a:rPr lang="ja-JP" altLang="en-US" sz="1600" b="1" dirty="0">
                <a:solidFill>
                  <a:srgbClr val="323366"/>
                </a:solidFill>
                <a:latin typeface="メイリオ" panose="020B0604030504040204" pitchFamily="50" charset="-128"/>
                <a:ea typeface="メイリオ" panose="020B0604030504040204" pitchFamily="50" charset="-128"/>
                <a:cs typeface="Meiryo"/>
                <a:sym typeface="Meiryo"/>
              </a:rPr>
              <a:t>資料アジェンダ</a:t>
            </a:r>
          </a:p>
        </p:txBody>
      </p:sp>
      <p:sp>
        <p:nvSpPr>
          <p:cNvPr id="2" name="正方形/長方形 1">
            <a:extLst>
              <a:ext uri="{FF2B5EF4-FFF2-40B4-BE49-F238E27FC236}">
                <a16:creationId xmlns:a16="http://schemas.microsoft.com/office/drawing/2014/main" id="{8262C21F-1F4A-FEF6-A8ED-48C7EC229555}"/>
              </a:ext>
            </a:extLst>
          </p:cNvPr>
          <p:cNvSpPr/>
          <p:nvPr/>
        </p:nvSpPr>
        <p:spPr>
          <a:xfrm>
            <a:off x="3629572" y="3038203"/>
            <a:ext cx="2646878" cy="584775"/>
          </a:xfrm>
          <a:prstGeom prst="rect">
            <a:avLst/>
          </a:prstGeom>
        </p:spPr>
        <p:txBody>
          <a:bodyPr wrap="none">
            <a:spAutoFit/>
          </a:bodyPr>
          <a:lstStyle/>
          <a:p>
            <a:pPr algn="ctr"/>
            <a:r>
              <a:rPr lang="ja-JP" altLang="en-US" sz="3200" b="1" dirty="0">
                <a:solidFill>
                  <a:schemeClr val="tx1">
                    <a:lumMod val="75000"/>
                    <a:lumOff val="25000"/>
                  </a:schemeClr>
                </a:solidFill>
                <a:latin typeface="メイリオ" panose="020B0604030504040204" pitchFamily="50" charset="-128"/>
                <a:ea typeface="メイリオ" panose="020B0604030504040204" pitchFamily="50" charset="-128"/>
                <a:cs typeface="メイリオ" panose="020B0604030504040204" pitchFamily="50" charset="-128"/>
              </a:rPr>
              <a:t>サポート体制</a:t>
            </a:r>
            <a:endParaRPr lang="en-US" altLang="ja-IS" sz="3200" b="1" dirty="0">
              <a:solidFill>
                <a:schemeClr val="tx1">
                  <a:lumMod val="75000"/>
                  <a:lumOff val="25000"/>
                </a:schemeClr>
              </a:solidFill>
              <a:latin typeface="メイリオ" panose="020B0604030504040204" pitchFamily="50" charset="-128"/>
              <a:ea typeface="メイリオ" panose="020B0604030504040204" pitchFamily="50" charset="-128"/>
              <a:cs typeface="メイリオ" panose="020B0604030504040204" pitchFamily="50" charset="-128"/>
            </a:endParaRPr>
          </a:p>
        </p:txBody>
      </p:sp>
    </p:spTree>
    <p:extLst>
      <p:ext uri="{BB962C8B-B14F-4D97-AF65-F5344CB8AC3E}">
        <p14:creationId xmlns:p14="http://schemas.microsoft.com/office/powerpoint/2010/main" val="3092134068"/>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正方形/長方形 5"/>
          <p:cNvSpPr/>
          <p:nvPr/>
        </p:nvSpPr>
        <p:spPr>
          <a:xfrm>
            <a:off x="300312" y="832762"/>
            <a:ext cx="9355994" cy="867143"/>
          </a:xfrm>
          <a:prstGeom prst="rect">
            <a:avLst/>
          </a:prstGeom>
          <a:solidFill>
            <a:schemeClr val="tx2"/>
          </a:solidFill>
          <a:ln w="22225">
            <a:solidFill>
              <a:schemeClr val="tx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ja-JP" sz="2400" dirty="0">
                <a:solidFill>
                  <a:schemeClr val="bg1"/>
                </a:solidFill>
                <a:latin typeface="メイリオ" panose="020B0604030504040204" pitchFamily="50" charset="-128"/>
                <a:ea typeface="メイリオ" panose="020B0604030504040204" pitchFamily="50" charset="-128"/>
              </a:rPr>
              <a:t>WEB</a:t>
            </a:r>
            <a:r>
              <a:rPr lang="ja-JP" altLang="en-US" sz="2400" dirty="0">
                <a:solidFill>
                  <a:schemeClr val="bg1"/>
                </a:solidFill>
                <a:latin typeface="メイリオ" panose="020B0604030504040204" pitchFamily="50" charset="-128"/>
                <a:ea typeface="メイリオ" panose="020B0604030504040204" pitchFamily="50" charset="-128"/>
              </a:rPr>
              <a:t>サイト上情報と連携させ、配信効果を数値化する</a:t>
            </a:r>
          </a:p>
        </p:txBody>
      </p:sp>
      <p:pic>
        <p:nvPicPr>
          <p:cNvPr id="7" name="図 6"/>
          <p:cNvPicPr>
            <a:picLocks noChangeAspect="1"/>
          </p:cNvPicPr>
          <p:nvPr/>
        </p:nvPicPr>
        <p:blipFill>
          <a:blip r:embed="rId3"/>
          <a:stretch>
            <a:fillRect/>
          </a:stretch>
        </p:blipFill>
        <p:spPr>
          <a:xfrm>
            <a:off x="1183616" y="2131090"/>
            <a:ext cx="2498573" cy="1744287"/>
          </a:xfrm>
          <a:prstGeom prst="rect">
            <a:avLst/>
          </a:prstGeom>
        </p:spPr>
      </p:pic>
      <p:pic>
        <p:nvPicPr>
          <p:cNvPr id="8" name="図 7"/>
          <p:cNvPicPr>
            <a:picLocks noChangeAspect="1"/>
          </p:cNvPicPr>
          <p:nvPr/>
        </p:nvPicPr>
        <p:blipFill>
          <a:blip r:embed="rId4"/>
          <a:stretch>
            <a:fillRect/>
          </a:stretch>
        </p:blipFill>
        <p:spPr>
          <a:xfrm>
            <a:off x="3456146" y="2402524"/>
            <a:ext cx="2393091" cy="1668595"/>
          </a:xfrm>
          <a:prstGeom prst="rect">
            <a:avLst/>
          </a:prstGeom>
        </p:spPr>
      </p:pic>
      <p:pic>
        <p:nvPicPr>
          <p:cNvPr id="10" name="図 9"/>
          <p:cNvPicPr>
            <a:picLocks noChangeAspect="1"/>
          </p:cNvPicPr>
          <p:nvPr/>
        </p:nvPicPr>
        <p:blipFill>
          <a:blip r:embed="rId5"/>
          <a:stretch>
            <a:fillRect/>
          </a:stretch>
        </p:blipFill>
        <p:spPr>
          <a:xfrm>
            <a:off x="5697714" y="2676687"/>
            <a:ext cx="2432174" cy="1698131"/>
          </a:xfrm>
          <a:prstGeom prst="rect">
            <a:avLst/>
          </a:prstGeom>
        </p:spPr>
      </p:pic>
      <p:pic>
        <p:nvPicPr>
          <p:cNvPr id="14" name="図 13"/>
          <p:cNvPicPr>
            <a:picLocks noChangeAspect="1"/>
          </p:cNvPicPr>
          <p:nvPr/>
        </p:nvPicPr>
        <p:blipFill>
          <a:blip r:embed="rId6"/>
          <a:stretch>
            <a:fillRect/>
          </a:stretch>
        </p:blipFill>
        <p:spPr>
          <a:xfrm>
            <a:off x="1158180" y="4165451"/>
            <a:ext cx="2417022" cy="1682579"/>
          </a:xfrm>
          <a:prstGeom prst="rect">
            <a:avLst/>
          </a:prstGeom>
        </p:spPr>
      </p:pic>
      <p:pic>
        <p:nvPicPr>
          <p:cNvPr id="15" name="図 14"/>
          <p:cNvPicPr>
            <a:picLocks noChangeAspect="1"/>
          </p:cNvPicPr>
          <p:nvPr/>
        </p:nvPicPr>
        <p:blipFill>
          <a:blip r:embed="rId7"/>
          <a:stretch>
            <a:fillRect/>
          </a:stretch>
        </p:blipFill>
        <p:spPr>
          <a:xfrm>
            <a:off x="3434655" y="4410829"/>
            <a:ext cx="2417022" cy="1683209"/>
          </a:xfrm>
          <a:prstGeom prst="rect">
            <a:avLst/>
          </a:prstGeom>
        </p:spPr>
      </p:pic>
      <p:pic>
        <p:nvPicPr>
          <p:cNvPr id="24" name="図 23"/>
          <p:cNvPicPr>
            <a:picLocks noChangeAspect="1"/>
          </p:cNvPicPr>
          <p:nvPr/>
        </p:nvPicPr>
        <p:blipFill>
          <a:blip r:embed="rId8"/>
          <a:stretch>
            <a:fillRect/>
          </a:stretch>
        </p:blipFill>
        <p:spPr>
          <a:xfrm>
            <a:off x="5697714" y="4687135"/>
            <a:ext cx="2427146" cy="1691079"/>
          </a:xfrm>
          <a:prstGeom prst="rect">
            <a:avLst/>
          </a:prstGeom>
        </p:spPr>
      </p:pic>
      <p:pic>
        <p:nvPicPr>
          <p:cNvPr id="26" name="図 25"/>
          <p:cNvPicPr>
            <a:picLocks noChangeAspect="1"/>
          </p:cNvPicPr>
          <p:nvPr/>
        </p:nvPicPr>
        <p:blipFill>
          <a:blip r:embed="rId9"/>
          <a:stretch>
            <a:fillRect/>
          </a:stretch>
        </p:blipFill>
        <p:spPr>
          <a:xfrm>
            <a:off x="8022243" y="1995292"/>
            <a:ext cx="1068645" cy="454221"/>
          </a:xfrm>
          <a:prstGeom prst="rect">
            <a:avLst/>
          </a:prstGeom>
        </p:spPr>
      </p:pic>
      <p:sp>
        <p:nvSpPr>
          <p:cNvPr id="2" name="テキスト ボックス 1">
            <a:extLst>
              <a:ext uri="{FF2B5EF4-FFF2-40B4-BE49-F238E27FC236}">
                <a16:creationId xmlns:a16="http://schemas.microsoft.com/office/drawing/2014/main" id="{D651C636-9CF1-15AA-68DF-A90526709D47}"/>
              </a:ext>
            </a:extLst>
          </p:cNvPr>
          <p:cNvSpPr txBox="1"/>
          <p:nvPr/>
        </p:nvSpPr>
        <p:spPr>
          <a:xfrm>
            <a:off x="482693" y="989115"/>
            <a:ext cx="933809" cy="646331"/>
          </a:xfrm>
          <a:prstGeom prst="rect">
            <a:avLst/>
          </a:prstGeom>
          <a:noFill/>
        </p:spPr>
        <p:txBody>
          <a:bodyPr wrap="square">
            <a:spAutoFit/>
          </a:bodyPr>
          <a:lstStyle/>
          <a:p>
            <a:r>
              <a:rPr lang="ja-JP" altLang="en-US" sz="3600" dirty="0">
                <a:solidFill>
                  <a:schemeClr val="bg1"/>
                </a:solidFill>
                <a:latin typeface="メイリオ" panose="020B0604030504040204" pitchFamily="50" charset="-128"/>
                <a:ea typeface="メイリオ" panose="020B0604030504040204" pitchFamily="50" charset="-128"/>
              </a:rPr>
              <a:t>☑</a:t>
            </a:r>
            <a:endParaRPr lang="ja-JP" altLang="en-US" sz="3600" dirty="0"/>
          </a:p>
        </p:txBody>
      </p:sp>
      <p:pic>
        <p:nvPicPr>
          <p:cNvPr id="3" name="Picture 2" descr="ロゴガイドライン｜LINEヤフー for Business">
            <a:extLst>
              <a:ext uri="{FF2B5EF4-FFF2-40B4-BE49-F238E27FC236}">
                <a16:creationId xmlns:a16="http://schemas.microsoft.com/office/drawing/2014/main" id="{4B935F7B-C5E5-F09A-504B-9182D06611BF}"/>
              </a:ext>
            </a:extLst>
          </p:cNvPr>
          <p:cNvPicPr>
            <a:picLocks noChangeAspect="1" noChangeArrowheads="1"/>
          </p:cNvPicPr>
          <p:nvPr/>
        </p:nvPicPr>
        <p:blipFill>
          <a:blip r:embed="rId10" cstate="print">
            <a:extLst>
              <a:ext uri="{28A0092B-C50C-407E-A947-70E740481C1C}">
                <a14:useLocalDpi xmlns:a14="http://schemas.microsoft.com/office/drawing/2010/main" val="0"/>
              </a:ext>
            </a:extLst>
          </a:blip>
          <a:srcRect/>
          <a:stretch>
            <a:fillRect/>
          </a:stretch>
        </p:blipFill>
        <p:spPr bwMode="auto">
          <a:xfrm>
            <a:off x="6485508" y="1787991"/>
            <a:ext cx="2447955" cy="888696"/>
          </a:xfrm>
          <a:prstGeom prst="rect">
            <a:avLst/>
          </a:prstGeom>
          <a:noFill/>
          <a:extLst>
            <a:ext uri="{909E8E84-426E-40DD-AFC4-6F175D3DCCD1}">
              <a14:hiddenFill xmlns:a14="http://schemas.microsoft.com/office/drawing/2010/main">
                <a:solidFill>
                  <a:srgbClr val="FFFFFF"/>
                </a:solidFill>
              </a14:hiddenFill>
            </a:ext>
          </a:extLst>
        </p:spPr>
      </p:pic>
      <p:sp>
        <p:nvSpPr>
          <p:cNvPr id="4" name="Google Shape;156;p7">
            <a:extLst>
              <a:ext uri="{FF2B5EF4-FFF2-40B4-BE49-F238E27FC236}">
                <a16:creationId xmlns:a16="http://schemas.microsoft.com/office/drawing/2014/main" id="{C235E2E0-8EAB-29DE-40C2-6596465C1F0D}"/>
              </a:ext>
            </a:extLst>
          </p:cNvPr>
          <p:cNvSpPr txBox="1"/>
          <p:nvPr/>
        </p:nvSpPr>
        <p:spPr>
          <a:xfrm>
            <a:off x="548883" y="138118"/>
            <a:ext cx="6514857" cy="338554"/>
          </a:xfrm>
          <a:prstGeom prst="rect">
            <a:avLst/>
          </a:prstGeom>
          <a:noFill/>
          <a:ln>
            <a:noFill/>
          </a:ln>
        </p:spPr>
        <p:txBody>
          <a:bodyPr spcFirstLastPara="1" wrap="square" lIns="91425" tIns="45700" rIns="91425" bIns="45700" anchor="ctr" anchorCtr="0">
            <a:spAutoFit/>
          </a:bodyPr>
          <a:lstStyle/>
          <a:p>
            <a:pPr marL="0" marR="0" lvl="0" indent="0" algn="l" rtl="0">
              <a:spcBef>
                <a:spcPts val="0"/>
              </a:spcBef>
              <a:spcAft>
                <a:spcPts val="0"/>
              </a:spcAft>
              <a:buClr>
                <a:srgbClr val="002060"/>
              </a:buClr>
              <a:buSzPts val="1600"/>
              <a:buFont typeface="Arial"/>
              <a:buNone/>
            </a:pPr>
            <a:r>
              <a:rPr lang="ja-JP" altLang="en-US" sz="1600" b="1" dirty="0">
                <a:solidFill>
                  <a:srgbClr val="002060"/>
                </a:solidFill>
                <a:latin typeface="Meiryo"/>
                <a:ea typeface="Meiryo"/>
                <a:cs typeface="Meiryo"/>
                <a:sym typeface="Meiryo"/>
              </a:rPr>
              <a:t>サポート体制（報告</a:t>
            </a:r>
            <a:r>
              <a:rPr lang="en-US" altLang="ja-JP" sz="1600" b="1" dirty="0">
                <a:solidFill>
                  <a:srgbClr val="002060"/>
                </a:solidFill>
                <a:latin typeface="Meiryo"/>
                <a:ea typeface="Meiryo"/>
                <a:cs typeface="Meiryo"/>
                <a:sym typeface="Meiryo"/>
              </a:rPr>
              <a:t>FMT</a:t>
            </a:r>
            <a:r>
              <a:rPr lang="ja-JP" altLang="en-US" sz="1600" b="1" dirty="0">
                <a:solidFill>
                  <a:srgbClr val="002060"/>
                </a:solidFill>
                <a:latin typeface="Meiryo"/>
                <a:ea typeface="Meiryo"/>
                <a:cs typeface="Meiryo"/>
                <a:sym typeface="Meiryo"/>
              </a:rPr>
              <a:t>）</a:t>
            </a:r>
            <a:endParaRPr sz="1600" b="1" dirty="0">
              <a:solidFill>
                <a:srgbClr val="002060"/>
              </a:solidFill>
              <a:latin typeface="Meiryo"/>
              <a:ea typeface="Meiryo"/>
              <a:cs typeface="Meiryo"/>
              <a:sym typeface="Meiryo"/>
            </a:endParaRPr>
          </a:p>
        </p:txBody>
      </p:sp>
      <p:sp>
        <p:nvSpPr>
          <p:cNvPr id="5" name="正方形/長方形 4">
            <a:extLst>
              <a:ext uri="{FF2B5EF4-FFF2-40B4-BE49-F238E27FC236}">
                <a16:creationId xmlns:a16="http://schemas.microsoft.com/office/drawing/2014/main" id="{301FEA49-75A4-DB83-1235-8CE72DDD1DB5}"/>
              </a:ext>
            </a:extLst>
          </p:cNvPr>
          <p:cNvSpPr/>
          <p:nvPr/>
        </p:nvSpPr>
        <p:spPr>
          <a:xfrm>
            <a:off x="166962" y="3583894"/>
            <a:ext cx="9594258" cy="867143"/>
          </a:xfrm>
          <a:prstGeom prst="rect">
            <a:avLst/>
          </a:prstGeom>
          <a:solidFill>
            <a:schemeClr val="tx1">
              <a:lumMod val="65000"/>
              <a:lumOff val="35000"/>
              <a:alpha val="50000"/>
            </a:schemeClr>
          </a:solidFill>
          <a:ln w="22225">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ja-JP" altLang="en-US" sz="2400" b="1" dirty="0">
                <a:solidFill>
                  <a:schemeClr val="bg1"/>
                </a:solidFill>
                <a:latin typeface="メイリオ" panose="020B0604030504040204" pitchFamily="50" charset="-128"/>
                <a:ea typeface="メイリオ" panose="020B0604030504040204" pitchFamily="50" charset="-128"/>
              </a:rPr>
              <a:t>レポートサンプル</a:t>
            </a:r>
            <a:endParaRPr lang="en-US" altLang="ja-JP" sz="2400" b="1" dirty="0">
              <a:solidFill>
                <a:schemeClr val="bg1"/>
              </a:solidFill>
              <a:latin typeface="メイリオ" panose="020B0604030504040204" pitchFamily="50" charset="-128"/>
              <a:ea typeface="メイリオ" panose="020B0604030504040204" pitchFamily="50" charset="-128"/>
            </a:endParaRPr>
          </a:p>
          <a:p>
            <a:pPr algn="ctr"/>
            <a:r>
              <a:rPr lang="ja-JP" altLang="en-US" sz="1400" dirty="0">
                <a:solidFill>
                  <a:schemeClr val="bg1"/>
                </a:solidFill>
                <a:latin typeface="メイリオ" panose="020B0604030504040204" pitchFamily="50" charset="-128"/>
                <a:ea typeface="メイリオ" panose="020B0604030504040204" pitchFamily="50" charset="-128"/>
              </a:rPr>
              <a:t>（貴社要望によりカスタマイズ予定）</a:t>
            </a:r>
          </a:p>
        </p:txBody>
      </p:sp>
    </p:spTree>
    <p:extLst>
      <p:ext uri="{BB962C8B-B14F-4D97-AF65-F5344CB8AC3E}">
        <p14:creationId xmlns:p14="http://schemas.microsoft.com/office/powerpoint/2010/main" val="202681836"/>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正方形/長方形 1"/>
          <p:cNvSpPr/>
          <p:nvPr/>
        </p:nvSpPr>
        <p:spPr>
          <a:xfrm>
            <a:off x="6757851" y="93594"/>
            <a:ext cx="1320961" cy="344039"/>
          </a:xfrm>
          <a:prstGeom prst="rect">
            <a:avLst/>
          </a:prstGeom>
          <a:solidFill>
            <a:schemeClr val="bg1">
              <a:lumMod val="8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ja-JP" altLang="en-US" sz="1100" dirty="0">
                <a:latin typeface="メイリオ" panose="020B0604030504040204" pitchFamily="50" charset="-128"/>
                <a:ea typeface="メイリオ" panose="020B0604030504040204" pitchFamily="50" charset="-128"/>
              </a:rPr>
              <a:t>効果計測</a:t>
            </a:r>
            <a:endParaRPr kumimoji="1" lang="ja-JP" altLang="en-US" sz="1100" dirty="0">
              <a:latin typeface="メイリオ" panose="020B0604030504040204" pitchFamily="50" charset="-128"/>
              <a:ea typeface="メイリオ" panose="020B0604030504040204" pitchFamily="50" charset="-128"/>
            </a:endParaRPr>
          </a:p>
        </p:txBody>
      </p:sp>
      <p:sp>
        <p:nvSpPr>
          <p:cNvPr id="14" name="正方形/長方形 13"/>
          <p:cNvSpPr/>
          <p:nvPr/>
        </p:nvSpPr>
        <p:spPr>
          <a:xfrm>
            <a:off x="258794" y="1486023"/>
            <a:ext cx="9230264" cy="1705755"/>
          </a:xfrm>
          <a:prstGeom prst="rect">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00"/>
          </a:p>
        </p:txBody>
      </p:sp>
      <p:pic>
        <p:nvPicPr>
          <p:cNvPr id="15" name="図 14"/>
          <p:cNvPicPr>
            <a:picLocks noChangeAspect="1"/>
          </p:cNvPicPr>
          <p:nvPr/>
        </p:nvPicPr>
        <p:blipFill>
          <a:blip r:embed="rId3"/>
          <a:stretch>
            <a:fillRect/>
          </a:stretch>
        </p:blipFill>
        <p:spPr>
          <a:xfrm>
            <a:off x="445640" y="4515592"/>
            <a:ext cx="4393508" cy="1886055"/>
          </a:xfrm>
          <a:prstGeom prst="rect">
            <a:avLst/>
          </a:prstGeom>
        </p:spPr>
      </p:pic>
      <p:sp>
        <p:nvSpPr>
          <p:cNvPr id="16" name="正方形/長方形 15"/>
          <p:cNvSpPr/>
          <p:nvPr/>
        </p:nvSpPr>
        <p:spPr>
          <a:xfrm>
            <a:off x="1728755" y="1724210"/>
            <a:ext cx="1984767" cy="485775"/>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en-US" altLang="ja-JP" sz="1200" b="1" dirty="0">
                <a:latin typeface="メイリオ" panose="020B0604030504040204" pitchFamily="50" charset="-128"/>
                <a:ea typeface="メイリオ" panose="020B0604030504040204" pitchFamily="50" charset="-128"/>
              </a:rPr>
              <a:t>API</a:t>
            </a:r>
            <a:r>
              <a:rPr lang="ja-JP" altLang="en-US" sz="1200" b="1" dirty="0">
                <a:latin typeface="メイリオ" panose="020B0604030504040204" pitchFamily="50" charset="-128"/>
                <a:ea typeface="メイリオ" panose="020B0604030504040204" pitchFamily="50" charset="-128"/>
              </a:rPr>
              <a:t>ツールなし</a:t>
            </a:r>
            <a:endParaRPr kumimoji="1" lang="ja-JP" altLang="en-US" sz="1200" b="1" dirty="0">
              <a:latin typeface="メイリオ" panose="020B0604030504040204" pitchFamily="50" charset="-128"/>
              <a:ea typeface="メイリオ" panose="020B0604030504040204" pitchFamily="50" charset="-128"/>
            </a:endParaRPr>
          </a:p>
        </p:txBody>
      </p:sp>
      <p:sp>
        <p:nvSpPr>
          <p:cNvPr id="17" name="正方形/長方形 16"/>
          <p:cNvSpPr/>
          <p:nvPr/>
        </p:nvSpPr>
        <p:spPr>
          <a:xfrm>
            <a:off x="1728754" y="2464827"/>
            <a:ext cx="1984767" cy="485775"/>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en-US" altLang="ja-JP" sz="1200" b="1" dirty="0">
                <a:latin typeface="メイリオ" panose="020B0604030504040204" pitchFamily="50" charset="-128"/>
                <a:ea typeface="メイリオ" panose="020B0604030504040204" pitchFamily="50" charset="-128"/>
              </a:rPr>
              <a:t>API</a:t>
            </a:r>
            <a:r>
              <a:rPr kumimoji="1" lang="ja-JP" altLang="en-US" sz="1200" b="1" dirty="0">
                <a:latin typeface="メイリオ" panose="020B0604030504040204" pitchFamily="50" charset="-128"/>
                <a:ea typeface="メイリオ" panose="020B0604030504040204" pitchFamily="50" charset="-128"/>
              </a:rPr>
              <a:t>ツールあり</a:t>
            </a:r>
          </a:p>
        </p:txBody>
      </p:sp>
      <p:sp>
        <p:nvSpPr>
          <p:cNvPr id="18" name="正方形/長方形 17"/>
          <p:cNvSpPr/>
          <p:nvPr/>
        </p:nvSpPr>
        <p:spPr>
          <a:xfrm>
            <a:off x="3939661" y="2445682"/>
            <a:ext cx="3312125" cy="523220"/>
          </a:xfrm>
          <a:prstGeom prst="rect">
            <a:avLst/>
          </a:prstGeom>
        </p:spPr>
        <p:txBody>
          <a:bodyPr wrap="none" anchor="ctr">
            <a:spAutoFit/>
          </a:bodyPr>
          <a:lstStyle/>
          <a:p>
            <a:r>
              <a:rPr lang="en-US" altLang="ja-JP" sz="1400" dirty="0">
                <a:solidFill>
                  <a:schemeClr val="tx1">
                    <a:lumMod val="50000"/>
                    <a:lumOff val="50000"/>
                  </a:schemeClr>
                </a:solidFill>
                <a:latin typeface="メイリオ" panose="020B0604030504040204" pitchFamily="50" charset="-128"/>
                <a:ea typeface="メイリオ" panose="020B0604030504040204" pitchFamily="50" charset="-128"/>
              </a:rPr>
              <a:t>API</a:t>
            </a:r>
            <a:r>
              <a:rPr lang="ja-JP" altLang="en-US" sz="1400" dirty="0">
                <a:solidFill>
                  <a:schemeClr val="tx1">
                    <a:lumMod val="50000"/>
                    <a:lumOff val="50000"/>
                  </a:schemeClr>
                </a:solidFill>
                <a:latin typeface="メイリオ" panose="020B0604030504040204" pitchFamily="50" charset="-128"/>
                <a:ea typeface="メイリオ" panose="020B0604030504040204" pitchFamily="50" charset="-128"/>
              </a:rPr>
              <a:t>ツール管理画面上にて</a:t>
            </a:r>
            <a:endParaRPr lang="en-US" altLang="ja-JP" sz="1400" dirty="0">
              <a:solidFill>
                <a:schemeClr val="tx1">
                  <a:lumMod val="50000"/>
                  <a:lumOff val="50000"/>
                </a:schemeClr>
              </a:solidFill>
              <a:latin typeface="メイリオ" panose="020B0604030504040204" pitchFamily="50" charset="-128"/>
              <a:ea typeface="メイリオ" panose="020B0604030504040204" pitchFamily="50" charset="-128"/>
            </a:endParaRPr>
          </a:p>
          <a:p>
            <a:r>
              <a:rPr lang="ja-JP" altLang="en-US" sz="1400" dirty="0">
                <a:solidFill>
                  <a:schemeClr val="tx1">
                    <a:lumMod val="50000"/>
                    <a:lumOff val="50000"/>
                  </a:schemeClr>
                </a:solidFill>
                <a:latin typeface="メイリオ" panose="020B0604030504040204" pitchFamily="50" charset="-128"/>
                <a:ea typeface="メイリオ" panose="020B0604030504040204" pitchFamily="50" charset="-128"/>
              </a:rPr>
              <a:t>「特定期間に対する</a:t>
            </a:r>
            <a:r>
              <a:rPr lang="en-US" altLang="ja-JP" sz="1400" dirty="0">
                <a:solidFill>
                  <a:schemeClr val="tx1">
                    <a:lumMod val="50000"/>
                    <a:lumOff val="50000"/>
                  </a:schemeClr>
                </a:solidFill>
                <a:latin typeface="メイリオ" panose="020B0604030504040204" pitchFamily="50" charset="-128"/>
                <a:ea typeface="メイリオ" panose="020B0604030504040204" pitchFamily="50" charset="-128"/>
              </a:rPr>
              <a:t>CV</a:t>
            </a:r>
            <a:r>
              <a:rPr lang="ja-JP" altLang="en-US" sz="1400" dirty="0">
                <a:solidFill>
                  <a:schemeClr val="tx1">
                    <a:lumMod val="50000"/>
                    <a:lumOff val="50000"/>
                  </a:schemeClr>
                </a:solidFill>
                <a:latin typeface="メイリオ" panose="020B0604030504040204" pitchFamily="50" charset="-128"/>
                <a:ea typeface="メイリオ" panose="020B0604030504040204" pitchFamily="50" charset="-128"/>
              </a:rPr>
              <a:t>数算出」が可能</a:t>
            </a:r>
          </a:p>
        </p:txBody>
      </p:sp>
      <p:sp>
        <p:nvSpPr>
          <p:cNvPr id="19" name="正方形/長方形 18"/>
          <p:cNvSpPr/>
          <p:nvPr/>
        </p:nvSpPr>
        <p:spPr>
          <a:xfrm>
            <a:off x="3939661" y="1705487"/>
            <a:ext cx="4273927" cy="523220"/>
          </a:xfrm>
          <a:prstGeom prst="rect">
            <a:avLst/>
          </a:prstGeom>
        </p:spPr>
        <p:txBody>
          <a:bodyPr wrap="none" anchor="ctr">
            <a:spAutoFit/>
          </a:bodyPr>
          <a:lstStyle/>
          <a:p>
            <a:r>
              <a:rPr lang="en-US" altLang="ja-JP" sz="1400" dirty="0">
                <a:solidFill>
                  <a:schemeClr val="tx1">
                    <a:lumMod val="50000"/>
                    <a:lumOff val="50000"/>
                  </a:schemeClr>
                </a:solidFill>
                <a:latin typeface="メイリオ" panose="020B0604030504040204" pitchFamily="50" charset="-128"/>
                <a:ea typeface="メイリオ" panose="020B0604030504040204" pitchFamily="50" charset="-128"/>
              </a:rPr>
              <a:t>CV</a:t>
            </a:r>
            <a:r>
              <a:rPr lang="ja-JP" altLang="en-US" sz="1400" dirty="0">
                <a:solidFill>
                  <a:schemeClr val="tx1">
                    <a:lumMod val="50000"/>
                    <a:lumOff val="50000"/>
                  </a:schemeClr>
                </a:solidFill>
                <a:latin typeface="メイリオ" panose="020B0604030504040204" pitchFamily="50" charset="-128"/>
                <a:ea typeface="メイリオ" panose="020B0604030504040204" pitchFamily="50" charset="-128"/>
              </a:rPr>
              <a:t>タグの設定に伴い、計測自体は可能だが</a:t>
            </a:r>
            <a:endParaRPr lang="en-US" altLang="ja-JP" sz="1400" dirty="0">
              <a:solidFill>
                <a:schemeClr val="tx1">
                  <a:lumMod val="50000"/>
                  <a:lumOff val="50000"/>
                </a:schemeClr>
              </a:solidFill>
              <a:latin typeface="メイリオ" panose="020B0604030504040204" pitchFamily="50" charset="-128"/>
              <a:ea typeface="メイリオ" panose="020B0604030504040204" pitchFamily="50" charset="-128"/>
            </a:endParaRPr>
          </a:p>
          <a:p>
            <a:r>
              <a:rPr lang="en-US" altLang="ja-JP" sz="1400" dirty="0">
                <a:solidFill>
                  <a:schemeClr val="tx1">
                    <a:lumMod val="50000"/>
                    <a:lumOff val="50000"/>
                  </a:schemeClr>
                </a:solidFill>
                <a:latin typeface="メイリオ" panose="020B0604030504040204" pitchFamily="50" charset="-128"/>
                <a:ea typeface="メイリオ" panose="020B0604030504040204" pitchFamily="50" charset="-128"/>
              </a:rPr>
              <a:t>CV</a:t>
            </a:r>
            <a:r>
              <a:rPr lang="ja-JP" altLang="en-US" sz="1400" dirty="0">
                <a:solidFill>
                  <a:schemeClr val="tx1">
                    <a:lumMod val="50000"/>
                    <a:lumOff val="50000"/>
                  </a:schemeClr>
                </a:solidFill>
                <a:latin typeface="メイリオ" panose="020B0604030504040204" pitchFamily="50" charset="-128"/>
                <a:ea typeface="メイリオ" panose="020B0604030504040204" pitchFamily="50" charset="-128"/>
              </a:rPr>
              <a:t>数</a:t>
            </a:r>
            <a:r>
              <a:rPr lang="en-US" altLang="ja-JP" sz="1400" dirty="0">
                <a:solidFill>
                  <a:schemeClr val="tx1">
                    <a:lumMod val="50000"/>
                    <a:lumOff val="50000"/>
                  </a:schemeClr>
                </a:solidFill>
                <a:latin typeface="メイリオ" panose="020B0604030504040204" pitchFamily="50" charset="-128"/>
                <a:ea typeface="メイリオ" panose="020B0604030504040204" pitchFamily="50" charset="-128"/>
              </a:rPr>
              <a:t>50</a:t>
            </a:r>
            <a:r>
              <a:rPr lang="ja-JP" altLang="en-US" sz="1400" dirty="0">
                <a:solidFill>
                  <a:schemeClr val="tx1">
                    <a:lumMod val="50000"/>
                    <a:lumOff val="50000"/>
                  </a:schemeClr>
                </a:solidFill>
                <a:latin typeface="メイリオ" panose="020B0604030504040204" pitchFamily="50" charset="-128"/>
                <a:ea typeface="メイリオ" panose="020B0604030504040204" pitchFamily="50" charset="-128"/>
              </a:rPr>
              <a:t>件以上での数値計測となる（管理画面上）</a:t>
            </a:r>
          </a:p>
        </p:txBody>
      </p:sp>
      <p:sp>
        <p:nvSpPr>
          <p:cNvPr id="20" name="正方形/長方形 19"/>
          <p:cNvSpPr/>
          <p:nvPr/>
        </p:nvSpPr>
        <p:spPr>
          <a:xfrm>
            <a:off x="625827" y="2120216"/>
            <a:ext cx="646331" cy="369332"/>
          </a:xfrm>
          <a:prstGeom prst="rect">
            <a:avLst/>
          </a:prstGeom>
        </p:spPr>
        <p:txBody>
          <a:bodyPr wrap="none">
            <a:spAutoFit/>
          </a:bodyPr>
          <a:lstStyle/>
          <a:p>
            <a:pPr algn="ctr"/>
            <a:r>
              <a:rPr lang="ja-JP" altLang="en-US" dirty="0">
                <a:latin typeface="メイリオ" panose="020B0604030504040204" pitchFamily="50" charset="-128"/>
                <a:ea typeface="メイリオ" panose="020B0604030504040204" pitchFamily="50" charset="-128"/>
              </a:rPr>
              <a:t>通常</a:t>
            </a:r>
          </a:p>
        </p:txBody>
      </p:sp>
      <p:sp>
        <p:nvSpPr>
          <p:cNvPr id="21" name="正方形/長方形 20"/>
          <p:cNvSpPr/>
          <p:nvPr/>
        </p:nvSpPr>
        <p:spPr>
          <a:xfrm>
            <a:off x="258794" y="3337953"/>
            <a:ext cx="9230264" cy="1053074"/>
          </a:xfrm>
          <a:prstGeom prst="rect">
            <a:avLst/>
          </a:prstGeom>
          <a:solidFill>
            <a:schemeClr val="accent1">
              <a:lumMod val="20000"/>
              <a:lumOff val="8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00"/>
          </a:p>
        </p:txBody>
      </p:sp>
      <p:sp>
        <p:nvSpPr>
          <p:cNvPr id="22" name="正方形/長方形 21"/>
          <p:cNvSpPr/>
          <p:nvPr/>
        </p:nvSpPr>
        <p:spPr>
          <a:xfrm>
            <a:off x="1728754" y="3527788"/>
            <a:ext cx="1984767" cy="704850"/>
          </a:xfrm>
          <a:prstGeom prst="rect">
            <a:avLst/>
          </a:prstGeom>
          <a:solidFill>
            <a:srgbClr val="191F5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en-US" altLang="ja-JP" sz="1200" b="1" dirty="0">
                <a:latin typeface="メイリオ" panose="020B0604030504040204" pitchFamily="50" charset="-128"/>
                <a:ea typeface="メイリオ" panose="020B0604030504040204" pitchFamily="50" charset="-128"/>
              </a:rPr>
              <a:t>API</a:t>
            </a:r>
            <a:r>
              <a:rPr lang="ja-JP" altLang="en-US" sz="1200" b="1" dirty="0">
                <a:latin typeface="メイリオ" panose="020B0604030504040204" pitchFamily="50" charset="-128"/>
                <a:ea typeface="メイリオ" panose="020B0604030504040204" pitchFamily="50" charset="-128"/>
              </a:rPr>
              <a:t>ツール有無</a:t>
            </a:r>
            <a:endParaRPr lang="en-US" altLang="ja-JP" sz="1200" b="1" dirty="0">
              <a:latin typeface="メイリオ" panose="020B0604030504040204" pitchFamily="50" charset="-128"/>
              <a:ea typeface="メイリオ" panose="020B0604030504040204" pitchFamily="50" charset="-128"/>
            </a:endParaRPr>
          </a:p>
          <a:p>
            <a:pPr algn="ctr"/>
            <a:r>
              <a:rPr kumimoji="1" lang="ja-JP" altLang="en-US" sz="1200" b="1" dirty="0">
                <a:latin typeface="メイリオ" panose="020B0604030504040204" pitchFamily="50" charset="-128"/>
                <a:ea typeface="メイリオ" panose="020B0604030504040204" pitchFamily="50" charset="-128"/>
              </a:rPr>
              <a:t>に関わらず</a:t>
            </a:r>
          </a:p>
        </p:txBody>
      </p:sp>
      <p:sp>
        <p:nvSpPr>
          <p:cNvPr id="23" name="正方形/長方形 22"/>
          <p:cNvSpPr/>
          <p:nvPr/>
        </p:nvSpPr>
        <p:spPr>
          <a:xfrm>
            <a:off x="3939660" y="3618602"/>
            <a:ext cx="4164923" cy="523220"/>
          </a:xfrm>
          <a:prstGeom prst="rect">
            <a:avLst/>
          </a:prstGeom>
        </p:spPr>
        <p:txBody>
          <a:bodyPr wrap="none" anchor="ctr">
            <a:spAutoFit/>
          </a:bodyPr>
          <a:lstStyle/>
          <a:p>
            <a:r>
              <a:rPr lang="ja-JP" altLang="en-US" sz="1400" dirty="0">
                <a:latin typeface="メイリオ" panose="020B0604030504040204" pitchFamily="50" charset="-128"/>
                <a:ea typeface="メイリオ" panose="020B0604030504040204" pitchFamily="50" charset="-128"/>
              </a:rPr>
              <a:t>定期投稿、シナリオ、リッチメニュー等に設定の</a:t>
            </a:r>
            <a:endParaRPr lang="en-US" altLang="ja-JP" sz="1400" dirty="0">
              <a:latin typeface="メイリオ" panose="020B0604030504040204" pitchFamily="50" charset="-128"/>
              <a:ea typeface="メイリオ" panose="020B0604030504040204" pitchFamily="50" charset="-128"/>
            </a:endParaRPr>
          </a:p>
          <a:p>
            <a:r>
              <a:rPr lang="ja-JP" altLang="en-US" sz="1400" dirty="0">
                <a:latin typeface="メイリオ" panose="020B0604030504040204" pitchFamily="50" charset="-128"/>
                <a:ea typeface="メイリオ" panose="020B0604030504040204" pitchFamily="50" charset="-128"/>
              </a:rPr>
              <a:t>リンクについて、</a:t>
            </a:r>
            <a:r>
              <a:rPr lang="en-US" altLang="ja-JP" sz="1400" dirty="0">
                <a:solidFill>
                  <a:srgbClr val="FF0000"/>
                </a:solidFill>
                <a:latin typeface="メイリオ" panose="020B0604030504040204" pitchFamily="50" charset="-128"/>
                <a:ea typeface="メイリオ" panose="020B0604030504040204" pitchFamily="50" charset="-128"/>
              </a:rPr>
              <a:t>GA</a:t>
            </a:r>
            <a:r>
              <a:rPr lang="ja-JP" altLang="en-US" sz="1400" dirty="0" err="1">
                <a:solidFill>
                  <a:srgbClr val="FF0000"/>
                </a:solidFill>
                <a:latin typeface="メイリオ" panose="020B0604030504040204" pitchFamily="50" charset="-128"/>
                <a:ea typeface="メイリオ" panose="020B0604030504040204" pitchFamily="50" charset="-128"/>
              </a:rPr>
              <a:t>、</a:t>
            </a:r>
            <a:r>
              <a:rPr lang="en-US" altLang="ja-JP" sz="1400" dirty="0">
                <a:solidFill>
                  <a:srgbClr val="FF0000"/>
                </a:solidFill>
                <a:latin typeface="メイリオ" panose="020B0604030504040204" pitchFamily="50" charset="-128"/>
                <a:ea typeface="メイリオ" panose="020B0604030504040204" pitchFamily="50" charset="-128"/>
              </a:rPr>
              <a:t>MA</a:t>
            </a:r>
            <a:r>
              <a:rPr lang="ja-JP" altLang="en-US" sz="1400" dirty="0">
                <a:solidFill>
                  <a:srgbClr val="FF0000"/>
                </a:solidFill>
                <a:latin typeface="メイリオ" panose="020B0604030504040204" pitchFamily="50" charset="-128"/>
                <a:ea typeface="メイリオ" panose="020B0604030504040204" pitchFamily="50" charset="-128"/>
              </a:rPr>
              <a:t>ツールでの計測可能</a:t>
            </a:r>
            <a:r>
              <a:rPr lang="ja-JP" altLang="en-US" sz="1400" dirty="0">
                <a:latin typeface="メイリオ" panose="020B0604030504040204" pitchFamily="50" charset="-128"/>
                <a:ea typeface="メイリオ" panose="020B0604030504040204" pitchFamily="50" charset="-128"/>
              </a:rPr>
              <a:t>に</a:t>
            </a:r>
          </a:p>
        </p:txBody>
      </p:sp>
      <p:sp>
        <p:nvSpPr>
          <p:cNvPr id="24" name="正方形/長方形 23"/>
          <p:cNvSpPr/>
          <p:nvPr/>
        </p:nvSpPr>
        <p:spPr>
          <a:xfrm>
            <a:off x="571292" y="3649379"/>
            <a:ext cx="693973" cy="369332"/>
          </a:xfrm>
          <a:prstGeom prst="rect">
            <a:avLst/>
          </a:prstGeom>
        </p:spPr>
        <p:txBody>
          <a:bodyPr wrap="none">
            <a:spAutoFit/>
          </a:bodyPr>
          <a:lstStyle/>
          <a:p>
            <a:pPr algn="ctr"/>
            <a:r>
              <a:rPr lang="en-US" altLang="ja-JP" dirty="0">
                <a:latin typeface="メイリオ" panose="020B0604030504040204" pitchFamily="50" charset="-128"/>
                <a:ea typeface="メイリオ" panose="020B0604030504040204" pitchFamily="50" charset="-128"/>
              </a:rPr>
              <a:t>DYM</a:t>
            </a:r>
            <a:endParaRPr lang="ja-JP" altLang="en-US" dirty="0">
              <a:latin typeface="メイリオ" panose="020B0604030504040204" pitchFamily="50" charset="-128"/>
              <a:ea typeface="メイリオ" panose="020B0604030504040204" pitchFamily="50" charset="-128"/>
            </a:endParaRPr>
          </a:p>
        </p:txBody>
      </p:sp>
      <p:pic>
        <p:nvPicPr>
          <p:cNvPr id="27" name="図 26"/>
          <p:cNvPicPr>
            <a:picLocks noChangeAspect="1"/>
          </p:cNvPicPr>
          <p:nvPr/>
        </p:nvPicPr>
        <p:blipFill>
          <a:blip r:embed="rId4"/>
          <a:stretch>
            <a:fillRect/>
          </a:stretch>
        </p:blipFill>
        <p:spPr>
          <a:xfrm>
            <a:off x="5173537" y="4510754"/>
            <a:ext cx="4219164" cy="1912981"/>
          </a:xfrm>
          <a:prstGeom prst="rect">
            <a:avLst/>
          </a:prstGeom>
        </p:spPr>
      </p:pic>
      <p:sp>
        <p:nvSpPr>
          <p:cNvPr id="29" name="正方形/長方形 28"/>
          <p:cNvSpPr/>
          <p:nvPr/>
        </p:nvSpPr>
        <p:spPr>
          <a:xfrm>
            <a:off x="372964" y="4445247"/>
            <a:ext cx="4546440" cy="2023013"/>
          </a:xfrm>
          <a:prstGeom prst="rect">
            <a:avLst/>
          </a:prstGeom>
          <a:noFill/>
          <a:ln>
            <a:solidFill>
              <a:schemeClr val="bg1">
                <a:lumMod val="8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30" name="正方形/長方形 29"/>
          <p:cNvSpPr/>
          <p:nvPr/>
        </p:nvSpPr>
        <p:spPr>
          <a:xfrm>
            <a:off x="5141643" y="4445246"/>
            <a:ext cx="4282952" cy="2023013"/>
          </a:xfrm>
          <a:prstGeom prst="rect">
            <a:avLst/>
          </a:prstGeom>
          <a:noFill/>
          <a:ln>
            <a:solidFill>
              <a:schemeClr val="bg1">
                <a:lumMod val="8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31" name="正方形/長方形 30"/>
          <p:cNvSpPr/>
          <p:nvPr/>
        </p:nvSpPr>
        <p:spPr>
          <a:xfrm>
            <a:off x="788187" y="6081911"/>
            <a:ext cx="3659825" cy="322628"/>
          </a:xfrm>
          <a:prstGeom prst="rect">
            <a:avLst/>
          </a:prstGeom>
          <a:solidFill>
            <a:schemeClr val="bg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en-US" altLang="ja-JP" sz="1400" b="1" dirty="0">
                <a:latin typeface="メイリオ" panose="020B0604030504040204" pitchFamily="50" charset="-128"/>
                <a:ea typeface="メイリオ" panose="020B0604030504040204" pitchFamily="50" charset="-128"/>
              </a:rPr>
              <a:t>GA</a:t>
            </a:r>
            <a:r>
              <a:rPr kumimoji="1" lang="ja-JP" altLang="en-US" sz="1400" b="1" dirty="0">
                <a:latin typeface="メイリオ" panose="020B0604030504040204" pitchFamily="50" charset="-128"/>
                <a:ea typeface="メイリオ" panose="020B0604030504040204" pitchFamily="50" charset="-128"/>
              </a:rPr>
              <a:t>レポート（日次）</a:t>
            </a:r>
            <a:r>
              <a:rPr kumimoji="1" lang="ja-JP" altLang="en-US" sz="1100" b="1" dirty="0">
                <a:latin typeface="メイリオ" panose="020B0604030504040204" pitchFamily="50" charset="-128"/>
                <a:ea typeface="メイリオ" panose="020B0604030504040204" pitchFamily="50" charset="-128"/>
              </a:rPr>
              <a:t> </a:t>
            </a:r>
            <a:r>
              <a:rPr kumimoji="1" lang="en-US" altLang="ja-JP" sz="1100" b="1" dirty="0">
                <a:latin typeface="メイリオ" panose="020B0604030504040204" pitchFamily="50" charset="-128"/>
                <a:ea typeface="メイリオ" panose="020B0604030504040204" pitchFamily="50" charset="-128"/>
              </a:rPr>
              <a:t>※</a:t>
            </a:r>
            <a:r>
              <a:rPr kumimoji="1" lang="ja-JP" altLang="en-US" sz="1100" b="1" dirty="0">
                <a:latin typeface="メイリオ" panose="020B0604030504040204" pitchFamily="50" charset="-128"/>
                <a:ea typeface="メイリオ" panose="020B0604030504040204" pitchFamily="50" charset="-128"/>
              </a:rPr>
              <a:t>サンプル</a:t>
            </a:r>
            <a:endParaRPr kumimoji="1" lang="ja-JP" altLang="en-US" sz="1400" b="1" dirty="0">
              <a:latin typeface="メイリオ" panose="020B0604030504040204" pitchFamily="50" charset="-128"/>
              <a:ea typeface="メイリオ" panose="020B0604030504040204" pitchFamily="50" charset="-128"/>
            </a:endParaRPr>
          </a:p>
        </p:txBody>
      </p:sp>
      <p:sp>
        <p:nvSpPr>
          <p:cNvPr id="32" name="正方形/長方形 31"/>
          <p:cNvSpPr/>
          <p:nvPr/>
        </p:nvSpPr>
        <p:spPr>
          <a:xfrm>
            <a:off x="5453208" y="6081911"/>
            <a:ext cx="3659825" cy="322628"/>
          </a:xfrm>
          <a:prstGeom prst="rect">
            <a:avLst/>
          </a:prstGeom>
          <a:solidFill>
            <a:schemeClr val="bg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en-US" altLang="ja-JP" sz="1400" b="1" dirty="0">
                <a:latin typeface="メイリオ" panose="020B0604030504040204" pitchFamily="50" charset="-128"/>
                <a:ea typeface="メイリオ" panose="020B0604030504040204" pitchFamily="50" charset="-128"/>
              </a:rPr>
              <a:t>GA</a:t>
            </a:r>
            <a:r>
              <a:rPr kumimoji="1" lang="ja-JP" altLang="en-US" sz="1400" b="1" dirty="0">
                <a:latin typeface="メイリオ" panose="020B0604030504040204" pitchFamily="50" charset="-128"/>
                <a:ea typeface="メイリオ" panose="020B0604030504040204" pitchFamily="50" charset="-128"/>
              </a:rPr>
              <a:t>レポート（月次）</a:t>
            </a:r>
            <a:r>
              <a:rPr kumimoji="1" lang="ja-JP" altLang="en-US" sz="1100" b="1" dirty="0">
                <a:latin typeface="メイリオ" panose="020B0604030504040204" pitchFamily="50" charset="-128"/>
                <a:ea typeface="メイリオ" panose="020B0604030504040204" pitchFamily="50" charset="-128"/>
              </a:rPr>
              <a:t> </a:t>
            </a:r>
            <a:r>
              <a:rPr kumimoji="1" lang="en-US" altLang="ja-JP" sz="1100" b="1" dirty="0">
                <a:latin typeface="メイリオ" panose="020B0604030504040204" pitchFamily="50" charset="-128"/>
                <a:ea typeface="メイリオ" panose="020B0604030504040204" pitchFamily="50" charset="-128"/>
              </a:rPr>
              <a:t>※</a:t>
            </a:r>
            <a:r>
              <a:rPr lang="ja-JP" altLang="en-US" sz="1100" b="1" dirty="0">
                <a:latin typeface="メイリオ" panose="020B0604030504040204" pitchFamily="50" charset="-128"/>
                <a:ea typeface="メイリオ" panose="020B0604030504040204" pitchFamily="50" charset="-128"/>
              </a:rPr>
              <a:t>サンプル</a:t>
            </a:r>
            <a:endParaRPr kumimoji="1" lang="ja-JP" altLang="en-US" sz="1400" b="1" dirty="0">
              <a:latin typeface="メイリオ" panose="020B0604030504040204" pitchFamily="50" charset="-128"/>
              <a:ea typeface="メイリオ" panose="020B0604030504040204" pitchFamily="50" charset="-128"/>
            </a:endParaRPr>
          </a:p>
        </p:txBody>
      </p:sp>
      <p:sp>
        <p:nvSpPr>
          <p:cNvPr id="33" name="正方形/長方形 32"/>
          <p:cNvSpPr/>
          <p:nvPr/>
        </p:nvSpPr>
        <p:spPr>
          <a:xfrm>
            <a:off x="258794" y="776172"/>
            <a:ext cx="9230264" cy="523220"/>
          </a:xfrm>
          <a:prstGeom prst="rect">
            <a:avLst/>
          </a:prstGeom>
        </p:spPr>
        <p:txBody>
          <a:bodyPr wrap="square" anchor="ctr">
            <a:spAutoFit/>
          </a:bodyPr>
          <a:lstStyle/>
          <a:p>
            <a:pPr algn="ctr"/>
            <a:r>
              <a:rPr lang="ja-JP" altLang="en-US" sz="1400" dirty="0">
                <a:latin typeface="メイリオ" panose="020B0604030504040204" pitchFamily="50" charset="-128"/>
                <a:ea typeface="メイリオ" panose="020B0604030504040204" pitchFamily="50" charset="-128"/>
              </a:rPr>
              <a:t>コンサル費用＋アカウント費用に対する効果を可視化し、課題点を都度確認できる体制に。</a:t>
            </a:r>
            <a:endParaRPr lang="en-US" altLang="ja-JP" sz="1400" dirty="0">
              <a:latin typeface="メイリオ" panose="020B0604030504040204" pitchFamily="50" charset="-128"/>
              <a:ea typeface="メイリオ" panose="020B0604030504040204" pitchFamily="50" charset="-128"/>
            </a:endParaRPr>
          </a:p>
          <a:p>
            <a:pPr algn="ctr"/>
            <a:r>
              <a:rPr lang="ja-JP" altLang="en-US" sz="1400" dirty="0">
                <a:latin typeface="メイリオ" panose="020B0604030504040204" pitchFamily="50" charset="-128"/>
                <a:ea typeface="メイリオ" panose="020B0604030504040204" pitchFamily="50" charset="-128"/>
              </a:rPr>
              <a:t>投稿別</a:t>
            </a:r>
            <a:r>
              <a:rPr lang="en-US" altLang="ja-JP" sz="1400" dirty="0">
                <a:latin typeface="メイリオ" panose="020B0604030504040204" pitchFamily="50" charset="-128"/>
                <a:ea typeface="メイリオ" panose="020B0604030504040204" pitchFamily="50" charset="-128"/>
              </a:rPr>
              <a:t>×</a:t>
            </a:r>
            <a:r>
              <a:rPr lang="ja-JP" altLang="en-US" sz="1400" dirty="0">
                <a:latin typeface="メイリオ" panose="020B0604030504040204" pitchFamily="50" charset="-128"/>
                <a:ea typeface="メイリオ" panose="020B0604030504040204" pitchFamily="50" charset="-128"/>
              </a:rPr>
              <a:t>セグメント別でデータ化でき、</a:t>
            </a:r>
            <a:r>
              <a:rPr lang="en-US" altLang="ja-JP" sz="1400" dirty="0">
                <a:latin typeface="メイリオ" panose="020B0604030504040204" pitchFamily="50" charset="-128"/>
                <a:ea typeface="メイリオ" panose="020B0604030504040204" pitchFamily="50" charset="-128"/>
              </a:rPr>
              <a:t>AB</a:t>
            </a:r>
            <a:r>
              <a:rPr lang="ja-JP" altLang="en-US" sz="1400" dirty="0">
                <a:latin typeface="メイリオ" panose="020B0604030504040204" pitchFamily="50" charset="-128"/>
                <a:ea typeface="メイリオ" panose="020B0604030504040204" pitchFamily="50" charset="-128"/>
              </a:rPr>
              <a:t>テストとクリエイティブ検証を細かく実施。</a:t>
            </a:r>
          </a:p>
        </p:txBody>
      </p:sp>
      <p:sp>
        <p:nvSpPr>
          <p:cNvPr id="4" name="Google Shape;156;p7">
            <a:extLst>
              <a:ext uri="{FF2B5EF4-FFF2-40B4-BE49-F238E27FC236}">
                <a16:creationId xmlns:a16="http://schemas.microsoft.com/office/drawing/2014/main" id="{260430EB-E69F-64B3-39EC-6A753FA8A5B0}"/>
              </a:ext>
            </a:extLst>
          </p:cNvPr>
          <p:cNvSpPr txBox="1"/>
          <p:nvPr/>
        </p:nvSpPr>
        <p:spPr>
          <a:xfrm>
            <a:off x="548883" y="138118"/>
            <a:ext cx="6514857" cy="338554"/>
          </a:xfrm>
          <a:prstGeom prst="rect">
            <a:avLst/>
          </a:prstGeom>
          <a:noFill/>
          <a:ln>
            <a:noFill/>
          </a:ln>
        </p:spPr>
        <p:txBody>
          <a:bodyPr spcFirstLastPara="1" wrap="square" lIns="91425" tIns="45700" rIns="91425" bIns="45700" anchor="ctr" anchorCtr="0">
            <a:spAutoFit/>
          </a:bodyPr>
          <a:lstStyle/>
          <a:p>
            <a:pPr marL="0" marR="0" lvl="0" indent="0" algn="l" rtl="0">
              <a:spcBef>
                <a:spcPts val="0"/>
              </a:spcBef>
              <a:spcAft>
                <a:spcPts val="0"/>
              </a:spcAft>
              <a:buClr>
                <a:srgbClr val="002060"/>
              </a:buClr>
              <a:buSzPts val="1600"/>
              <a:buFont typeface="Arial"/>
              <a:buNone/>
            </a:pPr>
            <a:r>
              <a:rPr lang="ja-JP" altLang="en-US" sz="1600" b="1" dirty="0">
                <a:solidFill>
                  <a:srgbClr val="002060"/>
                </a:solidFill>
                <a:latin typeface="Meiryo"/>
                <a:ea typeface="Meiryo"/>
                <a:cs typeface="Meiryo"/>
                <a:sym typeface="Meiryo"/>
              </a:rPr>
              <a:t>サポート体制（報告</a:t>
            </a:r>
            <a:r>
              <a:rPr lang="en-US" altLang="ja-JP" sz="1600" b="1" dirty="0">
                <a:solidFill>
                  <a:srgbClr val="002060"/>
                </a:solidFill>
                <a:latin typeface="Meiryo"/>
                <a:ea typeface="Meiryo"/>
                <a:cs typeface="Meiryo"/>
                <a:sym typeface="Meiryo"/>
              </a:rPr>
              <a:t>FMT</a:t>
            </a:r>
            <a:r>
              <a:rPr lang="ja-JP" altLang="en-US" sz="1600" b="1" dirty="0">
                <a:solidFill>
                  <a:srgbClr val="002060"/>
                </a:solidFill>
                <a:latin typeface="Meiryo"/>
                <a:ea typeface="Meiryo"/>
                <a:cs typeface="Meiryo"/>
                <a:sym typeface="Meiryo"/>
              </a:rPr>
              <a:t>）</a:t>
            </a:r>
            <a:endParaRPr sz="1600" b="1" dirty="0">
              <a:solidFill>
                <a:srgbClr val="002060"/>
              </a:solidFill>
              <a:latin typeface="Meiryo"/>
              <a:ea typeface="Meiryo"/>
              <a:cs typeface="Meiryo"/>
              <a:sym typeface="Meiryo"/>
            </a:endParaRPr>
          </a:p>
        </p:txBody>
      </p:sp>
    </p:spTree>
    <p:extLst>
      <p:ext uri="{BB962C8B-B14F-4D97-AF65-F5344CB8AC3E}">
        <p14:creationId xmlns:p14="http://schemas.microsoft.com/office/powerpoint/2010/main" val="3786924696"/>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D72F862-6825-0A25-E527-0C644CE20321}"/>
            </a:ext>
          </a:extLst>
        </p:cNvPr>
        <p:cNvGrpSpPr/>
        <p:nvPr/>
      </p:nvGrpSpPr>
      <p:grpSpPr>
        <a:xfrm>
          <a:off x="0" y="0"/>
          <a:ext cx="0" cy="0"/>
          <a:chOff x="0" y="0"/>
          <a:chExt cx="0" cy="0"/>
        </a:xfrm>
      </p:grpSpPr>
      <p:sp>
        <p:nvSpPr>
          <p:cNvPr id="4" name="正方形/長方形 3">
            <a:extLst>
              <a:ext uri="{FF2B5EF4-FFF2-40B4-BE49-F238E27FC236}">
                <a16:creationId xmlns:a16="http://schemas.microsoft.com/office/drawing/2014/main" id="{1B95EDD6-658F-4CEF-BC87-63AE1294A97D}"/>
              </a:ext>
            </a:extLst>
          </p:cNvPr>
          <p:cNvSpPr/>
          <p:nvPr/>
        </p:nvSpPr>
        <p:spPr>
          <a:xfrm>
            <a:off x="253638" y="835690"/>
            <a:ext cx="2541320" cy="485775"/>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ja-JP" altLang="en-US" sz="1600" b="1" dirty="0">
                <a:latin typeface="メイリオ" panose="020B0604030504040204" pitchFamily="50" charset="-128"/>
                <a:ea typeface="メイリオ" panose="020B0604030504040204" pitchFamily="50" charset="-128"/>
              </a:rPr>
              <a:t>弊社体制図</a:t>
            </a:r>
            <a:endParaRPr kumimoji="1" lang="ja-JP" altLang="en-US" sz="1600" b="1" dirty="0">
              <a:latin typeface="メイリオ" panose="020B0604030504040204" pitchFamily="50" charset="-128"/>
              <a:ea typeface="メイリオ" panose="020B0604030504040204" pitchFamily="50" charset="-128"/>
            </a:endParaRPr>
          </a:p>
        </p:txBody>
      </p:sp>
      <p:sp>
        <p:nvSpPr>
          <p:cNvPr id="6" name="Google Shape;156;p7">
            <a:extLst>
              <a:ext uri="{FF2B5EF4-FFF2-40B4-BE49-F238E27FC236}">
                <a16:creationId xmlns:a16="http://schemas.microsoft.com/office/drawing/2014/main" id="{3BA0E9AE-61D3-01E9-521B-2E5746D00D89}"/>
              </a:ext>
            </a:extLst>
          </p:cNvPr>
          <p:cNvSpPr txBox="1"/>
          <p:nvPr/>
        </p:nvSpPr>
        <p:spPr>
          <a:xfrm>
            <a:off x="2857804" y="786210"/>
            <a:ext cx="7217767" cy="584735"/>
          </a:xfrm>
          <a:prstGeom prst="rect">
            <a:avLst/>
          </a:prstGeom>
          <a:noFill/>
          <a:ln>
            <a:noFill/>
          </a:ln>
        </p:spPr>
        <p:txBody>
          <a:bodyPr spcFirstLastPara="1" wrap="square" lIns="91425" tIns="45700" rIns="91425" bIns="45700" anchor="ctr" anchorCtr="0">
            <a:spAutoFit/>
          </a:bodyPr>
          <a:lstStyle/>
          <a:p>
            <a:pPr marL="0" marR="0" lvl="0" indent="0" algn="l" rtl="0">
              <a:spcBef>
                <a:spcPts val="0"/>
              </a:spcBef>
              <a:spcAft>
                <a:spcPts val="0"/>
              </a:spcAft>
              <a:buClr>
                <a:srgbClr val="002060"/>
              </a:buClr>
              <a:buSzPts val="1600"/>
              <a:buFont typeface="Arial"/>
              <a:buNone/>
            </a:pPr>
            <a:r>
              <a:rPr lang="en-US" altLang="ja-JP" sz="1600" b="1" dirty="0">
                <a:solidFill>
                  <a:schemeClr val="tx1">
                    <a:lumMod val="65000"/>
                    <a:lumOff val="35000"/>
                  </a:schemeClr>
                </a:solidFill>
                <a:latin typeface="Meiryo"/>
                <a:ea typeface="Meiryo"/>
                <a:cs typeface="Meiryo"/>
                <a:sym typeface="Meiryo"/>
              </a:rPr>
              <a:t>GA</a:t>
            </a:r>
            <a:r>
              <a:rPr lang="ja-JP" altLang="en-US" sz="1600" b="1" dirty="0">
                <a:solidFill>
                  <a:schemeClr val="tx1">
                    <a:lumMod val="65000"/>
                    <a:lumOff val="35000"/>
                  </a:schemeClr>
                </a:solidFill>
                <a:latin typeface="Meiryo"/>
                <a:ea typeface="Meiryo"/>
                <a:cs typeface="Meiryo"/>
                <a:sym typeface="Meiryo"/>
              </a:rPr>
              <a:t>及び</a:t>
            </a:r>
            <a:r>
              <a:rPr lang="en-US" altLang="ja-JP" sz="1600" b="1" dirty="0">
                <a:solidFill>
                  <a:schemeClr val="tx1">
                    <a:lumMod val="65000"/>
                    <a:lumOff val="35000"/>
                  </a:schemeClr>
                </a:solidFill>
                <a:latin typeface="Meiryo"/>
                <a:ea typeface="Meiryo"/>
                <a:cs typeface="Meiryo"/>
                <a:sym typeface="Meiryo"/>
              </a:rPr>
              <a:t>MA</a:t>
            </a:r>
            <a:r>
              <a:rPr lang="ja-JP" altLang="en-US" sz="1600" b="1" dirty="0">
                <a:solidFill>
                  <a:schemeClr val="tx1">
                    <a:lumMod val="65000"/>
                    <a:lumOff val="35000"/>
                  </a:schemeClr>
                </a:solidFill>
                <a:latin typeface="Meiryo"/>
                <a:ea typeface="Meiryo"/>
                <a:cs typeface="Meiryo"/>
                <a:sym typeface="Meiryo"/>
              </a:rPr>
              <a:t>ツール両面での計測ができるようパラメータ管理。</a:t>
            </a:r>
            <a:endParaRPr lang="en-US" altLang="ja-JP" sz="1600" b="1" dirty="0">
              <a:solidFill>
                <a:schemeClr val="tx1">
                  <a:lumMod val="65000"/>
                  <a:lumOff val="35000"/>
                </a:schemeClr>
              </a:solidFill>
              <a:latin typeface="Meiryo"/>
              <a:ea typeface="Meiryo"/>
              <a:cs typeface="Meiryo"/>
              <a:sym typeface="Meiryo"/>
            </a:endParaRPr>
          </a:p>
          <a:p>
            <a:pPr lvl="0">
              <a:buClr>
                <a:srgbClr val="002060"/>
              </a:buClr>
              <a:buSzPts val="1600"/>
            </a:pPr>
            <a:r>
              <a:rPr lang="en-US" altLang="ja-JP" sz="1600" b="1" dirty="0">
                <a:solidFill>
                  <a:schemeClr val="tx1">
                    <a:lumMod val="65000"/>
                    <a:lumOff val="35000"/>
                  </a:schemeClr>
                </a:solidFill>
                <a:latin typeface="Meiryo"/>
                <a:ea typeface="Meiryo"/>
                <a:cs typeface="Meiryo"/>
                <a:sym typeface="Meiryo"/>
              </a:rPr>
              <a:t>LINE</a:t>
            </a:r>
            <a:r>
              <a:rPr lang="ja-JP" altLang="en-US" sz="1600" b="1" dirty="0">
                <a:solidFill>
                  <a:schemeClr val="tx1">
                    <a:lumMod val="65000"/>
                    <a:lumOff val="35000"/>
                  </a:schemeClr>
                </a:solidFill>
                <a:latin typeface="Meiryo"/>
                <a:ea typeface="Meiryo"/>
                <a:cs typeface="Meiryo"/>
                <a:sym typeface="Meiryo"/>
              </a:rPr>
              <a:t>公式アカウントの管理画面には出ない、サイト上の結果を紐づけ。</a:t>
            </a:r>
            <a:endParaRPr sz="1600" b="1" dirty="0">
              <a:solidFill>
                <a:schemeClr val="tx1">
                  <a:lumMod val="65000"/>
                  <a:lumOff val="35000"/>
                </a:schemeClr>
              </a:solidFill>
              <a:latin typeface="Meiryo"/>
              <a:ea typeface="Meiryo"/>
              <a:cs typeface="Meiryo"/>
              <a:sym typeface="Meiryo"/>
            </a:endParaRPr>
          </a:p>
        </p:txBody>
      </p:sp>
      <p:sp>
        <p:nvSpPr>
          <p:cNvPr id="12" name="Google Shape;156;p7">
            <a:extLst>
              <a:ext uri="{FF2B5EF4-FFF2-40B4-BE49-F238E27FC236}">
                <a16:creationId xmlns:a16="http://schemas.microsoft.com/office/drawing/2014/main" id="{C5C4EFC6-EAB9-6A05-AE92-8FF390EDDDE3}"/>
              </a:ext>
            </a:extLst>
          </p:cNvPr>
          <p:cNvSpPr txBox="1"/>
          <p:nvPr/>
        </p:nvSpPr>
        <p:spPr>
          <a:xfrm>
            <a:off x="548883" y="138118"/>
            <a:ext cx="6514857" cy="338554"/>
          </a:xfrm>
          <a:prstGeom prst="rect">
            <a:avLst/>
          </a:prstGeom>
          <a:noFill/>
          <a:ln>
            <a:noFill/>
          </a:ln>
        </p:spPr>
        <p:txBody>
          <a:bodyPr spcFirstLastPara="1" wrap="square" lIns="91425" tIns="45700" rIns="91425" bIns="45700" anchor="ctr" anchorCtr="0">
            <a:spAutoFit/>
          </a:bodyPr>
          <a:lstStyle/>
          <a:p>
            <a:pPr marL="0" marR="0" lvl="0" indent="0" algn="l" rtl="0">
              <a:spcBef>
                <a:spcPts val="0"/>
              </a:spcBef>
              <a:spcAft>
                <a:spcPts val="0"/>
              </a:spcAft>
              <a:buClr>
                <a:srgbClr val="002060"/>
              </a:buClr>
              <a:buSzPts val="1600"/>
              <a:buFont typeface="Arial"/>
              <a:buNone/>
            </a:pPr>
            <a:r>
              <a:rPr lang="ja-JP" altLang="en-US" sz="1600" b="1" dirty="0">
                <a:solidFill>
                  <a:srgbClr val="002060"/>
                </a:solidFill>
                <a:latin typeface="Meiryo"/>
                <a:ea typeface="Meiryo"/>
                <a:cs typeface="Meiryo"/>
                <a:sym typeface="Meiryo"/>
              </a:rPr>
              <a:t>体制図（イメージ）</a:t>
            </a:r>
            <a:endParaRPr sz="1600" b="1" dirty="0">
              <a:solidFill>
                <a:srgbClr val="002060"/>
              </a:solidFill>
              <a:latin typeface="Meiryo"/>
              <a:ea typeface="Meiryo"/>
              <a:cs typeface="Meiryo"/>
              <a:sym typeface="Meiryo"/>
            </a:endParaRPr>
          </a:p>
        </p:txBody>
      </p:sp>
      <p:sp>
        <p:nvSpPr>
          <p:cNvPr id="8" name="Shape 6"/>
          <p:cNvSpPr/>
          <p:nvPr/>
        </p:nvSpPr>
        <p:spPr>
          <a:xfrm>
            <a:off x="621091" y="3084378"/>
            <a:ext cx="4674326" cy="738321"/>
          </a:xfrm>
          <a:prstGeom prst="rect">
            <a:avLst/>
          </a:prstGeom>
          <a:solidFill>
            <a:srgbClr val="FFFFFF"/>
          </a:solidFill>
          <a:ln w="12700">
            <a:solidFill>
              <a:srgbClr val="C0CEDE"/>
            </a:solidFill>
            <a:prstDash val="solid"/>
          </a:ln>
        </p:spPr>
        <p:txBody>
          <a:bodyPr anchor="ctr"/>
          <a:lstStyle/>
          <a:p>
            <a:r>
              <a:rPr lang="ja-JP" altLang="en-US" sz="1200" dirty="0">
                <a:solidFill>
                  <a:srgbClr val="1A1A1A"/>
                </a:solidFill>
                <a:latin typeface="メイリオ" panose="020B0604030504040204" pitchFamily="50" charset="-128"/>
                <a:ea typeface="メイリオ" panose="020B0604030504040204" pitchFamily="50" charset="-128"/>
                <a:cs typeface="MS Gothic" pitchFamily="34" charset="-120"/>
              </a:rPr>
              <a:t>　</a:t>
            </a:r>
            <a:r>
              <a:rPr lang="en-US" altLang="ja-JP" sz="1200" dirty="0">
                <a:solidFill>
                  <a:srgbClr val="1A1A1A"/>
                </a:solidFill>
                <a:latin typeface="メイリオ" panose="020B0604030504040204" pitchFamily="50" charset="-128"/>
                <a:ea typeface="メイリオ" panose="020B0604030504040204" pitchFamily="50" charset="-128"/>
                <a:cs typeface="MS Gothic" pitchFamily="34" charset="-120"/>
              </a:rPr>
              <a:t>・</a:t>
            </a:r>
            <a:r>
              <a:rPr lang="en-US" altLang="ja-JP" sz="1200" dirty="0" err="1">
                <a:solidFill>
                  <a:srgbClr val="1A1A1A"/>
                </a:solidFill>
                <a:latin typeface="メイリオ" panose="020B0604030504040204" pitchFamily="50" charset="-128"/>
                <a:ea typeface="メイリオ" panose="020B0604030504040204" pitchFamily="50" charset="-128"/>
                <a:cs typeface="MS Gothic" pitchFamily="34" charset="-120"/>
              </a:rPr>
              <a:t>本プロモーションの戦略立案</a:t>
            </a:r>
            <a:r>
              <a:rPr lang="en-US" altLang="ja-JP" sz="1200" dirty="0">
                <a:solidFill>
                  <a:srgbClr val="1A1A1A"/>
                </a:solidFill>
                <a:latin typeface="メイリオ" panose="020B0604030504040204" pitchFamily="50" charset="-128"/>
                <a:ea typeface="メイリオ" panose="020B0604030504040204" pitchFamily="50" charset="-128"/>
                <a:cs typeface="MS Gothic" pitchFamily="34" charset="-120"/>
              </a:rPr>
              <a:t> / </a:t>
            </a:r>
            <a:r>
              <a:rPr lang="en-US" altLang="ja-JP" sz="1200" dirty="0" err="1">
                <a:solidFill>
                  <a:srgbClr val="1A1A1A"/>
                </a:solidFill>
                <a:latin typeface="メイリオ" panose="020B0604030504040204" pitchFamily="50" charset="-128"/>
                <a:ea typeface="メイリオ" panose="020B0604030504040204" pitchFamily="50" charset="-128"/>
                <a:cs typeface="MS Gothic" pitchFamily="34" charset="-120"/>
              </a:rPr>
              <a:t>方針決定</a:t>
            </a:r>
            <a:endParaRPr lang="en-US" altLang="ja-JP" sz="1200" dirty="0">
              <a:latin typeface="メイリオ" panose="020B0604030504040204" pitchFamily="50" charset="-128"/>
              <a:ea typeface="メイリオ" panose="020B0604030504040204" pitchFamily="50" charset="-128"/>
            </a:endParaRPr>
          </a:p>
        </p:txBody>
      </p:sp>
      <p:sp>
        <p:nvSpPr>
          <p:cNvPr id="3" name="Shape 15"/>
          <p:cNvSpPr/>
          <p:nvPr/>
        </p:nvSpPr>
        <p:spPr>
          <a:xfrm>
            <a:off x="660472" y="4383083"/>
            <a:ext cx="2148840" cy="578878"/>
          </a:xfrm>
          <a:prstGeom prst="rect">
            <a:avLst/>
          </a:prstGeom>
          <a:solidFill>
            <a:srgbClr val="FFFFFF"/>
          </a:solidFill>
          <a:ln w="12700">
            <a:solidFill>
              <a:srgbClr val="C0CEDE"/>
            </a:solidFill>
            <a:prstDash val="solid"/>
          </a:ln>
        </p:spPr>
        <p:txBody>
          <a:bodyPr anchor="ctr"/>
          <a:lstStyle/>
          <a:p>
            <a:endParaRPr lang="en-US" altLang="ja-JP" sz="300" dirty="0">
              <a:solidFill>
                <a:srgbClr val="1A1A1A"/>
              </a:solidFill>
              <a:latin typeface="メイリオ" panose="020B0604030504040204" pitchFamily="50" charset="-128"/>
              <a:ea typeface="メイリオ" panose="020B0604030504040204" pitchFamily="50" charset="-128"/>
              <a:cs typeface="MS Gothic" pitchFamily="34" charset="-120"/>
            </a:endParaRPr>
          </a:p>
          <a:p>
            <a:r>
              <a:rPr lang="en-US" altLang="ja-JP" sz="1100" dirty="0">
                <a:solidFill>
                  <a:srgbClr val="1A1A1A"/>
                </a:solidFill>
                <a:latin typeface="メイリオ" panose="020B0604030504040204" pitchFamily="50" charset="-128"/>
                <a:ea typeface="メイリオ" panose="020B0604030504040204" pitchFamily="50" charset="-128"/>
                <a:cs typeface="MS Gothic" pitchFamily="34" charset="-120"/>
              </a:rPr>
              <a:t>・</a:t>
            </a:r>
            <a:r>
              <a:rPr lang="en-US" altLang="ja-JP" sz="1100" dirty="0" err="1">
                <a:solidFill>
                  <a:srgbClr val="1A1A1A"/>
                </a:solidFill>
                <a:latin typeface="メイリオ" panose="020B0604030504040204" pitchFamily="50" charset="-128"/>
                <a:ea typeface="メイリオ" panose="020B0604030504040204" pitchFamily="50" charset="-128"/>
                <a:cs typeface="MS Gothic" pitchFamily="34" charset="-120"/>
              </a:rPr>
              <a:t>アカウント設計</a:t>
            </a:r>
            <a:endParaRPr lang="en-US" altLang="ja-JP" sz="1100" dirty="0">
              <a:solidFill>
                <a:srgbClr val="1A1A1A"/>
              </a:solidFill>
              <a:latin typeface="メイリオ" panose="020B0604030504040204" pitchFamily="50" charset="-128"/>
              <a:ea typeface="メイリオ" panose="020B0604030504040204" pitchFamily="50" charset="-128"/>
              <a:cs typeface="MS Gothic" pitchFamily="34" charset="-120"/>
            </a:endParaRPr>
          </a:p>
          <a:p>
            <a:r>
              <a:rPr lang="en-US" altLang="ja-JP" sz="1100" dirty="0">
                <a:solidFill>
                  <a:srgbClr val="1A1A1A"/>
                </a:solidFill>
                <a:latin typeface="メイリオ" panose="020B0604030504040204" pitchFamily="50" charset="-128"/>
                <a:ea typeface="メイリオ" panose="020B0604030504040204" pitchFamily="50" charset="-128"/>
                <a:cs typeface="MS Gothic" pitchFamily="34" charset="-120"/>
              </a:rPr>
              <a:t>・</a:t>
            </a:r>
            <a:r>
              <a:rPr lang="en-US" altLang="ja-JP" sz="1100" dirty="0" err="1">
                <a:solidFill>
                  <a:srgbClr val="1A1A1A"/>
                </a:solidFill>
                <a:latin typeface="メイリオ" panose="020B0604030504040204" pitchFamily="50" charset="-128"/>
                <a:ea typeface="メイリオ" panose="020B0604030504040204" pitchFamily="50" charset="-128"/>
                <a:cs typeface="MS Gothic" pitchFamily="34" charset="-120"/>
              </a:rPr>
              <a:t>運用調整</a:t>
            </a:r>
            <a:endParaRPr lang="en-US" altLang="ja-JP" sz="1100" dirty="0">
              <a:latin typeface="メイリオ" panose="020B0604030504040204" pitchFamily="50" charset="-128"/>
              <a:ea typeface="メイリオ" panose="020B0604030504040204" pitchFamily="50" charset="-128"/>
            </a:endParaRPr>
          </a:p>
        </p:txBody>
      </p:sp>
      <p:sp>
        <p:nvSpPr>
          <p:cNvPr id="18" name="Shape 16"/>
          <p:cNvSpPr/>
          <p:nvPr/>
        </p:nvSpPr>
        <p:spPr>
          <a:xfrm>
            <a:off x="645163" y="4065900"/>
            <a:ext cx="2148840" cy="347472"/>
          </a:xfrm>
          <a:prstGeom prst="rect">
            <a:avLst/>
          </a:prstGeom>
          <a:solidFill>
            <a:srgbClr val="1F3864"/>
          </a:solidFill>
          <a:ln w="12700">
            <a:solidFill>
              <a:srgbClr val="1F3864"/>
            </a:solidFill>
            <a:prstDash val="solid"/>
          </a:ln>
        </p:spPr>
        <p:txBody>
          <a:bodyPr anchor="ctr"/>
          <a:lstStyle/>
          <a:p>
            <a:pPr algn="ctr"/>
            <a:r>
              <a:rPr lang="ja-JP" altLang="en-US" sz="1350" b="1" dirty="0">
                <a:solidFill>
                  <a:srgbClr val="FFFFFF"/>
                </a:solidFill>
                <a:latin typeface="メイリオ" panose="020B0604030504040204" pitchFamily="50" charset="-128"/>
                <a:ea typeface="メイリオ" panose="020B0604030504040204" pitchFamily="50" charset="-128"/>
                <a:cs typeface="MS Gothic" pitchFamily="34" charset="-120"/>
              </a:rPr>
              <a:t>リス・</a:t>
            </a:r>
            <a:r>
              <a:rPr lang="en-US" altLang="ja-JP" sz="1350" b="1" dirty="0" err="1">
                <a:solidFill>
                  <a:srgbClr val="FFFFFF"/>
                </a:solidFill>
                <a:latin typeface="メイリオ" panose="020B0604030504040204" pitchFamily="50" charset="-128"/>
                <a:ea typeface="メイリオ" panose="020B0604030504040204" pitchFamily="50" charset="-128"/>
                <a:cs typeface="MS Gothic" pitchFamily="34" charset="-120"/>
              </a:rPr>
              <a:t>SNS運用</a:t>
            </a:r>
            <a:endParaRPr lang="en-US" altLang="ja-JP" sz="1350" dirty="0">
              <a:latin typeface="メイリオ" panose="020B0604030504040204" pitchFamily="50" charset="-128"/>
              <a:ea typeface="メイリオ" panose="020B0604030504040204" pitchFamily="50" charset="-128"/>
            </a:endParaRPr>
          </a:p>
        </p:txBody>
      </p:sp>
      <p:sp>
        <p:nvSpPr>
          <p:cNvPr id="28" name="Shape 26"/>
          <p:cNvSpPr/>
          <p:nvPr/>
        </p:nvSpPr>
        <p:spPr>
          <a:xfrm>
            <a:off x="633127" y="5566878"/>
            <a:ext cx="2140131" cy="626818"/>
          </a:xfrm>
          <a:prstGeom prst="rect">
            <a:avLst/>
          </a:prstGeom>
          <a:solidFill>
            <a:srgbClr val="FFFFFF"/>
          </a:solidFill>
          <a:ln w="12700">
            <a:solidFill>
              <a:srgbClr val="C0CEDE"/>
            </a:solidFill>
            <a:prstDash val="solid"/>
          </a:ln>
        </p:spPr>
        <p:txBody>
          <a:bodyPr anchor="ctr"/>
          <a:lstStyle/>
          <a:p>
            <a:r>
              <a:rPr lang="en-US" altLang="ja-JP" sz="1200" dirty="0">
                <a:solidFill>
                  <a:srgbClr val="1A1A1A"/>
                </a:solidFill>
                <a:latin typeface="メイリオ" panose="020B0604030504040204" pitchFamily="50" charset="-128"/>
                <a:ea typeface="メイリオ" panose="020B0604030504040204" pitchFamily="50" charset="-128"/>
                <a:cs typeface="MS Gothic" pitchFamily="34" charset="-120"/>
              </a:rPr>
              <a:t>  ・</a:t>
            </a:r>
            <a:r>
              <a:rPr lang="en-US" altLang="ja-JP" sz="1200" dirty="0" err="1">
                <a:solidFill>
                  <a:srgbClr val="1A1A1A"/>
                </a:solidFill>
                <a:latin typeface="メイリオ" panose="020B0604030504040204" pitchFamily="50" charset="-128"/>
                <a:ea typeface="メイリオ" panose="020B0604030504040204" pitchFamily="50" charset="-128"/>
                <a:cs typeface="MS Gothic" pitchFamily="34" charset="-120"/>
              </a:rPr>
              <a:t>運用調整</a:t>
            </a:r>
            <a:endParaRPr lang="en-US" altLang="ja-JP" sz="1200" dirty="0">
              <a:solidFill>
                <a:srgbClr val="1A1A1A"/>
              </a:solidFill>
              <a:latin typeface="メイリオ" panose="020B0604030504040204" pitchFamily="50" charset="-128"/>
              <a:ea typeface="メイリオ" panose="020B0604030504040204" pitchFamily="50" charset="-128"/>
              <a:cs typeface="MS Gothic" pitchFamily="34" charset="-120"/>
            </a:endParaRPr>
          </a:p>
          <a:p>
            <a:r>
              <a:rPr lang="en-US" altLang="ja-JP" sz="1200" dirty="0">
                <a:solidFill>
                  <a:srgbClr val="1A1A1A"/>
                </a:solidFill>
                <a:latin typeface="メイリオ" panose="020B0604030504040204" pitchFamily="50" charset="-128"/>
                <a:ea typeface="メイリオ" panose="020B0604030504040204" pitchFamily="50" charset="-128"/>
                <a:cs typeface="MS Gothic" pitchFamily="34" charset="-120"/>
              </a:rPr>
              <a:t> ・</a:t>
            </a:r>
            <a:r>
              <a:rPr lang="en-US" altLang="ja-JP" sz="1200" dirty="0" err="1">
                <a:solidFill>
                  <a:srgbClr val="1A1A1A"/>
                </a:solidFill>
                <a:latin typeface="メイリオ" panose="020B0604030504040204" pitchFamily="50" charset="-128"/>
                <a:ea typeface="メイリオ" panose="020B0604030504040204" pitchFamily="50" charset="-128"/>
                <a:cs typeface="MS Gothic" pitchFamily="34" charset="-120"/>
              </a:rPr>
              <a:t>入稿作業</a:t>
            </a:r>
            <a:endParaRPr lang="en-US" altLang="ja-JP" sz="1200" dirty="0">
              <a:latin typeface="メイリオ" panose="020B0604030504040204" pitchFamily="50" charset="-128"/>
              <a:ea typeface="メイリオ" panose="020B0604030504040204" pitchFamily="50" charset="-128"/>
            </a:endParaRPr>
          </a:p>
        </p:txBody>
      </p:sp>
      <p:sp>
        <p:nvSpPr>
          <p:cNvPr id="29" name="Shape 27"/>
          <p:cNvSpPr/>
          <p:nvPr/>
        </p:nvSpPr>
        <p:spPr>
          <a:xfrm>
            <a:off x="633127" y="5231331"/>
            <a:ext cx="2140131" cy="347472"/>
          </a:xfrm>
          <a:prstGeom prst="rect">
            <a:avLst/>
          </a:prstGeom>
          <a:solidFill>
            <a:srgbClr val="1F3864"/>
          </a:solidFill>
          <a:ln w="12700">
            <a:solidFill>
              <a:srgbClr val="1F3864"/>
            </a:solidFill>
            <a:prstDash val="solid"/>
          </a:ln>
        </p:spPr>
        <p:txBody>
          <a:bodyPr anchor="ctr"/>
          <a:lstStyle/>
          <a:p>
            <a:pPr algn="ctr"/>
            <a:r>
              <a:rPr lang="en-US" altLang="ja-JP" sz="1200" b="1">
                <a:solidFill>
                  <a:srgbClr val="FFFFFF"/>
                </a:solidFill>
                <a:latin typeface="メイリオ" panose="020B0604030504040204" pitchFamily="50" charset="-128"/>
                <a:ea typeface="メイリオ" panose="020B0604030504040204" pitchFamily="50" charset="-128"/>
                <a:cs typeface="MS Gothic" pitchFamily="34" charset="-120"/>
              </a:rPr>
              <a:t>運用サポート</a:t>
            </a:r>
            <a:endParaRPr lang="en-US" altLang="ja-JP" sz="1200" dirty="0">
              <a:latin typeface="メイリオ" panose="020B0604030504040204" pitchFamily="50" charset="-128"/>
              <a:ea typeface="メイリオ" panose="020B0604030504040204" pitchFamily="50" charset="-128"/>
            </a:endParaRPr>
          </a:p>
        </p:txBody>
      </p:sp>
      <p:sp>
        <p:nvSpPr>
          <p:cNvPr id="30" name="Text 28"/>
          <p:cNvSpPr/>
          <p:nvPr/>
        </p:nvSpPr>
        <p:spPr>
          <a:xfrm>
            <a:off x="633128" y="5231331"/>
            <a:ext cx="2140131" cy="347472"/>
          </a:xfrm>
          <a:prstGeom prst="rect">
            <a:avLst/>
          </a:prstGeom>
          <a:noFill/>
          <a:ln/>
        </p:spPr>
        <p:txBody>
          <a:bodyPr wrap="square" lIns="0" tIns="0" rIns="0" bIns="0" rtlCol="0" anchor="ctr"/>
          <a:lstStyle/>
          <a:p>
            <a:pPr marL="0" indent="0" algn="ctr">
              <a:buNone/>
            </a:pPr>
            <a:endParaRPr lang="en-US" sz="1050" dirty="0">
              <a:latin typeface="メイリオ" panose="020B0604030504040204" pitchFamily="50" charset="-128"/>
              <a:ea typeface="メイリオ" panose="020B0604030504040204" pitchFamily="50" charset="-128"/>
            </a:endParaRPr>
          </a:p>
        </p:txBody>
      </p:sp>
      <p:sp>
        <p:nvSpPr>
          <p:cNvPr id="33" name="Shape 31"/>
          <p:cNvSpPr/>
          <p:nvPr/>
        </p:nvSpPr>
        <p:spPr>
          <a:xfrm>
            <a:off x="2921304" y="5532054"/>
            <a:ext cx="2386149" cy="641636"/>
          </a:xfrm>
          <a:prstGeom prst="rect">
            <a:avLst/>
          </a:prstGeom>
          <a:solidFill>
            <a:srgbClr val="FFFFFF"/>
          </a:solidFill>
          <a:ln w="12700">
            <a:solidFill>
              <a:srgbClr val="C0CEDE"/>
            </a:solidFill>
            <a:prstDash val="solid"/>
          </a:ln>
        </p:spPr>
        <p:txBody>
          <a:bodyPr anchor="ctr"/>
          <a:lstStyle/>
          <a:p>
            <a:endParaRPr lang="en-US" altLang="ja-JP" sz="1200" dirty="0">
              <a:solidFill>
                <a:srgbClr val="1A1A1A"/>
              </a:solidFill>
              <a:latin typeface="メイリオ" panose="020B0604030504040204" pitchFamily="50" charset="-128"/>
              <a:ea typeface="メイリオ" panose="020B0604030504040204" pitchFamily="50" charset="-128"/>
              <a:cs typeface="MS Gothic" pitchFamily="34" charset="-120"/>
            </a:endParaRPr>
          </a:p>
          <a:p>
            <a:r>
              <a:rPr lang="en-US" altLang="ja-JP" sz="1200" dirty="0">
                <a:solidFill>
                  <a:srgbClr val="1A1A1A"/>
                </a:solidFill>
                <a:latin typeface="メイリオ" panose="020B0604030504040204" pitchFamily="50" charset="-128"/>
                <a:ea typeface="メイリオ" panose="020B0604030504040204" pitchFamily="50" charset="-128"/>
                <a:cs typeface="MS Gothic" pitchFamily="34" charset="-120"/>
              </a:rPr>
              <a:t>・</a:t>
            </a:r>
            <a:r>
              <a:rPr lang="en-US" altLang="ja-JP" sz="1200" dirty="0" err="1">
                <a:solidFill>
                  <a:srgbClr val="1A1A1A"/>
                </a:solidFill>
                <a:latin typeface="メイリオ" panose="020B0604030504040204" pitchFamily="50" charset="-128"/>
                <a:ea typeface="メイリオ" panose="020B0604030504040204" pitchFamily="50" charset="-128"/>
                <a:cs typeface="MS Gothic" pitchFamily="34" charset="-120"/>
              </a:rPr>
              <a:t>バナー制作</a:t>
            </a:r>
            <a:endParaRPr lang="en-US" altLang="ja-JP" sz="1200" dirty="0">
              <a:solidFill>
                <a:srgbClr val="1A1A1A"/>
              </a:solidFill>
              <a:latin typeface="メイリオ" panose="020B0604030504040204" pitchFamily="50" charset="-128"/>
              <a:ea typeface="メイリオ" panose="020B0604030504040204" pitchFamily="50" charset="-128"/>
              <a:cs typeface="MS Gothic" pitchFamily="34" charset="-120"/>
            </a:endParaRPr>
          </a:p>
          <a:p>
            <a:r>
              <a:rPr lang="en-US" altLang="ja-JP" sz="1200" dirty="0">
                <a:solidFill>
                  <a:srgbClr val="1A1A1A"/>
                </a:solidFill>
                <a:latin typeface="メイリオ" panose="020B0604030504040204" pitchFamily="50" charset="-128"/>
                <a:ea typeface="メイリオ" panose="020B0604030504040204" pitchFamily="50" charset="-128"/>
                <a:cs typeface="MS Gothic" pitchFamily="34" charset="-120"/>
              </a:rPr>
              <a:t>・</a:t>
            </a:r>
            <a:r>
              <a:rPr lang="en-US" altLang="ja-JP" sz="1200" dirty="0" err="1">
                <a:solidFill>
                  <a:srgbClr val="1A1A1A"/>
                </a:solidFill>
                <a:latin typeface="メイリオ" panose="020B0604030504040204" pitchFamily="50" charset="-128"/>
                <a:ea typeface="メイリオ" panose="020B0604030504040204" pitchFamily="50" charset="-128"/>
                <a:cs typeface="MS Gothic" pitchFamily="34" charset="-120"/>
              </a:rPr>
              <a:t>LP制作</a:t>
            </a:r>
            <a:endParaRPr lang="en-US" altLang="ja-JP" sz="1200" dirty="0">
              <a:solidFill>
                <a:srgbClr val="1A1A1A"/>
              </a:solidFill>
              <a:latin typeface="メイリオ" panose="020B0604030504040204" pitchFamily="50" charset="-128"/>
              <a:ea typeface="メイリオ" panose="020B0604030504040204" pitchFamily="50" charset="-128"/>
              <a:cs typeface="MS Gothic" pitchFamily="34" charset="-120"/>
            </a:endParaRPr>
          </a:p>
          <a:p>
            <a:r>
              <a:rPr lang="en-US" altLang="ja-JP" sz="1200" dirty="0">
                <a:solidFill>
                  <a:srgbClr val="1A1A1A"/>
                </a:solidFill>
                <a:latin typeface="メイリオ" panose="020B0604030504040204" pitchFamily="50" charset="-128"/>
                <a:ea typeface="メイリオ" panose="020B0604030504040204" pitchFamily="50" charset="-128"/>
                <a:cs typeface="MS Gothic" pitchFamily="34" charset="-120"/>
              </a:rPr>
              <a:t>・</a:t>
            </a:r>
            <a:r>
              <a:rPr lang="en-US" altLang="ja-JP" sz="1200" dirty="0" err="1">
                <a:solidFill>
                  <a:srgbClr val="1A1A1A"/>
                </a:solidFill>
                <a:latin typeface="メイリオ" panose="020B0604030504040204" pitchFamily="50" charset="-128"/>
                <a:ea typeface="メイリオ" panose="020B0604030504040204" pitchFamily="50" charset="-128"/>
                <a:cs typeface="MS Gothic" pitchFamily="34" charset="-120"/>
              </a:rPr>
              <a:t>動画制作</a:t>
            </a:r>
            <a:endParaRPr lang="en-US" altLang="ja-JP" sz="1200" dirty="0">
              <a:solidFill>
                <a:srgbClr val="1A1A1A"/>
              </a:solidFill>
              <a:latin typeface="メイリオ" panose="020B0604030504040204" pitchFamily="50" charset="-128"/>
              <a:ea typeface="メイリオ" panose="020B0604030504040204" pitchFamily="50" charset="-128"/>
              <a:cs typeface="MS Gothic" pitchFamily="34" charset="-120"/>
            </a:endParaRPr>
          </a:p>
        </p:txBody>
      </p:sp>
      <p:sp>
        <p:nvSpPr>
          <p:cNvPr id="34" name="Shape 32"/>
          <p:cNvSpPr/>
          <p:nvPr/>
        </p:nvSpPr>
        <p:spPr>
          <a:xfrm>
            <a:off x="2921304" y="5221392"/>
            <a:ext cx="2386149" cy="347472"/>
          </a:xfrm>
          <a:prstGeom prst="rect">
            <a:avLst/>
          </a:prstGeom>
          <a:solidFill>
            <a:schemeClr val="bg1">
              <a:lumMod val="65000"/>
            </a:schemeClr>
          </a:solidFill>
          <a:ln w="12700">
            <a:solidFill>
              <a:srgbClr val="1F3864"/>
            </a:solidFill>
            <a:prstDash val="solid"/>
          </a:ln>
        </p:spPr>
        <p:txBody>
          <a:bodyPr anchor="ctr"/>
          <a:lstStyle/>
          <a:p>
            <a:pPr algn="ctr"/>
            <a:r>
              <a:rPr lang="en-US" altLang="ja-JP" sz="1200" b="1">
                <a:solidFill>
                  <a:srgbClr val="FFFFFF"/>
                </a:solidFill>
                <a:latin typeface="メイリオ" panose="020B0604030504040204" pitchFamily="50" charset="-128"/>
                <a:ea typeface="メイリオ" panose="020B0604030504040204" pitchFamily="50" charset="-128"/>
                <a:cs typeface="MS Gothic" pitchFamily="34" charset="-120"/>
              </a:rPr>
              <a:t>制作</a:t>
            </a:r>
            <a:endParaRPr lang="en-US" altLang="ja-JP" sz="1200" dirty="0">
              <a:latin typeface="メイリオ" panose="020B0604030504040204" pitchFamily="50" charset="-128"/>
              <a:ea typeface="メイリオ" panose="020B0604030504040204" pitchFamily="50" charset="-128"/>
            </a:endParaRPr>
          </a:p>
        </p:txBody>
      </p:sp>
      <p:sp>
        <p:nvSpPr>
          <p:cNvPr id="40" name="Shape 38"/>
          <p:cNvSpPr/>
          <p:nvPr/>
        </p:nvSpPr>
        <p:spPr>
          <a:xfrm>
            <a:off x="5740699" y="4097070"/>
            <a:ext cx="3293358" cy="347472"/>
          </a:xfrm>
          <a:prstGeom prst="rect">
            <a:avLst/>
          </a:prstGeom>
          <a:solidFill>
            <a:srgbClr val="8496B8"/>
          </a:solidFill>
          <a:ln w="12700">
            <a:solidFill>
              <a:srgbClr val="8496B8"/>
            </a:solidFill>
            <a:prstDash val="solid"/>
          </a:ln>
        </p:spPr>
        <p:txBody>
          <a:bodyPr anchor="ctr"/>
          <a:lstStyle/>
          <a:p>
            <a:pPr algn="ctr"/>
            <a:r>
              <a:rPr lang="ja-JP" altLang="en-US" sz="1200" dirty="0">
                <a:solidFill>
                  <a:schemeClr val="bg1"/>
                </a:solidFill>
                <a:latin typeface="メイリオ" panose="020B0604030504040204" pitchFamily="50" charset="-128"/>
                <a:ea typeface="メイリオ" panose="020B0604030504040204" pitchFamily="50" charset="-128"/>
              </a:rPr>
              <a:t>媒体担当</a:t>
            </a:r>
          </a:p>
        </p:txBody>
      </p:sp>
      <p:sp>
        <p:nvSpPr>
          <p:cNvPr id="75" name="Shape 20">
            <a:extLst>
              <a:ext uri="{FF2B5EF4-FFF2-40B4-BE49-F238E27FC236}">
                <a16:creationId xmlns:a16="http://schemas.microsoft.com/office/drawing/2014/main" id="{9B35F62E-D565-EC7D-5BED-9E3AD8414C54}"/>
              </a:ext>
            </a:extLst>
          </p:cNvPr>
          <p:cNvSpPr/>
          <p:nvPr/>
        </p:nvSpPr>
        <p:spPr>
          <a:xfrm>
            <a:off x="2930013" y="4391542"/>
            <a:ext cx="2377440" cy="578878"/>
          </a:xfrm>
          <a:prstGeom prst="rect">
            <a:avLst/>
          </a:prstGeom>
          <a:solidFill>
            <a:srgbClr val="FFFFFF"/>
          </a:solidFill>
          <a:ln w="12700">
            <a:solidFill>
              <a:srgbClr val="C0CEDE"/>
            </a:solidFill>
            <a:prstDash val="solid"/>
          </a:ln>
        </p:spPr>
        <p:txBody>
          <a:bodyPr anchor="ctr"/>
          <a:lstStyle/>
          <a:p>
            <a:endParaRPr lang="en-US" altLang="ja-JP" sz="1100" dirty="0">
              <a:solidFill>
                <a:srgbClr val="1A1A1A"/>
              </a:solidFill>
              <a:latin typeface="メイリオ" panose="020B0604030504040204" pitchFamily="50" charset="-128"/>
              <a:ea typeface="メイリオ" panose="020B0604030504040204" pitchFamily="50" charset="-128"/>
              <a:cs typeface="MS Gothic" pitchFamily="34" charset="-120"/>
            </a:endParaRPr>
          </a:p>
          <a:p>
            <a:endParaRPr lang="en-US" altLang="ja-JP" sz="1100" dirty="0">
              <a:solidFill>
                <a:srgbClr val="1A1A1A"/>
              </a:solidFill>
              <a:latin typeface="メイリオ" panose="020B0604030504040204" pitchFamily="50" charset="-128"/>
              <a:ea typeface="メイリオ" panose="020B0604030504040204" pitchFamily="50" charset="-128"/>
              <a:cs typeface="MS Gothic" pitchFamily="34" charset="-120"/>
            </a:endParaRPr>
          </a:p>
          <a:p>
            <a:r>
              <a:rPr lang="en-US" altLang="ja-JP" sz="1100" dirty="0">
                <a:solidFill>
                  <a:srgbClr val="1A1A1A"/>
                </a:solidFill>
                <a:latin typeface="メイリオ" panose="020B0604030504040204" pitchFamily="50" charset="-128"/>
                <a:ea typeface="メイリオ" panose="020B0604030504040204" pitchFamily="50" charset="-128"/>
                <a:cs typeface="MS Gothic" pitchFamily="34" charset="-120"/>
              </a:rPr>
              <a:t>・</a:t>
            </a:r>
            <a:r>
              <a:rPr lang="en-US" altLang="ja-JP" sz="1100" dirty="0" err="1">
                <a:solidFill>
                  <a:srgbClr val="1A1A1A"/>
                </a:solidFill>
                <a:latin typeface="メイリオ" panose="020B0604030504040204" pitchFamily="50" charset="-128"/>
                <a:ea typeface="メイリオ" panose="020B0604030504040204" pitchFamily="50" charset="-128"/>
                <a:cs typeface="MS Gothic" pitchFamily="34" charset="-120"/>
              </a:rPr>
              <a:t>アカウント設計</a:t>
            </a:r>
            <a:r>
              <a:rPr lang="ja-JP" altLang="en-US" sz="1100" dirty="0">
                <a:solidFill>
                  <a:srgbClr val="1A1A1A"/>
                </a:solidFill>
                <a:latin typeface="メイリオ" panose="020B0604030504040204" pitchFamily="50" charset="-128"/>
                <a:ea typeface="メイリオ" panose="020B0604030504040204" pitchFamily="50" charset="-128"/>
                <a:cs typeface="MS Gothic" pitchFamily="34" charset="-120"/>
              </a:rPr>
              <a:t>・</a:t>
            </a:r>
            <a:r>
              <a:rPr lang="en-US" altLang="ja-JP" sz="1100" dirty="0" err="1">
                <a:solidFill>
                  <a:srgbClr val="1A1A1A"/>
                </a:solidFill>
                <a:latin typeface="メイリオ" panose="020B0604030504040204" pitchFamily="50" charset="-128"/>
                <a:ea typeface="メイリオ" panose="020B0604030504040204" pitchFamily="50" charset="-128"/>
                <a:cs typeface="MS Gothic" pitchFamily="34" charset="-120"/>
              </a:rPr>
              <a:t>運用調整</a:t>
            </a:r>
            <a:endParaRPr lang="en-US" altLang="ja-JP" sz="1100" dirty="0">
              <a:solidFill>
                <a:srgbClr val="1A1A1A"/>
              </a:solidFill>
              <a:latin typeface="メイリオ" panose="020B0604030504040204" pitchFamily="50" charset="-128"/>
              <a:ea typeface="メイリオ" panose="020B0604030504040204" pitchFamily="50" charset="-128"/>
              <a:cs typeface="MS Gothic" pitchFamily="34" charset="-120"/>
            </a:endParaRPr>
          </a:p>
          <a:p>
            <a:r>
              <a:rPr lang="en-US" altLang="ja-JP" sz="1100" dirty="0">
                <a:solidFill>
                  <a:srgbClr val="1A1A1A"/>
                </a:solidFill>
                <a:latin typeface="メイリオ" panose="020B0604030504040204" pitchFamily="50" charset="-128"/>
                <a:ea typeface="メイリオ" panose="020B0604030504040204" pitchFamily="50" charset="-128"/>
                <a:cs typeface="MS Gothic" pitchFamily="34" charset="-120"/>
              </a:rPr>
              <a:t>・</a:t>
            </a:r>
            <a:r>
              <a:rPr lang="en-US" altLang="ja-JP" sz="1100" dirty="0" err="1">
                <a:solidFill>
                  <a:srgbClr val="1A1A1A"/>
                </a:solidFill>
                <a:latin typeface="メイリオ" panose="020B0604030504040204" pitchFamily="50" charset="-128"/>
                <a:ea typeface="メイリオ" panose="020B0604030504040204" pitchFamily="50" charset="-128"/>
                <a:cs typeface="MS Gothic" pitchFamily="34" charset="-120"/>
              </a:rPr>
              <a:t>クリエイティブディレクション</a:t>
            </a:r>
            <a:endParaRPr lang="en-US" altLang="ja-JP" sz="1100" dirty="0">
              <a:latin typeface="メイリオ" panose="020B0604030504040204" pitchFamily="50" charset="-128"/>
              <a:ea typeface="メイリオ" panose="020B0604030504040204" pitchFamily="50" charset="-128"/>
            </a:endParaRPr>
          </a:p>
          <a:p>
            <a:endParaRPr lang="en-US" altLang="ja-JP" sz="1100" dirty="0">
              <a:latin typeface="メイリオ" panose="020B0604030504040204" pitchFamily="50" charset="-128"/>
              <a:ea typeface="メイリオ" panose="020B0604030504040204" pitchFamily="50" charset="-128"/>
            </a:endParaRPr>
          </a:p>
          <a:p>
            <a:endParaRPr lang="en-US" altLang="ja-JP" sz="1100" dirty="0">
              <a:latin typeface="メイリオ" panose="020B0604030504040204" pitchFamily="50" charset="-128"/>
              <a:ea typeface="メイリオ" panose="020B0604030504040204" pitchFamily="50" charset="-128"/>
            </a:endParaRPr>
          </a:p>
        </p:txBody>
      </p:sp>
      <p:sp>
        <p:nvSpPr>
          <p:cNvPr id="76" name="Shape 21">
            <a:extLst>
              <a:ext uri="{FF2B5EF4-FFF2-40B4-BE49-F238E27FC236}">
                <a16:creationId xmlns:a16="http://schemas.microsoft.com/office/drawing/2014/main" id="{0A9AF3DD-64DC-1BF0-8119-2924ECA0B69F}"/>
              </a:ext>
            </a:extLst>
          </p:cNvPr>
          <p:cNvSpPr/>
          <p:nvPr/>
        </p:nvSpPr>
        <p:spPr>
          <a:xfrm>
            <a:off x="2930013" y="4059656"/>
            <a:ext cx="2377440" cy="347472"/>
          </a:xfrm>
          <a:prstGeom prst="rect">
            <a:avLst/>
          </a:prstGeom>
          <a:solidFill>
            <a:srgbClr val="FFC000"/>
          </a:solidFill>
          <a:ln w="12700">
            <a:solidFill>
              <a:srgbClr val="1F3864"/>
            </a:solidFill>
            <a:prstDash val="solid"/>
          </a:ln>
        </p:spPr>
        <p:txBody>
          <a:bodyPr anchor="ctr"/>
          <a:lstStyle/>
          <a:p>
            <a:pPr algn="ctr"/>
            <a:r>
              <a:rPr lang="en-US" altLang="ja-JP" sz="1350" b="1" dirty="0" err="1">
                <a:solidFill>
                  <a:srgbClr val="FFFFFF"/>
                </a:solidFill>
                <a:latin typeface="メイリオ" panose="020B0604030504040204" pitchFamily="50" charset="-128"/>
                <a:ea typeface="メイリオ" panose="020B0604030504040204" pitchFamily="50" charset="-128"/>
                <a:cs typeface="MS Gothic" pitchFamily="34" charset="-120"/>
              </a:rPr>
              <a:t>LINEOA運用</a:t>
            </a:r>
            <a:endParaRPr lang="en-US" altLang="ja-JP" sz="1350" dirty="0">
              <a:latin typeface="メイリオ" panose="020B0604030504040204" pitchFamily="50" charset="-128"/>
              <a:ea typeface="メイリオ" panose="020B0604030504040204" pitchFamily="50" charset="-128"/>
            </a:endParaRPr>
          </a:p>
        </p:txBody>
      </p:sp>
      <p:sp>
        <p:nvSpPr>
          <p:cNvPr id="5" name="Shape 6">
            <a:extLst>
              <a:ext uri="{FF2B5EF4-FFF2-40B4-BE49-F238E27FC236}">
                <a16:creationId xmlns:a16="http://schemas.microsoft.com/office/drawing/2014/main" id="{85CDFD14-B545-2394-79CD-B4BB79EC6A1B}"/>
              </a:ext>
            </a:extLst>
          </p:cNvPr>
          <p:cNvSpPr/>
          <p:nvPr/>
        </p:nvSpPr>
        <p:spPr>
          <a:xfrm>
            <a:off x="5425961" y="3084378"/>
            <a:ext cx="3557928" cy="738321"/>
          </a:xfrm>
          <a:prstGeom prst="rect">
            <a:avLst/>
          </a:prstGeom>
          <a:solidFill>
            <a:srgbClr val="FFFFFF"/>
          </a:solidFill>
          <a:ln w="12700">
            <a:solidFill>
              <a:srgbClr val="C0CEDE"/>
            </a:solidFill>
            <a:prstDash val="solid"/>
          </a:ln>
        </p:spPr>
        <p:txBody>
          <a:bodyPr/>
          <a:lstStyle/>
          <a:p>
            <a:endParaRPr lang="en-US" altLang="ja-JP" sz="1200" dirty="0">
              <a:solidFill>
                <a:srgbClr val="1A1A1A"/>
              </a:solidFill>
              <a:latin typeface="メイリオ" panose="020B0604030504040204" pitchFamily="50" charset="-128"/>
              <a:ea typeface="メイリオ" panose="020B0604030504040204" pitchFamily="50" charset="-128"/>
              <a:cs typeface="MS Gothic" pitchFamily="34" charset="-120"/>
            </a:endParaRPr>
          </a:p>
          <a:p>
            <a:r>
              <a:rPr lang="en-US" altLang="ja-JP" sz="1200" dirty="0">
                <a:solidFill>
                  <a:srgbClr val="1A1A1A"/>
                </a:solidFill>
                <a:latin typeface="メイリオ" panose="020B0604030504040204" pitchFamily="50" charset="-128"/>
                <a:ea typeface="メイリオ" panose="020B0604030504040204" pitchFamily="50" charset="-128"/>
                <a:cs typeface="MS Gothic" pitchFamily="34" charset="-120"/>
              </a:rPr>
              <a:t>・</a:t>
            </a:r>
            <a:r>
              <a:rPr lang="en-US" altLang="ja-JP" sz="1200" dirty="0" err="1">
                <a:solidFill>
                  <a:srgbClr val="1A1A1A"/>
                </a:solidFill>
                <a:latin typeface="メイリオ" panose="020B0604030504040204" pitchFamily="50" charset="-128"/>
                <a:ea typeface="メイリオ" panose="020B0604030504040204" pitchFamily="50" charset="-128"/>
                <a:cs typeface="MS Gothic" pitchFamily="34" charset="-120"/>
              </a:rPr>
              <a:t>貴社担当との連絡やり取り全般</a:t>
            </a:r>
            <a:endParaRPr lang="en-US" altLang="ja-JP" sz="1200" dirty="0">
              <a:solidFill>
                <a:srgbClr val="1A1A1A"/>
              </a:solidFill>
              <a:latin typeface="メイリオ" panose="020B0604030504040204" pitchFamily="50" charset="-128"/>
              <a:ea typeface="メイリオ" panose="020B0604030504040204" pitchFamily="50" charset="-128"/>
              <a:cs typeface="MS Gothic" pitchFamily="34" charset="-120"/>
            </a:endParaRPr>
          </a:p>
          <a:p>
            <a:r>
              <a:rPr lang="en-US" altLang="ja-JP" sz="1200" dirty="0">
                <a:solidFill>
                  <a:srgbClr val="1A1A1A"/>
                </a:solidFill>
                <a:latin typeface="メイリオ" panose="020B0604030504040204" pitchFamily="50" charset="-128"/>
                <a:ea typeface="メイリオ" panose="020B0604030504040204" pitchFamily="50" charset="-128"/>
                <a:cs typeface="MS Gothic" pitchFamily="34" charset="-120"/>
              </a:rPr>
              <a:t>・書</a:t>
            </a:r>
            <a:r>
              <a:rPr lang="ja-JP" altLang="en-US" sz="1200" dirty="0">
                <a:solidFill>
                  <a:srgbClr val="1A1A1A"/>
                </a:solidFill>
                <a:latin typeface="メイリオ" panose="020B0604030504040204" pitchFamily="50" charset="-128"/>
                <a:ea typeface="メイリオ" panose="020B0604030504040204" pitchFamily="50" charset="-128"/>
                <a:cs typeface="MS Gothic" pitchFamily="34" charset="-120"/>
              </a:rPr>
              <a:t>類</a:t>
            </a:r>
            <a:r>
              <a:rPr lang="en-US" altLang="ja-JP" sz="1200" dirty="0" err="1">
                <a:solidFill>
                  <a:srgbClr val="1A1A1A"/>
                </a:solidFill>
                <a:latin typeface="メイリオ" panose="020B0604030504040204" pitchFamily="50" charset="-128"/>
                <a:ea typeface="メイリオ" panose="020B0604030504040204" pitchFamily="50" charset="-128"/>
                <a:cs typeface="MS Gothic" pitchFamily="34" charset="-120"/>
              </a:rPr>
              <a:t>の作成等、事務面までサポート</a:t>
            </a:r>
            <a:endParaRPr lang="en-US" altLang="ja-JP" sz="1200" dirty="0">
              <a:latin typeface="メイリオ" panose="020B0604030504040204" pitchFamily="50" charset="-128"/>
              <a:ea typeface="メイリオ" panose="020B0604030504040204" pitchFamily="50" charset="-128"/>
            </a:endParaRPr>
          </a:p>
        </p:txBody>
      </p:sp>
      <p:sp>
        <p:nvSpPr>
          <p:cNvPr id="7" name="Shape 7">
            <a:extLst>
              <a:ext uri="{FF2B5EF4-FFF2-40B4-BE49-F238E27FC236}">
                <a16:creationId xmlns:a16="http://schemas.microsoft.com/office/drawing/2014/main" id="{DE68CBB6-5454-1932-8D24-8CA86C03FDAF}"/>
              </a:ext>
            </a:extLst>
          </p:cNvPr>
          <p:cNvSpPr/>
          <p:nvPr/>
        </p:nvSpPr>
        <p:spPr>
          <a:xfrm>
            <a:off x="5425961" y="2849521"/>
            <a:ext cx="3557928" cy="347472"/>
          </a:xfrm>
          <a:prstGeom prst="rect">
            <a:avLst/>
          </a:prstGeom>
          <a:solidFill>
            <a:schemeClr val="accent1">
              <a:lumMod val="75000"/>
            </a:schemeClr>
          </a:solidFill>
          <a:ln w="12700">
            <a:solidFill>
              <a:srgbClr val="1F3864"/>
            </a:solidFill>
            <a:prstDash val="solid"/>
          </a:ln>
        </p:spPr>
        <p:txBody>
          <a:bodyPr anchor="ctr"/>
          <a:lstStyle/>
          <a:p>
            <a:pPr algn="ctr"/>
            <a:r>
              <a:rPr lang="en-US" altLang="ja-JP" sz="1350" b="1" dirty="0" err="1">
                <a:solidFill>
                  <a:srgbClr val="FFFFFF"/>
                </a:solidFill>
                <a:latin typeface="メイリオ" panose="020B0604030504040204" pitchFamily="50" charset="-128"/>
                <a:ea typeface="メイリオ" panose="020B0604030504040204" pitchFamily="50" charset="-128"/>
                <a:cs typeface="MS Gothic" pitchFamily="34" charset="-120"/>
              </a:rPr>
              <a:t>営業</a:t>
            </a:r>
            <a:r>
              <a:rPr lang="en-US" altLang="ja-JP" sz="1350" b="1" dirty="0">
                <a:solidFill>
                  <a:srgbClr val="FFFFFF"/>
                </a:solidFill>
                <a:latin typeface="メイリオ" panose="020B0604030504040204" pitchFamily="50" charset="-128"/>
                <a:ea typeface="メイリオ" panose="020B0604030504040204" pitchFamily="50" charset="-128"/>
                <a:cs typeface="MS Gothic" pitchFamily="34" charset="-120"/>
              </a:rPr>
              <a:t> / </a:t>
            </a:r>
            <a:r>
              <a:rPr lang="en-US" altLang="ja-JP" sz="1350" b="1" dirty="0" err="1">
                <a:solidFill>
                  <a:srgbClr val="FFFFFF"/>
                </a:solidFill>
                <a:latin typeface="メイリオ" panose="020B0604030504040204" pitchFamily="50" charset="-128"/>
                <a:ea typeface="メイリオ" panose="020B0604030504040204" pitchFamily="50" charset="-128"/>
                <a:cs typeface="MS Gothic" pitchFamily="34" charset="-120"/>
              </a:rPr>
              <a:t>フロント対応（サブ</a:t>
            </a:r>
            <a:r>
              <a:rPr lang="en-US" altLang="ja-JP" sz="1350" b="1" dirty="0">
                <a:solidFill>
                  <a:srgbClr val="FFFFFF"/>
                </a:solidFill>
                <a:latin typeface="メイリオ" panose="020B0604030504040204" pitchFamily="50" charset="-128"/>
                <a:ea typeface="メイリオ" panose="020B0604030504040204" pitchFamily="50" charset="-128"/>
                <a:cs typeface="MS Gothic" pitchFamily="34" charset="-120"/>
              </a:rPr>
              <a:t>）</a:t>
            </a:r>
            <a:endParaRPr lang="en-US" altLang="ja-JP" sz="1350" dirty="0">
              <a:latin typeface="メイリオ" panose="020B0604030504040204" pitchFamily="50" charset="-128"/>
              <a:ea typeface="メイリオ" panose="020B0604030504040204" pitchFamily="50" charset="-128"/>
            </a:endParaRPr>
          </a:p>
        </p:txBody>
      </p:sp>
      <p:sp>
        <p:nvSpPr>
          <p:cNvPr id="20" name="Shape 7"/>
          <p:cNvSpPr/>
          <p:nvPr/>
        </p:nvSpPr>
        <p:spPr>
          <a:xfrm>
            <a:off x="612383" y="2849521"/>
            <a:ext cx="4683034" cy="347472"/>
          </a:xfrm>
          <a:prstGeom prst="rect">
            <a:avLst/>
          </a:prstGeom>
          <a:solidFill>
            <a:schemeClr val="accent1">
              <a:lumMod val="75000"/>
            </a:schemeClr>
          </a:solidFill>
          <a:ln w="12700">
            <a:solidFill>
              <a:srgbClr val="1F3864"/>
            </a:solidFill>
            <a:prstDash val="solid"/>
          </a:ln>
        </p:spPr>
        <p:txBody>
          <a:bodyPr anchor="ctr"/>
          <a:lstStyle/>
          <a:p>
            <a:pPr algn="ctr"/>
            <a:r>
              <a:rPr lang="ja-JP" altLang="en-US" sz="1350" b="1" dirty="0">
                <a:solidFill>
                  <a:srgbClr val="FFFFFF"/>
                </a:solidFill>
                <a:latin typeface="メイリオ" panose="020B0604030504040204" pitchFamily="50" charset="-128"/>
                <a:ea typeface="メイリオ" panose="020B0604030504040204" pitchFamily="50" charset="-128"/>
                <a:cs typeface="MS Gothic" pitchFamily="34" charset="-120"/>
              </a:rPr>
              <a:t>広告運用統括・コンサル</a:t>
            </a:r>
            <a:endParaRPr lang="en-US" altLang="ja-JP" sz="1350" dirty="0">
              <a:latin typeface="メイリオ" panose="020B0604030504040204" pitchFamily="50" charset="-128"/>
              <a:ea typeface="メイリオ" panose="020B0604030504040204" pitchFamily="50" charset="-128"/>
            </a:endParaRPr>
          </a:p>
        </p:txBody>
      </p:sp>
      <p:sp>
        <p:nvSpPr>
          <p:cNvPr id="31" name="Shape 6">
            <a:extLst>
              <a:ext uri="{FF2B5EF4-FFF2-40B4-BE49-F238E27FC236}">
                <a16:creationId xmlns:a16="http://schemas.microsoft.com/office/drawing/2014/main" id="{40835ECB-DBED-5389-F67F-16368EB09190}"/>
              </a:ext>
            </a:extLst>
          </p:cNvPr>
          <p:cNvSpPr/>
          <p:nvPr/>
        </p:nvSpPr>
        <p:spPr>
          <a:xfrm>
            <a:off x="548883" y="1995744"/>
            <a:ext cx="8545959" cy="615505"/>
          </a:xfrm>
          <a:prstGeom prst="rect">
            <a:avLst/>
          </a:prstGeom>
          <a:solidFill>
            <a:srgbClr val="FFFFFF"/>
          </a:solidFill>
          <a:ln w="12700">
            <a:solidFill>
              <a:srgbClr val="C0CEDE"/>
            </a:solidFill>
            <a:prstDash val="solid"/>
          </a:ln>
        </p:spPr>
        <p:txBody>
          <a:bodyPr/>
          <a:lstStyle/>
          <a:p>
            <a:endParaRPr lang="en-US" altLang="ja-JP" sz="1200" dirty="0">
              <a:solidFill>
                <a:srgbClr val="1A1A1A"/>
              </a:solidFill>
              <a:latin typeface="メイリオ" panose="020B0604030504040204" pitchFamily="50" charset="-128"/>
              <a:ea typeface="メイリオ" panose="020B0604030504040204" pitchFamily="50" charset="-128"/>
              <a:cs typeface="MS Gothic" pitchFamily="34" charset="-120"/>
            </a:endParaRPr>
          </a:p>
          <a:p>
            <a:r>
              <a:rPr lang="ja-JP" altLang="en-US" sz="1200" dirty="0">
                <a:solidFill>
                  <a:srgbClr val="1A1A1A"/>
                </a:solidFill>
                <a:latin typeface="メイリオ" panose="020B0604030504040204" pitchFamily="50" charset="-128"/>
                <a:ea typeface="メイリオ" panose="020B0604030504040204" pitchFamily="50" charset="-128"/>
                <a:cs typeface="MS Gothic" pitchFamily="34" charset="-120"/>
              </a:rPr>
              <a:t>　</a:t>
            </a:r>
            <a:r>
              <a:rPr lang="en-US" altLang="ja-JP" sz="1200" dirty="0">
                <a:solidFill>
                  <a:srgbClr val="1A1A1A"/>
                </a:solidFill>
                <a:latin typeface="メイリオ" panose="020B0604030504040204" pitchFamily="50" charset="-128"/>
                <a:ea typeface="メイリオ" panose="020B0604030504040204" pitchFamily="50" charset="-128"/>
                <a:cs typeface="MS Gothic" pitchFamily="34" charset="-120"/>
              </a:rPr>
              <a:t>・</a:t>
            </a:r>
            <a:r>
              <a:rPr lang="en-US" altLang="ja-JP" sz="1200" dirty="0" err="1">
                <a:solidFill>
                  <a:srgbClr val="1A1A1A"/>
                </a:solidFill>
                <a:latin typeface="メイリオ" panose="020B0604030504040204" pitchFamily="50" charset="-128"/>
                <a:ea typeface="メイリオ" panose="020B0604030504040204" pitchFamily="50" charset="-128"/>
                <a:cs typeface="MS Gothic" pitchFamily="34" charset="-120"/>
              </a:rPr>
              <a:t>本プロモーションの戦略立案</a:t>
            </a:r>
            <a:r>
              <a:rPr lang="en-US" altLang="ja-JP" sz="1200" dirty="0">
                <a:solidFill>
                  <a:srgbClr val="1A1A1A"/>
                </a:solidFill>
                <a:latin typeface="メイリオ" panose="020B0604030504040204" pitchFamily="50" charset="-128"/>
                <a:ea typeface="メイリオ" panose="020B0604030504040204" pitchFamily="50" charset="-128"/>
                <a:cs typeface="MS Gothic" pitchFamily="34" charset="-120"/>
              </a:rPr>
              <a:t> / </a:t>
            </a:r>
            <a:r>
              <a:rPr lang="en-US" altLang="ja-JP" sz="1200" dirty="0" err="1">
                <a:solidFill>
                  <a:srgbClr val="1A1A1A"/>
                </a:solidFill>
                <a:latin typeface="メイリオ" panose="020B0604030504040204" pitchFamily="50" charset="-128"/>
                <a:ea typeface="メイリオ" panose="020B0604030504040204" pitchFamily="50" charset="-128"/>
                <a:cs typeface="MS Gothic" pitchFamily="34" charset="-120"/>
              </a:rPr>
              <a:t>方針決定</a:t>
            </a:r>
            <a:r>
              <a:rPr lang="ja-JP" altLang="en-US" sz="1200" dirty="0">
                <a:solidFill>
                  <a:srgbClr val="1A1A1A"/>
                </a:solidFill>
                <a:latin typeface="メイリオ" panose="020B0604030504040204" pitchFamily="50" charset="-128"/>
                <a:ea typeface="メイリオ" panose="020B0604030504040204" pitchFamily="50" charset="-128"/>
                <a:cs typeface="MS Gothic" pitchFamily="34" charset="-120"/>
              </a:rPr>
              <a:t>　　　　・貴社ご担当者様との連絡やり取り全般</a:t>
            </a:r>
            <a:endParaRPr lang="en-US" altLang="ja-JP" sz="1200" dirty="0">
              <a:latin typeface="メイリオ" panose="020B0604030504040204" pitchFamily="50" charset="-128"/>
              <a:ea typeface="メイリオ" panose="020B0604030504040204" pitchFamily="50" charset="-128"/>
            </a:endParaRPr>
          </a:p>
        </p:txBody>
      </p:sp>
      <p:sp>
        <p:nvSpPr>
          <p:cNvPr id="32" name="Shape 7">
            <a:extLst>
              <a:ext uri="{FF2B5EF4-FFF2-40B4-BE49-F238E27FC236}">
                <a16:creationId xmlns:a16="http://schemas.microsoft.com/office/drawing/2014/main" id="{67B490AF-C245-DAC8-B203-E07692B565EF}"/>
              </a:ext>
            </a:extLst>
          </p:cNvPr>
          <p:cNvSpPr/>
          <p:nvPr/>
        </p:nvSpPr>
        <p:spPr>
          <a:xfrm>
            <a:off x="548883" y="1729963"/>
            <a:ext cx="4073917" cy="347472"/>
          </a:xfrm>
          <a:prstGeom prst="rect">
            <a:avLst/>
          </a:prstGeom>
          <a:solidFill>
            <a:schemeClr val="accent1">
              <a:lumMod val="75000"/>
            </a:schemeClr>
          </a:solidFill>
          <a:ln w="12700">
            <a:solidFill>
              <a:srgbClr val="1F3864"/>
            </a:solidFill>
            <a:prstDash val="solid"/>
          </a:ln>
        </p:spPr>
        <p:txBody>
          <a:bodyPr anchor="ctr"/>
          <a:lstStyle/>
          <a:p>
            <a:pPr algn="ctr"/>
            <a:r>
              <a:rPr lang="en-US" altLang="ja-JP" sz="1350" b="1" dirty="0" err="1">
                <a:solidFill>
                  <a:srgbClr val="FFFFFF"/>
                </a:solidFill>
                <a:latin typeface="メイリオ" panose="020B0604030504040204" pitchFamily="50" charset="-128"/>
                <a:ea typeface="メイリオ" panose="020B0604030504040204" pitchFamily="50" charset="-128"/>
                <a:cs typeface="MS Gothic" pitchFamily="34" charset="-120"/>
              </a:rPr>
              <a:t>営業</a:t>
            </a:r>
            <a:r>
              <a:rPr lang="en-US" altLang="ja-JP" sz="1350" b="1" dirty="0">
                <a:solidFill>
                  <a:srgbClr val="FFFFFF"/>
                </a:solidFill>
                <a:latin typeface="メイリオ" panose="020B0604030504040204" pitchFamily="50" charset="-128"/>
                <a:ea typeface="メイリオ" panose="020B0604030504040204" pitchFamily="50" charset="-128"/>
                <a:cs typeface="MS Gothic" pitchFamily="34" charset="-120"/>
              </a:rPr>
              <a:t> / </a:t>
            </a:r>
            <a:r>
              <a:rPr lang="en-US" altLang="ja-JP" sz="1350" b="1" dirty="0" err="1">
                <a:solidFill>
                  <a:srgbClr val="FFFFFF"/>
                </a:solidFill>
                <a:latin typeface="メイリオ" panose="020B0604030504040204" pitchFamily="50" charset="-128"/>
                <a:ea typeface="メイリオ" panose="020B0604030504040204" pitchFamily="50" charset="-128"/>
                <a:cs typeface="MS Gothic" pitchFamily="34" charset="-120"/>
              </a:rPr>
              <a:t>フロント対応</a:t>
            </a:r>
            <a:r>
              <a:rPr lang="en-US" altLang="ja-JP" sz="1350" b="1" dirty="0">
                <a:solidFill>
                  <a:srgbClr val="FFFFFF"/>
                </a:solidFill>
                <a:latin typeface="メイリオ" panose="020B0604030504040204" pitchFamily="50" charset="-128"/>
                <a:ea typeface="メイリオ" panose="020B0604030504040204" pitchFamily="50" charset="-128"/>
                <a:cs typeface="MS Gothic" pitchFamily="34" charset="-120"/>
              </a:rPr>
              <a:t>（</a:t>
            </a:r>
            <a:r>
              <a:rPr lang="ja-JP" altLang="en-US" sz="1350" b="1" dirty="0">
                <a:solidFill>
                  <a:srgbClr val="FFFFFF"/>
                </a:solidFill>
                <a:latin typeface="メイリオ" panose="020B0604030504040204" pitchFamily="50" charset="-128"/>
                <a:ea typeface="メイリオ" panose="020B0604030504040204" pitchFamily="50" charset="-128"/>
                <a:cs typeface="MS Gothic" pitchFamily="34" charset="-120"/>
              </a:rPr>
              <a:t>全体統括</a:t>
            </a:r>
            <a:r>
              <a:rPr lang="en-US" altLang="ja-JP" sz="1350" b="1" dirty="0">
                <a:solidFill>
                  <a:srgbClr val="FFFFFF"/>
                </a:solidFill>
                <a:latin typeface="メイリオ" panose="020B0604030504040204" pitchFamily="50" charset="-128"/>
                <a:ea typeface="メイリオ" panose="020B0604030504040204" pitchFamily="50" charset="-128"/>
                <a:cs typeface="MS Gothic" pitchFamily="34" charset="-120"/>
              </a:rPr>
              <a:t>）</a:t>
            </a:r>
            <a:r>
              <a:rPr lang="ja-JP" altLang="en-US" sz="1350" b="1" dirty="0">
                <a:solidFill>
                  <a:srgbClr val="FFFFFF"/>
                </a:solidFill>
                <a:latin typeface="メイリオ" panose="020B0604030504040204" pitchFamily="50" charset="-128"/>
                <a:ea typeface="メイリオ" panose="020B0604030504040204" pitchFamily="50" charset="-128"/>
                <a:cs typeface="MS Gothic" pitchFamily="34" charset="-120"/>
              </a:rPr>
              <a:t>　</a:t>
            </a:r>
            <a:endParaRPr lang="en-US" altLang="ja-JP" sz="1350" dirty="0">
              <a:latin typeface="メイリオ" panose="020B0604030504040204" pitchFamily="50" charset="-128"/>
              <a:ea typeface="メイリオ" panose="020B0604030504040204" pitchFamily="50" charset="-128"/>
            </a:endParaRPr>
          </a:p>
        </p:txBody>
      </p:sp>
      <p:sp>
        <p:nvSpPr>
          <p:cNvPr id="35" name="Shape 38">
            <a:extLst>
              <a:ext uri="{FF2B5EF4-FFF2-40B4-BE49-F238E27FC236}">
                <a16:creationId xmlns:a16="http://schemas.microsoft.com/office/drawing/2014/main" id="{0C1173B9-EECF-693B-9E7D-0C69C5B122BF}"/>
              </a:ext>
            </a:extLst>
          </p:cNvPr>
          <p:cNvSpPr/>
          <p:nvPr/>
        </p:nvSpPr>
        <p:spPr>
          <a:xfrm>
            <a:off x="5740699" y="4509077"/>
            <a:ext cx="3293358" cy="1146893"/>
          </a:xfrm>
          <a:prstGeom prst="rect">
            <a:avLst/>
          </a:prstGeom>
          <a:solidFill>
            <a:schemeClr val="accent1">
              <a:lumMod val="20000"/>
              <a:lumOff val="80000"/>
            </a:schemeClr>
          </a:solidFill>
          <a:ln w="12700">
            <a:solidFill>
              <a:srgbClr val="8496B8"/>
            </a:solidFill>
            <a:prstDash val="solid"/>
          </a:ln>
        </p:spPr>
        <p:txBody>
          <a:bodyPr anchor="ctr"/>
          <a:lstStyle/>
          <a:p>
            <a:pPr algn="ctr"/>
            <a:endParaRPr lang="ja-JP" altLang="en-US" sz="1200" dirty="0">
              <a:solidFill>
                <a:schemeClr val="bg1"/>
              </a:solidFill>
              <a:latin typeface="メイリオ" panose="020B0604030504040204" pitchFamily="50" charset="-128"/>
              <a:ea typeface="メイリオ" panose="020B0604030504040204" pitchFamily="50" charset="-128"/>
            </a:endParaRPr>
          </a:p>
        </p:txBody>
      </p:sp>
      <p:sp>
        <p:nvSpPr>
          <p:cNvPr id="36" name="矢印: 下 35">
            <a:extLst>
              <a:ext uri="{FF2B5EF4-FFF2-40B4-BE49-F238E27FC236}">
                <a16:creationId xmlns:a16="http://schemas.microsoft.com/office/drawing/2014/main" id="{7CCB5C34-442B-3398-0780-2D0336E6D4ED}"/>
              </a:ext>
            </a:extLst>
          </p:cNvPr>
          <p:cNvSpPr/>
          <p:nvPr/>
        </p:nvSpPr>
        <p:spPr>
          <a:xfrm>
            <a:off x="1528292" y="3735148"/>
            <a:ext cx="254000" cy="306911"/>
          </a:xfrm>
          <a:prstGeom prst="downArrow">
            <a:avLst>
              <a:gd name="adj1" fmla="val 50000"/>
              <a:gd name="adj2" fmla="val 61250"/>
            </a:avLst>
          </a:prstGeom>
          <a:solidFill>
            <a:srgbClr val="FFC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37" name="矢印: 下 36">
            <a:extLst>
              <a:ext uri="{FF2B5EF4-FFF2-40B4-BE49-F238E27FC236}">
                <a16:creationId xmlns:a16="http://schemas.microsoft.com/office/drawing/2014/main" id="{F4FC4967-B41B-4444-4ADE-4F30B9156CB8}"/>
              </a:ext>
            </a:extLst>
          </p:cNvPr>
          <p:cNvSpPr/>
          <p:nvPr/>
        </p:nvSpPr>
        <p:spPr>
          <a:xfrm>
            <a:off x="3987378" y="3740258"/>
            <a:ext cx="254000" cy="306911"/>
          </a:xfrm>
          <a:prstGeom prst="downArrow">
            <a:avLst>
              <a:gd name="adj1" fmla="val 50000"/>
              <a:gd name="adj2" fmla="val 61250"/>
            </a:avLst>
          </a:prstGeom>
          <a:solidFill>
            <a:srgbClr val="FFC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pic>
        <p:nvPicPr>
          <p:cNvPr id="1026" name="Picture 2">
            <a:extLst>
              <a:ext uri="{FF2B5EF4-FFF2-40B4-BE49-F238E27FC236}">
                <a16:creationId xmlns:a16="http://schemas.microsoft.com/office/drawing/2014/main" id="{AC3EAB26-5599-F35D-4523-6C68BD69EF6E}"/>
              </a:ext>
            </a:extLst>
          </p:cNvPr>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6549980" y="4692784"/>
            <a:ext cx="570053" cy="376235"/>
          </a:xfrm>
          <a:prstGeom prst="rect">
            <a:avLst/>
          </a:prstGeom>
          <a:noFill/>
          <a:extLst>
            <a:ext uri="{909E8E84-426E-40DD-AFC4-6F175D3DCCD1}">
              <a14:hiddenFill xmlns:a14="http://schemas.microsoft.com/office/drawing/2010/main">
                <a:solidFill>
                  <a:srgbClr val="FFFFFF"/>
                </a:solidFill>
              </a14:hiddenFill>
            </a:ext>
          </a:extLst>
        </p:spPr>
      </p:pic>
      <p:pic>
        <p:nvPicPr>
          <p:cNvPr id="1028" name="Picture 4" descr="ロゴガイドライン｜LINEヤフー for Business">
            <a:extLst>
              <a:ext uri="{FF2B5EF4-FFF2-40B4-BE49-F238E27FC236}">
                <a16:creationId xmlns:a16="http://schemas.microsoft.com/office/drawing/2014/main" id="{CEFB2BC3-422C-45B1-E9EF-4EF91F4D9897}"/>
              </a:ext>
            </a:extLst>
          </p:cNvPr>
          <p:cNvPicPr>
            <a:picLocks noChangeAspect="1"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4972902" y="4459743"/>
            <a:ext cx="2357368" cy="855810"/>
          </a:xfrm>
          <a:prstGeom prst="rect">
            <a:avLst/>
          </a:prstGeom>
          <a:noFill/>
          <a:extLst>
            <a:ext uri="{909E8E84-426E-40DD-AFC4-6F175D3DCCD1}">
              <a14:hiddenFill xmlns:a14="http://schemas.microsoft.com/office/drawing/2010/main">
                <a:solidFill>
                  <a:srgbClr val="FFFFFF"/>
                </a:solidFill>
              </a14:hiddenFill>
            </a:ext>
          </a:extLst>
        </p:spPr>
      </p:pic>
      <p:pic>
        <p:nvPicPr>
          <p:cNvPr id="49" name="図 48">
            <a:extLst>
              <a:ext uri="{FF2B5EF4-FFF2-40B4-BE49-F238E27FC236}">
                <a16:creationId xmlns:a16="http://schemas.microsoft.com/office/drawing/2014/main" id="{C827C962-E7C6-7341-785B-5CEA2F163BA9}"/>
              </a:ext>
            </a:extLst>
          </p:cNvPr>
          <p:cNvPicPr>
            <a:picLocks noChangeAspect="1"/>
          </p:cNvPicPr>
          <p:nvPr/>
        </p:nvPicPr>
        <p:blipFill>
          <a:blip r:embed="rId5" cstate="print">
            <a:extLst>
              <a:ext uri="{28A0092B-C50C-407E-A947-70E740481C1C}">
                <a14:useLocalDpi xmlns:a14="http://schemas.microsoft.com/office/drawing/2010/main" val="0"/>
              </a:ext>
            </a:extLst>
          </a:blip>
          <a:srcRect l="10032" t="9688" r="9713" b="9686"/>
          <a:stretch>
            <a:fillRect/>
          </a:stretch>
        </p:blipFill>
        <p:spPr>
          <a:xfrm>
            <a:off x="7294243" y="4673418"/>
            <a:ext cx="411545" cy="413459"/>
          </a:xfrm>
          <a:prstGeom prst="rect">
            <a:avLst/>
          </a:prstGeom>
        </p:spPr>
      </p:pic>
      <p:pic>
        <p:nvPicPr>
          <p:cNvPr id="1034" name="Picture 10" descr="Google ロゴ（グーグル） – ICONLAB（アイコンラボ）">
            <a:extLst>
              <a:ext uri="{FF2B5EF4-FFF2-40B4-BE49-F238E27FC236}">
                <a16:creationId xmlns:a16="http://schemas.microsoft.com/office/drawing/2014/main" id="{EF486F86-4362-411E-58E4-AF8FA89FFB1A}"/>
              </a:ext>
            </a:extLst>
          </p:cNvPr>
          <p:cNvPicPr>
            <a:picLocks noChangeAspect="1" noChangeArrowheads="1"/>
          </p:cNvPicPr>
          <p:nvPr/>
        </p:nvPicPr>
        <p:blipFill>
          <a:blip r:embed="rId6" cstate="print">
            <a:extLst>
              <a:ext uri="{28A0092B-C50C-407E-A947-70E740481C1C}">
                <a14:useLocalDpi xmlns:a14="http://schemas.microsoft.com/office/drawing/2010/main" val="0"/>
              </a:ext>
            </a:extLst>
          </a:blip>
          <a:srcRect/>
          <a:stretch>
            <a:fillRect/>
          </a:stretch>
        </p:blipFill>
        <p:spPr bwMode="auto">
          <a:xfrm>
            <a:off x="6916281" y="5170783"/>
            <a:ext cx="1167467" cy="383075"/>
          </a:xfrm>
          <a:prstGeom prst="rect">
            <a:avLst/>
          </a:prstGeom>
          <a:noFill/>
          <a:extLst>
            <a:ext uri="{909E8E84-426E-40DD-AFC4-6F175D3DCCD1}">
              <a14:hiddenFill xmlns:a14="http://schemas.microsoft.com/office/drawing/2010/main">
                <a:solidFill>
                  <a:srgbClr val="FFFFFF"/>
                </a:solidFill>
              </a14:hiddenFill>
            </a:ext>
          </a:extLst>
        </p:spPr>
      </p:pic>
      <p:sp>
        <p:nvSpPr>
          <p:cNvPr id="52" name="AutoShape 16" descr="TikTok Vector Logo - Download Free SVG Icon | Worldvectorlogo">
            <a:extLst>
              <a:ext uri="{FF2B5EF4-FFF2-40B4-BE49-F238E27FC236}">
                <a16:creationId xmlns:a16="http://schemas.microsoft.com/office/drawing/2014/main" id="{FC9F455A-4712-6D98-BB84-88AB6130694C}"/>
              </a:ext>
            </a:extLst>
          </p:cNvPr>
          <p:cNvSpPr>
            <a:spLocks noChangeAspect="1" noChangeArrowheads="1"/>
          </p:cNvSpPr>
          <p:nvPr/>
        </p:nvSpPr>
        <p:spPr bwMode="auto">
          <a:xfrm>
            <a:off x="4800600" y="32766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ja-JP" altLang="en-US"/>
          </a:p>
        </p:txBody>
      </p:sp>
      <p:pic>
        <p:nvPicPr>
          <p:cNvPr id="55" name="グラフィックス 54">
            <a:extLst>
              <a:ext uri="{FF2B5EF4-FFF2-40B4-BE49-F238E27FC236}">
                <a16:creationId xmlns:a16="http://schemas.microsoft.com/office/drawing/2014/main" id="{236DDCA7-2D38-04D7-5FB4-240CFC7457DF}"/>
              </a:ext>
            </a:extLst>
          </p:cNvPr>
          <p:cNvPicPr>
            <a:picLocks noChangeAspect="1"/>
          </p:cNvPicPr>
          <p:nvPr/>
        </p:nvPicPr>
        <p:blipFill>
          <a:blip>
            <a:extLst>
              <a:ext uri="{96DAC541-7B7A-43D3-8B79-37D633B846F1}">
                <asvg:svgBlip xmlns:asvg="http://schemas.microsoft.com/office/drawing/2016/SVG/main" r:embed="rId7"/>
              </a:ext>
            </a:extLst>
          </a:blip>
          <a:stretch>
            <a:fillRect/>
          </a:stretch>
        </p:blipFill>
        <p:spPr>
          <a:xfrm>
            <a:off x="7915162" y="4592565"/>
            <a:ext cx="431326" cy="494866"/>
          </a:xfrm>
          <a:prstGeom prst="rect">
            <a:avLst/>
          </a:prstGeom>
        </p:spPr>
      </p:pic>
      <p:pic>
        <p:nvPicPr>
          <p:cNvPr id="1042" name="Picture 18" descr="スマートニュースはSNSでも情報を発信しています">
            <a:extLst>
              <a:ext uri="{FF2B5EF4-FFF2-40B4-BE49-F238E27FC236}">
                <a16:creationId xmlns:a16="http://schemas.microsoft.com/office/drawing/2014/main" id="{4F12F3EC-DFC2-4480-39CA-8C4C8AE3C056}"/>
              </a:ext>
            </a:extLst>
          </p:cNvPr>
          <p:cNvPicPr>
            <a:picLocks noChangeAspect="1" noChangeArrowheads="1"/>
          </p:cNvPicPr>
          <p:nvPr/>
        </p:nvPicPr>
        <p:blipFill rotWithShape="1">
          <a:blip r:embed="rId8" cstate="print">
            <a:extLst>
              <a:ext uri="{28A0092B-C50C-407E-A947-70E740481C1C}">
                <a14:useLocalDpi xmlns:a14="http://schemas.microsoft.com/office/drawing/2010/main" val="0"/>
              </a:ext>
            </a:extLst>
          </a:blip>
          <a:srcRect r="70053"/>
          <a:stretch>
            <a:fillRect/>
          </a:stretch>
        </p:blipFill>
        <p:spPr bwMode="auto">
          <a:xfrm>
            <a:off x="8334066" y="4584625"/>
            <a:ext cx="564335" cy="580417"/>
          </a:xfrm>
          <a:prstGeom prst="rect">
            <a:avLst/>
          </a:prstGeom>
          <a:noFill/>
          <a:extLst>
            <a:ext uri="{909E8E84-426E-40DD-AFC4-6F175D3DCCD1}">
              <a14:hiddenFill xmlns:a14="http://schemas.microsoft.com/office/drawing/2010/main">
                <a:solidFill>
                  <a:srgbClr val="FFFFFF"/>
                </a:solidFill>
              </a14:hiddenFill>
            </a:ext>
          </a:extLst>
        </p:spPr>
      </p:pic>
      <p:sp>
        <p:nvSpPr>
          <p:cNvPr id="56" name="矢印: 下 55">
            <a:extLst>
              <a:ext uri="{FF2B5EF4-FFF2-40B4-BE49-F238E27FC236}">
                <a16:creationId xmlns:a16="http://schemas.microsoft.com/office/drawing/2014/main" id="{E75D1A0F-AE27-48A1-23FB-0EB865F9868F}"/>
              </a:ext>
            </a:extLst>
          </p:cNvPr>
          <p:cNvSpPr/>
          <p:nvPr/>
        </p:nvSpPr>
        <p:spPr>
          <a:xfrm>
            <a:off x="2694214" y="2529121"/>
            <a:ext cx="254000" cy="306911"/>
          </a:xfrm>
          <a:prstGeom prst="downArrow">
            <a:avLst>
              <a:gd name="adj1" fmla="val 50000"/>
              <a:gd name="adj2" fmla="val 61250"/>
            </a:avLst>
          </a:prstGeom>
          <a:solidFill>
            <a:srgbClr val="FFC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57" name="矢印: 下 56">
            <a:extLst>
              <a:ext uri="{FF2B5EF4-FFF2-40B4-BE49-F238E27FC236}">
                <a16:creationId xmlns:a16="http://schemas.microsoft.com/office/drawing/2014/main" id="{45EAB25F-C320-6516-2457-A8EC46BA5759}"/>
              </a:ext>
            </a:extLst>
          </p:cNvPr>
          <p:cNvSpPr/>
          <p:nvPr/>
        </p:nvSpPr>
        <p:spPr>
          <a:xfrm>
            <a:off x="7125416" y="2500315"/>
            <a:ext cx="254000" cy="306911"/>
          </a:xfrm>
          <a:prstGeom prst="downArrow">
            <a:avLst>
              <a:gd name="adj1" fmla="val 50000"/>
              <a:gd name="adj2" fmla="val 61250"/>
            </a:avLst>
          </a:prstGeom>
          <a:solidFill>
            <a:srgbClr val="FFC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58" name="矢印: 下 57">
            <a:extLst>
              <a:ext uri="{FF2B5EF4-FFF2-40B4-BE49-F238E27FC236}">
                <a16:creationId xmlns:a16="http://schemas.microsoft.com/office/drawing/2014/main" id="{D4C3E4FB-FBBD-F807-4224-633D3437041D}"/>
              </a:ext>
            </a:extLst>
          </p:cNvPr>
          <p:cNvSpPr/>
          <p:nvPr/>
        </p:nvSpPr>
        <p:spPr>
          <a:xfrm>
            <a:off x="7077925" y="3692382"/>
            <a:ext cx="254000" cy="306911"/>
          </a:xfrm>
          <a:prstGeom prst="downArrow">
            <a:avLst>
              <a:gd name="adj1" fmla="val 50000"/>
              <a:gd name="adj2" fmla="val 61250"/>
            </a:avLst>
          </a:prstGeom>
          <a:solidFill>
            <a:srgbClr val="FFC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59" name="矢印: 下 58">
            <a:extLst>
              <a:ext uri="{FF2B5EF4-FFF2-40B4-BE49-F238E27FC236}">
                <a16:creationId xmlns:a16="http://schemas.microsoft.com/office/drawing/2014/main" id="{101128B9-99D7-A912-7FA8-A54843D9D245}"/>
              </a:ext>
            </a:extLst>
          </p:cNvPr>
          <p:cNvSpPr/>
          <p:nvPr/>
        </p:nvSpPr>
        <p:spPr>
          <a:xfrm>
            <a:off x="1531548" y="4943191"/>
            <a:ext cx="254000" cy="306911"/>
          </a:xfrm>
          <a:prstGeom prst="downArrow">
            <a:avLst>
              <a:gd name="adj1" fmla="val 50000"/>
              <a:gd name="adj2" fmla="val 61250"/>
            </a:avLst>
          </a:prstGeom>
          <a:solidFill>
            <a:srgbClr val="FFC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60" name="矢印: 下 59">
            <a:extLst>
              <a:ext uri="{FF2B5EF4-FFF2-40B4-BE49-F238E27FC236}">
                <a16:creationId xmlns:a16="http://schemas.microsoft.com/office/drawing/2014/main" id="{98D6B609-F1DC-B6C8-DC56-54C22972DE71}"/>
              </a:ext>
            </a:extLst>
          </p:cNvPr>
          <p:cNvSpPr/>
          <p:nvPr/>
        </p:nvSpPr>
        <p:spPr>
          <a:xfrm>
            <a:off x="3985192" y="4946879"/>
            <a:ext cx="254000" cy="306911"/>
          </a:xfrm>
          <a:prstGeom prst="downArrow">
            <a:avLst>
              <a:gd name="adj1" fmla="val 50000"/>
              <a:gd name="adj2" fmla="val 61250"/>
            </a:avLst>
          </a:prstGeom>
          <a:solidFill>
            <a:srgbClr val="FFC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61" name="矢印: 下 60">
            <a:extLst>
              <a:ext uri="{FF2B5EF4-FFF2-40B4-BE49-F238E27FC236}">
                <a16:creationId xmlns:a16="http://schemas.microsoft.com/office/drawing/2014/main" id="{CBA9CA06-6F9A-2C27-90F1-49EDB667ED05}"/>
              </a:ext>
            </a:extLst>
          </p:cNvPr>
          <p:cNvSpPr/>
          <p:nvPr/>
        </p:nvSpPr>
        <p:spPr>
          <a:xfrm rot="17888006">
            <a:off x="5384120" y="4622183"/>
            <a:ext cx="254000" cy="306911"/>
          </a:xfrm>
          <a:prstGeom prst="downArrow">
            <a:avLst>
              <a:gd name="adj1" fmla="val 50000"/>
              <a:gd name="adj2" fmla="val 61250"/>
            </a:avLst>
          </a:prstGeom>
          <a:solidFill>
            <a:srgbClr val="FFC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62" name="矢印: 下 61">
            <a:extLst>
              <a:ext uri="{FF2B5EF4-FFF2-40B4-BE49-F238E27FC236}">
                <a16:creationId xmlns:a16="http://schemas.microsoft.com/office/drawing/2014/main" id="{50FA0F8D-4B66-B543-827F-E62BB2D7A5C7}"/>
              </a:ext>
            </a:extLst>
          </p:cNvPr>
          <p:cNvSpPr/>
          <p:nvPr/>
        </p:nvSpPr>
        <p:spPr>
          <a:xfrm rot="7261747">
            <a:off x="5310324" y="4360130"/>
            <a:ext cx="254000" cy="306911"/>
          </a:xfrm>
          <a:prstGeom prst="downArrow">
            <a:avLst>
              <a:gd name="adj1" fmla="val 50000"/>
              <a:gd name="adj2" fmla="val 61250"/>
            </a:avLst>
          </a:prstGeom>
          <a:solidFill>
            <a:srgbClr val="FFC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Tree>
    <p:extLst>
      <p:ext uri="{BB962C8B-B14F-4D97-AF65-F5344CB8AC3E}">
        <p14:creationId xmlns:p14="http://schemas.microsoft.com/office/powerpoint/2010/main" val="3544002452"/>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8" name="Google Shape;156;p7"/>
          <p:cNvSpPr txBox="1"/>
          <p:nvPr/>
        </p:nvSpPr>
        <p:spPr>
          <a:xfrm>
            <a:off x="548883" y="138118"/>
            <a:ext cx="6514857" cy="338554"/>
          </a:xfrm>
          <a:prstGeom prst="rect">
            <a:avLst/>
          </a:prstGeom>
          <a:noFill/>
          <a:ln>
            <a:noFill/>
          </a:ln>
        </p:spPr>
        <p:txBody>
          <a:bodyPr spcFirstLastPara="1" wrap="square" lIns="91425" tIns="45700" rIns="91425" bIns="45700" anchor="ctr" anchorCtr="0">
            <a:spAutoFit/>
          </a:bodyPr>
          <a:lstStyle/>
          <a:p>
            <a:pPr marL="0" marR="0" lvl="0" indent="0" algn="l" rtl="0">
              <a:spcBef>
                <a:spcPts val="0"/>
              </a:spcBef>
              <a:spcAft>
                <a:spcPts val="0"/>
              </a:spcAft>
              <a:buClr>
                <a:srgbClr val="002060"/>
              </a:buClr>
              <a:buSzPts val="1600"/>
              <a:buFont typeface="Arial"/>
              <a:buNone/>
            </a:pPr>
            <a:r>
              <a:rPr lang="ja-JP" altLang="en-US" sz="1600" b="1" dirty="0">
                <a:solidFill>
                  <a:srgbClr val="002060"/>
                </a:solidFill>
                <a:latin typeface="Meiryo"/>
                <a:ea typeface="Meiryo"/>
                <a:cs typeface="Meiryo"/>
                <a:sym typeface="Meiryo"/>
              </a:rPr>
              <a:t>運用スケジュール</a:t>
            </a:r>
            <a:endParaRPr sz="1600" b="1" dirty="0">
              <a:solidFill>
                <a:srgbClr val="002060"/>
              </a:solidFill>
              <a:latin typeface="Meiryo"/>
              <a:ea typeface="Meiryo"/>
              <a:cs typeface="Meiryo"/>
              <a:sym typeface="Meiryo"/>
            </a:endParaRPr>
          </a:p>
        </p:txBody>
      </p:sp>
      <p:sp>
        <p:nvSpPr>
          <p:cNvPr id="28" name="角丸四角形 27"/>
          <p:cNvSpPr/>
          <p:nvPr/>
        </p:nvSpPr>
        <p:spPr>
          <a:xfrm>
            <a:off x="910833" y="1994083"/>
            <a:ext cx="2144546" cy="520517"/>
          </a:xfrm>
          <a:prstGeom prst="roundRect">
            <a:avLst>
              <a:gd name="adj" fmla="val 4701"/>
            </a:avLst>
          </a:prstGeom>
          <a:noFill/>
          <a:ln>
            <a:solidFill>
              <a:schemeClr val="bg1">
                <a:lumMod val="8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en-US" altLang="ja-JP" dirty="0">
                <a:solidFill>
                  <a:schemeClr val="tx1">
                    <a:lumMod val="50000"/>
                    <a:lumOff val="50000"/>
                  </a:schemeClr>
                </a:solidFill>
                <a:latin typeface="メイリオ" panose="020B0604030504040204" pitchFamily="50" charset="-128"/>
                <a:ea typeface="メイリオ" panose="020B0604030504040204" pitchFamily="50" charset="-128"/>
              </a:rPr>
              <a:t>STEP1</a:t>
            </a:r>
            <a:endParaRPr kumimoji="1" lang="ja-JP" altLang="en-US" dirty="0">
              <a:solidFill>
                <a:schemeClr val="tx1">
                  <a:lumMod val="50000"/>
                  <a:lumOff val="50000"/>
                </a:schemeClr>
              </a:solidFill>
              <a:latin typeface="メイリオ" panose="020B0604030504040204" pitchFamily="50" charset="-128"/>
              <a:ea typeface="メイリオ" panose="020B0604030504040204" pitchFamily="50" charset="-128"/>
            </a:endParaRPr>
          </a:p>
        </p:txBody>
      </p:sp>
      <p:sp>
        <p:nvSpPr>
          <p:cNvPr id="29" name="角丸四角形 28"/>
          <p:cNvSpPr/>
          <p:nvPr/>
        </p:nvSpPr>
        <p:spPr>
          <a:xfrm>
            <a:off x="910833" y="3537133"/>
            <a:ext cx="2144546" cy="520517"/>
          </a:xfrm>
          <a:prstGeom prst="roundRect">
            <a:avLst>
              <a:gd name="adj" fmla="val 4701"/>
            </a:avLst>
          </a:prstGeom>
          <a:noFill/>
          <a:ln>
            <a:solidFill>
              <a:schemeClr val="bg1">
                <a:lumMod val="8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en-US" altLang="ja-JP" dirty="0">
                <a:solidFill>
                  <a:schemeClr val="tx1">
                    <a:lumMod val="50000"/>
                    <a:lumOff val="50000"/>
                  </a:schemeClr>
                </a:solidFill>
                <a:latin typeface="メイリオ" panose="020B0604030504040204" pitchFamily="50" charset="-128"/>
                <a:ea typeface="メイリオ" panose="020B0604030504040204" pitchFamily="50" charset="-128"/>
              </a:rPr>
              <a:t>STEP3</a:t>
            </a:r>
            <a:endParaRPr kumimoji="1" lang="ja-JP" altLang="en-US" dirty="0">
              <a:solidFill>
                <a:schemeClr val="tx1">
                  <a:lumMod val="50000"/>
                  <a:lumOff val="50000"/>
                </a:schemeClr>
              </a:solidFill>
              <a:latin typeface="メイリオ" panose="020B0604030504040204" pitchFamily="50" charset="-128"/>
              <a:ea typeface="メイリオ" panose="020B0604030504040204" pitchFamily="50" charset="-128"/>
            </a:endParaRPr>
          </a:p>
        </p:txBody>
      </p:sp>
      <p:sp>
        <p:nvSpPr>
          <p:cNvPr id="31" name="角丸四角形 30"/>
          <p:cNvSpPr/>
          <p:nvPr/>
        </p:nvSpPr>
        <p:spPr>
          <a:xfrm>
            <a:off x="910833" y="2765608"/>
            <a:ext cx="2144546" cy="520517"/>
          </a:xfrm>
          <a:prstGeom prst="roundRect">
            <a:avLst>
              <a:gd name="adj" fmla="val 4701"/>
            </a:avLst>
          </a:prstGeom>
          <a:noFill/>
          <a:ln>
            <a:solidFill>
              <a:schemeClr val="bg1">
                <a:lumMod val="8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en-US" altLang="ja-JP" dirty="0">
                <a:solidFill>
                  <a:schemeClr val="tx1">
                    <a:lumMod val="50000"/>
                    <a:lumOff val="50000"/>
                  </a:schemeClr>
                </a:solidFill>
                <a:latin typeface="メイリオ" panose="020B0604030504040204" pitchFamily="50" charset="-128"/>
                <a:ea typeface="メイリオ" panose="020B0604030504040204" pitchFamily="50" charset="-128"/>
              </a:rPr>
              <a:t>STEP2</a:t>
            </a:r>
            <a:endParaRPr kumimoji="1" lang="ja-JP" altLang="en-US" dirty="0">
              <a:solidFill>
                <a:schemeClr val="tx1">
                  <a:lumMod val="50000"/>
                  <a:lumOff val="50000"/>
                </a:schemeClr>
              </a:solidFill>
              <a:latin typeface="メイリオ" panose="020B0604030504040204" pitchFamily="50" charset="-128"/>
              <a:ea typeface="メイリオ" panose="020B0604030504040204" pitchFamily="50" charset="-128"/>
            </a:endParaRPr>
          </a:p>
        </p:txBody>
      </p:sp>
      <p:sp>
        <p:nvSpPr>
          <p:cNvPr id="32" name="角丸四角形 31"/>
          <p:cNvSpPr/>
          <p:nvPr/>
        </p:nvSpPr>
        <p:spPr>
          <a:xfrm>
            <a:off x="910833" y="4308658"/>
            <a:ext cx="2144546" cy="520517"/>
          </a:xfrm>
          <a:prstGeom prst="roundRect">
            <a:avLst>
              <a:gd name="adj" fmla="val 4701"/>
            </a:avLst>
          </a:prstGeom>
          <a:noFill/>
          <a:ln>
            <a:solidFill>
              <a:schemeClr val="bg1">
                <a:lumMod val="8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en-US" altLang="ja-JP" dirty="0">
                <a:solidFill>
                  <a:schemeClr val="tx1">
                    <a:lumMod val="50000"/>
                    <a:lumOff val="50000"/>
                  </a:schemeClr>
                </a:solidFill>
                <a:latin typeface="メイリオ" panose="020B0604030504040204" pitchFamily="50" charset="-128"/>
                <a:ea typeface="メイリオ" panose="020B0604030504040204" pitchFamily="50" charset="-128"/>
              </a:rPr>
              <a:t>STEP4</a:t>
            </a:r>
            <a:endParaRPr kumimoji="1" lang="ja-JP" altLang="en-US" dirty="0">
              <a:solidFill>
                <a:schemeClr val="tx1">
                  <a:lumMod val="50000"/>
                  <a:lumOff val="50000"/>
                </a:schemeClr>
              </a:solidFill>
              <a:latin typeface="メイリオ" panose="020B0604030504040204" pitchFamily="50" charset="-128"/>
              <a:ea typeface="メイリオ" panose="020B0604030504040204" pitchFamily="50" charset="-128"/>
            </a:endParaRPr>
          </a:p>
        </p:txBody>
      </p:sp>
      <p:sp>
        <p:nvSpPr>
          <p:cNvPr id="33" name="角丸四角形 32"/>
          <p:cNvSpPr/>
          <p:nvPr/>
        </p:nvSpPr>
        <p:spPr>
          <a:xfrm>
            <a:off x="910833" y="5080183"/>
            <a:ext cx="2144546" cy="520517"/>
          </a:xfrm>
          <a:prstGeom prst="roundRect">
            <a:avLst>
              <a:gd name="adj" fmla="val 4701"/>
            </a:avLst>
          </a:prstGeom>
          <a:noFill/>
          <a:ln>
            <a:solidFill>
              <a:schemeClr val="bg1">
                <a:lumMod val="8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en-US" altLang="ja-JP" dirty="0">
                <a:solidFill>
                  <a:schemeClr val="tx1">
                    <a:lumMod val="50000"/>
                    <a:lumOff val="50000"/>
                  </a:schemeClr>
                </a:solidFill>
                <a:latin typeface="メイリオ" panose="020B0604030504040204" pitchFamily="50" charset="-128"/>
                <a:ea typeface="メイリオ" panose="020B0604030504040204" pitchFamily="50" charset="-128"/>
              </a:rPr>
              <a:t>STEP5</a:t>
            </a:r>
            <a:endParaRPr kumimoji="1" lang="ja-JP" altLang="en-US" dirty="0">
              <a:solidFill>
                <a:schemeClr val="tx1">
                  <a:lumMod val="50000"/>
                  <a:lumOff val="50000"/>
                </a:schemeClr>
              </a:solidFill>
              <a:latin typeface="メイリオ" panose="020B0604030504040204" pitchFamily="50" charset="-128"/>
              <a:ea typeface="メイリオ" panose="020B0604030504040204" pitchFamily="50" charset="-128"/>
            </a:endParaRPr>
          </a:p>
        </p:txBody>
      </p:sp>
      <p:sp>
        <p:nvSpPr>
          <p:cNvPr id="2" name="正方形/長方形 1"/>
          <p:cNvSpPr/>
          <p:nvPr/>
        </p:nvSpPr>
        <p:spPr>
          <a:xfrm>
            <a:off x="4600923" y="2266950"/>
            <a:ext cx="1638300" cy="3916493"/>
          </a:xfrm>
          <a:prstGeom prst="rect">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40" name="角丸四角形 39"/>
          <p:cNvSpPr/>
          <p:nvPr/>
        </p:nvSpPr>
        <p:spPr>
          <a:xfrm>
            <a:off x="3133924" y="1994083"/>
            <a:ext cx="4749705" cy="520517"/>
          </a:xfrm>
          <a:prstGeom prst="roundRect">
            <a:avLst>
              <a:gd name="adj" fmla="val 4701"/>
            </a:avLst>
          </a:prstGeom>
          <a:solidFill>
            <a:schemeClr val="bg1"/>
          </a:solidFill>
          <a:ln>
            <a:solidFill>
              <a:schemeClr val="bg1">
                <a:lumMod val="8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ja-JP" altLang="en-US" dirty="0">
                <a:solidFill>
                  <a:schemeClr val="bg1">
                    <a:lumMod val="50000"/>
                  </a:schemeClr>
                </a:solidFill>
                <a:latin typeface="メイリオ" panose="020B0604030504040204" pitchFamily="50" charset="-128"/>
                <a:ea typeface="メイリオ" panose="020B0604030504040204" pitchFamily="50" charset="-128"/>
              </a:rPr>
              <a:t>お申込み（書類締結）</a:t>
            </a:r>
            <a:endParaRPr kumimoji="1" lang="ja-JP" altLang="en-US" dirty="0">
              <a:solidFill>
                <a:schemeClr val="bg1">
                  <a:lumMod val="50000"/>
                </a:schemeClr>
              </a:solidFill>
              <a:latin typeface="メイリオ" panose="020B0604030504040204" pitchFamily="50" charset="-128"/>
              <a:ea typeface="メイリオ" panose="020B0604030504040204" pitchFamily="50" charset="-128"/>
            </a:endParaRPr>
          </a:p>
        </p:txBody>
      </p:sp>
      <p:sp>
        <p:nvSpPr>
          <p:cNvPr id="41" name="角丸四角形 40"/>
          <p:cNvSpPr/>
          <p:nvPr/>
        </p:nvSpPr>
        <p:spPr>
          <a:xfrm>
            <a:off x="3133924" y="3537133"/>
            <a:ext cx="4749705" cy="520517"/>
          </a:xfrm>
          <a:prstGeom prst="roundRect">
            <a:avLst>
              <a:gd name="adj" fmla="val 4701"/>
            </a:avLst>
          </a:prstGeom>
          <a:solidFill>
            <a:schemeClr val="bg1"/>
          </a:solidFill>
          <a:ln>
            <a:solidFill>
              <a:schemeClr val="bg1">
                <a:lumMod val="8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dirty="0">
                <a:solidFill>
                  <a:schemeClr val="bg1">
                    <a:lumMod val="50000"/>
                  </a:schemeClr>
                </a:solidFill>
                <a:latin typeface="メイリオ" panose="020B0604030504040204" pitchFamily="50" charset="-128"/>
                <a:ea typeface="メイリオ" panose="020B0604030504040204" pitchFamily="50" charset="-128"/>
              </a:rPr>
              <a:t>連携の設定 </a:t>
            </a:r>
            <a:r>
              <a:rPr kumimoji="1" lang="en-US" altLang="ja-JP" dirty="0">
                <a:solidFill>
                  <a:schemeClr val="bg1">
                    <a:lumMod val="50000"/>
                  </a:schemeClr>
                </a:solidFill>
                <a:latin typeface="メイリオ" panose="020B0604030504040204" pitchFamily="50" charset="-128"/>
                <a:ea typeface="メイリオ" panose="020B0604030504040204" pitchFamily="50" charset="-128"/>
              </a:rPr>
              <a:t>/ </a:t>
            </a:r>
            <a:r>
              <a:rPr kumimoji="1" lang="ja-JP" altLang="en-US" dirty="0">
                <a:solidFill>
                  <a:schemeClr val="bg1">
                    <a:lumMod val="50000"/>
                  </a:schemeClr>
                </a:solidFill>
                <a:latin typeface="メイリオ" panose="020B0604030504040204" pitchFamily="50" charset="-128"/>
                <a:ea typeface="メイリオ" panose="020B0604030504040204" pitchFamily="50" charset="-128"/>
              </a:rPr>
              <a:t>タグ確認</a:t>
            </a:r>
          </a:p>
        </p:txBody>
      </p:sp>
      <p:sp>
        <p:nvSpPr>
          <p:cNvPr id="42" name="角丸四角形 41"/>
          <p:cNvSpPr/>
          <p:nvPr/>
        </p:nvSpPr>
        <p:spPr>
          <a:xfrm>
            <a:off x="3133924" y="2765608"/>
            <a:ext cx="4749705" cy="520517"/>
          </a:xfrm>
          <a:prstGeom prst="roundRect">
            <a:avLst>
              <a:gd name="adj" fmla="val 4701"/>
            </a:avLst>
          </a:prstGeom>
          <a:solidFill>
            <a:schemeClr val="bg1"/>
          </a:solidFill>
          <a:ln>
            <a:solidFill>
              <a:schemeClr val="bg1">
                <a:lumMod val="8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dirty="0">
                <a:solidFill>
                  <a:schemeClr val="bg1">
                    <a:lumMod val="50000"/>
                  </a:schemeClr>
                </a:solidFill>
                <a:latin typeface="メイリオ" panose="020B0604030504040204" pitchFamily="50" charset="-128"/>
                <a:ea typeface="メイリオ" panose="020B0604030504040204" pitchFamily="50" charset="-128"/>
              </a:rPr>
              <a:t>キックオフ</a:t>
            </a:r>
            <a:r>
              <a:rPr kumimoji="1" lang="en-US" altLang="ja-JP" dirty="0">
                <a:solidFill>
                  <a:schemeClr val="bg1">
                    <a:lumMod val="50000"/>
                  </a:schemeClr>
                </a:solidFill>
                <a:latin typeface="メイリオ" panose="020B0604030504040204" pitchFamily="50" charset="-128"/>
                <a:ea typeface="メイリオ" panose="020B0604030504040204" pitchFamily="50" charset="-128"/>
              </a:rPr>
              <a:t>MTG</a:t>
            </a:r>
            <a:endParaRPr kumimoji="1" lang="ja-JP" altLang="en-US" dirty="0">
              <a:solidFill>
                <a:schemeClr val="bg1">
                  <a:lumMod val="50000"/>
                </a:schemeClr>
              </a:solidFill>
              <a:latin typeface="メイリオ" panose="020B0604030504040204" pitchFamily="50" charset="-128"/>
              <a:ea typeface="メイリオ" panose="020B0604030504040204" pitchFamily="50" charset="-128"/>
            </a:endParaRPr>
          </a:p>
        </p:txBody>
      </p:sp>
      <p:sp>
        <p:nvSpPr>
          <p:cNvPr id="44" name="角丸四角形 43"/>
          <p:cNvSpPr/>
          <p:nvPr/>
        </p:nvSpPr>
        <p:spPr>
          <a:xfrm>
            <a:off x="3133924" y="4308658"/>
            <a:ext cx="4749705" cy="520517"/>
          </a:xfrm>
          <a:prstGeom prst="roundRect">
            <a:avLst>
              <a:gd name="adj" fmla="val 4701"/>
            </a:avLst>
          </a:prstGeom>
          <a:solidFill>
            <a:schemeClr val="bg1"/>
          </a:solidFill>
          <a:ln>
            <a:solidFill>
              <a:schemeClr val="bg1">
                <a:lumMod val="8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ja-JP" altLang="en-US" dirty="0">
                <a:solidFill>
                  <a:schemeClr val="bg1">
                    <a:lumMod val="50000"/>
                  </a:schemeClr>
                </a:solidFill>
                <a:latin typeface="メイリオ" panose="020B0604030504040204" pitchFamily="50" charset="-128"/>
                <a:ea typeface="メイリオ" panose="020B0604030504040204" pitchFamily="50" charset="-128"/>
              </a:rPr>
              <a:t>初期設計の構築</a:t>
            </a:r>
          </a:p>
        </p:txBody>
      </p:sp>
      <p:sp>
        <p:nvSpPr>
          <p:cNvPr id="45" name="角丸四角形 44"/>
          <p:cNvSpPr/>
          <p:nvPr/>
        </p:nvSpPr>
        <p:spPr>
          <a:xfrm>
            <a:off x="3133924" y="5080183"/>
            <a:ext cx="4749705" cy="520517"/>
          </a:xfrm>
          <a:prstGeom prst="roundRect">
            <a:avLst>
              <a:gd name="adj" fmla="val 4701"/>
            </a:avLst>
          </a:prstGeom>
          <a:solidFill>
            <a:schemeClr val="bg1"/>
          </a:solidFill>
          <a:ln>
            <a:solidFill>
              <a:schemeClr val="bg1">
                <a:lumMod val="8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dirty="0">
                <a:solidFill>
                  <a:schemeClr val="bg1">
                    <a:lumMod val="50000"/>
                  </a:schemeClr>
                </a:solidFill>
                <a:latin typeface="メイリオ" panose="020B0604030504040204" pitchFamily="50" charset="-128"/>
                <a:ea typeface="メイリオ" panose="020B0604030504040204" pitchFamily="50" charset="-128"/>
              </a:rPr>
              <a:t>運用開始</a:t>
            </a:r>
          </a:p>
        </p:txBody>
      </p:sp>
      <p:sp>
        <p:nvSpPr>
          <p:cNvPr id="19" name="正方形/長方形 18"/>
          <p:cNvSpPr/>
          <p:nvPr/>
        </p:nvSpPr>
        <p:spPr>
          <a:xfrm>
            <a:off x="548883" y="1033120"/>
            <a:ext cx="8921032" cy="461665"/>
          </a:xfrm>
          <a:prstGeom prst="rect">
            <a:avLst/>
          </a:prstGeom>
        </p:spPr>
        <p:txBody>
          <a:bodyPr wrap="none">
            <a:spAutoFit/>
          </a:bodyPr>
          <a:lstStyle/>
          <a:p>
            <a:r>
              <a:rPr lang="ja-JP" altLang="en-US" sz="2400" dirty="0">
                <a:latin typeface="メイリオ" panose="020B0604030504040204" pitchFamily="50" charset="-128"/>
                <a:ea typeface="メイリオ" panose="020B0604030504040204" pitchFamily="50" charset="-128"/>
              </a:rPr>
              <a:t>サイト</a:t>
            </a:r>
            <a:r>
              <a:rPr lang="en-US" altLang="ja-JP" sz="2400" dirty="0">
                <a:latin typeface="メイリオ" panose="020B0604030504040204" pitchFamily="50" charset="-128"/>
                <a:ea typeface="メイリオ" panose="020B0604030504040204" pitchFamily="50" charset="-128"/>
              </a:rPr>
              <a:t>/LINE</a:t>
            </a:r>
            <a:r>
              <a:rPr lang="ja-JP" altLang="en-US" sz="2400" dirty="0">
                <a:latin typeface="メイリオ" panose="020B0604030504040204" pitchFamily="50" charset="-128"/>
                <a:ea typeface="メイリオ" panose="020B0604030504040204" pitchFamily="50" charset="-128"/>
              </a:rPr>
              <a:t>上への実装については、約</a:t>
            </a:r>
            <a:r>
              <a:rPr lang="en-US" altLang="ja-JP" sz="2400" dirty="0">
                <a:latin typeface="メイリオ" panose="020B0604030504040204" pitchFamily="50" charset="-128"/>
                <a:ea typeface="メイリオ" panose="020B0604030504040204" pitchFamily="50" charset="-128"/>
              </a:rPr>
              <a:t>1</a:t>
            </a:r>
            <a:r>
              <a:rPr lang="ja-JP" altLang="en-US" sz="2400" dirty="0">
                <a:latin typeface="メイリオ" panose="020B0604030504040204" pitchFamily="50" charset="-128"/>
                <a:ea typeface="メイリオ" panose="020B0604030504040204" pitchFamily="50" charset="-128"/>
              </a:rPr>
              <a:t>か月程度を頂き進行。</a:t>
            </a:r>
            <a:endParaRPr lang="ja-JP" altLang="en-US" sz="2400" dirty="0"/>
          </a:p>
        </p:txBody>
      </p:sp>
      <p:sp>
        <p:nvSpPr>
          <p:cNvPr id="20" name="正方形/長方形 19"/>
          <p:cNvSpPr/>
          <p:nvPr/>
        </p:nvSpPr>
        <p:spPr>
          <a:xfrm>
            <a:off x="4708989" y="5841409"/>
            <a:ext cx="4955203" cy="276999"/>
          </a:xfrm>
          <a:prstGeom prst="rect">
            <a:avLst/>
          </a:prstGeom>
        </p:spPr>
        <p:txBody>
          <a:bodyPr wrap="none">
            <a:spAutoFit/>
          </a:bodyPr>
          <a:lstStyle/>
          <a:p>
            <a:r>
              <a:rPr lang="en-US" altLang="ja-JP" sz="1200" dirty="0">
                <a:solidFill>
                  <a:schemeClr val="tx1">
                    <a:lumMod val="50000"/>
                    <a:lumOff val="50000"/>
                  </a:schemeClr>
                </a:solidFill>
                <a:latin typeface="メイリオ" panose="020B0604030504040204" pitchFamily="50" charset="-128"/>
                <a:ea typeface="メイリオ" panose="020B0604030504040204" pitchFamily="50" charset="-128"/>
              </a:rPr>
              <a:t>※</a:t>
            </a:r>
            <a:r>
              <a:rPr lang="ja-JP" altLang="en-US" sz="1200" dirty="0">
                <a:solidFill>
                  <a:schemeClr val="tx1">
                    <a:lumMod val="50000"/>
                    <a:lumOff val="50000"/>
                  </a:schemeClr>
                </a:solidFill>
                <a:latin typeface="メイリオ" panose="020B0604030504040204" pitchFamily="50" charset="-128"/>
                <a:ea typeface="メイリオ" panose="020B0604030504040204" pitchFamily="50" charset="-128"/>
              </a:rPr>
              <a:t>貴社作業・確認にかかる時間により前後する可能性がございます。</a:t>
            </a:r>
          </a:p>
        </p:txBody>
      </p:sp>
      <p:cxnSp>
        <p:nvCxnSpPr>
          <p:cNvPr id="21" name="直線矢印コネクタ 20"/>
          <p:cNvCxnSpPr/>
          <p:nvPr/>
        </p:nvCxnSpPr>
        <p:spPr>
          <a:xfrm>
            <a:off x="6985106" y="2256762"/>
            <a:ext cx="0" cy="3086100"/>
          </a:xfrm>
          <a:prstGeom prst="straightConnector1">
            <a:avLst/>
          </a:prstGeom>
          <a:ln w="38100">
            <a:solidFill>
              <a:schemeClr val="tx1">
                <a:lumMod val="75000"/>
                <a:lumOff val="25000"/>
              </a:schemeClr>
            </a:solidFill>
            <a:prstDash val="sysDash"/>
            <a:tailEnd type="triangle"/>
          </a:ln>
        </p:spPr>
        <p:style>
          <a:lnRef idx="1">
            <a:schemeClr val="accent1"/>
          </a:lnRef>
          <a:fillRef idx="0">
            <a:schemeClr val="accent1"/>
          </a:fillRef>
          <a:effectRef idx="0">
            <a:schemeClr val="accent1"/>
          </a:effectRef>
          <a:fontRef idx="minor">
            <a:schemeClr val="tx1"/>
          </a:fontRef>
        </p:style>
      </p:cxnSp>
      <p:sp>
        <p:nvSpPr>
          <p:cNvPr id="22" name="正方形/長方形 21"/>
          <p:cNvSpPr/>
          <p:nvPr/>
        </p:nvSpPr>
        <p:spPr>
          <a:xfrm>
            <a:off x="7042256" y="2130871"/>
            <a:ext cx="742511" cy="276999"/>
          </a:xfrm>
          <a:prstGeom prst="rect">
            <a:avLst/>
          </a:prstGeom>
          <a:solidFill>
            <a:schemeClr val="accent1">
              <a:lumMod val="20000"/>
              <a:lumOff val="80000"/>
            </a:schemeClr>
          </a:solidFill>
        </p:spPr>
        <p:txBody>
          <a:bodyPr wrap="none">
            <a:spAutoFit/>
          </a:bodyPr>
          <a:lstStyle/>
          <a:p>
            <a:r>
              <a:rPr lang="ja-JP" altLang="en-US" sz="1200" dirty="0">
                <a:latin typeface="メイリオ" panose="020B0604030504040204" pitchFamily="50" charset="-128"/>
                <a:ea typeface="メイリオ" panose="020B0604030504040204" pitchFamily="50" charset="-128"/>
              </a:rPr>
              <a:t>約</a:t>
            </a:r>
            <a:r>
              <a:rPr lang="en-US" altLang="ja-JP" sz="1200" dirty="0">
                <a:latin typeface="メイリオ" panose="020B0604030504040204" pitchFamily="50" charset="-128"/>
                <a:ea typeface="メイリオ" panose="020B0604030504040204" pitchFamily="50" charset="-128"/>
              </a:rPr>
              <a:t>1</a:t>
            </a:r>
            <a:r>
              <a:rPr lang="ja-JP" altLang="en-US" sz="1200" dirty="0">
                <a:latin typeface="メイリオ" panose="020B0604030504040204" pitchFamily="50" charset="-128"/>
                <a:ea typeface="メイリオ" panose="020B0604030504040204" pitchFamily="50" charset="-128"/>
              </a:rPr>
              <a:t>か月</a:t>
            </a:r>
            <a:endParaRPr lang="ja-JP" altLang="en-US" sz="1200" dirty="0"/>
          </a:p>
        </p:txBody>
      </p:sp>
      <p:sp>
        <p:nvSpPr>
          <p:cNvPr id="3" name="正方形/長方形 2"/>
          <p:cNvSpPr/>
          <p:nvPr/>
        </p:nvSpPr>
        <p:spPr>
          <a:xfrm>
            <a:off x="7902506" y="3514209"/>
            <a:ext cx="1415772" cy="584775"/>
          </a:xfrm>
          <a:prstGeom prst="rect">
            <a:avLst/>
          </a:prstGeom>
        </p:spPr>
        <p:txBody>
          <a:bodyPr wrap="none">
            <a:spAutoFit/>
          </a:bodyPr>
          <a:lstStyle/>
          <a:p>
            <a:r>
              <a:rPr lang="ja-JP" altLang="en-US" sz="800" dirty="0">
                <a:solidFill>
                  <a:schemeClr val="bg1">
                    <a:lumMod val="50000"/>
                  </a:schemeClr>
                </a:solidFill>
                <a:latin typeface="メイリオ" panose="020B0604030504040204" pitchFamily="50" charset="-128"/>
                <a:ea typeface="メイリオ" panose="020B0604030504040204" pitchFamily="50" charset="-128"/>
              </a:rPr>
              <a:t>オーディエンスリスト作成</a:t>
            </a:r>
            <a:endParaRPr lang="en-US" altLang="ja-JP" sz="800" dirty="0">
              <a:solidFill>
                <a:schemeClr val="bg1">
                  <a:lumMod val="50000"/>
                </a:schemeClr>
              </a:solidFill>
              <a:latin typeface="メイリオ" panose="020B0604030504040204" pitchFamily="50" charset="-128"/>
              <a:ea typeface="メイリオ" panose="020B0604030504040204" pitchFamily="50" charset="-128"/>
            </a:endParaRPr>
          </a:p>
          <a:p>
            <a:r>
              <a:rPr lang="ja-JP" altLang="en-US" sz="800" dirty="0">
                <a:solidFill>
                  <a:schemeClr val="bg1">
                    <a:lumMod val="50000"/>
                  </a:schemeClr>
                </a:solidFill>
                <a:latin typeface="メイリオ" panose="020B0604030504040204" pitchFamily="50" charset="-128"/>
                <a:ea typeface="メイリオ" panose="020B0604030504040204" pitchFamily="50" charset="-128"/>
              </a:rPr>
              <a:t>タグ設定</a:t>
            </a:r>
            <a:endParaRPr lang="en-US" altLang="ja-JP" sz="800" dirty="0">
              <a:solidFill>
                <a:schemeClr val="bg1">
                  <a:lumMod val="50000"/>
                </a:schemeClr>
              </a:solidFill>
              <a:latin typeface="メイリオ" panose="020B0604030504040204" pitchFamily="50" charset="-128"/>
              <a:ea typeface="メイリオ" panose="020B0604030504040204" pitchFamily="50" charset="-128"/>
            </a:endParaRPr>
          </a:p>
          <a:p>
            <a:r>
              <a:rPr lang="en-US" altLang="ja-JP" sz="800" dirty="0">
                <a:solidFill>
                  <a:schemeClr val="bg1">
                    <a:lumMod val="50000"/>
                  </a:schemeClr>
                </a:solidFill>
                <a:latin typeface="メイリオ" panose="020B0604030504040204" pitchFamily="50" charset="-128"/>
                <a:ea typeface="メイリオ" panose="020B0604030504040204" pitchFamily="50" charset="-128"/>
              </a:rPr>
              <a:t>GA</a:t>
            </a:r>
            <a:r>
              <a:rPr lang="ja-JP" altLang="en-US" sz="800" dirty="0">
                <a:solidFill>
                  <a:schemeClr val="bg1">
                    <a:lumMod val="50000"/>
                  </a:schemeClr>
                </a:solidFill>
                <a:latin typeface="メイリオ" panose="020B0604030504040204" pitchFamily="50" charset="-128"/>
                <a:ea typeface="メイリオ" panose="020B0604030504040204" pitchFamily="50" charset="-128"/>
              </a:rPr>
              <a:t>設定</a:t>
            </a:r>
            <a:endParaRPr lang="en-US" altLang="ja-JP" sz="800" dirty="0">
              <a:solidFill>
                <a:schemeClr val="bg1">
                  <a:lumMod val="50000"/>
                </a:schemeClr>
              </a:solidFill>
              <a:latin typeface="メイリオ" panose="020B0604030504040204" pitchFamily="50" charset="-128"/>
              <a:ea typeface="メイリオ" panose="020B0604030504040204" pitchFamily="50" charset="-128"/>
            </a:endParaRPr>
          </a:p>
          <a:p>
            <a:r>
              <a:rPr lang="en-US" altLang="ja-JP" sz="800" dirty="0">
                <a:solidFill>
                  <a:schemeClr val="bg1">
                    <a:lumMod val="50000"/>
                  </a:schemeClr>
                </a:solidFill>
                <a:latin typeface="メイリオ" panose="020B0604030504040204" pitchFamily="50" charset="-128"/>
                <a:ea typeface="メイリオ" panose="020B0604030504040204" pitchFamily="50" charset="-128"/>
              </a:rPr>
              <a:t>etc...</a:t>
            </a:r>
          </a:p>
        </p:txBody>
      </p:sp>
      <p:sp>
        <p:nvSpPr>
          <p:cNvPr id="24" name="正方形/長方形 23"/>
          <p:cNvSpPr/>
          <p:nvPr/>
        </p:nvSpPr>
        <p:spPr>
          <a:xfrm>
            <a:off x="7897281" y="4276528"/>
            <a:ext cx="1107996" cy="584775"/>
          </a:xfrm>
          <a:prstGeom prst="rect">
            <a:avLst/>
          </a:prstGeom>
        </p:spPr>
        <p:txBody>
          <a:bodyPr wrap="none">
            <a:spAutoFit/>
          </a:bodyPr>
          <a:lstStyle/>
          <a:p>
            <a:r>
              <a:rPr lang="ja-JP" altLang="en-US" sz="800" dirty="0">
                <a:solidFill>
                  <a:schemeClr val="bg1">
                    <a:lumMod val="50000"/>
                  </a:schemeClr>
                </a:solidFill>
                <a:latin typeface="メイリオ" panose="020B0604030504040204" pitchFamily="50" charset="-128"/>
                <a:ea typeface="メイリオ" panose="020B0604030504040204" pitchFamily="50" charset="-128"/>
              </a:rPr>
              <a:t>リッチメニュー作成</a:t>
            </a:r>
            <a:endParaRPr lang="en-US" altLang="ja-JP" sz="800" dirty="0">
              <a:solidFill>
                <a:schemeClr val="bg1">
                  <a:lumMod val="50000"/>
                </a:schemeClr>
              </a:solidFill>
              <a:latin typeface="メイリオ" panose="020B0604030504040204" pitchFamily="50" charset="-128"/>
              <a:ea typeface="メイリオ" panose="020B0604030504040204" pitchFamily="50" charset="-128"/>
            </a:endParaRPr>
          </a:p>
          <a:p>
            <a:r>
              <a:rPr lang="ja-JP" altLang="en-US" sz="800" dirty="0">
                <a:solidFill>
                  <a:schemeClr val="bg1">
                    <a:lumMod val="50000"/>
                  </a:schemeClr>
                </a:solidFill>
                <a:latin typeface="メイリオ" panose="020B0604030504040204" pitchFamily="50" charset="-128"/>
                <a:ea typeface="メイリオ" panose="020B0604030504040204" pitchFamily="50" charset="-128"/>
              </a:rPr>
              <a:t>アンケート設計</a:t>
            </a:r>
            <a:endParaRPr lang="en-US" altLang="ja-JP" sz="800" dirty="0">
              <a:solidFill>
                <a:schemeClr val="bg1">
                  <a:lumMod val="50000"/>
                </a:schemeClr>
              </a:solidFill>
              <a:latin typeface="メイリオ" panose="020B0604030504040204" pitchFamily="50" charset="-128"/>
              <a:ea typeface="メイリオ" panose="020B0604030504040204" pitchFamily="50" charset="-128"/>
            </a:endParaRPr>
          </a:p>
          <a:p>
            <a:r>
              <a:rPr lang="ja-JP" altLang="en-US" sz="800" dirty="0">
                <a:solidFill>
                  <a:schemeClr val="bg1">
                    <a:lumMod val="50000"/>
                  </a:schemeClr>
                </a:solidFill>
                <a:latin typeface="メイリオ" panose="020B0604030504040204" pitchFamily="50" charset="-128"/>
                <a:ea typeface="メイリオ" panose="020B0604030504040204" pitchFamily="50" charset="-128"/>
              </a:rPr>
              <a:t>シナリオ設計</a:t>
            </a:r>
            <a:endParaRPr lang="en-US" altLang="ja-JP" sz="800" dirty="0">
              <a:solidFill>
                <a:schemeClr val="bg1">
                  <a:lumMod val="50000"/>
                </a:schemeClr>
              </a:solidFill>
              <a:latin typeface="メイリオ" panose="020B0604030504040204" pitchFamily="50" charset="-128"/>
              <a:ea typeface="メイリオ" panose="020B0604030504040204" pitchFamily="50" charset="-128"/>
            </a:endParaRPr>
          </a:p>
          <a:p>
            <a:r>
              <a:rPr lang="en-US" altLang="ja-JP" sz="800" dirty="0">
                <a:solidFill>
                  <a:schemeClr val="bg1">
                    <a:lumMod val="50000"/>
                  </a:schemeClr>
                </a:solidFill>
                <a:latin typeface="メイリオ" panose="020B0604030504040204" pitchFamily="50" charset="-128"/>
                <a:ea typeface="メイリオ" panose="020B0604030504040204" pitchFamily="50" charset="-128"/>
              </a:rPr>
              <a:t>etc...</a:t>
            </a:r>
          </a:p>
        </p:txBody>
      </p:sp>
    </p:spTree>
    <p:extLst>
      <p:ext uri="{BB962C8B-B14F-4D97-AF65-F5344CB8AC3E}">
        <p14:creationId xmlns:p14="http://schemas.microsoft.com/office/powerpoint/2010/main" val="2121434812"/>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81E9651-D02B-F1D5-7974-8EFB42339FA2}"/>
            </a:ext>
          </a:extLst>
        </p:cNvPr>
        <p:cNvGrpSpPr/>
        <p:nvPr/>
      </p:nvGrpSpPr>
      <p:grpSpPr>
        <a:xfrm>
          <a:off x="0" y="0"/>
          <a:ext cx="0" cy="0"/>
          <a:chOff x="0" y="0"/>
          <a:chExt cx="0" cy="0"/>
        </a:xfrm>
      </p:grpSpPr>
      <p:sp>
        <p:nvSpPr>
          <p:cNvPr id="4" name="Google Shape;752;p28">
            <a:extLst>
              <a:ext uri="{FF2B5EF4-FFF2-40B4-BE49-F238E27FC236}">
                <a16:creationId xmlns:a16="http://schemas.microsoft.com/office/drawing/2014/main" id="{0D14D38F-F567-ACF2-CDEB-76004FDB5B51}"/>
              </a:ext>
            </a:extLst>
          </p:cNvPr>
          <p:cNvSpPr txBox="1"/>
          <p:nvPr/>
        </p:nvSpPr>
        <p:spPr>
          <a:xfrm>
            <a:off x="548883" y="138137"/>
            <a:ext cx="6276325" cy="338514"/>
          </a:xfrm>
          <a:prstGeom prst="rect">
            <a:avLst/>
          </a:prstGeom>
          <a:noFill/>
          <a:ln>
            <a:noFill/>
          </a:ln>
        </p:spPr>
        <p:txBody>
          <a:bodyPr spcFirstLastPara="1" wrap="square" lIns="91425" tIns="45700" rIns="91425" bIns="45700" anchor="ctr" anchorCtr="0">
            <a:spAutoFit/>
          </a:bodyPr>
          <a:lstStyle/>
          <a:p>
            <a:pPr lvl="0"/>
            <a:r>
              <a:rPr lang="ja-JP" altLang="en-US" sz="1600" b="1" dirty="0">
                <a:solidFill>
                  <a:srgbClr val="323366"/>
                </a:solidFill>
                <a:latin typeface="メイリオ" panose="020B0604030504040204" pitchFamily="50" charset="-128"/>
                <a:ea typeface="メイリオ" panose="020B0604030504040204" pitchFamily="50" charset="-128"/>
                <a:cs typeface="Meiryo"/>
                <a:sym typeface="Meiryo"/>
              </a:rPr>
              <a:t>資料アジェンダ</a:t>
            </a:r>
          </a:p>
        </p:txBody>
      </p:sp>
      <p:sp>
        <p:nvSpPr>
          <p:cNvPr id="2" name="正方形/長方形 1">
            <a:extLst>
              <a:ext uri="{FF2B5EF4-FFF2-40B4-BE49-F238E27FC236}">
                <a16:creationId xmlns:a16="http://schemas.microsoft.com/office/drawing/2014/main" id="{636C1E2A-AC35-76CA-EBEE-CAD4F26CF45A}"/>
              </a:ext>
            </a:extLst>
          </p:cNvPr>
          <p:cNvSpPr/>
          <p:nvPr/>
        </p:nvSpPr>
        <p:spPr>
          <a:xfrm>
            <a:off x="1460711" y="3038203"/>
            <a:ext cx="6984604" cy="584775"/>
          </a:xfrm>
          <a:prstGeom prst="rect">
            <a:avLst/>
          </a:prstGeom>
        </p:spPr>
        <p:txBody>
          <a:bodyPr wrap="none">
            <a:spAutoFit/>
          </a:bodyPr>
          <a:lstStyle/>
          <a:p>
            <a:pPr algn="ctr"/>
            <a:r>
              <a:rPr lang="en-US" altLang="ja-JP" sz="3200" b="1" dirty="0">
                <a:solidFill>
                  <a:schemeClr val="tx1">
                    <a:lumMod val="75000"/>
                    <a:lumOff val="25000"/>
                  </a:schemeClr>
                </a:solidFill>
                <a:latin typeface="メイリオ" panose="020B0604030504040204" pitchFamily="50" charset="-128"/>
                <a:ea typeface="メイリオ" panose="020B0604030504040204" pitchFamily="50" charset="-128"/>
                <a:cs typeface="メイリオ" panose="020B0604030504040204" pitchFamily="50" charset="-128"/>
              </a:rPr>
              <a:t>LINE</a:t>
            </a:r>
            <a:r>
              <a:rPr lang="ja-JP" altLang="en-US" sz="3200" b="1" dirty="0">
                <a:solidFill>
                  <a:schemeClr val="tx1">
                    <a:lumMod val="75000"/>
                    <a:lumOff val="25000"/>
                  </a:schemeClr>
                </a:solidFill>
                <a:latin typeface="メイリオ" panose="020B0604030504040204" pitchFamily="50" charset="-128"/>
                <a:ea typeface="メイリオ" panose="020B0604030504040204" pitchFamily="50" charset="-128"/>
                <a:cs typeface="メイリオ" panose="020B0604030504040204" pitchFamily="50" charset="-128"/>
              </a:rPr>
              <a:t>公式アカウント運用のメリット</a:t>
            </a:r>
            <a:endParaRPr lang="en-US" altLang="ja-IS" sz="3200" b="1" dirty="0">
              <a:solidFill>
                <a:schemeClr val="tx1">
                  <a:lumMod val="75000"/>
                  <a:lumOff val="25000"/>
                </a:schemeClr>
              </a:solidFill>
              <a:latin typeface="メイリオ" panose="020B0604030504040204" pitchFamily="50" charset="-128"/>
              <a:ea typeface="メイリオ" panose="020B0604030504040204" pitchFamily="50" charset="-128"/>
              <a:cs typeface="メイリオ" panose="020B0604030504040204" pitchFamily="50" charset="-128"/>
            </a:endParaRPr>
          </a:p>
        </p:txBody>
      </p:sp>
    </p:spTree>
    <p:extLst>
      <p:ext uri="{BB962C8B-B14F-4D97-AF65-F5344CB8AC3E}">
        <p14:creationId xmlns:p14="http://schemas.microsoft.com/office/powerpoint/2010/main" val="3709543333"/>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0B579F4-FB71-CB84-349D-670C2D29F6A3}"/>
            </a:ext>
          </a:extLst>
        </p:cNvPr>
        <p:cNvGrpSpPr/>
        <p:nvPr/>
      </p:nvGrpSpPr>
      <p:grpSpPr>
        <a:xfrm>
          <a:off x="0" y="0"/>
          <a:ext cx="0" cy="0"/>
          <a:chOff x="0" y="0"/>
          <a:chExt cx="0" cy="0"/>
        </a:xfrm>
      </p:grpSpPr>
      <p:sp>
        <p:nvSpPr>
          <p:cNvPr id="3" name="正方形/長方形 2">
            <a:extLst>
              <a:ext uri="{FF2B5EF4-FFF2-40B4-BE49-F238E27FC236}">
                <a16:creationId xmlns:a16="http://schemas.microsoft.com/office/drawing/2014/main" id="{4B1E45AF-D1E3-4DBA-4BB7-0857F699B7A8}"/>
              </a:ext>
            </a:extLst>
          </p:cNvPr>
          <p:cNvSpPr/>
          <p:nvPr/>
        </p:nvSpPr>
        <p:spPr>
          <a:xfrm>
            <a:off x="0" y="577940"/>
            <a:ext cx="9906000" cy="812735"/>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kumimoji="1" lang="ja-JP" altLang="en-US">
              <a:latin typeface="メイリオ" panose="020B0604030504040204" pitchFamily="50" charset="-128"/>
              <a:ea typeface="メイリオ" panose="020B0604030504040204" pitchFamily="50" charset="-128"/>
            </a:endParaRPr>
          </a:p>
        </p:txBody>
      </p:sp>
      <p:sp>
        <p:nvSpPr>
          <p:cNvPr id="4" name="正方形/長方形 3">
            <a:extLst>
              <a:ext uri="{FF2B5EF4-FFF2-40B4-BE49-F238E27FC236}">
                <a16:creationId xmlns:a16="http://schemas.microsoft.com/office/drawing/2014/main" id="{C6D5128D-AC86-A618-019E-D9FA2B942550}"/>
              </a:ext>
            </a:extLst>
          </p:cNvPr>
          <p:cNvSpPr/>
          <p:nvPr/>
        </p:nvSpPr>
        <p:spPr>
          <a:xfrm>
            <a:off x="379976" y="635062"/>
            <a:ext cx="9160881" cy="698492"/>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tIns="90000" anchor="ctr"/>
          <a:lstStyle/>
          <a:p>
            <a:pPr algn="ctr">
              <a:lnSpc>
                <a:spcPts val="2455"/>
              </a:lnSpc>
            </a:pPr>
            <a:r>
              <a:rPr lang="ja-JP" altLang="en-US" sz="1400" dirty="0">
                <a:solidFill>
                  <a:srgbClr val="343434"/>
                </a:solidFill>
                <a:latin typeface="メイリオ" panose="020B0604030504040204" pitchFamily="50" charset="-128"/>
                <a:ea typeface="メイリオ" panose="020B0604030504040204" pitchFamily="50" charset="-128"/>
              </a:rPr>
              <a:t>ファン化・自社アプリ登録に対して、</a:t>
            </a:r>
            <a:r>
              <a:rPr lang="en-US" altLang="ja-JP" sz="1400" dirty="0">
                <a:solidFill>
                  <a:srgbClr val="343434"/>
                </a:solidFill>
                <a:latin typeface="メイリオ" panose="020B0604030504040204" pitchFamily="50" charset="-128"/>
                <a:ea typeface="メイリオ" panose="020B0604030504040204" pitchFamily="50" charset="-128"/>
              </a:rPr>
              <a:t>”</a:t>
            </a:r>
            <a:r>
              <a:rPr lang="ja-JP" altLang="en-US" sz="1400" dirty="0">
                <a:solidFill>
                  <a:srgbClr val="343434"/>
                </a:solidFill>
                <a:latin typeface="メイリオ" panose="020B0604030504040204" pitchFamily="50" charset="-128"/>
                <a:ea typeface="メイリオ" panose="020B0604030504040204" pitchFamily="50" charset="-128"/>
              </a:rPr>
              <a:t>ハードルが高く感じる</a:t>
            </a:r>
            <a:r>
              <a:rPr lang="en-US" altLang="ja-JP" sz="1400" dirty="0">
                <a:solidFill>
                  <a:srgbClr val="343434"/>
                </a:solidFill>
                <a:latin typeface="メイリオ" panose="020B0604030504040204" pitchFamily="50" charset="-128"/>
                <a:ea typeface="メイリオ" panose="020B0604030504040204" pitchFamily="50" charset="-128"/>
              </a:rPr>
              <a:t>”</a:t>
            </a:r>
            <a:r>
              <a:rPr lang="ja-JP" altLang="en-US" sz="1400" dirty="0">
                <a:solidFill>
                  <a:srgbClr val="343434"/>
                </a:solidFill>
                <a:latin typeface="メイリオ" panose="020B0604030504040204" pitchFamily="50" charset="-128"/>
                <a:ea typeface="メイリオ" panose="020B0604030504040204" pitchFamily="50" charset="-128"/>
              </a:rPr>
              <a:t>ユーザーが増えている状況。</a:t>
            </a:r>
            <a:endParaRPr lang="en-US" altLang="ja-JP" sz="1400" dirty="0">
              <a:solidFill>
                <a:srgbClr val="343434"/>
              </a:solidFill>
              <a:latin typeface="メイリオ" panose="020B0604030504040204" pitchFamily="50" charset="-128"/>
              <a:ea typeface="メイリオ" panose="020B0604030504040204" pitchFamily="50" charset="-128"/>
            </a:endParaRPr>
          </a:p>
          <a:p>
            <a:pPr algn="ctr">
              <a:lnSpc>
                <a:spcPts val="2455"/>
              </a:lnSpc>
            </a:pPr>
            <a:r>
              <a:rPr lang="ja-JP" altLang="en-US" sz="1400" dirty="0">
                <a:solidFill>
                  <a:srgbClr val="343434"/>
                </a:solidFill>
                <a:latin typeface="メイリオ" panose="020B0604030504040204" pitchFamily="50" charset="-128"/>
                <a:ea typeface="メイリオ" panose="020B0604030504040204" pitchFamily="50" charset="-128"/>
              </a:rPr>
              <a:t>離脱防止 </a:t>
            </a:r>
            <a:r>
              <a:rPr lang="en-US" altLang="ja-JP" sz="1400" dirty="0">
                <a:solidFill>
                  <a:srgbClr val="343434"/>
                </a:solidFill>
                <a:latin typeface="メイリオ" panose="020B0604030504040204" pitchFamily="50" charset="-128"/>
                <a:ea typeface="メイリオ" panose="020B0604030504040204" pitchFamily="50" charset="-128"/>
              </a:rPr>
              <a:t>&gt;&gt; </a:t>
            </a:r>
            <a:r>
              <a:rPr lang="ja-JP" altLang="en-US" sz="1400" dirty="0">
                <a:solidFill>
                  <a:srgbClr val="343434"/>
                </a:solidFill>
                <a:latin typeface="メイリオ" panose="020B0604030504040204" pitchFamily="50" charset="-128"/>
                <a:ea typeface="メイリオ" panose="020B0604030504040204" pitchFamily="50" charset="-128"/>
              </a:rPr>
              <a:t>友だち追加 </a:t>
            </a:r>
            <a:r>
              <a:rPr lang="en-US" altLang="ja-JP" sz="1400" dirty="0">
                <a:solidFill>
                  <a:srgbClr val="343434"/>
                </a:solidFill>
                <a:latin typeface="メイリオ" panose="020B0604030504040204" pitchFamily="50" charset="-128"/>
                <a:ea typeface="メイリオ" panose="020B0604030504040204" pitchFamily="50" charset="-128"/>
              </a:rPr>
              <a:t>&gt;&gt; LINE</a:t>
            </a:r>
            <a:r>
              <a:rPr lang="ja-JP" altLang="en-US" sz="1400" dirty="0">
                <a:solidFill>
                  <a:srgbClr val="343434"/>
                </a:solidFill>
                <a:latin typeface="メイリオ" panose="020B0604030504040204" pitchFamily="50" charset="-128"/>
                <a:ea typeface="メイリオ" panose="020B0604030504040204" pitchFamily="50" charset="-128"/>
              </a:rPr>
              <a:t>で学習 </a:t>
            </a:r>
            <a:r>
              <a:rPr lang="en-US" altLang="ja-JP" sz="1400" dirty="0">
                <a:solidFill>
                  <a:srgbClr val="343434"/>
                </a:solidFill>
                <a:latin typeface="メイリオ" panose="020B0604030504040204" pitchFamily="50" charset="-128"/>
                <a:ea typeface="メイリオ" panose="020B0604030504040204" pitchFamily="50" charset="-128"/>
              </a:rPr>
              <a:t>&gt;&gt; </a:t>
            </a:r>
            <a:r>
              <a:rPr lang="ja-JP" altLang="en-US" sz="1400" dirty="0">
                <a:solidFill>
                  <a:srgbClr val="343434"/>
                </a:solidFill>
                <a:latin typeface="メイリオ" panose="020B0604030504040204" pitchFamily="50" charset="-128"/>
                <a:ea typeface="メイリオ" panose="020B0604030504040204" pitchFamily="50" charset="-128"/>
              </a:rPr>
              <a:t>リード獲得・利用 の導線設計でハードルを抑えつつ運用することが可能。</a:t>
            </a:r>
            <a:endParaRPr lang="en-US" altLang="ja-JP" sz="1400" dirty="0">
              <a:solidFill>
                <a:srgbClr val="343434"/>
              </a:solidFill>
              <a:latin typeface="メイリオ" panose="020B0604030504040204" pitchFamily="50" charset="-128"/>
              <a:ea typeface="メイリオ" panose="020B0604030504040204" pitchFamily="50" charset="-128"/>
            </a:endParaRPr>
          </a:p>
        </p:txBody>
      </p:sp>
      <p:cxnSp>
        <p:nvCxnSpPr>
          <p:cNvPr id="5" name="直線コネクタ 4">
            <a:extLst>
              <a:ext uri="{FF2B5EF4-FFF2-40B4-BE49-F238E27FC236}">
                <a16:creationId xmlns:a16="http://schemas.microsoft.com/office/drawing/2014/main" id="{5C1533E1-7172-D6F9-4659-AAF59CE221F1}"/>
              </a:ext>
            </a:extLst>
          </p:cNvPr>
          <p:cNvCxnSpPr>
            <a:cxnSpLocks/>
          </p:cNvCxnSpPr>
          <p:nvPr/>
        </p:nvCxnSpPr>
        <p:spPr>
          <a:xfrm>
            <a:off x="0" y="1390675"/>
            <a:ext cx="9906000" cy="0"/>
          </a:xfrm>
          <a:prstGeom prst="line">
            <a:avLst/>
          </a:prstGeom>
          <a:ln w="19050">
            <a:solidFill>
              <a:schemeClr val="bg1">
                <a:lumMod val="85000"/>
                <a:alpha val="60000"/>
              </a:schemeClr>
            </a:solidFill>
          </a:ln>
          <a:effectLst/>
        </p:spPr>
        <p:style>
          <a:lnRef idx="2">
            <a:schemeClr val="accent1"/>
          </a:lnRef>
          <a:fillRef idx="0">
            <a:schemeClr val="accent1"/>
          </a:fillRef>
          <a:effectRef idx="1">
            <a:schemeClr val="accent1"/>
          </a:effectRef>
          <a:fontRef idx="minor">
            <a:schemeClr val="tx1"/>
          </a:fontRef>
        </p:style>
      </p:cxnSp>
      <p:sp>
        <p:nvSpPr>
          <p:cNvPr id="45" name="Google Shape;156;p7">
            <a:extLst>
              <a:ext uri="{FF2B5EF4-FFF2-40B4-BE49-F238E27FC236}">
                <a16:creationId xmlns:a16="http://schemas.microsoft.com/office/drawing/2014/main" id="{5303208C-F2F3-3716-B706-B8EDA63E9750}"/>
              </a:ext>
            </a:extLst>
          </p:cNvPr>
          <p:cNvSpPr txBox="1"/>
          <p:nvPr/>
        </p:nvSpPr>
        <p:spPr>
          <a:xfrm>
            <a:off x="548883" y="138118"/>
            <a:ext cx="6514857" cy="338554"/>
          </a:xfrm>
          <a:prstGeom prst="rect">
            <a:avLst/>
          </a:prstGeom>
          <a:noFill/>
          <a:ln w="19050">
            <a:noFill/>
          </a:ln>
        </p:spPr>
        <p:txBody>
          <a:bodyPr spcFirstLastPara="1" wrap="square" lIns="91425" tIns="45700" rIns="91425" bIns="45700" anchor="ctr" anchorCtr="0">
            <a:spAutoFit/>
          </a:bodyPr>
          <a:lstStyle/>
          <a:p>
            <a:pPr marL="0" marR="0" lvl="0" indent="0" algn="l" rtl="0">
              <a:spcBef>
                <a:spcPts val="0"/>
              </a:spcBef>
              <a:spcAft>
                <a:spcPts val="0"/>
              </a:spcAft>
              <a:buClr>
                <a:srgbClr val="002060"/>
              </a:buClr>
              <a:buSzPts val="1600"/>
              <a:buFont typeface="Arial"/>
              <a:buNone/>
            </a:pPr>
            <a:r>
              <a:rPr lang="en-US" altLang="ja-JP" sz="1600" b="1" dirty="0">
                <a:solidFill>
                  <a:srgbClr val="002060"/>
                </a:solidFill>
                <a:latin typeface="Meiryo"/>
                <a:ea typeface="Meiryo"/>
                <a:cs typeface="Meiryo"/>
                <a:sym typeface="Meiryo"/>
              </a:rPr>
              <a:t>LINE</a:t>
            </a:r>
            <a:r>
              <a:rPr lang="ja-JP" altLang="en-US" sz="1600" b="1" dirty="0">
                <a:solidFill>
                  <a:srgbClr val="002060"/>
                </a:solidFill>
                <a:latin typeface="Meiryo"/>
                <a:ea typeface="Meiryo"/>
                <a:cs typeface="Meiryo"/>
                <a:sym typeface="Meiryo"/>
              </a:rPr>
              <a:t>公式アカウントを検討する背景</a:t>
            </a:r>
            <a:endParaRPr sz="1600" b="1" dirty="0">
              <a:solidFill>
                <a:srgbClr val="002060"/>
              </a:solidFill>
              <a:latin typeface="Meiryo"/>
              <a:ea typeface="Meiryo"/>
              <a:cs typeface="Meiryo"/>
              <a:sym typeface="Meiryo"/>
            </a:endParaRPr>
          </a:p>
        </p:txBody>
      </p:sp>
      <p:sp>
        <p:nvSpPr>
          <p:cNvPr id="2" name="台形 1">
            <a:extLst>
              <a:ext uri="{FF2B5EF4-FFF2-40B4-BE49-F238E27FC236}">
                <a16:creationId xmlns:a16="http://schemas.microsoft.com/office/drawing/2014/main" id="{6CEEA445-8026-0C8A-48B1-72329CC0C762}"/>
              </a:ext>
            </a:extLst>
          </p:cNvPr>
          <p:cNvSpPr/>
          <p:nvPr/>
        </p:nvSpPr>
        <p:spPr>
          <a:xfrm rot="10800000">
            <a:off x="548883" y="1844173"/>
            <a:ext cx="3274466" cy="604240"/>
          </a:xfrm>
          <a:prstGeom prst="trapezoid">
            <a:avLst/>
          </a:prstGeom>
          <a:solidFill>
            <a:schemeClr val="tx2">
              <a:lumMod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6" name="台形 5">
            <a:extLst>
              <a:ext uri="{FF2B5EF4-FFF2-40B4-BE49-F238E27FC236}">
                <a16:creationId xmlns:a16="http://schemas.microsoft.com/office/drawing/2014/main" id="{9F2F9E67-FA62-E2F6-550C-31986420B41E}"/>
              </a:ext>
            </a:extLst>
          </p:cNvPr>
          <p:cNvSpPr/>
          <p:nvPr/>
        </p:nvSpPr>
        <p:spPr>
          <a:xfrm rot="10800000">
            <a:off x="752147" y="2517920"/>
            <a:ext cx="2877705" cy="604240"/>
          </a:xfrm>
          <a:prstGeom prst="trapezoid">
            <a:avLst/>
          </a:prstGeom>
          <a:solidFill>
            <a:schemeClr val="accent1">
              <a:lumMod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7" name="台形 6">
            <a:extLst>
              <a:ext uri="{FF2B5EF4-FFF2-40B4-BE49-F238E27FC236}">
                <a16:creationId xmlns:a16="http://schemas.microsoft.com/office/drawing/2014/main" id="{B6E67C0E-450F-9501-7066-6FB44B603ACE}"/>
              </a:ext>
            </a:extLst>
          </p:cNvPr>
          <p:cNvSpPr/>
          <p:nvPr/>
        </p:nvSpPr>
        <p:spPr>
          <a:xfrm rot="10800000">
            <a:off x="963025" y="3191667"/>
            <a:ext cx="2430931" cy="604240"/>
          </a:xfrm>
          <a:prstGeom prst="trapezoid">
            <a:avLst/>
          </a:prstGeom>
          <a:solidFill>
            <a:schemeClr val="tx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8" name="台形 7">
            <a:extLst>
              <a:ext uri="{FF2B5EF4-FFF2-40B4-BE49-F238E27FC236}">
                <a16:creationId xmlns:a16="http://schemas.microsoft.com/office/drawing/2014/main" id="{EC332CC3-1BFE-4336-94C4-337A6F76E30F}"/>
              </a:ext>
            </a:extLst>
          </p:cNvPr>
          <p:cNvSpPr/>
          <p:nvPr/>
        </p:nvSpPr>
        <p:spPr>
          <a:xfrm rot="10800000">
            <a:off x="1195275" y="3865414"/>
            <a:ext cx="1981682" cy="604240"/>
          </a:xfrm>
          <a:prstGeom prst="trapezoid">
            <a:avLst/>
          </a:prstGeom>
          <a:solidFill>
            <a:schemeClr val="accent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9" name="台形 8">
            <a:extLst>
              <a:ext uri="{FF2B5EF4-FFF2-40B4-BE49-F238E27FC236}">
                <a16:creationId xmlns:a16="http://schemas.microsoft.com/office/drawing/2014/main" id="{9FA0DA39-CA3D-4A32-A88D-5F42671F47B8}"/>
              </a:ext>
            </a:extLst>
          </p:cNvPr>
          <p:cNvSpPr/>
          <p:nvPr/>
        </p:nvSpPr>
        <p:spPr>
          <a:xfrm rot="10800000">
            <a:off x="1422661" y="4539161"/>
            <a:ext cx="1536677" cy="604240"/>
          </a:xfrm>
          <a:prstGeom prst="trapezoid">
            <a:avLst/>
          </a:prstGeom>
          <a:solidFill>
            <a:schemeClr val="tx2">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0" name="台形 9">
            <a:extLst>
              <a:ext uri="{FF2B5EF4-FFF2-40B4-BE49-F238E27FC236}">
                <a16:creationId xmlns:a16="http://schemas.microsoft.com/office/drawing/2014/main" id="{1DAAE755-E19F-83A4-49AB-80FD2B8C6117}"/>
              </a:ext>
            </a:extLst>
          </p:cNvPr>
          <p:cNvSpPr/>
          <p:nvPr/>
        </p:nvSpPr>
        <p:spPr>
          <a:xfrm rot="10800000">
            <a:off x="1611466" y="5212908"/>
            <a:ext cx="1134047" cy="470263"/>
          </a:xfrm>
          <a:prstGeom prst="trapezoid">
            <a:avLst>
              <a:gd name="adj" fmla="val 0"/>
            </a:avLst>
          </a:prstGeom>
          <a:solidFill>
            <a:srgbClr val="FFC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sp>
        <p:nvSpPr>
          <p:cNvPr id="11" name="台形 10">
            <a:extLst>
              <a:ext uri="{FF2B5EF4-FFF2-40B4-BE49-F238E27FC236}">
                <a16:creationId xmlns:a16="http://schemas.microsoft.com/office/drawing/2014/main" id="{CE13A148-43A9-FACC-AA40-5B3C6364394E}"/>
              </a:ext>
            </a:extLst>
          </p:cNvPr>
          <p:cNvSpPr/>
          <p:nvPr/>
        </p:nvSpPr>
        <p:spPr>
          <a:xfrm rot="10800000">
            <a:off x="1611465" y="5752675"/>
            <a:ext cx="1134047" cy="470263"/>
          </a:xfrm>
          <a:prstGeom prst="trapezoid">
            <a:avLst>
              <a:gd name="adj" fmla="val 0"/>
            </a:avLst>
          </a:prstGeom>
          <a:solidFill>
            <a:schemeClr val="accent6">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sp>
        <p:nvSpPr>
          <p:cNvPr id="13" name="テキスト ボックス 12">
            <a:extLst>
              <a:ext uri="{FF2B5EF4-FFF2-40B4-BE49-F238E27FC236}">
                <a16:creationId xmlns:a16="http://schemas.microsoft.com/office/drawing/2014/main" id="{927CB514-4619-59D1-450A-DDF1B29355E0}"/>
              </a:ext>
            </a:extLst>
          </p:cNvPr>
          <p:cNvSpPr txBox="1"/>
          <p:nvPr/>
        </p:nvSpPr>
        <p:spPr>
          <a:xfrm>
            <a:off x="1459558" y="5315094"/>
            <a:ext cx="1437861" cy="276999"/>
          </a:xfrm>
          <a:prstGeom prst="rect">
            <a:avLst/>
          </a:prstGeom>
          <a:noFill/>
        </p:spPr>
        <p:txBody>
          <a:bodyPr wrap="square">
            <a:spAutoFit/>
          </a:bodyPr>
          <a:lstStyle/>
          <a:p>
            <a:pPr algn="ctr"/>
            <a:r>
              <a:rPr kumimoji="1" lang="ja-JP" altLang="en-US" sz="1200" b="1" dirty="0">
                <a:solidFill>
                  <a:schemeClr val="bg1"/>
                </a:solidFill>
                <a:latin typeface="メイリオ" panose="020B0604030504040204" pitchFamily="50" charset="-128"/>
                <a:ea typeface="メイリオ" panose="020B0604030504040204" pitchFamily="50" charset="-128"/>
              </a:rPr>
              <a:t>既存ユーザー</a:t>
            </a:r>
          </a:p>
        </p:txBody>
      </p:sp>
      <p:sp>
        <p:nvSpPr>
          <p:cNvPr id="14" name="テキスト ボックス 13">
            <a:extLst>
              <a:ext uri="{FF2B5EF4-FFF2-40B4-BE49-F238E27FC236}">
                <a16:creationId xmlns:a16="http://schemas.microsoft.com/office/drawing/2014/main" id="{CB3559A7-D98B-633E-360D-B9755713CB4A}"/>
              </a:ext>
            </a:extLst>
          </p:cNvPr>
          <p:cNvSpPr txBox="1"/>
          <p:nvPr/>
        </p:nvSpPr>
        <p:spPr>
          <a:xfrm>
            <a:off x="1458475" y="5884142"/>
            <a:ext cx="1437861" cy="230832"/>
          </a:xfrm>
          <a:prstGeom prst="rect">
            <a:avLst/>
          </a:prstGeom>
          <a:noFill/>
        </p:spPr>
        <p:txBody>
          <a:bodyPr wrap="square">
            <a:spAutoFit/>
          </a:bodyPr>
          <a:lstStyle/>
          <a:p>
            <a:pPr algn="ctr"/>
            <a:r>
              <a:rPr kumimoji="1" lang="ja-JP" altLang="en-US" sz="900" b="1" dirty="0">
                <a:solidFill>
                  <a:schemeClr val="bg1"/>
                </a:solidFill>
                <a:latin typeface="メイリオ" panose="020B0604030504040204" pitchFamily="50" charset="-128"/>
                <a:ea typeface="メイリオ" panose="020B0604030504040204" pitchFamily="50" charset="-128"/>
              </a:rPr>
              <a:t>リピート・ファン化</a:t>
            </a:r>
          </a:p>
        </p:txBody>
      </p:sp>
      <p:sp>
        <p:nvSpPr>
          <p:cNvPr id="15" name="テキスト ボックス 14">
            <a:extLst>
              <a:ext uri="{FF2B5EF4-FFF2-40B4-BE49-F238E27FC236}">
                <a16:creationId xmlns:a16="http://schemas.microsoft.com/office/drawing/2014/main" id="{6BF621D8-B54B-3C3E-20B9-51565ADCB9C9}"/>
              </a:ext>
            </a:extLst>
          </p:cNvPr>
          <p:cNvSpPr txBox="1"/>
          <p:nvPr/>
        </p:nvSpPr>
        <p:spPr>
          <a:xfrm>
            <a:off x="1467184" y="4684107"/>
            <a:ext cx="1437861" cy="276999"/>
          </a:xfrm>
          <a:prstGeom prst="rect">
            <a:avLst/>
          </a:prstGeom>
          <a:noFill/>
        </p:spPr>
        <p:txBody>
          <a:bodyPr wrap="square">
            <a:spAutoFit/>
          </a:bodyPr>
          <a:lstStyle/>
          <a:p>
            <a:pPr algn="ctr"/>
            <a:r>
              <a:rPr kumimoji="1" lang="ja-JP" altLang="en-US" sz="1200" b="1" dirty="0">
                <a:solidFill>
                  <a:schemeClr val="bg1"/>
                </a:solidFill>
                <a:latin typeface="メイリオ" panose="020B0604030504040204" pitchFamily="50" charset="-128"/>
                <a:ea typeface="メイリオ" panose="020B0604030504040204" pitchFamily="50" charset="-128"/>
              </a:rPr>
              <a:t>リード獲得層</a:t>
            </a:r>
          </a:p>
        </p:txBody>
      </p:sp>
      <p:sp>
        <p:nvSpPr>
          <p:cNvPr id="16" name="テキスト ボックス 15">
            <a:extLst>
              <a:ext uri="{FF2B5EF4-FFF2-40B4-BE49-F238E27FC236}">
                <a16:creationId xmlns:a16="http://schemas.microsoft.com/office/drawing/2014/main" id="{AE6EDBBE-DC2E-D1B4-D90F-A1213B9D8FB2}"/>
              </a:ext>
            </a:extLst>
          </p:cNvPr>
          <p:cNvSpPr txBox="1"/>
          <p:nvPr/>
        </p:nvSpPr>
        <p:spPr>
          <a:xfrm>
            <a:off x="1467184" y="4054155"/>
            <a:ext cx="1437861" cy="276999"/>
          </a:xfrm>
          <a:prstGeom prst="rect">
            <a:avLst/>
          </a:prstGeom>
          <a:noFill/>
        </p:spPr>
        <p:txBody>
          <a:bodyPr wrap="square">
            <a:spAutoFit/>
          </a:bodyPr>
          <a:lstStyle/>
          <a:p>
            <a:pPr algn="ctr"/>
            <a:r>
              <a:rPr kumimoji="1" lang="ja-JP" altLang="en-US" sz="1200" b="1" dirty="0">
                <a:solidFill>
                  <a:schemeClr val="bg1"/>
                </a:solidFill>
                <a:latin typeface="メイリオ" panose="020B0604030504040204" pitchFamily="50" charset="-128"/>
                <a:ea typeface="メイリオ" panose="020B0604030504040204" pitchFamily="50" charset="-128"/>
              </a:rPr>
              <a:t>顕在層</a:t>
            </a:r>
          </a:p>
        </p:txBody>
      </p:sp>
      <p:sp>
        <p:nvSpPr>
          <p:cNvPr id="17" name="テキスト ボックス 16">
            <a:extLst>
              <a:ext uri="{FF2B5EF4-FFF2-40B4-BE49-F238E27FC236}">
                <a16:creationId xmlns:a16="http://schemas.microsoft.com/office/drawing/2014/main" id="{742EB2DA-CD05-53A4-819B-B3E66F91159A}"/>
              </a:ext>
            </a:extLst>
          </p:cNvPr>
          <p:cNvSpPr txBox="1"/>
          <p:nvPr/>
        </p:nvSpPr>
        <p:spPr>
          <a:xfrm>
            <a:off x="1459558" y="3372927"/>
            <a:ext cx="1437861" cy="276999"/>
          </a:xfrm>
          <a:prstGeom prst="rect">
            <a:avLst/>
          </a:prstGeom>
          <a:noFill/>
        </p:spPr>
        <p:txBody>
          <a:bodyPr wrap="square">
            <a:spAutoFit/>
          </a:bodyPr>
          <a:lstStyle/>
          <a:p>
            <a:pPr algn="ctr"/>
            <a:r>
              <a:rPr kumimoji="1" lang="ja-JP" altLang="en-US" sz="1200" b="1" dirty="0">
                <a:solidFill>
                  <a:schemeClr val="bg1"/>
                </a:solidFill>
                <a:latin typeface="メイリオ" panose="020B0604030504040204" pitchFamily="50" charset="-128"/>
                <a:ea typeface="メイリオ" panose="020B0604030504040204" pitchFamily="50" charset="-128"/>
              </a:rPr>
              <a:t>準顕在層</a:t>
            </a:r>
          </a:p>
        </p:txBody>
      </p:sp>
      <p:sp>
        <p:nvSpPr>
          <p:cNvPr id="18" name="テキスト ボックス 17">
            <a:extLst>
              <a:ext uri="{FF2B5EF4-FFF2-40B4-BE49-F238E27FC236}">
                <a16:creationId xmlns:a16="http://schemas.microsoft.com/office/drawing/2014/main" id="{EFAB44CD-3FC2-FB15-3D61-30AD87D19366}"/>
              </a:ext>
            </a:extLst>
          </p:cNvPr>
          <p:cNvSpPr txBox="1"/>
          <p:nvPr/>
        </p:nvSpPr>
        <p:spPr>
          <a:xfrm>
            <a:off x="1467184" y="2700215"/>
            <a:ext cx="1437861" cy="276999"/>
          </a:xfrm>
          <a:prstGeom prst="rect">
            <a:avLst/>
          </a:prstGeom>
          <a:noFill/>
        </p:spPr>
        <p:txBody>
          <a:bodyPr wrap="square">
            <a:spAutoFit/>
          </a:bodyPr>
          <a:lstStyle/>
          <a:p>
            <a:pPr algn="ctr"/>
            <a:r>
              <a:rPr kumimoji="1" lang="ja-JP" altLang="en-US" sz="1200" b="1" dirty="0">
                <a:solidFill>
                  <a:schemeClr val="bg1"/>
                </a:solidFill>
                <a:latin typeface="メイリオ" panose="020B0604030504040204" pitchFamily="50" charset="-128"/>
                <a:ea typeface="メイリオ" panose="020B0604030504040204" pitchFamily="50" charset="-128"/>
              </a:rPr>
              <a:t>潜在層</a:t>
            </a:r>
          </a:p>
        </p:txBody>
      </p:sp>
      <p:sp>
        <p:nvSpPr>
          <p:cNvPr id="19" name="テキスト ボックス 18">
            <a:extLst>
              <a:ext uri="{FF2B5EF4-FFF2-40B4-BE49-F238E27FC236}">
                <a16:creationId xmlns:a16="http://schemas.microsoft.com/office/drawing/2014/main" id="{1514C466-C0C4-5FB6-74AF-13B6F4947391}"/>
              </a:ext>
            </a:extLst>
          </p:cNvPr>
          <p:cNvSpPr txBox="1"/>
          <p:nvPr/>
        </p:nvSpPr>
        <p:spPr>
          <a:xfrm>
            <a:off x="1478205" y="2007789"/>
            <a:ext cx="1437861" cy="276999"/>
          </a:xfrm>
          <a:prstGeom prst="rect">
            <a:avLst/>
          </a:prstGeom>
          <a:noFill/>
        </p:spPr>
        <p:txBody>
          <a:bodyPr wrap="square">
            <a:spAutoFit/>
          </a:bodyPr>
          <a:lstStyle/>
          <a:p>
            <a:pPr algn="ctr"/>
            <a:r>
              <a:rPr kumimoji="1" lang="ja-JP" altLang="en-US" sz="1200" b="1" dirty="0">
                <a:solidFill>
                  <a:schemeClr val="bg1"/>
                </a:solidFill>
                <a:latin typeface="メイリオ" panose="020B0604030504040204" pitchFamily="50" charset="-128"/>
                <a:ea typeface="メイリオ" panose="020B0604030504040204" pitchFamily="50" charset="-128"/>
              </a:rPr>
              <a:t>興味関心なし 層</a:t>
            </a:r>
          </a:p>
        </p:txBody>
      </p:sp>
      <p:sp>
        <p:nvSpPr>
          <p:cNvPr id="22" name="台形 21">
            <a:extLst>
              <a:ext uri="{FF2B5EF4-FFF2-40B4-BE49-F238E27FC236}">
                <a16:creationId xmlns:a16="http://schemas.microsoft.com/office/drawing/2014/main" id="{9BACDF3F-A4E5-35A7-B870-B83B08A9B3FF}"/>
              </a:ext>
            </a:extLst>
          </p:cNvPr>
          <p:cNvSpPr/>
          <p:nvPr/>
        </p:nvSpPr>
        <p:spPr>
          <a:xfrm rot="10800000">
            <a:off x="7611914" y="4021152"/>
            <a:ext cx="1826395" cy="470263"/>
          </a:xfrm>
          <a:prstGeom prst="trapezoid">
            <a:avLst>
              <a:gd name="adj" fmla="val 0"/>
            </a:avLst>
          </a:prstGeom>
          <a:solidFill>
            <a:srgbClr val="00B05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sp>
        <p:nvSpPr>
          <p:cNvPr id="23" name="テキスト ボックス 22">
            <a:extLst>
              <a:ext uri="{FF2B5EF4-FFF2-40B4-BE49-F238E27FC236}">
                <a16:creationId xmlns:a16="http://schemas.microsoft.com/office/drawing/2014/main" id="{35A77394-5E5F-8C4D-28B8-74F4583DF5D0}"/>
              </a:ext>
            </a:extLst>
          </p:cNvPr>
          <p:cNvSpPr txBox="1"/>
          <p:nvPr/>
        </p:nvSpPr>
        <p:spPr>
          <a:xfrm>
            <a:off x="7655205" y="4152765"/>
            <a:ext cx="1739812" cy="230832"/>
          </a:xfrm>
          <a:prstGeom prst="rect">
            <a:avLst/>
          </a:prstGeom>
          <a:noFill/>
        </p:spPr>
        <p:txBody>
          <a:bodyPr wrap="square">
            <a:spAutoFit/>
          </a:bodyPr>
          <a:lstStyle/>
          <a:p>
            <a:pPr algn="ctr"/>
            <a:r>
              <a:rPr kumimoji="1" lang="en-US" altLang="ja-JP" sz="900" b="1" dirty="0">
                <a:solidFill>
                  <a:schemeClr val="bg1"/>
                </a:solidFill>
                <a:latin typeface="メイリオ" panose="020B0604030504040204" pitchFamily="50" charset="-128"/>
                <a:ea typeface="メイリオ" panose="020B0604030504040204" pitchFamily="50" charset="-128"/>
              </a:rPr>
              <a:t>※</a:t>
            </a:r>
            <a:r>
              <a:rPr kumimoji="1" lang="ja-JP" altLang="en-US" sz="900" b="1" dirty="0">
                <a:solidFill>
                  <a:schemeClr val="bg1"/>
                </a:solidFill>
                <a:latin typeface="メイリオ" panose="020B0604030504040204" pitchFamily="50" charset="-128"/>
                <a:ea typeface="メイリオ" panose="020B0604030504040204" pitchFamily="50" charset="-128"/>
              </a:rPr>
              <a:t>過去の顧客データを活用</a:t>
            </a:r>
          </a:p>
        </p:txBody>
      </p:sp>
      <p:sp>
        <p:nvSpPr>
          <p:cNvPr id="24" name="台形 23">
            <a:extLst>
              <a:ext uri="{FF2B5EF4-FFF2-40B4-BE49-F238E27FC236}">
                <a16:creationId xmlns:a16="http://schemas.microsoft.com/office/drawing/2014/main" id="{3B9CC8D9-DD20-6C2F-3BDD-BE9F5B8FFC38}"/>
              </a:ext>
            </a:extLst>
          </p:cNvPr>
          <p:cNvSpPr/>
          <p:nvPr/>
        </p:nvSpPr>
        <p:spPr>
          <a:xfrm rot="10800000">
            <a:off x="7611914" y="3320317"/>
            <a:ext cx="1826395" cy="470263"/>
          </a:xfrm>
          <a:prstGeom prst="trapezoid">
            <a:avLst>
              <a:gd name="adj" fmla="val 0"/>
            </a:avLst>
          </a:prstGeom>
          <a:solidFill>
            <a:srgbClr val="00B05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sp>
        <p:nvSpPr>
          <p:cNvPr id="25" name="テキスト ボックス 24">
            <a:extLst>
              <a:ext uri="{FF2B5EF4-FFF2-40B4-BE49-F238E27FC236}">
                <a16:creationId xmlns:a16="http://schemas.microsoft.com/office/drawing/2014/main" id="{342DD099-7AA1-F285-5FF9-42B4945A3099}"/>
              </a:ext>
            </a:extLst>
          </p:cNvPr>
          <p:cNvSpPr txBox="1"/>
          <p:nvPr/>
        </p:nvSpPr>
        <p:spPr>
          <a:xfrm>
            <a:off x="7655205" y="3377041"/>
            <a:ext cx="1739812" cy="369332"/>
          </a:xfrm>
          <a:prstGeom prst="rect">
            <a:avLst/>
          </a:prstGeom>
          <a:noFill/>
        </p:spPr>
        <p:txBody>
          <a:bodyPr wrap="square">
            <a:spAutoFit/>
          </a:bodyPr>
          <a:lstStyle/>
          <a:p>
            <a:pPr algn="ctr"/>
            <a:r>
              <a:rPr kumimoji="1" lang="ja-JP" altLang="en-US" sz="900" b="1" dirty="0">
                <a:solidFill>
                  <a:schemeClr val="bg1"/>
                </a:solidFill>
                <a:latin typeface="メイリオ" panose="020B0604030504040204" pitchFamily="50" charset="-128"/>
                <a:ea typeface="メイリオ" panose="020B0604030504040204" pitchFamily="50" charset="-128"/>
              </a:rPr>
              <a:t>離脱防止バナーにて</a:t>
            </a:r>
            <a:endParaRPr kumimoji="1" lang="en-US" altLang="ja-JP" sz="900" b="1" dirty="0">
              <a:solidFill>
                <a:schemeClr val="bg1"/>
              </a:solidFill>
              <a:latin typeface="メイリオ" panose="020B0604030504040204" pitchFamily="50" charset="-128"/>
              <a:ea typeface="メイリオ" panose="020B0604030504040204" pitchFamily="50" charset="-128"/>
            </a:endParaRPr>
          </a:p>
          <a:p>
            <a:pPr algn="ctr"/>
            <a:r>
              <a:rPr lang="ja-JP" altLang="en-US" sz="900" b="1" dirty="0">
                <a:solidFill>
                  <a:schemeClr val="bg1"/>
                </a:solidFill>
                <a:latin typeface="メイリオ" panose="020B0604030504040204" pitchFamily="50" charset="-128"/>
                <a:ea typeface="メイリオ" panose="020B0604030504040204" pitchFamily="50" charset="-128"/>
              </a:rPr>
              <a:t>検討段階ユーザーを</a:t>
            </a:r>
            <a:r>
              <a:rPr lang="en-US" altLang="ja-JP" sz="900" b="1" dirty="0">
                <a:solidFill>
                  <a:schemeClr val="bg1"/>
                </a:solidFill>
                <a:latin typeface="メイリオ" panose="020B0604030504040204" pitchFamily="50" charset="-128"/>
                <a:ea typeface="メイリオ" panose="020B0604030504040204" pitchFamily="50" charset="-128"/>
              </a:rPr>
              <a:t>LINE</a:t>
            </a:r>
            <a:r>
              <a:rPr lang="ja-JP" altLang="en-US" sz="900" b="1" dirty="0">
                <a:solidFill>
                  <a:schemeClr val="bg1"/>
                </a:solidFill>
                <a:latin typeface="メイリオ" panose="020B0604030504040204" pitchFamily="50" charset="-128"/>
                <a:ea typeface="メイリオ" panose="020B0604030504040204" pitchFamily="50" charset="-128"/>
              </a:rPr>
              <a:t>誘導</a:t>
            </a:r>
            <a:endParaRPr kumimoji="1" lang="ja-JP" altLang="en-US" sz="900" b="1" dirty="0">
              <a:solidFill>
                <a:schemeClr val="bg1"/>
              </a:solidFill>
              <a:latin typeface="メイリオ" panose="020B0604030504040204" pitchFamily="50" charset="-128"/>
              <a:ea typeface="メイリオ" panose="020B0604030504040204" pitchFamily="50" charset="-128"/>
            </a:endParaRPr>
          </a:p>
        </p:txBody>
      </p:sp>
      <p:sp>
        <p:nvSpPr>
          <p:cNvPr id="27" name="台形 26">
            <a:extLst>
              <a:ext uri="{FF2B5EF4-FFF2-40B4-BE49-F238E27FC236}">
                <a16:creationId xmlns:a16="http://schemas.microsoft.com/office/drawing/2014/main" id="{D95457DF-AF4B-4B8E-D6F2-2A10C8E1A4A2}"/>
              </a:ext>
            </a:extLst>
          </p:cNvPr>
          <p:cNvSpPr/>
          <p:nvPr/>
        </p:nvSpPr>
        <p:spPr>
          <a:xfrm rot="10800000">
            <a:off x="7611914" y="2257037"/>
            <a:ext cx="1826395" cy="470263"/>
          </a:xfrm>
          <a:prstGeom prst="trapezoid">
            <a:avLst>
              <a:gd name="adj" fmla="val 0"/>
            </a:avLst>
          </a:prstGeom>
          <a:solidFill>
            <a:srgbClr val="00B05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sp>
        <p:nvSpPr>
          <p:cNvPr id="32" name="テキスト ボックス 31">
            <a:extLst>
              <a:ext uri="{FF2B5EF4-FFF2-40B4-BE49-F238E27FC236}">
                <a16:creationId xmlns:a16="http://schemas.microsoft.com/office/drawing/2014/main" id="{D94F1D70-CF6B-885E-B41C-C70125B75219}"/>
              </a:ext>
            </a:extLst>
          </p:cNvPr>
          <p:cNvSpPr txBox="1"/>
          <p:nvPr/>
        </p:nvSpPr>
        <p:spPr>
          <a:xfrm>
            <a:off x="7655205" y="2313761"/>
            <a:ext cx="1739812" cy="369332"/>
          </a:xfrm>
          <a:prstGeom prst="rect">
            <a:avLst/>
          </a:prstGeom>
          <a:noFill/>
        </p:spPr>
        <p:txBody>
          <a:bodyPr wrap="square">
            <a:spAutoFit/>
          </a:bodyPr>
          <a:lstStyle/>
          <a:p>
            <a:pPr algn="ctr"/>
            <a:r>
              <a:rPr kumimoji="1" lang="ja-JP" altLang="en-US" sz="900" b="1" dirty="0">
                <a:solidFill>
                  <a:schemeClr val="bg1"/>
                </a:solidFill>
                <a:latin typeface="メイリオ" panose="020B0604030504040204" pitchFamily="50" charset="-128"/>
                <a:ea typeface="メイリオ" panose="020B0604030504040204" pitchFamily="50" charset="-128"/>
              </a:rPr>
              <a:t>接触、詳細ページ閲覧</a:t>
            </a:r>
            <a:endParaRPr kumimoji="1" lang="en-US" altLang="ja-JP" sz="900" b="1" dirty="0">
              <a:solidFill>
                <a:schemeClr val="bg1"/>
              </a:solidFill>
              <a:latin typeface="メイリオ" panose="020B0604030504040204" pitchFamily="50" charset="-128"/>
              <a:ea typeface="メイリオ" panose="020B0604030504040204" pitchFamily="50" charset="-128"/>
            </a:endParaRPr>
          </a:p>
          <a:p>
            <a:pPr algn="ctr"/>
            <a:r>
              <a:rPr lang="ja-JP" altLang="en-US" sz="900" b="1" dirty="0">
                <a:solidFill>
                  <a:schemeClr val="bg1"/>
                </a:solidFill>
                <a:latin typeface="メイリオ" panose="020B0604030504040204" pitchFamily="50" charset="-128"/>
                <a:ea typeface="メイリオ" panose="020B0604030504040204" pitchFamily="50" charset="-128"/>
              </a:rPr>
              <a:t>の動線での</a:t>
            </a:r>
            <a:r>
              <a:rPr lang="en-US" altLang="ja-JP" sz="900" b="1" dirty="0">
                <a:solidFill>
                  <a:schemeClr val="bg1"/>
                </a:solidFill>
                <a:latin typeface="メイリオ" panose="020B0604030504040204" pitchFamily="50" charset="-128"/>
                <a:ea typeface="メイリオ" panose="020B0604030504040204" pitchFamily="50" charset="-128"/>
              </a:rPr>
              <a:t>LINE</a:t>
            </a:r>
            <a:r>
              <a:rPr lang="ja-JP" altLang="en-US" sz="900" b="1" dirty="0">
                <a:solidFill>
                  <a:schemeClr val="bg1"/>
                </a:solidFill>
                <a:latin typeface="メイリオ" panose="020B0604030504040204" pitchFamily="50" charset="-128"/>
                <a:ea typeface="メイリオ" panose="020B0604030504040204" pitchFamily="50" charset="-128"/>
              </a:rPr>
              <a:t>誘導を整備</a:t>
            </a:r>
            <a:endParaRPr kumimoji="1" lang="ja-JP" altLang="en-US" sz="900" b="1" dirty="0">
              <a:solidFill>
                <a:schemeClr val="bg1"/>
              </a:solidFill>
              <a:latin typeface="メイリオ" panose="020B0604030504040204" pitchFamily="50" charset="-128"/>
              <a:ea typeface="メイリオ" panose="020B0604030504040204" pitchFamily="50" charset="-128"/>
            </a:endParaRPr>
          </a:p>
        </p:txBody>
      </p:sp>
      <p:sp>
        <p:nvSpPr>
          <p:cNvPr id="41" name="テキスト ボックス 40">
            <a:extLst>
              <a:ext uri="{FF2B5EF4-FFF2-40B4-BE49-F238E27FC236}">
                <a16:creationId xmlns:a16="http://schemas.microsoft.com/office/drawing/2014/main" id="{4E163946-1549-509D-4F46-C667EBDCE5EE}"/>
              </a:ext>
            </a:extLst>
          </p:cNvPr>
          <p:cNvSpPr txBox="1"/>
          <p:nvPr/>
        </p:nvSpPr>
        <p:spPr>
          <a:xfrm>
            <a:off x="7462272" y="1725706"/>
            <a:ext cx="2125679" cy="276999"/>
          </a:xfrm>
          <a:prstGeom prst="rect">
            <a:avLst/>
          </a:prstGeom>
          <a:solidFill>
            <a:schemeClr val="tx2"/>
          </a:solidFill>
        </p:spPr>
        <p:txBody>
          <a:bodyPr wrap="square">
            <a:spAutoFit/>
          </a:bodyPr>
          <a:lstStyle/>
          <a:p>
            <a:pPr algn="ctr"/>
            <a:r>
              <a:rPr lang="en-US" altLang="ja-JP" sz="1200" dirty="0">
                <a:solidFill>
                  <a:schemeClr val="bg1"/>
                </a:solidFill>
                <a:latin typeface="メイリオ" panose="020B0604030504040204" pitchFamily="50" charset="-128"/>
                <a:ea typeface="メイリオ" panose="020B0604030504040204" pitchFamily="50" charset="-128"/>
              </a:rPr>
              <a:t>DYM</a:t>
            </a:r>
            <a:r>
              <a:rPr lang="ja-JP" altLang="en-US" sz="1200" dirty="0">
                <a:solidFill>
                  <a:schemeClr val="bg1"/>
                </a:solidFill>
                <a:latin typeface="メイリオ" panose="020B0604030504040204" pitchFamily="50" charset="-128"/>
                <a:ea typeface="メイリオ" panose="020B0604030504040204" pitchFamily="50" charset="-128"/>
              </a:rPr>
              <a:t>施策</a:t>
            </a:r>
            <a:endParaRPr lang="ja-JP" altLang="en-US" sz="1200" dirty="0">
              <a:solidFill>
                <a:schemeClr val="bg1"/>
              </a:solidFill>
            </a:endParaRPr>
          </a:p>
        </p:txBody>
      </p:sp>
      <p:sp>
        <p:nvSpPr>
          <p:cNvPr id="44" name="テキスト ボックス 43">
            <a:extLst>
              <a:ext uri="{FF2B5EF4-FFF2-40B4-BE49-F238E27FC236}">
                <a16:creationId xmlns:a16="http://schemas.microsoft.com/office/drawing/2014/main" id="{CCE5C835-66DF-7ACC-2268-769AE89BC22D}"/>
              </a:ext>
            </a:extLst>
          </p:cNvPr>
          <p:cNvSpPr txBox="1"/>
          <p:nvPr/>
        </p:nvSpPr>
        <p:spPr>
          <a:xfrm>
            <a:off x="5273193" y="1735237"/>
            <a:ext cx="2125679" cy="276999"/>
          </a:xfrm>
          <a:prstGeom prst="rect">
            <a:avLst/>
          </a:prstGeom>
          <a:solidFill>
            <a:schemeClr val="tx1"/>
          </a:solidFill>
        </p:spPr>
        <p:txBody>
          <a:bodyPr wrap="square">
            <a:spAutoFit/>
          </a:bodyPr>
          <a:lstStyle/>
          <a:p>
            <a:pPr algn="ctr"/>
            <a:r>
              <a:rPr lang="ja-JP" altLang="en-US" sz="1200" dirty="0">
                <a:solidFill>
                  <a:schemeClr val="bg1"/>
                </a:solidFill>
                <a:latin typeface="メイリオ" panose="020B0604030504040204" pitchFamily="50" charset="-128"/>
                <a:ea typeface="メイリオ" panose="020B0604030504040204" pitchFamily="50" charset="-128"/>
              </a:rPr>
              <a:t>現状施策</a:t>
            </a:r>
            <a:endParaRPr lang="ja-JP" altLang="en-US" sz="1200" dirty="0">
              <a:solidFill>
                <a:schemeClr val="bg1"/>
              </a:solidFill>
            </a:endParaRPr>
          </a:p>
        </p:txBody>
      </p:sp>
      <p:sp>
        <p:nvSpPr>
          <p:cNvPr id="46" name="台形 45">
            <a:extLst>
              <a:ext uri="{FF2B5EF4-FFF2-40B4-BE49-F238E27FC236}">
                <a16:creationId xmlns:a16="http://schemas.microsoft.com/office/drawing/2014/main" id="{770C8367-24F5-979C-4481-908DE742DF1B}"/>
              </a:ext>
            </a:extLst>
          </p:cNvPr>
          <p:cNvSpPr/>
          <p:nvPr/>
        </p:nvSpPr>
        <p:spPr>
          <a:xfrm rot="10800000">
            <a:off x="7611914" y="5725077"/>
            <a:ext cx="1826395" cy="470263"/>
          </a:xfrm>
          <a:prstGeom prst="trapezoid">
            <a:avLst>
              <a:gd name="adj" fmla="val 0"/>
            </a:avLst>
          </a:prstGeom>
          <a:solidFill>
            <a:srgbClr val="00B05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sp>
        <p:nvSpPr>
          <p:cNvPr id="47" name="テキスト ボックス 46">
            <a:extLst>
              <a:ext uri="{FF2B5EF4-FFF2-40B4-BE49-F238E27FC236}">
                <a16:creationId xmlns:a16="http://schemas.microsoft.com/office/drawing/2014/main" id="{1353124E-927F-8496-8FC6-E6DD494A8DEA}"/>
              </a:ext>
            </a:extLst>
          </p:cNvPr>
          <p:cNvSpPr txBox="1"/>
          <p:nvPr/>
        </p:nvSpPr>
        <p:spPr>
          <a:xfrm>
            <a:off x="7655205" y="5785358"/>
            <a:ext cx="1739812" cy="369332"/>
          </a:xfrm>
          <a:prstGeom prst="rect">
            <a:avLst/>
          </a:prstGeom>
          <a:noFill/>
        </p:spPr>
        <p:txBody>
          <a:bodyPr wrap="square">
            <a:spAutoFit/>
          </a:bodyPr>
          <a:lstStyle/>
          <a:p>
            <a:pPr algn="ctr"/>
            <a:r>
              <a:rPr kumimoji="1" lang="ja-JP" altLang="en-US" sz="900" b="1" dirty="0">
                <a:solidFill>
                  <a:schemeClr val="bg1"/>
                </a:solidFill>
                <a:latin typeface="メイリオ" panose="020B0604030504040204" pitchFamily="50" charset="-128"/>
                <a:ea typeface="メイリオ" panose="020B0604030504040204" pitchFamily="50" charset="-128"/>
              </a:rPr>
              <a:t>定期購入・クロスセル</a:t>
            </a:r>
            <a:endParaRPr kumimoji="1" lang="en-US" altLang="ja-JP" sz="900" b="1" dirty="0">
              <a:solidFill>
                <a:schemeClr val="bg1"/>
              </a:solidFill>
              <a:latin typeface="メイリオ" panose="020B0604030504040204" pitchFamily="50" charset="-128"/>
              <a:ea typeface="メイリオ" panose="020B0604030504040204" pitchFamily="50" charset="-128"/>
            </a:endParaRPr>
          </a:p>
          <a:p>
            <a:pPr algn="ctr"/>
            <a:r>
              <a:rPr lang="ja-JP" altLang="en-US" sz="900" b="1" dirty="0">
                <a:solidFill>
                  <a:schemeClr val="bg1"/>
                </a:solidFill>
                <a:latin typeface="メイリオ" panose="020B0604030504040204" pitchFamily="50" charset="-128"/>
                <a:ea typeface="メイリオ" panose="020B0604030504040204" pitchFamily="50" charset="-128"/>
              </a:rPr>
              <a:t>商材への動線設計</a:t>
            </a:r>
            <a:endParaRPr kumimoji="1" lang="ja-JP" altLang="en-US" sz="900" b="1" dirty="0">
              <a:solidFill>
                <a:schemeClr val="bg1"/>
              </a:solidFill>
              <a:latin typeface="メイリオ" panose="020B0604030504040204" pitchFamily="50" charset="-128"/>
              <a:ea typeface="メイリオ" panose="020B0604030504040204" pitchFamily="50" charset="-128"/>
            </a:endParaRPr>
          </a:p>
        </p:txBody>
      </p:sp>
      <p:sp>
        <p:nvSpPr>
          <p:cNvPr id="48" name="台形 47">
            <a:extLst>
              <a:ext uri="{FF2B5EF4-FFF2-40B4-BE49-F238E27FC236}">
                <a16:creationId xmlns:a16="http://schemas.microsoft.com/office/drawing/2014/main" id="{BAFBCC32-B244-9AC5-0A18-C121D3B9BCDA}"/>
              </a:ext>
            </a:extLst>
          </p:cNvPr>
          <p:cNvSpPr/>
          <p:nvPr/>
        </p:nvSpPr>
        <p:spPr>
          <a:xfrm rot="10800000">
            <a:off x="7611914" y="5183481"/>
            <a:ext cx="1826395" cy="470263"/>
          </a:xfrm>
          <a:prstGeom prst="trapezoid">
            <a:avLst>
              <a:gd name="adj" fmla="val 0"/>
            </a:avLst>
          </a:prstGeom>
          <a:solidFill>
            <a:schemeClr val="tx1">
              <a:lumMod val="50000"/>
              <a:lumOff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sp>
        <p:nvSpPr>
          <p:cNvPr id="49" name="テキスト ボックス 48">
            <a:extLst>
              <a:ext uri="{FF2B5EF4-FFF2-40B4-BE49-F238E27FC236}">
                <a16:creationId xmlns:a16="http://schemas.microsoft.com/office/drawing/2014/main" id="{19BD53B7-C509-F64E-CB4B-C6D3341F3AD5}"/>
              </a:ext>
            </a:extLst>
          </p:cNvPr>
          <p:cNvSpPr txBox="1"/>
          <p:nvPr/>
        </p:nvSpPr>
        <p:spPr>
          <a:xfrm>
            <a:off x="7655205" y="5315094"/>
            <a:ext cx="1739812" cy="230832"/>
          </a:xfrm>
          <a:prstGeom prst="rect">
            <a:avLst/>
          </a:prstGeom>
          <a:noFill/>
        </p:spPr>
        <p:txBody>
          <a:bodyPr wrap="square">
            <a:spAutoFit/>
          </a:bodyPr>
          <a:lstStyle/>
          <a:p>
            <a:pPr algn="ctr"/>
            <a:r>
              <a:rPr kumimoji="1" lang="en-US" altLang="ja-JP" sz="900" b="1" dirty="0">
                <a:solidFill>
                  <a:schemeClr val="bg1"/>
                </a:solidFill>
                <a:latin typeface="メイリオ" panose="020B0604030504040204" pitchFamily="50" charset="-128"/>
                <a:ea typeface="メイリオ" panose="020B0604030504040204" pitchFamily="50" charset="-128"/>
              </a:rPr>
              <a:t>※ID</a:t>
            </a:r>
            <a:r>
              <a:rPr kumimoji="1" lang="ja-JP" altLang="en-US" sz="900" b="1" dirty="0">
                <a:solidFill>
                  <a:schemeClr val="bg1"/>
                </a:solidFill>
                <a:latin typeface="メイリオ" panose="020B0604030504040204" pitchFamily="50" charset="-128"/>
                <a:ea typeface="メイリオ" panose="020B0604030504040204" pitchFamily="50" charset="-128"/>
              </a:rPr>
              <a:t>連携特典等を表示</a:t>
            </a:r>
          </a:p>
        </p:txBody>
      </p:sp>
      <p:sp>
        <p:nvSpPr>
          <p:cNvPr id="50" name="台形 49">
            <a:extLst>
              <a:ext uri="{FF2B5EF4-FFF2-40B4-BE49-F238E27FC236}">
                <a16:creationId xmlns:a16="http://schemas.microsoft.com/office/drawing/2014/main" id="{3941D3AF-378C-FC85-0F44-DC7CE1041E69}"/>
              </a:ext>
            </a:extLst>
          </p:cNvPr>
          <p:cNvSpPr/>
          <p:nvPr/>
        </p:nvSpPr>
        <p:spPr>
          <a:xfrm rot="10800000">
            <a:off x="7611914" y="4683087"/>
            <a:ext cx="1826395" cy="470263"/>
          </a:xfrm>
          <a:prstGeom prst="trapezoid">
            <a:avLst>
              <a:gd name="adj" fmla="val 0"/>
            </a:avLst>
          </a:prstGeom>
          <a:solidFill>
            <a:schemeClr val="tx1">
              <a:lumMod val="50000"/>
              <a:lumOff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sp>
        <p:nvSpPr>
          <p:cNvPr id="51" name="テキスト ボックス 50">
            <a:extLst>
              <a:ext uri="{FF2B5EF4-FFF2-40B4-BE49-F238E27FC236}">
                <a16:creationId xmlns:a16="http://schemas.microsoft.com/office/drawing/2014/main" id="{04C3D2CB-85C1-FE9F-4777-E7D3AB629F25}"/>
              </a:ext>
            </a:extLst>
          </p:cNvPr>
          <p:cNvSpPr txBox="1"/>
          <p:nvPr/>
        </p:nvSpPr>
        <p:spPr>
          <a:xfrm>
            <a:off x="7655205" y="4814700"/>
            <a:ext cx="1739812" cy="230832"/>
          </a:xfrm>
          <a:prstGeom prst="rect">
            <a:avLst/>
          </a:prstGeom>
          <a:noFill/>
        </p:spPr>
        <p:txBody>
          <a:bodyPr wrap="square">
            <a:spAutoFit/>
          </a:bodyPr>
          <a:lstStyle/>
          <a:p>
            <a:pPr algn="ctr"/>
            <a:r>
              <a:rPr kumimoji="1" lang="en-US" altLang="ja-JP" sz="900" b="1" dirty="0">
                <a:solidFill>
                  <a:schemeClr val="bg1"/>
                </a:solidFill>
                <a:latin typeface="メイリオ" panose="020B0604030504040204" pitchFamily="50" charset="-128"/>
                <a:ea typeface="メイリオ" panose="020B0604030504040204" pitchFamily="50" charset="-128"/>
              </a:rPr>
              <a:t>※</a:t>
            </a:r>
            <a:r>
              <a:rPr kumimoji="1" lang="ja-JP" altLang="en-US" sz="900" b="1" dirty="0">
                <a:solidFill>
                  <a:schemeClr val="bg1"/>
                </a:solidFill>
                <a:latin typeface="メイリオ" panose="020B0604030504040204" pitchFamily="50" charset="-128"/>
                <a:ea typeface="メイリオ" panose="020B0604030504040204" pitchFamily="50" charset="-128"/>
              </a:rPr>
              <a:t>ミニアプリ・診断 →</a:t>
            </a:r>
            <a:r>
              <a:rPr lang="en-US" altLang="ja-JP" sz="900" b="1" dirty="0">
                <a:solidFill>
                  <a:schemeClr val="bg1"/>
                </a:solidFill>
                <a:latin typeface="メイリオ" panose="020B0604030504040204" pitchFamily="50" charset="-128"/>
                <a:ea typeface="メイリオ" panose="020B0604030504040204" pitchFamily="50" charset="-128"/>
              </a:rPr>
              <a:t> </a:t>
            </a:r>
            <a:r>
              <a:rPr lang="ja-JP" altLang="en-US" sz="900" b="1" dirty="0">
                <a:solidFill>
                  <a:schemeClr val="bg1"/>
                </a:solidFill>
                <a:latin typeface="メイリオ" panose="020B0604030504040204" pitchFamily="50" charset="-128"/>
                <a:ea typeface="メイリオ" panose="020B0604030504040204" pitchFamily="50" charset="-128"/>
              </a:rPr>
              <a:t>特典</a:t>
            </a:r>
            <a:endParaRPr kumimoji="1" lang="ja-JP" altLang="en-US" sz="900" b="1" dirty="0">
              <a:solidFill>
                <a:schemeClr val="bg1"/>
              </a:solidFill>
              <a:latin typeface="メイリオ" panose="020B0604030504040204" pitchFamily="50" charset="-128"/>
              <a:ea typeface="メイリオ" panose="020B0604030504040204" pitchFamily="50" charset="-128"/>
            </a:endParaRPr>
          </a:p>
        </p:txBody>
      </p:sp>
      <p:sp>
        <p:nvSpPr>
          <p:cNvPr id="57" name="台形 56">
            <a:extLst>
              <a:ext uri="{FF2B5EF4-FFF2-40B4-BE49-F238E27FC236}">
                <a16:creationId xmlns:a16="http://schemas.microsoft.com/office/drawing/2014/main" id="{B65081E4-37AB-CFC9-6ADB-B4EEA7844473}"/>
              </a:ext>
            </a:extLst>
          </p:cNvPr>
          <p:cNvSpPr/>
          <p:nvPr/>
        </p:nvSpPr>
        <p:spPr>
          <a:xfrm rot="10800000">
            <a:off x="8075757" y="6244548"/>
            <a:ext cx="1826395" cy="265450"/>
          </a:xfrm>
          <a:prstGeom prst="trapezoid">
            <a:avLst>
              <a:gd name="adj" fmla="val 0"/>
            </a:avLst>
          </a:prstGeom>
          <a:solidFill>
            <a:schemeClr val="tx1">
              <a:lumMod val="50000"/>
              <a:lumOff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sp>
        <p:nvSpPr>
          <p:cNvPr id="58" name="テキスト ボックス 57">
            <a:extLst>
              <a:ext uri="{FF2B5EF4-FFF2-40B4-BE49-F238E27FC236}">
                <a16:creationId xmlns:a16="http://schemas.microsoft.com/office/drawing/2014/main" id="{84FBB3DE-B0A1-98BB-3108-365CAA2451B5}"/>
              </a:ext>
            </a:extLst>
          </p:cNvPr>
          <p:cNvSpPr txBox="1"/>
          <p:nvPr/>
        </p:nvSpPr>
        <p:spPr>
          <a:xfrm>
            <a:off x="8198333" y="6267085"/>
            <a:ext cx="1581242" cy="246221"/>
          </a:xfrm>
          <a:prstGeom prst="rect">
            <a:avLst/>
          </a:prstGeom>
          <a:noFill/>
        </p:spPr>
        <p:txBody>
          <a:bodyPr wrap="square">
            <a:spAutoFit/>
          </a:bodyPr>
          <a:lstStyle/>
          <a:p>
            <a:pPr algn="ctr"/>
            <a:r>
              <a:rPr kumimoji="1" lang="en-US" altLang="ja-JP" sz="1000" dirty="0">
                <a:solidFill>
                  <a:schemeClr val="bg1"/>
                </a:solidFill>
                <a:latin typeface="メイリオ" panose="020B0604030504040204" pitchFamily="50" charset="-128"/>
                <a:ea typeface="メイリオ" panose="020B0604030504040204" pitchFamily="50" charset="-128"/>
              </a:rPr>
              <a:t>※</a:t>
            </a:r>
            <a:r>
              <a:rPr kumimoji="1" lang="ja-JP" altLang="en-US" sz="1000" dirty="0">
                <a:solidFill>
                  <a:schemeClr val="bg1"/>
                </a:solidFill>
                <a:latin typeface="メイリオ" panose="020B0604030504040204" pitchFamily="50" charset="-128"/>
                <a:ea typeface="メイリオ" panose="020B0604030504040204" pitchFamily="50" charset="-128"/>
              </a:rPr>
              <a:t>長期施策として想定</a:t>
            </a:r>
          </a:p>
        </p:txBody>
      </p:sp>
      <p:sp>
        <p:nvSpPr>
          <p:cNvPr id="38" name="台形 37">
            <a:extLst>
              <a:ext uri="{FF2B5EF4-FFF2-40B4-BE49-F238E27FC236}">
                <a16:creationId xmlns:a16="http://schemas.microsoft.com/office/drawing/2014/main" id="{E53AF788-4E7A-2498-3387-439141AF8B85}"/>
              </a:ext>
            </a:extLst>
          </p:cNvPr>
          <p:cNvSpPr/>
          <p:nvPr/>
        </p:nvSpPr>
        <p:spPr>
          <a:xfrm rot="10800000" flipV="1">
            <a:off x="5413000" y="2265395"/>
            <a:ext cx="1826395" cy="3929946"/>
          </a:xfrm>
          <a:prstGeom prst="trapezoid">
            <a:avLst>
              <a:gd name="adj" fmla="val 0"/>
            </a:avLst>
          </a:prstGeom>
          <a:solidFill>
            <a:schemeClr val="bg1">
              <a:lumMod val="95000"/>
              <a:alpha val="67000"/>
            </a:schemeClr>
          </a:solidFill>
          <a:ln w="9525">
            <a:solidFill>
              <a:schemeClr val="bg1">
                <a:lumMod val="6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sz="1050" b="1" dirty="0">
                <a:solidFill>
                  <a:schemeClr val="tx1"/>
                </a:solidFill>
                <a:latin typeface="メイリオ" panose="020B0604030504040204" pitchFamily="50" charset="-128"/>
                <a:ea typeface="メイリオ" panose="020B0604030504040204" pitchFamily="50" charset="-128"/>
              </a:rPr>
              <a:t>ヒアリングの上</a:t>
            </a:r>
            <a:endParaRPr lang="en-US" altLang="ja-JP" sz="1050" b="1" dirty="0">
              <a:solidFill>
                <a:schemeClr val="tx1"/>
              </a:solidFill>
              <a:latin typeface="メイリオ" panose="020B0604030504040204" pitchFamily="50" charset="-128"/>
              <a:ea typeface="メイリオ" panose="020B0604030504040204" pitchFamily="50" charset="-128"/>
            </a:endParaRPr>
          </a:p>
          <a:p>
            <a:pPr algn="ctr"/>
            <a:r>
              <a:rPr kumimoji="1" lang="ja-JP" altLang="en-US" sz="1050" b="1" dirty="0">
                <a:solidFill>
                  <a:schemeClr val="tx1"/>
                </a:solidFill>
                <a:latin typeface="メイリオ" panose="020B0604030504040204" pitchFamily="50" charset="-128"/>
                <a:ea typeface="メイリオ" panose="020B0604030504040204" pitchFamily="50" charset="-128"/>
              </a:rPr>
              <a:t>確定</a:t>
            </a:r>
          </a:p>
        </p:txBody>
      </p:sp>
      <p:sp>
        <p:nvSpPr>
          <p:cNvPr id="12" name="矢印: 下 11">
            <a:extLst>
              <a:ext uri="{FF2B5EF4-FFF2-40B4-BE49-F238E27FC236}">
                <a16:creationId xmlns:a16="http://schemas.microsoft.com/office/drawing/2014/main" id="{06D6460A-91B3-70D3-5D14-11DFAD84B566}"/>
              </a:ext>
            </a:extLst>
          </p:cNvPr>
          <p:cNvSpPr/>
          <p:nvPr/>
        </p:nvSpPr>
        <p:spPr>
          <a:xfrm>
            <a:off x="4075746" y="1862186"/>
            <a:ext cx="1134047" cy="4292485"/>
          </a:xfrm>
          <a:prstGeom prst="downArrow">
            <a:avLst/>
          </a:prstGeom>
          <a:gradFill>
            <a:gsLst>
              <a:gs pos="0">
                <a:srgbClr val="FDFDFD"/>
              </a:gs>
              <a:gs pos="100000">
                <a:schemeClr val="accent3">
                  <a:lumMod val="20000"/>
                  <a:lumOff val="80000"/>
                </a:schemeClr>
              </a:gs>
            </a:gsLst>
            <a:lin ang="54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0" name="テキスト ボックス 19">
            <a:extLst>
              <a:ext uri="{FF2B5EF4-FFF2-40B4-BE49-F238E27FC236}">
                <a16:creationId xmlns:a16="http://schemas.microsoft.com/office/drawing/2014/main" id="{ED28F54A-7862-D06F-CFB5-B49F4F603D20}"/>
              </a:ext>
            </a:extLst>
          </p:cNvPr>
          <p:cNvSpPr txBox="1"/>
          <p:nvPr/>
        </p:nvSpPr>
        <p:spPr>
          <a:xfrm>
            <a:off x="3578823" y="5448078"/>
            <a:ext cx="2127892" cy="276999"/>
          </a:xfrm>
          <a:prstGeom prst="rect">
            <a:avLst/>
          </a:prstGeom>
          <a:noFill/>
        </p:spPr>
        <p:txBody>
          <a:bodyPr wrap="square">
            <a:spAutoFit/>
          </a:bodyPr>
          <a:lstStyle/>
          <a:p>
            <a:pPr algn="ctr"/>
            <a:r>
              <a:rPr kumimoji="1" lang="en-US" altLang="ja-JP" sz="1200" b="1" dirty="0">
                <a:latin typeface="メイリオ" panose="020B0604030504040204" pitchFamily="50" charset="-128"/>
                <a:ea typeface="メイリオ" panose="020B0604030504040204" pitchFamily="50" charset="-128"/>
              </a:rPr>
              <a:t>LINE </a:t>
            </a:r>
            <a:r>
              <a:rPr kumimoji="1" lang="ja-JP" altLang="en-US" sz="1200" b="1" dirty="0">
                <a:latin typeface="メイリオ" panose="020B0604030504040204" pitchFamily="50" charset="-128"/>
                <a:ea typeface="メイリオ" panose="020B0604030504040204" pitchFamily="50" charset="-128"/>
              </a:rPr>
              <a:t>ミニアプリ</a:t>
            </a:r>
          </a:p>
        </p:txBody>
      </p:sp>
      <p:sp>
        <p:nvSpPr>
          <p:cNvPr id="21" name="テキスト ボックス 20">
            <a:extLst>
              <a:ext uri="{FF2B5EF4-FFF2-40B4-BE49-F238E27FC236}">
                <a16:creationId xmlns:a16="http://schemas.microsoft.com/office/drawing/2014/main" id="{56067991-5512-33D9-BAFF-EBE3BE4E55D1}"/>
              </a:ext>
            </a:extLst>
          </p:cNvPr>
          <p:cNvSpPr txBox="1"/>
          <p:nvPr/>
        </p:nvSpPr>
        <p:spPr>
          <a:xfrm>
            <a:off x="3578823" y="3803604"/>
            <a:ext cx="2127892" cy="276999"/>
          </a:xfrm>
          <a:prstGeom prst="rect">
            <a:avLst/>
          </a:prstGeom>
          <a:noFill/>
        </p:spPr>
        <p:txBody>
          <a:bodyPr wrap="square">
            <a:spAutoFit/>
          </a:bodyPr>
          <a:lstStyle/>
          <a:p>
            <a:pPr algn="ctr"/>
            <a:r>
              <a:rPr kumimoji="1" lang="en-US" altLang="ja-JP" sz="1200" b="1" dirty="0">
                <a:latin typeface="メイリオ" panose="020B0604030504040204" pitchFamily="50" charset="-128"/>
                <a:ea typeface="メイリオ" panose="020B0604030504040204" pitchFamily="50" charset="-128"/>
              </a:rPr>
              <a:t>LINE</a:t>
            </a:r>
            <a:r>
              <a:rPr kumimoji="1" lang="ja-JP" altLang="en-US" sz="1200" b="1" dirty="0">
                <a:latin typeface="メイリオ" panose="020B0604030504040204" pitchFamily="50" charset="-128"/>
                <a:ea typeface="メイリオ" panose="020B0604030504040204" pitchFamily="50" charset="-128"/>
              </a:rPr>
              <a:t>友だち</a:t>
            </a:r>
          </a:p>
        </p:txBody>
      </p:sp>
      <p:sp>
        <p:nvSpPr>
          <p:cNvPr id="26" name="テキスト ボックス 25">
            <a:extLst>
              <a:ext uri="{FF2B5EF4-FFF2-40B4-BE49-F238E27FC236}">
                <a16:creationId xmlns:a16="http://schemas.microsoft.com/office/drawing/2014/main" id="{6182F190-E0A8-5EE1-D9A3-5B13AA74C67A}"/>
              </a:ext>
            </a:extLst>
          </p:cNvPr>
          <p:cNvSpPr txBox="1"/>
          <p:nvPr/>
        </p:nvSpPr>
        <p:spPr>
          <a:xfrm>
            <a:off x="3578823" y="3347800"/>
            <a:ext cx="2127892" cy="276999"/>
          </a:xfrm>
          <a:prstGeom prst="rect">
            <a:avLst/>
          </a:prstGeom>
          <a:noFill/>
        </p:spPr>
        <p:txBody>
          <a:bodyPr wrap="square">
            <a:spAutoFit/>
          </a:bodyPr>
          <a:lstStyle/>
          <a:p>
            <a:pPr algn="ctr"/>
            <a:r>
              <a:rPr kumimoji="1" lang="ja-JP" altLang="en-US" sz="1200" b="1" dirty="0">
                <a:latin typeface="メイリオ" panose="020B0604030504040204" pitchFamily="50" charset="-128"/>
                <a:ea typeface="メイリオ" panose="020B0604030504040204" pitchFamily="50" charset="-128"/>
              </a:rPr>
              <a:t>離脱防止バナー</a:t>
            </a:r>
          </a:p>
        </p:txBody>
      </p:sp>
      <p:sp>
        <p:nvSpPr>
          <p:cNvPr id="36" name="テキスト ボックス 35">
            <a:extLst>
              <a:ext uri="{FF2B5EF4-FFF2-40B4-BE49-F238E27FC236}">
                <a16:creationId xmlns:a16="http://schemas.microsoft.com/office/drawing/2014/main" id="{D60AE015-CFAC-BAED-064E-14583E6CD31A}"/>
              </a:ext>
            </a:extLst>
          </p:cNvPr>
          <p:cNvSpPr txBox="1"/>
          <p:nvPr/>
        </p:nvSpPr>
        <p:spPr>
          <a:xfrm>
            <a:off x="3578823" y="1982662"/>
            <a:ext cx="2127892" cy="276999"/>
          </a:xfrm>
          <a:prstGeom prst="rect">
            <a:avLst/>
          </a:prstGeom>
          <a:noFill/>
        </p:spPr>
        <p:txBody>
          <a:bodyPr wrap="square">
            <a:spAutoFit/>
          </a:bodyPr>
          <a:lstStyle/>
          <a:p>
            <a:pPr algn="ctr"/>
            <a:r>
              <a:rPr kumimoji="1" lang="ja-JP" altLang="en-US" sz="1200" b="1" dirty="0">
                <a:solidFill>
                  <a:schemeClr val="bg1">
                    <a:lumMod val="65000"/>
                  </a:schemeClr>
                </a:solidFill>
                <a:latin typeface="メイリオ" panose="020B0604030504040204" pitchFamily="50" charset="-128"/>
                <a:ea typeface="メイリオ" panose="020B0604030504040204" pitchFamily="50" charset="-128"/>
              </a:rPr>
              <a:t>接触</a:t>
            </a:r>
          </a:p>
        </p:txBody>
      </p:sp>
      <p:sp>
        <p:nvSpPr>
          <p:cNvPr id="39" name="テキスト ボックス 38">
            <a:extLst>
              <a:ext uri="{FF2B5EF4-FFF2-40B4-BE49-F238E27FC236}">
                <a16:creationId xmlns:a16="http://schemas.microsoft.com/office/drawing/2014/main" id="{BDD6B11B-082B-2EC1-7CA1-262D7193544D}"/>
              </a:ext>
            </a:extLst>
          </p:cNvPr>
          <p:cNvSpPr txBox="1"/>
          <p:nvPr/>
        </p:nvSpPr>
        <p:spPr>
          <a:xfrm>
            <a:off x="3685871" y="5900751"/>
            <a:ext cx="1913793" cy="461665"/>
          </a:xfrm>
          <a:prstGeom prst="rect">
            <a:avLst/>
          </a:prstGeom>
          <a:noFill/>
        </p:spPr>
        <p:txBody>
          <a:bodyPr wrap="square">
            <a:spAutoFit/>
          </a:bodyPr>
          <a:lstStyle/>
          <a:p>
            <a:pPr algn="ctr"/>
            <a:r>
              <a:rPr kumimoji="1" lang="ja-JP" altLang="en-US" sz="1200" b="1" dirty="0">
                <a:latin typeface="メイリオ" panose="020B0604030504040204" pitchFamily="50" charset="-128"/>
                <a:ea typeface="メイリオ" panose="020B0604030504040204" pitchFamily="50" charset="-128"/>
              </a:rPr>
              <a:t>自社</a:t>
            </a:r>
            <a:r>
              <a:rPr kumimoji="1" lang="en-US" altLang="ja-JP" sz="1200" b="1" dirty="0">
                <a:latin typeface="メイリオ" panose="020B0604030504040204" pitchFamily="50" charset="-128"/>
                <a:ea typeface="メイリオ" panose="020B0604030504040204" pitchFamily="50" charset="-128"/>
              </a:rPr>
              <a:t>App/</a:t>
            </a:r>
            <a:r>
              <a:rPr kumimoji="1" lang="ja-JP" altLang="en-US" sz="1200" b="1" dirty="0">
                <a:latin typeface="メイリオ" panose="020B0604030504040204" pitchFamily="50" charset="-128"/>
                <a:ea typeface="メイリオ" panose="020B0604030504040204" pitchFamily="50" charset="-128"/>
              </a:rPr>
              <a:t>ネットワーク</a:t>
            </a:r>
            <a:endParaRPr kumimoji="1" lang="en-US" altLang="ja-JP" sz="1200" b="1" dirty="0">
              <a:latin typeface="メイリオ" panose="020B0604030504040204" pitchFamily="50" charset="-128"/>
              <a:ea typeface="メイリオ" panose="020B0604030504040204" pitchFamily="50" charset="-128"/>
            </a:endParaRPr>
          </a:p>
          <a:p>
            <a:pPr algn="ctr"/>
            <a:r>
              <a:rPr lang="ja-JP" altLang="en-US" sz="1200" b="1" dirty="0">
                <a:latin typeface="メイリオ" panose="020B0604030504040204" pitchFamily="50" charset="-128"/>
                <a:ea typeface="メイリオ" panose="020B0604030504040204" pitchFamily="50" charset="-128"/>
              </a:rPr>
              <a:t>（</a:t>
            </a:r>
            <a:r>
              <a:rPr lang="en-US" altLang="ja-JP" sz="1200" b="1" dirty="0">
                <a:latin typeface="メイリオ" panose="020B0604030504040204" pitchFamily="50" charset="-128"/>
                <a:ea typeface="メイリオ" panose="020B0604030504040204" pitchFamily="50" charset="-128"/>
              </a:rPr>
              <a:t>ID</a:t>
            </a:r>
            <a:r>
              <a:rPr lang="ja-JP" altLang="en-US" sz="1200" b="1" dirty="0">
                <a:latin typeface="メイリオ" panose="020B0604030504040204" pitchFamily="50" charset="-128"/>
                <a:ea typeface="メイリオ" panose="020B0604030504040204" pitchFamily="50" charset="-128"/>
              </a:rPr>
              <a:t>連携等の開発）</a:t>
            </a:r>
            <a:endParaRPr kumimoji="1" lang="ja-JP" altLang="en-US" sz="1200" b="1" dirty="0">
              <a:latin typeface="メイリオ" panose="020B0604030504040204" pitchFamily="50" charset="-128"/>
              <a:ea typeface="メイリオ" panose="020B0604030504040204" pitchFamily="50" charset="-128"/>
            </a:endParaRPr>
          </a:p>
        </p:txBody>
      </p:sp>
      <p:sp>
        <p:nvSpPr>
          <p:cNvPr id="40" name="テキスト ボックス 39">
            <a:extLst>
              <a:ext uri="{FF2B5EF4-FFF2-40B4-BE49-F238E27FC236}">
                <a16:creationId xmlns:a16="http://schemas.microsoft.com/office/drawing/2014/main" id="{5842F9D0-B398-BB40-E6E0-1806610B3ABF}"/>
              </a:ext>
            </a:extLst>
          </p:cNvPr>
          <p:cNvSpPr txBox="1"/>
          <p:nvPr/>
        </p:nvSpPr>
        <p:spPr>
          <a:xfrm>
            <a:off x="3578823" y="2650866"/>
            <a:ext cx="2127892" cy="276999"/>
          </a:xfrm>
          <a:prstGeom prst="rect">
            <a:avLst/>
          </a:prstGeom>
          <a:noFill/>
        </p:spPr>
        <p:txBody>
          <a:bodyPr wrap="square">
            <a:spAutoFit/>
          </a:bodyPr>
          <a:lstStyle/>
          <a:p>
            <a:pPr algn="ctr"/>
            <a:r>
              <a:rPr kumimoji="1" lang="ja-JP" altLang="en-US" sz="1200" b="1" dirty="0">
                <a:solidFill>
                  <a:schemeClr val="bg1">
                    <a:lumMod val="65000"/>
                  </a:schemeClr>
                </a:solidFill>
                <a:latin typeface="メイリオ" panose="020B0604030504040204" pitchFamily="50" charset="-128"/>
                <a:ea typeface="メイリオ" panose="020B0604030504040204" pitchFamily="50" charset="-128"/>
              </a:rPr>
              <a:t>離脱</a:t>
            </a:r>
          </a:p>
        </p:txBody>
      </p:sp>
      <p:sp>
        <p:nvSpPr>
          <p:cNvPr id="42" name="テキスト ボックス 41">
            <a:extLst>
              <a:ext uri="{FF2B5EF4-FFF2-40B4-BE49-F238E27FC236}">
                <a16:creationId xmlns:a16="http://schemas.microsoft.com/office/drawing/2014/main" id="{65925534-D40D-9B46-2A4B-52FA9BA609A2}"/>
              </a:ext>
            </a:extLst>
          </p:cNvPr>
          <p:cNvSpPr txBox="1"/>
          <p:nvPr/>
        </p:nvSpPr>
        <p:spPr>
          <a:xfrm>
            <a:off x="3578823" y="4271087"/>
            <a:ext cx="2127892" cy="276999"/>
          </a:xfrm>
          <a:prstGeom prst="rect">
            <a:avLst/>
          </a:prstGeom>
          <a:noFill/>
        </p:spPr>
        <p:txBody>
          <a:bodyPr wrap="square">
            <a:spAutoFit/>
          </a:bodyPr>
          <a:lstStyle/>
          <a:p>
            <a:pPr algn="ctr"/>
            <a:r>
              <a:rPr lang="en-US" altLang="ja-JP" sz="1200" b="1" dirty="0">
                <a:latin typeface="メイリオ" panose="020B0604030504040204" pitchFamily="50" charset="-128"/>
                <a:ea typeface="メイリオ" panose="020B0604030504040204" pitchFamily="50" charset="-128"/>
              </a:rPr>
              <a:t>LINE</a:t>
            </a:r>
            <a:r>
              <a:rPr lang="ja-JP" altLang="en-US" sz="1200" b="1" dirty="0">
                <a:latin typeface="メイリオ" panose="020B0604030504040204" pitchFamily="50" charset="-128"/>
                <a:ea typeface="メイリオ" panose="020B0604030504040204" pitchFamily="50" charset="-128"/>
              </a:rPr>
              <a:t>でログイン</a:t>
            </a:r>
          </a:p>
        </p:txBody>
      </p:sp>
    </p:spTree>
    <p:extLst>
      <p:ext uri="{BB962C8B-B14F-4D97-AF65-F5344CB8AC3E}">
        <p14:creationId xmlns:p14="http://schemas.microsoft.com/office/powerpoint/2010/main" val="4265136790"/>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正方形/長方形 7">
            <a:extLst>
              <a:ext uri="{FF2B5EF4-FFF2-40B4-BE49-F238E27FC236}">
                <a16:creationId xmlns:a16="http://schemas.microsoft.com/office/drawing/2014/main" id="{BCB9F207-E933-48A8-A62B-47A12C4BFADB}"/>
              </a:ext>
            </a:extLst>
          </p:cNvPr>
          <p:cNvSpPr/>
          <p:nvPr/>
        </p:nvSpPr>
        <p:spPr>
          <a:xfrm>
            <a:off x="788963" y="824934"/>
            <a:ext cx="8328074" cy="381712"/>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tIns="90000" anchor="ctr"/>
          <a:lstStyle/>
          <a:p>
            <a:pPr algn="ctr">
              <a:lnSpc>
                <a:spcPts val="2455"/>
              </a:lnSpc>
            </a:pPr>
            <a:r>
              <a:rPr lang="ja-JP" altLang="en-US" sz="1400" dirty="0">
                <a:solidFill>
                  <a:srgbClr val="343434"/>
                </a:solidFill>
                <a:latin typeface="メイリオ" panose="020B0604030504040204" pitchFamily="50" charset="-128"/>
                <a:ea typeface="メイリオ" panose="020B0604030504040204" pitchFamily="50" charset="-128"/>
              </a:rPr>
              <a:t>ユーザーコミュニケーションに、</a:t>
            </a:r>
            <a:r>
              <a:rPr lang="en-US" altLang="ja-JP" sz="1400" dirty="0" err="1">
                <a:solidFill>
                  <a:srgbClr val="343434"/>
                </a:solidFill>
                <a:latin typeface="メイリオ" panose="020B0604030504040204" pitchFamily="50" charset="-128"/>
                <a:ea typeface="メイリオ" panose="020B0604030504040204" pitchFamily="50" charset="-128"/>
              </a:rPr>
              <a:t>LINE公式アカウントを導入する</a:t>
            </a:r>
            <a:r>
              <a:rPr lang="ja-JP" altLang="en-US" sz="1400" dirty="0">
                <a:solidFill>
                  <a:srgbClr val="343434"/>
                </a:solidFill>
                <a:latin typeface="メイリオ" panose="020B0604030504040204" pitchFamily="50" charset="-128"/>
                <a:ea typeface="メイリオ" panose="020B0604030504040204" pitchFamily="50" charset="-128"/>
              </a:rPr>
              <a:t>法人</a:t>
            </a:r>
            <a:r>
              <a:rPr lang="en-US" altLang="ja-JP" sz="1400" dirty="0">
                <a:solidFill>
                  <a:srgbClr val="343434"/>
                </a:solidFill>
                <a:latin typeface="メイリオ" panose="020B0604030504040204" pitchFamily="50" charset="-128"/>
                <a:ea typeface="メイリオ" panose="020B0604030504040204" pitchFamily="50" charset="-128"/>
              </a:rPr>
              <a:t>が</a:t>
            </a:r>
            <a:r>
              <a:rPr lang="ja-JP" altLang="en-US" sz="1400" dirty="0">
                <a:solidFill>
                  <a:srgbClr val="343434"/>
                </a:solidFill>
                <a:latin typeface="メイリオ" panose="020B0604030504040204" pitchFamily="50" charset="-128"/>
                <a:ea typeface="メイリオ" panose="020B0604030504040204" pitchFamily="50" charset="-128"/>
              </a:rPr>
              <a:t>増加傾向</a:t>
            </a:r>
            <a:r>
              <a:rPr lang="en-US" altLang="ja-JP" sz="1400" dirty="0">
                <a:solidFill>
                  <a:srgbClr val="343434"/>
                </a:solidFill>
                <a:latin typeface="メイリオ" panose="020B0604030504040204" pitchFamily="50" charset="-128"/>
                <a:ea typeface="メイリオ" panose="020B0604030504040204" pitchFamily="50" charset="-128"/>
              </a:rPr>
              <a:t>。</a:t>
            </a:r>
          </a:p>
          <a:p>
            <a:pPr algn="ctr">
              <a:lnSpc>
                <a:spcPts val="2455"/>
              </a:lnSpc>
            </a:pPr>
            <a:r>
              <a:rPr lang="en-US" altLang="ja-JP" sz="1400" b="1" dirty="0">
                <a:solidFill>
                  <a:srgbClr val="343434"/>
                </a:solidFill>
                <a:latin typeface="メイリオ" panose="020B0604030504040204" pitchFamily="50" charset="-128"/>
                <a:ea typeface="メイリオ" panose="020B0604030504040204" pitchFamily="50" charset="-128"/>
              </a:rPr>
              <a:t>開封率に関してはメールマガジンの6倍を誇る</a:t>
            </a:r>
            <a:r>
              <a:rPr lang="en-US" altLang="ja-JP" sz="1400" dirty="0">
                <a:solidFill>
                  <a:srgbClr val="343434"/>
                </a:solidFill>
                <a:latin typeface="メイリオ" panose="020B0604030504040204" pitchFamily="50" charset="-128"/>
                <a:ea typeface="メイリオ" panose="020B0604030504040204" pitchFamily="50" charset="-128"/>
              </a:rPr>
              <a:t>と言われています。</a:t>
            </a:r>
          </a:p>
        </p:txBody>
      </p:sp>
      <p:cxnSp>
        <p:nvCxnSpPr>
          <p:cNvPr id="9" name="直線コネクタ 8">
            <a:extLst>
              <a:ext uri="{FF2B5EF4-FFF2-40B4-BE49-F238E27FC236}">
                <a16:creationId xmlns:a16="http://schemas.microsoft.com/office/drawing/2014/main" id="{CA93CA45-604C-4C3A-A630-6604E0B4FD4A}"/>
              </a:ext>
            </a:extLst>
          </p:cNvPr>
          <p:cNvCxnSpPr>
            <a:cxnSpLocks/>
          </p:cNvCxnSpPr>
          <p:nvPr/>
        </p:nvCxnSpPr>
        <p:spPr>
          <a:xfrm>
            <a:off x="0" y="1390675"/>
            <a:ext cx="9906000" cy="0"/>
          </a:xfrm>
          <a:prstGeom prst="line">
            <a:avLst/>
          </a:prstGeom>
          <a:ln w="19050">
            <a:solidFill>
              <a:schemeClr val="bg1">
                <a:lumMod val="85000"/>
                <a:alpha val="60000"/>
              </a:schemeClr>
            </a:solidFill>
          </a:ln>
          <a:effectLst/>
        </p:spPr>
        <p:style>
          <a:lnRef idx="2">
            <a:schemeClr val="accent1"/>
          </a:lnRef>
          <a:fillRef idx="0">
            <a:schemeClr val="accent1"/>
          </a:fillRef>
          <a:effectRef idx="1">
            <a:schemeClr val="accent1"/>
          </a:effectRef>
          <a:fontRef idx="minor">
            <a:schemeClr val="tx1"/>
          </a:fontRef>
        </p:style>
      </p:cxnSp>
      <p:grpSp>
        <p:nvGrpSpPr>
          <p:cNvPr id="10" name="Group 2">
            <a:extLst>
              <a:ext uri="{FF2B5EF4-FFF2-40B4-BE49-F238E27FC236}">
                <a16:creationId xmlns:a16="http://schemas.microsoft.com/office/drawing/2014/main" id="{8411FB04-4378-9C1F-7198-DA25276CF8E2}"/>
              </a:ext>
            </a:extLst>
          </p:cNvPr>
          <p:cNvGrpSpPr/>
          <p:nvPr/>
        </p:nvGrpSpPr>
        <p:grpSpPr>
          <a:xfrm>
            <a:off x="788963" y="1653447"/>
            <a:ext cx="8366061" cy="731867"/>
            <a:chOff x="0" y="0"/>
            <a:chExt cx="3130995" cy="273901"/>
          </a:xfrm>
        </p:grpSpPr>
        <p:sp>
          <p:nvSpPr>
            <p:cNvPr id="11" name="Freeform 3">
              <a:extLst>
                <a:ext uri="{FF2B5EF4-FFF2-40B4-BE49-F238E27FC236}">
                  <a16:creationId xmlns:a16="http://schemas.microsoft.com/office/drawing/2014/main" id="{DA30BE06-7392-13FD-69EB-48890255A158}"/>
                </a:ext>
              </a:extLst>
            </p:cNvPr>
            <p:cNvSpPr/>
            <p:nvPr/>
          </p:nvSpPr>
          <p:spPr>
            <a:xfrm>
              <a:off x="0" y="0"/>
              <a:ext cx="3130995" cy="273901"/>
            </a:xfrm>
            <a:custGeom>
              <a:avLst/>
              <a:gdLst/>
              <a:ahLst/>
              <a:cxnLst/>
              <a:rect l="l" t="t" r="r" b="b"/>
              <a:pathLst>
                <a:path w="3130995" h="273901">
                  <a:moveTo>
                    <a:pt x="12956" y="0"/>
                  </a:moveTo>
                  <a:lnTo>
                    <a:pt x="3118039" y="0"/>
                  </a:lnTo>
                  <a:cubicBezTo>
                    <a:pt x="3121475" y="0"/>
                    <a:pt x="3124771" y="1365"/>
                    <a:pt x="3127200" y="3795"/>
                  </a:cubicBezTo>
                  <a:cubicBezTo>
                    <a:pt x="3129630" y="6224"/>
                    <a:pt x="3130995" y="9520"/>
                    <a:pt x="3130995" y="12956"/>
                  </a:cubicBezTo>
                  <a:lnTo>
                    <a:pt x="3130995" y="260946"/>
                  </a:lnTo>
                  <a:cubicBezTo>
                    <a:pt x="3130995" y="264382"/>
                    <a:pt x="3129630" y="267677"/>
                    <a:pt x="3127200" y="270106"/>
                  </a:cubicBezTo>
                  <a:cubicBezTo>
                    <a:pt x="3124771" y="272536"/>
                    <a:pt x="3121475" y="273901"/>
                    <a:pt x="3118039" y="273901"/>
                  </a:cubicBezTo>
                  <a:lnTo>
                    <a:pt x="12956" y="273901"/>
                  </a:lnTo>
                  <a:cubicBezTo>
                    <a:pt x="9520" y="273901"/>
                    <a:pt x="6224" y="272536"/>
                    <a:pt x="3795" y="270106"/>
                  </a:cubicBezTo>
                  <a:cubicBezTo>
                    <a:pt x="1365" y="267677"/>
                    <a:pt x="0" y="264382"/>
                    <a:pt x="0" y="260946"/>
                  </a:cubicBezTo>
                  <a:lnTo>
                    <a:pt x="0" y="12956"/>
                  </a:lnTo>
                  <a:cubicBezTo>
                    <a:pt x="0" y="9520"/>
                    <a:pt x="1365" y="6224"/>
                    <a:pt x="3795" y="3795"/>
                  </a:cubicBezTo>
                  <a:cubicBezTo>
                    <a:pt x="6224" y="1365"/>
                    <a:pt x="9520" y="0"/>
                    <a:pt x="12956" y="0"/>
                  </a:cubicBezTo>
                  <a:close/>
                </a:path>
              </a:pathLst>
            </a:custGeom>
            <a:solidFill>
              <a:srgbClr val="D9D9D9"/>
            </a:solidFill>
          </p:spPr>
          <p:txBody>
            <a:bodyPr/>
            <a:lstStyle/>
            <a:p>
              <a:endParaRPr lang="ja-JP" altLang="en-US" sz="1400">
                <a:latin typeface="メイリオ" panose="020B0604030504040204" pitchFamily="50" charset="-128"/>
                <a:ea typeface="メイリオ" panose="020B0604030504040204" pitchFamily="50" charset="-128"/>
              </a:endParaRPr>
            </a:p>
          </p:txBody>
        </p:sp>
        <p:sp>
          <p:nvSpPr>
            <p:cNvPr id="12" name="TextBox 4">
              <a:extLst>
                <a:ext uri="{FF2B5EF4-FFF2-40B4-BE49-F238E27FC236}">
                  <a16:creationId xmlns:a16="http://schemas.microsoft.com/office/drawing/2014/main" id="{C283FFE9-487F-ECFB-11D7-47B424A23DE5}"/>
                </a:ext>
              </a:extLst>
            </p:cNvPr>
            <p:cNvSpPr txBox="1"/>
            <p:nvPr/>
          </p:nvSpPr>
          <p:spPr>
            <a:xfrm>
              <a:off x="0" y="-47625"/>
              <a:ext cx="3130995" cy="321526"/>
            </a:xfrm>
            <a:prstGeom prst="rect">
              <a:avLst/>
            </a:prstGeom>
          </p:spPr>
          <p:txBody>
            <a:bodyPr lIns="29700" tIns="29700" rIns="29700" bIns="29700" rtlCol="0" anchor="ctr"/>
            <a:lstStyle/>
            <a:p>
              <a:pPr algn="ctr">
                <a:lnSpc>
                  <a:spcPts val="2455"/>
                </a:lnSpc>
              </a:pPr>
              <a:r>
                <a:rPr lang="ja-JP" altLang="en-US" sz="1400" dirty="0">
                  <a:solidFill>
                    <a:srgbClr val="040606"/>
                  </a:solidFill>
                  <a:latin typeface="メイリオ" panose="020B0604030504040204" pitchFamily="50" charset="-128"/>
                  <a:ea typeface="メイリオ" panose="020B0604030504040204" pitchFamily="50" charset="-128"/>
                </a:rPr>
                <a:t>　　　　</a:t>
              </a:r>
              <a:r>
                <a:rPr lang="en-US" sz="1400" dirty="0" err="1">
                  <a:solidFill>
                    <a:srgbClr val="040606"/>
                  </a:solidFill>
                  <a:latin typeface="メイリオ" panose="020B0604030504040204" pitchFamily="50" charset="-128"/>
                  <a:ea typeface="メイリオ" panose="020B0604030504040204" pitchFamily="50" charset="-128"/>
                </a:rPr>
                <a:t>メールマガジン</a:t>
              </a:r>
              <a:r>
                <a:rPr lang="ja-JP" altLang="en-US" sz="1400" dirty="0" err="1">
                  <a:solidFill>
                    <a:srgbClr val="040606"/>
                  </a:solidFill>
                  <a:latin typeface="メイリオ" panose="020B0604030504040204" pitchFamily="50" charset="-128"/>
                  <a:ea typeface="メイリオ" panose="020B0604030504040204" pitchFamily="50" charset="-128"/>
                </a:rPr>
                <a:t>、</a:t>
              </a:r>
              <a:r>
                <a:rPr lang="ja-JP" altLang="en-US" sz="1400" dirty="0">
                  <a:solidFill>
                    <a:srgbClr val="040606"/>
                  </a:solidFill>
                  <a:latin typeface="メイリオ" panose="020B0604030504040204" pitchFamily="50" charset="-128"/>
                  <a:ea typeface="メイリオ" panose="020B0604030504040204" pitchFamily="50" charset="-128"/>
                </a:rPr>
                <a:t>テレマーケティング </a:t>
              </a:r>
              <a:r>
                <a:rPr lang="en-US" sz="1400" dirty="0" err="1">
                  <a:solidFill>
                    <a:srgbClr val="040606"/>
                  </a:solidFill>
                  <a:latin typeface="メイリオ" panose="020B0604030504040204" pitchFamily="50" charset="-128"/>
                  <a:ea typeface="メイリオ" panose="020B0604030504040204" pitchFamily="50" charset="-128"/>
                </a:rPr>
                <a:t>が主流</a:t>
              </a:r>
              <a:endParaRPr lang="en-US" sz="1400" dirty="0">
                <a:solidFill>
                  <a:srgbClr val="040606"/>
                </a:solidFill>
                <a:latin typeface="メイリオ" panose="020B0604030504040204" pitchFamily="50" charset="-128"/>
                <a:ea typeface="メイリオ" panose="020B0604030504040204" pitchFamily="50" charset="-128"/>
              </a:endParaRPr>
            </a:p>
          </p:txBody>
        </p:sp>
      </p:grpSp>
      <p:sp>
        <p:nvSpPr>
          <p:cNvPr id="13" name="Freeform 5">
            <a:extLst>
              <a:ext uri="{FF2B5EF4-FFF2-40B4-BE49-F238E27FC236}">
                <a16:creationId xmlns:a16="http://schemas.microsoft.com/office/drawing/2014/main" id="{92B274FD-6C4B-BF09-92C7-B918BFE86EBE}"/>
              </a:ext>
            </a:extLst>
          </p:cNvPr>
          <p:cNvSpPr/>
          <p:nvPr/>
        </p:nvSpPr>
        <p:spPr>
          <a:xfrm>
            <a:off x="1044952" y="1864063"/>
            <a:ext cx="586512" cy="415690"/>
          </a:xfrm>
          <a:custGeom>
            <a:avLst/>
            <a:gdLst/>
            <a:ahLst/>
            <a:cxnLst/>
            <a:rect l="l" t="t" r="r" b="b"/>
            <a:pathLst>
              <a:path w="586512" h="415690">
                <a:moveTo>
                  <a:pt x="0" y="0"/>
                </a:moveTo>
                <a:lnTo>
                  <a:pt x="586512" y="0"/>
                </a:lnTo>
                <a:lnTo>
                  <a:pt x="586512" y="415691"/>
                </a:lnTo>
                <a:lnTo>
                  <a:pt x="0" y="415691"/>
                </a:lnTo>
                <a:lnTo>
                  <a:pt x="0" y="0"/>
                </a:lnTo>
                <a:close/>
              </a:path>
            </a:pathLst>
          </a:custGeom>
          <a:blipFill>
            <a:blip>
              <a:extLst>
                <a:ext uri="{96DAC541-7B7A-43D3-8B79-37D633B846F1}">
                  <asvg:svgBlip xmlns:asvg="http://schemas.microsoft.com/office/drawing/2016/SVG/main" r:embed="rId3"/>
                </a:ext>
              </a:extLst>
            </a:blip>
            <a:stretch>
              <a:fillRect/>
            </a:stretch>
          </a:blipFill>
        </p:spPr>
        <p:txBody>
          <a:bodyPr/>
          <a:lstStyle/>
          <a:p>
            <a:endParaRPr lang="ja-JP" altLang="en-US">
              <a:latin typeface="メイリオ" panose="020B0604030504040204" pitchFamily="50" charset="-128"/>
              <a:ea typeface="メイリオ" panose="020B0604030504040204" pitchFamily="50" charset="-128"/>
            </a:endParaRPr>
          </a:p>
        </p:txBody>
      </p:sp>
      <p:sp>
        <p:nvSpPr>
          <p:cNvPr id="14" name="Freeform 6">
            <a:extLst>
              <a:ext uri="{FF2B5EF4-FFF2-40B4-BE49-F238E27FC236}">
                <a16:creationId xmlns:a16="http://schemas.microsoft.com/office/drawing/2014/main" id="{BE4175CE-3408-B9E2-6CB8-BAD8904A8563}"/>
              </a:ext>
            </a:extLst>
          </p:cNvPr>
          <p:cNvSpPr/>
          <p:nvPr/>
        </p:nvSpPr>
        <p:spPr>
          <a:xfrm>
            <a:off x="1828420" y="1769085"/>
            <a:ext cx="385149" cy="302824"/>
          </a:xfrm>
          <a:custGeom>
            <a:avLst/>
            <a:gdLst/>
            <a:ahLst/>
            <a:cxnLst/>
            <a:rect l="l" t="t" r="r" b="b"/>
            <a:pathLst>
              <a:path w="385149" h="302824">
                <a:moveTo>
                  <a:pt x="0" y="0"/>
                </a:moveTo>
                <a:lnTo>
                  <a:pt x="385150" y="0"/>
                </a:lnTo>
                <a:lnTo>
                  <a:pt x="385150" y="302824"/>
                </a:lnTo>
                <a:lnTo>
                  <a:pt x="0" y="302824"/>
                </a:lnTo>
                <a:lnTo>
                  <a:pt x="0" y="0"/>
                </a:lnTo>
                <a:close/>
              </a:path>
            </a:pathLst>
          </a:custGeom>
          <a:blipFill>
            <a:blip>
              <a:extLst>
                <a:ext uri="{96DAC541-7B7A-43D3-8B79-37D633B846F1}">
                  <asvg:svgBlip xmlns:asvg="http://schemas.microsoft.com/office/drawing/2016/SVG/main" r:embed="rId4"/>
                </a:ext>
              </a:extLst>
            </a:blip>
            <a:stretch>
              <a:fillRect/>
            </a:stretch>
          </a:blipFill>
        </p:spPr>
        <p:txBody>
          <a:bodyPr/>
          <a:lstStyle/>
          <a:p>
            <a:endParaRPr lang="ja-JP" altLang="en-US">
              <a:latin typeface="メイリオ" panose="020B0604030504040204" pitchFamily="50" charset="-128"/>
              <a:ea typeface="メイリオ" panose="020B0604030504040204" pitchFamily="50" charset="-128"/>
            </a:endParaRPr>
          </a:p>
        </p:txBody>
      </p:sp>
      <p:grpSp>
        <p:nvGrpSpPr>
          <p:cNvPr id="15" name="Group 7">
            <a:extLst>
              <a:ext uri="{FF2B5EF4-FFF2-40B4-BE49-F238E27FC236}">
                <a16:creationId xmlns:a16="http://schemas.microsoft.com/office/drawing/2014/main" id="{0D673740-D652-7CA2-D522-30AA6E6BB082}"/>
              </a:ext>
            </a:extLst>
          </p:cNvPr>
          <p:cNvGrpSpPr/>
          <p:nvPr/>
        </p:nvGrpSpPr>
        <p:grpSpPr>
          <a:xfrm>
            <a:off x="4762596" y="2450266"/>
            <a:ext cx="418793" cy="197815"/>
            <a:chOff x="0" y="0"/>
            <a:chExt cx="812800" cy="383922"/>
          </a:xfrm>
        </p:grpSpPr>
        <p:sp>
          <p:nvSpPr>
            <p:cNvPr id="16" name="Freeform 8">
              <a:extLst>
                <a:ext uri="{FF2B5EF4-FFF2-40B4-BE49-F238E27FC236}">
                  <a16:creationId xmlns:a16="http://schemas.microsoft.com/office/drawing/2014/main" id="{EC35FB35-F0A3-935B-D05E-B8D1AE53C824}"/>
                </a:ext>
              </a:extLst>
            </p:cNvPr>
            <p:cNvSpPr/>
            <p:nvPr/>
          </p:nvSpPr>
          <p:spPr>
            <a:xfrm>
              <a:off x="0" y="0"/>
              <a:ext cx="812800" cy="383922"/>
            </a:xfrm>
            <a:custGeom>
              <a:avLst/>
              <a:gdLst/>
              <a:ahLst/>
              <a:cxnLst/>
              <a:rect l="l" t="t" r="r" b="b"/>
              <a:pathLst>
                <a:path w="812800" h="383922">
                  <a:moveTo>
                    <a:pt x="406400" y="383922"/>
                  </a:moveTo>
                  <a:lnTo>
                    <a:pt x="812800" y="0"/>
                  </a:lnTo>
                  <a:lnTo>
                    <a:pt x="0" y="0"/>
                  </a:lnTo>
                  <a:lnTo>
                    <a:pt x="406400" y="383922"/>
                  </a:lnTo>
                  <a:close/>
                </a:path>
              </a:pathLst>
            </a:custGeom>
            <a:solidFill>
              <a:srgbClr val="00B449"/>
            </a:solidFill>
          </p:spPr>
          <p:txBody>
            <a:bodyPr/>
            <a:lstStyle/>
            <a:p>
              <a:endParaRPr lang="ja-JP" altLang="en-US">
                <a:latin typeface="メイリオ" panose="020B0604030504040204" pitchFamily="50" charset="-128"/>
                <a:ea typeface="メイリオ" panose="020B0604030504040204" pitchFamily="50" charset="-128"/>
              </a:endParaRPr>
            </a:p>
          </p:txBody>
        </p:sp>
        <p:sp>
          <p:nvSpPr>
            <p:cNvPr id="17" name="TextBox 9">
              <a:extLst>
                <a:ext uri="{FF2B5EF4-FFF2-40B4-BE49-F238E27FC236}">
                  <a16:creationId xmlns:a16="http://schemas.microsoft.com/office/drawing/2014/main" id="{C69E28B5-A3A4-36F5-01DB-CB6A9BEF984F}"/>
                </a:ext>
              </a:extLst>
            </p:cNvPr>
            <p:cNvSpPr txBox="1"/>
            <p:nvPr/>
          </p:nvSpPr>
          <p:spPr>
            <a:xfrm>
              <a:off x="127000" y="-20202"/>
              <a:ext cx="558800" cy="225874"/>
            </a:xfrm>
            <a:prstGeom prst="rect">
              <a:avLst/>
            </a:prstGeom>
          </p:spPr>
          <p:txBody>
            <a:bodyPr lIns="29700" tIns="29700" rIns="29700" bIns="29700" rtlCol="0" anchor="ctr"/>
            <a:lstStyle/>
            <a:p>
              <a:pPr algn="ctr">
                <a:lnSpc>
                  <a:spcPts val="2046"/>
                </a:lnSpc>
              </a:pPr>
              <a:endParaRPr>
                <a:latin typeface="メイリオ" panose="020B0604030504040204" pitchFamily="50" charset="-128"/>
                <a:ea typeface="メイリオ" panose="020B0604030504040204" pitchFamily="50" charset="-128"/>
              </a:endParaRPr>
            </a:p>
          </p:txBody>
        </p:sp>
      </p:grpSp>
      <p:grpSp>
        <p:nvGrpSpPr>
          <p:cNvPr id="18" name="Group 10">
            <a:extLst>
              <a:ext uri="{FF2B5EF4-FFF2-40B4-BE49-F238E27FC236}">
                <a16:creationId xmlns:a16="http://schemas.microsoft.com/office/drawing/2014/main" id="{2D0D8876-267F-8994-0640-F07758F8E631}"/>
              </a:ext>
            </a:extLst>
          </p:cNvPr>
          <p:cNvGrpSpPr/>
          <p:nvPr/>
        </p:nvGrpSpPr>
        <p:grpSpPr>
          <a:xfrm>
            <a:off x="788963" y="2722429"/>
            <a:ext cx="8366061" cy="731867"/>
            <a:chOff x="0" y="0"/>
            <a:chExt cx="3130995" cy="273901"/>
          </a:xfrm>
        </p:grpSpPr>
        <p:sp>
          <p:nvSpPr>
            <p:cNvPr id="19" name="Freeform 11">
              <a:extLst>
                <a:ext uri="{FF2B5EF4-FFF2-40B4-BE49-F238E27FC236}">
                  <a16:creationId xmlns:a16="http://schemas.microsoft.com/office/drawing/2014/main" id="{C5CB9F64-A605-7D94-6D58-E12CBE069A72}"/>
                </a:ext>
              </a:extLst>
            </p:cNvPr>
            <p:cNvSpPr/>
            <p:nvPr/>
          </p:nvSpPr>
          <p:spPr>
            <a:xfrm>
              <a:off x="0" y="0"/>
              <a:ext cx="3130995" cy="273901"/>
            </a:xfrm>
            <a:custGeom>
              <a:avLst/>
              <a:gdLst/>
              <a:ahLst/>
              <a:cxnLst/>
              <a:rect l="l" t="t" r="r" b="b"/>
              <a:pathLst>
                <a:path w="3130995" h="273901">
                  <a:moveTo>
                    <a:pt x="12956" y="0"/>
                  </a:moveTo>
                  <a:lnTo>
                    <a:pt x="3118039" y="0"/>
                  </a:lnTo>
                  <a:cubicBezTo>
                    <a:pt x="3121475" y="0"/>
                    <a:pt x="3124771" y="1365"/>
                    <a:pt x="3127200" y="3795"/>
                  </a:cubicBezTo>
                  <a:cubicBezTo>
                    <a:pt x="3129630" y="6224"/>
                    <a:pt x="3130995" y="9520"/>
                    <a:pt x="3130995" y="12956"/>
                  </a:cubicBezTo>
                  <a:lnTo>
                    <a:pt x="3130995" y="260946"/>
                  </a:lnTo>
                  <a:cubicBezTo>
                    <a:pt x="3130995" y="264382"/>
                    <a:pt x="3129630" y="267677"/>
                    <a:pt x="3127200" y="270106"/>
                  </a:cubicBezTo>
                  <a:cubicBezTo>
                    <a:pt x="3124771" y="272536"/>
                    <a:pt x="3121475" y="273901"/>
                    <a:pt x="3118039" y="273901"/>
                  </a:cubicBezTo>
                  <a:lnTo>
                    <a:pt x="12956" y="273901"/>
                  </a:lnTo>
                  <a:cubicBezTo>
                    <a:pt x="9520" y="273901"/>
                    <a:pt x="6224" y="272536"/>
                    <a:pt x="3795" y="270106"/>
                  </a:cubicBezTo>
                  <a:cubicBezTo>
                    <a:pt x="1365" y="267677"/>
                    <a:pt x="0" y="264382"/>
                    <a:pt x="0" y="260946"/>
                  </a:cubicBezTo>
                  <a:lnTo>
                    <a:pt x="0" y="12956"/>
                  </a:lnTo>
                  <a:cubicBezTo>
                    <a:pt x="0" y="9520"/>
                    <a:pt x="1365" y="6224"/>
                    <a:pt x="3795" y="3795"/>
                  </a:cubicBezTo>
                  <a:cubicBezTo>
                    <a:pt x="6224" y="1365"/>
                    <a:pt x="9520" y="0"/>
                    <a:pt x="12956" y="0"/>
                  </a:cubicBezTo>
                  <a:close/>
                </a:path>
              </a:pathLst>
            </a:custGeom>
            <a:solidFill>
              <a:srgbClr val="D4F4E1"/>
            </a:solidFill>
          </p:spPr>
          <p:txBody>
            <a:bodyPr/>
            <a:lstStyle/>
            <a:p>
              <a:endParaRPr lang="ja-JP" altLang="en-US" sz="1400">
                <a:latin typeface="メイリオ" panose="020B0604030504040204" pitchFamily="50" charset="-128"/>
                <a:ea typeface="メイリオ" panose="020B0604030504040204" pitchFamily="50" charset="-128"/>
              </a:endParaRPr>
            </a:p>
          </p:txBody>
        </p:sp>
        <p:sp>
          <p:nvSpPr>
            <p:cNvPr id="20" name="TextBox 12">
              <a:extLst>
                <a:ext uri="{FF2B5EF4-FFF2-40B4-BE49-F238E27FC236}">
                  <a16:creationId xmlns:a16="http://schemas.microsoft.com/office/drawing/2014/main" id="{8175F01D-919F-5A71-EF4D-6A5F56166D72}"/>
                </a:ext>
              </a:extLst>
            </p:cNvPr>
            <p:cNvSpPr txBox="1"/>
            <p:nvPr/>
          </p:nvSpPr>
          <p:spPr>
            <a:xfrm>
              <a:off x="0" y="-47625"/>
              <a:ext cx="3130995" cy="321526"/>
            </a:xfrm>
            <a:prstGeom prst="rect">
              <a:avLst/>
            </a:prstGeom>
          </p:spPr>
          <p:txBody>
            <a:bodyPr lIns="29700" tIns="29700" rIns="29700" bIns="29700" rtlCol="0" anchor="ctr"/>
            <a:lstStyle/>
            <a:p>
              <a:pPr algn="ctr">
                <a:lnSpc>
                  <a:spcPts val="2455"/>
                </a:lnSpc>
              </a:pPr>
              <a:r>
                <a:rPr lang="ja-JP" altLang="en-US" sz="1400" b="1" dirty="0">
                  <a:solidFill>
                    <a:srgbClr val="00B900"/>
                  </a:solidFill>
                  <a:latin typeface="メイリオ" panose="020B0604030504040204" pitchFamily="50" charset="-128"/>
                  <a:ea typeface="メイリオ" panose="020B0604030504040204" pitchFamily="50" charset="-128"/>
                </a:rPr>
                <a:t>　　　　＋</a:t>
              </a:r>
              <a:r>
                <a:rPr lang="en-US" sz="1400" b="1" dirty="0">
                  <a:solidFill>
                    <a:srgbClr val="00B900"/>
                  </a:solidFill>
                  <a:latin typeface="メイリオ" panose="020B0604030504040204" pitchFamily="50" charset="-128"/>
                  <a:ea typeface="メイリオ" panose="020B0604030504040204" pitchFamily="50" charset="-128"/>
                </a:rPr>
                <a:t>LINE</a:t>
              </a:r>
              <a:r>
                <a:rPr lang="ja-JP" altLang="en-US" sz="1400" b="1" dirty="0">
                  <a:solidFill>
                    <a:srgbClr val="00B900"/>
                  </a:solidFill>
                  <a:latin typeface="メイリオ" panose="020B0604030504040204" pitchFamily="50" charset="-128"/>
                  <a:ea typeface="メイリオ" panose="020B0604030504040204" pitchFamily="50" charset="-128"/>
                </a:rPr>
                <a:t>公式アカウント</a:t>
              </a:r>
              <a:r>
                <a:rPr lang="en-US" sz="1400" b="1" dirty="0">
                  <a:solidFill>
                    <a:srgbClr val="00B900"/>
                  </a:solidFill>
                  <a:latin typeface="メイリオ" panose="020B0604030504040204" pitchFamily="50" charset="-128"/>
                  <a:ea typeface="メイリオ" panose="020B0604030504040204" pitchFamily="50" charset="-128"/>
                </a:rPr>
                <a:t> </a:t>
              </a:r>
              <a:r>
                <a:rPr lang="en-US" sz="1400" dirty="0" err="1">
                  <a:solidFill>
                    <a:srgbClr val="00B900"/>
                  </a:solidFill>
                  <a:latin typeface="メイリオ" panose="020B0604030504040204" pitchFamily="50" charset="-128"/>
                  <a:ea typeface="メイリオ" panose="020B0604030504040204" pitchFamily="50" charset="-128"/>
                </a:rPr>
                <a:t>が主流</a:t>
              </a:r>
              <a:endParaRPr lang="en-US" sz="1400" dirty="0">
                <a:solidFill>
                  <a:srgbClr val="00B900"/>
                </a:solidFill>
                <a:latin typeface="メイリオ" panose="020B0604030504040204" pitchFamily="50" charset="-128"/>
                <a:ea typeface="メイリオ" panose="020B0604030504040204" pitchFamily="50" charset="-128"/>
              </a:endParaRPr>
            </a:p>
          </p:txBody>
        </p:sp>
      </p:grpSp>
      <p:sp>
        <p:nvSpPr>
          <p:cNvPr id="21" name="Freeform 13">
            <a:extLst>
              <a:ext uri="{FF2B5EF4-FFF2-40B4-BE49-F238E27FC236}">
                <a16:creationId xmlns:a16="http://schemas.microsoft.com/office/drawing/2014/main" id="{6FCF9A47-57C4-D983-7A09-62A1C2DDB6B4}"/>
              </a:ext>
            </a:extLst>
          </p:cNvPr>
          <p:cNvSpPr/>
          <p:nvPr/>
        </p:nvSpPr>
        <p:spPr>
          <a:xfrm>
            <a:off x="1184666" y="2810458"/>
            <a:ext cx="307084" cy="555808"/>
          </a:xfrm>
          <a:custGeom>
            <a:avLst/>
            <a:gdLst/>
            <a:ahLst/>
            <a:cxnLst/>
            <a:rect l="l" t="t" r="r" b="b"/>
            <a:pathLst>
              <a:path w="307084" h="555808">
                <a:moveTo>
                  <a:pt x="0" y="0"/>
                </a:moveTo>
                <a:lnTo>
                  <a:pt x="307084" y="0"/>
                </a:lnTo>
                <a:lnTo>
                  <a:pt x="307084" y="555808"/>
                </a:lnTo>
                <a:lnTo>
                  <a:pt x="0" y="555808"/>
                </a:lnTo>
                <a:lnTo>
                  <a:pt x="0" y="0"/>
                </a:lnTo>
                <a:close/>
              </a:path>
            </a:pathLst>
          </a:custGeom>
          <a:blipFill>
            <a:blip cstate="screen">
              <a:extLst>
                <a:ext uri="{28A0092B-C50C-407E-A947-70E740481C1C}">
                  <a14:useLocalDpi xmlns:a14="http://schemas.microsoft.com/office/drawing/2010/main"/>
                </a:ext>
                <a:ext uri="{96DAC541-7B7A-43D3-8B79-37D633B846F1}">
                  <asvg:svgBlip xmlns:asvg="http://schemas.microsoft.com/office/drawing/2016/SVG/main" r:embed="rId5"/>
                </a:ext>
              </a:extLst>
            </a:blip>
            <a:stretch>
              <a:fillRect/>
            </a:stretch>
          </a:blipFill>
        </p:spPr>
        <p:txBody>
          <a:bodyPr/>
          <a:lstStyle/>
          <a:p>
            <a:endParaRPr lang="ja-JP" altLang="en-US">
              <a:latin typeface="メイリオ" panose="020B0604030504040204" pitchFamily="50" charset="-128"/>
              <a:ea typeface="メイリオ" panose="020B0604030504040204" pitchFamily="50" charset="-128"/>
            </a:endParaRPr>
          </a:p>
        </p:txBody>
      </p:sp>
      <p:sp>
        <p:nvSpPr>
          <p:cNvPr id="22" name="Freeform 14">
            <a:extLst>
              <a:ext uri="{FF2B5EF4-FFF2-40B4-BE49-F238E27FC236}">
                <a16:creationId xmlns:a16="http://schemas.microsoft.com/office/drawing/2014/main" id="{EFB8EAC2-A5C6-6450-209B-316F851133C9}"/>
              </a:ext>
            </a:extLst>
          </p:cNvPr>
          <p:cNvSpPr/>
          <p:nvPr/>
        </p:nvSpPr>
        <p:spPr>
          <a:xfrm>
            <a:off x="1815677" y="2807175"/>
            <a:ext cx="397893" cy="397893"/>
          </a:xfrm>
          <a:custGeom>
            <a:avLst/>
            <a:gdLst/>
            <a:ahLst/>
            <a:cxnLst/>
            <a:rect l="l" t="t" r="r" b="b"/>
            <a:pathLst>
              <a:path w="397893" h="397893">
                <a:moveTo>
                  <a:pt x="0" y="0"/>
                </a:moveTo>
                <a:lnTo>
                  <a:pt x="397893" y="0"/>
                </a:lnTo>
                <a:lnTo>
                  <a:pt x="397893" y="397892"/>
                </a:lnTo>
                <a:lnTo>
                  <a:pt x="0" y="397892"/>
                </a:lnTo>
                <a:lnTo>
                  <a:pt x="0" y="0"/>
                </a:lnTo>
                <a:close/>
              </a:path>
            </a:pathLst>
          </a:custGeom>
          <a:blipFill>
            <a:blip cstate="screen">
              <a:extLst>
                <a:ext uri="{28A0092B-C50C-407E-A947-70E740481C1C}">
                  <a14:useLocalDpi xmlns:a14="http://schemas.microsoft.com/office/drawing/2010/main"/>
                </a:ext>
                <a:ext uri="{96DAC541-7B7A-43D3-8B79-37D633B846F1}">
                  <asvg:svgBlip xmlns:asvg="http://schemas.microsoft.com/office/drawing/2016/SVG/main" r:embed="rId6"/>
                </a:ext>
              </a:extLst>
            </a:blip>
            <a:stretch>
              <a:fillRect/>
            </a:stretch>
          </a:blipFill>
        </p:spPr>
        <p:txBody>
          <a:bodyPr/>
          <a:lstStyle/>
          <a:p>
            <a:endParaRPr lang="ja-JP" altLang="en-US">
              <a:latin typeface="メイリオ" panose="020B0604030504040204" pitchFamily="50" charset="-128"/>
              <a:ea typeface="メイリオ" panose="020B0604030504040204" pitchFamily="50" charset="-128"/>
            </a:endParaRPr>
          </a:p>
        </p:txBody>
      </p:sp>
      <p:sp>
        <p:nvSpPr>
          <p:cNvPr id="24" name="TextBox 16">
            <a:extLst>
              <a:ext uri="{FF2B5EF4-FFF2-40B4-BE49-F238E27FC236}">
                <a16:creationId xmlns:a16="http://schemas.microsoft.com/office/drawing/2014/main" id="{654B7271-F862-F3D1-E65A-6C75F2F9021C}"/>
              </a:ext>
            </a:extLst>
          </p:cNvPr>
          <p:cNvSpPr txBox="1"/>
          <p:nvPr/>
        </p:nvSpPr>
        <p:spPr>
          <a:xfrm>
            <a:off x="2903784" y="3579302"/>
            <a:ext cx="2520582" cy="302006"/>
          </a:xfrm>
          <a:prstGeom prst="rect">
            <a:avLst/>
          </a:prstGeom>
        </p:spPr>
        <p:txBody>
          <a:bodyPr lIns="0" tIns="0" rIns="0" bIns="0" rtlCol="0" anchor="t">
            <a:spAutoFit/>
          </a:bodyPr>
          <a:lstStyle/>
          <a:p>
            <a:pPr algn="ctr">
              <a:lnSpc>
                <a:spcPts val="2455"/>
              </a:lnSpc>
            </a:pPr>
            <a:r>
              <a:rPr lang="en-US" sz="1400">
                <a:solidFill>
                  <a:srgbClr val="040606"/>
                </a:solidFill>
                <a:latin typeface="メイリオ" panose="020B0604030504040204" pitchFamily="50" charset="-128"/>
                <a:ea typeface="メイリオ" panose="020B0604030504040204" pitchFamily="50" charset="-128"/>
              </a:rPr>
              <a:t>メールマガジン</a:t>
            </a:r>
          </a:p>
        </p:txBody>
      </p:sp>
      <p:grpSp>
        <p:nvGrpSpPr>
          <p:cNvPr id="26" name="Group 18">
            <a:extLst>
              <a:ext uri="{FF2B5EF4-FFF2-40B4-BE49-F238E27FC236}">
                <a16:creationId xmlns:a16="http://schemas.microsoft.com/office/drawing/2014/main" id="{E238BF15-71F6-4126-96D0-3C58C8B7CB25}"/>
              </a:ext>
            </a:extLst>
          </p:cNvPr>
          <p:cNvGrpSpPr/>
          <p:nvPr/>
        </p:nvGrpSpPr>
        <p:grpSpPr>
          <a:xfrm>
            <a:off x="4026555" y="3972737"/>
            <a:ext cx="275039" cy="129913"/>
            <a:chOff x="0" y="0"/>
            <a:chExt cx="812800" cy="383922"/>
          </a:xfrm>
        </p:grpSpPr>
        <p:sp>
          <p:nvSpPr>
            <p:cNvPr id="27" name="Freeform 19">
              <a:extLst>
                <a:ext uri="{FF2B5EF4-FFF2-40B4-BE49-F238E27FC236}">
                  <a16:creationId xmlns:a16="http://schemas.microsoft.com/office/drawing/2014/main" id="{49FE6727-4EE8-5C24-6048-CAC6C3CB48D0}"/>
                </a:ext>
              </a:extLst>
            </p:cNvPr>
            <p:cNvSpPr/>
            <p:nvPr/>
          </p:nvSpPr>
          <p:spPr>
            <a:xfrm>
              <a:off x="0" y="0"/>
              <a:ext cx="812800" cy="383922"/>
            </a:xfrm>
            <a:custGeom>
              <a:avLst/>
              <a:gdLst/>
              <a:ahLst/>
              <a:cxnLst/>
              <a:rect l="l" t="t" r="r" b="b"/>
              <a:pathLst>
                <a:path w="812800" h="383922">
                  <a:moveTo>
                    <a:pt x="406400" y="383922"/>
                  </a:moveTo>
                  <a:lnTo>
                    <a:pt x="812800" y="0"/>
                  </a:lnTo>
                  <a:lnTo>
                    <a:pt x="0" y="0"/>
                  </a:lnTo>
                  <a:lnTo>
                    <a:pt x="406400" y="383922"/>
                  </a:lnTo>
                  <a:close/>
                </a:path>
              </a:pathLst>
            </a:custGeom>
            <a:solidFill>
              <a:srgbClr val="000000"/>
            </a:solidFill>
          </p:spPr>
          <p:txBody>
            <a:bodyPr/>
            <a:lstStyle/>
            <a:p>
              <a:endParaRPr lang="ja-JP" altLang="en-US" sz="1400">
                <a:latin typeface="メイリオ" panose="020B0604030504040204" pitchFamily="50" charset="-128"/>
                <a:ea typeface="メイリオ" panose="020B0604030504040204" pitchFamily="50" charset="-128"/>
              </a:endParaRPr>
            </a:p>
          </p:txBody>
        </p:sp>
        <p:sp>
          <p:nvSpPr>
            <p:cNvPr id="28" name="TextBox 20">
              <a:extLst>
                <a:ext uri="{FF2B5EF4-FFF2-40B4-BE49-F238E27FC236}">
                  <a16:creationId xmlns:a16="http://schemas.microsoft.com/office/drawing/2014/main" id="{D00B2C25-C04A-579B-6514-18301F922DD2}"/>
                </a:ext>
              </a:extLst>
            </p:cNvPr>
            <p:cNvSpPr txBox="1"/>
            <p:nvPr/>
          </p:nvSpPr>
          <p:spPr>
            <a:xfrm>
              <a:off x="127000" y="-20202"/>
              <a:ext cx="558800" cy="225874"/>
            </a:xfrm>
            <a:prstGeom prst="rect">
              <a:avLst/>
            </a:prstGeom>
          </p:spPr>
          <p:txBody>
            <a:bodyPr lIns="29700" tIns="29700" rIns="29700" bIns="29700" rtlCol="0" anchor="ctr"/>
            <a:lstStyle/>
            <a:p>
              <a:pPr algn="ctr">
                <a:lnSpc>
                  <a:spcPts val="2046"/>
                </a:lnSpc>
              </a:pPr>
              <a:endParaRPr sz="1400">
                <a:latin typeface="メイリオ" panose="020B0604030504040204" pitchFamily="50" charset="-128"/>
                <a:ea typeface="メイリオ" panose="020B0604030504040204" pitchFamily="50" charset="-128"/>
              </a:endParaRPr>
            </a:p>
          </p:txBody>
        </p:sp>
      </p:grpSp>
      <p:sp>
        <p:nvSpPr>
          <p:cNvPr id="32" name="AutoShape 24">
            <a:extLst>
              <a:ext uri="{FF2B5EF4-FFF2-40B4-BE49-F238E27FC236}">
                <a16:creationId xmlns:a16="http://schemas.microsoft.com/office/drawing/2014/main" id="{E12D8DCD-6939-B3D3-8747-7AB267084175}"/>
              </a:ext>
            </a:extLst>
          </p:cNvPr>
          <p:cNvSpPr/>
          <p:nvPr/>
        </p:nvSpPr>
        <p:spPr>
          <a:xfrm>
            <a:off x="1044962" y="4660284"/>
            <a:ext cx="7854082" cy="7039"/>
          </a:xfrm>
          <a:prstGeom prst="line">
            <a:avLst/>
          </a:prstGeom>
          <a:ln w="19050" cap="flat">
            <a:solidFill>
              <a:srgbClr val="000000"/>
            </a:solidFill>
            <a:prstDash val="sysDot"/>
            <a:headEnd type="none" w="sm" len="sm"/>
            <a:tailEnd type="none" w="sm" len="sm"/>
          </a:ln>
        </p:spPr>
        <p:txBody>
          <a:bodyPr/>
          <a:lstStyle/>
          <a:p>
            <a:endParaRPr lang="ja-JP" altLang="en-US" sz="1400">
              <a:latin typeface="メイリオ" panose="020B0604030504040204" pitchFamily="50" charset="-128"/>
              <a:ea typeface="メイリオ" panose="020B0604030504040204" pitchFamily="50" charset="-128"/>
            </a:endParaRPr>
          </a:p>
        </p:txBody>
      </p:sp>
      <p:sp>
        <p:nvSpPr>
          <p:cNvPr id="33" name="TextBox 25">
            <a:extLst>
              <a:ext uri="{FF2B5EF4-FFF2-40B4-BE49-F238E27FC236}">
                <a16:creationId xmlns:a16="http://schemas.microsoft.com/office/drawing/2014/main" id="{27ACB4CE-9593-D530-6FC9-45474D0A87C8}"/>
              </a:ext>
            </a:extLst>
          </p:cNvPr>
          <p:cNvSpPr txBox="1"/>
          <p:nvPr/>
        </p:nvSpPr>
        <p:spPr>
          <a:xfrm>
            <a:off x="2752051" y="4197408"/>
            <a:ext cx="2937353" cy="302006"/>
          </a:xfrm>
          <a:prstGeom prst="rect">
            <a:avLst/>
          </a:prstGeom>
        </p:spPr>
        <p:txBody>
          <a:bodyPr lIns="0" tIns="0" rIns="0" bIns="0" rtlCol="0" anchor="t">
            <a:spAutoFit/>
          </a:bodyPr>
          <a:lstStyle/>
          <a:p>
            <a:pPr>
              <a:lnSpc>
                <a:spcPts val="2455"/>
              </a:lnSpc>
            </a:pPr>
            <a:r>
              <a:rPr lang="en-US" sz="1400">
                <a:solidFill>
                  <a:srgbClr val="040606"/>
                </a:solidFill>
                <a:latin typeface="メイリオ" panose="020B0604030504040204" pitchFamily="50" charset="-128"/>
                <a:ea typeface="メイリオ" panose="020B0604030504040204" pitchFamily="50" charset="-128"/>
              </a:rPr>
              <a:t>入力が面倒・間違いが発生</a:t>
            </a:r>
          </a:p>
        </p:txBody>
      </p:sp>
      <p:sp>
        <p:nvSpPr>
          <p:cNvPr id="34" name="AutoShape 26">
            <a:extLst>
              <a:ext uri="{FF2B5EF4-FFF2-40B4-BE49-F238E27FC236}">
                <a16:creationId xmlns:a16="http://schemas.microsoft.com/office/drawing/2014/main" id="{9DFA3AA3-EC46-59A7-ACD8-CFBFB3E6AC42}"/>
              </a:ext>
            </a:extLst>
          </p:cNvPr>
          <p:cNvSpPr/>
          <p:nvPr/>
        </p:nvSpPr>
        <p:spPr>
          <a:xfrm>
            <a:off x="2752093" y="3967169"/>
            <a:ext cx="2952531" cy="11138"/>
          </a:xfrm>
          <a:prstGeom prst="line">
            <a:avLst/>
          </a:prstGeom>
          <a:ln w="19050" cap="flat">
            <a:solidFill>
              <a:srgbClr val="000000"/>
            </a:solidFill>
            <a:prstDash val="solid"/>
            <a:headEnd type="none" w="sm" len="sm"/>
            <a:tailEnd type="none" w="sm" len="sm"/>
          </a:ln>
        </p:spPr>
        <p:txBody>
          <a:bodyPr/>
          <a:lstStyle/>
          <a:p>
            <a:endParaRPr lang="ja-JP" altLang="en-US" sz="1400">
              <a:latin typeface="メイリオ" panose="020B0604030504040204" pitchFamily="50" charset="-128"/>
              <a:ea typeface="メイリオ" panose="020B0604030504040204" pitchFamily="50" charset="-128"/>
            </a:endParaRPr>
          </a:p>
        </p:txBody>
      </p:sp>
      <p:sp>
        <p:nvSpPr>
          <p:cNvPr id="35" name="TextBox 27">
            <a:extLst>
              <a:ext uri="{FF2B5EF4-FFF2-40B4-BE49-F238E27FC236}">
                <a16:creationId xmlns:a16="http://schemas.microsoft.com/office/drawing/2014/main" id="{8CBB54AF-4E8A-1541-1FBC-0122997F4D92}"/>
              </a:ext>
            </a:extLst>
          </p:cNvPr>
          <p:cNvSpPr txBox="1"/>
          <p:nvPr/>
        </p:nvSpPr>
        <p:spPr>
          <a:xfrm>
            <a:off x="2752051" y="4775623"/>
            <a:ext cx="2937353" cy="294311"/>
          </a:xfrm>
          <a:prstGeom prst="rect">
            <a:avLst/>
          </a:prstGeom>
        </p:spPr>
        <p:txBody>
          <a:bodyPr lIns="0" tIns="0" rIns="0" bIns="0" rtlCol="0" anchor="t">
            <a:spAutoFit/>
          </a:bodyPr>
          <a:lstStyle/>
          <a:p>
            <a:pPr>
              <a:lnSpc>
                <a:spcPts val="2455"/>
              </a:lnSpc>
            </a:pPr>
            <a:r>
              <a:rPr lang="en-US" sz="1400">
                <a:solidFill>
                  <a:srgbClr val="040606"/>
                </a:solidFill>
                <a:latin typeface="メイリオ" panose="020B0604030504040204" pitchFamily="50" charset="-128"/>
                <a:ea typeface="メイリオ" panose="020B0604030504040204" pitchFamily="50" charset="-128"/>
              </a:rPr>
              <a:t>迷惑メールなどに入る</a:t>
            </a:r>
          </a:p>
        </p:txBody>
      </p:sp>
      <p:sp>
        <p:nvSpPr>
          <p:cNvPr id="36" name="TextBox 28">
            <a:extLst>
              <a:ext uri="{FF2B5EF4-FFF2-40B4-BE49-F238E27FC236}">
                <a16:creationId xmlns:a16="http://schemas.microsoft.com/office/drawing/2014/main" id="{1890926C-AAF3-81C2-B57E-1FF89EF56E37}"/>
              </a:ext>
            </a:extLst>
          </p:cNvPr>
          <p:cNvSpPr txBox="1"/>
          <p:nvPr/>
        </p:nvSpPr>
        <p:spPr>
          <a:xfrm>
            <a:off x="2752051" y="5354773"/>
            <a:ext cx="2937353" cy="294311"/>
          </a:xfrm>
          <a:prstGeom prst="rect">
            <a:avLst/>
          </a:prstGeom>
        </p:spPr>
        <p:txBody>
          <a:bodyPr lIns="0" tIns="0" rIns="0" bIns="0" rtlCol="0" anchor="t">
            <a:spAutoFit/>
          </a:bodyPr>
          <a:lstStyle/>
          <a:p>
            <a:pPr>
              <a:lnSpc>
                <a:spcPts val="2455"/>
              </a:lnSpc>
            </a:pPr>
            <a:r>
              <a:rPr lang="en-US" sz="1400">
                <a:solidFill>
                  <a:srgbClr val="040606"/>
                </a:solidFill>
                <a:latin typeface="メイリオ" panose="020B0604030504040204" pitchFamily="50" charset="-128"/>
                <a:ea typeface="メイリオ" panose="020B0604030504040204" pitchFamily="50" charset="-128"/>
              </a:rPr>
              <a:t>10％</a:t>
            </a:r>
          </a:p>
        </p:txBody>
      </p:sp>
      <p:sp>
        <p:nvSpPr>
          <p:cNvPr id="37" name="TextBox 29">
            <a:extLst>
              <a:ext uri="{FF2B5EF4-FFF2-40B4-BE49-F238E27FC236}">
                <a16:creationId xmlns:a16="http://schemas.microsoft.com/office/drawing/2014/main" id="{EBE70ABF-86A0-2A2F-6768-A1AE13D1152D}"/>
              </a:ext>
            </a:extLst>
          </p:cNvPr>
          <p:cNvSpPr txBox="1"/>
          <p:nvPr/>
        </p:nvSpPr>
        <p:spPr>
          <a:xfrm>
            <a:off x="2752051" y="5933924"/>
            <a:ext cx="2937353" cy="294311"/>
          </a:xfrm>
          <a:prstGeom prst="rect">
            <a:avLst/>
          </a:prstGeom>
        </p:spPr>
        <p:txBody>
          <a:bodyPr lIns="0" tIns="0" rIns="0" bIns="0" rtlCol="0" anchor="t">
            <a:spAutoFit/>
          </a:bodyPr>
          <a:lstStyle/>
          <a:p>
            <a:pPr>
              <a:lnSpc>
                <a:spcPts val="2455"/>
              </a:lnSpc>
            </a:pPr>
            <a:r>
              <a:rPr lang="en-US" sz="1400">
                <a:solidFill>
                  <a:srgbClr val="040606"/>
                </a:solidFill>
                <a:latin typeface="メイリオ" panose="020B0604030504040204" pitchFamily="50" charset="-128"/>
                <a:ea typeface="メイリオ" panose="020B0604030504040204" pitchFamily="50" charset="-128"/>
              </a:rPr>
              <a:t>1時間</a:t>
            </a:r>
          </a:p>
        </p:txBody>
      </p:sp>
      <p:sp>
        <p:nvSpPr>
          <p:cNvPr id="38" name="AutoShape 30">
            <a:extLst>
              <a:ext uri="{FF2B5EF4-FFF2-40B4-BE49-F238E27FC236}">
                <a16:creationId xmlns:a16="http://schemas.microsoft.com/office/drawing/2014/main" id="{2AEB91F9-20AE-78E3-90FC-95BDACB17800}"/>
              </a:ext>
            </a:extLst>
          </p:cNvPr>
          <p:cNvSpPr/>
          <p:nvPr/>
        </p:nvSpPr>
        <p:spPr>
          <a:xfrm>
            <a:off x="1044994" y="5247985"/>
            <a:ext cx="7854082" cy="7039"/>
          </a:xfrm>
          <a:prstGeom prst="line">
            <a:avLst/>
          </a:prstGeom>
          <a:ln w="19050" cap="flat">
            <a:solidFill>
              <a:srgbClr val="000000"/>
            </a:solidFill>
            <a:prstDash val="sysDot"/>
            <a:headEnd type="none" w="sm" len="sm"/>
            <a:tailEnd type="none" w="sm" len="sm"/>
          </a:ln>
        </p:spPr>
        <p:txBody>
          <a:bodyPr/>
          <a:lstStyle/>
          <a:p>
            <a:endParaRPr lang="ja-JP" altLang="en-US" sz="1400">
              <a:latin typeface="メイリオ" panose="020B0604030504040204" pitchFamily="50" charset="-128"/>
              <a:ea typeface="メイリオ" panose="020B0604030504040204" pitchFamily="50" charset="-128"/>
            </a:endParaRPr>
          </a:p>
        </p:txBody>
      </p:sp>
      <p:sp>
        <p:nvSpPr>
          <p:cNvPr id="39" name="AutoShape 31">
            <a:extLst>
              <a:ext uri="{FF2B5EF4-FFF2-40B4-BE49-F238E27FC236}">
                <a16:creationId xmlns:a16="http://schemas.microsoft.com/office/drawing/2014/main" id="{8CA9232F-EFCD-0685-4172-87FA8B803443}"/>
              </a:ext>
            </a:extLst>
          </p:cNvPr>
          <p:cNvSpPr/>
          <p:nvPr/>
        </p:nvSpPr>
        <p:spPr>
          <a:xfrm>
            <a:off x="1044952" y="5806130"/>
            <a:ext cx="7854082" cy="7039"/>
          </a:xfrm>
          <a:prstGeom prst="line">
            <a:avLst/>
          </a:prstGeom>
          <a:ln w="19050" cap="flat">
            <a:solidFill>
              <a:srgbClr val="000000"/>
            </a:solidFill>
            <a:prstDash val="sysDot"/>
            <a:headEnd type="none" w="sm" len="sm"/>
            <a:tailEnd type="none" w="sm" len="sm"/>
          </a:ln>
        </p:spPr>
        <p:txBody>
          <a:bodyPr/>
          <a:lstStyle/>
          <a:p>
            <a:endParaRPr lang="ja-JP" altLang="en-US" sz="1400">
              <a:latin typeface="メイリオ" panose="020B0604030504040204" pitchFamily="50" charset="-128"/>
              <a:ea typeface="メイリオ" panose="020B0604030504040204" pitchFamily="50" charset="-128"/>
            </a:endParaRPr>
          </a:p>
        </p:txBody>
      </p:sp>
      <p:sp>
        <p:nvSpPr>
          <p:cNvPr id="40" name="TextBox 32">
            <a:extLst>
              <a:ext uri="{FF2B5EF4-FFF2-40B4-BE49-F238E27FC236}">
                <a16:creationId xmlns:a16="http://schemas.microsoft.com/office/drawing/2014/main" id="{0A70F695-8166-2256-5FDF-4F5178646823}"/>
              </a:ext>
            </a:extLst>
          </p:cNvPr>
          <p:cNvSpPr txBox="1"/>
          <p:nvPr/>
        </p:nvSpPr>
        <p:spPr>
          <a:xfrm>
            <a:off x="1184666" y="4779163"/>
            <a:ext cx="2937353" cy="294311"/>
          </a:xfrm>
          <a:prstGeom prst="rect">
            <a:avLst/>
          </a:prstGeom>
        </p:spPr>
        <p:txBody>
          <a:bodyPr lIns="0" tIns="0" rIns="0" bIns="0" rtlCol="0" anchor="t">
            <a:spAutoFit/>
          </a:bodyPr>
          <a:lstStyle/>
          <a:p>
            <a:pPr>
              <a:lnSpc>
                <a:spcPts val="2455"/>
              </a:lnSpc>
            </a:pPr>
            <a:r>
              <a:rPr lang="en-US" sz="1400">
                <a:solidFill>
                  <a:srgbClr val="040606"/>
                </a:solidFill>
                <a:latin typeface="メイリオ" panose="020B0604030504040204" pitchFamily="50" charset="-128"/>
                <a:ea typeface="メイリオ" panose="020B0604030504040204" pitchFamily="50" charset="-128"/>
              </a:rPr>
              <a:t>到達</a:t>
            </a:r>
          </a:p>
        </p:txBody>
      </p:sp>
      <p:sp>
        <p:nvSpPr>
          <p:cNvPr id="41" name="TextBox 33">
            <a:extLst>
              <a:ext uri="{FF2B5EF4-FFF2-40B4-BE49-F238E27FC236}">
                <a16:creationId xmlns:a16="http://schemas.microsoft.com/office/drawing/2014/main" id="{85D3D6AF-3D79-C393-385D-3C63168F89A4}"/>
              </a:ext>
            </a:extLst>
          </p:cNvPr>
          <p:cNvSpPr txBox="1"/>
          <p:nvPr/>
        </p:nvSpPr>
        <p:spPr>
          <a:xfrm>
            <a:off x="1184666" y="5352087"/>
            <a:ext cx="2937353" cy="294311"/>
          </a:xfrm>
          <a:prstGeom prst="rect">
            <a:avLst/>
          </a:prstGeom>
        </p:spPr>
        <p:txBody>
          <a:bodyPr lIns="0" tIns="0" rIns="0" bIns="0" rtlCol="0" anchor="t">
            <a:spAutoFit/>
          </a:bodyPr>
          <a:lstStyle/>
          <a:p>
            <a:pPr>
              <a:lnSpc>
                <a:spcPts val="2455"/>
              </a:lnSpc>
            </a:pPr>
            <a:r>
              <a:rPr lang="en-US" sz="1400">
                <a:solidFill>
                  <a:srgbClr val="040606"/>
                </a:solidFill>
                <a:latin typeface="メイリオ" panose="020B0604030504040204" pitchFamily="50" charset="-128"/>
                <a:ea typeface="メイリオ" panose="020B0604030504040204" pitchFamily="50" charset="-128"/>
              </a:rPr>
              <a:t>開封率</a:t>
            </a:r>
          </a:p>
        </p:txBody>
      </p:sp>
      <p:sp>
        <p:nvSpPr>
          <p:cNvPr id="42" name="TextBox 34">
            <a:extLst>
              <a:ext uri="{FF2B5EF4-FFF2-40B4-BE49-F238E27FC236}">
                <a16:creationId xmlns:a16="http://schemas.microsoft.com/office/drawing/2014/main" id="{C2F1559D-703E-EACC-8125-BCED5B42B895}"/>
              </a:ext>
            </a:extLst>
          </p:cNvPr>
          <p:cNvSpPr txBox="1"/>
          <p:nvPr/>
        </p:nvSpPr>
        <p:spPr>
          <a:xfrm>
            <a:off x="1184666" y="5933924"/>
            <a:ext cx="2937353" cy="294311"/>
          </a:xfrm>
          <a:prstGeom prst="rect">
            <a:avLst/>
          </a:prstGeom>
        </p:spPr>
        <p:txBody>
          <a:bodyPr lIns="0" tIns="0" rIns="0" bIns="0" rtlCol="0" anchor="t">
            <a:spAutoFit/>
          </a:bodyPr>
          <a:lstStyle/>
          <a:p>
            <a:pPr>
              <a:lnSpc>
                <a:spcPts val="2455"/>
              </a:lnSpc>
            </a:pPr>
            <a:r>
              <a:rPr lang="en-US" sz="1400">
                <a:solidFill>
                  <a:srgbClr val="040606"/>
                </a:solidFill>
                <a:latin typeface="メイリオ" panose="020B0604030504040204" pitchFamily="50" charset="-128"/>
                <a:ea typeface="メイリオ" panose="020B0604030504040204" pitchFamily="50" charset="-128"/>
              </a:rPr>
              <a:t>開封まで</a:t>
            </a:r>
          </a:p>
        </p:txBody>
      </p:sp>
      <p:sp>
        <p:nvSpPr>
          <p:cNvPr id="47" name="Google Shape;156;p7"/>
          <p:cNvSpPr txBox="1"/>
          <p:nvPr/>
        </p:nvSpPr>
        <p:spPr>
          <a:xfrm>
            <a:off x="548883" y="138118"/>
            <a:ext cx="6514857" cy="338554"/>
          </a:xfrm>
          <a:prstGeom prst="rect">
            <a:avLst/>
          </a:prstGeom>
          <a:noFill/>
          <a:ln w="19050">
            <a:noFill/>
          </a:ln>
        </p:spPr>
        <p:txBody>
          <a:bodyPr spcFirstLastPara="1" wrap="square" lIns="91425" tIns="45700" rIns="91425" bIns="45700" anchor="ctr" anchorCtr="0">
            <a:spAutoFit/>
          </a:bodyPr>
          <a:lstStyle/>
          <a:p>
            <a:pPr marL="0" marR="0" lvl="0" indent="0" algn="l" rtl="0">
              <a:spcBef>
                <a:spcPts val="0"/>
              </a:spcBef>
              <a:spcAft>
                <a:spcPts val="0"/>
              </a:spcAft>
              <a:buClr>
                <a:srgbClr val="002060"/>
              </a:buClr>
              <a:buSzPts val="1600"/>
              <a:buFont typeface="Arial"/>
              <a:buNone/>
            </a:pPr>
            <a:r>
              <a:rPr lang="en-US" altLang="ja-JP" sz="1600" b="1" dirty="0">
                <a:solidFill>
                  <a:srgbClr val="002060"/>
                </a:solidFill>
                <a:latin typeface="Meiryo"/>
                <a:ea typeface="Meiryo"/>
                <a:cs typeface="Meiryo"/>
                <a:sym typeface="Meiryo"/>
              </a:rPr>
              <a:t>LINE</a:t>
            </a:r>
            <a:r>
              <a:rPr lang="ja-JP" altLang="en-US" sz="1600" b="1" dirty="0">
                <a:solidFill>
                  <a:srgbClr val="002060"/>
                </a:solidFill>
                <a:latin typeface="Meiryo"/>
                <a:ea typeface="Meiryo"/>
                <a:cs typeface="Meiryo"/>
                <a:sym typeface="Meiryo"/>
              </a:rPr>
              <a:t>公式アカウントを検討する背景</a:t>
            </a:r>
            <a:endParaRPr sz="1600" b="1" dirty="0">
              <a:solidFill>
                <a:srgbClr val="002060"/>
              </a:solidFill>
              <a:latin typeface="Meiryo"/>
              <a:ea typeface="Meiryo"/>
              <a:cs typeface="Meiryo"/>
              <a:sym typeface="Meiryo"/>
            </a:endParaRPr>
          </a:p>
        </p:txBody>
      </p:sp>
      <p:sp>
        <p:nvSpPr>
          <p:cNvPr id="2" name="正方形/長方形 1">
            <a:extLst>
              <a:ext uri="{FF2B5EF4-FFF2-40B4-BE49-F238E27FC236}">
                <a16:creationId xmlns:a16="http://schemas.microsoft.com/office/drawing/2014/main" id="{89DE5776-5C26-CF86-01D7-D84844A782CF}"/>
              </a:ext>
            </a:extLst>
          </p:cNvPr>
          <p:cNvSpPr/>
          <p:nvPr/>
        </p:nvSpPr>
        <p:spPr>
          <a:xfrm>
            <a:off x="5783983" y="3545570"/>
            <a:ext cx="3333054" cy="2822520"/>
          </a:xfrm>
          <a:prstGeom prst="rect">
            <a:avLst/>
          </a:prstGeom>
          <a:solidFill>
            <a:srgbClr val="FF0000">
              <a:alpha val="10000"/>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600" b="1"/>
          </a:p>
        </p:txBody>
      </p:sp>
      <p:sp>
        <p:nvSpPr>
          <p:cNvPr id="3" name="AutoShape 15">
            <a:extLst>
              <a:ext uri="{FF2B5EF4-FFF2-40B4-BE49-F238E27FC236}">
                <a16:creationId xmlns:a16="http://schemas.microsoft.com/office/drawing/2014/main" id="{0D44F6AF-095D-1CA0-2D98-25F7DB03466E}"/>
              </a:ext>
            </a:extLst>
          </p:cNvPr>
          <p:cNvSpPr/>
          <p:nvPr/>
        </p:nvSpPr>
        <p:spPr>
          <a:xfrm>
            <a:off x="5946513" y="3983875"/>
            <a:ext cx="2952531" cy="11137"/>
          </a:xfrm>
          <a:prstGeom prst="line">
            <a:avLst/>
          </a:prstGeom>
          <a:ln w="19050" cap="flat">
            <a:solidFill>
              <a:srgbClr val="00B900"/>
            </a:solidFill>
            <a:prstDash val="solid"/>
            <a:headEnd type="none" w="sm" len="sm"/>
            <a:tailEnd type="none" w="sm" len="sm"/>
          </a:ln>
        </p:spPr>
        <p:txBody>
          <a:bodyPr/>
          <a:lstStyle/>
          <a:p>
            <a:endParaRPr lang="ja-JP" altLang="en-US" sz="1400" b="1">
              <a:latin typeface="メイリオ" panose="020B0604030504040204" pitchFamily="50" charset="-128"/>
              <a:ea typeface="メイリオ" panose="020B0604030504040204" pitchFamily="50" charset="-128"/>
            </a:endParaRPr>
          </a:p>
        </p:txBody>
      </p:sp>
      <p:sp>
        <p:nvSpPr>
          <p:cNvPr id="4" name="TextBox 17">
            <a:extLst>
              <a:ext uri="{FF2B5EF4-FFF2-40B4-BE49-F238E27FC236}">
                <a16:creationId xmlns:a16="http://schemas.microsoft.com/office/drawing/2014/main" id="{53BD49FD-8C06-FB39-06D6-3CC078F782FE}"/>
              </a:ext>
            </a:extLst>
          </p:cNvPr>
          <p:cNvSpPr txBox="1"/>
          <p:nvPr/>
        </p:nvSpPr>
        <p:spPr>
          <a:xfrm>
            <a:off x="6162487" y="3579302"/>
            <a:ext cx="2520582" cy="294311"/>
          </a:xfrm>
          <a:prstGeom prst="rect">
            <a:avLst/>
          </a:prstGeom>
        </p:spPr>
        <p:txBody>
          <a:bodyPr lIns="0" tIns="0" rIns="0" bIns="0" rtlCol="0" anchor="t">
            <a:spAutoFit/>
          </a:bodyPr>
          <a:lstStyle/>
          <a:p>
            <a:pPr algn="ctr">
              <a:lnSpc>
                <a:spcPts val="2455"/>
              </a:lnSpc>
            </a:pPr>
            <a:r>
              <a:rPr lang="en-US" sz="1400" b="1">
                <a:solidFill>
                  <a:srgbClr val="00B449"/>
                </a:solidFill>
                <a:latin typeface="メイリオ" panose="020B0604030504040204" pitchFamily="50" charset="-128"/>
                <a:ea typeface="メイリオ" panose="020B0604030504040204" pitchFamily="50" charset="-128"/>
              </a:rPr>
              <a:t>LINE</a:t>
            </a:r>
          </a:p>
        </p:txBody>
      </p:sp>
      <p:grpSp>
        <p:nvGrpSpPr>
          <p:cNvPr id="5" name="Group 21">
            <a:extLst>
              <a:ext uri="{FF2B5EF4-FFF2-40B4-BE49-F238E27FC236}">
                <a16:creationId xmlns:a16="http://schemas.microsoft.com/office/drawing/2014/main" id="{365678CD-DBE8-11A0-DE97-1E3489051004}"/>
              </a:ext>
            </a:extLst>
          </p:cNvPr>
          <p:cNvGrpSpPr/>
          <p:nvPr/>
        </p:nvGrpSpPr>
        <p:grpSpPr>
          <a:xfrm>
            <a:off x="7261679" y="3983875"/>
            <a:ext cx="322198" cy="152188"/>
            <a:chOff x="0" y="0"/>
            <a:chExt cx="812800" cy="383922"/>
          </a:xfrm>
        </p:grpSpPr>
        <p:sp>
          <p:nvSpPr>
            <p:cNvPr id="6" name="Freeform 22">
              <a:extLst>
                <a:ext uri="{FF2B5EF4-FFF2-40B4-BE49-F238E27FC236}">
                  <a16:creationId xmlns:a16="http://schemas.microsoft.com/office/drawing/2014/main" id="{FF803387-EA72-D3D7-22AE-52C01E0790A8}"/>
                </a:ext>
              </a:extLst>
            </p:cNvPr>
            <p:cNvSpPr/>
            <p:nvPr/>
          </p:nvSpPr>
          <p:spPr>
            <a:xfrm>
              <a:off x="0" y="0"/>
              <a:ext cx="812800" cy="383922"/>
            </a:xfrm>
            <a:custGeom>
              <a:avLst/>
              <a:gdLst/>
              <a:ahLst/>
              <a:cxnLst/>
              <a:rect l="l" t="t" r="r" b="b"/>
              <a:pathLst>
                <a:path w="812800" h="383922">
                  <a:moveTo>
                    <a:pt x="406400" y="383922"/>
                  </a:moveTo>
                  <a:lnTo>
                    <a:pt x="812800" y="0"/>
                  </a:lnTo>
                  <a:lnTo>
                    <a:pt x="0" y="0"/>
                  </a:lnTo>
                  <a:lnTo>
                    <a:pt x="406400" y="383922"/>
                  </a:lnTo>
                  <a:close/>
                </a:path>
              </a:pathLst>
            </a:custGeom>
            <a:solidFill>
              <a:srgbClr val="00B449"/>
            </a:solidFill>
          </p:spPr>
          <p:txBody>
            <a:bodyPr/>
            <a:lstStyle/>
            <a:p>
              <a:endParaRPr lang="ja-JP" altLang="en-US" sz="1400" b="1">
                <a:latin typeface="メイリオ" panose="020B0604030504040204" pitchFamily="50" charset="-128"/>
                <a:ea typeface="メイリオ" panose="020B0604030504040204" pitchFamily="50" charset="-128"/>
              </a:endParaRPr>
            </a:p>
          </p:txBody>
        </p:sp>
        <p:sp>
          <p:nvSpPr>
            <p:cNvPr id="7" name="TextBox 23">
              <a:extLst>
                <a:ext uri="{FF2B5EF4-FFF2-40B4-BE49-F238E27FC236}">
                  <a16:creationId xmlns:a16="http://schemas.microsoft.com/office/drawing/2014/main" id="{268D41FC-63F5-2C69-D721-47F5A47AB26E}"/>
                </a:ext>
              </a:extLst>
            </p:cNvPr>
            <p:cNvSpPr txBox="1"/>
            <p:nvPr/>
          </p:nvSpPr>
          <p:spPr>
            <a:xfrm>
              <a:off x="127000" y="-20202"/>
              <a:ext cx="558800" cy="225874"/>
            </a:xfrm>
            <a:prstGeom prst="rect">
              <a:avLst/>
            </a:prstGeom>
          </p:spPr>
          <p:txBody>
            <a:bodyPr lIns="29700" tIns="29700" rIns="29700" bIns="29700" rtlCol="0" anchor="ctr"/>
            <a:lstStyle/>
            <a:p>
              <a:pPr algn="ctr">
                <a:lnSpc>
                  <a:spcPts val="2046"/>
                </a:lnSpc>
              </a:pPr>
              <a:endParaRPr sz="1400" b="1">
                <a:latin typeface="メイリオ" panose="020B0604030504040204" pitchFamily="50" charset="-128"/>
                <a:ea typeface="メイリオ" panose="020B0604030504040204" pitchFamily="50" charset="-128"/>
              </a:endParaRPr>
            </a:p>
          </p:txBody>
        </p:sp>
      </p:grpSp>
      <p:sp>
        <p:nvSpPr>
          <p:cNvPr id="48" name="TextBox 35">
            <a:extLst>
              <a:ext uri="{FF2B5EF4-FFF2-40B4-BE49-F238E27FC236}">
                <a16:creationId xmlns:a16="http://schemas.microsoft.com/office/drawing/2014/main" id="{EF42718D-116E-9F31-BBCC-5F9118C59FCF}"/>
              </a:ext>
            </a:extLst>
          </p:cNvPr>
          <p:cNvSpPr txBox="1"/>
          <p:nvPr/>
        </p:nvSpPr>
        <p:spPr>
          <a:xfrm>
            <a:off x="5961733" y="4772936"/>
            <a:ext cx="2937353" cy="294311"/>
          </a:xfrm>
          <a:prstGeom prst="rect">
            <a:avLst/>
          </a:prstGeom>
        </p:spPr>
        <p:txBody>
          <a:bodyPr lIns="0" tIns="0" rIns="0" bIns="0" rtlCol="0" anchor="t">
            <a:spAutoFit/>
          </a:bodyPr>
          <a:lstStyle/>
          <a:p>
            <a:pPr>
              <a:lnSpc>
                <a:spcPts val="2455"/>
              </a:lnSpc>
            </a:pPr>
            <a:r>
              <a:rPr lang="en-US" sz="1400" b="1">
                <a:solidFill>
                  <a:srgbClr val="00B449"/>
                </a:solidFill>
                <a:latin typeface="メイリオ" panose="020B0604030504040204" pitchFamily="50" charset="-128"/>
                <a:ea typeface="メイリオ" panose="020B0604030504040204" pitchFamily="50" charset="-128"/>
              </a:rPr>
              <a:t>確実に届く</a:t>
            </a:r>
          </a:p>
        </p:txBody>
      </p:sp>
      <p:sp>
        <p:nvSpPr>
          <p:cNvPr id="49" name="TextBox 36">
            <a:extLst>
              <a:ext uri="{FF2B5EF4-FFF2-40B4-BE49-F238E27FC236}">
                <a16:creationId xmlns:a16="http://schemas.microsoft.com/office/drawing/2014/main" id="{BE477B33-5D35-D414-030E-C48CB175247D}"/>
              </a:ext>
            </a:extLst>
          </p:cNvPr>
          <p:cNvSpPr txBox="1"/>
          <p:nvPr/>
        </p:nvSpPr>
        <p:spPr>
          <a:xfrm>
            <a:off x="5961733" y="5352087"/>
            <a:ext cx="2937353" cy="294311"/>
          </a:xfrm>
          <a:prstGeom prst="rect">
            <a:avLst/>
          </a:prstGeom>
        </p:spPr>
        <p:txBody>
          <a:bodyPr lIns="0" tIns="0" rIns="0" bIns="0" rtlCol="0" anchor="t">
            <a:spAutoFit/>
          </a:bodyPr>
          <a:lstStyle/>
          <a:p>
            <a:pPr>
              <a:lnSpc>
                <a:spcPts val="2455"/>
              </a:lnSpc>
            </a:pPr>
            <a:r>
              <a:rPr lang="en-US" sz="1400" b="1">
                <a:solidFill>
                  <a:srgbClr val="00B449"/>
                </a:solidFill>
                <a:latin typeface="メイリオ" panose="020B0604030504040204" pitchFamily="50" charset="-128"/>
                <a:ea typeface="メイリオ" panose="020B0604030504040204" pitchFamily="50" charset="-128"/>
              </a:rPr>
              <a:t>60％</a:t>
            </a:r>
          </a:p>
        </p:txBody>
      </p:sp>
      <p:sp>
        <p:nvSpPr>
          <p:cNvPr id="50" name="TextBox 37">
            <a:extLst>
              <a:ext uri="{FF2B5EF4-FFF2-40B4-BE49-F238E27FC236}">
                <a16:creationId xmlns:a16="http://schemas.microsoft.com/office/drawing/2014/main" id="{0A436778-3336-3714-957B-826DFB9FCDBE}"/>
              </a:ext>
            </a:extLst>
          </p:cNvPr>
          <p:cNvSpPr txBox="1"/>
          <p:nvPr/>
        </p:nvSpPr>
        <p:spPr>
          <a:xfrm>
            <a:off x="5961733" y="5931237"/>
            <a:ext cx="2937353" cy="294311"/>
          </a:xfrm>
          <a:prstGeom prst="rect">
            <a:avLst/>
          </a:prstGeom>
        </p:spPr>
        <p:txBody>
          <a:bodyPr lIns="0" tIns="0" rIns="0" bIns="0" rtlCol="0" anchor="t">
            <a:spAutoFit/>
          </a:bodyPr>
          <a:lstStyle/>
          <a:p>
            <a:pPr>
              <a:lnSpc>
                <a:spcPts val="2455"/>
              </a:lnSpc>
            </a:pPr>
            <a:r>
              <a:rPr lang="en-US" sz="1400" b="1">
                <a:solidFill>
                  <a:srgbClr val="00B449"/>
                </a:solidFill>
                <a:latin typeface="メイリオ" panose="020B0604030504040204" pitchFamily="50" charset="-128"/>
                <a:ea typeface="メイリオ" panose="020B0604030504040204" pitchFamily="50" charset="-128"/>
              </a:rPr>
              <a:t>15分</a:t>
            </a:r>
          </a:p>
        </p:txBody>
      </p:sp>
      <p:sp>
        <p:nvSpPr>
          <p:cNvPr id="51" name="TextBox 38">
            <a:extLst>
              <a:ext uri="{FF2B5EF4-FFF2-40B4-BE49-F238E27FC236}">
                <a16:creationId xmlns:a16="http://schemas.microsoft.com/office/drawing/2014/main" id="{A5A10008-8C16-4E94-CB60-09FD258B3234}"/>
              </a:ext>
            </a:extLst>
          </p:cNvPr>
          <p:cNvSpPr txBox="1"/>
          <p:nvPr/>
        </p:nvSpPr>
        <p:spPr>
          <a:xfrm>
            <a:off x="5961733" y="4206140"/>
            <a:ext cx="2937353" cy="294311"/>
          </a:xfrm>
          <a:prstGeom prst="rect">
            <a:avLst/>
          </a:prstGeom>
        </p:spPr>
        <p:txBody>
          <a:bodyPr lIns="0" tIns="0" rIns="0" bIns="0" rtlCol="0" anchor="t">
            <a:spAutoFit/>
          </a:bodyPr>
          <a:lstStyle/>
          <a:p>
            <a:pPr>
              <a:lnSpc>
                <a:spcPts val="2455"/>
              </a:lnSpc>
            </a:pPr>
            <a:r>
              <a:rPr lang="en-US" sz="1400" b="1">
                <a:solidFill>
                  <a:srgbClr val="00B449"/>
                </a:solidFill>
                <a:latin typeface="メイリオ" panose="020B0604030504040204" pitchFamily="50" charset="-128"/>
                <a:ea typeface="メイリオ" panose="020B0604030504040204" pitchFamily="50" charset="-128"/>
              </a:rPr>
              <a:t>ワンタップで追加</a:t>
            </a:r>
          </a:p>
        </p:txBody>
      </p:sp>
    </p:spTree>
    <p:extLst>
      <p:ext uri="{BB962C8B-B14F-4D97-AF65-F5344CB8AC3E}">
        <p14:creationId xmlns:p14="http://schemas.microsoft.com/office/powerpoint/2010/main" val="1754297133"/>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正方形/長方形 2">
            <a:extLst>
              <a:ext uri="{FF2B5EF4-FFF2-40B4-BE49-F238E27FC236}">
                <a16:creationId xmlns:a16="http://schemas.microsoft.com/office/drawing/2014/main" id="{0E416A61-B302-4BF8-8730-14A0C8808ABA}"/>
              </a:ext>
            </a:extLst>
          </p:cNvPr>
          <p:cNvSpPr/>
          <p:nvPr/>
        </p:nvSpPr>
        <p:spPr>
          <a:xfrm>
            <a:off x="0" y="577940"/>
            <a:ext cx="9906000" cy="812735"/>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kumimoji="1" lang="ja-JP" altLang="en-US">
              <a:latin typeface="メイリオ" panose="020B0604030504040204" pitchFamily="50" charset="-128"/>
              <a:ea typeface="メイリオ" panose="020B0604030504040204" pitchFamily="50" charset="-128"/>
            </a:endParaRPr>
          </a:p>
        </p:txBody>
      </p:sp>
      <p:sp>
        <p:nvSpPr>
          <p:cNvPr id="4" name="正方形/長方形 3">
            <a:extLst>
              <a:ext uri="{FF2B5EF4-FFF2-40B4-BE49-F238E27FC236}">
                <a16:creationId xmlns:a16="http://schemas.microsoft.com/office/drawing/2014/main" id="{BCB9F207-E933-48A8-A62B-47A12C4BFADB}"/>
              </a:ext>
            </a:extLst>
          </p:cNvPr>
          <p:cNvSpPr/>
          <p:nvPr/>
        </p:nvSpPr>
        <p:spPr>
          <a:xfrm>
            <a:off x="788963" y="793451"/>
            <a:ext cx="8328074" cy="381712"/>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tIns="90000" anchor="ctr"/>
          <a:lstStyle/>
          <a:p>
            <a:pPr algn="ctr">
              <a:lnSpc>
                <a:spcPts val="2455"/>
              </a:lnSpc>
            </a:pPr>
            <a:r>
              <a:rPr lang="en-US" altLang="ja-JP" sz="1400" dirty="0">
                <a:solidFill>
                  <a:srgbClr val="343434"/>
                </a:solidFill>
                <a:latin typeface="メイリオ" panose="020B0604030504040204" pitchFamily="50" charset="-128"/>
                <a:ea typeface="メイリオ" panose="020B0604030504040204" pitchFamily="50" charset="-128"/>
              </a:rPr>
              <a:t>「</a:t>
            </a:r>
            <a:r>
              <a:rPr lang="en-US" altLang="ja-JP" sz="1400" dirty="0" err="1">
                <a:solidFill>
                  <a:srgbClr val="343434"/>
                </a:solidFill>
                <a:latin typeface="メイリオ" panose="020B0604030504040204" pitchFamily="50" charset="-128"/>
                <a:ea typeface="メイリオ" panose="020B0604030504040204" pitchFamily="50" charset="-128"/>
              </a:rPr>
              <a:t>今すぐ客」以外の</a:t>
            </a:r>
            <a:r>
              <a:rPr lang="ja-JP" altLang="en-US" sz="1400" dirty="0">
                <a:solidFill>
                  <a:srgbClr val="343434"/>
                </a:solidFill>
                <a:latin typeface="メイリオ" panose="020B0604030504040204" pitchFamily="50" charset="-128"/>
                <a:ea typeface="メイリオ" panose="020B0604030504040204" pitchFamily="50" charset="-128"/>
              </a:rPr>
              <a:t>約</a:t>
            </a:r>
            <a:r>
              <a:rPr lang="en-US" altLang="ja-JP" sz="1400" dirty="0">
                <a:solidFill>
                  <a:srgbClr val="343434"/>
                </a:solidFill>
                <a:latin typeface="メイリオ" panose="020B0604030504040204" pitchFamily="50" charset="-128"/>
                <a:ea typeface="メイリオ" panose="020B0604030504040204" pitchFamily="50" charset="-128"/>
              </a:rPr>
              <a:t>99％の層をリストマーケティングで顧客に引き上げることが重要。</a:t>
            </a:r>
          </a:p>
          <a:p>
            <a:pPr algn="ctr">
              <a:lnSpc>
                <a:spcPts val="2455"/>
              </a:lnSpc>
            </a:pPr>
            <a:r>
              <a:rPr lang="en-US" altLang="ja-JP" sz="1400" dirty="0" err="1">
                <a:solidFill>
                  <a:srgbClr val="343434"/>
                </a:solidFill>
                <a:latin typeface="メイリオ" panose="020B0604030504040204" pitchFamily="50" charset="-128"/>
                <a:ea typeface="メイリオ" panose="020B0604030504040204" pitchFamily="50" charset="-128"/>
              </a:rPr>
              <a:t>結果として</a:t>
            </a:r>
            <a:r>
              <a:rPr lang="ja-JP" altLang="en-US" sz="1400" dirty="0" err="1">
                <a:solidFill>
                  <a:srgbClr val="343434"/>
                </a:solidFill>
                <a:latin typeface="メイリオ" panose="020B0604030504040204" pitchFamily="50" charset="-128"/>
                <a:ea typeface="メイリオ" panose="020B0604030504040204" pitchFamily="50" charset="-128"/>
              </a:rPr>
              <a:t>、</a:t>
            </a:r>
            <a:r>
              <a:rPr lang="ja-JP" altLang="en-US" sz="1400" dirty="0">
                <a:solidFill>
                  <a:srgbClr val="343434"/>
                </a:solidFill>
                <a:latin typeface="メイリオ" panose="020B0604030504040204" pitchFamily="50" charset="-128"/>
                <a:ea typeface="メイリオ" panose="020B0604030504040204" pitchFamily="50" charset="-128"/>
              </a:rPr>
              <a:t>リード獲得率向上、</a:t>
            </a:r>
            <a:r>
              <a:rPr lang="en-US" altLang="ja-JP" sz="1400" dirty="0" err="1">
                <a:solidFill>
                  <a:srgbClr val="343434"/>
                </a:solidFill>
                <a:latin typeface="メイリオ" panose="020B0604030504040204" pitchFamily="50" charset="-128"/>
                <a:ea typeface="メイリオ" panose="020B0604030504040204" pitchFamily="50" charset="-128"/>
              </a:rPr>
              <a:t>リピート率向上、売上向上に繋</a:t>
            </a:r>
            <a:r>
              <a:rPr lang="ja-JP" altLang="en-US" sz="1400" dirty="0">
                <a:solidFill>
                  <a:srgbClr val="343434"/>
                </a:solidFill>
                <a:latin typeface="メイリオ" panose="020B0604030504040204" pitchFamily="50" charset="-128"/>
                <a:ea typeface="メイリオ" panose="020B0604030504040204" pitchFamily="50" charset="-128"/>
              </a:rPr>
              <a:t>げ</a:t>
            </a:r>
            <a:r>
              <a:rPr lang="en-US" altLang="ja-JP" sz="1400" dirty="0">
                <a:solidFill>
                  <a:srgbClr val="343434"/>
                </a:solidFill>
                <a:latin typeface="メイリオ" panose="020B0604030504040204" pitchFamily="50" charset="-128"/>
                <a:ea typeface="メイリオ" panose="020B0604030504040204" pitchFamily="50" charset="-128"/>
              </a:rPr>
              <a:t>る。</a:t>
            </a:r>
          </a:p>
        </p:txBody>
      </p:sp>
      <p:cxnSp>
        <p:nvCxnSpPr>
          <p:cNvPr id="5" name="直線コネクタ 4">
            <a:extLst>
              <a:ext uri="{FF2B5EF4-FFF2-40B4-BE49-F238E27FC236}">
                <a16:creationId xmlns:a16="http://schemas.microsoft.com/office/drawing/2014/main" id="{CA93CA45-604C-4C3A-A630-6604E0B4FD4A}"/>
              </a:ext>
            </a:extLst>
          </p:cNvPr>
          <p:cNvCxnSpPr>
            <a:cxnSpLocks/>
          </p:cNvCxnSpPr>
          <p:nvPr/>
        </p:nvCxnSpPr>
        <p:spPr>
          <a:xfrm>
            <a:off x="0" y="1390675"/>
            <a:ext cx="9906000" cy="0"/>
          </a:xfrm>
          <a:prstGeom prst="line">
            <a:avLst/>
          </a:prstGeom>
          <a:ln w="19050">
            <a:solidFill>
              <a:schemeClr val="bg1">
                <a:lumMod val="85000"/>
                <a:alpha val="60000"/>
              </a:schemeClr>
            </a:solidFill>
          </a:ln>
          <a:effectLst/>
        </p:spPr>
        <p:style>
          <a:lnRef idx="2">
            <a:schemeClr val="accent1"/>
          </a:lnRef>
          <a:fillRef idx="0">
            <a:schemeClr val="accent1"/>
          </a:fillRef>
          <a:effectRef idx="1">
            <a:schemeClr val="accent1"/>
          </a:effectRef>
          <a:fontRef idx="minor">
            <a:schemeClr val="tx1"/>
          </a:fontRef>
        </p:style>
      </p:cxnSp>
      <p:grpSp>
        <p:nvGrpSpPr>
          <p:cNvPr id="6" name="Group 11">
            <a:extLst>
              <a:ext uri="{FF2B5EF4-FFF2-40B4-BE49-F238E27FC236}">
                <a16:creationId xmlns:a16="http://schemas.microsoft.com/office/drawing/2014/main" id="{FD51838A-D34F-466B-3A5A-09652D900BEB}"/>
              </a:ext>
            </a:extLst>
          </p:cNvPr>
          <p:cNvGrpSpPr/>
          <p:nvPr/>
        </p:nvGrpSpPr>
        <p:grpSpPr>
          <a:xfrm>
            <a:off x="3049695" y="2975186"/>
            <a:ext cx="1458934" cy="913844"/>
            <a:chOff x="0" y="0"/>
            <a:chExt cx="617887" cy="387031"/>
          </a:xfrm>
        </p:grpSpPr>
        <p:sp>
          <p:nvSpPr>
            <p:cNvPr id="8" name="Freeform 12">
              <a:extLst>
                <a:ext uri="{FF2B5EF4-FFF2-40B4-BE49-F238E27FC236}">
                  <a16:creationId xmlns:a16="http://schemas.microsoft.com/office/drawing/2014/main" id="{361A24A3-498E-8CCA-072B-BFF0D43720CF}"/>
                </a:ext>
              </a:extLst>
            </p:cNvPr>
            <p:cNvSpPr/>
            <p:nvPr/>
          </p:nvSpPr>
          <p:spPr>
            <a:xfrm>
              <a:off x="0" y="0"/>
              <a:ext cx="617887" cy="387031"/>
            </a:xfrm>
            <a:custGeom>
              <a:avLst/>
              <a:gdLst/>
              <a:ahLst/>
              <a:cxnLst/>
              <a:rect l="l" t="t" r="r" b="b"/>
              <a:pathLst>
                <a:path w="617887" h="387031">
                  <a:moveTo>
                    <a:pt x="0" y="0"/>
                  </a:moveTo>
                  <a:lnTo>
                    <a:pt x="617887" y="0"/>
                  </a:lnTo>
                  <a:lnTo>
                    <a:pt x="617887" y="387031"/>
                  </a:lnTo>
                  <a:lnTo>
                    <a:pt x="0" y="387031"/>
                  </a:lnTo>
                  <a:close/>
                </a:path>
              </a:pathLst>
            </a:custGeom>
            <a:solidFill>
              <a:srgbClr val="D9D9D9"/>
            </a:solidFill>
          </p:spPr>
          <p:txBody>
            <a:bodyPr/>
            <a:lstStyle/>
            <a:p>
              <a:endParaRPr lang="ja-JP" altLang="en-US">
                <a:latin typeface="メイリオ" panose="020B0604030504040204" pitchFamily="50" charset="-128"/>
                <a:ea typeface="メイリオ" panose="020B0604030504040204" pitchFamily="50" charset="-128"/>
              </a:endParaRPr>
            </a:p>
          </p:txBody>
        </p:sp>
        <p:sp>
          <p:nvSpPr>
            <p:cNvPr id="9" name="TextBox 13">
              <a:extLst>
                <a:ext uri="{FF2B5EF4-FFF2-40B4-BE49-F238E27FC236}">
                  <a16:creationId xmlns:a16="http://schemas.microsoft.com/office/drawing/2014/main" id="{2F7982DD-8DDE-BE65-D1C8-38F017EFAA9E}"/>
                </a:ext>
              </a:extLst>
            </p:cNvPr>
            <p:cNvSpPr txBox="1"/>
            <p:nvPr/>
          </p:nvSpPr>
          <p:spPr>
            <a:xfrm>
              <a:off x="0" y="-38100"/>
              <a:ext cx="617887" cy="425131"/>
            </a:xfrm>
            <a:prstGeom prst="rect">
              <a:avLst/>
            </a:prstGeom>
          </p:spPr>
          <p:txBody>
            <a:bodyPr lIns="31591" tIns="31591" rIns="31591" bIns="31591" rtlCol="0" anchor="ctr"/>
            <a:lstStyle/>
            <a:p>
              <a:pPr algn="ctr">
                <a:lnSpc>
                  <a:spcPts val="1741"/>
                </a:lnSpc>
              </a:pPr>
              <a:endParaRPr>
                <a:latin typeface="メイリオ" panose="020B0604030504040204" pitchFamily="50" charset="-128"/>
                <a:ea typeface="メイリオ" panose="020B0604030504040204" pitchFamily="50" charset="-128"/>
              </a:endParaRPr>
            </a:p>
          </p:txBody>
        </p:sp>
      </p:grpSp>
      <p:sp>
        <p:nvSpPr>
          <p:cNvPr id="10" name="AutoShape 14">
            <a:extLst>
              <a:ext uri="{FF2B5EF4-FFF2-40B4-BE49-F238E27FC236}">
                <a16:creationId xmlns:a16="http://schemas.microsoft.com/office/drawing/2014/main" id="{59178687-7B87-9112-285E-3FE124A7840D}"/>
              </a:ext>
            </a:extLst>
          </p:cNvPr>
          <p:cNvSpPr/>
          <p:nvPr/>
        </p:nvSpPr>
        <p:spPr>
          <a:xfrm flipV="1">
            <a:off x="637708" y="2862215"/>
            <a:ext cx="0" cy="3496153"/>
          </a:xfrm>
          <a:prstGeom prst="line">
            <a:avLst/>
          </a:prstGeom>
          <a:ln w="19050" cap="flat">
            <a:solidFill>
              <a:srgbClr val="737373"/>
            </a:solidFill>
            <a:prstDash val="solid"/>
            <a:headEnd type="none" w="sm" len="sm"/>
            <a:tailEnd type="arrow" w="med" len="sm"/>
          </a:ln>
        </p:spPr>
        <p:txBody>
          <a:bodyPr/>
          <a:lstStyle/>
          <a:p>
            <a:endParaRPr lang="ja-JP" altLang="en-US">
              <a:latin typeface="メイリオ" panose="020B0604030504040204" pitchFamily="50" charset="-128"/>
              <a:ea typeface="メイリオ" panose="020B0604030504040204" pitchFamily="50" charset="-128"/>
            </a:endParaRPr>
          </a:p>
        </p:txBody>
      </p:sp>
      <p:sp>
        <p:nvSpPr>
          <p:cNvPr id="11" name="AutoShape 15">
            <a:extLst>
              <a:ext uri="{FF2B5EF4-FFF2-40B4-BE49-F238E27FC236}">
                <a16:creationId xmlns:a16="http://schemas.microsoft.com/office/drawing/2014/main" id="{2E944E85-C1E7-F939-7840-FEE3895A6217}"/>
              </a:ext>
            </a:extLst>
          </p:cNvPr>
          <p:cNvSpPr/>
          <p:nvPr/>
        </p:nvSpPr>
        <p:spPr>
          <a:xfrm>
            <a:off x="272396" y="6045613"/>
            <a:ext cx="4516804" cy="0"/>
          </a:xfrm>
          <a:prstGeom prst="line">
            <a:avLst/>
          </a:prstGeom>
          <a:ln w="19050" cap="flat">
            <a:solidFill>
              <a:srgbClr val="737373"/>
            </a:solidFill>
            <a:prstDash val="solid"/>
            <a:headEnd type="none" w="sm" len="sm"/>
            <a:tailEnd type="arrow" w="med" len="sm"/>
          </a:ln>
        </p:spPr>
        <p:txBody>
          <a:bodyPr/>
          <a:lstStyle/>
          <a:p>
            <a:endParaRPr lang="ja-JP" altLang="en-US">
              <a:latin typeface="メイリオ" panose="020B0604030504040204" pitchFamily="50" charset="-128"/>
              <a:ea typeface="メイリオ" panose="020B0604030504040204" pitchFamily="50" charset="-128"/>
            </a:endParaRPr>
          </a:p>
        </p:txBody>
      </p:sp>
      <p:grpSp>
        <p:nvGrpSpPr>
          <p:cNvPr id="12" name="Group 16">
            <a:extLst>
              <a:ext uri="{FF2B5EF4-FFF2-40B4-BE49-F238E27FC236}">
                <a16:creationId xmlns:a16="http://schemas.microsoft.com/office/drawing/2014/main" id="{ED4AC5BA-40AB-055B-93BE-A426AB6D2DD1}"/>
              </a:ext>
            </a:extLst>
          </p:cNvPr>
          <p:cNvGrpSpPr/>
          <p:nvPr/>
        </p:nvGrpSpPr>
        <p:grpSpPr>
          <a:xfrm>
            <a:off x="964199" y="2975186"/>
            <a:ext cx="1770851" cy="913844"/>
            <a:chOff x="0" y="0"/>
            <a:chExt cx="749990" cy="387031"/>
          </a:xfrm>
        </p:grpSpPr>
        <p:sp>
          <p:nvSpPr>
            <p:cNvPr id="13" name="Freeform 17">
              <a:extLst>
                <a:ext uri="{FF2B5EF4-FFF2-40B4-BE49-F238E27FC236}">
                  <a16:creationId xmlns:a16="http://schemas.microsoft.com/office/drawing/2014/main" id="{37852D43-B89A-3E8A-340C-86DBCB7EAE2C}"/>
                </a:ext>
              </a:extLst>
            </p:cNvPr>
            <p:cNvSpPr/>
            <p:nvPr/>
          </p:nvSpPr>
          <p:spPr>
            <a:xfrm>
              <a:off x="0" y="0"/>
              <a:ext cx="749990" cy="387031"/>
            </a:xfrm>
            <a:custGeom>
              <a:avLst/>
              <a:gdLst/>
              <a:ahLst/>
              <a:cxnLst/>
              <a:rect l="l" t="t" r="r" b="b"/>
              <a:pathLst>
                <a:path w="749990" h="387031">
                  <a:moveTo>
                    <a:pt x="0" y="0"/>
                  </a:moveTo>
                  <a:lnTo>
                    <a:pt x="749990" y="0"/>
                  </a:lnTo>
                  <a:lnTo>
                    <a:pt x="749990" y="387031"/>
                  </a:lnTo>
                  <a:lnTo>
                    <a:pt x="0" y="387031"/>
                  </a:lnTo>
                  <a:close/>
                </a:path>
              </a:pathLst>
            </a:custGeom>
            <a:solidFill>
              <a:srgbClr val="7BD47C"/>
            </a:solidFill>
          </p:spPr>
          <p:txBody>
            <a:bodyPr/>
            <a:lstStyle/>
            <a:p>
              <a:endParaRPr lang="ja-JP" altLang="en-US">
                <a:latin typeface="メイリオ" panose="020B0604030504040204" pitchFamily="50" charset="-128"/>
                <a:ea typeface="メイリオ" panose="020B0604030504040204" pitchFamily="50" charset="-128"/>
              </a:endParaRPr>
            </a:p>
          </p:txBody>
        </p:sp>
        <p:sp>
          <p:nvSpPr>
            <p:cNvPr id="14" name="TextBox 18">
              <a:extLst>
                <a:ext uri="{FF2B5EF4-FFF2-40B4-BE49-F238E27FC236}">
                  <a16:creationId xmlns:a16="http://schemas.microsoft.com/office/drawing/2014/main" id="{0038C48A-D57E-4C03-47F9-21556A2A60B4}"/>
                </a:ext>
              </a:extLst>
            </p:cNvPr>
            <p:cNvSpPr txBox="1"/>
            <p:nvPr/>
          </p:nvSpPr>
          <p:spPr>
            <a:xfrm>
              <a:off x="0" y="-38100"/>
              <a:ext cx="749990" cy="425131"/>
            </a:xfrm>
            <a:prstGeom prst="rect">
              <a:avLst/>
            </a:prstGeom>
          </p:spPr>
          <p:txBody>
            <a:bodyPr lIns="31591" tIns="31591" rIns="31591" bIns="31591" rtlCol="0" anchor="ctr"/>
            <a:lstStyle/>
            <a:p>
              <a:pPr algn="ctr">
                <a:lnSpc>
                  <a:spcPts val="1741"/>
                </a:lnSpc>
              </a:pPr>
              <a:endParaRPr>
                <a:latin typeface="メイリオ" panose="020B0604030504040204" pitchFamily="50" charset="-128"/>
                <a:ea typeface="メイリオ" panose="020B0604030504040204" pitchFamily="50" charset="-128"/>
              </a:endParaRPr>
            </a:p>
          </p:txBody>
        </p:sp>
      </p:grpSp>
      <p:grpSp>
        <p:nvGrpSpPr>
          <p:cNvPr id="15" name="Group 19">
            <a:extLst>
              <a:ext uri="{FF2B5EF4-FFF2-40B4-BE49-F238E27FC236}">
                <a16:creationId xmlns:a16="http://schemas.microsoft.com/office/drawing/2014/main" id="{3507EDCA-E3B7-016A-2C53-E70338EE7F9D}"/>
              </a:ext>
            </a:extLst>
          </p:cNvPr>
          <p:cNvGrpSpPr/>
          <p:nvPr/>
        </p:nvGrpSpPr>
        <p:grpSpPr>
          <a:xfrm>
            <a:off x="964199" y="4203123"/>
            <a:ext cx="1770851" cy="1544458"/>
            <a:chOff x="0" y="0"/>
            <a:chExt cx="749990" cy="654108"/>
          </a:xfrm>
        </p:grpSpPr>
        <p:sp>
          <p:nvSpPr>
            <p:cNvPr id="16" name="Freeform 20">
              <a:extLst>
                <a:ext uri="{FF2B5EF4-FFF2-40B4-BE49-F238E27FC236}">
                  <a16:creationId xmlns:a16="http://schemas.microsoft.com/office/drawing/2014/main" id="{EDDE50AF-2F17-77D4-19B1-742225FD70A2}"/>
                </a:ext>
              </a:extLst>
            </p:cNvPr>
            <p:cNvSpPr/>
            <p:nvPr/>
          </p:nvSpPr>
          <p:spPr>
            <a:xfrm>
              <a:off x="0" y="0"/>
              <a:ext cx="749990" cy="654108"/>
            </a:xfrm>
            <a:custGeom>
              <a:avLst/>
              <a:gdLst/>
              <a:ahLst/>
              <a:cxnLst/>
              <a:rect l="l" t="t" r="r" b="b"/>
              <a:pathLst>
                <a:path w="749990" h="654108">
                  <a:moveTo>
                    <a:pt x="0" y="0"/>
                  </a:moveTo>
                  <a:lnTo>
                    <a:pt x="749990" y="0"/>
                  </a:lnTo>
                  <a:lnTo>
                    <a:pt x="749990" y="654108"/>
                  </a:lnTo>
                  <a:lnTo>
                    <a:pt x="0" y="654108"/>
                  </a:lnTo>
                  <a:close/>
                </a:path>
              </a:pathLst>
            </a:custGeom>
            <a:solidFill>
              <a:srgbClr val="025D27"/>
            </a:solidFill>
          </p:spPr>
          <p:txBody>
            <a:bodyPr/>
            <a:lstStyle/>
            <a:p>
              <a:endParaRPr lang="ja-JP" altLang="en-US">
                <a:latin typeface="メイリオ" panose="020B0604030504040204" pitchFamily="50" charset="-128"/>
                <a:ea typeface="メイリオ" panose="020B0604030504040204" pitchFamily="50" charset="-128"/>
              </a:endParaRPr>
            </a:p>
          </p:txBody>
        </p:sp>
        <p:sp>
          <p:nvSpPr>
            <p:cNvPr id="17" name="TextBox 21">
              <a:extLst>
                <a:ext uri="{FF2B5EF4-FFF2-40B4-BE49-F238E27FC236}">
                  <a16:creationId xmlns:a16="http://schemas.microsoft.com/office/drawing/2014/main" id="{7F07540F-73B0-D716-1131-982594039AED}"/>
                </a:ext>
              </a:extLst>
            </p:cNvPr>
            <p:cNvSpPr txBox="1"/>
            <p:nvPr/>
          </p:nvSpPr>
          <p:spPr>
            <a:xfrm>
              <a:off x="0" y="-38100"/>
              <a:ext cx="749990" cy="692208"/>
            </a:xfrm>
            <a:prstGeom prst="rect">
              <a:avLst/>
            </a:prstGeom>
          </p:spPr>
          <p:txBody>
            <a:bodyPr lIns="31591" tIns="31591" rIns="31591" bIns="31591" rtlCol="0" anchor="ctr"/>
            <a:lstStyle/>
            <a:p>
              <a:pPr algn="ctr">
                <a:lnSpc>
                  <a:spcPts val="1741"/>
                </a:lnSpc>
              </a:pPr>
              <a:endParaRPr>
                <a:latin typeface="メイリオ" panose="020B0604030504040204" pitchFamily="50" charset="-128"/>
                <a:ea typeface="メイリオ" panose="020B0604030504040204" pitchFamily="50" charset="-128"/>
              </a:endParaRPr>
            </a:p>
          </p:txBody>
        </p:sp>
      </p:grpSp>
      <p:grpSp>
        <p:nvGrpSpPr>
          <p:cNvPr id="18" name="Group 22">
            <a:extLst>
              <a:ext uri="{FF2B5EF4-FFF2-40B4-BE49-F238E27FC236}">
                <a16:creationId xmlns:a16="http://schemas.microsoft.com/office/drawing/2014/main" id="{281B028B-385E-F452-024D-8BB94F4D83B8}"/>
              </a:ext>
            </a:extLst>
          </p:cNvPr>
          <p:cNvGrpSpPr/>
          <p:nvPr/>
        </p:nvGrpSpPr>
        <p:grpSpPr>
          <a:xfrm>
            <a:off x="3049695" y="4203123"/>
            <a:ext cx="1458934" cy="1544458"/>
            <a:chOff x="0" y="0"/>
            <a:chExt cx="617887" cy="654108"/>
          </a:xfrm>
        </p:grpSpPr>
        <p:sp>
          <p:nvSpPr>
            <p:cNvPr id="19" name="Freeform 23">
              <a:extLst>
                <a:ext uri="{FF2B5EF4-FFF2-40B4-BE49-F238E27FC236}">
                  <a16:creationId xmlns:a16="http://schemas.microsoft.com/office/drawing/2014/main" id="{22B22B83-BF89-287F-782C-53EFBE5EE2C9}"/>
                </a:ext>
              </a:extLst>
            </p:cNvPr>
            <p:cNvSpPr/>
            <p:nvPr/>
          </p:nvSpPr>
          <p:spPr>
            <a:xfrm>
              <a:off x="0" y="0"/>
              <a:ext cx="617887" cy="654108"/>
            </a:xfrm>
            <a:custGeom>
              <a:avLst/>
              <a:gdLst/>
              <a:ahLst/>
              <a:cxnLst/>
              <a:rect l="l" t="t" r="r" b="b"/>
              <a:pathLst>
                <a:path w="617887" h="654108">
                  <a:moveTo>
                    <a:pt x="0" y="0"/>
                  </a:moveTo>
                  <a:lnTo>
                    <a:pt x="617887" y="0"/>
                  </a:lnTo>
                  <a:lnTo>
                    <a:pt x="617887" y="654108"/>
                  </a:lnTo>
                  <a:lnTo>
                    <a:pt x="0" y="654108"/>
                  </a:lnTo>
                  <a:close/>
                </a:path>
              </a:pathLst>
            </a:custGeom>
            <a:solidFill>
              <a:srgbClr val="7BD47C"/>
            </a:solidFill>
          </p:spPr>
          <p:txBody>
            <a:bodyPr/>
            <a:lstStyle/>
            <a:p>
              <a:endParaRPr lang="ja-JP" altLang="en-US">
                <a:latin typeface="メイリオ" panose="020B0604030504040204" pitchFamily="50" charset="-128"/>
                <a:ea typeface="メイリオ" panose="020B0604030504040204" pitchFamily="50" charset="-128"/>
              </a:endParaRPr>
            </a:p>
          </p:txBody>
        </p:sp>
        <p:sp>
          <p:nvSpPr>
            <p:cNvPr id="20" name="TextBox 24">
              <a:extLst>
                <a:ext uri="{FF2B5EF4-FFF2-40B4-BE49-F238E27FC236}">
                  <a16:creationId xmlns:a16="http://schemas.microsoft.com/office/drawing/2014/main" id="{9342B319-ADE7-C21F-2EC5-DC47280C7AA5}"/>
                </a:ext>
              </a:extLst>
            </p:cNvPr>
            <p:cNvSpPr txBox="1"/>
            <p:nvPr/>
          </p:nvSpPr>
          <p:spPr>
            <a:xfrm>
              <a:off x="0" y="-38100"/>
              <a:ext cx="617887" cy="692208"/>
            </a:xfrm>
            <a:prstGeom prst="rect">
              <a:avLst/>
            </a:prstGeom>
          </p:spPr>
          <p:txBody>
            <a:bodyPr lIns="31591" tIns="31591" rIns="31591" bIns="31591" rtlCol="0" anchor="ctr"/>
            <a:lstStyle/>
            <a:p>
              <a:pPr algn="ctr">
                <a:lnSpc>
                  <a:spcPts val="1741"/>
                </a:lnSpc>
              </a:pPr>
              <a:endParaRPr>
                <a:latin typeface="メイリオ" panose="020B0604030504040204" pitchFamily="50" charset="-128"/>
                <a:ea typeface="メイリオ" panose="020B0604030504040204" pitchFamily="50" charset="-128"/>
              </a:endParaRPr>
            </a:p>
          </p:txBody>
        </p:sp>
      </p:grpSp>
      <p:grpSp>
        <p:nvGrpSpPr>
          <p:cNvPr id="21" name="Group 25">
            <a:extLst>
              <a:ext uri="{FF2B5EF4-FFF2-40B4-BE49-F238E27FC236}">
                <a16:creationId xmlns:a16="http://schemas.microsoft.com/office/drawing/2014/main" id="{269BA4E8-CBA1-17CF-4B27-5586E44C9042}"/>
              </a:ext>
            </a:extLst>
          </p:cNvPr>
          <p:cNvGrpSpPr/>
          <p:nvPr/>
        </p:nvGrpSpPr>
        <p:grpSpPr>
          <a:xfrm rot="5400000">
            <a:off x="5145798" y="3131429"/>
            <a:ext cx="301414" cy="601358"/>
            <a:chOff x="0" y="0"/>
            <a:chExt cx="452282" cy="902360"/>
          </a:xfrm>
        </p:grpSpPr>
        <p:sp>
          <p:nvSpPr>
            <p:cNvPr id="22" name="Freeform 26">
              <a:extLst>
                <a:ext uri="{FF2B5EF4-FFF2-40B4-BE49-F238E27FC236}">
                  <a16:creationId xmlns:a16="http://schemas.microsoft.com/office/drawing/2014/main" id="{F979CAEC-8CC8-5992-6164-138369941BE6}"/>
                </a:ext>
              </a:extLst>
            </p:cNvPr>
            <p:cNvSpPr/>
            <p:nvPr/>
          </p:nvSpPr>
          <p:spPr>
            <a:xfrm>
              <a:off x="0" y="0"/>
              <a:ext cx="452282" cy="902360"/>
            </a:xfrm>
            <a:custGeom>
              <a:avLst/>
              <a:gdLst/>
              <a:ahLst/>
              <a:cxnLst/>
              <a:rect l="l" t="t" r="r" b="b"/>
              <a:pathLst>
                <a:path w="452282" h="902360">
                  <a:moveTo>
                    <a:pt x="226141" y="0"/>
                  </a:moveTo>
                  <a:lnTo>
                    <a:pt x="452282" y="902360"/>
                  </a:lnTo>
                  <a:lnTo>
                    <a:pt x="0" y="902360"/>
                  </a:lnTo>
                  <a:lnTo>
                    <a:pt x="226141" y="0"/>
                  </a:lnTo>
                  <a:close/>
                </a:path>
              </a:pathLst>
            </a:custGeom>
            <a:solidFill>
              <a:srgbClr val="D9D9D9"/>
            </a:solidFill>
          </p:spPr>
          <p:txBody>
            <a:bodyPr/>
            <a:lstStyle/>
            <a:p>
              <a:endParaRPr lang="ja-JP" altLang="en-US">
                <a:latin typeface="メイリオ" panose="020B0604030504040204" pitchFamily="50" charset="-128"/>
                <a:ea typeface="メイリオ" panose="020B0604030504040204" pitchFamily="50" charset="-128"/>
              </a:endParaRPr>
            </a:p>
          </p:txBody>
        </p:sp>
        <p:sp>
          <p:nvSpPr>
            <p:cNvPr id="23" name="TextBox 27">
              <a:extLst>
                <a:ext uri="{FF2B5EF4-FFF2-40B4-BE49-F238E27FC236}">
                  <a16:creationId xmlns:a16="http://schemas.microsoft.com/office/drawing/2014/main" id="{35EF9994-DB9A-78E5-055F-3AFF8481CE16}"/>
                </a:ext>
              </a:extLst>
            </p:cNvPr>
            <p:cNvSpPr txBox="1"/>
            <p:nvPr/>
          </p:nvSpPr>
          <p:spPr>
            <a:xfrm>
              <a:off x="70669" y="380853"/>
              <a:ext cx="310944" cy="457053"/>
            </a:xfrm>
            <a:prstGeom prst="rect">
              <a:avLst/>
            </a:prstGeom>
          </p:spPr>
          <p:txBody>
            <a:bodyPr lIns="31591" tIns="31591" rIns="31591" bIns="31591" rtlCol="0" anchor="ctr"/>
            <a:lstStyle/>
            <a:p>
              <a:pPr algn="ctr">
                <a:lnSpc>
                  <a:spcPts val="1741"/>
                </a:lnSpc>
              </a:pPr>
              <a:endParaRPr>
                <a:latin typeface="メイリオ" panose="020B0604030504040204" pitchFamily="50" charset="-128"/>
                <a:ea typeface="メイリオ" panose="020B0604030504040204" pitchFamily="50" charset="-128"/>
              </a:endParaRPr>
            </a:p>
          </p:txBody>
        </p:sp>
      </p:grpSp>
      <p:sp>
        <p:nvSpPr>
          <p:cNvPr id="24" name="TextBox 28">
            <a:extLst>
              <a:ext uri="{FF2B5EF4-FFF2-40B4-BE49-F238E27FC236}">
                <a16:creationId xmlns:a16="http://schemas.microsoft.com/office/drawing/2014/main" id="{5E157642-2D9B-689A-C2B2-A7717A07260A}"/>
              </a:ext>
            </a:extLst>
          </p:cNvPr>
          <p:cNvSpPr txBox="1"/>
          <p:nvPr/>
        </p:nvSpPr>
        <p:spPr>
          <a:xfrm>
            <a:off x="239660" y="4103553"/>
            <a:ext cx="187572" cy="654025"/>
          </a:xfrm>
          <a:prstGeom prst="rect">
            <a:avLst/>
          </a:prstGeom>
        </p:spPr>
        <p:txBody>
          <a:bodyPr wrap="square" lIns="0" tIns="0" rIns="0" bIns="0" rtlCol="0" anchor="t">
            <a:spAutoFit/>
          </a:bodyPr>
          <a:lstStyle/>
          <a:p>
            <a:pPr>
              <a:lnSpc>
                <a:spcPts val="1741"/>
              </a:lnSpc>
              <a:spcBef>
                <a:spcPct val="0"/>
              </a:spcBef>
            </a:pPr>
            <a:r>
              <a:rPr lang="en-US" sz="1243" b="1">
                <a:solidFill>
                  <a:srgbClr val="494848"/>
                </a:solidFill>
                <a:latin typeface="メイリオ" panose="020B0604030504040204" pitchFamily="50" charset="-128"/>
                <a:ea typeface="メイリオ" panose="020B0604030504040204" pitchFamily="50" charset="-128"/>
              </a:rPr>
              <a:t>必要性</a:t>
            </a:r>
          </a:p>
        </p:txBody>
      </p:sp>
      <p:sp>
        <p:nvSpPr>
          <p:cNvPr id="25" name="TextBox 29">
            <a:extLst>
              <a:ext uri="{FF2B5EF4-FFF2-40B4-BE49-F238E27FC236}">
                <a16:creationId xmlns:a16="http://schemas.microsoft.com/office/drawing/2014/main" id="{E542051B-CCE6-131D-3645-4C3C8932C9AF}"/>
              </a:ext>
            </a:extLst>
          </p:cNvPr>
          <p:cNvSpPr txBox="1"/>
          <p:nvPr/>
        </p:nvSpPr>
        <p:spPr>
          <a:xfrm>
            <a:off x="2530798" y="6132696"/>
            <a:ext cx="633665" cy="218008"/>
          </a:xfrm>
          <a:prstGeom prst="rect">
            <a:avLst/>
          </a:prstGeom>
        </p:spPr>
        <p:txBody>
          <a:bodyPr wrap="square" lIns="0" tIns="0" rIns="0" bIns="0" rtlCol="0" anchor="t">
            <a:spAutoFit/>
          </a:bodyPr>
          <a:lstStyle/>
          <a:p>
            <a:pPr>
              <a:lnSpc>
                <a:spcPts val="1741"/>
              </a:lnSpc>
              <a:spcBef>
                <a:spcPct val="0"/>
              </a:spcBef>
            </a:pPr>
            <a:r>
              <a:rPr lang="en-US" sz="1243" b="1">
                <a:solidFill>
                  <a:srgbClr val="494848"/>
                </a:solidFill>
                <a:latin typeface="メイリオ" panose="020B0604030504040204" pitchFamily="50" charset="-128"/>
                <a:ea typeface="メイリオ" panose="020B0604030504040204" pitchFamily="50" charset="-128"/>
              </a:rPr>
              <a:t>緊急性</a:t>
            </a:r>
          </a:p>
        </p:txBody>
      </p:sp>
      <p:sp>
        <p:nvSpPr>
          <p:cNvPr id="26" name="TextBox 30">
            <a:extLst>
              <a:ext uri="{FF2B5EF4-FFF2-40B4-BE49-F238E27FC236}">
                <a16:creationId xmlns:a16="http://schemas.microsoft.com/office/drawing/2014/main" id="{789AA7FE-BAB1-3DE7-B600-0D2687AE8FEF}"/>
              </a:ext>
            </a:extLst>
          </p:cNvPr>
          <p:cNvSpPr txBox="1"/>
          <p:nvPr/>
        </p:nvSpPr>
        <p:spPr>
          <a:xfrm>
            <a:off x="3462330" y="3120281"/>
            <a:ext cx="633665" cy="218008"/>
          </a:xfrm>
          <a:prstGeom prst="rect">
            <a:avLst/>
          </a:prstGeom>
        </p:spPr>
        <p:txBody>
          <a:bodyPr wrap="square" lIns="0" tIns="0" rIns="0" bIns="0" rtlCol="0" anchor="t">
            <a:spAutoFit/>
          </a:bodyPr>
          <a:lstStyle/>
          <a:p>
            <a:pPr algn="ctr">
              <a:lnSpc>
                <a:spcPts val="1741"/>
              </a:lnSpc>
              <a:spcBef>
                <a:spcPct val="0"/>
              </a:spcBef>
            </a:pPr>
            <a:r>
              <a:rPr lang="en-US" sz="1243">
                <a:solidFill>
                  <a:srgbClr val="494848"/>
                </a:solidFill>
                <a:latin typeface="メイリオ" panose="020B0604030504040204" pitchFamily="50" charset="-128"/>
                <a:ea typeface="メイリオ" panose="020B0604030504040204" pitchFamily="50" charset="-128"/>
              </a:rPr>
              <a:t>今すぐ客</a:t>
            </a:r>
          </a:p>
        </p:txBody>
      </p:sp>
      <p:sp>
        <p:nvSpPr>
          <p:cNvPr id="27" name="TextBox 31">
            <a:extLst>
              <a:ext uri="{FF2B5EF4-FFF2-40B4-BE49-F238E27FC236}">
                <a16:creationId xmlns:a16="http://schemas.microsoft.com/office/drawing/2014/main" id="{95B912FE-88DA-75EB-2906-07FA329A9879}"/>
              </a:ext>
            </a:extLst>
          </p:cNvPr>
          <p:cNvSpPr txBox="1"/>
          <p:nvPr/>
        </p:nvSpPr>
        <p:spPr>
          <a:xfrm>
            <a:off x="1381753" y="3115300"/>
            <a:ext cx="868938" cy="218008"/>
          </a:xfrm>
          <a:prstGeom prst="rect">
            <a:avLst/>
          </a:prstGeom>
        </p:spPr>
        <p:txBody>
          <a:bodyPr wrap="square" lIns="0" tIns="0" rIns="0" bIns="0" rtlCol="0" anchor="t">
            <a:spAutoFit/>
          </a:bodyPr>
          <a:lstStyle/>
          <a:p>
            <a:pPr algn="ctr">
              <a:lnSpc>
                <a:spcPts val="1741"/>
              </a:lnSpc>
              <a:spcBef>
                <a:spcPct val="0"/>
              </a:spcBef>
            </a:pPr>
            <a:r>
              <a:rPr lang="en-US" sz="1243">
                <a:solidFill>
                  <a:srgbClr val="494848"/>
                </a:solidFill>
                <a:latin typeface="メイリオ" panose="020B0604030504040204" pitchFamily="50" charset="-128"/>
                <a:ea typeface="メイリオ" panose="020B0604030504040204" pitchFamily="50" charset="-128"/>
              </a:rPr>
              <a:t>そのうち客</a:t>
            </a:r>
          </a:p>
        </p:txBody>
      </p:sp>
      <p:sp>
        <p:nvSpPr>
          <p:cNvPr id="28" name="TextBox 32">
            <a:extLst>
              <a:ext uri="{FF2B5EF4-FFF2-40B4-BE49-F238E27FC236}">
                <a16:creationId xmlns:a16="http://schemas.microsoft.com/office/drawing/2014/main" id="{59D328C3-F2B3-6E79-96BF-D71386F2B39C}"/>
              </a:ext>
            </a:extLst>
          </p:cNvPr>
          <p:cNvSpPr txBox="1"/>
          <p:nvPr/>
        </p:nvSpPr>
        <p:spPr>
          <a:xfrm>
            <a:off x="1415156" y="4384620"/>
            <a:ext cx="868938" cy="218008"/>
          </a:xfrm>
          <a:prstGeom prst="rect">
            <a:avLst/>
          </a:prstGeom>
        </p:spPr>
        <p:txBody>
          <a:bodyPr wrap="square" lIns="0" tIns="0" rIns="0" bIns="0" rtlCol="0" anchor="t">
            <a:spAutoFit/>
          </a:bodyPr>
          <a:lstStyle/>
          <a:p>
            <a:pPr algn="ctr">
              <a:lnSpc>
                <a:spcPts val="1741"/>
              </a:lnSpc>
              <a:spcBef>
                <a:spcPct val="0"/>
              </a:spcBef>
            </a:pPr>
            <a:r>
              <a:rPr lang="en-US" sz="1243">
                <a:solidFill>
                  <a:srgbClr val="FFFFFF"/>
                </a:solidFill>
                <a:latin typeface="メイリオ" panose="020B0604030504040204" pitchFamily="50" charset="-128"/>
                <a:ea typeface="メイリオ" panose="020B0604030504040204" pitchFamily="50" charset="-128"/>
              </a:rPr>
              <a:t>まだまだ客</a:t>
            </a:r>
          </a:p>
        </p:txBody>
      </p:sp>
      <p:sp>
        <p:nvSpPr>
          <p:cNvPr id="29" name="TextBox 33">
            <a:extLst>
              <a:ext uri="{FF2B5EF4-FFF2-40B4-BE49-F238E27FC236}">
                <a16:creationId xmlns:a16="http://schemas.microsoft.com/office/drawing/2014/main" id="{877B9BED-D0F9-E0E6-43A4-64BB48000261}"/>
              </a:ext>
            </a:extLst>
          </p:cNvPr>
          <p:cNvSpPr txBox="1"/>
          <p:nvPr/>
        </p:nvSpPr>
        <p:spPr>
          <a:xfrm>
            <a:off x="3344694" y="4384620"/>
            <a:ext cx="868938" cy="218008"/>
          </a:xfrm>
          <a:prstGeom prst="rect">
            <a:avLst/>
          </a:prstGeom>
        </p:spPr>
        <p:txBody>
          <a:bodyPr wrap="square" lIns="0" tIns="0" rIns="0" bIns="0" rtlCol="0" anchor="t">
            <a:spAutoFit/>
          </a:bodyPr>
          <a:lstStyle/>
          <a:p>
            <a:pPr algn="ctr">
              <a:lnSpc>
                <a:spcPts val="1741"/>
              </a:lnSpc>
              <a:spcBef>
                <a:spcPct val="0"/>
              </a:spcBef>
            </a:pPr>
            <a:r>
              <a:rPr lang="en-US" sz="1243">
                <a:solidFill>
                  <a:srgbClr val="494848"/>
                </a:solidFill>
                <a:latin typeface="メイリオ" panose="020B0604030504040204" pitchFamily="50" charset="-128"/>
                <a:ea typeface="メイリオ" panose="020B0604030504040204" pitchFamily="50" charset="-128"/>
              </a:rPr>
              <a:t>お悩み客</a:t>
            </a:r>
          </a:p>
        </p:txBody>
      </p:sp>
      <p:sp>
        <p:nvSpPr>
          <p:cNvPr id="30" name="TextBox 34">
            <a:extLst>
              <a:ext uri="{FF2B5EF4-FFF2-40B4-BE49-F238E27FC236}">
                <a16:creationId xmlns:a16="http://schemas.microsoft.com/office/drawing/2014/main" id="{0401D261-C9B9-D74A-1CE2-30812B0B4154}"/>
              </a:ext>
            </a:extLst>
          </p:cNvPr>
          <p:cNvSpPr txBox="1"/>
          <p:nvPr/>
        </p:nvSpPr>
        <p:spPr>
          <a:xfrm>
            <a:off x="3462330" y="3384483"/>
            <a:ext cx="633665" cy="282129"/>
          </a:xfrm>
          <a:prstGeom prst="rect">
            <a:avLst/>
          </a:prstGeom>
        </p:spPr>
        <p:txBody>
          <a:bodyPr wrap="square" lIns="0" tIns="0" rIns="0" bIns="0" rtlCol="0" anchor="t">
            <a:spAutoFit/>
          </a:bodyPr>
          <a:lstStyle/>
          <a:p>
            <a:pPr algn="ctr">
              <a:lnSpc>
                <a:spcPts val="2176"/>
              </a:lnSpc>
              <a:spcBef>
                <a:spcPct val="0"/>
              </a:spcBef>
            </a:pPr>
            <a:r>
              <a:rPr lang="en-US" sz="1554" dirty="0">
                <a:solidFill>
                  <a:srgbClr val="494848"/>
                </a:solidFill>
                <a:latin typeface="メイリオ" panose="020B0604030504040204" pitchFamily="50" charset="-128"/>
                <a:ea typeface="メイリオ" panose="020B0604030504040204" pitchFamily="50" charset="-128"/>
              </a:rPr>
              <a:t>1-2％</a:t>
            </a:r>
          </a:p>
        </p:txBody>
      </p:sp>
      <p:sp>
        <p:nvSpPr>
          <p:cNvPr id="31" name="TextBox 35">
            <a:extLst>
              <a:ext uri="{FF2B5EF4-FFF2-40B4-BE49-F238E27FC236}">
                <a16:creationId xmlns:a16="http://schemas.microsoft.com/office/drawing/2014/main" id="{D2A4C54E-2F37-07C2-DE48-A2E382EA3FF7}"/>
              </a:ext>
            </a:extLst>
          </p:cNvPr>
          <p:cNvSpPr txBox="1"/>
          <p:nvPr/>
        </p:nvSpPr>
        <p:spPr>
          <a:xfrm>
            <a:off x="1385749" y="3384483"/>
            <a:ext cx="927750" cy="564257"/>
          </a:xfrm>
          <a:prstGeom prst="rect">
            <a:avLst/>
          </a:prstGeom>
        </p:spPr>
        <p:txBody>
          <a:bodyPr wrap="square" lIns="0" tIns="0" rIns="0" bIns="0" rtlCol="0" anchor="t">
            <a:spAutoFit/>
          </a:bodyPr>
          <a:lstStyle/>
          <a:p>
            <a:pPr algn="ctr">
              <a:lnSpc>
                <a:spcPts val="2176"/>
              </a:lnSpc>
              <a:spcBef>
                <a:spcPct val="0"/>
              </a:spcBef>
            </a:pPr>
            <a:r>
              <a:rPr lang="en-US" altLang="ja-JP" sz="1554" dirty="0">
                <a:solidFill>
                  <a:srgbClr val="494848"/>
                </a:solidFill>
                <a:latin typeface="メイリオ" panose="020B0604030504040204" pitchFamily="50" charset="-128"/>
                <a:ea typeface="メイリオ" panose="020B0604030504040204" pitchFamily="50" charset="-128"/>
              </a:rPr>
              <a:t>9-</a:t>
            </a:r>
            <a:r>
              <a:rPr lang="en-US" sz="1554" dirty="0">
                <a:solidFill>
                  <a:srgbClr val="494848"/>
                </a:solidFill>
                <a:latin typeface="メイリオ" panose="020B0604030504040204" pitchFamily="50" charset="-128"/>
                <a:ea typeface="メイリオ" panose="020B0604030504040204" pitchFamily="50" charset="-128"/>
              </a:rPr>
              <a:t>9.5％</a:t>
            </a:r>
          </a:p>
        </p:txBody>
      </p:sp>
      <p:sp>
        <p:nvSpPr>
          <p:cNvPr id="32" name="TextBox 36">
            <a:extLst>
              <a:ext uri="{FF2B5EF4-FFF2-40B4-BE49-F238E27FC236}">
                <a16:creationId xmlns:a16="http://schemas.microsoft.com/office/drawing/2014/main" id="{E5AC4649-00C6-4888-D80C-1A7202D4D61C}"/>
              </a:ext>
            </a:extLst>
          </p:cNvPr>
          <p:cNvSpPr txBox="1"/>
          <p:nvPr/>
        </p:nvSpPr>
        <p:spPr>
          <a:xfrm>
            <a:off x="3315287" y="4823293"/>
            <a:ext cx="927750" cy="564257"/>
          </a:xfrm>
          <a:prstGeom prst="rect">
            <a:avLst/>
          </a:prstGeom>
        </p:spPr>
        <p:txBody>
          <a:bodyPr wrap="square" lIns="0" tIns="0" rIns="0" bIns="0" rtlCol="0" anchor="t">
            <a:spAutoFit/>
          </a:bodyPr>
          <a:lstStyle/>
          <a:p>
            <a:pPr algn="ctr">
              <a:lnSpc>
                <a:spcPts val="2176"/>
              </a:lnSpc>
              <a:spcBef>
                <a:spcPct val="0"/>
              </a:spcBef>
            </a:pPr>
            <a:r>
              <a:rPr lang="en-US" sz="1554" dirty="0">
                <a:solidFill>
                  <a:srgbClr val="494848"/>
                </a:solidFill>
                <a:latin typeface="メイリオ" panose="020B0604030504040204" pitchFamily="50" charset="-128"/>
                <a:ea typeface="メイリオ" panose="020B0604030504040204" pitchFamily="50" charset="-128"/>
              </a:rPr>
              <a:t>9-9.5％</a:t>
            </a:r>
          </a:p>
        </p:txBody>
      </p:sp>
      <p:sp>
        <p:nvSpPr>
          <p:cNvPr id="33" name="TextBox 37">
            <a:extLst>
              <a:ext uri="{FF2B5EF4-FFF2-40B4-BE49-F238E27FC236}">
                <a16:creationId xmlns:a16="http://schemas.microsoft.com/office/drawing/2014/main" id="{F710B60A-9E92-C96A-5B26-805DEEDE4E80}"/>
              </a:ext>
            </a:extLst>
          </p:cNvPr>
          <p:cNvSpPr txBox="1"/>
          <p:nvPr/>
        </p:nvSpPr>
        <p:spPr>
          <a:xfrm>
            <a:off x="1532792" y="4823293"/>
            <a:ext cx="633665" cy="282129"/>
          </a:xfrm>
          <a:prstGeom prst="rect">
            <a:avLst/>
          </a:prstGeom>
        </p:spPr>
        <p:txBody>
          <a:bodyPr wrap="square" lIns="0" tIns="0" rIns="0" bIns="0" rtlCol="0" anchor="t">
            <a:spAutoFit/>
          </a:bodyPr>
          <a:lstStyle/>
          <a:p>
            <a:pPr algn="ctr">
              <a:lnSpc>
                <a:spcPts val="2176"/>
              </a:lnSpc>
              <a:spcBef>
                <a:spcPct val="0"/>
              </a:spcBef>
            </a:pPr>
            <a:r>
              <a:rPr lang="en-US" sz="1554">
                <a:solidFill>
                  <a:srgbClr val="FFFFFF"/>
                </a:solidFill>
                <a:latin typeface="メイリオ" panose="020B0604030504040204" pitchFamily="50" charset="-128"/>
                <a:ea typeface="メイリオ" panose="020B0604030504040204" pitchFamily="50" charset="-128"/>
              </a:rPr>
              <a:t>80％</a:t>
            </a:r>
          </a:p>
        </p:txBody>
      </p:sp>
      <p:sp>
        <p:nvSpPr>
          <p:cNvPr id="34" name="TextBox 38">
            <a:extLst>
              <a:ext uri="{FF2B5EF4-FFF2-40B4-BE49-F238E27FC236}">
                <a16:creationId xmlns:a16="http://schemas.microsoft.com/office/drawing/2014/main" id="{5DBC0D5A-D55C-257A-51E2-CC2A6B58B8CE}"/>
              </a:ext>
            </a:extLst>
          </p:cNvPr>
          <p:cNvSpPr txBox="1"/>
          <p:nvPr/>
        </p:nvSpPr>
        <p:spPr>
          <a:xfrm>
            <a:off x="5800858" y="3159765"/>
            <a:ext cx="3788946" cy="539891"/>
          </a:xfrm>
          <a:prstGeom prst="rect">
            <a:avLst/>
          </a:prstGeom>
        </p:spPr>
        <p:txBody>
          <a:bodyPr wrap="square" lIns="0" tIns="0" rIns="0" bIns="0" rtlCol="0" anchor="t">
            <a:spAutoFit/>
          </a:bodyPr>
          <a:lstStyle/>
          <a:p>
            <a:pPr>
              <a:lnSpc>
                <a:spcPts val="2176"/>
              </a:lnSpc>
            </a:pPr>
            <a:r>
              <a:rPr lang="en-US" sz="1200" b="1" dirty="0">
                <a:solidFill>
                  <a:srgbClr val="494848"/>
                </a:solidFill>
                <a:latin typeface="メイリオ" panose="020B0604030504040204" pitchFamily="50" charset="-128"/>
                <a:ea typeface="メイリオ" panose="020B0604030504040204" pitchFamily="50" charset="-128"/>
              </a:rPr>
              <a:t>「</a:t>
            </a:r>
            <a:r>
              <a:rPr lang="en-US" sz="1200" b="1" dirty="0" err="1">
                <a:solidFill>
                  <a:srgbClr val="494848"/>
                </a:solidFill>
                <a:latin typeface="メイリオ" panose="020B0604030504040204" pitchFamily="50" charset="-128"/>
                <a:ea typeface="メイリオ" panose="020B0604030504040204" pitchFamily="50" charset="-128"/>
              </a:rPr>
              <a:t>今すぐ</a:t>
            </a:r>
            <a:r>
              <a:rPr lang="ja-JP" altLang="en-US" sz="1200" b="1" dirty="0">
                <a:solidFill>
                  <a:srgbClr val="494848"/>
                </a:solidFill>
                <a:latin typeface="メイリオ" panose="020B0604030504040204" pitchFamily="50" charset="-128"/>
                <a:ea typeface="メイリオ" panose="020B0604030504040204" pitchFamily="50" charset="-128"/>
              </a:rPr>
              <a:t>顧</a:t>
            </a:r>
            <a:r>
              <a:rPr lang="en-US" sz="1200" b="1" dirty="0" err="1">
                <a:solidFill>
                  <a:srgbClr val="494848"/>
                </a:solidFill>
                <a:latin typeface="メイリオ" panose="020B0604030504040204" pitchFamily="50" charset="-128"/>
                <a:ea typeface="メイリオ" panose="020B0604030504040204" pitchFamily="50" charset="-128"/>
              </a:rPr>
              <a:t>客」を高い広告費を投資して獲得する</a:t>
            </a:r>
            <a:r>
              <a:rPr lang="ja-JP" altLang="en-US" sz="1200" b="1" dirty="0" err="1">
                <a:solidFill>
                  <a:srgbClr val="494848"/>
                </a:solidFill>
                <a:latin typeface="メイリオ" panose="020B0604030504040204" pitchFamily="50" charset="-128"/>
                <a:ea typeface="メイリオ" panose="020B0604030504040204" pitchFamily="50" charset="-128"/>
              </a:rPr>
              <a:t>のは</a:t>
            </a:r>
            <a:r>
              <a:rPr lang="ja-JP" altLang="en-US" sz="1200" b="1" dirty="0">
                <a:solidFill>
                  <a:srgbClr val="494848"/>
                </a:solidFill>
                <a:latin typeface="メイリオ" panose="020B0604030504040204" pitchFamily="50" charset="-128"/>
                <a:ea typeface="メイリオ" panose="020B0604030504040204" pitchFamily="50" charset="-128"/>
              </a:rPr>
              <a:t>リスクが大きい。</a:t>
            </a:r>
            <a:endParaRPr lang="en-US" sz="1200" b="1" dirty="0">
              <a:solidFill>
                <a:srgbClr val="494848"/>
              </a:solidFill>
              <a:latin typeface="メイリオ" panose="020B0604030504040204" pitchFamily="50" charset="-128"/>
              <a:ea typeface="メイリオ" panose="020B0604030504040204" pitchFamily="50" charset="-128"/>
            </a:endParaRPr>
          </a:p>
        </p:txBody>
      </p:sp>
      <p:sp>
        <p:nvSpPr>
          <p:cNvPr id="36" name="Freeform 40">
            <a:extLst>
              <a:ext uri="{FF2B5EF4-FFF2-40B4-BE49-F238E27FC236}">
                <a16:creationId xmlns:a16="http://schemas.microsoft.com/office/drawing/2014/main" id="{5A77A5D7-0DDE-21C2-51A5-84842B7243A6}"/>
              </a:ext>
            </a:extLst>
          </p:cNvPr>
          <p:cNvSpPr/>
          <p:nvPr/>
        </p:nvSpPr>
        <p:spPr>
          <a:xfrm rot="5400000">
            <a:off x="5145798" y="4206671"/>
            <a:ext cx="301414" cy="601358"/>
          </a:xfrm>
          <a:custGeom>
            <a:avLst/>
            <a:gdLst/>
            <a:ahLst/>
            <a:cxnLst/>
            <a:rect l="l" t="t" r="r" b="b"/>
            <a:pathLst>
              <a:path w="452282" h="902360">
                <a:moveTo>
                  <a:pt x="226141" y="0"/>
                </a:moveTo>
                <a:lnTo>
                  <a:pt x="452282" y="902360"/>
                </a:lnTo>
                <a:lnTo>
                  <a:pt x="0" y="902360"/>
                </a:lnTo>
                <a:lnTo>
                  <a:pt x="226141" y="0"/>
                </a:lnTo>
                <a:close/>
              </a:path>
            </a:pathLst>
          </a:custGeom>
          <a:solidFill>
            <a:srgbClr val="00FF00"/>
          </a:solidFill>
        </p:spPr>
        <p:txBody>
          <a:bodyPr/>
          <a:lstStyle/>
          <a:p>
            <a:endParaRPr lang="ja-JP" altLang="en-US">
              <a:latin typeface="メイリオ" panose="020B0604030504040204" pitchFamily="50" charset="-128"/>
              <a:ea typeface="メイリオ" panose="020B0604030504040204" pitchFamily="50" charset="-128"/>
            </a:endParaRPr>
          </a:p>
        </p:txBody>
      </p:sp>
      <p:sp>
        <p:nvSpPr>
          <p:cNvPr id="38" name="TextBox 42">
            <a:extLst>
              <a:ext uri="{FF2B5EF4-FFF2-40B4-BE49-F238E27FC236}">
                <a16:creationId xmlns:a16="http://schemas.microsoft.com/office/drawing/2014/main" id="{8A119429-976A-2BD7-EDD0-0C402786F523}"/>
              </a:ext>
            </a:extLst>
          </p:cNvPr>
          <p:cNvSpPr txBox="1"/>
          <p:nvPr/>
        </p:nvSpPr>
        <p:spPr>
          <a:xfrm>
            <a:off x="5800858" y="4237404"/>
            <a:ext cx="3889580" cy="539891"/>
          </a:xfrm>
          <a:prstGeom prst="rect">
            <a:avLst/>
          </a:prstGeom>
        </p:spPr>
        <p:txBody>
          <a:bodyPr wrap="square" lIns="0" tIns="0" rIns="0" bIns="0" rtlCol="0" anchor="t">
            <a:spAutoFit/>
          </a:bodyPr>
          <a:lstStyle/>
          <a:p>
            <a:pPr>
              <a:lnSpc>
                <a:spcPts val="2176"/>
              </a:lnSpc>
            </a:pPr>
            <a:r>
              <a:rPr lang="en-US" sz="1200" b="1" dirty="0" err="1">
                <a:solidFill>
                  <a:srgbClr val="494848"/>
                </a:solidFill>
                <a:latin typeface="メイリオ" panose="020B0604030504040204" pitchFamily="50" charset="-128"/>
                <a:ea typeface="メイリオ" panose="020B0604030504040204" pitchFamily="50" charset="-128"/>
              </a:rPr>
              <a:t>リストとして獲得するだけでなく</a:t>
            </a:r>
            <a:endParaRPr lang="en-US" sz="1200" b="1" dirty="0">
              <a:solidFill>
                <a:srgbClr val="494848"/>
              </a:solidFill>
              <a:latin typeface="メイリオ" panose="020B0604030504040204" pitchFamily="50" charset="-128"/>
              <a:ea typeface="メイリオ" panose="020B0604030504040204" pitchFamily="50" charset="-128"/>
            </a:endParaRPr>
          </a:p>
          <a:p>
            <a:pPr>
              <a:lnSpc>
                <a:spcPts val="2176"/>
              </a:lnSpc>
            </a:pPr>
            <a:r>
              <a:rPr lang="en-US" sz="1200" b="1" dirty="0">
                <a:solidFill>
                  <a:srgbClr val="494848"/>
                </a:solidFill>
                <a:latin typeface="メイリオ" panose="020B0604030504040204" pitchFamily="50" charset="-128"/>
                <a:ea typeface="メイリオ" panose="020B0604030504040204" pitchFamily="50" charset="-128"/>
              </a:rPr>
              <a:t>「</a:t>
            </a:r>
            <a:r>
              <a:rPr lang="ja-JP" altLang="en-US" sz="1200" b="1" dirty="0">
                <a:solidFill>
                  <a:srgbClr val="494848"/>
                </a:solidFill>
                <a:latin typeface="メイリオ" panose="020B0604030504040204" pitchFamily="50" charset="-128"/>
                <a:ea typeface="メイリオ" panose="020B0604030504040204" pitchFamily="50" charset="-128"/>
              </a:rPr>
              <a:t>将来的な顧</a:t>
            </a:r>
            <a:r>
              <a:rPr lang="en-US" sz="1200" b="1" dirty="0" err="1">
                <a:solidFill>
                  <a:srgbClr val="494848"/>
                </a:solidFill>
                <a:latin typeface="メイリオ" panose="020B0604030504040204" pitchFamily="50" charset="-128"/>
                <a:ea typeface="メイリオ" panose="020B0604030504040204" pitchFamily="50" charset="-128"/>
              </a:rPr>
              <a:t>客」教育をLINE</a:t>
            </a:r>
            <a:r>
              <a:rPr lang="ja-JP" altLang="en-US" sz="1200" b="1" dirty="0">
                <a:solidFill>
                  <a:srgbClr val="494848"/>
                </a:solidFill>
                <a:latin typeface="メイリオ" panose="020B0604030504040204" pitchFamily="50" charset="-128"/>
                <a:ea typeface="メイリオ" panose="020B0604030504040204" pitchFamily="50" charset="-128"/>
              </a:rPr>
              <a:t>上で構築し</a:t>
            </a:r>
            <a:r>
              <a:rPr lang="en-US" sz="1200" b="1" dirty="0">
                <a:solidFill>
                  <a:srgbClr val="494848"/>
                </a:solidFill>
                <a:latin typeface="メイリオ" panose="020B0604030504040204" pitchFamily="50" charset="-128"/>
                <a:ea typeface="メイリオ" panose="020B0604030504040204" pitchFamily="50" charset="-128"/>
              </a:rPr>
              <a:t>行</a:t>
            </a:r>
            <a:r>
              <a:rPr lang="ja-JP" altLang="en-US" sz="1200" b="1" dirty="0">
                <a:solidFill>
                  <a:srgbClr val="494848"/>
                </a:solidFill>
                <a:latin typeface="メイリオ" panose="020B0604030504040204" pitchFamily="50" charset="-128"/>
                <a:ea typeface="メイリオ" panose="020B0604030504040204" pitchFamily="50" charset="-128"/>
              </a:rPr>
              <a:t>う。</a:t>
            </a:r>
            <a:endParaRPr lang="en-US" sz="1200" b="1" dirty="0">
              <a:solidFill>
                <a:srgbClr val="494848"/>
              </a:solidFill>
              <a:latin typeface="メイリオ" panose="020B0604030504040204" pitchFamily="50" charset="-128"/>
              <a:ea typeface="メイリオ" panose="020B0604030504040204" pitchFamily="50" charset="-128"/>
            </a:endParaRPr>
          </a:p>
        </p:txBody>
      </p:sp>
      <p:sp>
        <p:nvSpPr>
          <p:cNvPr id="39" name="AutoShape 43">
            <a:extLst>
              <a:ext uri="{FF2B5EF4-FFF2-40B4-BE49-F238E27FC236}">
                <a16:creationId xmlns:a16="http://schemas.microsoft.com/office/drawing/2014/main" id="{BAFE21F2-B11C-C6C6-4A68-B44BBEB51A4E}"/>
              </a:ext>
            </a:extLst>
          </p:cNvPr>
          <p:cNvSpPr/>
          <p:nvPr/>
        </p:nvSpPr>
        <p:spPr>
          <a:xfrm>
            <a:off x="837672" y="2859077"/>
            <a:ext cx="2060521" cy="0"/>
          </a:xfrm>
          <a:prstGeom prst="line">
            <a:avLst/>
          </a:prstGeom>
          <a:ln w="19050" cap="flat">
            <a:solidFill>
              <a:srgbClr val="B0EDC9"/>
            </a:solidFill>
            <a:prstDash val="solid"/>
            <a:headEnd type="none" w="sm" len="sm"/>
            <a:tailEnd type="none" w="sm" len="sm"/>
          </a:ln>
        </p:spPr>
        <p:txBody>
          <a:bodyPr/>
          <a:lstStyle/>
          <a:p>
            <a:endParaRPr lang="ja-JP" altLang="en-US">
              <a:latin typeface="メイリオ" panose="020B0604030504040204" pitchFamily="50" charset="-128"/>
              <a:ea typeface="メイリオ" panose="020B0604030504040204" pitchFamily="50" charset="-128"/>
            </a:endParaRPr>
          </a:p>
        </p:txBody>
      </p:sp>
      <p:sp>
        <p:nvSpPr>
          <p:cNvPr id="40" name="AutoShape 44">
            <a:extLst>
              <a:ext uri="{FF2B5EF4-FFF2-40B4-BE49-F238E27FC236}">
                <a16:creationId xmlns:a16="http://schemas.microsoft.com/office/drawing/2014/main" id="{2CDA6644-C37D-611D-E0EA-EDDC28827BA0}"/>
              </a:ext>
            </a:extLst>
          </p:cNvPr>
          <p:cNvSpPr/>
          <p:nvPr/>
        </p:nvSpPr>
        <p:spPr>
          <a:xfrm>
            <a:off x="828963" y="5877316"/>
            <a:ext cx="3810830" cy="0"/>
          </a:xfrm>
          <a:prstGeom prst="line">
            <a:avLst/>
          </a:prstGeom>
          <a:ln w="19050" cap="flat">
            <a:solidFill>
              <a:srgbClr val="B0EDC9"/>
            </a:solidFill>
            <a:prstDash val="solid"/>
            <a:headEnd type="none" w="sm" len="sm"/>
            <a:tailEnd type="none" w="sm" len="sm"/>
          </a:ln>
        </p:spPr>
        <p:txBody>
          <a:bodyPr/>
          <a:lstStyle/>
          <a:p>
            <a:endParaRPr lang="ja-JP" altLang="en-US">
              <a:latin typeface="メイリオ" panose="020B0604030504040204" pitchFamily="50" charset="-128"/>
              <a:ea typeface="メイリオ" panose="020B0604030504040204" pitchFamily="50" charset="-128"/>
            </a:endParaRPr>
          </a:p>
        </p:txBody>
      </p:sp>
      <p:sp>
        <p:nvSpPr>
          <p:cNvPr id="41" name="AutoShape 45">
            <a:extLst>
              <a:ext uri="{FF2B5EF4-FFF2-40B4-BE49-F238E27FC236}">
                <a16:creationId xmlns:a16="http://schemas.microsoft.com/office/drawing/2014/main" id="{1127F3C8-7A7B-61A4-7E40-223286E1D74F}"/>
              </a:ext>
            </a:extLst>
          </p:cNvPr>
          <p:cNvSpPr/>
          <p:nvPr/>
        </p:nvSpPr>
        <p:spPr>
          <a:xfrm>
            <a:off x="2889484" y="4056689"/>
            <a:ext cx="1750309" cy="0"/>
          </a:xfrm>
          <a:prstGeom prst="line">
            <a:avLst/>
          </a:prstGeom>
          <a:ln w="19050" cap="flat">
            <a:solidFill>
              <a:srgbClr val="B0EDC9"/>
            </a:solidFill>
            <a:prstDash val="solid"/>
            <a:headEnd type="none" w="sm" len="sm"/>
            <a:tailEnd type="none" w="sm" len="sm"/>
          </a:ln>
        </p:spPr>
        <p:txBody>
          <a:bodyPr/>
          <a:lstStyle/>
          <a:p>
            <a:endParaRPr lang="ja-JP" altLang="en-US">
              <a:latin typeface="メイリオ" panose="020B0604030504040204" pitchFamily="50" charset="-128"/>
              <a:ea typeface="メイリオ" panose="020B0604030504040204" pitchFamily="50" charset="-128"/>
            </a:endParaRPr>
          </a:p>
        </p:txBody>
      </p:sp>
      <p:sp>
        <p:nvSpPr>
          <p:cNvPr id="42" name="AutoShape 46">
            <a:extLst>
              <a:ext uri="{FF2B5EF4-FFF2-40B4-BE49-F238E27FC236}">
                <a16:creationId xmlns:a16="http://schemas.microsoft.com/office/drawing/2014/main" id="{67E01EC4-C522-4365-750F-36BD973DD207}"/>
              </a:ext>
            </a:extLst>
          </p:cNvPr>
          <p:cNvSpPr/>
          <p:nvPr/>
        </p:nvSpPr>
        <p:spPr>
          <a:xfrm>
            <a:off x="4639793" y="4062682"/>
            <a:ext cx="0" cy="1826059"/>
          </a:xfrm>
          <a:prstGeom prst="line">
            <a:avLst/>
          </a:prstGeom>
          <a:ln w="19050" cap="flat">
            <a:solidFill>
              <a:srgbClr val="B0EDC9"/>
            </a:solidFill>
            <a:prstDash val="solid"/>
            <a:headEnd type="none" w="sm" len="sm"/>
            <a:tailEnd type="none" w="sm" len="sm"/>
          </a:ln>
        </p:spPr>
        <p:txBody>
          <a:bodyPr/>
          <a:lstStyle/>
          <a:p>
            <a:endParaRPr lang="ja-JP" altLang="en-US">
              <a:latin typeface="メイリオ" panose="020B0604030504040204" pitchFamily="50" charset="-128"/>
              <a:ea typeface="メイリオ" panose="020B0604030504040204" pitchFamily="50" charset="-128"/>
            </a:endParaRPr>
          </a:p>
        </p:txBody>
      </p:sp>
      <p:sp>
        <p:nvSpPr>
          <p:cNvPr id="43" name="AutoShape 47">
            <a:extLst>
              <a:ext uri="{FF2B5EF4-FFF2-40B4-BE49-F238E27FC236}">
                <a16:creationId xmlns:a16="http://schemas.microsoft.com/office/drawing/2014/main" id="{3E4AE2CB-A28C-E78F-2537-02549A8EA7AB}"/>
              </a:ext>
            </a:extLst>
          </p:cNvPr>
          <p:cNvSpPr/>
          <p:nvPr/>
        </p:nvSpPr>
        <p:spPr>
          <a:xfrm>
            <a:off x="2901330" y="2853320"/>
            <a:ext cx="0" cy="1217836"/>
          </a:xfrm>
          <a:prstGeom prst="line">
            <a:avLst/>
          </a:prstGeom>
          <a:ln w="19050" cap="flat">
            <a:solidFill>
              <a:srgbClr val="B0EDC9"/>
            </a:solidFill>
            <a:prstDash val="solid"/>
            <a:headEnd type="none" w="sm" len="sm"/>
            <a:tailEnd type="none" w="sm" len="sm"/>
          </a:ln>
        </p:spPr>
        <p:txBody>
          <a:bodyPr/>
          <a:lstStyle/>
          <a:p>
            <a:endParaRPr lang="ja-JP" altLang="en-US">
              <a:latin typeface="メイリオ" panose="020B0604030504040204" pitchFamily="50" charset="-128"/>
              <a:ea typeface="メイリオ" panose="020B0604030504040204" pitchFamily="50" charset="-128"/>
            </a:endParaRPr>
          </a:p>
        </p:txBody>
      </p:sp>
      <p:sp>
        <p:nvSpPr>
          <p:cNvPr id="44" name="AutoShape 48">
            <a:extLst>
              <a:ext uri="{FF2B5EF4-FFF2-40B4-BE49-F238E27FC236}">
                <a16:creationId xmlns:a16="http://schemas.microsoft.com/office/drawing/2014/main" id="{BDF7967C-8276-F30B-0E4E-4BFC7A91F312}"/>
              </a:ext>
            </a:extLst>
          </p:cNvPr>
          <p:cNvSpPr/>
          <p:nvPr/>
        </p:nvSpPr>
        <p:spPr>
          <a:xfrm>
            <a:off x="840809" y="2862215"/>
            <a:ext cx="0" cy="3015101"/>
          </a:xfrm>
          <a:prstGeom prst="line">
            <a:avLst/>
          </a:prstGeom>
          <a:ln w="19050" cap="flat">
            <a:solidFill>
              <a:srgbClr val="B0EDC9"/>
            </a:solidFill>
            <a:prstDash val="solid"/>
            <a:headEnd type="none" w="sm" len="sm"/>
            <a:tailEnd type="none" w="sm" len="sm"/>
          </a:ln>
        </p:spPr>
        <p:txBody>
          <a:bodyPr/>
          <a:lstStyle/>
          <a:p>
            <a:endParaRPr lang="ja-JP" altLang="en-US">
              <a:latin typeface="メイリオ" panose="020B0604030504040204" pitchFamily="50" charset="-128"/>
              <a:ea typeface="メイリオ" panose="020B0604030504040204" pitchFamily="50" charset="-128"/>
            </a:endParaRPr>
          </a:p>
        </p:txBody>
      </p:sp>
      <p:sp>
        <p:nvSpPr>
          <p:cNvPr id="45" name="Google Shape;156;p7"/>
          <p:cNvSpPr txBox="1"/>
          <p:nvPr/>
        </p:nvSpPr>
        <p:spPr>
          <a:xfrm>
            <a:off x="548883" y="138118"/>
            <a:ext cx="6514857" cy="338554"/>
          </a:xfrm>
          <a:prstGeom prst="rect">
            <a:avLst/>
          </a:prstGeom>
          <a:noFill/>
          <a:ln w="19050">
            <a:noFill/>
          </a:ln>
        </p:spPr>
        <p:txBody>
          <a:bodyPr spcFirstLastPara="1" wrap="square" lIns="91425" tIns="45700" rIns="91425" bIns="45700" anchor="ctr" anchorCtr="0">
            <a:spAutoFit/>
          </a:bodyPr>
          <a:lstStyle/>
          <a:p>
            <a:pPr marL="0" marR="0" lvl="0" indent="0" algn="l" rtl="0">
              <a:spcBef>
                <a:spcPts val="0"/>
              </a:spcBef>
              <a:spcAft>
                <a:spcPts val="0"/>
              </a:spcAft>
              <a:buClr>
                <a:srgbClr val="002060"/>
              </a:buClr>
              <a:buSzPts val="1600"/>
              <a:buFont typeface="Arial"/>
              <a:buNone/>
            </a:pPr>
            <a:r>
              <a:rPr lang="en-US" altLang="ja-JP" sz="1600" b="1" dirty="0">
                <a:solidFill>
                  <a:srgbClr val="002060"/>
                </a:solidFill>
                <a:latin typeface="Meiryo"/>
                <a:ea typeface="Meiryo"/>
                <a:cs typeface="Meiryo"/>
                <a:sym typeface="Meiryo"/>
              </a:rPr>
              <a:t>LINE</a:t>
            </a:r>
            <a:r>
              <a:rPr lang="ja-JP" altLang="en-US" sz="1600" b="1" dirty="0">
                <a:solidFill>
                  <a:srgbClr val="002060"/>
                </a:solidFill>
                <a:latin typeface="Meiryo"/>
                <a:ea typeface="Meiryo"/>
                <a:cs typeface="Meiryo"/>
                <a:sym typeface="Meiryo"/>
              </a:rPr>
              <a:t>公式アカウントを検討する背景</a:t>
            </a:r>
            <a:endParaRPr sz="1600" b="1" dirty="0">
              <a:solidFill>
                <a:srgbClr val="002060"/>
              </a:solidFill>
              <a:latin typeface="Meiryo"/>
              <a:ea typeface="Meiryo"/>
              <a:cs typeface="Meiryo"/>
              <a:sym typeface="Meiryo"/>
            </a:endParaRPr>
          </a:p>
        </p:txBody>
      </p:sp>
      <p:grpSp>
        <p:nvGrpSpPr>
          <p:cNvPr id="2" name="Group 25">
            <a:extLst>
              <a:ext uri="{FF2B5EF4-FFF2-40B4-BE49-F238E27FC236}">
                <a16:creationId xmlns:a16="http://schemas.microsoft.com/office/drawing/2014/main" id="{B0E7D26F-11A3-5FBC-5353-A2EB828FFE48}"/>
              </a:ext>
            </a:extLst>
          </p:cNvPr>
          <p:cNvGrpSpPr/>
          <p:nvPr/>
        </p:nvGrpSpPr>
        <p:grpSpPr>
          <a:xfrm rot="5400000">
            <a:off x="5145798" y="5317353"/>
            <a:ext cx="301414" cy="601358"/>
            <a:chOff x="0" y="0"/>
            <a:chExt cx="452282" cy="902360"/>
          </a:xfrm>
        </p:grpSpPr>
        <p:sp>
          <p:nvSpPr>
            <p:cNvPr id="35" name="Freeform 26">
              <a:extLst>
                <a:ext uri="{FF2B5EF4-FFF2-40B4-BE49-F238E27FC236}">
                  <a16:creationId xmlns:a16="http://schemas.microsoft.com/office/drawing/2014/main" id="{CDCF4F9F-A96D-47F0-B2E9-BCCD3E29956A}"/>
                </a:ext>
              </a:extLst>
            </p:cNvPr>
            <p:cNvSpPr/>
            <p:nvPr/>
          </p:nvSpPr>
          <p:spPr>
            <a:xfrm>
              <a:off x="0" y="0"/>
              <a:ext cx="452282" cy="902360"/>
            </a:xfrm>
            <a:custGeom>
              <a:avLst/>
              <a:gdLst/>
              <a:ahLst/>
              <a:cxnLst/>
              <a:rect l="l" t="t" r="r" b="b"/>
              <a:pathLst>
                <a:path w="452282" h="902360">
                  <a:moveTo>
                    <a:pt x="226141" y="0"/>
                  </a:moveTo>
                  <a:lnTo>
                    <a:pt x="452282" y="902360"/>
                  </a:lnTo>
                  <a:lnTo>
                    <a:pt x="0" y="902360"/>
                  </a:lnTo>
                  <a:lnTo>
                    <a:pt x="226141" y="0"/>
                  </a:lnTo>
                  <a:close/>
                </a:path>
              </a:pathLst>
            </a:custGeom>
            <a:solidFill>
              <a:srgbClr val="D9D9D9"/>
            </a:solidFill>
          </p:spPr>
          <p:txBody>
            <a:bodyPr/>
            <a:lstStyle/>
            <a:p>
              <a:endParaRPr lang="ja-JP" altLang="en-US">
                <a:latin typeface="メイリオ" panose="020B0604030504040204" pitchFamily="50" charset="-128"/>
                <a:ea typeface="メイリオ" panose="020B0604030504040204" pitchFamily="50" charset="-128"/>
              </a:endParaRPr>
            </a:p>
          </p:txBody>
        </p:sp>
        <p:sp>
          <p:nvSpPr>
            <p:cNvPr id="37" name="TextBox 27">
              <a:extLst>
                <a:ext uri="{FF2B5EF4-FFF2-40B4-BE49-F238E27FC236}">
                  <a16:creationId xmlns:a16="http://schemas.microsoft.com/office/drawing/2014/main" id="{6966F572-AC3F-D92B-3752-A94BD979EB99}"/>
                </a:ext>
              </a:extLst>
            </p:cNvPr>
            <p:cNvSpPr txBox="1"/>
            <p:nvPr/>
          </p:nvSpPr>
          <p:spPr>
            <a:xfrm>
              <a:off x="70669" y="380853"/>
              <a:ext cx="310944" cy="457053"/>
            </a:xfrm>
            <a:prstGeom prst="rect">
              <a:avLst/>
            </a:prstGeom>
          </p:spPr>
          <p:txBody>
            <a:bodyPr lIns="31591" tIns="31591" rIns="31591" bIns="31591" rtlCol="0" anchor="ctr"/>
            <a:lstStyle/>
            <a:p>
              <a:pPr algn="ctr">
                <a:lnSpc>
                  <a:spcPts val="1741"/>
                </a:lnSpc>
              </a:pPr>
              <a:endParaRPr>
                <a:latin typeface="メイリオ" panose="020B0604030504040204" pitchFamily="50" charset="-128"/>
                <a:ea typeface="メイリオ" panose="020B0604030504040204" pitchFamily="50" charset="-128"/>
              </a:endParaRPr>
            </a:p>
          </p:txBody>
        </p:sp>
      </p:grpSp>
      <p:sp>
        <p:nvSpPr>
          <p:cNvPr id="46" name="TextBox 38">
            <a:extLst>
              <a:ext uri="{FF2B5EF4-FFF2-40B4-BE49-F238E27FC236}">
                <a16:creationId xmlns:a16="http://schemas.microsoft.com/office/drawing/2014/main" id="{64F1097F-60BC-270D-2F02-2726FEAC05DF}"/>
              </a:ext>
            </a:extLst>
          </p:cNvPr>
          <p:cNvSpPr txBox="1"/>
          <p:nvPr/>
        </p:nvSpPr>
        <p:spPr>
          <a:xfrm>
            <a:off x="5800858" y="5349271"/>
            <a:ext cx="3788946" cy="539891"/>
          </a:xfrm>
          <a:prstGeom prst="rect">
            <a:avLst/>
          </a:prstGeom>
        </p:spPr>
        <p:txBody>
          <a:bodyPr wrap="square" lIns="0" tIns="0" rIns="0" bIns="0" rtlCol="0" anchor="t">
            <a:spAutoFit/>
          </a:bodyPr>
          <a:lstStyle/>
          <a:p>
            <a:pPr>
              <a:lnSpc>
                <a:spcPts val="2176"/>
              </a:lnSpc>
            </a:pPr>
            <a:r>
              <a:rPr lang="ja-JP" altLang="en-US" sz="1200" b="1" dirty="0">
                <a:solidFill>
                  <a:srgbClr val="494848"/>
                </a:solidFill>
                <a:latin typeface="メイリオ" panose="020B0604030504040204" pitchFamily="50" charset="-128"/>
                <a:ea typeface="メイリオ" panose="020B0604030504040204" pitchFamily="50" charset="-128"/>
              </a:rPr>
              <a:t>広告審査がないうえに、ユーザー接点を早めることで大量かつ高効率での獲得を見込むことが出来る。</a:t>
            </a:r>
            <a:endParaRPr lang="en-US" altLang="ja-JP" sz="1200" b="1" dirty="0">
              <a:solidFill>
                <a:srgbClr val="494848"/>
              </a:solidFill>
              <a:latin typeface="メイリオ" panose="020B0604030504040204" pitchFamily="50" charset="-128"/>
              <a:ea typeface="メイリオ" panose="020B0604030504040204" pitchFamily="50" charset="-128"/>
            </a:endParaRPr>
          </a:p>
        </p:txBody>
      </p:sp>
      <p:sp>
        <p:nvSpPr>
          <p:cNvPr id="67" name="正方形/長方形 66">
            <a:extLst>
              <a:ext uri="{FF2B5EF4-FFF2-40B4-BE49-F238E27FC236}">
                <a16:creationId xmlns:a16="http://schemas.microsoft.com/office/drawing/2014/main" id="{77B39B6D-C944-4A06-0278-EC4EB8161426}"/>
              </a:ext>
            </a:extLst>
          </p:cNvPr>
          <p:cNvSpPr/>
          <p:nvPr/>
        </p:nvSpPr>
        <p:spPr>
          <a:xfrm>
            <a:off x="0" y="1550126"/>
            <a:ext cx="9906000" cy="998179"/>
          </a:xfrm>
          <a:prstGeom prst="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69" name="正方形/長方形 68">
            <a:extLst>
              <a:ext uri="{FF2B5EF4-FFF2-40B4-BE49-F238E27FC236}">
                <a16:creationId xmlns:a16="http://schemas.microsoft.com/office/drawing/2014/main" id="{5E7B95DC-CC66-6E85-612E-16DD030F6207}"/>
              </a:ext>
            </a:extLst>
          </p:cNvPr>
          <p:cNvSpPr/>
          <p:nvPr/>
        </p:nvSpPr>
        <p:spPr>
          <a:xfrm>
            <a:off x="1415156" y="1777768"/>
            <a:ext cx="3135795" cy="523220"/>
          </a:xfrm>
          <a:prstGeom prst="rect">
            <a:avLst/>
          </a:prstGeom>
        </p:spPr>
        <p:txBody>
          <a:bodyPr wrap="none">
            <a:spAutoFit/>
          </a:bodyPr>
          <a:lstStyle/>
          <a:p>
            <a:pPr algn="ctr"/>
            <a:r>
              <a:rPr lang="en-US" altLang="ja-JP" sz="1400" dirty="0">
                <a:latin typeface="Meiryo"/>
                <a:ea typeface="Meiryo"/>
                <a:cs typeface="Meiryo"/>
                <a:sym typeface="Meiryo"/>
              </a:rPr>
              <a:t>WEB</a:t>
            </a:r>
            <a:r>
              <a:rPr lang="ja-JP" altLang="en-US" sz="1400" dirty="0">
                <a:latin typeface="Meiryo"/>
                <a:ea typeface="Meiryo"/>
                <a:cs typeface="Meiryo"/>
                <a:sym typeface="Meiryo"/>
              </a:rPr>
              <a:t>広告における</a:t>
            </a:r>
            <a:r>
              <a:rPr lang="ja-JP" altLang="en-US" sz="1400" b="1" dirty="0">
                <a:latin typeface="Meiryo"/>
                <a:ea typeface="Meiryo"/>
                <a:cs typeface="Meiryo"/>
                <a:sym typeface="Meiryo"/>
              </a:rPr>
              <a:t>競合性が高</a:t>
            </a:r>
            <a:r>
              <a:rPr lang="ja-JP" altLang="en-US" sz="1400" dirty="0">
                <a:latin typeface="Meiryo"/>
                <a:ea typeface="Meiryo"/>
                <a:cs typeface="Meiryo"/>
                <a:sym typeface="Meiryo"/>
              </a:rPr>
              <a:t>くなり</a:t>
            </a:r>
            <a:endParaRPr lang="en-US" altLang="ja-JP" sz="1400" dirty="0">
              <a:latin typeface="Meiryo"/>
              <a:ea typeface="Meiryo"/>
              <a:cs typeface="Meiryo"/>
              <a:sym typeface="Meiryo"/>
            </a:endParaRPr>
          </a:p>
          <a:p>
            <a:pPr algn="ctr"/>
            <a:r>
              <a:rPr lang="ja-JP" altLang="en-US" sz="1400" b="1" dirty="0">
                <a:solidFill>
                  <a:srgbClr val="FF0000"/>
                </a:solidFill>
                <a:latin typeface="Meiryo"/>
                <a:ea typeface="Meiryo"/>
                <a:cs typeface="Meiryo"/>
                <a:sym typeface="Meiryo"/>
              </a:rPr>
              <a:t>単価指標（</a:t>
            </a:r>
            <a:r>
              <a:rPr lang="en-US" altLang="ja-JP" sz="1400" b="1" dirty="0">
                <a:solidFill>
                  <a:srgbClr val="FF0000"/>
                </a:solidFill>
                <a:latin typeface="Meiryo"/>
                <a:ea typeface="Meiryo"/>
                <a:cs typeface="Meiryo"/>
                <a:sym typeface="Meiryo"/>
              </a:rPr>
              <a:t>CPC</a:t>
            </a:r>
            <a:r>
              <a:rPr lang="ja-JP" altLang="en-US" sz="1400" b="1" dirty="0">
                <a:solidFill>
                  <a:srgbClr val="FF0000"/>
                </a:solidFill>
                <a:latin typeface="Meiryo"/>
                <a:ea typeface="Meiryo"/>
                <a:cs typeface="Meiryo"/>
                <a:sym typeface="Meiryo"/>
              </a:rPr>
              <a:t>及び</a:t>
            </a:r>
            <a:r>
              <a:rPr lang="en-US" altLang="ja-JP" sz="1400" b="1" dirty="0">
                <a:solidFill>
                  <a:srgbClr val="FF0000"/>
                </a:solidFill>
                <a:latin typeface="Meiryo"/>
                <a:ea typeface="Meiryo"/>
                <a:cs typeface="Meiryo"/>
                <a:sym typeface="Meiryo"/>
              </a:rPr>
              <a:t>CPA</a:t>
            </a:r>
            <a:r>
              <a:rPr lang="ja-JP" altLang="en-US" sz="1400" b="1" dirty="0">
                <a:solidFill>
                  <a:srgbClr val="FF0000"/>
                </a:solidFill>
                <a:latin typeface="Meiryo"/>
                <a:ea typeface="Meiryo"/>
                <a:cs typeface="Meiryo"/>
                <a:sym typeface="Meiryo"/>
              </a:rPr>
              <a:t>）が高騰</a:t>
            </a:r>
            <a:r>
              <a:rPr lang="ja-JP" altLang="en-US" sz="1400" dirty="0">
                <a:latin typeface="Meiryo"/>
                <a:ea typeface="Meiryo"/>
                <a:cs typeface="Meiryo"/>
                <a:sym typeface="Meiryo"/>
              </a:rPr>
              <a:t>。</a:t>
            </a:r>
            <a:endParaRPr lang="en-US" altLang="ja-JP" sz="1400" dirty="0">
              <a:latin typeface="Meiryo"/>
              <a:ea typeface="Meiryo"/>
              <a:cs typeface="Meiryo"/>
              <a:sym typeface="Meiryo"/>
            </a:endParaRPr>
          </a:p>
        </p:txBody>
      </p:sp>
      <p:sp>
        <p:nvSpPr>
          <p:cNvPr id="71" name="正方形/長方形 70">
            <a:extLst>
              <a:ext uri="{FF2B5EF4-FFF2-40B4-BE49-F238E27FC236}">
                <a16:creationId xmlns:a16="http://schemas.microsoft.com/office/drawing/2014/main" id="{8E05BE0D-9D83-9FD4-8701-8FD707FC6BF5}"/>
              </a:ext>
            </a:extLst>
          </p:cNvPr>
          <p:cNvSpPr/>
          <p:nvPr/>
        </p:nvSpPr>
        <p:spPr>
          <a:xfrm>
            <a:off x="5717891" y="1781471"/>
            <a:ext cx="3773790" cy="523220"/>
          </a:xfrm>
          <a:prstGeom prst="rect">
            <a:avLst/>
          </a:prstGeom>
        </p:spPr>
        <p:txBody>
          <a:bodyPr wrap="none">
            <a:spAutoFit/>
          </a:bodyPr>
          <a:lstStyle/>
          <a:p>
            <a:pPr algn="ctr"/>
            <a:r>
              <a:rPr lang="ja-JP" altLang="en-US" sz="1400" dirty="0">
                <a:latin typeface="Meiryo"/>
                <a:ea typeface="Meiryo"/>
                <a:sym typeface="Meiryo"/>
              </a:rPr>
              <a:t>集客施策における</a:t>
            </a:r>
            <a:r>
              <a:rPr lang="en-US" altLang="ja-JP" sz="1400" b="1" dirty="0">
                <a:latin typeface="Meiryo"/>
                <a:ea typeface="Meiryo"/>
                <a:sym typeface="Meiryo"/>
              </a:rPr>
              <a:t>CVR</a:t>
            </a:r>
            <a:r>
              <a:rPr lang="ja-JP" altLang="en-US" sz="1400" b="1" dirty="0">
                <a:latin typeface="Meiryo"/>
                <a:ea typeface="Meiryo"/>
                <a:sym typeface="Meiryo"/>
              </a:rPr>
              <a:t>は高くても</a:t>
            </a:r>
            <a:r>
              <a:rPr lang="en-US" altLang="ja-JP" sz="1400" b="1" dirty="0">
                <a:latin typeface="Meiryo"/>
                <a:ea typeface="Meiryo"/>
                <a:sym typeface="Meiryo"/>
              </a:rPr>
              <a:t>2%</a:t>
            </a:r>
            <a:r>
              <a:rPr lang="ja-JP" altLang="en-US" sz="1400" b="1" dirty="0">
                <a:latin typeface="Meiryo"/>
                <a:ea typeface="Meiryo"/>
                <a:sym typeface="Meiryo"/>
              </a:rPr>
              <a:t>程度</a:t>
            </a:r>
            <a:r>
              <a:rPr lang="ja-JP" altLang="en-US" sz="1400" dirty="0">
                <a:latin typeface="Meiryo"/>
                <a:ea typeface="Meiryo"/>
                <a:sym typeface="Meiryo"/>
              </a:rPr>
              <a:t>。</a:t>
            </a:r>
            <a:endParaRPr lang="en-US" altLang="ja-JP" sz="1400" dirty="0">
              <a:latin typeface="Meiryo"/>
              <a:ea typeface="Meiryo"/>
              <a:sym typeface="Meiryo"/>
            </a:endParaRPr>
          </a:p>
          <a:p>
            <a:pPr algn="ctr"/>
            <a:r>
              <a:rPr lang="en-US" altLang="ja-JP" sz="1400" dirty="0">
                <a:solidFill>
                  <a:srgbClr val="FF0000"/>
                </a:solidFill>
                <a:latin typeface="Meiryo"/>
                <a:ea typeface="Meiryo"/>
                <a:sym typeface="Meiryo"/>
              </a:rPr>
              <a:t>CV</a:t>
            </a:r>
            <a:r>
              <a:rPr lang="ja-JP" altLang="en-US" sz="1400" dirty="0">
                <a:solidFill>
                  <a:srgbClr val="FF0000"/>
                </a:solidFill>
                <a:latin typeface="Meiryo"/>
                <a:ea typeface="Meiryo"/>
                <a:sym typeface="Meiryo"/>
              </a:rPr>
              <a:t>に至らず離脱するユーザーが大部分</a:t>
            </a:r>
            <a:r>
              <a:rPr lang="ja-JP" altLang="en-US" sz="1400" dirty="0">
                <a:latin typeface="Meiryo"/>
                <a:ea typeface="Meiryo"/>
                <a:sym typeface="Meiryo"/>
              </a:rPr>
              <a:t>。</a:t>
            </a:r>
            <a:endParaRPr lang="ja-JP" altLang="en-US" sz="1400" dirty="0"/>
          </a:p>
        </p:txBody>
      </p:sp>
      <p:sp>
        <p:nvSpPr>
          <p:cNvPr id="73" name="Freeform 12">
            <a:extLst>
              <a:ext uri="{FF2B5EF4-FFF2-40B4-BE49-F238E27FC236}">
                <a16:creationId xmlns:a16="http://schemas.microsoft.com/office/drawing/2014/main" id="{E8D769AF-3EE9-8FD1-96E2-AA6FB90CAF13}"/>
              </a:ext>
            </a:extLst>
          </p:cNvPr>
          <p:cNvSpPr/>
          <p:nvPr/>
        </p:nvSpPr>
        <p:spPr>
          <a:xfrm>
            <a:off x="4853067" y="1823015"/>
            <a:ext cx="823531" cy="426315"/>
          </a:xfrm>
          <a:custGeom>
            <a:avLst/>
            <a:gdLst/>
            <a:ahLst/>
            <a:cxnLst/>
            <a:rect l="l" t="t" r="r" b="b"/>
            <a:pathLst>
              <a:path w="617887" h="387031">
                <a:moveTo>
                  <a:pt x="0" y="0"/>
                </a:moveTo>
                <a:lnTo>
                  <a:pt x="617887" y="0"/>
                </a:lnTo>
                <a:lnTo>
                  <a:pt x="617887" y="387031"/>
                </a:lnTo>
                <a:lnTo>
                  <a:pt x="0" y="387031"/>
                </a:lnTo>
                <a:close/>
              </a:path>
            </a:pathLst>
          </a:custGeom>
          <a:solidFill>
            <a:srgbClr val="D9D9D9"/>
          </a:solidFill>
        </p:spPr>
        <p:txBody>
          <a:bodyPr anchor="ctr"/>
          <a:lstStyle/>
          <a:p>
            <a:pPr algn="ctr"/>
            <a:r>
              <a:rPr lang="en-US" altLang="ja-JP" b="1" dirty="0">
                <a:latin typeface="メイリオ" panose="020B0604030504040204" pitchFamily="50" charset="-128"/>
                <a:ea typeface="メイリオ" panose="020B0604030504040204" pitchFamily="50" charset="-128"/>
              </a:rPr>
              <a:t>CVR</a:t>
            </a:r>
            <a:endParaRPr lang="ja-JP" altLang="en-US" b="1" dirty="0">
              <a:latin typeface="メイリオ" panose="020B0604030504040204" pitchFamily="50" charset="-128"/>
              <a:ea typeface="メイリオ" panose="020B0604030504040204" pitchFamily="50" charset="-128"/>
            </a:endParaRPr>
          </a:p>
        </p:txBody>
      </p:sp>
      <p:sp>
        <p:nvSpPr>
          <p:cNvPr id="75" name="Freeform 12">
            <a:extLst>
              <a:ext uri="{FF2B5EF4-FFF2-40B4-BE49-F238E27FC236}">
                <a16:creationId xmlns:a16="http://schemas.microsoft.com/office/drawing/2014/main" id="{952D530B-C759-C959-90BD-289EC5DBA890}"/>
              </a:ext>
            </a:extLst>
          </p:cNvPr>
          <p:cNvSpPr/>
          <p:nvPr/>
        </p:nvSpPr>
        <p:spPr>
          <a:xfrm>
            <a:off x="555048" y="1808923"/>
            <a:ext cx="823531" cy="426315"/>
          </a:xfrm>
          <a:custGeom>
            <a:avLst/>
            <a:gdLst/>
            <a:ahLst/>
            <a:cxnLst/>
            <a:rect l="l" t="t" r="r" b="b"/>
            <a:pathLst>
              <a:path w="617887" h="387031">
                <a:moveTo>
                  <a:pt x="0" y="0"/>
                </a:moveTo>
                <a:lnTo>
                  <a:pt x="617887" y="0"/>
                </a:lnTo>
                <a:lnTo>
                  <a:pt x="617887" y="387031"/>
                </a:lnTo>
                <a:lnTo>
                  <a:pt x="0" y="387031"/>
                </a:lnTo>
                <a:close/>
              </a:path>
            </a:pathLst>
          </a:custGeom>
          <a:solidFill>
            <a:srgbClr val="D9D9D9"/>
          </a:solidFill>
        </p:spPr>
        <p:txBody>
          <a:bodyPr anchor="ctr"/>
          <a:lstStyle/>
          <a:p>
            <a:pPr algn="ctr"/>
            <a:r>
              <a:rPr lang="en-US" altLang="ja-JP" b="1" dirty="0">
                <a:latin typeface="メイリオ" panose="020B0604030504040204" pitchFamily="50" charset="-128"/>
                <a:ea typeface="メイリオ" panose="020B0604030504040204" pitchFamily="50" charset="-128"/>
              </a:rPr>
              <a:t>CPC</a:t>
            </a:r>
            <a:endParaRPr lang="ja-JP" altLang="en-US" b="1" dirty="0">
              <a:latin typeface="メイリオ" panose="020B0604030504040204" pitchFamily="50" charset="-128"/>
              <a:ea typeface="メイリオ" panose="020B0604030504040204" pitchFamily="50" charset="-128"/>
            </a:endParaRPr>
          </a:p>
        </p:txBody>
      </p:sp>
    </p:spTree>
    <p:extLst>
      <p:ext uri="{BB962C8B-B14F-4D97-AF65-F5344CB8AC3E}">
        <p14:creationId xmlns:p14="http://schemas.microsoft.com/office/powerpoint/2010/main" val="3562148494"/>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CBD88C4-8CFA-2C0E-C230-F47FCA10FFC5}"/>
            </a:ext>
          </a:extLst>
        </p:cNvPr>
        <p:cNvGrpSpPr/>
        <p:nvPr/>
      </p:nvGrpSpPr>
      <p:grpSpPr>
        <a:xfrm>
          <a:off x="0" y="0"/>
          <a:ext cx="0" cy="0"/>
          <a:chOff x="0" y="0"/>
          <a:chExt cx="0" cy="0"/>
        </a:xfrm>
      </p:grpSpPr>
      <p:sp>
        <p:nvSpPr>
          <p:cNvPr id="3" name="正方形/長方形 2">
            <a:extLst>
              <a:ext uri="{FF2B5EF4-FFF2-40B4-BE49-F238E27FC236}">
                <a16:creationId xmlns:a16="http://schemas.microsoft.com/office/drawing/2014/main" id="{634DA306-8233-CC88-65A5-36654C66652A}"/>
              </a:ext>
            </a:extLst>
          </p:cNvPr>
          <p:cNvSpPr/>
          <p:nvPr/>
        </p:nvSpPr>
        <p:spPr>
          <a:xfrm>
            <a:off x="0" y="577940"/>
            <a:ext cx="9906000" cy="812735"/>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kumimoji="1" lang="ja-JP" altLang="en-US">
              <a:latin typeface="メイリオ" panose="020B0604030504040204" pitchFamily="50" charset="-128"/>
              <a:ea typeface="メイリオ" panose="020B0604030504040204" pitchFamily="50" charset="-128"/>
            </a:endParaRPr>
          </a:p>
        </p:txBody>
      </p:sp>
      <p:sp>
        <p:nvSpPr>
          <p:cNvPr id="4" name="正方形/長方形 3">
            <a:extLst>
              <a:ext uri="{FF2B5EF4-FFF2-40B4-BE49-F238E27FC236}">
                <a16:creationId xmlns:a16="http://schemas.microsoft.com/office/drawing/2014/main" id="{0CB02FD4-701A-71CE-F43E-33D8F9E44E7B}"/>
              </a:ext>
            </a:extLst>
          </p:cNvPr>
          <p:cNvSpPr/>
          <p:nvPr/>
        </p:nvSpPr>
        <p:spPr>
          <a:xfrm>
            <a:off x="796379" y="635062"/>
            <a:ext cx="8328074" cy="698492"/>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tIns="90000" anchor="ctr"/>
          <a:lstStyle/>
          <a:p>
            <a:pPr algn="ctr">
              <a:lnSpc>
                <a:spcPts val="2455"/>
              </a:lnSpc>
            </a:pPr>
            <a:r>
              <a:rPr lang="ja-JP" altLang="en-US" sz="1400" dirty="0">
                <a:solidFill>
                  <a:srgbClr val="343434"/>
                </a:solidFill>
                <a:latin typeface="メイリオ" panose="020B0604030504040204" pitchFamily="50" charset="-128"/>
                <a:ea typeface="メイリオ" panose="020B0604030504040204" pitchFamily="50" charset="-128"/>
              </a:rPr>
              <a:t>利用年齢層により変動はするものの、</a:t>
            </a:r>
            <a:r>
              <a:rPr lang="en-US" altLang="ja-JP" sz="1400" dirty="0">
                <a:solidFill>
                  <a:srgbClr val="343434"/>
                </a:solidFill>
                <a:latin typeface="メイリオ" panose="020B0604030504040204" pitchFamily="50" charset="-128"/>
                <a:ea typeface="メイリオ" panose="020B0604030504040204" pitchFamily="50" charset="-128"/>
              </a:rPr>
              <a:t>10-40</a:t>
            </a:r>
            <a:r>
              <a:rPr lang="ja-JP" altLang="en-US" sz="1400" dirty="0">
                <a:solidFill>
                  <a:srgbClr val="343434"/>
                </a:solidFill>
                <a:latin typeface="メイリオ" panose="020B0604030504040204" pitchFamily="50" charset="-128"/>
                <a:ea typeface="メイリオ" panose="020B0604030504040204" pitchFamily="50" charset="-128"/>
              </a:rPr>
              <a:t>代を中心に電話、メールを忌避する動きが強まっている。</a:t>
            </a:r>
            <a:endParaRPr lang="en-US" altLang="ja-JP" sz="1400" dirty="0">
              <a:solidFill>
                <a:srgbClr val="343434"/>
              </a:solidFill>
              <a:latin typeface="メイリオ" panose="020B0604030504040204" pitchFamily="50" charset="-128"/>
              <a:ea typeface="メイリオ" panose="020B0604030504040204" pitchFamily="50" charset="-128"/>
            </a:endParaRPr>
          </a:p>
          <a:p>
            <a:pPr algn="ctr">
              <a:lnSpc>
                <a:spcPts val="2455"/>
              </a:lnSpc>
            </a:pPr>
            <a:r>
              <a:rPr lang="ja-JP" altLang="en-US" sz="1400" b="1" dirty="0">
                <a:solidFill>
                  <a:srgbClr val="343434"/>
                </a:solidFill>
                <a:latin typeface="メイリオ" panose="020B0604030504040204" pitchFamily="50" charset="-128"/>
                <a:ea typeface="メイリオ" panose="020B0604030504040204" pitchFamily="50" charset="-128"/>
              </a:rPr>
              <a:t>既存ユーザー以外の年齢層の獲得にあたって、利用率の高い</a:t>
            </a:r>
            <a:r>
              <a:rPr lang="en-US" altLang="ja-JP" sz="1400" b="1" dirty="0">
                <a:solidFill>
                  <a:srgbClr val="343434"/>
                </a:solidFill>
                <a:latin typeface="メイリオ" panose="020B0604030504040204" pitchFamily="50" charset="-128"/>
                <a:ea typeface="メイリオ" panose="020B0604030504040204" pitchFamily="50" charset="-128"/>
              </a:rPr>
              <a:t>LINEOA</a:t>
            </a:r>
            <a:r>
              <a:rPr lang="ja-JP" altLang="en-US" sz="1400" b="1" dirty="0">
                <a:solidFill>
                  <a:srgbClr val="343434"/>
                </a:solidFill>
                <a:latin typeface="メイリオ" panose="020B0604030504040204" pitchFamily="50" charset="-128"/>
                <a:ea typeface="メイリオ" panose="020B0604030504040204" pitchFamily="50" charset="-128"/>
              </a:rPr>
              <a:t>施策が非常に重要と想定</a:t>
            </a:r>
            <a:r>
              <a:rPr lang="ja-JP" altLang="en-US" sz="1400" dirty="0">
                <a:solidFill>
                  <a:srgbClr val="343434"/>
                </a:solidFill>
                <a:latin typeface="メイリオ" panose="020B0604030504040204" pitchFamily="50" charset="-128"/>
                <a:ea typeface="メイリオ" panose="020B0604030504040204" pitchFamily="50" charset="-128"/>
              </a:rPr>
              <a:t>される。</a:t>
            </a:r>
            <a:endParaRPr lang="en-US" altLang="ja-JP" sz="1400" dirty="0">
              <a:solidFill>
                <a:srgbClr val="343434"/>
              </a:solidFill>
              <a:latin typeface="メイリオ" panose="020B0604030504040204" pitchFamily="50" charset="-128"/>
              <a:ea typeface="メイリオ" panose="020B0604030504040204" pitchFamily="50" charset="-128"/>
            </a:endParaRPr>
          </a:p>
        </p:txBody>
      </p:sp>
      <p:cxnSp>
        <p:nvCxnSpPr>
          <p:cNvPr id="5" name="直線コネクタ 4">
            <a:extLst>
              <a:ext uri="{FF2B5EF4-FFF2-40B4-BE49-F238E27FC236}">
                <a16:creationId xmlns:a16="http://schemas.microsoft.com/office/drawing/2014/main" id="{F214699F-6602-F0D9-7DE6-2A3BDFB29171}"/>
              </a:ext>
            </a:extLst>
          </p:cNvPr>
          <p:cNvCxnSpPr>
            <a:cxnSpLocks/>
          </p:cNvCxnSpPr>
          <p:nvPr/>
        </p:nvCxnSpPr>
        <p:spPr>
          <a:xfrm>
            <a:off x="0" y="1390675"/>
            <a:ext cx="9906000" cy="0"/>
          </a:xfrm>
          <a:prstGeom prst="line">
            <a:avLst/>
          </a:prstGeom>
          <a:ln w="19050">
            <a:solidFill>
              <a:schemeClr val="bg1">
                <a:lumMod val="85000"/>
                <a:alpha val="60000"/>
              </a:schemeClr>
            </a:solidFill>
          </a:ln>
          <a:effectLst/>
        </p:spPr>
        <p:style>
          <a:lnRef idx="2">
            <a:schemeClr val="accent1"/>
          </a:lnRef>
          <a:fillRef idx="0">
            <a:schemeClr val="accent1"/>
          </a:fillRef>
          <a:effectRef idx="1">
            <a:schemeClr val="accent1"/>
          </a:effectRef>
          <a:fontRef idx="minor">
            <a:schemeClr val="tx1"/>
          </a:fontRef>
        </p:style>
      </p:cxnSp>
      <p:sp>
        <p:nvSpPr>
          <p:cNvPr id="45" name="Google Shape;156;p7">
            <a:extLst>
              <a:ext uri="{FF2B5EF4-FFF2-40B4-BE49-F238E27FC236}">
                <a16:creationId xmlns:a16="http://schemas.microsoft.com/office/drawing/2014/main" id="{37B7BC17-B92E-ED23-C69B-F5A79154E50F}"/>
              </a:ext>
            </a:extLst>
          </p:cNvPr>
          <p:cNvSpPr txBox="1"/>
          <p:nvPr/>
        </p:nvSpPr>
        <p:spPr>
          <a:xfrm>
            <a:off x="548883" y="138118"/>
            <a:ext cx="6514857" cy="338554"/>
          </a:xfrm>
          <a:prstGeom prst="rect">
            <a:avLst/>
          </a:prstGeom>
          <a:noFill/>
          <a:ln w="19050">
            <a:noFill/>
          </a:ln>
        </p:spPr>
        <p:txBody>
          <a:bodyPr spcFirstLastPara="1" wrap="square" lIns="91425" tIns="45700" rIns="91425" bIns="45700" anchor="ctr" anchorCtr="0">
            <a:spAutoFit/>
          </a:bodyPr>
          <a:lstStyle/>
          <a:p>
            <a:pPr marL="0" marR="0" lvl="0" indent="0" algn="l" rtl="0">
              <a:spcBef>
                <a:spcPts val="0"/>
              </a:spcBef>
              <a:spcAft>
                <a:spcPts val="0"/>
              </a:spcAft>
              <a:buClr>
                <a:srgbClr val="002060"/>
              </a:buClr>
              <a:buSzPts val="1600"/>
              <a:buFont typeface="Arial"/>
              <a:buNone/>
            </a:pPr>
            <a:r>
              <a:rPr lang="en-US" altLang="ja-JP" sz="1600" b="1" dirty="0">
                <a:solidFill>
                  <a:srgbClr val="002060"/>
                </a:solidFill>
                <a:latin typeface="Meiryo"/>
                <a:ea typeface="Meiryo"/>
                <a:cs typeface="Meiryo"/>
                <a:sym typeface="Meiryo"/>
              </a:rPr>
              <a:t>LINE</a:t>
            </a:r>
            <a:r>
              <a:rPr lang="ja-JP" altLang="en-US" sz="1600" b="1" dirty="0">
                <a:solidFill>
                  <a:srgbClr val="002060"/>
                </a:solidFill>
                <a:latin typeface="Meiryo"/>
                <a:ea typeface="Meiryo"/>
                <a:cs typeface="Meiryo"/>
                <a:sym typeface="Meiryo"/>
              </a:rPr>
              <a:t>公式アカウントを検討する背景</a:t>
            </a:r>
            <a:endParaRPr sz="1600" b="1" dirty="0">
              <a:solidFill>
                <a:srgbClr val="002060"/>
              </a:solidFill>
              <a:latin typeface="Meiryo"/>
              <a:ea typeface="Meiryo"/>
              <a:cs typeface="Meiryo"/>
              <a:sym typeface="Meiryo"/>
            </a:endParaRPr>
          </a:p>
        </p:txBody>
      </p:sp>
      <p:graphicFrame>
        <p:nvGraphicFramePr>
          <p:cNvPr id="50" name="表 49">
            <a:extLst>
              <a:ext uri="{FF2B5EF4-FFF2-40B4-BE49-F238E27FC236}">
                <a16:creationId xmlns:a16="http://schemas.microsoft.com/office/drawing/2014/main" id="{F4041BC0-327B-67FB-AC18-60C96EAE8809}"/>
              </a:ext>
            </a:extLst>
          </p:cNvPr>
          <p:cNvGraphicFramePr>
            <a:graphicFrameLocks noGrp="1"/>
          </p:cNvGraphicFramePr>
          <p:nvPr/>
        </p:nvGraphicFramePr>
        <p:xfrm>
          <a:off x="367528" y="1662925"/>
          <a:ext cx="9168355" cy="4494024"/>
        </p:xfrm>
        <a:graphic>
          <a:graphicData uri="http://schemas.openxmlformats.org/drawingml/2006/table">
            <a:tbl>
              <a:tblPr/>
              <a:tblGrid>
                <a:gridCol w="1833671">
                  <a:extLst>
                    <a:ext uri="{9D8B030D-6E8A-4147-A177-3AD203B41FA5}">
                      <a16:colId xmlns:a16="http://schemas.microsoft.com/office/drawing/2014/main" val="1559461290"/>
                    </a:ext>
                  </a:extLst>
                </a:gridCol>
                <a:gridCol w="1833671">
                  <a:extLst>
                    <a:ext uri="{9D8B030D-6E8A-4147-A177-3AD203B41FA5}">
                      <a16:colId xmlns:a16="http://schemas.microsoft.com/office/drawing/2014/main" val="4043568489"/>
                    </a:ext>
                  </a:extLst>
                </a:gridCol>
                <a:gridCol w="1833671">
                  <a:extLst>
                    <a:ext uri="{9D8B030D-6E8A-4147-A177-3AD203B41FA5}">
                      <a16:colId xmlns:a16="http://schemas.microsoft.com/office/drawing/2014/main" val="377063127"/>
                    </a:ext>
                  </a:extLst>
                </a:gridCol>
                <a:gridCol w="1833671">
                  <a:extLst>
                    <a:ext uri="{9D8B030D-6E8A-4147-A177-3AD203B41FA5}">
                      <a16:colId xmlns:a16="http://schemas.microsoft.com/office/drawing/2014/main" val="2814255100"/>
                    </a:ext>
                  </a:extLst>
                </a:gridCol>
                <a:gridCol w="1833671">
                  <a:extLst>
                    <a:ext uri="{9D8B030D-6E8A-4147-A177-3AD203B41FA5}">
                      <a16:colId xmlns:a16="http://schemas.microsoft.com/office/drawing/2014/main" val="3083523150"/>
                    </a:ext>
                  </a:extLst>
                </a:gridCol>
              </a:tblGrid>
              <a:tr h="499336">
                <a:tc>
                  <a:txBody>
                    <a:bodyPr/>
                    <a:lstStyle/>
                    <a:p>
                      <a:pPr algn="ctr" fontAlgn="ctr">
                        <a:buNone/>
                      </a:pPr>
                      <a:r>
                        <a:rPr lang="ja-JP" altLang="en-US" sz="1050" b="1" i="0" u="none" strike="noStrike" dirty="0">
                          <a:solidFill>
                            <a:srgbClr val="000000"/>
                          </a:solidFill>
                          <a:effectLst/>
                          <a:latin typeface="メイリオ" panose="020B0604030504040204" pitchFamily="50" charset="-128"/>
                          <a:ea typeface="メイリオ" panose="020B0604030504040204" pitchFamily="50" charset="-128"/>
                        </a:rPr>
                        <a:t>年齢層</a:t>
                      </a:r>
                    </a:p>
                  </a:txBody>
                  <a:tcPr marL="6767" marR="6767" marT="6767"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AE9F8"/>
                    </a:solidFill>
                  </a:tcPr>
                </a:tc>
                <a:tc>
                  <a:txBody>
                    <a:bodyPr/>
                    <a:lstStyle/>
                    <a:p>
                      <a:pPr algn="ctr" fontAlgn="ctr">
                        <a:buNone/>
                      </a:pPr>
                      <a:r>
                        <a:rPr lang="en-US" altLang="ja-JP" sz="1000" b="0" i="0" u="none" strike="noStrike" dirty="0">
                          <a:solidFill>
                            <a:srgbClr val="000000"/>
                          </a:solidFill>
                          <a:effectLst/>
                          <a:latin typeface="メイリオ" panose="020B0604030504040204" pitchFamily="50" charset="-128"/>
                          <a:ea typeface="メイリオ" panose="020B0604030504040204" pitchFamily="50" charset="-128"/>
                        </a:rPr>
                        <a:t>LINE</a:t>
                      </a:r>
                      <a:r>
                        <a:rPr lang="ja-JP" altLang="en-US" sz="1000" b="0" i="0" u="none" strike="noStrike" dirty="0">
                          <a:solidFill>
                            <a:srgbClr val="000000"/>
                          </a:solidFill>
                          <a:effectLst/>
                          <a:latin typeface="メイリオ" panose="020B0604030504040204" pitchFamily="50" charset="-128"/>
                          <a:ea typeface="メイリオ" panose="020B0604030504040204" pitchFamily="50" charset="-128"/>
                        </a:rPr>
                        <a:t>・チャット系</a:t>
                      </a:r>
                      <a:endParaRPr lang="en-US" altLang="ja-JP" sz="1000" b="0" i="0" u="none" strike="noStrike" dirty="0">
                        <a:solidFill>
                          <a:srgbClr val="000000"/>
                        </a:solidFill>
                        <a:effectLst/>
                        <a:latin typeface="メイリオ" panose="020B0604030504040204" pitchFamily="50" charset="-128"/>
                        <a:ea typeface="メイリオ" panose="020B0604030504040204" pitchFamily="50" charset="-128"/>
                      </a:endParaRPr>
                    </a:p>
                    <a:p>
                      <a:pPr algn="ctr" fontAlgn="ctr">
                        <a:buNone/>
                      </a:pPr>
                      <a:endParaRPr lang="ja-JP" altLang="en-US" sz="1000" b="0" i="0" u="none" strike="noStrike" dirty="0">
                        <a:solidFill>
                          <a:srgbClr val="000000"/>
                        </a:solidFill>
                        <a:effectLst/>
                        <a:latin typeface="メイリオ" panose="020B0604030504040204" pitchFamily="50" charset="-128"/>
                        <a:ea typeface="メイリオ" panose="020B0604030504040204" pitchFamily="50" charset="-128"/>
                      </a:endParaRPr>
                    </a:p>
                  </a:txBody>
                  <a:tcPr marL="6767" marR="6767" marT="6767"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AE9F8"/>
                    </a:solidFill>
                  </a:tcPr>
                </a:tc>
                <a:tc>
                  <a:txBody>
                    <a:bodyPr/>
                    <a:lstStyle/>
                    <a:p>
                      <a:pPr algn="ctr" fontAlgn="ctr">
                        <a:buNone/>
                      </a:pPr>
                      <a:r>
                        <a:rPr lang="ja-JP" altLang="en-US" sz="1000" b="0" i="0" u="none" strike="noStrike" dirty="0">
                          <a:solidFill>
                            <a:srgbClr val="000000"/>
                          </a:solidFill>
                          <a:effectLst/>
                          <a:latin typeface="メイリオ" panose="020B0604030504040204" pitchFamily="50" charset="-128"/>
                          <a:ea typeface="メイリオ" panose="020B0604030504040204" pitchFamily="50" charset="-128"/>
                        </a:rPr>
                        <a:t>メール・メルマガ</a:t>
                      </a:r>
                      <a:endParaRPr lang="en-US" altLang="ja-JP" sz="1000" b="0" i="0" u="none" strike="noStrike" dirty="0">
                        <a:solidFill>
                          <a:srgbClr val="000000"/>
                        </a:solidFill>
                        <a:effectLst/>
                        <a:latin typeface="メイリオ" panose="020B0604030504040204" pitchFamily="50" charset="-128"/>
                        <a:ea typeface="メイリオ" panose="020B0604030504040204" pitchFamily="50" charset="-128"/>
                      </a:endParaRPr>
                    </a:p>
                    <a:p>
                      <a:pPr algn="ctr" fontAlgn="ctr">
                        <a:buNone/>
                      </a:pPr>
                      <a:endParaRPr lang="en-US" altLang="ja-JP" sz="1000" b="0" i="0" u="none" strike="noStrike" dirty="0">
                        <a:solidFill>
                          <a:srgbClr val="000000"/>
                        </a:solidFill>
                        <a:effectLst/>
                        <a:latin typeface="メイリオ" panose="020B0604030504040204" pitchFamily="50" charset="-128"/>
                        <a:ea typeface="メイリオ" panose="020B0604030504040204" pitchFamily="50" charset="-128"/>
                      </a:endParaRPr>
                    </a:p>
                  </a:txBody>
                  <a:tcPr marL="6767" marR="6767" marT="6767"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AE9F8"/>
                    </a:solidFill>
                  </a:tcPr>
                </a:tc>
                <a:tc>
                  <a:txBody>
                    <a:bodyPr/>
                    <a:lstStyle/>
                    <a:p>
                      <a:pPr algn="ctr" fontAlgn="ctr">
                        <a:buNone/>
                      </a:pPr>
                      <a:r>
                        <a:rPr lang="ja-JP" altLang="en-US" sz="1000" b="0" i="0" u="none" strike="noStrike" dirty="0">
                          <a:solidFill>
                            <a:srgbClr val="000000"/>
                          </a:solidFill>
                          <a:effectLst/>
                          <a:latin typeface="メイリオ" panose="020B0604030504040204" pitchFamily="50" charset="-128"/>
                          <a:ea typeface="メイリオ" panose="020B0604030504040204" pitchFamily="50" charset="-128"/>
                        </a:rPr>
                        <a:t>電話</a:t>
                      </a:r>
                      <a:endParaRPr lang="en-US" altLang="ja-JP" sz="1000" b="0" i="0" u="none" strike="noStrike" dirty="0">
                        <a:solidFill>
                          <a:srgbClr val="000000"/>
                        </a:solidFill>
                        <a:effectLst/>
                        <a:latin typeface="メイリオ" panose="020B0604030504040204" pitchFamily="50" charset="-128"/>
                        <a:ea typeface="メイリオ" panose="020B0604030504040204" pitchFamily="50" charset="-128"/>
                      </a:endParaRPr>
                    </a:p>
                    <a:p>
                      <a:pPr algn="ctr" fontAlgn="ctr">
                        <a:buNone/>
                      </a:pPr>
                      <a:endParaRPr lang="en-US" altLang="ja-JP" sz="1000" b="0" i="0" u="none" strike="noStrike" dirty="0">
                        <a:solidFill>
                          <a:srgbClr val="000000"/>
                        </a:solidFill>
                        <a:effectLst/>
                        <a:latin typeface="メイリオ" panose="020B0604030504040204" pitchFamily="50" charset="-128"/>
                        <a:ea typeface="メイリオ" panose="020B0604030504040204" pitchFamily="50" charset="-128"/>
                      </a:endParaRPr>
                    </a:p>
                  </a:txBody>
                  <a:tcPr marL="6767" marR="6767" marT="6767"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AE9F8"/>
                    </a:solidFill>
                  </a:tcPr>
                </a:tc>
                <a:tc>
                  <a:txBody>
                    <a:bodyPr/>
                    <a:lstStyle/>
                    <a:p>
                      <a:pPr algn="ctr" fontAlgn="ctr">
                        <a:buNone/>
                      </a:pPr>
                      <a:r>
                        <a:rPr lang="ja-JP" altLang="en-US" sz="1000" b="0" i="0" u="none" strike="noStrike" dirty="0">
                          <a:solidFill>
                            <a:srgbClr val="000000"/>
                          </a:solidFill>
                          <a:effectLst/>
                          <a:latin typeface="メイリオ" panose="020B0604030504040204" pitchFamily="50" charset="-128"/>
                          <a:ea typeface="メイリオ" panose="020B0604030504040204" pitchFamily="50" charset="-128"/>
                        </a:rPr>
                        <a:t>主要な特徴・</a:t>
                      </a:r>
                      <a:r>
                        <a:rPr lang="en-US" altLang="ja-JP" sz="1000" b="0" i="0" u="none" strike="noStrike" dirty="0">
                          <a:solidFill>
                            <a:srgbClr val="000000"/>
                          </a:solidFill>
                          <a:effectLst/>
                          <a:latin typeface="メイリオ" panose="020B0604030504040204" pitchFamily="50" charset="-128"/>
                          <a:ea typeface="メイリオ" panose="020B0604030504040204" pitchFamily="50" charset="-128"/>
                        </a:rPr>
                        <a:t>SNS</a:t>
                      </a:r>
                    </a:p>
                    <a:p>
                      <a:pPr algn="ctr" fontAlgn="ctr">
                        <a:buNone/>
                      </a:pPr>
                      <a:endParaRPr lang="en-US" altLang="ja-JP" sz="1000" b="0" i="0" u="none" strike="noStrike" dirty="0">
                        <a:solidFill>
                          <a:srgbClr val="000000"/>
                        </a:solidFill>
                        <a:effectLst/>
                        <a:latin typeface="メイリオ" panose="020B0604030504040204" pitchFamily="50" charset="-128"/>
                        <a:ea typeface="メイリオ" panose="020B0604030504040204" pitchFamily="50" charset="-128"/>
                      </a:endParaRPr>
                    </a:p>
                  </a:txBody>
                  <a:tcPr marL="6767" marR="6767" marT="6767"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AE9F8"/>
                    </a:solidFill>
                  </a:tcPr>
                </a:tc>
                <a:extLst>
                  <a:ext uri="{0D108BD9-81ED-4DB2-BD59-A6C34878D82A}">
                    <a16:rowId xmlns:a16="http://schemas.microsoft.com/office/drawing/2014/main" val="3477182699"/>
                  </a:ext>
                </a:extLst>
              </a:tr>
              <a:tr h="499336">
                <a:tc rowSpan="2">
                  <a:txBody>
                    <a:bodyPr/>
                    <a:lstStyle/>
                    <a:p>
                      <a:pPr algn="l" fontAlgn="ctr">
                        <a:buNone/>
                      </a:pPr>
                      <a:r>
                        <a:rPr lang="ja-JP" altLang="en-US" sz="1050" b="1" i="0" u="none" strike="noStrike" dirty="0">
                          <a:solidFill>
                            <a:srgbClr val="000000"/>
                          </a:solidFill>
                          <a:effectLst/>
                          <a:latin typeface="メイリオ" panose="020B0604030504040204" pitchFamily="50" charset="-128"/>
                          <a:ea typeface="メイリオ" panose="020B0604030504040204" pitchFamily="50" charset="-128"/>
                        </a:rPr>
                        <a:t>　　　</a:t>
                      </a:r>
                      <a:r>
                        <a:rPr lang="en-US" altLang="ja-JP" sz="1050" b="1" i="0" u="none" strike="noStrike" dirty="0">
                          <a:solidFill>
                            <a:srgbClr val="000000"/>
                          </a:solidFill>
                          <a:effectLst/>
                          <a:latin typeface="メイリオ" panose="020B0604030504040204" pitchFamily="50" charset="-128"/>
                          <a:ea typeface="メイリオ" panose="020B0604030504040204" pitchFamily="50" charset="-128"/>
                        </a:rPr>
                        <a:t>10</a:t>
                      </a:r>
                      <a:r>
                        <a:rPr lang="ja-JP" altLang="en-US" sz="1050" b="1" i="0" u="none" strike="noStrike" dirty="0">
                          <a:solidFill>
                            <a:srgbClr val="000000"/>
                          </a:solidFill>
                          <a:effectLst/>
                          <a:latin typeface="メイリオ" panose="020B0604030504040204" pitchFamily="50" charset="-128"/>
                          <a:ea typeface="メイリオ" panose="020B0604030504040204" pitchFamily="50" charset="-128"/>
                        </a:rPr>
                        <a:t>代</a:t>
                      </a:r>
                      <a:r>
                        <a:rPr lang="en-US" altLang="ja-JP" sz="1050" b="1" i="0" u="none" strike="noStrike" dirty="0">
                          <a:solidFill>
                            <a:srgbClr val="000000"/>
                          </a:solidFill>
                          <a:effectLst/>
                          <a:latin typeface="メイリオ" panose="020B0604030504040204" pitchFamily="50" charset="-128"/>
                          <a:ea typeface="メイリオ" panose="020B0604030504040204" pitchFamily="50" charset="-128"/>
                        </a:rPr>
                        <a:t>〜20</a:t>
                      </a:r>
                      <a:r>
                        <a:rPr lang="ja-JP" altLang="en-US" sz="1050" b="1" i="0" u="none" strike="noStrike" dirty="0">
                          <a:solidFill>
                            <a:srgbClr val="000000"/>
                          </a:solidFill>
                          <a:effectLst/>
                          <a:latin typeface="メイリオ" panose="020B0604030504040204" pitchFamily="50" charset="-128"/>
                          <a:ea typeface="メイリオ" panose="020B0604030504040204" pitchFamily="50" charset="-128"/>
                        </a:rPr>
                        <a:t>代　</a:t>
                      </a:r>
                    </a:p>
                  </a:txBody>
                  <a:tcPr marL="6767" marR="6767" marT="6767"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AE9F8"/>
                    </a:solidFill>
                  </a:tcPr>
                </a:tc>
                <a:tc>
                  <a:txBody>
                    <a:bodyPr/>
                    <a:lstStyle/>
                    <a:p>
                      <a:pPr algn="ctr" fontAlgn="ctr">
                        <a:buNone/>
                      </a:pPr>
                      <a:r>
                        <a:rPr lang="ja-JP" altLang="en-US" sz="1000" b="1" i="0" u="none" strike="noStrike" dirty="0">
                          <a:solidFill>
                            <a:srgbClr val="000000"/>
                          </a:solidFill>
                          <a:effectLst/>
                          <a:latin typeface="メイリオ" panose="020B0604030504040204" pitchFamily="50" charset="-128"/>
                          <a:ea typeface="メイリオ" panose="020B0604030504040204" pitchFamily="50" charset="-128"/>
                        </a:rPr>
                        <a:t>利用率：</a:t>
                      </a:r>
                      <a:r>
                        <a:rPr lang="en-US" altLang="ja-JP" sz="1000" b="1" i="0" u="none" strike="noStrike" dirty="0">
                          <a:solidFill>
                            <a:srgbClr val="000000"/>
                          </a:solidFill>
                          <a:effectLst/>
                          <a:latin typeface="メイリオ" panose="020B0604030504040204" pitchFamily="50" charset="-128"/>
                          <a:ea typeface="メイリオ" panose="020B0604030504040204" pitchFamily="50" charset="-128"/>
                        </a:rPr>
                        <a:t>90%</a:t>
                      </a:r>
                      <a:r>
                        <a:rPr lang="ja-JP" altLang="en-US" sz="1000" b="1" i="0" u="none" strike="noStrike" dirty="0">
                          <a:solidFill>
                            <a:srgbClr val="000000"/>
                          </a:solidFill>
                          <a:effectLst/>
                          <a:latin typeface="メイリオ" panose="020B0604030504040204" pitchFamily="50" charset="-128"/>
                          <a:ea typeface="メイリオ" panose="020B0604030504040204" pitchFamily="50" charset="-128"/>
                        </a:rPr>
                        <a:t>以上</a:t>
                      </a:r>
                    </a:p>
                  </a:txBody>
                  <a:tcPr marL="6767" marR="6767" marT="6767"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a:noFill/>
                    </a:lnB>
                    <a:solidFill>
                      <a:srgbClr val="FFFF99"/>
                    </a:solidFill>
                  </a:tcPr>
                </a:tc>
                <a:tc>
                  <a:txBody>
                    <a:bodyPr/>
                    <a:lstStyle/>
                    <a:p>
                      <a:pPr algn="ctr" fontAlgn="ctr">
                        <a:buNone/>
                      </a:pPr>
                      <a:r>
                        <a:rPr lang="ja-JP" altLang="en-US" sz="1000" b="1" i="0" u="none" strike="noStrike" dirty="0">
                          <a:solidFill>
                            <a:srgbClr val="000000"/>
                          </a:solidFill>
                          <a:effectLst/>
                          <a:latin typeface="メイリオ" panose="020B0604030504040204" pitchFamily="50" charset="-128"/>
                          <a:ea typeface="メイリオ" panose="020B0604030504040204" pitchFamily="50" charset="-128"/>
                        </a:rPr>
                        <a:t>利用率：低</a:t>
                      </a:r>
                    </a:p>
                  </a:txBody>
                  <a:tcPr marL="6767" marR="6767" marT="6767"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a:noFill/>
                    </a:lnB>
                    <a:solidFill>
                      <a:schemeClr val="bg1"/>
                    </a:solidFill>
                  </a:tcPr>
                </a:tc>
                <a:tc>
                  <a:txBody>
                    <a:bodyPr/>
                    <a:lstStyle/>
                    <a:p>
                      <a:pPr algn="ctr" fontAlgn="ctr">
                        <a:buNone/>
                      </a:pPr>
                      <a:r>
                        <a:rPr lang="ja-JP" altLang="en-US" sz="1000" b="1" i="0" u="none" strike="noStrike" dirty="0">
                          <a:solidFill>
                            <a:srgbClr val="000000"/>
                          </a:solidFill>
                          <a:effectLst/>
                          <a:latin typeface="メイリオ" panose="020B0604030504040204" pitchFamily="50" charset="-128"/>
                          <a:ea typeface="メイリオ" panose="020B0604030504040204" pitchFamily="50" charset="-128"/>
                        </a:rPr>
                        <a:t>利用率：極めて低</a:t>
                      </a:r>
                    </a:p>
                  </a:txBody>
                  <a:tcPr marL="6767" marR="6767" marT="6767"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a:noFill/>
                    </a:lnB>
                    <a:solidFill>
                      <a:schemeClr val="bg1"/>
                    </a:solidFill>
                  </a:tcPr>
                </a:tc>
                <a:tc rowSpan="2">
                  <a:txBody>
                    <a:bodyPr/>
                    <a:lstStyle/>
                    <a:p>
                      <a:pPr algn="ctr" fontAlgn="ctr">
                        <a:buNone/>
                      </a:pPr>
                      <a:r>
                        <a:rPr lang="en-US" altLang="ja-JP" sz="800" b="0" i="0" u="none" strike="noStrike" dirty="0" err="1">
                          <a:solidFill>
                            <a:srgbClr val="000000"/>
                          </a:solidFill>
                          <a:effectLst/>
                          <a:latin typeface="メイリオ" panose="020B0604030504040204" pitchFamily="50" charset="-128"/>
                          <a:ea typeface="メイリオ" panose="020B0604030504040204" pitchFamily="50" charset="-128"/>
                        </a:rPr>
                        <a:t>Tiktok</a:t>
                      </a:r>
                      <a:r>
                        <a:rPr lang="en-US" altLang="ja-JP" sz="800" b="0" i="0" u="none" strike="noStrike" dirty="0">
                          <a:solidFill>
                            <a:srgbClr val="000000"/>
                          </a:solidFill>
                          <a:effectLst/>
                          <a:latin typeface="メイリオ" panose="020B0604030504040204" pitchFamily="50" charset="-128"/>
                          <a:ea typeface="メイリオ" panose="020B0604030504040204" pitchFamily="50" charset="-128"/>
                        </a:rPr>
                        <a:t> YouTube</a:t>
                      </a:r>
                      <a:r>
                        <a:rPr lang="ja-JP" altLang="en-US" sz="800" b="0" i="0" u="none" strike="noStrike" dirty="0">
                          <a:solidFill>
                            <a:srgbClr val="000000"/>
                          </a:solidFill>
                          <a:effectLst/>
                          <a:latin typeface="メイリオ" panose="020B0604030504040204" pitchFamily="50" charset="-128"/>
                          <a:ea typeface="メイリオ" panose="020B0604030504040204" pitchFamily="50" charset="-128"/>
                        </a:rPr>
                        <a:t>が情報収集の起点。</a:t>
                      </a:r>
                      <a:br>
                        <a:rPr lang="ja-JP" altLang="en-US" sz="800" b="0" i="0" u="none" strike="noStrike" dirty="0">
                          <a:solidFill>
                            <a:srgbClr val="000000"/>
                          </a:solidFill>
                          <a:effectLst/>
                          <a:latin typeface="メイリオ" panose="020B0604030504040204" pitchFamily="50" charset="-128"/>
                          <a:ea typeface="メイリオ" panose="020B0604030504040204" pitchFamily="50" charset="-128"/>
                        </a:rPr>
                      </a:br>
                      <a:r>
                        <a:rPr lang="en-US" altLang="ja-JP" sz="800" b="0" i="0" u="none" strike="noStrike" dirty="0">
                          <a:solidFill>
                            <a:srgbClr val="000000"/>
                          </a:solidFill>
                          <a:effectLst/>
                          <a:latin typeface="メイリオ" panose="020B0604030504040204" pitchFamily="50" charset="-128"/>
                          <a:ea typeface="メイリオ" panose="020B0604030504040204" pitchFamily="50" charset="-128"/>
                        </a:rPr>
                        <a:t>Instagram</a:t>
                      </a:r>
                      <a:r>
                        <a:rPr lang="ja-JP" altLang="en-US" sz="800" b="0" i="0" u="none" strike="noStrike" dirty="0">
                          <a:solidFill>
                            <a:srgbClr val="000000"/>
                          </a:solidFill>
                          <a:effectLst/>
                          <a:latin typeface="メイリオ" panose="020B0604030504040204" pitchFamily="50" charset="-128"/>
                          <a:ea typeface="メイリオ" panose="020B0604030504040204" pitchFamily="50" charset="-128"/>
                        </a:rPr>
                        <a:t>、</a:t>
                      </a:r>
                      <a:r>
                        <a:rPr lang="en-US" altLang="ja-JP" sz="800" b="0" i="0" u="none" strike="noStrike" dirty="0">
                          <a:solidFill>
                            <a:srgbClr val="000000"/>
                          </a:solidFill>
                          <a:effectLst/>
                          <a:latin typeface="メイリオ" panose="020B0604030504040204" pitchFamily="50" charset="-128"/>
                          <a:ea typeface="メイリオ" panose="020B0604030504040204" pitchFamily="50" charset="-128"/>
                        </a:rPr>
                        <a:t>X</a:t>
                      </a:r>
                      <a:r>
                        <a:rPr lang="ja-JP" altLang="en-US" sz="800" b="0" i="0" u="none" strike="noStrike" dirty="0">
                          <a:solidFill>
                            <a:srgbClr val="000000"/>
                          </a:solidFill>
                          <a:effectLst/>
                          <a:latin typeface="メイリオ" panose="020B0604030504040204" pitchFamily="50" charset="-128"/>
                          <a:ea typeface="メイリオ" panose="020B0604030504040204" pitchFamily="50" charset="-128"/>
                        </a:rPr>
                        <a:t>の</a:t>
                      </a:r>
                      <a:r>
                        <a:rPr lang="en-US" altLang="ja-JP" sz="800" b="0" i="0" u="none" strike="noStrike" dirty="0">
                          <a:solidFill>
                            <a:srgbClr val="000000"/>
                          </a:solidFill>
                          <a:effectLst/>
                          <a:latin typeface="メイリオ" panose="020B0604030504040204" pitchFamily="50" charset="-128"/>
                          <a:ea typeface="メイリオ" panose="020B0604030504040204" pitchFamily="50" charset="-128"/>
                        </a:rPr>
                        <a:t>DM</a:t>
                      </a:r>
                      <a:r>
                        <a:rPr lang="ja-JP" altLang="en-US" sz="800" b="0" i="0" u="none" strike="noStrike" dirty="0">
                          <a:solidFill>
                            <a:srgbClr val="000000"/>
                          </a:solidFill>
                          <a:effectLst/>
                          <a:latin typeface="メイリオ" panose="020B0604030504040204" pitchFamily="50" charset="-128"/>
                          <a:ea typeface="メイリオ" panose="020B0604030504040204" pitchFamily="50" charset="-128"/>
                        </a:rPr>
                        <a:t>も</a:t>
                      </a:r>
                      <a:endParaRPr lang="en-US" altLang="ja-JP" sz="800" b="0" i="0" u="none" strike="noStrike" dirty="0">
                        <a:solidFill>
                          <a:srgbClr val="000000"/>
                        </a:solidFill>
                        <a:effectLst/>
                        <a:latin typeface="メイリオ" panose="020B0604030504040204" pitchFamily="50" charset="-128"/>
                        <a:ea typeface="メイリオ" panose="020B0604030504040204" pitchFamily="50" charset="-128"/>
                      </a:endParaRPr>
                    </a:p>
                    <a:p>
                      <a:pPr algn="ctr" fontAlgn="ctr">
                        <a:buNone/>
                      </a:pPr>
                      <a:r>
                        <a:rPr lang="ja-JP" altLang="en-US" sz="800" b="0" i="0" u="none" strike="noStrike" dirty="0">
                          <a:solidFill>
                            <a:srgbClr val="000000"/>
                          </a:solidFill>
                          <a:effectLst/>
                          <a:latin typeface="メイリオ" panose="020B0604030504040204" pitchFamily="50" charset="-128"/>
                          <a:ea typeface="メイリオ" panose="020B0604030504040204" pitchFamily="50" charset="-128"/>
                        </a:rPr>
                        <a:t>連絡網として活用。</a:t>
                      </a:r>
                    </a:p>
                  </a:txBody>
                  <a:tcPr marL="6767" marR="6767" marT="6767"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extLst>
                  <a:ext uri="{0D108BD9-81ED-4DB2-BD59-A6C34878D82A}">
                    <a16:rowId xmlns:a16="http://schemas.microsoft.com/office/drawing/2014/main" val="365522484"/>
                  </a:ext>
                </a:extLst>
              </a:tr>
              <a:tr h="499336">
                <a:tc vMerge="1">
                  <a:txBody>
                    <a:bodyPr/>
                    <a:lstStyle/>
                    <a:p>
                      <a:endParaRPr kumimoji="1" lang="ja-JP" altLang="en-US"/>
                    </a:p>
                  </a:txBody>
                  <a:tcPr/>
                </a:tc>
                <a:tc>
                  <a:txBody>
                    <a:bodyPr/>
                    <a:lstStyle/>
                    <a:p>
                      <a:pPr algn="ctr" fontAlgn="ctr">
                        <a:buNone/>
                      </a:pPr>
                      <a:r>
                        <a:rPr lang="ja-JP" altLang="en-US" sz="800" b="0" i="0" u="none" strike="noStrike" dirty="0">
                          <a:solidFill>
                            <a:srgbClr val="000000"/>
                          </a:solidFill>
                          <a:effectLst/>
                          <a:latin typeface="メイリオ" panose="020B0604030504040204" pitchFamily="50" charset="-128"/>
                          <a:ea typeface="メイリオ" panose="020B0604030504040204" pitchFamily="50" charset="-128"/>
                        </a:rPr>
                        <a:t>日常連絡の絶対的インフラ。</a:t>
                      </a:r>
                    </a:p>
                  </a:txBody>
                  <a:tcPr marL="6767" marR="6767" marT="6767"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a:noFill/>
                    </a:lnT>
                    <a:lnB w="6350" cap="flat" cmpd="sng" algn="ctr">
                      <a:solidFill>
                        <a:srgbClr val="000000"/>
                      </a:solidFill>
                      <a:prstDash val="solid"/>
                      <a:round/>
                      <a:headEnd type="none" w="med" len="med"/>
                      <a:tailEnd type="none" w="med" len="med"/>
                    </a:lnB>
                    <a:solidFill>
                      <a:srgbClr val="FFFF99"/>
                    </a:solidFill>
                  </a:tcPr>
                </a:tc>
                <a:tc>
                  <a:txBody>
                    <a:bodyPr/>
                    <a:lstStyle/>
                    <a:p>
                      <a:pPr algn="ctr" fontAlgn="ctr">
                        <a:buNone/>
                      </a:pPr>
                      <a:r>
                        <a:rPr lang="ja-JP" altLang="en-US" sz="800" b="0" i="0" u="none" strike="noStrike" dirty="0">
                          <a:solidFill>
                            <a:srgbClr val="000000"/>
                          </a:solidFill>
                          <a:effectLst/>
                          <a:latin typeface="メイリオ" panose="020B0604030504040204" pitchFamily="50" charset="-128"/>
                          <a:ea typeface="メイリオ" panose="020B0604030504040204" pitchFamily="50" charset="-128"/>
                        </a:rPr>
                        <a:t>企業や公式からの連絡は</a:t>
                      </a:r>
                      <a:endParaRPr lang="en-US" altLang="ja-JP" sz="800" b="0" i="0" u="none" strike="noStrike" dirty="0">
                        <a:solidFill>
                          <a:srgbClr val="000000"/>
                        </a:solidFill>
                        <a:effectLst/>
                        <a:latin typeface="メイリオ" panose="020B0604030504040204" pitchFamily="50" charset="-128"/>
                        <a:ea typeface="メイリオ" panose="020B0604030504040204" pitchFamily="50" charset="-128"/>
                      </a:endParaRPr>
                    </a:p>
                    <a:p>
                      <a:pPr algn="ctr" fontAlgn="ctr">
                        <a:buNone/>
                      </a:pPr>
                      <a:r>
                        <a:rPr lang="ja-JP" altLang="en-US" sz="800" b="0" i="0" u="none" strike="noStrike" dirty="0">
                          <a:solidFill>
                            <a:srgbClr val="000000"/>
                          </a:solidFill>
                          <a:effectLst/>
                          <a:latin typeface="メイリオ" panose="020B0604030504040204" pitchFamily="50" charset="-128"/>
                          <a:ea typeface="メイリオ" panose="020B0604030504040204" pitchFamily="50" charset="-128"/>
                        </a:rPr>
                        <a:t>読まれない傾向。</a:t>
                      </a:r>
                    </a:p>
                  </a:txBody>
                  <a:tcPr marL="6767" marR="6767" marT="6767"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a:noFill/>
                    </a:lnT>
                    <a:lnB w="6350" cap="flat" cmpd="sng" algn="ctr">
                      <a:solidFill>
                        <a:srgbClr val="000000"/>
                      </a:solidFill>
                      <a:prstDash val="solid"/>
                      <a:round/>
                      <a:headEnd type="none" w="med" len="med"/>
                      <a:tailEnd type="none" w="med" len="med"/>
                    </a:lnB>
                    <a:solidFill>
                      <a:schemeClr val="bg1"/>
                    </a:solidFill>
                  </a:tcPr>
                </a:tc>
                <a:tc>
                  <a:txBody>
                    <a:bodyPr/>
                    <a:lstStyle/>
                    <a:p>
                      <a:pPr algn="ctr" fontAlgn="ctr">
                        <a:buNone/>
                      </a:pPr>
                      <a:r>
                        <a:rPr lang="ja-JP" altLang="en-US" sz="800" b="0" i="0" u="none" strike="noStrike" dirty="0">
                          <a:solidFill>
                            <a:srgbClr val="000000"/>
                          </a:solidFill>
                          <a:effectLst/>
                          <a:latin typeface="メイリオ" panose="020B0604030504040204" pitchFamily="50" charset="-128"/>
                          <a:ea typeface="メイリオ" panose="020B0604030504040204" pitchFamily="50" charset="-128"/>
                        </a:rPr>
                        <a:t>「電話恐怖症」を持つ人も。</a:t>
                      </a:r>
                    </a:p>
                  </a:txBody>
                  <a:tcPr marL="6767" marR="6767" marT="6767"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a:noFill/>
                    </a:lnT>
                    <a:lnB w="6350" cap="flat" cmpd="sng" algn="ctr">
                      <a:solidFill>
                        <a:srgbClr val="000000"/>
                      </a:solidFill>
                      <a:prstDash val="solid"/>
                      <a:round/>
                      <a:headEnd type="none" w="med" len="med"/>
                      <a:tailEnd type="none" w="med" len="med"/>
                    </a:lnB>
                    <a:solidFill>
                      <a:schemeClr val="bg1"/>
                    </a:solidFill>
                  </a:tcPr>
                </a:tc>
                <a:tc vMerge="1">
                  <a:txBody>
                    <a:bodyPr/>
                    <a:lstStyle/>
                    <a:p>
                      <a:endParaRPr kumimoji="1" lang="ja-JP" altLang="en-US"/>
                    </a:p>
                  </a:txBody>
                  <a:tcPr/>
                </a:tc>
                <a:extLst>
                  <a:ext uri="{0D108BD9-81ED-4DB2-BD59-A6C34878D82A}">
                    <a16:rowId xmlns:a16="http://schemas.microsoft.com/office/drawing/2014/main" val="1705581114"/>
                  </a:ext>
                </a:extLst>
              </a:tr>
              <a:tr h="499336">
                <a:tc rowSpan="2">
                  <a:txBody>
                    <a:bodyPr/>
                    <a:lstStyle/>
                    <a:p>
                      <a:pPr algn="l" fontAlgn="ctr">
                        <a:buNone/>
                      </a:pPr>
                      <a:r>
                        <a:rPr lang="ja-JP" altLang="en-US" sz="1050" b="1" i="0" u="none" strike="noStrike" dirty="0">
                          <a:solidFill>
                            <a:srgbClr val="000000"/>
                          </a:solidFill>
                          <a:effectLst/>
                          <a:latin typeface="メイリオ" panose="020B0604030504040204" pitchFamily="50" charset="-128"/>
                          <a:ea typeface="メイリオ" panose="020B0604030504040204" pitchFamily="50" charset="-128"/>
                        </a:rPr>
                        <a:t>　　　</a:t>
                      </a:r>
                      <a:r>
                        <a:rPr lang="en-US" altLang="ja-JP" sz="1050" b="1" i="0" u="none" strike="noStrike" dirty="0">
                          <a:solidFill>
                            <a:srgbClr val="000000"/>
                          </a:solidFill>
                          <a:effectLst/>
                          <a:latin typeface="メイリオ" panose="020B0604030504040204" pitchFamily="50" charset="-128"/>
                          <a:ea typeface="メイリオ" panose="020B0604030504040204" pitchFamily="50" charset="-128"/>
                        </a:rPr>
                        <a:t>30</a:t>
                      </a:r>
                      <a:r>
                        <a:rPr lang="ja-JP" altLang="en-US" sz="1050" b="1" i="0" u="none" strike="noStrike" dirty="0">
                          <a:solidFill>
                            <a:srgbClr val="000000"/>
                          </a:solidFill>
                          <a:effectLst/>
                          <a:latin typeface="メイリオ" panose="020B0604030504040204" pitchFamily="50" charset="-128"/>
                          <a:ea typeface="メイリオ" panose="020B0604030504040204" pitchFamily="50" charset="-128"/>
                        </a:rPr>
                        <a:t>代</a:t>
                      </a:r>
                      <a:r>
                        <a:rPr lang="en-US" altLang="ja-JP" sz="1050" b="1" i="0" u="none" strike="noStrike" dirty="0">
                          <a:solidFill>
                            <a:srgbClr val="000000"/>
                          </a:solidFill>
                          <a:effectLst/>
                          <a:latin typeface="メイリオ" panose="020B0604030504040204" pitchFamily="50" charset="-128"/>
                          <a:ea typeface="メイリオ" panose="020B0604030504040204" pitchFamily="50" charset="-128"/>
                        </a:rPr>
                        <a:t>〜40</a:t>
                      </a:r>
                      <a:r>
                        <a:rPr lang="ja-JP" altLang="en-US" sz="1050" b="1" i="0" u="none" strike="noStrike" dirty="0">
                          <a:solidFill>
                            <a:srgbClr val="000000"/>
                          </a:solidFill>
                          <a:effectLst/>
                          <a:latin typeface="メイリオ" panose="020B0604030504040204" pitchFamily="50" charset="-128"/>
                          <a:ea typeface="メイリオ" panose="020B0604030504040204" pitchFamily="50" charset="-128"/>
                        </a:rPr>
                        <a:t>代</a:t>
                      </a:r>
                    </a:p>
                  </a:txBody>
                  <a:tcPr marL="6767" marR="6767" marT="6767"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AE9F8"/>
                    </a:solidFill>
                  </a:tcPr>
                </a:tc>
                <a:tc>
                  <a:txBody>
                    <a:bodyPr/>
                    <a:lstStyle/>
                    <a:p>
                      <a:pPr algn="ctr" fontAlgn="ctr">
                        <a:buNone/>
                      </a:pPr>
                      <a:r>
                        <a:rPr lang="ja-JP" altLang="en-US" sz="1000" b="1" i="0" u="none" strike="noStrike" dirty="0">
                          <a:solidFill>
                            <a:srgbClr val="000000"/>
                          </a:solidFill>
                          <a:effectLst/>
                          <a:latin typeface="メイリオ" panose="020B0604030504040204" pitchFamily="50" charset="-128"/>
                          <a:ea typeface="メイリオ" panose="020B0604030504040204" pitchFamily="50" charset="-128"/>
                        </a:rPr>
                        <a:t>利用率：</a:t>
                      </a:r>
                      <a:r>
                        <a:rPr lang="en-US" altLang="ja-JP" sz="1000" b="1" i="0" u="none" strike="noStrike" dirty="0">
                          <a:solidFill>
                            <a:srgbClr val="000000"/>
                          </a:solidFill>
                          <a:effectLst/>
                          <a:latin typeface="メイリオ" panose="020B0604030504040204" pitchFamily="50" charset="-128"/>
                          <a:ea typeface="メイリオ" panose="020B0604030504040204" pitchFamily="50" charset="-128"/>
                        </a:rPr>
                        <a:t>90%</a:t>
                      </a:r>
                      <a:r>
                        <a:rPr lang="ja-JP" altLang="en-US" sz="1000" b="1" i="0" u="none" strike="noStrike" dirty="0">
                          <a:solidFill>
                            <a:srgbClr val="000000"/>
                          </a:solidFill>
                          <a:effectLst/>
                          <a:latin typeface="メイリオ" panose="020B0604030504040204" pitchFamily="50" charset="-128"/>
                          <a:ea typeface="メイリオ" panose="020B0604030504040204" pitchFamily="50" charset="-128"/>
                        </a:rPr>
                        <a:t>以上</a:t>
                      </a:r>
                    </a:p>
                  </a:txBody>
                  <a:tcPr marL="6767" marR="6767" marT="6767"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a:noFill/>
                    </a:lnB>
                    <a:solidFill>
                      <a:srgbClr val="FFFF99"/>
                    </a:solidFill>
                  </a:tcPr>
                </a:tc>
                <a:tc>
                  <a:txBody>
                    <a:bodyPr/>
                    <a:lstStyle/>
                    <a:p>
                      <a:pPr algn="ctr" fontAlgn="ctr">
                        <a:buNone/>
                      </a:pPr>
                      <a:r>
                        <a:rPr lang="ja-JP" altLang="en-US" sz="1000" b="1" i="0" u="none" strike="noStrike">
                          <a:solidFill>
                            <a:srgbClr val="000000"/>
                          </a:solidFill>
                          <a:effectLst/>
                          <a:latin typeface="メイリオ" panose="020B0604030504040204" pitchFamily="50" charset="-128"/>
                          <a:ea typeface="メイリオ" panose="020B0604030504040204" pitchFamily="50" charset="-128"/>
                        </a:rPr>
                        <a:t>利用率：中</a:t>
                      </a:r>
                      <a:r>
                        <a:rPr lang="en-US" altLang="ja-JP" sz="1000" b="1" i="0" u="none" strike="noStrike">
                          <a:solidFill>
                            <a:srgbClr val="000000"/>
                          </a:solidFill>
                          <a:effectLst/>
                          <a:latin typeface="メイリオ" panose="020B0604030504040204" pitchFamily="50" charset="-128"/>
                          <a:ea typeface="メイリオ" panose="020B0604030504040204" pitchFamily="50" charset="-128"/>
                        </a:rPr>
                        <a:t>〜</a:t>
                      </a:r>
                      <a:r>
                        <a:rPr lang="ja-JP" altLang="en-US" sz="1000" b="1" i="0" u="none" strike="noStrike">
                          <a:solidFill>
                            <a:srgbClr val="000000"/>
                          </a:solidFill>
                          <a:effectLst/>
                          <a:latin typeface="メイリオ" panose="020B0604030504040204" pitchFamily="50" charset="-128"/>
                          <a:ea typeface="メイリオ" panose="020B0604030504040204" pitchFamily="50" charset="-128"/>
                        </a:rPr>
                        <a:t>高</a:t>
                      </a:r>
                    </a:p>
                  </a:txBody>
                  <a:tcPr marL="6767" marR="6767" marT="6767"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a:noFill/>
                    </a:lnB>
                    <a:solidFill>
                      <a:schemeClr val="bg1"/>
                    </a:solidFill>
                  </a:tcPr>
                </a:tc>
                <a:tc>
                  <a:txBody>
                    <a:bodyPr/>
                    <a:lstStyle/>
                    <a:p>
                      <a:pPr algn="ctr" fontAlgn="ctr">
                        <a:buNone/>
                      </a:pPr>
                      <a:r>
                        <a:rPr lang="ja-JP" altLang="en-US" sz="1000" b="1" i="0" u="none" strike="noStrike" dirty="0">
                          <a:solidFill>
                            <a:srgbClr val="000000"/>
                          </a:solidFill>
                          <a:effectLst/>
                          <a:latin typeface="メイリオ" panose="020B0604030504040204" pitchFamily="50" charset="-128"/>
                          <a:ea typeface="メイリオ" panose="020B0604030504040204" pitchFamily="50" charset="-128"/>
                        </a:rPr>
                        <a:t>利用率：中</a:t>
                      </a:r>
                    </a:p>
                  </a:txBody>
                  <a:tcPr marL="6767" marR="6767" marT="6767"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a:noFill/>
                    </a:lnB>
                    <a:solidFill>
                      <a:schemeClr val="bg1"/>
                    </a:solidFill>
                  </a:tcPr>
                </a:tc>
                <a:tc rowSpan="2">
                  <a:txBody>
                    <a:bodyPr/>
                    <a:lstStyle/>
                    <a:p>
                      <a:pPr algn="ctr" fontAlgn="ctr">
                        <a:buNone/>
                      </a:pPr>
                      <a:r>
                        <a:rPr lang="en-US" altLang="ja-JP" sz="800" b="0" i="0" u="none" strike="noStrike" dirty="0">
                          <a:solidFill>
                            <a:srgbClr val="000000"/>
                          </a:solidFill>
                          <a:effectLst/>
                          <a:latin typeface="メイリオ" panose="020B0604030504040204" pitchFamily="50" charset="-128"/>
                          <a:ea typeface="メイリオ" panose="020B0604030504040204" pitchFamily="50" charset="-128"/>
                        </a:rPr>
                        <a:t>Facebook</a:t>
                      </a:r>
                      <a:r>
                        <a:rPr lang="ja-JP" altLang="en-US" sz="800" b="0" i="0" u="none" strike="noStrike" dirty="0">
                          <a:solidFill>
                            <a:srgbClr val="000000"/>
                          </a:solidFill>
                          <a:effectLst/>
                          <a:latin typeface="メイリオ" panose="020B0604030504040204" pitchFamily="50" charset="-128"/>
                          <a:ea typeface="メイリオ" panose="020B0604030504040204" pitchFamily="50" charset="-128"/>
                        </a:rPr>
                        <a:t>や</a:t>
                      </a:r>
                      <a:r>
                        <a:rPr lang="en-US" altLang="ja-JP" sz="800" b="0" i="0" u="none" strike="noStrike" dirty="0">
                          <a:solidFill>
                            <a:srgbClr val="000000"/>
                          </a:solidFill>
                          <a:effectLst/>
                          <a:latin typeface="メイリオ" panose="020B0604030504040204" pitchFamily="50" charset="-128"/>
                          <a:ea typeface="メイリオ" panose="020B0604030504040204" pitchFamily="50" charset="-128"/>
                        </a:rPr>
                        <a:t>X</a:t>
                      </a:r>
                      <a:r>
                        <a:rPr lang="ja-JP" altLang="en-US" sz="800" b="0" i="0" u="none" strike="noStrike" dirty="0">
                          <a:solidFill>
                            <a:srgbClr val="000000"/>
                          </a:solidFill>
                          <a:effectLst/>
                          <a:latin typeface="メイリオ" panose="020B0604030504040204" pitchFamily="50" charset="-128"/>
                          <a:ea typeface="メイリオ" panose="020B0604030504040204" pitchFamily="50" charset="-128"/>
                        </a:rPr>
                        <a:t>での情報収集が活発。</a:t>
                      </a:r>
                    </a:p>
                  </a:txBody>
                  <a:tcPr marL="6767" marR="6767" marT="6767"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extLst>
                  <a:ext uri="{0D108BD9-81ED-4DB2-BD59-A6C34878D82A}">
                    <a16:rowId xmlns:a16="http://schemas.microsoft.com/office/drawing/2014/main" val="3813153412"/>
                  </a:ext>
                </a:extLst>
              </a:tr>
              <a:tr h="499336">
                <a:tc vMerge="1">
                  <a:txBody>
                    <a:bodyPr/>
                    <a:lstStyle/>
                    <a:p>
                      <a:endParaRPr kumimoji="1" lang="ja-JP" altLang="en-US"/>
                    </a:p>
                  </a:txBody>
                  <a:tcPr/>
                </a:tc>
                <a:tc>
                  <a:txBody>
                    <a:bodyPr/>
                    <a:lstStyle/>
                    <a:p>
                      <a:pPr algn="ctr" fontAlgn="ctr">
                        <a:buNone/>
                      </a:pPr>
                      <a:r>
                        <a:rPr lang="ja-JP" altLang="en-US" sz="800" b="0" i="0" u="none" strike="noStrike" dirty="0">
                          <a:solidFill>
                            <a:srgbClr val="000000"/>
                          </a:solidFill>
                          <a:effectLst/>
                          <a:latin typeface="メイリオ" panose="020B0604030504040204" pitchFamily="50" charset="-128"/>
                          <a:ea typeface="メイリオ" panose="020B0604030504040204" pitchFamily="50" charset="-128"/>
                        </a:rPr>
                        <a:t>プライベートの連絡網。</a:t>
                      </a:r>
                    </a:p>
                  </a:txBody>
                  <a:tcPr marL="6767" marR="6767" marT="6767"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a:noFill/>
                    </a:lnT>
                    <a:lnB w="6350" cap="flat" cmpd="sng" algn="ctr">
                      <a:solidFill>
                        <a:srgbClr val="000000"/>
                      </a:solidFill>
                      <a:prstDash val="solid"/>
                      <a:round/>
                      <a:headEnd type="none" w="med" len="med"/>
                      <a:tailEnd type="none" w="med" len="med"/>
                    </a:lnB>
                    <a:solidFill>
                      <a:srgbClr val="FFFF99"/>
                    </a:solidFill>
                  </a:tcPr>
                </a:tc>
                <a:tc>
                  <a:txBody>
                    <a:bodyPr/>
                    <a:lstStyle/>
                    <a:p>
                      <a:pPr algn="ctr" fontAlgn="ctr">
                        <a:buNone/>
                      </a:pPr>
                      <a:r>
                        <a:rPr lang="ja-JP" altLang="en-US" sz="800" b="0" i="0" u="none" strike="noStrike" dirty="0">
                          <a:solidFill>
                            <a:srgbClr val="000000"/>
                          </a:solidFill>
                          <a:effectLst/>
                          <a:latin typeface="メイリオ" panose="020B0604030504040204" pitchFamily="50" charset="-128"/>
                          <a:ea typeface="メイリオ" panose="020B0604030504040204" pitchFamily="50" charset="-128"/>
                        </a:rPr>
                        <a:t>仕事や、メルマガでの</a:t>
                      </a:r>
                      <a:endParaRPr lang="en-US" altLang="ja-JP" sz="800" b="0" i="0" u="none" strike="noStrike" dirty="0">
                        <a:solidFill>
                          <a:srgbClr val="000000"/>
                        </a:solidFill>
                        <a:effectLst/>
                        <a:latin typeface="メイリオ" panose="020B0604030504040204" pitchFamily="50" charset="-128"/>
                        <a:ea typeface="メイリオ" panose="020B0604030504040204" pitchFamily="50" charset="-128"/>
                      </a:endParaRPr>
                    </a:p>
                    <a:p>
                      <a:pPr algn="ctr" fontAlgn="ctr">
                        <a:buNone/>
                      </a:pPr>
                      <a:r>
                        <a:rPr lang="ja-JP" altLang="en-US" sz="800" b="0" i="0" u="none" strike="noStrike" dirty="0">
                          <a:solidFill>
                            <a:srgbClr val="000000"/>
                          </a:solidFill>
                          <a:effectLst/>
                          <a:latin typeface="メイリオ" panose="020B0604030504040204" pitchFamily="50" charset="-128"/>
                          <a:ea typeface="メイリオ" panose="020B0604030504040204" pitchFamily="50" charset="-128"/>
                        </a:rPr>
                        <a:t>セールス情報に抵抗なし。</a:t>
                      </a:r>
                    </a:p>
                  </a:txBody>
                  <a:tcPr marL="6767" marR="6767" marT="6767"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a:noFill/>
                    </a:lnT>
                    <a:lnB w="6350" cap="flat" cmpd="sng" algn="ctr">
                      <a:solidFill>
                        <a:srgbClr val="000000"/>
                      </a:solidFill>
                      <a:prstDash val="solid"/>
                      <a:round/>
                      <a:headEnd type="none" w="med" len="med"/>
                      <a:tailEnd type="none" w="med" len="med"/>
                    </a:lnB>
                    <a:solidFill>
                      <a:schemeClr val="bg1"/>
                    </a:solidFill>
                  </a:tcPr>
                </a:tc>
                <a:tc>
                  <a:txBody>
                    <a:bodyPr/>
                    <a:lstStyle/>
                    <a:p>
                      <a:pPr algn="ctr" fontAlgn="ctr">
                        <a:buNone/>
                      </a:pPr>
                      <a:r>
                        <a:rPr lang="ja-JP" altLang="en-US" sz="800" b="0" i="0" u="none" strike="noStrike" dirty="0">
                          <a:solidFill>
                            <a:srgbClr val="000000"/>
                          </a:solidFill>
                          <a:effectLst/>
                          <a:latin typeface="メイリオ" panose="020B0604030504040204" pitchFamily="50" charset="-128"/>
                          <a:ea typeface="メイリオ" panose="020B0604030504040204" pitchFamily="50" charset="-128"/>
                        </a:rPr>
                        <a:t>プライベートでは減少傾向も</a:t>
                      </a:r>
                      <a:endParaRPr lang="en-US" altLang="ja-JP" sz="800" b="0" i="0" u="none" strike="noStrike" dirty="0">
                        <a:solidFill>
                          <a:srgbClr val="000000"/>
                        </a:solidFill>
                        <a:effectLst/>
                        <a:latin typeface="メイリオ" panose="020B0604030504040204" pitchFamily="50" charset="-128"/>
                        <a:ea typeface="メイリオ" panose="020B0604030504040204" pitchFamily="50" charset="-128"/>
                      </a:endParaRPr>
                    </a:p>
                    <a:p>
                      <a:pPr algn="ctr" fontAlgn="ctr">
                        <a:buNone/>
                      </a:pPr>
                      <a:r>
                        <a:rPr lang="ja-JP" altLang="en-US" sz="800" b="0" i="0" u="none" strike="noStrike" dirty="0">
                          <a:solidFill>
                            <a:srgbClr val="000000"/>
                          </a:solidFill>
                          <a:effectLst/>
                          <a:latin typeface="メイリオ" panose="020B0604030504040204" pitchFamily="50" charset="-128"/>
                          <a:ea typeface="メイリオ" panose="020B0604030504040204" pitchFamily="50" charset="-128"/>
                        </a:rPr>
                        <a:t>仕事では必須。</a:t>
                      </a:r>
                    </a:p>
                  </a:txBody>
                  <a:tcPr marL="6767" marR="6767" marT="6767"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a:noFill/>
                    </a:lnT>
                    <a:lnB w="6350" cap="flat" cmpd="sng" algn="ctr">
                      <a:solidFill>
                        <a:srgbClr val="000000"/>
                      </a:solidFill>
                      <a:prstDash val="solid"/>
                      <a:round/>
                      <a:headEnd type="none" w="med" len="med"/>
                      <a:tailEnd type="none" w="med" len="med"/>
                    </a:lnB>
                    <a:solidFill>
                      <a:schemeClr val="bg1"/>
                    </a:solidFill>
                  </a:tcPr>
                </a:tc>
                <a:tc vMerge="1">
                  <a:txBody>
                    <a:bodyPr/>
                    <a:lstStyle/>
                    <a:p>
                      <a:endParaRPr kumimoji="1" lang="ja-JP" altLang="en-US"/>
                    </a:p>
                  </a:txBody>
                  <a:tcPr/>
                </a:tc>
                <a:extLst>
                  <a:ext uri="{0D108BD9-81ED-4DB2-BD59-A6C34878D82A}">
                    <a16:rowId xmlns:a16="http://schemas.microsoft.com/office/drawing/2014/main" val="3489989836"/>
                  </a:ext>
                </a:extLst>
              </a:tr>
              <a:tr h="499336">
                <a:tc rowSpan="2">
                  <a:txBody>
                    <a:bodyPr/>
                    <a:lstStyle/>
                    <a:p>
                      <a:pPr algn="l" fontAlgn="ctr">
                        <a:buNone/>
                      </a:pPr>
                      <a:r>
                        <a:rPr lang="ja-JP" altLang="en-US" sz="1050" b="1" i="0" u="none" strike="noStrike" dirty="0">
                          <a:solidFill>
                            <a:srgbClr val="000000"/>
                          </a:solidFill>
                          <a:effectLst/>
                          <a:latin typeface="メイリオ" panose="020B0604030504040204" pitchFamily="50" charset="-128"/>
                          <a:ea typeface="メイリオ" panose="020B0604030504040204" pitchFamily="50" charset="-128"/>
                        </a:rPr>
                        <a:t>　　　</a:t>
                      </a:r>
                      <a:r>
                        <a:rPr lang="en-US" altLang="ja-JP" sz="1050" b="1" i="0" u="none" strike="noStrike" dirty="0">
                          <a:solidFill>
                            <a:srgbClr val="000000"/>
                          </a:solidFill>
                          <a:effectLst/>
                          <a:latin typeface="メイリオ" panose="020B0604030504040204" pitchFamily="50" charset="-128"/>
                          <a:ea typeface="メイリオ" panose="020B0604030504040204" pitchFamily="50" charset="-128"/>
                        </a:rPr>
                        <a:t>50</a:t>
                      </a:r>
                      <a:r>
                        <a:rPr lang="ja-JP" altLang="en-US" sz="1050" b="1" i="0" u="none" strike="noStrike" dirty="0">
                          <a:solidFill>
                            <a:srgbClr val="000000"/>
                          </a:solidFill>
                          <a:effectLst/>
                          <a:latin typeface="メイリオ" panose="020B0604030504040204" pitchFamily="50" charset="-128"/>
                          <a:ea typeface="メイリオ" panose="020B0604030504040204" pitchFamily="50" charset="-128"/>
                        </a:rPr>
                        <a:t>代</a:t>
                      </a:r>
                      <a:r>
                        <a:rPr lang="en-US" altLang="ja-JP" sz="1050" b="1" i="0" u="none" strike="noStrike" dirty="0">
                          <a:solidFill>
                            <a:srgbClr val="000000"/>
                          </a:solidFill>
                          <a:effectLst/>
                          <a:latin typeface="メイリオ" panose="020B0604030504040204" pitchFamily="50" charset="-128"/>
                          <a:ea typeface="メイリオ" panose="020B0604030504040204" pitchFamily="50" charset="-128"/>
                        </a:rPr>
                        <a:t>〜60</a:t>
                      </a:r>
                      <a:r>
                        <a:rPr lang="ja-JP" altLang="en-US" sz="1050" b="1" i="0" u="none" strike="noStrike" dirty="0">
                          <a:solidFill>
                            <a:srgbClr val="000000"/>
                          </a:solidFill>
                          <a:effectLst/>
                          <a:latin typeface="メイリオ" panose="020B0604030504040204" pitchFamily="50" charset="-128"/>
                          <a:ea typeface="メイリオ" panose="020B0604030504040204" pitchFamily="50" charset="-128"/>
                        </a:rPr>
                        <a:t>代</a:t>
                      </a:r>
                    </a:p>
                  </a:txBody>
                  <a:tcPr marL="6767" marR="6767" marT="6767"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AE9F8"/>
                    </a:solidFill>
                  </a:tcPr>
                </a:tc>
                <a:tc>
                  <a:txBody>
                    <a:bodyPr/>
                    <a:lstStyle/>
                    <a:p>
                      <a:pPr algn="ctr" fontAlgn="ctr">
                        <a:buNone/>
                      </a:pPr>
                      <a:r>
                        <a:rPr lang="ja-JP" altLang="en-US" sz="1000" b="1" i="0" u="none" strike="noStrike" dirty="0">
                          <a:solidFill>
                            <a:srgbClr val="000000"/>
                          </a:solidFill>
                          <a:effectLst/>
                          <a:latin typeface="メイリオ" panose="020B0604030504040204" pitchFamily="50" charset="-128"/>
                          <a:ea typeface="メイリオ" panose="020B0604030504040204" pitchFamily="50" charset="-128"/>
                        </a:rPr>
                        <a:t>利用率：</a:t>
                      </a:r>
                      <a:r>
                        <a:rPr lang="en-US" altLang="ja-JP" sz="1000" b="1" i="0" u="none" strike="noStrike" dirty="0">
                          <a:solidFill>
                            <a:srgbClr val="000000"/>
                          </a:solidFill>
                          <a:effectLst/>
                          <a:latin typeface="メイリオ" panose="020B0604030504040204" pitchFamily="50" charset="-128"/>
                          <a:ea typeface="メイリオ" panose="020B0604030504040204" pitchFamily="50" charset="-128"/>
                        </a:rPr>
                        <a:t>80%〜90%</a:t>
                      </a:r>
                    </a:p>
                  </a:txBody>
                  <a:tcPr marL="6767" marR="6767" marT="6767"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a:noFill/>
                    </a:lnB>
                    <a:solidFill>
                      <a:srgbClr val="FFFF99"/>
                    </a:solidFill>
                  </a:tcPr>
                </a:tc>
                <a:tc>
                  <a:txBody>
                    <a:bodyPr/>
                    <a:lstStyle/>
                    <a:p>
                      <a:pPr algn="ctr" fontAlgn="ctr">
                        <a:buNone/>
                      </a:pPr>
                      <a:r>
                        <a:rPr lang="ja-JP" altLang="en-US" sz="1000" b="1" i="0" u="none" strike="noStrike" dirty="0">
                          <a:solidFill>
                            <a:srgbClr val="000000"/>
                          </a:solidFill>
                          <a:effectLst/>
                          <a:latin typeface="メイリオ" panose="020B0604030504040204" pitchFamily="50" charset="-128"/>
                          <a:ea typeface="メイリオ" panose="020B0604030504040204" pitchFamily="50" charset="-128"/>
                        </a:rPr>
                        <a:t>利用率：高い</a:t>
                      </a:r>
                    </a:p>
                  </a:txBody>
                  <a:tcPr marL="6767" marR="6767" marT="6767"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a:noFill/>
                    </a:lnB>
                    <a:solidFill>
                      <a:schemeClr val="bg1"/>
                    </a:solidFill>
                  </a:tcPr>
                </a:tc>
                <a:tc>
                  <a:txBody>
                    <a:bodyPr/>
                    <a:lstStyle/>
                    <a:p>
                      <a:pPr algn="ctr" fontAlgn="ctr">
                        <a:buNone/>
                      </a:pPr>
                      <a:r>
                        <a:rPr lang="ja-JP" altLang="en-US" sz="1000" b="1" i="0" u="none" strike="noStrike" dirty="0">
                          <a:solidFill>
                            <a:srgbClr val="000000"/>
                          </a:solidFill>
                          <a:effectLst/>
                          <a:latin typeface="メイリオ" panose="020B0604030504040204" pitchFamily="50" charset="-128"/>
                          <a:ea typeface="メイリオ" panose="020B0604030504040204" pitchFamily="50" charset="-128"/>
                        </a:rPr>
                        <a:t>利用率：高い</a:t>
                      </a:r>
                    </a:p>
                  </a:txBody>
                  <a:tcPr marL="6767" marR="6767" marT="6767"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a:noFill/>
                    </a:lnB>
                    <a:solidFill>
                      <a:schemeClr val="bg1"/>
                    </a:solidFill>
                  </a:tcPr>
                </a:tc>
                <a:tc rowSpan="2">
                  <a:txBody>
                    <a:bodyPr/>
                    <a:lstStyle/>
                    <a:p>
                      <a:pPr algn="ctr" fontAlgn="ctr">
                        <a:buNone/>
                      </a:pPr>
                      <a:r>
                        <a:rPr lang="en-US" altLang="ja-JP" sz="800" b="0" i="0" u="none" strike="noStrike">
                          <a:solidFill>
                            <a:srgbClr val="000000"/>
                          </a:solidFill>
                          <a:effectLst/>
                          <a:latin typeface="メイリオ" panose="020B0604030504040204" pitchFamily="50" charset="-128"/>
                          <a:ea typeface="メイリオ" panose="020B0604030504040204" pitchFamily="50" charset="-128"/>
                        </a:rPr>
                        <a:t>YouTube</a:t>
                      </a:r>
                      <a:r>
                        <a:rPr lang="ja-JP" altLang="en-US" sz="800" b="0" i="0" u="none" strike="noStrike">
                          <a:solidFill>
                            <a:srgbClr val="000000"/>
                          </a:solidFill>
                          <a:effectLst/>
                          <a:latin typeface="メイリオ" panose="020B0604030504040204" pitchFamily="50" charset="-128"/>
                          <a:ea typeface="メイリオ" panose="020B0604030504040204" pitchFamily="50" charset="-128"/>
                        </a:rPr>
                        <a:t>での趣味動画視聴も普及。</a:t>
                      </a:r>
                    </a:p>
                  </a:txBody>
                  <a:tcPr marL="6767" marR="6767" marT="6767"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extLst>
                  <a:ext uri="{0D108BD9-81ED-4DB2-BD59-A6C34878D82A}">
                    <a16:rowId xmlns:a16="http://schemas.microsoft.com/office/drawing/2014/main" val="476969856"/>
                  </a:ext>
                </a:extLst>
              </a:tr>
              <a:tr h="499336">
                <a:tc vMerge="1">
                  <a:txBody>
                    <a:bodyPr/>
                    <a:lstStyle/>
                    <a:p>
                      <a:endParaRPr kumimoji="1" lang="ja-JP" altLang="en-US"/>
                    </a:p>
                  </a:txBody>
                  <a:tcPr/>
                </a:tc>
                <a:tc>
                  <a:txBody>
                    <a:bodyPr/>
                    <a:lstStyle/>
                    <a:p>
                      <a:pPr algn="ctr" fontAlgn="ctr">
                        <a:buNone/>
                      </a:pPr>
                      <a:r>
                        <a:rPr lang="ja-JP" altLang="en-US" sz="800" b="0" i="0" u="none" strike="noStrike">
                          <a:solidFill>
                            <a:srgbClr val="000000"/>
                          </a:solidFill>
                          <a:effectLst/>
                          <a:latin typeface="メイリオ" panose="020B0604030504040204" pitchFamily="50" charset="-128"/>
                          <a:ea typeface="メイリオ" panose="020B0604030504040204" pitchFamily="50" charset="-128"/>
                        </a:rPr>
                        <a:t>家族や友人との連絡で定着。</a:t>
                      </a:r>
                    </a:p>
                  </a:txBody>
                  <a:tcPr marL="6767" marR="6767" marT="6767"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a:noFill/>
                    </a:lnT>
                    <a:lnB w="6350" cap="flat" cmpd="sng" algn="ctr">
                      <a:solidFill>
                        <a:srgbClr val="000000"/>
                      </a:solidFill>
                      <a:prstDash val="solid"/>
                      <a:round/>
                      <a:headEnd type="none" w="med" len="med"/>
                      <a:tailEnd type="none" w="med" len="med"/>
                    </a:lnB>
                    <a:solidFill>
                      <a:srgbClr val="FFFF99"/>
                    </a:solidFill>
                  </a:tcPr>
                </a:tc>
                <a:tc>
                  <a:txBody>
                    <a:bodyPr/>
                    <a:lstStyle/>
                    <a:p>
                      <a:pPr algn="ctr" fontAlgn="ctr">
                        <a:buNone/>
                      </a:pPr>
                      <a:r>
                        <a:rPr lang="ja-JP" altLang="en-US" sz="800" b="0" i="0" u="none" strike="noStrike" dirty="0">
                          <a:solidFill>
                            <a:srgbClr val="000000"/>
                          </a:solidFill>
                          <a:effectLst/>
                          <a:latin typeface="メイリオ" panose="020B0604030504040204" pitchFamily="50" charset="-128"/>
                          <a:ea typeface="メイリオ" panose="020B0604030504040204" pitchFamily="50" charset="-128"/>
                        </a:rPr>
                        <a:t>最も好まれる企業からの</a:t>
                      </a:r>
                      <a:endParaRPr lang="en-US" altLang="ja-JP" sz="800" b="0" i="0" u="none" strike="noStrike" dirty="0">
                        <a:solidFill>
                          <a:srgbClr val="000000"/>
                        </a:solidFill>
                        <a:effectLst/>
                        <a:latin typeface="メイリオ" panose="020B0604030504040204" pitchFamily="50" charset="-128"/>
                        <a:ea typeface="メイリオ" panose="020B0604030504040204" pitchFamily="50" charset="-128"/>
                      </a:endParaRPr>
                    </a:p>
                    <a:p>
                      <a:pPr algn="ctr" fontAlgn="ctr">
                        <a:buNone/>
                      </a:pPr>
                      <a:r>
                        <a:rPr lang="ja-JP" altLang="en-US" sz="800" b="0" i="0" u="none" strike="noStrike" dirty="0">
                          <a:solidFill>
                            <a:srgbClr val="000000"/>
                          </a:solidFill>
                          <a:effectLst/>
                          <a:latin typeface="メイリオ" panose="020B0604030504040204" pitchFamily="50" charset="-128"/>
                          <a:ea typeface="メイリオ" panose="020B0604030504040204" pitchFamily="50" charset="-128"/>
                        </a:rPr>
                        <a:t>情報受取ツール。</a:t>
                      </a:r>
                    </a:p>
                  </a:txBody>
                  <a:tcPr marL="6767" marR="6767" marT="6767"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a:noFill/>
                    </a:lnT>
                    <a:lnB w="6350" cap="flat" cmpd="sng" algn="ctr">
                      <a:solidFill>
                        <a:srgbClr val="000000"/>
                      </a:solidFill>
                      <a:prstDash val="solid"/>
                      <a:round/>
                      <a:headEnd type="none" w="med" len="med"/>
                      <a:tailEnd type="none" w="med" len="med"/>
                    </a:lnB>
                    <a:solidFill>
                      <a:schemeClr val="bg1"/>
                    </a:solidFill>
                  </a:tcPr>
                </a:tc>
                <a:tc>
                  <a:txBody>
                    <a:bodyPr/>
                    <a:lstStyle/>
                    <a:p>
                      <a:pPr algn="ctr" fontAlgn="ctr">
                        <a:buNone/>
                      </a:pPr>
                      <a:r>
                        <a:rPr lang="ja-JP" altLang="en-US" sz="800" b="0" i="0" u="none" strike="noStrike" dirty="0">
                          <a:solidFill>
                            <a:srgbClr val="000000"/>
                          </a:solidFill>
                          <a:effectLst/>
                          <a:latin typeface="メイリオ" panose="020B0604030504040204" pitchFamily="50" charset="-128"/>
                          <a:ea typeface="メイリオ" panose="020B0604030504040204" pitchFamily="50" charset="-128"/>
                        </a:rPr>
                        <a:t>予約や急ぎの用件で信頼性が高い。</a:t>
                      </a:r>
                    </a:p>
                  </a:txBody>
                  <a:tcPr marL="6767" marR="6767" marT="6767"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a:noFill/>
                    </a:lnT>
                    <a:lnB w="6350" cap="flat" cmpd="sng" algn="ctr">
                      <a:solidFill>
                        <a:srgbClr val="000000"/>
                      </a:solidFill>
                      <a:prstDash val="solid"/>
                      <a:round/>
                      <a:headEnd type="none" w="med" len="med"/>
                      <a:tailEnd type="none" w="med" len="med"/>
                    </a:lnB>
                    <a:solidFill>
                      <a:schemeClr val="bg1"/>
                    </a:solidFill>
                  </a:tcPr>
                </a:tc>
                <a:tc vMerge="1">
                  <a:txBody>
                    <a:bodyPr/>
                    <a:lstStyle/>
                    <a:p>
                      <a:endParaRPr kumimoji="1" lang="ja-JP" altLang="en-US"/>
                    </a:p>
                  </a:txBody>
                  <a:tcPr/>
                </a:tc>
                <a:extLst>
                  <a:ext uri="{0D108BD9-81ED-4DB2-BD59-A6C34878D82A}">
                    <a16:rowId xmlns:a16="http://schemas.microsoft.com/office/drawing/2014/main" val="2832446328"/>
                  </a:ext>
                </a:extLst>
              </a:tr>
              <a:tr h="499336">
                <a:tc rowSpan="2">
                  <a:txBody>
                    <a:bodyPr/>
                    <a:lstStyle/>
                    <a:p>
                      <a:pPr algn="ctr" fontAlgn="ctr">
                        <a:buNone/>
                      </a:pPr>
                      <a:r>
                        <a:rPr lang="en-US" altLang="ja-JP" sz="1050" b="1" i="0" u="none" strike="noStrike" dirty="0">
                          <a:solidFill>
                            <a:srgbClr val="000000"/>
                          </a:solidFill>
                          <a:effectLst/>
                          <a:latin typeface="メイリオ" panose="020B0604030504040204" pitchFamily="50" charset="-128"/>
                          <a:ea typeface="メイリオ" panose="020B0604030504040204" pitchFamily="50" charset="-128"/>
                        </a:rPr>
                        <a:t>70</a:t>
                      </a:r>
                      <a:r>
                        <a:rPr lang="ja-JP" altLang="en-US" sz="1050" b="1" i="0" u="none" strike="noStrike" dirty="0">
                          <a:solidFill>
                            <a:srgbClr val="000000"/>
                          </a:solidFill>
                          <a:effectLst/>
                          <a:latin typeface="メイリオ" panose="020B0604030504040204" pitchFamily="50" charset="-128"/>
                          <a:ea typeface="メイリオ" panose="020B0604030504040204" pitchFamily="50" charset="-128"/>
                        </a:rPr>
                        <a:t>代以上</a:t>
                      </a:r>
                    </a:p>
                  </a:txBody>
                  <a:tcPr marL="6767" marR="6767" marT="6767"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AE9F8"/>
                    </a:solidFill>
                  </a:tcPr>
                </a:tc>
                <a:tc>
                  <a:txBody>
                    <a:bodyPr/>
                    <a:lstStyle/>
                    <a:p>
                      <a:pPr algn="ctr" fontAlgn="ctr">
                        <a:buNone/>
                      </a:pPr>
                      <a:r>
                        <a:rPr lang="ja-JP" altLang="en-US" sz="1000" b="1" i="0" u="none" strike="noStrike" dirty="0">
                          <a:solidFill>
                            <a:srgbClr val="000000"/>
                          </a:solidFill>
                          <a:effectLst/>
                          <a:latin typeface="メイリオ" panose="020B0604030504040204" pitchFamily="50" charset="-128"/>
                          <a:ea typeface="メイリオ" panose="020B0604030504040204" pitchFamily="50" charset="-128"/>
                        </a:rPr>
                        <a:t>利用率：</a:t>
                      </a:r>
                      <a:r>
                        <a:rPr lang="en-US" altLang="ja-JP" sz="1000" b="1" i="0" u="none" strike="noStrike" dirty="0">
                          <a:solidFill>
                            <a:srgbClr val="000000"/>
                          </a:solidFill>
                          <a:effectLst/>
                          <a:latin typeface="メイリオ" panose="020B0604030504040204" pitchFamily="50" charset="-128"/>
                          <a:ea typeface="メイリオ" panose="020B0604030504040204" pitchFamily="50" charset="-128"/>
                        </a:rPr>
                        <a:t>70%</a:t>
                      </a:r>
                      <a:r>
                        <a:rPr lang="ja-JP" altLang="en-US" sz="1000" b="1" i="0" u="none" strike="noStrike" dirty="0">
                          <a:solidFill>
                            <a:srgbClr val="000000"/>
                          </a:solidFill>
                          <a:effectLst/>
                          <a:latin typeface="メイリオ" panose="020B0604030504040204" pitchFamily="50" charset="-128"/>
                          <a:ea typeface="メイリオ" panose="020B0604030504040204" pitchFamily="50" charset="-128"/>
                        </a:rPr>
                        <a:t>前後</a:t>
                      </a:r>
                    </a:p>
                  </a:txBody>
                  <a:tcPr marL="6767" marR="6767" marT="6767"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a:noFill/>
                    </a:lnB>
                    <a:solidFill>
                      <a:srgbClr val="FFFF99"/>
                    </a:solidFill>
                  </a:tcPr>
                </a:tc>
                <a:tc>
                  <a:txBody>
                    <a:bodyPr/>
                    <a:lstStyle/>
                    <a:p>
                      <a:pPr algn="ctr" fontAlgn="ctr">
                        <a:buNone/>
                      </a:pPr>
                      <a:r>
                        <a:rPr lang="ja-JP" altLang="en-US" sz="1000" b="1" i="0" u="none" strike="noStrike" dirty="0">
                          <a:solidFill>
                            <a:srgbClr val="000000"/>
                          </a:solidFill>
                          <a:effectLst/>
                          <a:latin typeface="メイリオ" panose="020B0604030504040204" pitchFamily="50" charset="-128"/>
                          <a:ea typeface="メイリオ" panose="020B0604030504040204" pitchFamily="50" charset="-128"/>
                        </a:rPr>
                        <a:t>利用率：低い</a:t>
                      </a:r>
                    </a:p>
                  </a:txBody>
                  <a:tcPr marL="6767" marR="6767" marT="6767"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a:noFill/>
                    </a:lnB>
                    <a:solidFill>
                      <a:schemeClr val="bg1"/>
                    </a:solidFill>
                  </a:tcPr>
                </a:tc>
                <a:tc>
                  <a:txBody>
                    <a:bodyPr/>
                    <a:lstStyle/>
                    <a:p>
                      <a:pPr algn="ctr" fontAlgn="ctr">
                        <a:buNone/>
                      </a:pPr>
                      <a:r>
                        <a:rPr lang="ja-JP" altLang="en-US" sz="1000" b="1" i="0" u="none" strike="noStrike" dirty="0">
                          <a:solidFill>
                            <a:srgbClr val="000000"/>
                          </a:solidFill>
                          <a:effectLst/>
                          <a:latin typeface="メイリオ" panose="020B0604030504040204" pitchFamily="50" charset="-128"/>
                          <a:ea typeface="メイリオ" panose="020B0604030504040204" pitchFamily="50" charset="-128"/>
                        </a:rPr>
                        <a:t>利用率：最も高い</a:t>
                      </a:r>
                    </a:p>
                  </a:txBody>
                  <a:tcPr marL="6767" marR="6767" marT="6767"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a:noFill/>
                    </a:lnB>
                    <a:solidFill>
                      <a:schemeClr val="bg1"/>
                    </a:solidFill>
                  </a:tcPr>
                </a:tc>
                <a:tc rowSpan="2">
                  <a:txBody>
                    <a:bodyPr/>
                    <a:lstStyle/>
                    <a:p>
                      <a:pPr algn="ctr" fontAlgn="ctr">
                        <a:buNone/>
                      </a:pPr>
                      <a:r>
                        <a:rPr lang="ja-JP" altLang="en-US" sz="800" b="0" i="0" u="none" strike="noStrike" dirty="0">
                          <a:solidFill>
                            <a:srgbClr val="000000"/>
                          </a:solidFill>
                          <a:effectLst/>
                          <a:latin typeface="メイリオ" panose="020B0604030504040204" pitchFamily="50" charset="-128"/>
                          <a:ea typeface="メイリオ" panose="020B0604030504040204" pitchFamily="50" charset="-128"/>
                        </a:rPr>
                        <a:t>連絡手段としての電話が</a:t>
                      </a:r>
                      <a:endParaRPr lang="en-US" altLang="ja-JP" sz="800" b="0" i="0" u="none" strike="noStrike" dirty="0">
                        <a:solidFill>
                          <a:srgbClr val="000000"/>
                        </a:solidFill>
                        <a:effectLst/>
                        <a:latin typeface="メイリオ" panose="020B0604030504040204" pitchFamily="50" charset="-128"/>
                        <a:ea typeface="メイリオ" panose="020B0604030504040204" pitchFamily="50" charset="-128"/>
                      </a:endParaRPr>
                    </a:p>
                    <a:p>
                      <a:pPr algn="ctr" fontAlgn="ctr">
                        <a:buNone/>
                      </a:pPr>
                      <a:r>
                        <a:rPr lang="ja-JP" altLang="en-US" sz="800" b="0" i="0" u="none" strike="noStrike" dirty="0">
                          <a:solidFill>
                            <a:srgbClr val="000000"/>
                          </a:solidFill>
                          <a:effectLst/>
                          <a:latin typeface="メイリオ" panose="020B0604030504040204" pitchFamily="50" charset="-128"/>
                          <a:ea typeface="メイリオ" panose="020B0604030504040204" pitchFamily="50" charset="-128"/>
                        </a:rPr>
                        <a:t>最優先される層。</a:t>
                      </a:r>
                    </a:p>
                  </a:txBody>
                  <a:tcPr marL="6767" marR="6767" marT="6767"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extLst>
                  <a:ext uri="{0D108BD9-81ED-4DB2-BD59-A6C34878D82A}">
                    <a16:rowId xmlns:a16="http://schemas.microsoft.com/office/drawing/2014/main" val="3279922214"/>
                  </a:ext>
                </a:extLst>
              </a:tr>
              <a:tr h="499336">
                <a:tc vMerge="1">
                  <a:txBody>
                    <a:bodyPr/>
                    <a:lstStyle/>
                    <a:p>
                      <a:endParaRPr kumimoji="1" lang="ja-JP" altLang="en-US"/>
                    </a:p>
                  </a:txBody>
                  <a:tcPr/>
                </a:tc>
                <a:tc>
                  <a:txBody>
                    <a:bodyPr/>
                    <a:lstStyle/>
                    <a:p>
                      <a:pPr algn="ctr" fontAlgn="ctr">
                        <a:buNone/>
                      </a:pPr>
                      <a:r>
                        <a:rPr lang="ja-JP" altLang="en-US" sz="800" b="0" i="0" u="none" strike="noStrike" dirty="0">
                          <a:solidFill>
                            <a:srgbClr val="000000"/>
                          </a:solidFill>
                          <a:effectLst/>
                          <a:latin typeface="メイリオ" panose="020B0604030504040204" pitchFamily="50" charset="-128"/>
                          <a:ea typeface="メイリオ" panose="020B0604030504040204" pitchFamily="50" charset="-128"/>
                        </a:rPr>
                        <a:t>高齢者層にも普及が進む。</a:t>
                      </a:r>
                    </a:p>
                  </a:txBody>
                  <a:tcPr marL="6767" marR="6767" marT="6767"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a:noFill/>
                    </a:lnT>
                    <a:lnB w="6350" cap="flat" cmpd="sng" algn="ctr">
                      <a:solidFill>
                        <a:srgbClr val="000000"/>
                      </a:solidFill>
                      <a:prstDash val="solid"/>
                      <a:round/>
                      <a:headEnd type="none" w="med" len="med"/>
                      <a:tailEnd type="none" w="med" len="med"/>
                    </a:lnB>
                    <a:solidFill>
                      <a:srgbClr val="FFFF99"/>
                    </a:solidFill>
                  </a:tcPr>
                </a:tc>
                <a:tc>
                  <a:txBody>
                    <a:bodyPr/>
                    <a:lstStyle/>
                    <a:p>
                      <a:pPr algn="ctr" fontAlgn="ctr">
                        <a:buNone/>
                      </a:pPr>
                      <a:r>
                        <a:rPr lang="ja-JP" altLang="en-US" sz="800" b="0" i="0" u="none" strike="noStrike" dirty="0">
                          <a:solidFill>
                            <a:srgbClr val="000000"/>
                          </a:solidFill>
                          <a:effectLst/>
                          <a:latin typeface="メイリオ" panose="020B0604030504040204" pitchFamily="50" charset="-128"/>
                          <a:ea typeface="メイリオ" panose="020B0604030504040204" pitchFamily="50" charset="-128"/>
                        </a:rPr>
                        <a:t>操作に不慣れで到達率が下がる。</a:t>
                      </a:r>
                    </a:p>
                  </a:txBody>
                  <a:tcPr marL="6767" marR="6767" marT="6767"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a:noFill/>
                    </a:lnT>
                    <a:lnB w="6350" cap="flat" cmpd="sng" algn="ctr">
                      <a:solidFill>
                        <a:srgbClr val="000000"/>
                      </a:solidFill>
                      <a:prstDash val="solid"/>
                      <a:round/>
                      <a:headEnd type="none" w="med" len="med"/>
                      <a:tailEnd type="none" w="med" len="med"/>
                    </a:lnB>
                    <a:solidFill>
                      <a:schemeClr val="bg1"/>
                    </a:solidFill>
                  </a:tcPr>
                </a:tc>
                <a:tc>
                  <a:txBody>
                    <a:bodyPr/>
                    <a:lstStyle/>
                    <a:p>
                      <a:pPr algn="ctr" fontAlgn="ctr">
                        <a:buNone/>
                      </a:pPr>
                      <a:r>
                        <a:rPr lang="ja-JP" altLang="en-US" sz="800" b="0" i="0" u="none" strike="noStrike" dirty="0">
                          <a:solidFill>
                            <a:srgbClr val="000000"/>
                          </a:solidFill>
                          <a:effectLst/>
                          <a:latin typeface="メイリオ" panose="020B0604030504040204" pitchFamily="50" charset="-128"/>
                          <a:ea typeface="メイリオ" panose="020B0604030504040204" pitchFamily="50" charset="-128"/>
                        </a:rPr>
                        <a:t>重要な連絡や問い合わせは</a:t>
                      </a:r>
                      <a:endParaRPr lang="en-US" altLang="ja-JP" sz="800" b="0" i="0" u="none" strike="noStrike" dirty="0">
                        <a:solidFill>
                          <a:srgbClr val="000000"/>
                        </a:solidFill>
                        <a:effectLst/>
                        <a:latin typeface="メイリオ" panose="020B0604030504040204" pitchFamily="50" charset="-128"/>
                        <a:ea typeface="メイリオ" panose="020B0604030504040204" pitchFamily="50" charset="-128"/>
                      </a:endParaRPr>
                    </a:p>
                    <a:p>
                      <a:pPr algn="ctr" fontAlgn="ctr">
                        <a:buNone/>
                      </a:pPr>
                      <a:r>
                        <a:rPr lang="ja-JP" altLang="en-US" sz="800" b="0" i="0" u="none" strike="noStrike" dirty="0">
                          <a:solidFill>
                            <a:srgbClr val="000000"/>
                          </a:solidFill>
                          <a:effectLst/>
                          <a:latin typeface="メイリオ" panose="020B0604030504040204" pitchFamily="50" charset="-128"/>
                          <a:ea typeface="メイリオ" panose="020B0604030504040204" pitchFamily="50" charset="-128"/>
                        </a:rPr>
                        <a:t>電話がメイン。</a:t>
                      </a:r>
                    </a:p>
                  </a:txBody>
                  <a:tcPr marL="6767" marR="6767" marT="6767"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a:noFill/>
                    </a:lnT>
                    <a:lnB w="6350" cap="flat" cmpd="sng" algn="ctr">
                      <a:solidFill>
                        <a:srgbClr val="000000"/>
                      </a:solidFill>
                      <a:prstDash val="solid"/>
                      <a:round/>
                      <a:headEnd type="none" w="med" len="med"/>
                      <a:tailEnd type="none" w="med" len="med"/>
                    </a:lnB>
                    <a:solidFill>
                      <a:schemeClr val="bg1"/>
                    </a:solidFill>
                  </a:tcPr>
                </a:tc>
                <a:tc vMerge="1">
                  <a:txBody>
                    <a:bodyPr/>
                    <a:lstStyle/>
                    <a:p>
                      <a:endParaRPr kumimoji="1" lang="ja-JP" altLang="en-US"/>
                    </a:p>
                  </a:txBody>
                  <a:tcPr/>
                </a:tc>
                <a:extLst>
                  <a:ext uri="{0D108BD9-81ED-4DB2-BD59-A6C34878D82A}">
                    <a16:rowId xmlns:a16="http://schemas.microsoft.com/office/drawing/2014/main" val="14424828"/>
                  </a:ext>
                </a:extLst>
              </a:tr>
            </a:tbl>
          </a:graphicData>
        </a:graphic>
      </p:graphicFrame>
    </p:spTree>
    <p:extLst>
      <p:ext uri="{BB962C8B-B14F-4D97-AF65-F5344CB8AC3E}">
        <p14:creationId xmlns:p14="http://schemas.microsoft.com/office/powerpoint/2010/main" val="783279887"/>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760E1BE-EA97-1C99-EC9B-9162DE48D9CD}"/>
            </a:ext>
          </a:extLst>
        </p:cNvPr>
        <p:cNvGrpSpPr/>
        <p:nvPr/>
      </p:nvGrpSpPr>
      <p:grpSpPr>
        <a:xfrm>
          <a:off x="0" y="0"/>
          <a:ext cx="0" cy="0"/>
          <a:chOff x="0" y="0"/>
          <a:chExt cx="0" cy="0"/>
        </a:xfrm>
      </p:grpSpPr>
      <p:sp>
        <p:nvSpPr>
          <p:cNvPr id="4" name="Google Shape;752;p28">
            <a:extLst>
              <a:ext uri="{FF2B5EF4-FFF2-40B4-BE49-F238E27FC236}">
                <a16:creationId xmlns:a16="http://schemas.microsoft.com/office/drawing/2014/main" id="{F61F3EB4-5BDD-9E9F-8965-BA311951E811}"/>
              </a:ext>
            </a:extLst>
          </p:cNvPr>
          <p:cNvSpPr txBox="1"/>
          <p:nvPr/>
        </p:nvSpPr>
        <p:spPr>
          <a:xfrm>
            <a:off x="548883" y="138137"/>
            <a:ext cx="6276325" cy="338514"/>
          </a:xfrm>
          <a:prstGeom prst="rect">
            <a:avLst/>
          </a:prstGeom>
          <a:noFill/>
          <a:ln>
            <a:noFill/>
          </a:ln>
        </p:spPr>
        <p:txBody>
          <a:bodyPr spcFirstLastPara="1" wrap="square" lIns="91425" tIns="45700" rIns="91425" bIns="45700" anchor="ctr" anchorCtr="0">
            <a:spAutoFit/>
          </a:bodyPr>
          <a:lstStyle/>
          <a:p>
            <a:pPr lvl="0">
              <a:buClr>
                <a:srgbClr val="002060"/>
              </a:buClr>
              <a:buSzPts val="1600"/>
            </a:pPr>
            <a:r>
              <a:rPr lang="en-US" altLang="ja-JP" sz="1600" b="1" dirty="0">
                <a:solidFill>
                  <a:srgbClr val="002060"/>
                </a:solidFill>
                <a:latin typeface="Meiryo"/>
                <a:ea typeface="Meiryo"/>
                <a:cs typeface="Meiryo"/>
                <a:sym typeface="Meiryo"/>
              </a:rPr>
              <a:t>LINE</a:t>
            </a:r>
            <a:r>
              <a:rPr lang="ja-JP" altLang="en-US" sz="1600" b="1" dirty="0">
                <a:solidFill>
                  <a:srgbClr val="002060"/>
                </a:solidFill>
                <a:latin typeface="Meiryo"/>
                <a:ea typeface="Meiryo"/>
                <a:cs typeface="Meiryo"/>
                <a:sym typeface="Meiryo"/>
              </a:rPr>
              <a:t>公式アカウントを検討する背景</a:t>
            </a:r>
          </a:p>
        </p:txBody>
      </p:sp>
      <p:sp>
        <p:nvSpPr>
          <p:cNvPr id="2" name="Google Shape;752;p28">
            <a:extLst>
              <a:ext uri="{FF2B5EF4-FFF2-40B4-BE49-F238E27FC236}">
                <a16:creationId xmlns:a16="http://schemas.microsoft.com/office/drawing/2014/main" id="{903AB3A7-E543-27E0-6B76-9022EAF2AAFA}"/>
              </a:ext>
            </a:extLst>
          </p:cNvPr>
          <p:cNvSpPr txBox="1"/>
          <p:nvPr/>
        </p:nvSpPr>
        <p:spPr>
          <a:xfrm>
            <a:off x="711353" y="969413"/>
            <a:ext cx="8353789" cy="523180"/>
          </a:xfrm>
          <a:prstGeom prst="rect">
            <a:avLst/>
          </a:prstGeom>
          <a:noFill/>
          <a:ln>
            <a:noFill/>
          </a:ln>
        </p:spPr>
        <p:txBody>
          <a:bodyPr spcFirstLastPara="1" wrap="square" lIns="91425" tIns="45700" rIns="91425" bIns="45700" anchor="ctr" anchorCtr="0">
            <a:spAutoFit/>
          </a:bodyPr>
          <a:lstStyle/>
          <a:p>
            <a:pPr lvl="0" algn="ctr"/>
            <a:r>
              <a:rPr lang="en-US" altLang="ja-JP" sz="1400" dirty="0">
                <a:latin typeface="メイリオ" panose="020B0604030504040204" pitchFamily="50" charset="-128"/>
                <a:ea typeface="メイリオ" panose="020B0604030504040204" pitchFamily="50" charset="-128"/>
                <a:cs typeface="Meiryo"/>
                <a:sym typeface="Meiryo"/>
              </a:rPr>
              <a:t>LINE</a:t>
            </a:r>
            <a:r>
              <a:rPr lang="ja-JP" altLang="en-US" sz="1400" dirty="0">
                <a:latin typeface="メイリオ" panose="020B0604030504040204" pitchFamily="50" charset="-128"/>
                <a:ea typeface="メイリオ" panose="020B0604030504040204" pitchFamily="50" charset="-128"/>
                <a:cs typeface="Meiryo"/>
                <a:sym typeface="Meiryo"/>
              </a:rPr>
              <a:t>公式アカウントの施策内（開封率、クリック率、</a:t>
            </a:r>
            <a:r>
              <a:rPr lang="en-US" altLang="ja-JP" sz="1400" dirty="0">
                <a:latin typeface="メイリオ" panose="020B0604030504040204" pitchFamily="50" charset="-128"/>
                <a:ea typeface="メイリオ" panose="020B0604030504040204" pitchFamily="50" charset="-128"/>
                <a:cs typeface="Meiryo"/>
                <a:sym typeface="Meiryo"/>
              </a:rPr>
              <a:t>CV</a:t>
            </a:r>
            <a:r>
              <a:rPr lang="ja-JP" altLang="en-US" sz="1400" dirty="0">
                <a:latin typeface="メイリオ" panose="020B0604030504040204" pitchFamily="50" charset="-128"/>
                <a:ea typeface="メイリオ" panose="020B0604030504040204" pitchFamily="50" charset="-128"/>
                <a:cs typeface="Meiryo"/>
                <a:sym typeface="Meiryo"/>
              </a:rPr>
              <a:t>率）で高い水準の施策をご提供。</a:t>
            </a:r>
            <a:endParaRPr lang="en-US" altLang="ja-JP" sz="1400" dirty="0">
              <a:latin typeface="メイリオ" panose="020B0604030504040204" pitchFamily="50" charset="-128"/>
              <a:ea typeface="メイリオ" panose="020B0604030504040204" pitchFamily="50" charset="-128"/>
              <a:cs typeface="Meiryo"/>
              <a:sym typeface="Meiryo"/>
            </a:endParaRPr>
          </a:p>
          <a:p>
            <a:pPr lvl="0" algn="ctr"/>
            <a:r>
              <a:rPr lang="ja-JP" altLang="en-US" sz="1400" dirty="0">
                <a:latin typeface="メイリオ" panose="020B0604030504040204" pitchFamily="50" charset="-128"/>
                <a:ea typeface="メイリオ" panose="020B0604030504040204" pitchFamily="50" charset="-128"/>
                <a:cs typeface="Meiryo"/>
                <a:sym typeface="Meiryo"/>
              </a:rPr>
              <a:t>初期設計のみのご依頼でも、大きく数値改善できるポイントの導入支援が可能です。</a:t>
            </a:r>
            <a:endParaRPr lang="en-US" altLang="ja-JP" sz="1400" dirty="0">
              <a:latin typeface="メイリオ" panose="020B0604030504040204" pitchFamily="50" charset="-128"/>
              <a:ea typeface="メイリオ" panose="020B0604030504040204" pitchFamily="50" charset="-128"/>
              <a:cs typeface="Meiryo"/>
              <a:sym typeface="Meiryo"/>
            </a:endParaRPr>
          </a:p>
        </p:txBody>
      </p:sp>
      <p:sp>
        <p:nvSpPr>
          <p:cNvPr id="5" name="正方形/長方形 4">
            <a:extLst>
              <a:ext uri="{FF2B5EF4-FFF2-40B4-BE49-F238E27FC236}">
                <a16:creationId xmlns:a16="http://schemas.microsoft.com/office/drawing/2014/main" id="{C953AFCB-1DF4-3DF6-FD0A-5FA8B9829345}"/>
              </a:ext>
            </a:extLst>
          </p:cNvPr>
          <p:cNvSpPr/>
          <p:nvPr/>
        </p:nvSpPr>
        <p:spPr>
          <a:xfrm>
            <a:off x="7833676" y="2844726"/>
            <a:ext cx="1438656" cy="268338"/>
          </a:xfrm>
          <a:prstGeom prst="rect">
            <a:avLst/>
          </a:prstGeom>
          <a:solidFill>
            <a:srgbClr val="FF0000"/>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1050" b="1" dirty="0">
                <a:solidFill>
                  <a:schemeClr val="bg1"/>
                </a:solidFill>
                <a:latin typeface="メイリオ" panose="020B0604030504040204" pitchFamily="50" charset="-128"/>
                <a:ea typeface="メイリオ" panose="020B0604030504040204" pitchFamily="50" charset="-128"/>
              </a:rPr>
              <a:t>CV</a:t>
            </a:r>
            <a:endParaRPr kumimoji="1" lang="ja-JP" altLang="en-US" sz="1050" b="1" dirty="0">
              <a:solidFill>
                <a:schemeClr val="bg1"/>
              </a:solidFill>
              <a:latin typeface="メイリオ" panose="020B0604030504040204" pitchFamily="50" charset="-128"/>
              <a:ea typeface="メイリオ" panose="020B0604030504040204" pitchFamily="50" charset="-128"/>
            </a:endParaRPr>
          </a:p>
        </p:txBody>
      </p:sp>
      <p:sp>
        <p:nvSpPr>
          <p:cNvPr id="6" name="正方形/長方形 5">
            <a:extLst>
              <a:ext uri="{FF2B5EF4-FFF2-40B4-BE49-F238E27FC236}">
                <a16:creationId xmlns:a16="http://schemas.microsoft.com/office/drawing/2014/main" id="{AA0FC5BF-544B-2CE7-3D6D-05C5FCBA0558}"/>
              </a:ext>
            </a:extLst>
          </p:cNvPr>
          <p:cNvSpPr/>
          <p:nvPr/>
        </p:nvSpPr>
        <p:spPr>
          <a:xfrm>
            <a:off x="7833676" y="2532843"/>
            <a:ext cx="1438656" cy="268338"/>
          </a:xfrm>
          <a:prstGeom prst="rect">
            <a:avLst/>
          </a:prstGeom>
          <a:solidFill>
            <a:schemeClr val="bg1">
              <a:lumMod val="75000"/>
            </a:schemeClr>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050" b="1" dirty="0">
                <a:solidFill>
                  <a:schemeClr val="bg1"/>
                </a:solidFill>
                <a:latin typeface="メイリオ" panose="020B0604030504040204" pitchFamily="50" charset="-128"/>
                <a:ea typeface="メイリオ" panose="020B0604030504040204" pitchFamily="50" charset="-128"/>
              </a:rPr>
              <a:t>営業トスアップ</a:t>
            </a:r>
          </a:p>
        </p:txBody>
      </p:sp>
      <p:cxnSp>
        <p:nvCxnSpPr>
          <p:cNvPr id="16" name="直線矢印コネクタ 15">
            <a:extLst>
              <a:ext uri="{FF2B5EF4-FFF2-40B4-BE49-F238E27FC236}">
                <a16:creationId xmlns:a16="http://schemas.microsoft.com/office/drawing/2014/main" id="{94BB7063-D344-7388-DC5C-AB2163552A18}"/>
              </a:ext>
            </a:extLst>
          </p:cNvPr>
          <p:cNvCxnSpPr>
            <a:cxnSpLocks/>
          </p:cNvCxnSpPr>
          <p:nvPr/>
        </p:nvCxnSpPr>
        <p:spPr>
          <a:xfrm>
            <a:off x="387956" y="2801181"/>
            <a:ext cx="7250805" cy="0"/>
          </a:xfrm>
          <a:prstGeom prst="straightConnector1">
            <a:avLst/>
          </a:prstGeom>
          <a:ln w="28575">
            <a:solidFill>
              <a:schemeClr val="tx2"/>
            </a:solidFill>
            <a:prstDash val="sysDash"/>
            <a:tailEnd type="triangle"/>
          </a:ln>
        </p:spPr>
        <p:style>
          <a:lnRef idx="1">
            <a:schemeClr val="accent1"/>
          </a:lnRef>
          <a:fillRef idx="0">
            <a:schemeClr val="accent1"/>
          </a:fillRef>
          <a:effectRef idx="0">
            <a:schemeClr val="accent1"/>
          </a:effectRef>
          <a:fontRef idx="minor">
            <a:schemeClr val="tx1"/>
          </a:fontRef>
        </p:style>
      </p:cxnSp>
      <p:sp>
        <p:nvSpPr>
          <p:cNvPr id="21" name="正方形/長方形 20">
            <a:extLst>
              <a:ext uri="{FF2B5EF4-FFF2-40B4-BE49-F238E27FC236}">
                <a16:creationId xmlns:a16="http://schemas.microsoft.com/office/drawing/2014/main" id="{49A8005B-FA05-AC0F-4885-3EB9D9E7F271}"/>
              </a:ext>
            </a:extLst>
          </p:cNvPr>
          <p:cNvSpPr/>
          <p:nvPr/>
        </p:nvSpPr>
        <p:spPr>
          <a:xfrm>
            <a:off x="7663263" y="2057611"/>
            <a:ext cx="1820092" cy="1128395"/>
          </a:xfrm>
          <a:prstGeom prst="rect">
            <a:avLst/>
          </a:prstGeom>
          <a:noFill/>
          <a:ln w="952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3" name="テキスト ボックス 22">
            <a:extLst>
              <a:ext uri="{FF2B5EF4-FFF2-40B4-BE49-F238E27FC236}">
                <a16:creationId xmlns:a16="http://schemas.microsoft.com/office/drawing/2014/main" id="{43461C80-3343-B710-9ADB-76DB69B61EAF}"/>
              </a:ext>
            </a:extLst>
          </p:cNvPr>
          <p:cNvSpPr txBox="1"/>
          <p:nvPr/>
        </p:nvSpPr>
        <p:spPr>
          <a:xfrm>
            <a:off x="8033166" y="2122574"/>
            <a:ext cx="1080286" cy="261610"/>
          </a:xfrm>
          <a:prstGeom prst="rect">
            <a:avLst/>
          </a:prstGeom>
          <a:noFill/>
        </p:spPr>
        <p:txBody>
          <a:bodyPr wrap="square">
            <a:spAutoFit/>
          </a:bodyPr>
          <a:lstStyle/>
          <a:p>
            <a:pPr algn="ctr"/>
            <a:r>
              <a:rPr kumimoji="1" lang="ja-JP" altLang="en-US" sz="1100" dirty="0">
                <a:solidFill>
                  <a:srgbClr val="FF0000"/>
                </a:solidFill>
                <a:latin typeface="メイリオ" panose="020B0604030504040204" pitchFamily="50" charset="-128"/>
                <a:ea typeface="メイリオ" panose="020B0604030504040204" pitchFamily="50" charset="-128"/>
              </a:rPr>
              <a:t>（成果地点）</a:t>
            </a:r>
          </a:p>
        </p:txBody>
      </p:sp>
      <p:sp>
        <p:nvSpPr>
          <p:cNvPr id="46" name="正方形/長方形 45">
            <a:extLst>
              <a:ext uri="{FF2B5EF4-FFF2-40B4-BE49-F238E27FC236}">
                <a16:creationId xmlns:a16="http://schemas.microsoft.com/office/drawing/2014/main" id="{68EF36FD-0665-96DB-08B6-92F8F12DC27E}"/>
              </a:ext>
            </a:extLst>
          </p:cNvPr>
          <p:cNvSpPr/>
          <p:nvPr/>
        </p:nvSpPr>
        <p:spPr>
          <a:xfrm>
            <a:off x="2496412" y="2062968"/>
            <a:ext cx="4888178" cy="2483764"/>
          </a:xfrm>
          <a:prstGeom prst="rect">
            <a:avLst/>
          </a:prstGeom>
          <a:solidFill>
            <a:schemeClr val="bg1"/>
          </a:solidFill>
          <a:ln w="952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47" name="正方形/長方形 46">
            <a:extLst>
              <a:ext uri="{FF2B5EF4-FFF2-40B4-BE49-F238E27FC236}">
                <a16:creationId xmlns:a16="http://schemas.microsoft.com/office/drawing/2014/main" id="{1B4C640C-D32C-D834-8B9B-538AEF528437}"/>
              </a:ext>
            </a:extLst>
          </p:cNvPr>
          <p:cNvSpPr/>
          <p:nvPr/>
        </p:nvSpPr>
        <p:spPr>
          <a:xfrm>
            <a:off x="2727621" y="2844178"/>
            <a:ext cx="1438656" cy="268338"/>
          </a:xfrm>
          <a:prstGeom prst="rect">
            <a:avLst/>
          </a:prstGeom>
          <a:solidFill>
            <a:schemeClr val="tx1"/>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050" b="1" dirty="0">
                <a:solidFill>
                  <a:schemeClr val="bg1"/>
                </a:solidFill>
                <a:latin typeface="メイリオ" panose="020B0604030504040204" pitchFamily="50" charset="-128"/>
                <a:ea typeface="メイリオ" panose="020B0604030504040204" pitchFamily="50" charset="-128"/>
              </a:rPr>
              <a:t>開封率</a:t>
            </a:r>
          </a:p>
        </p:txBody>
      </p:sp>
      <p:sp>
        <p:nvSpPr>
          <p:cNvPr id="48" name="正方形/長方形 47">
            <a:extLst>
              <a:ext uri="{FF2B5EF4-FFF2-40B4-BE49-F238E27FC236}">
                <a16:creationId xmlns:a16="http://schemas.microsoft.com/office/drawing/2014/main" id="{B779420D-D103-81E4-5973-9C543E915ED9}"/>
              </a:ext>
            </a:extLst>
          </p:cNvPr>
          <p:cNvSpPr/>
          <p:nvPr/>
        </p:nvSpPr>
        <p:spPr>
          <a:xfrm>
            <a:off x="4236068" y="2844178"/>
            <a:ext cx="1438656" cy="268338"/>
          </a:xfrm>
          <a:prstGeom prst="rect">
            <a:avLst/>
          </a:prstGeom>
          <a:solidFill>
            <a:schemeClr val="tx1"/>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sz="1050" b="1" dirty="0">
                <a:solidFill>
                  <a:schemeClr val="bg1"/>
                </a:solidFill>
                <a:latin typeface="メイリオ" panose="020B0604030504040204" pitchFamily="50" charset="-128"/>
                <a:ea typeface="メイリオ" panose="020B0604030504040204" pitchFamily="50" charset="-128"/>
              </a:rPr>
              <a:t>クリック率</a:t>
            </a:r>
          </a:p>
        </p:txBody>
      </p:sp>
      <p:sp>
        <p:nvSpPr>
          <p:cNvPr id="49" name="正方形/長方形 48">
            <a:extLst>
              <a:ext uri="{FF2B5EF4-FFF2-40B4-BE49-F238E27FC236}">
                <a16:creationId xmlns:a16="http://schemas.microsoft.com/office/drawing/2014/main" id="{79F9C4D6-EE41-0712-7E02-3613A29A0277}"/>
              </a:ext>
            </a:extLst>
          </p:cNvPr>
          <p:cNvSpPr/>
          <p:nvPr/>
        </p:nvSpPr>
        <p:spPr>
          <a:xfrm>
            <a:off x="5744515" y="2844178"/>
            <a:ext cx="1438656" cy="268338"/>
          </a:xfrm>
          <a:prstGeom prst="rect">
            <a:avLst/>
          </a:prstGeom>
          <a:solidFill>
            <a:schemeClr val="tx1"/>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1050" b="1" dirty="0">
                <a:solidFill>
                  <a:schemeClr val="bg1"/>
                </a:solidFill>
                <a:latin typeface="メイリオ" panose="020B0604030504040204" pitchFamily="50" charset="-128"/>
                <a:ea typeface="メイリオ" panose="020B0604030504040204" pitchFamily="50" charset="-128"/>
              </a:rPr>
              <a:t>CV</a:t>
            </a:r>
            <a:r>
              <a:rPr kumimoji="1" lang="ja-JP" altLang="en-US" sz="1050" b="1" dirty="0">
                <a:solidFill>
                  <a:schemeClr val="bg1"/>
                </a:solidFill>
                <a:latin typeface="メイリオ" panose="020B0604030504040204" pitchFamily="50" charset="-128"/>
                <a:ea typeface="メイリオ" panose="020B0604030504040204" pitchFamily="50" charset="-128"/>
              </a:rPr>
              <a:t>率</a:t>
            </a:r>
          </a:p>
        </p:txBody>
      </p:sp>
      <p:sp>
        <p:nvSpPr>
          <p:cNvPr id="50" name="正方形/長方形 49">
            <a:extLst>
              <a:ext uri="{FF2B5EF4-FFF2-40B4-BE49-F238E27FC236}">
                <a16:creationId xmlns:a16="http://schemas.microsoft.com/office/drawing/2014/main" id="{63D97449-C5FF-7125-1910-BF401BE155D3}"/>
              </a:ext>
            </a:extLst>
          </p:cNvPr>
          <p:cNvSpPr/>
          <p:nvPr/>
        </p:nvSpPr>
        <p:spPr>
          <a:xfrm>
            <a:off x="2635396" y="2541859"/>
            <a:ext cx="4617897" cy="268338"/>
          </a:xfrm>
          <a:prstGeom prst="rect">
            <a:avLst/>
          </a:prstGeom>
          <a:solidFill>
            <a:schemeClr val="tx2">
              <a:lumMod val="50000"/>
            </a:schemeClr>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050" b="1" dirty="0">
                <a:solidFill>
                  <a:schemeClr val="bg1"/>
                </a:solidFill>
                <a:latin typeface="メイリオ" panose="020B0604030504040204" pitchFamily="50" charset="-128"/>
                <a:ea typeface="メイリオ" panose="020B0604030504040204" pitchFamily="50" charset="-128"/>
              </a:rPr>
              <a:t>通常メッセージ（企画投稿）</a:t>
            </a:r>
          </a:p>
        </p:txBody>
      </p:sp>
      <p:sp>
        <p:nvSpPr>
          <p:cNvPr id="51" name="正方形/長方形 50">
            <a:extLst>
              <a:ext uri="{FF2B5EF4-FFF2-40B4-BE49-F238E27FC236}">
                <a16:creationId xmlns:a16="http://schemas.microsoft.com/office/drawing/2014/main" id="{0FEAAD04-7412-6C00-12C5-668087B3187D}"/>
              </a:ext>
            </a:extLst>
          </p:cNvPr>
          <p:cNvSpPr/>
          <p:nvPr/>
        </p:nvSpPr>
        <p:spPr>
          <a:xfrm>
            <a:off x="2727621" y="3513580"/>
            <a:ext cx="1438656" cy="268338"/>
          </a:xfrm>
          <a:prstGeom prst="rect">
            <a:avLst/>
          </a:prstGeom>
          <a:solidFill>
            <a:schemeClr val="tx1">
              <a:lumMod val="75000"/>
              <a:lumOff val="25000"/>
            </a:schemeClr>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050" b="1" dirty="0">
                <a:solidFill>
                  <a:schemeClr val="bg1"/>
                </a:solidFill>
                <a:latin typeface="メイリオ" panose="020B0604030504040204" pitchFamily="50" charset="-128"/>
                <a:ea typeface="メイリオ" panose="020B0604030504040204" pitchFamily="50" charset="-128"/>
              </a:rPr>
              <a:t>開封率</a:t>
            </a:r>
          </a:p>
        </p:txBody>
      </p:sp>
      <p:sp>
        <p:nvSpPr>
          <p:cNvPr id="52" name="正方形/長方形 51">
            <a:extLst>
              <a:ext uri="{FF2B5EF4-FFF2-40B4-BE49-F238E27FC236}">
                <a16:creationId xmlns:a16="http://schemas.microsoft.com/office/drawing/2014/main" id="{16300100-5CAE-C822-F497-9A928E7568CE}"/>
              </a:ext>
            </a:extLst>
          </p:cNvPr>
          <p:cNvSpPr/>
          <p:nvPr/>
        </p:nvSpPr>
        <p:spPr>
          <a:xfrm>
            <a:off x="4236068" y="3513580"/>
            <a:ext cx="1438656" cy="268338"/>
          </a:xfrm>
          <a:prstGeom prst="rect">
            <a:avLst/>
          </a:prstGeom>
          <a:solidFill>
            <a:schemeClr val="tx1">
              <a:lumMod val="75000"/>
              <a:lumOff val="25000"/>
            </a:schemeClr>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sz="1050" b="1" dirty="0">
                <a:solidFill>
                  <a:schemeClr val="bg1"/>
                </a:solidFill>
                <a:latin typeface="メイリオ" panose="020B0604030504040204" pitchFamily="50" charset="-128"/>
                <a:ea typeface="メイリオ" panose="020B0604030504040204" pitchFamily="50" charset="-128"/>
              </a:rPr>
              <a:t>クリック率</a:t>
            </a:r>
          </a:p>
        </p:txBody>
      </p:sp>
      <p:sp>
        <p:nvSpPr>
          <p:cNvPr id="53" name="正方形/長方形 52">
            <a:extLst>
              <a:ext uri="{FF2B5EF4-FFF2-40B4-BE49-F238E27FC236}">
                <a16:creationId xmlns:a16="http://schemas.microsoft.com/office/drawing/2014/main" id="{BAABA8F7-038F-8934-7296-51B7E190F8F6}"/>
              </a:ext>
            </a:extLst>
          </p:cNvPr>
          <p:cNvSpPr/>
          <p:nvPr/>
        </p:nvSpPr>
        <p:spPr>
          <a:xfrm>
            <a:off x="5744515" y="3513580"/>
            <a:ext cx="1438656" cy="268338"/>
          </a:xfrm>
          <a:prstGeom prst="rect">
            <a:avLst/>
          </a:prstGeom>
          <a:solidFill>
            <a:schemeClr val="tx1">
              <a:lumMod val="75000"/>
              <a:lumOff val="25000"/>
            </a:schemeClr>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1050" b="1" dirty="0">
                <a:solidFill>
                  <a:schemeClr val="bg1"/>
                </a:solidFill>
                <a:latin typeface="メイリオ" panose="020B0604030504040204" pitchFamily="50" charset="-128"/>
                <a:ea typeface="メイリオ" panose="020B0604030504040204" pitchFamily="50" charset="-128"/>
              </a:rPr>
              <a:t>CV</a:t>
            </a:r>
            <a:r>
              <a:rPr kumimoji="1" lang="ja-JP" altLang="en-US" sz="1050" b="1" dirty="0">
                <a:solidFill>
                  <a:schemeClr val="bg1"/>
                </a:solidFill>
                <a:latin typeface="メイリオ" panose="020B0604030504040204" pitchFamily="50" charset="-128"/>
                <a:ea typeface="メイリオ" panose="020B0604030504040204" pitchFamily="50" charset="-128"/>
              </a:rPr>
              <a:t>率</a:t>
            </a:r>
          </a:p>
        </p:txBody>
      </p:sp>
      <p:sp>
        <p:nvSpPr>
          <p:cNvPr id="54" name="正方形/長方形 53">
            <a:extLst>
              <a:ext uri="{FF2B5EF4-FFF2-40B4-BE49-F238E27FC236}">
                <a16:creationId xmlns:a16="http://schemas.microsoft.com/office/drawing/2014/main" id="{FFA1928D-294F-EEFC-2C8F-4A612343D93B}"/>
              </a:ext>
            </a:extLst>
          </p:cNvPr>
          <p:cNvSpPr/>
          <p:nvPr/>
        </p:nvSpPr>
        <p:spPr>
          <a:xfrm>
            <a:off x="2635396" y="3211261"/>
            <a:ext cx="4617897" cy="268338"/>
          </a:xfrm>
          <a:prstGeom prst="rect">
            <a:avLst/>
          </a:prstGeom>
          <a:solidFill>
            <a:schemeClr val="tx2">
              <a:lumMod val="75000"/>
            </a:schemeClr>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050" b="1" dirty="0">
                <a:solidFill>
                  <a:schemeClr val="bg1"/>
                </a:solidFill>
                <a:latin typeface="メイリオ" panose="020B0604030504040204" pitchFamily="50" charset="-128"/>
                <a:ea typeface="メイリオ" panose="020B0604030504040204" pitchFamily="50" charset="-128"/>
              </a:rPr>
              <a:t>通常メッセージ（ステップ配信投稿）</a:t>
            </a:r>
          </a:p>
        </p:txBody>
      </p:sp>
      <p:sp>
        <p:nvSpPr>
          <p:cNvPr id="55" name="正方形/長方形 54">
            <a:extLst>
              <a:ext uri="{FF2B5EF4-FFF2-40B4-BE49-F238E27FC236}">
                <a16:creationId xmlns:a16="http://schemas.microsoft.com/office/drawing/2014/main" id="{C60EF948-7D0E-221F-F7C3-9EA4070D13D5}"/>
              </a:ext>
            </a:extLst>
          </p:cNvPr>
          <p:cNvSpPr/>
          <p:nvPr/>
        </p:nvSpPr>
        <p:spPr>
          <a:xfrm>
            <a:off x="2727621" y="4167605"/>
            <a:ext cx="1438656" cy="268338"/>
          </a:xfrm>
          <a:prstGeom prst="rect">
            <a:avLst/>
          </a:prstGeom>
          <a:solidFill>
            <a:schemeClr val="tx1">
              <a:lumMod val="65000"/>
              <a:lumOff val="35000"/>
            </a:schemeClr>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050" b="1" dirty="0">
                <a:solidFill>
                  <a:schemeClr val="bg1"/>
                </a:solidFill>
                <a:latin typeface="メイリオ" panose="020B0604030504040204" pitchFamily="50" charset="-128"/>
                <a:ea typeface="メイリオ" panose="020B0604030504040204" pitchFamily="50" charset="-128"/>
              </a:rPr>
              <a:t>開封率</a:t>
            </a:r>
          </a:p>
        </p:txBody>
      </p:sp>
      <p:sp>
        <p:nvSpPr>
          <p:cNvPr id="56" name="正方形/長方形 55">
            <a:extLst>
              <a:ext uri="{FF2B5EF4-FFF2-40B4-BE49-F238E27FC236}">
                <a16:creationId xmlns:a16="http://schemas.microsoft.com/office/drawing/2014/main" id="{0A26395C-F3D5-A8C3-4036-5A461E8AEB95}"/>
              </a:ext>
            </a:extLst>
          </p:cNvPr>
          <p:cNvSpPr/>
          <p:nvPr/>
        </p:nvSpPr>
        <p:spPr>
          <a:xfrm>
            <a:off x="4236068" y="4167605"/>
            <a:ext cx="1438656" cy="268338"/>
          </a:xfrm>
          <a:prstGeom prst="rect">
            <a:avLst/>
          </a:prstGeom>
          <a:solidFill>
            <a:schemeClr val="tx1">
              <a:lumMod val="65000"/>
              <a:lumOff val="35000"/>
            </a:schemeClr>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sz="1050" b="1" dirty="0">
                <a:solidFill>
                  <a:schemeClr val="bg1"/>
                </a:solidFill>
                <a:latin typeface="メイリオ" panose="020B0604030504040204" pitchFamily="50" charset="-128"/>
                <a:ea typeface="メイリオ" panose="020B0604030504040204" pitchFamily="50" charset="-128"/>
              </a:rPr>
              <a:t>クリック率</a:t>
            </a:r>
          </a:p>
        </p:txBody>
      </p:sp>
      <p:sp>
        <p:nvSpPr>
          <p:cNvPr id="57" name="正方形/長方形 56">
            <a:extLst>
              <a:ext uri="{FF2B5EF4-FFF2-40B4-BE49-F238E27FC236}">
                <a16:creationId xmlns:a16="http://schemas.microsoft.com/office/drawing/2014/main" id="{258779A5-C321-795D-FAE9-C3DA7EDE5D3F}"/>
              </a:ext>
            </a:extLst>
          </p:cNvPr>
          <p:cNvSpPr/>
          <p:nvPr/>
        </p:nvSpPr>
        <p:spPr>
          <a:xfrm>
            <a:off x="5744515" y="4167605"/>
            <a:ext cx="1438656" cy="268338"/>
          </a:xfrm>
          <a:prstGeom prst="rect">
            <a:avLst/>
          </a:prstGeom>
          <a:solidFill>
            <a:schemeClr val="tx1">
              <a:lumMod val="65000"/>
              <a:lumOff val="35000"/>
            </a:schemeClr>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1050" b="1" dirty="0">
                <a:solidFill>
                  <a:schemeClr val="bg1"/>
                </a:solidFill>
                <a:latin typeface="メイリオ" panose="020B0604030504040204" pitchFamily="50" charset="-128"/>
                <a:ea typeface="メイリオ" panose="020B0604030504040204" pitchFamily="50" charset="-128"/>
              </a:rPr>
              <a:t>CV</a:t>
            </a:r>
            <a:r>
              <a:rPr kumimoji="1" lang="ja-JP" altLang="en-US" sz="1050" b="1" dirty="0">
                <a:solidFill>
                  <a:schemeClr val="bg1"/>
                </a:solidFill>
                <a:latin typeface="メイリオ" panose="020B0604030504040204" pitchFamily="50" charset="-128"/>
                <a:ea typeface="メイリオ" panose="020B0604030504040204" pitchFamily="50" charset="-128"/>
              </a:rPr>
              <a:t>率</a:t>
            </a:r>
          </a:p>
        </p:txBody>
      </p:sp>
      <p:sp>
        <p:nvSpPr>
          <p:cNvPr id="58" name="正方形/長方形 57">
            <a:extLst>
              <a:ext uri="{FF2B5EF4-FFF2-40B4-BE49-F238E27FC236}">
                <a16:creationId xmlns:a16="http://schemas.microsoft.com/office/drawing/2014/main" id="{10A67980-B163-BD77-6B0F-32FBA0EAD741}"/>
              </a:ext>
            </a:extLst>
          </p:cNvPr>
          <p:cNvSpPr/>
          <p:nvPr/>
        </p:nvSpPr>
        <p:spPr>
          <a:xfrm>
            <a:off x="2635396" y="3865286"/>
            <a:ext cx="4617897" cy="268338"/>
          </a:xfrm>
          <a:prstGeom prst="rect">
            <a:avLst/>
          </a:prstGeom>
          <a:solidFill>
            <a:schemeClr val="tx2"/>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050" b="1" dirty="0">
                <a:solidFill>
                  <a:schemeClr val="bg1"/>
                </a:solidFill>
                <a:latin typeface="メイリオ" panose="020B0604030504040204" pitchFamily="50" charset="-128"/>
                <a:ea typeface="メイリオ" panose="020B0604030504040204" pitchFamily="50" charset="-128"/>
              </a:rPr>
              <a:t>その他指標（リッチメニュー、プロフ、挨拶メッセ）</a:t>
            </a:r>
          </a:p>
        </p:txBody>
      </p:sp>
      <p:sp>
        <p:nvSpPr>
          <p:cNvPr id="59" name="テキスト ボックス 58">
            <a:extLst>
              <a:ext uri="{FF2B5EF4-FFF2-40B4-BE49-F238E27FC236}">
                <a16:creationId xmlns:a16="http://schemas.microsoft.com/office/drawing/2014/main" id="{5568B802-79BB-89D9-41B1-B8211A23D3E1}"/>
              </a:ext>
            </a:extLst>
          </p:cNvPr>
          <p:cNvSpPr txBox="1"/>
          <p:nvPr/>
        </p:nvSpPr>
        <p:spPr>
          <a:xfrm>
            <a:off x="4152577" y="2126463"/>
            <a:ext cx="1581648" cy="261610"/>
          </a:xfrm>
          <a:prstGeom prst="rect">
            <a:avLst/>
          </a:prstGeom>
          <a:noFill/>
        </p:spPr>
        <p:txBody>
          <a:bodyPr wrap="square">
            <a:spAutoFit/>
          </a:bodyPr>
          <a:lstStyle/>
          <a:p>
            <a:pPr algn="ctr"/>
            <a:r>
              <a:rPr lang="ja-JP" altLang="en-US" sz="1100" dirty="0">
                <a:solidFill>
                  <a:schemeClr val="tx2"/>
                </a:solidFill>
                <a:latin typeface="メイリオ" panose="020B0604030504040204" pitchFamily="50" charset="-128"/>
                <a:ea typeface="メイリオ" panose="020B0604030504040204" pitchFamily="50" charset="-128"/>
              </a:rPr>
              <a:t>（</a:t>
            </a:r>
            <a:r>
              <a:rPr kumimoji="1" lang="en-US" altLang="ja-JP" sz="1100" dirty="0">
                <a:solidFill>
                  <a:schemeClr val="tx2"/>
                </a:solidFill>
                <a:latin typeface="メイリオ" panose="020B0604030504040204" pitchFamily="50" charset="-128"/>
                <a:ea typeface="メイリオ" panose="020B0604030504040204" pitchFamily="50" charset="-128"/>
              </a:rPr>
              <a:t>LINE</a:t>
            </a:r>
            <a:r>
              <a:rPr kumimoji="1" lang="ja-JP" altLang="en-US" sz="1100" dirty="0">
                <a:solidFill>
                  <a:schemeClr val="tx2"/>
                </a:solidFill>
                <a:latin typeface="メイリオ" panose="020B0604030504040204" pitchFamily="50" charset="-128"/>
                <a:ea typeface="メイリオ" panose="020B0604030504040204" pitchFamily="50" charset="-128"/>
              </a:rPr>
              <a:t>施策内</a:t>
            </a:r>
            <a:r>
              <a:rPr lang="ja-JP" altLang="en-US" sz="1100" dirty="0">
                <a:solidFill>
                  <a:schemeClr val="tx2"/>
                </a:solidFill>
                <a:latin typeface="メイリオ" panose="020B0604030504040204" pitchFamily="50" charset="-128"/>
                <a:ea typeface="メイリオ" panose="020B0604030504040204" pitchFamily="50" charset="-128"/>
              </a:rPr>
              <a:t>）</a:t>
            </a:r>
            <a:endParaRPr kumimoji="1" lang="ja-JP" altLang="en-US" sz="1100" dirty="0">
              <a:solidFill>
                <a:schemeClr val="tx2"/>
              </a:solidFill>
              <a:latin typeface="メイリオ" panose="020B0604030504040204" pitchFamily="50" charset="-128"/>
              <a:ea typeface="メイリオ" panose="020B0604030504040204" pitchFamily="50" charset="-128"/>
            </a:endParaRPr>
          </a:p>
        </p:txBody>
      </p:sp>
      <p:sp>
        <p:nvSpPr>
          <p:cNvPr id="65" name="正方形/長方形 64">
            <a:extLst>
              <a:ext uri="{FF2B5EF4-FFF2-40B4-BE49-F238E27FC236}">
                <a16:creationId xmlns:a16="http://schemas.microsoft.com/office/drawing/2014/main" id="{F955D004-F2E0-9106-46D0-01B91AAAC48C}"/>
              </a:ext>
            </a:extLst>
          </p:cNvPr>
          <p:cNvSpPr/>
          <p:nvPr/>
        </p:nvSpPr>
        <p:spPr>
          <a:xfrm>
            <a:off x="632050" y="2062968"/>
            <a:ext cx="1581647" cy="2483764"/>
          </a:xfrm>
          <a:prstGeom prst="rect">
            <a:avLst/>
          </a:prstGeom>
          <a:solidFill>
            <a:schemeClr val="bg1"/>
          </a:solidFill>
          <a:ln w="952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66" name="正方形/長方形 65">
            <a:extLst>
              <a:ext uri="{FF2B5EF4-FFF2-40B4-BE49-F238E27FC236}">
                <a16:creationId xmlns:a16="http://schemas.microsoft.com/office/drawing/2014/main" id="{39800BBF-7F74-6827-30AB-067A9B79B2FB}"/>
              </a:ext>
            </a:extLst>
          </p:cNvPr>
          <p:cNvSpPr/>
          <p:nvPr/>
        </p:nvSpPr>
        <p:spPr>
          <a:xfrm>
            <a:off x="703546" y="2667012"/>
            <a:ext cx="1438656" cy="268338"/>
          </a:xfrm>
          <a:prstGeom prst="rect">
            <a:avLst/>
          </a:prstGeom>
          <a:solidFill>
            <a:schemeClr val="tx1">
              <a:lumMod val="50000"/>
              <a:lumOff val="50000"/>
            </a:schemeClr>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050" b="1" dirty="0">
                <a:solidFill>
                  <a:schemeClr val="bg1"/>
                </a:solidFill>
                <a:latin typeface="メイリオ" panose="020B0604030504040204" pitchFamily="50" charset="-128"/>
                <a:ea typeface="メイリオ" panose="020B0604030504040204" pitchFamily="50" charset="-128"/>
              </a:rPr>
              <a:t>友だち追加</a:t>
            </a:r>
          </a:p>
        </p:txBody>
      </p:sp>
      <p:sp>
        <p:nvSpPr>
          <p:cNvPr id="67" name="テキスト ボックス 66">
            <a:extLst>
              <a:ext uri="{FF2B5EF4-FFF2-40B4-BE49-F238E27FC236}">
                <a16:creationId xmlns:a16="http://schemas.microsoft.com/office/drawing/2014/main" id="{5C2F9AAE-62F2-1C25-6B2F-275B20FB2668}"/>
              </a:ext>
            </a:extLst>
          </p:cNvPr>
          <p:cNvSpPr txBox="1"/>
          <p:nvPr/>
        </p:nvSpPr>
        <p:spPr>
          <a:xfrm>
            <a:off x="632050" y="3030925"/>
            <a:ext cx="1581647" cy="369332"/>
          </a:xfrm>
          <a:prstGeom prst="rect">
            <a:avLst/>
          </a:prstGeom>
          <a:noFill/>
        </p:spPr>
        <p:txBody>
          <a:bodyPr wrap="square">
            <a:spAutoFit/>
          </a:bodyPr>
          <a:lstStyle/>
          <a:p>
            <a:pPr algn="ctr"/>
            <a:r>
              <a:rPr kumimoji="1" lang="ja-JP" altLang="en-US" sz="1000" b="1" dirty="0">
                <a:latin typeface="メイリオ" panose="020B0604030504040204" pitchFamily="50" charset="-128"/>
                <a:ea typeface="メイリオ" panose="020B0604030504040204" pitchFamily="50" charset="-128"/>
              </a:rPr>
              <a:t>アクティブ数</a:t>
            </a:r>
            <a:endParaRPr kumimoji="1" lang="en-US" altLang="ja-JP" sz="1000" b="1" dirty="0">
              <a:latin typeface="メイリオ" panose="020B0604030504040204" pitchFamily="50" charset="-128"/>
              <a:ea typeface="メイリオ" panose="020B0604030504040204" pitchFamily="50" charset="-128"/>
            </a:endParaRPr>
          </a:p>
          <a:p>
            <a:pPr algn="ctr"/>
            <a:r>
              <a:rPr kumimoji="1" lang="ja-JP" altLang="en-US" sz="800" dirty="0">
                <a:latin typeface="メイリオ" panose="020B0604030504040204" pitchFamily="50" charset="-128"/>
                <a:ea typeface="メイリオ" panose="020B0604030504040204" pitchFamily="50" charset="-128"/>
              </a:rPr>
              <a:t>（非ブロック率）</a:t>
            </a:r>
          </a:p>
        </p:txBody>
      </p:sp>
      <p:sp>
        <p:nvSpPr>
          <p:cNvPr id="68" name="テキスト ボックス 67">
            <a:extLst>
              <a:ext uri="{FF2B5EF4-FFF2-40B4-BE49-F238E27FC236}">
                <a16:creationId xmlns:a16="http://schemas.microsoft.com/office/drawing/2014/main" id="{D723F77C-494C-4598-FEF1-6B884D04A448}"/>
              </a:ext>
            </a:extLst>
          </p:cNvPr>
          <p:cNvSpPr txBox="1"/>
          <p:nvPr/>
        </p:nvSpPr>
        <p:spPr>
          <a:xfrm>
            <a:off x="632050" y="3492489"/>
            <a:ext cx="1581647" cy="553998"/>
          </a:xfrm>
          <a:prstGeom prst="rect">
            <a:avLst/>
          </a:prstGeom>
          <a:noFill/>
        </p:spPr>
        <p:txBody>
          <a:bodyPr wrap="square">
            <a:spAutoFit/>
          </a:bodyPr>
          <a:lstStyle/>
          <a:p>
            <a:pPr algn="ctr"/>
            <a:r>
              <a:rPr kumimoji="1" lang="ja-JP" altLang="en-US" sz="1000" b="1" dirty="0">
                <a:latin typeface="メイリオ" panose="020B0604030504040204" pitchFamily="50" charset="-128"/>
                <a:ea typeface="メイリオ" panose="020B0604030504040204" pitchFamily="50" charset="-128"/>
              </a:rPr>
              <a:t>セグメント率</a:t>
            </a:r>
            <a:endParaRPr kumimoji="1" lang="en-US" altLang="ja-JP" sz="1000" b="1" dirty="0">
              <a:latin typeface="メイリオ" panose="020B0604030504040204" pitchFamily="50" charset="-128"/>
              <a:ea typeface="メイリオ" panose="020B0604030504040204" pitchFamily="50" charset="-128"/>
            </a:endParaRPr>
          </a:p>
          <a:p>
            <a:pPr algn="ctr"/>
            <a:r>
              <a:rPr lang="en-US" altLang="ja-JP" sz="1000" dirty="0">
                <a:latin typeface="メイリオ" panose="020B0604030504040204" pitchFamily="50" charset="-128"/>
                <a:ea typeface="メイリオ" panose="020B0604030504040204" pitchFamily="50" charset="-128"/>
              </a:rPr>
              <a:t>or</a:t>
            </a:r>
          </a:p>
          <a:p>
            <a:pPr algn="ctr"/>
            <a:r>
              <a:rPr kumimoji="1" lang="ja-JP" altLang="en-US" sz="1000" b="1" dirty="0">
                <a:latin typeface="メイリオ" panose="020B0604030504040204" pitchFamily="50" charset="-128"/>
                <a:ea typeface="メイリオ" panose="020B0604030504040204" pitchFamily="50" charset="-128"/>
              </a:rPr>
              <a:t>ステップ配信設定数</a:t>
            </a:r>
          </a:p>
        </p:txBody>
      </p:sp>
      <p:sp>
        <p:nvSpPr>
          <p:cNvPr id="69" name="テキスト ボックス 68">
            <a:extLst>
              <a:ext uri="{FF2B5EF4-FFF2-40B4-BE49-F238E27FC236}">
                <a16:creationId xmlns:a16="http://schemas.microsoft.com/office/drawing/2014/main" id="{83F40BCD-888E-2A85-0E72-CECDC4CEFCE7}"/>
              </a:ext>
            </a:extLst>
          </p:cNvPr>
          <p:cNvSpPr txBox="1"/>
          <p:nvPr/>
        </p:nvSpPr>
        <p:spPr>
          <a:xfrm>
            <a:off x="632049" y="2122574"/>
            <a:ext cx="1581648" cy="261610"/>
          </a:xfrm>
          <a:prstGeom prst="rect">
            <a:avLst/>
          </a:prstGeom>
          <a:noFill/>
        </p:spPr>
        <p:txBody>
          <a:bodyPr wrap="square">
            <a:spAutoFit/>
          </a:bodyPr>
          <a:lstStyle/>
          <a:p>
            <a:pPr algn="ctr"/>
            <a:r>
              <a:rPr lang="ja-JP" altLang="en-US" sz="1100" dirty="0">
                <a:solidFill>
                  <a:srgbClr val="00B050"/>
                </a:solidFill>
                <a:latin typeface="メイリオ" panose="020B0604030504040204" pitchFamily="50" charset="-128"/>
                <a:ea typeface="メイリオ" panose="020B0604030504040204" pitchFamily="50" charset="-128"/>
              </a:rPr>
              <a:t>（ターゲット戦略）</a:t>
            </a:r>
            <a:endParaRPr kumimoji="1" lang="ja-JP" altLang="en-US" sz="1100" dirty="0">
              <a:solidFill>
                <a:srgbClr val="00B050"/>
              </a:solidFill>
              <a:latin typeface="メイリオ" panose="020B0604030504040204" pitchFamily="50" charset="-128"/>
              <a:ea typeface="メイリオ" panose="020B0604030504040204" pitchFamily="50" charset="-128"/>
            </a:endParaRPr>
          </a:p>
        </p:txBody>
      </p:sp>
      <p:sp>
        <p:nvSpPr>
          <p:cNvPr id="70" name="正方形/長方形 69">
            <a:extLst>
              <a:ext uri="{FF2B5EF4-FFF2-40B4-BE49-F238E27FC236}">
                <a16:creationId xmlns:a16="http://schemas.microsoft.com/office/drawing/2014/main" id="{A282801A-6F7E-2812-60DE-D9BD30E96635}"/>
              </a:ext>
            </a:extLst>
          </p:cNvPr>
          <p:cNvSpPr/>
          <p:nvPr/>
        </p:nvSpPr>
        <p:spPr>
          <a:xfrm>
            <a:off x="828387" y="4167605"/>
            <a:ext cx="1188972" cy="268338"/>
          </a:xfrm>
          <a:prstGeom prst="rect">
            <a:avLst/>
          </a:prstGeom>
          <a:solidFill>
            <a:srgbClr val="00B050"/>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050" b="1" dirty="0">
                <a:solidFill>
                  <a:schemeClr val="bg1"/>
                </a:solidFill>
                <a:latin typeface="メイリオ" panose="020B0604030504040204" pitchFamily="50" charset="-128"/>
                <a:ea typeface="メイリオ" panose="020B0604030504040204" pitchFamily="50" charset="-128"/>
              </a:rPr>
              <a:t>月間通数</a:t>
            </a:r>
          </a:p>
        </p:txBody>
      </p:sp>
      <p:sp>
        <p:nvSpPr>
          <p:cNvPr id="3" name="正方形/長方形 2">
            <a:extLst>
              <a:ext uri="{FF2B5EF4-FFF2-40B4-BE49-F238E27FC236}">
                <a16:creationId xmlns:a16="http://schemas.microsoft.com/office/drawing/2014/main" id="{DEF078B1-2A45-316B-F6D4-2929C807201E}"/>
              </a:ext>
            </a:extLst>
          </p:cNvPr>
          <p:cNvSpPr/>
          <p:nvPr/>
        </p:nvSpPr>
        <p:spPr>
          <a:xfrm>
            <a:off x="619696" y="2055027"/>
            <a:ext cx="1613438" cy="2508602"/>
          </a:xfrm>
          <a:prstGeom prst="rect">
            <a:avLst/>
          </a:prstGeom>
          <a:solidFill>
            <a:schemeClr val="bg1">
              <a:alpha val="65000"/>
            </a:schemeClr>
          </a:solidFill>
          <a:ln w="9525">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2" name="吹き出し: 角を丸めた四角形 21">
            <a:extLst>
              <a:ext uri="{FF2B5EF4-FFF2-40B4-BE49-F238E27FC236}">
                <a16:creationId xmlns:a16="http://schemas.microsoft.com/office/drawing/2014/main" id="{72F45E26-7BF4-E2ED-9A7A-1F4668D22973}"/>
              </a:ext>
            </a:extLst>
          </p:cNvPr>
          <p:cNvSpPr/>
          <p:nvPr/>
        </p:nvSpPr>
        <p:spPr>
          <a:xfrm>
            <a:off x="1422873" y="4756716"/>
            <a:ext cx="6798018" cy="1723684"/>
          </a:xfrm>
          <a:prstGeom prst="wedgeRoundRectCallout">
            <a:avLst>
              <a:gd name="adj1" fmla="val -8535"/>
              <a:gd name="adj2" fmla="val -65828"/>
              <a:gd name="adj3" fmla="val 16667"/>
            </a:avLst>
          </a:prstGeom>
          <a:solidFill>
            <a:schemeClr val="bg1">
              <a:lumMod val="95000"/>
            </a:schemeClr>
          </a:solidFill>
          <a:ln w="635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4" name="正方形/長方形 23">
            <a:extLst>
              <a:ext uri="{FF2B5EF4-FFF2-40B4-BE49-F238E27FC236}">
                <a16:creationId xmlns:a16="http://schemas.microsoft.com/office/drawing/2014/main" id="{4E48C706-01F7-97BF-6029-19C07E10A157}"/>
              </a:ext>
            </a:extLst>
          </p:cNvPr>
          <p:cNvSpPr/>
          <p:nvPr/>
        </p:nvSpPr>
        <p:spPr>
          <a:xfrm>
            <a:off x="3144988" y="4892530"/>
            <a:ext cx="1438656" cy="268338"/>
          </a:xfrm>
          <a:prstGeom prst="rect">
            <a:avLst/>
          </a:prstGeom>
          <a:solidFill>
            <a:schemeClr val="bg1">
              <a:lumMod val="65000"/>
            </a:schemeClr>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050" b="1" dirty="0">
                <a:solidFill>
                  <a:schemeClr val="bg1"/>
                </a:solidFill>
                <a:latin typeface="メイリオ" panose="020B0604030504040204" pitchFamily="50" charset="-128"/>
                <a:ea typeface="メイリオ" panose="020B0604030504040204" pitchFamily="50" charset="-128"/>
              </a:rPr>
              <a:t>開封率</a:t>
            </a:r>
          </a:p>
        </p:txBody>
      </p:sp>
      <p:sp>
        <p:nvSpPr>
          <p:cNvPr id="25" name="正方形/長方形 24">
            <a:extLst>
              <a:ext uri="{FF2B5EF4-FFF2-40B4-BE49-F238E27FC236}">
                <a16:creationId xmlns:a16="http://schemas.microsoft.com/office/drawing/2014/main" id="{691F0267-60AB-455D-B6F1-6559EBCD5D65}"/>
              </a:ext>
            </a:extLst>
          </p:cNvPr>
          <p:cNvSpPr/>
          <p:nvPr/>
        </p:nvSpPr>
        <p:spPr>
          <a:xfrm>
            <a:off x="4882248" y="4892530"/>
            <a:ext cx="1438656" cy="268338"/>
          </a:xfrm>
          <a:prstGeom prst="rect">
            <a:avLst/>
          </a:prstGeom>
          <a:solidFill>
            <a:schemeClr val="bg1">
              <a:lumMod val="65000"/>
            </a:schemeClr>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sz="1050" b="1" dirty="0">
                <a:solidFill>
                  <a:schemeClr val="bg1"/>
                </a:solidFill>
                <a:latin typeface="メイリオ" panose="020B0604030504040204" pitchFamily="50" charset="-128"/>
                <a:ea typeface="メイリオ" panose="020B0604030504040204" pitchFamily="50" charset="-128"/>
              </a:rPr>
              <a:t>クリック率</a:t>
            </a:r>
          </a:p>
        </p:txBody>
      </p:sp>
      <p:sp>
        <p:nvSpPr>
          <p:cNvPr id="26" name="正方形/長方形 25">
            <a:extLst>
              <a:ext uri="{FF2B5EF4-FFF2-40B4-BE49-F238E27FC236}">
                <a16:creationId xmlns:a16="http://schemas.microsoft.com/office/drawing/2014/main" id="{D9156083-EC1B-F8D0-1360-7F5BEA5CB663}"/>
              </a:ext>
            </a:extLst>
          </p:cNvPr>
          <p:cNvSpPr/>
          <p:nvPr/>
        </p:nvSpPr>
        <p:spPr>
          <a:xfrm>
            <a:off x="6594510" y="4892530"/>
            <a:ext cx="1438656" cy="268338"/>
          </a:xfrm>
          <a:prstGeom prst="rect">
            <a:avLst/>
          </a:prstGeom>
          <a:solidFill>
            <a:schemeClr val="bg1">
              <a:lumMod val="65000"/>
            </a:schemeClr>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1050" b="1" dirty="0">
                <a:solidFill>
                  <a:schemeClr val="bg1"/>
                </a:solidFill>
                <a:latin typeface="メイリオ" panose="020B0604030504040204" pitchFamily="50" charset="-128"/>
                <a:ea typeface="メイリオ" panose="020B0604030504040204" pitchFamily="50" charset="-128"/>
              </a:rPr>
              <a:t>CV</a:t>
            </a:r>
            <a:r>
              <a:rPr kumimoji="1" lang="ja-JP" altLang="en-US" sz="1050" b="1" dirty="0">
                <a:solidFill>
                  <a:schemeClr val="bg1"/>
                </a:solidFill>
                <a:latin typeface="メイリオ" panose="020B0604030504040204" pitchFamily="50" charset="-128"/>
                <a:ea typeface="メイリオ" panose="020B0604030504040204" pitchFamily="50" charset="-128"/>
              </a:rPr>
              <a:t>率</a:t>
            </a:r>
          </a:p>
        </p:txBody>
      </p:sp>
      <p:sp>
        <p:nvSpPr>
          <p:cNvPr id="27" name="正方形/長方形 26">
            <a:extLst>
              <a:ext uri="{FF2B5EF4-FFF2-40B4-BE49-F238E27FC236}">
                <a16:creationId xmlns:a16="http://schemas.microsoft.com/office/drawing/2014/main" id="{B0EDDD6B-F76F-0F36-49FD-6D63CEA4F456}"/>
              </a:ext>
            </a:extLst>
          </p:cNvPr>
          <p:cNvSpPr/>
          <p:nvPr/>
        </p:nvSpPr>
        <p:spPr>
          <a:xfrm>
            <a:off x="3144988" y="5228913"/>
            <a:ext cx="1438656" cy="522965"/>
          </a:xfrm>
          <a:prstGeom prst="rect">
            <a:avLst/>
          </a:prstGeom>
          <a:solidFill>
            <a:schemeClr val="accent1">
              <a:lumMod val="20000"/>
              <a:lumOff val="80000"/>
            </a:schemeClr>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ja-JP" sz="1600" b="1" dirty="0">
                <a:solidFill>
                  <a:srgbClr val="FF0000"/>
                </a:solidFill>
                <a:latin typeface="メイリオ" panose="020B0604030504040204" pitchFamily="50" charset="-128"/>
                <a:ea typeface="メイリオ" panose="020B0604030504040204" pitchFamily="50" charset="-128"/>
              </a:rPr>
              <a:t>85 </a:t>
            </a:r>
            <a:r>
              <a:rPr lang="en-US" altLang="ja-JP" sz="1400" b="1" dirty="0">
                <a:solidFill>
                  <a:srgbClr val="FF0000"/>
                </a:solidFill>
                <a:latin typeface="メイリオ" panose="020B0604030504040204" pitchFamily="50" charset="-128"/>
                <a:ea typeface="メイリオ" panose="020B0604030504040204" pitchFamily="50" charset="-128"/>
              </a:rPr>
              <a:t>%</a:t>
            </a:r>
            <a:endParaRPr kumimoji="1" lang="ja-JP" altLang="en-US" sz="1400" b="1" dirty="0">
              <a:solidFill>
                <a:srgbClr val="FF0000"/>
              </a:solidFill>
              <a:latin typeface="メイリオ" panose="020B0604030504040204" pitchFamily="50" charset="-128"/>
              <a:ea typeface="メイリオ" panose="020B0604030504040204" pitchFamily="50" charset="-128"/>
            </a:endParaRPr>
          </a:p>
        </p:txBody>
      </p:sp>
      <p:sp>
        <p:nvSpPr>
          <p:cNvPr id="28" name="正方形/長方形 27">
            <a:extLst>
              <a:ext uri="{FF2B5EF4-FFF2-40B4-BE49-F238E27FC236}">
                <a16:creationId xmlns:a16="http://schemas.microsoft.com/office/drawing/2014/main" id="{FD41B1A7-59DC-DE5C-69C2-F913EA082034}"/>
              </a:ext>
            </a:extLst>
          </p:cNvPr>
          <p:cNvSpPr/>
          <p:nvPr/>
        </p:nvSpPr>
        <p:spPr>
          <a:xfrm>
            <a:off x="4882248" y="5228913"/>
            <a:ext cx="1438656" cy="522965"/>
          </a:xfrm>
          <a:prstGeom prst="rect">
            <a:avLst/>
          </a:prstGeom>
          <a:solidFill>
            <a:schemeClr val="accent1">
              <a:lumMod val="20000"/>
              <a:lumOff val="80000"/>
            </a:schemeClr>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ja-JP" b="1" dirty="0">
                <a:solidFill>
                  <a:srgbClr val="FF0000"/>
                </a:solidFill>
                <a:latin typeface="メイリオ" panose="020B0604030504040204" pitchFamily="50" charset="-128"/>
                <a:ea typeface="メイリオ" panose="020B0604030504040204" pitchFamily="50" charset="-128"/>
              </a:rPr>
              <a:t>12.5 </a:t>
            </a:r>
            <a:r>
              <a:rPr lang="en-US" altLang="ja-JP" sz="1400" b="1" dirty="0">
                <a:solidFill>
                  <a:srgbClr val="FF0000"/>
                </a:solidFill>
                <a:latin typeface="メイリオ" panose="020B0604030504040204" pitchFamily="50" charset="-128"/>
                <a:ea typeface="メイリオ" panose="020B0604030504040204" pitchFamily="50" charset="-128"/>
              </a:rPr>
              <a:t>%</a:t>
            </a:r>
            <a:endParaRPr lang="ja-JP" altLang="en-US" sz="1400" b="1" dirty="0">
              <a:solidFill>
                <a:srgbClr val="FF0000"/>
              </a:solidFill>
              <a:latin typeface="メイリオ" panose="020B0604030504040204" pitchFamily="50" charset="-128"/>
              <a:ea typeface="メイリオ" panose="020B0604030504040204" pitchFamily="50" charset="-128"/>
            </a:endParaRPr>
          </a:p>
        </p:txBody>
      </p:sp>
      <p:sp>
        <p:nvSpPr>
          <p:cNvPr id="29" name="正方形/長方形 28">
            <a:extLst>
              <a:ext uri="{FF2B5EF4-FFF2-40B4-BE49-F238E27FC236}">
                <a16:creationId xmlns:a16="http://schemas.microsoft.com/office/drawing/2014/main" id="{2885A2E9-9449-3650-0E4A-5A9BF2D80E32}"/>
              </a:ext>
            </a:extLst>
          </p:cNvPr>
          <p:cNvSpPr/>
          <p:nvPr/>
        </p:nvSpPr>
        <p:spPr>
          <a:xfrm>
            <a:off x="6594510" y="5228913"/>
            <a:ext cx="1438656" cy="522965"/>
          </a:xfrm>
          <a:prstGeom prst="rect">
            <a:avLst/>
          </a:prstGeom>
          <a:solidFill>
            <a:schemeClr val="accent1">
              <a:lumMod val="20000"/>
              <a:lumOff val="80000"/>
            </a:schemeClr>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1600" b="1" dirty="0">
                <a:solidFill>
                  <a:srgbClr val="FF0000"/>
                </a:solidFill>
                <a:latin typeface="メイリオ" panose="020B0604030504040204" pitchFamily="50" charset="-128"/>
                <a:ea typeface="メイリオ" panose="020B0604030504040204" pitchFamily="50" charset="-128"/>
              </a:rPr>
              <a:t>0.5</a:t>
            </a:r>
            <a:r>
              <a:rPr kumimoji="1" lang="en-US" altLang="ja-JP" sz="1400" b="1" dirty="0">
                <a:solidFill>
                  <a:srgbClr val="FF0000"/>
                </a:solidFill>
                <a:latin typeface="メイリオ" panose="020B0604030504040204" pitchFamily="50" charset="-128"/>
                <a:ea typeface="メイリオ" panose="020B0604030504040204" pitchFamily="50" charset="-128"/>
              </a:rPr>
              <a:t> %</a:t>
            </a:r>
            <a:endParaRPr kumimoji="1" lang="ja-JP" altLang="en-US" sz="1400" b="1" dirty="0">
              <a:solidFill>
                <a:srgbClr val="FF0000"/>
              </a:solidFill>
              <a:latin typeface="メイリオ" panose="020B0604030504040204" pitchFamily="50" charset="-128"/>
              <a:ea typeface="メイリオ" panose="020B0604030504040204" pitchFamily="50" charset="-128"/>
            </a:endParaRPr>
          </a:p>
        </p:txBody>
      </p:sp>
      <p:sp>
        <p:nvSpPr>
          <p:cNvPr id="30" name="正方形/長方形 29">
            <a:extLst>
              <a:ext uri="{FF2B5EF4-FFF2-40B4-BE49-F238E27FC236}">
                <a16:creationId xmlns:a16="http://schemas.microsoft.com/office/drawing/2014/main" id="{317ECBDF-09D3-257E-8F4A-E037F6ADBAAE}"/>
              </a:ext>
            </a:extLst>
          </p:cNvPr>
          <p:cNvSpPr/>
          <p:nvPr/>
        </p:nvSpPr>
        <p:spPr>
          <a:xfrm>
            <a:off x="3144988" y="5811212"/>
            <a:ext cx="1438656" cy="522965"/>
          </a:xfrm>
          <a:prstGeom prst="rect">
            <a:avLst/>
          </a:prstGeom>
          <a:solidFill>
            <a:schemeClr val="bg1">
              <a:lumMod val="85000"/>
            </a:schemeClr>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ja-JP" sz="1400" b="1" dirty="0">
                <a:solidFill>
                  <a:schemeClr val="tx1"/>
                </a:solidFill>
                <a:latin typeface="メイリオ" panose="020B0604030504040204" pitchFamily="50" charset="-128"/>
                <a:ea typeface="メイリオ" panose="020B0604030504040204" pitchFamily="50" charset="-128"/>
              </a:rPr>
              <a:t>70 %</a:t>
            </a:r>
            <a:endParaRPr lang="ja-JP" altLang="en-US" sz="1400" b="1" dirty="0">
              <a:solidFill>
                <a:schemeClr val="tx1"/>
              </a:solidFill>
              <a:latin typeface="メイリオ" panose="020B0604030504040204" pitchFamily="50" charset="-128"/>
              <a:ea typeface="メイリオ" panose="020B0604030504040204" pitchFamily="50" charset="-128"/>
            </a:endParaRPr>
          </a:p>
        </p:txBody>
      </p:sp>
      <p:sp>
        <p:nvSpPr>
          <p:cNvPr id="31" name="正方形/長方形 30">
            <a:extLst>
              <a:ext uri="{FF2B5EF4-FFF2-40B4-BE49-F238E27FC236}">
                <a16:creationId xmlns:a16="http://schemas.microsoft.com/office/drawing/2014/main" id="{DA54FC15-4562-C68F-C13B-F3AB00F5F82F}"/>
              </a:ext>
            </a:extLst>
          </p:cNvPr>
          <p:cNvSpPr/>
          <p:nvPr/>
        </p:nvSpPr>
        <p:spPr>
          <a:xfrm>
            <a:off x="4882248" y="5811212"/>
            <a:ext cx="1438656" cy="522965"/>
          </a:xfrm>
          <a:prstGeom prst="rect">
            <a:avLst/>
          </a:prstGeom>
          <a:solidFill>
            <a:schemeClr val="bg1">
              <a:lumMod val="85000"/>
            </a:schemeClr>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ja-JP" sz="1400" b="1" dirty="0">
                <a:solidFill>
                  <a:schemeClr val="tx1"/>
                </a:solidFill>
                <a:latin typeface="メイリオ" panose="020B0604030504040204" pitchFamily="50" charset="-128"/>
                <a:ea typeface="メイリオ" panose="020B0604030504040204" pitchFamily="50" charset="-128"/>
              </a:rPr>
              <a:t>8.25 %</a:t>
            </a:r>
            <a:endParaRPr lang="ja-JP" altLang="en-US" sz="1400" b="1" dirty="0">
              <a:solidFill>
                <a:schemeClr val="tx1"/>
              </a:solidFill>
              <a:latin typeface="メイリオ" panose="020B0604030504040204" pitchFamily="50" charset="-128"/>
              <a:ea typeface="メイリオ" panose="020B0604030504040204" pitchFamily="50" charset="-128"/>
            </a:endParaRPr>
          </a:p>
        </p:txBody>
      </p:sp>
      <p:sp>
        <p:nvSpPr>
          <p:cNvPr id="32" name="正方形/長方形 31">
            <a:extLst>
              <a:ext uri="{FF2B5EF4-FFF2-40B4-BE49-F238E27FC236}">
                <a16:creationId xmlns:a16="http://schemas.microsoft.com/office/drawing/2014/main" id="{382D3CC2-0AA1-6B39-8315-AC41101F88FE}"/>
              </a:ext>
            </a:extLst>
          </p:cNvPr>
          <p:cNvSpPr/>
          <p:nvPr/>
        </p:nvSpPr>
        <p:spPr>
          <a:xfrm>
            <a:off x="6594510" y="5811212"/>
            <a:ext cx="1438656" cy="522965"/>
          </a:xfrm>
          <a:prstGeom prst="rect">
            <a:avLst/>
          </a:prstGeom>
          <a:solidFill>
            <a:schemeClr val="bg1">
              <a:lumMod val="85000"/>
            </a:schemeClr>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1400" b="1" dirty="0">
                <a:solidFill>
                  <a:schemeClr val="tx1"/>
                </a:solidFill>
                <a:latin typeface="メイリオ" panose="020B0604030504040204" pitchFamily="50" charset="-128"/>
                <a:ea typeface="メイリオ" panose="020B0604030504040204" pitchFamily="50" charset="-128"/>
              </a:rPr>
              <a:t>0.3 %</a:t>
            </a:r>
            <a:endParaRPr kumimoji="1" lang="ja-JP" altLang="en-US" sz="1400" b="1" dirty="0">
              <a:solidFill>
                <a:schemeClr val="tx1"/>
              </a:solidFill>
              <a:latin typeface="メイリオ" panose="020B0604030504040204" pitchFamily="50" charset="-128"/>
              <a:ea typeface="メイリオ" panose="020B0604030504040204" pitchFamily="50" charset="-128"/>
            </a:endParaRPr>
          </a:p>
        </p:txBody>
      </p:sp>
      <p:sp>
        <p:nvSpPr>
          <p:cNvPr id="33" name="正方形/長方形 32">
            <a:extLst>
              <a:ext uri="{FF2B5EF4-FFF2-40B4-BE49-F238E27FC236}">
                <a16:creationId xmlns:a16="http://schemas.microsoft.com/office/drawing/2014/main" id="{5C344B7F-D598-9707-1687-34DC19B638F6}"/>
              </a:ext>
            </a:extLst>
          </p:cNvPr>
          <p:cNvSpPr/>
          <p:nvPr/>
        </p:nvSpPr>
        <p:spPr>
          <a:xfrm>
            <a:off x="1569529" y="5226753"/>
            <a:ext cx="1438656" cy="522965"/>
          </a:xfrm>
          <a:prstGeom prst="rect">
            <a:avLst/>
          </a:prstGeom>
          <a:solidFill>
            <a:schemeClr val="tx2">
              <a:lumMod val="50000"/>
            </a:schemeClr>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1200" b="1" dirty="0">
                <a:solidFill>
                  <a:srgbClr val="FFC000"/>
                </a:solidFill>
                <a:latin typeface="メイリオ" panose="020B0604030504040204" pitchFamily="50" charset="-128"/>
                <a:ea typeface="メイリオ" panose="020B0604030504040204" pitchFamily="50" charset="-128"/>
              </a:rPr>
              <a:t>DYM</a:t>
            </a:r>
            <a:r>
              <a:rPr kumimoji="1" lang="ja-JP" altLang="en-US" sz="1200" b="1" dirty="0">
                <a:solidFill>
                  <a:srgbClr val="FFC000"/>
                </a:solidFill>
                <a:latin typeface="メイリオ" panose="020B0604030504040204" pitchFamily="50" charset="-128"/>
                <a:ea typeface="メイリオ" panose="020B0604030504040204" pitchFamily="50" charset="-128"/>
              </a:rPr>
              <a:t>実績</a:t>
            </a:r>
          </a:p>
        </p:txBody>
      </p:sp>
      <p:sp>
        <p:nvSpPr>
          <p:cNvPr id="34" name="正方形/長方形 33">
            <a:extLst>
              <a:ext uri="{FF2B5EF4-FFF2-40B4-BE49-F238E27FC236}">
                <a16:creationId xmlns:a16="http://schemas.microsoft.com/office/drawing/2014/main" id="{93D563E7-193E-0293-8E0E-7C2E3C5192BF}"/>
              </a:ext>
            </a:extLst>
          </p:cNvPr>
          <p:cNvSpPr/>
          <p:nvPr/>
        </p:nvSpPr>
        <p:spPr>
          <a:xfrm>
            <a:off x="1569529" y="5809052"/>
            <a:ext cx="1438656" cy="522965"/>
          </a:xfrm>
          <a:prstGeom prst="rect">
            <a:avLst/>
          </a:prstGeom>
          <a:solidFill>
            <a:schemeClr val="tx1"/>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sz="1200" b="1" dirty="0">
                <a:solidFill>
                  <a:schemeClr val="bg1"/>
                </a:solidFill>
                <a:latin typeface="メイリオ" panose="020B0604030504040204" pitchFamily="50" charset="-128"/>
                <a:ea typeface="メイリオ" panose="020B0604030504040204" pitchFamily="50" charset="-128"/>
              </a:rPr>
              <a:t>業界平均</a:t>
            </a:r>
            <a:endParaRPr lang="en-US" altLang="ja-JP" sz="1200" b="1" dirty="0">
              <a:solidFill>
                <a:schemeClr val="bg1"/>
              </a:solidFill>
              <a:latin typeface="メイリオ" panose="020B0604030504040204" pitchFamily="50" charset="-128"/>
              <a:ea typeface="メイリオ" panose="020B0604030504040204" pitchFamily="50" charset="-128"/>
            </a:endParaRPr>
          </a:p>
          <a:p>
            <a:pPr algn="ctr"/>
            <a:r>
              <a:rPr lang="en-US" altLang="ja-JP" sz="800" b="1" dirty="0">
                <a:solidFill>
                  <a:schemeClr val="bg1"/>
                </a:solidFill>
                <a:latin typeface="メイリオ" panose="020B0604030504040204" pitchFamily="50" charset="-128"/>
                <a:ea typeface="メイリオ" panose="020B0604030504040204" pitchFamily="50" charset="-128"/>
              </a:rPr>
              <a:t>(LINE</a:t>
            </a:r>
            <a:r>
              <a:rPr lang="ja-JP" altLang="en-US" sz="800" b="1" dirty="0">
                <a:solidFill>
                  <a:schemeClr val="bg1"/>
                </a:solidFill>
                <a:latin typeface="メイリオ" panose="020B0604030504040204" pitchFamily="50" charset="-128"/>
                <a:ea typeface="メイリオ" panose="020B0604030504040204" pitchFamily="50" charset="-128"/>
              </a:rPr>
              <a:t>ヤフー社より共有）</a:t>
            </a:r>
          </a:p>
        </p:txBody>
      </p:sp>
      <p:sp>
        <p:nvSpPr>
          <p:cNvPr id="35" name="正方形/長方形 34">
            <a:extLst>
              <a:ext uri="{FF2B5EF4-FFF2-40B4-BE49-F238E27FC236}">
                <a16:creationId xmlns:a16="http://schemas.microsoft.com/office/drawing/2014/main" id="{A58F3C16-C1CC-3071-6630-130857C0B7D1}"/>
              </a:ext>
            </a:extLst>
          </p:cNvPr>
          <p:cNvSpPr/>
          <p:nvPr/>
        </p:nvSpPr>
        <p:spPr>
          <a:xfrm>
            <a:off x="564095" y="1666793"/>
            <a:ext cx="8989207" cy="328130"/>
          </a:xfrm>
          <a:prstGeom prst="rect">
            <a:avLst/>
          </a:prstGeom>
          <a:solidFill>
            <a:schemeClr val="tx1"/>
          </a:solidFill>
          <a:ln w="9525">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400" b="1" dirty="0">
                <a:solidFill>
                  <a:srgbClr val="FFC000"/>
                </a:solidFill>
                <a:latin typeface="メイリオ" panose="020B0604030504040204" pitchFamily="50" charset="-128"/>
                <a:ea typeface="メイリオ" panose="020B0604030504040204" pitchFamily="50" charset="-128"/>
              </a:rPr>
              <a:t>施策の流れ</a:t>
            </a:r>
          </a:p>
        </p:txBody>
      </p:sp>
    </p:spTree>
    <p:extLst>
      <p:ext uri="{BB962C8B-B14F-4D97-AF65-F5344CB8AC3E}">
        <p14:creationId xmlns:p14="http://schemas.microsoft.com/office/powerpoint/2010/main" val="2421842372"/>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C5EBFBA-F50F-49FF-6262-A65BC71D24BA}"/>
            </a:ext>
          </a:extLst>
        </p:cNvPr>
        <p:cNvGrpSpPr/>
        <p:nvPr/>
      </p:nvGrpSpPr>
      <p:grpSpPr>
        <a:xfrm>
          <a:off x="0" y="0"/>
          <a:ext cx="0" cy="0"/>
          <a:chOff x="0" y="0"/>
          <a:chExt cx="0" cy="0"/>
        </a:xfrm>
      </p:grpSpPr>
      <p:sp>
        <p:nvSpPr>
          <p:cNvPr id="3" name="正方形/長方形 2">
            <a:extLst>
              <a:ext uri="{FF2B5EF4-FFF2-40B4-BE49-F238E27FC236}">
                <a16:creationId xmlns:a16="http://schemas.microsoft.com/office/drawing/2014/main" id="{54A58725-F6F0-8B49-3CD7-5CBEAA430892}"/>
              </a:ext>
            </a:extLst>
          </p:cNvPr>
          <p:cNvSpPr/>
          <p:nvPr/>
        </p:nvSpPr>
        <p:spPr>
          <a:xfrm>
            <a:off x="0" y="577940"/>
            <a:ext cx="9906000" cy="812735"/>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kumimoji="1" lang="ja-JP" altLang="en-US">
              <a:latin typeface="メイリオ" panose="020B0604030504040204" pitchFamily="50" charset="-128"/>
              <a:ea typeface="メイリオ" panose="020B0604030504040204" pitchFamily="50" charset="-128"/>
            </a:endParaRPr>
          </a:p>
        </p:txBody>
      </p:sp>
      <p:sp>
        <p:nvSpPr>
          <p:cNvPr id="4" name="正方形/長方形 3">
            <a:extLst>
              <a:ext uri="{FF2B5EF4-FFF2-40B4-BE49-F238E27FC236}">
                <a16:creationId xmlns:a16="http://schemas.microsoft.com/office/drawing/2014/main" id="{C83D44E2-DD1A-B705-6239-227268DFCE80}"/>
              </a:ext>
            </a:extLst>
          </p:cNvPr>
          <p:cNvSpPr/>
          <p:nvPr/>
        </p:nvSpPr>
        <p:spPr>
          <a:xfrm>
            <a:off x="788963" y="793451"/>
            <a:ext cx="8328074" cy="381712"/>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tIns="90000" anchor="ctr"/>
          <a:lstStyle/>
          <a:p>
            <a:pPr algn="ctr">
              <a:lnSpc>
                <a:spcPts val="2455"/>
              </a:lnSpc>
            </a:pPr>
            <a:r>
              <a:rPr lang="ja-JP" altLang="en-US" sz="1400" dirty="0">
                <a:solidFill>
                  <a:srgbClr val="343434"/>
                </a:solidFill>
                <a:latin typeface="メイリオ" panose="020B0604030504040204" pitchFamily="50" charset="-128"/>
                <a:ea typeface="メイリオ" panose="020B0604030504040204" pitchFamily="50" charset="-128"/>
              </a:rPr>
              <a:t>業態平均で</a:t>
            </a:r>
            <a:r>
              <a:rPr lang="ja-JP" altLang="en-US" sz="1400" b="1" dirty="0">
                <a:solidFill>
                  <a:srgbClr val="FF0000"/>
                </a:solidFill>
                <a:latin typeface="メイリオ" panose="020B0604030504040204" pitchFamily="50" charset="-128"/>
                <a:ea typeface="メイリオ" panose="020B0604030504040204" pitchFamily="50" charset="-128"/>
              </a:rPr>
              <a:t>最大３</a:t>
            </a:r>
            <a:r>
              <a:rPr lang="en-US" altLang="ja-JP" sz="1400" b="1" dirty="0">
                <a:solidFill>
                  <a:srgbClr val="FF0000"/>
                </a:solidFill>
                <a:latin typeface="メイリオ" panose="020B0604030504040204" pitchFamily="50" charset="-128"/>
                <a:ea typeface="メイリオ" panose="020B0604030504040204" pitchFamily="50" charset="-128"/>
              </a:rPr>
              <a:t>%</a:t>
            </a:r>
            <a:r>
              <a:rPr lang="ja-JP" altLang="en-US" sz="1400" b="1" dirty="0">
                <a:solidFill>
                  <a:srgbClr val="FF0000"/>
                </a:solidFill>
                <a:latin typeface="メイリオ" panose="020B0604030504040204" pitchFamily="50" charset="-128"/>
                <a:ea typeface="メイリオ" panose="020B0604030504040204" pitchFamily="50" charset="-128"/>
              </a:rPr>
              <a:t>のユーザーは有効化</a:t>
            </a:r>
            <a:r>
              <a:rPr lang="en-US" altLang="ja-JP" sz="1400" b="1" dirty="0">
                <a:solidFill>
                  <a:srgbClr val="FF0000"/>
                </a:solidFill>
                <a:latin typeface="メイリオ" panose="020B0604030504040204" pitchFamily="50" charset="-128"/>
                <a:ea typeface="メイリオ" panose="020B0604030504040204" pitchFamily="50" charset="-128"/>
              </a:rPr>
              <a:t>/</a:t>
            </a:r>
            <a:r>
              <a:rPr lang="ja-JP" altLang="en-US" sz="1400" b="1" dirty="0">
                <a:solidFill>
                  <a:srgbClr val="FF0000"/>
                </a:solidFill>
                <a:latin typeface="メイリオ" panose="020B0604030504040204" pitchFamily="50" charset="-128"/>
                <a:ea typeface="メイリオ" panose="020B0604030504040204" pitchFamily="50" charset="-128"/>
              </a:rPr>
              <a:t>マネタイズ可能</a:t>
            </a:r>
            <a:r>
              <a:rPr lang="ja-JP" altLang="en-US" sz="1400" dirty="0">
                <a:solidFill>
                  <a:srgbClr val="343434"/>
                </a:solidFill>
                <a:latin typeface="メイリオ" panose="020B0604030504040204" pitchFamily="50" charset="-128"/>
                <a:ea typeface="メイリオ" panose="020B0604030504040204" pitchFamily="50" charset="-128"/>
              </a:rPr>
              <a:t> とされている。</a:t>
            </a:r>
            <a:endParaRPr lang="en-US" altLang="ja-JP" sz="1400" dirty="0">
              <a:solidFill>
                <a:srgbClr val="343434"/>
              </a:solidFill>
              <a:latin typeface="メイリオ" panose="020B0604030504040204" pitchFamily="50" charset="-128"/>
              <a:ea typeface="メイリオ" panose="020B0604030504040204" pitchFamily="50" charset="-128"/>
            </a:endParaRPr>
          </a:p>
          <a:p>
            <a:pPr algn="ctr">
              <a:lnSpc>
                <a:spcPts val="2455"/>
              </a:lnSpc>
            </a:pPr>
            <a:r>
              <a:rPr lang="ja-JP" altLang="en-US" sz="1400" dirty="0">
                <a:solidFill>
                  <a:srgbClr val="343434"/>
                </a:solidFill>
                <a:latin typeface="メイリオ" panose="020B0604030504040204" pitchFamily="50" charset="-128"/>
                <a:ea typeface="メイリオ" panose="020B0604030504040204" pitchFamily="50" charset="-128"/>
              </a:rPr>
              <a:t>貴社集客課題に合わせて、</a:t>
            </a:r>
            <a:r>
              <a:rPr lang="en-US" altLang="ja-JP" sz="1400" dirty="0">
                <a:solidFill>
                  <a:srgbClr val="343434"/>
                </a:solidFill>
                <a:latin typeface="メイリオ" panose="020B0604030504040204" pitchFamily="50" charset="-128"/>
                <a:ea typeface="メイリオ" panose="020B0604030504040204" pitchFamily="50" charset="-128"/>
              </a:rPr>
              <a:t>LINE</a:t>
            </a:r>
            <a:r>
              <a:rPr lang="ja-JP" altLang="en-US" sz="1400" dirty="0">
                <a:solidFill>
                  <a:srgbClr val="343434"/>
                </a:solidFill>
                <a:latin typeface="メイリオ" panose="020B0604030504040204" pitchFamily="50" charset="-128"/>
                <a:ea typeface="メイリオ" panose="020B0604030504040204" pitchFamily="50" charset="-128"/>
              </a:rPr>
              <a:t>公式アカウントの構築モデルを活用しながら集客効率を改善。</a:t>
            </a:r>
          </a:p>
        </p:txBody>
      </p:sp>
      <p:cxnSp>
        <p:nvCxnSpPr>
          <p:cNvPr id="5" name="直線コネクタ 4">
            <a:extLst>
              <a:ext uri="{FF2B5EF4-FFF2-40B4-BE49-F238E27FC236}">
                <a16:creationId xmlns:a16="http://schemas.microsoft.com/office/drawing/2014/main" id="{73533EC4-DA04-2252-5E95-8206105B300C}"/>
              </a:ext>
            </a:extLst>
          </p:cNvPr>
          <p:cNvCxnSpPr>
            <a:cxnSpLocks/>
          </p:cNvCxnSpPr>
          <p:nvPr/>
        </p:nvCxnSpPr>
        <p:spPr>
          <a:xfrm>
            <a:off x="0" y="1390675"/>
            <a:ext cx="9906000" cy="0"/>
          </a:xfrm>
          <a:prstGeom prst="line">
            <a:avLst/>
          </a:prstGeom>
          <a:ln w="19050">
            <a:solidFill>
              <a:schemeClr val="bg1">
                <a:lumMod val="85000"/>
                <a:alpha val="60000"/>
              </a:schemeClr>
            </a:solidFill>
          </a:ln>
          <a:effectLst/>
        </p:spPr>
        <p:style>
          <a:lnRef idx="2">
            <a:schemeClr val="accent1"/>
          </a:lnRef>
          <a:fillRef idx="0">
            <a:schemeClr val="accent1"/>
          </a:fillRef>
          <a:effectRef idx="1">
            <a:schemeClr val="accent1"/>
          </a:effectRef>
          <a:fontRef idx="minor">
            <a:schemeClr val="tx1"/>
          </a:fontRef>
        </p:style>
      </p:cxnSp>
      <p:sp>
        <p:nvSpPr>
          <p:cNvPr id="45" name="Google Shape;156;p7">
            <a:extLst>
              <a:ext uri="{FF2B5EF4-FFF2-40B4-BE49-F238E27FC236}">
                <a16:creationId xmlns:a16="http://schemas.microsoft.com/office/drawing/2014/main" id="{DEFE914D-32AD-C9E0-A47B-60FB84F79955}"/>
              </a:ext>
            </a:extLst>
          </p:cNvPr>
          <p:cNvSpPr txBox="1"/>
          <p:nvPr/>
        </p:nvSpPr>
        <p:spPr>
          <a:xfrm>
            <a:off x="548883" y="138118"/>
            <a:ext cx="6514857" cy="338554"/>
          </a:xfrm>
          <a:prstGeom prst="rect">
            <a:avLst/>
          </a:prstGeom>
          <a:noFill/>
          <a:ln w="19050">
            <a:noFill/>
          </a:ln>
        </p:spPr>
        <p:txBody>
          <a:bodyPr spcFirstLastPara="1" wrap="square" lIns="91425" tIns="45700" rIns="91425" bIns="45700" anchor="ctr" anchorCtr="0">
            <a:spAutoFit/>
          </a:bodyPr>
          <a:lstStyle/>
          <a:p>
            <a:pPr marL="0" marR="0" lvl="0" indent="0" algn="l" rtl="0">
              <a:spcBef>
                <a:spcPts val="0"/>
              </a:spcBef>
              <a:spcAft>
                <a:spcPts val="0"/>
              </a:spcAft>
              <a:buClr>
                <a:srgbClr val="002060"/>
              </a:buClr>
              <a:buSzPts val="1600"/>
              <a:buFont typeface="Arial"/>
              <a:buNone/>
            </a:pPr>
            <a:r>
              <a:rPr lang="en-US" altLang="ja-JP" sz="1600" b="1" dirty="0">
                <a:solidFill>
                  <a:srgbClr val="002060"/>
                </a:solidFill>
                <a:latin typeface="Meiryo"/>
                <a:ea typeface="Meiryo"/>
                <a:cs typeface="Meiryo"/>
                <a:sym typeface="Meiryo"/>
              </a:rPr>
              <a:t>LINE</a:t>
            </a:r>
            <a:r>
              <a:rPr lang="ja-JP" altLang="en-US" sz="1600" b="1" dirty="0">
                <a:solidFill>
                  <a:srgbClr val="002060"/>
                </a:solidFill>
                <a:latin typeface="Meiryo"/>
                <a:ea typeface="Meiryo"/>
                <a:cs typeface="Meiryo"/>
                <a:sym typeface="Meiryo"/>
              </a:rPr>
              <a:t>公式アカウントを検討する背景</a:t>
            </a:r>
            <a:endParaRPr sz="1600" b="1" dirty="0">
              <a:solidFill>
                <a:srgbClr val="002060"/>
              </a:solidFill>
              <a:latin typeface="Meiryo"/>
              <a:ea typeface="Meiryo"/>
              <a:cs typeface="Meiryo"/>
              <a:sym typeface="Meiryo"/>
            </a:endParaRPr>
          </a:p>
        </p:txBody>
      </p:sp>
      <p:sp>
        <p:nvSpPr>
          <p:cNvPr id="2" name="正方形/長方形 1">
            <a:extLst>
              <a:ext uri="{FF2B5EF4-FFF2-40B4-BE49-F238E27FC236}">
                <a16:creationId xmlns:a16="http://schemas.microsoft.com/office/drawing/2014/main" id="{EEF4BB1D-1E6E-955A-85D2-2DAF3FCF967B}"/>
              </a:ext>
            </a:extLst>
          </p:cNvPr>
          <p:cNvSpPr/>
          <p:nvPr/>
        </p:nvSpPr>
        <p:spPr>
          <a:xfrm>
            <a:off x="437755" y="1606187"/>
            <a:ext cx="1425879" cy="314059"/>
          </a:xfrm>
          <a:prstGeom prst="rect">
            <a:avLst/>
          </a:prstGeom>
          <a:solidFill>
            <a:schemeClr val="tx1">
              <a:lumMod val="85000"/>
              <a:lumOff val="1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200" b="1" dirty="0">
                <a:latin typeface="メイリオ" panose="020B0604030504040204" pitchFamily="50" charset="-128"/>
                <a:ea typeface="メイリオ" panose="020B0604030504040204" pitchFamily="50" charset="-128"/>
              </a:rPr>
              <a:t>流入元</a:t>
            </a:r>
          </a:p>
        </p:txBody>
      </p:sp>
      <p:sp>
        <p:nvSpPr>
          <p:cNvPr id="8" name="正方形/長方形 7">
            <a:extLst>
              <a:ext uri="{FF2B5EF4-FFF2-40B4-BE49-F238E27FC236}">
                <a16:creationId xmlns:a16="http://schemas.microsoft.com/office/drawing/2014/main" id="{531C33D5-FD17-057E-9ABE-377B289F9790}"/>
              </a:ext>
            </a:extLst>
          </p:cNvPr>
          <p:cNvSpPr/>
          <p:nvPr/>
        </p:nvSpPr>
        <p:spPr>
          <a:xfrm>
            <a:off x="1939984" y="1606186"/>
            <a:ext cx="1425879" cy="314059"/>
          </a:xfrm>
          <a:prstGeom prst="rect">
            <a:avLst/>
          </a:prstGeom>
          <a:solidFill>
            <a:srgbClr val="04FA0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1200" b="1" dirty="0">
                <a:latin typeface="メイリオ" panose="020B0604030504040204" pitchFamily="50" charset="-128"/>
                <a:ea typeface="メイリオ" panose="020B0604030504040204" pitchFamily="50" charset="-128"/>
              </a:rPr>
              <a:t>LINE</a:t>
            </a:r>
            <a:r>
              <a:rPr kumimoji="1" lang="ja-JP" altLang="en-US" sz="1200" b="1" dirty="0">
                <a:latin typeface="メイリオ" panose="020B0604030504040204" pitchFamily="50" charset="-128"/>
                <a:ea typeface="メイリオ" panose="020B0604030504040204" pitchFamily="50" charset="-128"/>
              </a:rPr>
              <a:t>誘導</a:t>
            </a:r>
          </a:p>
        </p:txBody>
      </p:sp>
      <p:sp>
        <p:nvSpPr>
          <p:cNvPr id="10" name="正方形/長方形 9">
            <a:extLst>
              <a:ext uri="{FF2B5EF4-FFF2-40B4-BE49-F238E27FC236}">
                <a16:creationId xmlns:a16="http://schemas.microsoft.com/office/drawing/2014/main" id="{AFB52975-24F0-82CC-8A36-A65D2F539FA3}"/>
              </a:ext>
            </a:extLst>
          </p:cNvPr>
          <p:cNvSpPr/>
          <p:nvPr/>
        </p:nvSpPr>
        <p:spPr>
          <a:xfrm>
            <a:off x="3442213" y="1606186"/>
            <a:ext cx="4320230" cy="314059"/>
          </a:xfrm>
          <a:prstGeom prst="rect">
            <a:avLst/>
          </a:prstGeom>
          <a:solidFill>
            <a:schemeClr val="tx1">
              <a:lumMod val="85000"/>
              <a:lumOff val="1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200" dirty="0">
                <a:latin typeface="メイリオ" panose="020B0604030504040204" pitchFamily="50" charset="-128"/>
                <a:ea typeface="メイリオ" panose="020B0604030504040204" pitchFamily="50" charset="-128"/>
              </a:rPr>
              <a:t>具体の施策方針</a:t>
            </a:r>
          </a:p>
        </p:txBody>
      </p:sp>
      <p:sp>
        <p:nvSpPr>
          <p:cNvPr id="34" name="矢印: 右 33">
            <a:extLst>
              <a:ext uri="{FF2B5EF4-FFF2-40B4-BE49-F238E27FC236}">
                <a16:creationId xmlns:a16="http://schemas.microsoft.com/office/drawing/2014/main" id="{173A008B-7B40-3834-688E-168FABDF16B8}"/>
              </a:ext>
            </a:extLst>
          </p:cNvPr>
          <p:cNvSpPr/>
          <p:nvPr/>
        </p:nvSpPr>
        <p:spPr>
          <a:xfrm>
            <a:off x="1080889" y="2280379"/>
            <a:ext cx="7744217" cy="586917"/>
          </a:xfrm>
          <a:prstGeom prst="rightArrow">
            <a:avLst/>
          </a:prstGeom>
          <a:solidFill>
            <a:schemeClr val="accent1">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37" name="正方形/長方形 36">
            <a:extLst>
              <a:ext uri="{FF2B5EF4-FFF2-40B4-BE49-F238E27FC236}">
                <a16:creationId xmlns:a16="http://schemas.microsoft.com/office/drawing/2014/main" id="{FD70E0F9-3A37-9791-A2F1-DB53DFA521CA}"/>
              </a:ext>
            </a:extLst>
          </p:cNvPr>
          <p:cNvSpPr/>
          <p:nvPr/>
        </p:nvSpPr>
        <p:spPr>
          <a:xfrm>
            <a:off x="1939984" y="2014581"/>
            <a:ext cx="1425879" cy="558530"/>
          </a:xfrm>
          <a:prstGeom prst="rect">
            <a:avLst/>
          </a:prstGeom>
          <a:solidFill>
            <a:schemeClr val="bg1"/>
          </a:solidFill>
          <a:ln w="9525">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sz="900">
                <a:solidFill>
                  <a:schemeClr val="tx1">
                    <a:lumMod val="75000"/>
                    <a:lumOff val="25000"/>
                  </a:schemeClr>
                </a:solidFill>
                <a:latin typeface="メイリオ" panose="020B0604030504040204" pitchFamily="50" charset="-128"/>
                <a:ea typeface="メイリオ" panose="020B0604030504040204" pitchFamily="50" charset="-128"/>
              </a:rPr>
              <a:t>離脱防止</a:t>
            </a:r>
            <a:endParaRPr lang="en-US" altLang="ja-JP" sz="900" dirty="0">
              <a:solidFill>
                <a:schemeClr val="tx1">
                  <a:lumMod val="75000"/>
                  <a:lumOff val="25000"/>
                </a:schemeClr>
              </a:solidFill>
              <a:latin typeface="メイリオ" panose="020B0604030504040204" pitchFamily="50" charset="-128"/>
              <a:ea typeface="メイリオ" panose="020B0604030504040204" pitchFamily="50" charset="-128"/>
            </a:endParaRPr>
          </a:p>
          <a:p>
            <a:pPr algn="ctr"/>
            <a:r>
              <a:rPr lang="ja-JP" altLang="en-US" sz="900" dirty="0">
                <a:solidFill>
                  <a:schemeClr val="tx1">
                    <a:lumMod val="75000"/>
                    <a:lumOff val="25000"/>
                  </a:schemeClr>
                </a:solidFill>
                <a:latin typeface="メイリオ" panose="020B0604030504040204" pitchFamily="50" charset="-128"/>
                <a:ea typeface="メイリオ" panose="020B0604030504040204" pitchFamily="50" charset="-128"/>
              </a:rPr>
              <a:t>サイト上ポップアップ</a:t>
            </a:r>
          </a:p>
        </p:txBody>
      </p:sp>
      <p:sp>
        <p:nvSpPr>
          <p:cNvPr id="39" name="正方形/長方形 38">
            <a:extLst>
              <a:ext uri="{FF2B5EF4-FFF2-40B4-BE49-F238E27FC236}">
                <a16:creationId xmlns:a16="http://schemas.microsoft.com/office/drawing/2014/main" id="{BC93A6AA-67BF-84C0-0945-45084140FCCE}"/>
              </a:ext>
            </a:extLst>
          </p:cNvPr>
          <p:cNvSpPr/>
          <p:nvPr/>
        </p:nvSpPr>
        <p:spPr>
          <a:xfrm>
            <a:off x="1939984" y="2627767"/>
            <a:ext cx="1425879" cy="558530"/>
          </a:xfrm>
          <a:prstGeom prst="rect">
            <a:avLst/>
          </a:prstGeom>
          <a:solidFill>
            <a:schemeClr val="bg1"/>
          </a:solidFill>
          <a:ln w="9525">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sz="900" dirty="0">
                <a:solidFill>
                  <a:schemeClr val="tx1">
                    <a:lumMod val="75000"/>
                    <a:lumOff val="25000"/>
                  </a:schemeClr>
                </a:solidFill>
                <a:latin typeface="メイリオ" panose="020B0604030504040204" pitchFamily="50" charset="-128"/>
                <a:ea typeface="メイリオ" panose="020B0604030504040204" pitchFamily="50" charset="-128"/>
              </a:rPr>
              <a:t>離脱防止</a:t>
            </a:r>
            <a:endParaRPr lang="en-US" altLang="ja-JP" sz="900" dirty="0">
              <a:solidFill>
                <a:schemeClr val="tx1">
                  <a:lumMod val="75000"/>
                  <a:lumOff val="25000"/>
                </a:schemeClr>
              </a:solidFill>
              <a:latin typeface="メイリオ" panose="020B0604030504040204" pitchFamily="50" charset="-128"/>
              <a:ea typeface="メイリオ" panose="020B0604030504040204" pitchFamily="50" charset="-128"/>
            </a:endParaRPr>
          </a:p>
          <a:p>
            <a:pPr algn="ctr"/>
            <a:r>
              <a:rPr lang="ja-JP" altLang="en-US" sz="900" dirty="0">
                <a:solidFill>
                  <a:schemeClr val="tx1">
                    <a:lumMod val="75000"/>
                    <a:lumOff val="25000"/>
                  </a:schemeClr>
                </a:solidFill>
                <a:latin typeface="メイリオ" panose="020B0604030504040204" pitchFamily="50" charset="-128"/>
                <a:ea typeface="メイリオ" panose="020B0604030504040204" pitchFamily="50" charset="-128"/>
              </a:rPr>
              <a:t>サイト上ポップアップ</a:t>
            </a:r>
          </a:p>
        </p:txBody>
      </p:sp>
      <p:sp>
        <p:nvSpPr>
          <p:cNvPr id="41" name="正方形/長方形 40">
            <a:extLst>
              <a:ext uri="{FF2B5EF4-FFF2-40B4-BE49-F238E27FC236}">
                <a16:creationId xmlns:a16="http://schemas.microsoft.com/office/drawing/2014/main" id="{1B7DB214-408D-A44C-E3F0-2C35AF01311F}"/>
              </a:ext>
            </a:extLst>
          </p:cNvPr>
          <p:cNvSpPr/>
          <p:nvPr/>
        </p:nvSpPr>
        <p:spPr>
          <a:xfrm>
            <a:off x="437755" y="2014581"/>
            <a:ext cx="1425879" cy="558530"/>
          </a:xfrm>
          <a:prstGeom prst="rect">
            <a:avLst/>
          </a:prstGeom>
          <a:solidFill>
            <a:schemeClr val="bg1">
              <a:lumMod val="95000"/>
            </a:schemeClr>
          </a:solidFill>
          <a:ln w="9525">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ja-JP" sz="1000">
                <a:solidFill>
                  <a:schemeClr val="tx1">
                    <a:lumMod val="75000"/>
                    <a:lumOff val="25000"/>
                  </a:schemeClr>
                </a:solidFill>
                <a:latin typeface="メイリオ" panose="020B0604030504040204" pitchFamily="50" charset="-128"/>
                <a:ea typeface="メイリオ" panose="020B0604030504040204" pitchFamily="50" charset="-128"/>
              </a:rPr>
              <a:t>SEO</a:t>
            </a:r>
            <a:r>
              <a:rPr lang="ja-JP" altLang="en-US" sz="1000">
                <a:solidFill>
                  <a:schemeClr val="tx1">
                    <a:lumMod val="75000"/>
                    <a:lumOff val="25000"/>
                  </a:schemeClr>
                </a:solidFill>
                <a:latin typeface="メイリオ" panose="020B0604030504040204" pitchFamily="50" charset="-128"/>
                <a:ea typeface="メイリオ" panose="020B0604030504040204" pitchFamily="50" charset="-128"/>
              </a:rPr>
              <a:t>・</a:t>
            </a:r>
            <a:r>
              <a:rPr lang="en-US" altLang="ja-JP" sz="1000" dirty="0">
                <a:solidFill>
                  <a:schemeClr val="tx1">
                    <a:lumMod val="75000"/>
                    <a:lumOff val="25000"/>
                  </a:schemeClr>
                </a:solidFill>
                <a:latin typeface="メイリオ" panose="020B0604030504040204" pitchFamily="50" charset="-128"/>
                <a:ea typeface="メイリオ" panose="020B0604030504040204" pitchFamily="50" charset="-128"/>
              </a:rPr>
              <a:t>AIO</a:t>
            </a:r>
            <a:endParaRPr lang="ja-JP" altLang="en-US" sz="1000" dirty="0">
              <a:solidFill>
                <a:schemeClr val="tx1">
                  <a:lumMod val="75000"/>
                  <a:lumOff val="25000"/>
                </a:schemeClr>
              </a:solidFill>
              <a:latin typeface="メイリオ" panose="020B0604030504040204" pitchFamily="50" charset="-128"/>
              <a:ea typeface="メイリオ" panose="020B0604030504040204" pitchFamily="50" charset="-128"/>
            </a:endParaRPr>
          </a:p>
        </p:txBody>
      </p:sp>
      <p:sp>
        <p:nvSpPr>
          <p:cNvPr id="43" name="正方形/長方形 42">
            <a:extLst>
              <a:ext uri="{FF2B5EF4-FFF2-40B4-BE49-F238E27FC236}">
                <a16:creationId xmlns:a16="http://schemas.microsoft.com/office/drawing/2014/main" id="{4FF021F0-AD46-9EC1-0810-C474BA8335D8}"/>
              </a:ext>
            </a:extLst>
          </p:cNvPr>
          <p:cNvSpPr/>
          <p:nvPr/>
        </p:nvSpPr>
        <p:spPr>
          <a:xfrm>
            <a:off x="437755" y="2627767"/>
            <a:ext cx="1425879" cy="558530"/>
          </a:xfrm>
          <a:prstGeom prst="rect">
            <a:avLst/>
          </a:prstGeom>
          <a:solidFill>
            <a:schemeClr val="bg1">
              <a:lumMod val="95000"/>
            </a:schemeClr>
          </a:solidFill>
          <a:ln w="9525">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sz="1000" dirty="0">
                <a:solidFill>
                  <a:schemeClr val="tx1">
                    <a:lumMod val="75000"/>
                    <a:lumOff val="25000"/>
                  </a:schemeClr>
                </a:solidFill>
                <a:latin typeface="メイリオ" panose="020B0604030504040204" pitchFamily="50" charset="-128"/>
                <a:ea typeface="メイリオ" panose="020B0604030504040204" pitchFamily="50" charset="-128"/>
              </a:rPr>
              <a:t>広告</a:t>
            </a:r>
          </a:p>
        </p:txBody>
      </p:sp>
      <p:sp>
        <p:nvSpPr>
          <p:cNvPr id="46" name="正方形/長方形 45">
            <a:extLst>
              <a:ext uri="{FF2B5EF4-FFF2-40B4-BE49-F238E27FC236}">
                <a16:creationId xmlns:a16="http://schemas.microsoft.com/office/drawing/2014/main" id="{8A474FF7-4108-C39F-A5EC-7D5691573134}"/>
              </a:ext>
            </a:extLst>
          </p:cNvPr>
          <p:cNvSpPr/>
          <p:nvPr/>
        </p:nvSpPr>
        <p:spPr>
          <a:xfrm>
            <a:off x="3442213" y="2009121"/>
            <a:ext cx="4320230" cy="1177176"/>
          </a:xfrm>
          <a:prstGeom prst="rect">
            <a:avLst/>
          </a:prstGeom>
          <a:solidFill>
            <a:schemeClr val="bg1"/>
          </a:solidFill>
          <a:ln w="9525">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ja-JP" altLang="en-US" sz="900" dirty="0">
              <a:solidFill>
                <a:schemeClr val="tx1">
                  <a:lumMod val="75000"/>
                  <a:lumOff val="25000"/>
                </a:schemeClr>
              </a:solidFill>
              <a:latin typeface="メイリオ" panose="020B0604030504040204" pitchFamily="50" charset="-128"/>
              <a:ea typeface="メイリオ" panose="020B0604030504040204" pitchFamily="50" charset="-128"/>
            </a:endParaRPr>
          </a:p>
        </p:txBody>
      </p:sp>
      <p:sp>
        <p:nvSpPr>
          <p:cNvPr id="48" name="矢印: 右 47">
            <a:extLst>
              <a:ext uri="{FF2B5EF4-FFF2-40B4-BE49-F238E27FC236}">
                <a16:creationId xmlns:a16="http://schemas.microsoft.com/office/drawing/2014/main" id="{7386A58D-9B89-4DB0-7216-4E1CB6B454A9}"/>
              </a:ext>
            </a:extLst>
          </p:cNvPr>
          <p:cNvSpPr/>
          <p:nvPr/>
        </p:nvSpPr>
        <p:spPr>
          <a:xfrm>
            <a:off x="1080891" y="3232219"/>
            <a:ext cx="7744217" cy="586917"/>
          </a:xfrm>
          <a:prstGeom prst="rightArrow">
            <a:avLst/>
          </a:prstGeom>
          <a:solidFill>
            <a:schemeClr val="accent1">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50" name="矢印: 右 49">
            <a:extLst>
              <a:ext uri="{FF2B5EF4-FFF2-40B4-BE49-F238E27FC236}">
                <a16:creationId xmlns:a16="http://schemas.microsoft.com/office/drawing/2014/main" id="{D3CE675D-8A5C-D632-6FDA-1C8A7E291893}"/>
              </a:ext>
            </a:extLst>
          </p:cNvPr>
          <p:cNvSpPr/>
          <p:nvPr/>
        </p:nvSpPr>
        <p:spPr>
          <a:xfrm>
            <a:off x="1080890" y="3933285"/>
            <a:ext cx="7744217" cy="586917"/>
          </a:xfrm>
          <a:prstGeom prst="rightArrow">
            <a:avLst/>
          </a:prstGeom>
          <a:solidFill>
            <a:schemeClr val="accent1">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cxnSp>
        <p:nvCxnSpPr>
          <p:cNvPr id="51" name="直線コネクタ 50">
            <a:extLst>
              <a:ext uri="{FF2B5EF4-FFF2-40B4-BE49-F238E27FC236}">
                <a16:creationId xmlns:a16="http://schemas.microsoft.com/office/drawing/2014/main" id="{8397AEEA-4837-54CF-13BA-F31B80D1393F}"/>
              </a:ext>
            </a:extLst>
          </p:cNvPr>
          <p:cNvCxnSpPr>
            <a:cxnSpLocks/>
          </p:cNvCxnSpPr>
          <p:nvPr/>
        </p:nvCxnSpPr>
        <p:spPr>
          <a:xfrm flipV="1">
            <a:off x="437755" y="3888359"/>
            <a:ext cx="7324688" cy="1"/>
          </a:xfrm>
          <a:prstGeom prst="line">
            <a:avLst/>
          </a:prstGeom>
          <a:ln>
            <a:prstDash val="sysDash"/>
          </a:ln>
        </p:spPr>
        <p:style>
          <a:lnRef idx="1">
            <a:schemeClr val="accent1"/>
          </a:lnRef>
          <a:fillRef idx="0">
            <a:schemeClr val="accent1"/>
          </a:fillRef>
          <a:effectRef idx="0">
            <a:schemeClr val="accent1"/>
          </a:effectRef>
          <a:fontRef idx="minor">
            <a:schemeClr val="tx1"/>
          </a:fontRef>
        </p:style>
      </p:cxnSp>
      <p:sp>
        <p:nvSpPr>
          <p:cNvPr id="52" name="正方形/長方形 51">
            <a:extLst>
              <a:ext uri="{FF2B5EF4-FFF2-40B4-BE49-F238E27FC236}">
                <a16:creationId xmlns:a16="http://schemas.microsoft.com/office/drawing/2014/main" id="{24D1C472-525A-CFB1-3C6E-3053F2619881}"/>
              </a:ext>
            </a:extLst>
          </p:cNvPr>
          <p:cNvSpPr/>
          <p:nvPr/>
        </p:nvSpPr>
        <p:spPr>
          <a:xfrm>
            <a:off x="437755" y="3240953"/>
            <a:ext cx="2928107" cy="558530"/>
          </a:xfrm>
          <a:prstGeom prst="rect">
            <a:avLst/>
          </a:prstGeom>
          <a:solidFill>
            <a:schemeClr val="bg1">
              <a:lumMod val="95000"/>
            </a:schemeClr>
          </a:solidFill>
          <a:ln w="9525">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1000" dirty="0">
                <a:solidFill>
                  <a:schemeClr val="tx1">
                    <a:lumMod val="65000"/>
                    <a:lumOff val="35000"/>
                  </a:schemeClr>
                </a:solidFill>
                <a:latin typeface="メイリオ" panose="020B0604030504040204" pitchFamily="50" charset="-128"/>
                <a:ea typeface="メイリオ" panose="020B0604030504040204" pitchFamily="50" charset="-128"/>
              </a:rPr>
              <a:t>LINE</a:t>
            </a:r>
            <a:r>
              <a:rPr kumimoji="1" lang="ja-JP" altLang="en-US" sz="1000" dirty="0">
                <a:solidFill>
                  <a:schemeClr val="tx1">
                    <a:lumMod val="65000"/>
                    <a:lumOff val="35000"/>
                  </a:schemeClr>
                </a:solidFill>
                <a:latin typeface="メイリオ" panose="020B0604030504040204" pitchFamily="50" charset="-128"/>
                <a:ea typeface="メイリオ" panose="020B0604030504040204" pitchFamily="50" charset="-128"/>
              </a:rPr>
              <a:t>広告（</a:t>
            </a:r>
            <a:r>
              <a:rPr kumimoji="1" lang="en-US" altLang="ja-JP" sz="1000" dirty="0">
                <a:solidFill>
                  <a:schemeClr val="tx1">
                    <a:lumMod val="65000"/>
                    <a:lumOff val="35000"/>
                  </a:schemeClr>
                </a:solidFill>
                <a:latin typeface="メイリオ" panose="020B0604030504040204" pitchFamily="50" charset="-128"/>
                <a:ea typeface="メイリオ" panose="020B0604030504040204" pitchFamily="50" charset="-128"/>
              </a:rPr>
              <a:t>CPF</a:t>
            </a:r>
            <a:r>
              <a:rPr kumimoji="1" lang="ja-JP" altLang="en-US" sz="1000" dirty="0">
                <a:solidFill>
                  <a:schemeClr val="tx1">
                    <a:lumMod val="65000"/>
                    <a:lumOff val="35000"/>
                  </a:schemeClr>
                </a:solidFill>
                <a:latin typeface="メイリオ" panose="020B0604030504040204" pitchFamily="50" charset="-128"/>
                <a:ea typeface="メイリオ" panose="020B0604030504040204" pitchFamily="50" charset="-128"/>
              </a:rPr>
              <a:t>配信）</a:t>
            </a:r>
            <a:endParaRPr kumimoji="1" lang="en-US" altLang="ja-JP" sz="1000" dirty="0">
              <a:solidFill>
                <a:schemeClr val="tx1">
                  <a:lumMod val="65000"/>
                  <a:lumOff val="35000"/>
                </a:schemeClr>
              </a:solidFill>
              <a:latin typeface="メイリオ" panose="020B0604030504040204" pitchFamily="50" charset="-128"/>
              <a:ea typeface="メイリオ" panose="020B0604030504040204" pitchFamily="50" charset="-128"/>
            </a:endParaRPr>
          </a:p>
          <a:p>
            <a:pPr algn="ctr"/>
            <a:r>
              <a:rPr lang="ja-JP" altLang="en-US" sz="1000" dirty="0">
                <a:solidFill>
                  <a:schemeClr val="tx1">
                    <a:lumMod val="65000"/>
                    <a:lumOff val="35000"/>
                  </a:schemeClr>
                </a:solidFill>
                <a:latin typeface="メイリオ" panose="020B0604030504040204" pitchFamily="50" charset="-128"/>
                <a:ea typeface="メイリオ" panose="020B0604030504040204" pitchFamily="50" charset="-128"/>
              </a:rPr>
              <a:t>サイト上ポップアップ</a:t>
            </a:r>
            <a:endParaRPr kumimoji="1" lang="ja-JP" altLang="en-US" sz="1000" dirty="0">
              <a:solidFill>
                <a:schemeClr val="tx1">
                  <a:lumMod val="65000"/>
                  <a:lumOff val="35000"/>
                </a:schemeClr>
              </a:solidFill>
              <a:latin typeface="メイリオ" panose="020B0604030504040204" pitchFamily="50" charset="-128"/>
              <a:ea typeface="メイリオ" panose="020B0604030504040204" pitchFamily="50" charset="-128"/>
            </a:endParaRPr>
          </a:p>
        </p:txBody>
      </p:sp>
      <p:sp>
        <p:nvSpPr>
          <p:cNvPr id="53" name="正方形/長方形 52">
            <a:extLst>
              <a:ext uri="{FF2B5EF4-FFF2-40B4-BE49-F238E27FC236}">
                <a16:creationId xmlns:a16="http://schemas.microsoft.com/office/drawing/2014/main" id="{CBD188BB-0EA8-4510-DCA0-2AEE1B7CD5EB}"/>
              </a:ext>
            </a:extLst>
          </p:cNvPr>
          <p:cNvSpPr/>
          <p:nvPr/>
        </p:nvSpPr>
        <p:spPr>
          <a:xfrm>
            <a:off x="1939984" y="3977235"/>
            <a:ext cx="1425879" cy="558530"/>
          </a:xfrm>
          <a:prstGeom prst="rect">
            <a:avLst/>
          </a:prstGeom>
          <a:solidFill>
            <a:schemeClr val="bg1"/>
          </a:solidFill>
          <a:ln w="9525">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900" dirty="0">
                <a:solidFill>
                  <a:schemeClr val="tx1">
                    <a:lumMod val="65000"/>
                    <a:lumOff val="35000"/>
                  </a:schemeClr>
                </a:solidFill>
                <a:latin typeface="メイリオ" panose="020B0604030504040204" pitchFamily="50" charset="-128"/>
                <a:ea typeface="メイリオ" panose="020B0604030504040204" pitchFamily="50" charset="-128"/>
              </a:rPr>
              <a:t>通知メッセ</a:t>
            </a:r>
          </a:p>
        </p:txBody>
      </p:sp>
      <p:sp>
        <p:nvSpPr>
          <p:cNvPr id="54" name="正方形/長方形 53">
            <a:extLst>
              <a:ext uri="{FF2B5EF4-FFF2-40B4-BE49-F238E27FC236}">
                <a16:creationId xmlns:a16="http://schemas.microsoft.com/office/drawing/2014/main" id="{29E6B5C9-2FD2-FC57-1789-05FA5F38E1F7}"/>
              </a:ext>
            </a:extLst>
          </p:cNvPr>
          <p:cNvSpPr/>
          <p:nvPr/>
        </p:nvSpPr>
        <p:spPr>
          <a:xfrm>
            <a:off x="437755" y="3977235"/>
            <a:ext cx="1425879" cy="558530"/>
          </a:xfrm>
          <a:prstGeom prst="rect">
            <a:avLst/>
          </a:prstGeom>
          <a:solidFill>
            <a:schemeClr val="bg1">
              <a:lumMod val="95000"/>
            </a:schemeClr>
          </a:solidFill>
          <a:ln w="9525">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1000" dirty="0">
                <a:solidFill>
                  <a:schemeClr val="tx1">
                    <a:lumMod val="65000"/>
                    <a:lumOff val="35000"/>
                  </a:schemeClr>
                </a:solidFill>
                <a:latin typeface="メイリオ" panose="020B0604030504040204" pitchFamily="50" charset="-128"/>
                <a:ea typeface="メイリオ" panose="020B0604030504040204" pitchFamily="50" charset="-128"/>
              </a:rPr>
              <a:t>CV</a:t>
            </a:r>
            <a:r>
              <a:rPr kumimoji="1" lang="ja-JP" altLang="en-US" sz="1000" dirty="0">
                <a:solidFill>
                  <a:schemeClr val="tx1">
                    <a:lumMod val="65000"/>
                    <a:lumOff val="35000"/>
                  </a:schemeClr>
                </a:solidFill>
                <a:latin typeface="メイリオ" panose="020B0604030504040204" pitchFamily="50" charset="-128"/>
                <a:ea typeface="メイリオ" panose="020B0604030504040204" pitchFamily="50" charset="-128"/>
              </a:rPr>
              <a:t>・</a:t>
            </a:r>
            <a:r>
              <a:rPr kumimoji="1" lang="en-US" altLang="ja-JP" sz="1000" dirty="0">
                <a:solidFill>
                  <a:schemeClr val="tx1">
                    <a:lumMod val="65000"/>
                    <a:lumOff val="35000"/>
                  </a:schemeClr>
                </a:solidFill>
                <a:latin typeface="メイリオ" panose="020B0604030504040204" pitchFamily="50" charset="-128"/>
                <a:ea typeface="メイリオ" panose="020B0604030504040204" pitchFamily="50" charset="-128"/>
              </a:rPr>
              <a:t>mcv</a:t>
            </a:r>
            <a:r>
              <a:rPr kumimoji="1" lang="ja-JP" altLang="en-US" sz="1000" dirty="0">
                <a:solidFill>
                  <a:schemeClr val="tx1">
                    <a:lumMod val="65000"/>
                    <a:lumOff val="35000"/>
                  </a:schemeClr>
                </a:solidFill>
                <a:latin typeface="メイリオ" panose="020B0604030504040204" pitchFamily="50" charset="-128"/>
                <a:ea typeface="メイリオ" panose="020B0604030504040204" pitchFamily="50" charset="-128"/>
              </a:rPr>
              <a:t>済</a:t>
            </a:r>
          </a:p>
        </p:txBody>
      </p:sp>
      <p:sp>
        <p:nvSpPr>
          <p:cNvPr id="55" name="正方形/長方形 54">
            <a:extLst>
              <a:ext uri="{FF2B5EF4-FFF2-40B4-BE49-F238E27FC236}">
                <a16:creationId xmlns:a16="http://schemas.microsoft.com/office/drawing/2014/main" id="{533AD0C0-7276-FA17-9FD7-734635201CB2}"/>
              </a:ext>
            </a:extLst>
          </p:cNvPr>
          <p:cNvSpPr/>
          <p:nvPr/>
        </p:nvSpPr>
        <p:spPr>
          <a:xfrm>
            <a:off x="3442212" y="3240953"/>
            <a:ext cx="4320230" cy="558528"/>
          </a:xfrm>
          <a:prstGeom prst="rect">
            <a:avLst/>
          </a:prstGeom>
          <a:solidFill>
            <a:schemeClr val="bg1"/>
          </a:solidFill>
          <a:ln w="9525">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900" dirty="0">
              <a:solidFill>
                <a:schemeClr val="tx1">
                  <a:lumMod val="65000"/>
                  <a:lumOff val="35000"/>
                </a:schemeClr>
              </a:solidFill>
              <a:latin typeface="メイリオ" panose="020B0604030504040204" pitchFamily="50" charset="-128"/>
              <a:ea typeface="メイリオ" panose="020B0604030504040204" pitchFamily="50" charset="-128"/>
            </a:endParaRPr>
          </a:p>
        </p:txBody>
      </p:sp>
      <p:sp>
        <p:nvSpPr>
          <p:cNvPr id="56" name="正方形/長方形 55">
            <a:extLst>
              <a:ext uri="{FF2B5EF4-FFF2-40B4-BE49-F238E27FC236}">
                <a16:creationId xmlns:a16="http://schemas.microsoft.com/office/drawing/2014/main" id="{415D5861-B108-7E0A-3377-5601EF82149A}"/>
              </a:ext>
            </a:extLst>
          </p:cNvPr>
          <p:cNvSpPr/>
          <p:nvPr/>
        </p:nvSpPr>
        <p:spPr>
          <a:xfrm>
            <a:off x="3442212" y="3977237"/>
            <a:ext cx="4320230" cy="558528"/>
          </a:xfrm>
          <a:prstGeom prst="rect">
            <a:avLst/>
          </a:prstGeom>
          <a:solidFill>
            <a:schemeClr val="bg1"/>
          </a:solidFill>
          <a:ln w="9525">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900" dirty="0">
              <a:solidFill>
                <a:schemeClr val="tx1">
                  <a:lumMod val="65000"/>
                  <a:lumOff val="35000"/>
                </a:schemeClr>
              </a:solidFill>
              <a:latin typeface="メイリオ" panose="020B0604030504040204" pitchFamily="50" charset="-128"/>
              <a:ea typeface="メイリオ" panose="020B0604030504040204" pitchFamily="50" charset="-128"/>
            </a:endParaRPr>
          </a:p>
        </p:txBody>
      </p:sp>
      <p:sp>
        <p:nvSpPr>
          <p:cNvPr id="58" name="矢印: 右 57">
            <a:extLst>
              <a:ext uri="{FF2B5EF4-FFF2-40B4-BE49-F238E27FC236}">
                <a16:creationId xmlns:a16="http://schemas.microsoft.com/office/drawing/2014/main" id="{94AAFD78-CFCD-8AAC-C5DE-8F785D90C401}"/>
              </a:ext>
            </a:extLst>
          </p:cNvPr>
          <p:cNvSpPr/>
          <p:nvPr/>
        </p:nvSpPr>
        <p:spPr>
          <a:xfrm>
            <a:off x="1080889" y="4580318"/>
            <a:ext cx="7744217" cy="586917"/>
          </a:xfrm>
          <a:prstGeom prst="rightArrow">
            <a:avLst/>
          </a:prstGeom>
          <a:solidFill>
            <a:schemeClr val="accent1">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60" name="矢印: 右 59">
            <a:extLst>
              <a:ext uri="{FF2B5EF4-FFF2-40B4-BE49-F238E27FC236}">
                <a16:creationId xmlns:a16="http://schemas.microsoft.com/office/drawing/2014/main" id="{4D8298BD-6809-4C50-E889-0C5F779DE209}"/>
              </a:ext>
            </a:extLst>
          </p:cNvPr>
          <p:cNvSpPr/>
          <p:nvPr/>
        </p:nvSpPr>
        <p:spPr>
          <a:xfrm>
            <a:off x="1080889" y="5811958"/>
            <a:ext cx="7744217" cy="586917"/>
          </a:xfrm>
          <a:prstGeom prst="rightArrow">
            <a:avLst/>
          </a:prstGeom>
          <a:solidFill>
            <a:schemeClr val="accent1">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62" name="矢印: 右 61">
            <a:extLst>
              <a:ext uri="{FF2B5EF4-FFF2-40B4-BE49-F238E27FC236}">
                <a16:creationId xmlns:a16="http://schemas.microsoft.com/office/drawing/2014/main" id="{01F0D3B8-3119-304D-228E-ED46B6CAB67D}"/>
              </a:ext>
            </a:extLst>
          </p:cNvPr>
          <p:cNvSpPr/>
          <p:nvPr/>
        </p:nvSpPr>
        <p:spPr>
          <a:xfrm>
            <a:off x="1080889" y="5201704"/>
            <a:ext cx="7744217" cy="586917"/>
          </a:xfrm>
          <a:prstGeom prst="rightArrow">
            <a:avLst/>
          </a:prstGeom>
          <a:solidFill>
            <a:schemeClr val="accent1">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64" name="正方形/長方形 63">
            <a:extLst>
              <a:ext uri="{FF2B5EF4-FFF2-40B4-BE49-F238E27FC236}">
                <a16:creationId xmlns:a16="http://schemas.microsoft.com/office/drawing/2014/main" id="{9751A61D-8342-2E71-49E2-6F2A585210CF}"/>
              </a:ext>
            </a:extLst>
          </p:cNvPr>
          <p:cNvSpPr/>
          <p:nvPr/>
        </p:nvSpPr>
        <p:spPr>
          <a:xfrm>
            <a:off x="1939984" y="4595881"/>
            <a:ext cx="1425879" cy="558530"/>
          </a:xfrm>
          <a:prstGeom prst="rect">
            <a:avLst/>
          </a:prstGeom>
          <a:solidFill>
            <a:schemeClr val="bg1"/>
          </a:solidFill>
          <a:ln w="9525">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900" dirty="0">
                <a:solidFill>
                  <a:schemeClr val="tx1">
                    <a:lumMod val="65000"/>
                    <a:lumOff val="35000"/>
                  </a:schemeClr>
                </a:solidFill>
                <a:latin typeface="メイリオ" panose="020B0604030504040204" pitchFamily="50" charset="-128"/>
                <a:ea typeface="メイリオ" panose="020B0604030504040204" pitchFamily="50" charset="-128"/>
              </a:rPr>
              <a:t>サンクス</a:t>
            </a:r>
            <a:r>
              <a:rPr kumimoji="1" lang="en-US" altLang="ja-JP" sz="900" dirty="0">
                <a:solidFill>
                  <a:schemeClr val="tx1">
                    <a:lumMod val="65000"/>
                    <a:lumOff val="35000"/>
                  </a:schemeClr>
                </a:solidFill>
                <a:latin typeface="メイリオ" panose="020B0604030504040204" pitchFamily="50" charset="-128"/>
                <a:ea typeface="メイリオ" panose="020B0604030504040204" pitchFamily="50" charset="-128"/>
              </a:rPr>
              <a:t>LINE</a:t>
            </a:r>
            <a:r>
              <a:rPr kumimoji="1" lang="ja-JP" altLang="en-US" sz="900" dirty="0">
                <a:solidFill>
                  <a:schemeClr val="tx1">
                    <a:lumMod val="65000"/>
                    <a:lumOff val="35000"/>
                  </a:schemeClr>
                </a:solidFill>
                <a:latin typeface="メイリオ" panose="020B0604030504040204" pitchFamily="50" charset="-128"/>
                <a:ea typeface="メイリオ" panose="020B0604030504040204" pitchFamily="50" charset="-128"/>
              </a:rPr>
              <a:t>誘導</a:t>
            </a:r>
          </a:p>
        </p:txBody>
      </p:sp>
      <p:sp>
        <p:nvSpPr>
          <p:cNvPr id="66" name="正方形/長方形 65">
            <a:extLst>
              <a:ext uri="{FF2B5EF4-FFF2-40B4-BE49-F238E27FC236}">
                <a16:creationId xmlns:a16="http://schemas.microsoft.com/office/drawing/2014/main" id="{069B86FC-7AC9-2579-6747-94409852E6A9}"/>
              </a:ext>
            </a:extLst>
          </p:cNvPr>
          <p:cNvSpPr/>
          <p:nvPr/>
        </p:nvSpPr>
        <p:spPr>
          <a:xfrm>
            <a:off x="437755" y="4595881"/>
            <a:ext cx="1425879" cy="558530"/>
          </a:xfrm>
          <a:prstGeom prst="rect">
            <a:avLst/>
          </a:prstGeom>
          <a:solidFill>
            <a:schemeClr val="bg1">
              <a:lumMod val="95000"/>
            </a:schemeClr>
          </a:solidFill>
          <a:ln w="9525">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1000" dirty="0">
                <a:solidFill>
                  <a:schemeClr val="tx1">
                    <a:lumMod val="65000"/>
                    <a:lumOff val="35000"/>
                  </a:schemeClr>
                </a:solidFill>
                <a:latin typeface="メイリオ" panose="020B0604030504040204" pitchFamily="50" charset="-128"/>
                <a:ea typeface="メイリオ" panose="020B0604030504040204" pitchFamily="50" charset="-128"/>
              </a:rPr>
              <a:t>CV</a:t>
            </a:r>
            <a:r>
              <a:rPr kumimoji="1" lang="ja-JP" altLang="en-US" sz="1000" dirty="0">
                <a:solidFill>
                  <a:schemeClr val="tx1">
                    <a:lumMod val="65000"/>
                    <a:lumOff val="35000"/>
                  </a:schemeClr>
                </a:solidFill>
                <a:latin typeface="メイリオ" panose="020B0604030504040204" pitchFamily="50" charset="-128"/>
                <a:ea typeface="メイリオ" panose="020B0604030504040204" pitchFamily="50" charset="-128"/>
              </a:rPr>
              <a:t>・</a:t>
            </a:r>
            <a:r>
              <a:rPr kumimoji="1" lang="en-US" altLang="ja-JP" sz="1000" dirty="0">
                <a:solidFill>
                  <a:schemeClr val="tx1">
                    <a:lumMod val="65000"/>
                    <a:lumOff val="35000"/>
                  </a:schemeClr>
                </a:solidFill>
                <a:latin typeface="メイリオ" panose="020B0604030504040204" pitchFamily="50" charset="-128"/>
                <a:ea typeface="メイリオ" panose="020B0604030504040204" pitchFamily="50" charset="-128"/>
              </a:rPr>
              <a:t>mcv</a:t>
            </a:r>
            <a:r>
              <a:rPr kumimoji="1" lang="ja-JP" altLang="en-US" sz="1000" dirty="0">
                <a:solidFill>
                  <a:schemeClr val="tx1">
                    <a:lumMod val="65000"/>
                    <a:lumOff val="35000"/>
                  </a:schemeClr>
                </a:solidFill>
                <a:latin typeface="メイリオ" panose="020B0604030504040204" pitchFamily="50" charset="-128"/>
                <a:ea typeface="メイリオ" panose="020B0604030504040204" pitchFamily="50" charset="-128"/>
              </a:rPr>
              <a:t>済</a:t>
            </a:r>
          </a:p>
        </p:txBody>
      </p:sp>
      <p:sp>
        <p:nvSpPr>
          <p:cNvPr id="68" name="正方形/長方形 67">
            <a:extLst>
              <a:ext uri="{FF2B5EF4-FFF2-40B4-BE49-F238E27FC236}">
                <a16:creationId xmlns:a16="http://schemas.microsoft.com/office/drawing/2014/main" id="{259BCB38-DAF2-BC8F-7410-9383C33A3F86}"/>
              </a:ext>
            </a:extLst>
          </p:cNvPr>
          <p:cNvSpPr/>
          <p:nvPr/>
        </p:nvSpPr>
        <p:spPr>
          <a:xfrm>
            <a:off x="437755" y="5214527"/>
            <a:ext cx="1425879" cy="558530"/>
          </a:xfrm>
          <a:prstGeom prst="rect">
            <a:avLst/>
          </a:prstGeom>
          <a:solidFill>
            <a:schemeClr val="bg1">
              <a:lumMod val="95000"/>
            </a:schemeClr>
          </a:solidFill>
          <a:ln w="9525">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000" dirty="0">
                <a:solidFill>
                  <a:schemeClr val="tx1">
                    <a:lumMod val="65000"/>
                    <a:lumOff val="35000"/>
                  </a:schemeClr>
                </a:solidFill>
                <a:latin typeface="メイリオ" panose="020B0604030504040204" pitchFamily="50" charset="-128"/>
                <a:ea typeface="メイリオ" panose="020B0604030504040204" pitchFamily="50" charset="-128"/>
              </a:rPr>
              <a:t>保有リスト</a:t>
            </a:r>
          </a:p>
        </p:txBody>
      </p:sp>
      <p:sp>
        <p:nvSpPr>
          <p:cNvPr id="70" name="正方形/長方形 69">
            <a:extLst>
              <a:ext uri="{FF2B5EF4-FFF2-40B4-BE49-F238E27FC236}">
                <a16:creationId xmlns:a16="http://schemas.microsoft.com/office/drawing/2014/main" id="{1F924E3D-9CB9-CA80-4FF6-D62C50842AEB}"/>
              </a:ext>
            </a:extLst>
          </p:cNvPr>
          <p:cNvSpPr/>
          <p:nvPr/>
        </p:nvSpPr>
        <p:spPr>
          <a:xfrm>
            <a:off x="437755" y="5833173"/>
            <a:ext cx="1425879" cy="558530"/>
          </a:xfrm>
          <a:prstGeom prst="rect">
            <a:avLst/>
          </a:prstGeom>
          <a:solidFill>
            <a:schemeClr val="bg1">
              <a:lumMod val="95000"/>
            </a:schemeClr>
          </a:solidFill>
          <a:ln w="9525">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000" dirty="0">
                <a:solidFill>
                  <a:schemeClr val="tx1">
                    <a:lumMod val="65000"/>
                    <a:lumOff val="35000"/>
                  </a:schemeClr>
                </a:solidFill>
                <a:latin typeface="メイリオ" panose="020B0604030504040204" pitchFamily="50" charset="-128"/>
                <a:ea typeface="メイリオ" panose="020B0604030504040204" pitchFamily="50" charset="-128"/>
              </a:rPr>
              <a:t>保有リスト</a:t>
            </a:r>
          </a:p>
        </p:txBody>
      </p:sp>
      <p:sp>
        <p:nvSpPr>
          <p:cNvPr id="72" name="正方形/長方形 71">
            <a:extLst>
              <a:ext uri="{FF2B5EF4-FFF2-40B4-BE49-F238E27FC236}">
                <a16:creationId xmlns:a16="http://schemas.microsoft.com/office/drawing/2014/main" id="{048444BF-0B54-4CE2-78C3-B78C7FCD001B}"/>
              </a:ext>
            </a:extLst>
          </p:cNvPr>
          <p:cNvSpPr/>
          <p:nvPr/>
        </p:nvSpPr>
        <p:spPr>
          <a:xfrm>
            <a:off x="1939983" y="5214527"/>
            <a:ext cx="1425879" cy="558530"/>
          </a:xfrm>
          <a:prstGeom prst="rect">
            <a:avLst/>
          </a:prstGeom>
          <a:solidFill>
            <a:schemeClr val="bg1"/>
          </a:solidFill>
          <a:ln w="9525">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900" dirty="0">
                <a:solidFill>
                  <a:schemeClr val="tx1">
                    <a:lumMod val="65000"/>
                    <a:lumOff val="35000"/>
                  </a:schemeClr>
                </a:solidFill>
                <a:latin typeface="メイリオ" panose="020B0604030504040204" pitchFamily="50" charset="-128"/>
                <a:ea typeface="メイリオ" panose="020B0604030504040204" pitchFamily="50" charset="-128"/>
              </a:rPr>
              <a:t>通知メッセ</a:t>
            </a:r>
          </a:p>
        </p:txBody>
      </p:sp>
      <p:sp>
        <p:nvSpPr>
          <p:cNvPr id="74" name="正方形/長方形 73">
            <a:extLst>
              <a:ext uri="{FF2B5EF4-FFF2-40B4-BE49-F238E27FC236}">
                <a16:creationId xmlns:a16="http://schemas.microsoft.com/office/drawing/2014/main" id="{AD971EAE-829E-07E1-B15C-D7B9C5538B0F}"/>
              </a:ext>
            </a:extLst>
          </p:cNvPr>
          <p:cNvSpPr/>
          <p:nvPr/>
        </p:nvSpPr>
        <p:spPr>
          <a:xfrm>
            <a:off x="1939983" y="5833173"/>
            <a:ext cx="1425879" cy="558530"/>
          </a:xfrm>
          <a:prstGeom prst="rect">
            <a:avLst/>
          </a:prstGeom>
          <a:solidFill>
            <a:schemeClr val="bg1"/>
          </a:solidFill>
          <a:ln w="9525">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900" dirty="0">
                <a:solidFill>
                  <a:schemeClr val="tx1">
                    <a:lumMod val="65000"/>
                    <a:lumOff val="35000"/>
                  </a:schemeClr>
                </a:solidFill>
                <a:latin typeface="メイリオ" panose="020B0604030504040204" pitchFamily="50" charset="-128"/>
                <a:ea typeface="メイリオ" panose="020B0604030504040204" pitchFamily="50" charset="-128"/>
              </a:rPr>
              <a:t>メルマガ・テレマ</a:t>
            </a:r>
            <a:endParaRPr kumimoji="1" lang="en-US" altLang="ja-JP" sz="900" dirty="0">
              <a:solidFill>
                <a:schemeClr val="tx1">
                  <a:lumMod val="65000"/>
                  <a:lumOff val="35000"/>
                </a:schemeClr>
              </a:solidFill>
              <a:latin typeface="メイリオ" panose="020B0604030504040204" pitchFamily="50" charset="-128"/>
              <a:ea typeface="メイリオ" panose="020B0604030504040204" pitchFamily="50" charset="-128"/>
            </a:endParaRPr>
          </a:p>
          <a:p>
            <a:pPr algn="ctr"/>
            <a:r>
              <a:rPr lang="en-US" altLang="ja-JP" sz="900" dirty="0">
                <a:solidFill>
                  <a:schemeClr val="tx1">
                    <a:lumMod val="65000"/>
                    <a:lumOff val="35000"/>
                  </a:schemeClr>
                </a:solidFill>
                <a:latin typeface="メイリオ" panose="020B0604030504040204" pitchFamily="50" charset="-128"/>
                <a:ea typeface="メイリオ" panose="020B0604030504040204" pitchFamily="50" charset="-128"/>
              </a:rPr>
              <a:t>SNS</a:t>
            </a:r>
            <a:r>
              <a:rPr lang="ja-JP" altLang="en-US" sz="900" dirty="0">
                <a:solidFill>
                  <a:schemeClr val="tx1">
                    <a:lumMod val="65000"/>
                    <a:lumOff val="35000"/>
                  </a:schemeClr>
                </a:solidFill>
                <a:latin typeface="メイリオ" panose="020B0604030504040204" pitchFamily="50" charset="-128"/>
                <a:ea typeface="メイリオ" panose="020B0604030504040204" pitchFamily="50" charset="-128"/>
              </a:rPr>
              <a:t>告知</a:t>
            </a:r>
            <a:endParaRPr kumimoji="1" lang="ja-JP" altLang="en-US" sz="900" dirty="0">
              <a:solidFill>
                <a:schemeClr val="tx1">
                  <a:lumMod val="65000"/>
                  <a:lumOff val="35000"/>
                </a:schemeClr>
              </a:solidFill>
              <a:latin typeface="メイリオ" panose="020B0604030504040204" pitchFamily="50" charset="-128"/>
              <a:ea typeface="メイリオ" panose="020B0604030504040204" pitchFamily="50" charset="-128"/>
            </a:endParaRPr>
          </a:p>
        </p:txBody>
      </p:sp>
      <p:sp>
        <p:nvSpPr>
          <p:cNvPr id="76" name="正方形/長方形 75">
            <a:extLst>
              <a:ext uri="{FF2B5EF4-FFF2-40B4-BE49-F238E27FC236}">
                <a16:creationId xmlns:a16="http://schemas.microsoft.com/office/drawing/2014/main" id="{1D0E3A14-A5E0-6277-4C0A-37271CE6D04A}"/>
              </a:ext>
            </a:extLst>
          </p:cNvPr>
          <p:cNvSpPr/>
          <p:nvPr/>
        </p:nvSpPr>
        <p:spPr>
          <a:xfrm>
            <a:off x="3442212" y="4595883"/>
            <a:ext cx="4320230" cy="558528"/>
          </a:xfrm>
          <a:prstGeom prst="rect">
            <a:avLst/>
          </a:prstGeom>
          <a:solidFill>
            <a:schemeClr val="bg1"/>
          </a:solidFill>
          <a:ln w="9525">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900" dirty="0">
              <a:solidFill>
                <a:schemeClr val="tx1">
                  <a:lumMod val="65000"/>
                  <a:lumOff val="35000"/>
                </a:schemeClr>
              </a:solidFill>
              <a:latin typeface="メイリオ" panose="020B0604030504040204" pitchFamily="50" charset="-128"/>
              <a:ea typeface="メイリオ" panose="020B0604030504040204" pitchFamily="50" charset="-128"/>
            </a:endParaRPr>
          </a:p>
        </p:txBody>
      </p:sp>
      <p:sp>
        <p:nvSpPr>
          <p:cNvPr id="78" name="正方形/長方形 77">
            <a:extLst>
              <a:ext uri="{FF2B5EF4-FFF2-40B4-BE49-F238E27FC236}">
                <a16:creationId xmlns:a16="http://schemas.microsoft.com/office/drawing/2014/main" id="{0F8EFC74-4358-EB59-16A6-D864C62AC931}"/>
              </a:ext>
            </a:extLst>
          </p:cNvPr>
          <p:cNvSpPr/>
          <p:nvPr/>
        </p:nvSpPr>
        <p:spPr>
          <a:xfrm>
            <a:off x="3442212" y="5214528"/>
            <a:ext cx="4320230" cy="558528"/>
          </a:xfrm>
          <a:prstGeom prst="rect">
            <a:avLst/>
          </a:prstGeom>
          <a:solidFill>
            <a:schemeClr val="bg1"/>
          </a:solidFill>
          <a:ln w="9525">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900" dirty="0">
              <a:solidFill>
                <a:schemeClr val="tx1">
                  <a:lumMod val="65000"/>
                  <a:lumOff val="35000"/>
                </a:schemeClr>
              </a:solidFill>
              <a:latin typeface="メイリオ" panose="020B0604030504040204" pitchFamily="50" charset="-128"/>
              <a:ea typeface="メイリオ" panose="020B0604030504040204" pitchFamily="50" charset="-128"/>
            </a:endParaRPr>
          </a:p>
        </p:txBody>
      </p:sp>
      <p:sp>
        <p:nvSpPr>
          <p:cNvPr id="80" name="正方形/長方形 79">
            <a:extLst>
              <a:ext uri="{FF2B5EF4-FFF2-40B4-BE49-F238E27FC236}">
                <a16:creationId xmlns:a16="http://schemas.microsoft.com/office/drawing/2014/main" id="{36006927-A8A5-7A4B-A04C-F5D0808A5304}"/>
              </a:ext>
            </a:extLst>
          </p:cNvPr>
          <p:cNvSpPr/>
          <p:nvPr/>
        </p:nvSpPr>
        <p:spPr>
          <a:xfrm>
            <a:off x="3442212" y="5822247"/>
            <a:ext cx="4320230" cy="558528"/>
          </a:xfrm>
          <a:prstGeom prst="rect">
            <a:avLst/>
          </a:prstGeom>
          <a:solidFill>
            <a:schemeClr val="bg1"/>
          </a:solidFill>
          <a:ln w="9525">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900" dirty="0">
              <a:solidFill>
                <a:schemeClr val="tx1">
                  <a:lumMod val="65000"/>
                  <a:lumOff val="35000"/>
                </a:schemeClr>
              </a:solidFill>
              <a:latin typeface="メイリオ" panose="020B0604030504040204" pitchFamily="50" charset="-128"/>
              <a:ea typeface="メイリオ" panose="020B0604030504040204" pitchFamily="50" charset="-128"/>
            </a:endParaRPr>
          </a:p>
        </p:txBody>
      </p:sp>
      <p:sp>
        <p:nvSpPr>
          <p:cNvPr id="86" name="Shape 17">
            <a:extLst>
              <a:ext uri="{FF2B5EF4-FFF2-40B4-BE49-F238E27FC236}">
                <a16:creationId xmlns:a16="http://schemas.microsoft.com/office/drawing/2014/main" id="{B77E1FF1-F589-36AA-D779-FABB807F9501}"/>
              </a:ext>
            </a:extLst>
          </p:cNvPr>
          <p:cNvSpPr/>
          <p:nvPr/>
        </p:nvSpPr>
        <p:spPr>
          <a:xfrm>
            <a:off x="3636262" y="2079998"/>
            <a:ext cx="1763487" cy="466492"/>
          </a:xfrm>
          <a:prstGeom prst="rect">
            <a:avLst/>
          </a:prstGeom>
          <a:solidFill>
            <a:srgbClr val="F2F2F2"/>
          </a:solidFill>
          <a:ln w="12700">
            <a:solidFill>
              <a:srgbClr val="CCCCCC"/>
            </a:solidFill>
            <a:prstDash val="solid"/>
          </a:ln>
        </p:spPr>
        <p:txBody>
          <a:bodyPr/>
          <a:lstStyle/>
          <a:p>
            <a:pPr>
              <a:lnSpc>
                <a:spcPct val="135000"/>
              </a:lnSpc>
            </a:pPr>
            <a:r>
              <a:rPr lang="en-US" altLang="ja-JP" sz="800" dirty="0" err="1">
                <a:solidFill>
                  <a:schemeClr val="bg1">
                    <a:lumMod val="65000"/>
                  </a:schemeClr>
                </a:solidFill>
                <a:latin typeface="メイリオ" panose="020B0604030504040204" pitchFamily="50" charset="-128"/>
                <a:ea typeface="メイリオ" panose="020B0604030504040204" pitchFamily="50" charset="-128"/>
                <a:cs typeface="Calibri" pitchFamily="34" charset="-120"/>
              </a:rPr>
              <a:t>あいさつMSG</a:t>
            </a:r>
            <a:r>
              <a:rPr lang="en-US" altLang="ja-JP" sz="800" dirty="0">
                <a:solidFill>
                  <a:schemeClr val="bg1">
                    <a:lumMod val="65000"/>
                  </a:schemeClr>
                </a:solidFill>
                <a:latin typeface="メイリオ" panose="020B0604030504040204" pitchFamily="50" charset="-128"/>
                <a:ea typeface="メイリオ" panose="020B0604030504040204" pitchFamily="50" charset="-128"/>
                <a:cs typeface="Calibri" pitchFamily="34" charset="-120"/>
              </a:rPr>
              <a:t>＋</a:t>
            </a:r>
            <a:endParaRPr lang="en-US" altLang="ja-JP" sz="800" dirty="0">
              <a:solidFill>
                <a:schemeClr val="bg1">
                  <a:lumMod val="65000"/>
                </a:schemeClr>
              </a:solidFill>
              <a:latin typeface="メイリオ" panose="020B0604030504040204" pitchFamily="50" charset="-128"/>
              <a:ea typeface="メイリオ" panose="020B0604030504040204" pitchFamily="50" charset="-128"/>
            </a:endParaRPr>
          </a:p>
          <a:p>
            <a:pPr>
              <a:lnSpc>
                <a:spcPct val="135000"/>
              </a:lnSpc>
            </a:pPr>
            <a:r>
              <a:rPr lang="en-US" altLang="ja-JP" sz="800" dirty="0" err="1">
                <a:solidFill>
                  <a:schemeClr val="bg1">
                    <a:lumMod val="65000"/>
                  </a:schemeClr>
                </a:solidFill>
                <a:latin typeface="メイリオ" panose="020B0604030504040204" pitchFamily="50" charset="-128"/>
                <a:ea typeface="メイリオ" panose="020B0604030504040204" pitchFamily="50" charset="-128"/>
                <a:cs typeface="Calibri" pitchFamily="34" charset="-120"/>
              </a:rPr>
              <a:t>登録特典</a:t>
            </a:r>
            <a:r>
              <a:rPr lang="en-US" altLang="ja-JP" sz="800" dirty="0">
                <a:solidFill>
                  <a:schemeClr val="bg1">
                    <a:lumMod val="65000"/>
                  </a:schemeClr>
                </a:solidFill>
                <a:latin typeface="メイリオ" panose="020B0604030504040204" pitchFamily="50" charset="-128"/>
                <a:ea typeface="メイリオ" panose="020B0604030504040204" pitchFamily="50" charset="-128"/>
                <a:cs typeface="Calibri" pitchFamily="34" charset="-120"/>
              </a:rPr>
              <a:t>(</a:t>
            </a:r>
            <a:r>
              <a:rPr lang="en-US" altLang="ja-JP" sz="800" dirty="0" err="1">
                <a:solidFill>
                  <a:schemeClr val="bg1">
                    <a:lumMod val="65000"/>
                  </a:schemeClr>
                </a:solidFill>
                <a:latin typeface="メイリオ" panose="020B0604030504040204" pitchFamily="50" charset="-128"/>
                <a:ea typeface="メイリオ" panose="020B0604030504040204" pitchFamily="50" charset="-128"/>
                <a:cs typeface="Calibri" pitchFamily="34" charset="-120"/>
              </a:rPr>
              <a:t>資料</a:t>
            </a:r>
            <a:r>
              <a:rPr lang="en-US" altLang="ja-JP" sz="800" dirty="0">
                <a:solidFill>
                  <a:schemeClr val="bg1">
                    <a:lumMod val="65000"/>
                  </a:schemeClr>
                </a:solidFill>
                <a:latin typeface="メイリオ" panose="020B0604030504040204" pitchFamily="50" charset="-128"/>
                <a:ea typeface="メイリオ" panose="020B0604030504040204" pitchFamily="50" charset="-128"/>
                <a:cs typeface="Calibri" pitchFamily="34" charset="-120"/>
              </a:rPr>
              <a:t>/</a:t>
            </a:r>
            <a:r>
              <a:rPr lang="en-US" altLang="ja-JP" sz="800" dirty="0" err="1">
                <a:solidFill>
                  <a:schemeClr val="bg1">
                    <a:lumMod val="65000"/>
                  </a:schemeClr>
                </a:solidFill>
                <a:latin typeface="メイリオ" panose="020B0604030504040204" pitchFamily="50" charset="-128"/>
                <a:ea typeface="メイリオ" panose="020B0604030504040204" pitchFamily="50" charset="-128"/>
                <a:cs typeface="Calibri" pitchFamily="34" charset="-120"/>
              </a:rPr>
              <a:t>診断</a:t>
            </a:r>
            <a:r>
              <a:rPr lang="en-US" altLang="ja-JP" sz="800" dirty="0">
                <a:solidFill>
                  <a:schemeClr val="bg1">
                    <a:lumMod val="65000"/>
                  </a:schemeClr>
                </a:solidFill>
                <a:latin typeface="メイリオ" panose="020B0604030504040204" pitchFamily="50" charset="-128"/>
                <a:ea typeface="メイリオ" panose="020B0604030504040204" pitchFamily="50" charset="-128"/>
                <a:cs typeface="Calibri" pitchFamily="34" charset="-120"/>
              </a:rPr>
              <a:t>)</a:t>
            </a:r>
            <a:r>
              <a:rPr lang="en-US" altLang="ja-JP" sz="800" dirty="0" err="1">
                <a:solidFill>
                  <a:schemeClr val="bg1">
                    <a:lumMod val="65000"/>
                  </a:schemeClr>
                </a:solidFill>
                <a:latin typeface="メイリオ" panose="020B0604030504040204" pitchFamily="50" charset="-128"/>
                <a:ea typeface="メイリオ" panose="020B0604030504040204" pitchFamily="50" charset="-128"/>
                <a:cs typeface="Calibri" pitchFamily="34" charset="-120"/>
              </a:rPr>
              <a:t>自動送付</a:t>
            </a:r>
            <a:endParaRPr lang="en-US" altLang="ja-JP" sz="800" dirty="0">
              <a:solidFill>
                <a:schemeClr val="bg1">
                  <a:lumMod val="65000"/>
                </a:schemeClr>
              </a:solidFill>
              <a:latin typeface="メイリオ" panose="020B0604030504040204" pitchFamily="50" charset="-128"/>
              <a:ea typeface="メイリオ" panose="020B0604030504040204" pitchFamily="50" charset="-128"/>
            </a:endParaRPr>
          </a:p>
        </p:txBody>
      </p:sp>
      <p:sp>
        <p:nvSpPr>
          <p:cNvPr id="88" name="Shape 18">
            <a:extLst>
              <a:ext uri="{FF2B5EF4-FFF2-40B4-BE49-F238E27FC236}">
                <a16:creationId xmlns:a16="http://schemas.microsoft.com/office/drawing/2014/main" id="{CA0F439F-8568-5F59-980B-81BDBE16E656}"/>
              </a:ext>
            </a:extLst>
          </p:cNvPr>
          <p:cNvSpPr/>
          <p:nvPr/>
        </p:nvSpPr>
        <p:spPr>
          <a:xfrm>
            <a:off x="5685390" y="2079998"/>
            <a:ext cx="1763486" cy="466492"/>
          </a:xfrm>
          <a:prstGeom prst="rect">
            <a:avLst/>
          </a:prstGeom>
          <a:solidFill>
            <a:srgbClr val="F2F2F2"/>
          </a:solidFill>
          <a:ln w="12700">
            <a:solidFill>
              <a:srgbClr val="CCCCCC"/>
            </a:solidFill>
            <a:prstDash val="solid"/>
          </a:ln>
        </p:spPr>
        <p:txBody>
          <a:bodyPr/>
          <a:lstStyle/>
          <a:p>
            <a:pPr>
              <a:lnSpc>
                <a:spcPct val="135000"/>
              </a:lnSpc>
            </a:pPr>
            <a:r>
              <a:rPr lang="en-US" altLang="ja-JP" sz="800">
                <a:solidFill>
                  <a:schemeClr val="bg1">
                    <a:lumMod val="65000"/>
                  </a:schemeClr>
                </a:solidFill>
                <a:latin typeface="メイリオ" panose="020B0604030504040204" pitchFamily="50" charset="-128"/>
                <a:ea typeface="メイリオ" panose="020B0604030504040204" pitchFamily="50" charset="-128"/>
                <a:cs typeface="Calibri" pitchFamily="34" charset="-120"/>
              </a:rPr>
              <a:t>教育コンテンツ配信</a:t>
            </a:r>
            <a:endParaRPr lang="en-US" altLang="ja-JP" sz="800">
              <a:solidFill>
                <a:schemeClr val="bg1">
                  <a:lumMod val="65000"/>
                </a:schemeClr>
              </a:solidFill>
              <a:latin typeface="メイリオ" panose="020B0604030504040204" pitchFamily="50" charset="-128"/>
              <a:ea typeface="メイリオ" panose="020B0604030504040204" pitchFamily="50" charset="-128"/>
            </a:endParaRPr>
          </a:p>
          <a:p>
            <a:pPr>
              <a:lnSpc>
                <a:spcPct val="135000"/>
              </a:lnSpc>
            </a:pPr>
            <a:r>
              <a:rPr lang="en-US" altLang="ja-JP" sz="800">
                <a:solidFill>
                  <a:schemeClr val="bg1">
                    <a:lumMod val="65000"/>
                  </a:schemeClr>
                </a:solidFill>
                <a:latin typeface="メイリオ" panose="020B0604030504040204" pitchFamily="50" charset="-128"/>
                <a:ea typeface="メイリオ" panose="020B0604030504040204" pitchFamily="50" charset="-128"/>
                <a:cs typeface="Calibri" pitchFamily="34" charset="-120"/>
              </a:rPr>
              <a:t>（週1）→ CV誘導オファー</a:t>
            </a:r>
            <a:endParaRPr lang="en-US" altLang="ja-JP" sz="800" dirty="0">
              <a:solidFill>
                <a:schemeClr val="bg1">
                  <a:lumMod val="65000"/>
                </a:schemeClr>
              </a:solidFill>
              <a:latin typeface="メイリオ" panose="020B0604030504040204" pitchFamily="50" charset="-128"/>
              <a:ea typeface="メイリオ" panose="020B0604030504040204" pitchFamily="50" charset="-128"/>
            </a:endParaRPr>
          </a:p>
        </p:txBody>
      </p:sp>
      <p:sp>
        <p:nvSpPr>
          <p:cNvPr id="90" name="Text 22">
            <a:extLst>
              <a:ext uri="{FF2B5EF4-FFF2-40B4-BE49-F238E27FC236}">
                <a16:creationId xmlns:a16="http://schemas.microsoft.com/office/drawing/2014/main" id="{A38D1B69-A9BE-A8D7-FA06-008BBED1A542}"/>
              </a:ext>
            </a:extLst>
          </p:cNvPr>
          <p:cNvSpPr/>
          <p:nvPr/>
        </p:nvSpPr>
        <p:spPr>
          <a:xfrm>
            <a:off x="-1097280" y="1156254"/>
            <a:ext cx="2359152" cy="585216"/>
          </a:xfrm>
          <a:prstGeom prst="rect">
            <a:avLst/>
          </a:prstGeom>
          <a:noFill/>
          <a:ln/>
        </p:spPr>
        <p:txBody>
          <a:bodyPr wrap="square" lIns="0" tIns="0" rIns="0" bIns="0" rtlCol="0" anchor="ctr"/>
          <a:lstStyle/>
          <a:p>
            <a:pPr marL="0" indent="0">
              <a:lnSpc>
                <a:spcPct val="135000"/>
              </a:lnSpc>
              <a:buNone/>
            </a:pPr>
            <a:endParaRPr lang="en-US" sz="900" dirty="0"/>
          </a:p>
        </p:txBody>
      </p:sp>
      <p:sp>
        <p:nvSpPr>
          <p:cNvPr id="92" name="Text 24">
            <a:extLst>
              <a:ext uri="{FF2B5EF4-FFF2-40B4-BE49-F238E27FC236}">
                <a16:creationId xmlns:a16="http://schemas.microsoft.com/office/drawing/2014/main" id="{56CF8B32-B6D6-0DD2-541C-145309CBBBE1}"/>
              </a:ext>
            </a:extLst>
          </p:cNvPr>
          <p:cNvSpPr/>
          <p:nvPr/>
        </p:nvSpPr>
        <p:spPr>
          <a:xfrm>
            <a:off x="1591056" y="1156254"/>
            <a:ext cx="2944368" cy="585216"/>
          </a:xfrm>
          <a:prstGeom prst="rect">
            <a:avLst/>
          </a:prstGeom>
          <a:noFill/>
          <a:ln/>
        </p:spPr>
        <p:txBody>
          <a:bodyPr wrap="square" lIns="0" tIns="0" rIns="0" bIns="0" rtlCol="0" anchor="ctr"/>
          <a:lstStyle/>
          <a:p>
            <a:pPr marL="0" indent="0">
              <a:lnSpc>
                <a:spcPct val="135000"/>
              </a:lnSpc>
              <a:buNone/>
            </a:pPr>
            <a:endParaRPr lang="en-US" sz="900" dirty="0"/>
          </a:p>
        </p:txBody>
      </p:sp>
      <p:cxnSp>
        <p:nvCxnSpPr>
          <p:cNvPr id="94" name="直線矢印コネクタ 93">
            <a:extLst>
              <a:ext uri="{FF2B5EF4-FFF2-40B4-BE49-F238E27FC236}">
                <a16:creationId xmlns:a16="http://schemas.microsoft.com/office/drawing/2014/main" id="{F1667E92-F492-3E12-307D-7E98E48B45D9}"/>
              </a:ext>
            </a:extLst>
          </p:cNvPr>
          <p:cNvCxnSpPr>
            <a:endCxn id="88" idx="1"/>
          </p:cNvCxnSpPr>
          <p:nvPr/>
        </p:nvCxnSpPr>
        <p:spPr>
          <a:xfrm>
            <a:off x="5416731" y="2304248"/>
            <a:ext cx="261258" cy="0"/>
          </a:xfrm>
          <a:prstGeom prst="straightConnector1">
            <a:avLst/>
          </a:prstGeom>
          <a:ln>
            <a:solidFill>
              <a:schemeClr val="tx1"/>
            </a:solidFill>
            <a:prstDash val="sysDot"/>
            <a:tailEnd type="triangle"/>
          </a:ln>
        </p:spPr>
        <p:style>
          <a:lnRef idx="1">
            <a:schemeClr val="accent1"/>
          </a:lnRef>
          <a:fillRef idx="0">
            <a:schemeClr val="accent1"/>
          </a:fillRef>
          <a:effectRef idx="0">
            <a:schemeClr val="accent1"/>
          </a:effectRef>
          <a:fontRef idx="minor">
            <a:schemeClr val="tx1"/>
          </a:fontRef>
        </p:style>
      </p:cxnSp>
      <p:sp>
        <p:nvSpPr>
          <p:cNvPr id="96" name="Shape 17">
            <a:extLst>
              <a:ext uri="{FF2B5EF4-FFF2-40B4-BE49-F238E27FC236}">
                <a16:creationId xmlns:a16="http://schemas.microsoft.com/office/drawing/2014/main" id="{9BCE046A-F0B6-BBFD-BFCA-03015B84F033}"/>
              </a:ext>
            </a:extLst>
          </p:cNvPr>
          <p:cNvSpPr/>
          <p:nvPr/>
        </p:nvSpPr>
        <p:spPr>
          <a:xfrm>
            <a:off x="3636262" y="2614185"/>
            <a:ext cx="1763487" cy="466492"/>
          </a:xfrm>
          <a:prstGeom prst="rect">
            <a:avLst/>
          </a:prstGeom>
          <a:solidFill>
            <a:srgbClr val="F2F2F2"/>
          </a:solidFill>
          <a:ln w="12700">
            <a:solidFill>
              <a:srgbClr val="CCCCCC"/>
            </a:solidFill>
            <a:prstDash val="solid"/>
          </a:ln>
        </p:spPr>
        <p:txBody>
          <a:bodyPr/>
          <a:lstStyle/>
          <a:p>
            <a:pPr>
              <a:lnSpc>
                <a:spcPct val="135000"/>
              </a:lnSpc>
            </a:pPr>
            <a:r>
              <a:rPr lang="en-US" altLang="ja-JP" sz="800" dirty="0">
                <a:solidFill>
                  <a:schemeClr val="bg1">
                    <a:lumMod val="65000"/>
                  </a:schemeClr>
                </a:solidFill>
                <a:latin typeface="メイリオ" panose="020B0604030504040204" pitchFamily="50" charset="-128"/>
                <a:ea typeface="メイリオ" panose="020B0604030504040204" pitchFamily="50" charset="-128"/>
                <a:cs typeface="Calibri" pitchFamily="34" charset="-120"/>
              </a:rPr>
              <a:t>KW</a:t>
            </a:r>
            <a:r>
              <a:rPr lang="ja-JP" altLang="en-US" sz="800" dirty="0">
                <a:solidFill>
                  <a:schemeClr val="bg1">
                    <a:lumMod val="65000"/>
                  </a:schemeClr>
                </a:solidFill>
                <a:latin typeface="メイリオ" panose="020B0604030504040204" pitchFamily="50" charset="-128"/>
                <a:ea typeface="メイリオ" panose="020B0604030504040204" pitchFamily="50" charset="-128"/>
                <a:cs typeface="Calibri" pitchFamily="34" charset="-120"/>
              </a:rPr>
              <a:t>自動応答設定</a:t>
            </a:r>
          </a:p>
          <a:p>
            <a:pPr>
              <a:lnSpc>
                <a:spcPct val="135000"/>
              </a:lnSpc>
            </a:pPr>
            <a:r>
              <a:rPr lang="ja-JP" altLang="en-US" sz="800" dirty="0">
                <a:solidFill>
                  <a:schemeClr val="bg1">
                    <a:lumMod val="65000"/>
                  </a:schemeClr>
                </a:solidFill>
                <a:latin typeface="メイリオ" panose="020B0604030504040204" pitchFamily="50" charset="-128"/>
                <a:ea typeface="メイリオ" panose="020B0604030504040204" pitchFamily="50" charset="-128"/>
                <a:cs typeface="Calibri" pitchFamily="34" charset="-120"/>
              </a:rPr>
              <a:t>→ ユーザー意図別に即返信</a:t>
            </a:r>
          </a:p>
        </p:txBody>
      </p:sp>
      <p:sp>
        <p:nvSpPr>
          <p:cNvPr id="98" name="Shape 18">
            <a:extLst>
              <a:ext uri="{FF2B5EF4-FFF2-40B4-BE49-F238E27FC236}">
                <a16:creationId xmlns:a16="http://schemas.microsoft.com/office/drawing/2014/main" id="{14F2BF34-2AB8-9060-75EF-F5ADF9F01344}"/>
              </a:ext>
            </a:extLst>
          </p:cNvPr>
          <p:cNvSpPr/>
          <p:nvPr/>
        </p:nvSpPr>
        <p:spPr>
          <a:xfrm>
            <a:off x="5685390" y="2614185"/>
            <a:ext cx="1763486" cy="466492"/>
          </a:xfrm>
          <a:prstGeom prst="rect">
            <a:avLst/>
          </a:prstGeom>
          <a:solidFill>
            <a:srgbClr val="F2F2F2"/>
          </a:solidFill>
          <a:ln w="12700">
            <a:solidFill>
              <a:srgbClr val="CCCCCC"/>
            </a:solidFill>
            <a:prstDash val="solid"/>
          </a:ln>
        </p:spPr>
        <p:txBody>
          <a:bodyPr/>
          <a:lstStyle/>
          <a:p>
            <a:pPr>
              <a:lnSpc>
                <a:spcPct val="135000"/>
              </a:lnSpc>
            </a:pPr>
            <a:r>
              <a:rPr lang="ja-JP" altLang="en-US" sz="800" dirty="0">
                <a:solidFill>
                  <a:schemeClr val="bg1">
                    <a:lumMod val="65000"/>
                  </a:schemeClr>
                </a:solidFill>
                <a:latin typeface="メイリオ" panose="020B0604030504040204" pitchFamily="50" charset="-128"/>
                <a:ea typeface="メイリオ" panose="020B0604030504040204" pitchFamily="50" charset="-128"/>
                <a:cs typeface="Calibri" pitchFamily="34" charset="-120"/>
              </a:rPr>
              <a:t>ステップ配信（</a:t>
            </a:r>
            <a:r>
              <a:rPr lang="en-US" altLang="ja-JP" sz="800" dirty="0">
                <a:solidFill>
                  <a:schemeClr val="bg1">
                    <a:lumMod val="65000"/>
                  </a:schemeClr>
                </a:solidFill>
                <a:latin typeface="メイリオ" panose="020B0604030504040204" pitchFamily="50" charset="-128"/>
                <a:ea typeface="メイリオ" panose="020B0604030504040204" pitchFamily="50" charset="-128"/>
                <a:cs typeface="Calibri" pitchFamily="34" charset="-120"/>
              </a:rPr>
              <a:t>7〜14</a:t>
            </a:r>
            <a:r>
              <a:rPr lang="ja-JP" altLang="en-US" sz="800" dirty="0">
                <a:solidFill>
                  <a:schemeClr val="bg1">
                    <a:lumMod val="65000"/>
                  </a:schemeClr>
                </a:solidFill>
                <a:latin typeface="メイリオ" panose="020B0604030504040204" pitchFamily="50" charset="-128"/>
                <a:ea typeface="メイリオ" panose="020B0604030504040204" pitchFamily="50" charset="-128"/>
                <a:cs typeface="Calibri" pitchFamily="34" charset="-120"/>
              </a:rPr>
              <a:t>通）</a:t>
            </a:r>
          </a:p>
          <a:p>
            <a:pPr>
              <a:lnSpc>
                <a:spcPct val="135000"/>
              </a:lnSpc>
            </a:pPr>
            <a:r>
              <a:rPr lang="ja-JP" altLang="en-US" sz="800" dirty="0">
                <a:solidFill>
                  <a:schemeClr val="bg1">
                    <a:lumMod val="65000"/>
                  </a:schemeClr>
                </a:solidFill>
                <a:latin typeface="メイリオ" panose="020B0604030504040204" pitchFamily="50" charset="-128"/>
                <a:ea typeface="メイリオ" panose="020B0604030504040204" pitchFamily="50" charset="-128"/>
                <a:cs typeface="Calibri" pitchFamily="34" charset="-120"/>
              </a:rPr>
              <a:t>→ 商談・申込への誘導</a:t>
            </a:r>
          </a:p>
        </p:txBody>
      </p:sp>
      <p:cxnSp>
        <p:nvCxnSpPr>
          <p:cNvPr id="99" name="直線矢印コネクタ 98">
            <a:extLst>
              <a:ext uri="{FF2B5EF4-FFF2-40B4-BE49-F238E27FC236}">
                <a16:creationId xmlns:a16="http://schemas.microsoft.com/office/drawing/2014/main" id="{B31F7370-9528-F602-262C-2CE6C0CA7D95}"/>
              </a:ext>
            </a:extLst>
          </p:cNvPr>
          <p:cNvCxnSpPr>
            <a:cxnSpLocks/>
            <a:stCxn id="96" idx="3"/>
            <a:endCxn id="98" idx="1"/>
          </p:cNvCxnSpPr>
          <p:nvPr/>
        </p:nvCxnSpPr>
        <p:spPr>
          <a:xfrm>
            <a:off x="5399749" y="2847431"/>
            <a:ext cx="285641" cy="0"/>
          </a:xfrm>
          <a:prstGeom prst="straightConnector1">
            <a:avLst/>
          </a:prstGeom>
          <a:ln>
            <a:solidFill>
              <a:schemeClr val="tx1"/>
            </a:solidFill>
            <a:prstDash val="sysDot"/>
            <a:tailEnd type="triangle"/>
          </a:ln>
        </p:spPr>
        <p:style>
          <a:lnRef idx="1">
            <a:schemeClr val="accent1"/>
          </a:lnRef>
          <a:fillRef idx="0">
            <a:schemeClr val="accent1"/>
          </a:fillRef>
          <a:effectRef idx="0">
            <a:schemeClr val="accent1"/>
          </a:effectRef>
          <a:fontRef idx="minor">
            <a:schemeClr val="tx1"/>
          </a:fontRef>
        </p:style>
      </p:cxnSp>
      <p:sp>
        <p:nvSpPr>
          <p:cNvPr id="103" name="テキスト ボックス 102">
            <a:extLst>
              <a:ext uri="{FF2B5EF4-FFF2-40B4-BE49-F238E27FC236}">
                <a16:creationId xmlns:a16="http://schemas.microsoft.com/office/drawing/2014/main" id="{CB5BD751-9EE2-F77E-B237-6EBEA67F4576}"/>
              </a:ext>
            </a:extLst>
          </p:cNvPr>
          <p:cNvSpPr txBox="1"/>
          <p:nvPr/>
        </p:nvSpPr>
        <p:spPr>
          <a:xfrm>
            <a:off x="7693132" y="1562739"/>
            <a:ext cx="1874173" cy="430887"/>
          </a:xfrm>
          <a:prstGeom prst="rect">
            <a:avLst/>
          </a:prstGeom>
          <a:noFill/>
        </p:spPr>
        <p:txBody>
          <a:bodyPr wrap="square">
            <a:spAutoFit/>
          </a:bodyPr>
          <a:lstStyle/>
          <a:p>
            <a:pPr algn="ctr"/>
            <a:r>
              <a:rPr kumimoji="1" lang="en-US" altLang="ja-JP" sz="1100" b="1" dirty="0">
                <a:solidFill>
                  <a:srgbClr val="FF0000"/>
                </a:solidFill>
                <a:latin typeface="メイリオ" panose="020B0604030504040204" pitchFamily="50" charset="-128"/>
                <a:ea typeface="メイリオ" panose="020B0604030504040204" pitchFamily="50" charset="-128"/>
              </a:rPr>
              <a:t>CV</a:t>
            </a:r>
            <a:r>
              <a:rPr kumimoji="1" lang="ja-JP" altLang="en-US" sz="1100" b="1" dirty="0">
                <a:solidFill>
                  <a:srgbClr val="FF0000"/>
                </a:solidFill>
                <a:latin typeface="メイリオ" panose="020B0604030504040204" pitchFamily="50" charset="-128"/>
                <a:ea typeface="メイリオ" panose="020B0604030504040204" pitchFamily="50" charset="-128"/>
              </a:rPr>
              <a:t>するユーザー割合</a:t>
            </a:r>
            <a:endParaRPr kumimoji="1" lang="en-US" altLang="ja-JP" sz="1100" b="1" dirty="0">
              <a:solidFill>
                <a:srgbClr val="FF0000"/>
              </a:solidFill>
              <a:latin typeface="メイリオ" panose="020B0604030504040204" pitchFamily="50" charset="-128"/>
              <a:ea typeface="メイリオ" panose="020B0604030504040204" pitchFamily="50" charset="-128"/>
            </a:endParaRPr>
          </a:p>
          <a:p>
            <a:pPr algn="ctr"/>
            <a:r>
              <a:rPr lang="en-US" altLang="ja-JP" sz="1000" dirty="0">
                <a:solidFill>
                  <a:srgbClr val="FF0000"/>
                </a:solidFill>
                <a:latin typeface="メイリオ" panose="020B0604030504040204" pitchFamily="50" charset="-128"/>
                <a:ea typeface="メイリオ" panose="020B0604030504040204" pitchFamily="50" charset="-128"/>
              </a:rPr>
              <a:t>※</a:t>
            </a:r>
            <a:r>
              <a:rPr lang="ja-JP" altLang="en-US" sz="1000" dirty="0">
                <a:solidFill>
                  <a:srgbClr val="FF0000"/>
                </a:solidFill>
                <a:latin typeface="メイリオ" panose="020B0604030504040204" pitchFamily="50" charset="-128"/>
                <a:ea typeface="メイリオ" panose="020B0604030504040204" pitchFamily="50" charset="-128"/>
              </a:rPr>
              <a:t>平均値</a:t>
            </a:r>
            <a:endParaRPr kumimoji="1" lang="ja-JP" altLang="en-US" sz="1000" dirty="0">
              <a:solidFill>
                <a:srgbClr val="FF0000"/>
              </a:solidFill>
              <a:latin typeface="メイリオ" panose="020B0604030504040204" pitchFamily="50" charset="-128"/>
              <a:ea typeface="メイリオ" panose="020B0604030504040204" pitchFamily="50" charset="-128"/>
            </a:endParaRPr>
          </a:p>
        </p:txBody>
      </p:sp>
      <p:sp>
        <p:nvSpPr>
          <p:cNvPr id="105" name="テキスト ボックス 104">
            <a:extLst>
              <a:ext uri="{FF2B5EF4-FFF2-40B4-BE49-F238E27FC236}">
                <a16:creationId xmlns:a16="http://schemas.microsoft.com/office/drawing/2014/main" id="{55562E1F-54CF-8256-1530-F264D924D0C4}"/>
              </a:ext>
            </a:extLst>
          </p:cNvPr>
          <p:cNvSpPr txBox="1"/>
          <p:nvPr/>
        </p:nvSpPr>
        <p:spPr>
          <a:xfrm>
            <a:off x="7844989" y="2313983"/>
            <a:ext cx="1361106" cy="523220"/>
          </a:xfrm>
          <a:prstGeom prst="rect">
            <a:avLst/>
          </a:prstGeom>
          <a:noFill/>
        </p:spPr>
        <p:txBody>
          <a:bodyPr wrap="square">
            <a:spAutoFit/>
          </a:bodyPr>
          <a:lstStyle/>
          <a:p>
            <a:pPr algn="r"/>
            <a:r>
              <a:rPr kumimoji="1" lang="ja-JP" altLang="en-US" sz="2800" b="1" dirty="0">
                <a:solidFill>
                  <a:srgbClr val="FF0000"/>
                </a:solidFill>
                <a:latin typeface="メイリオ" panose="020B0604030504040204" pitchFamily="50" charset="-128"/>
                <a:ea typeface="メイリオ" panose="020B0604030504040204" pitchFamily="50" charset="-128"/>
              </a:rPr>
              <a:t>３</a:t>
            </a:r>
            <a:r>
              <a:rPr kumimoji="1" lang="ja-JP" altLang="en-US" sz="2400" b="1" dirty="0">
                <a:solidFill>
                  <a:srgbClr val="FF0000"/>
                </a:solidFill>
                <a:latin typeface="メイリオ" panose="020B0604030504040204" pitchFamily="50" charset="-128"/>
                <a:ea typeface="メイリオ" panose="020B0604030504040204" pitchFamily="50" charset="-128"/>
              </a:rPr>
              <a:t>％</a:t>
            </a:r>
            <a:endParaRPr lang="ja-JP" altLang="en-US" sz="2400" dirty="0">
              <a:solidFill>
                <a:srgbClr val="FF0000"/>
              </a:solidFill>
            </a:endParaRPr>
          </a:p>
        </p:txBody>
      </p:sp>
      <p:sp>
        <p:nvSpPr>
          <p:cNvPr id="107" name="テキスト ボックス 106">
            <a:extLst>
              <a:ext uri="{FF2B5EF4-FFF2-40B4-BE49-F238E27FC236}">
                <a16:creationId xmlns:a16="http://schemas.microsoft.com/office/drawing/2014/main" id="{0D6F6472-C1C9-8DD7-5969-2F70988996B7}"/>
              </a:ext>
            </a:extLst>
          </p:cNvPr>
          <p:cNvSpPr txBox="1"/>
          <p:nvPr/>
        </p:nvSpPr>
        <p:spPr>
          <a:xfrm>
            <a:off x="7830986" y="3258904"/>
            <a:ext cx="1361106" cy="523220"/>
          </a:xfrm>
          <a:prstGeom prst="rect">
            <a:avLst/>
          </a:prstGeom>
          <a:noFill/>
        </p:spPr>
        <p:txBody>
          <a:bodyPr wrap="square">
            <a:spAutoFit/>
          </a:bodyPr>
          <a:lstStyle/>
          <a:p>
            <a:pPr algn="r"/>
            <a:r>
              <a:rPr kumimoji="1" lang="en-US" altLang="ja-JP" sz="2800" b="1" dirty="0">
                <a:solidFill>
                  <a:srgbClr val="FF0000"/>
                </a:solidFill>
                <a:latin typeface="メイリオ" panose="020B0604030504040204" pitchFamily="50" charset="-128"/>
                <a:ea typeface="メイリオ" panose="020B0604030504040204" pitchFamily="50" charset="-128"/>
              </a:rPr>
              <a:t>1.5</a:t>
            </a:r>
            <a:r>
              <a:rPr kumimoji="1" lang="ja-JP" altLang="en-US" sz="2400" b="1" dirty="0">
                <a:solidFill>
                  <a:srgbClr val="FF0000"/>
                </a:solidFill>
                <a:latin typeface="メイリオ" panose="020B0604030504040204" pitchFamily="50" charset="-128"/>
                <a:ea typeface="メイリオ" panose="020B0604030504040204" pitchFamily="50" charset="-128"/>
              </a:rPr>
              <a:t>％</a:t>
            </a:r>
            <a:endParaRPr lang="ja-JP" altLang="en-US" sz="2400" dirty="0">
              <a:solidFill>
                <a:srgbClr val="FF0000"/>
              </a:solidFill>
            </a:endParaRPr>
          </a:p>
        </p:txBody>
      </p:sp>
      <p:sp>
        <p:nvSpPr>
          <p:cNvPr id="109" name="テキスト ボックス 108">
            <a:extLst>
              <a:ext uri="{FF2B5EF4-FFF2-40B4-BE49-F238E27FC236}">
                <a16:creationId xmlns:a16="http://schemas.microsoft.com/office/drawing/2014/main" id="{3EBEB224-105E-FCC6-752F-0DC0ACDDFEFC}"/>
              </a:ext>
            </a:extLst>
          </p:cNvPr>
          <p:cNvSpPr txBox="1"/>
          <p:nvPr/>
        </p:nvSpPr>
        <p:spPr>
          <a:xfrm>
            <a:off x="7844989" y="3964707"/>
            <a:ext cx="1361106" cy="523220"/>
          </a:xfrm>
          <a:prstGeom prst="rect">
            <a:avLst/>
          </a:prstGeom>
          <a:noFill/>
        </p:spPr>
        <p:txBody>
          <a:bodyPr wrap="square">
            <a:spAutoFit/>
          </a:bodyPr>
          <a:lstStyle/>
          <a:p>
            <a:pPr algn="r"/>
            <a:r>
              <a:rPr kumimoji="1" lang="en-US" altLang="ja-JP" sz="2800" b="1" dirty="0">
                <a:solidFill>
                  <a:srgbClr val="FF0000"/>
                </a:solidFill>
                <a:latin typeface="メイリオ" panose="020B0604030504040204" pitchFamily="50" charset="-128"/>
                <a:ea typeface="メイリオ" panose="020B0604030504040204" pitchFamily="50" charset="-128"/>
              </a:rPr>
              <a:t>2.5</a:t>
            </a:r>
            <a:r>
              <a:rPr kumimoji="1" lang="ja-JP" altLang="en-US" sz="2400" b="1" dirty="0">
                <a:solidFill>
                  <a:srgbClr val="FF0000"/>
                </a:solidFill>
                <a:latin typeface="メイリオ" panose="020B0604030504040204" pitchFamily="50" charset="-128"/>
                <a:ea typeface="メイリオ" panose="020B0604030504040204" pitchFamily="50" charset="-128"/>
              </a:rPr>
              <a:t>％</a:t>
            </a:r>
            <a:endParaRPr lang="ja-JP" altLang="en-US" sz="2400" dirty="0">
              <a:solidFill>
                <a:srgbClr val="FF0000"/>
              </a:solidFill>
            </a:endParaRPr>
          </a:p>
        </p:txBody>
      </p:sp>
      <p:sp>
        <p:nvSpPr>
          <p:cNvPr id="111" name="テキスト ボックス 110">
            <a:extLst>
              <a:ext uri="{FF2B5EF4-FFF2-40B4-BE49-F238E27FC236}">
                <a16:creationId xmlns:a16="http://schemas.microsoft.com/office/drawing/2014/main" id="{F26B0A2E-9DBA-FEE5-637F-02A225C02C23}"/>
              </a:ext>
            </a:extLst>
          </p:cNvPr>
          <p:cNvSpPr txBox="1"/>
          <p:nvPr/>
        </p:nvSpPr>
        <p:spPr>
          <a:xfrm>
            <a:off x="7830985" y="4604843"/>
            <a:ext cx="1361106" cy="523220"/>
          </a:xfrm>
          <a:prstGeom prst="rect">
            <a:avLst/>
          </a:prstGeom>
          <a:noFill/>
        </p:spPr>
        <p:txBody>
          <a:bodyPr wrap="square">
            <a:spAutoFit/>
          </a:bodyPr>
          <a:lstStyle/>
          <a:p>
            <a:pPr algn="r"/>
            <a:r>
              <a:rPr kumimoji="1" lang="en-US" altLang="ja-JP" sz="2800" b="1" dirty="0">
                <a:solidFill>
                  <a:srgbClr val="FF0000"/>
                </a:solidFill>
                <a:latin typeface="メイリオ" panose="020B0604030504040204" pitchFamily="50" charset="-128"/>
                <a:ea typeface="メイリオ" panose="020B0604030504040204" pitchFamily="50" charset="-128"/>
              </a:rPr>
              <a:t>2.5</a:t>
            </a:r>
            <a:r>
              <a:rPr kumimoji="1" lang="ja-JP" altLang="en-US" sz="2400" b="1" dirty="0">
                <a:solidFill>
                  <a:srgbClr val="FF0000"/>
                </a:solidFill>
                <a:latin typeface="メイリオ" panose="020B0604030504040204" pitchFamily="50" charset="-128"/>
                <a:ea typeface="メイリオ" panose="020B0604030504040204" pitchFamily="50" charset="-128"/>
              </a:rPr>
              <a:t>％</a:t>
            </a:r>
            <a:endParaRPr lang="ja-JP" altLang="en-US" sz="2400" dirty="0">
              <a:solidFill>
                <a:srgbClr val="FF0000"/>
              </a:solidFill>
            </a:endParaRPr>
          </a:p>
        </p:txBody>
      </p:sp>
      <p:sp>
        <p:nvSpPr>
          <p:cNvPr id="113" name="テキスト ボックス 112">
            <a:extLst>
              <a:ext uri="{FF2B5EF4-FFF2-40B4-BE49-F238E27FC236}">
                <a16:creationId xmlns:a16="http://schemas.microsoft.com/office/drawing/2014/main" id="{0C0FA132-24D2-97C7-D00F-5A970556EB00}"/>
              </a:ext>
            </a:extLst>
          </p:cNvPr>
          <p:cNvSpPr txBox="1"/>
          <p:nvPr/>
        </p:nvSpPr>
        <p:spPr>
          <a:xfrm>
            <a:off x="7830985" y="5229016"/>
            <a:ext cx="1361106" cy="523220"/>
          </a:xfrm>
          <a:prstGeom prst="rect">
            <a:avLst/>
          </a:prstGeom>
          <a:noFill/>
        </p:spPr>
        <p:txBody>
          <a:bodyPr wrap="square">
            <a:spAutoFit/>
          </a:bodyPr>
          <a:lstStyle/>
          <a:p>
            <a:pPr algn="r"/>
            <a:r>
              <a:rPr kumimoji="1" lang="en-US" altLang="ja-JP" sz="2800" b="1" dirty="0">
                <a:solidFill>
                  <a:srgbClr val="FF0000"/>
                </a:solidFill>
                <a:latin typeface="メイリオ" panose="020B0604030504040204" pitchFamily="50" charset="-128"/>
                <a:ea typeface="メイリオ" panose="020B0604030504040204" pitchFamily="50" charset="-128"/>
              </a:rPr>
              <a:t>2.5</a:t>
            </a:r>
            <a:r>
              <a:rPr kumimoji="1" lang="ja-JP" altLang="en-US" sz="2400" b="1" dirty="0">
                <a:solidFill>
                  <a:srgbClr val="FF0000"/>
                </a:solidFill>
                <a:latin typeface="メイリオ" panose="020B0604030504040204" pitchFamily="50" charset="-128"/>
                <a:ea typeface="メイリオ" panose="020B0604030504040204" pitchFamily="50" charset="-128"/>
              </a:rPr>
              <a:t>％</a:t>
            </a:r>
            <a:endParaRPr lang="ja-JP" altLang="en-US" sz="2400" dirty="0">
              <a:solidFill>
                <a:srgbClr val="FF0000"/>
              </a:solidFill>
            </a:endParaRPr>
          </a:p>
        </p:txBody>
      </p:sp>
      <p:sp>
        <p:nvSpPr>
          <p:cNvPr id="115" name="テキスト ボックス 114">
            <a:extLst>
              <a:ext uri="{FF2B5EF4-FFF2-40B4-BE49-F238E27FC236}">
                <a16:creationId xmlns:a16="http://schemas.microsoft.com/office/drawing/2014/main" id="{FD400E85-93A8-6ADB-337D-4AC8973CAF45}"/>
              </a:ext>
            </a:extLst>
          </p:cNvPr>
          <p:cNvSpPr txBox="1"/>
          <p:nvPr/>
        </p:nvSpPr>
        <p:spPr>
          <a:xfrm>
            <a:off x="7830985" y="5834851"/>
            <a:ext cx="1361106" cy="523220"/>
          </a:xfrm>
          <a:prstGeom prst="rect">
            <a:avLst/>
          </a:prstGeom>
          <a:noFill/>
        </p:spPr>
        <p:txBody>
          <a:bodyPr wrap="square">
            <a:spAutoFit/>
          </a:bodyPr>
          <a:lstStyle/>
          <a:p>
            <a:pPr algn="r"/>
            <a:r>
              <a:rPr kumimoji="1" lang="en-US" altLang="ja-JP" sz="2800" b="1" dirty="0">
                <a:solidFill>
                  <a:srgbClr val="FF0000"/>
                </a:solidFill>
                <a:latin typeface="メイリオ" panose="020B0604030504040204" pitchFamily="50" charset="-128"/>
                <a:ea typeface="メイリオ" panose="020B0604030504040204" pitchFamily="50" charset="-128"/>
              </a:rPr>
              <a:t>2</a:t>
            </a:r>
            <a:r>
              <a:rPr kumimoji="1" lang="ja-JP" altLang="en-US" sz="2400" b="1" dirty="0">
                <a:solidFill>
                  <a:srgbClr val="FF0000"/>
                </a:solidFill>
                <a:latin typeface="メイリオ" panose="020B0604030504040204" pitchFamily="50" charset="-128"/>
                <a:ea typeface="メイリオ" panose="020B0604030504040204" pitchFamily="50" charset="-128"/>
              </a:rPr>
              <a:t>％</a:t>
            </a:r>
            <a:endParaRPr lang="ja-JP" altLang="en-US" sz="2400" dirty="0">
              <a:solidFill>
                <a:srgbClr val="FF0000"/>
              </a:solidFill>
            </a:endParaRPr>
          </a:p>
        </p:txBody>
      </p:sp>
      <p:sp>
        <p:nvSpPr>
          <p:cNvPr id="116" name="Shape 17">
            <a:extLst>
              <a:ext uri="{FF2B5EF4-FFF2-40B4-BE49-F238E27FC236}">
                <a16:creationId xmlns:a16="http://schemas.microsoft.com/office/drawing/2014/main" id="{1CA555AB-71AF-EB14-1D64-C35A07A084CC}"/>
              </a:ext>
            </a:extLst>
          </p:cNvPr>
          <p:cNvSpPr/>
          <p:nvPr/>
        </p:nvSpPr>
        <p:spPr>
          <a:xfrm>
            <a:off x="3636262" y="3291869"/>
            <a:ext cx="1763487" cy="466492"/>
          </a:xfrm>
          <a:prstGeom prst="rect">
            <a:avLst/>
          </a:prstGeom>
          <a:solidFill>
            <a:srgbClr val="F2F2F2"/>
          </a:solidFill>
          <a:ln w="12700">
            <a:solidFill>
              <a:srgbClr val="CCCCCC"/>
            </a:solidFill>
            <a:prstDash val="solid"/>
          </a:ln>
        </p:spPr>
        <p:txBody>
          <a:bodyPr/>
          <a:lstStyle/>
          <a:p>
            <a:pPr>
              <a:lnSpc>
                <a:spcPct val="135000"/>
              </a:lnSpc>
            </a:pPr>
            <a:r>
              <a:rPr lang="ja-JP" altLang="en-US" sz="800" dirty="0">
                <a:solidFill>
                  <a:schemeClr val="bg1">
                    <a:lumMod val="65000"/>
                  </a:schemeClr>
                </a:solidFill>
                <a:latin typeface="メイリオ" panose="020B0604030504040204" pitchFamily="50" charset="-128"/>
                <a:ea typeface="メイリオ" panose="020B0604030504040204" pitchFamily="50" charset="-128"/>
                <a:cs typeface="Calibri" pitchFamily="34" charset="-120"/>
              </a:rPr>
              <a:t>スクリーニングアンケート</a:t>
            </a:r>
          </a:p>
          <a:p>
            <a:pPr>
              <a:lnSpc>
                <a:spcPct val="135000"/>
              </a:lnSpc>
            </a:pPr>
            <a:r>
              <a:rPr lang="ja-JP" altLang="en-US" sz="800" dirty="0">
                <a:solidFill>
                  <a:schemeClr val="bg1">
                    <a:lumMod val="65000"/>
                  </a:schemeClr>
                </a:solidFill>
                <a:latin typeface="メイリオ" panose="020B0604030504040204" pitchFamily="50" charset="-128"/>
                <a:ea typeface="メイリオ" panose="020B0604030504040204" pitchFamily="50" charset="-128"/>
                <a:cs typeface="Calibri" pitchFamily="34" charset="-120"/>
              </a:rPr>
              <a:t>（</a:t>
            </a:r>
            <a:r>
              <a:rPr lang="en-US" altLang="ja-JP" sz="800" dirty="0">
                <a:solidFill>
                  <a:schemeClr val="bg1">
                    <a:lumMod val="65000"/>
                  </a:schemeClr>
                </a:solidFill>
                <a:latin typeface="メイリオ" panose="020B0604030504040204" pitchFamily="50" charset="-128"/>
                <a:ea typeface="メイリオ" panose="020B0604030504040204" pitchFamily="50" charset="-128"/>
                <a:cs typeface="Calibri" pitchFamily="34" charset="-120"/>
              </a:rPr>
              <a:t>3</a:t>
            </a:r>
            <a:r>
              <a:rPr lang="ja-JP" altLang="en-US" sz="800" dirty="0">
                <a:solidFill>
                  <a:schemeClr val="bg1">
                    <a:lumMod val="65000"/>
                  </a:schemeClr>
                </a:solidFill>
                <a:latin typeface="メイリオ" panose="020B0604030504040204" pitchFamily="50" charset="-128"/>
                <a:ea typeface="メイリオ" panose="020B0604030504040204" pitchFamily="50" charset="-128"/>
                <a:cs typeface="Calibri" pitchFamily="34" charset="-120"/>
              </a:rPr>
              <a:t>問）→ セグメント分類</a:t>
            </a:r>
          </a:p>
        </p:txBody>
      </p:sp>
      <p:sp>
        <p:nvSpPr>
          <p:cNvPr id="117" name="Shape 18">
            <a:extLst>
              <a:ext uri="{FF2B5EF4-FFF2-40B4-BE49-F238E27FC236}">
                <a16:creationId xmlns:a16="http://schemas.microsoft.com/office/drawing/2014/main" id="{019053B5-0AD3-160E-B42A-8528F025A84E}"/>
              </a:ext>
            </a:extLst>
          </p:cNvPr>
          <p:cNvSpPr/>
          <p:nvPr/>
        </p:nvSpPr>
        <p:spPr>
          <a:xfrm>
            <a:off x="5685390" y="3291869"/>
            <a:ext cx="1763486" cy="466492"/>
          </a:xfrm>
          <a:prstGeom prst="rect">
            <a:avLst/>
          </a:prstGeom>
          <a:solidFill>
            <a:srgbClr val="F2F2F2"/>
          </a:solidFill>
          <a:ln w="12700">
            <a:solidFill>
              <a:srgbClr val="CCCCCC"/>
            </a:solidFill>
            <a:prstDash val="solid"/>
          </a:ln>
        </p:spPr>
        <p:txBody>
          <a:bodyPr/>
          <a:lstStyle/>
          <a:p>
            <a:pPr>
              <a:lnSpc>
                <a:spcPct val="135000"/>
              </a:lnSpc>
            </a:pPr>
            <a:r>
              <a:rPr lang="ja-JP" altLang="en-US" sz="800" dirty="0">
                <a:solidFill>
                  <a:schemeClr val="bg1">
                    <a:lumMod val="65000"/>
                  </a:schemeClr>
                </a:solidFill>
                <a:latin typeface="メイリオ" panose="020B0604030504040204" pitchFamily="50" charset="-128"/>
                <a:ea typeface="メイリオ" panose="020B0604030504040204" pitchFamily="50" charset="-128"/>
                <a:cs typeface="Calibri" pitchFamily="34" charset="-120"/>
              </a:rPr>
              <a:t>セグメント別シナリオ配信</a:t>
            </a:r>
          </a:p>
          <a:p>
            <a:pPr>
              <a:lnSpc>
                <a:spcPct val="135000"/>
              </a:lnSpc>
            </a:pPr>
            <a:r>
              <a:rPr lang="ja-JP" altLang="en-US" sz="800" dirty="0">
                <a:solidFill>
                  <a:schemeClr val="bg1">
                    <a:lumMod val="65000"/>
                  </a:schemeClr>
                </a:solidFill>
                <a:latin typeface="メイリオ" panose="020B0604030504040204" pitchFamily="50" charset="-128"/>
                <a:ea typeface="メイリオ" panose="020B0604030504040204" pitchFamily="50" charset="-128"/>
                <a:cs typeface="Calibri" pitchFamily="34" charset="-120"/>
              </a:rPr>
              <a:t>ホットリード</a:t>
            </a:r>
            <a:r>
              <a:rPr lang="en-US" altLang="ja-JP" sz="800" dirty="0">
                <a:solidFill>
                  <a:schemeClr val="bg1">
                    <a:lumMod val="65000"/>
                  </a:schemeClr>
                </a:solidFill>
                <a:latin typeface="メイリオ" panose="020B0604030504040204" pitchFamily="50" charset="-128"/>
                <a:ea typeface="メイリオ" panose="020B0604030504040204" pitchFamily="50" charset="-128"/>
                <a:cs typeface="Calibri" pitchFamily="34" charset="-120"/>
              </a:rPr>
              <a:t>:</a:t>
            </a:r>
            <a:r>
              <a:rPr lang="ja-JP" altLang="en-US" sz="800" dirty="0">
                <a:solidFill>
                  <a:schemeClr val="bg1">
                    <a:lumMod val="65000"/>
                  </a:schemeClr>
                </a:solidFill>
                <a:latin typeface="メイリオ" panose="020B0604030504040204" pitchFamily="50" charset="-128"/>
                <a:ea typeface="メイリオ" panose="020B0604030504040204" pitchFamily="50" charset="-128"/>
                <a:cs typeface="Calibri" pitchFamily="34" charset="-120"/>
              </a:rPr>
              <a:t>即スタッフ対応</a:t>
            </a:r>
          </a:p>
        </p:txBody>
      </p:sp>
      <p:cxnSp>
        <p:nvCxnSpPr>
          <p:cNvPr id="118" name="直線矢印コネクタ 117">
            <a:extLst>
              <a:ext uri="{FF2B5EF4-FFF2-40B4-BE49-F238E27FC236}">
                <a16:creationId xmlns:a16="http://schemas.microsoft.com/office/drawing/2014/main" id="{48AC5144-1E7E-4082-003A-97A6D96D2994}"/>
              </a:ext>
            </a:extLst>
          </p:cNvPr>
          <p:cNvCxnSpPr>
            <a:cxnSpLocks/>
            <a:stCxn id="116" idx="3"/>
            <a:endCxn id="117" idx="1"/>
          </p:cNvCxnSpPr>
          <p:nvPr/>
        </p:nvCxnSpPr>
        <p:spPr>
          <a:xfrm>
            <a:off x="5399749" y="3525115"/>
            <a:ext cx="285641" cy="0"/>
          </a:xfrm>
          <a:prstGeom prst="straightConnector1">
            <a:avLst/>
          </a:prstGeom>
          <a:ln>
            <a:solidFill>
              <a:schemeClr val="tx1"/>
            </a:solidFill>
            <a:prstDash val="sysDot"/>
            <a:tailEnd type="triangle"/>
          </a:ln>
        </p:spPr>
        <p:style>
          <a:lnRef idx="1">
            <a:schemeClr val="accent1"/>
          </a:lnRef>
          <a:fillRef idx="0">
            <a:schemeClr val="accent1"/>
          </a:fillRef>
          <a:effectRef idx="0">
            <a:schemeClr val="accent1"/>
          </a:effectRef>
          <a:fontRef idx="minor">
            <a:schemeClr val="tx1"/>
          </a:fontRef>
        </p:style>
      </p:cxnSp>
      <p:sp>
        <p:nvSpPr>
          <p:cNvPr id="119" name="Shape 17">
            <a:extLst>
              <a:ext uri="{FF2B5EF4-FFF2-40B4-BE49-F238E27FC236}">
                <a16:creationId xmlns:a16="http://schemas.microsoft.com/office/drawing/2014/main" id="{03AA9053-24E8-182C-23AA-4BEA28F1863B}"/>
              </a:ext>
            </a:extLst>
          </p:cNvPr>
          <p:cNvSpPr/>
          <p:nvPr/>
        </p:nvSpPr>
        <p:spPr>
          <a:xfrm>
            <a:off x="3636262" y="4032727"/>
            <a:ext cx="1763487" cy="466492"/>
          </a:xfrm>
          <a:prstGeom prst="rect">
            <a:avLst/>
          </a:prstGeom>
          <a:solidFill>
            <a:srgbClr val="F2F2F2"/>
          </a:solidFill>
          <a:ln w="12700">
            <a:solidFill>
              <a:srgbClr val="CCCCCC"/>
            </a:solidFill>
            <a:prstDash val="solid"/>
          </a:ln>
        </p:spPr>
        <p:txBody>
          <a:bodyPr/>
          <a:lstStyle/>
          <a:p>
            <a:pPr>
              <a:lnSpc>
                <a:spcPct val="135000"/>
              </a:lnSpc>
            </a:pPr>
            <a:r>
              <a:rPr lang="ja-JP" altLang="en-US" sz="800" dirty="0">
                <a:solidFill>
                  <a:schemeClr val="bg1">
                    <a:lumMod val="65000"/>
                  </a:schemeClr>
                </a:solidFill>
                <a:latin typeface="メイリオ" panose="020B0604030504040204" pitchFamily="50" charset="-128"/>
                <a:ea typeface="メイリオ" panose="020B0604030504040204" pitchFamily="50" charset="-128"/>
                <a:cs typeface="Calibri" pitchFamily="34" charset="-120"/>
              </a:rPr>
              <a:t>サンクス自動</a:t>
            </a:r>
            <a:r>
              <a:rPr lang="en-US" altLang="ja-JP" sz="800" dirty="0">
                <a:solidFill>
                  <a:schemeClr val="bg1">
                    <a:lumMod val="65000"/>
                  </a:schemeClr>
                </a:solidFill>
                <a:latin typeface="メイリオ" panose="020B0604030504040204" pitchFamily="50" charset="-128"/>
                <a:ea typeface="メイリオ" panose="020B0604030504040204" pitchFamily="50" charset="-128"/>
                <a:cs typeface="Calibri" pitchFamily="34" charset="-120"/>
              </a:rPr>
              <a:t>MSG</a:t>
            </a:r>
            <a:r>
              <a:rPr lang="ja-JP" altLang="en-US" sz="800" dirty="0">
                <a:solidFill>
                  <a:schemeClr val="bg1">
                    <a:lumMod val="65000"/>
                  </a:schemeClr>
                </a:solidFill>
                <a:latin typeface="メイリオ" panose="020B0604030504040204" pitchFamily="50" charset="-128"/>
                <a:ea typeface="メイリオ" panose="020B0604030504040204" pitchFamily="50" charset="-128"/>
                <a:cs typeface="Calibri" pitchFamily="34" charset="-120"/>
              </a:rPr>
              <a:t>＋</a:t>
            </a:r>
          </a:p>
          <a:p>
            <a:pPr>
              <a:lnSpc>
                <a:spcPct val="135000"/>
              </a:lnSpc>
            </a:pPr>
            <a:r>
              <a:rPr lang="ja-JP" altLang="en-US" sz="800" dirty="0">
                <a:solidFill>
                  <a:schemeClr val="bg1">
                    <a:lumMod val="65000"/>
                  </a:schemeClr>
                </a:solidFill>
                <a:latin typeface="メイリオ" panose="020B0604030504040204" pitchFamily="50" charset="-128"/>
                <a:ea typeface="メイリオ" panose="020B0604030504040204" pitchFamily="50" charset="-128"/>
                <a:cs typeface="Calibri" pitchFamily="34" charset="-120"/>
              </a:rPr>
              <a:t>次のアクション案内</a:t>
            </a:r>
          </a:p>
        </p:txBody>
      </p:sp>
      <p:sp>
        <p:nvSpPr>
          <p:cNvPr id="120" name="Shape 18">
            <a:extLst>
              <a:ext uri="{FF2B5EF4-FFF2-40B4-BE49-F238E27FC236}">
                <a16:creationId xmlns:a16="http://schemas.microsoft.com/office/drawing/2014/main" id="{760C890D-1868-9325-4069-2354337B0399}"/>
              </a:ext>
            </a:extLst>
          </p:cNvPr>
          <p:cNvSpPr/>
          <p:nvPr/>
        </p:nvSpPr>
        <p:spPr>
          <a:xfrm>
            <a:off x="5685390" y="4032727"/>
            <a:ext cx="1763486" cy="466492"/>
          </a:xfrm>
          <a:prstGeom prst="rect">
            <a:avLst/>
          </a:prstGeom>
          <a:solidFill>
            <a:srgbClr val="F2F2F2"/>
          </a:solidFill>
          <a:ln w="12700">
            <a:solidFill>
              <a:srgbClr val="CCCCCC"/>
            </a:solidFill>
            <a:prstDash val="solid"/>
          </a:ln>
        </p:spPr>
        <p:txBody>
          <a:bodyPr/>
          <a:lstStyle/>
          <a:p>
            <a:pPr>
              <a:lnSpc>
                <a:spcPct val="135000"/>
              </a:lnSpc>
            </a:pPr>
            <a:r>
              <a:rPr lang="ja-JP" altLang="en-US" sz="800" dirty="0">
                <a:solidFill>
                  <a:schemeClr val="bg1">
                    <a:lumMod val="65000"/>
                  </a:schemeClr>
                </a:solidFill>
                <a:latin typeface="メイリオ" panose="020B0604030504040204" pitchFamily="50" charset="-128"/>
                <a:ea typeface="メイリオ" panose="020B0604030504040204" pitchFamily="50" charset="-128"/>
                <a:cs typeface="Calibri" pitchFamily="34" charset="-120"/>
              </a:rPr>
              <a:t>リマインド配信</a:t>
            </a:r>
          </a:p>
          <a:p>
            <a:pPr>
              <a:lnSpc>
                <a:spcPct val="135000"/>
              </a:lnSpc>
            </a:pPr>
            <a:r>
              <a:rPr lang="ja-JP" altLang="en-US" sz="800" dirty="0">
                <a:solidFill>
                  <a:schemeClr val="bg1">
                    <a:lumMod val="65000"/>
                  </a:schemeClr>
                </a:solidFill>
                <a:latin typeface="メイリオ" panose="020B0604030504040204" pitchFamily="50" charset="-128"/>
                <a:ea typeface="メイリオ" panose="020B0604030504040204" pitchFamily="50" charset="-128"/>
                <a:cs typeface="Calibri" pitchFamily="34" charset="-120"/>
              </a:rPr>
              <a:t>クロスセル・アップセル</a:t>
            </a:r>
          </a:p>
        </p:txBody>
      </p:sp>
      <p:cxnSp>
        <p:nvCxnSpPr>
          <p:cNvPr id="121" name="直線矢印コネクタ 120">
            <a:extLst>
              <a:ext uri="{FF2B5EF4-FFF2-40B4-BE49-F238E27FC236}">
                <a16:creationId xmlns:a16="http://schemas.microsoft.com/office/drawing/2014/main" id="{CE344BB3-FFA2-50D7-ADEA-7AA9C56BA1E2}"/>
              </a:ext>
            </a:extLst>
          </p:cNvPr>
          <p:cNvCxnSpPr>
            <a:cxnSpLocks/>
            <a:stCxn id="119" idx="3"/>
            <a:endCxn id="120" idx="1"/>
          </p:cNvCxnSpPr>
          <p:nvPr/>
        </p:nvCxnSpPr>
        <p:spPr>
          <a:xfrm>
            <a:off x="5399749" y="4265973"/>
            <a:ext cx="285641" cy="0"/>
          </a:xfrm>
          <a:prstGeom prst="straightConnector1">
            <a:avLst/>
          </a:prstGeom>
          <a:ln>
            <a:solidFill>
              <a:schemeClr val="tx1"/>
            </a:solidFill>
            <a:prstDash val="sysDot"/>
            <a:tailEnd type="triangle"/>
          </a:ln>
        </p:spPr>
        <p:style>
          <a:lnRef idx="1">
            <a:schemeClr val="accent1"/>
          </a:lnRef>
          <a:fillRef idx="0">
            <a:schemeClr val="accent1"/>
          </a:fillRef>
          <a:effectRef idx="0">
            <a:schemeClr val="accent1"/>
          </a:effectRef>
          <a:fontRef idx="minor">
            <a:schemeClr val="tx1"/>
          </a:fontRef>
        </p:style>
      </p:cxnSp>
      <p:sp>
        <p:nvSpPr>
          <p:cNvPr id="122" name="Shape 17">
            <a:extLst>
              <a:ext uri="{FF2B5EF4-FFF2-40B4-BE49-F238E27FC236}">
                <a16:creationId xmlns:a16="http://schemas.microsoft.com/office/drawing/2014/main" id="{9439D4FC-6ABA-77F9-BCBC-39518FFF0A4B}"/>
              </a:ext>
            </a:extLst>
          </p:cNvPr>
          <p:cNvSpPr/>
          <p:nvPr/>
        </p:nvSpPr>
        <p:spPr>
          <a:xfrm>
            <a:off x="3636262" y="4639113"/>
            <a:ext cx="1763487" cy="466492"/>
          </a:xfrm>
          <a:prstGeom prst="rect">
            <a:avLst/>
          </a:prstGeom>
          <a:solidFill>
            <a:srgbClr val="F2F2F2"/>
          </a:solidFill>
          <a:ln w="12700">
            <a:solidFill>
              <a:srgbClr val="CCCCCC"/>
            </a:solidFill>
            <a:prstDash val="solid"/>
          </a:ln>
        </p:spPr>
        <p:txBody>
          <a:bodyPr/>
          <a:lstStyle/>
          <a:p>
            <a:pPr>
              <a:lnSpc>
                <a:spcPct val="135000"/>
              </a:lnSpc>
            </a:pPr>
            <a:r>
              <a:rPr lang="ja-JP" altLang="en-US" sz="800" dirty="0">
                <a:solidFill>
                  <a:schemeClr val="bg1">
                    <a:lumMod val="65000"/>
                  </a:schemeClr>
                </a:solidFill>
                <a:latin typeface="メイリオ" panose="020B0604030504040204" pitchFamily="50" charset="-128"/>
                <a:ea typeface="メイリオ" panose="020B0604030504040204" pitchFamily="50" charset="-128"/>
                <a:cs typeface="Calibri" pitchFamily="34" charset="-120"/>
              </a:rPr>
              <a:t>スクリーニング（</a:t>
            </a:r>
            <a:r>
              <a:rPr lang="en-US" altLang="ja-JP" sz="800" dirty="0">
                <a:solidFill>
                  <a:schemeClr val="bg1">
                    <a:lumMod val="65000"/>
                  </a:schemeClr>
                </a:solidFill>
                <a:latin typeface="メイリオ" panose="020B0604030504040204" pitchFamily="50" charset="-128"/>
                <a:ea typeface="メイリオ" panose="020B0604030504040204" pitchFamily="50" charset="-128"/>
                <a:cs typeface="Calibri" pitchFamily="34" charset="-120"/>
              </a:rPr>
              <a:t>3</a:t>
            </a:r>
            <a:r>
              <a:rPr lang="ja-JP" altLang="en-US" sz="800" dirty="0">
                <a:solidFill>
                  <a:schemeClr val="bg1">
                    <a:lumMod val="65000"/>
                  </a:schemeClr>
                </a:solidFill>
                <a:latin typeface="メイリオ" panose="020B0604030504040204" pitchFamily="50" charset="-128"/>
                <a:ea typeface="メイリオ" panose="020B0604030504040204" pitchFamily="50" charset="-128"/>
                <a:cs typeface="Calibri" pitchFamily="34" charset="-120"/>
              </a:rPr>
              <a:t>問）</a:t>
            </a:r>
          </a:p>
          <a:p>
            <a:pPr>
              <a:lnSpc>
                <a:spcPct val="135000"/>
              </a:lnSpc>
            </a:pPr>
            <a:r>
              <a:rPr lang="ja-JP" altLang="en-US" sz="800" dirty="0">
                <a:solidFill>
                  <a:schemeClr val="bg1">
                    <a:lumMod val="65000"/>
                  </a:schemeClr>
                </a:solidFill>
                <a:latin typeface="メイリオ" panose="020B0604030504040204" pitchFamily="50" charset="-128"/>
                <a:ea typeface="メイリオ" panose="020B0604030504040204" pitchFamily="50" charset="-128"/>
                <a:cs typeface="Calibri" pitchFamily="34" charset="-120"/>
              </a:rPr>
              <a:t>温度感・ニーズ把握</a:t>
            </a:r>
          </a:p>
        </p:txBody>
      </p:sp>
      <p:sp>
        <p:nvSpPr>
          <p:cNvPr id="123" name="Shape 18">
            <a:extLst>
              <a:ext uri="{FF2B5EF4-FFF2-40B4-BE49-F238E27FC236}">
                <a16:creationId xmlns:a16="http://schemas.microsoft.com/office/drawing/2014/main" id="{E23B94EA-C025-B46E-3CFE-6F951848C924}"/>
              </a:ext>
            </a:extLst>
          </p:cNvPr>
          <p:cNvSpPr/>
          <p:nvPr/>
        </p:nvSpPr>
        <p:spPr>
          <a:xfrm>
            <a:off x="5685390" y="4639113"/>
            <a:ext cx="1763486" cy="466492"/>
          </a:xfrm>
          <a:prstGeom prst="rect">
            <a:avLst/>
          </a:prstGeom>
          <a:solidFill>
            <a:srgbClr val="F2F2F2"/>
          </a:solidFill>
          <a:ln w="12700">
            <a:solidFill>
              <a:srgbClr val="CCCCCC"/>
            </a:solidFill>
            <a:prstDash val="solid"/>
          </a:ln>
        </p:spPr>
        <p:txBody>
          <a:bodyPr/>
          <a:lstStyle/>
          <a:p>
            <a:pPr>
              <a:lnSpc>
                <a:spcPct val="135000"/>
              </a:lnSpc>
            </a:pPr>
            <a:r>
              <a:rPr lang="ja-JP" altLang="en-US" sz="800" dirty="0">
                <a:solidFill>
                  <a:schemeClr val="bg1">
                    <a:lumMod val="65000"/>
                  </a:schemeClr>
                </a:solidFill>
                <a:latin typeface="メイリオ" panose="020B0604030504040204" pitchFamily="50" charset="-128"/>
                <a:ea typeface="メイリオ" panose="020B0604030504040204" pitchFamily="50" charset="-128"/>
                <a:cs typeface="Calibri" pitchFamily="34" charset="-120"/>
              </a:rPr>
              <a:t>有効リード育成シナリオ</a:t>
            </a:r>
          </a:p>
          <a:p>
            <a:pPr>
              <a:lnSpc>
                <a:spcPct val="135000"/>
              </a:lnSpc>
            </a:pPr>
            <a:r>
              <a:rPr lang="ja-JP" altLang="en-US" sz="800" dirty="0">
                <a:solidFill>
                  <a:schemeClr val="bg1">
                    <a:lumMod val="65000"/>
                  </a:schemeClr>
                </a:solidFill>
                <a:latin typeface="メイリオ" panose="020B0604030504040204" pitchFamily="50" charset="-128"/>
                <a:ea typeface="メイリオ" panose="020B0604030504040204" pitchFamily="50" charset="-128"/>
                <a:cs typeface="Calibri" pitchFamily="34" charset="-120"/>
              </a:rPr>
              <a:t>→ 商談・再購入誘導</a:t>
            </a:r>
          </a:p>
        </p:txBody>
      </p:sp>
      <p:cxnSp>
        <p:nvCxnSpPr>
          <p:cNvPr id="124" name="直線矢印コネクタ 123">
            <a:extLst>
              <a:ext uri="{FF2B5EF4-FFF2-40B4-BE49-F238E27FC236}">
                <a16:creationId xmlns:a16="http://schemas.microsoft.com/office/drawing/2014/main" id="{83F28A8E-5BD4-6CFE-A1AB-95F3F23ADFC2}"/>
              </a:ext>
            </a:extLst>
          </p:cNvPr>
          <p:cNvCxnSpPr>
            <a:cxnSpLocks/>
            <a:stCxn id="122" idx="3"/>
            <a:endCxn id="123" idx="1"/>
          </p:cNvCxnSpPr>
          <p:nvPr/>
        </p:nvCxnSpPr>
        <p:spPr>
          <a:xfrm>
            <a:off x="5399749" y="4872359"/>
            <a:ext cx="285641" cy="0"/>
          </a:xfrm>
          <a:prstGeom prst="straightConnector1">
            <a:avLst/>
          </a:prstGeom>
          <a:ln>
            <a:solidFill>
              <a:schemeClr val="tx1"/>
            </a:solidFill>
            <a:prstDash val="sysDot"/>
            <a:tailEnd type="triangle"/>
          </a:ln>
        </p:spPr>
        <p:style>
          <a:lnRef idx="1">
            <a:schemeClr val="accent1"/>
          </a:lnRef>
          <a:fillRef idx="0">
            <a:schemeClr val="accent1"/>
          </a:fillRef>
          <a:effectRef idx="0">
            <a:schemeClr val="accent1"/>
          </a:effectRef>
          <a:fontRef idx="minor">
            <a:schemeClr val="tx1"/>
          </a:fontRef>
        </p:style>
      </p:cxnSp>
      <p:sp>
        <p:nvSpPr>
          <p:cNvPr id="125" name="Shape 17">
            <a:extLst>
              <a:ext uri="{FF2B5EF4-FFF2-40B4-BE49-F238E27FC236}">
                <a16:creationId xmlns:a16="http://schemas.microsoft.com/office/drawing/2014/main" id="{6D4CD712-1339-1DEA-1A5F-9F51874CCCB1}"/>
              </a:ext>
            </a:extLst>
          </p:cNvPr>
          <p:cNvSpPr/>
          <p:nvPr/>
        </p:nvSpPr>
        <p:spPr>
          <a:xfrm>
            <a:off x="3636262" y="5262884"/>
            <a:ext cx="1763487" cy="466492"/>
          </a:xfrm>
          <a:prstGeom prst="rect">
            <a:avLst/>
          </a:prstGeom>
          <a:solidFill>
            <a:srgbClr val="F2F2F2"/>
          </a:solidFill>
          <a:ln w="12700">
            <a:solidFill>
              <a:srgbClr val="CCCCCC"/>
            </a:solidFill>
            <a:prstDash val="solid"/>
          </a:ln>
        </p:spPr>
        <p:txBody>
          <a:bodyPr/>
          <a:lstStyle/>
          <a:p>
            <a:pPr>
              <a:lnSpc>
                <a:spcPct val="135000"/>
              </a:lnSpc>
            </a:pPr>
            <a:r>
              <a:rPr lang="ja-JP" altLang="en-US" sz="800" dirty="0">
                <a:solidFill>
                  <a:schemeClr val="bg1">
                    <a:lumMod val="65000"/>
                  </a:schemeClr>
                </a:solidFill>
                <a:latin typeface="メイリオ" panose="020B0604030504040204" pitchFamily="50" charset="-128"/>
                <a:ea typeface="メイリオ" panose="020B0604030504040204" pitchFamily="50" charset="-128"/>
                <a:cs typeface="Calibri" pitchFamily="34" charset="-120"/>
              </a:rPr>
              <a:t>一斉配信でリスト活性化</a:t>
            </a:r>
          </a:p>
          <a:p>
            <a:pPr>
              <a:lnSpc>
                <a:spcPct val="135000"/>
              </a:lnSpc>
            </a:pPr>
            <a:r>
              <a:rPr lang="ja-JP" altLang="en-US" sz="800" dirty="0">
                <a:solidFill>
                  <a:schemeClr val="bg1">
                    <a:lumMod val="65000"/>
                  </a:schemeClr>
                </a:solidFill>
                <a:latin typeface="メイリオ" panose="020B0604030504040204" pitchFamily="50" charset="-128"/>
                <a:ea typeface="メイリオ" panose="020B0604030504040204" pitchFamily="50" charset="-128"/>
                <a:cs typeface="Calibri" pitchFamily="34" charset="-120"/>
              </a:rPr>
              <a:t>アンケートで属性把握</a:t>
            </a:r>
          </a:p>
        </p:txBody>
      </p:sp>
      <p:sp>
        <p:nvSpPr>
          <p:cNvPr id="126" name="Shape 18">
            <a:extLst>
              <a:ext uri="{FF2B5EF4-FFF2-40B4-BE49-F238E27FC236}">
                <a16:creationId xmlns:a16="http://schemas.microsoft.com/office/drawing/2014/main" id="{5F976E27-1C09-25DE-2664-7D927081F231}"/>
              </a:ext>
            </a:extLst>
          </p:cNvPr>
          <p:cNvSpPr/>
          <p:nvPr/>
        </p:nvSpPr>
        <p:spPr>
          <a:xfrm>
            <a:off x="5685390" y="5262884"/>
            <a:ext cx="1763486" cy="466492"/>
          </a:xfrm>
          <a:prstGeom prst="rect">
            <a:avLst/>
          </a:prstGeom>
          <a:solidFill>
            <a:srgbClr val="F2F2F2"/>
          </a:solidFill>
          <a:ln w="12700">
            <a:solidFill>
              <a:srgbClr val="CCCCCC"/>
            </a:solidFill>
            <a:prstDash val="solid"/>
          </a:ln>
        </p:spPr>
        <p:txBody>
          <a:bodyPr/>
          <a:lstStyle/>
          <a:p>
            <a:pPr>
              <a:lnSpc>
                <a:spcPct val="135000"/>
              </a:lnSpc>
            </a:pPr>
            <a:r>
              <a:rPr lang="ja-JP" altLang="en-US" sz="800" dirty="0">
                <a:solidFill>
                  <a:schemeClr val="bg1">
                    <a:lumMod val="65000"/>
                  </a:schemeClr>
                </a:solidFill>
                <a:latin typeface="メイリオ" panose="020B0604030504040204" pitchFamily="50" charset="-128"/>
                <a:ea typeface="メイリオ" panose="020B0604030504040204" pitchFamily="50" charset="-128"/>
                <a:cs typeface="Calibri" pitchFamily="34" charset="-120"/>
              </a:rPr>
              <a:t>セグメント別ナーチャリング</a:t>
            </a:r>
          </a:p>
          <a:p>
            <a:pPr>
              <a:lnSpc>
                <a:spcPct val="135000"/>
              </a:lnSpc>
            </a:pPr>
            <a:r>
              <a:rPr lang="ja-JP" altLang="en-US" sz="800" dirty="0">
                <a:solidFill>
                  <a:schemeClr val="bg1">
                    <a:lumMod val="65000"/>
                  </a:schemeClr>
                </a:solidFill>
                <a:latin typeface="メイリオ" panose="020B0604030504040204" pitchFamily="50" charset="-128"/>
                <a:ea typeface="メイリオ" panose="020B0604030504040204" pitchFamily="50" charset="-128"/>
                <a:cs typeface="Calibri" pitchFamily="34" charset="-120"/>
              </a:rPr>
              <a:t>季節・タイミング別企画配信</a:t>
            </a:r>
          </a:p>
        </p:txBody>
      </p:sp>
      <p:cxnSp>
        <p:nvCxnSpPr>
          <p:cNvPr id="127" name="直線矢印コネクタ 126">
            <a:extLst>
              <a:ext uri="{FF2B5EF4-FFF2-40B4-BE49-F238E27FC236}">
                <a16:creationId xmlns:a16="http://schemas.microsoft.com/office/drawing/2014/main" id="{82C1A774-7713-D5A5-03F8-DCE7AD58DB1B}"/>
              </a:ext>
            </a:extLst>
          </p:cNvPr>
          <p:cNvCxnSpPr>
            <a:cxnSpLocks/>
            <a:stCxn id="125" idx="3"/>
            <a:endCxn id="126" idx="1"/>
          </p:cNvCxnSpPr>
          <p:nvPr/>
        </p:nvCxnSpPr>
        <p:spPr>
          <a:xfrm>
            <a:off x="5399749" y="5496130"/>
            <a:ext cx="285641" cy="0"/>
          </a:xfrm>
          <a:prstGeom prst="straightConnector1">
            <a:avLst/>
          </a:prstGeom>
          <a:ln>
            <a:solidFill>
              <a:schemeClr val="tx1"/>
            </a:solidFill>
            <a:prstDash val="sysDot"/>
            <a:tailEnd type="triangle"/>
          </a:ln>
        </p:spPr>
        <p:style>
          <a:lnRef idx="1">
            <a:schemeClr val="accent1"/>
          </a:lnRef>
          <a:fillRef idx="0">
            <a:schemeClr val="accent1"/>
          </a:fillRef>
          <a:effectRef idx="0">
            <a:schemeClr val="accent1"/>
          </a:effectRef>
          <a:fontRef idx="minor">
            <a:schemeClr val="tx1"/>
          </a:fontRef>
        </p:style>
      </p:cxnSp>
      <p:sp>
        <p:nvSpPr>
          <p:cNvPr id="128" name="Shape 17">
            <a:extLst>
              <a:ext uri="{FF2B5EF4-FFF2-40B4-BE49-F238E27FC236}">
                <a16:creationId xmlns:a16="http://schemas.microsoft.com/office/drawing/2014/main" id="{CC857E24-C3F9-53FF-5D44-B2CE0DE30602}"/>
              </a:ext>
            </a:extLst>
          </p:cNvPr>
          <p:cNvSpPr/>
          <p:nvPr/>
        </p:nvSpPr>
        <p:spPr>
          <a:xfrm>
            <a:off x="3636262" y="5871273"/>
            <a:ext cx="1763487" cy="466492"/>
          </a:xfrm>
          <a:prstGeom prst="rect">
            <a:avLst/>
          </a:prstGeom>
          <a:solidFill>
            <a:srgbClr val="F2F2F2"/>
          </a:solidFill>
          <a:ln w="12700">
            <a:solidFill>
              <a:srgbClr val="CCCCCC"/>
            </a:solidFill>
            <a:prstDash val="solid"/>
          </a:ln>
        </p:spPr>
        <p:txBody>
          <a:bodyPr/>
          <a:lstStyle/>
          <a:p>
            <a:pPr>
              <a:lnSpc>
                <a:spcPct val="135000"/>
              </a:lnSpc>
            </a:pPr>
            <a:r>
              <a:rPr lang="en-US" altLang="ja-JP" sz="800" dirty="0">
                <a:solidFill>
                  <a:schemeClr val="bg1">
                    <a:lumMod val="65000"/>
                  </a:schemeClr>
                </a:solidFill>
                <a:latin typeface="メイリオ" panose="020B0604030504040204" pitchFamily="50" charset="-128"/>
                <a:ea typeface="メイリオ" panose="020B0604030504040204" pitchFamily="50" charset="-128"/>
                <a:cs typeface="Calibri" pitchFamily="34" charset="-120"/>
              </a:rPr>
              <a:t>LINE</a:t>
            </a:r>
            <a:r>
              <a:rPr lang="ja-JP" altLang="en-US" sz="800" dirty="0">
                <a:solidFill>
                  <a:schemeClr val="bg1">
                    <a:lumMod val="65000"/>
                  </a:schemeClr>
                </a:solidFill>
                <a:latin typeface="メイリオ" panose="020B0604030504040204" pitchFamily="50" charset="-128"/>
                <a:ea typeface="メイリオ" panose="020B0604030504040204" pitchFamily="50" charset="-128"/>
                <a:cs typeface="Calibri" pitchFamily="34" charset="-120"/>
              </a:rPr>
              <a:t>移行キャンペーン</a:t>
            </a:r>
          </a:p>
          <a:p>
            <a:pPr>
              <a:lnSpc>
                <a:spcPct val="135000"/>
              </a:lnSpc>
            </a:pPr>
            <a:r>
              <a:rPr lang="ja-JP" altLang="en-US" sz="800" dirty="0">
                <a:solidFill>
                  <a:schemeClr val="bg1">
                    <a:lumMod val="65000"/>
                  </a:schemeClr>
                </a:solidFill>
                <a:latin typeface="メイリオ" panose="020B0604030504040204" pitchFamily="50" charset="-128"/>
                <a:ea typeface="メイリオ" panose="020B0604030504040204" pitchFamily="50" charset="-128"/>
                <a:cs typeface="Calibri" pitchFamily="34" charset="-120"/>
              </a:rPr>
              <a:t>（特典訴求で友だち追加促進）</a:t>
            </a:r>
          </a:p>
        </p:txBody>
      </p:sp>
      <p:sp>
        <p:nvSpPr>
          <p:cNvPr id="129" name="Shape 18">
            <a:extLst>
              <a:ext uri="{FF2B5EF4-FFF2-40B4-BE49-F238E27FC236}">
                <a16:creationId xmlns:a16="http://schemas.microsoft.com/office/drawing/2014/main" id="{496CBE75-90FF-44E1-05AA-F85C409960A4}"/>
              </a:ext>
            </a:extLst>
          </p:cNvPr>
          <p:cNvSpPr/>
          <p:nvPr/>
        </p:nvSpPr>
        <p:spPr>
          <a:xfrm>
            <a:off x="5685390" y="5871273"/>
            <a:ext cx="1763486" cy="466492"/>
          </a:xfrm>
          <a:prstGeom prst="rect">
            <a:avLst/>
          </a:prstGeom>
          <a:solidFill>
            <a:srgbClr val="F2F2F2"/>
          </a:solidFill>
          <a:ln w="12700">
            <a:solidFill>
              <a:srgbClr val="CCCCCC"/>
            </a:solidFill>
            <a:prstDash val="solid"/>
          </a:ln>
        </p:spPr>
        <p:txBody>
          <a:bodyPr/>
          <a:lstStyle/>
          <a:p>
            <a:pPr>
              <a:lnSpc>
                <a:spcPct val="135000"/>
              </a:lnSpc>
            </a:pPr>
            <a:r>
              <a:rPr lang="en-US" altLang="ja-JP" sz="800" dirty="0">
                <a:solidFill>
                  <a:schemeClr val="bg1">
                    <a:lumMod val="65000"/>
                  </a:schemeClr>
                </a:solidFill>
                <a:latin typeface="メイリオ" panose="020B0604030504040204" pitchFamily="50" charset="-128"/>
                <a:ea typeface="メイリオ" panose="020B0604030504040204" pitchFamily="50" charset="-128"/>
                <a:cs typeface="Calibri" pitchFamily="34" charset="-120"/>
              </a:rPr>
              <a:t>LINE</a:t>
            </a:r>
            <a:r>
              <a:rPr lang="ja-JP" altLang="en-US" sz="800" dirty="0">
                <a:solidFill>
                  <a:schemeClr val="bg1">
                    <a:lumMod val="65000"/>
                  </a:schemeClr>
                </a:solidFill>
                <a:latin typeface="メイリオ" panose="020B0604030504040204" pitchFamily="50" charset="-128"/>
                <a:ea typeface="メイリオ" panose="020B0604030504040204" pitchFamily="50" charset="-128"/>
                <a:cs typeface="Calibri" pitchFamily="34" charset="-120"/>
              </a:rPr>
              <a:t>でリピート率向上</a:t>
            </a:r>
          </a:p>
          <a:p>
            <a:pPr>
              <a:lnSpc>
                <a:spcPct val="135000"/>
              </a:lnSpc>
            </a:pPr>
            <a:r>
              <a:rPr lang="ja-JP" altLang="en-US" sz="800" dirty="0">
                <a:solidFill>
                  <a:schemeClr val="bg1">
                    <a:lumMod val="65000"/>
                  </a:schemeClr>
                </a:solidFill>
                <a:latin typeface="メイリオ" panose="020B0604030504040204" pitchFamily="50" charset="-128"/>
                <a:ea typeface="メイリオ" panose="020B0604030504040204" pitchFamily="50" charset="-128"/>
                <a:cs typeface="Calibri" pitchFamily="34" charset="-120"/>
              </a:rPr>
              <a:t>紹介キャンペーン・</a:t>
            </a:r>
            <a:r>
              <a:rPr lang="en-US" altLang="ja-JP" sz="800" dirty="0">
                <a:solidFill>
                  <a:schemeClr val="bg1">
                    <a:lumMod val="65000"/>
                  </a:schemeClr>
                </a:solidFill>
                <a:latin typeface="メイリオ" panose="020B0604030504040204" pitchFamily="50" charset="-128"/>
                <a:ea typeface="メイリオ" panose="020B0604030504040204" pitchFamily="50" charset="-128"/>
                <a:cs typeface="Calibri" pitchFamily="34" charset="-120"/>
              </a:rPr>
              <a:t>LTV</a:t>
            </a:r>
            <a:r>
              <a:rPr lang="ja-JP" altLang="en-US" sz="800" dirty="0">
                <a:solidFill>
                  <a:schemeClr val="bg1">
                    <a:lumMod val="65000"/>
                  </a:schemeClr>
                </a:solidFill>
                <a:latin typeface="メイリオ" panose="020B0604030504040204" pitchFamily="50" charset="-128"/>
                <a:ea typeface="メイリオ" panose="020B0604030504040204" pitchFamily="50" charset="-128"/>
                <a:cs typeface="Calibri" pitchFamily="34" charset="-120"/>
              </a:rPr>
              <a:t>最大化</a:t>
            </a:r>
          </a:p>
        </p:txBody>
      </p:sp>
      <p:cxnSp>
        <p:nvCxnSpPr>
          <p:cNvPr id="130" name="直線矢印コネクタ 129">
            <a:extLst>
              <a:ext uri="{FF2B5EF4-FFF2-40B4-BE49-F238E27FC236}">
                <a16:creationId xmlns:a16="http://schemas.microsoft.com/office/drawing/2014/main" id="{D05BCA3B-7E23-AB71-18F0-5A49C04E309D}"/>
              </a:ext>
            </a:extLst>
          </p:cNvPr>
          <p:cNvCxnSpPr>
            <a:cxnSpLocks/>
            <a:stCxn id="128" idx="3"/>
            <a:endCxn id="129" idx="1"/>
          </p:cNvCxnSpPr>
          <p:nvPr/>
        </p:nvCxnSpPr>
        <p:spPr>
          <a:xfrm>
            <a:off x="5399749" y="6104519"/>
            <a:ext cx="285641" cy="0"/>
          </a:xfrm>
          <a:prstGeom prst="straightConnector1">
            <a:avLst/>
          </a:prstGeom>
          <a:ln>
            <a:solidFill>
              <a:schemeClr val="tx1"/>
            </a:solidFill>
            <a:prstDash val="sysDot"/>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269888374"/>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97A8046-1654-094B-8F5D-E4DEE3745960}"/>
            </a:ext>
          </a:extLst>
        </p:cNvPr>
        <p:cNvGrpSpPr/>
        <p:nvPr/>
      </p:nvGrpSpPr>
      <p:grpSpPr>
        <a:xfrm>
          <a:off x="0" y="0"/>
          <a:ext cx="0" cy="0"/>
          <a:chOff x="0" y="0"/>
          <a:chExt cx="0" cy="0"/>
        </a:xfrm>
      </p:grpSpPr>
      <p:sp>
        <p:nvSpPr>
          <p:cNvPr id="4" name="Google Shape;752;p28">
            <a:extLst>
              <a:ext uri="{FF2B5EF4-FFF2-40B4-BE49-F238E27FC236}">
                <a16:creationId xmlns:a16="http://schemas.microsoft.com/office/drawing/2014/main" id="{70E0618D-3216-35E4-D4C4-66DD232D8277}"/>
              </a:ext>
            </a:extLst>
          </p:cNvPr>
          <p:cNvSpPr txBox="1"/>
          <p:nvPr/>
        </p:nvSpPr>
        <p:spPr>
          <a:xfrm>
            <a:off x="548883" y="138137"/>
            <a:ext cx="6276325" cy="338514"/>
          </a:xfrm>
          <a:prstGeom prst="rect">
            <a:avLst/>
          </a:prstGeom>
          <a:noFill/>
          <a:ln>
            <a:noFill/>
          </a:ln>
        </p:spPr>
        <p:txBody>
          <a:bodyPr spcFirstLastPara="1" wrap="square" lIns="91425" tIns="45700" rIns="91425" bIns="45700" anchor="ctr" anchorCtr="0">
            <a:spAutoFit/>
          </a:bodyPr>
          <a:lstStyle/>
          <a:p>
            <a:pPr lvl="0"/>
            <a:r>
              <a:rPr lang="ja-JP" altLang="en-US" sz="1600" b="1" dirty="0">
                <a:solidFill>
                  <a:srgbClr val="323366"/>
                </a:solidFill>
                <a:latin typeface="メイリオ" panose="020B0604030504040204" pitchFamily="50" charset="-128"/>
                <a:ea typeface="メイリオ" panose="020B0604030504040204" pitchFamily="50" charset="-128"/>
                <a:cs typeface="Meiryo"/>
                <a:sym typeface="Meiryo"/>
              </a:rPr>
              <a:t>資料アジェンダ</a:t>
            </a:r>
          </a:p>
        </p:txBody>
      </p:sp>
      <p:sp>
        <p:nvSpPr>
          <p:cNvPr id="2" name="正方形/長方形 1">
            <a:extLst>
              <a:ext uri="{FF2B5EF4-FFF2-40B4-BE49-F238E27FC236}">
                <a16:creationId xmlns:a16="http://schemas.microsoft.com/office/drawing/2014/main" id="{87478A58-B30A-B13E-22E3-8D83CCAF592E}"/>
              </a:ext>
            </a:extLst>
          </p:cNvPr>
          <p:cNvSpPr/>
          <p:nvPr/>
        </p:nvSpPr>
        <p:spPr>
          <a:xfrm>
            <a:off x="2808838" y="3038203"/>
            <a:ext cx="4288353" cy="584775"/>
          </a:xfrm>
          <a:prstGeom prst="rect">
            <a:avLst/>
          </a:prstGeom>
        </p:spPr>
        <p:txBody>
          <a:bodyPr wrap="none">
            <a:spAutoFit/>
          </a:bodyPr>
          <a:lstStyle/>
          <a:p>
            <a:pPr algn="ctr"/>
            <a:r>
              <a:rPr lang="ja-JP" altLang="en-US" sz="3200" b="1" dirty="0">
                <a:solidFill>
                  <a:schemeClr val="tx1">
                    <a:lumMod val="75000"/>
                    <a:lumOff val="25000"/>
                  </a:schemeClr>
                </a:solidFill>
                <a:latin typeface="メイリオ" panose="020B0604030504040204" pitchFamily="50" charset="-128"/>
                <a:ea typeface="メイリオ" panose="020B0604030504040204" pitchFamily="50" charset="-128"/>
                <a:cs typeface="メイリオ" panose="020B0604030504040204" pitchFamily="50" charset="-128"/>
              </a:rPr>
              <a:t>中長期施策として</a:t>
            </a:r>
            <a:r>
              <a:rPr lang="en-US" altLang="ja-JP" sz="3200" b="1" dirty="0">
                <a:solidFill>
                  <a:schemeClr val="tx1">
                    <a:lumMod val="75000"/>
                    <a:lumOff val="25000"/>
                  </a:schemeClr>
                </a:solidFill>
                <a:latin typeface="メイリオ" panose="020B0604030504040204" pitchFamily="50" charset="-128"/>
                <a:ea typeface="メイリオ" panose="020B0604030504040204" pitchFamily="50" charset="-128"/>
                <a:cs typeface="メイリオ" panose="020B0604030504040204" pitchFamily="50" charset="-128"/>
              </a:rPr>
              <a:t>…</a:t>
            </a:r>
            <a:r>
              <a:rPr lang="ja-JP" altLang="en-US" sz="3200" b="1" dirty="0">
                <a:solidFill>
                  <a:schemeClr val="tx1">
                    <a:lumMod val="75000"/>
                    <a:lumOff val="25000"/>
                  </a:schemeClr>
                </a:solidFill>
                <a:latin typeface="メイリオ" panose="020B0604030504040204" pitchFamily="50" charset="-128"/>
                <a:ea typeface="メイリオ" panose="020B0604030504040204" pitchFamily="50" charset="-128"/>
                <a:cs typeface="メイリオ" panose="020B0604030504040204" pitchFamily="50" charset="-128"/>
              </a:rPr>
              <a:t>。</a:t>
            </a:r>
            <a:endParaRPr lang="en-US" altLang="ja-IS" sz="3200" b="1" dirty="0">
              <a:solidFill>
                <a:schemeClr val="tx1">
                  <a:lumMod val="75000"/>
                  <a:lumOff val="25000"/>
                </a:schemeClr>
              </a:solidFill>
              <a:latin typeface="メイリオ" panose="020B0604030504040204" pitchFamily="50" charset="-128"/>
              <a:ea typeface="メイリオ" panose="020B0604030504040204" pitchFamily="50" charset="-128"/>
              <a:cs typeface="メイリオ" panose="020B0604030504040204" pitchFamily="50" charset="-128"/>
            </a:endParaRPr>
          </a:p>
        </p:txBody>
      </p:sp>
    </p:spTree>
    <p:extLst>
      <p:ext uri="{BB962C8B-B14F-4D97-AF65-F5344CB8AC3E}">
        <p14:creationId xmlns:p14="http://schemas.microsoft.com/office/powerpoint/2010/main" val="4000667985"/>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7A94FE7-6D4B-4888-997F-23D957A67FBD}"/>
            </a:ext>
          </a:extLst>
        </p:cNvPr>
        <p:cNvGrpSpPr/>
        <p:nvPr/>
      </p:nvGrpSpPr>
      <p:grpSpPr>
        <a:xfrm>
          <a:off x="0" y="0"/>
          <a:ext cx="0" cy="0"/>
          <a:chOff x="0" y="0"/>
          <a:chExt cx="0" cy="0"/>
        </a:xfrm>
      </p:grpSpPr>
      <p:sp>
        <p:nvSpPr>
          <p:cNvPr id="4" name="Google Shape;752;p28">
            <a:extLst>
              <a:ext uri="{FF2B5EF4-FFF2-40B4-BE49-F238E27FC236}">
                <a16:creationId xmlns:a16="http://schemas.microsoft.com/office/drawing/2014/main" id="{5E998200-CD1E-9377-8F8E-91B67A682AED}"/>
              </a:ext>
            </a:extLst>
          </p:cNvPr>
          <p:cNvSpPr txBox="1"/>
          <p:nvPr/>
        </p:nvSpPr>
        <p:spPr>
          <a:xfrm>
            <a:off x="548883" y="138137"/>
            <a:ext cx="6276325" cy="338514"/>
          </a:xfrm>
          <a:prstGeom prst="rect">
            <a:avLst/>
          </a:prstGeom>
          <a:noFill/>
          <a:ln>
            <a:noFill/>
          </a:ln>
        </p:spPr>
        <p:txBody>
          <a:bodyPr spcFirstLastPara="1" wrap="square" lIns="91425" tIns="45700" rIns="91425" bIns="45700" anchor="ctr" anchorCtr="0">
            <a:spAutoFit/>
          </a:bodyPr>
          <a:lstStyle/>
          <a:p>
            <a:pPr lvl="0"/>
            <a:r>
              <a:rPr lang="ja-JP" altLang="en-US" sz="1600" b="1" dirty="0">
                <a:solidFill>
                  <a:srgbClr val="323366"/>
                </a:solidFill>
                <a:latin typeface="メイリオ" panose="020B0604030504040204" pitchFamily="50" charset="-128"/>
                <a:ea typeface="メイリオ" panose="020B0604030504040204" pitchFamily="50" charset="-128"/>
                <a:cs typeface="Meiryo"/>
                <a:sym typeface="Meiryo"/>
              </a:rPr>
              <a:t>提供施策について　</a:t>
            </a:r>
            <a:r>
              <a:rPr lang="en-US" altLang="ja-JP" sz="1400" b="1" dirty="0">
                <a:solidFill>
                  <a:srgbClr val="FF0000"/>
                </a:solidFill>
                <a:latin typeface="メイリオ" panose="020B0604030504040204" pitchFamily="50" charset="-128"/>
                <a:ea typeface="メイリオ" panose="020B0604030504040204" pitchFamily="50" charset="-128"/>
                <a:cs typeface="Meiryo"/>
                <a:sym typeface="Meiryo"/>
              </a:rPr>
              <a:t>[CRM</a:t>
            </a:r>
            <a:r>
              <a:rPr lang="ja-JP" altLang="en-US" sz="1400" b="1" dirty="0">
                <a:solidFill>
                  <a:srgbClr val="FF0000"/>
                </a:solidFill>
                <a:latin typeface="メイリオ" panose="020B0604030504040204" pitchFamily="50" charset="-128"/>
                <a:ea typeface="メイリオ" panose="020B0604030504040204" pitchFamily="50" charset="-128"/>
                <a:cs typeface="Meiryo"/>
                <a:sym typeface="Meiryo"/>
              </a:rPr>
              <a:t>及び</a:t>
            </a:r>
            <a:r>
              <a:rPr lang="en-US" altLang="ja-JP" sz="1400" b="1" dirty="0">
                <a:solidFill>
                  <a:srgbClr val="FF0000"/>
                </a:solidFill>
                <a:latin typeface="メイリオ" panose="020B0604030504040204" pitchFamily="50" charset="-128"/>
                <a:ea typeface="メイリオ" panose="020B0604030504040204" pitchFamily="50" charset="-128"/>
                <a:cs typeface="Meiryo"/>
                <a:sym typeface="Meiryo"/>
              </a:rPr>
              <a:t>API</a:t>
            </a:r>
            <a:r>
              <a:rPr lang="ja-JP" altLang="en-US" sz="1400" b="1" dirty="0">
                <a:solidFill>
                  <a:srgbClr val="FF0000"/>
                </a:solidFill>
                <a:latin typeface="メイリオ" panose="020B0604030504040204" pitchFamily="50" charset="-128"/>
                <a:ea typeface="メイリオ" panose="020B0604030504040204" pitchFamily="50" charset="-128"/>
                <a:cs typeface="Meiryo"/>
                <a:sym typeface="Meiryo"/>
              </a:rPr>
              <a:t>ツールとの連携</a:t>
            </a:r>
            <a:r>
              <a:rPr lang="en-US" altLang="ja-JP" sz="1400" b="1" dirty="0">
                <a:solidFill>
                  <a:srgbClr val="FF0000"/>
                </a:solidFill>
                <a:latin typeface="メイリオ" panose="020B0604030504040204" pitchFamily="50" charset="-128"/>
                <a:ea typeface="メイリオ" panose="020B0604030504040204" pitchFamily="50" charset="-128"/>
                <a:cs typeface="Meiryo"/>
                <a:sym typeface="Meiryo"/>
              </a:rPr>
              <a:t>]</a:t>
            </a:r>
            <a:endParaRPr lang="ja-JP" altLang="en-US" sz="1600" b="1" dirty="0">
              <a:solidFill>
                <a:srgbClr val="FF0000"/>
              </a:solidFill>
              <a:latin typeface="メイリオ" panose="020B0604030504040204" pitchFamily="50" charset="-128"/>
              <a:ea typeface="メイリオ" panose="020B0604030504040204" pitchFamily="50" charset="-128"/>
              <a:cs typeface="Meiryo"/>
              <a:sym typeface="Meiryo"/>
            </a:endParaRPr>
          </a:p>
        </p:txBody>
      </p:sp>
      <p:sp>
        <p:nvSpPr>
          <p:cNvPr id="2" name="正方形/長方形 1">
            <a:extLst>
              <a:ext uri="{FF2B5EF4-FFF2-40B4-BE49-F238E27FC236}">
                <a16:creationId xmlns:a16="http://schemas.microsoft.com/office/drawing/2014/main" id="{529B047E-CF1E-2AB0-E618-76435731185A}"/>
              </a:ext>
            </a:extLst>
          </p:cNvPr>
          <p:cNvSpPr/>
          <p:nvPr/>
        </p:nvSpPr>
        <p:spPr>
          <a:xfrm>
            <a:off x="804889" y="5113292"/>
            <a:ext cx="3834166" cy="825268"/>
          </a:xfrm>
          <a:prstGeom prst="rect">
            <a:avLst/>
          </a:prstGeom>
          <a:solidFill>
            <a:schemeClr val="accent1">
              <a:lumMod val="20000"/>
              <a:lumOff val="80000"/>
            </a:schemeClr>
          </a:solidFill>
          <a:ln>
            <a:solidFill>
              <a:schemeClr val="tx2">
                <a:lumMod val="20000"/>
                <a:lumOff val="8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r>
              <a:rPr lang="ja-JP" altLang="en-US" sz="1400" dirty="0">
                <a:solidFill>
                  <a:srgbClr val="073763"/>
                </a:solidFill>
                <a:latin typeface="メイリオ" panose="020B0604030504040204" pitchFamily="50" charset="-128"/>
                <a:ea typeface="メイリオ" panose="020B0604030504040204" pitchFamily="50" charset="-128"/>
              </a:rPr>
              <a:t>「</a:t>
            </a:r>
            <a:r>
              <a:rPr kumimoji="1" lang="en-US" altLang="ja-JP" sz="1400" dirty="0">
                <a:solidFill>
                  <a:srgbClr val="073763"/>
                </a:solidFill>
                <a:latin typeface="メイリオ" panose="020B0604030504040204" pitchFamily="50" charset="-128"/>
                <a:ea typeface="メイリオ" panose="020B0604030504040204" pitchFamily="50" charset="-128"/>
              </a:rPr>
              <a:t>CRM</a:t>
            </a:r>
            <a:r>
              <a:rPr kumimoji="1" lang="ja-JP" altLang="en-US" sz="1400" dirty="0">
                <a:solidFill>
                  <a:srgbClr val="073763"/>
                </a:solidFill>
                <a:latin typeface="メイリオ" panose="020B0604030504040204" pitchFamily="50" charset="-128"/>
                <a:ea typeface="メイリオ" panose="020B0604030504040204" pitchFamily="50" charset="-128"/>
              </a:rPr>
              <a:t>側でどんな情報を取りたいか」</a:t>
            </a:r>
            <a:r>
              <a:rPr lang="ja-JP" altLang="en-US" sz="1400" dirty="0">
                <a:solidFill>
                  <a:srgbClr val="073763"/>
                </a:solidFill>
                <a:latin typeface="メイリオ" panose="020B0604030504040204" pitchFamily="50" charset="-128"/>
                <a:ea typeface="メイリオ" panose="020B0604030504040204" pitchFamily="50" charset="-128"/>
              </a:rPr>
              <a:t>が重要</a:t>
            </a:r>
            <a:br>
              <a:rPr lang="en-US" altLang="ja-JP" sz="1400" dirty="0">
                <a:solidFill>
                  <a:srgbClr val="073763"/>
                </a:solidFill>
                <a:latin typeface="メイリオ" panose="020B0604030504040204" pitchFamily="50" charset="-128"/>
                <a:ea typeface="メイリオ" panose="020B0604030504040204" pitchFamily="50" charset="-128"/>
              </a:rPr>
            </a:br>
            <a:r>
              <a:rPr lang="ja-JP" altLang="en-US" sz="1400" b="1" dirty="0">
                <a:solidFill>
                  <a:srgbClr val="073763"/>
                </a:solidFill>
                <a:latin typeface="メイリオ" panose="020B0604030504040204" pitchFamily="50" charset="-128"/>
                <a:ea typeface="メイリオ" panose="020B0604030504040204" pitchFamily="50" charset="-128"/>
              </a:rPr>
              <a:t>要件定義</a:t>
            </a:r>
            <a:r>
              <a:rPr lang="ja-JP" altLang="en-US" sz="1400" dirty="0">
                <a:solidFill>
                  <a:srgbClr val="073763"/>
                </a:solidFill>
                <a:latin typeface="メイリオ" panose="020B0604030504040204" pitchFamily="50" charset="-128"/>
                <a:ea typeface="メイリオ" panose="020B0604030504040204" pitchFamily="50" charset="-128"/>
              </a:rPr>
              <a:t>を先にする必要がある</a:t>
            </a:r>
            <a:endParaRPr kumimoji="1" lang="ja-JP" altLang="en-US" sz="1400" dirty="0">
              <a:solidFill>
                <a:srgbClr val="073763"/>
              </a:solidFill>
              <a:latin typeface="メイリオ" panose="020B0604030504040204" pitchFamily="50" charset="-128"/>
              <a:ea typeface="メイリオ" panose="020B0604030504040204" pitchFamily="50" charset="-128"/>
            </a:endParaRPr>
          </a:p>
        </p:txBody>
      </p:sp>
      <p:sp>
        <p:nvSpPr>
          <p:cNvPr id="3" name="正方形/長方形 2">
            <a:extLst>
              <a:ext uri="{FF2B5EF4-FFF2-40B4-BE49-F238E27FC236}">
                <a16:creationId xmlns:a16="http://schemas.microsoft.com/office/drawing/2014/main" id="{C7D9704D-BB8D-31FA-D577-9838EADFB52F}"/>
              </a:ext>
            </a:extLst>
          </p:cNvPr>
          <p:cNvSpPr/>
          <p:nvPr/>
        </p:nvSpPr>
        <p:spPr>
          <a:xfrm>
            <a:off x="548883" y="1746891"/>
            <a:ext cx="2809027" cy="254724"/>
          </a:xfrm>
          <a:prstGeom prst="rect">
            <a:avLst/>
          </a:prstGeom>
          <a:solidFill>
            <a:schemeClr val="bg1"/>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r>
              <a:rPr kumimoji="1" lang="ja-JP" altLang="en-US" sz="1200" dirty="0">
                <a:solidFill>
                  <a:schemeClr val="tx1">
                    <a:lumMod val="75000"/>
                    <a:lumOff val="25000"/>
                  </a:schemeClr>
                </a:solidFill>
                <a:latin typeface="メイリオ" panose="020B0604030504040204" pitchFamily="50" charset="-128"/>
                <a:ea typeface="メイリオ" panose="020B0604030504040204" pitchFamily="50" charset="-128"/>
              </a:rPr>
              <a:t>▼</a:t>
            </a:r>
            <a:r>
              <a:rPr kumimoji="1" lang="en-US" altLang="ja-JP" sz="1200" dirty="0">
                <a:solidFill>
                  <a:schemeClr val="tx1">
                    <a:lumMod val="75000"/>
                    <a:lumOff val="25000"/>
                  </a:schemeClr>
                </a:solidFill>
                <a:latin typeface="メイリオ" panose="020B0604030504040204" pitchFamily="50" charset="-128"/>
                <a:ea typeface="メイリオ" panose="020B0604030504040204" pitchFamily="50" charset="-128"/>
              </a:rPr>
              <a:t>CR</a:t>
            </a:r>
            <a:r>
              <a:rPr lang="en-US" altLang="ja-JP" sz="1200" dirty="0">
                <a:solidFill>
                  <a:schemeClr val="tx1">
                    <a:lumMod val="75000"/>
                    <a:lumOff val="25000"/>
                  </a:schemeClr>
                </a:solidFill>
                <a:latin typeface="メイリオ" panose="020B0604030504040204" pitchFamily="50" charset="-128"/>
                <a:ea typeface="メイリオ" panose="020B0604030504040204" pitchFamily="50" charset="-128"/>
              </a:rPr>
              <a:t>M</a:t>
            </a:r>
            <a:r>
              <a:rPr lang="ja-JP" altLang="en-US" sz="1200" dirty="0">
                <a:solidFill>
                  <a:schemeClr val="tx1">
                    <a:lumMod val="75000"/>
                    <a:lumOff val="25000"/>
                  </a:schemeClr>
                </a:solidFill>
                <a:latin typeface="メイリオ" panose="020B0604030504040204" pitchFamily="50" charset="-128"/>
                <a:ea typeface="メイリオ" panose="020B0604030504040204" pitchFamily="50" charset="-128"/>
              </a:rPr>
              <a:t>によるセグメント配信の違い</a:t>
            </a:r>
            <a:endParaRPr kumimoji="1" lang="ja-JP" altLang="en-US" sz="1200" dirty="0">
              <a:solidFill>
                <a:schemeClr val="tx1">
                  <a:lumMod val="75000"/>
                  <a:lumOff val="25000"/>
                </a:schemeClr>
              </a:solidFill>
              <a:latin typeface="メイリオ" panose="020B0604030504040204" pitchFamily="50" charset="-128"/>
              <a:ea typeface="メイリオ" panose="020B0604030504040204" pitchFamily="50" charset="-128"/>
            </a:endParaRPr>
          </a:p>
        </p:txBody>
      </p:sp>
      <p:sp>
        <p:nvSpPr>
          <p:cNvPr id="5" name="正方形/長方形 4">
            <a:extLst>
              <a:ext uri="{FF2B5EF4-FFF2-40B4-BE49-F238E27FC236}">
                <a16:creationId xmlns:a16="http://schemas.microsoft.com/office/drawing/2014/main" id="{DEDA1867-168F-C6E6-0B48-C791330A0A1C}"/>
              </a:ext>
            </a:extLst>
          </p:cNvPr>
          <p:cNvSpPr/>
          <p:nvPr/>
        </p:nvSpPr>
        <p:spPr>
          <a:xfrm>
            <a:off x="4855489" y="1681759"/>
            <a:ext cx="1637212" cy="254724"/>
          </a:xfrm>
          <a:prstGeom prst="rect">
            <a:avLst/>
          </a:prstGeom>
          <a:solidFill>
            <a:schemeClr val="bg1"/>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endParaRPr kumimoji="1" lang="ja-JP" altLang="en-US" sz="1200" dirty="0">
              <a:solidFill>
                <a:schemeClr val="tx1">
                  <a:lumMod val="75000"/>
                  <a:lumOff val="25000"/>
                </a:schemeClr>
              </a:solidFill>
              <a:latin typeface="メイリオ" panose="020B0604030504040204" pitchFamily="50" charset="-128"/>
              <a:ea typeface="メイリオ" panose="020B0604030504040204" pitchFamily="50" charset="-128"/>
            </a:endParaRPr>
          </a:p>
        </p:txBody>
      </p:sp>
      <p:pic>
        <p:nvPicPr>
          <p:cNvPr id="6" name="図 5">
            <a:extLst>
              <a:ext uri="{FF2B5EF4-FFF2-40B4-BE49-F238E27FC236}">
                <a16:creationId xmlns:a16="http://schemas.microsoft.com/office/drawing/2014/main" id="{3E9A497F-26C3-7713-AA96-7B5A48F56252}"/>
              </a:ext>
            </a:extLst>
          </p:cNvPr>
          <p:cNvPicPr>
            <a:picLocks noChangeAspect="1"/>
          </p:cNvPicPr>
          <p:nvPr/>
        </p:nvPicPr>
        <p:blipFill>
          <a:blip r:embed="rId2"/>
          <a:stretch>
            <a:fillRect/>
          </a:stretch>
        </p:blipFill>
        <p:spPr>
          <a:xfrm>
            <a:off x="767879" y="2097602"/>
            <a:ext cx="1748922" cy="1226856"/>
          </a:xfrm>
          <a:prstGeom prst="rect">
            <a:avLst/>
          </a:prstGeom>
        </p:spPr>
      </p:pic>
      <p:pic>
        <p:nvPicPr>
          <p:cNvPr id="7" name="図 6">
            <a:extLst>
              <a:ext uri="{FF2B5EF4-FFF2-40B4-BE49-F238E27FC236}">
                <a16:creationId xmlns:a16="http://schemas.microsoft.com/office/drawing/2014/main" id="{AAF48BB3-9A38-696F-FC70-5DEE4C4078CF}"/>
              </a:ext>
            </a:extLst>
          </p:cNvPr>
          <p:cNvPicPr>
            <a:picLocks noChangeAspect="1"/>
          </p:cNvPicPr>
          <p:nvPr/>
        </p:nvPicPr>
        <p:blipFill>
          <a:blip r:embed="rId3"/>
          <a:stretch>
            <a:fillRect/>
          </a:stretch>
        </p:blipFill>
        <p:spPr>
          <a:xfrm>
            <a:off x="2629285" y="2290287"/>
            <a:ext cx="2166018" cy="762483"/>
          </a:xfrm>
          <a:prstGeom prst="rect">
            <a:avLst/>
          </a:prstGeom>
        </p:spPr>
      </p:pic>
      <p:pic>
        <p:nvPicPr>
          <p:cNvPr id="8" name="図 7">
            <a:extLst>
              <a:ext uri="{FF2B5EF4-FFF2-40B4-BE49-F238E27FC236}">
                <a16:creationId xmlns:a16="http://schemas.microsoft.com/office/drawing/2014/main" id="{84D1E44E-92B8-B060-DC73-7A65C3C6173F}"/>
              </a:ext>
            </a:extLst>
          </p:cNvPr>
          <p:cNvPicPr>
            <a:picLocks noChangeAspect="1"/>
          </p:cNvPicPr>
          <p:nvPr/>
        </p:nvPicPr>
        <p:blipFill>
          <a:blip r:embed="rId4"/>
          <a:stretch>
            <a:fillRect/>
          </a:stretch>
        </p:blipFill>
        <p:spPr>
          <a:xfrm>
            <a:off x="732463" y="3382653"/>
            <a:ext cx="1896822" cy="592757"/>
          </a:xfrm>
          <a:prstGeom prst="rect">
            <a:avLst/>
          </a:prstGeom>
        </p:spPr>
      </p:pic>
      <p:pic>
        <p:nvPicPr>
          <p:cNvPr id="10" name="図 9">
            <a:extLst>
              <a:ext uri="{FF2B5EF4-FFF2-40B4-BE49-F238E27FC236}">
                <a16:creationId xmlns:a16="http://schemas.microsoft.com/office/drawing/2014/main" id="{41BDD745-D379-657E-EEF9-DAE4405410CE}"/>
              </a:ext>
            </a:extLst>
          </p:cNvPr>
          <p:cNvPicPr>
            <a:picLocks noChangeAspect="1"/>
          </p:cNvPicPr>
          <p:nvPr/>
        </p:nvPicPr>
        <p:blipFill>
          <a:blip r:embed="rId5"/>
          <a:stretch>
            <a:fillRect/>
          </a:stretch>
        </p:blipFill>
        <p:spPr>
          <a:xfrm>
            <a:off x="2774924" y="3271855"/>
            <a:ext cx="1980643" cy="825268"/>
          </a:xfrm>
          <a:prstGeom prst="rect">
            <a:avLst/>
          </a:prstGeom>
        </p:spPr>
      </p:pic>
      <p:sp>
        <p:nvSpPr>
          <p:cNvPr id="11" name="二等辺三角形 10">
            <a:extLst>
              <a:ext uri="{FF2B5EF4-FFF2-40B4-BE49-F238E27FC236}">
                <a16:creationId xmlns:a16="http://schemas.microsoft.com/office/drawing/2014/main" id="{DE45D7C0-7CD3-BE83-DB56-A8A9A887F251}"/>
              </a:ext>
            </a:extLst>
          </p:cNvPr>
          <p:cNvSpPr/>
          <p:nvPr/>
        </p:nvSpPr>
        <p:spPr>
          <a:xfrm flipV="1">
            <a:off x="2404365" y="4661972"/>
            <a:ext cx="635214" cy="243054"/>
          </a:xfrm>
          <a:prstGeom prst="triangl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endParaRPr kumimoji="1" lang="ja-JP" altLang="en-US"/>
          </a:p>
        </p:txBody>
      </p:sp>
      <p:sp>
        <p:nvSpPr>
          <p:cNvPr id="12" name="正方形/長方形 11">
            <a:extLst>
              <a:ext uri="{FF2B5EF4-FFF2-40B4-BE49-F238E27FC236}">
                <a16:creationId xmlns:a16="http://schemas.microsoft.com/office/drawing/2014/main" id="{7FB401AD-59C1-FD46-42C1-D7E7B4A5CBEF}"/>
              </a:ext>
            </a:extLst>
          </p:cNvPr>
          <p:cNvSpPr/>
          <p:nvPr/>
        </p:nvSpPr>
        <p:spPr>
          <a:xfrm>
            <a:off x="5088187" y="1746891"/>
            <a:ext cx="2809027" cy="254724"/>
          </a:xfrm>
          <a:prstGeom prst="rect">
            <a:avLst/>
          </a:prstGeom>
          <a:solidFill>
            <a:schemeClr val="bg1"/>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r>
              <a:rPr kumimoji="1" lang="ja-JP" altLang="en-US" sz="1200" dirty="0">
                <a:solidFill>
                  <a:schemeClr val="tx1">
                    <a:lumMod val="75000"/>
                    <a:lumOff val="25000"/>
                  </a:schemeClr>
                </a:solidFill>
                <a:latin typeface="メイリオ" panose="020B0604030504040204" pitchFamily="50" charset="-128"/>
                <a:ea typeface="メイリオ" panose="020B0604030504040204" pitchFamily="50" charset="-128"/>
              </a:rPr>
              <a:t>▼参考：</a:t>
            </a:r>
            <a:r>
              <a:rPr kumimoji="1" lang="en-US" altLang="ja-JP" sz="1200" dirty="0">
                <a:solidFill>
                  <a:schemeClr val="tx1">
                    <a:lumMod val="75000"/>
                    <a:lumOff val="25000"/>
                  </a:schemeClr>
                </a:solidFill>
                <a:latin typeface="メイリオ" panose="020B0604030504040204" pitchFamily="50" charset="-128"/>
                <a:ea typeface="メイリオ" panose="020B0604030504040204" pitchFamily="50" charset="-128"/>
              </a:rPr>
              <a:t>L</a:t>
            </a:r>
            <a:r>
              <a:rPr kumimoji="1" lang="ja-JP" altLang="en-US" sz="1200" dirty="0">
                <a:solidFill>
                  <a:schemeClr val="tx1">
                    <a:lumMod val="75000"/>
                    <a:lumOff val="25000"/>
                  </a:schemeClr>
                </a:solidFill>
                <a:latin typeface="メイリオ" panose="020B0604030504040204" pitchFamily="50" charset="-128"/>
                <a:ea typeface="メイリオ" panose="020B0604030504040204" pitchFamily="50" charset="-128"/>
              </a:rPr>
              <a:t>ステップ</a:t>
            </a:r>
            <a:r>
              <a:rPr kumimoji="1" lang="en-US" altLang="ja-JP" sz="1200" dirty="0">
                <a:solidFill>
                  <a:schemeClr val="tx1">
                    <a:lumMod val="75000"/>
                    <a:lumOff val="25000"/>
                  </a:schemeClr>
                </a:solidFill>
                <a:latin typeface="メイリオ" panose="020B0604030504040204" pitchFamily="50" charset="-128"/>
                <a:ea typeface="メイリオ" panose="020B0604030504040204" pitchFamily="50" charset="-128"/>
              </a:rPr>
              <a:t>API</a:t>
            </a:r>
            <a:r>
              <a:rPr kumimoji="1" lang="ja-JP" altLang="en-US" sz="1200" dirty="0">
                <a:solidFill>
                  <a:schemeClr val="tx1">
                    <a:lumMod val="75000"/>
                    <a:lumOff val="25000"/>
                  </a:schemeClr>
                </a:solidFill>
                <a:latin typeface="メイリオ" panose="020B0604030504040204" pitchFamily="50" charset="-128"/>
                <a:ea typeface="メイリオ" panose="020B0604030504040204" pitchFamily="50" charset="-128"/>
              </a:rPr>
              <a:t>連携機能</a:t>
            </a:r>
          </a:p>
        </p:txBody>
      </p:sp>
      <p:pic>
        <p:nvPicPr>
          <p:cNvPr id="13" name="図 12">
            <a:extLst>
              <a:ext uri="{FF2B5EF4-FFF2-40B4-BE49-F238E27FC236}">
                <a16:creationId xmlns:a16="http://schemas.microsoft.com/office/drawing/2014/main" id="{CAF63C84-7FEF-612A-E123-4983B7F28BAA}"/>
              </a:ext>
            </a:extLst>
          </p:cNvPr>
          <p:cNvPicPr>
            <a:picLocks noChangeAspect="1"/>
          </p:cNvPicPr>
          <p:nvPr/>
        </p:nvPicPr>
        <p:blipFill>
          <a:blip r:embed="rId6"/>
          <a:stretch>
            <a:fillRect/>
          </a:stretch>
        </p:blipFill>
        <p:spPr>
          <a:xfrm>
            <a:off x="5088187" y="2053900"/>
            <a:ext cx="4493959" cy="4306708"/>
          </a:xfrm>
          <a:prstGeom prst="rect">
            <a:avLst/>
          </a:prstGeom>
        </p:spPr>
      </p:pic>
      <p:sp>
        <p:nvSpPr>
          <p:cNvPr id="14" name="Google Shape;752;p28">
            <a:extLst>
              <a:ext uri="{FF2B5EF4-FFF2-40B4-BE49-F238E27FC236}">
                <a16:creationId xmlns:a16="http://schemas.microsoft.com/office/drawing/2014/main" id="{87B68C46-3A5D-A74F-1932-7FA2CEB38DBA}"/>
              </a:ext>
            </a:extLst>
          </p:cNvPr>
          <p:cNvSpPr txBox="1"/>
          <p:nvPr/>
        </p:nvSpPr>
        <p:spPr>
          <a:xfrm>
            <a:off x="776105" y="864423"/>
            <a:ext cx="8353789" cy="523180"/>
          </a:xfrm>
          <a:prstGeom prst="rect">
            <a:avLst/>
          </a:prstGeom>
          <a:noFill/>
          <a:ln>
            <a:noFill/>
          </a:ln>
        </p:spPr>
        <p:txBody>
          <a:bodyPr spcFirstLastPara="1" wrap="square" lIns="91425" tIns="45700" rIns="91425" bIns="45700" anchor="ctr" anchorCtr="0">
            <a:spAutoFit/>
          </a:bodyPr>
          <a:lstStyle/>
          <a:p>
            <a:pPr lvl="0" algn="ctr"/>
            <a:r>
              <a:rPr lang="en-US" altLang="ja-JP" sz="1400" dirty="0">
                <a:latin typeface="メイリオ" panose="020B0604030504040204" pitchFamily="50" charset="-128"/>
                <a:ea typeface="メイリオ" panose="020B0604030504040204" pitchFamily="50" charset="-128"/>
                <a:cs typeface="Meiryo"/>
                <a:sym typeface="Meiryo"/>
              </a:rPr>
              <a:t>CRM</a:t>
            </a:r>
            <a:r>
              <a:rPr lang="ja-JP" altLang="en-US" sz="1400" dirty="0">
                <a:latin typeface="メイリオ" panose="020B0604030504040204" pitchFamily="50" charset="-128"/>
                <a:ea typeface="メイリオ" panose="020B0604030504040204" pitchFamily="50" charset="-128"/>
                <a:cs typeface="Meiryo"/>
                <a:sym typeface="Meiryo"/>
              </a:rPr>
              <a:t>、</a:t>
            </a:r>
            <a:r>
              <a:rPr lang="en-US" altLang="ja-JP" sz="1400" dirty="0">
                <a:latin typeface="メイリオ" panose="020B0604030504040204" pitchFamily="50" charset="-128"/>
                <a:ea typeface="メイリオ" panose="020B0604030504040204" pitchFamily="50" charset="-128"/>
                <a:cs typeface="Meiryo"/>
                <a:sym typeface="Meiryo"/>
              </a:rPr>
              <a:t>API</a:t>
            </a:r>
            <a:r>
              <a:rPr lang="ja-JP" altLang="en-US" sz="1400" dirty="0">
                <a:latin typeface="メイリオ" panose="020B0604030504040204" pitchFamily="50" charset="-128"/>
                <a:ea typeface="メイリオ" panose="020B0604030504040204" pitchFamily="50" charset="-128"/>
                <a:cs typeface="Meiryo"/>
                <a:sym typeface="Meiryo"/>
              </a:rPr>
              <a:t>ツールで要件定義を行いつつ、効率化及び詳細なセグメント設計を目的として、</a:t>
            </a:r>
            <a:endParaRPr lang="en-US" altLang="ja-JP" sz="1400" dirty="0">
              <a:latin typeface="メイリオ" panose="020B0604030504040204" pitchFamily="50" charset="-128"/>
              <a:ea typeface="メイリオ" panose="020B0604030504040204" pitchFamily="50" charset="-128"/>
              <a:cs typeface="Meiryo"/>
              <a:sym typeface="Meiryo"/>
            </a:endParaRPr>
          </a:p>
          <a:p>
            <a:pPr lvl="0" algn="ctr"/>
            <a:r>
              <a:rPr lang="ja-JP" altLang="en-US" sz="1400" dirty="0">
                <a:latin typeface="メイリオ" panose="020B0604030504040204" pitchFamily="50" charset="-128"/>
                <a:ea typeface="メイリオ" panose="020B0604030504040204" pitchFamily="50" charset="-128"/>
                <a:cs typeface="Meiryo"/>
                <a:sym typeface="Meiryo"/>
              </a:rPr>
              <a:t>貴社内の顧客管理（</a:t>
            </a:r>
            <a:r>
              <a:rPr lang="en-US" altLang="ja-JP" sz="1400" dirty="0">
                <a:latin typeface="メイリオ" panose="020B0604030504040204" pitchFamily="50" charset="-128"/>
                <a:ea typeface="メイリオ" panose="020B0604030504040204" pitchFamily="50" charset="-128"/>
                <a:cs typeface="Meiryo"/>
                <a:sym typeface="Meiryo"/>
              </a:rPr>
              <a:t>CRM</a:t>
            </a:r>
            <a:r>
              <a:rPr lang="ja-JP" altLang="en-US" sz="1400" dirty="0">
                <a:latin typeface="メイリオ" panose="020B0604030504040204" pitchFamily="50" charset="-128"/>
                <a:ea typeface="メイリオ" panose="020B0604030504040204" pitchFamily="50" charset="-128"/>
                <a:cs typeface="Meiryo"/>
                <a:sym typeface="Meiryo"/>
              </a:rPr>
              <a:t>）ツールとの連携の実施も可能です。</a:t>
            </a:r>
            <a:r>
              <a:rPr lang="ja-JP" altLang="en-US" sz="1100" dirty="0">
                <a:solidFill>
                  <a:srgbClr val="FF0000"/>
                </a:solidFill>
                <a:latin typeface="メイリオ" panose="020B0604030504040204" pitchFamily="50" charset="-128"/>
                <a:ea typeface="メイリオ" panose="020B0604030504040204" pitchFamily="50" charset="-128"/>
                <a:cs typeface="Meiryo"/>
                <a:sym typeface="Meiryo"/>
              </a:rPr>
              <a:t> </a:t>
            </a:r>
            <a:r>
              <a:rPr lang="en-US" altLang="ja-JP" sz="1100" dirty="0">
                <a:solidFill>
                  <a:srgbClr val="FF0000"/>
                </a:solidFill>
                <a:latin typeface="メイリオ" panose="020B0604030504040204" pitchFamily="50" charset="-128"/>
                <a:ea typeface="メイリオ" panose="020B0604030504040204" pitchFamily="50" charset="-128"/>
                <a:cs typeface="Meiryo"/>
                <a:sym typeface="Meiryo"/>
              </a:rPr>
              <a:t>※</a:t>
            </a:r>
            <a:r>
              <a:rPr lang="ja-JP" altLang="en-US" sz="1100" dirty="0">
                <a:solidFill>
                  <a:srgbClr val="FF0000"/>
                </a:solidFill>
                <a:latin typeface="メイリオ" panose="020B0604030504040204" pitchFamily="50" charset="-128"/>
                <a:ea typeface="メイリオ" panose="020B0604030504040204" pitchFamily="50" charset="-128"/>
                <a:cs typeface="Meiryo"/>
                <a:sym typeface="Meiryo"/>
              </a:rPr>
              <a:t>開発は別途費用</a:t>
            </a:r>
            <a:endParaRPr lang="en-US" altLang="ja-JP" sz="1400" dirty="0">
              <a:solidFill>
                <a:srgbClr val="FF0000"/>
              </a:solidFill>
              <a:latin typeface="メイリオ" panose="020B0604030504040204" pitchFamily="50" charset="-128"/>
              <a:ea typeface="メイリオ" panose="020B0604030504040204" pitchFamily="50" charset="-128"/>
              <a:cs typeface="Meiryo"/>
              <a:sym typeface="Meiryo"/>
            </a:endParaRPr>
          </a:p>
        </p:txBody>
      </p:sp>
      <p:pic>
        <p:nvPicPr>
          <p:cNvPr id="16" name="図 15">
            <a:extLst>
              <a:ext uri="{FF2B5EF4-FFF2-40B4-BE49-F238E27FC236}">
                <a16:creationId xmlns:a16="http://schemas.microsoft.com/office/drawing/2014/main" id="{03191DAC-E9A0-5CCA-8AC1-DD7587146EC0}"/>
              </a:ext>
            </a:extLst>
          </p:cNvPr>
          <p:cNvPicPr>
            <a:picLocks noChangeAspect="1"/>
          </p:cNvPicPr>
          <p:nvPr/>
        </p:nvPicPr>
        <p:blipFill>
          <a:blip r:embed="rId7"/>
          <a:stretch>
            <a:fillRect/>
          </a:stretch>
        </p:blipFill>
        <p:spPr>
          <a:xfrm>
            <a:off x="8356962" y="3138694"/>
            <a:ext cx="1225184" cy="371527"/>
          </a:xfrm>
          <a:prstGeom prst="rect">
            <a:avLst/>
          </a:prstGeom>
        </p:spPr>
      </p:pic>
      <p:sp>
        <p:nvSpPr>
          <p:cNvPr id="18" name="正方形/長方形 17">
            <a:extLst>
              <a:ext uri="{FF2B5EF4-FFF2-40B4-BE49-F238E27FC236}">
                <a16:creationId xmlns:a16="http://schemas.microsoft.com/office/drawing/2014/main" id="{6556E7C3-00CD-61AD-290A-ADC705BB4ED2}"/>
              </a:ext>
            </a:extLst>
          </p:cNvPr>
          <p:cNvSpPr/>
          <p:nvPr/>
        </p:nvSpPr>
        <p:spPr>
          <a:xfrm>
            <a:off x="7392816" y="2667912"/>
            <a:ext cx="1404514" cy="704678"/>
          </a:xfrm>
          <a:prstGeom prst="rect">
            <a:avLst/>
          </a:prstGeom>
          <a:solidFill>
            <a:schemeClr val="bg1"/>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r>
              <a:rPr kumimoji="1" lang="en-US" altLang="ja-JP" sz="1200" dirty="0">
                <a:solidFill>
                  <a:schemeClr val="tx1">
                    <a:lumMod val="75000"/>
                    <a:lumOff val="25000"/>
                  </a:schemeClr>
                </a:solidFill>
                <a:latin typeface="メイリオ" panose="020B0604030504040204" pitchFamily="50" charset="-128"/>
                <a:ea typeface="メイリオ" panose="020B0604030504040204" pitchFamily="50" charset="-128"/>
              </a:rPr>
              <a:t>LINE</a:t>
            </a:r>
            <a:r>
              <a:rPr kumimoji="1" lang="ja-JP" altLang="en-US" sz="1200" dirty="0">
                <a:solidFill>
                  <a:schemeClr val="tx1">
                    <a:lumMod val="75000"/>
                    <a:lumOff val="25000"/>
                  </a:schemeClr>
                </a:solidFill>
                <a:latin typeface="メイリオ" panose="020B0604030504040204" pitchFamily="50" charset="-128"/>
                <a:ea typeface="メイリオ" panose="020B0604030504040204" pitchFamily="50" charset="-128"/>
              </a:rPr>
              <a:t>公式と</a:t>
            </a:r>
            <a:r>
              <a:rPr kumimoji="1" lang="en-US" altLang="ja-JP" sz="1200" dirty="0">
                <a:solidFill>
                  <a:schemeClr val="tx1">
                    <a:lumMod val="75000"/>
                    <a:lumOff val="25000"/>
                  </a:schemeClr>
                </a:solidFill>
                <a:latin typeface="メイリオ" panose="020B0604030504040204" pitchFamily="50" charset="-128"/>
                <a:ea typeface="メイリオ" panose="020B0604030504040204" pitchFamily="50" charset="-128"/>
              </a:rPr>
              <a:t>API</a:t>
            </a:r>
            <a:r>
              <a:rPr kumimoji="1" lang="ja-JP" altLang="en-US" sz="1200" dirty="0">
                <a:solidFill>
                  <a:schemeClr val="tx1">
                    <a:lumMod val="75000"/>
                    <a:lumOff val="25000"/>
                  </a:schemeClr>
                </a:solidFill>
                <a:latin typeface="メイリオ" panose="020B0604030504040204" pitchFamily="50" charset="-128"/>
                <a:ea typeface="メイリオ" panose="020B0604030504040204" pitchFamily="50" charset="-128"/>
              </a:rPr>
              <a:t>ツール間の</a:t>
            </a:r>
            <a:endParaRPr kumimoji="1" lang="en-US" altLang="ja-JP" sz="1200" dirty="0">
              <a:solidFill>
                <a:schemeClr val="tx1">
                  <a:lumMod val="75000"/>
                  <a:lumOff val="25000"/>
                </a:schemeClr>
              </a:solidFill>
              <a:latin typeface="メイリオ" panose="020B0604030504040204" pitchFamily="50" charset="-128"/>
              <a:ea typeface="メイリオ" panose="020B0604030504040204" pitchFamily="50" charset="-128"/>
            </a:endParaRPr>
          </a:p>
          <a:p>
            <a:r>
              <a:rPr lang="ja-JP" altLang="en-US" sz="1200" dirty="0">
                <a:solidFill>
                  <a:schemeClr val="tx1">
                    <a:lumMod val="75000"/>
                    <a:lumOff val="25000"/>
                  </a:schemeClr>
                </a:solidFill>
                <a:latin typeface="メイリオ" panose="020B0604030504040204" pitchFamily="50" charset="-128"/>
                <a:ea typeface="メイリオ" panose="020B0604030504040204" pitchFamily="50" charset="-128"/>
              </a:rPr>
              <a:t>情報連携</a:t>
            </a:r>
            <a:endParaRPr kumimoji="1" lang="ja-JP" altLang="en-US" sz="1200" dirty="0">
              <a:solidFill>
                <a:schemeClr val="tx1">
                  <a:lumMod val="75000"/>
                  <a:lumOff val="25000"/>
                </a:schemeClr>
              </a:solidFill>
              <a:latin typeface="メイリオ" panose="020B0604030504040204" pitchFamily="50" charset="-128"/>
              <a:ea typeface="メイリオ" panose="020B0604030504040204" pitchFamily="50" charset="-128"/>
            </a:endParaRPr>
          </a:p>
        </p:txBody>
      </p:sp>
      <p:sp>
        <p:nvSpPr>
          <p:cNvPr id="19" name="正方形/長方形 18">
            <a:extLst>
              <a:ext uri="{FF2B5EF4-FFF2-40B4-BE49-F238E27FC236}">
                <a16:creationId xmlns:a16="http://schemas.microsoft.com/office/drawing/2014/main" id="{ECFC83DD-87A7-DC53-4B5A-DD088FDF4D20}"/>
              </a:ext>
            </a:extLst>
          </p:cNvPr>
          <p:cNvSpPr/>
          <p:nvPr/>
        </p:nvSpPr>
        <p:spPr>
          <a:xfrm>
            <a:off x="5873920" y="2711430"/>
            <a:ext cx="989184" cy="423766"/>
          </a:xfrm>
          <a:prstGeom prst="rect">
            <a:avLst/>
          </a:prstGeom>
          <a:solidFill>
            <a:schemeClr val="bg1"/>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r>
              <a:rPr kumimoji="1" lang="ja-JP" altLang="en-US" sz="1200" dirty="0">
                <a:solidFill>
                  <a:schemeClr val="tx1">
                    <a:lumMod val="75000"/>
                    <a:lumOff val="25000"/>
                  </a:schemeClr>
                </a:solidFill>
                <a:latin typeface="メイリオ" panose="020B0604030504040204" pitchFamily="50" charset="-128"/>
                <a:ea typeface="メイリオ" panose="020B0604030504040204" pitchFamily="50" charset="-128"/>
              </a:rPr>
              <a:t>メッセ送信</a:t>
            </a:r>
          </a:p>
        </p:txBody>
      </p:sp>
    </p:spTree>
    <p:extLst>
      <p:ext uri="{BB962C8B-B14F-4D97-AF65-F5344CB8AC3E}">
        <p14:creationId xmlns:p14="http://schemas.microsoft.com/office/powerpoint/2010/main" val="982649736"/>
      </p:ext>
    </p:extLst>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8" name="Google Shape;156;p7"/>
          <p:cNvSpPr txBox="1"/>
          <p:nvPr/>
        </p:nvSpPr>
        <p:spPr>
          <a:xfrm>
            <a:off x="548883" y="138118"/>
            <a:ext cx="6514857" cy="338554"/>
          </a:xfrm>
          <a:prstGeom prst="rect">
            <a:avLst/>
          </a:prstGeom>
          <a:noFill/>
          <a:ln>
            <a:noFill/>
          </a:ln>
        </p:spPr>
        <p:txBody>
          <a:bodyPr spcFirstLastPara="1" wrap="square" lIns="91425" tIns="45700" rIns="91425" bIns="45700" anchor="ctr" anchorCtr="0">
            <a:spAutoFit/>
          </a:bodyPr>
          <a:lstStyle/>
          <a:p>
            <a:pPr marL="0" marR="0" lvl="0" indent="0" algn="l" rtl="0">
              <a:spcBef>
                <a:spcPts val="0"/>
              </a:spcBef>
              <a:spcAft>
                <a:spcPts val="0"/>
              </a:spcAft>
              <a:buClr>
                <a:srgbClr val="002060"/>
              </a:buClr>
              <a:buSzPts val="1600"/>
              <a:buFont typeface="Arial"/>
              <a:buNone/>
            </a:pPr>
            <a:r>
              <a:rPr lang="ja-JP" altLang="en-US" sz="1600" b="1" dirty="0">
                <a:solidFill>
                  <a:srgbClr val="002060"/>
                </a:solidFill>
                <a:latin typeface="Meiryo"/>
                <a:ea typeface="Meiryo"/>
                <a:cs typeface="Meiryo"/>
                <a:sym typeface="Meiryo"/>
              </a:rPr>
              <a:t>その他 代表的な活用機能</a:t>
            </a:r>
            <a:endParaRPr sz="1600" b="1" dirty="0">
              <a:solidFill>
                <a:srgbClr val="002060"/>
              </a:solidFill>
              <a:latin typeface="Meiryo"/>
              <a:ea typeface="Meiryo"/>
              <a:cs typeface="Meiryo"/>
              <a:sym typeface="Meiryo"/>
            </a:endParaRPr>
          </a:p>
        </p:txBody>
      </p:sp>
      <p:sp>
        <p:nvSpPr>
          <p:cNvPr id="8" name="正方形/長方形 7"/>
          <p:cNvSpPr/>
          <p:nvPr/>
        </p:nvSpPr>
        <p:spPr>
          <a:xfrm>
            <a:off x="295583" y="823033"/>
            <a:ext cx="2541320" cy="485775"/>
          </a:xfrm>
          <a:prstGeom prst="rect">
            <a:avLst/>
          </a:prstGeom>
          <a:solidFill>
            <a:srgbClr val="00206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ja-JP" altLang="en-US" sz="1600" b="1" dirty="0">
                <a:latin typeface="メイリオ" panose="020B0604030504040204" pitchFamily="50" charset="-128"/>
                <a:ea typeface="メイリオ" panose="020B0604030504040204" pitchFamily="50" charset="-128"/>
              </a:rPr>
              <a:t>ミニアプリ</a:t>
            </a:r>
            <a:endParaRPr lang="en-US" altLang="ja-JP" sz="1600" b="1" dirty="0">
              <a:latin typeface="メイリオ" panose="020B0604030504040204" pitchFamily="50" charset="-128"/>
              <a:ea typeface="メイリオ" panose="020B0604030504040204" pitchFamily="50" charset="-128"/>
            </a:endParaRPr>
          </a:p>
        </p:txBody>
      </p:sp>
      <p:pic>
        <p:nvPicPr>
          <p:cNvPr id="15" name="図 14"/>
          <p:cNvPicPr>
            <a:picLocks noChangeAspect="1"/>
          </p:cNvPicPr>
          <p:nvPr/>
        </p:nvPicPr>
        <p:blipFill>
          <a:blip r:embed="rId2"/>
          <a:stretch>
            <a:fillRect/>
          </a:stretch>
        </p:blipFill>
        <p:spPr>
          <a:xfrm>
            <a:off x="395078" y="4223656"/>
            <a:ext cx="4883652" cy="2255298"/>
          </a:xfrm>
          <a:prstGeom prst="rect">
            <a:avLst/>
          </a:prstGeom>
        </p:spPr>
      </p:pic>
      <p:pic>
        <p:nvPicPr>
          <p:cNvPr id="16" name="図 15"/>
          <p:cNvPicPr>
            <a:picLocks noChangeAspect="1"/>
          </p:cNvPicPr>
          <p:nvPr/>
        </p:nvPicPr>
        <p:blipFill>
          <a:blip r:embed="rId3"/>
          <a:stretch>
            <a:fillRect/>
          </a:stretch>
        </p:blipFill>
        <p:spPr>
          <a:xfrm>
            <a:off x="5447610" y="4291935"/>
            <a:ext cx="4377759" cy="1962444"/>
          </a:xfrm>
          <a:prstGeom prst="rect">
            <a:avLst/>
          </a:prstGeom>
        </p:spPr>
      </p:pic>
      <p:pic>
        <p:nvPicPr>
          <p:cNvPr id="17" name="図 16"/>
          <p:cNvPicPr>
            <a:picLocks noChangeAspect="1"/>
          </p:cNvPicPr>
          <p:nvPr/>
        </p:nvPicPr>
        <p:blipFill>
          <a:blip r:embed="rId4"/>
          <a:stretch>
            <a:fillRect/>
          </a:stretch>
        </p:blipFill>
        <p:spPr>
          <a:xfrm>
            <a:off x="295583" y="1824445"/>
            <a:ext cx="5881033" cy="2266757"/>
          </a:xfrm>
          <a:prstGeom prst="rect">
            <a:avLst/>
          </a:prstGeom>
        </p:spPr>
      </p:pic>
      <p:sp>
        <p:nvSpPr>
          <p:cNvPr id="2" name="正方形/長方形 1"/>
          <p:cNvSpPr/>
          <p:nvPr/>
        </p:nvSpPr>
        <p:spPr>
          <a:xfrm>
            <a:off x="2971109" y="823033"/>
            <a:ext cx="6669279" cy="584775"/>
          </a:xfrm>
          <a:prstGeom prst="rect">
            <a:avLst/>
          </a:prstGeom>
        </p:spPr>
        <p:txBody>
          <a:bodyPr wrap="square">
            <a:spAutoFit/>
          </a:bodyPr>
          <a:lstStyle/>
          <a:p>
            <a:pPr lvl="0">
              <a:buClr>
                <a:srgbClr val="002060"/>
              </a:buClr>
              <a:buSzPts val="1600"/>
            </a:pPr>
            <a:r>
              <a:rPr lang="en-US" altLang="ja-JP" sz="1600" b="1" dirty="0">
                <a:solidFill>
                  <a:schemeClr val="tx1">
                    <a:lumMod val="65000"/>
                    <a:lumOff val="35000"/>
                  </a:schemeClr>
                </a:solidFill>
                <a:latin typeface="Meiryo"/>
                <a:ea typeface="Meiryo"/>
                <a:cs typeface="Meiryo"/>
                <a:sym typeface="Meiryo"/>
              </a:rPr>
              <a:t>LINE</a:t>
            </a:r>
            <a:r>
              <a:rPr lang="ja-JP" altLang="en-US" sz="1600" b="1" dirty="0">
                <a:solidFill>
                  <a:schemeClr val="tx1">
                    <a:lumMod val="65000"/>
                    <a:lumOff val="35000"/>
                  </a:schemeClr>
                </a:solidFill>
                <a:latin typeface="Meiryo"/>
                <a:ea typeface="Meiryo"/>
                <a:cs typeface="Meiryo"/>
                <a:sym typeface="Meiryo"/>
              </a:rPr>
              <a:t>内で活用できるミニアプリでは、ゲームや抽選といった機能を</a:t>
            </a:r>
            <a:endParaRPr lang="en-US" altLang="ja-JP" sz="1600" b="1" dirty="0">
              <a:solidFill>
                <a:schemeClr val="tx1">
                  <a:lumMod val="65000"/>
                  <a:lumOff val="35000"/>
                </a:schemeClr>
              </a:solidFill>
              <a:latin typeface="Meiryo"/>
              <a:ea typeface="Meiryo"/>
              <a:cs typeface="Meiryo"/>
              <a:sym typeface="Meiryo"/>
            </a:endParaRPr>
          </a:p>
          <a:p>
            <a:pPr lvl="0">
              <a:buClr>
                <a:srgbClr val="002060"/>
              </a:buClr>
              <a:buSzPts val="1600"/>
            </a:pPr>
            <a:r>
              <a:rPr lang="ja-JP" altLang="en-US" sz="1600" b="1" dirty="0">
                <a:solidFill>
                  <a:schemeClr val="tx1">
                    <a:lumMod val="65000"/>
                    <a:lumOff val="35000"/>
                  </a:schemeClr>
                </a:solidFill>
                <a:latin typeface="Meiryo"/>
                <a:ea typeface="Meiryo"/>
                <a:cs typeface="Meiryo"/>
                <a:sym typeface="Meiryo"/>
              </a:rPr>
              <a:t>アプリ開発よりも大幅に格安な価格帯で利用できるサービス。</a:t>
            </a:r>
            <a:endParaRPr lang="en-US" altLang="ja-JP" sz="1600" b="1" dirty="0">
              <a:solidFill>
                <a:schemeClr val="tx1">
                  <a:lumMod val="65000"/>
                  <a:lumOff val="35000"/>
                </a:schemeClr>
              </a:solidFill>
              <a:latin typeface="Meiryo"/>
              <a:ea typeface="Meiryo"/>
              <a:cs typeface="Meiryo"/>
              <a:sym typeface="Meiryo"/>
            </a:endParaRPr>
          </a:p>
        </p:txBody>
      </p:sp>
    </p:spTree>
    <p:extLst>
      <p:ext uri="{BB962C8B-B14F-4D97-AF65-F5344CB8AC3E}">
        <p14:creationId xmlns:p14="http://schemas.microsoft.com/office/powerpoint/2010/main" val="3939997984"/>
      </p:ext>
    </p:extLst>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5D5022E-E793-10B7-A063-757EDCFFDB08}"/>
            </a:ext>
          </a:extLst>
        </p:cNvPr>
        <p:cNvGrpSpPr/>
        <p:nvPr/>
      </p:nvGrpSpPr>
      <p:grpSpPr>
        <a:xfrm>
          <a:off x="0" y="0"/>
          <a:ext cx="0" cy="0"/>
          <a:chOff x="0" y="0"/>
          <a:chExt cx="0" cy="0"/>
        </a:xfrm>
      </p:grpSpPr>
      <p:sp>
        <p:nvSpPr>
          <p:cNvPr id="43" name="Google Shape;156;p7"/>
          <p:cNvSpPr txBox="1"/>
          <p:nvPr/>
        </p:nvSpPr>
        <p:spPr>
          <a:xfrm>
            <a:off x="548883" y="138118"/>
            <a:ext cx="6514857" cy="338554"/>
          </a:xfrm>
          <a:prstGeom prst="rect">
            <a:avLst/>
          </a:prstGeom>
          <a:noFill/>
          <a:ln>
            <a:noFill/>
          </a:ln>
        </p:spPr>
        <p:txBody>
          <a:bodyPr spcFirstLastPara="1" wrap="square" lIns="91425" tIns="45700" rIns="91425" bIns="45700" anchor="ctr" anchorCtr="0">
            <a:spAutoFit/>
          </a:bodyPr>
          <a:lstStyle/>
          <a:p>
            <a:pPr lvl="0">
              <a:buClr>
                <a:srgbClr val="002060"/>
              </a:buClr>
              <a:buSzPts val="1600"/>
            </a:pPr>
            <a:r>
              <a:rPr lang="ja-JP" altLang="en-US" sz="1600" b="1" dirty="0">
                <a:solidFill>
                  <a:srgbClr val="002060"/>
                </a:solidFill>
                <a:latin typeface="Meiryo"/>
                <a:ea typeface="Meiryo"/>
                <a:cs typeface="Meiryo"/>
                <a:sym typeface="Meiryo"/>
              </a:rPr>
              <a:t>その他 代表的な活用機能</a:t>
            </a:r>
          </a:p>
        </p:txBody>
      </p:sp>
      <p:sp>
        <p:nvSpPr>
          <p:cNvPr id="28" name="正方形/長方形 27"/>
          <p:cNvSpPr/>
          <p:nvPr/>
        </p:nvSpPr>
        <p:spPr>
          <a:xfrm>
            <a:off x="209578" y="1455366"/>
            <a:ext cx="7160935" cy="584775"/>
          </a:xfrm>
          <a:prstGeom prst="rect">
            <a:avLst/>
          </a:prstGeom>
        </p:spPr>
        <p:txBody>
          <a:bodyPr wrap="none">
            <a:spAutoFit/>
          </a:bodyPr>
          <a:lstStyle/>
          <a:p>
            <a:pPr lvl="0">
              <a:buClr>
                <a:srgbClr val="002060"/>
              </a:buClr>
              <a:buSzPts val="1600"/>
            </a:pPr>
            <a:r>
              <a:rPr lang="ja-JP" altLang="en-US" sz="1600" b="1" dirty="0">
                <a:solidFill>
                  <a:schemeClr val="tx1">
                    <a:lumMod val="65000"/>
                    <a:lumOff val="35000"/>
                  </a:schemeClr>
                </a:solidFill>
                <a:latin typeface="Meiryo"/>
                <a:ea typeface="Meiryo"/>
                <a:cs typeface="Meiryo"/>
                <a:sym typeface="Meiryo"/>
              </a:rPr>
              <a:t>「</a:t>
            </a:r>
            <a:r>
              <a:rPr lang="en-US" altLang="ja-JP" sz="1600" b="1" dirty="0">
                <a:solidFill>
                  <a:schemeClr val="tx1">
                    <a:lumMod val="65000"/>
                    <a:lumOff val="35000"/>
                  </a:schemeClr>
                </a:solidFill>
                <a:latin typeface="Meiryo"/>
                <a:ea typeface="Meiryo"/>
                <a:cs typeface="Meiryo"/>
                <a:sym typeface="Meiryo"/>
              </a:rPr>
              <a:t>LINE</a:t>
            </a:r>
            <a:r>
              <a:rPr lang="ja-JP" altLang="en-US" sz="1600" b="1" dirty="0">
                <a:solidFill>
                  <a:schemeClr val="tx1">
                    <a:lumMod val="65000"/>
                    <a:lumOff val="35000"/>
                  </a:schemeClr>
                </a:solidFill>
                <a:latin typeface="Meiryo"/>
                <a:ea typeface="Meiryo"/>
                <a:cs typeface="Meiryo"/>
                <a:sym typeface="Meiryo"/>
              </a:rPr>
              <a:t>チャット</a:t>
            </a:r>
            <a:r>
              <a:rPr lang="en-US" altLang="ja-JP" sz="1600" b="1" dirty="0">
                <a:solidFill>
                  <a:schemeClr val="tx1">
                    <a:lumMod val="65000"/>
                    <a:lumOff val="35000"/>
                  </a:schemeClr>
                </a:solidFill>
                <a:latin typeface="Meiryo"/>
                <a:ea typeface="Meiryo"/>
                <a:cs typeface="Meiryo"/>
                <a:sym typeface="Meiryo"/>
              </a:rPr>
              <a:t>Plus</a:t>
            </a:r>
            <a:r>
              <a:rPr lang="ja-JP" altLang="en-US" sz="1600" b="1" dirty="0">
                <a:solidFill>
                  <a:schemeClr val="tx1">
                    <a:lumMod val="65000"/>
                    <a:lumOff val="35000"/>
                  </a:schemeClr>
                </a:solidFill>
                <a:latin typeface="Meiryo"/>
                <a:ea typeface="Meiryo"/>
                <a:cs typeface="Meiryo"/>
                <a:sym typeface="Meiryo"/>
              </a:rPr>
              <a:t>」は、</a:t>
            </a:r>
            <a:r>
              <a:rPr lang="en-US" altLang="ja-JP" sz="1600" b="1" dirty="0">
                <a:solidFill>
                  <a:schemeClr val="tx1">
                    <a:lumMod val="65000"/>
                    <a:lumOff val="35000"/>
                  </a:schemeClr>
                </a:solidFill>
                <a:latin typeface="Meiryo"/>
                <a:ea typeface="Meiryo"/>
                <a:cs typeface="Meiryo"/>
                <a:sym typeface="Meiryo"/>
              </a:rPr>
              <a:t>FAQ</a:t>
            </a:r>
            <a:r>
              <a:rPr lang="ja-JP" altLang="en-US" sz="1600" b="1" dirty="0">
                <a:solidFill>
                  <a:schemeClr val="tx1">
                    <a:lumMod val="65000"/>
                    <a:lumOff val="35000"/>
                  </a:schemeClr>
                </a:solidFill>
                <a:latin typeface="Meiryo"/>
                <a:ea typeface="Meiryo"/>
                <a:cs typeface="Meiryo"/>
                <a:sym typeface="Meiryo"/>
              </a:rPr>
              <a:t>をもとにした</a:t>
            </a:r>
            <a:r>
              <a:rPr lang="en-US" altLang="ja-JP" sz="1600" b="1" dirty="0">
                <a:solidFill>
                  <a:schemeClr val="tx1">
                    <a:lumMod val="65000"/>
                    <a:lumOff val="35000"/>
                  </a:schemeClr>
                </a:solidFill>
                <a:latin typeface="Meiryo"/>
                <a:ea typeface="Meiryo"/>
                <a:cs typeface="Meiryo"/>
                <a:sym typeface="Meiryo"/>
              </a:rPr>
              <a:t>AI</a:t>
            </a:r>
            <a:r>
              <a:rPr lang="ja-JP" altLang="en-US" sz="1600" b="1" dirty="0">
                <a:solidFill>
                  <a:schemeClr val="tx1">
                    <a:lumMod val="65000"/>
                    <a:lumOff val="35000"/>
                  </a:schemeClr>
                </a:solidFill>
                <a:latin typeface="Meiryo"/>
                <a:ea typeface="Meiryo"/>
                <a:cs typeface="Meiryo"/>
                <a:sym typeface="Meiryo"/>
              </a:rPr>
              <a:t>による自動応答や、</a:t>
            </a:r>
            <a:endParaRPr lang="en-US" altLang="ja-JP" sz="1600" b="1" dirty="0">
              <a:solidFill>
                <a:schemeClr val="tx1">
                  <a:lumMod val="65000"/>
                  <a:lumOff val="35000"/>
                </a:schemeClr>
              </a:solidFill>
              <a:latin typeface="Meiryo"/>
              <a:ea typeface="Meiryo"/>
              <a:cs typeface="Meiryo"/>
              <a:sym typeface="Meiryo"/>
            </a:endParaRPr>
          </a:p>
          <a:p>
            <a:pPr lvl="0">
              <a:buClr>
                <a:srgbClr val="002060"/>
              </a:buClr>
              <a:buSzPts val="1600"/>
            </a:pPr>
            <a:r>
              <a:rPr lang="ja-JP" altLang="en-US" sz="1600" b="1" dirty="0">
                <a:solidFill>
                  <a:schemeClr val="tx1">
                    <a:lumMod val="65000"/>
                    <a:lumOff val="35000"/>
                  </a:schemeClr>
                </a:solidFill>
                <a:latin typeface="Meiryo"/>
                <a:ea typeface="Meiryo"/>
                <a:cs typeface="Meiryo"/>
                <a:sym typeface="Meiryo"/>
              </a:rPr>
              <a:t>有人でのチャット対応による細かなサポートを可能にするオプション機能。</a:t>
            </a:r>
            <a:endParaRPr lang="en-US" altLang="ja-JP" sz="1600" b="1" dirty="0">
              <a:solidFill>
                <a:schemeClr val="tx1">
                  <a:lumMod val="65000"/>
                  <a:lumOff val="35000"/>
                </a:schemeClr>
              </a:solidFill>
              <a:latin typeface="Meiryo"/>
              <a:ea typeface="Meiryo"/>
              <a:cs typeface="Meiryo"/>
              <a:sym typeface="Meiryo"/>
            </a:endParaRPr>
          </a:p>
        </p:txBody>
      </p:sp>
      <p:sp>
        <p:nvSpPr>
          <p:cNvPr id="29" name="正方形/長方形 28"/>
          <p:cNvSpPr/>
          <p:nvPr/>
        </p:nvSpPr>
        <p:spPr>
          <a:xfrm>
            <a:off x="295583" y="823033"/>
            <a:ext cx="2541320" cy="485775"/>
          </a:xfrm>
          <a:prstGeom prst="rect">
            <a:avLst/>
          </a:prstGeom>
          <a:solidFill>
            <a:srgbClr val="00206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ja-JP" sz="1600" b="1" dirty="0">
                <a:latin typeface="メイリオ" panose="020B0604030504040204" pitchFamily="50" charset="-128"/>
                <a:ea typeface="メイリオ" panose="020B0604030504040204" pitchFamily="50" charset="-128"/>
              </a:rPr>
              <a:t>【</a:t>
            </a:r>
            <a:r>
              <a:rPr lang="en-US" altLang="ja-JP" sz="1600" b="1" dirty="0" err="1">
                <a:latin typeface="メイリオ" panose="020B0604030504040204" pitchFamily="50" charset="-128"/>
                <a:ea typeface="メイリオ" panose="020B0604030504040204" pitchFamily="50" charset="-128"/>
              </a:rPr>
              <a:t>LINE】Chat</a:t>
            </a:r>
            <a:r>
              <a:rPr lang="en-US" altLang="ja-JP" sz="1600" b="1" dirty="0">
                <a:latin typeface="メイリオ" panose="020B0604030504040204" pitchFamily="50" charset="-128"/>
                <a:ea typeface="メイリオ" panose="020B0604030504040204" pitchFamily="50" charset="-128"/>
              </a:rPr>
              <a:t> Plus</a:t>
            </a:r>
          </a:p>
        </p:txBody>
      </p:sp>
      <p:sp>
        <p:nvSpPr>
          <p:cNvPr id="30" name="角丸四角形 29"/>
          <p:cNvSpPr/>
          <p:nvPr/>
        </p:nvSpPr>
        <p:spPr>
          <a:xfrm>
            <a:off x="548883" y="2287502"/>
            <a:ext cx="4031506" cy="4199137"/>
          </a:xfrm>
          <a:prstGeom prst="roundRect">
            <a:avLst>
              <a:gd name="adj" fmla="val 3567"/>
            </a:avLst>
          </a:prstGeom>
          <a:solidFill>
            <a:srgbClr val="FFFFFF">
              <a:lumMod val="95000"/>
            </a:srgbClr>
          </a:solidFill>
          <a:ln w="25400" cap="flat" cmpd="sng" algn="ctr">
            <a:solidFill>
              <a:srgbClr val="FFFFFF">
                <a:lumMod val="85000"/>
              </a:srgbClr>
            </a:solidFill>
            <a:prstDash val="solid"/>
          </a:ln>
          <a:effectLst/>
        </p:spPr>
        <p:txBody>
          <a:bodyPr rtlCol="0" anchor="ctr"/>
          <a:lstStyle/>
          <a:p>
            <a:pPr marL="0" marR="0" lvl="0" indent="0" algn="ctr" defTabSz="914400" eaLnBrk="1" fontAlgn="auto" latinLnBrk="0" hangingPunct="1">
              <a:lnSpc>
                <a:spcPct val="100000"/>
              </a:lnSpc>
              <a:spcBef>
                <a:spcPts val="0"/>
              </a:spcBef>
              <a:spcAft>
                <a:spcPts val="0"/>
              </a:spcAft>
              <a:buClr>
                <a:srgbClr val="000000"/>
              </a:buClr>
              <a:buSzTx/>
              <a:buFont typeface="Arial"/>
              <a:buNone/>
              <a:tabLst/>
              <a:defRPr/>
            </a:pPr>
            <a:endParaRPr kumimoji="0" lang="ja-JP" altLang="en-US" sz="1400" b="0" i="0" u="none" strike="noStrike" kern="0" cap="none" spc="0" normalizeH="0" baseline="0" noProof="0">
              <a:ln>
                <a:noFill/>
              </a:ln>
              <a:solidFill>
                <a:srgbClr val="FFFFFF"/>
              </a:solidFill>
              <a:effectLst/>
              <a:uLnTx/>
              <a:uFillTx/>
              <a:latin typeface="Arial"/>
              <a:ea typeface="ＭＳ Ｐゴシック" panose="020B0600070205080204" pitchFamily="50" charset="-128"/>
              <a:cs typeface="+mn-cs"/>
              <a:sym typeface="Arial"/>
            </a:endParaRPr>
          </a:p>
        </p:txBody>
      </p:sp>
      <p:pic>
        <p:nvPicPr>
          <p:cNvPr id="3" name="図 2"/>
          <p:cNvPicPr>
            <a:picLocks noChangeAspect="1"/>
          </p:cNvPicPr>
          <p:nvPr/>
        </p:nvPicPr>
        <p:blipFill rotWithShape="1">
          <a:blip r:embed="rId2" cstate="print">
            <a:extLst>
              <a:ext uri="{28A0092B-C50C-407E-A947-70E740481C1C}">
                <a14:useLocalDpi xmlns:a14="http://schemas.microsoft.com/office/drawing/2010/main" val="0"/>
              </a:ext>
            </a:extLst>
          </a:blip>
          <a:srcRect t="34310" b="34334"/>
          <a:stretch/>
        </p:blipFill>
        <p:spPr>
          <a:xfrm>
            <a:off x="683491" y="2611441"/>
            <a:ext cx="3762290" cy="2097249"/>
          </a:xfrm>
          <a:prstGeom prst="rect">
            <a:avLst/>
          </a:prstGeom>
        </p:spPr>
      </p:pic>
      <p:sp>
        <p:nvSpPr>
          <p:cNvPr id="33" name="正方形/長方形 32"/>
          <p:cNvSpPr/>
          <p:nvPr/>
        </p:nvSpPr>
        <p:spPr>
          <a:xfrm>
            <a:off x="830828" y="5032628"/>
            <a:ext cx="3467616" cy="830997"/>
          </a:xfrm>
          <a:prstGeom prst="rect">
            <a:avLst/>
          </a:prstGeom>
        </p:spPr>
        <p:txBody>
          <a:bodyPr wrap="none">
            <a:spAutoFit/>
          </a:bodyPr>
          <a:lstStyle/>
          <a:p>
            <a:pPr lvl="0">
              <a:buClr>
                <a:srgbClr val="002060"/>
              </a:buClr>
              <a:buSzPts val="1600"/>
            </a:pPr>
            <a:r>
              <a:rPr lang="ja-JP" altLang="en-US" sz="1600" b="1" dirty="0">
                <a:solidFill>
                  <a:schemeClr val="tx1">
                    <a:lumMod val="65000"/>
                    <a:lumOff val="35000"/>
                  </a:schemeClr>
                </a:solidFill>
                <a:latin typeface="Meiryo"/>
                <a:ea typeface="Meiryo"/>
                <a:cs typeface="Meiryo"/>
                <a:sym typeface="Meiryo"/>
              </a:rPr>
              <a:t>ホームページから気軽にチャットで</a:t>
            </a:r>
            <a:endParaRPr lang="en-US" altLang="ja-JP" sz="1600" b="1" dirty="0">
              <a:solidFill>
                <a:schemeClr val="tx1">
                  <a:lumMod val="65000"/>
                  <a:lumOff val="35000"/>
                </a:schemeClr>
              </a:solidFill>
              <a:latin typeface="Meiryo"/>
              <a:ea typeface="Meiryo"/>
              <a:cs typeface="Meiryo"/>
              <a:sym typeface="Meiryo"/>
            </a:endParaRPr>
          </a:p>
          <a:p>
            <a:pPr lvl="0">
              <a:buClr>
                <a:srgbClr val="002060"/>
              </a:buClr>
              <a:buSzPts val="1600"/>
            </a:pPr>
            <a:r>
              <a:rPr lang="ja-JP" altLang="en-US" sz="1600" b="1" dirty="0">
                <a:solidFill>
                  <a:schemeClr val="tx1">
                    <a:lumMod val="65000"/>
                    <a:lumOff val="35000"/>
                  </a:schemeClr>
                </a:solidFill>
                <a:latin typeface="Meiryo"/>
                <a:ea typeface="Meiryo"/>
                <a:cs typeface="Meiryo"/>
                <a:sym typeface="Meiryo"/>
              </a:rPr>
              <a:t>問い合わせができるようになり</a:t>
            </a:r>
            <a:endParaRPr lang="en-US" altLang="ja-JP" sz="1600" b="1" dirty="0">
              <a:solidFill>
                <a:schemeClr val="tx1">
                  <a:lumMod val="65000"/>
                  <a:lumOff val="35000"/>
                </a:schemeClr>
              </a:solidFill>
              <a:latin typeface="Meiryo"/>
              <a:ea typeface="Meiryo"/>
              <a:cs typeface="Meiryo"/>
              <a:sym typeface="Meiryo"/>
            </a:endParaRPr>
          </a:p>
          <a:p>
            <a:pPr lvl="0">
              <a:buClr>
                <a:srgbClr val="002060"/>
              </a:buClr>
              <a:buSzPts val="1600"/>
            </a:pPr>
            <a:r>
              <a:rPr lang="ja-JP" altLang="en-US" sz="1600" b="1" dirty="0">
                <a:solidFill>
                  <a:schemeClr val="tx1">
                    <a:lumMod val="65000"/>
                    <a:lumOff val="35000"/>
                  </a:schemeClr>
                </a:solidFill>
                <a:latin typeface="Meiryo"/>
                <a:ea typeface="Meiryo"/>
                <a:cs typeface="Meiryo"/>
                <a:sym typeface="Meiryo"/>
              </a:rPr>
              <a:t>資料請求や商品の購入に繋がる。</a:t>
            </a:r>
            <a:endParaRPr lang="en-US" altLang="ja-JP" sz="1600" b="1" dirty="0">
              <a:solidFill>
                <a:schemeClr val="tx1">
                  <a:lumMod val="65000"/>
                  <a:lumOff val="35000"/>
                </a:schemeClr>
              </a:solidFill>
              <a:latin typeface="Meiryo"/>
              <a:ea typeface="Meiryo"/>
              <a:cs typeface="Meiryo"/>
              <a:sym typeface="Meiryo"/>
            </a:endParaRPr>
          </a:p>
        </p:txBody>
      </p:sp>
      <p:grpSp>
        <p:nvGrpSpPr>
          <p:cNvPr id="34" name="Group 25">
            <a:extLst>
              <a:ext uri="{FF2B5EF4-FFF2-40B4-BE49-F238E27FC236}">
                <a16:creationId xmlns:a16="http://schemas.microsoft.com/office/drawing/2014/main" id="{269BA4E8-CBA1-17CF-4B27-5586E44C9042}"/>
              </a:ext>
            </a:extLst>
          </p:cNvPr>
          <p:cNvGrpSpPr/>
          <p:nvPr/>
        </p:nvGrpSpPr>
        <p:grpSpPr>
          <a:xfrm rot="5400000">
            <a:off x="5120631" y="2997089"/>
            <a:ext cx="301414" cy="601358"/>
            <a:chOff x="0" y="0"/>
            <a:chExt cx="452282" cy="902360"/>
          </a:xfrm>
        </p:grpSpPr>
        <p:sp>
          <p:nvSpPr>
            <p:cNvPr id="35" name="Freeform 26">
              <a:extLst>
                <a:ext uri="{FF2B5EF4-FFF2-40B4-BE49-F238E27FC236}">
                  <a16:creationId xmlns:a16="http://schemas.microsoft.com/office/drawing/2014/main" id="{F979CAEC-8CC8-5992-6164-138369941BE6}"/>
                </a:ext>
              </a:extLst>
            </p:cNvPr>
            <p:cNvSpPr/>
            <p:nvPr/>
          </p:nvSpPr>
          <p:spPr>
            <a:xfrm>
              <a:off x="0" y="0"/>
              <a:ext cx="452282" cy="902360"/>
            </a:xfrm>
            <a:custGeom>
              <a:avLst/>
              <a:gdLst/>
              <a:ahLst/>
              <a:cxnLst/>
              <a:rect l="l" t="t" r="r" b="b"/>
              <a:pathLst>
                <a:path w="452282" h="902360">
                  <a:moveTo>
                    <a:pt x="226141" y="0"/>
                  </a:moveTo>
                  <a:lnTo>
                    <a:pt x="452282" y="902360"/>
                  </a:lnTo>
                  <a:lnTo>
                    <a:pt x="0" y="902360"/>
                  </a:lnTo>
                  <a:lnTo>
                    <a:pt x="226141" y="0"/>
                  </a:lnTo>
                  <a:close/>
                </a:path>
              </a:pathLst>
            </a:custGeom>
            <a:solidFill>
              <a:srgbClr val="D9D9D9"/>
            </a:solidFill>
          </p:spPr>
          <p:txBody>
            <a:bodyPr/>
            <a:lstStyle/>
            <a:p>
              <a:endParaRPr lang="ja-JP" altLang="en-US">
                <a:latin typeface="メイリオ" panose="020B0604030504040204" pitchFamily="50" charset="-128"/>
                <a:ea typeface="メイリオ" panose="020B0604030504040204" pitchFamily="50" charset="-128"/>
              </a:endParaRPr>
            </a:p>
          </p:txBody>
        </p:sp>
        <p:sp>
          <p:nvSpPr>
            <p:cNvPr id="36" name="TextBox 27">
              <a:extLst>
                <a:ext uri="{FF2B5EF4-FFF2-40B4-BE49-F238E27FC236}">
                  <a16:creationId xmlns:a16="http://schemas.microsoft.com/office/drawing/2014/main" id="{35EF9994-DB9A-78E5-055F-3AFF8481CE16}"/>
                </a:ext>
              </a:extLst>
            </p:cNvPr>
            <p:cNvSpPr txBox="1"/>
            <p:nvPr/>
          </p:nvSpPr>
          <p:spPr>
            <a:xfrm>
              <a:off x="70669" y="380853"/>
              <a:ext cx="310944" cy="457053"/>
            </a:xfrm>
            <a:prstGeom prst="rect">
              <a:avLst/>
            </a:prstGeom>
          </p:spPr>
          <p:txBody>
            <a:bodyPr lIns="31591" tIns="31591" rIns="31591" bIns="31591" rtlCol="0" anchor="ctr"/>
            <a:lstStyle/>
            <a:p>
              <a:pPr algn="ctr">
                <a:lnSpc>
                  <a:spcPts val="1741"/>
                </a:lnSpc>
              </a:pPr>
              <a:endParaRPr>
                <a:latin typeface="メイリオ" panose="020B0604030504040204" pitchFamily="50" charset="-128"/>
                <a:ea typeface="メイリオ" panose="020B0604030504040204" pitchFamily="50" charset="-128"/>
              </a:endParaRPr>
            </a:p>
          </p:txBody>
        </p:sp>
      </p:grpSp>
      <p:sp>
        <p:nvSpPr>
          <p:cNvPr id="37" name="TextBox 38">
            <a:extLst>
              <a:ext uri="{FF2B5EF4-FFF2-40B4-BE49-F238E27FC236}">
                <a16:creationId xmlns:a16="http://schemas.microsoft.com/office/drawing/2014/main" id="{5DBC0D5A-D55C-257A-51E2-CC2A6B58B8CE}"/>
              </a:ext>
            </a:extLst>
          </p:cNvPr>
          <p:cNvSpPr txBox="1"/>
          <p:nvPr/>
        </p:nvSpPr>
        <p:spPr>
          <a:xfrm>
            <a:off x="5836651" y="3018835"/>
            <a:ext cx="3788946" cy="564257"/>
          </a:xfrm>
          <a:prstGeom prst="rect">
            <a:avLst/>
          </a:prstGeom>
        </p:spPr>
        <p:txBody>
          <a:bodyPr wrap="square" lIns="0" tIns="0" rIns="0" bIns="0" rtlCol="0" anchor="t">
            <a:spAutoFit/>
          </a:bodyPr>
          <a:lstStyle/>
          <a:p>
            <a:pPr>
              <a:lnSpc>
                <a:spcPts val="2176"/>
              </a:lnSpc>
            </a:pPr>
            <a:r>
              <a:rPr lang="ja-JP" altLang="en-US" sz="1554" b="1" dirty="0">
                <a:solidFill>
                  <a:srgbClr val="494848"/>
                </a:solidFill>
                <a:latin typeface="メイリオ" panose="020B0604030504040204" pitchFamily="50" charset="-128"/>
                <a:ea typeface="メイリオ" panose="020B0604030504040204" pitchFamily="50" charset="-128"/>
              </a:rPr>
              <a:t>自動応答と有人応答を使い分けることが</a:t>
            </a:r>
            <a:endParaRPr lang="en-US" altLang="ja-JP" sz="1554" b="1" dirty="0">
              <a:solidFill>
                <a:srgbClr val="494848"/>
              </a:solidFill>
              <a:latin typeface="メイリオ" panose="020B0604030504040204" pitchFamily="50" charset="-128"/>
              <a:ea typeface="メイリオ" panose="020B0604030504040204" pitchFamily="50" charset="-128"/>
            </a:endParaRPr>
          </a:p>
          <a:p>
            <a:pPr>
              <a:lnSpc>
                <a:spcPts val="2176"/>
              </a:lnSpc>
            </a:pPr>
            <a:r>
              <a:rPr lang="ja-JP" altLang="en-US" sz="1554" b="1" dirty="0">
                <a:solidFill>
                  <a:srgbClr val="494848"/>
                </a:solidFill>
                <a:latin typeface="メイリオ" panose="020B0604030504040204" pitchFamily="50" charset="-128"/>
                <a:ea typeface="メイリオ" panose="020B0604030504040204" pitchFamily="50" charset="-128"/>
              </a:rPr>
              <a:t>できる</a:t>
            </a:r>
            <a:endParaRPr lang="en-US" sz="1554" b="1" dirty="0">
              <a:solidFill>
                <a:srgbClr val="494848"/>
              </a:solidFill>
              <a:latin typeface="メイリオ" panose="020B0604030504040204" pitchFamily="50" charset="-128"/>
              <a:ea typeface="メイリオ" panose="020B0604030504040204" pitchFamily="50" charset="-128"/>
            </a:endParaRPr>
          </a:p>
        </p:txBody>
      </p:sp>
      <p:grpSp>
        <p:nvGrpSpPr>
          <p:cNvPr id="38" name="Group 25">
            <a:extLst>
              <a:ext uri="{FF2B5EF4-FFF2-40B4-BE49-F238E27FC236}">
                <a16:creationId xmlns:a16="http://schemas.microsoft.com/office/drawing/2014/main" id="{269BA4E8-CBA1-17CF-4B27-5586E44C9042}"/>
              </a:ext>
            </a:extLst>
          </p:cNvPr>
          <p:cNvGrpSpPr/>
          <p:nvPr/>
        </p:nvGrpSpPr>
        <p:grpSpPr>
          <a:xfrm rot="5400000">
            <a:off x="5120631" y="3995552"/>
            <a:ext cx="301414" cy="601358"/>
            <a:chOff x="0" y="0"/>
            <a:chExt cx="452282" cy="902360"/>
          </a:xfrm>
        </p:grpSpPr>
        <p:sp>
          <p:nvSpPr>
            <p:cNvPr id="39" name="Freeform 26">
              <a:extLst>
                <a:ext uri="{FF2B5EF4-FFF2-40B4-BE49-F238E27FC236}">
                  <a16:creationId xmlns:a16="http://schemas.microsoft.com/office/drawing/2014/main" id="{F979CAEC-8CC8-5992-6164-138369941BE6}"/>
                </a:ext>
              </a:extLst>
            </p:cNvPr>
            <p:cNvSpPr/>
            <p:nvPr/>
          </p:nvSpPr>
          <p:spPr>
            <a:xfrm>
              <a:off x="0" y="0"/>
              <a:ext cx="452282" cy="902360"/>
            </a:xfrm>
            <a:custGeom>
              <a:avLst/>
              <a:gdLst/>
              <a:ahLst/>
              <a:cxnLst/>
              <a:rect l="l" t="t" r="r" b="b"/>
              <a:pathLst>
                <a:path w="452282" h="902360">
                  <a:moveTo>
                    <a:pt x="226141" y="0"/>
                  </a:moveTo>
                  <a:lnTo>
                    <a:pt x="452282" y="902360"/>
                  </a:lnTo>
                  <a:lnTo>
                    <a:pt x="0" y="902360"/>
                  </a:lnTo>
                  <a:lnTo>
                    <a:pt x="226141" y="0"/>
                  </a:lnTo>
                  <a:close/>
                </a:path>
              </a:pathLst>
            </a:custGeom>
            <a:solidFill>
              <a:srgbClr val="D9D9D9"/>
            </a:solidFill>
          </p:spPr>
          <p:txBody>
            <a:bodyPr/>
            <a:lstStyle/>
            <a:p>
              <a:endParaRPr lang="ja-JP" altLang="en-US">
                <a:latin typeface="メイリオ" panose="020B0604030504040204" pitchFamily="50" charset="-128"/>
                <a:ea typeface="メイリオ" panose="020B0604030504040204" pitchFamily="50" charset="-128"/>
              </a:endParaRPr>
            </a:p>
          </p:txBody>
        </p:sp>
        <p:sp>
          <p:nvSpPr>
            <p:cNvPr id="40" name="TextBox 27">
              <a:extLst>
                <a:ext uri="{FF2B5EF4-FFF2-40B4-BE49-F238E27FC236}">
                  <a16:creationId xmlns:a16="http://schemas.microsoft.com/office/drawing/2014/main" id="{35EF9994-DB9A-78E5-055F-3AFF8481CE16}"/>
                </a:ext>
              </a:extLst>
            </p:cNvPr>
            <p:cNvSpPr txBox="1"/>
            <p:nvPr/>
          </p:nvSpPr>
          <p:spPr>
            <a:xfrm>
              <a:off x="70669" y="380853"/>
              <a:ext cx="310944" cy="457053"/>
            </a:xfrm>
            <a:prstGeom prst="rect">
              <a:avLst/>
            </a:prstGeom>
          </p:spPr>
          <p:txBody>
            <a:bodyPr lIns="31591" tIns="31591" rIns="31591" bIns="31591" rtlCol="0" anchor="ctr"/>
            <a:lstStyle/>
            <a:p>
              <a:pPr algn="ctr">
                <a:lnSpc>
                  <a:spcPts val="1741"/>
                </a:lnSpc>
              </a:pPr>
              <a:endParaRPr>
                <a:latin typeface="メイリオ" panose="020B0604030504040204" pitchFamily="50" charset="-128"/>
                <a:ea typeface="メイリオ" panose="020B0604030504040204" pitchFamily="50" charset="-128"/>
              </a:endParaRPr>
            </a:p>
          </p:txBody>
        </p:sp>
      </p:grpSp>
      <p:sp>
        <p:nvSpPr>
          <p:cNvPr id="41" name="TextBox 38">
            <a:extLst>
              <a:ext uri="{FF2B5EF4-FFF2-40B4-BE49-F238E27FC236}">
                <a16:creationId xmlns:a16="http://schemas.microsoft.com/office/drawing/2014/main" id="{5DBC0D5A-D55C-257A-51E2-CC2A6B58B8CE}"/>
              </a:ext>
            </a:extLst>
          </p:cNvPr>
          <p:cNvSpPr txBox="1"/>
          <p:nvPr/>
        </p:nvSpPr>
        <p:spPr>
          <a:xfrm>
            <a:off x="5836651" y="4017298"/>
            <a:ext cx="3788946" cy="564257"/>
          </a:xfrm>
          <a:prstGeom prst="rect">
            <a:avLst/>
          </a:prstGeom>
        </p:spPr>
        <p:txBody>
          <a:bodyPr wrap="square" lIns="0" tIns="0" rIns="0" bIns="0" rtlCol="0" anchor="t">
            <a:spAutoFit/>
          </a:bodyPr>
          <a:lstStyle/>
          <a:p>
            <a:pPr>
              <a:lnSpc>
                <a:spcPts val="2176"/>
              </a:lnSpc>
            </a:pPr>
            <a:r>
              <a:rPr lang="ja-JP" altLang="en-US" sz="1554" b="1" dirty="0">
                <a:solidFill>
                  <a:srgbClr val="494848"/>
                </a:solidFill>
                <a:latin typeface="メイリオ" panose="020B0604030504040204" pitchFamily="50" charset="-128"/>
                <a:ea typeface="メイリオ" panose="020B0604030504040204" pitchFamily="50" charset="-128"/>
              </a:rPr>
              <a:t>「訪問者管理機能」により、ホームページに訪れたユーザーを一覧で見ることが可能</a:t>
            </a:r>
            <a:endParaRPr lang="en-US" sz="1554" b="1" dirty="0">
              <a:solidFill>
                <a:srgbClr val="494848"/>
              </a:solidFill>
              <a:latin typeface="メイリオ" panose="020B0604030504040204" pitchFamily="50" charset="-128"/>
              <a:ea typeface="メイリオ" panose="020B0604030504040204" pitchFamily="50" charset="-128"/>
            </a:endParaRPr>
          </a:p>
        </p:txBody>
      </p:sp>
      <p:grpSp>
        <p:nvGrpSpPr>
          <p:cNvPr id="42" name="Group 25">
            <a:extLst>
              <a:ext uri="{FF2B5EF4-FFF2-40B4-BE49-F238E27FC236}">
                <a16:creationId xmlns:a16="http://schemas.microsoft.com/office/drawing/2014/main" id="{269BA4E8-CBA1-17CF-4B27-5586E44C9042}"/>
              </a:ext>
            </a:extLst>
          </p:cNvPr>
          <p:cNvGrpSpPr/>
          <p:nvPr/>
        </p:nvGrpSpPr>
        <p:grpSpPr>
          <a:xfrm rot="5400000">
            <a:off x="5120631" y="4994015"/>
            <a:ext cx="301414" cy="601358"/>
            <a:chOff x="0" y="0"/>
            <a:chExt cx="452282" cy="902360"/>
          </a:xfrm>
        </p:grpSpPr>
        <p:sp>
          <p:nvSpPr>
            <p:cNvPr id="44" name="Freeform 26">
              <a:extLst>
                <a:ext uri="{FF2B5EF4-FFF2-40B4-BE49-F238E27FC236}">
                  <a16:creationId xmlns:a16="http://schemas.microsoft.com/office/drawing/2014/main" id="{F979CAEC-8CC8-5992-6164-138369941BE6}"/>
                </a:ext>
              </a:extLst>
            </p:cNvPr>
            <p:cNvSpPr/>
            <p:nvPr/>
          </p:nvSpPr>
          <p:spPr>
            <a:xfrm>
              <a:off x="0" y="0"/>
              <a:ext cx="452282" cy="902360"/>
            </a:xfrm>
            <a:custGeom>
              <a:avLst/>
              <a:gdLst/>
              <a:ahLst/>
              <a:cxnLst/>
              <a:rect l="l" t="t" r="r" b="b"/>
              <a:pathLst>
                <a:path w="452282" h="902360">
                  <a:moveTo>
                    <a:pt x="226141" y="0"/>
                  </a:moveTo>
                  <a:lnTo>
                    <a:pt x="452282" y="902360"/>
                  </a:lnTo>
                  <a:lnTo>
                    <a:pt x="0" y="902360"/>
                  </a:lnTo>
                  <a:lnTo>
                    <a:pt x="226141" y="0"/>
                  </a:lnTo>
                  <a:close/>
                </a:path>
              </a:pathLst>
            </a:custGeom>
            <a:solidFill>
              <a:srgbClr val="D9D9D9"/>
            </a:solidFill>
          </p:spPr>
          <p:txBody>
            <a:bodyPr/>
            <a:lstStyle/>
            <a:p>
              <a:endParaRPr lang="ja-JP" altLang="en-US">
                <a:latin typeface="メイリオ" panose="020B0604030504040204" pitchFamily="50" charset="-128"/>
                <a:ea typeface="メイリオ" panose="020B0604030504040204" pitchFamily="50" charset="-128"/>
              </a:endParaRPr>
            </a:p>
          </p:txBody>
        </p:sp>
        <p:sp>
          <p:nvSpPr>
            <p:cNvPr id="45" name="TextBox 27">
              <a:extLst>
                <a:ext uri="{FF2B5EF4-FFF2-40B4-BE49-F238E27FC236}">
                  <a16:creationId xmlns:a16="http://schemas.microsoft.com/office/drawing/2014/main" id="{35EF9994-DB9A-78E5-055F-3AFF8481CE16}"/>
                </a:ext>
              </a:extLst>
            </p:cNvPr>
            <p:cNvSpPr txBox="1"/>
            <p:nvPr/>
          </p:nvSpPr>
          <p:spPr>
            <a:xfrm>
              <a:off x="70669" y="380853"/>
              <a:ext cx="310944" cy="457053"/>
            </a:xfrm>
            <a:prstGeom prst="rect">
              <a:avLst/>
            </a:prstGeom>
          </p:spPr>
          <p:txBody>
            <a:bodyPr lIns="31591" tIns="31591" rIns="31591" bIns="31591" rtlCol="0" anchor="ctr"/>
            <a:lstStyle/>
            <a:p>
              <a:pPr algn="ctr">
                <a:lnSpc>
                  <a:spcPts val="1741"/>
                </a:lnSpc>
              </a:pPr>
              <a:endParaRPr>
                <a:latin typeface="メイリオ" panose="020B0604030504040204" pitchFamily="50" charset="-128"/>
                <a:ea typeface="メイリオ" panose="020B0604030504040204" pitchFamily="50" charset="-128"/>
              </a:endParaRPr>
            </a:p>
          </p:txBody>
        </p:sp>
      </p:grpSp>
      <p:sp>
        <p:nvSpPr>
          <p:cNvPr id="46" name="TextBox 38">
            <a:extLst>
              <a:ext uri="{FF2B5EF4-FFF2-40B4-BE49-F238E27FC236}">
                <a16:creationId xmlns:a16="http://schemas.microsoft.com/office/drawing/2014/main" id="{5DBC0D5A-D55C-257A-51E2-CC2A6B58B8CE}"/>
              </a:ext>
            </a:extLst>
          </p:cNvPr>
          <p:cNvSpPr txBox="1"/>
          <p:nvPr/>
        </p:nvSpPr>
        <p:spPr>
          <a:xfrm>
            <a:off x="5836651" y="5015761"/>
            <a:ext cx="3788946" cy="846386"/>
          </a:xfrm>
          <a:prstGeom prst="rect">
            <a:avLst/>
          </a:prstGeom>
        </p:spPr>
        <p:txBody>
          <a:bodyPr wrap="square" lIns="0" tIns="0" rIns="0" bIns="0" rtlCol="0" anchor="t">
            <a:spAutoFit/>
          </a:bodyPr>
          <a:lstStyle/>
          <a:p>
            <a:pPr>
              <a:lnSpc>
                <a:spcPts val="2176"/>
              </a:lnSpc>
            </a:pPr>
            <a:r>
              <a:rPr lang="ja-JP" altLang="en-US" sz="1554" b="1" dirty="0">
                <a:solidFill>
                  <a:srgbClr val="494848"/>
                </a:solidFill>
                <a:latin typeface="メイリオ" panose="020B0604030504040204" pitchFamily="50" charset="-128"/>
                <a:ea typeface="メイリオ" panose="020B0604030504040204" pitchFamily="50" charset="-128"/>
              </a:rPr>
              <a:t>公式</a:t>
            </a:r>
            <a:r>
              <a:rPr lang="en-US" altLang="ja-JP" sz="1554" b="1" dirty="0">
                <a:solidFill>
                  <a:srgbClr val="494848"/>
                </a:solidFill>
                <a:latin typeface="メイリオ" panose="020B0604030504040204" pitchFamily="50" charset="-128"/>
                <a:ea typeface="メイリオ" panose="020B0604030504040204" pitchFamily="50" charset="-128"/>
              </a:rPr>
              <a:t>LINE</a:t>
            </a:r>
            <a:r>
              <a:rPr lang="ja-JP" altLang="en-US" sz="1554" b="1" dirty="0">
                <a:solidFill>
                  <a:srgbClr val="494848"/>
                </a:solidFill>
                <a:latin typeface="メイリオ" panose="020B0604030504040204" pitchFamily="50" charset="-128"/>
                <a:ea typeface="メイリオ" panose="020B0604030504040204" pitchFamily="50" charset="-128"/>
              </a:rPr>
              <a:t>とチャットボットを連携し</a:t>
            </a:r>
            <a:endParaRPr lang="en-US" altLang="ja-JP" sz="1554" b="1" dirty="0">
              <a:solidFill>
                <a:srgbClr val="494848"/>
              </a:solidFill>
              <a:latin typeface="メイリオ" panose="020B0604030504040204" pitchFamily="50" charset="-128"/>
              <a:ea typeface="メイリオ" panose="020B0604030504040204" pitchFamily="50" charset="-128"/>
            </a:endParaRPr>
          </a:p>
          <a:p>
            <a:pPr>
              <a:lnSpc>
                <a:spcPts val="2176"/>
              </a:lnSpc>
            </a:pPr>
            <a:r>
              <a:rPr lang="en-US" altLang="ja-JP" sz="1554" b="1" dirty="0">
                <a:solidFill>
                  <a:srgbClr val="494848"/>
                </a:solidFill>
                <a:latin typeface="メイリオ" panose="020B0604030504040204" pitchFamily="50" charset="-128"/>
                <a:ea typeface="メイリオ" panose="020B0604030504040204" pitchFamily="50" charset="-128"/>
              </a:rPr>
              <a:t>LINE</a:t>
            </a:r>
            <a:r>
              <a:rPr lang="ja-JP" altLang="en-US" sz="1554" b="1" dirty="0">
                <a:solidFill>
                  <a:srgbClr val="494848"/>
                </a:solidFill>
                <a:latin typeface="メイリオ" panose="020B0604030504040204" pitchFamily="50" charset="-128"/>
                <a:ea typeface="メイリオ" panose="020B0604030504040204" pitchFamily="50" charset="-128"/>
              </a:rPr>
              <a:t>上でも同じチャットボットを活用</a:t>
            </a:r>
            <a:endParaRPr lang="en-US" altLang="ja-JP" sz="1554" b="1" dirty="0">
              <a:solidFill>
                <a:srgbClr val="494848"/>
              </a:solidFill>
              <a:latin typeface="メイリオ" panose="020B0604030504040204" pitchFamily="50" charset="-128"/>
              <a:ea typeface="メイリオ" panose="020B0604030504040204" pitchFamily="50" charset="-128"/>
            </a:endParaRPr>
          </a:p>
          <a:p>
            <a:pPr>
              <a:lnSpc>
                <a:spcPts val="2176"/>
              </a:lnSpc>
            </a:pPr>
            <a:r>
              <a:rPr lang="ja-JP" altLang="en-US" sz="1554" b="1" dirty="0">
                <a:solidFill>
                  <a:srgbClr val="494848"/>
                </a:solidFill>
                <a:latin typeface="メイリオ" panose="020B0604030504040204" pitchFamily="50" charset="-128"/>
                <a:ea typeface="メイリオ" panose="020B0604030504040204" pitchFamily="50" charset="-128"/>
              </a:rPr>
              <a:t>できる</a:t>
            </a:r>
            <a:endParaRPr lang="en-US" sz="1554" b="1" dirty="0">
              <a:solidFill>
                <a:srgbClr val="494848"/>
              </a:solidFill>
              <a:latin typeface="メイリオ" panose="020B0604030504040204" pitchFamily="50" charset="-128"/>
              <a:ea typeface="メイリオ" panose="020B0604030504040204" pitchFamily="50" charset="-128"/>
            </a:endParaRPr>
          </a:p>
        </p:txBody>
      </p:sp>
    </p:spTree>
    <p:extLst>
      <p:ext uri="{BB962C8B-B14F-4D97-AF65-F5344CB8AC3E}">
        <p14:creationId xmlns:p14="http://schemas.microsoft.com/office/powerpoint/2010/main" val="2692766594"/>
      </p:ext>
    </p:extLst>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020026D-0FAA-76C0-699F-5C95EE2044C4}"/>
            </a:ext>
          </a:extLst>
        </p:cNvPr>
        <p:cNvGrpSpPr/>
        <p:nvPr/>
      </p:nvGrpSpPr>
      <p:grpSpPr>
        <a:xfrm>
          <a:off x="0" y="0"/>
          <a:ext cx="0" cy="0"/>
          <a:chOff x="0" y="0"/>
          <a:chExt cx="0" cy="0"/>
        </a:xfrm>
      </p:grpSpPr>
      <p:sp>
        <p:nvSpPr>
          <p:cNvPr id="2" name="Google Shape;156;p7">
            <a:extLst>
              <a:ext uri="{FF2B5EF4-FFF2-40B4-BE49-F238E27FC236}">
                <a16:creationId xmlns:a16="http://schemas.microsoft.com/office/drawing/2014/main" id="{C5E2E585-BC17-9ECA-2598-27E9D406C15A}"/>
              </a:ext>
            </a:extLst>
          </p:cNvPr>
          <p:cNvSpPr txBox="1"/>
          <p:nvPr/>
        </p:nvSpPr>
        <p:spPr>
          <a:xfrm>
            <a:off x="548883" y="138118"/>
            <a:ext cx="6514857" cy="338554"/>
          </a:xfrm>
          <a:prstGeom prst="rect">
            <a:avLst/>
          </a:prstGeom>
          <a:noFill/>
          <a:ln>
            <a:noFill/>
          </a:ln>
        </p:spPr>
        <p:txBody>
          <a:bodyPr spcFirstLastPara="1" wrap="square" lIns="91425" tIns="45700" rIns="91425" bIns="45700" anchor="ctr" anchorCtr="0">
            <a:spAutoFit/>
          </a:bodyPr>
          <a:lstStyle/>
          <a:p>
            <a:pPr lvl="0">
              <a:buClr>
                <a:srgbClr val="002060"/>
              </a:buClr>
              <a:buSzPts val="1600"/>
            </a:pPr>
            <a:r>
              <a:rPr lang="ja-JP" altLang="en-US" sz="1600" b="1" dirty="0">
                <a:solidFill>
                  <a:srgbClr val="002060"/>
                </a:solidFill>
                <a:latin typeface="Meiryo"/>
                <a:ea typeface="Meiryo"/>
                <a:cs typeface="Meiryo"/>
                <a:sym typeface="Meiryo"/>
              </a:rPr>
              <a:t>その他 代表的な活用機能</a:t>
            </a:r>
          </a:p>
        </p:txBody>
      </p:sp>
      <p:sp>
        <p:nvSpPr>
          <p:cNvPr id="4" name="正方形/長方形 3">
            <a:extLst>
              <a:ext uri="{FF2B5EF4-FFF2-40B4-BE49-F238E27FC236}">
                <a16:creationId xmlns:a16="http://schemas.microsoft.com/office/drawing/2014/main" id="{E05B90A4-AED6-B19A-AEE0-64B5142381A5}"/>
              </a:ext>
            </a:extLst>
          </p:cNvPr>
          <p:cNvSpPr/>
          <p:nvPr/>
        </p:nvSpPr>
        <p:spPr>
          <a:xfrm>
            <a:off x="209578" y="1455366"/>
            <a:ext cx="7689926" cy="584775"/>
          </a:xfrm>
          <a:prstGeom prst="rect">
            <a:avLst/>
          </a:prstGeom>
        </p:spPr>
        <p:txBody>
          <a:bodyPr wrap="none">
            <a:spAutoFit/>
          </a:bodyPr>
          <a:lstStyle/>
          <a:p>
            <a:pPr lvl="0">
              <a:buClr>
                <a:srgbClr val="002060"/>
              </a:buClr>
              <a:buSzPts val="1600"/>
            </a:pPr>
            <a:r>
              <a:rPr lang="ja-JP" altLang="en-US" sz="1600" b="1" dirty="0">
                <a:solidFill>
                  <a:schemeClr val="tx1">
                    <a:lumMod val="65000"/>
                    <a:lumOff val="35000"/>
                  </a:schemeClr>
                </a:solidFill>
                <a:latin typeface="Meiryo"/>
                <a:ea typeface="Meiryo"/>
                <a:cs typeface="Meiryo"/>
                <a:sym typeface="Meiryo"/>
              </a:rPr>
              <a:t>「</a:t>
            </a:r>
            <a:r>
              <a:rPr lang="en-US" altLang="ja-JP" sz="1600" b="1" dirty="0">
                <a:solidFill>
                  <a:schemeClr val="tx1">
                    <a:lumMod val="65000"/>
                    <a:lumOff val="35000"/>
                  </a:schemeClr>
                </a:solidFill>
                <a:latin typeface="Meiryo"/>
                <a:ea typeface="Meiryo"/>
                <a:cs typeface="Meiryo"/>
                <a:sym typeface="Meiryo"/>
              </a:rPr>
              <a:t>LINE</a:t>
            </a:r>
            <a:r>
              <a:rPr lang="ja-JP" altLang="en-US" sz="1600" b="1" dirty="0">
                <a:solidFill>
                  <a:schemeClr val="tx1">
                    <a:lumMod val="65000"/>
                    <a:lumOff val="35000"/>
                  </a:schemeClr>
                </a:solidFill>
                <a:latin typeface="Meiryo"/>
                <a:ea typeface="Meiryo"/>
                <a:cs typeface="Meiryo"/>
                <a:sym typeface="Meiryo"/>
              </a:rPr>
              <a:t>コール</a:t>
            </a:r>
            <a:r>
              <a:rPr lang="en-US" altLang="ja-JP" sz="1600" b="1" dirty="0">
                <a:solidFill>
                  <a:schemeClr val="tx1">
                    <a:lumMod val="65000"/>
                    <a:lumOff val="35000"/>
                  </a:schemeClr>
                </a:solidFill>
                <a:latin typeface="Meiryo"/>
                <a:ea typeface="Meiryo"/>
                <a:cs typeface="Meiryo"/>
                <a:sym typeface="Meiryo"/>
              </a:rPr>
              <a:t>Plus</a:t>
            </a:r>
            <a:r>
              <a:rPr lang="ja-JP" altLang="en-US" sz="1600" b="1" dirty="0">
                <a:solidFill>
                  <a:schemeClr val="tx1">
                    <a:lumMod val="65000"/>
                    <a:lumOff val="35000"/>
                  </a:schemeClr>
                </a:solidFill>
                <a:latin typeface="Meiryo"/>
                <a:ea typeface="Meiryo"/>
                <a:cs typeface="Meiryo"/>
                <a:sym typeface="Meiryo"/>
              </a:rPr>
              <a:t>」は、</a:t>
            </a:r>
            <a:r>
              <a:rPr lang="en-US" altLang="ja-JP" sz="1600" b="1" dirty="0">
                <a:solidFill>
                  <a:schemeClr val="tx1">
                    <a:lumMod val="65000"/>
                    <a:lumOff val="35000"/>
                  </a:schemeClr>
                </a:solidFill>
                <a:latin typeface="Meiryo"/>
                <a:ea typeface="Meiryo"/>
                <a:cs typeface="Meiryo"/>
                <a:sym typeface="Meiryo"/>
              </a:rPr>
              <a:t>LINE</a:t>
            </a:r>
            <a:r>
              <a:rPr lang="ja-JP" altLang="en-US" sz="1600" b="1" dirty="0">
                <a:solidFill>
                  <a:schemeClr val="tx1">
                    <a:lumMod val="65000"/>
                    <a:lumOff val="35000"/>
                  </a:schemeClr>
                </a:solidFill>
                <a:latin typeface="Meiryo"/>
                <a:ea typeface="Meiryo"/>
                <a:cs typeface="Meiryo"/>
                <a:sym typeface="Meiryo"/>
              </a:rPr>
              <a:t>公式アカウントの有料オプション機能で、</a:t>
            </a:r>
            <a:endParaRPr lang="en-US" altLang="ja-JP" sz="1600" b="1" dirty="0">
              <a:solidFill>
                <a:schemeClr val="tx1">
                  <a:lumMod val="65000"/>
                  <a:lumOff val="35000"/>
                </a:schemeClr>
              </a:solidFill>
              <a:latin typeface="Meiryo"/>
              <a:ea typeface="Meiryo"/>
              <a:cs typeface="Meiryo"/>
              <a:sym typeface="Meiryo"/>
            </a:endParaRPr>
          </a:p>
          <a:p>
            <a:pPr lvl="0">
              <a:buClr>
                <a:srgbClr val="002060"/>
              </a:buClr>
              <a:buSzPts val="1600"/>
            </a:pPr>
            <a:r>
              <a:rPr lang="en-US" altLang="ja-JP" sz="1600" b="1" dirty="0">
                <a:solidFill>
                  <a:schemeClr val="tx1">
                    <a:lumMod val="65000"/>
                    <a:lumOff val="35000"/>
                  </a:schemeClr>
                </a:solidFill>
                <a:latin typeface="Meiryo"/>
                <a:ea typeface="Meiryo"/>
                <a:cs typeface="Meiryo"/>
                <a:sym typeface="Meiryo"/>
              </a:rPr>
              <a:t>LINE</a:t>
            </a:r>
            <a:r>
              <a:rPr lang="ja-JP" altLang="en-US" sz="1600" b="1" dirty="0">
                <a:solidFill>
                  <a:schemeClr val="tx1">
                    <a:lumMod val="65000"/>
                    <a:lumOff val="35000"/>
                  </a:schemeClr>
                </a:solidFill>
                <a:latin typeface="Meiryo"/>
                <a:ea typeface="Meiryo"/>
                <a:cs typeface="Meiryo"/>
                <a:sym typeface="Meiryo"/>
              </a:rPr>
              <a:t>公式アカウントからユーザーがカスタマーサポートに電話できるサービス。</a:t>
            </a:r>
            <a:endParaRPr lang="en-US" altLang="ja-JP" sz="1600" b="1" dirty="0">
              <a:solidFill>
                <a:schemeClr val="tx1">
                  <a:lumMod val="65000"/>
                  <a:lumOff val="35000"/>
                </a:schemeClr>
              </a:solidFill>
              <a:latin typeface="Meiryo"/>
              <a:ea typeface="Meiryo"/>
              <a:cs typeface="Meiryo"/>
              <a:sym typeface="Meiryo"/>
            </a:endParaRPr>
          </a:p>
        </p:txBody>
      </p:sp>
      <p:sp>
        <p:nvSpPr>
          <p:cNvPr id="5" name="正方形/長方形 4">
            <a:extLst>
              <a:ext uri="{FF2B5EF4-FFF2-40B4-BE49-F238E27FC236}">
                <a16:creationId xmlns:a16="http://schemas.microsoft.com/office/drawing/2014/main" id="{381E56F1-6DB4-770A-F040-6633F4E7E2B0}"/>
              </a:ext>
            </a:extLst>
          </p:cNvPr>
          <p:cNvSpPr/>
          <p:nvPr/>
        </p:nvSpPr>
        <p:spPr>
          <a:xfrm>
            <a:off x="295583" y="823033"/>
            <a:ext cx="2541320" cy="485775"/>
          </a:xfrm>
          <a:prstGeom prst="rect">
            <a:avLst/>
          </a:prstGeom>
          <a:solidFill>
            <a:srgbClr val="00206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ja-JP" sz="1600" b="1" dirty="0">
                <a:latin typeface="メイリオ" panose="020B0604030504040204" pitchFamily="50" charset="-128"/>
                <a:ea typeface="メイリオ" panose="020B0604030504040204" pitchFamily="50" charset="-128"/>
              </a:rPr>
              <a:t>【</a:t>
            </a:r>
            <a:r>
              <a:rPr lang="en-US" altLang="ja-JP" sz="1600" b="1" dirty="0" err="1">
                <a:latin typeface="メイリオ" panose="020B0604030504040204" pitchFamily="50" charset="-128"/>
                <a:ea typeface="メイリオ" panose="020B0604030504040204" pitchFamily="50" charset="-128"/>
              </a:rPr>
              <a:t>LINE】Call</a:t>
            </a:r>
            <a:r>
              <a:rPr lang="en-US" altLang="ja-JP" sz="1600" b="1" dirty="0">
                <a:latin typeface="メイリオ" panose="020B0604030504040204" pitchFamily="50" charset="-128"/>
                <a:ea typeface="メイリオ" panose="020B0604030504040204" pitchFamily="50" charset="-128"/>
              </a:rPr>
              <a:t> Plus</a:t>
            </a:r>
          </a:p>
        </p:txBody>
      </p:sp>
      <p:pic>
        <p:nvPicPr>
          <p:cNvPr id="6" name="図 5">
            <a:extLst>
              <a:ext uri="{FF2B5EF4-FFF2-40B4-BE49-F238E27FC236}">
                <a16:creationId xmlns:a16="http://schemas.microsoft.com/office/drawing/2014/main" id="{A4DCE6F0-EC2D-892A-88B0-8516B660CB73}"/>
              </a:ext>
            </a:extLst>
          </p:cNvPr>
          <p:cNvPicPr>
            <a:picLocks noChangeAspect="1"/>
          </p:cNvPicPr>
          <p:nvPr/>
        </p:nvPicPr>
        <p:blipFill>
          <a:blip r:embed="rId2"/>
          <a:stretch>
            <a:fillRect/>
          </a:stretch>
        </p:blipFill>
        <p:spPr>
          <a:xfrm>
            <a:off x="668697" y="2287502"/>
            <a:ext cx="8332001" cy="2953508"/>
          </a:xfrm>
          <a:prstGeom prst="rect">
            <a:avLst/>
          </a:prstGeom>
        </p:spPr>
      </p:pic>
      <p:sp>
        <p:nvSpPr>
          <p:cNvPr id="7" name="角丸四角形 7">
            <a:extLst>
              <a:ext uri="{FF2B5EF4-FFF2-40B4-BE49-F238E27FC236}">
                <a16:creationId xmlns:a16="http://schemas.microsoft.com/office/drawing/2014/main" id="{D9E83488-E9DE-A2BA-7266-DA0D65822773}"/>
              </a:ext>
            </a:extLst>
          </p:cNvPr>
          <p:cNvSpPr/>
          <p:nvPr/>
        </p:nvSpPr>
        <p:spPr>
          <a:xfrm>
            <a:off x="548883" y="5241010"/>
            <a:ext cx="8720952" cy="1245629"/>
          </a:xfrm>
          <a:prstGeom prst="roundRect">
            <a:avLst>
              <a:gd name="adj" fmla="val 3567"/>
            </a:avLst>
          </a:prstGeom>
          <a:solidFill>
            <a:srgbClr val="FFFFFF">
              <a:lumMod val="95000"/>
            </a:srgbClr>
          </a:solidFill>
          <a:ln w="25400" cap="flat" cmpd="sng" algn="ctr">
            <a:solidFill>
              <a:srgbClr val="FFFFFF">
                <a:lumMod val="85000"/>
              </a:srgbClr>
            </a:solidFill>
            <a:prstDash val="solid"/>
          </a:ln>
          <a:effectLst/>
        </p:spPr>
        <p:txBody>
          <a:bodyPr rtlCol="0" anchor="ctr"/>
          <a:lstStyle/>
          <a:p>
            <a:pPr marL="0" marR="0" lvl="0" indent="0" algn="ctr" defTabSz="914400" eaLnBrk="1" fontAlgn="auto" latinLnBrk="0" hangingPunct="1">
              <a:lnSpc>
                <a:spcPct val="100000"/>
              </a:lnSpc>
              <a:spcBef>
                <a:spcPts val="0"/>
              </a:spcBef>
              <a:spcAft>
                <a:spcPts val="0"/>
              </a:spcAft>
              <a:buClr>
                <a:srgbClr val="000000"/>
              </a:buClr>
              <a:buSzTx/>
              <a:buFont typeface="Arial"/>
              <a:buNone/>
              <a:tabLst/>
              <a:defRPr/>
            </a:pPr>
            <a:endParaRPr kumimoji="0" lang="ja-JP" altLang="en-US" sz="1400" b="0" i="0" u="none" strike="noStrike" kern="0" cap="none" spc="0" normalizeH="0" baseline="0" noProof="0">
              <a:ln>
                <a:noFill/>
              </a:ln>
              <a:solidFill>
                <a:srgbClr val="FFFFFF"/>
              </a:solidFill>
              <a:effectLst/>
              <a:uLnTx/>
              <a:uFillTx/>
              <a:latin typeface="Arial"/>
              <a:ea typeface="ＭＳ Ｐゴシック" panose="020B0600070205080204" pitchFamily="50" charset="-128"/>
              <a:cs typeface="+mn-cs"/>
              <a:sym typeface="Arial"/>
            </a:endParaRPr>
          </a:p>
        </p:txBody>
      </p:sp>
      <p:sp>
        <p:nvSpPr>
          <p:cNvPr id="8" name="正方形/長方形 7">
            <a:extLst>
              <a:ext uri="{FF2B5EF4-FFF2-40B4-BE49-F238E27FC236}">
                <a16:creationId xmlns:a16="http://schemas.microsoft.com/office/drawing/2014/main" id="{71E1C361-AEEF-C8A2-A1E4-44AF984285D5}"/>
              </a:ext>
            </a:extLst>
          </p:cNvPr>
          <p:cNvSpPr/>
          <p:nvPr/>
        </p:nvSpPr>
        <p:spPr>
          <a:xfrm>
            <a:off x="4642710" y="6545362"/>
            <a:ext cx="5046574" cy="246221"/>
          </a:xfrm>
          <a:prstGeom prst="rect">
            <a:avLst/>
          </a:prstGeom>
        </p:spPr>
        <p:txBody>
          <a:bodyPr wrap="none">
            <a:spAutoFit/>
          </a:bodyPr>
          <a:lstStyle/>
          <a:p>
            <a:pPr lvl="0">
              <a:buClr>
                <a:srgbClr val="002060"/>
              </a:buClr>
              <a:buSzPts val="1600"/>
            </a:pPr>
            <a:r>
              <a:rPr lang="ja-JP" altLang="en-US" sz="1000" b="1" dirty="0">
                <a:solidFill>
                  <a:schemeClr val="tx1">
                    <a:lumMod val="65000"/>
                    <a:lumOff val="35000"/>
                  </a:schemeClr>
                </a:solidFill>
                <a:latin typeface="Meiryo"/>
                <a:ea typeface="Meiryo"/>
                <a:cs typeface="Meiryo"/>
                <a:sym typeface="Meiryo"/>
              </a:rPr>
              <a:t>引用：</a:t>
            </a:r>
            <a:r>
              <a:rPr lang="en-US" altLang="ja-JP" sz="1000" b="1" dirty="0">
                <a:solidFill>
                  <a:schemeClr val="tx1">
                    <a:lumMod val="65000"/>
                    <a:lumOff val="35000"/>
                  </a:schemeClr>
                </a:solidFill>
                <a:latin typeface="Meiryo"/>
                <a:ea typeface="Meiryo"/>
                <a:cs typeface="Meiryo"/>
                <a:sym typeface="Meiryo"/>
              </a:rPr>
              <a:t>https://prtimes.jp/main/html/rd/p/000003920.000001594.html</a:t>
            </a:r>
          </a:p>
        </p:txBody>
      </p:sp>
      <p:sp>
        <p:nvSpPr>
          <p:cNvPr id="9" name="正方形/長方形 8">
            <a:extLst>
              <a:ext uri="{FF2B5EF4-FFF2-40B4-BE49-F238E27FC236}">
                <a16:creationId xmlns:a16="http://schemas.microsoft.com/office/drawing/2014/main" id="{F798F716-4AF6-5FA7-044B-E98F33F1C04B}"/>
              </a:ext>
            </a:extLst>
          </p:cNvPr>
          <p:cNvSpPr/>
          <p:nvPr/>
        </p:nvSpPr>
        <p:spPr>
          <a:xfrm>
            <a:off x="859212" y="5571436"/>
            <a:ext cx="7989495" cy="584775"/>
          </a:xfrm>
          <a:prstGeom prst="rect">
            <a:avLst/>
          </a:prstGeom>
        </p:spPr>
        <p:txBody>
          <a:bodyPr wrap="none">
            <a:spAutoFit/>
          </a:bodyPr>
          <a:lstStyle/>
          <a:p>
            <a:pPr lvl="0">
              <a:buClr>
                <a:srgbClr val="002060"/>
              </a:buClr>
              <a:buSzPts val="1600"/>
            </a:pPr>
            <a:r>
              <a:rPr lang="ja-JP" altLang="en-US" sz="1600" b="1" dirty="0">
                <a:solidFill>
                  <a:schemeClr val="tx1">
                    <a:lumMod val="65000"/>
                    <a:lumOff val="35000"/>
                  </a:schemeClr>
                </a:solidFill>
                <a:latin typeface="Meiryo"/>
                <a:ea typeface="Meiryo"/>
                <a:cs typeface="Meiryo"/>
                <a:sym typeface="Meiryo"/>
              </a:rPr>
              <a:t>さらに「</a:t>
            </a:r>
            <a:r>
              <a:rPr lang="en-US" altLang="ja-JP" sz="1600" b="1" dirty="0">
                <a:solidFill>
                  <a:schemeClr val="tx1">
                    <a:lumMod val="65000"/>
                    <a:lumOff val="35000"/>
                  </a:schemeClr>
                </a:solidFill>
                <a:latin typeface="Meiryo"/>
                <a:ea typeface="Meiryo"/>
                <a:cs typeface="Meiryo"/>
                <a:sym typeface="Meiryo"/>
              </a:rPr>
              <a:t>LINE Ai Call</a:t>
            </a:r>
            <a:r>
              <a:rPr lang="ja-JP" altLang="en-US" sz="1600" b="1" dirty="0">
                <a:solidFill>
                  <a:schemeClr val="tx1">
                    <a:lumMod val="65000"/>
                    <a:lumOff val="35000"/>
                  </a:schemeClr>
                </a:solidFill>
                <a:latin typeface="Meiryo"/>
                <a:ea typeface="Meiryo"/>
                <a:cs typeface="Meiryo"/>
                <a:sym typeface="Meiryo"/>
              </a:rPr>
              <a:t>」を活用するとユーザーの要望に対して</a:t>
            </a:r>
            <a:r>
              <a:rPr lang="en-US" altLang="ja-JP" sz="1600" b="1" dirty="0">
                <a:solidFill>
                  <a:schemeClr val="tx1">
                    <a:lumMod val="65000"/>
                    <a:lumOff val="35000"/>
                  </a:schemeClr>
                </a:solidFill>
                <a:latin typeface="Meiryo"/>
                <a:ea typeface="Meiryo"/>
                <a:cs typeface="Meiryo"/>
                <a:sym typeface="Meiryo"/>
              </a:rPr>
              <a:t>AI</a:t>
            </a:r>
            <a:r>
              <a:rPr lang="ja-JP" altLang="en-US" sz="1600" b="1" dirty="0">
                <a:solidFill>
                  <a:schemeClr val="tx1">
                    <a:lumMod val="65000"/>
                    <a:lumOff val="35000"/>
                  </a:schemeClr>
                </a:solidFill>
                <a:latin typeface="Meiryo"/>
                <a:ea typeface="Meiryo"/>
                <a:cs typeface="Meiryo"/>
                <a:sym typeface="Meiryo"/>
              </a:rPr>
              <a:t>による自然な</a:t>
            </a:r>
            <a:endParaRPr lang="en-US" altLang="ja-JP" sz="1600" b="1" dirty="0">
              <a:solidFill>
                <a:schemeClr val="tx1">
                  <a:lumMod val="65000"/>
                  <a:lumOff val="35000"/>
                </a:schemeClr>
              </a:solidFill>
              <a:latin typeface="Meiryo"/>
              <a:ea typeface="Meiryo"/>
              <a:cs typeface="Meiryo"/>
              <a:sym typeface="Meiryo"/>
            </a:endParaRPr>
          </a:p>
          <a:p>
            <a:pPr lvl="0">
              <a:buClr>
                <a:srgbClr val="002060"/>
              </a:buClr>
              <a:buSzPts val="1600"/>
            </a:pPr>
            <a:r>
              <a:rPr lang="ja-JP" altLang="en-US" sz="1600" b="1" dirty="0">
                <a:solidFill>
                  <a:schemeClr val="tx1">
                    <a:lumMod val="65000"/>
                    <a:lumOff val="35000"/>
                  </a:schemeClr>
                </a:solidFill>
                <a:latin typeface="Meiryo"/>
                <a:ea typeface="Meiryo"/>
                <a:cs typeface="Meiryo"/>
                <a:sym typeface="Meiryo"/>
              </a:rPr>
              <a:t>対話応答が可能に。要件に応じて</a:t>
            </a:r>
            <a:r>
              <a:rPr lang="en-US" altLang="ja-JP" sz="1600" b="1" dirty="0">
                <a:solidFill>
                  <a:schemeClr val="tx1">
                    <a:lumMod val="65000"/>
                    <a:lumOff val="35000"/>
                  </a:schemeClr>
                </a:solidFill>
                <a:latin typeface="Meiryo"/>
                <a:ea typeface="Meiryo"/>
                <a:cs typeface="Meiryo"/>
                <a:sym typeface="Meiryo"/>
              </a:rPr>
              <a:t>Ai</a:t>
            </a:r>
            <a:r>
              <a:rPr lang="ja-JP" altLang="en-US" sz="1600" b="1" dirty="0">
                <a:solidFill>
                  <a:schemeClr val="tx1">
                    <a:lumMod val="65000"/>
                    <a:lumOff val="35000"/>
                  </a:schemeClr>
                </a:solidFill>
                <a:latin typeface="Meiryo"/>
                <a:ea typeface="Meiryo"/>
                <a:cs typeface="Meiryo"/>
                <a:sym typeface="Meiryo"/>
              </a:rPr>
              <a:t>と有人オペレータの振り分け業務効率化を支援。</a:t>
            </a:r>
            <a:endParaRPr lang="en-US" altLang="ja-JP" sz="1600" b="1" dirty="0">
              <a:solidFill>
                <a:schemeClr val="tx1">
                  <a:lumMod val="65000"/>
                  <a:lumOff val="35000"/>
                </a:schemeClr>
              </a:solidFill>
              <a:latin typeface="Meiryo"/>
              <a:ea typeface="Meiryo"/>
              <a:cs typeface="Meiryo"/>
              <a:sym typeface="Meiryo"/>
            </a:endParaRPr>
          </a:p>
        </p:txBody>
      </p:sp>
    </p:spTree>
    <p:extLst>
      <p:ext uri="{BB962C8B-B14F-4D97-AF65-F5344CB8AC3E}">
        <p14:creationId xmlns:p14="http://schemas.microsoft.com/office/powerpoint/2010/main" val="252455410"/>
      </p:ext>
    </p:extLst>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311520D-5D7C-2BDD-908B-6251C4BD5729}"/>
            </a:ext>
          </a:extLst>
        </p:cNvPr>
        <p:cNvGrpSpPr/>
        <p:nvPr/>
      </p:nvGrpSpPr>
      <p:grpSpPr>
        <a:xfrm>
          <a:off x="0" y="0"/>
          <a:ext cx="0" cy="0"/>
          <a:chOff x="0" y="0"/>
          <a:chExt cx="0" cy="0"/>
        </a:xfrm>
      </p:grpSpPr>
      <p:sp>
        <p:nvSpPr>
          <p:cNvPr id="2" name="Google Shape;156;p7">
            <a:extLst>
              <a:ext uri="{FF2B5EF4-FFF2-40B4-BE49-F238E27FC236}">
                <a16:creationId xmlns:a16="http://schemas.microsoft.com/office/drawing/2014/main" id="{D9975C92-DB69-EFCA-815F-DEDCC99A793F}"/>
              </a:ext>
            </a:extLst>
          </p:cNvPr>
          <p:cNvSpPr txBox="1"/>
          <p:nvPr/>
        </p:nvSpPr>
        <p:spPr>
          <a:xfrm>
            <a:off x="548883" y="138118"/>
            <a:ext cx="6514857" cy="338554"/>
          </a:xfrm>
          <a:prstGeom prst="rect">
            <a:avLst/>
          </a:prstGeom>
          <a:noFill/>
          <a:ln>
            <a:noFill/>
          </a:ln>
        </p:spPr>
        <p:txBody>
          <a:bodyPr spcFirstLastPara="1" wrap="square" lIns="91425" tIns="45700" rIns="91425" bIns="45700" anchor="ctr" anchorCtr="0">
            <a:spAutoFit/>
          </a:bodyPr>
          <a:lstStyle/>
          <a:p>
            <a:pPr lvl="0">
              <a:buClr>
                <a:srgbClr val="002060"/>
              </a:buClr>
              <a:buSzPts val="1600"/>
            </a:pPr>
            <a:r>
              <a:rPr lang="ja-JP" altLang="en-US" sz="1600" b="1" dirty="0">
                <a:solidFill>
                  <a:srgbClr val="002060"/>
                </a:solidFill>
                <a:latin typeface="Meiryo"/>
                <a:ea typeface="Meiryo"/>
                <a:cs typeface="Meiryo"/>
                <a:sym typeface="Meiryo"/>
              </a:rPr>
              <a:t>その他 代表的な活用機能</a:t>
            </a:r>
          </a:p>
        </p:txBody>
      </p:sp>
      <p:sp>
        <p:nvSpPr>
          <p:cNvPr id="5" name="正方形/長方形 4">
            <a:extLst>
              <a:ext uri="{FF2B5EF4-FFF2-40B4-BE49-F238E27FC236}">
                <a16:creationId xmlns:a16="http://schemas.microsoft.com/office/drawing/2014/main" id="{B925A5A4-A739-9AD7-5D18-2E4781D36898}"/>
              </a:ext>
            </a:extLst>
          </p:cNvPr>
          <p:cNvSpPr/>
          <p:nvPr/>
        </p:nvSpPr>
        <p:spPr>
          <a:xfrm>
            <a:off x="295583" y="823033"/>
            <a:ext cx="2541320" cy="485775"/>
          </a:xfrm>
          <a:prstGeom prst="rect">
            <a:avLst/>
          </a:prstGeom>
          <a:solidFill>
            <a:srgbClr val="00206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ja-JP" sz="1600" b="1" dirty="0">
                <a:latin typeface="メイリオ" panose="020B0604030504040204" pitchFamily="50" charset="-128"/>
                <a:ea typeface="メイリオ" panose="020B0604030504040204" pitchFamily="50" charset="-128"/>
              </a:rPr>
              <a:t>LINE</a:t>
            </a:r>
            <a:r>
              <a:rPr lang="ja-JP" altLang="en-US" sz="1600" b="1" dirty="0">
                <a:latin typeface="メイリオ" panose="020B0604030504040204" pitchFamily="50" charset="-128"/>
                <a:ea typeface="メイリオ" panose="020B0604030504040204" pitchFamily="50" charset="-128"/>
              </a:rPr>
              <a:t>でログイン</a:t>
            </a:r>
            <a:endParaRPr lang="en-US" altLang="ja-JP" sz="1600" b="1" dirty="0">
              <a:latin typeface="メイリオ" panose="020B0604030504040204" pitchFamily="50" charset="-128"/>
              <a:ea typeface="メイリオ" panose="020B0604030504040204" pitchFamily="50" charset="-128"/>
            </a:endParaRPr>
          </a:p>
        </p:txBody>
      </p:sp>
      <p:sp>
        <p:nvSpPr>
          <p:cNvPr id="8" name="正方形/長方形 7">
            <a:extLst>
              <a:ext uri="{FF2B5EF4-FFF2-40B4-BE49-F238E27FC236}">
                <a16:creationId xmlns:a16="http://schemas.microsoft.com/office/drawing/2014/main" id="{7C64DE5F-370C-8EB5-6D0C-7DDEB12A3E16}"/>
              </a:ext>
            </a:extLst>
          </p:cNvPr>
          <p:cNvSpPr/>
          <p:nvPr/>
        </p:nvSpPr>
        <p:spPr>
          <a:xfrm>
            <a:off x="4642710" y="6545362"/>
            <a:ext cx="5046574" cy="246221"/>
          </a:xfrm>
          <a:prstGeom prst="rect">
            <a:avLst/>
          </a:prstGeom>
        </p:spPr>
        <p:txBody>
          <a:bodyPr wrap="none">
            <a:spAutoFit/>
          </a:bodyPr>
          <a:lstStyle/>
          <a:p>
            <a:pPr lvl="0">
              <a:buClr>
                <a:srgbClr val="002060"/>
              </a:buClr>
              <a:buSzPts val="1600"/>
            </a:pPr>
            <a:r>
              <a:rPr lang="ja-JP" altLang="en-US" sz="1000" b="1" dirty="0">
                <a:solidFill>
                  <a:schemeClr val="tx1">
                    <a:lumMod val="65000"/>
                    <a:lumOff val="35000"/>
                  </a:schemeClr>
                </a:solidFill>
                <a:latin typeface="Meiryo"/>
                <a:ea typeface="Meiryo"/>
                <a:cs typeface="Meiryo"/>
                <a:sym typeface="Meiryo"/>
              </a:rPr>
              <a:t>引用：</a:t>
            </a:r>
            <a:r>
              <a:rPr lang="en-US" altLang="ja-JP" sz="1000" b="1" dirty="0">
                <a:solidFill>
                  <a:schemeClr val="tx1">
                    <a:lumMod val="65000"/>
                    <a:lumOff val="35000"/>
                  </a:schemeClr>
                </a:solidFill>
                <a:latin typeface="Meiryo"/>
                <a:ea typeface="Meiryo"/>
                <a:cs typeface="Meiryo"/>
                <a:sym typeface="Meiryo"/>
              </a:rPr>
              <a:t>https://prtimes.jp/main/html/rd/p/000003920.000001594.html</a:t>
            </a:r>
          </a:p>
        </p:txBody>
      </p:sp>
      <p:pic>
        <p:nvPicPr>
          <p:cNvPr id="3" name="図 2">
            <a:extLst>
              <a:ext uri="{FF2B5EF4-FFF2-40B4-BE49-F238E27FC236}">
                <a16:creationId xmlns:a16="http://schemas.microsoft.com/office/drawing/2014/main" id="{2F4170E7-BAC4-FD12-01C2-903FF75F192F}"/>
              </a:ext>
            </a:extLst>
          </p:cNvPr>
          <p:cNvPicPr>
            <a:picLocks noChangeAspect="1"/>
          </p:cNvPicPr>
          <p:nvPr/>
        </p:nvPicPr>
        <p:blipFill>
          <a:blip r:embed="rId2"/>
          <a:stretch>
            <a:fillRect/>
          </a:stretch>
        </p:blipFill>
        <p:spPr>
          <a:xfrm>
            <a:off x="414007" y="1995020"/>
            <a:ext cx="9077986" cy="4550342"/>
          </a:xfrm>
          <a:prstGeom prst="rect">
            <a:avLst/>
          </a:prstGeom>
        </p:spPr>
      </p:pic>
      <p:sp>
        <p:nvSpPr>
          <p:cNvPr id="4" name="正方形/長方形 3">
            <a:extLst>
              <a:ext uri="{FF2B5EF4-FFF2-40B4-BE49-F238E27FC236}">
                <a16:creationId xmlns:a16="http://schemas.microsoft.com/office/drawing/2014/main" id="{33EC1AF8-7A08-D8F6-3DC4-3EBE18410E78}"/>
              </a:ext>
            </a:extLst>
          </p:cNvPr>
          <p:cNvSpPr/>
          <p:nvPr/>
        </p:nvSpPr>
        <p:spPr>
          <a:xfrm>
            <a:off x="209578" y="1455366"/>
            <a:ext cx="8925841" cy="584775"/>
          </a:xfrm>
          <a:prstGeom prst="rect">
            <a:avLst/>
          </a:prstGeom>
        </p:spPr>
        <p:txBody>
          <a:bodyPr wrap="none">
            <a:spAutoFit/>
          </a:bodyPr>
          <a:lstStyle/>
          <a:p>
            <a:pPr lvl="0">
              <a:buClr>
                <a:srgbClr val="002060"/>
              </a:buClr>
              <a:buSzPts val="1600"/>
            </a:pPr>
            <a:r>
              <a:rPr lang="ja-JP" altLang="en-US" sz="1600" b="1" dirty="0">
                <a:solidFill>
                  <a:schemeClr val="tx1">
                    <a:lumMod val="65000"/>
                    <a:lumOff val="35000"/>
                  </a:schemeClr>
                </a:solidFill>
                <a:latin typeface="Meiryo"/>
                <a:ea typeface="Meiryo"/>
                <a:cs typeface="Meiryo"/>
                <a:sym typeface="Meiryo"/>
              </a:rPr>
              <a:t>「</a:t>
            </a:r>
            <a:r>
              <a:rPr lang="en-US" altLang="ja-JP" sz="1600" b="1" dirty="0">
                <a:solidFill>
                  <a:schemeClr val="tx1">
                    <a:lumMod val="65000"/>
                    <a:lumOff val="35000"/>
                  </a:schemeClr>
                </a:solidFill>
                <a:latin typeface="Meiryo"/>
                <a:ea typeface="Meiryo"/>
                <a:cs typeface="Meiryo"/>
                <a:sym typeface="Meiryo"/>
              </a:rPr>
              <a:t>LINE</a:t>
            </a:r>
            <a:r>
              <a:rPr lang="ja-JP" altLang="en-US" sz="1600" b="1" dirty="0">
                <a:solidFill>
                  <a:schemeClr val="tx1">
                    <a:lumMod val="65000"/>
                    <a:lumOff val="35000"/>
                  </a:schemeClr>
                </a:solidFill>
                <a:latin typeface="Meiryo"/>
                <a:ea typeface="Meiryo"/>
                <a:cs typeface="Meiryo"/>
                <a:sym typeface="Meiryo"/>
              </a:rPr>
              <a:t>でログイン」は、</a:t>
            </a:r>
            <a:r>
              <a:rPr lang="en-US" altLang="ja-JP" sz="1600" b="1" dirty="0">
                <a:solidFill>
                  <a:schemeClr val="tx1">
                    <a:lumMod val="65000"/>
                    <a:lumOff val="35000"/>
                  </a:schemeClr>
                </a:solidFill>
                <a:latin typeface="Meiryo"/>
                <a:ea typeface="Meiryo"/>
                <a:cs typeface="Meiryo"/>
                <a:sym typeface="Meiryo"/>
              </a:rPr>
              <a:t>LINE</a:t>
            </a:r>
            <a:r>
              <a:rPr lang="ja-JP" altLang="en-US" sz="1600" b="1" dirty="0">
                <a:solidFill>
                  <a:schemeClr val="tx1">
                    <a:lumMod val="65000"/>
                    <a:lumOff val="35000"/>
                  </a:schemeClr>
                </a:solidFill>
                <a:latin typeface="Meiryo"/>
                <a:ea typeface="Meiryo"/>
                <a:cs typeface="Meiryo"/>
                <a:sym typeface="Meiryo"/>
              </a:rPr>
              <a:t>上のユーザー情報を活用して</a:t>
            </a:r>
            <a:r>
              <a:rPr lang="en-US" altLang="ja-JP" sz="1600" b="1" dirty="0">
                <a:solidFill>
                  <a:schemeClr val="tx1">
                    <a:lumMod val="65000"/>
                    <a:lumOff val="35000"/>
                  </a:schemeClr>
                </a:solidFill>
                <a:latin typeface="Meiryo"/>
                <a:ea typeface="Meiryo"/>
                <a:cs typeface="Meiryo"/>
                <a:sym typeface="Meiryo"/>
              </a:rPr>
              <a:t>WEB</a:t>
            </a:r>
            <a:r>
              <a:rPr lang="ja-JP" altLang="en-US" sz="1600" b="1" dirty="0">
                <a:solidFill>
                  <a:schemeClr val="tx1">
                    <a:lumMod val="65000"/>
                    <a:lumOff val="35000"/>
                  </a:schemeClr>
                </a:solidFill>
                <a:latin typeface="Meiryo"/>
                <a:ea typeface="Meiryo"/>
                <a:cs typeface="Meiryo"/>
                <a:sym typeface="Meiryo"/>
              </a:rPr>
              <a:t>サイト登録が出来る仕組み。</a:t>
            </a:r>
            <a:endParaRPr lang="en-US" altLang="ja-JP" sz="1600" b="1" dirty="0">
              <a:solidFill>
                <a:schemeClr val="tx1">
                  <a:lumMod val="65000"/>
                  <a:lumOff val="35000"/>
                </a:schemeClr>
              </a:solidFill>
              <a:latin typeface="Meiryo"/>
              <a:ea typeface="Meiryo"/>
              <a:cs typeface="Meiryo"/>
              <a:sym typeface="Meiryo"/>
            </a:endParaRPr>
          </a:p>
          <a:p>
            <a:pPr lvl="0">
              <a:buClr>
                <a:srgbClr val="002060"/>
              </a:buClr>
              <a:buSzPts val="1600"/>
            </a:pPr>
            <a:r>
              <a:rPr lang="en-US" altLang="ja-JP" sz="1600" b="1" dirty="0">
                <a:solidFill>
                  <a:schemeClr val="tx1">
                    <a:lumMod val="65000"/>
                    <a:lumOff val="35000"/>
                  </a:schemeClr>
                </a:solidFill>
                <a:latin typeface="Meiryo"/>
                <a:ea typeface="Meiryo"/>
                <a:cs typeface="Meiryo"/>
                <a:sym typeface="Meiryo"/>
              </a:rPr>
              <a:t>ID</a:t>
            </a:r>
            <a:r>
              <a:rPr lang="ja-JP" altLang="en-US" sz="1600" b="1" dirty="0">
                <a:solidFill>
                  <a:schemeClr val="tx1">
                    <a:lumMod val="65000"/>
                    <a:lumOff val="35000"/>
                  </a:schemeClr>
                </a:solidFill>
                <a:latin typeface="Meiryo"/>
                <a:ea typeface="Meiryo"/>
                <a:cs typeface="Meiryo"/>
                <a:sym typeface="Meiryo"/>
              </a:rPr>
              <a:t>連携を完了することにより、サービス</a:t>
            </a:r>
            <a:r>
              <a:rPr lang="en-US" altLang="ja-JP" sz="1600" b="1" dirty="0">
                <a:solidFill>
                  <a:schemeClr val="tx1">
                    <a:lumMod val="65000"/>
                    <a:lumOff val="35000"/>
                  </a:schemeClr>
                </a:solidFill>
                <a:latin typeface="Meiryo"/>
                <a:ea typeface="Meiryo"/>
                <a:cs typeface="Meiryo"/>
                <a:sym typeface="Meiryo"/>
              </a:rPr>
              <a:t>(WEB) </a:t>
            </a:r>
            <a:r>
              <a:rPr lang="ja-JP" altLang="en-US" sz="1600" b="1" dirty="0">
                <a:solidFill>
                  <a:schemeClr val="tx1">
                    <a:lumMod val="65000"/>
                    <a:lumOff val="35000"/>
                  </a:schemeClr>
                </a:solidFill>
                <a:latin typeface="Meiryo"/>
                <a:ea typeface="Meiryo"/>
                <a:cs typeface="Meiryo"/>
                <a:sym typeface="Meiryo"/>
              </a:rPr>
              <a:t>⇔ </a:t>
            </a:r>
            <a:r>
              <a:rPr lang="en-US" altLang="ja-JP" sz="1600" b="1" dirty="0">
                <a:solidFill>
                  <a:schemeClr val="tx1">
                    <a:lumMod val="65000"/>
                    <a:lumOff val="35000"/>
                  </a:schemeClr>
                </a:solidFill>
                <a:latin typeface="Meiryo"/>
                <a:ea typeface="Meiryo"/>
                <a:cs typeface="Meiryo"/>
                <a:sym typeface="Meiryo"/>
              </a:rPr>
              <a:t>LINE </a:t>
            </a:r>
            <a:r>
              <a:rPr lang="ja-JP" altLang="en-US" sz="1600" b="1" dirty="0">
                <a:solidFill>
                  <a:schemeClr val="tx1">
                    <a:lumMod val="65000"/>
                    <a:lumOff val="35000"/>
                  </a:schemeClr>
                </a:solidFill>
                <a:latin typeface="Meiryo"/>
                <a:ea typeface="Meiryo"/>
                <a:cs typeface="Meiryo"/>
                <a:sym typeface="Meiryo"/>
              </a:rPr>
              <a:t>での効果的なメッセージが可能に。</a:t>
            </a:r>
            <a:endParaRPr lang="en-US" altLang="ja-JP" sz="1600" b="1" dirty="0">
              <a:solidFill>
                <a:schemeClr val="tx1">
                  <a:lumMod val="65000"/>
                  <a:lumOff val="35000"/>
                </a:schemeClr>
              </a:solidFill>
              <a:latin typeface="Meiryo"/>
              <a:ea typeface="Meiryo"/>
              <a:cs typeface="Meiryo"/>
              <a:sym typeface="Meiryo"/>
            </a:endParaRPr>
          </a:p>
        </p:txBody>
      </p:sp>
    </p:spTree>
    <p:extLst>
      <p:ext uri="{BB962C8B-B14F-4D97-AF65-F5344CB8AC3E}">
        <p14:creationId xmlns:p14="http://schemas.microsoft.com/office/powerpoint/2010/main" val="4194068336"/>
      </p:ext>
    </p:extLst>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Google Shape;752;p28">
            <a:extLst>
              <a:ext uri="{FF2B5EF4-FFF2-40B4-BE49-F238E27FC236}">
                <a16:creationId xmlns:a16="http://schemas.microsoft.com/office/drawing/2014/main" id="{E371F4F6-3F93-7830-595E-799AA69EA971}"/>
              </a:ext>
            </a:extLst>
          </p:cNvPr>
          <p:cNvSpPr txBox="1"/>
          <p:nvPr/>
        </p:nvSpPr>
        <p:spPr>
          <a:xfrm>
            <a:off x="548883" y="138137"/>
            <a:ext cx="6276325" cy="338514"/>
          </a:xfrm>
          <a:prstGeom prst="rect">
            <a:avLst/>
          </a:prstGeom>
          <a:noFill/>
          <a:ln>
            <a:noFill/>
          </a:ln>
        </p:spPr>
        <p:txBody>
          <a:bodyPr spcFirstLastPara="1" wrap="square" lIns="91425" tIns="45700" rIns="91425" bIns="45700" anchor="ctr" anchorCtr="0">
            <a:spAutoFit/>
          </a:bodyPr>
          <a:lstStyle/>
          <a:p>
            <a:pPr lvl="0"/>
            <a:r>
              <a:rPr lang="ja-JP" altLang="en-US" sz="1600" b="1" dirty="0">
                <a:solidFill>
                  <a:srgbClr val="323366"/>
                </a:solidFill>
                <a:latin typeface="メイリオ" panose="020B0604030504040204" pitchFamily="50" charset="-128"/>
                <a:ea typeface="メイリオ" panose="020B0604030504040204" pitchFamily="50" charset="-128"/>
                <a:cs typeface="Meiryo"/>
                <a:sym typeface="Meiryo"/>
              </a:rPr>
              <a:t>提供施策について</a:t>
            </a:r>
          </a:p>
        </p:txBody>
      </p:sp>
      <p:sp>
        <p:nvSpPr>
          <p:cNvPr id="2" name="角丸四角形 8">
            <a:extLst>
              <a:ext uri="{FF2B5EF4-FFF2-40B4-BE49-F238E27FC236}">
                <a16:creationId xmlns:a16="http://schemas.microsoft.com/office/drawing/2014/main" id="{FD5318E5-8B5E-2D7D-A660-11170C412EF2}"/>
              </a:ext>
            </a:extLst>
          </p:cNvPr>
          <p:cNvSpPr/>
          <p:nvPr/>
        </p:nvSpPr>
        <p:spPr>
          <a:xfrm>
            <a:off x="6663036" y="4093029"/>
            <a:ext cx="2986322" cy="2154460"/>
          </a:xfrm>
          <a:prstGeom prst="roundRect">
            <a:avLst>
              <a:gd name="adj" fmla="val 3567"/>
            </a:avLst>
          </a:prstGeom>
          <a:solidFill>
            <a:srgbClr val="FFFFFF">
              <a:lumMod val="95000"/>
            </a:srgbClr>
          </a:solidFill>
          <a:ln w="25400" cap="flat" cmpd="sng" algn="ctr">
            <a:solidFill>
              <a:srgbClr val="FFFFFF">
                <a:lumMod val="85000"/>
              </a:srgbClr>
            </a:solidFill>
            <a:prstDash val="solid"/>
          </a:ln>
          <a:effectLst/>
        </p:spPr>
        <p:txBody>
          <a:bodyPr rtlCol="0" anchor="ctr"/>
          <a:lstStyle/>
          <a:p>
            <a:pPr marL="0" marR="0" lvl="0" indent="0" algn="ctr" defTabSz="914400" eaLnBrk="1" fontAlgn="auto" latinLnBrk="0" hangingPunct="1">
              <a:lnSpc>
                <a:spcPct val="100000"/>
              </a:lnSpc>
              <a:spcBef>
                <a:spcPts val="0"/>
              </a:spcBef>
              <a:spcAft>
                <a:spcPts val="0"/>
              </a:spcAft>
              <a:buClr>
                <a:srgbClr val="000000"/>
              </a:buClr>
              <a:buSzTx/>
              <a:buFont typeface="Arial"/>
              <a:buNone/>
              <a:tabLst/>
              <a:defRPr/>
            </a:pPr>
            <a:endParaRPr kumimoji="0" lang="ja-JP" altLang="en-US" sz="1400" b="0" i="0" u="none" strike="noStrike" kern="0" cap="none" spc="0" normalizeH="0" baseline="0" noProof="0">
              <a:ln>
                <a:noFill/>
              </a:ln>
              <a:solidFill>
                <a:srgbClr val="FFFFFF"/>
              </a:solidFill>
              <a:effectLst/>
              <a:uLnTx/>
              <a:uFillTx/>
              <a:latin typeface="Arial"/>
              <a:ea typeface="ＭＳ Ｐゴシック" panose="020B0600070205080204" pitchFamily="50" charset="-128"/>
              <a:cs typeface="+mn-cs"/>
              <a:sym typeface="Arial"/>
            </a:endParaRPr>
          </a:p>
        </p:txBody>
      </p:sp>
      <p:sp>
        <p:nvSpPr>
          <p:cNvPr id="3" name="Google Shape;178;p7">
            <a:extLst>
              <a:ext uri="{FF2B5EF4-FFF2-40B4-BE49-F238E27FC236}">
                <a16:creationId xmlns:a16="http://schemas.microsoft.com/office/drawing/2014/main" id="{5B7BDCE2-F32C-98D5-860A-09F3912D9718}"/>
              </a:ext>
            </a:extLst>
          </p:cNvPr>
          <p:cNvSpPr txBox="1"/>
          <p:nvPr/>
        </p:nvSpPr>
        <p:spPr>
          <a:xfrm>
            <a:off x="6756034" y="4153224"/>
            <a:ext cx="2800326" cy="675392"/>
          </a:xfrm>
          <a:prstGeom prst="rect">
            <a:avLst/>
          </a:prstGeom>
          <a:noFill/>
          <a:ln>
            <a:noFill/>
          </a:ln>
        </p:spPr>
        <p:txBody>
          <a:bodyPr spcFirstLastPara="1" wrap="square" lIns="150750" tIns="75350" rIns="150750" bIns="75350" anchor="t" anchorCtr="0">
            <a:spAutoFit/>
          </a:bodyPr>
          <a:lstStyle/>
          <a:p>
            <a:pPr lvl="0" algn="ctr">
              <a:buClr>
                <a:schemeClr val="dk1"/>
              </a:buClr>
              <a:buSzPts val="1500"/>
            </a:pPr>
            <a:r>
              <a:rPr lang="ja-JP" altLang="en-US" sz="2000" b="1" dirty="0">
                <a:solidFill>
                  <a:srgbClr val="002060"/>
                </a:solidFill>
                <a:latin typeface="Meiryo"/>
                <a:ea typeface="Meiryo"/>
                <a:cs typeface="Meiryo"/>
                <a:sym typeface="Meiryo"/>
              </a:rPr>
              <a:t>オフライン動線</a:t>
            </a:r>
            <a:endParaRPr lang="en-US" altLang="ja-JP" sz="2000" b="1" dirty="0">
              <a:solidFill>
                <a:srgbClr val="002060"/>
              </a:solidFill>
              <a:latin typeface="Meiryo"/>
              <a:ea typeface="Meiryo"/>
              <a:cs typeface="Meiryo"/>
              <a:sym typeface="Meiryo"/>
            </a:endParaRPr>
          </a:p>
          <a:p>
            <a:pPr lvl="0" algn="ctr">
              <a:buClr>
                <a:schemeClr val="dk1"/>
              </a:buClr>
              <a:buSzPts val="1500"/>
            </a:pPr>
            <a:r>
              <a:rPr lang="ja-JP" altLang="en-US" sz="1400" b="1" dirty="0">
                <a:solidFill>
                  <a:srgbClr val="002060"/>
                </a:solidFill>
                <a:latin typeface="Meiryo"/>
                <a:ea typeface="Meiryo"/>
                <a:cs typeface="Meiryo"/>
                <a:sym typeface="Meiryo"/>
              </a:rPr>
              <a:t>ニュースリリース等</a:t>
            </a:r>
            <a:endParaRPr lang="en-US" altLang="ja-JP" sz="1400" b="1" dirty="0">
              <a:solidFill>
                <a:srgbClr val="002060"/>
              </a:solidFill>
              <a:latin typeface="Meiryo"/>
              <a:ea typeface="Meiryo"/>
              <a:cs typeface="Meiryo"/>
              <a:sym typeface="Meiryo"/>
            </a:endParaRPr>
          </a:p>
        </p:txBody>
      </p:sp>
      <p:sp>
        <p:nvSpPr>
          <p:cNvPr id="5" name="角丸四角形 7">
            <a:extLst>
              <a:ext uri="{FF2B5EF4-FFF2-40B4-BE49-F238E27FC236}">
                <a16:creationId xmlns:a16="http://schemas.microsoft.com/office/drawing/2014/main" id="{467076C6-3952-617E-47B1-6B2C5D00137B}"/>
              </a:ext>
            </a:extLst>
          </p:cNvPr>
          <p:cNvSpPr/>
          <p:nvPr/>
        </p:nvSpPr>
        <p:spPr>
          <a:xfrm>
            <a:off x="3462784" y="4090156"/>
            <a:ext cx="2986322" cy="2154460"/>
          </a:xfrm>
          <a:prstGeom prst="roundRect">
            <a:avLst>
              <a:gd name="adj" fmla="val 3567"/>
            </a:avLst>
          </a:prstGeom>
          <a:solidFill>
            <a:srgbClr val="FFFFFF">
              <a:lumMod val="95000"/>
            </a:srgbClr>
          </a:solidFill>
          <a:ln w="25400" cap="flat" cmpd="sng" algn="ctr">
            <a:solidFill>
              <a:srgbClr val="FFFFFF">
                <a:lumMod val="85000"/>
              </a:srgbClr>
            </a:solidFill>
            <a:prstDash val="solid"/>
          </a:ln>
          <a:effectLst/>
        </p:spPr>
        <p:txBody>
          <a:bodyPr rtlCol="0" anchor="ctr"/>
          <a:lstStyle/>
          <a:p>
            <a:pPr marL="0" marR="0" lvl="0" indent="0" algn="ctr" defTabSz="914400" eaLnBrk="1" fontAlgn="auto" latinLnBrk="0" hangingPunct="1">
              <a:lnSpc>
                <a:spcPct val="100000"/>
              </a:lnSpc>
              <a:spcBef>
                <a:spcPts val="0"/>
              </a:spcBef>
              <a:spcAft>
                <a:spcPts val="0"/>
              </a:spcAft>
              <a:buClr>
                <a:srgbClr val="000000"/>
              </a:buClr>
              <a:buSzTx/>
              <a:buFont typeface="Arial"/>
              <a:buNone/>
              <a:tabLst/>
              <a:defRPr/>
            </a:pPr>
            <a:endParaRPr kumimoji="0" lang="ja-JP" altLang="en-US" sz="1400" b="0" i="0" u="none" strike="noStrike" kern="0" cap="none" spc="0" normalizeH="0" baseline="0" noProof="0">
              <a:ln>
                <a:noFill/>
              </a:ln>
              <a:solidFill>
                <a:srgbClr val="FFFFFF"/>
              </a:solidFill>
              <a:effectLst/>
              <a:uLnTx/>
              <a:uFillTx/>
              <a:latin typeface="Arial"/>
              <a:ea typeface="ＭＳ Ｐゴシック" panose="020B0600070205080204" pitchFamily="50" charset="-128"/>
              <a:cs typeface="+mn-cs"/>
              <a:sym typeface="Arial"/>
            </a:endParaRPr>
          </a:p>
        </p:txBody>
      </p:sp>
      <p:sp>
        <p:nvSpPr>
          <p:cNvPr id="6" name="Google Shape;178;p7">
            <a:extLst>
              <a:ext uri="{FF2B5EF4-FFF2-40B4-BE49-F238E27FC236}">
                <a16:creationId xmlns:a16="http://schemas.microsoft.com/office/drawing/2014/main" id="{421A0D53-7019-D33A-B0BD-DBDF4AAB2FEE}"/>
              </a:ext>
            </a:extLst>
          </p:cNvPr>
          <p:cNvSpPr txBox="1"/>
          <p:nvPr/>
        </p:nvSpPr>
        <p:spPr>
          <a:xfrm>
            <a:off x="3563068" y="4245557"/>
            <a:ext cx="2800326" cy="459948"/>
          </a:xfrm>
          <a:prstGeom prst="rect">
            <a:avLst/>
          </a:prstGeom>
          <a:noFill/>
          <a:ln>
            <a:noFill/>
          </a:ln>
        </p:spPr>
        <p:txBody>
          <a:bodyPr spcFirstLastPara="1" wrap="square" lIns="150750" tIns="75350" rIns="150750" bIns="75350" anchor="t" anchorCtr="0">
            <a:spAutoFit/>
          </a:bodyPr>
          <a:lstStyle/>
          <a:p>
            <a:pPr lvl="0" algn="ctr">
              <a:buClr>
                <a:schemeClr val="dk1"/>
              </a:buClr>
              <a:buSzPts val="1500"/>
            </a:pPr>
            <a:r>
              <a:rPr lang="en-US" altLang="ja-JP" sz="2000" b="1" dirty="0">
                <a:solidFill>
                  <a:srgbClr val="002060"/>
                </a:solidFill>
                <a:latin typeface="Meiryo"/>
                <a:ea typeface="Meiryo"/>
                <a:cs typeface="Meiryo"/>
                <a:sym typeface="Meiryo"/>
              </a:rPr>
              <a:t>WEB</a:t>
            </a:r>
            <a:r>
              <a:rPr lang="ja-JP" altLang="en-US" sz="2000" b="1" dirty="0">
                <a:solidFill>
                  <a:srgbClr val="002060"/>
                </a:solidFill>
                <a:latin typeface="Meiryo"/>
                <a:ea typeface="Meiryo"/>
                <a:cs typeface="Meiryo"/>
                <a:sym typeface="Meiryo"/>
              </a:rPr>
              <a:t>サイト動線整備</a:t>
            </a:r>
            <a:endParaRPr lang="en-US" altLang="ja-JP" sz="2000" b="1" dirty="0">
              <a:solidFill>
                <a:srgbClr val="002060"/>
              </a:solidFill>
              <a:latin typeface="Meiryo"/>
              <a:ea typeface="Meiryo"/>
              <a:cs typeface="Meiryo"/>
              <a:sym typeface="Meiryo"/>
            </a:endParaRPr>
          </a:p>
        </p:txBody>
      </p:sp>
      <p:sp>
        <p:nvSpPr>
          <p:cNvPr id="7" name="角丸四角形 8">
            <a:extLst>
              <a:ext uri="{FF2B5EF4-FFF2-40B4-BE49-F238E27FC236}">
                <a16:creationId xmlns:a16="http://schemas.microsoft.com/office/drawing/2014/main" id="{6248FCF3-6E9E-CB4D-40D9-251911AC2CEF}"/>
              </a:ext>
            </a:extLst>
          </p:cNvPr>
          <p:cNvSpPr/>
          <p:nvPr/>
        </p:nvSpPr>
        <p:spPr>
          <a:xfrm>
            <a:off x="262251" y="4093029"/>
            <a:ext cx="2986322" cy="2154460"/>
          </a:xfrm>
          <a:prstGeom prst="roundRect">
            <a:avLst>
              <a:gd name="adj" fmla="val 3567"/>
            </a:avLst>
          </a:prstGeom>
          <a:solidFill>
            <a:srgbClr val="FFFFFF">
              <a:lumMod val="95000"/>
            </a:srgbClr>
          </a:solidFill>
          <a:ln w="25400" cap="flat" cmpd="sng" algn="ctr">
            <a:solidFill>
              <a:srgbClr val="FFFFFF">
                <a:lumMod val="85000"/>
              </a:srgbClr>
            </a:solidFill>
            <a:prstDash val="solid"/>
          </a:ln>
          <a:effectLst/>
        </p:spPr>
        <p:txBody>
          <a:bodyPr rtlCol="0" anchor="ctr"/>
          <a:lstStyle/>
          <a:p>
            <a:pPr marL="0" marR="0" lvl="0" indent="0" algn="ctr" defTabSz="914400" eaLnBrk="1" fontAlgn="auto" latinLnBrk="0" hangingPunct="1">
              <a:lnSpc>
                <a:spcPct val="100000"/>
              </a:lnSpc>
              <a:spcBef>
                <a:spcPts val="0"/>
              </a:spcBef>
              <a:spcAft>
                <a:spcPts val="0"/>
              </a:spcAft>
              <a:buClr>
                <a:srgbClr val="000000"/>
              </a:buClr>
              <a:buSzTx/>
              <a:buFont typeface="Arial"/>
              <a:buNone/>
              <a:tabLst/>
              <a:defRPr/>
            </a:pPr>
            <a:endParaRPr kumimoji="0" lang="ja-JP" altLang="en-US" sz="1400" b="0" i="0" u="none" strike="noStrike" kern="0" cap="none" spc="0" normalizeH="0" baseline="0" noProof="0">
              <a:ln>
                <a:noFill/>
              </a:ln>
              <a:solidFill>
                <a:srgbClr val="FFFFFF"/>
              </a:solidFill>
              <a:effectLst/>
              <a:uLnTx/>
              <a:uFillTx/>
              <a:latin typeface="Arial"/>
              <a:ea typeface="ＭＳ Ｐゴシック" panose="020B0600070205080204" pitchFamily="50" charset="-128"/>
              <a:cs typeface="+mn-cs"/>
              <a:sym typeface="Arial"/>
            </a:endParaRPr>
          </a:p>
        </p:txBody>
      </p:sp>
      <p:sp>
        <p:nvSpPr>
          <p:cNvPr id="8" name="Google Shape;178;p7">
            <a:extLst>
              <a:ext uri="{FF2B5EF4-FFF2-40B4-BE49-F238E27FC236}">
                <a16:creationId xmlns:a16="http://schemas.microsoft.com/office/drawing/2014/main" id="{E5C2AF7A-FA8D-3471-762D-FC84F5818E88}"/>
              </a:ext>
            </a:extLst>
          </p:cNvPr>
          <p:cNvSpPr txBox="1"/>
          <p:nvPr/>
        </p:nvSpPr>
        <p:spPr>
          <a:xfrm>
            <a:off x="598393" y="4153224"/>
            <a:ext cx="2314319" cy="644614"/>
          </a:xfrm>
          <a:prstGeom prst="rect">
            <a:avLst/>
          </a:prstGeom>
          <a:noFill/>
          <a:ln>
            <a:noFill/>
          </a:ln>
        </p:spPr>
        <p:txBody>
          <a:bodyPr spcFirstLastPara="1" wrap="square" lIns="150750" tIns="75350" rIns="150750" bIns="75350" anchor="t" anchorCtr="0">
            <a:spAutoFit/>
          </a:bodyPr>
          <a:lstStyle/>
          <a:p>
            <a:pPr lvl="0" algn="ctr">
              <a:buClr>
                <a:schemeClr val="dk1"/>
              </a:buClr>
              <a:buSzPts val="1500"/>
            </a:pPr>
            <a:r>
              <a:rPr lang="ja-JP" altLang="en-US" sz="2000" b="1" dirty="0">
                <a:solidFill>
                  <a:srgbClr val="002060"/>
                </a:solidFill>
                <a:latin typeface="Meiryo"/>
                <a:ea typeface="Meiryo"/>
                <a:cs typeface="Meiryo"/>
                <a:sym typeface="Meiryo"/>
              </a:rPr>
              <a:t>友だち紹介</a:t>
            </a:r>
            <a:endParaRPr lang="en-US" altLang="ja-JP" sz="2000" b="1" dirty="0">
              <a:solidFill>
                <a:srgbClr val="002060"/>
              </a:solidFill>
              <a:latin typeface="Meiryo"/>
              <a:ea typeface="Meiryo"/>
              <a:cs typeface="Meiryo"/>
              <a:sym typeface="Meiryo"/>
            </a:endParaRPr>
          </a:p>
          <a:p>
            <a:pPr lvl="0" algn="ctr">
              <a:buClr>
                <a:schemeClr val="dk1"/>
              </a:buClr>
              <a:buSzPts val="1500"/>
            </a:pPr>
            <a:r>
              <a:rPr lang="ja-JP" altLang="en-US" sz="1200" b="1" dirty="0">
                <a:solidFill>
                  <a:srgbClr val="002060"/>
                </a:solidFill>
                <a:latin typeface="Meiryo"/>
                <a:ea typeface="Meiryo"/>
                <a:cs typeface="Meiryo"/>
                <a:sym typeface="Meiryo"/>
              </a:rPr>
              <a:t>（</a:t>
            </a:r>
            <a:r>
              <a:rPr lang="en-US" altLang="ja-JP" sz="1200" b="1" dirty="0">
                <a:solidFill>
                  <a:srgbClr val="002060"/>
                </a:solidFill>
                <a:latin typeface="Meiryo"/>
                <a:ea typeface="Meiryo"/>
                <a:cs typeface="Meiryo"/>
                <a:sym typeface="Meiryo"/>
              </a:rPr>
              <a:t>LINE</a:t>
            </a:r>
            <a:r>
              <a:rPr lang="ja-JP" altLang="en-US" sz="1200" b="1" dirty="0">
                <a:solidFill>
                  <a:srgbClr val="002060"/>
                </a:solidFill>
                <a:latin typeface="Meiryo"/>
                <a:ea typeface="Meiryo"/>
                <a:cs typeface="Meiryo"/>
                <a:sym typeface="Meiryo"/>
              </a:rPr>
              <a:t>ポイントコネクト）</a:t>
            </a:r>
            <a:endParaRPr lang="en-US" altLang="ja-JP" sz="1200" b="1" dirty="0">
              <a:solidFill>
                <a:srgbClr val="002060"/>
              </a:solidFill>
              <a:latin typeface="Meiryo"/>
              <a:ea typeface="Meiryo"/>
              <a:cs typeface="Meiryo"/>
              <a:sym typeface="Meiryo"/>
            </a:endParaRPr>
          </a:p>
        </p:txBody>
      </p:sp>
      <p:sp>
        <p:nvSpPr>
          <p:cNvPr id="9" name="角丸四角形 8">
            <a:extLst>
              <a:ext uri="{FF2B5EF4-FFF2-40B4-BE49-F238E27FC236}">
                <a16:creationId xmlns:a16="http://schemas.microsoft.com/office/drawing/2014/main" id="{B44E38B3-9697-65AF-1E0A-CE143B30BA15}"/>
              </a:ext>
            </a:extLst>
          </p:cNvPr>
          <p:cNvSpPr/>
          <p:nvPr/>
        </p:nvSpPr>
        <p:spPr>
          <a:xfrm>
            <a:off x="6663036" y="1859432"/>
            <a:ext cx="2986322" cy="2154460"/>
          </a:xfrm>
          <a:prstGeom prst="roundRect">
            <a:avLst>
              <a:gd name="adj" fmla="val 3567"/>
            </a:avLst>
          </a:prstGeom>
          <a:solidFill>
            <a:srgbClr val="FFFFFF">
              <a:lumMod val="95000"/>
            </a:srgbClr>
          </a:solidFill>
          <a:ln w="25400" cap="flat" cmpd="sng" algn="ctr">
            <a:solidFill>
              <a:srgbClr val="FFFFFF">
                <a:lumMod val="85000"/>
              </a:srgbClr>
            </a:solidFill>
            <a:prstDash val="solid"/>
          </a:ln>
          <a:effectLst/>
        </p:spPr>
        <p:txBody>
          <a:bodyPr rtlCol="0" anchor="ctr"/>
          <a:lstStyle/>
          <a:p>
            <a:pPr marL="0" marR="0" lvl="0" indent="0" algn="ctr" defTabSz="914400" eaLnBrk="1" fontAlgn="auto" latinLnBrk="0" hangingPunct="1">
              <a:lnSpc>
                <a:spcPct val="100000"/>
              </a:lnSpc>
              <a:spcBef>
                <a:spcPts val="0"/>
              </a:spcBef>
              <a:spcAft>
                <a:spcPts val="0"/>
              </a:spcAft>
              <a:buClr>
                <a:srgbClr val="000000"/>
              </a:buClr>
              <a:buSzTx/>
              <a:buFont typeface="Arial"/>
              <a:buNone/>
              <a:tabLst/>
              <a:defRPr/>
            </a:pPr>
            <a:endParaRPr kumimoji="0" lang="ja-JP" altLang="en-US" sz="1400" b="0" i="0" u="none" strike="noStrike" kern="0" cap="none" spc="0" normalizeH="0" baseline="0" noProof="0">
              <a:ln>
                <a:noFill/>
              </a:ln>
              <a:solidFill>
                <a:srgbClr val="FFFFFF"/>
              </a:solidFill>
              <a:effectLst/>
              <a:uLnTx/>
              <a:uFillTx/>
              <a:latin typeface="Arial"/>
              <a:ea typeface="ＭＳ Ｐゴシック" panose="020B0600070205080204" pitchFamily="50" charset="-128"/>
              <a:cs typeface="+mn-cs"/>
              <a:sym typeface="Arial"/>
            </a:endParaRPr>
          </a:p>
        </p:txBody>
      </p:sp>
      <p:sp>
        <p:nvSpPr>
          <p:cNvPr id="10" name="Google Shape;178;p7">
            <a:extLst>
              <a:ext uri="{FF2B5EF4-FFF2-40B4-BE49-F238E27FC236}">
                <a16:creationId xmlns:a16="http://schemas.microsoft.com/office/drawing/2014/main" id="{227F189E-B3B2-1E1B-232D-81C3B9F95AF9}"/>
              </a:ext>
            </a:extLst>
          </p:cNvPr>
          <p:cNvSpPr txBox="1"/>
          <p:nvPr/>
        </p:nvSpPr>
        <p:spPr>
          <a:xfrm>
            <a:off x="6756034" y="2011960"/>
            <a:ext cx="2800326" cy="459948"/>
          </a:xfrm>
          <a:prstGeom prst="rect">
            <a:avLst/>
          </a:prstGeom>
          <a:noFill/>
          <a:ln>
            <a:noFill/>
          </a:ln>
        </p:spPr>
        <p:txBody>
          <a:bodyPr spcFirstLastPara="1" wrap="square" lIns="150750" tIns="75350" rIns="150750" bIns="75350" anchor="t" anchorCtr="0">
            <a:spAutoFit/>
          </a:bodyPr>
          <a:lstStyle/>
          <a:p>
            <a:pPr lvl="0" algn="ctr">
              <a:buClr>
                <a:schemeClr val="dk1"/>
              </a:buClr>
              <a:buSzPts val="1500"/>
            </a:pPr>
            <a:r>
              <a:rPr lang="en-US" altLang="ja-JP" sz="2000" b="1" dirty="0">
                <a:solidFill>
                  <a:srgbClr val="002060"/>
                </a:solidFill>
                <a:latin typeface="Meiryo"/>
                <a:ea typeface="Meiryo"/>
                <a:cs typeface="Meiryo"/>
                <a:sym typeface="Meiryo"/>
              </a:rPr>
              <a:t>LINE</a:t>
            </a:r>
            <a:r>
              <a:rPr lang="ja-JP" altLang="en-US" sz="2000" b="1" dirty="0">
                <a:solidFill>
                  <a:srgbClr val="002060"/>
                </a:solidFill>
                <a:latin typeface="Meiryo"/>
                <a:ea typeface="Meiryo"/>
                <a:cs typeface="Meiryo"/>
                <a:sym typeface="Meiryo"/>
              </a:rPr>
              <a:t>ポイント</a:t>
            </a:r>
            <a:r>
              <a:rPr lang="en-US" altLang="ja-JP" sz="2000" b="1" dirty="0">
                <a:solidFill>
                  <a:srgbClr val="002060"/>
                </a:solidFill>
                <a:latin typeface="Meiryo"/>
                <a:ea typeface="Meiryo"/>
                <a:cs typeface="Meiryo"/>
                <a:sym typeface="Meiryo"/>
              </a:rPr>
              <a:t>Ads</a:t>
            </a:r>
            <a:endParaRPr lang="en-US" altLang="ja-JP" sz="1400" b="1" dirty="0">
              <a:solidFill>
                <a:srgbClr val="002060"/>
              </a:solidFill>
              <a:latin typeface="Meiryo"/>
              <a:ea typeface="Meiryo"/>
              <a:cs typeface="Meiryo"/>
              <a:sym typeface="Meiryo"/>
            </a:endParaRPr>
          </a:p>
        </p:txBody>
      </p:sp>
      <p:sp>
        <p:nvSpPr>
          <p:cNvPr id="11" name="角丸四角形 7">
            <a:extLst>
              <a:ext uri="{FF2B5EF4-FFF2-40B4-BE49-F238E27FC236}">
                <a16:creationId xmlns:a16="http://schemas.microsoft.com/office/drawing/2014/main" id="{246EA7DE-13D3-9A9C-9E03-EF6250D306DC}"/>
              </a:ext>
            </a:extLst>
          </p:cNvPr>
          <p:cNvSpPr/>
          <p:nvPr/>
        </p:nvSpPr>
        <p:spPr>
          <a:xfrm>
            <a:off x="3462784" y="1856559"/>
            <a:ext cx="2986322" cy="2154460"/>
          </a:xfrm>
          <a:prstGeom prst="roundRect">
            <a:avLst>
              <a:gd name="adj" fmla="val 3567"/>
            </a:avLst>
          </a:prstGeom>
          <a:solidFill>
            <a:srgbClr val="FFFFFF">
              <a:lumMod val="95000"/>
            </a:srgbClr>
          </a:solidFill>
          <a:ln w="25400" cap="flat" cmpd="sng" algn="ctr">
            <a:solidFill>
              <a:srgbClr val="FFFFFF">
                <a:lumMod val="85000"/>
              </a:srgbClr>
            </a:solidFill>
            <a:prstDash val="solid"/>
          </a:ln>
          <a:effectLst/>
        </p:spPr>
        <p:txBody>
          <a:bodyPr rtlCol="0" anchor="ctr"/>
          <a:lstStyle/>
          <a:p>
            <a:pPr marL="0" marR="0" lvl="0" indent="0" algn="ctr" defTabSz="914400" eaLnBrk="1" fontAlgn="auto" latinLnBrk="0" hangingPunct="1">
              <a:lnSpc>
                <a:spcPct val="100000"/>
              </a:lnSpc>
              <a:spcBef>
                <a:spcPts val="0"/>
              </a:spcBef>
              <a:spcAft>
                <a:spcPts val="0"/>
              </a:spcAft>
              <a:buClr>
                <a:srgbClr val="000000"/>
              </a:buClr>
              <a:buSzTx/>
              <a:buFont typeface="Arial"/>
              <a:buNone/>
              <a:tabLst/>
              <a:defRPr/>
            </a:pPr>
            <a:endParaRPr kumimoji="0" lang="ja-JP" altLang="en-US" sz="1400" b="0" i="0" u="none" strike="noStrike" kern="0" cap="none" spc="0" normalizeH="0" baseline="0" noProof="0">
              <a:ln>
                <a:noFill/>
              </a:ln>
              <a:solidFill>
                <a:srgbClr val="FFFFFF"/>
              </a:solidFill>
              <a:effectLst/>
              <a:uLnTx/>
              <a:uFillTx/>
              <a:latin typeface="Arial"/>
              <a:ea typeface="ＭＳ Ｐゴシック" panose="020B0600070205080204" pitchFamily="50" charset="-128"/>
              <a:cs typeface="+mn-cs"/>
              <a:sym typeface="Arial"/>
            </a:endParaRPr>
          </a:p>
        </p:txBody>
      </p:sp>
      <p:sp>
        <p:nvSpPr>
          <p:cNvPr id="12" name="Google Shape;178;p7">
            <a:extLst>
              <a:ext uri="{FF2B5EF4-FFF2-40B4-BE49-F238E27FC236}">
                <a16:creationId xmlns:a16="http://schemas.microsoft.com/office/drawing/2014/main" id="{5045D5F0-5F86-568D-455F-0F514426CF62}"/>
              </a:ext>
            </a:extLst>
          </p:cNvPr>
          <p:cNvSpPr txBox="1"/>
          <p:nvPr/>
        </p:nvSpPr>
        <p:spPr>
          <a:xfrm>
            <a:off x="3563068" y="2011960"/>
            <a:ext cx="2800326" cy="459948"/>
          </a:xfrm>
          <a:prstGeom prst="rect">
            <a:avLst/>
          </a:prstGeom>
          <a:noFill/>
          <a:ln>
            <a:noFill/>
          </a:ln>
        </p:spPr>
        <p:txBody>
          <a:bodyPr spcFirstLastPara="1" wrap="square" lIns="150750" tIns="75350" rIns="150750" bIns="75350" anchor="t" anchorCtr="0">
            <a:spAutoFit/>
          </a:bodyPr>
          <a:lstStyle/>
          <a:p>
            <a:pPr lvl="0" algn="ctr">
              <a:buClr>
                <a:schemeClr val="dk1"/>
              </a:buClr>
              <a:buSzPts val="1500"/>
            </a:pPr>
            <a:r>
              <a:rPr lang="ja-JP" altLang="en-US" sz="2000" b="1" dirty="0">
                <a:solidFill>
                  <a:srgbClr val="002060"/>
                </a:solidFill>
                <a:latin typeface="Meiryo"/>
                <a:ea typeface="Meiryo"/>
                <a:cs typeface="Meiryo"/>
                <a:sym typeface="Meiryo"/>
              </a:rPr>
              <a:t>スタンプ施策</a:t>
            </a:r>
            <a:endParaRPr lang="en-US" altLang="ja-JP" sz="2000" b="1" dirty="0">
              <a:solidFill>
                <a:srgbClr val="002060"/>
              </a:solidFill>
              <a:latin typeface="Meiryo"/>
              <a:ea typeface="Meiryo"/>
              <a:cs typeface="Meiryo"/>
              <a:sym typeface="Meiryo"/>
            </a:endParaRPr>
          </a:p>
        </p:txBody>
      </p:sp>
      <p:sp>
        <p:nvSpPr>
          <p:cNvPr id="13" name="角丸四角形 8">
            <a:extLst>
              <a:ext uri="{FF2B5EF4-FFF2-40B4-BE49-F238E27FC236}">
                <a16:creationId xmlns:a16="http://schemas.microsoft.com/office/drawing/2014/main" id="{3600FC78-1A6B-42D9-C939-11449F5EA1D7}"/>
              </a:ext>
            </a:extLst>
          </p:cNvPr>
          <p:cNvSpPr/>
          <p:nvPr/>
        </p:nvSpPr>
        <p:spPr>
          <a:xfrm>
            <a:off x="262251" y="1859432"/>
            <a:ext cx="2986322" cy="2154460"/>
          </a:xfrm>
          <a:prstGeom prst="roundRect">
            <a:avLst>
              <a:gd name="adj" fmla="val 3567"/>
            </a:avLst>
          </a:prstGeom>
          <a:solidFill>
            <a:srgbClr val="FFFFFF">
              <a:lumMod val="95000"/>
            </a:srgbClr>
          </a:solidFill>
          <a:ln w="25400" cap="flat" cmpd="sng" algn="ctr">
            <a:solidFill>
              <a:srgbClr val="FFFFFF">
                <a:lumMod val="85000"/>
              </a:srgbClr>
            </a:solidFill>
            <a:prstDash val="solid"/>
          </a:ln>
          <a:effectLst/>
        </p:spPr>
        <p:txBody>
          <a:bodyPr rtlCol="0" anchor="ctr"/>
          <a:lstStyle/>
          <a:p>
            <a:pPr marL="0" marR="0" lvl="0" indent="0" algn="ctr" defTabSz="914400" eaLnBrk="1" fontAlgn="auto" latinLnBrk="0" hangingPunct="1">
              <a:lnSpc>
                <a:spcPct val="100000"/>
              </a:lnSpc>
              <a:spcBef>
                <a:spcPts val="0"/>
              </a:spcBef>
              <a:spcAft>
                <a:spcPts val="0"/>
              </a:spcAft>
              <a:buClr>
                <a:srgbClr val="000000"/>
              </a:buClr>
              <a:buSzTx/>
              <a:buFont typeface="Arial"/>
              <a:buNone/>
              <a:tabLst/>
              <a:defRPr/>
            </a:pPr>
            <a:endParaRPr kumimoji="0" lang="ja-JP" altLang="en-US" sz="1400" b="0" i="0" u="none" strike="noStrike" kern="0" cap="none" spc="0" normalizeH="0" baseline="0" noProof="0">
              <a:ln>
                <a:noFill/>
              </a:ln>
              <a:solidFill>
                <a:srgbClr val="FFFFFF"/>
              </a:solidFill>
              <a:effectLst/>
              <a:uLnTx/>
              <a:uFillTx/>
              <a:latin typeface="Arial"/>
              <a:ea typeface="ＭＳ Ｐゴシック" panose="020B0600070205080204" pitchFamily="50" charset="-128"/>
              <a:cs typeface="+mn-cs"/>
              <a:sym typeface="Arial"/>
            </a:endParaRPr>
          </a:p>
        </p:txBody>
      </p:sp>
      <p:sp>
        <p:nvSpPr>
          <p:cNvPr id="14" name="Google Shape;178;p7">
            <a:extLst>
              <a:ext uri="{FF2B5EF4-FFF2-40B4-BE49-F238E27FC236}">
                <a16:creationId xmlns:a16="http://schemas.microsoft.com/office/drawing/2014/main" id="{DE80A45D-1C7E-C6F5-E8EB-2D7BDFC995E0}"/>
              </a:ext>
            </a:extLst>
          </p:cNvPr>
          <p:cNvSpPr txBox="1"/>
          <p:nvPr/>
        </p:nvSpPr>
        <p:spPr>
          <a:xfrm>
            <a:off x="598393" y="2011960"/>
            <a:ext cx="2314319" cy="459948"/>
          </a:xfrm>
          <a:prstGeom prst="rect">
            <a:avLst/>
          </a:prstGeom>
          <a:noFill/>
          <a:ln>
            <a:noFill/>
          </a:ln>
        </p:spPr>
        <p:txBody>
          <a:bodyPr spcFirstLastPara="1" wrap="square" lIns="150750" tIns="75350" rIns="150750" bIns="75350" anchor="t" anchorCtr="0">
            <a:spAutoFit/>
          </a:bodyPr>
          <a:lstStyle/>
          <a:p>
            <a:pPr lvl="0" algn="ctr">
              <a:buClr>
                <a:schemeClr val="dk1"/>
              </a:buClr>
              <a:buSzPts val="1500"/>
            </a:pPr>
            <a:r>
              <a:rPr lang="en-US" altLang="ja-JP" sz="2000" b="1" dirty="0">
                <a:solidFill>
                  <a:srgbClr val="002060"/>
                </a:solidFill>
                <a:latin typeface="Meiryo"/>
                <a:ea typeface="Meiryo"/>
                <a:cs typeface="Meiryo"/>
                <a:sym typeface="Meiryo"/>
              </a:rPr>
              <a:t>CPF</a:t>
            </a:r>
            <a:r>
              <a:rPr lang="ja-JP" altLang="en-US" sz="2000" b="1" dirty="0">
                <a:solidFill>
                  <a:srgbClr val="002060"/>
                </a:solidFill>
                <a:latin typeface="Meiryo"/>
                <a:ea typeface="Meiryo"/>
                <a:cs typeface="Meiryo"/>
                <a:sym typeface="Meiryo"/>
              </a:rPr>
              <a:t>広告</a:t>
            </a:r>
            <a:endParaRPr lang="en-US" altLang="ja-JP" sz="1200" b="1" dirty="0">
              <a:solidFill>
                <a:srgbClr val="002060"/>
              </a:solidFill>
              <a:latin typeface="Meiryo"/>
              <a:ea typeface="Meiryo"/>
              <a:cs typeface="Meiryo"/>
              <a:sym typeface="Meiryo"/>
            </a:endParaRPr>
          </a:p>
        </p:txBody>
      </p:sp>
      <p:sp>
        <p:nvSpPr>
          <p:cNvPr id="16" name="テキスト ボックス 15">
            <a:extLst>
              <a:ext uri="{FF2B5EF4-FFF2-40B4-BE49-F238E27FC236}">
                <a16:creationId xmlns:a16="http://schemas.microsoft.com/office/drawing/2014/main" id="{E2BE065C-FC2C-F8DB-8D4D-6A6CF2961B74}"/>
              </a:ext>
            </a:extLst>
          </p:cNvPr>
          <p:cNvSpPr txBox="1"/>
          <p:nvPr/>
        </p:nvSpPr>
        <p:spPr>
          <a:xfrm>
            <a:off x="6663036" y="5212007"/>
            <a:ext cx="2980713" cy="369332"/>
          </a:xfrm>
          <a:prstGeom prst="rect">
            <a:avLst/>
          </a:prstGeom>
          <a:noFill/>
        </p:spPr>
        <p:txBody>
          <a:bodyPr wrap="square">
            <a:spAutoFit/>
          </a:bodyPr>
          <a:lstStyle/>
          <a:p>
            <a:pPr algn="ctr"/>
            <a:r>
              <a:rPr lang="ja-JP" altLang="en-US" sz="1600" dirty="0">
                <a:latin typeface="Meiryo"/>
                <a:ea typeface="Meiryo"/>
                <a:sym typeface="Meiryo"/>
              </a:rPr>
              <a:t>コンサル発注</a:t>
            </a:r>
            <a:r>
              <a:rPr lang="ja-JP" altLang="en-US" sz="1200" dirty="0">
                <a:latin typeface="Meiryo"/>
                <a:ea typeface="Meiryo"/>
                <a:sym typeface="Meiryo"/>
              </a:rPr>
              <a:t>であれば </a:t>
            </a:r>
            <a:r>
              <a:rPr lang="ja-JP" altLang="en-US" b="1" dirty="0">
                <a:solidFill>
                  <a:srgbClr val="FF0000"/>
                </a:solidFill>
                <a:latin typeface="Meiryo"/>
                <a:ea typeface="Meiryo"/>
                <a:sym typeface="Meiryo"/>
              </a:rPr>
              <a:t>無償</a:t>
            </a:r>
            <a:endParaRPr lang="ja-JP" altLang="en-US" dirty="0">
              <a:solidFill>
                <a:srgbClr val="FF0000"/>
              </a:solidFill>
            </a:endParaRPr>
          </a:p>
        </p:txBody>
      </p:sp>
      <p:sp>
        <p:nvSpPr>
          <p:cNvPr id="18" name="正方形/長方形 17">
            <a:extLst>
              <a:ext uri="{FF2B5EF4-FFF2-40B4-BE49-F238E27FC236}">
                <a16:creationId xmlns:a16="http://schemas.microsoft.com/office/drawing/2014/main" id="{6E06F22F-E0C7-5FD3-4405-6102987BD5DF}"/>
              </a:ext>
            </a:extLst>
          </p:cNvPr>
          <p:cNvSpPr/>
          <p:nvPr/>
        </p:nvSpPr>
        <p:spPr>
          <a:xfrm>
            <a:off x="519852" y="4164059"/>
            <a:ext cx="2453983" cy="611171"/>
          </a:xfrm>
          <a:prstGeom prst="rect">
            <a:avLst/>
          </a:prstGeom>
          <a:solidFill>
            <a:schemeClr val="accent1">
              <a:alpha val="2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9" name="正方形/長方形 18">
            <a:extLst>
              <a:ext uri="{FF2B5EF4-FFF2-40B4-BE49-F238E27FC236}">
                <a16:creationId xmlns:a16="http://schemas.microsoft.com/office/drawing/2014/main" id="{B0050C1C-B390-1662-9BFB-21BE29D83F9A}"/>
              </a:ext>
            </a:extLst>
          </p:cNvPr>
          <p:cNvSpPr/>
          <p:nvPr/>
        </p:nvSpPr>
        <p:spPr>
          <a:xfrm>
            <a:off x="3613540" y="4162491"/>
            <a:ext cx="2699381" cy="611171"/>
          </a:xfrm>
          <a:prstGeom prst="rect">
            <a:avLst/>
          </a:prstGeom>
          <a:solidFill>
            <a:schemeClr val="accent1">
              <a:alpha val="2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0" name="正方形/長方形 19">
            <a:extLst>
              <a:ext uri="{FF2B5EF4-FFF2-40B4-BE49-F238E27FC236}">
                <a16:creationId xmlns:a16="http://schemas.microsoft.com/office/drawing/2014/main" id="{D5EE4289-C478-AD62-AE99-69AE5A069F77}"/>
              </a:ext>
            </a:extLst>
          </p:cNvPr>
          <p:cNvSpPr/>
          <p:nvPr/>
        </p:nvSpPr>
        <p:spPr>
          <a:xfrm>
            <a:off x="6825208" y="4153224"/>
            <a:ext cx="2699381" cy="611171"/>
          </a:xfrm>
          <a:prstGeom prst="rect">
            <a:avLst/>
          </a:prstGeom>
          <a:solidFill>
            <a:schemeClr val="accent1">
              <a:alpha val="2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1" name="正方形/長方形 20">
            <a:extLst>
              <a:ext uri="{FF2B5EF4-FFF2-40B4-BE49-F238E27FC236}">
                <a16:creationId xmlns:a16="http://schemas.microsoft.com/office/drawing/2014/main" id="{1396C237-CE79-2CD6-FC3A-C050A56E6C7C}"/>
              </a:ext>
            </a:extLst>
          </p:cNvPr>
          <p:cNvSpPr/>
          <p:nvPr/>
        </p:nvSpPr>
        <p:spPr>
          <a:xfrm>
            <a:off x="6825208" y="1936348"/>
            <a:ext cx="2699381" cy="611171"/>
          </a:xfrm>
          <a:prstGeom prst="rect">
            <a:avLst/>
          </a:prstGeom>
          <a:solidFill>
            <a:schemeClr val="accent1">
              <a:alpha val="2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2" name="正方形/長方形 21">
            <a:extLst>
              <a:ext uri="{FF2B5EF4-FFF2-40B4-BE49-F238E27FC236}">
                <a16:creationId xmlns:a16="http://schemas.microsoft.com/office/drawing/2014/main" id="{4F441C91-30FF-B254-D31A-0BF09A82F0CC}"/>
              </a:ext>
            </a:extLst>
          </p:cNvPr>
          <p:cNvSpPr/>
          <p:nvPr/>
        </p:nvSpPr>
        <p:spPr>
          <a:xfrm>
            <a:off x="405862" y="1938891"/>
            <a:ext cx="2699381" cy="611171"/>
          </a:xfrm>
          <a:prstGeom prst="rect">
            <a:avLst/>
          </a:prstGeom>
          <a:solidFill>
            <a:schemeClr val="accent1">
              <a:alpha val="2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3" name="正方形/長方形 22">
            <a:extLst>
              <a:ext uri="{FF2B5EF4-FFF2-40B4-BE49-F238E27FC236}">
                <a16:creationId xmlns:a16="http://schemas.microsoft.com/office/drawing/2014/main" id="{0444B2FB-B600-A32F-FC5C-CA7414D41D09}"/>
              </a:ext>
            </a:extLst>
          </p:cNvPr>
          <p:cNvSpPr/>
          <p:nvPr/>
        </p:nvSpPr>
        <p:spPr>
          <a:xfrm>
            <a:off x="3627794" y="1936348"/>
            <a:ext cx="2699381" cy="611171"/>
          </a:xfrm>
          <a:prstGeom prst="rect">
            <a:avLst/>
          </a:prstGeom>
          <a:solidFill>
            <a:schemeClr val="accent1">
              <a:alpha val="2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5" name="テキスト ボックス 24">
            <a:extLst>
              <a:ext uri="{FF2B5EF4-FFF2-40B4-BE49-F238E27FC236}">
                <a16:creationId xmlns:a16="http://schemas.microsoft.com/office/drawing/2014/main" id="{0EB1A30C-0F7E-2CA8-AFC7-86F4D2F0F62E}"/>
              </a:ext>
            </a:extLst>
          </p:cNvPr>
          <p:cNvSpPr txBox="1"/>
          <p:nvPr/>
        </p:nvSpPr>
        <p:spPr>
          <a:xfrm>
            <a:off x="3457175" y="5206261"/>
            <a:ext cx="2980713" cy="369332"/>
          </a:xfrm>
          <a:prstGeom prst="rect">
            <a:avLst/>
          </a:prstGeom>
          <a:noFill/>
        </p:spPr>
        <p:txBody>
          <a:bodyPr wrap="square">
            <a:spAutoFit/>
          </a:bodyPr>
          <a:lstStyle/>
          <a:p>
            <a:pPr algn="ctr"/>
            <a:r>
              <a:rPr lang="ja-JP" altLang="en-US" sz="1600" dirty="0">
                <a:latin typeface="Meiryo"/>
                <a:ea typeface="Meiryo"/>
                <a:sym typeface="Meiryo"/>
              </a:rPr>
              <a:t>コンサル発注</a:t>
            </a:r>
            <a:r>
              <a:rPr lang="ja-JP" altLang="en-US" sz="1200" dirty="0">
                <a:latin typeface="Meiryo"/>
                <a:ea typeface="Meiryo"/>
                <a:sym typeface="Meiryo"/>
              </a:rPr>
              <a:t>であれば </a:t>
            </a:r>
            <a:r>
              <a:rPr lang="ja-JP" altLang="en-US" b="1" dirty="0">
                <a:solidFill>
                  <a:srgbClr val="FF0000"/>
                </a:solidFill>
                <a:latin typeface="Meiryo"/>
                <a:ea typeface="Meiryo"/>
                <a:sym typeface="Meiryo"/>
              </a:rPr>
              <a:t>無償</a:t>
            </a:r>
            <a:endParaRPr lang="ja-JP" altLang="en-US" dirty="0">
              <a:solidFill>
                <a:srgbClr val="FF0000"/>
              </a:solidFill>
            </a:endParaRPr>
          </a:p>
        </p:txBody>
      </p:sp>
      <p:sp>
        <p:nvSpPr>
          <p:cNvPr id="27" name="テキスト ボックス 26">
            <a:extLst>
              <a:ext uri="{FF2B5EF4-FFF2-40B4-BE49-F238E27FC236}">
                <a16:creationId xmlns:a16="http://schemas.microsoft.com/office/drawing/2014/main" id="{E132920A-5E9A-4275-387D-200CCBF9F676}"/>
              </a:ext>
            </a:extLst>
          </p:cNvPr>
          <p:cNvSpPr txBox="1"/>
          <p:nvPr/>
        </p:nvSpPr>
        <p:spPr>
          <a:xfrm>
            <a:off x="251033" y="5206261"/>
            <a:ext cx="2980713" cy="369332"/>
          </a:xfrm>
          <a:prstGeom prst="rect">
            <a:avLst/>
          </a:prstGeom>
          <a:noFill/>
        </p:spPr>
        <p:txBody>
          <a:bodyPr wrap="square">
            <a:spAutoFit/>
          </a:bodyPr>
          <a:lstStyle/>
          <a:p>
            <a:pPr algn="ctr"/>
            <a:r>
              <a:rPr lang="ja-JP" altLang="en-US" b="1" dirty="0">
                <a:solidFill>
                  <a:schemeClr val="tx1">
                    <a:lumMod val="50000"/>
                    <a:lumOff val="50000"/>
                  </a:schemeClr>
                </a:solidFill>
                <a:latin typeface="Meiryo"/>
                <a:ea typeface="Meiryo"/>
                <a:sym typeface="Meiryo"/>
              </a:rPr>
              <a:t>サービス停止中</a:t>
            </a:r>
            <a:endParaRPr lang="ja-JP" altLang="en-US" b="1" dirty="0">
              <a:solidFill>
                <a:schemeClr val="tx1">
                  <a:lumMod val="50000"/>
                  <a:lumOff val="50000"/>
                </a:schemeClr>
              </a:solidFill>
            </a:endParaRPr>
          </a:p>
        </p:txBody>
      </p:sp>
      <p:sp>
        <p:nvSpPr>
          <p:cNvPr id="28" name="テキスト ボックス 27">
            <a:extLst>
              <a:ext uri="{FF2B5EF4-FFF2-40B4-BE49-F238E27FC236}">
                <a16:creationId xmlns:a16="http://schemas.microsoft.com/office/drawing/2014/main" id="{F730E614-90C4-E99C-1611-CBB84BD8881C}"/>
              </a:ext>
            </a:extLst>
          </p:cNvPr>
          <p:cNvSpPr txBox="1"/>
          <p:nvPr/>
        </p:nvSpPr>
        <p:spPr>
          <a:xfrm>
            <a:off x="6680454" y="2978410"/>
            <a:ext cx="2980713" cy="400110"/>
          </a:xfrm>
          <a:prstGeom prst="rect">
            <a:avLst/>
          </a:prstGeom>
          <a:noFill/>
        </p:spPr>
        <p:txBody>
          <a:bodyPr wrap="square">
            <a:spAutoFit/>
          </a:bodyPr>
          <a:lstStyle/>
          <a:p>
            <a:pPr algn="ctr"/>
            <a:r>
              <a:rPr lang="en-US" altLang="ja-JP" sz="2000" b="1" dirty="0">
                <a:solidFill>
                  <a:srgbClr val="FF0000"/>
                </a:solidFill>
                <a:latin typeface="Meiryo"/>
                <a:ea typeface="Meiryo"/>
                <a:sym typeface="Meiryo"/>
              </a:rPr>
              <a:t>200</a:t>
            </a:r>
            <a:r>
              <a:rPr lang="ja-JP" altLang="en-US" sz="2000" b="1" dirty="0">
                <a:solidFill>
                  <a:srgbClr val="FF0000"/>
                </a:solidFill>
                <a:latin typeface="Meiryo"/>
                <a:ea typeface="Meiryo"/>
                <a:sym typeface="Meiryo"/>
              </a:rPr>
              <a:t>万円</a:t>
            </a:r>
            <a:r>
              <a:rPr lang="en-US" altLang="ja-JP" sz="2000" b="1" dirty="0">
                <a:solidFill>
                  <a:srgbClr val="FF0000"/>
                </a:solidFill>
                <a:latin typeface="Meiryo"/>
                <a:ea typeface="Meiryo"/>
                <a:sym typeface="Meiryo"/>
              </a:rPr>
              <a:t>~</a:t>
            </a:r>
            <a:r>
              <a:rPr lang="ja-JP" altLang="en-US" sz="1200" dirty="0">
                <a:latin typeface="Meiryo"/>
                <a:ea typeface="Meiryo"/>
                <a:sym typeface="Meiryo"/>
              </a:rPr>
              <a:t>（期間合計）</a:t>
            </a:r>
            <a:endParaRPr lang="ja-JP" altLang="en-US" sz="2000" dirty="0">
              <a:solidFill>
                <a:srgbClr val="FF0000"/>
              </a:solidFill>
            </a:endParaRPr>
          </a:p>
        </p:txBody>
      </p:sp>
      <p:sp>
        <p:nvSpPr>
          <p:cNvPr id="29" name="テキスト ボックス 28">
            <a:extLst>
              <a:ext uri="{FF2B5EF4-FFF2-40B4-BE49-F238E27FC236}">
                <a16:creationId xmlns:a16="http://schemas.microsoft.com/office/drawing/2014/main" id="{BD4CB354-FCE0-FE83-2308-4BB89D24B9EE}"/>
              </a:ext>
            </a:extLst>
          </p:cNvPr>
          <p:cNvSpPr txBox="1"/>
          <p:nvPr/>
        </p:nvSpPr>
        <p:spPr>
          <a:xfrm>
            <a:off x="3474593" y="2972664"/>
            <a:ext cx="2980713" cy="400110"/>
          </a:xfrm>
          <a:prstGeom prst="rect">
            <a:avLst/>
          </a:prstGeom>
          <a:noFill/>
        </p:spPr>
        <p:txBody>
          <a:bodyPr wrap="square">
            <a:spAutoFit/>
          </a:bodyPr>
          <a:lstStyle/>
          <a:p>
            <a:pPr algn="ctr"/>
            <a:r>
              <a:rPr lang="en-US" altLang="ja-JP" sz="2000" b="1" dirty="0">
                <a:solidFill>
                  <a:srgbClr val="FF0000"/>
                </a:solidFill>
                <a:latin typeface="Meiryo"/>
                <a:ea typeface="Meiryo"/>
                <a:sym typeface="Meiryo"/>
              </a:rPr>
              <a:t>200</a:t>
            </a:r>
            <a:r>
              <a:rPr lang="ja-JP" altLang="en-US" sz="2000" b="1" dirty="0">
                <a:solidFill>
                  <a:srgbClr val="FF0000"/>
                </a:solidFill>
                <a:latin typeface="Meiryo"/>
                <a:ea typeface="Meiryo"/>
                <a:sym typeface="Meiryo"/>
              </a:rPr>
              <a:t>万円</a:t>
            </a:r>
            <a:r>
              <a:rPr lang="en-US" altLang="ja-JP" sz="2000" b="1" dirty="0">
                <a:solidFill>
                  <a:srgbClr val="FF0000"/>
                </a:solidFill>
                <a:latin typeface="Meiryo"/>
                <a:ea typeface="Meiryo"/>
                <a:sym typeface="Meiryo"/>
              </a:rPr>
              <a:t>~</a:t>
            </a:r>
            <a:r>
              <a:rPr lang="ja-JP" altLang="en-US" sz="1200" dirty="0">
                <a:latin typeface="Meiryo"/>
                <a:ea typeface="Meiryo"/>
                <a:sym typeface="Meiryo"/>
              </a:rPr>
              <a:t>（期間合計）</a:t>
            </a:r>
            <a:endParaRPr lang="ja-JP" altLang="en-US" sz="2000" dirty="0">
              <a:solidFill>
                <a:srgbClr val="FF0000"/>
              </a:solidFill>
            </a:endParaRPr>
          </a:p>
        </p:txBody>
      </p:sp>
      <p:sp>
        <p:nvSpPr>
          <p:cNvPr id="30" name="テキスト ボックス 29">
            <a:extLst>
              <a:ext uri="{FF2B5EF4-FFF2-40B4-BE49-F238E27FC236}">
                <a16:creationId xmlns:a16="http://schemas.microsoft.com/office/drawing/2014/main" id="{409CCF04-7F2B-649D-F219-27BCA34C2D62}"/>
              </a:ext>
            </a:extLst>
          </p:cNvPr>
          <p:cNvSpPr txBox="1"/>
          <p:nvPr/>
        </p:nvSpPr>
        <p:spPr>
          <a:xfrm>
            <a:off x="268451" y="2972664"/>
            <a:ext cx="2980713" cy="400110"/>
          </a:xfrm>
          <a:prstGeom prst="rect">
            <a:avLst/>
          </a:prstGeom>
          <a:noFill/>
        </p:spPr>
        <p:txBody>
          <a:bodyPr wrap="square">
            <a:spAutoFit/>
          </a:bodyPr>
          <a:lstStyle/>
          <a:p>
            <a:pPr algn="ctr"/>
            <a:r>
              <a:rPr lang="en-US" altLang="ja-JP" sz="2000" b="1" dirty="0">
                <a:solidFill>
                  <a:srgbClr val="FF0000"/>
                </a:solidFill>
                <a:latin typeface="Meiryo"/>
                <a:ea typeface="Meiryo"/>
                <a:sym typeface="Meiryo"/>
              </a:rPr>
              <a:t>20</a:t>
            </a:r>
            <a:r>
              <a:rPr lang="ja-JP" altLang="en-US" sz="2000" b="1" dirty="0">
                <a:solidFill>
                  <a:srgbClr val="FF0000"/>
                </a:solidFill>
                <a:latin typeface="Meiryo"/>
                <a:ea typeface="Meiryo"/>
                <a:sym typeface="Meiryo"/>
              </a:rPr>
              <a:t>万円</a:t>
            </a:r>
            <a:r>
              <a:rPr lang="en-US" altLang="ja-JP" sz="2000" b="1" dirty="0">
                <a:solidFill>
                  <a:srgbClr val="FF0000"/>
                </a:solidFill>
                <a:latin typeface="Meiryo"/>
                <a:ea typeface="Meiryo"/>
                <a:sym typeface="Meiryo"/>
              </a:rPr>
              <a:t>~</a:t>
            </a:r>
            <a:r>
              <a:rPr lang="ja-JP" altLang="en-US" sz="1200" dirty="0">
                <a:latin typeface="Meiryo"/>
                <a:ea typeface="Meiryo"/>
                <a:sym typeface="Meiryo"/>
              </a:rPr>
              <a:t>（</a:t>
            </a:r>
            <a:r>
              <a:rPr lang="en-US" altLang="ja-JP" sz="1200" dirty="0">
                <a:latin typeface="Meiryo"/>
                <a:ea typeface="Meiryo"/>
                <a:sym typeface="Meiryo"/>
              </a:rPr>
              <a:t>1</a:t>
            </a:r>
            <a:r>
              <a:rPr lang="ja-JP" altLang="en-US" sz="1200" dirty="0">
                <a:latin typeface="Meiryo"/>
                <a:ea typeface="Meiryo"/>
                <a:sym typeface="Meiryo"/>
              </a:rPr>
              <a:t>ヶ月</a:t>
            </a:r>
            <a:r>
              <a:rPr lang="en-US" altLang="ja-JP" sz="1200" dirty="0">
                <a:latin typeface="Meiryo"/>
                <a:ea typeface="Meiryo"/>
                <a:sym typeface="Meiryo"/>
              </a:rPr>
              <a:t>~</a:t>
            </a:r>
            <a:r>
              <a:rPr lang="ja-JP" altLang="en-US" sz="1200" dirty="0">
                <a:latin typeface="Meiryo"/>
                <a:ea typeface="Meiryo"/>
                <a:sym typeface="Meiryo"/>
              </a:rPr>
              <a:t>）</a:t>
            </a:r>
            <a:endParaRPr lang="ja-JP" altLang="en-US" sz="2000" dirty="0">
              <a:solidFill>
                <a:srgbClr val="FF0000"/>
              </a:solidFill>
            </a:endParaRPr>
          </a:p>
        </p:txBody>
      </p:sp>
      <p:sp>
        <p:nvSpPr>
          <p:cNvPr id="31" name="正方形/長方形 30">
            <a:extLst>
              <a:ext uri="{FF2B5EF4-FFF2-40B4-BE49-F238E27FC236}">
                <a16:creationId xmlns:a16="http://schemas.microsoft.com/office/drawing/2014/main" id="{48479E1B-BB51-2C74-9251-6EC7A8EFC419}"/>
              </a:ext>
            </a:extLst>
          </p:cNvPr>
          <p:cNvSpPr/>
          <p:nvPr/>
        </p:nvSpPr>
        <p:spPr>
          <a:xfrm>
            <a:off x="663410" y="899253"/>
            <a:ext cx="8628148" cy="584775"/>
          </a:xfrm>
          <a:prstGeom prst="rect">
            <a:avLst/>
          </a:prstGeom>
        </p:spPr>
        <p:txBody>
          <a:bodyPr wrap="square">
            <a:sp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lvl="0" algn="ctr">
              <a:buClr>
                <a:srgbClr val="002060"/>
              </a:buClr>
              <a:buSzPts val="1600"/>
            </a:pPr>
            <a:r>
              <a:rPr lang="ja-JP" altLang="en-US" sz="1600" b="1" dirty="0">
                <a:solidFill>
                  <a:schemeClr val="tx1">
                    <a:lumMod val="65000"/>
                    <a:lumOff val="35000"/>
                  </a:schemeClr>
                </a:solidFill>
                <a:latin typeface="Meiryo"/>
                <a:ea typeface="Meiryo"/>
                <a:cs typeface="Meiryo"/>
                <a:sym typeface="Meiryo"/>
              </a:rPr>
              <a:t>各拡張施策についても</a:t>
            </a:r>
            <a:r>
              <a:rPr lang="en-US" altLang="ja-JP" sz="1600" b="1" dirty="0">
                <a:solidFill>
                  <a:schemeClr val="tx1">
                    <a:lumMod val="65000"/>
                    <a:lumOff val="35000"/>
                  </a:schemeClr>
                </a:solidFill>
                <a:latin typeface="Meiryo"/>
                <a:ea typeface="Meiryo"/>
                <a:cs typeface="Meiryo"/>
                <a:sym typeface="Meiryo"/>
              </a:rPr>
              <a:t>MIN</a:t>
            </a:r>
            <a:r>
              <a:rPr lang="ja-JP" altLang="en-US" sz="1600" b="1" dirty="0">
                <a:solidFill>
                  <a:schemeClr val="tx1">
                    <a:lumMod val="65000"/>
                    <a:lumOff val="35000"/>
                  </a:schemeClr>
                </a:solidFill>
                <a:latin typeface="Meiryo"/>
                <a:ea typeface="Meiryo"/>
                <a:cs typeface="Meiryo"/>
                <a:sym typeface="Meiryo"/>
              </a:rPr>
              <a:t>金額からの発注、動線設計が可能です。</a:t>
            </a:r>
            <a:endParaRPr lang="en-US" altLang="ja-JP" sz="1600" b="1" dirty="0">
              <a:solidFill>
                <a:schemeClr val="tx1">
                  <a:lumMod val="65000"/>
                  <a:lumOff val="35000"/>
                </a:schemeClr>
              </a:solidFill>
              <a:latin typeface="Meiryo"/>
              <a:ea typeface="Meiryo"/>
              <a:cs typeface="Meiryo"/>
              <a:sym typeface="Meiryo"/>
            </a:endParaRPr>
          </a:p>
          <a:p>
            <a:pPr lvl="0" algn="ctr">
              <a:buClr>
                <a:srgbClr val="002060"/>
              </a:buClr>
              <a:buSzPts val="1600"/>
            </a:pPr>
            <a:r>
              <a:rPr lang="en-US" altLang="ja-JP" sz="1600" b="1" dirty="0">
                <a:solidFill>
                  <a:schemeClr val="tx1">
                    <a:lumMod val="65000"/>
                    <a:lumOff val="35000"/>
                  </a:schemeClr>
                </a:solidFill>
                <a:latin typeface="Meiryo"/>
                <a:ea typeface="Meiryo"/>
                <a:cs typeface="Meiryo"/>
                <a:sym typeface="Meiryo"/>
              </a:rPr>
              <a:t>LINE</a:t>
            </a:r>
            <a:r>
              <a:rPr lang="ja-JP" altLang="en-US" sz="1600" b="1" dirty="0">
                <a:solidFill>
                  <a:schemeClr val="tx1">
                    <a:lumMod val="65000"/>
                    <a:lumOff val="35000"/>
                  </a:schemeClr>
                </a:solidFill>
                <a:latin typeface="Meiryo"/>
                <a:ea typeface="Meiryo"/>
                <a:cs typeface="Meiryo"/>
                <a:sym typeface="Meiryo"/>
              </a:rPr>
              <a:t>友だち追加後の動線設計（特に友だち追加後すぐ）の検証後の拡大施策として用意。</a:t>
            </a:r>
            <a:endParaRPr lang="en-US" altLang="ja-JP" sz="1600" b="1" dirty="0">
              <a:solidFill>
                <a:schemeClr val="tx1">
                  <a:lumMod val="65000"/>
                  <a:lumOff val="35000"/>
                </a:schemeClr>
              </a:solidFill>
              <a:latin typeface="Meiryo"/>
              <a:ea typeface="Meiryo"/>
              <a:cs typeface="Meiryo"/>
              <a:sym typeface="Meiryo"/>
            </a:endParaRPr>
          </a:p>
        </p:txBody>
      </p:sp>
    </p:spTree>
    <p:extLst>
      <p:ext uri="{BB962C8B-B14F-4D97-AF65-F5344CB8AC3E}">
        <p14:creationId xmlns:p14="http://schemas.microsoft.com/office/powerpoint/2010/main" val="3006703471"/>
      </p:ext>
    </p:extLst>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D40CEAE-3814-32E7-D45E-2C4EC8610FFA}"/>
            </a:ext>
          </a:extLst>
        </p:cNvPr>
        <p:cNvGrpSpPr/>
        <p:nvPr/>
      </p:nvGrpSpPr>
      <p:grpSpPr>
        <a:xfrm>
          <a:off x="0" y="0"/>
          <a:ext cx="0" cy="0"/>
          <a:chOff x="0" y="0"/>
          <a:chExt cx="0" cy="0"/>
        </a:xfrm>
      </p:grpSpPr>
      <p:sp>
        <p:nvSpPr>
          <p:cNvPr id="4" name="Google Shape;752;p28">
            <a:extLst>
              <a:ext uri="{FF2B5EF4-FFF2-40B4-BE49-F238E27FC236}">
                <a16:creationId xmlns:a16="http://schemas.microsoft.com/office/drawing/2014/main" id="{6CD37268-DB4A-D96C-3487-68A9F7301931}"/>
              </a:ext>
            </a:extLst>
          </p:cNvPr>
          <p:cNvSpPr txBox="1"/>
          <p:nvPr/>
        </p:nvSpPr>
        <p:spPr>
          <a:xfrm>
            <a:off x="548883" y="138137"/>
            <a:ext cx="6276325" cy="338514"/>
          </a:xfrm>
          <a:prstGeom prst="rect">
            <a:avLst/>
          </a:prstGeom>
          <a:noFill/>
          <a:ln>
            <a:noFill/>
          </a:ln>
        </p:spPr>
        <p:txBody>
          <a:bodyPr spcFirstLastPara="1" wrap="square" lIns="91425" tIns="45700" rIns="91425" bIns="45700" anchor="ctr" anchorCtr="0">
            <a:spAutoFit/>
          </a:bodyPr>
          <a:lstStyle/>
          <a:p>
            <a:pPr lvl="0"/>
            <a:r>
              <a:rPr lang="ja-JP" altLang="en-US" sz="1600" b="1" dirty="0">
                <a:solidFill>
                  <a:srgbClr val="323366"/>
                </a:solidFill>
                <a:latin typeface="メイリオ" panose="020B0604030504040204" pitchFamily="50" charset="-128"/>
                <a:ea typeface="メイリオ" panose="020B0604030504040204" pitchFamily="50" charset="-128"/>
                <a:cs typeface="Meiryo"/>
                <a:sym typeface="Meiryo"/>
              </a:rPr>
              <a:t>提供施策について</a:t>
            </a:r>
          </a:p>
        </p:txBody>
      </p:sp>
      <p:pic>
        <p:nvPicPr>
          <p:cNvPr id="52" name="図 51">
            <a:extLst>
              <a:ext uri="{FF2B5EF4-FFF2-40B4-BE49-F238E27FC236}">
                <a16:creationId xmlns:a16="http://schemas.microsoft.com/office/drawing/2014/main" id="{190D62DD-D102-4473-AB6A-16C880141BF8}"/>
              </a:ext>
            </a:extLst>
          </p:cNvPr>
          <p:cNvPicPr>
            <a:picLocks noChangeAspect="1"/>
          </p:cNvPicPr>
          <p:nvPr/>
        </p:nvPicPr>
        <p:blipFill>
          <a:blip r:embed="rId2"/>
          <a:stretch>
            <a:fillRect/>
          </a:stretch>
        </p:blipFill>
        <p:spPr>
          <a:xfrm>
            <a:off x="554449" y="1858069"/>
            <a:ext cx="4461381" cy="1873780"/>
          </a:xfrm>
          <a:prstGeom prst="rect">
            <a:avLst/>
          </a:prstGeom>
        </p:spPr>
      </p:pic>
      <p:sp>
        <p:nvSpPr>
          <p:cNvPr id="53" name="正方形/長方形 52">
            <a:extLst>
              <a:ext uri="{FF2B5EF4-FFF2-40B4-BE49-F238E27FC236}">
                <a16:creationId xmlns:a16="http://schemas.microsoft.com/office/drawing/2014/main" id="{1E454A9D-8A4D-3389-458B-9DC647A79863}"/>
              </a:ext>
            </a:extLst>
          </p:cNvPr>
          <p:cNvSpPr/>
          <p:nvPr/>
        </p:nvSpPr>
        <p:spPr>
          <a:xfrm>
            <a:off x="419696" y="732614"/>
            <a:ext cx="2365444" cy="673262"/>
          </a:xfrm>
          <a:prstGeom prst="rect">
            <a:avLst/>
          </a:prstGeom>
          <a:solidFill>
            <a:srgbClr val="00206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1pPr>
            <a:lvl2pPr marR="0" lvl="1"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2pPr>
            <a:lvl3pPr marR="0" lvl="2"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3pPr>
            <a:lvl4pPr marR="0" lvl="3"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4pPr>
            <a:lvl5pPr marR="0" lvl="4"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5pPr>
            <a:lvl6pPr marR="0" lvl="5"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6pPr>
            <a:lvl7pPr marR="0" lvl="6"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7pPr>
            <a:lvl8pPr marR="0" lvl="7"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8pPr>
            <a:lvl9pPr marR="0" lvl="8"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9pPr>
          </a:lstStyle>
          <a:p>
            <a:pPr algn="ctr"/>
            <a:r>
              <a:rPr lang="en-US" altLang="ja-JP" sz="1600" b="1" dirty="0">
                <a:latin typeface="メイリオ" panose="020B0604030504040204" pitchFamily="50" charset="-128"/>
                <a:ea typeface="メイリオ" panose="020B0604030504040204" pitchFamily="50" charset="-128"/>
              </a:rPr>
              <a:t>LINE</a:t>
            </a:r>
            <a:r>
              <a:rPr lang="ja-JP" altLang="en-US" sz="1600" b="1" dirty="0">
                <a:latin typeface="メイリオ" panose="020B0604030504040204" pitchFamily="50" charset="-128"/>
                <a:ea typeface="メイリオ" panose="020B0604030504040204" pitchFamily="50" charset="-128"/>
              </a:rPr>
              <a:t>広告</a:t>
            </a:r>
            <a:r>
              <a:rPr lang="ja-JP" altLang="en-US" sz="1200" b="1" dirty="0">
                <a:latin typeface="メイリオ" panose="020B0604030504040204" pitchFamily="50" charset="-128"/>
                <a:ea typeface="メイリオ" panose="020B0604030504040204" pitchFamily="50" charset="-128"/>
              </a:rPr>
              <a:t>（友だち追加）</a:t>
            </a:r>
            <a:endParaRPr lang="en-US" altLang="ja-JP" sz="1200" b="1" dirty="0">
              <a:latin typeface="メイリオ" panose="020B0604030504040204" pitchFamily="50" charset="-128"/>
              <a:ea typeface="メイリオ" panose="020B0604030504040204" pitchFamily="50" charset="-128"/>
            </a:endParaRPr>
          </a:p>
          <a:p>
            <a:pPr algn="ctr"/>
            <a:r>
              <a:rPr lang="en-US" altLang="ja-JP" sz="1200" b="1" dirty="0">
                <a:solidFill>
                  <a:srgbClr val="FFFF00"/>
                </a:solidFill>
                <a:latin typeface="メイリオ" panose="020B0604030504040204" pitchFamily="50" charset="-128"/>
                <a:ea typeface="メイリオ" panose="020B0604030504040204" pitchFamily="50" charset="-128"/>
              </a:rPr>
              <a:t>※CPF</a:t>
            </a:r>
            <a:r>
              <a:rPr lang="ja-JP" altLang="en-US" sz="1200" b="1" dirty="0">
                <a:solidFill>
                  <a:srgbClr val="FFFF00"/>
                </a:solidFill>
                <a:latin typeface="メイリオ" panose="020B0604030504040204" pitchFamily="50" charset="-128"/>
                <a:ea typeface="メイリオ" panose="020B0604030504040204" pitchFamily="50" charset="-128"/>
              </a:rPr>
              <a:t>広告</a:t>
            </a:r>
            <a:r>
              <a:rPr lang="en-US" altLang="ja-JP" sz="1200" b="1" dirty="0">
                <a:solidFill>
                  <a:srgbClr val="FFFF00"/>
                </a:solidFill>
                <a:latin typeface="メイリオ" panose="020B0604030504040204" pitchFamily="50" charset="-128"/>
                <a:ea typeface="メイリオ" panose="020B0604030504040204" pitchFamily="50" charset="-128"/>
              </a:rPr>
              <a:t>※</a:t>
            </a:r>
          </a:p>
        </p:txBody>
      </p:sp>
      <p:sp>
        <p:nvSpPr>
          <p:cNvPr id="54" name="正方形/長方形 53">
            <a:extLst>
              <a:ext uri="{FF2B5EF4-FFF2-40B4-BE49-F238E27FC236}">
                <a16:creationId xmlns:a16="http://schemas.microsoft.com/office/drawing/2014/main" id="{CBF7AEFA-2BE6-4972-0C9D-4ED6780F0997}"/>
              </a:ext>
            </a:extLst>
          </p:cNvPr>
          <p:cNvSpPr/>
          <p:nvPr/>
        </p:nvSpPr>
        <p:spPr>
          <a:xfrm>
            <a:off x="2938369" y="776858"/>
            <a:ext cx="6482455" cy="584775"/>
          </a:xfrm>
          <a:prstGeom prst="rect">
            <a:avLst/>
          </a:prstGeom>
        </p:spPr>
        <p:txBody>
          <a:bodyPr wrap="square">
            <a:sp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lvl="0">
              <a:buClr>
                <a:srgbClr val="002060"/>
              </a:buClr>
              <a:buSzPts val="1600"/>
            </a:pPr>
            <a:r>
              <a:rPr lang="en-US" altLang="ja-JP" sz="1600" b="1" dirty="0">
                <a:solidFill>
                  <a:schemeClr val="tx1">
                    <a:lumMod val="65000"/>
                    <a:lumOff val="35000"/>
                  </a:schemeClr>
                </a:solidFill>
                <a:latin typeface="Meiryo"/>
                <a:ea typeface="Meiryo"/>
                <a:cs typeface="Meiryo"/>
                <a:sym typeface="Meiryo"/>
              </a:rPr>
              <a:t>LINE</a:t>
            </a:r>
            <a:r>
              <a:rPr lang="ja-JP" altLang="en-US" sz="1600" b="1" dirty="0">
                <a:solidFill>
                  <a:schemeClr val="tx1">
                    <a:lumMod val="65000"/>
                    <a:lumOff val="35000"/>
                  </a:schemeClr>
                </a:solidFill>
                <a:latin typeface="Meiryo"/>
                <a:ea typeface="Meiryo"/>
                <a:cs typeface="Meiryo"/>
                <a:sym typeface="Meiryo"/>
              </a:rPr>
              <a:t>公式アカウントの友だちを増やすための広告を、</a:t>
            </a:r>
            <a:br>
              <a:rPr lang="en-US" altLang="ja-JP" sz="1600" b="1" dirty="0">
                <a:solidFill>
                  <a:schemeClr val="tx1">
                    <a:lumMod val="65000"/>
                    <a:lumOff val="35000"/>
                  </a:schemeClr>
                </a:solidFill>
                <a:latin typeface="Meiryo"/>
                <a:ea typeface="Meiryo"/>
                <a:cs typeface="Meiryo"/>
                <a:sym typeface="Meiryo"/>
              </a:rPr>
            </a:br>
            <a:r>
              <a:rPr lang="en-US" altLang="ja-JP" sz="1600" b="1" dirty="0">
                <a:solidFill>
                  <a:schemeClr val="tx1">
                    <a:lumMod val="65000"/>
                    <a:lumOff val="35000"/>
                  </a:schemeClr>
                </a:solidFill>
                <a:latin typeface="Meiryo"/>
                <a:ea typeface="Meiryo"/>
                <a:cs typeface="Meiryo"/>
                <a:sym typeface="Meiryo"/>
              </a:rPr>
              <a:t>LINE</a:t>
            </a:r>
            <a:r>
              <a:rPr lang="ja-JP" altLang="en-US" sz="1600" b="1" dirty="0">
                <a:solidFill>
                  <a:schemeClr val="tx1">
                    <a:lumMod val="65000"/>
                    <a:lumOff val="35000"/>
                  </a:schemeClr>
                </a:solidFill>
                <a:latin typeface="Meiryo"/>
                <a:ea typeface="Meiryo"/>
                <a:cs typeface="Meiryo"/>
                <a:sym typeface="Meiryo"/>
              </a:rPr>
              <a:t>広告の管理画面より</a:t>
            </a:r>
            <a:r>
              <a:rPr lang="en-US" altLang="ja-JP" sz="1600" b="1" dirty="0">
                <a:solidFill>
                  <a:schemeClr val="tx1">
                    <a:lumMod val="65000"/>
                    <a:lumOff val="35000"/>
                  </a:schemeClr>
                </a:solidFill>
                <a:latin typeface="Meiryo"/>
                <a:ea typeface="Meiryo"/>
                <a:cs typeface="Meiryo"/>
                <a:sym typeface="Meiryo"/>
              </a:rPr>
              <a:t>LINE</a:t>
            </a:r>
            <a:r>
              <a:rPr lang="ja-JP" altLang="en-US" sz="1600" b="1" dirty="0">
                <a:solidFill>
                  <a:schemeClr val="tx1">
                    <a:lumMod val="65000"/>
                    <a:lumOff val="35000"/>
                  </a:schemeClr>
                </a:solidFill>
                <a:latin typeface="Meiryo"/>
                <a:ea typeface="Meiryo"/>
                <a:cs typeface="Meiryo"/>
                <a:sym typeface="Meiryo"/>
              </a:rPr>
              <a:t>アプリ内で掲載できる機能。</a:t>
            </a:r>
            <a:endParaRPr lang="en-US" altLang="ja-JP" sz="1600" b="1" dirty="0">
              <a:solidFill>
                <a:schemeClr val="tx1">
                  <a:lumMod val="65000"/>
                  <a:lumOff val="35000"/>
                </a:schemeClr>
              </a:solidFill>
              <a:latin typeface="Meiryo"/>
              <a:ea typeface="Meiryo"/>
              <a:cs typeface="Meiryo"/>
              <a:sym typeface="Meiryo"/>
            </a:endParaRPr>
          </a:p>
        </p:txBody>
      </p:sp>
      <p:grpSp>
        <p:nvGrpSpPr>
          <p:cNvPr id="55" name="グループ化 54">
            <a:extLst>
              <a:ext uri="{FF2B5EF4-FFF2-40B4-BE49-F238E27FC236}">
                <a16:creationId xmlns:a16="http://schemas.microsoft.com/office/drawing/2014/main" id="{AA1E2469-A533-1A69-9E3E-DCA5ECAE64F8}"/>
              </a:ext>
            </a:extLst>
          </p:cNvPr>
          <p:cNvGrpSpPr/>
          <p:nvPr/>
        </p:nvGrpSpPr>
        <p:grpSpPr>
          <a:xfrm>
            <a:off x="516143" y="1563631"/>
            <a:ext cx="2696339" cy="312276"/>
            <a:chOff x="548883" y="1619331"/>
            <a:chExt cx="2696339" cy="312276"/>
          </a:xfrm>
        </p:grpSpPr>
        <p:sp>
          <p:nvSpPr>
            <p:cNvPr id="56" name="四角形: 角を丸くする 55">
              <a:extLst>
                <a:ext uri="{FF2B5EF4-FFF2-40B4-BE49-F238E27FC236}">
                  <a16:creationId xmlns:a16="http://schemas.microsoft.com/office/drawing/2014/main" id="{A2BD085E-2BC4-9C8E-5DC8-B72B3DDB8E8D}"/>
                </a:ext>
              </a:extLst>
            </p:cNvPr>
            <p:cNvSpPr/>
            <p:nvPr/>
          </p:nvSpPr>
          <p:spPr>
            <a:xfrm>
              <a:off x="548883" y="1619331"/>
              <a:ext cx="2696339" cy="302592"/>
            </a:xfrm>
            <a:prstGeom prst="roundRect">
              <a:avLst/>
            </a:prstGeom>
            <a:solidFill>
              <a:schemeClr val="accent1">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1pPr>
              <a:lvl2pPr marR="0" lvl="1"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2pPr>
              <a:lvl3pPr marR="0" lvl="2"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3pPr>
              <a:lvl4pPr marR="0" lvl="3"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4pPr>
              <a:lvl5pPr marR="0" lvl="4"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5pPr>
              <a:lvl6pPr marR="0" lvl="5"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6pPr>
              <a:lvl7pPr marR="0" lvl="6"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7pPr>
              <a:lvl8pPr marR="0" lvl="7"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8pPr>
              <a:lvl9pPr marR="0" lvl="8"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9pPr>
            </a:lstStyle>
            <a:p>
              <a:pPr algn="ctr"/>
              <a:endParaRPr kumimoji="1" lang="ja-JP" altLang="en-US"/>
            </a:p>
          </p:txBody>
        </p:sp>
        <p:sp>
          <p:nvSpPr>
            <p:cNvPr id="57" name="正方形/長方形 56">
              <a:extLst>
                <a:ext uri="{FF2B5EF4-FFF2-40B4-BE49-F238E27FC236}">
                  <a16:creationId xmlns:a16="http://schemas.microsoft.com/office/drawing/2014/main" id="{560B246B-790F-6D05-28ED-13ABB1AF3BEC}"/>
                </a:ext>
              </a:extLst>
            </p:cNvPr>
            <p:cNvSpPr/>
            <p:nvPr/>
          </p:nvSpPr>
          <p:spPr>
            <a:xfrm>
              <a:off x="548883" y="1654608"/>
              <a:ext cx="2696339" cy="276999"/>
            </a:xfrm>
            <a:prstGeom prst="rect">
              <a:avLst/>
            </a:prstGeom>
            <a:noFill/>
          </p:spPr>
          <p:txBody>
            <a:bodyPr wrap="square">
              <a:sp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lvl="0" algn="ctr">
                <a:buClr>
                  <a:srgbClr val="002060"/>
                </a:buClr>
                <a:buSzPts val="1600"/>
              </a:pPr>
              <a:r>
                <a:rPr lang="en-US" altLang="ja-JP" sz="1200" b="1" dirty="0">
                  <a:solidFill>
                    <a:srgbClr val="0070C0"/>
                  </a:solidFill>
                  <a:latin typeface="Meiryo"/>
                  <a:ea typeface="Meiryo"/>
                  <a:cs typeface="Meiryo"/>
                  <a:sym typeface="Meiryo"/>
                </a:rPr>
                <a:t>LINE</a:t>
              </a:r>
              <a:r>
                <a:rPr lang="ja-JP" altLang="en-US" sz="1200" b="1" dirty="0">
                  <a:solidFill>
                    <a:srgbClr val="0070C0"/>
                  </a:solidFill>
                  <a:latin typeface="Meiryo"/>
                  <a:ea typeface="Meiryo"/>
                  <a:cs typeface="Meiryo"/>
                  <a:sym typeface="Meiryo"/>
                </a:rPr>
                <a:t>公式アカウントまでの導線</a:t>
              </a:r>
              <a:endParaRPr lang="en-US" altLang="ja-JP" sz="1200" b="1" dirty="0">
                <a:solidFill>
                  <a:srgbClr val="0070C0"/>
                </a:solidFill>
                <a:latin typeface="Meiryo"/>
                <a:ea typeface="Meiryo"/>
                <a:cs typeface="Meiryo"/>
                <a:sym typeface="Meiryo"/>
              </a:endParaRPr>
            </a:p>
          </p:txBody>
        </p:sp>
      </p:grpSp>
      <p:grpSp>
        <p:nvGrpSpPr>
          <p:cNvPr id="58" name="グループ化 57">
            <a:extLst>
              <a:ext uri="{FF2B5EF4-FFF2-40B4-BE49-F238E27FC236}">
                <a16:creationId xmlns:a16="http://schemas.microsoft.com/office/drawing/2014/main" id="{27EC4882-F1F7-3407-18D9-449D2F776799}"/>
              </a:ext>
            </a:extLst>
          </p:cNvPr>
          <p:cNvGrpSpPr/>
          <p:nvPr/>
        </p:nvGrpSpPr>
        <p:grpSpPr>
          <a:xfrm>
            <a:off x="516142" y="3819645"/>
            <a:ext cx="2696339" cy="312276"/>
            <a:chOff x="548883" y="1619331"/>
            <a:chExt cx="2696339" cy="312276"/>
          </a:xfrm>
        </p:grpSpPr>
        <p:sp>
          <p:nvSpPr>
            <p:cNvPr id="59" name="四角形: 角を丸くする 58">
              <a:extLst>
                <a:ext uri="{FF2B5EF4-FFF2-40B4-BE49-F238E27FC236}">
                  <a16:creationId xmlns:a16="http://schemas.microsoft.com/office/drawing/2014/main" id="{6B1769D7-5324-51AE-1D2D-802E7FFC46C9}"/>
                </a:ext>
              </a:extLst>
            </p:cNvPr>
            <p:cNvSpPr/>
            <p:nvPr/>
          </p:nvSpPr>
          <p:spPr>
            <a:xfrm>
              <a:off x="548883" y="1619331"/>
              <a:ext cx="2696339" cy="302592"/>
            </a:xfrm>
            <a:prstGeom prst="roundRect">
              <a:avLst/>
            </a:prstGeom>
            <a:solidFill>
              <a:schemeClr val="accent1">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1pPr>
              <a:lvl2pPr marR="0" lvl="1"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2pPr>
              <a:lvl3pPr marR="0" lvl="2"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3pPr>
              <a:lvl4pPr marR="0" lvl="3"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4pPr>
              <a:lvl5pPr marR="0" lvl="4"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5pPr>
              <a:lvl6pPr marR="0" lvl="5"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6pPr>
              <a:lvl7pPr marR="0" lvl="6"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7pPr>
              <a:lvl8pPr marR="0" lvl="7"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8pPr>
              <a:lvl9pPr marR="0" lvl="8"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9pPr>
            </a:lstStyle>
            <a:p>
              <a:pPr algn="ctr"/>
              <a:endParaRPr kumimoji="1" lang="ja-JP" altLang="en-US"/>
            </a:p>
          </p:txBody>
        </p:sp>
        <p:sp>
          <p:nvSpPr>
            <p:cNvPr id="60" name="正方形/長方形 59">
              <a:extLst>
                <a:ext uri="{FF2B5EF4-FFF2-40B4-BE49-F238E27FC236}">
                  <a16:creationId xmlns:a16="http://schemas.microsoft.com/office/drawing/2014/main" id="{A0FD1FD7-9083-04AC-7FC2-C1EDD68A2FCA}"/>
                </a:ext>
              </a:extLst>
            </p:cNvPr>
            <p:cNvSpPr/>
            <p:nvPr/>
          </p:nvSpPr>
          <p:spPr>
            <a:xfrm>
              <a:off x="548883" y="1654608"/>
              <a:ext cx="2696339" cy="276999"/>
            </a:xfrm>
            <a:prstGeom prst="rect">
              <a:avLst/>
            </a:prstGeom>
            <a:noFill/>
          </p:spPr>
          <p:txBody>
            <a:bodyPr wrap="square">
              <a:sp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lvl="0" algn="ctr">
                <a:buClr>
                  <a:srgbClr val="002060"/>
                </a:buClr>
                <a:buSzPts val="1600"/>
              </a:pPr>
              <a:r>
                <a:rPr lang="ja-JP" altLang="en-US" sz="1200" b="1" dirty="0">
                  <a:solidFill>
                    <a:srgbClr val="0070C0"/>
                  </a:solidFill>
                  <a:latin typeface="Meiryo"/>
                  <a:ea typeface="Meiryo"/>
                  <a:cs typeface="Meiryo"/>
                  <a:sym typeface="Meiryo"/>
                </a:rPr>
                <a:t>「友だち追加広告」との違い</a:t>
              </a:r>
              <a:endParaRPr lang="en-US" altLang="ja-JP" sz="1200" b="1" dirty="0">
                <a:solidFill>
                  <a:srgbClr val="0070C0"/>
                </a:solidFill>
                <a:latin typeface="Meiryo"/>
                <a:ea typeface="Meiryo"/>
                <a:cs typeface="Meiryo"/>
                <a:sym typeface="Meiryo"/>
              </a:endParaRPr>
            </a:p>
          </p:txBody>
        </p:sp>
      </p:grpSp>
      <p:pic>
        <p:nvPicPr>
          <p:cNvPr id="61" name="table">
            <a:extLst>
              <a:ext uri="{FF2B5EF4-FFF2-40B4-BE49-F238E27FC236}">
                <a16:creationId xmlns:a16="http://schemas.microsoft.com/office/drawing/2014/main" id="{9AC26B4B-6733-A76D-2762-4EE39F3BE270}"/>
              </a:ext>
            </a:extLst>
          </p:cNvPr>
          <p:cNvPicPr>
            <a:picLocks noChangeAspect="1"/>
          </p:cNvPicPr>
          <p:nvPr/>
        </p:nvPicPr>
        <p:blipFill>
          <a:blip r:embed="rId3"/>
          <a:stretch>
            <a:fillRect/>
          </a:stretch>
        </p:blipFill>
        <p:spPr>
          <a:xfrm>
            <a:off x="787611" y="4201880"/>
            <a:ext cx="8672139" cy="2202180"/>
          </a:xfrm>
          <a:prstGeom prst="rect">
            <a:avLst/>
          </a:prstGeom>
        </p:spPr>
      </p:pic>
      <p:sp>
        <p:nvSpPr>
          <p:cNvPr id="62" name="矢印: 右 61">
            <a:extLst>
              <a:ext uri="{FF2B5EF4-FFF2-40B4-BE49-F238E27FC236}">
                <a16:creationId xmlns:a16="http://schemas.microsoft.com/office/drawing/2014/main" id="{FAA46C63-E291-C5BA-59B1-5AA6EB934DE7}"/>
              </a:ext>
            </a:extLst>
          </p:cNvPr>
          <p:cNvSpPr/>
          <p:nvPr/>
        </p:nvSpPr>
        <p:spPr>
          <a:xfrm>
            <a:off x="5232623" y="2618810"/>
            <a:ext cx="430306" cy="352298"/>
          </a:xfrm>
          <a:prstGeom prst="rightArrow">
            <a:avLst/>
          </a:prstGeom>
          <a:solidFill>
            <a:schemeClr val="bg1">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1pPr>
            <a:lvl2pPr marR="0" lvl="1"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2pPr>
            <a:lvl3pPr marR="0" lvl="2"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3pPr>
            <a:lvl4pPr marR="0" lvl="3"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4pPr>
            <a:lvl5pPr marR="0" lvl="4"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5pPr>
            <a:lvl6pPr marR="0" lvl="5"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6pPr>
            <a:lvl7pPr marR="0" lvl="6"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7pPr>
            <a:lvl8pPr marR="0" lvl="7"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8pPr>
            <a:lvl9pPr marR="0" lvl="8"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9pPr>
          </a:lstStyle>
          <a:p>
            <a:pPr algn="ctr"/>
            <a:endParaRPr kumimoji="1" lang="ja-JP" altLang="en-US"/>
          </a:p>
        </p:txBody>
      </p:sp>
      <p:pic>
        <p:nvPicPr>
          <p:cNvPr id="63" name="図 62">
            <a:extLst>
              <a:ext uri="{FF2B5EF4-FFF2-40B4-BE49-F238E27FC236}">
                <a16:creationId xmlns:a16="http://schemas.microsoft.com/office/drawing/2014/main" id="{15AB3743-9D18-6CD5-EBAE-3179EFAD1455}"/>
              </a:ext>
            </a:extLst>
          </p:cNvPr>
          <p:cNvPicPr>
            <a:picLocks noChangeAspect="1"/>
          </p:cNvPicPr>
          <p:nvPr/>
        </p:nvPicPr>
        <p:blipFill>
          <a:blip r:embed="rId4"/>
          <a:srcRect l="35517" r="35515"/>
          <a:stretch>
            <a:fillRect/>
          </a:stretch>
        </p:blipFill>
        <p:spPr>
          <a:xfrm>
            <a:off x="6038472" y="1875907"/>
            <a:ext cx="917480" cy="1779333"/>
          </a:xfrm>
          <a:prstGeom prst="rect">
            <a:avLst/>
          </a:prstGeom>
        </p:spPr>
      </p:pic>
      <p:sp>
        <p:nvSpPr>
          <p:cNvPr id="64" name="テキスト ボックス 34">
            <a:extLst>
              <a:ext uri="{FF2B5EF4-FFF2-40B4-BE49-F238E27FC236}">
                <a16:creationId xmlns:a16="http://schemas.microsoft.com/office/drawing/2014/main" id="{F684D30B-FB35-7D4D-6BE2-919C8EE56C1F}"/>
              </a:ext>
            </a:extLst>
          </p:cNvPr>
          <p:cNvSpPr txBox="1"/>
          <p:nvPr/>
        </p:nvSpPr>
        <p:spPr>
          <a:xfrm>
            <a:off x="6868291" y="2618810"/>
            <a:ext cx="2705100" cy="523220"/>
          </a:xfrm>
          <a:prstGeom prst="rect">
            <a:avLst/>
          </a:prstGeom>
          <a:noFill/>
        </p:spPr>
        <p:txBody>
          <a:bodyPr wrap="square" rtlCol="0">
            <a:sp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algn="ctr"/>
            <a:r>
              <a:rPr kumimoji="1" lang="en-US" altLang="ja-JP" sz="1200" dirty="0">
                <a:latin typeface="メイリオ" panose="020B0604030504040204" pitchFamily="50" charset="-128"/>
                <a:ea typeface="メイリオ" panose="020B0604030504040204" pitchFamily="50" charset="-128"/>
              </a:rPr>
              <a:t>LINE</a:t>
            </a:r>
            <a:r>
              <a:rPr kumimoji="1" lang="ja-JP" altLang="en-US" sz="1200" dirty="0">
                <a:latin typeface="メイリオ" panose="020B0604030504040204" pitchFamily="50" charset="-128"/>
                <a:ea typeface="メイリオ" panose="020B0604030504040204" pitchFamily="50" charset="-128"/>
              </a:rPr>
              <a:t>アプリ内から</a:t>
            </a:r>
            <a:br>
              <a:rPr kumimoji="1" lang="en-US" altLang="ja-JP" sz="1200" dirty="0">
                <a:latin typeface="メイリオ" panose="020B0604030504040204" pitchFamily="50" charset="-128"/>
                <a:ea typeface="メイリオ" panose="020B0604030504040204" pitchFamily="50" charset="-128"/>
              </a:rPr>
            </a:br>
            <a:r>
              <a:rPr kumimoji="1" lang="ja-JP" altLang="en-US" sz="1200" dirty="0">
                <a:latin typeface="メイリオ" panose="020B0604030504040204" pitchFamily="50" charset="-128"/>
                <a:ea typeface="メイリオ" panose="020B0604030504040204" pitchFamily="50" charset="-128"/>
              </a:rPr>
              <a:t>自社アカウントに</a:t>
            </a:r>
            <a:r>
              <a:rPr kumimoji="1" lang="en-US" altLang="ja-JP" sz="1600" b="1" dirty="0">
                <a:solidFill>
                  <a:srgbClr val="33CC33"/>
                </a:solidFill>
                <a:latin typeface="メイリオ" panose="020B0604030504040204" pitchFamily="50" charset="-128"/>
                <a:ea typeface="メイリオ" panose="020B0604030504040204" pitchFamily="50" charset="-128"/>
              </a:rPr>
              <a:t>“</a:t>
            </a:r>
            <a:r>
              <a:rPr kumimoji="1" lang="ja-JP" altLang="en-US" sz="1600" b="1" dirty="0">
                <a:solidFill>
                  <a:srgbClr val="33CC33"/>
                </a:solidFill>
                <a:latin typeface="メイリオ" panose="020B0604030504040204" pitchFamily="50" charset="-128"/>
                <a:ea typeface="メイリオ" panose="020B0604030504040204" pitchFamily="50" charset="-128"/>
              </a:rPr>
              <a:t>直接</a:t>
            </a:r>
            <a:r>
              <a:rPr kumimoji="1" lang="en-US" altLang="ja-JP" sz="1600" b="1" dirty="0">
                <a:solidFill>
                  <a:srgbClr val="33CC33"/>
                </a:solidFill>
                <a:latin typeface="メイリオ" panose="020B0604030504040204" pitchFamily="50" charset="-128"/>
                <a:ea typeface="メイリオ" panose="020B0604030504040204" pitchFamily="50" charset="-128"/>
              </a:rPr>
              <a:t>”</a:t>
            </a:r>
            <a:r>
              <a:rPr kumimoji="1" lang="ja-JP" altLang="en-US" sz="1200" dirty="0">
                <a:latin typeface="メイリオ" panose="020B0604030504040204" pitchFamily="50" charset="-128"/>
                <a:ea typeface="メイリオ" panose="020B0604030504040204" pitchFamily="50" charset="-128"/>
              </a:rPr>
              <a:t>誘導</a:t>
            </a:r>
            <a:endParaRPr kumimoji="1" lang="en-US" altLang="ja-JP" sz="1200" dirty="0">
              <a:latin typeface="メイリオ" panose="020B0604030504040204" pitchFamily="50" charset="-128"/>
              <a:ea typeface="メイリオ" panose="020B0604030504040204" pitchFamily="50" charset="-128"/>
            </a:endParaRPr>
          </a:p>
        </p:txBody>
      </p:sp>
    </p:spTree>
    <p:extLst>
      <p:ext uri="{BB962C8B-B14F-4D97-AF65-F5344CB8AC3E}">
        <p14:creationId xmlns:p14="http://schemas.microsoft.com/office/powerpoint/2010/main" val="2706008177"/>
      </p:ext>
    </p:extLst>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正方形/長方形 18"/>
          <p:cNvSpPr>
            <a:spLocks noChangeArrowheads="1"/>
          </p:cNvSpPr>
          <p:nvPr/>
        </p:nvSpPr>
        <p:spPr bwMode="auto">
          <a:xfrm>
            <a:off x="1649030" y="5820984"/>
            <a:ext cx="6192837" cy="37362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nchor="ctr">
            <a:spAutoFit/>
          </a:bodyPr>
          <a:lstStyle/>
          <a:p>
            <a:pPr marL="0" lvl="1" fontAlgn="base">
              <a:spcBef>
                <a:spcPct val="20000"/>
              </a:spcBef>
              <a:spcAft>
                <a:spcPct val="0"/>
              </a:spcAft>
              <a:defRPr/>
            </a:pPr>
            <a:r>
              <a:rPr lang="ja-JP" altLang="en-US" sz="831" b="1" dirty="0">
                <a:solidFill>
                  <a:prstClr val="black"/>
                </a:solidFill>
                <a:latin typeface="メイリオ"/>
                <a:ea typeface="メイリオ"/>
                <a:cs typeface="メイリオ"/>
              </a:rPr>
              <a:t>株式会社</a:t>
            </a:r>
            <a:r>
              <a:rPr lang="en-US" altLang="ja-JP" sz="831" b="1" dirty="0">
                <a:solidFill>
                  <a:prstClr val="black"/>
                </a:solidFill>
                <a:latin typeface="メイリオ"/>
                <a:ea typeface="メイリオ"/>
                <a:cs typeface="メイリオ"/>
              </a:rPr>
              <a:t>DYM</a:t>
            </a:r>
            <a:r>
              <a:rPr lang="ja-JP" altLang="en-US" sz="831" b="1" dirty="0">
                <a:solidFill>
                  <a:prstClr val="black"/>
                </a:solidFill>
                <a:latin typeface="メイリオ"/>
                <a:ea typeface="メイリオ"/>
                <a:cs typeface="メイリオ"/>
              </a:rPr>
              <a:t>　〒</a:t>
            </a:r>
            <a:r>
              <a:rPr lang="en-US" altLang="ja-JP" sz="831" b="1" dirty="0">
                <a:solidFill>
                  <a:prstClr val="black"/>
                </a:solidFill>
                <a:latin typeface="メイリオ"/>
                <a:ea typeface="メイリオ"/>
                <a:cs typeface="メイリオ"/>
              </a:rPr>
              <a:t>141-0032</a:t>
            </a:r>
            <a:r>
              <a:rPr lang="ja-JP" altLang="en-US" sz="831" b="1" dirty="0">
                <a:solidFill>
                  <a:prstClr val="black"/>
                </a:solidFill>
                <a:latin typeface="メイリオ"/>
                <a:ea typeface="メイリオ"/>
                <a:cs typeface="メイリオ"/>
              </a:rPr>
              <a:t>　東京都品川区大崎</a:t>
            </a:r>
            <a:r>
              <a:rPr lang="en-US" altLang="ja-JP" sz="831" b="1" dirty="0">
                <a:solidFill>
                  <a:prstClr val="black"/>
                </a:solidFill>
                <a:latin typeface="メイリオ"/>
                <a:ea typeface="メイリオ"/>
                <a:cs typeface="メイリオ"/>
              </a:rPr>
              <a:t>1-11-2</a:t>
            </a:r>
            <a:r>
              <a:rPr lang="ja-JP" altLang="en-US" sz="831" b="1" dirty="0">
                <a:solidFill>
                  <a:prstClr val="black"/>
                </a:solidFill>
                <a:latin typeface="メイリオ"/>
                <a:ea typeface="メイリオ"/>
                <a:cs typeface="メイリオ"/>
              </a:rPr>
              <a:t>　ゲートシティ大崎イーストタワー</a:t>
            </a:r>
            <a:r>
              <a:rPr lang="en-US" altLang="ja-JP" sz="831" b="1" dirty="0">
                <a:solidFill>
                  <a:prstClr val="black"/>
                </a:solidFill>
                <a:latin typeface="メイリオ"/>
                <a:ea typeface="メイリオ"/>
                <a:cs typeface="メイリオ"/>
              </a:rPr>
              <a:t>10</a:t>
            </a:r>
            <a:r>
              <a:rPr lang="ja-JP" altLang="en-US" sz="831" b="1" dirty="0">
                <a:solidFill>
                  <a:prstClr val="black"/>
                </a:solidFill>
                <a:latin typeface="メイリオ"/>
                <a:ea typeface="メイリオ"/>
                <a:cs typeface="メイリオ"/>
              </a:rPr>
              <a:t>階</a:t>
            </a:r>
            <a:endParaRPr lang="en-US" altLang="ja-JP" sz="831" b="1" dirty="0">
              <a:solidFill>
                <a:prstClr val="black"/>
              </a:solidFill>
              <a:latin typeface="メイリオ"/>
              <a:ea typeface="メイリオ"/>
              <a:cs typeface="メイリオ"/>
            </a:endParaRPr>
          </a:p>
          <a:p>
            <a:pPr marL="0" lvl="1" fontAlgn="base">
              <a:spcBef>
                <a:spcPct val="20000"/>
              </a:spcBef>
              <a:spcAft>
                <a:spcPct val="0"/>
              </a:spcAft>
              <a:defRPr/>
            </a:pPr>
            <a:r>
              <a:rPr lang="en-US" altLang="ja-JP" sz="831" b="1" dirty="0">
                <a:solidFill>
                  <a:prstClr val="black"/>
                </a:solidFill>
                <a:latin typeface="メイリオ"/>
                <a:ea typeface="メイリオ"/>
                <a:cs typeface="メイリオ"/>
              </a:rPr>
              <a:t>TEL: 03-5745-0200</a:t>
            </a:r>
            <a:r>
              <a:rPr lang="ja-JP" altLang="en-US" sz="831" b="1" dirty="0">
                <a:solidFill>
                  <a:prstClr val="black"/>
                </a:solidFill>
                <a:latin typeface="メイリオ"/>
                <a:ea typeface="メイリオ"/>
                <a:cs typeface="メイリオ"/>
              </a:rPr>
              <a:t>　</a:t>
            </a:r>
            <a:r>
              <a:rPr lang="en-US" altLang="ja-JP" sz="831" b="1" dirty="0">
                <a:solidFill>
                  <a:prstClr val="black"/>
                </a:solidFill>
                <a:latin typeface="メイリオ"/>
                <a:ea typeface="メイリオ"/>
                <a:cs typeface="メイリオ"/>
              </a:rPr>
              <a:t>FAX: 03-3779-8720 </a:t>
            </a:r>
            <a:r>
              <a:rPr lang="ja-JP" altLang="en-US" sz="831" b="1" dirty="0">
                <a:solidFill>
                  <a:prstClr val="black"/>
                </a:solidFill>
                <a:latin typeface="メイリオ"/>
                <a:ea typeface="メイリオ"/>
                <a:cs typeface="メイリオ"/>
              </a:rPr>
              <a:t>　</a:t>
            </a:r>
            <a:r>
              <a:rPr lang="en-US" altLang="ja-JP" sz="831" b="1" dirty="0">
                <a:solidFill>
                  <a:prstClr val="black"/>
                </a:solidFill>
                <a:latin typeface="メイリオ"/>
                <a:ea typeface="メイリオ"/>
                <a:cs typeface="メイリオ"/>
              </a:rPr>
              <a:t>http://dym.asia   </a:t>
            </a:r>
            <a:r>
              <a:rPr lang="ja-JP" altLang="en-US" sz="831" b="1" dirty="0">
                <a:solidFill>
                  <a:prstClr val="black"/>
                </a:solidFill>
                <a:latin typeface="メイリオ"/>
                <a:ea typeface="メイリオ"/>
                <a:cs typeface="メイリオ"/>
              </a:rPr>
              <a:t>代表取締役　水谷佑毅</a:t>
            </a:r>
          </a:p>
        </p:txBody>
      </p:sp>
      <p:pic>
        <p:nvPicPr>
          <p:cNvPr id="24" name="図 1"/>
          <p:cNvPicPr>
            <a:picLocks noChangeAspect="1"/>
          </p:cNvPicPr>
          <p:nvPr/>
        </p:nvPicPr>
        <p:blipFill rotWithShape="1">
          <a:blip r:embed="rId3" cstate="email">
            <a:extLst>
              <a:ext uri="{28A0092B-C50C-407E-A947-70E740481C1C}">
                <a14:useLocalDpi xmlns:a14="http://schemas.microsoft.com/office/drawing/2010/main"/>
              </a:ext>
            </a:extLst>
          </a:blip>
          <a:srcRect l="-1647" r="-11171"/>
          <a:stretch/>
        </p:blipFill>
        <p:spPr bwMode="auto">
          <a:xfrm>
            <a:off x="543897" y="5895365"/>
            <a:ext cx="1100981" cy="224866"/>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3" name="テキスト ボックス 2"/>
          <p:cNvSpPr txBox="1"/>
          <p:nvPr/>
        </p:nvSpPr>
        <p:spPr>
          <a:xfrm>
            <a:off x="5070232" y="5597769"/>
            <a:ext cx="184731" cy="369332"/>
          </a:xfrm>
          <a:prstGeom prst="rect">
            <a:avLst/>
          </a:prstGeom>
          <a:noFill/>
        </p:spPr>
        <p:txBody>
          <a:bodyPr wrap="none" rtlCol="0">
            <a:spAutoFit/>
          </a:bodyPr>
          <a:lstStyle/>
          <a:p>
            <a:pPr fontAlgn="base">
              <a:spcBef>
                <a:spcPct val="0"/>
              </a:spcBef>
              <a:spcAft>
                <a:spcPct val="0"/>
              </a:spcAft>
              <a:defRPr/>
            </a:pPr>
            <a:endParaRPr lang="ja-JP" altLang="en-US">
              <a:solidFill>
                <a:prstClr val="black"/>
              </a:solidFill>
              <a:latin typeface="Arial" pitchFamily="34" charset="0"/>
              <a:ea typeface="ＭＳ Ｐゴシック" pitchFamily="50" charset="-128"/>
            </a:endParaRPr>
          </a:p>
        </p:txBody>
      </p:sp>
      <p:sp>
        <p:nvSpPr>
          <p:cNvPr id="18" name="正方形/長方形 17"/>
          <p:cNvSpPr/>
          <p:nvPr/>
        </p:nvSpPr>
        <p:spPr>
          <a:xfrm>
            <a:off x="2170038" y="989684"/>
            <a:ext cx="5565924" cy="369332"/>
          </a:xfrm>
          <a:prstGeom prst="rect">
            <a:avLst/>
          </a:prstGeom>
        </p:spPr>
        <p:txBody>
          <a:bodyPr wrap="square">
            <a:spAutoFit/>
          </a:bodyPr>
          <a:lstStyle/>
          <a:p>
            <a:pPr algn="ctr" fontAlgn="base">
              <a:spcBef>
                <a:spcPct val="20000"/>
              </a:spcBef>
              <a:spcAft>
                <a:spcPct val="0"/>
              </a:spcAft>
              <a:defRPr/>
            </a:pPr>
            <a:r>
              <a:rPr lang="ja-JP" altLang="en-US" b="1" dirty="0">
                <a:solidFill>
                  <a:prstClr val="black"/>
                </a:solidFill>
                <a:latin typeface="メイリオ" charset="0"/>
                <a:ea typeface="メイリオ" charset="0"/>
                <a:cs typeface="メイリオ" charset="0"/>
              </a:rPr>
              <a:t>貴社の明るい未来に必ず貢献致します。</a:t>
            </a:r>
          </a:p>
        </p:txBody>
      </p:sp>
      <p:sp>
        <p:nvSpPr>
          <p:cNvPr id="14" name="正方形/長方形 13"/>
          <p:cNvSpPr/>
          <p:nvPr/>
        </p:nvSpPr>
        <p:spPr>
          <a:xfrm>
            <a:off x="382695" y="2698377"/>
            <a:ext cx="598220" cy="205890"/>
          </a:xfrm>
          <a:prstGeom prst="rect">
            <a:avLst/>
          </a:prstGeom>
        </p:spPr>
        <p:txBody>
          <a:bodyPr wrap="square">
            <a:spAutoFit/>
          </a:bodyPr>
          <a:lstStyle/>
          <a:p>
            <a:pPr algn="ctr" fontAlgn="base">
              <a:spcBef>
                <a:spcPct val="20000"/>
              </a:spcBef>
              <a:spcAft>
                <a:spcPct val="0"/>
              </a:spcAft>
              <a:defRPr/>
            </a:pPr>
            <a:r>
              <a:rPr lang="ja-JP" altLang="en-US" sz="738">
                <a:solidFill>
                  <a:srgbClr val="FFFFFF"/>
                </a:solidFill>
                <a:latin typeface="メイリオ" charset="0"/>
                <a:ea typeface="メイリオ" charset="0"/>
                <a:cs typeface="メイリオ" charset="0"/>
              </a:rPr>
              <a:t>本社</a:t>
            </a:r>
          </a:p>
        </p:txBody>
      </p:sp>
      <p:sp>
        <p:nvSpPr>
          <p:cNvPr id="15" name="正方形/長方形 14"/>
          <p:cNvSpPr/>
          <p:nvPr/>
        </p:nvSpPr>
        <p:spPr>
          <a:xfrm>
            <a:off x="368300" y="2355213"/>
            <a:ext cx="756684" cy="215444"/>
          </a:xfrm>
          <a:prstGeom prst="rect">
            <a:avLst/>
          </a:prstGeom>
        </p:spPr>
        <p:txBody>
          <a:bodyPr wrap="square">
            <a:spAutoFit/>
          </a:bodyPr>
          <a:lstStyle/>
          <a:p>
            <a:pPr algn="ctr" fontAlgn="base">
              <a:spcBef>
                <a:spcPct val="20000"/>
              </a:spcBef>
              <a:spcAft>
                <a:spcPct val="0"/>
              </a:spcAft>
              <a:defRPr/>
            </a:pPr>
            <a:r>
              <a:rPr lang="ja-JP" altLang="en-US" sz="800" dirty="0">
                <a:solidFill>
                  <a:srgbClr val="FFFFFF"/>
                </a:solidFill>
                <a:latin typeface="メイリオ" charset="0"/>
                <a:ea typeface="メイリオ" charset="0"/>
                <a:cs typeface="メイリオ" charset="0"/>
              </a:rPr>
              <a:t>本社</a:t>
            </a:r>
          </a:p>
        </p:txBody>
      </p:sp>
      <p:grpSp>
        <p:nvGrpSpPr>
          <p:cNvPr id="22" name="グループ化 21">
            <a:extLst>
              <a:ext uri="{FF2B5EF4-FFF2-40B4-BE49-F238E27FC236}">
                <a16:creationId xmlns:a16="http://schemas.microsoft.com/office/drawing/2014/main" id="{05A1AABC-CDB8-5B83-4CFD-649967A361BF}"/>
              </a:ext>
            </a:extLst>
          </p:cNvPr>
          <p:cNvGrpSpPr/>
          <p:nvPr/>
        </p:nvGrpSpPr>
        <p:grpSpPr>
          <a:xfrm>
            <a:off x="381002" y="1772817"/>
            <a:ext cx="9143999" cy="3314853"/>
            <a:chOff x="1" y="1772816"/>
            <a:chExt cx="9143999" cy="3314853"/>
          </a:xfrm>
        </p:grpSpPr>
        <p:pic>
          <p:nvPicPr>
            <p:cNvPr id="21" name="図 20" descr="ポーズをとる男性グループ&#10;&#10;自動的に生成された説明">
              <a:extLst>
                <a:ext uri="{FF2B5EF4-FFF2-40B4-BE49-F238E27FC236}">
                  <a16:creationId xmlns:a16="http://schemas.microsoft.com/office/drawing/2014/main" id="{4927F40E-D146-C638-5583-C9DC2984722E}"/>
                </a:ext>
              </a:extLst>
            </p:cNvPr>
            <p:cNvPicPr>
              <a:picLocks noChangeAspect="1"/>
            </p:cNvPicPr>
            <p:nvPr/>
          </p:nvPicPr>
          <p:blipFill rotWithShape="1">
            <a:blip r:embed="rId4" cstate="print">
              <a:extLst>
                <a:ext uri="{28A0092B-C50C-407E-A947-70E740481C1C}">
                  <a14:useLocalDpi xmlns:a14="http://schemas.microsoft.com/office/drawing/2010/main" val="0"/>
                </a:ext>
              </a:extLst>
            </a:blip>
            <a:srcRect l="3642" r="4076"/>
            <a:stretch/>
          </p:blipFill>
          <p:spPr>
            <a:xfrm>
              <a:off x="6973793" y="3518745"/>
              <a:ext cx="2170207" cy="1567781"/>
            </a:xfrm>
            <a:prstGeom prst="rect">
              <a:avLst/>
            </a:prstGeom>
          </p:spPr>
        </p:pic>
        <p:pic>
          <p:nvPicPr>
            <p:cNvPr id="16" name="図 15" descr="白いシャツを着ている男性&#10;&#10;中程度の精度で自動的に生成された説明">
              <a:extLst>
                <a:ext uri="{FF2B5EF4-FFF2-40B4-BE49-F238E27FC236}">
                  <a16:creationId xmlns:a16="http://schemas.microsoft.com/office/drawing/2014/main" id="{2ECDFCA7-8611-D865-F999-FDCD0EC21269}"/>
                </a:ext>
              </a:extLst>
            </p:cNvPr>
            <p:cNvPicPr>
              <a:picLocks noChangeAspect="1"/>
            </p:cNvPicPr>
            <p:nvPr/>
          </p:nvPicPr>
          <p:blipFill>
            <a:blip r:embed="rId5" cstate="print">
              <a:extLst>
                <a:ext uri="{28A0092B-C50C-407E-A947-70E740481C1C}">
                  <a14:useLocalDpi xmlns:a14="http://schemas.microsoft.com/office/drawing/2010/main" val="0"/>
                </a:ext>
              </a:extLst>
            </a:blip>
            <a:stretch>
              <a:fillRect/>
            </a:stretch>
          </p:blipFill>
          <p:spPr>
            <a:xfrm>
              <a:off x="4983808" y="3519888"/>
              <a:ext cx="1989985" cy="1567781"/>
            </a:xfrm>
            <a:prstGeom prst="rect">
              <a:avLst/>
            </a:prstGeom>
          </p:spPr>
        </p:pic>
        <p:pic>
          <p:nvPicPr>
            <p:cNvPr id="10" name="図 9" descr="スーツを着た男性たち&#10;&#10;自動的に生成された説明">
              <a:extLst>
                <a:ext uri="{FF2B5EF4-FFF2-40B4-BE49-F238E27FC236}">
                  <a16:creationId xmlns:a16="http://schemas.microsoft.com/office/drawing/2014/main" id="{9D3AD52A-1514-4350-FFDD-09984B3666E2}"/>
                </a:ext>
              </a:extLst>
            </p:cNvPr>
            <p:cNvPicPr>
              <a:picLocks noChangeAspect="1"/>
            </p:cNvPicPr>
            <p:nvPr/>
          </p:nvPicPr>
          <p:blipFill rotWithShape="1">
            <a:blip r:embed="rId6" cstate="print">
              <a:extLst>
                <a:ext uri="{28A0092B-C50C-407E-A947-70E740481C1C}">
                  <a14:useLocalDpi xmlns:a14="http://schemas.microsoft.com/office/drawing/2010/main" val="0"/>
                </a:ext>
              </a:extLst>
            </a:blip>
            <a:srcRect l="10703" r="10363"/>
            <a:stretch/>
          </p:blipFill>
          <p:spPr>
            <a:xfrm>
              <a:off x="7299681" y="1773979"/>
              <a:ext cx="1842624" cy="1745909"/>
            </a:xfrm>
            <a:prstGeom prst="rect">
              <a:avLst/>
            </a:prstGeom>
          </p:spPr>
        </p:pic>
        <p:pic>
          <p:nvPicPr>
            <p:cNvPr id="7" name="図 6" descr="講堂にいる人たち&#10;&#10;中程度の精度で自動的に生成された説明">
              <a:extLst>
                <a:ext uri="{FF2B5EF4-FFF2-40B4-BE49-F238E27FC236}">
                  <a16:creationId xmlns:a16="http://schemas.microsoft.com/office/drawing/2014/main" id="{B1CA0DFF-0DAF-D5BD-8D9F-8AFB103E2698}"/>
                </a:ext>
              </a:extLst>
            </p:cNvPr>
            <p:cNvPicPr>
              <a:picLocks noChangeAspect="1"/>
            </p:cNvPicPr>
            <p:nvPr/>
          </p:nvPicPr>
          <p:blipFill rotWithShape="1">
            <a:blip r:embed="rId7" cstate="print">
              <a:extLst>
                <a:ext uri="{28A0092B-C50C-407E-A947-70E740481C1C}">
                  <a14:useLocalDpi xmlns:a14="http://schemas.microsoft.com/office/drawing/2010/main" val="0"/>
                </a:ext>
              </a:extLst>
            </a:blip>
            <a:srcRect l="2512" t="12879" r="2477"/>
            <a:stretch/>
          </p:blipFill>
          <p:spPr>
            <a:xfrm>
              <a:off x="1" y="1772816"/>
              <a:ext cx="5089778" cy="3314853"/>
            </a:xfrm>
            <a:prstGeom prst="rect">
              <a:avLst/>
            </a:prstGeom>
          </p:spPr>
        </p:pic>
        <p:pic>
          <p:nvPicPr>
            <p:cNvPr id="11" name="図 10" descr="スーツを着た男性グループの写真&#10;&#10;低い精度で自動的に生成された説明">
              <a:extLst>
                <a:ext uri="{FF2B5EF4-FFF2-40B4-BE49-F238E27FC236}">
                  <a16:creationId xmlns:a16="http://schemas.microsoft.com/office/drawing/2014/main" id="{FEFAFF33-EFBF-C67E-586A-08D93AF295F8}"/>
                </a:ext>
              </a:extLst>
            </p:cNvPr>
            <p:cNvPicPr>
              <a:picLocks noChangeAspect="1"/>
            </p:cNvPicPr>
            <p:nvPr/>
          </p:nvPicPr>
          <p:blipFill rotWithShape="1">
            <a:blip r:embed="rId8" cstate="print">
              <a:extLst>
                <a:ext uri="{28A0092B-C50C-407E-A947-70E740481C1C}">
                  <a14:useLocalDpi xmlns:a14="http://schemas.microsoft.com/office/drawing/2010/main" val="0"/>
                </a:ext>
              </a:extLst>
            </a:blip>
            <a:srcRect l="8595" r="6763"/>
            <a:stretch/>
          </p:blipFill>
          <p:spPr>
            <a:xfrm>
              <a:off x="5089779" y="1772836"/>
              <a:ext cx="2215315" cy="1745909"/>
            </a:xfrm>
            <a:prstGeom prst="rect">
              <a:avLst/>
            </a:prstGeom>
          </p:spPr>
        </p:pic>
      </p:grpSp>
      <p:sp>
        <p:nvSpPr>
          <p:cNvPr id="6" name="正方形/長方形 5">
            <a:extLst>
              <a:ext uri="{FF2B5EF4-FFF2-40B4-BE49-F238E27FC236}">
                <a16:creationId xmlns:a16="http://schemas.microsoft.com/office/drawing/2014/main" id="{238B92EF-519D-929F-4345-5BAC445EF234}"/>
              </a:ext>
            </a:extLst>
          </p:cNvPr>
          <p:cNvSpPr/>
          <p:nvPr/>
        </p:nvSpPr>
        <p:spPr>
          <a:xfrm>
            <a:off x="128016" y="6620256"/>
            <a:ext cx="2852928" cy="237744"/>
          </a:xfrm>
          <a:prstGeom prst="rect">
            <a:avLst/>
          </a:prstGeom>
          <a:solidFill>
            <a:srgbClr val="191F54"/>
          </a:solidFill>
          <a:ln>
            <a:solidFill>
              <a:srgbClr val="10253F"/>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 name="正方形/長方形 1">
            <a:extLst>
              <a:ext uri="{FF2B5EF4-FFF2-40B4-BE49-F238E27FC236}">
                <a16:creationId xmlns:a16="http://schemas.microsoft.com/office/drawing/2014/main" id="{A949B271-D24D-666E-90F2-EA616E1EABC2}"/>
              </a:ext>
            </a:extLst>
          </p:cNvPr>
          <p:cNvSpPr/>
          <p:nvPr/>
        </p:nvSpPr>
        <p:spPr>
          <a:xfrm>
            <a:off x="368300" y="0"/>
            <a:ext cx="9537700" cy="514974"/>
          </a:xfrm>
          <a:prstGeom prst="rect">
            <a:avLst/>
          </a:prstGeom>
          <a:solidFill>
            <a:schemeClr val="bg1"/>
          </a:solidFill>
          <a:ln>
            <a:solidFill>
              <a:schemeClr val="bg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kumimoji="1" lang="ja-JP" altLang="en-US"/>
          </a:p>
        </p:txBody>
      </p:sp>
    </p:spTree>
    <p:extLst>
      <p:ext uri="{BB962C8B-B14F-4D97-AF65-F5344CB8AC3E}">
        <p14:creationId xmlns:p14="http://schemas.microsoft.com/office/powerpoint/2010/main" val="4185355464"/>
      </p:ext>
    </p:extLst>
  </p:cSld>
  <p:clrMapOvr>
    <a:masterClrMapping/>
  </p:clrMapOvr>
  <p:transition spd="slow"/>
</p:sld>
</file>

<file path=ppt/theme/theme1.xml><?xml version="1.0" encoding="utf-8"?>
<a:theme xmlns:a="http://schemas.openxmlformats.org/drawingml/2006/main" name="テーマ1">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extLst>
    <a:ext uri="{05A4C25C-085E-4340-85A3-A5531E510DB2}">
      <thm15:themeFamily xmlns:thm15="http://schemas.microsoft.com/office/thememl/2012/main" name="テーマ1" id="{8EA1701B-0E00-4167-9612-575199E01EDB}" vid="{8EF6575E-BB77-44AE-AF00-801DE4CAFB82}"/>
    </a:ext>
  </a:extLst>
</a:theme>
</file>

<file path=ppt/theme/theme2.xml><?xml version="1.0" encoding="utf-8"?>
<a:theme xmlns:a="http://schemas.openxmlformats.org/drawingml/2006/main" name="DYMJAPAN">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3.xml><?xml version="1.0" encoding="utf-8"?>
<a:theme xmlns:a="http://schemas.openxmlformats.org/drawingml/2006/main" name="Office テーマ">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4.xml><?xml version="1.0" encoding="utf-8"?>
<a:theme xmlns:a="http://schemas.openxmlformats.org/drawingml/2006/main" name="Office テーマ">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emplate>Default Theme</Template>
  <TotalTime>143140</TotalTime>
  <Words>5203</Words>
  <Application>Microsoft Office PowerPoint</Application>
  <PresentationFormat>A4 210 x 297 mm</PresentationFormat>
  <Paragraphs>1036</Paragraphs>
  <Slides>52</Slides>
  <Notes>25</Notes>
  <HiddenSlides>0</HiddenSlides>
  <MMClips>0</MMClips>
  <ScaleCrop>false</ScaleCrop>
  <HeadingPairs>
    <vt:vector size="6" baseType="variant">
      <vt:variant>
        <vt:lpstr>使用されているフォント</vt:lpstr>
      </vt:variant>
      <vt:variant>
        <vt:i4>5</vt:i4>
      </vt:variant>
      <vt:variant>
        <vt:lpstr>テーマ</vt:lpstr>
      </vt:variant>
      <vt:variant>
        <vt:i4>2</vt:i4>
      </vt:variant>
      <vt:variant>
        <vt:lpstr>スライド タイトル</vt:lpstr>
      </vt:variant>
      <vt:variant>
        <vt:i4>52</vt:i4>
      </vt:variant>
    </vt:vector>
  </HeadingPairs>
  <TitlesOfParts>
    <vt:vector size="59" baseType="lpstr">
      <vt:lpstr>Meiryo</vt:lpstr>
      <vt:lpstr>Meiryo</vt:lpstr>
      <vt:lpstr>Arial</vt:lpstr>
      <vt:lpstr>Calibri</vt:lpstr>
      <vt:lpstr>Century Gothic</vt:lpstr>
      <vt:lpstr>テーマ1</vt:lpstr>
      <vt:lpstr>DYMJAPAN</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プレゼンテーション</dc:title>
  <dc:creator>中村 駿</dc:creator>
  <cp:lastModifiedBy>殿村 亮太</cp:lastModifiedBy>
  <cp:revision>1955</cp:revision>
  <cp:lastPrinted>2022-11-01T11:38:14Z</cp:lastPrinted>
  <dcterms:created xsi:type="dcterms:W3CDTF">2015-09-04T09:21:15Z</dcterms:created>
  <dcterms:modified xsi:type="dcterms:W3CDTF">2026-09-24T05:13:23Z</dcterms:modified>
</cp:coreProperties>
</file>