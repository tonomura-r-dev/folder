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53.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1"/>
  </p:notesMasterIdLst>
  <p:handoutMasterIdLst>
    <p:handoutMasterId r:id="rId62"/>
  </p:handoutMasterIdLst>
  <p:sldIdLst>
    <p:sldId id="2363" r:id="rId3"/>
    <p:sldId id="2971" r:id="rId4"/>
    <p:sldId id="2972" r:id="rId6"/>
    <p:sldId id="3007" r:id="rId67"/>
    <p:sldId id="2994" r:id="rId7"/>
    <p:sldId id="2995" r:id="rId8"/>
    <p:sldId id="3001" r:id="rId11"/>
    <p:sldId id="2999" r:id="rId12"/>
    <p:sldId id="2736" r:id="rId14"/>
    <p:sldId id="2987" r:id="rId15"/>
    <p:sldId id="2997" r:id="rId16"/>
    <p:sldId id="2996" r:id="rId17"/>
    <p:sldId id="2973" r:id="rId18"/>
    <p:sldId id="2977" r:id="rId19"/>
    <p:sldId id="2979" r:id="rId20"/>
    <p:sldId id="3000" r:id="rId21"/>
    <p:sldId id="2968" r:id="rId34"/>
    <p:sldId id="2908" r:id="rId22"/>
    <p:sldId id="2998" r:id="rId23"/>
    <p:sldId id="2990" r:id="rId24"/>
    <p:sldId id="2986" r:id="rId26"/>
    <p:sldId id="2991" r:id="rId28"/>
    <p:sldId id="2737" r:id="rId29"/>
    <p:sldId id="2989" r:id="rId30"/>
    <p:sldId id="2563" r:id="rId31"/>
    <p:sldId id="2959" r:id="rId32"/>
    <p:sldId id="2970" r:id="rId33"/>
    <p:sldId id="2639" r:id="rId36"/>
    <p:sldId id="2957" r:id="rId37"/>
    <p:sldId id="2951" r:id="rId38"/>
    <p:sldId id="2841" r:id="rId39"/>
    <p:sldId id="2734" r:id="rId40"/>
    <p:sldId id="2595" r:id="rId41"/>
    <p:sldId id="2566" r:id="rId42"/>
    <p:sldId id="2915" r:id="rId43"/>
    <p:sldId id="2619" r:id="rId44"/>
    <p:sldId id="2761" r:id="rId45"/>
    <p:sldId id="2935" r:id="rId46"/>
    <p:sldId id="2919" r:id="rId47"/>
    <p:sldId id="2519" r:id="rId48"/>
    <p:sldId id="2931" r:id="rId49"/>
    <p:sldId id="2749" r:id="rId50"/>
    <p:sldId id="2950" r:id="rId51"/>
    <p:sldId id="2961" r:id="rId52"/>
    <p:sldId id="2849" r:id="rId53"/>
    <p:sldId id="2904" r:id="rId54"/>
    <p:sldId id="2905" r:id="rId55"/>
    <p:sldId id="2906" r:id="rId56"/>
    <p:sldId id="2907" r:id="rId57"/>
    <p:sldId id="2575" r:id="rId58"/>
    <p:sldId id="2910" r:id="rId59"/>
    <p:sldId id="1169" r:id="rId60"/>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74" d="100"/>
          <a:sy n="74" d="100"/>
        </p:scale>
        <p:origin x="784" y="44"/>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5.xml"/><Relationship Id="rId8"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6"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1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notesMaster" Target="notesMasters/notesMaster1.xml"/><Relationship Id="rId62" Type="http://schemas.openxmlformats.org/officeDocument/2006/relationships/handoutMaster" Target="handoutMasters/handout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 Id="rId67"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2026/9/19</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B00FA-BE78-95FE-0350-A4F0396FFF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C15E1A-F54C-3203-065A-E98A027A09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AE28B8-9549-F5B4-6969-5885B85CCC6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C20ED0-F80D-F8F8-F1CB-2D28DC68BCAB}"/>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918954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3C2E-8631-0E38-6C31-C6DED150D2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48057B-4969-D8FF-F0AC-CA210AA37C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F70A271-6E49-37E3-A907-5C2BD567216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C12D90D-F41A-5474-D369-5759C78B843B}"/>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3162817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880EF-6C8C-B780-9BB3-1B0757C006A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AB9840-7942-E115-501A-18129D771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A1841C-729C-28E2-58FF-5212B200D2B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47DBBA-098F-116B-BB87-D1F9D32E060E}"/>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7908184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32913352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8432E-C2C6-89CF-C006-DD360C6CBC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7CA1C0-54B2-C273-9EFA-4A233AA33F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C6AE94C-3A31-DE43-5CF3-F8B06624D4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92184BA-3FBD-5E23-D138-23E1190BD57E}"/>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783841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09F94-460F-5A9A-D53E-BD9AF25C600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80BBC6-A0FB-42D9-3A8A-800D9E47CF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DCB781-2099-65DC-EA96-CC827630AF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72154FB-F3CF-6922-2040-70A35BD97D62}"/>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1023598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29496486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39947864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18</a:t>
            </a:fld>
            <a:endParaRPr kumimoji="1" lang="ja-JP" altLang="en-US"/>
          </a:p>
        </p:txBody>
      </p:sp>
    </p:spTree>
    <p:extLst>
      <p:ext uri="{BB962C8B-B14F-4D97-AF65-F5344CB8AC3E}">
        <p14:creationId xmlns:p14="http://schemas.microsoft.com/office/powerpoint/2010/main" val="1158505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66D97-D2AE-47E8-CEF6-DF7B01DBF3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7462C0-C3A5-BB88-91F7-226AFC22447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D40E553-EB2C-9ACD-C50F-CC21DD6D00A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59E7342-2894-A379-2FAD-61B82347D6FE}"/>
              </a:ext>
            </a:extLst>
          </p:cNvPr>
          <p:cNvSpPr>
            <a:spLocks noGrp="1"/>
          </p:cNvSpPr>
          <p:nvPr>
            <p:ph type="sldNum" sz="quarter" idx="10"/>
          </p:nvPr>
        </p:nvSpPr>
        <p:spPr/>
        <p:txBody>
          <a:bodyPr/>
          <a:lstStyle/>
          <a:p>
            <a:fld id="{022E43C0-6795-4B13-B37C-259C826D4B6A}" type="slidenum">
              <a:rPr kumimoji="1" lang="ja-JP" altLang="en-US" smtClean="0"/>
              <a:t>19</a:t>
            </a:fld>
            <a:endParaRPr kumimoji="1" lang="ja-JP" altLang="en-US"/>
          </a:p>
        </p:txBody>
      </p:sp>
    </p:spTree>
    <p:extLst>
      <p:ext uri="{BB962C8B-B14F-4D97-AF65-F5344CB8AC3E}">
        <p14:creationId xmlns:p14="http://schemas.microsoft.com/office/powerpoint/2010/main" val="28297304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CAC78-50A4-F913-B3AF-274D32241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EBEBB5-128F-0CAF-8FD7-D219209161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9E3D02-55AC-2638-9F09-898F0C8E63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51B9F10-F34C-A78C-BAAF-5494CD58A784}"/>
              </a:ext>
            </a:extLst>
          </p:cNvPr>
          <p:cNvSpPr>
            <a:spLocks noGrp="1"/>
          </p:cNvSpPr>
          <p:nvPr>
            <p:ph type="sldNum" sz="quarter" idx="10"/>
          </p:nvPr>
        </p:nvSpPr>
        <p:spPr/>
        <p:txBody>
          <a:bodyPr/>
          <a:lstStyle/>
          <a:p>
            <a:fld id="{022E43C0-6795-4B13-B37C-259C826D4B6A}" type="slidenum">
              <a:rPr kumimoji="1" lang="ja-JP" altLang="en-US" smtClean="0"/>
              <a:t>24</a:t>
            </a:fld>
            <a:endParaRPr kumimoji="1" lang="ja-JP" altLang="en-US"/>
          </a:p>
        </p:txBody>
      </p:sp>
    </p:spTree>
    <p:extLst>
      <p:ext uri="{BB962C8B-B14F-4D97-AF65-F5344CB8AC3E}">
        <p14:creationId xmlns:p14="http://schemas.microsoft.com/office/powerpoint/2010/main" val="39854538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26</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40</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42</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49</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58</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7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jpeg"/><Relationship Id="rId3" Type="http://schemas.openxmlformats.org/officeDocument/2006/relationships/image" Target="../media/image31.jpe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jpe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7.png"/><Relationship Id="rId4" Type="http://schemas.openxmlformats.org/officeDocument/2006/relationships/image" Target="../media/image4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svg"/><Relationship Id="rId8" Type="http://schemas.openxmlformats.org/officeDocument/2006/relationships/image" Target="../media/image5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55.svg"/><Relationship Id="rId4" Type="http://schemas.openxmlformats.org/officeDocument/2006/relationships/image" Target="../media/image56.svg"/><Relationship Id="rId5" Type="http://schemas.openxmlformats.org/officeDocument/2006/relationships/image" Target="../media/image57.svg"/><Relationship Id="rId6" Type="http://schemas.openxmlformats.org/officeDocument/2006/relationships/image" Target="../media/image58.sv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emf"/><Relationship Id="rId4" Type="http://schemas.openxmlformats.org/officeDocument/2006/relationships/image" Target="../media/image74.jpeg"/><Relationship Id="rId5" Type="http://schemas.openxmlformats.org/officeDocument/2006/relationships/image" Target="../media/image75.jpeg"/><Relationship Id="rId6" Type="http://schemas.openxmlformats.org/officeDocument/2006/relationships/image" Target="../media/image76.jpeg"/><Relationship Id="rId7" Type="http://schemas.openxmlformats.org/officeDocument/2006/relationships/image" Target="../media/image77.jpeg"/><Relationship Id="rId8" Type="http://schemas.openxmlformats.org/officeDocument/2006/relationships/image" Target="../media/image7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株式会社チェングロウス 御中</a:t>
            </a:r>
          </a:p>
        </p:txBody>
      </p:sp>
      <p:pic>
        <p:nvPicPr>
          <p:cNvPr id="11" name="Picture 10" descr="chengrowth_logo.png"/>
          <p:cNvPicPr>
            <a:picLocks noChangeAspect="1"/>
          </p:cNvPicPr>
          <p:nvPr/>
        </p:nvPicPr>
        <p:blipFill>
          <a:blip r:embed="rId5"/>
          <a:stretch>
            <a:fillRect/>
          </a:stretch>
        </p:blipFill>
        <p:spPr>
          <a:xfrm>
            <a:off x="3513000" y="3478502"/>
            <a:ext cx="2880000" cy="337171"/>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現状把握【自動車 求人Navi】</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広告は動いている。しかし、応募につながっていない。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2000" y="1728000"/>
            <a:ext cx="2942400" cy="251999"/>
          </a:xfrm>
          <a:prstGeom prst="rect">
            <a:avLst/>
          </a:prstGeom>
          <a:noFill/>
        </p:spPr>
        <p:txBody>
          <a:bodyPr wrap="square" lIns="50400" rIns="50400" tIns="21600" bIns="21600" anchor="ctr">
            <a:spAutoFit/>
          </a:bodyPr>
          <a:lstStyle/>
          <a:p>
            <a:pPr algn="ctr"/>
            <a:r>
              <a:rPr sz="1150" b="1">
                <a:solidFill>
                  <a:srgbClr val="1F285A"/>
                </a:solidFill>
                <a:latin typeface="メイリオ"/>
                <a:ea typeface="メイリオ"/>
                <a:cs typeface="メイリオ"/>
              </a:rPr>
              <a:t>Meta広告の応募単価</a:t>
            </a:r>
          </a:p>
        </p:txBody>
      </p:sp>
      <p:sp>
        <p:nvSpPr>
          <p:cNvPr id="7" name="TextBox 6"/>
          <p:cNvSpPr txBox="1"/>
          <p:nvPr/>
        </p:nvSpPr>
        <p:spPr>
          <a:xfrm>
            <a:off x="432000" y="2051999"/>
            <a:ext cx="2942400" cy="540000"/>
          </a:xfrm>
          <a:prstGeom prst="rect">
            <a:avLst/>
          </a:prstGeom>
          <a:noFill/>
        </p:spPr>
        <p:txBody>
          <a:bodyPr wrap="square" lIns="50400" rIns="50400" tIns="21600" bIns="21600" anchor="ctr">
            <a:spAutoFit/>
          </a:bodyPr>
          <a:lstStyle/>
          <a:p>
            <a:pPr algn="ctr"/>
            <a:r>
              <a:rPr sz="2600" b="1">
                <a:solidFill>
                  <a:srgbClr val="ED7D31"/>
                </a:solidFill>
                <a:latin typeface="メイリオ"/>
                <a:ea typeface="メイリオ"/>
                <a:cs typeface="メイリオ"/>
              </a:rPr>
              <a:t>約70万円/件</a:t>
            </a:r>
          </a:p>
        </p:txBody>
      </p:sp>
      <p:sp>
        <p:nvSpPr>
          <p:cNvPr id="8" name="TextBox 7"/>
          <p:cNvSpPr txBox="1"/>
          <p:nvPr/>
        </p:nvSpPr>
        <p:spPr>
          <a:xfrm>
            <a:off x="432000" y="2628000"/>
            <a:ext cx="2942400" cy="503999"/>
          </a:xfrm>
          <a:prstGeom prst="rect">
            <a:avLst/>
          </a:prstGeom>
          <a:noFill/>
        </p:spPr>
        <p:txBody>
          <a:bodyPr wrap="square" lIns="50400" rIns="50400" tIns="21600" bIns="21600" anchor="ctr">
            <a:spAutoFit/>
          </a:bodyPr>
          <a:lstStyle/>
          <a:p>
            <a:pPr algn="ctr">
              <a:lnSpc>
                <a:spcPct val="130000"/>
              </a:lnSpc>
            </a:pPr>
            <a:r>
              <a:rPr sz="950">
                <a:solidFill>
                  <a:srgbClr val="333333"/>
                </a:solidFill>
                <a:latin typeface="メイリオ"/>
                <a:ea typeface="メイリオ"/>
                <a:cs typeface="メイリオ"/>
              </a:rPr>
              <a:t>年250万円の投下で</a:t>
            </a:r>
          </a:p>
          <a:p>
            <a:pPr algn="ctr">
              <a:lnSpc>
                <a:spcPct val="130000"/>
              </a:lnSpc>
            </a:pPr>
            <a:r>
              <a:rPr sz="950">
                <a:solidFill>
                  <a:srgbClr val="333333"/>
                </a:solidFill>
                <a:latin typeface="メイリオ"/>
                <a:ea typeface="メイリオ"/>
                <a:cs typeface="メイリオ"/>
              </a:rPr>
              <a:t>応募は年3〜4件</a:t>
            </a:r>
          </a:p>
        </p:txBody>
      </p:sp>
      <p:sp>
        <p:nvSpPr>
          <p:cNvPr id="9" name="Rounded Rectangle 8"/>
          <p:cNvSpPr/>
          <p:nvPr/>
        </p:nvSpPr>
        <p:spPr>
          <a:xfrm>
            <a:off x="34824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82400" y="1728000"/>
            <a:ext cx="2942400" cy="251999"/>
          </a:xfrm>
          <a:prstGeom prst="rect">
            <a:avLst/>
          </a:prstGeom>
          <a:noFill/>
        </p:spPr>
        <p:txBody>
          <a:bodyPr wrap="square" lIns="50400" rIns="50400" tIns="21600" bIns="21600" anchor="ctr">
            <a:spAutoFit/>
          </a:bodyPr>
          <a:lstStyle/>
          <a:p>
            <a:pPr algn="ctr"/>
            <a:r>
              <a:rPr sz="1150" b="1">
                <a:solidFill>
                  <a:srgbClr val="1F285A"/>
                </a:solidFill>
                <a:latin typeface="メイリオ"/>
                <a:ea typeface="メイリオ"/>
                <a:cs typeface="メイリオ"/>
              </a:rPr>
              <a:t>整備士の応募単価（Google）</a:t>
            </a:r>
          </a:p>
        </p:txBody>
      </p:sp>
      <p:sp>
        <p:nvSpPr>
          <p:cNvPr id="11" name="TextBox 10"/>
          <p:cNvSpPr txBox="1"/>
          <p:nvPr/>
        </p:nvSpPr>
        <p:spPr>
          <a:xfrm>
            <a:off x="3482400" y="2051999"/>
            <a:ext cx="2942400" cy="540000"/>
          </a:xfrm>
          <a:prstGeom prst="rect">
            <a:avLst/>
          </a:prstGeom>
          <a:noFill/>
        </p:spPr>
        <p:txBody>
          <a:bodyPr wrap="square" lIns="50400" rIns="50400" tIns="21600" bIns="21600" anchor="ctr">
            <a:spAutoFit/>
          </a:bodyPr>
          <a:lstStyle/>
          <a:p>
            <a:pPr algn="ctr"/>
            <a:r>
              <a:rPr sz="2600" b="1">
                <a:solidFill>
                  <a:srgbClr val="ED7D31"/>
                </a:solidFill>
                <a:latin typeface="メイリオ"/>
                <a:ea typeface="メイリオ"/>
                <a:cs typeface="メイリオ"/>
              </a:rPr>
              <a:t>6万円</a:t>
            </a:r>
          </a:p>
        </p:txBody>
      </p:sp>
      <p:sp>
        <p:nvSpPr>
          <p:cNvPr id="12" name="TextBox 11"/>
          <p:cNvSpPr txBox="1"/>
          <p:nvPr/>
        </p:nvSpPr>
        <p:spPr>
          <a:xfrm>
            <a:off x="3482400" y="2628000"/>
            <a:ext cx="2942400" cy="503999"/>
          </a:xfrm>
          <a:prstGeom prst="rect">
            <a:avLst/>
          </a:prstGeom>
          <a:noFill/>
        </p:spPr>
        <p:txBody>
          <a:bodyPr wrap="square" lIns="50400" rIns="50400" tIns="21600" bIns="21600" anchor="ctr">
            <a:spAutoFit/>
          </a:bodyPr>
          <a:lstStyle/>
          <a:p>
            <a:pPr algn="ctr">
              <a:lnSpc>
                <a:spcPct val="130000"/>
              </a:lnSpc>
            </a:pPr>
            <a:r>
              <a:rPr sz="950">
                <a:solidFill>
                  <a:srgbClr val="333333"/>
                </a:solidFill>
                <a:latin typeface="メイリオ"/>
                <a:ea typeface="メイリオ"/>
                <a:cs typeface="メイリオ"/>
              </a:rPr>
              <a:t>目標は2〜2.5万円</a:t>
            </a:r>
          </a:p>
          <a:p>
            <a:pPr algn="ctr">
              <a:lnSpc>
                <a:spcPct val="130000"/>
              </a:lnSpc>
            </a:pPr>
            <a:r>
              <a:rPr sz="950">
                <a:solidFill>
                  <a:srgbClr val="333333"/>
                </a:solidFill>
                <a:latin typeface="メイリオ"/>
                <a:ea typeface="メイリオ"/>
                <a:cs typeface="メイリオ"/>
              </a:rPr>
              <a:t>＝2.4〜3倍の乖離</a:t>
            </a:r>
          </a:p>
        </p:txBody>
      </p:sp>
      <p:sp>
        <p:nvSpPr>
          <p:cNvPr id="13" name="Rounded Rectangle 12"/>
          <p:cNvSpPr/>
          <p:nvPr/>
        </p:nvSpPr>
        <p:spPr>
          <a:xfrm>
            <a:off x="65328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32800" y="1728000"/>
            <a:ext cx="2942400" cy="251999"/>
          </a:xfrm>
          <a:prstGeom prst="rect">
            <a:avLst/>
          </a:prstGeom>
          <a:noFill/>
        </p:spPr>
        <p:txBody>
          <a:bodyPr wrap="square" lIns="50400" rIns="50400" tIns="21600" bIns="21600" anchor="ctr">
            <a:spAutoFit/>
          </a:bodyPr>
          <a:lstStyle/>
          <a:p>
            <a:pPr algn="ctr"/>
            <a:r>
              <a:rPr sz="1150" b="1">
                <a:solidFill>
                  <a:srgbClr val="1F285A"/>
                </a:solidFill>
                <a:latin typeface="メイリオ"/>
                <a:ea typeface="メイリオ"/>
                <a:cs typeface="メイリオ"/>
              </a:rPr>
              <a:t>月間サイト訪問</a:t>
            </a:r>
          </a:p>
        </p:txBody>
      </p:sp>
      <p:sp>
        <p:nvSpPr>
          <p:cNvPr id="15" name="TextBox 14"/>
          <p:cNvSpPr txBox="1"/>
          <p:nvPr/>
        </p:nvSpPr>
        <p:spPr>
          <a:xfrm>
            <a:off x="6532800" y="2051999"/>
            <a:ext cx="2942400" cy="540000"/>
          </a:xfrm>
          <a:prstGeom prst="rect">
            <a:avLst/>
          </a:prstGeom>
          <a:noFill/>
        </p:spPr>
        <p:txBody>
          <a:bodyPr wrap="square" lIns="50400" rIns="50400" tIns="21600" bIns="21600" anchor="ctr">
            <a:spAutoFit/>
          </a:bodyPr>
          <a:lstStyle/>
          <a:p>
            <a:pPr algn="ctr"/>
            <a:r>
              <a:rPr sz="2600" b="1">
                <a:solidFill>
                  <a:srgbClr val="ED7D31"/>
                </a:solidFill>
                <a:latin typeface="メイリオ"/>
                <a:ea typeface="メイリオ"/>
                <a:cs typeface="メイリオ"/>
              </a:rPr>
              <a:t>3,215 UU</a:t>
            </a:r>
          </a:p>
        </p:txBody>
      </p:sp>
      <p:sp>
        <p:nvSpPr>
          <p:cNvPr id="16" name="TextBox 15"/>
          <p:cNvSpPr txBox="1"/>
          <p:nvPr/>
        </p:nvSpPr>
        <p:spPr>
          <a:xfrm>
            <a:off x="6532800" y="2628000"/>
            <a:ext cx="2942400" cy="503999"/>
          </a:xfrm>
          <a:prstGeom prst="rect">
            <a:avLst/>
          </a:prstGeom>
          <a:noFill/>
        </p:spPr>
        <p:txBody>
          <a:bodyPr wrap="square" lIns="50400" rIns="50400" tIns="21600" bIns="21600" anchor="ctr">
            <a:spAutoFit/>
          </a:bodyPr>
          <a:lstStyle/>
          <a:p>
            <a:pPr algn="ctr">
              <a:lnSpc>
                <a:spcPct val="130000"/>
              </a:lnSpc>
            </a:pPr>
            <a:r>
              <a:rPr sz="950">
                <a:solidFill>
                  <a:srgbClr val="333333"/>
                </a:solidFill>
                <a:latin typeface="メイリオ"/>
                <a:ea typeface="メイリオ"/>
                <a:cs typeface="メイリオ"/>
              </a:rPr>
              <a:t>SimilarWeb推計</a:t>
            </a:r>
          </a:p>
          <a:p>
            <a:pPr algn="ctr">
              <a:lnSpc>
                <a:spcPct val="130000"/>
              </a:lnSpc>
            </a:pPr>
            <a:r>
              <a:rPr sz="950">
                <a:solidFill>
                  <a:srgbClr val="333333"/>
                </a:solidFill>
                <a:latin typeface="メイリオ"/>
                <a:ea typeface="メイリオ"/>
                <a:cs typeface="メイリオ"/>
              </a:rPr>
              <a:t>応募まで進むのはごく一部</a:t>
            </a:r>
          </a:p>
        </p:txBody>
      </p:sp>
      <p:sp>
        <p:nvSpPr>
          <p:cNvPr id="17" name="Rounded Rectangle 16"/>
          <p:cNvSpPr/>
          <p:nvPr/>
        </p:nvSpPr>
        <p:spPr>
          <a:xfrm>
            <a:off x="432000" y="3348000"/>
            <a:ext cx="9043200" cy="792000"/>
          </a:xfrm>
          <a:prstGeom prst="roundRect">
            <a:avLst>
              <a:gd name="adj" fmla="val 6000"/>
            </a:avLst>
          </a:prstGeom>
          <a:solidFill>
            <a:srgbClr val="FDF2F2"/>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000" y="3401999"/>
            <a:ext cx="8683200" cy="684000"/>
          </a:xfrm>
          <a:prstGeom prst="rect">
            <a:avLst/>
          </a:prstGeom>
          <a:noFill/>
        </p:spPr>
        <p:txBody>
          <a:bodyPr wrap="square" lIns="50400" rIns="50400" tIns="21600" bIns="21600" anchor="ctr">
            <a:spAutoFit/>
          </a:bodyPr>
          <a:lstStyle/>
          <a:p>
            <a:pPr algn="l">
              <a:spcAft>
                <a:spcPts val="400"/>
              </a:spcAft>
            </a:pPr>
            <a:r>
              <a:rPr sz="1200" b="1">
                <a:solidFill>
                  <a:srgbClr val="C00000"/>
                </a:solidFill>
                <a:latin typeface="メイリオ"/>
                <a:ea typeface="メイリオ"/>
                <a:cs typeface="メイリオ"/>
              </a:rPr>
              <a:t>あわせて2点、すぐに直せる改善点があります。</a:t>
            </a:r>
          </a:p>
          <a:p>
            <a:pPr algn="l">
              <a:lnSpc>
                <a:spcPct val="130000"/>
              </a:lnSpc>
            </a:pPr>
            <a:r>
              <a:rPr sz="1050">
                <a:solidFill>
                  <a:srgbClr val="333333"/>
                </a:solidFill>
                <a:latin typeface="メイリオ"/>
                <a:ea typeface="メイリオ"/>
                <a:cs typeface="メイリオ"/>
              </a:rPr>
              <a:t>① トップページの「転職支援サービス申込」ボタンが現在リンク切れ（押した先が非公開の求人ページ）</a:t>
            </a:r>
          </a:p>
          <a:p>
            <a:pPr algn="l">
              <a:lnSpc>
                <a:spcPct val="130000"/>
              </a:lnSpc>
            </a:pPr>
            <a:r>
              <a:rPr sz="1050">
                <a:solidFill>
                  <a:srgbClr val="333333"/>
                </a:solidFill>
                <a:latin typeface="メイリオ"/>
                <a:ea typeface="メイリオ"/>
                <a:cs typeface="メイリオ"/>
              </a:rPr>
              <a:t>② 電話相談の受付が平日10:00〜18:00のみ ＝ 整備士の方が働いている時間帯</a:t>
            </a:r>
          </a:p>
        </p:txBody>
      </p:sp>
      <p:sp>
        <p:nvSpPr>
          <p:cNvPr id="19" name="TextBox 18"/>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出典：与件ヒアリング（2026-09）／サイト実査 2026-09-21。UUはSimilarWeb推計のため、GA実測値をいただき次第置き換え</a:t>
            </a:r>
          </a:p>
        </p:txBody>
      </p:sp>
    </p:spTree>
    <p:extLst>
      <p:ext uri="{BB962C8B-B14F-4D97-AF65-F5344CB8AC3E}">
        <p14:creationId xmlns:p14="http://schemas.microsoft.com/office/powerpoint/2010/main" val="2378484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想定動線【自動車 求人Navi】</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現状は「今すぐ応募する」の一段のみ。迷っている段階の受け皿をLINEでつくる。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2000" y="1602000"/>
            <a:ext cx="1440000" cy="216000"/>
          </a:xfrm>
          <a:prstGeom prst="rect">
            <a:avLst/>
          </a:prstGeom>
          <a:noFill/>
        </p:spPr>
        <p:txBody>
          <a:bodyPr wrap="square" lIns="50400" rIns="50400" tIns="21600" bIns="21600" anchor="ctr">
            <a:spAutoFit/>
          </a:bodyPr>
          <a:lstStyle/>
          <a:p>
            <a:pPr algn="l"/>
            <a:r>
              <a:rPr sz="1100" b="1">
                <a:solidFill>
                  <a:srgbClr val="7F7F7F"/>
                </a:solidFill>
                <a:latin typeface="メイリオ"/>
                <a:ea typeface="メイリオ"/>
                <a:cs typeface="メイリオ"/>
              </a:rPr>
              <a:t>現状</a:t>
            </a:r>
          </a:p>
        </p:txBody>
      </p:sp>
      <p:sp>
        <p:nvSpPr>
          <p:cNvPr id="6" name="Rounded Rectangle 5"/>
          <p:cNvSpPr/>
          <p:nvPr/>
        </p:nvSpPr>
        <p:spPr>
          <a:xfrm>
            <a:off x="432000" y="1835999"/>
            <a:ext cx="2098800" cy="39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100" b="1">
                <a:solidFill>
                  <a:srgbClr val="FFFFFF"/>
                </a:solidFill>
                <a:latin typeface="メイリオ"/>
                <a:ea typeface="メイリオ"/>
                <a:cs typeface="メイリオ"/>
              </a:rPr>
              <a:t>流入</a:t>
            </a:r>
          </a:p>
        </p:txBody>
      </p:sp>
      <p:sp>
        <p:nvSpPr>
          <p:cNvPr id="7" name="TextBox 6"/>
          <p:cNvSpPr txBox="1"/>
          <p:nvPr/>
        </p:nvSpPr>
        <p:spPr>
          <a:xfrm>
            <a:off x="2548800" y="1890000"/>
            <a:ext cx="180000" cy="288000"/>
          </a:xfrm>
          <a:prstGeom prst="rect">
            <a:avLst/>
          </a:prstGeom>
          <a:noFill/>
        </p:spPr>
        <p:txBody>
          <a:bodyPr wrap="square" lIns="50400" rIns="50400" tIns="21600" bIns="21600" anchor="ctr">
            <a:spAutoFit/>
          </a:bodyPr>
          <a:lstStyle/>
          <a:p>
            <a:pPr algn="ctr"/>
            <a:r>
              <a:rPr sz="1400" b="1">
                <a:solidFill>
                  <a:srgbClr val="7F7F7F"/>
                </a:solidFill>
                <a:latin typeface="メイリオ"/>
                <a:ea typeface="メイリオ"/>
                <a:cs typeface="メイリオ"/>
              </a:rPr>
              <a:t>→</a:t>
            </a:r>
          </a:p>
        </p:txBody>
      </p:sp>
      <p:sp>
        <p:nvSpPr>
          <p:cNvPr id="8" name="Rounded Rectangle 7"/>
          <p:cNvSpPr/>
          <p:nvPr/>
        </p:nvSpPr>
        <p:spPr>
          <a:xfrm>
            <a:off x="2746800" y="1835999"/>
            <a:ext cx="2098800" cy="39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100" b="1">
                <a:solidFill>
                  <a:srgbClr val="FFFFFF"/>
                </a:solidFill>
                <a:latin typeface="メイリオ"/>
                <a:ea typeface="メイリオ"/>
                <a:cs typeface="メイリオ"/>
              </a:rPr>
              <a:t>求人を見る</a:t>
            </a:r>
          </a:p>
        </p:txBody>
      </p:sp>
      <p:sp>
        <p:nvSpPr>
          <p:cNvPr id="9" name="TextBox 8"/>
          <p:cNvSpPr txBox="1"/>
          <p:nvPr/>
        </p:nvSpPr>
        <p:spPr>
          <a:xfrm>
            <a:off x="4863600" y="1890000"/>
            <a:ext cx="180000" cy="288000"/>
          </a:xfrm>
          <a:prstGeom prst="rect">
            <a:avLst/>
          </a:prstGeom>
          <a:noFill/>
        </p:spPr>
        <p:txBody>
          <a:bodyPr wrap="square" lIns="50400" rIns="50400" tIns="21600" bIns="21600" anchor="ctr">
            <a:spAutoFit/>
          </a:bodyPr>
          <a:lstStyle/>
          <a:p>
            <a:pPr algn="ctr"/>
            <a:r>
              <a:rPr sz="1400" b="1">
                <a:solidFill>
                  <a:srgbClr val="7F7F7F"/>
                </a:solidFill>
                <a:latin typeface="メイリオ"/>
                <a:ea typeface="メイリオ"/>
                <a:cs typeface="メイリオ"/>
              </a:rPr>
              <a:t>→</a:t>
            </a:r>
          </a:p>
        </p:txBody>
      </p:sp>
      <p:sp>
        <p:nvSpPr>
          <p:cNvPr id="10" name="Rounded Rectangle 9"/>
          <p:cNvSpPr/>
          <p:nvPr/>
        </p:nvSpPr>
        <p:spPr>
          <a:xfrm>
            <a:off x="5061600" y="1835999"/>
            <a:ext cx="2098800" cy="396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100" b="1">
                <a:solidFill>
                  <a:srgbClr val="FFFFFF"/>
                </a:solidFill>
                <a:latin typeface="メイリオ"/>
                <a:ea typeface="メイリオ"/>
                <a:cs typeface="メイリオ"/>
              </a:rPr>
              <a:t>今すぐ応募する</a:t>
            </a:r>
          </a:p>
        </p:txBody>
      </p:sp>
      <p:sp>
        <p:nvSpPr>
          <p:cNvPr id="11" name="TextBox 10"/>
          <p:cNvSpPr txBox="1"/>
          <p:nvPr/>
        </p:nvSpPr>
        <p:spPr>
          <a:xfrm>
            <a:off x="7178400" y="1890000"/>
            <a:ext cx="180000" cy="288000"/>
          </a:xfrm>
          <a:prstGeom prst="rect">
            <a:avLst/>
          </a:prstGeom>
          <a:noFill/>
        </p:spPr>
        <p:txBody>
          <a:bodyPr wrap="square" lIns="50400" rIns="50400" tIns="21600" bIns="21600" anchor="ctr">
            <a:spAutoFit/>
          </a:bodyPr>
          <a:lstStyle/>
          <a:p>
            <a:pPr algn="ctr"/>
            <a:r>
              <a:rPr sz="1400" b="1">
                <a:solidFill>
                  <a:srgbClr val="7F7F7F"/>
                </a:solidFill>
                <a:latin typeface="メイリオ"/>
                <a:ea typeface="メイリオ"/>
                <a:cs typeface="メイリオ"/>
              </a:rPr>
              <a:t>→</a:t>
            </a:r>
          </a:p>
        </p:txBody>
      </p:sp>
      <p:sp>
        <p:nvSpPr>
          <p:cNvPr id="12" name="Rounded Rectangle 11"/>
          <p:cNvSpPr/>
          <p:nvPr/>
        </p:nvSpPr>
        <p:spPr>
          <a:xfrm>
            <a:off x="7376399" y="1835999"/>
            <a:ext cx="2098800" cy="396000"/>
          </a:xfrm>
          <a:prstGeom prst="roundRect">
            <a:avLst>
              <a:gd name="adj" fmla="val 6000"/>
            </a:avLst>
          </a:prstGeom>
          <a:solidFill>
            <a:srgbClr val="FDF2F2"/>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100" b="1">
                <a:solidFill>
                  <a:srgbClr val="C00000"/>
                </a:solidFill>
                <a:latin typeface="メイリオ"/>
                <a:ea typeface="メイリオ"/>
                <a:cs typeface="メイリオ"/>
              </a:rPr>
              <a:t>迷った人は離脱</a:t>
            </a:r>
          </a:p>
        </p:txBody>
      </p:sp>
      <p:sp>
        <p:nvSpPr>
          <p:cNvPr id="13" name="TextBox 12"/>
          <p:cNvSpPr txBox="1"/>
          <p:nvPr/>
        </p:nvSpPr>
        <p:spPr>
          <a:xfrm>
            <a:off x="432000" y="2376000"/>
            <a:ext cx="2160000" cy="216000"/>
          </a:xfrm>
          <a:prstGeom prst="rect">
            <a:avLst/>
          </a:prstGeom>
          <a:noFill/>
        </p:spPr>
        <p:txBody>
          <a:bodyPr wrap="square" lIns="50400" rIns="50400" tIns="21600" bIns="21600" anchor="ctr">
            <a:spAutoFit/>
          </a:bodyPr>
          <a:lstStyle/>
          <a:p>
            <a:pPr algn="l"/>
            <a:r>
              <a:rPr sz="1100" b="1">
                <a:solidFill>
                  <a:srgbClr val="06C755"/>
                </a:solidFill>
                <a:latin typeface="メイリオ"/>
                <a:ea typeface="メイリオ"/>
                <a:cs typeface="メイリオ"/>
              </a:rPr>
              <a:t>LINE導入後</a:t>
            </a:r>
          </a:p>
        </p:txBody>
      </p:sp>
      <p:sp>
        <p:nvSpPr>
          <p:cNvPr id="14" name="Rounded Rectangle 13"/>
          <p:cNvSpPr/>
          <p:nvPr/>
        </p:nvSpPr>
        <p:spPr>
          <a:xfrm>
            <a:off x="432000" y="2610000"/>
            <a:ext cx="1357200" cy="54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900" b="1">
                <a:solidFill>
                  <a:srgbClr val="FFFFFF"/>
                </a:solidFill>
                <a:latin typeface="メイリオ"/>
                <a:ea typeface="メイリオ"/>
                <a:cs typeface="メイリオ"/>
              </a:rPr>
              <a:t>流入</a:t>
            </a:r>
          </a:p>
        </p:txBody>
      </p:sp>
      <p:sp>
        <p:nvSpPr>
          <p:cNvPr id="15" name="TextBox 14"/>
          <p:cNvSpPr txBox="1"/>
          <p:nvPr/>
        </p:nvSpPr>
        <p:spPr>
          <a:xfrm>
            <a:off x="1796399" y="2718000"/>
            <a:ext cx="165600" cy="288000"/>
          </a:xfrm>
          <a:prstGeom prst="rect">
            <a:avLst/>
          </a:prstGeom>
          <a:noFill/>
        </p:spPr>
        <p:txBody>
          <a:bodyPr wrap="square" lIns="50400" rIns="50400" tIns="21600" bIns="21600" anchor="ctr">
            <a:spAutoFit/>
          </a:bodyPr>
          <a:lstStyle/>
          <a:p>
            <a:pPr algn="ctr"/>
            <a:r>
              <a:rPr sz="1200" b="1">
                <a:solidFill>
                  <a:srgbClr val="7F7F7F"/>
                </a:solidFill>
                <a:latin typeface="メイリオ"/>
                <a:ea typeface="メイリオ"/>
                <a:cs typeface="メイリオ"/>
              </a:rPr>
              <a:t>→</a:t>
            </a:r>
          </a:p>
        </p:txBody>
      </p:sp>
      <p:sp>
        <p:nvSpPr>
          <p:cNvPr id="16" name="Rounded Rectangle 15"/>
          <p:cNvSpPr/>
          <p:nvPr/>
        </p:nvSpPr>
        <p:spPr>
          <a:xfrm>
            <a:off x="1969200" y="2610000"/>
            <a:ext cx="1357200" cy="540000"/>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900" b="1">
                <a:solidFill>
                  <a:srgbClr val="FFFFFF"/>
                </a:solidFill>
                <a:latin typeface="メイリオ"/>
                <a:ea typeface="メイリオ"/>
                <a:cs typeface="メイリオ"/>
              </a:rPr>
              <a:t>LINE友だち化</a:t>
            </a:r>
          </a:p>
          <a:p>
            <a:pPr algn="ctr">
              <a:lnSpc>
                <a:spcPct val="115000"/>
              </a:lnSpc>
            </a:pPr>
            <a:r>
              <a:rPr sz="900" b="1">
                <a:solidFill>
                  <a:srgbClr val="FFFFFF"/>
                </a:solidFill>
                <a:latin typeface="メイリオ"/>
                <a:ea typeface="メイリオ"/>
                <a:cs typeface="メイリオ"/>
              </a:rPr>
              <a:t>（離脱防止・CPF）</a:t>
            </a:r>
          </a:p>
        </p:txBody>
      </p:sp>
      <p:sp>
        <p:nvSpPr>
          <p:cNvPr id="17" name="TextBox 16"/>
          <p:cNvSpPr txBox="1"/>
          <p:nvPr/>
        </p:nvSpPr>
        <p:spPr>
          <a:xfrm>
            <a:off x="3333600" y="2718000"/>
            <a:ext cx="165600" cy="288000"/>
          </a:xfrm>
          <a:prstGeom prst="rect">
            <a:avLst/>
          </a:prstGeom>
          <a:noFill/>
        </p:spPr>
        <p:txBody>
          <a:bodyPr wrap="square" lIns="50400" rIns="50400" tIns="21600" bIns="21600" anchor="ctr">
            <a:spAutoFit/>
          </a:bodyPr>
          <a:lstStyle/>
          <a:p>
            <a:pPr algn="ctr"/>
            <a:r>
              <a:rPr sz="1200" b="1">
                <a:solidFill>
                  <a:srgbClr val="7F7F7F"/>
                </a:solidFill>
                <a:latin typeface="メイリオ"/>
                <a:ea typeface="メイリオ"/>
                <a:cs typeface="メイリオ"/>
              </a:rPr>
              <a:t>→</a:t>
            </a:r>
          </a:p>
        </p:txBody>
      </p:sp>
      <p:sp>
        <p:nvSpPr>
          <p:cNvPr id="18" name="Rounded Rectangle 17"/>
          <p:cNvSpPr/>
          <p:nvPr/>
        </p:nvSpPr>
        <p:spPr>
          <a:xfrm>
            <a:off x="3506399" y="2610000"/>
            <a:ext cx="1357200" cy="540000"/>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900" b="1">
                <a:solidFill>
                  <a:srgbClr val="FFFFFF"/>
                </a:solidFill>
                <a:latin typeface="メイリオ"/>
                <a:ea typeface="メイリオ"/>
                <a:cs typeface="メイリオ"/>
              </a:rPr>
              <a:t>30秒診断</a:t>
            </a:r>
          </a:p>
          <a:p>
            <a:pPr algn="ctr">
              <a:lnSpc>
                <a:spcPct val="115000"/>
              </a:lnSpc>
            </a:pPr>
            <a:r>
              <a:rPr sz="900" b="1">
                <a:solidFill>
                  <a:srgbClr val="FFFFFF"/>
                </a:solidFill>
                <a:latin typeface="メイリオ"/>
                <a:ea typeface="メイリオ"/>
                <a:cs typeface="メイリオ"/>
              </a:rPr>
              <a:t>（職種・資格・温度感）</a:t>
            </a:r>
          </a:p>
        </p:txBody>
      </p:sp>
      <p:sp>
        <p:nvSpPr>
          <p:cNvPr id="19" name="TextBox 18"/>
          <p:cNvSpPr txBox="1"/>
          <p:nvPr/>
        </p:nvSpPr>
        <p:spPr>
          <a:xfrm>
            <a:off x="4870799" y="2718000"/>
            <a:ext cx="165600" cy="288000"/>
          </a:xfrm>
          <a:prstGeom prst="rect">
            <a:avLst/>
          </a:prstGeom>
          <a:noFill/>
        </p:spPr>
        <p:txBody>
          <a:bodyPr wrap="square" lIns="50400" rIns="50400" tIns="21600" bIns="21600" anchor="ctr">
            <a:spAutoFit/>
          </a:bodyPr>
          <a:lstStyle/>
          <a:p>
            <a:pPr algn="ctr"/>
            <a:r>
              <a:rPr sz="1200" b="1">
                <a:solidFill>
                  <a:srgbClr val="7F7F7F"/>
                </a:solidFill>
                <a:latin typeface="メイリオ"/>
                <a:ea typeface="メイリオ"/>
                <a:cs typeface="メイリオ"/>
              </a:rPr>
              <a:t>→</a:t>
            </a:r>
          </a:p>
        </p:txBody>
      </p:sp>
      <p:sp>
        <p:nvSpPr>
          <p:cNvPr id="20" name="Rounded Rectangle 19"/>
          <p:cNvSpPr/>
          <p:nvPr/>
        </p:nvSpPr>
        <p:spPr>
          <a:xfrm>
            <a:off x="5043599" y="2610000"/>
            <a:ext cx="1357200" cy="540000"/>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900" b="1">
                <a:solidFill>
                  <a:srgbClr val="FFFFFF"/>
                </a:solidFill>
                <a:latin typeface="メイリオ"/>
                <a:ea typeface="メイリオ"/>
                <a:cs typeface="メイリオ"/>
              </a:rPr>
              <a:t>14日間の情報配信</a:t>
            </a:r>
          </a:p>
          <a:p>
            <a:pPr algn="ctr">
              <a:lnSpc>
                <a:spcPct val="115000"/>
              </a:lnSpc>
            </a:pPr>
            <a:r>
              <a:rPr sz="900" b="1">
                <a:solidFill>
                  <a:srgbClr val="FFFFFF"/>
                </a:solidFill>
                <a:latin typeface="メイリオ"/>
                <a:ea typeface="メイリオ"/>
                <a:cs typeface="メイリオ"/>
              </a:rPr>
              <a:t>（年収相場・体験談）</a:t>
            </a:r>
          </a:p>
        </p:txBody>
      </p:sp>
      <p:sp>
        <p:nvSpPr>
          <p:cNvPr id="21" name="TextBox 20"/>
          <p:cNvSpPr txBox="1"/>
          <p:nvPr/>
        </p:nvSpPr>
        <p:spPr>
          <a:xfrm>
            <a:off x="6407999" y="2718000"/>
            <a:ext cx="165600" cy="288000"/>
          </a:xfrm>
          <a:prstGeom prst="rect">
            <a:avLst/>
          </a:prstGeom>
          <a:noFill/>
        </p:spPr>
        <p:txBody>
          <a:bodyPr wrap="square" lIns="50400" rIns="50400" tIns="21600" bIns="21600" anchor="ctr">
            <a:spAutoFit/>
          </a:bodyPr>
          <a:lstStyle/>
          <a:p>
            <a:pPr algn="ctr"/>
            <a:r>
              <a:rPr sz="1200" b="1">
                <a:solidFill>
                  <a:srgbClr val="7F7F7F"/>
                </a:solidFill>
                <a:latin typeface="メイリオ"/>
                <a:ea typeface="メイリオ"/>
                <a:cs typeface="メイリオ"/>
              </a:rPr>
              <a:t>→</a:t>
            </a:r>
          </a:p>
        </p:txBody>
      </p:sp>
      <p:sp>
        <p:nvSpPr>
          <p:cNvPr id="22" name="Rounded Rectangle 21"/>
          <p:cNvSpPr/>
          <p:nvPr/>
        </p:nvSpPr>
        <p:spPr>
          <a:xfrm>
            <a:off x="6580799" y="2610000"/>
            <a:ext cx="1357200" cy="54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900" b="1">
                <a:solidFill>
                  <a:srgbClr val="FFFFFF"/>
                </a:solidFill>
                <a:latin typeface="メイリオ"/>
                <a:ea typeface="メイリオ"/>
                <a:cs typeface="メイリオ"/>
              </a:rPr>
              <a:t>面談・応募</a:t>
            </a:r>
          </a:p>
        </p:txBody>
      </p:sp>
      <p:sp>
        <p:nvSpPr>
          <p:cNvPr id="23" name="TextBox 22"/>
          <p:cNvSpPr txBox="1"/>
          <p:nvPr/>
        </p:nvSpPr>
        <p:spPr>
          <a:xfrm>
            <a:off x="7945199" y="2718000"/>
            <a:ext cx="165600" cy="288000"/>
          </a:xfrm>
          <a:prstGeom prst="rect">
            <a:avLst/>
          </a:prstGeom>
          <a:noFill/>
        </p:spPr>
        <p:txBody>
          <a:bodyPr wrap="square" lIns="50400" rIns="50400" tIns="21600" bIns="21600" anchor="ctr">
            <a:spAutoFit/>
          </a:bodyPr>
          <a:lstStyle/>
          <a:p>
            <a:pPr algn="ctr"/>
            <a:r>
              <a:rPr sz="1200" b="1">
                <a:solidFill>
                  <a:srgbClr val="7F7F7F"/>
                </a:solidFill>
                <a:latin typeface="メイリオ"/>
                <a:ea typeface="メイリオ"/>
                <a:cs typeface="メイリオ"/>
              </a:rPr>
              <a:t>→</a:t>
            </a:r>
          </a:p>
        </p:txBody>
      </p:sp>
      <p:sp>
        <p:nvSpPr>
          <p:cNvPr id="24" name="Rounded Rectangle 23"/>
          <p:cNvSpPr/>
          <p:nvPr/>
        </p:nvSpPr>
        <p:spPr>
          <a:xfrm>
            <a:off x="8117999" y="2610000"/>
            <a:ext cx="1357200" cy="54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1600" bIns="21600"/>
          <a:lstStyle/>
          <a:p>
            <a:pPr algn="ctr">
              <a:lnSpc>
                <a:spcPct val="115000"/>
              </a:lnSpc>
            </a:pPr>
            <a:r>
              <a:rPr sz="900" b="1">
                <a:solidFill>
                  <a:srgbClr val="FFFFFF"/>
                </a:solidFill>
                <a:latin typeface="メイリオ"/>
                <a:ea typeface="メイリオ"/>
                <a:cs typeface="メイリオ"/>
              </a:rPr>
              <a:t>就業</a:t>
            </a:r>
          </a:p>
        </p:txBody>
      </p:sp>
      <p:sp>
        <p:nvSpPr>
          <p:cNvPr id="25" name="Rounded Rectangle 24"/>
          <p:cNvSpPr/>
          <p:nvPr/>
        </p:nvSpPr>
        <p:spPr>
          <a:xfrm>
            <a:off x="432000" y="3383999"/>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300" b="1">
                <a:solidFill>
                  <a:srgbClr val="FFFFFF"/>
                </a:solidFill>
                <a:latin typeface="メイリオ"/>
                <a:ea typeface="メイリオ"/>
                <a:cs typeface="メイリオ"/>
              </a:rPr>
              <a:t>広告・サイトは変えない。「応募の手前」に、相談の階段を1段足すだけ。</a:t>
            </a:r>
          </a:p>
        </p:txBody>
      </p:sp>
      <p:sp>
        <p:nvSpPr>
          <p:cNvPr id="26" name="TextBox 25"/>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意見｜DYM提案。CV地点＝求人応募・転職支援サービス登録（面談）</a:t>
            </a:r>
          </a:p>
        </p:txBody>
      </p:sp>
    </p:spTree>
    <p:extLst>
      <p:ext uri="{BB962C8B-B14F-4D97-AF65-F5344CB8AC3E}">
        <p14:creationId xmlns:p14="http://schemas.microsoft.com/office/powerpoint/2010/main" val="1715909323"/>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37160"/>
            <a:ext cx="6858000" cy="365760"/>
          </a:xfrm>
          <a:prstGeom prst="rect">
            <a:avLst/>
          </a:prstGeom>
          <a:noFill/>
        </p:spPr>
        <p:txBody>
          <a:bodyPr wrap="square">
            <a:spAutoFit/>
          </a:bodyPr>
          <a:lstStyle/>
          <a:p>
            <a:pPr algn="l"/>
            <a:r>
              <a:rPr sz="1400" b="1">
                <a:solidFill>
                  <a:srgbClr val="002060"/>
                </a:solidFill>
                <a:latin typeface="メイリオ"/>
                <a:ea typeface="メイリオ"/>
                <a:cs typeface="メイリオ"/>
              </a:rPr>
              <a:t>本提案の考え方</a:t>
            </a:r>
          </a:p>
        </p:txBody>
      </p:sp>
      <p:sp>
        <p:nvSpPr>
          <p:cNvPr id="3" name="TextBox 2"/>
          <p:cNvSpPr txBox="1"/>
          <p:nvPr/>
        </p:nvSpPr>
        <p:spPr>
          <a:xfrm>
            <a:off x="548640" y="1234440"/>
            <a:ext cx="8805672" cy="548640"/>
          </a:xfrm>
          <a:prstGeom prst="rect">
            <a:avLst/>
          </a:prstGeom>
          <a:noFill/>
        </p:spPr>
        <p:txBody>
          <a:bodyPr wrap="square">
            <a:spAutoFit/>
          </a:bodyPr>
          <a:lstStyle/>
          <a:p>
            <a:pPr algn="ctr"/>
            <a:r>
              <a:rPr sz="2400" b="1">
                <a:solidFill>
                  <a:srgbClr val="333333"/>
                </a:solidFill>
                <a:latin typeface="メイリオ"/>
                <a:ea typeface="メイリオ"/>
                <a:cs typeface="メイリオ"/>
              </a:rPr>
              <a:t>広告は、CVの瞬間で接点が終わる。</a:t>
            </a:r>
          </a:p>
        </p:txBody>
      </p:sp>
      <p:sp>
        <p:nvSpPr>
          <p:cNvPr id="4" name="TextBox 3"/>
          <p:cNvSpPr txBox="1"/>
          <p:nvPr/>
        </p:nvSpPr>
        <p:spPr>
          <a:xfrm>
            <a:off x="548640" y="1828800"/>
            <a:ext cx="8805672" cy="640080"/>
          </a:xfrm>
          <a:prstGeom prst="rect">
            <a:avLst/>
          </a:prstGeom>
          <a:noFill/>
        </p:spPr>
        <p:txBody>
          <a:bodyPr wrap="square">
            <a:spAutoFit/>
          </a:bodyPr>
          <a:lstStyle/>
          <a:p>
            <a:pPr algn="ctr"/>
            <a:r>
              <a:rPr sz="3000" b="1">
                <a:solidFill>
                  <a:srgbClr val="BF4E0E"/>
                </a:solidFill>
                <a:latin typeface="メイリオ"/>
                <a:ea typeface="メイリオ"/>
                <a:cs typeface="メイリオ"/>
              </a:rPr>
              <a:t>LINEは、CVの先まで追いきれる。</a:t>
            </a:r>
          </a:p>
        </p:txBody>
      </p:sp>
      <p:sp>
        <p:nvSpPr>
          <p:cNvPr id="5" name="TextBox 4"/>
          <p:cNvSpPr txBox="1"/>
          <p:nvPr/>
        </p:nvSpPr>
        <p:spPr>
          <a:xfrm>
            <a:off x="548640" y="2788920"/>
            <a:ext cx="8805672" cy="822960"/>
          </a:xfrm>
          <a:prstGeom prst="rect">
            <a:avLst/>
          </a:prstGeom>
          <a:noFill/>
        </p:spPr>
        <p:txBody>
          <a:bodyPr wrap="square">
            <a:spAutoFit/>
          </a:bodyPr>
          <a:lstStyle/>
          <a:p>
            <a:pPr algn="ctr"/>
            <a:r>
              <a:rPr sz="1400" b="0">
                <a:solidFill>
                  <a:srgbClr val="333333"/>
                </a:solidFill>
                <a:latin typeface="メイリオ"/>
                <a:ea typeface="メイリオ"/>
                <a:cs typeface="メイリオ"/>
              </a:rPr>
              <a:t>一度つながれば、接点を持ち続けられる。情報を渡し続けられる。</a:t>
            </a:r>
          </a:p>
          <a:p>
            <a:pPr algn="ctr"/>
            <a:r>
              <a:rPr sz="1400" b="0">
                <a:solidFill>
                  <a:srgbClr val="333333"/>
                </a:solidFill>
                <a:latin typeface="メイリオ"/>
                <a:ea typeface="メイリオ"/>
                <a:cs typeface="メイリオ"/>
              </a:rPr>
              <a:t>応募で終わらず、面談 → 就業 → 定着まで並走できる——これがLINE最大の魅力です。</a:t>
            </a:r>
          </a:p>
        </p:txBody>
      </p:sp>
      <p:sp>
        <p:nvSpPr>
          <p:cNvPr id="6" name="TextBox 5"/>
          <p:cNvSpPr txBox="1"/>
          <p:nvPr/>
        </p:nvSpPr>
        <p:spPr>
          <a:xfrm>
            <a:off x="640080" y="4206240"/>
            <a:ext cx="822960" cy="365760"/>
          </a:xfrm>
          <a:prstGeom prst="rect">
            <a:avLst/>
          </a:prstGeom>
          <a:noFill/>
        </p:spPr>
        <p:txBody>
          <a:bodyPr wrap="square">
            <a:spAutoFit/>
          </a:bodyPr>
          <a:lstStyle/>
          <a:p>
            <a:pPr algn="l"/>
            <a:r>
              <a:rPr sz="1400" b="1">
                <a:solidFill>
                  <a:srgbClr val="333333"/>
                </a:solidFill>
                <a:latin typeface="メイリオ"/>
                <a:ea typeface="メイリオ"/>
                <a:cs typeface="メイリオ"/>
              </a:rPr>
              <a:t>広告</a:t>
            </a:r>
          </a:p>
        </p:txBody>
      </p:sp>
      <p:sp>
        <p:nvSpPr>
          <p:cNvPr id="7" name="Rounded Rectangle 6"/>
          <p:cNvSpPr/>
          <p:nvPr/>
        </p:nvSpPr>
        <p:spPr>
          <a:xfrm>
            <a:off x="1554480" y="4160520"/>
            <a:ext cx="132588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333333"/>
                </a:solidFill>
                <a:latin typeface="メイリオ"/>
                <a:ea typeface="メイリオ"/>
                <a:cs typeface="メイリオ"/>
              </a:rPr>
              <a:t>接触</a:t>
            </a:r>
          </a:p>
        </p:txBody>
      </p:sp>
      <p:sp>
        <p:nvSpPr>
          <p:cNvPr id="8" name="TextBox 7"/>
          <p:cNvSpPr txBox="1"/>
          <p:nvPr/>
        </p:nvSpPr>
        <p:spPr>
          <a:xfrm>
            <a:off x="2907792" y="423367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9" name="Rounded Rectangle 8"/>
          <p:cNvSpPr/>
          <p:nvPr/>
        </p:nvSpPr>
        <p:spPr>
          <a:xfrm>
            <a:off x="3218688" y="4160520"/>
            <a:ext cx="173736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333333"/>
                </a:solidFill>
                <a:latin typeface="メイリオ"/>
                <a:ea typeface="メイリオ"/>
                <a:cs typeface="メイリオ"/>
              </a:rPr>
              <a:t>応募・相談（CV）</a:t>
            </a:r>
          </a:p>
        </p:txBody>
      </p:sp>
      <p:sp>
        <p:nvSpPr>
          <p:cNvPr id="10" name="TextBox 9"/>
          <p:cNvSpPr txBox="1"/>
          <p:nvPr/>
        </p:nvSpPr>
        <p:spPr>
          <a:xfrm>
            <a:off x="5166360" y="4224528"/>
            <a:ext cx="3108960" cy="365760"/>
          </a:xfrm>
          <a:prstGeom prst="rect">
            <a:avLst/>
          </a:prstGeom>
          <a:noFill/>
        </p:spPr>
        <p:txBody>
          <a:bodyPr wrap="square">
            <a:spAutoFit/>
          </a:bodyPr>
          <a:lstStyle/>
          <a:p>
            <a:pPr algn="l"/>
            <a:r>
              <a:rPr sz="1300" b="1">
                <a:solidFill>
                  <a:srgbClr val="C00000"/>
                </a:solidFill>
                <a:latin typeface="メイリオ"/>
                <a:ea typeface="メイリオ"/>
                <a:cs typeface="メイリオ"/>
              </a:rPr>
              <a:t>✕ ここで接点が途切れる</a:t>
            </a:r>
          </a:p>
        </p:txBody>
      </p:sp>
      <p:sp>
        <p:nvSpPr>
          <p:cNvPr id="11" name="TextBox 10"/>
          <p:cNvSpPr txBox="1"/>
          <p:nvPr/>
        </p:nvSpPr>
        <p:spPr>
          <a:xfrm>
            <a:off x="640080" y="5212080"/>
            <a:ext cx="822960" cy="365760"/>
          </a:xfrm>
          <a:prstGeom prst="rect">
            <a:avLst/>
          </a:prstGeom>
          <a:noFill/>
        </p:spPr>
        <p:txBody>
          <a:bodyPr wrap="square">
            <a:spAutoFit/>
          </a:bodyPr>
          <a:lstStyle/>
          <a:p>
            <a:pPr algn="l"/>
            <a:r>
              <a:rPr sz="1400" b="1">
                <a:solidFill>
                  <a:srgbClr val="1F285A"/>
                </a:solidFill>
                <a:latin typeface="メイリオ"/>
                <a:ea typeface="メイリオ"/>
                <a:cs typeface="メイリオ"/>
              </a:rPr>
              <a:t>LINE</a:t>
            </a:r>
          </a:p>
        </p:txBody>
      </p:sp>
      <p:sp>
        <p:nvSpPr>
          <p:cNvPr id="12" name="Rounded Rectangle 11"/>
          <p:cNvSpPr/>
          <p:nvPr/>
        </p:nvSpPr>
        <p:spPr>
          <a:xfrm>
            <a:off x="1554480" y="5166360"/>
            <a:ext cx="13258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285A"/>
                </a:solidFill>
                <a:latin typeface="メイリオ"/>
                <a:ea typeface="メイリオ"/>
                <a:cs typeface="メイリオ"/>
              </a:rPr>
              <a:t>接触</a:t>
            </a:r>
          </a:p>
        </p:txBody>
      </p:sp>
      <p:sp>
        <p:nvSpPr>
          <p:cNvPr id="13" name="TextBox 12"/>
          <p:cNvSpPr txBox="1"/>
          <p:nvPr/>
        </p:nvSpPr>
        <p:spPr>
          <a:xfrm>
            <a:off x="2907792" y="523951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14" name="Rounded Rectangle 13"/>
          <p:cNvSpPr/>
          <p:nvPr/>
        </p:nvSpPr>
        <p:spPr>
          <a:xfrm>
            <a:off x="3218688" y="5166360"/>
            <a:ext cx="173736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285A"/>
                </a:solidFill>
                <a:latin typeface="メイリオ"/>
                <a:ea typeface="メイリオ"/>
                <a:cs typeface="メイリオ"/>
              </a:rPr>
              <a:t>応募・相談（CV）</a:t>
            </a:r>
          </a:p>
        </p:txBody>
      </p:sp>
      <p:sp>
        <p:nvSpPr>
          <p:cNvPr id="15" name="TextBox 14"/>
          <p:cNvSpPr txBox="1"/>
          <p:nvPr/>
        </p:nvSpPr>
        <p:spPr>
          <a:xfrm>
            <a:off x="4983480" y="523951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16" name="Rounded Rectangle 15"/>
          <p:cNvSpPr/>
          <p:nvPr/>
        </p:nvSpPr>
        <p:spPr>
          <a:xfrm>
            <a:off x="5294376" y="5166360"/>
            <a:ext cx="10972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285A"/>
                </a:solidFill>
                <a:latin typeface="メイリオ"/>
                <a:ea typeface="メイリオ"/>
                <a:cs typeface="メイリオ"/>
              </a:rPr>
              <a:t>面談</a:t>
            </a:r>
          </a:p>
        </p:txBody>
      </p:sp>
      <p:sp>
        <p:nvSpPr>
          <p:cNvPr id="17" name="TextBox 16"/>
          <p:cNvSpPr txBox="1"/>
          <p:nvPr/>
        </p:nvSpPr>
        <p:spPr>
          <a:xfrm>
            <a:off x="6419088" y="523951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18" name="Rounded Rectangle 17"/>
          <p:cNvSpPr/>
          <p:nvPr/>
        </p:nvSpPr>
        <p:spPr>
          <a:xfrm>
            <a:off x="6729984" y="5166360"/>
            <a:ext cx="1097280" cy="475488"/>
          </a:xfrm>
          <a:prstGeom prst="roundRect">
            <a:avLst>
              <a:gd name="adj" fmla="val 12000"/>
            </a:avLst>
          </a:prstGeom>
          <a:solidFill>
            <a:srgbClr val="1F285A"/>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メイリオ"/>
                <a:ea typeface="メイリオ"/>
                <a:cs typeface="メイリオ"/>
              </a:rPr>
              <a:t>就業</a:t>
            </a:r>
          </a:p>
        </p:txBody>
      </p:sp>
      <p:sp>
        <p:nvSpPr>
          <p:cNvPr id="19" name="TextBox 18"/>
          <p:cNvSpPr txBox="1"/>
          <p:nvPr/>
        </p:nvSpPr>
        <p:spPr>
          <a:xfrm>
            <a:off x="7854696" y="5239512"/>
            <a:ext cx="274320" cy="365760"/>
          </a:xfrm>
          <a:prstGeom prst="rect">
            <a:avLst/>
          </a:prstGeom>
          <a:noFill/>
        </p:spPr>
        <p:txBody>
          <a:bodyPr wrap="square">
            <a:spAutoFit/>
          </a:bodyPr>
          <a:lstStyle/>
          <a:p>
            <a:pPr algn="ctr"/>
            <a:r>
              <a:rPr sz="1400" b="1">
                <a:solidFill>
                  <a:srgbClr val="1F285A"/>
                </a:solidFill>
                <a:latin typeface="メイリオ"/>
                <a:ea typeface="メイリオ"/>
                <a:cs typeface="メイリオ"/>
              </a:rPr>
              <a:t>→</a:t>
            </a:r>
          </a:p>
        </p:txBody>
      </p:sp>
      <p:sp>
        <p:nvSpPr>
          <p:cNvPr id="20" name="Rounded Rectangle 19"/>
          <p:cNvSpPr/>
          <p:nvPr/>
        </p:nvSpPr>
        <p:spPr>
          <a:xfrm>
            <a:off x="8165592" y="5166360"/>
            <a:ext cx="123444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285A"/>
                </a:solidFill>
                <a:latin typeface="メイリオ"/>
                <a:ea typeface="メイリオ"/>
                <a:cs typeface="メイリオ"/>
              </a:rPr>
              <a:t>定着・紹介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BEBFCB2D-6FAD-96C0-BD6C-51465F2A4A6E}"/>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市場分析</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8414866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EA3-5B74-7C38-9336-4D6A18C7CFB5}"/>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市場分析（前後検索クエリ）</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LINEヤフーの前後検索データ（起点KW：カーディーラー）。</a:t>
            </a:r>
          </a:p>
          <a:p>
            <a:pPr algn="l">
              <a:lnSpc>
                <a:spcPct val="128000"/>
              </a:lnSpc>
            </a:pPr>
            <a:r>
              <a:rPr sz="1200">
                <a:solidFill>
                  <a:srgbClr val="333333"/>
                </a:solidFill>
                <a:latin typeface="メイリオ"/>
                <a:ea typeface="メイリオ"/>
                <a:cs typeface="メイリオ"/>
              </a:rPr>
              <a:t>職業への関心は、クルマを「買う人」の検索の中に埋もれている。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pic>
        <p:nvPicPr>
          <p:cNvPr id="5" name="Picture 4" descr="cardealer.png"/>
          <p:cNvPicPr>
            <a:picLocks noChangeAspect="1"/>
          </p:cNvPicPr>
          <p:nvPr/>
        </p:nvPicPr>
        <p:blipFill>
          <a:blip r:embed="rId5"/>
          <a:stretch>
            <a:fillRect/>
          </a:stretch>
        </p:blipFill>
        <p:spPr>
          <a:xfrm>
            <a:off x="432000" y="1655999"/>
            <a:ext cx="4896000" cy="2856816"/>
          </a:xfrm>
          <a:prstGeom prst="rect">
            <a:avLst/>
          </a:prstGeom>
        </p:spPr>
      </p:pic>
      <p:sp>
        <p:nvSpPr>
          <p:cNvPr id="6" name="Rounded Rectangle 5"/>
          <p:cNvSpPr/>
          <p:nvPr/>
        </p:nvSpPr>
        <p:spPr>
          <a:xfrm>
            <a:off x="5508000" y="1655999"/>
            <a:ext cx="3967200" cy="88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90000" rIns="72000" tIns="54000" bIns="36000"/>
          <a:lstStyle/>
          <a:p>
            <a:pPr algn="l">
              <a:spcAft>
                <a:spcPts val="300"/>
              </a:spcAft>
            </a:pPr>
            <a:r>
              <a:rPr sz="1100" b="1">
                <a:solidFill>
                  <a:srgbClr val="1F285A"/>
                </a:solidFill>
                <a:latin typeface="メイリオ"/>
                <a:ea typeface="メイリオ"/>
                <a:cs typeface="メイリオ"/>
              </a:rPr>
              <a:t>① 職業クエリは0日周辺に実在する</a:t>
            </a:r>
          </a:p>
          <a:p>
            <a:pPr algn="l">
              <a:lnSpc>
                <a:spcPct val="130000"/>
              </a:lnSpc>
            </a:pPr>
            <a:r>
              <a:rPr sz="950">
                <a:solidFill>
                  <a:srgbClr val="333333"/>
                </a:solidFill>
                <a:latin typeface="メイリオ"/>
                <a:ea typeface="メイリオ"/>
                <a:cs typeface="メイリオ"/>
              </a:rPr>
              <a:t>「カーディーラー 年収」「受付嬢」</a:t>
            </a:r>
          </a:p>
          <a:p>
            <a:pPr algn="l">
              <a:lnSpc>
                <a:spcPct val="130000"/>
              </a:lnSpc>
            </a:pPr>
            <a:r>
              <a:rPr sz="950">
                <a:solidFill>
                  <a:srgbClr val="333333"/>
                </a:solidFill>
                <a:latin typeface="メイリオ"/>
                <a:ea typeface="メイリオ"/>
                <a:cs typeface="メイリオ"/>
              </a:rPr>
              <a:t>「ディーラー 営業マン」が起点前後に出現</a:t>
            </a:r>
          </a:p>
        </p:txBody>
      </p:sp>
      <p:sp>
        <p:nvSpPr>
          <p:cNvPr id="7" name="Rounded Rectangle 6"/>
          <p:cNvSpPr/>
          <p:nvPr/>
        </p:nvSpPr>
        <p:spPr>
          <a:xfrm>
            <a:off x="5508000" y="2610000"/>
            <a:ext cx="3967200" cy="88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90000" rIns="72000" tIns="54000" bIns="36000"/>
          <a:lstStyle/>
          <a:p>
            <a:pPr algn="l">
              <a:spcAft>
                <a:spcPts val="300"/>
              </a:spcAft>
            </a:pPr>
            <a:r>
              <a:rPr sz="1100" b="1">
                <a:solidFill>
                  <a:srgbClr val="1F285A"/>
                </a:solidFill>
                <a:latin typeface="メイリオ"/>
                <a:ea typeface="メイリオ"/>
                <a:cs typeface="メイリオ"/>
              </a:rPr>
              <a:t>② ただし大半は「買う人」の検索</a:t>
            </a:r>
          </a:p>
          <a:p>
            <a:pPr algn="l">
              <a:lnSpc>
                <a:spcPct val="130000"/>
              </a:lnSpc>
            </a:pPr>
            <a:r>
              <a:rPr sz="950">
                <a:solidFill>
                  <a:srgbClr val="333333"/>
                </a:solidFill>
                <a:latin typeface="メイリオ"/>
                <a:ea typeface="メイリオ"/>
                <a:cs typeface="メイリオ"/>
              </a:rPr>
              <a:t>車種名・店舗名・マイカーローンが支配的。</a:t>
            </a:r>
          </a:p>
          <a:p>
            <a:pPr algn="l">
              <a:lnSpc>
                <a:spcPct val="130000"/>
              </a:lnSpc>
            </a:pPr>
            <a:r>
              <a:rPr sz="950">
                <a:solidFill>
                  <a:srgbClr val="333333"/>
                </a:solidFill>
                <a:latin typeface="メイリオ"/>
                <a:ea typeface="メイリオ"/>
                <a:cs typeface="メイリオ"/>
              </a:rPr>
              <a:t>働きたい人は、その中に埋もれている</a:t>
            </a:r>
          </a:p>
        </p:txBody>
      </p:sp>
      <p:sp>
        <p:nvSpPr>
          <p:cNvPr id="8" name="Rounded Rectangle 7"/>
          <p:cNvSpPr/>
          <p:nvPr/>
        </p:nvSpPr>
        <p:spPr>
          <a:xfrm>
            <a:off x="5508000" y="3564000"/>
            <a:ext cx="3967200" cy="88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90000" rIns="72000" tIns="54000" bIns="36000"/>
          <a:lstStyle/>
          <a:p>
            <a:pPr algn="l">
              <a:spcAft>
                <a:spcPts val="300"/>
              </a:spcAft>
            </a:pPr>
            <a:r>
              <a:rPr sz="1100" b="1">
                <a:solidFill>
                  <a:srgbClr val="1F285A"/>
                </a:solidFill>
                <a:latin typeface="メイリオ"/>
                <a:ea typeface="メイリオ"/>
                <a:cs typeface="メイリオ"/>
              </a:rPr>
              <a:t>③ だから検索広告では狙い撃てない</a:t>
            </a:r>
          </a:p>
          <a:p>
            <a:pPr algn="l">
              <a:lnSpc>
                <a:spcPct val="130000"/>
              </a:lnSpc>
            </a:pPr>
            <a:r>
              <a:rPr sz="950">
                <a:solidFill>
                  <a:srgbClr val="333333"/>
                </a:solidFill>
                <a:latin typeface="メイリオ"/>
                <a:ea typeface="メイリオ"/>
                <a:cs typeface="メイリオ"/>
              </a:rPr>
              <a:t>職業関心層だけを抽出する配信は困難。</a:t>
            </a:r>
          </a:p>
          <a:p>
            <a:pPr algn="l">
              <a:lnSpc>
                <a:spcPct val="130000"/>
              </a:lnSpc>
            </a:pPr>
            <a:r>
              <a:rPr sz="950">
                <a:solidFill>
                  <a:srgbClr val="333333"/>
                </a:solidFill>
                <a:latin typeface="メイリオ"/>
                <a:ea typeface="メイリオ"/>
                <a:cs typeface="メイリオ"/>
              </a:rPr>
              <a:t>サイトに来た瞬間に受け止める＝</a:t>
            </a:r>
          </a:p>
          <a:p>
            <a:pPr algn="l">
              <a:lnSpc>
                <a:spcPct val="130000"/>
              </a:lnSpc>
            </a:pPr>
            <a:r>
              <a:rPr sz="950">
                <a:solidFill>
                  <a:srgbClr val="333333"/>
                </a:solidFill>
                <a:latin typeface="メイリオ"/>
                <a:ea typeface="メイリオ"/>
                <a:cs typeface="メイリオ"/>
              </a:rPr>
              <a:t>離脱防止とLINEの役割</a:t>
            </a:r>
          </a:p>
        </p:txBody>
      </p:sp>
      <p:sp>
        <p:nvSpPr>
          <p:cNvPr id="9" name="Rounded Rectangle 8"/>
          <p:cNvSpPr/>
          <p:nvPr/>
        </p:nvSpPr>
        <p:spPr>
          <a:xfrm>
            <a:off x="432000" y="4643999"/>
            <a:ext cx="9043200" cy="39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1600" bIns="21600"/>
          <a:lstStyle/>
          <a:p>
            <a:pPr algn="ctr"/>
            <a:r>
              <a:rPr sz="1250" b="1">
                <a:solidFill>
                  <a:srgbClr val="FFFFFF"/>
                </a:solidFill>
                <a:latin typeface="メイリオ"/>
                <a:ea typeface="メイリオ"/>
                <a:cs typeface="メイリオ"/>
              </a:rPr>
              <a:t>検索で狙えない層は、来た瞬間に受け止める。それが本提案の入口設計。</a:t>
            </a:r>
          </a:p>
        </p:txBody>
      </p:sp>
      <p:sp>
        <p:nvSpPr>
          <p:cNvPr id="10" name="TextBox 9"/>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出典：LINEヤフー 前後検索データ（起点KW：カーディーラー／2026-09-23取得）。横軸=検索起点からの日数、縦軸=UU（相対）</a:t>
            </a:r>
          </a:p>
        </p:txBody>
      </p:sp>
    </p:spTree>
    <p:extLst>
      <p:ext uri="{BB962C8B-B14F-4D97-AF65-F5344CB8AC3E}">
        <p14:creationId xmlns:p14="http://schemas.microsoft.com/office/powerpoint/2010/main" val="2053170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9E4EC-2612-49EF-3949-DD4AEE06BA6E}"/>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市場分析（検索トレンド）</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「整備士」の検索は一年中ほぼフラット。転職検討は季節を選ばず続いている。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pic>
        <p:nvPicPr>
          <p:cNvPr id="5" name="Picture 4" descr="chengrowth_trend_seibishi_5y.png"/>
          <p:cNvPicPr>
            <a:picLocks noChangeAspect="1"/>
          </p:cNvPicPr>
          <p:nvPr/>
        </p:nvPicPr>
        <p:blipFill>
          <a:blip r:embed="rId3"/>
          <a:stretch>
            <a:fillRect/>
          </a:stretch>
        </p:blipFill>
        <p:spPr>
          <a:xfrm>
            <a:off x="1533600" y="1620000"/>
            <a:ext cx="6840000" cy="2304000"/>
          </a:xfrm>
          <a:prstGeom prst="rect">
            <a:avLst/>
          </a:prstGeom>
        </p:spPr>
      </p:pic>
      <p:sp>
        <p:nvSpPr>
          <p:cNvPr id="6" name="Rounded Rectangle 5"/>
          <p:cNvSpPr/>
          <p:nvPr/>
        </p:nvSpPr>
        <p:spPr>
          <a:xfrm>
            <a:off x="432000" y="406800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2000" y="4121999"/>
            <a:ext cx="2942400" cy="180000"/>
          </a:xfrm>
          <a:prstGeom prst="rect">
            <a:avLst/>
          </a:prstGeom>
          <a:noFill/>
        </p:spPr>
        <p:txBody>
          <a:bodyPr wrap="square" lIns="50400" rIns="50400" tIns="21600" bIns="21600" anchor="ctr">
            <a:spAutoFit/>
          </a:bodyPr>
          <a:lstStyle/>
          <a:p>
            <a:pPr algn="ctr"/>
            <a:r>
              <a:rPr sz="950" b="1">
                <a:solidFill>
                  <a:srgbClr val="7F7F7F"/>
                </a:solidFill>
                <a:latin typeface="メイリオ"/>
                <a:ea typeface="メイリオ"/>
                <a:cs typeface="メイリオ"/>
              </a:rPr>
              <a:t>山</a:t>
            </a:r>
          </a:p>
        </p:txBody>
      </p:sp>
      <p:sp>
        <p:nvSpPr>
          <p:cNvPr id="8" name="TextBox 7"/>
          <p:cNvSpPr txBox="1"/>
          <p:nvPr/>
        </p:nvSpPr>
        <p:spPr>
          <a:xfrm>
            <a:off x="432000" y="4283999"/>
            <a:ext cx="2942400" cy="288000"/>
          </a:xfrm>
          <a:prstGeom prst="rect">
            <a:avLst/>
          </a:prstGeom>
          <a:noFill/>
        </p:spPr>
        <p:txBody>
          <a:bodyPr wrap="square" lIns="50400" rIns="50400" tIns="21600" bIns="21600" anchor="ctr">
            <a:spAutoFit/>
          </a:bodyPr>
          <a:lstStyle/>
          <a:p>
            <a:pPr algn="ctr"/>
            <a:r>
              <a:rPr sz="1600" b="1">
                <a:solidFill>
                  <a:srgbClr val="ED7D31"/>
                </a:solidFill>
                <a:latin typeface="メイリオ"/>
                <a:ea typeface="メイリオ"/>
                <a:cs typeface="メイリオ"/>
              </a:rPr>
              <a:t>3月</a:t>
            </a:r>
          </a:p>
        </p:txBody>
      </p:sp>
      <p:sp>
        <p:nvSpPr>
          <p:cNvPr id="9" name="TextBox 8"/>
          <p:cNvSpPr txBox="1"/>
          <p:nvPr/>
        </p:nvSpPr>
        <p:spPr>
          <a:xfrm>
            <a:off x="432000" y="4572000"/>
            <a:ext cx="2942400" cy="216000"/>
          </a:xfrm>
          <a:prstGeom prst="rect">
            <a:avLst/>
          </a:prstGeom>
          <a:noFill/>
        </p:spPr>
        <p:txBody>
          <a:bodyPr wrap="square" lIns="50400" rIns="50400" tIns="21600" bIns="21600" anchor="ctr">
            <a:spAutoFit/>
          </a:bodyPr>
          <a:lstStyle/>
          <a:p>
            <a:pPr algn="ctr"/>
            <a:r>
              <a:rPr sz="850">
                <a:solidFill>
                  <a:srgbClr val="333333"/>
                </a:solidFill>
                <a:latin typeface="メイリオ"/>
                <a:ea typeface="メイリオ"/>
                <a:cs typeface="メイリオ"/>
              </a:rPr>
              <a:t>年度替わり・転職の動きが最大</a:t>
            </a:r>
          </a:p>
        </p:txBody>
      </p:sp>
      <p:sp>
        <p:nvSpPr>
          <p:cNvPr id="10" name="Rounded Rectangle 9"/>
          <p:cNvSpPr/>
          <p:nvPr/>
        </p:nvSpPr>
        <p:spPr>
          <a:xfrm>
            <a:off x="3482400" y="406800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82400" y="4121999"/>
            <a:ext cx="2942400" cy="180000"/>
          </a:xfrm>
          <a:prstGeom prst="rect">
            <a:avLst/>
          </a:prstGeom>
          <a:noFill/>
        </p:spPr>
        <p:txBody>
          <a:bodyPr wrap="square" lIns="50400" rIns="50400" tIns="21600" bIns="21600" anchor="ctr">
            <a:spAutoFit/>
          </a:bodyPr>
          <a:lstStyle/>
          <a:p>
            <a:pPr algn="ctr"/>
            <a:r>
              <a:rPr sz="950" b="1">
                <a:solidFill>
                  <a:srgbClr val="7F7F7F"/>
                </a:solidFill>
                <a:latin typeface="メイリオ"/>
                <a:ea typeface="メイリオ"/>
                <a:cs typeface="メイリオ"/>
              </a:rPr>
              <a:t>谷</a:t>
            </a:r>
          </a:p>
        </p:txBody>
      </p:sp>
      <p:sp>
        <p:nvSpPr>
          <p:cNvPr id="12" name="TextBox 11"/>
          <p:cNvSpPr txBox="1"/>
          <p:nvPr/>
        </p:nvSpPr>
        <p:spPr>
          <a:xfrm>
            <a:off x="3482400" y="4283999"/>
            <a:ext cx="2942400" cy="288000"/>
          </a:xfrm>
          <a:prstGeom prst="rect">
            <a:avLst/>
          </a:prstGeom>
          <a:noFill/>
        </p:spPr>
        <p:txBody>
          <a:bodyPr wrap="square" lIns="50400" rIns="50400" tIns="21600" bIns="21600" anchor="ctr">
            <a:spAutoFit/>
          </a:bodyPr>
          <a:lstStyle/>
          <a:p>
            <a:pPr algn="ctr"/>
            <a:r>
              <a:rPr sz="1600" b="1">
                <a:solidFill>
                  <a:srgbClr val="ED7D31"/>
                </a:solidFill>
                <a:latin typeface="メイリオ"/>
                <a:ea typeface="メイリオ"/>
                <a:cs typeface="メイリオ"/>
              </a:rPr>
              <a:t>12月</a:t>
            </a:r>
          </a:p>
        </p:txBody>
      </p:sp>
      <p:sp>
        <p:nvSpPr>
          <p:cNvPr id="13" name="TextBox 12"/>
          <p:cNvSpPr txBox="1"/>
          <p:nvPr/>
        </p:nvSpPr>
        <p:spPr>
          <a:xfrm>
            <a:off x="3482400" y="4572000"/>
            <a:ext cx="2942400" cy="216000"/>
          </a:xfrm>
          <a:prstGeom prst="rect">
            <a:avLst/>
          </a:prstGeom>
          <a:noFill/>
        </p:spPr>
        <p:txBody>
          <a:bodyPr wrap="square" lIns="50400" rIns="50400" tIns="21600" bIns="21600" anchor="ctr">
            <a:spAutoFit/>
          </a:bodyPr>
          <a:lstStyle/>
          <a:p>
            <a:pPr algn="ctr"/>
            <a:r>
              <a:rPr sz="850">
                <a:solidFill>
                  <a:srgbClr val="333333"/>
                </a:solidFill>
                <a:latin typeface="メイリオ"/>
                <a:ea typeface="メイリオ"/>
                <a:cs typeface="メイリオ"/>
              </a:rPr>
              <a:t>それでも山との差は約1.4倍</a:t>
            </a:r>
          </a:p>
        </p:txBody>
      </p:sp>
      <p:sp>
        <p:nvSpPr>
          <p:cNvPr id="14" name="Rounded Rectangle 13"/>
          <p:cNvSpPr/>
          <p:nvPr/>
        </p:nvSpPr>
        <p:spPr>
          <a:xfrm>
            <a:off x="6532800" y="406800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2800" y="4121999"/>
            <a:ext cx="2942400" cy="180000"/>
          </a:xfrm>
          <a:prstGeom prst="rect">
            <a:avLst/>
          </a:prstGeom>
          <a:noFill/>
        </p:spPr>
        <p:txBody>
          <a:bodyPr wrap="square" lIns="50400" rIns="50400" tIns="21600" bIns="21600" anchor="ctr">
            <a:spAutoFit/>
          </a:bodyPr>
          <a:lstStyle/>
          <a:p>
            <a:pPr algn="ctr"/>
            <a:r>
              <a:rPr sz="950" b="1">
                <a:solidFill>
                  <a:srgbClr val="7F7F7F"/>
                </a:solidFill>
                <a:latin typeface="メイリオ"/>
                <a:ea typeface="メイリオ"/>
                <a:cs typeface="メイリオ"/>
              </a:rPr>
              <a:t>含意</a:t>
            </a:r>
          </a:p>
        </p:txBody>
      </p:sp>
      <p:sp>
        <p:nvSpPr>
          <p:cNvPr id="16" name="TextBox 15"/>
          <p:cNvSpPr txBox="1"/>
          <p:nvPr/>
        </p:nvSpPr>
        <p:spPr>
          <a:xfrm>
            <a:off x="6532800" y="4283999"/>
            <a:ext cx="2942400" cy="288000"/>
          </a:xfrm>
          <a:prstGeom prst="rect">
            <a:avLst/>
          </a:prstGeom>
          <a:noFill/>
        </p:spPr>
        <p:txBody>
          <a:bodyPr wrap="square" lIns="50400" rIns="50400" tIns="21600" bIns="21600" anchor="ctr">
            <a:spAutoFit/>
          </a:bodyPr>
          <a:lstStyle/>
          <a:p>
            <a:pPr algn="ctr"/>
            <a:r>
              <a:rPr sz="1600" b="1">
                <a:solidFill>
                  <a:srgbClr val="ED7D31"/>
                </a:solidFill>
                <a:latin typeface="メイリオ"/>
                <a:ea typeface="メイリオ"/>
                <a:cs typeface="メイリオ"/>
              </a:rPr>
              <a:t>通年</a:t>
            </a:r>
          </a:p>
        </p:txBody>
      </p:sp>
      <p:sp>
        <p:nvSpPr>
          <p:cNvPr id="17" name="TextBox 16"/>
          <p:cNvSpPr txBox="1"/>
          <p:nvPr/>
        </p:nvSpPr>
        <p:spPr>
          <a:xfrm>
            <a:off x="6532800" y="4572000"/>
            <a:ext cx="2942400" cy="216000"/>
          </a:xfrm>
          <a:prstGeom prst="rect">
            <a:avLst/>
          </a:prstGeom>
          <a:noFill/>
        </p:spPr>
        <p:txBody>
          <a:bodyPr wrap="square" lIns="50400" rIns="50400" tIns="21600" bIns="21600" anchor="ctr">
            <a:spAutoFit/>
          </a:bodyPr>
          <a:lstStyle/>
          <a:p>
            <a:pPr algn="ctr"/>
            <a:r>
              <a:rPr sz="850">
                <a:solidFill>
                  <a:srgbClr val="333333"/>
                </a:solidFill>
                <a:latin typeface="メイリオ"/>
                <a:ea typeface="メイリオ"/>
                <a:cs typeface="メイリオ"/>
              </a:rPr>
              <a:t>検討は一年中。接点は3月に集中</a:t>
            </a:r>
          </a:p>
        </p:txBody>
      </p:sp>
      <p:sp>
        <p:nvSpPr>
          <p:cNvPr id="18" name="Rounded Rectangle 17"/>
          <p:cNvSpPr/>
          <p:nvPr/>
        </p:nvSpPr>
        <p:spPr>
          <a:xfrm>
            <a:off x="432000" y="4932000"/>
            <a:ext cx="9043200" cy="36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250" b="1">
                <a:solidFill>
                  <a:srgbClr val="FFFFFF"/>
                </a:solidFill>
                <a:latin typeface="メイリオ"/>
                <a:ea typeface="メイリオ"/>
                <a:cs typeface="メイリオ"/>
              </a:rPr>
              <a:t>業界の接点は3月に集中。通年で検討層を受け止める先は、空いている。</a:t>
            </a:r>
          </a:p>
        </p:txBody>
      </p:sp>
      <p:sp>
        <p:nvSpPr>
          <p:cNvPr id="19" name="TextBox 18"/>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出典：Googleトレンド（日本・過去5年・2026-09-21取得）。相対指標のため他KWとの数値比較は不可</a:t>
            </a:r>
          </a:p>
        </p:txBody>
      </p:sp>
    </p:spTree>
    <p:extLst>
      <p:ext uri="{BB962C8B-B14F-4D97-AF65-F5344CB8AC3E}">
        <p14:creationId xmlns:p14="http://schemas.microsoft.com/office/powerpoint/2010/main" val="9951958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79BAA-8C2D-2DC3-A995-CBA086D445D9}"/>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競合分析（求人サービスのLINE活用状況）</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総合大手はLINEが標準装備。一方、自動車・整備士特化は空白地帯。</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graphicFrame>
        <p:nvGraphicFramePr>
          <p:cNvPr id="5" name="Table 4"/>
          <p:cNvGraphicFramePr>
            <a:graphicFrameLocks noGrp="1"/>
          </p:cNvGraphicFramePr>
          <p:nvPr/>
        </p:nvGraphicFramePr>
        <p:xfrm>
          <a:off x="432000" y="1620000"/>
          <a:ext cx="9043200" cy="1890000"/>
        </p:xfrm>
        <a:graphic>
          <a:graphicData uri="http://schemas.openxmlformats.org/drawingml/2006/table">
            <a:tbl>
              <a:tblPr firstRow="1" bandRow="1">
                <a:tableStyleId>{5C22544A-7EE6-4342-B048-85BDC9FD1C3A}</a:tableStyleId>
              </a:tblPr>
              <a:tblGrid>
                <a:gridCol w="3255552"/>
                <a:gridCol w="2532096"/>
                <a:gridCol w="3255552"/>
              </a:tblGrid>
              <a:tr h="270000">
                <a:tc>
                  <a:txBody>
                    <a:bodyPr wrap="square" lIns="43200" rIns="43200" tIns="7200" bIns="7200" anchor="ctr"/>
                    <a:lstStyle/>
                    <a:p>
                      <a:pPr algn="ctr"/>
                      <a:r>
                        <a:rPr sz="950" b="1">
                          <a:solidFill>
                            <a:srgbClr val="FFFFFF"/>
                          </a:solidFill>
                          <a:latin typeface="メイリオ"/>
                          <a:ea typeface="メイリオ"/>
                          <a:cs typeface="メイリオ"/>
                        </a:rPr>
                        <a:t>サービス</a:t>
                      </a:r>
                    </a:p>
                  </a:txBody>
                  <a:tcPr anchor="ctr">
                    <a:solidFill>
                      <a:srgbClr val="1F285A"/>
                    </a:solidFill>
                  </a:tcPr>
                </a:tc>
                <a:tc>
                  <a:txBody>
                    <a:bodyPr wrap="square" lIns="43200" rIns="43200" tIns="7200" bIns="7200" anchor="ctr"/>
                    <a:lstStyle/>
                    <a:p>
                      <a:pPr algn="ctr"/>
                      <a:r>
                        <a:rPr sz="950" b="1">
                          <a:solidFill>
                            <a:srgbClr val="FFFFFF"/>
                          </a:solidFill>
                          <a:latin typeface="メイリオ"/>
                          <a:ea typeface="メイリオ"/>
                          <a:cs typeface="メイリオ"/>
                        </a:rPr>
                        <a:t>種別</a:t>
                      </a:r>
                    </a:p>
                  </a:txBody>
                  <a:tcPr anchor="ctr">
                    <a:solidFill>
                      <a:srgbClr val="1F285A"/>
                    </a:solidFill>
                  </a:tcPr>
                </a:tc>
                <a:tc>
                  <a:txBody>
                    <a:bodyPr wrap="square" lIns="43200" rIns="43200" tIns="7200" bIns="7200" anchor="ctr"/>
                    <a:lstStyle/>
                    <a:p>
                      <a:pPr algn="ctr"/>
                      <a:r>
                        <a:rPr sz="950" b="1">
                          <a:solidFill>
                            <a:srgbClr val="FFFFFF"/>
                          </a:solidFill>
                          <a:latin typeface="メイリオ"/>
                          <a:ea typeface="メイリオ"/>
                          <a:cs typeface="メイリオ"/>
                        </a:rPr>
                        <a:t>LINE友だち数</a:t>
                      </a:r>
                    </a:p>
                  </a:txBody>
                  <a:tcPr anchor="ctr">
                    <a:solidFill>
                      <a:srgbClr val="1F285A"/>
                    </a:solidFill>
                  </a:tcPr>
                </a:tc>
              </a:tr>
              <a:tr h="270000">
                <a:tc>
                  <a:txBody>
                    <a:bodyPr wrap="square" lIns="43200" rIns="43200" tIns="7200" bIns="7200" anchor="ctr"/>
                    <a:lstStyle/>
                    <a:p>
                      <a:pPr algn="l"/>
                      <a:r>
                        <a:rPr sz="950">
                          <a:solidFill>
                            <a:srgbClr val="333333"/>
                          </a:solidFill>
                          <a:latin typeface="メイリオ"/>
                          <a:ea typeface="メイリオ"/>
                          <a:cs typeface="メイリオ"/>
                        </a:rPr>
                        <a:t>リクナビNEXT</a:t>
                      </a:r>
                    </a:p>
                  </a:txBody>
                  <a:tcPr anchor="ctr">
                    <a:solidFill>
                      <a:srgbClr val="FFFFFF"/>
                    </a:solidFill>
                  </a:tcPr>
                </a:tc>
                <a:tc>
                  <a:txBody>
                    <a:bodyPr wrap="square" lIns="43200" rIns="43200" tIns="7200" bIns="7200" anchor="ctr"/>
                    <a:lstStyle/>
                    <a:p>
                      <a:pPr algn="l"/>
                      <a:r>
                        <a:rPr sz="950">
                          <a:solidFill>
                            <a:srgbClr val="333333"/>
                          </a:solidFill>
                          <a:latin typeface="メイリオ"/>
                          <a:ea typeface="メイリオ"/>
                          <a:cs typeface="メイリオ"/>
                        </a:rPr>
                        <a:t>総合・転職サイト</a:t>
                      </a:r>
                    </a:p>
                  </a:txBody>
                  <a:tcPr anchor="ctr">
                    <a:solidFill>
                      <a:srgbClr val="FFFFFF"/>
                    </a:solidFill>
                  </a:tcPr>
                </a:tc>
                <a:tc>
                  <a:txBody>
                    <a:bodyPr wrap="square" lIns="43200" rIns="43200" tIns="7200" bIns="7200" anchor="ctr"/>
                    <a:lstStyle/>
                    <a:p>
                      <a:pPr algn="l"/>
                      <a:r>
                        <a:rPr sz="950">
                          <a:solidFill>
                            <a:srgbClr val="333333"/>
                          </a:solidFill>
                          <a:latin typeface="メイリオ"/>
                          <a:ea typeface="メイリオ"/>
                          <a:cs typeface="メイリオ"/>
                        </a:rPr>
                        <a:t>3,235,678人</a:t>
                      </a:r>
                    </a:p>
                  </a:txBody>
                  <a:tcPr anchor="ctr">
                    <a:solidFill>
                      <a:srgbClr val="FFFFFF"/>
                    </a:solidFill>
                  </a:tcPr>
                </a:tc>
              </a:tr>
              <a:tr h="270000">
                <a:tc>
                  <a:txBody>
                    <a:bodyPr wrap="square" lIns="43200" rIns="43200" tIns="7200" bIns="7200" anchor="ctr"/>
                    <a:lstStyle/>
                    <a:p>
                      <a:pPr algn="l"/>
                      <a:r>
                        <a:rPr sz="950">
                          <a:solidFill>
                            <a:srgbClr val="333333"/>
                          </a:solidFill>
                          <a:latin typeface="メイリオ"/>
                          <a:ea typeface="メイリオ"/>
                          <a:cs typeface="メイリオ"/>
                        </a:rPr>
                        <a:t>求人ボックス</a:t>
                      </a:r>
                    </a:p>
                  </a:txBody>
                  <a:tcPr anchor="ctr">
                    <a:solidFill>
                      <a:srgbClr val="F4F7FF"/>
                    </a:solidFill>
                  </a:tcPr>
                </a:tc>
                <a:tc>
                  <a:txBody>
                    <a:bodyPr wrap="square" lIns="43200" rIns="43200" tIns="7200" bIns="7200" anchor="ctr"/>
                    <a:lstStyle/>
                    <a:p>
                      <a:pPr algn="l"/>
                      <a:r>
                        <a:rPr sz="950">
                          <a:solidFill>
                            <a:srgbClr val="333333"/>
                          </a:solidFill>
                          <a:latin typeface="メイリオ"/>
                          <a:ea typeface="メイリオ"/>
                          <a:cs typeface="メイリオ"/>
                        </a:rPr>
                        <a:t>総合・アグリゲーション</a:t>
                      </a:r>
                    </a:p>
                  </a:txBody>
                  <a:tcPr anchor="ctr">
                    <a:solidFill>
                      <a:srgbClr val="F4F7FF"/>
                    </a:solidFill>
                  </a:tcPr>
                </a:tc>
                <a:tc>
                  <a:txBody>
                    <a:bodyPr wrap="square" lIns="43200" rIns="43200" tIns="7200" bIns="7200" anchor="ctr"/>
                    <a:lstStyle/>
                    <a:p>
                      <a:pPr algn="l"/>
                      <a:r>
                        <a:rPr sz="950">
                          <a:solidFill>
                            <a:srgbClr val="333333"/>
                          </a:solidFill>
                          <a:latin typeface="メイリオ"/>
                          <a:ea typeface="メイリオ"/>
                          <a:cs typeface="メイリオ"/>
                        </a:rPr>
                        <a:t>1,862,866人</a:t>
                      </a:r>
                    </a:p>
                  </a:txBody>
                  <a:tcPr anchor="ctr">
                    <a:solidFill>
                      <a:srgbClr val="F4F7FF"/>
                    </a:solidFill>
                  </a:tcPr>
                </a:tc>
              </a:tr>
              <a:tr h="270000">
                <a:tc>
                  <a:txBody>
                    <a:bodyPr wrap="square" lIns="43200" rIns="43200" tIns="7200" bIns="7200" anchor="ctr"/>
                    <a:lstStyle/>
                    <a:p>
                      <a:pPr algn="l"/>
                      <a:r>
                        <a:rPr sz="950">
                          <a:solidFill>
                            <a:srgbClr val="333333"/>
                          </a:solidFill>
                          <a:latin typeface="メイリオ"/>
                          <a:ea typeface="メイリオ"/>
                          <a:cs typeface="メイリオ"/>
                        </a:rPr>
                        <a:t>マイナビ転職</a:t>
                      </a:r>
                    </a:p>
                  </a:txBody>
                  <a:tcPr anchor="ctr">
                    <a:solidFill>
                      <a:srgbClr val="FFFFFF"/>
                    </a:solidFill>
                  </a:tcPr>
                </a:tc>
                <a:tc>
                  <a:txBody>
                    <a:bodyPr wrap="square" lIns="43200" rIns="43200" tIns="7200" bIns="7200" anchor="ctr"/>
                    <a:lstStyle/>
                    <a:p>
                      <a:pPr algn="l"/>
                      <a:r>
                        <a:rPr sz="950">
                          <a:solidFill>
                            <a:srgbClr val="333333"/>
                          </a:solidFill>
                          <a:latin typeface="メイリオ"/>
                          <a:ea typeface="メイリオ"/>
                          <a:cs typeface="メイリオ"/>
                        </a:rPr>
                        <a:t>総合・転職サイト</a:t>
                      </a:r>
                    </a:p>
                  </a:txBody>
                  <a:tcPr anchor="ctr">
                    <a:solidFill>
                      <a:srgbClr val="FFFFFF"/>
                    </a:solidFill>
                  </a:tcPr>
                </a:tc>
                <a:tc>
                  <a:txBody>
                    <a:bodyPr wrap="square" lIns="43200" rIns="43200" tIns="7200" bIns="7200" anchor="ctr"/>
                    <a:lstStyle/>
                    <a:p>
                      <a:pPr algn="l"/>
                      <a:r>
                        <a:rPr sz="950">
                          <a:solidFill>
                            <a:srgbClr val="333333"/>
                          </a:solidFill>
                          <a:latin typeface="メイリオ"/>
                          <a:ea typeface="メイリオ"/>
                          <a:cs typeface="メイリオ"/>
                        </a:rPr>
                        <a:t>754,302人</a:t>
                      </a:r>
                    </a:p>
                  </a:txBody>
                  <a:tcPr anchor="ctr">
                    <a:solidFill>
                      <a:srgbClr val="FFFFFF"/>
                    </a:solidFill>
                  </a:tcPr>
                </a:tc>
              </a:tr>
              <a:tr h="270000">
                <a:tc>
                  <a:txBody>
                    <a:bodyPr wrap="square" lIns="43200" rIns="43200" tIns="7200" bIns="7200" anchor="ctr"/>
                    <a:lstStyle/>
                    <a:p>
                      <a:pPr algn="l"/>
                      <a:r>
                        <a:rPr sz="950">
                          <a:solidFill>
                            <a:srgbClr val="333333"/>
                          </a:solidFill>
                          <a:latin typeface="メイリオ"/>
                          <a:ea typeface="メイリオ"/>
                          <a:cs typeface="メイリオ"/>
                        </a:rPr>
                        <a:t>doda</a:t>
                      </a:r>
                    </a:p>
                  </a:txBody>
                  <a:tcPr anchor="ctr">
                    <a:solidFill>
                      <a:srgbClr val="F4F7FF"/>
                    </a:solidFill>
                  </a:tcPr>
                </a:tc>
                <a:tc>
                  <a:txBody>
                    <a:bodyPr wrap="square" lIns="43200" rIns="43200" tIns="7200" bIns="7200" anchor="ctr"/>
                    <a:lstStyle/>
                    <a:p>
                      <a:pPr algn="l"/>
                      <a:r>
                        <a:rPr sz="950">
                          <a:solidFill>
                            <a:srgbClr val="333333"/>
                          </a:solidFill>
                          <a:latin typeface="メイリオ"/>
                          <a:ea typeface="メイリオ"/>
                          <a:cs typeface="メイリオ"/>
                        </a:rPr>
                        <a:t>総合・エージェント</a:t>
                      </a:r>
                    </a:p>
                  </a:txBody>
                  <a:tcPr anchor="ctr">
                    <a:solidFill>
                      <a:srgbClr val="F4F7FF"/>
                    </a:solidFill>
                  </a:tcPr>
                </a:tc>
                <a:tc>
                  <a:txBody>
                    <a:bodyPr wrap="square" lIns="43200" rIns="43200" tIns="7200" bIns="7200" anchor="ctr"/>
                    <a:lstStyle/>
                    <a:p>
                      <a:pPr algn="l"/>
                      <a:r>
                        <a:rPr sz="950">
                          <a:solidFill>
                            <a:srgbClr val="333333"/>
                          </a:solidFill>
                          <a:latin typeface="メイリオ"/>
                          <a:ea typeface="メイリオ"/>
                          <a:cs typeface="メイリオ"/>
                        </a:rPr>
                        <a:t>公開アカウントなし（会員登録後に1:1連携）</a:t>
                      </a:r>
                    </a:p>
                  </a:txBody>
                  <a:tcPr anchor="ctr">
                    <a:solidFill>
                      <a:srgbClr val="F4F7FF"/>
                    </a:solidFill>
                  </a:tcPr>
                </a:tc>
              </a:tr>
              <a:tr h="270000">
                <a:tc>
                  <a:txBody>
                    <a:bodyPr wrap="square" lIns="43200" rIns="43200" tIns="7200" bIns="7200" anchor="ctr"/>
                    <a:lstStyle/>
                    <a:p>
                      <a:pPr algn="l"/>
                      <a:r>
                        <a:rPr sz="950">
                          <a:solidFill>
                            <a:srgbClr val="333333"/>
                          </a:solidFill>
                          <a:latin typeface="メイリオ"/>
                          <a:ea typeface="メイリオ"/>
                          <a:cs typeface="メイリオ"/>
                        </a:rPr>
                        <a:t>プレックスジョブ【整備士】</a:t>
                      </a:r>
                    </a:p>
                  </a:txBody>
                  <a:tcPr anchor="ctr">
                    <a:solidFill>
                      <a:srgbClr val="FFFFFF"/>
                    </a:solidFill>
                  </a:tcPr>
                </a:tc>
                <a:tc>
                  <a:txBody>
                    <a:bodyPr wrap="square" lIns="43200" rIns="43200" tIns="7200" bIns="7200" anchor="ctr"/>
                    <a:lstStyle/>
                    <a:p>
                      <a:pPr algn="l"/>
                      <a:r>
                        <a:rPr sz="950">
                          <a:solidFill>
                            <a:srgbClr val="333333"/>
                          </a:solidFill>
                          <a:latin typeface="メイリオ"/>
                          <a:ea typeface="メイリオ"/>
                          <a:cs typeface="メイリオ"/>
                        </a:rPr>
                        <a:t>整備士特化</a:t>
                      </a:r>
                    </a:p>
                  </a:txBody>
                  <a:tcPr anchor="ctr">
                    <a:solidFill>
                      <a:srgbClr val="FFFFFF"/>
                    </a:solidFill>
                  </a:tcPr>
                </a:tc>
                <a:tc>
                  <a:txBody>
                    <a:bodyPr wrap="square" lIns="43200" rIns="43200" tIns="7200" bIns="7200" anchor="ctr"/>
                    <a:lstStyle/>
                    <a:p>
                      <a:pPr algn="l"/>
                      <a:r>
                        <a:rPr sz="950">
                          <a:solidFill>
                            <a:srgbClr val="333333"/>
                          </a:solidFill>
                          <a:latin typeface="メイリオ"/>
                          <a:ea typeface="メイリオ"/>
                          <a:cs typeface="メイリオ"/>
                        </a:rPr>
                        <a:t>6,288人</a:t>
                      </a:r>
                    </a:p>
                  </a:txBody>
                  <a:tcPr anchor="ctr">
                    <a:solidFill>
                      <a:srgbClr val="FFFFFF"/>
                    </a:solidFill>
                  </a:tcPr>
                </a:tc>
              </a:tr>
              <a:tr h="270000">
                <a:tc>
                  <a:txBody>
                    <a:bodyPr wrap="square" lIns="43200" rIns="43200" tIns="7200" bIns="7200" anchor="ctr"/>
                    <a:lstStyle/>
                    <a:p>
                      <a:pPr algn="l"/>
                      <a:r>
                        <a:rPr sz="950">
                          <a:solidFill>
                            <a:srgbClr val="333333"/>
                          </a:solidFill>
                          <a:latin typeface="メイリオ"/>
                          <a:ea typeface="メイリオ"/>
                          <a:cs typeface="メイリオ"/>
                        </a:rPr>
                        <a:t>整備士の求人・転職｜カンパネル</a:t>
                      </a:r>
                    </a:p>
                  </a:txBody>
                  <a:tcPr anchor="ctr">
                    <a:solidFill>
                      <a:srgbClr val="F4F7FF"/>
                    </a:solidFill>
                  </a:tcPr>
                </a:tc>
                <a:tc>
                  <a:txBody>
                    <a:bodyPr wrap="square" lIns="43200" rIns="43200" tIns="7200" bIns="7200" anchor="ctr"/>
                    <a:lstStyle/>
                    <a:p>
                      <a:pPr algn="l"/>
                      <a:r>
                        <a:rPr sz="950">
                          <a:solidFill>
                            <a:srgbClr val="333333"/>
                          </a:solidFill>
                          <a:latin typeface="メイリオ"/>
                          <a:ea typeface="メイリオ"/>
                          <a:cs typeface="メイリオ"/>
                        </a:rPr>
                        <a:t>整備士特化</a:t>
                      </a:r>
                    </a:p>
                  </a:txBody>
                  <a:tcPr anchor="ctr">
                    <a:solidFill>
                      <a:srgbClr val="F4F7FF"/>
                    </a:solidFill>
                  </a:tcPr>
                </a:tc>
                <a:tc>
                  <a:txBody>
                    <a:bodyPr wrap="square" lIns="43200" rIns="43200" tIns="7200" bIns="7200" anchor="ctr"/>
                    <a:lstStyle/>
                    <a:p>
                      <a:pPr algn="l"/>
                      <a:r>
                        <a:rPr sz="950">
                          <a:solidFill>
                            <a:srgbClr val="333333"/>
                          </a:solidFill>
                          <a:latin typeface="メイリオ"/>
                          <a:ea typeface="メイリオ"/>
                          <a:cs typeface="メイリオ"/>
                        </a:rPr>
                        <a:t>196人</a:t>
                      </a:r>
                    </a:p>
                  </a:txBody>
                  <a:tcPr anchor="ctr">
                    <a:solidFill>
                      <a:srgbClr val="F4F7FF"/>
                    </a:solidFill>
                  </a:tcPr>
                </a:tc>
              </a:tr>
            </a:tbl>
          </a:graphicData>
        </a:graphic>
      </p:graphicFrame>
      <p:sp>
        <p:nvSpPr>
          <p:cNvPr id="6" name="Rounded Rectangle 5"/>
          <p:cNvSpPr/>
          <p:nvPr/>
        </p:nvSpPr>
        <p:spPr>
          <a:xfrm>
            <a:off x="432000" y="3563999"/>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250" b="1">
                <a:solidFill>
                  <a:srgbClr val="FFFFFF"/>
                </a:solidFill>
                <a:latin typeface="メイリオ"/>
                <a:ea typeface="メイリオ"/>
                <a:cs typeface="メイリオ"/>
              </a:rPr>
              <a:t>「整備士 × LINE」はまだ誰も取っていない。総合大手の型を持ち込むだけで先行者になれる。</a:t>
            </a:r>
          </a:p>
        </p:txBody>
      </p:sp>
      <p:sp>
        <p:nvSpPr>
          <p:cNvPr id="7" name="TextBox 6"/>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出典：page.line.me（公式）2026-09-21実測。友だち数は取得日時点の公表値</a:t>
            </a:r>
          </a:p>
        </p:txBody>
      </p:sp>
    </p:spTree>
    <p:extLst>
      <p:ext uri="{BB962C8B-B14F-4D97-AF65-F5344CB8AC3E}">
        <p14:creationId xmlns:p14="http://schemas.microsoft.com/office/powerpoint/2010/main" val="14057960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施策概要</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63590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前提整理</a:t>
            </a:r>
            <a:endParaRPr sz="1600" b="1" dirty="0">
              <a:solidFill>
                <a:srgbClr val="002060"/>
              </a:solidFill>
              <a:latin typeface="Meiryo"/>
              <a:ea typeface="Meiryo"/>
              <a:cs typeface="Meiryo"/>
              <a:sym typeface="Meiryo"/>
            </a:endParaRPr>
          </a:p>
        </p:txBody>
      </p:sp>
      <p:sp>
        <p:nvSpPr>
          <p:cNvPr id="39" name="Shape 3">
            <a:extLst>
              <a:ext uri="{FF2B5EF4-FFF2-40B4-BE49-F238E27FC236}">
                <a16:creationId xmlns:a16="http://schemas.microsoft.com/office/drawing/2014/main" id="{2C0CE6CF-CF29-4F13-E14D-6FE57E16D201}"/>
              </a:ext>
            </a:extLst>
          </p:cNvPr>
          <p:cNvSpPr/>
          <p:nvPr/>
        </p:nvSpPr>
        <p:spPr>
          <a:xfrm>
            <a:off x="972158" y="178003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Text 4">
            <a:extLst>
              <a:ext uri="{FF2B5EF4-FFF2-40B4-BE49-F238E27FC236}">
                <a16:creationId xmlns:a16="http://schemas.microsoft.com/office/drawing/2014/main" id="{4B15C96A-F0B8-F18C-6254-B162AFC457A6}"/>
              </a:ext>
            </a:extLst>
          </p:cNvPr>
          <p:cNvSpPr txBox="1"/>
          <p:nvPr/>
        </p:nvSpPr>
        <p:spPr>
          <a:xfrm>
            <a:off x="972158" y="178003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100" dirty="0">
              <a:latin typeface="メイリオ" panose="020B0604030504040204" pitchFamily="50" charset="-128"/>
              <a:ea typeface="メイリオ" panose="020B0604030504040204" pitchFamily="50" charset="-128"/>
            </a:endParaRPr>
          </a:p>
        </p:txBody>
      </p:sp>
      <p:sp>
        <p:nvSpPr>
          <p:cNvPr id="43" name="Text 5">
            <a:extLst>
              <a:ext uri="{FF2B5EF4-FFF2-40B4-BE49-F238E27FC236}">
                <a16:creationId xmlns:a16="http://schemas.microsoft.com/office/drawing/2014/main" id="{1AB7025E-6AD2-DE33-BC65-0B02037301DF}"/>
              </a:ext>
            </a:extLst>
          </p:cNvPr>
          <p:cNvSpPr txBox="1"/>
          <p:nvPr/>
        </p:nvSpPr>
        <p:spPr>
          <a:xfrm>
            <a:off x="1539086" y="190718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対象範囲</a:t>
            </a:r>
            <a:endParaRPr lang="en-US" sz="1400" dirty="0">
              <a:latin typeface="メイリオ" panose="020B0604030504040204" pitchFamily="50" charset="-128"/>
              <a:ea typeface="メイリオ" panose="020B0604030504040204" pitchFamily="50" charset="-128"/>
            </a:endParaRPr>
          </a:p>
        </p:txBody>
      </p:sp>
      <p:sp>
        <p:nvSpPr>
          <p:cNvPr id="46" name="Text 6">
            <a:extLst>
              <a:ext uri="{FF2B5EF4-FFF2-40B4-BE49-F238E27FC236}">
                <a16:creationId xmlns:a16="http://schemas.microsoft.com/office/drawing/2014/main" id="{EE17545A-2363-AE72-B300-AAA28328E975}"/>
              </a:ext>
            </a:extLst>
          </p:cNvPr>
          <p:cNvSpPr txBox="1"/>
          <p:nvPr/>
        </p:nvSpPr>
        <p:spPr>
          <a:xfrm>
            <a:off x="3120996" y="1907182"/>
            <a:ext cx="6841609" cy="548643"/>
          </a:xfrm>
          <a:prstGeom prst="rect">
            <a:avLst/>
          </a:prstGeom>
          <a:noFill/>
          <a:ln/>
        </p:spPr>
        <p:txBody>
          <a:bodyPr wrap="square" lIns="0" tIns="0" rIns="0" bIns="0" rtlCol="0" anchor="t"/>
          <a:lstStyle/>
          <a:p>
            <a:pPr marL="0" indent="0">
              <a:lnSpc>
                <a:spcPts val="1700"/>
              </a:lnSpc>
              <a:buNone/>
            </a:pP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LINE公式アカウントにおける</a:t>
            </a: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「① 友だち追加」「② </a:t>
            </a:r>
            <a:r>
              <a:rPr lang="en-US" sz="1200" b="1" dirty="0" err="1">
                <a:solidFill>
                  <a:srgbClr val="1F2937"/>
                </a:solidFill>
                <a:latin typeface="メイリオ" panose="020B0604030504040204" pitchFamily="50" charset="-128"/>
                <a:ea typeface="メイリオ" panose="020B0604030504040204" pitchFamily="50" charset="-128"/>
                <a:cs typeface="Calibri" pitchFamily="34" charset="-120"/>
              </a:rPr>
              <a:t>配信の効率改善</a:t>
            </a: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「③ ユーザー満足度改善」「④ 管理側の業務効率化」の4領域</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を対象に施策を設計。</a:t>
            </a: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48" name="Shape 7">
            <a:extLst>
              <a:ext uri="{FF2B5EF4-FFF2-40B4-BE49-F238E27FC236}">
                <a16:creationId xmlns:a16="http://schemas.microsoft.com/office/drawing/2014/main" id="{821FB137-60FE-5372-085D-B747D9EC59DC}"/>
              </a:ext>
            </a:extLst>
          </p:cNvPr>
          <p:cNvSpPr/>
          <p:nvPr/>
        </p:nvSpPr>
        <p:spPr>
          <a:xfrm>
            <a:off x="641683" y="271272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0" name="Shape 8">
            <a:extLst>
              <a:ext uri="{FF2B5EF4-FFF2-40B4-BE49-F238E27FC236}">
                <a16:creationId xmlns:a16="http://schemas.microsoft.com/office/drawing/2014/main" id="{DC9A3D51-C45E-51F8-860D-57ECD88D6555}"/>
              </a:ext>
            </a:extLst>
          </p:cNvPr>
          <p:cNvSpPr/>
          <p:nvPr/>
        </p:nvSpPr>
        <p:spPr>
          <a:xfrm>
            <a:off x="972158" y="283159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2" name="Text 9">
            <a:extLst>
              <a:ext uri="{FF2B5EF4-FFF2-40B4-BE49-F238E27FC236}">
                <a16:creationId xmlns:a16="http://schemas.microsoft.com/office/drawing/2014/main" id="{669B4352-D816-9A0C-A8DD-7BC84307D168}"/>
              </a:ext>
            </a:extLst>
          </p:cNvPr>
          <p:cNvSpPr txBox="1"/>
          <p:nvPr/>
        </p:nvSpPr>
        <p:spPr>
          <a:xfrm>
            <a:off x="972158" y="283159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100" dirty="0">
              <a:latin typeface="メイリオ" panose="020B0604030504040204" pitchFamily="50" charset="-128"/>
              <a:ea typeface="メイリオ" panose="020B0604030504040204" pitchFamily="50" charset="-128"/>
            </a:endParaRPr>
          </a:p>
        </p:txBody>
      </p:sp>
      <p:sp>
        <p:nvSpPr>
          <p:cNvPr id="54" name="Text 10">
            <a:extLst>
              <a:ext uri="{FF2B5EF4-FFF2-40B4-BE49-F238E27FC236}">
                <a16:creationId xmlns:a16="http://schemas.microsoft.com/office/drawing/2014/main" id="{75F48AE9-A6FD-422C-ACDF-7B652462C746}"/>
              </a:ext>
            </a:extLst>
          </p:cNvPr>
          <p:cNvSpPr txBox="1"/>
          <p:nvPr/>
        </p:nvSpPr>
        <p:spPr>
          <a:xfrm>
            <a:off x="1539086" y="295874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想定UU規模</a:t>
            </a:r>
            <a:endParaRPr lang="en-US" sz="1400" dirty="0">
              <a:latin typeface="メイリオ" panose="020B0604030504040204" pitchFamily="50" charset="-128"/>
              <a:ea typeface="メイリオ" panose="020B0604030504040204" pitchFamily="50" charset="-128"/>
            </a:endParaRPr>
          </a:p>
        </p:txBody>
      </p:sp>
      <p:sp>
        <p:nvSpPr>
          <p:cNvPr id="56" name="Text 11">
            <a:extLst>
              <a:ext uri="{FF2B5EF4-FFF2-40B4-BE49-F238E27FC236}">
                <a16:creationId xmlns:a16="http://schemas.microsoft.com/office/drawing/2014/main" id="{61156CBF-D9B3-DD3C-8ACD-8372D9D326A2}"/>
              </a:ext>
            </a:extLst>
          </p:cNvPr>
          <p:cNvSpPr txBox="1"/>
          <p:nvPr/>
        </p:nvSpPr>
        <p:spPr>
          <a:xfrm>
            <a:off x="3120996" y="295874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友だち数（登録ユーザー数）は</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 </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導入できる 動線の本数、整備の進捗により変動</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数値はこのレンジの中間帯を基準とした試算例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58" name="Shape 12">
            <a:extLst>
              <a:ext uri="{FF2B5EF4-FFF2-40B4-BE49-F238E27FC236}">
                <a16:creationId xmlns:a16="http://schemas.microsoft.com/office/drawing/2014/main" id="{B7E37F63-4443-61AC-C507-6249BCEA8B03}"/>
              </a:ext>
            </a:extLst>
          </p:cNvPr>
          <p:cNvSpPr/>
          <p:nvPr/>
        </p:nvSpPr>
        <p:spPr>
          <a:xfrm>
            <a:off x="641683" y="376428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BC3F4295-B343-9929-79BF-0E90AC24E637}"/>
              </a:ext>
            </a:extLst>
          </p:cNvPr>
          <p:cNvSpPr/>
          <p:nvPr/>
        </p:nvSpPr>
        <p:spPr>
          <a:xfrm>
            <a:off x="972158" y="388315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2" name="Text 14">
            <a:extLst>
              <a:ext uri="{FF2B5EF4-FFF2-40B4-BE49-F238E27FC236}">
                <a16:creationId xmlns:a16="http://schemas.microsoft.com/office/drawing/2014/main" id="{4F7035AD-D7AD-4365-9CE5-C9A141A3387A}"/>
              </a:ext>
            </a:extLst>
          </p:cNvPr>
          <p:cNvSpPr txBox="1"/>
          <p:nvPr/>
        </p:nvSpPr>
        <p:spPr>
          <a:xfrm>
            <a:off x="972158" y="388315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4" name="Text 15">
            <a:extLst>
              <a:ext uri="{FF2B5EF4-FFF2-40B4-BE49-F238E27FC236}">
                <a16:creationId xmlns:a16="http://schemas.microsoft.com/office/drawing/2014/main" id="{86468759-90EC-B496-2A22-F5CEEF26BB6D}"/>
              </a:ext>
            </a:extLst>
          </p:cNvPr>
          <p:cNvSpPr txBox="1"/>
          <p:nvPr/>
        </p:nvSpPr>
        <p:spPr>
          <a:xfrm>
            <a:off x="1539086" y="401030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数値の位置づけ</a:t>
            </a:r>
            <a:endParaRPr lang="en-US" sz="1400" dirty="0">
              <a:latin typeface="メイリオ" panose="020B0604030504040204" pitchFamily="50" charset="-128"/>
              <a:ea typeface="メイリオ" panose="020B0604030504040204" pitchFamily="50" charset="-128"/>
            </a:endParaRPr>
          </a:p>
        </p:txBody>
      </p:sp>
      <p:sp>
        <p:nvSpPr>
          <p:cNvPr id="66" name="Text 16">
            <a:extLst>
              <a:ext uri="{FF2B5EF4-FFF2-40B4-BE49-F238E27FC236}">
                <a16:creationId xmlns:a16="http://schemas.microsoft.com/office/drawing/2014/main" id="{904F2FF7-14A1-F39C-A8CB-E14A07B717DD}"/>
              </a:ext>
            </a:extLst>
          </p:cNvPr>
          <p:cNvSpPr txBox="1"/>
          <p:nvPr/>
        </p:nvSpPr>
        <p:spPr>
          <a:xfrm>
            <a:off x="3120996" y="401030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開封率・クリック率・CVR・獲得件数は、業界一般値</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・弊社実績に基づく数値</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実際の実装可能領域</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によって変動する為、すり合わせの上で</a:t>
            </a: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精緻化する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68" name="Shape 17">
            <a:extLst>
              <a:ext uri="{FF2B5EF4-FFF2-40B4-BE49-F238E27FC236}">
                <a16:creationId xmlns:a16="http://schemas.microsoft.com/office/drawing/2014/main" id="{D7D046F7-16D5-8951-536B-10884484DE02}"/>
              </a:ext>
            </a:extLst>
          </p:cNvPr>
          <p:cNvSpPr/>
          <p:nvPr/>
        </p:nvSpPr>
        <p:spPr>
          <a:xfrm>
            <a:off x="641683" y="481584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0" name="Shape 18">
            <a:extLst>
              <a:ext uri="{FF2B5EF4-FFF2-40B4-BE49-F238E27FC236}">
                <a16:creationId xmlns:a16="http://schemas.microsoft.com/office/drawing/2014/main" id="{0D1FC647-1BC2-58C5-04C4-BE8B359A6F8D}"/>
              </a:ext>
            </a:extLst>
          </p:cNvPr>
          <p:cNvSpPr/>
          <p:nvPr/>
        </p:nvSpPr>
        <p:spPr>
          <a:xfrm>
            <a:off x="972158" y="493471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2" name="Text 19">
            <a:extLst>
              <a:ext uri="{FF2B5EF4-FFF2-40B4-BE49-F238E27FC236}">
                <a16:creationId xmlns:a16="http://schemas.microsoft.com/office/drawing/2014/main" id="{C7DA095C-5CED-C617-CCA7-2F5D20F16832}"/>
              </a:ext>
            </a:extLst>
          </p:cNvPr>
          <p:cNvSpPr txBox="1"/>
          <p:nvPr/>
        </p:nvSpPr>
        <p:spPr>
          <a:xfrm>
            <a:off x="972158" y="493471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4</a:t>
            </a:r>
            <a:endParaRPr lang="en-US" sz="1100" dirty="0">
              <a:latin typeface="メイリオ" panose="020B0604030504040204" pitchFamily="50" charset="-128"/>
              <a:ea typeface="メイリオ" panose="020B0604030504040204" pitchFamily="50" charset="-128"/>
            </a:endParaRPr>
          </a:p>
        </p:txBody>
      </p:sp>
      <p:sp>
        <p:nvSpPr>
          <p:cNvPr id="74" name="Text 20">
            <a:extLst>
              <a:ext uri="{FF2B5EF4-FFF2-40B4-BE49-F238E27FC236}">
                <a16:creationId xmlns:a16="http://schemas.microsoft.com/office/drawing/2014/main" id="{4C2E6E88-6123-B50A-ED01-1E64CDAD3404}"/>
              </a:ext>
            </a:extLst>
          </p:cNvPr>
          <p:cNvSpPr txBox="1"/>
          <p:nvPr/>
        </p:nvSpPr>
        <p:spPr>
          <a:xfrm>
            <a:off x="1539086" y="506186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費用について</a:t>
            </a:r>
            <a:endParaRPr lang="en-US" sz="1400" dirty="0">
              <a:latin typeface="メイリオ" panose="020B0604030504040204" pitchFamily="50" charset="-128"/>
              <a:ea typeface="メイリオ" panose="020B0604030504040204" pitchFamily="50" charset="-128"/>
            </a:endParaRPr>
          </a:p>
        </p:txBody>
      </p:sp>
      <p:sp>
        <p:nvSpPr>
          <p:cNvPr id="76" name="Text 21">
            <a:extLst>
              <a:ext uri="{FF2B5EF4-FFF2-40B4-BE49-F238E27FC236}">
                <a16:creationId xmlns:a16="http://schemas.microsoft.com/office/drawing/2014/main" id="{F5F82988-82B4-B2FE-6595-2DA583169883}"/>
              </a:ext>
            </a:extLst>
          </p:cNvPr>
          <p:cNvSpPr txBox="1"/>
          <p:nvPr/>
        </p:nvSpPr>
        <p:spPr>
          <a:xfrm>
            <a:off x="3120996" y="506186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本資料</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内</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記載の</a:t>
            </a:r>
            <a:r>
              <a:rPr lang="en-US" sz="1200" b="1" dirty="0" err="1">
                <a:solidFill>
                  <a:srgbClr val="1F2937"/>
                </a:solidFill>
                <a:latin typeface="メイリオ" panose="020B0604030504040204" pitchFamily="50" charset="-128"/>
                <a:ea typeface="メイリオ" panose="020B0604030504040204" pitchFamily="50" charset="-128"/>
                <a:cs typeface="Calibri" pitchFamily="34" charset="-120"/>
              </a:rPr>
              <a:t>費用（初期費用・月額費用）は</a:t>
            </a:r>
            <a:r>
              <a:rPr lang="ja-JP" altLang="en-US" sz="1200" b="1" dirty="0">
                <a:solidFill>
                  <a:srgbClr val="1F2937"/>
                </a:solidFill>
                <a:latin typeface="メイリオ" panose="020B0604030504040204" pitchFamily="50" charset="-128"/>
                <a:ea typeface="メイリオ" panose="020B0604030504040204" pitchFamily="50" charset="-128"/>
                <a:cs typeface="Calibri" pitchFamily="34" charset="-120"/>
              </a:rPr>
              <a:t>前提参考値</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施策範囲の合意後、別途お見積りをご案内</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EED395D3-960C-4F52-4CB0-7C6BFD98B4E4}"/>
              </a:ext>
            </a:extLst>
          </p:cNvPr>
          <p:cNvSpPr txBox="1"/>
          <p:nvPr/>
        </p:nvSpPr>
        <p:spPr>
          <a:xfrm>
            <a:off x="561786" y="882657"/>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ご提案にお持ちしているのは費用感の算出ではなく施策方針です。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施策切り出しでのご依頼、複数機能の導入によるディスカウント等の調整もご相談ください。</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19855447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EC9E0-2ED9-448E-0518-C4BB6687193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BBA5CE5E-41EC-1762-2B4B-1C21C78DBE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7B94669E-0A81-5BCB-3602-33AE08C2923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6F74B94C-3E60-E212-F97E-79756D17F00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7" name="Shape 3">
            <a:extLst>
              <a:ext uri="{FF2B5EF4-FFF2-40B4-BE49-F238E27FC236}">
                <a16:creationId xmlns:a16="http://schemas.microsoft.com/office/drawing/2014/main" id="{05B92B5B-D67F-58CF-8CC2-331F749D479C}"/>
              </a:ext>
            </a:extLst>
          </p:cNvPr>
          <p:cNvSpPr/>
          <p:nvPr/>
        </p:nvSpPr>
        <p:spPr>
          <a:xfrm>
            <a:off x="847998"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Shape 4">
            <a:extLst>
              <a:ext uri="{FF2B5EF4-FFF2-40B4-BE49-F238E27FC236}">
                <a16:creationId xmlns:a16="http://schemas.microsoft.com/office/drawing/2014/main" id="{84E1D0B6-1448-5A19-5CEB-FF4D5F46D6FC}"/>
              </a:ext>
            </a:extLst>
          </p:cNvPr>
          <p:cNvSpPr/>
          <p:nvPr/>
        </p:nvSpPr>
        <p:spPr>
          <a:xfrm>
            <a:off x="1076598" y="2105293"/>
            <a:ext cx="365268" cy="377851"/>
          </a:xfrm>
          <a:prstGeom prst="ellipse">
            <a:avLst/>
          </a:prstGeom>
          <a:solidFill>
            <a:srgbClr val="06C75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1</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13" name="Text 6">
            <a:extLst>
              <a:ext uri="{FF2B5EF4-FFF2-40B4-BE49-F238E27FC236}">
                <a16:creationId xmlns:a16="http://schemas.microsoft.com/office/drawing/2014/main" id="{7E87A6C6-A98D-9DBF-6D4A-E28F254E152A}"/>
              </a:ext>
            </a:extLst>
          </p:cNvPr>
          <p:cNvSpPr txBox="1"/>
          <p:nvPr/>
        </p:nvSpPr>
        <p:spPr>
          <a:xfrm>
            <a:off x="1716678"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友だち追加</a:t>
            </a:r>
            <a:endParaRPr lang="en-US" sz="1700" dirty="0">
              <a:latin typeface="メイリオ" panose="020B0604030504040204" pitchFamily="50" charset="-128"/>
              <a:ea typeface="メイリオ" panose="020B0604030504040204" pitchFamily="50" charset="-128"/>
            </a:endParaRPr>
          </a:p>
        </p:txBody>
      </p:sp>
      <p:sp>
        <p:nvSpPr>
          <p:cNvPr id="15" name="Text 7">
            <a:extLst>
              <a:ext uri="{FF2B5EF4-FFF2-40B4-BE49-F238E27FC236}">
                <a16:creationId xmlns:a16="http://schemas.microsoft.com/office/drawing/2014/main" id="{3D4AF8DD-9D51-A269-6557-0363B326A0A0}"/>
              </a:ext>
            </a:extLst>
          </p:cNvPr>
          <p:cNvSpPr txBox="1"/>
          <p:nvPr/>
        </p:nvSpPr>
        <p:spPr>
          <a:xfrm>
            <a:off x="1716678" y="2344510"/>
            <a:ext cx="3021761" cy="274320"/>
          </a:xfrm>
          <a:prstGeom prst="rect">
            <a:avLst/>
          </a:prstGeom>
          <a:noFill/>
          <a:ln/>
        </p:spPr>
        <p:txBody>
          <a:bodyPr wrap="square" lIns="0" tIns="0" rIns="0" bIns="0" rtlCol="0" anchor="ctr"/>
          <a:lstStyle/>
          <a:p>
            <a:pPr marL="0" indent="0">
              <a:buNone/>
            </a:pPr>
            <a:r>
              <a:rPr lang="en-US" sz="1100" b="1" dirty="0">
                <a:solidFill>
                  <a:srgbClr val="06C755"/>
                </a:solidFill>
                <a:latin typeface="メイリオ" panose="020B0604030504040204" pitchFamily="50" charset="-128"/>
                <a:ea typeface="メイリオ" panose="020B0604030504040204" pitchFamily="50" charset="-128"/>
                <a:cs typeface="Calibri" pitchFamily="34" charset="-120"/>
              </a:rPr>
              <a:t>接点を増やし母数を拡大</a:t>
            </a:r>
            <a:endParaRPr lang="en-US" sz="1100" dirty="0">
              <a:latin typeface="メイリオ" panose="020B0604030504040204" pitchFamily="50" charset="-128"/>
              <a:ea typeface="メイリオ" panose="020B0604030504040204" pitchFamily="50" charset="-128"/>
            </a:endParaRPr>
          </a:p>
        </p:txBody>
      </p:sp>
      <p:sp>
        <p:nvSpPr>
          <p:cNvPr id="17" name="Text 8">
            <a:extLst>
              <a:ext uri="{FF2B5EF4-FFF2-40B4-BE49-F238E27FC236}">
                <a16:creationId xmlns:a16="http://schemas.microsoft.com/office/drawing/2014/main" id="{006EDC0A-D1B3-1FB0-B41A-15583F5C13E9}"/>
              </a:ext>
            </a:extLst>
          </p:cNvPr>
          <p:cNvSpPr txBox="1"/>
          <p:nvPr/>
        </p:nvSpPr>
        <p:spPr>
          <a:xfrm>
            <a:off x="1122318" y="2774278"/>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店頭・Web・同梱物など複数の接点から</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訴求とセットでLINE友だち登録へ誘導する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19" name="Shape 9">
            <a:extLst>
              <a:ext uri="{FF2B5EF4-FFF2-40B4-BE49-F238E27FC236}">
                <a16:creationId xmlns:a16="http://schemas.microsoft.com/office/drawing/2014/main" id="{D46829D5-C4A7-00A2-EB59-4F0181ABF3E8}"/>
              </a:ext>
            </a:extLst>
          </p:cNvPr>
          <p:cNvSpPr/>
          <p:nvPr/>
        </p:nvSpPr>
        <p:spPr>
          <a:xfrm>
            <a:off x="5154385"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1" name="Shape 10">
            <a:extLst>
              <a:ext uri="{FF2B5EF4-FFF2-40B4-BE49-F238E27FC236}">
                <a16:creationId xmlns:a16="http://schemas.microsoft.com/office/drawing/2014/main" id="{5F94C612-6888-B502-7823-012E190DAC5E}"/>
              </a:ext>
            </a:extLst>
          </p:cNvPr>
          <p:cNvSpPr/>
          <p:nvPr/>
        </p:nvSpPr>
        <p:spPr>
          <a:xfrm>
            <a:off x="5382985" y="2105293"/>
            <a:ext cx="365268" cy="377851"/>
          </a:xfrm>
          <a:prstGeom prst="ellipse">
            <a:avLst/>
          </a:prstGeom>
          <a:solidFill>
            <a:schemeClr val="accent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2</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25" name="Text 12">
            <a:extLst>
              <a:ext uri="{FF2B5EF4-FFF2-40B4-BE49-F238E27FC236}">
                <a16:creationId xmlns:a16="http://schemas.microsoft.com/office/drawing/2014/main" id="{63279BBA-A879-BA09-E7B2-0716F8DB89DB}"/>
              </a:ext>
            </a:extLst>
          </p:cNvPr>
          <p:cNvSpPr txBox="1"/>
          <p:nvPr/>
        </p:nvSpPr>
        <p:spPr>
          <a:xfrm>
            <a:off x="6023065"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効率改善（配信）</a:t>
            </a:r>
            <a:endParaRPr lang="en-US" sz="1700" dirty="0">
              <a:latin typeface="メイリオ" panose="020B0604030504040204" pitchFamily="50" charset="-128"/>
              <a:ea typeface="メイリオ" panose="020B0604030504040204" pitchFamily="50" charset="-128"/>
            </a:endParaRPr>
          </a:p>
        </p:txBody>
      </p:sp>
      <p:sp>
        <p:nvSpPr>
          <p:cNvPr id="27" name="Text 13">
            <a:extLst>
              <a:ext uri="{FF2B5EF4-FFF2-40B4-BE49-F238E27FC236}">
                <a16:creationId xmlns:a16="http://schemas.microsoft.com/office/drawing/2014/main" id="{B2834EBB-F184-C52C-D6A4-B76283F84E90}"/>
              </a:ext>
            </a:extLst>
          </p:cNvPr>
          <p:cNvSpPr txBox="1"/>
          <p:nvPr/>
        </p:nvSpPr>
        <p:spPr>
          <a:xfrm>
            <a:off x="6023065" y="2344510"/>
            <a:ext cx="3021761" cy="274320"/>
          </a:xfrm>
          <a:prstGeom prst="rect">
            <a:avLst/>
          </a:prstGeom>
          <a:noFill/>
          <a:ln/>
        </p:spPr>
        <p:txBody>
          <a:bodyPr wrap="square" lIns="0" tIns="0" rIns="0" bIns="0" rtlCol="0" anchor="ctr"/>
          <a:lstStyle/>
          <a:p>
            <a:pPr marL="0" indent="0">
              <a:buNone/>
            </a:pPr>
            <a:r>
              <a:rPr lang="en-US" sz="1100" b="1" dirty="0">
                <a:solidFill>
                  <a:schemeClr val="accent5"/>
                </a:solidFill>
                <a:latin typeface="メイリオ" panose="020B0604030504040204" pitchFamily="50" charset="-128"/>
                <a:ea typeface="メイリオ" panose="020B0604030504040204" pitchFamily="50" charset="-128"/>
                <a:cs typeface="Calibri" pitchFamily="34" charset="-120"/>
              </a:rPr>
              <a:t>ステップ配信・企画配信の設計</a:t>
            </a:r>
            <a:endParaRPr lang="en-US" sz="1100" dirty="0">
              <a:solidFill>
                <a:schemeClr val="accent5"/>
              </a:solidFill>
              <a:latin typeface="メイリオ" panose="020B0604030504040204" pitchFamily="50" charset="-128"/>
              <a:ea typeface="メイリオ" panose="020B0604030504040204" pitchFamily="50" charset="-128"/>
            </a:endParaRPr>
          </a:p>
        </p:txBody>
      </p:sp>
      <p:sp>
        <p:nvSpPr>
          <p:cNvPr id="29" name="Text 14">
            <a:extLst>
              <a:ext uri="{FF2B5EF4-FFF2-40B4-BE49-F238E27FC236}">
                <a16:creationId xmlns:a16="http://schemas.microsoft.com/office/drawing/2014/main" id="{57B1EDEB-4BA3-D781-8DE2-68F5F4A20A81}"/>
              </a:ext>
            </a:extLst>
          </p:cNvPr>
          <p:cNvSpPr txBox="1"/>
          <p:nvPr/>
        </p:nvSpPr>
        <p:spPr>
          <a:xfrm>
            <a:off x="5428705" y="2774278"/>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登録後の自動ステップ配信と、セグメント別の</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企画配信で、開封〜CVまでの導線を最適化する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31" name="Shape 15">
            <a:extLst>
              <a:ext uri="{FF2B5EF4-FFF2-40B4-BE49-F238E27FC236}">
                <a16:creationId xmlns:a16="http://schemas.microsoft.com/office/drawing/2014/main" id="{756ECCA6-F7D5-C161-4122-409E50DB0B3A}"/>
              </a:ext>
            </a:extLst>
          </p:cNvPr>
          <p:cNvSpPr/>
          <p:nvPr/>
        </p:nvSpPr>
        <p:spPr>
          <a:xfrm>
            <a:off x="847998"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16">
            <a:extLst>
              <a:ext uri="{FF2B5EF4-FFF2-40B4-BE49-F238E27FC236}">
                <a16:creationId xmlns:a16="http://schemas.microsoft.com/office/drawing/2014/main" id="{752C3BA3-61AC-9915-5565-38F14554F3BD}"/>
              </a:ext>
            </a:extLst>
          </p:cNvPr>
          <p:cNvSpPr/>
          <p:nvPr/>
        </p:nvSpPr>
        <p:spPr>
          <a:xfrm>
            <a:off x="1076598" y="4206238"/>
            <a:ext cx="365268" cy="377851"/>
          </a:xfrm>
          <a:prstGeom prst="ellipse">
            <a:avLst/>
          </a:prstGeom>
          <a:solidFill>
            <a:schemeClr val="accent1"/>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3</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7" name="Text 18">
            <a:extLst>
              <a:ext uri="{FF2B5EF4-FFF2-40B4-BE49-F238E27FC236}">
                <a16:creationId xmlns:a16="http://schemas.microsoft.com/office/drawing/2014/main" id="{23D1E819-C691-D0D7-BE43-A76BB729138D}"/>
              </a:ext>
            </a:extLst>
          </p:cNvPr>
          <p:cNvSpPr txBox="1"/>
          <p:nvPr/>
        </p:nvSpPr>
        <p:spPr>
          <a:xfrm>
            <a:off x="1716678"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満足度改善（ユーザー）</a:t>
            </a:r>
            <a:endParaRPr lang="en-US" sz="1700" dirty="0">
              <a:latin typeface="メイリオ" panose="020B0604030504040204" pitchFamily="50" charset="-128"/>
              <a:ea typeface="メイリオ" panose="020B0604030504040204" pitchFamily="50" charset="-128"/>
            </a:endParaRPr>
          </a:p>
        </p:txBody>
      </p:sp>
      <p:sp>
        <p:nvSpPr>
          <p:cNvPr id="40" name="Text 19">
            <a:extLst>
              <a:ext uri="{FF2B5EF4-FFF2-40B4-BE49-F238E27FC236}">
                <a16:creationId xmlns:a16="http://schemas.microsoft.com/office/drawing/2014/main" id="{82D0FC0F-1D31-300C-7AB1-D0912A7E029E}"/>
              </a:ext>
            </a:extLst>
          </p:cNvPr>
          <p:cNvSpPr txBox="1"/>
          <p:nvPr/>
        </p:nvSpPr>
        <p:spPr>
          <a:xfrm>
            <a:off x="1716678" y="4445455"/>
            <a:ext cx="3021761" cy="274320"/>
          </a:xfrm>
          <a:prstGeom prst="rect">
            <a:avLst/>
          </a:prstGeom>
          <a:noFill/>
          <a:ln/>
        </p:spPr>
        <p:txBody>
          <a:bodyPr wrap="square" lIns="0" tIns="0" rIns="0" bIns="0" rtlCol="0" anchor="ctr"/>
          <a:lstStyle/>
          <a:p>
            <a:pPr marL="0" indent="0">
              <a:buNone/>
            </a:pPr>
            <a:r>
              <a:rPr lang="en-US" sz="1100" b="1" dirty="0">
                <a:solidFill>
                  <a:schemeClr val="accent1"/>
                </a:solidFill>
                <a:latin typeface="メイリオ" panose="020B0604030504040204" pitchFamily="50" charset="-128"/>
                <a:ea typeface="メイリオ" panose="020B0604030504040204" pitchFamily="50" charset="-128"/>
                <a:cs typeface="Calibri" pitchFamily="34" charset="-120"/>
              </a:rPr>
              <a:t>QA自動化・個別対応の強化</a:t>
            </a:r>
            <a:endParaRPr lang="en-US" sz="1100" dirty="0">
              <a:solidFill>
                <a:schemeClr val="accent1"/>
              </a:solidFill>
              <a:latin typeface="メイリオ" panose="020B0604030504040204" pitchFamily="50" charset="-128"/>
              <a:ea typeface="メイリオ" panose="020B0604030504040204" pitchFamily="50" charset="-128"/>
            </a:endParaRPr>
          </a:p>
        </p:txBody>
      </p:sp>
      <p:sp>
        <p:nvSpPr>
          <p:cNvPr id="44" name="Text 20">
            <a:extLst>
              <a:ext uri="{FF2B5EF4-FFF2-40B4-BE49-F238E27FC236}">
                <a16:creationId xmlns:a16="http://schemas.microsoft.com/office/drawing/2014/main" id="{DDC03FE7-3F21-E248-3ACE-D83BF971AA2D}"/>
              </a:ext>
            </a:extLst>
          </p:cNvPr>
          <p:cNvSpPr txBox="1"/>
          <p:nvPr/>
        </p:nvSpPr>
        <p:spPr>
          <a:xfrm>
            <a:off x="1122318" y="4875223"/>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よくある質問への自動応答と、必要な場面での</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個別チャット対応でユーザー体験を向上させる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49" name="Shape 21">
            <a:extLst>
              <a:ext uri="{FF2B5EF4-FFF2-40B4-BE49-F238E27FC236}">
                <a16:creationId xmlns:a16="http://schemas.microsoft.com/office/drawing/2014/main" id="{82BACBFF-FBAA-0B5D-6800-119BCE06D8E4}"/>
              </a:ext>
            </a:extLst>
          </p:cNvPr>
          <p:cNvSpPr/>
          <p:nvPr/>
        </p:nvSpPr>
        <p:spPr>
          <a:xfrm>
            <a:off x="5154385"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22">
            <a:extLst>
              <a:ext uri="{FF2B5EF4-FFF2-40B4-BE49-F238E27FC236}">
                <a16:creationId xmlns:a16="http://schemas.microsoft.com/office/drawing/2014/main" id="{06D0A506-C06B-2472-7C9A-C6A3F8F4DE0C}"/>
              </a:ext>
            </a:extLst>
          </p:cNvPr>
          <p:cNvSpPr/>
          <p:nvPr/>
        </p:nvSpPr>
        <p:spPr>
          <a:xfrm>
            <a:off x="5382985" y="4206238"/>
            <a:ext cx="365268" cy="377851"/>
          </a:xfrm>
          <a:prstGeom prst="ellipse">
            <a:avLst/>
          </a:prstGeom>
          <a:solidFill>
            <a:srgbClr val="2C5364"/>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4</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61" name="Text 24">
            <a:extLst>
              <a:ext uri="{FF2B5EF4-FFF2-40B4-BE49-F238E27FC236}">
                <a16:creationId xmlns:a16="http://schemas.microsoft.com/office/drawing/2014/main" id="{7E387CA0-ACAD-6B69-2324-44C6B8151A62}"/>
              </a:ext>
            </a:extLst>
          </p:cNvPr>
          <p:cNvSpPr txBox="1"/>
          <p:nvPr/>
        </p:nvSpPr>
        <p:spPr>
          <a:xfrm>
            <a:off x="6023065"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効率改善（管理側）</a:t>
            </a:r>
            <a:endParaRPr lang="en-US" sz="1700" dirty="0">
              <a:latin typeface="メイリオ" panose="020B0604030504040204" pitchFamily="50" charset="-128"/>
              <a:ea typeface="メイリオ" panose="020B0604030504040204" pitchFamily="50" charset="-128"/>
            </a:endParaRPr>
          </a:p>
        </p:txBody>
      </p:sp>
      <p:sp>
        <p:nvSpPr>
          <p:cNvPr id="65" name="Text 25">
            <a:extLst>
              <a:ext uri="{FF2B5EF4-FFF2-40B4-BE49-F238E27FC236}">
                <a16:creationId xmlns:a16="http://schemas.microsoft.com/office/drawing/2014/main" id="{DD4F65C4-8B59-E246-52A4-392800008403}"/>
              </a:ext>
            </a:extLst>
          </p:cNvPr>
          <p:cNvSpPr txBox="1"/>
          <p:nvPr/>
        </p:nvSpPr>
        <p:spPr>
          <a:xfrm>
            <a:off x="6023065" y="4445455"/>
            <a:ext cx="3021761" cy="274320"/>
          </a:xfrm>
          <a:prstGeom prst="rect">
            <a:avLst/>
          </a:prstGeom>
          <a:noFill/>
          <a:ln/>
        </p:spPr>
        <p:txBody>
          <a:bodyPr wrap="square" lIns="0" tIns="0" rIns="0" bIns="0" rtlCol="0" anchor="ctr"/>
          <a:lstStyle/>
          <a:p>
            <a:pPr marL="0" indent="0">
              <a:buNone/>
            </a:pPr>
            <a:r>
              <a:rPr lang="en-US" sz="1100" b="1" dirty="0">
                <a:solidFill>
                  <a:srgbClr val="2C5364"/>
                </a:solidFill>
                <a:latin typeface="メイリオ" panose="020B0604030504040204" pitchFamily="50" charset="-128"/>
                <a:ea typeface="メイリオ" panose="020B0604030504040204" pitchFamily="50" charset="-128"/>
                <a:cs typeface="Calibri" pitchFamily="34" charset="-120"/>
              </a:rPr>
              <a:t>自動応答・運用負荷の軽減</a:t>
            </a:r>
            <a:endParaRPr lang="en-US" sz="1100" dirty="0">
              <a:latin typeface="メイリオ" panose="020B0604030504040204" pitchFamily="50" charset="-128"/>
              <a:ea typeface="メイリオ" panose="020B0604030504040204" pitchFamily="50" charset="-128"/>
            </a:endParaRPr>
          </a:p>
        </p:txBody>
      </p:sp>
      <p:sp>
        <p:nvSpPr>
          <p:cNvPr id="69" name="Text 26">
            <a:extLst>
              <a:ext uri="{FF2B5EF4-FFF2-40B4-BE49-F238E27FC236}">
                <a16:creationId xmlns:a16="http://schemas.microsoft.com/office/drawing/2014/main" id="{BF1F9D45-7BE1-B51C-A85A-C438E8EC236C}"/>
              </a:ext>
            </a:extLst>
          </p:cNvPr>
          <p:cNvSpPr txBox="1"/>
          <p:nvPr/>
        </p:nvSpPr>
        <p:spPr>
          <a:xfrm>
            <a:off x="5428705" y="4875223"/>
            <a:ext cx="3420235" cy="1051560"/>
          </a:xfrm>
          <a:prstGeom prst="rect">
            <a:avLst/>
          </a:prstGeom>
          <a:noFill/>
          <a:ln/>
        </p:spPr>
        <p:txBody>
          <a:bodyPr wrap="square" lIns="0" tIns="0" rIns="0" bIns="0" rtlCol="0" anchor="t"/>
          <a:lstStyle/>
          <a:p>
            <a:pPr marL="0" indent="0">
              <a:lnSpc>
                <a:spcPts val="1600"/>
              </a:lnSpc>
              <a:buNone/>
            </a:pP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自動応答の仕組み化や運用フローの整備により、管理側の対応工数を削減する。</a:t>
            </a:r>
            <a:endParaRPr lang="en-US" sz="1200" dirty="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1E39E92-BE3C-9C91-B84F-53B25B9196F1}"/>
              </a:ext>
            </a:extLst>
          </p:cNvPr>
          <p:cNvSpPr txBox="1"/>
          <p:nvPr/>
        </p:nvSpPr>
        <p:spPr>
          <a:xfrm>
            <a:off x="561786" y="882657"/>
            <a:ext cx="8797260" cy="523220"/>
          </a:xfrm>
          <a:prstGeom prst="rect">
            <a:avLst/>
          </a:prstGeom>
          <a:noFill/>
        </p:spPr>
        <p:txBody>
          <a:bodyPr wrap="square">
            <a:spAutoFit/>
          </a:bodyPr>
          <a:lstStyle/>
          <a:p>
            <a:pPr algn="ct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DYM</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では基本的に①②の施策を中心に展開させていただきながら、</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事業会社ならではの③④におけるノウハウ共有等が可能です。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7975529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7C615-BEE8-3B16-A209-225180EB573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93A1A5A-4695-1785-1F7A-2FFF7723D88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F088CF0-DAD8-024E-9D5D-9E8A5A7610A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CFC8F68-E536-2BAD-437B-4F354ADD7BA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5" name="Heading">
            <a:extLst>
              <a:ext uri="{FF2B5EF4-FFF2-40B4-BE49-F238E27FC236}">
                <a16:creationId xmlns:a16="http://schemas.microsoft.com/office/drawing/2014/main" id="{412505BE-7AC7-15E1-7427-2273456C3176}"/>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LINE運用ツール</a:t>
            </a:r>
            <a:r>
              <a:rPr lang="ja-JP" altLang="en-US" sz="14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7E8BB5F2-25D8-6C40-B6B8-51E193FDD0D5}"/>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なし </a:t>
            </a:r>
            <a:r>
              <a:rPr lang="en-US" altLang="ja-JP" sz="1000" dirty="0">
                <a:solidFill>
                  <a:srgbClr val="FFFFFF"/>
                </a:solidFill>
                <a:latin typeface="メイリオ" panose="020B0604030504040204" pitchFamily="50" charset="-128"/>
                <a:ea typeface="メイリオ" panose="020B0604030504040204" pitchFamily="50" charset="-128"/>
              </a:rPr>
              <a:t>※OAM</a:t>
            </a:r>
            <a:r>
              <a:rPr lang="ja-JP" altLang="en-US" sz="1000" dirty="0">
                <a:solidFill>
                  <a:srgbClr val="FFFFFF"/>
                </a:solidFill>
                <a:latin typeface="メイリオ" panose="020B0604030504040204" pitchFamily="50" charset="-128"/>
                <a:ea typeface="メイリオ" panose="020B0604030504040204" pitchFamily="50" charset="-128"/>
              </a:rPr>
              <a:t>にて運用する</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1" name="RightHeader">
            <a:extLst>
              <a:ext uri="{FF2B5EF4-FFF2-40B4-BE49-F238E27FC236}">
                <a16:creationId xmlns:a16="http://schemas.microsoft.com/office/drawing/2014/main" id="{51D83F88-8CDC-20C8-A161-92ACE9AE14FE}"/>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あり</a:t>
            </a:r>
            <a:r>
              <a:rPr lang="ja-JP" altLang="en-US" sz="1400" dirty="0">
                <a:solidFill>
                  <a:srgbClr val="FFFFFF"/>
                </a:solidFill>
                <a:latin typeface="メイリオ" panose="020B0604030504040204" pitchFamily="50" charset="-128"/>
                <a:ea typeface="メイリオ" panose="020B0604030504040204" pitchFamily="50" charset="-128"/>
              </a:rPr>
              <a:t> </a:t>
            </a:r>
            <a:r>
              <a:rPr lang="en-US" altLang="ja-JP" sz="1100" dirty="0">
                <a:solidFill>
                  <a:srgbClr val="FFFFFF"/>
                </a:solidFill>
                <a:latin typeface="メイリオ" panose="020B0604030504040204" pitchFamily="50" charset="-128"/>
                <a:ea typeface="メイリオ" panose="020B0604030504040204" pitchFamily="50" charset="-128"/>
              </a:rPr>
              <a:t>※</a:t>
            </a:r>
            <a:r>
              <a:rPr lang="en-US" altLang="ja-JP" sz="1100" dirty="0" err="1">
                <a:solidFill>
                  <a:srgbClr val="FFFFFF"/>
                </a:solidFill>
                <a:latin typeface="メイリオ" panose="020B0604030504040204" pitchFamily="50" charset="-128"/>
                <a:ea typeface="メイリオ" panose="020B0604030504040204" pitchFamily="50" charset="-128"/>
              </a:rPr>
              <a:t>Lstep</a:t>
            </a:r>
            <a:r>
              <a:rPr lang="ja-JP" altLang="en-US" sz="1100" dirty="0">
                <a:solidFill>
                  <a:srgbClr val="FFFFFF"/>
                </a:solidFill>
                <a:latin typeface="メイリオ" panose="020B0604030504040204" pitchFamily="50" charset="-128"/>
                <a:ea typeface="メイリオ" panose="020B0604030504040204" pitchFamily="50" charset="-128"/>
              </a:rPr>
              <a:t>など汎用的なもの</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5" name="Conclusion">
            <a:extLst>
              <a:ext uri="{FF2B5EF4-FFF2-40B4-BE49-F238E27FC236}">
                <a16:creationId xmlns:a16="http://schemas.microsoft.com/office/drawing/2014/main" id="{C4320929-5504-DE1B-B0F4-5AA55B09745C}"/>
              </a:ext>
            </a:extLst>
          </p:cNvPr>
          <p:cNvSpPr txBox="1"/>
          <p:nvPr/>
        </p:nvSpPr>
        <p:spPr>
          <a:xfrm>
            <a:off x="396857" y="4978338"/>
            <a:ext cx="9144000" cy="812800"/>
          </a:xfrm>
          <a:prstGeom prst="rect">
            <a:avLst/>
          </a:prstGeom>
          <a:solidFill>
            <a:srgbClr val="F0F2F7"/>
          </a:solidFill>
          <a:ln>
            <a:noFill/>
          </a:ln>
        </p:spPr>
        <p:txBody>
          <a:bodyPr wrap="square" lIns="177800" tIns="127000" rIns="177800" bIns="1270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結論・推奨</a:t>
            </a:r>
          </a:p>
          <a:p>
            <a:pPr>
              <a:spcBef>
                <a:spcPts val="200"/>
              </a:spcBef>
              <a:buNone/>
            </a:pPr>
            <a:r>
              <a:rPr lang="ja-JP" sz="1200" dirty="0">
                <a:solidFill>
                  <a:srgbClr val="333333"/>
                </a:solidFill>
                <a:latin typeface="メイリオ" panose="020B0604030504040204" pitchFamily="50" charset="-128"/>
                <a:ea typeface="メイリオ" panose="020B0604030504040204" pitchFamily="50" charset="-128"/>
              </a:rPr>
              <a:t>API連携の有無が今後のデータ活用</a:t>
            </a:r>
            <a:r>
              <a:rPr lang="ja-JP" altLang="en-US" sz="1200" dirty="0">
                <a:solidFill>
                  <a:srgbClr val="333333"/>
                </a:solidFill>
                <a:latin typeface="メイリオ" panose="020B0604030504040204" pitchFamily="50" charset="-128"/>
                <a:ea typeface="メイリオ" panose="020B0604030504040204" pitchFamily="50" charset="-128"/>
              </a:rPr>
              <a:t>や、詳細なセグメント設定</a:t>
            </a:r>
            <a:r>
              <a:rPr lang="ja-JP" sz="1200" dirty="0">
                <a:solidFill>
                  <a:srgbClr val="333333"/>
                </a:solidFill>
                <a:latin typeface="メイリオ" panose="020B0604030504040204" pitchFamily="50" charset="-128"/>
                <a:ea typeface="メイリオ" panose="020B0604030504040204" pitchFamily="50" charset="-128"/>
              </a:rPr>
              <a:t>を左右する</a:t>
            </a:r>
            <a:r>
              <a:rPr lang="ja-JP" altLang="en-US" sz="1200" dirty="0">
                <a:solidFill>
                  <a:srgbClr val="333333"/>
                </a:solidFill>
                <a:latin typeface="メイリオ" panose="020B0604030504040204" pitchFamily="50" charset="-128"/>
                <a:ea typeface="メイリオ" panose="020B0604030504040204" pitchFamily="50" charset="-128"/>
              </a:rPr>
              <a:t>。</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200" dirty="0">
                <a:solidFill>
                  <a:srgbClr val="333333"/>
                </a:solidFill>
                <a:latin typeface="メイリオ" panose="020B0604030504040204" pitchFamily="50" charset="-128"/>
                <a:ea typeface="メイリオ" panose="020B0604030504040204" pitchFamily="50" charset="-128"/>
              </a:rPr>
              <a:t>ユーザーアンケートを活用して、利用ステータスやユーザー情報の回収→配信に活用といったフローを踏みたいところ。</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23" name="LeftBody">
            <a:extLst>
              <a:ext uri="{FF2B5EF4-FFF2-40B4-BE49-F238E27FC236}">
                <a16:creationId xmlns:a16="http://schemas.microsoft.com/office/drawing/2014/main" id="{359AC927-F2C5-652F-EEA1-6D298DADB703}"/>
              </a:ext>
            </a:extLst>
          </p:cNvPr>
          <p:cNvSpPr txBox="1"/>
          <p:nvPr/>
        </p:nvSpPr>
        <p:spPr>
          <a:xfrm>
            <a:off x="381000" y="1701738"/>
            <a:ext cx="4445000" cy="980502"/>
          </a:xfrm>
          <a:prstGeom prst="rect">
            <a:avLst/>
          </a:prstGeom>
          <a:solidFill>
            <a:srgbClr val="F5F7FA"/>
          </a:solidFill>
          <a:ln w="6350">
            <a:solidFill>
              <a:srgbClr val="D1D8E0"/>
            </a:solidFill>
          </a:ln>
        </p:spPr>
        <p:txBody>
          <a:bodyPr wrap="square" lIns="177800" tIns="152400" rIns="177800" bIns="1524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200" dirty="0">
                <a:solidFill>
                  <a:srgbClr val="333333"/>
                </a:solidFill>
                <a:latin typeface="メイリオ" panose="020B0604030504040204" pitchFamily="50" charset="-128"/>
                <a:ea typeface="メイリオ" panose="020B0604030504040204" pitchFamily="50" charset="-128"/>
              </a:rPr>
              <a:t>コストが最小限に抑えられる</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en-US" altLang="ja-JP" sz="1200" b="1" dirty="0">
              <a:solidFill>
                <a:srgbClr val="333333"/>
              </a:solidFill>
              <a:latin typeface="メイリオ" panose="020B0604030504040204" pitchFamily="50" charset="-128"/>
              <a:ea typeface="メイリオ" panose="020B0604030504040204" pitchFamily="50" charset="-128"/>
            </a:endParaRPr>
          </a:p>
        </p:txBody>
      </p:sp>
      <p:sp>
        <p:nvSpPr>
          <p:cNvPr id="25" name="RightBody">
            <a:extLst>
              <a:ext uri="{FF2B5EF4-FFF2-40B4-BE49-F238E27FC236}">
                <a16:creationId xmlns:a16="http://schemas.microsoft.com/office/drawing/2014/main" id="{5C2B33B3-486B-54AD-7340-8E91653B11C6}"/>
              </a:ext>
            </a:extLst>
          </p:cNvPr>
          <p:cNvSpPr txBox="1"/>
          <p:nvPr/>
        </p:nvSpPr>
        <p:spPr>
          <a:xfrm>
            <a:off x="5080000" y="1701738"/>
            <a:ext cx="4445000" cy="980502"/>
          </a:xfrm>
          <a:prstGeom prst="rect">
            <a:avLst/>
          </a:prstGeom>
          <a:solidFill>
            <a:srgbClr val="FFFFFF"/>
          </a:solidFill>
          <a:ln w="12700">
            <a:solidFill>
              <a:srgbClr val="00B050"/>
            </a:solidFill>
          </a:ln>
        </p:spPr>
        <p:txBody>
          <a:bodyPr wrap="square" lIns="177800" tIns="152400" rIns="177800" bIns="152400" anchor="t"/>
          <a:lstStyle/>
          <a:p>
            <a:pPr>
              <a:buNone/>
            </a:pPr>
            <a:r>
              <a:rPr lang="ja-JP" sz="12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API連携を前提としたステップ配信に強み</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セグメント配信・タグ管理も柔軟に設計可能</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1" name="LeftBody">
            <a:extLst>
              <a:ext uri="{FF2B5EF4-FFF2-40B4-BE49-F238E27FC236}">
                <a16:creationId xmlns:a16="http://schemas.microsoft.com/office/drawing/2014/main" id="{C22CD48D-CDD7-8246-0A2F-0204B2112294}"/>
              </a:ext>
            </a:extLst>
          </p:cNvPr>
          <p:cNvSpPr txBox="1"/>
          <p:nvPr/>
        </p:nvSpPr>
        <p:spPr>
          <a:xfrm>
            <a:off x="396857" y="2743201"/>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200" b="1" dirty="0">
                <a:solidFill>
                  <a:srgbClr val="1F2A5C"/>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200" dirty="0">
                <a:solidFill>
                  <a:srgbClr val="333333"/>
                </a:solidFill>
                <a:latin typeface="メイリオ" panose="020B0604030504040204" pitchFamily="50" charset="-128"/>
                <a:ea typeface="メイリオ" panose="020B0604030504040204" pitchFamily="50" charset="-128"/>
              </a:rPr>
              <a:t>顧客情報を活かしたセグメント配信が可能</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altLang="en-US" sz="1200" dirty="0">
                <a:solidFill>
                  <a:srgbClr val="333333"/>
                </a:solidFill>
                <a:latin typeface="メイリオ" panose="020B0604030504040204" pitchFamily="50" charset="-128"/>
                <a:ea typeface="メイリオ" panose="020B0604030504040204" pitchFamily="50" charset="-128"/>
              </a:rPr>
              <a:t>画一的な管理であれば導入が可能</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3" name="RightBody">
            <a:extLst>
              <a:ext uri="{FF2B5EF4-FFF2-40B4-BE49-F238E27FC236}">
                <a16:creationId xmlns:a16="http://schemas.microsoft.com/office/drawing/2014/main" id="{33E816DC-7F71-9436-3A2A-835086253EF7}"/>
              </a:ext>
            </a:extLst>
          </p:cNvPr>
          <p:cNvSpPr txBox="1"/>
          <p:nvPr/>
        </p:nvSpPr>
        <p:spPr>
          <a:xfrm>
            <a:off x="5095857" y="2743201"/>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200" b="1" dirty="0">
                <a:solidFill>
                  <a:srgbClr val="00B050"/>
                </a:solidFill>
                <a:latin typeface="メイリオ" panose="020B0604030504040204" pitchFamily="50" charset="-128"/>
                <a:ea typeface="メイリオ" panose="020B0604030504040204" pitchFamily="50" charset="-128"/>
              </a:rPr>
              <a:t>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経過日数・タグ条件を組み合わせた配信設計が可能</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API連携により外部データとの連携もしやすい</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5" name="LeftBody">
            <a:extLst>
              <a:ext uri="{FF2B5EF4-FFF2-40B4-BE49-F238E27FC236}">
                <a16:creationId xmlns:a16="http://schemas.microsoft.com/office/drawing/2014/main" id="{C28C8264-FFE5-64B4-9624-4781A568525A}"/>
              </a:ext>
            </a:extLst>
          </p:cNvPr>
          <p:cNvSpPr txBox="1"/>
          <p:nvPr/>
        </p:nvSpPr>
        <p:spPr>
          <a:xfrm>
            <a:off x="396857" y="3784664"/>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2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200" dirty="0">
                <a:solidFill>
                  <a:srgbClr val="333333"/>
                </a:solidFill>
                <a:latin typeface="メイリオ" panose="020B0604030504040204" pitchFamily="50" charset="-128"/>
                <a:ea typeface="メイリオ" panose="020B0604030504040204" pitchFamily="50" charset="-128"/>
              </a:rPr>
              <a:t>現状LINEとAPI連携ができておらず、データ活用が限定的</a:t>
            </a:r>
          </a:p>
        </p:txBody>
      </p:sp>
      <p:sp>
        <p:nvSpPr>
          <p:cNvPr id="37" name="RightBody">
            <a:extLst>
              <a:ext uri="{FF2B5EF4-FFF2-40B4-BE49-F238E27FC236}">
                <a16:creationId xmlns:a16="http://schemas.microsoft.com/office/drawing/2014/main" id="{CD03D279-8570-6C99-6FEA-8EDFE942CC76}"/>
              </a:ext>
            </a:extLst>
          </p:cNvPr>
          <p:cNvSpPr txBox="1"/>
          <p:nvPr/>
        </p:nvSpPr>
        <p:spPr>
          <a:xfrm>
            <a:off x="5095857" y="3784664"/>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200" b="1" dirty="0">
                <a:solidFill>
                  <a:srgbClr val="00B050"/>
                </a:solidFill>
                <a:latin typeface="メイリオ" panose="020B0604030504040204" pitchFamily="50" charset="-128"/>
                <a:ea typeface="メイリオ" panose="020B0604030504040204" pitchFamily="50" charset="-128"/>
              </a:rPr>
              <a:t>デメリット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移行には初期設定・データ移行の工数が発生</a:t>
            </a:r>
          </a:p>
        </p:txBody>
      </p:sp>
    </p:spTree>
    <p:extLst>
      <p:ext uri="{BB962C8B-B14F-4D97-AF65-F5344CB8AC3E}">
        <p14:creationId xmlns:p14="http://schemas.microsoft.com/office/powerpoint/2010/main" val="41613873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507335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50AF59C-8025-B190-6ED3-B311D27BA69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業界平均値</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b="1">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b="1"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 </a:t>
            </a:r>
            <a:r>
              <a:rPr lang="en-US" altLang="ja-JP" sz="1000" dirty="0">
                <a:solidFill>
                  <a:srgbClr val="FF0000"/>
                </a:solidFill>
                <a:highlight>
                  <a:srgbClr val="FFFF00"/>
                </a:highlight>
                <a:latin typeface="メイリオ" panose="020B0604030504040204" pitchFamily="50" charset="-128"/>
                <a:ea typeface="メイリオ" panose="020B0604030504040204" pitchFamily="50" charset="-128"/>
              </a:rPr>
              <a:t>※CVR</a:t>
            </a:r>
            <a:r>
              <a:rPr lang="ja-JP" altLang="en-US" sz="1000" dirty="0">
                <a:solidFill>
                  <a:srgbClr val="FF0000"/>
                </a:solidFill>
                <a:highlight>
                  <a:srgbClr val="FFFF00"/>
                </a:highlight>
                <a:latin typeface="メイリオ" panose="020B0604030504040204" pitchFamily="50" charset="-128"/>
                <a:ea typeface="メイリオ" panose="020B0604030504040204" pitchFamily="50" charset="-128"/>
              </a:rPr>
              <a:t>ではない</a:t>
            </a:r>
            <a:endParaRPr kumimoji="1" lang="ja-JP" altLang="en-US" sz="1000" dirty="0">
              <a:solidFill>
                <a:srgbClr val="FF0000"/>
              </a:solidFill>
              <a:highlight>
                <a:srgbClr val="FFFF00"/>
              </a:highlight>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82CD4DCC-2C80-6383-8368-FB0A87EC66CA}"/>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公式</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の友だち追加ユーザーが成果地点（</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 </a:t>
            </a:r>
            <a:r>
              <a:rPr lang="en-US" altLang="ja-JP" sz="800" b="1" dirty="0">
                <a:solidFill>
                  <a:srgbClr val="FF0000"/>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業界業態・地点により変動   </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に到達する割合は</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通算で３</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前後と言われており、</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動線を最適化することはマーケティングにおける重要度が高い。</a:t>
            </a:r>
            <a:endParaRPr lang="en-US" altLang="ja-JP" sz="1400" b="1" dirty="0">
              <a:solidFill>
                <a:srgbClr val="FF0000"/>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6518251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3167381"/>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の初期構築と効果の最大化</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3204084"/>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759311"/>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4180114"/>
            <a:ext cx="8898070" cy="2285834"/>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・豊富な弊社実績を活用した配信設計の構築</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企画投稿</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弊社の豊富な実績や市場調査を活かし、最適なタイミングで最適なメッセージを送付し</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また、職種・年収コンテンツの展開でサービス理解度を引き上げ、来店意欲</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UP</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を狙う。</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・フェーズ毎に戦略を変えることで来店意欲の醸成</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動線・セグメント設定</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設定セグメント・ターゲティングを変化させ複数回違う訴求にて接触。</a:t>
            </a:r>
            <a:endParaRPr lang="en-US" altLang="ja-JP" sz="1400" dirty="0">
              <a:solidFill>
                <a:schemeClr val="tx2">
                  <a:lumMod val="75000"/>
                </a:schemeClr>
              </a:solidFill>
              <a:latin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・売上計測環境の整備及び</a:t>
            </a:r>
            <a:r>
              <a:rPr lang="en-US" altLang="ja-JP" sz="1600" b="1" dirty="0" err="1">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GoogleAnalytics</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の整備</a:t>
            </a:r>
            <a:endPar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タグを整備することで</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経由の成果可視化を実行。</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企画・動線ごとに成果を可視化し、訴求テストなどを実施しながら効率化を図る。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5"/>
            <a:ext cx="8898070" cy="1021153"/>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①離脱ユーザーの再育成（再アプローチ）による</a:t>
            </a:r>
            <a:r>
              <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数増加 </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②応募に至らない検討ユーザーの面談化 → 就業サポート</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中長期施策として展開予定</a:t>
            </a:r>
            <a:endParaRPr lang="en-US" altLang="ja-JP"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1513433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DCB94-34C8-7DB0-D6CB-991D39D9B9D2}"/>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想定の費用対効果</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Meta広告の目的を「応募獲得」から「友だち獲得」へ切り替える（広告費は据え置き）。</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3798144" cy="201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6000" y="1710000"/>
            <a:ext cx="3510143" cy="216000"/>
          </a:xfrm>
          <a:prstGeom prst="rect">
            <a:avLst/>
          </a:prstGeom>
          <a:noFill/>
        </p:spPr>
        <p:txBody>
          <a:bodyPr wrap="square" lIns="50400" rIns="50400" tIns="21600" bIns="21600" anchor="ctr">
            <a:spAutoFit/>
          </a:bodyPr>
          <a:lstStyle/>
          <a:p>
            <a:pPr algn="l"/>
            <a:r>
              <a:rPr sz="1200" b="1">
                <a:solidFill>
                  <a:srgbClr val="1F285A"/>
                </a:solidFill>
                <a:latin typeface="メイリオ"/>
                <a:ea typeface="メイリオ"/>
                <a:cs typeface="メイリオ"/>
              </a:rPr>
              <a:t>費用（税抜）</a:t>
            </a:r>
          </a:p>
        </p:txBody>
      </p:sp>
      <p:sp>
        <p:nvSpPr>
          <p:cNvPr id="7" name="TextBox 6"/>
          <p:cNvSpPr txBox="1"/>
          <p:nvPr/>
        </p:nvSpPr>
        <p:spPr>
          <a:xfrm>
            <a:off x="576000" y="1961999"/>
            <a:ext cx="3510143" cy="1584000"/>
          </a:xfrm>
          <a:prstGeom prst="rect">
            <a:avLst/>
          </a:prstGeom>
          <a:noFill/>
        </p:spPr>
        <p:txBody>
          <a:bodyPr wrap="square" lIns="50400" rIns="50400" tIns="21600" bIns="21600" anchor="t">
            <a:spAutoFit/>
          </a:bodyPr>
          <a:lstStyle/>
          <a:p>
            <a:pPr algn="l">
              <a:spcAft>
                <a:spcPts val="200"/>
              </a:spcAft>
            </a:pPr>
            <a:r>
              <a:rPr sz="1100" b="1">
                <a:solidFill>
                  <a:srgbClr val="333333"/>
                </a:solidFill>
                <a:latin typeface="メイリオ"/>
                <a:ea typeface="メイリオ"/>
                <a:cs typeface="メイリオ"/>
              </a:rPr>
              <a:t>初期　</a:t>
            </a:r>
            <a:r>
              <a:rPr sz="1600" b="1">
                <a:solidFill>
                  <a:srgbClr val="ED7D31"/>
                </a:solidFill>
                <a:latin typeface="メイリオ"/>
                <a:ea typeface="メイリオ"/>
                <a:cs typeface="メイリオ"/>
              </a:rPr>
              <a:t>24.5万円</a:t>
            </a:r>
          </a:p>
          <a:p>
            <a:pPr algn="l">
              <a:spcAft>
                <a:spcPts val="800"/>
              </a:spcAft>
            </a:pPr>
            <a:r>
              <a:rPr sz="900">
                <a:solidFill>
                  <a:srgbClr val="7F7F7F"/>
                </a:solidFill>
                <a:latin typeface="メイリオ"/>
                <a:ea typeface="メイリオ"/>
                <a:cs typeface="メイリオ"/>
              </a:rPr>
              <a:t>　構築20万＋離脱防止1.5万＋アカウント3万</a:t>
            </a:r>
          </a:p>
          <a:p>
            <a:pPr algn="l">
              <a:spcAft>
                <a:spcPts val="200"/>
              </a:spcAft>
            </a:pPr>
            <a:r>
              <a:rPr sz="1100" b="1">
                <a:solidFill>
                  <a:srgbClr val="333333"/>
                </a:solidFill>
                <a:latin typeface="メイリオ"/>
                <a:ea typeface="メイリオ"/>
                <a:cs typeface="メイリオ"/>
              </a:rPr>
              <a:t>月次　</a:t>
            </a:r>
            <a:r>
              <a:rPr sz="1600" b="1">
                <a:solidFill>
                  <a:srgbClr val="ED7D31"/>
                </a:solidFill>
                <a:latin typeface="メイリオ"/>
                <a:ea typeface="メイリオ"/>
                <a:cs typeface="メイリオ"/>
              </a:rPr>
              <a:t>10.5万円</a:t>
            </a:r>
          </a:p>
          <a:p>
            <a:pPr algn="l">
              <a:spcAft>
                <a:spcPts val="800"/>
              </a:spcAft>
            </a:pPr>
            <a:r>
              <a:rPr sz="900">
                <a:solidFill>
                  <a:srgbClr val="7F7F7F"/>
                </a:solidFill>
                <a:latin typeface="メイリオ"/>
                <a:ea typeface="メイリオ"/>
                <a:cs typeface="メイリオ"/>
              </a:rPr>
              <a:t>　コンサル7万＋離脱防止3万＋アカウント費5千</a:t>
            </a:r>
          </a:p>
          <a:p>
            <a:pPr algn="l">
              <a:spcAft>
                <a:spcPts val="200"/>
              </a:spcAft>
            </a:pPr>
            <a:r>
              <a:rPr sz="1100" b="1">
                <a:solidFill>
                  <a:srgbClr val="333333"/>
                </a:solidFill>
                <a:latin typeface="メイリオ"/>
                <a:ea typeface="メイリオ"/>
                <a:cs typeface="メイリオ"/>
              </a:rPr>
              <a:t>CPF広告費　</a:t>
            </a:r>
            <a:r>
              <a:rPr sz="1300" b="1">
                <a:solidFill>
                  <a:srgbClr val="333333"/>
                </a:solidFill>
                <a:latin typeface="メイリオ"/>
                <a:ea typeface="メイリオ"/>
                <a:cs typeface="メイリオ"/>
              </a:rPr>
              <a:t>月20.8万円</a:t>
            </a:r>
          </a:p>
          <a:p>
            <a:pPr algn="l"/>
            <a:r>
              <a:rPr sz="900">
                <a:solidFill>
                  <a:srgbClr val="7F7F7F"/>
                </a:solidFill>
                <a:latin typeface="メイリオ"/>
                <a:ea typeface="メイリオ"/>
                <a:cs typeface="メイリオ"/>
              </a:rPr>
              <a:t>　既存Meta予算（年250万）の転用＝追加出費ゼロ</a:t>
            </a:r>
          </a:p>
        </p:txBody>
      </p:sp>
      <p:sp>
        <p:nvSpPr>
          <p:cNvPr id="8" name="Rounded Rectangle 7"/>
          <p:cNvSpPr/>
          <p:nvPr/>
        </p:nvSpPr>
        <p:spPr>
          <a:xfrm>
            <a:off x="4374144" y="1620000"/>
            <a:ext cx="5101056" cy="201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8144" y="1710000"/>
            <a:ext cx="4813056" cy="216000"/>
          </a:xfrm>
          <a:prstGeom prst="rect">
            <a:avLst/>
          </a:prstGeom>
          <a:noFill/>
        </p:spPr>
        <p:txBody>
          <a:bodyPr wrap="square" lIns="50400" rIns="50400" tIns="21600" bIns="21600" anchor="ctr">
            <a:spAutoFit/>
          </a:bodyPr>
          <a:lstStyle/>
          <a:p>
            <a:pPr algn="l"/>
            <a:r>
              <a:rPr sz="1200" b="1">
                <a:solidFill>
                  <a:srgbClr val="1F285A"/>
                </a:solidFill>
                <a:latin typeface="メイリオ"/>
                <a:ea typeface="メイリオ"/>
                <a:cs typeface="メイリオ"/>
              </a:rPr>
              <a:t>効果（6ヶ月・シミュレーション）</a:t>
            </a:r>
          </a:p>
        </p:txBody>
      </p:sp>
      <p:sp>
        <p:nvSpPr>
          <p:cNvPr id="10" name="TextBox 9"/>
          <p:cNvSpPr txBox="1"/>
          <p:nvPr/>
        </p:nvSpPr>
        <p:spPr>
          <a:xfrm>
            <a:off x="4518144" y="2015999"/>
            <a:ext cx="2334528" cy="216000"/>
          </a:xfrm>
          <a:prstGeom prst="rect">
            <a:avLst/>
          </a:prstGeom>
          <a:noFill/>
        </p:spPr>
        <p:txBody>
          <a:bodyPr wrap="square" lIns="50400" rIns="50400" tIns="21600" bIns="21600" anchor="ctr">
            <a:spAutoFit/>
          </a:bodyPr>
          <a:lstStyle/>
          <a:p>
            <a:pPr algn="ctr"/>
            <a:r>
              <a:rPr sz="1050" b="1">
                <a:solidFill>
                  <a:srgbClr val="333333"/>
                </a:solidFill>
                <a:latin typeface="メイリオ"/>
                <a:ea typeface="メイリオ"/>
                <a:cs typeface="メイリオ"/>
              </a:rPr>
              <a:t>面談・応募</a:t>
            </a:r>
          </a:p>
        </p:txBody>
      </p:sp>
      <p:sp>
        <p:nvSpPr>
          <p:cNvPr id="11" name="TextBox 10"/>
          <p:cNvSpPr txBox="1"/>
          <p:nvPr/>
        </p:nvSpPr>
        <p:spPr>
          <a:xfrm>
            <a:off x="4518144" y="2231999"/>
            <a:ext cx="2334528" cy="468000"/>
          </a:xfrm>
          <a:prstGeom prst="rect">
            <a:avLst/>
          </a:prstGeom>
          <a:noFill/>
        </p:spPr>
        <p:txBody>
          <a:bodyPr wrap="square" lIns="50400" rIns="50400" tIns="21600" bIns="21600" anchor="ctr">
            <a:spAutoFit/>
          </a:bodyPr>
          <a:lstStyle/>
          <a:p>
            <a:pPr algn="ctr"/>
            <a:r>
              <a:rPr sz="3000" b="1">
                <a:solidFill>
                  <a:srgbClr val="ED7D31"/>
                </a:solidFill>
                <a:latin typeface="メイリオ"/>
                <a:ea typeface="メイリオ"/>
                <a:cs typeface="メイリオ"/>
              </a:rPr>
              <a:t>196件</a:t>
            </a:r>
          </a:p>
        </p:txBody>
      </p:sp>
      <p:sp>
        <p:nvSpPr>
          <p:cNvPr id="12" name="TextBox 11"/>
          <p:cNvSpPr txBox="1"/>
          <p:nvPr/>
        </p:nvSpPr>
        <p:spPr>
          <a:xfrm>
            <a:off x="6996671" y="2015999"/>
            <a:ext cx="2334528" cy="216000"/>
          </a:xfrm>
          <a:prstGeom prst="rect">
            <a:avLst/>
          </a:prstGeom>
          <a:noFill/>
        </p:spPr>
        <p:txBody>
          <a:bodyPr wrap="square" lIns="50400" rIns="50400" tIns="21600" bIns="21600" anchor="ctr">
            <a:spAutoFit/>
          </a:bodyPr>
          <a:lstStyle/>
          <a:p>
            <a:pPr algn="ctr"/>
            <a:r>
              <a:rPr sz="1050" b="1">
                <a:solidFill>
                  <a:srgbClr val="333333"/>
                </a:solidFill>
                <a:latin typeface="メイリオ"/>
                <a:ea typeface="メイリオ"/>
                <a:cs typeface="メイリオ"/>
              </a:rPr>
              <a:t>獲得単価（累計CPA）</a:t>
            </a:r>
          </a:p>
        </p:txBody>
      </p:sp>
      <p:sp>
        <p:nvSpPr>
          <p:cNvPr id="13" name="TextBox 12"/>
          <p:cNvSpPr txBox="1"/>
          <p:nvPr/>
        </p:nvSpPr>
        <p:spPr>
          <a:xfrm>
            <a:off x="6996671" y="2231999"/>
            <a:ext cx="2334528" cy="468000"/>
          </a:xfrm>
          <a:prstGeom prst="rect">
            <a:avLst/>
          </a:prstGeom>
          <a:noFill/>
        </p:spPr>
        <p:txBody>
          <a:bodyPr wrap="square" lIns="50400" rIns="50400" tIns="21600" bIns="21600" anchor="ctr">
            <a:spAutoFit/>
          </a:bodyPr>
          <a:lstStyle/>
          <a:p>
            <a:pPr algn="ctr"/>
            <a:r>
              <a:rPr sz="2600" b="1">
                <a:solidFill>
                  <a:srgbClr val="ED7D31"/>
                </a:solidFill>
                <a:latin typeface="メイリオ"/>
                <a:ea typeface="メイリオ"/>
                <a:cs typeface="メイリオ"/>
              </a:rPr>
              <a:t>11,036円</a:t>
            </a:r>
          </a:p>
        </p:txBody>
      </p:sp>
      <p:sp>
        <p:nvSpPr>
          <p:cNvPr id="14" name="TextBox 13"/>
          <p:cNvSpPr txBox="1"/>
          <p:nvPr/>
        </p:nvSpPr>
        <p:spPr>
          <a:xfrm>
            <a:off x="4518144" y="2808000"/>
            <a:ext cx="4813056" cy="756000"/>
          </a:xfrm>
          <a:prstGeom prst="rect">
            <a:avLst/>
          </a:prstGeom>
          <a:noFill/>
        </p:spPr>
        <p:txBody>
          <a:bodyPr wrap="square" lIns="50400" rIns="50400" tIns="21600" bIns="21600" anchor="t">
            <a:spAutoFit/>
          </a:bodyPr>
          <a:lstStyle/>
          <a:p>
            <a:pPr algn="l">
              <a:lnSpc>
                <a:spcPct val="130000"/>
              </a:lnSpc>
              <a:spcAft>
                <a:spcPts val="300"/>
              </a:spcAft>
            </a:pPr>
            <a:r>
              <a:rPr sz="1050" b="1">
                <a:solidFill>
                  <a:srgbClr val="333333"/>
                </a:solidFill>
                <a:latin typeface="メイリオ"/>
                <a:ea typeface="メイリオ"/>
                <a:cs typeface="メイリオ"/>
              </a:rPr>
              <a:t>現状の整備士CPA 6万円・目標2〜2.5万円に対し、大幅に下回る水準。</a:t>
            </a:r>
          </a:p>
          <a:p>
            <a:pPr algn="l">
              <a:lnSpc>
                <a:spcPct val="130000"/>
              </a:lnSpc>
              <a:spcAft>
                <a:spcPts val="300"/>
              </a:spcAft>
            </a:pPr>
            <a:r>
              <a:rPr sz="950">
                <a:solidFill>
                  <a:srgbClr val="333333"/>
                </a:solidFill>
                <a:latin typeface="メイリオ"/>
                <a:ea typeface="メイリオ"/>
                <a:cs typeface="メイリオ"/>
              </a:rPr>
              <a:t>6ヶ月目の単月CPAは8,730円まで低下（友だち資産の積み上がりによる）。</a:t>
            </a:r>
          </a:p>
          <a:p>
            <a:pPr algn="l">
              <a:lnSpc>
                <a:spcPct val="130000"/>
              </a:lnSpc>
            </a:pPr>
            <a:r>
              <a:rPr sz="850">
                <a:solidFill>
                  <a:srgbClr val="7F7F7F"/>
                </a:solidFill>
                <a:latin typeface="メイリオ"/>
                <a:ea typeface="メイリオ"/>
                <a:cs typeface="メイリオ"/>
              </a:rPr>
              <a:t>参考：CPFを使わない場合＝6ヶ月42件・累計CPA 20,833円</a:t>
            </a:r>
          </a:p>
        </p:txBody>
      </p:sp>
      <p:sp>
        <p:nvSpPr>
          <p:cNvPr id="15" name="TextBox 14"/>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SIM①（CPFあり・コンサル運営）より。前提：UU3,215（SimilarWeb推計）・CPF単価280円ほか仮置き値を含む。実績値をいただき次第、再試算</a:t>
            </a:r>
          </a:p>
        </p:txBody>
      </p:sp>
    </p:spTree>
    <p:extLst>
      <p:ext uri="{BB962C8B-B14F-4D97-AF65-F5344CB8AC3E}">
        <p14:creationId xmlns:p14="http://schemas.microsoft.com/office/powerpoint/2010/main" val="26585262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公式実績【求人・人材 × LINE】</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LINEヤフー社の公式導入事例より（いずれも実名・公開情報）。</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4431600" cy="187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76000" y="1728000"/>
            <a:ext cx="4143600" cy="216000"/>
          </a:xfrm>
          <a:prstGeom prst="rect">
            <a:avLst/>
          </a:prstGeom>
          <a:noFill/>
        </p:spPr>
        <p:txBody>
          <a:bodyPr wrap="square" lIns="50400" rIns="50400" tIns="21600" bIns="21600" anchor="ctr">
            <a:spAutoFit/>
          </a:bodyPr>
          <a:lstStyle/>
          <a:p>
            <a:pPr algn="l"/>
            <a:r>
              <a:rPr sz="1200" b="1">
                <a:solidFill>
                  <a:srgbClr val="1F285A"/>
                </a:solidFill>
                <a:latin typeface="メイリオ"/>
                <a:ea typeface="メイリオ"/>
                <a:cs typeface="メイリオ"/>
              </a:rPr>
              <a:t>UZUZ（20代の就職・転職サポート）</a:t>
            </a:r>
          </a:p>
        </p:txBody>
      </p:sp>
      <p:sp>
        <p:nvSpPr>
          <p:cNvPr id="7" name="TextBox 6"/>
          <p:cNvSpPr txBox="1"/>
          <p:nvPr/>
        </p:nvSpPr>
        <p:spPr>
          <a:xfrm>
            <a:off x="576000" y="1980000"/>
            <a:ext cx="4143600" cy="216000"/>
          </a:xfrm>
          <a:prstGeom prst="rect">
            <a:avLst/>
          </a:prstGeom>
          <a:noFill/>
        </p:spPr>
        <p:txBody>
          <a:bodyPr wrap="square" lIns="50400" rIns="50400" tIns="21600" bIns="21600" anchor="ctr">
            <a:spAutoFit/>
          </a:bodyPr>
          <a:lstStyle/>
          <a:p>
            <a:pPr algn="ctr"/>
            <a:r>
              <a:rPr sz="1050">
                <a:solidFill>
                  <a:srgbClr val="333333"/>
                </a:solidFill>
                <a:latin typeface="メイリオ"/>
                <a:ea typeface="メイリオ"/>
                <a:cs typeface="メイリオ"/>
              </a:rPr>
              <a:t>LINE経由の面談予約率</a:t>
            </a:r>
          </a:p>
        </p:txBody>
      </p:sp>
      <p:sp>
        <p:nvSpPr>
          <p:cNvPr id="8" name="TextBox 7"/>
          <p:cNvSpPr txBox="1"/>
          <p:nvPr/>
        </p:nvSpPr>
        <p:spPr>
          <a:xfrm>
            <a:off x="576000" y="2196000"/>
            <a:ext cx="4143600" cy="503999"/>
          </a:xfrm>
          <a:prstGeom prst="rect">
            <a:avLst/>
          </a:prstGeom>
          <a:noFill/>
        </p:spPr>
        <p:txBody>
          <a:bodyPr wrap="square" lIns="50400" rIns="50400" tIns="21600" bIns="21600" anchor="ctr">
            <a:spAutoFit/>
          </a:bodyPr>
          <a:lstStyle/>
          <a:p>
            <a:pPr algn="ctr"/>
            <a:r>
              <a:rPr sz="3400" b="1">
                <a:solidFill>
                  <a:srgbClr val="ED7D31"/>
                </a:solidFill>
                <a:latin typeface="メイリオ"/>
                <a:ea typeface="メイリオ"/>
                <a:cs typeface="メイリオ"/>
              </a:rPr>
              <a:t>55%</a:t>
            </a:r>
          </a:p>
        </p:txBody>
      </p:sp>
      <p:sp>
        <p:nvSpPr>
          <p:cNvPr id="9" name="TextBox 8"/>
          <p:cNvSpPr txBox="1"/>
          <p:nvPr/>
        </p:nvSpPr>
        <p:spPr>
          <a:xfrm>
            <a:off x="576000" y="2736000"/>
            <a:ext cx="4143600" cy="648000"/>
          </a:xfrm>
          <a:prstGeom prst="rect">
            <a:avLst/>
          </a:prstGeom>
          <a:noFill/>
        </p:spPr>
        <p:txBody>
          <a:bodyPr wrap="square" lIns="50400" rIns="50400" tIns="21600" bIns="21600" anchor="t">
            <a:spAutoFit/>
          </a:bodyPr>
          <a:lstStyle/>
          <a:p>
            <a:pPr algn="l">
              <a:lnSpc>
                <a:spcPct val="135000"/>
              </a:lnSpc>
              <a:spcAft>
                <a:spcPts val="200"/>
              </a:spcAft>
            </a:pPr>
            <a:r>
              <a:rPr sz="950">
                <a:solidFill>
                  <a:srgbClr val="333333"/>
                </a:solidFill>
                <a:latin typeface="メイリオ"/>
                <a:ea typeface="メイリオ"/>
                <a:cs typeface="メイリオ"/>
              </a:rPr>
              <a:t>・問い合わせの約3割がLINE経由。他チャネル比で高水準</a:t>
            </a:r>
          </a:p>
          <a:p>
            <a:pPr algn="l">
              <a:lnSpc>
                <a:spcPct val="135000"/>
              </a:lnSpc>
              <a:spcAft>
                <a:spcPts val="200"/>
              </a:spcAft>
            </a:pPr>
            <a:r>
              <a:rPr sz="950">
                <a:solidFill>
                  <a:srgbClr val="333333"/>
                </a:solidFill>
                <a:latin typeface="メイリオ"/>
                <a:ea typeface="メイリオ"/>
                <a:cs typeface="メイリオ"/>
              </a:rPr>
              <a:t>・友だち追加広告（CPF）の獲得単価 約300円</a:t>
            </a:r>
          </a:p>
          <a:p>
            <a:pPr algn="l">
              <a:lnSpc>
                <a:spcPct val="135000"/>
              </a:lnSpc>
            </a:pPr>
            <a:r>
              <a:rPr sz="950">
                <a:solidFill>
                  <a:srgbClr val="333333"/>
                </a:solidFill>
                <a:latin typeface="メイリオ"/>
                <a:ea typeface="メイリオ"/>
                <a:cs typeface="メイリオ"/>
              </a:rPr>
              <a:t>・チャットボットで求人紹介〜面談予約を自動化</a:t>
            </a:r>
          </a:p>
        </p:txBody>
      </p:sp>
      <p:sp>
        <p:nvSpPr>
          <p:cNvPr id="10" name="Rounded Rectangle 9"/>
          <p:cNvSpPr/>
          <p:nvPr/>
        </p:nvSpPr>
        <p:spPr>
          <a:xfrm>
            <a:off x="5043600" y="1620000"/>
            <a:ext cx="4431600" cy="187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87600" y="1728000"/>
            <a:ext cx="4143600" cy="216000"/>
          </a:xfrm>
          <a:prstGeom prst="rect">
            <a:avLst/>
          </a:prstGeom>
          <a:noFill/>
        </p:spPr>
        <p:txBody>
          <a:bodyPr wrap="square" lIns="50400" rIns="50400" tIns="21600" bIns="21600" anchor="ctr">
            <a:spAutoFit/>
          </a:bodyPr>
          <a:lstStyle/>
          <a:p>
            <a:pPr algn="l"/>
            <a:r>
              <a:rPr sz="1200" b="1">
                <a:solidFill>
                  <a:srgbClr val="1F285A"/>
                </a:solidFill>
                <a:latin typeface="メイリオ"/>
                <a:ea typeface="メイリオ"/>
                <a:cs typeface="メイリオ"/>
              </a:rPr>
              <a:t>タウンワーク（求人メディア）</a:t>
            </a:r>
          </a:p>
        </p:txBody>
      </p:sp>
      <p:sp>
        <p:nvSpPr>
          <p:cNvPr id="12" name="TextBox 11"/>
          <p:cNvSpPr txBox="1"/>
          <p:nvPr/>
        </p:nvSpPr>
        <p:spPr>
          <a:xfrm>
            <a:off x="5187600" y="1980000"/>
            <a:ext cx="4143600" cy="216000"/>
          </a:xfrm>
          <a:prstGeom prst="rect">
            <a:avLst/>
          </a:prstGeom>
          <a:noFill/>
        </p:spPr>
        <p:txBody>
          <a:bodyPr wrap="square" lIns="50400" rIns="50400" tIns="21600" bIns="21600" anchor="ctr">
            <a:spAutoFit/>
          </a:bodyPr>
          <a:lstStyle/>
          <a:p>
            <a:pPr algn="ctr"/>
            <a:r>
              <a:rPr sz="1050">
                <a:solidFill>
                  <a:srgbClr val="333333"/>
                </a:solidFill>
                <a:latin typeface="メイリオ"/>
                <a:ea typeface="メイリオ"/>
                <a:cs typeface="メイリオ"/>
              </a:rPr>
              <a:t>リッチメニュー経由の応募数</a:t>
            </a:r>
          </a:p>
        </p:txBody>
      </p:sp>
      <p:sp>
        <p:nvSpPr>
          <p:cNvPr id="13" name="TextBox 12"/>
          <p:cNvSpPr txBox="1"/>
          <p:nvPr/>
        </p:nvSpPr>
        <p:spPr>
          <a:xfrm>
            <a:off x="5187600" y="2196000"/>
            <a:ext cx="4143600" cy="503999"/>
          </a:xfrm>
          <a:prstGeom prst="rect">
            <a:avLst/>
          </a:prstGeom>
          <a:noFill/>
        </p:spPr>
        <p:txBody>
          <a:bodyPr wrap="square" lIns="50400" rIns="50400" tIns="21600" bIns="21600" anchor="ctr">
            <a:spAutoFit/>
          </a:bodyPr>
          <a:lstStyle/>
          <a:p>
            <a:pPr algn="ctr"/>
            <a:r>
              <a:rPr sz="3400" b="1">
                <a:solidFill>
                  <a:srgbClr val="ED7D31"/>
                </a:solidFill>
                <a:latin typeface="メイリオ"/>
                <a:ea typeface="メイリオ"/>
                <a:cs typeface="メイリオ"/>
              </a:rPr>
              <a:t>+79%</a:t>
            </a:r>
          </a:p>
        </p:txBody>
      </p:sp>
      <p:sp>
        <p:nvSpPr>
          <p:cNvPr id="14" name="TextBox 13"/>
          <p:cNvSpPr txBox="1"/>
          <p:nvPr/>
        </p:nvSpPr>
        <p:spPr>
          <a:xfrm>
            <a:off x="5187600" y="2736000"/>
            <a:ext cx="4143600" cy="648000"/>
          </a:xfrm>
          <a:prstGeom prst="rect">
            <a:avLst/>
          </a:prstGeom>
          <a:noFill/>
        </p:spPr>
        <p:txBody>
          <a:bodyPr wrap="square" lIns="50400" rIns="50400" tIns="21600" bIns="21600" anchor="t">
            <a:spAutoFit/>
          </a:bodyPr>
          <a:lstStyle/>
          <a:p>
            <a:pPr algn="l">
              <a:lnSpc>
                <a:spcPct val="135000"/>
              </a:lnSpc>
              <a:spcAft>
                <a:spcPts val="200"/>
              </a:spcAft>
            </a:pPr>
            <a:r>
              <a:rPr sz="950">
                <a:solidFill>
                  <a:srgbClr val="333333"/>
                </a:solidFill>
                <a:latin typeface="メイリオ"/>
                <a:ea typeface="メイリオ"/>
                <a:cs typeface="メイリオ"/>
              </a:rPr>
              <a:t>・リッチメニュー改善でタップ数+20%</a:t>
            </a:r>
          </a:p>
          <a:p>
            <a:pPr algn="l">
              <a:lnSpc>
                <a:spcPct val="135000"/>
              </a:lnSpc>
              <a:spcAft>
                <a:spcPts val="200"/>
              </a:spcAft>
            </a:pPr>
            <a:r>
              <a:rPr sz="950">
                <a:solidFill>
                  <a:srgbClr val="333333"/>
                </a:solidFill>
                <a:latin typeface="メイリオ"/>
                <a:ea typeface="メイリオ"/>
                <a:cs typeface="メイリオ"/>
              </a:rPr>
              <a:t>・その結果、メニュー経由の応募が79%向上</a:t>
            </a:r>
          </a:p>
          <a:p>
            <a:pPr algn="l">
              <a:lnSpc>
                <a:spcPct val="135000"/>
              </a:lnSpc>
            </a:pPr>
            <a:r>
              <a:rPr sz="950">
                <a:solidFill>
                  <a:srgbClr val="333333"/>
                </a:solidFill>
                <a:latin typeface="メイリオ"/>
                <a:ea typeface="メイリオ"/>
                <a:cs typeface="メイリオ"/>
              </a:rPr>
              <a:t>・入口設計への投資が応募数に直結した事例</a:t>
            </a:r>
          </a:p>
        </p:txBody>
      </p:sp>
      <p:sp>
        <p:nvSpPr>
          <p:cNvPr id="15" name="Rounded Rectangle 14"/>
          <p:cNvSpPr/>
          <p:nvPr/>
        </p:nvSpPr>
        <p:spPr>
          <a:xfrm>
            <a:off x="432000" y="3636000"/>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250" b="1">
                <a:solidFill>
                  <a:srgbClr val="FFFFFF"/>
                </a:solidFill>
                <a:latin typeface="メイリオ"/>
                <a:ea typeface="メイリオ"/>
                <a:cs typeface="メイリオ"/>
              </a:rPr>
              <a:t>「面談への近さ」と「入口設計の効果」。本提案の2本柱には、どちらも公式実績がある。</a:t>
            </a:r>
          </a:p>
        </p:txBody>
      </p:sp>
      <p:sp>
        <p:nvSpPr>
          <p:cNvPr id="16" name="TextBox 15"/>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出典：LINEヤフー for Business 導入事例（UZUZ／タウンワーク）。数値は各事例記事の公表値</a:t>
            </a:r>
          </a:p>
        </p:txBody>
      </p:sp>
    </p:spTree>
    <p:extLst>
      <p:ext uri="{BB962C8B-B14F-4D97-AF65-F5344CB8AC3E}">
        <p14:creationId xmlns:p14="http://schemas.microsoft.com/office/powerpoint/2010/main" val="37310312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A82F-6F2C-17B3-F79B-7B5B5CE9686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CFE6082-7D98-8143-1FF3-237252E680EE}"/>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954AB23-5BD2-D3D6-314F-6A94411406D6}"/>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724011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実施施策【14日間ステップ配信】</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友だち追加後14日間で、診断結果をもとに内容を出し分けながら面談へご案内する。</a:t>
            </a:r>
          </a:p>
          <a:p>
            <a:pPr algn="l">
              <a:lnSpc>
                <a:spcPct val="128000"/>
              </a:lnSpc>
            </a:pPr>
            <a:r>
              <a:rPr sz="1200">
                <a:solidFill>
                  <a:srgbClr val="333333"/>
                </a:solidFill>
                <a:latin typeface="メイリオ"/>
                <a:ea typeface="メイリオ"/>
                <a:cs typeface="メイリオ"/>
              </a:rPr>
              <a:t>売り込みは14日間で2回だけ。残りは「不安に先回りして答える」情報配信。</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179800" cy="251999"/>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ctr"/>
            <a:r>
              <a:rPr sz="950" b="1">
                <a:solidFill>
                  <a:srgbClr val="FFFFFF"/>
                </a:solidFill>
                <a:latin typeface="メイリオ"/>
                <a:ea typeface="メイリオ"/>
                <a:cs typeface="メイリオ"/>
              </a:rPr>
              <a:t>Day 0｜あいさつ＋30秒診断</a:t>
            </a:r>
          </a:p>
        </p:txBody>
      </p:sp>
      <p:sp>
        <p:nvSpPr>
          <p:cNvPr id="6" name="Rounded Rectangle 5"/>
          <p:cNvSpPr/>
          <p:nvPr/>
        </p:nvSpPr>
        <p:spPr>
          <a:xfrm>
            <a:off x="432000" y="1908000"/>
            <a:ext cx="2179800" cy="115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9200" rIns="64800" tIns="50400" bIns="36000"/>
          <a:lstStyle/>
          <a:p>
            <a:pPr algn="l">
              <a:spcAft>
                <a:spcPts val="300"/>
              </a:spcAft>
            </a:pPr>
            <a:r>
              <a:rPr sz="100" b="1">
                <a:solidFill>
                  <a:srgbClr val="1F285A"/>
                </a:solidFill>
                <a:latin typeface="メイリオ"/>
                <a:ea typeface="メイリオ"/>
                <a:cs typeface="メイリオ"/>
              </a:rPr>
              <a:t/>
            </a:r>
          </a:p>
          <a:p>
            <a:pPr algn="l">
              <a:lnSpc>
                <a:spcPct val="135000"/>
              </a:lnSpc>
              <a:spcAft>
                <a:spcPts val="100"/>
              </a:spcAft>
            </a:pPr>
            <a:r>
              <a:rPr sz="900">
                <a:solidFill>
                  <a:srgbClr val="333333"/>
                </a:solidFill>
                <a:latin typeface="メイリオ"/>
                <a:ea typeface="メイリオ"/>
                <a:cs typeface="メイリオ"/>
              </a:rPr>
              <a:t>「こちらから電話をかけることは</a:t>
            </a:r>
          </a:p>
          <a:p>
            <a:pPr algn="l">
              <a:lnSpc>
                <a:spcPct val="135000"/>
              </a:lnSpc>
              <a:spcAft>
                <a:spcPts val="100"/>
              </a:spcAft>
            </a:pPr>
            <a:r>
              <a:rPr sz="900">
                <a:solidFill>
                  <a:srgbClr val="333333"/>
                </a:solidFill>
                <a:latin typeface="メイリオ"/>
                <a:ea typeface="メイリオ"/>
                <a:cs typeface="メイリオ"/>
              </a:rPr>
              <a:t>ありません」を明言。</a:t>
            </a:r>
          </a:p>
          <a:p>
            <a:pPr algn="l">
              <a:lnSpc>
                <a:spcPct val="135000"/>
              </a:lnSpc>
              <a:spcAft>
                <a:spcPts val="100"/>
              </a:spcAft>
            </a:pPr>
            <a:r>
              <a:rPr sz="900">
                <a:solidFill>
                  <a:srgbClr val="333333"/>
                </a:solidFill>
                <a:latin typeface="メイリオ"/>
                <a:ea typeface="メイリオ"/>
                <a:cs typeface="メイリオ"/>
              </a:rPr>
              <a:t>職種・資格・温度感を4問で取得</a:t>
            </a:r>
          </a:p>
        </p:txBody>
      </p:sp>
      <p:sp>
        <p:nvSpPr>
          <p:cNvPr id="7" name="TextBox 6"/>
          <p:cNvSpPr txBox="1"/>
          <p:nvPr/>
        </p:nvSpPr>
        <p:spPr>
          <a:xfrm>
            <a:off x="2619000" y="2196000"/>
            <a:ext cx="108000" cy="288000"/>
          </a:xfrm>
          <a:prstGeom prst="rect">
            <a:avLst/>
          </a:prstGeom>
          <a:noFill/>
        </p:spPr>
        <p:txBody>
          <a:bodyPr wrap="square" lIns="50400" rIns="50400" tIns="21600" bIns="21600" anchor="ctr">
            <a:spAutoFit/>
          </a:bodyPr>
          <a:lstStyle/>
          <a:p>
            <a:pPr algn="ctr"/>
            <a:r>
              <a:rPr sz="1100" b="1">
                <a:solidFill>
                  <a:srgbClr val="7F7F7F"/>
                </a:solidFill>
                <a:latin typeface="メイリオ"/>
                <a:ea typeface="メイリオ"/>
                <a:cs typeface="メイリオ"/>
              </a:rPr>
              <a:t>→</a:t>
            </a:r>
          </a:p>
        </p:txBody>
      </p:sp>
      <p:sp>
        <p:nvSpPr>
          <p:cNvPr id="8" name="Rounded Rectangle 7"/>
          <p:cNvSpPr/>
          <p:nvPr/>
        </p:nvSpPr>
        <p:spPr>
          <a:xfrm>
            <a:off x="2719800" y="1620000"/>
            <a:ext cx="2179800" cy="251999"/>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ctr"/>
            <a:r>
              <a:rPr sz="950" b="1">
                <a:solidFill>
                  <a:srgbClr val="FFFFFF"/>
                </a:solidFill>
                <a:latin typeface="メイリオ"/>
                <a:ea typeface="メイリオ"/>
                <a:cs typeface="メイリオ"/>
              </a:rPr>
              <a:t>Day 3｜年収相場コンテンツ</a:t>
            </a:r>
          </a:p>
        </p:txBody>
      </p:sp>
      <p:sp>
        <p:nvSpPr>
          <p:cNvPr id="9" name="Rounded Rectangle 8"/>
          <p:cNvSpPr/>
          <p:nvPr/>
        </p:nvSpPr>
        <p:spPr>
          <a:xfrm>
            <a:off x="2719800" y="1908000"/>
            <a:ext cx="2179800" cy="115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9200" rIns="64800" tIns="50400" bIns="36000"/>
          <a:lstStyle/>
          <a:p>
            <a:pPr algn="l">
              <a:spcAft>
                <a:spcPts val="300"/>
              </a:spcAft>
            </a:pPr>
            <a:r>
              <a:rPr sz="100" b="1">
                <a:solidFill>
                  <a:srgbClr val="1F285A"/>
                </a:solidFill>
                <a:latin typeface="メイリオ"/>
                <a:ea typeface="メイリオ"/>
                <a:cs typeface="メイリオ"/>
              </a:rPr>
              <a:t/>
            </a:r>
          </a:p>
          <a:p>
            <a:pPr algn="l">
              <a:lnSpc>
                <a:spcPct val="135000"/>
              </a:lnSpc>
              <a:spcAft>
                <a:spcPts val="100"/>
              </a:spcAft>
            </a:pPr>
            <a:r>
              <a:rPr sz="900">
                <a:solidFill>
                  <a:srgbClr val="333333"/>
                </a:solidFill>
                <a:latin typeface="メイリオ"/>
                <a:ea typeface="メイリオ"/>
                <a:cs typeface="メイリオ"/>
              </a:rPr>
              <a:t>資格タグ別に出し分け。</a:t>
            </a:r>
          </a:p>
          <a:p>
            <a:pPr algn="l">
              <a:lnSpc>
                <a:spcPct val="135000"/>
              </a:lnSpc>
              <a:spcAft>
                <a:spcPts val="100"/>
              </a:spcAft>
            </a:pPr>
            <a:r>
              <a:rPr sz="900">
                <a:solidFill>
                  <a:srgbClr val="333333"/>
                </a:solidFill>
                <a:latin typeface="メイリオ"/>
                <a:ea typeface="メイリオ"/>
                <a:cs typeface="メイリオ"/>
              </a:rPr>
              <a:t>「2級整備士の年収には</a:t>
            </a:r>
          </a:p>
          <a:p>
            <a:pPr algn="l">
              <a:lnSpc>
                <a:spcPct val="135000"/>
              </a:lnSpc>
              <a:spcAft>
                <a:spcPts val="100"/>
              </a:spcAft>
            </a:pPr>
            <a:r>
              <a:rPr sz="900">
                <a:solidFill>
                  <a:srgbClr val="333333"/>
                </a:solidFill>
                <a:latin typeface="メイリオ"/>
                <a:ea typeface="メイリオ"/>
                <a:cs typeface="メイリオ"/>
              </a:rPr>
              <a:t>100万円以上の幅がある」</a:t>
            </a:r>
          </a:p>
        </p:txBody>
      </p:sp>
      <p:sp>
        <p:nvSpPr>
          <p:cNvPr id="10" name="TextBox 9"/>
          <p:cNvSpPr txBox="1"/>
          <p:nvPr/>
        </p:nvSpPr>
        <p:spPr>
          <a:xfrm>
            <a:off x="4906800" y="2196000"/>
            <a:ext cx="108000" cy="288000"/>
          </a:xfrm>
          <a:prstGeom prst="rect">
            <a:avLst/>
          </a:prstGeom>
          <a:noFill/>
        </p:spPr>
        <p:txBody>
          <a:bodyPr wrap="square" lIns="50400" rIns="50400" tIns="21600" bIns="21600" anchor="ctr">
            <a:spAutoFit/>
          </a:bodyPr>
          <a:lstStyle/>
          <a:p>
            <a:pPr algn="ctr"/>
            <a:r>
              <a:rPr sz="1100" b="1">
                <a:solidFill>
                  <a:srgbClr val="7F7F7F"/>
                </a:solidFill>
                <a:latin typeface="メイリオ"/>
                <a:ea typeface="メイリオ"/>
                <a:cs typeface="メイリオ"/>
              </a:rPr>
              <a:t>→</a:t>
            </a:r>
          </a:p>
        </p:txBody>
      </p:sp>
      <p:sp>
        <p:nvSpPr>
          <p:cNvPr id="11" name="Rounded Rectangle 10"/>
          <p:cNvSpPr/>
          <p:nvPr/>
        </p:nvSpPr>
        <p:spPr>
          <a:xfrm>
            <a:off x="5007600" y="1620000"/>
            <a:ext cx="2179800" cy="251999"/>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ctr"/>
            <a:r>
              <a:rPr sz="950" b="1">
                <a:solidFill>
                  <a:srgbClr val="FFFFFF"/>
                </a:solidFill>
                <a:latin typeface="メイリオ"/>
                <a:ea typeface="メイリオ"/>
                <a:cs typeface="メイリオ"/>
              </a:rPr>
              <a:t>Day 7｜面談のご案内 ①</a:t>
            </a:r>
          </a:p>
        </p:txBody>
      </p:sp>
      <p:sp>
        <p:nvSpPr>
          <p:cNvPr id="12" name="Rounded Rectangle 11"/>
          <p:cNvSpPr/>
          <p:nvPr/>
        </p:nvSpPr>
        <p:spPr>
          <a:xfrm>
            <a:off x="5007600" y="1908000"/>
            <a:ext cx="2179800" cy="115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9200" rIns="64800" tIns="50400" bIns="36000"/>
          <a:lstStyle/>
          <a:p>
            <a:pPr algn="l">
              <a:spcAft>
                <a:spcPts val="300"/>
              </a:spcAft>
            </a:pPr>
            <a:r>
              <a:rPr sz="100" b="1">
                <a:solidFill>
                  <a:srgbClr val="1F285A"/>
                </a:solidFill>
                <a:latin typeface="メイリオ"/>
                <a:ea typeface="メイリオ"/>
                <a:cs typeface="メイリオ"/>
              </a:rPr>
              <a:t/>
            </a:r>
          </a:p>
          <a:p>
            <a:pPr algn="l">
              <a:lnSpc>
                <a:spcPct val="135000"/>
              </a:lnSpc>
              <a:spcAft>
                <a:spcPts val="100"/>
              </a:spcAft>
            </a:pPr>
            <a:r>
              <a:rPr sz="900">
                <a:solidFill>
                  <a:srgbClr val="333333"/>
                </a:solidFill>
                <a:latin typeface="メイリオ"/>
                <a:ea typeface="メイリオ"/>
                <a:cs typeface="メイリオ"/>
              </a:rPr>
              <a:t>「履歴書、まだ要りません」</a:t>
            </a:r>
          </a:p>
          <a:p>
            <a:pPr algn="l">
              <a:lnSpc>
                <a:spcPct val="135000"/>
              </a:lnSpc>
              <a:spcAft>
                <a:spcPts val="100"/>
              </a:spcAft>
            </a:pPr>
            <a:r>
              <a:rPr sz="900">
                <a:solidFill>
                  <a:srgbClr val="333333"/>
                </a:solidFill>
                <a:latin typeface="メイリオ"/>
                <a:ea typeface="メイリオ"/>
                <a:cs typeface="メイリオ"/>
              </a:rPr>
              <a:t>在職中は夜の面談OK・</a:t>
            </a:r>
          </a:p>
          <a:p>
            <a:pPr algn="l">
              <a:lnSpc>
                <a:spcPct val="135000"/>
              </a:lnSpc>
              <a:spcAft>
                <a:spcPts val="100"/>
              </a:spcAft>
            </a:pPr>
            <a:r>
              <a:rPr sz="900">
                <a:solidFill>
                  <a:srgbClr val="333333"/>
                </a:solidFill>
                <a:latin typeface="メイリオ"/>
                <a:ea typeface="メイリオ"/>
                <a:cs typeface="メイリオ"/>
              </a:rPr>
              <a:t>紹介は自動車業界のみを明記</a:t>
            </a:r>
          </a:p>
        </p:txBody>
      </p:sp>
      <p:sp>
        <p:nvSpPr>
          <p:cNvPr id="13" name="TextBox 12"/>
          <p:cNvSpPr txBox="1"/>
          <p:nvPr/>
        </p:nvSpPr>
        <p:spPr>
          <a:xfrm>
            <a:off x="7194600" y="2196000"/>
            <a:ext cx="108000" cy="288000"/>
          </a:xfrm>
          <a:prstGeom prst="rect">
            <a:avLst/>
          </a:prstGeom>
          <a:noFill/>
        </p:spPr>
        <p:txBody>
          <a:bodyPr wrap="square" lIns="50400" rIns="50400" tIns="21600" bIns="21600" anchor="ctr">
            <a:spAutoFit/>
          </a:bodyPr>
          <a:lstStyle/>
          <a:p>
            <a:pPr algn="ctr"/>
            <a:r>
              <a:rPr sz="1100" b="1">
                <a:solidFill>
                  <a:srgbClr val="7F7F7F"/>
                </a:solidFill>
                <a:latin typeface="メイリオ"/>
                <a:ea typeface="メイリオ"/>
                <a:cs typeface="メイリオ"/>
              </a:rPr>
              <a:t>→</a:t>
            </a:r>
          </a:p>
        </p:txBody>
      </p:sp>
      <p:sp>
        <p:nvSpPr>
          <p:cNvPr id="14" name="Rounded Rectangle 13"/>
          <p:cNvSpPr/>
          <p:nvPr/>
        </p:nvSpPr>
        <p:spPr>
          <a:xfrm>
            <a:off x="7295400" y="1620000"/>
            <a:ext cx="2179800" cy="251999"/>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1600" bIns="21600"/>
          <a:lstStyle/>
          <a:p>
            <a:pPr algn="ctr"/>
            <a:r>
              <a:rPr sz="950" b="1">
                <a:solidFill>
                  <a:srgbClr val="FFFFFF"/>
                </a:solidFill>
                <a:latin typeface="メイリオ"/>
                <a:ea typeface="メイリオ"/>
                <a:cs typeface="メイリオ"/>
              </a:rPr>
              <a:t>Day 14｜面談のご案内 ②</a:t>
            </a:r>
          </a:p>
        </p:txBody>
      </p:sp>
      <p:sp>
        <p:nvSpPr>
          <p:cNvPr id="15" name="Rounded Rectangle 14"/>
          <p:cNvSpPr/>
          <p:nvPr/>
        </p:nvSpPr>
        <p:spPr>
          <a:xfrm>
            <a:off x="7295400" y="1908000"/>
            <a:ext cx="2179800" cy="115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9200" rIns="64800" tIns="50400" bIns="36000"/>
          <a:lstStyle/>
          <a:p>
            <a:pPr algn="l">
              <a:spcAft>
                <a:spcPts val="300"/>
              </a:spcAft>
            </a:pPr>
            <a:r>
              <a:rPr sz="100" b="1">
                <a:solidFill>
                  <a:srgbClr val="1F285A"/>
                </a:solidFill>
                <a:latin typeface="メイリオ"/>
                <a:ea typeface="メイリオ"/>
                <a:cs typeface="メイリオ"/>
              </a:rPr>
              <a:t/>
            </a:r>
          </a:p>
          <a:p>
            <a:pPr algn="l">
              <a:lnSpc>
                <a:spcPct val="135000"/>
              </a:lnSpc>
              <a:spcAft>
                <a:spcPts val="100"/>
              </a:spcAft>
            </a:pPr>
            <a:r>
              <a:rPr sz="900">
                <a:solidFill>
                  <a:srgbClr val="333333"/>
                </a:solidFill>
                <a:latin typeface="メイリオ"/>
                <a:ea typeface="メイリオ"/>
                <a:cs typeface="メイリオ"/>
              </a:rPr>
              <a:t>毎日の配信はここで終了。</a:t>
            </a:r>
          </a:p>
          <a:p>
            <a:pPr algn="l">
              <a:lnSpc>
                <a:spcPct val="135000"/>
              </a:lnSpc>
              <a:spcAft>
                <a:spcPts val="100"/>
              </a:spcAft>
            </a:pPr>
            <a:r>
              <a:rPr sz="900">
                <a:solidFill>
                  <a:srgbClr val="333333"/>
                </a:solidFill>
                <a:latin typeface="メイリオ"/>
                <a:ea typeface="メイリオ"/>
                <a:cs typeface="メイリオ"/>
              </a:rPr>
              <a:t>以後は月数回、新着求人と</a:t>
            </a:r>
          </a:p>
          <a:p>
            <a:pPr algn="l">
              <a:lnSpc>
                <a:spcPct val="135000"/>
              </a:lnSpc>
              <a:spcAft>
                <a:spcPts val="100"/>
              </a:spcAft>
            </a:pPr>
            <a:r>
              <a:rPr sz="900">
                <a:solidFill>
                  <a:srgbClr val="333333"/>
                </a:solidFill>
                <a:latin typeface="メイリオ"/>
                <a:ea typeface="メイリオ"/>
                <a:cs typeface="メイリオ"/>
              </a:rPr>
              <a:t>相場情報だけに切り替え</a:t>
            </a:r>
          </a:p>
        </p:txBody>
      </p:sp>
      <p:sp>
        <p:nvSpPr>
          <p:cNvPr id="16" name="Rounded Rectangle 15"/>
          <p:cNvSpPr/>
          <p:nvPr/>
        </p:nvSpPr>
        <p:spPr>
          <a:xfrm>
            <a:off x="432000" y="3203999"/>
            <a:ext cx="9043200" cy="36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200" b="1">
                <a:solidFill>
                  <a:srgbClr val="FFFFFF"/>
                </a:solidFill>
                <a:latin typeface="メイリオ"/>
                <a:ea typeface="メイリオ"/>
                <a:cs typeface="メイリオ"/>
              </a:rPr>
              <a:t>面談・応募 196件（6ヶ月累計・SIM①）。未予約の方は月数回の定常配信で通年フォロー。</a:t>
            </a:r>
          </a:p>
        </p:txBody>
      </p:sp>
      <p:sp>
        <p:nvSpPr>
          <p:cNvPr id="17" name="TextBox 16"/>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意見｜配信文面の実物はコンテンツ案v1（別紙）に全文記載。Day7・Day14がCVオファー</a:t>
            </a:r>
          </a:p>
        </p:txBody>
      </p:sp>
    </p:spTree>
    <p:extLst>
      <p:ext uri="{BB962C8B-B14F-4D97-AF65-F5344CB8AC3E}">
        <p14:creationId xmlns:p14="http://schemas.microsoft.com/office/powerpoint/2010/main" val="14519451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2631F-440C-AF04-0C69-2C8669EB8048}"/>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rIns="0" tIns="21600" bIns="21600" anchor="ctr">
            <a:spAutoFit/>
          </a:bodyPr>
          <a:lstStyle/>
          <a:p>
            <a:pPr algn="l"/>
            <a:r>
              <a:rPr sz="1600" b="1">
                <a:solidFill>
                  <a:srgbClr val="002060"/>
                </a:solidFill>
                <a:latin typeface="メイリオ"/>
                <a:ea typeface="メイリオ"/>
                <a:cs typeface="メイリオ"/>
              </a:rPr>
              <a:t>想定企画【年間】</a:t>
            </a:r>
          </a:p>
        </p:txBody>
      </p:sp>
      <p:sp>
        <p:nvSpPr>
          <p:cNvPr id="3" name="TextBox 2"/>
          <p:cNvSpPr txBox="1"/>
          <p:nvPr/>
        </p:nvSpPr>
        <p:spPr>
          <a:xfrm>
            <a:off x="432000" y="648000"/>
            <a:ext cx="9036000" cy="684000"/>
          </a:xfrm>
          <a:prstGeom prst="rect">
            <a:avLst/>
          </a:prstGeom>
          <a:noFill/>
        </p:spPr>
        <p:txBody>
          <a:bodyPr wrap="square" lIns="0" rIns="0" tIns="21600" bIns="21600" anchor="ctr">
            <a:spAutoFit/>
          </a:bodyPr>
          <a:lstStyle/>
          <a:p>
            <a:pPr algn="l">
              <a:lnSpc>
                <a:spcPct val="128000"/>
              </a:lnSpc>
            </a:pPr>
            <a:r>
              <a:rPr sz="1200">
                <a:solidFill>
                  <a:srgbClr val="333333"/>
                </a:solidFill>
                <a:latin typeface="メイリオ"/>
                <a:ea typeface="メイリオ"/>
                <a:cs typeface="メイリオ"/>
              </a:rPr>
              <a:t>検索の山（3月）に向けて1〜2月から前倒しで仕込む。谷（12月）も検討は続くため配信は止めない。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1月</a:t>
            </a:r>
          </a:p>
          <a:p>
            <a:pPr algn="l">
              <a:lnSpc>
                <a:spcPct val="115000"/>
              </a:lnSpc>
            </a:pPr>
            <a:r>
              <a:rPr sz="900">
                <a:solidFill>
                  <a:srgbClr val="333333"/>
                </a:solidFill>
                <a:latin typeface="メイリオ"/>
                <a:ea typeface="メイリオ"/>
                <a:cs typeface="メイリオ"/>
              </a:rPr>
              <a:t>新生活前の転職相談</a:t>
            </a:r>
          </a:p>
        </p:txBody>
      </p:sp>
      <p:sp>
        <p:nvSpPr>
          <p:cNvPr id="6" name="Rounded Rectangle 5"/>
          <p:cNvSpPr/>
          <p:nvPr/>
        </p:nvSpPr>
        <p:spPr>
          <a:xfrm>
            <a:off x="2719800" y="162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2月</a:t>
            </a:r>
          </a:p>
          <a:p>
            <a:pPr algn="l">
              <a:lnSpc>
                <a:spcPct val="115000"/>
              </a:lnSpc>
            </a:pPr>
            <a:r>
              <a:rPr sz="900">
                <a:solidFill>
                  <a:srgbClr val="333333"/>
                </a:solidFill>
                <a:latin typeface="メイリオ"/>
                <a:ea typeface="メイリオ"/>
                <a:cs typeface="メイリオ"/>
              </a:rPr>
              <a:t>3月転職の準備特集</a:t>
            </a:r>
          </a:p>
        </p:txBody>
      </p:sp>
      <p:sp>
        <p:nvSpPr>
          <p:cNvPr id="7" name="Rounded Rectangle 6"/>
          <p:cNvSpPr/>
          <p:nvPr/>
        </p:nvSpPr>
        <p:spPr>
          <a:xfrm>
            <a:off x="5007600" y="1620000"/>
            <a:ext cx="2179800" cy="558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ED7D31"/>
                </a:solidFill>
                <a:latin typeface="メイリオ"/>
                <a:ea typeface="メイリオ"/>
                <a:cs typeface="メイリオ"/>
              </a:rPr>
              <a:t>3月</a:t>
            </a:r>
          </a:p>
          <a:p>
            <a:pPr algn="l">
              <a:lnSpc>
                <a:spcPct val="115000"/>
              </a:lnSpc>
            </a:pPr>
            <a:r>
              <a:rPr sz="900">
                <a:solidFill>
                  <a:srgbClr val="333333"/>
                </a:solidFill>
                <a:latin typeface="メイリオ"/>
                <a:ea typeface="メイリオ"/>
                <a:cs typeface="メイリオ"/>
              </a:rPr>
              <a:t>★年度替わり・求人最大化</a:t>
            </a:r>
          </a:p>
        </p:txBody>
      </p:sp>
      <p:sp>
        <p:nvSpPr>
          <p:cNvPr id="8" name="Rounded Rectangle 7"/>
          <p:cNvSpPr/>
          <p:nvPr/>
        </p:nvSpPr>
        <p:spPr>
          <a:xfrm>
            <a:off x="7295400" y="162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4月</a:t>
            </a:r>
          </a:p>
          <a:p>
            <a:pPr algn="l">
              <a:lnSpc>
                <a:spcPct val="115000"/>
              </a:lnSpc>
            </a:pPr>
            <a:r>
              <a:rPr sz="900">
                <a:solidFill>
                  <a:srgbClr val="333333"/>
                </a:solidFill>
                <a:latin typeface="メイリオ"/>
                <a:ea typeface="メイリオ"/>
                <a:cs typeface="メイリオ"/>
              </a:rPr>
              <a:t>新年度スタート応援</a:t>
            </a:r>
          </a:p>
        </p:txBody>
      </p:sp>
      <p:sp>
        <p:nvSpPr>
          <p:cNvPr id="9" name="Rounded Rectangle 8"/>
          <p:cNvSpPr/>
          <p:nvPr/>
        </p:nvSpPr>
        <p:spPr>
          <a:xfrm>
            <a:off x="432000" y="225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5月</a:t>
            </a:r>
          </a:p>
          <a:p>
            <a:pPr algn="l">
              <a:lnSpc>
                <a:spcPct val="115000"/>
              </a:lnSpc>
            </a:pPr>
            <a:r>
              <a:rPr sz="900">
                <a:solidFill>
                  <a:srgbClr val="333333"/>
                </a:solidFill>
                <a:latin typeface="メイリオ"/>
                <a:ea typeface="メイリオ"/>
                <a:cs typeface="メイリオ"/>
              </a:rPr>
              <a:t>連休明けの見直し訴求</a:t>
            </a:r>
          </a:p>
        </p:txBody>
      </p:sp>
      <p:sp>
        <p:nvSpPr>
          <p:cNvPr id="10" name="Rounded Rectangle 9"/>
          <p:cNvSpPr/>
          <p:nvPr/>
        </p:nvSpPr>
        <p:spPr>
          <a:xfrm>
            <a:off x="2719800" y="225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6月</a:t>
            </a:r>
          </a:p>
          <a:p>
            <a:pPr algn="l">
              <a:lnSpc>
                <a:spcPct val="115000"/>
              </a:lnSpc>
            </a:pPr>
            <a:r>
              <a:rPr sz="900">
                <a:solidFill>
                  <a:srgbClr val="333333"/>
                </a:solidFill>
                <a:latin typeface="メイリオ"/>
                <a:ea typeface="メイリオ"/>
                <a:cs typeface="メイリオ"/>
              </a:rPr>
              <a:t>夏賞与前の情報提供</a:t>
            </a:r>
          </a:p>
        </p:txBody>
      </p:sp>
      <p:sp>
        <p:nvSpPr>
          <p:cNvPr id="11" name="Rounded Rectangle 10"/>
          <p:cNvSpPr/>
          <p:nvPr/>
        </p:nvSpPr>
        <p:spPr>
          <a:xfrm>
            <a:off x="5007600" y="225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7月</a:t>
            </a:r>
          </a:p>
          <a:p>
            <a:pPr algn="l">
              <a:lnSpc>
                <a:spcPct val="115000"/>
              </a:lnSpc>
            </a:pPr>
            <a:r>
              <a:rPr sz="900">
                <a:solidFill>
                  <a:srgbClr val="333333"/>
                </a:solidFill>
                <a:latin typeface="メイリオ"/>
                <a:ea typeface="メイリオ"/>
                <a:cs typeface="メイリオ"/>
              </a:rPr>
              <a:t>賞与後の転職検討期</a:t>
            </a:r>
          </a:p>
        </p:txBody>
      </p:sp>
      <p:sp>
        <p:nvSpPr>
          <p:cNvPr id="12" name="Rounded Rectangle 11"/>
          <p:cNvSpPr/>
          <p:nvPr/>
        </p:nvSpPr>
        <p:spPr>
          <a:xfrm>
            <a:off x="7295400" y="225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8月</a:t>
            </a:r>
          </a:p>
          <a:p>
            <a:pPr algn="l">
              <a:lnSpc>
                <a:spcPct val="115000"/>
              </a:lnSpc>
            </a:pPr>
            <a:r>
              <a:rPr sz="900">
                <a:solidFill>
                  <a:srgbClr val="333333"/>
                </a:solidFill>
                <a:latin typeface="メイリオ"/>
                <a:ea typeface="メイリオ"/>
                <a:cs typeface="メイリオ"/>
              </a:rPr>
              <a:t>資格取得・キャリア特集</a:t>
            </a:r>
          </a:p>
        </p:txBody>
      </p:sp>
      <p:sp>
        <p:nvSpPr>
          <p:cNvPr id="13" name="Rounded Rectangle 12"/>
          <p:cNvSpPr/>
          <p:nvPr/>
        </p:nvSpPr>
        <p:spPr>
          <a:xfrm>
            <a:off x="432000" y="288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9月</a:t>
            </a:r>
          </a:p>
          <a:p>
            <a:pPr algn="l">
              <a:lnSpc>
                <a:spcPct val="115000"/>
              </a:lnSpc>
            </a:pPr>
            <a:r>
              <a:rPr sz="900">
                <a:solidFill>
                  <a:srgbClr val="333333"/>
                </a:solidFill>
                <a:latin typeface="メイリオ"/>
                <a:ea typeface="メイリオ"/>
                <a:cs typeface="メイリオ"/>
              </a:rPr>
              <a:t>下期スタート求人</a:t>
            </a:r>
          </a:p>
        </p:txBody>
      </p:sp>
      <p:sp>
        <p:nvSpPr>
          <p:cNvPr id="14" name="Rounded Rectangle 13"/>
          <p:cNvSpPr/>
          <p:nvPr/>
        </p:nvSpPr>
        <p:spPr>
          <a:xfrm>
            <a:off x="2719800" y="288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10月</a:t>
            </a:r>
          </a:p>
          <a:p>
            <a:pPr algn="l">
              <a:lnSpc>
                <a:spcPct val="115000"/>
              </a:lnSpc>
            </a:pPr>
            <a:r>
              <a:rPr sz="900">
                <a:solidFill>
                  <a:srgbClr val="333333"/>
                </a:solidFill>
                <a:latin typeface="メイリオ"/>
                <a:ea typeface="メイリオ"/>
                <a:cs typeface="メイリオ"/>
              </a:rPr>
              <a:t>年内転職ラストコール</a:t>
            </a:r>
          </a:p>
        </p:txBody>
      </p:sp>
      <p:sp>
        <p:nvSpPr>
          <p:cNvPr id="15" name="Rounded Rectangle 14"/>
          <p:cNvSpPr/>
          <p:nvPr/>
        </p:nvSpPr>
        <p:spPr>
          <a:xfrm>
            <a:off x="5007600" y="288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11月</a:t>
            </a:r>
          </a:p>
          <a:p>
            <a:pPr algn="l">
              <a:lnSpc>
                <a:spcPct val="115000"/>
              </a:lnSpc>
            </a:pPr>
            <a:r>
              <a:rPr sz="900">
                <a:solidFill>
                  <a:srgbClr val="333333"/>
                </a:solidFill>
                <a:latin typeface="メイリオ"/>
                <a:ea typeface="メイリオ"/>
                <a:cs typeface="メイリオ"/>
              </a:rPr>
              <a:t>年末年始の働き方特集</a:t>
            </a:r>
          </a:p>
        </p:txBody>
      </p:sp>
      <p:sp>
        <p:nvSpPr>
          <p:cNvPr id="16" name="Rounded Rectangle 15"/>
          <p:cNvSpPr/>
          <p:nvPr/>
        </p:nvSpPr>
        <p:spPr>
          <a:xfrm>
            <a:off x="7295400" y="2880000"/>
            <a:ext cx="2179800" cy="55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54000" tIns="28800" bIns="21600"/>
          <a:lstStyle/>
          <a:p>
            <a:pPr algn="l">
              <a:spcAft>
                <a:spcPts val="200"/>
              </a:spcAft>
            </a:pPr>
            <a:r>
              <a:rPr sz="1000" b="1">
                <a:solidFill>
                  <a:srgbClr val="1F285A"/>
                </a:solidFill>
                <a:latin typeface="メイリオ"/>
                <a:ea typeface="メイリオ"/>
                <a:cs typeface="メイリオ"/>
              </a:rPr>
              <a:t>12月</a:t>
            </a:r>
          </a:p>
          <a:p>
            <a:pPr algn="l">
              <a:lnSpc>
                <a:spcPct val="115000"/>
              </a:lnSpc>
            </a:pPr>
            <a:r>
              <a:rPr sz="900">
                <a:solidFill>
                  <a:srgbClr val="333333"/>
                </a:solidFill>
                <a:latin typeface="メイリオ"/>
                <a:ea typeface="メイリオ"/>
                <a:cs typeface="メイリオ"/>
              </a:rPr>
              <a:t>冬も相談だけOK訴求</a:t>
            </a:r>
          </a:p>
        </p:txBody>
      </p:sp>
      <p:sp>
        <p:nvSpPr>
          <p:cNvPr id="17" name="Rounded Rectangle 16"/>
          <p:cNvSpPr/>
          <p:nvPr/>
        </p:nvSpPr>
        <p:spPr>
          <a:xfrm>
            <a:off x="432000" y="3600000"/>
            <a:ext cx="9043200" cy="36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200" b="1">
                <a:solidFill>
                  <a:srgbClr val="FFFFFF"/>
                </a:solidFill>
                <a:latin typeface="メイリオ"/>
                <a:ea typeface="メイリオ"/>
                <a:cs typeface="メイリオ"/>
              </a:rPr>
              <a:t>配信は月2〜4本。クリックした人でオーディエンスを育て、配信のたびに精度が上がる設計。</a:t>
            </a:r>
          </a:p>
        </p:txBody>
      </p:sp>
      <p:sp>
        <p:nvSpPr>
          <p:cNvPr id="18" name="TextBox 17"/>
          <p:cNvSpPr txBox="1"/>
          <p:nvPr/>
        </p:nvSpPr>
        <p:spPr>
          <a:xfrm>
            <a:off x="432000" y="6246000"/>
            <a:ext cx="9043200" cy="324000"/>
          </a:xfrm>
          <a:prstGeom prst="rect">
            <a:avLst/>
          </a:prstGeom>
          <a:noFill/>
        </p:spPr>
        <p:txBody>
          <a:bodyPr wrap="square" lIns="0" rIns="0" tIns="21600" bIns="21600" anchor="t">
            <a:spAutoFit/>
          </a:bodyPr>
          <a:lstStyle/>
          <a:p>
            <a:pPr algn="l">
              <a:lnSpc>
                <a:spcPct val="115000"/>
              </a:lnSpc>
            </a:pPr>
            <a:r>
              <a:rPr sz="750">
                <a:solidFill>
                  <a:srgbClr val="7F7F7F"/>
                </a:solidFill>
                <a:latin typeface="メイリオ"/>
                <a:ea typeface="メイリオ"/>
                <a:cs typeface="メイリオ"/>
              </a:rPr>
              <a:t>出典：GoogleトレンドKW「整備士」（山3月・谷12月）／企画の詳細文面は個別に作成</a:t>
            </a:r>
          </a:p>
        </p:txBody>
      </p:sp>
    </p:spTree>
    <p:extLst>
      <p:ext uri="{BB962C8B-B14F-4D97-AF65-F5344CB8AC3E}">
        <p14:creationId xmlns:p14="http://schemas.microsoft.com/office/powerpoint/2010/main" val="126982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105174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a:t>
            </a:r>
            <a:r>
              <a:rPr kumimoji="1" lang="en-US" altLang="zh-CN"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3</a:t>
            </a: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つの施策カテゴリ（診断コンテンツを前提に整理）</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691820"/>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QA</a:t>
            </a: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自動化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・求人内容や選考プロセス等のよくある質問にLINEチャットボットで自動回答</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・診断結果に応じたQ&amp;Aパターンも自動化候補</a:t>
            </a: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691820"/>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・契約内容等の複雑な問い合わせは有人チャットで個別対応</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・タグ管理で乗り換え検討等、優先度の高い問い合わせを可視化</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691820"/>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・求職者アンケートをLINEリサーチ機能で実施</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・回答特典を付けて回収率を高める</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279347"/>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　　</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53795"/>
            <a:ext cx="443448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・キーワード応答＋タグ付けで一次対応を自動化</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・よくある質問（応募方法・年収・勤務地 等）の対応を効率化</a:t>
            </a: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53795"/>
            <a:ext cx="4434480" cy="54828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・配信ログの自動集計（API連携）でレポーティング工数を削減</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・診断結果送付〜ステップ配信までをGAS等で自動化</a:t>
            </a:r>
          </a:p>
        </p:txBody>
      </p:sp>
      <p:sp>
        <p:nvSpPr>
          <p:cNvPr id="25" name="Rounded Rectangle 3">
            <a:extLst>
              <a:ext uri="{FF2B5EF4-FFF2-40B4-BE49-F238E27FC236}">
                <a16:creationId xmlns:a16="http://schemas.microsoft.com/office/drawing/2014/main" id="{C7F21D87-4A15-CE7E-773C-B513888D6575}"/>
              </a:ext>
            </a:extLst>
          </p:cNvPr>
          <p:cNvSpPr/>
          <p:nvPr/>
        </p:nvSpPr>
        <p:spPr>
          <a:xfrm>
            <a:off x="243659" y="4020903"/>
            <a:ext cx="9425441" cy="2497059"/>
          </a:xfrm>
          <a:prstGeom prst="roundRect">
            <a:avLst>
              <a:gd name="adj" fmla="val 10000"/>
            </a:avLst>
          </a:prstGeom>
          <a:solidFill>
            <a:schemeClr val="bg1">
              <a:alpha val="63000"/>
            </a:schemeClr>
          </a:solidFill>
          <a:ln w="12700">
            <a:noFill/>
            <a:round/>
          </a:ln>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400" b="0" strike="noStrike" spc="-1" dirty="0">
              <a:solidFill>
                <a:srgbClr val="FFFFFF"/>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93779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400" b="0" strike="noStrike" spc="-1">
                <a:solidFill>
                  <a:srgbClr val="5A6378"/>
                </a:solidFill>
                <a:latin typeface="メイリオ" panose="020B0604030504040204" pitchFamily="50" charset="-128"/>
                <a:ea typeface="メイリオ" panose="020B0604030504040204" pitchFamily="50" charset="-128"/>
              </a:rPr>
              <a:t>各接点（箇所）ごとに訴求を出し分け、LINE友だち追加へつなげる（診断コンテンツを起点に設計）</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30秒 適職診断コンテンツ</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診断結果をLINEで送付</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マイページ登録・求職者会員登録案内</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新着求人の通知もLINEで受け取れる</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34" name="Rounded Rectangle 13">
            <a:extLst>
              <a:ext uri="{FF2B5EF4-FFF2-40B4-BE49-F238E27FC236}">
                <a16:creationId xmlns:a16="http://schemas.microsoft.com/office/drawing/2014/main" id="{22D948EF-E8AB-9977-D385-ECE4F24EA2A6}"/>
              </a:ext>
            </a:extLst>
          </p:cNvPr>
          <p:cNvSpPr/>
          <p:nvPr/>
        </p:nvSpPr>
        <p:spPr>
          <a:xfrm>
            <a:off x="42690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地域別・希望条件別 求人相談キャンペーン</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5" name="Right Arrow 14">
            <a:extLst>
              <a:ext uri="{FF2B5EF4-FFF2-40B4-BE49-F238E27FC236}">
                <a16:creationId xmlns:a16="http://schemas.microsoft.com/office/drawing/2014/main" id="{ED599AD2-9433-037D-4055-3CD5D868773E}"/>
              </a:ext>
            </a:extLst>
          </p:cNvPr>
          <p:cNvSpPr/>
          <p:nvPr/>
        </p:nvSpPr>
        <p:spPr>
          <a:xfrm>
            <a:off x="324930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6" name="Rounded Rectangle 15">
            <a:extLst>
              <a:ext uri="{FF2B5EF4-FFF2-40B4-BE49-F238E27FC236}">
                <a16:creationId xmlns:a16="http://schemas.microsoft.com/office/drawing/2014/main" id="{AB67C977-69C9-A50F-851E-986C7CB7A3D5}"/>
              </a:ext>
            </a:extLst>
          </p:cNvPr>
          <p:cNvSpPr/>
          <p:nvPr/>
        </p:nvSpPr>
        <p:spPr>
          <a:xfrm>
            <a:off x="354198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申込完了特典をLINEでお届け</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43" name="Right Arrow 16">
            <a:extLst>
              <a:ext uri="{FF2B5EF4-FFF2-40B4-BE49-F238E27FC236}">
                <a16:creationId xmlns:a16="http://schemas.microsoft.com/office/drawing/2014/main" id="{526CE94B-E706-E4C3-FD31-99BF0647BBEF}"/>
              </a:ext>
            </a:extLst>
          </p:cNvPr>
          <p:cNvSpPr/>
          <p:nvPr/>
        </p:nvSpPr>
        <p:spPr>
          <a:xfrm>
            <a:off x="636438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44" name="Rounded Rectangle 17">
            <a:extLst>
              <a:ext uri="{FF2B5EF4-FFF2-40B4-BE49-F238E27FC236}">
                <a16:creationId xmlns:a16="http://schemas.microsoft.com/office/drawing/2014/main" id="{3B4A80AC-373C-53F9-4A7E-460E1983856E}"/>
              </a:ext>
            </a:extLst>
          </p:cNvPr>
          <p:cNvSpPr/>
          <p:nvPr/>
        </p:nvSpPr>
        <p:spPr>
          <a:xfrm>
            <a:off x="6657060" y="420034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100" b="0" strike="noStrike" spc="-1">
                <a:solidFill>
                  <a:srgbClr val="9AA1AE"/>
                </a:solidFill>
                <a:latin typeface="メイリオ" panose="020B0604030504040204" pitchFamily="50" charset="-128"/>
                <a:ea typeface="メイリオ" panose="020B0604030504040204" pitchFamily="50" charset="-128"/>
              </a:rPr>
              <a:t>※「30秒 適職診断」はサイト上に簡易診断フォームを設置し、結果をLINEで送付する動線を想定（要開発）</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面談・就業までナーチャリングが可能</a:t>
            </a:r>
            <a:endParaRPr lang="en-US" altLang="ja-JP" sz="16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月額固定のコンサル運営で、費用を抑えた運用スタートを実現。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求職者（整備士）のカスタマージャーニー（8フェーズ）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接触〜面談・就業までの動線設計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制作業務を一部外出ししてご依頼いただくことも可能です。</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の導線設計でハードルを抑えつつ運用することが可能。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2808838"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143129</TotalTime>
  <Words>6329</Words>
  <Application>Microsoft Office PowerPoint</Application>
  <PresentationFormat>A4 210 x 297 mm</PresentationFormat>
  <Paragraphs>1593</Paragraphs>
  <Slides>58</Slides>
  <Notes>28</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58</vt:i4>
      </vt:variant>
    </vt:vector>
  </HeadingPairs>
  <TitlesOfParts>
    <vt:vector size="65"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1954</cp:revision>
  <cp:lastPrinted>2022-11-01T11:38:14Z</cp:lastPrinted>
  <dcterms:created xsi:type="dcterms:W3CDTF">2015-09-04T09:21:15Z</dcterms:created>
  <dcterms:modified xsi:type="dcterms:W3CDTF">2026-09-19T04:08:40Z</dcterms:modified>
</cp:coreProperties>
</file>