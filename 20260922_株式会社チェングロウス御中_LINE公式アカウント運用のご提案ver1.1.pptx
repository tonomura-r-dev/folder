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40.svg" ContentType="image/svg+xml"/>
  <Override PartName="/ppt/media/image42.svg" ContentType="image/svg+xml"/>
  <Override PartName="/ppt/media/image43.svg" ContentType="image/svg+xml"/>
  <Override PartName="/ppt/media/image44.svg" ContentType="image/svg+xml"/>
  <Override PartName="/ppt/media/image45.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55"/>
  </p:notesMasterIdLst>
  <p:handoutMasterIdLst>
    <p:handoutMasterId r:id="rId56"/>
  </p:handoutMasterIdLst>
  <p:sldIdLst>
    <p:sldId id="2363" r:id="rId3"/>
    <p:sldId id="2971" r:id="rId4"/>
    <p:sldId id="2972" r:id="rId5"/>
    <p:sldId id="2904" r:id="rId48"/>
    <p:sldId id="3007" r:id="rId6"/>
    <p:sldId id="2994" r:id="rId7"/>
    <p:sldId id="2995" r:id="rId8"/>
    <p:sldId id="3001" r:id="rId9"/>
    <p:sldId id="2999" r:id="rId10"/>
    <p:sldId id="2736" r:id="rId11"/>
    <p:sldId id="2987" r:id="rId12"/>
    <p:sldId id="2997" r:id="rId13"/>
    <p:sldId id="2996" r:id="rId14"/>
    <p:sldId id="2973" r:id="rId15"/>
    <p:sldId id="2977" r:id="rId16"/>
    <p:sldId id="2979" r:id="rId17"/>
    <p:sldId id="3000" r:id="rId18"/>
    <p:sldId id="2968" r:id="rId19"/>
    <p:sldId id="2908" r:id="rId20"/>
    <p:sldId id="2998" r:id="rId21"/>
    <p:sldId id="2990" r:id="rId22"/>
    <p:sldId id="2986" r:id="rId23"/>
    <p:sldId id="2991" r:id="rId24"/>
    <p:sldId id="2737" r:id="rId25"/>
    <p:sldId id="2989" r:id="rId26"/>
    <p:sldId id="2563" r:id="rId27"/>
    <p:sldId id="2959" r:id="rId28"/>
    <p:sldId id="2970" r:id="rId29"/>
    <p:sldId id="2639" r:id="rId30"/>
    <p:sldId id="2957" r:id="rId31"/>
    <p:sldId id="2951" r:id="rId32"/>
    <p:sldId id="2841" r:id="rId33"/>
    <p:sldId id="2734" r:id="rId34"/>
    <p:sldId id="2595" r:id="rId35"/>
    <p:sldId id="2566" r:id="rId36"/>
    <p:sldId id="2915" r:id="rId37"/>
    <p:sldId id="2619" r:id="rId38"/>
    <p:sldId id="2761" r:id="rId39"/>
    <p:sldId id="2919" r:id="rId41"/>
    <p:sldId id="2931" r:id="rId43"/>
    <p:sldId id="2935" r:id="rId40"/>
    <p:sldId id="2519" r:id="rId42"/>
    <p:sldId id="2749" r:id="rId44"/>
    <p:sldId id="2950" r:id="rId45"/>
    <p:sldId id="2961" r:id="rId46"/>
    <p:sldId id="2849" r:id="rId47"/>
    <p:sldId id="2905" r:id="rId49"/>
    <p:sldId id="2906" r:id="rId50"/>
    <p:sldId id="2907" r:id="rId51"/>
    <p:sldId id="2575" r:id="rId52"/>
    <p:sldId id="2910" r:id="rId53"/>
    <p:sldId id="1169" r:id="rId54"/>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4FA0A"/>
    <a:srgbClr val="173559"/>
    <a:srgbClr val="FDFDFD"/>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157" autoAdjust="0"/>
    <p:restoredTop sz="94424" autoAdjust="0"/>
  </p:normalViewPr>
  <p:slideViewPr>
    <p:cSldViewPr snapToGrid="0">
      <p:cViewPr>
        <p:scale>
          <a:sx n="100" d="100"/>
          <a:sy n="100" d="100"/>
        </p:scale>
        <p:origin x="40" y="-436"/>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0" Type="http://schemas.openxmlformats.org/officeDocument/2006/relationships/slide" Target="slides/slide40.xml"/><Relationship Id="rId41" Type="http://schemas.openxmlformats.org/officeDocument/2006/relationships/slide" Target="slides/slide38.xml"/><Relationship Id="rId42" Type="http://schemas.openxmlformats.org/officeDocument/2006/relationships/slide" Target="slides/slide41.xml"/><Relationship Id="rId43" Type="http://schemas.openxmlformats.org/officeDocument/2006/relationships/slide" Target="slides/slide39.xml"/><Relationship Id="rId44" Type="http://schemas.openxmlformats.org/officeDocument/2006/relationships/slide" Target="slides/slide42.xml"/><Relationship Id="rId45" Type="http://schemas.openxmlformats.org/officeDocument/2006/relationships/slide" Target="slides/slide43.xml"/><Relationship Id="rId46" Type="http://schemas.openxmlformats.org/officeDocument/2006/relationships/slide" Target="slides/slide44.xml"/><Relationship Id="rId47" Type="http://schemas.openxmlformats.org/officeDocument/2006/relationships/slide" Target="slides/slide45.xml"/><Relationship Id="rId48" Type="http://schemas.openxmlformats.org/officeDocument/2006/relationships/slide" Target="slides/slide46.xml"/><Relationship Id="rId49" Type="http://schemas.openxmlformats.org/officeDocument/2006/relationships/slide" Target="slides/slide47.xml"/><Relationship Id="rId50" Type="http://schemas.openxmlformats.org/officeDocument/2006/relationships/slide" Target="slides/slide48.xml"/><Relationship Id="rId51" Type="http://schemas.openxmlformats.org/officeDocument/2006/relationships/slide" Target="slides/slide49.xml"/><Relationship Id="rId52" Type="http://schemas.openxmlformats.org/officeDocument/2006/relationships/slide" Target="slides/slide50.xml"/><Relationship Id="rId53" Type="http://schemas.openxmlformats.org/officeDocument/2006/relationships/slide" Target="slides/slide51.xml"/><Relationship Id="rId54" Type="http://schemas.openxmlformats.org/officeDocument/2006/relationships/slide" Target="slides/slide52.xml"/><Relationship Id="rId55" Type="http://schemas.openxmlformats.org/officeDocument/2006/relationships/notesMaster" Target="notesMasters/notesMaster1.xml"/><Relationship Id="rId56" Type="http://schemas.openxmlformats.org/officeDocument/2006/relationships/handoutMaster" Target="handoutMasters/handout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2026/9/24</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15D0A-BA72-DE45-32FA-363803F140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7D2F8A3-D4B3-B9E6-A613-A157696B87F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33FBD4A-B575-3375-091A-F6A24B5A9BD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CAEAEB9-E37C-569F-CBB7-45D65E2A0906}"/>
              </a:ext>
            </a:extLst>
          </p:cNvPr>
          <p:cNvSpPr>
            <a:spLocks noGrp="1"/>
          </p:cNvSpPr>
          <p:nvPr>
            <p:ph type="sldNum" sz="quarter" idx="10"/>
          </p:nvPr>
        </p:nvSpPr>
        <p:spPr/>
        <p:txBody>
          <a:bodyPr/>
          <a:lstStyle/>
          <a:p>
            <a:fld id="{022E43C0-6795-4B13-B37C-259C826D4B6A}" type="slidenum">
              <a:rPr kumimoji="1" lang="ja-JP" altLang="en-US" smtClean="0"/>
              <a:t>2</a:t>
            </a:fld>
            <a:endParaRPr kumimoji="1" lang="ja-JP" altLang="en-US"/>
          </a:p>
        </p:txBody>
      </p:sp>
    </p:spTree>
    <p:extLst>
      <p:ext uri="{BB962C8B-B14F-4D97-AF65-F5344CB8AC3E}">
        <p14:creationId xmlns:p14="http://schemas.microsoft.com/office/powerpoint/2010/main" val="11238476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681540-B398-8C02-E1F2-1F1C4798CC2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A82C74D-328C-FB0E-E710-C92A52BEF4B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75EB1E7-3A4C-2E0A-CA67-686800FA87A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173A52D-F6CC-DC20-5CFE-D4EBA25ECCBC}"/>
              </a:ext>
            </a:extLst>
          </p:cNvPr>
          <p:cNvSpPr>
            <a:spLocks noGrp="1"/>
          </p:cNvSpPr>
          <p:nvPr>
            <p:ph type="sldNum" sz="quarter" idx="10"/>
          </p:nvPr>
        </p:nvSpPr>
        <p:spPr/>
        <p:txBody>
          <a:bodyPr/>
          <a:lstStyle/>
          <a:p>
            <a:fld id="{022E43C0-6795-4B13-B37C-259C826D4B6A}" type="slidenum">
              <a:rPr kumimoji="1" lang="ja-JP" altLang="en-US" smtClean="0"/>
              <a:t>3</a:t>
            </a:fld>
            <a:endParaRPr kumimoji="1" lang="ja-JP" altLang="en-US"/>
          </a:p>
        </p:txBody>
      </p:sp>
    </p:spTree>
    <p:extLst>
      <p:ext uri="{BB962C8B-B14F-4D97-AF65-F5344CB8AC3E}">
        <p14:creationId xmlns:p14="http://schemas.microsoft.com/office/powerpoint/2010/main" val="273798680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FB00FA-BE78-95FE-0350-A4F0396FFF9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FC15E1A-F54C-3203-065A-E98A027A099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9AE28B8-9549-F5B4-6969-5885B85CCC6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2C20ED0-F80D-F8F8-F1CB-2D28DC68BCAB}"/>
              </a:ext>
            </a:extLst>
          </p:cNvPr>
          <p:cNvSpPr>
            <a:spLocks noGrp="1"/>
          </p:cNvSpPr>
          <p:nvPr>
            <p:ph type="sldNum" sz="quarter" idx="10"/>
          </p:nvPr>
        </p:nvSpPr>
        <p:spPr/>
        <p:txBody>
          <a:bodyPr/>
          <a:lstStyle/>
          <a:p>
            <a:fld id="{022E43C0-6795-4B13-B37C-259C826D4B6A}" type="slidenum">
              <a:rPr kumimoji="1" lang="ja-JP" altLang="en-US" smtClean="0"/>
              <a:t>6</a:t>
            </a:fld>
            <a:endParaRPr kumimoji="1" lang="ja-JP" altLang="en-US"/>
          </a:p>
        </p:txBody>
      </p:sp>
    </p:spTree>
    <p:extLst>
      <p:ext uri="{BB962C8B-B14F-4D97-AF65-F5344CB8AC3E}">
        <p14:creationId xmlns:p14="http://schemas.microsoft.com/office/powerpoint/2010/main" val="19189548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AD3C2E-8631-0E38-6C31-C6DED150D21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848057B-4969-D8FF-F0AC-CA210AA37C6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F70A271-6E49-37E3-A907-5C2BD5672166}"/>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C12D90D-F41A-5474-D369-5759C78B843B}"/>
              </a:ext>
            </a:extLst>
          </p:cNvPr>
          <p:cNvSpPr>
            <a:spLocks noGrp="1"/>
          </p:cNvSpPr>
          <p:nvPr>
            <p:ph type="sldNum" sz="quarter" idx="10"/>
          </p:nvPr>
        </p:nvSpPr>
        <p:spPr/>
        <p:txBody>
          <a:bodyPr/>
          <a:lstStyle/>
          <a:p>
            <a:fld id="{022E43C0-6795-4B13-B37C-259C826D4B6A}" type="slidenum">
              <a:rPr kumimoji="1" lang="ja-JP" altLang="en-US" smtClean="0"/>
              <a:t>7</a:t>
            </a:fld>
            <a:endParaRPr kumimoji="1" lang="ja-JP" altLang="en-US"/>
          </a:p>
        </p:txBody>
      </p:sp>
    </p:spTree>
    <p:extLst>
      <p:ext uri="{BB962C8B-B14F-4D97-AF65-F5344CB8AC3E}">
        <p14:creationId xmlns:p14="http://schemas.microsoft.com/office/powerpoint/2010/main" val="316281790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880EF-6C8C-B780-9BB3-1B0757C006A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DAB9840-7942-E115-501A-18129D77179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2A1841C-729C-28E2-58FF-5212B200D2BA}"/>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C47DBBA-098F-116B-BB87-D1F9D32E060E}"/>
              </a:ext>
            </a:extLst>
          </p:cNvPr>
          <p:cNvSpPr>
            <a:spLocks noGrp="1"/>
          </p:cNvSpPr>
          <p:nvPr>
            <p:ph type="sldNum" sz="quarter" idx="10"/>
          </p:nvPr>
        </p:nvSpPr>
        <p:spPr/>
        <p:txBody>
          <a:bodyPr/>
          <a:lstStyle/>
          <a:p>
            <a:fld id="{022E43C0-6795-4B13-B37C-259C826D4B6A}" type="slidenum">
              <a:rPr kumimoji="1" lang="ja-JP" altLang="en-US" smtClean="0"/>
              <a:t>8</a:t>
            </a:fld>
            <a:endParaRPr kumimoji="1" lang="ja-JP" altLang="en-US"/>
          </a:p>
        </p:txBody>
      </p:sp>
    </p:spTree>
    <p:extLst>
      <p:ext uri="{BB962C8B-B14F-4D97-AF65-F5344CB8AC3E}">
        <p14:creationId xmlns:p14="http://schemas.microsoft.com/office/powerpoint/2010/main" val="79081846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87BDD3-88EE-99A9-AEE2-C1F41DDABDF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50017B6-5C78-4075-2708-AC5DB83D5C7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ECFD86C-83D9-B8F9-9012-A14834B2031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602F5ACB-1F4C-FA7D-D366-8DCBB1214FD9}"/>
              </a:ext>
            </a:extLst>
          </p:cNvPr>
          <p:cNvSpPr>
            <a:spLocks noGrp="1"/>
          </p:cNvSpPr>
          <p:nvPr>
            <p:ph type="sldNum" sz="quarter" idx="10"/>
          </p:nvPr>
        </p:nvSpPr>
        <p:spPr/>
        <p:txBody>
          <a:bodyPr/>
          <a:lstStyle/>
          <a:p>
            <a:fld id="{022E43C0-6795-4B13-B37C-259C826D4B6A}" type="slidenum">
              <a:rPr kumimoji="1" lang="ja-JP" altLang="en-US" smtClean="0"/>
              <a:t>10</a:t>
            </a:fld>
            <a:endParaRPr kumimoji="1" lang="ja-JP" altLang="en-US"/>
          </a:p>
        </p:txBody>
      </p:sp>
    </p:spTree>
    <p:extLst>
      <p:ext uri="{BB962C8B-B14F-4D97-AF65-F5344CB8AC3E}">
        <p14:creationId xmlns:p14="http://schemas.microsoft.com/office/powerpoint/2010/main" val="329133521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28432E-C2C6-89CF-C006-DD360C6CBCD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B7CA1C0-54B2-C273-9EFA-4A233AA33F5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C6AE94C-3A31-DE43-5CF3-F8B06624D4B3}"/>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C92184BA-3FBD-5E23-D138-23E1190BD57E}"/>
              </a:ext>
            </a:extLst>
          </p:cNvPr>
          <p:cNvSpPr>
            <a:spLocks noGrp="1"/>
          </p:cNvSpPr>
          <p:nvPr>
            <p:ph type="sldNum" sz="quarter" idx="10"/>
          </p:nvPr>
        </p:nvSpPr>
        <p:spPr/>
        <p:txBody>
          <a:bodyPr/>
          <a:lstStyle/>
          <a:p>
            <a:fld id="{022E43C0-6795-4B13-B37C-259C826D4B6A}" type="slidenum">
              <a:rPr kumimoji="1" lang="ja-JP" altLang="en-US" smtClean="0"/>
              <a:t>11</a:t>
            </a:fld>
            <a:endParaRPr kumimoji="1" lang="ja-JP" altLang="en-US"/>
          </a:p>
        </p:txBody>
      </p:sp>
    </p:spTree>
    <p:extLst>
      <p:ext uri="{BB962C8B-B14F-4D97-AF65-F5344CB8AC3E}">
        <p14:creationId xmlns:p14="http://schemas.microsoft.com/office/powerpoint/2010/main" val="78384172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609F94-460F-5A9A-D53E-BD9AF25C600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880BBC6-A0FB-42D9-3A8A-800D9E47CF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7DCB781-2099-65DC-EA96-CC827630AFB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72154FB-F3CF-6922-2040-70A35BD97D62}"/>
              </a:ext>
            </a:extLst>
          </p:cNvPr>
          <p:cNvSpPr>
            <a:spLocks noGrp="1"/>
          </p:cNvSpPr>
          <p:nvPr>
            <p:ph type="sldNum" sz="quarter" idx="10"/>
          </p:nvPr>
        </p:nvSpPr>
        <p:spPr/>
        <p:txBody>
          <a:bodyPr/>
          <a:lstStyle/>
          <a:p>
            <a:fld id="{022E43C0-6795-4B13-B37C-259C826D4B6A}" type="slidenum">
              <a:rPr kumimoji="1" lang="ja-JP" altLang="en-US" smtClean="0"/>
              <a:t>12</a:t>
            </a:fld>
            <a:endParaRPr kumimoji="1" lang="ja-JP" altLang="en-US"/>
          </a:p>
        </p:txBody>
      </p:sp>
    </p:spTree>
    <p:extLst>
      <p:ext uri="{BB962C8B-B14F-4D97-AF65-F5344CB8AC3E}">
        <p14:creationId xmlns:p14="http://schemas.microsoft.com/office/powerpoint/2010/main" val="102359895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98DFB9-1A0E-AC56-86AB-C554ECA5907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6E74640-8F62-6E74-5A21-E69A7415BF6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566DD76-369D-9DB0-5CDC-B936C94EBB6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AB7A0C4-A336-4C2C-E97A-0E6D7798D43D}"/>
              </a:ext>
            </a:extLst>
          </p:cNvPr>
          <p:cNvSpPr>
            <a:spLocks noGrp="1"/>
          </p:cNvSpPr>
          <p:nvPr>
            <p:ph type="sldNum" sz="quarter" idx="10"/>
          </p:nvPr>
        </p:nvSpPr>
        <p:spPr/>
        <p:txBody>
          <a:bodyPr/>
          <a:lstStyle/>
          <a:p>
            <a:fld id="{022E43C0-6795-4B13-B37C-259C826D4B6A}" type="slidenum">
              <a:rPr kumimoji="1" lang="ja-JP" altLang="en-US" smtClean="0"/>
              <a:t>13</a:t>
            </a:fld>
            <a:endParaRPr kumimoji="1" lang="ja-JP" altLang="en-US"/>
          </a:p>
        </p:txBody>
      </p:sp>
    </p:spTree>
    <p:extLst>
      <p:ext uri="{BB962C8B-B14F-4D97-AF65-F5344CB8AC3E}">
        <p14:creationId xmlns:p14="http://schemas.microsoft.com/office/powerpoint/2010/main" val="294964865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2C3D0E-521D-4421-8E6F-5B072E39273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DA4E99E-E573-FB69-824A-6A64B973F18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C7418EF-CD86-6501-70F8-B9DD0191527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CB86D95-C452-2BDC-5841-170929F80D7E}"/>
              </a:ext>
            </a:extLst>
          </p:cNvPr>
          <p:cNvSpPr>
            <a:spLocks noGrp="1"/>
          </p:cNvSpPr>
          <p:nvPr>
            <p:ph type="sldNum" sz="quarter" idx="10"/>
          </p:nvPr>
        </p:nvSpPr>
        <p:spPr/>
        <p:txBody>
          <a:bodyPr/>
          <a:lstStyle/>
          <a:p>
            <a:fld id="{022E43C0-6795-4B13-B37C-259C826D4B6A}" type="slidenum">
              <a:rPr kumimoji="1" lang="ja-JP" altLang="en-US" smtClean="0"/>
              <a:t>14</a:t>
            </a:fld>
            <a:endParaRPr kumimoji="1" lang="ja-JP" altLang="en-US"/>
          </a:p>
        </p:txBody>
      </p:sp>
    </p:spTree>
    <p:extLst>
      <p:ext uri="{BB962C8B-B14F-4D97-AF65-F5344CB8AC3E}">
        <p14:creationId xmlns:p14="http://schemas.microsoft.com/office/powerpoint/2010/main" val="399478646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11E9D4-0876-C25C-8529-8B74AB559B8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CF43F49-5B7A-3752-251E-82690E66FE6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863D13-39F9-D392-9C29-D9EAD3D1EA4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73CE111-A992-AC9F-119C-E1210F4D3DD7}"/>
              </a:ext>
            </a:extLst>
          </p:cNvPr>
          <p:cNvSpPr>
            <a:spLocks noGrp="1"/>
          </p:cNvSpPr>
          <p:nvPr>
            <p:ph type="sldNum" sz="quarter" idx="10"/>
          </p:nvPr>
        </p:nvSpPr>
        <p:spPr/>
        <p:txBody>
          <a:bodyPr/>
          <a:lstStyle/>
          <a:p>
            <a:fld id="{022E43C0-6795-4B13-B37C-259C826D4B6A}" type="slidenum">
              <a:rPr kumimoji="1" lang="ja-JP" altLang="en-US" smtClean="0"/>
              <a:t>15</a:t>
            </a:fld>
            <a:endParaRPr kumimoji="1" lang="ja-JP" altLang="en-US"/>
          </a:p>
        </p:txBody>
      </p:sp>
    </p:spTree>
    <p:extLst>
      <p:ext uri="{BB962C8B-B14F-4D97-AF65-F5344CB8AC3E}">
        <p14:creationId xmlns:p14="http://schemas.microsoft.com/office/powerpoint/2010/main" val="115850594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A66D97-D2AE-47E8-CEF6-DF7B01DBF3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17462C0-C3A5-BB88-91F7-226AFC22447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D40E553-EB2C-9ACD-C50F-CC21DD6D00A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D59E7342-2894-A379-2FAD-61B82347D6FE}"/>
              </a:ext>
            </a:extLst>
          </p:cNvPr>
          <p:cNvSpPr>
            <a:spLocks noGrp="1"/>
          </p:cNvSpPr>
          <p:nvPr>
            <p:ph type="sldNum" sz="quarter" idx="10"/>
          </p:nvPr>
        </p:nvSpPr>
        <p:spPr/>
        <p:txBody>
          <a:bodyPr/>
          <a:lstStyle/>
          <a:p>
            <a:fld id="{022E43C0-6795-4B13-B37C-259C826D4B6A}" type="slidenum">
              <a:rPr kumimoji="1" lang="ja-JP" altLang="en-US" smtClean="0"/>
              <a:t>16</a:t>
            </a:fld>
            <a:endParaRPr kumimoji="1" lang="ja-JP" altLang="en-US"/>
          </a:p>
        </p:txBody>
      </p:sp>
    </p:spTree>
    <p:extLst>
      <p:ext uri="{BB962C8B-B14F-4D97-AF65-F5344CB8AC3E}">
        <p14:creationId xmlns:p14="http://schemas.microsoft.com/office/powerpoint/2010/main" val="282973044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FBE411-4324-1BAD-C78B-91DF91FD9CC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D549732-A76E-5601-F486-7A42B1789DE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3275E6F-98B5-9B49-8F3C-8CAF75C8D6E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E553E365-D354-3F82-CA83-108FC9376A62}"/>
              </a:ext>
            </a:extLst>
          </p:cNvPr>
          <p:cNvSpPr>
            <a:spLocks noGrp="1"/>
          </p:cNvSpPr>
          <p:nvPr>
            <p:ph type="sldNum" sz="quarter" idx="10"/>
          </p:nvPr>
        </p:nvSpPr>
        <p:spPr/>
        <p:txBody>
          <a:bodyPr/>
          <a:lstStyle/>
          <a:p>
            <a:fld id="{022E43C0-6795-4B13-B37C-259C826D4B6A}" type="slidenum">
              <a:rPr kumimoji="1" lang="ja-JP" altLang="en-US" smtClean="0"/>
              <a:t>20</a:t>
            </a:fld>
            <a:endParaRPr kumimoji="1" lang="ja-JP" altLang="en-US"/>
          </a:p>
        </p:txBody>
      </p:sp>
    </p:spTree>
    <p:extLst>
      <p:ext uri="{BB962C8B-B14F-4D97-AF65-F5344CB8AC3E}">
        <p14:creationId xmlns:p14="http://schemas.microsoft.com/office/powerpoint/2010/main" val="18155914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9CAC78-50A4-F913-B3AF-274D32241D1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7EBEBB5-128F-0CAF-8FD7-D2192091613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79E3D02-55AC-2638-9F09-898F0C8E6336}"/>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51B9F10-F34C-A78C-BAAF-5494CD58A784}"/>
              </a:ext>
            </a:extLst>
          </p:cNvPr>
          <p:cNvSpPr>
            <a:spLocks noGrp="1"/>
          </p:cNvSpPr>
          <p:nvPr>
            <p:ph type="sldNum" sz="quarter" idx="10"/>
          </p:nvPr>
        </p:nvSpPr>
        <p:spPr/>
        <p:txBody>
          <a:bodyPr/>
          <a:lstStyle/>
          <a:p>
            <a:fld id="{022E43C0-6795-4B13-B37C-259C826D4B6A}" type="slidenum">
              <a:rPr kumimoji="1" lang="ja-JP" altLang="en-US" smtClean="0"/>
              <a:t>21</a:t>
            </a:fld>
            <a:endParaRPr kumimoji="1" lang="ja-JP" altLang="en-US"/>
          </a:p>
        </p:txBody>
      </p:sp>
    </p:spTree>
    <p:extLst>
      <p:ext uri="{BB962C8B-B14F-4D97-AF65-F5344CB8AC3E}">
        <p14:creationId xmlns:p14="http://schemas.microsoft.com/office/powerpoint/2010/main" val="398545389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CDBF5B-1845-D193-7974-D86F6501AAA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241EA19-E230-7BF9-50E1-64D71F07CF8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0FCC320-6462-2E53-372E-51E35D6A4C3A}"/>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1D45867-3EDE-BF64-D973-FA5EA5D84F7E}"/>
              </a:ext>
            </a:extLst>
          </p:cNvPr>
          <p:cNvSpPr>
            <a:spLocks noGrp="1"/>
          </p:cNvSpPr>
          <p:nvPr>
            <p:ph type="sldNum" sz="quarter" idx="10"/>
          </p:nvPr>
        </p:nvSpPr>
        <p:spPr/>
        <p:txBody>
          <a:bodyPr/>
          <a:lstStyle/>
          <a:p>
            <a:fld id="{022E43C0-6795-4B13-B37C-259C826D4B6A}" type="slidenum">
              <a:rPr kumimoji="1" lang="ja-JP" altLang="en-US" smtClean="0"/>
              <a:t>22</a:t>
            </a:fld>
            <a:endParaRPr kumimoji="1" lang="ja-JP" altLang="en-US"/>
          </a:p>
        </p:txBody>
      </p:sp>
    </p:spTree>
    <p:extLst>
      <p:ext uri="{BB962C8B-B14F-4D97-AF65-F5344CB8AC3E}">
        <p14:creationId xmlns:p14="http://schemas.microsoft.com/office/powerpoint/2010/main" val="65149959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solidFill>
                <a:schemeClr val="tx1">
                  <a:lumMod val="65000"/>
                  <a:lumOff val="35000"/>
                </a:schemeClr>
              </a:solidFill>
            </a:endParaRPr>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33</a:t>
            </a:fld>
            <a:endParaRPr kumimoji="1" lang="ja-JP" altLang="en-US"/>
          </a:p>
        </p:txBody>
      </p:sp>
    </p:spTree>
    <p:extLst>
      <p:ext uri="{BB962C8B-B14F-4D97-AF65-F5344CB8AC3E}">
        <p14:creationId xmlns:p14="http://schemas.microsoft.com/office/powerpoint/2010/main" val="152232489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34</a:t>
            </a:fld>
            <a:endParaRPr kumimoji="1" lang="ja-JP" altLang="en-US"/>
          </a:p>
        </p:txBody>
      </p:sp>
    </p:spTree>
    <p:extLst>
      <p:ext uri="{BB962C8B-B14F-4D97-AF65-F5344CB8AC3E}">
        <p14:creationId xmlns:p14="http://schemas.microsoft.com/office/powerpoint/2010/main" val="183506441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B6ADA-9EE0-91AA-01F0-865797FB33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48D7824-B497-EEC9-3C27-6A309145FC0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893DCE5-B0D5-3EB2-202E-F260807F710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F8AE7A32-4756-AD3E-9E41-6DB0BE31AC45}"/>
              </a:ext>
            </a:extLst>
          </p:cNvPr>
          <p:cNvSpPr>
            <a:spLocks noGrp="1"/>
          </p:cNvSpPr>
          <p:nvPr>
            <p:ph type="sldNum" sz="quarter" idx="10"/>
          </p:nvPr>
        </p:nvSpPr>
        <p:spPr/>
        <p:txBody>
          <a:bodyPr/>
          <a:lstStyle/>
          <a:p>
            <a:fld id="{022E43C0-6795-4B13-B37C-259C826D4B6A}" type="slidenum">
              <a:rPr kumimoji="1" lang="ja-JP" altLang="en-US" smtClean="0"/>
              <a:t>35</a:t>
            </a:fld>
            <a:endParaRPr kumimoji="1" lang="ja-JP" altLang="en-US"/>
          </a:p>
        </p:txBody>
      </p:sp>
    </p:spTree>
    <p:extLst>
      <p:ext uri="{BB962C8B-B14F-4D97-AF65-F5344CB8AC3E}">
        <p14:creationId xmlns:p14="http://schemas.microsoft.com/office/powerpoint/2010/main" val="322614683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36</a:t>
            </a:fld>
            <a:endParaRPr kumimoji="1" lang="ja-JP" altLang="en-US"/>
          </a:p>
        </p:txBody>
      </p:sp>
    </p:spTree>
    <p:extLst>
      <p:ext uri="{BB962C8B-B14F-4D97-AF65-F5344CB8AC3E}">
        <p14:creationId xmlns:p14="http://schemas.microsoft.com/office/powerpoint/2010/main" val="371762245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E855B-5535-79F7-D3A0-C0A506787C8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C6FB8FB-0888-2275-ABE8-A13FDAA10E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71EA6C-9577-A559-064D-4DE5700FB2F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1C4F904-4503-6BD1-FC32-6AA038134FF0}"/>
              </a:ext>
            </a:extLst>
          </p:cNvPr>
          <p:cNvSpPr>
            <a:spLocks noGrp="1"/>
          </p:cNvSpPr>
          <p:nvPr>
            <p:ph type="sldNum" sz="quarter" idx="10"/>
          </p:nvPr>
        </p:nvSpPr>
        <p:spPr/>
        <p:txBody>
          <a:bodyPr/>
          <a:lstStyle/>
          <a:p>
            <a:fld id="{022E43C0-6795-4B13-B37C-259C826D4B6A}" type="slidenum">
              <a:rPr kumimoji="1" lang="ja-JP" altLang="en-US" smtClean="0"/>
              <a:t>38</a:t>
            </a:fld>
            <a:endParaRPr kumimoji="1" lang="ja-JP" altLang="en-US"/>
          </a:p>
        </p:txBody>
      </p:sp>
    </p:spTree>
    <p:extLst>
      <p:ext uri="{BB962C8B-B14F-4D97-AF65-F5344CB8AC3E}">
        <p14:creationId xmlns:p14="http://schemas.microsoft.com/office/powerpoint/2010/main" val="24795380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39</a:t>
            </a:fld>
            <a:endParaRPr kumimoji="1" lang="ja-JP" altLang="en-US"/>
          </a:p>
        </p:txBody>
      </p:sp>
    </p:spTree>
    <p:extLst>
      <p:ext uri="{BB962C8B-B14F-4D97-AF65-F5344CB8AC3E}">
        <p14:creationId xmlns:p14="http://schemas.microsoft.com/office/powerpoint/2010/main" val="298542484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40</a:t>
            </a:fld>
            <a:endParaRPr kumimoji="1" lang="ja-JP" altLang="en-US"/>
          </a:p>
        </p:txBody>
      </p:sp>
    </p:spTree>
    <p:extLst>
      <p:ext uri="{BB962C8B-B14F-4D97-AF65-F5344CB8AC3E}">
        <p14:creationId xmlns:p14="http://schemas.microsoft.com/office/powerpoint/2010/main" val="237052644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BED428-D571-14FF-D396-D7175DA0FB5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271AB2A-80AE-D1AA-E70B-86CDF935054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C0C2926-5D95-6624-6AD9-E45C5528979C}"/>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B6DFD87-0439-882A-B65E-9CEE51F20332}"/>
              </a:ext>
            </a:extLst>
          </p:cNvPr>
          <p:cNvSpPr>
            <a:spLocks noGrp="1"/>
          </p:cNvSpPr>
          <p:nvPr>
            <p:ph type="sldNum" sz="quarter" idx="10"/>
          </p:nvPr>
        </p:nvSpPr>
        <p:spPr/>
        <p:txBody>
          <a:bodyPr/>
          <a:lstStyle/>
          <a:p>
            <a:fld id="{022E43C0-6795-4B13-B37C-259C826D4B6A}" type="slidenum">
              <a:rPr kumimoji="1" lang="ja-JP" altLang="en-US" smtClean="0"/>
              <a:t>41</a:t>
            </a:fld>
            <a:endParaRPr kumimoji="1" lang="ja-JP" altLang="en-US"/>
          </a:p>
        </p:txBody>
      </p:sp>
    </p:spTree>
    <p:extLst>
      <p:ext uri="{BB962C8B-B14F-4D97-AF65-F5344CB8AC3E}">
        <p14:creationId xmlns:p14="http://schemas.microsoft.com/office/powerpoint/2010/main" val="110140536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7E86F-A6D1-E87A-0CDF-967B15A6E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EB2A411-33D2-6528-1C93-D186B198494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6218984-9375-B358-47D3-58B36CCF8DA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1F039DC-7BEC-8764-B0DE-E4A154E5A1A8}"/>
              </a:ext>
            </a:extLst>
          </p:cNvPr>
          <p:cNvSpPr>
            <a:spLocks noGrp="1"/>
          </p:cNvSpPr>
          <p:nvPr>
            <p:ph type="sldNum" sz="quarter" idx="10"/>
          </p:nvPr>
        </p:nvSpPr>
        <p:spPr/>
        <p:txBody>
          <a:bodyPr/>
          <a:lstStyle/>
          <a:p>
            <a:fld id="{022E43C0-6795-4B13-B37C-259C826D4B6A}" type="slidenum">
              <a:rPr kumimoji="1" lang="ja-JP" altLang="en-US" smtClean="0"/>
              <a:t>43</a:t>
            </a:fld>
            <a:endParaRPr kumimoji="1" lang="ja-JP" altLang="en-US"/>
          </a:p>
        </p:txBody>
      </p:sp>
    </p:spTree>
    <p:extLst>
      <p:ext uri="{BB962C8B-B14F-4D97-AF65-F5344CB8AC3E}">
        <p14:creationId xmlns:p14="http://schemas.microsoft.com/office/powerpoint/2010/main" val="239023445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52</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6.png"/><Relationship Id="rId4" Type="http://schemas.openxmlformats.org/officeDocument/2006/relationships/image" Target="../media/image66.png"/><Relationship Id="rId5" Type="http://schemas.openxmlformats.org/officeDocument/2006/relationships/image" Target="../media/image6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jpe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jpeg"/><Relationship Id="rId3" Type="http://schemas.openxmlformats.org/officeDocument/2006/relationships/image" Target="../media/image18.jpe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jpeg"/><Relationship Id="rId7" Type="http://schemas.openxmlformats.org/officeDocument/2006/relationships/image" Target="../media/image22.png"/><Relationship Id="rId8" Type="http://schemas.openxmlformats.org/officeDocument/2006/relationships/image" Target="../media/image23.png"/><Relationship Id="rId9" Type="http://schemas.openxmlformats.org/officeDocument/2006/relationships/image" Target="../media/image24.png"/><Relationship Id="rId10" Type="http://schemas.openxmlformats.org/officeDocument/2006/relationships/image" Target="../media/image25.jpe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image" Target="../media/image30.png"/><Relationship Id="rId8" Type="http://schemas.openxmlformats.org/officeDocument/2006/relationships/image" Target="../media/image31.png"/><Relationship Id="rId9" Type="http://schemas.openxmlformats.org/officeDocument/2006/relationships/image" Target="../media/image32.png"/><Relationship Id="rId10" Type="http://schemas.openxmlformats.org/officeDocument/2006/relationships/image" Target="../media/image3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4.png"/><Relationship Id="rId4" Type="http://schemas.openxmlformats.org/officeDocument/2006/relationships/image" Target="../media/image3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39.png"/><Relationship Id="rId7" Type="http://schemas.openxmlformats.org/officeDocument/2006/relationships/image" Target="../media/image40.svg"/><Relationship Id="rId8" Type="http://schemas.openxmlformats.org/officeDocument/2006/relationships/image" Target="../media/image4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42.svg"/><Relationship Id="rId4" Type="http://schemas.openxmlformats.org/officeDocument/2006/relationships/image" Target="../media/image43.svg"/><Relationship Id="rId5" Type="http://schemas.openxmlformats.org/officeDocument/2006/relationships/image" Target="../media/image44.svg"/><Relationship Id="rId6" Type="http://schemas.openxmlformats.org/officeDocument/2006/relationships/image" Target="../media/image45.sv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6.png"/><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image" Target="../media/image49.png"/><Relationship Id="rId6" Type="http://schemas.openxmlformats.org/officeDocument/2006/relationships/image" Target="../media/image50.png"/><Relationship Id="rId7" Type="http://schemas.openxmlformats.org/officeDocument/2006/relationships/image" Target="../media/image5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3.emf"/><Relationship Id="rId4" Type="http://schemas.openxmlformats.org/officeDocument/2006/relationships/image" Target="../media/image61.jpeg"/><Relationship Id="rId5" Type="http://schemas.openxmlformats.org/officeDocument/2006/relationships/image" Target="../media/image62.jpeg"/><Relationship Id="rId6" Type="http://schemas.openxmlformats.org/officeDocument/2006/relationships/image" Target="../media/image63.jpeg"/><Relationship Id="rId7" Type="http://schemas.openxmlformats.org/officeDocument/2006/relationships/image" Target="../media/image64.jpeg"/><Relationship Id="rId8" Type="http://schemas.openxmlformats.org/officeDocument/2006/relationships/image" Target="../media/image65.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2533105"/>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613481" y="2224725"/>
            <a:ext cx="6626632" cy="338554"/>
          </a:xfrm>
          <a:prstGeom prst="rect">
            <a:avLst/>
          </a:prstGeom>
        </p:spPr>
        <p:txBody>
          <a:bodyPr wrap="square">
            <a:spAutoFit/>
          </a:bodyPr>
          <a:lstStyle/>
          <a:p>
            <a:pPr algn="ctr"/>
            <a:r>
              <a:rPr lang="ja-JP" altLang="en-US" sz="1700" dirty="0">
                <a:solidFill>
                  <a:schemeClr val="tx1">
                    <a:lumMod val="50000"/>
                    <a:lumOff val="50000"/>
                  </a:schemeClr>
                </a:solidFill>
                <a:latin typeface="Meiryo" panose="020B0604030504040204" pitchFamily="34" charset="-128"/>
                <a:ea typeface="Meiryo" panose="020B0604030504040204" pitchFamily="34" charset="-128"/>
              </a:rPr>
              <a:t>最上位パートナーの知見を活用し、獲得に強い動線を構築する</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199966"/>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7" name="テキスト ボックス 6">
            <a:extLst>
              <a:ext uri="{FF2B5EF4-FFF2-40B4-BE49-F238E27FC236}">
                <a16:creationId xmlns:a16="http://schemas.microsoft.com/office/drawing/2014/main" id="{7170AE42-913D-895E-A1DE-6A899FE53370}"/>
              </a:ext>
            </a:extLst>
          </p:cNvPr>
          <p:cNvSpPr txBox="1"/>
          <p:nvPr/>
        </p:nvSpPr>
        <p:spPr>
          <a:xfrm>
            <a:off x="291974" y="263665"/>
            <a:ext cx="4965824" cy="338554"/>
          </a:xfrm>
          <a:prstGeom prst="rect">
            <a:avLst/>
          </a:prstGeom>
          <a:noFill/>
        </p:spPr>
        <p:txBody>
          <a:bodyPr wrap="square">
            <a:spAutoFit/>
          </a:bodyPr>
          <a:lstStyle/>
          <a:p>
            <a:r>
              <a:rPr lang="ja-JP" altLang="en-US" sz="1600" b="1" dirty="0">
                <a:solidFill>
                  <a:schemeClr val="tx1">
                    <a:lumMod val="50000"/>
                    <a:lumOff val="50000"/>
                  </a:schemeClr>
                </a:solidFill>
                <a:latin typeface="Meiryo" panose="020B0604030504040204" pitchFamily="34" charset="-128"/>
                <a:ea typeface="Meiryo" panose="020B0604030504040204" pitchFamily="34" charset="-128"/>
              </a:rPr>
              <a:t>株式会社チェングロウス 御中</a:t>
            </a:r>
          </a:p>
        </p:txBody>
      </p:sp>
      <p:pic>
        <p:nvPicPr>
          <p:cNvPr id="11" name="Picture 10" descr="chengrowth_logo.png"/>
          <p:cNvPicPr>
            <a:picLocks noChangeAspect="1"/>
          </p:cNvPicPr>
          <p:nvPr/>
        </p:nvPicPr>
        <p:blipFill>
          <a:blip r:embed="rId3"/>
          <a:stretch>
            <a:fillRect/>
          </a:stretch>
        </p:blipFill>
        <p:spPr>
          <a:xfrm>
            <a:off x="3513000" y="3478502"/>
            <a:ext cx="2880000" cy="337171"/>
          </a:xfrm>
          <a:prstGeom prst="rect">
            <a:avLst/>
          </a:prstGeom>
        </p:spPr>
      </p:pic>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A8E8E-25CB-4B86-C4F6-E5A7023586F7}"/>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現状把握【自動車 求人Navi】</a:t>
            </a:r>
          </a:p>
        </p:txBody>
      </p:sp>
      <p:sp>
        <p:nvSpPr>
          <p:cNvPr id="3" name="TextBox 2"/>
          <p:cNvSpPr txBox="1"/>
          <p:nvPr/>
        </p:nvSpPr>
        <p:spPr>
          <a:xfrm>
            <a:off x="432000" y="819206"/>
            <a:ext cx="9036000" cy="341589"/>
          </a:xfrm>
          <a:prstGeom prst="rect">
            <a:avLst/>
          </a:prstGeom>
          <a:noFill/>
        </p:spPr>
        <p:txBody>
          <a:bodyPr wrap="square" lIns="0" tIns="21600" rIns="0" bIns="21600" anchor="ctr">
            <a:spAutoFit/>
          </a:bodyPr>
          <a:lstStyle/>
          <a:p>
            <a:pPr algn="l">
              <a:lnSpc>
                <a:spcPct val="128000"/>
              </a:lnSpc>
            </a:pPr>
            <a:r>
              <a:rPr sz="1600">
                <a:solidFill>
                  <a:srgbClr val="333333"/>
                </a:solidFill>
                <a:latin typeface="メイリオ"/>
                <a:ea typeface="メイリオ"/>
                <a:cs typeface="メイリオ"/>
              </a:rPr>
              <a:t>広告は動いている。しかし、応募につながっていない。</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20000"/>
            <a:ext cx="2942400" cy="1584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32000" y="1728000"/>
            <a:ext cx="2942400" cy="251999"/>
          </a:xfrm>
          <a:prstGeom prst="rect">
            <a:avLst/>
          </a:prstGeom>
          <a:noFill/>
        </p:spPr>
        <p:txBody>
          <a:bodyPr wrap="square" lIns="50400" tIns="21600" rIns="50400" bIns="21600" anchor="ctr">
            <a:spAutoFit/>
          </a:bodyPr>
          <a:lstStyle/>
          <a:p>
            <a:pPr algn="ctr"/>
            <a:r>
              <a:rPr sz="1250" b="1">
                <a:solidFill>
                  <a:srgbClr val="1F285A"/>
                </a:solidFill>
                <a:latin typeface="メイリオ"/>
                <a:ea typeface="メイリオ"/>
                <a:cs typeface="メイリオ"/>
              </a:rPr>
              <a:t>Meta広告の応募単価</a:t>
            </a:r>
          </a:p>
        </p:txBody>
      </p:sp>
      <p:sp>
        <p:nvSpPr>
          <p:cNvPr id="7" name="TextBox 6"/>
          <p:cNvSpPr txBox="1"/>
          <p:nvPr/>
        </p:nvSpPr>
        <p:spPr>
          <a:xfrm>
            <a:off x="432000" y="2051999"/>
            <a:ext cx="2942400" cy="540000"/>
          </a:xfrm>
          <a:prstGeom prst="rect">
            <a:avLst/>
          </a:prstGeom>
          <a:noFill/>
        </p:spPr>
        <p:txBody>
          <a:bodyPr wrap="square" lIns="50400" tIns="21600" rIns="50400" bIns="21600" anchor="ctr">
            <a:spAutoFit/>
          </a:bodyPr>
          <a:lstStyle/>
          <a:p>
            <a:pPr algn="ctr"/>
            <a:r>
              <a:rPr sz="2600" b="1" dirty="0">
                <a:solidFill>
                  <a:srgbClr val="ED7D31"/>
                </a:solidFill>
                <a:latin typeface="メイリオ"/>
                <a:ea typeface="メイリオ"/>
                <a:cs typeface="メイリオ"/>
              </a:rPr>
              <a:t>約70万円/件</a:t>
            </a:r>
          </a:p>
        </p:txBody>
      </p:sp>
      <p:sp>
        <p:nvSpPr>
          <p:cNvPr id="8" name="TextBox 7"/>
          <p:cNvSpPr txBox="1"/>
          <p:nvPr/>
        </p:nvSpPr>
        <p:spPr>
          <a:xfrm>
            <a:off x="432000" y="2625048"/>
            <a:ext cx="2942400" cy="509903"/>
          </a:xfrm>
          <a:prstGeom prst="rect">
            <a:avLst/>
          </a:prstGeom>
          <a:noFill/>
        </p:spPr>
        <p:txBody>
          <a:bodyPr wrap="square" lIns="50400" tIns="21600" rIns="50400" bIns="21600" anchor="ctr">
            <a:spAutoFit/>
          </a:bodyPr>
          <a:lstStyle/>
          <a:p>
            <a:pPr algn="ctr">
              <a:lnSpc>
                <a:spcPct val="130000"/>
              </a:lnSpc>
            </a:pPr>
            <a:r>
              <a:rPr sz="1200" dirty="0">
                <a:solidFill>
                  <a:srgbClr val="333333"/>
                </a:solidFill>
                <a:latin typeface="メイリオ"/>
                <a:ea typeface="メイリオ"/>
                <a:cs typeface="メイリオ"/>
              </a:rPr>
              <a:t>年250万円の投下で</a:t>
            </a:r>
          </a:p>
          <a:p>
            <a:pPr algn="ctr">
              <a:lnSpc>
                <a:spcPct val="130000"/>
              </a:lnSpc>
            </a:pPr>
            <a:r>
              <a:rPr sz="1200" dirty="0">
                <a:solidFill>
                  <a:srgbClr val="333333"/>
                </a:solidFill>
                <a:latin typeface="メイリオ"/>
                <a:ea typeface="メイリオ"/>
                <a:cs typeface="メイリオ"/>
              </a:rPr>
              <a:t>応募は年3〜4件</a:t>
            </a:r>
          </a:p>
        </p:txBody>
      </p:sp>
      <p:sp>
        <p:nvSpPr>
          <p:cNvPr id="9" name="Rounded Rectangle 8"/>
          <p:cNvSpPr/>
          <p:nvPr/>
        </p:nvSpPr>
        <p:spPr>
          <a:xfrm>
            <a:off x="3482400" y="1620000"/>
            <a:ext cx="2942400" cy="1584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482400" y="1728000"/>
            <a:ext cx="2942400" cy="251999"/>
          </a:xfrm>
          <a:prstGeom prst="rect">
            <a:avLst/>
          </a:prstGeom>
          <a:noFill/>
        </p:spPr>
        <p:txBody>
          <a:bodyPr wrap="square" lIns="50400" tIns="21600" rIns="50400" bIns="21600" anchor="ctr">
            <a:spAutoFit/>
          </a:bodyPr>
          <a:lstStyle/>
          <a:p>
            <a:pPr algn="ctr"/>
            <a:r>
              <a:rPr sz="1250" b="1">
                <a:solidFill>
                  <a:srgbClr val="1F285A"/>
                </a:solidFill>
                <a:latin typeface="メイリオ"/>
                <a:ea typeface="メイリオ"/>
                <a:cs typeface="メイリオ"/>
              </a:rPr>
              <a:t>整備士の応募単価（Google）</a:t>
            </a:r>
          </a:p>
        </p:txBody>
      </p:sp>
      <p:sp>
        <p:nvSpPr>
          <p:cNvPr id="11" name="TextBox 10"/>
          <p:cNvSpPr txBox="1"/>
          <p:nvPr/>
        </p:nvSpPr>
        <p:spPr>
          <a:xfrm>
            <a:off x="3482400" y="2051999"/>
            <a:ext cx="2942400" cy="540000"/>
          </a:xfrm>
          <a:prstGeom prst="rect">
            <a:avLst/>
          </a:prstGeom>
          <a:noFill/>
        </p:spPr>
        <p:txBody>
          <a:bodyPr wrap="square" lIns="50400" tIns="21600" rIns="50400" bIns="21600" anchor="ctr">
            <a:spAutoFit/>
          </a:bodyPr>
          <a:lstStyle/>
          <a:p>
            <a:pPr algn="ctr"/>
            <a:r>
              <a:rPr sz="2600" b="1">
                <a:solidFill>
                  <a:srgbClr val="ED7D31"/>
                </a:solidFill>
                <a:latin typeface="メイリオ"/>
                <a:ea typeface="メイリオ"/>
                <a:cs typeface="メイリオ"/>
              </a:rPr>
              <a:t>6万円</a:t>
            </a:r>
          </a:p>
        </p:txBody>
      </p:sp>
      <p:sp>
        <p:nvSpPr>
          <p:cNvPr id="12" name="TextBox 11"/>
          <p:cNvSpPr txBox="1"/>
          <p:nvPr/>
        </p:nvSpPr>
        <p:spPr>
          <a:xfrm>
            <a:off x="3482400" y="2625048"/>
            <a:ext cx="2942400" cy="509903"/>
          </a:xfrm>
          <a:prstGeom prst="rect">
            <a:avLst/>
          </a:prstGeom>
          <a:noFill/>
        </p:spPr>
        <p:txBody>
          <a:bodyPr wrap="square" lIns="50400" tIns="21600" rIns="50400" bIns="21600" anchor="ctr">
            <a:spAutoFit/>
          </a:bodyPr>
          <a:lstStyle/>
          <a:p>
            <a:pPr algn="ctr">
              <a:lnSpc>
                <a:spcPct val="130000"/>
              </a:lnSpc>
            </a:pPr>
            <a:r>
              <a:rPr sz="1200">
                <a:solidFill>
                  <a:srgbClr val="333333"/>
                </a:solidFill>
                <a:latin typeface="メイリオ"/>
                <a:ea typeface="メイリオ"/>
                <a:cs typeface="メイリオ"/>
              </a:rPr>
              <a:t>目標は2〜2.5万円</a:t>
            </a:r>
          </a:p>
          <a:p>
            <a:pPr algn="ctr">
              <a:lnSpc>
                <a:spcPct val="130000"/>
              </a:lnSpc>
            </a:pPr>
            <a:r>
              <a:rPr sz="1200">
                <a:solidFill>
                  <a:srgbClr val="333333"/>
                </a:solidFill>
                <a:latin typeface="メイリオ"/>
                <a:ea typeface="メイリオ"/>
                <a:cs typeface="メイリオ"/>
              </a:rPr>
              <a:t>＝2.4〜3倍の乖離</a:t>
            </a:r>
          </a:p>
        </p:txBody>
      </p:sp>
      <p:sp>
        <p:nvSpPr>
          <p:cNvPr id="13" name="Rounded Rectangle 12"/>
          <p:cNvSpPr/>
          <p:nvPr/>
        </p:nvSpPr>
        <p:spPr>
          <a:xfrm>
            <a:off x="6532800" y="1620000"/>
            <a:ext cx="2942400" cy="1584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532800" y="1728000"/>
            <a:ext cx="2942400" cy="251999"/>
          </a:xfrm>
          <a:prstGeom prst="rect">
            <a:avLst/>
          </a:prstGeom>
          <a:noFill/>
        </p:spPr>
        <p:txBody>
          <a:bodyPr wrap="square" lIns="50400" tIns="21600" rIns="50400" bIns="21600" anchor="ctr">
            <a:spAutoFit/>
          </a:bodyPr>
          <a:lstStyle/>
          <a:p>
            <a:pPr algn="ctr"/>
            <a:r>
              <a:rPr sz="1250" b="1">
                <a:solidFill>
                  <a:srgbClr val="1F285A"/>
                </a:solidFill>
                <a:latin typeface="メイリオ"/>
                <a:ea typeface="メイリオ"/>
                <a:cs typeface="メイリオ"/>
              </a:rPr>
              <a:t>月間サイト訪問</a:t>
            </a:r>
          </a:p>
        </p:txBody>
      </p:sp>
      <p:sp>
        <p:nvSpPr>
          <p:cNvPr id="15" name="TextBox 14"/>
          <p:cNvSpPr txBox="1"/>
          <p:nvPr/>
        </p:nvSpPr>
        <p:spPr>
          <a:xfrm>
            <a:off x="6532800" y="2051999"/>
            <a:ext cx="2942400" cy="540000"/>
          </a:xfrm>
          <a:prstGeom prst="rect">
            <a:avLst/>
          </a:prstGeom>
          <a:noFill/>
        </p:spPr>
        <p:txBody>
          <a:bodyPr wrap="square" lIns="50400" tIns="21600" rIns="50400" bIns="21600" anchor="ctr">
            <a:spAutoFit/>
          </a:bodyPr>
          <a:lstStyle/>
          <a:p>
            <a:pPr algn="ctr"/>
            <a:r>
              <a:rPr sz="2600" b="1">
                <a:solidFill>
                  <a:srgbClr val="ED7D31"/>
                </a:solidFill>
                <a:latin typeface="メイリオ"/>
                <a:ea typeface="メイリオ"/>
                <a:cs typeface="メイリオ"/>
              </a:rPr>
              <a:t>3,215 UU</a:t>
            </a:r>
          </a:p>
        </p:txBody>
      </p:sp>
      <p:sp>
        <p:nvSpPr>
          <p:cNvPr id="16" name="TextBox 15"/>
          <p:cNvSpPr txBox="1"/>
          <p:nvPr/>
        </p:nvSpPr>
        <p:spPr>
          <a:xfrm>
            <a:off x="6532800" y="2625048"/>
            <a:ext cx="2942400" cy="509903"/>
          </a:xfrm>
          <a:prstGeom prst="rect">
            <a:avLst/>
          </a:prstGeom>
          <a:noFill/>
        </p:spPr>
        <p:txBody>
          <a:bodyPr wrap="square" lIns="50400" tIns="21600" rIns="50400" bIns="21600" anchor="ctr">
            <a:spAutoFit/>
          </a:bodyPr>
          <a:lstStyle/>
          <a:p>
            <a:pPr algn="ctr">
              <a:lnSpc>
                <a:spcPct val="130000"/>
              </a:lnSpc>
            </a:pPr>
            <a:r>
              <a:rPr sz="1200">
                <a:solidFill>
                  <a:srgbClr val="333333"/>
                </a:solidFill>
                <a:latin typeface="メイリオ"/>
                <a:ea typeface="メイリオ"/>
                <a:cs typeface="メイリオ"/>
              </a:rPr>
              <a:t>SimilarWeb推計</a:t>
            </a:r>
          </a:p>
          <a:p>
            <a:pPr algn="ctr">
              <a:lnSpc>
                <a:spcPct val="130000"/>
              </a:lnSpc>
            </a:pPr>
            <a:r>
              <a:rPr sz="1200">
                <a:solidFill>
                  <a:srgbClr val="333333"/>
                </a:solidFill>
                <a:latin typeface="メイリオ"/>
                <a:ea typeface="メイリオ"/>
                <a:cs typeface="メイリオ"/>
              </a:rPr>
              <a:t>応募まで進むのはごく一部</a:t>
            </a:r>
          </a:p>
        </p:txBody>
      </p:sp>
      <p:sp>
        <p:nvSpPr>
          <p:cNvPr id="17" name="Rounded Rectangle 16"/>
          <p:cNvSpPr/>
          <p:nvPr/>
        </p:nvSpPr>
        <p:spPr>
          <a:xfrm>
            <a:off x="432000" y="3537000"/>
            <a:ext cx="9043200" cy="957362"/>
          </a:xfrm>
          <a:prstGeom prst="roundRect">
            <a:avLst>
              <a:gd name="adj" fmla="val 6000"/>
            </a:avLst>
          </a:prstGeom>
          <a:solidFill>
            <a:srgbClr val="FDF2F2"/>
          </a:solidFill>
          <a:ln w="158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8" name="TextBox 17"/>
          <p:cNvSpPr txBox="1"/>
          <p:nvPr/>
        </p:nvSpPr>
        <p:spPr>
          <a:xfrm>
            <a:off x="608400" y="3580639"/>
            <a:ext cx="8683200" cy="854357"/>
          </a:xfrm>
          <a:prstGeom prst="rect">
            <a:avLst/>
          </a:prstGeom>
          <a:noFill/>
        </p:spPr>
        <p:txBody>
          <a:bodyPr wrap="square" lIns="50400" tIns="21600" rIns="50400" bIns="21600" anchor="ctr">
            <a:spAutoFit/>
          </a:bodyPr>
          <a:lstStyle/>
          <a:p>
            <a:pPr algn="l">
              <a:spcAft>
                <a:spcPts val="400"/>
              </a:spcAft>
            </a:pPr>
            <a:r>
              <a:rPr sz="1400" b="1" dirty="0">
                <a:solidFill>
                  <a:srgbClr val="C00000"/>
                </a:solidFill>
                <a:latin typeface="メイリオ"/>
                <a:ea typeface="メイリオ"/>
                <a:cs typeface="メイリオ"/>
              </a:rPr>
              <a:t>あわせて2点、すぐに直せる改善点があります。</a:t>
            </a:r>
          </a:p>
          <a:p>
            <a:pPr algn="l">
              <a:lnSpc>
                <a:spcPct val="130000"/>
              </a:lnSpc>
            </a:pPr>
            <a:r>
              <a:rPr sz="1400" dirty="0">
                <a:solidFill>
                  <a:srgbClr val="333333"/>
                </a:solidFill>
                <a:latin typeface="メイリオ"/>
                <a:ea typeface="メイリオ"/>
                <a:cs typeface="メイリオ"/>
              </a:rPr>
              <a:t>① </a:t>
            </a:r>
            <a:r>
              <a:rPr sz="1400" dirty="0" err="1">
                <a:solidFill>
                  <a:srgbClr val="333333"/>
                </a:solidFill>
                <a:latin typeface="メイリオ"/>
                <a:ea typeface="メイリオ"/>
                <a:cs typeface="メイリオ"/>
              </a:rPr>
              <a:t>トップページの「転職支援サービス申込」ボタンが現在リンク切れ（押した先が非公開の求人ページ</a:t>
            </a:r>
            <a:r>
              <a:rPr sz="1400" dirty="0">
                <a:solidFill>
                  <a:srgbClr val="333333"/>
                </a:solidFill>
                <a:latin typeface="メイリオ"/>
                <a:ea typeface="メイリオ"/>
                <a:cs typeface="メイリオ"/>
              </a:rPr>
              <a:t>）</a:t>
            </a:r>
          </a:p>
          <a:p>
            <a:pPr algn="l">
              <a:lnSpc>
                <a:spcPct val="130000"/>
              </a:lnSpc>
            </a:pPr>
            <a:r>
              <a:rPr sz="1400" dirty="0">
                <a:solidFill>
                  <a:srgbClr val="333333"/>
                </a:solidFill>
                <a:latin typeface="メイリオ"/>
                <a:ea typeface="メイリオ"/>
                <a:cs typeface="メイリオ"/>
              </a:rPr>
              <a:t>② 電話相談の受付が平日10:00〜18:00のみ ＝ </a:t>
            </a:r>
            <a:r>
              <a:rPr sz="1400" dirty="0" err="1">
                <a:solidFill>
                  <a:srgbClr val="333333"/>
                </a:solidFill>
                <a:latin typeface="メイリオ"/>
                <a:ea typeface="メイリオ"/>
                <a:cs typeface="メイリオ"/>
              </a:rPr>
              <a:t>整備士の方が働いている時間帯</a:t>
            </a:r>
            <a:endParaRPr sz="1400" dirty="0">
              <a:solidFill>
                <a:srgbClr val="333333"/>
              </a:solidFill>
              <a:latin typeface="メイリオ"/>
              <a:ea typeface="メイリオ"/>
              <a:cs typeface="メイリオ"/>
            </a:endParaRPr>
          </a:p>
        </p:txBody>
      </p:sp>
      <p:sp>
        <p:nvSpPr>
          <p:cNvPr id="19" name="TextBox 18"/>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50">
                <a:solidFill>
                  <a:srgbClr val="7F7F7F"/>
                </a:solidFill>
                <a:latin typeface="メイリオ"/>
                <a:ea typeface="メイリオ"/>
                <a:cs typeface="メイリオ"/>
              </a:rPr>
              <a:t>出典：与件ヒアリング（2026-09）／サイト実査 2026-09-21。UUはSimilarWeb推計</a:t>
            </a:r>
          </a:p>
        </p:txBody>
      </p:sp>
    </p:spTree>
    <p:extLst>
      <p:ext uri="{BB962C8B-B14F-4D97-AF65-F5344CB8AC3E}">
        <p14:creationId xmlns:p14="http://schemas.microsoft.com/office/powerpoint/2010/main" val="23784845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0E5221-666F-DE20-B9E8-FDFC607CC22D}"/>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想定動線【自動車 求人Navi】</a:t>
            </a:r>
          </a:p>
        </p:txBody>
      </p:sp>
      <p:sp>
        <p:nvSpPr>
          <p:cNvPr id="3" name="TextBox 2"/>
          <p:cNvSpPr txBox="1"/>
          <p:nvPr/>
        </p:nvSpPr>
        <p:spPr>
          <a:xfrm>
            <a:off x="432000" y="648000"/>
            <a:ext cx="9036000" cy="684000"/>
          </a:xfrm>
          <a:prstGeom prst="rect">
            <a:avLst/>
          </a:prstGeom>
          <a:noFill/>
        </p:spPr>
        <p:txBody>
          <a:bodyPr wrap="square" lIns="0" tIns="21600" rIns="0" bIns="21600" anchor="ctr">
            <a:spAutoFit/>
          </a:bodyPr>
          <a:lstStyle/>
          <a:p>
            <a:pPr algn="l">
              <a:lnSpc>
                <a:spcPct val="128000"/>
              </a:lnSpc>
            </a:pPr>
            <a:r>
              <a:rPr sz="1300">
                <a:solidFill>
                  <a:srgbClr val="333333"/>
                </a:solidFill>
                <a:latin typeface="メイリオ"/>
                <a:ea typeface="メイリオ"/>
                <a:cs typeface="メイリオ"/>
              </a:rPr>
              <a:t>現状は「今すぐ応募する」の一段のみ。迷っている段階の受け皿をLINEでつくる。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2000" y="1944641"/>
            <a:ext cx="1440000" cy="289843"/>
          </a:xfrm>
          <a:prstGeom prst="rect">
            <a:avLst/>
          </a:prstGeom>
          <a:noFill/>
        </p:spPr>
        <p:txBody>
          <a:bodyPr wrap="square" lIns="50400" tIns="21600" rIns="50400" bIns="21600" anchor="ctr">
            <a:spAutoFit/>
          </a:bodyPr>
          <a:lstStyle/>
          <a:p>
            <a:pPr algn="l"/>
            <a:r>
              <a:rPr sz="1600" b="1">
                <a:solidFill>
                  <a:srgbClr val="7F7F7F"/>
                </a:solidFill>
                <a:latin typeface="メイリオ"/>
                <a:ea typeface="メイリオ"/>
                <a:cs typeface="メイリオ"/>
              </a:rPr>
              <a:t>現状</a:t>
            </a:r>
          </a:p>
        </p:txBody>
      </p:sp>
      <p:sp>
        <p:nvSpPr>
          <p:cNvPr id="6" name="Rounded Rectangle 5"/>
          <p:cNvSpPr/>
          <p:nvPr/>
        </p:nvSpPr>
        <p:spPr>
          <a:xfrm>
            <a:off x="432000" y="2215561"/>
            <a:ext cx="2098800" cy="396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50400" tIns="21600" rIns="50400" bIns="21600" rtlCol="0" anchor="ctr"/>
          <a:lstStyle/>
          <a:p>
            <a:pPr algn="ctr"/>
            <a:r>
              <a:rPr sz="1600" b="1">
                <a:solidFill>
                  <a:srgbClr val="FFFFFF"/>
                </a:solidFill>
                <a:latin typeface="メイリオ"/>
                <a:ea typeface="メイリオ"/>
                <a:cs typeface="メイリオ"/>
              </a:rPr>
              <a:t>流入</a:t>
            </a:r>
          </a:p>
        </p:txBody>
      </p:sp>
      <p:sp>
        <p:nvSpPr>
          <p:cNvPr id="7" name="TextBox 6"/>
          <p:cNvSpPr txBox="1"/>
          <p:nvPr/>
        </p:nvSpPr>
        <p:spPr>
          <a:xfrm>
            <a:off x="2548800" y="2253252"/>
            <a:ext cx="180000" cy="320621"/>
          </a:xfrm>
          <a:prstGeom prst="rect">
            <a:avLst/>
          </a:prstGeom>
          <a:noFill/>
        </p:spPr>
        <p:txBody>
          <a:bodyPr wrap="square" lIns="50400" tIns="21600" rIns="50400" bIns="21600" anchor="ctr">
            <a:spAutoFit/>
          </a:bodyPr>
          <a:lstStyle/>
          <a:p>
            <a:pPr algn="ctr"/>
            <a:r>
              <a:rPr b="1">
                <a:solidFill>
                  <a:srgbClr val="7F7F7F"/>
                </a:solidFill>
                <a:latin typeface="メイリオ"/>
                <a:ea typeface="メイリオ"/>
                <a:cs typeface="メイリオ"/>
              </a:rPr>
              <a:t>→</a:t>
            </a:r>
          </a:p>
        </p:txBody>
      </p:sp>
      <p:sp>
        <p:nvSpPr>
          <p:cNvPr id="8" name="Rounded Rectangle 7"/>
          <p:cNvSpPr/>
          <p:nvPr/>
        </p:nvSpPr>
        <p:spPr>
          <a:xfrm>
            <a:off x="2746800" y="2215561"/>
            <a:ext cx="2098800" cy="396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50400" tIns="21600" rIns="50400" bIns="21600" rtlCol="0" anchor="ctr"/>
          <a:lstStyle/>
          <a:p>
            <a:pPr algn="ctr"/>
            <a:r>
              <a:rPr sz="1600" b="1">
                <a:solidFill>
                  <a:srgbClr val="FFFFFF"/>
                </a:solidFill>
                <a:latin typeface="メイリオ"/>
                <a:ea typeface="メイリオ"/>
                <a:cs typeface="メイリオ"/>
              </a:rPr>
              <a:t>求人を見る</a:t>
            </a:r>
          </a:p>
        </p:txBody>
      </p:sp>
      <p:sp>
        <p:nvSpPr>
          <p:cNvPr id="9" name="TextBox 8"/>
          <p:cNvSpPr txBox="1"/>
          <p:nvPr/>
        </p:nvSpPr>
        <p:spPr>
          <a:xfrm>
            <a:off x="4863600" y="2253252"/>
            <a:ext cx="180000" cy="320621"/>
          </a:xfrm>
          <a:prstGeom prst="rect">
            <a:avLst/>
          </a:prstGeom>
          <a:noFill/>
        </p:spPr>
        <p:txBody>
          <a:bodyPr wrap="square" lIns="50400" tIns="21600" rIns="50400" bIns="21600" anchor="ctr">
            <a:spAutoFit/>
          </a:bodyPr>
          <a:lstStyle/>
          <a:p>
            <a:pPr algn="ctr"/>
            <a:r>
              <a:rPr b="1">
                <a:solidFill>
                  <a:srgbClr val="7F7F7F"/>
                </a:solidFill>
                <a:latin typeface="メイリオ"/>
                <a:ea typeface="メイリオ"/>
                <a:cs typeface="メイリオ"/>
              </a:rPr>
              <a:t>→</a:t>
            </a:r>
          </a:p>
        </p:txBody>
      </p:sp>
      <p:sp>
        <p:nvSpPr>
          <p:cNvPr id="10" name="Rounded Rectangle 9"/>
          <p:cNvSpPr/>
          <p:nvPr/>
        </p:nvSpPr>
        <p:spPr>
          <a:xfrm>
            <a:off x="5061600" y="2215561"/>
            <a:ext cx="2098800" cy="396000"/>
          </a:xfrm>
          <a:prstGeom prst="roundRect">
            <a:avLst>
              <a:gd name="adj" fmla="val 6000"/>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wrap="square" lIns="50400" tIns="21600" rIns="50400" bIns="21600" rtlCol="0" anchor="ctr"/>
          <a:lstStyle/>
          <a:p>
            <a:pPr algn="ctr"/>
            <a:r>
              <a:rPr sz="1600" b="1">
                <a:solidFill>
                  <a:srgbClr val="FFFFFF"/>
                </a:solidFill>
                <a:latin typeface="メイリオ"/>
                <a:ea typeface="メイリオ"/>
                <a:cs typeface="メイリオ"/>
              </a:rPr>
              <a:t>今すぐ応募する</a:t>
            </a:r>
          </a:p>
        </p:txBody>
      </p:sp>
      <p:sp>
        <p:nvSpPr>
          <p:cNvPr id="11" name="TextBox 10"/>
          <p:cNvSpPr txBox="1"/>
          <p:nvPr/>
        </p:nvSpPr>
        <p:spPr>
          <a:xfrm>
            <a:off x="7178400" y="2253252"/>
            <a:ext cx="180000" cy="320621"/>
          </a:xfrm>
          <a:prstGeom prst="rect">
            <a:avLst/>
          </a:prstGeom>
          <a:noFill/>
        </p:spPr>
        <p:txBody>
          <a:bodyPr wrap="square" lIns="50400" tIns="21600" rIns="50400" bIns="21600" anchor="ctr">
            <a:spAutoFit/>
          </a:bodyPr>
          <a:lstStyle/>
          <a:p>
            <a:pPr algn="ctr"/>
            <a:r>
              <a:rPr b="1">
                <a:solidFill>
                  <a:srgbClr val="7F7F7F"/>
                </a:solidFill>
                <a:latin typeface="メイリオ"/>
                <a:ea typeface="メイリオ"/>
                <a:cs typeface="メイリオ"/>
              </a:rPr>
              <a:t>→</a:t>
            </a:r>
          </a:p>
        </p:txBody>
      </p:sp>
      <p:sp>
        <p:nvSpPr>
          <p:cNvPr id="12" name="Rounded Rectangle 11"/>
          <p:cNvSpPr/>
          <p:nvPr/>
        </p:nvSpPr>
        <p:spPr>
          <a:xfrm>
            <a:off x="7376399" y="2215561"/>
            <a:ext cx="2098800" cy="396000"/>
          </a:xfrm>
          <a:prstGeom prst="roundRect">
            <a:avLst>
              <a:gd name="adj" fmla="val 6000"/>
            </a:avLst>
          </a:prstGeom>
          <a:solidFill>
            <a:srgbClr val="FDF2F2"/>
          </a:solidFill>
          <a:ln w="15875">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50400" tIns="21600" rIns="50400" bIns="21600" rtlCol="0" anchor="ctr"/>
          <a:lstStyle/>
          <a:p>
            <a:pPr algn="ctr"/>
            <a:r>
              <a:rPr sz="1600" b="1">
                <a:solidFill>
                  <a:srgbClr val="C00000"/>
                </a:solidFill>
                <a:latin typeface="メイリオ"/>
                <a:ea typeface="メイリオ"/>
                <a:cs typeface="メイリオ"/>
              </a:rPr>
              <a:t>迷った人は離脱</a:t>
            </a:r>
          </a:p>
        </p:txBody>
      </p:sp>
      <p:sp>
        <p:nvSpPr>
          <p:cNvPr id="13" name="TextBox 12"/>
          <p:cNvSpPr txBox="1"/>
          <p:nvPr/>
        </p:nvSpPr>
        <p:spPr>
          <a:xfrm>
            <a:off x="432000" y="2718641"/>
            <a:ext cx="2160000" cy="289843"/>
          </a:xfrm>
          <a:prstGeom prst="rect">
            <a:avLst/>
          </a:prstGeom>
          <a:noFill/>
        </p:spPr>
        <p:txBody>
          <a:bodyPr wrap="square" lIns="50400" tIns="21600" rIns="50400" bIns="21600" anchor="ctr">
            <a:spAutoFit/>
          </a:bodyPr>
          <a:lstStyle/>
          <a:p>
            <a:pPr algn="l"/>
            <a:r>
              <a:rPr sz="1600" b="1">
                <a:solidFill>
                  <a:srgbClr val="06C755"/>
                </a:solidFill>
                <a:latin typeface="メイリオ"/>
                <a:ea typeface="メイリオ"/>
                <a:cs typeface="メイリオ"/>
              </a:rPr>
              <a:t>LINE導入後</a:t>
            </a:r>
          </a:p>
        </p:txBody>
      </p:sp>
      <p:sp>
        <p:nvSpPr>
          <p:cNvPr id="14" name="Rounded Rectangle 13"/>
          <p:cNvSpPr/>
          <p:nvPr/>
        </p:nvSpPr>
        <p:spPr>
          <a:xfrm>
            <a:off x="432000" y="2989561"/>
            <a:ext cx="1213201" cy="859953"/>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1600" rIns="28800" bIns="21600" rtlCol="0" anchor="ctr"/>
          <a:lstStyle/>
          <a:p>
            <a:pPr algn="ctr">
              <a:lnSpc>
                <a:spcPct val="115000"/>
              </a:lnSpc>
            </a:pPr>
            <a:r>
              <a:rPr sz="1400" b="1">
                <a:solidFill>
                  <a:srgbClr val="FFFFFF"/>
                </a:solidFill>
                <a:latin typeface="メイリオ"/>
                <a:ea typeface="メイリオ"/>
                <a:cs typeface="メイリオ"/>
              </a:rPr>
              <a:t>流入</a:t>
            </a:r>
          </a:p>
        </p:txBody>
      </p:sp>
      <p:sp>
        <p:nvSpPr>
          <p:cNvPr id="15" name="TextBox 14"/>
          <p:cNvSpPr txBox="1"/>
          <p:nvPr/>
        </p:nvSpPr>
        <p:spPr>
          <a:xfrm>
            <a:off x="1669971" y="3201860"/>
            <a:ext cx="148030" cy="289843"/>
          </a:xfrm>
          <a:prstGeom prst="rect">
            <a:avLst/>
          </a:prstGeom>
          <a:noFill/>
        </p:spPr>
        <p:txBody>
          <a:bodyPr wrap="square" lIns="50400" tIns="21600" rIns="50400" bIns="21600" anchor="ctr">
            <a:spAutoFit/>
          </a:bodyPr>
          <a:lstStyle/>
          <a:p>
            <a:pPr algn="ctr"/>
            <a:r>
              <a:rPr sz="1600" b="1" dirty="0">
                <a:solidFill>
                  <a:srgbClr val="7F7F7F"/>
                </a:solidFill>
                <a:latin typeface="メイリオ"/>
                <a:ea typeface="メイリオ"/>
                <a:cs typeface="メイリオ"/>
              </a:rPr>
              <a:t>→</a:t>
            </a:r>
          </a:p>
        </p:txBody>
      </p:sp>
      <p:sp>
        <p:nvSpPr>
          <p:cNvPr id="16" name="Rounded Rectangle 15"/>
          <p:cNvSpPr/>
          <p:nvPr/>
        </p:nvSpPr>
        <p:spPr>
          <a:xfrm>
            <a:off x="1857975" y="2989560"/>
            <a:ext cx="1368459" cy="859953"/>
          </a:xfrm>
          <a:prstGeom prst="roundRect">
            <a:avLst>
              <a:gd name="adj" fmla="val 6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1600" rIns="28800" bIns="21600" rtlCol="0" anchor="ctr"/>
          <a:lstStyle/>
          <a:p>
            <a:pPr algn="ctr">
              <a:lnSpc>
                <a:spcPct val="115000"/>
              </a:lnSpc>
            </a:pPr>
            <a:r>
              <a:rPr sz="1400" b="1" dirty="0" err="1">
                <a:solidFill>
                  <a:srgbClr val="FFFFFF"/>
                </a:solidFill>
                <a:latin typeface="メイリオ"/>
                <a:ea typeface="メイリオ"/>
                <a:cs typeface="メイリオ"/>
              </a:rPr>
              <a:t>LINE友だち化</a:t>
            </a:r>
            <a:endParaRPr sz="1400" b="1" dirty="0">
              <a:solidFill>
                <a:srgbClr val="FFFFFF"/>
              </a:solidFill>
              <a:latin typeface="メイリオ"/>
              <a:ea typeface="メイリオ"/>
              <a:cs typeface="メイリオ"/>
            </a:endParaRPr>
          </a:p>
          <a:p>
            <a:pPr algn="ctr">
              <a:lnSpc>
                <a:spcPct val="115000"/>
              </a:lnSpc>
            </a:pPr>
            <a:r>
              <a:rPr sz="1400" b="1" dirty="0">
                <a:solidFill>
                  <a:srgbClr val="FFFFFF"/>
                </a:solidFill>
                <a:latin typeface="メイリオ"/>
                <a:ea typeface="メイリオ"/>
                <a:cs typeface="メイリオ"/>
              </a:rPr>
              <a:t>（</a:t>
            </a:r>
            <a:r>
              <a:rPr sz="1400" b="1" dirty="0" err="1">
                <a:solidFill>
                  <a:srgbClr val="FFFFFF"/>
                </a:solidFill>
                <a:latin typeface="メイリオ"/>
                <a:ea typeface="メイリオ"/>
                <a:cs typeface="メイリオ"/>
              </a:rPr>
              <a:t>離脱防止・CPF</a:t>
            </a:r>
            <a:r>
              <a:rPr sz="1400" b="1" dirty="0">
                <a:solidFill>
                  <a:srgbClr val="FFFFFF"/>
                </a:solidFill>
                <a:latin typeface="メイリオ"/>
                <a:ea typeface="メイリオ"/>
                <a:cs typeface="メイリオ"/>
              </a:rPr>
              <a:t>）</a:t>
            </a:r>
          </a:p>
        </p:txBody>
      </p:sp>
      <p:sp>
        <p:nvSpPr>
          <p:cNvPr id="17" name="TextBox 16"/>
          <p:cNvSpPr txBox="1"/>
          <p:nvPr/>
        </p:nvSpPr>
        <p:spPr>
          <a:xfrm>
            <a:off x="3203243" y="3196920"/>
            <a:ext cx="287567" cy="289843"/>
          </a:xfrm>
          <a:prstGeom prst="rect">
            <a:avLst/>
          </a:prstGeom>
          <a:noFill/>
        </p:spPr>
        <p:txBody>
          <a:bodyPr wrap="square" lIns="50400" tIns="21600" rIns="50400" bIns="21600" anchor="ctr">
            <a:spAutoFit/>
          </a:bodyPr>
          <a:lstStyle/>
          <a:p>
            <a:pPr algn="ctr"/>
            <a:r>
              <a:rPr sz="1600" b="1" dirty="0">
                <a:solidFill>
                  <a:srgbClr val="7F7F7F"/>
                </a:solidFill>
                <a:latin typeface="メイリオ"/>
                <a:ea typeface="メイリオ"/>
                <a:cs typeface="メイリオ"/>
              </a:rPr>
              <a:t>→</a:t>
            </a:r>
          </a:p>
        </p:txBody>
      </p:sp>
      <p:sp>
        <p:nvSpPr>
          <p:cNvPr id="18" name="Rounded Rectangle 17"/>
          <p:cNvSpPr/>
          <p:nvPr/>
        </p:nvSpPr>
        <p:spPr>
          <a:xfrm>
            <a:off x="3467619" y="2989559"/>
            <a:ext cx="1368459" cy="859953"/>
          </a:xfrm>
          <a:prstGeom prst="roundRect">
            <a:avLst>
              <a:gd name="adj" fmla="val 6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1600" rIns="28800" bIns="21600" rtlCol="0" anchor="ctr"/>
          <a:lstStyle/>
          <a:p>
            <a:pPr algn="ctr">
              <a:lnSpc>
                <a:spcPct val="115000"/>
              </a:lnSpc>
            </a:pPr>
            <a:r>
              <a:rPr sz="1400" b="1" dirty="0">
                <a:solidFill>
                  <a:srgbClr val="FFFFFF"/>
                </a:solidFill>
                <a:latin typeface="メイリオ"/>
                <a:ea typeface="メイリオ"/>
                <a:cs typeface="メイリオ"/>
              </a:rPr>
              <a:t>30秒診断</a:t>
            </a:r>
          </a:p>
          <a:p>
            <a:pPr algn="ctr">
              <a:lnSpc>
                <a:spcPct val="115000"/>
              </a:lnSpc>
            </a:pPr>
            <a:r>
              <a:rPr sz="1400" b="1" dirty="0">
                <a:solidFill>
                  <a:srgbClr val="FFFFFF"/>
                </a:solidFill>
                <a:latin typeface="メイリオ"/>
                <a:ea typeface="メイリオ"/>
                <a:cs typeface="メイリオ"/>
              </a:rPr>
              <a:t>（</a:t>
            </a:r>
            <a:r>
              <a:rPr sz="1400" b="1" dirty="0" err="1">
                <a:solidFill>
                  <a:srgbClr val="FFFFFF"/>
                </a:solidFill>
                <a:latin typeface="メイリオ"/>
                <a:ea typeface="メイリオ"/>
                <a:cs typeface="メイリオ"/>
              </a:rPr>
              <a:t>職種・資格・温度感</a:t>
            </a:r>
            <a:r>
              <a:rPr sz="1400" b="1" dirty="0">
                <a:solidFill>
                  <a:srgbClr val="FFFFFF"/>
                </a:solidFill>
                <a:latin typeface="メイリオ"/>
                <a:ea typeface="メイリオ"/>
                <a:cs typeface="メイリオ"/>
              </a:rPr>
              <a:t>）</a:t>
            </a:r>
          </a:p>
        </p:txBody>
      </p:sp>
      <p:sp>
        <p:nvSpPr>
          <p:cNvPr id="19" name="TextBox 18"/>
          <p:cNvSpPr txBox="1"/>
          <p:nvPr/>
        </p:nvSpPr>
        <p:spPr>
          <a:xfrm>
            <a:off x="4877964" y="3196921"/>
            <a:ext cx="166974" cy="289843"/>
          </a:xfrm>
          <a:prstGeom prst="rect">
            <a:avLst/>
          </a:prstGeom>
          <a:noFill/>
        </p:spPr>
        <p:txBody>
          <a:bodyPr wrap="square" lIns="50400" tIns="21600" rIns="50400" bIns="21600" anchor="ctr">
            <a:spAutoFit/>
          </a:bodyPr>
          <a:lstStyle/>
          <a:p>
            <a:pPr algn="ctr"/>
            <a:r>
              <a:rPr sz="1600" b="1" dirty="0">
                <a:solidFill>
                  <a:srgbClr val="7F7F7F"/>
                </a:solidFill>
                <a:latin typeface="メイリオ"/>
                <a:ea typeface="メイリオ"/>
                <a:cs typeface="メイリオ"/>
              </a:rPr>
              <a:t>→</a:t>
            </a:r>
          </a:p>
        </p:txBody>
      </p:sp>
      <p:sp>
        <p:nvSpPr>
          <p:cNvPr id="20" name="Rounded Rectangle 19"/>
          <p:cNvSpPr/>
          <p:nvPr/>
        </p:nvSpPr>
        <p:spPr>
          <a:xfrm>
            <a:off x="5097584" y="2989560"/>
            <a:ext cx="1368459" cy="859953"/>
          </a:xfrm>
          <a:prstGeom prst="roundRect">
            <a:avLst>
              <a:gd name="adj" fmla="val 6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1600" rIns="28800" bIns="21600" rtlCol="0" anchor="ctr"/>
          <a:lstStyle/>
          <a:p>
            <a:pPr algn="ctr">
              <a:lnSpc>
                <a:spcPct val="115000"/>
              </a:lnSpc>
            </a:pPr>
            <a:r>
              <a:rPr sz="1200" b="1" dirty="0">
                <a:solidFill>
                  <a:srgbClr val="FFFFFF"/>
                </a:solidFill>
                <a:latin typeface="メイリオ"/>
                <a:ea typeface="メイリオ"/>
                <a:cs typeface="メイリオ"/>
              </a:rPr>
              <a:t>14日間の情報配信</a:t>
            </a:r>
          </a:p>
          <a:p>
            <a:pPr algn="ctr">
              <a:lnSpc>
                <a:spcPct val="115000"/>
              </a:lnSpc>
            </a:pPr>
            <a:r>
              <a:rPr sz="1200" b="1" dirty="0">
                <a:solidFill>
                  <a:srgbClr val="FFFFFF"/>
                </a:solidFill>
                <a:latin typeface="メイリオ"/>
                <a:ea typeface="メイリオ"/>
                <a:cs typeface="メイリオ"/>
              </a:rPr>
              <a:t>（</a:t>
            </a:r>
            <a:r>
              <a:rPr sz="1200" b="1" dirty="0" err="1">
                <a:solidFill>
                  <a:srgbClr val="FFFFFF"/>
                </a:solidFill>
                <a:latin typeface="メイリオ"/>
                <a:ea typeface="メイリオ"/>
                <a:cs typeface="メイリオ"/>
              </a:rPr>
              <a:t>年収相場・体験談</a:t>
            </a:r>
            <a:r>
              <a:rPr sz="1200" b="1" dirty="0">
                <a:solidFill>
                  <a:srgbClr val="FFFFFF"/>
                </a:solidFill>
                <a:latin typeface="メイリオ"/>
                <a:ea typeface="メイリオ"/>
                <a:cs typeface="メイリオ"/>
              </a:rPr>
              <a:t>）</a:t>
            </a:r>
          </a:p>
        </p:txBody>
      </p:sp>
      <p:sp>
        <p:nvSpPr>
          <p:cNvPr id="21" name="TextBox 20"/>
          <p:cNvSpPr txBox="1"/>
          <p:nvPr/>
        </p:nvSpPr>
        <p:spPr>
          <a:xfrm>
            <a:off x="6512428" y="3201859"/>
            <a:ext cx="148030" cy="289843"/>
          </a:xfrm>
          <a:prstGeom prst="rect">
            <a:avLst/>
          </a:prstGeom>
          <a:noFill/>
        </p:spPr>
        <p:txBody>
          <a:bodyPr wrap="square" lIns="50400" tIns="21600" rIns="50400" bIns="21600" anchor="ctr">
            <a:spAutoFit/>
          </a:bodyPr>
          <a:lstStyle/>
          <a:p>
            <a:pPr algn="ctr"/>
            <a:r>
              <a:rPr sz="1600" b="1" dirty="0">
                <a:solidFill>
                  <a:srgbClr val="7F7F7F"/>
                </a:solidFill>
                <a:latin typeface="メイリオ"/>
                <a:ea typeface="メイリオ"/>
                <a:cs typeface="メイリオ"/>
              </a:rPr>
              <a:t>→</a:t>
            </a:r>
          </a:p>
        </p:txBody>
      </p:sp>
      <p:sp>
        <p:nvSpPr>
          <p:cNvPr id="22" name="Rounded Rectangle 21"/>
          <p:cNvSpPr/>
          <p:nvPr/>
        </p:nvSpPr>
        <p:spPr>
          <a:xfrm>
            <a:off x="6707228" y="2989561"/>
            <a:ext cx="1213201" cy="859953"/>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1600" rIns="28800" bIns="21600" rtlCol="0" anchor="ctr"/>
          <a:lstStyle/>
          <a:p>
            <a:pPr algn="ctr">
              <a:lnSpc>
                <a:spcPct val="115000"/>
              </a:lnSpc>
            </a:pPr>
            <a:r>
              <a:rPr sz="1400" b="1" dirty="0" err="1">
                <a:solidFill>
                  <a:srgbClr val="FFFFFF"/>
                </a:solidFill>
                <a:latin typeface="メイリオ"/>
                <a:ea typeface="メイリオ"/>
                <a:cs typeface="メイリオ"/>
              </a:rPr>
              <a:t>面談・応募</a:t>
            </a:r>
            <a:endParaRPr sz="1400" b="1" dirty="0">
              <a:solidFill>
                <a:srgbClr val="FFFFFF"/>
              </a:solidFill>
              <a:latin typeface="メイリオ"/>
              <a:ea typeface="メイリオ"/>
              <a:cs typeface="メイリオ"/>
            </a:endParaRPr>
          </a:p>
        </p:txBody>
      </p:sp>
      <p:sp>
        <p:nvSpPr>
          <p:cNvPr id="23" name="TextBox 22"/>
          <p:cNvSpPr txBox="1"/>
          <p:nvPr/>
        </p:nvSpPr>
        <p:spPr>
          <a:xfrm>
            <a:off x="7945199" y="3204640"/>
            <a:ext cx="148030" cy="289843"/>
          </a:xfrm>
          <a:prstGeom prst="rect">
            <a:avLst/>
          </a:prstGeom>
          <a:noFill/>
        </p:spPr>
        <p:txBody>
          <a:bodyPr wrap="square" lIns="50400" tIns="21600" rIns="50400" bIns="21600" anchor="ctr">
            <a:spAutoFit/>
          </a:bodyPr>
          <a:lstStyle/>
          <a:p>
            <a:pPr algn="ctr"/>
            <a:r>
              <a:rPr sz="1600" b="1">
                <a:solidFill>
                  <a:srgbClr val="7F7F7F"/>
                </a:solidFill>
                <a:latin typeface="メイリオ"/>
                <a:ea typeface="メイリオ"/>
                <a:cs typeface="メイリオ"/>
              </a:rPr>
              <a:t>→</a:t>
            </a:r>
          </a:p>
        </p:txBody>
      </p:sp>
      <p:sp>
        <p:nvSpPr>
          <p:cNvPr id="24" name="Rounded Rectangle 23"/>
          <p:cNvSpPr/>
          <p:nvPr/>
        </p:nvSpPr>
        <p:spPr>
          <a:xfrm>
            <a:off x="8117999" y="2989561"/>
            <a:ext cx="1213201" cy="859953"/>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1600" rIns="28800" bIns="21600" rtlCol="0" anchor="ctr"/>
          <a:lstStyle/>
          <a:p>
            <a:pPr algn="ctr">
              <a:lnSpc>
                <a:spcPct val="115000"/>
              </a:lnSpc>
            </a:pPr>
            <a:r>
              <a:rPr sz="1400" b="1">
                <a:solidFill>
                  <a:srgbClr val="FFFFFF"/>
                </a:solidFill>
                <a:latin typeface="メイリオ"/>
                <a:ea typeface="メイリオ"/>
                <a:cs typeface="メイリオ"/>
              </a:rPr>
              <a:t>就業</a:t>
            </a:r>
          </a:p>
        </p:txBody>
      </p:sp>
      <p:sp>
        <p:nvSpPr>
          <p:cNvPr id="25" name="Rounded Rectangle 24"/>
          <p:cNvSpPr/>
          <p:nvPr/>
        </p:nvSpPr>
        <p:spPr>
          <a:xfrm>
            <a:off x="432000" y="4246440"/>
            <a:ext cx="9043200" cy="396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0" rIns="108000" bIns="0" rtlCol="0" anchor="ctr"/>
          <a:lstStyle/>
          <a:p>
            <a:pPr algn="ctr">
              <a:lnSpc>
                <a:spcPct val="125000"/>
              </a:lnSpc>
            </a:pPr>
            <a:r>
              <a:rPr b="1">
                <a:solidFill>
                  <a:srgbClr val="FFFFFF"/>
                </a:solidFill>
                <a:latin typeface="メイリオ"/>
                <a:ea typeface="メイリオ"/>
                <a:cs typeface="メイリオ"/>
              </a:rPr>
              <a:t>広告・サイトは変えない。「応募の手前」に、相談の階段を1段足すだけ。</a:t>
            </a:r>
          </a:p>
        </p:txBody>
      </p:sp>
      <p:sp>
        <p:nvSpPr>
          <p:cNvPr id="26" name="TextBox 25"/>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50">
                <a:solidFill>
                  <a:srgbClr val="7F7F7F"/>
                </a:solidFill>
                <a:latin typeface="メイリオ"/>
                <a:ea typeface="メイリオ"/>
                <a:cs typeface="メイリオ"/>
              </a:rPr>
              <a:t>意見｜DYM提案。CV地点＝求人応募・転職支援サービス登録（面談）</a:t>
            </a:r>
          </a:p>
        </p:txBody>
      </p:sp>
    </p:spTree>
    <p:extLst>
      <p:ext uri="{BB962C8B-B14F-4D97-AF65-F5344CB8AC3E}">
        <p14:creationId xmlns:p14="http://schemas.microsoft.com/office/powerpoint/2010/main" val="17159093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137160"/>
            <a:ext cx="6858000" cy="365760"/>
          </a:xfrm>
          <a:prstGeom prst="rect">
            <a:avLst/>
          </a:prstGeom>
          <a:noFill/>
        </p:spPr>
        <p:txBody>
          <a:bodyPr wrap="square">
            <a:spAutoFit/>
          </a:bodyPr>
          <a:lstStyle/>
          <a:p>
            <a:pPr algn="l"/>
            <a:r>
              <a:rPr sz="1400" b="1">
                <a:solidFill>
                  <a:srgbClr val="002060"/>
                </a:solidFill>
                <a:latin typeface="メイリオ"/>
                <a:ea typeface="メイリオ"/>
                <a:cs typeface="メイリオ"/>
              </a:rPr>
              <a:t>本提案の考え方</a:t>
            </a:r>
          </a:p>
        </p:txBody>
      </p:sp>
      <p:sp>
        <p:nvSpPr>
          <p:cNvPr id="3" name="TextBox 2"/>
          <p:cNvSpPr txBox="1"/>
          <p:nvPr/>
        </p:nvSpPr>
        <p:spPr>
          <a:xfrm>
            <a:off x="548640" y="1234440"/>
            <a:ext cx="8805672" cy="548640"/>
          </a:xfrm>
          <a:prstGeom prst="rect">
            <a:avLst/>
          </a:prstGeom>
          <a:noFill/>
        </p:spPr>
        <p:txBody>
          <a:bodyPr wrap="square">
            <a:spAutoFit/>
          </a:bodyPr>
          <a:lstStyle/>
          <a:p>
            <a:pPr algn="ctr"/>
            <a:r>
              <a:rPr sz="2400" b="1">
                <a:solidFill>
                  <a:srgbClr val="333333"/>
                </a:solidFill>
                <a:latin typeface="メイリオ"/>
                <a:ea typeface="メイリオ"/>
                <a:cs typeface="メイリオ"/>
              </a:rPr>
              <a:t>広告は、CVの瞬間で接点が終わる。</a:t>
            </a:r>
          </a:p>
        </p:txBody>
      </p:sp>
      <p:sp>
        <p:nvSpPr>
          <p:cNvPr id="4" name="TextBox 3"/>
          <p:cNvSpPr txBox="1"/>
          <p:nvPr/>
        </p:nvSpPr>
        <p:spPr>
          <a:xfrm>
            <a:off x="548640" y="1828800"/>
            <a:ext cx="8805672" cy="640080"/>
          </a:xfrm>
          <a:prstGeom prst="rect">
            <a:avLst/>
          </a:prstGeom>
          <a:noFill/>
        </p:spPr>
        <p:txBody>
          <a:bodyPr wrap="square">
            <a:spAutoFit/>
          </a:bodyPr>
          <a:lstStyle/>
          <a:p>
            <a:pPr algn="ctr"/>
            <a:r>
              <a:rPr sz="3000" b="1">
                <a:solidFill>
                  <a:srgbClr val="BF4E0E"/>
                </a:solidFill>
                <a:latin typeface="メイリオ"/>
                <a:ea typeface="メイリオ"/>
                <a:cs typeface="メイリオ"/>
              </a:rPr>
              <a:t>LINEは、CVの先まで追いきれる。</a:t>
            </a:r>
          </a:p>
        </p:txBody>
      </p:sp>
      <p:sp>
        <p:nvSpPr>
          <p:cNvPr id="5" name="TextBox 4"/>
          <p:cNvSpPr txBox="1"/>
          <p:nvPr/>
        </p:nvSpPr>
        <p:spPr>
          <a:xfrm>
            <a:off x="548640" y="2610000"/>
            <a:ext cx="8805672" cy="822960"/>
          </a:xfrm>
          <a:prstGeom prst="rect">
            <a:avLst/>
          </a:prstGeom>
          <a:noFill/>
        </p:spPr>
        <p:txBody>
          <a:bodyPr wrap="square">
            <a:spAutoFit/>
          </a:bodyPr>
          <a:lstStyle/>
          <a:p>
            <a:pPr algn="ctr"/>
            <a:r>
              <a:rPr sz="1500" b="0" dirty="0" err="1">
                <a:solidFill>
                  <a:srgbClr val="333333"/>
                </a:solidFill>
                <a:latin typeface="メイリオ"/>
                <a:ea typeface="メイリオ"/>
                <a:cs typeface="メイリオ"/>
              </a:rPr>
              <a:t>一度つながれば、接点を持ち続けられる。情報を渡し続けられる</a:t>
            </a:r>
            <a:r>
              <a:rPr sz="1500" b="0" dirty="0">
                <a:solidFill>
                  <a:srgbClr val="333333"/>
                </a:solidFill>
                <a:latin typeface="メイリオ"/>
                <a:ea typeface="メイリオ"/>
                <a:cs typeface="メイリオ"/>
              </a:rPr>
              <a:t>。</a:t>
            </a:r>
          </a:p>
          <a:p>
            <a:pPr algn="ctr"/>
            <a:r>
              <a:rPr sz="1500" b="0" dirty="0" err="1">
                <a:solidFill>
                  <a:srgbClr val="333333"/>
                </a:solidFill>
                <a:latin typeface="メイリオ"/>
                <a:ea typeface="メイリオ"/>
                <a:cs typeface="メイリオ"/>
              </a:rPr>
              <a:t>応募で終わらず、面談</a:t>
            </a:r>
            <a:r>
              <a:rPr sz="1500" b="0" dirty="0">
                <a:solidFill>
                  <a:srgbClr val="333333"/>
                </a:solidFill>
                <a:latin typeface="メイリオ"/>
                <a:ea typeface="メイリオ"/>
                <a:cs typeface="メイリオ"/>
              </a:rPr>
              <a:t> → </a:t>
            </a:r>
            <a:r>
              <a:rPr sz="1500" b="0" dirty="0" err="1">
                <a:solidFill>
                  <a:srgbClr val="333333"/>
                </a:solidFill>
                <a:latin typeface="メイリオ"/>
                <a:ea typeface="メイリオ"/>
                <a:cs typeface="メイリオ"/>
              </a:rPr>
              <a:t>就業</a:t>
            </a:r>
            <a:r>
              <a:rPr sz="1500" b="0" dirty="0">
                <a:solidFill>
                  <a:srgbClr val="333333"/>
                </a:solidFill>
                <a:latin typeface="メイリオ"/>
                <a:ea typeface="メイリオ"/>
                <a:cs typeface="メイリオ"/>
              </a:rPr>
              <a:t> → </a:t>
            </a:r>
            <a:r>
              <a:rPr sz="1500" b="0" dirty="0" err="1">
                <a:solidFill>
                  <a:srgbClr val="333333"/>
                </a:solidFill>
                <a:latin typeface="メイリオ"/>
                <a:ea typeface="メイリオ"/>
                <a:cs typeface="メイリオ"/>
              </a:rPr>
              <a:t>定着まで並走できる</a:t>
            </a:r>
            <a:r>
              <a:rPr sz="1500" b="0" dirty="0">
                <a:solidFill>
                  <a:srgbClr val="333333"/>
                </a:solidFill>
                <a:latin typeface="メイリオ"/>
                <a:ea typeface="メイリオ"/>
                <a:cs typeface="メイリオ"/>
              </a:rPr>
              <a:t>——</a:t>
            </a:r>
            <a:r>
              <a:rPr sz="1500" b="0" dirty="0" err="1">
                <a:solidFill>
                  <a:srgbClr val="333333"/>
                </a:solidFill>
                <a:latin typeface="メイリオ"/>
                <a:ea typeface="メイリオ"/>
                <a:cs typeface="メイリオ"/>
              </a:rPr>
              <a:t>これがLINE最大の魅力です</a:t>
            </a:r>
            <a:r>
              <a:rPr sz="1500" b="0" dirty="0">
                <a:solidFill>
                  <a:srgbClr val="333333"/>
                </a:solidFill>
                <a:latin typeface="メイリオ"/>
                <a:ea typeface="メイリオ"/>
                <a:cs typeface="メイリオ"/>
              </a:rPr>
              <a:t>。</a:t>
            </a:r>
          </a:p>
        </p:txBody>
      </p:sp>
      <p:sp>
        <p:nvSpPr>
          <p:cNvPr id="6" name="TextBox 5"/>
          <p:cNvSpPr txBox="1"/>
          <p:nvPr/>
        </p:nvSpPr>
        <p:spPr>
          <a:xfrm>
            <a:off x="594360" y="3508977"/>
            <a:ext cx="822960" cy="365760"/>
          </a:xfrm>
          <a:prstGeom prst="rect">
            <a:avLst/>
          </a:prstGeom>
          <a:noFill/>
        </p:spPr>
        <p:txBody>
          <a:bodyPr wrap="square">
            <a:spAutoFit/>
          </a:bodyPr>
          <a:lstStyle/>
          <a:p>
            <a:pPr algn="l"/>
            <a:r>
              <a:rPr sz="1500" b="1">
                <a:solidFill>
                  <a:srgbClr val="333333"/>
                </a:solidFill>
                <a:latin typeface="メイリオ"/>
                <a:ea typeface="メイリオ"/>
                <a:cs typeface="メイリオ"/>
              </a:rPr>
              <a:t>広告</a:t>
            </a:r>
          </a:p>
        </p:txBody>
      </p:sp>
      <p:sp>
        <p:nvSpPr>
          <p:cNvPr id="7" name="Rounded Rectangle 6"/>
          <p:cNvSpPr/>
          <p:nvPr/>
        </p:nvSpPr>
        <p:spPr>
          <a:xfrm>
            <a:off x="1508760" y="3463257"/>
            <a:ext cx="1325880" cy="475488"/>
          </a:xfrm>
          <a:prstGeom prst="roundRect">
            <a:avLst>
              <a:gd name="adj" fmla="val 12000"/>
            </a:avLst>
          </a:prstGeom>
          <a:solidFill>
            <a:srgbClr val="F0F0F0"/>
          </a:solidFill>
          <a:ln w="12700">
            <a:solidFill>
              <a:srgbClr val="D9D9D9"/>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333333"/>
                </a:solidFill>
                <a:latin typeface="メイリオ"/>
                <a:ea typeface="メイリオ"/>
                <a:cs typeface="メイリオ"/>
              </a:rPr>
              <a:t>接触</a:t>
            </a:r>
          </a:p>
        </p:txBody>
      </p:sp>
      <p:sp>
        <p:nvSpPr>
          <p:cNvPr id="8" name="TextBox 7"/>
          <p:cNvSpPr txBox="1"/>
          <p:nvPr/>
        </p:nvSpPr>
        <p:spPr>
          <a:xfrm>
            <a:off x="2862072" y="3536409"/>
            <a:ext cx="274320" cy="365760"/>
          </a:xfrm>
          <a:prstGeom prst="rect">
            <a:avLst/>
          </a:prstGeom>
          <a:noFill/>
        </p:spPr>
        <p:txBody>
          <a:bodyPr wrap="square">
            <a:spAutoFit/>
          </a:bodyPr>
          <a:lstStyle/>
          <a:p>
            <a:pPr algn="ctr"/>
            <a:r>
              <a:rPr sz="1500" b="1">
                <a:solidFill>
                  <a:srgbClr val="1F285A"/>
                </a:solidFill>
                <a:latin typeface="メイリオ"/>
                <a:ea typeface="メイリオ"/>
                <a:cs typeface="メイリオ"/>
              </a:rPr>
              <a:t>→</a:t>
            </a:r>
          </a:p>
        </p:txBody>
      </p:sp>
      <p:sp>
        <p:nvSpPr>
          <p:cNvPr id="9" name="Rounded Rectangle 8"/>
          <p:cNvSpPr/>
          <p:nvPr/>
        </p:nvSpPr>
        <p:spPr>
          <a:xfrm>
            <a:off x="3172968" y="3463257"/>
            <a:ext cx="1737360" cy="475488"/>
          </a:xfrm>
          <a:prstGeom prst="roundRect">
            <a:avLst>
              <a:gd name="adj" fmla="val 12000"/>
            </a:avLst>
          </a:prstGeom>
          <a:solidFill>
            <a:srgbClr val="F0F0F0"/>
          </a:solidFill>
          <a:ln w="12700">
            <a:solidFill>
              <a:srgbClr val="D9D9D9"/>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333333"/>
                </a:solidFill>
                <a:latin typeface="メイリオ"/>
                <a:ea typeface="メイリオ"/>
                <a:cs typeface="メイリオ"/>
              </a:rPr>
              <a:t>応募・相談（CV）</a:t>
            </a:r>
          </a:p>
        </p:txBody>
      </p:sp>
      <p:sp>
        <p:nvSpPr>
          <p:cNvPr id="10" name="TextBox 9"/>
          <p:cNvSpPr txBox="1"/>
          <p:nvPr/>
        </p:nvSpPr>
        <p:spPr>
          <a:xfrm>
            <a:off x="5120640" y="3527265"/>
            <a:ext cx="3108960" cy="365760"/>
          </a:xfrm>
          <a:prstGeom prst="rect">
            <a:avLst/>
          </a:prstGeom>
          <a:noFill/>
        </p:spPr>
        <p:txBody>
          <a:bodyPr wrap="square">
            <a:spAutoFit/>
          </a:bodyPr>
          <a:lstStyle/>
          <a:p>
            <a:pPr algn="l"/>
            <a:r>
              <a:rPr sz="1400" b="1">
                <a:solidFill>
                  <a:srgbClr val="C00000"/>
                </a:solidFill>
                <a:latin typeface="メイリオ"/>
                <a:ea typeface="メイリオ"/>
                <a:cs typeface="メイリオ"/>
              </a:rPr>
              <a:t>✕ ここで接点が途切れる</a:t>
            </a:r>
          </a:p>
        </p:txBody>
      </p:sp>
      <p:sp>
        <p:nvSpPr>
          <p:cNvPr id="11" name="TextBox 10"/>
          <p:cNvSpPr txBox="1"/>
          <p:nvPr/>
        </p:nvSpPr>
        <p:spPr>
          <a:xfrm>
            <a:off x="594360" y="4154817"/>
            <a:ext cx="822960" cy="365760"/>
          </a:xfrm>
          <a:prstGeom prst="rect">
            <a:avLst/>
          </a:prstGeom>
          <a:noFill/>
        </p:spPr>
        <p:txBody>
          <a:bodyPr wrap="square">
            <a:spAutoFit/>
          </a:bodyPr>
          <a:lstStyle/>
          <a:p>
            <a:pPr algn="l"/>
            <a:r>
              <a:rPr sz="1500" b="1">
                <a:solidFill>
                  <a:srgbClr val="1F285A"/>
                </a:solidFill>
                <a:latin typeface="メイリオ"/>
                <a:ea typeface="メイリオ"/>
                <a:cs typeface="メイリオ"/>
              </a:rPr>
              <a:t>LINE</a:t>
            </a:r>
          </a:p>
        </p:txBody>
      </p:sp>
      <p:sp>
        <p:nvSpPr>
          <p:cNvPr id="12" name="Rounded Rectangle 11"/>
          <p:cNvSpPr/>
          <p:nvPr/>
        </p:nvSpPr>
        <p:spPr>
          <a:xfrm>
            <a:off x="1508760" y="4109097"/>
            <a:ext cx="1325880" cy="475488"/>
          </a:xfrm>
          <a:prstGeom prst="roundRect">
            <a:avLst>
              <a:gd name="adj" fmla="val 12000"/>
            </a:avLst>
          </a:prstGeom>
          <a:solidFill>
            <a:srgbClr val="F4F7FF"/>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1F285A"/>
                </a:solidFill>
                <a:latin typeface="メイリオ"/>
                <a:ea typeface="メイリオ"/>
                <a:cs typeface="メイリオ"/>
              </a:rPr>
              <a:t>接触</a:t>
            </a:r>
          </a:p>
        </p:txBody>
      </p:sp>
      <p:sp>
        <p:nvSpPr>
          <p:cNvPr id="13" name="TextBox 12"/>
          <p:cNvSpPr txBox="1"/>
          <p:nvPr/>
        </p:nvSpPr>
        <p:spPr>
          <a:xfrm>
            <a:off x="2862072" y="4182249"/>
            <a:ext cx="274320" cy="365760"/>
          </a:xfrm>
          <a:prstGeom prst="rect">
            <a:avLst/>
          </a:prstGeom>
          <a:noFill/>
        </p:spPr>
        <p:txBody>
          <a:bodyPr wrap="square">
            <a:spAutoFit/>
          </a:bodyPr>
          <a:lstStyle/>
          <a:p>
            <a:pPr algn="ctr"/>
            <a:r>
              <a:rPr sz="1500" b="1">
                <a:solidFill>
                  <a:srgbClr val="1F285A"/>
                </a:solidFill>
                <a:latin typeface="メイリオ"/>
                <a:ea typeface="メイリオ"/>
                <a:cs typeface="メイリオ"/>
              </a:rPr>
              <a:t>→</a:t>
            </a:r>
          </a:p>
        </p:txBody>
      </p:sp>
      <p:sp>
        <p:nvSpPr>
          <p:cNvPr id="14" name="Rounded Rectangle 13"/>
          <p:cNvSpPr/>
          <p:nvPr/>
        </p:nvSpPr>
        <p:spPr>
          <a:xfrm>
            <a:off x="3172968" y="4109097"/>
            <a:ext cx="1737360" cy="475488"/>
          </a:xfrm>
          <a:prstGeom prst="roundRect">
            <a:avLst>
              <a:gd name="adj" fmla="val 12000"/>
            </a:avLst>
          </a:prstGeom>
          <a:solidFill>
            <a:srgbClr val="F4F7FF"/>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1F285A"/>
                </a:solidFill>
                <a:latin typeface="メイリオ"/>
                <a:ea typeface="メイリオ"/>
                <a:cs typeface="メイリオ"/>
              </a:rPr>
              <a:t>応募・相談（CV）</a:t>
            </a:r>
          </a:p>
        </p:txBody>
      </p:sp>
      <p:sp>
        <p:nvSpPr>
          <p:cNvPr id="15" name="TextBox 14"/>
          <p:cNvSpPr txBox="1"/>
          <p:nvPr/>
        </p:nvSpPr>
        <p:spPr>
          <a:xfrm>
            <a:off x="4937760" y="4182249"/>
            <a:ext cx="274320" cy="365760"/>
          </a:xfrm>
          <a:prstGeom prst="rect">
            <a:avLst/>
          </a:prstGeom>
          <a:noFill/>
        </p:spPr>
        <p:txBody>
          <a:bodyPr wrap="square">
            <a:spAutoFit/>
          </a:bodyPr>
          <a:lstStyle/>
          <a:p>
            <a:pPr algn="ctr"/>
            <a:r>
              <a:rPr sz="1500" b="1">
                <a:solidFill>
                  <a:srgbClr val="1F285A"/>
                </a:solidFill>
                <a:latin typeface="メイリオ"/>
                <a:ea typeface="メイリオ"/>
                <a:cs typeface="メイリオ"/>
              </a:rPr>
              <a:t>→</a:t>
            </a:r>
          </a:p>
        </p:txBody>
      </p:sp>
      <p:sp>
        <p:nvSpPr>
          <p:cNvPr id="16" name="Rounded Rectangle 15"/>
          <p:cNvSpPr/>
          <p:nvPr/>
        </p:nvSpPr>
        <p:spPr>
          <a:xfrm>
            <a:off x="5248656" y="4109097"/>
            <a:ext cx="1097280" cy="475488"/>
          </a:xfrm>
          <a:prstGeom prst="roundRect">
            <a:avLst>
              <a:gd name="adj" fmla="val 12000"/>
            </a:avLst>
          </a:prstGeom>
          <a:solidFill>
            <a:srgbClr val="F4F7FF"/>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1F285A"/>
                </a:solidFill>
                <a:latin typeface="メイリオ"/>
                <a:ea typeface="メイリオ"/>
                <a:cs typeface="メイリオ"/>
              </a:rPr>
              <a:t>面談</a:t>
            </a:r>
          </a:p>
        </p:txBody>
      </p:sp>
      <p:sp>
        <p:nvSpPr>
          <p:cNvPr id="17" name="TextBox 16"/>
          <p:cNvSpPr txBox="1"/>
          <p:nvPr/>
        </p:nvSpPr>
        <p:spPr>
          <a:xfrm>
            <a:off x="6373368" y="4182249"/>
            <a:ext cx="274320" cy="365760"/>
          </a:xfrm>
          <a:prstGeom prst="rect">
            <a:avLst/>
          </a:prstGeom>
          <a:noFill/>
        </p:spPr>
        <p:txBody>
          <a:bodyPr wrap="square">
            <a:spAutoFit/>
          </a:bodyPr>
          <a:lstStyle/>
          <a:p>
            <a:pPr algn="ctr"/>
            <a:r>
              <a:rPr sz="1500" b="1">
                <a:solidFill>
                  <a:srgbClr val="1F285A"/>
                </a:solidFill>
                <a:latin typeface="メイリオ"/>
                <a:ea typeface="メイリオ"/>
                <a:cs typeface="メイリオ"/>
              </a:rPr>
              <a:t>→</a:t>
            </a:r>
          </a:p>
        </p:txBody>
      </p:sp>
      <p:sp>
        <p:nvSpPr>
          <p:cNvPr id="18" name="Rounded Rectangle 17"/>
          <p:cNvSpPr/>
          <p:nvPr/>
        </p:nvSpPr>
        <p:spPr>
          <a:xfrm>
            <a:off x="6684264" y="4109097"/>
            <a:ext cx="1097280" cy="475488"/>
          </a:xfrm>
          <a:prstGeom prst="roundRect">
            <a:avLst>
              <a:gd name="adj" fmla="val 12000"/>
            </a:avLst>
          </a:prstGeom>
          <a:solidFill>
            <a:srgbClr val="1F285A"/>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FFFFFF"/>
                </a:solidFill>
                <a:latin typeface="メイリオ"/>
                <a:ea typeface="メイリオ"/>
                <a:cs typeface="メイリオ"/>
              </a:rPr>
              <a:t>就業</a:t>
            </a:r>
          </a:p>
        </p:txBody>
      </p:sp>
      <p:sp>
        <p:nvSpPr>
          <p:cNvPr id="19" name="TextBox 18"/>
          <p:cNvSpPr txBox="1"/>
          <p:nvPr/>
        </p:nvSpPr>
        <p:spPr>
          <a:xfrm>
            <a:off x="7808976" y="4182249"/>
            <a:ext cx="274320" cy="365760"/>
          </a:xfrm>
          <a:prstGeom prst="rect">
            <a:avLst/>
          </a:prstGeom>
          <a:noFill/>
        </p:spPr>
        <p:txBody>
          <a:bodyPr wrap="square">
            <a:spAutoFit/>
          </a:bodyPr>
          <a:lstStyle/>
          <a:p>
            <a:pPr algn="ctr"/>
            <a:r>
              <a:rPr sz="1500" b="1">
                <a:solidFill>
                  <a:srgbClr val="1F285A"/>
                </a:solidFill>
                <a:latin typeface="メイリオ"/>
                <a:ea typeface="メイリオ"/>
                <a:cs typeface="メイリオ"/>
              </a:rPr>
              <a:t>→</a:t>
            </a:r>
          </a:p>
        </p:txBody>
      </p:sp>
      <p:sp>
        <p:nvSpPr>
          <p:cNvPr id="20" name="Rounded Rectangle 19"/>
          <p:cNvSpPr/>
          <p:nvPr/>
        </p:nvSpPr>
        <p:spPr>
          <a:xfrm>
            <a:off x="8119872" y="4109097"/>
            <a:ext cx="1234440" cy="475488"/>
          </a:xfrm>
          <a:prstGeom prst="roundRect">
            <a:avLst>
              <a:gd name="adj" fmla="val 12000"/>
            </a:avLst>
          </a:prstGeom>
          <a:solidFill>
            <a:srgbClr val="F4F7FF"/>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1F285A"/>
                </a:solidFill>
                <a:latin typeface="メイリオ"/>
                <a:ea typeface="メイリオ"/>
                <a:cs typeface="メイリオ"/>
              </a:rPr>
              <a:t>定着・紹介</a:t>
            </a:r>
          </a:p>
        </p:txBody>
      </p:sp>
      <p:sp>
        <p:nvSpPr>
          <p:cNvPr id="21" name="Rectangle 20"/>
          <p:cNvSpPr/>
          <p:nvPr/>
        </p:nvSpPr>
        <p:spPr>
          <a:xfrm>
            <a:off x="432000" y="4698000"/>
            <a:ext cx="9036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1600" bIns="21600"/>
          <a:lstStyle/>
          <a:p>
            <a:pPr algn="l"/>
            <a:r>
              <a:rPr sz="1250" b="1">
                <a:solidFill>
                  <a:srgbClr val="1F285A"/>
                </a:solidFill>
                <a:latin typeface="メイリオ"/>
                <a:ea typeface="メイリオ"/>
                <a:cs typeface="メイリオ"/>
              </a:rPr>
              <a:t>LINE導入で得られる3つのメリット</a:t>
            </a:r>
          </a:p>
        </p:txBody>
      </p:sp>
      <p:sp>
        <p:nvSpPr>
          <p:cNvPr id="22" name="Rounded Rectangle 21"/>
          <p:cNvSpPr/>
          <p:nvPr/>
        </p:nvSpPr>
        <p:spPr>
          <a:xfrm>
            <a:off x="432000" y="4986000"/>
            <a:ext cx="2966400" cy="1188000"/>
          </a:xfrm>
          <a:prstGeom prst="roundRect">
            <a:avLst>
              <a:gd name="adj" fmla="val 8000"/>
            </a:avLst>
          </a:prstGeom>
          <a:solidFill>
            <a:srgbClr val="DDEB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1200" b="1">
                <a:solidFill>
                  <a:srgbClr val="1F285A"/>
                </a:solidFill>
                <a:latin typeface="メイリオ"/>
                <a:ea typeface="メイリオ"/>
                <a:cs typeface="メイリオ"/>
              </a:rPr>
              <a:t>① 広告費のロスを減らす</a:t>
            </a:r>
          </a:p>
          <a:p>
            <a:pPr algn="ctr"/>
            <a:r>
              <a:rPr sz="1050" b="0">
                <a:solidFill>
                  <a:srgbClr val="333333"/>
                </a:solidFill>
                <a:latin typeface="メイリオ"/>
                <a:ea typeface="メイリオ"/>
                <a:cs typeface="メイリオ"/>
              </a:rPr>
              <a:t>サイトに来て応募せず帰る整備士を、離脱防止からLINEで拾う</a:t>
            </a:r>
          </a:p>
        </p:txBody>
      </p:sp>
      <p:sp>
        <p:nvSpPr>
          <p:cNvPr id="23" name="Rounded Rectangle 22"/>
          <p:cNvSpPr/>
          <p:nvPr/>
        </p:nvSpPr>
        <p:spPr>
          <a:xfrm>
            <a:off x="3470399" y="4986000"/>
            <a:ext cx="2966400" cy="1188000"/>
          </a:xfrm>
          <a:prstGeom prst="roundRect">
            <a:avLst>
              <a:gd name="adj" fmla="val 8000"/>
            </a:avLst>
          </a:prstGeom>
          <a:solidFill>
            <a:srgbClr val="DDEB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1200" b="1">
                <a:solidFill>
                  <a:srgbClr val="1F285A"/>
                </a:solidFill>
                <a:latin typeface="メイリオ"/>
                <a:ea typeface="メイリオ"/>
                <a:cs typeface="メイリオ"/>
              </a:rPr>
              <a:t>② 面談・内定の辞退を防ぐ</a:t>
            </a:r>
          </a:p>
          <a:p>
            <a:pPr algn="ctr"/>
            <a:r>
              <a:rPr sz="1050" b="0">
                <a:solidFill>
                  <a:srgbClr val="333333"/>
                </a:solidFill>
                <a:latin typeface="メイリオ"/>
                <a:ea typeface="メイリオ"/>
                <a:cs typeface="メイリオ"/>
              </a:rPr>
              <a:t>面談前日のリマインド、内定後の不安にLINEですぐ答える</a:t>
            </a:r>
          </a:p>
        </p:txBody>
      </p:sp>
      <p:sp>
        <p:nvSpPr>
          <p:cNvPr id="24" name="Rounded Rectangle 23"/>
          <p:cNvSpPr/>
          <p:nvPr/>
        </p:nvSpPr>
        <p:spPr>
          <a:xfrm>
            <a:off x="6508799" y="4986000"/>
            <a:ext cx="2966400" cy="1188000"/>
          </a:xfrm>
          <a:prstGeom prst="roundRect">
            <a:avLst>
              <a:gd name="adj" fmla="val 8000"/>
            </a:avLst>
          </a:prstGeom>
          <a:solidFill>
            <a:srgbClr val="DDEB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1200" b="1">
                <a:solidFill>
                  <a:srgbClr val="1F285A"/>
                </a:solidFill>
                <a:latin typeface="メイリオ"/>
                <a:ea typeface="メイリオ"/>
                <a:cs typeface="メイリオ"/>
              </a:rPr>
              <a:t>③ 連絡をLINEに一本化</a:t>
            </a:r>
          </a:p>
          <a:p>
            <a:pPr algn="ctr"/>
            <a:r>
              <a:rPr sz="1050" b="0">
                <a:solidFill>
                  <a:srgbClr val="333333"/>
                </a:solidFill>
                <a:latin typeface="メイリオ"/>
                <a:ea typeface="メイリオ"/>
                <a:cs typeface="メイリオ"/>
              </a:rPr>
              <a:t>電話は平日10〜18時のみ。在職中の整備士とは夜のLINEでつながる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6375E-1E7D-4890-1258-5DB3117640D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EDFBA01A-1ABD-808E-C272-C7AE180BC12F}"/>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BEBFCB2D-6FAD-96C0-BD6C-51465F2A4A6E}"/>
              </a:ext>
            </a:extLst>
          </p:cNvPr>
          <p:cNvSpPr/>
          <p:nvPr/>
        </p:nvSpPr>
        <p:spPr>
          <a:xfrm>
            <a:off x="4039946" y="3038203"/>
            <a:ext cx="1826141"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市場分析</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8414866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01AEA3-5B74-7C38-9336-4D6A18C7CFB5}"/>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市場分析（前後検索クエリ）</a:t>
            </a:r>
          </a:p>
        </p:txBody>
      </p:sp>
      <p:sp>
        <p:nvSpPr>
          <p:cNvPr id="3" name="TextBox 2"/>
          <p:cNvSpPr txBox="1"/>
          <p:nvPr/>
        </p:nvSpPr>
        <p:spPr>
          <a:xfrm>
            <a:off x="432000" y="630000"/>
            <a:ext cx="9036000" cy="684000"/>
          </a:xfrm>
          <a:prstGeom prst="rect">
            <a:avLst/>
          </a:prstGeom>
          <a:noFill/>
        </p:spPr>
        <p:txBody>
          <a:bodyPr wrap="square" lIns="0" tIns="21600" rIns="0" bIns="21600" anchor="ctr">
            <a:spAutoFit/>
          </a:bodyPr>
          <a:lstStyle/>
          <a:p>
            <a:pPr algn="l">
              <a:lnSpc>
                <a:spcPct val="128000"/>
              </a:lnSpc>
            </a:pPr>
            <a:r>
              <a:rPr sz="1300">
                <a:solidFill>
                  <a:srgbClr val="333333"/>
                </a:solidFill>
                <a:latin typeface="メイリオ"/>
                <a:ea typeface="メイリオ"/>
                <a:cs typeface="メイリオ"/>
              </a:rPr>
              <a:t>「カーディーラー」の検索前後15日間。LINEの友だちにできる機会は、検索当日〜翌日だけ。</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pic>
        <p:nvPicPr>
          <p:cNvPr id="11" name="Picture 10" descr="image.png"/>
          <p:cNvPicPr>
            <a:picLocks noChangeAspect="1"/>
          </p:cNvPicPr>
          <p:nvPr/>
        </p:nvPicPr>
        <p:blipFill>
          <a:blip r:embed="rId5"/>
          <a:stretch>
            <a:fillRect/>
          </a:stretch>
        </p:blipFill>
        <p:spPr>
          <a:xfrm>
            <a:off x="432000" y="1458000"/>
            <a:ext cx="5112000" cy="2982852"/>
          </a:xfrm>
          <a:prstGeom prst="rect">
            <a:avLst/>
          </a:prstGeom>
        </p:spPr>
      </p:pic>
      <p:sp>
        <p:nvSpPr>
          <p:cNvPr id="12" name="Rectangle 11"/>
          <p:cNvSpPr/>
          <p:nvPr/>
        </p:nvSpPr>
        <p:spPr>
          <a:xfrm>
            <a:off x="2907233" y="4397400"/>
            <a:ext cx="936000" cy="223200"/>
          </a:xfrm>
          <a:prstGeom prst="rect">
            <a:avLst/>
          </a:prstGeom>
          <a:solidFill>
            <a:srgbClr val="C6EF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00873C"/>
                </a:solidFill>
                <a:latin typeface="メイリオ"/>
                <a:ea typeface="メイリオ"/>
                <a:cs typeface="メイリオ"/>
              </a:rPr>
              <a:t>LINE追加</a:t>
            </a:r>
          </a:p>
        </p:txBody>
      </p:sp>
      <p:sp>
        <p:nvSpPr>
          <p:cNvPr id="13" name="Rectangle 12"/>
          <p:cNvSpPr/>
          <p:nvPr/>
        </p:nvSpPr>
        <p:spPr>
          <a:xfrm>
            <a:off x="3072347" y="1458000"/>
            <a:ext cx="605772" cy="2946851"/>
          </a:xfrm>
          <a:prstGeom prst="rect">
            <a:avLst/>
          </a:prstGeom>
          <a:solidFill>
            <a:srgbClr val="06C755">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724000" y="1458000"/>
            <a:ext cx="1857600" cy="223200"/>
          </a:xfrm>
          <a:prstGeom prst="roundRect">
            <a:avLst>
              <a:gd name="adj" fmla="val 8000"/>
            </a:avLst>
          </a:prstGeom>
          <a:solidFill>
            <a:srgbClr val="FBE0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C0561A"/>
                </a:solidFill>
                <a:latin typeface="メイリオ"/>
                <a:ea typeface="メイリオ"/>
                <a:cs typeface="メイリオ"/>
              </a:rPr>
              <a:t>職業・働き方</a:t>
            </a:r>
          </a:p>
        </p:txBody>
      </p:sp>
      <p:sp>
        <p:nvSpPr>
          <p:cNvPr id="15" name="Rounded Rectangle 14"/>
          <p:cNvSpPr/>
          <p:nvPr/>
        </p:nvSpPr>
        <p:spPr>
          <a:xfrm>
            <a:off x="7617600" y="1458000"/>
            <a:ext cx="1857600" cy="223200"/>
          </a:xfrm>
          <a:prstGeom prst="roundRect">
            <a:avLst>
              <a:gd name="adj" fmla="val 8000"/>
            </a:avLst>
          </a:prstGeom>
          <a:solidFill>
            <a:srgbClr val="D6E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2B5797"/>
                </a:solidFill>
                <a:latin typeface="メイリオ"/>
                <a:ea typeface="メイリオ"/>
                <a:cs typeface="メイリオ"/>
              </a:rPr>
              <a:t>整備・工具・カー用品</a:t>
            </a:r>
          </a:p>
        </p:txBody>
      </p:sp>
      <p:sp>
        <p:nvSpPr>
          <p:cNvPr id="16" name="Rounded Rectangle 15"/>
          <p:cNvSpPr/>
          <p:nvPr/>
        </p:nvSpPr>
        <p:spPr>
          <a:xfrm>
            <a:off x="5724000" y="1717199"/>
            <a:ext cx="1857600" cy="223200"/>
          </a:xfrm>
          <a:prstGeom prst="roundRect">
            <a:avLst>
              <a:gd name="adj" fmla="val 8000"/>
            </a:avLst>
          </a:prstGeom>
          <a:solidFill>
            <a:srgbClr val="E8DA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7440A8"/>
                </a:solidFill>
                <a:latin typeface="メイリオ"/>
                <a:ea typeface="メイリオ"/>
                <a:cs typeface="メイリオ"/>
              </a:rPr>
              <a:t>お金・手続き</a:t>
            </a:r>
          </a:p>
        </p:txBody>
      </p:sp>
      <p:sp>
        <p:nvSpPr>
          <p:cNvPr id="17" name="Rounded Rectangle 16"/>
          <p:cNvSpPr/>
          <p:nvPr/>
        </p:nvSpPr>
        <p:spPr>
          <a:xfrm>
            <a:off x="7617600" y="1717199"/>
            <a:ext cx="1857600" cy="223200"/>
          </a:xfrm>
          <a:prstGeom prst="roundRect">
            <a:avLst>
              <a:gd name="adj" fmla="val 8000"/>
            </a:avLst>
          </a:prstGeom>
          <a:solidFill>
            <a:srgbClr val="CCE7E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00796B"/>
                </a:solidFill>
                <a:latin typeface="メイリオ"/>
                <a:ea typeface="メイリオ"/>
                <a:cs typeface="メイリオ"/>
              </a:rPr>
              <a:t>クルマ選び（車種・店舗）</a:t>
            </a:r>
          </a:p>
        </p:txBody>
      </p:sp>
      <p:sp>
        <p:nvSpPr>
          <p:cNvPr id="18" name="Rounded Rectangle 17"/>
          <p:cNvSpPr/>
          <p:nvPr/>
        </p:nvSpPr>
        <p:spPr>
          <a:xfrm>
            <a:off x="5724000" y="2052000"/>
            <a:ext cx="3751200" cy="223200"/>
          </a:xfrm>
          <a:prstGeom prst="roundRect">
            <a:avLst>
              <a:gd name="adj" fmla="val 8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50" b="1">
                <a:solidFill>
                  <a:srgbClr val="333333"/>
                </a:solidFill>
                <a:latin typeface="メイリオ"/>
                <a:ea typeface="メイリオ"/>
                <a:cs typeface="メイリオ"/>
              </a:rPr>
              <a:t>LINE追加率を上げるコンテンツ（検索当日〜翌日）</a:t>
            </a:r>
          </a:p>
        </p:txBody>
      </p:sp>
      <p:sp>
        <p:nvSpPr>
          <p:cNvPr id="19" name="Rounded Rectangle 18"/>
          <p:cNvSpPr/>
          <p:nvPr/>
        </p:nvSpPr>
        <p:spPr>
          <a:xfrm>
            <a:off x="5724000" y="2322000"/>
            <a:ext cx="1839600" cy="917999"/>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0">
                <a:solidFill>
                  <a:srgbClr val="FFFFFF"/>
                </a:solidFill>
                <a:latin typeface="メイリオ"/>
                <a:ea typeface="メイリオ"/>
                <a:cs typeface="メイリオ"/>
              </a:rPr>
              <a:t>離脱防止で…</a:t>
            </a:r>
          </a:p>
          <a:p>
            <a:pPr algn="ctr"/>
            <a:r>
              <a:rPr sz="1100" b="1">
                <a:solidFill>
                  <a:srgbClr val="FFFFFF"/>
                </a:solidFill>
                <a:latin typeface="メイリオ"/>
                <a:ea typeface="メイリオ"/>
                <a:cs typeface="メイリオ"/>
              </a:rPr>
              <a:t>「整備士の年収相場」</a:t>
            </a:r>
          </a:p>
          <a:p>
            <a:pPr algn="ctr"/>
            <a:r>
              <a:rPr sz="1050" b="1">
                <a:solidFill>
                  <a:srgbClr val="FFFFFF"/>
                </a:solidFill>
                <a:latin typeface="メイリオ"/>
                <a:ea typeface="メイリオ"/>
                <a:cs typeface="メイリオ"/>
              </a:rPr>
              <a:t>をLINEで見られます</a:t>
            </a:r>
          </a:p>
        </p:txBody>
      </p:sp>
      <p:sp>
        <p:nvSpPr>
          <p:cNvPr id="20" name="Rounded Rectangle 19"/>
          <p:cNvSpPr/>
          <p:nvPr/>
        </p:nvSpPr>
        <p:spPr>
          <a:xfrm>
            <a:off x="7635600" y="2322000"/>
            <a:ext cx="1839600" cy="917999"/>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0">
                <a:solidFill>
                  <a:srgbClr val="FFFFFF"/>
                </a:solidFill>
                <a:latin typeface="メイリオ"/>
                <a:ea typeface="メイリオ"/>
                <a:cs typeface="メイリオ"/>
              </a:rPr>
              <a:t>この機会に</a:t>
            </a:r>
          </a:p>
          <a:p>
            <a:pPr algn="ctr"/>
            <a:r>
              <a:rPr sz="1100" b="1">
                <a:solidFill>
                  <a:srgbClr val="FFFFFF"/>
                </a:solidFill>
                <a:latin typeface="メイリオ"/>
                <a:ea typeface="メイリオ"/>
                <a:cs typeface="メイリオ"/>
              </a:rPr>
              <a:t>LINEで30秒</a:t>
            </a:r>
          </a:p>
          <a:p>
            <a:pPr algn="ctr"/>
            <a:r>
              <a:rPr sz="1050" b="1">
                <a:solidFill>
                  <a:srgbClr val="FFFFFF"/>
                </a:solidFill>
                <a:latin typeface="メイリオ"/>
                <a:ea typeface="メイリオ"/>
                <a:cs typeface="メイリオ"/>
              </a:rPr>
              <a:t>適職診断しませんか？</a:t>
            </a:r>
          </a:p>
        </p:txBody>
      </p:sp>
      <p:sp>
        <p:nvSpPr>
          <p:cNvPr id="21" name="Rounded Rectangle 20"/>
          <p:cNvSpPr/>
          <p:nvPr/>
        </p:nvSpPr>
        <p:spPr>
          <a:xfrm>
            <a:off x="5724000" y="3276000"/>
            <a:ext cx="1839600" cy="702000"/>
          </a:xfrm>
          <a:prstGeom prst="roundRect">
            <a:avLst>
              <a:gd name="adj" fmla="val 8000"/>
            </a:avLst>
          </a:prstGeom>
          <a:solidFill>
            <a:srgbClr val="DDEB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1F285A"/>
                </a:solidFill>
                <a:latin typeface="メイリオ"/>
                <a:ea typeface="メイリオ"/>
                <a:cs typeface="メイリオ"/>
              </a:rPr>
              <a:t>当日の検索は「年収」</a:t>
            </a:r>
          </a:p>
          <a:p>
            <a:pPr algn="ctr"/>
            <a:r>
              <a:rPr sz="1000" b="0">
                <a:solidFill>
                  <a:srgbClr val="1F285A"/>
                </a:solidFill>
                <a:latin typeface="メイリオ"/>
                <a:ea typeface="メイリオ"/>
                <a:cs typeface="メイリオ"/>
              </a:rPr>
              <a:t>その場で答えを出す</a:t>
            </a:r>
          </a:p>
        </p:txBody>
      </p:sp>
      <p:sp>
        <p:nvSpPr>
          <p:cNvPr id="22" name="Rounded Rectangle 21"/>
          <p:cNvSpPr/>
          <p:nvPr/>
        </p:nvSpPr>
        <p:spPr>
          <a:xfrm>
            <a:off x="7635600" y="3276000"/>
            <a:ext cx="1839600" cy="702000"/>
          </a:xfrm>
          <a:prstGeom prst="roundRect">
            <a:avLst>
              <a:gd name="adj" fmla="val 8000"/>
            </a:avLst>
          </a:prstGeom>
          <a:solidFill>
            <a:srgbClr val="DDEB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1F285A"/>
                </a:solidFill>
                <a:latin typeface="メイリオ"/>
                <a:ea typeface="メイリオ"/>
                <a:cs typeface="メイリオ"/>
              </a:rPr>
              <a:t>電話なし・履歴書なし</a:t>
            </a:r>
          </a:p>
          <a:p>
            <a:pPr algn="ctr"/>
            <a:r>
              <a:rPr sz="1000" b="0">
                <a:solidFill>
                  <a:srgbClr val="1F285A"/>
                </a:solidFill>
                <a:latin typeface="メイリオ"/>
                <a:ea typeface="メイリオ"/>
                <a:cs typeface="メイリオ"/>
              </a:rPr>
              <a:t>応募前の人でも動きやすい</a:t>
            </a:r>
          </a:p>
        </p:txBody>
      </p:sp>
      <p:cxnSp>
        <p:nvCxnSpPr>
          <p:cNvPr id="23" name="Connector 22"/>
          <p:cNvCxnSpPr/>
          <p:nvPr/>
        </p:nvCxnSpPr>
        <p:spPr>
          <a:xfrm flipV="1">
            <a:off x="3375233" y="2772000"/>
            <a:ext cx="2312767" cy="1548720"/>
          </a:xfrm>
          <a:prstGeom prst="line">
            <a:avLst/>
          </a:prstGeom>
          <a:ln w="19050">
            <a:solidFill>
              <a:srgbClr val="4472C4"/>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432000" y="4710852"/>
            <a:ext cx="9043200" cy="223200"/>
          </a:xfrm>
          <a:prstGeom prst="roundRect">
            <a:avLst>
              <a:gd name="adj" fmla="val 8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50" b="1">
                <a:solidFill>
                  <a:srgbClr val="333333"/>
                </a:solidFill>
                <a:latin typeface="メイリオ"/>
                <a:ea typeface="メイリオ"/>
                <a:cs typeface="メイリオ"/>
              </a:rPr>
              <a:t>LINEでのリード有効化率を上げるコンテンツ（翌日〜14日・前後検索の関心の順番）</a:t>
            </a:r>
          </a:p>
        </p:txBody>
      </p:sp>
      <p:sp>
        <p:nvSpPr>
          <p:cNvPr id="25" name="Rounded Rectangle 24"/>
          <p:cNvSpPr/>
          <p:nvPr/>
        </p:nvSpPr>
        <p:spPr>
          <a:xfrm>
            <a:off x="432000" y="4980852"/>
            <a:ext cx="1230171" cy="1211148"/>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100" b="1">
                <a:solidFill>
                  <a:srgbClr val="FFFFFF"/>
                </a:solidFill>
                <a:latin typeface="メイリオ"/>
                <a:ea typeface="メイリオ"/>
                <a:cs typeface="メイリオ"/>
              </a:rPr>
              <a:t>1日目</a:t>
            </a:r>
          </a:p>
          <a:p>
            <a:pPr algn="ctr"/>
            <a:r>
              <a:rPr sz="1050" b="1">
                <a:solidFill>
                  <a:srgbClr val="FFFFFF"/>
                </a:solidFill>
                <a:latin typeface="メイリオ"/>
                <a:ea typeface="メイリオ"/>
                <a:cs typeface="メイリオ"/>
              </a:rPr>
              <a:t>職種図鑑</a:t>
            </a:r>
          </a:p>
          <a:p>
            <a:pPr algn="ctr"/>
            <a:r>
              <a:rPr sz="950" b="0">
                <a:solidFill>
                  <a:srgbClr val="FFFFFF"/>
                </a:solidFill>
                <a:latin typeface="メイリオ"/>
                <a:ea typeface="メイリオ"/>
                <a:cs typeface="メイリオ"/>
              </a:rPr>
              <a:t>整備・受付・営業の違い</a:t>
            </a:r>
          </a:p>
        </p:txBody>
      </p:sp>
      <p:sp>
        <p:nvSpPr>
          <p:cNvPr id="26" name="Rounded Rectangle 25"/>
          <p:cNvSpPr/>
          <p:nvPr/>
        </p:nvSpPr>
        <p:spPr>
          <a:xfrm>
            <a:off x="1734171" y="4980852"/>
            <a:ext cx="1230171" cy="1211148"/>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100" b="1">
                <a:solidFill>
                  <a:srgbClr val="FFFFFF"/>
                </a:solidFill>
                <a:latin typeface="メイリオ"/>
                <a:ea typeface="メイリオ"/>
                <a:cs typeface="メイリオ"/>
              </a:rPr>
              <a:t>2日目</a:t>
            </a:r>
          </a:p>
          <a:p>
            <a:pPr algn="ctr"/>
            <a:r>
              <a:rPr sz="1050" b="1">
                <a:solidFill>
                  <a:srgbClr val="FFFFFF"/>
                </a:solidFill>
                <a:latin typeface="メイリオ"/>
                <a:ea typeface="メイリオ"/>
                <a:cs typeface="メイリオ"/>
              </a:rPr>
              <a:t>働き方</a:t>
            </a:r>
          </a:p>
          <a:p>
            <a:pPr algn="ctr"/>
            <a:r>
              <a:rPr sz="950" b="0">
                <a:solidFill>
                  <a:srgbClr val="FFFFFF"/>
                </a:solidFill>
                <a:latin typeface="メイリオ"/>
                <a:ea typeface="メイリオ"/>
                <a:cs typeface="メイリオ"/>
              </a:rPr>
              <a:t>休み・残業・ホワイトな職場</a:t>
            </a:r>
          </a:p>
        </p:txBody>
      </p:sp>
      <p:sp>
        <p:nvSpPr>
          <p:cNvPr id="27" name="Rounded Rectangle 26"/>
          <p:cNvSpPr/>
          <p:nvPr/>
        </p:nvSpPr>
        <p:spPr>
          <a:xfrm>
            <a:off x="3036342" y="4980852"/>
            <a:ext cx="1230171" cy="1211148"/>
          </a:xfrm>
          <a:prstGeom prst="roundRect">
            <a:avLst>
              <a:gd name="adj" fmla="val 8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100" b="1">
                <a:solidFill>
                  <a:srgbClr val="FFFFFF"/>
                </a:solidFill>
                <a:latin typeface="メイリオ"/>
                <a:ea typeface="メイリオ"/>
                <a:cs typeface="メイリオ"/>
              </a:rPr>
              <a:t>3日目</a:t>
            </a:r>
          </a:p>
          <a:p>
            <a:pPr algn="ctr"/>
            <a:r>
              <a:rPr sz="1050" b="1">
                <a:solidFill>
                  <a:srgbClr val="FFFFFF"/>
                </a:solidFill>
                <a:latin typeface="メイリオ"/>
                <a:ea typeface="メイリオ"/>
                <a:cs typeface="メイリオ"/>
              </a:rPr>
              <a:t>面談のご案内①</a:t>
            </a:r>
          </a:p>
          <a:p>
            <a:pPr algn="ctr"/>
            <a:r>
              <a:rPr sz="950" b="0">
                <a:solidFill>
                  <a:srgbClr val="FFFFFF"/>
                </a:solidFill>
                <a:latin typeface="メイリオ"/>
                <a:ea typeface="メイリオ"/>
                <a:cs typeface="メイリオ"/>
              </a:rPr>
              <a:t>（CV）</a:t>
            </a:r>
          </a:p>
        </p:txBody>
      </p:sp>
      <p:sp>
        <p:nvSpPr>
          <p:cNvPr id="28" name="Rounded Rectangle 27"/>
          <p:cNvSpPr/>
          <p:nvPr/>
        </p:nvSpPr>
        <p:spPr>
          <a:xfrm>
            <a:off x="4338514" y="4980852"/>
            <a:ext cx="1230171" cy="1211148"/>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100" b="1">
                <a:solidFill>
                  <a:srgbClr val="FFFFFF"/>
                </a:solidFill>
                <a:latin typeface="メイリオ"/>
                <a:ea typeface="メイリオ"/>
                <a:cs typeface="メイリオ"/>
              </a:rPr>
              <a:t>5日目</a:t>
            </a:r>
          </a:p>
          <a:p>
            <a:pPr algn="ctr"/>
            <a:r>
              <a:rPr sz="1050" b="1">
                <a:solidFill>
                  <a:srgbClr val="FFFFFF"/>
                </a:solidFill>
                <a:latin typeface="メイリオ"/>
                <a:ea typeface="メイリオ"/>
                <a:cs typeface="メイリオ"/>
              </a:rPr>
              <a:t>他職種と比較</a:t>
            </a:r>
          </a:p>
          <a:p>
            <a:pPr algn="ctr"/>
            <a:r>
              <a:rPr sz="950" b="0">
                <a:solidFill>
                  <a:srgbClr val="FFFFFF"/>
                </a:solidFill>
                <a:latin typeface="メイリオ"/>
                <a:ea typeface="メイリオ"/>
                <a:cs typeface="メイリオ"/>
              </a:rPr>
              <a:t>営業・施工管理</a:t>
            </a:r>
          </a:p>
        </p:txBody>
      </p:sp>
      <p:sp>
        <p:nvSpPr>
          <p:cNvPr id="29" name="Rounded Rectangle 28"/>
          <p:cNvSpPr/>
          <p:nvPr/>
        </p:nvSpPr>
        <p:spPr>
          <a:xfrm>
            <a:off x="5640685" y="4980852"/>
            <a:ext cx="1230171" cy="1211148"/>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100" b="1">
                <a:solidFill>
                  <a:srgbClr val="FFFFFF"/>
                </a:solidFill>
                <a:latin typeface="メイリオ"/>
                <a:ea typeface="メイリオ"/>
                <a:cs typeface="メイリオ"/>
              </a:rPr>
              <a:t>7日目</a:t>
            </a:r>
          </a:p>
          <a:p>
            <a:pPr algn="ctr"/>
            <a:r>
              <a:rPr sz="1050" b="1">
                <a:solidFill>
                  <a:srgbClr val="FFFFFF"/>
                </a:solidFill>
                <a:latin typeface="メイリオ"/>
                <a:ea typeface="メイリオ"/>
                <a:cs typeface="メイリオ"/>
              </a:rPr>
              <a:t>資格別の年収相場</a:t>
            </a:r>
          </a:p>
          <a:p>
            <a:pPr algn="ctr"/>
            <a:r>
              <a:rPr sz="950" b="0">
                <a:solidFill>
                  <a:srgbClr val="FFFFFF"/>
                </a:solidFill>
                <a:latin typeface="メイリオ"/>
                <a:ea typeface="メイリオ"/>
                <a:cs typeface="メイリオ"/>
              </a:rPr>
              <a:t>キャリアマップ</a:t>
            </a:r>
          </a:p>
        </p:txBody>
      </p:sp>
      <p:sp>
        <p:nvSpPr>
          <p:cNvPr id="30" name="Rounded Rectangle 29"/>
          <p:cNvSpPr/>
          <p:nvPr/>
        </p:nvSpPr>
        <p:spPr>
          <a:xfrm>
            <a:off x="6942857" y="4980852"/>
            <a:ext cx="1230171" cy="1211148"/>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100" b="1">
                <a:solidFill>
                  <a:srgbClr val="FFFFFF"/>
                </a:solidFill>
                <a:latin typeface="メイリオ"/>
                <a:ea typeface="メイリオ"/>
                <a:cs typeface="メイリオ"/>
              </a:rPr>
              <a:t>10日目</a:t>
            </a:r>
          </a:p>
          <a:p>
            <a:pPr algn="ctr"/>
            <a:r>
              <a:rPr sz="1050" b="1">
                <a:solidFill>
                  <a:srgbClr val="FFFFFF"/>
                </a:solidFill>
                <a:latin typeface="メイリオ"/>
                <a:ea typeface="メイリオ"/>
                <a:cs typeface="メイリオ"/>
              </a:rPr>
              <a:t>現場のリアル</a:t>
            </a:r>
          </a:p>
          <a:p>
            <a:pPr algn="ctr"/>
            <a:r>
              <a:rPr sz="950" b="0">
                <a:solidFill>
                  <a:srgbClr val="FFFFFF"/>
                </a:solidFill>
                <a:latin typeface="メイリオ"/>
                <a:ea typeface="メイリオ"/>
                <a:cs typeface="メイリオ"/>
              </a:rPr>
              <a:t>冬の繁忙期</a:t>
            </a:r>
          </a:p>
        </p:txBody>
      </p:sp>
      <p:sp>
        <p:nvSpPr>
          <p:cNvPr id="31" name="Rounded Rectangle 30"/>
          <p:cNvSpPr/>
          <p:nvPr/>
        </p:nvSpPr>
        <p:spPr>
          <a:xfrm>
            <a:off x="8245028" y="4980852"/>
            <a:ext cx="1230171" cy="1211148"/>
          </a:xfrm>
          <a:prstGeom prst="roundRect">
            <a:avLst>
              <a:gd name="adj" fmla="val 8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100" b="1">
                <a:solidFill>
                  <a:srgbClr val="FFFFFF"/>
                </a:solidFill>
                <a:latin typeface="メイリオ"/>
                <a:ea typeface="メイリオ"/>
                <a:cs typeface="メイリオ"/>
              </a:rPr>
              <a:t>14日目</a:t>
            </a:r>
          </a:p>
          <a:p>
            <a:pPr algn="ctr"/>
            <a:r>
              <a:rPr sz="1050" b="1">
                <a:solidFill>
                  <a:srgbClr val="FFFFFF"/>
                </a:solidFill>
                <a:latin typeface="メイリオ"/>
                <a:ea typeface="メイリオ"/>
                <a:cs typeface="メイリオ"/>
              </a:rPr>
              <a:t>面談のご案内②</a:t>
            </a:r>
          </a:p>
          <a:p>
            <a:pPr algn="ctr"/>
            <a:r>
              <a:rPr sz="950" b="0">
                <a:solidFill>
                  <a:srgbClr val="FFFFFF"/>
                </a:solidFill>
                <a:latin typeface="メイリオ"/>
                <a:ea typeface="メイリオ"/>
                <a:cs typeface="メイリオ"/>
              </a:rPr>
              <a:t>（CV）</a:t>
            </a:r>
          </a:p>
        </p:txBody>
      </p:sp>
      <p:cxnSp>
        <p:nvCxnSpPr>
          <p:cNvPr id="32" name="Connector 31"/>
          <p:cNvCxnSpPr/>
          <p:nvPr/>
        </p:nvCxnSpPr>
        <p:spPr>
          <a:xfrm>
            <a:off x="4521600" y="4320720"/>
            <a:ext cx="255599" cy="372131"/>
          </a:xfrm>
          <a:prstGeom prst="line">
            <a:avLst/>
          </a:prstGeom>
          <a:ln w="19050">
            <a:solidFill>
              <a:srgbClr val="4472C4"/>
            </a:solidFill>
            <a:tailEnd type="triangle"/>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32000" y="6282000"/>
            <a:ext cx="9043200" cy="324000"/>
          </a:xfrm>
          <a:prstGeom prst="rect">
            <a:avLst/>
          </a:prstGeom>
          <a:noFill/>
        </p:spPr>
        <p:txBody>
          <a:bodyPr wrap="square" lIns="0" tIns="21600" rIns="0" bIns="21600" anchor="t">
            <a:spAutoFit/>
          </a:bodyPr>
          <a:lstStyle/>
          <a:p>
            <a:pPr algn="l">
              <a:lnSpc>
                <a:spcPct val="115000"/>
              </a:lnSpc>
            </a:pPr>
            <a:r>
              <a:rPr sz="950">
                <a:solidFill>
                  <a:srgbClr val="7F7F7F"/>
                </a:solidFill>
                <a:latin typeface="メイリオ"/>
                <a:ea typeface="メイリオ"/>
                <a:cs typeface="メイリオ"/>
              </a:rPr>
              <a:t>出典：LINEヤフー 前後検索データ（起点KW：カーディーラー／2026-09-23取得）。色分けはDYM分類（ラベル129件）</a:t>
            </a:r>
          </a:p>
        </p:txBody>
      </p:sp>
    </p:spTree>
    <p:extLst>
      <p:ext uri="{BB962C8B-B14F-4D97-AF65-F5344CB8AC3E}">
        <p14:creationId xmlns:p14="http://schemas.microsoft.com/office/powerpoint/2010/main" val="205317063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59E4EC-2612-49EF-3949-DD4AEE06BA6E}"/>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市場分析（検索トレンド）</a:t>
            </a:r>
          </a:p>
        </p:txBody>
      </p:sp>
      <p:sp>
        <p:nvSpPr>
          <p:cNvPr id="3" name="TextBox 2"/>
          <p:cNvSpPr txBox="1"/>
          <p:nvPr/>
        </p:nvSpPr>
        <p:spPr>
          <a:xfrm>
            <a:off x="432000" y="648000"/>
            <a:ext cx="9036000" cy="684000"/>
          </a:xfrm>
          <a:prstGeom prst="rect">
            <a:avLst/>
          </a:prstGeom>
          <a:noFill/>
        </p:spPr>
        <p:txBody>
          <a:bodyPr wrap="square" lIns="0" tIns="21600" rIns="0" bIns="21600" anchor="ctr">
            <a:spAutoFit/>
          </a:bodyPr>
          <a:lstStyle/>
          <a:p>
            <a:pPr algn="l">
              <a:lnSpc>
                <a:spcPct val="128000"/>
              </a:lnSpc>
            </a:pPr>
            <a:r>
              <a:rPr sz="1300">
                <a:solidFill>
                  <a:srgbClr val="333333"/>
                </a:solidFill>
                <a:latin typeface="メイリオ"/>
                <a:ea typeface="メイリオ"/>
                <a:cs typeface="メイリオ"/>
              </a:rPr>
              <a:t>「整備士」の検索は一年中ほぼフラット。転職検討は季節を選ばず続いている。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432000" y="4505040"/>
            <a:ext cx="2942400" cy="756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32000" y="4559039"/>
            <a:ext cx="2942400" cy="180000"/>
          </a:xfrm>
          <a:prstGeom prst="rect">
            <a:avLst/>
          </a:prstGeom>
          <a:noFill/>
        </p:spPr>
        <p:txBody>
          <a:bodyPr wrap="square" lIns="50400" tIns="21600" rIns="50400" bIns="21600" anchor="ctr">
            <a:spAutoFit/>
          </a:bodyPr>
          <a:lstStyle/>
          <a:p>
            <a:pPr algn="ctr"/>
            <a:r>
              <a:rPr sz="1150" b="1">
                <a:solidFill>
                  <a:srgbClr val="7F7F7F"/>
                </a:solidFill>
                <a:latin typeface="メイリオ"/>
                <a:ea typeface="メイリオ"/>
                <a:cs typeface="メイリオ"/>
              </a:rPr>
              <a:t>山</a:t>
            </a:r>
          </a:p>
        </p:txBody>
      </p:sp>
      <p:sp>
        <p:nvSpPr>
          <p:cNvPr id="8" name="TextBox 7"/>
          <p:cNvSpPr txBox="1"/>
          <p:nvPr/>
        </p:nvSpPr>
        <p:spPr>
          <a:xfrm>
            <a:off x="432000" y="4721039"/>
            <a:ext cx="2942400" cy="288000"/>
          </a:xfrm>
          <a:prstGeom prst="rect">
            <a:avLst/>
          </a:prstGeom>
          <a:noFill/>
        </p:spPr>
        <p:txBody>
          <a:bodyPr wrap="square" lIns="50400" tIns="21600" rIns="50400" bIns="21600" anchor="ctr">
            <a:spAutoFit/>
          </a:bodyPr>
          <a:lstStyle/>
          <a:p>
            <a:pPr algn="ctr"/>
            <a:r>
              <a:rPr sz="1700" b="1">
                <a:solidFill>
                  <a:srgbClr val="ED7D31"/>
                </a:solidFill>
                <a:latin typeface="メイリオ"/>
                <a:ea typeface="メイリオ"/>
                <a:cs typeface="メイリオ"/>
              </a:rPr>
              <a:t>3月</a:t>
            </a:r>
          </a:p>
        </p:txBody>
      </p:sp>
      <p:sp>
        <p:nvSpPr>
          <p:cNvPr id="9" name="TextBox 8"/>
          <p:cNvSpPr txBox="1"/>
          <p:nvPr/>
        </p:nvSpPr>
        <p:spPr>
          <a:xfrm>
            <a:off x="432000" y="5009040"/>
            <a:ext cx="2942400" cy="216000"/>
          </a:xfrm>
          <a:prstGeom prst="rect">
            <a:avLst/>
          </a:prstGeom>
          <a:noFill/>
        </p:spPr>
        <p:txBody>
          <a:bodyPr wrap="square" lIns="50400" tIns="21600" rIns="50400" bIns="21600" anchor="ctr">
            <a:spAutoFit/>
          </a:bodyPr>
          <a:lstStyle/>
          <a:p>
            <a:pPr algn="ctr"/>
            <a:r>
              <a:rPr sz="1050">
                <a:solidFill>
                  <a:srgbClr val="333333"/>
                </a:solidFill>
                <a:latin typeface="メイリオ"/>
                <a:ea typeface="メイリオ"/>
                <a:cs typeface="メイリオ"/>
              </a:rPr>
              <a:t>年度替わり・転職の動きが最大</a:t>
            </a:r>
          </a:p>
        </p:txBody>
      </p:sp>
      <p:sp>
        <p:nvSpPr>
          <p:cNvPr id="10" name="Rounded Rectangle 9"/>
          <p:cNvSpPr/>
          <p:nvPr/>
        </p:nvSpPr>
        <p:spPr>
          <a:xfrm>
            <a:off x="3482400" y="4505040"/>
            <a:ext cx="2942400" cy="756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482400" y="4559039"/>
            <a:ext cx="2942400" cy="180000"/>
          </a:xfrm>
          <a:prstGeom prst="rect">
            <a:avLst/>
          </a:prstGeom>
          <a:noFill/>
        </p:spPr>
        <p:txBody>
          <a:bodyPr wrap="square" lIns="50400" tIns="21600" rIns="50400" bIns="21600" anchor="ctr">
            <a:spAutoFit/>
          </a:bodyPr>
          <a:lstStyle/>
          <a:p>
            <a:pPr algn="ctr"/>
            <a:r>
              <a:rPr sz="1150" b="1">
                <a:solidFill>
                  <a:srgbClr val="7F7F7F"/>
                </a:solidFill>
                <a:latin typeface="メイリオ"/>
                <a:ea typeface="メイリオ"/>
                <a:cs typeface="メイリオ"/>
              </a:rPr>
              <a:t>谷</a:t>
            </a:r>
          </a:p>
        </p:txBody>
      </p:sp>
      <p:sp>
        <p:nvSpPr>
          <p:cNvPr id="12" name="TextBox 11"/>
          <p:cNvSpPr txBox="1"/>
          <p:nvPr/>
        </p:nvSpPr>
        <p:spPr>
          <a:xfrm>
            <a:off x="3482400" y="4721039"/>
            <a:ext cx="2942400" cy="288000"/>
          </a:xfrm>
          <a:prstGeom prst="rect">
            <a:avLst/>
          </a:prstGeom>
          <a:noFill/>
        </p:spPr>
        <p:txBody>
          <a:bodyPr wrap="square" lIns="50400" tIns="21600" rIns="50400" bIns="21600" anchor="ctr">
            <a:spAutoFit/>
          </a:bodyPr>
          <a:lstStyle/>
          <a:p>
            <a:pPr algn="ctr"/>
            <a:r>
              <a:rPr sz="1700" b="1">
                <a:solidFill>
                  <a:srgbClr val="ED7D31"/>
                </a:solidFill>
                <a:latin typeface="メイリオ"/>
                <a:ea typeface="メイリオ"/>
                <a:cs typeface="メイリオ"/>
              </a:rPr>
              <a:t>12月</a:t>
            </a:r>
          </a:p>
        </p:txBody>
      </p:sp>
      <p:sp>
        <p:nvSpPr>
          <p:cNvPr id="13" name="TextBox 12"/>
          <p:cNvSpPr txBox="1"/>
          <p:nvPr/>
        </p:nvSpPr>
        <p:spPr>
          <a:xfrm>
            <a:off x="3482400" y="5009040"/>
            <a:ext cx="2942400" cy="216000"/>
          </a:xfrm>
          <a:prstGeom prst="rect">
            <a:avLst/>
          </a:prstGeom>
          <a:noFill/>
        </p:spPr>
        <p:txBody>
          <a:bodyPr wrap="square" lIns="50400" tIns="21600" rIns="50400" bIns="21600" anchor="ctr">
            <a:spAutoFit/>
          </a:bodyPr>
          <a:lstStyle/>
          <a:p>
            <a:pPr algn="ctr"/>
            <a:r>
              <a:rPr sz="1050">
                <a:solidFill>
                  <a:srgbClr val="333333"/>
                </a:solidFill>
                <a:latin typeface="メイリオ"/>
                <a:ea typeface="メイリオ"/>
                <a:cs typeface="メイリオ"/>
              </a:rPr>
              <a:t>それでも山との差は約1.4倍</a:t>
            </a:r>
          </a:p>
        </p:txBody>
      </p:sp>
      <p:sp>
        <p:nvSpPr>
          <p:cNvPr id="14" name="Rounded Rectangle 13"/>
          <p:cNvSpPr/>
          <p:nvPr/>
        </p:nvSpPr>
        <p:spPr>
          <a:xfrm>
            <a:off x="6532800" y="4505040"/>
            <a:ext cx="2942400" cy="756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532800" y="4559039"/>
            <a:ext cx="2942400" cy="180000"/>
          </a:xfrm>
          <a:prstGeom prst="rect">
            <a:avLst/>
          </a:prstGeom>
          <a:noFill/>
        </p:spPr>
        <p:txBody>
          <a:bodyPr wrap="square" lIns="50400" tIns="21600" rIns="50400" bIns="21600" anchor="ctr">
            <a:spAutoFit/>
          </a:bodyPr>
          <a:lstStyle/>
          <a:p>
            <a:pPr algn="ctr"/>
            <a:r>
              <a:rPr sz="1150" b="1">
                <a:solidFill>
                  <a:srgbClr val="7F7F7F"/>
                </a:solidFill>
                <a:latin typeface="メイリオ"/>
                <a:ea typeface="メイリオ"/>
                <a:cs typeface="メイリオ"/>
              </a:rPr>
              <a:t>含意</a:t>
            </a:r>
          </a:p>
        </p:txBody>
      </p:sp>
      <p:sp>
        <p:nvSpPr>
          <p:cNvPr id="16" name="TextBox 15"/>
          <p:cNvSpPr txBox="1"/>
          <p:nvPr/>
        </p:nvSpPr>
        <p:spPr>
          <a:xfrm>
            <a:off x="6532800" y="4721039"/>
            <a:ext cx="2942400" cy="288000"/>
          </a:xfrm>
          <a:prstGeom prst="rect">
            <a:avLst/>
          </a:prstGeom>
          <a:noFill/>
        </p:spPr>
        <p:txBody>
          <a:bodyPr wrap="square" lIns="50400" tIns="21600" rIns="50400" bIns="21600" anchor="ctr">
            <a:spAutoFit/>
          </a:bodyPr>
          <a:lstStyle/>
          <a:p>
            <a:pPr algn="ctr"/>
            <a:r>
              <a:rPr sz="1700" b="1">
                <a:solidFill>
                  <a:srgbClr val="ED7D31"/>
                </a:solidFill>
                <a:latin typeface="メイリオ"/>
                <a:ea typeface="メイリオ"/>
                <a:cs typeface="メイリオ"/>
              </a:rPr>
              <a:t>通年</a:t>
            </a:r>
          </a:p>
        </p:txBody>
      </p:sp>
      <p:sp>
        <p:nvSpPr>
          <p:cNvPr id="17" name="TextBox 16"/>
          <p:cNvSpPr txBox="1"/>
          <p:nvPr/>
        </p:nvSpPr>
        <p:spPr>
          <a:xfrm>
            <a:off x="6532800" y="5009040"/>
            <a:ext cx="2942400" cy="216000"/>
          </a:xfrm>
          <a:prstGeom prst="rect">
            <a:avLst/>
          </a:prstGeom>
          <a:noFill/>
        </p:spPr>
        <p:txBody>
          <a:bodyPr wrap="square" lIns="50400" tIns="21600" rIns="50400" bIns="21600" anchor="ctr">
            <a:spAutoFit/>
          </a:bodyPr>
          <a:lstStyle/>
          <a:p>
            <a:pPr algn="ctr"/>
            <a:r>
              <a:rPr sz="1050">
                <a:solidFill>
                  <a:srgbClr val="333333"/>
                </a:solidFill>
                <a:latin typeface="メイリオ"/>
                <a:ea typeface="メイリオ"/>
                <a:cs typeface="メイリオ"/>
              </a:rPr>
              <a:t>検討は一年中。接点は3月に集中</a:t>
            </a:r>
          </a:p>
        </p:txBody>
      </p:sp>
      <p:sp>
        <p:nvSpPr>
          <p:cNvPr id="18" name="Rounded Rectangle 17"/>
          <p:cNvSpPr/>
          <p:nvPr/>
        </p:nvSpPr>
        <p:spPr>
          <a:xfrm>
            <a:off x="432000" y="5369040"/>
            <a:ext cx="9043200" cy="360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0" rIns="108000" bIns="0" rtlCol="0" anchor="ctr"/>
          <a:lstStyle/>
          <a:p>
            <a:pPr algn="ctr">
              <a:lnSpc>
                <a:spcPct val="125000"/>
              </a:lnSpc>
            </a:pPr>
            <a:r>
              <a:rPr sz="1350" b="1">
                <a:solidFill>
                  <a:srgbClr val="FFFFFF"/>
                </a:solidFill>
                <a:latin typeface="メイリオ"/>
                <a:ea typeface="メイリオ"/>
                <a:cs typeface="メイリオ"/>
              </a:rPr>
              <a:t>業界の接点は3月に集中。通年で検討層を受け止める先は、空いている。</a:t>
            </a:r>
          </a:p>
        </p:txBody>
      </p:sp>
      <p:sp>
        <p:nvSpPr>
          <p:cNvPr id="19" name="TextBox 18"/>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50">
                <a:solidFill>
                  <a:srgbClr val="7F7F7F"/>
                </a:solidFill>
                <a:latin typeface="メイリオ"/>
                <a:ea typeface="メイリオ"/>
                <a:cs typeface="メイリオ"/>
              </a:rPr>
              <a:t>出典：Googleトレンド（日本・過去5年・2026-09-21取得）。相対指標のため他KWとの数値比較は不可</a:t>
            </a:r>
          </a:p>
        </p:txBody>
      </p:sp>
      <p:pic>
        <p:nvPicPr>
          <p:cNvPr id="20" name="Picture 19" descr="chengrowth_trend_seibishi_5y_L.png"/>
          <p:cNvPicPr>
            <a:picLocks noChangeAspect="1"/>
          </p:cNvPicPr>
          <p:nvPr/>
        </p:nvPicPr>
        <p:blipFill>
          <a:blip r:embed="rId3"/>
          <a:stretch>
            <a:fillRect/>
          </a:stretch>
        </p:blipFill>
        <p:spPr>
          <a:xfrm>
            <a:off x="432000" y="1475999"/>
            <a:ext cx="9043200" cy="2939040"/>
          </a:xfrm>
          <a:prstGeom prst="rect">
            <a:avLst/>
          </a:prstGeom>
        </p:spPr>
      </p:pic>
    </p:spTree>
    <p:extLst>
      <p:ext uri="{BB962C8B-B14F-4D97-AF65-F5344CB8AC3E}">
        <p14:creationId xmlns:p14="http://schemas.microsoft.com/office/powerpoint/2010/main" val="9951958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F79BAA-8C2D-2DC3-A995-CBA086D445D9}"/>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競合分析（求人サービスのLINE活用状況）</a:t>
            </a:r>
          </a:p>
        </p:txBody>
      </p:sp>
      <p:sp>
        <p:nvSpPr>
          <p:cNvPr id="3" name="TextBox 2"/>
          <p:cNvSpPr txBox="1"/>
          <p:nvPr/>
        </p:nvSpPr>
        <p:spPr>
          <a:xfrm>
            <a:off x="432000" y="837833"/>
            <a:ext cx="9036000" cy="304334"/>
          </a:xfrm>
          <a:prstGeom prst="rect">
            <a:avLst/>
          </a:prstGeom>
          <a:noFill/>
        </p:spPr>
        <p:txBody>
          <a:bodyPr wrap="square" lIns="0" tIns="21600" rIns="0" bIns="21600" anchor="ctr">
            <a:spAutoFit/>
          </a:bodyPr>
          <a:lstStyle/>
          <a:p>
            <a:pPr algn="l">
              <a:lnSpc>
                <a:spcPct val="128000"/>
              </a:lnSpc>
            </a:pPr>
            <a:r>
              <a:rPr sz="1400">
                <a:solidFill>
                  <a:srgbClr val="333333"/>
                </a:solidFill>
                <a:latin typeface="メイリオ"/>
                <a:ea typeface="メイリオ"/>
                <a:cs typeface="メイリオ"/>
              </a:rPr>
              <a:t>総合大手はLINEが標準装備。一方、自動車・整備士特化は空白地帯。</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graphicFrame>
        <p:nvGraphicFramePr>
          <p:cNvPr id="5" name="Table 4"/>
          <p:cNvGraphicFramePr>
            <a:graphicFrameLocks noGrp="1"/>
          </p:cNvGraphicFramePr>
          <p:nvPr>
            <p:extLst>
              <p:ext uri="{D42A27DB-BD31-4B8C-83A1-F6EECF244321}">
                <p14:modId xmlns:p14="http://schemas.microsoft.com/office/powerpoint/2010/main" val="3070262570"/>
              </p:ext>
            </p:extLst>
          </p:nvPr>
        </p:nvGraphicFramePr>
        <p:xfrm>
          <a:off x="432000" y="1619999"/>
          <a:ext cx="9043200" cy="2249352"/>
        </p:xfrm>
        <a:graphic>
          <a:graphicData uri="http://schemas.openxmlformats.org/drawingml/2006/table">
            <a:tbl>
              <a:tblPr firstRow="1" bandRow="1">
                <a:tableStyleId>{5C22544A-7EE6-4342-B048-85BDC9FD1C3A}</a:tableStyleId>
              </a:tblPr>
              <a:tblGrid>
                <a:gridCol w="2907966">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3940674">
                  <a:extLst>
                    <a:ext uri="{9D8B030D-6E8A-4147-A177-3AD203B41FA5}">
                      <a16:colId xmlns:a16="http://schemas.microsoft.com/office/drawing/2014/main" val="20002"/>
                    </a:ext>
                  </a:extLst>
                </a:gridCol>
              </a:tblGrid>
              <a:tr h="321336">
                <a:tc>
                  <a:txBody>
                    <a:bodyPr/>
                    <a:lstStyle/>
                    <a:p>
                      <a:pPr algn="ctr"/>
                      <a:r>
                        <a:rPr sz="1150" b="1">
                          <a:solidFill>
                            <a:srgbClr val="FFFFFF"/>
                          </a:solidFill>
                          <a:latin typeface="メイリオ"/>
                          <a:ea typeface="メイリオ"/>
                          <a:cs typeface="メイリオ"/>
                        </a:rPr>
                        <a:t>サービス</a:t>
                      </a:r>
                    </a:p>
                  </a:txBody>
                  <a:tcPr anchor="ctr">
                    <a:solidFill>
                      <a:srgbClr val="1F285A"/>
                    </a:solidFill>
                  </a:tcPr>
                </a:tc>
                <a:tc>
                  <a:txBody>
                    <a:bodyPr/>
                    <a:lstStyle/>
                    <a:p>
                      <a:pPr algn="ctr"/>
                      <a:r>
                        <a:rPr sz="1150" b="1">
                          <a:solidFill>
                            <a:srgbClr val="FFFFFF"/>
                          </a:solidFill>
                          <a:latin typeface="メイリオ"/>
                          <a:ea typeface="メイリオ"/>
                          <a:cs typeface="メイリオ"/>
                        </a:rPr>
                        <a:t>種別</a:t>
                      </a:r>
                    </a:p>
                  </a:txBody>
                  <a:tcPr anchor="ctr">
                    <a:solidFill>
                      <a:srgbClr val="1F285A"/>
                    </a:solidFill>
                  </a:tcPr>
                </a:tc>
                <a:tc>
                  <a:txBody>
                    <a:bodyPr/>
                    <a:lstStyle/>
                    <a:p>
                      <a:pPr algn="ctr"/>
                      <a:r>
                        <a:rPr sz="1150" b="1">
                          <a:solidFill>
                            <a:srgbClr val="FFFFFF"/>
                          </a:solidFill>
                          <a:latin typeface="メイリオ"/>
                          <a:ea typeface="メイリオ"/>
                          <a:cs typeface="メイリオ"/>
                        </a:rPr>
                        <a:t>LINE友だち数</a:t>
                      </a:r>
                    </a:p>
                  </a:txBody>
                  <a:tcPr anchor="ctr">
                    <a:solidFill>
                      <a:srgbClr val="1F285A"/>
                    </a:solidFill>
                  </a:tcPr>
                </a:tc>
                <a:extLst>
                  <a:ext uri="{0D108BD9-81ED-4DB2-BD59-A6C34878D82A}">
                    <a16:rowId xmlns:a16="http://schemas.microsoft.com/office/drawing/2014/main" val="10000"/>
                  </a:ext>
                </a:extLst>
              </a:tr>
              <a:tr h="321336">
                <a:tc>
                  <a:txBody>
                    <a:bodyPr/>
                    <a:lstStyle/>
                    <a:p>
                      <a:pPr algn="l"/>
                      <a:r>
                        <a:rPr sz="1400">
                          <a:solidFill>
                            <a:srgbClr val="333333"/>
                          </a:solidFill>
                          <a:latin typeface="メイリオ"/>
                          <a:ea typeface="メイリオ"/>
                          <a:cs typeface="メイリオ"/>
                        </a:rPr>
                        <a:t>リクナビNEXT</a:t>
                      </a:r>
                    </a:p>
                  </a:txBody>
                  <a:tcPr anchor="ctr">
                    <a:solidFill>
                      <a:srgbClr val="FFFFFF"/>
                    </a:solidFill>
                  </a:tcPr>
                </a:tc>
                <a:tc>
                  <a:txBody>
                    <a:bodyPr/>
                    <a:lstStyle/>
                    <a:p>
                      <a:pPr algn="l"/>
                      <a:r>
                        <a:rPr sz="1400">
                          <a:solidFill>
                            <a:srgbClr val="333333"/>
                          </a:solidFill>
                          <a:latin typeface="メイリオ"/>
                          <a:ea typeface="メイリオ"/>
                          <a:cs typeface="メイリオ"/>
                        </a:rPr>
                        <a:t>総合・転職サイト</a:t>
                      </a:r>
                    </a:p>
                  </a:txBody>
                  <a:tcPr anchor="ctr">
                    <a:solidFill>
                      <a:srgbClr val="FFFFFF"/>
                    </a:solidFill>
                  </a:tcPr>
                </a:tc>
                <a:tc>
                  <a:txBody>
                    <a:bodyPr/>
                    <a:lstStyle/>
                    <a:p>
                      <a:pPr algn="l"/>
                      <a:r>
                        <a:rPr sz="1400">
                          <a:solidFill>
                            <a:srgbClr val="333333"/>
                          </a:solidFill>
                          <a:latin typeface="メイリオ"/>
                          <a:ea typeface="メイリオ"/>
                          <a:cs typeface="メイリオ"/>
                        </a:rPr>
                        <a:t>3,235,678人</a:t>
                      </a:r>
                    </a:p>
                  </a:txBody>
                  <a:tcPr anchor="ctr">
                    <a:solidFill>
                      <a:srgbClr val="FFFFFF"/>
                    </a:solidFill>
                  </a:tcPr>
                </a:tc>
                <a:extLst>
                  <a:ext uri="{0D108BD9-81ED-4DB2-BD59-A6C34878D82A}">
                    <a16:rowId xmlns:a16="http://schemas.microsoft.com/office/drawing/2014/main" val="10001"/>
                  </a:ext>
                </a:extLst>
              </a:tr>
              <a:tr h="321336">
                <a:tc>
                  <a:txBody>
                    <a:bodyPr/>
                    <a:lstStyle/>
                    <a:p>
                      <a:pPr algn="l"/>
                      <a:r>
                        <a:rPr sz="1400">
                          <a:solidFill>
                            <a:srgbClr val="333333"/>
                          </a:solidFill>
                          <a:latin typeface="メイリオ"/>
                          <a:ea typeface="メイリオ"/>
                          <a:cs typeface="メイリオ"/>
                        </a:rPr>
                        <a:t>求人ボックス</a:t>
                      </a:r>
                    </a:p>
                  </a:txBody>
                  <a:tcPr anchor="ctr">
                    <a:solidFill>
                      <a:srgbClr val="F4F7FF"/>
                    </a:solidFill>
                  </a:tcPr>
                </a:tc>
                <a:tc>
                  <a:txBody>
                    <a:bodyPr/>
                    <a:lstStyle/>
                    <a:p>
                      <a:pPr algn="l"/>
                      <a:r>
                        <a:rPr sz="1400">
                          <a:solidFill>
                            <a:srgbClr val="333333"/>
                          </a:solidFill>
                          <a:latin typeface="メイリオ"/>
                          <a:ea typeface="メイリオ"/>
                          <a:cs typeface="メイリオ"/>
                        </a:rPr>
                        <a:t>総合・アグリゲーション</a:t>
                      </a:r>
                    </a:p>
                  </a:txBody>
                  <a:tcPr anchor="ctr">
                    <a:solidFill>
                      <a:srgbClr val="F4F7FF"/>
                    </a:solidFill>
                  </a:tcPr>
                </a:tc>
                <a:tc>
                  <a:txBody>
                    <a:bodyPr/>
                    <a:lstStyle/>
                    <a:p>
                      <a:pPr algn="l"/>
                      <a:r>
                        <a:rPr sz="1400">
                          <a:solidFill>
                            <a:srgbClr val="333333"/>
                          </a:solidFill>
                          <a:latin typeface="メイリオ"/>
                          <a:ea typeface="メイリオ"/>
                          <a:cs typeface="メイリオ"/>
                        </a:rPr>
                        <a:t>1,862,866人</a:t>
                      </a:r>
                    </a:p>
                  </a:txBody>
                  <a:tcPr anchor="ctr">
                    <a:solidFill>
                      <a:srgbClr val="F4F7FF"/>
                    </a:solidFill>
                  </a:tcPr>
                </a:tc>
                <a:extLst>
                  <a:ext uri="{0D108BD9-81ED-4DB2-BD59-A6C34878D82A}">
                    <a16:rowId xmlns:a16="http://schemas.microsoft.com/office/drawing/2014/main" val="10002"/>
                  </a:ext>
                </a:extLst>
              </a:tr>
              <a:tr h="321336">
                <a:tc>
                  <a:txBody>
                    <a:bodyPr/>
                    <a:lstStyle/>
                    <a:p>
                      <a:pPr algn="l"/>
                      <a:r>
                        <a:rPr sz="1400">
                          <a:solidFill>
                            <a:srgbClr val="333333"/>
                          </a:solidFill>
                          <a:latin typeface="メイリオ"/>
                          <a:ea typeface="メイリオ"/>
                          <a:cs typeface="メイリオ"/>
                        </a:rPr>
                        <a:t>マイナビ転職</a:t>
                      </a:r>
                    </a:p>
                  </a:txBody>
                  <a:tcPr anchor="ctr">
                    <a:solidFill>
                      <a:srgbClr val="FFFFFF"/>
                    </a:solidFill>
                  </a:tcPr>
                </a:tc>
                <a:tc>
                  <a:txBody>
                    <a:bodyPr/>
                    <a:lstStyle/>
                    <a:p>
                      <a:pPr algn="l"/>
                      <a:r>
                        <a:rPr sz="1400">
                          <a:solidFill>
                            <a:srgbClr val="333333"/>
                          </a:solidFill>
                          <a:latin typeface="メイリオ"/>
                          <a:ea typeface="メイリオ"/>
                          <a:cs typeface="メイリオ"/>
                        </a:rPr>
                        <a:t>総合・転職サイト</a:t>
                      </a:r>
                    </a:p>
                  </a:txBody>
                  <a:tcPr anchor="ctr">
                    <a:solidFill>
                      <a:srgbClr val="FFFFFF"/>
                    </a:solidFill>
                  </a:tcPr>
                </a:tc>
                <a:tc>
                  <a:txBody>
                    <a:bodyPr/>
                    <a:lstStyle/>
                    <a:p>
                      <a:pPr algn="l"/>
                      <a:r>
                        <a:rPr sz="1400">
                          <a:solidFill>
                            <a:srgbClr val="333333"/>
                          </a:solidFill>
                          <a:latin typeface="メイリオ"/>
                          <a:ea typeface="メイリオ"/>
                          <a:cs typeface="メイリオ"/>
                        </a:rPr>
                        <a:t>754,302人</a:t>
                      </a:r>
                    </a:p>
                  </a:txBody>
                  <a:tcPr anchor="ctr">
                    <a:solidFill>
                      <a:srgbClr val="FFFFFF"/>
                    </a:solidFill>
                  </a:tcPr>
                </a:tc>
                <a:extLst>
                  <a:ext uri="{0D108BD9-81ED-4DB2-BD59-A6C34878D82A}">
                    <a16:rowId xmlns:a16="http://schemas.microsoft.com/office/drawing/2014/main" val="10003"/>
                  </a:ext>
                </a:extLst>
              </a:tr>
              <a:tr h="321336">
                <a:tc>
                  <a:txBody>
                    <a:bodyPr/>
                    <a:lstStyle/>
                    <a:p>
                      <a:pPr algn="l"/>
                      <a:r>
                        <a:rPr sz="1400">
                          <a:solidFill>
                            <a:srgbClr val="333333"/>
                          </a:solidFill>
                          <a:latin typeface="メイリオ"/>
                          <a:ea typeface="メイリオ"/>
                          <a:cs typeface="メイリオ"/>
                        </a:rPr>
                        <a:t>doda</a:t>
                      </a:r>
                    </a:p>
                  </a:txBody>
                  <a:tcPr anchor="ctr">
                    <a:solidFill>
                      <a:srgbClr val="F4F7FF"/>
                    </a:solidFill>
                  </a:tcPr>
                </a:tc>
                <a:tc>
                  <a:txBody>
                    <a:bodyPr/>
                    <a:lstStyle/>
                    <a:p>
                      <a:pPr algn="l"/>
                      <a:r>
                        <a:rPr sz="1400">
                          <a:solidFill>
                            <a:srgbClr val="333333"/>
                          </a:solidFill>
                          <a:latin typeface="メイリオ"/>
                          <a:ea typeface="メイリオ"/>
                          <a:cs typeface="メイリオ"/>
                        </a:rPr>
                        <a:t>総合・エージェント</a:t>
                      </a:r>
                    </a:p>
                  </a:txBody>
                  <a:tcPr anchor="ctr">
                    <a:solidFill>
                      <a:srgbClr val="F4F7FF"/>
                    </a:solidFill>
                  </a:tcPr>
                </a:tc>
                <a:tc>
                  <a:txBody>
                    <a:bodyPr/>
                    <a:lstStyle/>
                    <a:p>
                      <a:pPr algn="l"/>
                      <a:r>
                        <a:rPr sz="1400" dirty="0">
                          <a:solidFill>
                            <a:srgbClr val="333333"/>
                          </a:solidFill>
                          <a:latin typeface="メイリオ"/>
                          <a:ea typeface="メイリオ"/>
                          <a:cs typeface="メイリオ"/>
                        </a:rPr>
                        <a:t>公開アカウントなし（会員登録後に1:1連携）</a:t>
                      </a:r>
                    </a:p>
                  </a:txBody>
                  <a:tcPr anchor="ctr">
                    <a:solidFill>
                      <a:srgbClr val="F4F7FF"/>
                    </a:solidFill>
                  </a:tcPr>
                </a:tc>
                <a:extLst>
                  <a:ext uri="{0D108BD9-81ED-4DB2-BD59-A6C34878D82A}">
                    <a16:rowId xmlns:a16="http://schemas.microsoft.com/office/drawing/2014/main" val="10004"/>
                  </a:ext>
                </a:extLst>
              </a:tr>
              <a:tr h="321336">
                <a:tc>
                  <a:txBody>
                    <a:bodyPr/>
                    <a:lstStyle/>
                    <a:p>
                      <a:pPr algn="l"/>
                      <a:r>
                        <a:rPr sz="1400">
                          <a:solidFill>
                            <a:srgbClr val="333333"/>
                          </a:solidFill>
                          <a:latin typeface="メイリオ"/>
                          <a:ea typeface="メイリオ"/>
                          <a:cs typeface="メイリオ"/>
                        </a:rPr>
                        <a:t>プレックスジョブ【整備士】</a:t>
                      </a:r>
                    </a:p>
                  </a:txBody>
                  <a:tcPr anchor="ctr">
                    <a:solidFill>
                      <a:srgbClr val="FFFFFF"/>
                    </a:solidFill>
                  </a:tcPr>
                </a:tc>
                <a:tc>
                  <a:txBody>
                    <a:bodyPr/>
                    <a:lstStyle/>
                    <a:p>
                      <a:pPr algn="l"/>
                      <a:r>
                        <a:rPr sz="1400">
                          <a:solidFill>
                            <a:srgbClr val="333333"/>
                          </a:solidFill>
                          <a:latin typeface="メイリオ"/>
                          <a:ea typeface="メイリオ"/>
                          <a:cs typeface="メイリオ"/>
                        </a:rPr>
                        <a:t>整備士特化</a:t>
                      </a:r>
                    </a:p>
                  </a:txBody>
                  <a:tcPr anchor="ctr">
                    <a:solidFill>
                      <a:srgbClr val="FFFFFF"/>
                    </a:solidFill>
                  </a:tcPr>
                </a:tc>
                <a:tc>
                  <a:txBody>
                    <a:bodyPr/>
                    <a:lstStyle/>
                    <a:p>
                      <a:pPr algn="l"/>
                      <a:r>
                        <a:rPr sz="1400">
                          <a:solidFill>
                            <a:srgbClr val="333333"/>
                          </a:solidFill>
                          <a:latin typeface="メイリオ"/>
                          <a:ea typeface="メイリオ"/>
                          <a:cs typeface="メイリオ"/>
                        </a:rPr>
                        <a:t>6,288人</a:t>
                      </a:r>
                    </a:p>
                  </a:txBody>
                  <a:tcPr anchor="ctr">
                    <a:solidFill>
                      <a:srgbClr val="FFFFFF"/>
                    </a:solidFill>
                  </a:tcPr>
                </a:tc>
                <a:extLst>
                  <a:ext uri="{0D108BD9-81ED-4DB2-BD59-A6C34878D82A}">
                    <a16:rowId xmlns:a16="http://schemas.microsoft.com/office/drawing/2014/main" val="10005"/>
                  </a:ext>
                </a:extLst>
              </a:tr>
              <a:tr h="321336">
                <a:tc>
                  <a:txBody>
                    <a:bodyPr/>
                    <a:lstStyle/>
                    <a:p>
                      <a:pPr algn="l"/>
                      <a:r>
                        <a:rPr sz="1400" dirty="0" err="1">
                          <a:solidFill>
                            <a:srgbClr val="333333"/>
                          </a:solidFill>
                          <a:latin typeface="メイリオ"/>
                          <a:ea typeface="メイリオ"/>
                          <a:cs typeface="メイリオ"/>
                        </a:rPr>
                        <a:t>整備士の求人・転職｜カンパネル</a:t>
                      </a:r>
                      <a:endParaRPr sz="1400" dirty="0">
                        <a:solidFill>
                          <a:srgbClr val="333333"/>
                        </a:solidFill>
                        <a:latin typeface="メイリオ"/>
                        <a:ea typeface="メイリオ"/>
                        <a:cs typeface="メイリオ"/>
                      </a:endParaRPr>
                    </a:p>
                  </a:txBody>
                  <a:tcPr anchor="ctr">
                    <a:solidFill>
                      <a:srgbClr val="F4F7FF"/>
                    </a:solidFill>
                  </a:tcPr>
                </a:tc>
                <a:tc>
                  <a:txBody>
                    <a:bodyPr/>
                    <a:lstStyle/>
                    <a:p>
                      <a:pPr algn="l"/>
                      <a:r>
                        <a:rPr sz="1400">
                          <a:solidFill>
                            <a:srgbClr val="333333"/>
                          </a:solidFill>
                          <a:latin typeface="メイリオ"/>
                          <a:ea typeface="メイリオ"/>
                          <a:cs typeface="メイリオ"/>
                        </a:rPr>
                        <a:t>整備士特化</a:t>
                      </a:r>
                    </a:p>
                  </a:txBody>
                  <a:tcPr anchor="ctr">
                    <a:solidFill>
                      <a:srgbClr val="F4F7FF"/>
                    </a:solidFill>
                  </a:tcPr>
                </a:tc>
                <a:tc>
                  <a:txBody>
                    <a:bodyPr/>
                    <a:lstStyle/>
                    <a:p>
                      <a:pPr algn="l"/>
                      <a:r>
                        <a:rPr sz="1400" dirty="0">
                          <a:solidFill>
                            <a:srgbClr val="333333"/>
                          </a:solidFill>
                          <a:latin typeface="メイリオ"/>
                          <a:ea typeface="メイリオ"/>
                          <a:cs typeface="メイリオ"/>
                        </a:rPr>
                        <a:t>196人</a:t>
                      </a:r>
                    </a:p>
                  </a:txBody>
                  <a:tcPr anchor="ctr">
                    <a:solidFill>
                      <a:srgbClr val="F4F7FF"/>
                    </a:solidFill>
                  </a:tcPr>
                </a:tc>
                <a:extLst>
                  <a:ext uri="{0D108BD9-81ED-4DB2-BD59-A6C34878D82A}">
                    <a16:rowId xmlns:a16="http://schemas.microsoft.com/office/drawing/2014/main" val="10006"/>
                  </a:ext>
                </a:extLst>
              </a:tr>
            </a:tbl>
          </a:graphicData>
        </a:graphic>
      </p:graphicFrame>
      <p:sp>
        <p:nvSpPr>
          <p:cNvPr id="6" name="Rounded Rectangle 5"/>
          <p:cNvSpPr/>
          <p:nvPr/>
        </p:nvSpPr>
        <p:spPr>
          <a:xfrm>
            <a:off x="432000" y="4380253"/>
            <a:ext cx="9043200" cy="396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0" rIns="108000" bIns="0" rtlCol="0" anchor="ctr"/>
          <a:lstStyle/>
          <a:p>
            <a:pPr algn="ctr">
              <a:lnSpc>
                <a:spcPct val="125000"/>
              </a:lnSpc>
            </a:pPr>
            <a:r>
              <a:rPr sz="1400" b="1" dirty="0">
                <a:solidFill>
                  <a:srgbClr val="FFFFFF"/>
                </a:solidFill>
                <a:latin typeface="メイリオ"/>
                <a:ea typeface="メイリオ"/>
                <a:cs typeface="メイリオ"/>
              </a:rPr>
              <a:t>「</a:t>
            </a:r>
            <a:r>
              <a:rPr sz="1400" b="1" dirty="0" err="1">
                <a:solidFill>
                  <a:srgbClr val="FFFFFF"/>
                </a:solidFill>
                <a:latin typeface="メイリオ"/>
                <a:ea typeface="メイリオ"/>
                <a:cs typeface="メイリオ"/>
              </a:rPr>
              <a:t>整備士</a:t>
            </a:r>
            <a:r>
              <a:rPr sz="1400" b="1" dirty="0">
                <a:solidFill>
                  <a:srgbClr val="FFFFFF"/>
                </a:solidFill>
                <a:latin typeface="メイリオ"/>
                <a:ea typeface="メイリオ"/>
                <a:cs typeface="メイリオ"/>
              </a:rPr>
              <a:t> × </a:t>
            </a:r>
            <a:r>
              <a:rPr sz="1400" b="1" dirty="0" err="1">
                <a:solidFill>
                  <a:srgbClr val="FFFFFF"/>
                </a:solidFill>
                <a:latin typeface="メイリオ"/>
                <a:ea typeface="メイリオ"/>
                <a:cs typeface="メイリオ"/>
              </a:rPr>
              <a:t>LINE」はまだ誰も取っていない。総合大手の型を持ち込むだけで先行者になれる</a:t>
            </a:r>
            <a:r>
              <a:rPr sz="1400" b="1" dirty="0">
                <a:solidFill>
                  <a:srgbClr val="FFFFFF"/>
                </a:solidFill>
                <a:latin typeface="メイリオ"/>
                <a:ea typeface="メイリオ"/>
                <a:cs typeface="メイリオ"/>
              </a:rPr>
              <a:t>。</a:t>
            </a:r>
          </a:p>
        </p:txBody>
      </p:sp>
      <p:sp>
        <p:nvSpPr>
          <p:cNvPr id="7" name="TextBox 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50">
                <a:solidFill>
                  <a:srgbClr val="7F7F7F"/>
                </a:solidFill>
                <a:latin typeface="メイリオ"/>
                <a:ea typeface="メイリオ"/>
                <a:cs typeface="メイリオ"/>
              </a:rPr>
              <a:t>出典：page.line.me（公式）2026-09-21実測。友だち数は取得日時点の公表値</a:t>
            </a:r>
          </a:p>
        </p:txBody>
      </p:sp>
    </p:spTree>
    <p:extLst>
      <p:ext uri="{BB962C8B-B14F-4D97-AF65-F5344CB8AC3E}">
        <p14:creationId xmlns:p14="http://schemas.microsoft.com/office/powerpoint/2010/main" val="14057960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501E-4538-865B-06FF-B4530B24F06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3D3533E4-0377-76E5-495C-9BA89161C5A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602C552F-05B3-B0A8-5D9C-EEE4787A9537}"/>
              </a:ext>
            </a:extLst>
          </p:cNvPr>
          <p:cNvSpPr/>
          <p:nvPr/>
        </p:nvSpPr>
        <p:spPr>
          <a:xfrm>
            <a:off x="4039946" y="3038203"/>
            <a:ext cx="1826141"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施策概要</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5663590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B95DA1-C4AC-9E84-EE81-C643FC320A19}"/>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D0A4C04F-D2D9-01C2-E8A6-1461C3D732EF}"/>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E18DA7C5-B4CE-72EF-0BE5-E52C6EDDE855}"/>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0D487FC4-7DBC-58FC-7A30-5F63295AAB2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前提整理</a:t>
            </a:r>
            <a:endParaRPr sz="1600" b="1" dirty="0">
              <a:solidFill>
                <a:srgbClr val="002060"/>
              </a:solidFill>
              <a:latin typeface="Meiryo"/>
              <a:ea typeface="Meiryo"/>
              <a:cs typeface="Meiryo"/>
              <a:sym typeface="Meiryo"/>
            </a:endParaRPr>
          </a:p>
        </p:txBody>
      </p:sp>
      <p:sp>
        <p:nvSpPr>
          <p:cNvPr id="39" name="Shape 3">
            <a:extLst>
              <a:ext uri="{FF2B5EF4-FFF2-40B4-BE49-F238E27FC236}">
                <a16:creationId xmlns:a16="http://schemas.microsoft.com/office/drawing/2014/main" id="{2C0CE6CF-CF29-4F13-E14D-6FE57E16D201}"/>
              </a:ext>
            </a:extLst>
          </p:cNvPr>
          <p:cNvSpPr/>
          <p:nvPr/>
        </p:nvSpPr>
        <p:spPr>
          <a:xfrm>
            <a:off x="972158" y="1780035"/>
            <a:ext cx="384048" cy="384048"/>
          </a:xfrm>
          <a:prstGeom prst="ellipse">
            <a:avLst/>
          </a:prstGeom>
          <a:solidFill>
            <a:srgbClr val="06C755"/>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41" name="Text 4">
            <a:extLst>
              <a:ext uri="{FF2B5EF4-FFF2-40B4-BE49-F238E27FC236}">
                <a16:creationId xmlns:a16="http://schemas.microsoft.com/office/drawing/2014/main" id="{4B15C96A-F0B8-F18C-6254-B162AFC457A6}"/>
              </a:ext>
            </a:extLst>
          </p:cNvPr>
          <p:cNvSpPr txBox="1"/>
          <p:nvPr/>
        </p:nvSpPr>
        <p:spPr>
          <a:xfrm>
            <a:off x="972158" y="1780035"/>
            <a:ext cx="384048"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1100" dirty="0">
              <a:latin typeface="メイリオ" panose="020B0604030504040204" pitchFamily="50" charset="-128"/>
              <a:ea typeface="メイリオ" panose="020B0604030504040204" pitchFamily="50" charset="-128"/>
            </a:endParaRPr>
          </a:p>
        </p:txBody>
      </p:sp>
      <p:sp>
        <p:nvSpPr>
          <p:cNvPr id="43" name="Text 5">
            <a:extLst>
              <a:ext uri="{FF2B5EF4-FFF2-40B4-BE49-F238E27FC236}">
                <a16:creationId xmlns:a16="http://schemas.microsoft.com/office/drawing/2014/main" id="{1AB7025E-6AD2-DE33-BC65-0B02037301DF}"/>
              </a:ext>
            </a:extLst>
          </p:cNvPr>
          <p:cNvSpPr txBox="1"/>
          <p:nvPr/>
        </p:nvSpPr>
        <p:spPr>
          <a:xfrm>
            <a:off x="1539086" y="1907185"/>
            <a:ext cx="1745198" cy="1051560"/>
          </a:xfrm>
          <a:prstGeom prst="rect">
            <a:avLst/>
          </a:prstGeom>
          <a:noFill/>
          <a:ln/>
        </p:spPr>
        <p:txBody>
          <a:bodyPr wrap="square" lIns="0" tIns="0" rIns="0" bIns="0" rtlCol="0" anchor="t"/>
          <a:lstStyle/>
          <a:p>
            <a:pPr marL="0" indent="0">
              <a:buNone/>
            </a:pPr>
            <a:r>
              <a:rPr lang="en-US" sz="1500" b="1" dirty="0">
                <a:solidFill>
                  <a:srgbClr val="1B3A4B"/>
                </a:solidFill>
                <a:latin typeface="メイリオ" panose="020B0604030504040204" pitchFamily="50" charset="-128"/>
                <a:ea typeface="メイリオ" panose="020B0604030504040204" pitchFamily="50" charset="-128"/>
                <a:cs typeface="Calibri" pitchFamily="34" charset="-120"/>
              </a:rPr>
              <a:t>対象範囲</a:t>
            </a:r>
            <a:endParaRPr lang="en-US" sz="1400" dirty="0">
              <a:latin typeface="メイリオ" panose="020B0604030504040204" pitchFamily="50" charset="-128"/>
              <a:ea typeface="メイリオ" panose="020B0604030504040204" pitchFamily="50" charset="-128"/>
            </a:endParaRPr>
          </a:p>
        </p:txBody>
      </p:sp>
      <p:sp>
        <p:nvSpPr>
          <p:cNvPr id="46" name="Text 6">
            <a:extLst>
              <a:ext uri="{FF2B5EF4-FFF2-40B4-BE49-F238E27FC236}">
                <a16:creationId xmlns:a16="http://schemas.microsoft.com/office/drawing/2014/main" id="{EE17545A-2363-AE72-B300-AAA28328E975}"/>
              </a:ext>
            </a:extLst>
          </p:cNvPr>
          <p:cNvSpPr txBox="1"/>
          <p:nvPr/>
        </p:nvSpPr>
        <p:spPr>
          <a:xfrm>
            <a:off x="3120996" y="1907182"/>
            <a:ext cx="6841609" cy="548643"/>
          </a:xfrm>
          <a:prstGeom prst="rect">
            <a:avLst/>
          </a:prstGeom>
          <a:noFill/>
          <a:ln/>
        </p:spPr>
        <p:txBody>
          <a:bodyPr wrap="square" lIns="0" tIns="0" rIns="0" bIns="0" rtlCol="0" anchor="t"/>
          <a:lstStyle/>
          <a:p>
            <a:pPr marL="0" indent="0">
              <a:lnSpc>
                <a:spcPts val="1700"/>
              </a:lnSpc>
              <a:buNone/>
            </a:pPr>
            <a:r>
              <a:rPr lang="en-US" sz="1300" dirty="0">
                <a:solidFill>
                  <a:srgbClr val="1F2937"/>
                </a:solidFill>
                <a:latin typeface="メイリオ" panose="020B0604030504040204" pitchFamily="50" charset="-128"/>
                <a:ea typeface="メイリオ" panose="020B0604030504040204" pitchFamily="50" charset="-128"/>
                <a:cs typeface="Calibri" pitchFamily="34" charset="-120"/>
              </a:rPr>
              <a:t>LINE公式アカウントにおける</a:t>
            </a:r>
            <a:r>
              <a:rPr lang="en-US" sz="1300" b="1" dirty="0">
                <a:solidFill>
                  <a:srgbClr val="1F2937"/>
                </a:solidFill>
                <a:latin typeface="メイリオ" panose="020B0604030504040204" pitchFamily="50" charset="-128"/>
                <a:ea typeface="メイリオ" panose="020B0604030504040204" pitchFamily="50" charset="-128"/>
                <a:cs typeface="Calibri" pitchFamily="34" charset="-120"/>
              </a:rPr>
              <a:t>「① 友だち追加」「② </a:t>
            </a:r>
            <a:r>
              <a:rPr lang="en-US" sz="1300" b="1" dirty="0" err="1">
                <a:solidFill>
                  <a:srgbClr val="1F2937"/>
                </a:solidFill>
                <a:latin typeface="メイリオ" panose="020B0604030504040204" pitchFamily="50" charset="-128"/>
                <a:ea typeface="メイリオ" panose="020B0604030504040204" pitchFamily="50" charset="-128"/>
                <a:cs typeface="Calibri" pitchFamily="34" charset="-120"/>
              </a:rPr>
              <a:t>配信の効率改善</a:t>
            </a:r>
            <a:r>
              <a:rPr lang="en-US" sz="1300" b="1"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700"/>
              </a:lnSpc>
              <a:buNone/>
            </a:pPr>
            <a:r>
              <a:rPr lang="en-US" sz="1300" b="1" dirty="0">
                <a:solidFill>
                  <a:srgbClr val="1F2937"/>
                </a:solidFill>
                <a:latin typeface="メイリオ" panose="020B0604030504040204" pitchFamily="50" charset="-128"/>
                <a:ea typeface="メイリオ" panose="020B0604030504040204" pitchFamily="50" charset="-128"/>
                <a:cs typeface="Calibri" pitchFamily="34" charset="-120"/>
              </a:rPr>
              <a:t>「③ ユーザー満足度改善」「④ 管理側の業務効率化」の4領域</a:t>
            </a:r>
            <a:r>
              <a:rPr lang="en-US" sz="1300" dirty="0">
                <a:solidFill>
                  <a:srgbClr val="1F2937"/>
                </a:solidFill>
                <a:latin typeface="メイリオ" panose="020B0604030504040204" pitchFamily="50" charset="-128"/>
                <a:ea typeface="メイリオ" panose="020B0604030504040204" pitchFamily="50" charset="-128"/>
                <a:cs typeface="Calibri" pitchFamily="34" charset="-120"/>
              </a:rPr>
              <a:t>を対象に施策を設計。</a:t>
            </a:r>
          </a:p>
          <a:p>
            <a:pPr marL="0" indent="0">
              <a:lnSpc>
                <a:spcPts val="1700"/>
              </a:lnSpc>
              <a:buNone/>
            </a:pPr>
            <a:endParaRPr lang="en-US" sz="1200" dirty="0">
              <a:solidFill>
                <a:srgbClr val="1F2937"/>
              </a:solidFill>
              <a:latin typeface="メイリオ" panose="020B0604030504040204" pitchFamily="50" charset="-128"/>
              <a:ea typeface="メイリオ" panose="020B0604030504040204" pitchFamily="50" charset="-128"/>
              <a:cs typeface="Calibri" pitchFamily="34" charset="-120"/>
            </a:endParaRPr>
          </a:p>
          <a:p>
            <a:pPr marL="0" indent="0">
              <a:lnSpc>
                <a:spcPts val="1700"/>
              </a:lnSpc>
              <a:buNone/>
            </a:pPr>
            <a:endParaRPr lang="en-US" sz="1200" dirty="0">
              <a:solidFill>
                <a:srgbClr val="1F2937"/>
              </a:solidFill>
              <a:latin typeface="メイリオ" panose="020B0604030504040204" pitchFamily="50" charset="-128"/>
              <a:ea typeface="メイリオ" panose="020B0604030504040204" pitchFamily="50" charset="-128"/>
              <a:cs typeface="Calibri" pitchFamily="34" charset="-120"/>
            </a:endParaRPr>
          </a:p>
          <a:p>
            <a:pPr marL="0" indent="0">
              <a:lnSpc>
                <a:spcPts val="1700"/>
              </a:lnSpc>
              <a:buNone/>
            </a:pPr>
            <a:endParaRPr lang="en-US" sz="1200" dirty="0">
              <a:solidFill>
                <a:srgbClr val="1F2937"/>
              </a:solidFill>
              <a:latin typeface="メイリオ" panose="020B0604030504040204" pitchFamily="50" charset="-128"/>
              <a:ea typeface="メイリオ" panose="020B0604030504040204" pitchFamily="50" charset="-128"/>
              <a:cs typeface="Calibri" pitchFamily="34" charset="-120"/>
            </a:endParaRPr>
          </a:p>
        </p:txBody>
      </p:sp>
      <p:sp>
        <p:nvSpPr>
          <p:cNvPr id="48" name="Shape 7">
            <a:extLst>
              <a:ext uri="{FF2B5EF4-FFF2-40B4-BE49-F238E27FC236}">
                <a16:creationId xmlns:a16="http://schemas.microsoft.com/office/drawing/2014/main" id="{821FB137-60FE-5372-085D-B747D9EC59DC}"/>
              </a:ext>
            </a:extLst>
          </p:cNvPr>
          <p:cNvSpPr/>
          <p:nvPr/>
        </p:nvSpPr>
        <p:spPr>
          <a:xfrm>
            <a:off x="641683" y="2712723"/>
            <a:ext cx="8591394" cy="9144"/>
          </a:xfrm>
          <a:prstGeom prst="rect">
            <a:avLst/>
          </a:prstGeom>
          <a:solidFill>
            <a:srgbClr val="EBEEEF"/>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50" name="Shape 8">
            <a:extLst>
              <a:ext uri="{FF2B5EF4-FFF2-40B4-BE49-F238E27FC236}">
                <a16:creationId xmlns:a16="http://schemas.microsoft.com/office/drawing/2014/main" id="{DC9A3D51-C45E-51F8-860D-57ECD88D6555}"/>
              </a:ext>
            </a:extLst>
          </p:cNvPr>
          <p:cNvSpPr/>
          <p:nvPr/>
        </p:nvSpPr>
        <p:spPr>
          <a:xfrm>
            <a:off x="972158" y="2831595"/>
            <a:ext cx="384048" cy="384048"/>
          </a:xfrm>
          <a:prstGeom prst="ellipse">
            <a:avLst/>
          </a:prstGeom>
          <a:solidFill>
            <a:srgbClr val="06C755"/>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52" name="Text 9">
            <a:extLst>
              <a:ext uri="{FF2B5EF4-FFF2-40B4-BE49-F238E27FC236}">
                <a16:creationId xmlns:a16="http://schemas.microsoft.com/office/drawing/2014/main" id="{669B4352-D816-9A0C-A8DD-7BC84307D168}"/>
              </a:ext>
            </a:extLst>
          </p:cNvPr>
          <p:cNvSpPr txBox="1"/>
          <p:nvPr/>
        </p:nvSpPr>
        <p:spPr>
          <a:xfrm>
            <a:off x="972158" y="2831595"/>
            <a:ext cx="384048"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1100" dirty="0">
              <a:latin typeface="メイリオ" panose="020B0604030504040204" pitchFamily="50" charset="-128"/>
              <a:ea typeface="メイリオ" panose="020B0604030504040204" pitchFamily="50" charset="-128"/>
            </a:endParaRPr>
          </a:p>
        </p:txBody>
      </p:sp>
      <p:sp>
        <p:nvSpPr>
          <p:cNvPr id="54" name="Text 10">
            <a:extLst>
              <a:ext uri="{FF2B5EF4-FFF2-40B4-BE49-F238E27FC236}">
                <a16:creationId xmlns:a16="http://schemas.microsoft.com/office/drawing/2014/main" id="{75F48AE9-A6FD-422C-ACDF-7B652462C746}"/>
              </a:ext>
            </a:extLst>
          </p:cNvPr>
          <p:cNvSpPr txBox="1"/>
          <p:nvPr/>
        </p:nvSpPr>
        <p:spPr>
          <a:xfrm>
            <a:off x="1539086" y="2958745"/>
            <a:ext cx="1745198" cy="1051560"/>
          </a:xfrm>
          <a:prstGeom prst="rect">
            <a:avLst/>
          </a:prstGeom>
          <a:noFill/>
          <a:ln/>
        </p:spPr>
        <p:txBody>
          <a:bodyPr wrap="square" lIns="0" tIns="0" rIns="0" bIns="0" rtlCol="0" anchor="t"/>
          <a:lstStyle/>
          <a:p>
            <a:pPr marL="0" indent="0">
              <a:buNone/>
            </a:pPr>
            <a:r>
              <a:rPr lang="en-US" sz="1500" b="1" dirty="0">
                <a:solidFill>
                  <a:srgbClr val="1B3A4B"/>
                </a:solidFill>
                <a:latin typeface="メイリオ" panose="020B0604030504040204" pitchFamily="50" charset="-128"/>
                <a:ea typeface="メイリオ" panose="020B0604030504040204" pitchFamily="50" charset="-128"/>
                <a:cs typeface="Calibri" pitchFamily="34" charset="-120"/>
              </a:rPr>
              <a:t>想定UU規模</a:t>
            </a:r>
            <a:endParaRPr lang="en-US" sz="1400" dirty="0">
              <a:latin typeface="メイリオ" panose="020B0604030504040204" pitchFamily="50" charset="-128"/>
              <a:ea typeface="メイリオ" panose="020B0604030504040204" pitchFamily="50" charset="-128"/>
            </a:endParaRPr>
          </a:p>
        </p:txBody>
      </p:sp>
      <p:sp>
        <p:nvSpPr>
          <p:cNvPr id="56" name="Text 11">
            <a:extLst>
              <a:ext uri="{FF2B5EF4-FFF2-40B4-BE49-F238E27FC236}">
                <a16:creationId xmlns:a16="http://schemas.microsoft.com/office/drawing/2014/main" id="{61156CBF-D9B3-DD3C-8ACD-8372D9D326A2}"/>
              </a:ext>
            </a:extLst>
          </p:cNvPr>
          <p:cNvSpPr txBox="1"/>
          <p:nvPr/>
        </p:nvSpPr>
        <p:spPr>
          <a:xfrm>
            <a:off x="3120996" y="2958742"/>
            <a:ext cx="6841609" cy="548643"/>
          </a:xfrm>
          <a:prstGeom prst="rect">
            <a:avLst/>
          </a:prstGeom>
          <a:noFill/>
          <a:ln/>
        </p:spPr>
        <p:txBody>
          <a:bodyPr wrap="square" lIns="0" tIns="0" rIns="0" bIns="0" rtlCol="0" anchor="t"/>
          <a:lstStyle/>
          <a:p>
            <a:pPr marL="0" indent="0">
              <a:lnSpc>
                <a:spcPts val="1700"/>
              </a:lnSpc>
              <a:buNone/>
            </a:pPr>
            <a:r>
              <a:rPr lang="en-US" sz="1300" dirty="0" err="1">
                <a:solidFill>
                  <a:srgbClr val="1F2937"/>
                </a:solidFill>
                <a:latin typeface="メイリオ" panose="020B0604030504040204" pitchFamily="50" charset="-128"/>
                <a:ea typeface="メイリオ" panose="020B0604030504040204" pitchFamily="50" charset="-128"/>
                <a:cs typeface="Calibri" pitchFamily="34" charset="-120"/>
              </a:rPr>
              <a:t>友だち数（登録ユーザー数）は</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 </a:t>
            </a:r>
            <a:r>
              <a:rPr lang="ja-JP" altLang="en-US" sz="1300" dirty="0">
                <a:solidFill>
                  <a:srgbClr val="1F2937"/>
                </a:solidFill>
                <a:latin typeface="メイリオ" panose="020B0604030504040204" pitchFamily="50" charset="-128"/>
                <a:ea typeface="メイリオ" panose="020B0604030504040204" pitchFamily="50" charset="-128"/>
                <a:cs typeface="Calibri" pitchFamily="34" charset="-120"/>
              </a:rPr>
              <a:t>導入できる 動線の本数、整備の進捗により変動</a:t>
            </a:r>
            <a:r>
              <a:rPr lang="en-US" sz="1300"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700"/>
              </a:lnSpc>
              <a:buNone/>
            </a:pPr>
            <a:r>
              <a:rPr lang="en-US" sz="1300" dirty="0" err="1">
                <a:solidFill>
                  <a:srgbClr val="1F2937"/>
                </a:solidFill>
                <a:latin typeface="メイリオ" panose="020B0604030504040204" pitchFamily="50" charset="-128"/>
                <a:ea typeface="メイリオ" panose="020B0604030504040204" pitchFamily="50" charset="-128"/>
                <a:cs typeface="Calibri" pitchFamily="34" charset="-120"/>
              </a:rPr>
              <a:t>数値はこのレンジの中間帯を基準とした試算例</a:t>
            </a:r>
            <a:r>
              <a:rPr lang="en-US" sz="13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200" dirty="0">
              <a:latin typeface="メイリオ" panose="020B0604030504040204" pitchFamily="50" charset="-128"/>
              <a:ea typeface="メイリオ" panose="020B0604030504040204" pitchFamily="50" charset="-128"/>
            </a:endParaRPr>
          </a:p>
        </p:txBody>
      </p:sp>
      <p:sp>
        <p:nvSpPr>
          <p:cNvPr id="58" name="Shape 12">
            <a:extLst>
              <a:ext uri="{FF2B5EF4-FFF2-40B4-BE49-F238E27FC236}">
                <a16:creationId xmlns:a16="http://schemas.microsoft.com/office/drawing/2014/main" id="{B7E37F63-4443-61AC-C507-6249BCEA8B03}"/>
              </a:ext>
            </a:extLst>
          </p:cNvPr>
          <p:cNvSpPr/>
          <p:nvPr/>
        </p:nvSpPr>
        <p:spPr>
          <a:xfrm>
            <a:off x="641683" y="3764283"/>
            <a:ext cx="8591394" cy="9144"/>
          </a:xfrm>
          <a:prstGeom prst="rect">
            <a:avLst/>
          </a:prstGeom>
          <a:solidFill>
            <a:srgbClr val="EBEEEF"/>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60" name="Shape 13">
            <a:extLst>
              <a:ext uri="{FF2B5EF4-FFF2-40B4-BE49-F238E27FC236}">
                <a16:creationId xmlns:a16="http://schemas.microsoft.com/office/drawing/2014/main" id="{BC3F4295-B343-9929-79BF-0E90AC24E637}"/>
              </a:ext>
            </a:extLst>
          </p:cNvPr>
          <p:cNvSpPr/>
          <p:nvPr/>
        </p:nvSpPr>
        <p:spPr>
          <a:xfrm>
            <a:off x="972158" y="3883155"/>
            <a:ext cx="384048" cy="384048"/>
          </a:xfrm>
          <a:prstGeom prst="ellipse">
            <a:avLst/>
          </a:prstGeom>
          <a:solidFill>
            <a:srgbClr val="06C755"/>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62" name="Text 14">
            <a:extLst>
              <a:ext uri="{FF2B5EF4-FFF2-40B4-BE49-F238E27FC236}">
                <a16:creationId xmlns:a16="http://schemas.microsoft.com/office/drawing/2014/main" id="{4F7035AD-D7AD-4365-9CE5-C9A141A3387A}"/>
              </a:ext>
            </a:extLst>
          </p:cNvPr>
          <p:cNvSpPr txBox="1"/>
          <p:nvPr/>
        </p:nvSpPr>
        <p:spPr>
          <a:xfrm>
            <a:off x="972158" y="3883155"/>
            <a:ext cx="384048"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1100" dirty="0">
              <a:latin typeface="メイリオ" panose="020B0604030504040204" pitchFamily="50" charset="-128"/>
              <a:ea typeface="メイリオ" panose="020B0604030504040204" pitchFamily="50" charset="-128"/>
            </a:endParaRPr>
          </a:p>
        </p:txBody>
      </p:sp>
      <p:sp>
        <p:nvSpPr>
          <p:cNvPr id="64" name="Text 15">
            <a:extLst>
              <a:ext uri="{FF2B5EF4-FFF2-40B4-BE49-F238E27FC236}">
                <a16:creationId xmlns:a16="http://schemas.microsoft.com/office/drawing/2014/main" id="{86468759-90EC-B496-2A22-F5CEEF26BB6D}"/>
              </a:ext>
            </a:extLst>
          </p:cNvPr>
          <p:cNvSpPr txBox="1"/>
          <p:nvPr/>
        </p:nvSpPr>
        <p:spPr>
          <a:xfrm>
            <a:off x="1539086" y="4010305"/>
            <a:ext cx="1745198" cy="1051560"/>
          </a:xfrm>
          <a:prstGeom prst="rect">
            <a:avLst/>
          </a:prstGeom>
          <a:noFill/>
          <a:ln/>
        </p:spPr>
        <p:txBody>
          <a:bodyPr wrap="square" lIns="0" tIns="0" rIns="0" bIns="0" rtlCol="0" anchor="t"/>
          <a:lstStyle/>
          <a:p>
            <a:pPr marL="0" indent="0">
              <a:buNone/>
            </a:pPr>
            <a:r>
              <a:rPr lang="en-US" sz="1500" b="1" dirty="0">
                <a:solidFill>
                  <a:srgbClr val="1B3A4B"/>
                </a:solidFill>
                <a:latin typeface="メイリオ" panose="020B0604030504040204" pitchFamily="50" charset="-128"/>
                <a:ea typeface="メイリオ" panose="020B0604030504040204" pitchFamily="50" charset="-128"/>
                <a:cs typeface="Calibri" pitchFamily="34" charset="-120"/>
              </a:rPr>
              <a:t>数値の位置づけ</a:t>
            </a:r>
            <a:endParaRPr lang="en-US" sz="1400" dirty="0">
              <a:latin typeface="メイリオ" panose="020B0604030504040204" pitchFamily="50" charset="-128"/>
              <a:ea typeface="メイリオ" panose="020B0604030504040204" pitchFamily="50" charset="-128"/>
            </a:endParaRPr>
          </a:p>
        </p:txBody>
      </p:sp>
      <p:sp>
        <p:nvSpPr>
          <p:cNvPr id="66" name="Text 16">
            <a:extLst>
              <a:ext uri="{FF2B5EF4-FFF2-40B4-BE49-F238E27FC236}">
                <a16:creationId xmlns:a16="http://schemas.microsoft.com/office/drawing/2014/main" id="{904F2FF7-14A1-F39C-A8CB-E14A07B717DD}"/>
              </a:ext>
            </a:extLst>
          </p:cNvPr>
          <p:cNvSpPr txBox="1"/>
          <p:nvPr/>
        </p:nvSpPr>
        <p:spPr>
          <a:xfrm>
            <a:off x="3120996" y="4010302"/>
            <a:ext cx="6841609" cy="548643"/>
          </a:xfrm>
          <a:prstGeom prst="rect">
            <a:avLst/>
          </a:prstGeom>
          <a:noFill/>
          <a:ln/>
        </p:spPr>
        <p:txBody>
          <a:bodyPr wrap="square" lIns="0" tIns="0" rIns="0" bIns="0" rtlCol="0" anchor="t"/>
          <a:lstStyle/>
          <a:p>
            <a:pPr marL="0" indent="0">
              <a:lnSpc>
                <a:spcPts val="1700"/>
              </a:lnSpc>
              <a:buNone/>
            </a:pPr>
            <a:r>
              <a:rPr lang="en-US" sz="1300" dirty="0" err="1">
                <a:solidFill>
                  <a:srgbClr val="1F2937"/>
                </a:solidFill>
                <a:latin typeface="メイリオ" panose="020B0604030504040204" pitchFamily="50" charset="-128"/>
                <a:ea typeface="メイリオ" panose="020B0604030504040204" pitchFamily="50" charset="-128"/>
                <a:cs typeface="Calibri" pitchFamily="34" charset="-120"/>
              </a:rPr>
              <a:t>開封率・クリック率・CVR・獲得件数は、業界一般値</a:t>
            </a:r>
            <a:r>
              <a:rPr lang="ja-JP" altLang="en-US" sz="1300" dirty="0">
                <a:solidFill>
                  <a:srgbClr val="1F2937"/>
                </a:solidFill>
                <a:latin typeface="メイリオ" panose="020B0604030504040204" pitchFamily="50" charset="-128"/>
                <a:ea typeface="メイリオ" panose="020B0604030504040204" pitchFamily="50" charset="-128"/>
                <a:cs typeface="Calibri" pitchFamily="34" charset="-120"/>
              </a:rPr>
              <a:t>・弊社実績に基づく数値</a:t>
            </a:r>
            <a:r>
              <a:rPr lang="en-US" sz="1300"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700"/>
              </a:lnSpc>
              <a:buNone/>
            </a:pPr>
            <a:r>
              <a:rPr lang="ja-JP" altLang="en-US" sz="1300" dirty="0">
                <a:solidFill>
                  <a:srgbClr val="1F2937"/>
                </a:solidFill>
                <a:latin typeface="メイリオ" panose="020B0604030504040204" pitchFamily="50" charset="-128"/>
                <a:ea typeface="メイリオ" panose="020B0604030504040204" pitchFamily="50" charset="-128"/>
                <a:cs typeface="Calibri" pitchFamily="34" charset="-120"/>
              </a:rPr>
              <a:t>実際の実装可能領域によって変動する為、すり合わせの上で</a:t>
            </a:r>
            <a:r>
              <a:rPr lang="en-US" sz="1300" dirty="0" err="1">
                <a:solidFill>
                  <a:srgbClr val="1F2937"/>
                </a:solidFill>
                <a:latin typeface="メイリオ" panose="020B0604030504040204" pitchFamily="50" charset="-128"/>
                <a:ea typeface="メイリオ" panose="020B0604030504040204" pitchFamily="50" charset="-128"/>
                <a:cs typeface="Calibri" pitchFamily="34" charset="-120"/>
              </a:rPr>
              <a:t>精緻化する</a:t>
            </a:r>
            <a:r>
              <a:rPr lang="en-US" sz="13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200" dirty="0">
              <a:latin typeface="メイリオ" panose="020B0604030504040204" pitchFamily="50" charset="-128"/>
              <a:ea typeface="メイリオ" panose="020B0604030504040204" pitchFamily="50" charset="-128"/>
            </a:endParaRPr>
          </a:p>
        </p:txBody>
      </p:sp>
      <p:sp>
        <p:nvSpPr>
          <p:cNvPr id="68" name="Shape 17">
            <a:extLst>
              <a:ext uri="{FF2B5EF4-FFF2-40B4-BE49-F238E27FC236}">
                <a16:creationId xmlns:a16="http://schemas.microsoft.com/office/drawing/2014/main" id="{D7D046F7-16D5-8951-536B-10884484DE02}"/>
              </a:ext>
            </a:extLst>
          </p:cNvPr>
          <p:cNvSpPr/>
          <p:nvPr/>
        </p:nvSpPr>
        <p:spPr>
          <a:xfrm>
            <a:off x="641683" y="4815843"/>
            <a:ext cx="8591394" cy="9144"/>
          </a:xfrm>
          <a:prstGeom prst="rect">
            <a:avLst/>
          </a:prstGeom>
          <a:solidFill>
            <a:srgbClr val="EBEEEF"/>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70" name="Shape 18">
            <a:extLst>
              <a:ext uri="{FF2B5EF4-FFF2-40B4-BE49-F238E27FC236}">
                <a16:creationId xmlns:a16="http://schemas.microsoft.com/office/drawing/2014/main" id="{0D1FC647-1BC2-58C5-04C4-BE8B359A6F8D}"/>
              </a:ext>
            </a:extLst>
          </p:cNvPr>
          <p:cNvSpPr/>
          <p:nvPr/>
        </p:nvSpPr>
        <p:spPr>
          <a:xfrm>
            <a:off x="972158" y="4934715"/>
            <a:ext cx="384048" cy="384048"/>
          </a:xfrm>
          <a:prstGeom prst="ellipse">
            <a:avLst/>
          </a:prstGeom>
          <a:solidFill>
            <a:srgbClr val="06C755"/>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72" name="Text 19">
            <a:extLst>
              <a:ext uri="{FF2B5EF4-FFF2-40B4-BE49-F238E27FC236}">
                <a16:creationId xmlns:a16="http://schemas.microsoft.com/office/drawing/2014/main" id="{C7DA095C-5CED-C617-CCA7-2F5D20F16832}"/>
              </a:ext>
            </a:extLst>
          </p:cNvPr>
          <p:cNvSpPr txBox="1"/>
          <p:nvPr/>
        </p:nvSpPr>
        <p:spPr>
          <a:xfrm>
            <a:off x="972158" y="4934715"/>
            <a:ext cx="384048"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メイリオ" panose="020B0604030504040204" pitchFamily="50" charset="-128"/>
                <a:ea typeface="メイリオ" panose="020B0604030504040204" pitchFamily="50" charset="-128"/>
                <a:cs typeface="Calibri" pitchFamily="34" charset="-120"/>
              </a:rPr>
              <a:t>4</a:t>
            </a:r>
            <a:endParaRPr lang="en-US" sz="1100" dirty="0">
              <a:latin typeface="メイリオ" panose="020B0604030504040204" pitchFamily="50" charset="-128"/>
              <a:ea typeface="メイリオ" panose="020B0604030504040204" pitchFamily="50" charset="-128"/>
            </a:endParaRPr>
          </a:p>
        </p:txBody>
      </p:sp>
      <p:sp>
        <p:nvSpPr>
          <p:cNvPr id="74" name="Text 20">
            <a:extLst>
              <a:ext uri="{FF2B5EF4-FFF2-40B4-BE49-F238E27FC236}">
                <a16:creationId xmlns:a16="http://schemas.microsoft.com/office/drawing/2014/main" id="{4C2E6E88-6123-B50A-ED01-1E64CDAD3404}"/>
              </a:ext>
            </a:extLst>
          </p:cNvPr>
          <p:cNvSpPr txBox="1"/>
          <p:nvPr/>
        </p:nvSpPr>
        <p:spPr>
          <a:xfrm>
            <a:off x="1539086" y="5061865"/>
            <a:ext cx="1745198" cy="1051560"/>
          </a:xfrm>
          <a:prstGeom prst="rect">
            <a:avLst/>
          </a:prstGeom>
          <a:noFill/>
          <a:ln/>
        </p:spPr>
        <p:txBody>
          <a:bodyPr wrap="square" lIns="0" tIns="0" rIns="0" bIns="0" rtlCol="0" anchor="t"/>
          <a:lstStyle/>
          <a:p>
            <a:pPr marL="0" indent="0">
              <a:buNone/>
            </a:pPr>
            <a:r>
              <a:rPr lang="en-US" sz="1500" b="1" dirty="0">
                <a:solidFill>
                  <a:srgbClr val="1B3A4B"/>
                </a:solidFill>
                <a:latin typeface="メイリオ" panose="020B0604030504040204" pitchFamily="50" charset="-128"/>
                <a:ea typeface="メイリオ" panose="020B0604030504040204" pitchFamily="50" charset="-128"/>
                <a:cs typeface="Calibri" pitchFamily="34" charset="-120"/>
              </a:rPr>
              <a:t>費用について</a:t>
            </a:r>
            <a:endParaRPr lang="en-US" sz="1400" dirty="0">
              <a:latin typeface="メイリオ" panose="020B0604030504040204" pitchFamily="50" charset="-128"/>
              <a:ea typeface="メイリオ" panose="020B0604030504040204" pitchFamily="50" charset="-128"/>
            </a:endParaRPr>
          </a:p>
        </p:txBody>
      </p:sp>
      <p:sp>
        <p:nvSpPr>
          <p:cNvPr id="76" name="Text 21">
            <a:extLst>
              <a:ext uri="{FF2B5EF4-FFF2-40B4-BE49-F238E27FC236}">
                <a16:creationId xmlns:a16="http://schemas.microsoft.com/office/drawing/2014/main" id="{F5F82988-82B4-B2FE-6595-2DA583169883}"/>
              </a:ext>
            </a:extLst>
          </p:cNvPr>
          <p:cNvSpPr txBox="1"/>
          <p:nvPr/>
        </p:nvSpPr>
        <p:spPr>
          <a:xfrm>
            <a:off x="3120996" y="5061862"/>
            <a:ext cx="6841609" cy="548643"/>
          </a:xfrm>
          <a:prstGeom prst="rect">
            <a:avLst/>
          </a:prstGeom>
          <a:noFill/>
          <a:ln/>
        </p:spPr>
        <p:txBody>
          <a:bodyPr wrap="square" lIns="0" tIns="0" rIns="0" bIns="0" rtlCol="0" anchor="t"/>
          <a:lstStyle/>
          <a:p>
            <a:pPr marL="0" indent="0">
              <a:lnSpc>
                <a:spcPts val="1700"/>
              </a:lnSpc>
              <a:buNone/>
            </a:pPr>
            <a:r>
              <a:rPr lang="en-US" sz="1300" dirty="0" err="1">
                <a:solidFill>
                  <a:srgbClr val="1F2937"/>
                </a:solidFill>
                <a:latin typeface="メイリオ" panose="020B0604030504040204" pitchFamily="50" charset="-128"/>
                <a:ea typeface="メイリオ" panose="020B0604030504040204" pitchFamily="50" charset="-128"/>
                <a:cs typeface="Calibri" pitchFamily="34" charset="-120"/>
              </a:rPr>
              <a:t>本資料</a:t>
            </a:r>
            <a:r>
              <a:rPr lang="ja-JP" altLang="en-US" sz="1300" dirty="0">
                <a:solidFill>
                  <a:srgbClr val="1F2937"/>
                </a:solidFill>
                <a:latin typeface="メイリオ" panose="020B0604030504040204" pitchFamily="50" charset="-128"/>
                <a:ea typeface="メイリオ" panose="020B0604030504040204" pitchFamily="50" charset="-128"/>
                <a:cs typeface="Calibri" pitchFamily="34" charset="-120"/>
              </a:rPr>
              <a:t>内</a:t>
            </a:r>
            <a:r>
              <a:rPr lang="en-US" sz="1300" dirty="0">
                <a:solidFill>
                  <a:srgbClr val="1F2937"/>
                </a:solidFill>
                <a:latin typeface="メイリオ" panose="020B0604030504040204" pitchFamily="50" charset="-128"/>
                <a:ea typeface="メイリオ" panose="020B0604030504040204" pitchFamily="50" charset="-128"/>
                <a:cs typeface="Calibri" pitchFamily="34" charset="-120"/>
              </a:rPr>
              <a:t>で</a:t>
            </a:r>
            <a:r>
              <a:rPr lang="ja-JP" altLang="en-US" sz="1300" dirty="0">
                <a:solidFill>
                  <a:srgbClr val="1F2937"/>
                </a:solidFill>
                <a:latin typeface="メイリオ" panose="020B0604030504040204" pitchFamily="50" charset="-128"/>
                <a:ea typeface="メイリオ" panose="020B0604030504040204" pitchFamily="50" charset="-128"/>
                <a:cs typeface="Calibri" pitchFamily="34" charset="-120"/>
              </a:rPr>
              <a:t>記載の</a:t>
            </a:r>
            <a:r>
              <a:rPr lang="en-US" sz="1300" b="1" dirty="0" err="1">
                <a:solidFill>
                  <a:srgbClr val="1F2937"/>
                </a:solidFill>
                <a:latin typeface="メイリオ" panose="020B0604030504040204" pitchFamily="50" charset="-128"/>
                <a:ea typeface="メイリオ" panose="020B0604030504040204" pitchFamily="50" charset="-128"/>
                <a:cs typeface="Calibri" pitchFamily="34" charset="-120"/>
              </a:rPr>
              <a:t>費用（初期費用・月額費用）は</a:t>
            </a:r>
            <a:r>
              <a:rPr lang="ja-JP" altLang="en-US" sz="1300" b="1" dirty="0">
                <a:solidFill>
                  <a:srgbClr val="1F2937"/>
                </a:solidFill>
                <a:latin typeface="メイリオ" panose="020B0604030504040204" pitchFamily="50" charset="-128"/>
                <a:ea typeface="メイリオ" panose="020B0604030504040204" pitchFamily="50" charset="-128"/>
                <a:cs typeface="Calibri" pitchFamily="34" charset="-120"/>
              </a:rPr>
              <a:t>前提参考値</a:t>
            </a:r>
            <a:r>
              <a:rPr lang="en-US" sz="1300"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700"/>
              </a:lnSpc>
              <a:buNone/>
            </a:pPr>
            <a:r>
              <a:rPr lang="en-US" sz="1300" dirty="0" err="1">
                <a:solidFill>
                  <a:srgbClr val="1F2937"/>
                </a:solidFill>
                <a:latin typeface="メイリオ" panose="020B0604030504040204" pitchFamily="50" charset="-128"/>
                <a:ea typeface="メイリオ" panose="020B0604030504040204" pitchFamily="50" charset="-128"/>
                <a:cs typeface="Calibri" pitchFamily="34" charset="-120"/>
              </a:rPr>
              <a:t>施策範囲の合意後、別途お見積りをご案内</a:t>
            </a:r>
            <a:r>
              <a:rPr lang="en-US" sz="13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200" dirty="0">
              <a:latin typeface="メイリオ" panose="020B0604030504040204" pitchFamily="50" charset="-128"/>
              <a:ea typeface="メイリオ" panose="020B0604030504040204" pitchFamily="50" charset="-128"/>
            </a:endParaRPr>
          </a:p>
        </p:txBody>
      </p:sp>
      <p:sp>
        <p:nvSpPr>
          <p:cNvPr id="78" name="テキスト ボックス 77">
            <a:extLst>
              <a:ext uri="{FF2B5EF4-FFF2-40B4-BE49-F238E27FC236}">
                <a16:creationId xmlns:a16="http://schemas.microsoft.com/office/drawing/2014/main" id="{EED395D3-960C-4F52-4CB0-7C6BFD98B4E4}"/>
              </a:ext>
            </a:extLst>
          </p:cNvPr>
          <p:cNvSpPr txBox="1"/>
          <p:nvPr/>
        </p:nvSpPr>
        <p:spPr>
          <a:xfrm>
            <a:off x="561786" y="882657"/>
            <a:ext cx="8797260" cy="523220"/>
          </a:xfrm>
          <a:prstGeom prst="rect">
            <a:avLst/>
          </a:prstGeom>
          <a:noFill/>
        </p:spPr>
        <p:txBody>
          <a:bodyPr wrap="square">
            <a:spAutoFit/>
          </a:bodyPr>
          <a:lstStyle/>
          <a:p>
            <a:pPr algn="ctr"/>
            <a:r>
              <a:rPr lang="ja-JP" altLang="en-US" sz="1500" b="1" dirty="0">
                <a:solidFill>
                  <a:schemeClr val="tx1">
                    <a:lumMod val="50000"/>
                    <a:lumOff val="50000"/>
                  </a:schemeClr>
                </a:solidFill>
                <a:latin typeface="Meiryo" panose="020B0604030504040204" pitchFamily="34" charset="-128"/>
                <a:ea typeface="Meiryo" panose="020B0604030504040204" pitchFamily="34" charset="-128"/>
              </a:rPr>
              <a:t>ご提案にお持ちしているのは費用感の算出ではなく施策方針です。</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500" b="1" dirty="0">
                <a:solidFill>
                  <a:schemeClr val="tx1">
                    <a:lumMod val="50000"/>
                    <a:lumOff val="50000"/>
                  </a:schemeClr>
                </a:solidFill>
                <a:latin typeface="Meiryo" panose="020B0604030504040204" pitchFamily="34" charset="-128"/>
                <a:ea typeface="Meiryo" panose="020B0604030504040204" pitchFamily="34" charset="-128"/>
              </a:rPr>
              <a:t>施策切り出しでのご依頼、複数機能の導入によるディスカウント等の調整もご相談ください。</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198554478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1EC9E0-2ED9-448E-0518-C4BB6687193B}"/>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BBA5CE5E-41EC-1762-2B4B-1C21C78DBE3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7B94669E-0A81-5BCB-3602-33AE08C2923C}"/>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6F74B94C-3E60-E212-F97E-79756D17F00D}"/>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前提整理</a:t>
            </a:r>
          </a:p>
        </p:txBody>
      </p:sp>
      <p:sp>
        <p:nvSpPr>
          <p:cNvPr id="7" name="Shape 3">
            <a:extLst>
              <a:ext uri="{FF2B5EF4-FFF2-40B4-BE49-F238E27FC236}">
                <a16:creationId xmlns:a16="http://schemas.microsoft.com/office/drawing/2014/main" id="{05B92B5B-D67F-58CF-8CC2-331F749D479C}"/>
              </a:ext>
            </a:extLst>
          </p:cNvPr>
          <p:cNvSpPr/>
          <p:nvPr/>
        </p:nvSpPr>
        <p:spPr>
          <a:xfrm>
            <a:off x="847998" y="1814158"/>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9" name="Shape 4">
            <a:extLst>
              <a:ext uri="{FF2B5EF4-FFF2-40B4-BE49-F238E27FC236}">
                <a16:creationId xmlns:a16="http://schemas.microsoft.com/office/drawing/2014/main" id="{84E1D0B6-1448-5A19-5CEB-FF4D5F46D6FC}"/>
              </a:ext>
            </a:extLst>
          </p:cNvPr>
          <p:cNvSpPr/>
          <p:nvPr/>
        </p:nvSpPr>
        <p:spPr>
          <a:xfrm>
            <a:off x="1076598" y="2105293"/>
            <a:ext cx="365268" cy="377851"/>
          </a:xfrm>
          <a:prstGeom prst="ellipse">
            <a:avLst/>
          </a:prstGeom>
          <a:solidFill>
            <a:srgbClr val="06C755"/>
          </a:solidFill>
          <a:ln/>
        </p:spPr>
        <p:txBody>
          <a:bodyPr anchor="ctr"/>
          <a:lstStyle/>
          <a:p>
            <a:pPr algn="ctr"/>
            <a:r>
              <a:rPr lang="en-US" altLang="ja-JP" sz="1300" dirty="0">
                <a:solidFill>
                  <a:schemeClr val="bg1"/>
                </a:solidFill>
                <a:latin typeface="メイリオ" panose="020B0604030504040204" pitchFamily="50" charset="-128"/>
                <a:ea typeface="メイリオ" panose="020B0604030504040204" pitchFamily="50" charset="-128"/>
              </a:rPr>
              <a:t>1</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13" name="Text 6">
            <a:extLst>
              <a:ext uri="{FF2B5EF4-FFF2-40B4-BE49-F238E27FC236}">
                <a16:creationId xmlns:a16="http://schemas.microsoft.com/office/drawing/2014/main" id="{7E87A6C6-A98D-9DBF-6D4A-E28F254E152A}"/>
              </a:ext>
            </a:extLst>
          </p:cNvPr>
          <p:cNvSpPr txBox="1"/>
          <p:nvPr/>
        </p:nvSpPr>
        <p:spPr>
          <a:xfrm>
            <a:off x="1716678" y="1997038"/>
            <a:ext cx="3021761" cy="365760"/>
          </a:xfrm>
          <a:prstGeom prst="rect">
            <a:avLst/>
          </a:prstGeom>
          <a:noFill/>
          <a:ln/>
        </p:spPr>
        <p:txBody>
          <a:bodyPr wrap="square" lIns="0" tIns="0" rIns="0" bIns="0" rtlCol="0" anchor="ctr"/>
          <a:lstStyle/>
          <a:p>
            <a:pPr marL="0" indent="0">
              <a:buNone/>
            </a:pPr>
            <a:r>
              <a:rPr lang="en-US" sz="1800" b="1" dirty="0">
                <a:solidFill>
                  <a:srgbClr val="1B3A4B"/>
                </a:solidFill>
                <a:latin typeface="メイリオ" panose="020B0604030504040204" pitchFamily="50" charset="-128"/>
                <a:ea typeface="メイリオ" panose="020B0604030504040204" pitchFamily="50" charset="-128"/>
                <a:cs typeface="Century Schoolbook" pitchFamily="34" charset="-120"/>
              </a:rPr>
              <a:t>友だち追加</a:t>
            </a:r>
            <a:endParaRPr lang="en-US" sz="1700" dirty="0">
              <a:latin typeface="メイリオ" panose="020B0604030504040204" pitchFamily="50" charset="-128"/>
              <a:ea typeface="メイリオ" panose="020B0604030504040204" pitchFamily="50" charset="-128"/>
            </a:endParaRPr>
          </a:p>
        </p:txBody>
      </p:sp>
      <p:sp>
        <p:nvSpPr>
          <p:cNvPr id="15" name="Text 7">
            <a:extLst>
              <a:ext uri="{FF2B5EF4-FFF2-40B4-BE49-F238E27FC236}">
                <a16:creationId xmlns:a16="http://schemas.microsoft.com/office/drawing/2014/main" id="{3D4AF8DD-9D51-A269-6557-0363B326A0A0}"/>
              </a:ext>
            </a:extLst>
          </p:cNvPr>
          <p:cNvSpPr txBox="1"/>
          <p:nvPr/>
        </p:nvSpPr>
        <p:spPr>
          <a:xfrm>
            <a:off x="1716678" y="2344510"/>
            <a:ext cx="3021761" cy="274320"/>
          </a:xfrm>
          <a:prstGeom prst="rect">
            <a:avLst/>
          </a:prstGeom>
          <a:noFill/>
          <a:ln/>
        </p:spPr>
        <p:txBody>
          <a:bodyPr wrap="square" lIns="0" tIns="0" rIns="0" bIns="0" rtlCol="0" anchor="ctr"/>
          <a:lstStyle/>
          <a:p>
            <a:pPr marL="0" indent="0">
              <a:buNone/>
            </a:pPr>
            <a:r>
              <a:rPr lang="en-US" sz="1200" b="1" dirty="0">
                <a:solidFill>
                  <a:srgbClr val="06C755"/>
                </a:solidFill>
                <a:latin typeface="メイリオ" panose="020B0604030504040204" pitchFamily="50" charset="-128"/>
                <a:ea typeface="メイリオ" panose="020B0604030504040204" pitchFamily="50" charset="-128"/>
                <a:cs typeface="Calibri" pitchFamily="34" charset="-120"/>
              </a:rPr>
              <a:t>接点を増やし母数を拡大</a:t>
            </a:r>
            <a:endParaRPr lang="en-US" sz="1100" dirty="0">
              <a:latin typeface="メイリオ" panose="020B0604030504040204" pitchFamily="50" charset="-128"/>
              <a:ea typeface="メイリオ" panose="020B0604030504040204" pitchFamily="50" charset="-128"/>
            </a:endParaRPr>
          </a:p>
        </p:txBody>
      </p:sp>
      <p:sp>
        <p:nvSpPr>
          <p:cNvPr id="17" name="Text 8">
            <a:extLst>
              <a:ext uri="{FF2B5EF4-FFF2-40B4-BE49-F238E27FC236}">
                <a16:creationId xmlns:a16="http://schemas.microsoft.com/office/drawing/2014/main" id="{006EDC0A-D1B3-1FB0-B41A-15583F5C13E9}"/>
              </a:ext>
            </a:extLst>
          </p:cNvPr>
          <p:cNvSpPr txBox="1"/>
          <p:nvPr/>
        </p:nvSpPr>
        <p:spPr>
          <a:xfrm>
            <a:off x="1122318" y="2774278"/>
            <a:ext cx="3420235" cy="1051560"/>
          </a:xfrm>
          <a:prstGeom prst="rect">
            <a:avLst/>
          </a:prstGeom>
          <a:noFill/>
          <a:ln/>
        </p:spPr>
        <p:txBody>
          <a:bodyPr wrap="square" lIns="0" tIns="0" rIns="0" bIns="0" rtlCol="0" anchor="t"/>
          <a:lstStyle/>
          <a:p>
            <a:pPr marL="0" indent="0">
              <a:lnSpc>
                <a:spcPts val="1600"/>
              </a:lnSpc>
              <a:buNone/>
            </a:pPr>
            <a:r>
              <a:rPr lang="en-US" sz="1300" dirty="0" err="1">
                <a:solidFill>
                  <a:srgbClr val="1F2937"/>
                </a:solidFill>
                <a:latin typeface="メイリオ" panose="020B0604030504040204" pitchFamily="50" charset="-128"/>
                <a:ea typeface="メイリオ" panose="020B0604030504040204" pitchFamily="50" charset="-128"/>
                <a:cs typeface="Calibri" pitchFamily="34" charset="-120"/>
              </a:rPr>
              <a:t>店頭・Web・同梱物など複数の接点から</a:t>
            </a:r>
            <a:r>
              <a:rPr lang="en-US" sz="1300"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600"/>
              </a:lnSpc>
              <a:buNone/>
            </a:pPr>
            <a:r>
              <a:rPr lang="en-US" sz="1300" dirty="0" err="1">
                <a:solidFill>
                  <a:srgbClr val="1F2937"/>
                </a:solidFill>
                <a:latin typeface="メイリオ" panose="020B0604030504040204" pitchFamily="50" charset="-128"/>
                <a:ea typeface="メイリオ" panose="020B0604030504040204" pitchFamily="50" charset="-128"/>
                <a:cs typeface="Calibri" pitchFamily="34" charset="-120"/>
              </a:rPr>
              <a:t>訴求とセットでLINE友だち登録へ誘導する</a:t>
            </a:r>
            <a:r>
              <a:rPr lang="en-US" sz="1300" dirty="0">
                <a:solidFill>
                  <a:srgbClr val="1F2937"/>
                </a:solidFill>
                <a:latin typeface="メイリオ" panose="020B0604030504040204" pitchFamily="50" charset="-128"/>
                <a:ea typeface="メイリオ" panose="020B0604030504040204" pitchFamily="50" charset="-128"/>
                <a:cs typeface="Calibri" pitchFamily="34" charset="-120"/>
              </a:rPr>
              <a:t>。</a:t>
            </a:r>
          </a:p>
        </p:txBody>
      </p:sp>
      <p:sp>
        <p:nvSpPr>
          <p:cNvPr id="19" name="Shape 9">
            <a:extLst>
              <a:ext uri="{FF2B5EF4-FFF2-40B4-BE49-F238E27FC236}">
                <a16:creationId xmlns:a16="http://schemas.microsoft.com/office/drawing/2014/main" id="{D46829D5-C4A7-00A2-EB59-4F0181ABF3E8}"/>
              </a:ext>
            </a:extLst>
          </p:cNvPr>
          <p:cNvSpPr/>
          <p:nvPr/>
        </p:nvSpPr>
        <p:spPr>
          <a:xfrm>
            <a:off x="5154385" y="1814158"/>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1" name="Shape 10">
            <a:extLst>
              <a:ext uri="{FF2B5EF4-FFF2-40B4-BE49-F238E27FC236}">
                <a16:creationId xmlns:a16="http://schemas.microsoft.com/office/drawing/2014/main" id="{5F94C612-6888-B502-7823-012E190DAC5E}"/>
              </a:ext>
            </a:extLst>
          </p:cNvPr>
          <p:cNvSpPr/>
          <p:nvPr/>
        </p:nvSpPr>
        <p:spPr>
          <a:xfrm>
            <a:off x="5382985" y="2105293"/>
            <a:ext cx="365268" cy="377851"/>
          </a:xfrm>
          <a:prstGeom prst="ellipse">
            <a:avLst/>
          </a:prstGeom>
          <a:solidFill>
            <a:schemeClr val="accent5"/>
          </a:solidFill>
          <a:ln/>
        </p:spPr>
        <p:txBody>
          <a:bodyPr anchor="ctr"/>
          <a:lstStyle/>
          <a:p>
            <a:pPr algn="ctr"/>
            <a:r>
              <a:rPr lang="en-US" altLang="ja-JP" sz="1300" dirty="0">
                <a:solidFill>
                  <a:schemeClr val="bg1"/>
                </a:solidFill>
                <a:latin typeface="メイリオ" panose="020B0604030504040204" pitchFamily="50" charset="-128"/>
                <a:ea typeface="メイリオ" panose="020B0604030504040204" pitchFamily="50" charset="-128"/>
              </a:rPr>
              <a:t>2</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25" name="Text 12">
            <a:extLst>
              <a:ext uri="{FF2B5EF4-FFF2-40B4-BE49-F238E27FC236}">
                <a16:creationId xmlns:a16="http://schemas.microsoft.com/office/drawing/2014/main" id="{63279BBA-A879-BA09-E7B2-0716F8DB89DB}"/>
              </a:ext>
            </a:extLst>
          </p:cNvPr>
          <p:cNvSpPr txBox="1"/>
          <p:nvPr/>
        </p:nvSpPr>
        <p:spPr>
          <a:xfrm>
            <a:off x="6023065" y="1997038"/>
            <a:ext cx="3021761" cy="365760"/>
          </a:xfrm>
          <a:prstGeom prst="rect">
            <a:avLst/>
          </a:prstGeom>
          <a:noFill/>
          <a:ln/>
        </p:spPr>
        <p:txBody>
          <a:bodyPr wrap="square" lIns="0" tIns="0" rIns="0" bIns="0" rtlCol="0" anchor="ctr"/>
          <a:lstStyle/>
          <a:p>
            <a:pPr marL="0" indent="0">
              <a:buNone/>
            </a:pPr>
            <a:r>
              <a:rPr lang="en-US" sz="1800" b="1" dirty="0">
                <a:solidFill>
                  <a:srgbClr val="1B3A4B"/>
                </a:solidFill>
                <a:latin typeface="メイリオ" panose="020B0604030504040204" pitchFamily="50" charset="-128"/>
                <a:ea typeface="メイリオ" panose="020B0604030504040204" pitchFamily="50" charset="-128"/>
                <a:cs typeface="Century Schoolbook" pitchFamily="34" charset="-120"/>
              </a:rPr>
              <a:t>効率改善（配信）</a:t>
            </a:r>
            <a:endParaRPr lang="en-US" sz="1700" dirty="0">
              <a:latin typeface="メイリオ" panose="020B0604030504040204" pitchFamily="50" charset="-128"/>
              <a:ea typeface="メイリオ" panose="020B0604030504040204" pitchFamily="50" charset="-128"/>
            </a:endParaRPr>
          </a:p>
        </p:txBody>
      </p:sp>
      <p:sp>
        <p:nvSpPr>
          <p:cNvPr id="27" name="Text 13">
            <a:extLst>
              <a:ext uri="{FF2B5EF4-FFF2-40B4-BE49-F238E27FC236}">
                <a16:creationId xmlns:a16="http://schemas.microsoft.com/office/drawing/2014/main" id="{B2834EBB-F184-C52C-D6A4-B76283F84E90}"/>
              </a:ext>
            </a:extLst>
          </p:cNvPr>
          <p:cNvSpPr txBox="1"/>
          <p:nvPr/>
        </p:nvSpPr>
        <p:spPr>
          <a:xfrm>
            <a:off x="6023065" y="2344510"/>
            <a:ext cx="3021761" cy="274320"/>
          </a:xfrm>
          <a:prstGeom prst="rect">
            <a:avLst/>
          </a:prstGeom>
          <a:noFill/>
          <a:ln/>
        </p:spPr>
        <p:txBody>
          <a:bodyPr wrap="square" lIns="0" tIns="0" rIns="0" bIns="0" rtlCol="0" anchor="ctr"/>
          <a:lstStyle/>
          <a:p>
            <a:pPr marL="0" indent="0">
              <a:buNone/>
            </a:pPr>
            <a:r>
              <a:rPr lang="en-US" sz="1200" b="1" dirty="0">
                <a:solidFill>
                  <a:schemeClr val="accent5"/>
                </a:solidFill>
                <a:latin typeface="メイリオ" panose="020B0604030504040204" pitchFamily="50" charset="-128"/>
                <a:ea typeface="メイリオ" panose="020B0604030504040204" pitchFamily="50" charset="-128"/>
                <a:cs typeface="Calibri" pitchFamily="34" charset="-120"/>
              </a:rPr>
              <a:t>ステップ配信・企画配信の設計</a:t>
            </a:r>
            <a:endParaRPr lang="en-US" sz="1100" dirty="0">
              <a:solidFill>
                <a:schemeClr val="accent5"/>
              </a:solidFill>
              <a:latin typeface="メイリオ" panose="020B0604030504040204" pitchFamily="50" charset="-128"/>
              <a:ea typeface="メイリオ" panose="020B0604030504040204" pitchFamily="50" charset="-128"/>
            </a:endParaRPr>
          </a:p>
        </p:txBody>
      </p:sp>
      <p:sp>
        <p:nvSpPr>
          <p:cNvPr id="29" name="Text 14">
            <a:extLst>
              <a:ext uri="{FF2B5EF4-FFF2-40B4-BE49-F238E27FC236}">
                <a16:creationId xmlns:a16="http://schemas.microsoft.com/office/drawing/2014/main" id="{57B1EDEB-4BA3-D781-8DE2-68F5F4A20A81}"/>
              </a:ext>
            </a:extLst>
          </p:cNvPr>
          <p:cNvSpPr txBox="1"/>
          <p:nvPr/>
        </p:nvSpPr>
        <p:spPr>
          <a:xfrm>
            <a:off x="5428705" y="2774278"/>
            <a:ext cx="3420235" cy="1051560"/>
          </a:xfrm>
          <a:prstGeom prst="rect">
            <a:avLst/>
          </a:prstGeom>
          <a:noFill/>
          <a:ln/>
        </p:spPr>
        <p:txBody>
          <a:bodyPr wrap="square" lIns="0" tIns="0" rIns="0" bIns="0" rtlCol="0" anchor="t"/>
          <a:lstStyle/>
          <a:p>
            <a:pPr marL="0" indent="0">
              <a:lnSpc>
                <a:spcPts val="1600"/>
              </a:lnSpc>
              <a:buNone/>
            </a:pPr>
            <a:r>
              <a:rPr lang="en-US" sz="1300" dirty="0" err="1">
                <a:solidFill>
                  <a:srgbClr val="1F2937"/>
                </a:solidFill>
                <a:latin typeface="メイリオ" panose="020B0604030504040204" pitchFamily="50" charset="-128"/>
                <a:ea typeface="メイリオ" panose="020B0604030504040204" pitchFamily="50" charset="-128"/>
                <a:cs typeface="Calibri" pitchFamily="34" charset="-120"/>
              </a:rPr>
              <a:t>登録後の自動ステップ配信と、セグメント別の企画配信で、開封〜CVまでの導線を最適化する。</a:t>
            </a:r>
            <a:endParaRPr lang="en-US" sz="1200" dirty="0">
              <a:solidFill>
                <a:srgbClr val="1F2937"/>
              </a:solidFill>
              <a:latin typeface="メイリオ" panose="020B0604030504040204" pitchFamily="50" charset="-128"/>
              <a:ea typeface="メイリオ" panose="020B0604030504040204" pitchFamily="50" charset="-128"/>
              <a:cs typeface="Calibri" pitchFamily="34" charset="-120"/>
            </a:endParaRPr>
          </a:p>
        </p:txBody>
      </p:sp>
      <p:sp>
        <p:nvSpPr>
          <p:cNvPr id="31" name="Shape 15">
            <a:extLst>
              <a:ext uri="{FF2B5EF4-FFF2-40B4-BE49-F238E27FC236}">
                <a16:creationId xmlns:a16="http://schemas.microsoft.com/office/drawing/2014/main" id="{756ECCA6-F7D5-C161-4122-409E50DB0B3A}"/>
              </a:ext>
            </a:extLst>
          </p:cNvPr>
          <p:cNvSpPr/>
          <p:nvPr/>
        </p:nvSpPr>
        <p:spPr>
          <a:xfrm>
            <a:off x="847998" y="3915103"/>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3" name="Shape 16">
            <a:extLst>
              <a:ext uri="{FF2B5EF4-FFF2-40B4-BE49-F238E27FC236}">
                <a16:creationId xmlns:a16="http://schemas.microsoft.com/office/drawing/2014/main" id="{752C3BA3-61AC-9915-5565-38F14554F3BD}"/>
              </a:ext>
            </a:extLst>
          </p:cNvPr>
          <p:cNvSpPr/>
          <p:nvPr/>
        </p:nvSpPr>
        <p:spPr>
          <a:xfrm>
            <a:off x="1076598" y="4206238"/>
            <a:ext cx="365268" cy="377851"/>
          </a:xfrm>
          <a:prstGeom prst="ellipse">
            <a:avLst/>
          </a:prstGeom>
          <a:solidFill>
            <a:schemeClr val="accent1"/>
          </a:solidFill>
          <a:ln/>
        </p:spPr>
        <p:txBody>
          <a:bodyPr anchor="ctr"/>
          <a:lstStyle/>
          <a:p>
            <a:pPr algn="ctr"/>
            <a:r>
              <a:rPr lang="en-US" altLang="ja-JP" sz="1300" dirty="0">
                <a:solidFill>
                  <a:schemeClr val="bg1"/>
                </a:solidFill>
                <a:latin typeface="メイリオ" panose="020B0604030504040204" pitchFamily="50" charset="-128"/>
                <a:ea typeface="メイリオ" panose="020B0604030504040204" pitchFamily="50" charset="-128"/>
              </a:rPr>
              <a:t>3</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37" name="Text 18">
            <a:extLst>
              <a:ext uri="{FF2B5EF4-FFF2-40B4-BE49-F238E27FC236}">
                <a16:creationId xmlns:a16="http://schemas.microsoft.com/office/drawing/2014/main" id="{23D1E819-C691-D0D7-BE43-A76BB729138D}"/>
              </a:ext>
            </a:extLst>
          </p:cNvPr>
          <p:cNvSpPr txBox="1"/>
          <p:nvPr/>
        </p:nvSpPr>
        <p:spPr>
          <a:xfrm>
            <a:off x="1716678" y="4097983"/>
            <a:ext cx="3021761" cy="365760"/>
          </a:xfrm>
          <a:prstGeom prst="rect">
            <a:avLst/>
          </a:prstGeom>
          <a:noFill/>
          <a:ln/>
        </p:spPr>
        <p:txBody>
          <a:bodyPr wrap="square" lIns="0" tIns="0" rIns="0" bIns="0" rtlCol="0" anchor="ctr"/>
          <a:lstStyle/>
          <a:p>
            <a:pPr marL="0" indent="0">
              <a:buNone/>
            </a:pPr>
            <a:r>
              <a:rPr lang="en-US" sz="1800" b="1" dirty="0">
                <a:solidFill>
                  <a:srgbClr val="1B3A4B"/>
                </a:solidFill>
                <a:latin typeface="メイリオ" panose="020B0604030504040204" pitchFamily="50" charset="-128"/>
                <a:ea typeface="メイリオ" panose="020B0604030504040204" pitchFamily="50" charset="-128"/>
                <a:cs typeface="Century Schoolbook" pitchFamily="34" charset="-120"/>
              </a:rPr>
              <a:t>満足度改善（ユーザー）</a:t>
            </a:r>
            <a:endParaRPr lang="en-US" sz="1700" dirty="0">
              <a:latin typeface="メイリオ" panose="020B0604030504040204" pitchFamily="50" charset="-128"/>
              <a:ea typeface="メイリオ" panose="020B0604030504040204" pitchFamily="50" charset="-128"/>
            </a:endParaRPr>
          </a:p>
        </p:txBody>
      </p:sp>
      <p:sp>
        <p:nvSpPr>
          <p:cNvPr id="40" name="Text 19">
            <a:extLst>
              <a:ext uri="{FF2B5EF4-FFF2-40B4-BE49-F238E27FC236}">
                <a16:creationId xmlns:a16="http://schemas.microsoft.com/office/drawing/2014/main" id="{82D0FC0F-1D31-300C-7AB1-D0912A7E029E}"/>
              </a:ext>
            </a:extLst>
          </p:cNvPr>
          <p:cNvSpPr txBox="1"/>
          <p:nvPr/>
        </p:nvSpPr>
        <p:spPr>
          <a:xfrm>
            <a:off x="1716678" y="4445455"/>
            <a:ext cx="3021761" cy="274320"/>
          </a:xfrm>
          <a:prstGeom prst="rect">
            <a:avLst/>
          </a:prstGeom>
          <a:noFill/>
          <a:ln/>
        </p:spPr>
        <p:txBody>
          <a:bodyPr wrap="square" lIns="0" tIns="0" rIns="0" bIns="0" rtlCol="0" anchor="ctr"/>
          <a:lstStyle/>
          <a:p>
            <a:pPr marL="0" indent="0">
              <a:buNone/>
            </a:pPr>
            <a:r>
              <a:rPr lang="en-US" sz="1200" b="1" dirty="0">
                <a:solidFill>
                  <a:schemeClr val="accent1"/>
                </a:solidFill>
                <a:latin typeface="メイリオ" panose="020B0604030504040204" pitchFamily="50" charset="-128"/>
                <a:ea typeface="メイリオ" panose="020B0604030504040204" pitchFamily="50" charset="-128"/>
                <a:cs typeface="Calibri" pitchFamily="34" charset="-120"/>
              </a:rPr>
              <a:t>QA自動化・個別対応の強化</a:t>
            </a:r>
            <a:endParaRPr lang="en-US" sz="1100" dirty="0">
              <a:solidFill>
                <a:schemeClr val="accent1"/>
              </a:solidFill>
              <a:latin typeface="メイリオ" panose="020B0604030504040204" pitchFamily="50" charset="-128"/>
              <a:ea typeface="メイリオ" panose="020B0604030504040204" pitchFamily="50" charset="-128"/>
            </a:endParaRPr>
          </a:p>
        </p:txBody>
      </p:sp>
      <p:sp>
        <p:nvSpPr>
          <p:cNvPr id="44" name="Text 20">
            <a:extLst>
              <a:ext uri="{FF2B5EF4-FFF2-40B4-BE49-F238E27FC236}">
                <a16:creationId xmlns:a16="http://schemas.microsoft.com/office/drawing/2014/main" id="{DDC03FE7-3F21-E248-3ACE-D83BF971AA2D}"/>
              </a:ext>
            </a:extLst>
          </p:cNvPr>
          <p:cNvSpPr txBox="1"/>
          <p:nvPr/>
        </p:nvSpPr>
        <p:spPr>
          <a:xfrm>
            <a:off x="1122318" y="4875223"/>
            <a:ext cx="3420235" cy="1051560"/>
          </a:xfrm>
          <a:prstGeom prst="rect">
            <a:avLst/>
          </a:prstGeom>
          <a:noFill/>
          <a:ln/>
        </p:spPr>
        <p:txBody>
          <a:bodyPr wrap="square" lIns="0" tIns="0" rIns="0" bIns="0" rtlCol="0" anchor="t"/>
          <a:lstStyle/>
          <a:p>
            <a:pPr marL="0" indent="0">
              <a:lnSpc>
                <a:spcPts val="1600"/>
              </a:lnSpc>
              <a:buNone/>
            </a:pPr>
            <a:r>
              <a:rPr lang="en-US" sz="1300" dirty="0" err="1">
                <a:solidFill>
                  <a:srgbClr val="1F2937"/>
                </a:solidFill>
                <a:latin typeface="メイリオ" panose="020B0604030504040204" pitchFamily="50" charset="-128"/>
                <a:ea typeface="メイリオ" panose="020B0604030504040204" pitchFamily="50" charset="-128"/>
                <a:cs typeface="Calibri" pitchFamily="34" charset="-120"/>
              </a:rPr>
              <a:t>よくある質問への自動応答と、必要な場面での個別チャット対応でユーザー体験を向上させる。</a:t>
            </a:r>
            <a:endParaRPr lang="en-US" sz="1200" dirty="0">
              <a:solidFill>
                <a:srgbClr val="1F2937"/>
              </a:solidFill>
              <a:latin typeface="メイリオ" panose="020B0604030504040204" pitchFamily="50" charset="-128"/>
              <a:ea typeface="メイリオ" panose="020B0604030504040204" pitchFamily="50" charset="-128"/>
              <a:cs typeface="Calibri" pitchFamily="34" charset="-120"/>
            </a:endParaRPr>
          </a:p>
        </p:txBody>
      </p:sp>
      <p:sp>
        <p:nvSpPr>
          <p:cNvPr id="49" name="Shape 21">
            <a:extLst>
              <a:ext uri="{FF2B5EF4-FFF2-40B4-BE49-F238E27FC236}">
                <a16:creationId xmlns:a16="http://schemas.microsoft.com/office/drawing/2014/main" id="{82BACBFF-FBAA-0B5D-6800-119BCE06D8E4}"/>
              </a:ext>
            </a:extLst>
          </p:cNvPr>
          <p:cNvSpPr/>
          <p:nvPr/>
        </p:nvSpPr>
        <p:spPr>
          <a:xfrm>
            <a:off x="5154385" y="3915103"/>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53" name="Shape 22">
            <a:extLst>
              <a:ext uri="{FF2B5EF4-FFF2-40B4-BE49-F238E27FC236}">
                <a16:creationId xmlns:a16="http://schemas.microsoft.com/office/drawing/2014/main" id="{06D0A506-C06B-2472-7C9A-C6A3F8F4DE0C}"/>
              </a:ext>
            </a:extLst>
          </p:cNvPr>
          <p:cNvSpPr/>
          <p:nvPr/>
        </p:nvSpPr>
        <p:spPr>
          <a:xfrm>
            <a:off x="5382985" y="4206238"/>
            <a:ext cx="365268" cy="377851"/>
          </a:xfrm>
          <a:prstGeom prst="ellipse">
            <a:avLst/>
          </a:prstGeom>
          <a:solidFill>
            <a:srgbClr val="2C5364"/>
          </a:solidFill>
          <a:ln/>
        </p:spPr>
        <p:txBody>
          <a:bodyPr anchor="ctr"/>
          <a:lstStyle/>
          <a:p>
            <a:pPr algn="ctr"/>
            <a:r>
              <a:rPr lang="en-US" altLang="ja-JP" sz="1300" dirty="0">
                <a:solidFill>
                  <a:schemeClr val="bg1"/>
                </a:solidFill>
                <a:latin typeface="メイリオ" panose="020B0604030504040204" pitchFamily="50" charset="-128"/>
                <a:ea typeface="メイリオ" panose="020B0604030504040204" pitchFamily="50" charset="-128"/>
              </a:rPr>
              <a:t>4</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61" name="Text 24">
            <a:extLst>
              <a:ext uri="{FF2B5EF4-FFF2-40B4-BE49-F238E27FC236}">
                <a16:creationId xmlns:a16="http://schemas.microsoft.com/office/drawing/2014/main" id="{7E387CA0-ACAD-6B69-2324-44C6B8151A62}"/>
              </a:ext>
            </a:extLst>
          </p:cNvPr>
          <p:cNvSpPr txBox="1"/>
          <p:nvPr/>
        </p:nvSpPr>
        <p:spPr>
          <a:xfrm>
            <a:off x="6023065" y="4097983"/>
            <a:ext cx="3021761" cy="365760"/>
          </a:xfrm>
          <a:prstGeom prst="rect">
            <a:avLst/>
          </a:prstGeom>
          <a:noFill/>
          <a:ln/>
        </p:spPr>
        <p:txBody>
          <a:bodyPr wrap="square" lIns="0" tIns="0" rIns="0" bIns="0" rtlCol="0" anchor="ctr"/>
          <a:lstStyle/>
          <a:p>
            <a:pPr marL="0" indent="0">
              <a:buNone/>
            </a:pPr>
            <a:r>
              <a:rPr lang="en-US" sz="1800" b="1" dirty="0">
                <a:solidFill>
                  <a:srgbClr val="1B3A4B"/>
                </a:solidFill>
                <a:latin typeface="メイリオ" panose="020B0604030504040204" pitchFamily="50" charset="-128"/>
                <a:ea typeface="メイリオ" panose="020B0604030504040204" pitchFamily="50" charset="-128"/>
                <a:cs typeface="Century Schoolbook" pitchFamily="34" charset="-120"/>
              </a:rPr>
              <a:t>効率改善（管理側）</a:t>
            </a:r>
            <a:endParaRPr lang="en-US" sz="1700" dirty="0">
              <a:latin typeface="メイリオ" panose="020B0604030504040204" pitchFamily="50" charset="-128"/>
              <a:ea typeface="メイリオ" panose="020B0604030504040204" pitchFamily="50" charset="-128"/>
            </a:endParaRPr>
          </a:p>
        </p:txBody>
      </p:sp>
      <p:sp>
        <p:nvSpPr>
          <p:cNvPr id="65" name="Text 25">
            <a:extLst>
              <a:ext uri="{FF2B5EF4-FFF2-40B4-BE49-F238E27FC236}">
                <a16:creationId xmlns:a16="http://schemas.microsoft.com/office/drawing/2014/main" id="{DD4F65C4-8B59-E246-52A4-392800008403}"/>
              </a:ext>
            </a:extLst>
          </p:cNvPr>
          <p:cNvSpPr txBox="1"/>
          <p:nvPr/>
        </p:nvSpPr>
        <p:spPr>
          <a:xfrm>
            <a:off x="6023065" y="4445455"/>
            <a:ext cx="3021761" cy="274320"/>
          </a:xfrm>
          <a:prstGeom prst="rect">
            <a:avLst/>
          </a:prstGeom>
          <a:noFill/>
          <a:ln/>
        </p:spPr>
        <p:txBody>
          <a:bodyPr wrap="square" lIns="0" tIns="0" rIns="0" bIns="0" rtlCol="0" anchor="ctr"/>
          <a:lstStyle/>
          <a:p>
            <a:pPr marL="0" indent="0">
              <a:buNone/>
            </a:pPr>
            <a:r>
              <a:rPr lang="en-US" sz="1200" b="1" dirty="0">
                <a:solidFill>
                  <a:srgbClr val="2C5364"/>
                </a:solidFill>
                <a:latin typeface="メイリオ" panose="020B0604030504040204" pitchFamily="50" charset="-128"/>
                <a:ea typeface="メイリオ" panose="020B0604030504040204" pitchFamily="50" charset="-128"/>
                <a:cs typeface="Calibri" pitchFamily="34" charset="-120"/>
              </a:rPr>
              <a:t>自動応答・運用負荷の軽減</a:t>
            </a:r>
            <a:endParaRPr lang="en-US" sz="1100" dirty="0">
              <a:latin typeface="メイリオ" panose="020B0604030504040204" pitchFamily="50" charset="-128"/>
              <a:ea typeface="メイリオ" panose="020B0604030504040204" pitchFamily="50" charset="-128"/>
            </a:endParaRPr>
          </a:p>
        </p:txBody>
      </p:sp>
      <p:sp>
        <p:nvSpPr>
          <p:cNvPr id="69" name="Text 26">
            <a:extLst>
              <a:ext uri="{FF2B5EF4-FFF2-40B4-BE49-F238E27FC236}">
                <a16:creationId xmlns:a16="http://schemas.microsoft.com/office/drawing/2014/main" id="{BF1F9D45-7BE1-B51C-A85A-C438E8EC236C}"/>
              </a:ext>
            </a:extLst>
          </p:cNvPr>
          <p:cNvSpPr txBox="1"/>
          <p:nvPr/>
        </p:nvSpPr>
        <p:spPr>
          <a:xfrm>
            <a:off x="5428705" y="4875223"/>
            <a:ext cx="3420235" cy="1051560"/>
          </a:xfrm>
          <a:prstGeom prst="rect">
            <a:avLst/>
          </a:prstGeom>
          <a:noFill/>
          <a:ln/>
        </p:spPr>
        <p:txBody>
          <a:bodyPr wrap="square" lIns="0" tIns="0" rIns="0" bIns="0" rtlCol="0" anchor="t"/>
          <a:lstStyle/>
          <a:p>
            <a:pPr marL="0" indent="0">
              <a:lnSpc>
                <a:spcPts val="1600"/>
              </a:lnSpc>
              <a:buNone/>
            </a:pPr>
            <a:r>
              <a:rPr lang="en-US" sz="1300" dirty="0">
                <a:solidFill>
                  <a:srgbClr val="1F2937"/>
                </a:solidFill>
                <a:latin typeface="メイリオ" panose="020B0604030504040204" pitchFamily="50" charset="-128"/>
                <a:ea typeface="メイリオ" panose="020B0604030504040204" pitchFamily="50" charset="-128"/>
                <a:cs typeface="Calibri" pitchFamily="34" charset="-120"/>
              </a:rPr>
              <a:t>自動応答の仕組み化や運用フローの整備により、管理側の対応工数を削減する。</a:t>
            </a:r>
            <a:endParaRPr lang="en-US" sz="1200" dirty="0">
              <a:latin typeface="メイリオ" panose="020B0604030504040204" pitchFamily="50" charset="-128"/>
              <a:ea typeface="メイリオ" panose="020B0604030504040204" pitchFamily="50" charset="-128"/>
            </a:endParaRPr>
          </a:p>
        </p:txBody>
      </p:sp>
      <p:sp>
        <p:nvSpPr>
          <p:cNvPr id="73" name="テキスト ボックス 72">
            <a:extLst>
              <a:ext uri="{FF2B5EF4-FFF2-40B4-BE49-F238E27FC236}">
                <a16:creationId xmlns:a16="http://schemas.microsoft.com/office/drawing/2014/main" id="{C1E39E92-BE3C-9C91-B84F-53B25B9196F1}"/>
              </a:ext>
            </a:extLst>
          </p:cNvPr>
          <p:cNvSpPr txBox="1"/>
          <p:nvPr/>
        </p:nvSpPr>
        <p:spPr>
          <a:xfrm>
            <a:off x="561786" y="882657"/>
            <a:ext cx="8797260" cy="523220"/>
          </a:xfrm>
          <a:prstGeom prst="rect">
            <a:avLst/>
          </a:prstGeom>
          <a:noFill/>
        </p:spPr>
        <p:txBody>
          <a:bodyPr wrap="square">
            <a:spAutoFit/>
          </a:bodyPr>
          <a:lstStyle/>
          <a:p>
            <a:pPr algn="ctr"/>
            <a:r>
              <a:rPr lang="en-US" altLang="ja-JP" sz="1500" b="1" dirty="0">
                <a:solidFill>
                  <a:schemeClr val="tx1">
                    <a:lumMod val="50000"/>
                    <a:lumOff val="50000"/>
                  </a:schemeClr>
                </a:solidFill>
                <a:latin typeface="Meiryo" panose="020B0604030504040204" pitchFamily="34" charset="-128"/>
                <a:ea typeface="Meiryo" panose="020B0604030504040204" pitchFamily="34" charset="-128"/>
              </a:rPr>
              <a:t>DYM</a:t>
            </a:r>
            <a:r>
              <a:rPr lang="ja-JP" altLang="en-US" sz="1500" b="1" dirty="0">
                <a:solidFill>
                  <a:schemeClr val="tx1">
                    <a:lumMod val="50000"/>
                    <a:lumOff val="50000"/>
                  </a:schemeClr>
                </a:solidFill>
                <a:latin typeface="Meiryo" panose="020B0604030504040204" pitchFamily="34" charset="-128"/>
                <a:ea typeface="Meiryo" panose="020B0604030504040204" pitchFamily="34" charset="-128"/>
              </a:rPr>
              <a:t>では基本的に①②の施策を中心に展開させていただきながら、</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500" b="1" dirty="0">
                <a:solidFill>
                  <a:schemeClr val="tx1">
                    <a:lumMod val="50000"/>
                    <a:lumOff val="50000"/>
                  </a:schemeClr>
                </a:solidFill>
                <a:latin typeface="Meiryo" panose="020B0604030504040204" pitchFamily="34" charset="-128"/>
                <a:ea typeface="Meiryo" panose="020B0604030504040204" pitchFamily="34" charset="-128"/>
              </a:rPr>
              <a:t>事業会社ならではの③④におけるノウハウ共有等が可能です。</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379755298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47C615-BEE8-3B16-A209-225180EB573F}"/>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E93A1A5A-4695-1785-1F7A-2FFF7723D881}"/>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F088CF0-DAD8-024E-9D5D-9E8A5A7610A5}"/>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BCFC8F68-E536-2BAD-437B-4F354ADD7BAF}"/>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前提整理</a:t>
            </a:r>
          </a:p>
        </p:txBody>
      </p:sp>
      <p:sp>
        <p:nvSpPr>
          <p:cNvPr id="5" name="Heading">
            <a:extLst>
              <a:ext uri="{FF2B5EF4-FFF2-40B4-BE49-F238E27FC236}">
                <a16:creationId xmlns:a16="http://schemas.microsoft.com/office/drawing/2014/main" id="{412505BE-7AC7-15E1-7427-2273456C3176}"/>
              </a:ext>
            </a:extLst>
          </p:cNvPr>
          <p:cNvSpPr txBox="1"/>
          <p:nvPr/>
        </p:nvSpPr>
        <p:spPr>
          <a:xfrm>
            <a:off x="365143" y="835933"/>
            <a:ext cx="9144000" cy="279400"/>
          </a:xfrm>
          <a:prstGeom prst="rect">
            <a:avLst/>
          </a:prstGeom>
          <a:noFill/>
          <a:ln>
            <a:noFill/>
          </a:ln>
        </p:spPr>
        <p:txBody>
          <a:bodyPr wrap="square" lIns="101600" tIns="76200" rIns="101600" bIns="76200" anchor="t"/>
          <a:lstStyle/>
          <a:p>
            <a:pPr>
              <a:buNone/>
            </a:pPr>
            <a:r>
              <a:rPr lang="ja-JP" sz="1500" b="1" dirty="0">
                <a:solidFill>
                  <a:srgbClr val="1F2A5C"/>
                </a:solidFill>
                <a:latin typeface="メイリオ" panose="020B0604030504040204" pitchFamily="50" charset="-128"/>
                <a:ea typeface="メイリオ" panose="020B0604030504040204" pitchFamily="50" charset="-128"/>
              </a:rPr>
              <a:t>LINE運用ツール</a:t>
            </a:r>
            <a:r>
              <a:rPr lang="ja-JP" altLang="en-US" sz="1500" b="1" dirty="0">
                <a:solidFill>
                  <a:srgbClr val="1F2A5C"/>
                </a:solidFill>
                <a:latin typeface="メイリオ" panose="020B0604030504040204" pitchFamily="50" charset="-128"/>
                <a:ea typeface="メイリオ" panose="020B0604030504040204" pitchFamily="50" charset="-128"/>
              </a:rPr>
              <a:t>の選定</a:t>
            </a:r>
            <a:endParaRPr lang="ja-JP" sz="1400" b="1" dirty="0">
              <a:solidFill>
                <a:srgbClr val="1F2A5C"/>
              </a:solidFill>
              <a:latin typeface="メイリオ" panose="020B0604030504040204" pitchFamily="50" charset="-128"/>
              <a:ea typeface="メイリオ" panose="020B0604030504040204" pitchFamily="50" charset="-128"/>
            </a:endParaRPr>
          </a:p>
        </p:txBody>
      </p:sp>
      <p:sp>
        <p:nvSpPr>
          <p:cNvPr id="7" name="LeftHeader">
            <a:extLst>
              <a:ext uri="{FF2B5EF4-FFF2-40B4-BE49-F238E27FC236}">
                <a16:creationId xmlns:a16="http://schemas.microsoft.com/office/drawing/2014/main" id="{7E8BB5F2-25D8-6C40-B6B8-51E193FDD0D5}"/>
              </a:ext>
            </a:extLst>
          </p:cNvPr>
          <p:cNvSpPr txBox="1"/>
          <p:nvPr/>
        </p:nvSpPr>
        <p:spPr>
          <a:xfrm>
            <a:off x="381000" y="1320738"/>
            <a:ext cx="4445000" cy="381000"/>
          </a:xfrm>
          <a:prstGeom prst="rect">
            <a:avLst/>
          </a:prstGeom>
          <a:solidFill>
            <a:srgbClr val="1F2A5C"/>
          </a:solidFill>
          <a:ln>
            <a:noFill/>
          </a:ln>
        </p:spPr>
        <p:txBody>
          <a:bodyPr wrap="square" lIns="152400" tIns="76200" rIns="152400" bIns="76200" anchor="ctr"/>
          <a:lstStyle/>
          <a:p>
            <a:pPr algn="ctr">
              <a:buNone/>
            </a:pPr>
            <a:r>
              <a:rPr lang="ja-JP" altLang="en-US" sz="1500" b="1" dirty="0">
                <a:solidFill>
                  <a:srgbClr val="FFFFFF"/>
                </a:solidFill>
                <a:latin typeface="メイリオ" panose="020B0604030504040204" pitchFamily="50" charset="-128"/>
                <a:ea typeface="メイリオ" panose="020B0604030504040204" pitchFamily="50" charset="-128"/>
              </a:rPr>
              <a:t>なし </a:t>
            </a:r>
            <a:r>
              <a:rPr lang="en-US" altLang="ja-JP" sz="1200" dirty="0">
                <a:solidFill>
                  <a:srgbClr val="FFFFFF"/>
                </a:solidFill>
                <a:latin typeface="メイリオ" panose="020B0604030504040204" pitchFamily="50" charset="-128"/>
                <a:ea typeface="メイリオ" panose="020B0604030504040204" pitchFamily="50" charset="-128"/>
              </a:rPr>
              <a:t>※OAM</a:t>
            </a:r>
            <a:r>
              <a:rPr lang="ja-JP" altLang="en-US" sz="1200" dirty="0">
                <a:solidFill>
                  <a:srgbClr val="FFFFFF"/>
                </a:solidFill>
                <a:latin typeface="メイリオ" panose="020B0604030504040204" pitchFamily="50" charset="-128"/>
                <a:ea typeface="メイリオ" panose="020B0604030504040204" pitchFamily="50" charset="-128"/>
              </a:rPr>
              <a:t>にて運用する</a:t>
            </a:r>
            <a:endParaRPr lang="ja-JP" sz="1400" dirty="0">
              <a:solidFill>
                <a:srgbClr val="FFFFFF"/>
              </a:solidFill>
              <a:latin typeface="メイリオ" panose="020B0604030504040204" pitchFamily="50" charset="-128"/>
              <a:ea typeface="メイリオ" panose="020B0604030504040204" pitchFamily="50" charset="-128"/>
            </a:endParaRPr>
          </a:p>
        </p:txBody>
      </p:sp>
      <p:sp>
        <p:nvSpPr>
          <p:cNvPr id="11" name="RightHeader">
            <a:extLst>
              <a:ext uri="{FF2B5EF4-FFF2-40B4-BE49-F238E27FC236}">
                <a16:creationId xmlns:a16="http://schemas.microsoft.com/office/drawing/2014/main" id="{51D83F88-8CDC-20C8-A161-92ACE9AE14FE}"/>
              </a:ext>
            </a:extLst>
          </p:cNvPr>
          <p:cNvSpPr txBox="1"/>
          <p:nvPr/>
        </p:nvSpPr>
        <p:spPr>
          <a:xfrm>
            <a:off x="5080000" y="1320738"/>
            <a:ext cx="4445000" cy="381000"/>
          </a:xfrm>
          <a:prstGeom prst="rect">
            <a:avLst/>
          </a:prstGeom>
          <a:solidFill>
            <a:srgbClr val="00B050"/>
          </a:solidFill>
          <a:ln>
            <a:noFill/>
          </a:ln>
        </p:spPr>
        <p:txBody>
          <a:bodyPr wrap="square" lIns="152400" tIns="76200" rIns="152400" bIns="76200" anchor="ctr"/>
          <a:lstStyle/>
          <a:p>
            <a:pPr algn="ctr">
              <a:buNone/>
            </a:pPr>
            <a:r>
              <a:rPr lang="ja-JP" altLang="en-US" sz="1500" b="1" dirty="0">
                <a:solidFill>
                  <a:srgbClr val="FFFFFF"/>
                </a:solidFill>
                <a:latin typeface="メイリオ" panose="020B0604030504040204" pitchFamily="50" charset="-128"/>
                <a:ea typeface="メイリオ" panose="020B0604030504040204" pitchFamily="50" charset="-128"/>
              </a:rPr>
              <a:t>あり</a:t>
            </a:r>
            <a:r>
              <a:rPr lang="ja-JP" altLang="en-US" sz="1400" dirty="0">
                <a:solidFill>
                  <a:srgbClr val="FFFFFF"/>
                </a:solidFill>
                <a:latin typeface="メイリオ" panose="020B0604030504040204" pitchFamily="50" charset="-128"/>
                <a:ea typeface="メイリオ" panose="020B0604030504040204" pitchFamily="50" charset="-128"/>
              </a:rPr>
              <a:t> </a:t>
            </a:r>
            <a:r>
              <a:rPr lang="en-US" altLang="ja-JP" sz="1200" dirty="0">
                <a:solidFill>
                  <a:srgbClr val="FFFFFF"/>
                </a:solidFill>
                <a:latin typeface="メイリオ" panose="020B0604030504040204" pitchFamily="50" charset="-128"/>
                <a:ea typeface="メイリオ" panose="020B0604030504040204" pitchFamily="50" charset="-128"/>
              </a:rPr>
              <a:t>※</a:t>
            </a:r>
            <a:r>
              <a:rPr lang="en-US" altLang="ja-JP" sz="1200" dirty="0" err="1">
                <a:solidFill>
                  <a:srgbClr val="FFFFFF"/>
                </a:solidFill>
                <a:latin typeface="メイリオ" panose="020B0604030504040204" pitchFamily="50" charset="-128"/>
                <a:ea typeface="メイリオ" panose="020B0604030504040204" pitchFamily="50" charset="-128"/>
              </a:rPr>
              <a:t>Lstep</a:t>
            </a:r>
            <a:r>
              <a:rPr lang="ja-JP" altLang="en-US" sz="1200" dirty="0">
                <a:solidFill>
                  <a:srgbClr val="FFFFFF"/>
                </a:solidFill>
                <a:latin typeface="メイリオ" panose="020B0604030504040204" pitchFamily="50" charset="-128"/>
                <a:ea typeface="メイリオ" panose="020B0604030504040204" pitchFamily="50" charset="-128"/>
              </a:rPr>
              <a:t>など汎用的なもの</a:t>
            </a:r>
            <a:endParaRPr lang="ja-JP" sz="1400" dirty="0">
              <a:solidFill>
                <a:srgbClr val="FFFFFF"/>
              </a:solidFill>
              <a:latin typeface="メイリオ" panose="020B0604030504040204" pitchFamily="50" charset="-128"/>
              <a:ea typeface="メイリオ" panose="020B0604030504040204" pitchFamily="50" charset="-128"/>
            </a:endParaRPr>
          </a:p>
        </p:txBody>
      </p:sp>
      <p:sp>
        <p:nvSpPr>
          <p:cNvPr id="15" name="Conclusion">
            <a:extLst>
              <a:ext uri="{FF2B5EF4-FFF2-40B4-BE49-F238E27FC236}">
                <a16:creationId xmlns:a16="http://schemas.microsoft.com/office/drawing/2014/main" id="{C4320929-5504-DE1B-B0F4-5AA55B09745C}"/>
              </a:ext>
            </a:extLst>
          </p:cNvPr>
          <p:cNvSpPr txBox="1"/>
          <p:nvPr/>
        </p:nvSpPr>
        <p:spPr>
          <a:xfrm>
            <a:off x="396857" y="4978338"/>
            <a:ext cx="9144000" cy="1044000"/>
          </a:xfrm>
          <a:prstGeom prst="rect">
            <a:avLst/>
          </a:prstGeom>
          <a:solidFill>
            <a:srgbClr val="F0F2F7"/>
          </a:solidFill>
          <a:ln>
            <a:noFill/>
          </a:ln>
        </p:spPr>
        <p:txBody>
          <a:bodyPr wrap="square" lIns="177800" tIns="127000" rIns="177800" bIns="127000" anchor="t"/>
          <a:lstStyle/>
          <a:p>
            <a:pPr>
              <a:buNone/>
            </a:pPr>
            <a:r>
              <a:rPr lang="ja-JP" sz="1300" b="1" dirty="0">
                <a:solidFill>
                  <a:srgbClr val="1F2A5C"/>
                </a:solidFill>
                <a:latin typeface="メイリオ" panose="020B0604030504040204" pitchFamily="50" charset="-128"/>
                <a:ea typeface="メイリオ" panose="020B0604030504040204" pitchFamily="50" charset="-128"/>
              </a:rPr>
              <a:t>結論・推奨</a:t>
            </a:r>
          </a:p>
          <a:p>
            <a:pPr>
              <a:spcBef>
                <a:spcPts val="200"/>
              </a:spcBef>
              <a:buNone/>
            </a:pPr>
            <a:r>
              <a:rPr lang="ja-JP" sz="1300" dirty="0">
                <a:solidFill>
                  <a:srgbClr val="333333"/>
                </a:solidFill>
                <a:latin typeface="メイリオ" panose="020B0604030504040204" pitchFamily="50" charset="-128"/>
                <a:ea typeface="メイリオ" panose="020B0604030504040204" pitchFamily="50" charset="-128"/>
              </a:rPr>
              <a:t>API連携の有無が今後のデータ活用</a:t>
            </a:r>
            <a:r>
              <a:rPr lang="ja-JP" altLang="en-US" sz="1300" dirty="0">
                <a:solidFill>
                  <a:srgbClr val="333333"/>
                </a:solidFill>
                <a:latin typeface="メイリオ" panose="020B0604030504040204" pitchFamily="50" charset="-128"/>
                <a:ea typeface="メイリオ" panose="020B0604030504040204" pitchFamily="50" charset="-128"/>
              </a:rPr>
              <a:t>や、詳細なセグメント設定</a:t>
            </a:r>
            <a:r>
              <a:rPr lang="ja-JP" sz="1300" dirty="0">
                <a:solidFill>
                  <a:srgbClr val="333333"/>
                </a:solidFill>
                <a:latin typeface="メイリオ" panose="020B0604030504040204" pitchFamily="50" charset="-128"/>
                <a:ea typeface="メイリオ" panose="020B0604030504040204" pitchFamily="50" charset="-128"/>
              </a:rPr>
              <a:t>を左右する</a:t>
            </a:r>
            <a:r>
              <a:rPr lang="ja-JP" altLang="en-US" sz="1300" dirty="0">
                <a:solidFill>
                  <a:srgbClr val="333333"/>
                </a:solidFill>
                <a:latin typeface="メイリオ" panose="020B0604030504040204" pitchFamily="50" charset="-128"/>
                <a:ea typeface="メイリオ" panose="020B0604030504040204" pitchFamily="50" charset="-128"/>
              </a:rPr>
              <a:t>。</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None/>
            </a:pPr>
            <a:r>
              <a:rPr lang="ja-JP" altLang="en-US" sz="1300" dirty="0">
                <a:solidFill>
                  <a:srgbClr val="333333"/>
                </a:solidFill>
                <a:latin typeface="メイリオ" panose="020B0604030504040204" pitchFamily="50" charset="-128"/>
                <a:ea typeface="メイリオ" panose="020B0604030504040204" pitchFamily="50" charset="-128"/>
              </a:rPr>
              <a:t>ユーザーアンケートを活用して、利用ステータスやユーザー情報の回収→配信に活用といったフローを踏みたいところ。</a:t>
            </a:r>
            <a:endParaRPr lang="ja-JP" sz="1200" dirty="0">
              <a:solidFill>
                <a:srgbClr val="333333"/>
              </a:solidFill>
              <a:latin typeface="メイリオ" panose="020B0604030504040204" pitchFamily="50" charset="-128"/>
              <a:ea typeface="メイリオ" panose="020B0604030504040204" pitchFamily="50" charset="-128"/>
            </a:endParaRPr>
          </a:p>
        </p:txBody>
      </p:sp>
      <p:sp>
        <p:nvSpPr>
          <p:cNvPr id="23" name="LeftBody">
            <a:extLst>
              <a:ext uri="{FF2B5EF4-FFF2-40B4-BE49-F238E27FC236}">
                <a16:creationId xmlns:a16="http://schemas.microsoft.com/office/drawing/2014/main" id="{359AC927-F2C5-652F-EEA1-6D298DADB703}"/>
              </a:ext>
            </a:extLst>
          </p:cNvPr>
          <p:cNvSpPr txBox="1"/>
          <p:nvPr/>
        </p:nvSpPr>
        <p:spPr>
          <a:xfrm>
            <a:off x="381000" y="1701738"/>
            <a:ext cx="4445000" cy="980502"/>
          </a:xfrm>
          <a:prstGeom prst="rect">
            <a:avLst/>
          </a:prstGeom>
          <a:solidFill>
            <a:srgbClr val="F5F7FA"/>
          </a:solidFill>
          <a:ln w="6350">
            <a:solidFill>
              <a:srgbClr val="D1D8E0"/>
            </a:solidFill>
          </a:ln>
        </p:spPr>
        <p:txBody>
          <a:bodyPr wrap="square" lIns="177800" tIns="152400" rIns="177800" bIns="152400" anchor="t"/>
          <a:lstStyle/>
          <a:p>
            <a:pPr>
              <a:buNone/>
            </a:pPr>
            <a:r>
              <a:rPr lang="ja-JP" sz="1300" b="1" dirty="0">
                <a:solidFill>
                  <a:srgbClr val="1F2A5C"/>
                </a:solidFill>
                <a:latin typeface="メイリオ" panose="020B0604030504040204" pitchFamily="50" charset="-128"/>
                <a:ea typeface="メイリオ" panose="020B0604030504040204" pitchFamily="50" charset="-128"/>
              </a:rPr>
              <a:t>特徴</a:t>
            </a:r>
          </a:p>
          <a:p>
            <a:pPr>
              <a:spcBef>
                <a:spcPts val="200"/>
              </a:spcBef>
              <a:buClr>
                <a:srgbClr val="1F2A5C"/>
              </a:buClr>
            </a:pPr>
            <a:r>
              <a:rPr lang="ja-JP" altLang="en-US" sz="1300" dirty="0">
                <a:solidFill>
                  <a:srgbClr val="333333"/>
                </a:solidFill>
                <a:latin typeface="メイリオ" panose="020B0604030504040204" pitchFamily="50" charset="-128"/>
                <a:ea typeface="メイリオ" panose="020B0604030504040204" pitchFamily="50" charset="-128"/>
              </a:rPr>
              <a:t>コストが最小限に抑えられる</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1F2A5C"/>
              </a:buClr>
            </a:pPr>
            <a:endParaRPr lang="en-US" altLang="ja-JP" sz="1200" b="1" dirty="0">
              <a:solidFill>
                <a:srgbClr val="333333"/>
              </a:solidFill>
              <a:latin typeface="メイリオ" panose="020B0604030504040204" pitchFamily="50" charset="-128"/>
              <a:ea typeface="メイリオ" panose="020B0604030504040204" pitchFamily="50" charset="-128"/>
            </a:endParaRPr>
          </a:p>
        </p:txBody>
      </p:sp>
      <p:sp>
        <p:nvSpPr>
          <p:cNvPr id="25" name="RightBody">
            <a:extLst>
              <a:ext uri="{FF2B5EF4-FFF2-40B4-BE49-F238E27FC236}">
                <a16:creationId xmlns:a16="http://schemas.microsoft.com/office/drawing/2014/main" id="{5C2B33B3-486B-54AD-7340-8E91653B11C6}"/>
              </a:ext>
            </a:extLst>
          </p:cNvPr>
          <p:cNvSpPr txBox="1"/>
          <p:nvPr/>
        </p:nvSpPr>
        <p:spPr>
          <a:xfrm>
            <a:off x="5080000" y="1701738"/>
            <a:ext cx="4445000" cy="980502"/>
          </a:xfrm>
          <a:prstGeom prst="rect">
            <a:avLst/>
          </a:prstGeom>
          <a:solidFill>
            <a:srgbClr val="FFFFFF"/>
          </a:solidFill>
          <a:ln w="12700">
            <a:solidFill>
              <a:srgbClr val="00B050"/>
            </a:solidFill>
          </a:ln>
        </p:spPr>
        <p:txBody>
          <a:bodyPr wrap="square" lIns="177800" tIns="152400" rIns="177800" bIns="152400" anchor="t"/>
          <a:lstStyle/>
          <a:p>
            <a:pPr>
              <a:buNone/>
            </a:pPr>
            <a:r>
              <a:rPr lang="ja-JP" sz="1300" b="1" dirty="0">
                <a:solidFill>
                  <a:srgbClr val="00B050"/>
                </a:solidFill>
                <a:latin typeface="メイリオ" panose="020B0604030504040204" pitchFamily="50" charset="-128"/>
                <a:ea typeface="メイリオ" panose="020B0604030504040204" pitchFamily="50" charset="-128"/>
              </a:rPr>
              <a:t>特徴</a:t>
            </a:r>
          </a:p>
          <a:p>
            <a:pPr>
              <a:spcBef>
                <a:spcPts val="200"/>
              </a:spcBef>
              <a:buClr>
                <a:srgbClr val="C8102E"/>
              </a:buClr>
            </a:pPr>
            <a:r>
              <a:rPr lang="ja-JP" sz="1300" dirty="0">
                <a:solidFill>
                  <a:srgbClr val="333333"/>
                </a:solidFill>
                <a:latin typeface="メイリオ" panose="020B0604030504040204" pitchFamily="50" charset="-128"/>
                <a:ea typeface="メイリオ" panose="020B0604030504040204" pitchFamily="50" charset="-128"/>
              </a:rPr>
              <a:t>API連携を前提としたステップ配信に強み</a:t>
            </a:r>
          </a:p>
          <a:p>
            <a:pPr>
              <a:spcBef>
                <a:spcPts val="200"/>
              </a:spcBef>
              <a:buClr>
                <a:srgbClr val="C8102E"/>
              </a:buClr>
            </a:pPr>
            <a:r>
              <a:rPr lang="ja-JP" sz="1300" dirty="0">
                <a:solidFill>
                  <a:srgbClr val="333333"/>
                </a:solidFill>
                <a:latin typeface="メイリオ" panose="020B0604030504040204" pitchFamily="50" charset="-128"/>
                <a:ea typeface="メイリオ" panose="020B0604030504040204" pitchFamily="50" charset="-128"/>
              </a:rPr>
              <a:t>セグメント配信・タグ管理も柔軟に設計可能</a:t>
            </a:r>
          </a:p>
          <a:p>
            <a:pPr>
              <a:spcBef>
                <a:spcPts val="600"/>
              </a:spcBef>
              <a:buNone/>
            </a:pPr>
            <a:endParaRPr lang="ja-JP" sz="1200" dirty="0">
              <a:solidFill>
                <a:srgbClr val="333333"/>
              </a:solidFill>
              <a:latin typeface="メイリオ" panose="020B0604030504040204" pitchFamily="50" charset="-128"/>
              <a:ea typeface="メイリオ" panose="020B0604030504040204" pitchFamily="50" charset="-128"/>
            </a:endParaRPr>
          </a:p>
        </p:txBody>
      </p:sp>
      <p:sp>
        <p:nvSpPr>
          <p:cNvPr id="31" name="LeftBody">
            <a:extLst>
              <a:ext uri="{FF2B5EF4-FFF2-40B4-BE49-F238E27FC236}">
                <a16:creationId xmlns:a16="http://schemas.microsoft.com/office/drawing/2014/main" id="{C22CD48D-CDD7-8246-0A2F-0204B2112294}"/>
              </a:ext>
            </a:extLst>
          </p:cNvPr>
          <p:cNvSpPr txBox="1"/>
          <p:nvPr/>
        </p:nvSpPr>
        <p:spPr>
          <a:xfrm>
            <a:off x="396857" y="2743201"/>
            <a:ext cx="4445000" cy="980502"/>
          </a:xfrm>
          <a:prstGeom prst="rect">
            <a:avLst/>
          </a:prstGeom>
          <a:solidFill>
            <a:srgbClr val="F5F7FA"/>
          </a:solidFill>
          <a:ln w="6350">
            <a:solidFill>
              <a:srgbClr val="D1D8E0"/>
            </a:solidFill>
          </a:ln>
        </p:spPr>
        <p:txBody>
          <a:bodyPr wrap="square" lIns="177800" tIns="152400" rIns="177800" bIns="152400" anchor="t"/>
          <a:lstStyle/>
          <a:p>
            <a:pPr>
              <a:spcBef>
                <a:spcPts val="600"/>
              </a:spcBef>
              <a:buNone/>
            </a:pPr>
            <a:r>
              <a:rPr lang="ja-JP" sz="1300" b="1" dirty="0">
                <a:solidFill>
                  <a:srgbClr val="1F2A5C"/>
                </a:solidFill>
                <a:latin typeface="メイリオ" panose="020B0604030504040204" pitchFamily="50" charset="-128"/>
                <a:ea typeface="メイリオ" panose="020B0604030504040204" pitchFamily="50" charset="-128"/>
              </a:rPr>
              <a:t>メリット</a:t>
            </a:r>
          </a:p>
          <a:p>
            <a:pPr>
              <a:spcBef>
                <a:spcPts val="200"/>
              </a:spcBef>
              <a:buClr>
                <a:srgbClr val="1F2A5C"/>
              </a:buClr>
            </a:pPr>
            <a:r>
              <a:rPr lang="ja-JP" sz="1300" dirty="0">
                <a:solidFill>
                  <a:srgbClr val="333333"/>
                </a:solidFill>
                <a:latin typeface="メイリオ" panose="020B0604030504040204" pitchFamily="50" charset="-128"/>
                <a:ea typeface="メイリオ" panose="020B0604030504040204" pitchFamily="50" charset="-128"/>
              </a:rPr>
              <a:t>顧客情報を活かしたセグメント配信が可能</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1F2A5C"/>
              </a:buClr>
            </a:pPr>
            <a:r>
              <a:rPr lang="ja-JP" altLang="en-US" sz="1300" dirty="0">
                <a:solidFill>
                  <a:srgbClr val="333333"/>
                </a:solidFill>
                <a:latin typeface="メイリオ" panose="020B0604030504040204" pitchFamily="50" charset="-128"/>
                <a:ea typeface="メイリオ" panose="020B0604030504040204" pitchFamily="50" charset="-128"/>
              </a:rPr>
              <a:t>画一的な管理であれば導入が可能</a:t>
            </a:r>
            <a:endParaRPr lang="ja-JP" sz="1200" dirty="0">
              <a:solidFill>
                <a:srgbClr val="333333"/>
              </a:solidFill>
              <a:latin typeface="メイリオ" panose="020B0604030504040204" pitchFamily="50" charset="-128"/>
              <a:ea typeface="メイリオ" panose="020B0604030504040204" pitchFamily="50" charset="-128"/>
            </a:endParaRPr>
          </a:p>
        </p:txBody>
      </p:sp>
      <p:sp>
        <p:nvSpPr>
          <p:cNvPr id="33" name="RightBody">
            <a:extLst>
              <a:ext uri="{FF2B5EF4-FFF2-40B4-BE49-F238E27FC236}">
                <a16:creationId xmlns:a16="http://schemas.microsoft.com/office/drawing/2014/main" id="{33E816DC-7F71-9436-3A2A-835086253EF7}"/>
              </a:ext>
            </a:extLst>
          </p:cNvPr>
          <p:cNvSpPr txBox="1"/>
          <p:nvPr/>
        </p:nvSpPr>
        <p:spPr>
          <a:xfrm>
            <a:off x="5095857" y="2743201"/>
            <a:ext cx="4445000" cy="980502"/>
          </a:xfrm>
          <a:prstGeom prst="rect">
            <a:avLst/>
          </a:prstGeom>
          <a:solidFill>
            <a:srgbClr val="FFFFFF"/>
          </a:solidFill>
          <a:ln w="12700">
            <a:solidFill>
              <a:srgbClr val="00B050"/>
            </a:solidFill>
          </a:ln>
        </p:spPr>
        <p:txBody>
          <a:bodyPr wrap="square" lIns="177800" tIns="152400" rIns="177800" bIns="152400" anchor="t"/>
          <a:lstStyle/>
          <a:p>
            <a:pPr>
              <a:spcBef>
                <a:spcPts val="600"/>
              </a:spcBef>
              <a:buNone/>
            </a:pPr>
            <a:r>
              <a:rPr lang="ja-JP" sz="1300" b="1" dirty="0">
                <a:solidFill>
                  <a:srgbClr val="00B050"/>
                </a:solidFill>
                <a:latin typeface="メイリオ" panose="020B0604030504040204" pitchFamily="50" charset="-128"/>
                <a:ea typeface="メイリオ" panose="020B0604030504040204" pitchFamily="50" charset="-128"/>
              </a:rPr>
              <a:t>メリット</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C8102E"/>
              </a:buClr>
            </a:pPr>
            <a:r>
              <a:rPr lang="ja-JP" sz="1300" dirty="0">
                <a:solidFill>
                  <a:srgbClr val="333333"/>
                </a:solidFill>
                <a:latin typeface="メイリオ" panose="020B0604030504040204" pitchFamily="50" charset="-128"/>
                <a:ea typeface="メイリオ" panose="020B0604030504040204" pitchFamily="50" charset="-128"/>
              </a:rPr>
              <a:t>経過日数・タグ条件を組み合わせた配信設計が可能</a:t>
            </a:r>
          </a:p>
          <a:p>
            <a:pPr>
              <a:spcBef>
                <a:spcPts val="200"/>
              </a:spcBef>
              <a:buClr>
                <a:srgbClr val="C8102E"/>
              </a:buClr>
            </a:pPr>
            <a:r>
              <a:rPr lang="ja-JP" sz="1300" dirty="0">
                <a:solidFill>
                  <a:srgbClr val="333333"/>
                </a:solidFill>
                <a:latin typeface="メイリオ" panose="020B0604030504040204" pitchFamily="50" charset="-128"/>
                <a:ea typeface="メイリオ" panose="020B0604030504040204" pitchFamily="50" charset="-128"/>
              </a:rPr>
              <a:t>API連携により外部データとの連携もしやすい</a:t>
            </a:r>
          </a:p>
          <a:p>
            <a:pPr>
              <a:spcBef>
                <a:spcPts val="600"/>
              </a:spcBef>
              <a:buNone/>
            </a:pPr>
            <a:endParaRPr lang="ja-JP" sz="1200" dirty="0">
              <a:solidFill>
                <a:srgbClr val="333333"/>
              </a:solidFill>
              <a:latin typeface="メイリオ" panose="020B0604030504040204" pitchFamily="50" charset="-128"/>
              <a:ea typeface="メイリオ" panose="020B0604030504040204" pitchFamily="50" charset="-128"/>
            </a:endParaRPr>
          </a:p>
        </p:txBody>
      </p:sp>
      <p:sp>
        <p:nvSpPr>
          <p:cNvPr id="35" name="LeftBody">
            <a:extLst>
              <a:ext uri="{FF2B5EF4-FFF2-40B4-BE49-F238E27FC236}">
                <a16:creationId xmlns:a16="http://schemas.microsoft.com/office/drawing/2014/main" id="{C28C8264-FFE5-64B4-9624-4781A568525A}"/>
              </a:ext>
            </a:extLst>
          </p:cNvPr>
          <p:cNvSpPr txBox="1"/>
          <p:nvPr/>
        </p:nvSpPr>
        <p:spPr>
          <a:xfrm>
            <a:off x="396857" y="3784664"/>
            <a:ext cx="4445000" cy="980502"/>
          </a:xfrm>
          <a:prstGeom prst="rect">
            <a:avLst/>
          </a:prstGeom>
          <a:solidFill>
            <a:srgbClr val="F5F7FA"/>
          </a:solidFill>
          <a:ln w="6350">
            <a:solidFill>
              <a:srgbClr val="D1D8E0"/>
            </a:solidFill>
          </a:ln>
        </p:spPr>
        <p:txBody>
          <a:bodyPr wrap="square" lIns="177800" tIns="152400" rIns="177800" bIns="152400" anchor="t"/>
          <a:lstStyle/>
          <a:p>
            <a:pPr>
              <a:spcBef>
                <a:spcPts val="600"/>
              </a:spcBef>
              <a:buNone/>
            </a:pPr>
            <a:r>
              <a:rPr lang="ja-JP" sz="1300" b="1" dirty="0">
                <a:solidFill>
                  <a:srgbClr val="1F2A5C"/>
                </a:solidFill>
                <a:latin typeface="メイリオ" panose="020B0604030504040204" pitchFamily="50" charset="-128"/>
                <a:ea typeface="メイリオ" panose="020B0604030504040204" pitchFamily="50" charset="-128"/>
              </a:rPr>
              <a:t>デメリット</a:t>
            </a:r>
          </a:p>
          <a:p>
            <a:pPr>
              <a:spcBef>
                <a:spcPts val="200"/>
              </a:spcBef>
              <a:buClr>
                <a:srgbClr val="1F2A5C"/>
              </a:buClr>
            </a:pPr>
            <a:r>
              <a:rPr lang="ja-JP" sz="1300" dirty="0">
                <a:solidFill>
                  <a:srgbClr val="333333"/>
                </a:solidFill>
                <a:latin typeface="メイリオ" panose="020B0604030504040204" pitchFamily="50" charset="-128"/>
                <a:ea typeface="メイリオ" panose="020B0604030504040204" pitchFamily="50" charset="-128"/>
              </a:rPr>
              <a:t>現状LINEとAPI連携ができておらず、データ活用が限定的</a:t>
            </a:r>
          </a:p>
        </p:txBody>
      </p:sp>
      <p:sp>
        <p:nvSpPr>
          <p:cNvPr id="37" name="RightBody">
            <a:extLst>
              <a:ext uri="{FF2B5EF4-FFF2-40B4-BE49-F238E27FC236}">
                <a16:creationId xmlns:a16="http://schemas.microsoft.com/office/drawing/2014/main" id="{CD03D279-8570-6C99-6FEA-8EDFE942CC76}"/>
              </a:ext>
            </a:extLst>
          </p:cNvPr>
          <p:cNvSpPr txBox="1"/>
          <p:nvPr/>
        </p:nvSpPr>
        <p:spPr>
          <a:xfrm>
            <a:off x="5095857" y="3784664"/>
            <a:ext cx="4445000" cy="980502"/>
          </a:xfrm>
          <a:prstGeom prst="rect">
            <a:avLst/>
          </a:prstGeom>
          <a:solidFill>
            <a:srgbClr val="FFFFFF"/>
          </a:solidFill>
          <a:ln w="12700">
            <a:solidFill>
              <a:srgbClr val="00B050"/>
            </a:solidFill>
          </a:ln>
        </p:spPr>
        <p:txBody>
          <a:bodyPr wrap="square" lIns="177800" tIns="152400" rIns="177800" bIns="152400" anchor="t"/>
          <a:lstStyle/>
          <a:p>
            <a:pPr>
              <a:spcBef>
                <a:spcPts val="600"/>
              </a:spcBef>
              <a:buNone/>
            </a:pPr>
            <a:r>
              <a:rPr lang="ja-JP" sz="1300" b="1" dirty="0">
                <a:solidFill>
                  <a:srgbClr val="00B050"/>
                </a:solidFill>
                <a:latin typeface="メイリオ" panose="020B0604030504040204" pitchFamily="50" charset="-128"/>
                <a:ea typeface="メイリオ" panose="020B0604030504040204" pitchFamily="50" charset="-128"/>
              </a:rPr>
              <a:t>デメリット</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C8102E"/>
              </a:buClr>
            </a:pPr>
            <a:r>
              <a:rPr lang="ja-JP" sz="1300" dirty="0">
                <a:solidFill>
                  <a:srgbClr val="333333"/>
                </a:solidFill>
                <a:latin typeface="メイリオ" panose="020B0604030504040204" pitchFamily="50" charset="-128"/>
                <a:ea typeface="メイリオ" panose="020B0604030504040204" pitchFamily="50" charset="-128"/>
              </a:rPr>
              <a:t>移行には初期設定・データ移行の工数が発生</a:t>
            </a:r>
          </a:p>
        </p:txBody>
      </p:sp>
    </p:spTree>
    <p:extLst>
      <p:ext uri="{BB962C8B-B14F-4D97-AF65-F5344CB8AC3E}">
        <p14:creationId xmlns:p14="http://schemas.microsoft.com/office/powerpoint/2010/main" val="41613873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64C018-2F1E-8306-707D-71C186D40816}"/>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40D60058-2F60-08D5-B4FD-0E0AADF1465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全体設計｜整備士の転職カスタマージャーニー</a:t>
            </a:r>
            <a:endParaRPr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D3328ECE-A991-2276-8887-D875DA94A5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6" name="Rectangle 45"/>
          <p:cNvSpPr/>
          <p:nvPr/>
        </p:nvSpPr>
        <p:spPr>
          <a:xfrm>
            <a:off x="432000" y="666000"/>
            <a:ext cx="9036000" cy="66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1600" bIns="21600"/>
          <a:lstStyle/>
          <a:p>
            <a:pPr algn="l"/>
            <a:r>
              <a:rPr sz="1300" b="0">
                <a:solidFill>
                  <a:srgbClr val="333333"/>
                </a:solidFill>
                <a:latin typeface="メイリオ"/>
                <a:ea typeface="メイリオ"/>
                <a:cs typeface="メイリオ"/>
              </a:rPr>
              <a:t>整備士の転職の流れにあわせて、LINEの施策を配置します。</a:t>
            </a:r>
          </a:p>
          <a:p>
            <a:pPr algn="l"/>
            <a:r>
              <a:rPr sz="1300" b="0">
                <a:solidFill>
                  <a:srgbClr val="333333"/>
                </a:solidFill>
                <a:latin typeface="メイリオ"/>
                <a:ea typeface="メイリオ"/>
                <a:cs typeface="メイリオ"/>
              </a:rPr>
              <a:t>主戦場は④友だち追加ではなく⑤面談。そこから先も同じLINEで就業・定着まで運びます。</a:t>
            </a:r>
          </a:p>
        </p:txBody>
      </p:sp>
      <p:sp>
        <p:nvSpPr>
          <p:cNvPr id="47" name="Rounded Rectangle 46"/>
          <p:cNvSpPr/>
          <p:nvPr/>
        </p:nvSpPr>
        <p:spPr>
          <a:xfrm>
            <a:off x="432000" y="1512000"/>
            <a:ext cx="4494600" cy="234000"/>
          </a:xfrm>
          <a:prstGeom prst="roundRect">
            <a:avLst>
              <a:gd name="adj" fmla="val 8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1050" b="1">
                <a:solidFill>
                  <a:srgbClr val="333333"/>
                </a:solidFill>
                <a:latin typeface="メイリオ"/>
                <a:ea typeface="メイリオ"/>
                <a:cs typeface="メイリオ"/>
              </a:rPr>
              <a:t>WEB → LINE：どう友だちにするか</a:t>
            </a:r>
          </a:p>
        </p:txBody>
      </p:sp>
      <p:sp>
        <p:nvSpPr>
          <p:cNvPr id="48" name="Rounded Rectangle 47"/>
          <p:cNvSpPr/>
          <p:nvPr/>
        </p:nvSpPr>
        <p:spPr>
          <a:xfrm>
            <a:off x="4980600" y="1512000"/>
            <a:ext cx="4494600" cy="234000"/>
          </a:xfrm>
          <a:prstGeom prst="roundRect">
            <a:avLst>
              <a:gd name="adj" fmla="val 8000"/>
            </a:avLst>
          </a:prstGeom>
          <a:solidFill>
            <a:srgbClr val="E2F0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1050" b="1">
                <a:solidFill>
                  <a:srgbClr val="333333"/>
                </a:solidFill>
                <a:latin typeface="メイリオ"/>
                <a:ea typeface="メイリオ"/>
                <a:cs typeface="メイリオ"/>
              </a:rPr>
              <a:t>LINE → 就業：どう面談・就業につなげるか</a:t>
            </a:r>
          </a:p>
        </p:txBody>
      </p:sp>
      <p:sp>
        <p:nvSpPr>
          <p:cNvPr id="49" name="Pentagon 48"/>
          <p:cNvSpPr/>
          <p:nvPr/>
        </p:nvSpPr>
        <p:spPr>
          <a:xfrm>
            <a:off x="432000" y="1818000"/>
            <a:ext cx="1083150" cy="396000"/>
          </a:xfrm>
          <a:prstGeom prst="homePlate">
            <a:avLst/>
          </a:prstGeom>
          <a:solidFill>
            <a:srgbClr val="F8CBA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1600" bIns="21600"/>
          <a:lstStyle/>
          <a:p>
            <a:pPr algn="ctr"/>
            <a:r>
              <a:rPr sz="1000" b="1">
                <a:solidFill>
                  <a:srgbClr val="333333"/>
                </a:solidFill>
                <a:latin typeface="メイリオ"/>
                <a:ea typeface="メイリオ"/>
                <a:cs typeface="メイリオ"/>
              </a:rPr>
              <a:t>①接触</a:t>
            </a:r>
          </a:p>
        </p:txBody>
      </p:sp>
      <p:sp>
        <p:nvSpPr>
          <p:cNvPr id="50" name="Chevron 49"/>
          <p:cNvSpPr/>
          <p:nvPr/>
        </p:nvSpPr>
        <p:spPr>
          <a:xfrm>
            <a:off x="1569150" y="1818000"/>
            <a:ext cx="1083150" cy="396000"/>
          </a:xfrm>
          <a:prstGeom prst="chevron">
            <a:avLst/>
          </a:prstGeom>
          <a:solidFill>
            <a:srgbClr val="F8CBA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1600" bIns="21600"/>
          <a:lstStyle/>
          <a:p>
            <a:pPr algn="ctr"/>
            <a:r>
              <a:rPr sz="1000" b="1">
                <a:solidFill>
                  <a:srgbClr val="333333"/>
                </a:solidFill>
                <a:latin typeface="メイリオ"/>
                <a:ea typeface="メイリオ"/>
                <a:cs typeface="メイリオ"/>
              </a:rPr>
              <a:t>②離脱</a:t>
            </a:r>
          </a:p>
        </p:txBody>
      </p:sp>
      <p:sp>
        <p:nvSpPr>
          <p:cNvPr id="51" name="Chevron 50"/>
          <p:cNvSpPr/>
          <p:nvPr/>
        </p:nvSpPr>
        <p:spPr>
          <a:xfrm>
            <a:off x="2706300" y="1818000"/>
            <a:ext cx="1083150" cy="396000"/>
          </a:xfrm>
          <a:prstGeom prst="chevron">
            <a:avLst/>
          </a:prstGeom>
          <a:solidFill>
            <a:srgbClr val="F8CBA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1600" bIns="21600"/>
          <a:lstStyle/>
          <a:p>
            <a:pPr algn="ctr"/>
            <a:r>
              <a:rPr sz="1000" b="1">
                <a:solidFill>
                  <a:srgbClr val="333333"/>
                </a:solidFill>
                <a:latin typeface="メイリオ"/>
                <a:ea typeface="メイリオ"/>
                <a:cs typeface="メイリオ"/>
              </a:rPr>
              <a:t>③興味喚起</a:t>
            </a:r>
          </a:p>
        </p:txBody>
      </p:sp>
      <p:sp>
        <p:nvSpPr>
          <p:cNvPr id="52" name="Chevron 51"/>
          <p:cNvSpPr/>
          <p:nvPr/>
        </p:nvSpPr>
        <p:spPr>
          <a:xfrm>
            <a:off x="3843450" y="1818000"/>
            <a:ext cx="1083150" cy="396000"/>
          </a:xfrm>
          <a:prstGeom prst="chevron">
            <a:avLst/>
          </a:prstGeom>
          <a:solidFill>
            <a:srgbClr val="F8CBA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1600" bIns="21600"/>
          <a:lstStyle/>
          <a:p>
            <a:pPr algn="ctr"/>
            <a:r>
              <a:rPr sz="1000" b="1">
                <a:solidFill>
                  <a:srgbClr val="333333"/>
                </a:solidFill>
                <a:latin typeface="メイリオ"/>
                <a:ea typeface="メイリオ"/>
                <a:cs typeface="メイリオ"/>
              </a:rPr>
              <a:t>④友だち追加</a:t>
            </a:r>
          </a:p>
        </p:txBody>
      </p:sp>
      <p:sp>
        <p:nvSpPr>
          <p:cNvPr id="53" name="Chevron 52"/>
          <p:cNvSpPr/>
          <p:nvPr/>
        </p:nvSpPr>
        <p:spPr>
          <a:xfrm>
            <a:off x="4980600" y="1818000"/>
            <a:ext cx="1083150" cy="396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1600" bIns="21600"/>
          <a:lstStyle/>
          <a:p>
            <a:pPr algn="ctr"/>
            <a:r>
              <a:rPr sz="1000" b="1">
                <a:solidFill>
                  <a:srgbClr val="FFFFFF"/>
                </a:solidFill>
                <a:latin typeface="メイリオ"/>
                <a:ea typeface="メイリオ"/>
                <a:cs typeface="メイリオ"/>
              </a:rPr>
              <a:t>⑤面談</a:t>
            </a:r>
          </a:p>
        </p:txBody>
      </p:sp>
      <p:sp>
        <p:nvSpPr>
          <p:cNvPr id="54" name="Chevron 53"/>
          <p:cNvSpPr/>
          <p:nvPr/>
        </p:nvSpPr>
        <p:spPr>
          <a:xfrm>
            <a:off x="6117749" y="1818000"/>
            <a:ext cx="1083150" cy="396000"/>
          </a:xfrm>
          <a:prstGeom prst="chevron">
            <a:avLst/>
          </a:prstGeom>
          <a:solidFill>
            <a:srgbClr val="BDD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1600" bIns="21600"/>
          <a:lstStyle/>
          <a:p>
            <a:pPr algn="ctr"/>
            <a:r>
              <a:rPr sz="1000" b="1">
                <a:solidFill>
                  <a:srgbClr val="333333"/>
                </a:solidFill>
                <a:latin typeface="メイリオ"/>
                <a:ea typeface="メイリオ"/>
                <a:cs typeface="メイリオ"/>
              </a:rPr>
              <a:t>⑥求人紹介</a:t>
            </a:r>
          </a:p>
        </p:txBody>
      </p:sp>
      <p:sp>
        <p:nvSpPr>
          <p:cNvPr id="55" name="Chevron 54"/>
          <p:cNvSpPr/>
          <p:nvPr/>
        </p:nvSpPr>
        <p:spPr>
          <a:xfrm>
            <a:off x="7254900" y="1818000"/>
            <a:ext cx="1083150" cy="396000"/>
          </a:xfrm>
          <a:prstGeom prst="chevron">
            <a:avLst/>
          </a:prstGeom>
          <a:solidFill>
            <a:srgbClr val="BDD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1600" bIns="21600"/>
          <a:lstStyle/>
          <a:p>
            <a:pPr algn="ctr"/>
            <a:r>
              <a:rPr sz="1000" b="1">
                <a:solidFill>
                  <a:srgbClr val="333333"/>
                </a:solidFill>
                <a:latin typeface="メイリオ"/>
                <a:ea typeface="メイリオ"/>
                <a:cs typeface="メイリオ"/>
              </a:rPr>
              <a:t>⑦内定承諾</a:t>
            </a:r>
          </a:p>
        </p:txBody>
      </p:sp>
      <p:sp>
        <p:nvSpPr>
          <p:cNvPr id="56" name="Chevron 55"/>
          <p:cNvSpPr/>
          <p:nvPr/>
        </p:nvSpPr>
        <p:spPr>
          <a:xfrm>
            <a:off x="8392050" y="1818000"/>
            <a:ext cx="1083150" cy="396000"/>
          </a:xfrm>
          <a:prstGeom prst="chevron">
            <a:avLst/>
          </a:prstGeom>
          <a:solidFill>
            <a:srgbClr val="BDD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1600" bIns="21600"/>
          <a:lstStyle/>
          <a:p>
            <a:pPr algn="ctr"/>
            <a:r>
              <a:rPr sz="1000" b="1">
                <a:solidFill>
                  <a:srgbClr val="333333"/>
                </a:solidFill>
                <a:latin typeface="メイリオ"/>
                <a:ea typeface="メイリオ"/>
                <a:cs typeface="メイリオ"/>
              </a:rPr>
              <a:t>⑧定着・紹介</a:t>
            </a:r>
          </a:p>
        </p:txBody>
      </p:sp>
      <p:sp>
        <p:nvSpPr>
          <p:cNvPr id="57" name="Rectangle 56"/>
          <p:cNvSpPr/>
          <p:nvPr/>
        </p:nvSpPr>
        <p:spPr>
          <a:xfrm>
            <a:off x="432000" y="2286000"/>
            <a:ext cx="2160000" cy="19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1600" bIns="21600"/>
          <a:lstStyle/>
          <a:p>
            <a:pPr algn="l"/>
            <a:r>
              <a:rPr sz="1000" b="1">
                <a:solidFill>
                  <a:srgbClr val="7F7F7F"/>
                </a:solidFill>
                <a:latin typeface="メイリオ"/>
                <a:ea typeface="メイリオ"/>
                <a:cs typeface="メイリオ"/>
              </a:rPr>
              <a:t>ユーザーの状態</a:t>
            </a:r>
          </a:p>
        </p:txBody>
      </p:sp>
      <p:sp>
        <p:nvSpPr>
          <p:cNvPr id="58" name="Rectangle 57"/>
          <p:cNvSpPr/>
          <p:nvPr/>
        </p:nvSpPr>
        <p:spPr>
          <a:xfrm>
            <a:off x="432000" y="3438000"/>
            <a:ext cx="2160000" cy="19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1600" bIns="21600"/>
          <a:lstStyle/>
          <a:p>
            <a:pPr algn="l"/>
            <a:r>
              <a:rPr sz="1000" b="1">
                <a:solidFill>
                  <a:srgbClr val="7F7F7F"/>
                </a:solidFill>
                <a:latin typeface="メイリオ"/>
                <a:ea typeface="メイリオ"/>
                <a:cs typeface="メイリオ"/>
              </a:rPr>
              <a:t>LINEの施策</a:t>
            </a:r>
          </a:p>
        </p:txBody>
      </p:sp>
      <p:sp>
        <p:nvSpPr>
          <p:cNvPr id="59" name="Rounded Rectangle 58"/>
          <p:cNvSpPr/>
          <p:nvPr/>
        </p:nvSpPr>
        <p:spPr>
          <a:xfrm>
            <a:off x="432000" y="2484000"/>
            <a:ext cx="1083150" cy="90000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1000" b="0">
                <a:solidFill>
                  <a:srgbClr val="333333"/>
                </a:solidFill>
                <a:latin typeface="メイリオ"/>
                <a:ea typeface="メイリオ"/>
                <a:cs typeface="メイリオ"/>
              </a:rPr>
              <a:t>年収・職種が気になり検索する</a:t>
            </a:r>
          </a:p>
        </p:txBody>
      </p:sp>
      <p:sp>
        <p:nvSpPr>
          <p:cNvPr id="60" name="Rounded Rectangle 59"/>
          <p:cNvSpPr/>
          <p:nvPr/>
        </p:nvSpPr>
        <p:spPr>
          <a:xfrm>
            <a:off x="432000" y="3636000"/>
            <a:ext cx="1083150" cy="1080000"/>
          </a:xfrm>
          <a:prstGeom prst="roundRect">
            <a:avLst>
              <a:gd name="adj" fmla="val 8000"/>
            </a:avLst>
          </a:prstGeom>
          <a:solidFill>
            <a:srgbClr val="DDEB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1050" b="1">
                <a:solidFill>
                  <a:srgbClr val="1F285A"/>
                </a:solidFill>
                <a:latin typeface="メイリオ"/>
                <a:ea typeface="メイリオ"/>
                <a:cs typeface="メイリオ"/>
              </a:rPr>
              <a:t>CPF広告（Meta予算を転用）</a:t>
            </a:r>
          </a:p>
        </p:txBody>
      </p:sp>
      <p:sp>
        <p:nvSpPr>
          <p:cNvPr id="61" name="Rounded Rectangle 60"/>
          <p:cNvSpPr/>
          <p:nvPr/>
        </p:nvSpPr>
        <p:spPr>
          <a:xfrm>
            <a:off x="1569150" y="2484000"/>
            <a:ext cx="1083150" cy="90000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1000" b="0">
                <a:solidFill>
                  <a:srgbClr val="333333"/>
                </a:solidFill>
                <a:latin typeface="メイリオ"/>
                <a:ea typeface="メイリオ"/>
                <a:cs typeface="メイリオ"/>
              </a:rPr>
              <a:t>応募はまだ。そのまま帰る</a:t>
            </a:r>
          </a:p>
        </p:txBody>
      </p:sp>
      <p:sp>
        <p:nvSpPr>
          <p:cNvPr id="62" name="Rounded Rectangle 61"/>
          <p:cNvSpPr/>
          <p:nvPr/>
        </p:nvSpPr>
        <p:spPr>
          <a:xfrm>
            <a:off x="1569150" y="3636000"/>
            <a:ext cx="1083150" cy="1080000"/>
          </a:xfrm>
          <a:prstGeom prst="roundRect">
            <a:avLst>
              <a:gd name="adj" fmla="val 8000"/>
            </a:avLst>
          </a:prstGeom>
          <a:solidFill>
            <a:srgbClr val="DDEB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1050" b="1">
                <a:solidFill>
                  <a:srgbClr val="1F285A"/>
                </a:solidFill>
                <a:latin typeface="メイリオ"/>
                <a:ea typeface="メイリオ"/>
                <a:cs typeface="メイリオ"/>
              </a:rPr>
              <a:t>離脱防止ポップアップ</a:t>
            </a:r>
          </a:p>
        </p:txBody>
      </p:sp>
      <p:sp>
        <p:nvSpPr>
          <p:cNvPr id="63" name="Rounded Rectangle 62"/>
          <p:cNvSpPr/>
          <p:nvPr/>
        </p:nvSpPr>
        <p:spPr>
          <a:xfrm>
            <a:off x="2706300" y="2484000"/>
            <a:ext cx="1083150" cy="90000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1000" b="0">
                <a:solidFill>
                  <a:srgbClr val="333333"/>
                </a:solidFill>
                <a:latin typeface="メイリオ"/>
                <a:ea typeface="メイリオ"/>
                <a:cs typeface="メイリオ"/>
              </a:rPr>
              <a:t>年収・働き方を知りたい</a:t>
            </a:r>
          </a:p>
        </p:txBody>
      </p:sp>
      <p:sp>
        <p:nvSpPr>
          <p:cNvPr id="64" name="Rounded Rectangle 63"/>
          <p:cNvSpPr/>
          <p:nvPr/>
        </p:nvSpPr>
        <p:spPr>
          <a:xfrm>
            <a:off x="2706300" y="3636000"/>
            <a:ext cx="1083150" cy="1080000"/>
          </a:xfrm>
          <a:prstGeom prst="roundRect">
            <a:avLst>
              <a:gd name="adj" fmla="val 8000"/>
            </a:avLst>
          </a:prstGeom>
          <a:solidFill>
            <a:srgbClr val="DDEB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1050" b="1">
                <a:solidFill>
                  <a:srgbClr val="1F285A"/>
                </a:solidFill>
                <a:latin typeface="メイリオ"/>
                <a:ea typeface="メイリオ"/>
                <a:cs typeface="メイリオ"/>
              </a:rPr>
              <a:t>年収相場・職種図鑑の配信</a:t>
            </a:r>
          </a:p>
        </p:txBody>
      </p:sp>
      <p:sp>
        <p:nvSpPr>
          <p:cNvPr id="65" name="Rounded Rectangle 64"/>
          <p:cNvSpPr/>
          <p:nvPr/>
        </p:nvSpPr>
        <p:spPr>
          <a:xfrm>
            <a:off x="3843450" y="2484000"/>
            <a:ext cx="1083150" cy="90000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1000" b="0">
                <a:solidFill>
                  <a:srgbClr val="333333"/>
                </a:solidFill>
                <a:latin typeface="メイリオ"/>
                <a:ea typeface="メイリオ"/>
                <a:cs typeface="メイリオ"/>
              </a:rPr>
              <a:t>30秒の診断なら答える</a:t>
            </a:r>
          </a:p>
        </p:txBody>
      </p:sp>
      <p:sp>
        <p:nvSpPr>
          <p:cNvPr id="66" name="Rounded Rectangle 65"/>
          <p:cNvSpPr/>
          <p:nvPr/>
        </p:nvSpPr>
        <p:spPr>
          <a:xfrm>
            <a:off x="3843450" y="3636000"/>
            <a:ext cx="1083150" cy="1080000"/>
          </a:xfrm>
          <a:prstGeom prst="roundRect">
            <a:avLst>
              <a:gd name="adj" fmla="val 8000"/>
            </a:avLst>
          </a:prstGeom>
          <a:solidFill>
            <a:srgbClr val="DDEB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1050" b="1">
                <a:solidFill>
                  <a:srgbClr val="1F285A"/>
                </a:solidFill>
                <a:latin typeface="メイリオ"/>
                <a:ea typeface="メイリオ"/>
                <a:cs typeface="メイリオ"/>
              </a:rPr>
              <a:t>あいさつ＋30秒適職診断</a:t>
            </a:r>
          </a:p>
        </p:txBody>
      </p:sp>
      <p:sp>
        <p:nvSpPr>
          <p:cNvPr id="67" name="Rounded Rectangle 66"/>
          <p:cNvSpPr/>
          <p:nvPr/>
        </p:nvSpPr>
        <p:spPr>
          <a:xfrm>
            <a:off x="4980600" y="2484000"/>
            <a:ext cx="1083150" cy="90000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1000" b="0">
                <a:solidFill>
                  <a:srgbClr val="333333"/>
                </a:solidFill>
                <a:latin typeface="メイリオ"/>
                <a:ea typeface="メイリオ"/>
                <a:cs typeface="メイリオ"/>
              </a:rPr>
              <a:t>電話は無理。夜なら話せる</a:t>
            </a:r>
          </a:p>
        </p:txBody>
      </p:sp>
      <p:sp>
        <p:nvSpPr>
          <p:cNvPr id="68" name="Rounded Rectangle 67"/>
          <p:cNvSpPr/>
          <p:nvPr/>
        </p:nvSpPr>
        <p:spPr>
          <a:xfrm>
            <a:off x="4980600" y="3636000"/>
            <a:ext cx="1083150" cy="108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1050" b="1">
                <a:solidFill>
                  <a:srgbClr val="FFFFFF"/>
                </a:solidFill>
                <a:latin typeface="メイリオ"/>
                <a:ea typeface="メイリオ"/>
                <a:cs typeface="メイリオ"/>
              </a:rPr>
              <a:t>LINEで面談予約＋前日リマインド</a:t>
            </a:r>
          </a:p>
        </p:txBody>
      </p:sp>
      <p:sp>
        <p:nvSpPr>
          <p:cNvPr id="69" name="Rounded Rectangle 68"/>
          <p:cNvSpPr/>
          <p:nvPr/>
        </p:nvSpPr>
        <p:spPr>
          <a:xfrm>
            <a:off x="6117749" y="2484000"/>
            <a:ext cx="1083150" cy="90000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1000" b="0">
                <a:solidFill>
                  <a:srgbClr val="333333"/>
                </a:solidFill>
                <a:latin typeface="メイリオ"/>
                <a:ea typeface="メイリオ"/>
                <a:cs typeface="メイリオ"/>
              </a:rPr>
              <a:t>自分に合う求人か見極めたい</a:t>
            </a:r>
          </a:p>
        </p:txBody>
      </p:sp>
      <p:sp>
        <p:nvSpPr>
          <p:cNvPr id="70" name="Rounded Rectangle 69"/>
          <p:cNvSpPr/>
          <p:nvPr/>
        </p:nvSpPr>
        <p:spPr>
          <a:xfrm>
            <a:off x="6117749" y="3636000"/>
            <a:ext cx="1083150" cy="1080000"/>
          </a:xfrm>
          <a:prstGeom prst="roundRect">
            <a:avLst>
              <a:gd name="adj" fmla="val 8000"/>
            </a:avLst>
          </a:prstGeom>
          <a:solidFill>
            <a:srgbClr val="DDEB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1050" b="1">
                <a:solidFill>
                  <a:srgbClr val="1F285A"/>
                </a:solidFill>
                <a:latin typeface="メイリオ"/>
                <a:ea typeface="メイリオ"/>
                <a:cs typeface="メイリオ"/>
              </a:rPr>
              <a:t>地域別の求人ピックアップ</a:t>
            </a:r>
          </a:p>
        </p:txBody>
      </p:sp>
      <p:sp>
        <p:nvSpPr>
          <p:cNvPr id="71" name="Rounded Rectangle 70"/>
          <p:cNvSpPr/>
          <p:nvPr/>
        </p:nvSpPr>
        <p:spPr>
          <a:xfrm>
            <a:off x="7254900" y="2484000"/>
            <a:ext cx="1083150" cy="90000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1000" b="0">
                <a:solidFill>
                  <a:srgbClr val="333333"/>
                </a:solidFill>
                <a:latin typeface="メイリオ"/>
                <a:ea typeface="メイリオ"/>
                <a:cs typeface="メイリオ"/>
              </a:rPr>
              <a:t>本当にこの会社でいいか不安</a:t>
            </a:r>
          </a:p>
        </p:txBody>
      </p:sp>
      <p:sp>
        <p:nvSpPr>
          <p:cNvPr id="72" name="Rounded Rectangle 71"/>
          <p:cNvSpPr/>
          <p:nvPr/>
        </p:nvSpPr>
        <p:spPr>
          <a:xfrm>
            <a:off x="7254900" y="3636000"/>
            <a:ext cx="1083150" cy="1080000"/>
          </a:xfrm>
          <a:prstGeom prst="roundRect">
            <a:avLst>
              <a:gd name="adj" fmla="val 8000"/>
            </a:avLst>
          </a:prstGeom>
          <a:solidFill>
            <a:srgbClr val="DDEB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1050" b="1">
                <a:solidFill>
                  <a:srgbClr val="1F285A"/>
                </a:solidFill>
                <a:latin typeface="メイリオ"/>
                <a:ea typeface="メイリオ"/>
                <a:cs typeface="メイリオ"/>
              </a:rPr>
              <a:t>不安に即答する自動応答・体験談</a:t>
            </a:r>
          </a:p>
        </p:txBody>
      </p:sp>
      <p:sp>
        <p:nvSpPr>
          <p:cNvPr id="73" name="Rounded Rectangle 72"/>
          <p:cNvSpPr/>
          <p:nvPr/>
        </p:nvSpPr>
        <p:spPr>
          <a:xfrm>
            <a:off x="8392050" y="2484000"/>
            <a:ext cx="1083150" cy="90000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1000" b="0">
                <a:solidFill>
                  <a:srgbClr val="333333"/>
                </a:solidFill>
                <a:latin typeface="メイリオ"/>
                <a:ea typeface="メイリオ"/>
                <a:cs typeface="メイリオ"/>
              </a:rPr>
              <a:t>入社後のギャップが不安</a:t>
            </a:r>
          </a:p>
        </p:txBody>
      </p:sp>
      <p:sp>
        <p:nvSpPr>
          <p:cNvPr id="74" name="Rounded Rectangle 73"/>
          <p:cNvSpPr/>
          <p:nvPr/>
        </p:nvSpPr>
        <p:spPr>
          <a:xfrm>
            <a:off x="8392050" y="3636000"/>
            <a:ext cx="1083150" cy="1080000"/>
          </a:xfrm>
          <a:prstGeom prst="roundRect">
            <a:avLst>
              <a:gd name="adj" fmla="val 8000"/>
            </a:avLst>
          </a:prstGeom>
          <a:solidFill>
            <a:srgbClr val="DDEB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1050" b="1">
                <a:solidFill>
                  <a:srgbClr val="1F285A"/>
                </a:solidFill>
                <a:latin typeface="メイリオ"/>
                <a:ea typeface="メイリオ"/>
                <a:cs typeface="メイリオ"/>
              </a:rPr>
              <a:t>定着フォロー・友だち紹介</a:t>
            </a:r>
          </a:p>
        </p:txBody>
      </p:sp>
      <p:sp>
        <p:nvSpPr>
          <p:cNvPr id="75" name="Rounded Rectangle 74"/>
          <p:cNvSpPr/>
          <p:nvPr/>
        </p:nvSpPr>
        <p:spPr>
          <a:xfrm>
            <a:off x="432000" y="4950000"/>
            <a:ext cx="9043200" cy="34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1300" b="1">
                <a:solidFill>
                  <a:srgbClr val="FFFFFF"/>
                </a:solidFill>
                <a:latin typeface="メイリオ"/>
                <a:ea typeface="メイリオ"/>
                <a:cs typeface="メイリオ"/>
              </a:rPr>
              <a:t>①〜④で友だちにし、⑤面談を成果（CV）に。⑥〜⑧も同じLINEで就業・定着まで運ぶ。</a:t>
            </a:r>
          </a:p>
        </p:txBody>
      </p:sp>
      <p:sp>
        <p:nvSpPr>
          <p:cNvPr id="76" name="Rectangle 75"/>
          <p:cNvSpPr/>
          <p:nvPr/>
        </p:nvSpPr>
        <p:spPr>
          <a:xfrm>
            <a:off x="432000" y="5400000"/>
            <a:ext cx="9036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1600" bIns="21600"/>
          <a:lstStyle/>
          <a:p>
            <a:pPr algn="l"/>
            <a:r>
              <a:rPr sz="950" b="0">
                <a:solidFill>
                  <a:srgbClr val="7F7F7F"/>
                </a:solidFill>
                <a:latin typeface="メイリオ"/>
                <a:ea typeface="メイリオ"/>
                <a:cs typeface="メイリオ"/>
              </a:rPr>
              <a:t>※ 各フェーズの具体策は、改善モデル①〜④（P41〜44）</a:t>
            </a:r>
          </a:p>
        </p:txBody>
      </p:sp>
    </p:spTree>
    <p:extLst>
      <p:ext uri="{BB962C8B-B14F-4D97-AF65-F5344CB8AC3E}">
        <p14:creationId xmlns:p14="http://schemas.microsoft.com/office/powerpoint/2010/main" val="5073350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05794-10C5-A163-5F03-DB8F5144F62B}"/>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B52FA9B6-1E96-AE6B-376B-08DEB38C8F2E}"/>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施策の考え方｜どこでLINEにつなぐか（3パターン）</a:t>
            </a:r>
            <a:endParaRPr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9466EA77-01E0-CA5D-3176-998FC02FE7DB}"/>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6" name="Rectangle 45"/>
          <p:cNvSpPr/>
          <p:nvPr/>
        </p:nvSpPr>
        <p:spPr>
          <a:xfrm>
            <a:off x="432000" y="666000"/>
            <a:ext cx="9036000" cy="66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1600" bIns="21600"/>
          <a:lstStyle/>
          <a:p>
            <a:pPr algn="l"/>
            <a:r>
              <a:rPr sz="1300" b="0">
                <a:solidFill>
                  <a:srgbClr val="333333"/>
                </a:solidFill>
                <a:latin typeface="メイリオ"/>
                <a:ea typeface="メイリオ"/>
                <a:cs typeface="メイリオ"/>
              </a:rPr>
              <a:t>LINEにつなぐ地点で、3つの型に分かれます。</a:t>
            </a:r>
          </a:p>
          <a:p>
            <a:pPr algn="l"/>
            <a:r>
              <a:rPr sz="1300" b="0">
                <a:solidFill>
                  <a:srgbClr val="333333"/>
                </a:solidFill>
                <a:latin typeface="メイリオ"/>
                <a:ea typeface="メイリオ"/>
                <a:cs typeface="メイリオ"/>
              </a:rPr>
              <a:t>チェングロウスは「電話なしで面談まで進める」B 日程調整型が本命です。</a:t>
            </a:r>
          </a:p>
        </p:txBody>
      </p:sp>
      <p:sp>
        <p:nvSpPr>
          <p:cNvPr id="47" name="Rounded Rectangle 46"/>
          <p:cNvSpPr/>
          <p:nvPr/>
        </p:nvSpPr>
        <p:spPr>
          <a:xfrm>
            <a:off x="432000" y="1548000"/>
            <a:ext cx="9043200" cy="1278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p>
        </p:txBody>
      </p:sp>
      <p:sp>
        <p:nvSpPr>
          <p:cNvPr id="48" name="Rounded Rectangle 47"/>
          <p:cNvSpPr/>
          <p:nvPr/>
        </p:nvSpPr>
        <p:spPr>
          <a:xfrm>
            <a:off x="522000" y="1655999"/>
            <a:ext cx="1440000" cy="1062000"/>
          </a:xfrm>
          <a:prstGeom prst="roundRect">
            <a:avLst>
              <a:gd name="adj" fmla="val 8000"/>
            </a:avLst>
          </a:prstGeom>
          <a:solidFill>
            <a:srgbClr val="5A63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1100" b="1">
                <a:solidFill>
                  <a:srgbClr val="FFFFFF"/>
                </a:solidFill>
                <a:latin typeface="メイリオ"/>
                <a:ea typeface="メイリオ"/>
                <a:cs typeface="メイリオ"/>
              </a:rPr>
              <a:t>パターンA</a:t>
            </a:r>
          </a:p>
          <a:p>
            <a:pPr algn="ctr"/>
            <a:r>
              <a:rPr sz="1300" b="1">
                <a:solidFill>
                  <a:srgbClr val="FFFFFF"/>
                </a:solidFill>
                <a:latin typeface="メイリオ"/>
                <a:ea typeface="メイリオ"/>
                <a:cs typeface="メイリオ"/>
              </a:rPr>
              <a:t>会員登録型</a:t>
            </a:r>
          </a:p>
        </p:txBody>
      </p:sp>
      <p:sp>
        <p:nvSpPr>
          <p:cNvPr id="49" name="Rounded Rectangle 48"/>
          <p:cNvSpPr/>
          <p:nvPr/>
        </p:nvSpPr>
        <p:spPr>
          <a:xfrm>
            <a:off x="2070000" y="1673999"/>
            <a:ext cx="1026000" cy="45000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1000" b="1">
                <a:solidFill>
                  <a:srgbClr val="333333"/>
                </a:solidFill>
                <a:latin typeface="メイリオ"/>
                <a:ea typeface="メイリオ"/>
                <a:cs typeface="メイリオ"/>
              </a:rPr>
              <a:t>求人応募・登録</a:t>
            </a:r>
          </a:p>
        </p:txBody>
      </p:sp>
      <p:cxnSp>
        <p:nvCxnSpPr>
          <p:cNvPr id="50" name="Connector 49"/>
          <p:cNvCxnSpPr/>
          <p:nvPr/>
        </p:nvCxnSpPr>
        <p:spPr>
          <a:xfrm>
            <a:off x="3103199" y="1897199"/>
            <a:ext cx="111601" cy="0"/>
          </a:xfrm>
          <a:prstGeom prst="line">
            <a:avLst/>
          </a:prstGeom>
          <a:ln w="15875">
            <a:solidFill>
              <a:srgbClr val="8C8C8C"/>
            </a:solidFill>
            <a:tailEnd type="triangle"/>
          </a:ln>
        </p:spPr>
        <p:style>
          <a:lnRef idx="2">
            <a:schemeClr val="accent1"/>
          </a:lnRef>
          <a:fillRef idx="0">
            <a:schemeClr val="accent1"/>
          </a:fillRef>
          <a:effectRef idx="1">
            <a:schemeClr val="accent1"/>
          </a:effectRef>
          <a:fontRef idx="minor">
            <a:schemeClr val="tx1"/>
          </a:fontRef>
        </p:style>
      </p:cxnSp>
      <p:sp>
        <p:nvSpPr>
          <p:cNvPr id="51" name="Rounded Rectangle 50"/>
          <p:cNvSpPr/>
          <p:nvPr/>
        </p:nvSpPr>
        <p:spPr>
          <a:xfrm>
            <a:off x="3221999" y="1673999"/>
            <a:ext cx="1026000" cy="45000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1000" b="1">
                <a:solidFill>
                  <a:srgbClr val="333333"/>
                </a:solidFill>
                <a:latin typeface="メイリオ"/>
                <a:ea typeface="メイリオ"/>
                <a:cs typeface="メイリオ"/>
              </a:rPr>
              <a:t>面談</a:t>
            </a:r>
          </a:p>
        </p:txBody>
      </p:sp>
      <p:cxnSp>
        <p:nvCxnSpPr>
          <p:cNvPr id="52" name="Connector 51"/>
          <p:cNvCxnSpPr/>
          <p:nvPr/>
        </p:nvCxnSpPr>
        <p:spPr>
          <a:xfrm>
            <a:off x="4255199" y="1897199"/>
            <a:ext cx="111601" cy="0"/>
          </a:xfrm>
          <a:prstGeom prst="line">
            <a:avLst/>
          </a:prstGeom>
          <a:ln w="15875">
            <a:solidFill>
              <a:srgbClr val="8C8C8C"/>
            </a:solidFill>
            <a:tailEnd type="triangle"/>
          </a:ln>
        </p:spPr>
        <p:style>
          <a:lnRef idx="2">
            <a:schemeClr val="accent1"/>
          </a:lnRef>
          <a:fillRef idx="0">
            <a:schemeClr val="accent1"/>
          </a:fillRef>
          <a:effectRef idx="1">
            <a:schemeClr val="accent1"/>
          </a:effectRef>
          <a:fontRef idx="minor">
            <a:schemeClr val="tx1"/>
          </a:fontRef>
        </p:style>
      </p:cxnSp>
      <p:sp>
        <p:nvSpPr>
          <p:cNvPr id="53" name="Rounded Rectangle 52"/>
          <p:cNvSpPr/>
          <p:nvPr/>
        </p:nvSpPr>
        <p:spPr>
          <a:xfrm>
            <a:off x="4374000" y="1673999"/>
            <a:ext cx="1026000" cy="45000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1000" b="1">
                <a:solidFill>
                  <a:srgbClr val="333333"/>
                </a:solidFill>
                <a:latin typeface="メイリオ"/>
                <a:ea typeface="メイリオ"/>
                <a:cs typeface="メイリオ"/>
              </a:rPr>
              <a:t>求人紹介</a:t>
            </a:r>
          </a:p>
        </p:txBody>
      </p:sp>
      <p:cxnSp>
        <p:nvCxnSpPr>
          <p:cNvPr id="54" name="Connector 53"/>
          <p:cNvCxnSpPr/>
          <p:nvPr/>
        </p:nvCxnSpPr>
        <p:spPr>
          <a:xfrm>
            <a:off x="5407200" y="1897199"/>
            <a:ext cx="111600" cy="0"/>
          </a:xfrm>
          <a:prstGeom prst="line">
            <a:avLst/>
          </a:prstGeom>
          <a:ln w="15875">
            <a:solidFill>
              <a:srgbClr val="8C8C8C"/>
            </a:solidFill>
            <a:tailEnd type="triangle"/>
          </a:ln>
        </p:spPr>
        <p:style>
          <a:lnRef idx="2">
            <a:schemeClr val="accent1"/>
          </a:lnRef>
          <a:fillRef idx="0">
            <a:schemeClr val="accent1"/>
          </a:fillRef>
          <a:effectRef idx="1">
            <a:schemeClr val="accent1"/>
          </a:effectRef>
          <a:fontRef idx="minor">
            <a:schemeClr val="tx1"/>
          </a:fontRef>
        </p:style>
      </p:cxnSp>
      <p:sp>
        <p:nvSpPr>
          <p:cNvPr id="55" name="Rounded Rectangle 54"/>
          <p:cNvSpPr/>
          <p:nvPr/>
        </p:nvSpPr>
        <p:spPr>
          <a:xfrm>
            <a:off x="5526000" y="1673999"/>
            <a:ext cx="1026000" cy="45000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1000" b="1">
                <a:solidFill>
                  <a:srgbClr val="333333"/>
                </a:solidFill>
                <a:latin typeface="メイリオ"/>
                <a:ea typeface="メイリオ"/>
                <a:cs typeface="メイリオ"/>
              </a:rPr>
              <a:t>内定・就業</a:t>
            </a:r>
          </a:p>
        </p:txBody>
      </p:sp>
      <p:sp>
        <p:nvSpPr>
          <p:cNvPr id="56" name="Rectangle 55"/>
          <p:cNvSpPr/>
          <p:nvPr/>
        </p:nvSpPr>
        <p:spPr>
          <a:xfrm>
            <a:off x="2070000" y="2196000"/>
            <a:ext cx="4464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1600" bIns="21600"/>
          <a:lstStyle/>
          <a:p>
            <a:pPr algn="l"/>
            <a:r>
              <a:rPr sz="1050" b="0">
                <a:solidFill>
                  <a:srgbClr val="333333"/>
                </a:solidFill>
                <a:latin typeface="メイリオ"/>
                <a:ea typeface="メイリオ"/>
                <a:cs typeface="メイリオ"/>
              </a:rPr>
              <a:t>友だち化を早く済ませ、休眠層に再アプローチできる</a:t>
            </a:r>
          </a:p>
        </p:txBody>
      </p:sp>
      <p:sp>
        <p:nvSpPr>
          <p:cNvPr id="57" name="Rounded Rectangle 56"/>
          <p:cNvSpPr/>
          <p:nvPr/>
        </p:nvSpPr>
        <p:spPr>
          <a:xfrm>
            <a:off x="6750000" y="1655999"/>
            <a:ext cx="2628000" cy="1062000"/>
          </a:xfrm>
          <a:prstGeom prst="roundRect">
            <a:avLst>
              <a:gd name="adj" fmla="val 8000"/>
            </a:avLst>
          </a:prstGeom>
          <a:solidFill>
            <a:srgbClr val="DDEB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950" b="1">
                <a:solidFill>
                  <a:srgbClr val="7F7F7F"/>
                </a:solidFill>
                <a:latin typeface="メイリオ"/>
                <a:ea typeface="メイリオ"/>
                <a:cs typeface="メイリオ"/>
              </a:rPr>
              <a:t>チェングロウスでは</a:t>
            </a:r>
          </a:p>
          <a:p>
            <a:pPr algn="ctr"/>
            <a:r>
              <a:rPr sz="1050" b="1">
                <a:solidFill>
                  <a:srgbClr val="1F285A"/>
                </a:solidFill>
                <a:latin typeface="メイリオ"/>
                <a:ea typeface="メイリオ"/>
                <a:cs typeface="メイリオ"/>
              </a:rPr>
              <a:t>求人応募の完了画面からLINEへ（サンクスLINE誘導）</a:t>
            </a:r>
          </a:p>
        </p:txBody>
      </p:sp>
      <p:sp>
        <p:nvSpPr>
          <p:cNvPr id="58" name="Rounded Rectangle 57"/>
          <p:cNvSpPr/>
          <p:nvPr/>
        </p:nvSpPr>
        <p:spPr>
          <a:xfrm>
            <a:off x="432000" y="2916000"/>
            <a:ext cx="9043200" cy="1278000"/>
          </a:xfrm>
          <a:prstGeom prst="roundRect">
            <a:avLst>
              <a:gd name="adj" fmla="val 8000"/>
            </a:avLst>
          </a:prstGeom>
          <a:solidFill>
            <a:srgbClr val="FFFFFF"/>
          </a:solidFill>
          <a:ln w="31750">
            <a:solidFill>
              <a:srgbClr val="06C7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p>
        </p:txBody>
      </p:sp>
      <p:sp>
        <p:nvSpPr>
          <p:cNvPr id="59" name="Rounded Rectangle 58"/>
          <p:cNvSpPr/>
          <p:nvPr/>
        </p:nvSpPr>
        <p:spPr>
          <a:xfrm>
            <a:off x="522000" y="3024000"/>
            <a:ext cx="1440000" cy="106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1100" b="1">
                <a:solidFill>
                  <a:srgbClr val="FFFFFF"/>
                </a:solidFill>
                <a:latin typeface="メイリオ"/>
                <a:ea typeface="メイリオ"/>
                <a:cs typeface="メイリオ"/>
              </a:rPr>
              <a:t>パターンB ★本命</a:t>
            </a:r>
          </a:p>
          <a:p>
            <a:pPr algn="ctr"/>
            <a:r>
              <a:rPr sz="1300" b="1">
                <a:solidFill>
                  <a:srgbClr val="FFFFFF"/>
                </a:solidFill>
                <a:latin typeface="メイリオ"/>
                <a:ea typeface="メイリオ"/>
                <a:cs typeface="メイリオ"/>
              </a:rPr>
              <a:t>日程調整型</a:t>
            </a:r>
          </a:p>
        </p:txBody>
      </p:sp>
      <p:sp>
        <p:nvSpPr>
          <p:cNvPr id="60" name="Rounded Rectangle 59"/>
          <p:cNvSpPr/>
          <p:nvPr/>
        </p:nvSpPr>
        <p:spPr>
          <a:xfrm>
            <a:off x="2070000" y="3041999"/>
            <a:ext cx="1026000" cy="450000"/>
          </a:xfrm>
          <a:prstGeom prst="roundRect">
            <a:avLst>
              <a:gd name="adj" fmla="val 8000"/>
            </a:avLst>
          </a:prstGeom>
          <a:solidFill>
            <a:srgbClr val="FFE6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1000" b="1">
                <a:solidFill>
                  <a:srgbClr val="333333"/>
                </a:solidFill>
                <a:latin typeface="メイリオ"/>
                <a:ea typeface="メイリオ"/>
                <a:cs typeface="メイリオ"/>
              </a:rPr>
              <a:t>30秒診断（LINE）</a:t>
            </a:r>
          </a:p>
        </p:txBody>
      </p:sp>
      <p:cxnSp>
        <p:nvCxnSpPr>
          <p:cNvPr id="61" name="Connector 60"/>
          <p:cNvCxnSpPr/>
          <p:nvPr/>
        </p:nvCxnSpPr>
        <p:spPr>
          <a:xfrm>
            <a:off x="3103199" y="3265200"/>
            <a:ext cx="111601" cy="0"/>
          </a:xfrm>
          <a:prstGeom prst="line">
            <a:avLst/>
          </a:prstGeom>
          <a:ln w="15875">
            <a:solidFill>
              <a:srgbClr val="8C8C8C"/>
            </a:solidFill>
            <a:tailEnd type="triangle"/>
          </a:ln>
        </p:spPr>
        <p:style>
          <a:lnRef idx="2">
            <a:schemeClr val="accent1"/>
          </a:lnRef>
          <a:fillRef idx="0">
            <a:schemeClr val="accent1"/>
          </a:fillRef>
          <a:effectRef idx="1">
            <a:schemeClr val="accent1"/>
          </a:effectRef>
          <a:fontRef idx="minor">
            <a:schemeClr val="tx1"/>
          </a:fontRef>
        </p:style>
      </p:cxnSp>
      <p:sp>
        <p:nvSpPr>
          <p:cNvPr id="62" name="Rounded Rectangle 61"/>
          <p:cNvSpPr/>
          <p:nvPr/>
        </p:nvSpPr>
        <p:spPr>
          <a:xfrm>
            <a:off x="3221999" y="3041999"/>
            <a:ext cx="1026000" cy="450000"/>
          </a:xfrm>
          <a:prstGeom prst="roundRect">
            <a:avLst>
              <a:gd name="adj" fmla="val 8000"/>
            </a:avLst>
          </a:prstGeom>
          <a:solidFill>
            <a:srgbClr val="FFE6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1000" b="1">
                <a:solidFill>
                  <a:srgbClr val="333333"/>
                </a:solidFill>
                <a:latin typeface="メイリオ"/>
                <a:ea typeface="メイリオ"/>
                <a:cs typeface="メイリオ"/>
              </a:rPr>
              <a:t>LINEで面談予約</a:t>
            </a:r>
          </a:p>
        </p:txBody>
      </p:sp>
      <p:cxnSp>
        <p:nvCxnSpPr>
          <p:cNvPr id="63" name="Connector 62"/>
          <p:cNvCxnSpPr/>
          <p:nvPr/>
        </p:nvCxnSpPr>
        <p:spPr>
          <a:xfrm>
            <a:off x="4255199" y="3265200"/>
            <a:ext cx="111601" cy="0"/>
          </a:xfrm>
          <a:prstGeom prst="line">
            <a:avLst/>
          </a:prstGeom>
          <a:ln w="15875">
            <a:solidFill>
              <a:srgbClr val="8C8C8C"/>
            </a:solidFill>
            <a:tailEnd type="triangle"/>
          </a:ln>
        </p:spPr>
        <p:style>
          <a:lnRef idx="2">
            <a:schemeClr val="accent1"/>
          </a:lnRef>
          <a:fillRef idx="0">
            <a:schemeClr val="accent1"/>
          </a:fillRef>
          <a:effectRef idx="1">
            <a:schemeClr val="accent1"/>
          </a:effectRef>
          <a:fontRef idx="minor">
            <a:schemeClr val="tx1"/>
          </a:fontRef>
        </p:style>
      </p:cxnSp>
      <p:sp>
        <p:nvSpPr>
          <p:cNvPr id="64" name="Rounded Rectangle 63"/>
          <p:cNvSpPr/>
          <p:nvPr/>
        </p:nvSpPr>
        <p:spPr>
          <a:xfrm>
            <a:off x="4374000" y="3041999"/>
            <a:ext cx="1026000" cy="45000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1000" b="1">
                <a:solidFill>
                  <a:srgbClr val="333333"/>
                </a:solidFill>
                <a:latin typeface="メイリオ"/>
                <a:ea typeface="メイリオ"/>
                <a:cs typeface="メイリオ"/>
              </a:rPr>
              <a:t>面談・求人紹介</a:t>
            </a:r>
          </a:p>
        </p:txBody>
      </p:sp>
      <p:cxnSp>
        <p:nvCxnSpPr>
          <p:cNvPr id="65" name="Connector 64"/>
          <p:cNvCxnSpPr/>
          <p:nvPr/>
        </p:nvCxnSpPr>
        <p:spPr>
          <a:xfrm>
            <a:off x="5407200" y="3265200"/>
            <a:ext cx="111600" cy="0"/>
          </a:xfrm>
          <a:prstGeom prst="line">
            <a:avLst/>
          </a:prstGeom>
          <a:ln w="15875">
            <a:solidFill>
              <a:srgbClr val="8C8C8C"/>
            </a:solidFill>
            <a:tailEnd type="triangle"/>
          </a:ln>
        </p:spPr>
        <p:style>
          <a:lnRef idx="2">
            <a:schemeClr val="accent1"/>
          </a:lnRef>
          <a:fillRef idx="0">
            <a:schemeClr val="accent1"/>
          </a:fillRef>
          <a:effectRef idx="1">
            <a:schemeClr val="accent1"/>
          </a:effectRef>
          <a:fontRef idx="minor">
            <a:schemeClr val="tx1"/>
          </a:fontRef>
        </p:style>
      </p:cxnSp>
      <p:sp>
        <p:nvSpPr>
          <p:cNvPr id="66" name="Rounded Rectangle 65"/>
          <p:cNvSpPr/>
          <p:nvPr/>
        </p:nvSpPr>
        <p:spPr>
          <a:xfrm>
            <a:off x="5526000" y="3041999"/>
            <a:ext cx="1026000" cy="45000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1000" b="1">
                <a:solidFill>
                  <a:srgbClr val="333333"/>
                </a:solidFill>
                <a:latin typeface="メイリオ"/>
                <a:ea typeface="メイリオ"/>
                <a:cs typeface="メイリオ"/>
              </a:rPr>
              <a:t>内定・就業</a:t>
            </a:r>
          </a:p>
        </p:txBody>
      </p:sp>
      <p:sp>
        <p:nvSpPr>
          <p:cNvPr id="67" name="Rectangle 66"/>
          <p:cNvSpPr/>
          <p:nvPr/>
        </p:nvSpPr>
        <p:spPr>
          <a:xfrm>
            <a:off x="2070000" y="3564000"/>
            <a:ext cx="4464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1600" bIns="21600"/>
          <a:lstStyle/>
          <a:p>
            <a:pPr algn="l"/>
            <a:r>
              <a:rPr sz="1050" b="0">
                <a:solidFill>
                  <a:srgbClr val="333333"/>
                </a:solidFill>
                <a:latin typeface="メイリオ"/>
                <a:ea typeface="メイリオ"/>
                <a:cs typeface="メイリオ"/>
              </a:rPr>
              <a:t>電話なしで面談まで進める。在職中の整備士に合う</a:t>
            </a:r>
          </a:p>
        </p:txBody>
      </p:sp>
      <p:sp>
        <p:nvSpPr>
          <p:cNvPr id="68" name="Rounded Rectangle 67"/>
          <p:cNvSpPr/>
          <p:nvPr/>
        </p:nvSpPr>
        <p:spPr>
          <a:xfrm>
            <a:off x="6750000" y="3024000"/>
            <a:ext cx="2628000" cy="1062000"/>
          </a:xfrm>
          <a:prstGeom prst="roundRect">
            <a:avLst>
              <a:gd name="adj" fmla="val 8000"/>
            </a:avLst>
          </a:prstGeom>
          <a:solidFill>
            <a:srgbClr val="E2F0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950" b="1">
                <a:solidFill>
                  <a:srgbClr val="7F7F7F"/>
                </a:solidFill>
                <a:latin typeface="メイリオ"/>
                <a:ea typeface="メイリオ"/>
                <a:cs typeface="メイリオ"/>
              </a:rPr>
              <a:t>チェングロウスでは</a:t>
            </a:r>
          </a:p>
          <a:p>
            <a:pPr algn="ctr"/>
            <a:r>
              <a:rPr sz="1050" b="1">
                <a:solidFill>
                  <a:srgbClr val="1F285A"/>
                </a:solidFill>
                <a:latin typeface="メイリオ"/>
                <a:ea typeface="メイリオ"/>
                <a:cs typeface="メイリオ"/>
              </a:rPr>
              <a:t>本提案の主軸（3日目・14日目に面談をご案内）</a:t>
            </a:r>
          </a:p>
        </p:txBody>
      </p:sp>
      <p:sp>
        <p:nvSpPr>
          <p:cNvPr id="69" name="Rounded Rectangle 68"/>
          <p:cNvSpPr/>
          <p:nvPr/>
        </p:nvSpPr>
        <p:spPr>
          <a:xfrm>
            <a:off x="432000" y="4283999"/>
            <a:ext cx="9043200" cy="1278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p>
        </p:txBody>
      </p:sp>
      <p:sp>
        <p:nvSpPr>
          <p:cNvPr id="70" name="Rounded Rectangle 69"/>
          <p:cNvSpPr/>
          <p:nvPr/>
        </p:nvSpPr>
        <p:spPr>
          <a:xfrm>
            <a:off x="522000" y="4392000"/>
            <a:ext cx="1440000" cy="1062000"/>
          </a:xfrm>
          <a:prstGeom prst="roundRect">
            <a:avLst>
              <a:gd name="adj" fmla="val 8000"/>
            </a:avLst>
          </a:prstGeom>
          <a:solidFill>
            <a:srgbClr val="5A63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1100" b="1">
                <a:solidFill>
                  <a:srgbClr val="FFFFFF"/>
                </a:solidFill>
                <a:latin typeface="メイリオ"/>
                <a:ea typeface="メイリオ"/>
                <a:cs typeface="メイリオ"/>
              </a:rPr>
              <a:t>パターンC</a:t>
            </a:r>
          </a:p>
          <a:p>
            <a:pPr algn="ctr"/>
            <a:r>
              <a:rPr sz="1300" b="1">
                <a:solidFill>
                  <a:srgbClr val="FFFFFF"/>
                </a:solidFill>
                <a:latin typeface="メイリオ"/>
                <a:ea typeface="メイリオ"/>
                <a:cs typeface="メイリオ"/>
              </a:rPr>
              <a:t>LINE内完結型</a:t>
            </a:r>
          </a:p>
        </p:txBody>
      </p:sp>
      <p:sp>
        <p:nvSpPr>
          <p:cNvPr id="71" name="Rounded Rectangle 70"/>
          <p:cNvSpPr/>
          <p:nvPr/>
        </p:nvSpPr>
        <p:spPr>
          <a:xfrm>
            <a:off x="2070000" y="4409999"/>
            <a:ext cx="1026000" cy="45000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1000" b="1">
                <a:solidFill>
                  <a:srgbClr val="333333"/>
                </a:solidFill>
                <a:latin typeface="メイリオ"/>
                <a:ea typeface="メイリオ"/>
                <a:cs typeface="メイリオ"/>
              </a:rPr>
              <a:t>診断（LINE）</a:t>
            </a:r>
          </a:p>
        </p:txBody>
      </p:sp>
      <p:cxnSp>
        <p:nvCxnSpPr>
          <p:cNvPr id="72" name="Connector 71"/>
          <p:cNvCxnSpPr/>
          <p:nvPr/>
        </p:nvCxnSpPr>
        <p:spPr>
          <a:xfrm>
            <a:off x="3103199" y="4633200"/>
            <a:ext cx="111601" cy="0"/>
          </a:xfrm>
          <a:prstGeom prst="line">
            <a:avLst/>
          </a:prstGeom>
          <a:ln w="15875">
            <a:solidFill>
              <a:srgbClr val="8C8C8C"/>
            </a:solidFill>
            <a:tailEnd type="triangle"/>
          </a:ln>
        </p:spPr>
        <p:style>
          <a:lnRef idx="2">
            <a:schemeClr val="accent1"/>
          </a:lnRef>
          <a:fillRef idx="0">
            <a:schemeClr val="accent1"/>
          </a:fillRef>
          <a:effectRef idx="1">
            <a:schemeClr val="accent1"/>
          </a:effectRef>
          <a:fontRef idx="minor">
            <a:schemeClr val="tx1"/>
          </a:fontRef>
        </p:style>
      </p:cxnSp>
      <p:sp>
        <p:nvSpPr>
          <p:cNvPr id="73" name="Rounded Rectangle 72"/>
          <p:cNvSpPr/>
          <p:nvPr/>
        </p:nvSpPr>
        <p:spPr>
          <a:xfrm>
            <a:off x="3221999" y="4409999"/>
            <a:ext cx="1026000" cy="45000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1000" b="1">
                <a:solidFill>
                  <a:srgbClr val="333333"/>
                </a:solidFill>
                <a:latin typeface="メイリオ"/>
                <a:ea typeface="メイリオ"/>
                <a:cs typeface="メイリオ"/>
              </a:rPr>
              <a:t>LINE内で求人紹介</a:t>
            </a:r>
          </a:p>
        </p:txBody>
      </p:sp>
      <p:cxnSp>
        <p:nvCxnSpPr>
          <p:cNvPr id="74" name="Connector 73"/>
          <p:cNvCxnSpPr/>
          <p:nvPr/>
        </p:nvCxnSpPr>
        <p:spPr>
          <a:xfrm>
            <a:off x="4255199" y="4633200"/>
            <a:ext cx="111601" cy="0"/>
          </a:xfrm>
          <a:prstGeom prst="line">
            <a:avLst/>
          </a:prstGeom>
          <a:ln w="15875">
            <a:solidFill>
              <a:srgbClr val="8C8C8C"/>
            </a:solidFill>
            <a:tailEnd type="triangle"/>
          </a:ln>
        </p:spPr>
        <p:style>
          <a:lnRef idx="2">
            <a:schemeClr val="accent1"/>
          </a:lnRef>
          <a:fillRef idx="0">
            <a:schemeClr val="accent1"/>
          </a:fillRef>
          <a:effectRef idx="1">
            <a:schemeClr val="accent1"/>
          </a:effectRef>
          <a:fontRef idx="minor">
            <a:schemeClr val="tx1"/>
          </a:fontRef>
        </p:style>
      </p:cxnSp>
      <p:sp>
        <p:nvSpPr>
          <p:cNvPr id="75" name="Rounded Rectangle 74"/>
          <p:cNvSpPr/>
          <p:nvPr/>
        </p:nvSpPr>
        <p:spPr>
          <a:xfrm>
            <a:off x="4374000" y="4409999"/>
            <a:ext cx="1026000" cy="45000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1000" b="1">
                <a:solidFill>
                  <a:srgbClr val="333333"/>
                </a:solidFill>
                <a:latin typeface="メイリオ"/>
                <a:ea typeface="メイリオ"/>
                <a:cs typeface="メイリオ"/>
              </a:rPr>
              <a:t>興味があれば面談</a:t>
            </a:r>
          </a:p>
        </p:txBody>
      </p:sp>
      <p:cxnSp>
        <p:nvCxnSpPr>
          <p:cNvPr id="76" name="Connector 75"/>
          <p:cNvCxnSpPr/>
          <p:nvPr/>
        </p:nvCxnSpPr>
        <p:spPr>
          <a:xfrm>
            <a:off x="5407200" y="4633200"/>
            <a:ext cx="111600" cy="0"/>
          </a:xfrm>
          <a:prstGeom prst="line">
            <a:avLst/>
          </a:prstGeom>
          <a:ln w="15875">
            <a:solidFill>
              <a:srgbClr val="8C8C8C"/>
            </a:solidFill>
            <a:tailEnd type="triangle"/>
          </a:ln>
        </p:spPr>
        <p:style>
          <a:lnRef idx="2">
            <a:schemeClr val="accent1"/>
          </a:lnRef>
          <a:fillRef idx="0">
            <a:schemeClr val="accent1"/>
          </a:fillRef>
          <a:effectRef idx="1">
            <a:schemeClr val="accent1"/>
          </a:effectRef>
          <a:fontRef idx="minor">
            <a:schemeClr val="tx1"/>
          </a:fontRef>
        </p:style>
      </p:cxnSp>
      <p:sp>
        <p:nvSpPr>
          <p:cNvPr id="77" name="Rounded Rectangle 76"/>
          <p:cNvSpPr/>
          <p:nvPr/>
        </p:nvSpPr>
        <p:spPr>
          <a:xfrm>
            <a:off x="5526000" y="4409999"/>
            <a:ext cx="1026000" cy="45000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1000" b="1">
                <a:solidFill>
                  <a:srgbClr val="333333"/>
                </a:solidFill>
                <a:latin typeface="メイリオ"/>
                <a:ea typeface="メイリオ"/>
                <a:cs typeface="メイリオ"/>
              </a:rPr>
              <a:t>内定・就業</a:t>
            </a:r>
          </a:p>
        </p:txBody>
      </p:sp>
      <p:sp>
        <p:nvSpPr>
          <p:cNvPr id="78" name="Rectangle 77"/>
          <p:cNvSpPr/>
          <p:nvPr/>
        </p:nvSpPr>
        <p:spPr>
          <a:xfrm>
            <a:off x="2070000" y="4932000"/>
            <a:ext cx="4464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1600" bIns="21600"/>
          <a:lstStyle/>
          <a:p>
            <a:pPr algn="l"/>
            <a:r>
              <a:rPr sz="1050" b="0">
                <a:solidFill>
                  <a:srgbClr val="333333"/>
                </a:solidFill>
                <a:latin typeface="メイリオ"/>
                <a:ea typeface="メイリオ"/>
                <a:cs typeface="メイリオ"/>
              </a:rPr>
              <a:t>人手を増やさずに、多くの友だちをさばける</a:t>
            </a:r>
          </a:p>
        </p:txBody>
      </p:sp>
      <p:sp>
        <p:nvSpPr>
          <p:cNvPr id="79" name="Rounded Rectangle 78"/>
          <p:cNvSpPr/>
          <p:nvPr/>
        </p:nvSpPr>
        <p:spPr>
          <a:xfrm>
            <a:off x="6750000" y="4392000"/>
            <a:ext cx="2628000" cy="1062000"/>
          </a:xfrm>
          <a:prstGeom prst="roundRect">
            <a:avLst>
              <a:gd name="adj" fmla="val 8000"/>
            </a:avLst>
          </a:prstGeom>
          <a:solidFill>
            <a:srgbClr val="DDEB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950" b="1">
                <a:solidFill>
                  <a:srgbClr val="7F7F7F"/>
                </a:solidFill>
                <a:latin typeface="メイリオ"/>
                <a:ea typeface="メイリオ"/>
                <a:cs typeface="メイリオ"/>
              </a:rPr>
              <a:t>チェングロウスでは</a:t>
            </a:r>
          </a:p>
          <a:p>
            <a:pPr algn="ctr"/>
            <a:r>
              <a:rPr sz="1050" b="1">
                <a:solidFill>
                  <a:srgbClr val="1F285A"/>
                </a:solidFill>
                <a:latin typeface="メイリオ"/>
                <a:ea typeface="メイリオ"/>
                <a:cs typeface="メイリオ"/>
              </a:rPr>
              <a:t>中長期（地域別の求人配信が育ってから）</a:t>
            </a:r>
          </a:p>
        </p:txBody>
      </p:sp>
      <p:sp>
        <p:nvSpPr>
          <p:cNvPr id="80" name="Rounded Rectangle 79"/>
          <p:cNvSpPr/>
          <p:nvPr/>
        </p:nvSpPr>
        <p:spPr>
          <a:xfrm>
            <a:off x="432000" y="5742000"/>
            <a:ext cx="9043200" cy="34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1300" b="1">
                <a:solidFill>
                  <a:srgbClr val="FFFFFF"/>
                </a:solidFill>
                <a:latin typeface="メイリオ"/>
                <a:ea typeface="メイリオ"/>
                <a:cs typeface="メイリオ"/>
              </a:rPr>
              <a:t>まずBで「電話なしで面談まで」をつくり、Aで応募者を、Cで友だち資産を広げる。</a:t>
            </a:r>
          </a:p>
        </p:txBody>
      </p:sp>
    </p:spTree>
    <p:extLst>
      <p:ext uri="{BB962C8B-B14F-4D97-AF65-F5344CB8AC3E}">
        <p14:creationId xmlns:p14="http://schemas.microsoft.com/office/powerpoint/2010/main" val="365182510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082CEA-3068-C260-29FA-52D10FA7F467}"/>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E11A65C8-17C8-D684-CB75-56D55121F86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52E0E886-3FF7-1177-80B0-EC2CDD9EFAAC}"/>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8B2265A6-2819-27E8-AA87-ACBFF2D49AD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要件定義</a:t>
            </a:r>
            <a:endParaRPr sz="1600" b="1" dirty="0">
              <a:solidFill>
                <a:srgbClr val="002060"/>
              </a:solidFill>
              <a:latin typeface="Meiryo"/>
              <a:ea typeface="Meiryo"/>
              <a:cs typeface="Meiryo"/>
              <a:sym typeface="Meiryo"/>
            </a:endParaRPr>
          </a:p>
        </p:txBody>
      </p:sp>
      <p:sp>
        <p:nvSpPr>
          <p:cNvPr id="25" name="二等辺三角形 24">
            <a:extLst>
              <a:ext uri="{FF2B5EF4-FFF2-40B4-BE49-F238E27FC236}">
                <a16:creationId xmlns:a16="http://schemas.microsoft.com/office/drawing/2014/main" id="{3FDFECE2-9923-BB50-13D2-3D4A9E65C558}"/>
              </a:ext>
            </a:extLst>
          </p:cNvPr>
          <p:cNvSpPr/>
          <p:nvPr/>
        </p:nvSpPr>
        <p:spPr>
          <a:xfrm rot="10800000">
            <a:off x="1013700" y="3167381"/>
            <a:ext cx="7965031" cy="486852"/>
          </a:xfrm>
          <a:prstGeom prst="triangle">
            <a:avLst>
              <a:gd name="adj" fmla="val 49365"/>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26" name="正方形/長方形 25">
            <a:extLst>
              <a:ext uri="{FF2B5EF4-FFF2-40B4-BE49-F238E27FC236}">
                <a16:creationId xmlns:a16="http://schemas.microsoft.com/office/drawing/2014/main" id="{C4E20CB5-EE4A-545E-031C-B0FF76AEE517}"/>
              </a:ext>
            </a:extLst>
          </p:cNvPr>
          <p:cNvSpPr/>
          <p:nvPr/>
        </p:nvSpPr>
        <p:spPr>
          <a:xfrm>
            <a:off x="503966" y="775227"/>
            <a:ext cx="8898070" cy="297590"/>
          </a:xfrm>
          <a:prstGeom prst="rect">
            <a:avLst/>
          </a:prstGeom>
          <a:solidFill>
            <a:schemeClr val="tx2">
              <a:lumMod val="75000"/>
            </a:schemeClr>
          </a:solidFill>
          <a:ln>
            <a:solidFill>
              <a:schemeClr val="tx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indent="173038"/>
            <a:r>
              <a:rPr lang="ja-JP" altLang="en-US" b="1" dirty="0">
                <a:effectLst/>
                <a:latin typeface="メイリオ" panose="020B0604030504040204" pitchFamily="50" charset="-128"/>
                <a:ea typeface="メイリオ" panose="020B0604030504040204" pitchFamily="50" charset="-128"/>
                <a:cs typeface="メイリオ" panose="020B0604030504040204" pitchFamily="50" charset="-128"/>
              </a:rPr>
              <a:t>プロモーション目的</a:t>
            </a:r>
          </a:p>
        </p:txBody>
      </p:sp>
      <p:sp>
        <p:nvSpPr>
          <p:cNvPr id="27" name="正方形/長方形 26">
            <a:extLst>
              <a:ext uri="{FF2B5EF4-FFF2-40B4-BE49-F238E27FC236}">
                <a16:creationId xmlns:a16="http://schemas.microsoft.com/office/drawing/2014/main" id="{A773DE68-F51A-B2B7-A85F-DDEF158DE1E8}"/>
              </a:ext>
            </a:extLst>
          </p:cNvPr>
          <p:cNvSpPr/>
          <p:nvPr/>
        </p:nvSpPr>
        <p:spPr>
          <a:xfrm>
            <a:off x="503967" y="1090870"/>
            <a:ext cx="8898070" cy="525365"/>
          </a:xfrm>
          <a:prstGeom prst="rect">
            <a:avLst/>
          </a:prstGeom>
          <a:noFill/>
          <a:ln>
            <a:solidFill>
              <a:schemeClr val="tx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24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24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の初期構築と効果の最大化</a:t>
            </a:r>
            <a:endParaRPr lang="en-US" altLang="ja-JP" sz="24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28" name="テキスト ボックス 4">
            <a:extLst>
              <a:ext uri="{FF2B5EF4-FFF2-40B4-BE49-F238E27FC236}">
                <a16:creationId xmlns:a16="http://schemas.microsoft.com/office/drawing/2014/main" id="{D82D8E99-CD5B-56FF-33CE-071E3712BDD6}"/>
              </a:ext>
            </a:extLst>
          </p:cNvPr>
          <p:cNvSpPr txBox="1"/>
          <p:nvPr/>
        </p:nvSpPr>
        <p:spPr>
          <a:xfrm>
            <a:off x="3893204" y="3204084"/>
            <a:ext cx="2236946" cy="369332"/>
          </a:xfrm>
          <a:prstGeom prst="rect">
            <a:avLst/>
          </a:prstGeom>
          <a:noFill/>
        </p:spPr>
        <p:txBody>
          <a:bodyPr wrap="square" rtlCol="0">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lang="ja-JP" altLang="en-US"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t>弊社からのご提案</a:t>
            </a:r>
            <a:endParaRPr kumimoji="1" lang="ja-JP" altLang="en-US"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30" name="正方形/長方形 29">
            <a:extLst>
              <a:ext uri="{FF2B5EF4-FFF2-40B4-BE49-F238E27FC236}">
                <a16:creationId xmlns:a16="http://schemas.microsoft.com/office/drawing/2014/main" id="{FAB8E792-C2AE-2097-2C3E-326F4730D6FF}"/>
              </a:ext>
            </a:extLst>
          </p:cNvPr>
          <p:cNvSpPr/>
          <p:nvPr/>
        </p:nvSpPr>
        <p:spPr>
          <a:xfrm>
            <a:off x="503965" y="3759311"/>
            <a:ext cx="8898070" cy="366112"/>
          </a:xfrm>
          <a:prstGeom prst="rect">
            <a:avLst/>
          </a:prstGeom>
          <a:solidFill>
            <a:schemeClr val="accent1">
              <a:lumMod val="20000"/>
              <a:lumOff val="80000"/>
            </a:schemeClr>
          </a:solidFill>
          <a:ln>
            <a:solidFill>
              <a:schemeClr val="accent1">
                <a:lumMod val="60000"/>
                <a:lumOff val="4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indent="173038"/>
            <a:r>
              <a:rPr lang="ja-JP" altLang="en-US" b="1" dirty="0">
                <a:solidFill>
                  <a:schemeClr val="accent1">
                    <a:lumMod val="75000"/>
                  </a:schemeClr>
                </a:solidFill>
                <a:effectLst/>
                <a:latin typeface="メイリオ" panose="020B0604030504040204" pitchFamily="50" charset="-128"/>
                <a:ea typeface="メイリオ" panose="020B0604030504040204" pitchFamily="50" charset="-128"/>
                <a:cs typeface="メイリオ" panose="020B0604030504040204" pitchFamily="50" charset="-128"/>
              </a:rPr>
              <a:t>手法</a:t>
            </a:r>
          </a:p>
        </p:txBody>
      </p:sp>
      <p:sp>
        <p:nvSpPr>
          <p:cNvPr id="32" name="正方形/長方形 31">
            <a:extLst>
              <a:ext uri="{FF2B5EF4-FFF2-40B4-BE49-F238E27FC236}">
                <a16:creationId xmlns:a16="http://schemas.microsoft.com/office/drawing/2014/main" id="{6CB99AAC-0BEA-E7FB-6909-1C7C68EDF323}"/>
              </a:ext>
            </a:extLst>
          </p:cNvPr>
          <p:cNvSpPr/>
          <p:nvPr/>
        </p:nvSpPr>
        <p:spPr>
          <a:xfrm>
            <a:off x="503965" y="4180114"/>
            <a:ext cx="8898070" cy="2285834"/>
          </a:xfrm>
          <a:prstGeom prst="rect">
            <a:avLst/>
          </a:prstGeom>
          <a:noFill/>
          <a:ln>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lang="ja-JP" altLang="en-US" sz="17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・豊富な弊社実績を活用した配信設計の構築</a:t>
            </a:r>
            <a:r>
              <a:rPr lang="en-US" altLang="ja-JP" sz="17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7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企画投稿</a:t>
            </a:r>
            <a:r>
              <a:rPr lang="en-US" altLang="ja-JP" sz="17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7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ステップ配信</a:t>
            </a:r>
            <a:r>
              <a:rPr lang="en-US" altLang="ja-JP" sz="17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p>
          <a:p>
            <a:r>
              <a:rPr lang="ja-JP" altLang="en-US" sz="16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5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弊社の豊富な実績や市場調査を活かし、最適なタイミングで最適なメッセージを送付し</a:t>
            </a:r>
            <a:r>
              <a:rPr lang="en-US" altLang="ja-JP" sz="15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CV</a:t>
            </a:r>
            <a:r>
              <a:rPr lang="ja-JP" altLang="en-US" sz="15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へ</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5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また、職種・年収コンテンツの展開でサービス理解度を引き上げ、来店意欲</a:t>
            </a:r>
            <a:r>
              <a:rPr lang="en-US" altLang="ja-JP" sz="15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UP</a:t>
            </a:r>
            <a:r>
              <a:rPr lang="ja-JP" altLang="en-US" sz="15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を狙う。</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endParaRPr lang="en-US" altLang="ja-JP" sz="7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7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・フェーズ毎に戦略を変えることで来店意欲の醸成</a:t>
            </a:r>
            <a:r>
              <a:rPr lang="en-US" altLang="ja-JP" sz="17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7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動線・セグメント設定</a:t>
            </a:r>
            <a:r>
              <a:rPr lang="en-US" altLang="ja-JP" sz="17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p>
          <a:p>
            <a:r>
              <a:rPr lang="ja-JP" altLang="en-US" sz="14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5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設定セグメント・ターゲティングを変化させ複数回違う訴求にて接触。</a:t>
            </a:r>
            <a:endParaRPr lang="en-US" altLang="ja-JP" sz="1400" dirty="0">
              <a:solidFill>
                <a:schemeClr val="tx2">
                  <a:lumMod val="75000"/>
                </a:schemeClr>
              </a:solidFill>
              <a:latin typeface="メイリオ" panose="020B0604030504040204" pitchFamily="50" charset="-128"/>
              <a:cs typeface="メイリオ" panose="020B0604030504040204" pitchFamily="50" charset="-128"/>
            </a:endParaRPr>
          </a:p>
          <a:p>
            <a:endParaRPr lang="en-US" altLang="ja-JP" sz="7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7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・売上計測環境の整備及び</a:t>
            </a:r>
            <a:r>
              <a:rPr lang="en-US" altLang="ja-JP" sz="1700" b="1" dirty="0" err="1">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GoogleAnalytics</a:t>
            </a:r>
            <a:r>
              <a:rPr lang="ja-JP" altLang="en-US" sz="17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の整備</a:t>
            </a:r>
            <a:endParaRPr lang="ja-JP" altLang="en-US" sz="14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5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タグを整備することで</a:t>
            </a:r>
            <a:r>
              <a:rPr lang="en-US" altLang="ja-JP" sz="15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5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経由の成果可視化を実行。</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5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企画・動線ごとに成果を可視化し、訴求テストなどを実施しながら効率化を図る。</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33" name="正方形/長方形 32">
            <a:extLst>
              <a:ext uri="{FF2B5EF4-FFF2-40B4-BE49-F238E27FC236}">
                <a16:creationId xmlns:a16="http://schemas.microsoft.com/office/drawing/2014/main" id="{ADCEEB55-8D79-5D37-18D6-691241A3FC15}"/>
              </a:ext>
            </a:extLst>
          </p:cNvPr>
          <p:cNvSpPr/>
          <p:nvPr/>
        </p:nvSpPr>
        <p:spPr>
          <a:xfrm>
            <a:off x="503965" y="1675570"/>
            <a:ext cx="8898070" cy="386003"/>
          </a:xfrm>
          <a:prstGeom prst="rect">
            <a:avLst/>
          </a:prstGeom>
          <a:solidFill>
            <a:schemeClr val="tx2"/>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indent="173038"/>
            <a:r>
              <a:rPr lang="ja-JP" altLang="en-US" b="1" dirty="0">
                <a:effectLst/>
                <a:latin typeface="メイリオ" panose="020B0604030504040204" pitchFamily="50" charset="-128"/>
                <a:ea typeface="メイリオ" panose="020B0604030504040204" pitchFamily="50" charset="-128"/>
                <a:cs typeface="メイリオ" panose="020B0604030504040204" pitchFamily="50" charset="-128"/>
              </a:rPr>
              <a:t>配信目標</a:t>
            </a:r>
          </a:p>
        </p:txBody>
      </p:sp>
      <p:sp>
        <p:nvSpPr>
          <p:cNvPr id="34" name="正方形/長方形 33">
            <a:extLst>
              <a:ext uri="{FF2B5EF4-FFF2-40B4-BE49-F238E27FC236}">
                <a16:creationId xmlns:a16="http://schemas.microsoft.com/office/drawing/2014/main" id="{36696439-35BA-93A5-530C-51E6DC29272E}"/>
              </a:ext>
            </a:extLst>
          </p:cNvPr>
          <p:cNvSpPr/>
          <p:nvPr/>
        </p:nvSpPr>
        <p:spPr>
          <a:xfrm>
            <a:off x="503965" y="2077535"/>
            <a:ext cx="8898070" cy="1021153"/>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①離脱ユーザーの再育成（再アプローチ）による</a:t>
            </a:r>
            <a:r>
              <a:rPr lang="en-US" altLang="ja-JP"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CV</a:t>
            </a:r>
            <a:r>
              <a:rPr lang="ja-JP" altLang="en-US"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数増加 </a:t>
            </a:r>
            <a:endParaRPr lang="en-US" altLang="ja-JP"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endParaRPr>
          </a:p>
          <a:p>
            <a:pPr algn="ctr"/>
            <a:r>
              <a:rPr lang="ja-JP" altLang="en-US" sz="20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②応募に至らない検討ユーザーの面談化 → 就業サポート</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en-US" altLang="ja-JP" sz="12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中長期施策として展開予定</a:t>
            </a:r>
            <a:endParaRPr lang="en-US" altLang="ja-JP" sz="20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115134335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CDCB94-34C8-7DB0-D6CB-991D39D9B9D2}"/>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2D028149-DEFF-22C6-CAE7-C46667CD5B1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3B163438-09F4-A453-CFBB-24C6CF88C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7AF73B81-5AB2-69AD-0B6B-5E5125231533}"/>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想定の費用対効果</a:t>
            </a:r>
            <a:endParaRPr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6D3B98F3-4025-AFCB-8240-F44980ECB13F}"/>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869BC935-5DB9-4560-B356-B396B9360386}"/>
              </a:ext>
            </a:extLst>
          </p:cNvPr>
          <p:cNvSpPr/>
          <p:nvPr/>
        </p:nvSpPr>
        <p:spPr>
          <a:xfrm>
            <a:off x="261257" y="1672045"/>
            <a:ext cx="2899954" cy="409303"/>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chemeClr val="bg1"/>
                </a:solidFill>
                <a:latin typeface="メイリオ" panose="020B0604030504040204" pitchFamily="50" charset="-128"/>
                <a:ea typeface="メイリオ" panose="020B0604030504040204" pitchFamily="50" charset="-128"/>
              </a:rPr>
              <a:t>初期</a:t>
            </a:r>
          </a:p>
        </p:txBody>
      </p:sp>
      <p:sp>
        <p:nvSpPr>
          <p:cNvPr id="7" name="正方形/長方形 6">
            <a:extLst>
              <a:ext uri="{FF2B5EF4-FFF2-40B4-BE49-F238E27FC236}">
                <a16:creationId xmlns:a16="http://schemas.microsoft.com/office/drawing/2014/main" id="{7880C836-A2BC-2FC7-3468-9B9075E279C9}"/>
              </a:ext>
            </a:extLst>
          </p:cNvPr>
          <p:cNvSpPr/>
          <p:nvPr/>
        </p:nvSpPr>
        <p:spPr>
          <a:xfrm>
            <a:off x="3337560" y="1672045"/>
            <a:ext cx="2899954" cy="409303"/>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chemeClr val="bg1"/>
                </a:solidFill>
                <a:latin typeface="メイリオ" panose="020B0604030504040204" pitchFamily="50" charset="-128"/>
                <a:ea typeface="メイリオ" panose="020B0604030504040204" pitchFamily="50" charset="-128"/>
              </a:rPr>
              <a:t>月次</a:t>
            </a:r>
          </a:p>
        </p:txBody>
      </p:sp>
      <p:sp>
        <p:nvSpPr>
          <p:cNvPr id="8" name="正方形/長方形 7">
            <a:extLst>
              <a:ext uri="{FF2B5EF4-FFF2-40B4-BE49-F238E27FC236}">
                <a16:creationId xmlns:a16="http://schemas.microsoft.com/office/drawing/2014/main" id="{01B38E14-DD7E-D8D3-B41B-B992885905CB}"/>
              </a:ext>
            </a:extLst>
          </p:cNvPr>
          <p:cNvSpPr/>
          <p:nvPr/>
        </p:nvSpPr>
        <p:spPr>
          <a:xfrm>
            <a:off x="261257" y="2158065"/>
            <a:ext cx="2899954" cy="90735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solidFill>
                  <a:schemeClr val="tx1"/>
                </a:solidFill>
                <a:latin typeface="メイリオ" panose="020B0604030504040204" pitchFamily="50" charset="-128"/>
                <a:ea typeface="メイリオ" panose="020B0604030504040204" pitchFamily="50" charset="-128"/>
              </a:rPr>
              <a:t>¥245,000</a:t>
            </a:r>
            <a:endParaRPr kumimoji="1" lang="ja-JP" altLang="en-US" sz="1400" dirty="0">
              <a:solidFill>
                <a:schemeClr val="tx1"/>
              </a:solidFill>
              <a:latin typeface="メイリオ" panose="020B0604030504040204" pitchFamily="50" charset="-128"/>
              <a:ea typeface="メイリオ" panose="020B0604030504040204" pitchFamily="50" charset="-128"/>
            </a:endParaRPr>
          </a:p>
          <a:p>
            <a:pPr algn="ctr"/>
            <a:r>
              <a:rPr kumimoji="1" lang="en-US" altLang="ja-JP" sz="900" b="0" dirty="0">
                <a:solidFill>
                  <a:schemeClr val="tx1"/>
                </a:solidFill>
                <a:latin typeface="メイリオ" panose="020B0604030504040204" pitchFamily="50" charset="-128"/>
                <a:ea typeface="メイリオ" panose="020B0604030504040204" pitchFamily="50" charset="-128"/>
              </a:rPr>
              <a:t>構築20万＋離脱防止1.5万＋アカウント3万</a:t>
            </a:r>
            <a:endParaRPr kumimoji="1" lang="ja-JP" altLang="en-US" sz="1400" dirty="0">
              <a:solidFill>
                <a:schemeClr val="tx1"/>
              </a:solidFill>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6D37009A-88DD-861E-09A2-546B9A58E210}"/>
              </a:ext>
            </a:extLst>
          </p:cNvPr>
          <p:cNvSpPr/>
          <p:nvPr/>
        </p:nvSpPr>
        <p:spPr>
          <a:xfrm>
            <a:off x="3337560" y="2158065"/>
            <a:ext cx="2899954" cy="90735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tx1"/>
                </a:solidFill>
                <a:latin typeface="メイリオ" panose="020B0604030504040204" pitchFamily="50" charset="-128"/>
                <a:ea typeface="メイリオ" panose="020B0604030504040204" pitchFamily="50" charset="-128"/>
              </a:rPr>
              <a:t>コンサル費 ¥150,000</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200" dirty="0">
                <a:solidFill>
                  <a:schemeClr val="tx1"/>
                </a:solidFill>
                <a:latin typeface="メイリオ" panose="020B0604030504040204" pitchFamily="50" charset="-128"/>
                <a:ea typeface="メイリオ" panose="020B0604030504040204" pitchFamily="50" charset="-128"/>
              </a:rPr>
              <a:t>＋ 離脱防止 ¥30,000</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200" dirty="0">
                <a:solidFill>
                  <a:schemeClr val="tx1"/>
                </a:solidFill>
                <a:latin typeface="メイリオ" panose="020B0604030504040204" pitchFamily="50" charset="-128"/>
                <a:ea typeface="メイリオ" panose="020B0604030504040204" pitchFamily="50" charset="-128"/>
              </a:rPr>
              <a:t>＋ アカウント費 ¥5,000〜</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5" name="矢印: 右 14">
            <a:extLst>
              <a:ext uri="{FF2B5EF4-FFF2-40B4-BE49-F238E27FC236}">
                <a16:creationId xmlns:a16="http://schemas.microsoft.com/office/drawing/2014/main" id="{FC496752-169B-38CE-883D-84ADB306D799}"/>
              </a:ext>
            </a:extLst>
          </p:cNvPr>
          <p:cNvSpPr/>
          <p:nvPr/>
        </p:nvSpPr>
        <p:spPr>
          <a:xfrm>
            <a:off x="6379031" y="2281645"/>
            <a:ext cx="365760" cy="2795449"/>
          </a:xfrm>
          <a:prstGeom prst="right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正方形/長方形 16">
            <a:extLst>
              <a:ext uri="{FF2B5EF4-FFF2-40B4-BE49-F238E27FC236}">
                <a16:creationId xmlns:a16="http://schemas.microsoft.com/office/drawing/2014/main" id="{DA148636-1253-1384-2015-E2EB8852C9FE}"/>
              </a:ext>
            </a:extLst>
          </p:cNvPr>
          <p:cNvSpPr/>
          <p:nvPr/>
        </p:nvSpPr>
        <p:spPr>
          <a:xfrm>
            <a:off x="6744791" y="1672044"/>
            <a:ext cx="2899952" cy="409303"/>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bg1"/>
                </a:solidFill>
                <a:latin typeface="メイリオ" panose="020B0604030504040204" pitchFamily="50" charset="-128"/>
                <a:ea typeface="メイリオ" panose="020B0604030504040204" pitchFamily="50" charset="-128"/>
              </a:rPr>
              <a:t>6</a:t>
            </a:r>
            <a:r>
              <a:rPr kumimoji="1" lang="ja-JP" altLang="en-US" sz="1200" dirty="0">
                <a:solidFill>
                  <a:schemeClr val="bg1"/>
                </a:solidFill>
                <a:latin typeface="メイリオ" panose="020B0604030504040204" pitchFamily="50" charset="-128"/>
                <a:ea typeface="メイリオ" panose="020B0604030504040204" pitchFamily="50" charset="-128"/>
              </a:rPr>
              <a:t>か月後</a:t>
            </a:r>
          </a:p>
        </p:txBody>
      </p:sp>
      <p:sp>
        <p:nvSpPr>
          <p:cNvPr id="19" name="テキスト ボックス 18">
            <a:extLst>
              <a:ext uri="{FF2B5EF4-FFF2-40B4-BE49-F238E27FC236}">
                <a16:creationId xmlns:a16="http://schemas.microsoft.com/office/drawing/2014/main" id="{51BCDCE3-E0DC-64C9-5AE4-D62A1BB2F0B2}"/>
              </a:ext>
            </a:extLst>
          </p:cNvPr>
          <p:cNvSpPr txBox="1"/>
          <p:nvPr/>
        </p:nvSpPr>
        <p:spPr>
          <a:xfrm>
            <a:off x="444137" y="3186837"/>
            <a:ext cx="2534194" cy="276999"/>
          </a:xfrm>
          <a:prstGeom prst="rect">
            <a:avLst/>
          </a:prstGeom>
          <a:noFill/>
        </p:spPr>
        <p:txBody>
          <a:bodyPr wrap="square">
            <a:spAutoFit/>
          </a:bodyPr>
          <a:lstStyle/>
          <a:p>
            <a:pPr algn="ctr"/>
            <a:r>
              <a:rPr kumimoji="1" lang="en-US" altLang="ja-JP" sz="1200" dirty="0">
                <a:solidFill>
                  <a:schemeClr val="tx1"/>
                </a:solidFill>
                <a:latin typeface="メイリオ" panose="020B0604030504040204" pitchFamily="50" charset="-128"/>
                <a:ea typeface="メイリオ" panose="020B0604030504040204" pitchFamily="50" charset="-128"/>
              </a:rPr>
              <a:t>&lt;</a:t>
            </a:r>
            <a:r>
              <a:rPr kumimoji="1" lang="ja-JP" altLang="en-US" sz="1200" dirty="0">
                <a:solidFill>
                  <a:schemeClr val="tx1"/>
                </a:solidFill>
                <a:latin typeface="メイリオ" panose="020B0604030504040204" pitchFamily="50" charset="-128"/>
                <a:ea typeface="メイリオ" panose="020B0604030504040204" pitchFamily="50" charset="-128"/>
              </a:rPr>
              <a:t>実施内容</a:t>
            </a:r>
            <a:r>
              <a:rPr kumimoji="1" lang="en-US" altLang="ja-JP" sz="1200" dirty="0">
                <a:solidFill>
                  <a:schemeClr val="tx1"/>
                </a:solidFill>
                <a:latin typeface="メイリオ" panose="020B0604030504040204" pitchFamily="50" charset="-128"/>
                <a:ea typeface="メイリオ" panose="020B0604030504040204" pitchFamily="50" charset="-128"/>
              </a:rPr>
              <a:t>&gt;</a:t>
            </a:r>
            <a:endParaRPr kumimoji="1" lang="ja-JP" altLang="en-US" sz="1200" dirty="0">
              <a:solidFill>
                <a:schemeClr val="tx1"/>
              </a:solidFill>
              <a:latin typeface="メイリオ" panose="020B0604030504040204" pitchFamily="50" charset="-128"/>
              <a:ea typeface="メイリオ" panose="020B0604030504040204" pitchFamily="50" charset="-128"/>
            </a:endParaRPr>
          </a:p>
        </p:txBody>
      </p:sp>
      <p:sp>
        <p:nvSpPr>
          <p:cNvPr id="21" name="テキスト ボックス 20">
            <a:extLst>
              <a:ext uri="{FF2B5EF4-FFF2-40B4-BE49-F238E27FC236}">
                <a16:creationId xmlns:a16="http://schemas.microsoft.com/office/drawing/2014/main" id="{93377C5E-E0F0-CDD7-88D4-BB2DFD34BDB7}"/>
              </a:ext>
            </a:extLst>
          </p:cNvPr>
          <p:cNvSpPr txBox="1"/>
          <p:nvPr/>
        </p:nvSpPr>
        <p:spPr>
          <a:xfrm>
            <a:off x="3503024" y="3186837"/>
            <a:ext cx="2534194" cy="276999"/>
          </a:xfrm>
          <a:prstGeom prst="rect">
            <a:avLst/>
          </a:prstGeom>
          <a:noFill/>
        </p:spPr>
        <p:txBody>
          <a:bodyPr wrap="square">
            <a:spAutoFit/>
          </a:bodyPr>
          <a:lstStyle/>
          <a:p>
            <a:pPr algn="ctr"/>
            <a:r>
              <a:rPr kumimoji="1" lang="en-US" altLang="ja-JP" sz="1200" dirty="0">
                <a:solidFill>
                  <a:schemeClr val="tx1"/>
                </a:solidFill>
                <a:latin typeface="メイリオ" panose="020B0604030504040204" pitchFamily="50" charset="-128"/>
                <a:ea typeface="メイリオ" panose="020B0604030504040204" pitchFamily="50" charset="-128"/>
              </a:rPr>
              <a:t>&lt;</a:t>
            </a:r>
            <a:r>
              <a:rPr kumimoji="1" lang="ja-JP" altLang="en-US" sz="1200" dirty="0">
                <a:solidFill>
                  <a:schemeClr val="tx1"/>
                </a:solidFill>
                <a:latin typeface="メイリオ" panose="020B0604030504040204" pitchFamily="50" charset="-128"/>
                <a:ea typeface="メイリオ" panose="020B0604030504040204" pitchFamily="50" charset="-128"/>
              </a:rPr>
              <a:t>実施内容</a:t>
            </a:r>
            <a:r>
              <a:rPr kumimoji="1" lang="en-US" altLang="ja-JP" sz="1200" dirty="0">
                <a:solidFill>
                  <a:schemeClr val="tx1"/>
                </a:solidFill>
                <a:latin typeface="メイリオ" panose="020B0604030504040204" pitchFamily="50" charset="-128"/>
                <a:ea typeface="メイリオ" panose="020B0604030504040204" pitchFamily="50" charset="-128"/>
              </a:rPr>
              <a:t>&gt;</a:t>
            </a:r>
            <a:endParaRPr kumimoji="1" lang="ja-JP" altLang="en-US" sz="1200" dirty="0">
              <a:solidFill>
                <a:schemeClr val="tx1"/>
              </a:solidFill>
              <a:latin typeface="メイリオ" panose="020B0604030504040204" pitchFamily="50" charset="-128"/>
              <a:ea typeface="メイリオ" panose="020B0604030504040204" pitchFamily="50" charset="-128"/>
            </a:endParaRPr>
          </a:p>
        </p:txBody>
      </p:sp>
      <p:sp>
        <p:nvSpPr>
          <p:cNvPr id="25" name="正方形/長方形 24">
            <a:extLst>
              <a:ext uri="{FF2B5EF4-FFF2-40B4-BE49-F238E27FC236}">
                <a16:creationId xmlns:a16="http://schemas.microsoft.com/office/drawing/2014/main" id="{423E80D8-0677-EA4F-9E76-E96BE86C80F4}"/>
              </a:ext>
            </a:extLst>
          </p:cNvPr>
          <p:cNvSpPr/>
          <p:nvPr/>
        </p:nvSpPr>
        <p:spPr>
          <a:xfrm>
            <a:off x="3408319" y="3478699"/>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月次投稿</a:t>
            </a:r>
          </a:p>
        </p:txBody>
      </p:sp>
      <p:sp>
        <p:nvSpPr>
          <p:cNvPr id="29" name="正方形/長方形 28">
            <a:extLst>
              <a:ext uri="{FF2B5EF4-FFF2-40B4-BE49-F238E27FC236}">
                <a16:creationId xmlns:a16="http://schemas.microsoft.com/office/drawing/2014/main" id="{0D7C10C7-D0BA-2429-4E3C-3C9B1A0BD42B}"/>
              </a:ext>
            </a:extLst>
          </p:cNvPr>
          <p:cNvSpPr/>
          <p:nvPr/>
        </p:nvSpPr>
        <p:spPr>
          <a:xfrm>
            <a:off x="4657463" y="3478699"/>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rPr>
              <a:t>4回</a:t>
            </a:r>
          </a:p>
        </p:txBody>
      </p:sp>
      <p:sp>
        <p:nvSpPr>
          <p:cNvPr id="33" name="正方形/長方形 32">
            <a:extLst>
              <a:ext uri="{FF2B5EF4-FFF2-40B4-BE49-F238E27FC236}">
                <a16:creationId xmlns:a16="http://schemas.microsoft.com/office/drawing/2014/main" id="{7C01E0B6-089E-D0CB-E2F1-931D297B273B}"/>
              </a:ext>
            </a:extLst>
          </p:cNvPr>
          <p:cNvSpPr/>
          <p:nvPr/>
        </p:nvSpPr>
        <p:spPr>
          <a:xfrm>
            <a:off x="3408319" y="3905336"/>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リッチメニュー</a:t>
            </a:r>
            <a:endParaRPr kumimoji="1" lang="en-US" altLang="ja-JP" sz="1100" dirty="0">
              <a:solidFill>
                <a:schemeClr val="bg1"/>
              </a:solidFill>
              <a:latin typeface="メイリオ" panose="020B0604030504040204" pitchFamily="50" charset="-128"/>
              <a:ea typeface="メイリオ" panose="020B0604030504040204" pitchFamily="50" charset="-128"/>
            </a:endParaRPr>
          </a:p>
          <a:p>
            <a:pPr algn="ctr"/>
            <a:r>
              <a:rPr lang="ja-JP" altLang="en-US" sz="1100" dirty="0">
                <a:solidFill>
                  <a:schemeClr val="bg1"/>
                </a:solidFill>
                <a:latin typeface="メイリオ" panose="020B0604030504040204" pitchFamily="50" charset="-128"/>
                <a:ea typeface="メイリオ" panose="020B0604030504040204" pitchFamily="50" charset="-128"/>
              </a:rPr>
              <a:t>修正変更</a:t>
            </a:r>
            <a:endParaRPr kumimoji="1" lang="ja-JP" altLang="en-US" sz="1100" dirty="0">
              <a:solidFill>
                <a:schemeClr val="bg1"/>
              </a:solidFill>
              <a:latin typeface="メイリオ" panose="020B0604030504040204" pitchFamily="50" charset="-128"/>
              <a:ea typeface="メイリオ" panose="020B0604030504040204" pitchFamily="50" charset="-128"/>
            </a:endParaRPr>
          </a:p>
        </p:txBody>
      </p:sp>
      <p:sp>
        <p:nvSpPr>
          <p:cNvPr id="37" name="正方形/長方形 36">
            <a:extLst>
              <a:ext uri="{FF2B5EF4-FFF2-40B4-BE49-F238E27FC236}">
                <a16:creationId xmlns:a16="http://schemas.microsoft.com/office/drawing/2014/main" id="{8E28FD05-4146-E3E7-076F-F0405244D430}"/>
              </a:ext>
            </a:extLst>
          </p:cNvPr>
          <p:cNvSpPr/>
          <p:nvPr/>
        </p:nvSpPr>
        <p:spPr>
          <a:xfrm>
            <a:off x="4657463" y="3905336"/>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a:t>
            </a:r>
          </a:p>
        </p:txBody>
      </p:sp>
      <p:sp>
        <p:nvSpPr>
          <p:cNvPr id="41" name="正方形/長方形 40">
            <a:extLst>
              <a:ext uri="{FF2B5EF4-FFF2-40B4-BE49-F238E27FC236}">
                <a16:creationId xmlns:a16="http://schemas.microsoft.com/office/drawing/2014/main" id="{0BCA0670-1E25-A137-DE69-4285D1972C41}"/>
              </a:ext>
            </a:extLst>
          </p:cNvPr>
          <p:cNvSpPr/>
          <p:nvPr/>
        </p:nvSpPr>
        <p:spPr>
          <a:xfrm>
            <a:off x="3408319" y="4331973"/>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月次レポート</a:t>
            </a:r>
          </a:p>
        </p:txBody>
      </p:sp>
      <p:sp>
        <p:nvSpPr>
          <p:cNvPr id="46" name="正方形/長方形 45">
            <a:extLst>
              <a:ext uri="{FF2B5EF4-FFF2-40B4-BE49-F238E27FC236}">
                <a16:creationId xmlns:a16="http://schemas.microsoft.com/office/drawing/2014/main" id="{BABF4F76-4A93-A922-BEA6-2B8E93EAFA64}"/>
              </a:ext>
            </a:extLst>
          </p:cNvPr>
          <p:cNvSpPr/>
          <p:nvPr/>
        </p:nvSpPr>
        <p:spPr>
          <a:xfrm>
            <a:off x="4657463" y="4331973"/>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rPr>
              <a:t>1</a:t>
            </a:r>
            <a:r>
              <a:rPr kumimoji="1" lang="ja-JP" altLang="en-US" sz="1000" dirty="0">
                <a:solidFill>
                  <a:schemeClr val="tx1"/>
                </a:solidFill>
                <a:latin typeface="メイリオ" panose="020B0604030504040204" pitchFamily="50" charset="-128"/>
                <a:ea typeface="メイリオ" panose="020B0604030504040204" pitchFamily="50" charset="-128"/>
              </a:rPr>
              <a:t>回</a:t>
            </a:r>
          </a:p>
        </p:txBody>
      </p:sp>
      <p:sp>
        <p:nvSpPr>
          <p:cNvPr id="50" name="正方形/長方形 49">
            <a:extLst>
              <a:ext uri="{FF2B5EF4-FFF2-40B4-BE49-F238E27FC236}">
                <a16:creationId xmlns:a16="http://schemas.microsoft.com/office/drawing/2014/main" id="{B9BBAE1C-A24C-C8BA-EC21-E3C3004B99D5}"/>
              </a:ext>
            </a:extLst>
          </p:cNvPr>
          <p:cNvSpPr/>
          <p:nvPr/>
        </p:nvSpPr>
        <p:spPr>
          <a:xfrm>
            <a:off x="3408319" y="4758610"/>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bg1"/>
                </a:solidFill>
                <a:latin typeface="メイリオ" panose="020B0604030504040204" pitchFamily="50" charset="-128"/>
                <a:ea typeface="メイリオ" panose="020B0604030504040204" pitchFamily="50" charset="-128"/>
              </a:rPr>
              <a:t>月次定例会</a:t>
            </a:r>
          </a:p>
        </p:txBody>
      </p:sp>
      <p:sp>
        <p:nvSpPr>
          <p:cNvPr id="54" name="正方形/長方形 53">
            <a:extLst>
              <a:ext uri="{FF2B5EF4-FFF2-40B4-BE49-F238E27FC236}">
                <a16:creationId xmlns:a16="http://schemas.microsoft.com/office/drawing/2014/main" id="{5356490D-00B0-A4A4-46A8-C05373647872}"/>
              </a:ext>
            </a:extLst>
          </p:cNvPr>
          <p:cNvSpPr/>
          <p:nvPr/>
        </p:nvSpPr>
        <p:spPr>
          <a:xfrm>
            <a:off x="4657463" y="4758610"/>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00" dirty="0">
                <a:solidFill>
                  <a:schemeClr val="tx1"/>
                </a:solidFill>
                <a:latin typeface="メイリオ" panose="020B0604030504040204" pitchFamily="50" charset="-128"/>
                <a:ea typeface="メイリオ" panose="020B0604030504040204" pitchFamily="50" charset="-128"/>
              </a:rPr>
              <a:t>1回</a:t>
            </a:r>
          </a:p>
        </p:txBody>
      </p:sp>
      <p:sp>
        <p:nvSpPr>
          <p:cNvPr id="66" name="正方形/長方形 65">
            <a:extLst>
              <a:ext uri="{FF2B5EF4-FFF2-40B4-BE49-F238E27FC236}">
                <a16:creationId xmlns:a16="http://schemas.microsoft.com/office/drawing/2014/main" id="{1B7BC116-FC44-14F8-A570-7E8F4A6BB425}"/>
              </a:ext>
            </a:extLst>
          </p:cNvPr>
          <p:cNvSpPr/>
          <p:nvPr/>
        </p:nvSpPr>
        <p:spPr>
          <a:xfrm>
            <a:off x="3408319" y="5185247"/>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ステップ改善</a:t>
            </a:r>
          </a:p>
        </p:txBody>
      </p:sp>
      <p:sp>
        <p:nvSpPr>
          <p:cNvPr id="70" name="正方形/長方形 69">
            <a:extLst>
              <a:ext uri="{FF2B5EF4-FFF2-40B4-BE49-F238E27FC236}">
                <a16:creationId xmlns:a16="http://schemas.microsoft.com/office/drawing/2014/main" id="{4F35ECFF-76E2-1684-79A2-B91FDAC2A015}"/>
              </a:ext>
            </a:extLst>
          </p:cNvPr>
          <p:cNvSpPr/>
          <p:nvPr/>
        </p:nvSpPr>
        <p:spPr>
          <a:xfrm>
            <a:off x="4657463" y="5185247"/>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rPr>
              <a:t>ABテスト随時</a:t>
            </a:r>
          </a:p>
        </p:txBody>
      </p:sp>
      <p:sp>
        <p:nvSpPr>
          <p:cNvPr id="80" name="正方形/長方形 79">
            <a:extLst>
              <a:ext uri="{FF2B5EF4-FFF2-40B4-BE49-F238E27FC236}">
                <a16:creationId xmlns:a16="http://schemas.microsoft.com/office/drawing/2014/main" id="{4D93C7A0-5D0C-D57D-DA97-71D42D2D5517}"/>
              </a:ext>
            </a:extLst>
          </p:cNvPr>
          <p:cNvSpPr/>
          <p:nvPr/>
        </p:nvSpPr>
        <p:spPr>
          <a:xfrm>
            <a:off x="6886308" y="2281645"/>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b="1" dirty="0">
                <a:solidFill>
                  <a:schemeClr val="bg1"/>
                </a:solidFill>
                <a:latin typeface="メイリオ" panose="020B0604030504040204" pitchFamily="50" charset="-128"/>
                <a:ea typeface="メイリオ" panose="020B0604030504040204" pitchFamily="50" charset="-128"/>
              </a:rPr>
              <a:t>友だち数</a:t>
            </a:r>
            <a:endParaRPr kumimoji="1" lang="ja-JP" altLang="en-US" sz="1200" b="1" dirty="0">
              <a:solidFill>
                <a:schemeClr val="bg1"/>
              </a:solidFill>
              <a:latin typeface="メイリオ" panose="020B0604030504040204" pitchFamily="50" charset="-128"/>
              <a:ea typeface="メイリオ" panose="020B0604030504040204" pitchFamily="50" charset="-128"/>
            </a:endParaRPr>
          </a:p>
        </p:txBody>
      </p:sp>
      <p:sp>
        <p:nvSpPr>
          <p:cNvPr id="82" name="正方形/長方形 81">
            <a:extLst>
              <a:ext uri="{FF2B5EF4-FFF2-40B4-BE49-F238E27FC236}">
                <a16:creationId xmlns:a16="http://schemas.microsoft.com/office/drawing/2014/main" id="{6F215F53-D8D8-2192-C7D6-49E3B32E635B}"/>
              </a:ext>
            </a:extLst>
          </p:cNvPr>
          <p:cNvSpPr/>
          <p:nvPr/>
        </p:nvSpPr>
        <p:spPr>
          <a:xfrm>
            <a:off x="6886308" y="2708282"/>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有効友だち</a:t>
            </a:r>
          </a:p>
        </p:txBody>
      </p:sp>
      <p:sp>
        <p:nvSpPr>
          <p:cNvPr id="84" name="正方形/長方形 83">
            <a:extLst>
              <a:ext uri="{FF2B5EF4-FFF2-40B4-BE49-F238E27FC236}">
                <a16:creationId xmlns:a16="http://schemas.microsoft.com/office/drawing/2014/main" id="{F86385E5-9ACB-BD7D-FFF1-9DCAFEF8B9DE}"/>
              </a:ext>
            </a:extLst>
          </p:cNvPr>
          <p:cNvSpPr/>
          <p:nvPr/>
        </p:nvSpPr>
        <p:spPr>
          <a:xfrm>
            <a:off x="6886308" y="3134919"/>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流入</a:t>
            </a:r>
          </a:p>
        </p:txBody>
      </p:sp>
      <p:sp>
        <p:nvSpPr>
          <p:cNvPr id="86" name="正方形/長方形 85">
            <a:extLst>
              <a:ext uri="{FF2B5EF4-FFF2-40B4-BE49-F238E27FC236}">
                <a16:creationId xmlns:a16="http://schemas.microsoft.com/office/drawing/2014/main" id="{38F3E569-103C-B3AD-15E9-E0BB6026E36F}"/>
              </a:ext>
            </a:extLst>
          </p:cNvPr>
          <p:cNvSpPr/>
          <p:nvPr/>
        </p:nvSpPr>
        <p:spPr>
          <a:xfrm>
            <a:off x="6886308" y="3561556"/>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chemeClr val="bg1"/>
                </a:solidFill>
                <a:latin typeface="メイリオ" panose="020B0604030504040204" pitchFamily="50" charset="-128"/>
                <a:ea typeface="メイリオ" panose="020B0604030504040204" pitchFamily="50" charset="-128"/>
              </a:rPr>
              <a:t>CV</a:t>
            </a:r>
            <a:endParaRPr kumimoji="1" lang="ja-JP" altLang="en-US" sz="1200" b="1" dirty="0">
              <a:solidFill>
                <a:schemeClr val="bg1"/>
              </a:solidFill>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70CAF89E-948C-8174-50B7-652B3FB76359}"/>
              </a:ext>
            </a:extLst>
          </p:cNvPr>
          <p:cNvSpPr/>
          <p:nvPr/>
        </p:nvSpPr>
        <p:spPr>
          <a:xfrm>
            <a:off x="379976" y="3478699"/>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bg1"/>
                </a:solidFill>
                <a:latin typeface="メイリオ" panose="020B0604030504040204" pitchFamily="50" charset="-128"/>
                <a:ea typeface="メイリオ" panose="020B0604030504040204" pitchFamily="50" charset="-128"/>
              </a:rPr>
              <a:t>あいさつ＋診断</a:t>
            </a:r>
            <a:endParaRPr kumimoji="1" lang="ja-JP" altLang="en-US" sz="1100" dirty="0">
              <a:solidFill>
                <a:schemeClr val="bg1"/>
              </a:solidFill>
              <a:latin typeface="メイリオ" panose="020B0604030504040204" pitchFamily="50" charset="-128"/>
              <a:ea typeface="メイリオ" panose="020B0604030504040204" pitchFamily="50" charset="-128"/>
            </a:endParaRPr>
          </a:p>
        </p:txBody>
      </p:sp>
      <p:sp>
        <p:nvSpPr>
          <p:cNvPr id="14" name="正方形/長方形 13">
            <a:extLst>
              <a:ext uri="{FF2B5EF4-FFF2-40B4-BE49-F238E27FC236}">
                <a16:creationId xmlns:a16="http://schemas.microsoft.com/office/drawing/2014/main" id="{45597D5C-32BC-9BDB-E27E-1B11A18AC67F}"/>
              </a:ext>
            </a:extLst>
          </p:cNvPr>
          <p:cNvSpPr/>
          <p:nvPr/>
        </p:nvSpPr>
        <p:spPr>
          <a:xfrm>
            <a:off x="1629120" y="3478699"/>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rPr>
              <a:t>1回（4問）</a:t>
            </a:r>
          </a:p>
        </p:txBody>
      </p:sp>
      <p:sp>
        <p:nvSpPr>
          <p:cNvPr id="18" name="正方形/長方形 17">
            <a:extLst>
              <a:ext uri="{FF2B5EF4-FFF2-40B4-BE49-F238E27FC236}">
                <a16:creationId xmlns:a16="http://schemas.microsoft.com/office/drawing/2014/main" id="{090DF4E7-D151-CBC4-8EE6-8BDDE6D781F4}"/>
              </a:ext>
            </a:extLst>
          </p:cNvPr>
          <p:cNvSpPr/>
          <p:nvPr/>
        </p:nvSpPr>
        <p:spPr>
          <a:xfrm>
            <a:off x="379976" y="3905336"/>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リッチメニュー</a:t>
            </a:r>
            <a:endParaRPr kumimoji="1" lang="en-US" altLang="ja-JP" sz="1100" dirty="0">
              <a:solidFill>
                <a:schemeClr val="bg1"/>
              </a:solidFill>
              <a:latin typeface="メイリオ" panose="020B0604030504040204" pitchFamily="50" charset="-128"/>
              <a:ea typeface="メイリオ" panose="020B0604030504040204" pitchFamily="50" charset="-128"/>
            </a:endParaRPr>
          </a:p>
        </p:txBody>
      </p:sp>
      <p:sp>
        <p:nvSpPr>
          <p:cNvPr id="22" name="正方形/長方形 21">
            <a:extLst>
              <a:ext uri="{FF2B5EF4-FFF2-40B4-BE49-F238E27FC236}">
                <a16:creationId xmlns:a16="http://schemas.microsoft.com/office/drawing/2014/main" id="{BF367B4C-D17E-5506-831E-4FEBA9B6D301}"/>
              </a:ext>
            </a:extLst>
          </p:cNvPr>
          <p:cNvSpPr/>
          <p:nvPr/>
        </p:nvSpPr>
        <p:spPr>
          <a:xfrm>
            <a:off x="1629120" y="3905336"/>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3タブ×6枠</a:t>
            </a:r>
          </a:p>
        </p:txBody>
      </p:sp>
      <p:sp>
        <p:nvSpPr>
          <p:cNvPr id="26" name="正方形/長方形 25">
            <a:extLst>
              <a:ext uri="{FF2B5EF4-FFF2-40B4-BE49-F238E27FC236}">
                <a16:creationId xmlns:a16="http://schemas.microsoft.com/office/drawing/2014/main" id="{E7327D35-78D9-E895-4E23-A03DB4CE4A0C}"/>
              </a:ext>
            </a:extLst>
          </p:cNvPr>
          <p:cNvSpPr/>
          <p:nvPr/>
        </p:nvSpPr>
        <p:spPr>
          <a:xfrm>
            <a:off x="379976" y="4331973"/>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ステップ</a:t>
            </a:r>
          </a:p>
        </p:txBody>
      </p:sp>
      <p:sp>
        <p:nvSpPr>
          <p:cNvPr id="30" name="正方形/長方形 29">
            <a:extLst>
              <a:ext uri="{FF2B5EF4-FFF2-40B4-BE49-F238E27FC236}">
                <a16:creationId xmlns:a16="http://schemas.microsoft.com/office/drawing/2014/main" id="{A410D671-A6B2-5AE8-F4DD-54B5BBF27257}"/>
              </a:ext>
            </a:extLst>
          </p:cNvPr>
          <p:cNvSpPr/>
          <p:nvPr/>
        </p:nvSpPr>
        <p:spPr>
          <a:xfrm>
            <a:off x="1629120" y="4331973"/>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構築×10</a:t>
            </a:r>
          </a:p>
        </p:txBody>
      </p:sp>
      <p:sp>
        <p:nvSpPr>
          <p:cNvPr id="34" name="正方形/長方形 33">
            <a:extLst>
              <a:ext uri="{FF2B5EF4-FFF2-40B4-BE49-F238E27FC236}">
                <a16:creationId xmlns:a16="http://schemas.microsoft.com/office/drawing/2014/main" id="{9B0CC343-76BC-C31F-6705-9435FB623B52}"/>
              </a:ext>
            </a:extLst>
          </p:cNvPr>
          <p:cNvSpPr/>
          <p:nvPr/>
        </p:nvSpPr>
        <p:spPr>
          <a:xfrm>
            <a:off x="379976" y="4758610"/>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bg1"/>
                </a:solidFill>
                <a:latin typeface="メイリオ" panose="020B0604030504040204" pitchFamily="50" charset="-128"/>
                <a:ea typeface="メイリオ" panose="020B0604030504040204" pitchFamily="50" charset="-128"/>
              </a:rPr>
              <a:t>離脱防止</a:t>
            </a:r>
          </a:p>
        </p:txBody>
      </p:sp>
      <p:sp>
        <p:nvSpPr>
          <p:cNvPr id="38" name="正方形/長方形 37">
            <a:extLst>
              <a:ext uri="{FF2B5EF4-FFF2-40B4-BE49-F238E27FC236}">
                <a16:creationId xmlns:a16="http://schemas.microsoft.com/office/drawing/2014/main" id="{49ED896C-A686-A829-DAA8-B1457276C2D4}"/>
              </a:ext>
            </a:extLst>
          </p:cNvPr>
          <p:cNvSpPr/>
          <p:nvPr/>
        </p:nvSpPr>
        <p:spPr>
          <a:xfrm>
            <a:off x="1629120" y="4758610"/>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solidFill>
                <a:latin typeface="メイリオ" panose="020B0604030504040204" pitchFamily="50" charset="-128"/>
                <a:ea typeface="メイリオ" panose="020B0604030504040204" pitchFamily="50" charset="-128"/>
              </a:rPr>
              <a:t>ポップアップ設置</a:t>
            </a:r>
          </a:p>
        </p:txBody>
      </p:sp>
      <p:sp>
        <p:nvSpPr>
          <p:cNvPr id="42" name="正方形/長方形 41">
            <a:extLst>
              <a:ext uri="{FF2B5EF4-FFF2-40B4-BE49-F238E27FC236}">
                <a16:creationId xmlns:a16="http://schemas.microsoft.com/office/drawing/2014/main" id="{C65954D2-6D54-912C-BFAD-8EED93525578}"/>
              </a:ext>
            </a:extLst>
          </p:cNvPr>
          <p:cNvSpPr/>
          <p:nvPr/>
        </p:nvSpPr>
        <p:spPr>
          <a:xfrm>
            <a:off x="379976" y="5185247"/>
            <a:ext cx="1218110" cy="361150"/>
          </a:xfrm>
          <a:prstGeom prst="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連携</a:t>
            </a:r>
          </a:p>
        </p:txBody>
      </p:sp>
      <p:sp>
        <p:nvSpPr>
          <p:cNvPr id="47" name="正方形/長方形 46">
            <a:extLst>
              <a:ext uri="{FF2B5EF4-FFF2-40B4-BE49-F238E27FC236}">
                <a16:creationId xmlns:a16="http://schemas.microsoft.com/office/drawing/2014/main" id="{2038AF25-F542-6F19-F289-5B1A91D9EA78}"/>
              </a:ext>
            </a:extLst>
          </p:cNvPr>
          <p:cNvSpPr/>
          <p:nvPr/>
        </p:nvSpPr>
        <p:spPr>
          <a:xfrm>
            <a:off x="1629120" y="5185247"/>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別途開発</a:t>
            </a:r>
          </a:p>
        </p:txBody>
      </p:sp>
      <p:sp>
        <p:nvSpPr>
          <p:cNvPr id="11" name="テキスト ボックス 10">
            <a:extLst>
              <a:ext uri="{FF2B5EF4-FFF2-40B4-BE49-F238E27FC236}">
                <a16:creationId xmlns:a16="http://schemas.microsoft.com/office/drawing/2014/main" id="{2241A890-8CD9-48E8-BAC6-6130718F79E3}"/>
              </a:ext>
            </a:extLst>
          </p:cNvPr>
          <p:cNvSpPr txBox="1"/>
          <p:nvPr/>
        </p:nvSpPr>
        <p:spPr>
          <a:xfrm>
            <a:off x="8194767" y="2323720"/>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約4,350人</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0CA402BB-70E0-1712-5155-FB13E1EFE697}"/>
              </a:ext>
            </a:extLst>
          </p:cNvPr>
          <p:cNvSpPr txBox="1"/>
          <p:nvPr/>
        </p:nvSpPr>
        <p:spPr>
          <a:xfrm>
            <a:off x="8194767" y="2750357"/>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約2,350人</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23" name="テキスト ボックス 22">
            <a:extLst>
              <a:ext uri="{FF2B5EF4-FFF2-40B4-BE49-F238E27FC236}">
                <a16:creationId xmlns:a16="http://schemas.microsoft.com/office/drawing/2014/main" id="{F1C71F01-1D77-2899-A43D-B86BFA13E86D}"/>
              </a:ext>
            </a:extLst>
          </p:cNvPr>
          <p:cNvSpPr txBox="1"/>
          <p:nvPr/>
        </p:nvSpPr>
        <p:spPr>
          <a:xfrm>
            <a:off x="8175536" y="3152001"/>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2,390件/月</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27" name="テキスト ボックス 26">
            <a:extLst>
              <a:ext uri="{FF2B5EF4-FFF2-40B4-BE49-F238E27FC236}">
                <a16:creationId xmlns:a16="http://schemas.microsoft.com/office/drawing/2014/main" id="{8AD9CF0C-6AE4-2654-E1CB-1BB84E7C6E83}"/>
              </a:ext>
            </a:extLst>
          </p:cNvPr>
          <p:cNvSpPr txBox="1"/>
          <p:nvPr/>
        </p:nvSpPr>
        <p:spPr>
          <a:xfrm>
            <a:off x="8194767" y="3561556"/>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23件/月</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31" name="テキスト ボックス 30">
            <a:extLst>
              <a:ext uri="{FF2B5EF4-FFF2-40B4-BE49-F238E27FC236}">
                <a16:creationId xmlns:a16="http://schemas.microsoft.com/office/drawing/2014/main" id="{62E19C90-7458-8C36-243E-9FE1F44520EC}"/>
              </a:ext>
            </a:extLst>
          </p:cNvPr>
          <p:cNvSpPr txBox="1"/>
          <p:nvPr/>
        </p:nvSpPr>
        <p:spPr>
          <a:xfrm>
            <a:off x="6746399" y="3906000"/>
            <a:ext cx="2901600" cy="1080000"/>
          </a:xfrm>
          <a:prstGeom prst="rect">
            <a:avLst/>
          </a:prstGeom>
          <a:noFill/>
        </p:spPr>
        <p:txBody>
          <a:bodyPr wrap="square">
            <a:spAutoFit/>
          </a:bodyPr>
          <a:lstStyle/>
          <a:p>
            <a:pPr algn="ctr"/>
            <a:r>
              <a:rPr lang="ja-JP" altLang="en-US" sz="1100" b="1" dirty="0">
                <a:latin typeface="メイリオ" panose="020B0604030504040204" pitchFamily="50" charset="-128"/>
                <a:ea typeface="メイリオ" panose="020B0604030504040204" pitchFamily="50" charset="-128"/>
              </a:rPr>
              <a:t>半年累計89件・累計CPA 29,697円</a:t>
            </a:r>
            <a:endParaRPr kumimoji="1" lang="ja-JP" altLang="en-US" sz="1200" b="1" dirty="0">
              <a:latin typeface="メイリオ" panose="020B0604030504040204" pitchFamily="50" charset="-128"/>
              <a:ea typeface="メイリオ" panose="020B0604030504040204" pitchFamily="50" charset="-128"/>
            </a:endParaRPr>
          </a:p>
          <a:p>
            <a:pPr algn="ctr"/>
            <a:r>
              <a:rPr lang="ja-JP" altLang="en-US" sz="950" b="0" dirty="0">
                <a:solidFill>
                  <a:srgbClr val="333333"/>
                </a:solidFill>
                <a:latin typeface="メイリオ" panose="020B0604030504040204" pitchFamily="50" charset="-128"/>
                <a:ea typeface="メイリオ" panose="020B0604030504040204" pitchFamily="50" charset="-128"/>
              </a:rPr>
              <a:t>現状の整備士CPA 6万円の約半分</a:t>
            </a:r>
            <a:endParaRPr kumimoji="1" lang="ja-JP" altLang="en-US" sz="1200" b="1" dirty="0">
              <a:latin typeface="メイリオ" panose="020B0604030504040204" pitchFamily="50" charset="-128"/>
              <a:ea typeface="メイリオ" panose="020B0604030504040204" pitchFamily="50" charset="-128"/>
            </a:endParaRPr>
          </a:p>
          <a:p>
            <a:pPr algn="ctr"/>
            <a:r>
              <a:rPr lang="ja-JP" altLang="en-US" sz="900" b="0" dirty="0">
                <a:solidFill>
                  <a:srgbClr val="7F7F7F"/>
                </a:solidFill>
                <a:latin typeface="メイリオ" panose="020B0604030504040204" pitchFamily="50" charset="-128"/>
                <a:ea typeface="メイリオ" panose="020B0604030504040204" pitchFamily="50" charset="-128"/>
              </a:rPr>
              <a:t>参考：CPFなし＝半年4件</a:t>
            </a:r>
            <a:endParaRPr kumimoji="1" lang="ja-JP" altLang="en-US" sz="1200" b="1" dirty="0">
              <a:latin typeface="メイリオ" panose="020B0604030504040204" pitchFamily="50" charset="-128"/>
              <a:ea typeface="メイリオ" panose="020B0604030504040204" pitchFamily="50" charset="-128"/>
            </a:endParaRPr>
          </a:p>
        </p:txBody>
      </p:sp>
      <p:sp>
        <p:nvSpPr>
          <p:cNvPr id="40" name="テキスト ボックス 39">
            <a:extLst>
              <a:ext uri="{FF2B5EF4-FFF2-40B4-BE49-F238E27FC236}">
                <a16:creationId xmlns:a16="http://schemas.microsoft.com/office/drawing/2014/main" id="{2DBFEFD9-CD0A-A87E-2081-34DABD09C9F5}"/>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Meta広告の目的を「応募獲得」から「友だち獲得」へ切り替え（広告費は据え置き）、</a:t>
            </a: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初期24.5万円・月額18.5万円〜の運用で、面談・応募を半年89件と見込みます。</a:t>
            </a:r>
          </a:p>
        </p:txBody>
      </p:sp>
      <p:sp>
        <p:nvSpPr>
          <p:cNvPr id="88" name="TextBox 14"/>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50">
                <a:solidFill>
                  <a:srgbClr val="7F7F7F"/>
                </a:solidFill>
                <a:latin typeface="メイリオ"/>
                <a:ea typeface="メイリオ"/>
                <a:cs typeface="メイリオ"/>
              </a:rPr>
              <a:t>SIM①（CPFあり・コンサル運営）より。前提：UU3,215（SimilarWeb推計）・CPF単価300円（LINEヤフー公式事例）ほか仮置き値を含む</a:t>
            </a:r>
          </a:p>
        </p:txBody>
      </p:sp>
      <p:sp>
        <p:nvSpPr>
          <p:cNvPr id="87" name="TextBox 86"/>
          <p:cNvSpPr txBox="1"/>
          <p:nvPr/>
        </p:nvSpPr>
        <p:spPr>
          <a:xfrm>
            <a:off x="381600" y="5670000"/>
            <a:ext cx="9144000" cy="342000"/>
          </a:xfrm>
          <a:prstGeom prst="rect">
            <a:avLst/>
          </a:prstGeom>
          <a:noFill/>
        </p:spPr>
        <p:txBody>
          <a:bodyPr wrap="square" lIns="36000" rIns="36000" anchor="t">
            <a:spAutoFit/>
          </a:bodyPr>
          <a:lstStyle/>
          <a:p>
            <a:pPr algn="l"/>
            <a:r>
              <a:rPr sz="1000" b="0">
                <a:solidFill>
                  <a:srgbClr val="595959"/>
                </a:solidFill>
                <a:latin typeface="メイリオ"/>
                <a:ea typeface="メイリオ"/>
                <a:cs typeface="メイリオ"/>
              </a:rPr>
              <a:t>※ 別途 CPF広告費 月20.8万円は、既存Meta予算（年250万円）からの転用＝追加出費ゼロ。</a:t>
            </a:r>
          </a:p>
          <a:p>
            <a:pPr algn="l"/>
            <a:r>
              <a:rPr sz="1000" b="0">
                <a:solidFill>
                  <a:srgbClr val="595959"/>
                </a:solidFill>
                <a:latin typeface="メイリオ"/>
                <a:ea typeface="メイリオ"/>
                <a:cs typeface="メイリオ"/>
              </a:rPr>
              <a:t>※ アカウント費は配信数に応じて自動切替（5,000円→3ヶ月目以降15,000円）。</a:t>
            </a:r>
          </a:p>
        </p:txBody>
      </p:sp>
      <p:sp>
        <p:nvSpPr>
          <p:cNvPr id="89" name="Rounded Rectangle 88"/>
          <p:cNvSpPr/>
          <p:nvPr/>
        </p:nvSpPr>
        <p:spPr>
          <a:xfrm>
            <a:off x="6746399" y="5040000"/>
            <a:ext cx="2901600" cy="558000"/>
          </a:xfrm>
          <a:prstGeom prst="roundRect">
            <a:avLst>
              <a:gd name="adj" fmla="val 8000"/>
            </a:avLst>
          </a:prstGeom>
          <a:solidFill>
            <a:srgbClr val="FFFFFF"/>
          </a:solidFill>
          <a:ln w="25400">
            <a:solidFill>
              <a:srgbClr val="06C7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1150" b="1">
                <a:solidFill>
                  <a:srgbClr val="1F285A"/>
                </a:solidFill>
                <a:latin typeface="メイリオ"/>
                <a:ea typeface="メイリオ"/>
                <a:cs typeface="メイリオ"/>
              </a:rPr>
              <a:t>損益分岐：半年で約3人の就業で回収</a:t>
            </a:r>
          </a:p>
          <a:p>
            <a:pPr algn="ctr"/>
            <a:r>
              <a:rPr sz="900" b="0">
                <a:solidFill>
                  <a:srgbClr val="7F7F7F"/>
                </a:solidFill>
                <a:latin typeface="メイリオ"/>
                <a:ea typeface="メイリオ"/>
                <a:cs typeface="メイリオ"/>
              </a:rPr>
              <a:t>総額264万円 ÷ 1就業あたり売上120万円（仮定）</a:t>
            </a:r>
          </a:p>
        </p:txBody>
      </p:sp>
    </p:spTree>
    <p:extLst>
      <p:ext uri="{BB962C8B-B14F-4D97-AF65-F5344CB8AC3E}">
        <p14:creationId xmlns:p14="http://schemas.microsoft.com/office/powerpoint/2010/main" val="265852621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E341AF-76F7-F354-A08C-287945F04D7D}"/>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公式実績【求人・人材 × LINE】</a:t>
            </a:r>
          </a:p>
        </p:txBody>
      </p:sp>
      <p:sp>
        <p:nvSpPr>
          <p:cNvPr id="3" name="TextBox 2"/>
          <p:cNvSpPr txBox="1"/>
          <p:nvPr/>
        </p:nvSpPr>
        <p:spPr>
          <a:xfrm>
            <a:off x="432000" y="648000"/>
            <a:ext cx="9036000" cy="684000"/>
          </a:xfrm>
          <a:prstGeom prst="rect">
            <a:avLst/>
          </a:prstGeom>
          <a:noFill/>
        </p:spPr>
        <p:txBody>
          <a:bodyPr wrap="square" lIns="0" tIns="21600" rIns="0" bIns="21600" anchor="ctr">
            <a:spAutoFit/>
          </a:bodyPr>
          <a:lstStyle/>
          <a:p>
            <a:pPr algn="l">
              <a:lnSpc>
                <a:spcPct val="128000"/>
              </a:lnSpc>
            </a:pPr>
            <a:r>
              <a:rPr sz="1300">
                <a:solidFill>
                  <a:srgbClr val="333333"/>
                </a:solidFill>
                <a:latin typeface="メイリオ"/>
                <a:ea typeface="メイリオ"/>
                <a:cs typeface="メイリオ"/>
              </a:rPr>
              <a:t>LINEヤフー社の公式導入事例より（いずれも実名・公開情報）。</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20000"/>
            <a:ext cx="4431600" cy="2160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76000" y="1728000"/>
            <a:ext cx="4143600" cy="216000"/>
          </a:xfrm>
          <a:prstGeom prst="rect">
            <a:avLst/>
          </a:prstGeom>
          <a:noFill/>
        </p:spPr>
        <p:txBody>
          <a:bodyPr wrap="square" lIns="50400" tIns="21600" rIns="50400" bIns="21600" anchor="ctr">
            <a:spAutoFit/>
          </a:bodyPr>
          <a:lstStyle/>
          <a:p>
            <a:pPr algn="l"/>
            <a:r>
              <a:rPr sz="1300" b="1">
                <a:solidFill>
                  <a:srgbClr val="1F285A"/>
                </a:solidFill>
                <a:latin typeface="メイリオ"/>
                <a:ea typeface="メイリオ"/>
                <a:cs typeface="メイリオ"/>
              </a:rPr>
              <a:t>UZUZ（20代の就職・転職サポート）</a:t>
            </a:r>
          </a:p>
        </p:txBody>
      </p:sp>
      <p:sp>
        <p:nvSpPr>
          <p:cNvPr id="7" name="TextBox 6"/>
          <p:cNvSpPr txBox="1"/>
          <p:nvPr/>
        </p:nvSpPr>
        <p:spPr>
          <a:xfrm>
            <a:off x="576000" y="1980000"/>
            <a:ext cx="4143600" cy="216000"/>
          </a:xfrm>
          <a:prstGeom prst="rect">
            <a:avLst/>
          </a:prstGeom>
          <a:noFill/>
        </p:spPr>
        <p:txBody>
          <a:bodyPr wrap="square" lIns="50400" tIns="21600" rIns="50400" bIns="21600" anchor="ctr">
            <a:spAutoFit/>
          </a:bodyPr>
          <a:lstStyle/>
          <a:p>
            <a:pPr algn="ctr"/>
            <a:r>
              <a:rPr sz="1250">
                <a:solidFill>
                  <a:srgbClr val="333333"/>
                </a:solidFill>
                <a:latin typeface="メイリオ"/>
                <a:ea typeface="メイリオ"/>
                <a:cs typeface="メイリオ"/>
              </a:rPr>
              <a:t>LINE経由の面談予約率</a:t>
            </a:r>
          </a:p>
        </p:txBody>
      </p:sp>
      <p:sp>
        <p:nvSpPr>
          <p:cNvPr id="8" name="TextBox 7"/>
          <p:cNvSpPr txBox="1"/>
          <p:nvPr/>
        </p:nvSpPr>
        <p:spPr>
          <a:xfrm>
            <a:off x="576000" y="2196000"/>
            <a:ext cx="4143600" cy="503999"/>
          </a:xfrm>
          <a:prstGeom prst="rect">
            <a:avLst/>
          </a:prstGeom>
          <a:noFill/>
        </p:spPr>
        <p:txBody>
          <a:bodyPr wrap="square" lIns="50400" tIns="21600" rIns="50400" bIns="21600" anchor="ctr">
            <a:spAutoFit/>
          </a:bodyPr>
          <a:lstStyle/>
          <a:p>
            <a:pPr algn="ctr"/>
            <a:r>
              <a:rPr sz="3400" b="1">
                <a:solidFill>
                  <a:srgbClr val="ED7D31"/>
                </a:solidFill>
                <a:latin typeface="メイリオ"/>
                <a:ea typeface="メイリオ"/>
                <a:cs typeface="メイリオ"/>
              </a:rPr>
              <a:t>55%</a:t>
            </a:r>
          </a:p>
        </p:txBody>
      </p:sp>
      <p:sp>
        <p:nvSpPr>
          <p:cNvPr id="9" name="TextBox 8"/>
          <p:cNvSpPr txBox="1"/>
          <p:nvPr/>
        </p:nvSpPr>
        <p:spPr>
          <a:xfrm>
            <a:off x="576000" y="2736000"/>
            <a:ext cx="4143600" cy="900000"/>
          </a:xfrm>
          <a:prstGeom prst="rect">
            <a:avLst/>
          </a:prstGeom>
          <a:noFill/>
        </p:spPr>
        <p:txBody>
          <a:bodyPr wrap="square" lIns="50400" tIns="21600" rIns="50400" bIns="21600" anchor="t">
            <a:spAutoFit/>
          </a:bodyPr>
          <a:lstStyle/>
          <a:p>
            <a:pPr algn="l">
              <a:lnSpc>
                <a:spcPct val="135000"/>
              </a:lnSpc>
              <a:spcAft>
                <a:spcPts val="200"/>
              </a:spcAft>
            </a:pPr>
            <a:r>
              <a:rPr sz="1150">
                <a:solidFill>
                  <a:srgbClr val="333333"/>
                </a:solidFill>
                <a:latin typeface="メイリオ"/>
                <a:ea typeface="メイリオ"/>
                <a:cs typeface="メイリオ"/>
              </a:rPr>
              <a:t>・問い合わせの約3割がLINE経由。他チャネル比で高水準</a:t>
            </a:r>
          </a:p>
          <a:p>
            <a:pPr algn="l">
              <a:lnSpc>
                <a:spcPct val="135000"/>
              </a:lnSpc>
              <a:spcAft>
                <a:spcPts val="200"/>
              </a:spcAft>
            </a:pPr>
            <a:r>
              <a:rPr sz="1150">
                <a:solidFill>
                  <a:srgbClr val="333333"/>
                </a:solidFill>
                <a:latin typeface="メイリオ"/>
                <a:ea typeface="メイリオ"/>
                <a:cs typeface="メイリオ"/>
              </a:rPr>
              <a:t>・友だち追加広告（CPF）の獲得単価 約300円</a:t>
            </a:r>
          </a:p>
          <a:p>
            <a:pPr algn="l">
              <a:lnSpc>
                <a:spcPct val="135000"/>
              </a:lnSpc>
            </a:pPr>
            <a:r>
              <a:rPr sz="1150">
                <a:solidFill>
                  <a:srgbClr val="333333"/>
                </a:solidFill>
                <a:latin typeface="メイリオ"/>
                <a:ea typeface="メイリオ"/>
                <a:cs typeface="メイリオ"/>
              </a:rPr>
              <a:t>・チャットボットで求人紹介〜面談予約を自動化</a:t>
            </a:r>
          </a:p>
        </p:txBody>
      </p:sp>
      <p:sp>
        <p:nvSpPr>
          <p:cNvPr id="10" name="Rounded Rectangle 9"/>
          <p:cNvSpPr/>
          <p:nvPr/>
        </p:nvSpPr>
        <p:spPr>
          <a:xfrm>
            <a:off x="5043600" y="1620000"/>
            <a:ext cx="4431600" cy="2160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187600" y="1728000"/>
            <a:ext cx="4143600" cy="216000"/>
          </a:xfrm>
          <a:prstGeom prst="rect">
            <a:avLst/>
          </a:prstGeom>
          <a:noFill/>
        </p:spPr>
        <p:txBody>
          <a:bodyPr wrap="square" lIns="50400" tIns="21600" rIns="50400" bIns="21600" anchor="ctr">
            <a:spAutoFit/>
          </a:bodyPr>
          <a:lstStyle/>
          <a:p>
            <a:pPr algn="l"/>
            <a:r>
              <a:rPr sz="1300" b="1">
                <a:solidFill>
                  <a:srgbClr val="1F285A"/>
                </a:solidFill>
                <a:latin typeface="メイリオ"/>
                <a:ea typeface="メイリオ"/>
                <a:cs typeface="メイリオ"/>
              </a:rPr>
              <a:t>タウンワーク（求人メディア）</a:t>
            </a:r>
          </a:p>
        </p:txBody>
      </p:sp>
      <p:sp>
        <p:nvSpPr>
          <p:cNvPr id="12" name="TextBox 11"/>
          <p:cNvSpPr txBox="1"/>
          <p:nvPr/>
        </p:nvSpPr>
        <p:spPr>
          <a:xfrm>
            <a:off x="5187600" y="1980000"/>
            <a:ext cx="4143600" cy="216000"/>
          </a:xfrm>
          <a:prstGeom prst="rect">
            <a:avLst/>
          </a:prstGeom>
          <a:noFill/>
        </p:spPr>
        <p:txBody>
          <a:bodyPr wrap="square" lIns="50400" tIns="21600" rIns="50400" bIns="21600" anchor="ctr">
            <a:spAutoFit/>
          </a:bodyPr>
          <a:lstStyle/>
          <a:p>
            <a:pPr algn="ctr"/>
            <a:r>
              <a:rPr sz="1250">
                <a:solidFill>
                  <a:srgbClr val="333333"/>
                </a:solidFill>
                <a:latin typeface="メイリオ"/>
                <a:ea typeface="メイリオ"/>
                <a:cs typeface="メイリオ"/>
              </a:rPr>
              <a:t>リッチメニュー経由の応募数</a:t>
            </a:r>
          </a:p>
        </p:txBody>
      </p:sp>
      <p:sp>
        <p:nvSpPr>
          <p:cNvPr id="13" name="TextBox 12"/>
          <p:cNvSpPr txBox="1"/>
          <p:nvPr/>
        </p:nvSpPr>
        <p:spPr>
          <a:xfrm>
            <a:off x="5187600" y="2196000"/>
            <a:ext cx="4143600" cy="503999"/>
          </a:xfrm>
          <a:prstGeom prst="rect">
            <a:avLst/>
          </a:prstGeom>
          <a:noFill/>
        </p:spPr>
        <p:txBody>
          <a:bodyPr wrap="square" lIns="50400" tIns="21600" rIns="50400" bIns="21600" anchor="ctr">
            <a:spAutoFit/>
          </a:bodyPr>
          <a:lstStyle/>
          <a:p>
            <a:pPr algn="ctr"/>
            <a:r>
              <a:rPr sz="3400" b="1">
                <a:solidFill>
                  <a:srgbClr val="ED7D31"/>
                </a:solidFill>
                <a:latin typeface="メイリオ"/>
                <a:ea typeface="メイリオ"/>
                <a:cs typeface="メイリオ"/>
              </a:rPr>
              <a:t>+79%</a:t>
            </a:r>
          </a:p>
        </p:txBody>
      </p:sp>
      <p:sp>
        <p:nvSpPr>
          <p:cNvPr id="14" name="TextBox 13"/>
          <p:cNvSpPr txBox="1"/>
          <p:nvPr/>
        </p:nvSpPr>
        <p:spPr>
          <a:xfrm>
            <a:off x="5187600" y="2736000"/>
            <a:ext cx="4143600" cy="900000"/>
          </a:xfrm>
          <a:prstGeom prst="rect">
            <a:avLst/>
          </a:prstGeom>
          <a:noFill/>
        </p:spPr>
        <p:txBody>
          <a:bodyPr wrap="square" lIns="50400" tIns="21600" rIns="50400" bIns="21600" anchor="t">
            <a:spAutoFit/>
          </a:bodyPr>
          <a:lstStyle/>
          <a:p>
            <a:pPr algn="l">
              <a:lnSpc>
                <a:spcPct val="135000"/>
              </a:lnSpc>
              <a:spcAft>
                <a:spcPts val="200"/>
              </a:spcAft>
            </a:pPr>
            <a:r>
              <a:rPr sz="1150">
                <a:solidFill>
                  <a:srgbClr val="333333"/>
                </a:solidFill>
                <a:latin typeface="メイリオ"/>
                <a:ea typeface="メイリオ"/>
                <a:cs typeface="メイリオ"/>
              </a:rPr>
              <a:t>・リッチメニュー改善でタップ数+20%</a:t>
            </a:r>
          </a:p>
          <a:p>
            <a:pPr algn="l">
              <a:lnSpc>
                <a:spcPct val="135000"/>
              </a:lnSpc>
              <a:spcAft>
                <a:spcPts val="200"/>
              </a:spcAft>
            </a:pPr>
            <a:r>
              <a:rPr sz="1150">
                <a:solidFill>
                  <a:srgbClr val="333333"/>
                </a:solidFill>
                <a:latin typeface="メイリオ"/>
                <a:ea typeface="メイリオ"/>
                <a:cs typeface="メイリオ"/>
              </a:rPr>
              <a:t>・その結果、メニュー経由の応募が79%向上</a:t>
            </a:r>
          </a:p>
          <a:p>
            <a:pPr algn="l">
              <a:lnSpc>
                <a:spcPct val="135000"/>
              </a:lnSpc>
            </a:pPr>
            <a:r>
              <a:rPr sz="1150">
                <a:solidFill>
                  <a:srgbClr val="333333"/>
                </a:solidFill>
                <a:latin typeface="メイリオ"/>
                <a:ea typeface="メイリオ"/>
                <a:cs typeface="メイリオ"/>
              </a:rPr>
              <a:t>・入口設計への投資が応募数に直結した事例</a:t>
            </a:r>
          </a:p>
        </p:txBody>
      </p:sp>
      <p:sp>
        <p:nvSpPr>
          <p:cNvPr id="15" name="Rounded Rectangle 14"/>
          <p:cNvSpPr/>
          <p:nvPr/>
        </p:nvSpPr>
        <p:spPr>
          <a:xfrm>
            <a:off x="432000" y="3924000"/>
            <a:ext cx="9043200" cy="396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0" rIns="108000" bIns="0" rtlCol="0" anchor="ctr"/>
          <a:lstStyle/>
          <a:p>
            <a:pPr algn="ctr">
              <a:lnSpc>
                <a:spcPct val="125000"/>
              </a:lnSpc>
            </a:pPr>
            <a:r>
              <a:rPr sz="1350" b="1">
                <a:solidFill>
                  <a:srgbClr val="FFFFFF"/>
                </a:solidFill>
                <a:latin typeface="メイリオ"/>
                <a:ea typeface="メイリオ"/>
                <a:cs typeface="メイリオ"/>
              </a:rPr>
              <a:t>「面談への近さ」と「入口設計の効果」。本提案の2本柱には、どちらも公式実績がある。</a:t>
            </a:r>
          </a:p>
        </p:txBody>
      </p:sp>
      <p:sp>
        <p:nvSpPr>
          <p:cNvPr id="16" name="TextBox 15"/>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50">
                <a:solidFill>
                  <a:srgbClr val="7F7F7F"/>
                </a:solidFill>
                <a:latin typeface="メイリオ"/>
                <a:ea typeface="メイリオ"/>
                <a:cs typeface="メイリオ"/>
              </a:rPr>
              <a:t>出典：LINEヤフー for Business 導入事例（UZUZ／タウンワーク）。数値は各事例記事の公表値</a:t>
            </a:r>
          </a:p>
        </p:txBody>
      </p:sp>
    </p:spTree>
    <p:extLst>
      <p:ext uri="{BB962C8B-B14F-4D97-AF65-F5344CB8AC3E}">
        <p14:creationId xmlns:p14="http://schemas.microsoft.com/office/powerpoint/2010/main" val="373103120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5A5A4-75AD-516A-9D25-18F8EF002C9C}"/>
            </a:ext>
          </a:extLst>
        </p:cNvPr>
        <p:cNvGrpSpPr/>
        <p:nvPr/>
      </p:nvGrpSpPr>
      <p:grpSpPr>
        <a:xfrm>
          <a:off x="0" y="0"/>
          <a:ext cx="0" cy="0"/>
          <a:chOff x="0" y="0"/>
          <a:chExt cx="0" cy="0"/>
        </a:xfrm>
      </p:grpSpPr>
      <p:sp>
        <p:nvSpPr>
          <p:cNvPr id="6" name="Google Shape;752;p28">
            <a:extLst>
              <a:ext uri="{FF2B5EF4-FFF2-40B4-BE49-F238E27FC236}">
                <a16:creationId xmlns:a16="http://schemas.microsoft.com/office/drawing/2014/main" id="{0308A94D-067F-5D10-BF02-6777DD32E821}"/>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chemeClr val="tx1">
                    <a:lumMod val="50000"/>
                    <a:lumOff val="50000"/>
                  </a:schemeClr>
                </a:solidFill>
                <a:latin typeface="Meiryo"/>
                <a:ea typeface="Meiryo"/>
                <a:cs typeface="Meiryo"/>
                <a:sym typeface="Meiryo"/>
              </a:rPr>
              <a:t>LINE</a:t>
            </a:r>
            <a:r>
              <a:rPr lang="ja-JP" altLang="en-US" sz="1600" b="1" dirty="0">
                <a:solidFill>
                  <a:schemeClr val="tx1">
                    <a:lumMod val="50000"/>
                    <a:lumOff val="50000"/>
                  </a:schemeClr>
                </a:solidFill>
                <a:latin typeface="Meiryo"/>
                <a:ea typeface="Meiryo"/>
                <a:cs typeface="Meiryo"/>
                <a:sym typeface="Meiryo"/>
              </a:rPr>
              <a:t>施策における重要な考え方</a:t>
            </a:r>
            <a:endParaRPr lang="en-US" altLang="ja-JP" sz="1600" b="1" dirty="0">
              <a:solidFill>
                <a:schemeClr val="tx1">
                  <a:lumMod val="50000"/>
                  <a:lumOff val="50000"/>
                </a:schemeClr>
              </a:solidFill>
              <a:latin typeface="Meiryo"/>
              <a:ea typeface="Meiryo"/>
              <a:cs typeface="Meiryo"/>
              <a:sym typeface="Meiryo"/>
            </a:endParaRPr>
          </a:p>
        </p:txBody>
      </p:sp>
      <p:sp>
        <p:nvSpPr>
          <p:cNvPr id="7" name="正方形/長方形 6">
            <a:extLst>
              <a:ext uri="{FF2B5EF4-FFF2-40B4-BE49-F238E27FC236}">
                <a16:creationId xmlns:a16="http://schemas.microsoft.com/office/drawing/2014/main" id="{31489518-639C-6F8B-3CC2-E3A3D82066B2}"/>
              </a:ext>
            </a:extLst>
          </p:cNvPr>
          <p:cNvSpPr/>
          <p:nvPr/>
        </p:nvSpPr>
        <p:spPr>
          <a:xfrm>
            <a:off x="275003" y="1728082"/>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既存友だち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のメッセージ配信を拡大＆検証し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課金対効果を向上する</a:t>
            </a:r>
          </a:p>
        </p:txBody>
      </p:sp>
      <p:sp>
        <p:nvSpPr>
          <p:cNvPr id="9" name="正方形/長方形 8">
            <a:extLst>
              <a:ext uri="{FF2B5EF4-FFF2-40B4-BE49-F238E27FC236}">
                <a16:creationId xmlns:a16="http://schemas.microsoft.com/office/drawing/2014/main" id="{DD339252-F691-EA9D-983C-6241C7AABA77}"/>
              </a:ext>
            </a:extLst>
          </p:cNvPr>
          <p:cNvSpPr/>
          <p:nvPr/>
        </p:nvSpPr>
        <p:spPr>
          <a:xfrm>
            <a:off x="275003" y="3221875"/>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新規友だち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の追加動線を拡大</a:t>
            </a: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rPr>
              <a:t>&amp;</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整備し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見込みの高いユーザーのリードを獲得する</a:t>
            </a:r>
          </a:p>
        </p:txBody>
      </p:sp>
      <p:cxnSp>
        <p:nvCxnSpPr>
          <p:cNvPr id="10" name="直線コネクタ 9">
            <a:extLst>
              <a:ext uri="{FF2B5EF4-FFF2-40B4-BE49-F238E27FC236}">
                <a16:creationId xmlns:a16="http://schemas.microsoft.com/office/drawing/2014/main" id="{71A329C6-D6CA-D19E-C8A2-D6D234F2FA53}"/>
              </a:ext>
            </a:extLst>
          </p:cNvPr>
          <p:cNvCxnSpPr/>
          <p:nvPr/>
        </p:nvCxnSpPr>
        <p:spPr>
          <a:xfrm>
            <a:off x="1519747" y="1452035"/>
            <a:ext cx="6578990" cy="0"/>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13" name="楕円 12">
            <a:extLst>
              <a:ext uri="{FF2B5EF4-FFF2-40B4-BE49-F238E27FC236}">
                <a16:creationId xmlns:a16="http://schemas.microsoft.com/office/drawing/2014/main" id="{718487F9-9129-0E91-A220-B2EF077840F3}"/>
              </a:ext>
            </a:extLst>
          </p:cNvPr>
          <p:cNvSpPr/>
          <p:nvPr/>
        </p:nvSpPr>
        <p:spPr>
          <a:xfrm>
            <a:off x="3756183" y="751045"/>
            <a:ext cx="2022158" cy="589765"/>
          </a:xfrm>
          <a:prstGeom prst="ellipse">
            <a:avLst/>
          </a:prstGeom>
          <a:solidFill>
            <a:schemeClr val="accent1">
              <a:lumMod val="40000"/>
              <a:lumOff val="60000"/>
              <a:alpha val="4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solidFill>
                <a:schemeClr val="tx1">
                  <a:lumMod val="50000"/>
                  <a:lumOff val="50000"/>
                </a:schemeClr>
              </a:solidFill>
            </a:endParaRPr>
          </a:p>
        </p:txBody>
      </p:sp>
      <p:sp>
        <p:nvSpPr>
          <p:cNvPr id="14" name="正方形/長方形 13">
            <a:extLst>
              <a:ext uri="{FF2B5EF4-FFF2-40B4-BE49-F238E27FC236}">
                <a16:creationId xmlns:a16="http://schemas.microsoft.com/office/drawing/2014/main" id="{D2F1E1CA-9D65-A02D-917C-CB72A01459A6}"/>
              </a:ext>
            </a:extLst>
          </p:cNvPr>
          <p:cNvSpPr/>
          <p:nvPr/>
        </p:nvSpPr>
        <p:spPr>
          <a:xfrm>
            <a:off x="1502508" y="842812"/>
            <a:ext cx="6647975" cy="461665"/>
          </a:xfrm>
          <a:prstGeom prst="rect">
            <a:avLst/>
          </a:prstGeom>
        </p:spPr>
        <p:txBody>
          <a:bodyPr wrap="non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アカウント効果を</a:t>
            </a:r>
            <a:r>
              <a:rPr lang="ja-JP" altLang="en-US" sz="2400" b="1" dirty="0">
                <a:latin typeface="メイリオ" panose="020B0604030504040204" pitchFamily="50" charset="-128"/>
                <a:ea typeface="メイリオ" panose="020B0604030504040204" pitchFamily="50" charset="-128"/>
              </a:rPr>
              <a:t>最大化する</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ためには・・・？</a:t>
            </a:r>
          </a:p>
        </p:txBody>
      </p:sp>
      <p:sp>
        <p:nvSpPr>
          <p:cNvPr id="15" name="下矢印 1">
            <a:extLst>
              <a:ext uri="{FF2B5EF4-FFF2-40B4-BE49-F238E27FC236}">
                <a16:creationId xmlns:a16="http://schemas.microsoft.com/office/drawing/2014/main" id="{453026E5-FC32-AC14-0437-B9F8A5DB717B}"/>
              </a:ext>
            </a:extLst>
          </p:cNvPr>
          <p:cNvSpPr/>
          <p:nvPr/>
        </p:nvSpPr>
        <p:spPr>
          <a:xfrm>
            <a:off x="3379742" y="4715668"/>
            <a:ext cx="3196046" cy="421640"/>
          </a:xfrm>
          <a:prstGeom prst="downArrow">
            <a:avLst>
              <a:gd name="adj1" fmla="val 50000"/>
              <a:gd name="adj2" fmla="val 52758"/>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solidFill>
                <a:schemeClr val="tx1">
                  <a:lumMod val="50000"/>
                  <a:lumOff val="50000"/>
                </a:schemeClr>
              </a:solidFill>
            </a:endParaRPr>
          </a:p>
        </p:txBody>
      </p:sp>
      <p:sp>
        <p:nvSpPr>
          <p:cNvPr id="19" name="正方形/長方形 18">
            <a:extLst>
              <a:ext uri="{FF2B5EF4-FFF2-40B4-BE49-F238E27FC236}">
                <a16:creationId xmlns:a16="http://schemas.microsoft.com/office/drawing/2014/main" id="{ED0D0284-90AC-92C0-335B-D83B919080B0}"/>
              </a:ext>
            </a:extLst>
          </p:cNvPr>
          <p:cNvSpPr/>
          <p:nvPr/>
        </p:nvSpPr>
        <p:spPr>
          <a:xfrm>
            <a:off x="275003" y="5239812"/>
            <a:ext cx="9355994" cy="867143"/>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rPr>
              <a:t>WEB</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サイト上情報と連携させ、配信効果を数値化する</a:t>
            </a:r>
          </a:p>
        </p:txBody>
      </p:sp>
    </p:spTree>
    <p:extLst>
      <p:ext uri="{BB962C8B-B14F-4D97-AF65-F5344CB8AC3E}">
        <p14:creationId xmlns:p14="http://schemas.microsoft.com/office/powerpoint/2010/main" val="321229055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09A82F-6F2C-17B3-F79B-7B5B5CE96861}"/>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CFE6082-7D98-8143-1FF3-237252E680EE}"/>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C954AB23-5BD2-D3D6-314F-6A94411406D6}"/>
              </a:ext>
            </a:extLst>
          </p:cNvPr>
          <p:cNvSpPr/>
          <p:nvPr/>
        </p:nvSpPr>
        <p:spPr>
          <a:xfrm>
            <a:off x="1988098" y="3038203"/>
            <a:ext cx="5929829"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施策の詳細（新規友だち獲得）</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17240110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682CB4-E2E4-29F5-FA9B-848F31DADC7C}"/>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E4CBB36F-6A78-6E75-241B-56F5E546F31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DD972FB4-83F9-0440-88DE-3A1A2ED666D1}"/>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F192099F-5377-81D7-2989-7E200A0D8A4C}"/>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実施施策【14日間ステップ配信】</a:t>
            </a:r>
            <a:endParaRPr sz="1600" b="1" dirty="0">
              <a:solidFill>
                <a:srgbClr val="002060"/>
              </a:solidFill>
              <a:latin typeface="Meiryo"/>
              <a:ea typeface="Meiryo"/>
              <a:cs typeface="Meiryo"/>
              <a:sym typeface="Meiryo"/>
            </a:endParaRPr>
          </a:p>
        </p:txBody>
      </p:sp>
      <p:sp>
        <p:nvSpPr>
          <p:cNvPr id="6" name="TextBox 2">
            <a:extLst>
              <a:ext uri="{FF2B5EF4-FFF2-40B4-BE49-F238E27FC236}">
                <a16:creationId xmlns:a16="http://schemas.microsoft.com/office/drawing/2014/main" id="{A90345F6-8F45-3463-0674-D84ECC52E45F}"/>
              </a:ext>
            </a:extLst>
          </p:cNvPr>
          <p:cNvSpPr/>
          <p:nvPr/>
        </p:nvSpPr>
        <p:spPr>
          <a:xfrm>
            <a:off x="426900" y="695160"/>
            <a:ext cx="9052200" cy="460211"/>
          </a:xfrm>
          <a:prstGeom prst="rect">
            <a:avLst/>
          </a:prstGeom>
          <a:noFill/>
          <a:ln w="0">
            <a:noFill/>
          </a:ln>
          <a:effectLst/>
        </p:spPr>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sz="1200" b="0" i="0" u="none" strike="noStrike" kern="1200" cap="none" spc="-1" normalizeH="0" baseline="0" noProof="0" dirty="0">
                <a:ln>
                  <a:noFill/>
                </a:ln>
                <a:solidFill>
                  <a:srgbClr val="333333"/>
                </a:solidFill>
                <a:effectLst/>
                <a:uLnTx/>
                <a:uFillTx/>
                <a:latin typeface="Meiryo" panose="020B0604030504040204" pitchFamily="50" charset="-128"/>
                <a:ea typeface="メイリオ" panose="020B0604030504040204" pitchFamily="50" charset="-128"/>
                <a:cs typeface="Meiryo"/>
              </a:rPr>
              <a:t>友だち追加後14日間で、前後検索で見えた関心の順番（年収・職種 → 働き方 → 比較 → 現場）に沿って配信する</a:t>
            </a:r>
            <a:endParaRPr kumimoji="1" lang="en-US" altLang="zh-CN" sz="1200" b="0" i="0" u="none" strike="noStrike" kern="1200" cap="none" spc="-1" normalizeH="0" baseline="0" noProof="0" dirty="0">
              <a:ln>
                <a:noFill/>
              </a:ln>
              <a:solidFill>
                <a:srgbClr val="333333"/>
              </a:solidFill>
              <a:effectLst/>
              <a:uLnTx/>
              <a:uFillTx/>
              <a:latin typeface="Meiryo" panose="020B0604030504040204" pitchFamily="50" charset="-128"/>
              <a:ea typeface="メイリオ" panose="020B0604030504040204" pitchFamily="50" charset="-128"/>
              <a:cs typeface="Meiryo"/>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sz="1200" b="0" i="0" u="none" strike="noStrike" kern="1200" cap="none" spc="-1" normalizeH="0" baseline="0" noProof="0" dirty="0">
                <a:ln>
                  <a:noFill/>
                </a:ln>
                <a:solidFill>
                  <a:srgbClr val="333333"/>
                </a:solidFill>
                <a:effectLst/>
                <a:uLnTx/>
                <a:uFillTx/>
                <a:latin typeface="Meiryo" panose="020B0604030504040204" pitchFamily="50" charset="-128"/>
                <a:ea typeface="メイリオ" panose="020B0604030504040204" pitchFamily="50" charset="-128"/>
                <a:cs typeface="Meiryo"/>
              </a:rPr>
              <a:t>（関心が消える前の3日目に1回目の面談案内。未予約者には再アプローチ、面談予約者は別シナリオへ分岐）</a:t>
            </a:r>
            <a:endParaRPr kumimoji="1" lang="en-US" altLang="zh-CN" sz="1200" b="0" i="0" u="none" strike="noStrike" kern="1200" cap="none" spc="-1" normalizeH="0" baseline="0" noProof="0" dirty="0">
              <a:ln>
                <a:noFill/>
              </a:ln>
              <a:solidFill>
                <a:srgbClr val="333333"/>
              </a:solidFill>
              <a:effectLst/>
              <a:uLnTx/>
              <a:uFillTx/>
              <a:latin typeface="Meiryo" panose="020B0604030504040204" pitchFamily="50" charset="-128"/>
              <a:ea typeface="メイリオ" panose="020B0604030504040204" pitchFamily="50" charset="-128"/>
              <a:cs typeface="Meiryo"/>
            </a:endParaRPr>
          </a:p>
        </p:txBody>
      </p:sp>
      <p:graphicFrame>
        <p:nvGraphicFramePr>
          <p:cNvPr id="46" name="Table 45"/>
          <p:cNvGraphicFramePr>
            <a:graphicFrameLocks noGrp="1"/>
          </p:cNvGraphicFramePr>
          <p:nvPr>
            <p:extLst>
              <p:ext uri="{D42A27DB-BD31-4B8C-83A1-F6EECF244321}">
                <p14:modId xmlns:p14="http://schemas.microsoft.com/office/powerpoint/2010/main" val="849747981"/>
              </p:ext>
            </p:extLst>
          </p:nvPr>
        </p:nvGraphicFramePr>
        <p:xfrm>
          <a:off x="429768" y="1234440"/>
          <a:ext cx="9054000" cy="4114800"/>
        </p:xfrm>
        <a:graphic>
          <a:graphicData uri="http://schemas.openxmlformats.org/drawingml/2006/table">
            <a:tbl>
              <a:tblPr firstRow="1" bandRow="1">
                <a:tableStyleId>{5C22544A-7EE6-4342-B048-85BDC9FD1C3A}</a:tableStyleId>
              </a:tblPr>
              <a:tblGrid>
                <a:gridCol w="1087200">
                  <a:extLst>
                    <a:ext uri="{9D8B030D-6E8A-4147-A177-3AD203B41FA5}">
                      <a16:colId xmlns:a16="http://schemas.microsoft.com/office/drawing/2014/main" val="20000"/>
                    </a:ext>
                  </a:extLst>
                </a:gridCol>
                <a:gridCol w="1810800">
                  <a:extLst>
                    <a:ext uri="{9D8B030D-6E8A-4147-A177-3AD203B41FA5}">
                      <a16:colId xmlns:a16="http://schemas.microsoft.com/office/drawing/2014/main" val="20001"/>
                    </a:ext>
                  </a:extLst>
                </a:gridCol>
                <a:gridCol w="6156000">
                  <a:extLst>
                    <a:ext uri="{9D8B030D-6E8A-4147-A177-3AD203B41FA5}">
                      <a16:colId xmlns:a16="http://schemas.microsoft.com/office/drawing/2014/main" val="20002"/>
                    </a:ext>
                  </a:extLst>
                </a:gridCol>
              </a:tblGrid>
              <a:tr h="411480">
                <a:tc>
                  <a:txBody>
                    <a:bodyPr/>
                    <a:lstStyle/>
                    <a:p>
                      <a:r>
                        <a:rPr sz="1100" b="1">
                          <a:solidFill>
                            <a:srgbClr val="FFFFFF"/>
                          </a:solidFill>
                          <a:latin typeface="Meiryo"/>
                          <a:ea typeface="メイリオ"/>
                          <a:cs typeface="Meiryo"/>
                        </a:rPr>
                        <a:t>Day</a:t>
                      </a:r>
                    </a:p>
                  </a:txBody>
                  <a:tcPr>
                    <a:solidFill>
                      <a:srgbClr val="1F2A5C"/>
                    </a:solidFill>
                  </a:tcPr>
                </a:tc>
                <a:tc>
                  <a:txBody>
                    <a:bodyPr/>
                    <a:lstStyle/>
                    <a:p>
                      <a:r>
                        <a:rPr sz="1100" b="1">
                          <a:solidFill>
                            <a:srgbClr val="FFFFFF"/>
                          </a:solidFill>
                          <a:latin typeface="Meiryo"/>
                          <a:ea typeface="メイリオ"/>
                          <a:cs typeface="Meiryo"/>
                        </a:rPr>
                        <a:t>対象</a:t>
                      </a:r>
                    </a:p>
                  </a:txBody>
                  <a:tcPr>
                    <a:solidFill>
                      <a:srgbClr val="1F2A5C"/>
                    </a:solidFill>
                  </a:tcPr>
                </a:tc>
                <a:tc>
                  <a:txBody>
                    <a:bodyPr/>
                    <a:lstStyle/>
                    <a:p>
                      <a:r>
                        <a:rPr sz="1100" b="1">
                          <a:solidFill>
                            <a:srgbClr val="FFFFFF"/>
                          </a:solidFill>
                          <a:latin typeface="Meiryo"/>
                          <a:ea typeface="メイリオ"/>
                          <a:cs typeface="Meiryo"/>
                        </a:rPr>
                        <a:t>配信内容</a:t>
                      </a:r>
                    </a:p>
                  </a:txBody>
                  <a:tcPr>
                    <a:solidFill>
                      <a:srgbClr val="1F2A5C"/>
                    </a:solidFill>
                  </a:tcPr>
                </a:tc>
                <a:extLst>
                  <a:ext uri="{0D108BD9-81ED-4DB2-BD59-A6C34878D82A}">
                    <a16:rowId xmlns:a16="http://schemas.microsoft.com/office/drawing/2014/main" val="10000"/>
                  </a:ext>
                </a:extLst>
              </a:tr>
              <a:tr h="411480">
                <a:tc>
                  <a:txBody>
                    <a:bodyPr/>
                    <a:lstStyle/>
                    <a:p>
                      <a:r>
                        <a:rPr sz="1400" b="0" dirty="0">
                          <a:solidFill>
                            <a:srgbClr val="333333"/>
                          </a:solidFill>
                          <a:latin typeface="Meiryo"/>
                          <a:ea typeface="メイリオ"/>
                          <a:cs typeface="Meiryo"/>
                        </a:rPr>
                        <a:t>0日後</a:t>
                      </a:r>
                    </a:p>
                  </a:txBody>
                  <a:tcPr>
                    <a:solidFill>
                      <a:srgbClr val="FFFFFF"/>
                    </a:solidFill>
                  </a:tcPr>
                </a:tc>
                <a:tc>
                  <a:txBody>
                    <a:bodyPr/>
                    <a:lstStyle/>
                    <a:p>
                      <a:r>
                        <a:rPr sz="1400" b="0" dirty="0" err="1">
                          <a:solidFill>
                            <a:srgbClr val="333333"/>
                          </a:solidFill>
                          <a:latin typeface="Meiryo"/>
                          <a:ea typeface="メイリオ"/>
                          <a:cs typeface="Meiryo"/>
                        </a:rPr>
                        <a:t>全員</a:t>
                      </a:r>
                      <a:endParaRPr sz="1400" b="0" dirty="0">
                        <a:solidFill>
                          <a:srgbClr val="333333"/>
                        </a:solidFill>
                        <a:latin typeface="Meiryo"/>
                        <a:ea typeface="メイリオ"/>
                        <a:cs typeface="Meiryo"/>
                      </a:endParaRPr>
                    </a:p>
                  </a:txBody>
                  <a:tcPr>
                    <a:solidFill>
                      <a:srgbClr val="FFFFFF"/>
                    </a:solidFill>
                  </a:tcPr>
                </a:tc>
                <a:tc>
                  <a:txBody>
                    <a:bodyPr/>
                    <a:lstStyle/>
                    <a:p>
                      <a:r>
                        <a:rPr sz="1250" b="0">
                          <a:solidFill>
                            <a:srgbClr val="333333"/>
                          </a:solidFill>
                          <a:latin typeface="Meiryo"/>
                          <a:ea typeface="メイリオ"/>
                          <a:cs typeface="Meiryo"/>
                        </a:rPr>
                        <a:t>あいさつ＋30秒診断＋「整備士の年収相場」を一言</a:t>
                      </a:r>
                    </a:p>
                  </a:txBody>
                  <a:tcPr>
                    <a:solidFill>
                      <a:srgbClr val="FFFFFF"/>
                    </a:solidFill>
                  </a:tcPr>
                </a:tc>
                <a:extLst>
                  <a:ext uri="{0D108BD9-81ED-4DB2-BD59-A6C34878D82A}">
                    <a16:rowId xmlns:a16="http://schemas.microsoft.com/office/drawing/2014/main" val="10001"/>
                  </a:ext>
                </a:extLst>
              </a:tr>
              <a:tr h="411480">
                <a:tc>
                  <a:txBody>
                    <a:bodyPr/>
                    <a:lstStyle/>
                    <a:p>
                      <a:r>
                        <a:rPr sz="1400" b="0">
                          <a:solidFill>
                            <a:srgbClr val="333333"/>
                          </a:solidFill>
                          <a:latin typeface="Meiryo"/>
                          <a:ea typeface="メイリオ"/>
                          <a:cs typeface="Meiryo"/>
                        </a:rPr>
                        <a:t>1日後</a:t>
                      </a:r>
                    </a:p>
                  </a:txBody>
                  <a:tcPr>
                    <a:solidFill>
                      <a:srgbClr val="FFFFFF"/>
                    </a:solidFill>
                  </a:tcPr>
                </a:tc>
                <a:tc>
                  <a:txBody>
                    <a:bodyPr/>
                    <a:lstStyle/>
                    <a:p>
                      <a:r>
                        <a:rPr sz="1400" b="0" dirty="0" err="1">
                          <a:solidFill>
                            <a:srgbClr val="333333"/>
                          </a:solidFill>
                          <a:latin typeface="Meiryo"/>
                          <a:ea typeface="メイリオ"/>
                          <a:cs typeface="Meiryo"/>
                        </a:rPr>
                        <a:t>全員</a:t>
                      </a:r>
                      <a:endParaRPr sz="1400" b="0" dirty="0">
                        <a:solidFill>
                          <a:srgbClr val="333333"/>
                        </a:solidFill>
                        <a:latin typeface="Meiryo"/>
                        <a:ea typeface="メイリオ"/>
                        <a:cs typeface="Meiryo"/>
                      </a:endParaRPr>
                    </a:p>
                  </a:txBody>
                  <a:tcPr>
                    <a:solidFill>
                      <a:srgbClr val="FFFFFF"/>
                    </a:solidFill>
                  </a:tcPr>
                </a:tc>
                <a:tc>
                  <a:txBody>
                    <a:bodyPr/>
                    <a:lstStyle/>
                    <a:p>
                      <a:r>
                        <a:rPr sz="1250" b="0" dirty="0" err="1">
                          <a:solidFill>
                            <a:srgbClr val="333333"/>
                          </a:solidFill>
                          <a:latin typeface="Meiryo"/>
                          <a:ea typeface="メイリオ"/>
                          <a:cs typeface="Meiryo"/>
                        </a:rPr>
                        <a:t>職種図鑑（整備・受付・営業の仕事と年収の違い）</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2"/>
                  </a:ext>
                </a:extLst>
              </a:tr>
              <a:tr h="411480">
                <a:tc>
                  <a:txBody>
                    <a:bodyPr/>
                    <a:lstStyle/>
                    <a:p>
                      <a:r>
                        <a:rPr sz="1400" b="0">
                          <a:solidFill>
                            <a:srgbClr val="333333"/>
                          </a:solidFill>
                          <a:latin typeface="Meiryo"/>
                          <a:ea typeface="メイリオ"/>
                          <a:cs typeface="Meiryo"/>
                        </a:rPr>
                        <a:t>2日後</a:t>
                      </a:r>
                    </a:p>
                  </a:txBody>
                  <a:tcPr>
                    <a:solidFill>
                      <a:srgbClr val="FFFFFF"/>
                    </a:solidFill>
                  </a:tcPr>
                </a:tc>
                <a:tc>
                  <a:txBody>
                    <a:bodyPr/>
                    <a:lstStyle/>
                    <a:p>
                      <a:r>
                        <a:rPr sz="1400" b="0" dirty="0" err="1">
                          <a:solidFill>
                            <a:srgbClr val="333333"/>
                          </a:solidFill>
                          <a:latin typeface="Meiryo"/>
                          <a:ea typeface="メイリオ"/>
                          <a:cs typeface="Meiryo"/>
                        </a:rPr>
                        <a:t>全員</a:t>
                      </a:r>
                      <a:endParaRPr sz="1400" b="0" dirty="0">
                        <a:solidFill>
                          <a:srgbClr val="333333"/>
                        </a:solidFill>
                        <a:latin typeface="Meiryo"/>
                        <a:ea typeface="メイリオ"/>
                        <a:cs typeface="Meiryo"/>
                      </a:endParaRPr>
                    </a:p>
                  </a:txBody>
                  <a:tcPr>
                    <a:solidFill>
                      <a:srgbClr val="FFFFFF"/>
                    </a:solidFill>
                  </a:tcPr>
                </a:tc>
                <a:tc>
                  <a:txBody>
                    <a:bodyPr/>
                    <a:lstStyle/>
                    <a:p>
                      <a:r>
                        <a:rPr sz="1250" b="0" dirty="0" err="1">
                          <a:solidFill>
                            <a:srgbClr val="333333"/>
                          </a:solidFill>
                          <a:latin typeface="Meiryo"/>
                          <a:ea typeface="メイリオ"/>
                          <a:cs typeface="Meiryo"/>
                        </a:rPr>
                        <a:t>働き方（休み・残業・「ホワイトな職場」の見分け方）</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3"/>
                  </a:ext>
                </a:extLst>
              </a:tr>
              <a:tr h="411480">
                <a:tc>
                  <a:txBody>
                    <a:bodyPr/>
                    <a:lstStyle/>
                    <a:p>
                      <a:r>
                        <a:rPr sz="1400" b="0">
                          <a:solidFill>
                            <a:srgbClr val="333333"/>
                          </a:solidFill>
                          <a:latin typeface="Meiryo"/>
                          <a:ea typeface="メイリオ"/>
                          <a:cs typeface="Meiryo"/>
                        </a:rPr>
                        <a:t>3日後</a:t>
                      </a:r>
                    </a:p>
                  </a:txBody>
                  <a:tcPr>
                    <a:solidFill>
                      <a:srgbClr val="FFFFFF"/>
                    </a:solidFill>
                  </a:tcPr>
                </a:tc>
                <a:tc>
                  <a:txBody>
                    <a:bodyPr/>
                    <a:lstStyle/>
                    <a:p>
                      <a:r>
                        <a:rPr sz="1400" b="0">
                          <a:solidFill>
                            <a:srgbClr val="333333"/>
                          </a:solidFill>
                          <a:latin typeface="Meiryo"/>
                          <a:ea typeface="メイリオ"/>
                          <a:cs typeface="Meiryo"/>
                        </a:rPr>
                        <a:t>未予約者</a:t>
                      </a:r>
                    </a:p>
                  </a:txBody>
                  <a:tcPr>
                    <a:solidFill>
                      <a:srgbClr val="FFFFFF"/>
                    </a:solidFill>
                  </a:tcPr>
                </a:tc>
                <a:tc>
                  <a:txBody>
                    <a:bodyPr/>
                    <a:lstStyle/>
                    <a:p>
                      <a:r>
                        <a:rPr sz="1250" b="0" dirty="0" err="1">
                          <a:solidFill>
                            <a:srgbClr val="333333"/>
                          </a:solidFill>
                          <a:latin typeface="Meiryo"/>
                          <a:ea typeface="メイリオ"/>
                          <a:cs typeface="Meiryo"/>
                        </a:rPr>
                        <a:t>面談のご案内①「履歴書、まだ要りません」</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4"/>
                  </a:ext>
                </a:extLst>
              </a:tr>
              <a:tr h="411480">
                <a:tc>
                  <a:txBody>
                    <a:bodyPr/>
                    <a:lstStyle/>
                    <a:p>
                      <a:r>
                        <a:rPr sz="1400" b="0">
                          <a:solidFill>
                            <a:srgbClr val="333333"/>
                          </a:solidFill>
                          <a:latin typeface="Meiryo"/>
                          <a:ea typeface="メイリオ"/>
                          <a:cs typeface="Meiryo"/>
                        </a:rPr>
                        <a:t>5日後</a:t>
                      </a:r>
                    </a:p>
                  </a:txBody>
                  <a:tcPr>
                    <a:solidFill>
                      <a:srgbClr val="FFFFFF"/>
                    </a:solidFill>
                  </a:tcPr>
                </a:tc>
                <a:tc>
                  <a:txBody>
                    <a:bodyPr/>
                    <a:lstStyle/>
                    <a:p>
                      <a:r>
                        <a:rPr sz="1400" b="0">
                          <a:solidFill>
                            <a:srgbClr val="333333"/>
                          </a:solidFill>
                          <a:latin typeface="Meiryo"/>
                          <a:ea typeface="メイリオ"/>
                          <a:cs typeface="Meiryo"/>
                        </a:rPr>
                        <a:t>未予約者</a:t>
                      </a:r>
                    </a:p>
                  </a:txBody>
                  <a:tcPr>
                    <a:solidFill>
                      <a:srgbClr val="FFFFFF"/>
                    </a:solidFill>
                  </a:tcPr>
                </a:tc>
                <a:tc>
                  <a:txBody>
                    <a:bodyPr/>
                    <a:lstStyle/>
                    <a:p>
                      <a:r>
                        <a:rPr sz="1250" b="0" dirty="0" err="1">
                          <a:solidFill>
                            <a:srgbClr val="333333"/>
                          </a:solidFill>
                          <a:latin typeface="Meiryo"/>
                          <a:ea typeface="メイリオ"/>
                          <a:cs typeface="Meiryo"/>
                        </a:rPr>
                        <a:t>ほかの職種との比較（整備士 vs 営業・施工管理）</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5"/>
                  </a:ext>
                </a:extLst>
              </a:tr>
              <a:tr h="411480">
                <a:tc>
                  <a:txBody>
                    <a:bodyPr/>
                    <a:lstStyle/>
                    <a:p>
                      <a:r>
                        <a:rPr sz="1400" b="0">
                          <a:solidFill>
                            <a:srgbClr val="333333"/>
                          </a:solidFill>
                          <a:latin typeface="Meiryo"/>
                          <a:ea typeface="メイリオ"/>
                          <a:cs typeface="Meiryo"/>
                        </a:rPr>
                        <a:t>7日後</a:t>
                      </a:r>
                    </a:p>
                  </a:txBody>
                  <a:tcPr>
                    <a:solidFill>
                      <a:srgbClr val="FFFFFF"/>
                    </a:solidFill>
                  </a:tcPr>
                </a:tc>
                <a:tc>
                  <a:txBody>
                    <a:bodyPr/>
                    <a:lstStyle/>
                    <a:p>
                      <a:r>
                        <a:rPr sz="1400" b="0">
                          <a:solidFill>
                            <a:srgbClr val="333333"/>
                          </a:solidFill>
                          <a:latin typeface="Meiryo"/>
                          <a:ea typeface="メイリオ"/>
                          <a:cs typeface="Meiryo"/>
                        </a:rPr>
                        <a:t>資格別</a:t>
                      </a:r>
                    </a:p>
                  </a:txBody>
                  <a:tcPr>
                    <a:solidFill>
                      <a:srgbClr val="FFFFFF"/>
                    </a:solidFill>
                  </a:tcPr>
                </a:tc>
                <a:tc>
                  <a:txBody>
                    <a:bodyPr/>
                    <a:lstStyle/>
                    <a:p>
                      <a:r>
                        <a:rPr sz="1250" b="0" dirty="0">
                          <a:solidFill>
                            <a:srgbClr val="333333"/>
                          </a:solidFill>
                          <a:latin typeface="Meiryo"/>
                          <a:ea typeface="メイリオ"/>
                          <a:cs typeface="Meiryo"/>
                        </a:rPr>
                        <a:t>資格別の年収相場・キャリアマップ</a:t>
                      </a:r>
                    </a:p>
                  </a:txBody>
                  <a:tcPr>
                    <a:solidFill>
                      <a:srgbClr val="FFFFFF"/>
                    </a:solidFill>
                  </a:tcPr>
                </a:tc>
                <a:extLst>
                  <a:ext uri="{0D108BD9-81ED-4DB2-BD59-A6C34878D82A}">
                    <a16:rowId xmlns:a16="http://schemas.microsoft.com/office/drawing/2014/main" val="10006"/>
                  </a:ext>
                </a:extLst>
              </a:tr>
              <a:tr h="411480">
                <a:tc>
                  <a:txBody>
                    <a:bodyPr/>
                    <a:lstStyle/>
                    <a:p>
                      <a:r>
                        <a:rPr sz="1400" b="0">
                          <a:solidFill>
                            <a:srgbClr val="333333"/>
                          </a:solidFill>
                          <a:latin typeface="Meiryo"/>
                          <a:ea typeface="メイリオ"/>
                          <a:cs typeface="Meiryo"/>
                        </a:rPr>
                        <a:t>10日後</a:t>
                      </a:r>
                    </a:p>
                  </a:txBody>
                  <a:tcPr>
                    <a:solidFill>
                      <a:srgbClr val="FFFFFF"/>
                    </a:solidFill>
                  </a:tcPr>
                </a:tc>
                <a:tc>
                  <a:txBody>
                    <a:bodyPr/>
                    <a:lstStyle/>
                    <a:p>
                      <a:r>
                        <a:rPr sz="1400" b="0">
                          <a:solidFill>
                            <a:srgbClr val="333333"/>
                          </a:solidFill>
                          <a:latin typeface="Meiryo"/>
                          <a:ea typeface="メイリオ"/>
                          <a:cs typeface="Meiryo"/>
                        </a:rPr>
                        <a:t>未予約者</a:t>
                      </a:r>
                    </a:p>
                  </a:txBody>
                  <a:tcPr>
                    <a:solidFill>
                      <a:srgbClr val="FFFFFF"/>
                    </a:solidFill>
                  </a:tcPr>
                </a:tc>
                <a:tc>
                  <a:txBody>
                    <a:bodyPr/>
                    <a:lstStyle/>
                    <a:p>
                      <a:r>
                        <a:rPr sz="1250" b="0" dirty="0" err="1">
                          <a:solidFill>
                            <a:srgbClr val="333333"/>
                          </a:solidFill>
                          <a:latin typeface="Meiryo"/>
                          <a:ea typeface="メイリオ"/>
                          <a:cs typeface="Meiryo"/>
                        </a:rPr>
                        <a:t>現場のリアル（タイヤ交換の繁忙期・工具・手当）</a:t>
                      </a:r>
                    </a:p>
                  </a:txBody>
                  <a:tcPr>
                    <a:solidFill>
                      <a:srgbClr val="FFFFFF"/>
                    </a:solidFill>
                  </a:tcPr>
                </a:tc>
                <a:extLst>
                  <a:ext uri="{0D108BD9-81ED-4DB2-BD59-A6C34878D82A}">
                    <a16:rowId xmlns:a16="http://schemas.microsoft.com/office/drawing/2014/main" val="10007"/>
                  </a:ext>
                </a:extLst>
              </a:tr>
              <a:tr h="411480">
                <a:tc>
                  <a:txBody>
                    <a:bodyPr/>
                    <a:lstStyle/>
                    <a:p>
                      <a:r>
                        <a:rPr sz="1400" b="0">
                          <a:solidFill>
                            <a:srgbClr val="333333"/>
                          </a:solidFill>
                          <a:latin typeface="Meiryo"/>
                          <a:ea typeface="メイリオ"/>
                          <a:cs typeface="Meiryo"/>
                        </a:rPr>
                        <a:t>12日後</a:t>
                      </a:r>
                    </a:p>
                  </a:txBody>
                  <a:tcPr>
                    <a:solidFill>
                      <a:srgbClr val="FFFFFF"/>
                    </a:solidFill>
                  </a:tcPr>
                </a:tc>
                <a:tc>
                  <a:txBody>
                    <a:bodyPr/>
                    <a:lstStyle/>
                    <a:p>
                      <a:r>
                        <a:rPr sz="1400" b="0">
                          <a:solidFill>
                            <a:srgbClr val="333333"/>
                          </a:solidFill>
                          <a:latin typeface="Meiryo"/>
                          <a:ea typeface="メイリオ"/>
                          <a:cs typeface="Meiryo"/>
                        </a:rPr>
                        <a:t>未予約者</a:t>
                      </a:r>
                    </a:p>
                  </a:txBody>
                  <a:tcPr>
                    <a:solidFill>
                      <a:srgbClr val="FFFFFF"/>
                    </a:solidFill>
                  </a:tcPr>
                </a:tc>
                <a:tc>
                  <a:txBody>
                    <a:bodyPr/>
                    <a:lstStyle/>
                    <a:p>
                      <a:r>
                        <a:rPr sz="1250" b="0" dirty="0" err="1">
                          <a:solidFill>
                            <a:srgbClr val="333333"/>
                          </a:solidFill>
                          <a:latin typeface="Meiryo"/>
                          <a:ea typeface="メイリオ"/>
                          <a:cs typeface="Meiryo"/>
                        </a:rPr>
                        <a:t>地域別の求人ピックアップ（オートバックスG）</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8"/>
                  </a:ext>
                </a:extLst>
              </a:tr>
              <a:tr h="411480">
                <a:tc>
                  <a:txBody>
                    <a:bodyPr/>
                    <a:lstStyle/>
                    <a:p>
                      <a:r>
                        <a:rPr sz="1400" b="0">
                          <a:solidFill>
                            <a:srgbClr val="333333"/>
                          </a:solidFill>
                          <a:latin typeface="Meiryo"/>
                          <a:ea typeface="メイリオ"/>
                          <a:cs typeface="Meiryo"/>
                        </a:rPr>
                        <a:t>14日後</a:t>
                      </a:r>
                    </a:p>
                  </a:txBody>
                  <a:tcPr>
                    <a:solidFill>
                      <a:srgbClr val="FFFFFF"/>
                    </a:solidFill>
                  </a:tcPr>
                </a:tc>
                <a:tc>
                  <a:txBody>
                    <a:bodyPr/>
                    <a:lstStyle/>
                    <a:p>
                      <a:r>
                        <a:rPr sz="1400" b="0">
                          <a:solidFill>
                            <a:srgbClr val="333333"/>
                          </a:solidFill>
                          <a:latin typeface="Meiryo"/>
                          <a:ea typeface="メイリオ"/>
                          <a:cs typeface="Meiryo"/>
                        </a:rPr>
                        <a:t>未予約者</a:t>
                      </a:r>
                    </a:p>
                  </a:txBody>
                  <a:tcPr>
                    <a:solidFill>
                      <a:srgbClr val="FFFFFF"/>
                    </a:solidFill>
                  </a:tcPr>
                </a:tc>
                <a:tc>
                  <a:txBody>
                    <a:bodyPr/>
                    <a:lstStyle/>
                    <a:p>
                      <a:r>
                        <a:rPr sz="1250" b="0" dirty="0" err="1">
                          <a:solidFill>
                            <a:srgbClr val="333333"/>
                          </a:solidFill>
                          <a:latin typeface="Meiryo"/>
                          <a:ea typeface="メイリオ"/>
                          <a:cs typeface="Meiryo"/>
                        </a:rPr>
                        <a:t>面談のご案内②＋以後は月数回の定常配信へ切替</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9"/>
                  </a:ext>
                </a:extLst>
              </a:tr>
            </a:tbl>
          </a:graphicData>
        </a:graphic>
      </p:graphicFrame>
      <p:sp>
        <p:nvSpPr>
          <p:cNvPr id="47" name="TextBox 46"/>
          <p:cNvSpPr txBox="1"/>
          <p:nvPr/>
        </p:nvSpPr>
        <p:spPr>
          <a:xfrm>
            <a:off x="429768" y="5439240"/>
            <a:ext cx="9052560" cy="677108"/>
          </a:xfrm>
          <a:prstGeom prst="rect">
            <a:avLst/>
          </a:prstGeom>
          <a:noFill/>
        </p:spPr>
        <p:txBody>
          <a:bodyPr wrap="square">
            <a:spAutoFit/>
          </a:bodyPr>
          <a:lstStyle/>
          <a:p>
            <a:r>
              <a:rPr sz="1400" b="1" dirty="0">
                <a:solidFill>
                  <a:srgbClr val="BF4E0E"/>
                </a:solidFill>
                <a:latin typeface="Meiryo"/>
                <a:ea typeface="メイリオ"/>
                <a:cs typeface="Meiryo"/>
              </a:rPr>
              <a:t>職業への関心は検索当日〜2日後に集中 → 関心が消える前の3日目に1回目の面談案内</a:t>
            </a:r>
          </a:p>
          <a:p>
            <a:r>
              <a:rPr sz="1400" b="1" dirty="0">
                <a:solidFill>
                  <a:srgbClr val="BF4E0E"/>
                </a:solidFill>
                <a:latin typeface="Meiryo"/>
                <a:ea typeface="メイリオ"/>
                <a:cs typeface="Meiryo"/>
              </a:rPr>
              <a:t>面談・応募 89件（6ヶ月累計・SIM①）＝ 累計CPA 29,697円として算出</a:t>
            </a:r>
          </a:p>
          <a:p>
            <a:r>
              <a:rPr sz="1400" b="1" dirty="0">
                <a:solidFill>
                  <a:srgbClr val="BF4E0E"/>
                </a:solidFill>
                <a:latin typeface="Meiryo"/>
                <a:ea typeface="メイリオ"/>
                <a:cs typeface="Meiryo"/>
              </a:rPr>
              <a:t>面談予約で止めず、就業までLINEで追いきります（面談前日リマインド→当日案内→面談後フォロー）</a:t>
            </a:r>
          </a:p>
        </p:txBody>
      </p:sp>
      <p:sp>
        <p:nvSpPr>
          <p:cNvPr id="48" name="TextBox 47"/>
          <p:cNvSpPr txBox="1"/>
          <p:nvPr/>
        </p:nvSpPr>
        <p:spPr>
          <a:xfrm>
            <a:off x="384048" y="6355080"/>
            <a:ext cx="9052560" cy="402336"/>
          </a:xfrm>
          <a:prstGeom prst="rect">
            <a:avLst/>
          </a:prstGeom>
          <a:noFill/>
        </p:spPr>
        <p:txBody>
          <a:bodyPr wrap="square">
            <a:spAutoFit/>
          </a:bodyPr>
          <a:lstStyle/>
          <a:p>
            <a:r>
              <a:rPr sz="850">
                <a:solidFill>
                  <a:srgbClr val="9AA1AE"/>
                </a:solidFill>
                <a:latin typeface="Meiryo"/>
                <a:ea typeface="メイリオ"/>
                <a:cs typeface="Meiryo"/>
              </a:rPr>
              <a:t>出典：LINEヤフー 前後検索データ（起点KW：カーディーラー）／コンテンツ案v1（別紙・配信文面の全文）</a:t>
            </a:r>
          </a:p>
        </p:txBody>
      </p:sp>
    </p:spTree>
    <p:extLst>
      <p:ext uri="{BB962C8B-B14F-4D97-AF65-F5344CB8AC3E}">
        <p14:creationId xmlns:p14="http://schemas.microsoft.com/office/powerpoint/2010/main" val="145194516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52631F-440C-AF04-0C69-2C8669EB8048}"/>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31E2EA7B-C600-B2D1-CD65-C1E3A0BAC1C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0CEAAEBF-17CB-F7AA-64C4-77326BCE5A58}"/>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88DE529D-6E0B-3592-BFB0-3C2405533B79}"/>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想定企画【年間】</a:t>
            </a:r>
            <a:endParaRPr sz="1600" b="1" dirty="0">
              <a:solidFill>
                <a:srgbClr val="002060"/>
              </a:solidFill>
              <a:latin typeface="Meiryo"/>
              <a:ea typeface="Meiryo"/>
              <a:cs typeface="Meiryo"/>
              <a:sym typeface="Meiryo"/>
            </a:endParaRPr>
          </a:p>
        </p:txBody>
      </p:sp>
      <p:sp>
        <p:nvSpPr>
          <p:cNvPr id="8" name="TextBox 2">
            <a:extLst>
              <a:ext uri="{FF2B5EF4-FFF2-40B4-BE49-F238E27FC236}">
                <a16:creationId xmlns:a16="http://schemas.microsoft.com/office/drawing/2014/main" id="{551FC70B-4309-2843-C73C-E5466FCF9976}"/>
              </a:ext>
            </a:extLst>
          </p:cNvPr>
          <p:cNvSpPr txBox="1"/>
          <p:nvPr/>
        </p:nvSpPr>
        <p:spPr>
          <a:xfrm>
            <a:off x="457200" y="914400"/>
            <a:ext cx="8988552" cy="307777"/>
          </a:xfrm>
          <a:prstGeom prst="rect">
            <a:avLst/>
          </a:prstGeom>
          <a:noFill/>
        </p:spPr>
        <p:txBody>
          <a:bodyPr wrap="square">
            <a:spAutoFit/>
          </a:bodyPr>
          <a:lstStyle/>
          <a:p>
            <a:pPr algn="l"/>
            <a:r>
              <a:rPr sz="1400" b="0" i="0" dirty="0" err="1">
                <a:solidFill>
                  <a:srgbClr val="333333"/>
                </a:solidFill>
                <a:latin typeface="Meiryo"/>
                <a:ea typeface="メイリオ"/>
                <a:cs typeface="Meiryo"/>
              </a:rPr>
              <a:t>年間を通じて、友だち増加・面談獲得・ブロック防止を狙う企画投稿を月別に配置する（月4本）</a:t>
            </a:r>
            <a:endParaRPr sz="1400" b="0" i="0" dirty="0">
              <a:solidFill>
                <a:srgbClr val="333333"/>
              </a:solidFill>
              <a:latin typeface="Meiryo"/>
              <a:ea typeface="メイリオ"/>
              <a:cs typeface="Meiryo"/>
            </a:endParaRPr>
          </a:p>
        </p:txBody>
      </p:sp>
      <p:graphicFrame>
        <p:nvGraphicFramePr>
          <p:cNvPr id="46" name="Table 45"/>
          <p:cNvGraphicFramePr>
            <a:graphicFrameLocks noGrp="1"/>
          </p:cNvGraphicFramePr>
          <p:nvPr>
            <p:extLst>
              <p:ext uri="{D42A27DB-BD31-4B8C-83A1-F6EECF244321}">
                <p14:modId xmlns:p14="http://schemas.microsoft.com/office/powerpoint/2010/main" val="87126696"/>
              </p:ext>
            </p:extLst>
          </p:nvPr>
        </p:nvGraphicFramePr>
        <p:xfrm>
          <a:off x="457200" y="1371600"/>
          <a:ext cx="8988551" cy="4526280"/>
        </p:xfrm>
        <a:graphic>
          <a:graphicData uri="http://schemas.openxmlformats.org/drawingml/2006/table">
            <a:tbl>
              <a:tblPr firstRow="1" bandRow="1">
                <a:tableStyleId>{5C22544A-7EE6-4342-B048-85BDC9FD1C3A}</a:tableStyleId>
              </a:tblPr>
              <a:tblGrid>
                <a:gridCol w="1438168">
                  <a:extLst>
                    <a:ext uri="{9D8B030D-6E8A-4147-A177-3AD203B41FA5}">
                      <a16:colId xmlns:a16="http://schemas.microsoft.com/office/drawing/2014/main" val="20000"/>
                    </a:ext>
                  </a:extLst>
                </a:gridCol>
                <a:gridCol w="2696565">
                  <a:extLst>
                    <a:ext uri="{9D8B030D-6E8A-4147-A177-3AD203B41FA5}">
                      <a16:colId xmlns:a16="http://schemas.microsoft.com/office/drawing/2014/main" val="20001"/>
                    </a:ext>
                  </a:extLst>
                </a:gridCol>
                <a:gridCol w="4853818">
                  <a:extLst>
                    <a:ext uri="{9D8B030D-6E8A-4147-A177-3AD203B41FA5}">
                      <a16:colId xmlns:a16="http://schemas.microsoft.com/office/drawing/2014/main" val="20002"/>
                    </a:ext>
                  </a:extLst>
                </a:gridCol>
              </a:tblGrid>
              <a:tr h="411480">
                <a:tc>
                  <a:txBody>
                    <a:bodyPr/>
                    <a:lstStyle/>
                    <a:p>
                      <a:r>
                        <a:rPr sz="1100" b="1">
                          <a:solidFill>
                            <a:srgbClr val="FFFFFF"/>
                          </a:solidFill>
                          <a:latin typeface="Meiryo"/>
                          <a:ea typeface="メイリオ"/>
                          <a:cs typeface="Meiryo"/>
                        </a:rPr>
                        <a:t>時期</a:t>
                      </a:r>
                    </a:p>
                  </a:txBody>
                  <a:tcPr>
                    <a:solidFill>
                      <a:srgbClr val="1F2A5C"/>
                    </a:solidFill>
                  </a:tcPr>
                </a:tc>
                <a:tc>
                  <a:txBody>
                    <a:bodyPr/>
                    <a:lstStyle/>
                    <a:p>
                      <a:r>
                        <a:rPr sz="1100" b="1">
                          <a:solidFill>
                            <a:srgbClr val="FFFFFF"/>
                          </a:solidFill>
                          <a:latin typeface="Meiryo"/>
                          <a:ea typeface="メイリオ"/>
                          <a:cs typeface="Meiryo"/>
                        </a:rPr>
                        <a:t>企画</a:t>
                      </a:r>
                    </a:p>
                  </a:txBody>
                  <a:tcPr>
                    <a:solidFill>
                      <a:srgbClr val="1F2A5C"/>
                    </a:solidFill>
                  </a:tcPr>
                </a:tc>
                <a:tc>
                  <a:txBody>
                    <a:bodyPr/>
                    <a:lstStyle/>
                    <a:p>
                      <a:r>
                        <a:rPr sz="1100" b="1">
                          <a:solidFill>
                            <a:srgbClr val="FFFFFF"/>
                          </a:solidFill>
                          <a:latin typeface="Meiryo"/>
                          <a:ea typeface="メイリオ"/>
                          <a:cs typeface="Meiryo"/>
                        </a:rPr>
                        <a:t>内容</a:t>
                      </a:r>
                    </a:p>
                  </a:txBody>
                  <a:tcPr>
                    <a:solidFill>
                      <a:srgbClr val="1F2A5C"/>
                    </a:solidFill>
                  </a:tcPr>
                </a:tc>
                <a:extLst>
                  <a:ext uri="{0D108BD9-81ED-4DB2-BD59-A6C34878D82A}">
                    <a16:rowId xmlns:a16="http://schemas.microsoft.com/office/drawing/2014/main" val="10000"/>
                  </a:ext>
                </a:extLst>
              </a:tr>
              <a:tr h="411480">
                <a:tc>
                  <a:txBody>
                    <a:bodyPr/>
                    <a:lstStyle/>
                    <a:p>
                      <a:r>
                        <a:rPr sz="1400" b="0" dirty="0">
                          <a:solidFill>
                            <a:srgbClr val="333333"/>
                          </a:solidFill>
                          <a:latin typeface="Meiryo"/>
                          <a:ea typeface="メイリオ"/>
                          <a:cs typeface="Meiryo"/>
                        </a:rPr>
                        <a:t>1-2月</a:t>
                      </a:r>
                    </a:p>
                  </a:txBody>
                  <a:tcPr>
                    <a:solidFill>
                      <a:srgbClr val="FFFFFF"/>
                    </a:solidFill>
                  </a:tcPr>
                </a:tc>
                <a:tc>
                  <a:txBody>
                    <a:bodyPr/>
                    <a:lstStyle/>
                    <a:p>
                      <a:r>
                        <a:rPr sz="1400" b="0">
                          <a:solidFill>
                            <a:srgbClr val="333333"/>
                          </a:solidFill>
                          <a:latin typeface="Meiryo"/>
                          <a:ea typeface="メイリオ"/>
                          <a:cs typeface="Meiryo"/>
                        </a:rPr>
                        <a:t>「冬のうちに相談だけ」訴求</a:t>
                      </a:r>
                    </a:p>
                  </a:txBody>
                  <a:tcPr>
                    <a:solidFill>
                      <a:srgbClr val="FFFFFF"/>
                    </a:solidFill>
                  </a:tcPr>
                </a:tc>
                <a:tc>
                  <a:txBody>
                    <a:bodyPr/>
                    <a:lstStyle/>
                    <a:p>
                      <a:r>
                        <a:rPr sz="1400" b="0">
                          <a:solidFill>
                            <a:srgbClr val="333333"/>
                          </a:solidFill>
                          <a:latin typeface="Meiryo"/>
                          <a:ea typeface="メイリオ"/>
                          <a:cs typeface="Meiryo"/>
                        </a:rPr>
                        <a:t>3月の山に向けて前倒し。在職中でも相談OKを打ち出す</a:t>
                      </a:r>
                    </a:p>
                  </a:txBody>
                  <a:tcPr>
                    <a:solidFill>
                      <a:srgbClr val="FFFFFF"/>
                    </a:solidFill>
                  </a:tcPr>
                </a:tc>
                <a:extLst>
                  <a:ext uri="{0D108BD9-81ED-4DB2-BD59-A6C34878D82A}">
                    <a16:rowId xmlns:a16="http://schemas.microsoft.com/office/drawing/2014/main" val="10001"/>
                  </a:ext>
                </a:extLst>
              </a:tr>
              <a:tr h="411480">
                <a:tc>
                  <a:txBody>
                    <a:bodyPr/>
                    <a:lstStyle/>
                    <a:p>
                      <a:r>
                        <a:rPr sz="1400" b="0">
                          <a:solidFill>
                            <a:srgbClr val="333333"/>
                          </a:solidFill>
                          <a:latin typeface="Meiryo"/>
                          <a:ea typeface="メイリオ"/>
                          <a:cs typeface="Meiryo"/>
                        </a:rPr>
                        <a:t>3月</a:t>
                      </a:r>
                    </a:p>
                  </a:txBody>
                  <a:tcPr>
                    <a:solidFill>
                      <a:srgbClr val="FFFFFF"/>
                    </a:solidFill>
                  </a:tcPr>
                </a:tc>
                <a:tc>
                  <a:txBody>
                    <a:bodyPr/>
                    <a:lstStyle/>
                    <a:p>
                      <a:r>
                        <a:rPr sz="1400" b="0">
                          <a:solidFill>
                            <a:srgbClr val="333333"/>
                          </a:solidFill>
                          <a:latin typeface="Meiryo"/>
                          <a:ea typeface="メイリオ"/>
                          <a:cs typeface="Meiryo"/>
                        </a:rPr>
                        <a:t>年度替わり求人特集</a:t>
                      </a:r>
                    </a:p>
                  </a:txBody>
                  <a:tcPr>
                    <a:solidFill>
                      <a:srgbClr val="FFFFFF"/>
                    </a:solidFill>
                  </a:tcPr>
                </a:tc>
                <a:tc>
                  <a:txBody>
                    <a:bodyPr/>
                    <a:lstStyle/>
                    <a:p>
                      <a:r>
                        <a:rPr sz="1400" b="0">
                          <a:solidFill>
                            <a:srgbClr val="333333"/>
                          </a:solidFill>
                          <a:latin typeface="Meiryo"/>
                          <a:ea typeface="メイリオ"/>
                          <a:cs typeface="Meiryo"/>
                        </a:rPr>
                        <a:t>4月入社求人を地域別に配信（3月＝検索の山）</a:t>
                      </a:r>
                    </a:p>
                  </a:txBody>
                  <a:tcPr>
                    <a:solidFill>
                      <a:srgbClr val="FFFFFF"/>
                    </a:solidFill>
                  </a:tcPr>
                </a:tc>
                <a:extLst>
                  <a:ext uri="{0D108BD9-81ED-4DB2-BD59-A6C34878D82A}">
                    <a16:rowId xmlns:a16="http://schemas.microsoft.com/office/drawing/2014/main" val="10002"/>
                  </a:ext>
                </a:extLst>
              </a:tr>
              <a:tr h="411480">
                <a:tc>
                  <a:txBody>
                    <a:bodyPr/>
                    <a:lstStyle/>
                    <a:p>
                      <a:r>
                        <a:rPr sz="1400" b="0">
                          <a:solidFill>
                            <a:srgbClr val="333333"/>
                          </a:solidFill>
                          <a:latin typeface="Meiryo"/>
                          <a:ea typeface="メイリオ"/>
                          <a:cs typeface="Meiryo"/>
                        </a:rPr>
                        <a:t>3-4月</a:t>
                      </a:r>
                    </a:p>
                  </a:txBody>
                  <a:tcPr>
                    <a:solidFill>
                      <a:srgbClr val="FFFFFF"/>
                    </a:solidFill>
                  </a:tcPr>
                </a:tc>
                <a:tc>
                  <a:txBody>
                    <a:bodyPr/>
                    <a:lstStyle/>
                    <a:p>
                      <a:r>
                        <a:rPr sz="1400" b="0">
                          <a:solidFill>
                            <a:srgbClr val="333333"/>
                          </a:solidFill>
                          <a:latin typeface="Meiryo"/>
                          <a:ea typeface="メイリオ"/>
                          <a:cs typeface="Meiryo"/>
                        </a:rPr>
                        <a:t>資格取得者向け特集</a:t>
                      </a:r>
                    </a:p>
                  </a:txBody>
                  <a:tcPr>
                    <a:solidFill>
                      <a:srgbClr val="FFFFFF"/>
                    </a:solidFill>
                  </a:tcPr>
                </a:tc>
                <a:tc>
                  <a:txBody>
                    <a:bodyPr/>
                    <a:lstStyle/>
                    <a:p>
                      <a:r>
                        <a:rPr sz="1400" b="0">
                          <a:solidFill>
                            <a:srgbClr val="333333"/>
                          </a:solidFill>
                          <a:latin typeface="Meiryo"/>
                          <a:ea typeface="メイリオ"/>
                          <a:cs typeface="Meiryo"/>
                        </a:rPr>
                        <a:t>2級・検査員の合格者へ資格別の年収相場を配信</a:t>
                      </a:r>
                    </a:p>
                  </a:txBody>
                  <a:tcPr>
                    <a:solidFill>
                      <a:srgbClr val="FFFFFF"/>
                    </a:solidFill>
                  </a:tcPr>
                </a:tc>
                <a:extLst>
                  <a:ext uri="{0D108BD9-81ED-4DB2-BD59-A6C34878D82A}">
                    <a16:rowId xmlns:a16="http://schemas.microsoft.com/office/drawing/2014/main" val="10003"/>
                  </a:ext>
                </a:extLst>
              </a:tr>
              <a:tr h="411480">
                <a:tc>
                  <a:txBody>
                    <a:bodyPr/>
                    <a:lstStyle/>
                    <a:p>
                      <a:r>
                        <a:rPr sz="1400" b="0">
                          <a:solidFill>
                            <a:srgbClr val="333333"/>
                          </a:solidFill>
                          <a:latin typeface="Meiryo"/>
                          <a:ea typeface="メイリオ"/>
                          <a:cs typeface="Meiryo"/>
                        </a:rPr>
                        <a:t>5月</a:t>
                      </a:r>
                    </a:p>
                  </a:txBody>
                  <a:tcPr>
                    <a:solidFill>
                      <a:srgbClr val="FFFFFF"/>
                    </a:solidFill>
                  </a:tcPr>
                </a:tc>
                <a:tc>
                  <a:txBody>
                    <a:bodyPr/>
                    <a:lstStyle/>
                    <a:p>
                      <a:r>
                        <a:rPr sz="1400" b="0" dirty="0" err="1">
                          <a:solidFill>
                            <a:srgbClr val="333333"/>
                          </a:solidFill>
                          <a:latin typeface="Meiryo"/>
                          <a:ea typeface="メイリオ"/>
                          <a:cs typeface="Meiryo"/>
                        </a:rPr>
                        <a:t>連休明けの見直し訴求</a:t>
                      </a:r>
                      <a:endParaRPr sz="1400" b="0" dirty="0">
                        <a:solidFill>
                          <a:srgbClr val="333333"/>
                        </a:solidFill>
                        <a:latin typeface="Meiryo"/>
                        <a:ea typeface="メイリオ"/>
                        <a:cs typeface="Meiryo"/>
                      </a:endParaRPr>
                    </a:p>
                  </a:txBody>
                  <a:tcPr>
                    <a:solidFill>
                      <a:srgbClr val="FFFFFF"/>
                    </a:solidFill>
                  </a:tcPr>
                </a:tc>
                <a:tc>
                  <a:txBody>
                    <a:bodyPr/>
                    <a:lstStyle/>
                    <a:p>
                      <a:r>
                        <a:rPr sz="1400" b="0">
                          <a:solidFill>
                            <a:srgbClr val="333333"/>
                          </a:solidFill>
                          <a:latin typeface="Meiryo"/>
                          <a:ea typeface="メイリオ"/>
                          <a:cs typeface="Meiryo"/>
                        </a:rPr>
                        <a:t>GW明けの「このままでいいか」層を面談へ</a:t>
                      </a:r>
                    </a:p>
                  </a:txBody>
                  <a:tcPr>
                    <a:solidFill>
                      <a:srgbClr val="FFFFFF"/>
                    </a:solidFill>
                  </a:tcPr>
                </a:tc>
                <a:extLst>
                  <a:ext uri="{0D108BD9-81ED-4DB2-BD59-A6C34878D82A}">
                    <a16:rowId xmlns:a16="http://schemas.microsoft.com/office/drawing/2014/main" val="10004"/>
                  </a:ext>
                </a:extLst>
              </a:tr>
              <a:tr h="411480">
                <a:tc>
                  <a:txBody>
                    <a:bodyPr/>
                    <a:lstStyle/>
                    <a:p>
                      <a:r>
                        <a:rPr sz="1400" b="0">
                          <a:solidFill>
                            <a:srgbClr val="333333"/>
                          </a:solidFill>
                          <a:latin typeface="Meiryo"/>
                          <a:ea typeface="メイリオ"/>
                          <a:cs typeface="Meiryo"/>
                        </a:rPr>
                        <a:t>6月</a:t>
                      </a:r>
                    </a:p>
                  </a:txBody>
                  <a:tcPr>
                    <a:solidFill>
                      <a:srgbClr val="FFFFFF"/>
                    </a:solidFill>
                  </a:tcPr>
                </a:tc>
                <a:tc>
                  <a:txBody>
                    <a:bodyPr/>
                    <a:lstStyle/>
                    <a:p>
                      <a:r>
                        <a:rPr sz="1400" b="0">
                          <a:solidFill>
                            <a:srgbClr val="333333"/>
                          </a:solidFill>
                          <a:latin typeface="Meiryo"/>
                          <a:ea typeface="メイリオ"/>
                          <a:cs typeface="Meiryo"/>
                        </a:rPr>
                        <a:t>LINEリサーチでニーズ収集</a:t>
                      </a:r>
                    </a:p>
                  </a:txBody>
                  <a:tcPr>
                    <a:solidFill>
                      <a:srgbClr val="FFFFFF"/>
                    </a:solidFill>
                  </a:tcPr>
                </a:tc>
                <a:tc>
                  <a:txBody>
                    <a:bodyPr/>
                    <a:lstStyle/>
                    <a:p>
                      <a:r>
                        <a:rPr sz="1400" b="0">
                          <a:solidFill>
                            <a:srgbClr val="333333"/>
                          </a:solidFill>
                          <a:latin typeface="Meiryo"/>
                          <a:ea typeface="メイリオ"/>
                          <a:cs typeface="Meiryo"/>
                        </a:rPr>
                        <a:t>転職理由・希望条件を簡易アンケートで把握し企画に反映</a:t>
                      </a:r>
                    </a:p>
                  </a:txBody>
                  <a:tcPr>
                    <a:solidFill>
                      <a:srgbClr val="FFFFFF"/>
                    </a:solidFill>
                  </a:tcPr>
                </a:tc>
                <a:extLst>
                  <a:ext uri="{0D108BD9-81ED-4DB2-BD59-A6C34878D82A}">
                    <a16:rowId xmlns:a16="http://schemas.microsoft.com/office/drawing/2014/main" val="10005"/>
                  </a:ext>
                </a:extLst>
              </a:tr>
              <a:tr h="411480">
                <a:tc>
                  <a:txBody>
                    <a:bodyPr/>
                    <a:lstStyle/>
                    <a:p>
                      <a:r>
                        <a:rPr sz="1400" b="0">
                          <a:solidFill>
                            <a:srgbClr val="333333"/>
                          </a:solidFill>
                          <a:latin typeface="Meiryo"/>
                          <a:ea typeface="メイリオ"/>
                          <a:cs typeface="Meiryo"/>
                        </a:rPr>
                        <a:t>7-8月</a:t>
                      </a:r>
                    </a:p>
                  </a:txBody>
                  <a:tcPr>
                    <a:solidFill>
                      <a:srgbClr val="FFFFFF"/>
                    </a:solidFill>
                  </a:tcPr>
                </a:tc>
                <a:tc>
                  <a:txBody>
                    <a:bodyPr/>
                    <a:lstStyle/>
                    <a:p>
                      <a:r>
                        <a:rPr sz="1400" b="0" dirty="0" err="1">
                          <a:solidFill>
                            <a:srgbClr val="333333"/>
                          </a:solidFill>
                          <a:latin typeface="Meiryo"/>
                          <a:ea typeface="メイリオ"/>
                          <a:cs typeface="Meiryo"/>
                        </a:rPr>
                        <a:t>賞与後の転職検討特集</a:t>
                      </a:r>
                      <a:endParaRPr sz="1400" b="0" dirty="0">
                        <a:solidFill>
                          <a:srgbClr val="333333"/>
                        </a:solidFill>
                        <a:latin typeface="Meiryo"/>
                        <a:ea typeface="メイリオ"/>
                        <a:cs typeface="Meiryo"/>
                      </a:endParaRPr>
                    </a:p>
                  </a:txBody>
                  <a:tcPr>
                    <a:solidFill>
                      <a:srgbClr val="FFFFFF"/>
                    </a:solidFill>
                  </a:tcPr>
                </a:tc>
                <a:tc>
                  <a:txBody>
                    <a:bodyPr/>
                    <a:lstStyle/>
                    <a:p>
                      <a:r>
                        <a:rPr sz="1400" b="0" dirty="0" err="1">
                          <a:solidFill>
                            <a:srgbClr val="333333"/>
                          </a:solidFill>
                          <a:latin typeface="Meiryo"/>
                          <a:ea typeface="メイリオ"/>
                          <a:cs typeface="Meiryo"/>
                        </a:rPr>
                        <a:t>夏のボーナス後に動く層へ年収相場・求人を配信</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6"/>
                  </a:ext>
                </a:extLst>
              </a:tr>
              <a:tr h="411480">
                <a:tc>
                  <a:txBody>
                    <a:bodyPr/>
                    <a:lstStyle/>
                    <a:p>
                      <a:r>
                        <a:rPr sz="1400" b="0">
                          <a:solidFill>
                            <a:srgbClr val="333333"/>
                          </a:solidFill>
                          <a:latin typeface="Meiryo"/>
                          <a:ea typeface="メイリオ"/>
                          <a:cs typeface="Meiryo"/>
                        </a:rPr>
                        <a:t>9月</a:t>
                      </a:r>
                    </a:p>
                  </a:txBody>
                  <a:tcPr>
                    <a:solidFill>
                      <a:srgbClr val="FFFFFF"/>
                    </a:solidFill>
                  </a:tcPr>
                </a:tc>
                <a:tc>
                  <a:txBody>
                    <a:bodyPr/>
                    <a:lstStyle/>
                    <a:p>
                      <a:r>
                        <a:rPr sz="1400" b="0">
                          <a:solidFill>
                            <a:srgbClr val="333333"/>
                          </a:solidFill>
                          <a:latin typeface="Meiryo"/>
                          <a:ea typeface="メイリオ"/>
                          <a:cs typeface="Meiryo"/>
                        </a:rPr>
                        <a:t>資格取得・キャリア特集</a:t>
                      </a:r>
                    </a:p>
                  </a:txBody>
                  <a:tcPr>
                    <a:solidFill>
                      <a:srgbClr val="FFFFFF"/>
                    </a:solidFill>
                  </a:tcPr>
                </a:tc>
                <a:tc>
                  <a:txBody>
                    <a:bodyPr/>
                    <a:lstStyle/>
                    <a:p>
                      <a:r>
                        <a:rPr sz="1400" b="0" dirty="0" err="1">
                          <a:solidFill>
                            <a:srgbClr val="333333"/>
                          </a:solidFill>
                          <a:latin typeface="Meiryo"/>
                          <a:ea typeface="メイリオ"/>
                          <a:cs typeface="Meiryo"/>
                        </a:rPr>
                        <a:t>無資格・3級向けに整備士育成プロジェクトを案内</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7"/>
                  </a:ext>
                </a:extLst>
              </a:tr>
              <a:tr h="411480">
                <a:tc>
                  <a:txBody>
                    <a:bodyPr/>
                    <a:lstStyle/>
                    <a:p>
                      <a:r>
                        <a:rPr sz="1400" b="0">
                          <a:solidFill>
                            <a:srgbClr val="333333"/>
                          </a:solidFill>
                          <a:latin typeface="Meiryo"/>
                          <a:ea typeface="メイリオ"/>
                          <a:cs typeface="Meiryo"/>
                        </a:rPr>
                        <a:t>10月</a:t>
                      </a:r>
                    </a:p>
                  </a:txBody>
                  <a:tcPr>
                    <a:solidFill>
                      <a:srgbClr val="FFFFFF"/>
                    </a:solidFill>
                  </a:tcPr>
                </a:tc>
                <a:tc>
                  <a:txBody>
                    <a:bodyPr/>
                    <a:lstStyle/>
                    <a:p>
                      <a:r>
                        <a:rPr sz="1400" b="0">
                          <a:solidFill>
                            <a:srgbClr val="333333"/>
                          </a:solidFill>
                          <a:latin typeface="Meiryo"/>
                          <a:ea typeface="メイリオ"/>
                          <a:cs typeface="Meiryo"/>
                        </a:rPr>
                        <a:t>年内入社ラストコール</a:t>
                      </a:r>
                    </a:p>
                  </a:txBody>
                  <a:tcPr>
                    <a:solidFill>
                      <a:srgbClr val="FFFFFF"/>
                    </a:solidFill>
                  </a:tcPr>
                </a:tc>
                <a:tc>
                  <a:txBody>
                    <a:bodyPr/>
                    <a:lstStyle/>
                    <a:p>
                      <a:r>
                        <a:rPr sz="1400" b="0" dirty="0" err="1">
                          <a:solidFill>
                            <a:srgbClr val="333333"/>
                          </a:solidFill>
                          <a:latin typeface="Meiryo"/>
                          <a:ea typeface="メイリオ"/>
                          <a:cs typeface="Meiryo"/>
                        </a:rPr>
                        <a:t>年内に動きたい層へ面談枠をご案内</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8"/>
                  </a:ext>
                </a:extLst>
              </a:tr>
              <a:tr h="411480">
                <a:tc>
                  <a:txBody>
                    <a:bodyPr/>
                    <a:lstStyle/>
                    <a:p>
                      <a:r>
                        <a:rPr sz="1400" b="0">
                          <a:solidFill>
                            <a:srgbClr val="333333"/>
                          </a:solidFill>
                          <a:latin typeface="Meiryo"/>
                          <a:ea typeface="メイリオ"/>
                          <a:cs typeface="Meiryo"/>
                        </a:rPr>
                        <a:t>11月</a:t>
                      </a:r>
                    </a:p>
                  </a:txBody>
                  <a:tcPr>
                    <a:solidFill>
                      <a:srgbClr val="FFFFFF"/>
                    </a:solidFill>
                  </a:tcPr>
                </a:tc>
                <a:tc>
                  <a:txBody>
                    <a:bodyPr/>
                    <a:lstStyle/>
                    <a:p>
                      <a:r>
                        <a:rPr sz="1400" b="0">
                          <a:solidFill>
                            <a:srgbClr val="333333"/>
                          </a:solidFill>
                          <a:latin typeface="Meiryo"/>
                          <a:ea typeface="メイリオ"/>
                          <a:cs typeface="Meiryo"/>
                        </a:rPr>
                        <a:t>冬の繁忙期＝現場のリアル</a:t>
                      </a:r>
                    </a:p>
                  </a:txBody>
                  <a:tcPr>
                    <a:solidFill>
                      <a:srgbClr val="FFFFFF"/>
                    </a:solidFill>
                  </a:tcPr>
                </a:tc>
                <a:tc>
                  <a:txBody>
                    <a:bodyPr/>
                    <a:lstStyle/>
                    <a:p>
                      <a:r>
                        <a:rPr sz="1400" b="0" dirty="0" err="1">
                          <a:solidFill>
                            <a:srgbClr val="333333"/>
                          </a:solidFill>
                          <a:latin typeface="Meiryo"/>
                          <a:ea typeface="メイリオ"/>
                          <a:cs typeface="Meiryo"/>
                        </a:rPr>
                        <a:t>スタッドレス・タイヤ交換期の現場と手当を紹介</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9"/>
                  </a:ext>
                </a:extLst>
              </a:tr>
              <a:tr h="411480">
                <a:tc>
                  <a:txBody>
                    <a:bodyPr/>
                    <a:lstStyle/>
                    <a:p>
                      <a:r>
                        <a:rPr sz="1400" b="0">
                          <a:solidFill>
                            <a:srgbClr val="333333"/>
                          </a:solidFill>
                          <a:latin typeface="Meiryo"/>
                          <a:ea typeface="メイリオ"/>
                          <a:cs typeface="Meiryo"/>
                        </a:rPr>
                        <a:t>12月</a:t>
                      </a:r>
                    </a:p>
                  </a:txBody>
                  <a:tcPr>
                    <a:solidFill>
                      <a:srgbClr val="FFFFFF"/>
                    </a:solidFill>
                  </a:tcPr>
                </a:tc>
                <a:tc>
                  <a:txBody>
                    <a:bodyPr/>
                    <a:lstStyle/>
                    <a:p>
                      <a:r>
                        <a:rPr sz="1400" b="0">
                          <a:solidFill>
                            <a:srgbClr val="333333"/>
                          </a:solidFill>
                          <a:latin typeface="Meiryo"/>
                          <a:ea typeface="メイリオ"/>
                          <a:cs typeface="Meiryo"/>
                        </a:rPr>
                        <a:t>冬も相談だけOK訴求</a:t>
                      </a:r>
                    </a:p>
                  </a:txBody>
                  <a:tcPr>
                    <a:solidFill>
                      <a:srgbClr val="FFFFFF"/>
                    </a:solidFill>
                  </a:tcPr>
                </a:tc>
                <a:tc>
                  <a:txBody>
                    <a:bodyPr/>
                    <a:lstStyle/>
                    <a:p>
                      <a:r>
                        <a:rPr sz="1400" b="0" dirty="0" err="1">
                          <a:solidFill>
                            <a:srgbClr val="333333"/>
                          </a:solidFill>
                          <a:latin typeface="Meiryo"/>
                          <a:ea typeface="メイリオ"/>
                          <a:cs typeface="Meiryo"/>
                        </a:rPr>
                        <a:t>検索の谷でも検討は続く。配信は止めず関係を維持</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10"/>
                  </a:ext>
                </a:extLst>
              </a:tr>
            </a:tbl>
          </a:graphicData>
        </a:graphic>
      </p:graphicFrame>
      <p:sp>
        <p:nvSpPr>
          <p:cNvPr id="47" name="TextBox 46"/>
          <p:cNvSpPr txBox="1"/>
          <p:nvPr/>
        </p:nvSpPr>
        <p:spPr>
          <a:xfrm>
            <a:off x="384048" y="6355080"/>
            <a:ext cx="9052560" cy="402336"/>
          </a:xfrm>
          <a:prstGeom prst="rect">
            <a:avLst/>
          </a:prstGeom>
          <a:noFill/>
        </p:spPr>
        <p:txBody>
          <a:bodyPr wrap="square">
            <a:spAutoFit/>
          </a:bodyPr>
          <a:lstStyle/>
          <a:p>
            <a:r>
              <a:rPr sz="850">
                <a:solidFill>
                  <a:srgbClr val="9AA1AE"/>
                </a:solidFill>
                <a:latin typeface="Meiryo"/>
                <a:ea typeface="メイリオ"/>
                <a:cs typeface="Meiryo"/>
              </a:rPr>
              <a:t>出典：Googleトレンド「整備士」（山3月・谷12月）／前後検索KW「カーディーラー」／コンテンツ案v1</a:t>
            </a:r>
          </a:p>
        </p:txBody>
      </p:sp>
    </p:spTree>
    <p:extLst>
      <p:ext uri="{BB962C8B-B14F-4D97-AF65-F5344CB8AC3E}">
        <p14:creationId xmlns:p14="http://schemas.microsoft.com/office/powerpoint/2010/main" val="126982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47C1D4-87AF-B047-12E0-A214281205E2}"/>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723771C4-6264-E0B7-0A8B-36CFE432F84D}"/>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通知メッセージと特殊動線の使いどころ</a:t>
            </a:r>
            <a:endParaRPr sz="1600" b="1" dirty="0">
              <a:solidFill>
                <a:srgbClr val="002060"/>
              </a:solidFill>
              <a:latin typeface="Meiryo"/>
              <a:ea typeface="Meiryo"/>
              <a:cs typeface="Meiryo"/>
              <a:sym typeface="Meiryo"/>
            </a:endParaRPr>
          </a:p>
        </p:txBody>
      </p:sp>
      <p:cxnSp>
        <p:nvCxnSpPr>
          <p:cNvPr id="46" name="Connector 45"/>
          <p:cNvCxnSpPr/>
          <p:nvPr/>
        </p:nvCxnSpPr>
        <p:spPr>
          <a:xfrm>
            <a:off x="0" y="1389600"/>
            <a:ext cx="9907200" cy="0"/>
          </a:xfrm>
          <a:prstGeom prst="line">
            <a:avLst/>
          </a:prstGeom>
          <a:ln>
            <a:solidFill>
              <a:srgbClr val="D9D9D9"/>
            </a:solidFill>
          </a:ln>
        </p:spPr>
        <p:style>
          <a:lnRef idx="2">
            <a:schemeClr val="accent1"/>
          </a:lnRef>
          <a:fillRef idx="0">
            <a:schemeClr val="accent1"/>
          </a:fillRef>
          <a:effectRef idx="1">
            <a:schemeClr val="accent1"/>
          </a:effectRef>
          <a:fontRef idx="minor">
            <a:schemeClr val="tx1"/>
          </a:fontRef>
        </p:style>
      </p:cxnSp>
      <p:sp>
        <p:nvSpPr>
          <p:cNvPr id="47" name="Rectangle 46"/>
          <p:cNvSpPr/>
          <p:nvPr/>
        </p:nvSpPr>
        <p:spPr>
          <a:xfrm>
            <a:off x="432000" y="666000"/>
            <a:ext cx="9036000" cy="66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1600" bIns="21600"/>
          <a:lstStyle/>
          <a:p>
            <a:pPr algn="l"/>
            <a:r>
              <a:rPr sz="1300" b="0">
                <a:solidFill>
                  <a:srgbClr val="333333"/>
                </a:solidFill>
                <a:latin typeface="メイリオ"/>
                <a:ea typeface="メイリオ"/>
                <a:cs typeface="メイリオ"/>
              </a:rPr>
              <a:t>通知メッセージは、友だち追加していない人にも電話番号あてに届きます。</a:t>
            </a:r>
          </a:p>
          <a:p>
            <a:pPr algn="l"/>
            <a:r>
              <a:rPr sz="1300" b="0">
                <a:solidFill>
                  <a:srgbClr val="333333"/>
                </a:solidFill>
                <a:latin typeface="メイリオ"/>
                <a:ea typeface="メイリオ"/>
                <a:cs typeface="メイリオ"/>
              </a:rPr>
              <a:t>過去リストの掘り起こしではなく、「面談に来てもらう」ために使います。</a:t>
            </a:r>
          </a:p>
        </p:txBody>
      </p:sp>
      <p:sp>
        <p:nvSpPr>
          <p:cNvPr id="48" name="Rectangle 47"/>
          <p:cNvSpPr/>
          <p:nvPr/>
        </p:nvSpPr>
        <p:spPr>
          <a:xfrm>
            <a:off x="432000" y="1530000"/>
            <a:ext cx="72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1600" bIns="21600"/>
          <a:lstStyle/>
          <a:p>
            <a:pPr algn="l"/>
            <a:r>
              <a:rPr sz="1200" b="1">
                <a:solidFill>
                  <a:srgbClr val="1F285A"/>
                </a:solidFill>
                <a:latin typeface="メイリオ"/>
                <a:ea typeface="メイリオ"/>
                <a:cs typeface="メイリオ"/>
              </a:rPr>
              <a:t>■ 通知メッセージの利用シーン</a:t>
            </a:r>
          </a:p>
        </p:txBody>
      </p:sp>
      <p:sp>
        <p:nvSpPr>
          <p:cNvPr id="49" name="Rounded Rectangle 48"/>
          <p:cNvSpPr/>
          <p:nvPr/>
        </p:nvSpPr>
        <p:spPr>
          <a:xfrm>
            <a:off x="432000" y="1782000"/>
            <a:ext cx="2206800" cy="97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1150" b="1">
                <a:solidFill>
                  <a:srgbClr val="1F285A"/>
                </a:solidFill>
                <a:latin typeface="メイリオ"/>
                <a:ea typeface="メイリオ"/>
                <a:cs typeface="メイリオ"/>
              </a:rPr>
              <a:t>面談予約の確定通知</a:t>
            </a:r>
          </a:p>
          <a:p>
            <a:pPr algn="ctr"/>
            <a:r>
              <a:rPr sz="1000" b="0">
                <a:solidFill>
                  <a:srgbClr val="333333"/>
                </a:solidFill>
                <a:latin typeface="メイリオ"/>
                <a:ea typeface="メイリオ"/>
                <a:cs typeface="メイリオ"/>
              </a:rPr>
              <a:t>来場率を上げる → 面談実施（CV）</a:t>
            </a:r>
          </a:p>
        </p:txBody>
      </p:sp>
      <p:sp>
        <p:nvSpPr>
          <p:cNvPr id="50" name="Rounded Rectangle 49"/>
          <p:cNvSpPr/>
          <p:nvPr/>
        </p:nvSpPr>
        <p:spPr>
          <a:xfrm>
            <a:off x="2710800" y="1782000"/>
            <a:ext cx="2206800" cy="97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1150" b="1">
                <a:solidFill>
                  <a:srgbClr val="1F285A"/>
                </a:solidFill>
                <a:latin typeface="メイリオ"/>
                <a:ea typeface="メイリオ"/>
                <a:cs typeface="メイリオ"/>
              </a:rPr>
              <a:t>面談前日のリマインド</a:t>
            </a:r>
          </a:p>
          <a:p>
            <a:pPr algn="ctr"/>
            <a:r>
              <a:rPr sz="1000" b="0">
                <a:solidFill>
                  <a:srgbClr val="333333"/>
                </a:solidFill>
                <a:latin typeface="メイリオ"/>
                <a:ea typeface="メイリオ"/>
                <a:cs typeface="メイリオ"/>
              </a:rPr>
              <a:t>当日キャンセルを防ぐ</a:t>
            </a:r>
          </a:p>
        </p:txBody>
      </p:sp>
      <p:sp>
        <p:nvSpPr>
          <p:cNvPr id="51" name="Rounded Rectangle 50"/>
          <p:cNvSpPr/>
          <p:nvPr/>
        </p:nvSpPr>
        <p:spPr>
          <a:xfrm>
            <a:off x="4989600" y="1782000"/>
            <a:ext cx="2206800" cy="97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1150" b="1">
                <a:solidFill>
                  <a:srgbClr val="1F285A"/>
                </a:solidFill>
                <a:latin typeface="メイリオ"/>
                <a:ea typeface="メイリオ"/>
                <a:cs typeface="メイリオ"/>
              </a:rPr>
              <a:t>内定通知・入社日の確定</a:t>
            </a:r>
          </a:p>
          <a:p>
            <a:pPr algn="ctr"/>
            <a:r>
              <a:rPr sz="1000" b="0">
                <a:solidFill>
                  <a:srgbClr val="333333"/>
                </a:solidFill>
                <a:latin typeface="メイリオ"/>
                <a:ea typeface="メイリオ"/>
                <a:cs typeface="メイリオ"/>
              </a:rPr>
              <a:t>満足度を上げる → 友だち紹介</a:t>
            </a:r>
          </a:p>
        </p:txBody>
      </p:sp>
      <p:sp>
        <p:nvSpPr>
          <p:cNvPr id="52" name="Rounded Rectangle 51"/>
          <p:cNvSpPr/>
          <p:nvPr/>
        </p:nvSpPr>
        <p:spPr>
          <a:xfrm>
            <a:off x="7268400" y="1782000"/>
            <a:ext cx="2206800" cy="97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1150" b="1">
                <a:solidFill>
                  <a:srgbClr val="1F285A"/>
                </a:solidFill>
                <a:latin typeface="メイリオ"/>
                <a:ea typeface="メイリオ"/>
                <a:cs typeface="メイリオ"/>
              </a:rPr>
              <a:t>求人フェア・相談会の告知</a:t>
            </a:r>
          </a:p>
          <a:p>
            <a:pPr algn="ctr"/>
            <a:r>
              <a:rPr sz="1000" b="0">
                <a:solidFill>
                  <a:srgbClr val="333333"/>
                </a:solidFill>
                <a:latin typeface="メイリオ"/>
                <a:ea typeface="メイリオ"/>
                <a:cs typeface="メイリオ"/>
              </a:rPr>
              <a:t>保有リストへ再接触</a:t>
            </a:r>
          </a:p>
        </p:txBody>
      </p:sp>
      <p:sp>
        <p:nvSpPr>
          <p:cNvPr id="53" name="Rectangle 52"/>
          <p:cNvSpPr/>
          <p:nvPr/>
        </p:nvSpPr>
        <p:spPr>
          <a:xfrm>
            <a:off x="432000" y="2916000"/>
            <a:ext cx="72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1600" bIns="21600"/>
          <a:lstStyle/>
          <a:p>
            <a:pPr algn="l"/>
            <a:r>
              <a:rPr sz="1200" b="1">
                <a:solidFill>
                  <a:srgbClr val="1F285A"/>
                </a:solidFill>
                <a:latin typeface="メイリオ"/>
                <a:ea typeface="メイリオ"/>
                <a:cs typeface="メイリオ"/>
              </a:rPr>
              <a:t>■ その他の特殊動線（LINEで答えるだけ）</a:t>
            </a:r>
          </a:p>
        </p:txBody>
      </p:sp>
      <p:sp>
        <p:nvSpPr>
          <p:cNvPr id="54" name="Rounded Rectangle 53"/>
          <p:cNvSpPr/>
          <p:nvPr/>
        </p:nvSpPr>
        <p:spPr>
          <a:xfrm>
            <a:off x="432000" y="3168000"/>
            <a:ext cx="2206800" cy="97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1150" b="1">
                <a:solidFill>
                  <a:srgbClr val="FFFFFF"/>
                </a:solidFill>
                <a:latin typeface="メイリオ"/>
                <a:ea typeface="メイリオ"/>
                <a:cs typeface="メイリオ"/>
              </a:rPr>
              <a:t>3問で簡易キャリア診断</a:t>
            </a:r>
          </a:p>
          <a:p>
            <a:pPr algn="ctr"/>
            <a:r>
              <a:rPr sz="1000" b="0">
                <a:solidFill>
                  <a:srgbClr val="FFFFFF"/>
                </a:solidFill>
                <a:latin typeface="メイリオ"/>
                <a:ea typeface="メイリオ"/>
                <a:cs typeface="メイリオ"/>
              </a:rPr>
              <a:t>答えるだけ。心理ハードルを最小に</a:t>
            </a:r>
          </a:p>
        </p:txBody>
      </p:sp>
      <p:sp>
        <p:nvSpPr>
          <p:cNvPr id="55" name="Rounded Rectangle 54"/>
          <p:cNvSpPr/>
          <p:nvPr/>
        </p:nvSpPr>
        <p:spPr>
          <a:xfrm>
            <a:off x="2710800" y="3168000"/>
            <a:ext cx="2206800" cy="97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1150" b="1">
                <a:solidFill>
                  <a:srgbClr val="FFFFFF"/>
                </a:solidFill>
                <a:latin typeface="メイリオ"/>
                <a:ea typeface="メイリオ"/>
                <a:cs typeface="メイリオ"/>
              </a:rPr>
              <a:t>「あなたに合う職場」診断</a:t>
            </a:r>
          </a:p>
          <a:p>
            <a:pPr algn="ctr"/>
            <a:r>
              <a:rPr sz="1000" b="0">
                <a:solidFill>
                  <a:srgbClr val="FFFFFF"/>
                </a:solidFill>
                <a:latin typeface="メイリオ"/>
                <a:ea typeface="メイリオ"/>
                <a:cs typeface="メイリオ"/>
              </a:rPr>
              <a:t>数問で求人を提示 → 面談予約へ</a:t>
            </a:r>
          </a:p>
        </p:txBody>
      </p:sp>
      <p:sp>
        <p:nvSpPr>
          <p:cNvPr id="56" name="Rounded Rectangle 55"/>
          <p:cNvSpPr/>
          <p:nvPr/>
        </p:nvSpPr>
        <p:spPr>
          <a:xfrm>
            <a:off x="4989600" y="3168000"/>
            <a:ext cx="2206800" cy="97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1150" b="1">
                <a:solidFill>
                  <a:srgbClr val="FFFFFF"/>
                </a:solidFill>
                <a:latin typeface="メイリオ"/>
                <a:ea typeface="メイリオ"/>
                <a:cs typeface="メイリオ"/>
              </a:rPr>
              <a:t>資格別の年収シミュレーション</a:t>
            </a:r>
          </a:p>
          <a:p>
            <a:pPr algn="ctr"/>
            <a:r>
              <a:rPr sz="1000" b="0">
                <a:solidFill>
                  <a:srgbClr val="FFFFFF"/>
                </a:solidFill>
                <a:latin typeface="メイリオ"/>
                <a:ea typeface="メイリオ"/>
                <a:cs typeface="メイリオ"/>
              </a:rPr>
              <a:t>参加型で友だち獲得</a:t>
            </a:r>
          </a:p>
        </p:txBody>
      </p:sp>
      <p:sp>
        <p:nvSpPr>
          <p:cNvPr id="57" name="Rounded Rectangle 56"/>
          <p:cNvSpPr/>
          <p:nvPr/>
        </p:nvSpPr>
        <p:spPr>
          <a:xfrm>
            <a:off x="7268400" y="3168000"/>
            <a:ext cx="2206800" cy="97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1150" b="1">
                <a:solidFill>
                  <a:srgbClr val="FFFFFF"/>
                </a:solidFill>
                <a:latin typeface="メイリオ"/>
                <a:ea typeface="メイリオ"/>
                <a:cs typeface="メイリオ"/>
              </a:rPr>
              <a:t>整備士向けキャリア相談会</a:t>
            </a:r>
          </a:p>
          <a:p>
            <a:pPr algn="ctr"/>
            <a:r>
              <a:rPr sz="1000" b="0">
                <a:solidFill>
                  <a:srgbClr val="FFFFFF"/>
                </a:solidFill>
                <a:latin typeface="メイリオ"/>
                <a:ea typeface="メイリオ"/>
                <a:cs typeface="メイリオ"/>
              </a:rPr>
              <a:t>特化型の入口に</a:t>
            </a:r>
          </a:p>
        </p:txBody>
      </p:sp>
      <p:sp>
        <p:nvSpPr>
          <p:cNvPr id="58" name="Rectangle 57"/>
          <p:cNvSpPr/>
          <p:nvPr/>
        </p:nvSpPr>
        <p:spPr>
          <a:xfrm>
            <a:off x="432000" y="4248000"/>
            <a:ext cx="9036000" cy="36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1600" bIns="21600"/>
          <a:lstStyle/>
          <a:p>
            <a:pPr algn="l"/>
            <a:r>
              <a:rPr sz="950" b="0">
                <a:solidFill>
                  <a:srgbClr val="7F7F7F"/>
                </a:solidFill>
                <a:latin typeface="メイリオ"/>
                <a:ea typeface="メイリオ"/>
                <a:cs typeface="メイリオ"/>
              </a:rPr>
              <a:t>※ 通知メッセージは、予約確認・リマインドなど本人の行動に紐づく連絡に使う機能です（広告目的の一斉送信は不可）。</a:t>
            </a:r>
          </a:p>
          <a:p>
            <a:pPr algn="l"/>
            <a:r>
              <a:rPr sz="950" b="0">
                <a:solidFill>
                  <a:srgbClr val="7F7F7F"/>
                </a:solidFill>
                <a:latin typeface="メイリオ"/>
                <a:ea typeface="メイリオ"/>
                <a:cs typeface="メイリオ"/>
              </a:rPr>
              <a:t>※ 導入費用は初期20万円〜（P32 都度発注プラン）。</a:t>
            </a:r>
          </a:p>
        </p:txBody>
      </p:sp>
      <p:sp>
        <p:nvSpPr>
          <p:cNvPr id="59" name="Rounded Rectangle 58"/>
          <p:cNvSpPr/>
          <p:nvPr/>
        </p:nvSpPr>
        <p:spPr>
          <a:xfrm>
            <a:off x="432000" y="4788000"/>
            <a:ext cx="9043200" cy="34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1300" b="1">
                <a:solidFill>
                  <a:srgbClr val="FFFFFF"/>
                </a:solidFill>
                <a:latin typeface="メイリオ"/>
                <a:ea typeface="メイリオ"/>
                <a:cs typeface="メイリオ"/>
              </a:rPr>
              <a:t>面談の「予約」で終わらせず、「実施」まで届ける。</a:t>
            </a:r>
          </a:p>
        </p:txBody>
      </p:sp>
    </p:spTree>
    <p:extLst>
      <p:ext uri="{BB962C8B-B14F-4D97-AF65-F5344CB8AC3E}">
        <p14:creationId xmlns:p14="http://schemas.microsoft.com/office/powerpoint/2010/main" val="18937795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48C43D-93AD-C213-ED4C-7741F0FE507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E72800AA-EBD7-DB78-DF5E-877E18C2F2D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10683329-D426-0C34-21A1-BB46AEF49EBC}"/>
              </a:ext>
            </a:extLst>
          </p:cNvPr>
          <p:cNvSpPr/>
          <p:nvPr/>
        </p:nvSpPr>
        <p:spPr>
          <a:xfrm>
            <a:off x="1988098" y="3038203"/>
            <a:ext cx="5929829"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施策の詳細（新規友だち獲得）</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2060173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A8C22-A859-569A-8EEC-58728B6BD665}"/>
            </a:ext>
          </a:extLst>
        </p:cNvPr>
        <p:cNvGrpSpPr/>
        <p:nvPr/>
      </p:nvGrpSpPr>
      <p:grpSpPr>
        <a:xfrm>
          <a:off x="0" y="0"/>
          <a:ext cx="0" cy="0"/>
          <a:chOff x="0" y="0"/>
          <a:chExt cx="0" cy="0"/>
        </a:xfrm>
      </p:grpSpPr>
      <p:sp>
        <p:nvSpPr>
          <p:cNvPr id="3" name="Google Shape;752;p28">
            <a:extLst>
              <a:ext uri="{FF2B5EF4-FFF2-40B4-BE49-F238E27FC236}">
                <a16:creationId xmlns:a16="http://schemas.microsoft.com/office/drawing/2014/main" id="{6C96E678-C87E-58F4-6415-8E923AFE9CA5}"/>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10" name="TextBox 2">
            <a:extLst>
              <a:ext uri="{FF2B5EF4-FFF2-40B4-BE49-F238E27FC236}">
                <a16:creationId xmlns:a16="http://schemas.microsoft.com/office/drawing/2014/main" id="{88F34F17-1222-19B2-703D-3A639F6FB75B}"/>
              </a:ext>
            </a:extLst>
          </p:cNvPr>
          <p:cNvSpPr/>
          <p:nvPr/>
        </p:nvSpPr>
        <p:spPr>
          <a:xfrm>
            <a:off x="426900" y="1777180"/>
            <a:ext cx="9052200" cy="306323"/>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00000"/>
              </a:lnSpc>
            </a:pPr>
            <a:r>
              <a:rPr lang="zh-CN" sz="1500" b="0" strike="noStrike" spc="-1">
                <a:solidFill>
                  <a:srgbClr val="5A6378"/>
                </a:solidFill>
                <a:latin typeface="メイリオ" panose="020B0604030504040204" pitchFamily="50" charset="-128"/>
                <a:ea typeface="メイリオ" panose="020B0604030504040204" pitchFamily="50" charset="-128"/>
              </a:rPr>
              <a:t>各接点（箇所）ごとに訴求を出し分け、LINE友だち追加へつなげる（診断コンテンツを起点に設計）</a:t>
            </a:r>
            <a:endParaRPr lang="en-US" sz="1400" b="0" strike="noStrike" spc="-1">
              <a:solidFill>
                <a:srgbClr val="000000"/>
              </a:solidFill>
              <a:latin typeface="メイリオ" panose="020B0604030504040204" pitchFamily="50" charset="-128"/>
              <a:ea typeface="メイリオ" panose="020B0604030504040204" pitchFamily="50" charset="-128"/>
            </a:endParaRPr>
          </a:p>
        </p:txBody>
      </p:sp>
      <p:sp>
        <p:nvSpPr>
          <p:cNvPr id="15" name="Rounded Rectangle 3">
            <a:extLst>
              <a:ext uri="{FF2B5EF4-FFF2-40B4-BE49-F238E27FC236}">
                <a16:creationId xmlns:a16="http://schemas.microsoft.com/office/drawing/2014/main" id="{C4925BB9-D79E-FFBF-0C62-AA4DA1B53D1C}"/>
              </a:ext>
            </a:extLst>
          </p:cNvPr>
          <p:cNvSpPr/>
          <p:nvPr/>
        </p:nvSpPr>
        <p:spPr>
          <a:xfrm>
            <a:off x="426900" y="246298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200" b="0" strike="noStrike" spc="-1">
                <a:solidFill>
                  <a:srgbClr val="333333"/>
                </a:solidFill>
                <a:latin typeface="メイリオ" panose="020B0604030504040204" pitchFamily="50" charset="-128"/>
                <a:ea typeface="メイリオ" panose="020B0604030504040204" pitchFamily="50" charset="-128"/>
              </a:rPr>
              <a:t>30秒 適職診断コンテンツ</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18" name="Right Arrow 4">
            <a:extLst>
              <a:ext uri="{FF2B5EF4-FFF2-40B4-BE49-F238E27FC236}">
                <a16:creationId xmlns:a16="http://schemas.microsoft.com/office/drawing/2014/main" id="{88BC1F8F-F7F1-CC07-4381-CFB49926A52D}"/>
              </a:ext>
            </a:extLst>
          </p:cNvPr>
          <p:cNvSpPr/>
          <p:nvPr/>
        </p:nvSpPr>
        <p:spPr>
          <a:xfrm>
            <a:off x="3249300" y="266422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26" name="Rounded Rectangle 5">
            <a:extLst>
              <a:ext uri="{FF2B5EF4-FFF2-40B4-BE49-F238E27FC236}">
                <a16:creationId xmlns:a16="http://schemas.microsoft.com/office/drawing/2014/main" id="{43F406FA-C08A-D91A-4E14-2D8412F195E6}"/>
              </a:ext>
            </a:extLst>
          </p:cNvPr>
          <p:cNvSpPr/>
          <p:nvPr/>
        </p:nvSpPr>
        <p:spPr>
          <a:xfrm>
            <a:off x="3541980" y="246298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200" b="0" strike="noStrike" spc="-1">
                <a:solidFill>
                  <a:srgbClr val="333333"/>
                </a:solidFill>
                <a:latin typeface="メイリオ" panose="020B0604030504040204" pitchFamily="50" charset="-128"/>
                <a:ea typeface="メイリオ" panose="020B0604030504040204" pitchFamily="50" charset="-128"/>
              </a:rPr>
              <a:t>診断結果をLINEで送付</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27" name="Right Arrow 6">
            <a:extLst>
              <a:ext uri="{FF2B5EF4-FFF2-40B4-BE49-F238E27FC236}">
                <a16:creationId xmlns:a16="http://schemas.microsoft.com/office/drawing/2014/main" id="{7D9F3C04-6BFD-7CFA-B759-ACDA786DAC87}"/>
              </a:ext>
            </a:extLst>
          </p:cNvPr>
          <p:cNvSpPr/>
          <p:nvPr/>
        </p:nvSpPr>
        <p:spPr>
          <a:xfrm>
            <a:off x="6364380" y="266422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28" name="Rounded Rectangle 7">
            <a:extLst>
              <a:ext uri="{FF2B5EF4-FFF2-40B4-BE49-F238E27FC236}">
                <a16:creationId xmlns:a16="http://schemas.microsoft.com/office/drawing/2014/main" id="{56BFF9D2-5CEA-F780-1665-E25342AA7BC9}"/>
              </a:ext>
            </a:extLst>
          </p:cNvPr>
          <p:cNvSpPr/>
          <p:nvPr/>
        </p:nvSpPr>
        <p:spPr>
          <a:xfrm>
            <a:off x="6657060" y="2462980"/>
            <a:ext cx="282204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200" b="1" strike="noStrike" spc="-1">
                <a:solidFill>
                  <a:srgbClr val="FFFFFF"/>
                </a:solidFill>
                <a:latin typeface="メイリオ" panose="020B0604030504040204" pitchFamily="50" charset="-128"/>
                <a:ea typeface="メイリオ" panose="020B0604030504040204" pitchFamily="50" charset="-128"/>
              </a:rPr>
              <a:t>LINE</a:t>
            </a:r>
            <a:r>
              <a:rPr lang="zh-CN" sz="1200" b="1" strike="noStrike" spc="-1">
                <a:solidFill>
                  <a:srgbClr val="FFFFFF"/>
                </a:solidFill>
                <a:latin typeface="メイリオ" panose="020B0604030504040204" pitchFamily="50" charset="-128"/>
                <a:ea typeface="メイリオ" panose="020B0604030504040204" pitchFamily="50" charset="-128"/>
              </a:rPr>
              <a:t>追加</a:t>
            </a:r>
            <a:endParaRPr lang="en-US" sz="1000" b="0" strike="noStrike" spc="-1">
              <a:solidFill>
                <a:srgbClr val="FFFFFF"/>
              </a:solidFill>
              <a:latin typeface="メイリオ" panose="020B0604030504040204" pitchFamily="50" charset="-128"/>
              <a:ea typeface="メイリオ" panose="020B0604030504040204" pitchFamily="50" charset="-128"/>
            </a:endParaRPr>
          </a:p>
        </p:txBody>
      </p:sp>
      <p:sp>
        <p:nvSpPr>
          <p:cNvPr id="29" name="Rounded Rectangle 8">
            <a:extLst>
              <a:ext uri="{FF2B5EF4-FFF2-40B4-BE49-F238E27FC236}">
                <a16:creationId xmlns:a16="http://schemas.microsoft.com/office/drawing/2014/main" id="{F2D5D985-2571-C6B2-6BD5-E19E0FEA1435}"/>
              </a:ext>
            </a:extLst>
          </p:cNvPr>
          <p:cNvSpPr/>
          <p:nvPr/>
        </p:nvSpPr>
        <p:spPr>
          <a:xfrm>
            <a:off x="426900" y="333166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200" b="0" strike="noStrike" spc="-1">
                <a:solidFill>
                  <a:srgbClr val="333333"/>
                </a:solidFill>
                <a:latin typeface="メイリオ" panose="020B0604030504040204" pitchFamily="50" charset="-128"/>
                <a:ea typeface="メイリオ" panose="020B0604030504040204" pitchFamily="50" charset="-128"/>
              </a:rPr>
              <a:t>マイページ登録・求職者会員登録案内</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30" name="Right Arrow 9">
            <a:extLst>
              <a:ext uri="{FF2B5EF4-FFF2-40B4-BE49-F238E27FC236}">
                <a16:creationId xmlns:a16="http://schemas.microsoft.com/office/drawing/2014/main" id="{E511E491-CBEA-6A51-3351-3AB67CE6168D}"/>
              </a:ext>
            </a:extLst>
          </p:cNvPr>
          <p:cNvSpPr/>
          <p:nvPr/>
        </p:nvSpPr>
        <p:spPr>
          <a:xfrm>
            <a:off x="3249300" y="353290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31" name="Rounded Rectangle 10">
            <a:extLst>
              <a:ext uri="{FF2B5EF4-FFF2-40B4-BE49-F238E27FC236}">
                <a16:creationId xmlns:a16="http://schemas.microsoft.com/office/drawing/2014/main" id="{BF05E24B-C8E2-ED81-489E-0A7E354F89B3}"/>
              </a:ext>
            </a:extLst>
          </p:cNvPr>
          <p:cNvSpPr/>
          <p:nvPr/>
        </p:nvSpPr>
        <p:spPr>
          <a:xfrm>
            <a:off x="3541980" y="333166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200" b="0" strike="noStrike" spc="-1">
                <a:solidFill>
                  <a:srgbClr val="333333"/>
                </a:solidFill>
                <a:latin typeface="メイリオ" panose="020B0604030504040204" pitchFamily="50" charset="-128"/>
                <a:ea typeface="メイリオ" panose="020B0604030504040204" pitchFamily="50" charset="-128"/>
              </a:rPr>
              <a:t>新着求人の通知もLINEで受け取れる</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32" name="Right Arrow 11">
            <a:extLst>
              <a:ext uri="{FF2B5EF4-FFF2-40B4-BE49-F238E27FC236}">
                <a16:creationId xmlns:a16="http://schemas.microsoft.com/office/drawing/2014/main" id="{48B569E4-489C-51C8-663D-44B3897EEAAF}"/>
              </a:ext>
            </a:extLst>
          </p:cNvPr>
          <p:cNvSpPr/>
          <p:nvPr/>
        </p:nvSpPr>
        <p:spPr>
          <a:xfrm>
            <a:off x="6364380" y="353290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33" name="Rounded Rectangle 12">
            <a:extLst>
              <a:ext uri="{FF2B5EF4-FFF2-40B4-BE49-F238E27FC236}">
                <a16:creationId xmlns:a16="http://schemas.microsoft.com/office/drawing/2014/main" id="{5FC51B9B-AA21-8F66-E3AB-3462FCD63368}"/>
              </a:ext>
            </a:extLst>
          </p:cNvPr>
          <p:cNvSpPr/>
          <p:nvPr/>
        </p:nvSpPr>
        <p:spPr>
          <a:xfrm>
            <a:off x="6657060" y="3331660"/>
            <a:ext cx="282204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200" b="1" strike="noStrike" spc="-1">
                <a:solidFill>
                  <a:srgbClr val="FFFFFF"/>
                </a:solidFill>
                <a:latin typeface="メイリオ" panose="020B0604030504040204" pitchFamily="50" charset="-128"/>
                <a:ea typeface="メイリオ" panose="020B0604030504040204" pitchFamily="50" charset="-128"/>
              </a:rPr>
              <a:t>LINE</a:t>
            </a:r>
            <a:r>
              <a:rPr lang="zh-CN" sz="1200" b="1" strike="noStrike" spc="-1">
                <a:solidFill>
                  <a:srgbClr val="FFFFFF"/>
                </a:solidFill>
                <a:latin typeface="メイリオ" panose="020B0604030504040204" pitchFamily="50" charset="-128"/>
                <a:ea typeface="メイリオ" panose="020B0604030504040204" pitchFamily="50" charset="-128"/>
              </a:rPr>
              <a:t>追加</a:t>
            </a:r>
            <a:endParaRPr lang="en-US" sz="1000" b="0" strike="noStrike" spc="-1">
              <a:solidFill>
                <a:srgbClr val="FFFFFF"/>
              </a:solidFill>
              <a:latin typeface="メイリオ" panose="020B0604030504040204" pitchFamily="50" charset="-128"/>
              <a:ea typeface="メイリオ" panose="020B0604030504040204" pitchFamily="50" charset="-128"/>
            </a:endParaRPr>
          </a:p>
        </p:txBody>
      </p:sp>
      <p:sp>
        <p:nvSpPr>
          <p:cNvPr id="34" name="Rounded Rectangle 13">
            <a:extLst>
              <a:ext uri="{FF2B5EF4-FFF2-40B4-BE49-F238E27FC236}">
                <a16:creationId xmlns:a16="http://schemas.microsoft.com/office/drawing/2014/main" id="{22D948EF-E8AB-9977-D385-ECE4F24EA2A6}"/>
              </a:ext>
            </a:extLst>
          </p:cNvPr>
          <p:cNvSpPr/>
          <p:nvPr/>
        </p:nvSpPr>
        <p:spPr>
          <a:xfrm>
            <a:off x="426900" y="420034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200" b="0" strike="noStrike" spc="-1">
                <a:solidFill>
                  <a:srgbClr val="333333"/>
                </a:solidFill>
                <a:latin typeface="メイリオ" panose="020B0604030504040204" pitchFamily="50" charset="-128"/>
                <a:ea typeface="メイリオ" panose="020B0604030504040204" pitchFamily="50" charset="-128"/>
              </a:rPr>
              <a:t>地域別・希望条件別 求人相談キャンペーン</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35" name="Right Arrow 14">
            <a:extLst>
              <a:ext uri="{FF2B5EF4-FFF2-40B4-BE49-F238E27FC236}">
                <a16:creationId xmlns:a16="http://schemas.microsoft.com/office/drawing/2014/main" id="{ED599AD2-9433-037D-4055-3CD5D868773E}"/>
              </a:ext>
            </a:extLst>
          </p:cNvPr>
          <p:cNvSpPr/>
          <p:nvPr/>
        </p:nvSpPr>
        <p:spPr>
          <a:xfrm>
            <a:off x="3249300" y="440158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36" name="Rounded Rectangle 15">
            <a:extLst>
              <a:ext uri="{FF2B5EF4-FFF2-40B4-BE49-F238E27FC236}">
                <a16:creationId xmlns:a16="http://schemas.microsoft.com/office/drawing/2014/main" id="{AB67C977-69C9-A50F-851E-986C7CB7A3D5}"/>
              </a:ext>
            </a:extLst>
          </p:cNvPr>
          <p:cNvSpPr/>
          <p:nvPr/>
        </p:nvSpPr>
        <p:spPr>
          <a:xfrm>
            <a:off x="3541980" y="420034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200" b="0" strike="noStrike" spc="-1">
                <a:solidFill>
                  <a:srgbClr val="333333"/>
                </a:solidFill>
                <a:latin typeface="メイリオ" panose="020B0604030504040204" pitchFamily="50" charset="-128"/>
                <a:ea typeface="メイリオ" panose="020B0604030504040204" pitchFamily="50" charset="-128"/>
              </a:rPr>
              <a:t>申込完了特典をLINEでお届け</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43" name="Right Arrow 16">
            <a:extLst>
              <a:ext uri="{FF2B5EF4-FFF2-40B4-BE49-F238E27FC236}">
                <a16:creationId xmlns:a16="http://schemas.microsoft.com/office/drawing/2014/main" id="{526CE94B-E706-E4C3-FD31-99BF0647BBEF}"/>
              </a:ext>
            </a:extLst>
          </p:cNvPr>
          <p:cNvSpPr/>
          <p:nvPr/>
        </p:nvSpPr>
        <p:spPr>
          <a:xfrm>
            <a:off x="6364380" y="440158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44" name="Rounded Rectangle 17">
            <a:extLst>
              <a:ext uri="{FF2B5EF4-FFF2-40B4-BE49-F238E27FC236}">
                <a16:creationId xmlns:a16="http://schemas.microsoft.com/office/drawing/2014/main" id="{3B4A80AC-373C-53F9-4A7E-460E1983856E}"/>
              </a:ext>
            </a:extLst>
          </p:cNvPr>
          <p:cNvSpPr/>
          <p:nvPr/>
        </p:nvSpPr>
        <p:spPr>
          <a:xfrm>
            <a:off x="6657060" y="4200340"/>
            <a:ext cx="282204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200" b="1" strike="noStrike" spc="-1">
                <a:solidFill>
                  <a:srgbClr val="FFFFFF"/>
                </a:solidFill>
                <a:latin typeface="メイリオ" panose="020B0604030504040204" pitchFamily="50" charset="-128"/>
                <a:ea typeface="メイリオ" panose="020B0604030504040204" pitchFamily="50" charset="-128"/>
              </a:rPr>
              <a:t>LINE</a:t>
            </a:r>
            <a:r>
              <a:rPr lang="zh-CN" sz="1200" b="1" strike="noStrike" spc="-1">
                <a:solidFill>
                  <a:srgbClr val="FFFFFF"/>
                </a:solidFill>
                <a:latin typeface="メイリオ" panose="020B0604030504040204" pitchFamily="50" charset="-128"/>
                <a:ea typeface="メイリオ" panose="020B0604030504040204" pitchFamily="50" charset="-128"/>
              </a:rPr>
              <a:t>追加</a:t>
            </a:r>
            <a:endParaRPr lang="en-US" sz="1000" b="0" strike="noStrike" spc="-1">
              <a:solidFill>
                <a:srgbClr val="FFFFFF"/>
              </a:solidFill>
              <a:latin typeface="メイリオ" panose="020B0604030504040204" pitchFamily="50" charset="-128"/>
              <a:ea typeface="メイリオ" panose="020B0604030504040204" pitchFamily="50" charset="-128"/>
            </a:endParaRPr>
          </a:p>
        </p:txBody>
      </p:sp>
      <p:sp>
        <p:nvSpPr>
          <p:cNvPr id="45" name="TextBox 18">
            <a:extLst>
              <a:ext uri="{FF2B5EF4-FFF2-40B4-BE49-F238E27FC236}">
                <a16:creationId xmlns:a16="http://schemas.microsoft.com/office/drawing/2014/main" id="{0E624A20-F489-CA81-0820-C9C371152A6C}"/>
              </a:ext>
            </a:extLst>
          </p:cNvPr>
          <p:cNvSpPr/>
          <p:nvPr/>
        </p:nvSpPr>
        <p:spPr>
          <a:xfrm>
            <a:off x="548883" y="5211344"/>
            <a:ext cx="9052200" cy="26015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00000"/>
              </a:lnSpc>
            </a:pPr>
            <a:r>
              <a:rPr lang="en-US" sz="1200" b="0" strike="noStrike" spc="-1">
                <a:solidFill>
                  <a:srgbClr val="9AA1AE"/>
                </a:solidFill>
                <a:latin typeface="メイリオ" panose="020B0604030504040204" pitchFamily="50" charset="-128"/>
                <a:ea typeface="メイリオ" panose="020B0604030504040204" pitchFamily="50" charset="-128"/>
              </a:rPr>
              <a:t>※「30秒 適職診断」はサイト上に簡易診断フォームを設置し、結果をLINEで送付する動線を想定（要開発）</a:t>
            </a:r>
            <a:endParaRPr lang="en-US" sz="1100" b="0" strike="noStrike" spc="-1">
              <a:solidFill>
                <a:srgbClr val="000000"/>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73466286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角丸四角形 6"/>
          <p:cNvSpPr/>
          <p:nvPr/>
        </p:nvSpPr>
        <p:spPr>
          <a:xfrm>
            <a:off x="3459839" y="1776142"/>
            <a:ext cx="2986322" cy="447134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角丸四角形 7"/>
          <p:cNvSpPr/>
          <p:nvPr/>
        </p:nvSpPr>
        <p:spPr>
          <a:xfrm>
            <a:off x="256642" y="1776143"/>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9" name="角丸四角形 8"/>
          <p:cNvSpPr/>
          <p:nvPr/>
        </p:nvSpPr>
        <p:spPr>
          <a:xfrm>
            <a:off x="6663036"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1" name="Google Shape;178;p7"/>
          <p:cNvSpPr txBox="1"/>
          <p:nvPr/>
        </p:nvSpPr>
        <p:spPr>
          <a:xfrm>
            <a:off x="592643"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離脱防止バナー</a:t>
            </a:r>
            <a:endParaRPr lang="en-US" altLang="ja-JP" sz="2000" b="1" dirty="0">
              <a:solidFill>
                <a:srgbClr val="002060"/>
              </a:solidFill>
              <a:latin typeface="Meiryo"/>
              <a:ea typeface="Meiryo"/>
              <a:cs typeface="Meiryo"/>
              <a:sym typeface="Meiryo"/>
            </a:endParaRPr>
          </a:p>
        </p:txBody>
      </p:sp>
      <p:sp>
        <p:nvSpPr>
          <p:cNvPr id="13" name="Google Shape;178;p7"/>
          <p:cNvSpPr txBox="1"/>
          <p:nvPr/>
        </p:nvSpPr>
        <p:spPr>
          <a:xfrm>
            <a:off x="3795840"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2000" b="1" dirty="0">
              <a:solidFill>
                <a:srgbClr val="002060"/>
              </a:solidFill>
              <a:latin typeface="Meiryo"/>
              <a:ea typeface="Meiryo"/>
              <a:cs typeface="Meiryo"/>
              <a:sym typeface="Meiryo"/>
            </a:endParaRPr>
          </a:p>
        </p:txBody>
      </p:sp>
      <p:sp>
        <p:nvSpPr>
          <p:cNvPr id="14" name="Google Shape;178;p7"/>
          <p:cNvSpPr txBox="1"/>
          <p:nvPr/>
        </p:nvSpPr>
        <p:spPr>
          <a:xfrm>
            <a:off x="6756033" y="1949959"/>
            <a:ext cx="2800326" cy="76772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サンクス</a:t>
            </a: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誘導</a:t>
            </a:r>
            <a:endParaRPr lang="en-US" altLang="ja-JP" sz="2000" b="1" dirty="0">
              <a:solidFill>
                <a:srgbClr val="002060"/>
              </a:solidFill>
              <a:latin typeface="Meiryo"/>
              <a:ea typeface="Meiryo"/>
              <a:cs typeface="Meiryo"/>
              <a:sym typeface="Meiryo"/>
            </a:endParaRPr>
          </a:p>
        </p:txBody>
      </p:sp>
      <p:sp>
        <p:nvSpPr>
          <p:cNvPr id="16" name="Google Shape;178;p7"/>
          <p:cNvSpPr txBox="1"/>
          <p:nvPr/>
        </p:nvSpPr>
        <p:spPr>
          <a:xfrm>
            <a:off x="92849" y="5014843"/>
            <a:ext cx="2067109"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事例：車買取</a:t>
            </a:r>
            <a:endParaRPr lang="en-US" altLang="ja-JP" sz="1400" dirty="0">
              <a:solidFill>
                <a:schemeClr val="tx1">
                  <a:lumMod val="50000"/>
                  <a:lumOff val="50000"/>
                </a:schemeClr>
              </a:solidFill>
              <a:latin typeface="Meiryo"/>
              <a:ea typeface="Meiryo"/>
              <a:cs typeface="Meiryo"/>
              <a:sym typeface="Meiryo"/>
            </a:endParaRPr>
          </a:p>
        </p:txBody>
      </p:sp>
      <p:pic>
        <p:nvPicPr>
          <p:cNvPr id="2" name="図 1"/>
          <p:cNvPicPr>
            <a:picLocks noChangeAspect="1"/>
          </p:cNvPicPr>
          <p:nvPr/>
        </p:nvPicPr>
        <p:blipFill rotWithShape="1">
          <a:blip r:embed="rId2" cstate="print">
            <a:extLst>
              <a:ext uri="{28A0092B-C50C-407E-A947-70E740481C1C}">
                <a14:useLocalDpi xmlns:a14="http://schemas.microsoft.com/office/drawing/2010/main" val="0"/>
              </a:ext>
            </a:extLst>
          </a:blip>
          <a:srcRect t="34585" b="34763"/>
          <a:stretch/>
        </p:blipFill>
        <p:spPr>
          <a:xfrm>
            <a:off x="314053" y="2324099"/>
            <a:ext cx="2871498" cy="1564723"/>
          </a:xfrm>
          <a:prstGeom prst="rect">
            <a:avLst/>
          </a:prstGeom>
        </p:spPr>
      </p:pic>
      <p:sp>
        <p:nvSpPr>
          <p:cNvPr id="17" name="Google Shape;178;p7"/>
          <p:cNvSpPr txBox="1"/>
          <p:nvPr/>
        </p:nvSpPr>
        <p:spPr>
          <a:xfrm>
            <a:off x="-80913" y="4068767"/>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興味はあるが利用まで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至らなかったユーザーを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友だちとして囲い込む。</a:t>
            </a:r>
            <a:endParaRPr lang="en-US" altLang="ja-JP" sz="1400" dirty="0">
              <a:latin typeface="Meiryo"/>
              <a:ea typeface="Meiryo"/>
              <a:cs typeface="Meiryo"/>
              <a:sym typeface="Meiryo"/>
            </a:endParaRPr>
          </a:p>
        </p:txBody>
      </p:sp>
      <p:sp>
        <p:nvSpPr>
          <p:cNvPr id="19" name="Google Shape;178;p7"/>
          <p:cNvSpPr txBox="1"/>
          <p:nvPr/>
        </p:nvSpPr>
        <p:spPr>
          <a:xfrm>
            <a:off x="3161410" y="405305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1400" dirty="0">
                <a:latin typeface="Meiryo"/>
                <a:ea typeface="Meiryo"/>
                <a:cs typeface="Meiryo"/>
                <a:sym typeface="Meiryo"/>
              </a:rPr>
              <a:t>CPF</a:t>
            </a:r>
            <a:r>
              <a:rPr lang="ja-JP" altLang="en-US" sz="1400" dirty="0">
                <a:latin typeface="Meiryo"/>
                <a:ea typeface="Meiryo"/>
                <a:cs typeface="Meiryo"/>
                <a:sym typeface="Meiryo"/>
              </a:rPr>
              <a:t>約</a:t>
            </a:r>
            <a:r>
              <a:rPr lang="en-US" altLang="ja-JP" sz="1400" dirty="0">
                <a:latin typeface="Meiryo"/>
                <a:ea typeface="Meiryo"/>
                <a:cs typeface="Meiryo"/>
                <a:sym typeface="Meiryo"/>
              </a:rPr>
              <a:t>100-200</a:t>
            </a:r>
            <a:r>
              <a:rPr lang="ja-JP" altLang="en-US" sz="1400" dirty="0">
                <a:latin typeface="Meiryo"/>
                <a:ea typeface="Meiryo"/>
                <a:cs typeface="Meiryo"/>
                <a:sym typeface="Meiryo"/>
              </a:rPr>
              <a:t>円台。</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かなり安価かつ成果報酬で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友だちを増やす広告。</a:t>
            </a:r>
            <a:endParaRPr lang="en-US" altLang="ja-JP" sz="1400" dirty="0">
              <a:latin typeface="Meiryo"/>
              <a:ea typeface="Meiryo"/>
              <a:cs typeface="Meiryo"/>
              <a:sym typeface="Meiryo"/>
            </a:endParaRPr>
          </a:p>
        </p:txBody>
      </p:sp>
      <p:sp>
        <p:nvSpPr>
          <p:cNvPr id="20" name="Google Shape;178;p7"/>
          <p:cNvSpPr txBox="1"/>
          <p:nvPr/>
        </p:nvSpPr>
        <p:spPr>
          <a:xfrm>
            <a:off x="3242964"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事例：アパレル</a:t>
            </a:r>
            <a:endParaRPr lang="en-US" altLang="ja-JP" sz="1400" dirty="0">
              <a:solidFill>
                <a:schemeClr val="tx1">
                  <a:lumMod val="50000"/>
                  <a:lumOff val="50000"/>
                </a:schemeClr>
              </a:solidFill>
              <a:latin typeface="Meiryo"/>
              <a:ea typeface="Meiryo"/>
              <a:cs typeface="Meiryo"/>
              <a:sym typeface="Meiryo"/>
            </a:endParaRPr>
          </a:p>
        </p:txBody>
      </p:sp>
      <p:sp>
        <p:nvSpPr>
          <p:cNvPr id="21" name="Google Shape;178;p7"/>
          <p:cNvSpPr txBox="1"/>
          <p:nvPr/>
        </p:nvSpPr>
        <p:spPr>
          <a:xfrm>
            <a:off x="3639325" y="5328640"/>
            <a:ext cx="2795420"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1</a:t>
            </a:r>
            <a:r>
              <a:rPr lang="ja-JP" altLang="en-US" sz="1200" dirty="0">
                <a:solidFill>
                  <a:schemeClr val="tx1">
                    <a:lumMod val="50000"/>
                    <a:lumOff val="50000"/>
                  </a:schemeClr>
                </a:solidFill>
                <a:latin typeface="Meiryo"/>
                <a:ea typeface="Meiryo"/>
                <a:cs typeface="Meiryo"/>
                <a:sym typeface="Meiryo"/>
              </a:rPr>
              <a:t>人あたり</a:t>
            </a:r>
            <a:r>
              <a:rPr lang="en-US" altLang="ja-JP" sz="1200" dirty="0">
                <a:solidFill>
                  <a:schemeClr val="tx1">
                    <a:lumMod val="50000"/>
                    <a:lumOff val="50000"/>
                  </a:schemeClr>
                </a:solidFill>
                <a:latin typeface="Meiryo"/>
                <a:ea typeface="Meiryo"/>
                <a:cs typeface="Meiryo"/>
                <a:sym typeface="Meiryo"/>
              </a:rPr>
              <a:t>50</a:t>
            </a:r>
            <a:r>
              <a:rPr lang="ja-JP" altLang="en-US" sz="1200" dirty="0">
                <a:solidFill>
                  <a:schemeClr val="tx1">
                    <a:lumMod val="50000"/>
                    <a:lumOff val="50000"/>
                  </a:schemeClr>
                </a:solidFill>
                <a:latin typeface="Meiryo"/>
                <a:ea typeface="Meiryo"/>
                <a:cs typeface="Meiryo"/>
                <a:sym typeface="Meiryo"/>
              </a:rPr>
              <a:t>円で友だち獲得</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経由の購入</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sp>
        <p:nvSpPr>
          <p:cNvPr id="22" name="Google Shape;178;p7"/>
          <p:cNvSpPr txBox="1"/>
          <p:nvPr/>
        </p:nvSpPr>
        <p:spPr>
          <a:xfrm>
            <a:off x="6434745"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サンクスページに到達した</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ユーザーを自動で</a:t>
            </a:r>
            <a:r>
              <a:rPr lang="en-US" altLang="ja-JP" sz="1400" dirty="0">
                <a:latin typeface="Meiryo"/>
                <a:ea typeface="Meiryo"/>
                <a:cs typeface="Meiryo"/>
                <a:sym typeface="Meiryo"/>
              </a:rPr>
              <a:t>LINE</a:t>
            </a:r>
            <a:r>
              <a:rPr lang="ja-JP" altLang="en-US" sz="1400" dirty="0">
                <a:latin typeface="Meiryo"/>
                <a:ea typeface="Meiryo"/>
                <a:cs typeface="Meiryo"/>
                <a:sym typeface="Meiryo"/>
              </a:rPr>
              <a:t>に誘導。</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友だち追加、追客に活用可能。</a:t>
            </a:r>
            <a:endParaRPr lang="en-US" altLang="ja-JP" sz="1400" dirty="0">
              <a:latin typeface="Meiryo"/>
              <a:ea typeface="Meiryo"/>
              <a:cs typeface="Meiryo"/>
              <a:sym typeface="Meiryo"/>
            </a:endParaRPr>
          </a:p>
        </p:txBody>
      </p:sp>
      <p:sp>
        <p:nvSpPr>
          <p:cNvPr id="23" name="Google Shape;178;p7"/>
          <p:cNvSpPr txBox="1"/>
          <p:nvPr/>
        </p:nvSpPr>
        <p:spPr>
          <a:xfrm>
            <a:off x="6434745"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事例：美容医療</a:t>
            </a:r>
            <a:endParaRPr lang="en-US" altLang="ja-JP" sz="1400" dirty="0">
              <a:solidFill>
                <a:schemeClr val="tx1">
                  <a:lumMod val="50000"/>
                  <a:lumOff val="50000"/>
                </a:schemeClr>
              </a:solidFill>
              <a:latin typeface="Meiryo"/>
              <a:ea typeface="Meiryo"/>
              <a:cs typeface="Meiryo"/>
              <a:sym typeface="Meiryo"/>
            </a:endParaRPr>
          </a:p>
        </p:txBody>
      </p:sp>
      <p:pic>
        <p:nvPicPr>
          <p:cNvPr id="4" name="図 3"/>
          <p:cNvPicPr>
            <a:picLocks noChangeAspect="1"/>
          </p:cNvPicPr>
          <p:nvPr/>
        </p:nvPicPr>
        <p:blipFill>
          <a:blip r:embed="rId3"/>
          <a:stretch>
            <a:fillRect/>
          </a:stretch>
        </p:blipFill>
        <p:spPr>
          <a:xfrm>
            <a:off x="3639325" y="2409907"/>
            <a:ext cx="2627350" cy="1492812"/>
          </a:xfrm>
          <a:prstGeom prst="rect">
            <a:avLst/>
          </a:prstGeom>
        </p:spPr>
      </p:pic>
      <p:sp>
        <p:nvSpPr>
          <p:cNvPr id="24" name="Google Shape;178;p7"/>
          <p:cNvSpPr txBox="1"/>
          <p:nvPr/>
        </p:nvSpPr>
        <p:spPr>
          <a:xfrm>
            <a:off x="440374" y="5328640"/>
            <a:ext cx="2752048" cy="890835"/>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LP</a:t>
            </a:r>
            <a:r>
              <a:rPr lang="ja-JP" altLang="en-US" sz="1200" dirty="0">
                <a:solidFill>
                  <a:schemeClr val="tx1">
                    <a:lumMod val="50000"/>
                    <a:lumOff val="50000"/>
                  </a:schemeClr>
                </a:solidFill>
                <a:latin typeface="Meiryo"/>
                <a:ea typeface="Meiryo"/>
                <a:cs typeface="Meiryo"/>
                <a:sym typeface="Meiryo"/>
              </a:rPr>
              <a:t>離脱ユーザーに対して</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誘導を実施。</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追加から</a:t>
            </a:r>
            <a:r>
              <a:rPr lang="en-US" altLang="ja-JP" sz="1200" dirty="0">
                <a:solidFill>
                  <a:schemeClr val="tx1">
                    <a:lumMod val="50000"/>
                    <a:lumOff val="50000"/>
                  </a:schemeClr>
                </a:solidFill>
                <a:latin typeface="Meiryo"/>
                <a:ea typeface="Meiryo"/>
                <a:cs typeface="Meiryo"/>
                <a:sym typeface="Meiryo"/>
              </a:rPr>
              <a:t>20</a:t>
            </a:r>
            <a:r>
              <a:rPr lang="ja-JP" altLang="en-US" sz="1200" dirty="0">
                <a:solidFill>
                  <a:schemeClr val="tx1">
                    <a:lumMod val="50000"/>
                    <a:lumOff val="50000"/>
                  </a:schemeClr>
                </a:solidFill>
                <a:latin typeface="Meiryo"/>
                <a:ea typeface="Meiryo"/>
                <a:cs typeface="Meiryo"/>
                <a:sym typeface="Meiryo"/>
              </a:rPr>
              <a:t>％が</a:t>
            </a:r>
            <a:r>
              <a:rPr lang="en-US" altLang="ja-JP" sz="1200" dirty="0">
                <a:solidFill>
                  <a:schemeClr val="tx1">
                    <a:lumMod val="50000"/>
                    <a:lumOff val="50000"/>
                  </a:schemeClr>
                </a:solidFill>
                <a:latin typeface="Meiryo"/>
                <a:ea typeface="Meiryo"/>
                <a:cs typeface="Meiryo"/>
                <a:sym typeface="Meiryo"/>
              </a:rPr>
              <a:t>CV</a:t>
            </a:r>
          </a:p>
          <a:p>
            <a:pPr lvl="0">
              <a:buClr>
                <a:schemeClr val="dk1"/>
              </a:buClr>
              <a:buSzPts val="1500"/>
            </a:pPr>
            <a:endParaRPr lang="en-US" altLang="ja-JP" sz="1200" dirty="0">
              <a:solidFill>
                <a:schemeClr val="tx1">
                  <a:lumMod val="50000"/>
                  <a:lumOff val="50000"/>
                </a:schemeClr>
              </a:solidFill>
              <a:latin typeface="Meiryo"/>
              <a:ea typeface="Meiryo"/>
              <a:cs typeface="Meiryo"/>
              <a:sym typeface="Meiryo"/>
            </a:endParaRPr>
          </a:p>
        </p:txBody>
      </p:sp>
      <p:sp>
        <p:nvSpPr>
          <p:cNvPr id="25" name="Google Shape;178;p7"/>
          <p:cNvSpPr txBox="1"/>
          <p:nvPr/>
        </p:nvSpPr>
        <p:spPr>
          <a:xfrm>
            <a:off x="6825208"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導入後友だち増加数が</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倍に。</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実反響率も</a:t>
            </a:r>
            <a:r>
              <a:rPr lang="en-US" altLang="ja-JP" sz="1200" dirty="0">
                <a:solidFill>
                  <a:schemeClr val="tx1">
                    <a:lumMod val="50000"/>
                    <a:lumOff val="50000"/>
                  </a:schemeClr>
                </a:solidFill>
                <a:latin typeface="Meiryo"/>
                <a:ea typeface="Meiryo"/>
                <a:cs typeface="Meiryo"/>
                <a:sym typeface="Meiryo"/>
              </a:rPr>
              <a:t>40%</a:t>
            </a:r>
            <a:r>
              <a:rPr lang="ja-JP" altLang="en-US" sz="1200" dirty="0">
                <a:solidFill>
                  <a:schemeClr val="tx1">
                    <a:lumMod val="50000"/>
                    <a:lumOff val="50000"/>
                  </a:schemeClr>
                </a:solidFill>
                <a:latin typeface="Meiryo"/>
                <a:ea typeface="Meiryo"/>
                <a:cs typeface="Meiryo"/>
                <a:sym typeface="Meiryo"/>
              </a:rPr>
              <a:t>程度改善。</a:t>
            </a:r>
            <a:endParaRPr lang="en-US" altLang="ja-JP" sz="1200" dirty="0">
              <a:solidFill>
                <a:schemeClr val="tx1">
                  <a:lumMod val="50000"/>
                  <a:lumOff val="50000"/>
                </a:schemeClr>
              </a:solidFill>
              <a:latin typeface="Meiryo"/>
              <a:ea typeface="Meiryo"/>
              <a:cs typeface="Meiryo"/>
              <a:sym typeface="Meiryo"/>
            </a:endParaRPr>
          </a:p>
        </p:txBody>
      </p:sp>
      <p:sp>
        <p:nvSpPr>
          <p:cNvPr id="37" name="角丸四角形 8">
            <a:extLst>
              <a:ext uri="{FF2B5EF4-FFF2-40B4-BE49-F238E27FC236}">
                <a16:creationId xmlns:a16="http://schemas.microsoft.com/office/drawing/2014/main" id="{C9E1ACA7-99C2-0E6B-91F5-B9518FC16E7C}"/>
              </a:ext>
            </a:extLst>
          </p:cNvPr>
          <p:cNvSpPr/>
          <p:nvPr/>
        </p:nvSpPr>
        <p:spPr>
          <a:xfrm>
            <a:off x="3460688" y="1776142"/>
            <a:ext cx="2986322" cy="4471347"/>
          </a:xfrm>
          <a:prstGeom prst="roundRect">
            <a:avLst>
              <a:gd name="adj" fmla="val 3567"/>
            </a:avLst>
          </a:prstGeom>
          <a:solidFill>
            <a:schemeClr val="bg1">
              <a:lumMod val="95000"/>
            </a:schemeClr>
          </a:solidFill>
          <a:ln w="25400" cap="flat" cmpd="sng" algn="ctr">
            <a:solidFill>
              <a:schemeClr val="tx1">
                <a:lumMod val="50000"/>
                <a:lumOff val="50000"/>
              </a:scheme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8" name="Google Shape;178;p7">
            <a:extLst>
              <a:ext uri="{FF2B5EF4-FFF2-40B4-BE49-F238E27FC236}">
                <a16:creationId xmlns:a16="http://schemas.microsoft.com/office/drawing/2014/main" id="{6F13136C-FF05-A088-CA87-3ACA257BC421}"/>
              </a:ext>
            </a:extLst>
          </p:cNvPr>
          <p:cNvSpPr txBox="1"/>
          <p:nvPr/>
        </p:nvSpPr>
        <p:spPr>
          <a:xfrm>
            <a:off x="3796689" y="1949959"/>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通知メッセージ</a:t>
            </a:r>
            <a:endParaRPr lang="en-US" altLang="ja-JP" sz="2000" b="1" dirty="0">
              <a:solidFill>
                <a:srgbClr val="002060"/>
              </a:solidFill>
              <a:latin typeface="Meiryo"/>
              <a:ea typeface="Meiryo"/>
              <a:cs typeface="Meiryo"/>
              <a:sym typeface="Meiryo"/>
            </a:endParaRPr>
          </a:p>
        </p:txBody>
      </p:sp>
      <p:sp>
        <p:nvSpPr>
          <p:cNvPr id="39" name="Google Shape;178;p7">
            <a:extLst>
              <a:ext uri="{FF2B5EF4-FFF2-40B4-BE49-F238E27FC236}">
                <a16:creationId xmlns:a16="http://schemas.microsoft.com/office/drawing/2014/main" id="{07FD580D-9A27-0246-033B-9F6EAE799E8D}"/>
              </a:ext>
            </a:extLst>
          </p:cNvPr>
          <p:cNvSpPr txBox="1"/>
          <p:nvPr/>
        </p:nvSpPr>
        <p:spPr>
          <a:xfrm>
            <a:off x="3232397"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友だちではないユーザーに</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対して予約完了通知などを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送り友だちを増やす。</a:t>
            </a:r>
            <a:endParaRPr lang="en-US" altLang="ja-JP" sz="1400" dirty="0">
              <a:latin typeface="Meiryo"/>
              <a:ea typeface="Meiryo"/>
              <a:cs typeface="Meiryo"/>
              <a:sym typeface="Meiryo"/>
            </a:endParaRPr>
          </a:p>
        </p:txBody>
      </p:sp>
      <p:sp>
        <p:nvSpPr>
          <p:cNvPr id="40" name="Google Shape;178;p7">
            <a:extLst>
              <a:ext uri="{FF2B5EF4-FFF2-40B4-BE49-F238E27FC236}">
                <a16:creationId xmlns:a16="http://schemas.microsoft.com/office/drawing/2014/main" id="{9F664541-9CBE-3991-FFCD-6CC51F91112E}"/>
              </a:ext>
            </a:extLst>
          </p:cNvPr>
          <p:cNvSpPr txBox="1"/>
          <p:nvPr/>
        </p:nvSpPr>
        <p:spPr>
          <a:xfrm>
            <a:off x="3232397"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事例：宅配ピザ</a:t>
            </a:r>
            <a:endParaRPr lang="en-US" altLang="ja-JP" sz="1400" dirty="0">
              <a:solidFill>
                <a:schemeClr val="tx1">
                  <a:lumMod val="50000"/>
                  <a:lumOff val="50000"/>
                </a:schemeClr>
              </a:solidFill>
              <a:latin typeface="Meiryo"/>
              <a:ea typeface="Meiryo"/>
              <a:cs typeface="Meiryo"/>
              <a:sym typeface="Meiryo"/>
            </a:endParaRPr>
          </a:p>
        </p:txBody>
      </p:sp>
      <p:pic>
        <p:nvPicPr>
          <p:cNvPr id="41" name="図 40">
            <a:extLst>
              <a:ext uri="{FF2B5EF4-FFF2-40B4-BE49-F238E27FC236}">
                <a16:creationId xmlns:a16="http://schemas.microsoft.com/office/drawing/2014/main" id="{EBE29AD0-3B27-DC79-2BA9-92067E22722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968283" y="1481069"/>
            <a:ext cx="2029853" cy="3608629"/>
          </a:xfrm>
          <a:prstGeom prst="rect">
            <a:avLst/>
          </a:prstGeom>
        </p:spPr>
      </p:pic>
      <p:sp>
        <p:nvSpPr>
          <p:cNvPr id="42" name="Google Shape;178;p7">
            <a:extLst>
              <a:ext uri="{FF2B5EF4-FFF2-40B4-BE49-F238E27FC236}">
                <a16:creationId xmlns:a16="http://schemas.microsoft.com/office/drawing/2014/main" id="{D998E418-5C84-71C1-1C83-DA02AB529AF7}"/>
              </a:ext>
            </a:extLst>
          </p:cNvPr>
          <p:cNvSpPr txBox="1"/>
          <p:nvPr/>
        </p:nvSpPr>
        <p:spPr>
          <a:xfrm>
            <a:off x="3622860"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通知メッセージ導入４ヶ月で</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友だち数</a:t>
            </a:r>
            <a:r>
              <a:rPr lang="en-US" altLang="ja-JP" sz="1200" dirty="0">
                <a:solidFill>
                  <a:schemeClr val="tx1">
                    <a:lumMod val="50000"/>
                    <a:lumOff val="50000"/>
                  </a:schemeClr>
                </a:solidFill>
                <a:latin typeface="Meiryo"/>
                <a:ea typeface="Meiryo"/>
                <a:cs typeface="Meiryo"/>
                <a:sym typeface="Meiryo"/>
              </a:rPr>
              <a:t>2</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pic>
        <p:nvPicPr>
          <p:cNvPr id="1026" name="Picture 2" descr="サンクスページ インスタ無料テンプレートデザイン。イラストや ...">
            <a:extLst>
              <a:ext uri="{FF2B5EF4-FFF2-40B4-BE49-F238E27FC236}">
                <a16:creationId xmlns:a16="http://schemas.microsoft.com/office/drawing/2014/main" id="{EF2FB526-72BA-45FB-7AF8-36501049F967}"/>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t="18239" b="39628"/>
          <a:stretch>
            <a:fillRect/>
          </a:stretch>
        </p:blipFill>
        <p:spPr bwMode="auto">
          <a:xfrm>
            <a:off x="7001437" y="2549254"/>
            <a:ext cx="2326770" cy="1225425"/>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752;p28">
            <a:extLst>
              <a:ext uri="{FF2B5EF4-FFF2-40B4-BE49-F238E27FC236}">
                <a16:creationId xmlns:a16="http://schemas.microsoft.com/office/drawing/2014/main" id="{E6ACC822-B6F9-6C30-928D-BAC3D63D473A}"/>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5" name="Google Shape;178;p7">
            <a:extLst>
              <a:ext uri="{FF2B5EF4-FFF2-40B4-BE49-F238E27FC236}">
                <a16:creationId xmlns:a16="http://schemas.microsoft.com/office/drawing/2014/main" id="{617CCD27-0570-5EC2-D489-ADCA03A0F721}"/>
              </a:ext>
            </a:extLst>
          </p:cNvPr>
          <p:cNvSpPr txBox="1"/>
          <p:nvPr/>
        </p:nvSpPr>
        <p:spPr>
          <a:xfrm>
            <a:off x="77003" y="943920"/>
            <a:ext cx="9751992" cy="583059"/>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600" dirty="0">
                <a:latin typeface="Meiryo"/>
                <a:ea typeface="Meiryo"/>
                <a:cs typeface="Meiryo"/>
                <a:sym typeface="Meiryo"/>
              </a:rPr>
              <a:t>準顕在（獲得見込みが高い）層の</a:t>
            </a:r>
            <a:r>
              <a:rPr lang="ja-JP" altLang="en-US" sz="1600" b="1" dirty="0">
                <a:latin typeface="Meiryo"/>
                <a:ea typeface="Meiryo"/>
                <a:cs typeface="Meiryo"/>
                <a:sym typeface="Meiryo"/>
              </a:rPr>
              <a:t>独自獲得手法が豊富</a:t>
            </a:r>
            <a:r>
              <a:rPr lang="ja-JP" altLang="en-US" sz="1600" dirty="0">
                <a:latin typeface="Meiryo"/>
                <a:ea typeface="Meiryo"/>
                <a:cs typeface="Meiryo"/>
                <a:sym typeface="Meiryo"/>
              </a:rPr>
              <a:t>で、尚且つ</a:t>
            </a:r>
            <a:r>
              <a:rPr lang="ja-JP" altLang="en-US" sz="1600" b="1" dirty="0">
                <a:latin typeface="Meiryo"/>
                <a:ea typeface="Meiryo"/>
                <a:cs typeface="Meiryo"/>
                <a:sym typeface="Meiryo"/>
              </a:rPr>
              <a:t>面談・就業までナーチャリングが可能</a:t>
            </a:r>
            <a:endParaRPr lang="en-US" altLang="ja-JP" sz="1600" b="1" dirty="0">
              <a:latin typeface="Meiryo"/>
              <a:ea typeface="Meiryo"/>
              <a:cs typeface="Meiryo"/>
              <a:sym typeface="Meiryo"/>
            </a:endParaRPr>
          </a:p>
          <a:p>
            <a:pPr lvl="0" algn="ctr">
              <a:buClr>
                <a:schemeClr val="dk1"/>
              </a:buClr>
              <a:buSzPts val="1500"/>
            </a:pPr>
            <a:r>
              <a:rPr lang="en-US" altLang="ja-JP" sz="1100" dirty="0">
                <a:solidFill>
                  <a:srgbClr val="FF0000"/>
                </a:solidFill>
                <a:latin typeface="Meiryo"/>
                <a:ea typeface="Meiryo"/>
                <a:cs typeface="Meiryo"/>
                <a:sym typeface="Meiryo"/>
              </a:rPr>
              <a:t>※</a:t>
            </a:r>
            <a:r>
              <a:rPr lang="ja-JP" altLang="en-US" sz="1100" dirty="0">
                <a:solidFill>
                  <a:srgbClr val="FF0000"/>
                </a:solidFill>
                <a:latin typeface="Meiryo"/>
                <a:ea typeface="Meiryo"/>
                <a:cs typeface="Meiryo"/>
                <a:sym typeface="Meiryo"/>
              </a:rPr>
              <a:t>実施想定の友だち追加動線について、★を記載しております。</a:t>
            </a:r>
            <a:endParaRPr lang="en-US" altLang="ja-JP" sz="1600" dirty="0">
              <a:solidFill>
                <a:srgbClr val="FF0000"/>
              </a:solidFill>
              <a:latin typeface="Meiryo"/>
              <a:ea typeface="Meiryo"/>
              <a:cs typeface="Meiryo"/>
              <a:sym typeface="Meiryo"/>
            </a:endParaRPr>
          </a:p>
        </p:txBody>
      </p:sp>
      <p:sp>
        <p:nvSpPr>
          <p:cNvPr id="6" name="星: 5 pt 5">
            <a:extLst>
              <a:ext uri="{FF2B5EF4-FFF2-40B4-BE49-F238E27FC236}">
                <a16:creationId xmlns:a16="http://schemas.microsoft.com/office/drawing/2014/main" id="{73AA3FF7-ED61-B641-763C-E4940D075F39}"/>
              </a:ext>
            </a:extLst>
          </p:cNvPr>
          <p:cNvSpPr/>
          <p:nvPr/>
        </p:nvSpPr>
        <p:spPr>
          <a:xfrm>
            <a:off x="2749464" y="1706924"/>
            <a:ext cx="540000" cy="540000"/>
          </a:xfrm>
          <a:prstGeom prst="star5">
            <a:avLst>
              <a:gd name="adj" fmla="val 32226"/>
              <a:gd name="hf" fmla="val 105146"/>
              <a:gd name="vf" fmla="val 110557"/>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5" name="星: 5 pt 14">
            <a:extLst>
              <a:ext uri="{FF2B5EF4-FFF2-40B4-BE49-F238E27FC236}">
                <a16:creationId xmlns:a16="http://schemas.microsoft.com/office/drawing/2014/main" id="{E7B29608-5299-2165-6DD5-597E992E7B04}"/>
              </a:ext>
            </a:extLst>
          </p:cNvPr>
          <p:cNvSpPr/>
          <p:nvPr/>
        </p:nvSpPr>
        <p:spPr>
          <a:xfrm>
            <a:off x="9252865" y="1672104"/>
            <a:ext cx="540000" cy="540000"/>
          </a:xfrm>
          <a:prstGeom prst="star5">
            <a:avLst>
              <a:gd name="adj" fmla="val 32226"/>
              <a:gd name="hf" fmla="val 105146"/>
              <a:gd name="vf" fmla="val 110557"/>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Tree>
    <p:extLst>
      <p:ext uri="{BB962C8B-B14F-4D97-AF65-F5344CB8AC3E}">
        <p14:creationId xmlns:p14="http://schemas.microsoft.com/office/powerpoint/2010/main" val="300013459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975156-99A2-3647-6F9D-3BD80C596EF5}"/>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B249BA1-EB38-DDA6-8221-FC109239C49F}"/>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離脱防止）</a:t>
            </a:r>
          </a:p>
        </p:txBody>
      </p:sp>
      <p:grpSp>
        <p:nvGrpSpPr>
          <p:cNvPr id="3" name="グループ化 2">
            <a:extLst>
              <a:ext uri="{FF2B5EF4-FFF2-40B4-BE49-F238E27FC236}">
                <a16:creationId xmlns:a16="http://schemas.microsoft.com/office/drawing/2014/main" id="{EA805D6F-0719-17C7-4E97-2705F1D9A93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0895EF17-7734-EE92-7BF3-5B0ADCDC65B8}"/>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3AD98A9-882F-05AA-BB4E-3FB88AAA7C20}"/>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r>
                <a:rPr kumimoji="1" lang="en-US" altLang="ja-JP" sz="1500" b="1" dirty="0">
                  <a:solidFill>
                    <a:schemeClr val="bg1"/>
                  </a:solidFill>
                  <a:latin typeface="Meiryo" panose="020B0604030504040204" pitchFamily="34" charset="-128"/>
                  <a:ea typeface="Meiryo" panose="020B0604030504040204" pitchFamily="34" charset="-128"/>
                </a:rPr>
                <a:t>(</a:t>
              </a:r>
              <a:r>
                <a:rPr kumimoji="1" lang="ja-JP" altLang="en-US" sz="1500" b="1" dirty="0">
                  <a:solidFill>
                    <a:schemeClr val="bg1"/>
                  </a:solidFill>
                  <a:latin typeface="Meiryo" panose="020B0604030504040204" pitchFamily="34" charset="-128"/>
                  <a:ea typeface="Meiryo" panose="020B0604030504040204" pitchFamily="34" charset="-128"/>
                </a:rPr>
                <a:t>離脱防止 など</a:t>
              </a:r>
              <a:r>
                <a:rPr kumimoji="1" lang="en-US" altLang="ja-JP" sz="1500" b="1" dirty="0">
                  <a:solidFill>
                    <a:schemeClr val="bg1"/>
                  </a:solidFill>
                  <a:latin typeface="Meiryo" panose="020B0604030504040204" pitchFamily="34" charset="-128"/>
                  <a:ea typeface="Meiryo" panose="020B0604030504040204" pitchFamily="34" charset="-128"/>
                </a:rPr>
                <a:t>)</a:t>
              </a:r>
              <a:endParaRPr kumimoji="1" lang="ja-JP" altLang="en-US" sz="1500" b="1" dirty="0">
                <a:solidFill>
                  <a:schemeClr val="bg1"/>
                </a:solidFill>
                <a:latin typeface="Meiryo" panose="020B0604030504040204" pitchFamily="34" charset="-128"/>
                <a:ea typeface="Meiryo" panose="020B0604030504040204" pitchFamily="34" charset="-128"/>
              </a:endParaRPr>
            </a:p>
          </p:txBody>
        </p:sp>
      </p:grpSp>
      <p:sp>
        <p:nvSpPr>
          <p:cNvPr id="8" name="正方形/長方形 7">
            <a:extLst>
              <a:ext uri="{FF2B5EF4-FFF2-40B4-BE49-F238E27FC236}">
                <a16:creationId xmlns:a16="http://schemas.microsoft.com/office/drawing/2014/main" id="{EB668975-CA29-64DD-88DF-17EAAC94AE3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pic>
        <p:nvPicPr>
          <p:cNvPr id="6" name="図 5">
            <a:extLst>
              <a:ext uri="{FF2B5EF4-FFF2-40B4-BE49-F238E27FC236}">
                <a16:creationId xmlns:a16="http://schemas.microsoft.com/office/drawing/2014/main" id="{4BC18E84-0DF3-01E6-D82D-0A9DCD2D5F30}"/>
              </a:ext>
            </a:extLst>
          </p:cNvPr>
          <p:cNvPicPr>
            <a:picLocks noChangeAspect="1"/>
          </p:cNvPicPr>
          <p:nvPr/>
        </p:nvPicPr>
        <p:blipFill>
          <a:blip r:embed="rId2"/>
          <a:stretch>
            <a:fillRect/>
          </a:stretch>
        </p:blipFill>
        <p:spPr>
          <a:xfrm>
            <a:off x="5764329" y="2258734"/>
            <a:ext cx="1524677" cy="3096752"/>
          </a:xfrm>
          <a:prstGeom prst="rect">
            <a:avLst/>
          </a:prstGeom>
        </p:spPr>
      </p:pic>
      <p:sp>
        <p:nvSpPr>
          <p:cNvPr id="9" name="テキスト ボックス 8">
            <a:extLst>
              <a:ext uri="{FF2B5EF4-FFF2-40B4-BE49-F238E27FC236}">
                <a16:creationId xmlns:a16="http://schemas.microsoft.com/office/drawing/2014/main" id="{10FACA28-BE3D-80E4-091C-39F6141694C7}"/>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pic>
        <p:nvPicPr>
          <p:cNvPr id="11" name="図 10">
            <a:extLst>
              <a:ext uri="{FF2B5EF4-FFF2-40B4-BE49-F238E27FC236}">
                <a16:creationId xmlns:a16="http://schemas.microsoft.com/office/drawing/2014/main" id="{FC908A63-1EE8-A605-1D4F-460FED9442AA}"/>
              </a:ext>
            </a:extLst>
          </p:cNvPr>
          <p:cNvPicPr>
            <a:picLocks noChangeAspect="1"/>
          </p:cNvPicPr>
          <p:nvPr/>
        </p:nvPicPr>
        <p:blipFill>
          <a:blip r:embed="rId2"/>
          <a:stretch>
            <a:fillRect/>
          </a:stretch>
        </p:blipFill>
        <p:spPr>
          <a:xfrm>
            <a:off x="8032877" y="2846109"/>
            <a:ext cx="1524677" cy="3096752"/>
          </a:xfrm>
          <a:prstGeom prst="rect">
            <a:avLst/>
          </a:prstGeom>
        </p:spPr>
      </p:pic>
      <p:sp>
        <p:nvSpPr>
          <p:cNvPr id="12" name="矢印: 右 11">
            <a:extLst>
              <a:ext uri="{FF2B5EF4-FFF2-40B4-BE49-F238E27FC236}">
                <a16:creationId xmlns:a16="http://schemas.microsoft.com/office/drawing/2014/main" id="{C5B2A6E8-796B-963F-0A04-9B9D1A36ADF0}"/>
              </a:ext>
            </a:extLst>
          </p:cNvPr>
          <p:cNvSpPr/>
          <p:nvPr/>
        </p:nvSpPr>
        <p:spPr>
          <a:xfrm>
            <a:off x="7373222" y="3359435"/>
            <a:ext cx="571500" cy="619125"/>
          </a:xfrm>
          <a:prstGeom prst="rightArrow">
            <a:avLst>
              <a:gd name="adj1" fmla="val 64359"/>
              <a:gd name="adj2" fmla="val 50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a:extLst>
              <a:ext uri="{FF2B5EF4-FFF2-40B4-BE49-F238E27FC236}">
                <a16:creationId xmlns:a16="http://schemas.microsoft.com/office/drawing/2014/main" id="{DB49FAB7-0FB8-4D5F-CF13-A19BBA28C8C7}"/>
              </a:ext>
            </a:extLst>
          </p:cNvPr>
          <p:cNvSpPr/>
          <p:nvPr/>
        </p:nvSpPr>
        <p:spPr>
          <a:xfrm>
            <a:off x="8117093" y="3057525"/>
            <a:ext cx="1371145" cy="2585494"/>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Google Shape;51;p19">
            <a:extLst>
              <a:ext uri="{FF2B5EF4-FFF2-40B4-BE49-F238E27FC236}">
                <a16:creationId xmlns:a16="http://schemas.microsoft.com/office/drawing/2014/main" id="{1B34220E-1DA3-AC59-C2DE-15AB3320AC1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EBA2E7AC-5299-C000-0A43-CCF8CE458AAF}"/>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9" name="図 18">
            <a:extLst>
              <a:ext uri="{FF2B5EF4-FFF2-40B4-BE49-F238E27FC236}">
                <a16:creationId xmlns:a16="http://schemas.microsoft.com/office/drawing/2014/main" id="{98FF8283-5B2F-5018-9D25-736A384B4D23}"/>
              </a:ext>
            </a:extLst>
          </p:cNvPr>
          <p:cNvPicPr>
            <a:picLocks noChangeAspect="1"/>
          </p:cNvPicPr>
          <p:nvPr/>
        </p:nvPicPr>
        <p:blipFill>
          <a:blip r:embed="rId3"/>
          <a:stretch>
            <a:fillRect/>
          </a:stretch>
        </p:blipFill>
        <p:spPr>
          <a:xfrm>
            <a:off x="8263942" y="3752836"/>
            <a:ext cx="1062545" cy="1115066"/>
          </a:xfrm>
          <a:prstGeom prst="rect">
            <a:avLst/>
          </a:prstGeom>
        </p:spPr>
      </p:pic>
      <p:sp>
        <p:nvSpPr>
          <p:cNvPr id="24" name="正方形/長方形 23">
            <a:extLst>
              <a:ext uri="{FF2B5EF4-FFF2-40B4-BE49-F238E27FC236}">
                <a16:creationId xmlns:a16="http://schemas.microsoft.com/office/drawing/2014/main" id="{E4AE5F6C-0BA5-6768-64B9-9CD156133552}"/>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7" name="図 6">
            <a:extLst>
              <a:ext uri="{FF2B5EF4-FFF2-40B4-BE49-F238E27FC236}">
                <a16:creationId xmlns:a16="http://schemas.microsoft.com/office/drawing/2014/main" id="{669C67AE-8870-AB99-9BB8-030F3AB8CB3B}"/>
              </a:ext>
            </a:extLst>
          </p:cNvPr>
          <p:cNvPicPr>
            <a:picLocks noChangeAspect="1"/>
          </p:cNvPicPr>
          <p:nvPr/>
        </p:nvPicPr>
        <p:blipFill>
          <a:blip r:embed="rId4"/>
          <a:stretch>
            <a:fillRect/>
          </a:stretch>
        </p:blipFill>
        <p:spPr>
          <a:xfrm>
            <a:off x="543398" y="4259719"/>
            <a:ext cx="5059180" cy="2191534"/>
          </a:xfrm>
          <a:prstGeom prst="rect">
            <a:avLst/>
          </a:prstGeom>
        </p:spPr>
      </p:pic>
      <p:pic>
        <p:nvPicPr>
          <p:cNvPr id="14" name="図 13">
            <a:extLst>
              <a:ext uri="{FF2B5EF4-FFF2-40B4-BE49-F238E27FC236}">
                <a16:creationId xmlns:a16="http://schemas.microsoft.com/office/drawing/2014/main" id="{CFFD213E-DE33-0075-6E07-F24DBD7A9441}"/>
              </a:ext>
            </a:extLst>
          </p:cNvPr>
          <p:cNvPicPr>
            <a:picLocks noChangeAspect="1"/>
          </p:cNvPicPr>
          <p:nvPr/>
        </p:nvPicPr>
        <p:blipFill>
          <a:blip r:embed="rId5"/>
          <a:stretch>
            <a:fillRect/>
          </a:stretch>
        </p:blipFill>
        <p:spPr>
          <a:xfrm>
            <a:off x="579513" y="1977951"/>
            <a:ext cx="5023065" cy="2231287"/>
          </a:xfrm>
          <a:prstGeom prst="rect">
            <a:avLst/>
          </a:prstGeom>
        </p:spPr>
      </p:pic>
    </p:spTree>
    <p:extLst>
      <p:ext uri="{BB962C8B-B14F-4D97-AF65-F5344CB8AC3E}">
        <p14:creationId xmlns:p14="http://schemas.microsoft.com/office/powerpoint/2010/main" val="105893345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61D1B-00B3-A324-FA45-8227BFE7C87E}"/>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92EBA17-1F28-FC74-FD04-7BBA4028B4C8}"/>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離脱防止）</a:t>
            </a:r>
          </a:p>
        </p:txBody>
      </p:sp>
      <p:grpSp>
        <p:nvGrpSpPr>
          <p:cNvPr id="3" name="グループ化 2">
            <a:extLst>
              <a:ext uri="{FF2B5EF4-FFF2-40B4-BE49-F238E27FC236}">
                <a16:creationId xmlns:a16="http://schemas.microsoft.com/office/drawing/2014/main" id="{A495E905-6DD4-9945-098D-841CB438C3EE}"/>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460E3190-8E00-961F-6C91-89DE5F3546AF}"/>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14929DF-C4CB-63FB-BAED-F6A1BE2438B2}"/>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r>
                <a:rPr kumimoji="1" lang="en-US" altLang="ja-JP" sz="1500" b="1" dirty="0">
                  <a:solidFill>
                    <a:schemeClr val="bg1"/>
                  </a:solidFill>
                  <a:latin typeface="Meiryo" panose="020B0604030504040204" pitchFamily="34" charset="-128"/>
                  <a:ea typeface="Meiryo" panose="020B0604030504040204" pitchFamily="34" charset="-128"/>
                </a:rPr>
                <a:t>(</a:t>
              </a:r>
              <a:r>
                <a:rPr kumimoji="1" lang="ja-JP" altLang="en-US" sz="1500" b="1" dirty="0">
                  <a:solidFill>
                    <a:schemeClr val="bg1"/>
                  </a:solidFill>
                  <a:latin typeface="Meiryo" panose="020B0604030504040204" pitchFamily="34" charset="-128"/>
                  <a:ea typeface="Meiryo" panose="020B0604030504040204" pitchFamily="34" charset="-128"/>
                </a:rPr>
                <a:t>離脱防止 など</a:t>
              </a:r>
              <a:r>
                <a:rPr kumimoji="1" lang="en-US" altLang="ja-JP" sz="1500" b="1" dirty="0">
                  <a:solidFill>
                    <a:schemeClr val="bg1"/>
                  </a:solidFill>
                  <a:latin typeface="Meiryo" panose="020B0604030504040204" pitchFamily="34" charset="-128"/>
                  <a:ea typeface="Meiryo" panose="020B0604030504040204" pitchFamily="34" charset="-128"/>
                </a:rPr>
                <a:t>)</a:t>
              </a:r>
              <a:endParaRPr kumimoji="1" lang="ja-JP" altLang="en-US" sz="1500" b="1" dirty="0">
                <a:solidFill>
                  <a:schemeClr val="bg1"/>
                </a:solidFill>
                <a:latin typeface="Meiryo" panose="020B0604030504040204" pitchFamily="34" charset="-128"/>
                <a:ea typeface="Meiryo" panose="020B0604030504040204" pitchFamily="34" charset="-128"/>
              </a:endParaRPr>
            </a:p>
          </p:txBody>
        </p:sp>
      </p:grpSp>
      <p:sp>
        <p:nvSpPr>
          <p:cNvPr id="8" name="正方形/長方形 7">
            <a:extLst>
              <a:ext uri="{FF2B5EF4-FFF2-40B4-BE49-F238E27FC236}">
                <a16:creationId xmlns:a16="http://schemas.microsoft.com/office/drawing/2014/main" id="{200A9277-1702-628D-6325-0D765E09FBE7}"/>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sp>
        <p:nvSpPr>
          <p:cNvPr id="9" name="テキスト ボックス 8">
            <a:extLst>
              <a:ext uri="{FF2B5EF4-FFF2-40B4-BE49-F238E27FC236}">
                <a16:creationId xmlns:a16="http://schemas.microsoft.com/office/drawing/2014/main" id="{FC59C8DC-A3F5-6C82-BBB6-1DCA2E2FCA1E}"/>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sp>
        <p:nvSpPr>
          <p:cNvPr id="15" name="Google Shape;51;p19">
            <a:extLst>
              <a:ext uri="{FF2B5EF4-FFF2-40B4-BE49-F238E27FC236}">
                <a16:creationId xmlns:a16="http://schemas.microsoft.com/office/drawing/2014/main" id="{ECC096EC-7A42-299D-ADFB-A11583AA36AB}"/>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C52155A1-F32D-8503-456F-3138842AD308}"/>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0" name="図 9">
            <a:extLst>
              <a:ext uri="{FF2B5EF4-FFF2-40B4-BE49-F238E27FC236}">
                <a16:creationId xmlns:a16="http://schemas.microsoft.com/office/drawing/2014/main" id="{3B15DB85-15F3-FF15-AB96-FDFE17717CDB}"/>
              </a:ext>
            </a:extLst>
          </p:cNvPr>
          <p:cNvPicPr>
            <a:picLocks noChangeAspect="1"/>
          </p:cNvPicPr>
          <p:nvPr/>
        </p:nvPicPr>
        <p:blipFill>
          <a:blip r:embed="rId2"/>
          <a:stretch>
            <a:fillRect/>
          </a:stretch>
        </p:blipFill>
        <p:spPr>
          <a:xfrm>
            <a:off x="1172081" y="1882008"/>
            <a:ext cx="7561838" cy="4661631"/>
          </a:xfrm>
          <a:prstGeom prst="rect">
            <a:avLst/>
          </a:prstGeom>
        </p:spPr>
      </p:pic>
    </p:spTree>
    <p:extLst>
      <p:ext uri="{BB962C8B-B14F-4D97-AF65-F5344CB8AC3E}">
        <p14:creationId xmlns:p14="http://schemas.microsoft.com/office/powerpoint/2010/main" val="427133484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2506C2-B2E5-BEA0-384E-7336F080BD96}"/>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A80CD04-9456-70DB-2E44-D3EDB146193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（サンクス</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LINE</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誘導）</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404798" y="1938056"/>
            <a:ext cx="1859036"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rPr>
              <a:t>WEB</a:t>
            </a: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サイト</a:t>
            </a:r>
          </a:p>
        </p:txBody>
      </p:sp>
      <p:sp>
        <p:nvSpPr>
          <p:cNvPr id="16" name="正方形/長方形 15">
            <a:extLst>
              <a:ext uri="{FF2B5EF4-FFF2-40B4-BE49-F238E27FC236}">
                <a16:creationId xmlns:a16="http://schemas.microsoft.com/office/drawing/2014/main" id="{32BBF438-B1EF-A61A-EE3D-69CD39766C7E}"/>
              </a:ext>
            </a:extLst>
          </p:cNvPr>
          <p:cNvSpPr/>
          <p:nvPr/>
        </p:nvSpPr>
        <p:spPr>
          <a:xfrm>
            <a:off x="5808682" y="241574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正方形/長方形 16">
            <a:extLst>
              <a:ext uri="{FF2B5EF4-FFF2-40B4-BE49-F238E27FC236}">
                <a16:creationId xmlns:a16="http://schemas.microsoft.com/office/drawing/2014/main" id="{1A1E4128-77DC-C871-EE20-5BD43326E078}"/>
              </a:ext>
            </a:extLst>
          </p:cNvPr>
          <p:cNvSpPr/>
          <p:nvPr/>
        </p:nvSpPr>
        <p:spPr>
          <a:xfrm>
            <a:off x="5808681" y="458896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F37BB268-660A-FEE4-BB39-0E338F1DDC23}"/>
              </a:ext>
            </a:extLst>
          </p:cNvPr>
          <p:cNvSpPr/>
          <p:nvPr/>
        </p:nvSpPr>
        <p:spPr>
          <a:xfrm>
            <a:off x="5974632" y="23047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非</a:t>
            </a:r>
            <a:r>
              <a:rPr lang="en-US" altLang="ja-JP" sz="1100" b="1" dirty="0">
                <a:solidFill>
                  <a:schemeClr val="tx1"/>
                </a:solidFill>
                <a:latin typeface="メイリオ" panose="020B0604030504040204" pitchFamily="50" charset="-128"/>
                <a:ea typeface="メイリオ" panose="020B0604030504040204" pitchFamily="50" charset="-128"/>
              </a:rPr>
              <a:t>LINE</a:t>
            </a:r>
            <a:r>
              <a:rPr lang="ja-JP" altLang="en-US" sz="1100" b="1" dirty="0">
                <a:solidFill>
                  <a:schemeClr val="tx1"/>
                </a:solidFill>
                <a:latin typeface="メイリオ" panose="020B0604030504040204" pitchFamily="50" charset="-128"/>
                <a:ea typeface="メイリオ" panose="020B0604030504040204" pitchFamily="50" charset="-128"/>
              </a:rPr>
              <a:t>友だちの場合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5974632" y="44668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既存の</a:t>
            </a:r>
            <a:r>
              <a:rPr lang="en-US" altLang="ja-JP" sz="1100" b="1" dirty="0">
                <a:solidFill>
                  <a:schemeClr val="tx1"/>
                </a:solidFill>
                <a:latin typeface="メイリオ" panose="020B0604030504040204" pitchFamily="50" charset="-128"/>
                <a:ea typeface="メイリオ" panose="020B0604030504040204" pitchFamily="50" charset="-128"/>
              </a:rPr>
              <a:t>LINE</a:t>
            </a:r>
            <a:r>
              <a:rPr lang="ja-JP" altLang="en-US" sz="1100" b="1" dirty="0">
                <a:solidFill>
                  <a:schemeClr val="tx1"/>
                </a:solidFill>
                <a:latin typeface="メイリオ" panose="020B0604030504040204" pitchFamily="50" charset="-128"/>
                <a:ea typeface="メイリオ" panose="020B0604030504040204" pitchFamily="50" charset="-128"/>
              </a:rPr>
              <a:t>友だちの場合</a:t>
            </a:r>
          </a:p>
        </p:txBody>
      </p:sp>
      <p:cxnSp>
        <p:nvCxnSpPr>
          <p:cNvPr id="23" name="直線矢印コネクタ 22">
            <a:extLst>
              <a:ext uri="{FF2B5EF4-FFF2-40B4-BE49-F238E27FC236}">
                <a16:creationId xmlns:a16="http://schemas.microsoft.com/office/drawing/2014/main" id="{8F202453-7FF9-8AE7-D10D-66F74A74A2F4}"/>
              </a:ext>
            </a:extLst>
          </p:cNvPr>
          <p:cNvCxnSpPr/>
          <p:nvPr/>
        </p:nvCxnSpPr>
        <p:spPr>
          <a:xfrm>
            <a:off x="4361857" y="3239708"/>
            <a:ext cx="1407469" cy="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4361857" y="3392108"/>
            <a:ext cx="1407469" cy="135838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4867227" y="2304788"/>
            <a:ext cx="374449" cy="3205847"/>
          </a:xfrm>
          <a:prstGeom prst="rect">
            <a:avLst/>
          </a:prstGeom>
          <a:solidFill>
            <a:srgbClr val="00FF00">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a:t>
            </a:r>
            <a:r>
              <a:rPr lang="en-US" altLang="ja-JP" sz="1100" b="1" dirty="0">
                <a:solidFill>
                  <a:schemeClr val="tx1"/>
                </a:solidFill>
                <a:latin typeface="メイリオ" panose="020B0604030504040204" pitchFamily="50" charset="-128"/>
                <a:ea typeface="メイリオ" panose="020B0604030504040204" pitchFamily="50" charset="-128"/>
              </a:rPr>
              <a:t>D</a:t>
            </a:r>
          </a:p>
          <a:p>
            <a:pPr algn="ctr"/>
            <a:r>
              <a:rPr kumimoji="1" lang="en-US" altLang="ja-JP" sz="1100" b="1" dirty="0">
                <a:solidFill>
                  <a:schemeClr val="tx1"/>
                </a:solidFill>
                <a:latin typeface="メイリオ" panose="020B0604030504040204" pitchFamily="50" charset="-128"/>
                <a:ea typeface="メイリオ" panose="020B0604030504040204" pitchFamily="50" charset="-128"/>
              </a:rPr>
              <a:t>Y</a:t>
            </a:r>
          </a:p>
          <a:p>
            <a:pPr algn="ctr"/>
            <a:r>
              <a:rPr lang="en-US" altLang="ja-JP" sz="1100" b="1" dirty="0">
                <a:solidFill>
                  <a:schemeClr val="tx1"/>
                </a:solidFill>
                <a:latin typeface="メイリオ" panose="020B0604030504040204" pitchFamily="50" charset="-128"/>
                <a:ea typeface="メイリオ" panose="020B0604030504040204" pitchFamily="50" charset="-128"/>
              </a:rPr>
              <a:t>M</a:t>
            </a:r>
            <a:r>
              <a:rPr lang="ja-JP" altLang="en-US" sz="1100" b="1" dirty="0">
                <a:solidFill>
                  <a:schemeClr val="tx1"/>
                </a:solidFill>
                <a:latin typeface="メイリオ" panose="020B0604030504040204" pitchFamily="50" charset="-128"/>
                <a:ea typeface="メイリオ" panose="020B0604030504040204" pitchFamily="50" charset="-128"/>
              </a:rPr>
              <a:t>ツ</a:t>
            </a:r>
            <a:endParaRPr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｜ルで</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en-US" altLang="ja-JP" sz="1100" b="1" dirty="0">
                <a:solidFill>
                  <a:schemeClr val="tx1"/>
                </a:solidFill>
                <a:latin typeface="メイリオ" panose="020B0604030504040204" pitchFamily="50" charset="-128"/>
                <a:ea typeface="メイリオ" panose="020B0604030504040204" pitchFamily="50" charset="-128"/>
              </a:rPr>
              <a:t>L</a:t>
            </a:r>
            <a:br>
              <a:rPr kumimoji="1" lang="en-US" altLang="ja-JP" sz="1100" b="1" dirty="0">
                <a:solidFill>
                  <a:schemeClr val="tx1"/>
                </a:solidFill>
                <a:latin typeface="メイリオ" panose="020B0604030504040204" pitchFamily="50" charset="-128"/>
                <a:ea typeface="メイリオ" panose="020B0604030504040204" pitchFamily="50" charset="-128"/>
              </a:rPr>
            </a:br>
            <a:r>
              <a:rPr kumimoji="1" lang="en-US" altLang="ja-JP" sz="1100" b="1" dirty="0">
                <a:solidFill>
                  <a:schemeClr val="tx1"/>
                </a:solidFill>
                <a:latin typeface="メイリオ" panose="020B0604030504040204" pitchFamily="50" charset="-128"/>
                <a:ea typeface="メイリオ" panose="020B0604030504040204" pitchFamily="50" charset="-128"/>
              </a:rPr>
              <a:t>I</a:t>
            </a:r>
          </a:p>
          <a:p>
            <a:pPr algn="ctr"/>
            <a:r>
              <a:rPr lang="en-US" altLang="ja-JP" sz="1100" b="1" dirty="0">
                <a:solidFill>
                  <a:schemeClr val="tx1"/>
                </a:solidFill>
                <a:latin typeface="メイリオ" panose="020B0604030504040204" pitchFamily="50" charset="-128"/>
                <a:ea typeface="メイリオ" panose="020B0604030504040204" pitchFamily="50" charset="-128"/>
              </a:rPr>
              <a:t>N</a:t>
            </a:r>
            <a:br>
              <a:rPr lang="en-US" altLang="ja-JP" sz="1100" b="1" dirty="0">
                <a:solidFill>
                  <a:schemeClr val="tx1"/>
                </a:solidFill>
                <a:latin typeface="メイリオ" panose="020B0604030504040204" pitchFamily="50" charset="-128"/>
                <a:ea typeface="メイリオ" panose="020B0604030504040204" pitchFamily="50" charset="-128"/>
              </a:rPr>
            </a:br>
            <a:r>
              <a:rPr lang="en-US" altLang="ja-JP" sz="1100" b="1" dirty="0">
                <a:solidFill>
                  <a:schemeClr val="tx1"/>
                </a:solidFill>
                <a:latin typeface="メイリオ" panose="020B0604030504040204" pitchFamily="50" charset="-128"/>
                <a:ea typeface="メイリオ" panose="020B0604030504040204" pitchFamily="50" charset="-128"/>
              </a:rPr>
              <a:t>E</a:t>
            </a: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動線</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lang="ja-JP" altLang="en-US" sz="1100" b="1" dirty="0">
                <a:solidFill>
                  <a:schemeClr val="tx1"/>
                </a:solidFill>
                <a:latin typeface="メイリオ" panose="020B0604030504040204" pitchFamily="50" charset="-128"/>
                <a:ea typeface="メイリオ" panose="020B0604030504040204" pitchFamily="50" charset="-128"/>
              </a:rPr>
              <a:t>に</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a:t>
            </a:r>
          </a:p>
        </p:txBody>
      </p: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2" cstate="print">
            <a:extLst>
              <a:ext uri="{28A0092B-C50C-407E-A947-70E740481C1C}">
                <a14:useLocalDpi xmlns:a14="http://schemas.microsoft.com/office/drawing/2010/main" val="0"/>
              </a:ext>
            </a:extLst>
          </a:blip>
          <a:srcRect t="4580"/>
          <a:stretch>
            <a:fillRect/>
          </a:stretch>
        </p:blipFill>
        <p:spPr>
          <a:xfrm>
            <a:off x="7999618" y="2128994"/>
            <a:ext cx="1231081" cy="2085097"/>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999618" y="4325046"/>
            <a:ext cx="1231081" cy="2085098"/>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5974631" y="2701376"/>
            <a:ext cx="1859035" cy="430887"/>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rPr>
              <a:t>公式アカウントの</a:t>
            </a:r>
            <a:r>
              <a:rPr lang="ja-JP" altLang="en-US" sz="1100" b="1" dirty="0">
                <a:latin typeface="メイリオ" panose="020B0604030504040204" pitchFamily="50" charset="-128"/>
                <a:ea typeface="メイリオ" panose="020B0604030504040204" pitchFamily="50" charset="-128"/>
              </a:rPr>
              <a:t>友だち</a:t>
            </a:r>
            <a:endParaRPr lang="en-US" altLang="ja-JP" sz="1100" b="1" dirty="0">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登録ページ</a:t>
            </a:r>
            <a:r>
              <a:rPr lang="ja-JP" altLang="en-US" sz="1100" dirty="0">
                <a:latin typeface="メイリオ" panose="020B0604030504040204" pitchFamily="50" charset="-128"/>
                <a:ea typeface="メイリオ" panose="020B0604030504040204" pitchFamily="50" charset="-128"/>
              </a:rPr>
              <a:t>へ遷移する。</a:t>
            </a:r>
            <a:endParaRPr kumimoji="1" lang="ja-JP" altLang="en-US" sz="1100" dirty="0">
              <a:latin typeface="メイリオ" panose="020B0604030504040204" pitchFamily="50" charset="-128"/>
              <a:ea typeface="メイリオ" panose="020B0604030504040204" pitchFamily="50" charset="-128"/>
            </a:endParaRP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5971905" y="4914274"/>
            <a:ext cx="1859035" cy="1384995"/>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rPr>
              <a:t>公式アカウントの</a:t>
            </a:r>
            <a:r>
              <a:rPr lang="ja-JP" altLang="en-US" sz="1100" b="1" dirty="0">
                <a:latin typeface="メイリオ" panose="020B0604030504040204" pitchFamily="50" charset="-128"/>
                <a:ea typeface="メイリオ" panose="020B0604030504040204" pitchFamily="50" charset="-128"/>
              </a:rPr>
              <a:t>トーク</a:t>
            </a:r>
            <a:endParaRPr lang="en-US" altLang="ja-JP" sz="1100" b="1" dirty="0">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画面</a:t>
            </a:r>
            <a:r>
              <a:rPr lang="ja-JP" altLang="en-US" sz="1100" dirty="0">
                <a:latin typeface="メイリオ" panose="020B0604030504040204" pitchFamily="50" charset="-128"/>
                <a:ea typeface="メイリオ" panose="020B0604030504040204" pitchFamily="50" charset="-128"/>
              </a:rPr>
              <a:t>へ遷移する。</a:t>
            </a:r>
            <a:endParaRPr lang="en-US" altLang="ja-JP" sz="1100" dirty="0">
              <a:latin typeface="メイリオ" panose="020B0604030504040204" pitchFamily="50" charset="-128"/>
              <a:ea typeface="メイリオ" panose="020B0604030504040204" pitchFamily="50" charset="-128"/>
            </a:endParaRPr>
          </a:p>
          <a:p>
            <a:r>
              <a:rPr kumimoji="1" lang="en-US" altLang="ja-JP" sz="1000" dirty="0">
                <a:solidFill>
                  <a:srgbClr val="FF0000"/>
                </a:solidFill>
                <a:latin typeface="メイリオ" panose="020B0604030504040204" pitchFamily="50" charset="-128"/>
                <a:ea typeface="メイリオ" panose="020B0604030504040204" pitchFamily="50" charset="-128"/>
              </a:rPr>
              <a:t>※</a:t>
            </a:r>
            <a:r>
              <a:rPr kumimoji="1" lang="ja-JP" altLang="en-US" sz="1000" dirty="0">
                <a:solidFill>
                  <a:srgbClr val="FF0000"/>
                </a:solidFill>
                <a:latin typeface="メイリオ" panose="020B0604030504040204" pitchFamily="50" charset="-128"/>
                <a:ea typeface="メイリオ" panose="020B0604030504040204" pitchFamily="50" charset="-128"/>
              </a:rPr>
              <a:t>設定によりフォーム入力</a:t>
            </a:r>
            <a:endParaRPr kumimoji="1" lang="en-US" altLang="ja-JP" sz="1000" dirty="0">
              <a:solidFill>
                <a:srgbClr val="FF0000"/>
              </a:solidFill>
              <a:latin typeface="メイリオ" panose="020B0604030504040204" pitchFamily="50" charset="-128"/>
              <a:ea typeface="メイリオ" panose="020B0604030504040204" pitchFamily="50" charset="-128"/>
            </a:endParaRPr>
          </a:p>
          <a:p>
            <a:r>
              <a:rPr lang="ja-JP" altLang="en-US" sz="1000" dirty="0">
                <a:solidFill>
                  <a:srgbClr val="FF0000"/>
                </a:solidFill>
                <a:latin typeface="メイリオ" panose="020B0604030504040204" pitchFamily="50" charset="-128"/>
                <a:ea typeface="メイリオ" panose="020B0604030504040204" pitchFamily="50" charset="-128"/>
              </a:rPr>
              <a:t>　内容を踏襲した入力画面</a:t>
            </a:r>
            <a:endParaRPr lang="en-US" altLang="ja-JP" sz="1000" dirty="0">
              <a:solidFill>
                <a:srgbClr val="FF0000"/>
              </a:solidFill>
              <a:latin typeface="メイリオ" panose="020B0604030504040204" pitchFamily="50" charset="-128"/>
              <a:ea typeface="メイリオ" panose="020B0604030504040204" pitchFamily="50" charset="-128"/>
            </a:endParaRPr>
          </a:p>
          <a:p>
            <a:r>
              <a:rPr kumimoji="1" lang="ja-JP" altLang="en-US" sz="1000" dirty="0">
                <a:solidFill>
                  <a:srgbClr val="FF0000"/>
                </a:solidFill>
                <a:latin typeface="メイリオ" panose="020B0604030504040204" pitchFamily="50" charset="-128"/>
                <a:ea typeface="メイリオ" panose="020B0604030504040204" pitchFamily="50" charset="-128"/>
              </a:rPr>
              <a:t>　を表示させることが可能。</a:t>
            </a:r>
            <a:endParaRPr kumimoji="1" lang="en-US" altLang="ja-JP" sz="1000" dirty="0">
              <a:solidFill>
                <a:srgbClr val="FF0000"/>
              </a:solidFill>
              <a:latin typeface="メイリオ" panose="020B0604030504040204" pitchFamily="50" charset="-128"/>
              <a:ea typeface="メイリオ" panose="020B0604030504040204" pitchFamily="50" charset="-128"/>
            </a:endParaRPr>
          </a:p>
          <a:p>
            <a:endParaRPr lang="en-US" altLang="ja-JP" sz="1000" dirty="0">
              <a:solidFill>
                <a:srgbClr val="FF0000"/>
              </a:solidFill>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a:t>
            </a:r>
            <a:endParaRPr lang="en-US" altLang="ja-JP" sz="1100" b="1" dirty="0">
              <a:latin typeface="メイリオ" panose="020B0604030504040204" pitchFamily="50" charset="-128"/>
              <a:ea typeface="メイリオ" panose="020B0604030504040204" pitchFamily="50" charset="-128"/>
            </a:endParaRPr>
          </a:p>
          <a:p>
            <a:r>
              <a:rPr kumimoji="1" lang="ja-JP" altLang="en-US" sz="1100" b="1" dirty="0">
                <a:latin typeface="メイリオ" panose="020B0604030504040204" pitchFamily="50" charset="-128"/>
                <a:ea typeface="メイリオ" panose="020B0604030504040204" pitchFamily="50" charset="-128"/>
              </a:rPr>
              <a:t>配信セグメントに利用可</a:t>
            </a:r>
            <a:endParaRPr kumimoji="1" lang="ja-JP" altLang="en-US" sz="1100" dirty="0">
              <a:latin typeface="メイリオ" panose="020B0604030504040204" pitchFamily="50" charset="-128"/>
              <a:ea typeface="メイリオ" panose="020B0604030504040204" pitchFamily="50" charset="-128"/>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4"/>
          <a:stretch>
            <a:fillRect/>
          </a:stretch>
        </p:blipFill>
        <p:spPr>
          <a:xfrm>
            <a:off x="8048301" y="3085325"/>
            <a:ext cx="1133712" cy="110223"/>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5"/>
          <a:stretch>
            <a:fillRect/>
          </a:stretch>
        </p:blipFill>
        <p:spPr>
          <a:xfrm>
            <a:off x="8378027" y="3091633"/>
            <a:ext cx="479964" cy="106659"/>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5"/>
          <a:stretch>
            <a:fillRect/>
          </a:stretch>
        </p:blipFill>
        <p:spPr>
          <a:xfrm>
            <a:off x="8395919" y="4322141"/>
            <a:ext cx="334412" cy="74315"/>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5"/>
          <a:stretch>
            <a:fillRect/>
          </a:stretch>
        </p:blipFill>
        <p:spPr>
          <a:xfrm>
            <a:off x="8548319" y="4474541"/>
            <a:ext cx="334412" cy="74315"/>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8414131" y="2644225"/>
            <a:ext cx="396000" cy="39600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600" dirty="0">
                <a:solidFill>
                  <a:schemeClr val="tx1"/>
                </a:solidFill>
                <a:latin typeface="メイリオ" panose="020B0604030504040204" pitchFamily="50" charset="-128"/>
                <a:ea typeface="メイリオ" panose="020B0604030504040204" pitchFamily="50" charset="-128"/>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315283" y="2196668"/>
            <a:ext cx="1778402" cy="3994401"/>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二等辺三角形 34">
            <a:extLst>
              <a:ext uri="{FF2B5EF4-FFF2-40B4-BE49-F238E27FC236}">
                <a16:creationId xmlns:a16="http://schemas.microsoft.com/office/drawing/2014/main" id="{D9FB7255-AF30-7B82-6180-D447A3754744}"/>
              </a:ext>
            </a:extLst>
          </p:cNvPr>
          <p:cNvSpPr/>
          <p:nvPr/>
        </p:nvSpPr>
        <p:spPr>
          <a:xfrm rot="5400000">
            <a:off x="2108593"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2225165"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二等辺三角形 36">
            <a:extLst>
              <a:ext uri="{FF2B5EF4-FFF2-40B4-BE49-F238E27FC236}">
                <a16:creationId xmlns:a16="http://schemas.microsoft.com/office/drawing/2014/main" id="{9D8E2C96-1207-00B8-6FC3-23370EFD7A03}"/>
              </a:ext>
            </a:extLst>
          </p:cNvPr>
          <p:cNvSpPr/>
          <p:nvPr/>
        </p:nvSpPr>
        <p:spPr>
          <a:xfrm rot="5400000">
            <a:off x="2341737"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正方形/長方形 37">
            <a:extLst>
              <a:ext uri="{FF2B5EF4-FFF2-40B4-BE49-F238E27FC236}">
                <a16:creationId xmlns:a16="http://schemas.microsoft.com/office/drawing/2014/main" id="{28671F13-F479-AFF6-9832-C7C00D2D05EE}"/>
              </a:ext>
            </a:extLst>
          </p:cNvPr>
          <p:cNvSpPr/>
          <p:nvPr/>
        </p:nvSpPr>
        <p:spPr>
          <a:xfrm>
            <a:off x="614547" y="4198381"/>
            <a:ext cx="1154315"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latin typeface="メイリオ" panose="020B0604030504040204" pitchFamily="50" charset="-128"/>
                <a:ea typeface="メイリオ" panose="020B0604030504040204" pitchFamily="50" charset="-128"/>
              </a:rPr>
              <a:t>フォーム</a:t>
            </a:r>
          </a:p>
        </p:txBody>
      </p:sp>
      <p:pic>
        <p:nvPicPr>
          <p:cNvPr id="40" name="図 39" descr="テキスト, 手紙&#10;&#10;AI 生成コンテンツは誤りを含む可能性があります。">
            <a:extLst>
              <a:ext uri="{FF2B5EF4-FFF2-40B4-BE49-F238E27FC236}">
                <a16:creationId xmlns:a16="http://schemas.microsoft.com/office/drawing/2014/main" id="{2B8DDCE0-83B3-5BAA-0FFE-3D329FBE2D94}"/>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663353" y="2289246"/>
            <a:ext cx="1048252" cy="1775437"/>
          </a:xfrm>
          <a:prstGeom prst="rect">
            <a:avLst/>
          </a:prstGeom>
        </p:spPr>
      </p:pic>
      <p:pic>
        <p:nvPicPr>
          <p:cNvPr id="41" name="図 40">
            <a:extLst>
              <a:ext uri="{FF2B5EF4-FFF2-40B4-BE49-F238E27FC236}">
                <a16:creationId xmlns:a16="http://schemas.microsoft.com/office/drawing/2014/main" id="{EE7C7FD3-78CB-4D67-F96A-D6F8017FE224}"/>
              </a:ext>
            </a:extLst>
          </p:cNvPr>
          <p:cNvPicPr>
            <a:picLocks noChangeAspect="1"/>
          </p:cNvPicPr>
          <p:nvPr/>
        </p:nvPicPr>
        <p:blipFill>
          <a:blip r:embed="rId7"/>
          <a:stretch>
            <a:fillRect/>
          </a:stretch>
        </p:blipFill>
        <p:spPr>
          <a:xfrm>
            <a:off x="641171" y="2325575"/>
            <a:ext cx="494484" cy="86136"/>
          </a:xfrm>
          <a:prstGeom prst="rect">
            <a:avLst/>
          </a:prstGeom>
        </p:spPr>
      </p:pic>
      <p:pic>
        <p:nvPicPr>
          <p:cNvPr id="42" name="図 41">
            <a:extLst>
              <a:ext uri="{FF2B5EF4-FFF2-40B4-BE49-F238E27FC236}">
                <a16:creationId xmlns:a16="http://schemas.microsoft.com/office/drawing/2014/main" id="{2E6CA8C2-2D04-CD9A-C431-4766768BBF3D}"/>
              </a:ext>
            </a:extLst>
          </p:cNvPr>
          <p:cNvPicPr>
            <a:picLocks noChangeAspect="1"/>
          </p:cNvPicPr>
          <p:nvPr/>
        </p:nvPicPr>
        <p:blipFill>
          <a:blip r:embed="rId7"/>
          <a:stretch>
            <a:fillRect/>
          </a:stretch>
        </p:blipFill>
        <p:spPr>
          <a:xfrm>
            <a:off x="630233" y="2328011"/>
            <a:ext cx="494484" cy="86136"/>
          </a:xfrm>
          <a:prstGeom prst="rect">
            <a:avLst/>
          </a:prstGeom>
        </p:spPr>
      </p:pic>
      <p:pic>
        <p:nvPicPr>
          <p:cNvPr id="47" name="図 46">
            <a:extLst>
              <a:ext uri="{FF2B5EF4-FFF2-40B4-BE49-F238E27FC236}">
                <a16:creationId xmlns:a16="http://schemas.microsoft.com/office/drawing/2014/main" id="{E5BE860E-2799-E5F4-ADCA-4ADBD44E0D0C}"/>
              </a:ext>
            </a:extLst>
          </p:cNvPr>
          <p:cNvPicPr>
            <a:picLocks noChangeAspect="1"/>
          </p:cNvPicPr>
          <p:nvPr/>
        </p:nvPicPr>
        <p:blipFill>
          <a:blip r:embed="rId7"/>
          <a:stretch>
            <a:fillRect/>
          </a:stretch>
        </p:blipFill>
        <p:spPr>
          <a:xfrm>
            <a:off x="810116" y="3773334"/>
            <a:ext cx="494484" cy="86136"/>
          </a:xfrm>
          <a:prstGeom prst="rect">
            <a:avLst/>
          </a:prstGeom>
        </p:spPr>
      </p:pic>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8"/>
          <a:stretch>
            <a:fillRect/>
          </a:stretch>
        </p:blipFill>
        <p:spPr>
          <a:xfrm>
            <a:off x="647157" y="2445202"/>
            <a:ext cx="1076073" cy="1468487"/>
          </a:xfrm>
          <a:prstGeom prst="rect">
            <a:avLst/>
          </a:prstGeom>
        </p:spPr>
      </p:pic>
      <p:pic>
        <p:nvPicPr>
          <p:cNvPr id="1024" name="図 1023">
            <a:extLst>
              <a:ext uri="{FF2B5EF4-FFF2-40B4-BE49-F238E27FC236}">
                <a16:creationId xmlns:a16="http://schemas.microsoft.com/office/drawing/2014/main" id="{E5E4719A-E6F5-34E0-F2FD-37322E2A76AA}"/>
              </a:ext>
            </a:extLst>
          </p:cNvPr>
          <p:cNvPicPr>
            <a:picLocks noChangeAspect="1"/>
          </p:cNvPicPr>
          <p:nvPr/>
        </p:nvPicPr>
        <p:blipFill>
          <a:blip r:embed="rId9"/>
          <a:stretch>
            <a:fillRect/>
          </a:stretch>
        </p:blipFill>
        <p:spPr>
          <a:xfrm>
            <a:off x="1125324" y="2303179"/>
            <a:ext cx="560995" cy="133465"/>
          </a:xfrm>
          <a:prstGeom prst="rect">
            <a:avLst/>
          </a:prstGeom>
        </p:spPr>
      </p:pic>
      <p:sp>
        <p:nvSpPr>
          <p:cNvPr id="1026" name="テキスト ボックス 1025">
            <a:extLst>
              <a:ext uri="{FF2B5EF4-FFF2-40B4-BE49-F238E27FC236}">
                <a16:creationId xmlns:a16="http://schemas.microsoft.com/office/drawing/2014/main" id="{1B57767B-4EA3-C247-B88C-4D505A95BD20}"/>
              </a:ext>
            </a:extLst>
          </p:cNvPr>
          <p:cNvSpPr txBox="1"/>
          <p:nvPr/>
        </p:nvSpPr>
        <p:spPr>
          <a:xfrm>
            <a:off x="-490844" y="4711039"/>
            <a:ext cx="3405553" cy="400110"/>
          </a:xfrm>
          <a:prstGeom prst="rect">
            <a:avLst/>
          </a:prstGeom>
          <a:noFill/>
        </p:spPr>
        <p:txBody>
          <a:bodyPr wrap="square">
            <a:spAutoFit/>
          </a:bodyPr>
          <a:lstStyle/>
          <a:p>
            <a:pPr algn="ctr"/>
            <a:r>
              <a:rPr lang="en-US" altLang="ja-JP" sz="1000" b="1" dirty="0">
                <a:solidFill>
                  <a:srgbClr val="FF0000"/>
                </a:solidFill>
                <a:latin typeface="メイリオ" panose="020B0604030504040204" pitchFamily="50" charset="-128"/>
                <a:ea typeface="メイリオ" panose="020B0604030504040204" pitchFamily="50" charset="-128"/>
              </a:rPr>
              <a:t>※</a:t>
            </a:r>
            <a:r>
              <a:rPr lang="ja-JP" altLang="en-US" sz="1000" b="1" dirty="0">
                <a:solidFill>
                  <a:srgbClr val="FF0000"/>
                </a:solidFill>
                <a:latin typeface="メイリオ" panose="020B0604030504040204" pitchFamily="50" charset="-128"/>
                <a:ea typeface="メイリオ" panose="020B0604030504040204" pitchFamily="50" charset="-128"/>
              </a:rPr>
              <a:t>入力した内容を</a:t>
            </a:r>
            <a:endParaRPr lang="en-US" altLang="ja-JP" sz="1000" b="1" dirty="0">
              <a:solidFill>
                <a:srgbClr val="FF0000"/>
              </a:solidFill>
              <a:latin typeface="メイリオ" panose="020B0604030504040204" pitchFamily="50" charset="-128"/>
              <a:ea typeface="メイリオ" panose="020B0604030504040204" pitchFamily="50" charset="-128"/>
            </a:endParaRPr>
          </a:p>
          <a:p>
            <a:pPr algn="ctr"/>
            <a:r>
              <a:rPr lang="ja-JP" altLang="en-US" sz="1000" b="1" dirty="0">
                <a:solidFill>
                  <a:srgbClr val="FF0000"/>
                </a:solidFill>
                <a:latin typeface="メイリオ" panose="020B0604030504040204" pitchFamily="50" charset="-128"/>
                <a:ea typeface="メイリオ" panose="020B0604030504040204" pitchFamily="50" charset="-128"/>
              </a:rPr>
              <a:t>トークに反映が可能。</a:t>
            </a:r>
            <a:endParaRPr lang="en-US" altLang="ja-JP" sz="1000" b="1" dirty="0">
              <a:solidFill>
                <a:srgbClr val="FF0000"/>
              </a:solidFill>
              <a:latin typeface="メイリオ" panose="020B0604030504040204" pitchFamily="50" charset="-128"/>
              <a:ea typeface="メイリオ" panose="020B0604030504040204" pitchFamily="50" charset="-128"/>
            </a:endParaRPr>
          </a:p>
        </p:txBody>
      </p:sp>
      <p:sp>
        <p:nvSpPr>
          <p:cNvPr id="1032" name="正方形/長方形 1031">
            <a:extLst>
              <a:ext uri="{FF2B5EF4-FFF2-40B4-BE49-F238E27FC236}">
                <a16:creationId xmlns:a16="http://schemas.microsoft.com/office/drawing/2014/main" id="{D1D96D42-255C-636E-49E5-2CDA95DD6764}"/>
              </a:ext>
            </a:extLst>
          </p:cNvPr>
          <p:cNvSpPr/>
          <p:nvPr/>
        </p:nvSpPr>
        <p:spPr>
          <a:xfrm>
            <a:off x="2584156" y="2196668"/>
            <a:ext cx="1778402" cy="3994401"/>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909322" y="4198381"/>
            <a:ext cx="1154315"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latin typeface="メイリオ" panose="020B0604030504040204" pitchFamily="50" charset="-128"/>
                <a:ea typeface="メイリオ" panose="020B0604030504040204" pitchFamily="50" charset="-128"/>
              </a:rPr>
              <a:t>CV</a:t>
            </a:r>
            <a:endParaRPr kumimoji="1" lang="ja-JP" altLang="en-US" sz="1100" b="1" dirty="0">
              <a:latin typeface="メイリオ" panose="020B0604030504040204" pitchFamily="50" charset="-128"/>
              <a:ea typeface="メイリオ" panose="020B0604030504040204" pitchFamily="50" charset="-128"/>
            </a:endParaRPr>
          </a:p>
        </p:txBody>
      </p:sp>
      <p:sp>
        <p:nvSpPr>
          <p:cNvPr id="1036" name="正方形/長方形 1035">
            <a:extLst>
              <a:ext uri="{FF2B5EF4-FFF2-40B4-BE49-F238E27FC236}">
                <a16:creationId xmlns:a16="http://schemas.microsoft.com/office/drawing/2014/main" id="{43EEA9CC-C52C-B219-FF18-6E6EA44E4D24}"/>
              </a:ext>
            </a:extLst>
          </p:cNvPr>
          <p:cNvSpPr/>
          <p:nvPr/>
        </p:nvSpPr>
        <p:spPr>
          <a:xfrm>
            <a:off x="2692868" y="4436119"/>
            <a:ext cx="1396722" cy="104502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・購入完了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・セミナー予約</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・登録完了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・メルマガ登録</a:t>
            </a:r>
            <a:endParaRPr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・その他</a:t>
            </a: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2977448" y="2296209"/>
            <a:ext cx="1048252" cy="1775437"/>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10" cstate="print">
            <a:extLst>
              <a:ext uri="{28A0092B-C50C-407E-A947-70E740481C1C}">
                <a14:useLocalDpi xmlns:a14="http://schemas.microsoft.com/office/drawing/2010/main" val="0"/>
              </a:ext>
            </a:extLst>
          </a:blip>
          <a:srcRect l="20270" r="23682"/>
          <a:stretch>
            <a:fillRect/>
          </a:stretch>
        </p:blipFill>
        <p:spPr bwMode="auto">
          <a:xfrm>
            <a:off x="3866329" y="4627146"/>
            <a:ext cx="395417" cy="529521"/>
          </a:xfrm>
          <a:prstGeom prst="rect">
            <a:avLst/>
          </a:prstGeom>
          <a:noFill/>
          <a:extLst>
            <a:ext uri="{909E8E84-426E-40DD-AFC4-6F175D3DCCD1}">
              <a14:hiddenFill xmlns:a14="http://schemas.microsoft.com/office/drawing/2010/main">
                <a:solidFill>
                  <a:srgbClr val="FFFFFF"/>
                </a:solidFill>
              </a14:hiddenFill>
            </a:ext>
          </a:extLst>
        </p:spPr>
      </p:pic>
      <p:pic>
        <p:nvPicPr>
          <p:cNvPr id="1040" name="図 1039">
            <a:extLst>
              <a:ext uri="{FF2B5EF4-FFF2-40B4-BE49-F238E27FC236}">
                <a16:creationId xmlns:a16="http://schemas.microsoft.com/office/drawing/2014/main" id="{D40EFC68-F8C8-CACE-392A-C804A102B410}"/>
              </a:ext>
            </a:extLst>
          </p:cNvPr>
          <p:cNvPicPr>
            <a:picLocks noChangeAspect="1"/>
          </p:cNvPicPr>
          <p:nvPr/>
        </p:nvPicPr>
        <p:blipFill>
          <a:blip r:embed="rId7"/>
          <a:stretch>
            <a:fillRect/>
          </a:stretch>
        </p:blipFill>
        <p:spPr>
          <a:xfrm>
            <a:off x="2955266" y="2332538"/>
            <a:ext cx="494484" cy="86136"/>
          </a:xfrm>
          <a:prstGeom prst="rect">
            <a:avLst/>
          </a:prstGeom>
        </p:spPr>
      </p:pic>
      <p:pic>
        <p:nvPicPr>
          <p:cNvPr id="1041" name="図 1040">
            <a:extLst>
              <a:ext uri="{FF2B5EF4-FFF2-40B4-BE49-F238E27FC236}">
                <a16:creationId xmlns:a16="http://schemas.microsoft.com/office/drawing/2014/main" id="{BA9B0596-4197-6BA5-B58D-7E67FD1379B1}"/>
              </a:ext>
            </a:extLst>
          </p:cNvPr>
          <p:cNvPicPr>
            <a:picLocks noChangeAspect="1"/>
          </p:cNvPicPr>
          <p:nvPr/>
        </p:nvPicPr>
        <p:blipFill>
          <a:blip r:embed="rId7"/>
          <a:stretch>
            <a:fillRect/>
          </a:stretch>
        </p:blipFill>
        <p:spPr>
          <a:xfrm>
            <a:off x="2944328" y="2334974"/>
            <a:ext cx="494484" cy="86136"/>
          </a:xfrm>
          <a:prstGeom prst="rect">
            <a:avLst/>
          </a:prstGeom>
        </p:spPr>
      </p:pic>
      <p:pic>
        <p:nvPicPr>
          <p:cNvPr id="1042" name="図 1041">
            <a:extLst>
              <a:ext uri="{FF2B5EF4-FFF2-40B4-BE49-F238E27FC236}">
                <a16:creationId xmlns:a16="http://schemas.microsoft.com/office/drawing/2014/main" id="{A3D5D1CE-703D-3244-20B5-0CBB6C5EB467}"/>
              </a:ext>
            </a:extLst>
          </p:cNvPr>
          <p:cNvPicPr>
            <a:picLocks noChangeAspect="1"/>
          </p:cNvPicPr>
          <p:nvPr/>
        </p:nvPicPr>
        <p:blipFill>
          <a:blip r:embed="rId7"/>
          <a:stretch>
            <a:fillRect/>
          </a:stretch>
        </p:blipFill>
        <p:spPr>
          <a:xfrm>
            <a:off x="3124211" y="3780297"/>
            <a:ext cx="494484" cy="86136"/>
          </a:xfrm>
          <a:prstGeom prst="rect">
            <a:avLst/>
          </a:prstGeom>
        </p:spPr>
      </p:pic>
      <p:sp>
        <p:nvSpPr>
          <p:cNvPr id="1043" name="テキスト ボックス 1042">
            <a:extLst>
              <a:ext uri="{FF2B5EF4-FFF2-40B4-BE49-F238E27FC236}">
                <a16:creationId xmlns:a16="http://schemas.microsoft.com/office/drawing/2014/main" id="{434489DF-76E5-B08D-AB93-7A020A3C23F0}"/>
              </a:ext>
            </a:extLst>
          </p:cNvPr>
          <p:cNvSpPr txBox="1"/>
          <p:nvPr/>
        </p:nvSpPr>
        <p:spPr>
          <a:xfrm>
            <a:off x="1254839" y="5195928"/>
            <a:ext cx="1679395" cy="338554"/>
          </a:xfrm>
          <a:prstGeom prst="rect">
            <a:avLst/>
          </a:prstGeom>
          <a:solidFill>
            <a:schemeClr val="bg1">
              <a:alpha val="56000"/>
            </a:schemeClr>
          </a:solidFill>
        </p:spPr>
        <p:txBody>
          <a:bodyPr wrap="square">
            <a:spAutoFit/>
          </a:bodyPr>
          <a:lstStyle/>
          <a:p>
            <a:pPr algn="ctr"/>
            <a:r>
              <a:rPr lang="en-US" altLang="ja-JP" sz="800" b="1" dirty="0">
                <a:solidFill>
                  <a:schemeClr val="bg1">
                    <a:lumMod val="85000"/>
                  </a:schemeClr>
                </a:solidFill>
                <a:latin typeface="メイリオ" panose="020B0604030504040204" pitchFamily="50" charset="-128"/>
                <a:ea typeface="メイリオ" panose="020B0604030504040204" pitchFamily="50" charset="-128"/>
              </a:rPr>
              <a:t>※</a:t>
            </a:r>
            <a:r>
              <a:rPr lang="ja-JP" altLang="en-US" sz="800" b="1" dirty="0">
                <a:solidFill>
                  <a:schemeClr val="bg1">
                    <a:lumMod val="85000"/>
                  </a:schemeClr>
                </a:solidFill>
                <a:latin typeface="メイリオ" panose="020B0604030504040204" pitchFamily="50" charset="-128"/>
                <a:ea typeface="メイリオ" panose="020B0604030504040204" pitchFamily="50" charset="-128"/>
              </a:rPr>
              <a:t>ユーザーの個人情報収集が</a:t>
            </a:r>
            <a:endParaRPr lang="en-US" altLang="ja-JP" sz="800" b="1" dirty="0">
              <a:solidFill>
                <a:schemeClr val="bg1">
                  <a:lumMod val="85000"/>
                </a:schemeClr>
              </a:solidFill>
              <a:latin typeface="メイリオ" panose="020B0604030504040204" pitchFamily="50" charset="-128"/>
              <a:ea typeface="メイリオ" panose="020B0604030504040204" pitchFamily="50" charset="-128"/>
            </a:endParaRPr>
          </a:p>
          <a:p>
            <a:pPr algn="ctr"/>
            <a:r>
              <a:rPr lang="ja-JP" altLang="en-US" sz="800" b="1" dirty="0">
                <a:solidFill>
                  <a:schemeClr val="bg1">
                    <a:lumMod val="85000"/>
                  </a:schemeClr>
                </a:solidFill>
                <a:latin typeface="メイリオ" panose="020B0604030504040204" pitchFamily="50" charset="-128"/>
                <a:ea typeface="メイリオ" panose="020B0604030504040204" pitchFamily="50" charset="-128"/>
              </a:rPr>
              <a:t>完了したタイミング</a:t>
            </a:r>
            <a:endParaRPr kumimoji="1" lang="ja-JP" altLang="en-US" sz="800" b="1" dirty="0">
              <a:solidFill>
                <a:schemeClr val="bg1">
                  <a:lumMod val="85000"/>
                </a:schemeClr>
              </a:solidFill>
              <a:latin typeface="メイリオ" panose="020B0604030504040204" pitchFamily="50" charset="-128"/>
              <a:ea typeface="メイリオ" panose="020B0604030504040204" pitchFamily="50" charset="-128"/>
            </a:endParaRPr>
          </a:p>
        </p:txBody>
      </p:sp>
      <p:grpSp>
        <p:nvGrpSpPr>
          <p:cNvPr id="3" name="グループ化 2">
            <a:extLst>
              <a:ext uri="{FF2B5EF4-FFF2-40B4-BE49-F238E27FC236}">
                <a16:creationId xmlns:a16="http://schemas.microsoft.com/office/drawing/2014/main" id="{E76D8F54-2926-2D56-7238-F66ACCBC4F2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サンクス</a:t>
              </a:r>
              <a:r>
                <a:rPr kumimoji="1" lang="en-US" altLang="ja-JP" sz="1500" b="1" dirty="0">
                  <a:solidFill>
                    <a:schemeClr val="bg1"/>
                  </a:solidFill>
                  <a:latin typeface="Meiryo" panose="020B0604030504040204" pitchFamily="34" charset="-128"/>
                  <a:ea typeface="Meiryo" panose="020B0604030504040204" pitchFamily="34" charset="-128"/>
                </a:rPr>
                <a:t>LINE</a:t>
              </a:r>
              <a:r>
                <a:rPr kumimoji="1" lang="ja-JP" altLang="en-US" sz="1500" b="1" dirty="0">
                  <a:solidFill>
                    <a:schemeClr val="bg1"/>
                  </a:solidFill>
                  <a:latin typeface="Meiryo" panose="020B0604030504040204" pitchFamily="34" charset="-128"/>
                  <a:ea typeface="Meiryo" panose="020B0604030504040204" pitchFamily="34" charset="-128"/>
                </a:rPr>
                <a:t>誘導</a:t>
              </a:r>
            </a:p>
          </p:txBody>
        </p:sp>
      </p:grpSp>
      <p:sp>
        <p:nvSpPr>
          <p:cNvPr id="6" name="正方形/長方形 5">
            <a:extLst>
              <a:ext uri="{FF2B5EF4-FFF2-40B4-BE49-F238E27FC236}">
                <a16:creationId xmlns:a16="http://schemas.microsoft.com/office/drawing/2014/main" id="{8B20BFF3-9D3E-A4D7-FF5A-70927F78FC9D}"/>
              </a:ext>
            </a:extLst>
          </p:cNvPr>
          <p:cNvSpPr/>
          <p:nvPr/>
        </p:nvSpPr>
        <p:spPr>
          <a:xfrm>
            <a:off x="8247347" y="4702330"/>
            <a:ext cx="899499" cy="79959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 name="コネクタ: カギ線 6">
            <a:extLst>
              <a:ext uri="{FF2B5EF4-FFF2-40B4-BE49-F238E27FC236}">
                <a16:creationId xmlns:a16="http://schemas.microsoft.com/office/drawing/2014/main" id="{C5EB654A-0759-70F8-6BA7-95CA3A0F983F}"/>
              </a:ext>
            </a:extLst>
          </p:cNvPr>
          <p:cNvCxnSpPr>
            <a:cxnSpLocks/>
          </p:cNvCxnSpPr>
          <p:nvPr/>
        </p:nvCxnSpPr>
        <p:spPr>
          <a:xfrm flipV="1">
            <a:off x="7672763" y="5102505"/>
            <a:ext cx="574585" cy="332494"/>
          </a:xfrm>
          <a:prstGeom prst="bentConnector3">
            <a:avLst>
              <a:gd name="adj1" fmla="val 50000"/>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3" name="直線矢印コネクタ 12">
            <a:extLst>
              <a:ext uri="{FF2B5EF4-FFF2-40B4-BE49-F238E27FC236}">
                <a16:creationId xmlns:a16="http://schemas.microsoft.com/office/drawing/2014/main" id="{218E3FE3-7B20-5966-421F-4ECB81603538}"/>
              </a:ext>
            </a:extLst>
          </p:cNvPr>
          <p:cNvCxnSpPr>
            <a:cxnSpLocks/>
            <a:stCxn id="48" idx="2"/>
            <a:endCxn id="21" idx="0"/>
          </p:cNvCxnSpPr>
          <p:nvPr/>
        </p:nvCxnSpPr>
        <p:spPr>
          <a:xfrm>
            <a:off x="6904149" y="3132263"/>
            <a:ext cx="1" cy="133462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9" name="テキスト ボックス 18">
            <a:extLst>
              <a:ext uri="{FF2B5EF4-FFF2-40B4-BE49-F238E27FC236}">
                <a16:creationId xmlns:a16="http://schemas.microsoft.com/office/drawing/2014/main" id="{DBDB9444-3A0E-B235-58FC-9F8C81BAEA44}"/>
              </a:ext>
            </a:extLst>
          </p:cNvPr>
          <p:cNvSpPr txBox="1"/>
          <p:nvPr/>
        </p:nvSpPr>
        <p:spPr>
          <a:xfrm>
            <a:off x="6323825" y="3523709"/>
            <a:ext cx="1161782" cy="261610"/>
          </a:xfrm>
          <a:prstGeom prst="rect">
            <a:avLst/>
          </a:prstGeom>
          <a:solidFill>
            <a:schemeClr val="bg1">
              <a:alpha val="70000"/>
            </a:schemeClr>
          </a:solidFill>
        </p:spPr>
        <p:txBody>
          <a:bodyPr wrap="square">
            <a:spAutoFit/>
          </a:bodyPr>
          <a:lstStyle/>
          <a:p>
            <a:pPr algn="ctr"/>
            <a:r>
              <a:rPr kumimoji="1" lang="ja-JP" altLang="en-US" sz="1100" b="1" dirty="0">
                <a:solidFill>
                  <a:srgbClr val="00C057"/>
                </a:solidFill>
                <a:latin typeface="メイリオ" panose="020B0604030504040204" pitchFamily="50" charset="-128"/>
                <a:ea typeface="メイリオ" panose="020B0604030504040204" pitchFamily="50" charset="-128"/>
              </a:rPr>
              <a:t>友だち追加後</a:t>
            </a:r>
            <a:endParaRPr lang="ja-JP" altLang="en-US" sz="1100" dirty="0">
              <a:solidFill>
                <a:srgbClr val="00C057"/>
              </a:solidFill>
            </a:endParaRPr>
          </a:p>
        </p:txBody>
      </p:sp>
      <p:sp>
        <p:nvSpPr>
          <p:cNvPr id="9" name="正方形/長方形 8">
            <a:extLst>
              <a:ext uri="{FF2B5EF4-FFF2-40B4-BE49-F238E27FC236}">
                <a16:creationId xmlns:a16="http://schemas.microsoft.com/office/drawing/2014/main" id="{DC4FF56C-47EE-47DB-92F1-3F0EF57613D9}"/>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ja-JP" altLang="en-US" sz="1600" dirty="0">
                <a:latin typeface="Meiryo"/>
                <a:ea typeface="Meiryo"/>
                <a:cs typeface="Meiryo"/>
                <a:sym typeface="Meiryo"/>
              </a:rPr>
              <a:t>サンクス到達時の</a:t>
            </a:r>
            <a:r>
              <a:rPr lang="en-US" altLang="ja-JP" sz="1600" dirty="0">
                <a:latin typeface="Meiryo"/>
                <a:ea typeface="Meiryo"/>
                <a:cs typeface="Meiryo"/>
                <a:sym typeface="Meiryo"/>
              </a:rPr>
              <a:t>LINE</a:t>
            </a:r>
            <a:r>
              <a:rPr lang="ja-JP" altLang="en-US" sz="1600" dirty="0">
                <a:latin typeface="Meiryo"/>
                <a:ea typeface="Meiryo"/>
                <a:cs typeface="Meiryo"/>
                <a:sym typeface="Meiryo"/>
              </a:rPr>
              <a:t>動線が弊社開発により可能に。</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費用を抑えての導入が可能で、新規反響の質改善に寄与。</a:t>
            </a:r>
          </a:p>
        </p:txBody>
      </p:sp>
      <p:sp>
        <p:nvSpPr>
          <p:cNvPr id="10" name="テキスト ボックス 9">
            <a:extLst>
              <a:ext uri="{FF2B5EF4-FFF2-40B4-BE49-F238E27FC236}">
                <a16:creationId xmlns:a16="http://schemas.microsoft.com/office/drawing/2014/main" id="{3EACBB40-B311-2012-88DC-7E4CD6FCFF28}"/>
              </a:ext>
            </a:extLst>
          </p:cNvPr>
          <p:cNvSpPr txBox="1"/>
          <p:nvPr/>
        </p:nvSpPr>
        <p:spPr>
          <a:xfrm>
            <a:off x="4091506" y="1391612"/>
            <a:ext cx="4718625"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暫定措置として導入済アカウントについては</a:t>
            </a:r>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2026</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年</a:t>
            </a:r>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7</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月～の価格改定の予定</a:t>
            </a:r>
            <a:endParaRPr lang="ja-JP" altLang="en-US" sz="900" dirty="0">
              <a:solidFill>
                <a:srgbClr val="FF0000"/>
              </a:solidFill>
            </a:endParaRPr>
          </a:p>
        </p:txBody>
      </p:sp>
      <p:sp>
        <p:nvSpPr>
          <p:cNvPr id="14" name="テキスト ボックス 13">
            <a:extLst>
              <a:ext uri="{FF2B5EF4-FFF2-40B4-BE49-F238E27FC236}">
                <a16:creationId xmlns:a16="http://schemas.microsoft.com/office/drawing/2014/main" id="{5ED6F7D2-546D-BF9F-9805-58455D7E2831}"/>
              </a:ext>
            </a:extLst>
          </p:cNvPr>
          <p:cNvSpPr txBox="1"/>
          <p:nvPr/>
        </p:nvSpPr>
        <p:spPr>
          <a:xfrm>
            <a:off x="4091506" y="1549623"/>
            <a:ext cx="4718625"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既存</a:t>
            </a:r>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API</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ツールとの併用についても、問題なく稼働が可能。</a:t>
            </a:r>
            <a:endParaRPr lang="ja-JP" altLang="en-US" sz="900" dirty="0">
              <a:solidFill>
                <a:srgbClr val="FF0000"/>
              </a:solidFill>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sp>
        <p:nvSpPr>
          <p:cNvPr id="26" name="Google Shape;51;p19">
            <a:extLst>
              <a:ext uri="{FF2B5EF4-FFF2-40B4-BE49-F238E27FC236}">
                <a16:creationId xmlns:a16="http://schemas.microsoft.com/office/drawing/2014/main" id="{A4070FDA-7C99-27DE-6A9C-437C1D5DD3B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28" name="Google Shape;51;p19">
            <a:extLst>
              <a:ext uri="{FF2B5EF4-FFF2-40B4-BE49-F238E27FC236}">
                <a16:creationId xmlns:a16="http://schemas.microsoft.com/office/drawing/2014/main" id="{40C4675F-5DCC-DD57-BE14-B3A7697A02C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Meiryo"/>
                <a:ea typeface="Meiryo"/>
                <a:cs typeface="Meiryo"/>
                <a:sym typeface="Meiryo"/>
              </a:rPr>
              <a:t>+</a:t>
            </a:r>
            <a:r>
              <a:rPr lang="ja-JP" altLang="en-US" sz="1050" b="1" dirty="0">
                <a:solidFill>
                  <a:srgbClr val="FFFF00"/>
                </a:solidFill>
                <a:latin typeface="Meiryo"/>
                <a:ea typeface="Meiryo"/>
                <a:cs typeface="Meiryo"/>
                <a:sym typeface="Meiryo"/>
              </a:rPr>
              <a:t>設定地点追加</a:t>
            </a:r>
            <a:endParaRPr sz="1050" b="1" i="0" u="none" strike="noStrike" cap="none" dirty="0">
              <a:solidFill>
                <a:srgbClr val="FFFF00"/>
              </a:solidFill>
              <a:latin typeface="Meiryo"/>
              <a:ea typeface="Meiryo"/>
              <a:cs typeface="Meiryo"/>
              <a:sym typeface="Meiryo"/>
            </a:endParaRPr>
          </a:p>
        </p:txBody>
      </p:sp>
      <p:cxnSp>
        <p:nvCxnSpPr>
          <p:cNvPr id="30" name="コネクタ: カギ線 29">
            <a:extLst>
              <a:ext uri="{FF2B5EF4-FFF2-40B4-BE49-F238E27FC236}">
                <a16:creationId xmlns:a16="http://schemas.microsoft.com/office/drawing/2014/main" id="{D9706AF3-2C8D-6646-76C8-7802A4F734FC}"/>
              </a:ext>
            </a:extLst>
          </p:cNvPr>
          <p:cNvCxnSpPr>
            <a:cxnSpLocks/>
          </p:cNvCxnSpPr>
          <p:nvPr/>
        </p:nvCxnSpPr>
        <p:spPr>
          <a:xfrm rot="16200000" flipH="1">
            <a:off x="3294819" y="3047336"/>
            <a:ext cx="430977" cy="4596748"/>
          </a:xfrm>
          <a:prstGeom prst="bentConnector2">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97C92C6B-4F06-7ED3-0627-D0C168299913}"/>
              </a:ext>
            </a:extLst>
          </p:cNvPr>
          <p:cNvSpPr txBox="1"/>
          <p:nvPr/>
        </p:nvSpPr>
        <p:spPr>
          <a:xfrm>
            <a:off x="115187" y="5639542"/>
            <a:ext cx="5785781" cy="461665"/>
          </a:xfrm>
          <a:prstGeom prst="rect">
            <a:avLst/>
          </a:prstGeom>
          <a:solidFill>
            <a:schemeClr val="bg1">
              <a:alpha val="62000"/>
            </a:schemeClr>
          </a:solidFill>
        </p:spPr>
        <p:txBody>
          <a:bodyPr wrap="square">
            <a:spAutoFit/>
          </a:bodyPr>
          <a:lstStyle/>
          <a:p>
            <a:pPr algn="ctr"/>
            <a:r>
              <a:rPr lang="ja-JP" altLang="ja-JP" sz="1200" dirty="0">
                <a:latin typeface="メイリオ" panose="020B0604030504040204" pitchFamily="50" charset="-128"/>
                <a:ea typeface="メイリオ" panose="020B0604030504040204" pitchFamily="50" charset="-128"/>
              </a:rPr>
              <a:t>高開封率のLINEに誘導</a:t>
            </a:r>
            <a:r>
              <a:rPr lang="ja-JP" altLang="en-US" sz="1200" dirty="0">
                <a:latin typeface="メイリオ" panose="020B0604030504040204" pitchFamily="50" charset="-128"/>
                <a:ea typeface="メイリオ" panose="020B0604030504040204" pitchFamily="50" charset="-128"/>
              </a:rPr>
              <a:t>して</a:t>
            </a:r>
            <a:r>
              <a:rPr lang="ja-JP" altLang="ja-JP" sz="1200" dirty="0">
                <a:latin typeface="メイリオ" panose="020B0604030504040204" pitchFamily="50" charset="-128"/>
                <a:ea typeface="メイリオ" panose="020B0604030504040204" pitchFamily="50" charset="-128"/>
              </a:rPr>
              <a:t>反響→実売上への引上げ率、リピート率改善。</a:t>
            </a:r>
            <a:endParaRPr lang="en-US" altLang="ja-JP" sz="1200" dirty="0">
              <a:latin typeface="メイリオ" panose="020B0604030504040204" pitchFamily="50" charset="-128"/>
              <a:ea typeface="メイリオ" panose="020B0604030504040204" pitchFamily="50" charset="-128"/>
            </a:endParaRPr>
          </a:p>
          <a:p>
            <a:pPr algn="ctr"/>
            <a:r>
              <a:rPr lang="ja-JP" altLang="ja-JP" sz="1200" dirty="0">
                <a:latin typeface="メイリオ" panose="020B0604030504040204" pitchFamily="50" charset="-128"/>
                <a:ea typeface="メイリオ" panose="020B0604030504040204" pitchFamily="50" charset="-128"/>
              </a:rPr>
              <a:t> </a:t>
            </a:r>
            <a:r>
              <a:rPr lang="ja-JP" altLang="ja-JP" sz="1200" b="1" dirty="0">
                <a:solidFill>
                  <a:srgbClr val="FF0000"/>
                </a:solidFill>
                <a:latin typeface="メイリオ" panose="020B0604030504040204" pitchFamily="50" charset="-128"/>
                <a:ea typeface="メイリオ" panose="020B0604030504040204" pitchFamily="50" charset="-128"/>
              </a:rPr>
              <a:t>弊社運用の美容クリニック様では、予約後来院率にて40-50%程度の改善を実現</a:t>
            </a:r>
            <a:r>
              <a:rPr lang="ja-JP" altLang="ja-JP" sz="1200" dirty="0">
                <a:latin typeface="メイリオ" panose="020B0604030504040204" pitchFamily="50" charset="-128"/>
                <a:ea typeface="メイリオ" panose="020B0604030504040204" pitchFamily="50" charset="-128"/>
              </a:rPr>
              <a:t>。</a:t>
            </a:r>
            <a:endParaRPr lang="ja-JP" altLang="en-US" sz="12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94909011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0D4D3-02EA-A5F1-D13F-557CC4270B1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CE82040-EC6A-3624-AB86-12AD7F91F31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AB48BF19-1E81-18F2-64BE-979545FAE824}"/>
              </a:ext>
            </a:extLst>
          </p:cNvPr>
          <p:cNvSpPr/>
          <p:nvPr/>
        </p:nvSpPr>
        <p:spPr>
          <a:xfrm>
            <a:off x="4245125" y="3038203"/>
            <a:ext cx="1415772"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費用感</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61937549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90CDE0-BB10-C7C6-9CB9-785832AABAF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4DA5ED1-E7F2-6353-56C2-FA4628CF19B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弊社からご提供できる運用プラン</a:t>
            </a:r>
          </a:p>
        </p:txBody>
      </p:sp>
      <p:sp>
        <p:nvSpPr>
          <p:cNvPr id="9" name="正方形/長方形 8">
            <a:extLst>
              <a:ext uri="{FF2B5EF4-FFF2-40B4-BE49-F238E27FC236}">
                <a16:creationId xmlns:a16="http://schemas.microsoft.com/office/drawing/2014/main" id="{2AEA7C23-DE93-9590-AE94-B792C3122BEF}"/>
              </a:ext>
            </a:extLst>
          </p:cNvPr>
          <p:cNvSpPr/>
          <p:nvPr/>
        </p:nvSpPr>
        <p:spPr>
          <a:xfrm>
            <a:off x="0" y="68157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サービス内容</a:t>
            </a:r>
            <a:endParaRPr kumimoji="1" lang="ja-JP" altLang="en-US" sz="1400" dirty="0">
              <a:latin typeface="メイリオ" panose="020B0604030504040204" pitchFamily="50" charset="-128"/>
              <a:ea typeface="メイリオ" panose="020B0604030504040204" pitchFamily="50" charset="-128"/>
            </a:endParaRPr>
          </a:p>
        </p:txBody>
      </p:sp>
      <p:sp>
        <p:nvSpPr>
          <p:cNvPr id="5" name="Google Shape;752;p28">
            <a:extLst>
              <a:ext uri="{FF2B5EF4-FFF2-40B4-BE49-F238E27FC236}">
                <a16:creationId xmlns:a16="http://schemas.microsoft.com/office/drawing/2014/main" id="{9D6FEB09-4D8F-8EAE-D257-4C677C23BB92}"/>
              </a:ext>
            </a:extLst>
          </p:cNvPr>
          <p:cNvSpPr txBox="1"/>
          <p:nvPr/>
        </p:nvSpPr>
        <p:spPr>
          <a:xfrm>
            <a:off x="2983774" y="782870"/>
            <a:ext cx="661987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月額固定のコンサル運営で、費用を抑えた運用スタートを実現。</a:t>
            </a:r>
          </a:p>
        </p:txBody>
      </p:sp>
      <p:sp>
        <p:nvSpPr>
          <p:cNvPr id="17" name="正方形/長方形 16">
            <a:extLst>
              <a:ext uri="{FF2B5EF4-FFF2-40B4-BE49-F238E27FC236}">
                <a16:creationId xmlns:a16="http://schemas.microsoft.com/office/drawing/2014/main" id="{64B91377-FDB2-808E-0970-159FDA78ABB9}"/>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DYM</a:t>
            </a:r>
            <a:r>
              <a:rPr kumimoji="1" lang="ja-JP" altLang="en-US" sz="1400" dirty="0">
                <a:latin typeface="メイリオ" panose="020B0604030504040204" pitchFamily="50" charset="-128"/>
                <a:ea typeface="メイリオ" panose="020B0604030504040204" pitchFamily="50" charset="-128"/>
              </a:rPr>
              <a:t>プラン</a:t>
            </a:r>
          </a:p>
        </p:txBody>
      </p:sp>
      <p:sp>
        <p:nvSpPr>
          <p:cNvPr id="3" name="Shape 2">
            <a:extLst>
              <a:ext uri="{FF2B5EF4-FFF2-40B4-BE49-F238E27FC236}">
                <a16:creationId xmlns:a16="http://schemas.microsoft.com/office/drawing/2014/main" id="{133EC02F-4D0A-E846-1994-A1FA50AA761C}"/>
              </a:ext>
            </a:extLst>
          </p:cNvPr>
          <p:cNvSpPr/>
          <p:nvPr/>
        </p:nvSpPr>
        <p:spPr>
          <a:xfrm>
            <a:off x="3996942" y="1299722"/>
            <a:ext cx="5180076" cy="658368"/>
          </a:xfrm>
          <a:prstGeom prst="roundRect">
            <a:avLst>
              <a:gd name="adj" fmla="val 11111"/>
            </a:avLst>
          </a:prstGeom>
          <a:solidFill>
            <a:schemeClr val="bg1">
              <a:lumMod val="85000"/>
            </a:schemeClr>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2" name="Shape 3">
            <a:extLst>
              <a:ext uri="{FF2B5EF4-FFF2-40B4-BE49-F238E27FC236}">
                <a16:creationId xmlns:a16="http://schemas.microsoft.com/office/drawing/2014/main" id="{B03D337C-CE0C-8D62-1622-3E7F414F385E}"/>
              </a:ext>
            </a:extLst>
          </p:cNvPr>
          <p:cNvSpPr/>
          <p:nvPr/>
        </p:nvSpPr>
        <p:spPr>
          <a:xfrm>
            <a:off x="4232400" y="1391162"/>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5" name="Text 4">
            <a:extLst>
              <a:ext uri="{FF2B5EF4-FFF2-40B4-BE49-F238E27FC236}">
                <a16:creationId xmlns:a16="http://schemas.microsoft.com/office/drawing/2014/main" id="{B1A45445-BB59-E57C-783F-82C190B07BF0}"/>
              </a:ext>
            </a:extLst>
          </p:cNvPr>
          <p:cNvSpPr/>
          <p:nvPr/>
        </p:nvSpPr>
        <p:spPr>
          <a:xfrm>
            <a:off x="4232400" y="1391162"/>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01</a:t>
            </a:r>
            <a:endParaRPr lang="en-US" sz="1300" dirty="0">
              <a:latin typeface="メイリオ" panose="020B0604030504040204" pitchFamily="50" charset="-128"/>
              <a:ea typeface="メイリオ" panose="020B0604030504040204" pitchFamily="50" charset="-128"/>
            </a:endParaRPr>
          </a:p>
        </p:txBody>
      </p:sp>
      <p:sp>
        <p:nvSpPr>
          <p:cNvPr id="30" name="Text 5">
            <a:extLst>
              <a:ext uri="{FF2B5EF4-FFF2-40B4-BE49-F238E27FC236}">
                <a16:creationId xmlns:a16="http://schemas.microsoft.com/office/drawing/2014/main" id="{9B28CF00-AAB9-C0E8-E939-BB9A0644E64F}"/>
              </a:ext>
            </a:extLst>
          </p:cNvPr>
          <p:cNvSpPr/>
          <p:nvPr/>
        </p:nvSpPr>
        <p:spPr>
          <a:xfrm>
            <a:off x="4872480" y="1354586"/>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求職者（整備士）のカスタマージャーニー（8フェーズ）</a:t>
            </a:r>
            <a:endParaRPr lang="en-US" sz="1300" dirty="0">
              <a:latin typeface="メイリオ" panose="020B0604030504040204" pitchFamily="50" charset="-128"/>
              <a:ea typeface="メイリオ" panose="020B0604030504040204" pitchFamily="50" charset="-128"/>
            </a:endParaRPr>
          </a:p>
        </p:txBody>
      </p:sp>
      <p:sp>
        <p:nvSpPr>
          <p:cNvPr id="31" name="Text 6">
            <a:extLst>
              <a:ext uri="{FF2B5EF4-FFF2-40B4-BE49-F238E27FC236}">
                <a16:creationId xmlns:a16="http://schemas.microsoft.com/office/drawing/2014/main" id="{859B7776-633B-4EB8-939E-2F40912A0B26}"/>
              </a:ext>
            </a:extLst>
          </p:cNvPr>
          <p:cNvSpPr/>
          <p:nvPr/>
        </p:nvSpPr>
        <p:spPr>
          <a:xfrm>
            <a:off x="4872480" y="1647194"/>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Calibri" pitchFamily="34" charset="-120"/>
              </a:rPr>
              <a:t>接触〜面談・就業までの動線設計</a:t>
            </a:r>
            <a:endParaRPr lang="en-US" sz="1000" dirty="0">
              <a:latin typeface="メイリオ" panose="020B0604030504040204" pitchFamily="50" charset="-128"/>
              <a:ea typeface="メイリオ" panose="020B0604030504040204" pitchFamily="50" charset="-128"/>
            </a:endParaRPr>
          </a:p>
        </p:txBody>
      </p:sp>
      <p:sp>
        <p:nvSpPr>
          <p:cNvPr id="32" name="Shape 7">
            <a:extLst>
              <a:ext uri="{FF2B5EF4-FFF2-40B4-BE49-F238E27FC236}">
                <a16:creationId xmlns:a16="http://schemas.microsoft.com/office/drawing/2014/main" id="{7D44BDCF-0A55-B2C9-910D-3324635E44D1}"/>
              </a:ext>
            </a:extLst>
          </p:cNvPr>
          <p:cNvSpPr/>
          <p:nvPr/>
        </p:nvSpPr>
        <p:spPr>
          <a:xfrm>
            <a:off x="3996942" y="2067818"/>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3" name="Shape 8">
            <a:extLst>
              <a:ext uri="{FF2B5EF4-FFF2-40B4-BE49-F238E27FC236}">
                <a16:creationId xmlns:a16="http://schemas.microsoft.com/office/drawing/2014/main" id="{6B95D5FC-BCA7-C12E-16F3-F3982D7CB7FF}"/>
              </a:ext>
            </a:extLst>
          </p:cNvPr>
          <p:cNvSpPr/>
          <p:nvPr/>
        </p:nvSpPr>
        <p:spPr>
          <a:xfrm>
            <a:off x="4232400" y="215925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34" name="Text 9">
            <a:extLst>
              <a:ext uri="{FF2B5EF4-FFF2-40B4-BE49-F238E27FC236}">
                <a16:creationId xmlns:a16="http://schemas.microsoft.com/office/drawing/2014/main" id="{337B0579-C212-59E6-2BF8-06592B5DE9B2}"/>
              </a:ext>
            </a:extLst>
          </p:cNvPr>
          <p:cNvSpPr/>
          <p:nvPr/>
        </p:nvSpPr>
        <p:spPr>
          <a:xfrm>
            <a:off x="4232400" y="215925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02</a:t>
            </a:r>
            <a:endParaRPr lang="en-US" sz="1300" dirty="0">
              <a:latin typeface="メイリオ" panose="020B0604030504040204" pitchFamily="50" charset="-128"/>
              <a:ea typeface="メイリオ" panose="020B0604030504040204" pitchFamily="50" charset="-128"/>
            </a:endParaRPr>
          </a:p>
        </p:txBody>
      </p:sp>
      <p:sp>
        <p:nvSpPr>
          <p:cNvPr id="35" name="Text 10">
            <a:extLst>
              <a:ext uri="{FF2B5EF4-FFF2-40B4-BE49-F238E27FC236}">
                <a16:creationId xmlns:a16="http://schemas.microsoft.com/office/drawing/2014/main" id="{920D37BD-A1AA-216C-CD8A-FC40DD16D16E}"/>
              </a:ext>
            </a:extLst>
          </p:cNvPr>
          <p:cNvSpPr/>
          <p:nvPr/>
        </p:nvSpPr>
        <p:spPr>
          <a:xfrm>
            <a:off x="4872480" y="212268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LINEステップ配信シナリオ（</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4</a:t>
            </a: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-8</a:t>
            </a:r>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本</a:t>
            </a: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sz="1300" dirty="0">
              <a:latin typeface="メイリオ" panose="020B0604030504040204" pitchFamily="50" charset="-128"/>
              <a:ea typeface="メイリオ" panose="020B0604030504040204" pitchFamily="50" charset="-128"/>
            </a:endParaRPr>
          </a:p>
        </p:txBody>
      </p:sp>
      <p:sp>
        <p:nvSpPr>
          <p:cNvPr id="36" name="Text 11">
            <a:extLst>
              <a:ext uri="{FF2B5EF4-FFF2-40B4-BE49-F238E27FC236}">
                <a16:creationId xmlns:a16="http://schemas.microsoft.com/office/drawing/2014/main" id="{974E4765-6EBA-5838-ABF7-F21BBF0480C5}"/>
              </a:ext>
            </a:extLst>
          </p:cNvPr>
          <p:cNvSpPr/>
          <p:nvPr/>
        </p:nvSpPr>
        <p:spPr>
          <a:xfrm>
            <a:off x="4872480" y="241529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Calibri" pitchFamily="34" charset="-120"/>
              </a:rPr>
              <a:t>友だち追加直後〜成約誘導まで</a:t>
            </a:r>
            <a:endParaRPr lang="en-US" sz="1000" dirty="0">
              <a:latin typeface="メイリオ" panose="020B0604030504040204" pitchFamily="50" charset="-128"/>
              <a:ea typeface="メイリオ" panose="020B0604030504040204" pitchFamily="50" charset="-128"/>
            </a:endParaRPr>
          </a:p>
        </p:txBody>
      </p:sp>
      <p:sp>
        <p:nvSpPr>
          <p:cNvPr id="37" name="Shape 12">
            <a:extLst>
              <a:ext uri="{FF2B5EF4-FFF2-40B4-BE49-F238E27FC236}">
                <a16:creationId xmlns:a16="http://schemas.microsoft.com/office/drawing/2014/main" id="{D811E673-9797-08AA-F052-158BFDE9379B}"/>
              </a:ext>
            </a:extLst>
          </p:cNvPr>
          <p:cNvSpPr/>
          <p:nvPr/>
        </p:nvSpPr>
        <p:spPr>
          <a:xfrm>
            <a:off x="3996942" y="2835914"/>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8" name="Shape 13">
            <a:extLst>
              <a:ext uri="{FF2B5EF4-FFF2-40B4-BE49-F238E27FC236}">
                <a16:creationId xmlns:a16="http://schemas.microsoft.com/office/drawing/2014/main" id="{11CD1AF8-999B-AEAA-EA44-B774D877F777}"/>
              </a:ext>
            </a:extLst>
          </p:cNvPr>
          <p:cNvSpPr/>
          <p:nvPr/>
        </p:nvSpPr>
        <p:spPr>
          <a:xfrm>
            <a:off x="4232400" y="292735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39" name="Text 14">
            <a:extLst>
              <a:ext uri="{FF2B5EF4-FFF2-40B4-BE49-F238E27FC236}">
                <a16:creationId xmlns:a16="http://schemas.microsoft.com/office/drawing/2014/main" id="{39EC602B-88CD-63D2-D10B-5FB47EBB73C5}"/>
              </a:ext>
            </a:extLst>
          </p:cNvPr>
          <p:cNvSpPr/>
          <p:nvPr/>
        </p:nvSpPr>
        <p:spPr>
          <a:xfrm>
            <a:off x="4232400" y="292735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03</a:t>
            </a:r>
            <a:endParaRPr lang="en-US" sz="1300" dirty="0">
              <a:latin typeface="メイリオ" panose="020B0604030504040204" pitchFamily="50" charset="-128"/>
              <a:ea typeface="メイリオ" panose="020B0604030504040204" pitchFamily="50" charset="-128"/>
            </a:endParaRPr>
          </a:p>
        </p:txBody>
      </p:sp>
      <p:sp>
        <p:nvSpPr>
          <p:cNvPr id="40" name="Text 15">
            <a:extLst>
              <a:ext uri="{FF2B5EF4-FFF2-40B4-BE49-F238E27FC236}">
                <a16:creationId xmlns:a16="http://schemas.microsoft.com/office/drawing/2014/main" id="{0AEE18E8-A2E5-2400-F73C-D5891E9A42FC}"/>
              </a:ext>
            </a:extLst>
          </p:cNvPr>
          <p:cNvSpPr/>
          <p:nvPr/>
        </p:nvSpPr>
        <p:spPr>
          <a:xfrm>
            <a:off x="4872480" y="2890778"/>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アンケート設計（直接関与</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 / </a:t>
            </a:r>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診断型</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altLang="ja-JP" sz="1300" dirty="0">
              <a:latin typeface="メイリオ" panose="020B0604030504040204" pitchFamily="50" charset="-128"/>
              <a:ea typeface="メイリオ" panose="020B0604030504040204" pitchFamily="50" charset="-128"/>
            </a:endParaRPr>
          </a:p>
        </p:txBody>
      </p:sp>
      <p:sp>
        <p:nvSpPr>
          <p:cNvPr id="42" name="Text 16">
            <a:extLst>
              <a:ext uri="{FF2B5EF4-FFF2-40B4-BE49-F238E27FC236}">
                <a16:creationId xmlns:a16="http://schemas.microsoft.com/office/drawing/2014/main" id="{B4775A80-7B08-FF59-7696-55B7BFFE29C0}"/>
              </a:ext>
            </a:extLst>
          </p:cNvPr>
          <p:cNvSpPr/>
          <p:nvPr/>
        </p:nvSpPr>
        <p:spPr>
          <a:xfrm>
            <a:off x="4872480" y="3183386"/>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リード有効化＋長期追客セグメント戦略</a:t>
            </a:r>
            <a:endParaRPr lang="en-US" altLang="ja-JP" sz="1000" dirty="0">
              <a:latin typeface="メイリオ" panose="020B0604030504040204" pitchFamily="50" charset="-128"/>
              <a:ea typeface="メイリオ" panose="020B0604030504040204" pitchFamily="50" charset="-128"/>
            </a:endParaRPr>
          </a:p>
        </p:txBody>
      </p:sp>
      <p:sp>
        <p:nvSpPr>
          <p:cNvPr id="43" name="Shape 17">
            <a:extLst>
              <a:ext uri="{FF2B5EF4-FFF2-40B4-BE49-F238E27FC236}">
                <a16:creationId xmlns:a16="http://schemas.microsoft.com/office/drawing/2014/main" id="{3D356BBE-5EFA-8143-1308-9A8F66D3D8F4}"/>
              </a:ext>
            </a:extLst>
          </p:cNvPr>
          <p:cNvSpPr/>
          <p:nvPr/>
        </p:nvSpPr>
        <p:spPr>
          <a:xfrm>
            <a:off x="3996942" y="3604010"/>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44" name="Shape 18">
            <a:extLst>
              <a:ext uri="{FF2B5EF4-FFF2-40B4-BE49-F238E27FC236}">
                <a16:creationId xmlns:a16="http://schemas.microsoft.com/office/drawing/2014/main" id="{347BFA19-EB93-7D44-5D29-87E8A0640967}"/>
              </a:ext>
            </a:extLst>
          </p:cNvPr>
          <p:cNvSpPr/>
          <p:nvPr/>
        </p:nvSpPr>
        <p:spPr>
          <a:xfrm>
            <a:off x="4232400" y="369545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Text 19">
            <a:extLst>
              <a:ext uri="{FF2B5EF4-FFF2-40B4-BE49-F238E27FC236}">
                <a16:creationId xmlns:a16="http://schemas.microsoft.com/office/drawing/2014/main" id="{808039CB-8A35-B1E6-353C-C961982DAEEE}"/>
              </a:ext>
            </a:extLst>
          </p:cNvPr>
          <p:cNvSpPr/>
          <p:nvPr/>
        </p:nvSpPr>
        <p:spPr>
          <a:xfrm>
            <a:off x="4232400" y="369545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04</a:t>
            </a:r>
            <a:endParaRPr lang="en-US" sz="1300" dirty="0">
              <a:latin typeface="メイリオ" panose="020B0604030504040204" pitchFamily="50" charset="-128"/>
              <a:ea typeface="メイリオ" panose="020B0604030504040204" pitchFamily="50" charset="-128"/>
            </a:endParaRPr>
          </a:p>
        </p:txBody>
      </p:sp>
      <p:sp>
        <p:nvSpPr>
          <p:cNvPr id="46" name="Text 20">
            <a:extLst>
              <a:ext uri="{FF2B5EF4-FFF2-40B4-BE49-F238E27FC236}">
                <a16:creationId xmlns:a16="http://schemas.microsoft.com/office/drawing/2014/main" id="{5510FCD4-7246-36B3-3CB6-AE9EB64B95B8}"/>
              </a:ext>
            </a:extLst>
          </p:cNvPr>
          <p:cNvSpPr/>
          <p:nvPr/>
        </p:nvSpPr>
        <p:spPr>
          <a:xfrm>
            <a:off x="4872480" y="365887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セグメント設定</a:t>
            </a:r>
            <a:endParaRPr lang="en-US" sz="1300" dirty="0">
              <a:latin typeface="メイリオ" panose="020B0604030504040204" pitchFamily="50" charset="-128"/>
              <a:ea typeface="メイリオ" panose="020B0604030504040204" pitchFamily="50" charset="-128"/>
            </a:endParaRPr>
          </a:p>
        </p:txBody>
      </p:sp>
      <p:sp>
        <p:nvSpPr>
          <p:cNvPr id="47" name="Text 21">
            <a:extLst>
              <a:ext uri="{FF2B5EF4-FFF2-40B4-BE49-F238E27FC236}">
                <a16:creationId xmlns:a16="http://schemas.microsoft.com/office/drawing/2014/main" id="{30188B70-2DE7-6DC7-0865-6F6103AD5132}"/>
              </a:ext>
            </a:extLst>
          </p:cNvPr>
          <p:cNvSpPr/>
          <p:nvPr/>
        </p:nvSpPr>
        <p:spPr>
          <a:xfrm>
            <a:off x="4872480" y="395148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1000" dirty="0">
              <a:latin typeface="メイリオ" panose="020B0604030504040204" pitchFamily="50" charset="-128"/>
              <a:ea typeface="メイリオ" panose="020B0604030504040204" pitchFamily="50" charset="-128"/>
            </a:endParaRPr>
          </a:p>
        </p:txBody>
      </p:sp>
      <p:sp>
        <p:nvSpPr>
          <p:cNvPr id="49" name="Text 16">
            <a:extLst>
              <a:ext uri="{FF2B5EF4-FFF2-40B4-BE49-F238E27FC236}">
                <a16:creationId xmlns:a16="http://schemas.microsoft.com/office/drawing/2014/main" id="{5224712D-B17D-A02C-3D89-CC6242B38B83}"/>
              </a:ext>
            </a:extLst>
          </p:cNvPr>
          <p:cNvSpPr/>
          <p:nvPr/>
        </p:nvSpPr>
        <p:spPr>
          <a:xfrm>
            <a:off x="4872480" y="396519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a:latin typeface="メイリオ" panose="020B0604030504040204" pitchFamily="50" charset="-128"/>
                <a:ea typeface="メイリオ" panose="020B0604030504040204" pitchFamily="50" charset="-128"/>
              </a:rPr>
              <a:t>WEB</a:t>
            </a:r>
            <a:r>
              <a:rPr lang="ja-JP" altLang="en-US" sz="1000" dirty="0">
                <a:latin typeface="メイリオ" panose="020B0604030504040204" pitchFamily="50" charset="-128"/>
                <a:ea typeface="メイリオ" panose="020B0604030504040204" pitchFamily="50" charset="-128"/>
              </a:rPr>
              <a:t>サイトアクション、</a:t>
            </a:r>
            <a:r>
              <a:rPr lang="en-US" altLang="ja-JP" sz="1000" dirty="0">
                <a:latin typeface="メイリオ" panose="020B0604030504040204" pitchFamily="50" charset="-128"/>
                <a:ea typeface="メイリオ" panose="020B0604030504040204" pitchFamily="50" charset="-128"/>
              </a:rPr>
              <a:t>LINE</a:t>
            </a:r>
            <a:r>
              <a:rPr lang="ja-JP" altLang="en-US" sz="1000" dirty="0">
                <a:latin typeface="メイリオ" panose="020B0604030504040204" pitchFamily="50" charset="-128"/>
                <a:ea typeface="メイリオ" panose="020B0604030504040204" pitchFamily="50" charset="-128"/>
              </a:rPr>
              <a:t>上アクションのスコアリング 等を活用</a:t>
            </a:r>
            <a:endParaRPr lang="en-US" altLang="ja-JP" sz="1000" dirty="0">
              <a:latin typeface="メイリオ" panose="020B0604030504040204" pitchFamily="50" charset="-128"/>
              <a:ea typeface="メイリオ" panose="020B0604030504040204" pitchFamily="50" charset="-128"/>
            </a:endParaRPr>
          </a:p>
        </p:txBody>
      </p:sp>
      <p:sp>
        <p:nvSpPr>
          <p:cNvPr id="52" name="Shape 12">
            <a:extLst>
              <a:ext uri="{FF2B5EF4-FFF2-40B4-BE49-F238E27FC236}">
                <a16:creationId xmlns:a16="http://schemas.microsoft.com/office/drawing/2014/main" id="{FEE65136-327D-500B-12B2-F775BA661CA0}"/>
              </a:ext>
            </a:extLst>
          </p:cNvPr>
          <p:cNvSpPr/>
          <p:nvPr/>
        </p:nvSpPr>
        <p:spPr>
          <a:xfrm>
            <a:off x="3996942" y="4335530"/>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53" name="Shape 13">
            <a:extLst>
              <a:ext uri="{FF2B5EF4-FFF2-40B4-BE49-F238E27FC236}">
                <a16:creationId xmlns:a16="http://schemas.microsoft.com/office/drawing/2014/main" id="{4E57D180-2654-0AC3-340A-A6D2C576BF28}"/>
              </a:ext>
            </a:extLst>
          </p:cNvPr>
          <p:cNvSpPr/>
          <p:nvPr/>
        </p:nvSpPr>
        <p:spPr>
          <a:xfrm>
            <a:off x="4232400" y="442697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55" name="Text 14">
            <a:extLst>
              <a:ext uri="{FF2B5EF4-FFF2-40B4-BE49-F238E27FC236}">
                <a16:creationId xmlns:a16="http://schemas.microsoft.com/office/drawing/2014/main" id="{246080CC-996D-7BA0-3140-EC427EE9AC6A}"/>
              </a:ext>
            </a:extLst>
          </p:cNvPr>
          <p:cNvSpPr/>
          <p:nvPr/>
        </p:nvSpPr>
        <p:spPr>
          <a:xfrm>
            <a:off x="4232400" y="442697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05</a:t>
            </a:r>
            <a:endParaRPr lang="en-US" sz="1300" dirty="0">
              <a:latin typeface="メイリオ" panose="020B0604030504040204" pitchFamily="50" charset="-128"/>
              <a:ea typeface="メイリオ" panose="020B0604030504040204" pitchFamily="50" charset="-128"/>
            </a:endParaRPr>
          </a:p>
        </p:txBody>
      </p:sp>
      <p:sp>
        <p:nvSpPr>
          <p:cNvPr id="56" name="Text 15">
            <a:extLst>
              <a:ext uri="{FF2B5EF4-FFF2-40B4-BE49-F238E27FC236}">
                <a16:creationId xmlns:a16="http://schemas.microsoft.com/office/drawing/2014/main" id="{613A87C0-F021-8C8E-C0C8-7A94F347FD40}"/>
              </a:ext>
            </a:extLst>
          </p:cNvPr>
          <p:cNvSpPr/>
          <p:nvPr/>
        </p:nvSpPr>
        <p:spPr>
          <a:xfrm>
            <a:off x="4872480" y="439039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アンケート設計（直接関与</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 / </a:t>
            </a:r>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診断型</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altLang="ja-JP" sz="1300" dirty="0">
              <a:latin typeface="メイリオ" panose="020B0604030504040204" pitchFamily="50" charset="-128"/>
              <a:ea typeface="メイリオ" panose="020B0604030504040204" pitchFamily="50" charset="-128"/>
            </a:endParaRPr>
          </a:p>
        </p:txBody>
      </p:sp>
      <p:sp>
        <p:nvSpPr>
          <p:cNvPr id="58" name="Text 16">
            <a:extLst>
              <a:ext uri="{FF2B5EF4-FFF2-40B4-BE49-F238E27FC236}">
                <a16:creationId xmlns:a16="http://schemas.microsoft.com/office/drawing/2014/main" id="{9DA36E29-5E4C-827F-3F47-7F5A66283E74}"/>
              </a:ext>
            </a:extLst>
          </p:cNvPr>
          <p:cNvSpPr/>
          <p:nvPr/>
        </p:nvSpPr>
        <p:spPr>
          <a:xfrm>
            <a:off x="4872480" y="468300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リード有効化＋長期追客セグメント戦略</a:t>
            </a:r>
            <a:endParaRPr lang="en-US" altLang="ja-JP" sz="1000" dirty="0">
              <a:latin typeface="メイリオ" panose="020B0604030504040204" pitchFamily="50" charset="-128"/>
              <a:ea typeface="メイリオ" panose="020B0604030504040204" pitchFamily="50" charset="-128"/>
            </a:endParaRPr>
          </a:p>
        </p:txBody>
      </p:sp>
      <p:sp>
        <p:nvSpPr>
          <p:cNvPr id="59" name="Shape 12">
            <a:extLst>
              <a:ext uri="{FF2B5EF4-FFF2-40B4-BE49-F238E27FC236}">
                <a16:creationId xmlns:a16="http://schemas.microsoft.com/office/drawing/2014/main" id="{161B3C95-AA02-BAC5-D24B-86C62582A0EE}"/>
              </a:ext>
            </a:extLst>
          </p:cNvPr>
          <p:cNvSpPr/>
          <p:nvPr/>
        </p:nvSpPr>
        <p:spPr>
          <a:xfrm>
            <a:off x="3996942" y="5085338"/>
            <a:ext cx="5180076" cy="658368"/>
          </a:xfrm>
          <a:prstGeom prst="roundRect">
            <a:avLst>
              <a:gd name="adj" fmla="val 11111"/>
            </a:avLst>
          </a:prstGeom>
          <a:solidFill>
            <a:schemeClr val="bg1"/>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60" name="Shape 13">
            <a:extLst>
              <a:ext uri="{FF2B5EF4-FFF2-40B4-BE49-F238E27FC236}">
                <a16:creationId xmlns:a16="http://schemas.microsoft.com/office/drawing/2014/main" id="{69FCAD8A-755C-CC30-3ED3-D5F11C11A363}"/>
              </a:ext>
            </a:extLst>
          </p:cNvPr>
          <p:cNvSpPr/>
          <p:nvPr/>
        </p:nvSpPr>
        <p:spPr>
          <a:xfrm>
            <a:off x="4232400" y="517677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4" name="Text 14">
            <a:extLst>
              <a:ext uri="{FF2B5EF4-FFF2-40B4-BE49-F238E27FC236}">
                <a16:creationId xmlns:a16="http://schemas.microsoft.com/office/drawing/2014/main" id="{6301A83B-57F7-303A-D503-58842AD3A2C9}"/>
              </a:ext>
            </a:extLst>
          </p:cNvPr>
          <p:cNvSpPr/>
          <p:nvPr/>
        </p:nvSpPr>
        <p:spPr>
          <a:xfrm>
            <a:off x="4232400" y="517677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06</a:t>
            </a:r>
            <a:endParaRPr lang="en-US" sz="1300" dirty="0">
              <a:latin typeface="メイリオ" panose="020B0604030504040204" pitchFamily="50" charset="-128"/>
              <a:ea typeface="メイリオ" panose="020B0604030504040204" pitchFamily="50" charset="-128"/>
            </a:endParaRPr>
          </a:p>
        </p:txBody>
      </p:sp>
      <p:sp>
        <p:nvSpPr>
          <p:cNvPr id="70" name="Text 15">
            <a:extLst>
              <a:ext uri="{FF2B5EF4-FFF2-40B4-BE49-F238E27FC236}">
                <a16:creationId xmlns:a16="http://schemas.microsoft.com/office/drawing/2014/main" id="{26FF7A4F-5A58-E1CE-107D-E1780C611FE8}"/>
              </a:ext>
            </a:extLst>
          </p:cNvPr>
          <p:cNvSpPr/>
          <p:nvPr/>
        </p:nvSpPr>
        <p:spPr>
          <a:xfrm>
            <a:off x="4872480" y="514020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季節・時期ごとの企画配信</a:t>
            </a:r>
            <a:endParaRPr lang="en-US" altLang="ja-JP" sz="1300" dirty="0">
              <a:latin typeface="メイリオ" panose="020B0604030504040204" pitchFamily="50" charset="-128"/>
              <a:ea typeface="メイリオ" panose="020B0604030504040204" pitchFamily="50" charset="-128"/>
            </a:endParaRPr>
          </a:p>
        </p:txBody>
      </p:sp>
      <p:sp>
        <p:nvSpPr>
          <p:cNvPr id="71" name="Text 16">
            <a:extLst>
              <a:ext uri="{FF2B5EF4-FFF2-40B4-BE49-F238E27FC236}">
                <a16:creationId xmlns:a16="http://schemas.microsoft.com/office/drawing/2014/main" id="{71DABE45-88FB-C5ED-EF05-90FD4F3C4A0B}"/>
              </a:ext>
            </a:extLst>
          </p:cNvPr>
          <p:cNvSpPr/>
          <p:nvPr/>
        </p:nvSpPr>
        <p:spPr>
          <a:xfrm>
            <a:off x="4872480" y="543281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繁忙期に連動</a:t>
            </a:r>
            <a:r>
              <a:rPr lang="ja-JP" altLang="en-US" sz="1000" dirty="0">
                <a:solidFill>
                  <a:srgbClr val="64748B"/>
                </a:solidFill>
                <a:latin typeface="メイリオ" panose="020B0604030504040204" pitchFamily="50" charset="-128"/>
                <a:ea typeface="メイリオ" panose="020B0604030504040204" pitchFamily="50" charset="-128"/>
                <a:cs typeface="Calibri" pitchFamily="34" charset="-120"/>
              </a:rPr>
              <a:t>・各ユーザー層をターゲットと</a:t>
            </a:r>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したキャンペーン案</a:t>
            </a:r>
            <a:endParaRPr lang="en-US" altLang="ja-JP" sz="1000" dirty="0">
              <a:latin typeface="メイリオ" panose="020B0604030504040204" pitchFamily="50" charset="-128"/>
              <a:ea typeface="メイリオ" panose="020B0604030504040204" pitchFamily="50" charset="-128"/>
            </a:endParaRPr>
          </a:p>
        </p:txBody>
      </p:sp>
      <p:sp>
        <p:nvSpPr>
          <p:cNvPr id="74" name="Shape 12">
            <a:extLst>
              <a:ext uri="{FF2B5EF4-FFF2-40B4-BE49-F238E27FC236}">
                <a16:creationId xmlns:a16="http://schemas.microsoft.com/office/drawing/2014/main" id="{B291868D-9C9C-066C-CFF8-87B199CEA5CF}"/>
              </a:ext>
            </a:extLst>
          </p:cNvPr>
          <p:cNvSpPr/>
          <p:nvPr/>
        </p:nvSpPr>
        <p:spPr>
          <a:xfrm>
            <a:off x="3996942" y="5838536"/>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75" name="Shape 13">
            <a:extLst>
              <a:ext uri="{FF2B5EF4-FFF2-40B4-BE49-F238E27FC236}">
                <a16:creationId xmlns:a16="http://schemas.microsoft.com/office/drawing/2014/main" id="{50DF7319-3B00-9111-2E31-8AC337BA4D33}"/>
              </a:ext>
            </a:extLst>
          </p:cNvPr>
          <p:cNvSpPr/>
          <p:nvPr/>
        </p:nvSpPr>
        <p:spPr>
          <a:xfrm>
            <a:off x="4232400" y="5929976"/>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76" name="Text 14">
            <a:extLst>
              <a:ext uri="{FF2B5EF4-FFF2-40B4-BE49-F238E27FC236}">
                <a16:creationId xmlns:a16="http://schemas.microsoft.com/office/drawing/2014/main" id="{0C235F7A-0F23-E972-590D-0F6705D7497F}"/>
              </a:ext>
            </a:extLst>
          </p:cNvPr>
          <p:cNvSpPr/>
          <p:nvPr/>
        </p:nvSpPr>
        <p:spPr>
          <a:xfrm>
            <a:off x="4232400" y="5929976"/>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07</a:t>
            </a:r>
            <a:endParaRPr lang="en-US" sz="1300" dirty="0">
              <a:latin typeface="メイリオ" panose="020B0604030504040204" pitchFamily="50" charset="-128"/>
              <a:ea typeface="メイリオ" panose="020B0604030504040204" pitchFamily="50" charset="-128"/>
            </a:endParaRPr>
          </a:p>
        </p:txBody>
      </p:sp>
      <p:sp>
        <p:nvSpPr>
          <p:cNvPr id="77" name="Text 15">
            <a:extLst>
              <a:ext uri="{FF2B5EF4-FFF2-40B4-BE49-F238E27FC236}">
                <a16:creationId xmlns:a16="http://schemas.microsoft.com/office/drawing/2014/main" id="{A8806AA1-15C3-799B-4DF6-265E528EF9FE}"/>
              </a:ext>
            </a:extLst>
          </p:cNvPr>
          <p:cNvSpPr/>
          <p:nvPr/>
        </p:nvSpPr>
        <p:spPr>
          <a:xfrm>
            <a:off x="4872480" y="5893400"/>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各種設定の更新・改善</a:t>
            </a:r>
            <a:endParaRPr lang="en-US" altLang="ja-JP" sz="1300" dirty="0">
              <a:latin typeface="メイリオ" panose="020B0604030504040204" pitchFamily="50" charset="-128"/>
              <a:ea typeface="メイリオ" panose="020B0604030504040204" pitchFamily="50" charset="-128"/>
            </a:endParaRPr>
          </a:p>
        </p:txBody>
      </p:sp>
      <p:sp>
        <p:nvSpPr>
          <p:cNvPr id="78" name="Text 16">
            <a:extLst>
              <a:ext uri="{FF2B5EF4-FFF2-40B4-BE49-F238E27FC236}">
                <a16:creationId xmlns:a16="http://schemas.microsoft.com/office/drawing/2014/main" id="{60F4341A-D01A-FB28-EE9D-FBD6E531C1A2}"/>
              </a:ext>
            </a:extLst>
          </p:cNvPr>
          <p:cNvSpPr/>
          <p:nvPr/>
        </p:nvSpPr>
        <p:spPr>
          <a:xfrm>
            <a:off x="4872480" y="618600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000" dirty="0">
                <a:latin typeface="メイリオ" panose="020B0604030504040204" pitchFamily="50" charset="-128"/>
                <a:ea typeface="メイリオ" panose="020B0604030504040204" pitchFamily="50" charset="-128"/>
              </a:rPr>
              <a:t>あいさつメッセージ、リッチメニュー、</a:t>
            </a:r>
            <a:r>
              <a:rPr lang="en-US" altLang="ja-JP" sz="1000" dirty="0">
                <a:latin typeface="メイリオ" panose="020B0604030504040204" pitchFamily="50" charset="-128"/>
                <a:ea typeface="メイリオ" panose="020B0604030504040204" pitchFamily="50" charset="-128"/>
              </a:rPr>
              <a:t>LP</a:t>
            </a:r>
            <a:r>
              <a:rPr lang="ja-JP" altLang="en-US" sz="1000" dirty="0">
                <a:latin typeface="メイリオ" panose="020B0604030504040204" pitchFamily="50" charset="-128"/>
                <a:ea typeface="メイリオ" panose="020B0604030504040204" pitchFamily="50" charset="-128"/>
              </a:rPr>
              <a:t>の改修（</a:t>
            </a:r>
            <a:r>
              <a:rPr lang="en-US" altLang="ja-JP" sz="1000" dirty="0">
                <a:latin typeface="メイリオ" panose="020B0604030504040204" pitchFamily="50" charset="-128"/>
                <a:ea typeface="メイリオ" panose="020B0604030504040204" pitchFamily="50" charset="-128"/>
              </a:rPr>
              <a:t>※LP</a:t>
            </a:r>
            <a:r>
              <a:rPr lang="ja-JP" altLang="en-US" sz="1000" dirty="0">
                <a:latin typeface="メイリオ" panose="020B0604030504040204" pitchFamily="50" charset="-128"/>
                <a:ea typeface="メイリオ" panose="020B0604030504040204" pitchFamily="50" charset="-128"/>
              </a:rPr>
              <a:t>は別途費用）</a:t>
            </a:r>
            <a:endParaRPr lang="en-US" altLang="ja-JP" sz="1000" dirty="0">
              <a:latin typeface="メイリオ" panose="020B0604030504040204" pitchFamily="50" charset="-128"/>
              <a:ea typeface="メイリオ" panose="020B0604030504040204" pitchFamily="50" charset="-128"/>
            </a:endParaRPr>
          </a:p>
        </p:txBody>
      </p:sp>
      <p:sp>
        <p:nvSpPr>
          <p:cNvPr id="79" name="テキスト ボックス 78">
            <a:extLst>
              <a:ext uri="{FF2B5EF4-FFF2-40B4-BE49-F238E27FC236}">
                <a16:creationId xmlns:a16="http://schemas.microsoft.com/office/drawing/2014/main" id="{4C2DE5F8-8AC0-6067-4D4C-B9D9A832AFB8}"/>
              </a:ext>
            </a:extLst>
          </p:cNvPr>
          <p:cNvSpPr txBox="1"/>
          <p:nvPr/>
        </p:nvSpPr>
        <p:spPr>
          <a:xfrm>
            <a:off x="320847" y="1664842"/>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rPr>
              <a:t>&lt;</a:t>
            </a:r>
            <a:r>
              <a:rPr kumimoji="1" lang="ja-JP" altLang="en-US" b="1" dirty="0">
                <a:solidFill>
                  <a:schemeClr val="bg1"/>
                </a:solidFill>
                <a:latin typeface="メイリオ" panose="020B0604030504040204" pitchFamily="50" charset="-128"/>
                <a:ea typeface="メイリオ" panose="020B0604030504040204" pitchFamily="50" charset="-128"/>
              </a:rPr>
              <a:t>初期費用</a:t>
            </a:r>
            <a:r>
              <a:rPr kumimoji="1" lang="en-US" altLang="ja-JP" b="1" dirty="0">
                <a:solidFill>
                  <a:schemeClr val="bg1"/>
                </a:solidFill>
                <a:latin typeface="メイリオ" panose="020B0604030504040204" pitchFamily="50" charset="-128"/>
                <a:ea typeface="メイリオ" panose="020B0604030504040204" pitchFamily="50" charset="-128"/>
              </a:rPr>
              <a:t>&gt;</a:t>
            </a:r>
            <a:endParaRPr kumimoji="1" lang="ja-JP" altLang="en-US" b="1" dirty="0">
              <a:solidFill>
                <a:schemeClr val="bg1"/>
              </a:solidFill>
              <a:latin typeface="メイリオ" panose="020B0604030504040204" pitchFamily="50" charset="-128"/>
              <a:ea typeface="メイリオ" panose="020B0604030504040204" pitchFamily="50" charset="-128"/>
            </a:endParaRPr>
          </a:p>
        </p:txBody>
      </p:sp>
      <p:sp>
        <p:nvSpPr>
          <p:cNvPr id="80" name="テキスト ボックス 79">
            <a:extLst>
              <a:ext uri="{FF2B5EF4-FFF2-40B4-BE49-F238E27FC236}">
                <a16:creationId xmlns:a16="http://schemas.microsoft.com/office/drawing/2014/main" id="{E134C725-7D1E-AE55-EE5C-49EE0EE87D93}"/>
              </a:ext>
            </a:extLst>
          </p:cNvPr>
          <p:cNvSpPr txBox="1"/>
          <p:nvPr/>
        </p:nvSpPr>
        <p:spPr>
          <a:xfrm>
            <a:off x="320847" y="2645729"/>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rPr>
              <a:t>&lt;</a:t>
            </a:r>
            <a:r>
              <a:rPr kumimoji="1" lang="ja-JP" altLang="en-US" b="1" dirty="0">
                <a:solidFill>
                  <a:schemeClr val="bg1"/>
                </a:solidFill>
                <a:latin typeface="メイリオ" panose="020B0604030504040204" pitchFamily="50" charset="-128"/>
                <a:ea typeface="メイリオ" panose="020B0604030504040204" pitchFamily="50" charset="-128"/>
              </a:rPr>
              <a:t>月額費用</a:t>
            </a:r>
            <a:r>
              <a:rPr kumimoji="1" lang="en-US" altLang="ja-JP" b="1" dirty="0">
                <a:solidFill>
                  <a:schemeClr val="bg1"/>
                </a:solidFill>
                <a:latin typeface="メイリオ" panose="020B0604030504040204" pitchFamily="50" charset="-128"/>
                <a:ea typeface="メイリオ" panose="020B0604030504040204" pitchFamily="50" charset="-128"/>
              </a:rPr>
              <a:t>&gt;</a:t>
            </a:r>
            <a:endParaRPr kumimoji="1" lang="ja-JP" altLang="en-US" b="1" dirty="0">
              <a:solidFill>
                <a:schemeClr val="bg1"/>
              </a:solidFill>
              <a:latin typeface="メイリオ" panose="020B0604030504040204" pitchFamily="50" charset="-128"/>
              <a:ea typeface="メイリオ" panose="020B0604030504040204" pitchFamily="50" charset="-128"/>
            </a:endParaRPr>
          </a:p>
        </p:txBody>
      </p:sp>
      <p:cxnSp>
        <p:nvCxnSpPr>
          <p:cNvPr id="82" name="直線コネクタ 81">
            <a:extLst>
              <a:ext uri="{FF2B5EF4-FFF2-40B4-BE49-F238E27FC236}">
                <a16:creationId xmlns:a16="http://schemas.microsoft.com/office/drawing/2014/main" id="{831B96C5-FD9C-7953-5A0F-36510DDC3A7B}"/>
              </a:ext>
            </a:extLst>
          </p:cNvPr>
          <p:cNvCxnSpPr>
            <a:cxnSpLocks/>
            <a:stCxn id="79" idx="3"/>
            <a:endCxn id="3" idx="1"/>
          </p:cNvCxnSpPr>
          <p:nvPr/>
        </p:nvCxnSpPr>
        <p:spPr>
          <a:xfrm flipV="1">
            <a:off x="3121307" y="1628906"/>
            <a:ext cx="875635" cy="431784"/>
          </a:xfrm>
          <a:prstGeom prst="line">
            <a:avLst/>
          </a:prstGeom>
        </p:spPr>
        <p:style>
          <a:lnRef idx="1">
            <a:schemeClr val="accent1"/>
          </a:lnRef>
          <a:fillRef idx="0">
            <a:schemeClr val="accent1"/>
          </a:fillRef>
          <a:effectRef idx="0">
            <a:schemeClr val="accent1"/>
          </a:effectRef>
          <a:fontRef idx="minor">
            <a:schemeClr val="tx1"/>
          </a:fontRef>
        </p:style>
      </p:cxnSp>
      <p:cxnSp>
        <p:nvCxnSpPr>
          <p:cNvPr id="83" name="直線コネクタ 82">
            <a:extLst>
              <a:ext uri="{FF2B5EF4-FFF2-40B4-BE49-F238E27FC236}">
                <a16:creationId xmlns:a16="http://schemas.microsoft.com/office/drawing/2014/main" id="{6098E9A1-7354-0021-8518-053452298071}"/>
              </a:ext>
            </a:extLst>
          </p:cNvPr>
          <p:cNvCxnSpPr>
            <a:cxnSpLocks/>
            <a:stCxn id="79" idx="3"/>
            <a:endCxn id="32" idx="1"/>
          </p:cNvCxnSpPr>
          <p:nvPr/>
        </p:nvCxnSpPr>
        <p:spPr>
          <a:xfrm>
            <a:off x="3121307" y="2060690"/>
            <a:ext cx="875635" cy="336312"/>
          </a:xfrm>
          <a:prstGeom prst="line">
            <a:avLst/>
          </a:prstGeom>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4BFC78F3-17B4-F007-0507-0BCEB9DFB526}"/>
              </a:ext>
            </a:extLst>
          </p:cNvPr>
          <p:cNvCxnSpPr>
            <a:cxnSpLocks/>
            <a:stCxn id="79" idx="3"/>
            <a:endCxn id="37" idx="1"/>
          </p:cNvCxnSpPr>
          <p:nvPr/>
        </p:nvCxnSpPr>
        <p:spPr>
          <a:xfrm>
            <a:off x="3121307" y="2060690"/>
            <a:ext cx="875635" cy="1104408"/>
          </a:xfrm>
          <a:prstGeom prst="line">
            <a:avLst/>
          </a:prstGeom>
        </p:spPr>
        <p:style>
          <a:lnRef idx="1">
            <a:schemeClr val="accent1"/>
          </a:lnRef>
          <a:fillRef idx="0">
            <a:schemeClr val="accent1"/>
          </a:fillRef>
          <a:effectRef idx="0">
            <a:schemeClr val="accent1"/>
          </a:effectRef>
          <a:fontRef idx="minor">
            <a:schemeClr val="tx1"/>
          </a:fontRef>
        </p:style>
      </p:cxnSp>
      <p:cxnSp>
        <p:nvCxnSpPr>
          <p:cNvPr id="89" name="直線コネクタ 88">
            <a:extLst>
              <a:ext uri="{FF2B5EF4-FFF2-40B4-BE49-F238E27FC236}">
                <a16:creationId xmlns:a16="http://schemas.microsoft.com/office/drawing/2014/main" id="{E053B786-BB0C-C1E1-76B7-A9573A626CCC}"/>
              </a:ext>
            </a:extLst>
          </p:cNvPr>
          <p:cNvCxnSpPr>
            <a:cxnSpLocks/>
            <a:stCxn id="79" idx="3"/>
            <a:endCxn id="43" idx="1"/>
          </p:cNvCxnSpPr>
          <p:nvPr/>
        </p:nvCxnSpPr>
        <p:spPr>
          <a:xfrm>
            <a:off x="3121307" y="2060690"/>
            <a:ext cx="875635" cy="1872504"/>
          </a:xfrm>
          <a:prstGeom prst="line">
            <a:avLst/>
          </a:prstGeom>
        </p:spPr>
        <p:style>
          <a:lnRef idx="1">
            <a:schemeClr val="accent1"/>
          </a:lnRef>
          <a:fillRef idx="0">
            <a:schemeClr val="accent1"/>
          </a:fillRef>
          <a:effectRef idx="0">
            <a:schemeClr val="accent1"/>
          </a:effectRef>
          <a:fontRef idx="minor">
            <a:schemeClr val="tx1"/>
          </a:fontRef>
        </p:style>
      </p:cxnSp>
      <p:cxnSp>
        <p:nvCxnSpPr>
          <p:cNvPr id="93" name="直線コネクタ 92">
            <a:extLst>
              <a:ext uri="{FF2B5EF4-FFF2-40B4-BE49-F238E27FC236}">
                <a16:creationId xmlns:a16="http://schemas.microsoft.com/office/drawing/2014/main" id="{903C918B-3600-6FEA-8902-E84AA7410C48}"/>
              </a:ext>
            </a:extLst>
          </p:cNvPr>
          <p:cNvCxnSpPr>
            <a:cxnSpLocks/>
            <a:stCxn id="79" idx="3"/>
            <a:endCxn id="52" idx="1"/>
          </p:cNvCxnSpPr>
          <p:nvPr/>
        </p:nvCxnSpPr>
        <p:spPr>
          <a:xfrm>
            <a:off x="3121307" y="2060690"/>
            <a:ext cx="875635" cy="2604024"/>
          </a:xfrm>
          <a:prstGeom prst="line">
            <a:avLst/>
          </a:prstGeom>
        </p:spPr>
        <p:style>
          <a:lnRef idx="1">
            <a:schemeClr val="accent1"/>
          </a:lnRef>
          <a:fillRef idx="0">
            <a:schemeClr val="accent1"/>
          </a:fillRef>
          <a:effectRef idx="0">
            <a:schemeClr val="accent1"/>
          </a:effectRef>
          <a:fontRef idx="minor">
            <a:schemeClr val="tx1"/>
          </a:fontRef>
        </p:style>
      </p:cxnSp>
      <p:cxnSp>
        <p:nvCxnSpPr>
          <p:cNvPr id="103" name="直線コネクタ 102">
            <a:extLst>
              <a:ext uri="{FF2B5EF4-FFF2-40B4-BE49-F238E27FC236}">
                <a16:creationId xmlns:a16="http://schemas.microsoft.com/office/drawing/2014/main" id="{C69A1662-C040-7006-503F-B8153E815781}"/>
              </a:ext>
            </a:extLst>
          </p:cNvPr>
          <p:cNvCxnSpPr>
            <a:cxnSpLocks/>
            <a:stCxn id="80" idx="3"/>
            <a:endCxn id="59" idx="1"/>
          </p:cNvCxnSpPr>
          <p:nvPr/>
        </p:nvCxnSpPr>
        <p:spPr>
          <a:xfrm>
            <a:off x="3121307" y="3041577"/>
            <a:ext cx="875635" cy="237294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6" name="直線コネクタ 105">
            <a:extLst>
              <a:ext uri="{FF2B5EF4-FFF2-40B4-BE49-F238E27FC236}">
                <a16:creationId xmlns:a16="http://schemas.microsoft.com/office/drawing/2014/main" id="{A951076B-2FA5-076D-22CD-6FECF9562464}"/>
              </a:ext>
            </a:extLst>
          </p:cNvPr>
          <p:cNvCxnSpPr>
            <a:cxnSpLocks/>
            <a:stCxn id="80" idx="3"/>
            <a:endCxn id="74" idx="1"/>
          </p:cNvCxnSpPr>
          <p:nvPr/>
        </p:nvCxnSpPr>
        <p:spPr>
          <a:xfrm>
            <a:off x="3121307" y="3041577"/>
            <a:ext cx="875635" cy="31261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1" name="テキスト ボックス 110">
            <a:extLst>
              <a:ext uri="{FF2B5EF4-FFF2-40B4-BE49-F238E27FC236}">
                <a16:creationId xmlns:a16="http://schemas.microsoft.com/office/drawing/2014/main" id="{082BA8EB-3EC9-6EAE-B9FB-1019DA2907F6}"/>
              </a:ext>
            </a:extLst>
          </p:cNvPr>
          <p:cNvSpPr txBox="1"/>
          <p:nvPr/>
        </p:nvSpPr>
        <p:spPr>
          <a:xfrm>
            <a:off x="7438779" y="5177010"/>
            <a:ext cx="1581647" cy="246221"/>
          </a:xfrm>
          <a:prstGeom prst="rect">
            <a:avLst/>
          </a:prstGeom>
          <a:noFill/>
        </p:spPr>
        <p:txBody>
          <a:bodyPr wrap="square">
            <a:spAutoFit/>
          </a:bodyPr>
          <a:lstStyle/>
          <a:p>
            <a:pPr algn="ctr"/>
            <a:r>
              <a:rPr kumimoji="1" lang="en-US" altLang="ja-JP" sz="1000" dirty="0">
                <a:solidFill>
                  <a:srgbClr val="FF0000"/>
                </a:solidFill>
                <a:latin typeface="メイリオ" panose="020B0604030504040204" pitchFamily="50" charset="-128"/>
                <a:ea typeface="メイリオ" panose="020B0604030504040204" pitchFamily="50" charset="-128"/>
              </a:rPr>
              <a:t>※</a:t>
            </a:r>
            <a:r>
              <a:rPr kumimoji="1" lang="ja-JP" altLang="en-US" sz="1000" dirty="0">
                <a:solidFill>
                  <a:srgbClr val="FF0000"/>
                </a:solidFill>
                <a:latin typeface="メイリオ" panose="020B0604030504040204" pitchFamily="50" charset="-128"/>
                <a:ea typeface="メイリオ" panose="020B0604030504040204" pitchFamily="50" charset="-128"/>
              </a:rPr>
              <a:t>本数により金額変動</a:t>
            </a:r>
          </a:p>
        </p:txBody>
      </p:sp>
      <p:sp>
        <p:nvSpPr>
          <p:cNvPr id="20" name="Shape 12">
            <a:extLst>
              <a:ext uri="{FF2B5EF4-FFF2-40B4-BE49-F238E27FC236}">
                <a16:creationId xmlns:a16="http://schemas.microsoft.com/office/drawing/2014/main" id="{18C0BF3B-C933-B900-F923-9B5EF5F7FBFF}"/>
              </a:ext>
            </a:extLst>
          </p:cNvPr>
          <p:cNvSpPr/>
          <p:nvPr/>
        </p:nvSpPr>
        <p:spPr>
          <a:xfrm>
            <a:off x="286011" y="4017770"/>
            <a:ext cx="3214833" cy="1106171"/>
          </a:xfrm>
          <a:prstGeom prst="roundRect">
            <a:avLst>
              <a:gd name="adj" fmla="val 11111"/>
            </a:avLst>
          </a:prstGeom>
          <a:solidFill>
            <a:srgbClr val="FFFF00">
              <a:alpha val="70000"/>
            </a:srgbClr>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3" name="Shape 3">
            <a:extLst>
              <a:ext uri="{FF2B5EF4-FFF2-40B4-BE49-F238E27FC236}">
                <a16:creationId xmlns:a16="http://schemas.microsoft.com/office/drawing/2014/main" id="{A8583825-051F-63CB-E5DA-C6D15505A435}"/>
              </a:ext>
            </a:extLst>
          </p:cNvPr>
          <p:cNvSpPr/>
          <p:nvPr/>
        </p:nvSpPr>
        <p:spPr>
          <a:xfrm>
            <a:off x="396037" y="414691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6" name="Text 4">
            <a:extLst>
              <a:ext uri="{FF2B5EF4-FFF2-40B4-BE49-F238E27FC236}">
                <a16:creationId xmlns:a16="http://schemas.microsoft.com/office/drawing/2014/main" id="{3C6030FF-300A-A8F4-53D7-7136504B9465}"/>
              </a:ext>
            </a:extLst>
          </p:cNvPr>
          <p:cNvSpPr/>
          <p:nvPr/>
        </p:nvSpPr>
        <p:spPr>
          <a:xfrm>
            <a:off x="396037" y="414691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01</a:t>
            </a:r>
            <a:endParaRPr lang="en-US" sz="1300" dirty="0">
              <a:latin typeface="メイリオ" panose="020B0604030504040204" pitchFamily="50" charset="-128"/>
              <a:ea typeface="メイリオ" panose="020B0604030504040204" pitchFamily="50" charset="-128"/>
            </a:endParaRPr>
          </a:p>
        </p:txBody>
      </p:sp>
      <p:sp>
        <p:nvSpPr>
          <p:cNvPr id="28" name="Shape 13">
            <a:extLst>
              <a:ext uri="{FF2B5EF4-FFF2-40B4-BE49-F238E27FC236}">
                <a16:creationId xmlns:a16="http://schemas.microsoft.com/office/drawing/2014/main" id="{BA6E3B17-14AB-43B1-EBF3-8D9704B6BB11}"/>
              </a:ext>
            </a:extLst>
          </p:cNvPr>
          <p:cNvSpPr/>
          <p:nvPr/>
        </p:nvSpPr>
        <p:spPr>
          <a:xfrm>
            <a:off x="1134415" y="4146914"/>
            <a:ext cx="502920" cy="475488"/>
          </a:xfrm>
          <a:prstGeom prst="roundRect">
            <a:avLst>
              <a:gd name="adj" fmla="val 11538"/>
            </a:avLst>
          </a:prstGeom>
          <a:solidFill>
            <a:srgbClr val="1E2761"/>
          </a:solidFill>
          <a:ln w="12700">
            <a:solidFill>
              <a:srgbClr val="1E2761"/>
            </a:solidFill>
            <a:prstDash val="solid"/>
          </a:ln>
        </p:spPr>
        <p:txBody>
          <a:bodyPr anchor="ctr"/>
          <a:lstStyle/>
          <a:p>
            <a:pPr algn="ctr"/>
            <a:r>
              <a:rPr lang="en-US" altLang="ja-JP" sz="1400" b="1" dirty="0">
                <a:solidFill>
                  <a:srgbClr val="CADCFC"/>
                </a:solidFill>
                <a:latin typeface="メイリオ" panose="020B0604030504040204" pitchFamily="50" charset="-128"/>
                <a:ea typeface="メイリオ" panose="020B0604030504040204" pitchFamily="50" charset="-128"/>
                <a:cs typeface="Calibri" pitchFamily="34" charset="-120"/>
              </a:rPr>
              <a:t>05</a:t>
            </a:r>
            <a:endParaRPr lang="en-US" altLang="ja-JP" sz="1400" dirty="0">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B64D3BA7-9F12-14DB-A4FB-CDB1ED52D238}"/>
              </a:ext>
            </a:extLst>
          </p:cNvPr>
          <p:cNvSpPr txBox="1"/>
          <p:nvPr/>
        </p:nvSpPr>
        <p:spPr>
          <a:xfrm>
            <a:off x="850134" y="4251844"/>
            <a:ext cx="2789430" cy="738664"/>
          </a:xfrm>
          <a:prstGeom prst="rect">
            <a:avLst/>
          </a:prstGeom>
          <a:noFill/>
        </p:spPr>
        <p:txBody>
          <a:bodyPr wrap="square">
            <a:spAutoFit/>
          </a:bodyPr>
          <a:lstStyle/>
          <a:p>
            <a:r>
              <a:rPr kumimoji="1" lang="ja-JP" altLang="en-US" sz="1400" b="1" dirty="0">
                <a:latin typeface="メイリオ" panose="020B0604030504040204" pitchFamily="50" charset="-128"/>
                <a:ea typeface="メイリオ" panose="020B0604030504040204" pitchFamily="50" charset="-128"/>
              </a:rPr>
              <a:t>～　　　 の修正・調整も</a:t>
            </a:r>
            <a:endParaRPr lang="en-US" altLang="ja-JP" sz="1400" b="1" dirty="0">
              <a:latin typeface="メイリオ" panose="020B0604030504040204" pitchFamily="50" charset="-128"/>
              <a:ea typeface="メイリオ" panose="020B0604030504040204" pitchFamily="50" charset="-128"/>
            </a:endParaRPr>
          </a:p>
          <a:p>
            <a:endParaRPr kumimoji="1" lang="en-US" altLang="ja-JP" sz="1400" b="1" dirty="0">
              <a:latin typeface="メイリオ" panose="020B0604030504040204" pitchFamily="50" charset="-128"/>
              <a:ea typeface="メイリオ" panose="020B0604030504040204" pitchFamily="50" charset="-128"/>
            </a:endParaRPr>
          </a:p>
          <a:p>
            <a:r>
              <a:rPr lang="ja-JP" altLang="en-US" sz="1400" b="1" dirty="0">
                <a:latin typeface="メイリオ" panose="020B0604030504040204" pitchFamily="50" charset="-128"/>
                <a:ea typeface="メイリオ" panose="020B0604030504040204" pitchFamily="50" charset="-128"/>
              </a:rPr>
              <a:t>月次対応内に含んでおります。</a:t>
            </a:r>
            <a:endParaRPr kumimoji="1" lang="en-US" altLang="ja-JP" sz="1400"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36935309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883023-AF7C-336C-849B-8B85A9ACB9B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8445BC53-89DD-A84D-9D16-6634A99161D2}"/>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弊社からご提供できる運用プラン</a:t>
            </a:r>
          </a:p>
        </p:txBody>
      </p:sp>
      <p:sp>
        <p:nvSpPr>
          <p:cNvPr id="9" name="正方形/長方形 8">
            <a:extLst>
              <a:ext uri="{FF2B5EF4-FFF2-40B4-BE49-F238E27FC236}">
                <a16:creationId xmlns:a16="http://schemas.microsoft.com/office/drawing/2014/main" id="{9AB03A73-8782-5833-4EC4-7EE6E67551BB}"/>
              </a:ext>
            </a:extLst>
          </p:cNvPr>
          <p:cNvSpPr/>
          <p:nvPr/>
        </p:nvSpPr>
        <p:spPr>
          <a:xfrm>
            <a:off x="0" y="77724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都度発注プラン</a:t>
            </a:r>
          </a:p>
        </p:txBody>
      </p:sp>
      <p:sp>
        <p:nvSpPr>
          <p:cNvPr id="3" name="Google Shape;752;p28">
            <a:extLst>
              <a:ext uri="{FF2B5EF4-FFF2-40B4-BE49-F238E27FC236}">
                <a16:creationId xmlns:a16="http://schemas.microsoft.com/office/drawing/2014/main" id="{028B53B5-690E-5899-171E-A9074171D6E9}"/>
              </a:ext>
            </a:extLst>
          </p:cNvPr>
          <p:cNvSpPr txBox="1"/>
          <p:nvPr/>
        </p:nvSpPr>
        <p:spPr>
          <a:xfrm>
            <a:off x="3036570" y="859443"/>
            <a:ext cx="6276325" cy="338514"/>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LINEOA</a:t>
            </a:r>
            <a:r>
              <a:rPr lang="ja-JP" altLang="en-US" sz="1600" b="1" dirty="0">
                <a:latin typeface="メイリオ" panose="020B0604030504040204" pitchFamily="50" charset="-128"/>
                <a:ea typeface="メイリオ" panose="020B0604030504040204" pitchFamily="50" charset="-128"/>
                <a:cs typeface="Meiryo"/>
                <a:sym typeface="Meiryo"/>
              </a:rPr>
              <a:t>の運用業務・</a:t>
            </a:r>
            <a:r>
              <a:rPr lang="en-US" altLang="ja-JP" sz="1600" b="1" dirty="0">
                <a:latin typeface="メイリオ" panose="020B0604030504040204" pitchFamily="50" charset="-128"/>
                <a:ea typeface="メイリオ" panose="020B0604030504040204" pitchFamily="50" charset="-128"/>
                <a:cs typeface="Meiryo"/>
                <a:sym typeface="Meiryo"/>
              </a:rPr>
              <a:t>CR</a:t>
            </a:r>
            <a:r>
              <a:rPr lang="ja-JP" altLang="en-US" sz="1600" b="1" dirty="0">
                <a:latin typeface="メイリオ" panose="020B0604030504040204" pitchFamily="50" charset="-128"/>
                <a:ea typeface="メイリオ" panose="020B0604030504040204" pitchFamily="50" charset="-128"/>
                <a:cs typeface="Meiryo"/>
                <a:sym typeface="Meiryo"/>
              </a:rPr>
              <a:t>制作業務を一部外出ししてご依頼いただくことも可能です。</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12" name="正方形/長方形 11">
            <a:extLst>
              <a:ext uri="{FF2B5EF4-FFF2-40B4-BE49-F238E27FC236}">
                <a16:creationId xmlns:a16="http://schemas.microsoft.com/office/drawing/2014/main" id="{E2BC9744-CCD5-D85B-03E7-5884310FE6EE}"/>
              </a:ext>
            </a:extLst>
          </p:cNvPr>
          <p:cNvSpPr/>
          <p:nvPr/>
        </p:nvSpPr>
        <p:spPr>
          <a:xfrm>
            <a:off x="548883" y="1380214"/>
            <a:ext cx="8859613" cy="508154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3" name="テキスト ボックス 12">
            <a:extLst>
              <a:ext uri="{FF2B5EF4-FFF2-40B4-BE49-F238E27FC236}">
                <a16:creationId xmlns:a16="http://schemas.microsoft.com/office/drawing/2014/main" id="{B88E2B73-305C-9688-214C-1EF768E484BD}"/>
              </a:ext>
            </a:extLst>
          </p:cNvPr>
          <p:cNvSpPr txBox="1"/>
          <p:nvPr/>
        </p:nvSpPr>
        <p:spPr>
          <a:xfrm>
            <a:off x="706726" y="1569462"/>
            <a:ext cx="4963884" cy="253916"/>
          </a:xfrm>
          <a:prstGeom prst="rect">
            <a:avLst/>
          </a:prstGeom>
          <a:noFill/>
        </p:spPr>
        <p:txBody>
          <a:bodyPr wrap="square">
            <a:spAutoFit/>
          </a:bodyPr>
          <a:lstStyle/>
          <a:p>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&lt;</a:t>
            </a: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追加作業における費用感　</a:t>
            </a:r>
            <a:r>
              <a:rPr lang="en-US" altLang="ja-JP" sz="900" dirty="0">
                <a:solidFill>
                  <a:srgbClr val="FF0000"/>
                </a:solidFill>
                <a:latin typeface="メイリオ" panose="020B0604030504040204" pitchFamily="50" charset="-128"/>
                <a:ea typeface="メイリオ" panose="020B0604030504040204" pitchFamily="50" charset="-128"/>
                <a:sym typeface="Meiryo"/>
              </a:rPr>
              <a:t>※</a:t>
            </a:r>
            <a:r>
              <a:rPr lang="ja-JP" altLang="en-US" sz="900" dirty="0">
                <a:solidFill>
                  <a:srgbClr val="FF0000"/>
                </a:solidFill>
                <a:latin typeface="メイリオ" panose="020B0604030504040204" pitchFamily="50" charset="-128"/>
                <a:ea typeface="メイリオ" panose="020B0604030504040204" pitchFamily="50" charset="-128"/>
                <a:sym typeface="Meiryo"/>
              </a:rPr>
              <a:t>作業量により変動する可能性がございます</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&gt;</a:t>
            </a:r>
            <a:endParaRPr lang="ja-JP" altLang="en-US" sz="1050" dirty="0">
              <a:solidFill>
                <a:schemeClr val="tx1">
                  <a:lumMod val="65000"/>
                  <a:lumOff val="35000"/>
                </a:schemeClr>
              </a:solidFill>
            </a:endParaRPr>
          </a:p>
        </p:txBody>
      </p:sp>
      <p:graphicFrame>
        <p:nvGraphicFramePr>
          <p:cNvPr id="14" name="表 13">
            <a:extLst>
              <a:ext uri="{FF2B5EF4-FFF2-40B4-BE49-F238E27FC236}">
                <a16:creationId xmlns:a16="http://schemas.microsoft.com/office/drawing/2014/main" id="{09C77DA6-2F75-12F7-39C7-7A6997364857}"/>
              </a:ext>
            </a:extLst>
          </p:cNvPr>
          <p:cNvGraphicFramePr>
            <a:graphicFrameLocks noGrp="1"/>
          </p:cNvGraphicFramePr>
          <p:nvPr/>
        </p:nvGraphicFramePr>
        <p:xfrm>
          <a:off x="706726" y="1862534"/>
          <a:ext cx="8543925" cy="4069730"/>
        </p:xfrm>
        <a:graphic>
          <a:graphicData uri="http://schemas.openxmlformats.org/drawingml/2006/table">
            <a:tbl>
              <a:tblPr/>
              <a:tblGrid>
                <a:gridCol w="1832575">
                  <a:extLst>
                    <a:ext uri="{9D8B030D-6E8A-4147-A177-3AD203B41FA5}">
                      <a16:colId xmlns:a16="http://schemas.microsoft.com/office/drawing/2014/main" val="861741390"/>
                    </a:ext>
                  </a:extLst>
                </a:gridCol>
                <a:gridCol w="1140808">
                  <a:extLst>
                    <a:ext uri="{9D8B030D-6E8A-4147-A177-3AD203B41FA5}">
                      <a16:colId xmlns:a16="http://schemas.microsoft.com/office/drawing/2014/main" val="2023292695"/>
                    </a:ext>
                  </a:extLst>
                </a:gridCol>
                <a:gridCol w="1140808">
                  <a:extLst>
                    <a:ext uri="{9D8B030D-6E8A-4147-A177-3AD203B41FA5}">
                      <a16:colId xmlns:a16="http://schemas.microsoft.com/office/drawing/2014/main" val="3807194112"/>
                    </a:ext>
                  </a:extLst>
                </a:gridCol>
                <a:gridCol w="315543">
                  <a:extLst>
                    <a:ext uri="{9D8B030D-6E8A-4147-A177-3AD203B41FA5}">
                      <a16:colId xmlns:a16="http://schemas.microsoft.com/office/drawing/2014/main" val="1897046241"/>
                    </a:ext>
                  </a:extLst>
                </a:gridCol>
                <a:gridCol w="1832575">
                  <a:extLst>
                    <a:ext uri="{9D8B030D-6E8A-4147-A177-3AD203B41FA5}">
                      <a16:colId xmlns:a16="http://schemas.microsoft.com/office/drawing/2014/main" val="286895173"/>
                    </a:ext>
                  </a:extLst>
                </a:gridCol>
                <a:gridCol w="1140808">
                  <a:extLst>
                    <a:ext uri="{9D8B030D-6E8A-4147-A177-3AD203B41FA5}">
                      <a16:colId xmlns:a16="http://schemas.microsoft.com/office/drawing/2014/main" val="241768133"/>
                    </a:ext>
                  </a:extLst>
                </a:gridCol>
                <a:gridCol w="1140808">
                  <a:extLst>
                    <a:ext uri="{9D8B030D-6E8A-4147-A177-3AD203B41FA5}">
                      <a16:colId xmlns:a16="http://schemas.microsoft.com/office/drawing/2014/main" val="3498780203"/>
                    </a:ext>
                  </a:extLst>
                </a:gridCol>
              </a:tblGrid>
              <a:tr h="290695">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内容</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l" fontAlgn="ctr">
                        <a:buNone/>
                      </a:pPr>
                      <a:endParaRPr lang="ja-JP" altLang="en-US" sz="1100" b="1"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月額</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extLst>
                  <a:ext uri="{0D108BD9-81ED-4DB2-BD59-A6C34878D82A}">
                    <a16:rowId xmlns:a16="http://schemas.microsoft.com/office/drawing/2014/main" val="156404078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アカウント開設</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rPr>
                        <a:t>API</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ツール導入</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2032470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プロフィール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ID</a:t>
                      </a: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rPr>
                        <a:t>¥200,000~</a:t>
                      </a:r>
                      <a:endParaRPr lang="en-US" altLang="ja-JP" sz="2800" b="0" i="0" u="none" strike="noStrike" dirty="0">
                        <a:solidFill>
                          <a:schemeClr val="tx1">
                            <a:lumMod val="50000"/>
                            <a:lumOff val="50000"/>
                          </a:schemeClr>
                        </a:solidFill>
                        <a:effectLst/>
                        <a:latin typeface="Arial" panose="020B0604020202020204" pitchFamily="34" charset="0"/>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7246626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リッチメニュー</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ログイン</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rPr>
                        <a:t>¥0</a:t>
                      </a:r>
                      <a:endParaRPr lang="en-US" altLang="ja-JP" sz="2800" b="0" i="0" u="none" strike="noStrike" dirty="0">
                        <a:solidFill>
                          <a:schemeClr val="tx1">
                            <a:lumMod val="50000"/>
                            <a:lumOff val="50000"/>
                          </a:schemeClr>
                        </a:solidFill>
                        <a:effectLst/>
                        <a:latin typeface="Arial" panose="020B0604020202020204" pitchFamily="34" charset="0"/>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843180495"/>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あいさつメッセージ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通知メッセージ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2956199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初期アンケート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チャットボット機能</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498230469"/>
                  </a:ext>
                </a:extLst>
              </a:tr>
              <a:tr h="290695">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rPr>
                        <a:t>KW</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の自動応答</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rPr>
                        <a:t>Chat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¥30,000~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13055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ステップ配信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Call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401113508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セグメント配信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決済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98971440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チャットタグ管理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予約管理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16021493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チャット対応</a:t>
                      </a:r>
                      <a:r>
                        <a:rPr lang="ja-JP" altLang="en-US" sz="700" b="0" i="0" u="none" strike="noStrike" dirty="0">
                          <a:solidFill>
                            <a:srgbClr val="FF0000"/>
                          </a:solidFill>
                          <a:effectLst/>
                          <a:latin typeface="メイリオ" panose="020B0604030504040204" pitchFamily="50" charset="-128"/>
                          <a:ea typeface="メイリオ" panose="020B0604030504040204" pitchFamily="50" charset="-128"/>
                        </a:rPr>
                        <a:t> </a:t>
                      </a:r>
                      <a:r>
                        <a:rPr lang="en-US" altLang="ja-JP" sz="700" b="0" i="0" u="none" strike="noStrike" dirty="0">
                          <a:solidFill>
                            <a:srgbClr val="FF0000"/>
                          </a:solidFill>
                          <a:effectLst/>
                          <a:latin typeface="メイリオ" panose="020B0604030504040204" pitchFamily="50" charset="-128"/>
                          <a:ea typeface="メイリオ" panose="020B0604030504040204" pitchFamily="50" charset="-128"/>
                        </a:rPr>
                        <a:t>※</a:t>
                      </a:r>
                      <a:r>
                        <a:rPr lang="ja-JP" altLang="en-US" sz="700" b="0" i="0" u="none" strike="noStrike" dirty="0">
                          <a:solidFill>
                            <a:srgbClr val="FF0000"/>
                          </a:solidFill>
                          <a:effectLst/>
                          <a:latin typeface="メイリオ" panose="020B0604030504040204" pitchFamily="50" charset="-128"/>
                          <a:ea typeface="メイリオ" panose="020B0604030504040204" pitchFamily="50" charset="-128"/>
                        </a:rPr>
                        <a:t>サポートは可能</a:t>
                      </a:r>
                      <a:endParaRPr lang="ja-JP" altLang="en-US" sz="1100" b="0" i="0" u="none" strike="noStrike" dirty="0">
                        <a:solidFill>
                          <a:srgbClr val="FF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¥100,000</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件数により変動</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919396613"/>
                  </a:ext>
                </a:extLst>
              </a:tr>
              <a:tr h="290695">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GA(CRM)</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レポート連携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80232177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クリエイティブ</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¥15,000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画像</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1</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枚での想定</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p>
                      <a:pPr marL="0" marR="0" lvl="0" indent="0" algn="ctr" defTabSz="914400" rtl="0" eaLnBrk="1" fontAlgn="ctr" latinLnBrk="0" hangingPunct="1">
                        <a:lnSpc>
                          <a:spcPct val="100000"/>
                        </a:lnSpc>
                        <a:spcBef>
                          <a:spcPts val="0"/>
                        </a:spcBef>
                        <a:spcAft>
                          <a:spcPts val="0"/>
                        </a:spcAft>
                        <a:buClrTx/>
                        <a:buSzTx/>
                        <a:buFontTx/>
                        <a:buNone/>
                        <a:tabLst/>
                        <a:defRPr/>
                      </a:pP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バナー、</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HTML</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メール等</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離脱防止ツール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¥15,000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画像</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1</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枚での想定</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p>
                      <a:pPr marL="0" marR="0" lvl="0" indent="0" algn="ctr" defTabSz="914400" rtl="0" eaLnBrk="1" fontAlgn="ctr" latinLnBrk="0" hangingPunct="1">
                        <a:lnSpc>
                          <a:spcPct val="100000"/>
                        </a:lnSpc>
                        <a:spcBef>
                          <a:spcPts val="0"/>
                        </a:spcBef>
                        <a:spcAft>
                          <a:spcPts val="0"/>
                        </a:spcAft>
                        <a:buClrTx/>
                        <a:buSzTx/>
                        <a:buFontTx/>
                        <a:buNone/>
                        <a:tabLst/>
                        <a:defRPr/>
                      </a:pP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バナー、</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HTML</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メール等</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98905920"/>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投稿作成</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サンクス</a:t>
                      </a: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LINE</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誘導ツール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2117655704"/>
                  </a:ext>
                </a:extLst>
              </a:tr>
            </a:tbl>
          </a:graphicData>
        </a:graphic>
      </p:graphicFrame>
      <p:sp>
        <p:nvSpPr>
          <p:cNvPr id="5" name="テキスト ボックス 4">
            <a:extLst>
              <a:ext uri="{FF2B5EF4-FFF2-40B4-BE49-F238E27FC236}">
                <a16:creationId xmlns:a16="http://schemas.microsoft.com/office/drawing/2014/main" id="{F7D704DA-4ADC-402A-12BC-1D923B1E3B20}"/>
              </a:ext>
            </a:extLst>
          </p:cNvPr>
          <p:cNvSpPr txBox="1"/>
          <p:nvPr/>
        </p:nvSpPr>
        <p:spPr>
          <a:xfrm>
            <a:off x="1344877" y="6045252"/>
            <a:ext cx="7267622" cy="307777"/>
          </a:xfrm>
          <a:prstGeom prst="rect">
            <a:avLst/>
          </a:prstGeom>
          <a:noFill/>
        </p:spPr>
        <p:txBody>
          <a:bodyPr wrap="square">
            <a:spAutoFit/>
          </a:bodyPr>
          <a:lstStyle/>
          <a:p>
            <a:pPr algn="ctr"/>
            <a:r>
              <a:rPr lang="ja-JP" altLang="en-US" sz="1400" dirty="0">
                <a:solidFill>
                  <a:srgbClr val="FF0000"/>
                </a:solidFill>
                <a:latin typeface="メイリオ" panose="020B0604030504040204" pitchFamily="50" charset="-128"/>
                <a:ea typeface="メイリオ" panose="020B0604030504040204" pitchFamily="50" charset="-128"/>
                <a:sym typeface="Meiryo"/>
              </a:rPr>
              <a:t>貴社リソースの状況に応じて都度発注でのご依頼も各単価で受けさせていただきます。</a:t>
            </a:r>
            <a:endParaRPr lang="ja-JP" altLang="en-US" sz="1400" dirty="0"/>
          </a:p>
        </p:txBody>
      </p:sp>
      <p:sp>
        <p:nvSpPr>
          <p:cNvPr id="2" name="正方形/長方形 1">
            <a:extLst>
              <a:ext uri="{FF2B5EF4-FFF2-40B4-BE49-F238E27FC236}">
                <a16:creationId xmlns:a16="http://schemas.microsoft.com/office/drawing/2014/main" id="{80B84980-B4D9-2F75-F253-D767EB0FFCF5}"/>
              </a:ext>
            </a:extLst>
          </p:cNvPr>
          <p:cNvSpPr/>
          <p:nvPr/>
        </p:nvSpPr>
        <p:spPr>
          <a:xfrm>
            <a:off x="378823" y="1329288"/>
            <a:ext cx="9183188" cy="5219557"/>
          </a:xfrm>
          <a:prstGeom prst="rect">
            <a:avLst/>
          </a:prstGeom>
          <a:solidFill>
            <a:schemeClr val="bg1">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8808819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D17A57-A342-CB38-A7F8-9DB9EF160348}"/>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282D28B4-A2E3-FBF5-60E3-CBDCF57DCEE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8262C21F-1F4A-FEF6-A8ED-48C7EC229555}"/>
              </a:ext>
            </a:extLst>
          </p:cNvPr>
          <p:cNvSpPr/>
          <p:nvPr/>
        </p:nvSpPr>
        <p:spPr>
          <a:xfrm>
            <a:off x="3629572" y="3038203"/>
            <a:ext cx="2646878"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サポート体制</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09213406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正方形/長方形 5"/>
          <p:cNvSpPr/>
          <p:nvPr/>
        </p:nvSpPr>
        <p:spPr>
          <a:xfrm>
            <a:off x="300312" y="832762"/>
            <a:ext cx="9355994" cy="867143"/>
          </a:xfrm>
          <a:prstGeom prst="rect">
            <a:avLst/>
          </a:prstGeom>
          <a:solidFill>
            <a:schemeClr val="tx2"/>
          </a:solid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2400" dirty="0">
                <a:solidFill>
                  <a:schemeClr val="bg1"/>
                </a:solidFill>
                <a:latin typeface="メイリオ" panose="020B0604030504040204" pitchFamily="50" charset="-128"/>
                <a:ea typeface="メイリオ" panose="020B0604030504040204" pitchFamily="50" charset="-128"/>
              </a:rPr>
              <a:t>WEB</a:t>
            </a:r>
            <a:r>
              <a:rPr lang="ja-JP" altLang="en-US" sz="2400" dirty="0">
                <a:solidFill>
                  <a:schemeClr val="bg1"/>
                </a:solidFill>
                <a:latin typeface="メイリオ" panose="020B0604030504040204" pitchFamily="50" charset="-128"/>
                <a:ea typeface="メイリオ" panose="020B0604030504040204" pitchFamily="50" charset="-128"/>
              </a:rPr>
              <a:t>サイト上情報と連携させ、配信効果を数値化する</a:t>
            </a:r>
          </a:p>
        </p:txBody>
      </p:sp>
      <p:pic>
        <p:nvPicPr>
          <p:cNvPr id="7" name="図 6"/>
          <p:cNvPicPr>
            <a:picLocks noChangeAspect="1"/>
          </p:cNvPicPr>
          <p:nvPr/>
        </p:nvPicPr>
        <p:blipFill>
          <a:blip r:embed="rId3"/>
          <a:stretch>
            <a:fillRect/>
          </a:stretch>
        </p:blipFill>
        <p:spPr>
          <a:xfrm>
            <a:off x="1183616" y="2131090"/>
            <a:ext cx="2498573" cy="1744287"/>
          </a:xfrm>
          <a:prstGeom prst="rect">
            <a:avLst/>
          </a:prstGeom>
        </p:spPr>
      </p:pic>
      <p:pic>
        <p:nvPicPr>
          <p:cNvPr id="8" name="図 7"/>
          <p:cNvPicPr>
            <a:picLocks noChangeAspect="1"/>
          </p:cNvPicPr>
          <p:nvPr/>
        </p:nvPicPr>
        <p:blipFill>
          <a:blip r:embed="rId4"/>
          <a:stretch>
            <a:fillRect/>
          </a:stretch>
        </p:blipFill>
        <p:spPr>
          <a:xfrm>
            <a:off x="3456146" y="2402524"/>
            <a:ext cx="2393091" cy="1668595"/>
          </a:xfrm>
          <a:prstGeom prst="rect">
            <a:avLst/>
          </a:prstGeom>
        </p:spPr>
      </p:pic>
      <p:pic>
        <p:nvPicPr>
          <p:cNvPr id="10" name="図 9"/>
          <p:cNvPicPr>
            <a:picLocks noChangeAspect="1"/>
          </p:cNvPicPr>
          <p:nvPr/>
        </p:nvPicPr>
        <p:blipFill>
          <a:blip r:embed="rId5"/>
          <a:stretch>
            <a:fillRect/>
          </a:stretch>
        </p:blipFill>
        <p:spPr>
          <a:xfrm>
            <a:off x="5697714" y="2676687"/>
            <a:ext cx="2432174" cy="1698131"/>
          </a:xfrm>
          <a:prstGeom prst="rect">
            <a:avLst/>
          </a:prstGeom>
        </p:spPr>
      </p:pic>
      <p:pic>
        <p:nvPicPr>
          <p:cNvPr id="14" name="図 13"/>
          <p:cNvPicPr>
            <a:picLocks noChangeAspect="1"/>
          </p:cNvPicPr>
          <p:nvPr/>
        </p:nvPicPr>
        <p:blipFill>
          <a:blip r:embed="rId6"/>
          <a:stretch>
            <a:fillRect/>
          </a:stretch>
        </p:blipFill>
        <p:spPr>
          <a:xfrm>
            <a:off x="1158180" y="4165451"/>
            <a:ext cx="2417022" cy="1682579"/>
          </a:xfrm>
          <a:prstGeom prst="rect">
            <a:avLst/>
          </a:prstGeom>
        </p:spPr>
      </p:pic>
      <p:pic>
        <p:nvPicPr>
          <p:cNvPr id="15" name="図 14"/>
          <p:cNvPicPr>
            <a:picLocks noChangeAspect="1"/>
          </p:cNvPicPr>
          <p:nvPr/>
        </p:nvPicPr>
        <p:blipFill>
          <a:blip r:embed="rId7"/>
          <a:stretch>
            <a:fillRect/>
          </a:stretch>
        </p:blipFill>
        <p:spPr>
          <a:xfrm>
            <a:off x="3434655" y="4410829"/>
            <a:ext cx="2417022" cy="1683209"/>
          </a:xfrm>
          <a:prstGeom prst="rect">
            <a:avLst/>
          </a:prstGeom>
        </p:spPr>
      </p:pic>
      <p:pic>
        <p:nvPicPr>
          <p:cNvPr id="24" name="図 23"/>
          <p:cNvPicPr>
            <a:picLocks noChangeAspect="1"/>
          </p:cNvPicPr>
          <p:nvPr/>
        </p:nvPicPr>
        <p:blipFill>
          <a:blip r:embed="rId8"/>
          <a:stretch>
            <a:fillRect/>
          </a:stretch>
        </p:blipFill>
        <p:spPr>
          <a:xfrm>
            <a:off x="5697714" y="4687135"/>
            <a:ext cx="2427146" cy="1691079"/>
          </a:xfrm>
          <a:prstGeom prst="rect">
            <a:avLst/>
          </a:prstGeom>
        </p:spPr>
      </p:pic>
      <p:pic>
        <p:nvPicPr>
          <p:cNvPr id="26" name="図 25"/>
          <p:cNvPicPr>
            <a:picLocks noChangeAspect="1"/>
          </p:cNvPicPr>
          <p:nvPr/>
        </p:nvPicPr>
        <p:blipFill>
          <a:blip r:embed="rId9"/>
          <a:stretch>
            <a:fillRect/>
          </a:stretch>
        </p:blipFill>
        <p:spPr>
          <a:xfrm>
            <a:off x="8022243" y="1995292"/>
            <a:ext cx="1068645" cy="454221"/>
          </a:xfrm>
          <a:prstGeom prst="rect">
            <a:avLst/>
          </a:prstGeom>
        </p:spPr>
      </p:pic>
      <p:sp>
        <p:nvSpPr>
          <p:cNvPr id="2" name="テキスト ボックス 1">
            <a:extLst>
              <a:ext uri="{FF2B5EF4-FFF2-40B4-BE49-F238E27FC236}">
                <a16:creationId xmlns:a16="http://schemas.microsoft.com/office/drawing/2014/main" id="{D651C636-9CF1-15AA-68DF-A90526709D47}"/>
              </a:ext>
            </a:extLst>
          </p:cNvPr>
          <p:cNvSpPr txBox="1"/>
          <p:nvPr/>
        </p:nvSpPr>
        <p:spPr>
          <a:xfrm>
            <a:off x="482693" y="989115"/>
            <a:ext cx="933809" cy="646331"/>
          </a:xfrm>
          <a:prstGeom prst="rect">
            <a:avLst/>
          </a:prstGeom>
          <a:noFill/>
        </p:spPr>
        <p:txBody>
          <a:bodyPr wrap="square">
            <a:spAutoFit/>
          </a:bodyPr>
          <a:lstStyle/>
          <a:p>
            <a:r>
              <a:rPr lang="ja-JP" altLang="en-US" sz="3600" dirty="0">
                <a:solidFill>
                  <a:schemeClr val="bg1"/>
                </a:solidFill>
                <a:latin typeface="メイリオ" panose="020B0604030504040204" pitchFamily="50" charset="-128"/>
                <a:ea typeface="メイリオ" panose="020B0604030504040204" pitchFamily="50" charset="-128"/>
              </a:rPr>
              <a:t>☑</a:t>
            </a:r>
            <a:endParaRPr lang="ja-JP" altLang="en-US" sz="3600" dirty="0"/>
          </a:p>
        </p:txBody>
      </p:sp>
      <p:pic>
        <p:nvPicPr>
          <p:cNvPr id="3" name="Picture 2" descr="ロゴガイドライン｜LINEヤフー for Business">
            <a:extLst>
              <a:ext uri="{FF2B5EF4-FFF2-40B4-BE49-F238E27FC236}">
                <a16:creationId xmlns:a16="http://schemas.microsoft.com/office/drawing/2014/main" id="{4B935F7B-C5E5-F09A-504B-9182D06611BF}"/>
              </a:ext>
            </a:extLst>
          </p:cNvPr>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6485508" y="1787991"/>
            <a:ext cx="2447955" cy="888696"/>
          </a:xfrm>
          <a:prstGeom prst="rect">
            <a:avLst/>
          </a:prstGeom>
          <a:noFill/>
          <a:extLst>
            <a:ext uri="{909E8E84-426E-40DD-AFC4-6F175D3DCCD1}">
              <a14:hiddenFill xmlns:a14="http://schemas.microsoft.com/office/drawing/2010/main">
                <a:solidFill>
                  <a:srgbClr val="FFFFFF"/>
                </a:solidFill>
              </a14:hiddenFill>
            </a:ext>
          </a:extLst>
        </p:spPr>
      </p:pic>
      <p:sp>
        <p:nvSpPr>
          <p:cNvPr id="4" name="Google Shape;156;p7">
            <a:extLst>
              <a:ext uri="{FF2B5EF4-FFF2-40B4-BE49-F238E27FC236}">
                <a16:creationId xmlns:a16="http://schemas.microsoft.com/office/drawing/2014/main" id="{C235E2E0-8EAB-29DE-40C2-6596465C1F0D}"/>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サポート体制（報告</a:t>
            </a:r>
            <a:r>
              <a:rPr lang="en-US" altLang="ja-JP" sz="1600" b="1" dirty="0">
                <a:solidFill>
                  <a:srgbClr val="002060"/>
                </a:solidFill>
                <a:latin typeface="Meiryo"/>
                <a:ea typeface="Meiryo"/>
                <a:cs typeface="Meiryo"/>
                <a:sym typeface="Meiryo"/>
              </a:rPr>
              <a:t>FMT</a:t>
            </a:r>
            <a:r>
              <a:rPr lang="ja-JP" altLang="en-US"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
        <p:nvSpPr>
          <p:cNvPr id="5" name="正方形/長方形 4">
            <a:extLst>
              <a:ext uri="{FF2B5EF4-FFF2-40B4-BE49-F238E27FC236}">
                <a16:creationId xmlns:a16="http://schemas.microsoft.com/office/drawing/2014/main" id="{301FEA49-75A4-DB83-1235-8CE72DDD1DB5}"/>
              </a:ext>
            </a:extLst>
          </p:cNvPr>
          <p:cNvSpPr/>
          <p:nvPr/>
        </p:nvSpPr>
        <p:spPr>
          <a:xfrm>
            <a:off x="166962" y="3583894"/>
            <a:ext cx="9594258" cy="867143"/>
          </a:xfrm>
          <a:prstGeom prst="rect">
            <a:avLst/>
          </a:prstGeom>
          <a:solidFill>
            <a:schemeClr val="tx1">
              <a:lumMod val="65000"/>
              <a:lumOff val="35000"/>
              <a:alpha val="50000"/>
            </a:schemeClr>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2400" b="1" dirty="0">
                <a:solidFill>
                  <a:schemeClr val="bg1"/>
                </a:solidFill>
                <a:latin typeface="メイリオ" panose="020B0604030504040204" pitchFamily="50" charset="-128"/>
                <a:ea typeface="メイリオ" panose="020B0604030504040204" pitchFamily="50" charset="-128"/>
              </a:rPr>
              <a:t>レポートサンプル</a:t>
            </a:r>
            <a:endParaRPr lang="en-US" altLang="ja-JP" sz="2400" b="1" dirty="0">
              <a:solidFill>
                <a:schemeClr val="bg1"/>
              </a:solidFill>
              <a:latin typeface="メイリオ" panose="020B0604030504040204" pitchFamily="50" charset="-128"/>
              <a:ea typeface="メイリオ" panose="020B0604030504040204" pitchFamily="50" charset="-128"/>
            </a:endParaRPr>
          </a:p>
          <a:p>
            <a:pPr algn="ctr"/>
            <a:r>
              <a:rPr lang="ja-JP" altLang="en-US" sz="1400" dirty="0">
                <a:solidFill>
                  <a:schemeClr val="bg1"/>
                </a:solidFill>
                <a:latin typeface="メイリオ" panose="020B0604030504040204" pitchFamily="50" charset="-128"/>
                <a:ea typeface="メイリオ" panose="020B0604030504040204" pitchFamily="50" charset="-128"/>
              </a:rPr>
              <a:t>（貴社要望によりカスタマイズ予定）</a:t>
            </a:r>
          </a:p>
        </p:txBody>
      </p:sp>
    </p:spTree>
    <p:extLst>
      <p:ext uri="{BB962C8B-B14F-4D97-AF65-F5344CB8AC3E}">
        <p14:creationId xmlns:p14="http://schemas.microsoft.com/office/powerpoint/2010/main" val="20268183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p:cNvSpPr/>
          <p:nvPr/>
        </p:nvSpPr>
        <p:spPr>
          <a:xfrm>
            <a:off x="6757851" y="93594"/>
            <a:ext cx="1320961" cy="344039"/>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100" dirty="0">
                <a:latin typeface="メイリオ" panose="020B0604030504040204" pitchFamily="50" charset="-128"/>
                <a:ea typeface="メイリオ" panose="020B0604030504040204" pitchFamily="50" charset="-128"/>
              </a:rPr>
              <a:t>効果計測</a:t>
            </a:r>
            <a:endParaRPr kumimoji="1" lang="ja-JP" altLang="en-US" sz="1100" dirty="0">
              <a:latin typeface="メイリオ" panose="020B0604030504040204" pitchFamily="50" charset="-128"/>
              <a:ea typeface="メイリオ" panose="020B0604030504040204" pitchFamily="50" charset="-128"/>
            </a:endParaRPr>
          </a:p>
        </p:txBody>
      </p:sp>
      <p:sp>
        <p:nvSpPr>
          <p:cNvPr id="14" name="正方形/長方形 13"/>
          <p:cNvSpPr/>
          <p:nvPr/>
        </p:nvSpPr>
        <p:spPr>
          <a:xfrm>
            <a:off x="258794" y="1486023"/>
            <a:ext cx="9230264" cy="170575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pic>
        <p:nvPicPr>
          <p:cNvPr id="15" name="図 14"/>
          <p:cNvPicPr>
            <a:picLocks noChangeAspect="1"/>
          </p:cNvPicPr>
          <p:nvPr/>
        </p:nvPicPr>
        <p:blipFill>
          <a:blip r:embed="rId3"/>
          <a:stretch>
            <a:fillRect/>
          </a:stretch>
        </p:blipFill>
        <p:spPr>
          <a:xfrm>
            <a:off x="445640" y="4515592"/>
            <a:ext cx="4393508" cy="1886055"/>
          </a:xfrm>
          <a:prstGeom prst="rect">
            <a:avLst/>
          </a:prstGeom>
        </p:spPr>
      </p:pic>
      <p:sp>
        <p:nvSpPr>
          <p:cNvPr id="16" name="正方形/長方形 15"/>
          <p:cNvSpPr/>
          <p:nvPr/>
        </p:nvSpPr>
        <p:spPr>
          <a:xfrm>
            <a:off x="1728755" y="1724210"/>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lang="ja-JP" altLang="en-US" sz="1200" b="1" dirty="0">
                <a:latin typeface="メイリオ" panose="020B0604030504040204" pitchFamily="50" charset="-128"/>
                <a:ea typeface="メイリオ" panose="020B0604030504040204" pitchFamily="50" charset="-128"/>
              </a:rPr>
              <a:t>ツールなし</a:t>
            </a:r>
            <a:endParaRPr kumimoji="1" lang="ja-JP" altLang="en-US" sz="1200" b="1" dirty="0">
              <a:latin typeface="メイリオ" panose="020B0604030504040204" pitchFamily="50" charset="-128"/>
              <a:ea typeface="メイリオ" panose="020B0604030504040204" pitchFamily="50" charset="-128"/>
            </a:endParaRPr>
          </a:p>
        </p:txBody>
      </p:sp>
      <p:sp>
        <p:nvSpPr>
          <p:cNvPr id="17" name="正方形/長方形 16"/>
          <p:cNvSpPr/>
          <p:nvPr/>
        </p:nvSpPr>
        <p:spPr>
          <a:xfrm>
            <a:off x="1728754" y="2464827"/>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kumimoji="1" lang="ja-JP" altLang="en-US" sz="1200" b="1" dirty="0">
                <a:latin typeface="メイリオ" panose="020B0604030504040204" pitchFamily="50" charset="-128"/>
                <a:ea typeface="メイリオ" panose="020B0604030504040204" pitchFamily="50" charset="-128"/>
              </a:rPr>
              <a:t>ツールあり</a:t>
            </a:r>
          </a:p>
        </p:txBody>
      </p:sp>
      <p:sp>
        <p:nvSpPr>
          <p:cNvPr id="18" name="正方形/長方形 17"/>
          <p:cNvSpPr/>
          <p:nvPr/>
        </p:nvSpPr>
        <p:spPr>
          <a:xfrm>
            <a:off x="3939661" y="2445682"/>
            <a:ext cx="3312125"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API</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ツール管理画面上にて</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「特定期間に対する</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数算出」が可能</a:t>
            </a:r>
          </a:p>
        </p:txBody>
      </p:sp>
      <p:sp>
        <p:nvSpPr>
          <p:cNvPr id="19" name="正方形/長方形 18"/>
          <p:cNvSpPr/>
          <p:nvPr/>
        </p:nvSpPr>
        <p:spPr>
          <a:xfrm>
            <a:off x="3939661" y="1705487"/>
            <a:ext cx="4273927"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タグの設定に伴い、計測自体は可能だが</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数</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50</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件以上での数値計測となる（管理画面上）</a:t>
            </a:r>
          </a:p>
        </p:txBody>
      </p:sp>
      <p:sp>
        <p:nvSpPr>
          <p:cNvPr id="20" name="正方形/長方形 19"/>
          <p:cNvSpPr/>
          <p:nvPr/>
        </p:nvSpPr>
        <p:spPr>
          <a:xfrm>
            <a:off x="625827" y="2120216"/>
            <a:ext cx="646331" cy="369332"/>
          </a:xfrm>
          <a:prstGeom prst="rect">
            <a:avLst/>
          </a:prstGeom>
        </p:spPr>
        <p:txBody>
          <a:bodyPr wrap="none">
            <a:spAutoFit/>
          </a:bodyPr>
          <a:lstStyle/>
          <a:p>
            <a:pPr algn="ctr"/>
            <a:r>
              <a:rPr lang="ja-JP" altLang="en-US" dirty="0">
                <a:latin typeface="メイリオ" panose="020B0604030504040204" pitchFamily="50" charset="-128"/>
                <a:ea typeface="メイリオ" panose="020B0604030504040204" pitchFamily="50" charset="-128"/>
              </a:rPr>
              <a:t>通常</a:t>
            </a:r>
          </a:p>
        </p:txBody>
      </p:sp>
      <p:sp>
        <p:nvSpPr>
          <p:cNvPr id="21" name="正方形/長方形 20"/>
          <p:cNvSpPr/>
          <p:nvPr/>
        </p:nvSpPr>
        <p:spPr>
          <a:xfrm>
            <a:off x="258794" y="3337953"/>
            <a:ext cx="9230264" cy="1053074"/>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22" name="正方形/長方形 21"/>
          <p:cNvSpPr/>
          <p:nvPr/>
        </p:nvSpPr>
        <p:spPr>
          <a:xfrm>
            <a:off x="1728754" y="3527788"/>
            <a:ext cx="1984767" cy="70485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lang="ja-JP" altLang="en-US" sz="1200" b="1" dirty="0">
                <a:latin typeface="メイリオ" panose="020B0604030504040204" pitchFamily="50" charset="-128"/>
                <a:ea typeface="メイリオ" panose="020B0604030504040204" pitchFamily="50" charset="-128"/>
              </a:rPr>
              <a:t>ツール有無</a:t>
            </a:r>
            <a:endParaRPr lang="en-US" altLang="ja-JP" sz="1200" b="1" dirty="0">
              <a:latin typeface="メイリオ" panose="020B0604030504040204" pitchFamily="50" charset="-128"/>
              <a:ea typeface="メイリオ" panose="020B0604030504040204" pitchFamily="50" charset="-128"/>
            </a:endParaRPr>
          </a:p>
          <a:p>
            <a:pPr algn="ctr"/>
            <a:r>
              <a:rPr kumimoji="1" lang="ja-JP" altLang="en-US" sz="1200" b="1" dirty="0">
                <a:latin typeface="メイリオ" panose="020B0604030504040204" pitchFamily="50" charset="-128"/>
                <a:ea typeface="メイリオ" panose="020B0604030504040204" pitchFamily="50" charset="-128"/>
              </a:rPr>
              <a:t>に関わらず</a:t>
            </a:r>
          </a:p>
        </p:txBody>
      </p:sp>
      <p:sp>
        <p:nvSpPr>
          <p:cNvPr id="23" name="正方形/長方形 22"/>
          <p:cNvSpPr/>
          <p:nvPr/>
        </p:nvSpPr>
        <p:spPr>
          <a:xfrm>
            <a:off x="3939660" y="3618602"/>
            <a:ext cx="4164923" cy="523220"/>
          </a:xfrm>
          <a:prstGeom prst="rect">
            <a:avLst/>
          </a:prstGeom>
        </p:spPr>
        <p:txBody>
          <a:bodyPr wrap="none" anchor="ctr">
            <a:spAutoFit/>
          </a:bodyPr>
          <a:lstStyle/>
          <a:p>
            <a:r>
              <a:rPr lang="ja-JP" altLang="en-US" sz="1400" dirty="0">
                <a:latin typeface="メイリオ" panose="020B0604030504040204" pitchFamily="50" charset="-128"/>
                <a:ea typeface="メイリオ" panose="020B0604030504040204" pitchFamily="50" charset="-128"/>
              </a:rPr>
              <a:t>定期投稿、シナリオ、リッチメニュー等に設定の</a:t>
            </a:r>
            <a:endParaRPr lang="en-US" altLang="ja-JP" sz="1400" dirty="0">
              <a:latin typeface="メイリオ" panose="020B0604030504040204" pitchFamily="50" charset="-128"/>
              <a:ea typeface="メイリオ" panose="020B0604030504040204" pitchFamily="50" charset="-128"/>
            </a:endParaRPr>
          </a:p>
          <a:p>
            <a:r>
              <a:rPr lang="ja-JP" altLang="en-US" sz="1400" dirty="0">
                <a:latin typeface="メイリオ" panose="020B0604030504040204" pitchFamily="50" charset="-128"/>
                <a:ea typeface="メイリオ" panose="020B0604030504040204" pitchFamily="50" charset="-128"/>
              </a:rPr>
              <a:t>リンクについて、</a:t>
            </a:r>
            <a:r>
              <a:rPr lang="en-US" altLang="ja-JP" sz="1400" dirty="0">
                <a:solidFill>
                  <a:srgbClr val="FF0000"/>
                </a:solidFill>
                <a:latin typeface="メイリオ" panose="020B0604030504040204" pitchFamily="50" charset="-128"/>
                <a:ea typeface="メイリオ" panose="020B0604030504040204" pitchFamily="50" charset="-128"/>
              </a:rPr>
              <a:t>GA</a:t>
            </a:r>
            <a:r>
              <a:rPr lang="ja-JP" altLang="en-US" sz="1400" dirty="0" err="1">
                <a:solidFill>
                  <a:srgbClr val="FF0000"/>
                </a:solidFill>
                <a:latin typeface="メイリオ" panose="020B0604030504040204" pitchFamily="50" charset="-128"/>
                <a:ea typeface="メイリオ" panose="020B0604030504040204" pitchFamily="50" charset="-128"/>
              </a:rPr>
              <a:t>、</a:t>
            </a:r>
            <a:r>
              <a:rPr lang="en-US" altLang="ja-JP" sz="1400" dirty="0">
                <a:solidFill>
                  <a:srgbClr val="FF0000"/>
                </a:solidFill>
                <a:latin typeface="メイリオ" panose="020B0604030504040204" pitchFamily="50" charset="-128"/>
                <a:ea typeface="メイリオ" panose="020B0604030504040204" pitchFamily="50" charset="-128"/>
              </a:rPr>
              <a:t>MA</a:t>
            </a:r>
            <a:r>
              <a:rPr lang="ja-JP" altLang="en-US" sz="1400" dirty="0">
                <a:solidFill>
                  <a:srgbClr val="FF0000"/>
                </a:solidFill>
                <a:latin typeface="メイリオ" panose="020B0604030504040204" pitchFamily="50" charset="-128"/>
                <a:ea typeface="メイリオ" panose="020B0604030504040204" pitchFamily="50" charset="-128"/>
              </a:rPr>
              <a:t>ツールでの計測可能</a:t>
            </a:r>
            <a:r>
              <a:rPr lang="ja-JP" altLang="en-US" sz="1400" dirty="0">
                <a:latin typeface="メイリオ" panose="020B0604030504040204" pitchFamily="50" charset="-128"/>
                <a:ea typeface="メイリオ" panose="020B0604030504040204" pitchFamily="50" charset="-128"/>
              </a:rPr>
              <a:t>に</a:t>
            </a:r>
          </a:p>
        </p:txBody>
      </p:sp>
      <p:sp>
        <p:nvSpPr>
          <p:cNvPr id="24" name="正方形/長方形 23"/>
          <p:cNvSpPr/>
          <p:nvPr/>
        </p:nvSpPr>
        <p:spPr>
          <a:xfrm>
            <a:off x="571292" y="3649379"/>
            <a:ext cx="693973" cy="369332"/>
          </a:xfrm>
          <a:prstGeom prst="rect">
            <a:avLst/>
          </a:prstGeom>
        </p:spPr>
        <p:txBody>
          <a:bodyPr wrap="none">
            <a:spAutoFit/>
          </a:bodyPr>
          <a:lstStyle/>
          <a:p>
            <a:pPr algn="ctr"/>
            <a:r>
              <a:rPr lang="en-US" altLang="ja-JP" dirty="0">
                <a:latin typeface="メイリオ" panose="020B0604030504040204" pitchFamily="50" charset="-128"/>
                <a:ea typeface="メイリオ" panose="020B0604030504040204" pitchFamily="50" charset="-128"/>
              </a:rPr>
              <a:t>DYM</a:t>
            </a:r>
            <a:endParaRPr lang="ja-JP" altLang="en-US" dirty="0">
              <a:latin typeface="メイリオ" panose="020B0604030504040204" pitchFamily="50" charset="-128"/>
              <a:ea typeface="メイリオ" panose="020B0604030504040204" pitchFamily="50" charset="-128"/>
            </a:endParaRPr>
          </a:p>
        </p:txBody>
      </p:sp>
      <p:pic>
        <p:nvPicPr>
          <p:cNvPr id="27" name="図 26"/>
          <p:cNvPicPr>
            <a:picLocks noChangeAspect="1"/>
          </p:cNvPicPr>
          <p:nvPr/>
        </p:nvPicPr>
        <p:blipFill>
          <a:blip r:embed="rId4"/>
          <a:stretch>
            <a:fillRect/>
          </a:stretch>
        </p:blipFill>
        <p:spPr>
          <a:xfrm>
            <a:off x="5173537" y="4510754"/>
            <a:ext cx="4219164" cy="1912981"/>
          </a:xfrm>
          <a:prstGeom prst="rect">
            <a:avLst/>
          </a:prstGeom>
        </p:spPr>
      </p:pic>
      <p:sp>
        <p:nvSpPr>
          <p:cNvPr id="29" name="正方形/長方形 28"/>
          <p:cNvSpPr/>
          <p:nvPr/>
        </p:nvSpPr>
        <p:spPr>
          <a:xfrm>
            <a:off x="372964" y="4445247"/>
            <a:ext cx="4546440"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正方形/長方形 29"/>
          <p:cNvSpPr/>
          <p:nvPr/>
        </p:nvSpPr>
        <p:spPr>
          <a:xfrm>
            <a:off x="5141643" y="4445246"/>
            <a:ext cx="4282952"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正方形/長方形 30"/>
          <p:cNvSpPr/>
          <p:nvPr/>
        </p:nvSpPr>
        <p:spPr>
          <a:xfrm>
            <a:off x="788187"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GA</a:t>
            </a:r>
            <a:r>
              <a:rPr kumimoji="1" lang="ja-JP" altLang="en-US" sz="1400" b="1" dirty="0">
                <a:latin typeface="メイリオ" panose="020B0604030504040204" pitchFamily="50" charset="-128"/>
                <a:ea typeface="メイリオ" panose="020B0604030504040204" pitchFamily="50" charset="-128"/>
              </a:rPr>
              <a:t>レポート（日次）</a:t>
            </a:r>
            <a:r>
              <a:rPr kumimoji="1" lang="ja-JP" altLang="en-US" sz="1100" b="1" dirty="0">
                <a:latin typeface="メイリオ" panose="020B0604030504040204" pitchFamily="50" charset="-128"/>
                <a:ea typeface="メイリオ" panose="020B0604030504040204" pitchFamily="50" charset="-128"/>
              </a:rPr>
              <a:t> </a:t>
            </a:r>
            <a:r>
              <a:rPr kumimoji="1" lang="en-US" altLang="ja-JP" sz="1100" b="1" dirty="0">
                <a:latin typeface="メイリオ" panose="020B0604030504040204" pitchFamily="50" charset="-128"/>
                <a:ea typeface="メイリオ" panose="020B0604030504040204" pitchFamily="50" charset="-128"/>
              </a:rPr>
              <a:t>※</a:t>
            </a:r>
            <a:r>
              <a:rPr kumimoji="1" lang="ja-JP" altLang="en-US" sz="1100" b="1" dirty="0">
                <a:latin typeface="メイリオ" panose="020B0604030504040204" pitchFamily="50" charset="-128"/>
                <a:ea typeface="メイリオ" panose="020B0604030504040204" pitchFamily="50" charset="-128"/>
              </a:rPr>
              <a:t>サンプル</a:t>
            </a:r>
            <a:endParaRPr kumimoji="1" lang="ja-JP" altLang="en-US" sz="1400" b="1" dirty="0">
              <a:latin typeface="メイリオ" panose="020B0604030504040204" pitchFamily="50" charset="-128"/>
              <a:ea typeface="メイリオ" panose="020B0604030504040204" pitchFamily="50" charset="-128"/>
            </a:endParaRPr>
          </a:p>
        </p:txBody>
      </p:sp>
      <p:sp>
        <p:nvSpPr>
          <p:cNvPr id="32" name="正方形/長方形 31"/>
          <p:cNvSpPr/>
          <p:nvPr/>
        </p:nvSpPr>
        <p:spPr>
          <a:xfrm>
            <a:off x="5453208"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GA</a:t>
            </a:r>
            <a:r>
              <a:rPr kumimoji="1" lang="ja-JP" altLang="en-US" sz="1400" b="1" dirty="0">
                <a:latin typeface="メイリオ" panose="020B0604030504040204" pitchFamily="50" charset="-128"/>
                <a:ea typeface="メイリオ" panose="020B0604030504040204" pitchFamily="50" charset="-128"/>
              </a:rPr>
              <a:t>レポート（月次）</a:t>
            </a:r>
            <a:r>
              <a:rPr kumimoji="1" lang="ja-JP" altLang="en-US" sz="1100" b="1" dirty="0">
                <a:latin typeface="メイリオ" panose="020B0604030504040204" pitchFamily="50" charset="-128"/>
                <a:ea typeface="メイリオ" panose="020B0604030504040204" pitchFamily="50" charset="-128"/>
              </a:rPr>
              <a:t> </a:t>
            </a:r>
            <a:r>
              <a:rPr kumimoji="1" lang="en-US" altLang="ja-JP" sz="1100" b="1" dirty="0">
                <a:latin typeface="メイリオ" panose="020B0604030504040204" pitchFamily="50" charset="-128"/>
                <a:ea typeface="メイリオ" panose="020B0604030504040204" pitchFamily="50" charset="-128"/>
              </a:rPr>
              <a:t>※</a:t>
            </a:r>
            <a:r>
              <a:rPr lang="ja-JP" altLang="en-US" sz="1100" b="1" dirty="0">
                <a:latin typeface="メイリオ" panose="020B0604030504040204" pitchFamily="50" charset="-128"/>
                <a:ea typeface="メイリオ" panose="020B0604030504040204" pitchFamily="50" charset="-128"/>
              </a:rPr>
              <a:t>サンプル</a:t>
            </a:r>
            <a:endParaRPr kumimoji="1" lang="ja-JP" altLang="en-US" sz="1400" b="1" dirty="0">
              <a:latin typeface="メイリオ" panose="020B0604030504040204" pitchFamily="50" charset="-128"/>
              <a:ea typeface="メイリオ" panose="020B0604030504040204" pitchFamily="50" charset="-128"/>
            </a:endParaRPr>
          </a:p>
        </p:txBody>
      </p:sp>
      <p:sp>
        <p:nvSpPr>
          <p:cNvPr id="33" name="正方形/長方形 32"/>
          <p:cNvSpPr/>
          <p:nvPr/>
        </p:nvSpPr>
        <p:spPr>
          <a:xfrm>
            <a:off x="258794" y="776172"/>
            <a:ext cx="9230264" cy="523220"/>
          </a:xfrm>
          <a:prstGeom prst="rect">
            <a:avLst/>
          </a:prstGeom>
        </p:spPr>
        <p:txBody>
          <a:bodyPr wrap="square" anchor="ctr">
            <a:spAutoFit/>
          </a:bodyPr>
          <a:lstStyle/>
          <a:p>
            <a:pPr algn="ctr"/>
            <a:r>
              <a:rPr lang="ja-JP" altLang="en-US" sz="1400" dirty="0">
                <a:latin typeface="メイリオ" panose="020B0604030504040204" pitchFamily="50" charset="-128"/>
                <a:ea typeface="メイリオ" panose="020B0604030504040204" pitchFamily="50" charset="-128"/>
              </a:rPr>
              <a:t>コンサル費用＋アカウント費用に対する効果を可視化し、課題点を都度確認できる体制に。</a:t>
            </a:r>
            <a:endParaRPr lang="en-US" altLang="ja-JP" sz="1400" dirty="0">
              <a:latin typeface="メイリオ" panose="020B0604030504040204" pitchFamily="50" charset="-128"/>
              <a:ea typeface="メイリオ" panose="020B0604030504040204" pitchFamily="50" charset="-128"/>
            </a:endParaRPr>
          </a:p>
          <a:p>
            <a:pPr algn="ctr"/>
            <a:r>
              <a:rPr lang="ja-JP" altLang="en-US" sz="1400" dirty="0">
                <a:latin typeface="メイリオ" panose="020B0604030504040204" pitchFamily="50" charset="-128"/>
                <a:ea typeface="メイリオ" panose="020B0604030504040204" pitchFamily="50" charset="-128"/>
              </a:rPr>
              <a:t>投稿別</a:t>
            </a:r>
            <a:r>
              <a:rPr lang="en-US" altLang="ja-JP" sz="1400" dirty="0">
                <a:latin typeface="メイリオ" panose="020B0604030504040204" pitchFamily="50" charset="-128"/>
                <a:ea typeface="メイリオ" panose="020B0604030504040204" pitchFamily="50" charset="-128"/>
              </a:rPr>
              <a:t>×</a:t>
            </a:r>
            <a:r>
              <a:rPr lang="ja-JP" altLang="en-US" sz="1400" dirty="0">
                <a:latin typeface="メイリオ" panose="020B0604030504040204" pitchFamily="50" charset="-128"/>
                <a:ea typeface="メイリオ" panose="020B0604030504040204" pitchFamily="50" charset="-128"/>
              </a:rPr>
              <a:t>セグメント別でデータ化でき、</a:t>
            </a:r>
            <a:r>
              <a:rPr lang="en-US" altLang="ja-JP" sz="1400" dirty="0">
                <a:latin typeface="メイリオ" panose="020B0604030504040204" pitchFamily="50" charset="-128"/>
                <a:ea typeface="メイリオ" panose="020B0604030504040204" pitchFamily="50" charset="-128"/>
              </a:rPr>
              <a:t>AB</a:t>
            </a:r>
            <a:r>
              <a:rPr lang="ja-JP" altLang="en-US" sz="1400" dirty="0">
                <a:latin typeface="メイリオ" panose="020B0604030504040204" pitchFamily="50" charset="-128"/>
                <a:ea typeface="メイリオ" panose="020B0604030504040204" pitchFamily="50" charset="-128"/>
              </a:rPr>
              <a:t>テストとクリエイティブ検証を細かく実施。</a:t>
            </a:r>
          </a:p>
        </p:txBody>
      </p:sp>
      <p:sp>
        <p:nvSpPr>
          <p:cNvPr id="4" name="Google Shape;156;p7">
            <a:extLst>
              <a:ext uri="{FF2B5EF4-FFF2-40B4-BE49-F238E27FC236}">
                <a16:creationId xmlns:a16="http://schemas.microsoft.com/office/drawing/2014/main" id="{260430EB-E69F-64B3-39EC-6A753FA8A5B0}"/>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サポート体制（報告</a:t>
            </a:r>
            <a:r>
              <a:rPr lang="en-US" altLang="ja-JP" sz="1600" b="1" dirty="0">
                <a:solidFill>
                  <a:srgbClr val="002060"/>
                </a:solidFill>
                <a:latin typeface="Meiryo"/>
                <a:ea typeface="Meiryo"/>
                <a:cs typeface="Meiryo"/>
                <a:sym typeface="Meiryo"/>
              </a:rPr>
              <a:t>FMT</a:t>
            </a:r>
            <a:r>
              <a:rPr lang="ja-JP" altLang="en-US"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Tree>
    <p:extLst>
      <p:ext uri="{BB962C8B-B14F-4D97-AF65-F5344CB8AC3E}">
        <p14:creationId xmlns:p14="http://schemas.microsoft.com/office/powerpoint/2010/main" val="378692469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2F862-6825-0A25-E527-0C644CE20321}"/>
            </a:ext>
          </a:extLst>
        </p:cNvPr>
        <p:cNvGrpSpPr/>
        <p:nvPr/>
      </p:nvGrpSpPr>
      <p:grpSpPr>
        <a:xfrm>
          <a:off x="0" y="0"/>
          <a:ext cx="0" cy="0"/>
          <a:chOff x="0" y="0"/>
          <a:chExt cx="0" cy="0"/>
        </a:xfrm>
      </p:grpSpPr>
      <p:sp>
        <p:nvSpPr>
          <p:cNvPr id="4" name="正方形/長方形 3">
            <a:extLst>
              <a:ext uri="{FF2B5EF4-FFF2-40B4-BE49-F238E27FC236}">
                <a16:creationId xmlns:a16="http://schemas.microsoft.com/office/drawing/2014/main" id="{1B95EDD6-658F-4CEF-BC87-63AE1294A97D}"/>
              </a:ext>
            </a:extLst>
          </p:cNvPr>
          <p:cNvSpPr/>
          <p:nvPr/>
        </p:nvSpPr>
        <p:spPr>
          <a:xfrm>
            <a:off x="253638" y="835690"/>
            <a:ext cx="2541320"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rPr>
              <a:t>弊社体制図</a:t>
            </a:r>
            <a:endParaRPr kumimoji="1" lang="ja-JP" altLang="en-US" sz="1600" b="1" dirty="0">
              <a:latin typeface="メイリオ" panose="020B0604030504040204" pitchFamily="50" charset="-128"/>
              <a:ea typeface="メイリオ" panose="020B0604030504040204" pitchFamily="50" charset="-128"/>
            </a:endParaRPr>
          </a:p>
        </p:txBody>
      </p:sp>
      <p:sp>
        <p:nvSpPr>
          <p:cNvPr id="6" name="Google Shape;156;p7">
            <a:extLst>
              <a:ext uri="{FF2B5EF4-FFF2-40B4-BE49-F238E27FC236}">
                <a16:creationId xmlns:a16="http://schemas.microsoft.com/office/drawing/2014/main" id="{3BA0E9AE-61D3-01E9-521B-2E5746D00D89}"/>
              </a:ext>
            </a:extLst>
          </p:cNvPr>
          <p:cNvSpPr txBox="1"/>
          <p:nvPr/>
        </p:nvSpPr>
        <p:spPr>
          <a:xfrm>
            <a:off x="2857804" y="786210"/>
            <a:ext cx="7217767" cy="584735"/>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chemeClr val="tx1">
                    <a:lumMod val="65000"/>
                    <a:lumOff val="35000"/>
                  </a:schemeClr>
                </a:solidFill>
                <a:latin typeface="Meiryo"/>
                <a:ea typeface="Meiryo"/>
                <a:cs typeface="Meiryo"/>
                <a:sym typeface="Meiryo"/>
              </a:rPr>
              <a:t>GA</a:t>
            </a:r>
            <a:r>
              <a:rPr lang="ja-JP" altLang="en-US" sz="1600" b="1" dirty="0">
                <a:solidFill>
                  <a:schemeClr val="tx1">
                    <a:lumMod val="65000"/>
                    <a:lumOff val="35000"/>
                  </a:schemeClr>
                </a:solidFill>
                <a:latin typeface="Meiryo"/>
                <a:ea typeface="Meiryo"/>
                <a:cs typeface="Meiryo"/>
                <a:sym typeface="Meiryo"/>
              </a:rPr>
              <a:t>及び</a:t>
            </a:r>
            <a:r>
              <a:rPr lang="en-US" altLang="ja-JP" sz="1600" b="1" dirty="0">
                <a:solidFill>
                  <a:schemeClr val="tx1">
                    <a:lumMod val="65000"/>
                    <a:lumOff val="35000"/>
                  </a:schemeClr>
                </a:solidFill>
                <a:latin typeface="Meiryo"/>
                <a:ea typeface="Meiryo"/>
                <a:cs typeface="Meiryo"/>
                <a:sym typeface="Meiryo"/>
              </a:rPr>
              <a:t>MA</a:t>
            </a:r>
            <a:r>
              <a:rPr lang="ja-JP" altLang="en-US" sz="1600" b="1" dirty="0">
                <a:solidFill>
                  <a:schemeClr val="tx1">
                    <a:lumMod val="65000"/>
                    <a:lumOff val="35000"/>
                  </a:schemeClr>
                </a:solidFill>
                <a:latin typeface="Meiryo"/>
                <a:ea typeface="Meiryo"/>
                <a:cs typeface="Meiryo"/>
                <a:sym typeface="Meiryo"/>
              </a:rPr>
              <a:t>ツール両面での計測ができるようパラメータ管理。</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公式アカウントの管理画面には出ない、サイト上の結果を紐づけ。</a:t>
            </a:r>
            <a:endParaRPr sz="1600" b="1" dirty="0">
              <a:solidFill>
                <a:schemeClr val="tx1">
                  <a:lumMod val="65000"/>
                  <a:lumOff val="35000"/>
                </a:schemeClr>
              </a:solidFill>
              <a:latin typeface="Meiryo"/>
              <a:ea typeface="Meiryo"/>
              <a:cs typeface="Meiryo"/>
              <a:sym typeface="Meiryo"/>
            </a:endParaRPr>
          </a:p>
        </p:txBody>
      </p:sp>
      <p:sp>
        <p:nvSpPr>
          <p:cNvPr id="12" name="Google Shape;156;p7">
            <a:extLst>
              <a:ext uri="{FF2B5EF4-FFF2-40B4-BE49-F238E27FC236}">
                <a16:creationId xmlns:a16="http://schemas.microsoft.com/office/drawing/2014/main" id="{C5C4EFC6-EAB9-6A05-AE92-8FF390EDDDE3}"/>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体制図（イメージ）</a:t>
            </a:r>
            <a:endParaRPr sz="1600" b="1" dirty="0">
              <a:solidFill>
                <a:srgbClr val="002060"/>
              </a:solidFill>
              <a:latin typeface="Meiryo"/>
              <a:ea typeface="Meiryo"/>
              <a:cs typeface="Meiryo"/>
              <a:sym typeface="Meiryo"/>
            </a:endParaRPr>
          </a:p>
        </p:txBody>
      </p:sp>
      <p:sp>
        <p:nvSpPr>
          <p:cNvPr id="8" name="Shape 6"/>
          <p:cNvSpPr/>
          <p:nvPr/>
        </p:nvSpPr>
        <p:spPr>
          <a:xfrm>
            <a:off x="621091" y="3084378"/>
            <a:ext cx="4674326" cy="738321"/>
          </a:xfrm>
          <a:prstGeom prst="rect">
            <a:avLst/>
          </a:prstGeom>
          <a:solidFill>
            <a:srgbClr val="FFFFFF"/>
          </a:solidFill>
          <a:ln w="12700">
            <a:solidFill>
              <a:srgbClr val="C0CEDE"/>
            </a:solidFill>
            <a:prstDash val="solid"/>
          </a:ln>
        </p:spPr>
        <p:txBody>
          <a:bodyPr anchor="ctr"/>
          <a:lstStyle/>
          <a:p>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方針決定</a:t>
            </a:r>
            <a:endParaRPr lang="en-US" altLang="ja-JP" sz="1200" dirty="0">
              <a:latin typeface="メイリオ" panose="020B0604030504040204" pitchFamily="50" charset="-128"/>
              <a:ea typeface="メイリオ" panose="020B0604030504040204" pitchFamily="50" charset="-128"/>
            </a:endParaRPr>
          </a:p>
        </p:txBody>
      </p:sp>
      <p:sp>
        <p:nvSpPr>
          <p:cNvPr id="3" name="Shape 15"/>
          <p:cNvSpPr/>
          <p:nvPr/>
        </p:nvSpPr>
        <p:spPr>
          <a:xfrm>
            <a:off x="660472" y="4383083"/>
            <a:ext cx="2148840" cy="578878"/>
          </a:xfrm>
          <a:prstGeom prst="rect">
            <a:avLst/>
          </a:prstGeom>
          <a:solidFill>
            <a:srgbClr val="FFFFFF"/>
          </a:solidFill>
          <a:ln w="12700">
            <a:solidFill>
              <a:srgbClr val="C0CEDE"/>
            </a:solidFill>
            <a:prstDash val="solid"/>
          </a:ln>
        </p:spPr>
        <p:txBody>
          <a:bodyPr anchor="ctr"/>
          <a:lstStyle/>
          <a:p>
            <a:endParaRPr lang="en-US" altLang="ja-JP" sz="3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アカウント設計</a:t>
            </a:r>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100" dirty="0">
              <a:latin typeface="メイリオ" panose="020B0604030504040204" pitchFamily="50" charset="-128"/>
              <a:ea typeface="メイリオ" panose="020B0604030504040204" pitchFamily="50" charset="-128"/>
            </a:endParaRPr>
          </a:p>
        </p:txBody>
      </p:sp>
      <p:sp>
        <p:nvSpPr>
          <p:cNvPr id="18" name="Shape 16"/>
          <p:cNvSpPr/>
          <p:nvPr/>
        </p:nvSpPr>
        <p:spPr>
          <a:xfrm>
            <a:off x="645163" y="4065900"/>
            <a:ext cx="2148840" cy="347472"/>
          </a:xfrm>
          <a:prstGeom prst="rect">
            <a:avLst/>
          </a:prstGeom>
          <a:solidFill>
            <a:srgbClr val="1F3864"/>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リス・</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SNS運用</a:t>
            </a:r>
            <a:endParaRPr lang="en-US" altLang="ja-JP" sz="1350" dirty="0">
              <a:latin typeface="メイリオ" panose="020B0604030504040204" pitchFamily="50" charset="-128"/>
              <a:ea typeface="メイリオ" panose="020B0604030504040204" pitchFamily="50" charset="-128"/>
            </a:endParaRPr>
          </a:p>
        </p:txBody>
      </p:sp>
      <p:sp>
        <p:nvSpPr>
          <p:cNvPr id="28" name="Shape 26"/>
          <p:cNvSpPr/>
          <p:nvPr/>
        </p:nvSpPr>
        <p:spPr>
          <a:xfrm>
            <a:off x="633127" y="5566878"/>
            <a:ext cx="2140131" cy="626818"/>
          </a:xfrm>
          <a:prstGeom prst="rect">
            <a:avLst/>
          </a:prstGeom>
          <a:solidFill>
            <a:srgbClr val="FFFFFF"/>
          </a:solidFill>
          <a:ln w="12700">
            <a:solidFill>
              <a:srgbClr val="C0CEDE"/>
            </a:solidFill>
            <a:prstDash val="solid"/>
          </a:ln>
        </p:spPr>
        <p:txBody>
          <a:bodyPr anchor="ctr"/>
          <a:lstStyle/>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入稿作業</a:t>
            </a:r>
            <a:endParaRPr lang="en-US" altLang="ja-JP" sz="1200" dirty="0">
              <a:latin typeface="メイリオ" panose="020B0604030504040204" pitchFamily="50" charset="-128"/>
              <a:ea typeface="メイリオ" panose="020B0604030504040204" pitchFamily="50" charset="-128"/>
            </a:endParaRPr>
          </a:p>
        </p:txBody>
      </p:sp>
      <p:sp>
        <p:nvSpPr>
          <p:cNvPr id="29" name="Shape 27"/>
          <p:cNvSpPr/>
          <p:nvPr/>
        </p:nvSpPr>
        <p:spPr>
          <a:xfrm>
            <a:off x="633127" y="5231331"/>
            <a:ext cx="2140131" cy="347472"/>
          </a:xfrm>
          <a:prstGeom prst="rect">
            <a:avLst/>
          </a:prstGeom>
          <a:solidFill>
            <a:srgbClr val="1F3864"/>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MS Gothic" pitchFamily="34" charset="-120"/>
              </a:rPr>
              <a:t>運用サポート</a:t>
            </a:r>
            <a:endParaRPr lang="en-US" altLang="ja-JP" sz="1200" dirty="0">
              <a:latin typeface="メイリオ" panose="020B0604030504040204" pitchFamily="50" charset="-128"/>
              <a:ea typeface="メイリオ" panose="020B0604030504040204" pitchFamily="50" charset="-128"/>
            </a:endParaRPr>
          </a:p>
        </p:txBody>
      </p:sp>
      <p:sp>
        <p:nvSpPr>
          <p:cNvPr id="30" name="Text 28"/>
          <p:cNvSpPr/>
          <p:nvPr/>
        </p:nvSpPr>
        <p:spPr>
          <a:xfrm>
            <a:off x="633128" y="5231331"/>
            <a:ext cx="2140131" cy="347472"/>
          </a:xfrm>
          <a:prstGeom prst="rect">
            <a:avLst/>
          </a:prstGeom>
          <a:noFill/>
          <a:ln/>
        </p:spPr>
        <p:txBody>
          <a:bodyPr wrap="square" lIns="0" tIns="0" rIns="0" bIns="0" rtlCol="0" anchor="ctr"/>
          <a:lstStyle/>
          <a:p>
            <a:pPr marL="0" indent="0" algn="ctr">
              <a:buNone/>
            </a:pPr>
            <a:endParaRPr lang="en-US" sz="1050" dirty="0">
              <a:latin typeface="メイリオ" panose="020B0604030504040204" pitchFamily="50" charset="-128"/>
              <a:ea typeface="メイリオ" panose="020B0604030504040204" pitchFamily="50" charset="-128"/>
            </a:endParaRPr>
          </a:p>
        </p:txBody>
      </p:sp>
      <p:sp>
        <p:nvSpPr>
          <p:cNvPr id="33" name="Shape 31"/>
          <p:cNvSpPr/>
          <p:nvPr/>
        </p:nvSpPr>
        <p:spPr>
          <a:xfrm>
            <a:off x="2921304" y="5532054"/>
            <a:ext cx="2386149" cy="641636"/>
          </a:xfrm>
          <a:prstGeom prst="rect">
            <a:avLst/>
          </a:prstGeom>
          <a:solidFill>
            <a:srgbClr val="FFFFFF"/>
          </a:solidFill>
          <a:ln w="12700">
            <a:solidFill>
              <a:srgbClr val="C0CEDE"/>
            </a:solidFill>
            <a:prstDash val="solid"/>
          </a:ln>
        </p:spPr>
        <p:txBody>
          <a:bodyPr anchor="ct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バナー制作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LP制作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動画制作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p:txBody>
      </p:sp>
      <p:sp>
        <p:nvSpPr>
          <p:cNvPr id="34" name="Shape 32"/>
          <p:cNvSpPr/>
          <p:nvPr/>
        </p:nvSpPr>
        <p:spPr>
          <a:xfrm>
            <a:off x="2921304" y="5221392"/>
            <a:ext cx="2386149" cy="347472"/>
          </a:xfrm>
          <a:prstGeom prst="rect">
            <a:avLst/>
          </a:prstGeom>
          <a:solidFill>
            <a:schemeClr val="bg1">
              <a:lumMod val="65000"/>
            </a:schemeClr>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MS Gothic" pitchFamily="34" charset="-120"/>
              </a:rPr>
              <a:t>制作</a:t>
            </a:r>
            <a:endParaRPr lang="en-US" altLang="ja-JP" sz="1200" dirty="0">
              <a:latin typeface="メイリオ" panose="020B0604030504040204" pitchFamily="50" charset="-128"/>
              <a:ea typeface="メイリオ" panose="020B0604030504040204" pitchFamily="50" charset="-128"/>
            </a:endParaRPr>
          </a:p>
        </p:txBody>
      </p:sp>
      <p:sp>
        <p:nvSpPr>
          <p:cNvPr id="40" name="Shape 38"/>
          <p:cNvSpPr/>
          <p:nvPr/>
        </p:nvSpPr>
        <p:spPr>
          <a:xfrm>
            <a:off x="5740699" y="4097070"/>
            <a:ext cx="3293358" cy="347472"/>
          </a:xfrm>
          <a:prstGeom prst="rect">
            <a:avLst/>
          </a:prstGeom>
          <a:solidFill>
            <a:srgbClr val="8496B8"/>
          </a:solidFill>
          <a:ln w="12700">
            <a:solidFill>
              <a:srgbClr val="8496B8"/>
            </a:solidFill>
            <a:prstDash val="solid"/>
          </a:ln>
        </p:spPr>
        <p:txBody>
          <a:bodyPr anchor="ctr"/>
          <a:lstStyle/>
          <a:p>
            <a:pPr algn="ctr"/>
            <a:r>
              <a:rPr lang="ja-JP" altLang="en-US" sz="1200" dirty="0">
                <a:solidFill>
                  <a:schemeClr val="bg1"/>
                </a:solidFill>
                <a:latin typeface="メイリオ" panose="020B0604030504040204" pitchFamily="50" charset="-128"/>
                <a:ea typeface="メイリオ" panose="020B0604030504040204" pitchFamily="50" charset="-128"/>
              </a:rPr>
              <a:t>媒体担当</a:t>
            </a:r>
          </a:p>
        </p:txBody>
      </p:sp>
      <p:sp>
        <p:nvSpPr>
          <p:cNvPr id="75" name="Shape 20">
            <a:extLst>
              <a:ext uri="{FF2B5EF4-FFF2-40B4-BE49-F238E27FC236}">
                <a16:creationId xmlns:a16="http://schemas.microsoft.com/office/drawing/2014/main" id="{9B35F62E-D565-EC7D-5BED-9E3AD8414C54}"/>
              </a:ext>
            </a:extLst>
          </p:cNvPr>
          <p:cNvSpPr/>
          <p:nvPr/>
        </p:nvSpPr>
        <p:spPr>
          <a:xfrm>
            <a:off x="2930013" y="4391542"/>
            <a:ext cx="2377440" cy="578878"/>
          </a:xfrm>
          <a:prstGeom prst="rect">
            <a:avLst/>
          </a:prstGeom>
          <a:solidFill>
            <a:srgbClr val="FFFFFF"/>
          </a:solidFill>
          <a:ln w="12700">
            <a:solidFill>
              <a:srgbClr val="C0CEDE"/>
            </a:solidFill>
            <a:prstDash val="solid"/>
          </a:ln>
        </p:spPr>
        <p:txBody>
          <a:bodyPr anchor="ctr"/>
          <a:lstStyle/>
          <a:p>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アカウント設計</a:t>
            </a:r>
            <a:r>
              <a:rPr lang="ja-JP" altLang="en-US"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クリエイティブディレクション</a:t>
            </a:r>
            <a:endParaRPr lang="en-US" altLang="ja-JP" sz="1100" dirty="0">
              <a:latin typeface="メイリオ" panose="020B0604030504040204" pitchFamily="50" charset="-128"/>
              <a:ea typeface="メイリオ" panose="020B0604030504040204" pitchFamily="50" charset="-128"/>
            </a:endParaRPr>
          </a:p>
          <a:p>
            <a:endParaRPr lang="en-US" altLang="ja-JP" sz="1100" dirty="0">
              <a:latin typeface="メイリオ" panose="020B0604030504040204" pitchFamily="50" charset="-128"/>
              <a:ea typeface="メイリオ" panose="020B0604030504040204" pitchFamily="50" charset="-128"/>
            </a:endParaRPr>
          </a:p>
          <a:p>
            <a:endParaRPr lang="en-US" altLang="ja-JP" sz="1100" dirty="0">
              <a:latin typeface="メイリオ" panose="020B0604030504040204" pitchFamily="50" charset="-128"/>
              <a:ea typeface="メイリオ" panose="020B0604030504040204" pitchFamily="50" charset="-128"/>
            </a:endParaRPr>
          </a:p>
        </p:txBody>
      </p:sp>
      <p:sp>
        <p:nvSpPr>
          <p:cNvPr id="76" name="Shape 21">
            <a:extLst>
              <a:ext uri="{FF2B5EF4-FFF2-40B4-BE49-F238E27FC236}">
                <a16:creationId xmlns:a16="http://schemas.microsoft.com/office/drawing/2014/main" id="{0A9AF3DD-64DC-1BF0-8119-2924ECA0B69F}"/>
              </a:ext>
            </a:extLst>
          </p:cNvPr>
          <p:cNvSpPr/>
          <p:nvPr/>
        </p:nvSpPr>
        <p:spPr>
          <a:xfrm>
            <a:off x="2930013" y="4059656"/>
            <a:ext cx="2377440" cy="347472"/>
          </a:xfrm>
          <a:prstGeom prst="rect">
            <a:avLst/>
          </a:prstGeom>
          <a:solidFill>
            <a:srgbClr val="FFC000"/>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LINEOA運用</a:t>
            </a:r>
            <a:endParaRPr lang="en-US" altLang="ja-JP" sz="1350" dirty="0">
              <a:latin typeface="メイリオ" panose="020B0604030504040204" pitchFamily="50" charset="-128"/>
              <a:ea typeface="メイリオ" panose="020B0604030504040204" pitchFamily="50" charset="-128"/>
            </a:endParaRPr>
          </a:p>
        </p:txBody>
      </p:sp>
      <p:sp>
        <p:nvSpPr>
          <p:cNvPr id="5" name="Shape 6">
            <a:extLst>
              <a:ext uri="{FF2B5EF4-FFF2-40B4-BE49-F238E27FC236}">
                <a16:creationId xmlns:a16="http://schemas.microsoft.com/office/drawing/2014/main" id="{85CDFD14-B545-2394-79CD-B4BB79EC6A1B}"/>
              </a:ext>
            </a:extLst>
          </p:cNvPr>
          <p:cNvSpPr/>
          <p:nvPr/>
        </p:nvSpPr>
        <p:spPr>
          <a:xfrm>
            <a:off x="5425961" y="3084378"/>
            <a:ext cx="3557928" cy="738321"/>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貴社担当との連絡やり取り全般</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・書</a:t>
            </a:r>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類</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の作成等、事務面までサポート</a:t>
            </a:r>
            <a:endParaRPr lang="en-US" altLang="ja-JP" sz="1200" dirty="0">
              <a:latin typeface="メイリオ" panose="020B0604030504040204" pitchFamily="50" charset="-128"/>
              <a:ea typeface="メイリオ" panose="020B0604030504040204" pitchFamily="50" charset="-128"/>
            </a:endParaRPr>
          </a:p>
        </p:txBody>
      </p:sp>
      <p:sp>
        <p:nvSpPr>
          <p:cNvPr id="7" name="Shape 7">
            <a:extLst>
              <a:ext uri="{FF2B5EF4-FFF2-40B4-BE49-F238E27FC236}">
                <a16:creationId xmlns:a16="http://schemas.microsoft.com/office/drawing/2014/main" id="{DE68CBB6-5454-1932-8D24-8CA86C03FDAF}"/>
              </a:ext>
            </a:extLst>
          </p:cNvPr>
          <p:cNvSpPr/>
          <p:nvPr/>
        </p:nvSpPr>
        <p:spPr>
          <a:xfrm>
            <a:off x="5425961" y="2849521"/>
            <a:ext cx="3557928"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フロント対応（サブ</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endParaRPr lang="en-US" altLang="ja-JP" sz="1350" dirty="0">
              <a:latin typeface="メイリオ" panose="020B0604030504040204" pitchFamily="50" charset="-128"/>
              <a:ea typeface="メイリオ" panose="020B0604030504040204" pitchFamily="50" charset="-128"/>
            </a:endParaRPr>
          </a:p>
        </p:txBody>
      </p:sp>
      <p:sp>
        <p:nvSpPr>
          <p:cNvPr id="20" name="Shape 7"/>
          <p:cNvSpPr/>
          <p:nvPr/>
        </p:nvSpPr>
        <p:spPr>
          <a:xfrm>
            <a:off x="612383" y="2849521"/>
            <a:ext cx="4683034" cy="347472"/>
          </a:xfrm>
          <a:prstGeom prst="rect">
            <a:avLst/>
          </a:prstGeom>
          <a:solidFill>
            <a:schemeClr val="accent1">
              <a:lumMod val="75000"/>
            </a:schemeClr>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広告運用統括・コンサル</a:t>
            </a:r>
            <a:endParaRPr lang="en-US" altLang="ja-JP" sz="1350" dirty="0">
              <a:latin typeface="メイリオ" panose="020B0604030504040204" pitchFamily="50" charset="-128"/>
              <a:ea typeface="メイリオ" panose="020B0604030504040204" pitchFamily="50" charset="-128"/>
            </a:endParaRPr>
          </a:p>
        </p:txBody>
      </p:sp>
      <p:sp>
        <p:nvSpPr>
          <p:cNvPr id="31" name="Shape 6">
            <a:extLst>
              <a:ext uri="{FF2B5EF4-FFF2-40B4-BE49-F238E27FC236}">
                <a16:creationId xmlns:a16="http://schemas.microsoft.com/office/drawing/2014/main" id="{40835ECB-DBED-5389-F67F-16368EB09190}"/>
              </a:ext>
            </a:extLst>
          </p:cNvPr>
          <p:cNvSpPr/>
          <p:nvPr/>
        </p:nvSpPr>
        <p:spPr>
          <a:xfrm>
            <a:off x="548883" y="1995744"/>
            <a:ext cx="8545959" cy="615505"/>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方針決定</a:t>
            </a:r>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・貴社ご担当者様との連絡やり取り全般</a:t>
            </a:r>
            <a:endParaRPr lang="en-US" altLang="ja-JP" sz="1200" dirty="0">
              <a:latin typeface="メイリオ" panose="020B0604030504040204" pitchFamily="50" charset="-128"/>
              <a:ea typeface="メイリオ" panose="020B0604030504040204" pitchFamily="50" charset="-128"/>
            </a:endParaRPr>
          </a:p>
        </p:txBody>
      </p:sp>
      <p:sp>
        <p:nvSpPr>
          <p:cNvPr id="32" name="Shape 7">
            <a:extLst>
              <a:ext uri="{FF2B5EF4-FFF2-40B4-BE49-F238E27FC236}">
                <a16:creationId xmlns:a16="http://schemas.microsoft.com/office/drawing/2014/main" id="{67B490AF-C245-DAC8-B203-E07692B565EF}"/>
              </a:ext>
            </a:extLst>
          </p:cNvPr>
          <p:cNvSpPr/>
          <p:nvPr/>
        </p:nvSpPr>
        <p:spPr>
          <a:xfrm>
            <a:off x="548883" y="1729963"/>
            <a:ext cx="4073917"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フロント対応</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全体統括</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　</a:t>
            </a:r>
            <a:endParaRPr lang="en-US" altLang="ja-JP" sz="1350" dirty="0">
              <a:latin typeface="メイリオ" panose="020B0604030504040204" pitchFamily="50" charset="-128"/>
              <a:ea typeface="メイリオ" panose="020B0604030504040204" pitchFamily="50" charset="-128"/>
            </a:endParaRPr>
          </a:p>
        </p:txBody>
      </p:sp>
      <p:sp>
        <p:nvSpPr>
          <p:cNvPr id="35" name="Shape 38">
            <a:extLst>
              <a:ext uri="{FF2B5EF4-FFF2-40B4-BE49-F238E27FC236}">
                <a16:creationId xmlns:a16="http://schemas.microsoft.com/office/drawing/2014/main" id="{0C1173B9-EECF-693B-9E7D-0C69C5B122BF}"/>
              </a:ext>
            </a:extLst>
          </p:cNvPr>
          <p:cNvSpPr/>
          <p:nvPr/>
        </p:nvSpPr>
        <p:spPr>
          <a:xfrm>
            <a:off x="5740699" y="4509077"/>
            <a:ext cx="3293358" cy="1146893"/>
          </a:xfrm>
          <a:prstGeom prst="rect">
            <a:avLst/>
          </a:prstGeom>
          <a:solidFill>
            <a:schemeClr val="accent1">
              <a:lumMod val="20000"/>
              <a:lumOff val="80000"/>
            </a:schemeClr>
          </a:solidFill>
          <a:ln w="12700">
            <a:solidFill>
              <a:srgbClr val="8496B8"/>
            </a:solidFill>
            <a:prstDash val="solid"/>
          </a:ln>
        </p:spPr>
        <p:txBody>
          <a:bodyPr anchor="ctr"/>
          <a:lstStyle/>
          <a:p>
            <a:pPr algn="ct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36" name="矢印: 下 35">
            <a:extLst>
              <a:ext uri="{FF2B5EF4-FFF2-40B4-BE49-F238E27FC236}">
                <a16:creationId xmlns:a16="http://schemas.microsoft.com/office/drawing/2014/main" id="{7CCB5C34-442B-3398-0780-2D0336E6D4ED}"/>
              </a:ext>
            </a:extLst>
          </p:cNvPr>
          <p:cNvSpPr/>
          <p:nvPr/>
        </p:nvSpPr>
        <p:spPr>
          <a:xfrm>
            <a:off x="1528292" y="3735148"/>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矢印: 下 36">
            <a:extLst>
              <a:ext uri="{FF2B5EF4-FFF2-40B4-BE49-F238E27FC236}">
                <a16:creationId xmlns:a16="http://schemas.microsoft.com/office/drawing/2014/main" id="{F4FC4967-B41B-4444-4ADE-4F30B9156CB8}"/>
              </a:ext>
            </a:extLst>
          </p:cNvPr>
          <p:cNvSpPr/>
          <p:nvPr/>
        </p:nvSpPr>
        <p:spPr>
          <a:xfrm>
            <a:off x="3987378" y="3740258"/>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26" name="Picture 2">
            <a:extLst>
              <a:ext uri="{FF2B5EF4-FFF2-40B4-BE49-F238E27FC236}">
                <a16:creationId xmlns:a16="http://schemas.microsoft.com/office/drawing/2014/main" id="{AC3EAB26-5599-F35D-4523-6C68BD69EF6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49980" y="4692784"/>
            <a:ext cx="570053" cy="37623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ロゴガイドライン｜LINEヤフー for Business">
            <a:extLst>
              <a:ext uri="{FF2B5EF4-FFF2-40B4-BE49-F238E27FC236}">
                <a16:creationId xmlns:a16="http://schemas.microsoft.com/office/drawing/2014/main" id="{CEFB2BC3-422C-45B1-E9EF-4EF91F4D9897}"/>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72902" y="4459743"/>
            <a:ext cx="2357368" cy="855810"/>
          </a:xfrm>
          <a:prstGeom prst="rect">
            <a:avLst/>
          </a:prstGeom>
          <a:noFill/>
          <a:extLst>
            <a:ext uri="{909E8E84-426E-40DD-AFC4-6F175D3DCCD1}">
              <a14:hiddenFill xmlns:a14="http://schemas.microsoft.com/office/drawing/2010/main">
                <a:solidFill>
                  <a:srgbClr val="FFFFFF"/>
                </a:solidFill>
              </a14:hiddenFill>
            </a:ext>
          </a:extLst>
        </p:spPr>
      </p:pic>
      <p:pic>
        <p:nvPicPr>
          <p:cNvPr id="49" name="図 48">
            <a:extLst>
              <a:ext uri="{FF2B5EF4-FFF2-40B4-BE49-F238E27FC236}">
                <a16:creationId xmlns:a16="http://schemas.microsoft.com/office/drawing/2014/main" id="{C827C962-E7C6-7341-785B-5CEA2F163BA9}"/>
              </a:ext>
            </a:extLst>
          </p:cNvPr>
          <p:cNvPicPr>
            <a:picLocks noChangeAspect="1"/>
          </p:cNvPicPr>
          <p:nvPr/>
        </p:nvPicPr>
        <p:blipFill>
          <a:blip r:embed="rId5" cstate="print">
            <a:extLst>
              <a:ext uri="{28A0092B-C50C-407E-A947-70E740481C1C}">
                <a14:useLocalDpi xmlns:a14="http://schemas.microsoft.com/office/drawing/2010/main" val="0"/>
              </a:ext>
            </a:extLst>
          </a:blip>
          <a:srcRect l="10032" t="9688" r="9713" b="9686"/>
          <a:stretch>
            <a:fillRect/>
          </a:stretch>
        </p:blipFill>
        <p:spPr>
          <a:xfrm>
            <a:off x="7294243" y="4673418"/>
            <a:ext cx="411545" cy="413459"/>
          </a:xfrm>
          <a:prstGeom prst="rect">
            <a:avLst/>
          </a:prstGeom>
        </p:spPr>
      </p:pic>
      <p:pic>
        <p:nvPicPr>
          <p:cNvPr id="1034" name="Picture 10" descr="Google ロゴ（グーグル） – ICONLAB（アイコンラボ）">
            <a:extLst>
              <a:ext uri="{FF2B5EF4-FFF2-40B4-BE49-F238E27FC236}">
                <a16:creationId xmlns:a16="http://schemas.microsoft.com/office/drawing/2014/main" id="{EF486F86-4362-411E-58E4-AF8FA89FFB1A}"/>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6916281" y="5170783"/>
            <a:ext cx="1167467" cy="383075"/>
          </a:xfrm>
          <a:prstGeom prst="rect">
            <a:avLst/>
          </a:prstGeom>
          <a:noFill/>
          <a:extLst>
            <a:ext uri="{909E8E84-426E-40DD-AFC4-6F175D3DCCD1}">
              <a14:hiddenFill xmlns:a14="http://schemas.microsoft.com/office/drawing/2010/main">
                <a:solidFill>
                  <a:srgbClr val="FFFFFF"/>
                </a:solidFill>
              </a14:hiddenFill>
            </a:ext>
          </a:extLst>
        </p:spPr>
      </p:pic>
      <p:sp>
        <p:nvSpPr>
          <p:cNvPr id="52" name="AutoShape 16" descr="TikTok Vector Logo - Download Free SVG Icon | Worldvectorlogo">
            <a:extLst>
              <a:ext uri="{FF2B5EF4-FFF2-40B4-BE49-F238E27FC236}">
                <a16:creationId xmlns:a16="http://schemas.microsoft.com/office/drawing/2014/main" id="{FC9F455A-4712-6D98-BB84-88AB6130694C}"/>
              </a:ext>
            </a:extLst>
          </p:cNvPr>
          <p:cNvSpPr>
            <a:spLocks noChangeAspect="1" noChangeArrowheads="1"/>
          </p:cNvSpPr>
          <p:nvPr/>
        </p:nvSpPr>
        <p:spPr bwMode="auto">
          <a:xfrm>
            <a:off x="4800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p>
        </p:txBody>
      </p:sp>
      <p:pic>
        <p:nvPicPr>
          <p:cNvPr id="55" name="グラフィックス 54">
            <a:extLst>
              <a:ext uri="{FF2B5EF4-FFF2-40B4-BE49-F238E27FC236}">
                <a16:creationId xmlns:a16="http://schemas.microsoft.com/office/drawing/2014/main" id="{236DDCA7-2D38-04D7-5FB4-240CFC7457D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915162" y="4592565"/>
            <a:ext cx="431326" cy="494866"/>
          </a:xfrm>
          <a:prstGeom prst="rect">
            <a:avLst/>
          </a:prstGeom>
        </p:spPr>
      </p:pic>
      <p:pic>
        <p:nvPicPr>
          <p:cNvPr id="1042" name="Picture 18" descr="スマートニュースはSNSでも情報を発信しています">
            <a:extLst>
              <a:ext uri="{FF2B5EF4-FFF2-40B4-BE49-F238E27FC236}">
                <a16:creationId xmlns:a16="http://schemas.microsoft.com/office/drawing/2014/main" id="{4F12F3EC-DFC2-4480-39CA-8C4C8AE3C056}"/>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r="70053"/>
          <a:stretch>
            <a:fillRect/>
          </a:stretch>
        </p:blipFill>
        <p:spPr bwMode="auto">
          <a:xfrm>
            <a:off x="8334066" y="4584625"/>
            <a:ext cx="564335" cy="580417"/>
          </a:xfrm>
          <a:prstGeom prst="rect">
            <a:avLst/>
          </a:prstGeom>
          <a:noFill/>
          <a:extLst>
            <a:ext uri="{909E8E84-426E-40DD-AFC4-6F175D3DCCD1}">
              <a14:hiddenFill xmlns:a14="http://schemas.microsoft.com/office/drawing/2010/main">
                <a:solidFill>
                  <a:srgbClr val="FFFFFF"/>
                </a:solidFill>
              </a14:hiddenFill>
            </a:ext>
          </a:extLst>
        </p:spPr>
      </p:pic>
      <p:sp>
        <p:nvSpPr>
          <p:cNvPr id="56" name="矢印: 下 55">
            <a:extLst>
              <a:ext uri="{FF2B5EF4-FFF2-40B4-BE49-F238E27FC236}">
                <a16:creationId xmlns:a16="http://schemas.microsoft.com/office/drawing/2014/main" id="{E75D1A0F-AE27-48A1-23FB-0EB865F9868F}"/>
              </a:ext>
            </a:extLst>
          </p:cNvPr>
          <p:cNvSpPr/>
          <p:nvPr/>
        </p:nvSpPr>
        <p:spPr>
          <a:xfrm>
            <a:off x="2694214" y="2529121"/>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矢印: 下 56">
            <a:extLst>
              <a:ext uri="{FF2B5EF4-FFF2-40B4-BE49-F238E27FC236}">
                <a16:creationId xmlns:a16="http://schemas.microsoft.com/office/drawing/2014/main" id="{45EAB25F-C320-6516-2457-A8EC46BA5759}"/>
              </a:ext>
            </a:extLst>
          </p:cNvPr>
          <p:cNvSpPr/>
          <p:nvPr/>
        </p:nvSpPr>
        <p:spPr>
          <a:xfrm>
            <a:off x="7125416" y="2500315"/>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矢印: 下 57">
            <a:extLst>
              <a:ext uri="{FF2B5EF4-FFF2-40B4-BE49-F238E27FC236}">
                <a16:creationId xmlns:a16="http://schemas.microsoft.com/office/drawing/2014/main" id="{D4C3E4FB-FBBD-F807-4224-633D3437041D}"/>
              </a:ext>
            </a:extLst>
          </p:cNvPr>
          <p:cNvSpPr/>
          <p:nvPr/>
        </p:nvSpPr>
        <p:spPr>
          <a:xfrm>
            <a:off x="7077925" y="3692382"/>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矢印: 下 58">
            <a:extLst>
              <a:ext uri="{FF2B5EF4-FFF2-40B4-BE49-F238E27FC236}">
                <a16:creationId xmlns:a16="http://schemas.microsoft.com/office/drawing/2014/main" id="{101128B9-99D7-A912-7FA8-A54843D9D245}"/>
              </a:ext>
            </a:extLst>
          </p:cNvPr>
          <p:cNvSpPr/>
          <p:nvPr/>
        </p:nvSpPr>
        <p:spPr>
          <a:xfrm>
            <a:off x="1531548" y="4943191"/>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下 59">
            <a:extLst>
              <a:ext uri="{FF2B5EF4-FFF2-40B4-BE49-F238E27FC236}">
                <a16:creationId xmlns:a16="http://schemas.microsoft.com/office/drawing/2014/main" id="{98D6B609-F1DC-B6C8-DC56-54C22972DE71}"/>
              </a:ext>
            </a:extLst>
          </p:cNvPr>
          <p:cNvSpPr/>
          <p:nvPr/>
        </p:nvSpPr>
        <p:spPr>
          <a:xfrm>
            <a:off x="3985192" y="4946879"/>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1" name="矢印: 下 60">
            <a:extLst>
              <a:ext uri="{FF2B5EF4-FFF2-40B4-BE49-F238E27FC236}">
                <a16:creationId xmlns:a16="http://schemas.microsoft.com/office/drawing/2014/main" id="{CBA9CA06-6F9A-2C27-90F1-49EDB667ED05}"/>
              </a:ext>
            </a:extLst>
          </p:cNvPr>
          <p:cNvSpPr/>
          <p:nvPr/>
        </p:nvSpPr>
        <p:spPr>
          <a:xfrm rot="17888006">
            <a:off x="5384120" y="4622183"/>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下 61">
            <a:extLst>
              <a:ext uri="{FF2B5EF4-FFF2-40B4-BE49-F238E27FC236}">
                <a16:creationId xmlns:a16="http://schemas.microsoft.com/office/drawing/2014/main" id="{50FA0F8D-4B66-B543-827F-E62BB2D7A5C7}"/>
              </a:ext>
            </a:extLst>
          </p:cNvPr>
          <p:cNvSpPr/>
          <p:nvPr/>
        </p:nvSpPr>
        <p:spPr>
          <a:xfrm rot="7261747">
            <a:off x="5310324" y="4360130"/>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54400245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運用スケジュール</a:t>
            </a:r>
            <a:endParaRPr sz="1600" b="1" dirty="0">
              <a:solidFill>
                <a:srgbClr val="002060"/>
              </a:solidFill>
              <a:latin typeface="Meiryo"/>
              <a:ea typeface="Meiryo"/>
              <a:cs typeface="Meiryo"/>
              <a:sym typeface="Meiryo"/>
            </a:endParaRPr>
          </a:p>
        </p:txBody>
      </p:sp>
      <p:sp>
        <p:nvSpPr>
          <p:cNvPr id="28" name="角丸四角形 27"/>
          <p:cNvSpPr/>
          <p:nvPr/>
        </p:nvSpPr>
        <p:spPr>
          <a:xfrm>
            <a:off x="910833" y="19940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STEP1</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29" name="角丸四角形 28"/>
          <p:cNvSpPr/>
          <p:nvPr/>
        </p:nvSpPr>
        <p:spPr>
          <a:xfrm>
            <a:off x="910833" y="353713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STEP3</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1" name="角丸四角形 30"/>
          <p:cNvSpPr/>
          <p:nvPr/>
        </p:nvSpPr>
        <p:spPr>
          <a:xfrm>
            <a:off x="910833" y="276560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STEP2</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2" name="角丸四角形 31"/>
          <p:cNvSpPr/>
          <p:nvPr/>
        </p:nvSpPr>
        <p:spPr>
          <a:xfrm>
            <a:off x="910833" y="430865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STEP4</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3" name="角丸四角形 32"/>
          <p:cNvSpPr/>
          <p:nvPr/>
        </p:nvSpPr>
        <p:spPr>
          <a:xfrm>
            <a:off x="910833" y="50801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STEP5</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2" name="正方形/長方形 1"/>
          <p:cNvSpPr/>
          <p:nvPr/>
        </p:nvSpPr>
        <p:spPr>
          <a:xfrm>
            <a:off x="4600923" y="2266950"/>
            <a:ext cx="1638300" cy="391649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角丸四角形 39"/>
          <p:cNvSpPr/>
          <p:nvPr/>
        </p:nvSpPr>
        <p:spPr>
          <a:xfrm>
            <a:off x="3133924" y="19940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rPr>
              <a:t>お申込み（書類締結）</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endParaRPr>
          </a:p>
        </p:txBody>
      </p:sp>
      <p:sp>
        <p:nvSpPr>
          <p:cNvPr id="41" name="角丸四角形 40"/>
          <p:cNvSpPr/>
          <p:nvPr/>
        </p:nvSpPr>
        <p:spPr>
          <a:xfrm>
            <a:off x="3133924" y="353713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連携の設定 </a:t>
            </a:r>
            <a:r>
              <a:rPr kumimoji="1" lang="en-US" altLang="ja-JP" dirty="0">
                <a:solidFill>
                  <a:schemeClr val="bg1">
                    <a:lumMod val="50000"/>
                  </a:schemeClr>
                </a:solidFill>
                <a:latin typeface="メイリオ" panose="020B0604030504040204" pitchFamily="50" charset="-128"/>
                <a:ea typeface="メイリオ" panose="020B0604030504040204" pitchFamily="50" charset="-128"/>
              </a:rPr>
              <a:t>/ </a:t>
            </a: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タグ確認</a:t>
            </a:r>
          </a:p>
        </p:txBody>
      </p:sp>
      <p:sp>
        <p:nvSpPr>
          <p:cNvPr id="42" name="角丸四角形 41"/>
          <p:cNvSpPr/>
          <p:nvPr/>
        </p:nvSpPr>
        <p:spPr>
          <a:xfrm>
            <a:off x="3133924" y="276560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キックオフ</a:t>
            </a:r>
            <a:r>
              <a:rPr kumimoji="1" lang="en-US" altLang="ja-JP" dirty="0">
                <a:solidFill>
                  <a:schemeClr val="bg1">
                    <a:lumMod val="50000"/>
                  </a:schemeClr>
                </a:solidFill>
                <a:latin typeface="メイリオ" panose="020B0604030504040204" pitchFamily="50" charset="-128"/>
                <a:ea typeface="メイリオ" panose="020B0604030504040204" pitchFamily="50" charset="-128"/>
              </a:rPr>
              <a:t>MTG</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endParaRPr>
          </a:p>
        </p:txBody>
      </p:sp>
      <p:sp>
        <p:nvSpPr>
          <p:cNvPr id="44" name="角丸四角形 43"/>
          <p:cNvSpPr/>
          <p:nvPr/>
        </p:nvSpPr>
        <p:spPr>
          <a:xfrm>
            <a:off x="3133924" y="430865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rPr>
              <a:t>初期設計の構築</a:t>
            </a:r>
          </a:p>
        </p:txBody>
      </p:sp>
      <p:sp>
        <p:nvSpPr>
          <p:cNvPr id="45" name="角丸四角形 44"/>
          <p:cNvSpPr/>
          <p:nvPr/>
        </p:nvSpPr>
        <p:spPr>
          <a:xfrm>
            <a:off x="3133924" y="50801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運用開始</a:t>
            </a:r>
          </a:p>
        </p:txBody>
      </p:sp>
      <p:sp>
        <p:nvSpPr>
          <p:cNvPr id="19" name="正方形/長方形 18"/>
          <p:cNvSpPr/>
          <p:nvPr/>
        </p:nvSpPr>
        <p:spPr>
          <a:xfrm>
            <a:off x="548883" y="1033120"/>
            <a:ext cx="8921032" cy="461665"/>
          </a:xfrm>
          <a:prstGeom prst="rect">
            <a:avLst/>
          </a:prstGeom>
        </p:spPr>
        <p:txBody>
          <a:bodyPr wrap="none">
            <a:spAutoFit/>
          </a:bodyPr>
          <a:lstStyle/>
          <a:p>
            <a:r>
              <a:rPr lang="ja-JP" altLang="en-US" sz="2400" dirty="0">
                <a:latin typeface="メイリオ" panose="020B0604030504040204" pitchFamily="50" charset="-128"/>
                <a:ea typeface="メイリオ" panose="020B0604030504040204" pitchFamily="50" charset="-128"/>
              </a:rPr>
              <a:t>サイト</a:t>
            </a:r>
            <a:r>
              <a:rPr lang="en-US" altLang="ja-JP" sz="2400" dirty="0">
                <a:latin typeface="メイリオ" panose="020B0604030504040204" pitchFamily="50" charset="-128"/>
                <a:ea typeface="メイリオ" panose="020B0604030504040204" pitchFamily="50" charset="-128"/>
              </a:rPr>
              <a:t>/LINE</a:t>
            </a:r>
            <a:r>
              <a:rPr lang="ja-JP" altLang="en-US" sz="2400" dirty="0">
                <a:latin typeface="メイリオ" panose="020B0604030504040204" pitchFamily="50" charset="-128"/>
                <a:ea typeface="メイリオ" panose="020B0604030504040204" pitchFamily="50" charset="-128"/>
              </a:rPr>
              <a:t>上への実装については、約</a:t>
            </a:r>
            <a:r>
              <a:rPr lang="en-US" altLang="ja-JP" sz="2400" dirty="0">
                <a:latin typeface="メイリオ" panose="020B0604030504040204" pitchFamily="50" charset="-128"/>
                <a:ea typeface="メイリオ" panose="020B0604030504040204" pitchFamily="50" charset="-128"/>
              </a:rPr>
              <a:t>1</a:t>
            </a:r>
            <a:r>
              <a:rPr lang="ja-JP" altLang="en-US" sz="2400" dirty="0">
                <a:latin typeface="メイリオ" panose="020B0604030504040204" pitchFamily="50" charset="-128"/>
                <a:ea typeface="メイリオ" panose="020B0604030504040204" pitchFamily="50" charset="-128"/>
              </a:rPr>
              <a:t>か月程度を頂き進行。</a:t>
            </a:r>
            <a:endParaRPr lang="ja-JP" altLang="en-US" sz="2400" dirty="0"/>
          </a:p>
        </p:txBody>
      </p:sp>
      <p:sp>
        <p:nvSpPr>
          <p:cNvPr id="20" name="正方形/長方形 19"/>
          <p:cNvSpPr/>
          <p:nvPr/>
        </p:nvSpPr>
        <p:spPr>
          <a:xfrm>
            <a:off x="4708989" y="5841409"/>
            <a:ext cx="4955203" cy="276999"/>
          </a:xfrm>
          <a:prstGeom prst="rect">
            <a:avLst/>
          </a:prstGeom>
        </p:spPr>
        <p:txBody>
          <a:bodyPr wrap="none">
            <a:spAutoFit/>
          </a:bodyPr>
          <a:lstStyle/>
          <a:p>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貴社作業・確認にかかる時間により前後する可能性がございます。</a:t>
            </a:r>
          </a:p>
        </p:txBody>
      </p:sp>
      <p:cxnSp>
        <p:nvCxnSpPr>
          <p:cNvPr id="21" name="直線矢印コネクタ 20"/>
          <p:cNvCxnSpPr/>
          <p:nvPr/>
        </p:nvCxnSpPr>
        <p:spPr>
          <a:xfrm>
            <a:off x="6985106" y="2256762"/>
            <a:ext cx="0" cy="3086100"/>
          </a:xfrm>
          <a:prstGeom prst="straightConnector1">
            <a:avLst/>
          </a:prstGeom>
          <a:ln w="38100">
            <a:solidFill>
              <a:schemeClr val="tx1">
                <a:lumMod val="75000"/>
                <a:lumOff val="2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2" name="正方形/長方形 21"/>
          <p:cNvSpPr/>
          <p:nvPr/>
        </p:nvSpPr>
        <p:spPr>
          <a:xfrm>
            <a:off x="7042256" y="2130871"/>
            <a:ext cx="742511" cy="276999"/>
          </a:xfrm>
          <a:prstGeom prst="rect">
            <a:avLst/>
          </a:prstGeom>
          <a:solidFill>
            <a:schemeClr val="accent1">
              <a:lumMod val="20000"/>
              <a:lumOff val="80000"/>
            </a:schemeClr>
          </a:solidFill>
        </p:spPr>
        <p:txBody>
          <a:bodyPr wrap="none">
            <a:spAutoFit/>
          </a:bodyPr>
          <a:lstStyle/>
          <a:p>
            <a:r>
              <a:rPr lang="ja-JP" altLang="en-US" sz="1200" dirty="0">
                <a:latin typeface="メイリオ" panose="020B0604030504040204" pitchFamily="50" charset="-128"/>
                <a:ea typeface="メイリオ" panose="020B0604030504040204" pitchFamily="50" charset="-128"/>
              </a:rPr>
              <a:t>約</a:t>
            </a:r>
            <a:r>
              <a:rPr lang="en-US" altLang="ja-JP" sz="1200" dirty="0">
                <a:latin typeface="メイリオ" panose="020B0604030504040204" pitchFamily="50" charset="-128"/>
                <a:ea typeface="メイリオ" panose="020B0604030504040204" pitchFamily="50" charset="-128"/>
              </a:rPr>
              <a:t>1</a:t>
            </a:r>
            <a:r>
              <a:rPr lang="ja-JP" altLang="en-US" sz="1200" dirty="0">
                <a:latin typeface="メイリオ" panose="020B0604030504040204" pitchFamily="50" charset="-128"/>
                <a:ea typeface="メイリオ" panose="020B0604030504040204" pitchFamily="50" charset="-128"/>
              </a:rPr>
              <a:t>か月</a:t>
            </a:r>
            <a:endParaRPr lang="ja-JP" altLang="en-US" sz="1200" dirty="0"/>
          </a:p>
        </p:txBody>
      </p:sp>
      <p:sp>
        <p:nvSpPr>
          <p:cNvPr id="3" name="正方形/長方形 2"/>
          <p:cNvSpPr/>
          <p:nvPr/>
        </p:nvSpPr>
        <p:spPr>
          <a:xfrm>
            <a:off x="7902506" y="3514209"/>
            <a:ext cx="1415772"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オーディエンスリスト作成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タグ設定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GA</a:t>
            </a:r>
            <a:r>
              <a:rPr lang="ja-JP" altLang="en-US" sz="800" dirty="0">
                <a:solidFill>
                  <a:schemeClr val="bg1">
                    <a:lumMod val="50000"/>
                  </a:schemeClr>
                </a:solidFill>
                <a:latin typeface="メイリオ" panose="020B0604030504040204" pitchFamily="50" charset="-128"/>
                <a:ea typeface="メイリオ" panose="020B0604030504040204" pitchFamily="50" charset="-128"/>
              </a:rPr>
              <a:t>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etc...</a:t>
            </a:r>
          </a:p>
        </p:txBody>
      </p:sp>
      <p:sp>
        <p:nvSpPr>
          <p:cNvPr id="24" name="正方形/長方形 23"/>
          <p:cNvSpPr/>
          <p:nvPr/>
        </p:nvSpPr>
        <p:spPr>
          <a:xfrm>
            <a:off x="7897281" y="4276528"/>
            <a:ext cx="1107996"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rPr>
              <a:t>リッチメニュー作成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アンケート設計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シナリオ設計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etc...</a:t>
            </a:r>
          </a:p>
        </p:txBody>
      </p:sp>
    </p:spTree>
    <p:extLst>
      <p:ext uri="{BB962C8B-B14F-4D97-AF65-F5344CB8AC3E}">
        <p14:creationId xmlns:p14="http://schemas.microsoft.com/office/powerpoint/2010/main" val="212143481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E9651-D02B-F1D5-7974-8EFB42339FA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0D14D38F-F567-ACF2-CDEB-76004FDB5B5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636C1E2A-AC35-76CA-EBEE-CAD4F26CF45A}"/>
              </a:ext>
            </a:extLst>
          </p:cNvPr>
          <p:cNvSpPr/>
          <p:nvPr/>
        </p:nvSpPr>
        <p:spPr>
          <a:xfrm>
            <a:off x="1460711" y="3038203"/>
            <a:ext cx="6984604" cy="584775"/>
          </a:xfrm>
          <a:prstGeom prst="rect">
            <a:avLst/>
          </a:prstGeom>
        </p:spPr>
        <p:txBody>
          <a:bodyPr wrap="none">
            <a:spAutoFit/>
          </a:bodyPr>
          <a:lstStyle/>
          <a:p>
            <a:pPr algn="ctr"/>
            <a:r>
              <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LINE公式アカウント運用のメリットと改善モデル</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70954333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正方形/長方形 7">
            <a:extLst>
              <a:ext uri="{FF2B5EF4-FFF2-40B4-BE49-F238E27FC236}">
                <a16:creationId xmlns:a16="http://schemas.microsoft.com/office/drawing/2014/main" id="{BCB9F207-E933-48A8-A62B-47A12C4BFADB}"/>
              </a:ext>
            </a:extLst>
          </p:cNvPr>
          <p:cNvSpPr/>
          <p:nvPr/>
        </p:nvSpPr>
        <p:spPr>
          <a:xfrm>
            <a:off x="788963" y="824934"/>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ユーザーコミュニケーションに、</a:t>
            </a:r>
            <a:r>
              <a:rPr lang="en-US" altLang="ja-JP" sz="1400" dirty="0" err="1">
                <a:solidFill>
                  <a:srgbClr val="343434"/>
                </a:solidFill>
                <a:latin typeface="メイリオ" panose="020B0604030504040204" pitchFamily="50" charset="-128"/>
                <a:ea typeface="メイリオ" panose="020B0604030504040204" pitchFamily="50" charset="-128"/>
              </a:rPr>
              <a:t>LINE公式アカウントを導入する</a:t>
            </a:r>
            <a:r>
              <a:rPr lang="ja-JP" altLang="en-US" sz="1400" dirty="0">
                <a:solidFill>
                  <a:srgbClr val="343434"/>
                </a:solidFill>
                <a:latin typeface="メイリオ" panose="020B0604030504040204" pitchFamily="50" charset="-128"/>
                <a:ea typeface="メイリオ" panose="020B0604030504040204" pitchFamily="50" charset="-128"/>
              </a:rPr>
              <a:t>法人</a:t>
            </a:r>
            <a:r>
              <a:rPr lang="en-US" altLang="ja-JP" sz="1400" dirty="0">
                <a:solidFill>
                  <a:srgbClr val="343434"/>
                </a:solidFill>
                <a:latin typeface="メイリオ" panose="020B0604030504040204" pitchFamily="50" charset="-128"/>
                <a:ea typeface="メイリオ" panose="020B0604030504040204" pitchFamily="50" charset="-128"/>
              </a:rPr>
              <a:t>が</a:t>
            </a:r>
            <a:r>
              <a:rPr lang="ja-JP" altLang="en-US" sz="1400" dirty="0">
                <a:solidFill>
                  <a:srgbClr val="343434"/>
                </a:solidFill>
                <a:latin typeface="メイリオ" panose="020B0604030504040204" pitchFamily="50" charset="-128"/>
                <a:ea typeface="メイリオ" panose="020B0604030504040204" pitchFamily="50" charset="-128"/>
              </a:rPr>
              <a:t>増加傾向</a:t>
            </a:r>
            <a:r>
              <a:rPr lang="en-US" altLang="ja-JP" sz="1400" dirty="0">
                <a:solidFill>
                  <a:srgbClr val="343434"/>
                </a:solidFill>
                <a:latin typeface="メイリオ" panose="020B0604030504040204" pitchFamily="50" charset="-128"/>
                <a:ea typeface="メイリオ" panose="020B0604030504040204" pitchFamily="50" charset="-128"/>
              </a:rPr>
              <a:t>。</a:t>
            </a:r>
          </a:p>
          <a:p>
            <a:pPr algn="ctr">
              <a:lnSpc>
                <a:spcPts val="2455"/>
              </a:lnSpc>
            </a:pPr>
            <a:r>
              <a:rPr lang="en-US" altLang="ja-JP" sz="1400" b="1" dirty="0">
                <a:solidFill>
                  <a:srgbClr val="343434"/>
                </a:solidFill>
                <a:latin typeface="メイリオ" panose="020B0604030504040204" pitchFamily="50" charset="-128"/>
                <a:ea typeface="メイリオ" panose="020B0604030504040204" pitchFamily="50" charset="-128"/>
              </a:rPr>
              <a:t>開封率に関してはメールマガジンの6倍を誇る</a:t>
            </a:r>
            <a:r>
              <a:rPr lang="en-US" altLang="ja-JP" sz="1400" dirty="0">
                <a:solidFill>
                  <a:srgbClr val="343434"/>
                </a:solidFill>
                <a:latin typeface="メイリオ" panose="020B0604030504040204" pitchFamily="50" charset="-128"/>
                <a:ea typeface="メイリオ" panose="020B0604030504040204" pitchFamily="50" charset="-128"/>
              </a:rPr>
              <a:t>と言われています。</a:t>
            </a:r>
          </a:p>
        </p:txBody>
      </p:sp>
      <p:cxnSp>
        <p:nvCxnSpPr>
          <p:cNvPr id="9" name="直線コネクタ 8">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10" name="Group 2">
            <a:extLst>
              <a:ext uri="{FF2B5EF4-FFF2-40B4-BE49-F238E27FC236}">
                <a16:creationId xmlns:a16="http://schemas.microsoft.com/office/drawing/2014/main" id="{8411FB04-4378-9C1F-7198-DA25276CF8E2}"/>
              </a:ext>
            </a:extLst>
          </p:cNvPr>
          <p:cNvGrpSpPr/>
          <p:nvPr/>
        </p:nvGrpSpPr>
        <p:grpSpPr>
          <a:xfrm>
            <a:off x="788963" y="1653447"/>
            <a:ext cx="8366061" cy="731867"/>
            <a:chOff x="0" y="0"/>
            <a:chExt cx="3130995" cy="273901"/>
          </a:xfrm>
        </p:grpSpPr>
        <p:sp>
          <p:nvSpPr>
            <p:cNvPr id="11" name="Freeform 3">
              <a:extLst>
                <a:ext uri="{FF2B5EF4-FFF2-40B4-BE49-F238E27FC236}">
                  <a16:creationId xmlns:a16="http://schemas.microsoft.com/office/drawing/2014/main" id="{DA30BE06-7392-13FD-69EB-48890255A158}"/>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12" name="TextBox 4">
              <a:extLst>
                <a:ext uri="{FF2B5EF4-FFF2-40B4-BE49-F238E27FC236}">
                  <a16:creationId xmlns:a16="http://schemas.microsoft.com/office/drawing/2014/main" id="{C283FFE9-487F-ECFB-11D7-47B424A23DE5}"/>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dirty="0">
                  <a:solidFill>
                    <a:srgbClr val="040606"/>
                  </a:solidFill>
                  <a:latin typeface="メイリオ" panose="020B0604030504040204" pitchFamily="50" charset="-128"/>
                  <a:ea typeface="メイリオ" panose="020B0604030504040204" pitchFamily="50" charset="-128"/>
                </a:rPr>
                <a:t>　　　　</a:t>
              </a:r>
              <a:r>
                <a:rPr lang="en-US" sz="1400" dirty="0" err="1">
                  <a:solidFill>
                    <a:srgbClr val="040606"/>
                  </a:solidFill>
                  <a:latin typeface="メイリオ" panose="020B0604030504040204" pitchFamily="50" charset="-128"/>
                  <a:ea typeface="メイリオ" panose="020B0604030504040204" pitchFamily="50" charset="-128"/>
                </a:rPr>
                <a:t>メールマガジン</a:t>
              </a:r>
              <a:r>
                <a:rPr lang="ja-JP" altLang="en-US" sz="1400" dirty="0" err="1">
                  <a:solidFill>
                    <a:srgbClr val="040606"/>
                  </a:solidFill>
                  <a:latin typeface="メイリオ" panose="020B0604030504040204" pitchFamily="50" charset="-128"/>
                  <a:ea typeface="メイリオ" panose="020B0604030504040204" pitchFamily="50" charset="-128"/>
                </a:rPr>
                <a:t>、</a:t>
              </a:r>
              <a:r>
                <a:rPr lang="ja-JP" altLang="en-US" sz="1400" dirty="0">
                  <a:solidFill>
                    <a:srgbClr val="040606"/>
                  </a:solidFill>
                  <a:latin typeface="メイリオ" panose="020B0604030504040204" pitchFamily="50" charset="-128"/>
                  <a:ea typeface="メイリオ" panose="020B0604030504040204" pitchFamily="50" charset="-128"/>
                </a:rPr>
                <a:t>テレマーケティング </a:t>
              </a:r>
              <a:r>
                <a:rPr lang="en-US" sz="1400" dirty="0" err="1">
                  <a:solidFill>
                    <a:srgbClr val="040606"/>
                  </a:solidFill>
                  <a:latin typeface="メイリオ" panose="020B0604030504040204" pitchFamily="50" charset="-128"/>
                  <a:ea typeface="メイリオ" panose="020B0604030504040204" pitchFamily="50" charset="-128"/>
                </a:rPr>
                <a:t>が主流</a:t>
              </a:r>
              <a:endParaRPr lang="en-US" sz="1400" dirty="0">
                <a:solidFill>
                  <a:srgbClr val="040606"/>
                </a:solidFill>
                <a:latin typeface="メイリオ" panose="020B0604030504040204" pitchFamily="50" charset="-128"/>
                <a:ea typeface="メイリオ" panose="020B0604030504040204" pitchFamily="50" charset="-128"/>
              </a:endParaRPr>
            </a:p>
          </p:txBody>
        </p:sp>
      </p:grpSp>
      <p:sp>
        <p:nvSpPr>
          <p:cNvPr id="13" name="Freeform 5">
            <a:extLst>
              <a:ext uri="{FF2B5EF4-FFF2-40B4-BE49-F238E27FC236}">
                <a16:creationId xmlns:a16="http://schemas.microsoft.com/office/drawing/2014/main" id="{92B274FD-6C4B-BF09-92C7-B918BFE86EBE}"/>
              </a:ext>
            </a:extLst>
          </p:cNvPr>
          <p:cNvSpPr/>
          <p:nvPr/>
        </p:nvSpPr>
        <p:spPr>
          <a:xfrm>
            <a:off x="1044952" y="1864063"/>
            <a:ext cx="586512" cy="415690"/>
          </a:xfrm>
          <a:custGeom>
            <a:avLst/>
            <a:gdLst/>
            <a:ahLst/>
            <a:cxnLst/>
            <a:rect l="l" t="t" r="r" b="b"/>
            <a:pathLst>
              <a:path w="586512" h="415690">
                <a:moveTo>
                  <a:pt x="0" y="0"/>
                </a:moveTo>
                <a:lnTo>
                  <a:pt x="586512" y="0"/>
                </a:lnTo>
                <a:lnTo>
                  <a:pt x="586512" y="415691"/>
                </a:lnTo>
                <a:lnTo>
                  <a:pt x="0" y="415691"/>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sp>
        <p:nvSpPr>
          <p:cNvPr id="14" name="Freeform 6">
            <a:extLst>
              <a:ext uri="{FF2B5EF4-FFF2-40B4-BE49-F238E27FC236}">
                <a16:creationId xmlns:a16="http://schemas.microsoft.com/office/drawing/2014/main" id="{BE4175CE-3408-B9E2-6CB8-BAD8904A8563}"/>
              </a:ext>
            </a:extLst>
          </p:cNvPr>
          <p:cNvSpPr/>
          <p:nvPr/>
        </p:nvSpPr>
        <p:spPr>
          <a:xfrm>
            <a:off x="1828420" y="1769085"/>
            <a:ext cx="385149" cy="302824"/>
          </a:xfrm>
          <a:custGeom>
            <a:avLst/>
            <a:gdLst/>
            <a:ahLst/>
            <a:cxnLst/>
            <a:rect l="l" t="t" r="r" b="b"/>
            <a:pathLst>
              <a:path w="385149" h="302824">
                <a:moveTo>
                  <a:pt x="0" y="0"/>
                </a:moveTo>
                <a:lnTo>
                  <a:pt x="385150" y="0"/>
                </a:lnTo>
                <a:lnTo>
                  <a:pt x="385150" y="302824"/>
                </a:lnTo>
                <a:lnTo>
                  <a:pt x="0" y="302824"/>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grpSp>
        <p:nvGrpSpPr>
          <p:cNvPr id="15" name="Group 7">
            <a:extLst>
              <a:ext uri="{FF2B5EF4-FFF2-40B4-BE49-F238E27FC236}">
                <a16:creationId xmlns:a16="http://schemas.microsoft.com/office/drawing/2014/main" id="{0D673740-D652-7CA2-D522-30AA6E6BB082}"/>
              </a:ext>
            </a:extLst>
          </p:cNvPr>
          <p:cNvGrpSpPr/>
          <p:nvPr/>
        </p:nvGrpSpPr>
        <p:grpSpPr>
          <a:xfrm>
            <a:off x="4762596" y="2450266"/>
            <a:ext cx="418793" cy="197815"/>
            <a:chOff x="0" y="0"/>
            <a:chExt cx="812800" cy="383922"/>
          </a:xfrm>
        </p:grpSpPr>
        <p:sp>
          <p:nvSpPr>
            <p:cNvPr id="16" name="Freeform 8">
              <a:extLst>
                <a:ext uri="{FF2B5EF4-FFF2-40B4-BE49-F238E27FC236}">
                  <a16:creationId xmlns:a16="http://schemas.microsoft.com/office/drawing/2014/main" id="{EC35FB35-F0A3-935B-D05E-B8D1AE53C824}"/>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17" name="TextBox 9">
              <a:extLst>
                <a:ext uri="{FF2B5EF4-FFF2-40B4-BE49-F238E27FC236}">
                  <a16:creationId xmlns:a16="http://schemas.microsoft.com/office/drawing/2014/main" id="{C69E28B5-A3A4-36F5-01DB-CB6A9BEF984F}"/>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a:latin typeface="メイリオ" panose="020B0604030504040204" pitchFamily="50" charset="-128"/>
                <a:ea typeface="メイリオ" panose="020B0604030504040204" pitchFamily="50" charset="-128"/>
              </a:endParaRPr>
            </a:p>
          </p:txBody>
        </p:sp>
      </p:grpSp>
      <p:grpSp>
        <p:nvGrpSpPr>
          <p:cNvPr id="18" name="Group 10">
            <a:extLst>
              <a:ext uri="{FF2B5EF4-FFF2-40B4-BE49-F238E27FC236}">
                <a16:creationId xmlns:a16="http://schemas.microsoft.com/office/drawing/2014/main" id="{2D0D8876-267F-8994-0640-F07758F8E631}"/>
              </a:ext>
            </a:extLst>
          </p:cNvPr>
          <p:cNvGrpSpPr/>
          <p:nvPr/>
        </p:nvGrpSpPr>
        <p:grpSpPr>
          <a:xfrm>
            <a:off x="788963" y="2722429"/>
            <a:ext cx="8366061" cy="731867"/>
            <a:chOff x="0" y="0"/>
            <a:chExt cx="3130995" cy="273901"/>
          </a:xfrm>
        </p:grpSpPr>
        <p:sp>
          <p:nvSpPr>
            <p:cNvPr id="19" name="Freeform 11">
              <a:extLst>
                <a:ext uri="{FF2B5EF4-FFF2-40B4-BE49-F238E27FC236}">
                  <a16:creationId xmlns:a16="http://schemas.microsoft.com/office/drawing/2014/main" id="{C5CB9F64-A605-7D94-6D58-E12CBE069A72}"/>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0" name="TextBox 12">
              <a:extLst>
                <a:ext uri="{FF2B5EF4-FFF2-40B4-BE49-F238E27FC236}">
                  <a16:creationId xmlns:a16="http://schemas.microsoft.com/office/drawing/2014/main" id="{8175F01D-919F-5A71-EF4D-6A5F56166D72}"/>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b="1" dirty="0">
                  <a:solidFill>
                    <a:srgbClr val="00B900"/>
                  </a:solidFill>
                  <a:latin typeface="メイリオ" panose="020B0604030504040204" pitchFamily="50" charset="-128"/>
                  <a:ea typeface="メイリオ" panose="020B0604030504040204" pitchFamily="50" charset="-128"/>
                </a:rPr>
                <a:t>　　　　＋</a:t>
              </a:r>
              <a:r>
                <a:rPr lang="en-US" sz="1400" b="1" dirty="0">
                  <a:solidFill>
                    <a:srgbClr val="00B900"/>
                  </a:solidFill>
                  <a:latin typeface="メイリオ" panose="020B0604030504040204" pitchFamily="50" charset="-128"/>
                  <a:ea typeface="メイリオ" panose="020B0604030504040204" pitchFamily="50" charset="-128"/>
                </a:rPr>
                <a:t>LINE</a:t>
              </a:r>
              <a:r>
                <a:rPr lang="ja-JP" altLang="en-US" sz="1400" b="1" dirty="0">
                  <a:solidFill>
                    <a:srgbClr val="00B900"/>
                  </a:solidFill>
                  <a:latin typeface="メイリオ" panose="020B0604030504040204" pitchFamily="50" charset="-128"/>
                  <a:ea typeface="メイリオ" panose="020B0604030504040204" pitchFamily="50" charset="-128"/>
                </a:rPr>
                <a:t>公式アカウント</a:t>
              </a:r>
              <a:r>
                <a:rPr lang="en-US" sz="1400" b="1" dirty="0">
                  <a:solidFill>
                    <a:srgbClr val="00B900"/>
                  </a:solidFill>
                  <a:latin typeface="メイリオ" panose="020B0604030504040204" pitchFamily="50" charset="-128"/>
                  <a:ea typeface="メイリオ" panose="020B0604030504040204" pitchFamily="50" charset="-128"/>
                </a:rPr>
                <a:t> </a:t>
              </a:r>
              <a:r>
                <a:rPr lang="en-US" sz="1400" dirty="0" err="1">
                  <a:solidFill>
                    <a:srgbClr val="00B900"/>
                  </a:solidFill>
                  <a:latin typeface="メイリオ" panose="020B0604030504040204" pitchFamily="50" charset="-128"/>
                  <a:ea typeface="メイリオ" panose="020B0604030504040204" pitchFamily="50" charset="-128"/>
                </a:rPr>
                <a:t>が主流</a:t>
              </a:r>
              <a:endParaRPr lang="en-US" sz="1400" dirty="0">
                <a:solidFill>
                  <a:srgbClr val="00B900"/>
                </a:solidFill>
                <a:latin typeface="メイリオ" panose="020B0604030504040204" pitchFamily="50" charset="-128"/>
                <a:ea typeface="メイリオ" panose="020B0604030504040204" pitchFamily="50" charset="-128"/>
              </a:endParaRPr>
            </a:p>
          </p:txBody>
        </p:sp>
      </p:grpSp>
      <p:sp>
        <p:nvSpPr>
          <p:cNvPr id="21" name="Freeform 13">
            <a:extLst>
              <a:ext uri="{FF2B5EF4-FFF2-40B4-BE49-F238E27FC236}">
                <a16:creationId xmlns:a16="http://schemas.microsoft.com/office/drawing/2014/main" id="{6FCF9A47-57C4-D983-7A09-62A1C2DDB6B4}"/>
              </a:ext>
            </a:extLst>
          </p:cNvPr>
          <p:cNvSpPr/>
          <p:nvPr/>
        </p:nvSpPr>
        <p:spPr>
          <a:xfrm>
            <a:off x="1184666" y="2810458"/>
            <a:ext cx="307084" cy="555808"/>
          </a:xfrm>
          <a:custGeom>
            <a:avLst/>
            <a:gdLst/>
            <a:ahLst/>
            <a:cxnLst/>
            <a:rect l="l" t="t" r="r" b="b"/>
            <a:pathLst>
              <a:path w="307084" h="555808">
                <a:moveTo>
                  <a:pt x="0" y="0"/>
                </a:moveTo>
                <a:lnTo>
                  <a:pt x="307084" y="0"/>
                </a:lnTo>
                <a:lnTo>
                  <a:pt x="307084" y="555808"/>
                </a:lnTo>
                <a:lnTo>
                  <a:pt x="0" y="555808"/>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sp>
        <p:nvSpPr>
          <p:cNvPr id="22" name="Freeform 14">
            <a:extLst>
              <a:ext uri="{FF2B5EF4-FFF2-40B4-BE49-F238E27FC236}">
                <a16:creationId xmlns:a16="http://schemas.microsoft.com/office/drawing/2014/main" id="{EFB8EAC2-A5C6-6450-209B-316F851133C9}"/>
              </a:ext>
            </a:extLst>
          </p:cNvPr>
          <p:cNvSpPr/>
          <p:nvPr/>
        </p:nvSpPr>
        <p:spPr>
          <a:xfrm>
            <a:off x="1815677" y="2807175"/>
            <a:ext cx="397893" cy="397893"/>
          </a:xfrm>
          <a:custGeom>
            <a:avLst/>
            <a:gdLst/>
            <a:ahLst/>
            <a:cxnLst/>
            <a:rect l="l" t="t" r="r" b="b"/>
            <a:pathLst>
              <a:path w="397893" h="397893">
                <a:moveTo>
                  <a:pt x="0" y="0"/>
                </a:moveTo>
                <a:lnTo>
                  <a:pt x="397893" y="0"/>
                </a:lnTo>
                <a:lnTo>
                  <a:pt x="397893" y="397892"/>
                </a:lnTo>
                <a:lnTo>
                  <a:pt x="0" y="397892"/>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6"/>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sp>
        <p:nvSpPr>
          <p:cNvPr id="24" name="TextBox 16">
            <a:extLst>
              <a:ext uri="{FF2B5EF4-FFF2-40B4-BE49-F238E27FC236}">
                <a16:creationId xmlns:a16="http://schemas.microsoft.com/office/drawing/2014/main" id="{654B7271-F862-F3D1-E65A-6C75F2F9021C}"/>
              </a:ext>
            </a:extLst>
          </p:cNvPr>
          <p:cNvSpPr txBox="1"/>
          <p:nvPr/>
        </p:nvSpPr>
        <p:spPr>
          <a:xfrm>
            <a:off x="2903784" y="3579302"/>
            <a:ext cx="2520582" cy="302006"/>
          </a:xfrm>
          <a:prstGeom prst="rect">
            <a:avLst/>
          </a:prstGeom>
        </p:spPr>
        <p:txBody>
          <a:bodyPr lIns="0" tIns="0" rIns="0" bIns="0" rtlCol="0" anchor="t">
            <a:spAutoFit/>
          </a:bodyPr>
          <a:lstStyle/>
          <a:p>
            <a:pPr algn="ctr">
              <a:lnSpc>
                <a:spcPts val="2455"/>
              </a:lnSpc>
            </a:pPr>
            <a:r>
              <a:rPr lang="en-US" sz="1400">
                <a:solidFill>
                  <a:srgbClr val="040606"/>
                </a:solidFill>
                <a:latin typeface="メイリオ" panose="020B0604030504040204" pitchFamily="50" charset="-128"/>
                <a:ea typeface="メイリオ" panose="020B0604030504040204" pitchFamily="50" charset="-128"/>
              </a:rPr>
              <a:t>メールマガジン</a:t>
            </a:r>
          </a:p>
        </p:txBody>
      </p:sp>
      <p:grpSp>
        <p:nvGrpSpPr>
          <p:cNvPr id="26" name="Group 18">
            <a:extLst>
              <a:ext uri="{FF2B5EF4-FFF2-40B4-BE49-F238E27FC236}">
                <a16:creationId xmlns:a16="http://schemas.microsoft.com/office/drawing/2014/main" id="{E238BF15-71F6-4126-96D0-3C58C8B7CB25}"/>
              </a:ext>
            </a:extLst>
          </p:cNvPr>
          <p:cNvGrpSpPr/>
          <p:nvPr/>
        </p:nvGrpSpPr>
        <p:grpSpPr>
          <a:xfrm>
            <a:off x="4026555" y="3972737"/>
            <a:ext cx="275039" cy="129913"/>
            <a:chOff x="0" y="0"/>
            <a:chExt cx="812800" cy="383922"/>
          </a:xfrm>
        </p:grpSpPr>
        <p:sp>
          <p:nvSpPr>
            <p:cNvPr id="27" name="Freeform 19">
              <a:extLst>
                <a:ext uri="{FF2B5EF4-FFF2-40B4-BE49-F238E27FC236}">
                  <a16:creationId xmlns:a16="http://schemas.microsoft.com/office/drawing/2014/main" id="{49FE6727-4EE8-5C24-6048-CAC6C3CB48D0}"/>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0000"/>
            </a:solidFill>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8" name="TextBox 20">
              <a:extLst>
                <a:ext uri="{FF2B5EF4-FFF2-40B4-BE49-F238E27FC236}">
                  <a16:creationId xmlns:a16="http://schemas.microsoft.com/office/drawing/2014/main" id="{D00B2C25-C04A-579B-6514-18301F922DD2}"/>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a:latin typeface="メイリオ" panose="020B0604030504040204" pitchFamily="50" charset="-128"/>
                <a:ea typeface="メイリオ" panose="020B0604030504040204" pitchFamily="50" charset="-128"/>
              </a:endParaRPr>
            </a:p>
          </p:txBody>
        </p:sp>
      </p:grpSp>
      <p:sp>
        <p:nvSpPr>
          <p:cNvPr id="32" name="AutoShape 24">
            <a:extLst>
              <a:ext uri="{FF2B5EF4-FFF2-40B4-BE49-F238E27FC236}">
                <a16:creationId xmlns:a16="http://schemas.microsoft.com/office/drawing/2014/main" id="{E12D8DCD-6939-B3D3-8747-7AB267084175}"/>
              </a:ext>
            </a:extLst>
          </p:cNvPr>
          <p:cNvSpPr/>
          <p:nvPr/>
        </p:nvSpPr>
        <p:spPr>
          <a:xfrm>
            <a:off x="1044962" y="4660284"/>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33" name="TextBox 25">
            <a:extLst>
              <a:ext uri="{FF2B5EF4-FFF2-40B4-BE49-F238E27FC236}">
                <a16:creationId xmlns:a16="http://schemas.microsoft.com/office/drawing/2014/main" id="{27ACB4CE-9593-D530-6FC9-45474D0A87C8}"/>
              </a:ext>
            </a:extLst>
          </p:cNvPr>
          <p:cNvSpPr txBox="1"/>
          <p:nvPr/>
        </p:nvSpPr>
        <p:spPr>
          <a:xfrm>
            <a:off x="2752051" y="4197408"/>
            <a:ext cx="2937353" cy="302006"/>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入力が面倒・間違いが発生</a:t>
            </a:r>
          </a:p>
        </p:txBody>
      </p:sp>
      <p:sp>
        <p:nvSpPr>
          <p:cNvPr id="34" name="AutoShape 26">
            <a:extLst>
              <a:ext uri="{FF2B5EF4-FFF2-40B4-BE49-F238E27FC236}">
                <a16:creationId xmlns:a16="http://schemas.microsoft.com/office/drawing/2014/main" id="{9DFA3AA3-EC46-59A7-ACD8-CFBFB3E6AC42}"/>
              </a:ext>
            </a:extLst>
          </p:cNvPr>
          <p:cNvSpPr/>
          <p:nvPr/>
        </p:nvSpPr>
        <p:spPr>
          <a:xfrm>
            <a:off x="2752093" y="3967169"/>
            <a:ext cx="2952531" cy="11138"/>
          </a:xfrm>
          <a:prstGeom prst="line">
            <a:avLst/>
          </a:prstGeom>
          <a:ln w="19050" cap="flat">
            <a:solidFill>
              <a:srgbClr val="000000"/>
            </a:solidFill>
            <a:prstDash val="solid"/>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35" name="TextBox 27">
            <a:extLst>
              <a:ext uri="{FF2B5EF4-FFF2-40B4-BE49-F238E27FC236}">
                <a16:creationId xmlns:a16="http://schemas.microsoft.com/office/drawing/2014/main" id="{8CBB54AF-4E8A-1541-1FBC-0122997F4D92}"/>
              </a:ext>
            </a:extLst>
          </p:cNvPr>
          <p:cNvSpPr txBox="1"/>
          <p:nvPr/>
        </p:nvSpPr>
        <p:spPr>
          <a:xfrm>
            <a:off x="2752051" y="477562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迷惑メールなどに入る</a:t>
            </a:r>
          </a:p>
        </p:txBody>
      </p:sp>
      <p:sp>
        <p:nvSpPr>
          <p:cNvPr id="36" name="TextBox 28">
            <a:extLst>
              <a:ext uri="{FF2B5EF4-FFF2-40B4-BE49-F238E27FC236}">
                <a16:creationId xmlns:a16="http://schemas.microsoft.com/office/drawing/2014/main" id="{1890926C-AAF3-81C2-B57E-1FF89EF56E37}"/>
              </a:ext>
            </a:extLst>
          </p:cNvPr>
          <p:cNvSpPr txBox="1"/>
          <p:nvPr/>
        </p:nvSpPr>
        <p:spPr>
          <a:xfrm>
            <a:off x="2752051" y="535477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10％</a:t>
            </a:r>
          </a:p>
        </p:txBody>
      </p:sp>
      <p:sp>
        <p:nvSpPr>
          <p:cNvPr id="37" name="TextBox 29">
            <a:extLst>
              <a:ext uri="{FF2B5EF4-FFF2-40B4-BE49-F238E27FC236}">
                <a16:creationId xmlns:a16="http://schemas.microsoft.com/office/drawing/2014/main" id="{EBE70ABF-86A0-2A2F-6768-A1AE13D1152D}"/>
              </a:ext>
            </a:extLst>
          </p:cNvPr>
          <p:cNvSpPr txBox="1"/>
          <p:nvPr/>
        </p:nvSpPr>
        <p:spPr>
          <a:xfrm>
            <a:off x="2752051"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1時間</a:t>
            </a:r>
          </a:p>
        </p:txBody>
      </p:sp>
      <p:sp>
        <p:nvSpPr>
          <p:cNvPr id="38" name="AutoShape 30">
            <a:extLst>
              <a:ext uri="{FF2B5EF4-FFF2-40B4-BE49-F238E27FC236}">
                <a16:creationId xmlns:a16="http://schemas.microsoft.com/office/drawing/2014/main" id="{2AEB91F9-20AE-78E3-90FC-95BDACB17800}"/>
              </a:ext>
            </a:extLst>
          </p:cNvPr>
          <p:cNvSpPr/>
          <p:nvPr/>
        </p:nvSpPr>
        <p:spPr>
          <a:xfrm>
            <a:off x="1044994" y="5247985"/>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39" name="AutoShape 31">
            <a:extLst>
              <a:ext uri="{FF2B5EF4-FFF2-40B4-BE49-F238E27FC236}">
                <a16:creationId xmlns:a16="http://schemas.microsoft.com/office/drawing/2014/main" id="{8CA9232F-EFCD-0685-4172-87FA8B803443}"/>
              </a:ext>
            </a:extLst>
          </p:cNvPr>
          <p:cNvSpPr/>
          <p:nvPr/>
        </p:nvSpPr>
        <p:spPr>
          <a:xfrm>
            <a:off x="1044952" y="5806130"/>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40" name="TextBox 32">
            <a:extLst>
              <a:ext uri="{FF2B5EF4-FFF2-40B4-BE49-F238E27FC236}">
                <a16:creationId xmlns:a16="http://schemas.microsoft.com/office/drawing/2014/main" id="{0A70F695-8166-2256-5FDF-4F5178646823}"/>
              </a:ext>
            </a:extLst>
          </p:cNvPr>
          <p:cNvSpPr txBox="1"/>
          <p:nvPr/>
        </p:nvSpPr>
        <p:spPr>
          <a:xfrm>
            <a:off x="1184666" y="477916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到達</a:t>
            </a:r>
          </a:p>
        </p:txBody>
      </p:sp>
      <p:sp>
        <p:nvSpPr>
          <p:cNvPr id="41" name="TextBox 33">
            <a:extLst>
              <a:ext uri="{FF2B5EF4-FFF2-40B4-BE49-F238E27FC236}">
                <a16:creationId xmlns:a16="http://schemas.microsoft.com/office/drawing/2014/main" id="{85D3D6AF-3D79-C393-385D-3C63168F89A4}"/>
              </a:ext>
            </a:extLst>
          </p:cNvPr>
          <p:cNvSpPr txBox="1"/>
          <p:nvPr/>
        </p:nvSpPr>
        <p:spPr>
          <a:xfrm>
            <a:off x="1184666" y="5352087"/>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開封率</a:t>
            </a:r>
          </a:p>
        </p:txBody>
      </p:sp>
      <p:sp>
        <p:nvSpPr>
          <p:cNvPr id="42" name="TextBox 34">
            <a:extLst>
              <a:ext uri="{FF2B5EF4-FFF2-40B4-BE49-F238E27FC236}">
                <a16:creationId xmlns:a16="http://schemas.microsoft.com/office/drawing/2014/main" id="{C2F1559D-703E-EACC-8125-BCED5B42B895}"/>
              </a:ext>
            </a:extLst>
          </p:cNvPr>
          <p:cNvSpPr txBox="1"/>
          <p:nvPr/>
        </p:nvSpPr>
        <p:spPr>
          <a:xfrm>
            <a:off x="1184666"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開封まで</a:t>
            </a:r>
          </a:p>
        </p:txBody>
      </p:sp>
      <p:sp>
        <p:nvSpPr>
          <p:cNvPr id="47"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sp>
        <p:nvSpPr>
          <p:cNvPr id="2" name="正方形/長方形 1">
            <a:extLst>
              <a:ext uri="{FF2B5EF4-FFF2-40B4-BE49-F238E27FC236}">
                <a16:creationId xmlns:a16="http://schemas.microsoft.com/office/drawing/2014/main" id="{89DE5776-5C26-CF86-01D7-D84844A782CF}"/>
              </a:ext>
            </a:extLst>
          </p:cNvPr>
          <p:cNvSpPr/>
          <p:nvPr/>
        </p:nvSpPr>
        <p:spPr>
          <a:xfrm>
            <a:off x="5783983" y="3545570"/>
            <a:ext cx="3333054" cy="2822520"/>
          </a:xfrm>
          <a:prstGeom prst="rect">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b="1"/>
          </a:p>
        </p:txBody>
      </p:sp>
      <p:sp>
        <p:nvSpPr>
          <p:cNvPr id="3" name="AutoShape 15">
            <a:extLst>
              <a:ext uri="{FF2B5EF4-FFF2-40B4-BE49-F238E27FC236}">
                <a16:creationId xmlns:a16="http://schemas.microsoft.com/office/drawing/2014/main" id="{0D44F6AF-095D-1CA0-2D98-25F7DB03466E}"/>
              </a:ext>
            </a:extLst>
          </p:cNvPr>
          <p:cNvSpPr/>
          <p:nvPr/>
        </p:nvSpPr>
        <p:spPr>
          <a:xfrm>
            <a:off x="5946513" y="3983875"/>
            <a:ext cx="2952531" cy="11137"/>
          </a:xfrm>
          <a:prstGeom prst="line">
            <a:avLst/>
          </a:prstGeom>
          <a:ln w="19050" cap="flat">
            <a:solidFill>
              <a:srgbClr val="00B900"/>
            </a:solidFill>
            <a:prstDash val="solid"/>
            <a:headEnd type="none" w="sm" len="sm"/>
            <a:tailEnd type="none" w="sm" len="sm"/>
          </a:ln>
        </p:spPr>
        <p:txBody>
          <a:bodyPr/>
          <a:lstStyle/>
          <a:p>
            <a:endParaRPr lang="ja-JP" altLang="en-US" sz="1400" b="1">
              <a:latin typeface="メイリオ" panose="020B0604030504040204" pitchFamily="50" charset="-128"/>
              <a:ea typeface="メイリオ" panose="020B0604030504040204" pitchFamily="50" charset="-128"/>
            </a:endParaRPr>
          </a:p>
        </p:txBody>
      </p:sp>
      <p:sp>
        <p:nvSpPr>
          <p:cNvPr id="4" name="TextBox 17">
            <a:extLst>
              <a:ext uri="{FF2B5EF4-FFF2-40B4-BE49-F238E27FC236}">
                <a16:creationId xmlns:a16="http://schemas.microsoft.com/office/drawing/2014/main" id="{53BD49FD-8C06-FB39-06D6-3CC078F782FE}"/>
              </a:ext>
            </a:extLst>
          </p:cNvPr>
          <p:cNvSpPr txBox="1"/>
          <p:nvPr/>
        </p:nvSpPr>
        <p:spPr>
          <a:xfrm>
            <a:off x="6162487" y="3579302"/>
            <a:ext cx="2520582" cy="294311"/>
          </a:xfrm>
          <a:prstGeom prst="rect">
            <a:avLst/>
          </a:prstGeom>
        </p:spPr>
        <p:txBody>
          <a:bodyPr lIns="0" tIns="0" rIns="0" bIns="0" rtlCol="0" anchor="t">
            <a:spAutoFit/>
          </a:bodyPr>
          <a:lstStyle/>
          <a:p>
            <a:pPr algn="ctr">
              <a:lnSpc>
                <a:spcPts val="2455"/>
              </a:lnSpc>
            </a:pPr>
            <a:r>
              <a:rPr lang="en-US" sz="1400" b="1">
                <a:solidFill>
                  <a:srgbClr val="00B449"/>
                </a:solidFill>
                <a:latin typeface="メイリオ" panose="020B0604030504040204" pitchFamily="50" charset="-128"/>
                <a:ea typeface="メイリオ" panose="020B0604030504040204" pitchFamily="50" charset="-128"/>
              </a:rPr>
              <a:t>LINE</a:t>
            </a:r>
          </a:p>
        </p:txBody>
      </p:sp>
      <p:grpSp>
        <p:nvGrpSpPr>
          <p:cNvPr id="5" name="Group 21">
            <a:extLst>
              <a:ext uri="{FF2B5EF4-FFF2-40B4-BE49-F238E27FC236}">
                <a16:creationId xmlns:a16="http://schemas.microsoft.com/office/drawing/2014/main" id="{365678CD-DBE8-11A0-DE97-1E3489051004}"/>
              </a:ext>
            </a:extLst>
          </p:cNvPr>
          <p:cNvGrpSpPr/>
          <p:nvPr/>
        </p:nvGrpSpPr>
        <p:grpSpPr>
          <a:xfrm>
            <a:off x="7261679" y="3983875"/>
            <a:ext cx="322198" cy="152188"/>
            <a:chOff x="0" y="0"/>
            <a:chExt cx="812800" cy="383922"/>
          </a:xfrm>
        </p:grpSpPr>
        <p:sp>
          <p:nvSpPr>
            <p:cNvPr id="6" name="Freeform 22">
              <a:extLst>
                <a:ext uri="{FF2B5EF4-FFF2-40B4-BE49-F238E27FC236}">
                  <a16:creationId xmlns:a16="http://schemas.microsoft.com/office/drawing/2014/main" id="{FF803387-EA72-D3D7-22AE-52C01E0790A8}"/>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sz="1400" b="1">
                <a:latin typeface="メイリオ" panose="020B0604030504040204" pitchFamily="50" charset="-128"/>
                <a:ea typeface="メイリオ" panose="020B0604030504040204" pitchFamily="50" charset="-128"/>
              </a:endParaRPr>
            </a:p>
          </p:txBody>
        </p:sp>
        <p:sp>
          <p:nvSpPr>
            <p:cNvPr id="7" name="TextBox 23">
              <a:extLst>
                <a:ext uri="{FF2B5EF4-FFF2-40B4-BE49-F238E27FC236}">
                  <a16:creationId xmlns:a16="http://schemas.microsoft.com/office/drawing/2014/main" id="{268D41FC-63F5-2C69-D721-47F5A47AB26E}"/>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b="1">
                <a:latin typeface="メイリオ" panose="020B0604030504040204" pitchFamily="50" charset="-128"/>
                <a:ea typeface="メイリオ" panose="020B0604030504040204" pitchFamily="50" charset="-128"/>
              </a:endParaRPr>
            </a:p>
          </p:txBody>
        </p:sp>
      </p:grpSp>
      <p:sp>
        <p:nvSpPr>
          <p:cNvPr id="48" name="TextBox 35">
            <a:extLst>
              <a:ext uri="{FF2B5EF4-FFF2-40B4-BE49-F238E27FC236}">
                <a16:creationId xmlns:a16="http://schemas.microsoft.com/office/drawing/2014/main" id="{EF42718D-116E-9F31-BBCC-5F9118C59FCF}"/>
              </a:ext>
            </a:extLst>
          </p:cNvPr>
          <p:cNvSpPr txBox="1"/>
          <p:nvPr/>
        </p:nvSpPr>
        <p:spPr>
          <a:xfrm>
            <a:off x="5961733" y="4772936"/>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確実に届く</a:t>
            </a:r>
          </a:p>
        </p:txBody>
      </p:sp>
      <p:sp>
        <p:nvSpPr>
          <p:cNvPr id="49" name="TextBox 36">
            <a:extLst>
              <a:ext uri="{FF2B5EF4-FFF2-40B4-BE49-F238E27FC236}">
                <a16:creationId xmlns:a16="http://schemas.microsoft.com/office/drawing/2014/main" id="{BE477B33-5D35-D414-030E-C48CB175247D}"/>
              </a:ext>
            </a:extLst>
          </p:cNvPr>
          <p:cNvSpPr txBox="1"/>
          <p:nvPr/>
        </p:nvSpPr>
        <p:spPr>
          <a:xfrm>
            <a:off x="5961733" y="535208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60％</a:t>
            </a:r>
          </a:p>
        </p:txBody>
      </p:sp>
      <p:sp>
        <p:nvSpPr>
          <p:cNvPr id="50" name="TextBox 37">
            <a:extLst>
              <a:ext uri="{FF2B5EF4-FFF2-40B4-BE49-F238E27FC236}">
                <a16:creationId xmlns:a16="http://schemas.microsoft.com/office/drawing/2014/main" id="{0A436778-3336-3714-957B-826DFB9FCDBE}"/>
              </a:ext>
            </a:extLst>
          </p:cNvPr>
          <p:cNvSpPr txBox="1"/>
          <p:nvPr/>
        </p:nvSpPr>
        <p:spPr>
          <a:xfrm>
            <a:off x="5961733" y="593123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15分</a:t>
            </a:r>
          </a:p>
        </p:txBody>
      </p:sp>
      <p:sp>
        <p:nvSpPr>
          <p:cNvPr id="51" name="TextBox 38">
            <a:extLst>
              <a:ext uri="{FF2B5EF4-FFF2-40B4-BE49-F238E27FC236}">
                <a16:creationId xmlns:a16="http://schemas.microsoft.com/office/drawing/2014/main" id="{A5A10008-8C16-4E94-CB60-09FD258B3234}"/>
              </a:ext>
            </a:extLst>
          </p:cNvPr>
          <p:cNvSpPr txBox="1"/>
          <p:nvPr/>
        </p:nvSpPr>
        <p:spPr>
          <a:xfrm>
            <a:off x="5961733" y="4206140"/>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ワンタップで追加</a:t>
            </a:r>
          </a:p>
        </p:txBody>
      </p:sp>
    </p:spTree>
    <p:extLst>
      <p:ext uri="{BB962C8B-B14F-4D97-AF65-F5344CB8AC3E}">
        <p14:creationId xmlns:p14="http://schemas.microsoft.com/office/powerpoint/2010/main" val="175429713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D88C4-8CFA-2C0E-C230-F47FCA10FFC5}"/>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634DA306-8233-CC88-65A5-36654C66652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0CB02FD4-701A-71CE-F43E-33D8F9E44E7B}"/>
              </a:ext>
            </a:extLst>
          </p:cNvPr>
          <p:cNvSpPr/>
          <p:nvPr/>
        </p:nvSpPr>
        <p:spPr>
          <a:xfrm>
            <a:off x="796379" y="635062"/>
            <a:ext cx="8328074"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利用年齢層により変動はするものの、</a:t>
            </a:r>
            <a:r>
              <a:rPr lang="en-US" altLang="ja-JP" sz="1400" dirty="0">
                <a:solidFill>
                  <a:srgbClr val="343434"/>
                </a:solidFill>
                <a:latin typeface="メイリオ" panose="020B0604030504040204" pitchFamily="50" charset="-128"/>
                <a:ea typeface="メイリオ" panose="020B0604030504040204" pitchFamily="50" charset="-128"/>
              </a:rPr>
              <a:t>10-40</a:t>
            </a:r>
            <a:r>
              <a:rPr lang="ja-JP" altLang="en-US" sz="1400" dirty="0">
                <a:solidFill>
                  <a:srgbClr val="343434"/>
                </a:solidFill>
                <a:latin typeface="メイリオ" panose="020B0604030504040204" pitchFamily="50" charset="-128"/>
                <a:ea typeface="メイリオ" panose="020B0604030504040204" pitchFamily="50" charset="-128"/>
              </a:rPr>
              <a:t>代を中心に電話、メールを忌避する動きが強まっている。</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b="1" dirty="0">
                <a:solidFill>
                  <a:srgbClr val="343434"/>
                </a:solidFill>
                <a:latin typeface="メイリオ" panose="020B0604030504040204" pitchFamily="50" charset="-128"/>
                <a:ea typeface="メイリオ" panose="020B0604030504040204" pitchFamily="50" charset="-128"/>
              </a:rPr>
              <a:t>既存ユーザー以外の年齢層の獲得にあたって、利用率の高い</a:t>
            </a:r>
            <a:r>
              <a:rPr lang="en-US" altLang="ja-JP" sz="1400" b="1" dirty="0">
                <a:solidFill>
                  <a:srgbClr val="343434"/>
                </a:solidFill>
                <a:latin typeface="メイリオ" panose="020B0604030504040204" pitchFamily="50" charset="-128"/>
                <a:ea typeface="メイリオ" panose="020B0604030504040204" pitchFamily="50" charset="-128"/>
              </a:rPr>
              <a:t>LINEOA</a:t>
            </a:r>
            <a:r>
              <a:rPr lang="ja-JP" altLang="en-US" sz="1400" b="1" dirty="0">
                <a:solidFill>
                  <a:srgbClr val="343434"/>
                </a:solidFill>
                <a:latin typeface="メイリオ" panose="020B0604030504040204" pitchFamily="50" charset="-128"/>
                <a:ea typeface="メイリオ" panose="020B0604030504040204" pitchFamily="50" charset="-128"/>
              </a:rPr>
              <a:t>施策が非常に重要と想定</a:t>
            </a:r>
            <a:r>
              <a:rPr lang="ja-JP" altLang="en-US" sz="1400" dirty="0">
                <a:solidFill>
                  <a:srgbClr val="343434"/>
                </a:solidFill>
                <a:latin typeface="メイリオ" panose="020B0604030504040204" pitchFamily="50" charset="-128"/>
                <a:ea typeface="メイリオ" panose="020B0604030504040204" pitchFamily="50" charset="-128"/>
              </a:rPr>
              <a:t>される。</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F214699F-6602-F0D9-7DE6-2A3BDFB291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37B7BC17-B92E-ED23-C69B-F5A79154E50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graphicFrame>
        <p:nvGraphicFramePr>
          <p:cNvPr id="50" name="表 49">
            <a:extLst>
              <a:ext uri="{FF2B5EF4-FFF2-40B4-BE49-F238E27FC236}">
                <a16:creationId xmlns:a16="http://schemas.microsoft.com/office/drawing/2014/main" id="{F4041BC0-327B-67FB-AC18-60C96EAE8809}"/>
              </a:ext>
            </a:extLst>
          </p:cNvPr>
          <p:cNvGraphicFramePr>
            <a:graphicFrameLocks noGrp="1"/>
          </p:cNvGraphicFramePr>
          <p:nvPr/>
        </p:nvGraphicFramePr>
        <p:xfrm>
          <a:off x="367528" y="1662925"/>
          <a:ext cx="9168355" cy="4494024"/>
        </p:xfrm>
        <a:graphic>
          <a:graphicData uri="http://schemas.openxmlformats.org/drawingml/2006/table">
            <a:tbl>
              <a:tblPr/>
              <a:tblGrid>
                <a:gridCol w="1833671">
                  <a:extLst>
                    <a:ext uri="{9D8B030D-6E8A-4147-A177-3AD203B41FA5}">
                      <a16:colId xmlns:a16="http://schemas.microsoft.com/office/drawing/2014/main" val="1559461290"/>
                    </a:ext>
                  </a:extLst>
                </a:gridCol>
                <a:gridCol w="1833671">
                  <a:extLst>
                    <a:ext uri="{9D8B030D-6E8A-4147-A177-3AD203B41FA5}">
                      <a16:colId xmlns:a16="http://schemas.microsoft.com/office/drawing/2014/main" val="4043568489"/>
                    </a:ext>
                  </a:extLst>
                </a:gridCol>
                <a:gridCol w="1833671">
                  <a:extLst>
                    <a:ext uri="{9D8B030D-6E8A-4147-A177-3AD203B41FA5}">
                      <a16:colId xmlns:a16="http://schemas.microsoft.com/office/drawing/2014/main" val="377063127"/>
                    </a:ext>
                  </a:extLst>
                </a:gridCol>
                <a:gridCol w="1833671">
                  <a:extLst>
                    <a:ext uri="{9D8B030D-6E8A-4147-A177-3AD203B41FA5}">
                      <a16:colId xmlns:a16="http://schemas.microsoft.com/office/drawing/2014/main" val="2814255100"/>
                    </a:ext>
                  </a:extLst>
                </a:gridCol>
                <a:gridCol w="1833671">
                  <a:extLst>
                    <a:ext uri="{9D8B030D-6E8A-4147-A177-3AD203B41FA5}">
                      <a16:colId xmlns:a16="http://schemas.microsoft.com/office/drawing/2014/main" val="3083523150"/>
                    </a:ext>
                  </a:extLst>
                </a:gridCol>
              </a:tblGrid>
              <a:tr h="499336">
                <a:tc>
                  <a:txBody>
                    <a:bodyPr/>
                    <a:lstStyle/>
                    <a:p>
                      <a:pPr algn="ctr"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年齢層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LINE</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・チャット系</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endParaRPr lang="ja-JP" altLang="en-US"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メール・メルマガ</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電話</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主要な特徴・</a:t>
                      </a: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SNS</a:t>
                      </a: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extLst>
                  <a:ext uri="{0D108BD9-81ED-4DB2-BD59-A6C34878D82A}">
                    <a16:rowId xmlns:a16="http://schemas.microsoft.com/office/drawing/2014/main" val="3477182699"/>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10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〜20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　</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利用率：極めて低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err="1">
                          <a:solidFill>
                            <a:srgbClr val="000000"/>
                          </a:solidFill>
                          <a:effectLst/>
                          <a:latin typeface="メイリオ" panose="020B0604030504040204" pitchFamily="50" charset="-128"/>
                          <a:ea typeface="メイリオ" panose="020B0604030504040204" pitchFamily="50" charset="-128"/>
                        </a:rPr>
                        <a:t>Tiktok</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 YouTube</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が情報収集の起点。</a:t>
                      </a:r>
                      <a:b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b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Instagram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の</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DM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連絡網として活用。</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65522484"/>
                  </a:ext>
                </a:extLst>
              </a:tr>
              <a:tr h="499336">
                <a:tc vMerge="1">
                  <a:txBody>
                    <a:bodyPr/>
                    <a:lstStyle/>
                    <a:p>
                      <a:endParaRPr kumimoji="1" lang="ja-JP" altLang="en-US"/>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日常連絡の絶対的インフラ。</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企業や公式からの連絡は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読まれない傾向。</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「電話恐怖症」を持つ人も。</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1705581114"/>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30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〜40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a:solidFill>
                            <a:srgbClr val="000000"/>
                          </a:solidFill>
                          <a:effectLst/>
                          <a:latin typeface="メイリオ" panose="020B0604030504040204" pitchFamily="50" charset="-128"/>
                          <a:ea typeface="メイリオ" panose="020B0604030504040204" pitchFamily="50" charset="-128"/>
                        </a:rPr>
                        <a:t>利用率：中</a:t>
                      </a:r>
                      <a:r>
                        <a:rPr lang="en-US" altLang="ja-JP" sz="1000" b="1" i="0" u="none" strike="noStrike">
                          <a:solidFill>
                            <a:srgbClr val="000000"/>
                          </a:solidFill>
                          <a:effectLst/>
                          <a:latin typeface="メイリオ" panose="020B0604030504040204" pitchFamily="50" charset="-128"/>
                          <a:ea typeface="メイリオ" panose="020B0604030504040204" pitchFamily="50" charset="-128"/>
                        </a:rPr>
                        <a:t>〜</a:t>
                      </a:r>
                      <a:r>
                        <a:rPr lang="ja-JP" altLang="en-US" sz="1000" b="1" i="0" u="none" strike="noStrike">
                          <a:solidFill>
                            <a:srgbClr val="000000"/>
                          </a:solidFill>
                          <a:effectLst/>
                          <a:latin typeface="メイリオ" panose="020B0604030504040204" pitchFamily="50" charset="-128"/>
                          <a:ea typeface="メイリオ" panose="020B0604030504040204" pitchFamily="50" charset="-128"/>
                        </a:rPr>
                        <a:t>高</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利用率：中</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Facebook</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や</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での情報収集が活発。</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813153412"/>
                  </a:ext>
                </a:extLst>
              </a:tr>
              <a:tr h="499336">
                <a:tc vMerge="1">
                  <a:txBody>
                    <a:bodyPr/>
                    <a:lstStyle/>
                    <a:p>
                      <a:endParaRPr kumimoji="1" lang="ja-JP" altLang="en-US"/>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プライベートの連絡網。</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仕事や、メルマガでの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セールス情報に抵抗なし。</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プライベートでは減少傾向も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仕事では必須。</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3489989836"/>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50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〜60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80%〜90%</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YouTube</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での趣味動画視聴も普及。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76969856"/>
                  </a:ext>
                </a:extLst>
              </a:tr>
              <a:tr h="499336">
                <a:tc vMerge="1">
                  <a:txBody>
                    <a:bodyPr/>
                    <a:lstStyle/>
                    <a:p>
                      <a:endParaRPr kumimoji="1" lang="ja-JP" altLang="en-US"/>
                    </a:p>
                  </a:txBody>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家族や友人との連絡で定着。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最も好まれる企業からの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情報受取ツール。</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予約や急ぎの用件で信頼性が高い。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2832446328"/>
                  </a:ext>
                </a:extLst>
              </a:tr>
              <a:tr h="499336">
                <a:tc rowSpan="2">
                  <a:txBody>
                    <a:bodyPr/>
                    <a:lstStyle/>
                    <a:p>
                      <a:pPr algn="ctr" fontAlgn="ctr">
                        <a:buNone/>
                      </a:pP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70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70%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前後</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利用率：低い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利用率：最も高い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連絡手段としての電話が</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最優先される層。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279922214"/>
                  </a:ext>
                </a:extLst>
              </a:tr>
              <a:tr h="499336">
                <a:tc vMerge="1">
                  <a:txBody>
                    <a:bodyPr/>
                    <a:lstStyle/>
                    <a:p>
                      <a:endParaRPr kumimoji="1" lang="ja-JP" altLang="en-US"/>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高齢者層にも普及が進む。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操作に不慣れで到達率が下がる。</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重要な連絡や問い合わせは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電話がメイン。</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14424828"/>
                  </a:ext>
                </a:extLst>
              </a:tr>
            </a:tbl>
          </a:graphicData>
        </a:graphic>
      </p:graphicFrame>
    </p:spTree>
    <p:extLst>
      <p:ext uri="{BB962C8B-B14F-4D97-AF65-F5344CB8AC3E}">
        <p14:creationId xmlns:p14="http://schemas.microsoft.com/office/powerpoint/2010/main" val="78327988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579F4-FB71-CB84-349D-670C2D29F6A3}"/>
            </a:ext>
          </a:extLst>
        </p:cNvPr>
        <p:cNvGrpSpPr/>
        <p:nvPr/>
      </p:nvGrpSpPr>
      <p:grpSpPr>
        <a:xfrm>
          <a:off x="0" y="0"/>
          <a:ext cx="0" cy="0"/>
          <a:chOff x="0" y="0"/>
          <a:chExt cx="0" cy="0"/>
        </a:xfrm>
      </p:grpSpPr>
      <p:cxnSp>
        <p:nvCxnSpPr>
          <p:cNvPr id="5" name="直線コネクタ 4">
            <a:extLst>
              <a:ext uri="{FF2B5EF4-FFF2-40B4-BE49-F238E27FC236}">
                <a16:creationId xmlns:a16="http://schemas.microsoft.com/office/drawing/2014/main" id="{5C1533E1-7172-D6F9-4659-AAF59CE221F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改善モデル①｜友だち・リードを増やす</a:t>
            </a:r>
            <a:r>
              <a:rPr lang="ja-JP" altLang="en-US" sz="1600" b="1" dirty="0">
                <a:solidFill>
                  <a:srgbClr val="002060"/>
                </a:solidFill>
                <a:latin typeface="Meiryo"/>
                <a:ea typeface="Meiryo"/>
                <a:cs typeface="Meiryo"/>
                <a:sym typeface="Meiryo"/>
              </a:rPr>
              <a:t/>
            </a:r>
            <a:endParaRPr sz="1600" b="1" dirty="0">
              <a:solidFill>
                <a:srgbClr val="002060"/>
              </a:solidFill>
              <a:latin typeface="Meiryo"/>
              <a:ea typeface="Meiryo"/>
              <a:cs typeface="Meiryo"/>
              <a:sym typeface="Meiryo"/>
            </a:endParaRPr>
          </a:p>
        </p:txBody>
      </p:sp>
      <p:sp>
        <p:nvSpPr>
          <p:cNvPr id="46" name="Rectangle 45"/>
          <p:cNvSpPr/>
          <p:nvPr/>
        </p:nvSpPr>
        <p:spPr>
          <a:xfrm>
            <a:off x="432000" y="666000"/>
            <a:ext cx="9036000" cy="66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1600" bIns="21600"/>
          <a:lstStyle/>
          <a:p>
            <a:pPr algn="l"/>
            <a:r>
              <a:rPr sz="1300" b="0">
                <a:solidFill>
                  <a:srgbClr val="333333"/>
                </a:solidFill>
                <a:latin typeface="メイリオ"/>
                <a:ea typeface="メイリオ"/>
                <a:cs typeface="メイリオ"/>
              </a:rPr>
              <a:t>広告・サイトの集客地点に「LINE追加」を加え、</a:t>
            </a:r>
          </a:p>
          <a:p>
            <a:pPr algn="l"/>
            <a:r>
              <a:rPr sz="1300" b="0">
                <a:solidFill>
                  <a:srgbClr val="333333"/>
                </a:solidFill>
                <a:latin typeface="メイリオ"/>
                <a:ea typeface="メイリオ"/>
                <a:cs typeface="メイリオ"/>
              </a:rPr>
              <a:t>応募まで行かない整備士もリストとして残します。</a:t>
            </a:r>
          </a:p>
        </p:txBody>
      </p:sp>
      <p:sp>
        <p:nvSpPr>
          <p:cNvPr id="47" name="Pentagon 46"/>
          <p:cNvSpPr/>
          <p:nvPr/>
        </p:nvSpPr>
        <p:spPr>
          <a:xfrm>
            <a:off x="432000" y="1494000"/>
            <a:ext cx="1092600" cy="288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1600" bIns="21600"/>
          <a:lstStyle/>
          <a:p>
            <a:pPr algn="ctr"/>
            <a:r>
              <a:rPr sz="900" b="1">
                <a:solidFill>
                  <a:srgbClr val="FFFFFF"/>
                </a:solidFill>
                <a:latin typeface="メイリオ"/>
                <a:ea typeface="メイリオ"/>
                <a:cs typeface="メイリオ"/>
              </a:rPr>
              <a:t>①接触</a:t>
            </a:r>
          </a:p>
        </p:txBody>
      </p:sp>
      <p:sp>
        <p:nvSpPr>
          <p:cNvPr id="48" name="Chevron 47"/>
          <p:cNvSpPr/>
          <p:nvPr/>
        </p:nvSpPr>
        <p:spPr>
          <a:xfrm>
            <a:off x="1567800" y="1494000"/>
            <a:ext cx="1092600" cy="288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1600" bIns="21600"/>
          <a:lstStyle/>
          <a:p>
            <a:pPr algn="ctr"/>
            <a:r>
              <a:rPr sz="900" b="1">
                <a:solidFill>
                  <a:srgbClr val="FFFFFF"/>
                </a:solidFill>
                <a:latin typeface="メイリオ"/>
                <a:ea typeface="メイリオ"/>
                <a:cs typeface="メイリオ"/>
              </a:rPr>
              <a:t>②離脱</a:t>
            </a:r>
          </a:p>
        </p:txBody>
      </p:sp>
      <p:sp>
        <p:nvSpPr>
          <p:cNvPr id="49" name="Chevron 48"/>
          <p:cNvSpPr/>
          <p:nvPr/>
        </p:nvSpPr>
        <p:spPr>
          <a:xfrm>
            <a:off x="2703600" y="1494000"/>
            <a:ext cx="1092600" cy="288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1600" bIns="21600"/>
          <a:lstStyle/>
          <a:p>
            <a:pPr algn="ctr"/>
            <a:r>
              <a:rPr sz="900" b="1">
                <a:solidFill>
                  <a:srgbClr val="FFFFFF"/>
                </a:solidFill>
                <a:latin typeface="メイリオ"/>
                <a:ea typeface="メイリオ"/>
                <a:cs typeface="メイリオ"/>
              </a:rPr>
              <a:t>③興味喚起</a:t>
            </a:r>
          </a:p>
        </p:txBody>
      </p:sp>
      <p:sp>
        <p:nvSpPr>
          <p:cNvPr id="50" name="Chevron 49"/>
          <p:cNvSpPr/>
          <p:nvPr/>
        </p:nvSpPr>
        <p:spPr>
          <a:xfrm>
            <a:off x="3839399" y="1494000"/>
            <a:ext cx="1092600" cy="288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1600" bIns="21600"/>
          <a:lstStyle/>
          <a:p>
            <a:pPr algn="ctr"/>
            <a:r>
              <a:rPr sz="900" b="1">
                <a:solidFill>
                  <a:srgbClr val="FFFFFF"/>
                </a:solidFill>
                <a:latin typeface="メイリオ"/>
                <a:ea typeface="メイリオ"/>
                <a:cs typeface="メイリオ"/>
              </a:rPr>
              <a:t>④友だち追加</a:t>
            </a:r>
          </a:p>
        </p:txBody>
      </p:sp>
      <p:sp>
        <p:nvSpPr>
          <p:cNvPr id="51" name="Chevron 50"/>
          <p:cNvSpPr/>
          <p:nvPr/>
        </p:nvSpPr>
        <p:spPr>
          <a:xfrm>
            <a:off x="4975200" y="1494000"/>
            <a:ext cx="1092600" cy="288000"/>
          </a:xfrm>
          <a:prstGeom prst="chevron">
            <a:avLst/>
          </a:prstGeom>
          <a:solidFill>
            <a:srgbClr val="E7E6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1600" bIns="21600"/>
          <a:lstStyle/>
          <a:p>
            <a:pPr algn="ctr"/>
            <a:r>
              <a:rPr sz="900" b="1">
                <a:solidFill>
                  <a:srgbClr val="A6A6A6"/>
                </a:solidFill>
                <a:latin typeface="メイリオ"/>
                <a:ea typeface="メイリオ"/>
                <a:cs typeface="メイリオ"/>
              </a:rPr>
              <a:t>⑤面談</a:t>
            </a:r>
          </a:p>
        </p:txBody>
      </p:sp>
      <p:sp>
        <p:nvSpPr>
          <p:cNvPr id="52" name="Chevron 51"/>
          <p:cNvSpPr/>
          <p:nvPr/>
        </p:nvSpPr>
        <p:spPr>
          <a:xfrm>
            <a:off x="6111000" y="1494000"/>
            <a:ext cx="1092600" cy="288000"/>
          </a:xfrm>
          <a:prstGeom prst="chevron">
            <a:avLst/>
          </a:prstGeom>
          <a:solidFill>
            <a:srgbClr val="E7E6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1600" bIns="21600"/>
          <a:lstStyle/>
          <a:p>
            <a:pPr algn="ctr"/>
            <a:r>
              <a:rPr sz="900" b="1">
                <a:solidFill>
                  <a:srgbClr val="A6A6A6"/>
                </a:solidFill>
                <a:latin typeface="メイリオ"/>
                <a:ea typeface="メイリオ"/>
                <a:cs typeface="メイリオ"/>
              </a:rPr>
              <a:t>⑥求人紹介</a:t>
            </a:r>
          </a:p>
        </p:txBody>
      </p:sp>
      <p:sp>
        <p:nvSpPr>
          <p:cNvPr id="53" name="Chevron 52"/>
          <p:cNvSpPr/>
          <p:nvPr/>
        </p:nvSpPr>
        <p:spPr>
          <a:xfrm>
            <a:off x="7246800" y="1494000"/>
            <a:ext cx="1092600" cy="288000"/>
          </a:xfrm>
          <a:prstGeom prst="chevron">
            <a:avLst/>
          </a:prstGeom>
          <a:solidFill>
            <a:srgbClr val="E7E6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1600" bIns="21600"/>
          <a:lstStyle/>
          <a:p>
            <a:pPr algn="ctr"/>
            <a:r>
              <a:rPr sz="900" b="1">
                <a:solidFill>
                  <a:srgbClr val="A6A6A6"/>
                </a:solidFill>
                <a:latin typeface="メイリオ"/>
                <a:ea typeface="メイリオ"/>
                <a:cs typeface="メイリオ"/>
              </a:rPr>
              <a:t>⑦内定承諾</a:t>
            </a:r>
          </a:p>
        </p:txBody>
      </p:sp>
      <p:sp>
        <p:nvSpPr>
          <p:cNvPr id="54" name="Chevron 53"/>
          <p:cNvSpPr/>
          <p:nvPr/>
        </p:nvSpPr>
        <p:spPr>
          <a:xfrm>
            <a:off x="8382600" y="1494000"/>
            <a:ext cx="1092600" cy="288000"/>
          </a:xfrm>
          <a:prstGeom prst="chevron">
            <a:avLst/>
          </a:prstGeom>
          <a:solidFill>
            <a:srgbClr val="E7E6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1600" bIns="21600"/>
          <a:lstStyle/>
          <a:p>
            <a:pPr algn="ctr"/>
            <a:r>
              <a:rPr sz="900" b="1">
                <a:solidFill>
                  <a:srgbClr val="A6A6A6"/>
                </a:solidFill>
                <a:latin typeface="メイリオ"/>
                <a:ea typeface="メイリオ"/>
                <a:cs typeface="メイリオ"/>
              </a:rPr>
              <a:t>⑧定着・紹介</a:t>
            </a:r>
          </a:p>
        </p:txBody>
      </p:sp>
      <p:sp>
        <p:nvSpPr>
          <p:cNvPr id="55" name="Rounded Rectangle 54"/>
          <p:cNvSpPr/>
          <p:nvPr/>
        </p:nvSpPr>
        <p:spPr>
          <a:xfrm>
            <a:off x="432000" y="1908000"/>
            <a:ext cx="2954400" cy="3401999"/>
          </a:xfrm>
          <a:prstGeom prst="roundRect">
            <a:avLst>
              <a:gd name="adj" fmla="val 8000"/>
            </a:avLst>
          </a:prstGeom>
          <a:solidFill>
            <a:srgbClr val="F7F9FC"/>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p>
        </p:txBody>
      </p:sp>
      <p:sp>
        <p:nvSpPr>
          <p:cNvPr id="56" name="Rounded Rectangle 55"/>
          <p:cNvSpPr/>
          <p:nvPr/>
        </p:nvSpPr>
        <p:spPr>
          <a:xfrm>
            <a:off x="432000" y="1908000"/>
            <a:ext cx="2954400" cy="34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1600" bIns="21600"/>
          <a:lstStyle/>
          <a:p>
            <a:pPr algn="l"/>
            <a:r>
              <a:rPr sz="1200" b="1">
                <a:solidFill>
                  <a:srgbClr val="FFFFFF"/>
                </a:solidFill>
                <a:latin typeface="メイリオ"/>
                <a:ea typeface="メイリオ"/>
                <a:cs typeface="メイリオ"/>
              </a:rPr>
              <a:t>1  CPF完結型</a:t>
            </a:r>
          </a:p>
        </p:txBody>
      </p:sp>
      <p:sp>
        <p:nvSpPr>
          <p:cNvPr id="57" name="Rectangle 56"/>
          <p:cNvSpPr/>
          <p:nvPr/>
        </p:nvSpPr>
        <p:spPr>
          <a:xfrm>
            <a:off x="522000" y="2322000"/>
            <a:ext cx="2774400" cy="140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1600" bIns="21600"/>
          <a:lstStyle/>
          <a:p>
            <a:pPr algn="l"/>
            <a:r>
              <a:rPr sz="1150" b="0">
                <a:solidFill>
                  <a:srgbClr val="333333"/>
                </a:solidFill>
                <a:latin typeface="メイリオ"/>
                <a:ea typeface="メイリオ"/>
                <a:cs typeface="メイリオ"/>
              </a:rPr>
              <a:t>Meta広告の目的を友だち獲得に変える。タップするだけで友だちになり、そのままLINE内で30秒診断まで進む。サイトに移動させないので離脱が起きない。</a:t>
            </a:r>
          </a:p>
        </p:txBody>
      </p:sp>
      <p:sp>
        <p:nvSpPr>
          <p:cNvPr id="58" name="Rounded Rectangle 57"/>
          <p:cNvSpPr/>
          <p:nvPr/>
        </p:nvSpPr>
        <p:spPr>
          <a:xfrm>
            <a:off x="522000" y="3798000"/>
            <a:ext cx="864800" cy="540000"/>
          </a:xfrm>
          <a:prstGeom prst="roundRect">
            <a:avLst>
              <a:gd name="adj" fmla="val 8000"/>
            </a:avLst>
          </a:prstGeom>
          <a:solidFill>
            <a:srgbClr val="3467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950" b="1">
                <a:solidFill>
                  <a:srgbClr val="FFFFFF"/>
                </a:solidFill>
                <a:latin typeface="メイリオ"/>
                <a:ea typeface="メイリオ"/>
                <a:cs typeface="メイリオ"/>
              </a:rPr>
              <a:t>1</a:t>
            </a:r>
          </a:p>
          <a:p>
            <a:pPr algn="ctr"/>
            <a:r>
              <a:rPr sz="1000" b="1">
                <a:solidFill>
                  <a:srgbClr val="FFFFFF"/>
                </a:solidFill>
                <a:latin typeface="メイリオ"/>
                <a:ea typeface="メイリオ"/>
                <a:cs typeface="メイリオ"/>
              </a:rPr>
              <a:t>CPF広告をタップ</a:t>
            </a:r>
          </a:p>
        </p:txBody>
      </p:sp>
      <p:sp>
        <p:nvSpPr>
          <p:cNvPr id="59" name="Rounded Rectangle 58"/>
          <p:cNvSpPr/>
          <p:nvPr/>
        </p:nvSpPr>
        <p:spPr>
          <a:xfrm>
            <a:off x="1476800" y="3798000"/>
            <a:ext cx="864800" cy="540000"/>
          </a:xfrm>
          <a:prstGeom prst="roundRect">
            <a:avLst>
              <a:gd name="adj" fmla="val 8000"/>
            </a:avLst>
          </a:prstGeom>
          <a:solidFill>
            <a:srgbClr val="3467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950" b="1">
                <a:solidFill>
                  <a:srgbClr val="FFFFFF"/>
                </a:solidFill>
                <a:latin typeface="メイリオ"/>
                <a:ea typeface="メイリオ"/>
                <a:cs typeface="メイリオ"/>
              </a:rPr>
              <a:t>2</a:t>
            </a:r>
          </a:p>
          <a:p>
            <a:pPr algn="ctr"/>
            <a:r>
              <a:rPr sz="1000" b="1">
                <a:solidFill>
                  <a:srgbClr val="FFFFFF"/>
                </a:solidFill>
                <a:latin typeface="メイリオ"/>
                <a:ea typeface="メイリオ"/>
                <a:cs typeface="メイリオ"/>
              </a:rPr>
              <a:t>友だち追加</a:t>
            </a:r>
          </a:p>
        </p:txBody>
      </p:sp>
      <p:sp>
        <p:nvSpPr>
          <p:cNvPr id="60" name="Rounded Rectangle 59"/>
          <p:cNvSpPr/>
          <p:nvPr/>
        </p:nvSpPr>
        <p:spPr>
          <a:xfrm>
            <a:off x="2431600" y="3798000"/>
            <a:ext cx="864800" cy="540000"/>
          </a:xfrm>
          <a:prstGeom prst="roundRect">
            <a:avLst>
              <a:gd name="adj" fmla="val 8000"/>
            </a:avLst>
          </a:prstGeom>
          <a:solidFill>
            <a:srgbClr val="3467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950" b="1">
                <a:solidFill>
                  <a:srgbClr val="FFFFFF"/>
                </a:solidFill>
                <a:latin typeface="メイリオ"/>
                <a:ea typeface="メイリオ"/>
                <a:cs typeface="メイリオ"/>
              </a:rPr>
              <a:t>3</a:t>
            </a:r>
          </a:p>
          <a:p>
            <a:pPr algn="ctr"/>
            <a:r>
              <a:rPr sz="1000" b="1">
                <a:solidFill>
                  <a:srgbClr val="FFFFFF"/>
                </a:solidFill>
                <a:latin typeface="メイリオ"/>
                <a:ea typeface="メイリオ"/>
                <a:cs typeface="メイリオ"/>
              </a:rPr>
              <a:t>診断・配信が起動</a:t>
            </a:r>
          </a:p>
        </p:txBody>
      </p:sp>
      <p:sp>
        <p:nvSpPr>
          <p:cNvPr id="61" name="Rounded Rectangle 60"/>
          <p:cNvSpPr/>
          <p:nvPr/>
        </p:nvSpPr>
        <p:spPr>
          <a:xfrm>
            <a:off x="522000" y="4428000"/>
            <a:ext cx="2774400" cy="792000"/>
          </a:xfrm>
          <a:prstGeom prst="roundRect">
            <a:avLst>
              <a:gd name="adj" fmla="val 8000"/>
            </a:avLst>
          </a:prstGeom>
          <a:solidFill>
            <a:srgbClr val="E2F0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950" b="1">
                <a:solidFill>
                  <a:srgbClr val="7F7F7F"/>
                </a:solidFill>
                <a:latin typeface="メイリオ"/>
                <a:ea typeface="メイリオ"/>
                <a:cs typeface="メイリオ"/>
              </a:rPr>
              <a:t>チェングロウスでは</a:t>
            </a:r>
          </a:p>
          <a:p>
            <a:pPr algn="ctr"/>
            <a:r>
              <a:rPr sz="1100" b="1">
                <a:solidFill>
                  <a:srgbClr val="1F285A"/>
                </a:solidFill>
                <a:latin typeface="メイリオ"/>
                <a:ea typeface="メイリオ"/>
                <a:cs typeface="メイリオ"/>
              </a:rPr>
              <a:t>既存のMeta予算（年250万円）の転用＝追加出費ゼロ</a:t>
            </a:r>
          </a:p>
        </p:txBody>
      </p:sp>
      <p:sp>
        <p:nvSpPr>
          <p:cNvPr id="62" name="Rounded Rectangle 61"/>
          <p:cNvSpPr/>
          <p:nvPr/>
        </p:nvSpPr>
        <p:spPr>
          <a:xfrm>
            <a:off x="3476400" y="1908000"/>
            <a:ext cx="2954400" cy="3401999"/>
          </a:xfrm>
          <a:prstGeom prst="roundRect">
            <a:avLst>
              <a:gd name="adj" fmla="val 8000"/>
            </a:avLst>
          </a:prstGeom>
          <a:solidFill>
            <a:srgbClr val="F7F9FC"/>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p>
        </p:txBody>
      </p:sp>
      <p:sp>
        <p:nvSpPr>
          <p:cNvPr id="63" name="Rounded Rectangle 62"/>
          <p:cNvSpPr/>
          <p:nvPr/>
        </p:nvSpPr>
        <p:spPr>
          <a:xfrm>
            <a:off x="3476400" y="1908000"/>
            <a:ext cx="2954400" cy="34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1600" bIns="21600"/>
          <a:lstStyle/>
          <a:p>
            <a:pPr algn="l"/>
            <a:r>
              <a:rPr sz="1200" b="1">
                <a:solidFill>
                  <a:srgbClr val="FFFFFF"/>
                </a:solidFill>
                <a:latin typeface="メイリオ"/>
                <a:ea typeface="メイリオ"/>
                <a:cs typeface="メイリオ"/>
              </a:rPr>
              <a:t>2  離脱防止ポップアップ</a:t>
            </a:r>
          </a:p>
        </p:txBody>
      </p:sp>
      <p:sp>
        <p:nvSpPr>
          <p:cNvPr id="64" name="Rectangle 63"/>
          <p:cNvSpPr/>
          <p:nvPr/>
        </p:nvSpPr>
        <p:spPr>
          <a:xfrm>
            <a:off x="3566400" y="2322000"/>
            <a:ext cx="2774400" cy="140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1600" bIns="21600"/>
          <a:lstStyle/>
          <a:p>
            <a:pPr algn="l"/>
            <a:r>
              <a:rPr sz="1150" b="0">
                <a:solidFill>
                  <a:srgbClr val="333333"/>
                </a:solidFill>
                <a:latin typeface="メイリオ"/>
                <a:ea typeface="メイリオ"/>
                <a:cs typeface="メイリオ"/>
              </a:rPr>
              <a:t>求人ページを見て帰ろうとした瞬間に「整備士の年収相場をLINEで見られます」を表示。「応募する」より手前の、軽い一歩を用意する。</a:t>
            </a:r>
          </a:p>
        </p:txBody>
      </p:sp>
      <p:sp>
        <p:nvSpPr>
          <p:cNvPr id="65" name="Rounded Rectangle 64"/>
          <p:cNvSpPr/>
          <p:nvPr/>
        </p:nvSpPr>
        <p:spPr>
          <a:xfrm>
            <a:off x="3566400" y="3798000"/>
            <a:ext cx="864800" cy="540000"/>
          </a:xfrm>
          <a:prstGeom prst="roundRect">
            <a:avLst>
              <a:gd name="adj" fmla="val 8000"/>
            </a:avLst>
          </a:prstGeom>
          <a:solidFill>
            <a:srgbClr val="3467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950" b="1">
                <a:solidFill>
                  <a:srgbClr val="FFFFFF"/>
                </a:solidFill>
                <a:latin typeface="メイリオ"/>
                <a:ea typeface="メイリオ"/>
                <a:cs typeface="メイリオ"/>
              </a:rPr>
              <a:t>1</a:t>
            </a:r>
          </a:p>
          <a:p>
            <a:pPr algn="ctr"/>
            <a:r>
              <a:rPr sz="1000" b="1">
                <a:solidFill>
                  <a:srgbClr val="FFFFFF"/>
                </a:solidFill>
                <a:latin typeface="メイリオ"/>
                <a:ea typeface="メイリオ"/>
                <a:cs typeface="メイリオ"/>
              </a:rPr>
              <a:t>離脱を検知</a:t>
            </a:r>
          </a:p>
        </p:txBody>
      </p:sp>
      <p:sp>
        <p:nvSpPr>
          <p:cNvPr id="66" name="Rounded Rectangle 65"/>
          <p:cNvSpPr/>
          <p:nvPr/>
        </p:nvSpPr>
        <p:spPr>
          <a:xfrm>
            <a:off x="4521200" y="3798000"/>
            <a:ext cx="864800" cy="540000"/>
          </a:xfrm>
          <a:prstGeom prst="roundRect">
            <a:avLst>
              <a:gd name="adj" fmla="val 8000"/>
            </a:avLst>
          </a:prstGeom>
          <a:solidFill>
            <a:srgbClr val="3467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950" b="1">
                <a:solidFill>
                  <a:srgbClr val="FFFFFF"/>
                </a:solidFill>
                <a:latin typeface="メイリオ"/>
                <a:ea typeface="メイリオ"/>
                <a:cs typeface="メイリオ"/>
              </a:rPr>
              <a:t>2</a:t>
            </a:r>
          </a:p>
          <a:p>
            <a:pPr algn="ctr"/>
            <a:r>
              <a:rPr sz="1000" b="1">
                <a:solidFill>
                  <a:srgbClr val="FFFFFF"/>
                </a:solidFill>
                <a:latin typeface="メイリオ"/>
                <a:ea typeface="メイリオ"/>
                <a:cs typeface="メイリオ"/>
              </a:rPr>
              <a:t>ポップアップ表示</a:t>
            </a:r>
          </a:p>
        </p:txBody>
      </p:sp>
      <p:sp>
        <p:nvSpPr>
          <p:cNvPr id="67" name="Rounded Rectangle 66"/>
          <p:cNvSpPr/>
          <p:nvPr/>
        </p:nvSpPr>
        <p:spPr>
          <a:xfrm>
            <a:off x="5476000" y="3798000"/>
            <a:ext cx="864800" cy="540000"/>
          </a:xfrm>
          <a:prstGeom prst="roundRect">
            <a:avLst>
              <a:gd name="adj" fmla="val 8000"/>
            </a:avLst>
          </a:prstGeom>
          <a:solidFill>
            <a:srgbClr val="3467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950" b="1">
                <a:solidFill>
                  <a:srgbClr val="FFFFFF"/>
                </a:solidFill>
                <a:latin typeface="メイリオ"/>
                <a:ea typeface="メイリオ"/>
                <a:cs typeface="メイリオ"/>
              </a:rPr>
              <a:t>3</a:t>
            </a:r>
          </a:p>
          <a:p>
            <a:pPr algn="ctr"/>
            <a:r>
              <a:rPr sz="1000" b="1">
                <a:solidFill>
                  <a:srgbClr val="FFFFFF"/>
                </a:solidFill>
                <a:latin typeface="メイリオ"/>
                <a:ea typeface="メイリオ"/>
                <a:cs typeface="メイリオ"/>
              </a:rPr>
              <a:t>LINE追加</a:t>
            </a:r>
          </a:p>
        </p:txBody>
      </p:sp>
      <p:sp>
        <p:nvSpPr>
          <p:cNvPr id="68" name="Rounded Rectangle 67"/>
          <p:cNvSpPr/>
          <p:nvPr/>
        </p:nvSpPr>
        <p:spPr>
          <a:xfrm>
            <a:off x="3566400" y="4428000"/>
            <a:ext cx="2774400" cy="792000"/>
          </a:xfrm>
          <a:prstGeom prst="roundRect">
            <a:avLst>
              <a:gd name="adj" fmla="val 8000"/>
            </a:avLst>
          </a:prstGeom>
          <a:solidFill>
            <a:srgbClr val="E2F0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950" b="1">
                <a:solidFill>
                  <a:srgbClr val="7F7F7F"/>
                </a:solidFill>
                <a:latin typeface="メイリオ"/>
                <a:ea typeface="メイリオ"/>
                <a:cs typeface="メイリオ"/>
              </a:rPr>
              <a:t>チェングロウスでは</a:t>
            </a:r>
          </a:p>
          <a:p>
            <a:pPr algn="ctr"/>
            <a:r>
              <a:rPr sz="1100" b="1">
                <a:solidFill>
                  <a:srgbClr val="1F285A"/>
                </a:solidFill>
                <a:latin typeface="メイリオ"/>
                <a:ea typeface="メイリオ"/>
                <a:cs typeface="メイリオ"/>
              </a:rPr>
              <a:t>関心が高い「検索当日」の訪問を、その場で拾う</a:t>
            </a:r>
          </a:p>
        </p:txBody>
      </p:sp>
      <p:sp>
        <p:nvSpPr>
          <p:cNvPr id="69" name="Rounded Rectangle 68"/>
          <p:cNvSpPr/>
          <p:nvPr/>
        </p:nvSpPr>
        <p:spPr>
          <a:xfrm>
            <a:off x="6520800" y="1908000"/>
            <a:ext cx="2954400" cy="3401999"/>
          </a:xfrm>
          <a:prstGeom prst="roundRect">
            <a:avLst>
              <a:gd name="adj" fmla="val 8000"/>
            </a:avLst>
          </a:prstGeom>
          <a:solidFill>
            <a:srgbClr val="F7F9FC"/>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p>
        </p:txBody>
      </p:sp>
      <p:sp>
        <p:nvSpPr>
          <p:cNvPr id="70" name="Rounded Rectangle 69"/>
          <p:cNvSpPr/>
          <p:nvPr/>
        </p:nvSpPr>
        <p:spPr>
          <a:xfrm>
            <a:off x="6520800" y="1908000"/>
            <a:ext cx="2954400" cy="34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1600" bIns="21600"/>
          <a:lstStyle/>
          <a:p>
            <a:pPr algn="l"/>
            <a:r>
              <a:rPr sz="1200" b="1">
                <a:solidFill>
                  <a:srgbClr val="FFFFFF"/>
                </a:solidFill>
                <a:latin typeface="メイリオ"/>
                <a:ea typeface="メイリオ"/>
                <a:cs typeface="メイリオ"/>
              </a:rPr>
              <a:t>3  サンクスLINE誘導</a:t>
            </a:r>
          </a:p>
        </p:txBody>
      </p:sp>
      <p:sp>
        <p:nvSpPr>
          <p:cNvPr id="71" name="Rectangle 70"/>
          <p:cNvSpPr/>
          <p:nvPr/>
        </p:nvSpPr>
        <p:spPr>
          <a:xfrm>
            <a:off x="6610800" y="2322000"/>
            <a:ext cx="2774400" cy="140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1600" bIns="21600"/>
          <a:lstStyle/>
          <a:p>
            <a:pPr algn="l"/>
            <a:r>
              <a:rPr sz="1150" b="0">
                <a:solidFill>
                  <a:srgbClr val="333333"/>
                </a:solidFill>
                <a:latin typeface="メイリオ"/>
                <a:ea typeface="メイリオ"/>
                <a:cs typeface="メイリオ"/>
              </a:rPr>
              <a:t>求人応募・転職支援サービス登録の完了画面で「選考の連絡はLINEで届きます」と案内。応募した人をLINEに乗せ、連絡を一本化する。</a:t>
            </a:r>
          </a:p>
        </p:txBody>
      </p:sp>
      <p:sp>
        <p:nvSpPr>
          <p:cNvPr id="72" name="Rounded Rectangle 71"/>
          <p:cNvSpPr/>
          <p:nvPr/>
        </p:nvSpPr>
        <p:spPr>
          <a:xfrm>
            <a:off x="6610800" y="3798000"/>
            <a:ext cx="864800" cy="540000"/>
          </a:xfrm>
          <a:prstGeom prst="roundRect">
            <a:avLst>
              <a:gd name="adj" fmla="val 8000"/>
            </a:avLst>
          </a:prstGeom>
          <a:solidFill>
            <a:srgbClr val="3467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950" b="1">
                <a:solidFill>
                  <a:srgbClr val="FFFFFF"/>
                </a:solidFill>
                <a:latin typeface="メイリオ"/>
                <a:ea typeface="メイリオ"/>
                <a:cs typeface="メイリオ"/>
              </a:rPr>
              <a:t>1</a:t>
            </a:r>
          </a:p>
          <a:p>
            <a:pPr algn="ctr"/>
            <a:r>
              <a:rPr sz="1000" b="1">
                <a:solidFill>
                  <a:srgbClr val="FFFFFF"/>
                </a:solidFill>
                <a:latin typeface="メイリオ"/>
                <a:ea typeface="メイリオ"/>
                <a:cs typeface="メイリオ"/>
              </a:rPr>
              <a:t>応募完了</a:t>
            </a:r>
          </a:p>
        </p:txBody>
      </p:sp>
      <p:sp>
        <p:nvSpPr>
          <p:cNvPr id="73" name="Rounded Rectangle 72"/>
          <p:cNvSpPr/>
          <p:nvPr/>
        </p:nvSpPr>
        <p:spPr>
          <a:xfrm>
            <a:off x="7565600" y="3798000"/>
            <a:ext cx="864800" cy="540000"/>
          </a:xfrm>
          <a:prstGeom prst="roundRect">
            <a:avLst>
              <a:gd name="adj" fmla="val 8000"/>
            </a:avLst>
          </a:prstGeom>
          <a:solidFill>
            <a:srgbClr val="3467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950" b="1">
                <a:solidFill>
                  <a:srgbClr val="FFFFFF"/>
                </a:solidFill>
                <a:latin typeface="メイリオ"/>
                <a:ea typeface="メイリオ"/>
                <a:cs typeface="メイリオ"/>
              </a:rPr>
              <a:t>2</a:t>
            </a:r>
          </a:p>
          <a:p>
            <a:pPr algn="ctr"/>
            <a:r>
              <a:rPr sz="1000" b="1">
                <a:solidFill>
                  <a:srgbClr val="FFFFFF"/>
                </a:solidFill>
                <a:latin typeface="メイリオ"/>
                <a:ea typeface="メイリオ"/>
                <a:cs typeface="メイリオ"/>
              </a:rPr>
              <a:t>完了画面で案内</a:t>
            </a:r>
          </a:p>
        </p:txBody>
      </p:sp>
      <p:sp>
        <p:nvSpPr>
          <p:cNvPr id="74" name="Rounded Rectangle 73"/>
          <p:cNvSpPr/>
          <p:nvPr/>
        </p:nvSpPr>
        <p:spPr>
          <a:xfrm>
            <a:off x="8520400" y="3798000"/>
            <a:ext cx="864800" cy="540000"/>
          </a:xfrm>
          <a:prstGeom prst="roundRect">
            <a:avLst>
              <a:gd name="adj" fmla="val 8000"/>
            </a:avLst>
          </a:prstGeom>
          <a:solidFill>
            <a:srgbClr val="3467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950" b="1">
                <a:solidFill>
                  <a:srgbClr val="FFFFFF"/>
                </a:solidFill>
                <a:latin typeface="メイリオ"/>
                <a:ea typeface="メイリオ"/>
                <a:cs typeface="メイリオ"/>
              </a:rPr>
              <a:t>3</a:t>
            </a:r>
          </a:p>
          <a:p>
            <a:pPr algn="ctr"/>
            <a:r>
              <a:rPr sz="1000" b="1">
                <a:solidFill>
                  <a:srgbClr val="FFFFFF"/>
                </a:solidFill>
                <a:latin typeface="メイリオ"/>
                <a:ea typeface="メイリオ"/>
                <a:cs typeface="メイリオ"/>
              </a:rPr>
              <a:t>LINE追加</a:t>
            </a:r>
          </a:p>
        </p:txBody>
      </p:sp>
      <p:sp>
        <p:nvSpPr>
          <p:cNvPr id="75" name="Rounded Rectangle 74"/>
          <p:cNvSpPr/>
          <p:nvPr/>
        </p:nvSpPr>
        <p:spPr>
          <a:xfrm>
            <a:off x="6610800" y="4428000"/>
            <a:ext cx="2774400" cy="792000"/>
          </a:xfrm>
          <a:prstGeom prst="roundRect">
            <a:avLst>
              <a:gd name="adj" fmla="val 8000"/>
            </a:avLst>
          </a:prstGeom>
          <a:solidFill>
            <a:srgbClr val="E2F0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950" b="1">
                <a:solidFill>
                  <a:srgbClr val="7F7F7F"/>
                </a:solidFill>
                <a:latin typeface="メイリオ"/>
                <a:ea typeface="メイリオ"/>
                <a:cs typeface="メイリオ"/>
              </a:rPr>
              <a:t>チェングロウスでは</a:t>
            </a:r>
          </a:p>
          <a:p>
            <a:pPr algn="ctr"/>
            <a:r>
              <a:rPr sz="1100" b="1">
                <a:solidFill>
                  <a:srgbClr val="1F285A"/>
                </a:solidFill>
                <a:latin typeface="メイリオ"/>
                <a:ea typeface="メイリオ"/>
                <a:cs typeface="メイリオ"/>
              </a:rPr>
              <a:t>電話がつながらない在職中の人にも連絡が届く</a:t>
            </a:r>
          </a:p>
        </p:txBody>
      </p:sp>
      <p:sp>
        <p:nvSpPr>
          <p:cNvPr id="76" name="Rounded Rectangle 75"/>
          <p:cNvSpPr/>
          <p:nvPr/>
        </p:nvSpPr>
        <p:spPr>
          <a:xfrm>
            <a:off x="432000" y="5472000"/>
            <a:ext cx="9043200" cy="34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1300" b="1">
                <a:solidFill>
                  <a:srgbClr val="FFFFFF"/>
                </a:solidFill>
                <a:latin typeface="メイリオ"/>
                <a:ea typeface="メイリオ"/>
                <a:cs typeface="メイリオ"/>
              </a:rPr>
              <a:t>応募しないで帰る訪問者を、LINEの友だちとして残す。</a:t>
            </a:r>
          </a:p>
        </p:txBody>
      </p:sp>
    </p:spTree>
    <p:extLst>
      <p:ext uri="{BB962C8B-B14F-4D97-AF65-F5344CB8AC3E}">
        <p14:creationId xmlns:p14="http://schemas.microsoft.com/office/powerpoint/2010/main" val="426513679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直線コネクタ 4">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改善モデル②｜面談に引き上げる</a:t>
            </a:r>
            <a:r>
              <a:rPr lang="ja-JP" altLang="en-US" sz="1600" b="1" dirty="0">
                <a:solidFill>
                  <a:srgbClr val="002060"/>
                </a:solidFill>
                <a:latin typeface="Meiryo"/>
                <a:ea typeface="Meiryo"/>
                <a:cs typeface="Meiryo"/>
                <a:sym typeface="Meiryo"/>
              </a:rPr>
              <a:t/>
            </a:r>
            <a:endParaRPr sz="1600" b="1" dirty="0">
              <a:solidFill>
                <a:srgbClr val="002060"/>
              </a:solidFill>
              <a:latin typeface="Meiryo"/>
              <a:ea typeface="Meiryo"/>
              <a:cs typeface="Meiryo"/>
              <a:sym typeface="Meiryo"/>
            </a:endParaRPr>
          </a:p>
        </p:txBody>
      </p:sp>
      <p:sp>
        <p:nvSpPr>
          <p:cNvPr id="46" name="Rectangle 45"/>
          <p:cNvSpPr/>
          <p:nvPr/>
        </p:nvSpPr>
        <p:spPr>
          <a:xfrm>
            <a:off x="432000" y="666000"/>
            <a:ext cx="9036000" cy="66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1600" bIns="21600"/>
          <a:lstStyle/>
          <a:p>
            <a:pPr algn="l"/>
            <a:r>
              <a:rPr sz="1300" b="0">
                <a:solidFill>
                  <a:srgbClr val="333333"/>
                </a:solidFill>
                <a:latin typeface="メイリオ"/>
                <a:ea typeface="メイリオ"/>
                <a:cs typeface="メイリオ"/>
              </a:rPr>
              <a:t>友だちになった人を「まず話を聞くだけ」の面談へ。</a:t>
            </a:r>
          </a:p>
          <a:p>
            <a:pPr algn="l"/>
            <a:r>
              <a:rPr sz="1300" b="0">
                <a:solidFill>
                  <a:srgbClr val="333333"/>
                </a:solidFill>
                <a:latin typeface="メイリオ"/>
                <a:ea typeface="メイリオ"/>
                <a:cs typeface="メイリオ"/>
              </a:rPr>
              <a:t>売り込みは2回だけにします。</a:t>
            </a:r>
          </a:p>
        </p:txBody>
      </p:sp>
      <p:sp>
        <p:nvSpPr>
          <p:cNvPr id="47" name="Pentagon 46"/>
          <p:cNvSpPr/>
          <p:nvPr/>
        </p:nvSpPr>
        <p:spPr>
          <a:xfrm>
            <a:off x="432000" y="1494000"/>
            <a:ext cx="1092600" cy="288000"/>
          </a:xfrm>
          <a:prstGeom prst="homePlate">
            <a:avLst/>
          </a:prstGeom>
          <a:solidFill>
            <a:srgbClr val="E7E6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1600" bIns="21600"/>
          <a:lstStyle/>
          <a:p>
            <a:pPr algn="ctr"/>
            <a:r>
              <a:rPr sz="900" b="1">
                <a:solidFill>
                  <a:srgbClr val="A6A6A6"/>
                </a:solidFill>
                <a:latin typeface="メイリオ"/>
                <a:ea typeface="メイリオ"/>
                <a:cs typeface="メイリオ"/>
              </a:rPr>
              <a:t>①接触</a:t>
            </a:r>
          </a:p>
        </p:txBody>
      </p:sp>
      <p:sp>
        <p:nvSpPr>
          <p:cNvPr id="48" name="Chevron 47"/>
          <p:cNvSpPr/>
          <p:nvPr/>
        </p:nvSpPr>
        <p:spPr>
          <a:xfrm>
            <a:off x="1567800" y="1494000"/>
            <a:ext cx="1092600" cy="288000"/>
          </a:xfrm>
          <a:prstGeom prst="chevron">
            <a:avLst/>
          </a:prstGeom>
          <a:solidFill>
            <a:srgbClr val="E7E6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1600" bIns="21600"/>
          <a:lstStyle/>
          <a:p>
            <a:pPr algn="ctr"/>
            <a:r>
              <a:rPr sz="900" b="1">
                <a:solidFill>
                  <a:srgbClr val="A6A6A6"/>
                </a:solidFill>
                <a:latin typeface="メイリオ"/>
                <a:ea typeface="メイリオ"/>
                <a:cs typeface="メイリオ"/>
              </a:rPr>
              <a:t>②離脱</a:t>
            </a:r>
          </a:p>
        </p:txBody>
      </p:sp>
      <p:sp>
        <p:nvSpPr>
          <p:cNvPr id="49" name="Chevron 48"/>
          <p:cNvSpPr/>
          <p:nvPr/>
        </p:nvSpPr>
        <p:spPr>
          <a:xfrm>
            <a:off x="2703600" y="1494000"/>
            <a:ext cx="1092600" cy="288000"/>
          </a:xfrm>
          <a:prstGeom prst="chevron">
            <a:avLst/>
          </a:prstGeom>
          <a:solidFill>
            <a:srgbClr val="E7E6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1600" bIns="21600"/>
          <a:lstStyle/>
          <a:p>
            <a:pPr algn="ctr"/>
            <a:r>
              <a:rPr sz="900" b="1">
                <a:solidFill>
                  <a:srgbClr val="A6A6A6"/>
                </a:solidFill>
                <a:latin typeface="メイリオ"/>
                <a:ea typeface="メイリオ"/>
                <a:cs typeface="メイリオ"/>
              </a:rPr>
              <a:t>③興味喚起</a:t>
            </a:r>
          </a:p>
        </p:txBody>
      </p:sp>
      <p:sp>
        <p:nvSpPr>
          <p:cNvPr id="50" name="Chevron 49"/>
          <p:cNvSpPr/>
          <p:nvPr/>
        </p:nvSpPr>
        <p:spPr>
          <a:xfrm>
            <a:off x="3839399" y="1494000"/>
            <a:ext cx="1092600" cy="288000"/>
          </a:xfrm>
          <a:prstGeom prst="chevron">
            <a:avLst/>
          </a:prstGeom>
          <a:solidFill>
            <a:srgbClr val="E7E6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1600" bIns="21600"/>
          <a:lstStyle/>
          <a:p>
            <a:pPr algn="ctr"/>
            <a:r>
              <a:rPr sz="900" b="1">
                <a:solidFill>
                  <a:srgbClr val="A6A6A6"/>
                </a:solidFill>
                <a:latin typeface="メイリオ"/>
                <a:ea typeface="メイリオ"/>
                <a:cs typeface="メイリオ"/>
              </a:rPr>
              <a:t>④友だち追加</a:t>
            </a:r>
          </a:p>
        </p:txBody>
      </p:sp>
      <p:sp>
        <p:nvSpPr>
          <p:cNvPr id="51" name="Chevron 50"/>
          <p:cNvSpPr/>
          <p:nvPr/>
        </p:nvSpPr>
        <p:spPr>
          <a:xfrm>
            <a:off x="4975200" y="1494000"/>
            <a:ext cx="1092600" cy="288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1600" bIns="21600"/>
          <a:lstStyle/>
          <a:p>
            <a:pPr algn="ctr"/>
            <a:r>
              <a:rPr sz="900" b="1">
                <a:solidFill>
                  <a:srgbClr val="FFFFFF"/>
                </a:solidFill>
                <a:latin typeface="メイリオ"/>
                <a:ea typeface="メイリオ"/>
                <a:cs typeface="メイリオ"/>
              </a:rPr>
              <a:t>⑤面談</a:t>
            </a:r>
          </a:p>
        </p:txBody>
      </p:sp>
      <p:sp>
        <p:nvSpPr>
          <p:cNvPr id="52" name="Chevron 51"/>
          <p:cNvSpPr/>
          <p:nvPr/>
        </p:nvSpPr>
        <p:spPr>
          <a:xfrm>
            <a:off x="6111000" y="1494000"/>
            <a:ext cx="1092600" cy="288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1600" bIns="21600"/>
          <a:lstStyle/>
          <a:p>
            <a:pPr algn="ctr"/>
            <a:r>
              <a:rPr sz="900" b="1">
                <a:solidFill>
                  <a:srgbClr val="FFFFFF"/>
                </a:solidFill>
                <a:latin typeface="メイリオ"/>
                <a:ea typeface="メイリオ"/>
                <a:cs typeface="メイリオ"/>
              </a:rPr>
              <a:t>⑥求人紹介</a:t>
            </a:r>
          </a:p>
        </p:txBody>
      </p:sp>
      <p:sp>
        <p:nvSpPr>
          <p:cNvPr id="53" name="Chevron 52"/>
          <p:cNvSpPr/>
          <p:nvPr/>
        </p:nvSpPr>
        <p:spPr>
          <a:xfrm>
            <a:off x="7246800" y="1494000"/>
            <a:ext cx="1092600" cy="288000"/>
          </a:xfrm>
          <a:prstGeom prst="chevron">
            <a:avLst/>
          </a:prstGeom>
          <a:solidFill>
            <a:srgbClr val="E7E6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1600" bIns="21600"/>
          <a:lstStyle/>
          <a:p>
            <a:pPr algn="ctr"/>
            <a:r>
              <a:rPr sz="900" b="1">
                <a:solidFill>
                  <a:srgbClr val="A6A6A6"/>
                </a:solidFill>
                <a:latin typeface="メイリオ"/>
                <a:ea typeface="メイリオ"/>
                <a:cs typeface="メイリオ"/>
              </a:rPr>
              <a:t>⑦内定承諾</a:t>
            </a:r>
          </a:p>
        </p:txBody>
      </p:sp>
      <p:sp>
        <p:nvSpPr>
          <p:cNvPr id="54" name="Chevron 53"/>
          <p:cNvSpPr/>
          <p:nvPr/>
        </p:nvSpPr>
        <p:spPr>
          <a:xfrm>
            <a:off x="8382600" y="1494000"/>
            <a:ext cx="1092600" cy="288000"/>
          </a:xfrm>
          <a:prstGeom prst="chevron">
            <a:avLst/>
          </a:prstGeom>
          <a:solidFill>
            <a:srgbClr val="E7E6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1600" bIns="21600"/>
          <a:lstStyle/>
          <a:p>
            <a:pPr algn="ctr"/>
            <a:r>
              <a:rPr sz="900" b="1">
                <a:solidFill>
                  <a:srgbClr val="A6A6A6"/>
                </a:solidFill>
                <a:latin typeface="メイリオ"/>
                <a:ea typeface="メイリオ"/>
                <a:cs typeface="メイリオ"/>
              </a:rPr>
              <a:t>⑧定着・紹介</a:t>
            </a:r>
          </a:p>
        </p:txBody>
      </p:sp>
      <p:sp>
        <p:nvSpPr>
          <p:cNvPr id="55" name="Rounded Rectangle 54"/>
          <p:cNvSpPr/>
          <p:nvPr/>
        </p:nvSpPr>
        <p:spPr>
          <a:xfrm>
            <a:off x="432000" y="1908000"/>
            <a:ext cx="2954400" cy="3401999"/>
          </a:xfrm>
          <a:prstGeom prst="roundRect">
            <a:avLst>
              <a:gd name="adj" fmla="val 8000"/>
            </a:avLst>
          </a:prstGeom>
          <a:solidFill>
            <a:srgbClr val="F7F9FC"/>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p>
        </p:txBody>
      </p:sp>
      <p:sp>
        <p:nvSpPr>
          <p:cNvPr id="56" name="Rounded Rectangle 55"/>
          <p:cNvSpPr/>
          <p:nvPr/>
        </p:nvSpPr>
        <p:spPr>
          <a:xfrm>
            <a:off x="432000" y="1908000"/>
            <a:ext cx="2954400" cy="34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1600" bIns="21600"/>
          <a:lstStyle/>
          <a:p>
            <a:pPr algn="l"/>
            <a:r>
              <a:rPr sz="1200" b="1">
                <a:solidFill>
                  <a:srgbClr val="FFFFFF"/>
                </a:solidFill>
                <a:latin typeface="メイリオ"/>
                <a:ea typeface="メイリオ"/>
                <a:cs typeface="メイリオ"/>
              </a:rPr>
              <a:t>1  14日ステップ×面談オファー</a:t>
            </a:r>
          </a:p>
        </p:txBody>
      </p:sp>
      <p:sp>
        <p:nvSpPr>
          <p:cNvPr id="57" name="Rectangle 56"/>
          <p:cNvSpPr/>
          <p:nvPr/>
        </p:nvSpPr>
        <p:spPr>
          <a:xfrm>
            <a:off x="522000" y="2322000"/>
            <a:ext cx="2774400" cy="140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1600" bIns="21600"/>
          <a:lstStyle/>
          <a:p>
            <a:pPr algn="l"/>
            <a:r>
              <a:rPr sz="1150" b="0">
                <a:solidFill>
                  <a:srgbClr val="333333"/>
                </a:solidFill>
                <a:latin typeface="メイリオ"/>
                <a:ea typeface="メイリオ"/>
                <a:cs typeface="メイリオ"/>
              </a:rPr>
              <a:t>年収相場→職種図鑑→働き方の順に届け、関心が消える前の3日目と14日目に面談をご案内。「履歴書不要・夜OK・Webで30分」とハードルを下げる。</a:t>
            </a:r>
          </a:p>
        </p:txBody>
      </p:sp>
      <p:sp>
        <p:nvSpPr>
          <p:cNvPr id="58" name="Rounded Rectangle 57"/>
          <p:cNvSpPr/>
          <p:nvPr/>
        </p:nvSpPr>
        <p:spPr>
          <a:xfrm>
            <a:off x="522000" y="3798000"/>
            <a:ext cx="864800" cy="540000"/>
          </a:xfrm>
          <a:prstGeom prst="roundRect">
            <a:avLst>
              <a:gd name="adj" fmla="val 8000"/>
            </a:avLst>
          </a:prstGeom>
          <a:solidFill>
            <a:srgbClr val="3467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950" b="1">
                <a:solidFill>
                  <a:srgbClr val="FFFFFF"/>
                </a:solidFill>
                <a:latin typeface="メイリオ"/>
                <a:ea typeface="メイリオ"/>
                <a:cs typeface="メイリオ"/>
              </a:rPr>
              <a:t>1</a:t>
            </a:r>
          </a:p>
          <a:p>
            <a:pPr algn="ctr"/>
            <a:r>
              <a:rPr sz="1000" b="1">
                <a:solidFill>
                  <a:srgbClr val="FFFFFF"/>
                </a:solidFill>
                <a:latin typeface="メイリオ"/>
                <a:ea typeface="メイリオ"/>
                <a:cs typeface="メイリオ"/>
              </a:rPr>
              <a:t>1〜2日目 情報</a:t>
            </a:r>
          </a:p>
        </p:txBody>
      </p:sp>
      <p:sp>
        <p:nvSpPr>
          <p:cNvPr id="59" name="Rounded Rectangle 58"/>
          <p:cNvSpPr/>
          <p:nvPr/>
        </p:nvSpPr>
        <p:spPr>
          <a:xfrm>
            <a:off x="1476800" y="3798000"/>
            <a:ext cx="864800" cy="540000"/>
          </a:xfrm>
          <a:prstGeom prst="roundRect">
            <a:avLst>
              <a:gd name="adj" fmla="val 8000"/>
            </a:avLst>
          </a:prstGeom>
          <a:solidFill>
            <a:srgbClr val="3467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950" b="1">
                <a:solidFill>
                  <a:srgbClr val="FFFFFF"/>
                </a:solidFill>
                <a:latin typeface="メイリオ"/>
                <a:ea typeface="メイリオ"/>
                <a:cs typeface="メイリオ"/>
              </a:rPr>
              <a:t>2</a:t>
            </a:r>
          </a:p>
          <a:p>
            <a:pPr algn="ctr"/>
            <a:r>
              <a:rPr sz="1000" b="1">
                <a:solidFill>
                  <a:srgbClr val="FFFFFF"/>
                </a:solidFill>
                <a:latin typeface="メイリオ"/>
                <a:ea typeface="メイリオ"/>
                <a:cs typeface="メイリオ"/>
              </a:rPr>
              <a:t>3日目 面談①</a:t>
            </a:r>
          </a:p>
        </p:txBody>
      </p:sp>
      <p:sp>
        <p:nvSpPr>
          <p:cNvPr id="60" name="Rounded Rectangle 59"/>
          <p:cNvSpPr/>
          <p:nvPr/>
        </p:nvSpPr>
        <p:spPr>
          <a:xfrm>
            <a:off x="2431600" y="3798000"/>
            <a:ext cx="864800" cy="540000"/>
          </a:xfrm>
          <a:prstGeom prst="roundRect">
            <a:avLst>
              <a:gd name="adj" fmla="val 8000"/>
            </a:avLst>
          </a:prstGeom>
          <a:solidFill>
            <a:srgbClr val="3467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950" b="1">
                <a:solidFill>
                  <a:srgbClr val="FFFFFF"/>
                </a:solidFill>
                <a:latin typeface="メイリオ"/>
                <a:ea typeface="メイリオ"/>
                <a:cs typeface="メイリオ"/>
              </a:rPr>
              <a:t>3</a:t>
            </a:r>
          </a:p>
          <a:p>
            <a:pPr algn="ctr"/>
            <a:r>
              <a:rPr sz="1000" b="1">
                <a:solidFill>
                  <a:srgbClr val="FFFFFF"/>
                </a:solidFill>
                <a:latin typeface="メイリオ"/>
                <a:ea typeface="メイリオ"/>
                <a:cs typeface="メイリオ"/>
              </a:rPr>
              <a:t>14日目 面談②</a:t>
            </a:r>
          </a:p>
        </p:txBody>
      </p:sp>
      <p:sp>
        <p:nvSpPr>
          <p:cNvPr id="61" name="Rounded Rectangle 60"/>
          <p:cNvSpPr/>
          <p:nvPr/>
        </p:nvSpPr>
        <p:spPr>
          <a:xfrm>
            <a:off x="522000" y="4428000"/>
            <a:ext cx="2774400" cy="792000"/>
          </a:xfrm>
          <a:prstGeom prst="roundRect">
            <a:avLst>
              <a:gd name="adj" fmla="val 8000"/>
            </a:avLst>
          </a:prstGeom>
          <a:solidFill>
            <a:srgbClr val="E2F0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950" b="1">
                <a:solidFill>
                  <a:srgbClr val="7F7F7F"/>
                </a:solidFill>
                <a:latin typeface="メイリオ"/>
                <a:ea typeface="メイリオ"/>
                <a:cs typeface="メイリオ"/>
              </a:rPr>
              <a:t>チェングロウスでは</a:t>
            </a:r>
          </a:p>
          <a:p>
            <a:pPr algn="ctr"/>
            <a:r>
              <a:rPr sz="1100" b="1">
                <a:solidFill>
                  <a:srgbClr val="1F285A"/>
                </a:solidFill>
                <a:latin typeface="メイリオ"/>
                <a:ea typeface="メイリオ"/>
                <a:cs typeface="メイリオ"/>
              </a:rPr>
              <a:t>前後検索：職業の関心は当日〜2日後に集中</a:t>
            </a:r>
          </a:p>
        </p:txBody>
      </p:sp>
      <p:sp>
        <p:nvSpPr>
          <p:cNvPr id="62" name="Rounded Rectangle 61"/>
          <p:cNvSpPr/>
          <p:nvPr/>
        </p:nvSpPr>
        <p:spPr>
          <a:xfrm>
            <a:off x="3476400" y="1908000"/>
            <a:ext cx="2954400" cy="3401999"/>
          </a:xfrm>
          <a:prstGeom prst="roundRect">
            <a:avLst>
              <a:gd name="adj" fmla="val 8000"/>
            </a:avLst>
          </a:prstGeom>
          <a:solidFill>
            <a:srgbClr val="F7F9FC"/>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p>
        </p:txBody>
      </p:sp>
      <p:sp>
        <p:nvSpPr>
          <p:cNvPr id="63" name="Rounded Rectangle 62"/>
          <p:cNvSpPr/>
          <p:nvPr/>
        </p:nvSpPr>
        <p:spPr>
          <a:xfrm>
            <a:off x="3476400" y="1908000"/>
            <a:ext cx="2954400" cy="34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1600" bIns="21600"/>
          <a:lstStyle/>
          <a:p>
            <a:pPr algn="l"/>
            <a:r>
              <a:rPr sz="1200" b="1">
                <a:solidFill>
                  <a:srgbClr val="FFFFFF"/>
                </a:solidFill>
                <a:latin typeface="メイリオ"/>
                <a:ea typeface="メイリオ"/>
                <a:cs typeface="メイリオ"/>
              </a:rPr>
              <a:t>2  3問アンケート×スコアリング</a:t>
            </a:r>
          </a:p>
        </p:txBody>
      </p:sp>
      <p:sp>
        <p:nvSpPr>
          <p:cNvPr id="64" name="Rectangle 63"/>
          <p:cNvSpPr/>
          <p:nvPr/>
        </p:nvSpPr>
        <p:spPr>
          <a:xfrm>
            <a:off x="3566400" y="2322000"/>
            <a:ext cx="2774400" cy="140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1600" bIns="21600"/>
          <a:lstStyle/>
          <a:p>
            <a:pPr algn="l"/>
            <a:r>
              <a:rPr sz="1150" b="0">
                <a:solidFill>
                  <a:srgbClr val="333333"/>
                </a:solidFill>
                <a:latin typeface="メイリオ"/>
                <a:ea typeface="メイリオ"/>
                <a:cs typeface="メイリオ"/>
              </a:rPr>
              <a:t>「いまの温度感」を3問で聞き、「3ヶ月以内に動きたい」「今すぐ相談したい」と答えた人だけを担当者が即日フォロー。全員に電話しない。</a:t>
            </a:r>
          </a:p>
        </p:txBody>
      </p:sp>
      <p:sp>
        <p:nvSpPr>
          <p:cNvPr id="65" name="Rounded Rectangle 64"/>
          <p:cNvSpPr/>
          <p:nvPr/>
        </p:nvSpPr>
        <p:spPr>
          <a:xfrm>
            <a:off x="3566400" y="3798000"/>
            <a:ext cx="864800" cy="540000"/>
          </a:xfrm>
          <a:prstGeom prst="roundRect">
            <a:avLst>
              <a:gd name="adj" fmla="val 8000"/>
            </a:avLst>
          </a:prstGeom>
          <a:solidFill>
            <a:srgbClr val="3467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950" b="1">
                <a:solidFill>
                  <a:srgbClr val="FFFFFF"/>
                </a:solidFill>
                <a:latin typeface="メイリオ"/>
                <a:ea typeface="メイリオ"/>
                <a:cs typeface="メイリオ"/>
              </a:rPr>
              <a:t>1</a:t>
            </a:r>
          </a:p>
          <a:p>
            <a:pPr algn="ctr"/>
            <a:r>
              <a:rPr sz="1000" b="1">
                <a:solidFill>
                  <a:srgbClr val="FFFFFF"/>
                </a:solidFill>
                <a:latin typeface="メイリオ"/>
                <a:ea typeface="メイリオ"/>
                <a:cs typeface="メイリオ"/>
              </a:rPr>
              <a:t>3問を配信</a:t>
            </a:r>
          </a:p>
        </p:txBody>
      </p:sp>
      <p:sp>
        <p:nvSpPr>
          <p:cNvPr id="66" name="Rounded Rectangle 65"/>
          <p:cNvSpPr/>
          <p:nvPr/>
        </p:nvSpPr>
        <p:spPr>
          <a:xfrm>
            <a:off x="4521200" y="3798000"/>
            <a:ext cx="864800" cy="540000"/>
          </a:xfrm>
          <a:prstGeom prst="roundRect">
            <a:avLst>
              <a:gd name="adj" fmla="val 8000"/>
            </a:avLst>
          </a:prstGeom>
          <a:solidFill>
            <a:srgbClr val="3467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950" b="1">
                <a:solidFill>
                  <a:srgbClr val="FFFFFF"/>
                </a:solidFill>
                <a:latin typeface="メイリオ"/>
                <a:ea typeface="メイリオ"/>
                <a:cs typeface="メイリオ"/>
              </a:rPr>
              <a:t>2</a:t>
            </a:r>
          </a:p>
          <a:p>
            <a:pPr algn="ctr"/>
            <a:r>
              <a:rPr sz="1000" b="1">
                <a:solidFill>
                  <a:srgbClr val="FFFFFF"/>
                </a:solidFill>
                <a:latin typeface="メイリオ"/>
                <a:ea typeface="メイリオ"/>
                <a:cs typeface="メイリオ"/>
              </a:rPr>
              <a:t>温度感を判定</a:t>
            </a:r>
          </a:p>
        </p:txBody>
      </p:sp>
      <p:sp>
        <p:nvSpPr>
          <p:cNvPr id="67" name="Rounded Rectangle 66"/>
          <p:cNvSpPr/>
          <p:nvPr/>
        </p:nvSpPr>
        <p:spPr>
          <a:xfrm>
            <a:off x="5476000" y="3798000"/>
            <a:ext cx="864800" cy="540000"/>
          </a:xfrm>
          <a:prstGeom prst="roundRect">
            <a:avLst>
              <a:gd name="adj" fmla="val 8000"/>
            </a:avLst>
          </a:prstGeom>
          <a:solidFill>
            <a:srgbClr val="3467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950" b="1">
                <a:solidFill>
                  <a:srgbClr val="FFFFFF"/>
                </a:solidFill>
                <a:latin typeface="メイリオ"/>
                <a:ea typeface="メイリオ"/>
                <a:cs typeface="メイリオ"/>
              </a:rPr>
              <a:t>3</a:t>
            </a:r>
          </a:p>
          <a:p>
            <a:pPr algn="ctr"/>
            <a:r>
              <a:rPr sz="1000" b="1">
                <a:solidFill>
                  <a:srgbClr val="FFFFFF"/>
                </a:solidFill>
                <a:latin typeface="メイリオ"/>
                <a:ea typeface="メイリオ"/>
                <a:cs typeface="メイリオ"/>
              </a:rPr>
              <a:t>担当者へ連携</a:t>
            </a:r>
          </a:p>
        </p:txBody>
      </p:sp>
      <p:sp>
        <p:nvSpPr>
          <p:cNvPr id="68" name="Rounded Rectangle 67"/>
          <p:cNvSpPr/>
          <p:nvPr/>
        </p:nvSpPr>
        <p:spPr>
          <a:xfrm>
            <a:off x="3566400" y="4428000"/>
            <a:ext cx="2774400" cy="792000"/>
          </a:xfrm>
          <a:prstGeom prst="roundRect">
            <a:avLst>
              <a:gd name="adj" fmla="val 8000"/>
            </a:avLst>
          </a:prstGeom>
          <a:solidFill>
            <a:srgbClr val="E2F0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950" b="1">
                <a:solidFill>
                  <a:srgbClr val="7F7F7F"/>
                </a:solidFill>
                <a:latin typeface="メイリオ"/>
                <a:ea typeface="メイリオ"/>
                <a:cs typeface="メイリオ"/>
              </a:rPr>
              <a:t>チェングロウスでは</a:t>
            </a:r>
          </a:p>
          <a:p>
            <a:pPr algn="ctr"/>
            <a:r>
              <a:rPr sz="1100" b="1">
                <a:solidFill>
                  <a:srgbClr val="1F285A"/>
                </a:solidFill>
                <a:latin typeface="メイリオ"/>
                <a:ea typeface="メイリオ"/>
                <a:cs typeface="メイリオ"/>
              </a:rPr>
              <a:t>担当者の手間を増やさず、熱い人から面談へ</a:t>
            </a:r>
          </a:p>
        </p:txBody>
      </p:sp>
      <p:sp>
        <p:nvSpPr>
          <p:cNvPr id="69" name="Rounded Rectangle 68"/>
          <p:cNvSpPr/>
          <p:nvPr/>
        </p:nvSpPr>
        <p:spPr>
          <a:xfrm>
            <a:off x="6520800" y="1908000"/>
            <a:ext cx="2954400" cy="3401999"/>
          </a:xfrm>
          <a:prstGeom prst="roundRect">
            <a:avLst>
              <a:gd name="adj" fmla="val 8000"/>
            </a:avLst>
          </a:prstGeom>
          <a:solidFill>
            <a:srgbClr val="F7F9FC"/>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p>
        </p:txBody>
      </p:sp>
      <p:sp>
        <p:nvSpPr>
          <p:cNvPr id="70" name="Rounded Rectangle 69"/>
          <p:cNvSpPr/>
          <p:nvPr/>
        </p:nvSpPr>
        <p:spPr>
          <a:xfrm>
            <a:off x="6520800" y="1908000"/>
            <a:ext cx="2954400" cy="34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1600" bIns="21600"/>
          <a:lstStyle/>
          <a:p>
            <a:pPr algn="l"/>
            <a:r>
              <a:rPr sz="1200" b="1">
                <a:solidFill>
                  <a:srgbClr val="FFFFFF"/>
                </a:solidFill>
                <a:latin typeface="メイリオ"/>
                <a:ea typeface="メイリオ"/>
                <a:cs typeface="メイリオ"/>
              </a:rPr>
              <a:t>3  季節企画で休眠を起こす</a:t>
            </a:r>
          </a:p>
        </p:txBody>
      </p:sp>
      <p:sp>
        <p:nvSpPr>
          <p:cNvPr id="71" name="Rectangle 70"/>
          <p:cNvSpPr/>
          <p:nvPr/>
        </p:nvSpPr>
        <p:spPr>
          <a:xfrm>
            <a:off x="6610800" y="2322000"/>
            <a:ext cx="2774400" cy="140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1600" bIns="21600"/>
          <a:lstStyle/>
          <a:p>
            <a:pPr algn="l"/>
            <a:r>
              <a:rPr sz="1150" b="0">
                <a:solidFill>
                  <a:srgbClr val="333333"/>
                </a:solidFill>
                <a:latin typeface="メイリオ"/>
                <a:ea typeface="メイリオ"/>
                <a:cs typeface="メイリオ"/>
              </a:rPr>
              <a:t>検索の山（3月）の2〜3週前に「年度替わりの転職、今から準備する人が増えています」と配信。売り込みではなく「タイミングの案内」として届ける。</a:t>
            </a:r>
          </a:p>
        </p:txBody>
      </p:sp>
      <p:sp>
        <p:nvSpPr>
          <p:cNvPr id="72" name="Rounded Rectangle 71"/>
          <p:cNvSpPr/>
          <p:nvPr/>
        </p:nvSpPr>
        <p:spPr>
          <a:xfrm>
            <a:off x="6610800" y="3798000"/>
            <a:ext cx="864800" cy="540000"/>
          </a:xfrm>
          <a:prstGeom prst="roundRect">
            <a:avLst>
              <a:gd name="adj" fmla="val 8000"/>
            </a:avLst>
          </a:prstGeom>
          <a:solidFill>
            <a:srgbClr val="3467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950" b="1">
                <a:solidFill>
                  <a:srgbClr val="FFFFFF"/>
                </a:solidFill>
                <a:latin typeface="メイリオ"/>
                <a:ea typeface="メイリオ"/>
                <a:cs typeface="メイリオ"/>
              </a:rPr>
              <a:t>1</a:t>
            </a:r>
          </a:p>
          <a:p>
            <a:pPr algn="ctr"/>
            <a:r>
              <a:rPr sz="1000" b="1">
                <a:solidFill>
                  <a:srgbClr val="FFFFFF"/>
                </a:solidFill>
                <a:latin typeface="メイリオ"/>
                <a:ea typeface="メイリオ"/>
                <a:cs typeface="メイリオ"/>
              </a:rPr>
              <a:t>山の2〜3週前</a:t>
            </a:r>
          </a:p>
        </p:txBody>
      </p:sp>
      <p:sp>
        <p:nvSpPr>
          <p:cNvPr id="73" name="Rounded Rectangle 72"/>
          <p:cNvSpPr/>
          <p:nvPr/>
        </p:nvSpPr>
        <p:spPr>
          <a:xfrm>
            <a:off x="7565600" y="3798000"/>
            <a:ext cx="864800" cy="540000"/>
          </a:xfrm>
          <a:prstGeom prst="roundRect">
            <a:avLst>
              <a:gd name="adj" fmla="val 8000"/>
            </a:avLst>
          </a:prstGeom>
          <a:solidFill>
            <a:srgbClr val="3467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950" b="1">
                <a:solidFill>
                  <a:srgbClr val="FFFFFF"/>
                </a:solidFill>
                <a:latin typeface="メイリオ"/>
                <a:ea typeface="メイリオ"/>
                <a:cs typeface="メイリオ"/>
              </a:rPr>
              <a:t>2</a:t>
            </a:r>
          </a:p>
          <a:p>
            <a:pPr algn="ctr"/>
            <a:r>
              <a:rPr sz="1000" b="1">
                <a:solidFill>
                  <a:srgbClr val="FFFFFF"/>
                </a:solidFill>
                <a:latin typeface="メイリオ"/>
                <a:ea typeface="メイリオ"/>
                <a:cs typeface="メイリオ"/>
              </a:rPr>
              <a:t>「今だから」配信</a:t>
            </a:r>
          </a:p>
        </p:txBody>
      </p:sp>
      <p:sp>
        <p:nvSpPr>
          <p:cNvPr id="74" name="Rounded Rectangle 73"/>
          <p:cNvSpPr/>
          <p:nvPr/>
        </p:nvSpPr>
        <p:spPr>
          <a:xfrm>
            <a:off x="8520400" y="3798000"/>
            <a:ext cx="864800" cy="540000"/>
          </a:xfrm>
          <a:prstGeom prst="roundRect">
            <a:avLst>
              <a:gd name="adj" fmla="val 8000"/>
            </a:avLst>
          </a:prstGeom>
          <a:solidFill>
            <a:srgbClr val="3467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950" b="1">
                <a:solidFill>
                  <a:srgbClr val="FFFFFF"/>
                </a:solidFill>
                <a:latin typeface="メイリオ"/>
                <a:ea typeface="メイリオ"/>
                <a:cs typeface="メイリオ"/>
              </a:rPr>
              <a:t>3</a:t>
            </a:r>
          </a:p>
          <a:p>
            <a:pPr algn="ctr"/>
            <a:r>
              <a:rPr sz="1000" b="1">
                <a:solidFill>
                  <a:srgbClr val="FFFFFF"/>
                </a:solidFill>
                <a:latin typeface="メイリオ"/>
                <a:ea typeface="メイリオ"/>
                <a:cs typeface="メイリオ"/>
              </a:rPr>
              <a:t>休眠層が再反応</a:t>
            </a:r>
          </a:p>
        </p:txBody>
      </p:sp>
      <p:sp>
        <p:nvSpPr>
          <p:cNvPr id="75" name="Rounded Rectangle 74"/>
          <p:cNvSpPr/>
          <p:nvPr/>
        </p:nvSpPr>
        <p:spPr>
          <a:xfrm>
            <a:off x="6610800" y="4428000"/>
            <a:ext cx="2774400" cy="792000"/>
          </a:xfrm>
          <a:prstGeom prst="roundRect">
            <a:avLst>
              <a:gd name="adj" fmla="val 8000"/>
            </a:avLst>
          </a:prstGeom>
          <a:solidFill>
            <a:srgbClr val="E2F0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950" b="1">
                <a:solidFill>
                  <a:srgbClr val="7F7F7F"/>
                </a:solidFill>
                <a:latin typeface="メイリオ"/>
                <a:ea typeface="メイリオ"/>
                <a:cs typeface="メイリオ"/>
              </a:rPr>
              <a:t>チェングロウスでは</a:t>
            </a:r>
          </a:p>
          <a:p>
            <a:pPr algn="ctr"/>
            <a:r>
              <a:rPr sz="1100" b="1">
                <a:solidFill>
                  <a:srgbClr val="1F285A"/>
                </a:solidFill>
                <a:latin typeface="メイリオ"/>
                <a:ea typeface="メイリオ"/>
                <a:cs typeface="メイリオ"/>
              </a:rPr>
              <a:t>整備士の検索は山3月・谷12月（Googleトレンド）</a:t>
            </a:r>
          </a:p>
        </p:txBody>
      </p:sp>
      <p:sp>
        <p:nvSpPr>
          <p:cNvPr id="76" name="Rounded Rectangle 75"/>
          <p:cNvSpPr/>
          <p:nvPr/>
        </p:nvSpPr>
        <p:spPr>
          <a:xfrm>
            <a:off x="432000" y="5472000"/>
            <a:ext cx="9043200" cy="34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1300" b="1">
                <a:solidFill>
                  <a:srgbClr val="FFFFFF"/>
                </a:solidFill>
                <a:latin typeface="メイリオ"/>
                <a:ea typeface="メイリオ"/>
                <a:cs typeface="メイリオ"/>
              </a:rPr>
              <a:t>面談の「予約」をゴールにせず、「実施」まで運ぶ。</a:t>
            </a:r>
          </a:p>
        </p:txBody>
      </p:sp>
    </p:spTree>
    <p:extLst>
      <p:ext uri="{BB962C8B-B14F-4D97-AF65-F5344CB8AC3E}">
        <p14:creationId xmlns:p14="http://schemas.microsoft.com/office/powerpoint/2010/main" val="356214849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60E1BE-EA97-1C99-EC9B-9162DE48D9C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61F3EB4-5BDD-9E9F-8965-BA311951E81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en-US" altLang="ja-JP" sz="1600" b="1" dirty="0">
                <a:solidFill>
                  <a:srgbClr val="002060"/>
                </a:solidFill>
                <a:latin typeface="Meiryo"/>
                <a:ea typeface="Meiryo"/>
                <a:cs typeface="Meiryo"/>
                <a:sym typeface="Meiryo"/>
              </a:rPr>
              <a:t>改善モデル③｜内定辞退を防ぐ</a:t>
            </a:r>
            <a:r>
              <a:rPr lang="ja-JP" altLang="en-US" sz="1600" b="1" dirty="0">
                <a:solidFill>
                  <a:srgbClr val="002060"/>
                </a:solidFill>
                <a:latin typeface="Meiryo"/>
                <a:ea typeface="Meiryo"/>
                <a:cs typeface="Meiryo"/>
                <a:sym typeface="Meiryo"/>
              </a:rPr>
              <a:t/>
            </a:r>
          </a:p>
        </p:txBody>
      </p:sp>
      <p:cxnSp>
        <p:nvCxnSpPr>
          <p:cNvPr id="5" name="Connector 4"/>
          <p:cNvCxnSpPr/>
          <p:nvPr/>
        </p:nvCxnSpPr>
        <p:spPr>
          <a:xfrm>
            <a:off x="0" y="1389600"/>
            <a:ext cx="9907200" cy="0"/>
          </a:xfrm>
          <a:prstGeom prst="line">
            <a:avLst/>
          </a:prstGeom>
          <a:ln>
            <a:solidFill>
              <a:srgbClr val="D9D9D9"/>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32000" y="666000"/>
            <a:ext cx="9036000" cy="66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1600" bIns="21600"/>
          <a:lstStyle/>
          <a:p>
            <a:pPr algn="l"/>
            <a:r>
              <a:rPr sz="1300" b="0">
                <a:solidFill>
                  <a:srgbClr val="333333"/>
                </a:solidFill>
                <a:latin typeface="メイリオ"/>
                <a:ea typeface="メイリオ"/>
                <a:cs typeface="メイリオ"/>
              </a:rPr>
              <a:t>内定から承諾までの不安にLINEですぐ答え、</a:t>
            </a:r>
          </a:p>
          <a:p>
            <a:pPr algn="l"/>
            <a:r>
              <a:rPr sz="1300" b="0">
                <a:solidFill>
                  <a:srgbClr val="333333"/>
                </a:solidFill>
                <a:latin typeface="メイリオ"/>
                <a:ea typeface="メイリオ"/>
                <a:cs typeface="メイリオ"/>
              </a:rPr>
              <a:t>辞退・音信不通を防ぎます。</a:t>
            </a:r>
          </a:p>
        </p:txBody>
      </p:sp>
      <p:sp>
        <p:nvSpPr>
          <p:cNvPr id="7" name="Pentagon 6"/>
          <p:cNvSpPr/>
          <p:nvPr/>
        </p:nvSpPr>
        <p:spPr>
          <a:xfrm>
            <a:off x="432000" y="1494000"/>
            <a:ext cx="1092600" cy="288000"/>
          </a:xfrm>
          <a:prstGeom prst="homePlate">
            <a:avLst/>
          </a:prstGeom>
          <a:solidFill>
            <a:srgbClr val="E7E6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1600" bIns="21600"/>
          <a:lstStyle/>
          <a:p>
            <a:pPr algn="ctr"/>
            <a:r>
              <a:rPr sz="900" b="1">
                <a:solidFill>
                  <a:srgbClr val="A6A6A6"/>
                </a:solidFill>
                <a:latin typeface="メイリオ"/>
                <a:ea typeface="メイリオ"/>
                <a:cs typeface="メイリオ"/>
              </a:rPr>
              <a:t>①接触</a:t>
            </a:r>
          </a:p>
        </p:txBody>
      </p:sp>
      <p:sp>
        <p:nvSpPr>
          <p:cNvPr id="8" name="Chevron 7"/>
          <p:cNvSpPr/>
          <p:nvPr/>
        </p:nvSpPr>
        <p:spPr>
          <a:xfrm>
            <a:off x="1567800" y="1494000"/>
            <a:ext cx="1092600" cy="288000"/>
          </a:xfrm>
          <a:prstGeom prst="chevron">
            <a:avLst/>
          </a:prstGeom>
          <a:solidFill>
            <a:srgbClr val="E7E6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1600" bIns="21600"/>
          <a:lstStyle/>
          <a:p>
            <a:pPr algn="ctr"/>
            <a:r>
              <a:rPr sz="900" b="1">
                <a:solidFill>
                  <a:srgbClr val="A6A6A6"/>
                </a:solidFill>
                <a:latin typeface="メイリオ"/>
                <a:ea typeface="メイリオ"/>
                <a:cs typeface="メイリオ"/>
              </a:rPr>
              <a:t>②離脱</a:t>
            </a:r>
          </a:p>
        </p:txBody>
      </p:sp>
      <p:sp>
        <p:nvSpPr>
          <p:cNvPr id="9" name="Chevron 8"/>
          <p:cNvSpPr/>
          <p:nvPr/>
        </p:nvSpPr>
        <p:spPr>
          <a:xfrm>
            <a:off x="2703600" y="1494000"/>
            <a:ext cx="1092600" cy="288000"/>
          </a:xfrm>
          <a:prstGeom prst="chevron">
            <a:avLst/>
          </a:prstGeom>
          <a:solidFill>
            <a:srgbClr val="E7E6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1600" bIns="21600"/>
          <a:lstStyle/>
          <a:p>
            <a:pPr algn="ctr"/>
            <a:r>
              <a:rPr sz="900" b="1">
                <a:solidFill>
                  <a:srgbClr val="A6A6A6"/>
                </a:solidFill>
                <a:latin typeface="メイリオ"/>
                <a:ea typeface="メイリオ"/>
                <a:cs typeface="メイリオ"/>
              </a:rPr>
              <a:t>③興味喚起</a:t>
            </a:r>
          </a:p>
        </p:txBody>
      </p:sp>
      <p:sp>
        <p:nvSpPr>
          <p:cNvPr id="10" name="Chevron 9"/>
          <p:cNvSpPr/>
          <p:nvPr/>
        </p:nvSpPr>
        <p:spPr>
          <a:xfrm>
            <a:off x="3839399" y="1494000"/>
            <a:ext cx="1092600" cy="288000"/>
          </a:xfrm>
          <a:prstGeom prst="chevron">
            <a:avLst/>
          </a:prstGeom>
          <a:solidFill>
            <a:srgbClr val="E7E6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1600" bIns="21600"/>
          <a:lstStyle/>
          <a:p>
            <a:pPr algn="ctr"/>
            <a:r>
              <a:rPr sz="900" b="1">
                <a:solidFill>
                  <a:srgbClr val="A6A6A6"/>
                </a:solidFill>
                <a:latin typeface="メイリオ"/>
                <a:ea typeface="メイリオ"/>
                <a:cs typeface="メイリオ"/>
              </a:rPr>
              <a:t>④友だち追加</a:t>
            </a:r>
          </a:p>
        </p:txBody>
      </p:sp>
      <p:sp>
        <p:nvSpPr>
          <p:cNvPr id="11" name="Chevron 10"/>
          <p:cNvSpPr/>
          <p:nvPr/>
        </p:nvSpPr>
        <p:spPr>
          <a:xfrm>
            <a:off x="4975200" y="1494000"/>
            <a:ext cx="1092600" cy="288000"/>
          </a:xfrm>
          <a:prstGeom prst="chevron">
            <a:avLst/>
          </a:prstGeom>
          <a:solidFill>
            <a:srgbClr val="E7E6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1600" bIns="21600"/>
          <a:lstStyle/>
          <a:p>
            <a:pPr algn="ctr"/>
            <a:r>
              <a:rPr sz="900" b="1">
                <a:solidFill>
                  <a:srgbClr val="A6A6A6"/>
                </a:solidFill>
                <a:latin typeface="メイリオ"/>
                <a:ea typeface="メイリオ"/>
                <a:cs typeface="メイリオ"/>
              </a:rPr>
              <a:t>⑤面談</a:t>
            </a:r>
          </a:p>
        </p:txBody>
      </p:sp>
      <p:sp>
        <p:nvSpPr>
          <p:cNvPr id="12" name="Chevron 11"/>
          <p:cNvSpPr/>
          <p:nvPr/>
        </p:nvSpPr>
        <p:spPr>
          <a:xfrm>
            <a:off x="6111000" y="1494000"/>
            <a:ext cx="1092600" cy="288000"/>
          </a:xfrm>
          <a:prstGeom prst="chevron">
            <a:avLst/>
          </a:prstGeom>
          <a:solidFill>
            <a:srgbClr val="E7E6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1600" bIns="21600"/>
          <a:lstStyle/>
          <a:p>
            <a:pPr algn="ctr"/>
            <a:r>
              <a:rPr sz="900" b="1">
                <a:solidFill>
                  <a:srgbClr val="A6A6A6"/>
                </a:solidFill>
                <a:latin typeface="メイリオ"/>
                <a:ea typeface="メイリオ"/>
                <a:cs typeface="メイリオ"/>
              </a:rPr>
              <a:t>⑥求人紹介</a:t>
            </a:r>
          </a:p>
        </p:txBody>
      </p:sp>
      <p:sp>
        <p:nvSpPr>
          <p:cNvPr id="13" name="Chevron 12"/>
          <p:cNvSpPr/>
          <p:nvPr/>
        </p:nvSpPr>
        <p:spPr>
          <a:xfrm>
            <a:off x="7246800" y="1494000"/>
            <a:ext cx="1092600" cy="288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1600" bIns="21600"/>
          <a:lstStyle/>
          <a:p>
            <a:pPr algn="ctr"/>
            <a:r>
              <a:rPr sz="900" b="1">
                <a:solidFill>
                  <a:srgbClr val="FFFFFF"/>
                </a:solidFill>
                <a:latin typeface="メイリオ"/>
                <a:ea typeface="メイリオ"/>
                <a:cs typeface="メイリオ"/>
              </a:rPr>
              <a:t>⑦内定承諾</a:t>
            </a:r>
          </a:p>
        </p:txBody>
      </p:sp>
      <p:sp>
        <p:nvSpPr>
          <p:cNvPr id="14" name="Chevron 13"/>
          <p:cNvSpPr/>
          <p:nvPr/>
        </p:nvSpPr>
        <p:spPr>
          <a:xfrm>
            <a:off x="8382600" y="1494000"/>
            <a:ext cx="1092600" cy="288000"/>
          </a:xfrm>
          <a:prstGeom prst="chevron">
            <a:avLst/>
          </a:prstGeom>
          <a:solidFill>
            <a:srgbClr val="E7E6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1600" bIns="21600"/>
          <a:lstStyle/>
          <a:p>
            <a:pPr algn="ctr"/>
            <a:r>
              <a:rPr sz="900" b="1">
                <a:solidFill>
                  <a:srgbClr val="A6A6A6"/>
                </a:solidFill>
                <a:latin typeface="メイリオ"/>
                <a:ea typeface="メイリオ"/>
                <a:cs typeface="メイリオ"/>
              </a:rPr>
              <a:t>⑧定着・紹介</a:t>
            </a:r>
          </a:p>
        </p:txBody>
      </p:sp>
      <p:sp>
        <p:nvSpPr>
          <p:cNvPr id="15" name="Rounded Rectangle 14"/>
          <p:cNvSpPr/>
          <p:nvPr/>
        </p:nvSpPr>
        <p:spPr>
          <a:xfrm>
            <a:off x="432000" y="1908000"/>
            <a:ext cx="2954400" cy="3401999"/>
          </a:xfrm>
          <a:prstGeom prst="roundRect">
            <a:avLst>
              <a:gd name="adj" fmla="val 8000"/>
            </a:avLst>
          </a:prstGeom>
          <a:solidFill>
            <a:srgbClr val="F7F9FC"/>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p>
        </p:txBody>
      </p:sp>
      <p:sp>
        <p:nvSpPr>
          <p:cNvPr id="16" name="Rounded Rectangle 15"/>
          <p:cNvSpPr/>
          <p:nvPr/>
        </p:nvSpPr>
        <p:spPr>
          <a:xfrm>
            <a:off x="432000" y="1908000"/>
            <a:ext cx="2954400" cy="34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1600" bIns="21600"/>
          <a:lstStyle/>
          <a:p>
            <a:pPr algn="l"/>
            <a:r>
              <a:rPr sz="1200" b="1">
                <a:solidFill>
                  <a:srgbClr val="FFFFFF"/>
                </a:solidFill>
                <a:latin typeface="メイリオ"/>
                <a:ea typeface="メイリオ"/>
                <a:cs typeface="メイリオ"/>
              </a:rPr>
              <a:t>1  不安に即答する自動応答</a:t>
            </a:r>
          </a:p>
        </p:txBody>
      </p:sp>
      <p:sp>
        <p:nvSpPr>
          <p:cNvPr id="17" name="Rectangle 16"/>
          <p:cNvSpPr/>
          <p:nvPr/>
        </p:nvSpPr>
        <p:spPr>
          <a:xfrm>
            <a:off x="522000" y="2322000"/>
            <a:ext cx="2774400" cy="140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1600" bIns="21600"/>
          <a:lstStyle/>
          <a:p>
            <a:pPr algn="l"/>
            <a:r>
              <a:rPr sz="1150" b="0">
                <a:solidFill>
                  <a:srgbClr val="333333"/>
                </a:solidFill>
                <a:latin typeface="メイリオ"/>
                <a:ea typeface="メイリオ"/>
                <a:cs typeface="メイリオ"/>
              </a:rPr>
              <a:t>「入社日は選べる？」「給与は交渉できる？」「休みは本当に取れる？」など内定後によくある質問に、LINEの自動応答で即答。答えきれないものは担当者へ。</a:t>
            </a:r>
          </a:p>
        </p:txBody>
      </p:sp>
      <p:sp>
        <p:nvSpPr>
          <p:cNvPr id="18" name="Rounded Rectangle 17"/>
          <p:cNvSpPr/>
          <p:nvPr/>
        </p:nvSpPr>
        <p:spPr>
          <a:xfrm>
            <a:off x="522000" y="3798000"/>
            <a:ext cx="864800" cy="540000"/>
          </a:xfrm>
          <a:prstGeom prst="roundRect">
            <a:avLst>
              <a:gd name="adj" fmla="val 8000"/>
            </a:avLst>
          </a:prstGeom>
          <a:solidFill>
            <a:srgbClr val="3467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950" b="1">
                <a:solidFill>
                  <a:srgbClr val="FFFFFF"/>
                </a:solidFill>
                <a:latin typeface="メイリオ"/>
                <a:ea typeface="メイリオ"/>
                <a:cs typeface="メイリオ"/>
              </a:rPr>
              <a:t>1</a:t>
            </a:r>
          </a:p>
          <a:p>
            <a:pPr algn="ctr"/>
            <a:r>
              <a:rPr sz="1000" b="1">
                <a:solidFill>
                  <a:srgbClr val="FFFFFF"/>
                </a:solidFill>
                <a:latin typeface="メイリオ"/>
                <a:ea typeface="メイリオ"/>
                <a:cs typeface="メイリオ"/>
              </a:rPr>
              <a:t>質問を受信</a:t>
            </a:r>
          </a:p>
        </p:txBody>
      </p:sp>
      <p:sp>
        <p:nvSpPr>
          <p:cNvPr id="19" name="Rounded Rectangle 18"/>
          <p:cNvSpPr/>
          <p:nvPr/>
        </p:nvSpPr>
        <p:spPr>
          <a:xfrm>
            <a:off x="1476800" y="3798000"/>
            <a:ext cx="864800" cy="540000"/>
          </a:xfrm>
          <a:prstGeom prst="roundRect">
            <a:avLst>
              <a:gd name="adj" fmla="val 8000"/>
            </a:avLst>
          </a:prstGeom>
          <a:solidFill>
            <a:srgbClr val="3467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950" b="1">
                <a:solidFill>
                  <a:srgbClr val="FFFFFF"/>
                </a:solidFill>
                <a:latin typeface="メイリオ"/>
                <a:ea typeface="メイリオ"/>
                <a:cs typeface="メイリオ"/>
              </a:rPr>
              <a:t>2</a:t>
            </a:r>
          </a:p>
          <a:p>
            <a:pPr algn="ctr"/>
            <a:r>
              <a:rPr sz="1000" b="1">
                <a:solidFill>
                  <a:srgbClr val="FFFFFF"/>
                </a:solidFill>
                <a:latin typeface="メイリオ"/>
                <a:ea typeface="メイリオ"/>
                <a:cs typeface="メイリオ"/>
              </a:rPr>
              <a:t>自動で即答</a:t>
            </a:r>
          </a:p>
        </p:txBody>
      </p:sp>
      <p:sp>
        <p:nvSpPr>
          <p:cNvPr id="20" name="Rounded Rectangle 19"/>
          <p:cNvSpPr/>
          <p:nvPr/>
        </p:nvSpPr>
        <p:spPr>
          <a:xfrm>
            <a:off x="2431600" y="3798000"/>
            <a:ext cx="864800" cy="540000"/>
          </a:xfrm>
          <a:prstGeom prst="roundRect">
            <a:avLst>
              <a:gd name="adj" fmla="val 8000"/>
            </a:avLst>
          </a:prstGeom>
          <a:solidFill>
            <a:srgbClr val="3467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950" b="1">
                <a:solidFill>
                  <a:srgbClr val="FFFFFF"/>
                </a:solidFill>
                <a:latin typeface="メイリオ"/>
                <a:ea typeface="メイリオ"/>
                <a:cs typeface="メイリオ"/>
              </a:rPr>
              <a:t>3</a:t>
            </a:r>
          </a:p>
          <a:p>
            <a:pPr algn="ctr"/>
            <a:r>
              <a:rPr sz="1000" b="1">
                <a:solidFill>
                  <a:srgbClr val="FFFFFF"/>
                </a:solidFill>
                <a:latin typeface="メイリオ"/>
                <a:ea typeface="メイリオ"/>
                <a:cs typeface="メイリオ"/>
              </a:rPr>
              <a:t>担当者の面談へ</a:t>
            </a:r>
          </a:p>
        </p:txBody>
      </p:sp>
      <p:sp>
        <p:nvSpPr>
          <p:cNvPr id="21" name="Rounded Rectangle 20"/>
          <p:cNvSpPr/>
          <p:nvPr/>
        </p:nvSpPr>
        <p:spPr>
          <a:xfrm>
            <a:off x="522000" y="4428000"/>
            <a:ext cx="2774400" cy="792000"/>
          </a:xfrm>
          <a:prstGeom prst="roundRect">
            <a:avLst>
              <a:gd name="adj" fmla="val 8000"/>
            </a:avLst>
          </a:prstGeom>
          <a:solidFill>
            <a:srgbClr val="E2F0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950" b="1">
                <a:solidFill>
                  <a:srgbClr val="7F7F7F"/>
                </a:solidFill>
                <a:latin typeface="メイリオ"/>
                <a:ea typeface="メイリオ"/>
                <a:cs typeface="メイリオ"/>
              </a:rPr>
              <a:t>チェングロウスでは</a:t>
            </a:r>
          </a:p>
          <a:p>
            <a:pPr algn="ctr"/>
            <a:r>
              <a:rPr sz="1100" b="1">
                <a:solidFill>
                  <a:srgbClr val="1F285A"/>
                </a:solidFill>
                <a:latin typeface="メイリオ"/>
                <a:ea typeface="メイリオ"/>
                <a:cs typeface="メイリオ"/>
              </a:rPr>
              <a:t>夜間・休日でも止まらない</a:t>
            </a:r>
          </a:p>
        </p:txBody>
      </p:sp>
      <p:sp>
        <p:nvSpPr>
          <p:cNvPr id="22" name="Rounded Rectangle 21"/>
          <p:cNvSpPr/>
          <p:nvPr/>
        </p:nvSpPr>
        <p:spPr>
          <a:xfrm>
            <a:off x="3476400" y="1908000"/>
            <a:ext cx="2954400" cy="3401999"/>
          </a:xfrm>
          <a:prstGeom prst="roundRect">
            <a:avLst>
              <a:gd name="adj" fmla="val 8000"/>
            </a:avLst>
          </a:prstGeom>
          <a:solidFill>
            <a:srgbClr val="F7F9FC"/>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p>
        </p:txBody>
      </p:sp>
      <p:sp>
        <p:nvSpPr>
          <p:cNvPr id="23" name="Rounded Rectangle 22"/>
          <p:cNvSpPr/>
          <p:nvPr/>
        </p:nvSpPr>
        <p:spPr>
          <a:xfrm>
            <a:off x="3476400" y="1908000"/>
            <a:ext cx="2954400" cy="34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1600" bIns="21600"/>
          <a:lstStyle/>
          <a:p>
            <a:pPr algn="l"/>
            <a:r>
              <a:rPr sz="1200" b="1">
                <a:solidFill>
                  <a:srgbClr val="FFFFFF"/>
                </a:solidFill>
                <a:latin typeface="メイリオ"/>
                <a:ea typeface="メイリオ"/>
                <a:cs typeface="メイリオ"/>
              </a:rPr>
              <a:t>2  日程調整の自動化</a:t>
            </a:r>
          </a:p>
        </p:txBody>
      </p:sp>
      <p:sp>
        <p:nvSpPr>
          <p:cNvPr id="24" name="Rectangle 23"/>
          <p:cNvSpPr/>
          <p:nvPr/>
        </p:nvSpPr>
        <p:spPr>
          <a:xfrm>
            <a:off x="3566400" y="2322000"/>
            <a:ext cx="2774400" cy="140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1600" bIns="21600"/>
          <a:lstStyle/>
          <a:p>
            <a:pPr algn="l"/>
            <a:r>
              <a:rPr sz="1150" b="0">
                <a:solidFill>
                  <a:srgbClr val="333333"/>
                </a:solidFill>
                <a:latin typeface="メイリオ"/>
                <a:ea typeface="メイリオ"/>
                <a:cs typeface="メイリオ"/>
              </a:rPr>
              <a:t>「相談したい」と送った瞬間に候補日を表示し、タップで確定。前日にリマインドを自動送付。電話やメールの往復で気持ちが冷めるのを防ぐ。</a:t>
            </a:r>
          </a:p>
        </p:txBody>
      </p:sp>
      <p:sp>
        <p:nvSpPr>
          <p:cNvPr id="25" name="Rounded Rectangle 24"/>
          <p:cNvSpPr/>
          <p:nvPr/>
        </p:nvSpPr>
        <p:spPr>
          <a:xfrm>
            <a:off x="3566400" y="3798000"/>
            <a:ext cx="864800" cy="540000"/>
          </a:xfrm>
          <a:prstGeom prst="roundRect">
            <a:avLst>
              <a:gd name="adj" fmla="val 8000"/>
            </a:avLst>
          </a:prstGeom>
          <a:solidFill>
            <a:srgbClr val="3467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950" b="1">
                <a:solidFill>
                  <a:srgbClr val="FFFFFF"/>
                </a:solidFill>
                <a:latin typeface="メイリオ"/>
                <a:ea typeface="メイリオ"/>
                <a:cs typeface="メイリオ"/>
              </a:rPr>
              <a:t>1</a:t>
            </a:r>
          </a:p>
          <a:p>
            <a:pPr algn="ctr"/>
            <a:r>
              <a:rPr sz="1000" b="1">
                <a:solidFill>
                  <a:srgbClr val="FFFFFF"/>
                </a:solidFill>
                <a:latin typeface="メイリオ"/>
                <a:ea typeface="メイリオ"/>
                <a:cs typeface="メイリオ"/>
              </a:rPr>
              <a:t>「相談したい」</a:t>
            </a:r>
          </a:p>
        </p:txBody>
      </p:sp>
      <p:sp>
        <p:nvSpPr>
          <p:cNvPr id="26" name="Rounded Rectangle 25"/>
          <p:cNvSpPr/>
          <p:nvPr/>
        </p:nvSpPr>
        <p:spPr>
          <a:xfrm>
            <a:off x="4521200" y="3798000"/>
            <a:ext cx="864800" cy="540000"/>
          </a:xfrm>
          <a:prstGeom prst="roundRect">
            <a:avLst>
              <a:gd name="adj" fmla="val 8000"/>
            </a:avLst>
          </a:prstGeom>
          <a:solidFill>
            <a:srgbClr val="3467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950" b="1">
                <a:solidFill>
                  <a:srgbClr val="FFFFFF"/>
                </a:solidFill>
                <a:latin typeface="メイリオ"/>
                <a:ea typeface="メイリオ"/>
                <a:cs typeface="メイリオ"/>
              </a:rPr>
              <a:t>2</a:t>
            </a:r>
          </a:p>
          <a:p>
            <a:pPr algn="ctr"/>
            <a:r>
              <a:rPr sz="1000" b="1">
                <a:solidFill>
                  <a:srgbClr val="FFFFFF"/>
                </a:solidFill>
                <a:latin typeface="メイリオ"/>
                <a:ea typeface="メイリオ"/>
                <a:cs typeface="メイリオ"/>
              </a:rPr>
              <a:t>候補日から選ぶ</a:t>
            </a:r>
          </a:p>
        </p:txBody>
      </p:sp>
      <p:sp>
        <p:nvSpPr>
          <p:cNvPr id="27" name="Rounded Rectangle 26"/>
          <p:cNvSpPr/>
          <p:nvPr/>
        </p:nvSpPr>
        <p:spPr>
          <a:xfrm>
            <a:off x="5476000" y="3798000"/>
            <a:ext cx="864800" cy="540000"/>
          </a:xfrm>
          <a:prstGeom prst="roundRect">
            <a:avLst>
              <a:gd name="adj" fmla="val 8000"/>
            </a:avLst>
          </a:prstGeom>
          <a:solidFill>
            <a:srgbClr val="3467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950" b="1">
                <a:solidFill>
                  <a:srgbClr val="FFFFFF"/>
                </a:solidFill>
                <a:latin typeface="メイリオ"/>
                <a:ea typeface="メイリオ"/>
                <a:cs typeface="メイリオ"/>
              </a:rPr>
              <a:t>3</a:t>
            </a:r>
          </a:p>
          <a:p>
            <a:pPr algn="ctr"/>
            <a:r>
              <a:rPr sz="1000" b="1">
                <a:solidFill>
                  <a:srgbClr val="FFFFFF"/>
                </a:solidFill>
                <a:latin typeface="メイリオ"/>
                <a:ea typeface="メイリオ"/>
                <a:cs typeface="メイリオ"/>
              </a:rPr>
              <a:t>前日リマインド</a:t>
            </a:r>
          </a:p>
        </p:txBody>
      </p:sp>
      <p:sp>
        <p:nvSpPr>
          <p:cNvPr id="28" name="Rounded Rectangle 27"/>
          <p:cNvSpPr/>
          <p:nvPr/>
        </p:nvSpPr>
        <p:spPr>
          <a:xfrm>
            <a:off x="3566400" y="4428000"/>
            <a:ext cx="2774400" cy="792000"/>
          </a:xfrm>
          <a:prstGeom prst="roundRect">
            <a:avLst>
              <a:gd name="adj" fmla="val 8000"/>
            </a:avLst>
          </a:prstGeom>
          <a:solidFill>
            <a:srgbClr val="E2F0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950" b="1">
                <a:solidFill>
                  <a:srgbClr val="7F7F7F"/>
                </a:solidFill>
                <a:latin typeface="メイリオ"/>
                <a:ea typeface="メイリオ"/>
                <a:cs typeface="メイリオ"/>
              </a:rPr>
              <a:t>チェングロウスでは</a:t>
            </a:r>
          </a:p>
          <a:p>
            <a:pPr algn="ctr"/>
            <a:r>
              <a:rPr sz="1100" b="1">
                <a:solidFill>
                  <a:srgbClr val="1F285A"/>
                </a:solidFill>
                <a:latin typeface="メイリオ"/>
                <a:ea typeface="メイリオ"/>
                <a:cs typeface="メイリオ"/>
              </a:rPr>
              <a:t>面談・内定者面談の当日キャンセルを減らす</a:t>
            </a:r>
          </a:p>
        </p:txBody>
      </p:sp>
      <p:sp>
        <p:nvSpPr>
          <p:cNvPr id="29" name="Rounded Rectangle 28"/>
          <p:cNvSpPr/>
          <p:nvPr/>
        </p:nvSpPr>
        <p:spPr>
          <a:xfrm>
            <a:off x="6520800" y="1908000"/>
            <a:ext cx="2954400" cy="3401999"/>
          </a:xfrm>
          <a:prstGeom prst="roundRect">
            <a:avLst>
              <a:gd name="adj" fmla="val 8000"/>
            </a:avLst>
          </a:prstGeom>
          <a:solidFill>
            <a:srgbClr val="F7F9FC"/>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p>
        </p:txBody>
      </p:sp>
      <p:sp>
        <p:nvSpPr>
          <p:cNvPr id="30" name="Rounded Rectangle 29"/>
          <p:cNvSpPr/>
          <p:nvPr/>
        </p:nvSpPr>
        <p:spPr>
          <a:xfrm>
            <a:off x="6520800" y="1908000"/>
            <a:ext cx="2954400" cy="34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1600" bIns="21600"/>
          <a:lstStyle/>
          <a:p>
            <a:pPr algn="l"/>
            <a:r>
              <a:rPr sz="1200" b="1">
                <a:solidFill>
                  <a:srgbClr val="FFFFFF"/>
                </a:solidFill>
                <a:latin typeface="メイリオ"/>
                <a:ea typeface="メイリオ"/>
                <a:cs typeface="メイリオ"/>
              </a:rPr>
              <a:t>3  入社後がわかる体験談</a:t>
            </a:r>
          </a:p>
        </p:txBody>
      </p:sp>
      <p:sp>
        <p:nvSpPr>
          <p:cNvPr id="31" name="Rectangle 30"/>
          <p:cNvSpPr/>
          <p:nvPr/>
        </p:nvSpPr>
        <p:spPr>
          <a:xfrm>
            <a:off x="6610800" y="2322000"/>
            <a:ext cx="2774400" cy="140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1600" bIns="21600"/>
          <a:lstStyle/>
          <a:p>
            <a:pPr algn="l"/>
            <a:r>
              <a:rPr sz="1150" b="0">
                <a:solidFill>
                  <a:srgbClr val="333333"/>
                </a:solidFill>
                <a:latin typeface="メイリオ"/>
                <a:ea typeface="メイリオ"/>
                <a:cs typeface="メイリオ"/>
              </a:rPr>
              <a:t>「入社3ヶ月の先輩整備士の1日」「工場の設備・工具」など、入社後が想像できる体験談を配信。入社後どうなるかの不安を、実例で解消する。</a:t>
            </a:r>
          </a:p>
        </p:txBody>
      </p:sp>
      <p:sp>
        <p:nvSpPr>
          <p:cNvPr id="32" name="Rounded Rectangle 31"/>
          <p:cNvSpPr/>
          <p:nvPr/>
        </p:nvSpPr>
        <p:spPr>
          <a:xfrm>
            <a:off x="6610800" y="3798000"/>
            <a:ext cx="864800" cy="540000"/>
          </a:xfrm>
          <a:prstGeom prst="roundRect">
            <a:avLst>
              <a:gd name="adj" fmla="val 8000"/>
            </a:avLst>
          </a:prstGeom>
          <a:solidFill>
            <a:srgbClr val="3467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950" b="1">
                <a:solidFill>
                  <a:srgbClr val="FFFFFF"/>
                </a:solidFill>
                <a:latin typeface="メイリオ"/>
                <a:ea typeface="メイリオ"/>
                <a:cs typeface="メイリオ"/>
              </a:rPr>
              <a:t>1</a:t>
            </a:r>
          </a:p>
          <a:p>
            <a:pPr algn="ctr"/>
            <a:r>
              <a:rPr sz="1000" b="1">
                <a:solidFill>
                  <a:srgbClr val="FFFFFF"/>
                </a:solidFill>
                <a:latin typeface="メイリオ"/>
                <a:ea typeface="メイリオ"/>
                <a:cs typeface="メイリオ"/>
              </a:rPr>
              <a:t>体験談を配信</a:t>
            </a:r>
          </a:p>
        </p:txBody>
      </p:sp>
      <p:sp>
        <p:nvSpPr>
          <p:cNvPr id="33" name="Rounded Rectangle 32"/>
          <p:cNvSpPr/>
          <p:nvPr/>
        </p:nvSpPr>
        <p:spPr>
          <a:xfrm>
            <a:off x="7565600" y="3798000"/>
            <a:ext cx="864800" cy="540000"/>
          </a:xfrm>
          <a:prstGeom prst="roundRect">
            <a:avLst>
              <a:gd name="adj" fmla="val 8000"/>
            </a:avLst>
          </a:prstGeom>
          <a:solidFill>
            <a:srgbClr val="3467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950" b="1">
                <a:solidFill>
                  <a:srgbClr val="FFFFFF"/>
                </a:solidFill>
                <a:latin typeface="メイリオ"/>
                <a:ea typeface="メイリオ"/>
                <a:cs typeface="メイリオ"/>
              </a:rPr>
              <a:t>2</a:t>
            </a:r>
          </a:p>
          <a:p>
            <a:pPr algn="ctr"/>
            <a:r>
              <a:rPr sz="1000" b="1">
                <a:solidFill>
                  <a:srgbClr val="FFFFFF"/>
                </a:solidFill>
                <a:latin typeface="メイリオ"/>
                <a:ea typeface="メイリオ"/>
                <a:cs typeface="メイリオ"/>
              </a:rPr>
              <a:t>不安を解消</a:t>
            </a:r>
          </a:p>
        </p:txBody>
      </p:sp>
      <p:sp>
        <p:nvSpPr>
          <p:cNvPr id="34" name="Rounded Rectangle 33"/>
          <p:cNvSpPr/>
          <p:nvPr/>
        </p:nvSpPr>
        <p:spPr>
          <a:xfrm>
            <a:off x="8520400" y="3798000"/>
            <a:ext cx="864800" cy="540000"/>
          </a:xfrm>
          <a:prstGeom prst="roundRect">
            <a:avLst>
              <a:gd name="adj" fmla="val 8000"/>
            </a:avLst>
          </a:prstGeom>
          <a:solidFill>
            <a:srgbClr val="3467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950" b="1">
                <a:solidFill>
                  <a:srgbClr val="FFFFFF"/>
                </a:solidFill>
                <a:latin typeface="メイリオ"/>
                <a:ea typeface="メイリオ"/>
                <a:cs typeface="メイリオ"/>
              </a:rPr>
              <a:t>3</a:t>
            </a:r>
          </a:p>
          <a:p>
            <a:pPr algn="ctr"/>
            <a:r>
              <a:rPr sz="1000" b="1">
                <a:solidFill>
                  <a:srgbClr val="FFFFFF"/>
                </a:solidFill>
                <a:latin typeface="メイリオ"/>
                <a:ea typeface="メイリオ"/>
                <a:cs typeface="メイリオ"/>
              </a:rPr>
              <a:t>内定承諾</a:t>
            </a:r>
          </a:p>
        </p:txBody>
      </p:sp>
      <p:sp>
        <p:nvSpPr>
          <p:cNvPr id="35" name="Rounded Rectangle 34"/>
          <p:cNvSpPr/>
          <p:nvPr/>
        </p:nvSpPr>
        <p:spPr>
          <a:xfrm>
            <a:off x="6610800" y="4428000"/>
            <a:ext cx="2774400" cy="792000"/>
          </a:xfrm>
          <a:prstGeom prst="roundRect">
            <a:avLst>
              <a:gd name="adj" fmla="val 8000"/>
            </a:avLst>
          </a:prstGeom>
          <a:solidFill>
            <a:srgbClr val="E2F0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950" b="1">
                <a:solidFill>
                  <a:srgbClr val="7F7F7F"/>
                </a:solidFill>
                <a:latin typeface="メイリオ"/>
                <a:ea typeface="メイリオ"/>
                <a:cs typeface="メイリオ"/>
              </a:rPr>
              <a:t>チェングロウスでは</a:t>
            </a:r>
          </a:p>
          <a:p>
            <a:pPr algn="ctr"/>
            <a:r>
              <a:rPr sz="1100" b="1">
                <a:solidFill>
                  <a:srgbClr val="1F285A"/>
                </a:solidFill>
                <a:latin typeface="メイリオ"/>
                <a:ea typeface="メイリオ"/>
                <a:cs typeface="メイリオ"/>
              </a:rPr>
              <a:t>前後検索：検索の直後に「ホワイト企業」など働き方の検索</a:t>
            </a:r>
          </a:p>
        </p:txBody>
      </p:sp>
      <p:sp>
        <p:nvSpPr>
          <p:cNvPr id="36" name="Rounded Rectangle 35"/>
          <p:cNvSpPr/>
          <p:nvPr/>
        </p:nvSpPr>
        <p:spPr>
          <a:xfrm>
            <a:off x="432000" y="5472000"/>
            <a:ext cx="9043200" cy="34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1300" b="1">
                <a:solidFill>
                  <a:srgbClr val="FFFFFF"/>
                </a:solidFill>
                <a:latin typeface="メイリオ"/>
                <a:ea typeface="メイリオ"/>
                <a:cs typeface="メイリオ"/>
              </a:rPr>
              <a:t>内定の後もLINEでつながっているから、辞退を防げる。</a:t>
            </a:r>
          </a:p>
        </p:txBody>
      </p:sp>
    </p:spTree>
    <p:extLst>
      <p:ext uri="{BB962C8B-B14F-4D97-AF65-F5344CB8AC3E}">
        <p14:creationId xmlns:p14="http://schemas.microsoft.com/office/powerpoint/2010/main" val="242184237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cxnSp>
        <p:nvCxnSpPr>
          <p:cNvPr id="5" name="直線コネクタ 4">
            <a:extLst>
              <a:ext uri="{FF2B5EF4-FFF2-40B4-BE49-F238E27FC236}">
                <a16:creationId xmlns:a16="http://schemas.microsoft.com/office/drawing/2014/main" id="{73533EC4-DA04-2252-5E95-8206105B300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DEFE914D-32AD-C9E0-A47B-60FB84F7995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改善モデル④｜定着・紹介につなげる</a:t>
            </a:r>
            <a:r>
              <a:rPr lang="ja-JP" altLang="en-US" sz="1600" b="1" dirty="0">
                <a:solidFill>
                  <a:srgbClr val="002060"/>
                </a:solidFill>
                <a:latin typeface="Meiryo"/>
                <a:ea typeface="Meiryo"/>
                <a:cs typeface="Meiryo"/>
                <a:sym typeface="Meiryo"/>
              </a:rPr>
              <a:t/>
            </a:r>
            <a:endParaRPr sz="1600" b="1" dirty="0">
              <a:solidFill>
                <a:srgbClr val="002060"/>
              </a:solidFill>
              <a:latin typeface="Meiryo"/>
              <a:ea typeface="Meiryo"/>
              <a:cs typeface="Meiryo"/>
              <a:sym typeface="Meiryo"/>
            </a:endParaRPr>
          </a:p>
        </p:txBody>
      </p:sp>
      <p:sp>
        <p:nvSpPr>
          <p:cNvPr id="46" name="Rectangle 45"/>
          <p:cNvSpPr/>
          <p:nvPr/>
        </p:nvSpPr>
        <p:spPr>
          <a:xfrm>
            <a:off x="432000" y="666000"/>
            <a:ext cx="9036000" cy="66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1600" bIns="21600"/>
          <a:lstStyle/>
          <a:p>
            <a:pPr algn="l"/>
            <a:r>
              <a:rPr sz="1300" b="0">
                <a:solidFill>
                  <a:srgbClr val="333333"/>
                </a:solidFill>
                <a:latin typeface="メイリオ"/>
                <a:ea typeface="メイリオ"/>
                <a:cs typeface="メイリオ"/>
              </a:rPr>
              <a:t>入社後3ヶ月の定着を支え、</a:t>
            </a:r>
          </a:p>
          <a:p>
            <a:pPr algn="l"/>
            <a:r>
              <a:rPr sz="1300" b="0">
                <a:solidFill>
                  <a:srgbClr val="333333"/>
                </a:solidFill>
                <a:latin typeface="メイリオ"/>
                <a:ea typeface="メイリオ"/>
                <a:cs typeface="メイリオ"/>
              </a:rPr>
              <a:t>友だち紹介と、次の転職時の再利用につなげます。</a:t>
            </a:r>
          </a:p>
        </p:txBody>
      </p:sp>
      <p:sp>
        <p:nvSpPr>
          <p:cNvPr id="47" name="Pentagon 46"/>
          <p:cNvSpPr/>
          <p:nvPr/>
        </p:nvSpPr>
        <p:spPr>
          <a:xfrm>
            <a:off x="432000" y="1494000"/>
            <a:ext cx="1092600" cy="288000"/>
          </a:xfrm>
          <a:prstGeom prst="homePlate">
            <a:avLst/>
          </a:prstGeom>
          <a:solidFill>
            <a:srgbClr val="E7E6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1600" bIns="21600"/>
          <a:lstStyle/>
          <a:p>
            <a:pPr algn="ctr"/>
            <a:r>
              <a:rPr sz="900" b="1">
                <a:solidFill>
                  <a:srgbClr val="A6A6A6"/>
                </a:solidFill>
                <a:latin typeface="メイリオ"/>
                <a:ea typeface="メイリオ"/>
                <a:cs typeface="メイリオ"/>
              </a:rPr>
              <a:t>①接触</a:t>
            </a:r>
          </a:p>
        </p:txBody>
      </p:sp>
      <p:sp>
        <p:nvSpPr>
          <p:cNvPr id="48" name="Chevron 47"/>
          <p:cNvSpPr/>
          <p:nvPr/>
        </p:nvSpPr>
        <p:spPr>
          <a:xfrm>
            <a:off x="1567800" y="1494000"/>
            <a:ext cx="1092600" cy="288000"/>
          </a:xfrm>
          <a:prstGeom prst="chevron">
            <a:avLst/>
          </a:prstGeom>
          <a:solidFill>
            <a:srgbClr val="E7E6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1600" bIns="21600"/>
          <a:lstStyle/>
          <a:p>
            <a:pPr algn="ctr"/>
            <a:r>
              <a:rPr sz="900" b="1">
                <a:solidFill>
                  <a:srgbClr val="A6A6A6"/>
                </a:solidFill>
                <a:latin typeface="メイリオ"/>
                <a:ea typeface="メイリオ"/>
                <a:cs typeface="メイリオ"/>
              </a:rPr>
              <a:t>②離脱</a:t>
            </a:r>
          </a:p>
        </p:txBody>
      </p:sp>
      <p:sp>
        <p:nvSpPr>
          <p:cNvPr id="49" name="Chevron 48"/>
          <p:cNvSpPr/>
          <p:nvPr/>
        </p:nvSpPr>
        <p:spPr>
          <a:xfrm>
            <a:off x="2703600" y="1494000"/>
            <a:ext cx="1092600" cy="288000"/>
          </a:xfrm>
          <a:prstGeom prst="chevron">
            <a:avLst/>
          </a:prstGeom>
          <a:solidFill>
            <a:srgbClr val="E7E6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1600" bIns="21600"/>
          <a:lstStyle/>
          <a:p>
            <a:pPr algn="ctr"/>
            <a:r>
              <a:rPr sz="900" b="1">
                <a:solidFill>
                  <a:srgbClr val="A6A6A6"/>
                </a:solidFill>
                <a:latin typeface="メイリオ"/>
                <a:ea typeface="メイリオ"/>
                <a:cs typeface="メイリオ"/>
              </a:rPr>
              <a:t>③興味喚起</a:t>
            </a:r>
          </a:p>
        </p:txBody>
      </p:sp>
      <p:sp>
        <p:nvSpPr>
          <p:cNvPr id="50" name="Chevron 49"/>
          <p:cNvSpPr/>
          <p:nvPr/>
        </p:nvSpPr>
        <p:spPr>
          <a:xfrm>
            <a:off x="3839399" y="1494000"/>
            <a:ext cx="1092600" cy="288000"/>
          </a:xfrm>
          <a:prstGeom prst="chevron">
            <a:avLst/>
          </a:prstGeom>
          <a:solidFill>
            <a:srgbClr val="E7E6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1600" bIns="21600"/>
          <a:lstStyle/>
          <a:p>
            <a:pPr algn="ctr"/>
            <a:r>
              <a:rPr sz="900" b="1">
                <a:solidFill>
                  <a:srgbClr val="A6A6A6"/>
                </a:solidFill>
                <a:latin typeface="メイリオ"/>
                <a:ea typeface="メイリオ"/>
                <a:cs typeface="メイリオ"/>
              </a:rPr>
              <a:t>④友だち追加</a:t>
            </a:r>
          </a:p>
        </p:txBody>
      </p:sp>
      <p:sp>
        <p:nvSpPr>
          <p:cNvPr id="51" name="Chevron 50"/>
          <p:cNvSpPr/>
          <p:nvPr/>
        </p:nvSpPr>
        <p:spPr>
          <a:xfrm>
            <a:off x="4975200" y="1494000"/>
            <a:ext cx="1092600" cy="288000"/>
          </a:xfrm>
          <a:prstGeom prst="chevron">
            <a:avLst/>
          </a:prstGeom>
          <a:solidFill>
            <a:srgbClr val="E7E6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1600" bIns="21600"/>
          <a:lstStyle/>
          <a:p>
            <a:pPr algn="ctr"/>
            <a:r>
              <a:rPr sz="900" b="1">
                <a:solidFill>
                  <a:srgbClr val="A6A6A6"/>
                </a:solidFill>
                <a:latin typeface="メイリオ"/>
                <a:ea typeface="メイリオ"/>
                <a:cs typeface="メイリオ"/>
              </a:rPr>
              <a:t>⑤面談</a:t>
            </a:r>
          </a:p>
        </p:txBody>
      </p:sp>
      <p:sp>
        <p:nvSpPr>
          <p:cNvPr id="52" name="Chevron 51"/>
          <p:cNvSpPr/>
          <p:nvPr/>
        </p:nvSpPr>
        <p:spPr>
          <a:xfrm>
            <a:off x="6111000" y="1494000"/>
            <a:ext cx="1092600" cy="288000"/>
          </a:xfrm>
          <a:prstGeom prst="chevron">
            <a:avLst/>
          </a:prstGeom>
          <a:solidFill>
            <a:srgbClr val="E7E6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1600" bIns="21600"/>
          <a:lstStyle/>
          <a:p>
            <a:pPr algn="ctr"/>
            <a:r>
              <a:rPr sz="900" b="1">
                <a:solidFill>
                  <a:srgbClr val="A6A6A6"/>
                </a:solidFill>
                <a:latin typeface="メイリオ"/>
                <a:ea typeface="メイリオ"/>
                <a:cs typeface="メイリオ"/>
              </a:rPr>
              <a:t>⑥求人紹介</a:t>
            </a:r>
          </a:p>
        </p:txBody>
      </p:sp>
      <p:sp>
        <p:nvSpPr>
          <p:cNvPr id="53" name="Chevron 52"/>
          <p:cNvSpPr/>
          <p:nvPr/>
        </p:nvSpPr>
        <p:spPr>
          <a:xfrm>
            <a:off x="7246800" y="1494000"/>
            <a:ext cx="1092600" cy="288000"/>
          </a:xfrm>
          <a:prstGeom prst="chevron">
            <a:avLst/>
          </a:prstGeom>
          <a:solidFill>
            <a:srgbClr val="E7E6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1600" bIns="21600"/>
          <a:lstStyle/>
          <a:p>
            <a:pPr algn="ctr"/>
            <a:r>
              <a:rPr sz="900" b="1">
                <a:solidFill>
                  <a:srgbClr val="A6A6A6"/>
                </a:solidFill>
                <a:latin typeface="メイリオ"/>
                <a:ea typeface="メイリオ"/>
                <a:cs typeface="メイリオ"/>
              </a:rPr>
              <a:t>⑦内定承諾</a:t>
            </a:r>
          </a:p>
        </p:txBody>
      </p:sp>
      <p:sp>
        <p:nvSpPr>
          <p:cNvPr id="54" name="Chevron 53"/>
          <p:cNvSpPr/>
          <p:nvPr/>
        </p:nvSpPr>
        <p:spPr>
          <a:xfrm>
            <a:off x="8382600" y="1494000"/>
            <a:ext cx="1092600" cy="288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1600" bIns="21600"/>
          <a:lstStyle/>
          <a:p>
            <a:pPr algn="ctr"/>
            <a:r>
              <a:rPr sz="900" b="1">
                <a:solidFill>
                  <a:srgbClr val="FFFFFF"/>
                </a:solidFill>
                <a:latin typeface="メイリオ"/>
                <a:ea typeface="メイリオ"/>
                <a:cs typeface="メイリオ"/>
              </a:rPr>
              <a:t>⑧定着・紹介</a:t>
            </a:r>
          </a:p>
        </p:txBody>
      </p:sp>
      <p:sp>
        <p:nvSpPr>
          <p:cNvPr id="55" name="Rounded Rectangle 54"/>
          <p:cNvSpPr/>
          <p:nvPr/>
        </p:nvSpPr>
        <p:spPr>
          <a:xfrm>
            <a:off x="432000" y="1908000"/>
            <a:ext cx="2954400" cy="3401999"/>
          </a:xfrm>
          <a:prstGeom prst="roundRect">
            <a:avLst>
              <a:gd name="adj" fmla="val 8000"/>
            </a:avLst>
          </a:prstGeom>
          <a:solidFill>
            <a:srgbClr val="F7F9FC"/>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p>
        </p:txBody>
      </p:sp>
      <p:sp>
        <p:nvSpPr>
          <p:cNvPr id="56" name="Rounded Rectangle 55"/>
          <p:cNvSpPr/>
          <p:nvPr/>
        </p:nvSpPr>
        <p:spPr>
          <a:xfrm>
            <a:off x="432000" y="1908000"/>
            <a:ext cx="2954400" cy="34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1600" bIns="21600"/>
          <a:lstStyle/>
          <a:p>
            <a:pPr algn="l"/>
            <a:r>
              <a:rPr sz="1200" b="1">
                <a:solidFill>
                  <a:srgbClr val="FFFFFF"/>
                </a:solidFill>
                <a:latin typeface="メイリオ"/>
                <a:ea typeface="メイリオ"/>
                <a:cs typeface="メイリオ"/>
              </a:rPr>
              <a:t>1  定着フォロー</a:t>
            </a:r>
          </a:p>
        </p:txBody>
      </p:sp>
      <p:sp>
        <p:nvSpPr>
          <p:cNvPr id="57" name="Rectangle 56"/>
          <p:cNvSpPr/>
          <p:nvPr/>
        </p:nvSpPr>
        <p:spPr>
          <a:xfrm>
            <a:off x="522000" y="2322000"/>
            <a:ext cx="2774400" cy="140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1600" bIns="21600"/>
          <a:lstStyle/>
          <a:p>
            <a:pPr algn="l"/>
            <a:r>
              <a:rPr sz="1150" b="0">
                <a:solidFill>
                  <a:srgbClr val="333333"/>
                </a:solidFill>
                <a:latin typeface="メイリオ"/>
                <a:ea typeface="メイリオ"/>
                <a:cs typeface="メイリオ"/>
              </a:rPr>
              <a:t>入社日からの日数をタグで管理し、1週間後・1ヶ月後・3ヶ月後に「困っていることはありませんか？」を自動配信。早期離職の兆しがあれば担当者が介入。</a:t>
            </a:r>
          </a:p>
        </p:txBody>
      </p:sp>
      <p:sp>
        <p:nvSpPr>
          <p:cNvPr id="58" name="Rounded Rectangle 57"/>
          <p:cNvSpPr/>
          <p:nvPr/>
        </p:nvSpPr>
        <p:spPr>
          <a:xfrm>
            <a:off x="522000" y="3798000"/>
            <a:ext cx="864800" cy="540000"/>
          </a:xfrm>
          <a:prstGeom prst="roundRect">
            <a:avLst>
              <a:gd name="adj" fmla="val 8000"/>
            </a:avLst>
          </a:prstGeom>
          <a:solidFill>
            <a:srgbClr val="3467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950" b="1">
                <a:solidFill>
                  <a:srgbClr val="FFFFFF"/>
                </a:solidFill>
                <a:latin typeface="メイリオ"/>
                <a:ea typeface="メイリオ"/>
                <a:cs typeface="メイリオ"/>
              </a:rPr>
              <a:t>1</a:t>
            </a:r>
          </a:p>
          <a:p>
            <a:pPr algn="ctr"/>
            <a:r>
              <a:rPr sz="1000" b="1">
                <a:solidFill>
                  <a:srgbClr val="FFFFFF"/>
                </a:solidFill>
                <a:latin typeface="メイリオ"/>
                <a:ea typeface="メイリオ"/>
                <a:cs typeface="メイリオ"/>
              </a:rPr>
              <a:t>入社日をタグ化</a:t>
            </a:r>
          </a:p>
        </p:txBody>
      </p:sp>
      <p:sp>
        <p:nvSpPr>
          <p:cNvPr id="59" name="Rounded Rectangle 58"/>
          <p:cNvSpPr/>
          <p:nvPr/>
        </p:nvSpPr>
        <p:spPr>
          <a:xfrm>
            <a:off x="1476800" y="3798000"/>
            <a:ext cx="864800" cy="540000"/>
          </a:xfrm>
          <a:prstGeom prst="roundRect">
            <a:avLst>
              <a:gd name="adj" fmla="val 8000"/>
            </a:avLst>
          </a:prstGeom>
          <a:solidFill>
            <a:srgbClr val="3467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950" b="1">
                <a:solidFill>
                  <a:srgbClr val="FFFFFF"/>
                </a:solidFill>
                <a:latin typeface="メイリオ"/>
                <a:ea typeface="メイリオ"/>
                <a:cs typeface="メイリオ"/>
              </a:rPr>
              <a:t>2</a:t>
            </a:r>
          </a:p>
          <a:p>
            <a:pPr algn="ctr"/>
            <a:r>
              <a:rPr sz="1000" b="1">
                <a:solidFill>
                  <a:srgbClr val="FFFFFF"/>
                </a:solidFill>
                <a:latin typeface="メイリオ"/>
                <a:ea typeface="メイリオ"/>
                <a:cs typeface="メイリオ"/>
              </a:rPr>
              <a:t>1週・1ヶ月・3ヶ月</a:t>
            </a:r>
          </a:p>
        </p:txBody>
      </p:sp>
      <p:sp>
        <p:nvSpPr>
          <p:cNvPr id="60" name="Rounded Rectangle 59"/>
          <p:cNvSpPr/>
          <p:nvPr/>
        </p:nvSpPr>
        <p:spPr>
          <a:xfrm>
            <a:off x="2431600" y="3798000"/>
            <a:ext cx="864800" cy="540000"/>
          </a:xfrm>
          <a:prstGeom prst="roundRect">
            <a:avLst>
              <a:gd name="adj" fmla="val 8000"/>
            </a:avLst>
          </a:prstGeom>
          <a:solidFill>
            <a:srgbClr val="3467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950" b="1">
                <a:solidFill>
                  <a:srgbClr val="FFFFFF"/>
                </a:solidFill>
                <a:latin typeface="メイリオ"/>
                <a:ea typeface="メイリオ"/>
                <a:cs typeface="メイリオ"/>
              </a:rPr>
              <a:t>3</a:t>
            </a:r>
          </a:p>
          <a:p>
            <a:pPr algn="ctr"/>
            <a:r>
              <a:rPr sz="1000" b="1">
                <a:solidFill>
                  <a:srgbClr val="FFFFFF"/>
                </a:solidFill>
                <a:latin typeface="メイリオ"/>
                <a:ea typeface="メイリオ"/>
                <a:cs typeface="メイリオ"/>
              </a:rPr>
              <a:t>早期離職を防ぐ</a:t>
            </a:r>
          </a:p>
        </p:txBody>
      </p:sp>
      <p:sp>
        <p:nvSpPr>
          <p:cNvPr id="61" name="Rounded Rectangle 60"/>
          <p:cNvSpPr/>
          <p:nvPr/>
        </p:nvSpPr>
        <p:spPr>
          <a:xfrm>
            <a:off x="522000" y="4428000"/>
            <a:ext cx="2774400" cy="792000"/>
          </a:xfrm>
          <a:prstGeom prst="roundRect">
            <a:avLst>
              <a:gd name="adj" fmla="val 8000"/>
            </a:avLst>
          </a:prstGeom>
          <a:solidFill>
            <a:srgbClr val="E2F0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950" b="1">
                <a:solidFill>
                  <a:srgbClr val="7F7F7F"/>
                </a:solidFill>
                <a:latin typeface="メイリオ"/>
                <a:ea typeface="メイリオ"/>
                <a:cs typeface="メイリオ"/>
              </a:rPr>
              <a:t>チェングロウスでは</a:t>
            </a:r>
          </a:p>
          <a:p>
            <a:pPr algn="ctr"/>
            <a:r>
              <a:rPr sz="1100" b="1">
                <a:solidFill>
                  <a:srgbClr val="1F285A"/>
                </a:solidFill>
                <a:latin typeface="メイリオ"/>
                <a:ea typeface="メイリオ"/>
                <a:cs typeface="メイリオ"/>
              </a:rPr>
              <a:t>定着が、紹介・再利用の土台になる</a:t>
            </a:r>
          </a:p>
        </p:txBody>
      </p:sp>
      <p:sp>
        <p:nvSpPr>
          <p:cNvPr id="62" name="Rounded Rectangle 61"/>
          <p:cNvSpPr/>
          <p:nvPr/>
        </p:nvSpPr>
        <p:spPr>
          <a:xfrm>
            <a:off x="3476400" y="1908000"/>
            <a:ext cx="2954400" cy="3401999"/>
          </a:xfrm>
          <a:prstGeom prst="roundRect">
            <a:avLst>
              <a:gd name="adj" fmla="val 8000"/>
            </a:avLst>
          </a:prstGeom>
          <a:solidFill>
            <a:srgbClr val="F7F9FC"/>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p>
        </p:txBody>
      </p:sp>
      <p:sp>
        <p:nvSpPr>
          <p:cNvPr id="63" name="Rounded Rectangle 62"/>
          <p:cNvSpPr/>
          <p:nvPr/>
        </p:nvSpPr>
        <p:spPr>
          <a:xfrm>
            <a:off x="3476400" y="1908000"/>
            <a:ext cx="2954400" cy="34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1600" bIns="21600"/>
          <a:lstStyle/>
          <a:p>
            <a:pPr algn="l"/>
            <a:r>
              <a:rPr sz="1200" b="1">
                <a:solidFill>
                  <a:srgbClr val="FFFFFF"/>
                </a:solidFill>
                <a:latin typeface="メイリオ"/>
                <a:ea typeface="メイリオ"/>
                <a:cs typeface="メイリオ"/>
              </a:rPr>
              <a:t>2  友だち紹介キャンペーン</a:t>
            </a:r>
          </a:p>
        </p:txBody>
      </p:sp>
      <p:sp>
        <p:nvSpPr>
          <p:cNvPr id="64" name="Rectangle 63"/>
          <p:cNvSpPr/>
          <p:nvPr/>
        </p:nvSpPr>
        <p:spPr>
          <a:xfrm>
            <a:off x="3566400" y="2322000"/>
            <a:ext cx="2774400" cy="140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1600" bIns="21600"/>
          <a:lstStyle/>
          <a:p>
            <a:pPr algn="l"/>
            <a:r>
              <a:rPr sz="1150" b="0">
                <a:solidFill>
                  <a:srgbClr val="333333"/>
                </a:solidFill>
                <a:latin typeface="メイリオ"/>
                <a:ea typeface="メイリオ"/>
                <a:cs typeface="メイリオ"/>
              </a:rPr>
              <a:t>定着を確認できたタイミング（入社3ヶ月が目安）で「整備士仲間をご紹介ください」を配信。LINEでシェアでき、紹介経由の人はミスマッチが少ない。</a:t>
            </a:r>
          </a:p>
        </p:txBody>
      </p:sp>
      <p:sp>
        <p:nvSpPr>
          <p:cNvPr id="65" name="Rounded Rectangle 64"/>
          <p:cNvSpPr/>
          <p:nvPr/>
        </p:nvSpPr>
        <p:spPr>
          <a:xfrm>
            <a:off x="3566400" y="3798000"/>
            <a:ext cx="864800" cy="540000"/>
          </a:xfrm>
          <a:prstGeom prst="roundRect">
            <a:avLst>
              <a:gd name="adj" fmla="val 8000"/>
            </a:avLst>
          </a:prstGeom>
          <a:solidFill>
            <a:srgbClr val="3467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950" b="1">
                <a:solidFill>
                  <a:srgbClr val="FFFFFF"/>
                </a:solidFill>
                <a:latin typeface="メイリオ"/>
                <a:ea typeface="メイリオ"/>
                <a:cs typeface="メイリオ"/>
              </a:rPr>
              <a:t>1</a:t>
            </a:r>
          </a:p>
          <a:p>
            <a:pPr algn="ctr"/>
            <a:r>
              <a:rPr sz="1000" b="1">
                <a:solidFill>
                  <a:srgbClr val="FFFFFF"/>
                </a:solidFill>
                <a:latin typeface="メイリオ"/>
                <a:ea typeface="メイリオ"/>
                <a:cs typeface="メイリオ"/>
              </a:rPr>
              <a:t>定着を確認</a:t>
            </a:r>
          </a:p>
        </p:txBody>
      </p:sp>
      <p:sp>
        <p:nvSpPr>
          <p:cNvPr id="66" name="Rounded Rectangle 65"/>
          <p:cNvSpPr/>
          <p:nvPr/>
        </p:nvSpPr>
        <p:spPr>
          <a:xfrm>
            <a:off x="4521200" y="3798000"/>
            <a:ext cx="864800" cy="540000"/>
          </a:xfrm>
          <a:prstGeom prst="roundRect">
            <a:avLst>
              <a:gd name="adj" fmla="val 8000"/>
            </a:avLst>
          </a:prstGeom>
          <a:solidFill>
            <a:srgbClr val="3467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950" b="1">
                <a:solidFill>
                  <a:srgbClr val="FFFFFF"/>
                </a:solidFill>
                <a:latin typeface="メイリオ"/>
                <a:ea typeface="メイリオ"/>
                <a:cs typeface="メイリオ"/>
              </a:rPr>
              <a:t>2</a:t>
            </a:r>
          </a:p>
          <a:p>
            <a:pPr algn="ctr"/>
            <a:r>
              <a:rPr sz="1000" b="1">
                <a:solidFill>
                  <a:srgbClr val="FFFFFF"/>
                </a:solidFill>
                <a:latin typeface="メイリオ"/>
                <a:ea typeface="メイリオ"/>
                <a:cs typeface="メイリオ"/>
              </a:rPr>
              <a:t>紹介のご案内</a:t>
            </a:r>
          </a:p>
        </p:txBody>
      </p:sp>
      <p:sp>
        <p:nvSpPr>
          <p:cNvPr id="67" name="Rounded Rectangle 66"/>
          <p:cNvSpPr/>
          <p:nvPr/>
        </p:nvSpPr>
        <p:spPr>
          <a:xfrm>
            <a:off x="5476000" y="3798000"/>
            <a:ext cx="864800" cy="540000"/>
          </a:xfrm>
          <a:prstGeom prst="roundRect">
            <a:avLst>
              <a:gd name="adj" fmla="val 8000"/>
            </a:avLst>
          </a:prstGeom>
          <a:solidFill>
            <a:srgbClr val="3467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950" b="1">
                <a:solidFill>
                  <a:srgbClr val="FFFFFF"/>
                </a:solidFill>
                <a:latin typeface="メイリオ"/>
                <a:ea typeface="メイリオ"/>
                <a:cs typeface="メイリオ"/>
              </a:rPr>
              <a:t>3</a:t>
            </a:r>
          </a:p>
          <a:p>
            <a:pPr algn="ctr"/>
            <a:r>
              <a:rPr sz="1000" b="1">
                <a:solidFill>
                  <a:srgbClr val="FFFFFF"/>
                </a:solidFill>
                <a:latin typeface="メイリオ"/>
                <a:ea typeface="メイリオ"/>
                <a:cs typeface="メイリオ"/>
              </a:rPr>
              <a:t>紹介経由の登録</a:t>
            </a:r>
          </a:p>
        </p:txBody>
      </p:sp>
      <p:sp>
        <p:nvSpPr>
          <p:cNvPr id="68" name="Rounded Rectangle 67"/>
          <p:cNvSpPr/>
          <p:nvPr/>
        </p:nvSpPr>
        <p:spPr>
          <a:xfrm>
            <a:off x="3566400" y="4428000"/>
            <a:ext cx="2774400" cy="792000"/>
          </a:xfrm>
          <a:prstGeom prst="roundRect">
            <a:avLst>
              <a:gd name="adj" fmla="val 8000"/>
            </a:avLst>
          </a:prstGeom>
          <a:solidFill>
            <a:srgbClr val="E2F0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950" b="1">
                <a:solidFill>
                  <a:srgbClr val="7F7F7F"/>
                </a:solidFill>
                <a:latin typeface="メイリオ"/>
                <a:ea typeface="メイリオ"/>
                <a:cs typeface="メイリオ"/>
              </a:rPr>
              <a:t>チェングロウスでは</a:t>
            </a:r>
          </a:p>
          <a:p>
            <a:pPr algn="ctr"/>
            <a:r>
              <a:rPr sz="1100" b="1">
                <a:solidFill>
                  <a:srgbClr val="1F285A"/>
                </a:solidFill>
                <a:latin typeface="メイリオ"/>
                <a:ea typeface="メイリオ"/>
                <a:cs typeface="メイリオ"/>
              </a:rPr>
              <a:t>広告費ゼロで新しい友だちが増える</a:t>
            </a:r>
          </a:p>
        </p:txBody>
      </p:sp>
      <p:sp>
        <p:nvSpPr>
          <p:cNvPr id="69" name="Rounded Rectangle 68"/>
          <p:cNvSpPr/>
          <p:nvPr/>
        </p:nvSpPr>
        <p:spPr>
          <a:xfrm>
            <a:off x="6520800" y="1908000"/>
            <a:ext cx="2954400" cy="3401999"/>
          </a:xfrm>
          <a:prstGeom prst="roundRect">
            <a:avLst>
              <a:gd name="adj" fmla="val 8000"/>
            </a:avLst>
          </a:prstGeom>
          <a:solidFill>
            <a:srgbClr val="F7F9FC"/>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p>
        </p:txBody>
      </p:sp>
      <p:sp>
        <p:nvSpPr>
          <p:cNvPr id="70" name="Rounded Rectangle 69"/>
          <p:cNvSpPr/>
          <p:nvPr/>
        </p:nvSpPr>
        <p:spPr>
          <a:xfrm>
            <a:off x="6520800" y="1908000"/>
            <a:ext cx="2954400" cy="34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1600" bIns="21600"/>
          <a:lstStyle/>
          <a:p>
            <a:pPr algn="l"/>
            <a:r>
              <a:rPr sz="1200" b="1">
                <a:solidFill>
                  <a:srgbClr val="FFFFFF"/>
                </a:solidFill>
                <a:latin typeface="メイリオ"/>
                <a:ea typeface="メイリオ"/>
                <a:cs typeface="メイリオ"/>
              </a:rPr>
              <a:t>3  長期離脱層への再接触</a:t>
            </a:r>
          </a:p>
        </p:txBody>
      </p:sp>
      <p:sp>
        <p:nvSpPr>
          <p:cNvPr id="71" name="Rectangle 70"/>
          <p:cNvSpPr/>
          <p:nvPr/>
        </p:nvSpPr>
        <p:spPr>
          <a:xfrm>
            <a:off x="6610800" y="2322000"/>
            <a:ext cx="2774400" cy="140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1600" bIns="21600"/>
          <a:lstStyle/>
          <a:p>
            <a:pPr algn="l"/>
            <a:r>
              <a:rPr sz="1150" b="0">
                <a:solidFill>
                  <a:srgbClr val="333333"/>
                </a:solidFill>
                <a:latin typeface="メイリオ"/>
                <a:ea typeface="メイリオ"/>
                <a:cs typeface="メイリオ"/>
              </a:rPr>
              <a:t>半年以上反応がない人には、売り込みをせず整備士の年収動向・資格情報を2〜3回届けて関係を戻す。そのうえで再登録・紹介へ。</a:t>
            </a:r>
          </a:p>
        </p:txBody>
      </p:sp>
      <p:sp>
        <p:nvSpPr>
          <p:cNvPr id="72" name="Rounded Rectangle 71"/>
          <p:cNvSpPr/>
          <p:nvPr/>
        </p:nvSpPr>
        <p:spPr>
          <a:xfrm>
            <a:off x="6610800" y="3798000"/>
            <a:ext cx="864800" cy="540000"/>
          </a:xfrm>
          <a:prstGeom prst="roundRect">
            <a:avLst>
              <a:gd name="adj" fmla="val 8000"/>
            </a:avLst>
          </a:prstGeom>
          <a:solidFill>
            <a:srgbClr val="3467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950" b="1">
                <a:solidFill>
                  <a:srgbClr val="FFFFFF"/>
                </a:solidFill>
                <a:latin typeface="メイリオ"/>
                <a:ea typeface="メイリオ"/>
                <a:cs typeface="メイリオ"/>
              </a:rPr>
              <a:t>1</a:t>
            </a:r>
          </a:p>
          <a:p>
            <a:pPr algn="ctr"/>
            <a:r>
              <a:rPr sz="1000" b="1">
                <a:solidFill>
                  <a:srgbClr val="FFFFFF"/>
                </a:solidFill>
                <a:latin typeface="メイリオ"/>
                <a:ea typeface="メイリオ"/>
                <a:cs typeface="メイリオ"/>
              </a:rPr>
              <a:t>情報だけを届ける</a:t>
            </a:r>
          </a:p>
        </p:txBody>
      </p:sp>
      <p:sp>
        <p:nvSpPr>
          <p:cNvPr id="73" name="Rounded Rectangle 72"/>
          <p:cNvSpPr/>
          <p:nvPr/>
        </p:nvSpPr>
        <p:spPr>
          <a:xfrm>
            <a:off x="7565600" y="3798000"/>
            <a:ext cx="864800" cy="540000"/>
          </a:xfrm>
          <a:prstGeom prst="roundRect">
            <a:avLst>
              <a:gd name="adj" fmla="val 8000"/>
            </a:avLst>
          </a:prstGeom>
          <a:solidFill>
            <a:srgbClr val="3467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950" b="1">
                <a:solidFill>
                  <a:srgbClr val="FFFFFF"/>
                </a:solidFill>
                <a:latin typeface="メイリオ"/>
                <a:ea typeface="メイリオ"/>
                <a:cs typeface="メイリオ"/>
              </a:rPr>
              <a:t>2</a:t>
            </a:r>
          </a:p>
          <a:p>
            <a:pPr algn="ctr"/>
            <a:r>
              <a:rPr sz="1000" b="1">
                <a:solidFill>
                  <a:srgbClr val="FFFFFF"/>
                </a:solidFill>
                <a:latin typeface="メイリオ"/>
                <a:ea typeface="メイリオ"/>
                <a:cs typeface="メイリオ"/>
              </a:rPr>
              <a:t>関係を戻す</a:t>
            </a:r>
          </a:p>
        </p:txBody>
      </p:sp>
      <p:sp>
        <p:nvSpPr>
          <p:cNvPr id="74" name="Rounded Rectangle 73"/>
          <p:cNvSpPr/>
          <p:nvPr/>
        </p:nvSpPr>
        <p:spPr>
          <a:xfrm>
            <a:off x="8520400" y="3798000"/>
            <a:ext cx="864800" cy="540000"/>
          </a:xfrm>
          <a:prstGeom prst="roundRect">
            <a:avLst>
              <a:gd name="adj" fmla="val 8000"/>
            </a:avLst>
          </a:prstGeom>
          <a:solidFill>
            <a:srgbClr val="3467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950" b="1">
                <a:solidFill>
                  <a:srgbClr val="FFFFFF"/>
                </a:solidFill>
                <a:latin typeface="メイリオ"/>
                <a:ea typeface="メイリオ"/>
                <a:cs typeface="メイリオ"/>
              </a:rPr>
              <a:t>3</a:t>
            </a:r>
          </a:p>
          <a:p>
            <a:pPr algn="ctr"/>
            <a:r>
              <a:rPr sz="1000" b="1">
                <a:solidFill>
                  <a:srgbClr val="FFFFFF"/>
                </a:solidFill>
                <a:latin typeface="メイリオ"/>
                <a:ea typeface="メイリオ"/>
                <a:cs typeface="メイリオ"/>
              </a:rPr>
              <a:t>再登録・紹介</a:t>
            </a:r>
          </a:p>
        </p:txBody>
      </p:sp>
      <p:sp>
        <p:nvSpPr>
          <p:cNvPr id="75" name="Rounded Rectangle 74"/>
          <p:cNvSpPr/>
          <p:nvPr/>
        </p:nvSpPr>
        <p:spPr>
          <a:xfrm>
            <a:off x="6610800" y="4428000"/>
            <a:ext cx="2774400" cy="792000"/>
          </a:xfrm>
          <a:prstGeom prst="roundRect">
            <a:avLst>
              <a:gd name="adj" fmla="val 8000"/>
            </a:avLst>
          </a:prstGeom>
          <a:solidFill>
            <a:srgbClr val="E2F0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950" b="1">
                <a:solidFill>
                  <a:srgbClr val="7F7F7F"/>
                </a:solidFill>
                <a:latin typeface="メイリオ"/>
                <a:ea typeface="メイリオ"/>
                <a:cs typeface="メイリオ"/>
              </a:rPr>
              <a:t>チェングロウスでは</a:t>
            </a:r>
          </a:p>
          <a:p>
            <a:pPr algn="ctr"/>
            <a:r>
              <a:rPr sz="1100" b="1">
                <a:solidFill>
                  <a:srgbClr val="1F285A"/>
                </a:solidFill>
                <a:latin typeface="メイリオ"/>
                <a:ea typeface="メイリオ"/>
                <a:cs typeface="メイリオ"/>
              </a:rPr>
              <a:t>ブロックされない接し方で、次の転職時に思い出してもらう</a:t>
            </a:r>
          </a:p>
        </p:txBody>
      </p:sp>
      <p:sp>
        <p:nvSpPr>
          <p:cNvPr id="76" name="Rounded Rectangle 75"/>
          <p:cNvSpPr/>
          <p:nvPr/>
        </p:nvSpPr>
        <p:spPr>
          <a:xfrm>
            <a:off x="432000" y="5472000"/>
            <a:ext cx="9043200" cy="34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1300" b="1">
                <a:solidFill>
                  <a:srgbClr val="FFFFFF"/>
                </a:solidFill>
                <a:latin typeface="メイリオ"/>
                <a:ea typeface="メイリオ"/>
                <a:cs typeface="メイリオ"/>
              </a:rPr>
              <a:t>一度つながった整備士と、次の転職まで関係を続ける。</a:t>
            </a:r>
          </a:p>
        </p:txBody>
      </p:sp>
    </p:spTree>
    <p:extLst>
      <p:ext uri="{BB962C8B-B14F-4D97-AF65-F5344CB8AC3E}">
        <p14:creationId xmlns:p14="http://schemas.microsoft.com/office/powerpoint/2010/main" val="126988837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7A8046-1654-094B-8F5D-E4DEE3745960}"/>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70E0618D-3216-35E4-D4C4-66DD232D827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87478A58-B30A-B13E-22E3-8D83CCAF592E}"/>
              </a:ext>
            </a:extLst>
          </p:cNvPr>
          <p:cNvSpPr/>
          <p:nvPr/>
        </p:nvSpPr>
        <p:spPr>
          <a:xfrm>
            <a:off x="2808838" y="3038203"/>
            <a:ext cx="4288353"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中長期施策として</a:t>
            </a:r>
            <a:r>
              <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400066798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94FE7-6D4B-4888-997F-23D957A67FB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5E998200-CD1E-9377-8F8E-91B67A682AE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　</a:t>
            </a:r>
            <a:r>
              <a:rPr lang="en-US" altLang="ja-JP" sz="1400" b="1" dirty="0">
                <a:solidFill>
                  <a:srgbClr val="FF0000"/>
                </a:solidFill>
                <a:latin typeface="メイリオ" panose="020B0604030504040204" pitchFamily="50" charset="-128"/>
                <a:ea typeface="メイリオ" panose="020B0604030504040204" pitchFamily="50" charset="-128"/>
                <a:cs typeface="Meiryo"/>
                <a:sym typeface="Meiryo"/>
              </a:rPr>
              <a:t>[CRM</a:t>
            </a:r>
            <a:r>
              <a:rPr lang="ja-JP" altLang="en-US" sz="1400" b="1" dirty="0">
                <a:solidFill>
                  <a:srgbClr val="FF0000"/>
                </a:solidFill>
                <a:latin typeface="メイリオ" panose="020B0604030504040204" pitchFamily="50" charset="-128"/>
                <a:ea typeface="メイリオ" panose="020B0604030504040204" pitchFamily="50" charset="-128"/>
                <a:cs typeface="Meiryo"/>
                <a:sym typeface="Meiryo"/>
              </a:rPr>
              <a:t>及び</a:t>
            </a:r>
            <a:r>
              <a:rPr lang="en-US" altLang="ja-JP" sz="1400" b="1" dirty="0">
                <a:solidFill>
                  <a:srgbClr val="FF0000"/>
                </a:solidFill>
                <a:latin typeface="メイリオ" panose="020B0604030504040204" pitchFamily="50" charset="-128"/>
                <a:ea typeface="メイリオ" panose="020B0604030504040204" pitchFamily="50" charset="-128"/>
                <a:cs typeface="Meiryo"/>
                <a:sym typeface="Meiryo"/>
              </a:rPr>
              <a:t>API</a:t>
            </a:r>
            <a:r>
              <a:rPr lang="ja-JP" altLang="en-US" sz="1400" b="1" dirty="0">
                <a:solidFill>
                  <a:srgbClr val="FF0000"/>
                </a:solidFill>
                <a:latin typeface="メイリオ" panose="020B0604030504040204" pitchFamily="50" charset="-128"/>
                <a:ea typeface="メイリオ" panose="020B0604030504040204" pitchFamily="50" charset="-128"/>
                <a:cs typeface="Meiryo"/>
                <a:sym typeface="Meiryo"/>
              </a:rPr>
              <a:t>ツールとの連携</a:t>
            </a:r>
            <a:r>
              <a:rPr lang="en-US" altLang="ja-JP" sz="1400" b="1" dirty="0">
                <a:solidFill>
                  <a:srgbClr val="FF0000"/>
                </a:solidFill>
                <a:latin typeface="メイリオ" panose="020B0604030504040204" pitchFamily="50" charset="-128"/>
                <a:ea typeface="メイリオ" panose="020B0604030504040204" pitchFamily="50" charset="-128"/>
                <a:cs typeface="Meiryo"/>
                <a:sym typeface="Meiryo"/>
              </a:rPr>
              <a:t>]</a:t>
            </a:r>
            <a:endPar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endParaRPr>
          </a:p>
        </p:txBody>
      </p:sp>
      <p:sp>
        <p:nvSpPr>
          <p:cNvPr id="2" name="正方形/長方形 1">
            <a:extLst>
              <a:ext uri="{FF2B5EF4-FFF2-40B4-BE49-F238E27FC236}">
                <a16:creationId xmlns:a16="http://schemas.microsoft.com/office/drawing/2014/main" id="{529B047E-CF1E-2AB0-E618-76435731185A}"/>
              </a:ext>
            </a:extLst>
          </p:cNvPr>
          <p:cNvSpPr/>
          <p:nvPr/>
        </p:nvSpPr>
        <p:spPr>
          <a:xfrm>
            <a:off x="804889" y="5113292"/>
            <a:ext cx="3834166" cy="825268"/>
          </a:xfrm>
          <a:prstGeom prst="rect">
            <a:avLst/>
          </a:prstGeom>
          <a:solidFill>
            <a:schemeClr val="accent1">
              <a:lumMod val="20000"/>
              <a:lumOff val="80000"/>
            </a:schemeClr>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400" dirty="0">
                <a:solidFill>
                  <a:srgbClr val="073763"/>
                </a:solidFill>
                <a:latin typeface="メイリオ" panose="020B0604030504040204" pitchFamily="50" charset="-128"/>
                <a:ea typeface="メイリオ" panose="020B0604030504040204" pitchFamily="50" charset="-128"/>
              </a:rPr>
              <a:t>「</a:t>
            </a:r>
            <a:r>
              <a:rPr kumimoji="1" lang="en-US" altLang="ja-JP" sz="1400" dirty="0">
                <a:solidFill>
                  <a:srgbClr val="073763"/>
                </a:solidFill>
                <a:latin typeface="メイリオ" panose="020B0604030504040204" pitchFamily="50" charset="-128"/>
                <a:ea typeface="メイリオ" panose="020B0604030504040204" pitchFamily="50" charset="-128"/>
              </a:rPr>
              <a:t>CRM</a:t>
            </a:r>
            <a:r>
              <a:rPr kumimoji="1" lang="ja-JP" altLang="en-US" sz="1400" dirty="0">
                <a:solidFill>
                  <a:srgbClr val="073763"/>
                </a:solidFill>
                <a:latin typeface="メイリオ" panose="020B0604030504040204" pitchFamily="50" charset="-128"/>
                <a:ea typeface="メイリオ" panose="020B0604030504040204" pitchFamily="50" charset="-128"/>
              </a:rPr>
              <a:t>側でどんな情報を取りたいか」</a:t>
            </a:r>
            <a:r>
              <a:rPr lang="ja-JP" altLang="en-US" sz="1400" dirty="0">
                <a:solidFill>
                  <a:srgbClr val="073763"/>
                </a:solidFill>
                <a:latin typeface="メイリオ" panose="020B0604030504040204" pitchFamily="50" charset="-128"/>
                <a:ea typeface="メイリオ" panose="020B0604030504040204" pitchFamily="50" charset="-128"/>
              </a:rPr>
              <a:t>が重要</a:t>
            </a:r>
            <a:br>
              <a:rPr lang="en-US" altLang="ja-JP" sz="1400" dirty="0">
                <a:solidFill>
                  <a:srgbClr val="073763"/>
                </a:solidFill>
                <a:latin typeface="メイリオ" panose="020B0604030504040204" pitchFamily="50" charset="-128"/>
                <a:ea typeface="メイリオ" panose="020B0604030504040204" pitchFamily="50" charset="-128"/>
              </a:rPr>
            </a:br>
            <a:r>
              <a:rPr lang="ja-JP" altLang="en-US" sz="1400" b="1" dirty="0">
                <a:solidFill>
                  <a:srgbClr val="073763"/>
                </a:solidFill>
                <a:latin typeface="メイリオ" panose="020B0604030504040204" pitchFamily="50" charset="-128"/>
                <a:ea typeface="メイリオ" panose="020B0604030504040204" pitchFamily="50" charset="-128"/>
              </a:rPr>
              <a:t>要件定義</a:t>
            </a:r>
            <a:r>
              <a:rPr lang="ja-JP" altLang="en-US" sz="1400" dirty="0">
                <a:solidFill>
                  <a:srgbClr val="073763"/>
                </a:solidFill>
                <a:latin typeface="メイリオ" panose="020B0604030504040204" pitchFamily="50" charset="-128"/>
                <a:ea typeface="メイリオ" panose="020B0604030504040204" pitchFamily="50" charset="-128"/>
              </a:rPr>
              <a:t>を先にする必要がある</a:t>
            </a:r>
            <a:endParaRPr kumimoji="1" lang="ja-JP" altLang="en-US" sz="1400" dirty="0">
              <a:solidFill>
                <a:srgbClr val="073763"/>
              </a:solidFill>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C7D9704D-BB8D-31FA-D577-9838EADFB52F}"/>
              </a:ext>
            </a:extLst>
          </p:cNvPr>
          <p:cNvSpPr/>
          <p:nvPr/>
        </p:nvSpPr>
        <p:spPr>
          <a:xfrm>
            <a:off x="548883"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CR</a:t>
            </a:r>
            <a:r>
              <a:rPr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M</a:t>
            </a:r>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によるセグメント配信の違い</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DEDA1867-168F-C6E6-0B48-C791330A0A1C}"/>
              </a:ext>
            </a:extLst>
          </p:cNvPr>
          <p:cNvSpPr/>
          <p:nvPr/>
        </p:nvSpPr>
        <p:spPr>
          <a:xfrm>
            <a:off x="4855489" y="1681759"/>
            <a:ext cx="1637212"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pic>
        <p:nvPicPr>
          <p:cNvPr id="6" name="図 5">
            <a:extLst>
              <a:ext uri="{FF2B5EF4-FFF2-40B4-BE49-F238E27FC236}">
                <a16:creationId xmlns:a16="http://schemas.microsoft.com/office/drawing/2014/main" id="{3E9A497F-26C3-7713-AA96-7B5A48F56252}"/>
              </a:ext>
            </a:extLst>
          </p:cNvPr>
          <p:cNvPicPr>
            <a:picLocks noChangeAspect="1"/>
          </p:cNvPicPr>
          <p:nvPr/>
        </p:nvPicPr>
        <p:blipFill>
          <a:blip r:embed="rId2"/>
          <a:stretch>
            <a:fillRect/>
          </a:stretch>
        </p:blipFill>
        <p:spPr>
          <a:xfrm>
            <a:off x="767879" y="2097602"/>
            <a:ext cx="1748922" cy="1226856"/>
          </a:xfrm>
          <a:prstGeom prst="rect">
            <a:avLst/>
          </a:prstGeom>
        </p:spPr>
      </p:pic>
      <p:pic>
        <p:nvPicPr>
          <p:cNvPr id="7" name="図 6">
            <a:extLst>
              <a:ext uri="{FF2B5EF4-FFF2-40B4-BE49-F238E27FC236}">
                <a16:creationId xmlns:a16="http://schemas.microsoft.com/office/drawing/2014/main" id="{AAF48BB3-9A38-696F-FC70-5DEE4C4078CF}"/>
              </a:ext>
            </a:extLst>
          </p:cNvPr>
          <p:cNvPicPr>
            <a:picLocks noChangeAspect="1"/>
          </p:cNvPicPr>
          <p:nvPr/>
        </p:nvPicPr>
        <p:blipFill>
          <a:blip r:embed="rId3"/>
          <a:stretch>
            <a:fillRect/>
          </a:stretch>
        </p:blipFill>
        <p:spPr>
          <a:xfrm>
            <a:off x="2629285" y="2290287"/>
            <a:ext cx="2166018" cy="762483"/>
          </a:xfrm>
          <a:prstGeom prst="rect">
            <a:avLst/>
          </a:prstGeom>
        </p:spPr>
      </p:pic>
      <p:pic>
        <p:nvPicPr>
          <p:cNvPr id="8" name="図 7">
            <a:extLst>
              <a:ext uri="{FF2B5EF4-FFF2-40B4-BE49-F238E27FC236}">
                <a16:creationId xmlns:a16="http://schemas.microsoft.com/office/drawing/2014/main" id="{84D1E44E-92B8-B060-DC73-7A65C3C6173F}"/>
              </a:ext>
            </a:extLst>
          </p:cNvPr>
          <p:cNvPicPr>
            <a:picLocks noChangeAspect="1"/>
          </p:cNvPicPr>
          <p:nvPr/>
        </p:nvPicPr>
        <p:blipFill>
          <a:blip r:embed="rId4"/>
          <a:stretch>
            <a:fillRect/>
          </a:stretch>
        </p:blipFill>
        <p:spPr>
          <a:xfrm>
            <a:off x="732463" y="3382653"/>
            <a:ext cx="1896822" cy="592757"/>
          </a:xfrm>
          <a:prstGeom prst="rect">
            <a:avLst/>
          </a:prstGeom>
        </p:spPr>
      </p:pic>
      <p:pic>
        <p:nvPicPr>
          <p:cNvPr id="10" name="図 9">
            <a:extLst>
              <a:ext uri="{FF2B5EF4-FFF2-40B4-BE49-F238E27FC236}">
                <a16:creationId xmlns:a16="http://schemas.microsoft.com/office/drawing/2014/main" id="{41BDD745-D379-657E-EEF9-DAE4405410CE}"/>
              </a:ext>
            </a:extLst>
          </p:cNvPr>
          <p:cNvPicPr>
            <a:picLocks noChangeAspect="1"/>
          </p:cNvPicPr>
          <p:nvPr/>
        </p:nvPicPr>
        <p:blipFill>
          <a:blip r:embed="rId5"/>
          <a:stretch>
            <a:fillRect/>
          </a:stretch>
        </p:blipFill>
        <p:spPr>
          <a:xfrm>
            <a:off x="2774924" y="3271855"/>
            <a:ext cx="1980643" cy="825268"/>
          </a:xfrm>
          <a:prstGeom prst="rect">
            <a:avLst/>
          </a:prstGeom>
        </p:spPr>
      </p:pic>
      <p:sp>
        <p:nvSpPr>
          <p:cNvPr id="11" name="二等辺三角形 10">
            <a:extLst>
              <a:ext uri="{FF2B5EF4-FFF2-40B4-BE49-F238E27FC236}">
                <a16:creationId xmlns:a16="http://schemas.microsoft.com/office/drawing/2014/main" id="{DE45D7C0-7CD3-BE83-DB56-A8A9A887F251}"/>
              </a:ext>
            </a:extLst>
          </p:cNvPr>
          <p:cNvSpPr/>
          <p:nvPr/>
        </p:nvSpPr>
        <p:spPr>
          <a:xfrm flipV="1">
            <a:off x="2404365" y="4661972"/>
            <a:ext cx="635214" cy="243054"/>
          </a:xfrm>
          <a:prstGeom prst="triangl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12" name="正方形/長方形 11">
            <a:extLst>
              <a:ext uri="{FF2B5EF4-FFF2-40B4-BE49-F238E27FC236}">
                <a16:creationId xmlns:a16="http://schemas.microsoft.com/office/drawing/2014/main" id="{7FB401AD-59C1-FD46-42C1-D7E7B4A5CBEF}"/>
              </a:ext>
            </a:extLst>
          </p:cNvPr>
          <p:cNvSpPr/>
          <p:nvPr/>
        </p:nvSpPr>
        <p:spPr>
          <a:xfrm>
            <a:off x="5088187"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▼参考：</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L</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ステップ</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連携機能</a:t>
            </a:r>
          </a:p>
        </p:txBody>
      </p:sp>
      <p:pic>
        <p:nvPicPr>
          <p:cNvPr id="13" name="図 12">
            <a:extLst>
              <a:ext uri="{FF2B5EF4-FFF2-40B4-BE49-F238E27FC236}">
                <a16:creationId xmlns:a16="http://schemas.microsoft.com/office/drawing/2014/main" id="{CAF63C84-7FEF-612A-E123-4983B7F28BAA}"/>
              </a:ext>
            </a:extLst>
          </p:cNvPr>
          <p:cNvPicPr>
            <a:picLocks noChangeAspect="1"/>
          </p:cNvPicPr>
          <p:nvPr/>
        </p:nvPicPr>
        <p:blipFill>
          <a:blip r:embed="rId6"/>
          <a:stretch>
            <a:fillRect/>
          </a:stretch>
        </p:blipFill>
        <p:spPr>
          <a:xfrm>
            <a:off x="5088187" y="2053900"/>
            <a:ext cx="4493959" cy="4306708"/>
          </a:xfrm>
          <a:prstGeom prst="rect">
            <a:avLst/>
          </a:prstGeom>
        </p:spPr>
      </p:pic>
      <p:sp>
        <p:nvSpPr>
          <p:cNvPr id="14" name="Google Shape;752;p28">
            <a:extLst>
              <a:ext uri="{FF2B5EF4-FFF2-40B4-BE49-F238E27FC236}">
                <a16:creationId xmlns:a16="http://schemas.microsoft.com/office/drawing/2014/main" id="{87B68C46-3A5D-A74F-1932-7FA2CEB38DBA}"/>
              </a:ext>
            </a:extLst>
          </p:cNvPr>
          <p:cNvSpPr txBox="1"/>
          <p:nvPr/>
        </p:nvSpPr>
        <p:spPr>
          <a:xfrm>
            <a:off x="776105" y="86442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Meiryo"/>
                <a:sym typeface="Meiryo"/>
              </a:rPr>
              <a:t>CRM</a:t>
            </a:r>
            <a:r>
              <a:rPr lang="ja-JP" altLang="en-US" sz="1400" dirty="0">
                <a:latin typeface="メイリオ" panose="020B0604030504040204" pitchFamily="50" charset="-128"/>
                <a:ea typeface="メイリオ" panose="020B0604030504040204" pitchFamily="50" charset="-128"/>
                <a:cs typeface="Meiryo"/>
                <a:sym typeface="Meiryo"/>
              </a:rPr>
              <a:t>、</a:t>
            </a:r>
            <a:r>
              <a:rPr lang="en-US" altLang="ja-JP" sz="1400" dirty="0">
                <a:latin typeface="メイリオ" panose="020B0604030504040204" pitchFamily="50" charset="-128"/>
                <a:ea typeface="メイリオ" panose="020B0604030504040204" pitchFamily="50" charset="-128"/>
                <a:cs typeface="Meiryo"/>
                <a:sym typeface="Meiryo"/>
              </a:rPr>
              <a:t>API</a:t>
            </a:r>
            <a:r>
              <a:rPr lang="ja-JP" altLang="en-US" sz="1400" dirty="0">
                <a:latin typeface="メイリオ" panose="020B0604030504040204" pitchFamily="50" charset="-128"/>
                <a:ea typeface="メイリオ" panose="020B0604030504040204" pitchFamily="50" charset="-128"/>
                <a:cs typeface="Meiryo"/>
                <a:sym typeface="Meiryo"/>
              </a:rPr>
              <a:t>ツールで要件定義を行いつつ、効率化及び詳細なセグメント設計を目的として、</a:t>
            </a:r>
            <a:endParaRPr lang="en-US" altLang="ja-JP" sz="1400" dirty="0">
              <a:latin typeface="メイリオ" panose="020B0604030504040204" pitchFamily="50" charset="-128"/>
              <a:ea typeface="メイリオ" panose="020B0604030504040204" pitchFamily="50" charset="-128"/>
              <a:cs typeface="Meiryo"/>
              <a:sym typeface="Meiryo"/>
            </a:endParaRPr>
          </a:p>
          <a:p>
            <a:pPr lvl="0" algn="ctr"/>
            <a:r>
              <a:rPr lang="ja-JP" altLang="en-US" sz="1400" dirty="0">
                <a:latin typeface="メイリオ" panose="020B0604030504040204" pitchFamily="50" charset="-128"/>
                <a:ea typeface="メイリオ" panose="020B0604030504040204" pitchFamily="50" charset="-128"/>
                <a:cs typeface="Meiryo"/>
                <a:sym typeface="Meiryo"/>
              </a:rPr>
              <a:t>貴社内の顧客管理（</a:t>
            </a:r>
            <a:r>
              <a:rPr lang="en-US" altLang="ja-JP" sz="1400" dirty="0">
                <a:latin typeface="メイリオ" panose="020B0604030504040204" pitchFamily="50" charset="-128"/>
                <a:ea typeface="メイリオ" panose="020B0604030504040204" pitchFamily="50" charset="-128"/>
                <a:cs typeface="Meiryo"/>
                <a:sym typeface="Meiryo"/>
              </a:rPr>
              <a:t>CRM</a:t>
            </a:r>
            <a:r>
              <a:rPr lang="ja-JP" altLang="en-US" sz="1400" dirty="0">
                <a:latin typeface="メイリオ" panose="020B0604030504040204" pitchFamily="50" charset="-128"/>
                <a:ea typeface="メイリオ" panose="020B0604030504040204" pitchFamily="50" charset="-128"/>
                <a:cs typeface="Meiryo"/>
                <a:sym typeface="Meiryo"/>
              </a:rPr>
              <a:t>）ツールとの連携の実施も可能です。</a:t>
            </a:r>
            <a:r>
              <a:rPr lang="ja-JP" altLang="en-US" sz="1100" dirty="0">
                <a:solidFill>
                  <a:srgbClr val="FF0000"/>
                </a:solidFill>
                <a:latin typeface="メイリオ" panose="020B0604030504040204" pitchFamily="50" charset="-128"/>
                <a:ea typeface="メイリオ" panose="020B0604030504040204" pitchFamily="50" charset="-128"/>
                <a:cs typeface="Meiryo"/>
                <a:sym typeface="Meiryo"/>
              </a:rPr>
              <a:t> </a:t>
            </a:r>
            <a:r>
              <a:rPr lang="en-US" altLang="ja-JP" sz="11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100" dirty="0">
                <a:solidFill>
                  <a:srgbClr val="FF0000"/>
                </a:solidFill>
                <a:latin typeface="メイリオ" panose="020B0604030504040204" pitchFamily="50" charset="-128"/>
                <a:ea typeface="メイリオ" panose="020B0604030504040204" pitchFamily="50" charset="-128"/>
                <a:cs typeface="Meiryo"/>
                <a:sym typeface="Meiryo"/>
              </a:rPr>
              <a:t>開発は別途費用</a:t>
            </a:r>
            <a:endParaRPr lang="en-US" altLang="ja-JP" sz="1400" dirty="0">
              <a:solidFill>
                <a:srgbClr val="FF0000"/>
              </a:solidFill>
              <a:latin typeface="メイリオ" panose="020B0604030504040204" pitchFamily="50" charset="-128"/>
              <a:ea typeface="メイリオ" panose="020B0604030504040204" pitchFamily="50" charset="-128"/>
              <a:cs typeface="Meiryo"/>
              <a:sym typeface="Meiryo"/>
            </a:endParaRPr>
          </a:p>
        </p:txBody>
      </p:sp>
      <p:pic>
        <p:nvPicPr>
          <p:cNvPr id="16" name="図 15">
            <a:extLst>
              <a:ext uri="{FF2B5EF4-FFF2-40B4-BE49-F238E27FC236}">
                <a16:creationId xmlns:a16="http://schemas.microsoft.com/office/drawing/2014/main" id="{03191DAC-E9A0-5CCA-8AC1-DD7587146EC0}"/>
              </a:ext>
            </a:extLst>
          </p:cNvPr>
          <p:cNvPicPr>
            <a:picLocks noChangeAspect="1"/>
          </p:cNvPicPr>
          <p:nvPr/>
        </p:nvPicPr>
        <p:blipFill>
          <a:blip r:embed="rId7"/>
          <a:stretch>
            <a:fillRect/>
          </a:stretch>
        </p:blipFill>
        <p:spPr>
          <a:xfrm>
            <a:off x="8356962" y="3138694"/>
            <a:ext cx="1225184" cy="371527"/>
          </a:xfrm>
          <a:prstGeom prst="rect">
            <a:avLst/>
          </a:prstGeom>
        </p:spPr>
      </p:pic>
      <p:sp>
        <p:nvSpPr>
          <p:cNvPr id="18" name="正方形/長方形 17">
            <a:extLst>
              <a:ext uri="{FF2B5EF4-FFF2-40B4-BE49-F238E27FC236}">
                <a16:creationId xmlns:a16="http://schemas.microsoft.com/office/drawing/2014/main" id="{6556E7C3-00CD-61AD-290A-ADC705BB4ED2}"/>
              </a:ext>
            </a:extLst>
          </p:cNvPr>
          <p:cNvSpPr/>
          <p:nvPr/>
        </p:nvSpPr>
        <p:spPr>
          <a:xfrm>
            <a:off x="7392816" y="2667912"/>
            <a:ext cx="1404514" cy="70467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LINE</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公式と</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ツール間の</a:t>
            </a:r>
            <a:endPar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情報連携</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9" name="正方形/長方形 18">
            <a:extLst>
              <a:ext uri="{FF2B5EF4-FFF2-40B4-BE49-F238E27FC236}">
                <a16:creationId xmlns:a16="http://schemas.microsoft.com/office/drawing/2014/main" id="{ECFC83DD-87A7-DC53-4B5A-DD088FDF4D20}"/>
              </a:ext>
            </a:extLst>
          </p:cNvPr>
          <p:cNvSpPr/>
          <p:nvPr/>
        </p:nvSpPr>
        <p:spPr>
          <a:xfrm>
            <a:off x="5873920" y="2711430"/>
            <a:ext cx="989184" cy="42376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メッセ送信</a:t>
            </a:r>
          </a:p>
        </p:txBody>
      </p:sp>
    </p:spTree>
    <p:extLst>
      <p:ext uri="{BB962C8B-B14F-4D97-AF65-F5344CB8AC3E}">
        <p14:creationId xmlns:p14="http://schemas.microsoft.com/office/powerpoint/2010/main" val="98264973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できること・できないこと｜応募の前後で追う</a:t>
            </a:r>
            <a:endParaRPr sz="1600" b="1" dirty="0">
              <a:solidFill>
                <a:srgbClr val="002060"/>
              </a:solidFill>
              <a:latin typeface="Meiryo"/>
              <a:ea typeface="Meiryo"/>
              <a:cs typeface="Meiryo"/>
              <a:sym typeface="Meiryo"/>
            </a:endParaRPr>
          </a:p>
        </p:txBody>
      </p:sp>
      <p:cxnSp>
        <p:nvCxnSpPr>
          <p:cNvPr id="19" name="Connector 18"/>
          <p:cNvCxnSpPr/>
          <p:nvPr/>
        </p:nvCxnSpPr>
        <p:spPr>
          <a:xfrm>
            <a:off x="0" y="1389600"/>
            <a:ext cx="9907200" cy="0"/>
          </a:xfrm>
          <a:prstGeom prst="line">
            <a:avLst/>
          </a:prstGeom>
          <a:ln>
            <a:solidFill>
              <a:srgbClr val="D9D9D9"/>
            </a:solidFill>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432000" y="666000"/>
            <a:ext cx="9036000" cy="66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1600" bIns="21600"/>
          <a:lstStyle/>
          <a:p>
            <a:pPr algn="l"/>
            <a:r>
              <a:rPr sz="1300" b="0">
                <a:solidFill>
                  <a:srgbClr val="333333"/>
                </a:solidFill>
                <a:latin typeface="メイリオ"/>
                <a:ea typeface="メイリオ"/>
                <a:cs typeface="メイリオ"/>
              </a:rPr>
              <a:t>広告の単価や求人の中身は変えません。</a:t>
            </a:r>
          </a:p>
          <a:p>
            <a:pPr algn="l"/>
            <a:r>
              <a:rPr sz="1300" b="0">
                <a:solidFill>
                  <a:srgbClr val="333333"/>
                </a:solidFill>
                <a:latin typeface="メイリオ"/>
                <a:ea typeface="メイリオ"/>
                <a:cs typeface="メイリオ"/>
              </a:rPr>
              <a:t>変えるのは「応募の手前」と「応募の後」だけ。そこをLINEで追いかけます。</a:t>
            </a:r>
          </a:p>
        </p:txBody>
      </p:sp>
      <p:sp>
        <p:nvSpPr>
          <p:cNvPr id="21" name="Rounded Rectangle 20"/>
          <p:cNvSpPr/>
          <p:nvPr/>
        </p:nvSpPr>
        <p:spPr>
          <a:xfrm>
            <a:off x="432000" y="1548000"/>
            <a:ext cx="2484000" cy="324000"/>
          </a:xfrm>
          <a:prstGeom prst="roundRect">
            <a:avLst>
              <a:gd name="adj" fmla="val 8000"/>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1250" b="1">
                <a:solidFill>
                  <a:srgbClr val="FFFFFF"/>
                </a:solidFill>
                <a:latin typeface="メイリオ"/>
                <a:ea typeface="メイリオ"/>
                <a:cs typeface="メイリオ"/>
              </a:rPr>
              <a:t>変えないこと</a:t>
            </a:r>
          </a:p>
        </p:txBody>
      </p:sp>
      <p:sp>
        <p:nvSpPr>
          <p:cNvPr id="22" name="Rounded Rectangle 21"/>
          <p:cNvSpPr/>
          <p:nvPr/>
        </p:nvSpPr>
        <p:spPr>
          <a:xfrm>
            <a:off x="432000" y="1908000"/>
            <a:ext cx="2484000" cy="309600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44000" rIns="144000" tIns="21600" bIns="21600"/>
          <a:lstStyle/>
          <a:p>
            <a:pPr algn="l"/>
            <a:r>
              <a:rPr sz="1150" b="1">
                <a:solidFill>
                  <a:srgbClr val="333333"/>
                </a:solidFill>
                <a:latin typeface="メイリオ"/>
                <a:ea typeface="メイリオ"/>
                <a:cs typeface="メイリオ"/>
              </a:rPr>
              <a:t>・広告の単価</a:t>
            </a:r>
          </a:p>
          <a:p>
            <a:pPr algn="l"/>
            <a:r>
              <a:rPr sz="1000" b="0">
                <a:solidFill>
                  <a:srgbClr val="7F7F7F"/>
                </a:solidFill>
                <a:latin typeface="メイリオ"/>
                <a:ea typeface="メイリオ"/>
                <a:cs typeface="メイリオ"/>
              </a:rPr>
              <a:t>　Meta・Googleは今のまま</a:t>
            </a:r>
          </a:p>
          <a:p>
            <a:pPr algn="l"/>
            <a:r>
              <a:rPr sz="600" b="0">
                <a:solidFill>
                  <a:srgbClr val="333333"/>
                </a:solidFill>
                <a:latin typeface="メイリオ"/>
                <a:ea typeface="メイリオ"/>
                <a:cs typeface="メイリオ"/>
              </a:rPr>
              <a:t/>
            </a:r>
          </a:p>
          <a:p>
            <a:pPr algn="l"/>
            <a:r>
              <a:rPr sz="1150" b="1">
                <a:solidFill>
                  <a:srgbClr val="333333"/>
                </a:solidFill>
                <a:latin typeface="メイリオ"/>
                <a:ea typeface="メイリオ"/>
                <a:cs typeface="メイリオ"/>
              </a:rPr>
              <a:t>・求人の中身・条件</a:t>
            </a:r>
          </a:p>
          <a:p>
            <a:pPr algn="l"/>
            <a:r>
              <a:rPr sz="1000" b="0">
                <a:solidFill>
                  <a:srgbClr val="7F7F7F"/>
                </a:solidFill>
                <a:latin typeface="メイリオ"/>
                <a:ea typeface="メイリオ"/>
                <a:cs typeface="メイリオ"/>
              </a:rPr>
              <a:t>　今の求人をそのまま活かす</a:t>
            </a:r>
          </a:p>
          <a:p>
            <a:pPr algn="l"/>
            <a:r>
              <a:rPr sz="600" b="0">
                <a:solidFill>
                  <a:srgbClr val="333333"/>
                </a:solidFill>
                <a:latin typeface="メイリオ"/>
                <a:ea typeface="メイリオ"/>
                <a:cs typeface="メイリオ"/>
              </a:rPr>
              <a:t/>
            </a:r>
          </a:p>
          <a:p>
            <a:pPr algn="l"/>
            <a:r>
              <a:rPr sz="1150" b="1">
                <a:solidFill>
                  <a:srgbClr val="333333"/>
                </a:solidFill>
                <a:latin typeface="メイリオ"/>
                <a:ea typeface="メイリオ"/>
                <a:cs typeface="メイリオ"/>
              </a:rPr>
              <a:t>・サイト・応募フォーム</a:t>
            </a:r>
          </a:p>
          <a:p>
            <a:pPr algn="l"/>
            <a:r>
              <a:rPr sz="1000" b="0">
                <a:solidFill>
                  <a:srgbClr val="7F7F7F"/>
                </a:solidFill>
                <a:latin typeface="メイリオ"/>
                <a:ea typeface="メイリオ"/>
                <a:cs typeface="メイリオ"/>
              </a:rPr>
              <a:t>　大きな改修はしない</a:t>
            </a:r>
          </a:p>
          <a:p>
            <a:pPr algn="l"/>
            <a:r>
              <a:rPr sz="600" b="0">
                <a:solidFill>
                  <a:srgbClr val="333333"/>
                </a:solidFill>
                <a:latin typeface="メイリオ"/>
                <a:ea typeface="メイリオ"/>
                <a:cs typeface="メイリオ"/>
              </a:rPr>
              <a:t/>
            </a:r>
          </a:p>
          <a:p>
            <a:pPr algn="l"/>
            <a:r>
              <a:rPr sz="1150" b="1">
                <a:solidFill>
                  <a:srgbClr val="333333"/>
                </a:solidFill>
                <a:latin typeface="メイリオ"/>
                <a:ea typeface="メイリオ"/>
                <a:cs typeface="メイリオ"/>
              </a:rPr>
              <a:t>・担当者の人数</a:t>
            </a:r>
          </a:p>
          <a:p>
            <a:pPr algn="l"/>
            <a:r>
              <a:rPr sz="1000" b="0">
                <a:solidFill>
                  <a:srgbClr val="7F7F7F"/>
                </a:solidFill>
                <a:latin typeface="メイリオ"/>
                <a:ea typeface="メイリオ"/>
                <a:cs typeface="メイリオ"/>
              </a:rPr>
              <a:t>　電話の件数を増やさない</a:t>
            </a:r>
          </a:p>
        </p:txBody>
      </p:sp>
      <p:sp>
        <p:nvSpPr>
          <p:cNvPr id="23" name="Rounded Rectangle 22"/>
          <p:cNvSpPr/>
          <p:nvPr/>
        </p:nvSpPr>
        <p:spPr>
          <a:xfrm>
            <a:off x="3060000" y="1548000"/>
            <a:ext cx="6415200" cy="324000"/>
          </a:xfrm>
          <a:prstGeom prst="roundRect">
            <a:avLst>
              <a:gd name="adj" fmla="val 8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5999" rIns="125999" tIns="21600" bIns="21600"/>
          <a:lstStyle/>
          <a:p>
            <a:pPr algn="l"/>
            <a:r>
              <a:rPr sz="1250" b="1">
                <a:solidFill>
                  <a:srgbClr val="333333"/>
                </a:solidFill>
                <a:latin typeface="メイリオ"/>
                <a:ea typeface="メイリオ"/>
                <a:cs typeface="メイリオ"/>
              </a:rPr>
              <a:t>応募の手前：帰ろうとした人を残す</a:t>
            </a:r>
          </a:p>
        </p:txBody>
      </p:sp>
      <p:sp>
        <p:nvSpPr>
          <p:cNvPr id="24" name="Rounded Rectangle 23"/>
          <p:cNvSpPr/>
          <p:nvPr/>
        </p:nvSpPr>
        <p:spPr>
          <a:xfrm>
            <a:off x="3060000" y="1944000"/>
            <a:ext cx="1482300" cy="106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1100" b="1">
                <a:solidFill>
                  <a:srgbClr val="3467B2"/>
                </a:solidFill>
                <a:latin typeface="メイリオ"/>
                <a:ea typeface="メイリオ"/>
                <a:cs typeface="メイリオ"/>
              </a:rPr>
              <a:t>1</a:t>
            </a:r>
          </a:p>
          <a:p>
            <a:pPr algn="ctr"/>
            <a:r>
              <a:rPr sz="1100" b="1">
                <a:solidFill>
                  <a:srgbClr val="1F285A"/>
                </a:solidFill>
                <a:latin typeface="メイリオ"/>
                <a:ea typeface="メイリオ"/>
                <a:cs typeface="メイリオ"/>
              </a:rPr>
              <a:t>求人ページを見て</a:t>
            </a:r>
          </a:p>
          <a:p>
            <a:pPr algn="ctr"/>
            <a:r>
              <a:rPr sz="1050" b="0">
                <a:solidFill>
                  <a:srgbClr val="333333"/>
                </a:solidFill>
                <a:latin typeface="メイリオ"/>
                <a:ea typeface="メイリオ"/>
                <a:cs typeface="メイリオ"/>
              </a:rPr>
              <a:t>応募せずに帰る</a:t>
            </a:r>
          </a:p>
        </p:txBody>
      </p:sp>
      <p:cxnSp>
        <p:nvCxnSpPr>
          <p:cNvPr id="25" name="Connector 24"/>
          <p:cNvCxnSpPr/>
          <p:nvPr/>
        </p:nvCxnSpPr>
        <p:spPr>
          <a:xfrm>
            <a:off x="4560300" y="2473199"/>
            <a:ext cx="125999" cy="0"/>
          </a:xfrm>
          <a:prstGeom prst="line">
            <a:avLst/>
          </a:prstGeom>
          <a:ln w="19050">
            <a:solidFill>
              <a:srgbClr val="8C8C8C"/>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704300" y="1944000"/>
            <a:ext cx="1482300" cy="106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1100" b="1">
                <a:solidFill>
                  <a:srgbClr val="3467B2"/>
                </a:solidFill>
                <a:latin typeface="メイリオ"/>
                <a:ea typeface="メイリオ"/>
                <a:cs typeface="メイリオ"/>
              </a:rPr>
              <a:t>2</a:t>
            </a:r>
          </a:p>
          <a:p>
            <a:pPr algn="ctr"/>
            <a:r>
              <a:rPr sz="1100" b="1">
                <a:solidFill>
                  <a:srgbClr val="1F285A"/>
                </a:solidFill>
                <a:latin typeface="メイリオ"/>
                <a:ea typeface="メイリオ"/>
                <a:cs typeface="メイリオ"/>
              </a:rPr>
              <a:t>離脱防止で</a:t>
            </a:r>
          </a:p>
          <a:p>
            <a:pPr algn="ctr"/>
            <a:r>
              <a:rPr sz="1050" b="0">
                <a:solidFill>
                  <a:srgbClr val="333333"/>
                </a:solidFill>
                <a:latin typeface="メイリオ"/>
                <a:ea typeface="メイリオ"/>
                <a:cs typeface="メイリオ"/>
              </a:rPr>
              <a:t>年収相場をLINEで</a:t>
            </a:r>
          </a:p>
        </p:txBody>
      </p:sp>
      <p:cxnSp>
        <p:nvCxnSpPr>
          <p:cNvPr id="27" name="Connector 26"/>
          <p:cNvCxnSpPr/>
          <p:nvPr/>
        </p:nvCxnSpPr>
        <p:spPr>
          <a:xfrm>
            <a:off x="6204600" y="2473199"/>
            <a:ext cx="125999" cy="0"/>
          </a:xfrm>
          <a:prstGeom prst="line">
            <a:avLst/>
          </a:prstGeom>
          <a:ln w="19050">
            <a:solidFill>
              <a:srgbClr val="8C8C8C"/>
            </a:solidFill>
            <a:tailEnd type="triangle"/>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6348599" y="1944000"/>
            <a:ext cx="1482300" cy="106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1100" b="1">
                <a:solidFill>
                  <a:srgbClr val="3467B2"/>
                </a:solidFill>
                <a:latin typeface="メイリオ"/>
                <a:ea typeface="メイリオ"/>
                <a:cs typeface="メイリオ"/>
              </a:rPr>
              <a:t>3</a:t>
            </a:r>
          </a:p>
          <a:p>
            <a:pPr algn="ctr"/>
            <a:r>
              <a:rPr sz="1100" b="1">
                <a:solidFill>
                  <a:srgbClr val="1F285A"/>
                </a:solidFill>
                <a:latin typeface="メイリオ"/>
                <a:ea typeface="メイリオ"/>
                <a:cs typeface="メイリオ"/>
              </a:rPr>
              <a:t>友だち追加</a:t>
            </a:r>
          </a:p>
          <a:p>
            <a:pPr algn="ctr"/>
            <a:r>
              <a:rPr sz="1050" b="0">
                <a:solidFill>
                  <a:srgbClr val="333333"/>
                </a:solidFill>
                <a:latin typeface="メイリオ"/>
                <a:ea typeface="メイリオ"/>
                <a:cs typeface="メイリオ"/>
              </a:rPr>
              <a:t>30秒 適職診断</a:t>
            </a:r>
          </a:p>
        </p:txBody>
      </p:sp>
      <p:cxnSp>
        <p:nvCxnSpPr>
          <p:cNvPr id="29" name="Connector 28"/>
          <p:cNvCxnSpPr/>
          <p:nvPr/>
        </p:nvCxnSpPr>
        <p:spPr>
          <a:xfrm>
            <a:off x="7848899" y="2473199"/>
            <a:ext cx="126000" cy="0"/>
          </a:xfrm>
          <a:prstGeom prst="line">
            <a:avLst/>
          </a:prstGeom>
          <a:ln w="19050">
            <a:solidFill>
              <a:srgbClr val="8C8C8C"/>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7992900" y="1944000"/>
            <a:ext cx="1482300" cy="106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1100" b="1">
                <a:solidFill>
                  <a:srgbClr val="FFFFFF"/>
                </a:solidFill>
                <a:latin typeface="メイリオ"/>
                <a:ea typeface="メイリオ"/>
                <a:cs typeface="メイリオ"/>
              </a:rPr>
              <a:t>4</a:t>
            </a:r>
          </a:p>
          <a:p>
            <a:pPr algn="ctr"/>
            <a:r>
              <a:rPr sz="1100" b="1">
                <a:solidFill>
                  <a:srgbClr val="FFFFFF"/>
                </a:solidFill>
                <a:latin typeface="メイリオ"/>
                <a:ea typeface="メイリオ"/>
                <a:cs typeface="メイリオ"/>
              </a:rPr>
              <a:t>14日間の配信で</a:t>
            </a:r>
          </a:p>
          <a:p>
            <a:pPr algn="ctr"/>
            <a:r>
              <a:rPr sz="1050" b="0">
                <a:solidFill>
                  <a:srgbClr val="FFFFFF"/>
                </a:solidFill>
                <a:latin typeface="メイリオ"/>
                <a:ea typeface="メイリオ"/>
                <a:cs typeface="メイリオ"/>
              </a:rPr>
              <a:t>面談へご案内</a:t>
            </a:r>
          </a:p>
        </p:txBody>
      </p:sp>
      <p:sp>
        <p:nvSpPr>
          <p:cNvPr id="31" name="Rounded Rectangle 30"/>
          <p:cNvSpPr/>
          <p:nvPr/>
        </p:nvSpPr>
        <p:spPr>
          <a:xfrm>
            <a:off x="3060000" y="3276000"/>
            <a:ext cx="6415200" cy="324000"/>
          </a:xfrm>
          <a:prstGeom prst="roundRect">
            <a:avLst>
              <a:gd name="adj" fmla="val 8000"/>
            </a:avLst>
          </a:prstGeom>
          <a:solidFill>
            <a:srgbClr val="E2F0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5999" rIns="125999" tIns="21600" bIns="21600"/>
          <a:lstStyle/>
          <a:p>
            <a:pPr algn="l"/>
            <a:r>
              <a:rPr sz="1250" b="1">
                <a:solidFill>
                  <a:srgbClr val="333333"/>
                </a:solidFill>
                <a:latin typeface="メイリオ"/>
                <a:ea typeface="メイリオ"/>
                <a:cs typeface="メイリオ"/>
              </a:rPr>
              <a:t>応募の後：面談・就業まで追いかける</a:t>
            </a:r>
          </a:p>
        </p:txBody>
      </p:sp>
      <p:sp>
        <p:nvSpPr>
          <p:cNvPr id="32" name="Rounded Rectangle 31"/>
          <p:cNvSpPr/>
          <p:nvPr/>
        </p:nvSpPr>
        <p:spPr>
          <a:xfrm>
            <a:off x="3060000" y="3671999"/>
            <a:ext cx="1482300" cy="106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1100" b="1">
                <a:solidFill>
                  <a:srgbClr val="3467B2"/>
                </a:solidFill>
                <a:latin typeface="メイリオ"/>
                <a:ea typeface="メイリオ"/>
                <a:cs typeface="メイリオ"/>
              </a:rPr>
              <a:t>1</a:t>
            </a:r>
          </a:p>
          <a:p>
            <a:pPr algn="ctr"/>
            <a:r>
              <a:rPr sz="1100" b="1">
                <a:solidFill>
                  <a:srgbClr val="1F285A"/>
                </a:solidFill>
                <a:latin typeface="メイリオ"/>
                <a:ea typeface="メイリオ"/>
                <a:cs typeface="メイリオ"/>
              </a:rPr>
              <a:t>応募完了画面から</a:t>
            </a:r>
          </a:p>
          <a:p>
            <a:pPr algn="ctr"/>
            <a:r>
              <a:rPr sz="1050" b="0">
                <a:solidFill>
                  <a:srgbClr val="333333"/>
                </a:solidFill>
                <a:latin typeface="メイリオ"/>
                <a:ea typeface="メイリオ"/>
                <a:cs typeface="メイリオ"/>
              </a:rPr>
              <a:t>LINEへご案内</a:t>
            </a:r>
          </a:p>
        </p:txBody>
      </p:sp>
      <p:cxnSp>
        <p:nvCxnSpPr>
          <p:cNvPr id="33" name="Connector 32"/>
          <p:cNvCxnSpPr/>
          <p:nvPr/>
        </p:nvCxnSpPr>
        <p:spPr>
          <a:xfrm>
            <a:off x="4560300" y="4201200"/>
            <a:ext cx="125999" cy="0"/>
          </a:xfrm>
          <a:prstGeom prst="line">
            <a:avLst/>
          </a:prstGeom>
          <a:ln w="19050">
            <a:solidFill>
              <a:srgbClr val="8C8C8C"/>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4704300" y="3671999"/>
            <a:ext cx="1482300" cy="106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1100" b="1">
                <a:solidFill>
                  <a:srgbClr val="3467B2"/>
                </a:solidFill>
                <a:latin typeface="メイリオ"/>
                <a:ea typeface="メイリオ"/>
                <a:cs typeface="メイリオ"/>
              </a:rPr>
              <a:t>2</a:t>
            </a:r>
          </a:p>
          <a:p>
            <a:pPr algn="ctr"/>
            <a:r>
              <a:rPr sz="1100" b="1">
                <a:solidFill>
                  <a:srgbClr val="1F285A"/>
                </a:solidFill>
                <a:latin typeface="メイリオ"/>
                <a:ea typeface="メイリオ"/>
                <a:cs typeface="メイリオ"/>
              </a:rPr>
              <a:t>面談日程をLINEで</a:t>
            </a:r>
          </a:p>
          <a:p>
            <a:pPr algn="ctr"/>
            <a:r>
              <a:rPr sz="1050" b="0">
                <a:solidFill>
                  <a:srgbClr val="333333"/>
                </a:solidFill>
                <a:latin typeface="メイリオ"/>
                <a:ea typeface="メイリオ"/>
                <a:cs typeface="メイリオ"/>
              </a:rPr>
              <a:t>決定＋前日に連絡</a:t>
            </a:r>
          </a:p>
        </p:txBody>
      </p:sp>
      <p:cxnSp>
        <p:nvCxnSpPr>
          <p:cNvPr id="35" name="Connector 34"/>
          <p:cNvCxnSpPr/>
          <p:nvPr/>
        </p:nvCxnSpPr>
        <p:spPr>
          <a:xfrm>
            <a:off x="6204600" y="4201200"/>
            <a:ext cx="125999" cy="0"/>
          </a:xfrm>
          <a:prstGeom prst="line">
            <a:avLst/>
          </a:prstGeom>
          <a:ln w="19050">
            <a:solidFill>
              <a:srgbClr val="8C8C8C"/>
            </a:solidFill>
            <a:tailEnd type="triangle"/>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6348599" y="3671999"/>
            <a:ext cx="1482300" cy="106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1100" b="1">
                <a:solidFill>
                  <a:srgbClr val="3467B2"/>
                </a:solidFill>
                <a:latin typeface="メイリオ"/>
                <a:ea typeface="メイリオ"/>
                <a:cs typeface="メイリオ"/>
              </a:rPr>
              <a:t>3</a:t>
            </a:r>
          </a:p>
          <a:p>
            <a:pPr algn="ctr"/>
            <a:r>
              <a:rPr sz="1100" b="1">
                <a:solidFill>
                  <a:srgbClr val="1F285A"/>
                </a:solidFill>
                <a:latin typeface="メイリオ"/>
                <a:ea typeface="メイリオ"/>
                <a:cs typeface="メイリオ"/>
              </a:rPr>
              <a:t>選考の連絡を</a:t>
            </a:r>
          </a:p>
          <a:p>
            <a:pPr algn="ctr"/>
            <a:r>
              <a:rPr sz="1050" b="0">
                <a:solidFill>
                  <a:srgbClr val="333333"/>
                </a:solidFill>
                <a:latin typeface="メイリオ"/>
                <a:ea typeface="メイリオ"/>
                <a:cs typeface="メイリオ"/>
              </a:rPr>
              <a:t>LINEに一本化</a:t>
            </a:r>
          </a:p>
        </p:txBody>
      </p:sp>
      <p:cxnSp>
        <p:nvCxnSpPr>
          <p:cNvPr id="37" name="Connector 36"/>
          <p:cNvCxnSpPr/>
          <p:nvPr/>
        </p:nvCxnSpPr>
        <p:spPr>
          <a:xfrm>
            <a:off x="7848899" y="4201200"/>
            <a:ext cx="126000" cy="0"/>
          </a:xfrm>
          <a:prstGeom prst="line">
            <a:avLst/>
          </a:prstGeom>
          <a:ln w="19050">
            <a:solidFill>
              <a:srgbClr val="8C8C8C"/>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7992900" y="3671999"/>
            <a:ext cx="1482300" cy="106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1100" b="1">
                <a:solidFill>
                  <a:srgbClr val="FFFFFF"/>
                </a:solidFill>
                <a:latin typeface="メイリオ"/>
                <a:ea typeface="メイリオ"/>
                <a:cs typeface="メイリオ"/>
              </a:rPr>
              <a:t>4</a:t>
            </a:r>
          </a:p>
          <a:p>
            <a:pPr algn="ctr"/>
            <a:r>
              <a:rPr sz="1100" b="1">
                <a:solidFill>
                  <a:srgbClr val="FFFFFF"/>
                </a:solidFill>
                <a:latin typeface="メイリオ"/>
                <a:ea typeface="メイリオ"/>
                <a:cs typeface="メイリオ"/>
              </a:rPr>
              <a:t>内定後の不安に</a:t>
            </a:r>
          </a:p>
          <a:p>
            <a:pPr algn="ctr"/>
            <a:r>
              <a:rPr sz="1050" b="0">
                <a:solidFill>
                  <a:srgbClr val="FFFFFF"/>
                </a:solidFill>
                <a:latin typeface="メイリオ"/>
                <a:ea typeface="メイリオ"/>
                <a:cs typeface="メイリオ"/>
              </a:rPr>
              <a:t>即答・辞退を防ぐ</a:t>
            </a:r>
          </a:p>
        </p:txBody>
      </p:sp>
      <p:sp>
        <p:nvSpPr>
          <p:cNvPr id="39" name="Rounded Rectangle 38"/>
          <p:cNvSpPr/>
          <p:nvPr/>
        </p:nvSpPr>
        <p:spPr>
          <a:xfrm>
            <a:off x="432000" y="5166000"/>
            <a:ext cx="9043200" cy="36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r>
              <a:rPr sz="1300" b="1">
                <a:solidFill>
                  <a:srgbClr val="FFFFFF"/>
                </a:solidFill>
                <a:latin typeface="メイリオ"/>
                <a:ea typeface="メイリオ"/>
                <a:cs typeface="メイリオ"/>
              </a:rPr>
              <a:t>広告は今のまま。取りこぼしていた「応募の手前」と「応募の後」を、LINEで埋める。</a:t>
            </a:r>
          </a:p>
        </p:txBody>
      </p:sp>
    </p:spTree>
    <p:extLst>
      <p:ext uri="{BB962C8B-B14F-4D97-AF65-F5344CB8AC3E}">
        <p14:creationId xmlns:p14="http://schemas.microsoft.com/office/powerpoint/2010/main" val="393999798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D5022E-E793-10B7-A063-757EDCFFDB08}"/>
            </a:ext>
          </a:extLst>
        </p:cNvPr>
        <p:cNvGrpSpPr/>
        <p:nvPr/>
      </p:nvGrpSpPr>
      <p:grpSpPr>
        <a:xfrm>
          <a:off x="0" y="0"/>
          <a:ext cx="0" cy="0"/>
          <a:chOff x="0" y="0"/>
          <a:chExt cx="0" cy="0"/>
        </a:xfrm>
      </p:grpSpPr>
      <p:sp>
        <p:nvSpPr>
          <p:cNvPr id="43"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その他 代表的な活用機能</a:t>
            </a:r>
          </a:p>
        </p:txBody>
      </p:sp>
      <p:sp>
        <p:nvSpPr>
          <p:cNvPr id="28" name="正方形/長方形 27"/>
          <p:cNvSpPr/>
          <p:nvPr/>
        </p:nvSpPr>
        <p:spPr>
          <a:xfrm>
            <a:off x="209578" y="1455366"/>
            <a:ext cx="716093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チャット</a:t>
            </a:r>
            <a:r>
              <a:rPr lang="en-US" altLang="ja-JP" sz="1600" b="1" dirty="0">
                <a:solidFill>
                  <a:schemeClr val="tx1">
                    <a:lumMod val="65000"/>
                    <a:lumOff val="35000"/>
                  </a:schemeClr>
                </a:solidFill>
                <a:latin typeface="Meiryo"/>
                <a:ea typeface="Meiryo"/>
                <a:cs typeface="Meiryo"/>
                <a:sym typeface="Meiryo"/>
              </a:rPr>
              <a:t>Plus</a:t>
            </a:r>
            <a:r>
              <a:rPr lang="ja-JP" altLang="en-US" sz="1600" b="1" dirty="0">
                <a:solidFill>
                  <a:schemeClr val="tx1">
                    <a:lumMod val="65000"/>
                    <a:lumOff val="35000"/>
                  </a:schemeClr>
                </a:solidFill>
                <a:latin typeface="Meiryo"/>
                <a:ea typeface="Meiryo"/>
                <a:cs typeface="Meiryo"/>
                <a:sym typeface="Meiryo"/>
              </a:rPr>
              <a:t>」は、</a:t>
            </a:r>
            <a:r>
              <a:rPr lang="en-US" altLang="ja-JP" sz="1600" b="1" dirty="0">
                <a:solidFill>
                  <a:schemeClr val="tx1">
                    <a:lumMod val="65000"/>
                    <a:lumOff val="35000"/>
                  </a:schemeClr>
                </a:solidFill>
                <a:latin typeface="Meiryo"/>
                <a:ea typeface="Meiryo"/>
                <a:cs typeface="Meiryo"/>
                <a:sym typeface="Meiryo"/>
              </a:rPr>
              <a:t>FAQ</a:t>
            </a:r>
            <a:r>
              <a:rPr lang="ja-JP" altLang="en-US" sz="1600" b="1" dirty="0">
                <a:solidFill>
                  <a:schemeClr val="tx1">
                    <a:lumMod val="65000"/>
                    <a:lumOff val="35000"/>
                  </a:schemeClr>
                </a:solidFill>
                <a:latin typeface="Meiryo"/>
                <a:ea typeface="Meiryo"/>
                <a:cs typeface="Meiryo"/>
                <a:sym typeface="Meiryo"/>
              </a:rPr>
              <a:t>をもとにした</a:t>
            </a:r>
            <a:r>
              <a:rPr lang="en-US" altLang="ja-JP" sz="1600" b="1" dirty="0">
                <a:solidFill>
                  <a:schemeClr val="tx1">
                    <a:lumMod val="65000"/>
                    <a:lumOff val="35000"/>
                  </a:schemeClr>
                </a:solidFill>
                <a:latin typeface="Meiryo"/>
                <a:ea typeface="Meiryo"/>
                <a:cs typeface="Meiryo"/>
                <a:sym typeface="Meiryo"/>
              </a:rPr>
              <a:t>AI</a:t>
            </a:r>
            <a:r>
              <a:rPr lang="ja-JP" altLang="en-US" sz="1600" b="1" dirty="0">
                <a:solidFill>
                  <a:schemeClr val="tx1">
                    <a:lumMod val="65000"/>
                    <a:lumOff val="35000"/>
                  </a:schemeClr>
                </a:solidFill>
                <a:latin typeface="Meiryo"/>
                <a:ea typeface="Meiryo"/>
                <a:cs typeface="Meiryo"/>
                <a:sym typeface="Meiryo"/>
              </a:rPr>
              <a:t>による自動応答や、</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有人でのチャット対応による細かなサポートを可能にするオプション機能。</a:t>
            </a:r>
            <a:endParaRPr lang="en-US" altLang="ja-JP" sz="1600" b="1" dirty="0">
              <a:solidFill>
                <a:schemeClr val="tx1">
                  <a:lumMod val="65000"/>
                  <a:lumOff val="35000"/>
                </a:schemeClr>
              </a:solidFill>
              <a:latin typeface="Meiryo"/>
              <a:ea typeface="Meiryo"/>
              <a:cs typeface="Meiryo"/>
              <a:sym typeface="Meiryo"/>
            </a:endParaRPr>
          </a:p>
        </p:txBody>
      </p:sp>
      <p:sp>
        <p:nvSpPr>
          <p:cNvPr id="29" name="正方形/長方形 28"/>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rPr>
              <a:t>【</a:t>
            </a:r>
            <a:r>
              <a:rPr lang="en-US" altLang="ja-JP" sz="1600" b="1" dirty="0" err="1">
                <a:latin typeface="メイリオ" panose="020B0604030504040204" pitchFamily="50" charset="-128"/>
                <a:ea typeface="メイリオ" panose="020B0604030504040204" pitchFamily="50" charset="-128"/>
              </a:rPr>
              <a:t>LINE】Chat</a:t>
            </a:r>
            <a:r>
              <a:rPr lang="en-US" altLang="ja-JP" sz="1600" b="1" dirty="0">
                <a:latin typeface="メイリオ" panose="020B0604030504040204" pitchFamily="50" charset="-128"/>
                <a:ea typeface="メイリオ" panose="020B0604030504040204" pitchFamily="50" charset="-128"/>
              </a:rPr>
              <a:t> Plus</a:t>
            </a:r>
          </a:p>
        </p:txBody>
      </p:sp>
      <p:sp>
        <p:nvSpPr>
          <p:cNvPr id="30" name="角丸四角形 29"/>
          <p:cNvSpPr/>
          <p:nvPr/>
        </p:nvSpPr>
        <p:spPr>
          <a:xfrm>
            <a:off x="548883" y="2287502"/>
            <a:ext cx="4031506" cy="419913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pic>
        <p:nvPicPr>
          <p:cNvPr id="3" name="図 2"/>
          <p:cNvPicPr>
            <a:picLocks noChangeAspect="1"/>
          </p:cNvPicPr>
          <p:nvPr/>
        </p:nvPicPr>
        <p:blipFill rotWithShape="1">
          <a:blip r:embed="rId2" cstate="print">
            <a:extLst>
              <a:ext uri="{28A0092B-C50C-407E-A947-70E740481C1C}">
                <a14:useLocalDpi xmlns:a14="http://schemas.microsoft.com/office/drawing/2010/main" val="0"/>
              </a:ext>
            </a:extLst>
          </a:blip>
          <a:srcRect t="34310" b="34334"/>
          <a:stretch/>
        </p:blipFill>
        <p:spPr>
          <a:xfrm>
            <a:off x="683491" y="2611441"/>
            <a:ext cx="3762290" cy="2097249"/>
          </a:xfrm>
          <a:prstGeom prst="rect">
            <a:avLst/>
          </a:prstGeom>
        </p:spPr>
      </p:pic>
      <p:sp>
        <p:nvSpPr>
          <p:cNvPr id="33" name="正方形/長方形 32"/>
          <p:cNvSpPr/>
          <p:nvPr/>
        </p:nvSpPr>
        <p:spPr>
          <a:xfrm>
            <a:off x="830828" y="5032628"/>
            <a:ext cx="3467616" cy="830997"/>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ホームページから気軽にチャットで</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問い合わせができるようになり</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資料請求や商品の購入に繋がる。</a:t>
            </a:r>
            <a:endParaRPr lang="en-US" altLang="ja-JP" sz="1600" b="1" dirty="0">
              <a:solidFill>
                <a:schemeClr val="tx1">
                  <a:lumMod val="65000"/>
                  <a:lumOff val="35000"/>
                </a:schemeClr>
              </a:solidFill>
              <a:latin typeface="Meiryo"/>
              <a:ea typeface="Meiryo"/>
              <a:cs typeface="Meiryo"/>
              <a:sym typeface="Meiryo"/>
            </a:endParaRPr>
          </a:p>
        </p:txBody>
      </p:sp>
      <p:grpSp>
        <p:nvGrpSpPr>
          <p:cNvPr id="34" name="Group 25">
            <a:extLst>
              <a:ext uri="{FF2B5EF4-FFF2-40B4-BE49-F238E27FC236}">
                <a16:creationId xmlns:a16="http://schemas.microsoft.com/office/drawing/2014/main" id="{269BA4E8-CBA1-17CF-4B27-5586E44C9042}"/>
              </a:ext>
            </a:extLst>
          </p:cNvPr>
          <p:cNvGrpSpPr/>
          <p:nvPr/>
        </p:nvGrpSpPr>
        <p:grpSpPr>
          <a:xfrm rot="5400000">
            <a:off x="5120631" y="2997089"/>
            <a:ext cx="301414" cy="601358"/>
            <a:chOff x="0" y="0"/>
            <a:chExt cx="452282" cy="902360"/>
          </a:xfrm>
        </p:grpSpPr>
        <p:sp>
          <p:nvSpPr>
            <p:cNvPr id="35"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36"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37" name="TextBox 38">
            <a:extLst>
              <a:ext uri="{FF2B5EF4-FFF2-40B4-BE49-F238E27FC236}">
                <a16:creationId xmlns:a16="http://schemas.microsoft.com/office/drawing/2014/main" id="{5DBC0D5A-D55C-257A-51E2-CC2A6B58B8CE}"/>
              </a:ext>
            </a:extLst>
          </p:cNvPr>
          <p:cNvSpPr txBox="1"/>
          <p:nvPr/>
        </p:nvSpPr>
        <p:spPr>
          <a:xfrm>
            <a:off x="5836651" y="3018835"/>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自動応答と有人応答を使い分けることが</a:t>
            </a:r>
            <a:endParaRPr lang="en-US" altLang="ja-JP" sz="1554" b="1" dirty="0">
              <a:solidFill>
                <a:srgbClr val="494848"/>
              </a:solidFill>
              <a:latin typeface="メイリオ" panose="020B0604030504040204" pitchFamily="50" charset="-128"/>
              <a:ea typeface="メイリオ" panose="020B0604030504040204" pitchFamily="50" charset="-128"/>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できる</a:t>
            </a:r>
            <a:endParaRPr lang="en-US" sz="1554" b="1" dirty="0">
              <a:solidFill>
                <a:srgbClr val="494848"/>
              </a:solidFill>
              <a:latin typeface="メイリオ" panose="020B0604030504040204" pitchFamily="50" charset="-128"/>
              <a:ea typeface="メイリオ" panose="020B0604030504040204" pitchFamily="50" charset="-128"/>
            </a:endParaRPr>
          </a:p>
        </p:txBody>
      </p:sp>
      <p:grpSp>
        <p:nvGrpSpPr>
          <p:cNvPr id="38" name="Group 25">
            <a:extLst>
              <a:ext uri="{FF2B5EF4-FFF2-40B4-BE49-F238E27FC236}">
                <a16:creationId xmlns:a16="http://schemas.microsoft.com/office/drawing/2014/main" id="{269BA4E8-CBA1-17CF-4B27-5586E44C9042}"/>
              </a:ext>
            </a:extLst>
          </p:cNvPr>
          <p:cNvGrpSpPr/>
          <p:nvPr/>
        </p:nvGrpSpPr>
        <p:grpSpPr>
          <a:xfrm rot="5400000">
            <a:off x="5120631" y="3995552"/>
            <a:ext cx="301414" cy="601358"/>
            <a:chOff x="0" y="0"/>
            <a:chExt cx="452282" cy="902360"/>
          </a:xfrm>
        </p:grpSpPr>
        <p:sp>
          <p:nvSpPr>
            <p:cNvPr id="39"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40"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41" name="TextBox 38">
            <a:extLst>
              <a:ext uri="{FF2B5EF4-FFF2-40B4-BE49-F238E27FC236}">
                <a16:creationId xmlns:a16="http://schemas.microsoft.com/office/drawing/2014/main" id="{5DBC0D5A-D55C-257A-51E2-CC2A6B58B8CE}"/>
              </a:ext>
            </a:extLst>
          </p:cNvPr>
          <p:cNvSpPr txBox="1"/>
          <p:nvPr/>
        </p:nvSpPr>
        <p:spPr>
          <a:xfrm>
            <a:off x="5836651" y="4017298"/>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「訪問者管理機能」により、ホームページに訪れたユーザーを一覧で見ることが可能</a:t>
            </a:r>
            <a:endParaRPr lang="en-US" sz="1554" b="1" dirty="0">
              <a:solidFill>
                <a:srgbClr val="494848"/>
              </a:solidFill>
              <a:latin typeface="メイリオ" panose="020B0604030504040204" pitchFamily="50" charset="-128"/>
              <a:ea typeface="メイリオ" panose="020B0604030504040204" pitchFamily="50" charset="-128"/>
            </a:endParaRPr>
          </a:p>
        </p:txBody>
      </p:sp>
      <p:grpSp>
        <p:nvGrpSpPr>
          <p:cNvPr id="42" name="Group 25">
            <a:extLst>
              <a:ext uri="{FF2B5EF4-FFF2-40B4-BE49-F238E27FC236}">
                <a16:creationId xmlns:a16="http://schemas.microsoft.com/office/drawing/2014/main" id="{269BA4E8-CBA1-17CF-4B27-5586E44C9042}"/>
              </a:ext>
            </a:extLst>
          </p:cNvPr>
          <p:cNvGrpSpPr/>
          <p:nvPr/>
        </p:nvGrpSpPr>
        <p:grpSpPr>
          <a:xfrm rot="5400000">
            <a:off x="5120631" y="4994015"/>
            <a:ext cx="301414" cy="601358"/>
            <a:chOff x="0" y="0"/>
            <a:chExt cx="452282" cy="902360"/>
          </a:xfrm>
        </p:grpSpPr>
        <p:sp>
          <p:nvSpPr>
            <p:cNvPr id="44"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46" name="TextBox 38">
            <a:extLst>
              <a:ext uri="{FF2B5EF4-FFF2-40B4-BE49-F238E27FC236}">
                <a16:creationId xmlns:a16="http://schemas.microsoft.com/office/drawing/2014/main" id="{5DBC0D5A-D55C-257A-51E2-CC2A6B58B8CE}"/>
              </a:ext>
            </a:extLst>
          </p:cNvPr>
          <p:cNvSpPr txBox="1"/>
          <p:nvPr/>
        </p:nvSpPr>
        <p:spPr>
          <a:xfrm>
            <a:off x="5836651" y="5015761"/>
            <a:ext cx="3788946" cy="846386"/>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公式</a:t>
            </a:r>
            <a:r>
              <a:rPr lang="en-US" altLang="ja-JP" sz="1554" b="1" dirty="0">
                <a:solidFill>
                  <a:srgbClr val="494848"/>
                </a:solidFill>
                <a:latin typeface="メイリオ" panose="020B0604030504040204" pitchFamily="50" charset="-128"/>
                <a:ea typeface="メイリオ" panose="020B0604030504040204" pitchFamily="50" charset="-128"/>
              </a:rPr>
              <a:t>LINE</a:t>
            </a:r>
            <a:r>
              <a:rPr lang="ja-JP" altLang="en-US" sz="1554" b="1" dirty="0">
                <a:solidFill>
                  <a:srgbClr val="494848"/>
                </a:solidFill>
                <a:latin typeface="メイリオ" panose="020B0604030504040204" pitchFamily="50" charset="-128"/>
                <a:ea typeface="メイリオ" panose="020B0604030504040204" pitchFamily="50" charset="-128"/>
              </a:rPr>
              <a:t>とチャットボットを連携し</a:t>
            </a:r>
            <a:endParaRPr lang="en-US" altLang="ja-JP" sz="1554" b="1" dirty="0">
              <a:solidFill>
                <a:srgbClr val="494848"/>
              </a:solidFill>
              <a:latin typeface="メイリオ" panose="020B0604030504040204" pitchFamily="50" charset="-128"/>
              <a:ea typeface="メイリオ" panose="020B0604030504040204" pitchFamily="50" charset="-128"/>
            </a:endParaRPr>
          </a:p>
          <a:p>
            <a:pPr>
              <a:lnSpc>
                <a:spcPts val="2176"/>
              </a:lnSpc>
            </a:pPr>
            <a:r>
              <a:rPr lang="en-US" altLang="ja-JP" sz="1554" b="1" dirty="0">
                <a:solidFill>
                  <a:srgbClr val="494848"/>
                </a:solidFill>
                <a:latin typeface="メイリオ" panose="020B0604030504040204" pitchFamily="50" charset="-128"/>
                <a:ea typeface="メイリオ" panose="020B0604030504040204" pitchFamily="50" charset="-128"/>
              </a:rPr>
              <a:t>LINE</a:t>
            </a:r>
            <a:r>
              <a:rPr lang="ja-JP" altLang="en-US" sz="1554" b="1" dirty="0">
                <a:solidFill>
                  <a:srgbClr val="494848"/>
                </a:solidFill>
                <a:latin typeface="メイリオ" panose="020B0604030504040204" pitchFamily="50" charset="-128"/>
                <a:ea typeface="メイリオ" panose="020B0604030504040204" pitchFamily="50" charset="-128"/>
              </a:rPr>
              <a:t>上でも同じチャットボットを活用</a:t>
            </a:r>
            <a:endParaRPr lang="en-US" altLang="ja-JP" sz="1554" b="1" dirty="0">
              <a:solidFill>
                <a:srgbClr val="494848"/>
              </a:solidFill>
              <a:latin typeface="メイリオ" panose="020B0604030504040204" pitchFamily="50" charset="-128"/>
              <a:ea typeface="メイリオ" panose="020B0604030504040204" pitchFamily="50" charset="-128"/>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できる</a:t>
            </a:r>
            <a:endParaRPr lang="en-US" sz="1554" b="1" dirty="0">
              <a:solidFill>
                <a:srgbClr val="494848"/>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69276659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20026D-0FAA-76C0-699F-5C95EE2044C4}"/>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C5E2E585-BC17-9ECA-2598-27E9D406C15A}"/>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その他 代表的な活用機能</a:t>
            </a:r>
          </a:p>
        </p:txBody>
      </p:sp>
      <p:sp>
        <p:nvSpPr>
          <p:cNvPr id="4" name="正方形/長方形 3">
            <a:extLst>
              <a:ext uri="{FF2B5EF4-FFF2-40B4-BE49-F238E27FC236}">
                <a16:creationId xmlns:a16="http://schemas.microsoft.com/office/drawing/2014/main" id="{E05B90A4-AED6-B19A-AEE0-64B5142381A5}"/>
              </a:ext>
            </a:extLst>
          </p:cNvPr>
          <p:cNvSpPr/>
          <p:nvPr/>
        </p:nvSpPr>
        <p:spPr>
          <a:xfrm>
            <a:off x="209578" y="1455366"/>
            <a:ext cx="7689926"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コール</a:t>
            </a:r>
            <a:r>
              <a:rPr lang="en-US" altLang="ja-JP" sz="1600" b="1" dirty="0">
                <a:solidFill>
                  <a:schemeClr val="tx1">
                    <a:lumMod val="65000"/>
                    <a:lumOff val="35000"/>
                  </a:schemeClr>
                </a:solidFill>
                <a:latin typeface="Meiryo"/>
                <a:ea typeface="Meiryo"/>
                <a:cs typeface="Meiryo"/>
                <a:sym typeface="Meiryo"/>
              </a:rPr>
              <a:t>Plus</a:t>
            </a:r>
            <a:r>
              <a:rPr lang="ja-JP" altLang="en-US" sz="1600" b="1" dirty="0">
                <a:solidFill>
                  <a:schemeClr val="tx1">
                    <a:lumMod val="65000"/>
                    <a:lumOff val="35000"/>
                  </a:schemeClr>
                </a:solidFill>
                <a:latin typeface="Meiryo"/>
                <a:ea typeface="Meiryo"/>
                <a:cs typeface="Meiryo"/>
                <a:sym typeface="Meiryo"/>
              </a:rPr>
              <a:t>」は、</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公式アカウントの有料オプション機能で、</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公式アカウントからユーザーがカスタマーサポートに電話できるサービス。</a:t>
            </a:r>
            <a:endParaRPr lang="en-US" altLang="ja-JP" sz="1600" b="1" dirty="0">
              <a:solidFill>
                <a:schemeClr val="tx1">
                  <a:lumMod val="65000"/>
                  <a:lumOff val="35000"/>
                </a:schemeClr>
              </a:solidFill>
              <a:latin typeface="Meiryo"/>
              <a:ea typeface="Meiryo"/>
              <a:cs typeface="Meiryo"/>
              <a:sym typeface="Meiryo"/>
            </a:endParaRPr>
          </a:p>
        </p:txBody>
      </p:sp>
      <p:sp>
        <p:nvSpPr>
          <p:cNvPr id="5" name="正方形/長方形 4">
            <a:extLst>
              <a:ext uri="{FF2B5EF4-FFF2-40B4-BE49-F238E27FC236}">
                <a16:creationId xmlns:a16="http://schemas.microsoft.com/office/drawing/2014/main" id="{381E56F1-6DB4-770A-F040-6633F4E7E2B0}"/>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rPr>
              <a:t>【</a:t>
            </a:r>
            <a:r>
              <a:rPr lang="en-US" altLang="ja-JP" sz="1600" b="1" dirty="0" err="1">
                <a:latin typeface="メイリオ" panose="020B0604030504040204" pitchFamily="50" charset="-128"/>
                <a:ea typeface="メイリオ" panose="020B0604030504040204" pitchFamily="50" charset="-128"/>
              </a:rPr>
              <a:t>LINE】Call</a:t>
            </a:r>
            <a:r>
              <a:rPr lang="en-US" altLang="ja-JP" sz="1600" b="1" dirty="0">
                <a:latin typeface="メイリオ" panose="020B0604030504040204" pitchFamily="50" charset="-128"/>
                <a:ea typeface="メイリオ" panose="020B0604030504040204" pitchFamily="50" charset="-128"/>
              </a:rPr>
              <a:t> Plus</a:t>
            </a:r>
          </a:p>
        </p:txBody>
      </p:sp>
      <p:pic>
        <p:nvPicPr>
          <p:cNvPr id="6" name="図 5">
            <a:extLst>
              <a:ext uri="{FF2B5EF4-FFF2-40B4-BE49-F238E27FC236}">
                <a16:creationId xmlns:a16="http://schemas.microsoft.com/office/drawing/2014/main" id="{A4DCE6F0-EC2D-892A-88B0-8516B660CB73}"/>
              </a:ext>
            </a:extLst>
          </p:cNvPr>
          <p:cNvPicPr>
            <a:picLocks noChangeAspect="1"/>
          </p:cNvPicPr>
          <p:nvPr/>
        </p:nvPicPr>
        <p:blipFill>
          <a:blip r:embed="rId2"/>
          <a:stretch>
            <a:fillRect/>
          </a:stretch>
        </p:blipFill>
        <p:spPr>
          <a:xfrm>
            <a:off x="668697" y="2287502"/>
            <a:ext cx="8332001" cy="2953508"/>
          </a:xfrm>
          <a:prstGeom prst="rect">
            <a:avLst/>
          </a:prstGeom>
        </p:spPr>
      </p:pic>
      <p:sp>
        <p:nvSpPr>
          <p:cNvPr id="7" name="角丸四角形 7">
            <a:extLst>
              <a:ext uri="{FF2B5EF4-FFF2-40B4-BE49-F238E27FC236}">
                <a16:creationId xmlns:a16="http://schemas.microsoft.com/office/drawing/2014/main" id="{D9E83488-E9DE-A2BA-7266-DA0D65822773}"/>
              </a:ext>
            </a:extLst>
          </p:cNvPr>
          <p:cNvSpPr/>
          <p:nvPr/>
        </p:nvSpPr>
        <p:spPr>
          <a:xfrm>
            <a:off x="548883" y="5241010"/>
            <a:ext cx="8720952" cy="1245629"/>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正方形/長方形 7">
            <a:extLst>
              <a:ext uri="{FF2B5EF4-FFF2-40B4-BE49-F238E27FC236}">
                <a16:creationId xmlns:a16="http://schemas.microsoft.com/office/drawing/2014/main" id="{71E1C361-AEEF-C8A2-A1E4-44AF984285D5}"/>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Meiryo"/>
                <a:ea typeface="Meiryo"/>
                <a:cs typeface="Meiryo"/>
                <a:sym typeface="Meiryo"/>
              </a:rPr>
              <a:t>引用：</a:t>
            </a:r>
            <a:r>
              <a:rPr lang="en-US" altLang="ja-JP" sz="1000" b="1" dirty="0">
                <a:solidFill>
                  <a:schemeClr val="tx1">
                    <a:lumMod val="65000"/>
                    <a:lumOff val="35000"/>
                  </a:schemeClr>
                </a:solidFill>
                <a:latin typeface="Meiryo"/>
                <a:ea typeface="Meiryo"/>
                <a:cs typeface="Meiryo"/>
                <a:sym typeface="Meiryo"/>
              </a:rPr>
              <a:t>https://prtimes.jp/main/html/rd/p/000003920.000001594.html</a:t>
            </a:r>
          </a:p>
        </p:txBody>
      </p:sp>
      <p:sp>
        <p:nvSpPr>
          <p:cNvPr id="9" name="正方形/長方形 8">
            <a:extLst>
              <a:ext uri="{FF2B5EF4-FFF2-40B4-BE49-F238E27FC236}">
                <a16:creationId xmlns:a16="http://schemas.microsoft.com/office/drawing/2014/main" id="{F798F716-4AF6-5FA7-044B-E98F33F1C04B}"/>
              </a:ext>
            </a:extLst>
          </p:cNvPr>
          <p:cNvSpPr/>
          <p:nvPr/>
        </p:nvSpPr>
        <p:spPr>
          <a:xfrm>
            <a:off x="859212" y="5571436"/>
            <a:ext cx="798949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さらに「</a:t>
            </a:r>
            <a:r>
              <a:rPr lang="en-US" altLang="ja-JP" sz="1600" b="1" dirty="0">
                <a:solidFill>
                  <a:schemeClr val="tx1">
                    <a:lumMod val="65000"/>
                    <a:lumOff val="35000"/>
                  </a:schemeClr>
                </a:solidFill>
                <a:latin typeface="Meiryo"/>
                <a:ea typeface="Meiryo"/>
                <a:cs typeface="Meiryo"/>
                <a:sym typeface="Meiryo"/>
              </a:rPr>
              <a:t>LINE Ai Call</a:t>
            </a:r>
            <a:r>
              <a:rPr lang="ja-JP" altLang="en-US" sz="1600" b="1" dirty="0">
                <a:solidFill>
                  <a:schemeClr val="tx1">
                    <a:lumMod val="65000"/>
                    <a:lumOff val="35000"/>
                  </a:schemeClr>
                </a:solidFill>
                <a:latin typeface="Meiryo"/>
                <a:ea typeface="Meiryo"/>
                <a:cs typeface="Meiryo"/>
                <a:sym typeface="Meiryo"/>
              </a:rPr>
              <a:t>」を活用するとユーザーの要望に対して</a:t>
            </a:r>
            <a:r>
              <a:rPr lang="en-US" altLang="ja-JP" sz="1600" b="1" dirty="0">
                <a:solidFill>
                  <a:schemeClr val="tx1">
                    <a:lumMod val="65000"/>
                    <a:lumOff val="35000"/>
                  </a:schemeClr>
                </a:solidFill>
                <a:latin typeface="Meiryo"/>
                <a:ea typeface="Meiryo"/>
                <a:cs typeface="Meiryo"/>
                <a:sym typeface="Meiryo"/>
              </a:rPr>
              <a:t>AI</a:t>
            </a:r>
            <a:r>
              <a:rPr lang="ja-JP" altLang="en-US" sz="1600" b="1" dirty="0">
                <a:solidFill>
                  <a:schemeClr val="tx1">
                    <a:lumMod val="65000"/>
                    <a:lumOff val="35000"/>
                  </a:schemeClr>
                </a:solidFill>
                <a:latin typeface="Meiryo"/>
                <a:ea typeface="Meiryo"/>
                <a:cs typeface="Meiryo"/>
                <a:sym typeface="Meiryo"/>
              </a:rPr>
              <a:t>による自然な</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対話応答が可能に。要件に応じて</a:t>
            </a:r>
            <a:r>
              <a:rPr lang="en-US" altLang="ja-JP" sz="1600" b="1" dirty="0">
                <a:solidFill>
                  <a:schemeClr val="tx1">
                    <a:lumMod val="65000"/>
                    <a:lumOff val="35000"/>
                  </a:schemeClr>
                </a:solidFill>
                <a:latin typeface="Meiryo"/>
                <a:ea typeface="Meiryo"/>
                <a:cs typeface="Meiryo"/>
                <a:sym typeface="Meiryo"/>
              </a:rPr>
              <a:t>Ai</a:t>
            </a:r>
            <a:r>
              <a:rPr lang="ja-JP" altLang="en-US" sz="1600" b="1" dirty="0">
                <a:solidFill>
                  <a:schemeClr val="tx1">
                    <a:lumMod val="65000"/>
                    <a:lumOff val="35000"/>
                  </a:schemeClr>
                </a:solidFill>
                <a:latin typeface="Meiryo"/>
                <a:ea typeface="Meiryo"/>
                <a:cs typeface="Meiryo"/>
                <a:sym typeface="Meiryo"/>
              </a:rPr>
              <a:t>と有人オペレータの振り分け業務効率化を支援。</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25245541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1520D-5D7C-2BDD-908B-6251C4BD5729}"/>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D9975C92-DB69-EFCA-815F-DEDCC99A793F}"/>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その他 代表的な活用機能</a:t>
            </a:r>
          </a:p>
        </p:txBody>
      </p:sp>
      <p:sp>
        <p:nvSpPr>
          <p:cNvPr id="5" name="正方形/長方形 4">
            <a:extLst>
              <a:ext uri="{FF2B5EF4-FFF2-40B4-BE49-F238E27FC236}">
                <a16:creationId xmlns:a16="http://schemas.microsoft.com/office/drawing/2014/main" id="{B925A5A4-A739-9AD7-5D18-2E4781D36898}"/>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rPr>
              <a:t>LINE</a:t>
            </a:r>
            <a:r>
              <a:rPr lang="ja-JP" altLang="en-US" sz="1600" b="1" dirty="0">
                <a:latin typeface="メイリオ" panose="020B0604030504040204" pitchFamily="50" charset="-128"/>
                <a:ea typeface="メイリオ" panose="020B0604030504040204" pitchFamily="50" charset="-128"/>
              </a:rPr>
              <a:t>でログイン</a:t>
            </a:r>
            <a:endParaRPr lang="en-US" altLang="ja-JP" sz="1600" b="1"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7C64DE5F-370C-8EB5-6D0C-7DDEB12A3E16}"/>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Meiryo"/>
                <a:ea typeface="Meiryo"/>
                <a:cs typeface="Meiryo"/>
                <a:sym typeface="Meiryo"/>
              </a:rPr>
              <a:t>引用：</a:t>
            </a:r>
            <a:r>
              <a:rPr lang="en-US" altLang="ja-JP" sz="1000" b="1" dirty="0">
                <a:solidFill>
                  <a:schemeClr val="tx1">
                    <a:lumMod val="65000"/>
                    <a:lumOff val="35000"/>
                  </a:schemeClr>
                </a:solidFill>
                <a:latin typeface="Meiryo"/>
                <a:ea typeface="Meiryo"/>
                <a:cs typeface="Meiryo"/>
                <a:sym typeface="Meiryo"/>
              </a:rPr>
              <a:t>https://prtimes.jp/main/html/rd/p/000003920.000001594.html</a:t>
            </a:r>
          </a:p>
        </p:txBody>
      </p:sp>
      <p:pic>
        <p:nvPicPr>
          <p:cNvPr id="3" name="図 2">
            <a:extLst>
              <a:ext uri="{FF2B5EF4-FFF2-40B4-BE49-F238E27FC236}">
                <a16:creationId xmlns:a16="http://schemas.microsoft.com/office/drawing/2014/main" id="{2F4170E7-BAC4-FD12-01C2-903FF75F192F}"/>
              </a:ext>
            </a:extLst>
          </p:cNvPr>
          <p:cNvPicPr>
            <a:picLocks noChangeAspect="1"/>
          </p:cNvPicPr>
          <p:nvPr/>
        </p:nvPicPr>
        <p:blipFill>
          <a:blip r:embed="rId2"/>
          <a:stretch>
            <a:fillRect/>
          </a:stretch>
        </p:blipFill>
        <p:spPr>
          <a:xfrm>
            <a:off x="414007" y="1995020"/>
            <a:ext cx="9077986" cy="4550342"/>
          </a:xfrm>
          <a:prstGeom prst="rect">
            <a:avLst/>
          </a:prstGeom>
        </p:spPr>
      </p:pic>
      <p:sp>
        <p:nvSpPr>
          <p:cNvPr id="4" name="正方形/長方形 3">
            <a:extLst>
              <a:ext uri="{FF2B5EF4-FFF2-40B4-BE49-F238E27FC236}">
                <a16:creationId xmlns:a16="http://schemas.microsoft.com/office/drawing/2014/main" id="{33EC1AF8-7A08-D8F6-3DC4-3EBE18410E78}"/>
              </a:ext>
            </a:extLst>
          </p:cNvPr>
          <p:cNvSpPr/>
          <p:nvPr/>
        </p:nvSpPr>
        <p:spPr>
          <a:xfrm>
            <a:off x="209578" y="1455366"/>
            <a:ext cx="8925841"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でログイン」は、</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上のユーザー情報を活用して</a:t>
            </a:r>
            <a:r>
              <a:rPr lang="en-US" altLang="ja-JP" sz="1600" b="1" dirty="0">
                <a:solidFill>
                  <a:schemeClr val="tx1">
                    <a:lumMod val="65000"/>
                    <a:lumOff val="35000"/>
                  </a:schemeClr>
                </a:solidFill>
                <a:latin typeface="Meiryo"/>
                <a:ea typeface="Meiryo"/>
                <a:cs typeface="Meiryo"/>
                <a:sym typeface="Meiryo"/>
              </a:rPr>
              <a:t>WEB</a:t>
            </a:r>
            <a:r>
              <a:rPr lang="ja-JP" altLang="en-US" sz="1600" b="1" dirty="0">
                <a:solidFill>
                  <a:schemeClr val="tx1">
                    <a:lumMod val="65000"/>
                    <a:lumOff val="35000"/>
                  </a:schemeClr>
                </a:solidFill>
                <a:latin typeface="Meiryo"/>
                <a:ea typeface="Meiryo"/>
                <a:cs typeface="Meiryo"/>
                <a:sym typeface="Meiryo"/>
              </a:rPr>
              <a:t>サイト登録が出来る仕組み。</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ID</a:t>
            </a:r>
            <a:r>
              <a:rPr lang="ja-JP" altLang="en-US" sz="1600" b="1" dirty="0">
                <a:solidFill>
                  <a:schemeClr val="tx1">
                    <a:lumMod val="65000"/>
                    <a:lumOff val="35000"/>
                  </a:schemeClr>
                </a:solidFill>
                <a:latin typeface="Meiryo"/>
                <a:ea typeface="Meiryo"/>
                <a:cs typeface="Meiryo"/>
                <a:sym typeface="Meiryo"/>
              </a:rPr>
              <a:t>連携を完了することにより、サービス</a:t>
            </a:r>
            <a:r>
              <a:rPr lang="en-US" altLang="ja-JP" sz="1600" b="1" dirty="0">
                <a:solidFill>
                  <a:schemeClr val="tx1">
                    <a:lumMod val="65000"/>
                    <a:lumOff val="35000"/>
                  </a:schemeClr>
                </a:solidFill>
                <a:latin typeface="Meiryo"/>
                <a:ea typeface="Meiryo"/>
                <a:cs typeface="Meiryo"/>
                <a:sym typeface="Meiryo"/>
              </a:rPr>
              <a:t>(WEB) </a:t>
            </a:r>
            <a:r>
              <a:rPr lang="ja-JP" altLang="en-US" sz="1600" b="1" dirty="0">
                <a:solidFill>
                  <a:schemeClr val="tx1">
                    <a:lumMod val="65000"/>
                    <a:lumOff val="35000"/>
                  </a:schemeClr>
                </a:solidFill>
                <a:latin typeface="Meiryo"/>
                <a:ea typeface="Meiryo"/>
                <a:cs typeface="Meiryo"/>
                <a:sym typeface="Meiryo"/>
              </a:rPr>
              <a:t>⇔ </a:t>
            </a:r>
            <a:r>
              <a:rPr lang="en-US" altLang="ja-JP" sz="1600" b="1" dirty="0">
                <a:solidFill>
                  <a:schemeClr val="tx1">
                    <a:lumMod val="65000"/>
                    <a:lumOff val="35000"/>
                  </a:schemeClr>
                </a:solidFill>
                <a:latin typeface="Meiryo"/>
                <a:ea typeface="Meiryo"/>
                <a:cs typeface="Meiryo"/>
                <a:sym typeface="Meiryo"/>
              </a:rPr>
              <a:t>LINE </a:t>
            </a:r>
            <a:r>
              <a:rPr lang="ja-JP" altLang="en-US" sz="1600" b="1" dirty="0">
                <a:solidFill>
                  <a:schemeClr val="tx1">
                    <a:lumMod val="65000"/>
                    <a:lumOff val="35000"/>
                  </a:schemeClr>
                </a:solidFill>
                <a:latin typeface="Meiryo"/>
                <a:ea typeface="Meiryo"/>
                <a:cs typeface="Meiryo"/>
                <a:sym typeface="Meiryo"/>
              </a:rPr>
              <a:t>での効果的なメッセージが可能に。</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419406833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E371F4F6-3F93-7830-595E-799AA69EA97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2" name="角丸四角形 8">
            <a:extLst>
              <a:ext uri="{FF2B5EF4-FFF2-40B4-BE49-F238E27FC236}">
                <a16:creationId xmlns:a16="http://schemas.microsoft.com/office/drawing/2014/main" id="{FD5318E5-8B5E-2D7D-A660-11170C412EF2}"/>
              </a:ext>
            </a:extLst>
          </p:cNvPr>
          <p:cNvSpPr/>
          <p:nvPr/>
        </p:nvSpPr>
        <p:spPr>
          <a:xfrm>
            <a:off x="6663036"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 name="Google Shape;178;p7">
            <a:extLst>
              <a:ext uri="{FF2B5EF4-FFF2-40B4-BE49-F238E27FC236}">
                <a16:creationId xmlns:a16="http://schemas.microsoft.com/office/drawing/2014/main" id="{5B7BDCE2-F32C-98D5-860A-09F3912D9718}"/>
              </a:ext>
            </a:extLst>
          </p:cNvPr>
          <p:cNvSpPr txBox="1"/>
          <p:nvPr/>
        </p:nvSpPr>
        <p:spPr>
          <a:xfrm>
            <a:off x="6756034" y="4153224"/>
            <a:ext cx="2800326" cy="67539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オフライン動線</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400" b="1" dirty="0">
                <a:solidFill>
                  <a:srgbClr val="002060"/>
                </a:solidFill>
                <a:latin typeface="Meiryo"/>
                <a:ea typeface="Meiryo"/>
                <a:cs typeface="Meiryo"/>
                <a:sym typeface="Meiryo"/>
              </a:rPr>
              <a:t>ニュースリリース等</a:t>
            </a:r>
            <a:endParaRPr lang="en-US" altLang="ja-JP" sz="1400" b="1" dirty="0">
              <a:solidFill>
                <a:srgbClr val="002060"/>
              </a:solidFill>
              <a:latin typeface="Meiryo"/>
              <a:ea typeface="Meiryo"/>
              <a:cs typeface="Meiryo"/>
              <a:sym typeface="Meiryo"/>
            </a:endParaRPr>
          </a:p>
        </p:txBody>
      </p:sp>
      <p:sp>
        <p:nvSpPr>
          <p:cNvPr id="5" name="角丸四角形 7">
            <a:extLst>
              <a:ext uri="{FF2B5EF4-FFF2-40B4-BE49-F238E27FC236}">
                <a16:creationId xmlns:a16="http://schemas.microsoft.com/office/drawing/2014/main" id="{467076C6-3952-617E-47B1-6B2C5D00137B}"/>
              </a:ext>
            </a:extLst>
          </p:cNvPr>
          <p:cNvSpPr/>
          <p:nvPr/>
        </p:nvSpPr>
        <p:spPr>
          <a:xfrm>
            <a:off x="3462784" y="4090156"/>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6" name="Google Shape;178;p7">
            <a:extLst>
              <a:ext uri="{FF2B5EF4-FFF2-40B4-BE49-F238E27FC236}">
                <a16:creationId xmlns:a16="http://schemas.microsoft.com/office/drawing/2014/main" id="{421A0D53-7019-D33A-B0BD-DBDF4AAB2FEE}"/>
              </a:ext>
            </a:extLst>
          </p:cNvPr>
          <p:cNvSpPr txBox="1"/>
          <p:nvPr/>
        </p:nvSpPr>
        <p:spPr>
          <a:xfrm>
            <a:off x="3563068" y="4245557"/>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WEB</a:t>
            </a:r>
            <a:r>
              <a:rPr lang="ja-JP" altLang="en-US" sz="2000" b="1" dirty="0">
                <a:solidFill>
                  <a:srgbClr val="002060"/>
                </a:solidFill>
                <a:latin typeface="Meiryo"/>
                <a:ea typeface="Meiryo"/>
                <a:cs typeface="Meiryo"/>
                <a:sym typeface="Meiryo"/>
              </a:rPr>
              <a:t>サイト動線整備</a:t>
            </a:r>
            <a:endParaRPr lang="en-US" altLang="ja-JP" sz="2000" b="1" dirty="0">
              <a:solidFill>
                <a:srgbClr val="002060"/>
              </a:solidFill>
              <a:latin typeface="Meiryo"/>
              <a:ea typeface="Meiryo"/>
              <a:cs typeface="Meiryo"/>
              <a:sym typeface="Meiryo"/>
            </a:endParaRPr>
          </a:p>
        </p:txBody>
      </p:sp>
      <p:sp>
        <p:nvSpPr>
          <p:cNvPr id="7" name="角丸四角形 8">
            <a:extLst>
              <a:ext uri="{FF2B5EF4-FFF2-40B4-BE49-F238E27FC236}">
                <a16:creationId xmlns:a16="http://schemas.microsoft.com/office/drawing/2014/main" id="{6248FCF3-6E9E-CB4D-40D9-251911AC2CEF}"/>
              </a:ext>
            </a:extLst>
          </p:cNvPr>
          <p:cNvSpPr/>
          <p:nvPr/>
        </p:nvSpPr>
        <p:spPr>
          <a:xfrm>
            <a:off x="262251"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Google Shape;178;p7">
            <a:extLst>
              <a:ext uri="{FF2B5EF4-FFF2-40B4-BE49-F238E27FC236}">
                <a16:creationId xmlns:a16="http://schemas.microsoft.com/office/drawing/2014/main" id="{E5C2AF7A-FA8D-3471-762D-FC84F5818E88}"/>
              </a:ext>
            </a:extLst>
          </p:cNvPr>
          <p:cNvSpPr txBox="1"/>
          <p:nvPr/>
        </p:nvSpPr>
        <p:spPr>
          <a:xfrm>
            <a:off x="598393" y="4153224"/>
            <a:ext cx="2314319" cy="644614"/>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友だち紹介</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200" b="1" dirty="0">
                <a:solidFill>
                  <a:srgbClr val="002060"/>
                </a:solidFill>
                <a:latin typeface="Meiryo"/>
                <a:ea typeface="Meiryo"/>
                <a:cs typeface="Meiryo"/>
                <a:sym typeface="Meiryo"/>
              </a:rPr>
              <a:t>（</a:t>
            </a:r>
            <a:r>
              <a:rPr lang="en-US" altLang="ja-JP" sz="1200" b="1" dirty="0">
                <a:solidFill>
                  <a:srgbClr val="002060"/>
                </a:solidFill>
                <a:latin typeface="Meiryo"/>
                <a:ea typeface="Meiryo"/>
                <a:cs typeface="Meiryo"/>
                <a:sym typeface="Meiryo"/>
              </a:rPr>
              <a:t>LINE</a:t>
            </a:r>
            <a:r>
              <a:rPr lang="ja-JP" altLang="en-US" sz="1200" b="1" dirty="0">
                <a:solidFill>
                  <a:srgbClr val="002060"/>
                </a:solidFill>
                <a:latin typeface="Meiryo"/>
                <a:ea typeface="Meiryo"/>
                <a:cs typeface="Meiryo"/>
                <a:sym typeface="Meiryo"/>
              </a:rPr>
              <a:t>ポイントコネクト）</a:t>
            </a:r>
            <a:endParaRPr lang="en-US" altLang="ja-JP" sz="1200" b="1" dirty="0">
              <a:solidFill>
                <a:srgbClr val="002060"/>
              </a:solidFill>
              <a:latin typeface="Meiryo"/>
              <a:ea typeface="Meiryo"/>
              <a:cs typeface="Meiryo"/>
              <a:sym typeface="Meiryo"/>
            </a:endParaRPr>
          </a:p>
        </p:txBody>
      </p:sp>
      <p:sp>
        <p:nvSpPr>
          <p:cNvPr id="9" name="角丸四角形 8">
            <a:extLst>
              <a:ext uri="{FF2B5EF4-FFF2-40B4-BE49-F238E27FC236}">
                <a16:creationId xmlns:a16="http://schemas.microsoft.com/office/drawing/2014/main" id="{B44E38B3-9697-65AF-1E0A-CE143B30BA15}"/>
              </a:ext>
            </a:extLst>
          </p:cNvPr>
          <p:cNvSpPr/>
          <p:nvPr/>
        </p:nvSpPr>
        <p:spPr>
          <a:xfrm>
            <a:off x="6663036"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0" name="Google Shape;178;p7">
            <a:extLst>
              <a:ext uri="{FF2B5EF4-FFF2-40B4-BE49-F238E27FC236}">
                <a16:creationId xmlns:a16="http://schemas.microsoft.com/office/drawing/2014/main" id="{227F189E-B3B2-1E1B-232D-81C3B9F95AF9}"/>
              </a:ext>
            </a:extLst>
          </p:cNvPr>
          <p:cNvSpPr txBox="1"/>
          <p:nvPr/>
        </p:nvSpPr>
        <p:spPr>
          <a:xfrm>
            <a:off x="6756034"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ポイント</a:t>
            </a:r>
            <a:r>
              <a:rPr lang="en-US" altLang="ja-JP" sz="2000" b="1" dirty="0">
                <a:solidFill>
                  <a:srgbClr val="002060"/>
                </a:solidFill>
                <a:latin typeface="Meiryo"/>
                <a:ea typeface="Meiryo"/>
                <a:cs typeface="Meiryo"/>
                <a:sym typeface="Meiryo"/>
              </a:rPr>
              <a:t>Ads</a:t>
            </a:r>
            <a:endParaRPr lang="en-US" altLang="ja-JP" sz="1400" b="1" dirty="0">
              <a:solidFill>
                <a:srgbClr val="002060"/>
              </a:solidFill>
              <a:latin typeface="Meiryo"/>
              <a:ea typeface="Meiryo"/>
              <a:cs typeface="Meiryo"/>
              <a:sym typeface="Meiryo"/>
            </a:endParaRPr>
          </a:p>
        </p:txBody>
      </p:sp>
      <p:sp>
        <p:nvSpPr>
          <p:cNvPr id="11" name="角丸四角形 7">
            <a:extLst>
              <a:ext uri="{FF2B5EF4-FFF2-40B4-BE49-F238E27FC236}">
                <a16:creationId xmlns:a16="http://schemas.microsoft.com/office/drawing/2014/main" id="{246EA7DE-13D3-9A9C-9E03-EF6250D306DC}"/>
              </a:ext>
            </a:extLst>
          </p:cNvPr>
          <p:cNvSpPr/>
          <p:nvPr/>
        </p:nvSpPr>
        <p:spPr>
          <a:xfrm>
            <a:off x="3462784" y="185655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2" name="Google Shape;178;p7">
            <a:extLst>
              <a:ext uri="{FF2B5EF4-FFF2-40B4-BE49-F238E27FC236}">
                <a16:creationId xmlns:a16="http://schemas.microsoft.com/office/drawing/2014/main" id="{5045D5F0-5F86-568D-455F-0F514426CF62}"/>
              </a:ext>
            </a:extLst>
          </p:cNvPr>
          <p:cNvSpPr txBox="1"/>
          <p:nvPr/>
        </p:nvSpPr>
        <p:spPr>
          <a:xfrm>
            <a:off x="3563068"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スタンプ施策</a:t>
            </a:r>
            <a:endParaRPr lang="en-US" altLang="ja-JP" sz="2000" b="1" dirty="0">
              <a:solidFill>
                <a:srgbClr val="002060"/>
              </a:solidFill>
              <a:latin typeface="Meiryo"/>
              <a:ea typeface="Meiryo"/>
              <a:cs typeface="Meiryo"/>
              <a:sym typeface="Meiryo"/>
            </a:endParaRPr>
          </a:p>
        </p:txBody>
      </p:sp>
      <p:sp>
        <p:nvSpPr>
          <p:cNvPr id="13" name="角丸四角形 8">
            <a:extLst>
              <a:ext uri="{FF2B5EF4-FFF2-40B4-BE49-F238E27FC236}">
                <a16:creationId xmlns:a16="http://schemas.microsoft.com/office/drawing/2014/main" id="{3600FC78-1A6B-42D9-C939-11449F5EA1D7}"/>
              </a:ext>
            </a:extLst>
          </p:cNvPr>
          <p:cNvSpPr/>
          <p:nvPr/>
        </p:nvSpPr>
        <p:spPr>
          <a:xfrm>
            <a:off x="262251"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4" name="Google Shape;178;p7">
            <a:extLst>
              <a:ext uri="{FF2B5EF4-FFF2-40B4-BE49-F238E27FC236}">
                <a16:creationId xmlns:a16="http://schemas.microsoft.com/office/drawing/2014/main" id="{DE80A45D-1C7E-C6F5-E8EB-2D7BDFC995E0}"/>
              </a:ext>
            </a:extLst>
          </p:cNvPr>
          <p:cNvSpPr txBox="1"/>
          <p:nvPr/>
        </p:nvSpPr>
        <p:spPr>
          <a:xfrm>
            <a:off x="598393" y="2011960"/>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1200" b="1" dirty="0">
              <a:solidFill>
                <a:srgbClr val="002060"/>
              </a:solidFill>
              <a:latin typeface="Meiryo"/>
              <a:ea typeface="Meiryo"/>
              <a:cs typeface="Meiryo"/>
              <a:sym typeface="Meiryo"/>
            </a:endParaRPr>
          </a:p>
        </p:txBody>
      </p:sp>
      <p:sp>
        <p:nvSpPr>
          <p:cNvPr id="16" name="テキスト ボックス 15">
            <a:extLst>
              <a:ext uri="{FF2B5EF4-FFF2-40B4-BE49-F238E27FC236}">
                <a16:creationId xmlns:a16="http://schemas.microsoft.com/office/drawing/2014/main" id="{E2BE065C-FC2C-F8DB-8D4D-6A6CF2961B74}"/>
              </a:ext>
            </a:extLst>
          </p:cNvPr>
          <p:cNvSpPr txBox="1"/>
          <p:nvPr/>
        </p:nvSpPr>
        <p:spPr>
          <a:xfrm>
            <a:off x="6663036" y="5212007"/>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18" name="正方形/長方形 17">
            <a:extLst>
              <a:ext uri="{FF2B5EF4-FFF2-40B4-BE49-F238E27FC236}">
                <a16:creationId xmlns:a16="http://schemas.microsoft.com/office/drawing/2014/main" id="{6E06F22F-E0C7-5FD3-4405-6102987BD5DF}"/>
              </a:ext>
            </a:extLst>
          </p:cNvPr>
          <p:cNvSpPr/>
          <p:nvPr/>
        </p:nvSpPr>
        <p:spPr>
          <a:xfrm>
            <a:off x="519852" y="4164059"/>
            <a:ext cx="2453983"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B0050C1C-B390-1662-9BFB-21BE29D83F9A}"/>
              </a:ext>
            </a:extLst>
          </p:cNvPr>
          <p:cNvSpPr/>
          <p:nvPr/>
        </p:nvSpPr>
        <p:spPr>
          <a:xfrm>
            <a:off x="3613540" y="41624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D5EE4289-C478-AD62-AE99-69AE5A069F77}"/>
              </a:ext>
            </a:extLst>
          </p:cNvPr>
          <p:cNvSpPr/>
          <p:nvPr/>
        </p:nvSpPr>
        <p:spPr>
          <a:xfrm>
            <a:off x="6825208" y="4153224"/>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正方形/長方形 20">
            <a:extLst>
              <a:ext uri="{FF2B5EF4-FFF2-40B4-BE49-F238E27FC236}">
                <a16:creationId xmlns:a16="http://schemas.microsoft.com/office/drawing/2014/main" id="{1396C237-CE79-2CD6-FC3A-C050A56E6C7C}"/>
              </a:ext>
            </a:extLst>
          </p:cNvPr>
          <p:cNvSpPr/>
          <p:nvPr/>
        </p:nvSpPr>
        <p:spPr>
          <a:xfrm>
            <a:off x="6825208"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a:extLst>
              <a:ext uri="{FF2B5EF4-FFF2-40B4-BE49-F238E27FC236}">
                <a16:creationId xmlns:a16="http://schemas.microsoft.com/office/drawing/2014/main" id="{4F441C91-30FF-B254-D31A-0BF09A82F0CC}"/>
              </a:ext>
            </a:extLst>
          </p:cNvPr>
          <p:cNvSpPr/>
          <p:nvPr/>
        </p:nvSpPr>
        <p:spPr>
          <a:xfrm>
            <a:off x="405862" y="19388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正方形/長方形 22">
            <a:extLst>
              <a:ext uri="{FF2B5EF4-FFF2-40B4-BE49-F238E27FC236}">
                <a16:creationId xmlns:a16="http://schemas.microsoft.com/office/drawing/2014/main" id="{0444B2FB-B600-A32F-FC5C-CA7414D41D09}"/>
              </a:ext>
            </a:extLst>
          </p:cNvPr>
          <p:cNvSpPr/>
          <p:nvPr/>
        </p:nvSpPr>
        <p:spPr>
          <a:xfrm>
            <a:off x="3627794"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0EB1A30C-0F7E-2CA8-AFC7-86F4D2F0F62E}"/>
              </a:ext>
            </a:extLst>
          </p:cNvPr>
          <p:cNvSpPr txBox="1"/>
          <p:nvPr/>
        </p:nvSpPr>
        <p:spPr>
          <a:xfrm>
            <a:off x="3457175" y="5206261"/>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27" name="テキスト ボックス 26">
            <a:extLst>
              <a:ext uri="{FF2B5EF4-FFF2-40B4-BE49-F238E27FC236}">
                <a16:creationId xmlns:a16="http://schemas.microsoft.com/office/drawing/2014/main" id="{E132920A-5E9A-4275-387D-200CCBF9F676}"/>
              </a:ext>
            </a:extLst>
          </p:cNvPr>
          <p:cNvSpPr txBox="1"/>
          <p:nvPr/>
        </p:nvSpPr>
        <p:spPr>
          <a:xfrm>
            <a:off x="251033" y="5206261"/>
            <a:ext cx="2980713" cy="369332"/>
          </a:xfrm>
          <a:prstGeom prst="rect">
            <a:avLst/>
          </a:prstGeom>
          <a:noFill/>
        </p:spPr>
        <p:txBody>
          <a:bodyPr wrap="square">
            <a:spAutoFit/>
          </a:bodyPr>
          <a:lstStyle/>
          <a:p>
            <a:pPr algn="ctr"/>
            <a:r>
              <a:rPr lang="ja-JP" altLang="en-US" b="1" dirty="0">
                <a:solidFill>
                  <a:schemeClr val="tx1">
                    <a:lumMod val="50000"/>
                    <a:lumOff val="50000"/>
                  </a:schemeClr>
                </a:solidFill>
                <a:latin typeface="Meiryo"/>
                <a:ea typeface="Meiryo"/>
                <a:sym typeface="Meiryo"/>
              </a:rPr>
              <a:t>サービス停止中</a:t>
            </a:r>
            <a:endParaRPr lang="ja-JP" altLang="en-US" b="1" dirty="0">
              <a:solidFill>
                <a:schemeClr val="tx1">
                  <a:lumMod val="50000"/>
                  <a:lumOff val="50000"/>
                </a:schemeClr>
              </a:solidFill>
            </a:endParaRPr>
          </a:p>
        </p:txBody>
      </p:sp>
      <p:sp>
        <p:nvSpPr>
          <p:cNvPr id="28" name="テキスト ボックス 27">
            <a:extLst>
              <a:ext uri="{FF2B5EF4-FFF2-40B4-BE49-F238E27FC236}">
                <a16:creationId xmlns:a16="http://schemas.microsoft.com/office/drawing/2014/main" id="{F730E614-90C4-E99C-1611-CBB84BD8881C}"/>
              </a:ext>
            </a:extLst>
          </p:cNvPr>
          <p:cNvSpPr txBox="1"/>
          <p:nvPr/>
        </p:nvSpPr>
        <p:spPr>
          <a:xfrm>
            <a:off x="6680454" y="2978410"/>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29" name="テキスト ボックス 28">
            <a:extLst>
              <a:ext uri="{FF2B5EF4-FFF2-40B4-BE49-F238E27FC236}">
                <a16:creationId xmlns:a16="http://schemas.microsoft.com/office/drawing/2014/main" id="{BD4CB354-FCE0-FE83-2308-4BB89D24B9EE}"/>
              </a:ext>
            </a:extLst>
          </p:cNvPr>
          <p:cNvSpPr txBox="1"/>
          <p:nvPr/>
        </p:nvSpPr>
        <p:spPr>
          <a:xfrm>
            <a:off x="3474593"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30" name="テキスト ボックス 29">
            <a:extLst>
              <a:ext uri="{FF2B5EF4-FFF2-40B4-BE49-F238E27FC236}">
                <a16:creationId xmlns:a16="http://schemas.microsoft.com/office/drawing/2014/main" id="{409CCF04-7F2B-649D-F219-27BCA34C2D62}"/>
              </a:ext>
            </a:extLst>
          </p:cNvPr>
          <p:cNvSpPr txBox="1"/>
          <p:nvPr/>
        </p:nvSpPr>
        <p:spPr>
          <a:xfrm>
            <a:off x="268451"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a:t>
            </a:r>
            <a:r>
              <a:rPr lang="en-US" altLang="ja-JP" sz="1200" dirty="0">
                <a:latin typeface="Meiryo"/>
                <a:ea typeface="Meiryo"/>
                <a:sym typeface="Meiryo"/>
              </a:rPr>
              <a:t>1</a:t>
            </a:r>
            <a:r>
              <a:rPr lang="ja-JP" altLang="en-US" sz="1200" dirty="0">
                <a:latin typeface="Meiryo"/>
                <a:ea typeface="Meiryo"/>
                <a:sym typeface="Meiryo"/>
              </a:rPr>
              <a:t>ヶ月</a:t>
            </a:r>
            <a:r>
              <a:rPr lang="en-US" altLang="ja-JP" sz="1200" dirty="0">
                <a:latin typeface="Meiryo"/>
                <a:ea typeface="Meiryo"/>
                <a:sym typeface="Meiryo"/>
              </a:rPr>
              <a:t>~</a:t>
            </a:r>
            <a:r>
              <a:rPr lang="ja-JP" altLang="en-US" sz="1200" dirty="0">
                <a:latin typeface="Meiryo"/>
                <a:ea typeface="Meiryo"/>
                <a:sym typeface="Meiryo"/>
              </a:rPr>
              <a:t>）</a:t>
            </a:r>
            <a:endParaRPr lang="ja-JP" altLang="en-US" sz="2000" dirty="0">
              <a:solidFill>
                <a:srgbClr val="FF0000"/>
              </a:solidFill>
            </a:endParaRPr>
          </a:p>
        </p:txBody>
      </p:sp>
      <p:sp>
        <p:nvSpPr>
          <p:cNvPr id="31" name="正方形/長方形 30">
            <a:extLst>
              <a:ext uri="{FF2B5EF4-FFF2-40B4-BE49-F238E27FC236}">
                <a16:creationId xmlns:a16="http://schemas.microsoft.com/office/drawing/2014/main" id="{48479E1B-BB51-2C74-9251-6EC7A8EFC419}"/>
              </a:ext>
            </a:extLst>
          </p:cNvPr>
          <p:cNvSpPr/>
          <p:nvPr/>
        </p:nvSpPr>
        <p:spPr>
          <a:xfrm>
            <a:off x="663410" y="899253"/>
            <a:ext cx="8628148"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600" b="1" dirty="0">
                <a:solidFill>
                  <a:schemeClr val="tx1">
                    <a:lumMod val="65000"/>
                    <a:lumOff val="35000"/>
                  </a:schemeClr>
                </a:solidFill>
                <a:latin typeface="Meiryo"/>
                <a:ea typeface="Meiryo"/>
                <a:cs typeface="Meiryo"/>
                <a:sym typeface="Meiryo"/>
              </a:rPr>
              <a:t>各拡張施策についても</a:t>
            </a:r>
            <a:r>
              <a:rPr lang="en-US" altLang="ja-JP" sz="1600" b="1" dirty="0">
                <a:solidFill>
                  <a:schemeClr val="tx1">
                    <a:lumMod val="65000"/>
                    <a:lumOff val="35000"/>
                  </a:schemeClr>
                </a:solidFill>
                <a:latin typeface="Meiryo"/>
                <a:ea typeface="Meiryo"/>
                <a:cs typeface="Meiryo"/>
                <a:sym typeface="Meiryo"/>
              </a:rPr>
              <a:t>MIN</a:t>
            </a:r>
            <a:r>
              <a:rPr lang="ja-JP" altLang="en-US" sz="1600" b="1" dirty="0">
                <a:solidFill>
                  <a:schemeClr val="tx1">
                    <a:lumMod val="65000"/>
                    <a:lumOff val="35000"/>
                  </a:schemeClr>
                </a:solidFill>
                <a:latin typeface="Meiryo"/>
                <a:ea typeface="Meiryo"/>
                <a:cs typeface="Meiryo"/>
                <a:sym typeface="Meiryo"/>
              </a:rPr>
              <a:t>金額からの発注、動線設計が可能です。</a:t>
            </a:r>
            <a:endParaRPr lang="en-US" altLang="ja-JP" sz="1600" b="1" dirty="0">
              <a:solidFill>
                <a:schemeClr val="tx1">
                  <a:lumMod val="65000"/>
                  <a:lumOff val="35000"/>
                </a:schemeClr>
              </a:solidFill>
              <a:latin typeface="Meiryo"/>
              <a:ea typeface="Meiryo"/>
              <a:cs typeface="Meiryo"/>
              <a:sym typeface="Meiryo"/>
            </a:endParaRPr>
          </a:p>
          <a:p>
            <a:pPr lvl="0" algn="ctr">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友だち追加後の動線設計（特に友だち追加後すぐ）の検証後の拡大施策として用意。</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300670347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0CEAE-3814-32E7-D45E-2C4EC8610FF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CD37268-DB4A-D96C-3487-68A9F730193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pic>
        <p:nvPicPr>
          <p:cNvPr id="52" name="図 51">
            <a:extLst>
              <a:ext uri="{FF2B5EF4-FFF2-40B4-BE49-F238E27FC236}">
                <a16:creationId xmlns:a16="http://schemas.microsoft.com/office/drawing/2014/main" id="{190D62DD-D102-4473-AB6A-16C880141BF8}"/>
              </a:ext>
            </a:extLst>
          </p:cNvPr>
          <p:cNvPicPr>
            <a:picLocks noChangeAspect="1"/>
          </p:cNvPicPr>
          <p:nvPr/>
        </p:nvPicPr>
        <p:blipFill>
          <a:blip r:embed="rId2"/>
          <a:stretch>
            <a:fillRect/>
          </a:stretch>
        </p:blipFill>
        <p:spPr>
          <a:xfrm>
            <a:off x="554449" y="1858069"/>
            <a:ext cx="4461381" cy="1873780"/>
          </a:xfrm>
          <a:prstGeom prst="rect">
            <a:avLst/>
          </a:prstGeom>
        </p:spPr>
      </p:pic>
      <p:sp>
        <p:nvSpPr>
          <p:cNvPr id="53" name="正方形/長方形 52">
            <a:extLst>
              <a:ext uri="{FF2B5EF4-FFF2-40B4-BE49-F238E27FC236}">
                <a16:creationId xmlns:a16="http://schemas.microsoft.com/office/drawing/2014/main" id="{1E454A9D-8A4D-3389-458B-9DC647A79863}"/>
              </a:ext>
            </a:extLst>
          </p:cNvPr>
          <p:cNvSpPr/>
          <p:nvPr/>
        </p:nvSpPr>
        <p:spPr>
          <a:xfrm>
            <a:off x="419696" y="732614"/>
            <a:ext cx="2365444" cy="673262"/>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lang="en-US" altLang="ja-JP" sz="1600" b="1" dirty="0">
                <a:latin typeface="メイリオ" panose="020B0604030504040204" pitchFamily="50" charset="-128"/>
                <a:ea typeface="メイリオ" panose="020B0604030504040204" pitchFamily="50" charset="-128"/>
              </a:rPr>
              <a:t>LINE</a:t>
            </a:r>
            <a:r>
              <a:rPr lang="ja-JP" altLang="en-US" sz="1600" b="1" dirty="0">
                <a:latin typeface="メイリオ" panose="020B0604030504040204" pitchFamily="50" charset="-128"/>
                <a:ea typeface="メイリオ" panose="020B0604030504040204" pitchFamily="50" charset="-128"/>
              </a:rPr>
              <a:t>広告</a:t>
            </a:r>
            <a:r>
              <a:rPr lang="ja-JP" altLang="en-US" sz="1200" b="1" dirty="0">
                <a:latin typeface="メイリオ" panose="020B0604030504040204" pitchFamily="50" charset="-128"/>
                <a:ea typeface="メイリオ" panose="020B0604030504040204" pitchFamily="50" charset="-128"/>
              </a:rPr>
              <a:t>（友だち追加）</a:t>
            </a:r>
            <a:endParaRPr lang="en-US" altLang="ja-JP" sz="1200" b="1" dirty="0">
              <a:latin typeface="メイリオ" panose="020B0604030504040204" pitchFamily="50" charset="-128"/>
              <a:ea typeface="メイリオ" panose="020B0604030504040204" pitchFamily="50" charset="-128"/>
            </a:endParaRPr>
          </a:p>
          <a:p>
            <a:pPr algn="ctr"/>
            <a:r>
              <a:rPr lang="en-US" altLang="ja-JP" sz="1200" b="1" dirty="0">
                <a:solidFill>
                  <a:srgbClr val="FFFF00"/>
                </a:solidFill>
                <a:latin typeface="メイリオ" panose="020B0604030504040204" pitchFamily="50" charset="-128"/>
                <a:ea typeface="メイリオ" panose="020B0604030504040204" pitchFamily="50" charset="-128"/>
              </a:rPr>
              <a:t>※CPF</a:t>
            </a:r>
            <a:r>
              <a:rPr lang="ja-JP" altLang="en-US" sz="1200" b="1" dirty="0">
                <a:solidFill>
                  <a:srgbClr val="FFFF00"/>
                </a:solidFill>
                <a:latin typeface="メイリオ" panose="020B0604030504040204" pitchFamily="50" charset="-128"/>
                <a:ea typeface="メイリオ" panose="020B0604030504040204" pitchFamily="50" charset="-128"/>
              </a:rPr>
              <a:t>広告</a:t>
            </a:r>
            <a:r>
              <a:rPr lang="en-US" altLang="ja-JP" sz="1200" b="1" dirty="0">
                <a:solidFill>
                  <a:srgbClr val="FFFF00"/>
                </a:solidFill>
                <a:latin typeface="メイリオ" panose="020B0604030504040204" pitchFamily="50" charset="-128"/>
                <a:ea typeface="メイリオ" panose="020B0604030504040204" pitchFamily="50" charset="-128"/>
              </a:rPr>
              <a:t>※</a:t>
            </a:r>
          </a:p>
        </p:txBody>
      </p:sp>
      <p:sp>
        <p:nvSpPr>
          <p:cNvPr id="54" name="正方形/長方形 53">
            <a:extLst>
              <a:ext uri="{FF2B5EF4-FFF2-40B4-BE49-F238E27FC236}">
                <a16:creationId xmlns:a16="http://schemas.microsoft.com/office/drawing/2014/main" id="{CBF7AEFA-2BE6-4972-0C9D-4ED6780F0997}"/>
              </a:ext>
            </a:extLst>
          </p:cNvPr>
          <p:cNvSpPr/>
          <p:nvPr/>
        </p:nvSpPr>
        <p:spPr>
          <a:xfrm>
            <a:off x="2938369" y="776858"/>
            <a:ext cx="6482455"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公式アカウントの友だちを増やすための広告を、</a:t>
            </a:r>
            <a:br>
              <a:rPr lang="en-US" altLang="ja-JP" sz="1600" b="1" dirty="0">
                <a:solidFill>
                  <a:schemeClr val="tx1">
                    <a:lumMod val="65000"/>
                    <a:lumOff val="35000"/>
                  </a:schemeClr>
                </a:solidFill>
                <a:latin typeface="Meiryo"/>
                <a:ea typeface="Meiryo"/>
                <a:cs typeface="Meiryo"/>
                <a:sym typeface="Meiryo"/>
              </a:rPr>
            </a:b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広告の管理画面より</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アプリ内で掲載できる機能。</a:t>
            </a:r>
            <a:endParaRPr lang="en-US" altLang="ja-JP" sz="1600" b="1" dirty="0">
              <a:solidFill>
                <a:schemeClr val="tx1">
                  <a:lumMod val="65000"/>
                  <a:lumOff val="35000"/>
                </a:schemeClr>
              </a:solidFill>
              <a:latin typeface="Meiryo"/>
              <a:ea typeface="Meiryo"/>
              <a:cs typeface="Meiryo"/>
              <a:sym typeface="Meiryo"/>
            </a:endParaRPr>
          </a:p>
        </p:txBody>
      </p:sp>
      <p:grpSp>
        <p:nvGrpSpPr>
          <p:cNvPr id="55" name="グループ化 54">
            <a:extLst>
              <a:ext uri="{FF2B5EF4-FFF2-40B4-BE49-F238E27FC236}">
                <a16:creationId xmlns:a16="http://schemas.microsoft.com/office/drawing/2014/main" id="{AA1E2469-A533-1A69-9E3E-DCA5ECAE64F8}"/>
              </a:ext>
            </a:extLst>
          </p:cNvPr>
          <p:cNvGrpSpPr/>
          <p:nvPr/>
        </p:nvGrpSpPr>
        <p:grpSpPr>
          <a:xfrm>
            <a:off x="516143" y="1563631"/>
            <a:ext cx="2696339" cy="312276"/>
            <a:chOff x="548883" y="1619331"/>
            <a:chExt cx="2696339" cy="312276"/>
          </a:xfrm>
        </p:grpSpPr>
        <p:sp>
          <p:nvSpPr>
            <p:cNvPr id="56" name="四角形: 角を丸くする 55">
              <a:extLst>
                <a:ext uri="{FF2B5EF4-FFF2-40B4-BE49-F238E27FC236}">
                  <a16:creationId xmlns:a16="http://schemas.microsoft.com/office/drawing/2014/main" id="{A2BD085E-2BC4-9C8E-5DC8-B72B3DDB8E8D}"/>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57" name="正方形/長方形 56">
              <a:extLst>
                <a:ext uri="{FF2B5EF4-FFF2-40B4-BE49-F238E27FC236}">
                  <a16:creationId xmlns:a16="http://schemas.microsoft.com/office/drawing/2014/main" id="{560B246B-790F-6D05-28ED-13ABB1AF3BEC}"/>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en-US" altLang="ja-JP" sz="1200" b="1" dirty="0">
                  <a:solidFill>
                    <a:srgbClr val="0070C0"/>
                  </a:solidFill>
                  <a:latin typeface="Meiryo"/>
                  <a:ea typeface="Meiryo"/>
                  <a:cs typeface="Meiryo"/>
                  <a:sym typeface="Meiryo"/>
                </a:rPr>
                <a:t>LINE</a:t>
              </a:r>
              <a:r>
                <a:rPr lang="ja-JP" altLang="en-US" sz="1200" b="1" dirty="0">
                  <a:solidFill>
                    <a:srgbClr val="0070C0"/>
                  </a:solidFill>
                  <a:latin typeface="Meiryo"/>
                  <a:ea typeface="Meiryo"/>
                  <a:cs typeface="Meiryo"/>
                  <a:sym typeface="Meiryo"/>
                </a:rPr>
                <a:t>公式アカウントまでの導線</a:t>
              </a:r>
              <a:endParaRPr lang="en-US" altLang="ja-JP" sz="1200" b="1" dirty="0">
                <a:solidFill>
                  <a:srgbClr val="0070C0"/>
                </a:solidFill>
                <a:latin typeface="Meiryo"/>
                <a:ea typeface="Meiryo"/>
                <a:cs typeface="Meiryo"/>
                <a:sym typeface="Meiryo"/>
              </a:endParaRPr>
            </a:p>
          </p:txBody>
        </p:sp>
      </p:grpSp>
      <p:grpSp>
        <p:nvGrpSpPr>
          <p:cNvPr id="58" name="グループ化 57">
            <a:extLst>
              <a:ext uri="{FF2B5EF4-FFF2-40B4-BE49-F238E27FC236}">
                <a16:creationId xmlns:a16="http://schemas.microsoft.com/office/drawing/2014/main" id="{27EC4882-F1F7-3407-18D9-449D2F776799}"/>
              </a:ext>
            </a:extLst>
          </p:cNvPr>
          <p:cNvGrpSpPr/>
          <p:nvPr/>
        </p:nvGrpSpPr>
        <p:grpSpPr>
          <a:xfrm>
            <a:off x="516142" y="3819645"/>
            <a:ext cx="2696339" cy="312276"/>
            <a:chOff x="548883" y="1619331"/>
            <a:chExt cx="2696339" cy="312276"/>
          </a:xfrm>
        </p:grpSpPr>
        <p:sp>
          <p:nvSpPr>
            <p:cNvPr id="59" name="四角形: 角を丸くする 58">
              <a:extLst>
                <a:ext uri="{FF2B5EF4-FFF2-40B4-BE49-F238E27FC236}">
                  <a16:creationId xmlns:a16="http://schemas.microsoft.com/office/drawing/2014/main" id="{6B1769D7-5324-51AE-1D2D-802E7FFC46C9}"/>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60" name="正方形/長方形 59">
              <a:extLst>
                <a:ext uri="{FF2B5EF4-FFF2-40B4-BE49-F238E27FC236}">
                  <a16:creationId xmlns:a16="http://schemas.microsoft.com/office/drawing/2014/main" id="{A0FD1FD7-9083-04AC-7FC2-C1EDD68A2FCA}"/>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200" b="1" dirty="0">
                  <a:solidFill>
                    <a:srgbClr val="0070C0"/>
                  </a:solidFill>
                  <a:latin typeface="Meiryo"/>
                  <a:ea typeface="Meiryo"/>
                  <a:cs typeface="Meiryo"/>
                  <a:sym typeface="Meiryo"/>
                </a:rPr>
                <a:t>「友だち追加広告」との違い</a:t>
              </a:r>
              <a:endParaRPr lang="en-US" altLang="ja-JP" sz="1200" b="1" dirty="0">
                <a:solidFill>
                  <a:srgbClr val="0070C0"/>
                </a:solidFill>
                <a:latin typeface="Meiryo"/>
                <a:ea typeface="Meiryo"/>
                <a:cs typeface="Meiryo"/>
                <a:sym typeface="Meiryo"/>
              </a:endParaRPr>
            </a:p>
          </p:txBody>
        </p:sp>
      </p:grpSp>
      <p:pic>
        <p:nvPicPr>
          <p:cNvPr id="61" name="table">
            <a:extLst>
              <a:ext uri="{FF2B5EF4-FFF2-40B4-BE49-F238E27FC236}">
                <a16:creationId xmlns:a16="http://schemas.microsoft.com/office/drawing/2014/main" id="{9AC26B4B-6733-A76D-2762-4EE39F3BE270}"/>
              </a:ext>
            </a:extLst>
          </p:cNvPr>
          <p:cNvPicPr>
            <a:picLocks noChangeAspect="1"/>
          </p:cNvPicPr>
          <p:nvPr/>
        </p:nvPicPr>
        <p:blipFill>
          <a:blip r:embed="rId3"/>
          <a:stretch>
            <a:fillRect/>
          </a:stretch>
        </p:blipFill>
        <p:spPr>
          <a:xfrm>
            <a:off x="787611" y="4201880"/>
            <a:ext cx="8672139" cy="2202180"/>
          </a:xfrm>
          <a:prstGeom prst="rect">
            <a:avLst/>
          </a:prstGeom>
        </p:spPr>
      </p:pic>
      <p:sp>
        <p:nvSpPr>
          <p:cNvPr id="62" name="矢印: 右 61">
            <a:extLst>
              <a:ext uri="{FF2B5EF4-FFF2-40B4-BE49-F238E27FC236}">
                <a16:creationId xmlns:a16="http://schemas.microsoft.com/office/drawing/2014/main" id="{FAA46C63-E291-C5BA-59B1-5AA6EB934DE7}"/>
              </a:ext>
            </a:extLst>
          </p:cNvPr>
          <p:cNvSpPr/>
          <p:nvPr/>
        </p:nvSpPr>
        <p:spPr>
          <a:xfrm>
            <a:off x="5232623" y="2618810"/>
            <a:ext cx="430306" cy="352298"/>
          </a:xfrm>
          <a:prstGeom prst="rightArrow">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pic>
        <p:nvPicPr>
          <p:cNvPr id="63" name="図 62">
            <a:extLst>
              <a:ext uri="{FF2B5EF4-FFF2-40B4-BE49-F238E27FC236}">
                <a16:creationId xmlns:a16="http://schemas.microsoft.com/office/drawing/2014/main" id="{15AB3743-9D18-6CD5-EBAE-3179EFAD1455}"/>
              </a:ext>
            </a:extLst>
          </p:cNvPr>
          <p:cNvPicPr>
            <a:picLocks noChangeAspect="1"/>
          </p:cNvPicPr>
          <p:nvPr/>
        </p:nvPicPr>
        <p:blipFill>
          <a:blip r:embed="rId4"/>
          <a:srcRect l="35517" r="35515"/>
          <a:stretch>
            <a:fillRect/>
          </a:stretch>
        </p:blipFill>
        <p:spPr>
          <a:xfrm>
            <a:off x="6038472" y="1875907"/>
            <a:ext cx="917480" cy="1779333"/>
          </a:xfrm>
          <a:prstGeom prst="rect">
            <a:avLst/>
          </a:prstGeom>
        </p:spPr>
      </p:pic>
      <p:sp>
        <p:nvSpPr>
          <p:cNvPr id="64" name="テキスト ボックス 34">
            <a:extLst>
              <a:ext uri="{FF2B5EF4-FFF2-40B4-BE49-F238E27FC236}">
                <a16:creationId xmlns:a16="http://schemas.microsoft.com/office/drawing/2014/main" id="{F684D30B-FB35-7D4D-6BE2-919C8EE56C1F}"/>
              </a:ext>
            </a:extLst>
          </p:cNvPr>
          <p:cNvSpPr txBox="1"/>
          <p:nvPr/>
        </p:nvSpPr>
        <p:spPr>
          <a:xfrm>
            <a:off x="6868291" y="2618810"/>
            <a:ext cx="2705100" cy="523220"/>
          </a:xfrm>
          <a:prstGeom prst="rect">
            <a:avLst/>
          </a:prstGeom>
          <a:noFill/>
        </p:spPr>
        <p:txBody>
          <a:bodyPr wrap="squar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kumimoji="1" lang="en-US" altLang="ja-JP" sz="1200" dirty="0">
                <a:latin typeface="メイリオ" panose="020B0604030504040204" pitchFamily="50" charset="-128"/>
                <a:ea typeface="メイリオ" panose="020B0604030504040204" pitchFamily="50" charset="-128"/>
              </a:rPr>
              <a:t>LINE</a:t>
            </a:r>
            <a:r>
              <a:rPr kumimoji="1" lang="ja-JP" altLang="en-US" sz="1200" dirty="0">
                <a:latin typeface="メイリオ" panose="020B0604030504040204" pitchFamily="50" charset="-128"/>
                <a:ea typeface="メイリオ" panose="020B0604030504040204" pitchFamily="50" charset="-128"/>
              </a:rPr>
              <a:t>アプリ内から</a:t>
            </a:r>
            <a:br>
              <a:rPr kumimoji="1" lang="en-US" altLang="ja-JP" sz="1200" dirty="0">
                <a:latin typeface="メイリオ" panose="020B0604030504040204" pitchFamily="50" charset="-128"/>
                <a:ea typeface="メイリオ" panose="020B0604030504040204" pitchFamily="50" charset="-128"/>
              </a:rPr>
            </a:br>
            <a:r>
              <a:rPr kumimoji="1" lang="ja-JP" altLang="en-US" sz="1200" dirty="0">
                <a:latin typeface="メイリオ" panose="020B0604030504040204" pitchFamily="50" charset="-128"/>
                <a:ea typeface="メイリオ" panose="020B0604030504040204" pitchFamily="50" charset="-128"/>
              </a:rPr>
              <a:t>自社アカウントに</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600" b="1" dirty="0">
                <a:solidFill>
                  <a:srgbClr val="33CC33"/>
                </a:solidFill>
                <a:latin typeface="メイリオ" panose="020B0604030504040204" pitchFamily="50" charset="-128"/>
                <a:ea typeface="メイリオ" panose="020B0604030504040204" pitchFamily="50" charset="-128"/>
              </a:rPr>
              <a:t>直接</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200" dirty="0">
                <a:latin typeface="メイリオ" panose="020B0604030504040204" pitchFamily="50" charset="-128"/>
                <a:ea typeface="メイリオ" panose="020B0604030504040204" pitchFamily="50" charset="-128"/>
              </a:rPr>
              <a:t>誘導</a:t>
            </a:r>
            <a:endParaRPr kumimoji="1" lang="en-US" altLang="ja-JP" sz="12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70600817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pPr>
            <a:endParaRPr lang="ja-JP" altLang="en-US">
              <a:solidFill>
                <a:prstClr val="black"/>
              </a:solidFill>
              <a:latin typeface="Arial" pitchFamily="34" charset="0"/>
              <a:ea typeface="ＭＳ Ｐゴシック" pitchFamily="50" charset="-128"/>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85355464"/>
      </p:ext>
    </p:extLst>
  </p:cSld>
  <p:clrMapOvr>
    <a:masterClrMapping/>
  </p:clrMapOvr>
  <p:transition spd="slow"/>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143144</TotalTime>
  <Words>5417</Words>
  <Application>Microsoft Office PowerPoint</Application>
  <PresentationFormat>A4 210 x 297 mm</PresentationFormat>
  <Paragraphs>1081</Paragraphs>
  <Slides>52</Slides>
  <Notes>25</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52</vt:i4>
      </vt:variant>
    </vt:vector>
  </HeadingPairs>
  <TitlesOfParts>
    <vt:vector size="59" baseType="lpstr">
      <vt:lpstr>メイリオ</vt:lpstr>
      <vt:lpstr>メイリオ</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1956</cp:revision>
  <cp:lastPrinted>2022-11-01T11:38:14Z</cp:lastPrinted>
  <dcterms:created xsi:type="dcterms:W3CDTF">2015-09-04T09:21:15Z</dcterms:created>
  <dcterms:modified xsi:type="dcterms:W3CDTF">2026-09-24T05:35:16Z</dcterms:modified>
</cp:coreProperties>
</file>