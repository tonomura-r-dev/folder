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5"/>
  </p:notesMasterIdLst>
  <p:handoutMasterIdLst>
    <p:handoutMasterId r:id="rId56"/>
  </p:handoutMasterIdLst>
  <p:sldIdLst>
    <p:sldId id="2363" r:id="rId3"/>
    <p:sldId id="2971" r:id="rId4"/>
    <p:sldId id="2972" r:id="rId5"/>
    <p:sldId id="3007" r:id="rId6"/>
    <p:sldId id="2994" r:id="rId7"/>
    <p:sldId id="2995" r:id="rId8"/>
    <p:sldId id="3001" r:id="rId9"/>
    <p:sldId id="2999" r:id="rId10"/>
    <p:sldId id="2736" r:id="rId11"/>
    <p:sldId id="2987" r:id="rId12"/>
    <p:sldId id="2997" r:id="rId13"/>
    <p:sldId id="2996" r:id="rId14"/>
    <p:sldId id="2973" r:id="rId15"/>
    <p:sldId id="2977" r:id="rId16"/>
    <p:sldId id="2979" r:id="rId17"/>
    <p:sldId id="3000" r:id="rId18"/>
    <p:sldId id="2968" r:id="rId19"/>
    <p:sldId id="2908" r:id="rId20"/>
    <p:sldId id="2998" r:id="rId21"/>
    <p:sldId id="2990" r:id="rId22"/>
    <p:sldId id="2986" r:id="rId23"/>
    <p:sldId id="2991" r:id="rId24"/>
    <p:sldId id="2737" r:id="rId25"/>
    <p:sldId id="2989" r:id="rId26"/>
    <p:sldId id="2563" r:id="rId27"/>
    <p:sldId id="2959" r:id="rId28"/>
    <p:sldId id="2970" r:id="rId29"/>
    <p:sldId id="2639" r:id="rId30"/>
    <p:sldId id="2957" r:id="rId31"/>
    <p:sldId id="2951" r:id="rId32"/>
    <p:sldId id="2841" r:id="rId33"/>
    <p:sldId id="2734" r:id="rId34"/>
    <p:sldId id="2595" r:id="rId35"/>
    <p:sldId id="2566" r:id="rId36"/>
    <p:sldId id="2915" r:id="rId37"/>
    <p:sldId id="2619" r:id="rId38"/>
    <p:sldId id="2761" r:id="rId39"/>
    <p:sldId id="2935" r:id="rId40"/>
    <p:sldId id="2919" r:id="rId41"/>
    <p:sldId id="2519" r:id="rId42"/>
    <p:sldId id="2931" r:id="rId43"/>
    <p:sldId id="2749" r:id="rId44"/>
    <p:sldId id="2950" r:id="rId45"/>
    <p:sldId id="2961" r:id="rId46"/>
    <p:sldId id="2849" r:id="rId47"/>
    <p:sldId id="2904" r:id="rId48"/>
    <p:sldId id="2905" r:id="rId49"/>
    <p:sldId id="2906" r:id="rId50"/>
    <p:sldId id="2907" r:id="rId51"/>
    <p:sldId id="2575" r:id="rId52"/>
    <p:sldId id="2910" r:id="rId53"/>
    <p:sldId id="1169" r:id="rId5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100" d="100"/>
          <a:sy n="100" d="100"/>
        </p:scale>
        <p:origin x="40" y="-43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notesMaster" Target="notesMasters/notesMaster1.xml"/><Relationship Id="rId56" Type="http://schemas.openxmlformats.org/officeDocument/2006/relationships/handoutMaster" Target="handoutMasters/handout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66.png"/><Relationship Id="rId5"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e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svg"/><Relationship Id="rId8"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3"/>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819206"/>
            <a:ext cx="9036000" cy="341589"/>
          </a:xfrm>
          <a:prstGeom prst="rect">
            <a:avLst/>
          </a:prstGeom>
          <a:noFill/>
        </p:spPr>
        <p:txBody>
          <a:bodyPr wrap="square" lIns="0" tIns="21600" rIns="0" bIns="21600" anchor="ctr">
            <a:spAutoFit/>
          </a:bodyPr>
          <a:lstStyle/>
          <a:p>
            <a:pPr algn="l">
              <a:lnSpc>
                <a:spcPct val="128000"/>
              </a:lnSpc>
            </a:pPr>
            <a:r>
              <a:rPr sz="16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tIns="21600" rIns="50400" bIns="21600" anchor="ctr">
            <a:spAutoFit/>
          </a:bodyPr>
          <a:lstStyle/>
          <a:p>
            <a:pPr algn="ctr"/>
            <a:r>
              <a:rPr sz="2600" b="1" dirty="0">
                <a:solidFill>
                  <a:srgbClr val="ED7D31"/>
                </a:solidFill>
                <a:latin typeface="メイリオ"/>
                <a:ea typeface="メイリオ"/>
                <a:cs typeface="メイリオ"/>
              </a:rPr>
              <a:t>約70万円/件</a:t>
            </a:r>
          </a:p>
        </p:txBody>
      </p:sp>
      <p:sp>
        <p:nvSpPr>
          <p:cNvPr id="8" name="TextBox 7"/>
          <p:cNvSpPr txBox="1"/>
          <p:nvPr/>
        </p:nvSpPr>
        <p:spPr>
          <a:xfrm>
            <a:off x="432000" y="2625048"/>
            <a:ext cx="2942400" cy="509903"/>
          </a:xfrm>
          <a:prstGeom prst="rect">
            <a:avLst/>
          </a:prstGeom>
          <a:noFill/>
        </p:spPr>
        <p:txBody>
          <a:bodyPr wrap="square" lIns="50400" tIns="21600" rIns="50400" bIns="21600" anchor="ctr">
            <a:spAutoFit/>
          </a:bodyPr>
          <a:lstStyle/>
          <a:p>
            <a:pPr algn="ctr">
              <a:lnSpc>
                <a:spcPct val="130000"/>
              </a:lnSpc>
            </a:pPr>
            <a:r>
              <a:rPr sz="1200" dirty="0">
                <a:solidFill>
                  <a:srgbClr val="333333"/>
                </a:solidFill>
                <a:latin typeface="メイリオ"/>
                <a:ea typeface="メイリオ"/>
                <a:cs typeface="メイリオ"/>
              </a:rPr>
              <a:t>年250万円の投下で</a:t>
            </a:r>
          </a:p>
          <a:p>
            <a:pPr algn="ctr">
              <a:lnSpc>
                <a:spcPct val="130000"/>
              </a:lnSpc>
            </a:pPr>
            <a:r>
              <a:rPr sz="1200" dirty="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目標は2〜2.5万円</a:t>
            </a:r>
          </a:p>
          <a:p>
            <a:pPr algn="ctr">
              <a:lnSpc>
                <a:spcPct val="130000"/>
              </a:lnSpc>
            </a:pPr>
            <a:r>
              <a:rPr sz="120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SimilarWeb推計</a:t>
            </a:r>
          </a:p>
          <a:p>
            <a:pPr algn="ctr">
              <a:lnSpc>
                <a:spcPct val="130000"/>
              </a:lnSpc>
            </a:pPr>
            <a:r>
              <a:rPr sz="120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537000"/>
            <a:ext cx="9043200" cy="957362"/>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608400" y="3580639"/>
            <a:ext cx="8683200" cy="854357"/>
          </a:xfrm>
          <a:prstGeom prst="rect">
            <a:avLst/>
          </a:prstGeom>
          <a:noFill/>
        </p:spPr>
        <p:txBody>
          <a:bodyPr wrap="square" lIns="50400" tIns="21600" rIns="50400" bIns="21600" anchor="ctr">
            <a:spAutoFit/>
          </a:bodyPr>
          <a:lstStyle/>
          <a:p>
            <a:pPr algn="l">
              <a:spcAft>
                <a:spcPts val="400"/>
              </a:spcAft>
            </a:pPr>
            <a:r>
              <a:rPr sz="1400" b="1" dirty="0">
                <a:solidFill>
                  <a:srgbClr val="C00000"/>
                </a:solidFill>
                <a:latin typeface="メイリオ"/>
                <a:ea typeface="メイリオ"/>
                <a:cs typeface="メイリオ"/>
              </a:rPr>
              <a:t>あわせて2点、すぐに直せる改善点があります。</a:t>
            </a:r>
          </a:p>
          <a:p>
            <a:pPr algn="l">
              <a:lnSpc>
                <a:spcPct val="130000"/>
              </a:lnSpc>
            </a:pPr>
            <a:r>
              <a:rPr sz="1400" dirty="0">
                <a:solidFill>
                  <a:srgbClr val="333333"/>
                </a:solidFill>
                <a:latin typeface="メイリオ"/>
                <a:ea typeface="メイリオ"/>
                <a:cs typeface="メイリオ"/>
              </a:rPr>
              <a:t>① </a:t>
            </a:r>
            <a:r>
              <a:rPr sz="1400" dirty="0" err="1">
                <a:solidFill>
                  <a:srgbClr val="333333"/>
                </a:solidFill>
                <a:latin typeface="メイリオ"/>
                <a:ea typeface="メイリオ"/>
                <a:cs typeface="メイリオ"/>
              </a:rPr>
              <a:t>トップページの「転職支援サービス申込」ボタンが現在リンク切れ（押した先が非公開の求人ページ</a:t>
            </a:r>
            <a:r>
              <a:rPr sz="1400" dirty="0">
                <a:solidFill>
                  <a:srgbClr val="333333"/>
                </a:solidFill>
                <a:latin typeface="メイリオ"/>
                <a:ea typeface="メイリオ"/>
                <a:cs typeface="メイリオ"/>
              </a:rPr>
              <a:t>）</a:t>
            </a:r>
          </a:p>
          <a:p>
            <a:pPr algn="l">
              <a:lnSpc>
                <a:spcPct val="130000"/>
              </a:lnSpc>
            </a:pPr>
            <a:r>
              <a:rPr sz="1400" dirty="0">
                <a:solidFill>
                  <a:srgbClr val="333333"/>
                </a:solidFill>
                <a:latin typeface="メイリオ"/>
                <a:ea typeface="メイリオ"/>
                <a:cs typeface="メイリオ"/>
              </a:rPr>
              <a:t>② 電話相談の受付が平日10:00〜18:00のみ ＝ </a:t>
            </a:r>
            <a:r>
              <a:rPr sz="1400" dirty="0" err="1">
                <a:solidFill>
                  <a:srgbClr val="333333"/>
                </a:solidFill>
                <a:latin typeface="メイリオ"/>
                <a:ea typeface="メイリオ"/>
                <a:cs typeface="メイリオ"/>
              </a:rPr>
              <a:t>整備士の方が働いている時間帯</a:t>
            </a:r>
            <a:endParaRPr sz="1400" dirty="0">
              <a:solidFill>
                <a:srgbClr val="333333"/>
              </a:solidFill>
              <a:latin typeface="メイリオ"/>
              <a:ea typeface="メイリオ"/>
              <a:cs typeface="メイリオ"/>
            </a:endParaRP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944641"/>
            <a:ext cx="1440000" cy="289843"/>
          </a:xfrm>
          <a:prstGeom prst="rect">
            <a:avLst/>
          </a:prstGeom>
          <a:noFill/>
        </p:spPr>
        <p:txBody>
          <a:bodyPr wrap="square" lIns="50400" tIns="21600" rIns="50400" bIns="21600" anchor="ctr">
            <a:spAutoFit/>
          </a:bodyPr>
          <a:lstStyle/>
          <a:p>
            <a:pPr algn="l"/>
            <a:r>
              <a:rPr sz="1600" b="1">
                <a:solidFill>
                  <a:srgbClr val="7F7F7F"/>
                </a:solidFill>
                <a:latin typeface="メイリオ"/>
                <a:ea typeface="メイリオ"/>
                <a:cs typeface="メイリオ"/>
              </a:rPr>
              <a:t>現状</a:t>
            </a:r>
          </a:p>
        </p:txBody>
      </p:sp>
      <p:sp>
        <p:nvSpPr>
          <p:cNvPr id="6" name="Rounded Rectangle 5"/>
          <p:cNvSpPr/>
          <p:nvPr/>
        </p:nvSpPr>
        <p:spPr>
          <a:xfrm>
            <a:off x="4320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流入</a:t>
            </a:r>
          </a:p>
        </p:txBody>
      </p:sp>
      <p:sp>
        <p:nvSpPr>
          <p:cNvPr id="7" name="TextBox 6"/>
          <p:cNvSpPr txBox="1"/>
          <p:nvPr/>
        </p:nvSpPr>
        <p:spPr>
          <a:xfrm>
            <a:off x="25488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8" name="Rounded Rectangle 7"/>
          <p:cNvSpPr/>
          <p:nvPr/>
        </p:nvSpPr>
        <p:spPr>
          <a:xfrm>
            <a:off x="27468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求人を見る</a:t>
            </a:r>
          </a:p>
        </p:txBody>
      </p:sp>
      <p:sp>
        <p:nvSpPr>
          <p:cNvPr id="9" name="TextBox 8"/>
          <p:cNvSpPr txBox="1"/>
          <p:nvPr/>
        </p:nvSpPr>
        <p:spPr>
          <a:xfrm>
            <a:off x="48636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0" name="Rounded Rectangle 9"/>
          <p:cNvSpPr/>
          <p:nvPr/>
        </p:nvSpPr>
        <p:spPr>
          <a:xfrm>
            <a:off x="5061600" y="2215561"/>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今すぐ応募する</a:t>
            </a:r>
          </a:p>
        </p:txBody>
      </p:sp>
      <p:sp>
        <p:nvSpPr>
          <p:cNvPr id="11" name="TextBox 10"/>
          <p:cNvSpPr txBox="1"/>
          <p:nvPr/>
        </p:nvSpPr>
        <p:spPr>
          <a:xfrm>
            <a:off x="71784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2" name="Rounded Rectangle 11"/>
          <p:cNvSpPr/>
          <p:nvPr/>
        </p:nvSpPr>
        <p:spPr>
          <a:xfrm>
            <a:off x="7376399" y="2215561"/>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C00000"/>
                </a:solidFill>
                <a:latin typeface="メイリオ"/>
                <a:ea typeface="メイリオ"/>
                <a:cs typeface="メイリオ"/>
              </a:rPr>
              <a:t>迷った人は離脱</a:t>
            </a:r>
          </a:p>
        </p:txBody>
      </p:sp>
      <p:sp>
        <p:nvSpPr>
          <p:cNvPr id="13" name="TextBox 12"/>
          <p:cNvSpPr txBox="1"/>
          <p:nvPr/>
        </p:nvSpPr>
        <p:spPr>
          <a:xfrm>
            <a:off x="432000" y="2718641"/>
            <a:ext cx="2160000" cy="289843"/>
          </a:xfrm>
          <a:prstGeom prst="rect">
            <a:avLst/>
          </a:prstGeom>
          <a:noFill/>
        </p:spPr>
        <p:txBody>
          <a:bodyPr wrap="square" lIns="50400" tIns="21600" rIns="50400" bIns="21600" anchor="ctr">
            <a:spAutoFit/>
          </a:bodyPr>
          <a:lstStyle/>
          <a:p>
            <a:pPr algn="l"/>
            <a:r>
              <a:rPr sz="1600" b="1">
                <a:solidFill>
                  <a:srgbClr val="06C755"/>
                </a:solidFill>
                <a:latin typeface="メイリオ"/>
                <a:ea typeface="メイリオ"/>
                <a:cs typeface="メイリオ"/>
              </a:rPr>
              <a:t>LINE導入後</a:t>
            </a:r>
          </a:p>
        </p:txBody>
      </p:sp>
      <p:sp>
        <p:nvSpPr>
          <p:cNvPr id="14" name="Rounded Rectangle 13"/>
          <p:cNvSpPr/>
          <p:nvPr/>
        </p:nvSpPr>
        <p:spPr>
          <a:xfrm>
            <a:off x="432000"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流入</a:t>
            </a:r>
          </a:p>
        </p:txBody>
      </p:sp>
      <p:sp>
        <p:nvSpPr>
          <p:cNvPr id="15" name="TextBox 14"/>
          <p:cNvSpPr txBox="1"/>
          <p:nvPr/>
        </p:nvSpPr>
        <p:spPr>
          <a:xfrm>
            <a:off x="1669971" y="3201860"/>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6" name="Rounded Rectangle 15"/>
          <p:cNvSpPr/>
          <p:nvPr/>
        </p:nvSpPr>
        <p:spPr>
          <a:xfrm>
            <a:off x="1857975"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LINE友だち化</a:t>
            </a:r>
            <a:endParaRPr sz="1400" b="1" dirty="0">
              <a:solidFill>
                <a:srgbClr val="FFFFFF"/>
              </a:solidFill>
              <a:latin typeface="メイリオ"/>
              <a:ea typeface="メイリオ"/>
              <a:cs typeface="メイリオ"/>
            </a:endParaRP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離脱防止・CPF</a:t>
            </a:r>
            <a:r>
              <a:rPr sz="1400" b="1" dirty="0">
                <a:solidFill>
                  <a:srgbClr val="FFFFFF"/>
                </a:solidFill>
                <a:latin typeface="メイリオ"/>
                <a:ea typeface="メイリオ"/>
                <a:cs typeface="メイリオ"/>
              </a:rPr>
              <a:t>）</a:t>
            </a:r>
          </a:p>
        </p:txBody>
      </p:sp>
      <p:sp>
        <p:nvSpPr>
          <p:cNvPr id="17" name="TextBox 16"/>
          <p:cNvSpPr txBox="1"/>
          <p:nvPr/>
        </p:nvSpPr>
        <p:spPr>
          <a:xfrm>
            <a:off x="3203243" y="3196920"/>
            <a:ext cx="287567"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8" name="Rounded Rectangle 17"/>
          <p:cNvSpPr/>
          <p:nvPr/>
        </p:nvSpPr>
        <p:spPr>
          <a:xfrm>
            <a:off x="3467619" y="2989559"/>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a:solidFill>
                  <a:srgbClr val="FFFFFF"/>
                </a:solidFill>
                <a:latin typeface="メイリオ"/>
                <a:ea typeface="メイリオ"/>
                <a:cs typeface="メイリオ"/>
              </a:rPr>
              <a:t>30秒診断</a:t>
            </a: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職種・資格・温度感</a:t>
            </a:r>
            <a:r>
              <a:rPr sz="1400" b="1" dirty="0">
                <a:solidFill>
                  <a:srgbClr val="FFFFFF"/>
                </a:solidFill>
                <a:latin typeface="メイリオ"/>
                <a:ea typeface="メイリオ"/>
                <a:cs typeface="メイリオ"/>
              </a:rPr>
              <a:t>）</a:t>
            </a:r>
          </a:p>
        </p:txBody>
      </p:sp>
      <p:sp>
        <p:nvSpPr>
          <p:cNvPr id="19" name="TextBox 18"/>
          <p:cNvSpPr txBox="1"/>
          <p:nvPr/>
        </p:nvSpPr>
        <p:spPr>
          <a:xfrm>
            <a:off x="4877964" y="3196921"/>
            <a:ext cx="166974"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0" name="Rounded Rectangle 19"/>
          <p:cNvSpPr/>
          <p:nvPr/>
        </p:nvSpPr>
        <p:spPr>
          <a:xfrm>
            <a:off x="5097584"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200" b="1" dirty="0">
                <a:solidFill>
                  <a:srgbClr val="FFFFFF"/>
                </a:solidFill>
                <a:latin typeface="メイリオ"/>
                <a:ea typeface="メイリオ"/>
                <a:cs typeface="メイリオ"/>
              </a:rPr>
              <a:t>14日間の情報配信</a:t>
            </a:r>
          </a:p>
          <a:p>
            <a:pPr algn="ctr">
              <a:lnSpc>
                <a:spcPct val="115000"/>
              </a:lnSpc>
            </a:pPr>
            <a:r>
              <a:rPr sz="1200" b="1" dirty="0">
                <a:solidFill>
                  <a:srgbClr val="FFFFFF"/>
                </a:solidFill>
                <a:latin typeface="メイリオ"/>
                <a:ea typeface="メイリオ"/>
                <a:cs typeface="メイリオ"/>
              </a:rPr>
              <a:t>（</a:t>
            </a:r>
            <a:r>
              <a:rPr sz="1200" b="1" dirty="0" err="1">
                <a:solidFill>
                  <a:srgbClr val="FFFFFF"/>
                </a:solidFill>
                <a:latin typeface="メイリオ"/>
                <a:ea typeface="メイリオ"/>
                <a:cs typeface="メイリオ"/>
              </a:rPr>
              <a:t>年収相場・体験談</a:t>
            </a:r>
            <a:r>
              <a:rPr sz="1200" b="1" dirty="0">
                <a:solidFill>
                  <a:srgbClr val="FFFFFF"/>
                </a:solidFill>
                <a:latin typeface="メイリオ"/>
                <a:ea typeface="メイリオ"/>
                <a:cs typeface="メイリオ"/>
              </a:rPr>
              <a:t>）</a:t>
            </a:r>
          </a:p>
        </p:txBody>
      </p:sp>
      <p:sp>
        <p:nvSpPr>
          <p:cNvPr id="21" name="TextBox 20"/>
          <p:cNvSpPr txBox="1"/>
          <p:nvPr/>
        </p:nvSpPr>
        <p:spPr>
          <a:xfrm>
            <a:off x="6512428" y="3201859"/>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2" name="Rounded Rectangle 21"/>
          <p:cNvSpPr/>
          <p:nvPr/>
        </p:nvSpPr>
        <p:spPr>
          <a:xfrm>
            <a:off x="6707228"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面談・応募</a:t>
            </a:r>
            <a:endParaRPr sz="1400" b="1" dirty="0">
              <a:solidFill>
                <a:srgbClr val="FFFFFF"/>
              </a:solidFill>
              <a:latin typeface="メイリオ"/>
              <a:ea typeface="メイリオ"/>
              <a:cs typeface="メイリオ"/>
            </a:endParaRPr>
          </a:p>
        </p:txBody>
      </p:sp>
      <p:sp>
        <p:nvSpPr>
          <p:cNvPr id="23" name="TextBox 22"/>
          <p:cNvSpPr txBox="1"/>
          <p:nvPr/>
        </p:nvSpPr>
        <p:spPr>
          <a:xfrm>
            <a:off x="7945199" y="3204640"/>
            <a:ext cx="148030" cy="289843"/>
          </a:xfrm>
          <a:prstGeom prst="rect">
            <a:avLst/>
          </a:prstGeom>
          <a:noFill/>
        </p:spPr>
        <p:txBody>
          <a:bodyPr wrap="square" lIns="50400" tIns="21600" rIns="50400" bIns="21600" anchor="ctr">
            <a:spAutoFit/>
          </a:bodyPr>
          <a:lstStyle/>
          <a:p>
            <a:pPr algn="ctr"/>
            <a:r>
              <a:rPr sz="1600" b="1">
                <a:solidFill>
                  <a:srgbClr val="7F7F7F"/>
                </a:solidFill>
                <a:latin typeface="メイリオ"/>
                <a:ea typeface="メイリオ"/>
                <a:cs typeface="メイリオ"/>
              </a:rPr>
              <a:t>→</a:t>
            </a:r>
          </a:p>
        </p:txBody>
      </p:sp>
      <p:sp>
        <p:nvSpPr>
          <p:cNvPr id="24" name="Rounded Rectangle 23"/>
          <p:cNvSpPr/>
          <p:nvPr/>
        </p:nvSpPr>
        <p:spPr>
          <a:xfrm>
            <a:off x="8117999"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就業</a:t>
            </a:r>
          </a:p>
        </p:txBody>
      </p:sp>
      <p:sp>
        <p:nvSpPr>
          <p:cNvPr id="25" name="Rounded Rectangle 24"/>
          <p:cNvSpPr/>
          <p:nvPr/>
        </p:nvSpPr>
        <p:spPr>
          <a:xfrm>
            <a:off x="432000" y="424644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500" b="0" dirty="0" err="1">
                <a:solidFill>
                  <a:srgbClr val="333333"/>
                </a:solidFill>
                <a:latin typeface="メイリオ"/>
                <a:ea typeface="メイリオ"/>
                <a:cs typeface="メイリオ"/>
              </a:rPr>
              <a:t>一度つながれば、接点を持ち続けられる。情報を渡し続けられる</a:t>
            </a:r>
            <a:r>
              <a:rPr sz="1500" b="0" dirty="0">
                <a:solidFill>
                  <a:srgbClr val="333333"/>
                </a:solidFill>
                <a:latin typeface="メイリオ"/>
                <a:ea typeface="メイリオ"/>
                <a:cs typeface="メイリオ"/>
              </a:rPr>
              <a:t>。</a:t>
            </a:r>
          </a:p>
          <a:p>
            <a:pPr algn="ctr"/>
            <a:r>
              <a:rPr sz="1500" b="0" dirty="0" err="1">
                <a:solidFill>
                  <a:srgbClr val="333333"/>
                </a:solidFill>
                <a:latin typeface="メイリオ"/>
                <a:ea typeface="メイリオ"/>
                <a:cs typeface="メイリオ"/>
              </a:rPr>
              <a:t>応募で終わらず、面談</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就業</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定着まで並走できる</a:t>
            </a:r>
            <a:r>
              <a:rPr sz="1500" b="0" dirty="0">
                <a:solidFill>
                  <a:srgbClr val="333333"/>
                </a:solidFill>
                <a:latin typeface="メイリオ"/>
                <a:ea typeface="メイリオ"/>
                <a:cs typeface="メイリオ"/>
              </a:rPr>
              <a:t>——</a:t>
            </a:r>
            <a:r>
              <a:rPr sz="1500" b="0" dirty="0" err="1">
                <a:solidFill>
                  <a:srgbClr val="333333"/>
                </a:solidFill>
                <a:latin typeface="メイリオ"/>
                <a:ea typeface="メイリオ"/>
                <a:cs typeface="メイリオ"/>
              </a:rPr>
              <a:t>これがLINE最大の魅力です</a:t>
            </a:r>
            <a:r>
              <a:rPr sz="1500" b="0" dirty="0">
                <a:solidFill>
                  <a:srgbClr val="333333"/>
                </a:solidFill>
                <a:latin typeface="メイリオ"/>
                <a:ea typeface="メイリオ"/>
                <a:cs typeface="メイリオ"/>
              </a:rPr>
              <a:t>。</a:t>
            </a:r>
          </a:p>
        </p:txBody>
      </p:sp>
      <p:sp>
        <p:nvSpPr>
          <p:cNvPr id="6" name="TextBox 5"/>
          <p:cNvSpPr txBox="1"/>
          <p:nvPr/>
        </p:nvSpPr>
        <p:spPr>
          <a:xfrm>
            <a:off x="594360" y="3724977"/>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08760" y="3679257"/>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862072" y="375240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172968" y="3679257"/>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20640" y="3743265"/>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594360" y="4730817"/>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08760" y="4685097"/>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862072"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172968" y="4685097"/>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37760"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48656" y="4685097"/>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373368"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684264" y="4685097"/>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08976"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19872" y="4685097"/>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30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「カーディーラー」の検索前後15日間。LINEの友だちにできる機会は、検索当日〜翌日だけ。</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11" name="Picture 10" descr="image.png"/>
          <p:cNvPicPr>
            <a:picLocks noChangeAspect="1"/>
          </p:cNvPicPr>
          <p:nvPr/>
        </p:nvPicPr>
        <p:blipFill>
          <a:blip r:embed="rId5"/>
          <a:stretch>
            <a:fillRect/>
          </a:stretch>
        </p:blipFill>
        <p:spPr>
          <a:xfrm>
            <a:off x="432000" y="1458000"/>
            <a:ext cx="5112000" cy="2982852"/>
          </a:xfrm>
          <a:prstGeom prst="rect">
            <a:avLst/>
          </a:prstGeom>
        </p:spPr>
      </p:pic>
      <p:sp>
        <p:nvSpPr>
          <p:cNvPr id="12" name="Rectangle 11"/>
          <p:cNvSpPr/>
          <p:nvPr/>
        </p:nvSpPr>
        <p:spPr>
          <a:xfrm>
            <a:off x="2907233" y="4397400"/>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0873C"/>
                </a:solidFill>
                <a:latin typeface="メイリオ"/>
                <a:ea typeface="メイリオ"/>
                <a:cs typeface="メイリオ"/>
              </a:rPr>
              <a:t>LINE追加</a:t>
            </a:r>
          </a:p>
        </p:txBody>
      </p:sp>
      <p:sp>
        <p:nvSpPr>
          <p:cNvPr id="13" name="Rectangle 12"/>
          <p:cNvSpPr/>
          <p:nvPr/>
        </p:nvSpPr>
        <p:spPr>
          <a:xfrm>
            <a:off x="3072347" y="1458000"/>
            <a:ext cx="605772" cy="2946851"/>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724000" y="1458000"/>
            <a:ext cx="18576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C0561A"/>
                </a:solidFill>
                <a:latin typeface="メイリオ"/>
                <a:ea typeface="メイリオ"/>
                <a:cs typeface="メイリオ"/>
              </a:rPr>
              <a:t>職業・働き方</a:t>
            </a:r>
          </a:p>
        </p:txBody>
      </p:sp>
      <p:sp>
        <p:nvSpPr>
          <p:cNvPr id="15" name="Rounded Rectangle 14"/>
          <p:cNvSpPr/>
          <p:nvPr/>
        </p:nvSpPr>
        <p:spPr>
          <a:xfrm>
            <a:off x="7617600" y="1458000"/>
            <a:ext cx="18576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2B5797"/>
                </a:solidFill>
                <a:latin typeface="メイリオ"/>
                <a:ea typeface="メイリオ"/>
                <a:cs typeface="メイリオ"/>
              </a:rPr>
              <a:t>整備・工具・カー用品</a:t>
            </a:r>
          </a:p>
        </p:txBody>
      </p:sp>
      <p:sp>
        <p:nvSpPr>
          <p:cNvPr id="16" name="Rounded Rectangle 15"/>
          <p:cNvSpPr/>
          <p:nvPr/>
        </p:nvSpPr>
        <p:spPr>
          <a:xfrm>
            <a:off x="5724000" y="1717199"/>
            <a:ext cx="18576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7440A8"/>
                </a:solidFill>
                <a:latin typeface="メイリオ"/>
                <a:ea typeface="メイリオ"/>
                <a:cs typeface="メイリオ"/>
              </a:rPr>
              <a:t>お金・手続き</a:t>
            </a:r>
          </a:p>
        </p:txBody>
      </p:sp>
      <p:sp>
        <p:nvSpPr>
          <p:cNvPr id="17" name="Rounded Rectangle 16"/>
          <p:cNvSpPr/>
          <p:nvPr/>
        </p:nvSpPr>
        <p:spPr>
          <a:xfrm>
            <a:off x="7617600" y="1717199"/>
            <a:ext cx="1857600" cy="223200"/>
          </a:xfrm>
          <a:prstGeom prst="roundRect">
            <a:avLst>
              <a:gd name="adj" fmla="val 8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0796B"/>
                </a:solidFill>
                <a:latin typeface="メイリオ"/>
                <a:ea typeface="メイリオ"/>
                <a:cs typeface="メイリオ"/>
              </a:rPr>
              <a:t>クルマ選び（車種・店舗）</a:t>
            </a:r>
          </a:p>
        </p:txBody>
      </p:sp>
      <p:sp>
        <p:nvSpPr>
          <p:cNvPr id="18" name="Rounded Rectangle 17"/>
          <p:cNvSpPr/>
          <p:nvPr/>
        </p:nvSpPr>
        <p:spPr>
          <a:xfrm>
            <a:off x="5724000" y="2052000"/>
            <a:ext cx="3751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333333"/>
                </a:solidFill>
                <a:latin typeface="メイリオ"/>
                <a:ea typeface="メイリオ"/>
                <a:cs typeface="メイリオ"/>
              </a:rPr>
              <a:t>LINE追加率を上げるコンテンツ（検索当日〜翌日）</a:t>
            </a:r>
          </a:p>
        </p:txBody>
      </p:sp>
      <p:sp>
        <p:nvSpPr>
          <p:cNvPr id="19" name="Rounded Rectangle 18"/>
          <p:cNvSpPr/>
          <p:nvPr/>
        </p:nvSpPr>
        <p:spPr>
          <a:xfrm>
            <a:off x="57240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0">
                <a:solidFill>
                  <a:srgbClr val="FFFFFF"/>
                </a:solidFill>
                <a:latin typeface="メイリオ"/>
                <a:ea typeface="メイリオ"/>
                <a:cs typeface="メイリオ"/>
              </a:rPr>
              <a:t>離脱防止で…</a:t>
            </a:r>
          </a:p>
          <a:p>
            <a:pPr algn="ctr"/>
            <a:r>
              <a:rPr sz="1100" b="1">
                <a:solidFill>
                  <a:srgbClr val="FFFFFF"/>
                </a:solidFill>
                <a:latin typeface="メイリオ"/>
                <a:ea typeface="メイリオ"/>
                <a:cs typeface="メイリオ"/>
              </a:rPr>
              <a:t>「整備士の年収相場」</a:t>
            </a:r>
          </a:p>
          <a:p>
            <a:pPr algn="ctr"/>
            <a:r>
              <a:rPr sz="1050" b="1">
                <a:solidFill>
                  <a:srgbClr val="FFFFFF"/>
                </a:solidFill>
                <a:latin typeface="メイリオ"/>
                <a:ea typeface="メイリオ"/>
                <a:cs typeface="メイリオ"/>
              </a:rPr>
              <a:t>をLINEで見られます</a:t>
            </a:r>
          </a:p>
        </p:txBody>
      </p:sp>
      <p:sp>
        <p:nvSpPr>
          <p:cNvPr id="20" name="Rounded Rectangle 19"/>
          <p:cNvSpPr/>
          <p:nvPr/>
        </p:nvSpPr>
        <p:spPr>
          <a:xfrm>
            <a:off x="76356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0">
                <a:solidFill>
                  <a:srgbClr val="FFFFFF"/>
                </a:solidFill>
                <a:latin typeface="メイリオ"/>
                <a:ea typeface="メイリオ"/>
                <a:cs typeface="メイリオ"/>
              </a:rPr>
              <a:t>この機会に</a:t>
            </a:r>
          </a:p>
          <a:p>
            <a:pPr algn="ctr"/>
            <a:r>
              <a:rPr sz="1100" b="1">
                <a:solidFill>
                  <a:srgbClr val="FFFFFF"/>
                </a:solidFill>
                <a:latin typeface="メイリオ"/>
                <a:ea typeface="メイリオ"/>
                <a:cs typeface="メイリオ"/>
              </a:rPr>
              <a:t>LINEで30秒</a:t>
            </a:r>
          </a:p>
          <a:p>
            <a:pPr algn="ctr"/>
            <a:r>
              <a:rPr sz="1050" b="1">
                <a:solidFill>
                  <a:srgbClr val="FFFFFF"/>
                </a:solidFill>
                <a:latin typeface="メイリオ"/>
                <a:ea typeface="メイリオ"/>
                <a:cs typeface="メイリオ"/>
              </a:rPr>
              <a:t>適職診断しませんか？</a:t>
            </a:r>
          </a:p>
        </p:txBody>
      </p:sp>
      <p:sp>
        <p:nvSpPr>
          <p:cNvPr id="21" name="Rounded Rectangle 20"/>
          <p:cNvSpPr/>
          <p:nvPr/>
        </p:nvSpPr>
        <p:spPr>
          <a:xfrm>
            <a:off x="57240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1F285A"/>
                </a:solidFill>
                <a:latin typeface="メイリオ"/>
                <a:ea typeface="メイリオ"/>
                <a:cs typeface="メイリオ"/>
              </a:rPr>
              <a:t>当日の検索は「年収」</a:t>
            </a:r>
          </a:p>
          <a:p>
            <a:pPr algn="ctr"/>
            <a:r>
              <a:rPr sz="1000" b="0">
                <a:solidFill>
                  <a:srgbClr val="1F285A"/>
                </a:solidFill>
                <a:latin typeface="メイリオ"/>
                <a:ea typeface="メイリオ"/>
                <a:cs typeface="メイリオ"/>
              </a:rPr>
              <a:t>その場で答えを出す</a:t>
            </a:r>
          </a:p>
        </p:txBody>
      </p:sp>
      <p:sp>
        <p:nvSpPr>
          <p:cNvPr id="22" name="Rounded Rectangle 21"/>
          <p:cNvSpPr/>
          <p:nvPr/>
        </p:nvSpPr>
        <p:spPr>
          <a:xfrm>
            <a:off x="76356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1F285A"/>
                </a:solidFill>
                <a:latin typeface="メイリオ"/>
                <a:ea typeface="メイリオ"/>
                <a:cs typeface="メイリオ"/>
              </a:rPr>
              <a:t>電話なし・履歴書なし</a:t>
            </a:r>
          </a:p>
          <a:p>
            <a:pPr algn="ctr"/>
            <a:r>
              <a:rPr sz="1000" b="0">
                <a:solidFill>
                  <a:srgbClr val="1F285A"/>
                </a:solidFill>
                <a:latin typeface="メイリオ"/>
                <a:ea typeface="メイリオ"/>
                <a:cs typeface="メイリオ"/>
              </a:rPr>
              <a:t>応募前の人でも動きやすい</a:t>
            </a:r>
          </a:p>
        </p:txBody>
      </p:sp>
      <p:cxnSp>
        <p:nvCxnSpPr>
          <p:cNvPr id="23" name="Connector 22"/>
          <p:cNvCxnSpPr/>
          <p:nvPr/>
        </p:nvCxnSpPr>
        <p:spPr>
          <a:xfrm flipV="1">
            <a:off x="3375233" y="2772000"/>
            <a:ext cx="2312767" cy="1548720"/>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32000" y="4710852"/>
            <a:ext cx="9043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333333"/>
                </a:solidFill>
                <a:latin typeface="メイリオ"/>
                <a:ea typeface="メイリオ"/>
                <a:cs typeface="メイリオ"/>
              </a:rPr>
              <a:t>LINEでのリード有効化率を上げるコンテンツ（翌日〜14日・前後検索の関心の順番）</a:t>
            </a:r>
          </a:p>
        </p:txBody>
      </p:sp>
      <p:sp>
        <p:nvSpPr>
          <p:cNvPr id="25" name="Rounded Rectangle 24"/>
          <p:cNvSpPr/>
          <p:nvPr/>
        </p:nvSpPr>
        <p:spPr>
          <a:xfrm>
            <a:off x="432000"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1日目</a:t>
            </a:r>
          </a:p>
          <a:p>
            <a:pPr algn="ctr"/>
            <a:r>
              <a:rPr sz="1050" b="1">
                <a:solidFill>
                  <a:srgbClr val="FFFFFF"/>
                </a:solidFill>
                <a:latin typeface="メイリオ"/>
                <a:ea typeface="メイリオ"/>
                <a:cs typeface="メイリオ"/>
              </a:rPr>
              <a:t>職種図鑑</a:t>
            </a:r>
          </a:p>
          <a:p>
            <a:pPr algn="ctr"/>
            <a:r>
              <a:rPr sz="950" b="0">
                <a:solidFill>
                  <a:srgbClr val="FFFFFF"/>
                </a:solidFill>
                <a:latin typeface="メイリオ"/>
                <a:ea typeface="メイリオ"/>
                <a:cs typeface="メイリオ"/>
              </a:rPr>
              <a:t>整備・受付・営業の違い</a:t>
            </a:r>
          </a:p>
        </p:txBody>
      </p:sp>
      <p:sp>
        <p:nvSpPr>
          <p:cNvPr id="26" name="Rounded Rectangle 25"/>
          <p:cNvSpPr/>
          <p:nvPr/>
        </p:nvSpPr>
        <p:spPr>
          <a:xfrm>
            <a:off x="1734171"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2日目</a:t>
            </a:r>
          </a:p>
          <a:p>
            <a:pPr algn="ctr"/>
            <a:r>
              <a:rPr sz="1050" b="1">
                <a:solidFill>
                  <a:srgbClr val="FFFFFF"/>
                </a:solidFill>
                <a:latin typeface="メイリオ"/>
                <a:ea typeface="メイリオ"/>
                <a:cs typeface="メイリオ"/>
              </a:rPr>
              <a:t>働き方</a:t>
            </a:r>
          </a:p>
          <a:p>
            <a:pPr algn="ctr"/>
            <a:r>
              <a:rPr sz="950" b="0">
                <a:solidFill>
                  <a:srgbClr val="FFFFFF"/>
                </a:solidFill>
                <a:latin typeface="メイリオ"/>
                <a:ea typeface="メイリオ"/>
                <a:cs typeface="メイリオ"/>
              </a:rPr>
              <a:t>休み・残業・ホワイトな職場</a:t>
            </a:r>
          </a:p>
        </p:txBody>
      </p:sp>
      <p:sp>
        <p:nvSpPr>
          <p:cNvPr id="27" name="Rounded Rectangle 26"/>
          <p:cNvSpPr/>
          <p:nvPr/>
        </p:nvSpPr>
        <p:spPr>
          <a:xfrm>
            <a:off x="3036342" y="4980852"/>
            <a:ext cx="1230171" cy="1211148"/>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3日目</a:t>
            </a:r>
          </a:p>
          <a:p>
            <a:pPr algn="ctr"/>
            <a:r>
              <a:rPr sz="1050" b="1">
                <a:solidFill>
                  <a:srgbClr val="FFFFFF"/>
                </a:solidFill>
                <a:latin typeface="メイリオ"/>
                <a:ea typeface="メイリオ"/>
                <a:cs typeface="メイリオ"/>
              </a:rPr>
              <a:t>面談のご案内①</a:t>
            </a:r>
          </a:p>
          <a:p>
            <a:pPr algn="ctr"/>
            <a:r>
              <a:rPr sz="950" b="0">
                <a:solidFill>
                  <a:srgbClr val="FFFFFF"/>
                </a:solidFill>
                <a:latin typeface="メイリオ"/>
                <a:ea typeface="メイリオ"/>
                <a:cs typeface="メイリオ"/>
              </a:rPr>
              <a:t>（CV）</a:t>
            </a:r>
          </a:p>
        </p:txBody>
      </p:sp>
      <p:sp>
        <p:nvSpPr>
          <p:cNvPr id="28" name="Rounded Rectangle 27"/>
          <p:cNvSpPr/>
          <p:nvPr/>
        </p:nvSpPr>
        <p:spPr>
          <a:xfrm>
            <a:off x="4338514"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5日目</a:t>
            </a:r>
          </a:p>
          <a:p>
            <a:pPr algn="ctr"/>
            <a:r>
              <a:rPr sz="1050" b="1">
                <a:solidFill>
                  <a:srgbClr val="FFFFFF"/>
                </a:solidFill>
                <a:latin typeface="メイリオ"/>
                <a:ea typeface="メイリオ"/>
                <a:cs typeface="メイリオ"/>
              </a:rPr>
              <a:t>他職種と比較</a:t>
            </a:r>
          </a:p>
          <a:p>
            <a:pPr algn="ctr"/>
            <a:r>
              <a:rPr sz="950" b="0">
                <a:solidFill>
                  <a:srgbClr val="FFFFFF"/>
                </a:solidFill>
                <a:latin typeface="メイリオ"/>
                <a:ea typeface="メイリオ"/>
                <a:cs typeface="メイリオ"/>
              </a:rPr>
              <a:t>営業・施工管理</a:t>
            </a:r>
          </a:p>
        </p:txBody>
      </p:sp>
      <p:sp>
        <p:nvSpPr>
          <p:cNvPr id="29" name="Rounded Rectangle 28"/>
          <p:cNvSpPr/>
          <p:nvPr/>
        </p:nvSpPr>
        <p:spPr>
          <a:xfrm>
            <a:off x="5640685"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7日目</a:t>
            </a:r>
          </a:p>
          <a:p>
            <a:pPr algn="ctr"/>
            <a:r>
              <a:rPr sz="1050" b="1">
                <a:solidFill>
                  <a:srgbClr val="FFFFFF"/>
                </a:solidFill>
                <a:latin typeface="メイリオ"/>
                <a:ea typeface="メイリオ"/>
                <a:cs typeface="メイリオ"/>
              </a:rPr>
              <a:t>資格別の年収相場</a:t>
            </a:r>
          </a:p>
          <a:p>
            <a:pPr algn="ctr"/>
            <a:r>
              <a:rPr sz="950" b="0">
                <a:solidFill>
                  <a:srgbClr val="FFFFFF"/>
                </a:solidFill>
                <a:latin typeface="メイリオ"/>
                <a:ea typeface="メイリオ"/>
                <a:cs typeface="メイリオ"/>
              </a:rPr>
              <a:t>キャリアマップ</a:t>
            </a:r>
          </a:p>
        </p:txBody>
      </p:sp>
      <p:sp>
        <p:nvSpPr>
          <p:cNvPr id="30" name="Rounded Rectangle 29"/>
          <p:cNvSpPr/>
          <p:nvPr/>
        </p:nvSpPr>
        <p:spPr>
          <a:xfrm>
            <a:off x="6942857" y="4980852"/>
            <a:ext cx="1230171" cy="1211148"/>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10日目</a:t>
            </a:r>
          </a:p>
          <a:p>
            <a:pPr algn="ctr"/>
            <a:r>
              <a:rPr sz="1050" b="1">
                <a:solidFill>
                  <a:srgbClr val="FFFFFF"/>
                </a:solidFill>
                <a:latin typeface="メイリオ"/>
                <a:ea typeface="メイリオ"/>
                <a:cs typeface="メイリオ"/>
              </a:rPr>
              <a:t>現場のリアル</a:t>
            </a:r>
          </a:p>
          <a:p>
            <a:pPr algn="ctr"/>
            <a:r>
              <a:rPr sz="950" b="0">
                <a:solidFill>
                  <a:srgbClr val="FFFFFF"/>
                </a:solidFill>
                <a:latin typeface="メイリオ"/>
                <a:ea typeface="メイリオ"/>
                <a:cs typeface="メイリオ"/>
              </a:rPr>
              <a:t>冬の繁忙期</a:t>
            </a:r>
          </a:p>
        </p:txBody>
      </p:sp>
      <p:sp>
        <p:nvSpPr>
          <p:cNvPr id="31" name="Rounded Rectangle 30"/>
          <p:cNvSpPr/>
          <p:nvPr/>
        </p:nvSpPr>
        <p:spPr>
          <a:xfrm>
            <a:off x="8245028" y="4980852"/>
            <a:ext cx="1230171" cy="1211148"/>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100" b="1">
                <a:solidFill>
                  <a:srgbClr val="FFFFFF"/>
                </a:solidFill>
                <a:latin typeface="メイリオ"/>
                <a:ea typeface="メイリオ"/>
                <a:cs typeface="メイリオ"/>
              </a:rPr>
              <a:t>14日目</a:t>
            </a:r>
          </a:p>
          <a:p>
            <a:pPr algn="ctr"/>
            <a:r>
              <a:rPr sz="1050" b="1">
                <a:solidFill>
                  <a:srgbClr val="FFFFFF"/>
                </a:solidFill>
                <a:latin typeface="メイリオ"/>
                <a:ea typeface="メイリオ"/>
                <a:cs typeface="メイリオ"/>
              </a:rPr>
              <a:t>面談のご案内②</a:t>
            </a:r>
          </a:p>
          <a:p>
            <a:pPr algn="ctr"/>
            <a:r>
              <a:rPr sz="950" b="0">
                <a:solidFill>
                  <a:srgbClr val="FFFFFF"/>
                </a:solidFill>
                <a:latin typeface="メイリオ"/>
                <a:ea typeface="メイリオ"/>
                <a:cs typeface="メイリオ"/>
              </a:rPr>
              <a:t>（CV）</a:t>
            </a:r>
          </a:p>
        </p:txBody>
      </p:sp>
      <p:cxnSp>
        <p:nvCxnSpPr>
          <p:cNvPr id="32" name="Connector 31"/>
          <p:cNvCxnSpPr/>
          <p:nvPr/>
        </p:nvCxnSpPr>
        <p:spPr>
          <a:xfrm>
            <a:off x="4521600" y="4320720"/>
            <a:ext cx="255599" cy="372131"/>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82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前後検索データ（起点KW：カーディーラー／2026-09-23取得）。色分けはDYM分類（ラベル129件）</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20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20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824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28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536904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pic>
        <p:nvPicPr>
          <p:cNvPr id="20" name="Picture 19" descr="chengrowth_trend_seibishi_5y_L.png"/>
          <p:cNvPicPr>
            <a:picLocks noChangeAspect="1"/>
          </p:cNvPicPr>
          <p:nvPr/>
        </p:nvPicPr>
        <p:blipFill>
          <a:blip r:embed="rId3"/>
          <a:stretch>
            <a:fillRect/>
          </a:stretch>
        </p:blipFill>
        <p:spPr>
          <a:xfrm>
            <a:off x="432000" y="1475999"/>
            <a:ext cx="9043200" cy="2939040"/>
          </a:xfrm>
          <a:prstGeom prst="rect">
            <a:avLst/>
          </a:prstGeom>
        </p:spPr>
      </p:pic>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837833"/>
            <a:ext cx="9036000" cy="304334"/>
          </a:xfrm>
          <a:prstGeom prst="rect">
            <a:avLst/>
          </a:prstGeom>
          <a:noFill/>
        </p:spPr>
        <p:txBody>
          <a:bodyPr wrap="square" lIns="0" tIns="21600" rIns="0" bIns="21600" anchor="ctr">
            <a:spAutoFit/>
          </a:bodyPr>
          <a:lstStyle/>
          <a:p>
            <a:pPr algn="l">
              <a:lnSpc>
                <a:spcPct val="128000"/>
              </a:lnSpc>
            </a:pPr>
            <a:r>
              <a:rPr sz="14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extLst>
              <p:ext uri="{D42A27DB-BD31-4B8C-83A1-F6EECF244321}">
                <p14:modId xmlns:p14="http://schemas.microsoft.com/office/powerpoint/2010/main" val="3070262570"/>
              </p:ext>
            </p:extLst>
          </p:nvPr>
        </p:nvGraphicFramePr>
        <p:xfrm>
          <a:off x="432000" y="1619999"/>
          <a:ext cx="9043200" cy="2249352"/>
        </p:xfrm>
        <a:graphic>
          <a:graphicData uri="http://schemas.openxmlformats.org/drawingml/2006/table">
            <a:tbl>
              <a:tblPr firstRow="1" bandRow="1">
                <a:tableStyleId>{5C22544A-7EE6-4342-B048-85BDC9FD1C3A}</a:tableStyleId>
              </a:tblPr>
              <a:tblGrid>
                <a:gridCol w="2907966">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940674">
                  <a:extLst>
                    <a:ext uri="{9D8B030D-6E8A-4147-A177-3AD203B41FA5}">
                      <a16:colId xmlns:a16="http://schemas.microsoft.com/office/drawing/2014/main" val="20002"/>
                    </a:ext>
                  </a:extLst>
                </a:gridCol>
              </a:tblGrid>
              <a:tr h="321336">
                <a:tc>
                  <a:txBody>
                    <a:bodyP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a:lstStyle/>
                    <a:p>
                      <a:pPr algn="ctr"/>
                      <a:r>
                        <a:rPr sz="1150" b="1">
                          <a:solidFill>
                            <a:srgbClr val="FFFFFF"/>
                          </a:solidFill>
                          <a:latin typeface="メイリオ"/>
                          <a:ea typeface="メイリオ"/>
                          <a:cs typeface="メイリオ"/>
                        </a:rPr>
                        <a:t>LINE友だち数</a:t>
                      </a:r>
                    </a:p>
                  </a:txBody>
                  <a:tcPr anchor="ctr">
                    <a:solidFill>
                      <a:srgbClr val="1F285A"/>
                    </a:solidFill>
                  </a:tcPr>
                </a:tc>
                <a:extLst>
                  <a:ext uri="{0D108BD9-81ED-4DB2-BD59-A6C34878D82A}">
                    <a16:rowId xmlns:a16="http://schemas.microsoft.com/office/drawing/2014/main" val="10000"/>
                  </a:ext>
                </a:extLst>
              </a:tr>
              <a:tr h="321336">
                <a:tc>
                  <a:txBody>
                    <a:bodyPr/>
                    <a:lstStyle/>
                    <a:p>
                      <a:pPr algn="l"/>
                      <a:r>
                        <a:rPr sz="1400">
                          <a:solidFill>
                            <a:srgbClr val="333333"/>
                          </a:solidFill>
                          <a:latin typeface="メイリオ"/>
                          <a:ea typeface="メイリオ"/>
                          <a:cs typeface="メイリオ"/>
                        </a:rPr>
                        <a:t>リクナビNEXT</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3,235,678人</a:t>
                      </a:r>
                    </a:p>
                  </a:txBody>
                  <a:tcPr anchor="ctr">
                    <a:solidFill>
                      <a:srgbClr val="FFFFFF"/>
                    </a:solidFill>
                  </a:tcPr>
                </a:tc>
                <a:extLst>
                  <a:ext uri="{0D108BD9-81ED-4DB2-BD59-A6C34878D82A}">
                    <a16:rowId xmlns:a16="http://schemas.microsoft.com/office/drawing/2014/main" val="10001"/>
                  </a:ext>
                </a:extLst>
              </a:tr>
              <a:tr h="321336">
                <a:tc>
                  <a:txBody>
                    <a:bodyPr/>
                    <a:lstStyle/>
                    <a:p>
                      <a:pPr algn="l"/>
                      <a:r>
                        <a:rPr sz="1400">
                          <a:solidFill>
                            <a:srgbClr val="333333"/>
                          </a:solidFill>
                          <a:latin typeface="メイリオ"/>
                          <a:ea typeface="メイリオ"/>
                          <a:cs typeface="メイリオ"/>
                        </a:rPr>
                        <a:t>求人ボックス</a:t>
                      </a:r>
                    </a:p>
                  </a:txBody>
                  <a:tcPr anchor="ctr">
                    <a:solidFill>
                      <a:srgbClr val="F4F7FF"/>
                    </a:solidFill>
                  </a:tcPr>
                </a:tc>
                <a:tc>
                  <a:txBody>
                    <a:bodyPr/>
                    <a:lstStyle/>
                    <a:p>
                      <a:pPr algn="l"/>
                      <a:r>
                        <a:rPr sz="1400">
                          <a:solidFill>
                            <a:srgbClr val="333333"/>
                          </a:solidFill>
                          <a:latin typeface="メイリオ"/>
                          <a:ea typeface="メイリオ"/>
                          <a:cs typeface="メイリオ"/>
                        </a:rPr>
                        <a:t>総合・アグリゲーション</a:t>
                      </a:r>
                    </a:p>
                  </a:txBody>
                  <a:tcPr anchor="ctr">
                    <a:solidFill>
                      <a:srgbClr val="F4F7FF"/>
                    </a:solidFill>
                  </a:tcPr>
                </a:tc>
                <a:tc>
                  <a:txBody>
                    <a:bodyPr/>
                    <a:lstStyle/>
                    <a:p>
                      <a:pPr algn="l"/>
                      <a:r>
                        <a:rPr sz="1400">
                          <a:solidFill>
                            <a:srgbClr val="333333"/>
                          </a:solidFill>
                          <a:latin typeface="メイリオ"/>
                          <a:ea typeface="メイリオ"/>
                          <a:cs typeface="メイリオ"/>
                        </a:rPr>
                        <a:t>1,862,866人</a:t>
                      </a:r>
                    </a:p>
                  </a:txBody>
                  <a:tcPr anchor="ctr">
                    <a:solidFill>
                      <a:srgbClr val="F4F7FF"/>
                    </a:solidFill>
                  </a:tcPr>
                </a:tc>
                <a:extLst>
                  <a:ext uri="{0D108BD9-81ED-4DB2-BD59-A6C34878D82A}">
                    <a16:rowId xmlns:a16="http://schemas.microsoft.com/office/drawing/2014/main" val="10002"/>
                  </a:ext>
                </a:extLst>
              </a:tr>
              <a:tr h="321336">
                <a:tc>
                  <a:txBody>
                    <a:bodyPr/>
                    <a:lstStyle/>
                    <a:p>
                      <a:pPr algn="l"/>
                      <a:r>
                        <a:rPr sz="1400">
                          <a:solidFill>
                            <a:srgbClr val="333333"/>
                          </a:solidFill>
                          <a:latin typeface="メイリオ"/>
                          <a:ea typeface="メイリオ"/>
                          <a:cs typeface="メイリオ"/>
                        </a:rPr>
                        <a:t>マイナビ転職</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754,302人</a:t>
                      </a:r>
                    </a:p>
                  </a:txBody>
                  <a:tcPr anchor="ctr">
                    <a:solidFill>
                      <a:srgbClr val="FFFFFF"/>
                    </a:solidFill>
                  </a:tcPr>
                </a:tc>
                <a:extLst>
                  <a:ext uri="{0D108BD9-81ED-4DB2-BD59-A6C34878D82A}">
                    <a16:rowId xmlns:a16="http://schemas.microsoft.com/office/drawing/2014/main" val="10003"/>
                  </a:ext>
                </a:extLst>
              </a:tr>
              <a:tr h="321336">
                <a:tc>
                  <a:txBody>
                    <a:bodyPr/>
                    <a:lstStyle/>
                    <a:p>
                      <a:pPr algn="l"/>
                      <a:r>
                        <a:rPr sz="1400">
                          <a:solidFill>
                            <a:srgbClr val="333333"/>
                          </a:solidFill>
                          <a:latin typeface="メイリオ"/>
                          <a:ea typeface="メイリオ"/>
                          <a:cs typeface="メイリオ"/>
                        </a:rPr>
                        <a:t>doda</a:t>
                      </a:r>
                    </a:p>
                  </a:txBody>
                  <a:tcPr anchor="ctr">
                    <a:solidFill>
                      <a:srgbClr val="F4F7FF"/>
                    </a:solidFill>
                  </a:tcPr>
                </a:tc>
                <a:tc>
                  <a:txBody>
                    <a:bodyPr/>
                    <a:lstStyle/>
                    <a:p>
                      <a:pPr algn="l"/>
                      <a:r>
                        <a:rPr sz="1400">
                          <a:solidFill>
                            <a:srgbClr val="333333"/>
                          </a:solidFill>
                          <a:latin typeface="メイリオ"/>
                          <a:ea typeface="メイリオ"/>
                          <a:cs typeface="メイリオ"/>
                        </a:rPr>
                        <a:t>総合・エージェント</a:t>
                      </a:r>
                    </a:p>
                  </a:txBody>
                  <a:tcPr anchor="ctr">
                    <a:solidFill>
                      <a:srgbClr val="F4F7FF"/>
                    </a:solidFill>
                  </a:tcPr>
                </a:tc>
                <a:tc>
                  <a:txBody>
                    <a:bodyPr/>
                    <a:lstStyle/>
                    <a:p>
                      <a:pPr algn="l"/>
                      <a:r>
                        <a:rPr sz="1400" dirty="0">
                          <a:solidFill>
                            <a:srgbClr val="333333"/>
                          </a:solidFill>
                          <a:latin typeface="メイリオ"/>
                          <a:ea typeface="メイリオ"/>
                          <a:cs typeface="メイリオ"/>
                        </a:rPr>
                        <a:t>公開アカウントなし（会員登録後に1:1連携）</a:t>
                      </a:r>
                    </a:p>
                  </a:txBody>
                  <a:tcPr anchor="ctr">
                    <a:solidFill>
                      <a:srgbClr val="F4F7FF"/>
                    </a:solidFill>
                  </a:tcPr>
                </a:tc>
                <a:extLst>
                  <a:ext uri="{0D108BD9-81ED-4DB2-BD59-A6C34878D82A}">
                    <a16:rowId xmlns:a16="http://schemas.microsoft.com/office/drawing/2014/main" val="10004"/>
                  </a:ext>
                </a:extLst>
              </a:tr>
              <a:tr h="321336">
                <a:tc>
                  <a:txBody>
                    <a:bodyPr/>
                    <a:lstStyle/>
                    <a:p>
                      <a:pPr algn="l"/>
                      <a:r>
                        <a:rPr sz="1400">
                          <a:solidFill>
                            <a:srgbClr val="333333"/>
                          </a:solidFill>
                          <a:latin typeface="メイリオ"/>
                          <a:ea typeface="メイリオ"/>
                          <a:cs typeface="メイリオ"/>
                        </a:rPr>
                        <a:t>プレックスジョブ【整備士】</a:t>
                      </a:r>
                    </a:p>
                  </a:txBody>
                  <a:tcPr anchor="ctr">
                    <a:solidFill>
                      <a:srgbClr val="FFFF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FFFFF"/>
                    </a:solidFill>
                  </a:tcPr>
                </a:tc>
                <a:tc>
                  <a:txBody>
                    <a:bodyPr/>
                    <a:lstStyle/>
                    <a:p>
                      <a:pPr algn="l"/>
                      <a:r>
                        <a:rPr sz="1400">
                          <a:solidFill>
                            <a:srgbClr val="333333"/>
                          </a:solidFill>
                          <a:latin typeface="メイリオ"/>
                          <a:ea typeface="メイリオ"/>
                          <a:cs typeface="メイリオ"/>
                        </a:rPr>
                        <a:t>6,288人</a:t>
                      </a:r>
                    </a:p>
                  </a:txBody>
                  <a:tcPr anchor="ctr">
                    <a:solidFill>
                      <a:srgbClr val="FFFFFF"/>
                    </a:solidFill>
                  </a:tcPr>
                </a:tc>
                <a:extLst>
                  <a:ext uri="{0D108BD9-81ED-4DB2-BD59-A6C34878D82A}">
                    <a16:rowId xmlns:a16="http://schemas.microsoft.com/office/drawing/2014/main" val="10005"/>
                  </a:ext>
                </a:extLst>
              </a:tr>
              <a:tr h="321336">
                <a:tc>
                  <a:txBody>
                    <a:bodyPr/>
                    <a:lstStyle/>
                    <a:p>
                      <a:pPr algn="l"/>
                      <a:r>
                        <a:rPr sz="1400" dirty="0" err="1">
                          <a:solidFill>
                            <a:srgbClr val="333333"/>
                          </a:solidFill>
                          <a:latin typeface="メイリオ"/>
                          <a:ea typeface="メイリオ"/>
                          <a:cs typeface="メイリオ"/>
                        </a:rPr>
                        <a:t>整備士の求人・転職｜カンパネル</a:t>
                      </a:r>
                      <a:endParaRPr sz="1400" dirty="0">
                        <a:solidFill>
                          <a:srgbClr val="333333"/>
                        </a:solidFill>
                        <a:latin typeface="メイリオ"/>
                        <a:ea typeface="メイリオ"/>
                        <a:cs typeface="メイリオ"/>
                      </a:endParaRPr>
                    </a:p>
                  </a:txBody>
                  <a:tcPr anchor="ctr">
                    <a:solidFill>
                      <a:srgbClr val="F4F7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4F7FF"/>
                    </a:solidFill>
                  </a:tcPr>
                </a:tc>
                <a:tc>
                  <a:txBody>
                    <a:bodyPr/>
                    <a:lstStyle/>
                    <a:p>
                      <a:pPr algn="l"/>
                      <a:r>
                        <a:rPr sz="1400" dirty="0">
                          <a:solidFill>
                            <a:srgbClr val="333333"/>
                          </a:solidFill>
                          <a:latin typeface="メイリオ"/>
                          <a:ea typeface="メイリオ"/>
                          <a:cs typeface="メイリオ"/>
                        </a:rPr>
                        <a:t>196人</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32000" y="4380253"/>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整備士</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LINE」はまだ誰も取っていない。総合大手の型を持ち込むだけで先行者になれる</a:t>
            </a:r>
            <a:r>
              <a:rPr sz="1400" b="1" dirty="0">
                <a:solidFill>
                  <a:srgbClr val="FFFFFF"/>
                </a:solidFill>
                <a:latin typeface="メイリオ"/>
                <a:ea typeface="メイリオ"/>
                <a:cs typeface="メイリオ"/>
              </a:rPr>
              <a:t>。</a:t>
            </a:r>
          </a:p>
        </p:txBody>
      </p:sp>
      <p:sp>
        <p:nvSpPr>
          <p:cNvPr id="7" name="TextBox 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登録後の自動ステップ配信と、セグメント別の企画配信で、開封〜CVまでの導線を最適化する。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よくある質問への自動応答と、必要な場面での個別チャット対応でユーザー体験を向上させる。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¥245,000</a:t>
            </a:r>
            <a:endParaRPr kumimoji="1" lang="ja-JP" altLang="en-US" sz="1400" dirty="0">
              <a:solidFill>
                <a:schemeClr val="tx1"/>
              </a:solidFill>
              <a:latin typeface="メイリオ" panose="020B0604030504040204" pitchFamily="50" charset="-128"/>
              <a:ea typeface="メイリオ" panose="020B0604030504040204" pitchFamily="50" charset="-128"/>
            </a:endParaRPr>
          </a:p>
          <a:p>
            <a:pPr algn="ctr"/>
            <a:r>
              <a:rPr kumimoji="1" lang="en-US" altLang="ja-JP" sz="900" b="0" dirty="0">
                <a:solidFill>
                  <a:schemeClr val="tx1"/>
                </a:solidFill>
                <a:latin typeface="メイリオ" panose="020B0604030504040204" pitchFamily="50" charset="-128"/>
                <a:ea typeface="メイリオ" panose="020B0604030504040204" pitchFamily="50" charset="-128"/>
              </a:rPr>
              <a:t>構築20万＋離脱防止1.5万＋アカウント3万</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コンサル費 ¥150,000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離脱防止 ¥30,000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アカウント費 ¥5,000〜</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4回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1回</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ステップ改善</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ABテスト随時</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有効友だち</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あいさつ＋診断</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1回（4問）</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3タブ×6枠</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構築×10</a:t>
            </a: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ポップアップ設置</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約4,350人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約2,350人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2,390件/月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6746399" y="3906000"/>
            <a:ext cx="2901600" cy="1080000"/>
          </a:xfrm>
          <a:prstGeom prst="rect">
            <a:avLst/>
          </a:prstGeom>
          <a:noFill/>
        </p:spPr>
        <p:txBody>
          <a:bodyPr wrap="square">
            <a:spAutoFit/>
          </a:bodyPr>
          <a:lstStyle/>
          <a:p>
            <a:pPr algn="ctr"/>
            <a:r>
              <a:rPr lang="ja-JP" altLang="en-US" sz="1100" b="1" dirty="0">
                <a:latin typeface="メイリオ" panose="020B0604030504040204" pitchFamily="50" charset="-128"/>
                <a:ea typeface="メイリオ" panose="020B0604030504040204" pitchFamily="50" charset="-128"/>
              </a:rPr>
              <a:t>半年累計89件・累計CPA 29,697円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50" b="0" dirty="0">
                <a:solidFill>
                  <a:srgbClr val="333333"/>
                </a:solidFill>
                <a:latin typeface="メイリオ" panose="020B0604030504040204" pitchFamily="50" charset="-128"/>
                <a:ea typeface="メイリオ" panose="020B0604030504040204" pitchFamily="50" charset="-128"/>
              </a:rPr>
              <a:t>現状の整備士CPA 6万円の約半分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00" b="0" dirty="0">
                <a:solidFill>
                  <a:srgbClr val="7F7F7F"/>
                </a:solidFill>
                <a:latin typeface="メイリオ" panose="020B0604030504040204" pitchFamily="50" charset="-128"/>
                <a:ea typeface="メイリオ" panose="020B0604030504040204" pitchFamily="50" charset="-128"/>
              </a:rPr>
              <a:t>参考：CPFなし＝半年4件</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Meta広告の目的を「応募獲得」から「友だち獲得」へ切り替え（広告費は据え置き）、</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初期24.5万円・月額18.5万円〜の運用で、面談・応募を半年89件と見込みます。</a:t>
            </a:r>
          </a:p>
        </p:txBody>
      </p:sp>
      <p:sp>
        <p:nvSpPr>
          <p:cNvPr id="88" name="TextBox 1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SIM①（CPFあり・コンサル運営）より。前提：UU3,215（SimilarWeb推計）・CPF単価300円（LINEヤフー公式事例）ほか仮置き値を含む。実績値をいただき次第、再試算</a:t>
            </a:r>
          </a:p>
        </p:txBody>
      </p:sp>
      <p:sp>
        <p:nvSpPr>
          <p:cNvPr id="87" name="TextBox 86"/>
          <p:cNvSpPr txBox="1"/>
          <p:nvPr/>
        </p:nvSpPr>
        <p:spPr>
          <a:xfrm>
            <a:off x="381600" y="5670000"/>
            <a:ext cx="9144000" cy="342000"/>
          </a:xfrm>
          <a:prstGeom prst="rect">
            <a:avLst/>
          </a:prstGeom>
          <a:noFill/>
        </p:spPr>
        <p:txBody>
          <a:bodyPr wrap="square" lIns="36000" rIns="36000" anchor="t">
            <a:spAutoFit/>
          </a:bodyPr>
          <a:lstStyle/>
          <a:p>
            <a:pPr algn="l"/>
            <a:r>
              <a:rPr sz="1000" b="0">
                <a:solidFill>
                  <a:srgbClr val="595959"/>
                </a:solidFill>
                <a:latin typeface="メイリオ"/>
                <a:ea typeface="メイリオ"/>
                <a:cs typeface="メイリオ"/>
              </a:rPr>
              <a:t>※ 別途 CPF広告費 月20.8万円は、既存Meta予算（年250万円）からの転用＝追加出費ゼロ。</a:t>
            </a:r>
          </a:p>
          <a:p>
            <a:pPr algn="l"/>
            <a:r>
              <a:rPr sz="1000" b="0">
                <a:solidFill>
                  <a:srgbClr val="595959"/>
                </a:solidFill>
                <a:latin typeface="メイリオ"/>
                <a:ea typeface="メイリオ"/>
                <a:cs typeface="メイリオ"/>
              </a:rPr>
              <a:t>※ アカウント費は配信数に応じて自動切替（5,000円→3ヶ月目以降15,000円）。</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876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実施施策【14日間ステップ配信】</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友だち追加後14日間で、前後検索で見えた関心の順番（年収・職種 → 働き方 → 比較 → 現場）に沿って配信する</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（関心が消える前の3日目に1回目の面談案内。未予約者には再アプローチ、面談予約者は別シナリオへ分岐）</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4000" cy="4114800"/>
        </p:xfrm>
        <a:graphic>
          <a:graphicData uri="http://schemas.openxmlformats.org/drawingml/2006/table">
            <a:tbl>
              <a:tblPr firstRow="1" bandRow="1">
                <a:tableStyleId>{5C22544A-7EE6-4342-B048-85BDC9FD1C3A}</a:tableStyleId>
              </a:tblPr>
              <a:tblGrid>
                <a:gridCol w="1087200">
                  <a:extLst>
                    <a:ext uri="{9D8B030D-6E8A-4147-A177-3AD203B41FA5}">
                      <a16:colId xmlns:a16="http://schemas.microsoft.com/office/drawing/2014/main" val="20000"/>
                    </a:ext>
                  </a:extLst>
                </a:gridCol>
                <a:gridCol w="1810800">
                  <a:extLst>
                    <a:ext uri="{9D8B030D-6E8A-4147-A177-3AD203B41FA5}">
                      <a16:colId xmlns:a16="http://schemas.microsoft.com/office/drawing/2014/main" val="20001"/>
                    </a:ext>
                  </a:extLst>
                </a:gridCol>
                <a:gridCol w="615600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a:solidFill>
                            <a:srgbClr val="333333"/>
                          </a:solidFill>
                          <a:latin typeface="Meiryo"/>
                          <a:ea typeface="メイリオ"/>
                          <a:cs typeface="Meiryo"/>
                        </a:rPr>
                        <a:t>あいさつ＋30秒診断＋「整備士の年収相場」を一言</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職種図鑑（整備・受付・営業の仕事と年収の違い）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働き方（休み・残業・「ホワイトな職場」の見分け方）</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3日後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面談のご案内①「履歴書、まだ要りません」</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5日後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ほかの職種との比較（整備士 vs 営業・施工管理）</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7日後</a:t>
                      </a:r>
                    </a:p>
                  </a:txBody>
                  <a:tcPr>
                    <a:solidFill>
                      <a:srgbClr val="FFFFFF"/>
                    </a:solidFill>
                  </a:tcPr>
                </a:tc>
                <a:tc>
                  <a:txBody>
                    <a:bodyPr/>
                    <a:lstStyle/>
                    <a:p>
                      <a:r>
                        <a:rPr sz="1400" b="0">
                          <a:solidFill>
                            <a:srgbClr val="333333"/>
                          </a:solidFill>
                          <a:latin typeface="Meiryo"/>
                          <a:ea typeface="メイリオ"/>
                          <a:cs typeface="Meiryo"/>
                        </a:rPr>
                        <a:t>資格別</a:t>
                      </a:r>
                    </a:p>
                  </a:txBody>
                  <a:tcPr>
                    <a:solidFill>
                      <a:srgbClr val="FFFFFF"/>
                    </a:solidFill>
                  </a:tcPr>
                </a:tc>
                <a:tc>
                  <a:txBody>
                    <a:bodyPr/>
                    <a:lstStyle/>
                    <a:p>
                      <a:r>
                        <a:rPr sz="1250" b="0" dirty="0">
                          <a:solidFill>
                            <a:srgbClr val="333333"/>
                          </a:solidFill>
                          <a:latin typeface="Meiryo"/>
                          <a:ea typeface="メイリオ"/>
                          <a:cs typeface="Meiryo"/>
                        </a:rPr>
                        <a:t>資格別の年収相場・キャリアマップ</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10日後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現場のリアル（タイヤ交換の繁忙期・工具・手当）</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地域別の求人ピックアップ（オートバックスG）</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面談のご案内②＋以後は月数回の定常配信へ切替</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429768" y="543924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職業への関心は検索当日〜2日後に集中 → 関心が消える前の3日目に1回目の面談案内</a:t>
            </a:r>
          </a:p>
          <a:p>
            <a:r>
              <a:rPr sz="1400" b="1" dirty="0">
                <a:solidFill>
                  <a:srgbClr val="BF4E0E"/>
                </a:solidFill>
                <a:latin typeface="Meiryo"/>
                <a:ea typeface="メイリオ"/>
                <a:cs typeface="Meiryo"/>
              </a:rPr>
              <a:t>面談・応募 89件（6ヶ月累計・SIM①）＝ 累計CPA 29,697円として算出</a:t>
            </a:r>
          </a:p>
          <a:p>
            <a:r>
              <a:rPr sz="1400" b="1" dirty="0">
                <a:solidFill>
                  <a:srgbClr val="BF4E0E"/>
                </a:solidFill>
                <a:latin typeface="Meiryo"/>
                <a:ea typeface="メイリオ"/>
                <a:cs typeface="Meiryo"/>
              </a:rPr>
              <a:t>面談予約で止めず、就業までLINEで追いきります（面談前日リマインド→当日案内→面談後フォロー）</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出典：LINEヤフー 前後検索データ（起点KW：カーディーラー）／コンテンツ案v1（別紙・配信文面の全文）</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想定企画【年間】</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年間を通じて、友だち増加・面談獲得・ブロック防止を狙う企画投稿を月別に配置する（月4本）</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52628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「冬のうちに相談だけ」訴求</a:t>
                      </a:r>
                    </a:p>
                  </a:txBody>
                  <a:tcPr>
                    <a:solidFill>
                      <a:srgbClr val="FFFFFF"/>
                    </a:solidFill>
                  </a:tcPr>
                </a:tc>
                <a:tc>
                  <a:txBody>
                    <a:bodyPr/>
                    <a:lstStyle/>
                    <a:p>
                      <a:r>
                        <a:rPr sz="1400" b="0">
                          <a:solidFill>
                            <a:srgbClr val="333333"/>
                          </a:solidFill>
                          <a:latin typeface="Meiryo"/>
                          <a:ea typeface="メイリオ"/>
                          <a:cs typeface="Meiryo"/>
                        </a:rPr>
                        <a:t>3月の山に向けて前倒し。在職中でも相談OKを打ち出す</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3月</a:t>
                      </a:r>
                    </a:p>
                  </a:txBody>
                  <a:tcPr>
                    <a:solidFill>
                      <a:srgbClr val="FFFFFF"/>
                    </a:solidFill>
                  </a:tcPr>
                </a:tc>
                <a:tc>
                  <a:txBody>
                    <a:bodyPr/>
                    <a:lstStyle/>
                    <a:p>
                      <a:r>
                        <a:rPr sz="1400" b="0">
                          <a:solidFill>
                            <a:srgbClr val="333333"/>
                          </a:solidFill>
                          <a:latin typeface="Meiryo"/>
                          <a:ea typeface="メイリオ"/>
                          <a:cs typeface="Meiryo"/>
                        </a:rPr>
                        <a:t>年度替わり求人特集</a:t>
                      </a:r>
                    </a:p>
                  </a:txBody>
                  <a:tcPr>
                    <a:solidFill>
                      <a:srgbClr val="FFFFFF"/>
                    </a:solidFill>
                  </a:tcPr>
                </a:tc>
                <a:tc>
                  <a:txBody>
                    <a:bodyPr/>
                    <a:lstStyle/>
                    <a:p>
                      <a:r>
                        <a:rPr sz="1400" b="0">
                          <a:solidFill>
                            <a:srgbClr val="333333"/>
                          </a:solidFill>
                          <a:latin typeface="Meiryo"/>
                          <a:ea typeface="メイリオ"/>
                          <a:cs typeface="Meiryo"/>
                        </a:rPr>
                        <a:t>4月入社求人を地域別に配信（3月＝検索の山）</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3-4月</a:t>
                      </a:r>
                    </a:p>
                  </a:txBody>
                  <a:tcPr>
                    <a:solidFill>
                      <a:srgbClr val="FFFFFF"/>
                    </a:solidFill>
                  </a:tcPr>
                </a:tc>
                <a:tc>
                  <a:txBody>
                    <a:bodyPr/>
                    <a:lstStyle/>
                    <a:p>
                      <a:r>
                        <a:rPr sz="1400" b="0">
                          <a:solidFill>
                            <a:srgbClr val="333333"/>
                          </a:solidFill>
                          <a:latin typeface="Meiryo"/>
                          <a:ea typeface="メイリオ"/>
                          <a:cs typeface="Meiryo"/>
                        </a:rPr>
                        <a:t>資格取得者向け特集</a:t>
                      </a:r>
                    </a:p>
                  </a:txBody>
                  <a:tcPr>
                    <a:solidFill>
                      <a:srgbClr val="FFFFFF"/>
                    </a:solidFill>
                  </a:tcPr>
                </a:tc>
                <a:tc>
                  <a:txBody>
                    <a:bodyPr/>
                    <a:lstStyle/>
                    <a:p>
                      <a:r>
                        <a:rPr sz="1400" b="0">
                          <a:solidFill>
                            <a:srgbClr val="333333"/>
                          </a:solidFill>
                          <a:latin typeface="Meiryo"/>
                          <a:ea typeface="メイリオ"/>
                          <a:cs typeface="Meiryo"/>
                        </a:rPr>
                        <a:t>2級・検査員の合格者へ資格別の年収相場を配信</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5月</a:t>
                      </a:r>
                    </a:p>
                  </a:txBody>
                  <a:tcPr>
                    <a:solidFill>
                      <a:srgbClr val="FFFFFF"/>
                    </a:solidFill>
                  </a:tcPr>
                </a:tc>
                <a:tc>
                  <a:txBody>
                    <a:bodyPr/>
                    <a:lstStyle/>
                    <a:p>
                      <a:r>
                        <a:rPr sz="1400" b="0" dirty="0" err="1">
                          <a:solidFill>
                            <a:srgbClr val="333333"/>
                          </a:solidFill>
                          <a:latin typeface="Meiryo"/>
                          <a:ea typeface="メイリオ"/>
                          <a:cs typeface="Meiryo"/>
                        </a:rPr>
                        <a:t>連休明けの見直し訴求</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GW明けの「このままでいいか」層を面談へ</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a:solidFill>
                            <a:srgbClr val="333333"/>
                          </a:solidFill>
                          <a:latin typeface="Meiryo"/>
                          <a:ea typeface="メイリオ"/>
                          <a:cs typeface="Meiryo"/>
                        </a:rPr>
                        <a:t>LINEリサーチでニーズ収集</a:t>
                      </a:r>
                    </a:p>
                  </a:txBody>
                  <a:tcPr>
                    <a:solidFill>
                      <a:srgbClr val="FFFFFF"/>
                    </a:solidFill>
                  </a:tcPr>
                </a:tc>
                <a:tc>
                  <a:txBody>
                    <a:bodyPr/>
                    <a:lstStyle/>
                    <a:p>
                      <a:r>
                        <a:rPr sz="1400" b="0">
                          <a:solidFill>
                            <a:srgbClr val="333333"/>
                          </a:solidFill>
                          <a:latin typeface="Meiryo"/>
                          <a:ea typeface="メイリオ"/>
                          <a:cs typeface="Meiryo"/>
                        </a:rPr>
                        <a:t>転職理由・希望条件を簡易アンケートで把握し企画に反映</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dirty="0" err="1">
                          <a:solidFill>
                            <a:srgbClr val="333333"/>
                          </a:solidFill>
                          <a:latin typeface="Meiryo"/>
                          <a:ea typeface="メイリオ"/>
                          <a:cs typeface="Meiryo"/>
                        </a:rPr>
                        <a:t>賞与後の転職検討特集</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夏のボーナス後に動く層へ年収相場・求人を配信</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9月</a:t>
                      </a:r>
                    </a:p>
                  </a:txBody>
                  <a:tcPr>
                    <a:solidFill>
                      <a:srgbClr val="FFFFFF"/>
                    </a:solidFill>
                  </a:tcPr>
                </a:tc>
                <a:tc>
                  <a:txBody>
                    <a:bodyPr/>
                    <a:lstStyle/>
                    <a:p>
                      <a:r>
                        <a:rPr sz="1400" b="0">
                          <a:solidFill>
                            <a:srgbClr val="333333"/>
                          </a:solidFill>
                          <a:latin typeface="Meiryo"/>
                          <a:ea typeface="メイリオ"/>
                          <a:cs typeface="Meiryo"/>
                        </a:rPr>
                        <a:t>資格取得・キャリア特集</a:t>
                      </a:r>
                    </a:p>
                  </a:txBody>
                  <a:tcPr>
                    <a:solidFill>
                      <a:srgbClr val="FFFFFF"/>
                    </a:solidFill>
                  </a:tcPr>
                </a:tc>
                <a:tc>
                  <a:txBody>
                    <a:bodyPr/>
                    <a:lstStyle/>
                    <a:p>
                      <a:r>
                        <a:rPr sz="1400" b="0" dirty="0" err="1">
                          <a:solidFill>
                            <a:srgbClr val="333333"/>
                          </a:solidFill>
                          <a:latin typeface="Meiryo"/>
                          <a:ea typeface="メイリオ"/>
                          <a:cs typeface="Meiryo"/>
                        </a:rPr>
                        <a:t>無資格・3級向けに整備士育成プロジェクトを案内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10月</a:t>
                      </a:r>
                    </a:p>
                  </a:txBody>
                  <a:tcPr>
                    <a:solidFill>
                      <a:srgbClr val="FFFFFF"/>
                    </a:solidFill>
                  </a:tcPr>
                </a:tc>
                <a:tc>
                  <a:txBody>
                    <a:bodyPr/>
                    <a:lstStyle/>
                    <a:p>
                      <a:r>
                        <a:rPr sz="1400" b="0">
                          <a:solidFill>
                            <a:srgbClr val="333333"/>
                          </a:solidFill>
                          <a:latin typeface="Meiryo"/>
                          <a:ea typeface="メイリオ"/>
                          <a:cs typeface="Meiryo"/>
                        </a:rPr>
                        <a:t>年内入社ラストコール</a:t>
                      </a:r>
                    </a:p>
                  </a:txBody>
                  <a:tcPr>
                    <a:solidFill>
                      <a:srgbClr val="FFFFFF"/>
                    </a:solidFill>
                  </a:tcPr>
                </a:tc>
                <a:tc>
                  <a:txBody>
                    <a:bodyPr/>
                    <a:lstStyle/>
                    <a:p>
                      <a:r>
                        <a:rPr sz="1400" b="0" dirty="0" err="1">
                          <a:solidFill>
                            <a:srgbClr val="333333"/>
                          </a:solidFill>
                          <a:latin typeface="Meiryo"/>
                          <a:ea typeface="メイリオ"/>
                          <a:cs typeface="Meiryo"/>
                        </a:rPr>
                        <a:t>年内に動きたい層へ面談枠をご案内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11月</a:t>
                      </a:r>
                    </a:p>
                  </a:txBody>
                  <a:tcPr>
                    <a:solidFill>
                      <a:srgbClr val="FFFFFF"/>
                    </a:solidFill>
                  </a:tcPr>
                </a:tc>
                <a:tc>
                  <a:txBody>
                    <a:bodyPr/>
                    <a:lstStyle/>
                    <a:p>
                      <a:r>
                        <a:rPr sz="1400" b="0">
                          <a:solidFill>
                            <a:srgbClr val="333333"/>
                          </a:solidFill>
                          <a:latin typeface="Meiryo"/>
                          <a:ea typeface="メイリオ"/>
                          <a:cs typeface="Meiryo"/>
                        </a:rPr>
                        <a:t>冬の繁忙期＝現場のリアル</a:t>
                      </a:r>
                    </a:p>
                  </a:txBody>
                  <a:tcPr>
                    <a:solidFill>
                      <a:srgbClr val="FFFFFF"/>
                    </a:solidFill>
                  </a:tcPr>
                </a:tc>
                <a:tc>
                  <a:txBody>
                    <a:bodyPr/>
                    <a:lstStyle/>
                    <a:p>
                      <a:r>
                        <a:rPr sz="1400" b="0" dirty="0" err="1">
                          <a:solidFill>
                            <a:srgbClr val="333333"/>
                          </a:solidFill>
                          <a:latin typeface="Meiryo"/>
                          <a:ea typeface="メイリオ"/>
                          <a:cs typeface="Meiryo"/>
                        </a:rPr>
                        <a:t>スタッドレス・タイヤ交換期の現場と手当を紹介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r h="411480">
                <a:tc>
                  <a:txBody>
                    <a:bodyPr/>
                    <a:lstStyle/>
                    <a:p>
                      <a:r>
                        <a:rPr sz="1400" b="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冬も相談だけOK訴求</a:t>
                      </a:r>
                    </a:p>
                  </a:txBody>
                  <a:tcPr>
                    <a:solidFill>
                      <a:srgbClr val="FFFFFF"/>
                    </a:solidFill>
                  </a:tcPr>
                </a:tc>
                <a:tc>
                  <a:txBody>
                    <a:bodyPr/>
                    <a:lstStyle/>
                    <a:p>
                      <a:r>
                        <a:rPr sz="1400" b="0" dirty="0" err="1">
                          <a:solidFill>
                            <a:srgbClr val="333333"/>
                          </a:solidFill>
                          <a:latin typeface="Meiryo"/>
                          <a:ea typeface="メイリオ"/>
                          <a:cs typeface="Meiryo"/>
                        </a:rPr>
                        <a:t>検索の谷でも検討は続く。配信は止めず関係を維持</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10"/>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出典：Googleトレンド「整備士」（山3月・谷12月）／前後検索KW「カーディーラー」／コンテンツ案v1</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840560"/>
            <a:ext cx="9052200" cy="337100"/>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6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281785"/>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018036"/>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endPar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endParaRP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281785"/>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281785"/>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448625"/>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700" b="1" dirty="0">
                <a:solidFill>
                  <a:srgbClr val="002060"/>
                </a:solidFill>
                <a:latin typeface="Meiryo"/>
                <a:ea typeface="Meiryo"/>
                <a:cs typeface="Meiryo"/>
                <a:sym typeface="Meiryo"/>
              </a:rPr>
              <a:t>その他（コンサルに含む）　　</a:t>
            </a:r>
            <a:r>
              <a:rPr lang="en-US" altLang="ja-JP" sz="1700" b="1" dirty="0">
                <a:solidFill>
                  <a:srgbClr val="002060"/>
                </a:solidFill>
                <a:latin typeface="Meiryo"/>
                <a:ea typeface="Meiryo"/>
                <a:cs typeface="Meiryo"/>
                <a:sym typeface="Meiryo"/>
              </a:rPr>
              <a:t>※</a:t>
            </a:r>
            <a:r>
              <a:rPr lang="ja-JP" altLang="en-US" sz="17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94245"/>
            <a:ext cx="4434480" cy="338554"/>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224598"/>
            <a:ext cx="4434480" cy="980294"/>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よくある質問（応募方法・年収・勤務地</a:t>
            </a:r>
            <a:r>
              <a:rPr sz="1200" dirty="0">
                <a:solidFill>
                  <a:srgbClr val="404040"/>
                </a:solidFill>
                <a:latin typeface="メイリオ" panose="020B0604030504040204" pitchFamily="50" charset="-128"/>
                <a:ea typeface="メイリオ" panose="020B0604030504040204" pitchFamily="50" charset="-128"/>
              </a:rPr>
              <a:t> </a:t>
            </a:r>
            <a:r>
              <a:rPr sz="1200" dirty="0" err="1">
                <a:solidFill>
                  <a:srgbClr val="404040"/>
                </a:solidFill>
                <a:latin typeface="メイリオ" panose="020B0604030504040204" pitchFamily="50" charset="-128"/>
                <a:ea typeface="メイリオ" panose="020B0604030504040204" pitchFamily="50" charset="-128"/>
              </a:rPr>
              <a:t>等）の対応を効率化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94245"/>
            <a:ext cx="4434480" cy="338554"/>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224597"/>
            <a:ext cx="4434480" cy="980295"/>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診断結果送付〜ステップ配信までをGAS等で自動化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5" name="Rounded Rectangle 3">
            <a:extLst>
              <a:ext uri="{FF2B5EF4-FFF2-40B4-BE49-F238E27FC236}">
                <a16:creationId xmlns:a16="http://schemas.microsoft.com/office/drawing/2014/main" id="{C7F21D87-4A15-CE7E-773C-B513888D6575}"/>
              </a:ext>
            </a:extLst>
          </p:cNvPr>
          <p:cNvSpPr/>
          <p:nvPr/>
        </p:nvSpPr>
        <p:spPr>
          <a:xfrm>
            <a:off x="148659" y="4301337"/>
            <a:ext cx="9425441" cy="1995857"/>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143144</TotalTime>
  <Words>5417</Words>
  <Application>Microsoft Office PowerPoint</Application>
  <PresentationFormat>A4 210 x 297 mm</PresentationFormat>
  <Paragraphs>1081</Paragraphs>
  <Slides>52</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52</vt:i4>
      </vt:variant>
    </vt:vector>
  </HeadingPairs>
  <TitlesOfParts>
    <vt:vector size="5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2026-09-24T05:35:16Z</dcterms:modified>
</cp:coreProperties>
</file>