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7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3155" r:id="rId56"/>
    <p:sldId id="3156" r:id="rId57"/>
    <p:sldId id="3157" r:id="rId58"/>
    <p:sldId id="3158" r:id="rId59"/>
    <p:sldId id="3159" r:id="rId60"/>
    <p:sldId id="2972" r:id="rId17"/>
    <p:sldId id="3140" r:id="rId11"/>
    <p:sldId id="3160" r:id="rId61"/>
    <p:sldId id="3161" r:id="rId62"/>
    <p:sldId id="3162" r:id="rId63"/>
    <p:sldId id="3163" r:id="rId64"/>
    <p:sldId id="3164" r:id="rId65"/>
    <p:sldId id="2956" r:id="rId15"/>
    <p:sldId id="2988" r:id="rId16"/>
    <p:sldId id="2983" r:id="rId25"/>
    <p:sldId id="3165" r:id="rId66"/>
    <p:sldId id="3166" r:id="rId67"/>
    <p:sldId id="3167" r:id="rId68"/>
    <p:sldId id="3168" r:id="rId69"/>
    <p:sldId id="267" r:id="rId21"/>
    <p:sldId id="2996" r:id="rId26"/>
    <p:sldId id="3148" r:id="rId22"/>
    <p:sldId id="3139" r:id="rId18"/>
    <p:sldId id="3147" r:id="rId19"/>
    <p:sldId id="3138" r:id="rId20"/>
    <p:sldId id="3169" r:id="rId70"/>
    <p:sldId id="3198" r:id="rId99"/>
    <p:sldId id="3199" r:id="rId100"/>
    <p:sldId id="3200" r:id="rId101"/>
    <p:sldId id="3201" r:id="rId102"/>
    <p:sldId id="3202" r:id="rId103"/>
    <p:sldId id="3203" r:id="rId104"/>
    <p:sldId id="3204" r:id="rId105"/>
    <p:sldId id="3205" r:id="rId106"/>
    <p:sldId id="3141" r:id="rId12"/>
    <p:sldId id="3142" r:id="rId13"/>
    <p:sldId id="3154" r:id="rId24"/>
    <p:sldId id="2966" r:id="rId9"/>
    <p:sldId id="3143" r:id="rId27"/>
    <p:sldId id="3153" r:id="rId28"/>
    <p:sldId id="3144" r:id="rId29"/>
    <p:sldId id="3149" r:id="rId30"/>
    <p:sldId id="3145" r:id="rId31"/>
    <p:sldId id="3150" r:id="rId32"/>
    <p:sldId id="2984" r:id="rId33"/>
    <p:sldId id="2985" r:id="rId34"/>
    <p:sldId id="3146" r:id="rId40"/>
    <p:sldId id="3173" r:id="rId74"/>
    <p:sldId id="3174" r:id="rId75"/>
    <p:sldId id="3175" r:id="rId76"/>
    <p:sldId id="3176" r:id="rId77"/>
    <p:sldId id="3177" r:id="rId78"/>
    <p:sldId id="3178" r:id="rId79"/>
    <p:sldId id="3179" r:id="rId80"/>
    <p:sldId id="3180" r:id="rId81"/>
    <p:sldId id="3181" r:id="rId82"/>
    <p:sldId id="3182" r:id="rId83"/>
    <p:sldId id="3183" r:id="rId84"/>
    <p:sldId id="3184" r:id="rId85"/>
    <p:sldId id="3185" r:id="rId86"/>
    <p:sldId id="3186" r:id="rId87"/>
    <p:sldId id="3187" r:id="rId88"/>
    <p:sldId id="3188" r:id="rId89"/>
    <p:sldId id="3189" r:id="rId90"/>
    <p:sldId id="3190" r:id="rId91"/>
    <p:sldId id="3191" r:id="rId92"/>
    <p:sldId id="3192" r:id="rId93"/>
    <p:sldId id="3193" r:id="rId94"/>
    <p:sldId id="3194" r:id="rId95"/>
    <p:sldId id="3195" r:id="rId96"/>
    <p:sldId id="3196" r:id="rId97"/>
    <p:sldId id="3197" r:id="rId98"/>
    <p:sldId id="3206" r:id="rId107"/>
    <p:sldId id="2935" r:id="rId5"/>
    <p:sldId id="2950" r:id="rId7"/>
    <p:sldId id="2908" r:id="rId6"/>
    <p:sldId id="2937" r:id="rId8"/>
    <p:sldId id="2939" r:id="rId10"/>
    <p:sldId id="2962" r:id="rId35"/>
    <p:sldId id="2942" r:id="rId36"/>
    <p:sldId id="2941" r:id="rId37"/>
    <p:sldId id="2943" r:id="rId38"/>
    <p:sldId id="2944" r:id="rId39"/>
    <p:sldId id="3152" r:id="rId44"/>
    <p:sldId id="2946" r:id="rId45"/>
    <p:sldId id="2947" r:id="rId46"/>
    <p:sldId id="2948" r:id="rId47"/>
    <p:sldId id="2958" r:id="rId4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jpg"/><Relationship Id="rId4" Type="http://schemas.openxmlformats.org/officeDocument/2006/relationships/image" Target="../media/image33.png"/><Relationship Id="rId5"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image" Target="../media/image13.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svg"/><Relationship Id="rId7" Type="http://schemas.openxmlformats.org/officeDocument/2006/relationships/image" Target="../media/image7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jpg"/><Relationship Id="rId3" Type="http://schemas.openxmlformats.org/officeDocument/2006/relationships/image" Target="../media/image89.jp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jpg"/><Relationship Id="rId8" Type="http://schemas.openxmlformats.org/officeDocument/2006/relationships/image" Target="../media/image94.jpg"/><Relationship Id="rId9" Type="http://schemas.openxmlformats.org/officeDocument/2006/relationships/image" Target="../media/image95.png"/><Relationship Id="rId10" Type="http://schemas.openxmlformats.org/officeDocument/2006/relationships/image" Target="../media/image96.png"/><Relationship Id="rId11" Type="http://schemas.openxmlformats.org/officeDocument/2006/relationships/hyperlink" Target="https://youtube.com/shorts/0qI4QgrOppQ"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emf"/><Relationship Id="rId3" Type="http://schemas.openxmlformats.org/officeDocument/2006/relationships/image" Target="../media/image24.jpeg"/><Relationship Id="rId4" Type="http://schemas.openxmlformats.org/officeDocument/2006/relationships/image" Target="../media/image25.jpeg"/><Relationship Id="rId5" Type="http://schemas.openxmlformats.org/officeDocument/2006/relationships/image" Target="../media/image26.jpeg"/><Relationship Id="rId6" Type="http://schemas.openxmlformats.org/officeDocument/2006/relationships/image" Target="../media/image27.jpeg"/><Relationship Id="rId7" Type="http://schemas.openxmlformats.org/officeDocument/2006/relationships/image" Target="../media/image28.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A5C"/>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latin typeface="メイリオ"/>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latin typeface="メイリオ"/>
                <a:ea typeface="メイリオ"/>
              </a:rPr>
              <a:t>カーブス</a:t>
            </a:r>
            <a:r>
              <a:rPr lang="en-US" altLang="ja-JP" sz="1200" dirty="0">
                <a:solidFill>
                  <a:srgbClr val="1C2233"/>
                </a:solidFill>
                <a:latin typeface="メイリオ"/>
                <a:ea typeface="メイリオ"/>
              </a:rPr>
              <a:t>×1.6/</a:t>
            </a:r>
            <a:r>
              <a:rPr lang="ja-JP" altLang="en-US" sz="1200" dirty="0">
                <a:solidFill>
                  <a:srgbClr val="1C2233"/>
                </a:solidFill>
                <a:latin typeface="メイリオ"/>
                <a:ea typeface="メイリオ"/>
              </a:rPr>
              <a:t>年・ティップネス</a:t>
            </a:r>
            <a:r>
              <a:rPr lang="en-US" altLang="ja-JP" sz="1200" dirty="0">
                <a:solidFill>
                  <a:srgbClr val="1C2233"/>
                </a:solidFill>
                <a:latin typeface="メイリオ"/>
                <a:ea typeface="メイリオ"/>
              </a:rPr>
              <a:t>×1.5/</a:t>
            </a:r>
            <a:r>
              <a:rPr lang="ja-JP" altLang="en-US" sz="1200" dirty="0">
                <a:solidFill>
                  <a:srgbClr val="1C2233"/>
                </a:solidFill>
                <a:latin typeface="メイリオ"/>
                <a:ea typeface="メイリオ"/>
              </a:rPr>
              <a:t>年・フィットイージー</a:t>
            </a:r>
            <a:r>
              <a:rPr lang="en-US" altLang="ja-JP" sz="1200" dirty="0">
                <a:solidFill>
                  <a:srgbClr val="1C2233"/>
                </a:solidFill>
                <a:latin typeface="メイリオ"/>
                <a:ea typeface="メイリオ"/>
              </a:rPr>
              <a:t>×1.3/</a:t>
            </a:r>
            <a:r>
              <a:rPr lang="ja-JP" altLang="en-US" sz="1200" dirty="0">
                <a:solidFill>
                  <a:srgbClr val="1C2233"/>
                </a:solidFill>
                <a:latin typeface="メイリオ"/>
                <a:ea typeface="メイリオ"/>
              </a:rPr>
              <a:t>年</a:t>
            </a:r>
          </a:p>
          <a:p>
            <a:pPr>
              <a:spcBef>
                <a:spcPts val="200"/>
              </a:spcBef>
            </a:pPr>
            <a:r>
              <a:rPr lang="en-US" altLang="ja-JP" sz="1200" dirty="0">
                <a:solidFill>
                  <a:srgbClr val="1C2233"/>
                </a:solidFill>
                <a:latin typeface="メイリオ"/>
                <a:ea typeface="メイリオ"/>
              </a:rPr>
              <a:t>※カーブスの配信はP36・P37</a:t>
            </a:r>
            <a:endParaRPr sz="1200" b="0" dirty="0">
              <a:solidFill>
                <a:srgbClr val="1C2233"/>
              </a:solidFill>
              <a:latin typeface="メイリオ"/>
              <a:ea typeface="メイリオ"/>
            </a:endParaRPr>
          </a:p>
        </p:txBody>
      </p:sp>
      <p:sp>
        <p:nvSpPr>
          <p:cNvPr id="9" name="Rectangle 8"/>
          <p:cNvSpPr/>
          <p:nvPr/>
        </p:nvSpPr>
        <p:spPr>
          <a:xfrm>
            <a:off x="429768" y="5500096"/>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運用の参考事例｜カーブス</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友だち592万人。ジム・フィットネスでも最大級のLINE公式アカウントです。</a:t>
            </a:r>
          </a:p>
          <a:p>
            <a:r>
              <a:rPr sz="1500" b="0">
                <a:solidFill>
                  <a:srgbClr val="646C82"/>
                </a:solidFill>
                <a:latin typeface="メイリオ"/>
                <a:ea typeface="メイリオ"/>
              </a:rPr>
              <a:t>毎月「期限つきの無料体験」を、あいさつ・配信・リッチメニューで案内し続けています。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大規模でも、やっていることは「期限つきの無料体験」を毎月案内し続けるシンプルな型。</a:t>
            </a:r>
          </a:p>
        </p:txBody>
      </p:sp>
      <p:sp>
        <p:nvSpPr>
          <p:cNvPr id="8" name="TextBox 7"/>
          <p:cNvSpPr txBox="1"/>
          <p:nvPr/>
        </p:nvSpPr>
        <p:spPr>
          <a:xfrm>
            <a:off x="384048" y="616305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友だち数：page.line.me（LINEヤフー社公式ページ）2026/8/17実測・過去値は同ページの保存版（2024/8）。会員数：カーブスホールディングス 決算補足資料（2026年8月期 第3四半期・2026年5月末）。配信：弊社確認（2026年7〜10月）。</a:t>
            </a:r>
          </a:p>
        </p:txBody>
      </p:sp>
      <p:sp>
        <p:nvSpPr>
          <p:cNvPr id="9" name="Rounded Rectangle 8"/>
          <p:cNvSpPr/>
          <p:nvPr/>
        </p:nvSpPr>
        <p:spPr>
          <a:xfrm>
            <a:off x="384048"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592万人</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2026年8月の実測</a:t>
            </a:r>
            <a:endParaRPr lang="ja-JP" altLang="en-US" sz="1200" dirty="0"/>
          </a:p>
        </p:txBody>
      </p:sp>
      <p:sp>
        <p:nvSpPr>
          <p:cNvPr id="10" name="Rounded Rectangle 9"/>
          <p:cNvSpPr/>
          <p:nvPr/>
        </p:nvSpPr>
        <p:spPr>
          <a:xfrm>
            <a:off x="3511296"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2年での伸び</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×2.6</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2024年8月 約228万人 → 2026年8月</a:t>
            </a:r>
            <a:endParaRPr lang="ja-JP" altLang="en-US" sz="1200" dirty="0"/>
          </a:p>
        </p:txBody>
      </p:sp>
      <p:sp>
        <p:nvSpPr>
          <p:cNvPr id="11" name="Rounded Rectangle 10"/>
          <p:cNvSpPr/>
          <p:nvPr/>
        </p:nvSpPr>
        <p:spPr>
          <a:xfrm>
            <a:off x="6638544"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会員数に対する友だち数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約6.7倍</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会員 89.0万人（2026年5月末）に対して</a:t>
            </a:r>
            <a:endParaRPr lang="ja-JP" altLang="en-US" sz="1200" dirty="0"/>
          </a:p>
        </p:txBody>
      </p:sp>
      <p:sp>
        <p:nvSpPr>
          <p:cNvPr id="12" name="Rectangle 11"/>
          <p:cNvSpPr/>
          <p:nvPr/>
        </p:nvSpPr>
        <p:spPr>
          <a:xfrm>
            <a:off x="384048" y="2926080"/>
            <a:ext cx="9134856"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実際の配信の流れ（2026年7〜10月・弊社で確認）</a:t>
            </a:r>
            <a:endParaRPr lang="ja-JP" altLang="en-US" sz="1200" dirty="0"/>
          </a:p>
        </p:txBody>
      </p:sp>
      <p:sp>
        <p:nvSpPr>
          <p:cNvPr id="13" name="Rectangle 12"/>
          <p:cNvSpPr/>
          <p:nvPr/>
        </p:nvSpPr>
        <p:spPr>
          <a:xfrm>
            <a:off x="38404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5回無料体験の案内</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期限（7/31まで）と</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先着30名をバナーで</a:t>
            </a:r>
            <a:endParaRPr lang="ja-JP" altLang="en-US" sz="1000" dirty="0"/>
          </a:p>
        </p:txBody>
      </p:sp>
      <p:sp>
        <p:nvSpPr>
          <p:cNvPr id="14" name="Rectangle 13"/>
          <p:cNvSpPr/>
          <p:nvPr/>
        </p:nvSpPr>
        <p:spPr>
          <a:xfrm>
            <a:off x="38404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7/28｜あいさつ</a:t>
            </a:r>
            <a:endParaRPr lang="ja-JP" altLang="en-US" sz="950" dirty="0"/>
          </a:p>
        </p:txBody>
      </p:sp>
      <p:sp>
        <p:nvSpPr>
          <p:cNvPr id="15" name="Rectangle 14"/>
          <p:cNvSpPr/>
          <p:nvPr/>
        </p:nvSpPr>
        <p:spPr>
          <a:xfrm>
            <a:off x="1921764"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「半年で-6キロ」</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16" name="Rectangle 15"/>
          <p:cNvSpPr/>
          <p:nvPr/>
        </p:nvSpPr>
        <p:spPr>
          <a:xfrm>
            <a:off x="1921764"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7/28｜配信</a:t>
            </a:r>
            <a:endParaRPr lang="ja-JP" altLang="en-US" sz="950" dirty="0"/>
          </a:p>
        </p:txBody>
      </p:sp>
      <p:sp>
        <p:nvSpPr>
          <p:cNvPr id="17" name="Rectangle 16"/>
          <p:cNvSpPr/>
          <p:nvPr/>
        </p:nvSpPr>
        <p:spPr>
          <a:xfrm>
            <a:off x="3459480"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18" name="Rectangle 17"/>
          <p:cNvSpPr/>
          <p:nvPr/>
        </p:nvSpPr>
        <p:spPr>
          <a:xfrm>
            <a:off x="3459480"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7月下旬｜配信</a:t>
            </a:r>
            <a:endParaRPr lang="ja-JP" altLang="en-US" sz="950" dirty="0"/>
          </a:p>
        </p:txBody>
      </p:sp>
      <p:sp>
        <p:nvSpPr>
          <p:cNvPr id="19" name="Rectangle 18"/>
          <p:cNvSpPr/>
          <p:nvPr/>
        </p:nvSpPr>
        <p:spPr>
          <a:xfrm>
            <a:off x="4997196"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＋9月の特典</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1か月無料</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（9/30まで）</a:t>
            </a:r>
            <a:endParaRPr lang="ja-JP" altLang="en-US" sz="1000" dirty="0"/>
          </a:p>
        </p:txBody>
      </p:sp>
      <p:sp>
        <p:nvSpPr>
          <p:cNvPr id="20" name="Rectangle 19"/>
          <p:cNvSpPr/>
          <p:nvPr/>
        </p:nvSpPr>
        <p:spPr>
          <a:xfrm>
            <a:off x="4997196"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8/27｜配信</a:t>
            </a:r>
            <a:endParaRPr lang="ja-JP" altLang="en-US" sz="950" dirty="0"/>
          </a:p>
        </p:txBody>
      </p:sp>
      <p:sp>
        <p:nvSpPr>
          <p:cNvPr id="21" name="Rectangle 20"/>
          <p:cNvSpPr/>
          <p:nvPr/>
        </p:nvSpPr>
        <p:spPr>
          <a:xfrm>
            <a:off x="6534912"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PEANUTSとのコラボ</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22" name="Rectangle 21"/>
          <p:cNvSpPr/>
          <p:nvPr/>
        </p:nvSpPr>
        <p:spPr>
          <a:xfrm>
            <a:off x="6534912"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9/26｜配信</a:t>
            </a:r>
            <a:endParaRPr lang="ja-JP" altLang="en-US" sz="950" dirty="0"/>
          </a:p>
        </p:txBody>
      </p:sp>
      <p:sp>
        <p:nvSpPr>
          <p:cNvPr id="23" name="Rectangle 22"/>
          <p:cNvSpPr/>
          <p:nvPr/>
        </p:nvSpPr>
        <p:spPr>
          <a:xfrm>
            <a:off x="807262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10回無料体験</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（10/31まで）</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＋無料スタンプ配布</a:t>
            </a:r>
            <a:endParaRPr lang="ja-JP" altLang="en-US" sz="1000" dirty="0"/>
          </a:p>
        </p:txBody>
      </p:sp>
      <p:sp>
        <p:nvSpPr>
          <p:cNvPr id="24" name="Rectangle 23"/>
          <p:cNvSpPr/>
          <p:nvPr/>
        </p:nvSpPr>
        <p:spPr>
          <a:xfrm>
            <a:off x="807262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10月｜リッチメニュー</a:t>
            </a:r>
            <a:endParaRPr lang="ja-JP" altLang="en-US" sz="950" dirty="0"/>
          </a:p>
        </p:txBody>
      </p:sp>
      <p:sp>
        <p:nvSpPr>
          <p:cNvPr id="25" name="Rectangle 24"/>
          <p:cNvSpPr/>
          <p:nvPr/>
        </p:nvSpPr>
        <p:spPr>
          <a:xfrm>
            <a:off x="384048" y="5029200"/>
            <a:ext cx="9134856" cy="256032"/>
          </a:xfrm>
          <a:prstGeom prst="rect">
            <a:avLst/>
          </a:prstGeom>
          <a:noFill/>
          <a:ln>
            <a:noFill/>
          </a:ln>
        </p:spPr>
        <p:txBody>
          <a:bodyPr wrap="square" lIns="0" tIns="0" rIns="0" bIns="0" rtlCol="0" anchor="ctr">
            <a:noAutofit/>
          </a:bodyPr>
          <a:lstStyle/>
          <a:p>
            <a:pPr algn="l">
              <a:buNone/>
            </a:pPr>
            <a:r>
              <a:rPr lang="ja-JP" altLang="en-US" sz="950" b="0" dirty="0">
                <a:solidFill>
                  <a:srgbClr val="646C82"/>
                </a:solidFill>
                <a:latin typeface="メイリオ" panose="020B0604030504040204" pitchFamily="50" charset="-128"/>
                <a:ea typeface="メイリオ" panose="020B0604030504040204" pitchFamily="50" charset="-128"/>
              </a:rPr>
              <a:t>※ 特典は月ごとに替わる（7月＝5回無料／9月＝1か月無料／10月＝10回無料）。配信では毎回、期限と「見学だけでもOK」をセットにしている。</a:t>
            </a:r>
            <a:endParaRPr lang="ja-JP" altLang="en-US" sz="950" dirty="0"/>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カーブスの実際の画面</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あいさつで期限つきの無料体験を案内し、その後の配信で動画や締切前の告知を重ねています。</a:t>
            </a:r>
          </a:p>
          <a:p>
            <a:r>
              <a:rPr sz="1500" b="0">
                <a:solidFill>
                  <a:srgbClr val="646C82"/>
                </a:solidFill>
                <a:latin typeface="メイリオ"/>
                <a:ea typeface="メイリオ"/>
              </a:rPr>
              <a:t>リッチメニューにも、その月の特典を表示しています。</a:t>
            </a:r>
          </a:p>
        </p:txBody>
      </p:sp>
      <p:sp>
        <p:nvSpPr>
          <p:cNvPr id="22" name="TextBox 21"/>
          <p:cNvSpPr txBox="1"/>
          <p:nvPr/>
        </p:nvSpPr>
        <p:spPr>
          <a:xfrm>
            <a:off x="384048" y="621792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画面：カーブス LINE公式アカウント（2026年7〜10月 弊社確認）</a:t>
            </a:r>
          </a:p>
        </p:txBody>
      </p:sp>
      <p:sp>
        <p:nvSpPr>
          <p:cNvPr id="23" name="Rounded Rectangle 22"/>
          <p:cNvSpPr/>
          <p:nvPr/>
        </p:nvSpPr>
        <p:spPr>
          <a:xfrm>
            <a:off x="384048"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あいさつ（7/28）</a:t>
            </a:r>
            <a:endParaRPr lang="ja-JP" altLang="en-US" sz="1100" dirty="0"/>
          </a:p>
        </p:txBody>
      </p:sp>
      <p:pic>
        <p:nvPicPr>
          <p:cNvPr id="24" name="カーブス_いさつ（7/28）"/>
          <p:cNvPicPr>
            <a:picLocks noChangeAspect="1"/>
          </p:cNvPicPr>
          <p:nvPr/>
        </p:nvPicPr>
        <p:blipFill>
          <a:blip r:embed="rId2"/>
          <a:stretch>
            <a:fillRect/>
          </a:stretch>
        </p:blipFill>
        <p:spPr>
          <a:xfrm>
            <a:off x="570204" y="1792224"/>
            <a:ext cx="1730806" cy="3749039"/>
          </a:xfrm>
          <a:prstGeom prst="rect">
            <a:avLst/>
          </a:prstGeom>
          <a:ln w="9525">
            <a:solidFill>
              <a:srgbClr val="C6CADD"/>
            </a:solidFill>
          </a:ln>
        </p:spPr>
      </p:pic>
      <p:sp>
        <p:nvSpPr>
          <p:cNvPr id="25" name="Rectangle 24"/>
          <p:cNvSpPr/>
          <p:nvPr/>
        </p:nvSpPr>
        <p:spPr>
          <a:xfrm>
            <a:off x="384048"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友だち追加の直後に</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無料体験と期限のバナー</a:t>
            </a:r>
            <a:endParaRPr lang="ja-JP" altLang="en-US" sz="1000" dirty="0"/>
          </a:p>
        </p:txBody>
      </p:sp>
      <p:sp>
        <p:nvSpPr>
          <p:cNvPr id="26" name="Rounded Rectangle 25"/>
          <p:cNvSpPr/>
          <p:nvPr/>
        </p:nvSpPr>
        <p:spPr>
          <a:xfrm>
            <a:off x="2727960"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配信（7/28）</a:t>
            </a:r>
            <a:endParaRPr lang="ja-JP" altLang="en-US" sz="1100" dirty="0"/>
          </a:p>
        </p:txBody>
      </p:sp>
      <p:pic>
        <p:nvPicPr>
          <p:cNvPr id="27" name="カーブス_信（7/28）"/>
          <p:cNvPicPr>
            <a:picLocks noChangeAspect="1"/>
          </p:cNvPicPr>
          <p:nvPr/>
        </p:nvPicPr>
        <p:blipFill>
          <a:blip r:embed="rId3"/>
          <a:stretch>
            <a:fillRect/>
          </a:stretch>
        </p:blipFill>
        <p:spPr>
          <a:xfrm>
            <a:off x="2914116" y="1792224"/>
            <a:ext cx="1730806" cy="3749039"/>
          </a:xfrm>
          <a:prstGeom prst="rect">
            <a:avLst/>
          </a:prstGeom>
          <a:ln w="9525">
            <a:solidFill>
              <a:srgbClr val="C6CADD"/>
            </a:solidFill>
          </a:ln>
        </p:spPr>
      </p:pic>
      <p:sp>
        <p:nvSpPr>
          <p:cNvPr id="28" name="Rectangle 27"/>
          <p:cNvSpPr/>
          <p:nvPr/>
        </p:nvSpPr>
        <p:spPr>
          <a:xfrm>
            <a:off x="2727960"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29" name="Rounded Rectangle 28"/>
          <p:cNvSpPr/>
          <p:nvPr/>
        </p:nvSpPr>
        <p:spPr>
          <a:xfrm>
            <a:off x="5071872"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配信（9/26）</a:t>
            </a:r>
            <a:endParaRPr lang="ja-JP" altLang="en-US" sz="1100" dirty="0"/>
          </a:p>
        </p:txBody>
      </p:sp>
      <p:pic>
        <p:nvPicPr>
          <p:cNvPr id="30" name="カーブス_信（9/26）"/>
          <p:cNvPicPr>
            <a:picLocks noChangeAspect="1"/>
          </p:cNvPicPr>
          <p:nvPr/>
        </p:nvPicPr>
        <p:blipFill>
          <a:blip r:embed="rId4"/>
          <a:stretch>
            <a:fillRect/>
          </a:stretch>
        </p:blipFill>
        <p:spPr>
          <a:xfrm>
            <a:off x="5258028" y="1792224"/>
            <a:ext cx="1730806" cy="3749039"/>
          </a:xfrm>
          <a:prstGeom prst="rect">
            <a:avLst/>
          </a:prstGeom>
          <a:ln w="9525">
            <a:solidFill>
              <a:srgbClr val="C6CADD"/>
            </a:solidFill>
          </a:ln>
        </p:spPr>
      </p:pic>
      <p:sp>
        <p:nvSpPr>
          <p:cNvPr id="31" name="Rectangle 30"/>
          <p:cNvSpPr/>
          <p:nvPr/>
        </p:nvSpPr>
        <p:spPr>
          <a:xfrm>
            <a:off x="5071872"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動画＋カルーセル</a:t>
            </a:r>
            <a:endParaRPr lang="ja-JP" altLang="en-US" sz="1000" dirty="0"/>
          </a:p>
        </p:txBody>
      </p:sp>
      <p:sp>
        <p:nvSpPr>
          <p:cNvPr id="32" name="Rounded Rectangle 31"/>
          <p:cNvSpPr/>
          <p:nvPr/>
        </p:nvSpPr>
        <p:spPr>
          <a:xfrm>
            <a:off x="7415784"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リッチメニュー（10月）</a:t>
            </a:r>
            <a:endParaRPr lang="ja-JP" altLang="en-US" sz="1100" dirty="0"/>
          </a:p>
        </p:txBody>
      </p:sp>
      <p:pic>
        <p:nvPicPr>
          <p:cNvPr id="33" name="カーブス_ッチメニュー（10月）"/>
          <p:cNvPicPr>
            <a:picLocks noChangeAspect="1"/>
          </p:cNvPicPr>
          <p:nvPr/>
        </p:nvPicPr>
        <p:blipFill>
          <a:blip r:embed="rId5"/>
          <a:stretch>
            <a:fillRect/>
          </a:stretch>
        </p:blipFill>
        <p:spPr>
          <a:xfrm>
            <a:off x="7601940" y="1792224"/>
            <a:ext cx="1730806" cy="3749039"/>
          </a:xfrm>
          <a:prstGeom prst="rect">
            <a:avLst/>
          </a:prstGeom>
          <a:ln w="9525">
            <a:solidFill>
              <a:srgbClr val="C6CADD"/>
            </a:solidFill>
          </a:ln>
        </p:spPr>
      </p:pic>
      <p:sp>
        <p:nvSpPr>
          <p:cNvPr id="34" name="Rectangle 33"/>
          <p:cNvSpPr/>
          <p:nvPr/>
        </p:nvSpPr>
        <p:spPr>
          <a:xfrm>
            <a:off x="7415784"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その月の特典を表示</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＋無料スタンプの配布</a:t>
            </a:r>
            <a:endParaRPr lang="ja-JP" altLang="en-US" sz="1000" dirty="0"/>
          </a:p>
        </p:txBody>
      </p:sp>
    </p:spTree>
    <p:extLst>
      <p:ext uri="{BB962C8B-B14F-4D97-AF65-F5344CB8AC3E}">
        <p14:creationId xmlns:p14="http://schemas.microsoft.com/office/powerpoint/2010/main" val="153212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a:ea typeface="メイリオ"/>
                <a:cs typeface="Meiryo"/>
                <a:sym typeface="Meiryo"/>
              </a:rPr>
              <a:t>一般的な</a:t>
            </a:r>
            <a:r>
              <a:rPr lang="en-US" altLang="ja-JP" sz="1600" b="1" dirty="0">
                <a:solidFill>
                  <a:srgbClr val="FF0000"/>
                </a:solidFill>
                <a:latin typeface="メイリオ"/>
                <a:ea typeface="メイリオ"/>
                <a:cs typeface="Meiryo"/>
                <a:sym typeface="Meiryo"/>
              </a:rPr>
              <a:t>8</a:t>
            </a:r>
            <a:r>
              <a:rPr lang="ja-JP" altLang="en-US" sz="1600" b="1" dirty="0">
                <a:solidFill>
                  <a:srgbClr val="FF0000"/>
                </a:solidFill>
                <a:latin typeface="メイリオ"/>
                <a:ea typeface="メイリオ"/>
                <a:cs typeface="Meiryo"/>
                <a:sym typeface="Meiryo"/>
              </a:rPr>
              <a:t>フェーズを、ジム・フィットネス業界に置き換えます。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メイリオ"/>
                <a:ea typeface="メイリオ"/>
              </a:rPr>
              <a:t>一般的な</a:t>
            </a:r>
            <a:r>
              <a:rPr lang="en-US" altLang="ja-JP" sz="1200" dirty="0">
                <a:latin typeface="メイリオ"/>
                <a:ea typeface="メイリオ"/>
              </a:rPr>
              <a:t>8</a:t>
            </a:r>
            <a:r>
              <a:rPr lang="ja-JP" altLang="en-US" sz="1200" dirty="0">
                <a:latin typeface="メイリオ"/>
                <a:ea typeface="メイリオ"/>
              </a:rPr>
              <a:t>フェーズを、ジム・フィットネスに置き換えるとこうなります。</a:t>
            </a:r>
          </a:p>
          <a:p>
            <a:r>
              <a:rPr lang="ja-JP" altLang="en-US" sz="1200" dirty="0">
                <a:latin typeface="メイリオ"/>
                <a:ea typeface="メイリオ"/>
              </a:rPr>
              <a:t>④体験予約 → ⑤来店 → ⑦ご入会 が、この業界の</a:t>
            </a:r>
            <a:r>
              <a:rPr lang="en-US" altLang="ja-JP" sz="1200" dirty="0">
                <a:latin typeface="メイリオ"/>
                <a:ea typeface="メイリオ"/>
              </a:rPr>
              <a:t>CV</a:t>
            </a:r>
            <a:r>
              <a:rPr lang="ja-JP" altLang="en-US" sz="1200" dirty="0">
                <a:latin typeface="メイリオ"/>
                <a:ea typeface="メイリオ"/>
              </a:rPr>
              <a:t>地点です。</a:t>
            </a:r>
            <a:endParaRPr kumimoji="1" lang="ja-JP" altLang="en-US" sz="1200" dirty="0">
              <a:latin typeface="+mn-ea"/>
            </a:endParaRP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anchor="ctr"/>
          <a:lstStyle/>
          <a:p>
            <a:pPr algn="ctr">
              <a:lnSpc>
                <a:spcPts val="2455"/>
              </a:lnSpc>
            </a:pPr>
            <a:r>
              <a:rPr sz="1400">
                <a:solidFill>
                  <a:srgbClr val="343434"/>
                </a:solidFill>
                <a:latin typeface="メイリオ"/>
                <a:ea typeface="メイリオ"/>
                <a:cs typeface="メイリオ"/>
              </a:rPr>
              <a:t>検索需要は5年間ほぼ横ばい。一方で大手の店舗数は3年で1,000店超増えました。</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sz="1400">
                <a:solidFill>
                  <a:srgbClr val="343434"/>
                </a:solidFill>
                <a:latin typeface="メイリオ"/>
                <a:ea typeface="メイリオ"/>
                <a:cs typeface="メイリオ"/>
              </a:rPr>
              <a:t>→同じ人数をより多くの店で奪い合う構造です。検索広告に依存するほど条件は厳しくなります。</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18998"/>
            <a:ext cx="5512524" cy="738664"/>
          </a:xfrm>
          <a:prstGeom prst="rect">
            <a:avLst/>
          </a:prstGeom>
          <a:noFill/>
        </p:spPr>
        <p:txBody>
          <a:bodyPr wrap="square">
            <a:spAutoFit/>
          </a:bodyPr>
          <a:lstStyle/>
          <a:p>
            <a:r>
              <a:rPr lang="ja-JP" altLang="en-US" sz="14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400" b="1" i="0" dirty="0">
                <a:solidFill>
                  <a:srgbClr val="525860"/>
                </a:solidFill>
                <a:effectLst/>
                <a:latin typeface="メイリオ" panose="020B0604030504040204" pitchFamily="50" charset="-128"/>
                <a:ea typeface="メイリオ" panose="020B0604030504040204" pitchFamily="50" charset="-128"/>
              </a:rPr>
              <a:t>CPC</a:t>
            </a:r>
            <a:r>
              <a:rPr lang="ja-JP" altLang="en-US" sz="14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800" b="1" dirty="0">
                <a:latin typeface="メイリオ" panose="020B0604030504040204" pitchFamily="50" charset="-128"/>
                <a:ea typeface="メイリオ" panose="020B0604030504040204" pitchFamily="50" charset="-128"/>
              </a:rPr>
            </a:br>
            <a:endParaRPr lang="ja-JP" altLang="en-US" sz="28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200" b="1">
                <a:solidFill>
                  <a:srgbClr val="002060"/>
                </a:solidFill>
                <a:latin typeface="メイリオ"/>
                <a:ea typeface="メイリオ"/>
                <a:cs typeface="メイリオ"/>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sz="1100" b="0">
                <a:solidFill>
                  <a:srgbClr val="1A1A2E"/>
                </a:solidFill>
                <a:latin typeface="メイリオ"/>
                <a:ea typeface="メイリオ"/>
                <a:cs typeface="メイリオ"/>
              </a:rPr>
              <a:t>参入企業の増加（大手15社で3年＋1,000店超）</a:t>
            </a:r>
          </a:p>
          <a:p>
            <a:pPr algn="ctr"/>
            <a:r>
              <a:rPr sz="1100" b="0">
                <a:solidFill>
                  <a:srgbClr val="1A1A2E"/>
                </a:solidFill>
                <a:latin typeface="メイリオ"/>
                <a:ea typeface="メイリオ"/>
                <a:cs typeface="メイリオ"/>
              </a:rPr>
              <a:t>LTV前提の過剰入札</a:t>
            </a:r>
          </a:p>
          <a:p>
            <a:pPr algn="ctr"/>
            <a:r>
              <a:rPr sz="1100" b="0">
                <a:solidFill>
                  <a:srgbClr val="1A1A2E"/>
                </a:solidFill>
                <a:latin typeface="メイリオ"/>
                <a:ea typeface="メイリオ"/>
                <a:cs typeface="メイリオ"/>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050" b="1">
                <a:solidFill>
                  <a:srgbClr val="002060"/>
                </a:solidFill>
                <a:latin typeface="メイリオ"/>
                <a:ea typeface="メイリオ"/>
                <a:cs typeface="メイリオ"/>
              </a:rPr>
              <a:t>【検索需要】</a:t>
            </a:r>
          </a:p>
          <a:p>
            <a:pPr algn="ctr"/>
            <a:r>
              <a:rPr sz="1050" b="0">
                <a:solidFill>
                  <a:srgbClr val="1A1A2E"/>
                </a:solidFill>
                <a:latin typeface="メイリオ"/>
                <a:ea typeface="メイリオ"/>
                <a:cs typeface="メイリオ"/>
              </a:rPr>
              <a:t>ジム 5年で ＋2％（横ばい）</a:t>
            </a:r>
          </a:p>
          <a:p>
            <a:pPr algn="ctr"/>
            <a:r>
              <a:rPr sz="1050" b="1">
                <a:solidFill>
                  <a:srgbClr val="002060"/>
                </a:solidFill>
                <a:latin typeface="メイリオ"/>
                <a:ea typeface="メイリオ"/>
                <a:cs typeface="メイリオ"/>
              </a:rPr>
              <a:t>【大手15社の店舗数 ＋1,000店】</a:t>
            </a:r>
          </a:p>
          <a:p>
            <a:pPr algn="ctr"/>
            <a:r>
              <a:rPr sz="1050" b="0">
                <a:solidFill>
                  <a:srgbClr val="1A1A2E"/>
                </a:solidFill>
                <a:latin typeface="メイリオ"/>
                <a:ea typeface="メイリオ"/>
                <a:cs typeface="メイリオ"/>
              </a:rPr>
              <a:t>4,387店 → 5,900店</a:t>
            </a:r>
          </a:p>
          <a:p>
            <a:pPr algn="ctr"/>
            <a:r>
              <a:rPr sz="1050" b="1">
                <a:solidFill>
                  <a:srgbClr val="002060"/>
                </a:solidFill>
                <a:latin typeface="メイリオ"/>
                <a:ea typeface="メイリオ"/>
                <a:cs typeface="メイリオ"/>
              </a:rPr>
              <a:t>【年間消費額 ▲10.6%】</a:t>
            </a:r>
          </a:p>
          <a:p>
            <a:pPr algn="ctr"/>
            <a:r>
              <a:rPr sz="1050" b="0">
                <a:solidFill>
                  <a:srgbClr val="1A1A2E"/>
                </a:solidFill>
                <a:latin typeface="メイリオ"/>
                <a:ea typeface="メイリオ"/>
                <a:cs typeface="メイリオ"/>
              </a:rPr>
              <a:t>98,081円 → 87,645円</a:t>
            </a:r>
          </a:p>
          <a:p>
            <a:pPr algn="ctr"/>
            <a:r>
              <a:rPr sz="1050" b="1">
                <a:solidFill>
                  <a:srgbClr val="1A1A2E"/>
                </a:solidFill>
                <a:latin typeface="メイリオ"/>
                <a:ea typeface="メイリオ"/>
                <a:cs typeface="メイリオ"/>
              </a:rPr>
              <a:t>⇊</a:t>
            </a:r>
          </a:p>
          <a:p>
            <a:pPr algn="ctr"/>
            <a:r>
              <a:rPr sz="1050" b="1">
                <a:solidFill>
                  <a:srgbClr val="C00000"/>
                </a:solidFill>
                <a:latin typeface="メイリオ"/>
                <a:ea typeface="メイリオ"/>
                <a:cs typeface="メイリオ"/>
              </a:rPr>
              <a:t>需要は増えず、店だけ増えた</a:t>
            </a:r>
          </a:p>
        </p:txBody>
      </p:sp>
      <p:sp>
        <p:nvSpPr>
          <p:cNvPr id="93" name="TextBox 92"/>
          <p:cNvSpPr txBox="1"/>
          <p:nvPr/>
        </p:nvSpPr>
        <p:spPr>
          <a:xfrm>
            <a:off x="350000" y="6271200"/>
            <a:ext cx="9200000" cy="288000"/>
          </a:xfrm>
          <a:prstGeom prst="rect">
            <a:avLst/>
          </a:prstGeom>
          <a:noFill/>
        </p:spPr>
        <p:txBody>
          <a:bodyPr wrap="square">
            <a:spAutoFit/>
          </a:bodyPr>
          <a:lstStyle/>
          <a:p>
            <a:r>
              <a:rPr sz="900" b="0">
                <a:solidFill>
                  <a:srgbClr val="5A5A72"/>
                </a:solidFill>
                <a:latin typeface="メイリオ"/>
                <a:ea typeface="メイリオ"/>
                <a:cs typeface="メイリオ"/>
              </a:rPr>
              <a:t>※ 出典：Googleトレンド（2021/9〜2026/9）／帝国データバンク（2024年3月）。CPC推移のグラフは社内想定のイメージです。</a:t>
            </a:r>
          </a:p>
        </p:txBody>
      </p:sp>
      <p:sp>
        <p:nvSpPr>
          <p:cNvPr id="2" name="テキスト ボックス 1">
            <a:extLst>
              <a:ext uri="{FF2B5EF4-FFF2-40B4-BE49-F238E27FC236}">
                <a16:creationId xmlns:a16="http://schemas.microsoft.com/office/drawing/2014/main" id="{52F70E57-7626-3564-60E1-3AC4F4EDE16A}"/>
              </a:ext>
            </a:extLst>
          </p:cNvPr>
          <p:cNvSpPr txBox="1"/>
          <p:nvPr/>
        </p:nvSpPr>
        <p:spPr>
          <a:xfrm>
            <a:off x="4535424" y="3621957"/>
            <a:ext cx="2528316" cy="1631216"/>
          </a:xfrm>
          <a:prstGeom prst="rect">
            <a:avLst/>
          </a:prstGeom>
          <a:noFill/>
        </p:spPr>
        <p:txBody>
          <a:bodyPr wrap="square" rtlCol="0">
            <a:spAutoFit/>
          </a:bodyPr>
          <a:lstStyle/>
          <a:p>
            <a:pPr algn="ctr"/>
            <a:r>
              <a:rPr lang="en-US" altLang="ja-JP" sz="1200" dirty="0">
                <a:latin typeface="メイリオ"/>
                <a:ea typeface="メイリオ"/>
              </a:rPr>
              <a:t>【</a:t>
            </a:r>
            <a:r>
              <a:rPr lang="ja-JP" altLang="en-US" sz="1200" dirty="0">
                <a:latin typeface="メイリオ"/>
                <a:ea typeface="メイリオ"/>
              </a:rPr>
              <a:t>平均</a:t>
            </a:r>
            <a:r>
              <a:rPr lang="en-US" altLang="ja-JP" sz="1200" dirty="0">
                <a:latin typeface="メイリオ"/>
                <a:ea typeface="メイリオ"/>
              </a:rPr>
              <a:t>CPC】</a:t>
            </a:r>
          </a:p>
          <a:p>
            <a:pPr algn="ctr"/>
            <a:r>
              <a:rPr lang="en-US" altLang="ja-JP" sz="1200" dirty="0">
                <a:latin typeface="メイリオ"/>
                <a:ea typeface="メイリオ"/>
              </a:rPr>
              <a:t>246</a:t>
            </a:r>
            <a:r>
              <a:rPr lang="ja-JP" altLang="en-US" sz="1200" dirty="0">
                <a:latin typeface="メイリオ"/>
                <a:ea typeface="メイリオ"/>
              </a:rPr>
              <a:t>円（</a:t>
            </a:r>
            <a:r>
              <a:rPr lang="en-US" altLang="ja-JP" sz="1200" dirty="0">
                <a:latin typeface="メイリオ"/>
                <a:ea typeface="メイリオ"/>
              </a:rPr>
              <a:t>150〜400</a:t>
            </a:r>
            <a:r>
              <a:rPr lang="ja-JP" altLang="en-US" sz="1200" dirty="0">
                <a:latin typeface="メイリオ"/>
                <a:ea typeface="メイリオ"/>
              </a:rPr>
              <a:t>円）</a:t>
            </a:r>
          </a:p>
          <a:p>
            <a:pPr algn="ctr"/>
            <a:r>
              <a:rPr lang="en-US" altLang="ja-JP" sz="1200" dirty="0">
                <a:latin typeface="メイリオ"/>
                <a:ea typeface="メイリオ"/>
              </a:rPr>
              <a:t>【</a:t>
            </a:r>
            <a:r>
              <a:rPr lang="ja-JP" altLang="en-US" sz="1200" dirty="0">
                <a:latin typeface="メイリオ"/>
                <a:ea typeface="メイリオ"/>
              </a:rPr>
              <a:t>最も高いアカウント</a:t>
            </a:r>
            <a:r>
              <a:rPr lang="en-US" altLang="ja-JP" sz="1200" dirty="0">
                <a:latin typeface="メイリオ"/>
                <a:ea typeface="メイリオ"/>
              </a:rPr>
              <a:t>】</a:t>
            </a:r>
          </a:p>
          <a:p>
            <a:pPr algn="ctr"/>
            <a:r>
              <a:rPr lang="ja-JP" altLang="en-US" sz="1200" dirty="0">
                <a:latin typeface="メイリオ"/>
                <a:ea typeface="メイリオ"/>
              </a:rPr>
              <a:t>最も安いアカウントの</a:t>
            </a:r>
            <a:r>
              <a:rPr lang="en-US" altLang="ja-JP" sz="1200" dirty="0">
                <a:latin typeface="メイリオ"/>
                <a:ea typeface="メイリオ"/>
              </a:rPr>
              <a:t>2.7</a:t>
            </a:r>
            <a:r>
              <a:rPr lang="ja-JP" altLang="en-US" sz="1200" dirty="0">
                <a:latin typeface="メイリオ"/>
                <a:ea typeface="メイリオ"/>
              </a:rPr>
              <a:t>倍</a:t>
            </a:r>
          </a:p>
          <a:p>
            <a:pPr algn="ctr"/>
            <a:r>
              <a:rPr lang="en-US" altLang="ja-JP" sz="1200" dirty="0">
                <a:latin typeface="メイリオ"/>
                <a:ea typeface="メイリオ"/>
              </a:rPr>
              <a:t>【</a:t>
            </a:r>
            <a:r>
              <a:rPr lang="ja-JP" altLang="en-US" sz="1200" dirty="0">
                <a:latin typeface="メイリオ"/>
                <a:ea typeface="メイリオ"/>
              </a:rPr>
              <a:t>ご入会</a:t>
            </a:r>
            <a:r>
              <a:rPr lang="en-US" altLang="ja-JP" sz="1200" dirty="0">
                <a:latin typeface="メイリオ"/>
                <a:ea typeface="メイリオ"/>
              </a:rPr>
              <a:t>1</a:t>
            </a:r>
            <a:r>
              <a:rPr lang="ja-JP" altLang="en-US" sz="1200" dirty="0">
                <a:latin typeface="メイリオ"/>
                <a:ea typeface="メイリオ"/>
              </a:rPr>
              <a:t>件あたり</a:t>
            </a:r>
            <a:r>
              <a:rPr lang="en-US" altLang="ja-JP" sz="1200" dirty="0">
                <a:latin typeface="メイリオ"/>
                <a:ea typeface="メイリオ"/>
              </a:rPr>
              <a:t>】</a:t>
            </a:r>
          </a:p>
          <a:p>
            <a:pPr algn="ctr"/>
            <a:r>
              <a:rPr lang="ja-JP" altLang="en-US" sz="1200" dirty="0">
                <a:latin typeface="メイリオ"/>
                <a:ea typeface="メイリオ"/>
              </a:rPr>
              <a:t>約</a:t>
            </a:r>
            <a:r>
              <a:rPr lang="en-US" altLang="ja-JP" sz="1200" dirty="0">
                <a:latin typeface="メイリオ"/>
                <a:ea typeface="メイリオ"/>
              </a:rPr>
              <a:t>24,600</a:t>
            </a:r>
            <a:r>
              <a:rPr lang="ja-JP" altLang="en-US" sz="1200" dirty="0">
                <a:latin typeface="メイリオ"/>
                <a:ea typeface="メイリオ"/>
              </a:rPr>
              <a:t>円</a:t>
            </a:r>
          </a:p>
          <a:p>
            <a:pPr algn="ctr"/>
            <a:r>
              <a:rPr lang="ja-JP" altLang="en-US" sz="1400" dirty="0">
                <a:latin typeface="メイリオ"/>
                <a:ea typeface="メイリオ"/>
              </a:rPr>
              <a:t>⇊</a:t>
            </a:r>
          </a:p>
          <a:p>
            <a:r>
              <a:rPr lang="en-US" altLang="ja-JP" sz="1400" dirty="0">
                <a:latin typeface="メイリオ"/>
                <a:ea typeface="メイリオ"/>
              </a:rPr>
              <a:t>1</a:t>
            </a:r>
            <a:r>
              <a:rPr lang="ja-JP" altLang="en-US" sz="1400" dirty="0">
                <a:latin typeface="メイリオ"/>
                <a:ea typeface="メイリオ"/>
              </a:rPr>
              <a:t>人を獲るのに</a:t>
            </a:r>
            <a:r>
              <a:rPr lang="en-US" altLang="ja-JP" sz="1400" dirty="0">
                <a:latin typeface="メイリオ"/>
                <a:ea typeface="メイリオ"/>
              </a:rPr>
              <a:t>2</a:t>
            </a:r>
            <a:r>
              <a:rPr lang="ja-JP" altLang="en-US" sz="1400" dirty="0">
                <a:latin typeface="メイリオ"/>
                <a:ea typeface="メイリオ"/>
              </a:rPr>
              <a:t>万円超かかる</a:t>
            </a:r>
            <a:endParaRPr kumimoji="1" lang="ja-JP" altLang="en-US" sz="1400" dirty="0"/>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13139"/>
            <a:ext cx="9134856" cy="461665"/>
          </a:xfrm>
          <a:prstGeom prst="rect">
            <a:avLst/>
          </a:prstGeom>
          <a:noFill/>
        </p:spPr>
        <p:txBody>
          <a:bodyPr wrap="square" lIns="0" tIns="0" rIns="0" bIns="0">
            <a:spAutoFit/>
          </a:bodyPr>
          <a:lstStyle/>
          <a:p>
            <a:r>
              <a:rPr sz="1500" b="0">
                <a:solidFill>
                  <a:srgbClr val="646C82"/>
                </a:solidFill>
                <a:latin typeface="メイリオ"/>
                <a:ea typeface="メイリオ"/>
                <a:cs typeface="メイリオ"/>
              </a:rPr>
              <a:t>「ジム」「フィットネス」は1月、「筋トレ」「筋肉」は6月に山が立つ。</a:t>
            </a:r>
            <a:endParaRPr lang="en-US" sz="1500" b="0" dirty="0">
              <a:solidFill>
                <a:srgbClr val="646C82"/>
              </a:solidFill>
              <a:latin typeface="メイリオ"/>
              <a:ea typeface="メイリオ"/>
            </a:endParaRPr>
          </a:p>
          <a:p>
            <a:r>
              <a:rPr sz="1500" b="0">
                <a:solidFill>
                  <a:srgbClr val="646C82"/>
                </a:solidFill>
                <a:latin typeface="メイリオ"/>
                <a:ea typeface="メイリオ"/>
                <a:cs typeface="メイリオ"/>
              </a:rPr>
              <a:t>振れ幅は小さく、需要は通年ある。</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dirty="0">
                <a:solidFill>
                  <a:srgbClr val="1F2A5C"/>
                </a:solidFill>
                <a:latin typeface="メイリオ"/>
                <a:ea typeface="メイリオ"/>
                <a:cs typeface="メイリオ"/>
              </a:rPr>
              <a:t>① 山は年2回ある</a:t>
            </a:r>
            <a:endParaRPr lang="en-US" sz="1400" b="1" dirty="0">
              <a:solidFill>
                <a:srgbClr val="1F2A5C"/>
              </a:solidFill>
              <a:latin typeface="メイリオ"/>
              <a:ea typeface="メイリオ"/>
            </a:endParaRPr>
          </a:p>
          <a:p>
            <a:pPr algn="ctr"/>
            <a:r>
              <a:rPr sz="1400" b="1" dirty="0">
                <a:solidFill>
                  <a:srgbClr val="1F2A5C"/>
                </a:solidFill>
                <a:latin typeface="メイリオ"/>
                <a:ea typeface="メイリオ"/>
                <a:cs typeface="メイリオ"/>
              </a:rPr>
              <a:t>入口のKW（ジム・フィットネス）は1月、行動のKW（筋トレ・筋肉）は6月。半年ズレる。</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dirty="0">
                <a:solidFill>
                  <a:srgbClr val="1F2A5C"/>
                </a:solidFill>
                <a:latin typeface="メイリオ"/>
                <a:ea typeface="メイリオ"/>
                <a:cs typeface="メイリオ"/>
              </a:rPr>
              <a:t>② 谷は11〜12月</a:t>
            </a:r>
            <a:endParaRPr lang="en-US" sz="1400" b="1" dirty="0">
              <a:solidFill>
                <a:srgbClr val="1F2A5C"/>
              </a:solidFill>
              <a:latin typeface="メイリオ"/>
              <a:ea typeface="メイリオ"/>
            </a:endParaRPr>
          </a:p>
          <a:p>
            <a:pPr algn="ctr"/>
            <a:r>
              <a:rPr sz="1400" b="1" dirty="0">
                <a:solidFill>
                  <a:srgbClr val="1F2A5C"/>
                </a:solidFill>
                <a:latin typeface="メイリオ"/>
                <a:ea typeface="メイリオ"/>
                <a:cs typeface="メイリオ"/>
              </a:rPr>
              <a:t>全KWが年間最低。特に筋トレは12月に77.9。ここが仕込み期</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a:solidFill>
                  <a:srgbClr val="1F2A5C"/>
                </a:solidFill>
                <a:latin typeface="メイリオ"/>
                <a:ea typeface="メイリオ"/>
                <a:cs typeface="メイリオ"/>
              </a:rPr>
              <a:t>③ 振れ幅は17ptだけ</a:t>
            </a:r>
            <a:endParaRPr lang="en-US" sz="1400" b="1" dirty="0">
              <a:solidFill>
                <a:srgbClr val="1F2A5C"/>
              </a:solidFill>
              <a:latin typeface="メイリオ"/>
              <a:ea typeface="メイリオ"/>
            </a:endParaRPr>
          </a:p>
          <a:p>
            <a:pPr algn="ctr"/>
            <a:r>
              <a:rPr sz="1400" b="1">
                <a:solidFill>
                  <a:srgbClr val="1F2A5C"/>
                </a:solidFill>
                <a:latin typeface="メイリオ"/>
                <a:ea typeface="メイリオ"/>
                <a:cs typeface="メイリオ"/>
              </a:rPr>
              <a:t>ジムの山と谷の差はわずか。1月にすべてが決まる業界ではない。</a:t>
            </a:r>
          </a:p>
        </p:txBody>
      </p:sp>
      <p:sp>
        <p:nvSpPr>
          <p:cNvPr id="8" name="Rectangle 7"/>
          <p:cNvSpPr/>
          <p:nvPr/>
        </p:nvSpPr>
        <p:spPr>
          <a:xfrm>
            <a:off x="438912" y="5606854"/>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4068" y="5642601"/>
            <a:ext cx="8814816" cy="430887"/>
          </a:xfrm>
          <a:prstGeom prst="rect">
            <a:avLst/>
          </a:prstGeom>
          <a:noFill/>
        </p:spPr>
        <p:txBody>
          <a:bodyPr wrap="square" lIns="0" tIns="0" rIns="0" bIns="0">
            <a:spAutoFit/>
          </a:bodyPr>
          <a:lstStyle/>
          <a:p>
            <a:r>
              <a:rPr lang="ja-JP" altLang="en-US" sz="1400" b="0" dirty="0">
                <a:solidFill>
                  <a:srgbClr val="1C2233"/>
                </a:solidFill>
                <a:latin typeface="メイリオ"/>
                <a:ea typeface="メイリオ"/>
                <a:cs typeface="メイリオ"/>
              </a:rPr>
              <a:t>需要が極端に下がるという月はない。→毎月配信をする。</a:t>
            </a:r>
            <a:endParaRPr lang="en-US" altLang="ja-JP" sz="1400" b="0" dirty="0">
              <a:solidFill>
                <a:srgbClr val="1C2233"/>
              </a:solidFill>
              <a:latin typeface="メイリオ"/>
              <a:ea typeface="メイリオ"/>
              <a:cs typeface="メイリオ"/>
            </a:endParaRPr>
          </a:p>
          <a:p>
            <a:r>
              <a:rPr lang="ja-JP" altLang="en-US" sz="1400" b="0" dirty="0">
                <a:solidFill>
                  <a:srgbClr val="1C2233"/>
                </a:solidFill>
                <a:latin typeface="メイリオ"/>
                <a:ea typeface="メイリオ"/>
                <a:cs typeface="メイリオ"/>
              </a:rPr>
              <a:t>ただし、月によって送る内容を吟味する。</a:t>
            </a:r>
            <a:endParaRPr sz="1400" b="0" dirty="0">
              <a:solidFill>
                <a:srgbClr val="1C2233"/>
              </a:solidFill>
              <a:latin typeface="メイリオ"/>
              <a:ea typeface="メイリオ"/>
              <a:cs typeface="メイリオ"/>
            </a:endParaRP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 出典：Googleトレンド（日本・ウェブ検索・2021/9〜2026/9取得）。各年の年平均＝100として2022〜2025を平均。ポケモンSV発売期（2022/11〜2023/1）は「ジム」に別語義が混ざるため除外。</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a:solidFill>
                  <a:srgbClr val="646C82"/>
                </a:solidFill>
                <a:latin typeface="メイリオ"/>
                <a:ea typeface="メイリオ"/>
                <a:cs typeface="メイリオ"/>
              </a:rPr>
              <a:t>運動需要は減っていない。ジムは5年で＋2％、筋トレは−10％にとどまる。</a:t>
            </a:r>
          </a:p>
          <a:p>
            <a:r>
              <a:rPr sz="1200" b="1">
                <a:solidFill>
                  <a:srgbClr val="646C82"/>
                </a:solidFill>
                <a:latin typeface="メイリオ"/>
                <a:ea typeface="メイリオ"/>
                <a:cs typeface="メイリオ"/>
              </a:rPr>
              <a:t>半減したのは「ダイエット」という言葉のほうだった。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cs typeface="メイリオ"/>
              </a:rPr>
              <a:t>■ ジム × フィットネス × 筋トレ × 筋肉（5年の伸び率）</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cs typeface="メイリオ"/>
              </a:rPr>
              <a:t>・ジム＋2％／フィットネス−6％／筋トレ−10％／筋肉−14％＝いずれも横ばい圏。市場が細っているのではない</a:t>
            </a:r>
            <a:endParaRPr sz="1200" b="0" dirty="0">
              <a:solidFill>
                <a:srgbClr val="1C2233"/>
              </a:solidFill>
              <a:latin typeface="メイリオ"/>
              <a:ea typeface="メイリオ"/>
            </a:endParaRPr>
          </a:p>
          <a:p>
            <a:r>
              <a:rPr sz="1200" b="0">
                <a:solidFill>
                  <a:srgbClr val="1C2233"/>
                </a:solidFill>
                <a:latin typeface="メイリオ"/>
                <a:ea typeface="メイリオ"/>
                <a:cs typeface="メイリオ"/>
              </a:rPr>
              <a:t>・減ったのは「やり方を調べる」検索。残ったのは「場所を探す」検索（＝ジムだけが増えている）</a:t>
            </a:r>
          </a:p>
          <a:p>
            <a:r>
              <a:rPr sz="1200" b="0">
                <a:solidFill>
                  <a:srgbClr val="1C2233"/>
                </a:solidFill>
                <a:latin typeface="メイリオ"/>
                <a:ea typeface="メイリオ"/>
                <a:cs typeface="メイリオ"/>
              </a:rPr>
              <a:t>・移行先は医療（GLP-1系）が実データで確認できる。SNS・動画・生成AIへの分散は推測</a:t>
            </a:r>
          </a:p>
          <a:p>
            <a:r>
              <a:rPr sz="1200" b="0">
                <a:solidFill>
                  <a:srgbClr val="1C2233"/>
                </a:solidFill>
                <a:latin typeface="メイリオ"/>
                <a:ea typeface="メイリオ"/>
                <a:cs typeface="メイリオ"/>
              </a:rPr>
              <a:t>・24時間ジム系の一般KWは低位安定＝実需はエリア検索（地名×ジム）と指名検索（ブランド名）に分かれている</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cs typeface="メイリオ"/>
              </a:rPr>
              <a:t>※ 出典：Googleトレンド（日本・ウェブ検索・2021/9〜2026/9取得）。各年2〜9月の平均を2022年＝100として正規化。数値は相対値で、別々に取得したグラフ間の比較は不可。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1F2A5C"/>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9" name="Rectangle 8"/>
          <p:cNvSpPr/>
          <p:nvPr/>
        </p:nvSpPr>
        <p:spPr>
          <a:xfrm>
            <a:off x="429768" y="5648379"/>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6096" y="531754"/>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440436" y="887456"/>
            <a:ext cx="9465564" cy="403710"/>
          </a:xfrm>
          <a:prstGeom prst="rect">
            <a:avLst/>
          </a:prstGeom>
          <a:noFill/>
          <a:ln>
            <a:noFill/>
          </a:ln>
        </p:spPr>
        <p:txBody>
          <a:bodyPr spcFirstLastPara="1" wrap="square" lIns="91425" tIns="45700" rIns="91425" bIns="45700" anchor="ctr" anchorCtr="0">
            <a:noAutofit/>
          </a:bodyPr>
          <a:lstStyle/>
          <a:p>
            <a:pPr marL="0" marR="0" lvl="0" indent="0" rtl="0">
              <a:lnSpc>
                <a:spcPct val="115000"/>
              </a:lnSpc>
              <a:spcBef>
                <a:spcPts val="0"/>
              </a:spcBef>
              <a:spcAft>
                <a:spcPts val="0"/>
              </a:spcAft>
              <a:buNone/>
            </a:pPr>
            <a:r>
              <a:rPr sz="1200" b="1" dirty="0">
                <a:solidFill>
                  <a:srgbClr val="1A1A2E"/>
                </a:solidFill>
                <a:latin typeface="メイリオ"/>
                <a:ea typeface="メイリオ"/>
                <a:cs typeface="メイリオ"/>
              </a:rPr>
              <a:t>検索前後15日は4つに分かれる。手段さがし → </a:t>
            </a:r>
            <a:r>
              <a:rPr sz="1200" b="1" dirty="0" err="1">
                <a:solidFill>
                  <a:srgbClr val="1A1A2E"/>
                </a:solidFill>
                <a:latin typeface="メイリオ"/>
                <a:ea typeface="メイリオ"/>
                <a:cs typeface="メイリオ"/>
              </a:rPr>
              <a:t>比較と相場</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通い始めの</a:t>
            </a:r>
            <a:r>
              <a:rPr lang="ja-JP" altLang="en-US" sz="1200" b="1" dirty="0">
                <a:solidFill>
                  <a:srgbClr val="1A1A2E"/>
                </a:solidFill>
                <a:latin typeface="メイリオ"/>
                <a:ea typeface="メイリオ"/>
                <a:cs typeface="メイリオ"/>
              </a:rPr>
              <a:t>イメージ</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効果への不安</a:t>
            </a:r>
            <a:r>
              <a:rPr sz="1200" b="1" dirty="0">
                <a:solidFill>
                  <a:srgbClr val="1A1A2E"/>
                </a:solidFill>
                <a:latin typeface="メイリオ"/>
                <a:ea typeface="メイリオ"/>
                <a:cs typeface="メイリオ"/>
              </a:rPr>
              <a:t>。</a:t>
            </a:r>
            <a:endParaRPr sz="1200" dirty="0">
              <a:solidFill>
                <a:srgbClr val="3F3F3F"/>
              </a:solidFill>
              <a:latin typeface="メイリオ"/>
              <a:ea typeface="メイリオ"/>
              <a:cs typeface="Meiryo"/>
              <a:sym typeface="Meiryo"/>
            </a:endParaRPr>
          </a:p>
          <a:p>
            <a:pPr>
              <a:lnSpc>
                <a:spcPct val="115000"/>
              </a:lnSpc>
            </a:pPr>
            <a:r>
              <a:rPr sz="1200" b="1" dirty="0" err="1">
                <a:solidFill>
                  <a:srgbClr val="1A1A2E"/>
                </a:solidFill>
                <a:latin typeface="メイリオ"/>
                <a:ea typeface="メイリオ"/>
                <a:cs typeface="メイリオ"/>
              </a:rPr>
              <a:t>ジムの競合は、他のジムだけではない</a:t>
            </a:r>
            <a:r>
              <a:rPr sz="1200" b="1" dirty="0">
                <a:solidFill>
                  <a:srgbClr val="1A1A2E"/>
                </a:solidFill>
                <a:latin typeface="メイリオ"/>
                <a:ea typeface="メイリオ"/>
                <a:cs typeface="メイリオ"/>
              </a:rPr>
              <a:t>。</a:t>
            </a:r>
            <a:r>
              <a:rPr lang="ja-JP" altLang="en-US" sz="1200" b="1" dirty="0">
                <a:solidFill>
                  <a:srgbClr val="1A1A2E"/>
                </a:solidFill>
                <a:latin typeface="メイリオ"/>
                <a:ea typeface="メイリオ"/>
                <a:cs typeface="メイリオ"/>
              </a:rPr>
              <a:t>他の自分磨きの手段も混在</a:t>
            </a:r>
            <a:endParaRPr sz="1200" b="1" dirty="0">
              <a:solidFill>
                <a:srgbClr val="1A1A2E"/>
              </a:solidFill>
              <a:latin typeface="メイリオ"/>
              <a:ea typeface="メイリオ"/>
              <a:cs typeface="メイリオ"/>
            </a:endParaRPr>
          </a:p>
        </p:txBody>
      </p:sp>
      <p:cxnSp>
        <p:nvCxnSpPr>
          <p:cNvPr id="474" name="Google Shape;474;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362853"/>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193897" y="1718362"/>
            <a:ext cx="9151271" cy="374495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3" name="Rectangle 492"/>
          <p:cNvSpPr/>
          <p:nvPr/>
        </p:nvSpPr>
        <p:spPr>
          <a:xfrm>
            <a:off x="431292" y="560832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29899"/>
          </a:xfrm>
          <a:prstGeom prst="rect">
            <a:avLst/>
          </a:prstGeom>
          <a:noFill/>
        </p:spPr>
        <p:txBody>
          <a:bodyPr wrap="square">
            <a:spAutoFit/>
          </a:bodyPr>
          <a:lstStyle/>
          <a:p>
            <a:pPr>
              <a:lnSpc>
                <a:spcPct val="125000"/>
              </a:lnSpc>
            </a:pPr>
            <a:r>
              <a:rPr lang="ja-JP" altLang="en-US" sz="1300" b="1" dirty="0">
                <a:solidFill>
                  <a:srgbClr val="C00000"/>
                </a:solidFill>
                <a:latin typeface="メイリオ"/>
                <a:ea typeface="メイリオ"/>
                <a:cs typeface="メイリオ"/>
              </a:rPr>
              <a:t>人は入る前から「入った後」を想像している。同時に、効かなかったときの代案を探す。</a:t>
            </a:r>
            <a:endParaRPr sz="1300" b="1" dirty="0">
              <a:solidFill>
                <a:srgbClr val="C00000"/>
              </a:solidFill>
              <a:latin typeface="メイリオ"/>
              <a:ea typeface="メイリオ"/>
              <a:cs typeface="メイリオ"/>
            </a:endParaRPr>
          </a:p>
        </p:txBody>
      </p:sp>
      <p:pic>
        <p:nvPicPr>
          <p:cNvPr id="495" name="Picture 494" descr="Journey_パーソナルジム_直近1年間(20240722-20250727).png"/>
          <p:cNvPicPr>
            <a:picLocks noChangeAspect="1"/>
          </p:cNvPicPr>
          <p:nvPr/>
        </p:nvPicPr>
        <p:blipFill>
          <a:blip r:embed="rId3"/>
          <a:stretch>
            <a:fillRect/>
          </a:stretch>
        </p:blipFill>
        <p:spPr>
          <a:xfrm>
            <a:off x="193897" y="1716132"/>
            <a:ext cx="5327009" cy="3744951"/>
          </a:xfrm>
          <a:prstGeom prst="rect">
            <a:avLst/>
          </a:prstGeom>
        </p:spPr>
      </p:pic>
      <p:sp>
        <p:nvSpPr>
          <p:cNvPr id="496" name="TextBox 495"/>
          <p:cNvSpPr txBox="1"/>
          <p:nvPr/>
        </p:nvSpPr>
        <p:spPr>
          <a:xfrm>
            <a:off x="5641675" y="1779721"/>
            <a:ext cx="3631492" cy="3422604"/>
          </a:xfrm>
          <a:prstGeom prst="rect">
            <a:avLst/>
          </a:prstGeom>
          <a:noFill/>
        </p:spPr>
        <p:txBody>
          <a:bodyPr wrap="square" lIns="18000" tIns="0" rIns="18000" bIns="0">
            <a:spAutoFit/>
          </a:bodyPr>
          <a:lstStyle/>
          <a:p>
            <a:pPr>
              <a:lnSpc>
                <a:spcPct val="125000"/>
              </a:lnSpc>
            </a:pPr>
            <a:r>
              <a:rPr sz="1300" b="1" dirty="0">
                <a:solidFill>
                  <a:srgbClr val="9550C6"/>
                </a:solidFill>
                <a:latin typeface="メイリオ"/>
                <a:ea typeface="メイリオ"/>
                <a:cs typeface="メイリオ"/>
              </a:rPr>
              <a:t>① </a:t>
            </a:r>
            <a:r>
              <a:rPr sz="1300" b="1" dirty="0" err="1">
                <a:solidFill>
                  <a:srgbClr val="9550C6"/>
                </a:solidFill>
                <a:latin typeface="メイリオ"/>
                <a:ea typeface="メイリオ"/>
                <a:cs typeface="メイリオ"/>
              </a:rPr>
              <a:t>なりたい自分への手段さがし</a:t>
            </a:r>
            <a:endParaRPr sz="1400" b="0" dirty="0">
              <a:solidFill>
                <a:srgbClr val="1C2233"/>
              </a:solidFill>
              <a:latin typeface="メイリオ"/>
              <a:ea typeface="メイリオ"/>
            </a:endParaRPr>
          </a:p>
          <a:p>
            <a:pPr>
              <a:lnSpc>
                <a:spcPct val="125000"/>
              </a:lnSpc>
            </a:pPr>
            <a:r>
              <a:rPr sz="1150" b="0" dirty="0">
                <a:solidFill>
                  <a:srgbClr val="1A1A2E"/>
                </a:solidFill>
                <a:latin typeface="メイリオ"/>
                <a:ea typeface="メイリオ"/>
                <a:cs typeface="メイリオ"/>
              </a:rPr>
              <a:t>医療脱毛・エステ・脂肪吸引・婚活アプリ／1ヶ月で10キロ痩せる</a:t>
            </a: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4285F4"/>
                </a:solidFill>
                <a:latin typeface="メイリオ"/>
                <a:ea typeface="メイリオ"/>
                <a:cs typeface="メイリオ"/>
              </a:rPr>
              <a:t>② </a:t>
            </a:r>
            <a:r>
              <a:rPr sz="1300" b="1" dirty="0" err="1">
                <a:solidFill>
                  <a:srgbClr val="4285F4"/>
                </a:solidFill>
                <a:latin typeface="メイリオ"/>
                <a:ea typeface="メイリオ"/>
                <a:cs typeface="メイリオ"/>
              </a:rPr>
              <a:t>ジムの比較と相場</a:t>
            </a:r>
            <a:endParaRPr sz="1300" b="1" dirty="0">
              <a:solidFill>
                <a:srgbClr val="4285F4"/>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パーソナルトレーニング・ライザップ・パーソナルジム</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相場</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34A853"/>
                </a:solidFill>
                <a:latin typeface="メイリオ"/>
                <a:ea typeface="メイリオ"/>
                <a:cs typeface="メイリオ"/>
              </a:rPr>
              <a:t>③ </a:t>
            </a:r>
            <a:r>
              <a:rPr sz="1300" b="1" dirty="0" err="1">
                <a:solidFill>
                  <a:srgbClr val="34A853"/>
                </a:solidFill>
                <a:latin typeface="メイリオ"/>
                <a:ea typeface="メイリオ"/>
                <a:cs typeface="メイリオ"/>
              </a:rPr>
              <a:t>通い始めてからの</a:t>
            </a:r>
            <a:r>
              <a:rPr lang="ja-JP" altLang="en-US" sz="1300" b="1" dirty="0">
                <a:solidFill>
                  <a:srgbClr val="34A853"/>
                </a:solidFill>
                <a:latin typeface="メイリオ"/>
                <a:ea typeface="メイリオ"/>
                <a:cs typeface="メイリオ"/>
              </a:rPr>
              <a:t>イメージ</a:t>
            </a:r>
            <a:endParaRPr lang="en-US" altLang="ja-JP" sz="1300" b="1" dirty="0">
              <a:solidFill>
                <a:srgbClr val="34A853"/>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ベンチプレス</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換算・マイプロテイン・ジムウェア・ジム用シューズ</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EA4335"/>
                </a:solidFill>
                <a:latin typeface="メイリオ"/>
                <a:ea typeface="メイリオ"/>
                <a:cs typeface="メイリオ"/>
              </a:rPr>
              <a:t>④ </a:t>
            </a:r>
            <a:r>
              <a:rPr sz="1300" b="1" dirty="0" err="1">
                <a:solidFill>
                  <a:srgbClr val="EA4335"/>
                </a:solidFill>
                <a:latin typeface="メイリオ"/>
                <a:ea typeface="メイリオ"/>
                <a:cs typeface="メイリオ"/>
              </a:rPr>
              <a:t>効果への不安と、別手段への</a:t>
            </a:r>
            <a:r>
              <a:rPr lang="ja-JP" altLang="en-US" sz="1300" b="1" dirty="0">
                <a:solidFill>
                  <a:srgbClr val="EA4335"/>
                </a:solidFill>
                <a:latin typeface="メイリオ"/>
                <a:ea typeface="メイリオ"/>
                <a:cs typeface="メイリオ"/>
              </a:rPr>
              <a:t>迷い</a:t>
            </a:r>
            <a:endParaRPr lang="en-US" altLang="ja-JP" sz="1300" b="1" dirty="0">
              <a:solidFill>
                <a:srgbClr val="EA4335"/>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筋トレ</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効果が出るまで・脂肪冷却</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効果ない・医療ダイエット</a:t>
            </a:r>
            <a:endParaRPr sz="1150" b="0" dirty="0">
              <a:solidFill>
                <a:srgbClr val="1A1A2E"/>
              </a:solidFill>
              <a:latin typeface="メイリオ"/>
              <a:ea typeface="メイリオ"/>
              <a:cs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646331"/>
          </a:xfrm>
          <a:prstGeom prst="rect">
            <a:avLst/>
          </a:prstGeom>
          <a:noFill/>
        </p:spPr>
        <p:txBody>
          <a:bodyPr wrap="square" lIns="18000" tIns="0" rIns="18000" bIns="0">
            <a:spAutoFit/>
          </a:bodyPr>
          <a:lstStyle/>
          <a:p>
            <a:r>
              <a:rPr lang="ja-JP" altLang="en-US" sz="1400" b="1" dirty="0">
                <a:solidFill>
                  <a:srgbClr val="646C82"/>
                </a:solidFill>
                <a:latin typeface="メイリオ"/>
                <a:ea typeface="メイリオ"/>
              </a:rPr>
              <a:t>「メディカルダイエット」の前後検索より</a:t>
            </a:r>
            <a:br>
              <a:rPr lang="en-US" sz="1400" b="1" dirty="0">
                <a:solidFill>
                  <a:srgbClr val="646C82"/>
                </a:solidFill>
                <a:latin typeface="メイリオ"/>
                <a:ea typeface="メイリオ"/>
              </a:rPr>
            </a:br>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403486"/>
            <a:ext cx="5400000" cy="3454834"/>
          </a:xfrm>
          <a:prstGeom prst="rect">
            <a:avLst/>
          </a:prstGeom>
        </p:spPr>
      </p:pic>
      <p:sp>
        <p:nvSpPr>
          <p:cNvPr id="5" name="TextBox 4"/>
          <p:cNvSpPr txBox="1"/>
          <p:nvPr/>
        </p:nvSpPr>
        <p:spPr>
          <a:xfrm>
            <a:off x="5956335" y="1729081"/>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128919"/>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カーブスの型を分解すると、3つの仕組み</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やっていることは3つ。どれも同じ型を、毎月くり返しています。</a:t>
            </a:r>
          </a:p>
          <a:p>
            <a:r>
              <a:rPr sz="1500" b="0">
                <a:solidFill>
                  <a:srgbClr val="646C82"/>
                </a:solidFill>
                <a:latin typeface="メイリオ"/>
                <a:ea typeface="メイリオ"/>
              </a:rPr>
              <a:t>この型を、このあとのステップ配信（P40）とあいさつ（P44〜P45）に取り入れます。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仕掛けを増やすより、同じ型を毎月くり返す。だから配信を止めずに続けられる。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弊社確認（カーブス LINE公式アカウント・2026年7〜10月の配信）。実際の画面はP37。</a:t>
            </a:r>
          </a:p>
        </p:txBody>
      </p:sp>
      <p:sp>
        <p:nvSpPr>
          <p:cNvPr id="9" name="Rounded Rectangle 8"/>
          <p:cNvSpPr/>
          <p:nvPr/>
        </p:nvSpPr>
        <p:spPr>
          <a:xfrm>
            <a:off x="384048"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① あいさつで、無料体験と期限を出す</a:t>
            </a:r>
            <a:endParaRPr lang="ja-JP" altLang="en-US" sz="1200" dirty="0"/>
          </a:p>
        </p:txBody>
      </p:sp>
      <p:sp>
        <p:nvSpPr>
          <p:cNvPr id="10" name="Rounded Rectangle 9"/>
          <p:cNvSpPr/>
          <p:nvPr/>
        </p:nvSpPr>
        <p:spPr>
          <a:xfrm>
            <a:off x="384048"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友だち追加の直後に、期限つきの無料体験をバナー画像で案内する。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「お急ぎください」と添えて、</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今すぐ始めたい人を逃さない。</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あいさつは、文章とバナー画像だけ</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（動画は使っていない）。</a:t>
            </a:r>
            <a:endParaRPr lang="ja-JP" altLang="en-US" sz="1150" dirty="0"/>
          </a:p>
        </p:txBody>
      </p:sp>
      <p:sp>
        <p:nvSpPr>
          <p:cNvPr id="11" name="Rounded Rectangle 10"/>
          <p:cNvSpPr/>
          <p:nvPr/>
        </p:nvSpPr>
        <p:spPr>
          <a:xfrm>
            <a:off x="384048"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 あいさつ</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5回無料体験・7/31まで・各店先着30名</a:t>
            </a:r>
            <a:endParaRPr lang="ja-JP" altLang="en-US" sz="1050" dirty="0"/>
          </a:p>
        </p:txBody>
      </p:sp>
      <p:sp>
        <p:nvSpPr>
          <p:cNvPr id="12" name="Rounded Rectangle 11"/>
          <p:cNvSpPr/>
          <p:nvPr/>
        </p:nvSpPr>
        <p:spPr>
          <a:xfrm>
            <a:off x="3511296"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② 配信で、動画を使うこともある</a:t>
            </a:r>
            <a:endParaRPr lang="ja-JP" altLang="en-US" sz="1200" dirty="0"/>
          </a:p>
        </p:txBody>
      </p:sp>
      <p:sp>
        <p:nvSpPr>
          <p:cNvPr id="13" name="Rounded Rectangle 12"/>
          <p:cNvSpPr/>
          <p:nvPr/>
        </p:nvSpPr>
        <p:spPr>
          <a:xfrm>
            <a:off x="3511296"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会員の声（「半年で-6キロ」など）の</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動画で、「自分にもできそう」と感じてもらう。</a:t>
            </a:r>
            <a:endParaRPr lang="ja-JP" altLang="en-US" sz="1150" dirty="0"/>
          </a:p>
          <a:p>
            <a:pPr algn="l">
              <a:lnSpc>
                <a:spcPct val="105000"/>
              </a:lnSpc>
              <a:spcAft>
                <a:spcPts val="400"/>
              </a:spcAft>
              <a:buNone/>
            </a:pPr>
            <a:r>
              <a:rPr lang="ja-JP" altLang="en-US" sz="1000" b="0" dirty="0">
                <a:solidFill>
                  <a:srgbClr val="646C82"/>
                </a:solidFill>
                <a:latin typeface="メイリオ" panose="020B0604030504040204" pitchFamily="50" charset="-128"/>
                <a:ea typeface="メイリオ" panose="020B0604030504040204" pitchFamily="50" charset="-128"/>
              </a:rPr>
              <a:t>※全員に送っているか、対象を絞って送っているかは、弊社の確認範囲では判別できない。</a:t>
            </a:r>
            <a:endParaRPr lang="ja-JP" altLang="en-US" sz="1150" dirty="0"/>
          </a:p>
        </p:txBody>
      </p:sp>
      <p:sp>
        <p:nvSpPr>
          <p:cNvPr id="14" name="Rounded Rectangle 13"/>
          <p:cNvSpPr/>
          <p:nvPr/>
        </p:nvSpPr>
        <p:spPr>
          <a:xfrm>
            <a:off x="3511296"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7/28・8/27：会員の声の動画</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7月下旬・9/26：締切前の告知にも動画</a:t>
            </a:r>
            <a:endParaRPr lang="ja-JP" altLang="en-US" sz="1050" dirty="0"/>
          </a:p>
        </p:txBody>
      </p:sp>
      <p:sp>
        <p:nvSpPr>
          <p:cNvPr id="15" name="Rounded Rectangle 14"/>
          <p:cNvSpPr/>
          <p:nvPr/>
        </p:nvSpPr>
        <p:spPr>
          <a:xfrm>
            <a:off x="6638544"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③ 特典を毎月替えて、締切前に告知</a:t>
            </a:r>
            <a:endParaRPr lang="ja-JP" altLang="en-US" sz="1200" dirty="0"/>
          </a:p>
        </p:txBody>
      </p:sp>
      <p:sp>
        <p:nvSpPr>
          <p:cNvPr id="16" name="Rounded Rectangle 15"/>
          <p:cNvSpPr/>
          <p:nvPr/>
        </p:nvSpPr>
        <p:spPr>
          <a:xfrm>
            <a:off x="6638544"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その月の特典に「期限・見学だけでもOK」をセットにして、締切の数日前に告知する。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文面は、毎月同じ型を使っている。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リッチメニューにも、その月の特典を</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表示。</a:t>
            </a:r>
            <a:endParaRPr lang="ja-JP" altLang="en-US" sz="1150" dirty="0"/>
          </a:p>
        </p:txBody>
      </p:sp>
      <p:sp>
        <p:nvSpPr>
          <p:cNvPr id="17" name="Rounded Rectangle 16"/>
          <p:cNvSpPr/>
          <p:nvPr/>
        </p:nvSpPr>
        <p:spPr>
          <a:xfrm>
            <a:off x="6638544"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7月＝5回無料／9月＝1か月無料</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10月＝10回無料（10/31まで）</a:t>
            </a:r>
            <a:endParaRPr lang="ja-JP" altLang="en-US" sz="1050" dirty="0"/>
          </a:p>
        </p:txBody>
      </p:sp>
    </p:spTree>
    <p:extLst>
      <p:ext uri="{BB962C8B-B14F-4D97-AF65-F5344CB8AC3E}">
        <p14:creationId xmlns:p14="http://schemas.microsoft.com/office/powerpoint/2010/main" val="1256539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rgbClr val="1F2A5C">
              <a:alpha val="12000"/>
            </a:srgb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続かなかった過去がある</a:t>
            </a:r>
          </a:p>
          <a:p>
            <a:r>
              <a:rPr sz="1200">
                <a:solidFill>
                  <a:srgbClr val="1F2A5C"/>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匿名で聞けるなら動ける</a:t>
            </a:r>
          </a:p>
          <a:p>
            <a:r>
              <a:rPr sz="1200">
                <a:solidFill>
                  <a:srgbClr val="1F2A5C"/>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「迫りません」の一言で</a:t>
            </a:r>
          </a:p>
          <a:p>
            <a:r>
              <a:rPr sz="1200">
                <a:solidFill>
                  <a:srgbClr val="1F2A5C"/>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「見てもらえている感」が</a:t>
            </a:r>
          </a:p>
          <a:p>
            <a:r>
              <a:rPr sz="1200">
                <a:solidFill>
                  <a:srgbClr val="1F2A5C"/>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友だち追加から15日でアクティブ率が急落する。その14日間に、答えるだけの診断を4回挟み、</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反応を切らさずに体験予約へつなげる。</a:t>
            </a:r>
            <a:endParaRPr lang="en-US" sz="1400" b="0" dirty="0">
              <a:solidFill>
                <a:srgbClr val="646C82"/>
              </a:solidFill>
              <a:latin typeface="メイリオ"/>
              <a:ea typeface="メイリオ"/>
            </a:endParaRP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420624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365760">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384048">
                <a:tc>
                  <a:txBody>
                    <a:bodyPr/>
                    <a:lstStyle/>
                    <a:p>
                      <a:pPr algn="l"/>
                      <a:r>
                        <a:rPr sz="950" b="0">
                          <a:solidFill>
                            <a:srgbClr val="1C2233"/>
                          </a:solidFill>
                          <a:latin typeface="メイリオ"/>
                          <a:ea typeface="メイリオ"/>
                        </a:rPr>
                        <a:t>Day0</a:t>
                      </a:r>
                    </a:p>
                  </a:txBody>
                  <a:tcPr>
                    <a:solidFill>
                      <a:srgbClr val="FFFFFF"/>
                    </a:solidFill>
                  </a:tcPr>
                </a:tc>
                <a:tc>
                  <a:txBody>
                    <a:bodyPr/>
                    <a:lstStyle/>
                    <a:p>
                      <a:pPr algn="ctr"/>
                      <a:r>
                        <a:rPr sz="950" b="0">
                          <a:solidFill>
                            <a:srgbClr val="1C2233"/>
                          </a:solidFill>
                          <a:latin typeface="メイリオ"/>
                          <a:ea typeface="メイリオ"/>
                        </a:rPr>
                        <a:t>体験の案内</a:t>
                      </a:r>
                      <a:br>
                        <a:rPr sz="950" b="0">
                          <a:solidFill>
                            <a:srgbClr val="1C2233"/>
                          </a:solidFill>
                          <a:latin typeface="メイリオ"/>
                          <a:ea typeface="メイリオ"/>
                        </a:rPr>
                      </a:br>
                      <a:r>
                        <a:rPr sz="950" b="0">
                          <a:solidFill>
                            <a:srgbClr val="1C2233"/>
                          </a:solidFill>
                          <a:latin typeface="メイリオ"/>
                          <a:ea typeface="メイリオ"/>
                        </a:rPr>
                        <a:t>＋属性取得</a:t>
                      </a:r>
                    </a:p>
                  </a:txBody>
                  <a:tcPr>
                    <a:solidFill>
                      <a:srgbClr val="FFFFFF"/>
                    </a:solidFill>
                  </a:tcPr>
                </a:tc>
                <a:tc>
                  <a:txBody>
                    <a:bodyPr/>
                    <a:lstStyle/>
                    <a:p>
                      <a:pPr algn="ctr"/>
                      <a:r>
                        <a:rPr sz="950" b="0">
                          <a:solidFill>
                            <a:srgbClr val="1C2233"/>
                          </a:solidFill>
                          <a:latin typeface="メイリオ"/>
                          <a:ea typeface="メイリオ"/>
                        </a:rPr>
                        <a:t>あいさつ＋無料体験（期限つき）のバナー＋</a:t>
                      </a:r>
                      <a:br>
                        <a:rPr sz="950" b="0">
                          <a:solidFill>
                            <a:srgbClr val="1C2233"/>
                          </a:solidFill>
                          <a:latin typeface="メイリオ"/>
                          <a:ea typeface="メイリオ"/>
                        </a:rPr>
                      </a:br>
                      <a:r>
                        <a:rPr sz="950" b="0">
                          <a:solidFill>
                            <a:srgbClr val="1C2233"/>
                          </a:solidFill>
                          <a:latin typeface="メイリオ"/>
                          <a:ea typeface="メイリオ"/>
                        </a:rPr>
                        <a:t>30秒 体づくりタイプ診断</a:t>
                      </a:r>
                    </a:p>
                  </a:txBody>
                  <a:tcPr>
                    <a:solidFill>
                      <a:srgbClr val="FFFFFF"/>
                    </a:solidFill>
                  </a:tcPr>
                </a:tc>
                <a:tc>
                  <a:txBody>
                    <a:bodyPr/>
                    <a:lstStyle/>
                    <a:p>
                      <a:pPr algn="ctr"/>
                      <a:r>
                        <a:rPr sz="950" b="0">
                          <a:solidFill>
                            <a:srgbClr val="1C2233"/>
                          </a:solidFill>
                          <a:latin typeface="メイリオ"/>
                          <a:ea typeface="メイリオ"/>
                        </a:rPr>
                        <a:t>体験予約／</a:t>
                      </a:r>
                      <a:br>
                        <a:rPr sz="950" b="0">
                          <a:solidFill>
                            <a:srgbClr val="1C2233"/>
                          </a:solidFill>
                          <a:latin typeface="メイリオ"/>
                          <a:ea typeface="メイリオ"/>
                        </a:rPr>
                      </a:br>
                      <a:r>
                        <a:rPr sz="950" b="0">
                          <a:solidFill>
                            <a:srgbClr val="1C2233"/>
                          </a:solidFill>
                          <a:latin typeface="メイリオ"/>
                          <a:ea typeface="メイリオ"/>
                        </a:rPr>
                        <a:t>診断回答</a:t>
                      </a:r>
                    </a:p>
                  </a:txBody>
                  <a:tcPr>
                    <a:solidFill>
                      <a:srgbClr val="FFFFFF"/>
                    </a:solidFill>
                  </a:tcPr>
                </a:tc>
                <a:tc>
                  <a:txBody>
                    <a:bodyPr/>
                    <a:lstStyle/>
                    <a:p>
                      <a:pPr algn="ctr"/>
                      <a:r>
                        <a:rPr sz="950" b="0">
                          <a:solidFill>
                            <a:srgbClr val="1C2233"/>
                          </a:solidFill>
                          <a:latin typeface="メイリオ"/>
                          <a:ea typeface="メイリオ"/>
                        </a:rPr>
                        <a:t>【〇月〇日まで】無料体験のご案内</a:t>
                      </a:r>
                    </a:p>
                  </a:txBody>
                  <a:tcPr>
                    <a:solidFill>
                      <a:srgbClr val="FFFFFF"/>
                    </a:solidFill>
                  </a:tcPr>
                </a:tc>
                <a:extLst>
                  <a:ext uri="{0D108BD9-81ED-4DB2-BD59-A6C34878D82A}">
                    <a16:rowId xmlns:a16="http://schemas.microsoft.com/office/drawing/2014/main" val="10001"/>
                  </a:ext>
                </a:extLst>
              </a:tr>
              <a:tr h="384048">
                <a:tc>
                  <a:txBody>
                    <a:bodyPr/>
                    <a:lstStyle/>
                    <a:p>
                      <a:pPr algn="l"/>
                      <a:r>
                        <a:rPr sz="950" b="0">
                          <a:solidFill>
                            <a:srgbClr val="1C2233"/>
                          </a:solidFill>
                          <a:latin typeface="メイリオ"/>
                          <a:ea typeface="メイリオ"/>
                        </a:rPr>
                        <a:t>Day2</a:t>
                      </a:r>
                    </a:p>
                  </a:txBody>
                  <a:tcPr>
                    <a:solidFill>
                      <a:srgbClr val="EFF1F7"/>
                    </a:solidFill>
                  </a:tcPr>
                </a:tc>
                <a:tc>
                  <a:txBody>
                    <a:bodyPr/>
                    <a:lstStyle/>
                    <a:p>
                      <a:pPr algn="ctr"/>
                      <a:r>
                        <a:rPr sz="950" b="0">
                          <a:solidFill>
                            <a:srgbClr val="1C2233"/>
                          </a:solidFill>
                          <a:latin typeface="メイリオ"/>
                          <a:ea typeface="メイリオ"/>
                        </a:rPr>
                        <a:t>初心者の不安</a:t>
                      </a:r>
                    </a:p>
                  </a:txBody>
                  <a:tcPr>
                    <a:solidFill>
                      <a:srgbClr val="EFF1F7"/>
                    </a:solidFill>
                  </a:tcPr>
                </a:tc>
                <a:tc>
                  <a:txBody>
                    <a:bodyPr/>
                    <a:lstStyle/>
                    <a:p>
                      <a:pPr algn="ctr"/>
                      <a:r>
                        <a:rPr sz="950" b="0">
                          <a:solidFill>
                            <a:srgbClr val="1C2233"/>
                          </a:solidFill>
                          <a:latin typeface="メイリオ"/>
                          <a:ea typeface="メイリオ"/>
                        </a:rPr>
                        <a:t>タイプ別「最初の1ヶ月はこれだけ」</a:t>
                      </a:r>
                      <a:br>
                        <a:rPr sz="950" b="0">
                          <a:solidFill>
                            <a:srgbClr val="1C2233"/>
                          </a:solidFill>
                          <a:latin typeface="メイリオ"/>
                          <a:ea typeface="メイリオ"/>
                        </a:rPr>
                      </a:br>
                      <a:r>
                        <a:rPr sz="950" b="0">
                          <a:solidFill>
                            <a:srgbClr val="1C2233"/>
                          </a:solidFill>
                          <a:latin typeface="メイリオ"/>
                          <a:ea typeface="メイリオ"/>
                        </a:rPr>
                        <a:t>＋マシンの使い方動画</a:t>
                      </a:r>
                    </a:p>
                  </a:txBody>
                  <a:tcPr>
                    <a:solidFill>
                      <a:srgbClr val="EFF1F7"/>
                    </a:solidFill>
                  </a:tcPr>
                </a:tc>
                <a:tc>
                  <a:txBody>
                    <a:bodyPr/>
                    <a:lstStyle/>
                    <a:p>
                      <a:pPr algn="ctr"/>
                      <a:r>
                        <a:rPr sz="950" b="0">
                          <a:solidFill>
                            <a:srgbClr val="1C2233"/>
                          </a:solidFill>
                          <a:latin typeface="メイリオ"/>
                          <a:ea typeface="メイリオ"/>
                        </a:rPr>
                        <a:t>動画視聴</a:t>
                      </a:r>
                    </a:p>
                  </a:txBody>
                  <a:tcPr>
                    <a:solidFill>
                      <a:srgbClr val="EFF1F7"/>
                    </a:solidFill>
                  </a:tcPr>
                </a:tc>
                <a:tc>
                  <a:txBody>
                    <a:bodyPr/>
                    <a:lstStyle/>
                    <a:p>
                      <a:pPr algn="ctr"/>
                      <a:r>
                        <a:rPr sz="9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384048">
                <a:tc>
                  <a:txBody>
                    <a:bodyPr/>
                    <a:lstStyle/>
                    <a:p>
                      <a:pPr algn="l"/>
                      <a:r>
                        <a:rPr sz="950" b="0">
                          <a:solidFill>
                            <a:srgbClr val="1C2233"/>
                          </a:solidFill>
                          <a:latin typeface="メイリオ"/>
                          <a:ea typeface="メイリオ"/>
                        </a:rPr>
                        <a:t>Day3</a:t>
                      </a:r>
                    </a:p>
                  </a:txBody>
                  <a:tcPr>
                    <a:solidFill>
                      <a:srgbClr val="FFFFFF"/>
                    </a:solidFill>
                  </a:tcPr>
                </a:tc>
                <a:tc>
                  <a:txBody>
                    <a:bodyPr/>
                    <a:lstStyle/>
                    <a:p>
                      <a:pPr algn="ctr"/>
                      <a:r>
                        <a:rPr sz="950" b="0">
                          <a:solidFill>
                            <a:srgbClr val="1C2233"/>
                          </a:solidFill>
                          <a:latin typeface="メイリオ"/>
                          <a:ea typeface="メイリオ"/>
                        </a:rPr>
                        <a:t>続け方を見つける</a:t>
                      </a:r>
                    </a:p>
                  </a:txBody>
                  <a:tcPr>
                    <a:solidFill>
                      <a:srgbClr val="FFFFFF"/>
                    </a:solidFill>
                  </a:tcPr>
                </a:tc>
                <a:tc>
                  <a:txBody>
                    <a:bodyPr/>
                    <a:lstStyle/>
                    <a:p>
                      <a:pPr algn="ctr"/>
                      <a:r>
                        <a:rPr sz="950" b="0">
                          <a:solidFill>
                            <a:srgbClr val="1C2233"/>
                          </a:solidFill>
                          <a:latin typeface="メイリオ"/>
                          <a:ea typeface="メイリオ"/>
                        </a:rPr>
                        <a:t>性格タイプ診断（3問・4タイプ）→</a:t>
                      </a:r>
                      <a:br>
                        <a:rPr sz="950" b="0">
                          <a:solidFill>
                            <a:srgbClr val="1C2233"/>
                          </a:solidFill>
                          <a:latin typeface="メイリオ"/>
                          <a:ea typeface="メイリオ"/>
                        </a:rPr>
                      </a:br>
                      <a:r>
                        <a:rPr sz="950" b="0">
                          <a:solidFill>
                            <a:srgbClr val="1C2233"/>
                          </a:solidFill>
                          <a:latin typeface="メイリオ"/>
                          <a:ea typeface="メイリオ"/>
                        </a:rPr>
                        <a:t>計画派・気分派・仲間派・記録派ごとの通い方</a:t>
                      </a:r>
                    </a:p>
                  </a:txBody>
                  <a:tcPr>
                    <a:solidFill>
                      <a:srgbClr val="FFFFFF"/>
                    </a:solidFill>
                  </a:tcPr>
                </a:tc>
                <a:tc>
                  <a:txBody>
                    <a:bodyPr/>
                    <a:lstStyle/>
                    <a:p>
                      <a:pPr algn="ctr"/>
                      <a:r>
                        <a:rPr sz="950" b="0">
                          <a:solidFill>
                            <a:srgbClr val="1C2233"/>
                          </a:solidFill>
                          <a:latin typeface="メイリオ"/>
                          <a:ea typeface="メイリオ"/>
                        </a:rPr>
                        <a:t>性格タイプ診断</a:t>
                      </a:r>
                    </a:p>
                  </a:txBody>
                  <a:tcPr>
                    <a:solidFill>
                      <a:srgbClr val="FFFFFF"/>
                    </a:solidFill>
                  </a:tcPr>
                </a:tc>
                <a:tc>
                  <a:txBody>
                    <a:bodyPr/>
                    <a:lstStyle/>
                    <a:p>
                      <a:pPr algn="ctr"/>
                      <a:r>
                        <a:rPr sz="950" b="0">
                          <a:solidFill>
                            <a:srgbClr val="1C2233"/>
                          </a:solidFill>
                          <a:latin typeface="メイリオ"/>
                          <a:ea typeface="メイリオ"/>
                        </a:rPr>
                        <a:t>【3問】あなたに合うジムの通い方は？</a:t>
                      </a:r>
                    </a:p>
                  </a:txBody>
                  <a:tcPr>
                    <a:solidFill>
                      <a:srgbClr val="FFFFFF"/>
                    </a:solidFill>
                  </a:tcPr>
                </a:tc>
                <a:extLst>
                  <a:ext uri="{0D108BD9-81ED-4DB2-BD59-A6C34878D82A}">
                    <a16:rowId xmlns:a16="http://schemas.microsoft.com/office/drawing/2014/main" val="10003"/>
                  </a:ext>
                </a:extLst>
              </a:tr>
              <a:tr h="384048">
                <a:tc>
                  <a:txBody>
                    <a:bodyPr/>
                    <a:lstStyle/>
                    <a:p>
                      <a:pPr algn="l"/>
                      <a:r>
                        <a:rPr sz="950" b="0">
                          <a:solidFill>
                            <a:srgbClr val="1C2233"/>
                          </a:solidFill>
                          <a:latin typeface="メイリオ"/>
                          <a:ea typeface="メイリオ"/>
                        </a:rPr>
                        <a:t>Day4</a:t>
                      </a:r>
                    </a:p>
                  </a:txBody>
                  <a:tcPr>
                    <a:solidFill>
                      <a:srgbClr val="EFF1F7"/>
                    </a:solidFill>
                  </a:tcPr>
                </a:tc>
                <a:tc>
                  <a:txBody>
                    <a:bodyPr/>
                    <a:lstStyle/>
                    <a:p>
                      <a:pPr algn="ctr"/>
                      <a:r>
                        <a:rPr sz="950" b="0">
                          <a:solidFill>
                            <a:srgbClr val="1C2233"/>
                          </a:solidFill>
                          <a:latin typeface="メイリオ"/>
                          <a:ea typeface="メイリオ"/>
                        </a:rPr>
                        <a:t>費用の納得</a:t>
                      </a:r>
                    </a:p>
                  </a:txBody>
                  <a:tcPr>
                    <a:solidFill>
                      <a:srgbClr val="EFF1F7"/>
                    </a:solidFill>
                  </a:tcPr>
                </a:tc>
                <a:tc>
                  <a:txBody>
                    <a:bodyPr/>
                    <a:lstStyle/>
                    <a:p>
                      <a:pPr algn="ctr"/>
                      <a:r>
                        <a:rPr sz="950" b="0">
                          <a:solidFill>
                            <a:srgbClr val="1C2233"/>
                          </a:solidFill>
                          <a:latin typeface="メイリオ"/>
                          <a:ea typeface="メイリオ"/>
                        </a:rPr>
                        <a:t>1分料金シミュレーター（週2回なら1回いくら？）</a:t>
                      </a:r>
                    </a:p>
                  </a:txBody>
                  <a:tcPr>
                    <a:solidFill>
                      <a:srgbClr val="EFF1F7"/>
                    </a:solidFill>
                  </a:tcPr>
                </a:tc>
                <a:tc>
                  <a:txBody>
                    <a:bodyPr/>
                    <a:lstStyle/>
                    <a:p>
                      <a:pPr algn="ctr"/>
                      <a:r>
                        <a:rPr sz="950" b="0">
                          <a:solidFill>
                            <a:srgbClr val="1C2233"/>
                          </a:solidFill>
                          <a:latin typeface="メイリオ"/>
                          <a:ea typeface="メイリオ"/>
                        </a:rPr>
                        <a:t>料金診断</a:t>
                      </a:r>
                    </a:p>
                  </a:txBody>
                  <a:tcPr>
                    <a:solidFill>
                      <a:srgbClr val="EFF1F7"/>
                    </a:solidFill>
                  </a:tcPr>
                </a:tc>
                <a:tc>
                  <a:txBody>
                    <a:bodyPr/>
                    <a:lstStyle/>
                    <a:p>
                      <a:pPr algn="ctr"/>
                      <a:r>
                        <a:rPr sz="950" b="0">
                          <a:solidFill>
                            <a:srgbClr val="1C2233"/>
                          </a:solidFill>
                          <a:latin typeface="メイリオ"/>
                          <a:ea typeface="メイリオ"/>
                        </a:rPr>
                        <a:t>【1回いくら？】週2回なら…</a:t>
                      </a:r>
                    </a:p>
                  </a:txBody>
                  <a:tcPr>
                    <a:solidFill>
                      <a:srgbClr val="EFF1F7"/>
                    </a:solidFill>
                  </a:tcPr>
                </a:tc>
                <a:extLst>
                  <a:ext uri="{0D108BD9-81ED-4DB2-BD59-A6C34878D82A}">
                    <a16:rowId xmlns:a16="http://schemas.microsoft.com/office/drawing/2014/main" val="10004"/>
                  </a:ext>
                </a:extLst>
              </a:tr>
              <a:tr h="384048">
                <a:tc>
                  <a:txBody>
                    <a:bodyPr/>
                    <a:lstStyle/>
                    <a:p>
                      <a:pPr algn="l"/>
                      <a:r>
                        <a:rPr sz="950" b="0">
                          <a:solidFill>
                            <a:srgbClr val="1C2233"/>
                          </a:solidFill>
                          <a:latin typeface="メイリオ"/>
                          <a:ea typeface="メイリオ"/>
                        </a:rPr>
                        <a:t>Day5</a:t>
                      </a:r>
                    </a:p>
                  </a:txBody>
                  <a:tcPr>
                    <a:solidFill>
                      <a:srgbClr val="FFFFFF"/>
                    </a:solidFill>
                  </a:tcPr>
                </a:tc>
                <a:tc>
                  <a:txBody>
                    <a:bodyPr/>
                    <a:lstStyle/>
                    <a:p>
                      <a:pPr algn="ctr"/>
                      <a:r>
                        <a:rPr sz="950" b="0">
                          <a:solidFill>
                            <a:srgbClr val="1C2233"/>
                          </a:solidFill>
                          <a:latin typeface="メイリオ"/>
                          <a:ea typeface="メイリオ"/>
                        </a:rPr>
                        <a:t>目的別の深掘り</a:t>
                      </a:r>
                    </a:p>
                  </a:txBody>
                  <a:tcPr>
                    <a:solidFill>
                      <a:srgbClr val="FFFFFF"/>
                    </a:solidFill>
                  </a:tcPr>
                </a:tc>
                <a:tc>
                  <a:txBody>
                    <a:bodyPr/>
                    <a:lstStyle/>
                    <a:p>
                      <a:pPr algn="ctr"/>
                      <a:r>
                        <a:rPr sz="950" b="0">
                          <a:solidFill>
                            <a:srgbClr val="1C2233"/>
                          </a:solidFill>
                          <a:latin typeface="メイリオ"/>
                          <a:ea typeface="メイリオ"/>
                        </a:rPr>
                        <a:t>ダイエットタイプ診断（4問：食事・間食・睡眠・運動）</a:t>
                      </a:r>
                      <a:br>
                        <a:rPr sz="950" b="0">
                          <a:solidFill>
                            <a:srgbClr val="1C2233"/>
                          </a:solidFill>
                          <a:latin typeface="メイリオ"/>
                          <a:ea typeface="メイリオ"/>
                        </a:rPr>
                      </a:br>
                      <a:r>
                        <a:rPr sz="950" b="0">
                          <a:solidFill>
                            <a:srgbClr val="1C2233"/>
                          </a:solidFill>
                          <a:latin typeface="メイリオ"/>
                          <a:ea typeface="メイリオ"/>
                        </a:rPr>
                        <a:t>→ タイプ別「ジムでやること＋家での1つ」</a:t>
                      </a:r>
                    </a:p>
                  </a:txBody>
                  <a:tcPr>
                    <a:solidFill>
                      <a:srgbClr val="FFFFFF"/>
                    </a:solidFill>
                  </a:tcPr>
                </a:tc>
                <a:tc>
                  <a:txBody>
                    <a:bodyPr/>
                    <a:lstStyle/>
                    <a:p>
                      <a:pPr algn="ctr"/>
                      <a:r>
                        <a:rPr sz="950" b="0">
                          <a:solidFill>
                            <a:srgbClr val="1C2233"/>
                          </a:solidFill>
                          <a:latin typeface="メイリオ"/>
                          <a:ea typeface="メイリオ"/>
                        </a:rPr>
                        <a:t>ダイエット</a:t>
                      </a:r>
                      <a:br>
                        <a:rPr sz="950" b="0">
                          <a:solidFill>
                            <a:srgbClr val="1C2233"/>
                          </a:solidFill>
                          <a:latin typeface="メイリオ"/>
                          <a:ea typeface="メイリオ"/>
                        </a:rPr>
                      </a:br>
                      <a:r>
                        <a:rPr sz="950" b="0">
                          <a:solidFill>
                            <a:srgbClr val="1C2233"/>
                          </a:solidFill>
                          <a:latin typeface="メイリオ"/>
                          <a:ea typeface="メイリオ"/>
                        </a:rPr>
                        <a:t>タイプ診断</a:t>
                      </a:r>
                    </a:p>
                  </a:txBody>
                  <a:tcPr>
                    <a:solidFill>
                      <a:srgbClr val="FFFFFF"/>
                    </a:solidFill>
                  </a:tcPr>
                </a:tc>
                <a:tc>
                  <a:txBody>
                    <a:bodyPr/>
                    <a:lstStyle/>
                    <a:p>
                      <a:pPr algn="ctr"/>
                      <a:r>
                        <a:rPr sz="950" b="0">
                          <a:solidFill>
                            <a:srgbClr val="1C2233"/>
                          </a:solidFill>
                          <a:latin typeface="メイリオ"/>
                          <a:ea typeface="メイリオ"/>
                        </a:rPr>
                        <a:t>【4問】あなたのダイエットタイプは？</a:t>
                      </a:r>
                    </a:p>
                  </a:txBody>
                  <a:tcPr>
                    <a:solidFill>
                      <a:srgbClr val="FFFFFF"/>
                    </a:solidFill>
                  </a:tcPr>
                </a:tc>
                <a:extLst>
                  <a:ext uri="{0D108BD9-81ED-4DB2-BD59-A6C34878D82A}">
                    <a16:rowId xmlns:a16="http://schemas.microsoft.com/office/drawing/2014/main" val="10005"/>
                  </a:ext>
                </a:extLst>
              </a:tr>
              <a:tr h="384048">
                <a:tc>
                  <a:txBody>
                    <a:bodyPr/>
                    <a:lstStyle/>
                    <a:p>
                      <a:pPr algn="l"/>
                      <a:r>
                        <a:rPr sz="950" b="0">
                          <a:solidFill>
                            <a:srgbClr val="1C2233"/>
                          </a:solidFill>
                          <a:latin typeface="メイリオ"/>
                          <a:ea typeface="メイリオ"/>
                        </a:rPr>
                        <a:t>Day6</a:t>
                      </a:r>
                    </a:p>
                  </a:txBody>
                  <a:tcPr>
                    <a:solidFill>
                      <a:srgbClr val="EFF1F7"/>
                    </a:solidFill>
                  </a:tcPr>
                </a:tc>
                <a:tc>
                  <a:txBody>
                    <a:bodyPr/>
                    <a:lstStyle/>
                    <a:p>
                      <a:pPr algn="ctr"/>
                      <a:r>
                        <a:rPr sz="950" b="0">
                          <a:solidFill>
                            <a:srgbClr val="1C2233"/>
                          </a:solidFill>
                          <a:latin typeface="メイリオ"/>
                          <a:ea typeface="メイリオ"/>
                        </a:rPr>
                        <a:t>2回目のオファー</a:t>
                      </a:r>
                    </a:p>
                  </a:txBody>
                  <a:tcPr>
                    <a:solidFill>
                      <a:srgbClr val="EFF1F7"/>
                    </a:solidFill>
                  </a:tcPr>
                </a:tc>
                <a:tc>
                  <a:txBody>
                    <a:bodyPr/>
                    <a:lstStyle/>
                    <a:p>
                      <a:pPr algn="ctr"/>
                      <a:r>
                        <a:rPr sz="950" b="0">
                          <a:solidFill>
                            <a:srgbClr val="1C2233"/>
                          </a:solidFill>
                          <a:latin typeface="メイリオ"/>
                          <a:ea typeface="メイリオ"/>
                        </a:rPr>
                        <a:t>無料体験のご案内＋</a:t>
                      </a:r>
                      <a:br>
                        <a:rPr sz="950" b="0">
                          <a:solidFill>
                            <a:srgbClr val="1C2233"/>
                          </a:solidFill>
                          <a:latin typeface="メイリオ"/>
                          <a:ea typeface="メイリオ"/>
                        </a:rPr>
                      </a:br>
                      <a:r>
                        <a:rPr sz="950" b="0">
                          <a:solidFill>
                            <a:srgbClr val="1C2233"/>
                          </a:solidFill>
                          <a:latin typeface="メイリオ"/>
                          <a:ea typeface="メイリオ"/>
                        </a:rPr>
                        <a:t>「見学だけでもOK・入会を迫りません」</a:t>
                      </a:r>
                    </a:p>
                  </a:txBody>
                  <a:tcPr>
                    <a:solidFill>
                      <a:srgbClr val="EFF1F7"/>
                    </a:solidFill>
                  </a:tcPr>
                </a:tc>
                <a:tc>
                  <a:txBody>
                    <a:bodyPr/>
                    <a:lstStyle/>
                    <a:p>
                      <a:pPr algn="ctr"/>
                      <a:r>
                        <a:rPr sz="950" b="1">
                          <a:solidFill>
                            <a:srgbClr val="FFFFFF"/>
                          </a:solidFill>
                          <a:latin typeface="メイリオ"/>
                          <a:ea typeface="メイリオ"/>
                        </a:rPr>
                        <a:t>体験予約 CV①</a:t>
                      </a:r>
                    </a:p>
                  </a:txBody>
                  <a:tcPr>
                    <a:solidFill>
                      <a:srgbClr val="1F2A5C"/>
                    </a:solidFill>
                  </a:tcPr>
                </a:tc>
                <a:tc>
                  <a:txBody>
                    <a:bodyPr/>
                    <a:lstStyle/>
                    <a:p>
                      <a:pPr algn="ctr"/>
                      <a:r>
                        <a:rPr sz="9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6"/>
                  </a:ext>
                </a:extLst>
              </a:tr>
              <a:tr h="384048">
                <a:tc>
                  <a:txBody>
                    <a:bodyPr/>
                    <a:lstStyle/>
                    <a:p>
                      <a:pPr algn="l"/>
                      <a:r>
                        <a:rPr sz="950" b="0">
                          <a:solidFill>
                            <a:srgbClr val="1C2233"/>
                          </a:solidFill>
                          <a:latin typeface="メイリオ"/>
                          <a:ea typeface="メイリオ"/>
                        </a:rPr>
                        <a:t>Day8</a:t>
                      </a:r>
                    </a:p>
                  </a:txBody>
                  <a:tcPr>
                    <a:solidFill>
                      <a:srgbClr val="FFFFFF"/>
                    </a:solidFill>
                  </a:tcPr>
                </a:tc>
                <a:tc>
                  <a:txBody>
                    <a:bodyPr/>
                    <a:lstStyle/>
                    <a:p>
                      <a:pPr algn="ctr"/>
                      <a:r>
                        <a:rPr sz="950" b="0">
                          <a:solidFill>
                            <a:srgbClr val="1C2233"/>
                          </a:solidFill>
                          <a:latin typeface="メイリオ"/>
                          <a:ea typeface="メイリオ"/>
                        </a:rPr>
                        <a:t>社会的証明</a:t>
                      </a:r>
                    </a:p>
                  </a:txBody>
                  <a:tcPr>
                    <a:solidFill>
                      <a:srgbClr val="FFFFFF"/>
                    </a:solidFill>
                  </a:tcPr>
                </a:tc>
                <a:tc>
                  <a:txBody>
                    <a:bodyPr/>
                    <a:lstStyle/>
                    <a:p>
                      <a:pPr algn="ctr"/>
                      <a:r>
                        <a:rPr sz="950" b="0">
                          <a:solidFill>
                            <a:srgbClr val="1C2233"/>
                          </a:solidFill>
                          <a:latin typeface="メイリオ"/>
                          <a:ea typeface="メイリオ"/>
                        </a:rPr>
                        <a:t>同じタイプの会員の声（診断のタイプ別）</a:t>
                      </a:r>
                      <a:br>
                        <a:rPr sz="950" b="0">
                          <a:solidFill>
                            <a:srgbClr val="1C2233"/>
                          </a:solidFill>
                          <a:latin typeface="メイリオ"/>
                          <a:ea typeface="メイリオ"/>
                        </a:rPr>
                      </a:br>
                      <a:r>
                        <a:rPr sz="950" b="0">
                          <a:solidFill>
                            <a:srgbClr val="1C2233"/>
                          </a:solidFill>
                          <a:latin typeface="メイリオ"/>
                          <a:ea typeface="メイリオ"/>
                        </a:rPr>
                        <a:t>／続いている人の共通点</a:t>
                      </a:r>
                    </a:p>
                  </a:txBody>
                  <a:tcPr>
                    <a:solidFill>
                      <a:srgbClr val="FFFFFF"/>
                    </a:solidFill>
                  </a:tcPr>
                </a:tc>
                <a:tc>
                  <a:txBody>
                    <a:bodyPr/>
                    <a:lstStyle/>
                    <a:p>
                      <a:pPr algn="ctr"/>
                      <a:r>
                        <a:rPr sz="950" b="0">
                          <a:solidFill>
                            <a:srgbClr val="1C2233"/>
                          </a:solidFill>
                          <a:latin typeface="メイリオ"/>
                          <a:ea typeface="メイリオ"/>
                        </a:rPr>
                        <a:t>事例閲覧</a:t>
                      </a:r>
                    </a:p>
                  </a:txBody>
                  <a:tcPr>
                    <a:solidFill>
                      <a:srgbClr val="FFFFFF"/>
                    </a:solidFill>
                  </a:tcPr>
                </a:tc>
                <a:tc>
                  <a:txBody>
                    <a:bodyPr/>
                    <a:lstStyle/>
                    <a:p>
                      <a:pPr algn="ctr"/>
                      <a:r>
                        <a:rPr sz="950" b="0">
                          <a:solidFill>
                            <a:srgbClr val="1C2233"/>
                          </a:solidFill>
                          <a:latin typeface="メイリオ"/>
                          <a:ea typeface="メイリオ"/>
                        </a:rPr>
                        <a:t>【コツコツ型の方へ】3ヶ月後の変化</a:t>
                      </a:r>
                    </a:p>
                  </a:txBody>
                  <a:tcPr>
                    <a:solidFill>
                      <a:srgbClr val="FFFFFF"/>
                    </a:solidFill>
                  </a:tcPr>
                </a:tc>
                <a:extLst>
                  <a:ext uri="{0D108BD9-81ED-4DB2-BD59-A6C34878D82A}">
                    <a16:rowId xmlns:a16="http://schemas.microsoft.com/office/drawing/2014/main" val="10007"/>
                  </a:ext>
                </a:extLst>
              </a:tr>
              <a:tr h="384048">
                <a:tc>
                  <a:txBody>
                    <a:bodyPr/>
                    <a:lstStyle/>
                    <a:p>
                      <a:pPr algn="l"/>
                      <a:r>
                        <a:rPr sz="950" b="0">
                          <a:solidFill>
                            <a:srgbClr val="1C2233"/>
                          </a:solidFill>
                          <a:latin typeface="メイリオ"/>
                          <a:ea typeface="メイリオ"/>
                        </a:rPr>
                        <a:t>Day10</a:t>
                      </a:r>
                    </a:p>
                  </a:txBody>
                  <a:tcPr>
                    <a:solidFill>
                      <a:srgbClr val="EFF1F7"/>
                    </a:solidFill>
                  </a:tcPr>
                </a:tc>
                <a:tc>
                  <a:txBody>
                    <a:bodyPr/>
                    <a:lstStyle/>
                    <a:p>
                      <a:pPr algn="ctr"/>
                      <a:r>
                        <a:rPr sz="950" b="0">
                          <a:solidFill>
                            <a:srgbClr val="1C2233"/>
                          </a:solidFill>
                          <a:latin typeface="メイリオ"/>
                          <a:ea typeface="メイリオ"/>
                        </a:rPr>
                        <a:t>不安の見える化</a:t>
                      </a:r>
                    </a:p>
                  </a:txBody>
                  <a:tcPr>
                    <a:solidFill>
                      <a:srgbClr val="EFF1F7"/>
                    </a:solidFill>
                  </a:tcPr>
                </a:tc>
                <a:tc>
                  <a:txBody>
                    <a:bodyPr/>
                    <a:lstStyle/>
                    <a:p>
                      <a:pPr algn="ctr"/>
                      <a:r>
                        <a:rPr sz="950" b="0">
                          <a:solidFill>
                            <a:srgbClr val="1C2233"/>
                          </a:solidFill>
                          <a:latin typeface="メイリオ"/>
                          <a:ea typeface="メイリオ"/>
                        </a:rPr>
                        <a:t>続けられるか診断（3問）→ 結果に合わせた</a:t>
                      </a:r>
                      <a:br>
                        <a:rPr sz="950" b="0">
                          <a:solidFill>
                            <a:srgbClr val="1C2233"/>
                          </a:solidFill>
                          <a:latin typeface="メイリオ"/>
                          <a:ea typeface="メイリオ"/>
                        </a:rPr>
                      </a:br>
                      <a:r>
                        <a:rPr sz="950" b="0">
                          <a:solidFill>
                            <a:srgbClr val="1C2233"/>
                          </a:solidFill>
                          <a:latin typeface="メイリオ"/>
                          <a:ea typeface="メイリオ"/>
                        </a:rPr>
                        <a:t>体験の回り方と、最初の2週間の予定</a:t>
                      </a:r>
                    </a:p>
                  </a:txBody>
                  <a:tcPr>
                    <a:solidFill>
                      <a:srgbClr val="EFF1F7"/>
                    </a:solidFill>
                  </a:tcPr>
                </a:tc>
                <a:tc>
                  <a:txBody>
                    <a:bodyPr/>
                    <a:lstStyle/>
                    <a:p>
                      <a:pPr algn="ctr"/>
                      <a:r>
                        <a:rPr sz="950" b="0">
                          <a:solidFill>
                            <a:srgbClr val="1C2233"/>
                          </a:solidFill>
                          <a:latin typeface="メイリオ"/>
                          <a:ea typeface="メイリオ"/>
                        </a:rPr>
                        <a:t>続けられるか診断</a:t>
                      </a:r>
                    </a:p>
                  </a:txBody>
                  <a:tcPr>
                    <a:solidFill>
                      <a:srgbClr val="EFF1F7"/>
                    </a:solidFill>
                  </a:tcPr>
                </a:tc>
                <a:tc>
                  <a:txBody>
                    <a:bodyPr/>
                    <a:lstStyle/>
                    <a:p>
                      <a:pPr algn="ctr"/>
                      <a:r>
                        <a:rPr sz="950" b="0">
                          <a:solidFill>
                            <a:srgbClr val="1C2233"/>
                          </a:solidFill>
                          <a:latin typeface="メイリオ"/>
                          <a:ea typeface="メイリオ"/>
                        </a:rPr>
                        <a:t>【3問】あなたは続けられる？</a:t>
                      </a:r>
                    </a:p>
                  </a:txBody>
                  <a:tcPr>
                    <a:solidFill>
                      <a:srgbClr val="EFF1F7"/>
                    </a:solidFill>
                  </a:tcPr>
                </a:tc>
                <a:extLst>
                  <a:ext uri="{0D108BD9-81ED-4DB2-BD59-A6C34878D82A}">
                    <a16:rowId xmlns:a16="http://schemas.microsoft.com/office/drawing/2014/main" val="10008"/>
                  </a:ext>
                </a:extLst>
              </a:tr>
              <a:tr h="384048">
                <a:tc>
                  <a:txBody>
                    <a:bodyPr/>
                    <a:lstStyle/>
                    <a:p>
                      <a:pPr algn="l"/>
                      <a:r>
                        <a:rPr sz="950" b="0">
                          <a:solidFill>
                            <a:srgbClr val="1C2233"/>
                          </a:solidFill>
                          <a:latin typeface="メイリオ"/>
                          <a:ea typeface="メイリオ"/>
                        </a:rPr>
                        <a:t>Day11</a:t>
                      </a:r>
                    </a:p>
                  </a:txBody>
                  <a:tcPr>
                    <a:solidFill>
                      <a:srgbClr val="FFFFFF"/>
                    </a:solidFill>
                  </a:tcPr>
                </a:tc>
                <a:tc>
                  <a:txBody>
                    <a:bodyPr/>
                    <a:lstStyle/>
                    <a:p>
                      <a:pPr algn="ctr"/>
                      <a:r>
                        <a:rPr sz="950" b="0">
                          <a:solidFill>
                            <a:srgbClr val="1C2233"/>
                          </a:solidFill>
                          <a:latin typeface="メイリオ"/>
                          <a:ea typeface="メイリオ"/>
                        </a:rPr>
                        <a:t>疑問の除去</a:t>
                      </a:r>
                    </a:p>
                  </a:txBody>
                  <a:tcPr>
                    <a:solidFill>
                      <a:srgbClr val="FFFFFF"/>
                    </a:solidFill>
                  </a:tcPr>
                </a:tc>
                <a:tc>
                  <a:txBody>
                    <a:bodyPr/>
                    <a:lstStyle/>
                    <a:p>
                      <a:pPr algn="ctr"/>
                      <a:r>
                        <a:rPr sz="950" b="0">
                          <a:solidFill>
                            <a:srgbClr val="1C2233"/>
                          </a:solidFill>
                          <a:latin typeface="メイリオ"/>
                          <a:ea typeface="メイリオ"/>
                        </a:rPr>
                        <a:t>不安Q&amp;A（勧誘・解約・シャワー・混雑・持ち物）</a:t>
                      </a:r>
                      <a:br>
                        <a:rPr sz="950" b="0">
                          <a:solidFill>
                            <a:srgbClr val="1C2233"/>
                          </a:solidFill>
                          <a:latin typeface="メイリオ"/>
                          <a:ea typeface="メイリオ"/>
                        </a:rPr>
                      </a:br>
                      <a:r>
                        <a:rPr sz="950" b="0">
                          <a:solidFill>
                            <a:srgbClr val="1C2233"/>
                          </a:solidFill>
                          <a:latin typeface="メイリオ"/>
                          <a:ea typeface="メイリオ"/>
                        </a:rPr>
                        <a:t>＋チャット相談</a:t>
                      </a:r>
                    </a:p>
                  </a:txBody>
                  <a:tcPr>
                    <a:solidFill>
                      <a:srgbClr val="FFFFFF"/>
                    </a:solidFill>
                  </a:tcPr>
                </a:tc>
                <a:tc>
                  <a:txBody>
                    <a:bodyPr/>
                    <a:lstStyle/>
                    <a:p>
                      <a:pPr algn="ctr"/>
                      <a:r>
                        <a:rPr sz="950" b="0">
                          <a:solidFill>
                            <a:srgbClr val="1C2233"/>
                          </a:solidFill>
                          <a:latin typeface="メイリオ"/>
                          <a:ea typeface="メイリオ"/>
                        </a:rPr>
                        <a:t>よくある</a:t>
                      </a:r>
                      <a:br>
                        <a:rPr sz="950" b="0">
                          <a:solidFill>
                            <a:srgbClr val="1C2233"/>
                          </a:solidFill>
                          <a:latin typeface="メイリオ"/>
                          <a:ea typeface="メイリオ"/>
                        </a:rPr>
                      </a:br>
                      <a:r>
                        <a:rPr sz="950" b="0">
                          <a:solidFill>
                            <a:srgbClr val="1C2233"/>
                          </a:solidFill>
                          <a:latin typeface="メイリオ"/>
                          <a:ea typeface="メイリオ"/>
                        </a:rPr>
                        <a:t>質問・相談</a:t>
                      </a:r>
                    </a:p>
                  </a:txBody>
                  <a:tcPr>
                    <a:solidFill>
                      <a:srgbClr val="FFFFFF"/>
                    </a:solidFill>
                  </a:tcPr>
                </a:tc>
                <a:tc>
                  <a:txBody>
                    <a:bodyPr/>
                    <a:lstStyle/>
                    <a:p>
                      <a:pPr algn="ctr"/>
                      <a:r>
                        <a:rPr sz="950" b="0">
                          <a:solidFill>
                            <a:srgbClr val="1C2233"/>
                          </a:solidFill>
                          <a:latin typeface="メイリオ"/>
                          <a:ea typeface="メイリオ"/>
                        </a:rPr>
                        <a:t>【解約もOK】よくあるご質問</a:t>
                      </a:r>
                    </a:p>
                  </a:txBody>
                  <a:tcPr>
                    <a:solidFill>
                      <a:srgbClr val="FFFFFF"/>
                    </a:solidFill>
                  </a:tcPr>
                </a:tc>
                <a:extLst>
                  <a:ext uri="{0D108BD9-81ED-4DB2-BD59-A6C34878D82A}">
                    <a16:rowId xmlns:a16="http://schemas.microsoft.com/office/drawing/2014/main" val="10009"/>
                  </a:ext>
                </a:extLst>
              </a:tr>
              <a:tr h="384048">
                <a:tc>
                  <a:txBody>
                    <a:bodyPr/>
                    <a:lstStyle/>
                    <a:p>
                      <a:pPr algn="l"/>
                      <a:r>
                        <a:rPr sz="950" b="0">
                          <a:solidFill>
                            <a:srgbClr val="1C2233"/>
                          </a:solidFill>
                          <a:latin typeface="メイリオ"/>
                          <a:ea typeface="メイリオ"/>
                        </a:rPr>
                        <a:t>Day14</a:t>
                      </a:r>
                    </a:p>
                  </a:txBody>
                  <a:tcPr>
                    <a:solidFill>
                      <a:srgbClr val="EFF1F7"/>
                    </a:solidFill>
                  </a:tcPr>
                </a:tc>
                <a:tc>
                  <a:txBody>
                    <a:bodyPr/>
                    <a:lstStyle/>
                    <a:p>
                      <a:pPr algn="ctr"/>
                      <a:r>
                        <a:rPr sz="950" b="0">
                          <a:solidFill>
                            <a:srgbClr val="1C2233"/>
                          </a:solidFill>
                          <a:latin typeface="メイリオ"/>
                          <a:ea typeface="メイリオ"/>
                        </a:rPr>
                        <a:t>最終オファー</a:t>
                      </a:r>
                    </a:p>
                  </a:txBody>
                  <a:tcPr>
                    <a:solidFill>
                      <a:srgbClr val="EFF1F7"/>
                    </a:solidFill>
                  </a:tcPr>
                </a:tc>
                <a:tc>
                  <a:txBody>
                    <a:bodyPr/>
                    <a:lstStyle/>
                    <a:p>
                      <a:pPr algn="ctr"/>
                      <a:r>
                        <a:rPr sz="950" b="0" dirty="0">
                          <a:solidFill>
                            <a:srgbClr val="1C2233"/>
                          </a:solidFill>
                          <a:latin typeface="メイリオ"/>
                          <a:ea typeface="メイリオ"/>
                        </a:rPr>
                        <a:t>入会金無料・事務手数料0円＋体験枠の残数</a:t>
                      </a:r>
                    </a:p>
                  </a:txBody>
                  <a:tcPr>
                    <a:solidFill>
                      <a:srgbClr val="EFF1F7"/>
                    </a:solidFill>
                  </a:tcPr>
                </a:tc>
                <a:tc>
                  <a:txBody>
                    <a:bodyPr/>
                    <a:lstStyle/>
                    <a:p>
                      <a:pPr algn="ctr"/>
                      <a:r>
                        <a:rPr sz="950" b="1">
                          <a:solidFill>
                            <a:srgbClr val="FFFFFF"/>
                          </a:solidFill>
                          <a:latin typeface="メイリオ"/>
                          <a:ea typeface="メイリオ"/>
                        </a:rPr>
                        <a:t>体験予約（再）</a:t>
                      </a:r>
                    </a:p>
                  </a:txBody>
                  <a:tcPr>
                    <a:solidFill>
                      <a:srgbClr val="1F2A5C"/>
                    </a:solidFill>
                  </a:tcPr>
                </a:tc>
                <a:tc>
                  <a:txBody>
                    <a:bodyPr/>
                    <a:lstStyle/>
                    <a:p>
                      <a:pPr algn="ctr"/>
                      <a:r>
                        <a:rPr sz="950" b="0" dirty="0">
                          <a:solidFill>
                            <a:srgbClr val="1C2233"/>
                          </a:solidFill>
                          <a:latin typeface="メイリオ"/>
                          <a:ea typeface="メイリオ"/>
                        </a:rPr>
                        <a:t>【残3枠】今月の体験ご予約</a:t>
                      </a:r>
                    </a:p>
                  </a:txBody>
                  <a:tcPr>
                    <a:solidFill>
                      <a:srgbClr val="EFF1F7"/>
                    </a:solidFill>
                  </a:tcPr>
                </a:tc>
                <a:extLst>
                  <a:ext uri="{0D108BD9-81ED-4DB2-BD59-A6C34878D82A}">
                    <a16:rowId xmlns:a16="http://schemas.microsoft.com/office/drawing/2014/main" val="10010"/>
                  </a:ext>
                </a:extLst>
              </a:tr>
            </a:tbl>
          </a:graphicData>
        </a:graphic>
      </p:graphicFrame>
      <p:sp>
        <p:nvSpPr>
          <p:cNvPr id="5" name="Rounded Rectangle 4"/>
          <p:cNvSpPr/>
          <p:nvPr/>
        </p:nvSpPr>
        <p:spPr>
          <a:xfrm>
            <a:off x="384048" y="5577840"/>
            <a:ext cx="2788920" cy="47548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診断は4回、どれも1タップ</a:t>
            </a:r>
          </a:p>
          <a:p>
            <a:pPr algn="l">
              <a:spcBef>
                <a:spcPts val="200"/>
              </a:spcBef>
            </a:pPr>
            <a:r>
              <a:rPr sz="1100" b="0" dirty="0" err="1">
                <a:solidFill>
                  <a:srgbClr val="1C2233"/>
                </a:solidFill>
                <a:latin typeface="メイリオ"/>
                <a:ea typeface="メイリオ"/>
              </a:rPr>
              <a:t>Day0・3・5・10に答えるだけの配信</a:t>
            </a:r>
          </a:p>
        </p:txBody>
      </p:sp>
      <p:sp>
        <p:nvSpPr>
          <p:cNvPr id="6" name="Rounded Rectangle 5"/>
          <p:cNvSpPr/>
          <p:nvPr/>
        </p:nvSpPr>
        <p:spPr>
          <a:xfrm>
            <a:off x="3383279" y="5577840"/>
            <a:ext cx="2788920" cy="47548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答えはそのまま出し分けに</a:t>
            </a:r>
          </a:p>
          <a:p>
            <a:pPr algn="l">
              <a:spcBef>
                <a:spcPts val="200"/>
              </a:spcBef>
            </a:pPr>
            <a:r>
              <a:rPr sz="1100" b="0" dirty="0" err="1">
                <a:solidFill>
                  <a:srgbClr val="1C2233"/>
                </a:solidFill>
                <a:latin typeface="メイリオ"/>
                <a:ea typeface="メイリオ"/>
              </a:rPr>
              <a:t>診断のタイプを配信のタグにする</a:t>
            </a:r>
          </a:p>
        </p:txBody>
      </p:sp>
      <p:sp>
        <p:nvSpPr>
          <p:cNvPr id="7" name="Rounded Rectangle 6"/>
          <p:cNvSpPr/>
          <p:nvPr/>
        </p:nvSpPr>
        <p:spPr>
          <a:xfrm>
            <a:off x="6382512" y="5577840"/>
            <a:ext cx="2788920" cy="47548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診断の結果から体験予約へ</a:t>
            </a:r>
          </a:p>
          <a:p>
            <a:pPr algn="l">
              <a:spcBef>
                <a:spcPts val="200"/>
              </a:spcBef>
            </a:pPr>
            <a:r>
              <a:rPr sz="1100" b="0" dirty="0" err="1">
                <a:solidFill>
                  <a:srgbClr val="1C2233"/>
                </a:solidFill>
                <a:latin typeface="メイリオ"/>
                <a:ea typeface="メイリオ"/>
              </a:rPr>
              <a:t>結果の最後に「無料体験を予約」</a:t>
            </a:r>
          </a:p>
        </p:txBody>
      </p:sp>
      <p:sp>
        <p:nvSpPr>
          <p:cNvPr id="8" name="TextBox 7"/>
          <p:cNvSpPr txBox="1"/>
          <p:nvPr/>
        </p:nvSpPr>
        <p:spPr>
          <a:xfrm>
            <a:off x="384048" y="6126480"/>
            <a:ext cx="9134856" cy="329184"/>
          </a:xfrm>
          <a:prstGeom prst="rect">
            <a:avLst/>
          </a:prstGeom>
          <a:noFill/>
        </p:spPr>
        <p:txBody>
          <a:bodyPr wrap="square" lIns="0" tIns="0" rIns="0" bIns="0">
            <a:spAutoFit/>
          </a:bodyPr>
          <a:lstStyle/>
          <a:p>
            <a:r>
              <a:rPr sz="900" b="0">
                <a:solidFill>
                  <a:srgbClr val="646C82"/>
                </a:solidFill>
                <a:latin typeface="メイリオ"/>
                <a:ea typeface="メイリオ"/>
              </a:rPr>
              <a:t>※ Day5は、目的に「ダイエット」を選んだ方だけに送る。</a:t>
            </a:r>
          </a:p>
          <a:p>
            <a:r>
              <a:rPr sz="900" b="0">
                <a:solidFill>
                  <a:srgbClr val="646C82"/>
                </a:solidFill>
                <a:latin typeface="メイリオ"/>
                <a:ea typeface="メイリオ"/>
              </a:rPr>
              <a:t>※ 性格タイプ診断・ダイエットタイプ診断は、リッチメニュー「② 診断・シミュレーター」からも押せる。</a:t>
            </a:r>
          </a:p>
        </p:txBody>
      </p:sp>
    </p:spTree>
    <p:extLst>
      <p:ext uri="{BB962C8B-B14F-4D97-AF65-F5344CB8AC3E}">
        <p14:creationId xmlns:p14="http://schemas.microsoft.com/office/powerpoint/2010/main" val="1098718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920000" cy="363600"/>
          </a:xfrm>
          <a:prstGeom prst="rect">
            <a:avLst/>
          </a:prstGeom>
          <a:noFill/>
        </p:spPr>
        <p:txBody>
          <a:bodyPr wrap="square" lIns="36000" tIns="14400" rIns="36000" bIns="14400" anchor="ctr">
            <a:spAutoFit/>
          </a:bodyPr>
          <a:lstStyle/>
          <a:p>
            <a:pPr algn="l">
              <a:lnSpc>
                <a:spcPct val="125000"/>
              </a:lnSpc>
            </a:pPr>
            <a:r>
              <a:rPr sz="1600" b="1">
                <a:solidFill>
                  <a:srgbClr val="323366"/>
                </a:solidFill>
                <a:latin typeface="メイリオ"/>
                <a:ea typeface="メイリオ"/>
                <a:cs typeface="メイリオ"/>
              </a:rPr>
              <a:t>ステップ配信｜入会後14日で「やめない形」を作る</a:t>
            </a:r>
          </a:p>
        </p:txBody>
      </p:sp>
      <p:sp>
        <p:nvSpPr>
          <p:cNvPr id="3" name="TextBox 2"/>
          <p:cNvSpPr txBox="1"/>
          <p:nvPr/>
        </p:nvSpPr>
        <p:spPr>
          <a:xfrm>
            <a:off x="385200" y="730799"/>
            <a:ext cx="9133200" cy="432000"/>
          </a:xfrm>
          <a:prstGeom prst="rect">
            <a:avLst/>
          </a:prstGeom>
          <a:noFill/>
        </p:spPr>
        <p:txBody>
          <a:bodyPr wrap="square" lIns="0" tIns="14400" rIns="0" bIns="14400" anchor="ctr">
            <a:spAutoFit/>
          </a:bodyPr>
          <a:lstStyle/>
          <a:p>
            <a:pPr algn="l">
              <a:lnSpc>
                <a:spcPct val="125000"/>
              </a:lnSpc>
            </a:pPr>
            <a:r>
              <a:rPr sz="1400" b="1">
                <a:solidFill>
                  <a:srgbClr val="1A1A2E"/>
                </a:solidFill>
                <a:latin typeface="メイリオ"/>
                <a:ea typeface="メイリオ"/>
                <a:cs typeface="メイリオ"/>
              </a:rPr>
              <a:t>前後検索では、入会直後（＋1〜15日）に「効果が出るまで」「脂肪冷却 効果ない」「医療ダイエット」が立つ。</a:t>
            </a:r>
          </a:p>
          <a:p>
            <a:pPr algn="l">
              <a:lnSpc>
                <a:spcPct val="125000"/>
              </a:lnSpc>
            </a:pPr>
            <a:r>
              <a:rPr sz="1400" b="1">
                <a:solidFill>
                  <a:srgbClr val="C00000"/>
                </a:solidFill>
                <a:latin typeface="メイリオ"/>
                <a:ea typeface="メイリオ"/>
                <a:cs typeface="メイリオ"/>
              </a:rPr>
              <a:t>離脱は入会前ではなく、入会直後に始まっている。</a:t>
            </a:r>
          </a:p>
        </p:txBody>
      </p:sp>
      <p:graphicFrame>
        <p:nvGraphicFramePr>
          <p:cNvPr id="4" name="Table 3"/>
          <p:cNvGraphicFramePr>
            <a:graphicFrameLocks noGrp="1"/>
          </p:cNvGraphicFramePr>
          <p:nvPr/>
        </p:nvGraphicFramePr>
        <p:xfrm>
          <a:off x="385200" y="1386000"/>
          <a:ext cx="9143999" cy="2692800"/>
        </p:xfrm>
        <a:graphic>
          <a:graphicData uri="http://schemas.openxmlformats.org/drawingml/2006/table">
            <a:tbl>
              <a:tblPr firstRow="1" bandRow="1">
                <a:tableStyleId>{5C22544A-7EE6-4342-B048-85BDC9FD1C3A}</a:tableStyleId>
              </a:tblPr>
              <a:tblGrid>
                <a:gridCol w="827999">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3816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2052000">
                  <a:extLst>
                    <a:ext uri="{9D8B030D-6E8A-4147-A177-3AD203B41FA5}">
                      <a16:colId xmlns:a16="http://schemas.microsoft.com/office/drawing/2014/main" val="20004"/>
                    </a:ext>
                  </a:extLst>
                </a:gridCol>
              </a:tblGrid>
              <a:tr h="360000">
                <a:tc>
                  <a:txBody>
                    <a:bodyPr/>
                    <a:lstStyle/>
                    <a:p>
                      <a:pPr algn="ctr">
                        <a:lnSpc>
                          <a:spcPct val="115000"/>
                        </a:lnSpc>
                      </a:pPr>
                      <a:r>
                        <a:rPr sz="1200" b="1">
                          <a:solidFill>
                            <a:srgbClr val="FFFFFF"/>
                          </a:solidFill>
                          <a:latin typeface="メイリオ"/>
                          <a:ea typeface="メイリオ"/>
                          <a:cs typeface="メイリオ"/>
                        </a:rPr>
                        <a:t>日</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役割</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配信コンテンツ</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CTA</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通知プレビュー冒頭</a:t>
                      </a:r>
                    </a:p>
                  </a:txBody>
                  <a:tcPr marL="50400" marR="50400" marT="21600" marB="21600" anchor="ctr">
                    <a:solidFill>
                      <a:srgbClr val="002060"/>
                    </a:solidFill>
                  </a:tcPr>
                </a:tc>
                <a:extLst>
                  <a:ext uri="{0D108BD9-81ED-4DB2-BD59-A6C34878D82A}">
                    <a16:rowId xmlns:a16="http://schemas.microsoft.com/office/drawing/2014/main" val="10000"/>
                  </a:ext>
                </a:extLst>
              </a:tr>
              <a:tr h="583200">
                <a:tc>
                  <a:txBody>
                    <a:bodyPr/>
                    <a:lstStyle/>
                    <a:p>
                      <a:pPr algn="ctr">
                        <a:lnSpc>
                          <a:spcPct val="115000"/>
                        </a:lnSpc>
                      </a:pPr>
                      <a:r>
                        <a:rPr sz="1200" b="1">
                          <a:solidFill>
                            <a:srgbClr val="1A1A2E"/>
                          </a:solidFill>
                          <a:latin typeface="メイリオ"/>
                          <a:ea typeface="メイリオ"/>
                          <a:cs typeface="メイリオ"/>
                        </a:rPr>
                        <a:t>Day1</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迷わせない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持ち物5点（シューズ・ウェア・タオル・飲み物・鍵）＋最初の60分の型</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次回の来館予約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【はじめての日に】持っていくのは5つ</a:t>
                      </a:r>
                    </a:p>
                  </a:txBody>
                  <a:tcPr marL="50400" marR="50400" marT="21600" marB="21600" anchor="ctr">
                    <a:solidFill>
                      <a:srgbClr val="FFFFFF"/>
                    </a:solidFill>
                  </a:tcPr>
                </a:tc>
                <a:extLst>
                  <a:ext uri="{0D108BD9-81ED-4DB2-BD59-A6C34878D82A}">
                    <a16:rowId xmlns:a16="http://schemas.microsoft.com/office/drawing/2014/main" val="10001"/>
                  </a:ext>
                </a:extLst>
              </a:tr>
              <a:tr h="583200">
                <a:tc>
                  <a:txBody>
                    <a:bodyPr/>
                    <a:lstStyle/>
                    <a:p>
                      <a:pPr algn="ctr">
                        <a:lnSpc>
                          <a:spcPct val="115000"/>
                        </a:lnSpc>
                      </a:pPr>
                      <a:r>
                        <a:rPr sz="1200" b="1">
                          <a:solidFill>
                            <a:srgbClr val="1A1A2E"/>
                          </a:solidFill>
                          <a:latin typeface="メイリオ"/>
                          <a:ea typeface="メイリオ"/>
                          <a:cs typeface="メイリオ"/>
                        </a:rPr>
                        <a:t>Day5</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失敗させない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重すぎる重量から始めない／同じ部位は48〜72時間空ける／有酸素だけで終わらない</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フォームチェックを予約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【やりがち】初心者の7つの落とし穴</a:t>
                      </a:r>
                    </a:p>
                  </a:txBody>
                  <a:tcPr marL="50400" marR="50400" marT="21600" marB="21600" anchor="ctr">
                    <a:solidFill>
                      <a:srgbClr val="F4F7FF"/>
                    </a:solidFill>
                  </a:tcPr>
                </a:tc>
                <a:extLst>
                  <a:ext uri="{0D108BD9-81ED-4DB2-BD59-A6C34878D82A}">
                    <a16:rowId xmlns:a16="http://schemas.microsoft.com/office/drawing/2014/main" val="10002"/>
                  </a:ext>
                </a:extLst>
              </a:tr>
              <a:tr h="583200">
                <a:tc>
                  <a:txBody>
                    <a:bodyPr/>
                    <a:lstStyle/>
                    <a:p>
                      <a:pPr algn="ctr">
                        <a:lnSpc>
                          <a:spcPct val="115000"/>
                        </a:lnSpc>
                      </a:pPr>
                      <a:r>
                        <a:rPr sz="1200" b="1">
                          <a:solidFill>
                            <a:srgbClr val="C00000"/>
                          </a:solidFill>
                          <a:latin typeface="メイリオ"/>
                          <a:ea typeface="メイリオ"/>
                          <a:cs typeface="メイリオ"/>
                        </a:rPr>
                        <a:t>Day7</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やめさせない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1週間＝むくみ／1ヶ月＝引き締まり／2〜3ヶ月＝見た目。体重が動くのは最後</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体組成測定を予約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【1週目】体重が動かなくて正常です</a:t>
                      </a:r>
                    </a:p>
                  </a:txBody>
                  <a:tcPr marL="50400" marR="50400" marT="21600" marB="21600" anchor="ctr">
                    <a:solidFill>
                      <a:srgbClr val="FFFFFF"/>
                    </a:solidFill>
                  </a:tcPr>
                </a:tc>
                <a:extLst>
                  <a:ext uri="{0D108BD9-81ED-4DB2-BD59-A6C34878D82A}">
                    <a16:rowId xmlns:a16="http://schemas.microsoft.com/office/drawing/2014/main" val="10003"/>
                  </a:ext>
                </a:extLst>
              </a:tr>
              <a:tr h="583200">
                <a:tc>
                  <a:txBody>
                    <a:bodyPr/>
                    <a:lstStyle/>
                    <a:p>
                      <a:pPr algn="ctr">
                        <a:lnSpc>
                          <a:spcPct val="115000"/>
                        </a:lnSpc>
                      </a:pPr>
                      <a:r>
                        <a:rPr sz="1200" b="1">
                          <a:solidFill>
                            <a:srgbClr val="C00000"/>
                          </a:solidFill>
                          <a:latin typeface="メイリオ"/>
                          <a:ea typeface="メイリオ"/>
                          <a:cs typeface="メイリオ"/>
                        </a:rPr>
                        <a:t>Day14</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戻れるようにする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1週間空くと筋力は落ちる。でも1回サボってもOK。戻り方を先に決めておく</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お友だち紹介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【2週間おつかれさまです】</a:t>
                      </a:r>
                    </a:p>
                  </a:txBody>
                  <a:tcPr marL="50400" marR="50400" marT="21600" marB="21600"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852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60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① 効くのはCV③</a:t>
            </a:r>
          </a:p>
        </p:txBody>
      </p:sp>
      <p:sp>
        <p:nvSpPr>
          <p:cNvPr id="7" name="TextBox 6"/>
          <p:cNvSpPr txBox="1"/>
          <p:nvPr/>
        </p:nvSpPr>
        <p:spPr>
          <a:xfrm>
            <a:off x="4860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入会前（前ページ）がCV①②を取り、</a:t>
            </a:r>
          </a:p>
          <a:p>
            <a:pPr algn="l">
              <a:lnSpc>
                <a:spcPct val="125000"/>
              </a:lnSpc>
            </a:pPr>
            <a:r>
              <a:rPr sz="1100" b="0">
                <a:solidFill>
                  <a:srgbClr val="1A1A2E"/>
                </a:solidFill>
                <a:latin typeface="メイリオ"/>
                <a:ea typeface="メイリオ"/>
                <a:cs typeface="メイリオ"/>
              </a:rPr>
              <a:t>この4通がCV③を守る。</a:t>
            </a:r>
          </a:p>
        </p:txBody>
      </p:sp>
      <p:sp>
        <p:nvSpPr>
          <p:cNvPr id="8" name="Rounded Rectangle 7"/>
          <p:cNvSpPr/>
          <p:nvPr/>
        </p:nvSpPr>
        <p:spPr>
          <a:xfrm>
            <a:off x="33840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848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② Day7とDay14が本体</a:t>
            </a:r>
          </a:p>
        </p:txBody>
      </p:sp>
      <p:sp>
        <p:nvSpPr>
          <p:cNvPr id="10" name="TextBox 9"/>
          <p:cNvSpPr txBox="1"/>
          <p:nvPr/>
        </p:nvSpPr>
        <p:spPr>
          <a:xfrm>
            <a:off x="34848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前後検索で「効果への不安」が</a:t>
            </a:r>
          </a:p>
          <a:p>
            <a:pPr algn="l">
              <a:lnSpc>
                <a:spcPct val="125000"/>
              </a:lnSpc>
            </a:pPr>
            <a:r>
              <a:rPr sz="1100" b="0">
                <a:solidFill>
                  <a:srgbClr val="1A1A2E"/>
                </a:solidFill>
                <a:latin typeface="メイリオ"/>
                <a:ea typeface="メイリオ"/>
                <a:cs typeface="メイリオ"/>
              </a:rPr>
              <a:t>＋1〜15日に立つ。先回りして送る。</a:t>
            </a:r>
          </a:p>
        </p:txBody>
      </p:sp>
      <p:sp>
        <p:nvSpPr>
          <p:cNvPr id="11" name="Rounded Rectangle 10"/>
          <p:cNvSpPr/>
          <p:nvPr/>
        </p:nvSpPr>
        <p:spPr>
          <a:xfrm>
            <a:off x="63828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836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③ 数値は「一般的な目安」と添える</a:t>
            </a:r>
          </a:p>
        </p:txBody>
      </p:sp>
      <p:sp>
        <p:nvSpPr>
          <p:cNvPr id="13" name="TextBox 12"/>
          <p:cNvSpPr txBox="1"/>
          <p:nvPr/>
        </p:nvSpPr>
        <p:spPr>
          <a:xfrm>
            <a:off x="64836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出典を明記できない業界数値は</a:t>
            </a:r>
          </a:p>
          <a:p>
            <a:pPr algn="l">
              <a:lnSpc>
                <a:spcPct val="125000"/>
              </a:lnSpc>
            </a:pPr>
            <a:r>
              <a:rPr sz="1100" b="0">
                <a:solidFill>
                  <a:srgbClr val="1A1A2E"/>
                </a:solidFill>
                <a:latin typeface="メイリオ"/>
                <a:ea typeface="メイリオ"/>
                <a:cs typeface="メイリオ"/>
              </a:rPr>
              <a:t>断定しない。</a:t>
            </a:r>
          </a:p>
        </p:txBody>
      </p:sp>
      <p:sp>
        <p:nvSpPr>
          <p:cNvPr id="14" name="TextBox 13"/>
          <p:cNvSpPr txBox="1"/>
          <p:nvPr/>
        </p:nvSpPr>
        <p:spPr>
          <a:xfrm>
            <a:off x="385200" y="5490000"/>
            <a:ext cx="9133200" cy="360000"/>
          </a:xfrm>
          <a:prstGeom prst="rect">
            <a:avLst/>
          </a:prstGeom>
          <a:noFill/>
        </p:spPr>
        <p:txBody>
          <a:bodyPr wrap="square" lIns="0" tIns="14400" rIns="0" bIns="14400" anchor="ctr">
            <a:spAutoFit/>
          </a:bodyPr>
          <a:lstStyle/>
          <a:p>
            <a:pPr algn="ctr">
              <a:lnSpc>
                <a:spcPct val="125000"/>
              </a:lnSpc>
            </a:pPr>
            <a:r>
              <a:rPr sz="1400" b="1">
                <a:solidFill>
                  <a:srgbClr val="C00000"/>
                </a:solidFill>
                <a:latin typeface="メイリオ"/>
                <a:ea typeface="メイリオ"/>
                <a:cs typeface="メイリオ"/>
              </a:rPr>
              <a:t>入会前の14日で予約を取り、入会後の14日で「やめない形」を作る。この2本で1セット。</a:t>
            </a:r>
          </a:p>
        </p:txBody>
      </p:sp>
      <p:sp>
        <p:nvSpPr>
          <p:cNvPr id="15" name="TextBox 14"/>
          <p:cNvSpPr txBox="1"/>
          <p:nvPr/>
        </p:nvSpPr>
        <p:spPr>
          <a:xfrm>
            <a:off x="385200" y="5940000"/>
            <a:ext cx="9133200" cy="503999"/>
          </a:xfrm>
          <a:prstGeom prst="rect">
            <a:avLst/>
          </a:prstGeom>
          <a:noFill/>
        </p:spPr>
        <p:txBody>
          <a:bodyPr wrap="square" lIns="0" tIns="14400" rIns="0" bIns="14400" anchor="t">
            <a:spAutoFit/>
          </a:bodyPr>
          <a:lstStyle/>
          <a:p>
            <a:pPr algn="l">
              <a:lnSpc>
                <a:spcPct val="125000"/>
              </a:lnSpc>
            </a:pPr>
            <a:r>
              <a:rPr sz="900" b="0">
                <a:solidFill>
                  <a:srgbClr val="5A5A72"/>
                </a:solidFill>
                <a:latin typeface="メイリオ"/>
                <a:ea typeface="メイリオ"/>
                <a:cs typeface="メイリオ"/>
              </a:rPr>
              <a:t>※ 配信内容の数値（週2〜3回・48〜72時間・タンパク質20〜30g・効果の出る時期など）は一般的な目安です。</a:t>
            </a:r>
          </a:p>
          <a:p>
            <a:pPr algn="l">
              <a:lnSpc>
                <a:spcPct val="125000"/>
              </a:lnSpc>
            </a:pPr>
            <a:r>
              <a:rPr sz="900" b="0">
                <a:solidFill>
                  <a:srgbClr val="5A5A72"/>
                </a:solidFill>
                <a:latin typeface="メイリオ"/>
                <a:ea typeface="メイリオ"/>
                <a:cs typeface="メイリオ"/>
              </a:rPr>
              <a:t>※ CV③＝友だち紹介・PT／物販の申込。継続率・在籍月数はLINE側では計測できないため、貴社の会員管理システムのデータで前後比較いたします。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29" name="Rectangle 28"/>
          <p:cNvSpPr/>
          <p:nvPr/>
        </p:nvSpPr>
        <p:spPr>
          <a:xfrm>
            <a:off x="429768" y="5413247"/>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13831"/>
            <a:ext cx="8814816" cy="274320"/>
          </a:xfrm>
          <a:prstGeom prst="rect">
            <a:avLst/>
          </a:prstGeom>
          <a:noFill/>
        </p:spPr>
        <p:txBody>
          <a:bodyPr wrap="square" lIns="0" tIns="0" rIns="0" bIns="0">
            <a:spAutoFit/>
          </a:bodyPr>
          <a:lstStyle/>
          <a:p>
            <a:r>
              <a:rPr sz="1400" b="0" dirty="0">
                <a:solidFill>
                  <a:srgbClr val="1C2233"/>
                </a:solidFill>
                <a:latin typeface="メイリオ"/>
                <a:ea typeface="メイリオ"/>
              </a:rPr>
              <a:t>入会タグで①→③に自動切替。</a:t>
            </a:r>
            <a:endParaRPr lang="en-US" sz="1400" b="0" dirty="0">
              <a:solidFill>
                <a:srgbClr val="1C2233"/>
              </a:solidFill>
              <a:latin typeface="メイリオ"/>
              <a:ea typeface="メイリオ"/>
            </a:endParaRP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162" y="1384615"/>
            <a:ext cx="8849262" cy="368643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9" name="Rectangle 28"/>
          <p:cNvSpPr/>
          <p:nvPr/>
        </p:nvSpPr>
        <p:spPr>
          <a:xfrm>
            <a:off x="429768" y="5525392"/>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dirty="0">
                <a:solidFill>
                  <a:srgbClr val="1C2233"/>
                </a:solidFill>
                <a:latin typeface="メイリオ"/>
                <a:ea typeface="メイリオ"/>
              </a:rPr>
              <a:t>入会タグで①→③に自動切替。</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5"/>
          <a:stretch>
            <a:fillRect/>
          </a:stretch>
        </p:blipFill>
        <p:spPr>
          <a:xfrm>
            <a:off x="3383538" y="2521928"/>
            <a:ext cx="2788401"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1通目で無料体験と期限を見せる。迷っている人には、30秒診断を用意する。</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2542032"/>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【〇〇フィットネス △△店】</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友だち追加ありがとうございます💪</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〇月〇日まで、無料体験を受付中です（見学だけでもOK）。</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「続けられるか不安」という方は、まずは</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30秒でわかる「体づくりタイプ診断」から。</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こちらから営業のお電話をすることはありません。</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ご質問はこのままトークで送ってください(10:00–20:00)</a:t>
            </a:r>
            <a:endParaRPr lang="ja-JP" altLang="en-US" sz="1100" dirty="0"/>
          </a:p>
        </p:txBody>
      </p:sp>
      <p:sp>
        <p:nvSpPr>
          <p:cNvPr id="6" name="Rounded Rectangle 5"/>
          <p:cNvSpPr/>
          <p:nvPr/>
        </p:nvSpPr>
        <p:spPr>
          <a:xfrm>
            <a:off x="38404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無料体験と期限は</a:t>
            </a:r>
          </a:p>
          <a:p>
            <a:pPr algn="ctr">
              <a:spcBef>
                <a:spcPts val="0"/>
              </a:spcBef>
            </a:pPr>
            <a:r>
              <a:rPr sz="1000" b="0">
                <a:solidFill>
                  <a:srgbClr val="646C82"/>
                </a:solidFill>
                <a:latin typeface="メイリオ"/>
                <a:ea typeface="メイリオ"/>
              </a:rPr>
              <a:t>バナーで見せる</a:t>
            </a:r>
          </a:p>
        </p:txBody>
      </p:sp>
      <p:sp>
        <p:nvSpPr>
          <p:cNvPr id="8" name="Rounded Rectangle 7"/>
          <p:cNvSpPr/>
          <p:nvPr/>
        </p:nvSpPr>
        <p:spPr>
          <a:xfrm>
            <a:off x="331012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E4E9F2"/>
          </a:solidFill>
          <a:ln w="9525">
            <a:solidFill>
              <a:srgbClr val="1F2A5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2" name="Rectangle 21"/>
          <p:cNvSpPr/>
          <p:nvPr/>
        </p:nvSpPr>
        <p:spPr>
          <a:xfrm>
            <a:off x="384048" y="4114800"/>
            <a:ext cx="4389120" cy="201168"/>
          </a:xfrm>
          <a:prstGeom prst="rect">
            <a:avLst/>
          </a:prstGeom>
          <a:noFill/>
          <a:ln>
            <a:noFill/>
          </a:ln>
        </p:spPr>
        <p:txBody>
          <a:bodyPr wrap="square" lIns="18288" tIns="0" rIns="0" bIns="0" rtlCol="0" anchor="ctr">
            <a:noAutofit/>
          </a:bodyPr>
          <a:lstStyle/>
          <a:p>
            <a:pPr algn="l">
              <a:buNone/>
            </a:pPr>
            <a:r>
              <a:rPr lang="ja-JP" altLang="en-US" sz="900" b="0" dirty="0">
                <a:solidFill>
                  <a:srgbClr val="646C82"/>
                </a:solidFill>
                <a:latin typeface="メイリオ" panose="020B0604030504040204" pitchFamily="50" charset="-128"/>
                <a:ea typeface="メイリオ" panose="020B0604030504040204" pitchFamily="50" charset="-128"/>
              </a:rPr>
              <a:t>▼ バナー画像（期限・特典は毎月替える）</a:t>
            </a:r>
            <a:endParaRPr lang="ja-JP" altLang="en-US" sz="900" dirty="0"/>
          </a:p>
        </p:txBody>
      </p:sp>
      <p:sp>
        <p:nvSpPr>
          <p:cNvPr id="23" name="Rounded Rectangle 22"/>
          <p:cNvSpPr/>
          <p:nvPr/>
        </p:nvSpPr>
        <p:spPr>
          <a:xfrm>
            <a:off x="384048" y="4325112"/>
            <a:ext cx="4389120" cy="713232"/>
          </a:xfrm>
          <a:prstGeom prst="roundRect">
            <a:avLst>
              <a:gd name="adj" fmla="val 10000"/>
            </a:avLst>
          </a:prstGeom>
          <a:solidFill>
            <a:srgbClr val="1F2A5C"/>
          </a:solidFill>
          <a:ln>
            <a:noFill/>
          </a:ln>
        </p:spPr>
        <p:txBody>
          <a:bodyPr wrap="square" lIns="128016" tIns="36576" rIns="1371600" bIns="36576" rtlCol="0" anchor="ctr">
            <a:noAutofit/>
          </a:bodyPr>
          <a:lstStyle/>
          <a:p>
            <a:pPr algn="l">
              <a:lnSpc>
                <a:spcPct val="105000"/>
              </a:lnSpc>
              <a:buNone/>
            </a:pPr>
            <a:r>
              <a:rPr lang="ja-JP" altLang="en-US" sz="1300" b="1" dirty="0">
                <a:solidFill>
                  <a:srgbClr val="FFFFFF"/>
                </a:solidFill>
                <a:latin typeface="メイリオ" panose="020B0604030504040204" pitchFamily="50" charset="-128"/>
                <a:ea typeface="メイリオ" panose="020B0604030504040204" pitchFamily="50" charset="-128"/>
              </a:rPr>
              <a:t>〇月〇日まで｜無料体験＋入会特典</a:t>
            </a:r>
            <a:endParaRPr lang="ja-JP" altLang="en-US" sz="1200" dirty="0"/>
          </a:p>
          <a:p>
            <a:pPr algn="l">
              <a:lnSpc>
                <a:spcPct val="105000"/>
              </a:lnSpc>
              <a:buNone/>
            </a:pPr>
            <a:r>
              <a:rPr lang="ja-JP" altLang="en-US" sz="1000" b="0" dirty="0">
                <a:solidFill>
                  <a:srgbClr val="FFFFFF"/>
                </a:solidFill>
                <a:latin typeface="メイリオ" panose="020B0604030504040204" pitchFamily="50" charset="-128"/>
                <a:ea typeface="メイリオ" panose="020B0604030504040204" pitchFamily="50" charset="-128"/>
              </a:rPr>
              <a:t>各店先着〇名・見学だけでもOK</a:t>
            </a:r>
            <a:endParaRPr lang="ja-JP" altLang="en-US" sz="1200" dirty="0"/>
          </a:p>
        </p:txBody>
      </p:sp>
      <p:sp>
        <p:nvSpPr>
          <p:cNvPr id="24" name="Rounded Rectangle 23"/>
          <p:cNvSpPr/>
          <p:nvPr/>
        </p:nvSpPr>
        <p:spPr>
          <a:xfrm>
            <a:off x="3456432" y="4498848"/>
            <a:ext cx="1170432" cy="365760"/>
          </a:xfrm>
          <a:prstGeom prst="roundRect">
            <a:avLst>
              <a:gd name="adj" fmla="val 30000"/>
            </a:avLst>
          </a:prstGeom>
          <a:solidFill>
            <a:srgbClr val="FFFFFF"/>
          </a:solidFill>
          <a:ln>
            <a:noFill/>
          </a:ln>
        </p:spPr>
        <p:txBody>
          <a:bodyPr wrap="square" lIns="18288" tIns="0" rIns="18288" bIns="0" rtlCol="0" anchor="ctr">
            <a:noAutofit/>
          </a:bodyPr>
          <a:lstStyle/>
          <a:p>
            <a:pPr algn="ctr">
              <a:buNone/>
            </a:pPr>
            <a:r>
              <a:rPr lang="ja-JP" altLang="en-US" sz="1100" b="1" dirty="0">
                <a:solidFill>
                  <a:srgbClr val="1F2A5C"/>
                </a:solidFill>
                <a:latin typeface="メイリオ" panose="020B0604030504040204" pitchFamily="50" charset="-128"/>
                <a:ea typeface="メイリオ" panose="020B0604030504040204" pitchFamily="50" charset="-128"/>
              </a:rPr>
              <a:t>予約する ▶</a:t>
            </a:r>
            <a:endParaRPr lang="ja-JP" altLang="en-US" sz="1100" dirty="0"/>
          </a:p>
        </p:txBody>
      </p:sp>
    </p:spTree>
    <p:extLst>
      <p:ext uri="{BB962C8B-B14F-4D97-AF65-F5344CB8AC3E}">
        <p14:creationId xmlns:p14="http://schemas.microsoft.com/office/powerpoint/2010/main" val="188939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あいさつメッセージ｜友だち追加の直後に届く1通目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1通目で無料体験と期限を見せる。迷っている人には、30秒診断を用意する。</a:t>
            </a:r>
          </a:p>
        </p:txBody>
      </p:sp>
      <p:sp>
        <p:nvSpPr>
          <p:cNvPr id="19" name="TextBox 18"/>
          <p:cNvSpPr txBox="1"/>
          <p:nvPr/>
        </p:nvSpPr>
        <p:spPr>
          <a:xfrm>
            <a:off x="704088" y="4900000"/>
            <a:ext cx="8503920"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文面・配色・診断の設問は貴社トーンに合わせて調整します。</a:t>
            </a:r>
          </a:p>
        </p:txBody>
      </p:sp>
      <p:sp>
        <p:nvSpPr>
          <p:cNvPr id="22" name="TextBox 21"/>
          <p:cNvSpPr txBox="1"/>
          <p:nvPr/>
        </p:nvSpPr>
        <p:spPr>
          <a:xfrm>
            <a:off x="704088" y="1500000"/>
            <a:ext cx="8503920"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704088" y="2650000"/>
            <a:ext cx="8503920"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無料体験と期限は、バナーで見せる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今すぐの人は、そのまま体験予約へ</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迷っている人には、4問の診断を用意します。</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704088" y="3800000"/>
            <a:ext cx="8503920"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ea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ea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ea typeface="メイリオ"/>
              </a:rPr>
              <a:t>LINEヤフー公式機能</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ea typeface="メイリオ"/>
              </a:rPr>
              <a:t>友だち化・再来店へ</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ea typeface="メイリオ"/>
              </a:rPr>
              <a:t>※ 通知メッセージは別途費用（初期20万円・月額60万円〜／</a:t>
            </a:r>
            <a:r>
              <a:rPr sz="1000" b="0" dirty="0" err="1">
                <a:solidFill>
                  <a:srgbClr val="646C82"/>
                </a:solidFill>
                <a:latin typeface="メイリオ"/>
                <a:ea typeface="メイリオ"/>
              </a:rPr>
              <a:t>社内料金表</a:t>
            </a:r>
            <a:r>
              <a:rPr sz="1000" b="0" dirty="0">
                <a:solidFill>
                  <a:srgbClr val="646C82"/>
                </a:solidFill>
                <a:latin typeface="メイリオ"/>
                <a:ea typeface="メイリオ"/>
              </a:rPr>
              <a:t>）。</a:t>
            </a:r>
            <a:r>
              <a:rPr sz="1000" b="0" dirty="0" err="1">
                <a:solidFill>
                  <a:srgbClr val="646C82"/>
                </a:solidFill>
                <a:latin typeface="メイリオ"/>
                <a:ea typeface="メイリオ"/>
              </a:rPr>
              <a:t>配信できる内容には要件・審査があります</a:t>
            </a:r>
            <a:r>
              <a:rPr sz="1000" b="0" dirty="0">
                <a:solidFill>
                  <a:srgbClr val="646C82"/>
                </a:solidFill>
                <a:latin typeface="メイリオ"/>
                <a:ea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無断キャンセルが課題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1F2A5C"/>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002060"/>
                </a:solidFill>
                <a:latin typeface="メイリオ"/>
                <a:ea typeface="メイリオ"/>
                <a:cs typeface="メイリオ"/>
              </a:rPr>
              <a:t>③ 在籍2ヶ月分が ＋67万円</a:t>
            </a:r>
          </a:p>
          <a:p>
            <a:pPr algn="l"/>
            <a:r>
              <a:rPr sz="1100" b="0">
                <a:solidFill>
                  <a:srgbClr val="1A1A2E"/>
                </a:solidFill>
                <a:latin typeface="メイリオ"/>
                <a:ea typeface="メイリオ"/>
                <a:cs typeface="メイリオ"/>
              </a:rPr>
              <a:t>増分182万円の37%。ただし在籍月数は</a:t>
            </a:r>
          </a:p>
          <a:p>
            <a:pPr algn="l"/>
            <a:r>
              <a:rPr sz="1100" b="0">
                <a:solidFill>
                  <a:srgbClr val="1A1A2E"/>
                </a:solidFill>
                <a:latin typeface="メイリオ"/>
                <a:ea typeface="メイリオ"/>
                <a:cs typeface="メイリオ"/>
              </a:rPr>
              <a:t>LINEでは測れず、会員データで前後比較する。</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★前提（すべて社内想定）：友だち化率3%／体験予約転換率8%／平均在籍12→14ヶ月／来店率60→75%。月会費・在籍月数は業界一般値。</a:t>
            </a:r>
          </a:p>
          <a:p>
            <a:r>
              <a:rPr sz="900" b="0">
                <a:solidFill>
                  <a:srgbClr val="646C82"/>
                </a:solidFill>
                <a:latin typeface="メイリオ"/>
                <a:ea typeface="メイリオ"/>
                <a:cs typeface="メイリオ"/>
              </a:rPr>
              <a:t>※ 在籍月数はLINE側では計測できません。導入前後の在籍月数は、貴社の会員管理システムのデータで比較いたします。</a:t>
            </a:r>
          </a:p>
        </p:txBody>
      </p:sp>
    </p:spTree>
    <p:extLst>
      <p:ext uri="{BB962C8B-B14F-4D97-AF65-F5344CB8AC3E}">
        <p14:creationId xmlns:p14="http://schemas.microsoft.com/office/powerpoint/2010/main" val="41122265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入会を検討する方のカスタマージャーニー（8フェーズ）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5-10</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6" name="テキスト ボックス 5">
            <a:extLst>
              <a:ext uri="{FF2B5EF4-FFF2-40B4-BE49-F238E27FC236}">
                <a16:creationId xmlns:a16="http://schemas.microsoft.com/office/drawing/2014/main" id="{14EEAC90-C9E7-2110-180C-DAC5C9A3E290}"/>
              </a:ext>
            </a:extLst>
          </p:cNvPr>
          <p:cNvSpPr txBox="1"/>
          <p:nvPr/>
        </p:nvSpPr>
        <p:spPr>
          <a:xfrm>
            <a:off x="320847" y="3458307"/>
            <a:ext cx="3538935" cy="246221"/>
          </a:xfrm>
          <a:prstGeom prst="rect">
            <a:avLst/>
          </a:prstGeom>
          <a:solidFill>
            <a:schemeClr val="bg1">
              <a:alpha val="65000"/>
            </a:schemeClr>
          </a:solidFill>
        </p:spPr>
        <p:txBody>
          <a:bodyPr wrap="square">
            <a:spAutoFit/>
          </a:bodyPr>
          <a:lstStyle/>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初期設計も</a:t>
            </a:r>
            <a:r>
              <a:rPr kumimoji="1" lang="en-US" altLang="ja-JP" sz="1000" dirty="0">
                <a:solidFill>
                  <a:srgbClr val="FF0000"/>
                </a:solidFill>
                <a:latin typeface="メイリオ" panose="020B0604030504040204" pitchFamily="50" charset="-128"/>
                <a:ea typeface="メイリオ" panose="020B0604030504040204" pitchFamily="50" charset="-128"/>
              </a:rPr>
              <a:t>3</a:t>
            </a:r>
            <a:r>
              <a:rPr kumimoji="1" lang="ja-JP" altLang="en-US" sz="1000" dirty="0">
                <a:solidFill>
                  <a:srgbClr val="FF0000"/>
                </a:solidFill>
                <a:latin typeface="メイリオ" panose="020B0604030504040204" pitchFamily="50" charset="-128"/>
                <a:ea typeface="メイリオ" panose="020B0604030504040204" pitchFamily="50" charset="-128"/>
              </a:rPr>
              <a:t>か月に</a:t>
            </a:r>
            <a:r>
              <a:rPr kumimoji="1" lang="en-US" altLang="ja-JP" sz="1000" dirty="0">
                <a:solidFill>
                  <a:srgbClr val="FF0000"/>
                </a:solidFill>
                <a:latin typeface="メイリオ" panose="020B0604030504040204" pitchFamily="50" charset="-128"/>
                <a:ea typeface="メイリオ" panose="020B0604030504040204" pitchFamily="50" charset="-128"/>
              </a:rPr>
              <a:t>1</a:t>
            </a:r>
            <a:r>
              <a:rPr kumimoji="1" lang="ja-JP" altLang="en-US" sz="1000" dirty="0">
                <a:solidFill>
                  <a:srgbClr val="FF0000"/>
                </a:solidFill>
                <a:latin typeface="メイリオ" panose="020B0604030504040204" pitchFamily="50" charset="-128"/>
                <a:ea typeface="メイリオ" panose="020B0604030504040204" pitchFamily="50" charset="-128"/>
              </a:rPr>
              <a:t>回の頻度で設計の見直しを行います。</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2"/>
          <a:stretch>
            <a:fillRect/>
          </a:stretch>
        </p:blipFill>
        <p:spPr>
          <a:xfrm>
            <a:off x="1183616" y="2131090"/>
            <a:ext cx="2498573" cy="1744287"/>
          </a:xfrm>
          <a:prstGeom prst="rect">
            <a:avLst/>
          </a:prstGeom>
        </p:spPr>
      </p:pic>
      <p:pic>
        <p:nvPicPr>
          <p:cNvPr id="8" name="図 7"/>
          <p:cNvPicPr>
            <a:picLocks noChangeAspect="1"/>
          </p:cNvPicPr>
          <p:nvPr/>
        </p:nvPicPr>
        <p:blipFill>
          <a:blip r:embed="rId3"/>
          <a:stretch>
            <a:fillRect/>
          </a:stretch>
        </p:blipFill>
        <p:spPr>
          <a:xfrm>
            <a:off x="3456146" y="2402524"/>
            <a:ext cx="2393091" cy="1668595"/>
          </a:xfrm>
          <a:prstGeom prst="rect">
            <a:avLst/>
          </a:prstGeom>
        </p:spPr>
      </p:pic>
      <p:pic>
        <p:nvPicPr>
          <p:cNvPr id="10" name="図 9"/>
          <p:cNvPicPr>
            <a:picLocks noChangeAspect="1"/>
          </p:cNvPicPr>
          <p:nvPr/>
        </p:nvPicPr>
        <p:blipFill>
          <a:blip r:embed="rId4"/>
          <a:stretch>
            <a:fillRect/>
          </a:stretch>
        </p:blipFill>
        <p:spPr>
          <a:xfrm>
            <a:off x="5697714" y="2676687"/>
            <a:ext cx="2432174" cy="1698131"/>
          </a:xfrm>
          <a:prstGeom prst="rect">
            <a:avLst/>
          </a:prstGeom>
        </p:spPr>
      </p:pic>
      <p:pic>
        <p:nvPicPr>
          <p:cNvPr id="14" name="図 13"/>
          <p:cNvPicPr>
            <a:picLocks noChangeAspect="1"/>
          </p:cNvPicPr>
          <p:nvPr/>
        </p:nvPicPr>
        <p:blipFill>
          <a:blip r:embed="rId5"/>
          <a:stretch>
            <a:fillRect/>
          </a:stretch>
        </p:blipFill>
        <p:spPr>
          <a:xfrm>
            <a:off x="1158180" y="4165451"/>
            <a:ext cx="2417022" cy="1682579"/>
          </a:xfrm>
          <a:prstGeom prst="rect">
            <a:avLst/>
          </a:prstGeom>
        </p:spPr>
      </p:pic>
      <p:pic>
        <p:nvPicPr>
          <p:cNvPr id="15" name="図 14"/>
          <p:cNvPicPr>
            <a:picLocks noChangeAspect="1"/>
          </p:cNvPicPr>
          <p:nvPr/>
        </p:nvPicPr>
        <p:blipFill>
          <a:blip r:embed="rId6"/>
          <a:stretch>
            <a:fillRect/>
          </a:stretch>
        </p:blipFill>
        <p:spPr>
          <a:xfrm>
            <a:off x="3434655" y="4410829"/>
            <a:ext cx="2417022" cy="1683209"/>
          </a:xfrm>
          <a:prstGeom prst="rect">
            <a:avLst/>
          </a:prstGeom>
        </p:spPr>
      </p:pic>
      <p:pic>
        <p:nvPicPr>
          <p:cNvPr id="24" name="図 23"/>
          <p:cNvPicPr>
            <a:picLocks noChangeAspect="1"/>
          </p:cNvPicPr>
          <p:nvPr/>
        </p:nvPicPr>
        <p:blipFill>
          <a:blip r:embed="rId7"/>
          <a:stretch>
            <a:fillRect/>
          </a:stretch>
        </p:blipFill>
        <p:spPr>
          <a:xfrm>
            <a:off x="5697714" y="4687135"/>
            <a:ext cx="2427146" cy="1691079"/>
          </a:xfrm>
          <a:prstGeom prst="rect">
            <a:avLst/>
          </a:prstGeom>
        </p:spPr>
      </p:pic>
      <p:pic>
        <p:nvPicPr>
          <p:cNvPr id="26" name="図 25"/>
          <p:cNvPicPr>
            <a:picLocks noChangeAspect="1"/>
          </p:cNvPicPr>
          <p:nvPr/>
        </p:nvPicPr>
        <p:blipFill>
          <a:blip r:embed="rId8"/>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2"/>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3"/>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3"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4"/>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6"/>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4"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841248" y="1783080"/>
            <a:ext cx="12527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121408" y="1783080"/>
            <a:ext cx="379476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943600" y="1783080"/>
            <a:ext cx="82296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841248" y="22037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121408" y="22037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943600" y="22037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841248" y="31181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121408" y="31181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943600" y="31181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841248" y="40325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121408" y="40325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943600" y="40325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841248" y="49469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54" name="Rectangle 6">
            <a:extLst>
              <a:ext uri="{FF2B5EF4-FFF2-40B4-BE49-F238E27FC236}">
                <a16:creationId xmlns:a16="http://schemas.microsoft.com/office/drawing/2014/main" id="{3006611C-155B-26D2-87F5-F1073BED0DD5}"/>
              </a:ext>
            </a:extLst>
          </p:cNvPr>
          <p:cNvSpPr/>
          <p:nvPr/>
        </p:nvSpPr>
        <p:spPr>
          <a:xfrm>
            <a:off x="6793992" y="1783080"/>
            <a:ext cx="220370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55" name="Rectangle 10">
            <a:extLst>
              <a:ext uri="{FF2B5EF4-FFF2-40B4-BE49-F238E27FC236}">
                <a16:creationId xmlns:a16="http://schemas.microsoft.com/office/drawing/2014/main" id="{86F1D30D-393D-E40A-6D1C-9AFE711E6551}"/>
              </a:ext>
            </a:extLst>
          </p:cNvPr>
          <p:cNvSpPr/>
          <p:nvPr/>
        </p:nvSpPr>
        <p:spPr>
          <a:xfrm>
            <a:off x="6793992" y="22037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56" name="Rectangle 14">
            <a:extLst>
              <a:ext uri="{FF2B5EF4-FFF2-40B4-BE49-F238E27FC236}">
                <a16:creationId xmlns:a16="http://schemas.microsoft.com/office/drawing/2014/main" id="{BDC1EB93-A86A-84CE-F73E-2149AD61E5FC}"/>
              </a:ext>
            </a:extLst>
          </p:cNvPr>
          <p:cNvSpPr/>
          <p:nvPr/>
        </p:nvSpPr>
        <p:spPr>
          <a:xfrm>
            <a:off x="6793992" y="31181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57" name="Rectangle 18">
            <a:extLst>
              <a:ext uri="{FF2B5EF4-FFF2-40B4-BE49-F238E27FC236}">
                <a16:creationId xmlns:a16="http://schemas.microsoft.com/office/drawing/2014/main" id="{188A2264-AC44-69F3-AADC-6C99A3918A5E}"/>
              </a:ext>
            </a:extLst>
          </p:cNvPr>
          <p:cNvSpPr/>
          <p:nvPr/>
        </p:nvSpPr>
        <p:spPr>
          <a:xfrm>
            <a:off x="6793992" y="40325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58" name="Rectangle 22">
            <a:extLst>
              <a:ext uri="{FF2B5EF4-FFF2-40B4-BE49-F238E27FC236}">
                <a16:creationId xmlns:a16="http://schemas.microsoft.com/office/drawing/2014/main" id="{E8B63E0D-903B-EFBB-A4FF-728A697ABE8D}"/>
              </a:ext>
            </a:extLst>
          </p:cNvPr>
          <p:cNvSpPr/>
          <p:nvPr/>
        </p:nvSpPr>
        <p:spPr>
          <a:xfrm>
            <a:off x="6793992" y="49469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45" name="Rectangle 20">
            <a:extLst>
              <a:ext uri="{FF2B5EF4-FFF2-40B4-BE49-F238E27FC236}">
                <a16:creationId xmlns:a16="http://schemas.microsoft.com/office/drawing/2014/main" id="{B7F2AF46-39FB-CD72-C394-6101BBA1E6AE}"/>
              </a:ext>
            </a:extLst>
          </p:cNvPr>
          <p:cNvSpPr/>
          <p:nvPr/>
        </p:nvSpPr>
        <p:spPr>
          <a:xfrm>
            <a:off x="2121408" y="49469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943600" y="49469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841248" y="5897880"/>
            <a:ext cx="8156448" cy="603504"/>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a:t>
            </a:r>
            <a:br>
              <a:rPr sz="1400" b="1">
                <a:solidFill>
                  <a:srgbClr val="1F2A5C"/>
                </a:solidFill>
                <a:latin typeface="メイリオ"/>
                <a:ea typeface="メイリオ"/>
                <a:cs typeface="メイリオ"/>
              </a:rPr>
            </a:br>
            <a:r>
              <a:rPr sz="1400" b="1">
                <a:solidFill>
                  <a:srgbClr val="1F2A5C"/>
                </a:solidFill>
                <a:latin typeface="メイリオ"/>
                <a:ea typeface="メイリオ"/>
                <a:cs typeface="メイリオ"/>
              </a:rPr>
              <a:t>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841248" y="1783080"/>
            <a:ext cx="207568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944368" y="1783080"/>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841248" y="2203704"/>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944368" y="2203704"/>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841248" y="2770632"/>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944368" y="2770632"/>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841248" y="3337560"/>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944368" y="3337560"/>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841248" y="3904487"/>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944368" y="3904487"/>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841248" y="4471416"/>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944368" y="4471416"/>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841248" y="5038344"/>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944368" y="5038344"/>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841248" y="5605272"/>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6" name="Rectangle 5">
            <a:extLst>
              <a:ext uri="{FF2B5EF4-FFF2-40B4-BE49-F238E27FC236}">
                <a16:creationId xmlns:a16="http://schemas.microsoft.com/office/drawing/2014/main" id="{B38F1B92-D634-77F8-3356-02B435E0FAEE}"/>
              </a:ext>
            </a:extLst>
          </p:cNvPr>
          <p:cNvSpPr/>
          <p:nvPr/>
        </p:nvSpPr>
        <p:spPr>
          <a:xfrm>
            <a:off x="6967728" y="1783080"/>
            <a:ext cx="202996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7" name="Rectangle 8">
            <a:extLst>
              <a:ext uri="{FF2B5EF4-FFF2-40B4-BE49-F238E27FC236}">
                <a16:creationId xmlns:a16="http://schemas.microsoft.com/office/drawing/2014/main" id="{192BDBE0-827A-A566-E2C7-3CE69EF889BE}"/>
              </a:ext>
            </a:extLst>
          </p:cNvPr>
          <p:cNvSpPr/>
          <p:nvPr/>
        </p:nvSpPr>
        <p:spPr>
          <a:xfrm>
            <a:off x="6967728" y="2203704"/>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8" name="Rectangle 11">
            <a:extLst>
              <a:ext uri="{FF2B5EF4-FFF2-40B4-BE49-F238E27FC236}">
                <a16:creationId xmlns:a16="http://schemas.microsoft.com/office/drawing/2014/main" id="{DF2E3318-BC22-D10A-07C4-5D09E1B00A87}"/>
              </a:ext>
            </a:extLst>
          </p:cNvPr>
          <p:cNvSpPr/>
          <p:nvPr/>
        </p:nvSpPr>
        <p:spPr>
          <a:xfrm>
            <a:off x="6967728" y="2770632"/>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9" name="Rectangle 14">
            <a:extLst>
              <a:ext uri="{FF2B5EF4-FFF2-40B4-BE49-F238E27FC236}">
                <a16:creationId xmlns:a16="http://schemas.microsoft.com/office/drawing/2014/main" id="{2F30D830-C8E5-B05E-3354-E6780E4D8F34}"/>
              </a:ext>
            </a:extLst>
          </p:cNvPr>
          <p:cNvSpPr/>
          <p:nvPr/>
        </p:nvSpPr>
        <p:spPr>
          <a:xfrm>
            <a:off x="6967728" y="3337560"/>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0" name="Rectangle 17">
            <a:extLst>
              <a:ext uri="{FF2B5EF4-FFF2-40B4-BE49-F238E27FC236}">
                <a16:creationId xmlns:a16="http://schemas.microsoft.com/office/drawing/2014/main" id="{68B146F0-A9E6-7C8D-DC20-A149DB41E5D2}"/>
              </a:ext>
            </a:extLst>
          </p:cNvPr>
          <p:cNvSpPr/>
          <p:nvPr/>
        </p:nvSpPr>
        <p:spPr>
          <a:xfrm>
            <a:off x="6967728" y="3904487"/>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1" name="Rectangle 20">
            <a:extLst>
              <a:ext uri="{FF2B5EF4-FFF2-40B4-BE49-F238E27FC236}">
                <a16:creationId xmlns:a16="http://schemas.microsoft.com/office/drawing/2014/main" id="{886B0D5C-0C30-0B30-0BA4-E1C772ECF373}"/>
              </a:ext>
            </a:extLst>
          </p:cNvPr>
          <p:cNvSpPr/>
          <p:nvPr/>
        </p:nvSpPr>
        <p:spPr>
          <a:xfrm>
            <a:off x="6967728" y="4471416"/>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2" name="Rectangle 23">
            <a:extLst>
              <a:ext uri="{FF2B5EF4-FFF2-40B4-BE49-F238E27FC236}">
                <a16:creationId xmlns:a16="http://schemas.microsoft.com/office/drawing/2014/main" id="{22594C73-0280-1178-5856-83C2C8C7B870}"/>
              </a:ext>
            </a:extLst>
          </p:cNvPr>
          <p:cNvSpPr/>
          <p:nvPr/>
        </p:nvSpPr>
        <p:spPr>
          <a:xfrm>
            <a:off x="6967728" y="5038344"/>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3" name="Rectangle 26">
            <a:extLst>
              <a:ext uri="{FF2B5EF4-FFF2-40B4-BE49-F238E27FC236}">
                <a16:creationId xmlns:a16="http://schemas.microsoft.com/office/drawing/2014/main" id="{646B48C3-12AF-E6E5-8AEE-F4C5DD2EEC0C}"/>
              </a:ext>
            </a:extLst>
          </p:cNvPr>
          <p:cNvSpPr/>
          <p:nvPr/>
        </p:nvSpPr>
        <p:spPr>
          <a:xfrm>
            <a:off x="6967728" y="5605272"/>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1" name="Rectangle 25">
            <a:extLst>
              <a:ext uri="{FF2B5EF4-FFF2-40B4-BE49-F238E27FC236}">
                <a16:creationId xmlns:a16="http://schemas.microsoft.com/office/drawing/2014/main" id="{FC84BF14-9CF1-6C23-B694-B5ABD998471B}"/>
              </a:ext>
            </a:extLst>
          </p:cNvPr>
          <p:cNvSpPr/>
          <p:nvPr/>
        </p:nvSpPr>
        <p:spPr>
          <a:xfrm>
            <a:off x="2944368" y="5605272"/>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841248" y="6307118"/>
            <a:ext cx="8156448"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36762" y="1780907"/>
            <a:ext cx="171441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36762" y="2203668"/>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836762" y="280978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836762" y="342460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836762" y="4030719"/>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836762" y="464554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836762" y="525165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70" name="Rectangle 5">
            <a:extLst>
              <a:ext uri="{FF2B5EF4-FFF2-40B4-BE49-F238E27FC236}">
                <a16:creationId xmlns:a16="http://schemas.microsoft.com/office/drawing/2014/main" id="{5BA3C8AC-F83B-8887-50C2-B4AED74F4F54}"/>
              </a:ext>
            </a:extLst>
          </p:cNvPr>
          <p:cNvSpPr/>
          <p:nvPr/>
        </p:nvSpPr>
        <p:spPr>
          <a:xfrm>
            <a:off x="6601968" y="1780907"/>
            <a:ext cx="2395383"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1" name="Rectangle 8">
            <a:extLst>
              <a:ext uri="{FF2B5EF4-FFF2-40B4-BE49-F238E27FC236}">
                <a16:creationId xmlns:a16="http://schemas.microsoft.com/office/drawing/2014/main" id="{090C52B4-5C5E-4082-D9D0-B3F682D1D56B}"/>
              </a:ext>
            </a:extLst>
          </p:cNvPr>
          <p:cNvSpPr/>
          <p:nvPr/>
        </p:nvSpPr>
        <p:spPr>
          <a:xfrm>
            <a:off x="6601968" y="2203668"/>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2" name="Rectangle 11">
            <a:extLst>
              <a:ext uri="{FF2B5EF4-FFF2-40B4-BE49-F238E27FC236}">
                <a16:creationId xmlns:a16="http://schemas.microsoft.com/office/drawing/2014/main" id="{5D95E04F-E0EF-7048-CE4F-52EF8E06A51C}"/>
              </a:ext>
            </a:extLst>
          </p:cNvPr>
          <p:cNvSpPr/>
          <p:nvPr/>
        </p:nvSpPr>
        <p:spPr>
          <a:xfrm>
            <a:off x="6601968" y="2809782"/>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3" name="Rectangle 14">
            <a:extLst>
              <a:ext uri="{FF2B5EF4-FFF2-40B4-BE49-F238E27FC236}">
                <a16:creationId xmlns:a16="http://schemas.microsoft.com/office/drawing/2014/main" id="{8DF123B9-F9C1-F5AC-B9B8-847E3B54BB6E}"/>
              </a:ext>
            </a:extLst>
          </p:cNvPr>
          <p:cNvSpPr/>
          <p:nvPr/>
        </p:nvSpPr>
        <p:spPr>
          <a:xfrm>
            <a:off x="6601968" y="3424605"/>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4" name="Rectangle 17">
            <a:extLst>
              <a:ext uri="{FF2B5EF4-FFF2-40B4-BE49-F238E27FC236}">
                <a16:creationId xmlns:a16="http://schemas.microsoft.com/office/drawing/2014/main" id="{8586DBF7-7FC5-FCBD-008A-A179145000C4}"/>
              </a:ext>
            </a:extLst>
          </p:cNvPr>
          <p:cNvSpPr/>
          <p:nvPr/>
        </p:nvSpPr>
        <p:spPr>
          <a:xfrm>
            <a:off x="6601968" y="4030719"/>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0">
            <a:extLst>
              <a:ext uri="{FF2B5EF4-FFF2-40B4-BE49-F238E27FC236}">
                <a16:creationId xmlns:a16="http://schemas.microsoft.com/office/drawing/2014/main" id="{DB7FB4C0-51C6-3078-A140-B7A1B50F861A}"/>
              </a:ext>
            </a:extLst>
          </p:cNvPr>
          <p:cNvSpPr/>
          <p:nvPr/>
        </p:nvSpPr>
        <p:spPr>
          <a:xfrm>
            <a:off x="6601968" y="4645542"/>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6" name="Rectangle 23">
            <a:extLst>
              <a:ext uri="{FF2B5EF4-FFF2-40B4-BE49-F238E27FC236}">
                <a16:creationId xmlns:a16="http://schemas.microsoft.com/office/drawing/2014/main" id="{0B10266D-13DE-7185-5A31-5B2D7BD7491A}"/>
              </a:ext>
            </a:extLst>
          </p:cNvPr>
          <p:cNvSpPr/>
          <p:nvPr/>
        </p:nvSpPr>
        <p:spPr>
          <a:xfrm>
            <a:off x="6601968" y="5251655"/>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836762" y="6000207"/>
            <a:ext cx="8160589"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41248" y="1783080"/>
            <a:ext cx="1709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3080"/>
            <a:ext cx="641908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41248" y="2203704"/>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704"/>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841248" y="2811780"/>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2578608" y="2811780"/>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841248" y="3419856"/>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2578608" y="3419856"/>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841248" y="4027932"/>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2578608" y="4027932"/>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841248" y="4636008"/>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2578608" y="4636008"/>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841248" y="5897880"/>
            <a:ext cx="8156448" cy="603504"/>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a:t>
            </a:r>
            <a:br>
              <a:rPr lang="ja-JP" altLang="en-US" sz="1400" b="1" dirty="0">
                <a:solidFill>
                  <a:srgbClr val="1F2A5C"/>
                </a:solidFill>
                <a:latin typeface="メイリオ"/>
                <a:ea typeface="メイリオ"/>
                <a:cs typeface="メイリオ"/>
              </a:rPr>
            </a:br>
            <a:r>
              <a:rPr lang="ja-JP" altLang="en-US" sz="1400" b="1" dirty="0">
                <a:solidFill>
                  <a:srgbClr val="1F2A5C"/>
                </a:solidFill>
                <a:latin typeface="メイリオ"/>
                <a:ea typeface="メイリオ"/>
                <a:cs typeface="メイリオ"/>
              </a:rPr>
              <a:t>管理画面の共有をいただければ詳細なご提案が可能</a:t>
            </a:r>
            <a:endParaRPr sz="1400" b="1" dirty="0">
              <a:solidFill>
                <a:srgbClr val="1F2A5C"/>
              </a:solidFill>
              <a:latin typeface="メイリオ"/>
              <a:ea typeface="メイリオ"/>
              <a:cs typeface="メイリオ"/>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2"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Rectangle 88"/>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90" name="Rectangle 89"/>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サイト・広告・店頭・SNS</a:t>
            </a:r>
          </a:p>
          <a:p>
            <a:pPr algn="l">
              <a:lnSpc>
                <a:spcPct val="110000"/>
              </a:lnSpc>
              <a:spcAft>
                <a:spcPts val="0"/>
              </a:spcAft>
            </a:pPr>
            <a:r>
              <a:rPr sz="1050" b="0">
                <a:solidFill>
                  <a:srgbClr val="333333"/>
                </a:solidFill>
                <a:latin typeface="メイリオ"/>
                <a:ea typeface="メイリオ"/>
                <a:cs typeface="メイリオ"/>
              </a:rPr>
              <a:t>離脱防止ポップアップ／店頭POP・チラシのQR／</a:t>
            </a:r>
          </a:p>
          <a:p>
            <a:pPr algn="l">
              <a:lnSpc>
                <a:spcPct val="110000"/>
              </a:lnSpc>
              <a:spcAft>
                <a:spcPts val="0"/>
              </a:spcAft>
            </a:pPr>
            <a:r>
              <a:rPr sz="1050" b="0">
                <a:solidFill>
                  <a:srgbClr val="333333"/>
                </a:solidFill>
                <a:latin typeface="メイリオ"/>
                <a:ea typeface="メイリオ"/>
                <a:cs typeface="メイリオ"/>
              </a:rPr>
              <a:t>サンクスLINE誘導</a:t>
            </a:r>
          </a:p>
        </p:txBody>
      </p:sp>
      <p:sp>
        <p:nvSpPr>
          <p:cNvPr id="91" name="TextBox 90"/>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93" name="Rectangle 92"/>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a:t>
            </a:r>
          </a:p>
          <a:p>
            <a:pPr algn="l">
              <a:lnSpc>
                <a:spcPct val="110000"/>
              </a:lnSpc>
              <a:spcAft>
                <a:spcPts val="0"/>
              </a:spcAft>
            </a:pPr>
            <a:r>
              <a:rPr sz="1050" b="0">
                <a:solidFill>
                  <a:srgbClr val="333333"/>
                </a:solidFill>
                <a:latin typeface="メイリオ"/>
                <a:ea typeface="メイリオ"/>
                <a:cs typeface="メイリオ"/>
              </a:rPr>
              <a:t>無料体験と30秒診断を受け取る</a:t>
            </a:r>
          </a:p>
        </p:txBody>
      </p:sp>
      <p:sp>
        <p:nvSpPr>
          <p:cNvPr id="94" name="TextBox 93"/>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6" name="Rectangle 95"/>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あいさつメッセージ</a:t>
            </a:r>
          </a:p>
          <a:p>
            <a:pPr algn="l">
              <a:lnSpc>
                <a:spcPct val="110000"/>
              </a:lnSpc>
              <a:spcAft>
                <a:spcPts val="0"/>
              </a:spcAft>
            </a:pPr>
            <a:r>
              <a:rPr sz="1050" b="0">
                <a:solidFill>
                  <a:srgbClr val="333333"/>
                </a:solidFill>
                <a:latin typeface="メイリオ"/>
                <a:ea typeface="メイリオ"/>
                <a:cs typeface="メイリオ"/>
              </a:rPr>
              <a:t>30秒 体づくりタイプ診断</a:t>
            </a:r>
          </a:p>
        </p:txBody>
      </p:sp>
      <p:sp>
        <p:nvSpPr>
          <p:cNvPr id="97" name="TextBox 96"/>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8" name="Rectangle 97"/>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9" name="Rectangle 98"/>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友だちとしてつながり続ける</a:t>
            </a:r>
          </a:p>
        </p:txBody>
      </p:sp>
      <p:sp>
        <p:nvSpPr>
          <p:cNvPr id="100" name="TextBox 99"/>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入会を決めていない方とも、</a:t>
            </a:r>
          </a:p>
          <a:p>
            <a:pPr algn="l">
              <a:lnSpc>
                <a:spcPct val="105000"/>
              </a:lnSpc>
              <a:spcAft>
                <a:spcPts val="200"/>
              </a:spcAft>
            </a:pPr>
            <a:r>
              <a:rPr sz="1200" b="0">
                <a:solidFill>
                  <a:srgbClr val="333333"/>
                </a:solidFill>
                <a:latin typeface="メイリオ"/>
                <a:ea typeface="メイリオ"/>
                <a:cs typeface="メイリオ"/>
              </a:rPr>
              <a:t>LINEでつながる</a:t>
            </a:r>
          </a:p>
        </p:txBody>
      </p:sp>
      <p:sp>
        <p:nvSpPr>
          <p:cNvPr id="101" name="TextBox 100"/>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ジムを探している方</a:t>
            </a:r>
          </a:p>
          <a:p>
            <a:pPr algn="l">
              <a:lnSpc>
                <a:spcPct val="105000"/>
              </a:lnSpc>
              <a:spcAft>
                <a:spcPts val="200"/>
              </a:spcAft>
            </a:pPr>
            <a:r>
              <a:rPr sz="1200" b="0">
                <a:solidFill>
                  <a:srgbClr val="333333"/>
                </a:solidFill>
                <a:latin typeface="メイリオ"/>
                <a:ea typeface="メイリオ"/>
                <a:cs typeface="メイリオ"/>
              </a:rPr>
              <a:t>（「続けられるか不安」な方も含む）</a:t>
            </a:r>
          </a:p>
        </p:txBody>
      </p:sp>
      <p:sp>
        <p:nvSpPr>
          <p:cNvPr id="102" name="TextBox 101"/>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離脱防止ポップアップ／</a:t>
            </a:r>
          </a:p>
          <a:p>
            <a:pPr algn="l">
              <a:lnSpc>
                <a:spcPct val="105000"/>
              </a:lnSpc>
              <a:spcAft>
                <a:spcPts val="200"/>
              </a:spcAft>
            </a:pPr>
            <a:r>
              <a:rPr sz="1200" b="0">
                <a:solidFill>
                  <a:srgbClr val="333333"/>
                </a:solidFill>
                <a:latin typeface="メイリオ"/>
                <a:ea typeface="メイリオ"/>
                <a:cs typeface="メイリオ"/>
              </a:rPr>
              <a:t>店頭POP・チラシのQR／</a:t>
            </a:r>
          </a:p>
          <a:p>
            <a:pPr algn="l">
              <a:lnSpc>
                <a:spcPct val="105000"/>
              </a:lnSpc>
              <a:spcAft>
                <a:spcPts val="200"/>
              </a:spcAft>
            </a:pPr>
            <a:r>
              <a:rPr sz="1200" b="0">
                <a:solidFill>
                  <a:srgbClr val="333333"/>
                </a:solidFill>
                <a:latin typeface="メイリオ"/>
                <a:ea typeface="メイリオ"/>
                <a:cs typeface="メイリオ"/>
              </a:rPr>
              <a:t>体験予約の完了画面からのLINE誘導</a:t>
            </a:r>
          </a:p>
        </p:txBody>
      </p:sp>
      <p:sp>
        <p:nvSpPr>
          <p:cNvPr id="103" name="TextBox 102"/>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友だち追加数／入口ごとの追加数</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Rectangle 84"/>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86" name="Rectangle 85"/>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友だち全体</a:t>
            </a:r>
          </a:p>
        </p:txBody>
      </p:sp>
      <p:sp>
        <p:nvSpPr>
          <p:cNvPr id="87" name="TextBox 86"/>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8" name="Rectangle 87"/>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89" name="Rectangle 88"/>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企画配信</a:t>
            </a:r>
          </a:p>
          <a:p>
            <a:pPr algn="l">
              <a:lnSpc>
                <a:spcPct val="110000"/>
              </a:lnSpc>
              <a:spcAft>
                <a:spcPts val="0"/>
              </a:spcAft>
            </a:pPr>
            <a:r>
              <a:rPr sz="1050" b="0">
                <a:solidFill>
                  <a:srgbClr val="333333"/>
                </a:solidFill>
                <a:latin typeface="メイリオ"/>
                <a:ea typeface="メイリオ"/>
                <a:cs typeface="メイリオ"/>
              </a:rPr>
              <a:t>1月・4〜7月の需要の波に合わせる</a:t>
            </a:r>
          </a:p>
        </p:txBody>
      </p:sp>
      <p:sp>
        <p:nvSpPr>
          <p:cNvPr id="90" name="TextBox 89"/>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1" name="Rectangle 90"/>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2" name="Rectangle 91"/>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期限つきの無料体験・入会特典を毎月案内</a:t>
            </a:r>
          </a:p>
        </p:txBody>
      </p:sp>
      <p:sp>
        <p:nvSpPr>
          <p:cNvPr id="93" name="TextBox 92"/>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4" name="Rectangle 93"/>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5" name="Rectangle 94"/>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体験予約</a:t>
            </a:r>
          </a:p>
        </p:txBody>
      </p:sp>
      <p:sp>
        <p:nvSpPr>
          <p:cNvPr id="96" name="TextBox 9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需要の波に合わせて、</a:t>
            </a:r>
          </a:p>
          <a:p>
            <a:pPr algn="l">
              <a:lnSpc>
                <a:spcPct val="105000"/>
              </a:lnSpc>
              <a:spcAft>
                <a:spcPts val="200"/>
              </a:spcAft>
            </a:pPr>
            <a:r>
              <a:rPr sz="1200" b="0">
                <a:solidFill>
                  <a:srgbClr val="333333"/>
                </a:solidFill>
                <a:latin typeface="メイリオ"/>
                <a:ea typeface="メイリオ"/>
                <a:cs typeface="メイリオ"/>
              </a:rPr>
              <a:t>体験予約のピークをつくる</a:t>
            </a:r>
          </a:p>
        </p:txBody>
      </p:sp>
      <p:sp>
        <p:nvSpPr>
          <p:cNvPr id="97" name="TextBox 9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友だち全体</a:t>
            </a:r>
          </a:p>
          <a:p>
            <a:pPr algn="l">
              <a:lnSpc>
                <a:spcPct val="105000"/>
              </a:lnSpc>
              <a:spcAft>
                <a:spcPts val="200"/>
              </a:spcAft>
            </a:pPr>
            <a:r>
              <a:rPr sz="1200" b="0">
                <a:solidFill>
                  <a:srgbClr val="333333"/>
                </a:solidFill>
                <a:latin typeface="メイリオ"/>
                <a:ea typeface="メイリオ"/>
                <a:cs typeface="メイリオ"/>
              </a:rPr>
              <a:t>（閑散期に追加した方も含む）</a:t>
            </a:r>
          </a:p>
        </p:txBody>
      </p:sp>
      <p:sp>
        <p:nvSpPr>
          <p:cNvPr id="98" name="TextBox 9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1月の入会金無料キャンペーン／</a:t>
            </a:r>
          </a:p>
          <a:p>
            <a:pPr algn="l">
              <a:lnSpc>
                <a:spcPct val="105000"/>
              </a:lnSpc>
              <a:spcAft>
                <a:spcPts val="200"/>
              </a:spcAft>
            </a:pPr>
            <a:r>
              <a:rPr sz="1200" b="0">
                <a:solidFill>
                  <a:srgbClr val="333333"/>
                </a:solidFill>
                <a:latin typeface="メイリオ"/>
                <a:ea typeface="メイリオ"/>
                <a:cs typeface="メイリオ"/>
              </a:rPr>
              <a:t>特典を毎月替え、締切前に告知／</a:t>
            </a:r>
          </a:p>
          <a:p>
            <a:pPr algn="l">
              <a:lnSpc>
                <a:spcPct val="105000"/>
              </a:lnSpc>
              <a:spcAft>
                <a:spcPts val="200"/>
              </a:spcAft>
            </a:pPr>
            <a:r>
              <a:rPr sz="1200" b="0">
                <a:solidFill>
                  <a:srgbClr val="333333"/>
                </a:solidFill>
                <a:latin typeface="メイリオ"/>
                <a:ea typeface="メイリオ"/>
                <a:cs typeface="メイリオ"/>
              </a:rPr>
              <a:t>会員の声の動画</a:t>
            </a:r>
          </a:p>
        </p:txBody>
      </p:sp>
      <p:sp>
        <p:nvSpPr>
          <p:cNvPr id="99" name="TextBox 9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配信到達数・開封率／</a:t>
            </a:r>
          </a:p>
          <a:p>
            <a:pPr algn="l">
              <a:lnSpc>
                <a:spcPct val="105000"/>
              </a:lnSpc>
              <a:spcAft>
                <a:spcPts val="200"/>
              </a:spcAft>
            </a:pPr>
            <a:r>
              <a:rPr sz="1200" b="0">
                <a:solidFill>
                  <a:srgbClr val="333333"/>
                </a:solidFill>
                <a:latin typeface="メイリオ"/>
                <a:ea typeface="メイリオ"/>
                <a:cs typeface="メイリオ"/>
              </a:rPr>
              <a:t>企画配信からの体験予約数</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Rectangle 107"/>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9" name="Rectangle 108"/>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友だち追加から14日以内の方</a:t>
            </a:r>
          </a:p>
        </p:txBody>
      </p:sp>
      <p:sp>
        <p:nvSpPr>
          <p:cNvPr id="110" name="TextBox 109"/>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12" name="Rectangle 111"/>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診断4回</a:t>
            </a:r>
          </a:p>
          <a:p>
            <a:pPr algn="l">
              <a:lnSpc>
                <a:spcPct val="110000"/>
              </a:lnSpc>
              <a:spcAft>
                <a:spcPts val="0"/>
              </a:spcAft>
            </a:pPr>
            <a:r>
              <a:rPr sz="1050" b="0">
                <a:solidFill>
                  <a:srgbClr val="333333"/>
                </a:solidFill>
                <a:latin typeface="メイリオ"/>
                <a:ea typeface="メイリオ"/>
                <a:cs typeface="メイリオ"/>
              </a:rPr>
              <a:t>体づくり・性格・ダイエット・続けられるか</a:t>
            </a:r>
          </a:p>
        </p:txBody>
      </p:sp>
      <p:sp>
        <p:nvSpPr>
          <p:cNvPr id="113" name="TextBox 112"/>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5" name="Rectangle 114"/>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14日間の配信</a:t>
            </a:r>
          </a:p>
          <a:p>
            <a:pPr algn="l">
              <a:lnSpc>
                <a:spcPct val="110000"/>
              </a:lnSpc>
              <a:spcAft>
                <a:spcPts val="0"/>
              </a:spcAft>
            </a:pPr>
            <a:r>
              <a:rPr sz="1050" b="0">
                <a:solidFill>
                  <a:srgbClr val="333333"/>
                </a:solidFill>
                <a:latin typeface="メイリオ"/>
                <a:ea typeface="メイリオ"/>
                <a:cs typeface="メイリオ"/>
              </a:rPr>
              <a:t>無料体験のご案内はDay0・6・14</a:t>
            </a:r>
          </a:p>
        </p:txBody>
      </p:sp>
      <p:sp>
        <p:nvSpPr>
          <p:cNvPr id="116" name="TextBox 115"/>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8" name="Rectangle 117"/>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体験予約（CV①）</a:t>
            </a:r>
          </a:p>
        </p:txBody>
      </p:sp>
      <p:sp>
        <p:nvSpPr>
          <p:cNvPr id="119" name="TextBox 118"/>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反応が高い追加後14日の間に、</a:t>
            </a:r>
          </a:p>
          <a:p>
            <a:pPr algn="l">
              <a:lnSpc>
                <a:spcPct val="105000"/>
              </a:lnSpc>
              <a:spcAft>
                <a:spcPts val="200"/>
              </a:spcAft>
            </a:pPr>
            <a:r>
              <a:rPr sz="1200" b="0">
                <a:solidFill>
                  <a:srgbClr val="333333"/>
                </a:solidFill>
                <a:latin typeface="メイリオ"/>
                <a:ea typeface="メイリオ"/>
                <a:cs typeface="メイリオ"/>
              </a:rPr>
              <a:t>体験予約へ進んでいただく</a:t>
            </a:r>
          </a:p>
        </p:txBody>
      </p:sp>
      <p:sp>
        <p:nvSpPr>
          <p:cNvPr id="120" name="TextBox 119"/>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友だち追加から14日以内の方</a:t>
            </a:r>
          </a:p>
        </p:txBody>
      </p:sp>
      <p:sp>
        <p:nvSpPr>
          <p:cNvPr id="121" name="TextBox 120"/>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答えるだけの診断を4回／</a:t>
            </a:r>
          </a:p>
          <a:p>
            <a:pPr algn="l">
              <a:lnSpc>
                <a:spcPct val="105000"/>
              </a:lnSpc>
              <a:spcAft>
                <a:spcPts val="200"/>
              </a:spcAft>
            </a:pPr>
            <a:r>
              <a:rPr sz="1200" b="0">
                <a:solidFill>
                  <a:srgbClr val="333333"/>
                </a:solidFill>
                <a:latin typeface="メイリオ"/>
                <a:ea typeface="メイリオ"/>
                <a:cs typeface="メイリオ"/>
              </a:rPr>
              <a:t>1分料金シミュレーター／</a:t>
            </a:r>
          </a:p>
          <a:p>
            <a:pPr algn="l">
              <a:lnSpc>
                <a:spcPct val="105000"/>
              </a:lnSpc>
              <a:spcAft>
                <a:spcPts val="200"/>
              </a:spcAft>
            </a:pPr>
            <a:r>
              <a:rPr sz="1200" b="0">
                <a:solidFill>
                  <a:srgbClr val="333333"/>
                </a:solidFill>
                <a:latin typeface="メイリオ"/>
                <a:ea typeface="メイリオ"/>
                <a:cs typeface="メイリオ"/>
              </a:rPr>
              <a:t>不安Q&amp;A（勧誘・解約・混雑）</a:t>
            </a:r>
          </a:p>
        </p:txBody>
      </p:sp>
      <p:sp>
        <p:nvSpPr>
          <p:cNvPr id="122" name="TextBox 121"/>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体験予約数／診断の回答率</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CPO</a:t>
            </a:r>
            <a:r>
              <a:rPr kumimoji="1" lang="ja-JP" altLang="en-US" sz="1200" b="1" dirty="0">
                <a:solidFill>
                  <a:srgbClr val="FFFFFF"/>
                </a:solidFill>
                <a:latin typeface="メイリオ" panose="020B0604030504040204" pitchFamily="50" charset="-128"/>
                <a:ea typeface="メイリオ" panose="020B0604030504040204" pitchFamily="50" charset="-128"/>
              </a:rPr>
              <a:t>の改善（</a:t>
            </a: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体験を予約した方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予約の確認・通知メッセージ</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体験の前日までの配信</a:t>
            </a:r>
          </a:p>
          <a:p>
            <a:pPr algn="l">
              <a:lnSpc>
                <a:spcPct val="110000"/>
              </a:lnSpc>
              <a:spcAft>
                <a:spcPts val="0"/>
              </a:spcAft>
            </a:pPr>
            <a:r>
              <a:rPr sz="1050" b="0">
                <a:solidFill>
                  <a:srgbClr val="333333"/>
                </a:solidFill>
                <a:latin typeface="メイリオ"/>
                <a:ea typeface="メイリオ"/>
                <a:cs typeface="メイリオ"/>
              </a:rPr>
              <a:t>持ち物・アクセス・当日の流れ</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来店（CV②）・入会</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体験を予約した後、当日来られる方を</a:t>
            </a:r>
          </a:p>
          <a:p>
            <a:pPr algn="l">
              <a:lnSpc>
                <a:spcPct val="105000"/>
              </a:lnSpc>
              <a:spcAft>
                <a:spcPts val="200"/>
              </a:spcAft>
            </a:pPr>
            <a:r>
              <a:rPr sz="1200" b="0">
                <a:solidFill>
                  <a:srgbClr val="333333"/>
                </a:solidFill>
                <a:latin typeface="メイリオ"/>
                <a:ea typeface="メイリオ"/>
                <a:cs typeface="メイリオ"/>
              </a:rPr>
              <a:t>増やし、入会につなげる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体験を予約した方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予約確定・前日のお知らせ／</a:t>
            </a:r>
          </a:p>
          <a:p>
            <a:pPr algn="l">
              <a:lnSpc>
                <a:spcPct val="105000"/>
              </a:lnSpc>
              <a:spcAft>
                <a:spcPts val="200"/>
              </a:spcAft>
            </a:pPr>
            <a:r>
              <a:rPr sz="1200" b="0">
                <a:solidFill>
                  <a:srgbClr val="333333"/>
                </a:solidFill>
                <a:latin typeface="メイリオ"/>
                <a:ea typeface="メイリオ"/>
                <a:cs typeface="メイリオ"/>
              </a:rPr>
              <a:t>「見学だけOK・入会を迫りません」／</a:t>
            </a:r>
          </a:p>
          <a:p>
            <a:pPr algn="l">
              <a:lnSpc>
                <a:spcPct val="105000"/>
              </a:lnSpc>
              <a:spcAft>
                <a:spcPts val="200"/>
              </a:spcAft>
            </a:pPr>
            <a:r>
              <a:rPr sz="1200" b="0">
                <a:solidFill>
                  <a:srgbClr val="333333"/>
                </a:solidFill>
                <a:latin typeface="メイリオ"/>
                <a:ea typeface="メイリオ"/>
                <a:cs typeface="メイリオ"/>
              </a:rPr>
              <a:t>日程の変更はトークで受け付け</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来店率／キャンセル率／</a:t>
            </a:r>
          </a:p>
          <a:p>
            <a:pPr algn="l">
              <a:lnSpc>
                <a:spcPct val="105000"/>
              </a:lnSpc>
              <a:spcAft>
                <a:spcPts val="200"/>
              </a:spcAft>
            </a:pPr>
            <a:r>
              <a:rPr sz="1200" b="0">
                <a:solidFill>
                  <a:srgbClr val="333333"/>
                </a:solidFill>
                <a:latin typeface="メイリオ"/>
                <a:ea typeface="メイリオ"/>
                <a:cs typeface="メイリオ"/>
              </a:rPr>
              <a:t>来店から入会の割合</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体験だけで止まった方・休眠会員</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通知メッセージ（電話番号でLINEに届く）</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1月・新生活の時期の再案内</a:t>
            </a:r>
          </a:p>
          <a:p>
            <a:pPr algn="l">
              <a:lnSpc>
                <a:spcPct val="110000"/>
              </a:lnSpc>
              <a:spcAft>
                <a:spcPts val="0"/>
              </a:spcAft>
            </a:pPr>
            <a:r>
              <a:rPr sz="1050" b="0">
                <a:solidFill>
                  <a:srgbClr val="333333"/>
                </a:solidFill>
                <a:latin typeface="メイリオ"/>
                <a:ea typeface="メイリオ"/>
                <a:cs typeface="メイリオ"/>
              </a:rPr>
              <a:t>入会キャンペーン・期限つきの無料体験</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体験予約・再入会</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止まっている方に、需要が</a:t>
            </a:r>
          </a:p>
          <a:p>
            <a:pPr algn="l">
              <a:lnSpc>
                <a:spcPct val="105000"/>
              </a:lnSpc>
              <a:spcAft>
                <a:spcPts val="200"/>
              </a:spcAft>
            </a:pPr>
            <a:r>
              <a:rPr sz="1200" b="0">
                <a:solidFill>
                  <a:srgbClr val="333333"/>
                </a:solidFill>
                <a:latin typeface="メイリオ"/>
                <a:ea typeface="メイリオ"/>
                <a:cs typeface="メイリオ"/>
              </a:rPr>
              <a:t>高まる時期にもう一度ご案内する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体験に来たが入会しなかった方／</a:t>
            </a:r>
          </a:p>
          <a:p>
            <a:pPr algn="l">
              <a:lnSpc>
                <a:spcPct val="105000"/>
              </a:lnSpc>
              <a:spcAft>
                <a:spcPts val="200"/>
              </a:spcAft>
            </a:pPr>
            <a:r>
              <a:rPr sz="1200" b="0">
                <a:solidFill>
                  <a:srgbClr val="333333"/>
                </a:solidFill>
                <a:latin typeface="メイリオ"/>
                <a:ea typeface="メイリオ"/>
                <a:cs typeface="メイリオ"/>
              </a:rPr>
              <a:t>休会・退会した方の保有リスト</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通知メッセージで再アプローチ／</a:t>
            </a:r>
          </a:p>
          <a:p>
            <a:pPr algn="l">
              <a:lnSpc>
                <a:spcPct val="105000"/>
              </a:lnSpc>
              <a:spcAft>
                <a:spcPts val="200"/>
              </a:spcAft>
            </a:pPr>
            <a:r>
              <a:rPr sz="1200" b="0">
                <a:solidFill>
                  <a:srgbClr val="333333"/>
                </a:solidFill>
                <a:latin typeface="メイリオ"/>
                <a:ea typeface="メイリオ"/>
                <a:cs typeface="メイリオ"/>
              </a:rPr>
              <a:t>1月・4月の前に再案内／</a:t>
            </a:r>
          </a:p>
          <a:p>
            <a:pPr algn="l">
              <a:lnSpc>
                <a:spcPct val="105000"/>
              </a:lnSpc>
              <a:spcAft>
                <a:spcPts val="200"/>
              </a:spcAft>
            </a:pPr>
            <a:r>
              <a:rPr sz="1200" b="0">
                <a:solidFill>
                  <a:srgbClr val="333333"/>
                </a:solidFill>
                <a:latin typeface="メイリオ"/>
                <a:ea typeface="メイリオ"/>
                <a:cs typeface="メイリオ"/>
              </a:rPr>
              <a:t>前回の体験に触れた文面</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再案内からの体験予約数／</a:t>
            </a:r>
          </a:p>
          <a:p>
            <a:pPr algn="l">
              <a:lnSpc>
                <a:spcPct val="105000"/>
              </a:lnSpc>
              <a:spcAft>
                <a:spcPts val="200"/>
              </a:spcAft>
            </a:pPr>
            <a:r>
              <a:rPr sz="1200" b="0">
                <a:solidFill>
                  <a:srgbClr val="333333"/>
                </a:solidFill>
                <a:latin typeface="メイリオ"/>
                <a:ea typeface="メイリオ"/>
                <a:cs typeface="メイリオ"/>
              </a:rPr>
              <a:t>再入会数</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診断に答えた方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診断タグ＋行動タグ</a:t>
            </a:r>
          </a:p>
          <a:p>
            <a:pPr algn="l">
              <a:lnSpc>
                <a:spcPct val="110000"/>
              </a:lnSpc>
              <a:spcAft>
                <a:spcPts val="0"/>
              </a:spcAft>
            </a:pPr>
            <a:r>
              <a:rPr sz="1050" b="0">
                <a:solidFill>
                  <a:srgbClr val="333333"/>
                </a:solidFill>
                <a:latin typeface="メイリオ"/>
                <a:ea typeface="メイリオ"/>
                <a:cs typeface="メイリオ"/>
              </a:rPr>
              <a:t>目的・経験・頻度・性格タイプ／予約の有無</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同じタイプの会員の声・1回あたりの料金</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入会</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一人ひとりに合う内容を届け、</a:t>
            </a:r>
          </a:p>
          <a:p>
            <a:pPr algn="l">
              <a:lnSpc>
                <a:spcPct val="105000"/>
              </a:lnSpc>
              <a:spcAft>
                <a:spcPts val="200"/>
              </a:spcAft>
            </a:pPr>
            <a:r>
              <a:rPr sz="1200" b="0">
                <a:solidFill>
                  <a:srgbClr val="333333"/>
                </a:solidFill>
                <a:latin typeface="メイリオ"/>
                <a:ea typeface="メイリオ"/>
                <a:cs typeface="メイリオ"/>
              </a:rPr>
              <a:t>入会まで進めていただく</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診断に答えた方／</a:t>
            </a:r>
          </a:p>
          <a:p>
            <a:pPr algn="l">
              <a:lnSpc>
                <a:spcPct val="105000"/>
              </a:lnSpc>
              <a:spcAft>
                <a:spcPts val="200"/>
              </a:spcAft>
            </a:pPr>
            <a:r>
              <a:rPr sz="1200" b="0">
                <a:solidFill>
                  <a:srgbClr val="333333"/>
                </a:solidFill>
                <a:latin typeface="メイリオ"/>
                <a:ea typeface="メイリオ"/>
                <a:cs typeface="メイリオ"/>
              </a:rPr>
              <a:t>体験に来て入会を迷っている方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回答と行動で配信を出し分け／</a:t>
            </a:r>
          </a:p>
          <a:p>
            <a:pPr algn="l">
              <a:lnSpc>
                <a:spcPct val="105000"/>
              </a:lnSpc>
              <a:spcAft>
                <a:spcPts val="200"/>
              </a:spcAft>
            </a:pPr>
            <a:r>
              <a:rPr sz="1200" b="0">
                <a:solidFill>
                  <a:srgbClr val="333333"/>
                </a:solidFill>
                <a:latin typeface="メイリオ"/>
                <a:ea typeface="メイリオ"/>
                <a:cs typeface="メイリオ"/>
              </a:rPr>
              <a:t>「週2回なら1回あたり」の料金／</a:t>
            </a:r>
          </a:p>
          <a:p>
            <a:pPr algn="l">
              <a:lnSpc>
                <a:spcPct val="105000"/>
              </a:lnSpc>
              <a:spcAft>
                <a:spcPts val="200"/>
              </a:spcAft>
            </a:pPr>
            <a:r>
              <a:rPr sz="1200" b="0">
                <a:solidFill>
                  <a:srgbClr val="333333"/>
                </a:solidFill>
                <a:latin typeface="メイリオ"/>
                <a:ea typeface="メイリオ"/>
                <a:cs typeface="メイリオ"/>
              </a:rPr>
              <a:t>入会金無料・事務手数料0円の案内</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入会数／入会率／ブロック率</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入会した方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入会タグでリッチメニューを会員用に</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入会後14日の配信</a:t>
            </a:r>
          </a:p>
          <a:p>
            <a:pPr algn="l">
              <a:lnSpc>
                <a:spcPct val="110000"/>
              </a:lnSpc>
              <a:spcAft>
                <a:spcPts val="0"/>
              </a:spcAft>
            </a:pPr>
            <a:r>
              <a:rPr sz="1050" b="0">
                <a:solidFill>
                  <a:srgbClr val="333333"/>
                </a:solidFill>
                <a:latin typeface="メイリオ"/>
                <a:ea typeface="メイリオ"/>
                <a:cs typeface="メイリオ"/>
              </a:rPr>
              <a:t>持ち物・始め方・効果が出る時期</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継続・PT／物販の申込</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入会直後の離脱を防ぎ、</a:t>
            </a:r>
          </a:p>
          <a:p>
            <a:pPr algn="l">
              <a:lnSpc>
                <a:spcPct val="105000"/>
              </a:lnSpc>
              <a:spcAft>
                <a:spcPts val="200"/>
              </a:spcAft>
            </a:pPr>
            <a:r>
              <a:rPr sz="1200" b="0">
                <a:solidFill>
                  <a:srgbClr val="333333"/>
                </a:solidFill>
                <a:latin typeface="メイリオ"/>
                <a:ea typeface="メイリオ"/>
                <a:cs typeface="メイリオ"/>
              </a:rPr>
              <a:t>続けていただく</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入会した方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入会後14日の配信（4通）／</a:t>
            </a:r>
          </a:p>
          <a:p>
            <a:pPr algn="l">
              <a:lnSpc>
                <a:spcPct val="105000"/>
              </a:lnSpc>
              <a:spcAft>
                <a:spcPts val="200"/>
              </a:spcAft>
            </a:pPr>
            <a:r>
              <a:rPr sz="1200" b="0">
                <a:solidFill>
                  <a:srgbClr val="333333"/>
                </a:solidFill>
                <a:latin typeface="メイリオ"/>
                <a:ea typeface="メイリオ"/>
                <a:cs typeface="メイリオ"/>
              </a:rPr>
              <a:t>フォームチェック・体組成測定の予約／</a:t>
            </a:r>
          </a:p>
          <a:p>
            <a:pPr algn="l">
              <a:lnSpc>
                <a:spcPct val="105000"/>
              </a:lnSpc>
              <a:spcAft>
                <a:spcPts val="200"/>
              </a:spcAft>
            </a:pPr>
            <a:r>
              <a:rPr sz="1200" b="0">
                <a:solidFill>
                  <a:srgbClr val="333333"/>
                </a:solidFill>
                <a:latin typeface="メイリオ"/>
                <a:ea typeface="メイリオ"/>
                <a:cs typeface="メイリオ"/>
              </a:rPr>
              <a:t>来店が2週間途切れた方へのフォロー</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PT・物販の申込数／</a:t>
            </a:r>
          </a:p>
          <a:p>
            <a:pPr algn="l">
              <a:lnSpc>
                <a:spcPct val="105000"/>
              </a:lnSpc>
              <a:spcAft>
                <a:spcPts val="200"/>
              </a:spcAft>
            </a:pPr>
            <a:r>
              <a:rPr sz="1200" b="0">
                <a:solidFill>
                  <a:srgbClr val="333333"/>
                </a:solidFill>
                <a:latin typeface="メイリオ"/>
                <a:ea typeface="メイリオ"/>
                <a:cs typeface="メイリオ"/>
              </a:rPr>
              <a:t>継続率（会員管理システムで比較）</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会員</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会員のタグ付け</a:t>
            </a:r>
          </a:p>
          <a:p>
            <a:pPr algn="l">
              <a:lnSpc>
                <a:spcPct val="110000"/>
              </a:lnSpc>
              <a:spcAft>
                <a:spcPts val="0"/>
              </a:spcAft>
            </a:pPr>
            <a:r>
              <a:rPr sz="1050" b="0">
                <a:solidFill>
                  <a:srgbClr val="333333"/>
                </a:solidFill>
                <a:latin typeface="メイリオ"/>
                <a:ea typeface="メイリオ"/>
                <a:cs typeface="メイリオ"/>
              </a:rPr>
              <a:t>リッチメニュー③に会員向けの入口</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会員の声・イベント・お友だち紹介の案内</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継続・紹介（CV③）</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会員とのつながりを強くし、</a:t>
            </a:r>
          </a:p>
          <a:p>
            <a:pPr algn="l">
              <a:lnSpc>
                <a:spcPct val="105000"/>
              </a:lnSpc>
              <a:spcAft>
                <a:spcPts val="200"/>
              </a:spcAft>
            </a:pPr>
            <a:r>
              <a:rPr sz="1200" b="0">
                <a:solidFill>
                  <a:srgbClr val="333333"/>
                </a:solidFill>
                <a:latin typeface="メイリオ"/>
                <a:ea typeface="メイリオ"/>
                <a:cs typeface="メイリオ"/>
              </a:rPr>
              <a:t>紹介につなげる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在籍中の会員</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会員の声・店舗のイベントの案内／</a:t>
            </a:r>
          </a:p>
          <a:p>
            <a:pPr algn="l">
              <a:lnSpc>
                <a:spcPct val="105000"/>
              </a:lnSpc>
              <a:spcAft>
                <a:spcPts val="200"/>
              </a:spcAft>
            </a:pPr>
            <a:r>
              <a:rPr sz="1200" b="0">
                <a:solidFill>
                  <a:srgbClr val="333333"/>
                </a:solidFill>
                <a:latin typeface="メイリオ"/>
                <a:ea typeface="メイリオ"/>
                <a:cs typeface="メイリオ"/>
              </a:rPr>
              <a:t>LINEの転送でお友だちに紹介／</a:t>
            </a:r>
          </a:p>
          <a:p>
            <a:pPr algn="l">
              <a:lnSpc>
                <a:spcPct val="105000"/>
              </a:lnSpc>
              <a:spcAft>
                <a:spcPts val="200"/>
              </a:spcAft>
            </a:pPr>
            <a:r>
              <a:rPr sz="1200" b="0">
                <a:solidFill>
                  <a:srgbClr val="333333"/>
                </a:solidFill>
                <a:latin typeface="メイリオ"/>
                <a:ea typeface="メイリオ"/>
                <a:cs typeface="メイリオ"/>
              </a:rPr>
              <a:t>紹介の特典の案内（中身は貴社で決める）</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紹介からの友だち追加数／</a:t>
            </a:r>
          </a:p>
          <a:p>
            <a:pPr algn="l">
              <a:lnSpc>
                <a:spcPct val="105000"/>
              </a:lnSpc>
              <a:spcAft>
                <a:spcPts val="200"/>
              </a:spcAft>
            </a:pPr>
            <a:r>
              <a:rPr sz="1200" b="0">
                <a:solidFill>
                  <a:srgbClr val="333333"/>
                </a:solidFill>
                <a:latin typeface="メイリオ"/>
                <a:ea typeface="メイリオ"/>
                <a:cs typeface="メイリオ"/>
              </a:rPr>
              <a:t>紹介からの体験予約数</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603504" y="1043132"/>
            <a:ext cx="82296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Appendix（参考資料）</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146289</TotalTime>
  <Words>8092</Words>
  <Application>Microsoft Office PowerPoint</Application>
  <PresentationFormat>A4 210 x 297 mm</PresentationFormat>
  <Paragraphs>1742</Paragraphs>
  <Slides>47</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47</vt:i4>
      </vt:variant>
    </vt:vector>
  </HeadingPairs>
  <TitlesOfParts>
    <vt:vector size="52"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1964</cp:revision>
  <cp:lastPrinted>2022-11-01T11:38:14Z</cp:lastPrinted>
  <dcterms:created xsi:type="dcterms:W3CDTF">2015-09-04T09:21:15Z</dcterms:created>
  <dcterms:modified xsi:type="dcterms:W3CDTF">2026-10-19T08:32:56Z</dcterms:modified>
</cp:coreProperties>
</file>