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01168"/>
            <a:ext cx="5943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85A"/>
                </a:solidFill>
                <a:latin typeface="メイリオ" pitchFamily="34" charset="0"/>
                <a:ea typeface="メイリオ"/>
                <a:cs typeface="メイリオ"/>
                <a:ea typeface="メイリオ" pitchFamily="34" charset="-122"/>
                <a:cs typeface="メイリオ" pitchFamily="34" charset="-120"/>
              </a:rPr>
              <a:t>ご予約の流れ（パフォーマー指名）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603504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メイリオ" pitchFamily="34" charset="0"/>
                <a:ea typeface="メイリオ"/>
                <a:cs typeface="メイリオ"/>
                <a:ea typeface="メイリオ" pitchFamily="34" charset="-122"/>
                <a:cs typeface="メイリオ" pitchFamily="34" charset="-120"/>
              </a:rPr>
              <a:t>お席の管理はレストランボードのまま。LINEは連絡と案内、「空き状況」画面は見るだけ。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5669280" y="237744"/>
            <a:ext cx="786384" cy="237744"/>
          </a:xfrm>
          <a:prstGeom prst="roundRect">
            <a:avLst>
              <a:gd name="adj" fmla="val 50000"/>
            </a:avLst>
          </a:prstGeom>
          <a:solidFill>
            <a:srgbClr val="E6F8EE"/>
          </a:solidFill>
          <a:ln w="12700">
            <a:solidFill>
              <a:srgbClr val="E6F8E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669280" y="237744"/>
            <a:ext cx="7863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7A3A"/>
                </a:solidFill>
                <a:latin typeface="メイリオ" pitchFamily="34" charset="0"/>
                <a:ea typeface="メイリオ"/>
                <a:cs typeface="メイリオ"/>
                <a:ea typeface="メイリオ" pitchFamily="34" charset="-122"/>
                <a:cs typeface="メイリオ" pitchFamily="34" charset="-120"/>
              </a:rPr>
              <a:t>LINE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6528816" y="237744"/>
            <a:ext cx="1298448" cy="237744"/>
          </a:xfrm>
          <a:prstGeom prst="roundRect">
            <a:avLst>
              <a:gd name="adj" fmla="val 50000"/>
            </a:avLst>
          </a:prstGeom>
          <a:solidFill>
            <a:srgbClr val="F4F7FF"/>
          </a:solidFill>
          <a:ln w="12700">
            <a:solidFill>
              <a:srgbClr val="F4F7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28816" y="237744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F285A"/>
                </a:solidFill>
                <a:latin typeface="メイリオ" pitchFamily="34" charset="0"/>
                <a:ea typeface="メイリオ"/>
                <a:cs typeface="メイリオ"/>
                <a:ea typeface="メイリオ" pitchFamily="34" charset="-122"/>
                <a:cs typeface="メイリオ" pitchFamily="34" charset="-120"/>
              </a:rPr>
              <a:t>空き状況（新設）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7900416" y="237744"/>
            <a:ext cx="786384" cy="237744"/>
          </a:xfrm>
          <a:prstGeom prst="roundRect">
            <a:avLst>
              <a:gd name="adj" fmla="val 50000"/>
            </a:avLst>
          </a:prstGeom>
          <a:solidFill>
            <a:srgbClr val="FBEEE4"/>
          </a:solidFill>
          <a:ln w="12700">
            <a:solidFill>
              <a:srgbClr val="FBEEE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900416" y="237744"/>
            <a:ext cx="7863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D9661F"/>
                </a:solidFill>
                <a:latin typeface="メイリオ" pitchFamily="34" charset="0"/>
                <a:ea typeface="メイリオ"/>
                <a:cs typeface="メイリオ"/>
                <a:ea typeface="メイリオ" pitchFamily="34" charset="-122"/>
                <a:cs typeface="メイリオ" pitchFamily="34" charset="-120"/>
              </a:rPr>
              <a:t>食べログ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11480" y="1069848"/>
            <a:ext cx="310896" cy="310896"/>
          </a:xfrm>
          <a:prstGeom prst="ellipse">
            <a:avLst/>
          </a:prstGeom>
          <a:solidFill>
            <a:srgbClr val="1F285A"/>
          </a:solidFill>
          <a:ln w="12700">
            <a:solidFill>
              <a:srgbClr val="1F285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11480" y="1069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メイリオ" pitchFamily="34" charset="0"/>
                <a:ea typeface="メイリオ"/>
                <a:cs typeface="メイリオ"/>
                <a:ea typeface="メイリオ" pitchFamily="34" charset="-122"/>
                <a:cs typeface="メイリオ" pitchFamily="34" charset="-120"/>
              </a:rPr>
              <a:t>1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813816" y="1106424"/>
            <a:ext cx="786384" cy="237744"/>
          </a:xfrm>
          <a:prstGeom prst="roundRect">
            <a:avLst>
              <a:gd name="adj" fmla="val 50000"/>
            </a:avLst>
          </a:prstGeom>
          <a:solidFill>
            <a:srgbClr val="E6F8EE"/>
          </a:solidFill>
          <a:ln w="12700">
            <a:solidFill>
              <a:srgbClr val="E6F8E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13816" y="1106424"/>
            <a:ext cx="7863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7A3A"/>
                </a:solidFill>
                <a:latin typeface="メイリオ" pitchFamily="34" charset="0"/>
                <a:ea typeface="メイリオ"/>
                <a:cs typeface="メイリオ"/>
                <a:ea typeface="メイリオ" pitchFamily="34" charset="-122"/>
                <a:cs typeface="メイリオ" pitchFamily="34" charset="-120"/>
              </a:rPr>
              <a:t>LINE</a:t>
            </a:r>
            <a:endParaRPr lang="en-US" sz="850" dirty="0"/>
          </a:p>
        </p:txBody>
      </p:sp>
      <p:sp>
        <p:nvSpPr>
          <p:cNvPr id="14" name="Text 12"/>
          <p:cNvSpPr txBox="1"/>
          <p:nvPr/>
        </p:nvSpPr>
        <p:spPr>
          <a:xfrm>
            <a:off x="1691640" y="1005840"/>
            <a:ext cx="4526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1000" b="1" dirty="0">
                <a:solidFill>
                  <a:srgbClr val="1F285A"/>
                </a:solidFill>
                <a:latin typeface="メイリオ" pitchFamily="34" charset="0"/>
                <a:ea typeface="メイリオ"/>
                <a:cs typeface="メイリオ"/>
                <a:ea typeface="メイリオ" pitchFamily="34" charset="-122"/>
                <a:cs typeface="メイリオ" pitchFamily="34" charset="-120"/>
              </a:rPr>
              <a:t>お客様 → パフォーマー</a:t>
            </a:r>
            <a:endParaRPr lang="en-US" sz="10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rgbClr val="333333"/>
                </a:solidFill>
                <a:latin typeface="メイリオ" pitchFamily="34" charset="0"/>
                <a:ea typeface="メイリオ"/>
                <a:cs typeface="メイリオ"/>
                <a:ea typeface="メイリオ" pitchFamily="34" charset="-122"/>
                <a:cs typeface="メイリオ" pitchFamily="34" charset="-120"/>
              </a:rPr>
              <a:t>日時・人数・ご指名をトークで送る（記入フォーマットは自動応答で提示）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813816" y="1481328"/>
            <a:ext cx="5404104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1581912"/>
            <a:ext cx="310896" cy="310896"/>
          </a:xfrm>
          <a:prstGeom prst="ellipse">
            <a:avLst/>
          </a:prstGeom>
          <a:solidFill>
            <a:srgbClr val="1F285A"/>
          </a:solidFill>
          <a:ln w="12700">
            <a:solidFill>
              <a:srgbClr val="1F285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11480" y="15819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メイリオ" pitchFamily="34" charset="0"/>
                <a:ea typeface="メイリオ"/>
                <a:cs typeface="メイリオ"/>
                <a:ea typeface="メイリオ" pitchFamily="34" charset="-122"/>
                <a:cs typeface="メイリオ" pitchFamily="34" charset="-120"/>
              </a:rPr>
              <a:t>2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13816" y="1618488"/>
            <a:ext cx="786384" cy="237744"/>
          </a:xfrm>
          <a:prstGeom prst="roundRect">
            <a:avLst>
              <a:gd name="adj" fmla="val 50000"/>
            </a:avLst>
          </a:prstGeom>
          <a:solidFill>
            <a:srgbClr val="E6F8EE"/>
          </a:solidFill>
          <a:ln w="12700">
            <a:solidFill>
              <a:srgbClr val="E6F8EE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13816" y="1618488"/>
            <a:ext cx="7863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7A3A"/>
                </a:solidFill>
                <a:latin typeface="メイリオ" pitchFamily="34" charset="0"/>
                <a:ea typeface="メイリオ"/>
                <a:cs typeface="メイリオ"/>
                <a:ea typeface="メイリオ" pitchFamily="34" charset="-122"/>
                <a:cs typeface="メイリオ" pitchFamily="34" charset="-120"/>
              </a:rPr>
              <a:t>LINE</a:t>
            </a:r>
            <a:endParaRPr lang="en-US" sz="850" dirty="0"/>
          </a:p>
        </p:txBody>
      </p:sp>
      <p:sp>
        <p:nvSpPr>
          <p:cNvPr id="20" name="Text 18"/>
          <p:cNvSpPr txBox="1"/>
          <p:nvPr/>
        </p:nvSpPr>
        <p:spPr>
          <a:xfrm>
            <a:off x="1691640" y="1517904"/>
            <a:ext cx="4526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1000" b="1" dirty="0">
                <a:solidFill>
                  <a:srgbClr val="1F285A"/>
                </a:solidFill>
                <a:latin typeface="メイリオ" pitchFamily="34" charset="0"/>
                <a:ea typeface="メイリオ"/>
                <a:cs typeface="メイリオ"/>
                <a:ea typeface="メイリオ" pitchFamily="34" charset="-122"/>
                <a:cs typeface="メイリオ" pitchFamily="34" charset="-120"/>
              </a:rPr>
              <a:t>パフォーマー → お客様</a:t>
            </a:r>
            <a:endParaRPr lang="en-US" sz="10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rgbClr val="333333"/>
                </a:solidFill>
                <a:latin typeface="メイリオ" pitchFamily="34" charset="0"/>
                <a:ea typeface="メイリオ"/>
                <a:cs typeface="メイリオ"/>
                <a:ea typeface="メイリオ" pitchFamily="34" charset="-122"/>
                <a:cs typeface="メイリオ" pitchFamily="34" charset="-120"/>
              </a:rPr>
              <a:t>受け取りの返事。「この時点では確定していません」を明記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813816" y="1993392"/>
            <a:ext cx="5404104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11480" y="2093976"/>
            <a:ext cx="310896" cy="310896"/>
          </a:xfrm>
          <a:prstGeom prst="ellipse">
            <a:avLst/>
          </a:prstGeom>
          <a:solidFill>
            <a:srgbClr val="1F285A"/>
          </a:solidFill>
          <a:ln w="12700">
            <a:solidFill>
              <a:srgbClr val="1F285A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11480" y="209397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メイリオ" pitchFamily="34" charset="0"/>
                <a:ea typeface="メイリオ"/>
                <a:cs typeface="メイリオ"/>
                <a:ea typeface="メイリオ" pitchFamily="34" charset="-122"/>
                <a:cs typeface="メイリオ" pitchFamily="34" charset="-120"/>
              </a:rPr>
              <a:t>2.5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813816" y="2130552"/>
            <a:ext cx="786384" cy="237744"/>
          </a:xfrm>
          <a:prstGeom prst="roundRect">
            <a:avLst>
              <a:gd name="adj" fmla="val 50000"/>
            </a:avLst>
          </a:prstGeom>
          <a:solidFill>
            <a:srgbClr val="F4F7FF"/>
          </a:solidFill>
          <a:ln w="12700">
            <a:solidFill>
              <a:srgbClr val="F4F7FF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13816" y="2130552"/>
            <a:ext cx="7863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F285A"/>
                </a:solidFill>
                <a:latin typeface="メイリオ" pitchFamily="34" charset="0"/>
                <a:ea typeface="メイリオ"/>
                <a:cs typeface="メイリオ"/>
                <a:ea typeface="メイリオ" pitchFamily="34" charset="-122"/>
                <a:cs typeface="メイリオ" pitchFamily="34" charset="-120"/>
              </a:rPr>
              <a:t>空き状況</a:t>
            </a:r>
            <a:endParaRPr lang="en-US" sz="850" dirty="0"/>
          </a:p>
        </p:txBody>
      </p:sp>
      <p:sp>
        <p:nvSpPr>
          <p:cNvPr id="26" name="Text 24"/>
          <p:cNvSpPr txBox="1"/>
          <p:nvPr/>
        </p:nvSpPr>
        <p:spPr>
          <a:xfrm>
            <a:off x="1691640" y="2029968"/>
            <a:ext cx="4526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1000" b="1" dirty="0">
                <a:solidFill>
                  <a:srgbClr val="1F285A"/>
                </a:solidFill>
                <a:latin typeface="メイリオ" pitchFamily="34" charset="0"/>
                <a:ea typeface="メイリオ"/>
                <a:cs typeface="メイリオ"/>
                <a:ea typeface="メイリオ" pitchFamily="34" charset="-122"/>
                <a:cs typeface="メイリオ" pitchFamily="34" charset="-120"/>
              </a:rPr>
              <a:t>パフォーマー</a:t>
            </a:r>
            <a:endParaRPr lang="en-US" sz="10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rgbClr val="333333"/>
                </a:solidFill>
                <a:latin typeface="メイリオ" pitchFamily="34" charset="0"/>
                <a:ea typeface="メイリオ"/>
                <a:cs typeface="メイリオ"/>
                <a:ea typeface="メイリオ" pitchFamily="34" charset="-122"/>
                <a:cs typeface="メイリオ" pitchFamily="34" charset="-120"/>
              </a:rPr>
              <a:t>その日の予約一覧と残席を見る。レストランボードは開かない。売上は出ない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813816" y="2505456"/>
            <a:ext cx="5404104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11480" y="2606040"/>
            <a:ext cx="310896" cy="310896"/>
          </a:xfrm>
          <a:prstGeom prst="ellipse">
            <a:avLst/>
          </a:prstGeom>
          <a:solidFill>
            <a:srgbClr val="1F285A"/>
          </a:solidFill>
          <a:ln w="12700">
            <a:solidFill>
              <a:srgbClr val="1F285A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411480" y="26060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メイリオ" pitchFamily="34" charset="0"/>
                <a:ea typeface="メイリオ"/>
                <a:cs typeface="メイリオ"/>
                <a:ea typeface="メイリオ" pitchFamily="34" charset="-122"/>
                <a:cs typeface="メイリオ" pitchFamily="34" charset="-120"/>
              </a:rPr>
              <a:t>2.5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813816" y="2642616"/>
            <a:ext cx="786384" cy="237744"/>
          </a:xfrm>
          <a:prstGeom prst="roundRect">
            <a:avLst>
              <a:gd name="adj" fmla="val 50000"/>
            </a:avLst>
          </a:prstGeom>
          <a:solidFill>
            <a:srgbClr val="E6F8EE"/>
          </a:solidFill>
          <a:ln w="12700">
            <a:solidFill>
              <a:srgbClr val="E6F8EE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13816" y="2642616"/>
            <a:ext cx="7863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7A3A"/>
                </a:solidFill>
                <a:latin typeface="メイリオ" pitchFamily="34" charset="0"/>
                <a:ea typeface="メイリオ"/>
                <a:cs typeface="メイリオ"/>
                <a:ea typeface="メイリオ" pitchFamily="34" charset="-122"/>
                <a:cs typeface="メイリオ" pitchFamily="34" charset="-120"/>
              </a:rPr>
              <a:t>LINE</a:t>
            </a:r>
            <a:endParaRPr lang="en-US" sz="850" dirty="0"/>
          </a:p>
        </p:txBody>
      </p:sp>
      <p:sp>
        <p:nvSpPr>
          <p:cNvPr id="32" name="Text 30"/>
          <p:cNvSpPr txBox="1"/>
          <p:nvPr/>
        </p:nvSpPr>
        <p:spPr>
          <a:xfrm>
            <a:off x="1691640" y="2542032"/>
            <a:ext cx="4526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1000" b="1" dirty="0">
                <a:solidFill>
                  <a:srgbClr val="1F285A"/>
                </a:solidFill>
                <a:latin typeface="メイリオ" pitchFamily="34" charset="0"/>
                <a:ea typeface="メイリオ"/>
                <a:cs typeface="メイリオ"/>
                <a:ea typeface="メイリオ" pitchFamily="34" charset="-122"/>
                <a:cs typeface="メイリオ" pitchFamily="34" charset="-120"/>
              </a:rPr>
              <a:t>パフォーマー → お客様</a:t>
            </a:r>
            <a:endParaRPr lang="en-US" sz="10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rgbClr val="333333"/>
                </a:solidFill>
                <a:latin typeface="メイリオ" pitchFamily="34" charset="0"/>
                <a:ea typeface="メイリオ"/>
                <a:cs typeface="メイリオ"/>
                <a:ea typeface="メイリオ" pitchFamily="34" charset="-122"/>
                <a:cs typeface="メイリオ" pitchFamily="34" charset="-120"/>
              </a:rPr>
              <a:t>ご案内できる時間帯を提示。先着順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813816" y="3017520"/>
            <a:ext cx="5404104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11480" y="3118104"/>
            <a:ext cx="310896" cy="310896"/>
          </a:xfrm>
          <a:prstGeom prst="ellipse">
            <a:avLst/>
          </a:prstGeom>
          <a:solidFill>
            <a:srgbClr val="1F285A"/>
          </a:solidFill>
          <a:ln w="12700">
            <a:solidFill>
              <a:srgbClr val="1F285A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411480" y="3118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メイリオ" pitchFamily="34" charset="0"/>
                <a:ea typeface="メイリオ"/>
                <a:cs typeface="メイリオ"/>
                <a:ea typeface="メイリオ" pitchFamily="34" charset="-122"/>
                <a:cs typeface="メイリオ" pitchFamily="34" charset="-120"/>
              </a:rPr>
              <a:t>3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813816" y="3154680"/>
            <a:ext cx="786384" cy="237744"/>
          </a:xfrm>
          <a:prstGeom prst="roundRect">
            <a:avLst>
              <a:gd name="adj" fmla="val 50000"/>
            </a:avLst>
          </a:prstGeom>
          <a:solidFill>
            <a:srgbClr val="E6F8EE"/>
          </a:solidFill>
          <a:ln w="12700">
            <a:solidFill>
              <a:srgbClr val="E6F8EE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813816" y="3154680"/>
            <a:ext cx="7863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7A3A"/>
                </a:solidFill>
                <a:latin typeface="メイリオ" pitchFamily="34" charset="0"/>
                <a:ea typeface="メイリオ"/>
                <a:cs typeface="メイリオ"/>
                <a:ea typeface="メイリオ" pitchFamily="34" charset="-122"/>
                <a:cs typeface="メイリオ" pitchFamily="34" charset="-120"/>
              </a:rPr>
              <a:t>LINE</a:t>
            </a:r>
            <a:endParaRPr lang="en-US" sz="850" dirty="0"/>
          </a:p>
        </p:txBody>
      </p:sp>
      <p:sp>
        <p:nvSpPr>
          <p:cNvPr id="38" name="Text 36"/>
          <p:cNvSpPr txBox="1"/>
          <p:nvPr/>
        </p:nvSpPr>
        <p:spPr>
          <a:xfrm>
            <a:off x="1691640" y="3054096"/>
            <a:ext cx="4526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1000" b="1" dirty="0">
                <a:solidFill>
                  <a:srgbClr val="1F285A"/>
                </a:solidFill>
                <a:latin typeface="メイリオ" pitchFamily="34" charset="0"/>
                <a:ea typeface="メイリオ"/>
                <a:cs typeface="メイリオ"/>
                <a:ea typeface="メイリオ" pitchFamily="34" charset="-122"/>
                <a:cs typeface="メイリオ" pitchFamily="34" charset="-120"/>
              </a:rPr>
              <a:t>パフォーマー → お客様</a:t>
            </a:r>
            <a:endParaRPr lang="en-US" sz="10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rgbClr val="333333"/>
                </a:solidFill>
                <a:latin typeface="メイリオ" pitchFamily="34" charset="0"/>
                <a:ea typeface="メイリオ"/>
                <a:cs typeface="メイリオ"/>
                <a:ea typeface="メイリオ" pitchFamily="34" charset="-122"/>
                <a:cs typeface="メイリオ" pitchFamily="34" charset="-120"/>
              </a:rPr>
              <a:t>時間・人数を確定し、予約ページのリンクと確保期限を送る。要望欄に「指名：〇〇」と書いてもらう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813816" y="3529584"/>
            <a:ext cx="5404104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411480" y="3630168"/>
            <a:ext cx="310896" cy="310896"/>
          </a:xfrm>
          <a:prstGeom prst="ellipse">
            <a:avLst/>
          </a:prstGeom>
          <a:solidFill>
            <a:srgbClr val="1F285A"/>
          </a:solidFill>
          <a:ln w="12700">
            <a:solidFill>
              <a:srgbClr val="1F285A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411480" y="36301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メイリオ" pitchFamily="34" charset="0"/>
                <a:ea typeface="メイリオ"/>
                <a:cs typeface="メイリオ"/>
                <a:ea typeface="メイリオ" pitchFamily="34" charset="-122"/>
                <a:cs typeface="メイリオ" pitchFamily="34" charset="-120"/>
              </a:rPr>
              <a:t>4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813816" y="3666744"/>
            <a:ext cx="786384" cy="237744"/>
          </a:xfrm>
          <a:prstGeom prst="roundRect">
            <a:avLst>
              <a:gd name="adj" fmla="val 50000"/>
            </a:avLst>
          </a:prstGeom>
          <a:solidFill>
            <a:srgbClr val="FBEEE4"/>
          </a:solidFill>
          <a:ln w="12700">
            <a:solidFill>
              <a:srgbClr val="FBEEE4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813816" y="3666744"/>
            <a:ext cx="7863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D9661F"/>
                </a:solidFill>
                <a:latin typeface="メイリオ" pitchFamily="34" charset="0"/>
                <a:ea typeface="メイリオ"/>
                <a:cs typeface="メイリオ"/>
                <a:ea typeface="メイリオ" pitchFamily="34" charset="-122"/>
                <a:cs typeface="メイリオ" pitchFamily="34" charset="-120"/>
              </a:rPr>
              <a:t>食べログ</a:t>
            </a:r>
            <a:endParaRPr lang="en-US" sz="850" dirty="0"/>
          </a:p>
        </p:txBody>
      </p:sp>
      <p:sp>
        <p:nvSpPr>
          <p:cNvPr id="44" name="Text 42"/>
          <p:cNvSpPr txBox="1"/>
          <p:nvPr/>
        </p:nvSpPr>
        <p:spPr>
          <a:xfrm>
            <a:off x="1691640" y="3566160"/>
            <a:ext cx="4526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1000" b="1" dirty="0">
                <a:solidFill>
                  <a:srgbClr val="1F285A"/>
                </a:solidFill>
                <a:latin typeface="メイリオ" pitchFamily="34" charset="0"/>
                <a:ea typeface="メイリオ"/>
                <a:cs typeface="メイリオ"/>
                <a:ea typeface="メイリオ" pitchFamily="34" charset="-122"/>
                <a:cs typeface="メイリオ" pitchFamily="34" charset="-120"/>
              </a:rPr>
              <a:t>お客様</a:t>
            </a:r>
            <a:endParaRPr lang="en-US" sz="10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rgbClr val="333333"/>
                </a:solidFill>
                <a:latin typeface="メイリオ" pitchFamily="34" charset="0"/>
                <a:ea typeface="メイリオ"/>
                <a:cs typeface="メイリオ"/>
                <a:ea typeface="メイリオ" pitchFamily="34" charset="-122"/>
                <a:cs typeface="メイリオ" pitchFamily="34" charset="-120"/>
              </a:rPr>
              <a:t>本予約。お席の在庫はここで判定＝二重予約なし。予約できたら日時をトークに送る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813816" y="4041648"/>
            <a:ext cx="5404104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11480" y="4142232"/>
            <a:ext cx="310896" cy="310896"/>
          </a:xfrm>
          <a:prstGeom prst="ellipse">
            <a:avLst/>
          </a:prstGeom>
          <a:solidFill>
            <a:srgbClr val="1F285A"/>
          </a:solidFill>
          <a:ln w="12700">
            <a:solidFill>
              <a:srgbClr val="1F285A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411480" y="41422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メイリオ" pitchFamily="34" charset="0"/>
                <a:ea typeface="メイリオ"/>
                <a:cs typeface="メイリオ"/>
                <a:ea typeface="メイリオ" pitchFamily="34" charset="-122"/>
                <a:cs typeface="メイリオ" pitchFamily="34" charset="-120"/>
              </a:rPr>
              <a:t>5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813816" y="4178808"/>
            <a:ext cx="786384" cy="237744"/>
          </a:xfrm>
          <a:prstGeom prst="roundRect">
            <a:avLst>
              <a:gd name="adj" fmla="val 50000"/>
            </a:avLst>
          </a:prstGeom>
          <a:solidFill>
            <a:srgbClr val="F4F7FF"/>
          </a:solidFill>
          <a:ln w="12700">
            <a:solidFill>
              <a:srgbClr val="F4F7FF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813816" y="4178808"/>
            <a:ext cx="7863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F285A"/>
                </a:solidFill>
                <a:latin typeface="メイリオ" pitchFamily="34" charset="0"/>
                <a:ea typeface="メイリオ"/>
                <a:cs typeface="メイリオ"/>
                <a:ea typeface="メイリオ" pitchFamily="34" charset="-122"/>
                <a:cs typeface="メイリオ" pitchFamily="34" charset="-120"/>
              </a:rPr>
              <a:t>空き状況</a:t>
            </a:r>
            <a:endParaRPr lang="en-US" sz="850" dirty="0"/>
          </a:p>
        </p:txBody>
      </p:sp>
      <p:sp>
        <p:nvSpPr>
          <p:cNvPr id="50" name="Text 48"/>
          <p:cNvSpPr txBox="1"/>
          <p:nvPr/>
        </p:nvSpPr>
        <p:spPr>
          <a:xfrm>
            <a:off x="1691640" y="4078224"/>
            <a:ext cx="4526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1000" b="1" dirty="0">
                <a:solidFill>
                  <a:srgbClr val="1F285A"/>
                </a:solidFill>
                <a:latin typeface="メイリオ" pitchFamily="34" charset="0"/>
                <a:ea typeface="メイリオ"/>
                <a:cs typeface="メイリオ"/>
                <a:ea typeface="メイリオ" pitchFamily="34" charset="-122"/>
                <a:cs typeface="メイリオ" pitchFamily="34" charset="-120"/>
              </a:rPr>
              <a:t>パフォーマー（お店も同じ画面）</a:t>
            </a:r>
            <a:endParaRPr lang="en-US" sz="10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rgbClr val="333333"/>
                </a:solidFill>
                <a:latin typeface="メイリオ" pitchFamily="34" charset="0"/>
                <a:ea typeface="メイリオ"/>
                <a:cs typeface="メイリオ"/>
                <a:ea typeface="メイリオ" pitchFamily="34" charset="-122"/>
                <a:cs typeface="メイリオ" pitchFamily="34" charset="-120"/>
              </a:rPr>
              <a:t>予約の行が増えたのを見て、LINEで確定の連絡「〇〇で承りました。当日お待ちしています」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6446520" y="987552"/>
            <a:ext cx="2286000" cy="3611880"/>
          </a:xfrm>
          <a:prstGeom prst="roundRect">
            <a:avLst>
              <a:gd name="adj" fmla="val 4000"/>
            </a:avLst>
          </a:prstGeom>
          <a:solidFill>
            <a:srgbClr val="F4F7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6611112" y="1097280"/>
            <a:ext cx="1956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285A"/>
                </a:solidFill>
                <a:latin typeface="メイリオ" pitchFamily="34" charset="0"/>
                <a:ea typeface="メイリオ"/>
                <a:cs typeface="メイリオ"/>
                <a:ea typeface="メイリオ" pitchFamily="34" charset="-122"/>
                <a:cs typeface="メイリオ" pitchFamily="34" charset="-120"/>
              </a:rPr>
              <a:t>新しく作るもの</a:t>
            </a:r>
            <a:endParaRPr lang="en-US" sz="1100" dirty="0"/>
          </a:p>
        </p:txBody>
      </p:sp>
      <p:sp>
        <p:nvSpPr>
          <p:cNvPr id="53" name="Text 51"/>
          <p:cNvSpPr txBox="1"/>
          <p:nvPr/>
        </p:nvSpPr>
        <p:spPr>
          <a:xfrm>
            <a:off x="6611112" y="135331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メイリオ" pitchFamily="34" charset="0"/>
                <a:ea typeface="メイリオ"/>
                <a:cs typeface="メイリオ"/>
                <a:ea typeface="メイリオ" pitchFamily="34" charset="-122"/>
                <a:cs typeface="メイリオ" pitchFamily="34" charset="-120"/>
              </a:rPr>
              <a:t>「空き状況」画面（LINE内）</a:t>
            </a:r>
            <a:endParaRPr lang="en-US" sz="950" dirty="0"/>
          </a:p>
        </p:txBody>
      </p:sp>
      <p:sp>
        <p:nvSpPr>
          <p:cNvPr id="54" name="Shape 52"/>
          <p:cNvSpPr/>
          <p:nvPr/>
        </p:nvSpPr>
        <p:spPr>
          <a:xfrm>
            <a:off x="6611112" y="1700784"/>
            <a:ext cx="1956816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6611112" y="1700784"/>
            <a:ext cx="1956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F285A"/>
                </a:solidFill>
                <a:latin typeface="メイリオ" pitchFamily="34" charset="0"/>
                <a:ea typeface="メイリオ"/>
                <a:cs typeface="メイリオ"/>
                <a:ea typeface="メイリオ" pitchFamily="34" charset="-122"/>
                <a:cs typeface="メイリオ" pitchFamily="34" charset="-120"/>
              </a:rPr>
              <a:t>レストランボード</a:t>
            </a:r>
            <a:endParaRPr lang="en-US" sz="900" dirty="0"/>
          </a:p>
        </p:txBody>
      </p:sp>
      <p:sp>
        <p:nvSpPr>
          <p:cNvPr id="56" name="Text 54"/>
          <p:cNvSpPr txBox="1"/>
          <p:nvPr/>
        </p:nvSpPr>
        <p:spPr>
          <a:xfrm>
            <a:off x="6611112" y="1947672"/>
            <a:ext cx="195681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メイリオ" pitchFamily="34" charset="0"/>
                <a:ea typeface="メイリオ"/>
                <a:cs typeface="メイリオ"/>
                <a:ea typeface="メイリオ" pitchFamily="34" charset="-122"/>
                <a:cs typeface="メイリオ" pitchFamily="34" charset="-120"/>
              </a:rPr>
              <a:t>▼</a:t>
            </a:r>
            <a:endParaRPr lang="en-US" sz="700" dirty="0"/>
          </a:p>
        </p:txBody>
      </p:sp>
      <p:sp>
        <p:nvSpPr>
          <p:cNvPr id="57" name="Shape 55"/>
          <p:cNvSpPr/>
          <p:nvPr/>
        </p:nvSpPr>
        <p:spPr>
          <a:xfrm>
            <a:off x="6611112" y="2066544"/>
            <a:ext cx="1956816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6611112" y="2066544"/>
            <a:ext cx="1956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F285A"/>
                </a:solidFill>
                <a:latin typeface="メイリオ" pitchFamily="34" charset="0"/>
                <a:ea typeface="メイリオ"/>
                <a:cs typeface="メイリオ"/>
                <a:ea typeface="メイリオ" pitchFamily="34" charset="-122"/>
                <a:cs typeface="メイリオ" pitchFamily="34" charset="-120"/>
              </a:rPr>
              <a:t>予約通知メール</a:t>
            </a:r>
            <a:endParaRPr lang="en-US" sz="900" dirty="0"/>
          </a:p>
        </p:txBody>
      </p:sp>
      <p:sp>
        <p:nvSpPr>
          <p:cNvPr id="59" name="Text 57"/>
          <p:cNvSpPr txBox="1"/>
          <p:nvPr/>
        </p:nvSpPr>
        <p:spPr>
          <a:xfrm>
            <a:off x="6611112" y="2313432"/>
            <a:ext cx="195681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メイリオ" pitchFamily="34" charset="0"/>
                <a:ea typeface="メイリオ"/>
                <a:cs typeface="メイリオ"/>
                <a:ea typeface="メイリオ" pitchFamily="34" charset="-122"/>
                <a:cs typeface="メイリオ" pitchFamily="34" charset="-120"/>
              </a:rPr>
              <a:t>▼</a:t>
            </a:r>
            <a:endParaRPr lang="en-US" sz="700" dirty="0"/>
          </a:p>
        </p:txBody>
      </p:sp>
      <p:sp>
        <p:nvSpPr>
          <p:cNvPr id="60" name="Shape 58"/>
          <p:cNvSpPr/>
          <p:nvPr/>
        </p:nvSpPr>
        <p:spPr>
          <a:xfrm>
            <a:off x="6611112" y="2432304"/>
            <a:ext cx="1956816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6611112" y="2432304"/>
            <a:ext cx="1956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F285A"/>
                </a:solidFill>
                <a:latin typeface="メイリオ" pitchFamily="34" charset="0"/>
                <a:ea typeface="メイリオ"/>
                <a:cs typeface="メイリオ"/>
                <a:ea typeface="メイリオ" pitchFamily="34" charset="-122"/>
                <a:cs typeface="メイリオ" pitchFamily="34" charset="-120"/>
              </a:rPr>
              <a:t>Gmail</a:t>
            </a:r>
            <a:endParaRPr lang="en-US" sz="900" dirty="0"/>
          </a:p>
        </p:txBody>
      </p:sp>
      <p:sp>
        <p:nvSpPr>
          <p:cNvPr id="62" name="Text 60"/>
          <p:cNvSpPr txBox="1"/>
          <p:nvPr/>
        </p:nvSpPr>
        <p:spPr>
          <a:xfrm>
            <a:off x="6611112" y="2679192"/>
            <a:ext cx="195681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メイリオ" pitchFamily="34" charset="0"/>
                <a:ea typeface="メイリオ"/>
                <a:cs typeface="メイリオ"/>
                <a:ea typeface="メイリオ" pitchFamily="34" charset="-122"/>
                <a:cs typeface="メイリオ" pitchFamily="34" charset="-120"/>
              </a:rPr>
              <a:t>▼</a:t>
            </a:r>
            <a:endParaRPr lang="en-US" sz="700" dirty="0"/>
          </a:p>
        </p:txBody>
      </p:sp>
      <p:sp>
        <p:nvSpPr>
          <p:cNvPr id="63" name="Shape 61"/>
          <p:cNvSpPr/>
          <p:nvPr/>
        </p:nvSpPr>
        <p:spPr>
          <a:xfrm>
            <a:off x="6611112" y="2798064"/>
            <a:ext cx="1956816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6611112" y="2798064"/>
            <a:ext cx="1956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F285A"/>
                </a:solidFill>
                <a:latin typeface="メイリオ" pitchFamily="34" charset="0"/>
                <a:ea typeface="メイリオ"/>
                <a:cs typeface="メイリオ"/>
                <a:ea typeface="メイリオ" pitchFamily="34" charset="-122"/>
                <a:cs typeface="メイリオ" pitchFamily="34" charset="-120"/>
              </a:rPr>
              <a:t>GAS（5分おき）</a:t>
            </a:r>
            <a:endParaRPr lang="en-US" sz="900" dirty="0"/>
          </a:p>
        </p:txBody>
      </p:sp>
      <p:sp>
        <p:nvSpPr>
          <p:cNvPr id="65" name="Text 63"/>
          <p:cNvSpPr txBox="1"/>
          <p:nvPr/>
        </p:nvSpPr>
        <p:spPr>
          <a:xfrm>
            <a:off x="6611112" y="3044952"/>
            <a:ext cx="195681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メイリオ" pitchFamily="34" charset="0"/>
                <a:ea typeface="メイリオ"/>
                <a:cs typeface="メイリオ"/>
                <a:ea typeface="メイリオ" pitchFamily="34" charset="-122"/>
                <a:cs typeface="メイリオ" pitchFamily="34" charset="-120"/>
              </a:rPr>
              <a:t>▼</a:t>
            </a:r>
            <a:endParaRPr lang="en-US" sz="700" dirty="0"/>
          </a:p>
        </p:txBody>
      </p:sp>
      <p:sp>
        <p:nvSpPr>
          <p:cNvPr id="66" name="Shape 64"/>
          <p:cNvSpPr/>
          <p:nvPr/>
        </p:nvSpPr>
        <p:spPr>
          <a:xfrm>
            <a:off x="6611112" y="3163824"/>
            <a:ext cx="1956816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6611112" y="3163824"/>
            <a:ext cx="1956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F285A"/>
                </a:solidFill>
                <a:latin typeface="メイリオ" pitchFamily="34" charset="0"/>
                <a:ea typeface="メイリオ"/>
                <a:cs typeface="メイリオ"/>
                <a:ea typeface="メイリオ" pitchFamily="34" charset="-122"/>
                <a:cs typeface="メイリオ" pitchFamily="34" charset="-120"/>
              </a:rPr>
              <a:t>スプレッドシート</a:t>
            </a:r>
            <a:endParaRPr lang="en-US" sz="900" dirty="0"/>
          </a:p>
        </p:txBody>
      </p:sp>
      <p:sp>
        <p:nvSpPr>
          <p:cNvPr id="68" name="Text 66"/>
          <p:cNvSpPr txBox="1"/>
          <p:nvPr/>
        </p:nvSpPr>
        <p:spPr>
          <a:xfrm>
            <a:off x="6611112" y="3410712"/>
            <a:ext cx="195681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メイリオ" pitchFamily="34" charset="0"/>
                <a:ea typeface="メイリオ"/>
                <a:cs typeface="メイリオ"/>
                <a:ea typeface="メイリオ" pitchFamily="34" charset="-122"/>
                <a:cs typeface="メイリオ" pitchFamily="34" charset="-120"/>
              </a:rPr>
              <a:t>▼</a:t>
            </a:r>
            <a:endParaRPr lang="en-US" sz="700" dirty="0"/>
          </a:p>
        </p:txBody>
      </p:sp>
      <p:sp>
        <p:nvSpPr>
          <p:cNvPr id="69" name="Shape 67"/>
          <p:cNvSpPr/>
          <p:nvPr/>
        </p:nvSpPr>
        <p:spPr>
          <a:xfrm>
            <a:off x="6611112" y="3529584"/>
            <a:ext cx="1956816" cy="256032"/>
          </a:xfrm>
          <a:prstGeom prst="roundRect">
            <a:avLst>
              <a:gd name="adj" fmla="val 21429"/>
            </a:avLst>
          </a:prstGeom>
          <a:solidFill>
            <a:srgbClr val="1F285A"/>
          </a:solidFill>
          <a:ln w="9525">
            <a:solidFill>
              <a:srgbClr val="1F285A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6611112" y="3529584"/>
            <a:ext cx="1956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メイリオ" pitchFamily="34" charset="0"/>
                <a:ea typeface="メイリオ"/>
                <a:cs typeface="メイリオ"/>
                <a:ea typeface="メイリオ" pitchFamily="34" charset="-122"/>
                <a:cs typeface="メイリオ" pitchFamily="34" charset="-120"/>
              </a:rPr>
              <a:t>空き状況（LINE内）</a:t>
            </a:r>
            <a:endParaRPr lang="en-US" sz="900" dirty="0"/>
          </a:p>
        </p:txBody>
      </p:sp>
      <p:sp>
        <p:nvSpPr>
          <p:cNvPr id="71" name="Text 69"/>
          <p:cNvSpPr txBox="1"/>
          <p:nvPr/>
        </p:nvSpPr>
        <p:spPr>
          <a:xfrm>
            <a:off x="6611112" y="3913632"/>
            <a:ext cx="195681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B7A3A"/>
                </a:solidFill>
                <a:latin typeface="メイリオ" pitchFamily="34" charset="0"/>
                <a:ea typeface="メイリオ"/>
                <a:cs typeface="メイリオ"/>
                <a:ea typeface="メイリオ" pitchFamily="34" charset="-122"/>
                <a:cs typeface="メイリオ" pitchFamily="34" charset="-120"/>
              </a:rPr>
              <a:t>ログインなし／手入力なし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B7A3A"/>
                </a:solidFill>
                <a:latin typeface="メイリオ" pitchFamily="34" charset="0"/>
                <a:ea typeface="メイリオ"/>
                <a:cs typeface="メイリオ"/>
                <a:ea typeface="メイリオ" pitchFamily="34" charset="-122"/>
                <a:cs typeface="メイリオ" pitchFamily="34" charset="-120"/>
              </a:rPr>
              <a:t>月額0円／配信通数0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B7A3A"/>
                </a:solidFill>
                <a:latin typeface="メイリオ" pitchFamily="34" charset="0"/>
                <a:ea typeface="メイリオ"/>
                <a:cs typeface="メイリオ"/>
                <a:ea typeface="メイリオ" pitchFamily="34" charset="-122"/>
                <a:cs typeface="メイリオ" pitchFamily="34" charset="-120"/>
              </a:rPr>
              <a:t>売上はこの経路を通らない</a:t>
            </a:r>
            <a:endParaRPr lang="en-US" sz="850" dirty="0"/>
          </a:p>
        </p:txBody>
      </p:sp>
      <p:sp>
        <p:nvSpPr>
          <p:cNvPr id="72" name="Shape 70"/>
          <p:cNvSpPr/>
          <p:nvPr/>
        </p:nvSpPr>
        <p:spPr>
          <a:xfrm>
            <a:off x="411480" y="4681728"/>
            <a:ext cx="8321040" cy="310896"/>
          </a:xfrm>
          <a:prstGeom prst="rect">
            <a:avLst/>
          </a:prstGeom>
          <a:solidFill>
            <a:srgbClr val="1F285A"/>
          </a:solidFill>
          <a:ln w="12700">
            <a:solidFill>
              <a:srgbClr val="1F285A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411480" y="4681728"/>
            <a:ext cx="8321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メイリオ" pitchFamily="34" charset="0"/>
                <a:ea typeface="メイリオ"/>
                <a:cs typeface="メイリオ"/>
                <a:ea typeface="メイリオ" pitchFamily="34" charset="-122"/>
                <a:cs typeface="メイリオ" pitchFamily="34" charset="-120"/>
              </a:rPr>
              <a:t>パフォーマーが触るのは、LINEのトークと「空き状況」画面の2つだけ。レストランボードには誰もログインしない。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2026-09-07T05:51:43Z</dcterms:created>
  <dcterms:modified xsi:type="dcterms:W3CDTF">2026-09-07T05:51:43Z</dcterms:modified>
</cp:coreProperties>
</file>