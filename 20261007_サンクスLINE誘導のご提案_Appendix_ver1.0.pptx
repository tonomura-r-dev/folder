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youtube.com/shorts/0qI4QgrOppQ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950095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CVの取りこぼしを減らし施策全体のCPAを改善</a:t>
            </a:r>
            <a:endParaRPr sz="1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5750" y="3950096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60500" y="4741330"/>
            <a:ext cx="258374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  <a:endParaRPr sz="140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753750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600749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32FF46F-8EC5-84E2-0196-27AFC801F6CB}"/>
              </a:ext>
            </a:extLst>
          </p:cNvPr>
          <p:cNvSpPr/>
          <p:nvPr/>
        </p:nvSpPr>
        <p:spPr>
          <a:xfrm>
            <a:off x="8065876" y="985508"/>
            <a:ext cx="1274130" cy="324000"/>
          </a:xfrm>
          <a:prstGeom prst="roundRect">
            <a:avLst>
              <a:gd name="adj" fmla="val 3924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重要性 </a:t>
            </a:r>
            <a:r>
              <a:rPr lang="en-US" altLang="ja-JP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UP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3500" y="1628403"/>
            <a:ext cx="29250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500" y="2052000"/>
            <a:ext cx="2223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500" y="2358000"/>
            <a:ext cx="2223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3200"/>
          </a:p>
        </p:txBody>
      </p:sp>
      <p:cxnSp>
        <p:nvCxnSpPr>
          <p:cNvPr id="9" name="Connector 8"/>
          <p:cNvCxnSpPr/>
          <p:nvPr/>
        </p:nvCxnSpPr>
        <p:spPr>
          <a:xfrm>
            <a:off x="2925000" y="3600000"/>
            <a:ext cx="1755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59000" y="2052000"/>
            <a:ext cx="3393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9000" y="2358000"/>
            <a:ext cx="3393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3200"/>
          </a:p>
        </p:txBody>
      </p:sp>
      <p:cxnSp>
        <p:nvCxnSpPr>
          <p:cNvPr id="12" name="Connector 11"/>
          <p:cNvCxnSpPr/>
          <p:nvPr/>
        </p:nvCxnSpPr>
        <p:spPr>
          <a:xfrm>
            <a:off x="6610499" y="3600000"/>
            <a:ext cx="1755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44500" y="2052000"/>
            <a:ext cx="242775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4500" y="2358000"/>
            <a:ext cx="242775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89750" y="3292886"/>
            <a:ext cx="1930500" cy="90223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接点がな</a:t>
            </a:r>
            <a:r>
              <a:rPr lang="ja-JP" altLang="en-US"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く</a:t>
            </a: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</a:t>
            </a:r>
            <a:r>
              <a:rPr lang="ja-JP" altLang="en-US"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</a:t>
            </a: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来院</a:t>
            </a:r>
            <a:r>
              <a:rPr lang="ja-JP" altLang="en-US"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一定数いる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3000" y="2538000"/>
            <a:ext cx="2925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55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93000" y="3172500"/>
            <a:ext cx="2925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5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93000" y="3806999"/>
            <a:ext cx="2925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555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93000" y="4441500"/>
            <a:ext cx="2925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</a:t>
            </a:r>
            <a:endParaRPr lang="en-US"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LINEで配信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4500" y="2562258"/>
            <a:ext cx="24277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4500" y="2832716"/>
            <a:ext cx="2427750" cy="139056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4500" y="4168547"/>
            <a:ext cx="2427750" cy="37490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3500" y="5400000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3500" y="5472000"/>
            <a:ext cx="8628750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00" y="5783185"/>
            <a:ext cx="6089795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500" y="6081365"/>
            <a:ext cx="620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  <a:endParaRPr sz="10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altLang="ja-JP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lang="ja-JP" alt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6516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契約・購入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31517"/>
            <a:ext cx="9111472" cy="31696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が低い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を入り口とし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でナーチャリングを経て、契約・購入につなげる。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3066258"/>
            <a:ext cx="706295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778881" y="3066258"/>
            <a:ext cx="84784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841136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966852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92568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218284" y="2964691"/>
            <a:ext cx="12033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699499" y="3066257"/>
            <a:ext cx="13972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8102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8102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8102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4115" y="3996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4115" y="4302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4115" y="4608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4115" y="4913999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578981"/>
            <a:ext cx="8628750" cy="57803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ハードルが低い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を獲得するため該当のページ制作から、</a:t>
            </a:r>
            <a:endParaRPr lang="en-US" altLang="ja-JP"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誘導・ナーチャリングを一気通貫で対応可能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25" y="1842343"/>
            <a:ext cx="2515500" cy="51032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LY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生データ）</a:t>
            </a:r>
            <a:endParaRPr lang="en-US"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が起きやすい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443339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6040124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171339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839339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56" y="4178539"/>
            <a:ext cx="334788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77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81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396" y="4178539"/>
            <a:ext cx="559209" cy="307195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396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900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798" y="4178539"/>
            <a:ext cx="28990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7448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744831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80076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30486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307113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30720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3072012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307361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31003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31142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31379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3137999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2097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21725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30026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4087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408746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4699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5057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5137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5278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527816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528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536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5601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56701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567010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6182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6650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6706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67960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679609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6839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72825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7845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8086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808677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82729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84878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85231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85694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856944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8912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9109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9132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9238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923847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9364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9393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94440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94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948694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9581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9853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40198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6" name="Oval 85"/>
          <p:cNvSpPr/>
          <p:nvPr/>
        </p:nvSpPr>
        <p:spPr>
          <a:xfrm>
            <a:off x="1606119" y="40260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7" name="Rounded Rectangle 86"/>
          <p:cNvSpPr/>
          <p:nvPr/>
        </p:nvSpPr>
        <p:spPr>
          <a:xfrm>
            <a:off x="1666419" y="4026047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8" name="Oval 87"/>
          <p:cNvSpPr/>
          <p:nvPr/>
        </p:nvSpPr>
        <p:spPr>
          <a:xfrm>
            <a:off x="2189770" y="402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9" name="Oval 88"/>
          <p:cNvSpPr/>
          <p:nvPr/>
        </p:nvSpPr>
        <p:spPr>
          <a:xfrm>
            <a:off x="2581579" y="4030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0" name="Oval 89"/>
          <p:cNvSpPr/>
          <p:nvPr/>
        </p:nvSpPr>
        <p:spPr>
          <a:xfrm>
            <a:off x="1908993" y="403718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1" name="Oval 90"/>
          <p:cNvSpPr/>
          <p:nvPr/>
        </p:nvSpPr>
        <p:spPr>
          <a:xfrm>
            <a:off x="2276001" y="40416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2" name="Rounded Rectangle 91"/>
          <p:cNvSpPr/>
          <p:nvPr/>
        </p:nvSpPr>
        <p:spPr>
          <a:xfrm>
            <a:off x="2336301" y="4041628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3" name="Oval 92"/>
          <p:cNvSpPr/>
          <p:nvPr/>
        </p:nvSpPr>
        <p:spPr>
          <a:xfrm>
            <a:off x="1866016" y="40485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4" name="Oval 93"/>
          <p:cNvSpPr/>
          <p:nvPr/>
        </p:nvSpPr>
        <p:spPr>
          <a:xfrm>
            <a:off x="2081942" y="40498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5" name="Oval 94"/>
          <p:cNvSpPr/>
          <p:nvPr/>
        </p:nvSpPr>
        <p:spPr>
          <a:xfrm>
            <a:off x="2175240" y="406040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6" name="Oval 95"/>
          <p:cNvSpPr/>
          <p:nvPr/>
        </p:nvSpPr>
        <p:spPr>
          <a:xfrm>
            <a:off x="2165289" y="40621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7" name="Rounded Rectangle 96"/>
          <p:cNvSpPr/>
          <p:nvPr/>
        </p:nvSpPr>
        <p:spPr>
          <a:xfrm>
            <a:off x="2225589" y="4062120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8" name="Oval 97"/>
          <p:cNvSpPr/>
          <p:nvPr/>
        </p:nvSpPr>
        <p:spPr>
          <a:xfrm>
            <a:off x="2365996" y="40650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9" name="Oval 98"/>
          <p:cNvSpPr/>
          <p:nvPr/>
        </p:nvSpPr>
        <p:spPr>
          <a:xfrm>
            <a:off x="2318492" y="407152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0" name="Oval 99"/>
          <p:cNvSpPr/>
          <p:nvPr/>
        </p:nvSpPr>
        <p:spPr>
          <a:xfrm>
            <a:off x="2545675" y="407693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1" name="Oval 100"/>
          <p:cNvSpPr/>
          <p:nvPr/>
        </p:nvSpPr>
        <p:spPr>
          <a:xfrm>
            <a:off x="1355620" y="40783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2" name="Rounded Rectangle 101"/>
          <p:cNvSpPr/>
          <p:nvPr/>
        </p:nvSpPr>
        <p:spPr>
          <a:xfrm>
            <a:off x="1415920" y="4078332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3" name="Oval 102"/>
          <p:cNvSpPr/>
          <p:nvPr/>
        </p:nvSpPr>
        <p:spPr>
          <a:xfrm>
            <a:off x="1764247" y="40785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4" name="Oval 103"/>
          <p:cNvSpPr/>
          <p:nvPr/>
        </p:nvSpPr>
        <p:spPr>
          <a:xfrm>
            <a:off x="1722435" y="40797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5" name="Oval 104"/>
          <p:cNvSpPr/>
          <p:nvPr/>
        </p:nvSpPr>
        <p:spPr>
          <a:xfrm>
            <a:off x="2021203" y="4079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6" name="Oval 105"/>
          <p:cNvSpPr/>
          <p:nvPr/>
        </p:nvSpPr>
        <p:spPr>
          <a:xfrm>
            <a:off x="1615776" y="40828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7" name="Rounded Rectangle 106"/>
          <p:cNvSpPr/>
          <p:nvPr/>
        </p:nvSpPr>
        <p:spPr>
          <a:xfrm>
            <a:off x="1676076" y="4082821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8" name="Oval 107"/>
          <p:cNvSpPr/>
          <p:nvPr/>
        </p:nvSpPr>
        <p:spPr>
          <a:xfrm>
            <a:off x="2054659" y="40851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9" name="Oval 108"/>
          <p:cNvSpPr/>
          <p:nvPr/>
        </p:nvSpPr>
        <p:spPr>
          <a:xfrm>
            <a:off x="1391304" y="40867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0" name="Oval 109"/>
          <p:cNvSpPr/>
          <p:nvPr/>
        </p:nvSpPr>
        <p:spPr>
          <a:xfrm>
            <a:off x="2150492" y="40878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1" name="Oval 110"/>
          <p:cNvSpPr/>
          <p:nvPr/>
        </p:nvSpPr>
        <p:spPr>
          <a:xfrm>
            <a:off x="2342302" y="40882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2" name="Rounded Rectangle 111"/>
          <p:cNvSpPr/>
          <p:nvPr/>
        </p:nvSpPr>
        <p:spPr>
          <a:xfrm>
            <a:off x="2402602" y="4088218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3" name="Oval 112"/>
          <p:cNvSpPr/>
          <p:nvPr/>
        </p:nvSpPr>
        <p:spPr>
          <a:xfrm>
            <a:off x="1876813" y="40885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4" name="Oval 113"/>
          <p:cNvSpPr/>
          <p:nvPr/>
        </p:nvSpPr>
        <p:spPr>
          <a:xfrm>
            <a:off x="1624306" y="40895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5" name="Oval 114"/>
          <p:cNvSpPr/>
          <p:nvPr/>
        </p:nvSpPr>
        <p:spPr>
          <a:xfrm>
            <a:off x="2138041" y="409004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6" name="Oval 115"/>
          <p:cNvSpPr/>
          <p:nvPr/>
        </p:nvSpPr>
        <p:spPr>
          <a:xfrm>
            <a:off x="2101194" y="40917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7" name="Rounded Rectangle 116"/>
          <p:cNvSpPr/>
          <p:nvPr/>
        </p:nvSpPr>
        <p:spPr>
          <a:xfrm>
            <a:off x="2161494" y="4091711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8" name="Oval 117"/>
          <p:cNvSpPr/>
          <p:nvPr/>
        </p:nvSpPr>
        <p:spPr>
          <a:xfrm>
            <a:off x="2247349" y="4092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3480750" y="2515339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515339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947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145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947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541338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739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541338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4135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333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4135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673313" y="4770998"/>
            <a:ext cx="2322937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623339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515339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5" name="TextBox 134"/>
          <p:cNvSpPr txBox="1"/>
          <p:nvPr/>
        </p:nvSpPr>
        <p:spPr>
          <a:xfrm>
            <a:off x="6317999" y="2520524"/>
            <a:ext cx="73125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923167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8" name="TextBox 137"/>
          <p:cNvSpPr txBox="1"/>
          <p:nvPr/>
        </p:nvSpPr>
        <p:spPr>
          <a:xfrm>
            <a:off x="6317999" y="2936816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868646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561721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1" name="TextBox 140"/>
          <p:cNvSpPr txBox="1"/>
          <p:nvPr/>
        </p:nvSpPr>
        <p:spPr>
          <a:xfrm>
            <a:off x="6317999" y="3575371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50720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25053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4" name="TextBox 143"/>
          <p:cNvSpPr txBox="1"/>
          <p:nvPr/>
        </p:nvSpPr>
        <p:spPr>
          <a:xfrm>
            <a:off x="6317999" y="4264188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196018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契約・利用</a:t>
            </a: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オファ</a:t>
            </a:r>
            <a:r>
              <a:rPr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sz="2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5077100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502575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131">
            <a:extLst>
              <a:ext uri="{FF2B5EF4-FFF2-40B4-BE49-F238E27FC236}">
                <a16:creationId xmlns:a16="http://schemas.microsoft.com/office/drawing/2014/main" id="{23F6D43A-CEDB-036F-68BB-B6F0EF86E65C}"/>
              </a:ext>
            </a:extLst>
          </p:cNvPr>
          <p:cNvSpPr txBox="1"/>
          <p:nvPr/>
        </p:nvSpPr>
        <p:spPr>
          <a:xfrm>
            <a:off x="643500" y="4768226"/>
            <a:ext cx="2486250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検討後に何を検索しているか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ユーザーの不安・比較軸</a:t>
            </a:r>
            <a:endParaRPr lang="en-US" altLang="ja-JP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・関心テーマを把握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2112258"/>
            <a:ext cx="1985344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65219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96812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228406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911185"/>
            <a:ext cx="1941469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  <a:endParaRPr sz="10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7185"/>
            <a:ext cx="2925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5043465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194665"/>
            <a:ext cx="48502" cy="179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45875" y="5175187"/>
            <a:ext cx="3772348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2742188" y="5529465"/>
            <a:ext cx="0" cy="341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4000" y="5194665"/>
            <a:ext cx="58704" cy="179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16375" y="5175187"/>
            <a:ext cx="4565854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88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  <a:r>
              <a:rPr lang="ja-JP" altLang="en-US" sz="10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126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9563" y="5545867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4797000" y="5151465"/>
            <a:ext cx="0" cy="791997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0813" y="6016994"/>
            <a:ext cx="8628750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