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売上高</c:v>
                </c:pt>
              </c:strCache>
            </c:strRef>
          </c:tx>
          <c:spPr>
            <a:solidFill>
              <a:srgbClr val="1A2A5E"/>
            </a:solidFill>
            <a:effectLst/>
          </c:spPr>
          <c:invertIfNegative val="0"/>
          <c:dLbls>
            <c:numFmt formatCode="#,##0" sourceLinked="0"/>
            <c:txPr>
              <a:bodyPr/>
              <a:lstStyle/>
              <a:p>
                <a:pPr>
                  <a:defRPr b="0" i="0" strike="noStrike" sz="900" u="none">
                    <a:solidFill>
                      <a:srgbClr val="1A2A5E"/>
                    </a:solidFill>
                    <a:latin typeface="Meiryo"/>
                  </a:defRPr>
                </a:pPr>
              </a:p>
            </c:txPr>
            <c:showLegendKey val="0"/>
            <c:showVal val="1"/>
            <c:showCatName val="0"/>
            <c:showSerName val="0"/>
            <c:showPercent val="0"/>
            <c:showBubbleSize val="0"/>
            <c:showLeaderLines val="0"/>
          </c:dLbls>
          <c:cat>
            <c:multiLvlStrRef>
              <c:f>Sheet1!$A$2:$A$7</c:f>
              <c:multiLvlStrCache>
                <c:ptCount val="6"/>
                <c:lvl>
                  <c:pt idx="0">
                    <c:v>第18期</c:v>
                  </c:pt>
                  <c:pt idx="1">
                    <c:v>第19期</c:v>
                  </c:pt>
                  <c:pt idx="2">
                    <c:v>第20期</c:v>
                  </c:pt>
                  <c:pt idx="3">
                    <c:v>第21期</c:v>
                  </c:pt>
                  <c:pt idx="4">
                    <c:v>第22期</c:v>
                  </c:pt>
                  <c:pt idx="5">
                    <c:v>第23期</c:v>
                  </c:pt>
                </c:lvl>
              </c:multiLvlStrCache>
            </c:multiLvlStrRef>
          </c:cat>
          <c:val>
            <c:numRef>
              <c:f>Sheet1!$B$2:$B$7</c:f>
              <c:numCache>
                <c:formatCode>General</c:formatCode>
                <c:ptCount val="6"/>
                <c:pt idx="0">
                  <c:v>134.2</c:v>
                </c:pt>
                <c:pt idx="1">
                  <c:v>161.1</c:v>
                </c:pt>
                <c:pt idx="2">
                  <c:v>212.6</c:v>
                </c:pt>
                <c:pt idx="3">
                  <c:v>258</c:v>
                </c:pt>
                <c:pt idx="4">
                  <c:v>318.7</c:v>
                </c:pt>
                <c:pt idx="5">
                  <c:v>462.4</c:v>
                </c:pt>
              </c:numCache>
            </c:numRef>
          </c:val>
        </c:ser>
        <c:dLbls>
          <c:numFmt formatCode="#,##0" sourceLinked="0"/>
          <c:txPr>
            <a:bodyPr/>
            <a:lstStyle/>
            <a:p>
              <a:pPr>
                <a:defRPr b="0" i="0" strike="noStrike" sz="900" u="none">
                  <a:solidFill>
                    <a:srgbClr val="1A2A5E"/>
                  </a:solidFill>
                  <a:latin typeface="Meiryo"/>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22222"/>
                </a:solidFill>
                <a:latin typeface="Meiryo"/>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比率</c:v>
                </c:pt>
              </c:strCache>
            </c:strRef>
          </c:tx>
          <c:spPr>
            <a:solidFill>
              <a:schemeClr val="accent1"/>
            </a:solidFill>
            <a:ln w="9525" cap="flat">
              <a:solidFill>
                <a:srgbClr val="F9F9F9"/>
              </a:solidFill>
              <a:prstDash val="solid"/>
              <a:round/>
            </a:ln>
            <a:effectLst/>
          </c:spPr>
          <c:dPt>
            <c:idx val="0"/>
            <c:bubble3D val="0"/>
            <c:spPr>
              <a:solidFill>
                <a:srgbClr val="F39800"/>
              </a:solidFill>
              <a:effectLst/>
            </c:spPr>
          </c:dPt>
          <c:dPt>
            <c:idx val="1"/>
            <c:bubble3D val="0"/>
            <c:spPr>
              <a:solidFill>
                <a:srgbClr val="1A2A5E"/>
              </a:solidFill>
              <a:effectLst/>
            </c:spPr>
          </c:dPt>
          <c:dPt>
            <c:idx val="2"/>
            <c:bubble3D val="0"/>
            <c:spPr>
              <a:solidFill>
                <a:srgbClr val="3D4E86"/>
              </a:solidFill>
              <a:effectLst/>
            </c:spPr>
          </c:dPt>
          <c:dPt>
            <c:idx val="3"/>
            <c:bubble3D val="0"/>
            <c:spPr>
              <a:solidFill>
                <a:srgbClr val="8A93B8"/>
              </a:solidFill>
              <a:effectLst/>
            </c:spPr>
          </c:dPt>
          <c:dLbls>
            <c:dLbl>
              <c:idx val="0"/>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リスティング</c:v>
                </c:pt>
                <c:pt idx="1">
                  <c:v>SNS</c:v>
                </c:pt>
                <c:pt idx="2">
                  <c:v>アフィリエイト</c:v>
                </c:pt>
                <c:pt idx="3">
                  <c:v>その他</c:v>
                </c:pt>
              </c:strCache>
            </c:strRef>
          </c:cat>
          <c:val>
            <c:numRef>
              <c:f>Sheet1!$B$2:$B$5</c:f>
              <c:numCache>
                <c:ptCount val="4"/>
                <c:pt idx="0">
                  <c:v>72</c:v>
                </c:pt>
                <c:pt idx="1">
                  <c:v>13</c:v>
                </c:pt>
                <c:pt idx="2">
                  <c:v>8</c:v>
                </c:pt>
                <c:pt idx="3">
                  <c:v>7</c:v>
                </c:pt>
              </c:numCache>
            </c:numRef>
          </c:val>
        </c:ser>
        <c:firstSliceAng val="0"/>
        <c:holeSize val="55"/>
      </c:doughnutChart>
      <c:spPr>
        <a:noFill/>
        <a:ln>
          <a:noFill/>
        </a:ln>
        <a:effectLst/>
      </c:spPr>
    </c:plotArea>
    <c:legend>
      <c:legendPos val="b"/>
      <c:overlay val="0"/>
      <c:txPr>
        <a:bodyPr/>
        <a:lstStyle/>
        <a:p>
          <a:pPr>
            <a:defRPr sz="10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レンジ</c:v>
                </c:pt>
              </c:strCache>
            </c:strRef>
          </c:tx>
          <c:spPr>
            <a:solidFill>
              <a:schemeClr val="accent1"/>
            </a:solidFill>
            <a:ln w="9525" cap="flat">
              <a:solidFill>
                <a:srgbClr val="F9F9F9"/>
              </a:solidFill>
              <a:prstDash val="solid"/>
              <a:round/>
            </a:ln>
            <a:effectLst/>
          </c:spPr>
          <c:dPt>
            <c:idx val="0"/>
            <c:bubble3D val="0"/>
            <c:spPr>
              <a:solidFill>
                <a:srgbClr val="3D4E86"/>
              </a:solidFill>
              <a:effectLst/>
            </c:spPr>
          </c:dPt>
          <c:dPt>
            <c:idx val="1"/>
            <c:bubble3D val="0"/>
            <c:spPr>
              <a:solidFill>
                <a:srgbClr val="F39800"/>
              </a:solidFill>
              <a:effectLst/>
            </c:spPr>
          </c:dPt>
          <c:dPt>
            <c:idx val="2"/>
            <c:bubble3D val="0"/>
            <c:spPr>
              <a:solidFill>
                <a:srgbClr val="C7CDE0"/>
              </a:solidFill>
              <a:effectLst/>
            </c:spPr>
          </c:dPt>
          <c:dPt>
            <c:idx val="3"/>
            <c:bubble3D val="0"/>
            <c:spPr>
              <a:solidFill>
                <a:srgbClr val="1A2A5E"/>
              </a:solidFill>
              <a:effectLst/>
            </c:spPr>
          </c:dPt>
          <c:dLbls>
            <c:dLbl>
              <c:idx val="0"/>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〜100万円</c:v>
                </c:pt>
                <c:pt idx="1">
                  <c:v>100〜500万円</c:v>
                </c:pt>
                <c:pt idx="2">
                  <c:v>500〜1,000万円</c:v>
                </c:pt>
                <c:pt idx="3">
                  <c:v>1,000万円〜</c:v>
                </c:pt>
              </c:strCache>
            </c:strRef>
          </c:cat>
          <c:val>
            <c:numRef>
              <c:f>Sheet1!$B$2:$B$5</c:f>
              <c:numCache>
                <c:ptCount val="4"/>
                <c:pt idx="0">
                  <c:v>36</c:v>
                </c:pt>
                <c:pt idx="1">
                  <c:v>42</c:v>
                </c:pt>
                <c:pt idx="2">
                  <c:v>8</c:v>
                </c:pt>
                <c:pt idx="3">
                  <c:v>14</c:v>
                </c:pt>
              </c:numCache>
            </c:numRef>
          </c:val>
        </c:ser>
        <c:firstSliceAng val="0"/>
      </c:pieChart>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業界</c:v>
                </c:pt>
              </c:strCache>
            </c:strRef>
          </c:tx>
          <c:spPr>
            <a:solidFill>
              <a:schemeClr val="accent1"/>
            </a:solidFill>
            <a:ln w="9525" cap="flat">
              <a:solidFill>
                <a:srgbClr val="F9F9F9"/>
              </a:solidFill>
              <a:prstDash val="solid"/>
              <a:round/>
            </a:ln>
            <a:effectLst/>
          </c:spPr>
          <c:dPt>
            <c:idx val="0"/>
            <c:bubble3D val="0"/>
            <c:spPr>
              <a:solidFill>
                <a:srgbClr val="1A2A5E"/>
              </a:solidFill>
              <a:effectLst/>
            </c:spPr>
          </c:dPt>
          <c:dPt>
            <c:idx val="1"/>
            <c:bubble3D val="0"/>
            <c:spPr>
              <a:solidFill>
                <a:srgbClr val="3D4E86"/>
              </a:solidFill>
              <a:effectLst/>
            </c:spPr>
          </c:dPt>
          <c:dPt>
            <c:idx val="2"/>
            <c:bubble3D val="0"/>
            <c:spPr>
              <a:solidFill>
                <a:srgbClr val="8A93B8"/>
              </a:solidFill>
              <a:effectLst/>
            </c:spPr>
          </c:dPt>
          <c:dPt>
            <c:idx val="3"/>
            <c:bubble3D val="0"/>
            <c:spPr>
              <a:solidFill>
                <a:srgbClr val="F39800"/>
              </a:solidFill>
              <a:effectLst/>
            </c:spPr>
          </c:dPt>
          <c:dPt>
            <c:idx val="4"/>
            <c:bubble3D val="0"/>
            <c:spPr>
              <a:solidFill>
                <a:srgbClr val="B7413A"/>
              </a:solidFill>
              <a:effectLst/>
            </c:spPr>
          </c:dPt>
          <c:dPt>
            <c:idx val="5"/>
            <c:bubble3D val="0"/>
            <c:spPr>
              <a:solidFill>
                <a:srgbClr val="C7CDE0"/>
              </a:solidFill>
              <a:effectLst/>
            </c:spPr>
          </c:dPt>
          <c:dPt>
            <c:idx val="6"/>
            <c:bubble3D val="0"/>
            <c:spPr>
              <a:solidFill>
                <a:srgbClr val="E7E9F0"/>
              </a:solidFill>
              <a:effectLst/>
            </c:spPr>
          </c:dPt>
          <c:dLbls>
            <c:dLbl>
              <c:idx val="0"/>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4"/>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5"/>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6"/>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BtoB</c:v>
                </c:pt>
                <c:pt idx="1">
                  <c:v>生活トラブル</c:v>
                </c:pt>
                <c:pt idx="2">
                  <c:v>買取</c:v>
                </c:pt>
                <c:pt idx="3">
                  <c:v>金融</c:v>
                </c:pt>
                <c:pt idx="4">
                  <c:v>小売・通販</c:v>
                </c:pt>
                <c:pt idx="5">
                  <c:v>美容・医療</c:v>
                </c:pt>
                <c:pt idx="6">
                  <c:v>その他</c:v>
                </c:pt>
              </c:strCache>
            </c:strRef>
          </c:cat>
          <c:val>
            <c:numRef>
              <c:f>Sheet1!$B$2:$B$8</c:f>
              <c:numCache>
                <c:ptCount val="7"/>
                <c:pt idx="0">
                  <c:v>14</c:v>
                </c:pt>
                <c:pt idx="1">
                  <c:v>9</c:v>
                </c:pt>
                <c:pt idx="2">
                  <c:v>9</c:v>
                </c:pt>
                <c:pt idx="3">
                  <c:v>7</c:v>
                </c:pt>
                <c:pt idx="4">
                  <c:v>7</c:v>
                </c:pt>
                <c:pt idx="5">
                  <c:v>10</c:v>
                </c:pt>
                <c:pt idx="6">
                  <c:v>44</c:v>
                </c:pt>
              </c:numCache>
            </c:numRef>
          </c:val>
        </c:ser>
        <c:firstSliceAng val="0"/>
      </c:pieChart>
      <c:spPr>
        <a:noFill/>
        <a:ln>
          <a:noFill/>
        </a:ln>
        <a:effectLst/>
      </c:spPr>
    </c:plotArea>
    <c:legend>
      <c:legendPos val="b"/>
      <c:overlay val="0"/>
      <c:txPr>
        <a:bodyPr/>
        <a:lstStyle/>
        <a:p>
          <a:pPr>
            <a:defRPr sz="8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772400" cy="548640"/>
          </a:xfrm>
          <a:prstGeom prst="rect">
            <a:avLst/>
          </a:prstGeom>
          <a:noFill/>
          <a:ln/>
        </p:spPr>
        <p:txBody>
          <a:bodyPr wrap="square" lIns="0" tIns="0" rIns="0" bIns="0" rtlCol="0" anchor="ctr"/>
          <a:lstStyle/>
          <a:p>
            <a:pPr indent="0" marL="0">
              <a:buNone/>
            </a:pPr>
            <a:r>
              <a:rPr lang="en-US" sz="2600" b="1" dirty="0">
                <a:solidFill>
                  <a:srgbClr val="222222"/>
                </a:solidFill>
                <a:latin typeface="Meiryo" pitchFamily="34" charset="0"/>
                <a:ea typeface="Meiryo" pitchFamily="34" charset="-122"/>
                <a:cs typeface="Meiryo" pitchFamily="34" charset="-120"/>
              </a:rPr>
              <a:t>株式会社A-1設計 御中</a:t>
            </a:r>
            <a:endParaRPr lang="en-US" sz="2600" dirty="0"/>
          </a:p>
        </p:txBody>
      </p:sp>
      <p:sp>
        <p:nvSpPr>
          <p:cNvPr id="3" name="Text 1"/>
          <p:cNvSpPr/>
          <p:nvPr/>
        </p:nvSpPr>
        <p:spPr>
          <a:xfrm>
            <a:off x="9784080" y="457200"/>
            <a:ext cx="1947672" cy="548640"/>
          </a:xfrm>
          <a:prstGeom prst="rect">
            <a:avLst/>
          </a:prstGeom>
          <a:noFill/>
          <a:ln/>
        </p:spPr>
        <p:txBody>
          <a:bodyPr wrap="square" lIns="0" tIns="0" rIns="0" bIns="0" rtlCol="0" anchor="ctr"/>
          <a:lstStyle/>
          <a:p>
            <a:pPr algn="r" indent="0" marL="0">
              <a:buNone/>
            </a:pPr>
            <a:r>
              <a:rPr lang="en-US" sz="2600" b="1" spc="500" kern="0" dirty="0">
                <a:solidFill>
                  <a:srgbClr val="1A2A5E"/>
                </a:solidFill>
                <a:latin typeface="Meiryo" pitchFamily="34" charset="0"/>
                <a:ea typeface="Meiryo" pitchFamily="34" charset="-122"/>
                <a:cs typeface="Meiryo" pitchFamily="34" charset="-120"/>
              </a:rPr>
              <a:t>DYM</a:t>
            </a:r>
            <a:endParaRPr lang="en-US" sz="2600" dirty="0"/>
          </a:p>
        </p:txBody>
      </p:sp>
      <p:sp>
        <p:nvSpPr>
          <p:cNvPr id="4" name="Text 2"/>
          <p:cNvSpPr/>
          <p:nvPr/>
        </p:nvSpPr>
        <p:spPr>
          <a:xfrm>
            <a:off x="1371600" y="2468880"/>
            <a:ext cx="9445752" cy="868680"/>
          </a:xfrm>
          <a:prstGeom prst="rect">
            <a:avLst/>
          </a:prstGeom>
          <a:noFill/>
          <a:ln/>
        </p:spPr>
        <p:txBody>
          <a:bodyPr wrap="square" lIns="0" tIns="0" rIns="0" bIns="0" rtlCol="0" anchor="ctr"/>
          <a:lstStyle/>
          <a:p>
            <a:pPr algn="ctr" indent="0" marL="0">
              <a:buNone/>
            </a:pPr>
            <a:r>
              <a:rPr lang="en-US" sz="4000" b="1" dirty="0">
                <a:solidFill>
                  <a:srgbClr val="222222"/>
                </a:solidFill>
                <a:latin typeface="Meiryo" pitchFamily="34" charset="0"/>
                <a:ea typeface="Meiryo" pitchFamily="34" charset="-122"/>
                <a:cs typeface="Meiryo" pitchFamily="34" charset="-120"/>
              </a:rPr>
              <a:t>WEBプロモーションのご提案</a:t>
            </a:r>
            <a:endParaRPr lang="en-US" sz="4000" dirty="0"/>
          </a:p>
        </p:txBody>
      </p:sp>
      <p:sp>
        <p:nvSpPr>
          <p:cNvPr id="5" name="Shape 3"/>
          <p:cNvSpPr/>
          <p:nvPr/>
        </p:nvSpPr>
        <p:spPr>
          <a:xfrm>
            <a:off x="1984248" y="3456432"/>
            <a:ext cx="8229600" cy="0"/>
          </a:xfrm>
          <a:prstGeom prst="line">
            <a:avLst/>
          </a:prstGeom>
          <a:noFill/>
          <a:ln w="28575">
            <a:solidFill>
              <a:srgbClr val="1A2A5E"/>
            </a:solidFill>
            <a:prstDash val="solid"/>
          </a:ln>
        </p:spPr>
      </p:sp>
      <p:sp>
        <p:nvSpPr>
          <p:cNvPr id="6" name="Text 4"/>
          <p:cNvSpPr/>
          <p:nvPr/>
        </p:nvSpPr>
        <p:spPr>
          <a:xfrm>
            <a:off x="1371600" y="3611880"/>
            <a:ext cx="9445752" cy="457200"/>
          </a:xfrm>
          <a:prstGeom prst="rect">
            <a:avLst/>
          </a:prstGeom>
          <a:noFill/>
          <a:ln/>
        </p:spPr>
        <p:txBody>
          <a:bodyPr wrap="square" lIns="0" tIns="0" rIns="0" bIns="0" rtlCol="0" anchor="ctr"/>
          <a:lstStyle/>
          <a:p>
            <a:pPr algn="ctr" indent="0" marL="0">
              <a:buNone/>
            </a:pPr>
            <a:r>
              <a:rPr lang="en-US" sz="1500" dirty="0">
                <a:solidFill>
                  <a:srgbClr val="555B66"/>
                </a:solidFill>
                <a:latin typeface="Meiryo" pitchFamily="34" charset="0"/>
                <a:ea typeface="Meiryo" pitchFamily="34" charset="-122"/>
                <a:cs typeface="Meiryo" pitchFamily="34" charset="-120"/>
              </a:rPr>
              <a:t>リスティング広告再開による マンション大規模修繕 設計監理業務の受注最大化</a:t>
            </a:r>
            <a:endParaRPr lang="en-US" sz="1500" dirty="0"/>
          </a:p>
        </p:txBody>
      </p:sp>
      <p:sp>
        <p:nvSpPr>
          <p:cNvPr id="7" name="Text 5"/>
          <p:cNvSpPr/>
          <p:nvPr/>
        </p:nvSpPr>
        <p:spPr>
          <a:xfrm>
            <a:off x="2286000" y="4800600"/>
            <a:ext cx="3474720" cy="640080"/>
          </a:xfrm>
          <a:prstGeom prst="rect">
            <a:avLst/>
          </a:prstGeom>
          <a:noFill/>
          <a:ln/>
        </p:spPr>
        <p:txBody>
          <a:bodyPr wrap="square" lIns="0" tIns="0" rIns="0" bIns="0" rtlCol="0" anchor="ctr"/>
          <a:lstStyle/>
          <a:p>
            <a:pPr algn="r" indent="0" marL="0">
              <a:buNone/>
            </a:pPr>
            <a:r>
              <a:rPr lang="en-US" sz="2100" b="1" dirty="0">
                <a:solidFill>
                  <a:srgbClr val="1A2A5E"/>
                </a:solidFill>
                <a:latin typeface="Meiryo" pitchFamily="34" charset="0"/>
                <a:ea typeface="Meiryo" pitchFamily="34" charset="-122"/>
                <a:cs typeface="Meiryo" pitchFamily="34" charset="-120"/>
              </a:rPr>
              <a:t>株式会社A-1設計</a:t>
            </a:r>
            <a:endParaRPr lang="en-US" sz="2100" dirty="0"/>
          </a:p>
        </p:txBody>
      </p:sp>
      <p:sp>
        <p:nvSpPr>
          <p:cNvPr id="8" name="Text 6"/>
          <p:cNvSpPr/>
          <p:nvPr/>
        </p:nvSpPr>
        <p:spPr>
          <a:xfrm>
            <a:off x="5897880" y="4800600"/>
            <a:ext cx="548640" cy="640080"/>
          </a:xfrm>
          <a:prstGeom prst="rect">
            <a:avLst/>
          </a:prstGeom>
          <a:noFill/>
          <a:ln/>
        </p:spPr>
        <p:txBody>
          <a:bodyPr wrap="square" lIns="0" tIns="0" rIns="0" bIns="0" rtlCol="0" anchor="ctr"/>
          <a:lstStyle/>
          <a:p>
            <a:pPr algn="ctr" indent="0" marL="0">
              <a:buNone/>
            </a:pPr>
            <a:r>
              <a:rPr lang="en-US" sz="2000" dirty="0">
                <a:solidFill>
                  <a:srgbClr val="9AA0AA"/>
                </a:solidFill>
                <a:latin typeface="Meiryo" pitchFamily="34" charset="0"/>
                <a:ea typeface="Meiryo" pitchFamily="34" charset="-122"/>
                <a:cs typeface="Meiryo" pitchFamily="34" charset="-120"/>
              </a:rPr>
              <a:t>×</a:t>
            </a:r>
            <a:endParaRPr lang="en-US" sz="2000" dirty="0"/>
          </a:p>
        </p:txBody>
      </p:sp>
      <p:sp>
        <p:nvSpPr>
          <p:cNvPr id="9" name="Text 7"/>
          <p:cNvSpPr/>
          <p:nvPr/>
        </p:nvSpPr>
        <p:spPr>
          <a:xfrm>
            <a:off x="6583680" y="4800600"/>
            <a:ext cx="3474720" cy="640080"/>
          </a:xfrm>
          <a:prstGeom prst="rect">
            <a:avLst/>
          </a:prstGeom>
          <a:noFill/>
          <a:ln/>
        </p:spPr>
        <p:txBody>
          <a:bodyPr wrap="square" lIns="0" tIns="0" rIns="0" bIns="0" rtlCol="0" anchor="ctr"/>
          <a:lstStyle/>
          <a:p>
            <a:pPr algn="l" indent="0" marL="0">
              <a:buNone/>
            </a:pPr>
            <a:r>
              <a:rPr lang="en-US" sz="3000" b="1" spc="600" kern="0" dirty="0">
                <a:solidFill>
                  <a:srgbClr val="1A2A5E"/>
                </a:solidFill>
                <a:latin typeface="Meiryo" pitchFamily="34" charset="0"/>
                <a:ea typeface="Meiryo" pitchFamily="34" charset="-122"/>
                <a:cs typeface="Meiryo" pitchFamily="34" charset="-120"/>
              </a:rPr>
              <a:t>DYM</a:t>
            </a:r>
            <a:endParaRPr lang="en-US" sz="3000" dirty="0"/>
          </a:p>
        </p:txBody>
      </p:sp>
      <p:sp>
        <p:nvSpPr>
          <p:cNvPr id="10" name="Shape 8"/>
          <p:cNvSpPr/>
          <p:nvPr/>
        </p:nvSpPr>
        <p:spPr>
          <a:xfrm>
            <a:off x="0" y="6510528"/>
            <a:ext cx="12188952" cy="347472"/>
          </a:xfrm>
          <a:prstGeom prst="rect">
            <a:avLst/>
          </a:prstGeom>
          <a:solidFill>
            <a:srgbClr val="1A2A5E"/>
          </a:solidFill>
          <a:ln/>
        </p:spPr>
      </p:sp>
      <p:sp>
        <p:nvSpPr>
          <p:cNvPr id="11" name="Text 9"/>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8240" cy="6858000"/>
          </a:xfrm>
          <a:prstGeom prst="rect">
            <a:avLst/>
          </a:prstGeom>
          <a:solidFill>
            <a:srgbClr val="1A2A5E"/>
          </a:solidFill>
          <a:ln/>
        </p:spPr>
      </p:sp>
      <p:sp>
        <p:nvSpPr>
          <p:cNvPr id="3" name="Shape 1"/>
          <p:cNvSpPr/>
          <p:nvPr/>
        </p:nvSpPr>
        <p:spPr>
          <a:xfrm flipH="1" flipV="1">
            <a:off x="4754880" y="-18288"/>
            <a:ext cx="4069080" cy="6894576"/>
          </a:xfrm>
          <a:prstGeom prst="rtTriangle">
            <a:avLst/>
          </a:prstGeom>
          <a:solidFill>
            <a:srgbClr val="FFFFFF"/>
          </a:solidFill>
          <a:ln/>
        </p:spPr>
      </p:sp>
      <p:sp>
        <p:nvSpPr>
          <p:cNvPr id="4" name="Text 2"/>
          <p:cNvSpPr/>
          <p:nvPr/>
        </p:nvSpPr>
        <p:spPr>
          <a:xfrm>
            <a:off x="9784080" y="457200"/>
            <a:ext cx="1947672" cy="548640"/>
          </a:xfrm>
          <a:prstGeom prst="rect">
            <a:avLst/>
          </a:prstGeom>
          <a:noFill/>
          <a:ln/>
        </p:spPr>
        <p:txBody>
          <a:bodyPr wrap="square" lIns="0" tIns="0" rIns="0" bIns="0" rtlCol="0" anchor="ctr"/>
          <a:lstStyle/>
          <a:p>
            <a:pPr algn="r" indent="0" marL="0">
              <a:buNone/>
            </a:pPr>
            <a:r>
              <a:rPr lang="en-US" sz="2600" b="1" spc="5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Text 3"/>
          <p:cNvSpPr/>
          <p:nvPr/>
        </p:nvSpPr>
        <p:spPr>
          <a:xfrm>
            <a:off x="7863840" y="2788920"/>
            <a:ext cx="3840480" cy="914400"/>
          </a:xfrm>
          <a:prstGeom prst="rect">
            <a:avLst/>
          </a:prstGeom>
          <a:noFill/>
          <a:ln/>
        </p:spPr>
        <p:txBody>
          <a:bodyPr wrap="square" lIns="0" tIns="0" rIns="0" bIns="0" rtlCol="0" anchor="ctr"/>
          <a:lstStyle/>
          <a:p>
            <a:pPr algn="ctr" indent="0" marL="0">
              <a:buNone/>
            </a:pPr>
            <a:r>
              <a:rPr lang="en-US" sz="4000" b="1" spc="300" kern="0" dirty="0">
                <a:solidFill>
                  <a:srgbClr val="1A2A5E"/>
                </a:solidFill>
                <a:latin typeface="Meiryo" pitchFamily="34" charset="0"/>
                <a:ea typeface="Meiryo" pitchFamily="34" charset="-122"/>
                <a:cs typeface="Meiryo" pitchFamily="34" charset="-120"/>
              </a:rPr>
              <a:t>INDEX</a:t>
            </a:r>
            <a:endParaRPr lang="en-US" sz="4000" dirty="0"/>
          </a:p>
        </p:txBody>
      </p:sp>
      <p:sp>
        <p:nvSpPr>
          <p:cNvPr id="6" name="Text 4"/>
          <p:cNvSpPr/>
          <p:nvPr/>
        </p:nvSpPr>
        <p:spPr>
          <a:xfrm>
            <a:off x="640080" y="91440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1</a:t>
            </a:r>
            <a:endParaRPr lang="en-US" sz="1900" dirty="0"/>
          </a:p>
        </p:txBody>
      </p:sp>
      <p:sp>
        <p:nvSpPr>
          <p:cNvPr id="7" name="Text 5"/>
          <p:cNvSpPr/>
          <p:nvPr/>
        </p:nvSpPr>
        <p:spPr>
          <a:xfrm>
            <a:off x="960120" y="129844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会社概要</a:t>
            </a:r>
            <a:endParaRPr lang="en-US" sz="1700" dirty="0"/>
          </a:p>
        </p:txBody>
      </p:sp>
      <p:sp>
        <p:nvSpPr>
          <p:cNvPr id="8" name="Text 6"/>
          <p:cNvSpPr/>
          <p:nvPr/>
        </p:nvSpPr>
        <p:spPr>
          <a:xfrm>
            <a:off x="640080" y="196596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2</a:t>
            </a:r>
            <a:endParaRPr lang="en-US" sz="1900" dirty="0"/>
          </a:p>
        </p:txBody>
      </p:sp>
      <p:sp>
        <p:nvSpPr>
          <p:cNvPr id="9" name="Text 7"/>
          <p:cNvSpPr/>
          <p:nvPr/>
        </p:nvSpPr>
        <p:spPr>
          <a:xfrm>
            <a:off x="960120" y="235000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与件整理</a:t>
            </a:r>
            <a:endParaRPr lang="en-US" sz="1700" dirty="0"/>
          </a:p>
        </p:txBody>
      </p:sp>
      <p:sp>
        <p:nvSpPr>
          <p:cNvPr id="10" name="Text 8"/>
          <p:cNvSpPr/>
          <p:nvPr/>
        </p:nvSpPr>
        <p:spPr>
          <a:xfrm>
            <a:off x="640080" y="301752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3</a:t>
            </a:r>
            <a:endParaRPr lang="en-US" sz="1900" dirty="0"/>
          </a:p>
        </p:txBody>
      </p:sp>
      <p:sp>
        <p:nvSpPr>
          <p:cNvPr id="11" name="Text 9"/>
          <p:cNvSpPr/>
          <p:nvPr/>
        </p:nvSpPr>
        <p:spPr>
          <a:xfrm>
            <a:off x="960120" y="340156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市場調査・競合調査</a:t>
            </a:r>
            <a:endParaRPr lang="en-US" sz="1700" dirty="0"/>
          </a:p>
        </p:txBody>
      </p:sp>
      <p:sp>
        <p:nvSpPr>
          <p:cNvPr id="12" name="Text 10"/>
          <p:cNvSpPr/>
          <p:nvPr/>
        </p:nvSpPr>
        <p:spPr>
          <a:xfrm>
            <a:off x="640080" y="406908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4</a:t>
            </a:r>
            <a:endParaRPr lang="en-US" sz="1900" dirty="0"/>
          </a:p>
        </p:txBody>
      </p:sp>
      <p:sp>
        <p:nvSpPr>
          <p:cNvPr id="13" name="Text 11"/>
          <p:cNvSpPr/>
          <p:nvPr/>
        </p:nvSpPr>
        <p:spPr>
          <a:xfrm>
            <a:off x="960120" y="445312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ターゲット理解・現状分析</a:t>
            </a:r>
            <a:endParaRPr lang="en-US" sz="1700" dirty="0"/>
          </a:p>
        </p:txBody>
      </p:sp>
      <p:sp>
        <p:nvSpPr>
          <p:cNvPr id="14" name="Text 12"/>
          <p:cNvSpPr/>
          <p:nvPr/>
        </p:nvSpPr>
        <p:spPr>
          <a:xfrm>
            <a:off x="640080" y="512064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5</a:t>
            </a:r>
            <a:endParaRPr lang="en-US" sz="1900" dirty="0"/>
          </a:p>
        </p:txBody>
      </p:sp>
      <p:sp>
        <p:nvSpPr>
          <p:cNvPr id="15" name="Text 13"/>
          <p:cNvSpPr/>
          <p:nvPr/>
        </p:nvSpPr>
        <p:spPr>
          <a:xfrm>
            <a:off x="960120" y="550468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WEBプロモーションのご提案</a:t>
            </a:r>
            <a:endParaRPr lang="en-US" sz="1700" dirty="0"/>
          </a:p>
        </p:txBody>
      </p:sp>
      <p:sp>
        <p:nvSpPr>
          <p:cNvPr id="16" name="Shape 14"/>
          <p:cNvSpPr/>
          <p:nvPr/>
        </p:nvSpPr>
        <p:spPr>
          <a:xfrm>
            <a:off x="0" y="6510528"/>
            <a:ext cx="12188952" cy="347472"/>
          </a:xfrm>
          <a:prstGeom prst="rect">
            <a:avLst/>
          </a:prstGeom>
          <a:solidFill>
            <a:srgbClr val="1A2A5E"/>
          </a:solidFill>
          <a:ln/>
        </p:spPr>
      </p:sp>
      <p:sp>
        <p:nvSpPr>
          <p:cNvPr id="17" name="Text 15"/>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8" name="Text 16"/>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会社概要</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国内主要拠点と海外5拠点を展開する、売上462.4億円規模のWEB広告代理店</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6035040" cy="914400"/>
        </p:xfrm>
        <a:graphic>
          <a:graphicData uri="http://schemas.openxmlformats.org/drawingml/2006/table">
            <a:tbl>
              <a:tblPr/>
              <a:tblGrid>
                <a:gridCol w="1554480"/>
                <a:gridCol w="4480560"/>
              </a:tblGrid>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名称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株式会社DYM （英語表記 DYM co.,ltd）</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代表取締役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水谷 佑毅</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従業員数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連結 2,744名 ／ 単体 682名（2025年4月1日現在）</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会社設立</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2003年8月22日</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資本金</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5,000万円</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事業内容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WEB／人材／研修／エグゼパート／投資育成／医療／M&amp;A／不動産仲介 ほか</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拠点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本社（東京・大崎）／札幌・仙台・名古屋・大阪・広島・福岡／海外5拠点</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bl>
          </a:graphicData>
        </a:graphic>
      </p:graphicFrame>
      <p:sp>
        <p:nvSpPr>
          <p:cNvPr id="12" name="Shape 9"/>
          <p:cNvSpPr/>
          <p:nvPr/>
        </p:nvSpPr>
        <p:spPr>
          <a:xfrm>
            <a:off x="6720840" y="1874520"/>
            <a:ext cx="5010912"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903720" y="2011680"/>
            <a:ext cx="466344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売上高推移（億円）</a:t>
            </a:r>
            <a:endParaRPr lang="en-US" sz="1200" dirty="0"/>
          </a:p>
        </p:txBody>
      </p:sp>
      <p:graphicFrame>
        <p:nvGraphicFramePr>
          <p:cNvPr id="14" name="Chart 0" descr=""/>
          <p:cNvGraphicFramePr/>
          <p:nvPr/>
        </p:nvGraphicFramePr>
        <p:xfrm>
          <a:off x="6812280" y="2331720"/>
          <a:ext cx="4846320" cy="324612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参照元：DYM会社紹介資料（会社概要 / 売上高推移）</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LINEヤフー・Googleの国内最上位パートナーとして高品質な運用を担保する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4552" cy="914400"/>
        </p:xfrm>
        <a:graphic>
          <a:graphicData uri="http://schemas.openxmlformats.org/drawingml/2006/table">
            <a:tbl>
              <a:tblPr/>
              <a:tblGrid>
                <a:gridCol w="2011680"/>
                <a:gridCol w="9262872"/>
              </a:tblGrid>
              <a:tr h="56692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媒体</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パートナーランク（認定ステータス）</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Google</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正規代理店　最上位「PREMIER」（上位3%のみ付与）</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LINEヤフー</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最上位「Sales Partner Premier」に認定　</a:t>
                      </a:r>
                      <a:pPr indent="0" marL="0">
                        <a:buNone/>
                      </a:pPr>
                      <a:r>
                        <a:rPr lang="en-US" sz="1200" b="1" dirty="0">
                          <a:solidFill>
                            <a:srgbClr val="F39800"/>
                          </a:solidFill>
                          <a:latin typeface="Meiryo" pitchFamily="34" charset="0"/>
                          <a:ea typeface="Meiryo" pitchFamily="34" charset="-122"/>
                          <a:cs typeface="Meiryo" pitchFamily="34" charset="-120"/>
                        </a:rPr>
                        <a:t>国内正規代理店1,122社中 わずか14社のみ</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Meta</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Meta Business Partners 認定パートナー</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Criteo / Indeed</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Criteo Certified Partners ／ Indeed 正規代理店（プラチナ）</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2" name="Shape 9"/>
          <p:cNvSpPr/>
          <p:nvPr/>
        </p:nvSpPr>
        <p:spPr>
          <a:xfrm>
            <a:off x="457200" y="5074920"/>
            <a:ext cx="11274552" cy="960120"/>
          </a:xfrm>
          <a:prstGeom prst="roundRect">
            <a:avLst>
              <a:gd name="adj" fmla="val 5714"/>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40080" y="5074920"/>
            <a:ext cx="10881360" cy="96012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Meiryo" pitchFamily="34" charset="0"/>
                <a:ea typeface="Meiryo" pitchFamily="34" charset="-122"/>
                <a:cs typeface="Meiryo" pitchFamily="34" charset="-120"/>
              </a:rPr>
              <a:t>両媒体（LINEヤフー・Google）の国内最上位に同時認定されているのは </a:t>
            </a:r>
            <a:pPr indent="0" marL="0">
              <a:lnSpc>
                <a:spcPct val="110000"/>
              </a:lnSpc>
              <a:buNone/>
            </a:pPr>
            <a:r>
              <a:rPr lang="en-US" sz="1350" b="1" dirty="0">
                <a:solidFill>
                  <a:srgbClr val="F39800"/>
                </a:solidFill>
                <a:latin typeface="Meiryo" pitchFamily="34" charset="0"/>
                <a:ea typeface="Meiryo" pitchFamily="34" charset="-122"/>
                <a:cs typeface="Meiryo" pitchFamily="34" charset="-120"/>
              </a:rPr>
              <a:t>国内で7社</a:t>
            </a:r>
            <a:pPr indent="0" marL="0">
              <a:lnSpc>
                <a:spcPct val="110000"/>
              </a:lnSpc>
              <a:buNone/>
            </a:pPr>
            <a:r>
              <a:rPr lang="en-US" sz="1350" b="1" dirty="0">
                <a:solidFill>
                  <a:srgbClr val="FFFFFF"/>
                </a:solidFill>
                <a:latin typeface="Meiryo" pitchFamily="34" charset="0"/>
                <a:ea typeface="Meiryo" pitchFamily="34" charset="-122"/>
                <a:cs typeface="Meiryo" pitchFamily="34" charset="-120"/>
              </a:rPr>
              <a:t>、WEB専業に絞ると </a:t>
            </a:r>
            <a:pPr indent="0" marL="0">
              <a:lnSpc>
                <a:spcPct val="110000"/>
              </a:lnSpc>
              <a:buNone/>
            </a:pPr>
            <a:r>
              <a:rPr lang="en-US" sz="1350" b="1" dirty="0">
                <a:solidFill>
                  <a:srgbClr val="F39800"/>
                </a:solidFill>
                <a:latin typeface="Meiryo" pitchFamily="34" charset="0"/>
                <a:ea typeface="Meiryo" pitchFamily="34" charset="-122"/>
                <a:cs typeface="Meiryo" pitchFamily="34" charset="-120"/>
              </a:rPr>
              <a:t>わずか4社</a:t>
            </a:r>
            <a:pPr indent="0" marL="0">
              <a:lnSpc>
                <a:spcPct val="110000"/>
              </a:lnSpc>
              <a:buNone/>
            </a:pPr>
            <a:r>
              <a:rPr lang="en-US" sz="1350" b="1" dirty="0">
                <a:solidFill>
                  <a:srgbClr val="FFFFFF"/>
                </a:solidFill>
                <a:latin typeface="Meiryo" pitchFamily="34" charset="0"/>
                <a:ea typeface="Meiryo" pitchFamily="34" charset="-122"/>
                <a:cs typeface="Meiryo" pitchFamily="34" charset="-120"/>
              </a:rPr>
              <a:t> のみ。</a:t>
            </a:r>
            <a:endParaRPr lang="en-US" sz="1350" dirty="0"/>
          </a:p>
          <a:p>
            <a:pPr indent="0" marL="0">
              <a:lnSpc>
                <a:spcPct val="110000"/>
              </a:lnSpc>
              <a:buNone/>
            </a:pPr>
            <a:r>
              <a:rPr lang="en-US" sz="1200" b="1" dirty="0">
                <a:solidFill>
                  <a:srgbClr val="D7DCEC"/>
                </a:solidFill>
                <a:latin typeface="Meiryo" pitchFamily="34" charset="0"/>
                <a:ea typeface="Meiryo" pitchFamily="34" charset="-122"/>
                <a:cs typeface="Meiryo" pitchFamily="34" charset="-120"/>
              </a:rPr>
              <a:t>媒体社から競合出稿状況や最新アルゴリズム情報を優先取得できる立場にあります。</a:t>
            </a:r>
            <a:endParaRPr lang="en-US" sz="1350" dirty="0"/>
          </a:p>
        </p:txBody>
      </p:sp>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参照元：各媒体社公式認定証、社内コーポレートデータ</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広告全体の売上の約7割をリスティング領域が占める「獲得特化型」の代理店である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11" name="Shape 9"/>
          <p:cNvSpPr/>
          <p:nvPr/>
        </p:nvSpPr>
        <p:spPr>
          <a:xfrm>
            <a:off x="457200" y="1874520"/>
            <a:ext cx="52120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484632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セグメント別の取扱高比率</a:t>
            </a:r>
            <a:endParaRPr lang="en-US" sz="1200" dirty="0"/>
          </a:p>
        </p:txBody>
      </p:sp>
      <p:graphicFrame>
        <p:nvGraphicFramePr>
          <p:cNvPr id="13" name="Chart 0" descr=""/>
          <p:cNvGraphicFramePr/>
          <p:nvPr/>
        </p:nvGraphicFramePr>
        <p:xfrm>
          <a:off x="548640" y="228600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5897880" y="187452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6126480" y="201168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10,641社</a:t>
            </a:r>
            <a:endParaRPr lang="en-US" sz="3000" dirty="0"/>
          </a:p>
        </p:txBody>
      </p:sp>
      <p:sp>
        <p:nvSpPr>
          <p:cNvPr id="16" name="Text 13"/>
          <p:cNvSpPr/>
          <p:nvPr/>
        </p:nvSpPr>
        <p:spPr>
          <a:xfrm>
            <a:off x="6126480" y="269748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との取引実績（2025年6月時点）</a:t>
            </a:r>
            <a:endParaRPr lang="en-US" sz="1200" dirty="0"/>
          </a:p>
        </p:txBody>
      </p:sp>
      <p:sp>
        <p:nvSpPr>
          <p:cNvPr id="17" name="Shape 14"/>
          <p:cNvSpPr/>
          <p:nvPr/>
        </p:nvSpPr>
        <p:spPr>
          <a:xfrm>
            <a:off x="5897880" y="331470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Text 15"/>
          <p:cNvSpPr/>
          <p:nvPr/>
        </p:nvSpPr>
        <p:spPr>
          <a:xfrm>
            <a:off x="6126480" y="345186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7社のうちの1社</a:t>
            </a:r>
            <a:endParaRPr lang="en-US" sz="3000" dirty="0"/>
          </a:p>
        </p:txBody>
      </p:sp>
      <p:sp>
        <p:nvSpPr>
          <p:cNvPr id="19" name="Text 16"/>
          <p:cNvSpPr/>
          <p:nvPr/>
        </p:nvSpPr>
        <p:spPr>
          <a:xfrm>
            <a:off x="6126480" y="413766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LINEヤフー・Google 両媒体の国内最上位認定</a:t>
            </a:r>
            <a:endParaRPr lang="en-US" sz="1200" dirty="0"/>
          </a:p>
        </p:txBody>
      </p:sp>
      <p:sp>
        <p:nvSpPr>
          <p:cNvPr id="20" name="Shape 17"/>
          <p:cNvSpPr/>
          <p:nvPr/>
        </p:nvSpPr>
        <p:spPr>
          <a:xfrm>
            <a:off x="5897880" y="475488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1" name="Text 18"/>
          <p:cNvSpPr/>
          <p:nvPr/>
        </p:nvSpPr>
        <p:spPr>
          <a:xfrm>
            <a:off x="6126480" y="489204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14年</a:t>
            </a:r>
            <a:endParaRPr lang="en-US" sz="3000" dirty="0"/>
          </a:p>
        </p:txBody>
      </p:sp>
      <p:sp>
        <p:nvSpPr>
          <p:cNvPr id="22" name="Text 19"/>
          <p:cNvSpPr/>
          <p:nvPr/>
        </p:nvSpPr>
        <p:spPr>
          <a:xfrm>
            <a:off x="6126480" y="557784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事業立ち上げからの運用実績（2011年〜）</a:t>
            </a:r>
            <a:endParaRPr lang="en-US" sz="1200" dirty="0"/>
          </a:p>
        </p:txBody>
      </p:sp>
      <p:sp>
        <p:nvSpPr>
          <p:cNvPr id="23" name="Text 20"/>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参照元：社内配信実績、アカウント管理マスターデータ</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月額100〜500万円の中規模・ニッチ市場の改善に、最も豊富な実績を持つ</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6</a:t>
            </a:r>
            <a:endParaRPr lang="en-US" sz="900" dirty="0"/>
          </a:p>
        </p:txBody>
      </p:sp>
      <p:sp>
        <p:nvSpPr>
          <p:cNvPr id="11" name="Shape 9"/>
          <p:cNvSpPr/>
          <p:nvPr/>
        </p:nvSpPr>
        <p:spPr>
          <a:xfrm>
            <a:off x="457200" y="1874520"/>
            <a:ext cx="557784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2120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取扱高レンジ別の割合</a:t>
            </a:r>
            <a:endParaRPr lang="en-US" sz="1200" dirty="0"/>
          </a:p>
        </p:txBody>
      </p:sp>
      <p:graphicFrame>
        <p:nvGraphicFramePr>
          <p:cNvPr id="13" name="Chart 0" descr=""/>
          <p:cNvGraphicFramePr/>
          <p:nvPr/>
        </p:nvGraphicFramePr>
        <p:xfrm>
          <a:off x="548640" y="2286000"/>
          <a:ext cx="5394960" cy="36576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6172200" y="1874520"/>
            <a:ext cx="5559552"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6355080" y="2011680"/>
            <a:ext cx="52120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業界別の取引額割合</a:t>
            </a:r>
            <a:endParaRPr lang="en-US" sz="1200" dirty="0"/>
          </a:p>
        </p:txBody>
      </p:sp>
      <p:graphicFrame>
        <p:nvGraphicFramePr>
          <p:cNvPr id="16" name="Chart 1" descr=""/>
          <p:cNvGraphicFramePr/>
          <p:nvPr/>
        </p:nvGraphicFramePr>
        <p:xfrm>
          <a:off x="6263640" y="2286000"/>
          <a:ext cx="5394960" cy="365760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参照元：社内配信実績、アカウント管理マスターデータ　／　特定業種に偏らず、様々な業種業態の改善実績を保有</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与件整理</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初月はLP制作費を内包し、2ヶ月目以降に広告原資を満額投入する2段階の予算設計を組む</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7</a:t>
            </a:r>
            <a:endParaRPr lang="en-US" sz="900" dirty="0"/>
          </a:p>
        </p:txBody>
      </p:sp>
      <p:sp>
        <p:nvSpPr>
          <p:cNvPr id="11" name="Shape 9"/>
          <p:cNvSpPr/>
          <p:nvPr/>
        </p:nvSpPr>
        <p:spPr>
          <a:xfrm>
            <a:off x="457200" y="1874520"/>
            <a:ext cx="11274552" cy="1051560"/>
          </a:xfrm>
          <a:prstGeom prst="roundRect">
            <a:avLst>
              <a:gd name="adj" fmla="val 5217"/>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85800" y="1874520"/>
            <a:ext cx="10835640" cy="1051560"/>
          </a:xfrm>
          <a:prstGeom prst="rect">
            <a:avLst/>
          </a:prstGeom>
          <a:noFill/>
          <a:ln/>
        </p:spPr>
        <p:txBody>
          <a:bodyPr wrap="square" lIns="0" tIns="0" rIns="0" bIns="0" rtlCol="0" anchor="ctr"/>
          <a:lstStyle/>
          <a:p>
            <a:pPr indent="0" marL="0">
              <a:lnSpc>
                <a:spcPct val="115000"/>
              </a:lnSpc>
              <a:buNone/>
            </a:pPr>
            <a:r>
              <a:rPr lang="en-US" sz="1250" b="1" dirty="0">
                <a:solidFill>
                  <a:srgbClr val="1A2A5E"/>
                </a:solidFill>
                <a:latin typeface="Meiryo" pitchFamily="34" charset="0"/>
                <a:ea typeface="Meiryo" pitchFamily="34" charset="-122"/>
                <a:cs typeface="Meiryo" pitchFamily="34" charset="-120"/>
              </a:rPr>
              <a:t>ご相談の背景：　</a:t>
            </a:r>
            <a:pPr indent="0" marL="0">
              <a:lnSpc>
                <a:spcPct val="115000"/>
              </a:lnSpc>
              <a:buNone/>
            </a:pPr>
            <a:r>
              <a:rPr lang="en-US" sz="1250" dirty="0">
                <a:solidFill>
                  <a:srgbClr val="222222"/>
                </a:solidFill>
                <a:latin typeface="Meiryo" pitchFamily="34" charset="0"/>
                <a:ea typeface="Meiryo" pitchFamily="34" charset="-122"/>
                <a:cs typeface="Meiryo" pitchFamily="34" charset="-120"/>
              </a:rPr>
              <a:t>4〜5年前にリスティング広告を運用していたが「効果が低く費用が高い」ことを理由に一度停止。今回、適切なキーワードの絞り込みと専用LPの構築により無駄クリックを排除し、経営層（代表者様）の稟議を突破するための勝算を再構築する。</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1274552" cy="914400"/>
        </p:xfrm>
        <a:graphic>
          <a:graphicData uri="http://schemas.openxmlformats.org/drawingml/2006/table">
            <a:tbl>
              <a:tblPr/>
              <a:tblGrid>
                <a:gridCol w="2286000"/>
                <a:gridCol w="8988552"/>
              </a:tblGrid>
              <a:tr h="822960">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項目</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ご提案内容</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ご提案予算</a:t>
                      </a:r>
                      <a:endParaRPr lang="en-US" sz="1200" dirty="0">
                        <a:latin typeface="Meiryo" charset="0"/>
                        <a:ea typeface="Meiryo" charset="0"/>
                        <a:cs typeface="Meiryo" charset="0"/>
                      </a:endParaRPr>
                    </a:p>
                    <a:p>
                      <a:pPr algn="ctr" indent="0" marL="0">
                        <a:buNone/>
                      </a:pPr>
                      <a:r>
                        <a:rPr lang="en-US" sz="1200" b="1" dirty="0">
                          <a:solidFill>
                            <a:srgbClr val="222222"/>
                          </a:solidFill>
                          <a:latin typeface="Meiryo" pitchFamily="34" charset="0"/>
                          <a:ea typeface="Meiryo" pitchFamily="34" charset="-122"/>
                          <a:cs typeface="Meiryo" pitchFamily="34" charset="-120"/>
                        </a:rPr>
                        <a:t>（パターンB）</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月額100万円プラン ／ 月額200万円プラン　</a:t>
                      </a:r>
                      <a:pPr indent="0" marL="0">
                        <a:buNone/>
                      </a:pPr>
                      <a:r>
                        <a:rPr lang="en-US" sz="1200" b="1" dirty="0">
                          <a:solidFill>
                            <a:srgbClr val="F39800"/>
                          </a:solidFill>
                          <a:latin typeface="Meiryo" pitchFamily="34" charset="0"/>
                          <a:ea typeface="Meiryo" pitchFamily="34" charset="-122"/>
                          <a:cs typeface="Meiryo" pitchFamily="34" charset="-120"/>
                        </a:rPr>
                        <a:t>いずれも初月総予算にLP制作費50万円をコミコミで内包</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成果指標</a:t>
                      </a:r>
                      <a:endParaRPr lang="en-US" sz="1200" dirty="0">
                        <a:latin typeface="Meiryo" charset="0"/>
                        <a:ea typeface="Meiryo" charset="0"/>
                        <a:cs typeface="Meiryo" charset="0"/>
                      </a:endParaRPr>
                    </a:p>
                    <a:p>
                      <a:pPr algn="ctr" indent="0" marL="0">
                        <a:buNone/>
                      </a:pPr>
                      <a:r>
                        <a:rPr lang="en-US" sz="1200" b="1" dirty="0">
                          <a:solidFill>
                            <a:srgbClr val="222222"/>
                          </a:solidFill>
                          <a:latin typeface="Meiryo" pitchFamily="34" charset="0"/>
                          <a:ea typeface="Meiryo" pitchFamily="34" charset="-122"/>
                          <a:cs typeface="Meiryo" pitchFamily="34" charset="-120"/>
                        </a:rPr>
                        <a:t>（CV地点）</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分譲マンション管理組合（理事会層）からの「問い合わせ」「無料見積チェック」「無料劣化診断」</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目標KPI</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目標CPA（獲得単価）</a:t>
                      </a:r>
                      <a:pPr indent="0" marL="0">
                        <a:buNone/>
                      </a:pPr>
                      <a:r>
                        <a:rPr lang="en-US" sz="1200" b="1" dirty="0">
                          <a:solidFill>
                            <a:srgbClr val="F39800"/>
                          </a:solidFill>
                          <a:latin typeface="Meiryo" pitchFamily="34" charset="0"/>
                          <a:ea typeface="Meiryo" pitchFamily="34" charset="-122"/>
                          <a:cs typeface="Meiryo" pitchFamily="34" charset="-120"/>
                        </a:rPr>
                        <a:t>50,000円</a:t>
                      </a:r>
                      <a:pPr indent="0" marL="0">
                        <a:buNone/>
                      </a:pPr>
                      <a:r>
                        <a:rPr lang="en-US" sz="1000" dirty="0">
                          <a:solidFill>
                            <a:srgbClr val="6B7280"/>
                          </a:solidFill>
                          <a:latin typeface="Meiryo" pitchFamily="34" charset="0"/>
                          <a:ea typeface="Meiryo" pitchFamily="34" charset="-122"/>
                          <a:cs typeface="Meiryo" pitchFamily="34" charset="-120"/>
                        </a:rPr>
                        <a:t>　※現状の実数ベースCPA 約200,000円からの劇的な改善を目指す</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参照元：貴社提供データ、お打ち合わせ議事録</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市場調査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建築資材高騰と修繕積立金不足により「第三者の見積りチェック需要」が構造的に急増している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8</a:t>
            </a:r>
            <a:endParaRPr lang="en-US" sz="900" dirty="0"/>
          </a:p>
        </p:txBody>
      </p:sp>
      <p:sp>
        <p:nvSpPr>
          <p:cNvPr id="11" name="Shape 9"/>
          <p:cNvSpPr/>
          <p:nvPr/>
        </p:nvSpPr>
        <p:spPr>
          <a:xfrm>
            <a:off x="457200" y="1874520"/>
            <a:ext cx="5532120" cy="2743200"/>
          </a:xfrm>
          <a:prstGeom prst="roundRect">
            <a:avLst>
              <a:gd name="adj" fmla="val 2000"/>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環境変化 ①　膨大な修繕適齢期ストック</a:t>
            </a:r>
            <a:endParaRPr lang="en-US" sz="1300" dirty="0"/>
          </a:p>
        </p:txBody>
      </p:sp>
      <p:sp>
        <p:nvSpPr>
          <p:cNvPr id="13" name="Text 11"/>
          <p:cNvSpPr/>
          <p:nvPr/>
        </p:nvSpPr>
        <p:spPr>
          <a:xfrm>
            <a:off x="640080" y="2423160"/>
            <a:ext cx="5166360" cy="2057400"/>
          </a:xfrm>
          <a:prstGeom prst="rect">
            <a:avLst/>
          </a:prstGeom>
          <a:noFill/>
          <a:ln/>
        </p:spPr>
        <p:txBody>
          <a:bodyPr wrap="square" lIns="0" tIns="0" rIns="0" bIns="0" rtlCol="0" anchor="t"/>
          <a:lstStyle/>
          <a:p>
            <a:pPr indent="0" marL="0">
              <a:lnSpc>
                <a:spcPct val="115000"/>
              </a:lnSpc>
              <a:spcAft>
                <a:spcPts val="500"/>
              </a:spcAft>
              <a:buNone/>
            </a:pPr>
            <a:r>
              <a:rPr lang="en-US" sz="1200" dirty="0">
                <a:solidFill>
                  <a:srgbClr val="222222"/>
                </a:solidFill>
                <a:latin typeface="Meiryo" pitchFamily="34" charset="0"/>
                <a:ea typeface="Meiryo" pitchFamily="34" charset="-122"/>
                <a:cs typeface="Meiryo" pitchFamily="34" charset="-120"/>
              </a:rPr>
              <a:t>国内の分譲マンションストックは約700万戸弱。</a:t>
            </a:r>
            <a:endParaRPr lang="en-US" sz="1200" dirty="0"/>
          </a:p>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うちリフォーム・大規模修繕の「適齢期（築30年以上）」を迎える物件が毎年確実に積み上がり、検討需要は最盛期を迎えている。</a:t>
            </a:r>
            <a:endParaRPr lang="en-US" sz="1200" dirty="0"/>
          </a:p>
        </p:txBody>
      </p:sp>
      <p:sp>
        <p:nvSpPr>
          <p:cNvPr id="14" name="Shape 12"/>
          <p:cNvSpPr/>
          <p:nvPr/>
        </p:nvSpPr>
        <p:spPr>
          <a:xfrm>
            <a:off x="6199632" y="1874520"/>
            <a:ext cx="5532120" cy="2743200"/>
          </a:xfrm>
          <a:prstGeom prst="roundRect">
            <a:avLst>
              <a:gd name="adj" fmla="val 2000"/>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3"/>
          <p:cNvSpPr/>
          <p:nvPr/>
        </p:nvSpPr>
        <p:spPr>
          <a:xfrm>
            <a:off x="6382512"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環境変化 ②　インフレ・建設資材高騰の直撃</a:t>
            </a:r>
            <a:endParaRPr lang="en-US" sz="1300" dirty="0"/>
          </a:p>
        </p:txBody>
      </p:sp>
      <p:sp>
        <p:nvSpPr>
          <p:cNvPr id="16" name="Text 14"/>
          <p:cNvSpPr/>
          <p:nvPr/>
        </p:nvSpPr>
        <p:spPr>
          <a:xfrm>
            <a:off x="6382512" y="2423160"/>
            <a:ext cx="5166360" cy="2057400"/>
          </a:xfrm>
          <a:prstGeom prst="rect">
            <a:avLst/>
          </a:prstGeom>
          <a:noFill/>
          <a:ln/>
        </p:spPr>
        <p:txBody>
          <a:bodyPr wrap="square" lIns="0" tIns="0" rIns="0" bIns="0" rtlCol="0" anchor="t"/>
          <a:lstStyle/>
          <a:p>
            <a:pPr indent="0" marL="0">
              <a:lnSpc>
                <a:spcPct val="115000"/>
              </a:lnSpc>
              <a:spcAft>
                <a:spcPts val="500"/>
              </a:spcAft>
              <a:buNone/>
            </a:pPr>
            <a:r>
              <a:rPr lang="en-US" sz="1200" dirty="0">
                <a:solidFill>
                  <a:srgbClr val="222222"/>
                </a:solidFill>
                <a:latin typeface="Meiryo" pitchFamily="34" charset="0"/>
                <a:ea typeface="Meiryo" pitchFamily="34" charset="-122"/>
                <a:cs typeface="Meiryo" pitchFamily="34" charset="-120"/>
              </a:rPr>
              <a:t>人件費・建築資材の高騰により、施工会社の工事見積額が従来の1.3〜1.5倍に跳ね上がるケースが続発。</a:t>
            </a:r>
            <a:endParaRPr lang="en-US" sz="1200" dirty="0"/>
          </a:p>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管理組合の「修繕積立金不足」が社会問題化している。</a:t>
            </a:r>
            <a:endParaRPr lang="en-US" sz="1200" dirty="0"/>
          </a:p>
        </p:txBody>
      </p:sp>
      <p:sp>
        <p:nvSpPr>
          <p:cNvPr id="17" name="Shape 15"/>
          <p:cNvSpPr/>
          <p:nvPr/>
        </p:nvSpPr>
        <p:spPr>
          <a:xfrm>
            <a:off x="457200" y="4800600"/>
            <a:ext cx="11274552" cy="1188720"/>
          </a:xfrm>
          <a:prstGeom prst="roundRect">
            <a:avLst>
              <a:gd name="adj" fmla="val 461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Text 16"/>
          <p:cNvSpPr/>
          <p:nvPr/>
        </p:nvSpPr>
        <p:spPr>
          <a:xfrm>
            <a:off x="685800" y="4800600"/>
            <a:ext cx="10835640" cy="1188720"/>
          </a:xfrm>
          <a:prstGeom prst="rect">
            <a:avLst/>
          </a:prstGeom>
          <a:noFill/>
          <a:ln/>
        </p:spPr>
        <p:txBody>
          <a:bodyPr wrap="square" lIns="0" tIns="0" rIns="0" bIns="0" rtlCol="0" anchor="ctr"/>
          <a:lstStyle/>
          <a:p>
            <a:pPr indent="0" marL="0">
              <a:lnSpc>
                <a:spcPct val="115000"/>
              </a:lnSpc>
              <a:buNone/>
            </a:pPr>
            <a:r>
              <a:rPr lang="en-US" sz="1300" b="1" dirty="0">
                <a:solidFill>
                  <a:srgbClr val="F39800"/>
                </a:solidFill>
                <a:latin typeface="Meiryo" pitchFamily="34" charset="0"/>
                <a:ea typeface="Meiryo" pitchFamily="34" charset="-122"/>
                <a:cs typeface="Meiryo" pitchFamily="34" charset="-120"/>
              </a:rPr>
              <a:t>A-1設計様への追い風：　</a:t>
            </a:r>
            <a:pPr indent="0" marL="0">
              <a:lnSpc>
                <a:spcPct val="115000"/>
              </a:lnSpc>
              <a:buNone/>
            </a:pPr>
            <a:r>
              <a:rPr lang="en-US" sz="1300" b="1" dirty="0">
                <a:solidFill>
                  <a:srgbClr val="FFFFFF"/>
                </a:solidFill>
                <a:latin typeface="Meiryo" pitchFamily="34" charset="0"/>
                <a:ea typeface="Meiryo" pitchFamily="34" charset="-122"/>
                <a:cs typeface="Meiryo" pitchFamily="34" charset="-120"/>
              </a:rPr>
              <a:t>工事会社の高額見積もりに不信感を持つ管理組合が激増。施工を行わない純粋な「設計監理コンサルタント（一級建築士）」による中立なセカンドオピニオン・見積り精査の検索需要は、構造的に高まらざるを得ない環境が整っている。</a:t>
            </a:r>
            <a:endParaRPr lang="en-US" sz="13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出典：国土交通省「マンション総合調査」、新設・ストック統計データ調査</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マッチングサイトの「業者紹介」に対し「工事をしない一級建築士の第三者性」で完全差別化する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2194560"/>
                <a:gridCol w="4233672"/>
                <a:gridCol w="4846320"/>
              </a:tblGrid>
              <a:tr h="65836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比較軸</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競合：Smart修繕</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貴社：A-1設計（一級建築士事務所）</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39800"/>
                    </a:solidFill>
                  </a:tcPr>
                </a:tc>
              </a:tr>
              <a:tr h="65836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ビジネスモデル</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複数工事業者の一括相見積もり・紹介プラットフォーム</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b="1" dirty="0">
                          <a:solidFill>
                            <a:srgbClr val="222222"/>
                          </a:solidFill>
                          <a:latin typeface="Meiryo" pitchFamily="34" charset="0"/>
                          <a:ea typeface="Meiryo" pitchFamily="34" charset="-122"/>
                          <a:cs typeface="Meiryo" pitchFamily="34" charset="-120"/>
                        </a:rPr>
                        <a:t>マンション大規模修繕の専門設計・工事監理コンサル</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r>
              <a:tr h="65836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ポジション・立場</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紹介料（マージン）型のマッチング事業者</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b="1" dirty="0">
                          <a:solidFill>
                            <a:srgbClr val="222222"/>
                          </a:solidFill>
                          <a:latin typeface="Meiryo" pitchFamily="34" charset="0"/>
                          <a:ea typeface="Meiryo" pitchFamily="34" charset="-122"/>
                          <a:cs typeface="Meiryo" pitchFamily="34" charset="-120"/>
                        </a:rPr>
                        <a:t>施工を一切行わない、完全に独立した一級建築士事務所</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r>
              <a:tr h="65836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Web上の主要オファー</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「おすすめの施工会社を無料紹介」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b="1" dirty="0">
                          <a:solidFill>
                            <a:srgbClr val="222222"/>
                          </a:solidFill>
                          <a:latin typeface="Meiryo" pitchFamily="34" charset="0"/>
                          <a:ea typeface="Meiryo" pitchFamily="34" charset="-122"/>
                          <a:cs typeface="Meiryo" pitchFamily="34" charset="-120"/>
                        </a:rPr>
                        <a:t>「工事ありきにしない公正な劣化診断・無料見積チェック」</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r>
              <a:tr h="65836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管理組合のメリット</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手間なく複数の工事見積もりが集まる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b="1" dirty="0">
                          <a:solidFill>
                            <a:srgbClr val="222222"/>
                          </a:solidFill>
                          <a:latin typeface="Meiryo" pitchFamily="34" charset="0"/>
                          <a:ea typeface="Meiryo" pitchFamily="34" charset="-122"/>
                          <a:cs typeface="Meiryo" pitchFamily="34" charset="-120"/>
                        </a:rPr>
                        <a:t>利害関係がゼロのため、手抜きや過剰工事を見抜ける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r>
            </a:tbl>
          </a:graphicData>
        </a:graphic>
      </p:graphicFrame>
      <p:sp>
        <p:nvSpPr>
          <p:cNvPr id="12" name="Text 9"/>
          <p:cNvSpPr/>
          <p:nvPr/>
        </p:nvSpPr>
        <p:spPr>
          <a:xfrm>
            <a:off x="457200" y="5440680"/>
            <a:ext cx="11274552" cy="640080"/>
          </a:xfrm>
          <a:prstGeom prst="rect">
            <a:avLst/>
          </a:prstGeom>
          <a:noFill/>
          <a:ln/>
        </p:spPr>
        <p:txBody>
          <a:bodyPr wrap="square" lIns="0" tIns="0" rIns="0" bIns="0" rtlCol="0" anchor="ctr"/>
          <a:lstStyle/>
          <a:p>
            <a:pPr indent="0" marL="0">
              <a:lnSpc>
                <a:spcPct val="110000"/>
              </a:lnSpc>
              <a:buNone/>
            </a:pPr>
            <a:r>
              <a:rPr lang="en-US" sz="1150" b="1" dirty="0">
                <a:solidFill>
                  <a:srgbClr val="1A2A5E"/>
                </a:solidFill>
                <a:latin typeface="Meiryo" pitchFamily="34" charset="0"/>
                <a:ea typeface="Meiryo" pitchFamily="34" charset="-122"/>
                <a:cs typeface="Meiryo" pitchFamily="34" charset="-120"/>
              </a:rPr>
              <a:t>運用の勝算：　</a:t>
            </a:r>
            <a:pPr indent="0" marL="0">
              <a:lnSpc>
                <a:spcPct val="110000"/>
              </a:lnSpc>
              <a:buNone/>
            </a:pPr>
            <a:r>
              <a:rPr lang="en-US" sz="1150" dirty="0">
                <a:solidFill>
                  <a:srgbClr val="222222"/>
                </a:solidFill>
                <a:latin typeface="Meiryo" pitchFamily="34" charset="0"/>
                <a:ea typeface="Meiryo" pitchFamily="34" charset="-122"/>
                <a:cs typeface="Meiryo" pitchFamily="34" charset="-120"/>
              </a:rPr>
              <a:t>Smart修繕のLP（daikibo2603）は「安く工事ができる業者の紹介」に終始。貴社は「工事会社を監視し、住民の積立金を適正化する味方」という真逆のポジションを確立し、価格競争に巻き込まれず良質な理事会層を囲い込む。</a:t>
            </a:r>
            <a:endParaRPr lang="en-US" sz="1150" dirty="0"/>
          </a:p>
        </p:txBody>
      </p:sp>
      <p:sp>
        <p:nvSpPr>
          <p:cNvPr id="13" name="Text 10"/>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参照元：Smart修繕公式LP（daikibo2603）目視調査、A-1設計コーポレートサイト業務内容調査</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累計834管理組合の設計監理実績により、他社マッチングプラットフォームを圧倒する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10</a:t>
            </a:r>
            <a:endParaRPr lang="en-US" sz="900" dirty="0"/>
          </a:p>
        </p:txBody>
      </p:sp>
      <p:sp>
        <p:nvSpPr>
          <p:cNvPr id="11" name="Shape 9"/>
          <p:cNvSpPr/>
          <p:nvPr/>
        </p:nvSpPr>
        <p:spPr>
          <a:xfrm>
            <a:off x="457200" y="1874520"/>
            <a:ext cx="3931920" cy="4160520"/>
          </a:xfrm>
          <a:prstGeom prst="roundRect">
            <a:avLst>
              <a:gd name="adj" fmla="val 139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594360" y="2331720"/>
            <a:ext cx="3657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大規模修繕 設計・監理　合計実績</a:t>
            </a:r>
            <a:endParaRPr lang="en-US" sz="1300" dirty="0"/>
          </a:p>
        </p:txBody>
      </p:sp>
      <p:sp>
        <p:nvSpPr>
          <p:cNvPr id="13" name="Text 11"/>
          <p:cNvSpPr/>
          <p:nvPr/>
        </p:nvSpPr>
        <p:spPr>
          <a:xfrm>
            <a:off x="594360" y="2834640"/>
            <a:ext cx="3657600" cy="1280160"/>
          </a:xfrm>
          <a:prstGeom prst="rect">
            <a:avLst/>
          </a:prstGeom>
          <a:noFill/>
          <a:ln/>
        </p:spPr>
        <p:txBody>
          <a:bodyPr wrap="square" lIns="0" tIns="0" rIns="0" bIns="0" rtlCol="0" anchor="ctr"/>
          <a:lstStyle/>
          <a:p>
            <a:pPr algn="ctr" indent="0" marL="0">
              <a:buNone/>
            </a:pPr>
            <a:r>
              <a:rPr lang="en-US" sz="7200" b="1" dirty="0">
                <a:solidFill>
                  <a:srgbClr val="F39800"/>
                </a:solidFill>
                <a:latin typeface="Meiryo" pitchFamily="34" charset="0"/>
                <a:ea typeface="Meiryo" pitchFamily="34" charset="-122"/>
                <a:cs typeface="Meiryo" pitchFamily="34" charset="-120"/>
              </a:rPr>
              <a:t>834</a:t>
            </a:r>
            <a:endParaRPr lang="en-US" sz="7200" dirty="0"/>
          </a:p>
        </p:txBody>
      </p:sp>
      <p:sp>
        <p:nvSpPr>
          <p:cNvPr id="14" name="Text 12"/>
          <p:cNvSpPr/>
          <p:nvPr/>
        </p:nvSpPr>
        <p:spPr>
          <a:xfrm>
            <a:off x="594360" y="4114800"/>
            <a:ext cx="36576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管理組合</a:t>
            </a:r>
            <a:endParaRPr lang="en-US" sz="2000" dirty="0"/>
          </a:p>
        </p:txBody>
      </p:sp>
      <p:sp>
        <p:nvSpPr>
          <p:cNvPr id="15" name="Text 13"/>
          <p:cNvSpPr/>
          <p:nvPr/>
        </p:nvSpPr>
        <p:spPr>
          <a:xfrm>
            <a:off x="594360" y="4617720"/>
            <a:ext cx="3657600" cy="365760"/>
          </a:xfrm>
          <a:prstGeom prst="rect">
            <a:avLst/>
          </a:prstGeom>
          <a:noFill/>
          <a:ln/>
        </p:spPr>
        <p:txBody>
          <a:bodyPr wrap="square" lIns="0" tIns="0" rIns="0" bIns="0" rtlCol="0" anchor="ctr"/>
          <a:lstStyle/>
          <a:p>
            <a:pPr algn="ctr" indent="0" marL="0">
              <a:buNone/>
            </a:pPr>
            <a:r>
              <a:rPr lang="en-US" sz="1100" dirty="0">
                <a:solidFill>
                  <a:srgbClr val="C7CDE0"/>
                </a:solidFill>
                <a:latin typeface="Meiryo" pitchFamily="34" charset="0"/>
                <a:ea typeface="Meiryo" pitchFamily="34" charset="-122"/>
                <a:cs typeface="Meiryo" pitchFamily="34" charset="-120"/>
              </a:rPr>
              <a:t>（2025年2月時点）</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617720" y="1874520"/>
          <a:ext cx="7114032" cy="914400"/>
        </p:xfrm>
        <a:graphic>
          <a:graphicData uri="http://schemas.openxmlformats.org/drawingml/2006/table">
            <a:tbl>
              <a:tblPr/>
              <a:tblGrid>
                <a:gridCol w="1463040"/>
                <a:gridCol w="1188720"/>
                <a:gridCol w="4462272"/>
              </a:tblGrid>
              <a:tr h="576072">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物件種別</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実績</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領域特性</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一般型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721件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検索需要が最も集中するコア領域</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多棟型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76件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合意形成が難しく高いコンサル力が必要</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タワー型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20件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競合が少なく受注単価が極めて高い</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複合型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17件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商業施設混合など高度な専門設計が必要</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7" name="Text 14"/>
          <p:cNvSpPr/>
          <p:nvPr/>
        </p:nvSpPr>
        <p:spPr>
          <a:xfrm>
            <a:off x="4617720" y="4892040"/>
            <a:ext cx="7114032" cy="1097280"/>
          </a:xfrm>
          <a:prstGeom prst="rect">
            <a:avLst/>
          </a:prstGeom>
          <a:noFill/>
          <a:ln/>
        </p:spPr>
        <p:txBody>
          <a:bodyPr wrap="square" lIns="0" tIns="0" rIns="0" bIns="0" rtlCol="0" anchor="t"/>
          <a:lstStyle/>
          <a:p>
            <a:pPr indent="0" marL="0">
              <a:lnSpc>
                <a:spcPct val="120000"/>
              </a:lnSpc>
              <a:buNone/>
            </a:pPr>
            <a:r>
              <a:rPr lang="en-US" sz="1200" dirty="0">
                <a:solidFill>
                  <a:srgbClr val="222222"/>
                </a:solidFill>
                <a:latin typeface="Meiryo" pitchFamily="34" charset="0"/>
                <a:ea typeface="Meiryo" pitchFamily="34" charset="-122"/>
                <a:cs typeface="Meiryo" pitchFamily="34" charset="-120"/>
              </a:rPr>
              <a:t>難易度の高い物件タイプ別に明確な監理実績を持つ一級建築士事務所は極めて稀。紹介サイトには真似できない「格の違い」をLPにプロットする。</a:t>
            </a:r>
            <a:endParaRPr lang="en-US" sz="1200" dirty="0"/>
          </a:p>
        </p:txBody>
      </p:sp>
      <p:sp>
        <p:nvSpPr>
          <p:cNvPr id="18" name="Text 15"/>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出典：A-1設計様 公式サイト「マンション大規模修繕工事・設計監理業務実績（2025年2月時点）」</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現状分析・要因分析</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4〜5年前の失敗は「無駄クリックを量産する配信設計」と「受け皿LPの不在」が原因である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11</a:t>
            </a:r>
            <a:endParaRPr lang="en-US" sz="900" dirty="0"/>
          </a:p>
        </p:txBody>
      </p:sp>
      <p:sp>
        <p:nvSpPr>
          <p:cNvPr id="11" name="Shape 9"/>
          <p:cNvSpPr/>
          <p:nvPr/>
        </p:nvSpPr>
        <p:spPr>
          <a:xfrm>
            <a:off x="457200" y="1874520"/>
            <a:ext cx="54406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5440680" cy="548640"/>
          </a:xfrm>
          <a:prstGeom prst="rect">
            <a:avLst/>
          </a:prstGeom>
          <a:solidFill>
            <a:srgbClr val="1A2A5E"/>
          </a:solidFill>
          <a:ln/>
        </p:spPr>
      </p:sp>
      <p:sp>
        <p:nvSpPr>
          <p:cNvPr id="13" name="Text 11"/>
          <p:cNvSpPr/>
          <p:nvPr/>
        </p:nvSpPr>
        <p:spPr>
          <a:xfrm>
            <a:off x="457200"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過去のアプローチ（Before）</a:t>
            </a:r>
            <a:endParaRPr lang="en-US" sz="1400" dirty="0"/>
          </a:p>
        </p:txBody>
      </p:sp>
      <p:sp>
        <p:nvSpPr>
          <p:cNvPr id="14" name="Text 12"/>
          <p:cNvSpPr/>
          <p:nvPr/>
        </p:nvSpPr>
        <p:spPr>
          <a:xfrm>
            <a:off x="685800"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b="1" dirty="0">
                <a:solidFill>
                  <a:srgbClr val="1A2A5E"/>
                </a:solidFill>
                <a:latin typeface="Meiryo" pitchFamily="34" charset="0"/>
                <a:ea typeface="Meiryo" pitchFamily="34" charset="-122"/>
                <a:cs typeface="Meiryo" pitchFamily="34" charset="-120"/>
              </a:rPr>
              <a:t>「大規模修繕」など検索意図が広すぎるヘッドKWに広範囲で出稿</a:t>
            </a:r>
            <a:endParaRPr lang="en-US" sz="1200" dirty="0"/>
          </a:p>
          <a:p>
            <a:pPr lvl="1" indent="0" marL="0">
              <a:lnSpc>
                <a:spcPct val="115000"/>
              </a:lnSpc>
              <a:spcAft>
                <a:spcPts val="1200"/>
              </a:spcAft>
              <a:buNone/>
            </a:pPr>
            <a:r>
              <a:rPr lang="en-US" sz="1200" dirty="0">
                <a:solidFill>
                  <a:srgbClr val="222222"/>
                </a:solidFill>
                <a:latin typeface="Meiryo" pitchFamily="34" charset="0"/>
                <a:ea typeface="Meiryo" pitchFamily="34" charset="-122"/>
                <a:cs typeface="Meiryo" pitchFamily="34" charset="-120"/>
              </a:rPr>
              <a:t>→ 施工業者探し・一般ユーザーの誤タップを量産し、CPCが1万〜1.8万円に高騰。</a:t>
            </a:r>
            <a:endParaRPr lang="en-US" sz="1200" dirty="0"/>
          </a:p>
          <a:p>
            <a:pPr marL="177800" indent="-177800">
              <a:lnSpc>
                <a:spcPct val="115000"/>
              </a:lnSpc>
              <a:spcAft>
                <a:spcPts val="500"/>
              </a:spcAft>
              <a:buSzPct val="100000"/>
              <a:buChar char="•"/>
            </a:pPr>
            <a:r>
              <a:rPr lang="en-US" sz="1200" b="1" dirty="0">
                <a:solidFill>
                  <a:srgbClr val="1A2A5E"/>
                </a:solidFill>
                <a:latin typeface="Meiryo" pitchFamily="34" charset="0"/>
                <a:ea typeface="Meiryo" pitchFamily="34" charset="-122"/>
                <a:cs typeface="Meiryo" pitchFamily="34" charset="-120"/>
              </a:rPr>
              <a:t>流入先をコーポレートサイト（HP）のトップに一括設定</a:t>
            </a:r>
            <a:endParaRPr lang="en-US" sz="1200" dirty="0"/>
          </a:p>
          <a:p>
            <a:pPr lvl="1" indent="0" marL="0">
              <a:lnSpc>
                <a:spcPct val="115000"/>
              </a:lnSpc>
              <a:buNone/>
            </a:pPr>
            <a:r>
              <a:rPr lang="en-US" sz="1200" dirty="0">
                <a:solidFill>
                  <a:srgbClr val="222222"/>
                </a:solidFill>
                <a:latin typeface="Meiryo" pitchFamily="34" charset="0"/>
                <a:ea typeface="Meiryo" pitchFamily="34" charset="-122"/>
                <a:cs typeface="Meiryo" pitchFamily="34" charset="-120"/>
              </a:rPr>
              <a:t>→ 一級建築士事務所としての中立性が3秒で伝わらず直帰・離脱。CV地点も電話のみでハードルが高い。</a:t>
            </a:r>
            <a:endParaRPr lang="en-US" sz="1200" dirty="0"/>
          </a:p>
        </p:txBody>
      </p:sp>
      <p:sp>
        <p:nvSpPr>
          <p:cNvPr id="15" name="Shape 13"/>
          <p:cNvSpPr/>
          <p:nvPr/>
        </p:nvSpPr>
        <p:spPr>
          <a:xfrm>
            <a:off x="6291072" y="1874520"/>
            <a:ext cx="5440680" cy="4160520"/>
          </a:xfrm>
          <a:prstGeom prst="roundRect">
            <a:avLst>
              <a:gd name="adj" fmla="val 1319"/>
            </a:avLst>
          </a:prstGeom>
          <a:solidFill>
            <a:srgbClr val="FCEAC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6" name="Shape 14"/>
          <p:cNvSpPr/>
          <p:nvPr/>
        </p:nvSpPr>
        <p:spPr>
          <a:xfrm>
            <a:off x="6291072" y="1874520"/>
            <a:ext cx="5440680" cy="548640"/>
          </a:xfrm>
          <a:prstGeom prst="rect">
            <a:avLst/>
          </a:prstGeom>
          <a:solidFill>
            <a:srgbClr val="F39800"/>
          </a:solidFill>
          <a:ln/>
        </p:spPr>
      </p:sp>
      <p:sp>
        <p:nvSpPr>
          <p:cNvPr id="17" name="Text 15"/>
          <p:cNvSpPr/>
          <p:nvPr/>
        </p:nvSpPr>
        <p:spPr>
          <a:xfrm>
            <a:off x="6291072"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今回の改善提案（After）</a:t>
            </a:r>
            <a:endParaRPr lang="en-US" sz="1400" dirty="0"/>
          </a:p>
        </p:txBody>
      </p:sp>
      <p:sp>
        <p:nvSpPr>
          <p:cNvPr id="18" name="Text 16"/>
          <p:cNvSpPr/>
          <p:nvPr/>
        </p:nvSpPr>
        <p:spPr>
          <a:xfrm>
            <a:off x="6519672"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ロングテールKWの厳選</a:t>
            </a:r>
            <a:endParaRPr lang="en-US" sz="1200" dirty="0"/>
          </a:p>
          <a:p>
            <a:pPr lvl="1" indent="0" marL="0">
              <a:lnSpc>
                <a:spcPct val="115000"/>
              </a:lnSpc>
              <a:spcAft>
                <a:spcPts val="1200"/>
              </a:spcAft>
              <a:buNone/>
            </a:pPr>
            <a:r>
              <a:rPr lang="en-US" sz="1200" dirty="0">
                <a:solidFill>
                  <a:srgbClr val="222222"/>
                </a:solidFill>
                <a:latin typeface="Meiryo" pitchFamily="34" charset="0"/>
                <a:ea typeface="Meiryo" pitchFamily="34" charset="-122"/>
                <a:cs typeface="Meiryo" pitchFamily="34" charset="-120"/>
              </a:rPr>
              <a:t>「大規模修繕×大阪」「タワマン大規模修繕費用」「数量積算」等、意図が明確な掛け合わせに限定し無駄クリックを徹底カット。</a:t>
            </a:r>
            <a:endParaRPr lang="en-US" sz="1200" dirty="0"/>
          </a:p>
          <a:p>
            <a:pPr marL="177800" indent="-177800">
              <a:lnSpc>
                <a:spcPct val="115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行動変容を促す専用LPの新規制作</a:t>
            </a:r>
            <a:endParaRPr lang="en-US" sz="1200" dirty="0"/>
          </a:p>
          <a:p>
            <a:pPr lvl="1" indent="0" marL="0">
              <a:lnSpc>
                <a:spcPct val="115000"/>
              </a:lnSpc>
              <a:buNone/>
            </a:pPr>
            <a:r>
              <a:rPr lang="en-US" sz="1200" dirty="0">
                <a:solidFill>
                  <a:srgbClr val="222222"/>
                </a:solidFill>
                <a:latin typeface="Meiryo" pitchFamily="34" charset="0"/>
                <a:ea typeface="Meiryo" pitchFamily="34" charset="-122"/>
                <a:cs typeface="Meiryo" pitchFamily="34" charset="-120"/>
              </a:rPr>
              <a:t>広告効果の7割を占めるクリエイティブ（受け皿）を新設。CV地点を「無料劣化診断」「無料見積チェック」に複線化する。</a:t>
            </a:r>
            <a:endParaRPr lang="en-US" sz="12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参照元：貴社提供 過去配信レポート、お打ち合わせ議事録</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検索需要の中心「コア修繕」と「掛け合わせロングテール」に予算を集中投下する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12</a:t>
            </a:r>
            <a:endParaRPr lang="en-US" sz="900" dirty="0"/>
          </a:p>
        </p:txBody>
      </p:sp>
      <p:sp>
        <p:nvSpPr>
          <p:cNvPr id="11" name="Shape 9"/>
          <p:cNvSpPr/>
          <p:nvPr/>
        </p:nvSpPr>
        <p:spPr>
          <a:xfrm>
            <a:off x="457200"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3602736" cy="777240"/>
          </a:xfrm>
          <a:prstGeom prst="rect">
            <a:avLst/>
          </a:prstGeom>
          <a:solidFill>
            <a:srgbClr val="1A2A5E"/>
          </a:solidFill>
          <a:ln/>
        </p:spPr>
      </p:sp>
      <p:sp>
        <p:nvSpPr>
          <p:cNvPr id="13" name="Text 11"/>
          <p:cNvSpPr/>
          <p:nvPr/>
        </p:nvSpPr>
        <p:spPr>
          <a:xfrm>
            <a:off x="594360"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01</a:t>
            </a:r>
            <a:endParaRPr lang="en-US" sz="2600" dirty="0"/>
          </a:p>
        </p:txBody>
      </p:sp>
      <p:sp>
        <p:nvSpPr>
          <p:cNvPr id="14" name="Text 12"/>
          <p:cNvSpPr/>
          <p:nvPr/>
        </p:nvSpPr>
        <p:spPr>
          <a:xfrm>
            <a:off x="1463040" y="1947672"/>
            <a:ext cx="2505456" cy="64008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指名・コア</a:t>
            </a:r>
            <a:endParaRPr lang="en-US" sz="1350" dirty="0"/>
          </a:p>
        </p:txBody>
      </p:sp>
      <p:sp>
        <p:nvSpPr>
          <p:cNvPr id="15" name="Text 13"/>
          <p:cNvSpPr/>
          <p:nvPr/>
        </p:nvSpPr>
        <p:spPr>
          <a:xfrm>
            <a:off x="640080" y="2788920"/>
            <a:ext cx="3236976" cy="457200"/>
          </a:xfrm>
          <a:prstGeom prst="rect">
            <a:avLst/>
          </a:prstGeom>
          <a:noFill/>
          <a:ln/>
        </p:spPr>
        <p:txBody>
          <a:bodyPr wrap="square" lIns="0" tIns="0" rIns="0" bIns="0" rtlCol="0" anchor="ctr"/>
          <a:lstStyle/>
          <a:p>
            <a:pPr indent="0" marL="0">
              <a:buNone/>
            </a:pPr>
            <a:r>
              <a:rPr lang="en-US" sz="1600" b="1" dirty="0">
                <a:solidFill>
                  <a:srgbClr val="1A2A5E"/>
                </a:solidFill>
                <a:latin typeface="Meiryo" pitchFamily="34" charset="0"/>
                <a:ea typeface="Meiryo" pitchFamily="34" charset="-122"/>
                <a:cs typeface="Meiryo" pitchFamily="34" charset="-120"/>
              </a:rPr>
              <a:t>予算 25%</a:t>
            </a:r>
            <a:endParaRPr lang="en-US" sz="1600" dirty="0"/>
          </a:p>
        </p:txBody>
      </p:sp>
      <p:sp>
        <p:nvSpPr>
          <p:cNvPr id="16" name="Text 14"/>
          <p:cNvSpPr/>
          <p:nvPr/>
        </p:nvSpPr>
        <p:spPr>
          <a:xfrm>
            <a:off x="685800"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A-1設計 / エーワン設計 等の指名語句</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認知・検討層の取りこぼし（機会損失）を100%防ぐ</a:t>
            </a:r>
            <a:endParaRPr lang="en-US" sz="1150" dirty="0"/>
          </a:p>
        </p:txBody>
      </p:sp>
      <p:sp>
        <p:nvSpPr>
          <p:cNvPr id="17" name="Shape 15"/>
          <p:cNvSpPr/>
          <p:nvPr/>
        </p:nvSpPr>
        <p:spPr>
          <a:xfrm>
            <a:off x="4293108"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Shape 16"/>
          <p:cNvSpPr/>
          <p:nvPr/>
        </p:nvSpPr>
        <p:spPr>
          <a:xfrm>
            <a:off x="4293108" y="1874520"/>
            <a:ext cx="3602736" cy="777240"/>
          </a:xfrm>
          <a:prstGeom prst="rect">
            <a:avLst/>
          </a:prstGeom>
          <a:solidFill>
            <a:srgbClr val="F39800"/>
          </a:solidFill>
          <a:ln/>
        </p:spPr>
      </p:sp>
      <p:sp>
        <p:nvSpPr>
          <p:cNvPr id="19" name="Text 17"/>
          <p:cNvSpPr/>
          <p:nvPr/>
        </p:nvSpPr>
        <p:spPr>
          <a:xfrm>
            <a:off x="4430268"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02</a:t>
            </a:r>
            <a:endParaRPr lang="en-US" sz="2600" dirty="0"/>
          </a:p>
        </p:txBody>
      </p:sp>
      <p:sp>
        <p:nvSpPr>
          <p:cNvPr id="20" name="Text 18"/>
          <p:cNvSpPr/>
          <p:nvPr/>
        </p:nvSpPr>
        <p:spPr>
          <a:xfrm>
            <a:off x="5298948" y="1947672"/>
            <a:ext cx="2505456" cy="64008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掛け合わせロングテール</a:t>
            </a:r>
            <a:endParaRPr lang="en-US" sz="1350" dirty="0"/>
          </a:p>
        </p:txBody>
      </p:sp>
      <p:sp>
        <p:nvSpPr>
          <p:cNvPr id="21" name="Text 19"/>
          <p:cNvSpPr/>
          <p:nvPr/>
        </p:nvSpPr>
        <p:spPr>
          <a:xfrm>
            <a:off x="4475988" y="2788920"/>
            <a:ext cx="3236976" cy="457200"/>
          </a:xfrm>
          <a:prstGeom prst="rect">
            <a:avLst/>
          </a:prstGeom>
          <a:noFill/>
          <a:ln/>
        </p:spPr>
        <p:txBody>
          <a:bodyPr wrap="square" lIns="0" tIns="0" rIns="0" bIns="0" rtlCol="0" anchor="ctr"/>
          <a:lstStyle/>
          <a:p>
            <a:pPr indent="0" marL="0">
              <a:buNone/>
            </a:pPr>
            <a:r>
              <a:rPr lang="en-US" sz="1600" b="1" dirty="0">
                <a:solidFill>
                  <a:srgbClr val="F39800"/>
                </a:solidFill>
                <a:latin typeface="Meiryo" pitchFamily="34" charset="0"/>
                <a:ea typeface="Meiryo" pitchFamily="34" charset="-122"/>
                <a:cs typeface="Meiryo" pitchFamily="34" charset="-120"/>
              </a:rPr>
              <a:t>予算 50%</a:t>
            </a:r>
            <a:endParaRPr lang="en-US" sz="1600" dirty="0"/>
          </a:p>
        </p:txBody>
      </p:sp>
      <p:sp>
        <p:nvSpPr>
          <p:cNvPr id="22" name="Text 20"/>
          <p:cNvSpPr/>
          <p:nvPr/>
        </p:nvSpPr>
        <p:spPr>
          <a:xfrm>
            <a:off x="4521708"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大規模修繕×大阪 / ×2回目</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築30年×費用 / タワマン×設計監理</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高CPCのヘッド単体を回避し、完全・フレーズ一致で効率良く総ざらい</a:t>
            </a:r>
            <a:endParaRPr lang="en-US" sz="1150" dirty="0"/>
          </a:p>
        </p:txBody>
      </p:sp>
      <p:sp>
        <p:nvSpPr>
          <p:cNvPr id="23" name="Shape 21"/>
          <p:cNvSpPr/>
          <p:nvPr/>
        </p:nvSpPr>
        <p:spPr>
          <a:xfrm>
            <a:off x="8129016"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4" name="Shape 22"/>
          <p:cNvSpPr/>
          <p:nvPr/>
        </p:nvSpPr>
        <p:spPr>
          <a:xfrm>
            <a:off x="8129016" y="1874520"/>
            <a:ext cx="3602736" cy="777240"/>
          </a:xfrm>
          <a:prstGeom prst="rect">
            <a:avLst/>
          </a:prstGeom>
          <a:solidFill>
            <a:srgbClr val="1A2A5E"/>
          </a:solidFill>
          <a:ln/>
        </p:spPr>
      </p:sp>
      <p:sp>
        <p:nvSpPr>
          <p:cNvPr id="25" name="Text 23"/>
          <p:cNvSpPr/>
          <p:nvPr/>
        </p:nvSpPr>
        <p:spPr>
          <a:xfrm>
            <a:off x="8266176"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03</a:t>
            </a:r>
            <a:endParaRPr lang="en-US" sz="2600" dirty="0"/>
          </a:p>
        </p:txBody>
      </p:sp>
      <p:sp>
        <p:nvSpPr>
          <p:cNvPr id="26" name="Text 24"/>
          <p:cNvSpPr/>
          <p:nvPr/>
        </p:nvSpPr>
        <p:spPr>
          <a:xfrm>
            <a:off x="9134856" y="1947672"/>
            <a:ext cx="2505456" cy="64008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P-MAX（面の拡張）</a:t>
            </a:r>
            <a:endParaRPr lang="en-US" sz="1350" dirty="0"/>
          </a:p>
        </p:txBody>
      </p:sp>
      <p:sp>
        <p:nvSpPr>
          <p:cNvPr id="27" name="Text 25"/>
          <p:cNvSpPr/>
          <p:nvPr/>
        </p:nvSpPr>
        <p:spPr>
          <a:xfrm>
            <a:off x="8311896" y="2788920"/>
            <a:ext cx="3236976" cy="457200"/>
          </a:xfrm>
          <a:prstGeom prst="rect">
            <a:avLst/>
          </a:prstGeom>
          <a:noFill/>
          <a:ln/>
        </p:spPr>
        <p:txBody>
          <a:bodyPr wrap="square" lIns="0" tIns="0" rIns="0" bIns="0" rtlCol="0" anchor="ctr"/>
          <a:lstStyle/>
          <a:p>
            <a:pPr indent="0" marL="0">
              <a:buNone/>
            </a:pPr>
            <a:r>
              <a:rPr lang="en-US" sz="1600" b="1" dirty="0">
                <a:solidFill>
                  <a:srgbClr val="1A2A5E"/>
                </a:solidFill>
                <a:latin typeface="Meiryo" pitchFamily="34" charset="0"/>
                <a:ea typeface="Meiryo" pitchFamily="34" charset="-122"/>
                <a:cs typeface="Meiryo" pitchFamily="34" charset="-120"/>
              </a:rPr>
              <a:t>予算 25%</a:t>
            </a:r>
            <a:endParaRPr lang="en-US" sz="1600" dirty="0"/>
          </a:p>
        </p:txBody>
      </p:sp>
      <p:sp>
        <p:nvSpPr>
          <p:cNvPr id="28" name="Text 26"/>
          <p:cNvSpPr/>
          <p:nvPr/>
        </p:nvSpPr>
        <p:spPr>
          <a:xfrm>
            <a:off x="8357616"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管理組合・理事会層をオーディエンスシグナル指定</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検索一歩手前の潜在層へ、実績・無料診断オファーを自動最適化配信</a:t>
            </a:r>
            <a:endParaRPr lang="en-US" sz="1150" dirty="0"/>
          </a:p>
        </p:txBody>
      </p:sp>
      <p:sp>
        <p:nvSpPr>
          <p:cNvPr id="29" name="Text 2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参照元：Googleキーワードプランナー（大阪・全国エリアの入札単価実測値）</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「失敗したくない」インサイトに、独立したプロの第三者性と834組合の実績で応える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13</a:t>
            </a:r>
            <a:endParaRPr lang="en-US" sz="900" dirty="0"/>
          </a:p>
        </p:txBody>
      </p:sp>
      <p:sp>
        <p:nvSpPr>
          <p:cNvPr id="11" name="Shape 9"/>
          <p:cNvSpPr/>
          <p:nvPr/>
        </p:nvSpPr>
        <p:spPr>
          <a:xfrm>
            <a:off x="457200" y="1874520"/>
            <a:ext cx="59893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66928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レスポンシブ検索広告（RSA）見出し案</a:t>
            </a:r>
            <a:endParaRPr lang="en-US" sz="1300" dirty="0"/>
          </a:p>
        </p:txBody>
      </p:sp>
      <p:sp>
        <p:nvSpPr>
          <p:cNvPr id="13" name="Text 11"/>
          <p:cNvSpPr/>
          <p:nvPr/>
        </p:nvSpPr>
        <p:spPr>
          <a:xfrm>
            <a:off x="731520" y="2423160"/>
            <a:ext cx="5532120" cy="35204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マンション大規模修繕コンサル</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累計834管理組合の監理実績</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工事ありきにいたしません</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修繕積立金の過剰工事を見抜く</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利害関係ゼロの第三者 劣化診断</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一般型からタワー型まで対応</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まずは無料で劣化診断のご相談</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修繕工事の見積りチェック無料</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管理組合様の絶対的な味方です</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一級建築士事務所 A-1設計</a:t>
            </a:r>
            <a:endParaRPr lang="en-US" sz="1180" dirty="0"/>
          </a:p>
        </p:txBody>
      </p:sp>
      <p:sp>
        <p:nvSpPr>
          <p:cNvPr id="14" name="Shape 12"/>
          <p:cNvSpPr/>
          <p:nvPr/>
        </p:nvSpPr>
        <p:spPr>
          <a:xfrm>
            <a:off x="6629400" y="1874520"/>
            <a:ext cx="5102352" cy="4160520"/>
          </a:xfrm>
          <a:prstGeom prst="roundRect">
            <a:avLst>
              <a:gd name="adj" fmla="val 131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3"/>
          <p:cNvSpPr/>
          <p:nvPr/>
        </p:nvSpPr>
        <p:spPr>
          <a:xfrm>
            <a:off x="6812280" y="2011680"/>
            <a:ext cx="475488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説明文（TD）案</a:t>
            </a:r>
            <a:endParaRPr lang="en-US" sz="1300" dirty="0"/>
          </a:p>
        </p:txBody>
      </p:sp>
      <p:sp>
        <p:nvSpPr>
          <p:cNvPr id="16" name="Shape 14"/>
          <p:cNvSpPr/>
          <p:nvPr/>
        </p:nvSpPr>
        <p:spPr>
          <a:xfrm>
            <a:off x="6812280" y="2423160"/>
            <a:ext cx="4736592" cy="1417320"/>
          </a:xfrm>
          <a:prstGeom prst="roundRect">
            <a:avLst>
              <a:gd name="adj" fmla="val 3226"/>
            </a:avLst>
          </a:prstGeom>
          <a:solidFill>
            <a:srgbClr val="FFFFFF"/>
          </a:solidFill>
          <a:ln w="12700">
            <a:solidFill>
              <a:srgbClr val="D5D9E2"/>
            </a:solidFill>
            <a:prstDash val="solid"/>
          </a:ln>
        </p:spPr>
      </p:sp>
      <p:sp>
        <p:nvSpPr>
          <p:cNvPr id="17" name="Text 15"/>
          <p:cNvSpPr/>
          <p:nvPr/>
        </p:nvSpPr>
        <p:spPr>
          <a:xfrm>
            <a:off x="6967728" y="2514600"/>
            <a:ext cx="4425696" cy="1234440"/>
          </a:xfrm>
          <a:prstGeom prst="rect">
            <a:avLst/>
          </a:prstGeom>
          <a:noFill/>
          <a:ln/>
        </p:spPr>
        <p:txBody>
          <a:bodyPr wrap="square" lIns="0" tIns="0" rIns="0" bIns="0" rtlCol="0" anchor="ctr"/>
          <a:lstStyle/>
          <a:p>
            <a:pPr indent="0" marL="0">
              <a:lnSpc>
                <a:spcPct val="115000"/>
              </a:lnSpc>
              <a:spcAft>
                <a:spcPts val="300"/>
              </a:spcAft>
              <a:buNone/>
            </a:pPr>
            <a:r>
              <a:rPr lang="en-US" sz="1150" b="1" dirty="0">
                <a:solidFill>
                  <a:srgbClr val="1A2A5E"/>
                </a:solidFill>
                <a:latin typeface="Meiryo" pitchFamily="34" charset="0"/>
                <a:ea typeface="Meiryo" pitchFamily="34" charset="-122"/>
                <a:cs typeface="Meiryo" pitchFamily="34" charset="-120"/>
              </a:rPr>
              <a:t>施工会社とは独立した一級建築士事務所です。</a:t>
            </a:r>
            <a:endParaRPr lang="en-US" sz="1150" dirty="0"/>
          </a:p>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利害関係ゼロの中立な立場から、大規模修繕の過剰な見積もりや手抜き工事を徹底的にチェックします。</a:t>
            </a:r>
            <a:endParaRPr lang="en-US" sz="1150" dirty="0"/>
          </a:p>
        </p:txBody>
      </p:sp>
      <p:sp>
        <p:nvSpPr>
          <p:cNvPr id="18" name="Shape 16"/>
          <p:cNvSpPr/>
          <p:nvPr/>
        </p:nvSpPr>
        <p:spPr>
          <a:xfrm>
            <a:off x="6812280" y="3977640"/>
            <a:ext cx="4736592" cy="1417320"/>
          </a:xfrm>
          <a:prstGeom prst="roundRect">
            <a:avLst>
              <a:gd name="adj" fmla="val 3226"/>
            </a:avLst>
          </a:prstGeom>
          <a:solidFill>
            <a:srgbClr val="FFFFFF"/>
          </a:solidFill>
          <a:ln w="12700">
            <a:solidFill>
              <a:srgbClr val="D5D9E2"/>
            </a:solidFill>
            <a:prstDash val="solid"/>
          </a:ln>
        </p:spPr>
      </p:sp>
      <p:sp>
        <p:nvSpPr>
          <p:cNvPr id="19" name="Text 17"/>
          <p:cNvSpPr/>
          <p:nvPr/>
        </p:nvSpPr>
        <p:spPr>
          <a:xfrm>
            <a:off x="6967728" y="4069080"/>
            <a:ext cx="4425696" cy="1234440"/>
          </a:xfrm>
          <a:prstGeom prst="rect">
            <a:avLst/>
          </a:prstGeom>
          <a:noFill/>
          <a:ln/>
        </p:spPr>
        <p:txBody>
          <a:bodyPr wrap="square" lIns="0" tIns="0" rIns="0" bIns="0" rtlCol="0" anchor="ctr"/>
          <a:lstStyle/>
          <a:p>
            <a:pPr indent="0" marL="0">
              <a:lnSpc>
                <a:spcPct val="115000"/>
              </a:lnSpc>
              <a:spcAft>
                <a:spcPts val="300"/>
              </a:spcAft>
              <a:buNone/>
            </a:pPr>
            <a:r>
              <a:rPr lang="en-US" sz="1150" b="1" dirty="0">
                <a:solidFill>
                  <a:srgbClr val="F39800"/>
                </a:solidFill>
                <a:latin typeface="Meiryo" pitchFamily="34" charset="0"/>
                <a:ea typeface="Meiryo" pitchFamily="34" charset="-122"/>
                <a:cs typeface="Meiryo" pitchFamily="34" charset="-120"/>
              </a:rPr>
              <a:t>累計834管理組合の実績。</a:t>
            </a:r>
            <a:endParaRPr lang="en-US" sz="1150" dirty="0"/>
          </a:p>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積立金不足にお悩みの管理組合様へ。工事ありきではない公正な劣化診断・見積りチェックを無料で実施し、修繕費用を適正化します。</a:t>
            </a:r>
            <a:endParaRPr lang="en-US" sz="1150" dirty="0"/>
          </a:p>
        </p:txBody>
      </p:sp>
      <p:sp>
        <p:nvSpPr>
          <p:cNvPr id="20" name="Text 18"/>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参照元：A-1設計コーポレートサイト（理念・強み）分析</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情緒的な見せ方を廃し、ファーストビューで「中立な第三者に頼む安心」を即断させる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14</a:t>
            </a:r>
            <a:endParaRPr lang="en-US" sz="900" dirty="0"/>
          </a:p>
        </p:txBody>
      </p:sp>
      <p:sp>
        <p:nvSpPr>
          <p:cNvPr id="11" name="Shape 9"/>
          <p:cNvSpPr/>
          <p:nvPr/>
        </p:nvSpPr>
        <p:spPr>
          <a:xfrm>
            <a:off x="457200" y="1874520"/>
            <a:ext cx="54406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5440680" cy="548640"/>
          </a:xfrm>
          <a:prstGeom prst="rect">
            <a:avLst/>
          </a:prstGeom>
          <a:solidFill>
            <a:srgbClr val="1A2A5E"/>
          </a:solidFill>
          <a:ln/>
        </p:spPr>
      </p:sp>
      <p:sp>
        <p:nvSpPr>
          <p:cNvPr id="13" name="Text 11"/>
          <p:cNvSpPr/>
          <p:nvPr/>
        </p:nvSpPr>
        <p:spPr>
          <a:xfrm>
            <a:off x="457200"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現状のHP・課題（Before）</a:t>
            </a:r>
            <a:endParaRPr lang="en-US" sz="1400" dirty="0"/>
          </a:p>
        </p:txBody>
      </p:sp>
      <p:sp>
        <p:nvSpPr>
          <p:cNvPr id="14" name="Text 12"/>
          <p:cNvSpPr/>
          <p:nvPr/>
        </p:nvSpPr>
        <p:spPr>
          <a:xfrm>
            <a:off x="685800"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ファーストビューが文字中心で、何のサービスか3秒で理解できない</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一級建築士事務所としての「独立性・中立性」より先に抽象的な説明が先行し離脱</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CVボタンが電話問い合わせのみで心理的ハードルが高い</a:t>
            </a:r>
            <a:endParaRPr lang="en-US" sz="1200" dirty="0"/>
          </a:p>
        </p:txBody>
      </p:sp>
      <p:sp>
        <p:nvSpPr>
          <p:cNvPr id="15" name="Shape 13"/>
          <p:cNvSpPr/>
          <p:nvPr/>
        </p:nvSpPr>
        <p:spPr>
          <a:xfrm>
            <a:off x="6291072" y="1874520"/>
            <a:ext cx="5440680" cy="4160520"/>
          </a:xfrm>
          <a:prstGeom prst="roundRect">
            <a:avLst>
              <a:gd name="adj" fmla="val 1319"/>
            </a:avLst>
          </a:prstGeom>
          <a:solidFill>
            <a:srgbClr val="FCEAC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6" name="Shape 14"/>
          <p:cNvSpPr/>
          <p:nvPr/>
        </p:nvSpPr>
        <p:spPr>
          <a:xfrm>
            <a:off x="6291072" y="1874520"/>
            <a:ext cx="5440680" cy="548640"/>
          </a:xfrm>
          <a:prstGeom prst="rect">
            <a:avLst/>
          </a:prstGeom>
          <a:solidFill>
            <a:srgbClr val="F39800"/>
          </a:solidFill>
          <a:ln/>
        </p:spPr>
      </p:sp>
      <p:sp>
        <p:nvSpPr>
          <p:cNvPr id="17" name="Text 15"/>
          <p:cNvSpPr/>
          <p:nvPr/>
        </p:nvSpPr>
        <p:spPr>
          <a:xfrm>
            <a:off x="6291072"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新規制作する専用LP（After）</a:t>
            </a:r>
            <a:endParaRPr lang="en-US" sz="1400" dirty="0"/>
          </a:p>
        </p:txBody>
      </p:sp>
      <p:sp>
        <p:nvSpPr>
          <p:cNvPr id="18" name="Text 16"/>
          <p:cNvSpPr/>
          <p:nvPr/>
        </p:nvSpPr>
        <p:spPr>
          <a:xfrm>
            <a:off x="6519672" y="2606040"/>
            <a:ext cx="5029200" cy="329184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FV刷新</a:t>
            </a:r>
            <a:endParaRPr lang="en-US" sz="1200" dirty="0"/>
          </a:p>
          <a:p>
            <a:pPr lvl="1" indent="0" marL="0">
              <a:lnSpc>
                <a:spcPct val="112000"/>
              </a:lnSpc>
              <a:spcAft>
                <a:spcPts val="1000"/>
              </a:spcAft>
              <a:buNone/>
            </a:pPr>
            <a:r>
              <a:rPr lang="en-US" sz="1200" dirty="0">
                <a:solidFill>
                  <a:srgbClr val="222222"/>
                </a:solidFill>
                <a:latin typeface="Meiryo" pitchFamily="34" charset="0"/>
                <a:ea typeface="Meiryo" pitchFamily="34" charset="-122"/>
                <a:cs typeface="Meiryo" pitchFamily="34" charset="-120"/>
              </a:rPr>
              <a:t>「失敗できないマンション大規模修繕に、中立な第三者の選択を。一級建築士事務所による設計監理」を明示。</a:t>
            </a:r>
            <a:endParaRPr lang="en-US" sz="1200" dirty="0"/>
          </a:p>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CVの複線化</a:t>
            </a:r>
            <a:endParaRPr lang="en-US" sz="1200" dirty="0"/>
          </a:p>
          <a:p>
            <a:pPr lvl="1" indent="0" marL="0">
              <a:lnSpc>
                <a:spcPct val="112000"/>
              </a:lnSpc>
              <a:spcAft>
                <a:spcPts val="1000"/>
              </a:spcAft>
              <a:buNone/>
            </a:pPr>
            <a:r>
              <a:rPr lang="en-US" sz="1200" dirty="0">
                <a:solidFill>
                  <a:srgbClr val="222222"/>
                </a:solidFill>
                <a:latin typeface="Meiryo" pitchFamily="34" charset="0"/>
                <a:ea typeface="Meiryo" pitchFamily="34" charset="-122"/>
                <a:cs typeface="Meiryo" pitchFamily="34" charset="-120"/>
              </a:rPr>
              <a:t>「無料劣化診断の申込」「見積チェック依頼（PDF添付送信）」をFVに常時設置。</a:t>
            </a:r>
            <a:endParaRPr lang="en-US" sz="1200" dirty="0"/>
          </a:p>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コンテンツストーリー最適化</a:t>
            </a:r>
            <a:endParaRPr lang="en-US" sz="1200" dirty="0"/>
          </a:p>
          <a:p>
            <a:pPr lvl="1" indent="0" marL="0">
              <a:lnSpc>
                <a:spcPct val="112000"/>
              </a:lnSpc>
              <a:buNone/>
            </a:pPr>
            <a:r>
              <a:rPr lang="en-US" sz="1200" dirty="0">
                <a:solidFill>
                  <a:srgbClr val="222222"/>
                </a:solidFill>
                <a:latin typeface="Meiryo" pitchFamily="34" charset="0"/>
                <a:ea typeface="Meiryo" pitchFamily="34" charset="-122"/>
                <a:cs typeface="Meiryo" pitchFamily="34" charset="-120"/>
              </a:rPr>
              <a:t>悩み→施工会社と設計コンサルの構造の違い→4つの提供価値→実績と組合の声、で態度変容を促す。</a:t>
            </a:r>
            <a:endParaRPr lang="en-US" sz="12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 成果の出るLP制作ガイドライン（態度変容・情報設計）</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配信シミュレーション</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初月はLP制作費を含めて堅実に運用し、2ヶ月目の満額配信から獲得効率を最大化する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2011680"/>
                <a:gridCol w="2651760"/>
                <a:gridCol w="1463040"/>
                <a:gridCol w="1371600"/>
                <a:gridCol w="1216152"/>
                <a:gridCol w="1051560"/>
                <a:gridCol w="1508760"/>
              </a:tblGrid>
              <a:tr h="566928">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プラン / フェーズ</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内訳（LP制作＋広告費）</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表示回数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クリック</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CPC</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CV数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CPA</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100万円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初月（構築期）</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LP 50万＋広告 50万</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4,762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¥1,500</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10件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¥50,000</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100万円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2ヶ月目以降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広告 100万（満額）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138,095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2,333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¥429</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19件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¥52,632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200万円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初月（構築期）</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LP 50万＋広告 150万</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138,095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2,333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¥643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26件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¥57,692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200万円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2ヶ月目以降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広告 200万（満額）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314,415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5,086</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¥393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34件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¥58,824</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2" name="Shape 9"/>
          <p:cNvSpPr/>
          <p:nvPr/>
        </p:nvSpPr>
        <p:spPr>
          <a:xfrm>
            <a:off x="457200" y="5029200"/>
            <a:ext cx="11274552" cy="1005840"/>
          </a:xfrm>
          <a:prstGeom prst="roundRect">
            <a:avLst>
              <a:gd name="adj" fmla="val 545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85800" y="5029200"/>
            <a:ext cx="10835640" cy="1005840"/>
          </a:xfrm>
          <a:prstGeom prst="rect">
            <a:avLst/>
          </a:prstGeom>
          <a:noFill/>
          <a:ln/>
        </p:spPr>
        <p:txBody>
          <a:bodyPr wrap="square" lIns="0" tIns="0" rIns="0" bIns="0" rtlCol="0" anchor="ctr"/>
          <a:lstStyle/>
          <a:p>
            <a:pPr indent="0" marL="0">
              <a:lnSpc>
                <a:spcPct val="112000"/>
              </a:lnSpc>
              <a:buNone/>
            </a:pPr>
            <a:r>
              <a:rPr lang="en-US" sz="1200" b="1" dirty="0">
                <a:solidFill>
                  <a:srgbClr val="F39800"/>
                </a:solidFill>
                <a:latin typeface="Meiryo" pitchFamily="34" charset="0"/>
                <a:ea typeface="Meiryo" pitchFamily="34" charset="-122"/>
                <a:cs typeface="Meiryo" pitchFamily="34" charset="-120"/>
              </a:rPr>
              <a:t>費用対効果（CPO）の考え方（試算）：　</a:t>
            </a:r>
            <a:pPr indent="0" marL="0">
              <a:lnSpc>
                <a:spcPct val="112000"/>
              </a:lnSpc>
              <a:buNone/>
            </a:pPr>
            <a:r>
              <a:rPr lang="en-US" sz="1200" b="1" dirty="0">
                <a:solidFill>
                  <a:srgbClr val="FFFFFF"/>
                </a:solidFill>
                <a:latin typeface="Meiryo" pitchFamily="34" charset="0"/>
                <a:ea typeface="Meiryo" pitchFamily="34" charset="-122"/>
                <a:cs typeface="Meiryo" pitchFamily="34" charset="-120"/>
              </a:rPr>
              <a:t>問い合わせからの受注成約率を10%（仮）とした場合、受注1件あたりのコスト（CPO）は約53万〜59万円。設計監理料（数十万〜数百万円）の水準に照らせば、初期費用および初月の総広告費は十分に早期回収可能。</a:t>
            </a:r>
            <a:endParaRPr lang="en-US" sz="1200" dirty="0"/>
          </a:p>
        </p:txBody>
      </p:sp>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参照元：DYM制作料金表（LP 50万円〜）、Google広告管理画面 過去データに基づく試算参考値（試算値）</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サポート・お取組み体制</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専任の運用部隊と週次改善サイクルで、属人性を排した平準化運用を担保する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16</a:t>
            </a:r>
            <a:endParaRPr lang="en-US" sz="900" dirty="0"/>
          </a:p>
        </p:txBody>
      </p:sp>
      <p:sp>
        <p:nvSpPr>
          <p:cNvPr id="11" name="Shape 9"/>
          <p:cNvSpPr/>
          <p:nvPr/>
        </p:nvSpPr>
        <p:spPr>
          <a:xfrm>
            <a:off x="457200" y="1874520"/>
            <a:ext cx="55321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お取組み体制</a:t>
            </a:r>
            <a:endParaRPr lang="en-US" sz="1300" dirty="0"/>
          </a:p>
        </p:txBody>
      </p:sp>
      <p:sp>
        <p:nvSpPr>
          <p:cNvPr id="13" name="Shape 11"/>
          <p:cNvSpPr/>
          <p:nvPr/>
        </p:nvSpPr>
        <p:spPr>
          <a:xfrm>
            <a:off x="914400" y="2468880"/>
            <a:ext cx="4617720" cy="777240"/>
          </a:xfrm>
          <a:prstGeom prst="roundRect">
            <a:avLst>
              <a:gd name="adj" fmla="val 5882"/>
            </a:avLst>
          </a:prstGeom>
          <a:solidFill>
            <a:srgbClr val="1A2A5E"/>
          </a:solidFill>
          <a:ln w="12700">
            <a:solidFill>
              <a:srgbClr val="D5D9E2"/>
            </a:solidFill>
            <a:prstDash val="solid"/>
          </a:ln>
        </p:spPr>
      </p:sp>
      <p:sp>
        <p:nvSpPr>
          <p:cNvPr id="14" name="Text 12"/>
          <p:cNvSpPr/>
          <p:nvPr/>
        </p:nvSpPr>
        <p:spPr>
          <a:xfrm>
            <a:off x="1051560" y="2542032"/>
            <a:ext cx="4343400" cy="64008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営業・コンサルタント（貴社窓口）</a:t>
            </a:r>
            <a:endParaRPr lang="en-US" sz="1250" dirty="0"/>
          </a:p>
          <a:p>
            <a:pPr indent="0" marL="0">
              <a:buNone/>
            </a:pPr>
            <a:r>
              <a:rPr lang="en-US" sz="1000" dirty="0">
                <a:solidFill>
                  <a:srgbClr val="D7DCEC"/>
                </a:solidFill>
                <a:latin typeface="Meiryo" pitchFamily="34" charset="0"/>
                <a:ea typeface="Meiryo" pitchFamily="34" charset="-122"/>
                <a:cs typeface="Meiryo" pitchFamily="34" charset="-120"/>
              </a:rPr>
              <a:t>横串で戦略を管理・ディレクション</a:t>
            </a:r>
            <a:endParaRPr lang="en-US" sz="1250" dirty="0"/>
          </a:p>
        </p:txBody>
      </p:sp>
      <p:sp>
        <p:nvSpPr>
          <p:cNvPr id="15" name="Text 13"/>
          <p:cNvSpPr/>
          <p:nvPr/>
        </p:nvSpPr>
        <p:spPr>
          <a:xfrm>
            <a:off x="2926080" y="3273552"/>
            <a:ext cx="548640" cy="274320"/>
          </a:xfrm>
          <a:prstGeom prst="rect">
            <a:avLst/>
          </a:prstGeom>
          <a:noFill/>
          <a:ln/>
        </p:spPr>
        <p:txBody>
          <a:bodyPr wrap="square" lIns="0" tIns="0" rIns="0" bIns="0" rtlCol="0" anchor="ctr"/>
          <a:lstStyle/>
          <a:p>
            <a:pPr algn="ctr" indent="0" marL="0">
              <a:buNone/>
            </a:pPr>
            <a:r>
              <a:rPr lang="en-US" sz="1200" dirty="0">
                <a:solidFill>
                  <a:srgbClr val="1A2A5E"/>
                </a:solidFill>
                <a:latin typeface="Meiryo" pitchFamily="34" charset="0"/>
                <a:ea typeface="Meiryo" pitchFamily="34" charset="-122"/>
                <a:cs typeface="Meiryo" pitchFamily="34" charset="-120"/>
              </a:rPr>
              <a:t>▼</a:t>
            </a:r>
            <a:endParaRPr lang="en-US" sz="1200" dirty="0"/>
          </a:p>
        </p:txBody>
      </p:sp>
      <p:sp>
        <p:nvSpPr>
          <p:cNvPr id="16" name="Shape 14"/>
          <p:cNvSpPr/>
          <p:nvPr/>
        </p:nvSpPr>
        <p:spPr>
          <a:xfrm>
            <a:off x="914400" y="3566160"/>
            <a:ext cx="4617720" cy="777240"/>
          </a:xfrm>
          <a:prstGeom prst="roundRect">
            <a:avLst>
              <a:gd name="adj" fmla="val 5882"/>
            </a:avLst>
          </a:prstGeom>
          <a:solidFill>
            <a:srgbClr val="F1F3F8"/>
          </a:solidFill>
          <a:ln w="12700">
            <a:solidFill>
              <a:srgbClr val="D5D9E2"/>
            </a:solidFill>
            <a:prstDash val="solid"/>
          </a:ln>
        </p:spPr>
      </p:sp>
      <p:sp>
        <p:nvSpPr>
          <p:cNvPr id="17" name="Text 15"/>
          <p:cNvSpPr/>
          <p:nvPr/>
        </p:nvSpPr>
        <p:spPr>
          <a:xfrm>
            <a:off x="1051560" y="3639312"/>
            <a:ext cx="4343400" cy="640080"/>
          </a:xfrm>
          <a:prstGeom prst="rect">
            <a:avLst/>
          </a:prstGeom>
          <a:noFill/>
          <a:ln/>
        </p:spPr>
        <p:txBody>
          <a:bodyPr wrap="square" lIns="0" tIns="0" rIns="0" bIns="0" rtlCol="0" anchor="ctr"/>
          <a:lstStyle/>
          <a:p>
            <a:pPr indent="0" marL="0">
              <a:buNone/>
            </a:pPr>
            <a:r>
              <a:rPr lang="en-US" sz="1250" b="1" dirty="0">
                <a:solidFill>
                  <a:srgbClr val="222222"/>
                </a:solidFill>
                <a:latin typeface="Meiryo" pitchFamily="34" charset="0"/>
                <a:ea typeface="Meiryo" pitchFamily="34" charset="-122"/>
                <a:cs typeface="Meiryo" pitchFamily="34" charset="-120"/>
              </a:rPr>
              <a:t>AD事業部（実運用の専門部隊）</a:t>
            </a:r>
            <a:endParaRPr lang="en-US" sz="1250" dirty="0"/>
          </a:p>
          <a:p>
            <a:pPr indent="0" marL="0">
              <a:buNone/>
            </a:pPr>
            <a:r>
              <a:rPr lang="en-US" sz="1000" dirty="0">
                <a:solidFill>
                  <a:srgbClr val="6B7280"/>
                </a:solidFill>
                <a:latin typeface="Meiryo" pitchFamily="34" charset="0"/>
                <a:ea typeface="Meiryo" pitchFamily="34" charset="-122"/>
                <a:cs typeface="Meiryo" pitchFamily="34" charset="-120"/>
              </a:rPr>
              <a:t>リスティング30名 / SNS10名 / 制作5名</a:t>
            </a:r>
            <a:endParaRPr lang="en-US" sz="1250" dirty="0"/>
          </a:p>
        </p:txBody>
      </p:sp>
      <p:sp>
        <p:nvSpPr>
          <p:cNvPr id="18" name="Text 16"/>
          <p:cNvSpPr/>
          <p:nvPr/>
        </p:nvSpPr>
        <p:spPr>
          <a:xfrm>
            <a:off x="914400" y="4572000"/>
            <a:ext cx="4617720" cy="1280160"/>
          </a:xfrm>
          <a:prstGeom prst="rect">
            <a:avLst/>
          </a:prstGeom>
          <a:noFill/>
          <a:ln/>
        </p:spPr>
        <p:txBody>
          <a:bodyPr wrap="square" lIns="0" tIns="0" rIns="0" bIns="0" rtlCol="0" anchor="t"/>
          <a:lstStyle/>
          <a:p>
            <a:pPr indent="0" marL="0">
              <a:lnSpc>
                <a:spcPct val="120000"/>
              </a:lnSpc>
              <a:buNone/>
            </a:pPr>
            <a:r>
              <a:rPr lang="en-US" sz="1150" dirty="0">
                <a:solidFill>
                  <a:srgbClr val="222222"/>
                </a:solidFill>
                <a:latin typeface="Meiryo" pitchFamily="34" charset="0"/>
                <a:ea typeface="Meiryo" pitchFamily="34" charset="-122"/>
                <a:cs typeface="Meiryo" pitchFamily="34" charset="-120"/>
              </a:rPr>
              <a:t>専門特化したフロントが詳細なデータ改修を直接実行します。</a:t>
            </a:r>
            <a:endParaRPr lang="en-US" sz="1150" dirty="0"/>
          </a:p>
        </p:txBody>
      </p:sp>
      <p:sp>
        <p:nvSpPr>
          <p:cNvPr id="19" name="Shape 17"/>
          <p:cNvSpPr/>
          <p:nvPr/>
        </p:nvSpPr>
        <p:spPr>
          <a:xfrm>
            <a:off x="6199632" y="1874520"/>
            <a:ext cx="55321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0" name="Text 18"/>
          <p:cNvSpPr/>
          <p:nvPr/>
        </p:nvSpPr>
        <p:spPr>
          <a:xfrm>
            <a:off x="6382512"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DYM 品質管理サイクル</a:t>
            </a:r>
            <a:endParaRPr lang="en-US" sz="1300" dirty="0"/>
          </a:p>
        </p:txBody>
      </p:sp>
      <p:sp>
        <p:nvSpPr>
          <p:cNvPr id="21" name="Shape 19"/>
          <p:cNvSpPr/>
          <p:nvPr/>
        </p:nvSpPr>
        <p:spPr>
          <a:xfrm>
            <a:off x="6382512" y="2468880"/>
            <a:ext cx="5166360" cy="1417320"/>
          </a:xfrm>
          <a:prstGeom prst="roundRect">
            <a:avLst>
              <a:gd name="adj" fmla="val 322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2" name="Text 20"/>
          <p:cNvSpPr/>
          <p:nvPr/>
        </p:nvSpPr>
        <p:spPr>
          <a:xfrm>
            <a:off x="6537960" y="2578608"/>
            <a:ext cx="2011680" cy="320040"/>
          </a:xfrm>
          <a:prstGeom prst="rect">
            <a:avLst/>
          </a:prstGeom>
          <a:solidFill>
            <a:srgbClr val="F39800"/>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週 1 回</a:t>
            </a:r>
            <a:endParaRPr lang="en-US" sz="1100" dirty="0"/>
          </a:p>
        </p:txBody>
      </p:sp>
      <p:sp>
        <p:nvSpPr>
          <p:cNvPr id="23" name="Text 21"/>
          <p:cNvSpPr/>
          <p:nvPr/>
        </p:nvSpPr>
        <p:spPr>
          <a:xfrm>
            <a:off x="6537960" y="2944368"/>
            <a:ext cx="4846320" cy="320040"/>
          </a:xfrm>
          <a:prstGeom prst="rect">
            <a:avLst/>
          </a:prstGeom>
          <a:noFill/>
          <a:ln/>
        </p:spPr>
        <p:txBody>
          <a:bodyPr wrap="square" lIns="0" tIns="0" rIns="0" bIns="0" rtlCol="0" anchor="ctr"/>
          <a:lstStyle/>
          <a:p>
            <a:pPr indent="0" marL="0">
              <a:buNone/>
            </a:pPr>
            <a:r>
              <a:rPr lang="en-US" sz="1250" b="1" dirty="0">
                <a:solidFill>
                  <a:srgbClr val="1A2A5E"/>
                </a:solidFill>
                <a:latin typeface="Meiryo" pitchFamily="34" charset="0"/>
                <a:ea typeface="Meiryo" pitchFamily="34" charset="-122"/>
                <a:cs typeface="Meiryo" pitchFamily="34" charset="-120"/>
              </a:rPr>
              <a:t>社内カンファレンス</a:t>
            </a:r>
            <a:endParaRPr lang="en-US" sz="1250" dirty="0"/>
          </a:p>
        </p:txBody>
      </p:sp>
      <p:sp>
        <p:nvSpPr>
          <p:cNvPr id="24" name="Text 22"/>
          <p:cNvSpPr/>
          <p:nvPr/>
        </p:nvSpPr>
        <p:spPr>
          <a:xfrm>
            <a:off x="6537960" y="3291840"/>
            <a:ext cx="4846320" cy="502920"/>
          </a:xfrm>
          <a:prstGeom prst="rect">
            <a:avLst/>
          </a:prstGeom>
          <a:noFill/>
          <a:ln/>
        </p:spPr>
        <p:txBody>
          <a:bodyPr wrap="square" lIns="0" tIns="0" rIns="0" bIns="0" rtlCol="0" anchor="t"/>
          <a:lstStyle/>
          <a:p>
            <a:pPr indent="0" marL="0">
              <a:lnSpc>
                <a:spcPct val="110000"/>
              </a:lnSpc>
              <a:buNone/>
            </a:pPr>
            <a:r>
              <a:rPr lang="en-US" sz="1050" dirty="0">
                <a:solidFill>
                  <a:srgbClr val="222222"/>
                </a:solidFill>
                <a:latin typeface="Meiryo" pitchFamily="34" charset="0"/>
                <a:ea typeface="Meiryo" pitchFamily="34" charset="-122"/>
                <a:cs typeface="Meiryo" pitchFamily="34" charset="-120"/>
              </a:rPr>
              <a:t>改善に難航／初速のデータ蓄積段階のアカウントを全運用者の勉強会で集団最適化（スプレッドシート管理）</a:t>
            </a:r>
            <a:endParaRPr lang="en-US" sz="1050" dirty="0"/>
          </a:p>
        </p:txBody>
      </p:sp>
      <p:sp>
        <p:nvSpPr>
          <p:cNvPr id="25" name="Shape 23"/>
          <p:cNvSpPr/>
          <p:nvPr/>
        </p:nvSpPr>
        <p:spPr>
          <a:xfrm>
            <a:off x="6382512" y="4069080"/>
            <a:ext cx="5166360" cy="1417320"/>
          </a:xfrm>
          <a:prstGeom prst="roundRect">
            <a:avLst>
              <a:gd name="adj" fmla="val 322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6" name="Text 24"/>
          <p:cNvSpPr/>
          <p:nvPr/>
        </p:nvSpPr>
        <p:spPr>
          <a:xfrm>
            <a:off x="6537960" y="4178808"/>
            <a:ext cx="2011680" cy="320040"/>
          </a:xfrm>
          <a:prstGeom prst="rect">
            <a:avLst/>
          </a:prstGeom>
          <a:solidFill>
            <a:srgbClr val="F39800"/>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隔週</a:t>
            </a:r>
            <a:endParaRPr lang="en-US" sz="1100" dirty="0"/>
          </a:p>
        </p:txBody>
      </p:sp>
      <p:sp>
        <p:nvSpPr>
          <p:cNvPr id="27" name="Text 25"/>
          <p:cNvSpPr/>
          <p:nvPr/>
        </p:nvSpPr>
        <p:spPr>
          <a:xfrm>
            <a:off x="6537960" y="4544568"/>
            <a:ext cx="4846320" cy="320040"/>
          </a:xfrm>
          <a:prstGeom prst="rect">
            <a:avLst/>
          </a:prstGeom>
          <a:noFill/>
          <a:ln/>
        </p:spPr>
        <p:txBody>
          <a:bodyPr wrap="square" lIns="0" tIns="0" rIns="0" bIns="0" rtlCol="0" anchor="ctr"/>
          <a:lstStyle/>
          <a:p>
            <a:pPr indent="0" marL="0">
              <a:buNone/>
            </a:pPr>
            <a:r>
              <a:rPr lang="en-US" sz="1250" b="1" dirty="0">
                <a:solidFill>
                  <a:srgbClr val="1A2A5E"/>
                </a:solidFill>
                <a:latin typeface="Meiryo" pitchFamily="34" charset="0"/>
                <a:ea typeface="Meiryo" pitchFamily="34" charset="-122"/>
                <a:cs typeface="Meiryo" pitchFamily="34" charset="-120"/>
              </a:rPr>
              <a:t>媒体共通の小テスト</a:t>
            </a:r>
            <a:endParaRPr lang="en-US" sz="1250" dirty="0"/>
          </a:p>
        </p:txBody>
      </p:sp>
      <p:sp>
        <p:nvSpPr>
          <p:cNvPr id="28" name="Text 26"/>
          <p:cNvSpPr/>
          <p:nvPr/>
        </p:nvSpPr>
        <p:spPr>
          <a:xfrm>
            <a:off x="6537960" y="4892040"/>
            <a:ext cx="4846320" cy="502920"/>
          </a:xfrm>
          <a:prstGeom prst="rect">
            <a:avLst/>
          </a:prstGeom>
          <a:noFill/>
          <a:ln/>
        </p:spPr>
        <p:txBody>
          <a:bodyPr wrap="square" lIns="0" tIns="0" rIns="0" bIns="0" rtlCol="0" anchor="t"/>
          <a:lstStyle/>
          <a:p>
            <a:pPr indent="0" marL="0">
              <a:lnSpc>
                <a:spcPct val="110000"/>
              </a:lnSpc>
              <a:buNone/>
            </a:pPr>
            <a:r>
              <a:rPr lang="en-US" sz="1050" dirty="0">
                <a:solidFill>
                  <a:srgbClr val="222222"/>
                </a:solidFill>
                <a:latin typeface="Meiryo" pitchFamily="34" charset="0"/>
                <a:ea typeface="Meiryo" pitchFamily="34" charset="-122"/>
                <a:cs typeface="Meiryo" pitchFamily="34" charset="-120"/>
              </a:rPr>
              <a:t>最上位パートナーとして最新の媒体アップデートを全運用者で共通認識化し、運用の属人性を排除</a:t>
            </a:r>
            <a:endParaRPr lang="en-US" sz="1050" dirty="0"/>
          </a:p>
        </p:txBody>
      </p:sp>
      <p:sp>
        <p:nvSpPr>
          <p:cNvPr id="29" name="Text 2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参照元：社内組織体制図、品質管理ガイドライン</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株式会社A-1設計様 WEBプロモーションのご提案</dc:title>
  <dc:subject>PptxGenJS Presentation</dc:subject>
  <dc:creator>DYM</dc:creator>
  <cp:lastModifiedBy>DYM</cp:lastModifiedBy>
  <cp:revision>1</cp:revision>
  <dcterms:created xsi:type="dcterms:W3CDTF">2026-07-08T05:36:28Z</dcterms:created>
  <dcterms:modified xsi:type="dcterms:W3CDTF">2026-07-08T05:36:28Z</dcterms:modified>
</cp:coreProperties>
</file>