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935" r:id="rId4"/>
    <p:sldId id="2908" r:id="rId5"/>
    <p:sldId id="2950" r:id="rId6"/>
    <p:sldId id="2937" r:id="rId7"/>
    <p:sldId id="2966" r:id="rId8"/>
    <p:sldId id="2939" r:id="rId9"/>
    <p:sldId id="2997" r:id="rId10"/>
    <p:sldId id="2956" r:id="rId11"/>
    <p:sldId id="2988" r:id="rId12"/>
    <p:sldId id="2972" r:id="rId13"/>
    <p:sldId id="3138" r:id="rId14"/>
    <p:sldId id="3139" r:id="rId15"/>
    <p:sldId id="3147" r:id="rId16"/>
    <p:sldId id="267" r:id="rId17"/>
    <p:sldId id="3148" r:id="rId18"/>
    <p:sldId id="3140" r:id="rId19"/>
    <p:sldId id="3141" r:id="rId20"/>
    <p:sldId id="3142" r:id="rId21"/>
    <p:sldId id="2736" r:id="rId22"/>
    <p:sldId id="2983" r:id="rId23"/>
    <p:sldId id="2996" r:id="rId24"/>
    <p:sldId id="3143" r:id="rId25"/>
    <p:sldId id="3144" r:id="rId26"/>
    <p:sldId id="3149" r:id="rId27"/>
    <p:sldId id="3145" r:id="rId28"/>
    <p:sldId id="3150" r:id="rId29"/>
    <p:sldId id="2984" r:id="rId30"/>
    <p:sldId id="2985" r:id="rId31"/>
    <p:sldId id="2962" r:id="rId32"/>
    <p:sldId id="2942" r:id="rId33"/>
    <p:sldId id="2941" r:id="rId34"/>
    <p:sldId id="2943" r:id="rId35"/>
    <p:sldId id="2944" r:id="rId36"/>
    <p:sldId id="3146" r:id="rId37"/>
    <p:sldId id="2990" r:id="rId38"/>
    <p:sldId id="2991" r:id="rId39"/>
    <p:sldId id="2967" r:id="rId40"/>
    <p:sldId id="2946" r:id="rId41"/>
    <p:sldId id="2947" r:id="rId42"/>
    <p:sldId id="2948" r:id="rId43"/>
    <p:sldId id="2958"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71"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r>
              <a:rPr lang="ja-JP" altLang="en-US" sz="1100" b="1" dirty="0">
                <a:latin typeface="メイリオ" panose="020B0604030504040204" pitchFamily="50" charset="-128"/>
                <a:ea typeface="メイリオ" panose="020B0604030504040204" pitchFamily="50" charset="-128"/>
              </a:rPr>
              <a:t>全業界平均</a:t>
            </a:r>
            <a:r>
              <a:rPr lang="en-US" altLang="ja-JP" sz="1100" b="1" dirty="0">
                <a:latin typeface="メイリオ" panose="020B0604030504040204" pitchFamily="50" charset="-128"/>
                <a:ea typeface="メイリオ" panose="020B0604030504040204" pitchFamily="50" charset="-128"/>
              </a:rPr>
              <a:t>CPC</a:t>
            </a:r>
            <a:r>
              <a:rPr lang="ja-JP" altLang="en-US" sz="1100" b="1" dirty="0">
                <a:latin typeface="メイリオ" panose="020B0604030504040204" pitchFamily="50" charset="-128"/>
                <a:ea typeface="メイリオ" panose="020B0604030504040204" pitchFamily="50" charset="-128"/>
              </a:rPr>
              <a:t>推移</a:t>
            </a:r>
            <a:endParaRPr lang="en-US" altLang="ja-JP" sz="1100" b="1" dirty="0">
              <a:latin typeface="メイリオ" panose="020B0604030504040204" pitchFamily="50" charset="-128"/>
              <a:ea typeface="メイリオ" panose="020B0604030504040204" pitchFamily="50" charset="-128"/>
            </a:endParaRPr>
          </a:p>
        </c:rich>
      </c:tx>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ltLang="ja-JP"/>
        </a:p>
      </c:txPr>
    </c:title>
    <c:autoTitleDeleted val="0"/>
    <c:plotArea>
      <c:layout/>
      <c:barChart>
        <c:barDir val="col"/>
        <c:grouping val="clustered"/>
        <c:varyColors val="0"/>
        <c:dLbls>
          <c:showLegendKey val="0"/>
          <c:showVal val="0"/>
          <c:showCatName val="0"/>
          <c:showSerName val="0"/>
          <c:showPercent val="0"/>
          <c:showBubbleSize val="0"/>
        </c:dLbls>
        <c:gapWidth val="219"/>
        <c:overlap val="-27"/>
        <c:axId val="613844591"/>
        <c:axId val="613845071"/>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列1</c:v>
                      </c:pt>
                    </c:strCache>
                  </c:strRef>
                </c:tx>
                <c:spPr>
                  <a:solidFill>
                    <a:schemeClr val="accent1"/>
                  </a:solidFill>
                  <a:ln>
                    <a:noFill/>
                  </a:ln>
                  <a:effectLst/>
                </c:spPr>
                <c:invertIfNegative val="0"/>
                <c:cat>
                  <c:numRef>
                    <c:extLst>
                      <c:ext uri="{02D57815-91ED-43cb-92C2-25804820EDAC}">
                        <c15:formulaRef>
                          <c15:sqref>Sheet1!$A$2:$A$5</c15:sqref>
                        </c15:formulaRef>
                      </c:ext>
                    </c:extLst>
                    <c:numCache>
                      <c:formatCode>General</c:formatCode>
                      <c:ptCount val="3"/>
                      <c:pt idx="0">
                        <c:v>2023</c:v>
                      </c:pt>
                      <c:pt idx="1">
                        <c:v>2024</c:v>
                      </c:pt>
                      <c:pt idx="2">
                        <c:v>2025</c:v>
                      </c:pt>
                    </c:numCache>
                  </c:numRef>
                </c:cat>
                <c:val>
                  <c:numRef>
                    <c:extLst>
                      <c:ext uri="{02D57815-91ED-43cb-92C2-25804820EDAC}">
                        <c15:formulaRef>
                          <c15:sqref>Sheet1!$B$2:$B$5</c15:sqref>
                        </c15:formulaRef>
                      </c:ext>
                    </c:extLst>
                    <c:numCache>
                      <c:formatCode>General</c:formatCode>
                      <c:ptCount val="3"/>
                    </c:numCache>
                  </c:numRef>
                </c:val>
                <c:extLst>
                  <c:ext xmlns:c16="http://schemas.microsoft.com/office/drawing/2014/chart" uri="{C3380CC4-5D6E-409C-BE32-E72D297353CC}">
                    <c16:uniqueId val="{00000001-335C-474F-A41A-28537628ECF9}"/>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系列 2</c:v>
                      </c:pt>
                    </c:strCache>
                  </c:strRef>
                </c:tx>
                <c:spPr>
                  <a:solidFill>
                    <a:schemeClr val="accent2"/>
                  </a:solidFill>
                  <a:ln>
                    <a:noFill/>
                  </a:ln>
                  <a:effectLst/>
                </c:spPr>
                <c:invertIfNegative val="0"/>
                <c:cat>
                  <c:numRef>
                    <c:extLst xmlns:c15="http://schemas.microsoft.com/office/drawing/2012/chart">
                      <c:ext xmlns:c15="http://schemas.microsoft.com/office/drawing/2012/chart" uri="{02D57815-91ED-43cb-92C2-25804820EDAC}">
                        <c15:formulaRef>
                          <c15:sqref>Sheet1!$A$2:$A$5</c15:sqref>
                        </c15:formulaRef>
                      </c:ext>
                    </c:extLst>
                    <c:numCache>
                      <c:formatCode>General</c:formatCode>
                      <c:ptCount val="3"/>
                      <c:pt idx="0">
                        <c:v>2023</c:v>
                      </c:pt>
                      <c:pt idx="1">
                        <c:v>2024</c:v>
                      </c:pt>
                      <c:pt idx="2">
                        <c:v>2025</c:v>
                      </c:pt>
                    </c:numCache>
                  </c:numRef>
                </c:cat>
                <c:val>
                  <c:numRef>
                    <c:extLst xmlns:c15="http://schemas.microsoft.com/office/drawing/2012/chart">
                      <c:ext xmlns:c15="http://schemas.microsoft.com/office/drawing/2012/chart" uri="{02D57815-91ED-43cb-92C2-25804820EDAC}">
                        <c15:formulaRef>
                          <c15:sqref>Sheet1!$C$2:$C$5</c15:sqref>
                        </c15:formulaRef>
                      </c:ext>
                    </c:extLst>
                    <c:numCache>
                      <c:formatCode>General</c:formatCode>
                      <c:ptCount val="3"/>
                    </c:numCache>
                  </c:numRef>
                </c:val>
                <c:extLst xmlns:c15="http://schemas.microsoft.com/office/drawing/2012/chart">
                  <c:ext xmlns:c16="http://schemas.microsoft.com/office/drawing/2014/chart" uri="{C3380CC4-5D6E-409C-BE32-E72D297353CC}">
                    <c16:uniqueId val="{00000002-335C-474F-A41A-28537628ECF9}"/>
                  </c:ext>
                </c:extLst>
              </c15:ser>
            </c15:filteredBarSeries>
          </c:ext>
        </c:extLst>
      </c:barChart>
      <c:lineChart>
        <c:grouping val="standard"/>
        <c:varyColors val="0"/>
        <c:ser>
          <c:idx val="2"/>
          <c:order val="2"/>
          <c:tx>
            <c:strRef>
              <c:f>Sheet1!$D$1</c:f>
              <c:strCache>
                <c:ptCount val="1"/>
                <c:pt idx="0">
                  <c:v>CPC</c:v>
                </c:pt>
              </c:strCache>
            </c:strRef>
          </c:tx>
          <c:spPr>
            <a:ln w="28575" cap="rnd">
              <a:solidFill>
                <a:schemeClr val="accent3"/>
              </a:solidFill>
              <a:round/>
            </a:ln>
            <a:effectLst/>
          </c:spPr>
          <c:marker>
            <c:symbol val="none"/>
          </c:marker>
          <c:cat>
            <c:numRef>
              <c:f>Sheet1!$A$2:$A$5</c:f>
              <c:numCache>
                <c:formatCode>General</c:formatCode>
                <c:ptCount val="3"/>
                <c:pt idx="0">
                  <c:v>2023</c:v>
                </c:pt>
                <c:pt idx="1">
                  <c:v>2024</c:v>
                </c:pt>
                <c:pt idx="2">
                  <c:v>2025</c:v>
                </c:pt>
              </c:numCache>
              <c:extLst/>
            </c:numRef>
          </c:cat>
          <c:val>
            <c:numRef>
              <c:f>Sheet1!$D$2:$D$5</c:f>
              <c:numCache>
                <c:formatCode>\$#,##0.00_);[Red]\(\$#,##0.00\)</c:formatCode>
                <c:ptCount val="3"/>
                <c:pt idx="0">
                  <c:v>4.22</c:v>
                </c:pt>
                <c:pt idx="1">
                  <c:v>4.66</c:v>
                </c:pt>
                <c:pt idx="2">
                  <c:v>5.26</c:v>
                </c:pt>
              </c:numCache>
              <c:extLst/>
            </c:numRef>
          </c:val>
          <c:smooth val="0"/>
          <c:extLst>
            <c:ext xmlns:c16="http://schemas.microsoft.com/office/drawing/2014/chart" uri="{C3380CC4-5D6E-409C-BE32-E72D297353CC}">
              <c16:uniqueId val="{00000000-335C-474F-A41A-28537628ECF9}"/>
            </c:ext>
          </c:extLst>
        </c:ser>
        <c:dLbls>
          <c:showLegendKey val="0"/>
          <c:showVal val="0"/>
          <c:showCatName val="0"/>
          <c:showSerName val="0"/>
          <c:showPercent val="0"/>
          <c:showBubbleSize val="0"/>
        </c:dLbls>
        <c:marker val="1"/>
        <c:smooth val="0"/>
        <c:axId val="613844591"/>
        <c:axId val="613845071"/>
      </c:lineChart>
      <c:catAx>
        <c:axId val="613844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613845071"/>
        <c:crosses val="autoZero"/>
        <c:auto val="1"/>
        <c:lblAlgn val="ctr"/>
        <c:lblOffset val="100"/>
        <c:noMultiLvlLbl val="0"/>
      </c:catAx>
      <c:valAx>
        <c:axId val="613845071"/>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6138445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43</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 Id="rId7" Type="http://schemas.openxmlformats.org/officeDocument/2006/relationships/image" Target="../media/image27.jpeg"/><Relationship Id="rId8"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2501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「LINE診断・体験予約」にて</a:t>
            </a:r>
            <a:endParaRPr lang="en-US" altLang="ja-JP" sz="900" b="1" dirty="0">
              <a:solidFill>
                <a:schemeClr val="bg1"/>
              </a:solidFill>
              <a:latin typeface="メイリオ" panose="020B0604030504040204" pitchFamily="50" charset="-128"/>
              <a:ea typeface="メイリオ" panose="020B0604030504040204" pitchFamily="50" charset="-128"/>
            </a:endParaRPr>
          </a:p>
          <a:p>
            <a:pPr algn="ct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176742"/>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55205" y="3677135"/>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を確認</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実例：FIT PLACE24は入会手続きをLINE起点に設計（公式FAQ）／カーブスは会員数の約6.7倍の友だち数（2026/8/17実測）</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4"/>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99749" y="2847431"/>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6"/>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32171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0948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検索広告のCPCは構造的に上昇が続くと想定。ジム・フィットネス業界も同水準と想定。</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→早期タッチポイントの設定とリード有効化、施策全体におけるCVR改善の２点は非常に施策重要度が高い状態。</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741470"/>
            <a:ext cx="5512524" cy="530915"/>
          </a:xfrm>
          <a:prstGeom prst="rect">
            <a:avLst/>
          </a:prstGeom>
          <a:noFill/>
        </p:spPr>
        <p:txBody>
          <a:bodyPr wrap="square">
            <a:spAutoFit/>
          </a:bodyPr>
          <a:lstStyle/>
          <a:p>
            <a:r>
              <a:rPr lang="ja-JP" altLang="en-US" sz="105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050" b="1" i="0" dirty="0">
                <a:solidFill>
                  <a:srgbClr val="525860"/>
                </a:solidFill>
                <a:effectLst/>
                <a:latin typeface="メイリオ" panose="020B0604030504040204" pitchFamily="50" charset="-128"/>
                <a:ea typeface="メイリオ" panose="020B0604030504040204" pitchFamily="50" charset="-128"/>
              </a:rPr>
              <a:t>CPC</a:t>
            </a:r>
            <a:r>
              <a:rPr lang="ja-JP" altLang="en-US" sz="1050" b="1" i="0" dirty="0">
                <a:solidFill>
                  <a:srgbClr val="525860"/>
                </a:solidFill>
                <a:effectLst/>
                <a:latin typeface="メイリオ" panose="020B0604030504040204" pitchFamily="50" charset="-128"/>
                <a:ea typeface="メイリオ" panose="020B0604030504040204" pitchFamily="50" charset="-128"/>
              </a:rPr>
              <a:t>の推移</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163446"/>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3054973"/>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参入企業の増加</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LTV</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前提の過剰入札</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240301"/>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147637"/>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3054972"/>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3048097"/>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graphicFrame>
        <p:nvGraphicFramePr>
          <p:cNvPr id="19" name="グラフ 18">
            <a:extLst>
              <a:ext uri="{FF2B5EF4-FFF2-40B4-BE49-F238E27FC236}">
                <a16:creationId xmlns:a16="http://schemas.microsoft.com/office/drawing/2014/main" id="{5EA7F6E2-FBD6-2741-2B81-44C2000E63B4}"/>
              </a:ext>
            </a:extLst>
          </p:cNvPr>
          <p:cNvGraphicFramePr/>
          <p:nvPr>
            <p:extLst>
              <p:ext uri="{D42A27DB-BD31-4B8C-83A1-F6EECF244321}">
                <p14:modId xmlns:p14="http://schemas.microsoft.com/office/powerpoint/2010/main" val="2371059319"/>
              </p:ext>
            </p:extLst>
          </p:nvPr>
        </p:nvGraphicFramePr>
        <p:xfrm>
          <a:off x="4855027" y="3736504"/>
          <a:ext cx="2159726" cy="2543145"/>
        </p:xfrm>
        <a:graphic>
          <a:graphicData uri="http://schemas.openxmlformats.org/drawingml/2006/chart">
            <c:chart xmlns:c="http://schemas.openxmlformats.org/drawingml/2006/chart" xmlns:r="http://schemas.openxmlformats.org/officeDocument/2006/relationships" r:id="rId3"/>
          </a:graphicData>
        </a:graphic>
      </p:graphicFrame>
      <p:sp>
        <p:nvSpPr>
          <p:cNvPr id="21" name="テキスト ボックス 20">
            <a:extLst>
              <a:ext uri="{FF2B5EF4-FFF2-40B4-BE49-F238E27FC236}">
                <a16:creationId xmlns:a16="http://schemas.microsoft.com/office/drawing/2014/main" id="{9841DBEB-4FEB-CEA2-AFE8-D557C1258B6F}"/>
              </a:ext>
            </a:extLst>
          </p:cNvPr>
          <p:cNvSpPr txBox="1"/>
          <p:nvPr/>
        </p:nvSpPr>
        <p:spPr>
          <a:xfrm>
            <a:off x="4855027" y="5654374"/>
            <a:ext cx="450764" cy="215444"/>
          </a:xfrm>
          <a:prstGeom prst="rect">
            <a:avLst/>
          </a:prstGeom>
          <a:noFill/>
        </p:spPr>
        <p:txBody>
          <a:bodyPr wrap="square" rtlCol="0">
            <a:spAutoFit/>
          </a:bodyPr>
          <a:lstStyle/>
          <a:p>
            <a:r>
              <a:rPr kumimoji="1" lang="en-US" altLang="ja-JP" sz="8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8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8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736504"/>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75000"/>
                    <a:lumOff val="25000"/>
                  </a:schemeClr>
                </a:solidFill>
                <a:latin typeface="メイリオ"/>
                <a:ea typeface="メイリオ" panose="020B0604030504040204" pitchFamily="50" charset="-128"/>
              </a:rPr>
              <a:t>【2025</a:t>
            </a:r>
            <a:r>
              <a:rPr kumimoji="1" lang="ja-JP" altLang="en-US" sz="1050" dirty="0">
                <a:solidFill>
                  <a:schemeClr val="tx1">
                    <a:lumMod val="75000"/>
                    <a:lumOff val="25000"/>
                  </a:schemeClr>
                </a:solidFill>
                <a:latin typeface="メイリオ"/>
                <a:ea typeface="メイリオ" panose="020B0604030504040204" pitchFamily="50" charset="-128"/>
              </a:rPr>
              <a:t>年検索エンジン流入</a:t>
            </a:r>
            <a:r>
              <a:rPr kumimoji="1" lang="en-US" altLang="ja-JP" sz="1050" dirty="0">
                <a:solidFill>
                  <a:schemeClr val="tx1">
                    <a:lumMod val="75000"/>
                    <a:lumOff val="25000"/>
                  </a:schemeClr>
                </a:solidFill>
                <a:latin typeface="メイリオ"/>
                <a:ea typeface="メイリオ" panose="020B0604030504040204" pitchFamily="50" charset="-128"/>
              </a:rPr>
              <a:t>】</a:t>
            </a:r>
          </a:p>
          <a:p>
            <a:pPr algn="ctr"/>
            <a:r>
              <a:rPr lang="ja-JP" altLang="en-US" sz="1050" dirty="0">
                <a:solidFill>
                  <a:schemeClr val="tx1">
                    <a:lumMod val="75000"/>
                    <a:lumOff val="25000"/>
                  </a:schemeClr>
                </a:solidFill>
                <a:latin typeface="メイリオ"/>
                <a:ea typeface="メイリオ" panose="020B0604030504040204" pitchFamily="50" charset="-128"/>
              </a:rPr>
              <a:t>前年比＋</a:t>
            </a:r>
            <a:r>
              <a:rPr lang="en-US" altLang="ja-JP" sz="1050" dirty="0">
                <a:solidFill>
                  <a:schemeClr val="tx1">
                    <a:lumMod val="75000"/>
                    <a:lumOff val="25000"/>
                  </a:schemeClr>
                </a:solidFill>
                <a:latin typeface="メイリオ"/>
                <a:ea typeface="メイリオ" panose="020B0604030504040204" pitchFamily="50" charset="-128"/>
              </a:rPr>
              <a:t>0.4</a:t>
            </a:r>
            <a:r>
              <a:rPr lang="ja-JP" altLang="en-US" sz="1050" dirty="0">
                <a:solidFill>
                  <a:schemeClr val="tx1">
                    <a:lumMod val="75000"/>
                    <a:lumOff val="25000"/>
                  </a:schemeClr>
                </a:solidFill>
                <a:latin typeface="メイリオ"/>
                <a:ea typeface="メイリオ" panose="020B0604030504040204" pitchFamily="50" charset="-128"/>
              </a:rPr>
              <a:t>％</a:t>
            </a:r>
            <a:endParaRPr lang="en-US" altLang="ja-JP" sz="1050" dirty="0">
              <a:solidFill>
                <a:schemeClr val="tx1">
                  <a:lumMod val="75000"/>
                  <a:lumOff val="25000"/>
                </a:schemeClr>
              </a:solidFill>
              <a:latin typeface="メイリオ"/>
              <a:ea typeface="メイリオ" panose="020B0604030504040204" pitchFamily="50" charset="-128"/>
            </a:endParaRPr>
          </a:p>
          <a:p>
            <a:pPr algn="ctr"/>
            <a:endParaRPr lang="en-US" altLang="ja-JP" sz="1050" dirty="0">
              <a:solidFill>
                <a:schemeClr val="tx1">
                  <a:lumMod val="75000"/>
                  <a:lumOff val="25000"/>
                </a:schemeClr>
              </a:solidFill>
              <a:latin typeface="メイリオ"/>
              <a:ea typeface="メイリオ" panose="020B0604030504040204" pitchFamily="50" charset="-128"/>
            </a:endParaRPr>
          </a:p>
          <a:p>
            <a:pPr algn="ctr"/>
            <a:r>
              <a:rPr kumimoji="1" lang="en-US" altLang="ja-JP" sz="1050" dirty="0">
                <a:solidFill>
                  <a:schemeClr val="tx1">
                    <a:lumMod val="75000"/>
                    <a:lumOff val="25000"/>
                  </a:schemeClr>
                </a:solidFill>
                <a:latin typeface="メイリオ"/>
                <a:ea typeface="メイリオ" panose="020B0604030504040204" pitchFamily="50" charset="-128"/>
              </a:rPr>
              <a:t>【2023</a:t>
            </a:r>
            <a:r>
              <a:rPr kumimoji="1" lang="ja-JP" altLang="en-US" sz="1050" dirty="0">
                <a:solidFill>
                  <a:schemeClr val="tx1">
                    <a:lumMod val="75000"/>
                    <a:lumOff val="25000"/>
                  </a:schemeClr>
                </a:solidFill>
                <a:latin typeface="メイリオ"/>
                <a:ea typeface="メイリオ" panose="020B0604030504040204" pitchFamily="50" charset="-128"/>
              </a:rPr>
              <a:t>年以降</a:t>
            </a:r>
            <a:r>
              <a:rPr kumimoji="1" lang="en-US" altLang="ja-JP" sz="1050" dirty="0">
                <a:solidFill>
                  <a:schemeClr val="tx1">
                    <a:lumMod val="75000"/>
                    <a:lumOff val="25000"/>
                  </a:schemeClr>
                </a:solidFill>
                <a:latin typeface="メイリオ"/>
                <a:ea typeface="メイリオ" panose="020B0604030504040204" pitchFamily="50" charset="-128"/>
              </a:rPr>
              <a:t>】</a:t>
            </a:r>
          </a:p>
          <a:p>
            <a:pPr algn="ctr"/>
            <a:r>
              <a:rPr lang="ja-JP" altLang="en-US" sz="1050" dirty="0">
                <a:solidFill>
                  <a:schemeClr val="tx1">
                    <a:lumMod val="75000"/>
                    <a:lumOff val="25000"/>
                  </a:schemeClr>
                </a:solidFill>
                <a:latin typeface="メイリオ"/>
                <a:ea typeface="メイリオ" panose="020B0604030504040204" pitchFamily="50" charset="-128"/>
              </a:rPr>
              <a:t>約</a:t>
            </a:r>
            <a:r>
              <a:rPr lang="en-US" altLang="ja-JP" sz="1050" dirty="0">
                <a:solidFill>
                  <a:schemeClr val="tx1">
                    <a:lumMod val="75000"/>
                    <a:lumOff val="25000"/>
                  </a:schemeClr>
                </a:solidFill>
                <a:latin typeface="メイリオ"/>
                <a:ea typeface="メイリオ" panose="020B0604030504040204" pitchFamily="50" charset="-128"/>
              </a:rPr>
              <a:t>-</a:t>
            </a:r>
            <a:r>
              <a:rPr lang="ja-JP" altLang="en-US" sz="1050" dirty="0">
                <a:solidFill>
                  <a:schemeClr val="tx1">
                    <a:lumMod val="75000"/>
                    <a:lumOff val="25000"/>
                  </a:schemeClr>
                </a:solidFill>
                <a:latin typeface="メイリオ"/>
                <a:ea typeface="メイリオ" panose="020B0604030504040204" pitchFamily="50" charset="-128"/>
              </a:rPr>
              <a:t>１％程度の微減～横ばい</a:t>
            </a:r>
            <a:endParaRPr lang="en-US" altLang="ja-JP" sz="1050" dirty="0">
              <a:solidFill>
                <a:schemeClr val="tx1">
                  <a:lumMod val="75000"/>
                  <a:lumOff val="25000"/>
                </a:schemeClr>
              </a:solidFill>
              <a:latin typeface="メイリオ"/>
              <a:ea typeface="メイリオ" panose="020B0604030504040204" pitchFamily="50" charset="-128"/>
            </a:endParaRPr>
          </a:p>
          <a:p>
            <a:pPr algn="ctr"/>
            <a:endParaRPr lang="en-US" altLang="ja-JP" sz="1050" dirty="0">
              <a:solidFill>
                <a:schemeClr val="tx1">
                  <a:lumMod val="75000"/>
                  <a:lumOff val="25000"/>
                </a:schemeClr>
              </a:solidFill>
              <a:latin typeface="メイリオ"/>
              <a:ea typeface="メイリオ" panose="020B0604030504040204" pitchFamily="50" charset="-128"/>
            </a:endParaRPr>
          </a:p>
          <a:p>
            <a:pPr algn="ctr"/>
            <a:r>
              <a:rPr lang="en-US" altLang="ja-JP" sz="1050" dirty="0">
                <a:solidFill>
                  <a:schemeClr val="tx1">
                    <a:lumMod val="75000"/>
                    <a:lumOff val="25000"/>
                  </a:schemeClr>
                </a:solidFill>
                <a:latin typeface="メイリオ"/>
                <a:ea typeface="メイリオ" panose="020B0604030504040204" pitchFamily="50" charset="-128"/>
              </a:rPr>
              <a:t>【</a:t>
            </a:r>
            <a:r>
              <a:rPr lang="ja-JP" altLang="en-US" sz="1050" dirty="0">
                <a:solidFill>
                  <a:schemeClr val="tx1">
                    <a:lumMod val="75000"/>
                    <a:lumOff val="25000"/>
                  </a:schemeClr>
                </a:solidFill>
                <a:latin typeface="メイリオ"/>
                <a:ea typeface="メイリオ" panose="020B0604030504040204" pitchFamily="50" charset="-128"/>
              </a:rPr>
              <a:t>重複ユーザー数</a:t>
            </a:r>
            <a:r>
              <a:rPr lang="en-US" altLang="ja-JP" sz="1050" dirty="0">
                <a:solidFill>
                  <a:schemeClr val="tx1">
                    <a:lumMod val="75000"/>
                    <a:lumOff val="25000"/>
                  </a:schemeClr>
                </a:solidFill>
                <a:latin typeface="メイリオ"/>
                <a:ea typeface="メイリオ" panose="020B0604030504040204" pitchFamily="50" charset="-128"/>
              </a:rPr>
              <a:t>】</a:t>
            </a:r>
          </a:p>
          <a:p>
            <a:pPr algn="ctr"/>
            <a:r>
              <a:rPr lang="ja-JP" altLang="en-US" sz="1050" dirty="0">
                <a:solidFill>
                  <a:schemeClr val="tx1">
                    <a:lumMod val="75000"/>
                    <a:lumOff val="25000"/>
                  </a:schemeClr>
                </a:solidFill>
                <a:latin typeface="メイリオ"/>
                <a:ea typeface="メイリオ" panose="020B0604030504040204" pitchFamily="50" charset="-128"/>
              </a:rPr>
              <a:t>前年比</a:t>
            </a:r>
            <a:r>
              <a:rPr lang="en-US" altLang="ja-JP" sz="1050" dirty="0">
                <a:solidFill>
                  <a:schemeClr val="tx1">
                    <a:lumMod val="75000"/>
                    <a:lumOff val="25000"/>
                  </a:schemeClr>
                </a:solidFill>
                <a:latin typeface="メイリオ"/>
                <a:ea typeface="メイリオ" panose="020B0604030504040204" pitchFamily="50" charset="-128"/>
              </a:rPr>
              <a:t>-0.3%</a:t>
            </a:r>
            <a:r>
              <a:rPr lang="ja-JP" altLang="en-US" sz="1050" dirty="0">
                <a:solidFill>
                  <a:schemeClr val="tx1">
                    <a:lumMod val="75000"/>
                    <a:lumOff val="25000"/>
                  </a:schemeClr>
                </a:solidFill>
                <a:latin typeface="メイリオ"/>
                <a:ea typeface="メイリオ" panose="020B0604030504040204" pitchFamily="50" charset="-128"/>
              </a:rPr>
              <a:t>（実質停滞）</a:t>
            </a:r>
            <a:endParaRPr lang="en-US" altLang="ja-JP" sz="1050" dirty="0">
              <a:solidFill>
                <a:schemeClr val="tx1">
                  <a:lumMod val="75000"/>
                  <a:lumOff val="25000"/>
                </a:schemeClr>
              </a:solidFill>
              <a:latin typeface="メイリオ"/>
              <a:ea typeface="メイリオ" panose="020B0604030504040204" pitchFamily="50" charset="-128"/>
            </a:endParaRPr>
          </a:p>
          <a:p>
            <a:pPr algn="ctr"/>
            <a:endParaRPr lang="en-US" altLang="ja-JP" sz="1050" dirty="0">
              <a:solidFill>
                <a:schemeClr val="tx1">
                  <a:lumMod val="75000"/>
                  <a:lumOff val="25000"/>
                </a:schemeClr>
              </a:solidFill>
              <a:latin typeface="メイリオ"/>
              <a:ea typeface="メイリオ" panose="020B0604030504040204" pitchFamily="50" charset="-128"/>
            </a:endParaRPr>
          </a:p>
          <a:p>
            <a:pPr algn="ctr"/>
            <a:r>
              <a:rPr lang="ja-JP" altLang="en-US" sz="1050" dirty="0">
                <a:solidFill>
                  <a:schemeClr val="tx1">
                    <a:lumMod val="75000"/>
                    <a:lumOff val="25000"/>
                  </a:schemeClr>
                </a:solidFill>
                <a:latin typeface="メイリオ"/>
                <a:ea typeface="メイリオ" panose="020B0604030504040204" pitchFamily="50" charset="-128"/>
              </a:rPr>
              <a:t>⇊</a:t>
            </a:r>
            <a:endParaRPr lang="en-US" altLang="ja-JP" sz="1050" dirty="0">
              <a:solidFill>
                <a:schemeClr val="tx1">
                  <a:lumMod val="75000"/>
                  <a:lumOff val="25000"/>
                </a:schemeClr>
              </a:solidFill>
              <a:latin typeface="メイリオ"/>
              <a:ea typeface="メイリオ" panose="020B0604030504040204" pitchFamily="50" charset="-128"/>
            </a:endParaRPr>
          </a:p>
          <a:p>
            <a:pPr algn="ctr"/>
            <a:r>
              <a:rPr lang="ja-JP" altLang="en-US" sz="1050" b="1" dirty="0">
                <a:solidFill>
                  <a:schemeClr val="tx1">
                    <a:lumMod val="75000"/>
                    <a:lumOff val="25000"/>
                  </a:schemeClr>
                </a:solidFill>
                <a:latin typeface="メイリオ"/>
                <a:ea typeface="メイリオ" panose="020B0604030504040204" pitchFamily="50" charset="-128"/>
              </a:rPr>
              <a:t>検索需要は拡大していない</a:t>
            </a:r>
            <a:endParaRPr lang="en-US" altLang="ja-JP" sz="1050" b="1" dirty="0">
              <a:solidFill>
                <a:schemeClr val="tx1">
                  <a:lumMod val="75000"/>
                  <a:lumOff val="25000"/>
                </a:schemeClr>
              </a:solidFill>
              <a:latin typeface="メイリオ"/>
              <a:ea typeface="メイリオ" panose="020B0604030504040204" pitchFamily="50" charset="-128"/>
            </a:endParaRPr>
          </a:p>
        </p:txBody>
      </p:sp>
      <p:cxnSp>
        <p:nvCxnSpPr>
          <p:cNvPr id="26" name="直線矢印コネクタ 25">
            <a:extLst>
              <a:ext uri="{FF2B5EF4-FFF2-40B4-BE49-F238E27FC236}">
                <a16:creationId xmlns:a16="http://schemas.microsoft.com/office/drawing/2014/main" id="{F2ED569F-B88F-268D-C92E-3B1A33C6FC2C}"/>
              </a:ext>
            </a:extLst>
          </p:cNvPr>
          <p:cNvCxnSpPr/>
          <p:nvPr/>
        </p:nvCxnSpPr>
        <p:spPr>
          <a:xfrm flipV="1">
            <a:off x="5503817" y="4147637"/>
            <a:ext cx="1001486" cy="858262"/>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8" name="四角形: 角を丸くする 27">
            <a:extLst>
              <a:ext uri="{FF2B5EF4-FFF2-40B4-BE49-F238E27FC236}">
                <a16:creationId xmlns:a16="http://schemas.microsoft.com/office/drawing/2014/main" id="{5E9B660E-A4CD-9923-72EA-226C228A8CCD}"/>
              </a:ext>
            </a:extLst>
          </p:cNvPr>
          <p:cNvSpPr/>
          <p:nvPr/>
        </p:nvSpPr>
        <p:spPr>
          <a:xfrm>
            <a:off x="5381802" y="4430651"/>
            <a:ext cx="709750" cy="236864"/>
          </a:xfrm>
          <a:prstGeom prst="roundRect">
            <a:avLst/>
          </a:prstGeom>
          <a:solidFill>
            <a:schemeClr val="bg1"/>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rgbClr val="FF0000"/>
                </a:solidFill>
                <a:latin typeface="メイリオ" panose="020B0604030504040204" pitchFamily="50" charset="-128"/>
                <a:ea typeface="メイリオ" panose="020B0604030504040204" pitchFamily="50" charset="-128"/>
              </a:rPr>
              <a:t>1.23</a:t>
            </a:r>
            <a:r>
              <a:rPr kumimoji="1" lang="ja-JP" altLang="en-US" sz="1050" dirty="0">
                <a:solidFill>
                  <a:srgbClr val="FF0000"/>
                </a:solidFill>
                <a:latin typeface="メイリオ" panose="020B0604030504040204" pitchFamily="50" charset="-128"/>
                <a:ea typeface="メイリオ" panose="020B0604030504040204" pitchFamily="50" charset="-128"/>
              </a:rPr>
              <a:t>倍</a:t>
            </a:r>
          </a:p>
        </p:txBody>
      </p:sp>
      <p:sp>
        <p:nvSpPr>
          <p:cNvPr id="93" name="TextBox 92"/>
          <p:cNvSpPr txBox="1"/>
          <p:nvPr/>
        </p:nvSpPr>
        <p:spPr>
          <a:xfrm>
            <a:off x="350000" y="6271200"/>
            <a:ext cx="9200000" cy="288000"/>
          </a:xfrm>
          <a:prstGeom prst="rect">
            <a:avLst/>
          </a:prstGeom>
          <a:noFill/>
        </p:spPr>
        <p:txBody>
          <a:bodyPr wrap="square">
            <a:spAutoFit/>
          </a:bodyPr>
          <a:lstStyle/>
          <a:p>
            <a:r>
              <a:rPr sz="1000">
                <a:solidFill>
                  <a:srgbClr val="555555"/>
                </a:solidFill>
                <a:latin typeface="メイリオ"/>
                <a:ea typeface="メイリオ"/>
              </a:rPr>
              <a:t>※ CPC推移・上昇率・検索流入の各数値は社内想定値です。掲載可能な実績・統計が確定次第、差し替えます。</a:t>
            </a:r>
          </a:p>
        </p:txBody>
      </p:sp>
    </p:spTree>
    <p:extLst>
      <p:ext uri="{BB962C8B-B14F-4D97-AF65-F5344CB8AC3E}">
        <p14:creationId xmlns:p14="http://schemas.microsoft.com/office/powerpoint/2010/main" val="1187594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需要の波が極端な業界。時期ごとに「誰に・何を言い・どこへ着地させるか」を先に決めておく。</a:t>
            </a:r>
          </a:p>
        </p:txBody>
      </p:sp>
      <p:graphicFrame>
        <p:nvGraphicFramePr>
          <p:cNvPr id="4" name="Table 3"/>
          <p:cNvGraphicFramePr>
            <a:graphicFrameLocks noGrp="1"/>
          </p:cNvGraphicFramePr>
          <p:nvPr/>
        </p:nvGraphicFramePr>
        <p:xfrm>
          <a:off x="384048" y="1234440"/>
          <a:ext cx="9134855" cy="2628900"/>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911095">
                  <a:extLst>
                    <a:ext uri="{9D8B030D-6E8A-4147-A177-3AD203B41FA5}">
                      <a16:colId xmlns:a16="http://schemas.microsoft.com/office/drawing/2014/main" val="20003"/>
                    </a:ext>
                  </a:extLst>
                </a:gridCol>
              </a:tblGrid>
              <a:tr h="434340">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a:solidFill>
                            <a:srgbClr val="FFFFFF"/>
                          </a:solidFill>
                          <a:latin typeface="メイリオ"/>
                          <a:ea typeface="メイリオ"/>
                        </a:rPr>
                        <a:t>主な対象</a:t>
                      </a: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434340">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434340">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434340">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434340">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434340">
                <a:tc>
                  <a:txBody>
                    <a:bodyPr/>
                    <a:lstStyle/>
                    <a:p>
                      <a:pPr algn="l"/>
                      <a:r>
                        <a:rPr sz="1200" b="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a:solidFill>
                            <a:srgbClr val="FFFFFF"/>
                          </a:solidFill>
                          <a:latin typeface="メイリオ"/>
                          <a:ea typeface="メイリオ"/>
                        </a:rPr>
                        <a:t>LINE友だち追加</a:t>
                      </a:r>
                    </a:p>
                  </a:txBody>
                  <a:tcPr>
                    <a:solidFill>
                      <a:srgbClr val="BF4E0E"/>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69080"/>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1C2233"/>
                </a:solidFill>
                <a:latin typeface="メイリオ"/>
                <a:ea typeface="メイリオ"/>
              </a:rPr>
              <a:t>ピーク月は広告費も最高値</a:t>
            </a:r>
          </a:p>
          <a:p>
            <a:pPr algn="l">
              <a:spcBef>
                <a:spcPts val="200"/>
              </a:spcBef>
            </a:pPr>
            <a:r>
              <a:rPr sz="1100" b="0">
                <a:solidFill>
                  <a:srgbClr val="1C2233"/>
                </a:solidFill>
                <a:latin typeface="メイリオ"/>
                <a:ea typeface="メイリオ"/>
              </a:rPr>
              <a:t>1月はCPCが最も高い。同じ予算で取れる件数が最も少ない月でもある。</a:t>
            </a:r>
          </a:p>
        </p:txBody>
      </p:sp>
      <p:sp>
        <p:nvSpPr>
          <p:cNvPr id="6" name="Rounded Rectangle 5"/>
          <p:cNvSpPr/>
          <p:nvPr/>
        </p:nvSpPr>
        <p:spPr>
          <a:xfrm>
            <a:off x="3383279" y="4069080"/>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1C2233"/>
                </a:solidFill>
                <a:latin typeface="メイリオ"/>
                <a:ea typeface="メイリオ"/>
              </a:rPr>
              <a:t>検討期間は数日〜2週間</a:t>
            </a:r>
          </a:p>
          <a:p>
            <a:pPr algn="l">
              <a:spcBef>
                <a:spcPts val="200"/>
              </a:spcBef>
            </a:pPr>
            <a:r>
              <a:rPr sz="1100" b="0">
                <a:solidFill>
                  <a:srgbClr val="1C2233"/>
                </a:solidFill>
                <a:latin typeface="メイリオ"/>
                <a:ea typeface="メイリオ"/>
              </a:rPr>
              <a:t>広告で追いかける時間がない。思い立った時点で候補に入っていないと負ける。</a:t>
            </a:r>
          </a:p>
        </p:txBody>
      </p:sp>
      <p:sp>
        <p:nvSpPr>
          <p:cNvPr id="7" name="Rounded Rectangle 6"/>
          <p:cNvSpPr/>
          <p:nvPr/>
        </p:nvSpPr>
        <p:spPr>
          <a:xfrm>
            <a:off x="6382512" y="4069080"/>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1C2233"/>
                </a:solidFill>
                <a:latin typeface="メイリオ"/>
                <a:ea typeface="メイリオ"/>
              </a:rPr>
              <a:t>だから閑散期に友だちを溜める</a:t>
            </a:r>
          </a:p>
          <a:p>
            <a:pPr algn="l">
              <a:spcBef>
                <a:spcPts val="200"/>
              </a:spcBef>
            </a:pPr>
            <a:r>
              <a:rPr sz="1100" b="0">
                <a:solidFill>
                  <a:srgbClr val="1C2233"/>
                </a:solidFill>
                <a:latin typeface="メイリオ"/>
                <a:ea typeface="メイリオ"/>
              </a:rPr>
              <a:t>10〜12月に集めた友だちに、1月1日へ広告費ゼロで届く。</a:t>
            </a:r>
          </a:p>
        </p:txBody>
      </p:sp>
      <p:sp>
        <p:nvSpPr>
          <p:cNvPr id="8" name="Rectangle 7"/>
          <p:cNvSpPr/>
          <p:nvPr/>
        </p:nvSpPr>
        <p:spPr>
          <a:xfrm>
            <a:off x="384048" y="5230368"/>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230368"/>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330952"/>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ピーク月に広告費を積むのは全社やる。差がつくのは、その前に何人リスト化できているか。</a:t>
            </a:r>
          </a:p>
        </p:txBody>
      </p:sp>
      <p:sp>
        <p:nvSpPr>
          <p:cNvPr id="11" name="TextBox 10"/>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「ダイエット」需要は毎年1月に立ち、10〜12月に沈む。ジム指名検索は通年安定。</a:t>
            </a:r>
          </a:p>
        </p:txBody>
      </p:sp>
      <p:sp>
        <p:nvSpPr>
          <p:cNvPr id="4" name="Rounded Rectangle 3"/>
          <p:cNvSpPr/>
          <p:nvPr/>
        </p:nvSpPr>
        <p:spPr>
          <a:xfrm>
            <a:off x="384048" y="3438000"/>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dirty="0">
                <a:solidFill>
                  <a:srgbClr val="1F2A5C"/>
                </a:solidFill>
                <a:latin typeface="メイリオ"/>
                <a:ea typeface="メイリオ"/>
              </a:rPr>
              <a:t>① 毎年1月に山が立つ</a:t>
            </a:r>
            <a:endParaRPr lang="en-US" sz="1700" b="1" dirty="0">
              <a:solidFill>
                <a:srgbClr val="1F2A5C"/>
              </a:solidFill>
              <a:latin typeface="メイリオ"/>
              <a:ea typeface="メイリオ"/>
            </a:endParaRPr>
          </a:p>
          <a:p>
            <a:pPr algn="ctr"/>
            <a:r>
              <a:rPr sz="1700" b="1" dirty="0">
                <a:solidFill>
                  <a:srgbClr val="1F2A5C"/>
                </a:solidFill>
                <a:latin typeface="メイリオ"/>
                <a:ea typeface="メイリオ"/>
              </a:rPr>
              <a:t>（新年の決意）</a:t>
            </a:r>
          </a:p>
          <a:p>
            <a:pPr>
              <a:spcBef>
                <a:spcPts val="800"/>
              </a:spcBef>
            </a:pPr>
            <a:r>
              <a:rPr sz="1300" dirty="0" err="1">
                <a:solidFill>
                  <a:srgbClr val="1C2233"/>
                </a:solidFill>
                <a:latin typeface="メイリオ"/>
                <a:ea typeface="メイリオ"/>
              </a:rPr>
              <a:t>ダイエット検索が急騰し、検討の入口が開く。体験予約が最も動く月</a:t>
            </a:r>
            <a:r>
              <a:rPr sz="1300" dirty="0">
                <a:solidFill>
                  <a:srgbClr val="1C2233"/>
                </a:solidFill>
                <a:latin typeface="メイリオ"/>
                <a:ea typeface="メイリオ"/>
              </a:rPr>
              <a:t>。</a:t>
            </a:r>
          </a:p>
        </p:txBody>
      </p:sp>
      <p:sp>
        <p:nvSpPr>
          <p:cNvPr id="5" name="Rounded Rectangle 4"/>
          <p:cNvSpPr/>
          <p:nvPr/>
        </p:nvSpPr>
        <p:spPr>
          <a:xfrm>
            <a:off x="3383279" y="3437999"/>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dirty="0">
                <a:solidFill>
                  <a:srgbClr val="1F2A5C"/>
                </a:solidFill>
                <a:latin typeface="メイリオ"/>
                <a:ea typeface="メイリオ"/>
              </a:rPr>
              <a:t>② 10〜12月は谷＝</a:t>
            </a:r>
            <a:endParaRPr lang="en-US" sz="1700" b="1" dirty="0">
              <a:solidFill>
                <a:srgbClr val="1F2A5C"/>
              </a:solidFill>
              <a:latin typeface="メイリオ"/>
              <a:ea typeface="メイリオ"/>
            </a:endParaRPr>
          </a:p>
          <a:p>
            <a:pPr algn="ctr"/>
            <a:r>
              <a:rPr sz="1700" b="1" dirty="0" err="1">
                <a:solidFill>
                  <a:srgbClr val="1F2A5C"/>
                </a:solidFill>
                <a:latin typeface="メイリオ"/>
                <a:ea typeface="メイリオ"/>
              </a:rPr>
              <a:t>仕込み期</a:t>
            </a:r>
            <a:endParaRPr sz="1700" b="1" dirty="0">
              <a:solidFill>
                <a:srgbClr val="1F2A5C"/>
              </a:solidFill>
              <a:latin typeface="メイリオ"/>
              <a:ea typeface="メイリオ"/>
            </a:endParaRPr>
          </a:p>
          <a:p>
            <a:pPr>
              <a:spcBef>
                <a:spcPts val="800"/>
              </a:spcBef>
            </a:pPr>
            <a:r>
              <a:rPr sz="1300" dirty="0" err="1">
                <a:solidFill>
                  <a:srgbClr val="1C2233"/>
                </a:solidFill>
                <a:latin typeface="メイリオ"/>
                <a:ea typeface="メイリオ"/>
              </a:rPr>
              <a:t>検索が年間最低まで沈む。診断・料金シミュレーターで友だちを溜める時期</a:t>
            </a:r>
            <a:r>
              <a:rPr sz="1300" dirty="0">
                <a:solidFill>
                  <a:srgbClr val="1C2233"/>
                </a:solidFill>
                <a:latin typeface="メイリオ"/>
                <a:ea typeface="メイリオ"/>
              </a:rPr>
              <a:t>。</a:t>
            </a:r>
          </a:p>
        </p:txBody>
      </p:sp>
      <p:sp>
        <p:nvSpPr>
          <p:cNvPr id="6" name="Rounded Rectangle 5"/>
          <p:cNvSpPr/>
          <p:nvPr/>
        </p:nvSpPr>
        <p:spPr>
          <a:xfrm>
            <a:off x="6382512" y="3438000"/>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dirty="0">
                <a:solidFill>
                  <a:srgbClr val="1F2A5C"/>
                </a:solidFill>
                <a:latin typeface="メイリオ"/>
                <a:ea typeface="メイリオ"/>
              </a:rPr>
              <a:t>③ 検索自体は5年で</a:t>
            </a:r>
            <a:endParaRPr lang="en-US" sz="1700" b="1" dirty="0">
              <a:solidFill>
                <a:srgbClr val="1F2A5C"/>
              </a:solidFill>
              <a:latin typeface="メイリオ"/>
              <a:ea typeface="メイリオ"/>
            </a:endParaRPr>
          </a:p>
          <a:p>
            <a:pPr algn="ctr"/>
            <a:r>
              <a:rPr sz="1700" b="1" dirty="0" err="1">
                <a:solidFill>
                  <a:srgbClr val="1F2A5C"/>
                </a:solidFill>
                <a:latin typeface="メイリオ"/>
                <a:ea typeface="メイリオ"/>
              </a:rPr>
              <a:t>半減傾向</a:t>
            </a:r>
            <a:endParaRPr sz="1700" b="1" dirty="0">
              <a:solidFill>
                <a:srgbClr val="1F2A5C"/>
              </a:solidFill>
              <a:latin typeface="メイリオ"/>
              <a:ea typeface="メイリオ"/>
            </a:endParaRPr>
          </a:p>
          <a:p>
            <a:pPr>
              <a:spcBef>
                <a:spcPts val="800"/>
              </a:spcBef>
            </a:pPr>
            <a:r>
              <a:rPr sz="1300" dirty="0">
                <a:solidFill>
                  <a:srgbClr val="1C2233"/>
                </a:solidFill>
                <a:latin typeface="メイリオ"/>
                <a:ea typeface="メイリオ"/>
              </a:rPr>
              <a:t>ダイエット検索は約100→55。情報収集はSNS・AIへ分散し、検索広告の母数は細る。</a:t>
            </a:r>
          </a:p>
        </p:txBody>
      </p:sp>
      <p:sp>
        <p:nvSpPr>
          <p:cNvPr id="7" name="Rectangle 6"/>
          <p:cNvSpPr/>
          <p:nvPr/>
        </p:nvSpPr>
        <p:spPr>
          <a:xfrm>
            <a:off x="384048" y="5113658"/>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5122512"/>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5214242"/>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1月に取り切るのではなく、10〜12月に「1月に届く相手」を作る。それが年間設計の起点。</a:t>
            </a:r>
          </a:p>
        </p:txBody>
      </p:sp>
      <p:sp>
        <p:nvSpPr>
          <p:cNvPr id="10" name="TextBox 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出典：Googleトレンド（日本・ウェブ検索・過去5年間・2026/8/17取得）。ゾーン：橙＝1月／灰＝10〜12月。数値は各グラフ内の相対値（最大＝100）。細分KWは検索量が小さく判読不可のため2KWで代表。</a:t>
            </a:r>
          </a:p>
        </p:txBody>
      </p:sp>
      <p:pic>
        <p:nvPicPr>
          <p:cNvPr id="11" name="Picture 10" descr="trend_main.png"/>
          <p:cNvPicPr>
            <a:picLocks noChangeAspect="1"/>
          </p:cNvPicPr>
          <p:nvPr/>
        </p:nvPicPr>
        <p:blipFill>
          <a:blip r:embed="rId2"/>
          <a:stretch>
            <a:fillRect/>
          </a:stretch>
        </p:blipFill>
        <p:spPr>
          <a:xfrm>
            <a:off x="385200" y="1260000"/>
            <a:ext cx="9133200" cy="2036415"/>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513200" cy="360000"/>
          </a:xfrm>
          <a:prstGeom prst="rect">
            <a:avLst/>
          </a:prstGeom>
          <a:noFill/>
        </p:spPr>
        <p:txBody>
          <a:bodyPr wrap="square" lIns="18000" tIns="0" rIns="18000" bIns="0">
            <a:spAutoFit/>
          </a:bodyPr>
          <a:lstStyle/>
          <a:p>
            <a:r>
              <a:rPr sz="1600" b="1">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288000"/>
          </a:xfrm>
          <a:prstGeom prst="rect">
            <a:avLst/>
          </a:prstGeom>
          <a:noFill/>
        </p:spPr>
        <p:txBody>
          <a:bodyPr wrap="square" lIns="18000" tIns="0" rIns="18000" bIns="0">
            <a:spAutoFit/>
          </a:bodyPr>
          <a:lstStyle/>
          <a:p>
            <a:r>
              <a:rPr sz="1200" b="0">
                <a:solidFill>
                  <a:srgbClr val="646C82"/>
                </a:solidFill>
                <a:latin typeface="メイリオ"/>
                <a:ea typeface="メイリオ"/>
              </a:rPr>
              <a:t>運動需要は減っていない。減ったのは「ダイエット情報の検索」で、ジム検索と収斂した。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ジム × ダイエット × 筋トレ</a:t>
            </a:r>
          </a:p>
        </p:txBody>
      </p:sp>
      <p:pic>
        <p:nvPicPr>
          <p:cNvPr id="5" name="Picture 4" descr="trend_kintore.png"/>
          <p:cNvPicPr>
            <a:picLocks noChangeAspect="1"/>
          </p:cNvPicPr>
          <p:nvPr/>
        </p:nvPicPr>
        <p:blipFill>
          <a:blip r:embed="rId2"/>
          <a:stretch>
            <a:fillRect/>
          </a:stretch>
        </p:blipFill>
        <p:spPr>
          <a:xfrm>
            <a:off x="385200" y="1314000"/>
            <a:ext cx="9133200" cy="2036415"/>
          </a:xfrm>
          <a:prstGeom prst="rect">
            <a:avLst/>
          </a:prstGeom>
        </p:spPr>
      </p:pic>
      <p:sp>
        <p:nvSpPr>
          <p:cNvPr id="6" name="TextBox 5"/>
          <p:cNvSpPr txBox="1"/>
          <p:nvPr/>
        </p:nvSpPr>
        <p:spPr>
          <a:xfrm>
            <a:off x="385200" y="3474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690000"/>
            <a:ext cx="9133200" cy="2036415"/>
          </a:xfrm>
          <a:prstGeom prst="rect">
            <a:avLst/>
          </a:prstGeom>
        </p:spPr>
      </p:pic>
      <p:sp>
        <p:nvSpPr>
          <p:cNvPr id="8" name="TextBox 7"/>
          <p:cNvSpPr txBox="1"/>
          <p:nvPr/>
        </p:nvSpPr>
        <p:spPr>
          <a:xfrm>
            <a:off x="385200" y="5742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rPr>
              <a:t>・筋トレ（黄）は5年間横ばい＝運動需要そのものは安定。減ったのは「ダイエット情報の検索」→ SNS・AIへの分散</a:t>
            </a:r>
          </a:p>
          <a:p>
            <a:r>
              <a:rPr sz="1200" b="0">
                <a:solidFill>
                  <a:srgbClr val="1C2233"/>
                </a:solidFill>
                <a:latin typeface="メイリオ"/>
                <a:ea typeface="メイリオ"/>
              </a:rPr>
              <a:t>・パーソナルジムは2025年後半に急騰後も高止まり＝高単価業態への関心は拡大（急騰要因は関連KWで確認予定）</a:t>
            </a:r>
          </a:p>
          <a:p>
            <a:r>
              <a:rPr sz="1200" b="0">
                <a:solidFill>
                  <a:srgbClr val="1C2233"/>
                </a:solidFill>
                <a:latin typeface="メイリオ"/>
                <a:ea typeface="メイリオ"/>
              </a:rPr>
              <a:t>・24時間ジム系の一般KWは低位安定＝実需は「地名×ジム」等の指名・細分検索に分散</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出典：Googleトレンド（日本・ウェブ検索・過去5年間・2026/8/17取得）。数値は各グラフ内の相対値（最大＝100）で、グラフ間・上図S13との数値比較は不可。社内検討用の参考データ。</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a:solidFill>
                  <a:schemeClr val="dk1"/>
                </a:solidFill>
                <a:latin typeface="メイリオ"/>
                <a:ea typeface="メイリオ"/>
                <a:cs typeface="Meiryo"/>
                <a:sym typeface="Meiryo"/>
              </a:rPr>
              <a:t>前後検索</a:t>
            </a:r>
            <a:endParaRPr sz="1600">
              <a:solidFill>
                <a:schemeClr val="dk1"/>
              </a:solidFill>
              <a:latin typeface="メイリオ"/>
              <a:ea typeface="メイリオ"/>
              <a:cs typeface="Meiryo"/>
              <a:sym typeface="Meiryo"/>
            </a:endParaRPr>
          </a:p>
        </p:txBody>
      </p:sp>
      <p:cxnSp>
        <p:nvCxnSpPr>
          <p:cNvPr id="471" name="Google Shape;471;p12"/>
          <p:cNvCxnSpPr/>
          <p:nvPr/>
        </p:nvCxnSpPr>
        <p:spPr>
          <a:xfrm>
            <a:off x="0" y="1390675"/>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0" y="609600"/>
            <a:ext cx="9906000" cy="381712"/>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sz="2000">
                <a:solidFill>
                  <a:srgbClr val="262626"/>
                </a:solidFill>
                <a:latin typeface="メイリオ"/>
                <a:ea typeface="メイリオ"/>
                <a:cs typeface="Meiryo"/>
                <a:sym typeface="Meiryo"/>
              </a:rPr>
              <a:t>ユーザーの検索動向</a:t>
            </a:r>
            <a:endParaRPr sz="2000">
              <a:solidFill>
                <a:srgbClr val="262626"/>
              </a:solidFill>
              <a:latin typeface="メイリオ"/>
              <a:ea typeface="メイリオ"/>
              <a:cs typeface="Meiryo"/>
              <a:sym typeface="Meiryo"/>
            </a:endParaRPr>
          </a:p>
        </p:txBody>
      </p:sp>
      <p:sp>
        <p:nvSpPr>
          <p:cNvPr id="473" name="Google Shape;473;p12"/>
          <p:cNvSpPr/>
          <p:nvPr/>
        </p:nvSpPr>
        <p:spPr>
          <a:xfrm>
            <a:off x="0" y="971550"/>
            <a:ext cx="9906000" cy="40371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900">
                <a:solidFill>
                  <a:srgbClr val="3F3F3F"/>
                </a:solidFill>
                <a:latin typeface="メイリオ"/>
                <a:ea typeface="メイリオ"/>
                <a:cs typeface="Meiryo"/>
                <a:sym typeface="Meiryo"/>
              </a:rPr>
              <a:t>「パーソナルジム」検索の前後15日には、医療脱毛・脂肪吸引・エステ・ホットヨガ等の“別手段”と、</a:t>
            </a:r>
            <a:endParaRPr sz="900">
              <a:solidFill>
                <a:srgbClr val="3F3F3F"/>
              </a:solidFill>
              <a:latin typeface="メイリオ"/>
              <a:ea typeface="メイリオ"/>
              <a:cs typeface="Meiryo"/>
              <a:sym typeface="Meiryo"/>
            </a:endParaRPr>
          </a:p>
          <a:p>
            <a:pPr marL="0" marR="0" lvl="0" indent="0" algn="ctr" rtl="0">
              <a:spcBef>
                <a:spcPts val="0"/>
              </a:spcBef>
              <a:spcAft>
                <a:spcPts val="0"/>
              </a:spcAft>
              <a:buNone/>
            </a:pPr>
            <a:r>
              <a:rPr lang="ja-JP" sz="900">
                <a:solidFill>
                  <a:srgbClr val="3F3F3F"/>
                </a:solidFill>
                <a:latin typeface="メイリオ"/>
                <a:ea typeface="メイリオ"/>
                <a:cs typeface="Meiryo"/>
                <a:sym typeface="Meiryo"/>
              </a:rPr>
              <a:t>筋トレ・プロテイン等の“自力実行”が並ぶ。ジムの競合は、他のジムだけではない。</a:t>
            </a:r>
            <a:endParaRPr sz="900">
              <a:solidFill>
                <a:srgbClr val="3F3F3F"/>
              </a:solidFill>
              <a:latin typeface="メイリオ"/>
              <a:ea typeface="メイリオ"/>
              <a:cs typeface="Meiryo"/>
              <a:sym typeface="Meiryo"/>
            </a:endParaRPr>
          </a:p>
        </p:txBody>
      </p:sp>
      <p:cxnSp>
        <p:nvCxnSpPr>
          <p:cNvPr id="474" name="Google Shape;474;p12"/>
          <p:cNvCxnSpPr/>
          <p:nvPr/>
        </p:nvCxnSpPr>
        <p:spPr>
          <a:xfrm>
            <a:off x="0" y="1390675"/>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495270"/>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548640" y="1874518"/>
            <a:ext cx="8796528" cy="348821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2" name="Rectangle 491"/>
          <p:cNvSpPr/>
          <p:nvPr/>
        </p:nvSpPr>
        <p:spPr>
          <a:xfrm>
            <a:off x="385572" y="560832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Rectangle 492"/>
          <p:cNvSpPr/>
          <p:nvPr/>
        </p:nvSpPr>
        <p:spPr>
          <a:xfrm>
            <a:off x="431292" y="560832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10896"/>
          </a:xfrm>
          <a:prstGeom prst="rect">
            <a:avLst/>
          </a:prstGeom>
          <a:noFill/>
        </p:spPr>
        <p:txBody>
          <a:bodyPr wrap="square">
            <a:spAutoFit/>
          </a:bodyPr>
          <a:lstStyle/>
          <a:p>
            <a:r>
              <a:rPr sz="1300">
                <a:solidFill>
                  <a:srgbClr val="1C2233"/>
                </a:solidFill>
                <a:latin typeface="メイリオ"/>
                <a:ea typeface="メイリオ"/>
              </a:rPr>
              <a:t>前は「手段の迷い」、後は「効果が出るまでの不安」。LINEはこの両方に先回りできる接点になる。</a:t>
            </a:r>
          </a:p>
        </p:txBody>
      </p:sp>
      <p:pic>
        <p:nvPicPr>
          <p:cNvPr id="495" name="Picture 494" descr="Journey_パーソナルジム_直近1年間(20240722-20250727).png"/>
          <p:cNvPicPr>
            <a:picLocks noChangeAspect="1"/>
          </p:cNvPicPr>
          <p:nvPr/>
        </p:nvPicPr>
        <p:blipFill>
          <a:blip r:embed="rId3"/>
          <a:stretch>
            <a:fillRect/>
          </a:stretch>
        </p:blipFill>
        <p:spPr>
          <a:xfrm>
            <a:off x="584640" y="1910519"/>
            <a:ext cx="4936266" cy="3213572"/>
          </a:xfrm>
          <a:prstGeom prst="rect">
            <a:avLst/>
          </a:prstGeom>
        </p:spPr>
      </p:pic>
      <p:sp>
        <p:nvSpPr>
          <p:cNvPr id="496" name="TextBox 495"/>
          <p:cNvSpPr txBox="1"/>
          <p:nvPr/>
        </p:nvSpPr>
        <p:spPr>
          <a:xfrm>
            <a:off x="5771071" y="1928519"/>
            <a:ext cx="3502095" cy="1846659"/>
          </a:xfrm>
          <a:prstGeom prst="rect">
            <a:avLst/>
          </a:prstGeom>
          <a:noFill/>
        </p:spPr>
        <p:txBody>
          <a:bodyPr wrap="square" lIns="18000" tIns="0" rIns="18000" bIns="0">
            <a:spAutoFit/>
          </a:bodyPr>
          <a:lstStyle/>
          <a:p>
            <a:r>
              <a:rPr sz="1200" b="0" dirty="0">
                <a:solidFill>
                  <a:srgbClr val="1C2233"/>
                </a:solidFill>
                <a:latin typeface="メイリオ"/>
                <a:ea typeface="メイリオ"/>
              </a:rPr>
              <a:t>① </a:t>
            </a:r>
            <a:r>
              <a:rPr sz="1200" b="0" dirty="0" err="1">
                <a:solidFill>
                  <a:srgbClr val="1C2233"/>
                </a:solidFill>
                <a:latin typeface="メイリオ"/>
                <a:ea typeface="メイリオ"/>
              </a:rPr>
              <a:t>検索前＝手段の迷い</a:t>
            </a:r>
            <a:endParaRPr sz="1200" b="0" dirty="0">
              <a:solidFill>
                <a:srgbClr val="1C2233"/>
              </a:solidFill>
              <a:latin typeface="メイリオ"/>
              <a:ea typeface="メイリオ"/>
            </a:endParaRPr>
          </a:p>
          <a:p>
            <a:r>
              <a:rPr sz="1200" b="0" dirty="0" err="1">
                <a:solidFill>
                  <a:srgbClr val="1C2233"/>
                </a:solidFill>
                <a:latin typeface="メイリオ"/>
                <a:ea typeface="メイリオ"/>
              </a:rPr>
              <a:t>医療脱毛・脂肪吸引・エステ・ホットヨガと並列比較</a:t>
            </a:r>
            <a:endParaRPr sz="1200" b="0" dirty="0">
              <a:solidFill>
                <a:srgbClr val="1C2233"/>
              </a:solidFill>
              <a:latin typeface="メイリオ"/>
              <a:ea typeface="メイリオ"/>
            </a:endParaRPr>
          </a:p>
          <a:p>
            <a:endParaRPr sz="1200" b="0" dirty="0">
              <a:solidFill>
                <a:srgbClr val="1C2233"/>
              </a:solidFill>
              <a:latin typeface="メイリオ"/>
              <a:ea typeface="メイリオ"/>
            </a:endParaRPr>
          </a:p>
          <a:p>
            <a:r>
              <a:rPr sz="1200" b="0" dirty="0">
                <a:solidFill>
                  <a:srgbClr val="1C2233"/>
                </a:solidFill>
                <a:latin typeface="メイリオ"/>
                <a:ea typeface="メイリオ"/>
              </a:rPr>
              <a:t>② </a:t>
            </a:r>
            <a:r>
              <a:rPr sz="1200" b="0" dirty="0" err="1">
                <a:solidFill>
                  <a:srgbClr val="1C2233"/>
                </a:solidFill>
                <a:latin typeface="メイリオ"/>
                <a:ea typeface="メイリオ"/>
              </a:rPr>
              <a:t>起点直後＝ブランド×口コミ比較</a:t>
            </a:r>
            <a:endParaRPr sz="1200" b="0" dirty="0">
              <a:solidFill>
                <a:srgbClr val="1C2233"/>
              </a:solidFill>
              <a:latin typeface="メイリオ"/>
              <a:ea typeface="メイリオ"/>
            </a:endParaRPr>
          </a:p>
          <a:p>
            <a:r>
              <a:rPr sz="1200" b="0" dirty="0">
                <a:solidFill>
                  <a:srgbClr val="1C2233"/>
                </a:solidFill>
                <a:latin typeface="メイリオ"/>
                <a:ea typeface="メイリオ"/>
              </a:rPr>
              <a:t>エニタイム・かたぎり塾・fitplace24・相場</a:t>
            </a:r>
          </a:p>
          <a:p>
            <a:endParaRPr sz="1200" b="0" dirty="0">
              <a:solidFill>
                <a:srgbClr val="1C2233"/>
              </a:solidFill>
              <a:latin typeface="メイリオ"/>
              <a:ea typeface="メイリオ"/>
            </a:endParaRPr>
          </a:p>
          <a:p>
            <a:r>
              <a:rPr sz="1200" b="0" dirty="0">
                <a:solidFill>
                  <a:srgbClr val="1C2233"/>
                </a:solidFill>
                <a:latin typeface="メイリオ"/>
                <a:ea typeface="メイリオ"/>
              </a:rPr>
              <a:t>③ </a:t>
            </a:r>
            <a:r>
              <a:rPr sz="1200" b="0" dirty="0" err="1">
                <a:solidFill>
                  <a:srgbClr val="1C2233"/>
                </a:solidFill>
                <a:latin typeface="メイリオ"/>
                <a:ea typeface="メイリオ"/>
              </a:rPr>
              <a:t>検索後＝実行と継続の不安</a:t>
            </a:r>
            <a:endParaRPr sz="1200" b="0" dirty="0">
              <a:solidFill>
                <a:srgbClr val="1C2233"/>
              </a:solidFill>
              <a:latin typeface="メイリオ"/>
              <a:ea typeface="メイリオ"/>
            </a:endParaRPr>
          </a:p>
          <a:p>
            <a:r>
              <a:rPr sz="1200" b="0" dirty="0" err="1">
                <a:solidFill>
                  <a:srgbClr val="1C2233"/>
                </a:solidFill>
                <a:latin typeface="メイリオ"/>
                <a:ea typeface="メイリオ"/>
              </a:rPr>
              <a:t>筋トレ</a:t>
            </a:r>
            <a:r>
              <a:rPr sz="1200" b="0" dirty="0">
                <a:solidFill>
                  <a:srgbClr val="1C2233"/>
                </a:solidFill>
                <a:latin typeface="メイリオ"/>
                <a:ea typeface="メイリオ"/>
              </a:rPr>
              <a:t> </a:t>
            </a:r>
            <a:r>
              <a:rPr sz="1200" b="0" dirty="0" err="1">
                <a:solidFill>
                  <a:srgbClr val="1C2233"/>
                </a:solidFill>
                <a:latin typeface="メイリオ"/>
                <a:ea typeface="メイリオ"/>
              </a:rPr>
              <a:t>効果が出るまで・プロテイン・医療ダイエット</a:t>
            </a:r>
            <a:endParaRPr sz="1200" b="0" dirty="0">
              <a:solidFill>
                <a:srgbClr val="1C2233"/>
              </a:solidFill>
              <a:latin typeface="メイリオ"/>
              <a:ea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8640000" cy="360000"/>
          </a:xfrm>
          <a:prstGeom prst="rect">
            <a:avLst/>
          </a:prstGeom>
          <a:noFill/>
        </p:spPr>
        <p:txBody>
          <a:bodyPr wrap="square" lIns="18000" tIns="0" rIns="18000" bIns="0">
            <a:spAutoFit/>
          </a:bodyPr>
          <a:lstStyle/>
          <a:p>
            <a:r>
              <a:rPr sz="1600" b="1">
                <a:solidFill>
                  <a:srgbClr val="1F2A5C"/>
                </a:solidFill>
                <a:latin typeface="メイリオ"/>
                <a:ea typeface="メイリオ"/>
              </a:rPr>
              <a:t>前後検索（補足）｜ダイエット需要は“医療”へ流出している</a:t>
            </a:r>
          </a:p>
        </p:txBody>
      </p:sp>
      <p:sp>
        <p:nvSpPr>
          <p:cNvPr id="3" name="TextBox 2"/>
          <p:cNvSpPr txBox="1"/>
          <p:nvPr/>
        </p:nvSpPr>
        <p:spPr>
          <a:xfrm>
            <a:off x="385200" y="702000"/>
            <a:ext cx="9133200" cy="288000"/>
          </a:xfrm>
          <a:prstGeom prst="rect">
            <a:avLst/>
          </a:prstGeom>
          <a:noFill/>
        </p:spPr>
        <p:txBody>
          <a:bodyPr wrap="square" lIns="18000" tIns="0" rIns="18000" bIns="0">
            <a:spAutoFit/>
          </a:bodyPr>
          <a:lstStyle/>
          <a:p>
            <a:r>
              <a:rPr sz="1200" b="0">
                <a:solidFill>
                  <a:srgbClr val="646C82"/>
                </a:solidFill>
                <a:latin typeface="メイリオ"/>
                <a:ea typeface="メイリオ"/>
              </a:rPr>
              <a:t>リベルサス・マンジャロ等のGLP-1系KWが巨大クラスタ化。「痩せたい」の受け皿が、運動から薬に移りつつある。</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152000"/>
            <a:ext cx="5400000" cy="3150000"/>
          </a:xfrm>
          <a:prstGeom prst="rect">
            <a:avLst/>
          </a:prstGeom>
        </p:spPr>
      </p:pic>
      <p:sp>
        <p:nvSpPr>
          <p:cNvPr id="5" name="TextBox 4"/>
          <p:cNvSpPr txBox="1"/>
          <p:nvPr/>
        </p:nvSpPr>
        <p:spPr>
          <a:xfrm>
            <a:off x="5976000" y="1224000"/>
            <a:ext cx="3528000" cy="3060000"/>
          </a:xfrm>
          <a:prstGeom prst="rect">
            <a:avLst/>
          </a:prstGeom>
          <a:noFill/>
        </p:spPr>
        <p:txBody>
          <a:bodyPr wrap="square" lIns="18000" tIns="0" rIns="18000" bIns="0">
            <a:spAutoFit/>
          </a:bodyPr>
          <a:lstStyle/>
          <a:p>
            <a:r>
              <a:rPr sz="1200" b="0">
                <a:solidFill>
                  <a:srgbClr val="1C2233"/>
                </a:solidFill>
                <a:latin typeface="メイリオ"/>
                <a:ea typeface="メイリオ"/>
              </a:rPr>
              <a:t>① 検索前＝自力手段の限界</a:t>
            </a:r>
          </a:p>
          <a:p>
            <a:r>
              <a:rPr sz="1200" b="0">
                <a:solidFill>
                  <a:srgbClr val="1C2233"/>
                </a:solidFill>
                <a:latin typeface="メイリオ"/>
                <a:ea typeface="メイリオ"/>
              </a:rPr>
              <a:t>ダイエット薬・サプリ・脂肪冷却・食事メニュー</a:t>
            </a:r>
          </a:p>
          <a:p>
            <a:endParaRPr sz="1200" b="0">
              <a:solidFill>
                <a:srgbClr val="1C2233"/>
              </a:solidFill>
              <a:latin typeface="メイリオ"/>
              <a:ea typeface="メイリオ"/>
            </a:endParaRPr>
          </a:p>
          <a:p>
            <a:r>
              <a:rPr sz="1200" b="0">
                <a:solidFill>
                  <a:srgbClr val="1C2233"/>
                </a:solidFill>
                <a:latin typeface="メイリオ"/>
                <a:ea typeface="メイリオ"/>
              </a:rPr>
              <a:t>② 検索後＝薬の不安と比較</a:t>
            </a:r>
          </a:p>
          <a:p>
            <a:r>
              <a:rPr sz="1200" b="0">
                <a:solidFill>
                  <a:srgbClr val="1C2233"/>
                </a:solidFill>
                <a:latin typeface="メイリオ"/>
                <a:ea typeface="メイリオ"/>
              </a:rPr>
              <a:t>副作用・危険性・保険適用・クリニック比較</a:t>
            </a:r>
          </a:p>
          <a:p>
            <a:endParaRPr sz="1200" b="0">
              <a:solidFill>
                <a:srgbClr val="1C2233"/>
              </a:solidFill>
              <a:latin typeface="メイリオ"/>
              <a:ea typeface="メイリオ"/>
            </a:endParaRPr>
          </a:p>
          <a:p>
            <a:r>
              <a:rPr sz="1200" b="0">
                <a:solidFill>
                  <a:srgbClr val="1C2233"/>
                </a:solidFill>
                <a:latin typeface="メイリオ"/>
                <a:ea typeface="メイリオ"/>
              </a:rPr>
              <a:t>③ ジム提案への含意</a:t>
            </a:r>
          </a:p>
          <a:p>
            <a:r>
              <a:rPr sz="1200" b="0">
                <a:solidFill>
                  <a:srgbClr val="1C2233"/>
                </a:solidFill>
                <a:latin typeface="メイリオ"/>
                <a:ea typeface="メイリオ"/>
              </a:rPr>
              <a:t>「薬に頼らず変わる」訴求＋ビフォーアフター実例が、副作用・リバウンド不安への回答になる</a:t>
            </a:r>
          </a:p>
        </p:txBody>
      </p:sp>
      <p:sp>
        <p:nvSpPr>
          <p:cNvPr id="6" name="TextBox 5"/>
          <p:cNvSpPr txBox="1"/>
          <p:nvPr/>
        </p:nvSpPr>
        <p:spPr>
          <a:xfrm>
            <a:off x="385200" y="4482000"/>
            <a:ext cx="9133200" cy="576000"/>
          </a:xfrm>
          <a:prstGeom prst="rect">
            <a:avLst/>
          </a:prstGeom>
          <a:noFill/>
        </p:spPr>
        <p:txBody>
          <a:bodyPr wrap="square" lIns="18000" tIns="0" rIns="18000" bIns="0">
            <a:spAutoFit/>
          </a:bodyPr>
          <a:lstStyle/>
          <a:p>
            <a:r>
              <a:rPr sz="1200" b="0">
                <a:solidFill>
                  <a:srgbClr val="1C2233"/>
                </a:solidFill>
                <a:latin typeface="メイリオ"/>
                <a:ea typeface="メイリオ"/>
              </a:rPr>
              <a:t>・S13〜14の「ダイエット検索の5年半減」と整合：需要が消えたのではなく、SNS・AI・医療に分散した</a:t>
            </a:r>
          </a:p>
          <a:p>
            <a:r>
              <a:rPr sz="1200" b="0">
                <a:solidFill>
                  <a:srgbClr val="1C2233"/>
                </a:solidFill>
                <a:latin typeface="メイリオ"/>
                <a:ea typeface="メイリオ"/>
              </a:rPr>
              <a:t>・リバウンド・副作用への不安KWが検索後に立つ＝「運動で戻らない体を作る」はデータに裏付けられた切り返しになる</a:t>
            </a: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競合分析｜ジム・フィットネス業界のLINE公式アカウント実態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nvGraphicFramePr>
        <p:xfrm>
          <a:off x="384048" y="1234440"/>
          <a:ext cx="9134856" cy="212600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408176">
                  <a:extLst>
                    <a:ext uri="{9D8B030D-6E8A-4147-A177-3AD203B41FA5}">
                      <a16:colId xmlns:a16="http://schemas.microsoft.com/office/drawing/2014/main" val="20005"/>
                    </a:ext>
                  </a:extLst>
                </a:gridCol>
              </a:tblGrid>
              <a:tr h="320000">
                <a:tc>
                  <a:txBody>
                    <a:bodyPr/>
                    <a:lstStyle/>
                    <a:p>
                      <a:pPr algn="ctr"/>
                      <a:r>
                        <a:rPr sz="1300" b="1">
                          <a:solidFill>
                            <a:srgbClr val="FFFFFF"/>
                          </a:solidFill>
                          <a:latin typeface="メイリオ"/>
                          <a:ea typeface="メイリオ"/>
                        </a:rPr>
                        <a:t>事業者</a:t>
                      </a:r>
                    </a:p>
                  </a:txBody>
                  <a:tcPr marT="18000" marB="18000">
                    <a:solidFill>
                      <a:srgbClr val="1F2A5C"/>
                    </a:solidFill>
                  </a:tcPr>
                </a:tc>
                <a:tc>
                  <a:txBody>
                    <a:bodyPr/>
                    <a:lstStyle/>
                    <a:p>
                      <a:pPr algn="ctr"/>
                      <a:r>
                        <a:rPr sz="1300" b="1">
                          <a:solidFill>
                            <a:srgbClr val="FFFFFF"/>
                          </a:solidFill>
                          <a:latin typeface="メイリオ"/>
                          <a:ea typeface="メイリオ"/>
                        </a:rPr>
                        <a:t>業態</a:t>
                      </a:r>
                    </a:p>
                  </a:txBody>
                  <a:tcPr marT="18000" marB="18000">
                    <a:solidFill>
                      <a:srgbClr val="1F2A5C"/>
                    </a:solidFill>
                  </a:tcPr>
                </a:tc>
                <a:tc>
                  <a:txBody>
                    <a:bodyPr/>
                    <a:lstStyle/>
                    <a:p>
                      <a:pPr algn="ctr"/>
                      <a:r>
                        <a:rPr sz="1300" b="1">
                          <a:solidFill>
                            <a:srgbClr val="FFFFFF"/>
                          </a:solidFill>
                          <a:latin typeface="メイリオ"/>
                          <a:ea typeface="メイリオ"/>
                        </a:rPr>
                        <a:t>友だち数 実測</a:t>
                      </a:r>
                    </a:p>
                  </a:txBody>
                  <a:tcPr marT="18000" marB="18000">
                    <a:solidFill>
                      <a:srgbClr val="1F2A5C"/>
                    </a:solidFill>
                  </a:tcPr>
                </a:tc>
                <a:tc>
                  <a:txBody>
                    <a:bodyPr/>
                    <a:lstStyle/>
                    <a:p>
                      <a:pPr algn="ctr"/>
                      <a:r>
                        <a:rPr sz="1300" b="1">
                          <a:solidFill>
                            <a:srgbClr val="FFFFFF"/>
                          </a:solidFill>
                          <a:latin typeface="メイリオ"/>
                          <a:ea typeface="メイリオ"/>
                        </a:rPr>
                        <a:t>過去値 保存版</a:t>
                      </a:r>
                    </a:p>
                  </a:txBody>
                  <a:tcPr marT="18000" marB="18000">
                    <a:solidFill>
                      <a:srgbClr val="1F2A5C"/>
                    </a:solidFill>
                  </a:tcPr>
                </a:tc>
                <a:tc>
                  <a:txBody>
                    <a:bodyPr/>
                    <a:lstStyle/>
                    <a:p>
                      <a:pPr algn="ctr"/>
                      <a:r>
                        <a:rPr sz="1300" b="1">
                          <a:solidFill>
                            <a:srgbClr val="FFFFFF"/>
                          </a:solidFill>
                          <a:latin typeface="メイリオ"/>
                          <a:ea typeface="メイリオ"/>
                        </a:rPr>
                        <a:t>伸び</a:t>
                      </a:r>
                    </a:p>
                  </a:txBody>
                  <a:tcPr marT="18000" marB="18000">
                    <a:solidFill>
                      <a:srgbClr val="1F2A5C"/>
                    </a:solidFill>
                  </a:tcPr>
                </a:tc>
                <a:tc>
                  <a:txBody>
                    <a:bodyPr/>
                    <a:lstStyle/>
                    <a:p>
                      <a:pPr algn="ctr"/>
                      <a:r>
                        <a:rPr sz="13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258000">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258000">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258000">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258000">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258000">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258000">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258000">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a:solidFill>
                            <a:srgbClr val="1C2233"/>
                          </a:solidFill>
                          <a:latin typeface="メイリオ"/>
                          <a:ea typeface="メイリオ"/>
                        </a:rPr>
                        <a:t>総合クラブ</a:t>
                      </a: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356616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1C2233"/>
                </a:solidFill>
                <a:latin typeface="メイリオ"/>
                <a:ea typeface="メイリオ"/>
              </a:rPr>
              <a:t>① 規模の桁が違う</a:t>
            </a:r>
          </a:p>
          <a:p>
            <a:pPr algn="l">
              <a:spcBef>
                <a:spcPts val="200"/>
              </a:spcBef>
            </a:pPr>
            <a:r>
              <a:rPr sz="1100" b="0">
                <a:solidFill>
                  <a:srgbClr val="1C2233"/>
                </a:solidFill>
                <a:latin typeface="メイリオ"/>
                <a:ea typeface="メイリオ"/>
              </a:rPr>
              <a:t>chocoZAP 2,068万人・カーブス592万人。マス層はすでにLINEを顧客接点のインフラにしている。</a:t>
            </a:r>
          </a:p>
        </p:txBody>
      </p:sp>
      <p:sp>
        <p:nvSpPr>
          <p:cNvPr id="6" name="Rounded Rectangle 5"/>
          <p:cNvSpPr/>
          <p:nvPr/>
        </p:nvSpPr>
        <p:spPr>
          <a:xfrm>
            <a:off x="3383279" y="356616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1C2233"/>
                </a:solidFill>
                <a:latin typeface="メイリオ"/>
                <a:ea typeface="メイリオ"/>
              </a:rPr>
              <a:t>② 24時間ジム勢の分布</a:t>
            </a:r>
          </a:p>
          <a:p>
            <a:pPr algn="l">
              <a:spcBef>
                <a:spcPts val="200"/>
              </a:spcBef>
            </a:pPr>
            <a:r>
              <a:rPr sz="1100" b="0">
                <a:solidFill>
                  <a:srgbClr val="1C2233"/>
                </a:solidFill>
                <a:latin typeface="メイリオ"/>
                <a:ea typeface="メイリオ"/>
              </a:rPr>
              <a:t>エニタイム145万 &gt; FIT PLACE24 91万 &gt; フィットイージー80万。FIT PLACE24は2023年開業＝入会手続きをLINE起点に設計した新興が最短で肉薄。</a:t>
            </a:r>
          </a:p>
        </p:txBody>
      </p:sp>
      <p:sp>
        <p:nvSpPr>
          <p:cNvPr id="7" name="Rounded Rectangle 6"/>
          <p:cNvSpPr/>
          <p:nvPr/>
        </p:nvSpPr>
        <p:spPr>
          <a:xfrm>
            <a:off x="6382512" y="356616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1C2233"/>
                </a:solidFill>
                <a:latin typeface="メイリオ"/>
                <a:ea typeface="メイリオ"/>
              </a:rPr>
              <a:t>③ 保存版で3社の伸びを確認</a:t>
            </a:r>
          </a:p>
          <a:p>
            <a:pPr algn="l">
              <a:spcBef>
                <a:spcPts val="200"/>
              </a:spcBef>
            </a:pPr>
            <a:r>
              <a:rPr sz="1100" b="0">
                <a:solidFill>
                  <a:srgbClr val="1C2233"/>
                </a:solidFill>
                <a:latin typeface="メイリオ"/>
                <a:ea typeface="メイリオ"/>
              </a:rPr>
              <a:t>ティップネス×4.9（22/6比）・カーブス×2.6（24/8比）・フィットイージー×1.6（24/10比）。配信実態は8/31実機調査で確認。</a:t>
            </a:r>
          </a:p>
        </p:txBody>
      </p:sp>
      <p:sp>
        <p:nvSpPr>
          <p:cNvPr id="8" name="Rectangle 7"/>
          <p:cNvSpPr/>
          <p:nvPr/>
        </p:nvSpPr>
        <p:spPr>
          <a:xfrm>
            <a:off x="384048" y="507492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07492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175504"/>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中堅規模で「集める力」と「育てる力」を両立する会社はまだない。だから今から取れる。</a:t>
            </a:r>
          </a:p>
        </p:txBody>
      </p:sp>
      <p:sp>
        <p:nvSpPr>
          <p:cNvPr id="11" name="TextBox 10"/>
          <p:cNvSpPr txBox="1"/>
          <p:nvPr/>
        </p:nvSpPr>
        <p:spPr>
          <a:xfrm>
            <a:off x="384048" y="58064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競合分析｜LINE運用は4つの型に分類できる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集めるのが得意な会社と、育てるのが得意な会社に、はっきり分かれている。</a:t>
            </a:r>
          </a:p>
        </p:txBody>
      </p:sp>
      <p:graphicFrame>
        <p:nvGraphicFramePr>
          <p:cNvPr id="4" name="Table 3"/>
          <p:cNvGraphicFramePr>
            <a:graphicFrameLocks noGrp="1"/>
          </p:cNvGraphicFramePr>
          <p:nvPr/>
        </p:nvGraphicFramePr>
        <p:xfrm>
          <a:off x="384048" y="1234440"/>
          <a:ext cx="9134856" cy="3358896"/>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2276856">
                  <a:extLst>
                    <a:ext uri="{9D8B030D-6E8A-4147-A177-3AD203B41FA5}">
                      <a16:colId xmlns:a16="http://schemas.microsoft.com/office/drawing/2014/main" val="20003"/>
                    </a:ext>
                  </a:extLst>
                </a:gridCol>
              </a:tblGrid>
              <a:tr h="649224">
                <a:tc>
                  <a:txBody>
                    <a:bodyPr/>
                    <a:lstStyle/>
                    <a:p>
                      <a:pPr algn="ctr"/>
                      <a:r>
                        <a:rPr sz="1200" b="1">
                          <a:solidFill>
                            <a:srgbClr val="FFFFFF"/>
                          </a:solidFill>
                          <a:latin typeface="メイリオ"/>
                          <a:ea typeface="メイリオ"/>
                        </a:rPr>
                        <a:t>型</a:t>
                      </a:r>
                    </a:p>
                  </a:txBody>
                  <a:tcPr>
                    <a:solidFill>
                      <a:srgbClr val="1F2A5C"/>
                    </a:solidFill>
                  </a:tcPr>
                </a:tc>
                <a:tc>
                  <a:txBody>
                    <a:bodyPr/>
                    <a:lstStyle/>
                    <a:p>
                      <a:pPr algn="ctr"/>
                      <a:r>
                        <a:rPr sz="1200" b="1">
                          <a:solidFill>
                            <a:srgbClr val="FFFFFF"/>
                          </a:solidFill>
                          <a:latin typeface="メイリオ"/>
                          <a:ea typeface="メイリオ"/>
                        </a:rPr>
                        <a:t>代表アカウント</a:t>
                      </a:r>
                    </a:p>
                  </a:txBody>
                  <a:tcPr>
                    <a:solidFill>
                      <a:srgbClr val="1F2A5C"/>
                    </a:solidFill>
                  </a:tcPr>
                </a:tc>
                <a:tc>
                  <a:txBody>
                    <a:bodyPr/>
                    <a:lstStyle/>
                    <a:p>
                      <a:pPr algn="ctr"/>
                      <a:r>
                        <a:rPr sz="1200" b="1">
                          <a:solidFill>
                            <a:srgbClr val="FFFFFF"/>
                          </a:solidFill>
                          <a:latin typeface="メイリオ"/>
                          <a:ea typeface="メイリオ"/>
                        </a:rPr>
                        <a:t>運用の中身</a:t>
                      </a:r>
                    </a:p>
                  </a:txBody>
                  <a:tcPr>
                    <a:solidFill>
                      <a:srgbClr val="1F2A5C"/>
                    </a:solidFill>
                  </a:tcPr>
                </a:tc>
                <a:tc>
                  <a:txBody>
                    <a:bodyPr/>
                    <a:lstStyle/>
                    <a:p>
                      <a:pPr algn="ctr"/>
                      <a:r>
                        <a:rPr sz="1200" b="1">
                          <a:solidFill>
                            <a:srgbClr val="FFFFFF"/>
                          </a:solidFill>
                          <a:latin typeface="メイリオ"/>
                          <a:ea typeface="メイリオ"/>
                        </a:rPr>
                        <a:t>成果の出方</a:t>
                      </a:r>
                    </a:p>
                  </a:txBody>
                  <a:tcPr>
                    <a:solidFill>
                      <a:srgbClr val="1F2A5C"/>
                    </a:solidFill>
                  </a:tcPr>
                </a:tc>
                <a:extLst>
                  <a:ext uri="{0D108BD9-81ED-4DB2-BD59-A6C34878D82A}">
                    <a16:rowId xmlns:a16="http://schemas.microsoft.com/office/drawing/2014/main" val="10000"/>
                  </a:ext>
                </a:extLst>
              </a:tr>
              <a:tr h="649224">
                <a:tc>
                  <a:txBody>
                    <a:bodyPr/>
                    <a:lstStyle/>
                    <a:p>
                      <a:pPr algn="l"/>
                      <a:r>
                        <a:rPr sz="1100" b="0">
                          <a:solidFill>
                            <a:srgbClr val="1C2233"/>
                          </a:solidFill>
                          <a:latin typeface="メイリオ"/>
                          <a:ea typeface="メイリオ"/>
                        </a:rPr>
                        <a:t>① 入口特化型</a:t>
                      </a:r>
                    </a:p>
                  </a:txBody>
                  <a:tcPr>
                    <a:solidFill>
                      <a:srgbClr val="FFFFFF"/>
                    </a:solidFill>
                  </a:tcPr>
                </a:tc>
                <a:tc>
                  <a:txBody>
                    <a:bodyPr/>
                    <a:lstStyle/>
                    <a:p>
                      <a:pPr algn="ctr"/>
                      <a:r>
                        <a:rPr sz="1100" b="0">
                          <a:solidFill>
                            <a:srgbClr val="1C2233"/>
                          </a:solidFill>
                          <a:latin typeface="メイリオ"/>
                          <a:ea typeface="メイリオ"/>
                        </a:rPr>
                        <a:t>フィットイージー</a:t>
                      </a:r>
                    </a:p>
                  </a:txBody>
                  <a:tcPr>
                    <a:solidFill>
                      <a:srgbClr val="FFFFFF"/>
                    </a:solidFill>
                  </a:tcPr>
                </a:tc>
                <a:tc>
                  <a:txBody>
                    <a:bodyPr/>
                    <a:lstStyle/>
                    <a:p>
                      <a:pPr algn="ctr"/>
                      <a:r>
                        <a:rPr sz="1100" b="0">
                          <a:solidFill>
                            <a:srgbClr val="1C2233"/>
                          </a:solidFill>
                          <a:latin typeface="メイリオ"/>
                          <a:ea typeface="メイリオ"/>
                        </a:rPr>
                        <a:t>リッチメニューに無料体験・店舗見学・店舗検索等を集約した入口特化の設計（実機調査で確認予定）</a:t>
                      </a:r>
                    </a:p>
                  </a:txBody>
                  <a:tcPr>
                    <a:solidFill>
                      <a:srgbClr val="FFFFFF"/>
                    </a:solidFill>
                  </a:tcPr>
                </a:tc>
                <a:tc>
                  <a:txBody>
                    <a:bodyPr/>
                    <a:lstStyle/>
                    <a:p>
                      <a:pPr algn="ctr"/>
                      <a:r>
                        <a:rPr sz="1100" b="0">
                          <a:solidFill>
                            <a:srgbClr val="1C2233"/>
                          </a:solidFill>
                          <a:latin typeface="メイリオ"/>
                          <a:ea typeface="メイリオ"/>
                        </a:rPr>
                        <a:t>80万人規模。公式保存版比×1.6（2024/10→2026/8）で入口設計型の代表格</a:t>
                      </a:r>
                    </a:p>
                  </a:txBody>
                  <a:tcPr>
                    <a:solidFill>
                      <a:srgbClr val="FFFFFF"/>
                    </a:solidFill>
                  </a:tcPr>
                </a:tc>
                <a:extLst>
                  <a:ext uri="{0D108BD9-81ED-4DB2-BD59-A6C34878D82A}">
                    <a16:rowId xmlns:a16="http://schemas.microsoft.com/office/drawing/2014/main" val="10001"/>
                  </a:ext>
                </a:extLst>
              </a:tr>
              <a:tr h="649224">
                <a:tc>
                  <a:txBody>
                    <a:bodyPr/>
                    <a:lstStyle/>
                    <a:p>
                      <a:pPr algn="l"/>
                      <a:r>
                        <a:rPr sz="1100" b="0">
                          <a:solidFill>
                            <a:srgbClr val="1C2233"/>
                          </a:solidFill>
                          <a:latin typeface="メイリオ"/>
                          <a:ea typeface="メイリオ"/>
                        </a:rPr>
                        <a:t>② CRM・会員証型</a:t>
                      </a:r>
                    </a:p>
                  </a:txBody>
                  <a:tcPr>
                    <a:solidFill>
                      <a:srgbClr val="EFF1F7"/>
                    </a:solidFill>
                  </a:tcPr>
                </a:tc>
                <a:tc>
                  <a:txBody>
                    <a:bodyPr/>
                    <a:lstStyle/>
                    <a:p>
                      <a:pPr algn="ctr"/>
                      <a:r>
                        <a:rPr sz="1100" b="0">
                          <a:solidFill>
                            <a:srgbClr val="1C2233"/>
                          </a:solidFill>
                          <a:latin typeface="メイリオ"/>
                          <a:ea typeface="メイリオ"/>
                        </a:rPr>
                        <a:t>ティップネス</a:t>
                      </a:r>
                    </a:p>
                  </a:txBody>
                  <a:tcPr>
                    <a:solidFill>
                      <a:srgbClr val="EFF1F7"/>
                    </a:solidFill>
                  </a:tcPr>
                </a:tc>
                <a:tc>
                  <a:txBody>
                    <a:bodyPr/>
                    <a:lstStyle/>
                    <a:p>
                      <a:pPr algn="ctr"/>
                      <a:r>
                        <a:rPr sz="1100" b="0">
                          <a:solidFill>
                            <a:srgbClr val="1C2233"/>
                          </a:solidFill>
                          <a:latin typeface="メイリオ"/>
                          <a:ea typeface="メイリオ"/>
                        </a:rPr>
                        <a:t>会員コード表示・クーポン・最新情報。友だち追加時に利用規約の許諾を取る設計（実機調査で確認予定）</a:t>
                      </a:r>
                    </a:p>
                  </a:txBody>
                  <a:tcPr>
                    <a:solidFill>
                      <a:srgbClr val="EFF1F7"/>
                    </a:solidFill>
                  </a:tcPr>
                </a:tc>
                <a:tc>
                  <a:txBody>
                    <a:bodyPr/>
                    <a:lstStyle/>
                    <a:p>
                      <a:pPr algn="ctr"/>
                      <a:r>
                        <a:rPr sz="1100" b="0">
                          <a:solidFill>
                            <a:srgbClr val="1C2233"/>
                          </a:solidFill>
                          <a:latin typeface="メイリオ"/>
                          <a:ea typeface="メイリオ"/>
                        </a:rPr>
                        <a:t>26万人。公式保存版比×4.9（2022/6→2026/8）。会員利便で継続に効かせ着実に積み上げ</a:t>
                      </a:r>
                    </a:p>
                  </a:txBody>
                  <a:tcPr>
                    <a:solidFill>
                      <a:srgbClr val="EFF1F7"/>
                    </a:solidFill>
                  </a:tcPr>
                </a:tc>
                <a:extLst>
                  <a:ext uri="{0D108BD9-81ED-4DB2-BD59-A6C34878D82A}">
                    <a16:rowId xmlns:a16="http://schemas.microsoft.com/office/drawing/2014/main" val="10002"/>
                  </a:ext>
                </a:extLst>
              </a:tr>
              <a:tr h="649224">
                <a:tc>
                  <a:txBody>
                    <a:bodyPr/>
                    <a:lstStyle/>
                    <a:p>
                      <a:pPr algn="l"/>
                      <a:r>
                        <a:rPr sz="1100" b="0">
                          <a:solidFill>
                            <a:srgbClr val="1C2233"/>
                          </a:solidFill>
                          <a:latin typeface="メイリオ"/>
                          <a:ea typeface="メイリオ"/>
                        </a:rPr>
                        <a:t>③ ナーチャリング型</a:t>
                      </a:r>
                    </a:p>
                  </a:txBody>
                  <a:tcPr>
                    <a:solidFill>
                      <a:srgbClr val="FFFFFF"/>
                    </a:solidFill>
                  </a:tcPr>
                </a:tc>
                <a:tc>
                  <a:txBody>
                    <a:bodyPr/>
                    <a:lstStyle/>
                    <a:p>
                      <a:pPr algn="ctr"/>
                      <a:r>
                        <a:rPr sz="1100" b="0">
                          <a:solidFill>
                            <a:srgbClr val="1C2233"/>
                          </a:solidFill>
                          <a:latin typeface="メイリオ"/>
                          <a:ea typeface="メイリオ"/>
                        </a:rPr>
                        <a:t>ライザップ
カーブス</a:t>
                      </a:r>
                    </a:p>
                  </a:txBody>
                  <a:tcPr>
                    <a:solidFill>
                      <a:srgbClr val="FFFFFF"/>
                    </a:solidFill>
                  </a:tcPr>
                </a:tc>
                <a:tc>
                  <a:txBody>
                    <a:bodyPr/>
                    <a:lstStyle/>
                    <a:p>
                      <a:pPr algn="ctr"/>
                      <a:r>
                        <a:rPr sz="1100" b="0">
                          <a:solidFill>
                            <a:srgbClr val="1C2233"/>
                          </a:solidFill>
                          <a:latin typeface="メイリオ"/>
                          <a:ea typeface="メイリオ"/>
                        </a:rPr>
                        <a:t>ステップ配信・運動診断・無料カウンセリング誘導（配信実態は実機調査で確認予定）</a:t>
                      </a:r>
                    </a:p>
                  </a:txBody>
                  <a:tcPr>
                    <a:solidFill>
                      <a:srgbClr val="FFFFFF"/>
                    </a:solidFill>
                  </a:tcPr>
                </a:tc>
                <a:tc>
                  <a:txBody>
                    <a:bodyPr/>
                    <a:lstStyle/>
                    <a:p>
                      <a:pPr algn="ctr"/>
                      <a:r>
                        <a:rPr sz="1100" b="0">
                          <a:solidFill>
                            <a:srgbClr val="1C2233"/>
                          </a:solidFill>
                          <a:latin typeface="メイリオ"/>
                          <a:ea typeface="メイリオ"/>
                        </a:rPr>
                        <a:t>カーブス592万人＝保存版比×2.6（2024/8→）・ライザップ非公開。育成×入口の両輪とみられる</a:t>
                      </a:r>
                    </a:p>
                  </a:txBody>
                  <a:tcPr>
                    <a:solidFill>
                      <a:srgbClr val="FFFFFF"/>
                    </a:solidFill>
                  </a:tcPr>
                </a:tc>
                <a:extLst>
                  <a:ext uri="{0D108BD9-81ED-4DB2-BD59-A6C34878D82A}">
                    <a16:rowId xmlns:a16="http://schemas.microsoft.com/office/drawing/2014/main" val="10003"/>
                  </a:ext>
                </a:extLst>
              </a:tr>
              <a:tr h="649224">
                <a:tc>
                  <a:txBody>
                    <a:bodyPr/>
                    <a:lstStyle/>
                    <a:p>
                      <a:pPr algn="l"/>
                      <a:r>
                        <a:rPr sz="1100" b="0">
                          <a:solidFill>
                            <a:srgbClr val="1C2233"/>
                          </a:solidFill>
                          <a:latin typeface="メイリオ"/>
                          <a:ea typeface="メイリオ"/>
                        </a:rPr>
                        <a:t>④ カタログ型</a:t>
                      </a:r>
                    </a:p>
                  </a:txBody>
                  <a:tcPr>
                    <a:solidFill>
                      <a:srgbClr val="EFF1F7"/>
                    </a:solidFill>
                  </a:tcPr>
                </a:tc>
                <a:tc>
                  <a:txBody>
                    <a:bodyPr/>
                    <a:lstStyle/>
                    <a:p>
                      <a:pPr algn="ctr"/>
                      <a:r>
                        <a:rPr sz="1100" b="0">
                          <a:solidFill>
                            <a:srgbClr val="1C2233"/>
                          </a:solidFill>
                          <a:latin typeface="メイリオ"/>
                          <a:ea typeface="メイリオ"/>
                        </a:rPr>
                        <a:t>エニタイムフィットネス</a:t>
                      </a:r>
                    </a:p>
                  </a:txBody>
                  <a:tcPr>
                    <a:solidFill>
                      <a:srgbClr val="EFF1F7"/>
                    </a:solidFill>
                  </a:tcPr>
                </a:tc>
                <a:tc>
                  <a:txBody>
                    <a:bodyPr/>
                    <a:lstStyle/>
                    <a:p>
                      <a:pPr algn="ctr"/>
                      <a:r>
                        <a:rPr sz="1100" b="0">
                          <a:solidFill>
                            <a:srgbClr val="1C2233"/>
                          </a:solidFill>
                          <a:latin typeface="メイリオ"/>
                          <a:ea typeface="メイリオ"/>
                        </a:rPr>
                        <a:t>公式サイト・WEBマガジン・店舗検索が中心のカタログ構成（実機調査で確認予定）</a:t>
                      </a:r>
                    </a:p>
                  </a:txBody>
                  <a:tcPr>
                    <a:solidFill>
                      <a:srgbClr val="EFF1F7"/>
                    </a:solidFill>
                  </a:tcPr>
                </a:tc>
                <a:tc>
                  <a:txBody>
                    <a:bodyPr/>
                    <a:lstStyle/>
                    <a:p>
                      <a:pPr algn="ctr"/>
                      <a:r>
                        <a:rPr sz="1100" b="0">
                          <a:solidFill>
                            <a:srgbClr val="1C2233"/>
                          </a:solidFill>
                          <a:latin typeface="メイリオ"/>
                          <a:ea typeface="メイリオ"/>
                        </a:rPr>
                        <a:t>145万人。規模はあるが友だちになる理由（特典・診断）が薄い</a:t>
                      </a:r>
                    </a:p>
                  </a:txBody>
                  <a:tcPr>
                    <a:solidFill>
                      <a:srgbClr val="EFF1F7"/>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84048" y="480060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 y="480060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901184"/>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目指すのは ①入口 × ③育成 × ②継続 の三点セット。どれか1つだけでは必ず頭打ちになる。</a:t>
            </a:r>
          </a:p>
        </p:txBody>
      </p:sp>
      <p:sp>
        <p:nvSpPr>
          <p:cNvPr id="8" name="TextBox 7"/>
          <p:cNvSpPr txBox="1"/>
          <p:nvPr/>
        </p:nvSpPr>
        <p:spPr>
          <a:xfrm>
            <a:off x="384048" y="58064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型分類は各社公式アカウントの公開画面に基づく整理。配信実態・増加率は実機調査（8/31）と公式ページ保存版で確定します。出典：page.line.me（2026/8/17実測）。</a:t>
            </a:r>
          </a:p>
        </p:txBody>
      </p:sp>
    </p:spTree>
    <p:extLst>
      <p:ext uri="{BB962C8B-B14F-4D97-AF65-F5344CB8AC3E}">
        <p14:creationId xmlns:p14="http://schemas.microsoft.com/office/powerpoint/2010/main" val="435431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競合分析｜各社のリッチメニュー・あいさつメッセージ</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実機の画面を並べると、型の違いが一目で伝わる。</a:t>
            </a:r>
          </a:p>
        </p:txBody>
      </p:sp>
      <p:sp>
        <p:nvSpPr>
          <p:cNvPr id="4" name="Rounded Rectangle 3"/>
          <p:cNvSpPr/>
          <p:nvPr/>
        </p:nvSpPr>
        <p:spPr>
          <a:xfrm>
            <a:off x="3840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フィットイージー</a:t>
            </a:r>
          </a:p>
        </p:txBody>
      </p:sp>
      <p:sp>
        <p:nvSpPr>
          <p:cNvPr id="5" name="Rectangle 4"/>
          <p:cNvSpPr/>
          <p:nvPr/>
        </p:nvSpPr>
        <p:spPr>
          <a:xfrm>
            <a:off x="3840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6" name="Rounded Rectangle 5"/>
          <p:cNvSpPr/>
          <p:nvPr/>
        </p:nvSpPr>
        <p:spPr>
          <a:xfrm>
            <a:off x="3840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1C2233"/>
                </a:solidFill>
                <a:latin typeface="メイリオ"/>
                <a:ea typeface="メイリオ"/>
              </a:rPr>
              <a:t>入口8区画・配信なし</a:t>
            </a:r>
          </a:p>
        </p:txBody>
      </p:sp>
      <p:sp>
        <p:nvSpPr>
          <p:cNvPr id="7" name="Rounded Rectangle 6"/>
          <p:cNvSpPr/>
          <p:nvPr/>
        </p:nvSpPr>
        <p:spPr>
          <a:xfrm>
            <a:off x="22128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ティップネス</a:t>
            </a:r>
          </a:p>
        </p:txBody>
      </p:sp>
      <p:sp>
        <p:nvSpPr>
          <p:cNvPr id="8" name="Rectangle 7"/>
          <p:cNvSpPr/>
          <p:nvPr/>
        </p:nvSpPr>
        <p:spPr>
          <a:xfrm>
            <a:off x="22128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9" name="Rounded Rectangle 8"/>
          <p:cNvSpPr/>
          <p:nvPr/>
        </p:nvSpPr>
        <p:spPr>
          <a:xfrm>
            <a:off x="22128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1C2233"/>
                </a:solidFill>
                <a:latin typeface="メイリオ"/>
                <a:ea typeface="メイリオ"/>
              </a:rPr>
              <a:t>会員証＋利用規約の許諾</a:t>
            </a:r>
          </a:p>
        </p:txBody>
      </p:sp>
      <p:sp>
        <p:nvSpPr>
          <p:cNvPr id="10" name="Rounded Rectangle 9"/>
          <p:cNvSpPr/>
          <p:nvPr/>
        </p:nvSpPr>
        <p:spPr>
          <a:xfrm>
            <a:off x="40416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ライザップ</a:t>
            </a:r>
          </a:p>
        </p:txBody>
      </p:sp>
      <p:sp>
        <p:nvSpPr>
          <p:cNvPr id="11" name="Rectangle 10"/>
          <p:cNvSpPr/>
          <p:nvPr/>
        </p:nvSpPr>
        <p:spPr>
          <a:xfrm>
            <a:off x="40416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公式ページ非公開</a:t>
            </a:r>
          </a:p>
          <a:p>
            <a:pPr algn="ctr">
              <a:spcBef>
                <a:spcPts val="200"/>
              </a:spcBef>
            </a:pPr>
            <a:endParaRPr sz="1000" b="0">
              <a:solidFill>
                <a:srgbClr val="646C82"/>
              </a:solidFill>
              <a:latin typeface="メイリオ"/>
              <a:ea typeface="メイリオ"/>
            </a:endParaRPr>
          </a:p>
          <a:p>
            <a:pPr algn="ctr">
              <a:spcBef>
                <a:spcPts val="200"/>
              </a:spcBef>
            </a:pPr>
            <a:r>
              <a:rPr sz="1000" b="0">
                <a:solidFill>
                  <a:srgbClr val="646C82"/>
                </a:solidFill>
                <a:latin typeface="メイリオ"/>
                <a:ea typeface="メイリオ"/>
              </a:rPr>
              <a:t>実機トーク・リッチメニューは</a:t>
            </a:r>
          </a:p>
          <a:p>
            <a:pPr algn="ctr">
              <a:spcBef>
                <a:spcPts val="200"/>
              </a:spcBef>
            </a:pPr>
            <a:r>
              <a:rPr sz="1000" b="0">
                <a:solidFill>
                  <a:srgbClr val="646C82"/>
                </a:solidFill>
                <a:latin typeface="メイリオ"/>
                <a:ea typeface="メイリオ"/>
              </a:rPr>
              <a:t>8/31の実機調査で取得</a:t>
            </a:r>
          </a:p>
        </p:txBody>
      </p:sp>
      <p:sp>
        <p:nvSpPr>
          <p:cNvPr id="12" name="Rounded Rectangle 11"/>
          <p:cNvSpPr/>
          <p:nvPr/>
        </p:nvSpPr>
        <p:spPr>
          <a:xfrm>
            <a:off x="40416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1C2233"/>
                </a:solidFill>
                <a:latin typeface="メイリオ"/>
                <a:ea typeface="メイリオ"/>
              </a:rPr>
              <a:t>月14通・毎回別クリエイティブ</a:t>
            </a:r>
          </a:p>
        </p:txBody>
      </p:sp>
      <p:sp>
        <p:nvSpPr>
          <p:cNvPr id="13" name="Rounded Rectangle 12"/>
          <p:cNvSpPr/>
          <p:nvPr/>
        </p:nvSpPr>
        <p:spPr>
          <a:xfrm>
            <a:off x="58704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カーブス</a:t>
            </a:r>
          </a:p>
        </p:txBody>
      </p:sp>
      <p:sp>
        <p:nvSpPr>
          <p:cNvPr id="14" name="Rectangle 13"/>
          <p:cNvSpPr/>
          <p:nvPr/>
        </p:nvSpPr>
        <p:spPr>
          <a:xfrm>
            <a:off x="58704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15" name="Rounded Rectangle 14"/>
          <p:cNvSpPr/>
          <p:nvPr/>
        </p:nvSpPr>
        <p:spPr>
          <a:xfrm>
            <a:off x="58704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1C2233"/>
                </a:solidFill>
                <a:latin typeface="メイリオ"/>
                <a:ea typeface="メイリオ"/>
              </a:rPr>
              <a:t>6通ステップ＋運動診断</a:t>
            </a:r>
          </a:p>
        </p:txBody>
      </p:sp>
      <p:sp>
        <p:nvSpPr>
          <p:cNvPr id="16" name="Rounded Rectangle 15"/>
          <p:cNvSpPr/>
          <p:nvPr/>
        </p:nvSpPr>
        <p:spPr>
          <a:xfrm>
            <a:off x="7699248" y="1234440"/>
            <a:ext cx="1691640" cy="40233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1">
                <a:solidFill>
                  <a:srgbClr val="FFFFFF"/>
                </a:solidFill>
                <a:latin typeface="メイリオ"/>
                <a:ea typeface="メイリオ"/>
              </a:rPr>
              <a:t>エニタイムフィットネス</a:t>
            </a:r>
          </a:p>
        </p:txBody>
      </p:sp>
      <p:sp>
        <p:nvSpPr>
          <p:cNvPr id="17" name="Rectangle 16"/>
          <p:cNvSpPr/>
          <p:nvPr/>
        </p:nvSpPr>
        <p:spPr>
          <a:xfrm>
            <a:off x="7699248" y="1636776"/>
            <a:ext cx="1691640" cy="2788920"/>
          </a:xfrm>
          <a:prstGeom prst="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b"/>
          <a:lstStyle/>
          <a:p>
            <a:pPr algn="ctr"/>
            <a:r>
              <a:rPr sz="1000" b="0">
                <a:solidFill>
                  <a:srgbClr val="646C82"/>
                </a:solidFill>
                <a:latin typeface="メイリオ"/>
                <a:ea typeface="メイリオ"/>
              </a:rPr>
              <a:t>▧ 実機トーク画面 差込予定</a:t>
            </a:r>
          </a:p>
        </p:txBody>
      </p:sp>
      <p:sp>
        <p:nvSpPr>
          <p:cNvPr id="18" name="Rounded Rectangle 17"/>
          <p:cNvSpPr/>
          <p:nvPr/>
        </p:nvSpPr>
        <p:spPr>
          <a:xfrm>
            <a:off x="7699248" y="4480560"/>
            <a:ext cx="1691640" cy="548640"/>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1C2233"/>
                </a:solidFill>
                <a:latin typeface="メイリオ"/>
                <a:ea typeface="メイリオ"/>
              </a:rPr>
              <a:t>カタログ型・配信なし</a:t>
            </a:r>
          </a:p>
        </p:txBody>
      </p:sp>
      <p:sp>
        <p:nvSpPr>
          <p:cNvPr id="19" name="Rectangle 18"/>
          <p:cNvSpPr/>
          <p:nvPr/>
        </p:nvSpPr>
        <p:spPr>
          <a:xfrm>
            <a:off x="384048" y="5257800"/>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29768" y="5257800"/>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5358384"/>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プロフィール画面（友だち数）は4社実測済み（2026/8/17-18）。ライザップは公式ページ非公開。実機トーク・リッチメニューは調査用アカウントで取得し、社内確認のうえ最終版に反映します。</a:t>
            </a:r>
          </a:p>
        </p:txBody>
      </p:sp>
      <p:sp>
        <p:nvSpPr>
          <p:cNvPr id="22" name="TextBox 21"/>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撮影対象：リッチメニュー全体／友だち追加直後のあいさつメッセージ／2週間分の配信トーク画面。</a:t>
            </a:r>
          </a:p>
        </p:txBody>
      </p:sp>
      <p:pic>
        <p:nvPicPr>
          <p:cNvPr id="23" name="Picture 22" descr="pageline_fiteasy_crop.png"/>
          <p:cNvPicPr>
            <a:picLocks noChangeAspect="1"/>
          </p:cNvPicPr>
          <p:nvPr/>
        </p:nvPicPr>
        <p:blipFill>
          <a:blip r:embed="rId2"/>
          <a:stretch>
            <a:fillRect/>
          </a:stretch>
        </p:blipFill>
        <p:spPr>
          <a:xfrm>
            <a:off x="384048" y="1636776"/>
            <a:ext cx="1692000" cy="1833000"/>
          </a:xfrm>
          <a:prstGeom prst="rect">
            <a:avLst/>
          </a:prstGeom>
        </p:spPr>
      </p:pic>
      <p:sp>
        <p:nvSpPr>
          <p:cNvPr id="24" name="TextBox 23"/>
          <p:cNvSpPr txBox="1"/>
          <p:nvPr/>
        </p:nvSpPr>
        <p:spPr>
          <a:xfrm>
            <a:off x="384048" y="3469776"/>
            <a:ext cx="1692000" cy="324000"/>
          </a:xfrm>
          <a:prstGeom prst="rect">
            <a:avLst/>
          </a:prstGeom>
          <a:noFill/>
        </p:spPr>
        <p:txBody>
          <a:bodyPr wrap="square" lIns="18000" tIns="0" rIns="18000" bIns="0">
            <a:spAutoFit/>
          </a:bodyPr>
          <a:lstStyle/>
          <a:p>
            <a:r>
              <a:rPr sz="800">
                <a:solidFill>
                  <a:srgbClr val="404040"/>
                </a:solidFill>
                <a:latin typeface="メイリオ"/>
                <a:ea typeface="メイリオ"/>
              </a:rPr>
              <a:t>実測 2026/8/17</a:t>
            </a:r>
          </a:p>
          <a:p>
            <a:r>
              <a:rPr sz="800">
                <a:solidFill>
                  <a:srgbClr val="404040"/>
                </a:solidFill>
                <a:latin typeface="メイリオ"/>
                <a:ea typeface="メイリオ"/>
              </a:rPr>
              <a:t>友だち 802,620人</a:t>
            </a:r>
          </a:p>
        </p:txBody>
      </p:sp>
      <p:pic>
        <p:nvPicPr>
          <p:cNvPr id="25" name="Picture 24" descr="pageline_tipness_crop.png"/>
          <p:cNvPicPr>
            <a:picLocks noChangeAspect="1"/>
          </p:cNvPicPr>
          <p:nvPr/>
        </p:nvPicPr>
        <p:blipFill>
          <a:blip r:embed="rId3"/>
          <a:stretch>
            <a:fillRect/>
          </a:stretch>
        </p:blipFill>
        <p:spPr>
          <a:xfrm>
            <a:off x="2212848" y="1636776"/>
            <a:ext cx="1692000" cy="1833000"/>
          </a:xfrm>
          <a:prstGeom prst="rect">
            <a:avLst/>
          </a:prstGeom>
        </p:spPr>
      </p:pic>
      <p:sp>
        <p:nvSpPr>
          <p:cNvPr id="26" name="TextBox 25"/>
          <p:cNvSpPr txBox="1"/>
          <p:nvPr/>
        </p:nvSpPr>
        <p:spPr>
          <a:xfrm>
            <a:off x="2212848" y="3469776"/>
            <a:ext cx="1692000" cy="324000"/>
          </a:xfrm>
          <a:prstGeom prst="rect">
            <a:avLst/>
          </a:prstGeom>
          <a:noFill/>
        </p:spPr>
        <p:txBody>
          <a:bodyPr wrap="square" lIns="18000" tIns="0" rIns="18000" bIns="0">
            <a:spAutoFit/>
          </a:bodyPr>
          <a:lstStyle/>
          <a:p>
            <a:r>
              <a:rPr sz="800">
                <a:solidFill>
                  <a:srgbClr val="404040"/>
                </a:solidFill>
                <a:latin typeface="メイリオ"/>
                <a:ea typeface="メイリオ"/>
              </a:rPr>
              <a:t>実測 2026/8/17</a:t>
            </a:r>
          </a:p>
          <a:p>
            <a:r>
              <a:rPr sz="800">
                <a:solidFill>
                  <a:srgbClr val="404040"/>
                </a:solidFill>
                <a:latin typeface="メイリオ"/>
                <a:ea typeface="メイリオ"/>
              </a:rPr>
              <a:t>友だち 262,502人</a:t>
            </a:r>
          </a:p>
        </p:txBody>
      </p:sp>
      <p:sp>
        <p:nvSpPr>
          <p:cNvPr id="28" name="TextBox 27"/>
          <p:cNvSpPr txBox="1"/>
          <p:nvPr/>
        </p:nvSpPr>
        <p:spPr>
          <a:xfrm>
            <a:off x="5870448" y="3469776"/>
            <a:ext cx="1692000" cy="396000"/>
          </a:xfrm>
          <a:prstGeom prst="rect">
            <a:avLst/>
          </a:prstGeom>
          <a:noFill/>
        </p:spPr>
        <p:txBody>
          <a:bodyPr wrap="square" lIns="18000" tIns="0" rIns="18000" bIns="0">
            <a:spAutoFit/>
          </a:bodyPr>
          <a:lstStyle/>
          <a:p>
            <a:r>
              <a:rPr sz="1000">
                <a:solidFill>
                  <a:srgbClr val="404040"/>
                </a:solidFill>
                <a:latin typeface="メイリオ"/>
              </a:rPr>
              <a:t>実測 2026/8/18</a:t>
            </a:r>
          </a:p>
          <a:p>
            <a:r>
              <a:rPr sz="1000">
                <a:solidFill>
                  <a:srgbClr val="404040"/>
                </a:solidFill>
                <a:latin typeface="メイリオ"/>
              </a:rPr>
              <a:t>友だち 5,921,571人</a:t>
            </a:r>
          </a:p>
        </p:txBody>
      </p:sp>
      <p:pic>
        <p:nvPicPr>
          <p:cNvPr id="29" name="Picture 28" descr="pageline_anytime_frame.png"/>
          <p:cNvPicPr>
            <a:picLocks noChangeAspect="1"/>
          </p:cNvPicPr>
          <p:nvPr/>
        </p:nvPicPr>
        <p:blipFill>
          <a:blip r:embed="rId4"/>
          <a:stretch>
            <a:fillRect/>
          </a:stretch>
        </p:blipFill>
        <p:spPr>
          <a:xfrm>
            <a:off x="7699248" y="1636776"/>
            <a:ext cx="1692000" cy="1833000"/>
          </a:xfrm>
          <a:prstGeom prst="rect">
            <a:avLst/>
          </a:prstGeom>
        </p:spPr>
      </p:pic>
      <p:sp>
        <p:nvSpPr>
          <p:cNvPr id="30" name="TextBox 29"/>
          <p:cNvSpPr txBox="1"/>
          <p:nvPr/>
        </p:nvSpPr>
        <p:spPr>
          <a:xfrm>
            <a:off x="7699248" y="3469776"/>
            <a:ext cx="1692000" cy="396000"/>
          </a:xfrm>
          <a:prstGeom prst="rect">
            <a:avLst/>
          </a:prstGeom>
          <a:noFill/>
        </p:spPr>
        <p:txBody>
          <a:bodyPr wrap="square" lIns="18000" tIns="0" rIns="18000" bIns="0">
            <a:spAutoFit/>
          </a:bodyPr>
          <a:lstStyle/>
          <a:p>
            <a:r>
              <a:rPr sz="1000">
                <a:solidFill>
                  <a:srgbClr val="404040"/>
                </a:solidFill>
                <a:latin typeface="メイリオ"/>
              </a:rPr>
              <a:t>実測 2026/8/18</a:t>
            </a:r>
          </a:p>
          <a:p>
            <a:r>
              <a:rPr sz="1000">
                <a:solidFill>
                  <a:srgbClr val="404040"/>
                </a:solidFill>
                <a:latin typeface="メイリオ"/>
              </a:rPr>
              <a:t>友だち 1,453,414人</a:t>
            </a:r>
          </a:p>
        </p:txBody>
      </p:sp>
      <p:pic>
        <p:nvPicPr>
          <p:cNvPr id="31" name="Picture 30" descr="pageline_curves_frame.png"/>
          <p:cNvPicPr>
            <a:picLocks noChangeAspect="1"/>
          </p:cNvPicPr>
          <p:nvPr/>
        </p:nvPicPr>
        <p:blipFill>
          <a:blip r:embed="rId5"/>
          <a:stretch>
            <a:fillRect/>
          </a:stretch>
        </p:blipFill>
        <p:spPr>
          <a:xfrm>
            <a:off x="5870448" y="1636776"/>
            <a:ext cx="1692000" cy="1833000"/>
          </a:xfrm>
          <a:prstGeom prst="rect">
            <a:avLst/>
          </a:prstGeom>
        </p:spPr>
      </p:pic>
    </p:spTree>
    <p:extLst>
      <p:ext uri="{BB962C8B-B14F-4D97-AF65-F5344CB8AC3E}">
        <p14:creationId xmlns:p14="http://schemas.microsoft.com/office/powerpoint/2010/main" val="153212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Tree>
    <p:extLst>
      <p:ext uri="{BB962C8B-B14F-4D97-AF65-F5344CB8AC3E}">
        <p14:creationId xmlns:p14="http://schemas.microsoft.com/office/powerpoint/2010/main" val="406932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908427" y="4993039"/>
            <a:ext cx="129268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50" b="0" dirty="0">
                <a:solidFill>
                  <a:srgbClr val="FFFFFF"/>
                </a:solidFill>
                <a:latin typeface="メイリオ"/>
                <a:ea typeface="メイリオ"/>
              </a:rPr>
              <a:t>離脱防止で</a:t>
            </a:r>
            <a:r>
              <a:rPr lang="en-US" altLang="ja-JP" sz="850" b="0" dirty="0">
                <a:solidFill>
                  <a:srgbClr val="FFFFFF"/>
                </a:solidFill>
                <a:latin typeface="メイリオ"/>
                <a:ea typeface="メイリオ"/>
              </a:rPr>
              <a:t>…</a:t>
            </a:r>
            <a:r>
              <a:rPr lang="ja-JP" altLang="en-US" sz="850" b="0" dirty="0">
                <a:solidFill>
                  <a:srgbClr val="FFFFFF"/>
                </a:solidFill>
                <a:latin typeface="メイリオ"/>
                <a:ea typeface="メイリオ"/>
              </a:rPr>
              <a:t>。</a:t>
            </a:r>
            <a:endParaRPr lang="en-US" altLang="ja-JP" sz="850" b="0" dirty="0">
              <a:solidFill>
                <a:srgbClr val="FFFFFF"/>
              </a:solidFill>
              <a:latin typeface="メイリオ"/>
              <a:ea typeface="メイリオ"/>
            </a:endParaRPr>
          </a:p>
          <a:p>
            <a:pPr algn="ctr"/>
            <a:endParaRPr lang="en-US" altLang="ja-JP" sz="850" b="0" dirty="0">
              <a:solidFill>
                <a:srgbClr val="FFFFFF"/>
              </a:solidFill>
              <a:latin typeface="メイリオ"/>
              <a:ea typeface="メイリオ"/>
            </a:endParaRPr>
          </a:p>
          <a:p>
            <a:pPr algn="ctr"/>
            <a:r>
              <a:rPr lang="ja-JP" altLang="en-US" sz="850" dirty="0">
                <a:solidFill>
                  <a:srgbClr val="FFFFFF"/>
                </a:solidFill>
                <a:latin typeface="メイリオ"/>
                <a:ea typeface="メイリオ"/>
              </a:rPr>
              <a:t>会員のビフォーアフター</a:t>
            </a:r>
            <a:endParaRPr lang="en-US" altLang="ja-JP" sz="850" b="0" dirty="0">
              <a:solidFill>
                <a:srgbClr val="FFFFFF"/>
              </a:solidFill>
              <a:latin typeface="メイリオ"/>
              <a:ea typeface="メイリオ"/>
            </a:endParaRPr>
          </a:p>
          <a:p>
            <a:pPr algn="ctr"/>
            <a:r>
              <a:rPr lang="ja-JP" altLang="en-US" sz="850" dirty="0">
                <a:solidFill>
                  <a:srgbClr val="FFFFFF"/>
                </a:solidFill>
                <a:latin typeface="メイリオ"/>
                <a:ea typeface="メイリオ"/>
              </a:rPr>
              <a:t>「会員の声・3ヶ月後の変化」</a:t>
            </a:r>
            <a:endParaRPr lang="en-US" sz="85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29268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dirty="0">
                <a:solidFill>
                  <a:srgbClr val="FFFFFF"/>
                </a:solidFill>
                <a:latin typeface="メイリオ"/>
                <a:ea typeface="メイリオ"/>
              </a:rPr>
              <a:t>この機会に</a:t>
            </a:r>
            <a:endParaRPr lang="en-US" altLang="ja-JP" sz="900" dirty="0">
              <a:solidFill>
                <a:srgbClr val="FFFFFF"/>
              </a:solidFill>
              <a:latin typeface="メイリオ"/>
              <a:ea typeface="メイリオ"/>
            </a:endParaRPr>
          </a:p>
          <a:p>
            <a:pPr algn="ctr"/>
            <a:r>
              <a:rPr lang="en-US" altLang="ja-JP" sz="9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050" b="1" dirty="0">
                <a:solidFill>
                  <a:srgbClr val="FFFFFF"/>
                </a:solidFill>
                <a:latin typeface="メイリオ"/>
                <a:ea typeface="メイリオ"/>
              </a:rPr>
              <a:t>2</a:t>
            </a:r>
            <a:r>
              <a:rPr sz="1050" b="1" dirty="0">
                <a:solidFill>
                  <a:srgbClr val="FFFFFF"/>
                </a:solidFill>
                <a:latin typeface="メイリオ"/>
                <a:ea typeface="メイリオ"/>
              </a:rPr>
              <a:t>日目</a:t>
            </a:r>
          </a:p>
          <a:p>
            <a:pPr algn="ctr"/>
            <a:endParaRPr sz="1050" b="1" dirty="0">
              <a:solidFill>
                <a:srgbClr val="FFFFFF"/>
              </a:solidFill>
              <a:latin typeface="メイリオ"/>
              <a:ea typeface="メイリオ"/>
            </a:endParaRPr>
          </a:p>
          <a:p>
            <a:pPr algn="ctr"/>
            <a:r>
              <a:rPr lang="ja-JP" altLang="en-US" sz="850" b="0" dirty="0">
                <a:solidFill>
                  <a:srgbClr val="FFFFFF"/>
                </a:solidFill>
                <a:latin typeface="メイリオ"/>
                <a:ea typeface="メイリオ"/>
              </a:rPr>
              <a:t>ジム選びで失敗しやすい</a:t>
            </a:r>
            <a:endParaRPr lang="en-US" altLang="ja-JP" sz="850" b="0" dirty="0">
              <a:solidFill>
                <a:srgbClr val="FFFFFF"/>
              </a:solidFill>
              <a:latin typeface="メイリオ"/>
              <a:ea typeface="メイリオ"/>
            </a:endParaRPr>
          </a:p>
          <a:p>
            <a:pPr algn="ctr"/>
            <a:r>
              <a:rPr lang="ja-JP" altLang="en-US" sz="850" b="0" dirty="0">
                <a:solidFill>
                  <a:srgbClr val="FFFFFF"/>
                </a:solidFill>
                <a:latin typeface="メイリオ"/>
                <a:ea typeface="メイリオ"/>
              </a:rPr>
              <a:t>ポイント（啓蒙）</a:t>
            </a:r>
            <a:endParaRPr sz="85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ea typeface="メイリオ"/>
              </a:rPr>
              <a:t>４</a:t>
            </a:r>
            <a:r>
              <a:rPr sz="1050" b="1" dirty="0" err="1">
                <a:solidFill>
                  <a:srgbClr val="FFFFFF"/>
                </a:solidFill>
                <a:latin typeface="メイリオ"/>
                <a:ea typeface="メイリオ"/>
              </a:rPr>
              <a:t>日目</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85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ea typeface="メイリオ"/>
              </a:rPr>
              <a:t>５</a:t>
            </a:r>
            <a:r>
              <a:rPr sz="1050" b="1" dirty="0" err="1">
                <a:solidFill>
                  <a:srgbClr val="FFFFFF"/>
                </a:solidFill>
                <a:latin typeface="メイリオ"/>
                <a:ea typeface="メイリオ"/>
              </a:rPr>
              <a:t>日目</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lang="ja-JP" altLang="en-US" sz="850" b="0" dirty="0">
                <a:solidFill>
                  <a:srgbClr val="FFFFFF"/>
                </a:solidFill>
                <a:latin typeface="メイリオ"/>
                <a:ea typeface="メイリオ"/>
              </a:rPr>
              <a:t>入会金無料キャンペーン中</a:t>
            </a:r>
            <a:endParaRPr lang="en-US" altLang="ja-JP" sz="850" b="0" dirty="0">
              <a:solidFill>
                <a:srgbClr val="FFFFFF"/>
              </a:solidFill>
              <a:latin typeface="メイリオ"/>
              <a:ea typeface="メイリオ"/>
            </a:endParaRPr>
          </a:p>
          <a:p>
            <a:pPr algn="ctr"/>
            <a:r>
              <a:rPr lang="ja-JP" altLang="en-US" sz="850" b="0" dirty="0">
                <a:solidFill>
                  <a:srgbClr val="FFFFFF"/>
                </a:solidFill>
                <a:latin typeface="メイリオ"/>
                <a:ea typeface="メイリオ"/>
              </a:rPr>
              <a:t>体験特典のご案内</a:t>
            </a:r>
            <a:endParaRPr sz="85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050" b="1" dirty="0">
                <a:solidFill>
                  <a:srgbClr val="FFFFFF"/>
                </a:solidFill>
                <a:latin typeface="メイリオ"/>
                <a:ea typeface="メイリオ"/>
              </a:rPr>
              <a:t>8</a:t>
            </a:r>
            <a:r>
              <a:rPr sz="1050" b="1" dirty="0">
                <a:solidFill>
                  <a:srgbClr val="FFFFFF"/>
                </a:solidFill>
                <a:latin typeface="メイリオ"/>
                <a:ea typeface="メイリオ"/>
              </a:rPr>
              <a:t>日目〜</a:t>
            </a:r>
          </a:p>
          <a:p>
            <a:pPr algn="ctr"/>
            <a:endParaRPr sz="1050" b="1" dirty="0">
              <a:solidFill>
                <a:srgbClr val="FFFFFF"/>
              </a:solidFill>
              <a:latin typeface="メイリオ"/>
              <a:ea typeface="メイリオ"/>
            </a:endParaRPr>
          </a:p>
          <a:p>
            <a:pPr algn="ctr"/>
            <a:r>
              <a:rPr lang="ja-JP" altLang="en-US" sz="850" b="0" dirty="0">
                <a:solidFill>
                  <a:srgbClr val="FFFFFF"/>
                </a:solidFill>
                <a:latin typeface="メイリオ"/>
                <a:ea typeface="メイリオ"/>
              </a:rPr>
              <a:t>期間限定の入会特典</a:t>
            </a:r>
            <a:endParaRPr lang="en-US" altLang="ja-JP" sz="850" b="0" dirty="0">
              <a:solidFill>
                <a:srgbClr val="FFFFFF"/>
              </a:solidFill>
              <a:latin typeface="メイリオ"/>
              <a:ea typeface="メイリオ"/>
            </a:endParaRPr>
          </a:p>
          <a:p>
            <a:pPr algn="ctr"/>
            <a:r>
              <a:rPr lang="ja-JP" altLang="en-US" sz="850" b="0" dirty="0">
                <a:solidFill>
                  <a:srgbClr val="FFFFFF"/>
                </a:solidFill>
                <a:latin typeface="メイリオ"/>
                <a:ea typeface="メイリオ"/>
              </a:rPr>
              <a:t>事務手数料0円・特典UP</a:t>
            </a:r>
            <a:endParaRPr sz="85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902792" y="6022295"/>
            <a:ext cx="1292685"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50" b="0" dirty="0">
                <a:solidFill>
                  <a:schemeClr val="tx1"/>
                </a:solidFill>
                <a:latin typeface="メイリオ" panose="020B0604030504040204" pitchFamily="50" charset="-128"/>
                <a:ea typeface="メイリオ" panose="020B0604030504040204" pitchFamily="50" charset="-128"/>
              </a:rPr>
              <a:t>実例を見て</a:t>
            </a:r>
            <a:endParaRPr lang="en-US" altLang="ja-JP" sz="850" b="0" dirty="0">
              <a:solidFill>
                <a:schemeClr val="tx1"/>
              </a:solidFill>
              <a:latin typeface="メイリオ" panose="020B0604030504040204" pitchFamily="50" charset="-128"/>
              <a:ea typeface="メイリオ" panose="020B0604030504040204" pitchFamily="50" charset="-128"/>
            </a:endParaRPr>
          </a:p>
          <a:p>
            <a:pPr algn="ctr"/>
            <a:r>
              <a:rPr lang="ja-JP" altLang="en-US" sz="85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85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292685"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800" b="1" dirty="0">
              <a:solidFill>
                <a:schemeClr val="tx1"/>
              </a:solidFill>
              <a:latin typeface="メイリオ" panose="020B0604030504040204" pitchFamily="50" charset="-128"/>
              <a:ea typeface="メイリオ" panose="020B0604030504040204" pitchFamily="50" charset="-128"/>
            </a:endParaRPr>
          </a:p>
          <a:p>
            <a:pPr algn="ctr"/>
            <a:r>
              <a:rPr lang="ja-JP" altLang="en-US" sz="8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800" b="1" dirty="0">
              <a:solidFill>
                <a:schemeClr val="tx1"/>
              </a:solidFill>
              <a:latin typeface="メイリオ" panose="020B0604030504040204" pitchFamily="50" charset="-128"/>
              <a:ea typeface="メイリオ" panose="020B0604030504040204" pitchFamily="50" charset="-128"/>
            </a:endParaRPr>
          </a:p>
          <a:p>
            <a:pPr algn="ctr"/>
            <a:r>
              <a:rPr lang="ja-JP" altLang="en-US" sz="800" b="1" dirty="0">
                <a:solidFill>
                  <a:schemeClr val="tx1"/>
                </a:solidFill>
                <a:latin typeface="メイリオ" panose="020B0604030504040204" pitchFamily="50" charset="-128"/>
                <a:ea typeface="メイリオ" panose="020B0604030504040204" pitchFamily="50" charset="-128"/>
              </a:rPr>
              <a:t>（</a:t>
            </a:r>
            <a:r>
              <a:rPr lang="en-US" altLang="ja-JP" sz="800" b="1" dirty="0">
                <a:solidFill>
                  <a:schemeClr val="tx1"/>
                </a:solidFill>
                <a:latin typeface="メイリオ" panose="020B0604030504040204" pitchFamily="50" charset="-128"/>
                <a:ea typeface="メイリオ" panose="020B0604030504040204" pitchFamily="50" charset="-128"/>
              </a:rPr>
              <a:t>LINE</a:t>
            </a:r>
            <a:r>
              <a:rPr lang="ja-JP" altLang="en-US" sz="8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ea typeface="メイリオ"/>
              </a:rPr>
              <a:t>長期</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850" b="0" dirty="0" err="1">
                <a:solidFill>
                  <a:srgbClr val="FFFFFF"/>
                </a:solidFill>
                <a:latin typeface="メイリオ"/>
                <a:ea typeface="メイリオ"/>
              </a:rPr>
              <a:t>期間限定
季節の入会CP</a:t>
            </a:r>
            <a:endParaRPr sz="85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ea typeface="メイリオ"/>
              </a:rPr>
              <a:t>長期</a:t>
            </a:r>
          </a:p>
          <a:p>
            <a:pPr algn="ctr"/>
            <a:endParaRPr sz="1050" b="1" dirty="0">
              <a:solidFill>
                <a:srgbClr val="FFFFFF"/>
              </a:solidFill>
              <a:latin typeface="メイリオ"/>
              <a:ea typeface="メイリオ"/>
            </a:endParaRPr>
          </a:p>
          <a:p>
            <a:pPr algn="ctr"/>
            <a:r>
              <a:rPr sz="85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50" b="1" dirty="0">
                <a:solidFill>
                  <a:srgbClr val="FFFFFF"/>
                </a:solidFill>
                <a:latin typeface="メイリオ"/>
                <a:ea typeface="メイリオ"/>
              </a:rPr>
              <a:t>３</a:t>
            </a:r>
            <a:r>
              <a:rPr sz="1050" b="1" dirty="0" err="1">
                <a:solidFill>
                  <a:srgbClr val="FFFFFF"/>
                </a:solidFill>
                <a:latin typeface="メイリオ"/>
                <a:ea typeface="メイリオ"/>
              </a:rPr>
              <a:t>日目</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lang="ja-JP" altLang="en-US" sz="850" b="0" dirty="0">
                <a:solidFill>
                  <a:srgbClr val="FFFFFF"/>
                </a:solidFill>
                <a:latin typeface="メイリオ"/>
                <a:ea typeface="メイリオ"/>
              </a:rPr>
              <a:t>施設の</a:t>
            </a:r>
            <a:endParaRPr lang="en-US" altLang="ja-JP" sz="850" b="0" dirty="0">
              <a:solidFill>
                <a:srgbClr val="FFFFFF"/>
              </a:solidFill>
              <a:latin typeface="メイリオ"/>
              <a:ea typeface="メイリオ"/>
            </a:endParaRPr>
          </a:p>
          <a:p>
            <a:pPr algn="ctr"/>
            <a:r>
              <a:rPr lang="ja-JP" altLang="en-US" sz="850" dirty="0">
                <a:solidFill>
                  <a:srgbClr val="FFFFFF"/>
                </a:solidFill>
                <a:latin typeface="メイリオ"/>
                <a:ea typeface="メイリオ"/>
              </a:rPr>
              <a:t>こだわり</a:t>
            </a:r>
            <a:endParaRPr lang="en-US" altLang="ja-JP" sz="850" dirty="0">
              <a:solidFill>
                <a:srgbClr val="FFFFFF"/>
              </a:solidFill>
              <a:latin typeface="メイリオ"/>
              <a:ea typeface="メイリオ"/>
            </a:endParaRPr>
          </a:p>
          <a:p>
            <a:pPr algn="ctr"/>
            <a:r>
              <a:rPr lang="ja-JP" altLang="en-US" sz="850" b="0" dirty="0">
                <a:solidFill>
                  <a:srgbClr val="FFFFFF"/>
                </a:solidFill>
                <a:latin typeface="メイリオ"/>
                <a:ea typeface="メイリオ"/>
              </a:rPr>
              <a:t>マシン・シャワー・混雑状況</a:t>
            </a:r>
            <a:endParaRPr sz="85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400" b="0">
                <a:solidFill>
                  <a:srgbClr val="646C82"/>
                </a:solidFill>
                <a:latin typeface="メイリオ"/>
                <a:ea typeface="メイリオ"/>
              </a:rPr>
              <a:t>友だち追加から15日でアクティブ率が急落する。ジムの検討期間は数日〜2週間。この2つが重なるのが最初の14日。</a:t>
            </a:r>
          </a:p>
        </p:txBody>
      </p:sp>
      <p:graphicFrame>
        <p:nvGraphicFramePr>
          <p:cNvPr id="4" name="Table 3"/>
          <p:cNvGraphicFramePr>
            <a:graphicFrameLocks noGrp="1"/>
          </p:cNvGraphicFramePr>
          <p:nvPr/>
        </p:nvGraphicFramePr>
        <p:xfrm>
          <a:off x="384048" y="1280160"/>
          <a:ext cx="9134856" cy="329184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411480">
                <a:tc>
                  <a:txBody>
                    <a:bodyPr/>
                    <a:lstStyle/>
                    <a:p>
                      <a:pPr algn="ctr"/>
                      <a:r>
                        <a:rPr sz="1100" b="1">
                          <a:solidFill>
                            <a:srgbClr val="FFFFFF"/>
                          </a:solidFill>
                          <a:latin typeface="メイリオ"/>
                          <a:ea typeface="メイリオ"/>
                        </a:rPr>
                        <a:t>日</a:t>
                      </a:r>
                    </a:p>
                  </a:txBody>
                  <a:tcPr>
                    <a:solidFill>
                      <a:srgbClr val="1F2A5C"/>
                    </a:solidFill>
                  </a:tcPr>
                </a:tc>
                <a:tc>
                  <a:txBody>
                    <a:bodyPr/>
                    <a:lstStyle/>
                    <a:p>
                      <a:pPr algn="ctr"/>
                      <a:r>
                        <a:rPr sz="1100" b="1">
                          <a:solidFill>
                            <a:srgbClr val="FFFFFF"/>
                          </a:solidFill>
                          <a:latin typeface="メイリオ"/>
                          <a:ea typeface="メイリオ"/>
                        </a:rPr>
                        <a:t>目的</a:t>
                      </a:r>
                    </a:p>
                  </a:txBody>
                  <a:tcPr>
                    <a:solidFill>
                      <a:srgbClr val="1F2A5C"/>
                    </a:solidFill>
                  </a:tcPr>
                </a:tc>
                <a:tc>
                  <a:txBody>
                    <a:bodyPr/>
                    <a:lstStyle/>
                    <a:p>
                      <a:pPr algn="ctr"/>
                      <a:r>
                        <a:rPr sz="1100" b="1">
                          <a:solidFill>
                            <a:srgbClr val="FFFFFF"/>
                          </a:solidFill>
                          <a:latin typeface="メイリオ"/>
                          <a:ea typeface="メイリオ"/>
                        </a:rPr>
                        <a:t>配信コンテンツ</a:t>
                      </a:r>
                    </a:p>
                  </a:txBody>
                  <a:tcPr>
                    <a:solidFill>
                      <a:srgbClr val="1F2A5C"/>
                    </a:solidFill>
                  </a:tcPr>
                </a:tc>
                <a:tc>
                  <a:txBody>
                    <a:bodyPr/>
                    <a:lstStyle/>
                    <a:p>
                      <a:pPr algn="ctr"/>
                      <a:r>
                        <a:rPr sz="1100" b="1">
                          <a:solidFill>
                            <a:srgbClr val="FFFFFF"/>
                          </a:solidFill>
                          <a:latin typeface="メイリオ"/>
                          <a:ea typeface="メイリオ"/>
                        </a:rPr>
                        <a:t>CTA</a:t>
                      </a:r>
                    </a:p>
                  </a:txBody>
                  <a:tcPr>
                    <a:solidFill>
                      <a:srgbClr val="1F2A5C"/>
                    </a:solidFill>
                  </a:tcPr>
                </a:tc>
                <a:tc>
                  <a:txBody>
                    <a:bodyPr/>
                    <a:lstStyle/>
                    <a:p>
                      <a:pPr algn="ctr"/>
                      <a:r>
                        <a:rPr sz="11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411480">
                <a:tc>
                  <a:txBody>
                    <a:bodyPr/>
                    <a:lstStyle/>
                    <a:p>
                      <a:pPr algn="l"/>
                      <a:r>
                        <a:rPr sz="1000" b="0">
                          <a:solidFill>
                            <a:srgbClr val="1C2233"/>
                          </a:solidFill>
                          <a:latin typeface="メイリオ"/>
                          <a:ea typeface="メイリオ"/>
                        </a:rPr>
                        <a:t>Day0</a:t>
                      </a:r>
                    </a:p>
                  </a:txBody>
                  <a:tcPr>
                    <a:solidFill>
                      <a:srgbClr val="FFFFFF"/>
                    </a:solidFill>
                  </a:tcPr>
                </a:tc>
                <a:tc>
                  <a:txBody>
                    <a:bodyPr/>
                    <a:lstStyle/>
                    <a:p>
                      <a:pPr algn="ctr"/>
                      <a:r>
                        <a:rPr sz="1000" b="0">
                          <a:solidFill>
                            <a:srgbClr val="1C2233"/>
                          </a:solidFill>
                          <a:latin typeface="メイリオ"/>
                          <a:ea typeface="メイリオ"/>
                        </a:rPr>
                        <a:t>属性取得</a:t>
                      </a:r>
                    </a:p>
                  </a:txBody>
                  <a:tcPr>
                    <a:solidFill>
                      <a:srgbClr val="FFFFFF"/>
                    </a:solidFill>
                  </a:tcPr>
                </a:tc>
                <a:tc>
                  <a:txBody>
                    <a:bodyPr/>
                    <a:lstStyle/>
                    <a:p>
                      <a:pPr algn="ctr"/>
                      <a:r>
                        <a:rPr sz="1000" b="0">
                          <a:solidFill>
                            <a:srgbClr val="1C2233"/>
                          </a:solidFill>
                          <a:latin typeface="メイリオ"/>
                          <a:ea typeface="メイリオ"/>
                        </a:rPr>
                        <a:t>あいさつ＋30秒 体づくりタイプ診断</a:t>
                      </a:r>
                    </a:p>
                  </a:txBody>
                  <a:tcPr>
                    <a:solidFill>
                      <a:srgbClr val="FFFFFF"/>
                    </a:solidFill>
                  </a:tcPr>
                </a:tc>
                <a:tc>
                  <a:txBody>
                    <a:bodyPr/>
                    <a:lstStyle/>
                    <a:p>
                      <a:pPr algn="ctr"/>
                      <a:r>
                        <a:rPr sz="1000" b="0">
                          <a:solidFill>
                            <a:srgbClr val="1C2233"/>
                          </a:solidFill>
                          <a:latin typeface="メイリオ"/>
                          <a:ea typeface="メイリオ"/>
                        </a:rPr>
                        <a:t>診断回答</a:t>
                      </a:r>
                    </a:p>
                  </a:txBody>
                  <a:tcPr>
                    <a:solidFill>
                      <a:srgbClr val="FFFFFF"/>
                    </a:solidFill>
                  </a:tcPr>
                </a:tc>
                <a:tc>
                  <a:txBody>
                    <a:bodyPr/>
                    <a:lstStyle/>
                    <a:p>
                      <a:pPr algn="ctr"/>
                      <a:r>
                        <a:rPr sz="1000" b="0">
                          <a:solidFill>
                            <a:srgbClr val="1C2233"/>
                          </a:solidFill>
                          <a:latin typeface="メイリオ"/>
                          <a:ea typeface="メイリオ"/>
                        </a:rPr>
                        <a:t>【30秒診断】あなたに合う通い方</a:t>
                      </a:r>
                    </a:p>
                  </a:txBody>
                  <a:tcPr>
                    <a:solidFill>
                      <a:srgbClr val="FFFFFF"/>
                    </a:solidFill>
                  </a:tcPr>
                </a:tc>
                <a:extLst>
                  <a:ext uri="{0D108BD9-81ED-4DB2-BD59-A6C34878D82A}">
                    <a16:rowId xmlns:a16="http://schemas.microsoft.com/office/drawing/2014/main" val="10001"/>
                  </a:ext>
                </a:extLst>
              </a:tr>
              <a:tr h="411480">
                <a:tc>
                  <a:txBody>
                    <a:bodyPr/>
                    <a:lstStyle/>
                    <a:p>
                      <a:pPr algn="l"/>
                      <a:r>
                        <a:rPr sz="1000" b="0">
                          <a:solidFill>
                            <a:srgbClr val="1C2233"/>
                          </a:solidFill>
                          <a:latin typeface="メイリオ"/>
                          <a:ea typeface="メイリオ"/>
                        </a:rPr>
                        <a:t>Day2</a:t>
                      </a:r>
                    </a:p>
                  </a:txBody>
                  <a:tcPr>
                    <a:solidFill>
                      <a:srgbClr val="EFF1F7"/>
                    </a:solidFill>
                  </a:tcPr>
                </a:tc>
                <a:tc>
                  <a:txBody>
                    <a:bodyPr/>
                    <a:lstStyle/>
                    <a:p>
                      <a:pPr algn="ctr"/>
                      <a:r>
                        <a:rPr sz="1000" b="0">
                          <a:solidFill>
                            <a:srgbClr val="1C2233"/>
                          </a:solidFill>
                          <a:latin typeface="メイリオ"/>
                          <a:ea typeface="メイリオ"/>
                        </a:rPr>
                        <a:t>初心者の不安</a:t>
                      </a:r>
                    </a:p>
                  </a:txBody>
                  <a:tcPr>
                    <a:solidFill>
                      <a:srgbClr val="EFF1F7"/>
                    </a:solidFill>
                  </a:tcPr>
                </a:tc>
                <a:tc>
                  <a:txBody>
                    <a:bodyPr/>
                    <a:lstStyle/>
                    <a:p>
                      <a:pPr algn="ctr"/>
                      <a:r>
                        <a:rPr sz="1000" b="0">
                          <a:solidFill>
                            <a:srgbClr val="1C2233"/>
                          </a:solidFill>
                          <a:latin typeface="メイリオ"/>
                          <a:ea typeface="メイリオ"/>
                        </a:rPr>
                        <a:t>タイプ別「最初の1ヶ月はこれだけ」＋マシンの使い方動画</a:t>
                      </a:r>
                    </a:p>
                  </a:txBody>
                  <a:tcPr>
                    <a:solidFill>
                      <a:srgbClr val="EFF1F7"/>
                    </a:solidFill>
                  </a:tcPr>
                </a:tc>
                <a:tc>
                  <a:txBody>
                    <a:bodyPr/>
                    <a:lstStyle/>
                    <a:p>
                      <a:pPr algn="ctr"/>
                      <a:r>
                        <a:rPr sz="1000" b="0">
                          <a:solidFill>
                            <a:srgbClr val="1C2233"/>
                          </a:solidFill>
                          <a:latin typeface="メイリオ"/>
                          <a:ea typeface="メイリオ"/>
                        </a:rPr>
                        <a:t>動画視聴</a:t>
                      </a:r>
                    </a:p>
                  </a:txBody>
                  <a:tcPr>
                    <a:solidFill>
                      <a:srgbClr val="EFF1F7"/>
                    </a:solidFill>
                  </a:tcPr>
                </a:tc>
                <a:tc>
                  <a:txBody>
                    <a:bodyPr/>
                    <a:lstStyle/>
                    <a:p>
                      <a:pPr algn="ctr"/>
                      <a:r>
                        <a:rPr sz="100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411480">
                <a:tc>
                  <a:txBody>
                    <a:bodyPr/>
                    <a:lstStyle/>
                    <a:p>
                      <a:pPr algn="l"/>
                      <a:r>
                        <a:rPr sz="1000" b="0">
                          <a:solidFill>
                            <a:srgbClr val="1C2233"/>
                          </a:solidFill>
                          <a:latin typeface="メイリオ"/>
                          <a:ea typeface="メイリオ"/>
                        </a:rPr>
                        <a:t>Day4</a:t>
                      </a:r>
                    </a:p>
                  </a:txBody>
                  <a:tcPr>
                    <a:solidFill>
                      <a:srgbClr val="FFFFFF"/>
                    </a:solidFill>
                  </a:tcPr>
                </a:tc>
                <a:tc>
                  <a:txBody>
                    <a:bodyPr/>
                    <a:lstStyle/>
                    <a:p>
                      <a:pPr algn="ctr"/>
                      <a:r>
                        <a:rPr sz="1000" b="0">
                          <a:solidFill>
                            <a:srgbClr val="1C2233"/>
                          </a:solidFill>
                          <a:latin typeface="メイリオ"/>
                          <a:ea typeface="メイリオ"/>
                        </a:rPr>
                        <a:t>費用の納得</a:t>
                      </a:r>
                    </a:p>
                  </a:txBody>
                  <a:tcPr>
                    <a:solidFill>
                      <a:srgbClr val="FFFFFF"/>
                    </a:solidFill>
                  </a:tcPr>
                </a:tc>
                <a:tc>
                  <a:txBody>
                    <a:bodyPr/>
                    <a:lstStyle/>
                    <a:p>
                      <a:pPr algn="ctr"/>
                      <a:r>
                        <a:rPr sz="1000" b="0">
                          <a:solidFill>
                            <a:srgbClr val="1C2233"/>
                          </a:solidFill>
                          <a:latin typeface="メイリオ"/>
                          <a:ea typeface="メイリオ"/>
                        </a:rPr>
                        <a:t>1分料金シミュレーター（週2回なら1回いくら？）</a:t>
                      </a:r>
                    </a:p>
                  </a:txBody>
                  <a:tcPr>
                    <a:solidFill>
                      <a:srgbClr val="FFFFFF"/>
                    </a:solidFill>
                  </a:tcPr>
                </a:tc>
                <a:tc>
                  <a:txBody>
                    <a:bodyPr/>
                    <a:lstStyle/>
                    <a:p>
                      <a:pPr algn="ctr"/>
                      <a:r>
                        <a:rPr sz="1000" b="0">
                          <a:solidFill>
                            <a:srgbClr val="1C2233"/>
                          </a:solidFill>
                          <a:latin typeface="メイリオ"/>
                          <a:ea typeface="メイリオ"/>
                        </a:rPr>
                        <a:t>料金診断</a:t>
                      </a:r>
                    </a:p>
                  </a:txBody>
                  <a:tcPr>
                    <a:solidFill>
                      <a:srgbClr val="FFFFFF"/>
                    </a:solidFill>
                  </a:tcPr>
                </a:tc>
                <a:tc>
                  <a:txBody>
                    <a:bodyPr/>
                    <a:lstStyle/>
                    <a:p>
                      <a:pPr algn="ctr"/>
                      <a:r>
                        <a:rPr sz="1000" b="0">
                          <a:solidFill>
                            <a:srgbClr val="1C2233"/>
                          </a:solidFill>
                          <a:latin typeface="メイリオ"/>
                          <a:ea typeface="メイリオ"/>
                        </a:rPr>
                        <a:t>【1回いくら？】週2回なら…</a:t>
                      </a:r>
                    </a:p>
                  </a:txBody>
                  <a:tcPr>
                    <a:solidFill>
                      <a:srgbClr val="FFFFFF"/>
                    </a:solidFill>
                  </a:tcPr>
                </a:tc>
                <a:extLst>
                  <a:ext uri="{0D108BD9-81ED-4DB2-BD59-A6C34878D82A}">
                    <a16:rowId xmlns:a16="http://schemas.microsoft.com/office/drawing/2014/main" val="10003"/>
                  </a:ext>
                </a:extLst>
              </a:tr>
              <a:tr h="411480">
                <a:tc>
                  <a:txBody>
                    <a:bodyPr/>
                    <a:lstStyle/>
                    <a:p>
                      <a:pPr algn="l"/>
                      <a:r>
                        <a:rPr sz="1000" b="0">
                          <a:solidFill>
                            <a:srgbClr val="1C2233"/>
                          </a:solidFill>
                          <a:latin typeface="メイリオ"/>
                          <a:ea typeface="メイリオ"/>
                        </a:rPr>
                        <a:t>Day6</a:t>
                      </a:r>
                    </a:p>
                  </a:txBody>
                  <a:tcPr>
                    <a:solidFill>
                      <a:srgbClr val="EFF1F7"/>
                    </a:solidFill>
                  </a:tcPr>
                </a:tc>
                <a:tc>
                  <a:txBody>
                    <a:bodyPr/>
                    <a:lstStyle/>
                    <a:p>
                      <a:pPr algn="ctr"/>
                      <a:r>
                        <a:rPr sz="1000" b="0">
                          <a:solidFill>
                            <a:srgbClr val="1C2233"/>
                          </a:solidFill>
                          <a:latin typeface="メイリオ"/>
                          <a:ea typeface="メイリオ"/>
                        </a:rPr>
                        <a:t>1回目のオファー</a:t>
                      </a:r>
                    </a:p>
                  </a:txBody>
                  <a:tcPr>
                    <a:solidFill>
                      <a:srgbClr val="EFF1F7"/>
                    </a:solidFill>
                  </a:tcPr>
                </a:tc>
                <a:tc>
                  <a:txBody>
                    <a:bodyPr/>
                    <a:lstStyle/>
                    <a:p>
                      <a:pPr algn="ctr"/>
                      <a:r>
                        <a:rPr sz="1000" b="0">
                          <a:solidFill>
                            <a:srgbClr val="1C2233"/>
                          </a:solidFill>
                          <a:latin typeface="メイリオ"/>
                          <a:ea typeface="メイリオ"/>
                        </a:rPr>
                        <a:t>無料体験のご案内＋「見学だけでもOK・入会を迫りません」</a:t>
                      </a:r>
                    </a:p>
                  </a:txBody>
                  <a:tcPr>
                    <a:solidFill>
                      <a:srgbClr val="EFF1F7"/>
                    </a:solidFill>
                  </a:tcPr>
                </a:tc>
                <a:tc>
                  <a:txBody>
                    <a:bodyPr/>
                    <a:lstStyle/>
                    <a:p>
                      <a:pPr algn="ctr"/>
                      <a:r>
                        <a:rPr sz="1000" b="1">
                          <a:solidFill>
                            <a:srgbClr val="FFFFFF"/>
                          </a:solidFill>
                          <a:latin typeface="メイリオ"/>
                          <a:ea typeface="メイリオ"/>
                        </a:rPr>
                        <a:t>体験予約 CV①</a:t>
                      </a:r>
                    </a:p>
                  </a:txBody>
                  <a:tcPr>
                    <a:solidFill>
                      <a:srgbClr val="BF4E0E"/>
                    </a:solidFill>
                  </a:tcPr>
                </a:tc>
                <a:tc>
                  <a:txBody>
                    <a:bodyPr/>
                    <a:lstStyle/>
                    <a:p>
                      <a:pPr algn="ctr"/>
                      <a:r>
                        <a:rPr sz="100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4"/>
                  </a:ext>
                </a:extLst>
              </a:tr>
              <a:tr h="411480">
                <a:tc>
                  <a:txBody>
                    <a:bodyPr/>
                    <a:lstStyle/>
                    <a:p>
                      <a:pPr algn="l"/>
                      <a:r>
                        <a:rPr sz="1000" b="0">
                          <a:solidFill>
                            <a:srgbClr val="1C2233"/>
                          </a:solidFill>
                          <a:latin typeface="メイリオ"/>
                          <a:ea typeface="メイリオ"/>
                        </a:rPr>
                        <a:t>Day8</a:t>
                      </a:r>
                    </a:p>
                  </a:txBody>
                  <a:tcPr>
                    <a:solidFill>
                      <a:srgbClr val="FFFFFF"/>
                    </a:solidFill>
                  </a:tcPr>
                </a:tc>
                <a:tc>
                  <a:txBody>
                    <a:bodyPr/>
                    <a:lstStyle/>
                    <a:p>
                      <a:pPr algn="ctr"/>
                      <a:r>
                        <a:rPr sz="1000" b="0">
                          <a:solidFill>
                            <a:srgbClr val="1C2233"/>
                          </a:solidFill>
                          <a:latin typeface="メイリオ"/>
                          <a:ea typeface="メイリオ"/>
                        </a:rPr>
                        <a:t>社会的証明</a:t>
                      </a:r>
                    </a:p>
                  </a:txBody>
                  <a:tcPr>
                    <a:solidFill>
                      <a:srgbClr val="FFFFFF"/>
                    </a:solidFill>
                  </a:tcPr>
                </a:tc>
                <a:tc>
                  <a:txBody>
                    <a:bodyPr/>
                    <a:lstStyle/>
                    <a:p>
                      <a:pPr algn="ctr"/>
                      <a:r>
                        <a:rPr sz="1000" b="0">
                          <a:solidFill>
                            <a:srgbClr val="1C2233"/>
                          </a:solidFill>
                          <a:latin typeface="メイリオ"/>
                          <a:ea typeface="メイリオ"/>
                        </a:rPr>
                        <a:t>同年代・同目的の会員の声／続いている人の共通点</a:t>
                      </a:r>
                    </a:p>
                  </a:txBody>
                  <a:tcPr>
                    <a:solidFill>
                      <a:srgbClr val="FFFFFF"/>
                    </a:solidFill>
                  </a:tcPr>
                </a:tc>
                <a:tc>
                  <a:txBody>
                    <a:bodyPr/>
                    <a:lstStyle/>
                    <a:p>
                      <a:pPr algn="ctr"/>
                      <a:r>
                        <a:rPr sz="1000" b="0">
                          <a:solidFill>
                            <a:srgbClr val="1C2233"/>
                          </a:solidFill>
                          <a:latin typeface="メイリオ"/>
                          <a:ea typeface="メイリオ"/>
                        </a:rPr>
                        <a:t>事例閲覧</a:t>
                      </a:r>
                    </a:p>
                  </a:txBody>
                  <a:tcPr>
                    <a:solidFill>
                      <a:srgbClr val="FFFFFF"/>
                    </a:solidFill>
                  </a:tcPr>
                </a:tc>
                <a:tc>
                  <a:txBody>
                    <a:bodyPr/>
                    <a:lstStyle/>
                    <a:p>
                      <a:pPr algn="ctr"/>
                      <a:r>
                        <a:rPr sz="1000" b="0">
                          <a:solidFill>
                            <a:srgbClr val="1C2233"/>
                          </a:solidFill>
                          <a:latin typeface="メイリオ"/>
                          <a:ea typeface="メイリオ"/>
                        </a:rPr>
                        <a:t>【40代・初心者】3ヶ月後の変化</a:t>
                      </a:r>
                    </a:p>
                  </a:txBody>
                  <a:tcPr>
                    <a:solidFill>
                      <a:srgbClr val="FFFFFF"/>
                    </a:solidFill>
                  </a:tcPr>
                </a:tc>
                <a:extLst>
                  <a:ext uri="{0D108BD9-81ED-4DB2-BD59-A6C34878D82A}">
                    <a16:rowId xmlns:a16="http://schemas.microsoft.com/office/drawing/2014/main" val="10005"/>
                  </a:ext>
                </a:extLst>
              </a:tr>
              <a:tr h="411480">
                <a:tc>
                  <a:txBody>
                    <a:bodyPr/>
                    <a:lstStyle/>
                    <a:p>
                      <a:pPr algn="l"/>
                      <a:r>
                        <a:rPr sz="1000" b="0">
                          <a:solidFill>
                            <a:srgbClr val="1C2233"/>
                          </a:solidFill>
                          <a:latin typeface="メイリオ"/>
                          <a:ea typeface="メイリオ"/>
                        </a:rPr>
                        <a:t>Day11</a:t>
                      </a:r>
                    </a:p>
                  </a:txBody>
                  <a:tcPr>
                    <a:solidFill>
                      <a:srgbClr val="EFF1F7"/>
                    </a:solidFill>
                  </a:tcPr>
                </a:tc>
                <a:tc>
                  <a:txBody>
                    <a:bodyPr/>
                    <a:lstStyle/>
                    <a:p>
                      <a:pPr algn="ctr"/>
                      <a:r>
                        <a:rPr sz="1000" b="0">
                          <a:solidFill>
                            <a:srgbClr val="1C2233"/>
                          </a:solidFill>
                          <a:latin typeface="メイリオ"/>
                          <a:ea typeface="メイリオ"/>
                        </a:rPr>
                        <a:t>疑問の除去</a:t>
                      </a:r>
                    </a:p>
                  </a:txBody>
                  <a:tcPr>
                    <a:solidFill>
                      <a:srgbClr val="EFF1F7"/>
                    </a:solidFill>
                  </a:tcPr>
                </a:tc>
                <a:tc>
                  <a:txBody>
                    <a:bodyPr/>
                    <a:lstStyle/>
                    <a:p>
                      <a:pPr algn="ctr"/>
                      <a:r>
                        <a:rPr sz="1000" b="0">
                          <a:solidFill>
                            <a:srgbClr val="1C2233"/>
                          </a:solidFill>
                          <a:latin typeface="メイリオ"/>
                          <a:ea typeface="メイリオ"/>
                        </a:rPr>
                        <a:t>不安Q&amp;A（勧誘／解約／シャワー／混雑時間／持ち物）＋チャット相談</a:t>
                      </a:r>
                    </a:p>
                  </a:txBody>
                  <a:tcPr>
                    <a:solidFill>
                      <a:srgbClr val="EFF1F7"/>
                    </a:solidFill>
                  </a:tcPr>
                </a:tc>
                <a:tc>
                  <a:txBody>
                    <a:bodyPr/>
                    <a:lstStyle/>
                    <a:p>
                      <a:pPr algn="ctr"/>
                      <a:r>
                        <a:rPr sz="1000" b="0">
                          <a:solidFill>
                            <a:srgbClr val="1C2233"/>
                          </a:solidFill>
                          <a:latin typeface="メイリオ"/>
                          <a:ea typeface="メイリオ"/>
                        </a:rPr>
                        <a:t>チャット相談</a:t>
                      </a:r>
                    </a:p>
                  </a:txBody>
                  <a:tcPr>
                    <a:solidFill>
                      <a:srgbClr val="EFF1F7"/>
                    </a:solidFill>
                  </a:tcPr>
                </a:tc>
                <a:tc>
                  <a:txBody>
                    <a:bodyPr/>
                    <a:lstStyle/>
                    <a:p>
                      <a:pPr algn="ctr"/>
                      <a:r>
                        <a:rPr sz="1000" b="0">
                          <a:solidFill>
                            <a:srgbClr val="1C2233"/>
                          </a:solidFill>
                          <a:latin typeface="メイリオ"/>
                          <a:ea typeface="メイリオ"/>
                        </a:rPr>
                        <a:t>【解約もOK】よくあるご質問</a:t>
                      </a:r>
                    </a:p>
                  </a:txBody>
                  <a:tcPr>
                    <a:solidFill>
                      <a:srgbClr val="EFF1F7"/>
                    </a:solidFill>
                  </a:tcPr>
                </a:tc>
                <a:extLst>
                  <a:ext uri="{0D108BD9-81ED-4DB2-BD59-A6C34878D82A}">
                    <a16:rowId xmlns:a16="http://schemas.microsoft.com/office/drawing/2014/main" val="10006"/>
                  </a:ext>
                </a:extLst>
              </a:tr>
              <a:tr h="411480">
                <a:tc>
                  <a:txBody>
                    <a:bodyPr/>
                    <a:lstStyle/>
                    <a:p>
                      <a:pPr algn="l"/>
                      <a:r>
                        <a:rPr sz="1000" b="0">
                          <a:solidFill>
                            <a:srgbClr val="1C2233"/>
                          </a:solidFill>
                          <a:latin typeface="メイリオ"/>
                          <a:ea typeface="メイリオ"/>
                        </a:rPr>
                        <a:t>Day14</a:t>
                      </a:r>
                    </a:p>
                  </a:txBody>
                  <a:tcPr>
                    <a:solidFill>
                      <a:srgbClr val="FFFFFF"/>
                    </a:solidFill>
                  </a:tcPr>
                </a:tc>
                <a:tc>
                  <a:txBody>
                    <a:bodyPr/>
                    <a:lstStyle/>
                    <a:p>
                      <a:pPr algn="ctr"/>
                      <a:r>
                        <a:rPr sz="1000" b="0">
                          <a:solidFill>
                            <a:srgbClr val="1C2233"/>
                          </a:solidFill>
                          <a:latin typeface="メイリオ"/>
                          <a:ea typeface="メイリオ"/>
                        </a:rPr>
                        <a:t>最終オファー</a:t>
                      </a:r>
                    </a:p>
                  </a:txBody>
                  <a:tcPr>
                    <a:solidFill>
                      <a:srgbClr val="FFFFFF"/>
                    </a:solidFill>
                  </a:tcPr>
                </a:tc>
                <a:tc>
                  <a:txBody>
                    <a:bodyPr/>
                    <a:lstStyle/>
                    <a:p>
                      <a:pPr algn="ctr"/>
                      <a:r>
                        <a:rPr sz="1000" b="0">
                          <a:solidFill>
                            <a:srgbClr val="1C2233"/>
                          </a:solidFill>
                          <a:latin typeface="メイリオ"/>
                          <a:ea typeface="メイリオ"/>
                        </a:rPr>
                        <a:t>入会金無料・事務手数料0円＋体験枠の残数</a:t>
                      </a:r>
                    </a:p>
                  </a:txBody>
                  <a:tcPr>
                    <a:solidFill>
                      <a:srgbClr val="FFFFFF"/>
                    </a:solidFill>
                  </a:tcPr>
                </a:tc>
                <a:tc>
                  <a:txBody>
                    <a:bodyPr/>
                    <a:lstStyle/>
                    <a:p>
                      <a:pPr algn="ctr"/>
                      <a:r>
                        <a:rPr sz="1000" b="1">
                          <a:solidFill>
                            <a:srgbClr val="FFFFFF"/>
                          </a:solidFill>
                          <a:latin typeface="メイリオ"/>
                          <a:ea typeface="メイリオ"/>
                        </a:rPr>
                        <a:t>体験予約（再）</a:t>
                      </a:r>
                    </a:p>
                  </a:txBody>
                  <a:tcPr>
                    <a:solidFill>
                      <a:srgbClr val="1F2A5C"/>
                    </a:solidFill>
                  </a:tcPr>
                </a:tc>
                <a:tc>
                  <a:txBody>
                    <a:bodyPr/>
                    <a:lstStyle/>
                    <a:p>
                      <a:pPr algn="ctr"/>
                      <a:r>
                        <a:rPr sz="1000" b="0">
                          <a:solidFill>
                            <a:srgbClr val="1C2233"/>
                          </a:solidFill>
                          <a:latin typeface="メイリオ"/>
                          <a:ea typeface="メイリオ"/>
                        </a:rPr>
                        <a:t>【残3枠】今月の体験ご予約</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84048" y="4754880"/>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a:solidFill>
                  <a:srgbClr val="1C2233"/>
                </a:solidFill>
                <a:latin typeface="メイリオ"/>
                <a:ea typeface="メイリオ"/>
              </a:rPr>
              <a:t>① CV地点は1つ、オファーは2回</a:t>
            </a:r>
          </a:p>
          <a:p>
            <a:pPr algn="l">
              <a:spcBef>
                <a:spcPts val="200"/>
              </a:spcBef>
            </a:pPr>
            <a:r>
              <a:rPr sz="1000" b="0">
                <a:solidFill>
                  <a:srgbClr val="1C2233"/>
                </a:solidFill>
                <a:latin typeface="メイリオ"/>
                <a:ea typeface="メイリオ"/>
              </a:rPr>
              <a:t>CVは体験予約【CV①】のみ。Day6とDay14の2回訴求し、1回で終わらせない。</a:t>
            </a:r>
          </a:p>
        </p:txBody>
      </p:sp>
      <p:sp>
        <p:nvSpPr>
          <p:cNvPr id="6" name="Rounded Rectangle 5"/>
          <p:cNvSpPr/>
          <p:nvPr/>
        </p:nvSpPr>
        <p:spPr>
          <a:xfrm>
            <a:off x="3383279" y="4754880"/>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a:solidFill>
                  <a:srgbClr val="1C2233"/>
                </a:solidFill>
                <a:latin typeface="メイリオ"/>
                <a:ea typeface="メイリオ"/>
              </a:rPr>
              <a:t>② Day6に「迫りません」と書く</a:t>
            </a:r>
          </a:p>
          <a:p>
            <a:pPr algn="l">
              <a:spcBef>
                <a:spcPts val="200"/>
              </a:spcBef>
            </a:pPr>
            <a:r>
              <a:rPr sz="1000" b="0">
                <a:solidFill>
                  <a:srgbClr val="1C2233"/>
                </a:solidFill>
                <a:latin typeface="メイリオ"/>
                <a:ea typeface="メイリオ"/>
              </a:rPr>
              <a:t>押し売り拒絶への直接回答。この業界の最重要コピー。</a:t>
            </a:r>
          </a:p>
        </p:txBody>
      </p:sp>
      <p:sp>
        <p:nvSpPr>
          <p:cNvPr id="7" name="Rounded Rectangle 6"/>
          <p:cNvSpPr/>
          <p:nvPr/>
        </p:nvSpPr>
        <p:spPr>
          <a:xfrm>
            <a:off x="6382512" y="4754880"/>
            <a:ext cx="2788920" cy="8686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a:solidFill>
                  <a:srgbClr val="1C2233"/>
                </a:solidFill>
                <a:latin typeface="メイリオ"/>
                <a:ea typeface="メイリオ"/>
              </a:rPr>
              <a:t>③ Day11で自ら「解約」に触れる</a:t>
            </a:r>
          </a:p>
          <a:p>
            <a:pPr algn="l">
              <a:spcBef>
                <a:spcPts val="200"/>
              </a:spcBef>
            </a:pPr>
            <a:r>
              <a:rPr sz="1000" b="0">
                <a:solidFill>
                  <a:srgbClr val="1C2233"/>
                </a:solidFill>
                <a:latin typeface="メイリオ"/>
                <a:ea typeface="メイリオ"/>
              </a:rPr>
              <a:t>隠すより先に出したほうが信頼される。</a:t>
            </a:r>
          </a:p>
        </p:txBody>
      </p:sp>
      <p:sp>
        <p:nvSpPr>
          <p:cNvPr id="8" name="TextBox 7"/>
          <p:cNvSpPr txBox="1"/>
          <p:nvPr/>
        </p:nvSpPr>
        <p:spPr>
          <a:xfrm>
            <a:off x="384048" y="58064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Day15以降は「開始時期」セグメントの定常配信へ合流。予約者はステップから除外し、予約確定通知→前日リマインドへ分岐。</a:t>
            </a:r>
          </a:p>
        </p:txBody>
      </p:sp>
    </p:spTree>
    <p:extLst>
      <p:ext uri="{BB962C8B-B14F-4D97-AF65-F5344CB8AC3E}">
        <p14:creationId xmlns:p14="http://schemas.microsoft.com/office/powerpoint/2010/main" val="1098718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6" name="Rounded Rectangle 5"/>
          <p:cNvSpPr/>
          <p:nvPr/>
        </p:nvSpPr>
        <p:spPr>
          <a:xfrm>
            <a:off x="385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無料体験を予約</a:t>
            </a:r>
          </a:p>
          <a:p>
            <a:pPr algn="ctr">
              <a:spcBef>
                <a:spcPts val="200"/>
              </a:spcBef>
            </a:pPr>
            <a:r>
              <a:rPr sz="1000" b="0">
                <a:solidFill>
                  <a:srgbClr val="1C2233"/>
                </a:solidFill>
                <a:latin typeface="メイリオ"/>
                <a:ea typeface="メイリオ"/>
              </a:rPr>
              <a:t>最重要CTA</a:t>
            </a:r>
          </a:p>
        </p:txBody>
      </p:sp>
      <p:sp>
        <p:nvSpPr>
          <p:cNvPr id="7" name="Rounded Rectangle 6"/>
          <p:cNvSpPr/>
          <p:nvPr/>
        </p:nvSpPr>
        <p:spPr>
          <a:xfrm>
            <a:off x="1328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店舗を探す</a:t>
            </a:r>
          </a:p>
          <a:p>
            <a:pPr algn="ctr">
              <a:spcBef>
                <a:spcPts val="200"/>
              </a:spcBef>
            </a:pPr>
            <a:r>
              <a:rPr sz="1000" b="0">
                <a:solidFill>
                  <a:srgbClr val="1C2233"/>
                </a:solidFill>
                <a:latin typeface="メイリオ"/>
                <a:ea typeface="メイリオ"/>
              </a:rPr>
              <a:t>立地が決め手</a:t>
            </a:r>
          </a:p>
        </p:txBody>
      </p:sp>
      <p:sp>
        <p:nvSpPr>
          <p:cNvPr id="8" name="Rounded Rectangle 7"/>
          <p:cNvSpPr/>
          <p:nvPr/>
        </p:nvSpPr>
        <p:spPr>
          <a:xfrm>
            <a:off x="22716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設備・マシン</a:t>
            </a:r>
          </a:p>
          <a:p>
            <a:pPr algn="ctr">
              <a:spcBef>
                <a:spcPts val="200"/>
              </a:spcBef>
            </a:pPr>
            <a:r>
              <a:rPr sz="1000" b="0">
                <a:solidFill>
                  <a:srgbClr val="1C2233"/>
                </a:solidFill>
                <a:latin typeface="メイリオ"/>
                <a:ea typeface="メイリオ"/>
              </a:rPr>
              <a:t>使えるか不安</a:t>
            </a:r>
          </a:p>
        </p:txBody>
      </p:sp>
      <p:sp>
        <p:nvSpPr>
          <p:cNvPr id="9" name="Rounded Rectangle 8"/>
          <p:cNvSpPr/>
          <p:nvPr/>
        </p:nvSpPr>
        <p:spPr>
          <a:xfrm>
            <a:off x="385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料金プラン</a:t>
            </a:r>
          </a:p>
          <a:p>
            <a:pPr algn="ctr">
              <a:spcBef>
                <a:spcPts val="200"/>
              </a:spcBef>
            </a:pPr>
            <a:r>
              <a:rPr sz="1000" b="0">
                <a:solidFill>
                  <a:srgbClr val="1C2233"/>
                </a:solidFill>
                <a:latin typeface="メイリオ"/>
                <a:ea typeface="メイリオ"/>
              </a:rPr>
              <a:t>隠さない</a:t>
            </a:r>
          </a:p>
        </p:txBody>
      </p:sp>
      <p:sp>
        <p:nvSpPr>
          <p:cNvPr id="10" name="Rounded Rectangle 9"/>
          <p:cNvSpPr/>
          <p:nvPr/>
        </p:nvSpPr>
        <p:spPr>
          <a:xfrm>
            <a:off x="1328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24時間の使い方</a:t>
            </a:r>
          </a:p>
          <a:p>
            <a:pPr algn="ctr">
              <a:spcBef>
                <a:spcPts val="200"/>
              </a:spcBef>
            </a:pPr>
            <a:r>
              <a:rPr sz="1000" b="0">
                <a:solidFill>
                  <a:srgbClr val="1C2233"/>
                </a:solidFill>
                <a:latin typeface="メイリオ"/>
                <a:ea typeface="メイリオ"/>
              </a:rPr>
              <a:t>無人帯の不安</a:t>
            </a:r>
          </a:p>
        </p:txBody>
      </p:sp>
      <p:sp>
        <p:nvSpPr>
          <p:cNvPr id="11" name="Rounded Rectangle 10"/>
          <p:cNvSpPr/>
          <p:nvPr/>
        </p:nvSpPr>
        <p:spPr>
          <a:xfrm>
            <a:off x="22716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アクセス・駐車場</a:t>
            </a:r>
          </a:p>
          <a:p>
            <a:pPr algn="ctr">
              <a:spcBef>
                <a:spcPts val="200"/>
              </a:spcBef>
            </a:pPr>
            <a:r>
              <a:rPr sz="1000" b="0">
                <a:solidFill>
                  <a:srgbClr val="1C2233"/>
                </a:solidFill>
                <a:latin typeface="メイリオ"/>
                <a:ea typeface="メイリオ"/>
              </a:rPr>
              <a:t>直前の実務</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14" name="Rounded Rectangle 13"/>
          <p:cNvSpPr/>
          <p:nvPr/>
        </p:nvSpPr>
        <p:spPr>
          <a:xfrm>
            <a:off x="3384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30秒 体づくり診断</a:t>
            </a:r>
          </a:p>
          <a:p>
            <a:pPr algn="ctr">
              <a:spcBef>
                <a:spcPts val="200"/>
              </a:spcBef>
            </a:pPr>
            <a:r>
              <a:rPr sz="1000" b="0">
                <a:solidFill>
                  <a:srgbClr val="1C2233"/>
                </a:solidFill>
                <a:latin typeface="メイリオ"/>
                <a:ea typeface="メイリオ"/>
              </a:rPr>
              <a:t>属性取得の本体</a:t>
            </a:r>
          </a:p>
        </p:txBody>
      </p:sp>
      <p:sp>
        <p:nvSpPr>
          <p:cNvPr id="15" name="Rounded Rectangle 14"/>
          <p:cNvSpPr/>
          <p:nvPr/>
        </p:nvSpPr>
        <p:spPr>
          <a:xfrm>
            <a:off x="4327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1分 料金診断</a:t>
            </a:r>
          </a:p>
          <a:p>
            <a:pPr algn="ctr">
              <a:spcBef>
                <a:spcPts val="200"/>
              </a:spcBef>
            </a:pPr>
            <a:r>
              <a:rPr sz="1000" b="0">
                <a:solidFill>
                  <a:srgbClr val="1C2233"/>
                </a:solidFill>
                <a:latin typeface="メイリオ"/>
                <a:ea typeface="メイリオ"/>
              </a:rPr>
              <a:t>1回あたりで見せる</a:t>
            </a:r>
          </a:p>
        </p:txBody>
      </p:sp>
      <p:sp>
        <p:nvSpPr>
          <p:cNvPr id="16" name="Rounded Rectangle 15"/>
          <p:cNvSpPr/>
          <p:nvPr/>
        </p:nvSpPr>
        <p:spPr>
          <a:xfrm>
            <a:off x="5270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初心者メニュー</a:t>
            </a:r>
          </a:p>
          <a:p>
            <a:pPr algn="ctr">
              <a:spcBef>
                <a:spcPts val="200"/>
              </a:spcBef>
            </a:pPr>
            <a:r>
              <a:rPr sz="1000" b="0">
                <a:solidFill>
                  <a:srgbClr val="1C2233"/>
                </a:solidFill>
                <a:latin typeface="メイリオ"/>
                <a:ea typeface="メイリオ"/>
              </a:rPr>
              <a:t>最多の不安</a:t>
            </a:r>
          </a:p>
        </p:txBody>
      </p:sp>
      <p:sp>
        <p:nvSpPr>
          <p:cNvPr id="17" name="Rounded Rectangle 16"/>
          <p:cNvSpPr/>
          <p:nvPr/>
        </p:nvSpPr>
        <p:spPr>
          <a:xfrm>
            <a:off x="3384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続けられるか診断</a:t>
            </a:r>
          </a:p>
          <a:p>
            <a:pPr algn="ctr">
              <a:spcBef>
                <a:spcPts val="200"/>
              </a:spcBef>
            </a:pPr>
            <a:r>
              <a:rPr sz="1000" b="0">
                <a:solidFill>
                  <a:srgbClr val="1C2233"/>
                </a:solidFill>
                <a:latin typeface="メイリオ"/>
                <a:ea typeface="メイリオ"/>
              </a:rPr>
              <a:t>「続かない」に直撃</a:t>
            </a:r>
          </a:p>
        </p:txBody>
      </p:sp>
      <p:sp>
        <p:nvSpPr>
          <p:cNvPr id="18" name="Rounded Rectangle 17"/>
          <p:cNvSpPr/>
          <p:nvPr/>
        </p:nvSpPr>
        <p:spPr>
          <a:xfrm>
            <a:off x="4327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よくある質問</a:t>
            </a:r>
          </a:p>
          <a:p>
            <a:pPr algn="ctr">
              <a:spcBef>
                <a:spcPts val="200"/>
              </a:spcBef>
            </a:pPr>
            <a:r>
              <a:rPr sz="1000" b="0">
                <a:solidFill>
                  <a:srgbClr val="1C2233"/>
                </a:solidFill>
                <a:latin typeface="メイリオ"/>
                <a:ea typeface="メイリオ"/>
              </a:rPr>
              <a:t>勧誘・解約</a:t>
            </a:r>
          </a:p>
        </p:txBody>
      </p:sp>
      <p:sp>
        <p:nvSpPr>
          <p:cNvPr id="19" name="Rounded Rectangle 18"/>
          <p:cNvSpPr/>
          <p:nvPr/>
        </p:nvSpPr>
        <p:spPr>
          <a:xfrm>
            <a:off x="5270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チャットで相談</a:t>
            </a:r>
          </a:p>
          <a:p>
            <a:pPr algn="ctr">
              <a:spcBef>
                <a:spcPts val="200"/>
              </a:spcBef>
            </a:pPr>
            <a:r>
              <a:rPr sz="1000" b="0">
                <a:solidFill>
                  <a:srgbClr val="1C2233"/>
                </a:solidFill>
                <a:latin typeface="メイリオ"/>
                <a:ea typeface="メイリオ"/>
              </a:rPr>
              <a:t>有人への逃げ道</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2" name="Rounded Rectangle 21"/>
          <p:cNvSpPr/>
          <p:nvPr/>
        </p:nvSpPr>
        <p:spPr>
          <a:xfrm>
            <a:off x="63828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会員コード</a:t>
            </a:r>
          </a:p>
          <a:p>
            <a:pPr algn="ctr">
              <a:spcBef>
                <a:spcPts val="200"/>
              </a:spcBef>
            </a:pPr>
            <a:r>
              <a:rPr sz="1000" b="0">
                <a:solidFill>
                  <a:srgbClr val="1C2233"/>
                </a:solidFill>
                <a:latin typeface="メイリオ"/>
                <a:ea typeface="メイリオ"/>
              </a:rPr>
              <a:t>毎日開く理由</a:t>
            </a:r>
          </a:p>
        </p:txBody>
      </p:sp>
      <p:sp>
        <p:nvSpPr>
          <p:cNvPr id="23" name="Rounded Rectangle 22"/>
          <p:cNvSpPr/>
          <p:nvPr/>
        </p:nvSpPr>
        <p:spPr>
          <a:xfrm>
            <a:off x="7326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レッスン予約</a:t>
            </a:r>
          </a:p>
          <a:p>
            <a:pPr algn="ctr">
              <a:spcBef>
                <a:spcPts val="200"/>
              </a:spcBef>
            </a:pPr>
            <a:r>
              <a:rPr sz="1000" b="0">
                <a:solidFill>
                  <a:srgbClr val="1C2233"/>
                </a:solidFill>
                <a:latin typeface="メイリオ"/>
                <a:ea typeface="メイリオ"/>
              </a:rPr>
              <a:t>来館の動機</a:t>
            </a:r>
          </a:p>
        </p:txBody>
      </p:sp>
      <p:sp>
        <p:nvSpPr>
          <p:cNvPr id="24" name="Rounded Rectangle 23"/>
          <p:cNvSpPr/>
          <p:nvPr/>
        </p:nvSpPr>
        <p:spPr>
          <a:xfrm>
            <a:off x="8269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トレーニング記録</a:t>
            </a:r>
          </a:p>
          <a:p>
            <a:pPr algn="ctr">
              <a:spcBef>
                <a:spcPts val="200"/>
              </a:spcBef>
            </a:pPr>
            <a:r>
              <a:rPr sz="1000" b="0">
                <a:solidFill>
                  <a:srgbClr val="1C2233"/>
                </a:solidFill>
                <a:latin typeface="メイリオ"/>
                <a:ea typeface="メイリオ"/>
              </a:rPr>
              <a:t>継続の可視化</a:t>
            </a:r>
          </a:p>
        </p:txBody>
      </p:sp>
      <p:sp>
        <p:nvSpPr>
          <p:cNvPr id="25" name="Rounded Rectangle 24"/>
          <p:cNvSpPr/>
          <p:nvPr/>
        </p:nvSpPr>
        <p:spPr>
          <a:xfrm>
            <a:off x="63828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混雑状況</a:t>
            </a:r>
          </a:p>
          <a:p>
            <a:pPr algn="ctr">
              <a:spcBef>
                <a:spcPts val="200"/>
              </a:spcBef>
            </a:pPr>
            <a:r>
              <a:rPr sz="1000" b="0">
                <a:solidFill>
                  <a:srgbClr val="1C2233"/>
                </a:solidFill>
                <a:latin typeface="メイリオ"/>
                <a:ea typeface="メイリオ"/>
              </a:rPr>
              <a:t>来館ハードル減</a:t>
            </a:r>
          </a:p>
        </p:txBody>
      </p:sp>
      <p:sp>
        <p:nvSpPr>
          <p:cNvPr id="26" name="Rounded Rectangle 25"/>
          <p:cNvSpPr/>
          <p:nvPr/>
        </p:nvSpPr>
        <p:spPr>
          <a:xfrm>
            <a:off x="7326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お友達紹介</a:t>
            </a:r>
          </a:p>
          <a:p>
            <a:pPr algn="ctr">
              <a:spcBef>
                <a:spcPts val="200"/>
              </a:spcBef>
            </a:pPr>
            <a:r>
              <a:rPr sz="1000" b="0">
                <a:solidFill>
                  <a:srgbClr val="1C2233"/>
                </a:solidFill>
                <a:latin typeface="メイリオ"/>
                <a:ea typeface="メイリオ"/>
              </a:rPr>
              <a:t>CV③・ゼロコスト</a:t>
            </a:r>
          </a:p>
        </p:txBody>
      </p:sp>
      <p:sp>
        <p:nvSpPr>
          <p:cNvPr id="27" name="Rounded Rectangle 26"/>
          <p:cNvSpPr/>
          <p:nvPr/>
        </p:nvSpPr>
        <p:spPr>
          <a:xfrm>
            <a:off x="8269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休会・退会</a:t>
            </a:r>
          </a:p>
          <a:p>
            <a:pPr algn="ctr">
              <a:spcBef>
                <a:spcPts val="200"/>
              </a:spcBef>
            </a:pPr>
            <a:r>
              <a:rPr sz="1000" b="0">
                <a:solidFill>
                  <a:srgbClr val="1C2233"/>
                </a:solidFill>
                <a:latin typeface="メイリオ"/>
                <a:ea typeface="メイリオ"/>
              </a:rPr>
              <a:t>隠さない＝信頼</a:t>
            </a:r>
          </a:p>
        </p:txBody>
      </p:sp>
      <p:sp>
        <p:nvSpPr>
          <p:cNvPr id="28" name="Rectangle 27"/>
          <p:cNvSpPr/>
          <p:nvPr/>
        </p:nvSpPr>
        <p:spPr>
          <a:xfrm>
            <a:off x="384048" y="4956048"/>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4956048"/>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056632"/>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実装はLINEリッチメニュー大サイズ（2500×1686px）／3列×2行（1マス833×843px）。入会タグで①→③に自動切替。</a:t>
            </a:r>
          </a:p>
        </p:txBody>
      </p:sp>
      <p:sp>
        <p:nvSpPr>
          <p:cNvPr id="31" name="TextBox 30"/>
          <p:cNvSpPr txBox="1"/>
          <p:nvPr/>
        </p:nvSpPr>
        <p:spPr>
          <a:xfrm>
            <a:off x="384048" y="571500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spTree>
    <p:extLst>
      <p:ext uri="{BB962C8B-B14F-4D97-AF65-F5344CB8AC3E}">
        <p14:creationId xmlns:p14="http://schemas.microsoft.com/office/powerpoint/2010/main" val="82790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同じLINEでも、入会前と入会後で見える画面が切り替わる。入会後もLINEを使ってもらう設計。</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8" name="Rectangle 27"/>
          <p:cNvSpPr/>
          <p:nvPr/>
        </p:nvSpPr>
        <p:spPr>
          <a:xfrm>
            <a:off x="384048" y="4956048"/>
            <a:ext cx="54864" cy="475488"/>
          </a:xfrm>
          <a:prstGeom prst="rect">
            <a:avLst/>
          </a:prstGeom>
          <a:solidFill>
            <a:srgbClr val="BF4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4956048"/>
            <a:ext cx="9089136" cy="475488"/>
          </a:xfrm>
          <a:prstGeom prst="rect">
            <a:avLst/>
          </a:prstGeom>
          <a:solidFill>
            <a:srgbClr val="FD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056632"/>
            <a:ext cx="8814816" cy="310896"/>
          </a:xfrm>
          <a:prstGeom prst="rect">
            <a:avLst/>
          </a:prstGeom>
          <a:noFill/>
        </p:spPr>
        <p:txBody>
          <a:bodyPr wrap="square" lIns="0" tIns="0" rIns="0" bIns="0">
            <a:spAutoFit/>
          </a:bodyPr>
          <a:lstStyle/>
          <a:p>
            <a:r>
              <a:rPr sz="1300" b="0">
                <a:solidFill>
                  <a:srgbClr val="1C2233"/>
                </a:solidFill>
                <a:latin typeface="メイリオ"/>
                <a:ea typeface="メイリオ"/>
              </a:rPr>
              <a:t>大サイズ2500×1686px／3列×2行（1マス833×843px）。入会タグで①→③に自動切替。</a:t>
            </a:r>
          </a:p>
        </p:txBody>
      </p:sp>
      <p:sp>
        <p:nvSpPr>
          <p:cNvPr id="31" name="TextBox 30"/>
          <p:cNvSpPr txBox="1"/>
          <p:nvPr/>
        </p:nvSpPr>
        <p:spPr>
          <a:xfrm>
            <a:off x="384048" y="571500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160000"/>
            <a:ext cx="2788920" cy="1880847"/>
          </a:xfrm>
          <a:prstGeom prst="rect">
            <a:avLst/>
          </a:prstGeom>
        </p:spPr>
      </p:pic>
      <p:pic>
        <p:nvPicPr>
          <p:cNvPr id="33" name="Picture 32" descr="ジム_リッチメニュー_2_診断シミュレーター.png"/>
          <p:cNvPicPr>
            <a:picLocks noChangeAspect="1"/>
          </p:cNvPicPr>
          <p:nvPr/>
        </p:nvPicPr>
        <p:blipFill>
          <a:blip r:embed="rId3"/>
          <a:stretch>
            <a:fillRect/>
          </a:stretch>
        </p:blipFill>
        <p:spPr>
          <a:xfrm>
            <a:off x="3383279" y="2160000"/>
            <a:ext cx="2788920"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160000"/>
            <a:ext cx="2788920" cy="1880847"/>
          </a:xfrm>
          <a:prstGeom prst="rect">
            <a:avLst/>
          </a:prstGeom>
        </p:spPr>
      </p:pic>
      <p:sp>
        <p:nvSpPr>
          <p:cNvPr id="35" name="TextBox 34"/>
          <p:cNvSpPr txBox="1"/>
          <p:nvPr/>
        </p:nvSpPr>
        <p:spPr>
          <a:xfrm>
            <a:off x="384048" y="4180000"/>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180000"/>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180000"/>
            <a:ext cx="2788920" cy="700000"/>
          </a:xfrm>
          <a:prstGeom prst="rect">
            <a:avLst/>
          </a:prstGeom>
          <a:noFill/>
        </p:spPr>
        <p:txBody>
          <a:bodyPr wrap="square">
            <a:spAutoFit/>
          </a:bodyPr>
          <a:lstStyle/>
          <a:p>
            <a:r>
              <a:rPr sz="1200">
                <a:solidFill>
                  <a:srgbClr val="404040"/>
                </a:solidFill>
                <a:latin typeface="メイリオ"/>
                <a:ea typeface="メイリオ"/>
              </a:rPr>
              <a:t>入会後は機能を総入れ替え。休会・退会も隠さない。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1通目で予約は求めない。求めるのは診断への回答だけ。</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43400" cy="26060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a:solidFill>
                  <a:srgbClr val="1C2233"/>
                </a:solidFill>
                <a:latin typeface="メイリオ"/>
                <a:ea typeface="メイリオ"/>
              </a:rPr>
              <a:t>【〇〇フィットネス △△店】</a:t>
            </a:r>
          </a:p>
          <a:p>
            <a:pPr algn="l">
              <a:spcBef>
                <a:spcPts val="0"/>
              </a:spcBef>
            </a:pPr>
            <a:r>
              <a:rPr sz="1000" b="0">
                <a:solidFill>
                  <a:srgbClr val="1C2233"/>
                </a:solidFill>
                <a:latin typeface="メイリオ"/>
                <a:ea typeface="メイリオ"/>
              </a:rPr>
              <a:t>友だち追加ありがとうございます💪</a:t>
            </a:r>
          </a:p>
          <a:p>
            <a:pPr algn="l">
              <a:spcBef>
                <a:spcPts val="0"/>
              </a:spcBef>
            </a:pPr>
            <a:endParaRPr sz="1000" b="0">
              <a:solidFill>
                <a:srgbClr val="1C2233"/>
              </a:solidFill>
              <a:latin typeface="メイリオ"/>
              <a:ea typeface="メイリオ"/>
            </a:endParaRPr>
          </a:p>
          <a:p>
            <a:pPr algn="l">
              <a:spcBef>
                <a:spcPts val="0"/>
              </a:spcBef>
            </a:pPr>
            <a:r>
              <a:rPr sz="1000" b="0">
                <a:solidFill>
                  <a:srgbClr val="1C2233"/>
                </a:solidFill>
                <a:latin typeface="メイリオ"/>
                <a:ea typeface="メイリオ"/>
              </a:rPr>
              <a:t>はじめまして、店長の○○です。</a:t>
            </a:r>
          </a:p>
          <a:p>
            <a:pPr algn="l">
              <a:spcBef>
                <a:spcPts val="0"/>
              </a:spcBef>
            </a:pPr>
            <a:r>
              <a:rPr sz="1000" b="0">
                <a:solidFill>
                  <a:srgbClr val="1C2233"/>
                </a:solidFill>
                <a:latin typeface="メイリオ"/>
                <a:ea typeface="メイリオ"/>
              </a:rPr>
              <a:t>「続けられるか不安」という方が一番多いので、</a:t>
            </a:r>
          </a:p>
          <a:p>
            <a:pPr algn="l">
              <a:spcBef>
                <a:spcPts val="0"/>
              </a:spcBef>
            </a:pPr>
            <a:r>
              <a:rPr sz="1000" b="0">
                <a:solidFill>
                  <a:srgbClr val="1C2233"/>
                </a:solidFill>
                <a:latin typeface="メイリオ"/>
                <a:ea typeface="メイリオ"/>
              </a:rPr>
              <a:t>まずはタイプを知るところから始めませんか？</a:t>
            </a:r>
          </a:p>
          <a:p>
            <a:pPr algn="l">
              <a:spcBef>
                <a:spcPts val="0"/>
              </a:spcBef>
            </a:pPr>
            <a:endParaRPr sz="1000" b="0">
              <a:solidFill>
                <a:srgbClr val="1C2233"/>
              </a:solidFill>
              <a:latin typeface="メイリオ"/>
              <a:ea typeface="メイリオ"/>
            </a:endParaRPr>
          </a:p>
          <a:p>
            <a:pPr algn="l">
              <a:spcBef>
                <a:spcPts val="0"/>
              </a:spcBef>
            </a:pPr>
            <a:r>
              <a:rPr sz="1000" b="0">
                <a:solidFill>
                  <a:srgbClr val="1C2233"/>
                </a:solidFill>
                <a:latin typeface="メイリオ"/>
                <a:ea typeface="メイリオ"/>
              </a:rPr>
              <a:t>▶ 30秒でわかる「体づくりタイプ診断」</a:t>
            </a:r>
          </a:p>
          <a:p>
            <a:pPr algn="l">
              <a:spcBef>
                <a:spcPts val="0"/>
              </a:spcBef>
            </a:pPr>
            <a:r>
              <a:rPr sz="1000" b="0">
                <a:solidFill>
                  <a:srgbClr val="1C2233"/>
                </a:solidFill>
                <a:latin typeface="メイリオ"/>
                <a:ea typeface="メイリオ"/>
              </a:rPr>
              <a:t>4つの質問に答えるだけで、あなたに合う通い方と</a:t>
            </a:r>
          </a:p>
          <a:p>
            <a:pPr algn="l">
              <a:spcBef>
                <a:spcPts val="0"/>
              </a:spcBef>
            </a:pPr>
            <a:r>
              <a:rPr sz="1000" b="0">
                <a:solidFill>
                  <a:srgbClr val="1C2233"/>
                </a:solidFill>
                <a:latin typeface="メイリオ"/>
                <a:ea typeface="メイリオ"/>
              </a:rPr>
              <a:t>月々の目安をお送りします。</a:t>
            </a:r>
          </a:p>
          <a:p>
            <a:pPr algn="l">
              <a:spcBef>
                <a:spcPts val="0"/>
              </a:spcBef>
            </a:pPr>
            <a:endParaRPr sz="1000" b="0">
              <a:solidFill>
                <a:srgbClr val="1C2233"/>
              </a:solidFill>
              <a:latin typeface="メイリオ"/>
              <a:ea typeface="メイリオ"/>
            </a:endParaRPr>
          </a:p>
          <a:p>
            <a:pPr algn="l">
              <a:spcBef>
                <a:spcPts val="0"/>
              </a:spcBef>
            </a:pPr>
            <a:r>
              <a:rPr sz="1000" b="0">
                <a:solidFill>
                  <a:srgbClr val="1C2233"/>
                </a:solidFill>
                <a:latin typeface="メイリオ"/>
                <a:ea typeface="メイリオ"/>
              </a:rPr>
              <a:t>※ こちらから営業のお電話をすることはありません。</a:t>
            </a:r>
          </a:p>
          <a:p>
            <a:pPr algn="l">
              <a:spcBef>
                <a:spcPts val="0"/>
              </a:spcBef>
            </a:pPr>
            <a:r>
              <a:rPr sz="1000" b="0">
                <a:solidFill>
                  <a:srgbClr val="1C2233"/>
                </a:solidFill>
                <a:latin typeface="メイリオ"/>
                <a:ea typeface="メイリオ"/>
              </a:rPr>
              <a:t>　 ご質問はこのままトークで送ってください（10:00–20:00）</a:t>
            </a:r>
          </a:p>
        </p:txBody>
      </p:sp>
      <p:sp>
        <p:nvSpPr>
          <p:cNvPr id="6" name="Rounded Rectangle 5"/>
          <p:cNvSpPr/>
          <p:nvPr/>
        </p:nvSpPr>
        <p:spPr>
          <a:xfrm>
            <a:off x="384048" y="4224528"/>
            <a:ext cx="1389888"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646C82"/>
                </a:solidFill>
                <a:latin typeface="メイリオ"/>
                <a:ea typeface="メイリオ"/>
              </a:rPr>
              <a:t>「営業電話しません」を</a:t>
            </a:r>
          </a:p>
          <a:p>
            <a:pPr algn="ctr">
              <a:spcBef>
                <a:spcPts val="0"/>
              </a:spcBef>
            </a:pPr>
            <a:r>
              <a:rPr sz="900" b="0">
                <a:solidFill>
                  <a:srgbClr val="646C82"/>
                </a:solidFill>
                <a:latin typeface="メイリオ"/>
                <a:ea typeface="メイリオ"/>
              </a:rPr>
              <a:t>1通目に明記</a:t>
            </a:r>
          </a:p>
        </p:txBody>
      </p:sp>
      <p:sp>
        <p:nvSpPr>
          <p:cNvPr id="7" name="Rounded Rectangle 6"/>
          <p:cNvSpPr/>
          <p:nvPr/>
        </p:nvSpPr>
        <p:spPr>
          <a:xfrm>
            <a:off x="1847088" y="4224528"/>
            <a:ext cx="1389888"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646C82"/>
                </a:solidFill>
                <a:latin typeface="メイリオ"/>
                <a:ea typeface="メイリオ"/>
              </a:rPr>
              <a:t>4問すべて選択式</a:t>
            </a:r>
          </a:p>
          <a:p>
            <a:pPr algn="ctr">
              <a:spcBef>
                <a:spcPts val="0"/>
              </a:spcBef>
            </a:pPr>
            <a:r>
              <a:rPr sz="900" b="0">
                <a:solidFill>
                  <a:srgbClr val="646C82"/>
                </a:solidFill>
                <a:latin typeface="メイリオ"/>
                <a:ea typeface="メイリオ"/>
              </a:rPr>
              <a:t>自由入力はゼロ</a:t>
            </a:r>
          </a:p>
        </p:txBody>
      </p:sp>
      <p:sp>
        <p:nvSpPr>
          <p:cNvPr id="8" name="Rounded Rectangle 7"/>
          <p:cNvSpPr/>
          <p:nvPr/>
        </p:nvSpPr>
        <p:spPr>
          <a:xfrm>
            <a:off x="3310128" y="4224528"/>
            <a:ext cx="1389888"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900" b="0">
                <a:solidFill>
                  <a:srgbClr val="646C82"/>
                </a:solidFill>
                <a:latin typeface="メイリオ"/>
                <a:ea typeface="メイリオ"/>
              </a:rPr>
              <a:t>費用は「1回あたり」</a:t>
            </a:r>
          </a:p>
          <a:p>
            <a:pPr algn="ctr">
              <a:spcBef>
                <a:spcPts val="0"/>
              </a:spcBef>
            </a:pPr>
            <a:r>
              <a:rPr sz="9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1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900" b="0">
                <a:solidFill>
                  <a:srgbClr val="1C2233"/>
                </a:solidFill>
                <a:latin typeface="メイリオ"/>
                <a:ea typeface="メイリオ"/>
              </a:rPr>
              <a:t>いつから始めたいですか？</a:t>
            </a:r>
          </a:p>
          <a:p>
            <a:pPr algn="l">
              <a:spcBef>
                <a:spcPts val="0"/>
              </a:spcBef>
            </a:pPr>
            <a:r>
              <a:rPr sz="9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1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900" b="0">
                <a:solidFill>
                  <a:srgbClr val="1C2233"/>
                </a:solidFill>
                <a:latin typeface="メイリオ"/>
                <a:ea typeface="メイリオ"/>
              </a:rPr>
              <a:t>一番の目的は？</a:t>
            </a:r>
          </a:p>
          <a:p>
            <a:pPr algn="l">
              <a:spcBef>
                <a:spcPts val="0"/>
              </a:spcBef>
            </a:pPr>
            <a:r>
              <a:rPr sz="9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1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900" b="0">
                <a:solidFill>
                  <a:srgbClr val="1C2233"/>
                </a:solidFill>
                <a:latin typeface="メイリオ"/>
                <a:ea typeface="メイリオ"/>
              </a:rPr>
              <a:t>運動の経験は？</a:t>
            </a:r>
          </a:p>
          <a:p>
            <a:pPr algn="l">
              <a:spcBef>
                <a:spcPts val="0"/>
              </a:spcBef>
            </a:pPr>
            <a:r>
              <a:rPr sz="9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1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900" b="0">
                <a:solidFill>
                  <a:srgbClr val="1C2233"/>
                </a:solidFill>
                <a:latin typeface="メイリオ"/>
                <a:ea typeface="メイリオ"/>
              </a:rPr>
              <a:t>通えそうな頻度は？</a:t>
            </a:r>
          </a:p>
          <a:p>
            <a:pPr algn="l">
              <a:spcBef>
                <a:spcPts val="0"/>
              </a:spcBef>
            </a:pPr>
            <a:r>
              <a:rPr sz="900" b="0">
                <a:solidFill>
                  <a:srgbClr val="1C2233"/>
                </a:solidFill>
                <a:latin typeface="メイリオ"/>
                <a:ea typeface="メイリオ"/>
              </a:rPr>
              <a:t>週1回 ／ 週2回 ／ 週3回以上 ／ わからない</a:t>
            </a:r>
          </a:p>
        </p:txBody>
      </p:sp>
      <p:sp>
        <p:nvSpPr>
          <p:cNvPr id="18" name="Rounded Rectangle 17"/>
          <p:cNvSpPr/>
          <p:nvPr/>
        </p:nvSpPr>
        <p:spPr>
          <a:xfrm>
            <a:off x="4983480" y="3858768"/>
            <a:ext cx="4535424" cy="1408176"/>
          </a:xfrm>
          <a:prstGeom prst="roundRect">
            <a:avLst/>
          </a:prstGeom>
          <a:solidFill>
            <a:srgbClr val="FDEFE2"/>
          </a:solidFill>
          <a:ln w="9525">
            <a:solidFill>
              <a:srgbClr val="BF4E0E"/>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900" b="0">
                <a:solidFill>
                  <a:srgbClr val="1C2233"/>
                </a:solidFill>
                <a:latin typeface="メイリオ"/>
                <a:ea typeface="メイリオ"/>
              </a:rPr>
              <a:t>＼あなたは「コツコツ習慣化タイプ」／</a:t>
            </a:r>
          </a:p>
          <a:p>
            <a:pPr algn="l">
              <a:spcBef>
                <a:spcPts val="100"/>
              </a:spcBef>
            </a:pPr>
            <a:r>
              <a:rPr sz="900" b="0">
                <a:solidFill>
                  <a:srgbClr val="1C2233"/>
                </a:solidFill>
                <a:latin typeface="メイリオ"/>
                <a:ea typeface="メイリオ"/>
              </a:rPr>
              <a:t>まったく初めての方が、週2回から始めて結果を出しているパターンです。</a:t>
            </a:r>
          </a:p>
          <a:p>
            <a:pPr algn="l">
              <a:spcBef>
                <a:spcPts val="100"/>
              </a:spcBef>
            </a:pPr>
            <a:r>
              <a:rPr sz="900" b="0">
                <a:solidFill>
                  <a:srgbClr val="1C2233"/>
                </a:solidFill>
                <a:latin typeface="メイリオ"/>
                <a:ea typeface="メイリオ"/>
              </a:rPr>
              <a:t>最初の1ヶ月はマシン3種類だけでOK🔰</a:t>
            </a:r>
          </a:p>
          <a:p>
            <a:pPr algn="l">
              <a:spcBef>
                <a:spcPts val="100"/>
              </a:spcBef>
            </a:pPr>
            <a:r>
              <a:rPr sz="900" b="0">
                <a:solidFill>
                  <a:srgbClr val="1C2233"/>
                </a:solidFill>
                <a:latin typeface="メイリオ"/>
                <a:ea typeface="メイリオ"/>
              </a:rPr>
              <a:t>💰 週2回なら 1回あたり約1,000円（月会費8,000円 ÷ 月8回）</a:t>
            </a:r>
          </a:p>
          <a:p>
            <a:pPr algn="l">
              <a:spcBef>
                <a:spcPts val="100"/>
              </a:spcBef>
            </a:pPr>
            <a:r>
              <a:rPr sz="900" b="0">
                <a:solidFill>
                  <a:srgbClr val="1C2233"/>
                </a:solidFill>
                <a:latin typeface="メイリオ"/>
                <a:ea typeface="メイリオ"/>
              </a:rPr>
              <a:t>▶ 見学だけでも大丈夫です／今週の体験枠を見る</a:t>
            </a:r>
          </a:p>
        </p:txBody>
      </p:sp>
      <p:sp>
        <p:nvSpPr>
          <p:cNvPr id="19" name="TextBox 18"/>
          <p:cNvSpPr txBox="1"/>
          <p:nvPr/>
        </p:nvSpPr>
        <p:spPr>
          <a:xfrm>
            <a:off x="4983480" y="5376672"/>
            <a:ext cx="4535424" cy="310896"/>
          </a:xfrm>
          <a:prstGeom prst="rect">
            <a:avLst/>
          </a:prstGeom>
          <a:noFill/>
        </p:spPr>
        <p:txBody>
          <a:bodyPr wrap="square" lIns="0" tIns="0" rIns="0" bIns="0">
            <a:spAutoFit/>
          </a:bodyPr>
          <a:lstStyle/>
          <a:p>
            <a:r>
              <a:rPr sz="1000" b="0">
                <a:solidFill>
                  <a:srgbClr val="1C2233"/>
                </a:solidFill>
                <a:latin typeface="メイリオ"/>
                <a:ea typeface="メイリオ"/>
              </a:rPr>
              <a:t>回答＝配信セグメントのタグ。「月8,000円」より「1回1,000円」のほうが決裁が下りる。</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文面は貴社トーンに合わせて調整します。診断結果は回答の組み合わせでパターン分岐させます。</a:t>
            </a:r>
          </a:p>
        </p:txBody>
      </p:sp>
      <p:sp>
        <p:nvSpPr>
          <p:cNvPr id="21" name="TextBox 20"/>
          <p:cNvSpPr txBox="1"/>
          <p:nvPr/>
        </p:nvSpPr>
        <p:spPr>
          <a:xfrm>
            <a:off x="6696000" y="5886000"/>
            <a:ext cx="2808000" cy="216000"/>
          </a:xfrm>
          <a:prstGeom prst="rect">
            <a:avLst/>
          </a:prstGeom>
          <a:noFill/>
        </p:spPr>
        <p:txBody>
          <a:bodyPr wrap="square" lIns="28800" tIns="10800" rIns="28800" bIns="10800">
            <a:spAutoFit/>
          </a:bodyPr>
          <a:lstStyle/>
          <a:p>
            <a:r>
              <a:rPr sz="1200" b="1">
                <a:solidFill>
                  <a:srgbClr val="BF4E0E"/>
                </a:solidFill>
                <a:latin typeface="メイリオ"/>
              </a:rPr>
              <a:t>▶ 実物の画面イメージは次ページ</a:t>
            </a:r>
          </a:p>
        </p:txBody>
      </p:sp>
    </p:spTree>
    <p:extLst>
      <p:ext uri="{BB962C8B-B14F-4D97-AF65-F5344CB8AC3E}">
        <p14:creationId xmlns:p14="http://schemas.microsoft.com/office/powerpoint/2010/main" val="188939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トーク画面イメージ｜友だち追加の直後に届く1通目</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1通目で予約は求めない。求めるのは診断への回答だけ。</a:t>
            </a:r>
          </a:p>
        </p:txBody>
      </p:sp>
      <p:sp>
        <p:nvSpPr>
          <p:cNvPr id="19" name="TextBox 18"/>
          <p:cNvSpPr txBox="1"/>
          <p:nvPr/>
        </p:nvSpPr>
        <p:spPr>
          <a:xfrm>
            <a:off x="3600000" y="4900000"/>
            <a:ext cx="5900000" cy="310896"/>
          </a:xfrm>
          <a:prstGeom prst="rect">
            <a:avLst/>
          </a:prstGeom>
          <a:noFill/>
        </p:spPr>
        <p:txBody>
          <a:bodyPr wrap="square" lIns="0" tIns="0" rIns="0" bIns="0">
            <a:spAutoFit/>
          </a:bodyPr>
          <a:lstStyle/>
          <a:p>
            <a:r>
              <a:rPr sz="1000" b="0">
                <a:solidFill>
                  <a:srgbClr val="1C2233"/>
                </a:solidFill>
                <a:latin typeface="メイリオ"/>
                <a:ea typeface="メイリオ"/>
              </a:rPr>
              <a:t>この1通で「誰か」「何をくれるか」「売り込まないか」の3つに答える。ここで離脱すると以降の配信は全部届かない。</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画面はイメージです。文面・配色・診断の設問は貴社トーンに合わせて調整します。</a:t>
            </a:r>
          </a:p>
        </p:txBody>
      </p:sp>
      <p:pic>
        <p:nvPicPr>
          <p:cNvPr id="21" name="Picture 20" descr="12_トーク画面モック_トリム.png"/>
          <p:cNvPicPr>
            <a:picLocks noChangeAspect="1"/>
          </p:cNvPicPr>
          <p:nvPr/>
        </p:nvPicPr>
        <p:blipFill>
          <a:blip r:embed="rId2"/>
          <a:stretch>
            <a:fillRect/>
          </a:stretch>
        </p:blipFill>
        <p:spPr>
          <a:xfrm>
            <a:off x="700000" y="1400000"/>
            <a:ext cx="1936170" cy="3500000"/>
          </a:xfrm>
          <a:prstGeom prst="rect">
            <a:avLst/>
          </a:prstGeom>
        </p:spPr>
      </p:pic>
      <p:sp>
        <p:nvSpPr>
          <p:cNvPr id="22" name="TextBox 21"/>
          <p:cNvSpPr txBox="1"/>
          <p:nvPr/>
        </p:nvSpPr>
        <p:spPr>
          <a:xfrm>
            <a:off x="3600000" y="1500000"/>
            <a:ext cx="5900000" cy="1000000"/>
          </a:xfrm>
          <a:prstGeom prst="rect">
            <a:avLst/>
          </a:prstGeom>
          <a:noFill/>
        </p:spPr>
        <p:txBody>
          <a:bodyPr wrap="square">
            <a:spAutoFit/>
          </a:bodyPr>
          <a:lstStyle/>
          <a:p>
            <a:r>
              <a:rPr sz="1400" b="1">
                <a:solidFill>
                  <a:srgbClr val="1F2A5C"/>
                </a:solidFill>
                <a:latin typeface="メイリオ"/>
                <a:ea typeface="メイリオ"/>
              </a:rPr>
              <a:t>① 1通目に「営業電話をしない」と書く</a:t>
            </a:r>
          </a:p>
          <a:p>
            <a:r>
              <a:rPr sz="1200" b="0">
                <a:solidFill>
                  <a:srgbClr val="404040"/>
                </a:solidFill>
                <a:latin typeface="メイリオ"/>
                <a:ea typeface="メイリオ"/>
              </a:rPr>
              <a:t>押し売りへの拒否感が最も強い業界です。先に明言することで、</a:t>
            </a:r>
          </a:p>
          <a:p>
            <a:r>
              <a:rPr sz="1200" b="0">
                <a:solidFill>
                  <a:srgbClr val="404040"/>
                </a:solidFill>
                <a:latin typeface="メイリオ"/>
                <a:ea typeface="メイリオ"/>
              </a:rPr>
              <a:t>その後の質問と診断回答のハードルが下がります。</a:t>
            </a:r>
          </a:p>
        </p:txBody>
      </p:sp>
      <p:sp>
        <p:nvSpPr>
          <p:cNvPr id="23" name="TextBox 22"/>
          <p:cNvSpPr txBox="1"/>
          <p:nvPr/>
        </p:nvSpPr>
        <p:spPr>
          <a:xfrm>
            <a:off x="3600000" y="2650000"/>
            <a:ext cx="5900000" cy="1000000"/>
          </a:xfrm>
          <a:prstGeom prst="rect">
            <a:avLst/>
          </a:prstGeom>
          <a:noFill/>
        </p:spPr>
        <p:txBody>
          <a:bodyPr wrap="square">
            <a:spAutoFit/>
          </a:bodyPr>
          <a:lstStyle/>
          <a:p>
            <a:r>
              <a:rPr sz="1400" b="1">
                <a:solidFill>
                  <a:srgbClr val="1F2A5C"/>
                </a:solidFill>
                <a:latin typeface="メイリオ"/>
                <a:ea typeface="メイリオ"/>
              </a:rPr>
              <a:t>② 予約ではなく診断を求める</a:t>
            </a:r>
          </a:p>
          <a:p>
            <a:r>
              <a:rPr sz="1200" b="0">
                <a:solidFill>
                  <a:srgbClr val="404040"/>
                </a:solidFill>
                <a:latin typeface="メイリオ"/>
                <a:ea typeface="メイリオ"/>
              </a:rPr>
              <a:t>検討初期の人に予約を求めると落ちます。求めるのは4問の回答だけ。</a:t>
            </a:r>
          </a:p>
          <a:p>
            <a:r>
              <a:rPr sz="1200" b="0">
                <a:solidFill>
                  <a:srgbClr val="404040"/>
                </a:solidFill>
                <a:latin typeface="メイリオ"/>
                <a:ea typeface="メイリオ"/>
              </a:rPr>
              <a:t>回答はそのまま配信セグメントのタグになります。</a:t>
            </a:r>
          </a:p>
        </p:txBody>
      </p:sp>
      <p:sp>
        <p:nvSpPr>
          <p:cNvPr id="24" name="TextBox 23"/>
          <p:cNvSpPr txBox="1"/>
          <p:nvPr/>
        </p:nvSpPr>
        <p:spPr>
          <a:xfrm>
            <a:off x="3600000" y="3800000"/>
            <a:ext cx="5900000" cy="1000000"/>
          </a:xfrm>
          <a:prstGeom prst="rect">
            <a:avLst/>
          </a:prstGeom>
          <a:noFill/>
        </p:spPr>
        <p:txBody>
          <a:bodyPr wrap="square">
            <a:spAutoFit/>
          </a:bodyPr>
          <a:lstStyle/>
          <a:p>
            <a:r>
              <a:rPr sz="1400" b="1">
                <a:solidFill>
                  <a:srgbClr val="1F2A5C"/>
                </a:solidFill>
                <a:latin typeface="メイリオ"/>
                <a:ea typeface="メイリオ"/>
              </a:rPr>
              <a:t>③ 費用は「1回あたり」で見せる</a:t>
            </a:r>
          </a:p>
          <a:p>
            <a:r>
              <a:rPr sz="1200" b="0">
                <a:solidFill>
                  <a:srgbClr val="404040"/>
                </a:solidFill>
                <a:latin typeface="メイリオ"/>
                <a:ea typeface="メイリオ"/>
              </a:rPr>
              <a:t>月会費8,000円より「週2回なら1回1,000円」のほうが決裁が下ります。</a:t>
            </a:r>
          </a:p>
          <a:p>
            <a:r>
              <a:rPr sz="1200" b="0">
                <a:solidFill>
                  <a:srgbClr val="404040"/>
                </a:solidFill>
                <a:latin typeface="メイリオ"/>
                <a:ea typeface="メイリオ"/>
              </a:rPr>
              <a:t>診断結果の中で自然に提示します。</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a:solidFill>
                  <a:srgbClr val="333333"/>
                </a:solidFill>
                <a:latin typeface="メイリオ"/>
                <a:ea typeface="メイリオ"/>
              </a:rPr>
              <a:t>需要の波に合わせた企画配信で、体験予約のピークを創出する。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具体企画のブレスト</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12月</a:t>
            </a:r>
          </a:p>
        </p:txBody>
      </p:sp>
      <p:sp>
        <p:nvSpPr>
          <p:cNvPr id="8" name="Rounded Rectangle 7"/>
          <p:cNvSpPr/>
          <p:nvPr/>
        </p:nvSpPr>
        <p:spPr>
          <a:xfrm>
            <a:off x="1116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1月</a:t>
            </a:r>
          </a:p>
        </p:txBody>
      </p:sp>
      <p:sp>
        <p:nvSpPr>
          <p:cNvPr id="9" name="Rounded Rectangle 8"/>
          <p:cNvSpPr/>
          <p:nvPr/>
        </p:nvSpPr>
        <p:spPr>
          <a:xfrm>
            <a:off x="1882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2月</a:t>
            </a:r>
          </a:p>
        </p:txBody>
      </p:sp>
      <p:sp>
        <p:nvSpPr>
          <p:cNvPr id="10" name="Rounded Rectangle 9"/>
          <p:cNvSpPr/>
          <p:nvPr/>
        </p:nvSpPr>
        <p:spPr>
          <a:xfrm>
            <a:off x="2648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3月</a:t>
            </a:r>
          </a:p>
        </p:txBody>
      </p:sp>
      <p:sp>
        <p:nvSpPr>
          <p:cNvPr id="11" name="Rounded Rectangle 10"/>
          <p:cNvSpPr/>
          <p:nvPr/>
        </p:nvSpPr>
        <p:spPr>
          <a:xfrm>
            <a:off x="3414000" y="1900000"/>
            <a:ext cx="752000" cy="42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4月</a:t>
            </a:r>
          </a:p>
        </p:txBody>
      </p:sp>
      <p:sp>
        <p:nvSpPr>
          <p:cNvPr id="12" name="Rounded Rectangle 11"/>
          <p:cNvSpPr/>
          <p:nvPr/>
        </p:nvSpPr>
        <p:spPr>
          <a:xfrm>
            <a:off x="4180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5月</a:t>
            </a:r>
          </a:p>
        </p:txBody>
      </p:sp>
      <p:sp>
        <p:nvSpPr>
          <p:cNvPr id="13" name="Rounded Rectangle 12"/>
          <p:cNvSpPr/>
          <p:nvPr/>
        </p:nvSpPr>
        <p:spPr>
          <a:xfrm>
            <a:off x="4946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6月</a:t>
            </a:r>
          </a:p>
        </p:txBody>
      </p:sp>
      <p:sp>
        <p:nvSpPr>
          <p:cNvPr id="14" name="Rounded Rectangle 13"/>
          <p:cNvSpPr/>
          <p:nvPr/>
        </p:nvSpPr>
        <p:spPr>
          <a:xfrm>
            <a:off x="5712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7月</a:t>
            </a:r>
          </a:p>
        </p:txBody>
      </p:sp>
      <p:sp>
        <p:nvSpPr>
          <p:cNvPr id="15" name="Rounded Rectangle 14"/>
          <p:cNvSpPr/>
          <p:nvPr/>
        </p:nvSpPr>
        <p:spPr>
          <a:xfrm>
            <a:off x="6478000" y="1900000"/>
            <a:ext cx="752000" cy="4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8月</a:t>
            </a:r>
          </a:p>
        </p:txBody>
      </p:sp>
      <p:sp>
        <p:nvSpPr>
          <p:cNvPr id="16" name="Rounded Rectangle 15"/>
          <p:cNvSpPr/>
          <p:nvPr/>
        </p:nvSpPr>
        <p:spPr>
          <a:xfrm>
            <a:off x="7244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9月</a:t>
            </a:r>
          </a:p>
        </p:txBody>
      </p:sp>
      <p:sp>
        <p:nvSpPr>
          <p:cNvPr id="17" name="Rounded Rectangle 16"/>
          <p:cNvSpPr/>
          <p:nvPr/>
        </p:nvSpPr>
        <p:spPr>
          <a:xfrm>
            <a:off x="8010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10月</a:t>
            </a:r>
          </a:p>
        </p:txBody>
      </p:sp>
      <p:sp>
        <p:nvSpPr>
          <p:cNvPr id="18" name="Rounded Rectangle 17"/>
          <p:cNvSpPr/>
          <p:nvPr/>
        </p:nvSpPr>
        <p:spPr>
          <a:xfrm>
            <a:off x="8776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ea typeface="メイリオ"/>
              </a:rPr>
              <a:t>11月</a:t>
            </a:r>
          </a:p>
        </p:txBody>
      </p:sp>
      <p:sp>
        <p:nvSpPr>
          <p:cNvPr id="19" name="Rounded Rectangle 18"/>
          <p:cNvSpPr/>
          <p:nvPr/>
        </p:nvSpPr>
        <p:spPr>
          <a:xfrm>
            <a:off x="350000" y="2400000"/>
            <a:ext cx="3816000" cy="1463554"/>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1F3A5F"/>
                </a:solidFill>
                <a:latin typeface="メイリオ"/>
                <a:ea typeface="メイリオ"/>
              </a:rPr>
              <a:t>1月　最大ピーク（新年の決意）</a:t>
            </a:r>
          </a:p>
          <a:p>
            <a:pPr algn="l"/>
            <a:r>
              <a:rPr sz="950" b="0">
                <a:solidFill>
                  <a:srgbClr val="333333"/>
                </a:solidFill>
                <a:latin typeface="メイリオ"/>
                <a:ea typeface="メイリオ"/>
              </a:rPr>
              <a:t>・年明けに検索が最も立つ／CPCも最高値</a:t>
            </a:r>
          </a:p>
          <a:p>
            <a:pPr algn="l"/>
            <a:r>
              <a:rPr sz="950" b="0">
                <a:solidFill>
                  <a:srgbClr val="333333"/>
                </a:solidFill>
                <a:latin typeface="メイリオ"/>
                <a:ea typeface="メイリオ"/>
              </a:rPr>
              <a:t>・入会金無料CP／体づくりタイプ診断</a:t>
            </a:r>
          </a:p>
          <a:p>
            <a:pPr algn="l"/>
            <a:r>
              <a:rPr sz="950" b="0">
                <a:solidFill>
                  <a:srgbClr val="333333"/>
                </a:solidFill>
                <a:latin typeface="メイリオ"/>
                <a:ea typeface="メイリオ"/>
              </a:rPr>
              <a:t>・11〜12月に溜めた友だちへ一斉配信</a:t>
            </a:r>
          </a:p>
        </p:txBody>
      </p:sp>
      <p:sp>
        <p:nvSpPr>
          <p:cNvPr id="20" name="Rounded Rectangle 19"/>
          <p:cNvSpPr/>
          <p:nvPr/>
        </p:nvSpPr>
        <p:spPr>
          <a:xfrm>
            <a:off x="4180000" y="2400000"/>
            <a:ext cx="3050000" cy="1463554"/>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06C755"/>
                </a:solidFill>
                <a:latin typeface="メイリオ"/>
                <a:ea typeface="メイリオ"/>
              </a:rPr>
              <a:t>4〜7月　新生活と薄着期</a:t>
            </a:r>
          </a:p>
          <a:p>
            <a:pPr algn="l"/>
            <a:r>
              <a:rPr sz="950" b="0">
                <a:solidFill>
                  <a:srgbClr val="333333"/>
                </a:solidFill>
                <a:latin typeface="メイリオ"/>
                <a:ea typeface="メイリオ"/>
              </a:rPr>
              <a:t>・4月＝転居・異動・新社会人</a:t>
            </a:r>
          </a:p>
          <a:p>
            <a:pPr algn="l"/>
            <a:r>
              <a:rPr sz="950" b="0">
                <a:solidFill>
                  <a:srgbClr val="333333"/>
                </a:solidFill>
                <a:latin typeface="メイリオ"/>
                <a:ea typeface="メイリオ"/>
              </a:rPr>
              <a:t>・5〜7月＝ダイエット目的で確度が高い</a:t>
            </a:r>
          </a:p>
          <a:p>
            <a:pPr algn="l"/>
            <a:r>
              <a:rPr sz="950" b="0">
                <a:solidFill>
                  <a:srgbClr val="333333"/>
                </a:solidFill>
                <a:latin typeface="メイリオ"/>
                <a:ea typeface="メイリオ"/>
              </a:rPr>
              <a:t>・ビフォーアフター実例が最も効く</a:t>
            </a:r>
          </a:p>
        </p:txBody>
      </p:sp>
      <p:sp>
        <p:nvSpPr>
          <p:cNvPr id="21" name="Rounded Rectangle 20"/>
          <p:cNvSpPr/>
          <p:nvPr/>
        </p:nvSpPr>
        <p:spPr>
          <a:xfrm>
            <a:off x="7244000" y="2400000"/>
            <a:ext cx="2284000" cy="1463554"/>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24345A"/>
                </a:solidFill>
                <a:latin typeface="メイリオ"/>
                <a:ea typeface="メイリオ"/>
              </a:rPr>
              <a:t>8〜12月　閑散期＝仕込み期</a:t>
            </a:r>
          </a:p>
          <a:p>
            <a:pPr algn="l"/>
            <a:r>
              <a:rPr sz="950" b="0">
                <a:solidFill>
                  <a:srgbClr val="333333"/>
                </a:solidFill>
                <a:latin typeface="メイリオ"/>
                <a:ea typeface="メイリオ"/>
              </a:rPr>
              <a:t>・8月後半と11〜12月は需要が落ちる</a:t>
            </a:r>
          </a:p>
          <a:p>
            <a:pPr algn="l"/>
            <a:r>
              <a:rPr sz="950" b="0">
                <a:solidFill>
                  <a:srgbClr val="333333"/>
                </a:solidFill>
                <a:latin typeface="メイリオ"/>
                <a:ea typeface="メイリオ"/>
              </a:rPr>
              <a:t>・診断・料金シミュレーターで友だちを溜める</a:t>
            </a:r>
          </a:p>
          <a:p>
            <a:pPr algn="l"/>
            <a:r>
              <a:rPr sz="950" b="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50000" y="4480000"/>
            <a:ext cx="6000000" cy="300000"/>
          </a:xfrm>
          <a:prstGeom prst="rect">
            <a:avLst/>
          </a:prstGeom>
          <a:noFill/>
        </p:spPr>
        <p:txBody>
          <a:bodyPr wrap="square">
            <a:spAutoFit/>
          </a:bodyPr>
          <a:lstStyle/>
          <a:p>
            <a:r>
              <a:rPr sz="12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5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050" b="1" dirty="0">
                <a:solidFill>
                  <a:srgbClr val="1F3A5F"/>
                </a:solidFill>
                <a:latin typeface="メイリオ"/>
                <a:ea typeface="メイリオ"/>
              </a:rPr>
              <a:t>月</a:t>
            </a:r>
            <a:r>
              <a:rPr lang="en-US" altLang="ja-JP" sz="1050" b="1" dirty="0">
                <a:solidFill>
                  <a:srgbClr val="1F3A5F"/>
                </a:solidFill>
                <a:latin typeface="メイリオ"/>
                <a:ea typeface="メイリオ"/>
              </a:rPr>
              <a:t>4</a:t>
            </a:r>
            <a:r>
              <a:rPr sz="1050" b="1" dirty="0">
                <a:solidFill>
                  <a:srgbClr val="1F3A5F"/>
                </a:solidFill>
                <a:latin typeface="メイリオ"/>
                <a:ea typeface="メイリオ"/>
              </a:rPr>
              <a:t>回：定期投稿</a:t>
            </a:r>
          </a:p>
          <a:p>
            <a:pPr algn="l"/>
            <a:endParaRPr sz="1050" b="1" dirty="0">
              <a:solidFill>
                <a:srgbClr val="1F3A5F"/>
              </a:solidFill>
              <a:latin typeface="メイリオ"/>
              <a:ea typeface="メイリオ"/>
            </a:endParaRPr>
          </a:p>
          <a:p>
            <a:pPr algn="l"/>
            <a:r>
              <a:rPr sz="900" b="0" dirty="0" err="1">
                <a:solidFill>
                  <a:srgbClr val="333333"/>
                </a:solidFill>
                <a:latin typeface="メイリオ"/>
                <a:ea typeface="メイリオ"/>
              </a:rPr>
              <a:t>月次プランで「いつ・何を」を事前確定し、システム化して運用</a:t>
            </a:r>
            <a:endParaRPr sz="900" b="0" dirty="0">
              <a:solidFill>
                <a:srgbClr val="333333"/>
              </a:solidFill>
              <a:latin typeface="メイリオ"/>
              <a:ea typeface="メイリオ"/>
            </a:endParaRPr>
          </a:p>
        </p:txBody>
      </p:sp>
      <p:sp>
        <p:nvSpPr>
          <p:cNvPr id="25" name="Rounded Rectangle 24"/>
          <p:cNvSpPr/>
          <p:nvPr/>
        </p:nvSpPr>
        <p:spPr>
          <a:xfrm>
            <a:off x="268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ea typeface="メイリオ"/>
              </a:rPr>
              <a:t>時期・時事の特別配信</a:t>
            </a:r>
          </a:p>
          <a:p>
            <a:pPr algn="l"/>
            <a:endParaRPr sz="1050" b="1">
              <a:solidFill>
                <a:srgbClr val="1F3A5F"/>
              </a:solidFill>
              <a:latin typeface="メイリオ"/>
              <a:ea typeface="メイリオ"/>
            </a:endParaRPr>
          </a:p>
          <a:p>
            <a:pPr algn="l"/>
            <a:r>
              <a:rPr sz="900" b="0">
                <a:solidFill>
                  <a:srgbClr val="333333"/>
                </a:solidFill>
                <a:latin typeface="メイリオ"/>
                <a:ea typeface="メイリオ"/>
              </a:rPr>
              <a:t>繁忙期CP、相場や時事ニュースに連動した配信を追加</a:t>
            </a:r>
          </a:p>
        </p:txBody>
      </p:sp>
      <p:sp>
        <p:nvSpPr>
          <p:cNvPr id="26" name="Rounded Rectangle 25"/>
          <p:cNvSpPr/>
          <p:nvPr/>
        </p:nvSpPr>
        <p:spPr>
          <a:xfrm>
            <a:off x="501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ea typeface="メイリオ"/>
              </a:rPr>
              <a:t>ステップ配信は全自動</a:t>
            </a:r>
          </a:p>
          <a:p>
            <a:pPr algn="l"/>
            <a:endParaRPr sz="1050" b="1">
              <a:solidFill>
                <a:srgbClr val="1F3A5F"/>
              </a:solidFill>
              <a:latin typeface="メイリオ"/>
              <a:ea typeface="メイリオ"/>
            </a:endParaRPr>
          </a:p>
          <a:p>
            <a:pPr algn="l"/>
            <a:r>
              <a:rPr sz="900" b="0">
                <a:solidFill>
                  <a:srgbClr val="333333"/>
                </a:solidFill>
                <a:latin typeface="メイリオ"/>
                <a:ea typeface="メイリオ"/>
              </a:rPr>
              <a:t>友だち追加後の育成配信はシナリオで常時稼働</a:t>
            </a:r>
          </a:p>
        </p:txBody>
      </p:sp>
      <p:sp>
        <p:nvSpPr>
          <p:cNvPr id="27" name="Rounded Rectangle 26"/>
          <p:cNvSpPr/>
          <p:nvPr/>
        </p:nvSpPr>
        <p:spPr>
          <a:xfrm>
            <a:off x="734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ea typeface="メイリオ"/>
              </a:rPr>
              <a:t>クリエイティブABテスト</a:t>
            </a:r>
          </a:p>
          <a:p>
            <a:pPr algn="l"/>
            <a:endParaRPr sz="1050" b="1">
              <a:solidFill>
                <a:srgbClr val="1F3A5F"/>
              </a:solidFill>
              <a:latin typeface="メイリオ"/>
              <a:ea typeface="メイリオ"/>
            </a:endParaRPr>
          </a:p>
          <a:p>
            <a:pPr algn="l"/>
            <a:r>
              <a:rPr sz="900" b="0">
                <a:solidFill>
                  <a:srgbClr val="333333"/>
                </a:solidFill>
                <a:latin typeface="メイリオ"/>
                <a:ea typeface="メイリオ"/>
              </a:rPr>
              <a:t>訴求×時期×ターゲットでテストし、勝ちパターンを更新</a:t>
            </a:r>
          </a:p>
        </p:txBody>
      </p:sp>
    </p:spTree>
    <p:extLst>
      <p:ext uri="{BB962C8B-B14F-4D97-AF65-F5344CB8AC3E}">
        <p14:creationId xmlns:p14="http://schemas.microsoft.com/office/powerpoint/2010/main" val="3225074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a:solidFill>
                  <a:srgbClr val="333333"/>
                </a:solidFill>
                <a:latin typeface="メイリオ"/>
                <a:ea typeface="メイリオ"/>
              </a:rPr>
              <a:t>非友だち・保有リストにも接点を作り（通知メッセ）、参加型の企画で友だちとCVを両取りする。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具体企画のブレスト</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50000" y="1650000"/>
            <a:ext cx="4400000" cy="280000"/>
          </a:xfrm>
          <a:prstGeom prst="rect">
            <a:avLst/>
          </a:prstGeom>
          <a:noFill/>
        </p:spPr>
        <p:txBody>
          <a:bodyPr wrap="square">
            <a:spAutoFit/>
          </a:bodyPr>
          <a:lstStyle/>
          <a:p>
            <a:pPr algn="l"/>
            <a:r>
              <a:rPr sz="1100" b="1">
                <a:solidFill>
                  <a:srgbClr val="1F3A5F"/>
                </a:solidFill>
                <a:latin typeface="メイリオ"/>
                <a:ea typeface="メイリオ"/>
              </a:rPr>
              <a:t>■ 通知メッセージ 利用シーン</a:t>
            </a:r>
          </a:p>
        </p:txBody>
      </p:sp>
      <p:sp>
        <p:nvSpPr>
          <p:cNvPr id="8" name="Rounded Rectangle 7"/>
          <p:cNvSpPr/>
          <p:nvPr/>
        </p:nvSpPr>
        <p:spPr>
          <a:xfrm>
            <a:off x="35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ea typeface="メイリオ"/>
              </a:rPr>
              <a:t>体験予約確定のお知らせ</a:t>
            </a:r>
          </a:p>
          <a:p>
            <a:pPr algn="ctr"/>
            <a:endParaRPr sz="1000" b="1">
              <a:solidFill>
                <a:srgbClr val="1F3A5F"/>
              </a:solidFill>
              <a:latin typeface="メイリオ"/>
              <a:ea typeface="メイリオ"/>
            </a:endParaRPr>
          </a:p>
          <a:p>
            <a:pPr algn="ctr"/>
            <a:r>
              <a:rPr sz="850" b="0">
                <a:solidFill>
                  <a:srgbClr val="333333"/>
                </a:solidFill>
                <a:latin typeface="メイリオ"/>
                <a:ea typeface="メイリオ"/>
              </a:rPr>
              <a:t>持ち物・アクセス案内→来店(CV②)へ</a:t>
            </a:r>
          </a:p>
        </p:txBody>
      </p:sp>
      <p:sp>
        <p:nvSpPr>
          <p:cNvPr id="9" name="Rounded Rectangle 8"/>
          <p:cNvSpPr/>
          <p:nvPr/>
        </p:nvSpPr>
        <p:spPr>
          <a:xfrm>
            <a:off x="273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ea typeface="メイリオ"/>
              </a:rPr>
              <a:t>入会手続き完了のお知らせ</a:t>
            </a:r>
          </a:p>
          <a:p>
            <a:pPr algn="ctr"/>
            <a:endParaRPr sz="1000" b="1">
              <a:solidFill>
                <a:srgbClr val="1F3A5F"/>
              </a:solidFill>
              <a:latin typeface="メイリオ"/>
              <a:ea typeface="メイリオ"/>
            </a:endParaRPr>
          </a:p>
          <a:p>
            <a:pPr algn="ctr"/>
            <a:r>
              <a:rPr sz="850" b="0">
                <a:solidFill>
                  <a:srgbClr val="333333"/>
                </a:solidFill>
                <a:latin typeface="メイリオ"/>
                <a:ea typeface="メイリオ"/>
              </a:rPr>
              <a:t>初回来店の予約→継続(CV③)へ</a:t>
            </a:r>
          </a:p>
        </p:txBody>
      </p:sp>
      <p:sp>
        <p:nvSpPr>
          <p:cNvPr id="10" name="Rounded Rectangle 9"/>
          <p:cNvSpPr/>
          <p:nvPr/>
        </p:nvSpPr>
        <p:spPr>
          <a:xfrm>
            <a:off x="511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ea typeface="メイリオ"/>
              </a:rPr>
              <a:t>体験前日リマインド</a:t>
            </a:r>
          </a:p>
          <a:p>
            <a:pPr algn="ctr"/>
            <a:endParaRPr sz="1000" b="1">
              <a:solidFill>
                <a:srgbClr val="1F3A5F"/>
              </a:solidFill>
              <a:latin typeface="メイリオ"/>
              <a:ea typeface="メイリオ"/>
            </a:endParaRPr>
          </a:p>
          <a:p>
            <a:pPr algn="ctr"/>
            <a:r>
              <a:rPr sz="850" b="0">
                <a:solidFill>
                  <a:srgbClr val="333333"/>
                </a:solidFill>
                <a:latin typeface="メイリオ"/>
                <a:ea typeface="メイリオ"/>
              </a:rPr>
              <a:t>当日キャンセル防止</a:t>
            </a:r>
          </a:p>
        </p:txBody>
      </p:sp>
      <p:sp>
        <p:nvSpPr>
          <p:cNvPr id="11" name="Rounded Rectangle 10"/>
          <p:cNvSpPr/>
          <p:nvPr/>
        </p:nvSpPr>
        <p:spPr>
          <a:xfrm>
            <a:off x="749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ea typeface="メイリオ"/>
              </a:rPr>
              <a:t>入会キャンペーン告知</a:t>
            </a:r>
          </a:p>
          <a:p>
            <a:pPr algn="ctr"/>
            <a:endParaRPr sz="1000" b="1">
              <a:solidFill>
                <a:srgbClr val="1F3A5F"/>
              </a:solidFill>
              <a:latin typeface="メイリオ"/>
              <a:ea typeface="メイリオ"/>
            </a:endParaRPr>
          </a:p>
          <a:p>
            <a:pPr algn="ctr"/>
            <a:r>
              <a:rPr sz="850" b="0">
                <a:solidFill>
                  <a:srgbClr val="333333"/>
                </a:solidFill>
                <a:latin typeface="メイリオ"/>
                <a:ea typeface="メイリオ"/>
              </a:rPr>
              <a:t>保有リストへ再アプローチ</a:t>
            </a:r>
          </a:p>
        </p:txBody>
      </p:sp>
      <p:sp>
        <p:nvSpPr>
          <p:cNvPr id="12" name="TextBox 11"/>
          <p:cNvSpPr txBox="1"/>
          <p:nvPr/>
        </p:nvSpPr>
        <p:spPr>
          <a:xfrm>
            <a:off x="350000" y="3200000"/>
            <a:ext cx="4400000" cy="261610"/>
          </a:xfrm>
          <a:prstGeom prst="rect">
            <a:avLst/>
          </a:prstGeom>
          <a:noFill/>
        </p:spPr>
        <p:txBody>
          <a:bodyPr wrap="square">
            <a:spAutoFit/>
          </a:bodyPr>
          <a:lstStyle/>
          <a:p>
            <a:pPr algn="l"/>
            <a:r>
              <a:rPr sz="1100" b="1" dirty="0">
                <a:solidFill>
                  <a:srgbClr val="1F3A5F"/>
                </a:solidFill>
                <a:latin typeface="メイリオ"/>
                <a:ea typeface="メイリオ"/>
              </a:rPr>
              <a:t>■ </a:t>
            </a:r>
            <a:r>
              <a:rPr lang="ja-JP" altLang="en-US" sz="1100" b="1" dirty="0">
                <a:solidFill>
                  <a:srgbClr val="1F3A5F"/>
                </a:solidFill>
                <a:latin typeface="メイリオ"/>
                <a:ea typeface="メイリオ"/>
              </a:rPr>
              <a:t>その他特殊動線の利用シーン</a:t>
            </a:r>
            <a:endParaRPr sz="1100" b="1" dirty="0">
              <a:solidFill>
                <a:srgbClr val="1F3A5F"/>
              </a:solidFill>
              <a:latin typeface="メイリオ"/>
              <a:ea typeface="メイリオ"/>
            </a:endParaRPr>
          </a:p>
        </p:txBody>
      </p:sp>
      <p:sp>
        <p:nvSpPr>
          <p:cNvPr id="13" name="Rounded Rectangle 12"/>
          <p:cNvSpPr/>
          <p:nvPr/>
        </p:nvSpPr>
        <p:spPr>
          <a:xfrm>
            <a:off x="35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ea typeface="メイリオ"/>
              </a:rPr>
              <a:t>① 30秒でわかる体づくりタイプ診断</a:t>
            </a:r>
          </a:p>
          <a:p>
            <a:pPr algn="ctr"/>
            <a:endParaRPr sz="950" b="1">
              <a:solidFill>
                <a:srgbClr val="FFFFFF"/>
              </a:solidFill>
              <a:latin typeface="メイリオ"/>
              <a:ea typeface="メイリオ"/>
            </a:endParaRPr>
          </a:p>
          <a:p>
            <a:pPr algn="ctr"/>
            <a:r>
              <a:rPr sz="850" b="0">
                <a:solidFill>
                  <a:srgbClr val="FFFFFF"/>
                </a:solidFill>
                <a:latin typeface="メイリオ"/>
                <a:ea typeface="メイリオ"/>
              </a:rPr>
              <a:t>数タップで完了。体験前の心理ハードルを最小化</a:t>
            </a:r>
          </a:p>
        </p:txBody>
      </p:sp>
      <p:sp>
        <p:nvSpPr>
          <p:cNvPr id="14" name="Rounded Rectangle 13"/>
          <p:cNvSpPr/>
          <p:nvPr/>
        </p:nvSpPr>
        <p:spPr>
          <a:xfrm>
            <a:off x="273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ea typeface="メイリオ"/>
              </a:rPr>
              <a:t>② 通う頻度から選ぶ料金診断</a:t>
            </a:r>
          </a:p>
          <a:p>
            <a:pPr algn="ctr"/>
            <a:endParaRPr sz="950" b="1">
              <a:solidFill>
                <a:srgbClr val="FFFFFF"/>
              </a:solidFill>
              <a:latin typeface="メイリオ"/>
              <a:ea typeface="メイリオ"/>
            </a:endParaRPr>
          </a:p>
          <a:p>
            <a:pPr algn="ctr"/>
            <a:r>
              <a:rPr sz="850" b="0">
                <a:solidFill>
                  <a:srgbClr val="FFFFFF"/>
                </a:solidFill>
                <a:latin typeface="メイリオ"/>
                <a:ea typeface="メイリオ"/>
              </a:rPr>
              <a:t>「週2回なら1回◯円」を提示→体験予約へ</a:t>
            </a:r>
          </a:p>
        </p:txBody>
      </p:sp>
      <p:sp>
        <p:nvSpPr>
          <p:cNvPr id="15" name="Rounded Rectangle 14"/>
          <p:cNvSpPr/>
          <p:nvPr/>
        </p:nvSpPr>
        <p:spPr>
          <a:xfrm>
            <a:off x="511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ea typeface="メイリオ"/>
              </a:rPr>
              <a:t>③ 続けられるかタイプ診断</a:t>
            </a:r>
          </a:p>
          <a:p>
            <a:pPr algn="ctr"/>
            <a:endParaRPr sz="950" b="1">
              <a:solidFill>
                <a:srgbClr val="FFFFFF"/>
              </a:solidFill>
              <a:latin typeface="メイリオ"/>
              <a:ea typeface="メイリオ"/>
            </a:endParaRPr>
          </a:p>
          <a:p>
            <a:pPr algn="ctr"/>
            <a:r>
              <a:rPr sz="850" b="0">
                <a:solidFill>
                  <a:srgbClr val="FFFFFF"/>
                </a:solidFill>
                <a:latin typeface="メイリオ"/>
                <a:ea typeface="メイリオ"/>
              </a:rPr>
              <a:t>「続かない」不安に直撃＋友だち獲得</a:t>
            </a:r>
          </a:p>
        </p:txBody>
      </p:sp>
      <p:sp>
        <p:nvSpPr>
          <p:cNvPr id="16" name="Rounded Rectangle 15"/>
          <p:cNvSpPr/>
          <p:nvPr/>
        </p:nvSpPr>
        <p:spPr>
          <a:xfrm>
            <a:off x="749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ea typeface="メイリオ"/>
              </a:rPr>
              <a:t>④ 退会予兆検知（来店が2週間途切れ）</a:t>
            </a:r>
          </a:p>
          <a:p>
            <a:pPr algn="ctr"/>
            <a:endParaRPr sz="950" b="1">
              <a:solidFill>
                <a:srgbClr val="FFFFFF"/>
              </a:solidFill>
              <a:latin typeface="メイリオ"/>
              <a:ea typeface="メイリオ"/>
            </a:endParaRPr>
          </a:p>
          <a:p>
            <a:pPr algn="ctr"/>
            <a:r>
              <a:rPr sz="85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51999"/>
          </a:xfrm>
          <a:prstGeom prst="rect">
            <a:avLst/>
          </a:prstGeom>
          <a:noFill/>
        </p:spPr>
        <p:txBody>
          <a:bodyPr wrap="square" lIns="28800" tIns="10800" rIns="28800" bIns="10800">
            <a:spAutoFit/>
          </a:bodyPr>
          <a:lstStyle/>
          <a:p>
            <a:r>
              <a:rPr sz="1200" b="1">
                <a:solidFill>
                  <a:srgbClr val="1F2A5C"/>
                </a:solidFill>
                <a:latin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200" b="1">
                <a:solidFill>
                  <a:srgbClr val="1F2A5C"/>
                </a:solidFill>
                <a:latin typeface="メイリオ"/>
              </a:rPr>
              <a:t>保有リストの電話番号</a:t>
            </a:r>
          </a:p>
          <a:p>
            <a:pPr algn="ctr"/>
            <a:r>
              <a:rPr sz="1000" b="0">
                <a:solidFill>
                  <a:srgbClr val="1C2233"/>
                </a:solidFill>
                <a:latin typeface="メイリオ"/>
              </a:rPr>
              <a:t>過去の体験申込・休眠会員リストを利用</a:t>
            </a:r>
          </a:p>
        </p:txBody>
      </p:sp>
      <p:sp>
        <p:nvSpPr>
          <p:cNvPr id="19" name="TextBox 18"/>
          <p:cNvSpPr txBox="1"/>
          <p:nvPr/>
        </p:nvSpPr>
        <p:spPr>
          <a:xfrm>
            <a:off x="3114000" y="5364000"/>
            <a:ext cx="324000" cy="324000"/>
          </a:xfrm>
          <a:prstGeom prst="rect">
            <a:avLst/>
          </a:prstGeom>
          <a:noFill/>
        </p:spPr>
        <p:txBody>
          <a:bodyPr wrap="square" lIns="28800" tIns="10800" rIns="28800" bIns="10800">
            <a:spAutoFit/>
          </a:bodyPr>
          <a:lstStyle/>
          <a:p>
            <a:pPr algn="ctr"/>
            <a:r>
              <a:rPr sz="2000" b="1">
                <a:solidFill>
                  <a:srgbClr val="1F2A5C"/>
                </a:solidFill>
                <a:latin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200" b="1">
                <a:solidFill>
                  <a:srgbClr val="1F2A5C"/>
                </a:solidFill>
                <a:latin typeface="メイリオ"/>
              </a:rPr>
              <a:t>LINEの電話番号と照合</a:t>
            </a:r>
          </a:p>
          <a:p>
            <a:pPr algn="ctr"/>
            <a:r>
              <a:rPr sz="1000" b="0">
                <a:solidFill>
                  <a:srgbClr val="1C2233"/>
                </a:solidFill>
                <a:latin typeface="メイリオ"/>
              </a:rPr>
              <a:t>LINEヤフー公式機能。友だち登録が無くても対象化</a:t>
            </a:r>
          </a:p>
        </p:txBody>
      </p:sp>
      <p:sp>
        <p:nvSpPr>
          <p:cNvPr id="21" name="TextBox 20"/>
          <p:cNvSpPr txBox="1"/>
          <p:nvPr/>
        </p:nvSpPr>
        <p:spPr>
          <a:xfrm>
            <a:off x="6217200" y="5364000"/>
            <a:ext cx="324000" cy="324000"/>
          </a:xfrm>
          <a:prstGeom prst="rect">
            <a:avLst/>
          </a:prstGeom>
          <a:noFill/>
        </p:spPr>
        <p:txBody>
          <a:bodyPr wrap="square" lIns="28800" tIns="10800" rIns="28800" bIns="10800">
            <a:spAutoFit/>
          </a:bodyPr>
          <a:lstStyle/>
          <a:p>
            <a:pPr algn="ctr"/>
            <a:r>
              <a:rPr sz="2000" b="1">
                <a:solidFill>
                  <a:srgbClr val="1F2A5C"/>
                </a:solidFill>
                <a:latin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200" b="1">
                <a:solidFill>
                  <a:srgbClr val="1F2A5C"/>
                </a:solidFill>
                <a:latin typeface="メイリオ"/>
              </a:rPr>
              <a:t>LINE上に直接配信</a:t>
            </a:r>
          </a:p>
          <a:p>
            <a:pPr algn="ctr"/>
            <a:r>
              <a:rPr sz="1000" b="0">
                <a:solidFill>
                  <a:srgbClr val="1C2233"/>
                </a:solidFill>
                <a:latin typeface="メイリオ"/>
              </a:rPr>
              <a:t>友だち化・再来店へ。メール・テレマより接触率の高い接点</a:t>
            </a:r>
          </a:p>
        </p:txBody>
      </p:sp>
      <p:sp>
        <p:nvSpPr>
          <p:cNvPr id="23" name="TextBox 22"/>
          <p:cNvSpPr txBox="1"/>
          <p:nvPr/>
        </p:nvSpPr>
        <p:spPr>
          <a:xfrm>
            <a:off x="349200" y="6048000"/>
            <a:ext cx="9180000" cy="216000"/>
          </a:xfrm>
          <a:prstGeom prst="rect">
            <a:avLst/>
          </a:prstGeom>
          <a:noFill/>
        </p:spPr>
        <p:txBody>
          <a:bodyPr wrap="square" lIns="28800" tIns="10800" rIns="28800" bIns="10800">
            <a:spAutoFit/>
          </a:bodyPr>
          <a:lstStyle/>
          <a:p>
            <a:r>
              <a:rPr sz="1000" b="0">
                <a:solidFill>
                  <a:srgbClr val="646C82"/>
                </a:solidFill>
                <a:latin typeface="メイリオ"/>
              </a:rPr>
              <a:t>※ 通知メッセージは別途費用（初期20万円・月額60万円〜／社内料金表）。配信できる内容には要件・審査があります。</a:t>
            </a:r>
          </a:p>
        </p:txBody>
      </p:sp>
    </p:spTree>
    <p:extLst>
      <p:ext uri="{BB962C8B-B14F-4D97-AF65-F5344CB8AC3E}">
        <p14:creationId xmlns:p14="http://schemas.microsoft.com/office/powerpoint/2010/main" val="4224870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4" name="TextBox 113"/>
          <p:cNvSpPr txBox="1"/>
          <p:nvPr/>
        </p:nvSpPr>
        <p:spPr>
          <a:xfrm>
            <a:off x="2354400" y="3405600"/>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Web予約の完了率が低い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a:solidFill>
                  <a:srgbClr val="1C2233"/>
                </a:solidFill>
                <a:latin typeface="メイリオ"/>
              </a:rPr>
              <a:t>✓ Web予約は既に回っている</a:t>
            </a:r>
          </a:p>
          <a:p>
            <a:r>
              <a:rPr sz="1200" b="0">
                <a:solidFill>
                  <a:srgbClr val="1C2233"/>
                </a:solidFill>
                <a:latin typeface="メイリオ"/>
              </a:rPr>
              <a:t>✓ 無断キャンセルが課題</a:t>
            </a:r>
          </a:p>
          <a:p>
            <a:r>
              <a:rPr sz="1200" b="0">
                <a:solidFill>
                  <a:srgbClr val="1C2233"/>
                </a:solidFill>
                <a:latin typeface="メイリオ"/>
              </a:rPr>
              <a:t>✓ 通知メッセを使いたい</a:t>
            </a:r>
          </a:p>
          <a:p>
            <a:r>
              <a:rPr sz="1200" b="0">
                <a:solidFill>
                  <a:srgbClr val="1C2233"/>
                </a:solidFill>
                <a:latin typeface="メイリオ"/>
              </a:rPr>
              <a:t>✓ 入会後もLINEを活用したい</a:t>
            </a: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310896"/>
          </a:xfrm>
          <a:prstGeom prst="rect">
            <a:avLst/>
          </a:prstGeom>
          <a:noFill/>
        </p:spPr>
        <p:txBody>
          <a:bodyPr wrap="square" lIns="0" tIns="0" rIns="0" bIns="0">
            <a:spAutoFit/>
          </a:bodyPr>
          <a:lstStyle/>
          <a:p>
            <a:r>
              <a:rPr sz="1300" b="0">
                <a:solidFill>
                  <a:srgbClr val="646C82"/>
                </a:solidFill>
                <a:latin typeface="メイリオ"/>
                <a:ea typeface="メイリオ"/>
              </a:rPr>
              <a:t>WEB広告 月100万円は据え置き。追加するのはLINE運用費10万円のみ。（月会費8,000円・平均在籍12ヶ月）</a:t>
            </a:r>
          </a:p>
        </p:txBody>
      </p:sp>
      <p:graphicFrame>
        <p:nvGraphicFramePr>
          <p:cNvPr id="4" name="Table 3"/>
          <p:cNvGraphicFramePr>
            <a:graphicFrameLocks noGrp="1"/>
          </p:cNvGraphicFramePr>
          <p:nvPr/>
        </p:nvGraphicFramePr>
        <p:xfrm>
          <a:off x="384048" y="1170432"/>
          <a:ext cx="9134856" cy="361296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100" b="1">
                          <a:solidFill>
                            <a:srgbClr val="FFFFFF"/>
                          </a:solidFill>
                          <a:latin typeface="メイリオ"/>
                          <a:ea typeface="メイリオ"/>
                        </a:rPr>
                        <a:t>指標</a:t>
                      </a:r>
                    </a:p>
                  </a:txBody>
                  <a:tcPr>
                    <a:solidFill>
                      <a:srgbClr val="1F2A5C"/>
                    </a:solidFill>
                  </a:tcPr>
                </a:tc>
                <a:tc>
                  <a:txBody>
                    <a:bodyPr/>
                    <a:lstStyle/>
                    <a:p>
                      <a:pPr algn="ctr"/>
                      <a:r>
                        <a:rPr sz="1100" b="1">
                          <a:solidFill>
                            <a:srgbClr val="FFFFFF"/>
                          </a:solidFill>
                          <a:latin typeface="メイリオ"/>
                          <a:ea typeface="メイリオ"/>
                        </a:rPr>
                        <a:t>Before（WEB広告のみ）</a:t>
                      </a:r>
                    </a:p>
                  </a:txBody>
                  <a:tcPr>
                    <a:solidFill>
                      <a:srgbClr val="1F2A5C"/>
                    </a:solidFill>
                  </a:tcPr>
                </a:tc>
                <a:tc>
                  <a:txBody>
                    <a:bodyPr/>
                    <a:lstStyle/>
                    <a:p>
                      <a:pPr algn="ctr"/>
                      <a:r>
                        <a:rPr sz="1100" b="1">
                          <a:solidFill>
                            <a:srgbClr val="FFFFFF"/>
                          </a:solidFill>
                          <a:latin typeface="メイリオ"/>
                          <a:ea typeface="メイリオ"/>
                        </a:rPr>
                        <a:t>After（広告 × LINE OA）</a:t>
                      </a:r>
                    </a:p>
                  </a:txBody>
                  <a:tcPr>
                    <a:solidFill>
                      <a:srgbClr val="1F2A5C"/>
                    </a:solidFill>
                  </a:tcPr>
                </a:tc>
                <a:tc>
                  <a:txBody>
                    <a:bodyPr/>
                    <a:lstStyle/>
                    <a:p>
                      <a:pPr algn="ctr"/>
                      <a:r>
                        <a:rPr sz="11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00" b="0">
                          <a:solidFill>
                            <a:srgbClr val="1C2233"/>
                          </a:solidFill>
                          <a:latin typeface="メイリオ"/>
                          <a:ea typeface="メイリオ"/>
                        </a:rPr>
                        <a:t>投下計（広告費＋LINE運用費）</a:t>
                      </a:r>
                    </a:p>
                  </a:txBody>
                  <a:tcPr>
                    <a:solidFill>
                      <a:srgbClr val="FFFFFF"/>
                    </a:solidFill>
                  </a:tcPr>
                </a:tc>
                <a:tc>
                  <a:txBody>
                    <a:bodyPr/>
                    <a:lstStyle/>
                    <a:p>
                      <a:pPr algn="ctr"/>
                      <a:r>
                        <a:rPr sz="1000" b="0">
                          <a:solidFill>
                            <a:srgbClr val="1C2233"/>
                          </a:solidFill>
                          <a:latin typeface="メイリオ"/>
                          <a:ea typeface="メイリオ"/>
                        </a:rPr>
                        <a:t>100万円</a:t>
                      </a:r>
                    </a:p>
                  </a:txBody>
                  <a:tcPr>
                    <a:solidFill>
                      <a:srgbClr val="FFFFFF"/>
                    </a:solidFill>
                  </a:tcPr>
                </a:tc>
                <a:tc>
                  <a:txBody>
                    <a:bodyPr/>
                    <a:lstStyle/>
                    <a:p>
                      <a:pPr algn="ctr"/>
                      <a:r>
                        <a:rPr sz="1000" b="0">
                          <a:solidFill>
                            <a:srgbClr val="1C2233"/>
                          </a:solidFill>
                          <a:latin typeface="メイリオ"/>
                          <a:ea typeface="メイリオ"/>
                        </a:rPr>
                        <a:t>110万円</a:t>
                      </a:r>
                    </a:p>
                  </a:txBody>
                  <a:tcPr>
                    <a:solidFill>
                      <a:srgbClr val="FFFFFF"/>
                    </a:solidFill>
                  </a:tcPr>
                </a:tc>
                <a:tc>
                  <a:txBody>
                    <a:bodyPr/>
                    <a:lstStyle/>
                    <a:p>
                      <a:pPr algn="ctr"/>
                      <a:r>
                        <a:rPr sz="100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00" b="0">
                          <a:solidFill>
                            <a:srgbClr val="1C2233"/>
                          </a:solidFill>
                          <a:latin typeface="メイリオ"/>
                          <a:ea typeface="メイリオ"/>
                        </a:rPr>
                        <a:t>LP流入 × LP CVR</a:t>
                      </a:r>
                    </a:p>
                  </a:txBody>
                  <a:tcPr>
                    <a:solidFill>
                      <a:srgbClr val="EFF1F7"/>
                    </a:solidFill>
                  </a:tcPr>
                </a:tc>
                <a:tc>
                  <a:txBody>
                    <a:bodyPr/>
                    <a:lstStyle/>
                    <a:p>
                      <a:pPr algn="ctr"/>
                      <a:r>
                        <a:rPr sz="1000" b="0">
                          <a:solidFill>
                            <a:srgbClr val="1C2233"/>
                          </a:solidFill>
                          <a:latin typeface="メイリオ"/>
                          <a:ea typeface="メイリオ"/>
                        </a:rPr>
                        <a:t>5,000 × 2.0%</a:t>
                      </a:r>
                    </a:p>
                  </a:txBody>
                  <a:tcPr>
                    <a:solidFill>
                      <a:srgbClr val="EFF1F7"/>
                    </a:solidFill>
                  </a:tcPr>
                </a:tc>
                <a:tc>
                  <a:txBody>
                    <a:bodyPr/>
                    <a:lstStyle/>
                    <a:p>
                      <a:pPr algn="ctr"/>
                      <a:r>
                        <a:rPr sz="1000" b="0">
                          <a:solidFill>
                            <a:srgbClr val="1C2233"/>
                          </a:solidFill>
                          <a:latin typeface="メイリオ"/>
                          <a:ea typeface="メイリオ"/>
                        </a:rPr>
                        <a:t>5,000 × 2.0%</a:t>
                      </a:r>
                    </a:p>
                  </a:txBody>
                  <a:tcPr>
                    <a:solidFill>
                      <a:srgbClr val="EFF1F7"/>
                    </a:solidFill>
                  </a:tcPr>
                </a:tc>
                <a:tc>
                  <a:txBody>
                    <a:bodyPr/>
                    <a:lstStyle/>
                    <a:p>
                      <a:pPr algn="ctr"/>
                      <a:r>
                        <a:rPr sz="100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00" b="0">
                          <a:solidFill>
                            <a:srgbClr val="1C2233"/>
                          </a:solidFill>
                          <a:latin typeface="メイリオ"/>
                          <a:ea typeface="メイリオ"/>
                        </a:rPr>
                        <a:t>広告経由の体験予約</a:t>
                      </a:r>
                    </a:p>
                  </a:txBody>
                  <a:tcPr>
                    <a:solidFill>
                      <a:srgbClr val="FFFFFF"/>
                    </a:solidFill>
                  </a:tcPr>
                </a:tc>
                <a:tc>
                  <a:txBody>
                    <a:bodyPr/>
                    <a:lstStyle/>
                    <a:p>
                      <a:pPr algn="ctr"/>
                      <a:r>
                        <a:rPr sz="1000" b="0">
                          <a:solidFill>
                            <a:srgbClr val="1C2233"/>
                          </a:solidFill>
                          <a:latin typeface="メイリオ"/>
                          <a:ea typeface="メイリオ"/>
                        </a:rPr>
                        <a:t>100件</a:t>
                      </a:r>
                    </a:p>
                  </a:txBody>
                  <a:tcPr>
                    <a:solidFill>
                      <a:srgbClr val="FFFFFF"/>
                    </a:solidFill>
                  </a:tcPr>
                </a:tc>
                <a:tc>
                  <a:txBody>
                    <a:bodyPr/>
                    <a:lstStyle/>
                    <a:p>
                      <a:pPr algn="ctr"/>
                      <a:r>
                        <a:rPr sz="1000" b="0">
                          <a:solidFill>
                            <a:srgbClr val="1C2233"/>
                          </a:solidFill>
                          <a:latin typeface="メイリオ"/>
                          <a:ea typeface="メイリオ"/>
                        </a:rPr>
                        <a:t>100件</a:t>
                      </a:r>
                    </a:p>
                  </a:txBody>
                  <a:tcPr>
                    <a:solidFill>
                      <a:srgbClr val="FFFFFF"/>
                    </a:solidFill>
                  </a:tcPr>
                </a:tc>
                <a:tc>
                  <a:txBody>
                    <a:bodyPr/>
                    <a:lstStyle/>
                    <a:p>
                      <a:pPr algn="ctr"/>
                      <a:r>
                        <a:rPr sz="100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00" b="0">
                          <a:solidFill>
                            <a:srgbClr val="1C2233"/>
                          </a:solidFill>
                          <a:latin typeface="メイリオ"/>
                          <a:ea typeface="メイリオ"/>
                        </a:rPr>
                        <a:t>LINE友だち化（離脱防止）</a:t>
                      </a:r>
                    </a:p>
                  </a:txBody>
                  <a:tcPr>
                    <a:solidFill>
                      <a:srgbClr val="EFF1F7"/>
                    </a:solidFill>
                  </a:tcPr>
                </a:tc>
                <a:tc>
                  <a:txBody>
                    <a:bodyPr/>
                    <a:lstStyle/>
                    <a:p>
                      <a:pPr algn="ctr"/>
                      <a:r>
                        <a:rPr sz="1000" b="0">
                          <a:solidFill>
                            <a:srgbClr val="1C2233"/>
                          </a:solidFill>
                          <a:latin typeface="メイリオ"/>
                          <a:ea typeface="メイリオ"/>
                        </a:rPr>
                        <a:t>―</a:t>
                      </a:r>
                    </a:p>
                  </a:txBody>
                  <a:tcPr>
                    <a:solidFill>
                      <a:srgbClr val="EFF1F7"/>
                    </a:solidFill>
                  </a:tcPr>
                </a:tc>
                <a:tc>
                  <a:txBody>
                    <a:bodyPr/>
                    <a:lstStyle/>
                    <a:p>
                      <a:pPr algn="ctr"/>
                      <a:r>
                        <a:rPr sz="1000" b="0">
                          <a:solidFill>
                            <a:srgbClr val="1C2233"/>
                          </a:solidFill>
                          <a:latin typeface="メイリオ"/>
                          <a:ea typeface="メイリオ"/>
                        </a:rPr>
                        <a:t>150人（流入の3%）</a:t>
                      </a:r>
                    </a:p>
                  </a:txBody>
                  <a:tcPr>
                    <a:solidFill>
                      <a:srgbClr val="EFF1F7"/>
                    </a:solidFill>
                  </a:tcPr>
                </a:tc>
                <a:tc>
                  <a:txBody>
                    <a:bodyPr/>
                    <a:lstStyle/>
                    <a:p>
                      <a:pPr algn="ctr"/>
                      <a:r>
                        <a:rPr sz="100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00" b="0">
                          <a:solidFill>
                            <a:srgbClr val="1C2233"/>
                          </a:solidFill>
                          <a:latin typeface="メイリオ"/>
                          <a:ea typeface="メイリオ"/>
                        </a:rPr>
                        <a:t>LINE経由の体験予約</a:t>
                      </a:r>
                    </a:p>
                  </a:txBody>
                  <a:tcPr>
                    <a:solidFill>
                      <a:srgbClr val="FFFFFF"/>
                    </a:solidFill>
                  </a:tcPr>
                </a:tc>
                <a:tc>
                  <a:txBody>
                    <a:bodyPr/>
                    <a:lstStyle/>
                    <a:p>
                      <a:pPr algn="ctr"/>
                      <a:r>
                        <a:rPr sz="1000" b="0">
                          <a:solidFill>
                            <a:srgbClr val="1C2233"/>
                          </a:solidFill>
                          <a:latin typeface="メイリオ"/>
                          <a:ea typeface="メイリオ"/>
                        </a:rPr>
                        <a:t>―</a:t>
                      </a:r>
                    </a:p>
                  </a:txBody>
                  <a:tcPr>
                    <a:solidFill>
                      <a:srgbClr val="FFFFFF"/>
                    </a:solidFill>
                  </a:tcPr>
                </a:tc>
                <a:tc>
                  <a:txBody>
                    <a:bodyPr/>
                    <a:lstStyle/>
                    <a:p>
                      <a:pPr algn="ctr"/>
                      <a:r>
                        <a:rPr sz="1000" b="0">
                          <a:solidFill>
                            <a:srgbClr val="1C2233"/>
                          </a:solidFill>
                          <a:latin typeface="メイリオ"/>
                          <a:ea typeface="メイリオ"/>
                        </a:rPr>
                        <a:t>12件（友だちの8%）</a:t>
                      </a:r>
                    </a:p>
                  </a:txBody>
                  <a:tcPr>
                    <a:solidFill>
                      <a:srgbClr val="FFFFFF"/>
                    </a:solidFill>
                  </a:tcPr>
                </a:tc>
                <a:tc>
                  <a:txBody>
                    <a:bodyPr/>
                    <a:lstStyle/>
                    <a:p>
                      <a:pPr algn="ctr"/>
                      <a:r>
                        <a:rPr sz="100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00" b="0">
                          <a:solidFill>
                            <a:srgbClr val="1C2233"/>
                          </a:solidFill>
                          <a:latin typeface="メイリオ"/>
                          <a:ea typeface="メイリオ"/>
                        </a:rPr>
                        <a:t>体験予約 合計</a:t>
                      </a:r>
                    </a:p>
                  </a:txBody>
                  <a:tcPr>
                    <a:solidFill>
                      <a:srgbClr val="EFF1F7"/>
                    </a:solidFill>
                  </a:tcPr>
                </a:tc>
                <a:tc>
                  <a:txBody>
                    <a:bodyPr/>
                    <a:lstStyle/>
                    <a:p>
                      <a:pPr algn="ctr"/>
                      <a:r>
                        <a:rPr sz="1000" b="0">
                          <a:solidFill>
                            <a:srgbClr val="1C2233"/>
                          </a:solidFill>
                          <a:latin typeface="メイリオ"/>
                          <a:ea typeface="メイリオ"/>
                        </a:rPr>
                        <a:t>100件</a:t>
                      </a:r>
                    </a:p>
                  </a:txBody>
                  <a:tcPr>
                    <a:solidFill>
                      <a:srgbClr val="EFF1F7"/>
                    </a:solidFill>
                  </a:tcPr>
                </a:tc>
                <a:tc>
                  <a:txBody>
                    <a:bodyPr/>
                    <a:lstStyle/>
                    <a:p>
                      <a:pPr algn="ctr"/>
                      <a:r>
                        <a:rPr sz="1000" b="0">
                          <a:solidFill>
                            <a:srgbClr val="1C2233"/>
                          </a:solidFill>
                          <a:latin typeface="メイリオ"/>
                          <a:ea typeface="メイリオ"/>
                        </a:rPr>
                        <a:t>112件</a:t>
                      </a:r>
                    </a:p>
                  </a:txBody>
                  <a:tcPr>
                    <a:solidFill>
                      <a:srgbClr val="EFF1F7"/>
                    </a:solidFill>
                  </a:tcPr>
                </a:tc>
                <a:tc>
                  <a:txBody>
                    <a:bodyPr/>
                    <a:lstStyle/>
                    <a:p>
                      <a:pPr algn="ctr"/>
                      <a:r>
                        <a:rPr sz="100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00" b="0">
                          <a:solidFill>
                            <a:srgbClr val="1C2233"/>
                          </a:solidFill>
                          <a:latin typeface="メイリオ"/>
                          <a:ea typeface="メイリオ"/>
                        </a:rPr>
                        <a:t>来店率</a:t>
                      </a:r>
                    </a:p>
                  </a:txBody>
                  <a:tcPr>
                    <a:solidFill>
                      <a:srgbClr val="FFFFFF"/>
                    </a:solidFill>
                  </a:tcPr>
                </a:tc>
                <a:tc>
                  <a:txBody>
                    <a:bodyPr/>
                    <a:lstStyle/>
                    <a:p>
                      <a:pPr algn="ctr"/>
                      <a:r>
                        <a:rPr sz="1000" b="0">
                          <a:solidFill>
                            <a:srgbClr val="1C2233"/>
                          </a:solidFill>
                          <a:latin typeface="メイリオ"/>
                          <a:ea typeface="メイリオ"/>
                        </a:rPr>
                        <a:t>60%</a:t>
                      </a:r>
                    </a:p>
                  </a:txBody>
                  <a:tcPr>
                    <a:solidFill>
                      <a:srgbClr val="FFFFFF"/>
                    </a:solidFill>
                  </a:tcPr>
                </a:tc>
                <a:tc>
                  <a:txBody>
                    <a:bodyPr/>
                    <a:lstStyle/>
                    <a:p>
                      <a:pPr algn="ctr"/>
                      <a:r>
                        <a:rPr sz="1000" b="0">
                          <a:solidFill>
                            <a:srgbClr val="1C2233"/>
                          </a:solidFill>
                          <a:latin typeface="メイリオ"/>
                          <a:ea typeface="メイリオ"/>
                        </a:rPr>
                        <a:t>75%</a:t>
                      </a:r>
                    </a:p>
                  </a:txBody>
                  <a:tcPr>
                    <a:solidFill>
                      <a:srgbClr val="FFFFFF"/>
                    </a:solidFill>
                  </a:tcPr>
                </a:tc>
                <a:tc>
                  <a:txBody>
                    <a:bodyPr/>
                    <a:lstStyle/>
                    <a:p>
                      <a:pPr algn="ctr"/>
                      <a:r>
                        <a:rPr sz="100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00" b="0">
                          <a:solidFill>
                            <a:srgbClr val="1C2233"/>
                          </a:solidFill>
                          <a:latin typeface="メイリオ"/>
                          <a:ea typeface="メイリオ"/>
                        </a:rPr>
                        <a:t>来店数</a:t>
                      </a:r>
                    </a:p>
                  </a:txBody>
                  <a:tcPr>
                    <a:solidFill>
                      <a:srgbClr val="EFF1F7"/>
                    </a:solidFill>
                  </a:tcPr>
                </a:tc>
                <a:tc>
                  <a:txBody>
                    <a:bodyPr/>
                    <a:lstStyle/>
                    <a:p>
                      <a:pPr algn="ctr"/>
                      <a:r>
                        <a:rPr sz="1000" b="0">
                          <a:solidFill>
                            <a:srgbClr val="1C2233"/>
                          </a:solidFill>
                          <a:latin typeface="メイリオ"/>
                          <a:ea typeface="メイリオ"/>
                        </a:rPr>
                        <a:t>60.0件</a:t>
                      </a:r>
                    </a:p>
                  </a:txBody>
                  <a:tcPr>
                    <a:solidFill>
                      <a:srgbClr val="EFF1F7"/>
                    </a:solidFill>
                  </a:tcPr>
                </a:tc>
                <a:tc>
                  <a:txBody>
                    <a:bodyPr/>
                    <a:lstStyle/>
                    <a:p>
                      <a:pPr algn="ctr"/>
                      <a:r>
                        <a:rPr sz="1000" b="0">
                          <a:solidFill>
                            <a:srgbClr val="1C2233"/>
                          </a:solidFill>
                          <a:latin typeface="メイリオ"/>
                          <a:ea typeface="メイリオ"/>
                        </a:rPr>
                        <a:t>84.0件</a:t>
                      </a:r>
                    </a:p>
                  </a:txBody>
                  <a:tcPr>
                    <a:solidFill>
                      <a:srgbClr val="EFF1F7"/>
                    </a:solidFill>
                  </a:tcPr>
                </a:tc>
                <a:tc>
                  <a:txBody>
                    <a:bodyPr/>
                    <a:lstStyle/>
                    <a:p>
                      <a:pPr algn="ctr"/>
                      <a:r>
                        <a:rPr sz="100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00" b="0">
                          <a:solidFill>
                            <a:srgbClr val="1C2233"/>
                          </a:solidFill>
                          <a:latin typeface="メイリオ"/>
                          <a:ea typeface="メイリオ"/>
                        </a:rPr>
                        <a:t>入会率</a:t>
                      </a:r>
                    </a:p>
                  </a:txBody>
                  <a:tcPr>
                    <a:solidFill>
                      <a:srgbClr val="FFFFFF"/>
                    </a:solidFill>
                  </a:tcPr>
                </a:tc>
                <a:tc>
                  <a:txBody>
                    <a:bodyPr/>
                    <a:lstStyle/>
                    <a:p>
                      <a:pPr algn="ctr"/>
                      <a:r>
                        <a:rPr sz="1000" b="0">
                          <a:solidFill>
                            <a:srgbClr val="1C2233"/>
                          </a:solidFill>
                          <a:latin typeface="メイリオ"/>
                          <a:ea typeface="メイリオ"/>
                        </a:rPr>
                        <a:t>50%</a:t>
                      </a:r>
                    </a:p>
                  </a:txBody>
                  <a:tcPr>
                    <a:solidFill>
                      <a:srgbClr val="FFFFFF"/>
                    </a:solidFill>
                  </a:tcPr>
                </a:tc>
                <a:tc>
                  <a:txBody>
                    <a:bodyPr/>
                    <a:lstStyle/>
                    <a:p>
                      <a:pPr algn="ctr"/>
                      <a:r>
                        <a:rPr sz="1000" b="0">
                          <a:solidFill>
                            <a:srgbClr val="1C2233"/>
                          </a:solidFill>
                          <a:latin typeface="メイリオ"/>
                          <a:ea typeface="メイリオ"/>
                        </a:rPr>
                        <a:t>50%（据え置き）</a:t>
                      </a:r>
                    </a:p>
                  </a:txBody>
                  <a:tcPr>
                    <a:solidFill>
                      <a:srgbClr val="FFFFFF"/>
                    </a:solidFill>
                  </a:tcPr>
                </a:tc>
                <a:tc>
                  <a:txBody>
                    <a:bodyPr/>
                    <a:lstStyle/>
                    <a:p>
                      <a:pPr algn="ctr"/>
                      <a:r>
                        <a:rPr sz="100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00" b="0">
                          <a:solidFill>
                            <a:srgbClr val="1C2233"/>
                          </a:solidFill>
                          <a:latin typeface="メイリオ"/>
                          <a:ea typeface="メイリオ"/>
                        </a:rPr>
                        <a:t>入会数</a:t>
                      </a:r>
                    </a:p>
                  </a:txBody>
                  <a:tcPr>
                    <a:solidFill>
                      <a:srgbClr val="EFF1F7"/>
                    </a:solidFill>
                  </a:tcPr>
                </a:tc>
                <a:tc>
                  <a:txBody>
                    <a:bodyPr/>
                    <a:lstStyle/>
                    <a:p>
                      <a:pPr algn="ctr"/>
                      <a:r>
                        <a:rPr sz="1000" b="0">
                          <a:solidFill>
                            <a:srgbClr val="1C2233"/>
                          </a:solidFill>
                          <a:latin typeface="メイリオ"/>
                          <a:ea typeface="メイリオ"/>
                        </a:rPr>
                        <a:t>30.0名</a:t>
                      </a:r>
                    </a:p>
                  </a:txBody>
                  <a:tcPr>
                    <a:solidFill>
                      <a:srgbClr val="EFF1F7"/>
                    </a:solidFill>
                  </a:tcPr>
                </a:tc>
                <a:tc>
                  <a:txBody>
                    <a:bodyPr/>
                    <a:lstStyle/>
                    <a:p>
                      <a:pPr algn="ctr"/>
                      <a:r>
                        <a:rPr sz="1000" b="0">
                          <a:solidFill>
                            <a:srgbClr val="1C2233"/>
                          </a:solidFill>
                          <a:latin typeface="メイリオ"/>
                          <a:ea typeface="メイリオ"/>
                        </a:rPr>
                        <a:t>42.0名</a:t>
                      </a:r>
                    </a:p>
                  </a:txBody>
                  <a:tcPr>
                    <a:solidFill>
                      <a:srgbClr val="EFF1F7"/>
                    </a:solidFill>
                  </a:tcPr>
                </a:tc>
                <a:tc>
                  <a:txBody>
                    <a:bodyPr/>
                    <a:lstStyle/>
                    <a:p>
                      <a:pPr algn="ctr"/>
                      <a:r>
                        <a:rPr sz="100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00" b="0">
                          <a:solidFill>
                            <a:srgbClr val="1C2233"/>
                          </a:solidFill>
                          <a:latin typeface="メイリオ"/>
                          <a:ea typeface="メイリオ"/>
                        </a:rPr>
                        <a:t>入会CPA</a:t>
                      </a:r>
                    </a:p>
                  </a:txBody>
                  <a:tcPr>
                    <a:solidFill>
                      <a:srgbClr val="FFFFFF"/>
                    </a:solidFill>
                  </a:tcPr>
                </a:tc>
                <a:tc>
                  <a:txBody>
                    <a:bodyPr/>
                    <a:lstStyle/>
                    <a:p>
                      <a:pPr algn="ctr"/>
                      <a:r>
                        <a:rPr sz="1000" b="0">
                          <a:solidFill>
                            <a:srgbClr val="1C2233"/>
                          </a:solidFill>
                          <a:latin typeface="メイリオ"/>
                          <a:ea typeface="メイリオ"/>
                        </a:rPr>
                        <a:t>33,300円</a:t>
                      </a:r>
                    </a:p>
                  </a:txBody>
                  <a:tcPr>
                    <a:solidFill>
                      <a:srgbClr val="FFFFFF"/>
                    </a:solidFill>
                  </a:tcPr>
                </a:tc>
                <a:tc>
                  <a:txBody>
                    <a:bodyPr/>
                    <a:lstStyle/>
                    <a:p>
                      <a:pPr algn="ctr"/>
                      <a:r>
                        <a:rPr sz="1000" b="0">
                          <a:solidFill>
                            <a:srgbClr val="1C2233"/>
                          </a:solidFill>
                          <a:latin typeface="メイリオ"/>
                          <a:ea typeface="メイリオ"/>
                        </a:rPr>
                        <a:t>26,200円</a:t>
                      </a:r>
                    </a:p>
                  </a:txBody>
                  <a:tcPr>
                    <a:solidFill>
                      <a:srgbClr val="FFFFFF"/>
                    </a:solidFill>
                  </a:tcPr>
                </a:tc>
                <a:tc>
                  <a:txBody>
                    <a:bodyPr/>
                    <a:lstStyle/>
                    <a:p>
                      <a:pPr algn="ctr"/>
                      <a:r>
                        <a:rPr sz="100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00" b="0">
                          <a:solidFill>
                            <a:srgbClr val="1C2233"/>
                          </a:solidFill>
                          <a:latin typeface="メイリオ"/>
                          <a:ea typeface="メイリオ"/>
                        </a:rPr>
                        <a:t>平均在籍月数</a:t>
                      </a:r>
                    </a:p>
                  </a:txBody>
                  <a:tcPr>
                    <a:solidFill>
                      <a:srgbClr val="EFF1F7"/>
                    </a:solidFill>
                  </a:tcPr>
                </a:tc>
                <a:tc>
                  <a:txBody>
                    <a:bodyPr/>
                    <a:lstStyle/>
                    <a:p>
                      <a:pPr algn="ctr"/>
                      <a:r>
                        <a:rPr sz="1000" b="0">
                          <a:solidFill>
                            <a:srgbClr val="1C2233"/>
                          </a:solidFill>
                          <a:latin typeface="メイリオ"/>
                          <a:ea typeface="メイリオ"/>
                        </a:rPr>
                        <a:t>12ヶ月</a:t>
                      </a:r>
                    </a:p>
                  </a:txBody>
                  <a:tcPr>
                    <a:solidFill>
                      <a:srgbClr val="EFF1F7"/>
                    </a:solidFill>
                  </a:tcPr>
                </a:tc>
                <a:tc>
                  <a:txBody>
                    <a:bodyPr/>
                    <a:lstStyle/>
                    <a:p>
                      <a:pPr algn="ctr"/>
                      <a:r>
                        <a:rPr sz="1000" b="0">
                          <a:solidFill>
                            <a:srgbClr val="1C2233"/>
                          </a:solidFill>
                          <a:latin typeface="メイリオ"/>
                          <a:ea typeface="メイリオ"/>
                        </a:rPr>
                        <a:t>14ヶ月</a:t>
                      </a:r>
                    </a:p>
                  </a:txBody>
                  <a:tcPr>
                    <a:solidFill>
                      <a:srgbClr val="EFF1F7"/>
                    </a:solidFill>
                  </a:tcPr>
                </a:tc>
                <a:tc>
                  <a:txBody>
                    <a:bodyPr/>
                    <a:lstStyle/>
                    <a:p>
                      <a:pPr algn="ctr"/>
                      <a:r>
                        <a:rPr sz="100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00" b="0">
                          <a:solidFill>
                            <a:srgbClr val="1C2233"/>
                          </a:solidFill>
                          <a:latin typeface="メイリオ"/>
                          <a:ea typeface="メイリオ"/>
                        </a:rPr>
                        <a:t>会費売上（LTV基準）</a:t>
                      </a:r>
                    </a:p>
                  </a:txBody>
                  <a:tcPr>
                    <a:solidFill>
                      <a:srgbClr val="FFFFFF"/>
                    </a:solidFill>
                  </a:tcPr>
                </a:tc>
                <a:tc>
                  <a:txBody>
                    <a:bodyPr/>
                    <a:lstStyle/>
                    <a:p>
                      <a:pPr algn="ctr"/>
                      <a:r>
                        <a:rPr sz="1000" b="0">
                          <a:solidFill>
                            <a:srgbClr val="1C2233"/>
                          </a:solidFill>
                          <a:latin typeface="メイリオ"/>
                          <a:ea typeface="メイリオ"/>
                        </a:rPr>
                        <a:t>288万円</a:t>
                      </a:r>
                    </a:p>
                  </a:txBody>
                  <a:tcPr>
                    <a:solidFill>
                      <a:srgbClr val="FFFFFF"/>
                    </a:solidFill>
                  </a:tcPr>
                </a:tc>
                <a:tc>
                  <a:txBody>
                    <a:bodyPr/>
                    <a:lstStyle/>
                    <a:p>
                      <a:pPr algn="ctr"/>
                      <a:r>
                        <a:rPr sz="1000" b="1">
                          <a:solidFill>
                            <a:srgbClr val="FFFFFF"/>
                          </a:solidFill>
                          <a:latin typeface="メイリオ"/>
                          <a:ea typeface="メイリオ"/>
                        </a:rPr>
                        <a:t>470万円</a:t>
                      </a:r>
                    </a:p>
                  </a:txBody>
                  <a:tcPr>
                    <a:solidFill>
                      <a:srgbClr val="BF4E0E"/>
                    </a:solidFill>
                  </a:tcPr>
                </a:tc>
                <a:tc>
                  <a:txBody>
                    <a:bodyPr/>
                    <a:lstStyle/>
                    <a:p>
                      <a:pPr algn="ctr"/>
                      <a:r>
                        <a:rPr sz="1000" b="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8" y="4901184"/>
            <a:ext cx="2788920"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a:solidFill>
                  <a:srgbClr val="1C2233"/>
                </a:solidFill>
                <a:latin typeface="メイリオ"/>
                <a:ea typeface="メイリオ"/>
              </a:rPr>
              <a:t>① LP CVRも入会率も変えていない</a:t>
            </a:r>
          </a:p>
          <a:p>
            <a:pPr algn="l">
              <a:spcBef>
                <a:spcPts val="200"/>
              </a:spcBef>
            </a:pPr>
            <a:r>
              <a:rPr sz="1000" b="0">
                <a:solidFill>
                  <a:srgbClr val="1C2233"/>
                </a:solidFill>
                <a:latin typeface="メイリオ"/>
                <a:ea typeface="メイリオ"/>
              </a:rPr>
              <a:t>触るのは「落ちた後」「予約後」「入会後」の3箇所だけ。</a:t>
            </a:r>
          </a:p>
        </p:txBody>
      </p:sp>
      <p:sp>
        <p:nvSpPr>
          <p:cNvPr id="6" name="Rounded Rectangle 5"/>
          <p:cNvSpPr/>
          <p:nvPr/>
        </p:nvSpPr>
        <p:spPr>
          <a:xfrm>
            <a:off x="3383279" y="4901184"/>
            <a:ext cx="2788920"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a:solidFill>
                  <a:srgbClr val="1C2233"/>
                </a:solidFill>
                <a:latin typeface="メイリオ"/>
                <a:ea typeface="メイリオ"/>
              </a:rPr>
              <a:t>② 効くのは“率”であって母数ではない</a:t>
            </a:r>
          </a:p>
          <a:p>
            <a:pPr algn="l">
              <a:spcBef>
                <a:spcPts val="200"/>
              </a:spcBef>
            </a:pPr>
            <a:r>
              <a:rPr sz="1000" b="0">
                <a:solidFill>
                  <a:srgbClr val="1C2233"/>
                </a:solidFill>
                <a:latin typeface="メイリオ"/>
                <a:ea typeface="メイリオ"/>
              </a:rPr>
              <a:t>予約+12%より、来店率60→75%と在籍+2ヶ月のほうが効く。</a:t>
            </a:r>
          </a:p>
        </p:txBody>
      </p:sp>
      <p:sp>
        <p:nvSpPr>
          <p:cNvPr id="7" name="Rounded Rectangle 6"/>
          <p:cNvSpPr/>
          <p:nvPr/>
        </p:nvSpPr>
        <p:spPr>
          <a:xfrm>
            <a:off x="6382512" y="4901184"/>
            <a:ext cx="2788920"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a:solidFill>
                  <a:srgbClr val="1C2233"/>
                </a:solidFill>
                <a:latin typeface="メイリオ"/>
                <a:ea typeface="メイリオ"/>
              </a:rPr>
              <a:t>③ 在籍が2ヶ月伸びるだけで+182万円</a:t>
            </a:r>
          </a:p>
          <a:p>
            <a:pPr algn="l">
              <a:spcBef>
                <a:spcPts val="200"/>
              </a:spcBef>
            </a:pPr>
            <a:r>
              <a:rPr sz="1000" b="0">
                <a:solidFill>
                  <a:srgbClr val="1C2233"/>
                </a:solidFill>
                <a:latin typeface="メイリオ"/>
                <a:ea typeface="メイリオ"/>
              </a:rPr>
              <a:t>新規を12人増やすより簡単で、広告費もかからない。</a:t>
            </a:r>
          </a:p>
        </p:txBody>
      </p:sp>
      <p:sp>
        <p:nvSpPr>
          <p:cNvPr id="8" name="TextBox 7"/>
          <p:cNvSpPr txBox="1"/>
          <p:nvPr/>
        </p:nvSpPr>
        <p:spPr>
          <a:xfrm>
            <a:off x="384048" y="587044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★前提（すべて社内想定）：友だち化率3%／体験予約転換率8%／平均在籍12→14ヶ月／来店率60→75%。月会費・在籍月数は業界一般値。</a:t>
            </a:r>
          </a:p>
        </p:txBody>
      </p:sp>
    </p:spTree>
    <p:extLst>
      <p:ext uri="{BB962C8B-B14F-4D97-AF65-F5344CB8AC3E}">
        <p14:creationId xmlns:p14="http://schemas.microsoft.com/office/powerpoint/2010/main" val="4112226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dirty="0">
                <a:solidFill>
                  <a:srgbClr val="333333"/>
                </a:solidFill>
                <a:latin typeface="メイリオ"/>
                <a:ea typeface="メイリオ"/>
              </a:rPr>
              <a:t>「</a:t>
            </a:r>
            <a:r>
              <a:rPr sz="1200" b="0" dirty="0" err="1">
                <a:solidFill>
                  <a:srgbClr val="333333"/>
                </a:solidFill>
                <a:latin typeface="メイリオ"/>
                <a:ea typeface="メイリオ"/>
              </a:rPr>
              <a:t>ターゲット</a:t>
            </a:r>
            <a:r>
              <a:rPr sz="1200" b="0" dirty="0">
                <a:solidFill>
                  <a:srgbClr val="333333"/>
                </a:solidFill>
                <a:latin typeface="メイリオ"/>
                <a:ea typeface="メイリオ"/>
              </a:rPr>
              <a:t> × </a:t>
            </a:r>
            <a:r>
              <a:rPr sz="1200" b="0" dirty="0" err="1">
                <a:solidFill>
                  <a:srgbClr val="333333"/>
                </a:solidFill>
                <a:latin typeface="メイリオ"/>
                <a:ea typeface="メイリオ"/>
              </a:rPr>
              <a:t>ステップ」を軸にした構成</a:t>
            </a:r>
            <a:r>
              <a:rPr sz="1200" b="0" dirty="0">
                <a:solidFill>
                  <a:srgbClr val="333333"/>
                </a:solidFill>
                <a:latin typeface="メイリオ"/>
                <a:ea typeface="メイリオ"/>
              </a:rPr>
              <a:t>。◯</a:t>
            </a:r>
            <a:r>
              <a:rPr sz="1200" b="0" dirty="0" err="1">
                <a:solidFill>
                  <a:srgbClr val="333333"/>
                </a:solidFill>
                <a:latin typeface="メイリオ"/>
                <a:ea typeface="メイリオ"/>
              </a:rPr>
              <a:t>の数は貴社の商材数・リスト規模に合わせて確定します</a:t>
            </a:r>
            <a:r>
              <a:rPr sz="1200" b="0" dirty="0">
                <a:solidFill>
                  <a:srgbClr val="333333"/>
                </a:solidFill>
                <a:latin typeface="メイリオ"/>
                <a:ea typeface="メイリオ"/>
              </a:rPr>
              <a:t>。</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0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ea typeface="メイリオ"/>
              </a:rPr>
              <a:t>運用構成（貴社に合わせて確定）</a:t>
            </a:r>
          </a:p>
        </p:txBody>
      </p:sp>
      <p:sp>
        <p:nvSpPr>
          <p:cNvPr id="47" name="Rounded Rectangle 46"/>
          <p:cNvSpPr/>
          <p:nvPr/>
        </p:nvSpPr>
        <p:spPr>
          <a:xfrm>
            <a:off x="350000" y="193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ea typeface="メイリオ"/>
              </a:rPr>
              <a:t>ターゲット：◯ 個</a:t>
            </a:r>
          </a:p>
          <a:p>
            <a:pPr algn="l"/>
            <a:r>
              <a:rPr sz="950" b="0">
                <a:solidFill>
                  <a:srgbClr val="333333"/>
                </a:solidFill>
                <a:latin typeface="メイリオ"/>
                <a:ea typeface="メイリオ"/>
              </a:rPr>
              <a:t>二軸アンケート（配信頻度×商材）で分類</a:t>
            </a:r>
          </a:p>
          <a:p>
            <a:pPr algn="l"/>
            <a:r>
              <a:rPr sz="900" b="0">
                <a:solidFill>
                  <a:srgbClr val="555555"/>
                </a:solidFill>
                <a:latin typeface="メイリオ"/>
                <a:ea typeface="メイリオ"/>
              </a:rPr>
              <a:t>例：3個｜「今すぐ/1ヶ月以内/2〜3ヶ月先・未定」</a:t>
            </a:r>
          </a:p>
        </p:txBody>
      </p:sp>
      <p:sp>
        <p:nvSpPr>
          <p:cNvPr id="48" name="Rounded Rectangle 47"/>
          <p:cNvSpPr/>
          <p:nvPr/>
        </p:nvSpPr>
        <p:spPr>
          <a:xfrm>
            <a:off x="350000" y="308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ea typeface="メイリオ"/>
              </a:rPr>
              <a:t>ステップ配信：各◯ 通 × ◯ セット</a:t>
            </a:r>
          </a:p>
          <a:p>
            <a:pPr algn="l"/>
            <a:r>
              <a:rPr sz="950" b="0">
                <a:solidFill>
                  <a:srgbClr val="333333"/>
                </a:solidFill>
                <a:latin typeface="メイリオ"/>
                <a:ea typeface="メイリオ"/>
              </a:rPr>
              <a:t>ターゲット別シナリオを全自動で稼働</a:t>
            </a:r>
          </a:p>
          <a:p>
            <a:pPr algn="l"/>
            <a:r>
              <a:rPr sz="900" b="0">
                <a:solidFill>
                  <a:srgbClr val="555555"/>
                </a:solidFill>
                <a:latin typeface="メイリオ"/>
                <a:ea typeface="メイリオ"/>
              </a:rPr>
              <a:t>例：6通×3セット＝18通</a:t>
            </a:r>
          </a:p>
        </p:txBody>
      </p:sp>
      <p:sp>
        <p:nvSpPr>
          <p:cNvPr id="49" name="Rounded Rectangle 48"/>
          <p:cNvSpPr/>
          <p:nvPr/>
        </p:nvSpPr>
        <p:spPr>
          <a:xfrm>
            <a:off x="350000" y="423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ea typeface="メイリオ"/>
              </a:rPr>
              <a:t>企画投稿：月◯ 本</a:t>
            </a:r>
          </a:p>
          <a:p>
            <a:pPr algn="l"/>
            <a:r>
              <a:rPr sz="950" b="0">
                <a:solidFill>
                  <a:srgbClr val="333333"/>
                </a:solidFill>
                <a:latin typeface="メイリオ"/>
                <a:ea typeface="メイリオ"/>
              </a:rPr>
              <a:t>週1回の定期投稿＋時期・時事の特別配信</a:t>
            </a:r>
          </a:p>
          <a:p>
            <a:pPr algn="l"/>
            <a:r>
              <a:rPr sz="900" b="0">
                <a:solidFill>
                  <a:srgbClr val="555555"/>
                </a:solidFill>
                <a:latin typeface="メイリオ"/>
                <a:ea typeface="メイリオ"/>
              </a:rPr>
              <a:t>例：月4本（週1回）</a:t>
            </a:r>
          </a:p>
        </p:txBody>
      </p:sp>
      <p:sp>
        <p:nvSpPr>
          <p:cNvPr id="50" name="Rounded Rectangle 49"/>
          <p:cNvSpPr/>
          <p:nvPr/>
        </p:nvSpPr>
        <p:spPr>
          <a:xfrm>
            <a:off x="4850000" y="1560000"/>
            <a:ext cx="4700000" cy="30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ea typeface="メイリオ"/>
              </a:rPr>
              <a:t>費用・ツール・運営（標準）</a:t>
            </a:r>
          </a:p>
        </p:txBody>
      </p:sp>
      <p:sp>
        <p:nvSpPr>
          <p:cNvPr id="51" name="Rounded Rectangle 50"/>
          <p:cNvSpPr/>
          <p:nvPr/>
        </p:nvSpPr>
        <p:spPr>
          <a:xfrm>
            <a:off x="4850000" y="1930000"/>
            <a:ext cx="4700000" cy="118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500" b="1">
                <a:solidFill>
                  <a:srgbClr val="FFFFFF"/>
                </a:solidFill>
                <a:latin typeface="メイリオ"/>
                <a:ea typeface="メイリオ"/>
              </a:rPr>
              <a:t>月額 20万円〜（3投稿）</a:t>
            </a:r>
          </a:p>
          <a:p>
            <a:pPr algn="l"/>
            <a:r>
              <a:rPr sz="1000" b="0">
                <a:solidFill>
                  <a:srgbClr val="FFFFFF"/>
                </a:solidFill>
                <a:latin typeface="メイリオ"/>
                <a:ea typeface="メイリオ"/>
              </a:rPr>
              <a:t>初期費用 10万円〜 ／ 6か月〜契約</a:t>
            </a:r>
          </a:p>
          <a:p>
            <a:pPr algn="l"/>
            <a:r>
              <a:rPr sz="900" b="0">
                <a:solidFill>
                  <a:srgbClr val="FFFFFF"/>
                </a:solidFill>
                <a:latin typeface="メイリオ"/>
                <a:ea typeface="メイリオ"/>
              </a:rPr>
              <a:t>※5投稿=30万円／9投稿=50万円（投稿数により変動）</a:t>
            </a:r>
          </a:p>
        </p:txBody>
      </p:sp>
      <p:sp>
        <p:nvSpPr>
          <p:cNvPr id="53" name="Rounded Rectangle 52"/>
          <p:cNvSpPr/>
          <p:nvPr/>
        </p:nvSpPr>
        <p:spPr>
          <a:xfrm>
            <a:off x="4850000" y="4230000"/>
            <a:ext cx="47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150" b="1">
                <a:solidFill>
                  <a:srgbClr val="1F3A5F"/>
                </a:solidFill>
                <a:latin typeface="メイリオ"/>
                <a:ea typeface="メイリオ"/>
              </a:rPr>
              <a:t>個別チャット運営</a:t>
            </a:r>
          </a:p>
          <a:p>
            <a:pPr algn="l"/>
            <a:r>
              <a:rPr sz="950" b="0">
                <a:solidFill>
                  <a:srgbClr val="333333"/>
                </a:solidFill>
                <a:latin typeface="メイリオ"/>
                <a:ea typeface="メイリオ"/>
              </a:rPr>
              <a:t>よくある質問＝KW自動応答／営業時間内は有人対応</a:t>
            </a:r>
          </a:p>
          <a:p>
            <a:pPr algn="l"/>
            <a:r>
              <a:rPr sz="950" b="0">
                <a:solidFill>
                  <a:srgbClr val="333333"/>
                </a:solidFill>
                <a:latin typeface="メイリオ"/>
                <a:ea typeface="メイリオ"/>
              </a:rPr>
              <a:t>体験希望はチャット受付 → 店舗スタッフへトスアップ</a:t>
            </a:r>
          </a:p>
        </p:txBody>
      </p:sp>
      <p:sp>
        <p:nvSpPr>
          <p:cNvPr id="54" name="Rounded Rectangle 53"/>
          <p:cNvSpPr/>
          <p:nvPr/>
        </p:nvSpPr>
        <p:spPr>
          <a:xfrm>
            <a:off x="4850000" y="3230000"/>
            <a:ext cx="4700000" cy="98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pPr algn="ctr"/>
            <a:r>
              <a:rPr sz="1150" b="1">
                <a:solidFill>
                  <a:srgbClr val="1F3A5F"/>
                </a:solidFill>
                <a:latin typeface="メイリオ"/>
                <a:ea typeface="メイリオ"/>
              </a:rPr>
              <a:t>導入ツール：役割別に選定</a:t>
            </a:r>
          </a:p>
          <a:p>
            <a:r>
              <a:rPr sz="900" b="1">
                <a:solidFill>
                  <a:srgbClr val="333333"/>
                </a:solidFill>
                <a:latin typeface="メイリオ"/>
                <a:ea typeface="メイリオ"/>
              </a:rPr>
              <a:t>入口＝Sitelead（離脱防止ポップアップ）※別途費用</a:t>
            </a:r>
          </a:p>
          <a:p>
            <a:r>
              <a:rPr sz="900" b="1">
                <a:solidFill>
                  <a:srgbClr val="333333"/>
                </a:solidFill>
                <a:latin typeface="メイリオ"/>
                <a:ea typeface="メイリオ"/>
              </a:rPr>
              <a:t>配信＝Lstep または Hachidori のどちらか一方を要件で選定</a:t>
            </a:r>
          </a:p>
          <a:p>
            <a:r>
              <a:rPr sz="850" b="0">
                <a:solidFill>
                  <a:srgbClr val="333333"/>
                </a:solidFill>
                <a:latin typeface="メイリオ"/>
                <a:ea typeface="メイリオ"/>
              </a:rPr>
              <a:t>　Lstep＝タグ・セグメント・ステップ自動化／Hachidori＝通知メッセ・保有リスト活用</a:t>
            </a:r>
          </a:p>
          <a:p>
            <a:r>
              <a:rPr sz="850" b="0">
                <a:solidFill>
                  <a:srgbClr val="555555"/>
                </a:solidFill>
                <a:latin typeface="メイリオ"/>
                <a:ea typeface="メイリオ"/>
              </a:rPr>
              <a:t>既存CRMとのAPI連携も対応（特定ツールに依存しない）</a:t>
            </a:r>
          </a:p>
        </p:txBody>
      </p:sp>
    </p:spTree>
    <p:extLst>
      <p:ext uri="{BB962C8B-B14F-4D97-AF65-F5344CB8AC3E}">
        <p14:creationId xmlns:p14="http://schemas.microsoft.com/office/powerpoint/2010/main" val="39437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10822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1672216"/>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4767552"/>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9661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9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245261"/>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479399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4767552"/>
            <a:ext cx="859536" cy="201168"/>
          </a:xfrm>
          <a:prstGeom prst="rect">
            <a:avLst/>
          </a:prstGeom>
          <a:solidFill>
            <a:schemeClr val="tx2"/>
          </a:solidFill>
          <a:ln/>
        </p:spPr>
        <p:txBody>
          <a:bodyPr wrap="square" lIns="0" tIns="0" rIns="0" bIns="0" rtlCol="0" anchor="ctr"/>
          <a:lstStyle/>
          <a:p>
            <a:pPr marL="0" indent="0" algn="ctr">
              <a:buNone/>
            </a:pP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201168"/>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1675046"/>
            <a:ext cx="859536" cy="201168"/>
          </a:xfrm>
          <a:prstGeom prst="rect">
            <a:avLst/>
          </a:prstGeom>
          <a:solidFill>
            <a:schemeClr val="tx2"/>
          </a:solidFill>
          <a:ln/>
        </p:spPr>
        <p:txBody>
          <a:bodyPr wrap="square" lIns="0" tIns="0" rIns="0" bIns="0" rtlCol="0" anchor="ctr"/>
          <a:lstStyle/>
          <a:p>
            <a:pPr marL="0" indent="0" algn="ctr">
              <a:buNone/>
            </a:pPr>
            <a:r>
              <a:rPr lang="ja-JP" altLang="en-US" sz="1100" dirty="0">
                <a:solidFill>
                  <a:srgbClr val="FDFDFD"/>
                </a:solidFill>
                <a:latin typeface="メイリオ" panose="020B0604030504040204" pitchFamily="50" charset="-128"/>
                <a:ea typeface="メイリオ" panose="020B0604030504040204" pitchFamily="50" charset="-128"/>
              </a:rPr>
              <a:t>流入</a:t>
            </a:r>
            <a:r>
              <a:rPr lang="en-US" altLang="ja-JP" sz="1100" dirty="0">
                <a:solidFill>
                  <a:srgbClr val="FDFDFD"/>
                </a:solidFill>
                <a:latin typeface="メイリオ" panose="020B0604030504040204" pitchFamily="50" charset="-128"/>
                <a:ea typeface="メイリオ" panose="020B0604030504040204" pitchFamily="50" charset="-128"/>
              </a:rPr>
              <a:t>/</a:t>
            </a:r>
            <a:r>
              <a:rPr lang="ja-JP" altLang="en-US" sz="11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ja-JP" altLang="en-US" sz="9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8410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01168"/>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4765128"/>
            <a:ext cx="859536" cy="201168"/>
          </a:xfrm>
          <a:prstGeom prst="rect">
            <a:avLst/>
          </a:prstGeom>
          <a:solidFill>
            <a:schemeClr val="tx2"/>
          </a:solidFill>
          <a:ln/>
        </p:spPr>
        <p:txBody>
          <a:bodyPr wrap="square" lIns="0" tIns="0" rIns="0" bIns="0" rtlCol="0" anchor="ctr"/>
          <a:lstStyle/>
          <a:p>
            <a:pPr marL="0" indent="0" algn="ctr">
              <a:buNone/>
            </a:pP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169333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167504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23591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6454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4783416"/>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4765128"/>
            <a:ext cx="859536" cy="201168"/>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2"/>
            <a:ext cx="859536" cy="201168"/>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1703396"/>
            <a:ext cx="859536"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60947" y="1703396"/>
            <a:ext cx="877824"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50051" y="3201292"/>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50051" y="3201292"/>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88379" y="3230566"/>
            <a:ext cx="859536"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18275" y="4795902"/>
            <a:ext cx="914400" cy="248603"/>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18275" y="4788631"/>
            <a:ext cx="859536" cy="248603"/>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87539" y="4755533"/>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17123" y="4795902"/>
            <a:ext cx="85953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141964</TotalTime>
  <Words>7064</Words>
  <Application>Microsoft Office PowerPoint</Application>
  <PresentationFormat>A4 210 x 297 mm</PresentationFormat>
  <Paragraphs>1586</Paragraphs>
  <Slides>43</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2</vt:i4>
      </vt:variant>
      <vt:variant>
        <vt:lpstr>スライド タイトル</vt:lpstr>
      </vt:variant>
      <vt:variant>
        <vt:i4>43</vt:i4>
      </vt:variant>
    </vt:vector>
  </HeadingPairs>
  <TitlesOfParts>
    <vt:vector size="47" baseType="lpstr">
      <vt:lpstr>メイリオ</vt:lpstr>
      <vt:lpstr>Arial</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1943</cp:revision>
  <cp:lastPrinted>2022-11-01T11:38:14Z</cp:lastPrinted>
  <dcterms:created xsi:type="dcterms:W3CDTF">2015-09-04T09:21:15Z</dcterms:created>
  <dcterms:modified xsi:type="dcterms:W3CDTF">2026-09-02T06:18:20Z</dcterms:modified>
</cp:coreProperties>
</file>