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44" r:id="rId4"/>
    <p:sldId id="3039" r:id="rId5"/>
    <p:sldId id="3041" r:id="rId6"/>
    <p:sldId id="3042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広告で反響を獲得し、LINEで売上・LTVまで最大化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集客からCV後のフォローまで、一気通貫で顧客接点を設計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268000"/>
            <a:ext cx="1325654" cy="972000"/>
          </a:xfrm>
          <a:prstGeom prst="homePlate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2268000"/>
            <a:ext cx="1019654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991654" y="2268000"/>
            <a:ext cx="1403633" cy="972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25654" y="2268000"/>
            <a:ext cx="971633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10" name="Chevron 9"/>
          <p:cNvSpPr/>
          <p:nvPr/>
        </p:nvSpPr>
        <p:spPr>
          <a:xfrm>
            <a:off x="3269288" y="2268000"/>
            <a:ext cx="1247674" cy="972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3288" y="2268000"/>
            <a:ext cx="815674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2" name="Chevron 11"/>
          <p:cNvSpPr/>
          <p:nvPr/>
        </p:nvSpPr>
        <p:spPr>
          <a:xfrm>
            <a:off x="4390962" y="2268000"/>
            <a:ext cx="1559593" cy="972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4962" y="2268000"/>
            <a:ext cx="1127593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5824555" y="2268000"/>
            <a:ext cx="1481613" cy="972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8555" y="2268000"/>
            <a:ext cx="1049613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7180169" y="2268000"/>
            <a:ext cx="1520603" cy="972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14169" y="2268000"/>
            <a:ext cx="1088603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継続追客</a:t>
            </a:r>
          </a:p>
        </p:txBody>
      </p:sp>
      <p:sp>
        <p:nvSpPr>
          <p:cNvPr id="18" name="Chevron 17"/>
          <p:cNvSpPr/>
          <p:nvPr/>
        </p:nvSpPr>
        <p:spPr>
          <a:xfrm>
            <a:off x="8574772" y="2268000"/>
            <a:ext cx="1481613" cy="972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08772" y="2524228"/>
            <a:ext cx="1049613" cy="45954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売上につながる</a:t>
            </a:r>
            <a:r>
              <a:rPr lang="en-US" altLang="ja-JP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9930386" y="2268000"/>
            <a:ext cx="1481613" cy="972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64386" y="2268000"/>
            <a:ext cx="1049613" cy="97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LTV最大化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1854000"/>
            <a:ext cx="3670962" cy="504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000" y="1602000"/>
            <a:ext cx="2160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962" y="1854000"/>
            <a:ext cx="6931037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962" y="1602000"/>
            <a:ext cx="2160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71962" y="1620000"/>
            <a:ext cx="0" cy="3276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4000" y="3420000"/>
            <a:ext cx="1433654" cy="91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検索広告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SNS広告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その他WEB広告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9288" y="3420000"/>
            <a:ext cx="1355674" cy="11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申込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 など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0169" y="3420000"/>
            <a:ext cx="1628603" cy="11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772" y="3420000"/>
            <a:ext cx="1589613" cy="11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面談／商談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再購入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継続利用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5579938"/>
            <a:ext cx="10620000" cy="324123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CVをゴールにせず、広告で獲得したユーザーをLINEで育成し、その後の売上</a:t>
            </a:r>
            <a:r>
              <a:rPr lang="ja-JP" altLang="en-US" sz="17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に</a:t>
            </a:r>
            <a:r>
              <a:rPr sz="17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つなげる</a:t>
            </a:r>
            <a:endParaRPr sz="17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売上・</a:t>
            </a:r>
            <a:r>
              <a:rPr lang="en-US" altLang="ja-JP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最大化へ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98527"/>
            <a:ext cx="11214119" cy="38294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完了画面から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の友だち追加へ誘導する仕組み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268000"/>
            <a:ext cx="1494140" cy="936000"/>
          </a:xfrm>
          <a:prstGeom prst="homePlate">
            <a:avLst>
              <a:gd name="adj" fmla="val 2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2268000"/>
            <a:ext cx="118814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広告・LP</a:t>
            </a:r>
          </a:p>
        </p:txBody>
      </p:sp>
      <p:sp>
        <p:nvSpPr>
          <p:cNvPr id="8" name="Chevron 7"/>
          <p:cNvSpPr/>
          <p:nvPr/>
        </p:nvSpPr>
        <p:spPr>
          <a:xfrm>
            <a:off x="2160140" y="2124000"/>
            <a:ext cx="2373046" cy="1224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94140" y="2463908"/>
            <a:ext cx="1941046" cy="544183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簡易診断などの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5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ハードルの低い</a:t>
            </a:r>
            <a:r>
              <a:rPr lang="en-US" altLang="ja-JP" sz="15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4407187" y="2268000"/>
            <a:ext cx="1845703" cy="936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1187" y="2268000"/>
            <a:ext cx="1413703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6890" y="2268000"/>
            <a:ext cx="1845703" cy="936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0890" y="2268000"/>
            <a:ext cx="1413703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Chevron 13"/>
          <p:cNvSpPr/>
          <p:nvPr/>
        </p:nvSpPr>
        <p:spPr>
          <a:xfrm>
            <a:off x="7846593" y="2268000"/>
            <a:ext cx="2021484" cy="936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0593" y="2268000"/>
            <a:ext cx="1589484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継続追客</a:t>
            </a:r>
          </a:p>
        </p:txBody>
      </p:sp>
      <p:sp>
        <p:nvSpPr>
          <p:cNvPr id="16" name="Chevron 15"/>
          <p:cNvSpPr/>
          <p:nvPr/>
        </p:nvSpPr>
        <p:spPr>
          <a:xfrm>
            <a:off x="9742078" y="2268000"/>
            <a:ext cx="1669921" cy="936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76078" y="2497764"/>
            <a:ext cx="1237921" cy="476472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売上につながる</a:t>
            </a:r>
            <a:r>
              <a:rPr lang="en-US" altLang="ja-JP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2000" y="1854000"/>
            <a:ext cx="3687187" cy="504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000" y="1602000"/>
            <a:ext cx="2160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7187" y="1854000"/>
            <a:ext cx="691481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7187" y="1602000"/>
            <a:ext cx="2160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88187" y="1620000"/>
            <a:ext cx="0" cy="3024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00664" y="3510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0664" y="3816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0664" y="4121999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1335" y="3510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1335" y="3816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1335" y="4121999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1335" y="4428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4078" y="3510000"/>
            <a:ext cx="1777921" cy="91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面談／相談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96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2000" y="5004000"/>
            <a:ext cx="144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想定値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0000" y="5004000"/>
            <a:ext cx="223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0000" y="5436000"/>
            <a:ext cx="50399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36000" y="5508000"/>
            <a:ext cx="1152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 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2000" y="5089693"/>
            <a:ext cx="2232000" cy="62061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en-US" altLang="ja-JP"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誘導</a:t>
            </a:r>
            <a:r>
              <a:rPr lang="ja-JP" altLang="en-US" sz="11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</a:t>
            </a:r>
            <a:endParaRPr sz="11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60件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12000" y="5436000"/>
            <a:ext cx="50399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87999" y="5508000"/>
            <a:ext cx="1152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 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4000" y="5004000"/>
            <a:ext cx="223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000" y="5886000"/>
            <a:ext cx="1062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※誘導可能率・友だち追加率は想定値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広告で獲得した反響を、売上につなげる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CVしたユーザーの全員が、そのまま売上になるわけではない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908000"/>
            <a:ext cx="1655999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908000"/>
            <a:ext cx="1308413" cy="936000"/>
          </a:xfrm>
          <a:prstGeom prst="homePlate">
            <a:avLst>
              <a:gd name="adj" fmla="val 2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000" y="1908000"/>
            <a:ext cx="1002413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9" name="Chevron 8"/>
          <p:cNvSpPr/>
          <p:nvPr/>
        </p:nvSpPr>
        <p:spPr>
          <a:xfrm>
            <a:off x="3738413" y="1908000"/>
            <a:ext cx="1226637" cy="936000"/>
          </a:xfrm>
          <a:prstGeom prst="chevron">
            <a:avLst>
              <a:gd name="adj" fmla="val 2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2413" y="1908000"/>
            <a:ext cx="79463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1" name="Chevron 10"/>
          <p:cNvSpPr/>
          <p:nvPr/>
        </p:nvSpPr>
        <p:spPr>
          <a:xfrm>
            <a:off x="4839051" y="1908000"/>
            <a:ext cx="1635517" cy="936000"/>
          </a:xfrm>
          <a:prstGeom prst="chevron">
            <a:avLst>
              <a:gd name="adj" fmla="val 2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3051" y="1908000"/>
            <a:ext cx="120351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離脱／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初回で終了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568" y="1850720"/>
            <a:ext cx="4721431" cy="22255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CV後</a:t>
            </a:r>
            <a:r>
              <a:rPr lang="ja-JP" altLang="en-US" sz="1100" b="1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に離脱しているユーザー</a:t>
            </a:r>
            <a:endParaRPr sz="1100" b="1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690568" y="2232000"/>
            <a:ext cx="108000" cy="10800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2568" y="2142000"/>
            <a:ext cx="2180715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問い合わせ後に離脱</a:t>
            </a:r>
          </a:p>
        </p:txBody>
      </p:sp>
      <p:sp>
        <p:nvSpPr>
          <p:cNvPr id="16" name="Oval 15"/>
          <p:cNvSpPr/>
          <p:nvPr/>
        </p:nvSpPr>
        <p:spPr>
          <a:xfrm>
            <a:off x="9051284" y="2232000"/>
            <a:ext cx="108000" cy="10800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3284" y="2142000"/>
            <a:ext cx="2180715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比較検討中に離脱</a:t>
            </a:r>
          </a:p>
        </p:txBody>
      </p:sp>
      <p:sp>
        <p:nvSpPr>
          <p:cNvPr id="18" name="Oval 17"/>
          <p:cNvSpPr/>
          <p:nvPr/>
        </p:nvSpPr>
        <p:spPr>
          <a:xfrm>
            <a:off x="6690568" y="2574000"/>
            <a:ext cx="108000" cy="10800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2568" y="2484000"/>
            <a:ext cx="2180715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初回購入だけで終了</a:t>
            </a:r>
          </a:p>
        </p:txBody>
      </p:sp>
      <p:sp>
        <p:nvSpPr>
          <p:cNvPr id="20" name="Oval 19"/>
          <p:cNvSpPr/>
          <p:nvPr/>
        </p:nvSpPr>
        <p:spPr>
          <a:xfrm>
            <a:off x="9051284" y="2574000"/>
            <a:ext cx="108000" cy="10800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3284" y="2484000"/>
            <a:ext cx="2180715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来店／面談まで至らない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2000" y="3204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2000" y="3600000"/>
            <a:ext cx="1655999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24" name="Pentagon 23"/>
          <p:cNvSpPr/>
          <p:nvPr/>
        </p:nvSpPr>
        <p:spPr>
          <a:xfrm>
            <a:off x="2556000" y="3600000"/>
            <a:ext cx="1308413" cy="936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64000" y="3600000"/>
            <a:ext cx="1002413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26" name="Chevron 25"/>
          <p:cNvSpPr/>
          <p:nvPr/>
        </p:nvSpPr>
        <p:spPr>
          <a:xfrm>
            <a:off x="3738413" y="3600000"/>
            <a:ext cx="1226637" cy="936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2413" y="3600000"/>
            <a:ext cx="79463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28" name="Chevron 27"/>
          <p:cNvSpPr/>
          <p:nvPr/>
        </p:nvSpPr>
        <p:spPr>
          <a:xfrm>
            <a:off x="4839051" y="3600000"/>
            <a:ext cx="1635517" cy="936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3051" y="3600000"/>
            <a:ext cx="120351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30" name="Chevron 29"/>
          <p:cNvSpPr/>
          <p:nvPr/>
        </p:nvSpPr>
        <p:spPr>
          <a:xfrm>
            <a:off x="6348568" y="3600000"/>
            <a:ext cx="1635517" cy="936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2568" y="3600000"/>
            <a:ext cx="120351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継続追客</a:t>
            </a:r>
          </a:p>
        </p:txBody>
      </p:sp>
      <p:sp>
        <p:nvSpPr>
          <p:cNvPr id="32" name="Chevron 31"/>
          <p:cNvSpPr/>
          <p:nvPr/>
        </p:nvSpPr>
        <p:spPr>
          <a:xfrm>
            <a:off x="7858086" y="3600000"/>
            <a:ext cx="2044396" cy="936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086" y="3751665"/>
            <a:ext cx="1612396" cy="63266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ja-JP" altLang="en-US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売上につながる</a:t>
            </a:r>
            <a:r>
              <a:rPr lang="en-US" altLang="ja-JP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br>
              <a:rPr lang="en-US" altLang="ja-JP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</a:b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再購入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継続利用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9776482" y="3600000"/>
            <a:ext cx="1635517" cy="936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10482" y="3600000"/>
            <a:ext cx="1203517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LTV最大化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47051" y="4662000"/>
            <a:ext cx="6356948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47051" y="4734000"/>
            <a:ext cx="6356948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000" y="5593019"/>
            <a:ext cx="10620000" cy="297962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ja-JP" altLang="en-US" sz="17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広告で獲得したユーザーとの接点を</a:t>
            </a:r>
            <a:r>
              <a:rPr lang="en-US" altLang="ja-JP" sz="17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7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に残し</a:t>
            </a:r>
            <a:r>
              <a:rPr sz="17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7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CV後の取りこぼしを減らして売上・LTVにつなげる</a:t>
            </a:r>
            <a:endParaRPr sz="17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LINEヤフー活用事例｜旅行・クリニック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予約後・友だち追加後のLINE配信が、友だち化・予約の増加につながった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175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旅行（観光バス）</a:t>
            </a:r>
          </a:p>
        </p:txBody>
      </p:sp>
      <p:sp>
        <p:nvSpPr>
          <p:cNvPr id="8" name="Pentagon 7"/>
          <p:cNvSpPr/>
          <p:nvPr/>
        </p:nvSpPr>
        <p:spPr>
          <a:xfrm>
            <a:off x="79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高速バス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</a:p>
        </p:txBody>
      </p:sp>
      <p:sp>
        <p:nvSpPr>
          <p:cNvPr id="10" name="Chevron 9"/>
          <p:cNvSpPr/>
          <p:nvPr/>
        </p:nvSpPr>
        <p:spPr>
          <a:xfrm>
            <a:off x="244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乗車前日の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案内をLINEで</a:t>
            </a:r>
          </a:p>
        </p:txBody>
      </p:sp>
      <p:sp>
        <p:nvSpPr>
          <p:cNvPr id="12" name="Chevron 11"/>
          <p:cNvSpPr/>
          <p:nvPr/>
        </p:nvSpPr>
        <p:spPr>
          <a:xfrm>
            <a:off x="410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予約番号・便名・乗車場所を、乗車前日の夕方に配信（LINE通知メッセージ）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案内を受け取った方の友だち追加率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導入から約2か月で、4,398人が友だち追加（2021年10月〜）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予約忘れ・乗車前の問い合わせも減少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導入事例（琴平バス／2022年6月公開・取材先調べ）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クリニック（皮膚科）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631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22" name="Chevron 21"/>
          <p:cNvSpPr/>
          <p:nvPr/>
        </p:nvSpPr>
        <p:spPr>
          <a:xfrm>
            <a:off x="796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全5通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ニキビ・治療法の解説 → 患者の声 → 無料カウンセリングのクーポン、の順に自動配信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約20%増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友だち追加広告による友だち数の増加も含む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1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導入事例（アクネクリニック／2022年4月公開・取材先調べ）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143272</TotalTime>
  <Words>400</Words>
  <Application>Microsoft Office PowerPoint</Application>
  <PresentationFormat>ワイド画面</PresentationFormat>
  <Paragraphs>148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2026-10-06T05:43:09Z</dcterms:modified>
</cp:coreProperties>
</file>