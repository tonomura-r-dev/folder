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1"/>
  </p:notesMasterIdLst>
  <p:handoutMasterIdLst>
    <p:handoutMasterId r:id="rId22"/>
  </p:handoutMasterIdLst>
  <p:sldIdLst>
    <p:sldId id="2363" r:id="rId3"/>
    <p:sldId id="2364" r:id="rId4"/>
    <p:sldId id="2365" r:id="rId5"/>
    <p:sldId id="2366" r:id="rId6"/>
    <p:sldId id="2367" r:id="rId7"/>
    <p:sldId id="2368" r:id="rId8"/>
    <p:sldId id="2369" r:id="rId9"/>
    <p:sldId id="257" r:id="rId10"/>
    <p:sldId id="2371" r:id="rId11"/>
    <p:sldId id="2372" r:id="rId12"/>
    <p:sldId id="2373" r:id="rId13"/>
    <p:sldId id="2381" r:id="rId14"/>
    <p:sldId id="2374" r:id="rId15"/>
    <p:sldId id="2378" r:id="rId16"/>
    <p:sldId id="2379" r:id="rId17"/>
    <p:sldId id="2382" r:id="rId27"/>
    <p:sldId id="2380" r:id="rId18"/>
    <p:sldId id="2377" r:id="rId19"/>
    <p:sldId id="1169" r:id="rId20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notesMaster" Target="notesMasters/notesMaster1.xml"/><Relationship Id="rId22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1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18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image" Target="../media/image8.jpeg"/><Relationship Id="rId6" Type="http://schemas.openxmlformats.org/officeDocument/2006/relationships/image" Target="../media/image9.jpeg"/><Relationship Id="rId7" Type="http://schemas.openxmlformats.org/officeDocument/2006/relationships/image" Target="../media/image10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jpg"/><Relationship Id="rId8" Type="http://schemas.openxmlformats.org/officeDocument/2006/relationships/image" Target="../media/image17.jpe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hyperlink" Target="https://youtube.com/shorts/0qI4QgrOppQ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emf"/><Relationship Id="rId4" Type="http://schemas.openxmlformats.org/officeDocument/2006/relationships/image" Target="../media/image21.jpeg"/><Relationship Id="rId5" Type="http://schemas.openxmlformats.org/officeDocument/2006/relationships/image" Target="../media/image22.jpeg"/><Relationship Id="rId6" Type="http://schemas.openxmlformats.org/officeDocument/2006/relationships/image" Target="../media/image23.jpeg"/><Relationship Id="rId7" Type="http://schemas.openxmlformats.org/officeDocument/2006/relationships/image" Target="../media/image24.jpeg"/><Relationship Id="rId8" Type="http://schemas.openxmlformats.org/officeDocument/2006/relationships/image" Target="../media/image25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0860" y="862696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登録制のアルバイトスタッフとともに、神奈川・静岡全域のイベント会場の運営・警備・設営を担う会社です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860" y="4826699"/>
            <a:ext cx="8773451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860" y="4826699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31292" y="1650519"/>
            <a:ext cx="4636881" cy="297357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8452" y="1760247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41236" y="2157997"/>
            <a:ext cx="4526937" cy="2329138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・アルバイトは登録制。都合の良い日に勤務できる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（シフトは自己申告制）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5446127" y="1650519"/>
            <a:ext cx="3758184" cy="167065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4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4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330952"/>
            <a:ext cx="8906255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媒体データ（検索の前後行動）。起点キーワード「単発バイト」・期間2025年3月17日〜2026年3月22日。分類は弊社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33095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91689"/>
            <a:ext cx="4562855" cy="3683232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5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2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5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96249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出典｜LINEの月間利用者数・メッセージ開封率：LINEヤフー公式値。※応募から勤務までの実施率・再応募率は公開データがなく、貴社での計測が必要です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4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20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4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20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1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2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4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20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20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4114363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2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8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8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4114364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LINEの国内の月間利用者数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2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8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登録（ムーヴ）・選考（ワントゥワン）・勤務（ステッドワン）のやり取りに、それぞれLINEを使っています。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弊社確認）。個人名は消しています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・お仕事開始までの手順を4つで案内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応募の受付だけでなく、勤務の連絡や次の募集まで、スタッフとの継続的な接点にLINEを活用できます。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6" cy="340156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お仕事開始までの手順を4つで案内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て、リッチメニュー経由の応募数が79%増えました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応募の時点で友だちになるので、イベントが終わっても次の募集が届きます。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3833883" cy="230832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完了後約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DEB8AF5-27EB-F2A5-5738-9D4876D62932}"/>
              </a:ext>
            </a:extLst>
          </p:cNvPr>
          <p:cNvSpPr/>
          <p:nvPr/>
        </p:nvSpPr>
        <p:spPr>
          <a:xfrm>
            <a:off x="1331634" y="5386674"/>
            <a:ext cx="3965148" cy="1126724"/>
          </a:xfrm>
          <a:prstGeom prst="roundRect">
            <a:avLst>
              <a:gd name="adj" fmla="val 8129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F4AEE4F6-B4F2-3B63-B340-970573C6BC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362" y="5422614"/>
            <a:ext cx="1068810" cy="1060107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E529396-156F-55A0-24A1-E3F30C8D079F}"/>
              </a:ext>
            </a:extLst>
          </p:cNvPr>
          <p:cNvSpPr txBox="1"/>
          <p:nvPr/>
        </p:nvSpPr>
        <p:spPr>
          <a:xfrm>
            <a:off x="2607260" y="6011736"/>
            <a:ext cx="174022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QRコードを読み取って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動画を見る（約22秒）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39FB9E-0354-C79E-71A4-67DB6A28B75A}"/>
              </a:ext>
            </a:extLst>
          </p:cNvPr>
          <p:cNvSpPr txBox="1"/>
          <p:nvPr/>
        </p:nvSpPr>
        <p:spPr>
          <a:xfrm>
            <a:off x="4032248" y="5546685"/>
            <a:ext cx="869321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再生</a:t>
            </a:r>
            <a:r>
              <a:rPr lang="ja-JP" altLang="en-US" sz="1200" dirty="0">
                <a:solidFill>
                  <a:srgbClr val="0000FF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[▷]</a:t>
            </a:r>
            <a:endParaRPr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2099EF7-D4DC-D52C-E0A5-F84C559A9E47}"/>
              </a:ext>
            </a:extLst>
          </p:cNvPr>
          <p:cNvSpPr txBox="1"/>
          <p:nvPr/>
        </p:nvSpPr>
        <p:spPr>
          <a:xfrm>
            <a:off x="2648894" y="5570417"/>
            <a:ext cx="17402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クリックして再生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会場・集合場所と時間・持ち物・服装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まとめて案内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2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1対1のやり取り</a:t>
            </a:r>
            <a:endParaRPr lang="ja-JP" altLang="en-US" sz="12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通知で気づける。質問しやすい</a:t>
            </a:r>
            <a:endParaRPr lang="ja-JP" altLang="en-US" sz="12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毎回の作成の手間を減らす</a:t>
            </a:r>
            <a:endParaRPr lang="ja-JP" altLang="en-US" sz="12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2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合わない募集が届かないので、ブロックを抑えることが期待できます。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775021"/>
              </p:ext>
            </p:extLst>
          </p:nvPr>
        </p:nvGraphicFramePr>
        <p:xfrm>
          <a:off x="429767" y="1371600"/>
          <a:ext cx="5039379" cy="2889504"/>
        </p:xfrm>
        <a:graphic>
          <a:graphicData uri="http://schemas.openxmlformats.org/drawingml/2006/table">
            <a:tbl>
              <a:tblPr/>
              <a:tblGrid>
                <a:gridCol w="11665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3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64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en-US" altLang="ja-JP" sz="105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（選択式）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</a:t>
                      </a:r>
                      <a:endParaRPr lang="en-US" altLang="ja-JP" sz="110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設営・撤去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</a:t>
                      </a:r>
                      <a:endParaRPr lang="en-US" altLang="ja-JP" sz="105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メニューで変更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315968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※再応募＝登録済みの方からの、次回イベントへの勤務希望（シフトの申告）も含みます。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前後検索「単発バイト」｜当日に何社も比べ、その後は給与・働き方を調べる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応募の前後に調べていることを、LINEで先に届ける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pic>
        <p:nvPicPr>
          <p:cNvPr id="7" name="前後検索 単発バイト（色分け）" descr="tanaka_zengo_chumon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5943600" cy="3730824"/>
          </a:xfrm>
          <a:prstGeom prst="rect">
            <a:avLst/>
          </a:prstGeom>
        </p:spPr>
      </p:pic>
      <p:sp>
        <p:nvSpPr>
          <p:cNvPr id="8" name="LINE追加の時期"/>
          <p:cNvSpPr/>
          <p:nvPr/>
        </p:nvSpPr>
        <p:spPr>
          <a:xfrm>
            <a:off x="3584676" y="1644777"/>
            <a:ext cx="692429" cy="3485439"/>
          </a:xfrm>
          <a:prstGeom prst="rect">
            <a:avLst/>
          </a:prstGeom>
          <a:solidFill>
            <a:srgbClr val="06C75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LINE追加 札"/>
          <p:cNvSpPr/>
          <p:nvPr/>
        </p:nvSpPr>
        <p:spPr>
          <a:xfrm>
            <a:off x="3473690" y="5377104"/>
            <a:ext cx="914400" cy="237744"/>
          </a:xfrm>
          <a:prstGeom prst="rect">
            <a:avLst/>
          </a:prstGeom>
          <a:solidFill>
            <a:srgbClr val="C6EFC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950" b="1" dirty="0">
                <a:solidFill>
                  <a:srgbClr val="00873C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LINE追加</a:t>
            </a:r>
            <a:endParaRPr lang="ja-JP" altLang="en-US" sz="1200" dirty="0"/>
          </a:p>
        </p:txBody>
      </p:sp>
      <p:sp>
        <p:nvSpPr>
          <p:cNvPr id="10" name="凡例の色"/>
          <p:cNvSpPr/>
          <p:nvPr/>
        </p:nvSpPr>
        <p:spPr>
          <a:xfrm>
            <a:off x="6629400" y="1655064"/>
            <a:ext cx="137160" cy="137160"/>
          </a:xfrm>
          <a:prstGeom prst="rect">
            <a:avLst/>
          </a:prstGeom>
          <a:solidFill>
            <a:srgbClr val="3467B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1" name="凡例"/>
          <p:cNvSpPr/>
          <p:nvPr/>
        </p:nvSpPr>
        <p:spPr>
          <a:xfrm>
            <a:off x="6812280" y="1600200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求人サービスを比べる</a:t>
            </a:r>
            <a:endParaRPr lang="ja-JP" altLang="en-US" sz="1200" dirty="0"/>
          </a:p>
        </p:txBody>
      </p:sp>
      <p:sp>
        <p:nvSpPr>
          <p:cNvPr id="12" name="凡例の色"/>
          <p:cNvSpPr/>
          <p:nvPr/>
        </p:nvSpPr>
        <p:spPr>
          <a:xfrm>
            <a:off x="6629400" y="1901952"/>
            <a:ext cx="137160" cy="137160"/>
          </a:xfrm>
          <a:prstGeom prst="rect">
            <a:avLst/>
          </a:prstGeom>
          <a:solidFill>
            <a:srgbClr val="8E4EC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3" name="凡例"/>
          <p:cNvSpPr/>
          <p:nvPr/>
        </p:nvSpPr>
        <p:spPr>
          <a:xfrm>
            <a:off x="6812280" y="1847088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応募・面接の準備</a:t>
            </a:r>
            <a:endParaRPr lang="ja-JP" altLang="en-US" sz="1200" dirty="0"/>
          </a:p>
        </p:txBody>
      </p:sp>
      <p:sp>
        <p:nvSpPr>
          <p:cNvPr id="14" name="凡例の色"/>
          <p:cNvSpPr/>
          <p:nvPr/>
        </p:nvSpPr>
        <p:spPr>
          <a:xfrm>
            <a:off x="6629400" y="2148840"/>
            <a:ext cx="137160" cy="1371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5" name="凡例"/>
          <p:cNvSpPr/>
          <p:nvPr/>
        </p:nvSpPr>
        <p:spPr>
          <a:xfrm>
            <a:off x="6812280" y="2093976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給与・働き方を調べる</a:t>
            </a:r>
            <a:endParaRPr lang="ja-JP" altLang="en-US" sz="1200" dirty="0"/>
          </a:p>
        </p:txBody>
      </p:sp>
      <p:sp>
        <p:nvSpPr>
          <p:cNvPr id="18" name="分析 当日"/>
          <p:cNvSpPr/>
          <p:nvPr/>
        </p:nvSpPr>
        <p:spPr>
          <a:xfrm>
            <a:off x="6629400" y="2404872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検索前</a:t>
            </a:r>
            <a:endParaRPr lang="ja-JP" altLang="en-US" sz="1200" dirty="0"/>
          </a:p>
        </p:txBody>
      </p:sp>
      <p:sp>
        <p:nvSpPr>
          <p:cNvPr id="19" name="分析 当日 本文"/>
          <p:cNvSpPr/>
          <p:nvPr/>
        </p:nvSpPr>
        <p:spPr>
          <a:xfrm>
            <a:off x="6629400" y="2679191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求人サイトで探し始める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バイト 求人・タウンワークなど</a:t>
            </a:r>
            <a:endParaRPr lang="ja-JP" altLang="en-US" sz="1200" dirty="0"/>
          </a:p>
        </p:txBody>
      </p:sp>
      <p:sp>
        <p:nvSpPr>
          <p:cNvPr id="20" name="分析 1〜7日後"/>
          <p:cNvSpPr/>
          <p:nvPr/>
        </p:nvSpPr>
        <p:spPr>
          <a:xfrm>
            <a:off x="6629400" y="3447288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当日</a:t>
            </a:r>
            <a:endParaRPr lang="ja-JP" altLang="en-US" sz="1200" dirty="0"/>
          </a:p>
        </p:txBody>
      </p:sp>
      <p:sp>
        <p:nvSpPr>
          <p:cNvPr id="21" name="分析 1〜7日後 本文"/>
          <p:cNvSpPr/>
          <p:nvPr/>
        </p:nvSpPr>
        <p:spPr>
          <a:xfrm>
            <a:off x="6629400" y="3721608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単発のサービスを比べる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タイミー・バイトル・短期バイトなど。履歴書の書き方も</a:t>
            </a:r>
            <a:endParaRPr lang="ja-JP" altLang="en-US" sz="1200" dirty="0"/>
          </a:p>
        </p:txBody>
      </p:sp>
      <p:sp>
        <p:nvSpPr>
          <p:cNvPr id="22" name="分析 7〜15日後"/>
          <p:cNvSpPr/>
          <p:nvPr/>
        </p:nvSpPr>
        <p:spPr>
          <a:xfrm>
            <a:off x="6629400" y="4489704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1〜15日後</a:t>
            </a:r>
            <a:endParaRPr lang="ja-JP" altLang="en-US" sz="1200" dirty="0"/>
          </a:p>
        </p:txBody>
      </p:sp>
      <p:sp>
        <p:nvSpPr>
          <p:cNvPr id="23" name="分析 7〜15日後 本文"/>
          <p:cNvSpPr/>
          <p:nvPr/>
        </p:nvSpPr>
        <p:spPr>
          <a:xfrm>
            <a:off x="6629400" y="4764024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給与・働き方を調べる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日払い・確定申告・ダブルワークの扶養。面接の服装も</a:t>
            </a:r>
            <a:endParaRPr lang="ja-JP" altLang="en-US" sz="1200" dirty="0"/>
          </a:p>
        </p:txBody>
      </p:sp>
      <p:sp>
        <p:nvSpPr>
          <p:cNvPr id="24" name="示唆"/>
          <p:cNvSpPr/>
          <p:nvPr/>
        </p:nvSpPr>
        <p:spPr>
          <a:xfrm>
            <a:off x="502920" y="5779008"/>
            <a:ext cx="8897112" cy="41148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求人サービスを比べる → 応募・面接の準備 → 給与・働き方 の順に調べている</a:t>
            </a:r>
            <a:endParaRPr lang="ja-JP" altLang="en-US" sz="1200" dirty="0"/>
          </a:p>
        </p:txBody>
      </p:sp>
      <p:sp>
        <p:nvSpPr>
          <p:cNvPr id="25" name="注記"/>
          <p:cNvSpPr/>
          <p:nvPr/>
        </p:nvSpPr>
        <p:spPr>
          <a:xfrm>
            <a:off x="502920" y="6236208"/>
            <a:ext cx="889711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85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※LINEヤフー社の前後検索データより。「単発バイト」を検索した方が、前後15日間に検索した言葉（縦軸＝検索した人数）。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【勤務者募集｜横浜アリーナ】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勤務希望を出す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47688" y="2240280"/>
            <a:ext cx="893064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</a:t>
            </a:r>
            <a:b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7586472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8525256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6647688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7586472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525256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</a:t>
            </a:r>
            <a:b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8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9" name="Google Shape;156;p7"/>
          <p:cNvSpPr/>
          <p:nvPr/>
        </p:nvSpPr>
        <p:spPr>
          <a:xfrm>
            <a:off x="549000" y="137983"/>
            <a:ext cx="7680960" cy="338554"/>
          </a:xfrm>
          <a:prstGeom prst="rect">
            <a:avLst/>
          </a:prstGeom>
          <a:noFill/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>
              <a:tabLst>
                <a:tab pos="0" algn="l"/>
              </a:tabLst>
            </a:pPr>
            <a:r>
              <a:rPr lang="ja-JP" sz="1600" b="1" u="none" strike="noStrike" dirty="0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</a:rPr>
              <a:t>概算お見積り：月215,000円で、6か月目に新規応募 月6件・再応募 月3件</a:t>
            </a:r>
          </a:p>
        </p:txBody>
      </p:sp>
      <p:cxnSp>
        <p:nvCxnSpPr>
          <p:cNvPr id="340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¥215,000〜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月4回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セグメント配信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設定・改善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型の改善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月次レポート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新規応募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再応募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型をつくる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984人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6件/月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3件/月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1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メイリオ"/>
                <a:ea typeface="メイリオ"/>
              </a:rPr>
              <a:t>プラン②｜友だちの入口を増やし、勤務の連絡と次回イベントの募集で、新規応募・再応募を増やす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料金プラン：3つのプランの費用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料金プランの比較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運用範囲に合わせて、3つのプランをご用意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399329"/>
              </p:ext>
            </p:extLst>
          </p:nvPr>
        </p:nvGraphicFramePr>
        <p:xfrm>
          <a:off x="384048" y="1490760"/>
          <a:ext cx="9144000" cy="3749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月額運用費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312412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59300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806188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※契約期間は6か月〜。概算お見積りのページはプラン②の場合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6053076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運用内容：プランごとの対応範囲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4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運用内容の比較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5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3つのプランの運用内容</a:t>
            </a:r>
            <a:r>
              <a:rPr lang="ja-JP" altLang="en-US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の</a:t>
            </a: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比較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" name="運用内容比較表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0625100"/>
              </p:ext>
            </p:extLst>
          </p:nvPr>
        </p:nvGraphicFramePr>
        <p:xfrm>
          <a:off x="381000" y="1490760"/>
          <a:ext cx="9144000" cy="3149193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03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離脱防止・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ステップ配信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（構築のみ）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企画配信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（次回イベントの募集）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なし（貴社で運用）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（設計・作成・画像制作）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勤務前の案内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結果の分析・改善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（月次レポート）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292" y="824484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31292" y="16764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STEP1｜構築（運用開始の前）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7012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61004" y="16764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STEP2｜運用・検証（1〜6か月目）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6723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・再応募・再稼働の計測（LINEからの勤務希望の数）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90716" y="16764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6436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31292" y="3429000"/>
            <a:ext cx="5532120" cy="126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月額215,000円〜（ツール費込み）で始め、成果を見て調整します。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100572" y="3429000"/>
            <a:ext cx="3374136" cy="12649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料金プラン（成果報酬）：月額を抑え、応募1件ごとにお支払い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成果報酬プラン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初期費用は同じ。月額運用費の代わりに、応募1件ごとの成果報酬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399329"/>
              </p:ext>
            </p:extLst>
          </p:nvPr>
        </p:nvGraphicFramePr>
        <p:xfrm>
          <a:off x="384048" y="1490760"/>
          <a:ext cx="9144000" cy="37490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成果報酬</a:t>
                      </a:r>
                      <a:endParaRPr lang="ja-JP" altLang="en-US" sz="14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（応募1件）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6,000円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10,000円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＋成果報酬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＋成果報酬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312412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59300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806188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※成果報酬の対象＝LINEからの新規応募・再応募（再応募は、勤務希望をLINEで受け付ける場合）。契約期間は6か月〜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6053076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141743</TotalTime>
  <Words>3189</Words>
  <Application>Microsoft Office PowerPoint</Application>
  <PresentationFormat>A4 210 x 297 mm</PresentationFormat>
  <Paragraphs>475</Paragraphs>
  <Slides>18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18</vt:i4>
      </vt:variant>
    </vt:vector>
  </HeadingPairs>
  <TitlesOfParts>
    <vt:vector size="25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1931</cp:revision>
  <cp:lastPrinted>2022-11-01T11:38:14Z</cp:lastPrinted>
  <dcterms:created xsi:type="dcterms:W3CDTF">2015-09-04T09:21:15Z</dcterms:created>
  <dcterms:modified xsi:type="dcterms:W3CDTF">2026-10-21T04:59:24Z</dcterms:modified>
</cp:coreProperties>
</file>