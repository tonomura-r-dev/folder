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8" r:id="rId25"/>
    <p:sldId id="2379" r:id="rId26"/>
    <p:sldId id="2380" r:id="rId27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5" Type="http://schemas.openxmlformats.org/officeDocument/2006/relationships/slide" Target="slides/slide17.xml"/><Relationship Id="rId26" Type="http://schemas.openxmlformats.org/officeDocument/2006/relationships/slide" Target="slides/slide18.xml"/><Relationship Id="rId27" Type="http://schemas.openxmlformats.org/officeDocument/2006/relationships/slide" Target="slides/slide19.xml"/><Relationship Id="rId31" Type="http://schemas.openxmlformats.org/officeDocument/2006/relationships/slide" Target="slides/slide16.xml"/><Relationship Id="rId43" Type="http://schemas.openxmlformats.org/officeDocument/2006/relationships/notesMaster" Target="notesMasters/notesMaster1.xml"/><Relationship Id="rId44" Type="http://schemas.openxmlformats.org/officeDocument/2006/relationships/handoutMaster" Target="handoutMasters/handoutMaster1.xml"/><Relationship Id="rId45" Type="http://schemas.openxmlformats.org/officeDocument/2006/relationships/presProps" Target="presProps.xml"/><Relationship Id="rId46" Type="http://schemas.openxmlformats.org/officeDocument/2006/relationships/viewProps" Target="viewProps.xml"/><Relationship Id="rId47" Type="http://schemas.openxmlformats.org/officeDocument/2006/relationships/theme" Target="theme/theme1.xml"/><Relationship Id="rId48" Type="http://schemas.openxmlformats.org/officeDocument/2006/relationships/tableStyles" Target="tableStyles.xml"/><Relationship Id="rId49" Type="http://schemas.openxmlformats.org/officeDocument/2006/relationships/slide" Target="slides/slide2.xml"/><Relationship Id="rId50" Type="http://schemas.openxmlformats.org/officeDocument/2006/relationships/slide" Target="slides/slide3.xml"/><Relationship Id="rId51" Type="http://schemas.openxmlformats.org/officeDocument/2006/relationships/slide" Target="slides/slide4.xml"/><Relationship Id="rId52" Type="http://schemas.openxmlformats.org/officeDocument/2006/relationships/slide" Target="slides/slide5.xml"/><Relationship Id="rId53" Type="http://schemas.openxmlformats.org/officeDocument/2006/relationships/slide" Target="slides/slide6.xml"/><Relationship Id="rId54" Type="http://schemas.openxmlformats.org/officeDocument/2006/relationships/slide" Target="slides/slide7.xml"/><Relationship Id="rId55" Type="http://schemas.openxmlformats.org/officeDocument/2006/relationships/slide" Target="slides/slide8.xml"/><Relationship Id="rId56" Type="http://schemas.openxmlformats.org/officeDocument/2006/relationships/slide" Target="slides/slide9.xml"/><Relationship Id="rId57" Type="http://schemas.openxmlformats.org/officeDocument/2006/relationships/slide" Target="slides/slide10.xml"/><Relationship Id="rId58" Type="http://schemas.openxmlformats.org/officeDocument/2006/relationships/slide" Target="slides/slide11.xml"/><Relationship Id="rId59" Type="http://schemas.openxmlformats.org/officeDocument/2006/relationships/slide" Target="slides/slide12.xml"/><Relationship Id="rId62" Type="http://schemas.openxmlformats.org/officeDocument/2006/relationships/slide" Target="slides/slide15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image" Target="../media/image3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ys_app1_image4.jpeg"/><Relationship Id="rId3" Type="http://schemas.openxmlformats.org/officeDocument/2006/relationships/image" Target="../media/ys_app1_image5.jpeg"/><Relationship Id="rId4" Type="http://schemas.openxmlformats.org/officeDocument/2006/relationships/image" Target="../media/ys_app1_image6.png"/><Relationship Id="rId5" Type="http://schemas.openxmlformats.org/officeDocument/2006/relationships/image" Target="../media/ys_app1_image7.png"/><Relationship Id="rId6" Type="http://schemas.openxmlformats.org/officeDocument/2006/relationships/image" Target="../media/ys_app1_image8.png"/><Relationship Id="rId7" Type="http://schemas.openxmlformats.org/officeDocument/2006/relationships/image" Target="../media/ys_app1_image9.jpeg"/><Relationship Id="rId8" Type="http://schemas.openxmlformats.org/officeDocument/2006/relationships/image" Target="../media/ys_app1_image10.jpeg"/><Relationship Id="rId9" Type="http://schemas.openxmlformats.org/officeDocument/2006/relationships/image" Target="../media/ys_app1_image1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emf"/><Relationship Id="rId4" Type="http://schemas.openxmlformats.org/officeDocument/2006/relationships/image" Target="../media/image17.jpeg"/><Relationship Id="rId5" Type="http://schemas.openxmlformats.org/officeDocument/2006/relationships/image" Target="../media/image18.jpeg"/><Relationship Id="rId6" Type="http://schemas.openxmlformats.org/officeDocument/2006/relationships/image" Target="../media/image19.jpeg"/><Relationship Id="rId7" Type="http://schemas.openxmlformats.org/officeDocument/2006/relationships/image" Target="../media/image20.jpeg"/><Relationship Id="rId8" Type="http://schemas.openxmlformats.org/officeDocument/2006/relationships/image" Target="../media/image21.jpe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登録制のアルバイトスタッフとともに、神奈川・静岡全域のイベント会場の運営・警備・設営を担う会社です。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・アルバイトは登録制。都合の良い日に勤務できる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（シフトは自己申告制）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いただいている情報・確認したいこと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媒体データ（検索の前後行動）。起点キーワード「単発バイト」・期間2025年3月17日〜2026年3月22日。分類は弊社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出典｜LINEの月間利用者数・メッセージ開封率：LINEヤフー公式値。※応募から勤務までの実施率・再応募率は公開データがなく、貴社での計測が必要です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起きやすいこと（想定）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LINEの国内の月間利用者数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登録（ムーヴ）・選考（ワントゥワン）・勤務（ステッドワン）のやり取りに、それぞれLINEを使っています。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弊社確認）。個人名は消しています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・お仕事開始までの手順を4つで案内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応募の受付だけでなく、勤務の連絡や次の募集まで、スタッフとの継続的な接点にLINEを活用できます。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6" cy="3401568"/>
        </p:xfrm>
        <a:graphic>
          <a:graphicData uri="http://schemas.openxmlformats.org/drawingml/2006/table">
            <a:tbl>
              <a:tblPr/>
              <a:tblGrid>
                <a:gridCol w="1463040"/>
                <a:gridCol w="1783080"/>
                <a:gridCol w="1645920"/>
                <a:gridCol w="1828800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お仕事開始までの手順を4つで案内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て、リッチメニュー経由の応募数が79%増えました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応募の時点で友だちになるので、イベントが終わっても次の募集が届きます。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4937760" cy="384048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※画面は動作のイメージです（他業種の例）。ほかのツールと併用できるかも、事前に確認します。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4009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会場・集合場所と時間・持ち物・服装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合わない募集が届かないので、ブロックを抑えることが期待できます。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288950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315968"/>
            <a:ext cx="4937760" cy="118872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※再応募＝登録済みの方からの、次回イベントへの勤務希望（シフトの申告）も含みます。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95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【勤務者募集｜横浜アリーナ】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勤務希望を出す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STEP1｜構築（運用開始の前）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STEP2｜運用・検証（1〜6か月目）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・再応募・再稼働の計測（LINEからの勤務希望の数）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月額215,000円〜（ツール費込み）で始め、成果を見て調整します。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37" name="正方形/長方形 2"/>
          <p:cNvSpPr/>
          <p:nvPr/>
        </p:nvSpPr>
        <p:spPr>
          <a:xfrm>
            <a:off x="0" y="577800"/>
            <a:ext cx="9905760" cy="812520"/>
          </a:xfrm>
          <a:prstGeom prst="rect">
            <a:avLst/>
          </a:prstGeom>
          <a:noFill/>
          <a:ln>
            <a:noFill/>
          </a:ln>
          <a:effectLst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8" name="正方形/長方形 3"/>
          <p:cNvSpPr/>
          <p:nvPr/>
        </p:nvSpPr>
        <p:spPr>
          <a:xfrm>
            <a:off x="379800" y="635040"/>
            <a:ext cx="9160560" cy="69804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90000" rIns="90000" bIns="45000" anchor="ctr">
            <a:noAutofit/>
          </a:bodyPr>
          <a:lstStyle/>
          <a:p>
            <a:pPr algn="ctr" defTabSz="914400">
              <a:lnSpc>
                <a:spcPts val="2455"/>
              </a:lnSpc>
            </a:pPr>
            <a:endParaRPr lang="en-US" sz="1400" b="0" u="none" strike="noStrike">
              <a:solidFill>
                <a:srgbClr val="343434"/>
              </a:solidFill>
              <a:effectLst/>
              <a:uFillTx/>
              <a:latin typeface="メイリオ"/>
              <a:ea typeface="メイリオ"/>
            </a:endParaRPr>
          </a:p>
        </p:txBody>
      </p:sp>
      <p:sp>
        <p:nvSpPr>
          <p:cNvPr id="339" name="Google Shape;156;p7"/>
          <p:cNvSpPr/>
          <p:nvPr/>
        </p:nvSpPr>
        <p:spPr>
          <a:xfrm>
            <a:off x="549000" y="137983"/>
            <a:ext cx="7680960" cy="338554"/>
          </a:xfrm>
          <a:prstGeom prst="rect">
            <a:avLst/>
          </a:prstGeom>
          <a:noFill/>
          <a:ln w="1905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>
              <a:tabLst>
                <a:tab pos="0" algn="l"/>
              </a:tabLst>
            </a:pPr>
            <a:r>
              <a:rPr lang="ja-JP" sz="1600" b="1" u="none" strike="noStrike" dirty="0">
                <a:solidFill>
                  <a:srgbClr val="002060"/>
                </a:solidFill>
                <a:effectLst/>
                <a:uFillTx/>
                <a:latin typeface="メイリオ"/>
                <a:ea typeface="メイリオ"/>
              </a:rPr>
              <a:t>概算お見積り：月215,000円で、6か月目に新規応募 月6件・再応募 月3件</a:t>
            </a:r>
          </a:p>
        </p:txBody>
      </p:sp>
      <p:cxnSp>
        <p:nvCxnSpPr>
          <p:cNvPr id="340" name="直線コネクタ 1"/>
          <p:cNvCxnSpPr/>
          <p:nvPr/>
        </p:nvCxnSpPr>
        <p:spPr>
          <a:xfrm>
            <a:off x="0" y="1390320"/>
            <a:ext cx="9906120" cy="360"/>
          </a:xfrm>
          <a:prstGeom prst="straightConnector1">
            <a:avLst/>
          </a:prstGeom>
          <a:ln w="19050">
            <a:solidFill>
              <a:schemeClr val="lt1">
                <a:lumMod val="85000"/>
                <a:alpha val="60000"/>
              </a:schemeClr>
            </a:solidFill>
            <a:round/>
          </a:ln>
        </p:spPr>
      </p:cxnSp>
      <p:sp>
        <p:nvSpPr>
          <p:cNvPr id="341" name="正方形/長方形 4"/>
          <p:cNvSpPr/>
          <p:nvPr/>
        </p:nvSpPr>
        <p:spPr>
          <a:xfrm>
            <a:off x="2613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初期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2" name="正方形/長方形 6"/>
          <p:cNvSpPr/>
          <p:nvPr/>
        </p:nvSpPr>
        <p:spPr>
          <a:xfrm>
            <a:off x="3337560" y="1517760"/>
            <a:ext cx="2899440" cy="38376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3" name="正方形/長方形 7"/>
          <p:cNvSpPr/>
          <p:nvPr/>
        </p:nvSpPr>
        <p:spPr>
          <a:xfrm>
            <a:off x="2613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¥295,000〜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4" name="正方形/長方形 9"/>
          <p:cNvSpPr/>
          <p:nvPr/>
        </p:nvSpPr>
        <p:spPr>
          <a:xfrm>
            <a:off x="3337560" y="1956960"/>
            <a:ext cx="2899440" cy="676440"/>
          </a:xfrm>
          <a:prstGeom prst="rect">
            <a:avLst/>
          </a:prstGeom>
          <a:noFill/>
          <a:ln>
            <a:solidFill>
              <a:srgbClr val="223852"/>
            </a:solidFill>
            <a:round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600" b="1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¥215,000〜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5" name="矢印: 右 14"/>
          <p:cNvSpPr/>
          <p:nvPr/>
        </p:nvSpPr>
        <p:spPr>
          <a:xfrm>
            <a:off x="6379200" y="1956960"/>
            <a:ext cx="365400" cy="2797560"/>
          </a:xfrm>
          <a:prstGeom prst="rightArrow">
            <a:avLst>
              <a:gd name="adj1" fmla="val 50000"/>
              <a:gd name="adj2" fmla="val 50000"/>
            </a:avLst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endParaRPr lang="en-US" sz="1800" b="0" u="none" strike="noStrike">
              <a:solidFill>
                <a:schemeClr val="lt1"/>
              </a:solidFill>
              <a:effectLst/>
              <a:uFillTx/>
              <a:latin typeface="メイリオ"/>
            </a:endParaRPr>
          </a:p>
        </p:txBody>
      </p:sp>
      <p:sp>
        <p:nvSpPr>
          <p:cNvPr id="346" name="正方形/長方形 16"/>
          <p:cNvSpPr/>
          <p:nvPr/>
        </p:nvSpPr>
        <p:spPr>
          <a:xfrm>
            <a:off x="6744960" y="1517760"/>
            <a:ext cx="2899440" cy="383760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6</a:t>
            </a: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か月後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47" name="テキスト ボックス 18"/>
          <p:cNvSpPr/>
          <p:nvPr/>
        </p:nvSpPr>
        <p:spPr>
          <a:xfrm>
            <a:off x="2613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8" name="テキスト ボックス 20"/>
          <p:cNvSpPr/>
          <p:nvPr/>
        </p:nvSpPr>
        <p:spPr>
          <a:xfrm>
            <a:off x="3337560" y="2688480"/>
            <a:ext cx="2899080" cy="347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&lt;</a:t>
            </a:r>
            <a:r>
              <a:rPr lang="ja-JP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実施内容</a:t>
            </a:r>
            <a:r>
              <a:rPr lang="en-US" sz="14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49" name="正方形/長方形 24"/>
          <p:cNvSpPr/>
          <p:nvPr/>
        </p:nvSpPr>
        <p:spPr>
          <a:xfrm>
            <a:off x="33832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企画配信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0" name="正方形/長方形 28"/>
          <p:cNvSpPr/>
          <p:nvPr/>
        </p:nvSpPr>
        <p:spPr>
          <a:xfrm>
            <a:off x="48463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月4回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1" name="正方形/長方形 32"/>
          <p:cNvSpPr/>
          <p:nvPr/>
        </p:nvSpPr>
        <p:spPr>
          <a:xfrm>
            <a:off x="3383280" y="3579840"/>
            <a:ext cx="1425960" cy="48420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90000"/>
              </a:lnSpc>
            </a:pPr>
            <a:r>
              <a:rPr lang="ja-JP" sz="12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2" name="正方形/長方形 36"/>
          <p:cNvSpPr/>
          <p:nvPr/>
        </p:nvSpPr>
        <p:spPr>
          <a:xfrm>
            <a:off x="4846320" y="3579840"/>
            <a:ext cx="1343880" cy="48420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36576" tIns="0" rIns="36576" bIns="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2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4通の改善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3" name="正方形/長方形 40"/>
          <p:cNvSpPr/>
          <p:nvPr/>
        </p:nvSpPr>
        <p:spPr>
          <a:xfrm>
            <a:off x="33832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セグメント配信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4" name="正方形/長方形 45"/>
          <p:cNvSpPr/>
          <p:nvPr/>
        </p:nvSpPr>
        <p:spPr>
          <a:xfrm>
            <a:off x="48463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設定・改善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5" name="正方形/長方形 49"/>
          <p:cNvSpPr/>
          <p:nvPr/>
        </p:nvSpPr>
        <p:spPr>
          <a:xfrm>
            <a:off x="33832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6" name="正方形/長方形 53"/>
          <p:cNvSpPr/>
          <p:nvPr/>
        </p:nvSpPr>
        <p:spPr>
          <a:xfrm>
            <a:off x="48463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型の改善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7" name="正方形/長方形 57"/>
          <p:cNvSpPr/>
          <p:nvPr/>
        </p:nvSpPr>
        <p:spPr>
          <a:xfrm>
            <a:off x="33832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月次レポート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58" name="正方形/長方形 61"/>
          <p:cNvSpPr/>
          <p:nvPr/>
        </p:nvSpPr>
        <p:spPr>
          <a:xfrm>
            <a:off x="48463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1回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59" name="正方形/長方形 65"/>
          <p:cNvSpPr/>
          <p:nvPr/>
        </p:nvSpPr>
        <p:spPr>
          <a:xfrm>
            <a:off x="3383280" y="55368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友だちの入口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0" name="正方形/長方形 69"/>
          <p:cNvSpPr/>
          <p:nvPr/>
        </p:nvSpPr>
        <p:spPr>
          <a:xfrm>
            <a:off x="4846320" y="55368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1" name="正方形/長方形 79"/>
          <p:cNvSpPr/>
          <p:nvPr/>
        </p:nvSpPr>
        <p:spPr>
          <a:xfrm>
            <a:off x="6812280" y="19569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友だち数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2" name="正方形/長方形 81"/>
          <p:cNvSpPr/>
          <p:nvPr/>
        </p:nvSpPr>
        <p:spPr>
          <a:xfrm>
            <a:off x="6812280" y="2432160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新規応募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4" name="正方形/長方形 85"/>
          <p:cNvSpPr/>
          <p:nvPr/>
        </p:nvSpPr>
        <p:spPr>
          <a:xfrm>
            <a:off x="6812280" y="2907792"/>
            <a:ext cx="1425960" cy="402120"/>
          </a:xfrm>
          <a:prstGeom prst="rect">
            <a:avLst/>
          </a:prstGeom>
          <a:solidFill>
            <a:srgbClr val="04FA0A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45000" rIns="4572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再応募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5" name="正方形/長方形 11"/>
          <p:cNvSpPr/>
          <p:nvPr/>
        </p:nvSpPr>
        <p:spPr>
          <a:xfrm>
            <a:off x="307080" y="309060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離脱防止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6" name="正方形/長方形 13"/>
          <p:cNvSpPr/>
          <p:nvPr/>
        </p:nvSpPr>
        <p:spPr>
          <a:xfrm>
            <a:off x="1770120" y="309060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7" name="正方形/長方形 17"/>
          <p:cNvSpPr/>
          <p:nvPr/>
        </p:nvSpPr>
        <p:spPr>
          <a:xfrm>
            <a:off x="307080" y="357984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サンクス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LINE誘導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68" name="正方形/長方形 21"/>
          <p:cNvSpPr/>
          <p:nvPr/>
        </p:nvSpPr>
        <p:spPr>
          <a:xfrm>
            <a:off x="1770120" y="357984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導入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69" name="正方形/長方形 25"/>
          <p:cNvSpPr/>
          <p:nvPr/>
        </p:nvSpPr>
        <p:spPr>
          <a:xfrm>
            <a:off x="307080" y="406908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サイトの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LINEボタン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0" name="正方形/長方形 29"/>
          <p:cNvSpPr/>
          <p:nvPr/>
        </p:nvSpPr>
        <p:spPr>
          <a:xfrm>
            <a:off x="1770120" y="406908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設置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1" name="正方形/長方形 33"/>
          <p:cNvSpPr/>
          <p:nvPr/>
        </p:nvSpPr>
        <p:spPr>
          <a:xfrm>
            <a:off x="307080" y="455832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ステップ配信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2" name="正方形/長方形 37"/>
          <p:cNvSpPr/>
          <p:nvPr/>
        </p:nvSpPr>
        <p:spPr>
          <a:xfrm>
            <a:off x="1770120" y="455832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4通を構築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3" name="正方形/長方形 41"/>
          <p:cNvSpPr/>
          <p:nvPr/>
        </p:nvSpPr>
        <p:spPr>
          <a:xfrm>
            <a:off x="307080" y="5047560"/>
            <a:ext cx="1425960" cy="447840"/>
          </a:xfrm>
          <a:prstGeom prst="rect">
            <a:avLst/>
          </a:prstGeom>
          <a:solidFill>
            <a:srgbClr val="00B05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勤務前の案内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374" name="正方形/長方形 46"/>
          <p:cNvSpPr/>
          <p:nvPr/>
        </p:nvSpPr>
        <p:spPr>
          <a:xfrm>
            <a:off x="1770120" y="5047560"/>
            <a:ext cx="1343880" cy="44784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45720" tIns="18360" rIns="45720" bIns="1836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300" b="0" u="none" strike="noStrike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型をつくる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5" name="テキスト ボックス 10"/>
          <p:cNvSpPr/>
          <p:nvPr/>
        </p:nvSpPr>
        <p:spPr>
          <a:xfrm>
            <a:off x="8256960" y="19569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zh-CN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984人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6" name="テキスト ボックス 15"/>
          <p:cNvSpPr/>
          <p:nvPr/>
        </p:nvSpPr>
        <p:spPr>
          <a:xfrm>
            <a:off x="8256960" y="2432160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6件/月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78" name="テキスト ボックス 26"/>
          <p:cNvSpPr/>
          <p:nvPr/>
        </p:nvSpPr>
        <p:spPr>
          <a:xfrm>
            <a:off x="8256960" y="2907792"/>
            <a:ext cx="1325520" cy="4021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en-US" sz="1400" b="1" u="none" strike="noStrike">
                <a:solidFill>
                  <a:srgbClr val="1F285A"/>
                </a:solidFill>
                <a:effectLst/>
                <a:uFillTx/>
                <a:latin typeface="メイリオ"/>
                <a:ea typeface="メイリオ"/>
              </a:rPr>
              <a:t>3件/月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381" name="テキスト ボックス 30"/>
          <p:cNvSpPr/>
          <p:nvPr/>
        </p:nvSpPr>
        <p:spPr>
          <a:xfrm>
            <a:off x="426240" y="635400"/>
            <a:ext cx="9068760" cy="6984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dk1">
                    <a:lumMod val="65000"/>
                    <a:lumOff val="35000"/>
                  </a:schemeClr>
                </a:solidFill>
                <a:effectLst/>
                <a:uFillTx/>
                <a:latin typeface="メイリオ"/>
                <a:ea typeface="メイリオ"/>
              </a:rPr>
              <a:t>プラン②｜友だちの入口を増やし、勤務の連絡と次回イベントの募集で、新規応募・再応募を増やす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635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料金プラン：3つのプランの費用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636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 dirty="0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料金プランの比較</a:t>
            </a:r>
            <a:endParaRPr lang="en-US" sz="1400" b="0" u="none" strike="noStrike" dirty="0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637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運用範囲に合わせて、3つのプランをご用意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39" name="料金プラン比較表 638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2307853"/>
              </p:ext>
            </p:extLst>
          </p:nvPr>
        </p:nvGraphicFramePr>
        <p:xfrm>
          <a:off x="384048" y="1353312"/>
          <a:ext cx="9144000" cy="374904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695,000円〜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400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月額運用費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350,000円〜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772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月額ツール・LINE関連費</a:t>
                      </a:r>
                      <a:endParaRPr lang="ja-JP" altLang="en-US" sz="1400" dirty="0"/>
                    </a:p>
                  </a:txBody>
                  <a:tcPr marL="27432" marR="2743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5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15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1440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20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415,000円〜</a:t>
                      </a:r>
                      <a:endParaRPr lang="ja-JP" altLang="en-US" sz="2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640" name="注記"/>
          <p:cNvSpPr/>
          <p:nvPr/>
        </p:nvSpPr>
        <p:spPr>
          <a:xfrm>
            <a:off x="384048" y="5257800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※初期費用＝運用設計・構築（①600,000円〜／②100,000円〜／③500,000円〜）＋離脱防止 15,000円＋サンクスLINE誘導 150,000円＋アカウント開設 30,000円</a:t>
            </a:r>
            <a:endParaRPr lang="ja-JP" altLang="en-US" sz="1200" dirty="0"/>
          </a:p>
        </p:txBody>
      </p:sp>
      <p:sp>
        <p:nvSpPr>
          <p:cNvPr id="641" name="注記"/>
          <p:cNvSpPr/>
          <p:nvPr/>
        </p:nvSpPr>
        <p:spPr>
          <a:xfrm>
            <a:off x="384048" y="5504688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※月額ツール・LINE関連費＝離脱防止 30,000円＋サンクスLINE誘導 30,000円〜＋LINE公式アカウント利用料 5,000円〜（ライトプラン想定）</a:t>
            </a:r>
            <a:endParaRPr lang="ja-JP" altLang="en-US" sz="1200" dirty="0"/>
          </a:p>
        </p:txBody>
      </p:sp>
      <p:sp>
        <p:nvSpPr>
          <p:cNvPr id="642" name="注記"/>
          <p:cNvSpPr/>
          <p:nvPr/>
        </p:nvSpPr>
        <p:spPr>
          <a:xfrm>
            <a:off x="384048" y="5751576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※契約期間は6か月〜。概算お見積りのページはプラン②の場合</a:t>
            </a:r>
            <a:endParaRPr lang="ja-JP" altLang="en-US" sz="1200" dirty="0"/>
          </a:p>
        </p:txBody>
      </p:sp>
      <p:sp>
        <p:nvSpPr>
          <p:cNvPr id="643" name="注記"/>
          <p:cNvSpPr/>
          <p:nvPr/>
        </p:nvSpPr>
        <p:spPr>
          <a:xfrm>
            <a:off x="384048" y="5998464"/>
            <a:ext cx="9144000" cy="2468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>
            <a:noAutofit/>
          </a:bodyPr>
          <a:lstStyle/>
          <a:p>
            <a:pPr algn="l">
              <a:buNone/>
            </a:pPr>
            <a:r>
              <a:rPr lang="ja-JP" altLang="en-US" sz="900" b="0" dirty="0">
                <a:solidFill>
                  <a:srgbClr val="7F7F7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※施策内容・配信本数・連携範囲等により、費用は個別にお見積もりいたします。</a:t>
            </a:r>
            <a:endParaRPr lang="ja-JP" alt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752;p28"/>
          <p:cNvSpPr/>
          <p:nvPr/>
        </p:nvSpPr>
        <p:spPr>
          <a:xfrm>
            <a:off x="549000" y="138240"/>
            <a:ext cx="62758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>
                <a:solidFill>
                  <a:srgbClr val="323366"/>
                </a:solidFill>
                <a:effectLst/>
                <a:uFillTx/>
                <a:latin typeface="メイリオ"/>
                <a:ea typeface="メイリオ"/>
              </a:rPr>
              <a:t>運用内容：プランごとの対応範囲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sp>
        <p:nvSpPr>
          <p:cNvPr id="4" name="正方形/長方形 8"/>
          <p:cNvSpPr/>
          <p:nvPr/>
        </p:nvSpPr>
        <p:spPr>
          <a:xfrm>
            <a:off x="0" y="681480"/>
            <a:ext cx="2914200" cy="502560"/>
          </a:xfrm>
          <a:prstGeom prst="rect">
            <a:avLst/>
          </a:prstGeom>
          <a:solidFill>
            <a:srgbClr val="002060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algn="ctr" defTabSz="914400">
              <a:lnSpc>
                <a:spcPct val="100000"/>
              </a:lnSpc>
            </a:pPr>
            <a:r>
              <a:rPr lang="ja-JP" sz="1400" b="0" u="none" strike="noStrike">
                <a:solidFill>
                  <a:schemeClr val="lt1"/>
                </a:solidFill>
                <a:effectLst/>
                <a:uFillTx/>
                <a:latin typeface="メイリオ"/>
                <a:ea typeface="メイリオ"/>
              </a:rPr>
              <a:t>運用内容の比較</a:t>
            </a:r>
            <a:endParaRPr lang="en-US" sz="1400" b="0" u="none" strike="noStrike">
              <a:solidFill>
                <a:srgbClr val="FFFFFF"/>
              </a:solidFill>
              <a:effectLst/>
              <a:uFillTx/>
              <a:latin typeface="メイリオ"/>
            </a:endParaRPr>
          </a:p>
        </p:txBody>
      </p:sp>
      <p:sp>
        <p:nvSpPr>
          <p:cNvPr id="5" name="Google Shape;752;p28"/>
          <p:cNvSpPr/>
          <p:nvPr/>
        </p:nvSpPr>
        <p:spPr>
          <a:xfrm>
            <a:off x="2983680" y="783000"/>
            <a:ext cx="6619680" cy="338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anchor="ctr">
            <a:spAutoFit/>
          </a:bodyPr>
          <a:lstStyle/>
          <a:p>
            <a:pPr defTabSz="914400">
              <a:lnSpc>
                <a:spcPct val="100000"/>
              </a:lnSpc>
            </a:pP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3つのプランの運用内容</a:t>
            </a:r>
            <a:r>
              <a:rPr lang="ja-JP" altLang="en-US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の</a:t>
            </a:r>
            <a:r>
              <a:rPr lang="ja-JP" sz="1600" b="1" u="none" strike="noStrike" dirty="0">
                <a:solidFill>
                  <a:schemeClr val="dk1"/>
                </a:solidFill>
                <a:effectLst/>
                <a:uFillTx/>
                <a:latin typeface="メイリオ"/>
                <a:ea typeface="メイリオ"/>
              </a:rPr>
              <a:t>比較</a:t>
            </a:r>
            <a:endParaRPr lang="en-US" sz="1600" b="0" u="none" strike="noStrike" dirty="0">
              <a:solidFill>
                <a:srgbClr val="000000"/>
              </a:solidFill>
              <a:effectLst/>
              <a:uFillTx/>
              <a:latin typeface="メイリオ"/>
            </a:endParaRPr>
          </a:p>
        </p:txBody>
      </p:sp>
      <p:graphicFrame>
        <p:nvGraphicFramePr>
          <p:cNvPr id="6" name="運用内容比較表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588805"/>
              </p:ext>
            </p:extLst>
          </p:nvPr>
        </p:nvGraphicFramePr>
        <p:xfrm>
          <a:off x="384048" y="1353312"/>
          <a:ext cx="9144000" cy="3642969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680313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プラン①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初期設計・構築のみ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運用代行・効率改善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プラン③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運用代行フルサポート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285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離脱防止・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導入・運用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サイトのLINEボタン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設置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ステップ配信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（構築のみ）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14日間・4通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（構築・改善）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企画配信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（次回イベントの募集）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なし（貴社で運用）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月4回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（設計・作成・画像制作）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勤務前の案内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型の作成のみ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（送信は貴社）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型の作成・改善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（送信も代行）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93776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結果の分析・改善</a:t>
                      </a:r>
                      <a:endParaRPr lang="ja-JP" altLang="en-US" sz="1300" dirty="0"/>
                    </a:p>
                    <a:p>
                      <a:pPr algn="ctr">
                        <a:buNone/>
                      </a:pPr>
                      <a:r>
                        <a:rPr lang="ja-JP" altLang="en-US" sz="1300" b="1" dirty="0">
                          <a:solidFill>
                            <a:srgbClr val="1F285A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（月次レポート）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C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なし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3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対応</a:t>
                      </a:r>
                      <a:endParaRPr lang="ja-JP" altLang="en-US" sz="13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