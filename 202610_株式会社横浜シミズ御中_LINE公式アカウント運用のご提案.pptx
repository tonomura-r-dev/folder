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5" r:id="rId60"/>
    <p:sldId id="2376" r:id="rId61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概算お見積り｜友だち獲得から新規応募・再応募まで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サイトの訪問者数（UU）月8,947をもとに、友だち獲得から新規応募・再応募までの6か月の見込みを算出。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月の応募数と各率は仮に置いた数字。実数をいただければ、置き換えて算出し直す。</a:t>
            </a:r>
          </a:p>
        </p:txBody>
      </p:sp>
      <p:graphicFrame>
        <p:nvGraphicFramePr>
          <p:cNvPr id="4" name="表 3"/>
          <p:cNvGraphicFramePr>
            <a:graphicFrameLocks noGrp="1"/>
          </p:cNvGraphicFramePr>
          <p:nvPr/>
        </p:nvGraphicFramePr>
        <p:xfrm>
          <a:off x="429768" y="1371600"/>
          <a:ext cx="9043416" cy="2779776"/>
        </p:xfrm>
        <a:graphic>
          <a:graphicData uri="http://schemas.openxmlformats.org/drawingml/2006/table">
            <a:tbl>
              <a:tblPr/>
              <a:tblGrid>
                <a:gridCol w="1481328"/>
                <a:gridCol w="2587752"/>
                <a:gridCol w="676656"/>
                <a:gridCol w="676656"/>
                <a:gridCol w="676656"/>
                <a:gridCol w="676656"/>
                <a:gridCol w="676656"/>
                <a:gridCol w="676656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計算（仮定）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サイトのLINEボタン 45＋離脱防止 91＋サンクスLINE誘導 28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984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累計の友だち数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前月 ＋ 友だち追加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492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820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984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ブロック率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32%から毎月少しずつ上昇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34%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34%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35%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36%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配信できる友だち数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 ×（1 − ブロック率）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112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221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430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531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配信のクリック数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 月4回＋ステップ配信 4通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407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481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1,849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新規応募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応募前に友だちになった方の応募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再応募（勤務希望）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一度勤務した方の、次回イベントへの応募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応募の合計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新規応募 ＋ 再応募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29768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いただいている数値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・サイトUU 8,947（月間）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※月の応募数は、仮にUUの1%（89件）で計算</a:t>
            </a:r>
            <a:endParaRPr lang="ja-JP" altLang="en-US" sz="950" dirty="0"/>
          </a:p>
        </p:txBody>
      </p:sp>
      <p:sp>
        <p:nvSpPr>
          <p:cNvPr id="6" name="Rounded Rectangle 5"/>
          <p:cNvSpPr/>
          <p:nvPr/>
        </p:nvSpPr>
        <p:spPr>
          <a:xfrm>
            <a:off x="3489960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仮定（弊社で設定）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・サンクスLINE誘導：応募×遷移80%×追加40%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・LINEボタン・離脱防止：弊社の標準の係数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・応募：配信からのクリックに対する応募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※採用サイトの完了画面に設置できる前提</a:t>
            </a:r>
            <a:endParaRPr lang="ja-JP" altLang="en-US" sz="950" dirty="0"/>
          </a:p>
        </p:txBody>
      </p:sp>
      <p:sp>
        <p:nvSpPr>
          <p:cNvPr id="7" name="Rounded Rectangle 6"/>
          <p:cNvSpPr/>
          <p:nvPr/>
        </p:nvSpPr>
        <p:spPr>
          <a:xfrm>
            <a:off x="6550152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含めていないもの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・今いる登録スタッフ（LINE公式アカウントは新規開設のため、0人から）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・求人媒体経由の応募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・勤務連絡の効率化（時間の削減）</a:t>
            </a:r>
            <a:endParaRPr lang="ja-JP" altLang="en-US" sz="950" dirty="0"/>
          </a:p>
        </p:txBody>
      </p:sp>
      <p:sp>
        <p:nvSpPr>
          <p:cNvPr id="8" name="Rectangle 7"/>
          <p:cNvSpPr/>
          <p:nvPr/>
        </p:nvSpPr>
        <p:spPr>
          <a:xfrm>
            <a:off x="429768" y="5623560"/>
            <a:ext cx="9043416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※見込みであり、成果を保証するものではない。1か月目＝運用開始の月（構築の完了後）。広告経由と自然流入は区別していない。人数・件数は四捨五入。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運用プラン・費用｜月額20万円以内（ツール費込み）で運用します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月額はツール費を含めて165,000円〜（税抜）。想定予算の月額20万円以内に収めています。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初期費用は月額とは別にお見積りします（6か月〜のご契約）。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税抜。施策内容・配信本数・連携範囲により、費用は個別にお見積りします。LINE公式アカウントの利用料は配信数により変わります。勤務前の案内はイベントごとに送るため、企画配信・ステップ配信とは別に運用します（送信の担当はご相談のうえ決定）。</a:t>
            </a:r>
          </a:p>
        </p:txBody>
      </p:sp>
      <p:graphicFrame>
        <p:nvGraphicFramePr>
          <p:cNvPr id="21" name="表 20"/>
          <p:cNvGraphicFramePr>
            <a:graphicFrameLocks noGrp="1"/>
          </p:cNvGraphicFramePr>
          <p:nvPr/>
        </p:nvGraphicFramePr>
        <p:xfrm>
          <a:off x="429768" y="1371600"/>
          <a:ext cx="4709160" cy="2103120"/>
        </p:xfrm>
        <a:graphic>
          <a:graphicData uri="http://schemas.openxmlformats.org/drawingml/2006/table">
            <a:tbl>
              <a:tblPr/>
              <a:tblGrid>
                <a:gridCol w="324612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DYMの運用費（運用代行・効率改善プラン／企画配信 月4回・ステップ配信 4通）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離脱防止ポップアップ（ツール費）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サンクスLINE誘導（ツール費）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LINE公式アカウント利用料（ライトプラン想定）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合計（予算：月額20万円以内）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165,000円〜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3611880"/>
          <a:ext cx="4709160" cy="2084832"/>
        </p:xfrm>
        <a:graphic>
          <a:graphicData uri="http://schemas.openxmlformats.org/drawingml/2006/table">
            <a:tbl>
              <a:tblPr/>
              <a:tblGrid>
                <a:gridCol w="324612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初期費用（別途）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LINEの初期構築（あいさつ・リッチメニュー・タグ設計・勤務前の案内の型）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100,000円〜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離脱防止ポップアップの導入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サンクスLINE誘導の導入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LINE公式アカウントの開設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367528" y="1371600"/>
            <a:ext cx="41056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役割分担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5367528" y="1783080"/>
            <a:ext cx="4105656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・配信の設計・作成（企画配信 月4回・ステップ配信 4通）／タグ・セグメント配信の設定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・離脱防止ポップアップ・サンクスLINE誘導の導入・設定／勤務前の案内の型づくり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・月次レポート・改善のご提案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5367528" y="3063240"/>
            <a:ext cx="4105656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・勤務・募集の情報のご提供（会場・日時・集合など）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・勤務前の案内の送信（型を使ってイベントごとに）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・個別のチャット対応・サイトと応募フォームへの設置のご協力</a:t>
            </a:r>
            <a:endParaRPr lang="ja-JP" altLang="en-US" sz="1050" dirty="0"/>
          </a:p>
        </p:txBody>
      </p:sp>
      <p:sp>
        <p:nvSpPr>
          <p:cNvPr id="26" name="Rounded Rectangle 25"/>
          <p:cNvSpPr/>
          <p:nvPr/>
        </p:nvSpPr>
        <p:spPr>
          <a:xfrm>
            <a:off x="5367528" y="4297680"/>
            <a:ext cx="4105656" cy="126187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分析・改善（毎月）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見る数字：友だち数・ブロック率・配信の開封とクリック・再応募件数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配信の内容・対象・タイミングを見直し、配信本数・ツールも成果を見て調整します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月額20万円以内（ツール費込み）で始め、成果を見て調整します。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