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20"/>
  </p:notesMasterIdLst>
  <p:handoutMasterIdLst>
    <p:handoutMasterId r:id="rId21"/>
  </p:handoutMasterIdLst>
  <p:sldIdLst>
    <p:sldId id="2363" r:id="rId3"/>
    <p:sldId id="2364" r:id="rId4"/>
    <p:sldId id="2365" r:id="rId5"/>
    <p:sldId id="2366" r:id="rId6"/>
    <p:sldId id="2367" r:id="rId7"/>
    <p:sldId id="2368" r:id="rId8"/>
    <p:sldId id="2369" r:id="rId9"/>
    <p:sldId id="257" r:id="rId10"/>
    <p:sldId id="2371" r:id="rId11"/>
    <p:sldId id="2372" r:id="rId12"/>
    <p:sldId id="2373" r:id="rId13"/>
    <p:sldId id="2381" r:id="rId26"/>
    <p:sldId id="2374" r:id="rId14"/>
    <p:sldId id="2378" r:id="rId15"/>
    <p:sldId id="2379" r:id="rId16"/>
    <p:sldId id="2380" r:id="rId17"/>
    <p:sldId id="2377" r:id="rId18"/>
    <p:sldId id="1169" r:id="rId19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1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17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Relationship Id="rId5" Type="http://schemas.openxmlformats.org/officeDocument/2006/relationships/image" Target="../media/image8.jpeg"/><Relationship Id="rId6" Type="http://schemas.openxmlformats.org/officeDocument/2006/relationships/image" Target="../media/image9.jpeg"/><Relationship Id="rId7" Type="http://schemas.openxmlformats.org/officeDocument/2006/relationships/image" Target="../media/image10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jpg"/><Relationship Id="rId8" Type="http://schemas.openxmlformats.org/officeDocument/2006/relationships/image" Target="../media/image17.jpe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hyperlink" Target="https://youtube.com/shorts/0qI4QgrOppQ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emf"/><Relationship Id="rId4" Type="http://schemas.openxmlformats.org/officeDocument/2006/relationships/image" Target="../media/image20.jpeg"/><Relationship Id="rId5" Type="http://schemas.openxmlformats.org/officeDocument/2006/relationships/image" Target="../media/image21.jpeg"/><Relationship Id="rId6" Type="http://schemas.openxmlformats.org/officeDocument/2006/relationships/image" Target="../media/image22.jpeg"/><Relationship Id="rId7" Type="http://schemas.openxmlformats.org/officeDocument/2006/relationships/image" Target="../media/image23.jpeg"/><Relationship Id="rId8" Type="http://schemas.openxmlformats.org/officeDocument/2006/relationships/image" Target="../media/image24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LINE公式アカウント運用のご提案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/>
                <a:ea typeface="メイリオ"/>
              </a:rPr>
              <a:t>応募から勤務連絡、次回イベントへの再応募までをLINEでつなぐ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2608" y="265176"/>
            <a:ext cx="4965192" cy="338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l">
              <a:buNone/>
            </a:pPr>
            <a:r>
              <a:rPr lang="ja-JP" altLang="en-US" sz="16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株式会社横浜シミズ 御中</a:t>
            </a:r>
            <a:endParaRPr lang="ja-JP" altLang="en-US" sz="1600" dirty="0"/>
          </a:p>
        </p:txBody>
      </p:sp>
      <p:sp>
        <p:nvSpPr>
          <p:cNvPr id="12" name="Rectangle 11"/>
          <p:cNvSpPr/>
          <p:nvPr/>
        </p:nvSpPr>
        <p:spPr>
          <a:xfrm>
            <a:off x="1335024" y="3931920"/>
            <a:ext cx="723290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2026年10月　株式会社DYM</a:t>
            </a:r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現状把握｜横浜シミズの事業と、想定している課題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0860" y="862696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登録制のアルバイトスタッフとともに、神奈川・静岡全域のイベント会場の運営・警備・設営を担う会社です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イベントごとに人を集める事業だからこそ、勤務後の接点が次の人員確保につながると考えます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0860" y="4826699"/>
            <a:ext cx="8773451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出典｜株式会社横浜シミズ 公式サイト（事業内容・会社情報・アルバイト募集）・採用サイト（shimizuocto-saiyou.net）　2026年10月20日 弊社確認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860" y="4826699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一度働いた方に、次のイベントでも戻ってきていただく仕組みをつくる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31292" y="1650519"/>
            <a:ext cx="4636881" cy="297357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568452" y="1760247"/>
            <a:ext cx="3017520" cy="292608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事業の特徴（公式サイト・採用サイトより）</a:t>
            </a:r>
            <a:endParaRPr lang="ja-JP" altLang="en-US" sz="1050" dirty="0"/>
          </a:p>
        </p:txBody>
      </p:sp>
      <p:sp>
        <p:nvSpPr>
          <p:cNvPr id="24" name="Rectangle 23"/>
          <p:cNvSpPr/>
          <p:nvPr/>
        </p:nvSpPr>
        <p:spPr>
          <a:xfrm>
            <a:off x="541236" y="2157997"/>
            <a:ext cx="4526937" cy="2329138"/>
          </a:xfrm>
          <a:prstGeom prst="rect">
            <a:avLst/>
          </a:prstGeom>
          <a:noFill/>
          <a:ln>
            <a:noFill/>
          </a:ln>
        </p:spPr>
        <p:txBody>
          <a:bodyPr wrap="square" lIns="54864" tIns="36576" rIns="54864" bIns="36576" rtlCol="0" anchor="t">
            <a:noAutofit/>
          </a:bodyPr>
          <a:lstStyle/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・神奈川県・静岡県全域で、舞台設営・美術施工・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運営管理・警備をワンストップで提供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・運営管理は、少人数から1日1,000人以上の規模まで動員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・アルバイトは登録制。都合の良い日に勤務できる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（シフトは自己申告制）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・一度採用されると、ほかの業務にも勤務できる（面接は1回）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・勤務地は日産スタジアム・横浜アリーナ・横浜スタジアム・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Kアリーナ横浜など多数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・応募は採用サイトから。面接予約の完了はメールで届く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5446127" y="1650519"/>
            <a:ext cx="3758184" cy="118218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想定している課題（仮説）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イベントの勤務が終わると、スタッフの方との連絡が途切れやすい。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次のイベントでも働いていただける接点を残すことが、継続的な人員確保の鍵と考えます。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業界課題①｜イベント・単発の仕事は、毎回の人員確保が前提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単発・短期の仕事は、イベントのたびに必要な人数を集め直す必要があります。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新規の応募だけに頼ると、募集・採用の負担がイベントごとにくり返されます。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330952"/>
            <a:ext cx="8906255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媒体データ（検索の前後行動）。起点キーワード「単発バイト」・期間2025年3月17日〜2026年3月22日。分類は弊社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33095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比べて選ばれる仕事だからこそ、一度つながった方との接点が次の人員確保を左右する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イベントのたびに、必要な人数を集め直す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開催日・会場・規模によって、必要な人数と業務が変わります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7432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新規の応募だけに頼ると、負担がくり返される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募集・面接・登録の手間が、イベントごとにかかります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41148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勤務が終わると、接点が薄れる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次の募集を届ける手段が残らず、また新規で集めることになります</a:t>
            </a:r>
            <a:endParaRPr lang="ja-JP" altLang="en-US" sz="1150" dirty="0"/>
          </a:p>
        </p:txBody>
      </p:sp>
      <p:sp>
        <p:nvSpPr>
          <p:cNvPr id="25" name="Rounded Rectangle 24"/>
          <p:cNvSpPr/>
          <p:nvPr/>
        </p:nvSpPr>
        <p:spPr>
          <a:xfrm>
            <a:off x="4773168" y="1391689"/>
            <a:ext cx="4562855" cy="3683232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4910328" y="1444752"/>
            <a:ext cx="442569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「単発バイト」を検索した方は、前後に何を調べているか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4910328" y="2057400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-7〜-1日</a:t>
            </a:r>
            <a:endParaRPr lang="ja-JP" altLang="en-US" sz="1000" dirty="0"/>
          </a:p>
        </p:txBody>
      </p:sp>
      <p:sp>
        <p:nvSpPr>
          <p:cNvPr id="28" name="Rectangle 27"/>
          <p:cNvSpPr/>
          <p:nvPr/>
        </p:nvSpPr>
        <p:spPr>
          <a:xfrm>
            <a:off x="5961888" y="2011680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スキマ時間で、すぐ稼ぎたい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在宅 スキマ時間／在宅ワーク 求人／バイト 求人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4910328" y="304495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0〜+2日</a:t>
            </a:r>
            <a:endParaRPr lang="ja-JP" altLang="en-US" sz="1000" dirty="0"/>
          </a:p>
        </p:txBody>
      </p:sp>
      <p:sp>
        <p:nvSpPr>
          <p:cNvPr id="30" name="Rectangle 29"/>
          <p:cNvSpPr/>
          <p:nvPr/>
        </p:nvSpPr>
        <p:spPr>
          <a:xfrm>
            <a:off x="5961888" y="2999232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同じ日に、複数のサービスを並べて比べる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タイミー／バイトル／短期バイト／単発バイト アプリ</a:t>
            </a:r>
            <a:endParaRPr lang="ja-JP" altLang="en-US" sz="1100" dirty="0"/>
          </a:p>
        </p:txBody>
      </p:sp>
      <p:sp>
        <p:nvSpPr>
          <p:cNvPr id="31" name="Rounded Rectangle 30"/>
          <p:cNvSpPr/>
          <p:nvPr/>
        </p:nvSpPr>
        <p:spPr>
          <a:xfrm>
            <a:off x="4910328" y="4032504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+1〜+15日</a:t>
            </a:r>
            <a:endParaRPr lang="ja-JP" altLang="en-US" sz="1000" dirty="0"/>
          </a:p>
        </p:txBody>
      </p:sp>
      <p:sp>
        <p:nvSpPr>
          <p:cNvPr id="32" name="Rectangle 31"/>
          <p:cNvSpPr/>
          <p:nvPr/>
        </p:nvSpPr>
        <p:spPr>
          <a:xfrm>
            <a:off x="5961888" y="3986784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続けられるか・扶養や税金は大丈夫か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確定申告 20万円以下／ダブルワーク 扶養内 いくらまで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業界課題②｜応募後の連絡・勤務前の案内・次の募集に手間がかかる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96249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応募から勤務までの連絡、勤務前の案内、次の募集。どれも人数が増えるほど手間が増えます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連絡をLINEに集めることで、届きやすく、次の募集にもつなげやすくなります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292" y="500263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出典｜LINEの月間利用者数・メッセージ開封率：LINEヤフー公式値。※応募から勤務までの実施率・再応募率は公開データがなく、貴社での計測が必要です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292" y="500263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連絡の手間を減らしながら、次の募集が届く状態をつくる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応募のあと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メールや電話がつながらず、面接・登録の案内が届きにくい</a:t>
            </a:r>
            <a:endParaRPr lang="ja-JP" altLang="en-US" sz="1150" dirty="0"/>
          </a:p>
        </p:txBody>
      </p:sp>
      <p:sp>
        <p:nvSpPr>
          <p:cNvPr id="24" name="Rectangle 23"/>
          <p:cNvSpPr/>
          <p:nvPr/>
        </p:nvSpPr>
        <p:spPr>
          <a:xfrm>
            <a:off x="1641348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154680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応募の直後に友だちになっていただき、面接・登録の案内をLINEで届ける</a:t>
            </a:r>
            <a:endParaRPr lang="ja-JP" altLang="en-US" sz="115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集合場所・時間・持ち物・服装の案内を、人数分くり返し送る</a:t>
            </a:r>
            <a:endParaRPr lang="ja-JP" altLang="en-US" sz="1150" dirty="0"/>
          </a:p>
        </p:txBody>
      </p:sp>
      <p:sp>
        <p:nvSpPr>
          <p:cNvPr id="28" name="Rectangle 27"/>
          <p:cNvSpPr/>
          <p:nvPr/>
        </p:nvSpPr>
        <p:spPr>
          <a:xfrm>
            <a:off x="4722876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154681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同じイベントの方へ一斉に、会場・業務ごとに絞って案内する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勤務のあと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次の募集を届ける手段が残らず、新規の募集に頼りがち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7804404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154680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希望に合う次回イベントの募集を届け、再応募につなげる</a:t>
            </a:r>
            <a:endParaRPr lang="ja-JP" altLang="en-US" sz="1150" dirty="0"/>
          </a:p>
        </p:txBody>
      </p:sp>
      <p:sp>
        <p:nvSpPr>
          <p:cNvPr id="34" name="Rounded Rectangle 33"/>
          <p:cNvSpPr/>
          <p:nvPr/>
        </p:nvSpPr>
        <p:spPr>
          <a:xfrm>
            <a:off x="429768" y="4114365"/>
            <a:ext cx="4421124" cy="65836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566928" y="4114363"/>
            <a:ext cx="243161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メッセージ開封率（当日中）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受信直後 約2割／3〜6時間で約5割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2861386" y="4114364"/>
            <a:ext cx="185234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約8割</a:t>
            </a:r>
            <a:endParaRPr lang="ja-JP" altLang="en-US" sz="2400" dirty="0"/>
          </a:p>
        </p:txBody>
      </p:sp>
      <p:sp>
        <p:nvSpPr>
          <p:cNvPr id="37" name="Rounded Rectangle 36"/>
          <p:cNvSpPr/>
          <p:nvPr/>
        </p:nvSpPr>
        <p:spPr>
          <a:xfrm>
            <a:off x="5052059" y="4114365"/>
            <a:ext cx="4421124" cy="65836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5189220" y="4114364"/>
            <a:ext cx="243161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LINEの国内の月間利用者数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2025年12月末時点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7483678" y="4114364"/>
            <a:ext cx="185234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1億人突破</a:t>
            </a:r>
            <a:endParaRPr lang="ja-JP" alt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競合分析①｜イベント・単発の人材会社のLINE運用（実際の画面）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登録（ムーヴ）・選考（ワントゥワン）・勤務（ステッドワン）のやり取りに、それぞれLINEを使っています。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画面から確認できたことだけを記載しています（2026年10月 弊社確認）。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弊社確認）。個人名は消しています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ムーヴ｜登録の入口をLINEに</a:t>
            </a:r>
            <a:endParaRPr lang="ja-JP" altLang="en-US" sz="1100" dirty="0"/>
          </a:p>
        </p:txBody>
      </p:sp>
      <p:pic>
        <p:nvPicPr>
          <p:cNvPr id="22" name="競合LINE_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3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3" name="競合LINE_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4811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4" name="Rectangle 23"/>
          <p:cNvSpPr/>
          <p:nvPr/>
        </p:nvSpPr>
        <p:spPr>
          <a:xfrm>
            <a:off x="429768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・お仕事開始までの手順を4つで案内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・登録／ID連携のボタンを表示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・メニュー：仕事情報・Q&amp;A・問い合わせ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ワントゥワン｜選考の案内をLINEで</a:t>
            </a:r>
            <a:endParaRPr lang="ja-JP" altLang="en-US" sz="1100" dirty="0"/>
          </a:p>
        </p:txBody>
      </p:sp>
      <p:pic>
        <p:nvPicPr>
          <p:cNvPr id="26" name="競合LINE_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0732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7" name="競合LINE_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634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8" name="Rectangle 27"/>
          <p:cNvSpPr/>
          <p:nvPr/>
        </p:nvSpPr>
        <p:spPr>
          <a:xfrm>
            <a:off x="3511296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・追加の直後に、氏名をLINEで送ってもらう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・録画面接のURLを案内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・合否はメール、質問はLINEで受付</a:t>
            </a:r>
            <a:endParaRPr lang="ja-JP" altLang="en-US" sz="105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ステッドワン｜勤務のやり取りをLINEで</a:t>
            </a:r>
            <a:endParaRPr lang="ja-JP" altLang="en-US" sz="1100" dirty="0"/>
          </a:p>
        </p:txBody>
      </p:sp>
      <p:pic>
        <p:nvPicPr>
          <p:cNvPr id="30" name="競合LINE_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226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31" name="競合LINE_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7868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6592824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・このLINEで仕事をやり取りすると宣言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・新規案件・勤務の可否・集合詳細を送る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・スタッフからは起床連絡・勤怠報告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競合分析②｜LINEの使い方の比較と、横浜シミズで目指す形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応募の受付だけでなく、勤務の連絡や次の募集まで、スタッフとの継続的な接点にLINEを活用できます。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3社の画面で、勤務の連絡と次の案件までLINEで扱っていたのは、ステッドワンでした。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弊社確認）／タウンワーク：LINEヤフー for Business 導入事例「バイト応募件数約80％増！リッチメニューを生かしたタウンワークのLINE活用事例」（2019年1月公開）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応募の受付から、勤務の連絡・次の募集までをLINEでつなぐ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9043416" cy="340156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評価項目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ムーヴ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ワントゥワン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ステッドワン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横浜シミズで目指す形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友だち追加後の案内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お仕事開始までの手順を4つで案内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氏名（漢字・ふりがな）の送信を依頼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このLINEでのやり取りを説明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勤務に必要な情報が届くことを最初に伝える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応募・登録の導線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LINEからスタッフ登録・ID連携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録画面接のURLを案内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採用手続きフォーム（外部）へ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応募完了からそのままLINEへ（サンクスLINE誘導）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勤務連絡への活用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画面では未確認（合否はメール）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集合詳細・起床連絡・勤怠報告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集合・持ち物・前日のリマインド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募集情報の配信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登録後に「条件に合う仕事も案内」と記載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新規案件をLINEで送る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エリア・会場・希望で絞って届ける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再応募への導線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「お仕事一覧から申込み」と記載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案件へのエントリーをLINEで送る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次回イベントの募集から再応募へ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リッチメニュー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仕事情報・Q&amp;A・問い合わせ＋登録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「案件一覧」あり（ほかは未確認）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仕事を探す・勤務の案内・よくある質問など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429768" y="4864608"/>
            <a:ext cx="9043416" cy="60350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36576" rIns="109728" bIns="36576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考｜タウンワーク（求人メディア）は、LINEを求人検索の入口に活用して、リッチメニュー経由の応募数が79%増えました（2019年公開の導入事例）。直接の競合ではなく、LINEを応募の入口にした参考事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提案の全体像｜応募から再応募までを、LINEで循環させる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応募の時点で友だちになっていただき、勤務の連絡と次の募集をLINEでお届けします。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イベントが終わっても接点が切れず、次のイベントの人員確保につながる仕組みです。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単発の勤務を、イベントごとに途切れない関係に変える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508760"/>
            <a:ext cx="1874519" cy="9601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新規応募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採用サイトから応募</a:t>
            </a:r>
            <a:endParaRPr lang="ja-JP" altLang="en-US" sz="1100" dirty="0"/>
          </a:p>
        </p:txBody>
      </p:sp>
      <p:cxnSp>
        <p:nvCxnSpPr>
          <p:cNvPr id="23" name="Connector 22"/>
          <p:cNvCxnSpPr/>
          <p:nvPr/>
        </p:nvCxnSpPr>
        <p:spPr>
          <a:xfrm>
            <a:off x="1367028" y="2487168"/>
            <a:ext cx="0" cy="557784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429768" y="3063240"/>
            <a:ext cx="1874519" cy="1143000"/>
          </a:xfrm>
          <a:prstGeom prst="roundRect">
            <a:avLst>
              <a:gd name="adj" fmla="val 5000"/>
            </a:avLst>
          </a:prstGeom>
          <a:solidFill>
            <a:srgbClr val="E9F8EF"/>
          </a:solidFill>
          <a:ln w="15875">
            <a:solidFill>
              <a:srgbClr val="06C755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06C755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施策① 友だち獲得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LINE友だち追加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応募完了からLINEへ</a:t>
            </a:r>
            <a:endParaRPr lang="ja-JP" altLang="en-US" sz="1100" dirty="0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322576" y="2148840"/>
            <a:ext cx="630936" cy="1481328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297180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施策② 勤務連絡・管理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勤務連絡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集合・持ち物・前日のリマインド</a:t>
            </a:r>
            <a:endParaRPr lang="ja-JP" altLang="en-US" sz="1100" dirty="0"/>
          </a:p>
        </p:txBody>
      </p:sp>
      <p:sp>
        <p:nvSpPr>
          <p:cNvPr id="27" name="Rounded Rectangle 26"/>
          <p:cNvSpPr/>
          <p:nvPr/>
        </p:nvSpPr>
        <p:spPr>
          <a:xfrm>
            <a:off x="704088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イベント勤務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現場で勤務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704088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次回募集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エリア・会場・希望で絞って案内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297180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再応募・継続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次のイベントにも勤務</a:t>
            </a:r>
            <a:endParaRPr lang="ja-JP" altLang="en-US" sz="1100" dirty="0"/>
          </a:p>
        </p:txBody>
      </p:sp>
      <p:cxnSp>
        <p:nvCxnSpPr>
          <p:cNvPr id="30" name="Connector 29"/>
          <p:cNvCxnSpPr/>
          <p:nvPr/>
        </p:nvCxnSpPr>
        <p:spPr>
          <a:xfrm>
            <a:off x="5449824" y="1988819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1" name="Connector 30"/>
          <p:cNvCxnSpPr/>
          <p:nvPr/>
        </p:nvCxnSpPr>
        <p:spPr>
          <a:xfrm>
            <a:off x="825703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449824" y="4183380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 flipV="1">
            <a:off x="418795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4370832" y="2788920"/>
            <a:ext cx="37033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イベントのたびに</a:t>
            </a:r>
            <a:endParaRPr lang="ja-JP" altLang="en-US" sz="1200" dirty="0"/>
          </a:p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くり返す</a:t>
            </a: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2971800" y="4846320"/>
            <a:ext cx="6501383" cy="5669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応募の時点で友だちになるので、イベントが終わっても次の募集が届きます。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施策①｜友だち獲得：応募完了から、そのままLINEへ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3833883" cy="230832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完了後約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2~3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秒で</a:t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3DEB8AF5-27EB-F2A5-5738-9D4876D62932}"/>
              </a:ext>
            </a:extLst>
          </p:cNvPr>
          <p:cNvSpPr/>
          <p:nvPr/>
        </p:nvSpPr>
        <p:spPr>
          <a:xfrm>
            <a:off x="1331634" y="5386674"/>
            <a:ext cx="3965148" cy="1126724"/>
          </a:xfrm>
          <a:prstGeom prst="roundRect">
            <a:avLst>
              <a:gd name="adj" fmla="val 8129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F4AEE4F6-B4F2-3B63-B340-970573C6BC9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362" y="5422614"/>
            <a:ext cx="1068810" cy="1060107"/>
          </a:xfrm>
          <a:prstGeom prst="rect">
            <a:avLst/>
          </a:prstGeom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E529396-156F-55A0-24A1-E3F30C8D079F}"/>
              </a:ext>
            </a:extLst>
          </p:cNvPr>
          <p:cNvSpPr txBox="1"/>
          <p:nvPr/>
        </p:nvSpPr>
        <p:spPr>
          <a:xfrm>
            <a:off x="2607260" y="6011736"/>
            <a:ext cx="174022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QRコードを読み取って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動画を見る（約22秒）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A39FB9E-0354-C79E-71A4-67DB6A28B75A}"/>
              </a:ext>
            </a:extLst>
          </p:cNvPr>
          <p:cNvSpPr txBox="1"/>
          <p:nvPr/>
        </p:nvSpPr>
        <p:spPr>
          <a:xfrm>
            <a:off x="4032248" y="5546685"/>
            <a:ext cx="869321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再生</a:t>
            </a:r>
            <a:r>
              <a:rPr lang="ja-JP" altLang="en-US" sz="1200" dirty="0">
                <a:solidFill>
                  <a:srgbClr val="0000FF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[▷]</a:t>
            </a:r>
            <a:endParaRPr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2099EF7-D4DC-D52C-E0A5-F84C559A9E47}"/>
              </a:ext>
            </a:extLst>
          </p:cNvPr>
          <p:cNvSpPr txBox="1"/>
          <p:nvPr/>
        </p:nvSpPr>
        <p:spPr>
          <a:xfrm>
            <a:off x="2648894" y="5570417"/>
            <a:ext cx="17402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クリックして再生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施策①｜サンクスLINE誘導の導入実績（人材業界）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817378"/>
            <a:ext cx="9111472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人材業界での導入実績（DYM）と、横浜シミズでの活用イメージ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548000"/>
            <a:ext cx="8629200" cy="13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400" y="3078000"/>
            <a:ext cx="378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人材業界｜サンクスLINE誘導ツール導入実績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6399" y="3114000"/>
            <a:ext cx="1152000" cy="198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DYMの導入実績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4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導入前後3か月比較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1,532人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58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28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28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8400" y="4320000"/>
            <a:ext cx="259199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6400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導入前比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137.3%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400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+571人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32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32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前年同期間比較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0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2025年7〜9月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0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1,650人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946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16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2026年7〜9月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6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76400" y="4320000"/>
            <a:ext cx="2592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704399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127.5%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4399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+453人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6399" y="3420000"/>
            <a:ext cx="26172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月別比較（友だち増加数・人）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92400" y="3625199"/>
            <a:ext cx="108000" cy="108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18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20400" y="3625199"/>
            <a:ext cx="108000" cy="10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646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88799" y="4259114"/>
            <a:ext cx="288000" cy="690885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80799" y="4079114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575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19999" y="4211052"/>
            <a:ext cx="288000" cy="738947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11999" y="4031052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0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0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107%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6800" y="4330005"/>
            <a:ext cx="288000" cy="619994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08799" y="4150005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47999" y="4014000"/>
            <a:ext cx="288000" cy="93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39999" y="3834000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8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48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151%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44800" y="4278338"/>
            <a:ext cx="288000" cy="671661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36800" y="4098338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559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76000" y="4098107"/>
            <a:ext cx="288000" cy="85189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567999" y="3918107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6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6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127%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28399" y="4950000"/>
            <a:ext cx="2509201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44400" y="5598000"/>
            <a:ext cx="86292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サンクスLINE誘導ツールの導入後、友だち増加数が導入前比137.3%、前年比127.5%に改善。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E821B20-3372-85EB-4334-5055D2443F85}"/>
              </a:ext>
            </a:extLst>
          </p:cNvPr>
          <p:cNvSpPr txBox="1"/>
          <p:nvPr/>
        </p:nvSpPr>
        <p:spPr>
          <a:xfrm>
            <a:off x="429768" y="6053328"/>
            <a:ext cx="8778240" cy="4572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※出典：人材業界｜株式会社DYM 社内集計（サンクスLINE誘導ツール導入前後3か月、2025年・2026年7〜9月の友だち増加数）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※他社での実績であり、横浜シミズ様での効果を示すものではありません。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8096" y="162763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横浜シミズでの活用イメージ</a:t>
            </a:r>
            <a:endParaRPr lang="ja-JP" altLang="en-US" sz="1200" dirty="0"/>
          </a:p>
        </p:txBody>
      </p:sp>
      <p:sp>
        <p:nvSpPr>
          <p:cNvPr id="64" name="Rectangle 63"/>
          <p:cNvSpPr/>
          <p:nvPr/>
        </p:nvSpPr>
        <p:spPr>
          <a:xfrm>
            <a:off x="86868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</a:t>
            </a:r>
            <a:endParaRPr lang="ja-JP" altLang="en-US" sz="1050" dirty="0"/>
          </a:p>
        </p:txBody>
      </p:sp>
      <p:sp>
        <p:nvSpPr>
          <p:cNvPr id="65" name="Rectangle 64"/>
          <p:cNvSpPr/>
          <p:nvPr/>
        </p:nvSpPr>
        <p:spPr>
          <a:xfrm>
            <a:off x="2560320" y="1965960"/>
            <a:ext cx="1389888" cy="5120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  <a:endParaRPr lang="ja-JP" altLang="en-US" sz="1050" dirty="0"/>
          </a:p>
        </p:txBody>
      </p:sp>
      <p:cxnSp>
        <p:nvCxnSpPr>
          <p:cNvPr id="66" name="Connector 65"/>
          <p:cNvCxnSpPr/>
          <p:nvPr/>
        </p:nvCxnSpPr>
        <p:spPr>
          <a:xfrm>
            <a:off x="229514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7" name="Rectangle 66"/>
          <p:cNvSpPr/>
          <p:nvPr/>
        </p:nvSpPr>
        <p:spPr>
          <a:xfrm>
            <a:off x="425196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面接・登録の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68" name="Connector 67"/>
          <p:cNvCxnSpPr/>
          <p:nvPr/>
        </p:nvCxnSpPr>
        <p:spPr>
          <a:xfrm>
            <a:off x="398678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9" name="Rectangle 68"/>
          <p:cNvSpPr/>
          <p:nvPr/>
        </p:nvSpPr>
        <p:spPr>
          <a:xfrm>
            <a:off x="594360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70" name="Connector 69"/>
          <p:cNvCxnSpPr/>
          <p:nvPr/>
        </p:nvCxnSpPr>
        <p:spPr>
          <a:xfrm>
            <a:off x="567842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1" name="Rectangle 70"/>
          <p:cNvSpPr/>
          <p:nvPr/>
        </p:nvSpPr>
        <p:spPr>
          <a:xfrm>
            <a:off x="763524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</a:t>
            </a:r>
            <a:endParaRPr lang="ja-JP" altLang="en-US" sz="1050" dirty="0"/>
          </a:p>
        </p:txBody>
      </p:sp>
      <p:cxnSp>
        <p:nvCxnSpPr>
          <p:cNvPr id="72" name="Connector 71"/>
          <p:cNvCxnSpPr/>
          <p:nvPr/>
        </p:nvCxnSpPr>
        <p:spPr>
          <a:xfrm>
            <a:off x="7370063" y="2221992"/>
            <a:ext cx="228601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3" name="Rectangle 72"/>
          <p:cNvSpPr/>
          <p:nvPr/>
        </p:nvSpPr>
        <p:spPr>
          <a:xfrm>
            <a:off x="868680" y="2542032"/>
            <a:ext cx="8229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応募の直後から、面接・勤務の案内と次の募集を同じLINEでお届けします。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施策②｜勤務連絡・管理：勤務に必要な情報をLINEで届ける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集合場所・時間・持ち物・服装・注意事項を、勤務の前にLINEでお届けします。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「LINEを追加すると、勤務に必要な情報が届く」ことが、友だちでいる理由になります。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届く理由があるから友だちが残り、残るから次の募集が届く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勤務の前にお届けする情報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勤務が決まったら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会場・集合場所と時間・持ち物・服装</a:t>
            </a:r>
            <a:endParaRPr lang="ja-JP" altLang="en-US" sz="110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リマインド（集合時間・持ち物・天候による変更など）</a:t>
            </a:r>
            <a:endParaRPr lang="ja-JP" altLang="en-US" sz="11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勤務の当日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注意事項・当日の連絡先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届け方（運用に合わせて選びます）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一斉案内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同じイベントに勤務する方へ、まとめて案内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3511296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タグで対象者別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会場・業務ごとに、対象の方だけに案内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個別連絡（チャット）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勤務の変更・欠席・質問など、1対1のやり取り</a:t>
            </a:r>
            <a:endParaRPr lang="ja-JP" altLang="en-US" sz="11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期待できること</a:t>
            </a:r>
            <a:endParaRPr lang="ja-JP" altLang="en-US" sz="115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スタッフの皆さま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必要な情報をLINEで見返せる。通知で気づける。質問しやすい</a:t>
            </a:r>
            <a:endParaRPr lang="ja-JP" altLang="en-US" sz="1100" dirty="0"/>
          </a:p>
        </p:txBody>
      </p:sp>
      <p:sp>
        <p:nvSpPr>
          <p:cNvPr id="32" name="Rounded Rectangle 31"/>
          <p:cNvSpPr/>
          <p:nvPr/>
        </p:nvSpPr>
        <p:spPr>
          <a:xfrm>
            <a:off x="6592824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一斉に送れる。案内の型をつくり、毎回の作成の手間を減らす</a:t>
            </a:r>
            <a:endParaRPr lang="ja-JP" altLang="en-US" sz="11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電話・メールでの個別の確認を減らせる（期待効果）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429768" y="4919472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※勤務の予定とLINEの自動連携は前提にしていません。一斉案内・タグ・個別連絡の組み合わせで始め、自動連携が必要な場合は別途確認します。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施策③｜再応募・再稼働：希望に合う募集だけを届ける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エリア・会場・業務・曜日などをタグで管理し、対象を絞ってイベントの募集をお届けします。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合わない募集が届かないので、ブロックを抑えることが期待できます。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取れる情報から始めて、配信のたびに絞り込みの精度を上げる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4937760" cy="2889504"/>
        </p:xfrm>
        <a:graphic>
          <a:graphicData uri="http://schemas.openxmlformats.org/drawingml/2006/table">
            <a:tbl>
              <a:tblPr/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タグ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例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取り方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神奈川（横浜・川崎・湘南など）／静岡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追加後の質問（選択式）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日産スタジアム・横浜アリーナ・横浜スタジアムなど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追加後の質問・勤務の案内時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業務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案内・誘導／販売／警備／設営・撤去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曜日・時間帯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土日祝／平日／夜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追加後の質問・メニューで変更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勤務の有無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勤務あり／まだ勤務なし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勤務の案内を送った方に付ける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429768" y="4315968"/>
            <a:ext cx="49377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※再応募＝登録済みの方からの、次回イベントへの勤務希望（シフトの申告）も含みます。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※取れる情報から、段階的にタグを付けます。最初から高度なシステム連携は前提にしません。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※勤務の履歴・希望条件をいまどこで管理しているかは確認事項です。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5596128" y="1371600"/>
            <a:ext cx="3877056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配信の出し分けの例</a:t>
            </a:r>
            <a:endParaRPr lang="ja-JP" altLang="en-US" sz="1150" dirty="0"/>
          </a:p>
        </p:txBody>
      </p:sp>
      <p:sp>
        <p:nvSpPr>
          <p:cNvPr id="25" name="Rectangle 24"/>
          <p:cNvSpPr/>
          <p:nvPr/>
        </p:nvSpPr>
        <p:spPr>
          <a:xfrm>
            <a:off x="5596128" y="1828800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横浜エリアを希望</a:t>
            </a:r>
            <a:endParaRPr lang="ja-JP" altLang="en-US" sz="1100" dirty="0"/>
          </a:p>
        </p:txBody>
      </p:sp>
      <p:cxnSp>
        <p:nvCxnSpPr>
          <p:cNvPr id="26" name="Connector 25"/>
          <p:cNvCxnSpPr/>
          <p:nvPr/>
        </p:nvCxnSpPr>
        <p:spPr>
          <a:xfrm>
            <a:off x="7242048" y="2130552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7580375" y="1828800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横浜周辺のイベントの募集</a:t>
            </a:r>
            <a:endParaRPr lang="ja-JP" altLang="en-US" sz="1100" dirty="0"/>
          </a:p>
        </p:txBody>
      </p:sp>
      <p:sp>
        <p:nvSpPr>
          <p:cNvPr id="28" name="Rectangle 27"/>
          <p:cNvSpPr/>
          <p:nvPr/>
        </p:nvSpPr>
        <p:spPr>
          <a:xfrm>
            <a:off x="5596128" y="2615184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特定の会場に関心</a:t>
            </a:r>
            <a:endParaRPr lang="ja-JP" altLang="en-US" sz="1100" dirty="0"/>
          </a:p>
        </p:txBody>
      </p:sp>
      <p:cxnSp>
        <p:nvCxnSpPr>
          <p:cNvPr id="29" name="Connector 28"/>
          <p:cNvCxnSpPr/>
          <p:nvPr/>
        </p:nvCxnSpPr>
        <p:spPr>
          <a:xfrm>
            <a:off x="7242048" y="2916936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7580375" y="2615184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その会場のイベントの募集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5596128" y="3401568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土日に勤務したい</a:t>
            </a:r>
            <a:endParaRPr lang="ja-JP" altLang="en-US" sz="1100" dirty="0"/>
          </a:p>
        </p:txBody>
      </p:sp>
      <p:cxnSp>
        <p:nvCxnSpPr>
          <p:cNvPr id="32" name="Connector 31"/>
          <p:cNvCxnSpPr/>
          <p:nvPr/>
        </p:nvCxnSpPr>
        <p:spPr>
          <a:xfrm>
            <a:off x="7242048" y="3703320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7580375" y="3401568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休日のイベントの募集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5596128" y="4187952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一度勤務した方</a:t>
            </a:r>
            <a:endParaRPr lang="ja-JP" altLang="en-US" sz="1100" dirty="0"/>
          </a:p>
        </p:txBody>
      </p:sp>
      <p:cxnSp>
        <p:nvCxnSpPr>
          <p:cNvPr id="35" name="Connector 34"/>
          <p:cNvCxnSpPr/>
          <p:nvPr/>
        </p:nvCxnSpPr>
        <p:spPr>
          <a:xfrm>
            <a:off x="7242048" y="4489704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7580375" y="4187952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次回の募集を先にご案内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5596128" y="4983480"/>
            <a:ext cx="3877056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※配信設計の例です。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配信イメージ｜勤務前の案内・次回の募集・リッチメニュー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横浜シミズ向けの配信の文面と、リッチメニューの構成案です。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文面・項目は例です。運用を始める前にすり合わせて確定します。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勤務に必要な情報と次の募集が、同じLINEに届く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勤務前の案内（前日）</a:t>
            </a:r>
            <a:endParaRPr lang="ja-JP" altLang="en-US" sz="1150" dirty="0"/>
          </a:p>
        </p:txBody>
      </p:sp>
      <p:sp>
        <p:nvSpPr>
          <p:cNvPr id="23" name="Rectangle 22"/>
          <p:cNvSpPr/>
          <p:nvPr/>
        </p:nvSpPr>
        <p:spPr>
          <a:xfrm>
            <a:off x="429768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594359" y="1920240"/>
            <a:ext cx="255117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【明日の勤務のご案内】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〇月〇日（〇）〇〇スタジアム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集合：〇〇:〇〇　〇〇ゲート前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持ち物：〇〇・〇〇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服装：〇〇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遅れる場合・体調がすぐれないときは、このLINEでご連絡ください。</a:t>
            </a:r>
            <a:endParaRPr lang="ja-JP" altLang="en-US" sz="1050" dirty="0"/>
          </a:p>
        </p:txBody>
      </p:sp>
      <p:sp>
        <p:nvSpPr>
          <p:cNvPr id="25" name="Rectangle 24"/>
          <p:cNvSpPr/>
          <p:nvPr/>
        </p:nvSpPr>
        <p:spPr>
          <a:xfrm>
            <a:off x="429768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対象：そのイベントに勤務する方（タグ）</a:t>
            </a:r>
            <a:endParaRPr lang="ja-JP" altLang="en-US" sz="10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次回イベントの募集</a:t>
            </a:r>
            <a:endParaRPr lang="ja-JP" altLang="en-US" sz="1150" dirty="0"/>
          </a:p>
        </p:txBody>
      </p:sp>
      <p:sp>
        <p:nvSpPr>
          <p:cNvPr id="27" name="Rectangle 26"/>
          <p:cNvSpPr/>
          <p:nvPr/>
        </p:nvSpPr>
        <p:spPr>
          <a:xfrm>
            <a:off x="3511296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675888" y="1920240"/>
            <a:ext cx="2551176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【勤務者募集｜横浜アリーナ】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〇月〇日（〇）〇〇時〜〇〇時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案内・誘導スタッフ　時給〇〇円〜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前回のご勤務、ありがとうございました。次のイベントもお待ちしています。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3831336" y="4343400"/>
            <a:ext cx="2240280" cy="41148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勤務希望を出す</a:t>
            </a:r>
            <a:endParaRPr lang="ja-JP" altLang="en-US" sz="1100" dirty="0"/>
          </a:p>
        </p:txBody>
      </p:sp>
      <p:sp>
        <p:nvSpPr>
          <p:cNvPr id="30" name="Rectangle 29"/>
          <p:cNvSpPr/>
          <p:nvPr/>
        </p:nvSpPr>
        <p:spPr>
          <a:xfrm>
            <a:off x="3511296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対象：横浜エリア・土日希望・勤務ありの方</a:t>
            </a:r>
            <a:endParaRPr lang="ja-JP" altLang="en-US" sz="10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リッチメニュー（構成案）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6592824" y="1783080"/>
            <a:ext cx="2880360" cy="3246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6647688" y="2240280"/>
            <a:ext cx="893064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仕事を探す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募集中の</a:t>
            </a:r>
            <a:b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7586472" y="224028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勤務の案内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</a:t>
            </a: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8525256" y="224028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希望条件を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変える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エリア・曜日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6647688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質問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給与・服装など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7586472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お問い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合わせ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チャットで相談</a:t>
            </a: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8525256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とは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会社・現場</a:t>
            </a:r>
            <a:b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の紹介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6592824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一番押してほしい「仕事を探す」を左上に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8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9" name="Google Shape;156;p7"/>
          <p:cNvSpPr/>
          <p:nvPr/>
        </p:nvSpPr>
        <p:spPr>
          <a:xfrm>
            <a:off x="549000" y="137983"/>
            <a:ext cx="7680960" cy="338554"/>
          </a:xfrm>
          <a:prstGeom prst="rect">
            <a:avLst/>
          </a:prstGeom>
          <a:noFill/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>
              <a:tabLst>
                <a:tab pos="0" algn="l"/>
              </a:tabLst>
            </a:pPr>
            <a:r>
              <a:rPr lang="ja-JP" sz="1600" b="1" u="none" strike="noStrike" dirty="0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</a:rPr>
              <a:t>概算お見積り：月215,000円で、6か月目に新規応募 月6件・再応募 月3件</a:t>
            </a:r>
          </a:p>
        </p:txBody>
      </p:sp>
      <p:cxnSp>
        <p:nvCxnSpPr>
          <p:cNvPr id="340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341" name="正方形/長方形 4"/>
          <p:cNvSpPr/>
          <p:nvPr/>
        </p:nvSpPr>
        <p:spPr>
          <a:xfrm>
            <a:off x="2613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初期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2" name="正方形/長方形 6"/>
          <p:cNvSpPr/>
          <p:nvPr/>
        </p:nvSpPr>
        <p:spPr>
          <a:xfrm>
            <a:off x="33375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3" name="正方形/長方形 7"/>
          <p:cNvSpPr/>
          <p:nvPr/>
        </p:nvSpPr>
        <p:spPr>
          <a:xfrm>
            <a:off x="2613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¥295,000〜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4" name="正方形/長方形 9"/>
          <p:cNvSpPr/>
          <p:nvPr/>
        </p:nvSpPr>
        <p:spPr>
          <a:xfrm>
            <a:off x="33375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¥215,000〜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5" name="矢印: 右 14"/>
          <p:cNvSpPr/>
          <p:nvPr/>
        </p:nvSpPr>
        <p:spPr>
          <a:xfrm>
            <a:off x="6379200" y="1956960"/>
            <a:ext cx="365400" cy="27975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</a:endParaRPr>
          </a:p>
        </p:txBody>
      </p:sp>
      <p:sp>
        <p:nvSpPr>
          <p:cNvPr id="346" name="正方形/長方形 16"/>
          <p:cNvSpPr/>
          <p:nvPr/>
        </p:nvSpPr>
        <p:spPr>
          <a:xfrm>
            <a:off x="6744960" y="1517760"/>
            <a:ext cx="2899440" cy="383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6</a:t>
            </a: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か月後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7" name="テキスト ボックス 18"/>
          <p:cNvSpPr/>
          <p:nvPr/>
        </p:nvSpPr>
        <p:spPr>
          <a:xfrm>
            <a:off x="2613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8" name="テキスト ボックス 20"/>
          <p:cNvSpPr/>
          <p:nvPr/>
        </p:nvSpPr>
        <p:spPr>
          <a:xfrm>
            <a:off x="33375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9" name="正方形/長方形 24"/>
          <p:cNvSpPr/>
          <p:nvPr/>
        </p:nvSpPr>
        <p:spPr>
          <a:xfrm>
            <a:off x="33832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企画配信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0" name="正方形/長方形 28"/>
          <p:cNvSpPr/>
          <p:nvPr/>
        </p:nvSpPr>
        <p:spPr>
          <a:xfrm>
            <a:off x="48463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月4回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1" name="正方形/長方形 32"/>
          <p:cNvSpPr/>
          <p:nvPr/>
        </p:nvSpPr>
        <p:spPr>
          <a:xfrm>
            <a:off x="3383280" y="3579840"/>
            <a:ext cx="1425960" cy="4842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90000"/>
              </a:lnSpc>
            </a:pPr>
            <a:r>
              <a:rPr lang="ja-JP" sz="12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2" name="正方形/長方形 36"/>
          <p:cNvSpPr/>
          <p:nvPr/>
        </p:nvSpPr>
        <p:spPr>
          <a:xfrm>
            <a:off x="4846320" y="3579840"/>
            <a:ext cx="1343880" cy="484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2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4通の改善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3" name="正方形/長方形 40"/>
          <p:cNvSpPr/>
          <p:nvPr/>
        </p:nvSpPr>
        <p:spPr>
          <a:xfrm>
            <a:off x="33832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セグメント配信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4" name="正方形/長方形 45"/>
          <p:cNvSpPr/>
          <p:nvPr/>
        </p:nvSpPr>
        <p:spPr>
          <a:xfrm>
            <a:off x="48463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設定・改善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5" name="正方形/長方形 49"/>
          <p:cNvSpPr/>
          <p:nvPr/>
        </p:nvSpPr>
        <p:spPr>
          <a:xfrm>
            <a:off x="33832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6" name="正方形/長方形 53"/>
          <p:cNvSpPr/>
          <p:nvPr/>
        </p:nvSpPr>
        <p:spPr>
          <a:xfrm>
            <a:off x="48463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型の改善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7" name="正方形/長方形 57"/>
          <p:cNvSpPr/>
          <p:nvPr/>
        </p:nvSpPr>
        <p:spPr>
          <a:xfrm>
            <a:off x="33832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月次レポート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8" name="正方形/長方形 61"/>
          <p:cNvSpPr/>
          <p:nvPr/>
        </p:nvSpPr>
        <p:spPr>
          <a:xfrm>
            <a:off x="48463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1回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9" name="正方形/長方形 65"/>
          <p:cNvSpPr/>
          <p:nvPr/>
        </p:nvSpPr>
        <p:spPr>
          <a:xfrm>
            <a:off x="3383280" y="55368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友だちの入口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0" name="正方形/長方形 69"/>
          <p:cNvSpPr/>
          <p:nvPr/>
        </p:nvSpPr>
        <p:spPr>
          <a:xfrm>
            <a:off x="4846320" y="55368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1" name="正方形/長方形 79"/>
          <p:cNvSpPr/>
          <p:nvPr/>
        </p:nvSpPr>
        <p:spPr>
          <a:xfrm>
            <a:off x="6812280" y="19569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2" name="正方形/長方形 81"/>
          <p:cNvSpPr/>
          <p:nvPr/>
        </p:nvSpPr>
        <p:spPr>
          <a:xfrm>
            <a:off x="6812280" y="24321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新規応募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4" name="正方形/長方形 85"/>
          <p:cNvSpPr/>
          <p:nvPr/>
        </p:nvSpPr>
        <p:spPr>
          <a:xfrm>
            <a:off x="6812280" y="2907792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再応募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5" name="正方形/長方形 11"/>
          <p:cNvSpPr/>
          <p:nvPr/>
        </p:nvSpPr>
        <p:spPr>
          <a:xfrm>
            <a:off x="3070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離脱防止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6" name="正方形/長方形 13"/>
          <p:cNvSpPr/>
          <p:nvPr/>
        </p:nvSpPr>
        <p:spPr>
          <a:xfrm>
            <a:off x="17701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7" name="正方形/長方形 17"/>
          <p:cNvSpPr/>
          <p:nvPr/>
        </p:nvSpPr>
        <p:spPr>
          <a:xfrm>
            <a:off x="307080" y="357984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サンクス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LINE誘導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8" name="正方形/長方形 21"/>
          <p:cNvSpPr/>
          <p:nvPr/>
        </p:nvSpPr>
        <p:spPr>
          <a:xfrm>
            <a:off x="1770120" y="357984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1" name="正方形/長方形 33"/>
          <p:cNvSpPr/>
          <p:nvPr/>
        </p:nvSpPr>
        <p:spPr>
          <a:xfrm>
            <a:off x="3070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2" name="正方形/長方形 37"/>
          <p:cNvSpPr/>
          <p:nvPr/>
        </p:nvSpPr>
        <p:spPr>
          <a:xfrm>
            <a:off x="17701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4通を構築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3" name="正方形/長方形 41"/>
          <p:cNvSpPr/>
          <p:nvPr/>
        </p:nvSpPr>
        <p:spPr>
          <a:xfrm>
            <a:off x="3070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4" name="正方形/長方形 46"/>
          <p:cNvSpPr/>
          <p:nvPr/>
        </p:nvSpPr>
        <p:spPr>
          <a:xfrm>
            <a:off x="17701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型をつくる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5" name="テキスト ボックス 10"/>
          <p:cNvSpPr/>
          <p:nvPr/>
        </p:nvSpPr>
        <p:spPr>
          <a:xfrm>
            <a:off x="8256960" y="19569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984人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6" name="テキスト ボックス 15"/>
          <p:cNvSpPr/>
          <p:nvPr/>
        </p:nvSpPr>
        <p:spPr>
          <a:xfrm>
            <a:off x="8256960" y="24321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6件/月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8" name="テキスト ボックス 26"/>
          <p:cNvSpPr/>
          <p:nvPr/>
        </p:nvSpPr>
        <p:spPr>
          <a:xfrm>
            <a:off x="8256960" y="2907792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3件/月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81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メイリオ"/>
                <a:ea typeface="メイリオ"/>
              </a:rPr>
              <a:t>プラン②｜友だちの入口を増やし、勤務の連絡と次回イベントの募集で、新規応募・再応募を増やす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料金プラン：3つのプランの費用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636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 dirty="0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料金プランの比較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637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運用範囲に合わせて、3つのプランをご用意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39" name="料金プラン比較表 6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399329"/>
              </p:ext>
            </p:extLst>
          </p:nvPr>
        </p:nvGraphicFramePr>
        <p:xfrm>
          <a:off x="384048" y="1490760"/>
          <a:ext cx="9144000" cy="37490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月額運用費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月額ツール・LINE関連費</a:t>
                      </a:r>
                      <a:endParaRPr lang="ja-JP" altLang="en-US" sz="14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0" name="注記"/>
          <p:cNvSpPr/>
          <p:nvPr/>
        </p:nvSpPr>
        <p:spPr>
          <a:xfrm>
            <a:off x="384048" y="5312412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※初期費用＝運用設計・構築 100,000円〜＋離脱防止 15,000円＋サンクスLINE誘導 150,000円＋LINE公式アカウント開設 30,000円</a:t>
            </a:r>
            <a:endParaRPr lang="ja-JP" altLang="en-US" sz="1200" dirty="0"/>
          </a:p>
        </p:txBody>
      </p:sp>
      <p:sp>
        <p:nvSpPr>
          <p:cNvPr id="641" name="注記"/>
          <p:cNvSpPr/>
          <p:nvPr/>
        </p:nvSpPr>
        <p:spPr>
          <a:xfrm>
            <a:off x="384048" y="5559300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※月額ツール・LINE関連費＝離脱防止 30,000円＋サンクスLINE誘導 30,000円〜＋LINE公式アカウント利用料 5,000円〜（ライトプラン想定）</a:t>
            </a:r>
            <a:endParaRPr lang="ja-JP" altLang="en-US" sz="1200" dirty="0"/>
          </a:p>
        </p:txBody>
      </p:sp>
      <p:sp>
        <p:nvSpPr>
          <p:cNvPr id="642" name="注記"/>
          <p:cNvSpPr/>
          <p:nvPr/>
        </p:nvSpPr>
        <p:spPr>
          <a:xfrm>
            <a:off x="384048" y="5806188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※契約期間は6か月〜。概算お見積りのページはプラン②の場合</a:t>
            </a:r>
            <a:endParaRPr lang="ja-JP" altLang="en-US" sz="1200" dirty="0"/>
          </a:p>
        </p:txBody>
      </p:sp>
      <p:sp>
        <p:nvSpPr>
          <p:cNvPr id="643" name="注記"/>
          <p:cNvSpPr/>
          <p:nvPr/>
        </p:nvSpPr>
        <p:spPr>
          <a:xfrm>
            <a:off x="384048" y="6053076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※施策内容・配信本数・連携範囲等により、費用は個別にお見積もりいたします。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運用内容：プランごとの対応範囲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4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運用内容の比較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5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3つのプランの運用内容</a:t>
            </a:r>
            <a:r>
              <a:rPr lang="ja-JP" altLang="en-US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の</a:t>
            </a: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比較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" name="運用内容比較表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0625100"/>
              </p:ext>
            </p:extLst>
          </p:nvPr>
        </p:nvGraphicFramePr>
        <p:xfrm>
          <a:off x="381000" y="1490760"/>
          <a:ext cx="9144000" cy="3149193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03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離脱防止・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サンクスLINE誘導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ステップ配信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（構築のみ）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企画配信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（次回イベントの募集）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なし（貴社で運用）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（設計・作成・画像制作）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勤務前の案内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結果の分析・改善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（月次レポート）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今後の展開｜横浜シミズで運用モデルをつくり、検証する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1292" y="824484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まず横浜シミズで、友だち獲得・勤務連絡・再応募の運用モデルをつくり、成果と運用の負荷を確かめます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成果をふまえ、シミズグループの他社でも使えるモデルとして整理することを目指します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292" y="4876800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1292" y="4876800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応募から勤務・次の募集までをLINEでつなぎ、継続的な人員確保の仕組みに</a:t>
            </a:r>
            <a:endParaRPr lang="ja-JP" altLang="en-US" sz="1300" dirty="0"/>
          </a:p>
        </p:txBody>
      </p:sp>
      <p:sp>
        <p:nvSpPr>
          <p:cNvPr id="22" name="Rectangle 21"/>
          <p:cNvSpPr/>
          <p:nvPr/>
        </p:nvSpPr>
        <p:spPr>
          <a:xfrm>
            <a:off x="431292" y="1676400"/>
            <a:ext cx="2983992" cy="457200"/>
          </a:xfrm>
          <a:prstGeom prst="homePlate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STEP1｜構築（運用開始の前）</a:t>
            </a:r>
            <a:endParaRPr lang="ja-JP" altLang="en-US" sz="1000" dirty="0"/>
          </a:p>
        </p:txBody>
      </p:sp>
      <p:sp>
        <p:nvSpPr>
          <p:cNvPr id="23" name="Rounded Rectangle 22"/>
          <p:cNvSpPr/>
          <p:nvPr/>
        </p:nvSpPr>
        <p:spPr>
          <a:xfrm>
            <a:off x="477012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・サンクスLINE誘導の設置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・あいさつ・リッチメニューの設計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・タグの設計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・勤務前の案内の型づくり</a:t>
            </a:r>
            <a:endParaRPr lang="ja-JP" altLang="en-US" sz="1100" dirty="0"/>
          </a:p>
        </p:txBody>
      </p:sp>
      <p:sp>
        <p:nvSpPr>
          <p:cNvPr id="24" name="Rectangle 23"/>
          <p:cNvSpPr/>
          <p:nvPr/>
        </p:nvSpPr>
        <p:spPr>
          <a:xfrm>
            <a:off x="3461004" y="1676400"/>
            <a:ext cx="2983992" cy="45720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STEP2｜運用・検証（1〜6か月目）</a:t>
            </a:r>
            <a:endParaRPr lang="ja-JP" altLang="en-US" sz="1000" dirty="0"/>
          </a:p>
        </p:txBody>
      </p:sp>
      <p:sp>
        <p:nvSpPr>
          <p:cNvPr id="25" name="Rounded Rectangle 24"/>
          <p:cNvSpPr/>
          <p:nvPr/>
        </p:nvSpPr>
        <p:spPr>
          <a:xfrm>
            <a:off x="3506723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・次回募集のセグメント配信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・再応募・再稼働の計測（LINEからの勤務希望の数）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・運用の負荷の確認と改善</a:t>
            </a: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6490716" y="1676400"/>
            <a:ext cx="2983992" cy="457200"/>
          </a:xfrm>
          <a:prstGeom prst="chevron">
            <a:avLst/>
          </a:prstGeom>
          <a:solidFill>
            <a:srgbClr val="595959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STEP3｜展開の検討（7か月目〜）</a:t>
            </a:r>
            <a:endParaRPr lang="ja-JP" altLang="en-US" sz="1000" dirty="0"/>
          </a:p>
        </p:txBody>
      </p:sp>
      <p:sp>
        <p:nvSpPr>
          <p:cNvPr id="27" name="Rounded Rectangle 26"/>
          <p:cNvSpPr/>
          <p:nvPr/>
        </p:nvSpPr>
        <p:spPr>
          <a:xfrm>
            <a:off x="6536436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・成果と手順を整理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・グループ他社で使えるかを検討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・（展開は成果を見て判断）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431292" y="3429000"/>
            <a:ext cx="5532120" cy="126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ご提案のまとめ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友だち獲得：応募完了から、そのままLINEへ（サンクスLINE誘導）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勤務連絡・管理：集合・持ち物・前日のリマインドをLINEで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再応募・再稼働：タグで絞って、希望に合う次回の募集を届ける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月額215,000円〜（ツール費込み）で始め、成果を見て調整します。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100572" y="3429000"/>
            <a:ext cx="3374136" cy="12649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追加施策（ご参考）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社員採用（中途・新卒）にも、同じLINE公式アカウントを使える可能性があります。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社員とアルバイトで案内を分ける設計を想定しています（今回のご提案には含めていません）。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前後検索「単発バイト」｜当日に何社も比べ、その後は給与・働き方を調べる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応募の前後に調べていることを、LINEで先に届ける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pic>
        <p:nvPicPr>
          <p:cNvPr id="7" name="前後検索 単発バイト（色分け）" descr="tanaka_zengo_chumon_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600200"/>
            <a:ext cx="5943600" cy="3468090"/>
          </a:xfrm>
          <a:prstGeom prst="rect">
            <a:avLst/>
          </a:prstGeom>
        </p:spPr>
      </p:pic>
      <p:sp>
        <p:nvSpPr>
          <p:cNvPr id="8" name="LINE追加の時期"/>
          <p:cNvSpPr/>
          <p:nvPr/>
        </p:nvSpPr>
        <p:spPr>
          <a:xfrm>
            <a:off x="3584676" y="1644777"/>
            <a:ext cx="692429" cy="3239261"/>
          </a:xfrm>
          <a:prstGeom prst="rect">
            <a:avLst/>
          </a:prstGeom>
          <a:solidFill>
            <a:srgbClr val="06C75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LINE追加 札"/>
          <p:cNvSpPr/>
          <p:nvPr/>
        </p:nvSpPr>
        <p:spPr>
          <a:xfrm>
            <a:off x="3473690" y="5104866"/>
            <a:ext cx="914400" cy="237744"/>
          </a:xfrm>
          <a:prstGeom prst="rect">
            <a:avLst/>
          </a:prstGeom>
          <a:solidFill>
            <a:srgbClr val="C6EFC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950" b="1" dirty="0">
                <a:solidFill>
                  <a:srgbClr val="00873C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LINE追加</a:t>
            </a:r>
            <a:endParaRPr lang="ja-JP" altLang="en-US" sz="1200" dirty="0"/>
          </a:p>
        </p:txBody>
      </p:sp>
      <p:sp>
        <p:nvSpPr>
          <p:cNvPr id="10" name="凡例の色"/>
          <p:cNvSpPr/>
          <p:nvPr/>
        </p:nvSpPr>
        <p:spPr>
          <a:xfrm>
            <a:off x="6629400" y="1655064"/>
            <a:ext cx="137160" cy="137160"/>
          </a:xfrm>
          <a:prstGeom prst="rect">
            <a:avLst/>
          </a:prstGeom>
          <a:solidFill>
            <a:srgbClr val="3467B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1" name="凡例"/>
          <p:cNvSpPr/>
          <p:nvPr/>
        </p:nvSpPr>
        <p:spPr>
          <a:xfrm>
            <a:off x="6812280" y="1600200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求人サービスを比べる</a:t>
            </a:r>
            <a:endParaRPr lang="ja-JP" altLang="en-US" sz="1200" dirty="0"/>
          </a:p>
        </p:txBody>
      </p:sp>
      <p:sp>
        <p:nvSpPr>
          <p:cNvPr id="12" name="凡例の色"/>
          <p:cNvSpPr/>
          <p:nvPr/>
        </p:nvSpPr>
        <p:spPr>
          <a:xfrm>
            <a:off x="6629400" y="1901952"/>
            <a:ext cx="137160" cy="137160"/>
          </a:xfrm>
          <a:prstGeom prst="rect">
            <a:avLst/>
          </a:prstGeom>
          <a:solidFill>
            <a:srgbClr val="8E4EC6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3" name="凡例"/>
          <p:cNvSpPr/>
          <p:nvPr/>
        </p:nvSpPr>
        <p:spPr>
          <a:xfrm>
            <a:off x="6812280" y="1847088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応募・面接の準備</a:t>
            </a:r>
            <a:endParaRPr lang="ja-JP" altLang="en-US" sz="1200" dirty="0"/>
          </a:p>
        </p:txBody>
      </p:sp>
      <p:sp>
        <p:nvSpPr>
          <p:cNvPr id="14" name="凡例の色"/>
          <p:cNvSpPr/>
          <p:nvPr/>
        </p:nvSpPr>
        <p:spPr>
          <a:xfrm>
            <a:off x="6629400" y="2148840"/>
            <a:ext cx="137160" cy="1371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5" name="凡例"/>
          <p:cNvSpPr/>
          <p:nvPr/>
        </p:nvSpPr>
        <p:spPr>
          <a:xfrm>
            <a:off x="6812280" y="2093976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給与・働き方を調べる</a:t>
            </a:r>
            <a:endParaRPr lang="ja-JP" altLang="en-US" sz="1200" dirty="0"/>
          </a:p>
        </p:txBody>
      </p:sp>
      <p:sp>
        <p:nvSpPr>
          <p:cNvPr id="18" name="分析 当日"/>
          <p:cNvSpPr/>
          <p:nvPr/>
        </p:nvSpPr>
        <p:spPr>
          <a:xfrm>
            <a:off x="6629400" y="2404872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検索前</a:t>
            </a:r>
            <a:endParaRPr lang="ja-JP" altLang="en-US" sz="1200" dirty="0"/>
          </a:p>
        </p:txBody>
      </p:sp>
      <p:sp>
        <p:nvSpPr>
          <p:cNvPr id="19" name="分析 当日 本文"/>
          <p:cNvSpPr/>
          <p:nvPr/>
        </p:nvSpPr>
        <p:spPr>
          <a:xfrm>
            <a:off x="6629400" y="2679191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求人サイトで探し始める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バイト 求人・タウンワークなど</a:t>
            </a:r>
            <a:endParaRPr lang="ja-JP" altLang="en-US" sz="1200" dirty="0"/>
          </a:p>
        </p:txBody>
      </p:sp>
      <p:sp>
        <p:nvSpPr>
          <p:cNvPr id="20" name="分析 1〜7日後"/>
          <p:cNvSpPr/>
          <p:nvPr/>
        </p:nvSpPr>
        <p:spPr>
          <a:xfrm>
            <a:off x="6629400" y="3447288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当日</a:t>
            </a:r>
            <a:endParaRPr lang="ja-JP" altLang="en-US" sz="1200" dirty="0"/>
          </a:p>
        </p:txBody>
      </p:sp>
      <p:sp>
        <p:nvSpPr>
          <p:cNvPr id="21" name="分析 1〜7日後 本文"/>
          <p:cNvSpPr/>
          <p:nvPr/>
        </p:nvSpPr>
        <p:spPr>
          <a:xfrm>
            <a:off x="6629400" y="3721608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単発のサービスを比べる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タイミー・バイトル・短期バイトなど。履歴書の書き方も</a:t>
            </a:r>
            <a:endParaRPr lang="ja-JP" altLang="en-US" sz="1200" dirty="0"/>
          </a:p>
        </p:txBody>
      </p:sp>
      <p:sp>
        <p:nvSpPr>
          <p:cNvPr id="22" name="分析 7〜15日後"/>
          <p:cNvSpPr/>
          <p:nvPr/>
        </p:nvSpPr>
        <p:spPr>
          <a:xfrm>
            <a:off x="6629400" y="4489704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1〜15日後</a:t>
            </a:r>
            <a:endParaRPr lang="ja-JP" altLang="en-US" sz="1200" dirty="0"/>
          </a:p>
        </p:txBody>
      </p:sp>
      <p:sp>
        <p:nvSpPr>
          <p:cNvPr id="23" name="分析 7〜15日後 本文"/>
          <p:cNvSpPr/>
          <p:nvPr/>
        </p:nvSpPr>
        <p:spPr>
          <a:xfrm>
            <a:off x="6629400" y="4764024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給与・働き方を調べる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日払い・確定申告・ダブルワークの扶養。面接の服装も</a:t>
            </a:r>
            <a:endParaRPr lang="ja-JP" altLang="en-US" sz="1200" dirty="0"/>
          </a:p>
        </p:txBody>
      </p:sp>
      <p:sp>
        <p:nvSpPr>
          <p:cNvPr id="24" name="示唆"/>
          <p:cNvSpPr/>
          <p:nvPr/>
        </p:nvSpPr>
        <p:spPr>
          <a:xfrm>
            <a:off x="502920" y="5779008"/>
            <a:ext cx="8897112" cy="41148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求人サービスを比べる → 応募・面接の準備 → 給与・働き方 の順に調べている</a:t>
            </a:r>
            <a:endParaRPr lang="ja-JP" altLang="en-US" sz="1200" dirty="0"/>
          </a:p>
        </p:txBody>
      </p:sp>
      <p:sp>
        <p:nvSpPr>
          <p:cNvPr id="25" name="注記"/>
          <p:cNvSpPr/>
          <p:nvPr/>
        </p:nvSpPr>
        <p:spPr>
          <a:xfrm>
            <a:off x="502920" y="6236208"/>
            <a:ext cx="889711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85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※LINEヤフー社の前後検索データより。「単発バイト」を検索した方が、前後15日間に検索した言葉（縦軸＝検索した人数）。</a:t>
            </a:r>
            <a:endParaRPr lang="ja-JP" alt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141726</TotalTime>
  <Words>3032</Words>
  <Application>Microsoft Office PowerPoint</Application>
  <PresentationFormat>A4 210 x 297 mm</PresentationFormat>
  <Paragraphs>450</Paragraphs>
  <Slides>17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17</vt:i4>
      </vt:variant>
    </vt:vector>
  </HeadingPairs>
  <TitlesOfParts>
    <vt:vector size="24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1928</cp:revision>
  <cp:lastPrinted>2022-11-01T11:38:14Z</cp:lastPrinted>
  <dcterms:created xsi:type="dcterms:W3CDTF">2015-09-04T09:21:15Z</dcterms:created>
  <dcterms:modified xsi:type="dcterms:W3CDTF">2026-10-21T00:55:01Z</dcterms:modified>
</cp:coreProperties>
</file>