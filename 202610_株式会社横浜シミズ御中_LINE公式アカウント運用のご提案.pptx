
<file path=[Content_Types].xml><?xml version="1.0" encoding="utf-8"?>
<Types xmlns="http://schemas.openxmlformats.org/package/2006/content-types">
  <Default Extension="emf" ContentType="image/x-emf"/>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74" r:id="rId1"/>
    <p:sldMasterId id="2147483687" r:id="rId2"/>
  </p:sldMasterIdLst>
  <p:notesMasterIdLst>
    <p:notesMasterId r:id="rId30"/>
  </p:notesMasterIdLst>
  <p:handoutMasterIdLst>
    <p:handoutMasterId r:id="rId31"/>
  </p:handoutMasterIdLst>
  <p:sldIdLst>
    <p:sldId id="2363" r:id="rId3"/>
    <p:sldId id="2726" r:id="rId4"/>
    <p:sldId id="3150" r:id="rId5"/>
    <p:sldId id="2721" r:id="rId6"/>
    <p:sldId id="2723" r:id="rId7"/>
    <p:sldId id="2724" r:id="rId8"/>
    <p:sldId id="3151" r:id="rId9"/>
    <p:sldId id="3152" r:id="rId10"/>
    <p:sldId id="2725" r:id="rId11"/>
    <p:sldId id="2913" r:id="rId12"/>
    <p:sldId id="3153" r:id="rId36"/>
    <p:sldId id="2364" r:id="rId13"/>
    <p:sldId id="2365" r:id="rId14"/>
    <p:sldId id="2366" r:id="rId15"/>
    <p:sldId id="3154" r:id="rId37"/>
    <p:sldId id="2367" r:id="rId16"/>
    <p:sldId id="2368" r:id="rId17"/>
    <p:sldId id="3155" r:id="rId38"/>
    <p:sldId id="2369" r:id="rId18"/>
    <p:sldId id="3158" r:id="rId41"/>
    <p:sldId id="257" r:id="rId19"/>
    <p:sldId id="2371" r:id="rId20"/>
    <p:sldId id="2372" r:id="rId21"/>
    <p:sldId id="2373" r:id="rId22"/>
    <p:sldId id="2381" r:id="rId23"/>
    <p:sldId id="2374" r:id="rId24"/>
    <p:sldId id="3156" r:id="rId39"/>
    <p:sldId id="2378" r:id="rId25"/>
    <p:sldId id="2379" r:id="rId26"/>
    <p:sldId id="2380" r:id="rId27"/>
    <p:sldId id="3157" r:id="rId40"/>
    <p:sldId id="2377" r:id="rId28"/>
    <p:sldId id="1169" r:id="rId29"/>
  </p:sldIdLst>
  <p:sldSz cx="9906000" cy="6858000" type="A4"/>
  <p:notesSz cx="6807200" cy="9939338"/>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3158" userDrawn="1">
          <p15:clr>
            <a:srgbClr val="A4A3A4"/>
          </p15:clr>
        </p15:guide>
        <p15:guide id="2" pos="308"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DFDFD"/>
    <a:srgbClr val="173559"/>
    <a:srgbClr val="04FA0A"/>
    <a:srgbClr val="2080FF"/>
    <a:srgbClr val="1D8DFF"/>
    <a:srgbClr val="515457"/>
    <a:srgbClr val="F6A454"/>
    <a:srgbClr val="EAEEF4"/>
    <a:srgbClr val="2D6CB9"/>
    <a:srgbClr val="D1D9E8"/>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中間スタイル 2 - アクセント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B301B821-A1FF-4177-AEE7-76D212191A09}" styleName="中間スタイル 1 - アクセント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 styleId="{69012ECD-51FC-41F1-AA8D-1B2483CD663E}" styleName="淡色スタイル 2 - アクセント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8157" autoAdjust="0"/>
    <p:restoredTop sz="94424" autoAdjust="0"/>
  </p:normalViewPr>
  <p:slideViewPr>
    <p:cSldViewPr snapToGrid="0">
      <p:cViewPr varScale="1">
        <p:scale>
          <a:sx n="74" d="100"/>
          <a:sy n="74" d="100"/>
        </p:scale>
        <p:origin x="784" y="44"/>
      </p:cViewPr>
      <p:guideLst>
        <p:guide orient="horz" pos="3158"/>
        <p:guide pos="308"/>
      </p:guideLst>
    </p:cSldViewPr>
  </p:slideViewPr>
  <p:notesTextViewPr>
    <p:cViewPr>
      <p:scale>
        <a:sx n="1" d="1"/>
        <a:sy n="1" d="1"/>
      </p:scale>
      <p:origin x="0" y="0"/>
    </p:cViewPr>
  </p:notesTextViewPr>
  <p:sorterViewPr>
    <p:cViewPr>
      <p:scale>
        <a:sx n="100" d="100"/>
        <a:sy n="100" d="100"/>
      </p:scale>
      <p:origin x="0" y="-3072"/>
    </p:cViewPr>
  </p:sorterViewPr>
  <p:notesViewPr>
    <p:cSldViewPr snapToGrid="0">
      <p:cViewPr varScale="1">
        <p:scale>
          <a:sx n="79" d="100"/>
          <a:sy n="79" d="100"/>
        </p:scale>
        <p:origin x="4014" y="102"/>
      </p:cViewPr>
      <p:guideLst/>
    </p:cSldViewPr>
  </p:notesViewPr>
  <p:gridSpacing cx="1080001" cy="1080001"/>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Master" Target="slideMasters/slideMaster2.xml"/><Relationship Id="rId3" Type="http://schemas.openxmlformats.org/officeDocument/2006/relationships/slide" Target="slides/slide1.xml"/><Relationship Id="rId4" Type="http://schemas.openxmlformats.org/officeDocument/2006/relationships/slide" Target="slides/slide2.xml"/><Relationship Id="rId5" Type="http://schemas.openxmlformats.org/officeDocument/2006/relationships/slide" Target="slides/slide3.xml"/><Relationship Id="rId6" Type="http://schemas.openxmlformats.org/officeDocument/2006/relationships/slide" Target="slides/slide4.xml"/><Relationship Id="rId7" Type="http://schemas.openxmlformats.org/officeDocument/2006/relationships/slide" Target="slides/slide5.xml"/><Relationship Id="rId8" Type="http://schemas.openxmlformats.org/officeDocument/2006/relationships/slide" Target="slides/slide6.xml"/><Relationship Id="rId9" Type="http://schemas.openxmlformats.org/officeDocument/2006/relationships/slide" Target="slides/slide7.xml"/><Relationship Id="rId10" Type="http://schemas.openxmlformats.org/officeDocument/2006/relationships/slide" Target="slides/slide8.xml"/><Relationship Id="rId11" Type="http://schemas.openxmlformats.org/officeDocument/2006/relationships/slide" Target="slides/slide9.xml"/><Relationship Id="rId12" Type="http://schemas.openxmlformats.org/officeDocument/2006/relationships/slide" Target="slides/slide10.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6.xml"/><Relationship Id="rId17" Type="http://schemas.openxmlformats.org/officeDocument/2006/relationships/slide" Target="slides/slide17.xml"/><Relationship Id="rId18" Type="http://schemas.openxmlformats.org/officeDocument/2006/relationships/slide" Target="slides/slide19.xml"/><Relationship Id="rId19" Type="http://schemas.openxmlformats.org/officeDocument/2006/relationships/slide" Target="slides/slide21.xml"/><Relationship Id="rId20" Type="http://schemas.openxmlformats.org/officeDocument/2006/relationships/slide" Target="slides/slide22.xml"/><Relationship Id="rId21" Type="http://schemas.openxmlformats.org/officeDocument/2006/relationships/slide" Target="slides/slide23.xml"/><Relationship Id="rId22" Type="http://schemas.openxmlformats.org/officeDocument/2006/relationships/slide" Target="slides/slide24.xml"/><Relationship Id="rId23" Type="http://schemas.openxmlformats.org/officeDocument/2006/relationships/slide" Target="slides/slide25.xml"/><Relationship Id="rId24" Type="http://schemas.openxmlformats.org/officeDocument/2006/relationships/slide" Target="slides/slide26.xml"/><Relationship Id="rId25" Type="http://schemas.openxmlformats.org/officeDocument/2006/relationships/slide" Target="slides/slide28.xml"/><Relationship Id="rId26" Type="http://schemas.openxmlformats.org/officeDocument/2006/relationships/slide" Target="slides/slide29.xml"/><Relationship Id="rId27" Type="http://schemas.openxmlformats.org/officeDocument/2006/relationships/slide" Target="slides/slide30.xml"/><Relationship Id="rId28" Type="http://schemas.openxmlformats.org/officeDocument/2006/relationships/slide" Target="slides/slide32.xml"/><Relationship Id="rId29" Type="http://schemas.openxmlformats.org/officeDocument/2006/relationships/slide" Target="slides/slide33.xml"/><Relationship Id="rId30" Type="http://schemas.openxmlformats.org/officeDocument/2006/relationships/notesMaster" Target="notesMasters/notesMaster1.xml"/><Relationship Id="rId31" Type="http://schemas.openxmlformats.org/officeDocument/2006/relationships/handoutMaster" Target="handoutMasters/handoutMaster1.xml"/><Relationship Id="rId32" Type="http://schemas.openxmlformats.org/officeDocument/2006/relationships/presProps" Target="presProps.xml"/><Relationship Id="rId33" Type="http://schemas.openxmlformats.org/officeDocument/2006/relationships/viewProps" Target="viewProps.xml"/><Relationship Id="rId34" Type="http://schemas.openxmlformats.org/officeDocument/2006/relationships/theme" Target="theme/theme1.xml"/><Relationship Id="rId35" Type="http://schemas.openxmlformats.org/officeDocument/2006/relationships/tableStyles" Target="tableStyles.xml"/><Relationship Id="rId36" Type="http://schemas.openxmlformats.org/officeDocument/2006/relationships/slide" Target="slides/slide11.xml"/><Relationship Id="rId37" Type="http://schemas.openxmlformats.org/officeDocument/2006/relationships/slide" Target="slides/slide15.xml"/><Relationship Id="rId38" Type="http://schemas.openxmlformats.org/officeDocument/2006/relationships/slide" Target="slides/slide18.xml"/><Relationship Id="rId39" Type="http://schemas.openxmlformats.org/officeDocument/2006/relationships/slide" Target="slides/slide27.xml"/><Relationship Id="rId40" Type="http://schemas.openxmlformats.org/officeDocument/2006/relationships/slide" Target="slides/slide31.xml"/><Relationship Id="rId41" Type="http://schemas.openxmlformats.org/officeDocument/2006/relationships/slide" Target="slides/slide20.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4" name="フッター プレースホルダー 3"/>
          <p:cNvSpPr>
            <a:spLocks noGrp="1"/>
          </p:cNvSpPr>
          <p:nvPr>
            <p:ph type="ftr" sz="quarter" idx="2"/>
          </p:nvPr>
        </p:nvSpPr>
        <p:spPr>
          <a:xfrm>
            <a:off x="0" y="9441662"/>
            <a:ext cx="2949420" cy="497676"/>
          </a:xfrm>
          <a:prstGeom prst="rect">
            <a:avLst/>
          </a:prstGeom>
        </p:spPr>
        <p:txBody>
          <a:bodyPr vert="horz" lIns="90561" tIns="45280" rIns="90561" bIns="45280" rtlCol="0" anchor="b"/>
          <a:lstStyle>
            <a:lvl1pPr algn="l">
              <a:defRPr sz="1200"/>
            </a:lvl1pPr>
          </a:lstStyle>
          <a:p>
            <a:endParaRPr kumimoji="1" lang="ja-JP" altLang="en-US"/>
          </a:p>
        </p:txBody>
      </p:sp>
      <p:sp>
        <p:nvSpPr>
          <p:cNvPr id="5" name="スライド番号プレースホルダー 4"/>
          <p:cNvSpPr>
            <a:spLocks noGrp="1"/>
          </p:cNvSpPr>
          <p:nvPr>
            <p:ph type="sldNum" sz="quarter" idx="3"/>
          </p:nvPr>
        </p:nvSpPr>
        <p:spPr>
          <a:xfrm>
            <a:off x="3856210" y="9441662"/>
            <a:ext cx="2949420" cy="497676"/>
          </a:xfrm>
          <a:prstGeom prst="rect">
            <a:avLst/>
          </a:prstGeom>
        </p:spPr>
        <p:txBody>
          <a:bodyPr vert="horz" lIns="90561" tIns="45280" rIns="90561" bIns="45280" rtlCol="0" anchor="b"/>
          <a:lstStyle>
            <a:lvl1pPr algn="r">
              <a:defRPr sz="1200"/>
            </a:lvl1pPr>
          </a:lstStyle>
          <a:p>
            <a:fld id="{7B45B759-5475-4693-BFD4-53BF6401E48A}" type="slidenum">
              <a:rPr kumimoji="1" lang="ja-JP" altLang="en-US" smtClean="0"/>
              <a:t>‹#›</a:t>
            </a:fld>
            <a:endParaRPr kumimoji="1" lang="ja-JP" altLang="en-US"/>
          </a:p>
        </p:txBody>
      </p:sp>
    </p:spTree>
    <p:extLst>
      <p:ext uri="{BB962C8B-B14F-4D97-AF65-F5344CB8AC3E}">
        <p14:creationId xmlns:p14="http://schemas.microsoft.com/office/powerpoint/2010/main" val="325953079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1" y="2"/>
            <a:ext cx="2950528" cy="497524"/>
          </a:xfrm>
          <a:prstGeom prst="rect">
            <a:avLst/>
          </a:prstGeom>
        </p:spPr>
        <p:txBody>
          <a:bodyPr vert="horz" lIns="91529" tIns="45765" rIns="91529" bIns="45765" rtlCol="0"/>
          <a:lstStyle>
            <a:lvl1pPr algn="l">
              <a:defRPr sz="1200"/>
            </a:lvl1pPr>
          </a:lstStyle>
          <a:p>
            <a:endParaRPr kumimoji="1" lang="ja-JP" altLang="en-US"/>
          </a:p>
        </p:txBody>
      </p:sp>
      <p:sp>
        <p:nvSpPr>
          <p:cNvPr id="3" name="日付プレースホルダー 2"/>
          <p:cNvSpPr>
            <a:spLocks noGrp="1"/>
          </p:cNvSpPr>
          <p:nvPr>
            <p:ph type="dt" idx="1"/>
          </p:nvPr>
        </p:nvSpPr>
        <p:spPr>
          <a:xfrm>
            <a:off x="3855082" y="2"/>
            <a:ext cx="2950528" cy="497524"/>
          </a:xfrm>
          <a:prstGeom prst="rect">
            <a:avLst/>
          </a:prstGeom>
        </p:spPr>
        <p:txBody>
          <a:bodyPr vert="horz" lIns="91529" tIns="45765" rIns="91529" bIns="45765" rtlCol="0"/>
          <a:lstStyle>
            <a:lvl1pPr algn="r">
              <a:defRPr sz="1200"/>
            </a:lvl1pPr>
          </a:lstStyle>
          <a:p>
            <a:fld id="{6AF8158D-F6B1-45E0-9831-E70689DC8490}" type="datetimeFigureOut">
              <a:rPr kumimoji="1" lang="ja-JP" altLang="en-US" smtClean="0"/>
              <a:t>2026/10/29</a:t>
            </a:fld>
            <a:endParaRPr kumimoji="1" lang="ja-JP" altLang="en-US"/>
          </a:p>
        </p:txBody>
      </p:sp>
      <p:sp>
        <p:nvSpPr>
          <p:cNvPr id="4" name="スライド イメージ プレースホルダー 3"/>
          <p:cNvSpPr>
            <a:spLocks noGrp="1" noRot="1" noChangeAspect="1"/>
          </p:cNvSpPr>
          <p:nvPr>
            <p:ph type="sldImg" idx="2"/>
          </p:nvPr>
        </p:nvSpPr>
        <p:spPr>
          <a:xfrm>
            <a:off x="981075" y="1243013"/>
            <a:ext cx="4845050" cy="3354387"/>
          </a:xfrm>
          <a:prstGeom prst="rect">
            <a:avLst/>
          </a:prstGeom>
          <a:noFill/>
          <a:ln w="12700">
            <a:solidFill>
              <a:prstClr val="black"/>
            </a:solidFill>
          </a:ln>
        </p:spPr>
        <p:txBody>
          <a:bodyPr vert="horz" lIns="91529" tIns="45765" rIns="91529" bIns="45765" rtlCol="0" anchor="ctr"/>
          <a:lstStyle/>
          <a:p>
            <a:endParaRPr lang="ja-JP" altLang="en-US"/>
          </a:p>
        </p:txBody>
      </p:sp>
      <p:sp>
        <p:nvSpPr>
          <p:cNvPr id="5" name="ノート プレースホルダー 4"/>
          <p:cNvSpPr>
            <a:spLocks noGrp="1"/>
          </p:cNvSpPr>
          <p:nvPr>
            <p:ph type="body" sz="quarter" idx="3"/>
          </p:nvPr>
        </p:nvSpPr>
        <p:spPr>
          <a:xfrm>
            <a:off x="680402" y="4782901"/>
            <a:ext cx="5446396" cy="3913426"/>
          </a:xfrm>
          <a:prstGeom prst="rect">
            <a:avLst/>
          </a:prstGeom>
        </p:spPr>
        <p:txBody>
          <a:bodyPr vert="horz" lIns="91529" tIns="45765" rIns="91529" bIns="45765"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1" y="9441817"/>
            <a:ext cx="2950528" cy="497524"/>
          </a:xfrm>
          <a:prstGeom prst="rect">
            <a:avLst/>
          </a:prstGeom>
        </p:spPr>
        <p:txBody>
          <a:bodyPr vert="horz" lIns="91529" tIns="45765" rIns="91529" bIns="45765"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55082" y="9441817"/>
            <a:ext cx="2950528" cy="497524"/>
          </a:xfrm>
          <a:prstGeom prst="rect">
            <a:avLst/>
          </a:prstGeom>
        </p:spPr>
        <p:txBody>
          <a:bodyPr vert="horz" lIns="91529" tIns="45765" rIns="91529" bIns="45765" rtlCol="0" anchor="b"/>
          <a:lstStyle>
            <a:lvl1pPr algn="r">
              <a:defRPr sz="1200"/>
            </a:lvl1pPr>
          </a:lstStyle>
          <a:p>
            <a:fld id="{022E43C0-6795-4B13-B37C-259C826D4B6A}" type="slidenum">
              <a:rPr kumimoji="1" lang="ja-JP" altLang="en-US" smtClean="0"/>
              <a:t>‹#›</a:t>
            </a:fld>
            <a:endParaRPr kumimoji="1" lang="ja-JP" altLang="en-US"/>
          </a:p>
        </p:txBody>
      </p:sp>
    </p:spTree>
    <p:extLst>
      <p:ext uri="{BB962C8B-B14F-4D97-AF65-F5344CB8AC3E}">
        <p14:creationId xmlns:p14="http://schemas.microsoft.com/office/powerpoint/2010/main" val="640918907"/>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a:p>
        </p:txBody>
      </p:sp>
      <p:sp>
        <p:nvSpPr>
          <p:cNvPr id="4" name="フッター プレースホルダー 3"/>
          <p:cNvSpPr>
            <a:spLocks noGrp="1"/>
          </p:cNvSpPr>
          <p:nvPr>
            <p:ph type="ftr" sz="quarter" idx="10"/>
          </p:nvPr>
        </p:nvSpPr>
        <p:spPr/>
        <p:txBody>
          <a:bodyPr/>
          <a:lstStyle/>
          <a:p>
            <a:pPr defTabSz="956886">
              <a:defRPr/>
            </a:pPr>
            <a:endParaRPr lang="ja-JP" altLang="en-US">
              <a:solidFill>
                <a:prstClr val="black"/>
              </a:solidFill>
              <a:latin typeface="Calibri"/>
              <a:ea typeface="ＭＳ Ｐゴシック" panose="020B0600070205080204" pitchFamily="50" charset="-128"/>
            </a:endParaRPr>
          </a:p>
        </p:txBody>
      </p:sp>
      <p:sp>
        <p:nvSpPr>
          <p:cNvPr id="5" name="スライド番号プレースホルダー 4"/>
          <p:cNvSpPr>
            <a:spLocks noGrp="1"/>
          </p:cNvSpPr>
          <p:nvPr>
            <p:ph type="sldNum" sz="quarter" idx="11"/>
          </p:nvPr>
        </p:nvSpPr>
        <p:spPr/>
        <p:txBody>
          <a:bodyPr/>
          <a:lstStyle/>
          <a:p>
            <a:pPr defTabSz="956886">
              <a:defRPr/>
            </a:pPr>
            <a:fld id="{929202D6-C1F5-472A-A72F-285F233F82C2}" type="slidenum">
              <a:rPr lang="ja-JP" altLang="en-US">
                <a:solidFill>
                  <a:prstClr val="black"/>
                </a:solidFill>
                <a:latin typeface="Calibri"/>
                <a:ea typeface="ＭＳ Ｐゴシック" panose="020B0600070205080204" pitchFamily="50" charset="-128"/>
              </a:rPr>
              <a:pPr defTabSz="956886">
                <a:defRPr/>
              </a:pPr>
              <a:t>27</a:t>
            </a:fld>
            <a:endParaRPr lang="ja-JP" altLang="en-US">
              <a:solidFill>
                <a:prstClr val="black"/>
              </a:solidFill>
              <a:latin typeface="Calibri"/>
              <a:ea typeface="ＭＳ Ｐゴシック" panose="020B0600070205080204" pitchFamily="50" charset="-128"/>
            </a:endParaRPr>
          </a:p>
        </p:txBody>
      </p:sp>
    </p:spTree>
    <p:extLst>
      <p:ext uri="{BB962C8B-B14F-4D97-AF65-F5344CB8AC3E}">
        <p14:creationId xmlns:p14="http://schemas.microsoft.com/office/powerpoint/2010/main" val="37920873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2_タイトルとコンテンツ">
    <p:spTree>
      <p:nvGrpSpPr>
        <p:cNvPr id="1" name=""/>
        <p:cNvGrpSpPr/>
        <p:nvPr/>
      </p:nvGrpSpPr>
      <p:grpSpPr>
        <a:xfrm>
          <a:off x="0" y="0"/>
          <a:ext cx="0" cy="0"/>
          <a:chOff x="0" y="0"/>
          <a:chExt cx="0" cy="0"/>
        </a:xfrm>
      </p:grpSpPr>
      <p:sp>
        <p:nvSpPr>
          <p:cNvPr id="2" name="正方形/長方形 1"/>
          <p:cNvSpPr/>
          <p:nvPr userDrawn="1"/>
        </p:nvSpPr>
        <p:spPr>
          <a:xfrm>
            <a:off x="9398000" y="6591300"/>
            <a:ext cx="419100" cy="266700"/>
          </a:xfrm>
          <a:prstGeom prst="rect">
            <a:avLst/>
          </a:prstGeom>
          <a:solidFill>
            <a:srgbClr val="191F5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2758107768"/>
      </p:ext>
    </p:extLst>
  </p:cSld>
  <p:clrMapOvr>
    <a:masterClrMapping/>
  </p:clrMapOvr>
  <p:hf hdr="0" dt="0"/>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4_タイトルとコンテンツ">
    <p:spTree>
      <p:nvGrpSpPr>
        <p:cNvPr id="1" name=""/>
        <p:cNvGrpSpPr/>
        <p:nvPr/>
      </p:nvGrpSpPr>
      <p:grpSpPr>
        <a:xfrm>
          <a:off x="0" y="0"/>
          <a:ext cx="0" cy="0"/>
          <a:chOff x="0" y="0"/>
          <a:chExt cx="0" cy="0"/>
        </a:xfrm>
      </p:grpSpPr>
      <p:cxnSp>
        <p:nvCxnSpPr>
          <p:cNvPr id="5" name="直線コネクタ 4"/>
          <p:cNvCxnSpPr/>
          <p:nvPr/>
        </p:nvCxnSpPr>
        <p:spPr>
          <a:xfrm>
            <a:off x="0" y="548680"/>
            <a:ext cx="9906000" cy="0"/>
          </a:xfrm>
          <a:prstGeom prst="line">
            <a:avLst/>
          </a:prstGeom>
          <a:ln>
            <a:solidFill>
              <a:srgbClr val="191F54"/>
            </a:solidFill>
          </a:ln>
          <a:effectLst/>
        </p:spPr>
        <p:style>
          <a:lnRef idx="2">
            <a:schemeClr val="accent1"/>
          </a:lnRef>
          <a:fillRef idx="0">
            <a:schemeClr val="accent1"/>
          </a:fillRef>
          <a:effectRef idx="1">
            <a:schemeClr val="accent1"/>
          </a:effectRef>
          <a:fontRef idx="minor">
            <a:schemeClr val="tx1"/>
          </a:fontRef>
        </p:style>
      </p:cxnSp>
      <p:sp>
        <p:nvSpPr>
          <p:cNvPr id="7" name="正方形/長方形 6"/>
          <p:cNvSpPr/>
          <p:nvPr/>
        </p:nvSpPr>
        <p:spPr>
          <a:xfrm>
            <a:off x="0" y="0"/>
            <a:ext cx="451204" cy="548680"/>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sz="1800">
              <a:solidFill>
                <a:prstClr val="white"/>
              </a:solidFill>
            </a:endParaRPr>
          </a:p>
        </p:txBody>
      </p:sp>
    </p:spTree>
    <p:extLst>
      <p:ext uri="{BB962C8B-B14F-4D97-AF65-F5344CB8AC3E}">
        <p14:creationId xmlns:p14="http://schemas.microsoft.com/office/powerpoint/2010/main" val="1958189266"/>
      </p:ext>
    </p:extLst>
  </p:cSld>
  <p:clrMapOvr>
    <a:masterClrMapping/>
  </p:clrMapOvr>
  <p:hf hdr="0" dt="0"/>
</p:sldLayout>
</file>

<file path=ppt/slideLayouts/slideLayout3.xml><?xml version="1.0" encoding="utf-8"?>
<p:sldLayout xmlns:a="http://schemas.openxmlformats.org/drawingml/2006/main" xmlns:r="http://schemas.openxmlformats.org/officeDocument/2006/relationships" xmlns:p="http://schemas.openxmlformats.org/presentationml/2006/main" userDrawn="1">
  <p:cSld name="1_タイトル スライド">
    <p:spTree>
      <p:nvGrpSpPr>
        <p:cNvPr id="1" name=""/>
        <p:cNvGrpSpPr/>
        <p:nvPr/>
      </p:nvGrpSpPr>
      <p:grpSpPr>
        <a:xfrm>
          <a:off x="0" y="0"/>
          <a:ext cx="0" cy="0"/>
          <a:chOff x="0" y="0"/>
          <a:chExt cx="0" cy="0"/>
        </a:xfrm>
      </p:grpSpPr>
    </p:spTree>
    <p:extLst>
      <p:ext uri="{BB962C8B-B14F-4D97-AF65-F5344CB8AC3E}">
        <p14:creationId xmlns:p14="http://schemas.microsoft.com/office/powerpoint/2010/main" val="3785212341"/>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 Id="rId5" Type="http://schemas.openxmlformats.org/officeDocument/2006/relationships/image" Target="../media/image1.png"/><Relationship Id="rId6" Type="http://schemas.openxmlformats.org/officeDocument/2006/relationships/image" Target="../media/image2.png"/></Relationships>
</file>

<file path=ppt/slideMasters/_rels/slideMaster2.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image" Target="../media/image3.emf"/></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pic>
        <p:nvPicPr>
          <p:cNvPr id="2" name="図 1"/>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8151357" y="72255"/>
            <a:ext cx="1598627" cy="424153"/>
          </a:xfrm>
          <a:prstGeom prst="rect">
            <a:avLst/>
          </a:prstGeom>
        </p:spPr>
      </p:pic>
      <p:pic>
        <p:nvPicPr>
          <p:cNvPr id="5" name="図 4"/>
          <p:cNvPicPr>
            <a:picLocks noChangeAspect="1"/>
          </p:cNvPicPr>
          <p:nvPr/>
        </p:nvPicPr>
        <p:blipFill>
          <a:blip r:embed="rId6"/>
          <a:stretch>
            <a:fillRect/>
          </a:stretch>
        </p:blipFill>
        <p:spPr>
          <a:xfrm>
            <a:off x="8151355" y="32333"/>
            <a:ext cx="1653069" cy="635796"/>
          </a:xfrm>
          <a:prstGeom prst="rect">
            <a:avLst/>
          </a:prstGeom>
        </p:spPr>
      </p:pic>
      <p:sp>
        <p:nvSpPr>
          <p:cNvPr id="6" name="正方形/長方形 5"/>
          <p:cNvSpPr/>
          <p:nvPr/>
        </p:nvSpPr>
        <p:spPr>
          <a:xfrm>
            <a:off x="0" y="6552728"/>
            <a:ext cx="9906000" cy="332656"/>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sz="1800">
              <a:solidFill>
                <a:prstClr val="white"/>
              </a:solidFill>
            </a:endParaRPr>
          </a:p>
        </p:txBody>
      </p:sp>
      <p:sp>
        <p:nvSpPr>
          <p:cNvPr id="8" name="スライド番号プレースホルダ 1"/>
          <p:cNvSpPr txBox="1">
            <a:spLocks/>
          </p:cNvSpPr>
          <p:nvPr/>
        </p:nvSpPr>
        <p:spPr>
          <a:xfrm>
            <a:off x="7594600" y="6552729"/>
            <a:ext cx="2311400" cy="365125"/>
          </a:xfrm>
          <a:prstGeom prst="rect">
            <a:avLst/>
          </a:prstGeom>
        </p:spPr>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r"/>
            <a:fld id="{9FC100E3-15F5-4145-A942-47DB1D8B776D}" type="slidenum">
              <a:rPr lang="ja-JP" altLang="en-US" sz="1400" b="1" smtClean="0">
                <a:solidFill>
                  <a:schemeClr val="bg1"/>
                </a:solidFill>
                <a:latin typeface="メイリオ" panose="020B0604030504040204" pitchFamily="50" charset="-128"/>
                <a:ea typeface="メイリオ" panose="020B0604030504040204" pitchFamily="50" charset="-128"/>
                <a:cs typeface="メイリオ" panose="020B0604030504040204" pitchFamily="50" charset="-128"/>
              </a:rPr>
              <a:pPr algn="r"/>
              <a:t>‹#›</a:t>
            </a:fld>
            <a:endParaRPr lang="ja-JP" altLang="en-US" sz="1400" b="1" dirty="0">
              <a:solidFill>
                <a:schemeClr val="bg1"/>
              </a:solidFill>
              <a:latin typeface="メイリオ" panose="020B0604030504040204" pitchFamily="50" charset="-128"/>
              <a:ea typeface="メイリオ" panose="020B0604030504040204" pitchFamily="50" charset="-128"/>
              <a:cs typeface="メイリオ" panose="020B0604030504040204" pitchFamily="50" charset="-128"/>
            </a:endParaRPr>
          </a:p>
        </p:txBody>
      </p:sp>
      <p:sp>
        <p:nvSpPr>
          <p:cNvPr id="9" name="テキスト ボックス 8"/>
          <p:cNvSpPr txBox="1">
            <a:spLocks noChangeArrowheads="1"/>
          </p:cNvSpPr>
          <p:nvPr userDrawn="1"/>
        </p:nvSpPr>
        <p:spPr bwMode="auto">
          <a:xfrm>
            <a:off x="116569" y="6597932"/>
            <a:ext cx="3666301"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kumimoji="1" sz="2400">
                <a:solidFill>
                  <a:schemeClr val="tx1"/>
                </a:solidFill>
                <a:latin typeface="Arial" charset="0"/>
                <a:ea typeface="ＭＳ Ｐゴシック" charset="0"/>
                <a:cs typeface="ＭＳ Ｐゴシック" charset="0"/>
              </a:defRPr>
            </a:lvl1pPr>
            <a:lvl2pPr marL="742950" indent="-285750">
              <a:defRPr kumimoji="1" sz="2400">
                <a:solidFill>
                  <a:schemeClr val="tx1"/>
                </a:solidFill>
                <a:latin typeface="Arial" charset="0"/>
                <a:ea typeface="ＭＳ Ｐゴシック" charset="0"/>
              </a:defRPr>
            </a:lvl2pPr>
            <a:lvl3pPr marL="1143000" indent="-228600">
              <a:defRPr kumimoji="1" sz="2400">
                <a:solidFill>
                  <a:schemeClr val="tx1"/>
                </a:solidFill>
                <a:latin typeface="Arial" charset="0"/>
                <a:ea typeface="ＭＳ Ｐゴシック" charset="0"/>
              </a:defRPr>
            </a:lvl3pPr>
            <a:lvl4pPr marL="1600200" indent="-228600">
              <a:defRPr kumimoji="1" sz="2400">
                <a:solidFill>
                  <a:schemeClr val="tx1"/>
                </a:solidFill>
                <a:latin typeface="Arial" charset="0"/>
                <a:ea typeface="ＭＳ Ｐゴシック" charset="0"/>
              </a:defRPr>
            </a:lvl4pPr>
            <a:lvl5pPr marL="2057400" indent="-228600">
              <a:defRPr kumimoji="1" sz="2400">
                <a:solidFill>
                  <a:schemeClr val="tx1"/>
                </a:solidFill>
                <a:latin typeface="Arial" charset="0"/>
                <a:ea typeface="ＭＳ Ｐゴシック" charset="0"/>
              </a:defRPr>
            </a:lvl5pPr>
            <a:lvl6pPr marL="2514600" indent="-228600" fontAlgn="base">
              <a:spcBef>
                <a:spcPct val="0"/>
              </a:spcBef>
              <a:spcAft>
                <a:spcPct val="0"/>
              </a:spcAft>
              <a:defRPr kumimoji="1" sz="2400">
                <a:solidFill>
                  <a:schemeClr val="tx1"/>
                </a:solidFill>
                <a:latin typeface="Arial" charset="0"/>
                <a:ea typeface="ＭＳ Ｐゴシック" charset="0"/>
              </a:defRPr>
            </a:lvl6pPr>
            <a:lvl7pPr marL="2971800" indent="-228600" fontAlgn="base">
              <a:spcBef>
                <a:spcPct val="0"/>
              </a:spcBef>
              <a:spcAft>
                <a:spcPct val="0"/>
              </a:spcAft>
              <a:defRPr kumimoji="1" sz="2400">
                <a:solidFill>
                  <a:schemeClr val="tx1"/>
                </a:solidFill>
                <a:latin typeface="Arial" charset="0"/>
                <a:ea typeface="ＭＳ Ｐゴシック" charset="0"/>
              </a:defRPr>
            </a:lvl7pPr>
            <a:lvl8pPr marL="3429000" indent="-228600" fontAlgn="base">
              <a:spcBef>
                <a:spcPct val="0"/>
              </a:spcBef>
              <a:spcAft>
                <a:spcPct val="0"/>
              </a:spcAft>
              <a:defRPr kumimoji="1" sz="2400">
                <a:solidFill>
                  <a:schemeClr val="tx1"/>
                </a:solidFill>
                <a:latin typeface="Arial" charset="0"/>
                <a:ea typeface="ＭＳ Ｐゴシック" charset="0"/>
              </a:defRPr>
            </a:lvl8pPr>
            <a:lvl9pPr marL="3886200" indent="-228600" fontAlgn="base">
              <a:spcBef>
                <a:spcPct val="0"/>
              </a:spcBef>
              <a:spcAft>
                <a:spcPct val="0"/>
              </a:spcAft>
              <a:defRPr kumimoji="1" sz="2400">
                <a:solidFill>
                  <a:schemeClr val="tx1"/>
                </a:solidFill>
                <a:latin typeface="Arial" charset="0"/>
                <a:ea typeface="ＭＳ Ｐゴシック" charset="0"/>
              </a:defRPr>
            </a:lvl9pPr>
          </a:lstStyle>
          <a:p>
            <a:pPr>
              <a:defRPr/>
            </a:pPr>
            <a:r>
              <a:rPr lang="en-US" altLang="ja-JP" sz="800" b="1" dirty="0">
                <a:solidFill>
                  <a:schemeClr val="bg1"/>
                </a:solidFill>
                <a:latin typeface="メイリオ"/>
                <a:ea typeface="メイリオ"/>
                <a:cs typeface="メイリオ"/>
              </a:rPr>
              <a:t>Copyright(c) DYM Co., Ltd</a:t>
            </a:r>
            <a:r>
              <a:rPr lang="ja-JP" altLang="en-US" sz="800" b="1" dirty="0" err="1">
                <a:solidFill>
                  <a:schemeClr val="bg1"/>
                </a:solidFill>
                <a:latin typeface="メイリオ"/>
                <a:ea typeface="メイリオ"/>
                <a:cs typeface="メイリオ"/>
              </a:rPr>
              <a:t>．</a:t>
            </a:r>
            <a:r>
              <a:rPr lang="en-US" altLang="ja-JP" sz="800" b="1" dirty="0">
                <a:solidFill>
                  <a:schemeClr val="bg1"/>
                </a:solidFill>
                <a:latin typeface="メイリオ"/>
                <a:ea typeface="メイリオ"/>
                <a:cs typeface="メイリオ"/>
              </a:rPr>
              <a:t> All Rights Reserved.</a:t>
            </a:r>
          </a:p>
        </p:txBody>
      </p:sp>
    </p:spTree>
    <p:extLst>
      <p:ext uri="{BB962C8B-B14F-4D97-AF65-F5344CB8AC3E}">
        <p14:creationId xmlns:p14="http://schemas.microsoft.com/office/powerpoint/2010/main" val="345870335"/>
      </p:ext>
    </p:extLst>
  </p:cSld>
  <p:clrMap bg1="lt1" tx1="dk1" bg2="lt2" tx2="dk2" accent1="accent1" accent2="accent2" accent3="accent3" accent4="accent4" accent5="accent5" accent6="accent6" hlink="hlink" folHlink="folHlink"/>
  <p:sldLayoutIdLst>
    <p:sldLayoutId id="2147483676" r:id="rId1"/>
    <p:sldLayoutId id="2147483683" r:id="rId2"/>
    <p:sldLayoutId id="2147483689" r:id="rId3"/>
  </p:sldLayoutIdLst>
  <p:hf hdr="0" dt="0"/>
  <p:txStyles>
    <p:titleStyle>
      <a:lvl1pPr algn="ctr" rtl="0" eaLnBrk="1" fontAlgn="base" hangingPunct="1">
        <a:spcBef>
          <a:spcPct val="0"/>
        </a:spcBef>
        <a:spcAft>
          <a:spcPct val="0"/>
        </a:spcAft>
        <a:defRPr kumimoji="1" sz="4400" kern="1200">
          <a:solidFill>
            <a:schemeClr val="tx1"/>
          </a:solidFill>
          <a:latin typeface="+mj-lt"/>
          <a:ea typeface="+mj-ea"/>
          <a:cs typeface="+mj-cs"/>
        </a:defRPr>
      </a:lvl1pPr>
      <a:lvl2pPr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2pPr>
      <a:lvl3pPr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3pPr>
      <a:lvl4pPr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4pPr>
      <a:lvl5pPr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5pPr>
      <a:lvl6pPr marL="457200"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6pPr>
      <a:lvl7pPr marL="914400"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7pPr>
      <a:lvl8pPr marL="1371600"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8pPr>
      <a:lvl9pPr marL="1828800"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9pPr>
    </p:titleStyle>
    <p:bodyStyle>
      <a:lvl1pPr marL="342900" indent="-342900" algn="l" rtl="0" eaLnBrk="1" fontAlgn="base" hangingPunct="1">
        <a:spcBef>
          <a:spcPct val="20000"/>
        </a:spcBef>
        <a:spcAft>
          <a:spcPct val="0"/>
        </a:spcAft>
        <a:buFont typeface="Arial" charset="0"/>
        <a:buChar char="•"/>
        <a:defRPr kumimoji="1" sz="3200" kern="1200">
          <a:solidFill>
            <a:schemeClr val="tx1"/>
          </a:solidFill>
          <a:latin typeface="+mn-lt"/>
          <a:ea typeface="+mn-ea"/>
          <a:cs typeface="+mn-cs"/>
        </a:defRPr>
      </a:lvl1pPr>
      <a:lvl2pPr marL="742950" indent="-285750" algn="l" rtl="0" eaLnBrk="1" fontAlgn="base" hangingPunct="1">
        <a:spcBef>
          <a:spcPct val="20000"/>
        </a:spcBef>
        <a:spcAft>
          <a:spcPct val="0"/>
        </a:spcAft>
        <a:buFont typeface="Arial" charset="0"/>
        <a:buChar char="–"/>
        <a:defRPr kumimoji="1" sz="2800" kern="1200">
          <a:solidFill>
            <a:schemeClr val="tx1"/>
          </a:solidFill>
          <a:latin typeface="+mn-lt"/>
          <a:ea typeface="+mn-ea"/>
          <a:cs typeface="+mn-cs"/>
        </a:defRPr>
      </a:lvl2pPr>
      <a:lvl3pPr marL="1143000" indent="-228600" algn="l" rtl="0" eaLnBrk="1" fontAlgn="base" hangingPunct="1">
        <a:spcBef>
          <a:spcPct val="20000"/>
        </a:spcBef>
        <a:spcAft>
          <a:spcPct val="0"/>
        </a:spcAft>
        <a:buFont typeface="Arial" charset="0"/>
        <a:buChar char="•"/>
        <a:defRPr kumimoji="1" sz="2400" kern="1200">
          <a:solidFill>
            <a:schemeClr val="tx1"/>
          </a:solidFill>
          <a:latin typeface="+mn-lt"/>
          <a:ea typeface="+mn-ea"/>
          <a:cs typeface="+mn-cs"/>
        </a:defRPr>
      </a:lvl3pPr>
      <a:lvl4pPr marL="1600200" indent="-228600" algn="l" rtl="0" eaLnBrk="1" fontAlgn="base" hangingPunct="1">
        <a:spcBef>
          <a:spcPct val="20000"/>
        </a:spcBef>
        <a:spcAft>
          <a:spcPct val="0"/>
        </a:spcAft>
        <a:buFont typeface="Arial" charset="0"/>
        <a:buChar char="–"/>
        <a:defRPr kumimoji="1" sz="2000" kern="1200">
          <a:solidFill>
            <a:schemeClr val="tx1"/>
          </a:solidFill>
          <a:latin typeface="+mn-lt"/>
          <a:ea typeface="+mn-ea"/>
          <a:cs typeface="+mn-cs"/>
        </a:defRPr>
      </a:lvl4pPr>
      <a:lvl5pPr marL="2057400" indent="-228600" algn="l" rtl="0" eaLnBrk="1" fontAlgn="base" hangingPunct="1">
        <a:spcBef>
          <a:spcPct val="20000"/>
        </a:spcBef>
        <a:spcAft>
          <a:spcPct val="0"/>
        </a:spcAft>
        <a:buFont typeface="Arial" charset="0"/>
        <a:buChar char="»"/>
        <a:defRPr kumimoji="1"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5" name="正方形/長方形 4"/>
          <p:cNvSpPr/>
          <p:nvPr/>
        </p:nvSpPr>
        <p:spPr>
          <a:xfrm>
            <a:off x="0" y="6552728"/>
            <a:ext cx="9906000" cy="332656"/>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a:solidFill>
                <a:prstClr val="white"/>
              </a:solidFill>
            </a:endParaRPr>
          </a:p>
        </p:txBody>
      </p:sp>
      <p:sp>
        <p:nvSpPr>
          <p:cNvPr id="10" name="テキスト ボックス 9"/>
          <p:cNvSpPr txBox="1">
            <a:spLocks noChangeArrowheads="1"/>
          </p:cNvSpPr>
          <p:nvPr/>
        </p:nvSpPr>
        <p:spPr bwMode="auto">
          <a:xfrm>
            <a:off x="116569" y="6597932"/>
            <a:ext cx="3666301"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kumimoji="1" sz="2400">
                <a:solidFill>
                  <a:schemeClr val="tx1"/>
                </a:solidFill>
                <a:latin typeface="Arial" charset="0"/>
                <a:ea typeface="ＭＳ Ｐゴシック" charset="0"/>
                <a:cs typeface="ＭＳ Ｐゴシック" charset="0"/>
              </a:defRPr>
            </a:lvl1pPr>
            <a:lvl2pPr marL="742950" indent="-285750">
              <a:defRPr kumimoji="1" sz="2400">
                <a:solidFill>
                  <a:schemeClr val="tx1"/>
                </a:solidFill>
                <a:latin typeface="Arial" charset="0"/>
                <a:ea typeface="ＭＳ Ｐゴシック" charset="0"/>
              </a:defRPr>
            </a:lvl2pPr>
            <a:lvl3pPr marL="1143000" indent="-228600">
              <a:defRPr kumimoji="1" sz="2400">
                <a:solidFill>
                  <a:schemeClr val="tx1"/>
                </a:solidFill>
                <a:latin typeface="Arial" charset="0"/>
                <a:ea typeface="ＭＳ Ｐゴシック" charset="0"/>
              </a:defRPr>
            </a:lvl3pPr>
            <a:lvl4pPr marL="1600200" indent="-228600">
              <a:defRPr kumimoji="1" sz="2400">
                <a:solidFill>
                  <a:schemeClr val="tx1"/>
                </a:solidFill>
                <a:latin typeface="Arial" charset="0"/>
                <a:ea typeface="ＭＳ Ｐゴシック" charset="0"/>
              </a:defRPr>
            </a:lvl4pPr>
            <a:lvl5pPr marL="2057400" indent="-228600">
              <a:defRPr kumimoji="1" sz="2400">
                <a:solidFill>
                  <a:schemeClr val="tx1"/>
                </a:solidFill>
                <a:latin typeface="Arial" charset="0"/>
                <a:ea typeface="ＭＳ Ｐゴシック" charset="0"/>
              </a:defRPr>
            </a:lvl5pPr>
            <a:lvl6pPr marL="2514600" indent="-228600" fontAlgn="base">
              <a:spcBef>
                <a:spcPct val="0"/>
              </a:spcBef>
              <a:spcAft>
                <a:spcPct val="0"/>
              </a:spcAft>
              <a:defRPr kumimoji="1" sz="2400">
                <a:solidFill>
                  <a:schemeClr val="tx1"/>
                </a:solidFill>
                <a:latin typeface="Arial" charset="0"/>
                <a:ea typeface="ＭＳ Ｐゴシック" charset="0"/>
              </a:defRPr>
            </a:lvl6pPr>
            <a:lvl7pPr marL="2971800" indent="-228600" fontAlgn="base">
              <a:spcBef>
                <a:spcPct val="0"/>
              </a:spcBef>
              <a:spcAft>
                <a:spcPct val="0"/>
              </a:spcAft>
              <a:defRPr kumimoji="1" sz="2400">
                <a:solidFill>
                  <a:schemeClr val="tx1"/>
                </a:solidFill>
                <a:latin typeface="Arial" charset="0"/>
                <a:ea typeface="ＭＳ Ｐゴシック" charset="0"/>
              </a:defRPr>
            </a:lvl7pPr>
            <a:lvl8pPr marL="3429000" indent="-228600" fontAlgn="base">
              <a:spcBef>
                <a:spcPct val="0"/>
              </a:spcBef>
              <a:spcAft>
                <a:spcPct val="0"/>
              </a:spcAft>
              <a:defRPr kumimoji="1" sz="2400">
                <a:solidFill>
                  <a:schemeClr val="tx1"/>
                </a:solidFill>
                <a:latin typeface="Arial" charset="0"/>
                <a:ea typeface="ＭＳ Ｐゴシック" charset="0"/>
              </a:defRPr>
            </a:lvl8pPr>
            <a:lvl9pPr marL="3886200" indent="-228600" fontAlgn="base">
              <a:spcBef>
                <a:spcPct val="0"/>
              </a:spcBef>
              <a:spcAft>
                <a:spcPct val="0"/>
              </a:spcAft>
              <a:defRPr kumimoji="1" sz="2400">
                <a:solidFill>
                  <a:schemeClr val="tx1"/>
                </a:solidFill>
                <a:latin typeface="Arial" charset="0"/>
                <a:ea typeface="ＭＳ Ｐゴシック" charset="0"/>
              </a:defRPr>
            </a:lvl9pPr>
          </a:lstStyle>
          <a:p>
            <a:pPr>
              <a:defRPr/>
            </a:pPr>
            <a:r>
              <a:rPr lang="en-US" altLang="ja-JP" sz="800" b="1" dirty="0">
                <a:solidFill>
                  <a:prstClr val="white"/>
                </a:solidFill>
                <a:latin typeface="メイリオ"/>
                <a:ea typeface="メイリオ"/>
                <a:cs typeface="メイリオ"/>
              </a:rPr>
              <a:t>Copyright(c) DYM Co., </a:t>
            </a:r>
            <a:r>
              <a:rPr lang="en-US" altLang="ja-JP" sz="800" b="1" dirty="0" err="1">
                <a:solidFill>
                  <a:prstClr val="white"/>
                </a:solidFill>
                <a:latin typeface="メイリオ"/>
                <a:ea typeface="メイリオ"/>
                <a:cs typeface="メイリオ"/>
              </a:rPr>
              <a:t>Ltd.All</a:t>
            </a:r>
            <a:r>
              <a:rPr lang="en-US" altLang="ja-JP" sz="800" b="1" dirty="0">
                <a:solidFill>
                  <a:prstClr val="white"/>
                </a:solidFill>
                <a:latin typeface="メイリオ"/>
                <a:ea typeface="メイリオ"/>
                <a:cs typeface="メイリオ"/>
              </a:rPr>
              <a:t> Rights Reserved.</a:t>
            </a:r>
          </a:p>
        </p:txBody>
      </p:sp>
      <p:sp>
        <p:nvSpPr>
          <p:cNvPr id="8" name="正方形/長方形 7"/>
          <p:cNvSpPr/>
          <p:nvPr/>
        </p:nvSpPr>
        <p:spPr>
          <a:xfrm>
            <a:off x="0" y="0"/>
            <a:ext cx="416496" cy="548680"/>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a:solidFill>
                <a:prstClr val="white"/>
              </a:solidFill>
            </a:endParaRPr>
          </a:p>
        </p:txBody>
      </p:sp>
      <p:cxnSp>
        <p:nvCxnSpPr>
          <p:cNvPr id="4" name="直線コネクタ 3"/>
          <p:cNvCxnSpPr/>
          <p:nvPr/>
        </p:nvCxnSpPr>
        <p:spPr>
          <a:xfrm>
            <a:off x="0" y="548680"/>
            <a:ext cx="9906000" cy="0"/>
          </a:xfrm>
          <a:prstGeom prst="line">
            <a:avLst/>
          </a:prstGeom>
          <a:ln>
            <a:solidFill>
              <a:srgbClr val="00324B"/>
            </a:solidFill>
          </a:ln>
          <a:effectLst/>
        </p:spPr>
        <p:style>
          <a:lnRef idx="2">
            <a:schemeClr val="accent1"/>
          </a:lnRef>
          <a:fillRef idx="0">
            <a:schemeClr val="accent1"/>
          </a:fillRef>
          <a:effectRef idx="1">
            <a:schemeClr val="accent1"/>
          </a:effectRef>
          <a:fontRef idx="minor">
            <a:schemeClr val="tx1"/>
          </a:fontRef>
        </p:style>
      </p:cxnSp>
      <p:pic>
        <p:nvPicPr>
          <p:cNvPr id="9" name="図 1"/>
          <p:cNvPicPr>
            <a:picLocks/>
          </p:cNvPicPr>
          <p:nvPr userDrawn="1"/>
        </p:nvPicPr>
        <p:blipFill rotWithShape="1">
          <a:blip r:embed="rId2" cstate="hqprint">
            <a:extLst>
              <a:ext uri="{28A0092B-C50C-407E-A947-70E740481C1C}">
                <a14:useLocalDpi xmlns:a14="http://schemas.microsoft.com/office/drawing/2010/main" val="0"/>
              </a:ext>
            </a:extLst>
          </a:blip>
          <a:srcRect l="-1647" r="-11171"/>
          <a:stretch/>
        </p:blipFill>
        <p:spPr bwMode="auto">
          <a:xfrm>
            <a:off x="8619408" y="161057"/>
            <a:ext cx="1192729" cy="263314"/>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1" name="スライド番号プレースホルダ 1"/>
          <p:cNvSpPr txBox="1">
            <a:spLocks/>
          </p:cNvSpPr>
          <p:nvPr userDrawn="1"/>
        </p:nvSpPr>
        <p:spPr>
          <a:xfrm>
            <a:off x="7545288" y="6571255"/>
            <a:ext cx="2133600" cy="216000"/>
          </a:xfrm>
          <a:prstGeom prst="rect">
            <a:avLst/>
          </a:prstGeom>
        </p:spPr>
        <p:txBody>
          <a:bodyPr tIns="25200"/>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r"/>
            <a:fld id="{9FC100E3-15F5-4145-A942-47DB1D8B776D}" type="slidenum">
              <a:rPr lang="ja-JP" altLang="en-US" sz="1400" i="1" smtClean="0">
                <a:solidFill>
                  <a:prstClr val="white"/>
                </a:solidFill>
                <a:latin typeface="Century Gothic" panose="020B0502020202020204" pitchFamily="34" charset="0"/>
              </a:rPr>
              <a:pPr algn="r"/>
              <a:t>‹#›</a:t>
            </a:fld>
            <a:endParaRPr lang="ja-JP" altLang="en-US" sz="1400" i="1" dirty="0">
              <a:solidFill>
                <a:prstClr val="white"/>
              </a:solidFill>
              <a:latin typeface="Century Gothic" panose="020B0502020202020204" pitchFamily="34" charset="0"/>
            </a:endParaRPr>
          </a:p>
        </p:txBody>
      </p:sp>
    </p:spTree>
    <p:extLst>
      <p:ext uri="{BB962C8B-B14F-4D97-AF65-F5344CB8AC3E}">
        <p14:creationId xmlns:p14="http://schemas.microsoft.com/office/powerpoint/2010/main" val="611138245"/>
      </p:ext>
    </p:extLst>
  </p:cSld>
  <p:clrMap bg1="lt1" tx1="dk1" bg2="lt2" tx2="dk2" accent1="accent1" accent2="accent2" accent3="accent3" accent4="accent4" accent5="accent5" accent6="accent6" hlink="hlink" folHlink="folHlink"/>
  <p:hf hdr="0" dt="0"/>
  <p:txStyles>
    <p:titleStyle>
      <a:lvl1pPr algn="ctr" defTabSz="457200" rtl="0" eaLnBrk="1" fontAlgn="base" hangingPunct="1">
        <a:spcBef>
          <a:spcPct val="0"/>
        </a:spcBef>
        <a:spcAft>
          <a:spcPct val="0"/>
        </a:spcAft>
        <a:defRPr kumimoji="1" sz="4400" kern="1200">
          <a:solidFill>
            <a:schemeClr val="tx1"/>
          </a:solidFill>
          <a:latin typeface="+mj-lt"/>
          <a:ea typeface="+mj-ea"/>
          <a:cs typeface="ＭＳ Ｐゴシック" charset="0"/>
        </a:defRPr>
      </a:lvl1pPr>
      <a:lvl2pPr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2pPr>
      <a:lvl3pPr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3pPr>
      <a:lvl4pPr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4pPr>
      <a:lvl5pPr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5pPr>
      <a:lvl6pPr marL="457200"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6pPr>
      <a:lvl7pPr marL="914400"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7pPr>
      <a:lvl8pPr marL="1371600"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8pPr>
      <a:lvl9pPr marL="1828800"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9pPr>
    </p:titleStyle>
    <p:bodyStyle>
      <a:lvl1pPr marL="342900" indent="-342900" algn="l" defTabSz="457200" rtl="0" eaLnBrk="1" fontAlgn="base" hangingPunct="1">
        <a:spcBef>
          <a:spcPct val="20000"/>
        </a:spcBef>
        <a:spcAft>
          <a:spcPct val="0"/>
        </a:spcAft>
        <a:buFont typeface="Arial" charset="0"/>
        <a:buChar char="•"/>
        <a:defRPr kumimoji="1" sz="3200" kern="1200">
          <a:solidFill>
            <a:schemeClr val="tx1"/>
          </a:solidFill>
          <a:latin typeface="+mn-lt"/>
          <a:ea typeface="+mn-ea"/>
          <a:cs typeface="ＭＳ Ｐゴシック" charset="0"/>
        </a:defRPr>
      </a:lvl1pPr>
      <a:lvl2pPr marL="742950" indent="-285750" algn="l" defTabSz="457200" rtl="0" eaLnBrk="1" fontAlgn="base" hangingPunct="1">
        <a:spcBef>
          <a:spcPct val="20000"/>
        </a:spcBef>
        <a:spcAft>
          <a:spcPct val="0"/>
        </a:spcAft>
        <a:buFont typeface="Arial" charset="0"/>
        <a:buChar char="–"/>
        <a:defRPr kumimoji="1" sz="2800" kern="1200">
          <a:solidFill>
            <a:schemeClr val="tx1"/>
          </a:solidFill>
          <a:latin typeface="+mn-lt"/>
          <a:ea typeface="+mn-ea"/>
          <a:cs typeface="+mn-cs"/>
        </a:defRPr>
      </a:lvl2pPr>
      <a:lvl3pPr marL="1143000" indent="-228600" algn="l" defTabSz="457200" rtl="0" eaLnBrk="1" fontAlgn="base" hangingPunct="1">
        <a:spcBef>
          <a:spcPct val="20000"/>
        </a:spcBef>
        <a:spcAft>
          <a:spcPct val="0"/>
        </a:spcAft>
        <a:buFont typeface="Arial" charset="0"/>
        <a:buChar char="•"/>
        <a:defRPr kumimoji="1" sz="2400" kern="1200">
          <a:solidFill>
            <a:schemeClr val="tx1"/>
          </a:solidFill>
          <a:latin typeface="+mn-lt"/>
          <a:ea typeface="+mn-ea"/>
          <a:cs typeface="+mn-cs"/>
        </a:defRPr>
      </a:lvl3pPr>
      <a:lvl4pPr marL="1600200" indent="-228600" algn="l" defTabSz="457200" rtl="0" eaLnBrk="1" fontAlgn="base" hangingPunct="1">
        <a:spcBef>
          <a:spcPct val="20000"/>
        </a:spcBef>
        <a:spcAft>
          <a:spcPct val="0"/>
        </a:spcAft>
        <a:buFont typeface="Arial" charset="0"/>
        <a:buChar char="–"/>
        <a:defRPr kumimoji="1" sz="2000" kern="1200">
          <a:solidFill>
            <a:schemeClr val="tx1"/>
          </a:solidFill>
          <a:latin typeface="+mn-lt"/>
          <a:ea typeface="+mn-ea"/>
          <a:cs typeface="+mn-cs"/>
        </a:defRPr>
      </a:lvl4pPr>
      <a:lvl5pPr marL="2057400" indent="-228600" algn="l" defTabSz="457200" rtl="0" eaLnBrk="1" fontAlgn="base" hangingPunct="1">
        <a:spcBef>
          <a:spcPct val="20000"/>
        </a:spcBef>
        <a:spcAft>
          <a:spcPct val="0"/>
        </a:spcAft>
        <a:buFont typeface="Arial" charset="0"/>
        <a:buChar char="»"/>
        <a:defRPr kumimoji="1"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9pPr>
    </p:bodyStyle>
    <p:otherStyle>
      <a:defPPr>
        <a:defRPr lang="ja-JP"/>
      </a:defPPr>
      <a:lvl1pPr marL="0" algn="l" defTabSz="457200" rtl="0" eaLnBrk="1" latinLnBrk="0" hangingPunct="1">
        <a:defRPr kumimoji="1" sz="1800" kern="1200">
          <a:solidFill>
            <a:schemeClr val="tx1"/>
          </a:solidFill>
          <a:latin typeface="+mn-lt"/>
          <a:ea typeface="+mn-ea"/>
          <a:cs typeface="+mn-cs"/>
        </a:defRPr>
      </a:lvl1pPr>
      <a:lvl2pPr marL="457200" algn="l" defTabSz="457200" rtl="0" eaLnBrk="1" latinLnBrk="0" hangingPunct="1">
        <a:defRPr kumimoji="1" sz="1800" kern="1200">
          <a:solidFill>
            <a:schemeClr val="tx1"/>
          </a:solidFill>
          <a:latin typeface="+mn-lt"/>
          <a:ea typeface="+mn-ea"/>
          <a:cs typeface="+mn-cs"/>
        </a:defRPr>
      </a:lvl2pPr>
      <a:lvl3pPr marL="914400" algn="l" defTabSz="457200" rtl="0" eaLnBrk="1" latinLnBrk="0" hangingPunct="1">
        <a:defRPr kumimoji="1" sz="1800" kern="1200">
          <a:solidFill>
            <a:schemeClr val="tx1"/>
          </a:solidFill>
          <a:latin typeface="+mn-lt"/>
          <a:ea typeface="+mn-ea"/>
          <a:cs typeface="+mn-cs"/>
        </a:defRPr>
      </a:lvl3pPr>
      <a:lvl4pPr marL="1371600" algn="l" defTabSz="457200" rtl="0" eaLnBrk="1" latinLnBrk="0" hangingPunct="1">
        <a:defRPr kumimoji="1" sz="1800" kern="1200">
          <a:solidFill>
            <a:schemeClr val="tx1"/>
          </a:solidFill>
          <a:latin typeface="+mn-lt"/>
          <a:ea typeface="+mn-ea"/>
          <a:cs typeface="+mn-cs"/>
        </a:defRPr>
      </a:lvl4pPr>
      <a:lvl5pPr marL="1828800" algn="l" defTabSz="457200" rtl="0" eaLnBrk="1" latinLnBrk="0" hangingPunct="1">
        <a:defRPr kumimoji="1" sz="1800" kern="1200">
          <a:solidFill>
            <a:schemeClr val="tx1"/>
          </a:solidFill>
          <a:latin typeface="+mn-lt"/>
          <a:ea typeface="+mn-ea"/>
          <a:cs typeface="+mn-cs"/>
        </a:defRPr>
      </a:lvl5pPr>
      <a:lvl6pPr marL="2286000" algn="l" defTabSz="457200" rtl="0" eaLnBrk="1" latinLnBrk="0" hangingPunct="1">
        <a:defRPr kumimoji="1" sz="1800" kern="1200">
          <a:solidFill>
            <a:schemeClr val="tx1"/>
          </a:solidFill>
          <a:latin typeface="+mn-lt"/>
          <a:ea typeface="+mn-ea"/>
          <a:cs typeface="+mn-cs"/>
        </a:defRPr>
      </a:lvl6pPr>
      <a:lvl7pPr marL="2743200" algn="l" defTabSz="457200" rtl="0" eaLnBrk="1" latinLnBrk="0" hangingPunct="1">
        <a:defRPr kumimoji="1" sz="1800" kern="1200">
          <a:solidFill>
            <a:schemeClr val="tx1"/>
          </a:solidFill>
          <a:latin typeface="+mn-lt"/>
          <a:ea typeface="+mn-ea"/>
          <a:cs typeface="+mn-cs"/>
        </a:defRPr>
      </a:lvl7pPr>
      <a:lvl8pPr marL="3200400" algn="l" defTabSz="457200" rtl="0" eaLnBrk="1" latinLnBrk="0" hangingPunct="1">
        <a:defRPr kumimoji="1" sz="1800" kern="1200">
          <a:solidFill>
            <a:schemeClr val="tx1"/>
          </a:solidFill>
          <a:latin typeface="+mn-lt"/>
          <a:ea typeface="+mn-ea"/>
          <a:cs typeface="+mn-cs"/>
        </a:defRPr>
      </a:lvl8pPr>
      <a:lvl9pPr marL="3657600" algn="l" defTabSz="4572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8.jpeg"/><Relationship Id="rId4" Type="http://schemas.openxmlformats.org/officeDocument/2006/relationships/image" Target="../media/image9.png"/><Relationship Id="rId5" Type="http://schemas.openxmlformats.org/officeDocument/2006/relationships/image" Target="../media/image10.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png"/><Relationship Id="rId6" Type="http://schemas.openxmlformats.org/officeDocument/2006/relationships/image" Target="../media/image15.png"/><Relationship Id="rId7" Type="http://schemas.openxmlformats.org/officeDocument/2006/relationships/image" Target="../media/image16.png"/><Relationship Id="rId8" Type="http://schemas.openxmlformats.org/officeDocument/2006/relationships/image" Target="../media/image17.jpe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9.png"/><Relationship Id="rId4" Type="http://schemas.openxmlformats.org/officeDocument/2006/relationships/image" Target="../media/image20.png"/><Relationship Id="rId5" Type="http://schemas.openxmlformats.org/officeDocument/2006/relationships/image" Target="../media/image2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21.png"/><Relationship Id="rId4" Type="http://schemas.openxmlformats.org/officeDocument/2006/relationships/image" Target="../media/image18.png"/><Relationship Id="rId5" Type="http://schemas.openxmlformats.org/officeDocument/2006/relationships/image" Target="../media/image1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2.jpeg"/><Relationship Id="rId3" Type="http://schemas.openxmlformats.org/officeDocument/2006/relationships/image" Target="../media/image23.jpeg"/><Relationship Id="rId4" Type="http://schemas.openxmlformats.org/officeDocument/2006/relationships/image" Target="../media/image24.jpeg"/><Relationship Id="rId5" Type="http://schemas.openxmlformats.org/officeDocument/2006/relationships/image" Target="../media/image25.jpeg"/><Relationship Id="rId6" Type="http://schemas.openxmlformats.org/officeDocument/2006/relationships/image" Target="../media/image26.jpeg"/><Relationship Id="rId7" Type="http://schemas.openxmlformats.org/officeDocument/2006/relationships/image" Target="../media/image27.jpe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8.jpeg"/><Relationship Id="rId3" Type="http://schemas.openxmlformats.org/officeDocument/2006/relationships/image" Target="../media/image29.jpeg"/><Relationship Id="rId4" Type="http://schemas.openxmlformats.org/officeDocument/2006/relationships/image" Target="../media/image30.png"/><Relationship Id="rId5" Type="http://schemas.openxmlformats.org/officeDocument/2006/relationships/image" Target="../media/image31.png"/><Relationship Id="rId6" Type="http://schemas.openxmlformats.org/officeDocument/2006/relationships/image" Target="../media/image32.png"/><Relationship Id="rId7" Type="http://schemas.openxmlformats.org/officeDocument/2006/relationships/image" Target="../media/image33.jpg"/><Relationship Id="rId8" Type="http://schemas.openxmlformats.org/officeDocument/2006/relationships/image" Target="../media/image34.jpeg"/><Relationship Id="rId9" Type="http://schemas.openxmlformats.org/officeDocument/2006/relationships/image" Target="../media/image35.png"/><Relationship Id="rId10" Type="http://schemas.openxmlformats.org/officeDocument/2006/relationships/image" Target="../media/image36.png"/><Relationship Id="rId11" Type="http://schemas.openxmlformats.org/officeDocument/2006/relationships/hyperlink" Target="https://youtube.com/shorts/0qI4QgrOppQ"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7.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 Id="rId3" Type="http://schemas.openxmlformats.org/officeDocument/2006/relationships/image" Target="../media/image3.emf"/><Relationship Id="rId4" Type="http://schemas.openxmlformats.org/officeDocument/2006/relationships/image" Target="../media/image38.jpeg"/><Relationship Id="rId5" Type="http://schemas.openxmlformats.org/officeDocument/2006/relationships/image" Target="../media/image39.jpeg"/><Relationship Id="rId6" Type="http://schemas.openxmlformats.org/officeDocument/2006/relationships/image" Target="../media/image40.jpeg"/><Relationship Id="rId7" Type="http://schemas.openxmlformats.org/officeDocument/2006/relationships/image" Target="../media/image41.jpeg"/><Relationship Id="rId8" Type="http://schemas.openxmlformats.org/officeDocument/2006/relationships/image" Target="../media/image42.jpe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正方形/長方形 1">
            <a:extLst>
              <a:ext uri="{FF2B5EF4-FFF2-40B4-BE49-F238E27FC236}">
                <a16:creationId xmlns:a16="http://schemas.microsoft.com/office/drawing/2014/main" id="{69A0322D-BA5F-9122-1E12-FB7AC2AF15A5}"/>
              </a:ext>
            </a:extLst>
          </p:cNvPr>
          <p:cNvSpPr/>
          <p:nvPr/>
        </p:nvSpPr>
        <p:spPr>
          <a:xfrm>
            <a:off x="1665887" y="3038203"/>
            <a:ext cx="6574236" cy="584775"/>
          </a:xfrm>
          <a:prstGeom prst="rect">
            <a:avLst/>
          </a:prstGeom>
        </p:spPr>
        <p:txBody>
          <a:bodyPr wrap="none">
            <a:spAutoFit/>
          </a:bodyPr>
          <a:lstStyle/>
          <a:p>
            <a:pPr algn="ctr"/>
            <a:r>
              <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LINE公式アカウント運用のご提案</a:t>
            </a:r>
          </a:p>
        </p:txBody>
      </p:sp>
      <p:sp>
        <p:nvSpPr>
          <p:cNvPr id="6" name="正方形/長方形 5">
            <a:extLst>
              <a:ext uri="{FF2B5EF4-FFF2-40B4-BE49-F238E27FC236}">
                <a16:creationId xmlns:a16="http://schemas.microsoft.com/office/drawing/2014/main" id="{3CC59398-53B4-E01E-A60C-6C13628FCBFB}"/>
              </a:ext>
            </a:extLst>
          </p:cNvPr>
          <p:cNvSpPr/>
          <p:nvPr/>
        </p:nvSpPr>
        <p:spPr>
          <a:xfrm>
            <a:off x="1613481" y="2729823"/>
            <a:ext cx="6626632" cy="338554"/>
          </a:xfrm>
          <a:prstGeom prst="rect">
            <a:avLst/>
          </a:prstGeom>
        </p:spPr>
        <p:txBody>
          <a:bodyPr wrap="square">
            <a:spAutoFit/>
          </a:bodyPr>
          <a:lstStyle/>
          <a:p>
            <a:pPr algn="ctr"/>
            <a:r>
              <a:rPr lang="ja-JP" altLang="en-US" sz="1600" dirty="0">
                <a:solidFill>
                  <a:schemeClr val="tx1">
                    <a:lumMod val="50000"/>
                    <a:lumOff val="50000"/>
                  </a:schemeClr>
                </a:solidFill>
                <a:latin typeface="メイリオ"/>
                <a:ea typeface="メイリオ"/>
              </a:rPr>
              <a:t>応募から勤務連絡、次回への再応募までをLINEでつなぐ</a:t>
            </a:r>
          </a:p>
        </p:txBody>
      </p:sp>
      <p:cxnSp>
        <p:nvCxnSpPr>
          <p:cNvPr id="5" name="直線コネクタ 4">
            <a:extLst>
              <a:ext uri="{FF2B5EF4-FFF2-40B4-BE49-F238E27FC236}">
                <a16:creationId xmlns:a16="http://schemas.microsoft.com/office/drawing/2014/main" id="{B532C1C8-7FE6-8830-B27C-27941421F5F9}"/>
              </a:ext>
            </a:extLst>
          </p:cNvPr>
          <p:cNvCxnSpPr>
            <a:cxnSpLocks/>
          </p:cNvCxnSpPr>
          <p:nvPr/>
        </p:nvCxnSpPr>
        <p:spPr>
          <a:xfrm>
            <a:off x="1337175" y="3705064"/>
            <a:ext cx="7231660" cy="0"/>
          </a:xfrm>
          <a:prstGeom prst="line">
            <a:avLst/>
          </a:prstGeom>
          <a:ln w="1905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pic>
        <p:nvPicPr>
          <p:cNvPr id="9" name="図 8" descr="背景パターン&#10;&#10;AI 生成コンテンツは誤りを含む可能性があります。">
            <a:extLst>
              <a:ext uri="{FF2B5EF4-FFF2-40B4-BE49-F238E27FC236}">
                <a16:creationId xmlns:a16="http://schemas.microsoft.com/office/drawing/2014/main" id="{FFE022E1-8FF6-B4B4-B955-17E7CFA96460}"/>
              </a:ext>
            </a:extLst>
          </p:cNvPr>
          <p:cNvPicPr>
            <a:picLocks noChangeAspect="1"/>
          </p:cNvPicPr>
          <p:nvPr/>
        </p:nvPicPr>
        <p:blipFill>
          <a:blip r:embed="rId2"/>
          <a:stretch>
            <a:fillRect/>
          </a:stretch>
        </p:blipFill>
        <p:spPr>
          <a:xfrm>
            <a:off x="-1" y="0"/>
            <a:ext cx="8159931" cy="766354"/>
          </a:xfrm>
          <a:prstGeom prst="rect">
            <a:avLst/>
          </a:prstGeom>
        </p:spPr>
      </p:pic>
      <p:pic>
        <p:nvPicPr>
          <p:cNvPr id="10" name="図 9" descr="背景パターン&#10;&#10;AI 生成コンテンツは誤りを含む可能性があります。">
            <a:extLst>
              <a:ext uri="{FF2B5EF4-FFF2-40B4-BE49-F238E27FC236}">
                <a16:creationId xmlns:a16="http://schemas.microsoft.com/office/drawing/2014/main" id="{0F2999B3-5873-C495-70F5-12487911C618}"/>
              </a:ext>
            </a:extLst>
          </p:cNvPr>
          <p:cNvPicPr>
            <a:picLocks noChangeAspect="1"/>
          </p:cNvPicPr>
          <p:nvPr/>
        </p:nvPicPr>
        <p:blipFill>
          <a:blip r:embed="rId2"/>
          <a:stretch>
            <a:fillRect/>
          </a:stretch>
        </p:blipFill>
        <p:spPr>
          <a:xfrm>
            <a:off x="7863840" y="494114"/>
            <a:ext cx="2042161" cy="272239"/>
          </a:xfrm>
          <a:prstGeom prst="rect">
            <a:avLst/>
          </a:prstGeom>
        </p:spPr>
      </p:pic>
      <p:sp>
        <p:nvSpPr>
          <p:cNvPr id="11" name="Rectangle 10"/>
          <p:cNvSpPr/>
          <p:nvPr/>
        </p:nvSpPr>
        <p:spPr>
          <a:xfrm>
            <a:off x="292608" y="265176"/>
            <a:ext cx="4965192" cy="338328"/>
          </a:xfrm>
          <a:prstGeom prst="rect">
            <a:avLst/>
          </a:prstGeom>
          <a:noFill/>
          <a:ln>
            <a:noFill/>
          </a:ln>
        </p:spPr>
        <p:txBody>
          <a:bodyPr wrap="square" lIns="45720" tIns="0" rIns="45720" bIns="0" rtlCol="0" anchor="ctr">
            <a:noAutofit/>
          </a:bodyPr>
          <a:lstStyle/>
          <a:p>
            <a:pPr algn="l">
              <a:buNone/>
            </a:pPr>
            <a:r>
              <a:rPr lang="ja-JP" altLang="en-US" sz="1600" b="1" dirty="0">
                <a:solidFill>
                  <a:srgbClr val="595959"/>
                </a:solidFill>
                <a:latin typeface="メイリオ" panose="020B0604030504040204" pitchFamily="50" charset="-128"/>
                <a:ea typeface="メイリオ" panose="020B0604030504040204" pitchFamily="50" charset="-128"/>
              </a:rPr>
              <a:t>株式会社横浜シミズ 御中</a:t>
            </a:r>
            <a:endParaRPr lang="ja-JP" altLang="en-US" sz="1600" dirty="0"/>
          </a:p>
        </p:txBody>
      </p:sp>
      <p:sp>
        <p:nvSpPr>
          <p:cNvPr id="12" name="Rectangle 11"/>
          <p:cNvSpPr/>
          <p:nvPr/>
        </p:nvSpPr>
        <p:spPr>
          <a:xfrm>
            <a:off x="1335024" y="3931920"/>
            <a:ext cx="7232904" cy="365760"/>
          </a:xfrm>
          <a:prstGeom prst="rect">
            <a:avLst/>
          </a:prstGeom>
          <a:noFill/>
          <a:ln>
            <a:noFill/>
          </a:ln>
        </p:spPr>
        <p:txBody>
          <a:bodyPr wrap="square" lIns="0" tIns="0" rIns="0" bIns="0" rtlCol="0" anchor="ctr">
            <a:noAutofit/>
          </a:bodyPr>
          <a:lstStyle/>
          <a:p>
            <a:pPr algn="ctr">
              <a:buNone/>
            </a:pPr>
            <a:r>
              <a:rPr lang="ja-JP" altLang="en-US" sz="1200" b="0" dirty="0">
                <a:solidFill>
                  <a:srgbClr val="595959"/>
                </a:solidFill>
                <a:latin typeface="メイリオ" panose="020B0604030504040204" pitchFamily="50" charset="-128"/>
                <a:ea typeface="メイリオ" panose="020B0604030504040204" pitchFamily="50" charset="-128"/>
              </a:rPr>
              <a:t>2026年10月　株式会社DYM</a:t>
            </a:r>
            <a:endParaRPr lang="ja-JP" altLang="en-US" sz="1200" dirty="0"/>
          </a:p>
        </p:txBody>
      </p:sp>
    </p:spTree>
    <p:extLst>
      <p:ext uri="{BB962C8B-B14F-4D97-AF65-F5344CB8AC3E}">
        <p14:creationId xmlns:p14="http://schemas.microsoft.com/office/powerpoint/2010/main" val="394459803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8E14BD-61D8-2EDF-00C5-CC99878DCBE4}"/>
            </a:ext>
          </a:extLst>
        </p:cNvPr>
        <p:cNvGrpSpPr/>
        <p:nvPr/>
      </p:nvGrpSpPr>
      <p:grpSpPr>
        <a:xfrm>
          <a:off x="0" y="0"/>
          <a:ext cx="0" cy="0"/>
          <a:chOff x="0" y="0"/>
          <a:chExt cx="0" cy="0"/>
        </a:xfrm>
      </p:grpSpPr>
      <p:cxnSp>
        <p:nvCxnSpPr>
          <p:cNvPr id="23" name="直線コネクタ 4"/>
          <p:cNvCxnSpPr/>
          <p:nvPr/>
        </p:nvCxnSpPr>
        <p:spPr>
          <a:xfrm>
            <a:off x="0" y="548640"/>
            <a:ext cx="9906120" cy="360"/>
          </a:xfrm>
          <a:prstGeom prst="straightConnector1">
            <a:avLst/>
          </a:prstGeom>
          <a:ln>
            <a:solidFill>
              <a:srgbClr val="191F54"/>
            </a:solidFill>
            <a:round/>
          </a:ln>
        </p:spPr>
      </p:cxnSp>
      <p:sp>
        <p:nvSpPr>
          <p:cNvPr id="24" name="正方形/長方形 6"/>
          <p:cNvSpPr/>
          <p:nvPr/>
        </p:nvSpPr>
        <p:spPr>
          <a:xfrm>
            <a:off x="0" y="0"/>
            <a:ext cx="450720" cy="548280"/>
          </a:xfrm>
          <a:prstGeom prst="rect">
            <a:avLst/>
          </a:prstGeom>
          <a:solidFill>
            <a:srgbClr val="191F54"/>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rgbClr val="FFFFFF"/>
              </a:solidFill>
              <a:effectLst/>
              <a:uFillTx/>
              <a:latin typeface="Calibri"/>
            </a:endParaRPr>
          </a:p>
        </p:txBody>
      </p:sp>
      <p:sp>
        <p:nvSpPr>
          <p:cNvPr id="22" name="Google Shape;752;p28">
            <a:extLst>
              <a:ext uri="{FF2B5EF4-FFF2-40B4-BE49-F238E27FC236}">
                <a16:creationId xmlns:a16="http://schemas.microsoft.com/office/drawing/2014/main" id="{D26128CF-BCED-5375-A761-44A2026897C7}"/>
              </a:ext>
            </a:extLst>
          </p:cNvPr>
          <p:cNvSpPr txBox="1"/>
          <p:nvPr/>
        </p:nvSpPr>
        <p:spPr>
          <a:xfrm>
            <a:off x="549000" y="138240"/>
            <a:ext cx="6276325" cy="338040"/>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弊社紹介</a:t>
            </a:r>
          </a:p>
        </p:txBody>
      </p:sp>
      <p:pic>
        <p:nvPicPr>
          <p:cNvPr id="2" name="図 1">
            <a:extLst>
              <a:ext uri="{FF2B5EF4-FFF2-40B4-BE49-F238E27FC236}">
                <a16:creationId xmlns:a16="http://schemas.microsoft.com/office/drawing/2014/main" id="{EE2AAF13-DB10-C453-237D-21D704CF1C48}"/>
              </a:ext>
            </a:extLst>
          </p:cNvPr>
          <p:cNvPicPr>
            <a:picLocks noChangeAspect="1"/>
          </p:cNvPicPr>
          <p:nvPr/>
        </p:nvPicPr>
        <p:blipFill>
          <a:blip r:embed="rId2"/>
          <a:stretch>
            <a:fillRect/>
          </a:stretch>
        </p:blipFill>
        <p:spPr>
          <a:xfrm>
            <a:off x="97593" y="604446"/>
            <a:ext cx="9710814" cy="5910368"/>
          </a:xfrm>
          <a:prstGeom prst="rect">
            <a:avLst/>
          </a:prstGeom>
        </p:spPr>
      </p:pic>
    </p:spTree>
    <p:extLst>
      <p:ext uri="{BB962C8B-B14F-4D97-AF65-F5344CB8AC3E}">
        <p14:creationId xmlns:p14="http://schemas.microsoft.com/office/powerpoint/2010/main" val="240437132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82B273-7697-D76C-B709-A46B064F5735}"/>
            </a:ext>
          </a:extLst>
        </p:cNvPr>
        <p:cNvGrpSpPr/>
        <p:nvPr/>
      </p:nvGrpSpPr>
      <p:grpSpPr>
        <a:xfrm>
          <a:off x="0" y="0"/>
          <a:ext cx="0" cy="0"/>
          <a:chOff x="0" y="0"/>
          <a:chExt cx="0" cy="0"/>
        </a:xfrm>
      </p:grpSpPr>
      <p:cxnSp>
        <p:nvCxnSpPr>
          <p:cNvPr id="23" name="直線コネクタ 4"/>
          <p:cNvCxnSpPr/>
          <p:nvPr/>
        </p:nvCxnSpPr>
        <p:spPr>
          <a:xfrm>
            <a:off x="0" y="548640"/>
            <a:ext cx="9906120" cy="360"/>
          </a:xfrm>
          <a:prstGeom prst="straightConnector1">
            <a:avLst/>
          </a:prstGeom>
          <a:ln>
            <a:solidFill>
              <a:srgbClr val="191F54"/>
            </a:solidFill>
            <a:round/>
          </a:ln>
        </p:spPr>
      </p:cxnSp>
      <p:sp>
        <p:nvSpPr>
          <p:cNvPr id="24" name="正方形/長方形 6"/>
          <p:cNvSpPr/>
          <p:nvPr/>
        </p:nvSpPr>
        <p:spPr>
          <a:xfrm>
            <a:off x="0" y="0"/>
            <a:ext cx="450720" cy="548280"/>
          </a:xfrm>
          <a:prstGeom prst="rect">
            <a:avLst/>
          </a:prstGeom>
          <a:solidFill>
            <a:srgbClr val="191F54"/>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rgbClr val="FFFFFF"/>
              </a:solidFill>
              <a:effectLst/>
              <a:uFillTx/>
              <a:latin typeface="Calibri"/>
            </a:endParaRPr>
          </a:p>
        </p:txBody>
      </p:sp>
      <p:sp>
        <p:nvSpPr>
          <p:cNvPr id="22" name="Google Shape;752;p28">
            <a:extLst>
              <a:ext uri="{FF2B5EF4-FFF2-40B4-BE49-F238E27FC236}">
                <a16:creationId xmlns:a16="http://schemas.microsoft.com/office/drawing/2014/main" id="{E0553DA5-5DE0-BD33-70D4-FC02F33113D3}"/>
              </a:ext>
            </a:extLst>
          </p:cNvPr>
          <p:cNvSpPr txBox="1"/>
          <p:nvPr/>
        </p:nvSpPr>
        <p:spPr>
          <a:xfrm>
            <a:off x="549000" y="138240"/>
            <a:ext cx="6276325" cy="338040"/>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弊社紹介</a:t>
            </a:r>
          </a:p>
        </p:txBody>
      </p:sp>
      <p:pic>
        <p:nvPicPr>
          <p:cNvPr id="6" name="図 5">
            <a:extLst>
              <a:ext uri="{FF2B5EF4-FFF2-40B4-BE49-F238E27FC236}">
                <a16:creationId xmlns:a16="http://schemas.microsoft.com/office/drawing/2014/main" id="{CFA9FEA4-17EA-590D-125E-FAC8C6AD3583}"/>
              </a:ext>
            </a:extLst>
          </p:cNvPr>
          <p:cNvPicPr>
            <a:picLocks noChangeAspect="1"/>
          </p:cNvPicPr>
          <p:nvPr/>
        </p:nvPicPr>
        <p:blipFill>
          <a:blip r:embed="rId2"/>
          <a:srcRect b="947"/>
          <a:stretch>
            <a:fillRect/>
          </a:stretch>
        </p:blipFill>
        <p:spPr>
          <a:xfrm>
            <a:off x="10340" y="821330"/>
            <a:ext cx="9885321" cy="5476601"/>
          </a:xfrm>
          <a:prstGeom prst="rect">
            <a:avLst/>
          </a:prstGeom>
        </p:spPr>
      </p:pic>
    </p:spTree>
    <p:extLst>
      <p:ext uri="{BB962C8B-B14F-4D97-AF65-F5344CB8AC3E}">
        <p14:creationId xmlns:p14="http://schemas.microsoft.com/office/powerpoint/2010/main" val="130297881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89E1EF-F184-F7BC-2DF2-9E9641908D82}"/>
            </a:ext>
          </a:extLst>
        </p:cNvPr>
        <p:cNvGrpSpPr/>
        <p:nvPr/>
      </p:nvGrpSpPr>
      <p:grpSpPr>
        <a:xfrm>
          <a:off x="0" y="0"/>
          <a:ext cx="0" cy="0"/>
          <a:chOff x="0" y="0"/>
          <a:chExt cx="0" cy="0"/>
        </a:xfrm>
      </p:grpSpPr>
      <p:cxnSp>
        <p:nvCxnSpPr>
          <p:cNvPr id="2112" name="直線コネクタ 4"/>
          <p:cNvCxnSpPr/>
          <p:nvPr/>
        </p:nvCxnSpPr>
        <p:spPr>
          <a:xfrm>
            <a:off x="0" y="548640"/>
            <a:ext cx="9906120" cy="360"/>
          </a:xfrm>
          <a:prstGeom prst="straightConnector1">
            <a:avLst/>
          </a:prstGeom>
          <a:ln>
            <a:solidFill>
              <a:srgbClr val="191F54"/>
            </a:solidFill>
            <a:round/>
          </a:ln>
        </p:spPr>
      </p:cxnSp>
      <p:sp>
        <p:nvSpPr>
          <p:cNvPr id="2113" name="正方形/長方形 6"/>
          <p:cNvSpPr/>
          <p:nvPr/>
        </p:nvSpPr>
        <p:spPr>
          <a:xfrm>
            <a:off x="0" y="0"/>
            <a:ext cx="450720" cy="548280"/>
          </a:xfrm>
          <a:prstGeom prst="rect">
            <a:avLst/>
          </a:prstGeom>
          <a:solidFill>
            <a:srgbClr val="191F54"/>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rgbClr val="FFFFFF"/>
              </a:solidFill>
              <a:effectLst/>
              <a:uFillTx/>
              <a:latin typeface="Calibri"/>
            </a:endParaRPr>
          </a:p>
        </p:txBody>
      </p:sp>
      <p:pic>
        <p:nvPicPr>
          <p:cNvPr id="58" name="図 57" descr="文字と写真のスクリーンショット&#10;&#10;AI 生成コンテンツは誤りを含む可能性があります。">
            <a:extLst>
              <a:ext uri="{FF2B5EF4-FFF2-40B4-BE49-F238E27FC236}">
                <a16:creationId xmlns:a16="http://schemas.microsoft.com/office/drawing/2014/main" id="{BC098C34-07FA-B015-C970-B8433D9E8BE3}"/>
              </a:ext>
            </a:extLst>
          </p:cNvPr>
          <p:cNvPicPr>
            <a:picLocks noChangeAspect="1"/>
          </p:cNvPicPr>
          <p:nvPr/>
        </p:nvPicPr>
        <p:blipFill>
          <a:blip r:embed="rId2" cstate="print">
            <a:extLst>
              <a:ext uri="{28A0092B-C50C-407E-A947-70E740481C1C}">
                <a14:useLocalDpi xmlns:a14="http://schemas.microsoft.com/office/drawing/2010/main" val="0"/>
              </a:ext>
            </a:extLst>
          </a:blip>
          <a:srcRect l="33846" t="3967" r="34188" b="52442"/>
          <a:stretch>
            <a:fillRect/>
          </a:stretch>
        </p:blipFill>
        <p:spPr>
          <a:xfrm>
            <a:off x="489022" y="5068469"/>
            <a:ext cx="2046003" cy="1464812"/>
          </a:xfrm>
          <a:prstGeom prst="rect">
            <a:avLst/>
          </a:prstGeom>
        </p:spPr>
      </p:pic>
      <p:sp>
        <p:nvSpPr>
          <p:cNvPr id="33" name="正方形/長方形 32">
            <a:extLst>
              <a:ext uri="{FF2B5EF4-FFF2-40B4-BE49-F238E27FC236}">
                <a16:creationId xmlns:a16="http://schemas.microsoft.com/office/drawing/2014/main" id="{1E52F929-5FD7-9413-24A8-2725B04E4908}"/>
              </a:ext>
            </a:extLst>
          </p:cNvPr>
          <p:cNvSpPr/>
          <p:nvPr/>
        </p:nvSpPr>
        <p:spPr>
          <a:xfrm>
            <a:off x="388723" y="1082314"/>
            <a:ext cx="9129600" cy="1005648"/>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1200" dirty="0">
                <a:solidFill>
                  <a:srgbClr val="000000">
                    <a:lumMod val="95000"/>
                    <a:lumOff val="5000"/>
                  </a:srgbClr>
                </a:solidFill>
                <a:latin typeface="メイリオ" panose="020B0604030504040204" pitchFamily="50" charset="-128"/>
                <a:ea typeface="メイリオ" panose="020B0604030504040204" pitchFamily="50" charset="-128"/>
              </a:rPr>
              <a:t>2025</a:t>
            </a:r>
            <a:r>
              <a:rPr lang="ja-JP" altLang="en-US" sz="1200" dirty="0">
                <a:solidFill>
                  <a:srgbClr val="000000">
                    <a:lumMod val="95000"/>
                    <a:lumOff val="5000"/>
                  </a:srgbClr>
                </a:solidFill>
                <a:latin typeface="メイリオ" panose="020B0604030504040204" pitchFamily="50" charset="-128"/>
                <a:ea typeface="メイリオ" panose="020B0604030504040204" pitchFamily="50" charset="-128"/>
              </a:rPr>
              <a:t>年</a:t>
            </a:r>
            <a:r>
              <a:rPr lang="en-US" altLang="ja-JP" sz="1200" dirty="0">
                <a:solidFill>
                  <a:srgbClr val="000000">
                    <a:lumMod val="95000"/>
                    <a:lumOff val="5000"/>
                  </a:srgbClr>
                </a:solidFill>
                <a:latin typeface="メイリオ" panose="020B0604030504040204" pitchFamily="50" charset="-128"/>
                <a:ea typeface="メイリオ" panose="020B0604030504040204" pitchFamily="50" charset="-128"/>
              </a:rPr>
              <a:t>11</a:t>
            </a:r>
            <a:r>
              <a:rPr lang="ja-JP" altLang="en-US" sz="1200" dirty="0">
                <a:solidFill>
                  <a:srgbClr val="000000">
                    <a:lumMod val="95000"/>
                    <a:lumOff val="5000"/>
                  </a:srgbClr>
                </a:solidFill>
                <a:latin typeface="メイリオ" panose="020B0604030504040204" pitchFamily="50" charset="-128"/>
                <a:ea typeface="メイリオ" panose="020B0604030504040204" pitchFamily="50" charset="-128"/>
              </a:rPr>
              <a:t>月、株式会社</a:t>
            </a:r>
            <a:r>
              <a:rPr lang="en-US" altLang="ja-JP" sz="1200" dirty="0">
                <a:solidFill>
                  <a:srgbClr val="000000">
                    <a:lumMod val="95000"/>
                    <a:lumOff val="5000"/>
                  </a:srgbClr>
                </a:solidFill>
                <a:latin typeface="メイリオ" panose="020B0604030504040204" pitchFamily="50" charset="-128"/>
                <a:ea typeface="メイリオ" panose="020B0604030504040204" pitchFamily="50" charset="-128"/>
              </a:rPr>
              <a:t>LINE</a:t>
            </a:r>
            <a:r>
              <a:rPr lang="ja-JP" altLang="en-US" sz="1200" dirty="0">
                <a:solidFill>
                  <a:srgbClr val="000000">
                    <a:lumMod val="95000"/>
                    <a:lumOff val="5000"/>
                  </a:srgbClr>
                </a:solidFill>
                <a:latin typeface="メイリオ" panose="020B0604030504040204" pitchFamily="50" charset="-128"/>
                <a:ea typeface="メイリオ" panose="020B0604030504040204" pitchFamily="50" charset="-128"/>
              </a:rPr>
              <a:t>ヤフー社が主催する </a:t>
            </a:r>
            <a:r>
              <a:rPr lang="en-US" altLang="ja-JP" sz="1200" dirty="0">
                <a:solidFill>
                  <a:srgbClr val="000000">
                    <a:lumMod val="95000"/>
                    <a:lumOff val="5000"/>
                  </a:srgbClr>
                </a:solidFill>
                <a:latin typeface="メイリオ" panose="020B0604030504040204" pitchFamily="50" charset="-128"/>
                <a:ea typeface="メイリオ" panose="020B0604030504040204" pitchFamily="50" charset="-128"/>
              </a:rPr>
              <a:t>”LINE</a:t>
            </a:r>
            <a:r>
              <a:rPr lang="ja-JP" altLang="en-US" sz="1200" dirty="0">
                <a:solidFill>
                  <a:srgbClr val="000000">
                    <a:lumMod val="95000"/>
                    <a:lumOff val="5000"/>
                  </a:srgbClr>
                </a:solidFill>
                <a:latin typeface="メイリオ" panose="020B0604030504040204" pitchFamily="50" charset="-128"/>
                <a:ea typeface="メイリオ" panose="020B0604030504040204" pitchFamily="50" charset="-128"/>
              </a:rPr>
              <a:t>ヤフー </a:t>
            </a:r>
            <a:r>
              <a:rPr lang="en-US" altLang="ja-JP" sz="1200" dirty="0">
                <a:solidFill>
                  <a:srgbClr val="000000">
                    <a:lumMod val="95000"/>
                    <a:lumOff val="5000"/>
                  </a:srgbClr>
                </a:solidFill>
                <a:latin typeface="メイリオ" panose="020B0604030504040204" pitchFamily="50" charset="-128"/>
                <a:ea typeface="メイリオ" panose="020B0604030504040204" pitchFamily="50" charset="-128"/>
              </a:rPr>
              <a:t>Partner Award 2025” </a:t>
            </a:r>
            <a:r>
              <a:rPr lang="ja-JP" altLang="en-US" sz="1200" dirty="0">
                <a:solidFill>
                  <a:srgbClr val="000000">
                    <a:lumMod val="95000"/>
                    <a:lumOff val="5000"/>
                  </a:srgbClr>
                </a:solidFill>
                <a:latin typeface="メイリオ" panose="020B0604030504040204" pitchFamily="50" charset="-128"/>
                <a:ea typeface="メイリオ" panose="020B0604030504040204" pitchFamily="50" charset="-128"/>
              </a:rPr>
              <a:t>に株式会社</a:t>
            </a:r>
            <a:r>
              <a:rPr lang="en-US" altLang="ja-JP" sz="1200" dirty="0">
                <a:solidFill>
                  <a:srgbClr val="000000">
                    <a:lumMod val="95000"/>
                    <a:lumOff val="5000"/>
                  </a:srgbClr>
                </a:solidFill>
                <a:latin typeface="メイリオ" panose="020B0604030504040204" pitchFamily="50" charset="-128"/>
                <a:ea typeface="メイリオ" panose="020B0604030504040204" pitchFamily="50" charset="-128"/>
              </a:rPr>
              <a:t>DYM</a:t>
            </a:r>
            <a:r>
              <a:rPr lang="ja-JP" altLang="en-US" sz="1200" dirty="0">
                <a:solidFill>
                  <a:srgbClr val="000000">
                    <a:lumMod val="95000"/>
                    <a:lumOff val="5000"/>
                  </a:srgbClr>
                </a:solidFill>
                <a:latin typeface="メイリオ" panose="020B0604030504040204" pitchFamily="50" charset="-128"/>
                <a:ea typeface="メイリオ" panose="020B0604030504040204" pitchFamily="50" charset="-128"/>
              </a:rPr>
              <a:t>が参加。</a:t>
            </a:r>
            <a:br>
              <a:rPr lang="en-US" altLang="ja-JP" sz="1200" dirty="0">
                <a:solidFill>
                  <a:srgbClr val="000000">
                    <a:lumMod val="95000"/>
                    <a:lumOff val="5000"/>
                  </a:srgbClr>
                </a:solidFill>
                <a:latin typeface="メイリオ" panose="020B0604030504040204" pitchFamily="50" charset="-128"/>
                <a:ea typeface="メイリオ" panose="020B0604030504040204" pitchFamily="50" charset="-128"/>
              </a:rPr>
            </a:br>
            <a:r>
              <a:rPr lang="ja-JP" altLang="en-US" sz="1200" dirty="0">
                <a:solidFill>
                  <a:srgbClr val="000000">
                    <a:lumMod val="95000"/>
                    <a:lumOff val="5000"/>
                  </a:srgbClr>
                </a:solidFill>
                <a:latin typeface="メイリオ" panose="020B0604030504040204" pitchFamily="50" charset="-128"/>
                <a:ea typeface="メイリオ" panose="020B0604030504040204" pitchFamily="50" charset="-128"/>
              </a:rPr>
              <a:t>弊社は</a:t>
            </a:r>
            <a:r>
              <a:rPr lang="en-US" altLang="ja-JP" sz="1200" dirty="0">
                <a:solidFill>
                  <a:srgbClr val="000000">
                    <a:lumMod val="95000"/>
                    <a:lumOff val="5000"/>
                  </a:srgbClr>
                </a:solidFill>
                <a:latin typeface="メイリオ" panose="020B0604030504040204" pitchFamily="50" charset="-128"/>
                <a:ea typeface="メイリオ" panose="020B0604030504040204" pitchFamily="50" charset="-128"/>
              </a:rPr>
              <a:t>LINE</a:t>
            </a:r>
            <a:r>
              <a:rPr lang="ja-JP" altLang="en-US" sz="1200" dirty="0">
                <a:solidFill>
                  <a:srgbClr val="000000">
                    <a:lumMod val="95000"/>
                    <a:lumOff val="5000"/>
                  </a:srgbClr>
                </a:solidFill>
                <a:latin typeface="メイリオ" panose="020B0604030504040204" pitchFamily="50" charset="-128"/>
                <a:ea typeface="メイリオ" panose="020B0604030504040204" pitchFamily="50" charset="-128"/>
              </a:rPr>
              <a:t>公式アカウントによるビジネス拡大に最も貢献したとして、</a:t>
            </a:r>
            <a:r>
              <a:rPr lang="ja-JP" altLang="en-US" sz="1200" b="1" dirty="0">
                <a:solidFill>
                  <a:srgbClr val="C00000"/>
                </a:solidFill>
                <a:latin typeface="メイリオ" panose="020B0604030504040204" pitchFamily="50" charset="-128"/>
                <a:ea typeface="メイリオ" panose="020B0604030504040204" pitchFamily="50" charset="-128"/>
              </a:rPr>
              <a:t>「</a:t>
            </a:r>
            <a:r>
              <a:rPr lang="en-US" altLang="ja-JP" sz="1200" b="1" dirty="0">
                <a:solidFill>
                  <a:srgbClr val="C00000"/>
                </a:solidFill>
                <a:latin typeface="メイリオ" panose="020B0604030504040204" pitchFamily="50" charset="-128"/>
                <a:ea typeface="メイリオ" panose="020B0604030504040204" pitchFamily="50" charset="-128"/>
              </a:rPr>
              <a:t>Best LINE</a:t>
            </a:r>
            <a:r>
              <a:rPr lang="ja-JP" altLang="en-US" sz="1200" b="1" dirty="0">
                <a:solidFill>
                  <a:srgbClr val="C00000"/>
                </a:solidFill>
                <a:latin typeface="メイリオ" panose="020B0604030504040204" pitchFamily="50" charset="-128"/>
                <a:ea typeface="メイリオ" panose="020B0604030504040204" pitchFamily="50" charset="-128"/>
              </a:rPr>
              <a:t>公式アカウント </a:t>
            </a:r>
            <a:r>
              <a:rPr lang="en-US" altLang="ja-JP" sz="1200" b="1" dirty="0">
                <a:solidFill>
                  <a:srgbClr val="C00000"/>
                </a:solidFill>
                <a:latin typeface="メイリオ" panose="020B0604030504040204" pitchFamily="50" charset="-128"/>
                <a:ea typeface="メイリオ" panose="020B0604030504040204" pitchFamily="50" charset="-128"/>
              </a:rPr>
              <a:t>Growth</a:t>
            </a:r>
            <a:r>
              <a:rPr lang="en-US" altLang="ja-JP" sz="700" b="1" dirty="0">
                <a:solidFill>
                  <a:srgbClr val="C00000"/>
                </a:solidFill>
                <a:latin typeface="メイリオ" panose="020B0604030504040204" pitchFamily="50" charset="-128"/>
                <a:ea typeface="メイリオ" panose="020B0604030504040204" pitchFamily="50" charset="-128"/>
              </a:rPr>
              <a:t>※</a:t>
            </a:r>
            <a:r>
              <a:rPr lang="ja-JP" altLang="en-US" sz="1200" b="1" dirty="0">
                <a:solidFill>
                  <a:srgbClr val="C00000"/>
                </a:solidFill>
                <a:latin typeface="メイリオ" panose="020B0604030504040204" pitchFamily="50" charset="-128"/>
                <a:ea typeface="メイリオ" panose="020B0604030504040204" pitchFamily="50" charset="-128"/>
              </a:rPr>
              <a:t>」</a:t>
            </a:r>
            <a:r>
              <a:rPr lang="ja-JP" altLang="en-US" sz="1200" dirty="0">
                <a:solidFill>
                  <a:srgbClr val="000000">
                    <a:lumMod val="95000"/>
                    <a:lumOff val="5000"/>
                  </a:srgbClr>
                </a:solidFill>
                <a:latin typeface="メイリオ" panose="020B0604030504040204" pitchFamily="50" charset="-128"/>
                <a:ea typeface="メイリオ" panose="020B0604030504040204" pitchFamily="50" charset="-128"/>
              </a:rPr>
              <a:t>を受賞。</a:t>
            </a:r>
            <a:br>
              <a:rPr lang="en-US" altLang="ja-JP" sz="1200" dirty="0">
                <a:solidFill>
                  <a:srgbClr val="000000">
                    <a:lumMod val="95000"/>
                    <a:lumOff val="5000"/>
                  </a:srgbClr>
                </a:solidFill>
                <a:latin typeface="メイリオ" panose="020B0604030504040204" pitchFamily="50" charset="-128"/>
                <a:ea typeface="メイリオ" panose="020B0604030504040204" pitchFamily="50" charset="-128"/>
              </a:rPr>
            </a:br>
            <a:r>
              <a:rPr lang="en-US" altLang="ja-JP" sz="1200" dirty="0">
                <a:solidFill>
                  <a:srgbClr val="000000">
                    <a:lumMod val="95000"/>
                    <a:lumOff val="5000"/>
                  </a:srgbClr>
                </a:solidFill>
                <a:latin typeface="メイリオ" panose="020B0604030504040204" pitchFamily="50" charset="-128"/>
                <a:ea typeface="メイリオ" panose="020B0604030504040204" pitchFamily="50" charset="-128"/>
              </a:rPr>
              <a:t>2026</a:t>
            </a:r>
            <a:r>
              <a:rPr lang="ja-JP" altLang="en-US" sz="1200" dirty="0">
                <a:solidFill>
                  <a:srgbClr val="000000">
                    <a:lumMod val="95000"/>
                    <a:lumOff val="5000"/>
                  </a:srgbClr>
                </a:solidFill>
                <a:latin typeface="メイリオ" panose="020B0604030504040204" pitchFamily="50" charset="-128"/>
                <a:ea typeface="メイリオ" panose="020B0604030504040204" pitchFamily="50" charset="-128"/>
              </a:rPr>
              <a:t>年現在、</a:t>
            </a:r>
            <a:r>
              <a:rPr lang="en-US" altLang="ja-JP" sz="1200" dirty="0">
                <a:solidFill>
                  <a:srgbClr val="000000">
                    <a:lumMod val="95000"/>
                    <a:lumOff val="5000"/>
                  </a:srgbClr>
                </a:solidFill>
                <a:latin typeface="メイリオ" panose="020B0604030504040204" pitchFamily="50" charset="-128"/>
                <a:ea typeface="メイリオ" panose="020B0604030504040204" pitchFamily="50" charset="-128"/>
              </a:rPr>
              <a:t>LINE</a:t>
            </a:r>
            <a:r>
              <a:rPr lang="ja-JP" altLang="en-US" sz="1200" dirty="0">
                <a:solidFill>
                  <a:srgbClr val="000000">
                    <a:lumMod val="95000"/>
                    <a:lumOff val="5000"/>
                  </a:srgbClr>
                </a:solidFill>
                <a:latin typeface="メイリオ" panose="020B0604030504040204" pitchFamily="50" charset="-128"/>
                <a:ea typeface="メイリオ" panose="020B0604030504040204" pitchFamily="50" charset="-128"/>
              </a:rPr>
              <a:t>公式アカウントの</a:t>
            </a:r>
            <a:r>
              <a:rPr lang="ja-JP" altLang="en-US" sz="1200" b="1" dirty="0">
                <a:solidFill>
                  <a:srgbClr val="000000">
                    <a:lumMod val="95000"/>
                    <a:lumOff val="5000"/>
                  </a:srgbClr>
                </a:solidFill>
                <a:latin typeface="メイリオ" panose="020B0604030504040204" pitchFamily="50" charset="-128"/>
                <a:ea typeface="メイリオ" panose="020B0604030504040204" pitchFamily="50" charset="-128"/>
              </a:rPr>
              <a:t>取扱社数は</a:t>
            </a:r>
            <a:r>
              <a:rPr lang="en-US" altLang="ja-JP" sz="1200" b="1" dirty="0">
                <a:solidFill>
                  <a:srgbClr val="000000">
                    <a:lumMod val="95000"/>
                    <a:lumOff val="5000"/>
                  </a:srgbClr>
                </a:solidFill>
                <a:latin typeface="メイリオ" panose="020B0604030504040204" pitchFamily="50" charset="-128"/>
                <a:ea typeface="メイリオ" panose="020B0604030504040204" pitchFamily="50" charset="-128"/>
              </a:rPr>
              <a:t>100</a:t>
            </a:r>
            <a:r>
              <a:rPr lang="ja-JP" altLang="en-US" sz="1200" b="1" dirty="0">
                <a:solidFill>
                  <a:srgbClr val="000000">
                    <a:lumMod val="95000"/>
                    <a:lumOff val="5000"/>
                  </a:srgbClr>
                </a:solidFill>
                <a:latin typeface="メイリオ" panose="020B0604030504040204" pitchFamily="50" charset="-128"/>
                <a:ea typeface="メイリオ" panose="020B0604030504040204" pitchFamily="50" charset="-128"/>
              </a:rPr>
              <a:t>社以上、</a:t>
            </a:r>
            <a:r>
              <a:rPr lang="en-US" altLang="ja-JP" sz="1200" b="1" dirty="0">
                <a:solidFill>
                  <a:srgbClr val="000000">
                    <a:lumMod val="95000"/>
                    <a:lumOff val="5000"/>
                  </a:srgbClr>
                </a:solidFill>
                <a:latin typeface="メイリオ" panose="020B0604030504040204" pitchFamily="50" charset="-128"/>
                <a:ea typeface="メイリオ" panose="020B0604030504040204" pitchFamily="50" charset="-128"/>
              </a:rPr>
              <a:t>400</a:t>
            </a:r>
            <a:r>
              <a:rPr lang="ja-JP" altLang="en-US" sz="1200" b="1" dirty="0">
                <a:solidFill>
                  <a:srgbClr val="000000">
                    <a:lumMod val="95000"/>
                    <a:lumOff val="5000"/>
                  </a:srgbClr>
                </a:solidFill>
                <a:latin typeface="メイリオ" panose="020B0604030504040204" pitchFamily="50" charset="-128"/>
                <a:ea typeface="メイリオ" panose="020B0604030504040204" pitchFamily="50" charset="-128"/>
              </a:rPr>
              <a:t>アカウント以上まで拡大</a:t>
            </a:r>
            <a:r>
              <a:rPr lang="ja-JP" altLang="en-US" sz="1200" dirty="0">
                <a:solidFill>
                  <a:srgbClr val="000000">
                    <a:lumMod val="95000"/>
                    <a:lumOff val="5000"/>
                  </a:srgbClr>
                </a:solidFill>
                <a:latin typeface="メイリオ" panose="020B0604030504040204" pitchFamily="50" charset="-128"/>
                <a:ea typeface="メイリオ" panose="020B0604030504040204" pitchFamily="50" charset="-128"/>
              </a:rPr>
              <a:t>しており関連サービスも展開中。</a:t>
            </a:r>
            <a:endParaRPr lang="en-US" altLang="ja-JP" sz="1200" dirty="0">
              <a:solidFill>
                <a:srgbClr val="000000">
                  <a:lumMod val="95000"/>
                  <a:lumOff val="5000"/>
                </a:srgbClr>
              </a:solidFill>
              <a:latin typeface="メイリオ" panose="020B0604030504040204" pitchFamily="50" charset="-128"/>
              <a:ea typeface="メイリオ" panose="020B0604030504040204" pitchFamily="50" charset="-128"/>
            </a:endParaRPr>
          </a:p>
          <a:p>
            <a:pPr algn="r"/>
            <a:r>
              <a:rPr lang="en-US" altLang="ja-JP" sz="900" dirty="0">
                <a:solidFill>
                  <a:schemeClr val="tx1">
                    <a:lumMod val="65000"/>
                    <a:lumOff val="35000"/>
                  </a:schemeClr>
                </a:solidFill>
                <a:latin typeface="メイリオ" panose="020B0604030504040204" pitchFamily="50" charset="-128"/>
                <a:ea typeface="メイリオ" panose="020B0604030504040204" pitchFamily="50" charset="-128"/>
              </a:rPr>
              <a:t>※ LINE</a:t>
            </a:r>
            <a:r>
              <a:rPr lang="ja-JP" altLang="en-US" sz="900" dirty="0">
                <a:solidFill>
                  <a:schemeClr val="tx1">
                    <a:lumMod val="65000"/>
                    <a:lumOff val="35000"/>
                  </a:schemeClr>
                </a:solidFill>
                <a:latin typeface="メイリオ" panose="020B0604030504040204" pitchFamily="50" charset="-128"/>
                <a:ea typeface="メイリオ" panose="020B0604030504040204" pitchFamily="50" charset="-128"/>
              </a:rPr>
              <a:t>公式アカウントを活用し、ビジネス拡大に最も貢献したパートナーに贈られる賞です。</a:t>
            </a:r>
            <a:endParaRPr lang="en-US" altLang="ja-JP" sz="9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22" name="Google Shape;752;p28">
            <a:extLst>
              <a:ext uri="{FF2B5EF4-FFF2-40B4-BE49-F238E27FC236}">
                <a16:creationId xmlns:a16="http://schemas.microsoft.com/office/drawing/2014/main" id="{C34101C7-CA6C-6ED6-33D4-C2B82BDA5473}"/>
              </a:ext>
            </a:extLst>
          </p:cNvPr>
          <p:cNvSpPr txBox="1"/>
          <p:nvPr/>
        </p:nvSpPr>
        <p:spPr>
          <a:xfrm>
            <a:off x="549000" y="138240"/>
            <a:ext cx="6276325" cy="338040"/>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弊社実績</a:t>
            </a:r>
          </a:p>
        </p:txBody>
      </p:sp>
      <p:sp>
        <p:nvSpPr>
          <p:cNvPr id="49" name="正方形/長方形 48">
            <a:extLst>
              <a:ext uri="{FF2B5EF4-FFF2-40B4-BE49-F238E27FC236}">
                <a16:creationId xmlns:a16="http://schemas.microsoft.com/office/drawing/2014/main" id="{9685C0AB-6B7A-94C5-EFA8-756E59EE714E}"/>
              </a:ext>
            </a:extLst>
          </p:cNvPr>
          <p:cNvSpPr/>
          <p:nvPr/>
        </p:nvSpPr>
        <p:spPr>
          <a:xfrm>
            <a:off x="388723" y="2116303"/>
            <a:ext cx="9128554" cy="307777"/>
          </a:xfrm>
          <a:prstGeom prst="rect">
            <a:avLst/>
          </a:prstGeom>
          <a:solidFill>
            <a:schemeClr val="bg1">
              <a:lumMod val="65000"/>
            </a:schemeClr>
          </a:solidFill>
          <a:ln>
            <a:solidFill>
              <a:schemeClr val="bg1">
                <a:lumMod val="65000"/>
              </a:schemeClr>
            </a:solidFill>
          </a:ln>
        </p:spPr>
        <p:txBody>
          <a:bodyPr wrap="square">
            <a:spAutoFit/>
          </a:bodyPr>
          <a:lstStyle/>
          <a:p>
            <a:pPr lvl="0" algn="ctr">
              <a:buClr>
                <a:srgbClr val="002060"/>
              </a:buClr>
              <a:buSzPts val="1600"/>
            </a:pPr>
            <a:r>
              <a:rPr lang="ja-JP" altLang="en-US" sz="1400" b="1">
                <a:solidFill>
                  <a:schemeClr val="bg1"/>
                </a:solidFill>
                <a:latin typeface="Meiryo"/>
                <a:ea typeface="Meiryo"/>
                <a:cs typeface="Meiryo"/>
                <a:sym typeface="Meiryo"/>
              </a:rPr>
              <a:t>弊社受賞遍歴 </a:t>
            </a:r>
            <a:r>
              <a:rPr lang="en-US" altLang="ja-JP" sz="1400" b="1">
                <a:solidFill>
                  <a:schemeClr val="bg1"/>
                </a:solidFill>
                <a:latin typeface="Meiryo"/>
                <a:ea typeface="Meiryo"/>
                <a:cs typeface="Meiryo"/>
                <a:sym typeface="Meiryo"/>
              </a:rPr>
              <a:t>Since.2024</a:t>
            </a:r>
            <a:r>
              <a:rPr lang="ja-JP" altLang="en-US" sz="1400" b="1">
                <a:solidFill>
                  <a:schemeClr val="bg1"/>
                </a:solidFill>
                <a:latin typeface="Meiryo"/>
                <a:ea typeface="Meiryo"/>
                <a:cs typeface="Meiryo"/>
                <a:sym typeface="Meiryo"/>
              </a:rPr>
              <a:t>年</a:t>
            </a:r>
            <a:r>
              <a:rPr lang="en-US" altLang="ja-JP" sz="1400" b="1">
                <a:solidFill>
                  <a:schemeClr val="bg1"/>
                </a:solidFill>
                <a:latin typeface="Meiryo"/>
                <a:ea typeface="Meiryo"/>
                <a:cs typeface="Meiryo"/>
                <a:sym typeface="Meiryo"/>
              </a:rPr>
              <a:t>5</a:t>
            </a:r>
            <a:r>
              <a:rPr lang="ja-JP" altLang="en-US" sz="1400" b="1">
                <a:solidFill>
                  <a:schemeClr val="bg1"/>
                </a:solidFill>
                <a:latin typeface="Meiryo"/>
                <a:ea typeface="Meiryo"/>
                <a:cs typeface="Meiryo"/>
                <a:sym typeface="Meiryo"/>
              </a:rPr>
              <a:t>月～</a:t>
            </a:r>
            <a:endParaRPr lang="en-US" altLang="ja-JP" sz="1400" b="1" dirty="0">
              <a:solidFill>
                <a:schemeClr val="bg1"/>
              </a:solidFill>
              <a:latin typeface="Meiryo"/>
              <a:ea typeface="Meiryo"/>
              <a:cs typeface="Meiryo"/>
              <a:sym typeface="Meiryo"/>
            </a:endParaRPr>
          </a:p>
        </p:txBody>
      </p:sp>
      <p:sp>
        <p:nvSpPr>
          <p:cNvPr id="50" name="テキスト プレースホルダー 2">
            <a:extLst>
              <a:ext uri="{FF2B5EF4-FFF2-40B4-BE49-F238E27FC236}">
                <a16:creationId xmlns:a16="http://schemas.microsoft.com/office/drawing/2014/main" id="{18B78559-32E9-7E98-9E42-625866BF0637}"/>
              </a:ext>
            </a:extLst>
          </p:cNvPr>
          <p:cNvSpPr txBox="1">
            <a:spLocks/>
          </p:cNvSpPr>
          <p:nvPr/>
        </p:nvSpPr>
        <p:spPr>
          <a:xfrm>
            <a:off x="4741655" y="135388"/>
            <a:ext cx="3604551" cy="356140"/>
          </a:xfrm>
          <a:prstGeom prst="rect">
            <a:avLst/>
          </a:prstGeom>
        </p:spPr>
        <p:txBody>
          <a:bodyPr lIns="0" tIns="0" rIns="0" bIns="0" anchor="t"/>
          <a:lstStyle>
            <a:lvl1pPr marL="0" indent="0" algn="l" defTabSz="914400" rtl="0" eaLnBrk="1" latinLnBrk="0" hangingPunct="1">
              <a:lnSpc>
                <a:spcPct val="130000"/>
              </a:lnSpc>
              <a:spcBef>
                <a:spcPts val="0"/>
              </a:spcBef>
              <a:buFont typeface="Arial" panose="020B0604020202020204" pitchFamily="34" charset="0"/>
              <a:buNone/>
              <a:defRPr kumimoji="1" sz="1400" kern="1200">
                <a:solidFill>
                  <a:schemeClr val="tx1">
                    <a:lumMod val="95000"/>
                    <a:lumOff val="5000"/>
                  </a:schemeClr>
                </a:solidFill>
                <a:latin typeface="Meiryo" panose="020B0604030504040204" pitchFamily="34" charset="-128"/>
                <a:ea typeface="Meiryo" panose="020B0604030504040204" pitchFamily="34" charset="-128"/>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pPr marL="539750" lvl="0" indent="-539750">
              <a:tabLst>
                <a:tab pos="447675" algn="l"/>
              </a:tabLst>
              <a:defRPr/>
            </a:pPr>
            <a:r>
              <a:rPr lang="en-US" altLang="ja-JP" sz="800" dirty="0">
                <a:solidFill>
                  <a:srgbClr val="000000">
                    <a:lumMod val="95000"/>
                    <a:lumOff val="5000"/>
                  </a:srgbClr>
                </a:solidFill>
              </a:rPr>
              <a:t>【</a:t>
            </a:r>
            <a:r>
              <a:rPr lang="ja-JP" altLang="en-US" sz="800" dirty="0">
                <a:solidFill>
                  <a:srgbClr val="000000">
                    <a:lumMod val="95000"/>
                    <a:lumOff val="5000"/>
                  </a:srgbClr>
                </a:solidFill>
              </a:rPr>
              <a:t>参考情報</a:t>
            </a:r>
            <a:r>
              <a:rPr lang="en-US" altLang="ja-JP" sz="800" dirty="0">
                <a:solidFill>
                  <a:srgbClr val="000000">
                    <a:lumMod val="95000"/>
                    <a:lumOff val="5000"/>
                  </a:srgbClr>
                </a:solidFill>
              </a:rPr>
              <a:t>】</a:t>
            </a:r>
          </a:p>
          <a:p>
            <a:pPr marL="88900" lvl="0">
              <a:tabLst>
                <a:tab pos="447675" algn="l"/>
              </a:tabLst>
              <a:defRPr/>
            </a:pPr>
            <a:r>
              <a:rPr lang="en-US" altLang="ja-JP" sz="800" dirty="0">
                <a:solidFill>
                  <a:srgbClr val="000000">
                    <a:lumMod val="95000"/>
                    <a:lumOff val="5000"/>
                  </a:srgbClr>
                </a:solidFill>
              </a:rPr>
              <a:t>https://prtimes.jp/main/html/rd/p/000000412.000027235.html</a:t>
            </a:r>
            <a:endParaRPr lang="en-US" altLang="ja-JP" sz="1100" dirty="0">
              <a:solidFill>
                <a:srgbClr val="000000">
                  <a:lumMod val="95000"/>
                  <a:lumOff val="5000"/>
                </a:srgbClr>
              </a:solidFill>
            </a:endParaRPr>
          </a:p>
        </p:txBody>
      </p:sp>
      <p:sp>
        <p:nvSpPr>
          <p:cNvPr id="45" name="正方形/長方形 44">
            <a:extLst>
              <a:ext uri="{FF2B5EF4-FFF2-40B4-BE49-F238E27FC236}">
                <a16:creationId xmlns:a16="http://schemas.microsoft.com/office/drawing/2014/main" id="{02177995-9B5C-9C4B-3202-5DD03969179E}"/>
              </a:ext>
            </a:extLst>
          </p:cNvPr>
          <p:cNvSpPr/>
          <p:nvPr/>
        </p:nvSpPr>
        <p:spPr>
          <a:xfrm>
            <a:off x="495424" y="4784484"/>
            <a:ext cx="3561143" cy="276999"/>
          </a:xfrm>
          <a:prstGeom prst="rect">
            <a:avLst/>
          </a:prstGeom>
          <a:solidFill>
            <a:schemeClr val="bg1">
              <a:lumMod val="65000"/>
            </a:schemeClr>
          </a:solidFill>
          <a:ln>
            <a:solidFill>
              <a:schemeClr val="bg1">
                <a:lumMod val="65000"/>
              </a:schemeClr>
            </a:solidFill>
          </a:ln>
        </p:spPr>
        <p:txBody>
          <a:bodyPr wrap="square">
            <a:spAutoFit/>
          </a:bodyPr>
          <a:lstStyle/>
          <a:p>
            <a:pPr lvl="0" algn="ctr">
              <a:buClr>
                <a:srgbClr val="002060"/>
              </a:buClr>
              <a:buSzPts val="1600"/>
            </a:pPr>
            <a:r>
              <a:rPr lang="ja-JP" altLang="en-US" sz="1200" b="1" dirty="0">
                <a:solidFill>
                  <a:schemeClr val="bg1"/>
                </a:solidFill>
                <a:latin typeface="Meiryo"/>
                <a:ea typeface="Meiryo"/>
                <a:cs typeface="Meiryo"/>
                <a:sym typeface="Meiryo"/>
              </a:rPr>
              <a:t>最上位となる </a:t>
            </a:r>
            <a:r>
              <a:rPr lang="en-US" altLang="ja-JP" sz="1200" b="1" dirty="0">
                <a:solidFill>
                  <a:schemeClr val="bg1"/>
                </a:solidFill>
                <a:latin typeface="Meiryo"/>
                <a:ea typeface="Meiryo"/>
                <a:cs typeface="Meiryo"/>
                <a:sym typeface="Meiryo"/>
              </a:rPr>
              <a:t>Sales Partner Premier</a:t>
            </a:r>
          </a:p>
        </p:txBody>
      </p:sp>
      <p:sp>
        <p:nvSpPr>
          <p:cNvPr id="55" name="正方形/長方形 54">
            <a:extLst>
              <a:ext uri="{FF2B5EF4-FFF2-40B4-BE49-F238E27FC236}">
                <a16:creationId xmlns:a16="http://schemas.microsoft.com/office/drawing/2014/main" id="{0E12B4F2-0482-55A4-443A-115FC30E22E8}"/>
              </a:ext>
            </a:extLst>
          </p:cNvPr>
          <p:cNvSpPr/>
          <p:nvPr/>
        </p:nvSpPr>
        <p:spPr>
          <a:xfrm>
            <a:off x="4362995" y="4784484"/>
            <a:ext cx="5165666" cy="276999"/>
          </a:xfrm>
          <a:prstGeom prst="rect">
            <a:avLst/>
          </a:prstGeom>
          <a:solidFill>
            <a:schemeClr val="bg1">
              <a:lumMod val="65000"/>
            </a:schemeClr>
          </a:solidFill>
          <a:ln>
            <a:solidFill>
              <a:schemeClr val="bg1">
                <a:lumMod val="65000"/>
              </a:schemeClr>
            </a:solidFill>
          </a:ln>
        </p:spPr>
        <p:txBody>
          <a:bodyPr wrap="square">
            <a:spAutoFit/>
          </a:bodyPr>
          <a:lstStyle/>
          <a:p>
            <a:pPr algn="ctr">
              <a:buClr>
                <a:srgbClr val="002060"/>
              </a:buClr>
              <a:buSzPts val="1600"/>
            </a:pPr>
            <a:r>
              <a:rPr lang="en-US" altLang="ja-JP" sz="1200" b="1" dirty="0">
                <a:solidFill>
                  <a:schemeClr val="bg1"/>
                </a:solidFill>
                <a:latin typeface="Meiryo"/>
                <a:ea typeface="Meiryo"/>
                <a:cs typeface="Meiryo"/>
                <a:sym typeface="Meiryo"/>
              </a:rPr>
              <a:t>Best LINE</a:t>
            </a:r>
            <a:r>
              <a:rPr lang="ja-JP" altLang="en-US" sz="1200" b="1" dirty="0">
                <a:solidFill>
                  <a:schemeClr val="bg1"/>
                </a:solidFill>
                <a:latin typeface="Meiryo"/>
                <a:ea typeface="Meiryo"/>
                <a:cs typeface="Meiryo"/>
                <a:sym typeface="Meiryo"/>
              </a:rPr>
              <a:t>公式アカウント </a:t>
            </a:r>
            <a:r>
              <a:rPr lang="en-US" altLang="ja-JP" sz="1200" b="1" dirty="0">
                <a:solidFill>
                  <a:schemeClr val="bg1"/>
                </a:solidFill>
                <a:latin typeface="Meiryo"/>
                <a:ea typeface="Meiryo"/>
                <a:cs typeface="Meiryo"/>
                <a:sym typeface="Meiryo"/>
              </a:rPr>
              <a:t>Growth </a:t>
            </a:r>
            <a:r>
              <a:rPr lang="ja-JP" altLang="en-US" sz="1200" b="1" dirty="0">
                <a:solidFill>
                  <a:schemeClr val="bg1"/>
                </a:solidFill>
                <a:latin typeface="Meiryo"/>
                <a:ea typeface="Meiryo"/>
                <a:cs typeface="Meiryo"/>
                <a:sym typeface="Meiryo"/>
              </a:rPr>
              <a:t>の受賞を受ける</a:t>
            </a:r>
            <a:endParaRPr lang="en-US" altLang="ja-JP" sz="1200" b="1" dirty="0">
              <a:solidFill>
                <a:schemeClr val="bg1"/>
              </a:solidFill>
              <a:latin typeface="Meiryo"/>
              <a:ea typeface="Meiryo"/>
              <a:cs typeface="Meiryo"/>
              <a:sym typeface="Meiryo"/>
            </a:endParaRPr>
          </a:p>
        </p:txBody>
      </p:sp>
      <p:cxnSp>
        <p:nvCxnSpPr>
          <p:cNvPr id="2082" name="直線コネクタ 2081">
            <a:extLst>
              <a:ext uri="{FF2B5EF4-FFF2-40B4-BE49-F238E27FC236}">
                <a16:creationId xmlns:a16="http://schemas.microsoft.com/office/drawing/2014/main" id="{530411FF-29F9-73B2-C470-CBF0BA20AC73}"/>
              </a:ext>
            </a:extLst>
          </p:cNvPr>
          <p:cNvCxnSpPr>
            <a:cxnSpLocks/>
          </p:cNvCxnSpPr>
          <p:nvPr/>
        </p:nvCxnSpPr>
        <p:spPr>
          <a:xfrm>
            <a:off x="3212877" y="2980676"/>
            <a:ext cx="6240687" cy="0"/>
          </a:xfrm>
          <a:prstGeom prst="line">
            <a:avLst/>
          </a:prstGeom>
          <a:ln w="76200">
            <a:solidFill>
              <a:srgbClr val="10253F"/>
            </a:solidFill>
          </a:ln>
        </p:spPr>
        <p:style>
          <a:lnRef idx="1">
            <a:schemeClr val="accent1"/>
          </a:lnRef>
          <a:fillRef idx="0">
            <a:schemeClr val="accent1"/>
          </a:fillRef>
          <a:effectRef idx="0">
            <a:schemeClr val="accent1"/>
          </a:effectRef>
          <a:fontRef idx="minor">
            <a:schemeClr val="tx1"/>
          </a:fontRef>
        </p:style>
      </p:cxnSp>
      <p:cxnSp>
        <p:nvCxnSpPr>
          <p:cNvPr id="2085" name="直線コネクタ 2084">
            <a:extLst>
              <a:ext uri="{FF2B5EF4-FFF2-40B4-BE49-F238E27FC236}">
                <a16:creationId xmlns:a16="http://schemas.microsoft.com/office/drawing/2014/main" id="{D7948E6E-45A1-2B8A-2983-5CE3031B129A}"/>
              </a:ext>
            </a:extLst>
          </p:cNvPr>
          <p:cNvCxnSpPr>
            <a:cxnSpLocks/>
          </p:cNvCxnSpPr>
          <p:nvPr/>
        </p:nvCxnSpPr>
        <p:spPr>
          <a:xfrm>
            <a:off x="412752" y="3985954"/>
            <a:ext cx="5253034" cy="0"/>
          </a:xfrm>
          <a:prstGeom prst="line">
            <a:avLst/>
          </a:prstGeom>
          <a:ln w="76200">
            <a:solidFill>
              <a:srgbClr val="10253F"/>
            </a:solidFill>
          </a:ln>
        </p:spPr>
        <p:style>
          <a:lnRef idx="1">
            <a:schemeClr val="accent1"/>
          </a:lnRef>
          <a:fillRef idx="0">
            <a:schemeClr val="accent1"/>
          </a:fillRef>
          <a:effectRef idx="0">
            <a:schemeClr val="accent1"/>
          </a:effectRef>
          <a:fontRef idx="minor">
            <a:schemeClr val="tx1"/>
          </a:fontRef>
        </p:style>
      </p:cxnSp>
      <p:sp>
        <p:nvSpPr>
          <p:cNvPr id="2086" name="フローチャート: 結合子 2085">
            <a:extLst>
              <a:ext uri="{FF2B5EF4-FFF2-40B4-BE49-F238E27FC236}">
                <a16:creationId xmlns:a16="http://schemas.microsoft.com/office/drawing/2014/main" id="{19617C5C-724A-7FCE-22E5-5B2ECC96F048}"/>
              </a:ext>
            </a:extLst>
          </p:cNvPr>
          <p:cNvSpPr/>
          <p:nvPr/>
        </p:nvSpPr>
        <p:spPr>
          <a:xfrm>
            <a:off x="3076995" y="2743198"/>
            <a:ext cx="452718" cy="452718"/>
          </a:xfrm>
          <a:prstGeom prst="flowChartConnector">
            <a:avLst/>
          </a:prstGeom>
          <a:solidFill>
            <a:srgbClr val="10253F"/>
          </a:solidFill>
          <a:ln>
            <a:solidFill>
              <a:srgbClr val="10253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87" name="フローチャート: 結合子 2086">
            <a:extLst>
              <a:ext uri="{FF2B5EF4-FFF2-40B4-BE49-F238E27FC236}">
                <a16:creationId xmlns:a16="http://schemas.microsoft.com/office/drawing/2014/main" id="{C7AB064F-FD75-D23A-C3F2-7F831805457C}"/>
              </a:ext>
            </a:extLst>
          </p:cNvPr>
          <p:cNvSpPr/>
          <p:nvPr/>
        </p:nvSpPr>
        <p:spPr>
          <a:xfrm>
            <a:off x="970449" y="3759595"/>
            <a:ext cx="452718" cy="452718"/>
          </a:xfrm>
          <a:prstGeom prst="flowChartConnector">
            <a:avLst/>
          </a:prstGeom>
          <a:solidFill>
            <a:srgbClr val="10253F"/>
          </a:solidFill>
          <a:ln>
            <a:solidFill>
              <a:srgbClr val="10253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89" name="フローチャート: 結合子 2088">
            <a:extLst>
              <a:ext uri="{FF2B5EF4-FFF2-40B4-BE49-F238E27FC236}">
                <a16:creationId xmlns:a16="http://schemas.microsoft.com/office/drawing/2014/main" id="{CE0B51F4-2695-E1D7-F353-BA60386FABE4}"/>
              </a:ext>
            </a:extLst>
          </p:cNvPr>
          <p:cNvSpPr/>
          <p:nvPr/>
        </p:nvSpPr>
        <p:spPr>
          <a:xfrm>
            <a:off x="7801859" y="2743198"/>
            <a:ext cx="452718" cy="452718"/>
          </a:xfrm>
          <a:prstGeom prst="flowChartConnector">
            <a:avLst/>
          </a:prstGeom>
          <a:solidFill>
            <a:srgbClr val="10253F"/>
          </a:solidFill>
          <a:ln>
            <a:solidFill>
              <a:srgbClr val="10253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90" name="フローチャート: 結合子 2089">
            <a:extLst>
              <a:ext uri="{FF2B5EF4-FFF2-40B4-BE49-F238E27FC236}">
                <a16:creationId xmlns:a16="http://schemas.microsoft.com/office/drawing/2014/main" id="{6F2861A8-2376-2999-4214-6F268B03A3E1}"/>
              </a:ext>
            </a:extLst>
          </p:cNvPr>
          <p:cNvSpPr/>
          <p:nvPr/>
        </p:nvSpPr>
        <p:spPr>
          <a:xfrm>
            <a:off x="5439427" y="2743198"/>
            <a:ext cx="452718" cy="452718"/>
          </a:xfrm>
          <a:prstGeom prst="flowChartConnector">
            <a:avLst/>
          </a:prstGeom>
          <a:solidFill>
            <a:srgbClr val="10253F"/>
          </a:solidFill>
          <a:ln>
            <a:solidFill>
              <a:srgbClr val="10253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92" name="フローチャート: 結合子 2091">
            <a:extLst>
              <a:ext uri="{FF2B5EF4-FFF2-40B4-BE49-F238E27FC236}">
                <a16:creationId xmlns:a16="http://schemas.microsoft.com/office/drawing/2014/main" id="{11455BE0-024C-CCCF-549A-5895CCF6FCA5}"/>
              </a:ext>
            </a:extLst>
          </p:cNvPr>
          <p:cNvSpPr/>
          <p:nvPr/>
        </p:nvSpPr>
        <p:spPr>
          <a:xfrm>
            <a:off x="5454960" y="3739586"/>
            <a:ext cx="452718" cy="452718"/>
          </a:xfrm>
          <a:prstGeom prst="flowChartConnector">
            <a:avLst/>
          </a:prstGeom>
          <a:solidFill>
            <a:srgbClr val="10253F"/>
          </a:solidFill>
          <a:ln>
            <a:solidFill>
              <a:srgbClr val="10253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93" name="フローチャート: 結合子 2092">
            <a:extLst>
              <a:ext uri="{FF2B5EF4-FFF2-40B4-BE49-F238E27FC236}">
                <a16:creationId xmlns:a16="http://schemas.microsoft.com/office/drawing/2014/main" id="{6A2B7AEE-64D5-5687-4D90-BFEBFB87978F}"/>
              </a:ext>
            </a:extLst>
          </p:cNvPr>
          <p:cNvSpPr/>
          <p:nvPr/>
        </p:nvSpPr>
        <p:spPr>
          <a:xfrm>
            <a:off x="3076995" y="3776603"/>
            <a:ext cx="452718" cy="452718"/>
          </a:xfrm>
          <a:prstGeom prst="flowChartConnector">
            <a:avLst/>
          </a:prstGeom>
          <a:solidFill>
            <a:srgbClr val="10253F"/>
          </a:solidFill>
          <a:ln>
            <a:solidFill>
              <a:srgbClr val="10253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94" name="テキスト ボックス 2093">
            <a:extLst>
              <a:ext uri="{FF2B5EF4-FFF2-40B4-BE49-F238E27FC236}">
                <a16:creationId xmlns:a16="http://schemas.microsoft.com/office/drawing/2014/main" id="{F181EC8C-1DAE-5AF7-1C4D-4C86090B08E7}"/>
              </a:ext>
            </a:extLst>
          </p:cNvPr>
          <p:cNvSpPr txBox="1"/>
          <p:nvPr/>
        </p:nvSpPr>
        <p:spPr>
          <a:xfrm>
            <a:off x="2824561" y="2498440"/>
            <a:ext cx="957586" cy="246221"/>
          </a:xfrm>
          <a:prstGeom prst="rect">
            <a:avLst/>
          </a:prstGeom>
          <a:noFill/>
        </p:spPr>
        <p:txBody>
          <a:bodyPr wrap="square" rtlCol="0">
            <a:spAutoFit/>
          </a:bodyPr>
          <a:lstStyle/>
          <a:p>
            <a:pPr algn="ctr"/>
            <a:r>
              <a:rPr kumimoji="1" lang="en-US" altLang="ja-JP" sz="1000">
                <a:latin typeface="メイリオ" panose="020B0604030504040204" pitchFamily="50" charset="-128"/>
                <a:ea typeface="メイリオ" panose="020B0604030504040204" pitchFamily="50" charset="-128"/>
              </a:rPr>
              <a:t>2024</a:t>
            </a:r>
            <a:r>
              <a:rPr kumimoji="1" lang="ja-JP" altLang="en-US" sz="1000">
                <a:latin typeface="メイリオ" panose="020B0604030504040204" pitchFamily="50" charset="-128"/>
                <a:ea typeface="メイリオ" panose="020B0604030504040204" pitchFamily="50" charset="-128"/>
              </a:rPr>
              <a:t>年</a:t>
            </a:r>
            <a:r>
              <a:rPr kumimoji="1" lang="en-US" altLang="ja-JP" sz="1000">
                <a:latin typeface="メイリオ" panose="020B0604030504040204" pitchFamily="50" charset="-128"/>
                <a:ea typeface="メイリオ" panose="020B0604030504040204" pitchFamily="50" charset="-128"/>
              </a:rPr>
              <a:t>5</a:t>
            </a:r>
            <a:r>
              <a:rPr kumimoji="1" lang="ja-JP" altLang="en-US" sz="1000">
                <a:latin typeface="メイリオ" panose="020B0604030504040204" pitchFamily="50" charset="-128"/>
                <a:ea typeface="メイリオ" panose="020B0604030504040204" pitchFamily="50" charset="-128"/>
              </a:rPr>
              <a:t>月</a:t>
            </a:r>
          </a:p>
        </p:txBody>
      </p:sp>
      <p:sp>
        <p:nvSpPr>
          <p:cNvPr id="2095" name="テキスト ボックス 2094">
            <a:extLst>
              <a:ext uri="{FF2B5EF4-FFF2-40B4-BE49-F238E27FC236}">
                <a16:creationId xmlns:a16="http://schemas.microsoft.com/office/drawing/2014/main" id="{E9F47648-05F6-7064-8968-91D3649440CE}"/>
              </a:ext>
            </a:extLst>
          </p:cNvPr>
          <p:cNvSpPr txBox="1"/>
          <p:nvPr/>
        </p:nvSpPr>
        <p:spPr>
          <a:xfrm>
            <a:off x="5232177" y="2496209"/>
            <a:ext cx="957586" cy="246221"/>
          </a:xfrm>
          <a:prstGeom prst="rect">
            <a:avLst/>
          </a:prstGeom>
          <a:noFill/>
        </p:spPr>
        <p:txBody>
          <a:bodyPr wrap="square" rtlCol="0">
            <a:spAutoFit/>
          </a:bodyPr>
          <a:lstStyle/>
          <a:p>
            <a:pPr algn="ctr"/>
            <a:r>
              <a:rPr kumimoji="1" lang="en-US" altLang="ja-JP" sz="1000">
                <a:latin typeface="メイリオ" panose="020B0604030504040204" pitchFamily="50" charset="-128"/>
                <a:ea typeface="メイリオ" panose="020B0604030504040204" pitchFamily="50" charset="-128"/>
              </a:rPr>
              <a:t>2024</a:t>
            </a:r>
            <a:r>
              <a:rPr kumimoji="1" lang="ja-JP" altLang="en-US" sz="1000">
                <a:latin typeface="メイリオ" panose="020B0604030504040204" pitchFamily="50" charset="-128"/>
                <a:ea typeface="メイリオ" panose="020B0604030504040204" pitchFamily="50" charset="-128"/>
              </a:rPr>
              <a:t>年</a:t>
            </a:r>
            <a:r>
              <a:rPr lang="en-US" altLang="ja-JP" sz="1000">
                <a:latin typeface="メイリオ" panose="020B0604030504040204" pitchFamily="50" charset="-128"/>
                <a:ea typeface="メイリオ" panose="020B0604030504040204" pitchFamily="50" charset="-128"/>
              </a:rPr>
              <a:t>12</a:t>
            </a:r>
            <a:r>
              <a:rPr kumimoji="1" lang="ja-JP" altLang="en-US" sz="1000">
                <a:latin typeface="メイリオ" panose="020B0604030504040204" pitchFamily="50" charset="-128"/>
                <a:ea typeface="メイリオ" panose="020B0604030504040204" pitchFamily="50" charset="-128"/>
              </a:rPr>
              <a:t>月</a:t>
            </a:r>
          </a:p>
        </p:txBody>
      </p:sp>
      <p:sp>
        <p:nvSpPr>
          <p:cNvPr id="2096" name="テキスト ボックス 2095">
            <a:extLst>
              <a:ext uri="{FF2B5EF4-FFF2-40B4-BE49-F238E27FC236}">
                <a16:creationId xmlns:a16="http://schemas.microsoft.com/office/drawing/2014/main" id="{2C8EEABD-6A90-AA4E-FBA6-2819EBF654DE}"/>
              </a:ext>
            </a:extLst>
          </p:cNvPr>
          <p:cNvSpPr txBox="1"/>
          <p:nvPr/>
        </p:nvSpPr>
        <p:spPr>
          <a:xfrm>
            <a:off x="7623567" y="2492162"/>
            <a:ext cx="957586" cy="246221"/>
          </a:xfrm>
          <a:prstGeom prst="rect">
            <a:avLst/>
          </a:prstGeom>
          <a:noFill/>
        </p:spPr>
        <p:txBody>
          <a:bodyPr wrap="square" rtlCol="0">
            <a:spAutoFit/>
          </a:bodyPr>
          <a:lstStyle/>
          <a:p>
            <a:pPr algn="ctr"/>
            <a:r>
              <a:rPr kumimoji="1" lang="en-US" altLang="ja-JP" sz="1000">
                <a:latin typeface="メイリオ" panose="020B0604030504040204" pitchFamily="50" charset="-128"/>
                <a:ea typeface="メイリオ" panose="020B0604030504040204" pitchFamily="50" charset="-128"/>
              </a:rPr>
              <a:t>2025</a:t>
            </a:r>
            <a:r>
              <a:rPr kumimoji="1" lang="ja-JP" altLang="en-US" sz="1000">
                <a:latin typeface="メイリオ" panose="020B0604030504040204" pitchFamily="50" charset="-128"/>
                <a:ea typeface="メイリオ" panose="020B0604030504040204" pitchFamily="50" charset="-128"/>
              </a:rPr>
              <a:t>年</a:t>
            </a:r>
            <a:r>
              <a:rPr kumimoji="1" lang="en-US" altLang="ja-JP" sz="1000">
                <a:latin typeface="メイリオ" panose="020B0604030504040204" pitchFamily="50" charset="-128"/>
                <a:ea typeface="メイリオ" panose="020B0604030504040204" pitchFamily="50" charset="-128"/>
              </a:rPr>
              <a:t>5</a:t>
            </a:r>
            <a:r>
              <a:rPr kumimoji="1" lang="ja-JP" altLang="en-US" sz="1000">
                <a:latin typeface="メイリオ" panose="020B0604030504040204" pitchFamily="50" charset="-128"/>
                <a:ea typeface="メイリオ" panose="020B0604030504040204" pitchFamily="50" charset="-128"/>
              </a:rPr>
              <a:t>月</a:t>
            </a:r>
          </a:p>
        </p:txBody>
      </p:sp>
      <p:sp>
        <p:nvSpPr>
          <p:cNvPr id="2098" name="テキスト ボックス 2097">
            <a:extLst>
              <a:ext uri="{FF2B5EF4-FFF2-40B4-BE49-F238E27FC236}">
                <a16:creationId xmlns:a16="http://schemas.microsoft.com/office/drawing/2014/main" id="{CE12257A-0E7E-B895-AF8E-D15F7AA1D62A}"/>
              </a:ext>
            </a:extLst>
          </p:cNvPr>
          <p:cNvSpPr txBox="1"/>
          <p:nvPr/>
        </p:nvSpPr>
        <p:spPr>
          <a:xfrm>
            <a:off x="2895696" y="3511221"/>
            <a:ext cx="957586" cy="246221"/>
          </a:xfrm>
          <a:prstGeom prst="rect">
            <a:avLst/>
          </a:prstGeom>
          <a:noFill/>
          <a:ln>
            <a:noFill/>
          </a:ln>
        </p:spPr>
        <p:txBody>
          <a:bodyPr wrap="square" rtlCol="0">
            <a:spAutoFit/>
          </a:bodyPr>
          <a:lstStyle/>
          <a:p>
            <a:pPr algn="ctr"/>
            <a:r>
              <a:rPr kumimoji="1" lang="en-US" altLang="ja-JP" sz="1000">
                <a:latin typeface="メイリオ" panose="020B0604030504040204" pitchFamily="50" charset="-128"/>
                <a:ea typeface="メイリオ" panose="020B0604030504040204" pitchFamily="50" charset="-128"/>
              </a:rPr>
              <a:t>2025</a:t>
            </a:r>
            <a:r>
              <a:rPr kumimoji="1" lang="ja-JP" altLang="en-US" sz="1000">
                <a:latin typeface="メイリオ" panose="020B0604030504040204" pitchFamily="50" charset="-128"/>
                <a:ea typeface="メイリオ" panose="020B0604030504040204" pitchFamily="50" charset="-128"/>
              </a:rPr>
              <a:t>年</a:t>
            </a:r>
            <a:r>
              <a:rPr lang="en-US" altLang="ja-JP" sz="1000">
                <a:latin typeface="メイリオ" panose="020B0604030504040204" pitchFamily="50" charset="-128"/>
                <a:ea typeface="メイリオ" panose="020B0604030504040204" pitchFamily="50" charset="-128"/>
              </a:rPr>
              <a:t>10</a:t>
            </a:r>
            <a:r>
              <a:rPr kumimoji="1" lang="ja-JP" altLang="en-US" sz="1000">
                <a:latin typeface="メイリオ" panose="020B0604030504040204" pitchFamily="50" charset="-128"/>
                <a:ea typeface="メイリオ" panose="020B0604030504040204" pitchFamily="50" charset="-128"/>
              </a:rPr>
              <a:t>月</a:t>
            </a:r>
          </a:p>
        </p:txBody>
      </p:sp>
      <p:sp>
        <p:nvSpPr>
          <p:cNvPr id="2099" name="テキスト ボックス 2098">
            <a:extLst>
              <a:ext uri="{FF2B5EF4-FFF2-40B4-BE49-F238E27FC236}">
                <a16:creationId xmlns:a16="http://schemas.microsoft.com/office/drawing/2014/main" id="{82EEA8C2-D18D-B5B9-3D3F-C9BE318BD901}"/>
              </a:ext>
            </a:extLst>
          </p:cNvPr>
          <p:cNvSpPr txBox="1"/>
          <p:nvPr/>
        </p:nvSpPr>
        <p:spPr>
          <a:xfrm>
            <a:off x="589609" y="3475317"/>
            <a:ext cx="957586" cy="246221"/>
          </a:xfrm>
          <a:prstGeom prst="rect">
            <a:avLst/>
          </a:prstGeom>
          <a:noFill/>
          <a:ln>
            <a:noFill/>
          </a:ln>
        </p:spPr>
        <p:txBody>
          <a:bodyPr wrap="square" rtlCol="0">
            <a:spAutoFit/>
          </a:bodyPr>
          <a:lstStyle/>
          <a:p>
            <a:pPr algn="ctr"/>
            <a:r>
              <a:rPr kumimoji="1" lang="en-US" altLang="ja-JP" sz="1000">
                <a:latin typeface="メイリオ" panose="020B0604030504040204" pitchFamily="50" charset="-128"/>
                <a:ea typeface="メイリオ" panose="020B0604030504040204" pitchFamily="50" charset="-128"/>
              </a:rPr>
              <a:t>2025</a:t>
            </a:r>
            <a:r>
              <a:rPr kumimoji="1" lang="ja-JP" altLang="en-US" sz="1000">
                <a:latin typeface="メイリオ" panose="020B0604030504040204" pitchFamily="50" charset="-128"/>
                <a:ea typeface="メイリオ" panose="020B0604030504040204" pitchFamily="50" charset="-128"/>
              </a:rPr>
              <a:t>年</a:t>
            </a:r>
            <a:r>
              <a:rPr kumimoji="1" lang="en-US" altLang="ja-JP" sz="1000">
                <a:latin typeface="メイリオ" panose="020B0604030504040204" pitchFamily="50" charset="-128"/>
                <a:ea typeface="メイリオ" panose="020B0604030504040204" pitchFamily="50" charset="-128"/>
              </a:rPr>
              <a:t>8</a:t>
            </a:r>
            <a:r>
              <a:rPr kumimoji="1" lang="ja-JP" altLang="en-US" sz="1000">
                <a:latin typeface="メイリオ" panose="020B0604030504040204" pitchFamily="50" charset="-128"/>
                <a:ea typeface="メイリオ" panose="020B0604030504040204" pitchFamily="50" charset="-128"/>
              </a:rPr>
              <a:t>月</a:t>
            </a:r>
          </a:p>
        </p:txBody>
      </p:sp>
      <p:sp>
        <p:nvSpPr>
          <p:cNvPr id="2101" name="テキスト ボックス 2100">
            <a:extLst>
              <a:ext uri="{FF2B5EF4-FFF2-40B4-BE49-F238E27FC236}">
                <a16:creationId xmlns:a16="http://schemas.microsoft.com/office/drawing/2014/main" id="{E6D4C90C-BD24-1939-D716-C6450E2AD8FC}"/>
              </a:ext>
            </a:extLst>
          </p:cNvPr>
          <p:cNvSpPr txBox="1"/>
          <p:nvPr/>
        </p:nvSpPr>
        <p:spPr>
          <a:xfrm>
            <a:off x="309563" y="4310547"/>
            <a:ext cx="1966105" cy="215444"/>
          </a:xfrm>
          <a:prstGeom prst="rect">
            <a:avLst/>
          </a:prstGeom>
          <a:noFill/>
          <a:ln>
            <a:noFill/>
          </a:ln>
        </p:spPr>
        <p:txBody>
          <a:bodyPr wrap="square" rtlCol="0">
            <a:spAutoFit/>
          </a:bodyPr>
          <a:lstStyle/>
          <a:p>
            <a:pPr algn="ctr"/>
            <a:r>
              <a:rPr lang="ja-JP" altLang="en-US" sz="800" b="1">
                <a:solidFill>
                  <a:srgbClr val="C00000"/>
                </a:solidFill>
                <a:latin typeface="メイリオ" panose="020B0604030504040204" pitchFamily="50" charset="-128"/>
                <a:ea typeface="メイリオ" panose="020B0604030504040204" pitchFamily="50" charset="-128"/>
              </a:rPr>
              <a:t>単月</a:t>
            </a:r>
            <a:r>
              <a:rPr lang="en-US" altLang="ja-JP" sz="800" b="1">
                <a:solidFill>
                  <a:srgbClr val="C00000"/>
                </a:solidFill>
                <a:latin typeface="メイリオ" panose="020B0604030504040204" pitchFamily="50" charset="-128"/>
                <a:ea typeface="メイリオ" panose="020B0604030504040204" pitchFamily="50" charset="-128"/>
              </a:rPr>
              <a:t>6000</a:t>
            </a:r>
            <a:r>
              <a:rPr lang="ja-JP" altLang="en-US" sz="800" b="1">
                <a:solidFill>
                  <a:srgbClr val="C00000"/>
                </a:solidFill>
                <a:latin typeface="メイリオ" panose="020B0604030504040204" pitchFamily="50" charset="-128"/>
                <a:ea typeface="メイリオ" panose="020B0604030504040204" pitchFamily="50" charset="-128"/>
              </a:rPr>
              <a:t>万円</a:t>
            </a:r>
            <a:r>
              <a:rPr lang="ja-JP" altLang="en-US" sz="800">
                <a:latin typeface="メイリオ" panose="020B0604030504040204" pitchFamily="50" charset="-128"/>
                <a:ea typeface="メイリオ" panose="020B0604030504040204" pitchFamily="50" charset="-128"/>
              </a:rPr>
              <a:t>の取り扱いを突破。</a:t>
            </a:r>
            <a:endParaRPr kumimoji="1" lang="ja-JP" altLang="en-US" sz="800">
              <a:latin typeface="メイリオ" panose="020B0604030504040204" pitchFamily="50" charset="-128"/>
              <a:ea typeface="メイリオ" panose="020B0604030504040204" pitchFamily="50" charset="-128"/>
            </a:endParaRPr>
          </a:p>
        </p:txBody>
      </p:sp>
      <p:sp>
        <p:nvSpPr>
          <p:cNvPr id="2102" name="テキスト ボックス 2101">
            <a:extLst>
              <a:ext uri="{FF2B5EF4-FFF2-40B4-BE49-F238E27FC236}">
                <a16:creationId xmlns:a16="http://schemas.microsoft.com/office/drawing/2014/main" id="{756F6552-3CAE-3310-D96A-5D847F286859}"/>
              </a:ext>
            </a:extLst>
          </p:cNvPr>
          <p:cNvSpPr txBox="1"/>
          <p:nvPr/>
        </p:nvSpPr>
        <p:spPr>
          <a:xfrm>
            <a:off x="2105787" y="3209363"/>
            <a:ext cx="2612987" cy="338554"/>
          </a:xfrm>
          <a:prstGeom prst="rect">
            <a:avLst/>
          </a:prstGeom>
          <a:noFill/>
          <a:ln>
            <a:noFill/>
          </a:ln>
        </p:spPr>
        <p:txBody>
          <a:bodyPr wrap="square" rtlCol="0">
            <a:spAutoFit/>
          </a:bodyPr>
          <a:lstStyle/>
          <a:p>
            <a:pPr algn="ctr"/>
            <a:r>
              <a:rPr kumimoji="1" lang="en-US" altLang="ja-JP" sz="800" dirty="0">
                <a:latin typeface="メイリオ" panose="020B0604030504040204" pitchFamily="50" charset="-128"/>
                <a:ea typeface="メイリオ" panose="020B0604030504040204" pitchFamily="50" charset="-128"/>
              </a:rPr>
              <a:t>2024</a:t>
            </a:r>
            <a:r>
              <a:rPr kumimoji="1" lang="ja-JP" altLang="en-US" sz="800" dirty="0">
                <a:latin typeface="メイリオ" panose="020B0604030504040204" pitchFamily="50" charset="-128"/>
                <a:ea typeface="メイリオ" panose="020B0604030504040204" pitchFamily="50" charset="-128"/>
              </a:rPr>
              <a:t>年度上半期の</a:t>
            </a:r>
            <a:r>
              <a:rPr kumimoji="1" lang="en-US" altLang="ja-JP" sz="800" dirty="0">
                <a:latin typeface="メイリオ" panose="020B0604030504040204" pitchFamily="50" charset="-128"/>
                <a:ea typeface="メイリオ" panose="020B0604030504040204" pitchFamily="50" charset="-128"/>
              </a:rPr>
              <a:t>Sales Partner</a:t>
            </a:r>
            <a:r>
              <a:rPr kumimoji="1" lang="ja-JP" altLang="en-US" sz="800" dirty="0">
                <a:latin typeface="メイリオ" panose="020B0604030504040204" pitchFamily="50" charset="-128"/>
                <a:ea typeface="メイリオ" panose="020B0604030504040204" pitchFamily="50" charset="-128"/>
              </a:rPr>
              <a:t>「</a:t>
            </a:r>
            <a:r>
              <a:rPr kumimoji="1" lang="en-US" altLang="ja-JP" sz="800" dirty="0">
                <a:latin typeface="メイリオ" panose="020B0604030504040204" pitchFamily="50" charset="-128"/>
                <a:ea typeface="メイリオ" panose="020B0604030504040204" pitchFamily="50" charset="-128"/>
              </a:rPr>
              <a:t>Premier</a:t>
            </a:r>
            <a:r>
              <a:rPr kumimoji="1" lang="ja-JP" altLang="en-US" sz="800" dirty="0">
                <a:latin typeface="メイリオ" panose="020B0604030504040204" pitchFamily="50" charset="-128"/>
                <a:ea typeface="メイリオ" panose="020B0604030504040204" pitchFamily="50" charset="-128"/>
              </a:rPr>
              <a:t>」に認定</a:t>
            </a:r>
            <a:r>
              <a:rPr lang="ja-JP" altLang="en-US" sz="800" dirty="0">
                <a:latin typeface="メイリオ" panose="020B0604030504040204" pitchFamily="50" charset="-128"/>
                <a:ea typeface="メイリオ" panose="020B0604030504040204" pitchFamily="50" charset="-128"/>
              </a:rPr>
              <a:t>。</a:t>
            </a:r>
            <a:endParaRPr lang="en-US" altLang="ja-JP" sz="800" dirty="0">
              <a:latin typeface="メイリオ" panose="020B0604030504040204" pitchFamily="50" charset="-128"/>
              <a:ea typeface="メイリオ" panose="020B0604030504040204" pitchFamily="50" charset="-128"/>
            </a:endParaRPr>
          </a:p>
          <a:p>
            <a:pPr algn="ctr"/>
            <a:r>
              <a:rPr lang="ja-JP" altLang="en-US" sz="800" b="1" dirty="0">
                <a:solidFill>
                  <a:srgbClr val="C00000"/>
                </a:solidFill>
                <a:latin typeface="メイリオ" panose="020B0604030504040204" pitchFamily="50" charset="-128"/>
                <a:ea typeface="メイリオ" panose="020B0604030504040204" pitchFamily="50" charset="-128"/>
              </a:rPr>
              <a:t>上位</a:t>
            </a:r>
            <a:r>
              <a:rPr lang="en-US" altLang="ja-JP" sz="800" b="1" dirty="0">
                <a:solidFill>
                  <a:srgbClr val="C00000"/>
                </a:solidFill>
                <a:latin typeface="メイリオ" panose="020B0604030504040204" pitchFamily="50" charset="-128"/>
                <a:ea typeface="メイリオ" panose="020B0604030504040204" pitchFamily="50" charset="-128"/>
              </a:rPr>
              <a:t>20</a:t>
            </a:r>
            <a:r>
              <a:rPr lang="ja-JP" altLang="en-US" sz="800" b="1" dirty="0">
                <a:solidFill>
                  <a:srgbClr val="C00000"/>
                </a:solidFill>
                <a:latin typeface="メイリオ" panose="020B0604030504040204" pitchFamily="50" charset="-128"/>
                <a:ea typeface="メイリオ" panose="020B0604030504040204" pitchFamily="50" charset="-128"/>
              </a:rPr>
              <a:t>位タイ</a:t>
            </a:r>
            <a:endParaRPr lang="en-US" altLang="ja-JP" sz="800" b="1" dirty="0">
              <a:solidFill>
                <a:srgbClr val="C00000"/>
              </a:solidFill>
              <a:latin typeface="メイリオ" panose="020B0604030504040204" pitchFamily="50" charset="-128"/>
              <a:ea typeface="メイリオ" panose="020B0604030504040204" pitchFamily="50" charset="-128"/>
            </a:endParaRPr>
          </a:p>
        </p:txBody>
      </p:sp>
      <p:sp>
        <p:nvSpPr>
          <p:cNvPr id="2103" name="テキスト ボックス 2102">
            <a:extLst>
              <a:ext uri="{FF2B5EF4-FFF2-40B4-BE49-F238E27FC236}">
                <a16:creationId xmlns:a16="http://schemas.microsoft.com/office/drawing/2014/main" id="{D5793D3E-32A5-A172-B93D-F2E02806685C}"/>
              </a:ext>
            </a:extLst>
          </p:cNvPr>
          <p:cNvSpPr txBox="1"/>
          <p:nvPr/>
        </p:nvSpPr>
        <p:spPr>
          <a:xfrm>
            <a:off x="4837113" y="3209363"/>
            <a:ext cx="1767520" cy="215444"/>
          </a:xfrm>
          <a:prstGeom prst="rect">
            <a:avLst/>
          </a:prstGeom>
          <a:noFill/>
          <a:ln>
            <a:noFill/>
          </a:ln>
        </p:spPr>
        <p:txBody>
          <a:bodyPr wrap="square" rtlCol="0">
            <a:spAutoFit/>
          </a:bodyPr>
          <a:lstStyle/>
          <a:p>
            <a:pPr algn="ctr"/>
            <a:r>
              <a:rPr lang="ja-JP" altLang="en-US" sz="800" b="1">
                <a:solidFill>
                  <a:srgbClr val="C00000"/>
                </a:solidFill>
                <a:latin typeface="メイリオ" panose="020B0604030504040204" pitchFamily="50" charset="-128"/>
                <a:ea typeface="メイリオ" panose="020B0604030504040204" pitchFamily="50" charset="-128"/>
              </a:rPr>
              <a:t>単月</a:t>
            </a:r>
            <a:r>
              <a:rPr lang="en-US" altLang="ja-JP" sz="800" b="1">
                <a:solidFill>
                  <a:srgbClr val="C00000"/>
                </a:solidFill>
                <a:latin typeface="メイリオ" panose="020B0604030504040204" pitchFamily="50" charset="-128"/>
                <a:ea typeface="メイリオ" panose="020B0604030504040204" pitchFamily="50" charset="-128"/>
              </a:rPr>
              <a:t>2000</a:t>
            </a:r>
            <a:r>
              <a:rPr lang="ja-JP" altLang="en-US" sz="800" b="1">
                <a:solidFill>
                  <a:srgbClr val="C00000"/>
                </a:solidFill>
                <a:latin typeface="メイリオ" panose="020B0604030504040204" pitchFamily="50" charset="-128"/>
                <a:ea typeface="メイリオ" panose="020B0604030504040204" pitchFamily="50" charset="-128"/>
              </a:rPr>
              <a:t>万円</a:t>
            </a:r>
            <a:r>
              <a:rPr lang="ja-JP" altLang="en-US" sz="800">
                <a:latin typeface="メイリオ" panose="020B0604030504040204" pitchFamily="50" charset="-128"/>
                <a:ea typeface="メイリオ" panose="020B0604030504040204" pitchFamily="50" charset="-128"/>
              </a:rPr>
              <a:t>の取り扱いを突破。</a:t>
            </a:r>
            <a:endParaRPr lang="en-US" altLang="ja-JP" sz="800">
              <a:latin typeface="メイリオ" panose="020B0604030504040204" pitchFamily="50" charset="-128"/>
              <a:ea typeface="メイリオ" panose="020B0604030504040204" pitchFamily="50" charset="-128"/>
            </a:endParaRPr>
          </a:p>
        </p:txBody>
      </p:sp>
      <p:sp>
        <p:nvSpPr>
          <p:cNvPr id="2104" name="テキスト ボックス 2103">
            <a:extLst>
              <a:ext uri="{FF2B5EF4-FFF2-40B4-BE49-F238E27FC236}">
                <a16:creationId xmlns:a16="http://schemas.microsoft.com/office/drawing/2014/main" id="{89EE1600-592C-F991-FBB3-472A73DB5551}"/>
              </a:ext>
            </a:extLst>
          </p:cNvPr>
          <p:cNvSpPr txBox="1"/>
          <p:nvPr/>
        </p:nvSpPr>
        <p:spPr>
          <a:xfrm>
            <a:off x="1858111" y="4310547"/>
            <a:ext cx="3234807" cy="338554"/>
          </a:xfrm>
          <a:prstGeom prst="rect">
            <a:avLst/>
          </a:prstGeom>
          <a:noFill/>
          <a:ln>
            <a:noFill/>
          </a:ln>
        </p:spPr>
        <p:txBody>
          <a:bodyPr wrap="square" rtlCol="0">
            <a:spAutoFit/>
          </a:bodyPr>
          <a:lstStyle/>
          <a:p>
            <a:pPr algn="ctr"/>
            <a:r>
              <a:rPr kumimoji="1" lang="ja-JP" altLang="en-US" sz="800">
                <a:latin typeface="メイリオ" panose="020B0604030504040204" pitchFamily="50" charset="-128"/>
                <a:ea typeface="メイリオ" panose="020B0604030504040204" pitchFamily="50" charset="-128"/>
              </a:rPr>
              <a:t>前回に続き、最高グレードである</a:t>
            </a:r>
            <a:r>
              <a:rPr lang="ja-JP" altLang="en-US" sz="800">
                <a:latin typeface="メイリオ" panose="020B0604030504040204" pitchFamily="50" charset="-128"/>
                <a:ea typeface="メイリオ" panose="020B0604030504040204" pitchFamily="50" charset="-128"/>
              </a:rPr>
              <a:t>「</a:t>
            </a:r>
            <a:r>
              <a:rPr lang="en-US" altLang="ja-JP" sz="800">
                <a:latin typeface="メイリオ" panose="020B0604030504040204" pitchFamily="50" charset="-128"/>
                <a:ea typeface="メイリオ" panose="020B0604030504040204" pitchFamily="50" charset="-128"/>
              </a:rPr>
              <a:t>Premier</a:t>
            </a:r>
            <a:r>
              <a:rPr lang="ja-JP" altLang="en-US" sz="800">
                <a:latin typeface="メイリオ" panose="020B0604030504040204" pitchFamily="50" charset="-128"/>
                <a:ea typeface="メイリオ" panose="020B0604030504040204" pitchFamily="50" charset="-128"/>
              </a:rPr>
              <a:t>」に認定。</a:t>
            </a:r>
            <a:endParaRPr lang="en-US" altLang="ja-JP" sz="800">
              <a:latin typeface="メイリオ" panose="020B0604030504040204" pitchFamily="50" charset="-128"/>
              <a:ea typeface="メイリオ" panose="020B0604030504040204" pitchFamily="50" charset="-128"/>
            </a:endParaRPr>
          </a:p>
          <a:p>
            <a:pPr algn="ctr"/>
            <a:r>
              <a:rPr kumimoji="1" lang="ja-JP" altLang="en-US" sz="800" b="1">
                <a:solidFill>
                  <a:srgbClr val="C00000"/>
                </a:solidFill>
                <a:latin typeface="メイリオ" panose="020B0604030504040204" pitchFamily="50" charset="-128"/>
                <a:ea typeface="メイリオ" panose="020B0604030504040204" pitchFamily="50" charset="-128"/>
              </a:rPr>
              <a:t>上位</a:t>
            </a:r>
            <a:r>
              <a:rPr kumimoji="1" lang="en-US" altLang="ja-JP" sz="800" b="1">
                <a:solidFill>
                  <a:srgbClr val="C00000"/>
                </a:solidFill>
                <a:latin typeface="メイリオ" panose="020B0604030504040204" pitchFamily="50" charset="-128"/>
                <a:ea typeface="メイリオ" panose="020B0604030504040204" pitchFamily="50" charset="-128"/>
              </a:rPr>
              <a:t>12</a:t>
            </a:r>
            <a:r>
              <a:rPr kumimoji="1" lang="ja-JP" altLang="en-US" sz="800" b="1">
                <a:solidFill>
                  <a:srgbClr val="C00000"/>
                </a:solidFill>
                <a:latin typeface="メイリオ" panose="020B0604030504040204" pitchFamily="50" charset="-128"/>
                <a:ea typeface="メイリオ" panose="020B0604030504040204" pitchFamily="50" charset="-128"/>
              </a:rPr>
              <a:t>位タイ</a:t>
            </a:r>
          </a:p>
        </p:txBody>
      </p:sp>
      <p:sp>
        <p:nvSpPr>
          <p:cNvPr id="2105" name="テキスト ボックス 2104">
            <a:extLst>
              <a:ext uri="{FF2B5EF4-FFF2-40B4-BE49-F238E27FC236}">
                <a16:creationId xmlns:a16="http://schemas.microsoft.com/office/drawing/2014/main" id="{735B8649-944E-38AC-EFE9-3FF466013418}"/>
              </a:ext>
            </a:extLst>
          </p:cNvPr>
          <p:cNvSpPr txBox="1"/>
          <p:nvPr/>
        </p:nvSpPr>
        <p:spPr>
          <a:xfrm>
            <a:off x="6722972" y="3209363"/>
            <a:ext cx="2758776" cy="338554"/>
          </a:xfrm>
          <a:prstGeom prst="rect">
            <a:avLst/>
          </a:prstGeom>
          <a:noFill/>
          <a:ln>
            <a:noFill/>
          </a:ln>
        </p:spPr>
        <p:txBody>
          <a:bodyPr wrap="square" rtlCol="0">
            <a:spAutoFit/>
          </a:bodyPr>
          <a:lstStyle/>
          <a:p>
            <a:pPr algn="ctr"/>
            <a:r>
              <a:rPr lang="ja-JP" altLang="en-US" sz="800">
                <a:latin typeface="メイリオ" panose="020B0604030504040204" pitchFamily="50" charset="-128"/>
                <a:ea typeface="メイリオ" panose="020B0604030504040204" pitchFamily="50" charset="-128"/>
              </a:rPr>
              <a:t>前回に続き、最高グレードである「</a:t>
            </a:r>
            <a:r>
              <a:rPr lang="en-US" altLang="ja-JP" sz="800">
                <a:latin typeface="メイリオ" panose="020B0604030504040204" pitchFamily="50" charset="-128"/>
                <a:ea typeface="メイリオ" panose="020B0604030504040204" pitchFamily="50" charset="-128"/>
              </a:rPr>
              <a:t>Premier</a:t>
            </a:r>
            <a:r>
              <a:rPr lang="ja-JP" altLang="en-US" sz="800">
                <a:latin typeface="メイリオ" panose="020B0604030504040204" pitchFamily="50" charset="-128"/>
                <a:ea typeface="メイリオ" panose="020B0604030504040204" pitchFamily="50" charset="-128"/>
              </a:rPr>
              <a:t>」に認定。</a:t>
            </a:r>
            <a:r>
              <a:rPr lang="ja-JP" altLang="en-US" sz="800" b="1">
                <a:solidFill>
                  <a:srgbClr val="C00000"/>
                </a:solidFill>
                <a:latin typeface="メイリオ" panose="020B0604030504040204" pitchFamily="50" charset="-128"/>
                <a:ea typeface="メイリオ" panose="020B0604030504040204" pitchFamily="50" charset="-128"/>
              </a:rPr>
              <a:t>上位</a:t>
            </a:r>
            <a:r>
              <a:rPr lang="en-US" altLang="ja-JP" sz="800" b="1">
                <a:solidFill>
                  <a:srgbClr val="C00000"/>
                </a:solidFill>
                <a:latin typeface="メイリオ" panose="020B0604030504040204" pitchFamily="50" charset="-128"/>
                <a:ea typeface="メイリオ" panose="020B0604030504040204" pitchFamily="50" charset="-128"/>
              </a:rPr>
              <a:t>15</a:t>
            </a:r>
            <a:r>
              <a:rPr lang="ja-JP" altLang="en-US" sz="800" b="1">
                <a:solidFill>
                  <a:srgbClr val="C00000"/>
                </a:solidFill>
                <a:latin typeface="メイリオ" panose="020B0604030504040204" pitchFamily="50" charset="-128"/>
                <a:ea typeface="メイリオ" panose="020B0604030504040204" pitchFamily="50" charset="-128"/>
              </a:rPr>
              <a:t>位タイ</a:t>
            </a:r>
            <a:endParaRPr lang="en-US" altLang="ja-JP" sz="800" b="1">
              <a:solidFill>
                <a:srgbClr val="C00000"/>
              </a:solidFill>
              <a:latin typeface="メイリオ" panose="020B0604030504040204" pitchFamily="50" charset="-128"/>
              <a:ea typeface="メイリオ" panose="020B0604030504040204" pitchFamily="50" charset="-128"/>
            </a:endParaRPr>
          </a:p>
        </p:txBody>
      </p:sp>
      <p:sp>
        <p:nvSpPr>
          <p:cNvPr id="2110" name="テキスト ボックス 2109">
            <a:extLst>
              <a:ext uri="{FF2B5EF4-FFF2-40B4-BE49-F238E27FC236}">
                <a16:creationId xmlns:a16="http://schemas.microsoft.com/office/drawing/2014/main" id="{9364E84A-3501-3480-3E86-4181D9EDDE0D}"/>
              </a:ext>
            </a:extLst>
          </p:cNvPr>
          <p:cNvSpPr txBox="1"/>
          <p:nvPr/>
        </p:nvSpPr>
        <p:spPr>
          <a:xfrm>
            <a:off x="5204477" y="3512494"/>
            <a:ext cx="957586" cy="246221"/>
          </a:xfrm>
          <a:prstGeom prst="rect">
            <a:avLst/>
          </a:prstGeom>
          <a:noFill/>
          <a:ln>
            <a:noFill/>
          </a:ln>
        </p:spPr>
        <p:txBody>
          <a:bodyPr wrap="square" rtlCol="0">
            <a:spAutoFit/>
          </a:bodyPr>
          <a:lstStyle/>
          <a:p>
            <a:pPr algn="ctr"/>
            <a:r>
              <a:rPr kumimoji="1" lang="ja-JP" altLang="en-US" sz="1000">
                <a:latin typeface="メイリオ" panose="020B0604030504040204" pitchFamily="50" charset="-128"/>
                <a:ea typeface="メイリオ" panose="020B0604030504040204" pitchFamily="50" charset="-128"/>
              </a:rPr>
              <a:t>現在</a:t>
            </a:r>
          </a:p>
        </p:txBody>
      </p:sp>
      <p:sp>
        <p:nvSpPr>
          <p:cNvPr id="2111" name="テキスト ボックス 2110">
            <a:extLst>
              <a:ext uri="{FF2B5EF4-FFF2-40B4-BE49-F238E27FC236}">
                <a16:creationId xmlns:a16="http://schemas.microsoft.com/office/drawing/2014/main" id="{915149AC-7723-29BD-6D17-D471CC831F56}"/>
              </a:ext>
            </a:extLst>
          </p:cNvPr>
          <p:cNvSpPr txBox="1"/>
          <p:nvPr/>
        </p:nvSpPr>
        <p:spPr>
          <a:xfrm>
            <a:off x="4684085" y="4310547"/>
            <a:ext cx="2335280" cy="338554"/>
          </a:xfrm>
          <a:prstGeom prst="rect">
            <a:avLst/>
          </a:prstGeom>
          <a:noFill/>
          <a:ln>
            <a:noFill/>
          </a:ln>
        </p:spPr>
        <p:txBody>
          <a:bodyPr wrap="square" rtlCol="0">
            <a:spAutoFit/>
          </a:bodyPr>
          <a:lstStyle/>
          <a:p>
            <a:pPr algn="ctr"/>
            <a:r>
              <a:rPr lang="ja-JP" altLang="en-US" sz="800" dirty="0">
                <a:latin typeface="メイリオ" panose="020B0604030504040204" pitchFamily="50" charset="-128"/>
                <a:ea typeface="メイリオ" panose="020B0604030504040204" pitchFamily="50" charset="-128"/>
              </a:rPr>
              <a:t>「</a:t>
            </a:r>
            <a:r>
              <a:rPr lang="en-US" altLang="ja-JP" sz="800" dirty="0">
                <a:latin typeface="メイリオ" panose="020B0604030504040204" pitchFamily="50" charset="-128"/>
                <a:ea typeface="メイリオ" panose="020B0604030504040204" pitchFamily="50" charset="-128"/>
              </a:rPr>
              <a:t>Best LINE</a:t>
            </a:r>
            <a:r>
              <a:rPr lang="ja-JP" altLang="en-US" sz="800" dirty="0">
                <a:latin typeface="メイリオ" panose="020B0604030504040204" pitchFamily="50" charset="-128"/>
                <a:ea typeface="メイリオ" panose="020B0604030504040204" pitchFamily="50" charset="-128"/>
              </a:rPr>
              <a:t>公式アカウント </a:t>
            </a:r>
            <a:r>
              <a:rPr lang="en-US" altLang="ja-JP" sz="800" dirty="0">
                <a:latin typeface="メイリオ" panose="020B0604030504040204" pitchFamily="50" charset="-128"/>
                <a:ea typeface="メイリオ" panose="020B0604030504040204" pitchFamily="50" charset="-128"/>
              </a:rPr>
              <a:t>Growth</a:t>
            </a:r>
            <a:r>
              <a:rPr lang="ja-JP" altLang="en-US" sz="800" dirty="0">
                <a:latin typeface="メイリオ" panose="020B0604030504040204" pitchFamily="50" charset="-128"/>
                <a:ea typeface="メイリオ" panose="020B0604030504040204" pitchFamily="50" charset="-128"/>
              </a:rPr>
              <a:t>」部門で</a:t>
            </a:r>
            <a:r>
              <a:rPr lang="en-US" altLang="ja-JP" sz="800" dirty="0">
                <a:latin typeface="メイリオ" panose="020B0604030504040204" pitchFamily="50" charset="-128"/>
                <a:ea typeface="メイリオ" panose="020B0604030504040204" pitchFamily="50" charset="-128"/>
              </a:rPr>
              <a:t>LINE</a:t>
            </a:r>
            <a:r>
              <a:rPr lang="ja-JP" altLang="en-US" sz="800" dirty="0">
                <a:latin typeface="メイリオ" panose="020B0604030504040204" pitchFamily="50" charset="-128"/>
                <a:ea typeface="メイリオ" panose="020B0604030504040204" pitchFamily="50" charset="-128"/>
              </a:rPr>
              <a:t>ヤフー社から表彰をいただきました。</a:t>
            </a:r>
            <a:endParaRPr kumimoji="1" lang="ja-JP" altLang="en-US" sz="800" dirty="0">
              <a:latin typeface="メイリオ" panose="020B0604030504040204" pitchFamily="50" charset="-128"/>
              <a:ea typeface="メイリオ" panose="020B0604030504040204" pitchFamily="50" charset="-128"/>
            </a:endParaRPr>
          </a:p>
        </p:txBody>
      </p:sp>
      <p:sp>
        <p:nvSpPr>
          <p:cNvPr id="8" name="正方形/長方形 7">
            <a:extLst>
              <a:ext uri="{FF2B5EF4-FFF2-40B4-BE49-F238E27FC236}">
                <a16:creationId xmlns:a16="http://schemas.microsoft.com/office/drawing/2014/main" id="{F974FA57-9312-73D0-6461-C65486B6B90A}"/>
              </a:ext>
            </a:extLst>
          </p:cNvPr>
          <p:cNvSpPr/>
          <p:nvPr/>
        </p:nvSpPr>
        <p:spPr>
          <a:xfrm>
            <a:off x="388723" y="675734"/>
            <a:ext cx="9128556" cy="349010"/>
          </a:xfrm>
          <a:prstGeom prst="rect">
            <a:avLst/>
          </a:prstGeom>
          <a:solidFill>
            <a:schemeClr val="bg1">
              <a:lumMod val="65000"/>
            </a:schemeClr>
          </a:solidFill>
          <a:ln>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 name="正方形/長方形 2">
            <a:extLst>
              <a:ext uri="{FF2B5EF4-FFF2-40B4-BE49-F238E27FC236}">
                <a16:creationId xmlns:a16="http://schemas.microsoft.com/office/drawing/2014/main" id="{4661DF32-128A-6B77-5F5D-76D78A1B8378}"/>
              </a:ext>
            </a:extLst>
          </p:cNvPr>
          <p:cNvSpPr/>
          <p:nvPr/>
        </p:nvSpPr>
        <p:spPr>
          <a:xfrm>
            <a:off x="2853632" y="700332"/>
            <a:ext cx="6663645" cy="306000"/>
          </a:xfrm>
          <a:prstGeom prst="rect">
            <a:avLst/>
          </a:prstGeom>
          <a:solidFill>
            <a:srgbClr val="10253F"/>
          </a:solidFill>
        </p:spPr>
        <p:txBody>
          <a:bodyPr wrap="square">
            <a:spAutoFit/>
          </a:bodyPr>
          <a:lstStyle/>
          <a:p>
            <a:pPr lvl="0">
              <a:buClr>
                <a:srgbClr val="002060"/>
              </a:buClr>
              <a:buSzPts val="1600"/>
            </a:pPr>
            <a:r>
              <a:rPr lang="en-US" altLang="ja-JP" sz="1300" b="1">
                <a:solidFill>
                  <a:schemeClr val="bg1"/>
                </a:solidFill>
                <a:latin typeface="Meiryo"/>
                <a:ea typeface="Meiryo"/>
                <a:cs typeface="Meiryo"/>
                <a:sym typeface="Meiryo"/>
              </a:rPr>
              <a:t>LINE</a:t>
            </a:r>
            <a:r>
              <a:rPr lang="ja-JP" altLang="en-US" sz="1300" b="1">
                <a:solidFill>
                  <a:schemeClr val="bg1"/>
                </a:solidFill>
                <a:latin typeface="Meiryo"/>
                <a:ea typeface="Meiryo"/>
                <a:cs typeface="Meiryo"/>
                <a:sym typeface="Meiryo"/>
              </a:rPr>
              <a:t>ヤフー </a:t>
            </a:r>
            <a:r>
              <a:rPr lang="en-US" altLang="ja-JP" sz="1300" b="1">
                <a:solidFill>
                  <a:schemeClr val="bg1"/>
                </a:solidFill>
                <a:latin typeface="Meiryo"/>
                <a:ea typeface="Meiryo"/>
                <a:cs typeface="Meiryo"/>
                <a:sym typeface="Meiryo"/>
              </a:rPr>
              <a:t>Partner Award 2025</a:t>
            </a:r>
            <a:r>
              <a:rPr lang="ja-JP" altLang="en-US" sz="1300" b="1">
                <a:solidFill>
                  <a:schemeClr val="bg1"/>
                </a:solidFill>
                <a:latin typeface="Meiryo"/>
                <a:ea typeface="Meiryo"/>
                <a:cs typeface="Meiryo"/>
                <a:sym typeface="Meiryo"/>
              </a:rPr>
              <a:t>にて「</a:t>
            </a:r>
            <a:r>
              <a:rPr lang="en-US" altLang="ja-JP" sz="1300" b="1">
                <a:solidFill>
                  <a:schemeClr val="bg1"/>
                </a:solidFill>
                <a:latin typeface="Meiryo"/>
                <a:ea typeface="Meiryo"/>
                <a:cs typeface="Meiryo"/>
                <a:sym typeface="Meiryo"/>
              </a:rPr>
              <a:t>Best LINE</a:t>
            </a:r>
            <a:r>
              <a:rPr lang="ja-JP" altLang="en-US" sz="1300" b="1">
                <a:solidFill>
                  <a:schemeClr val="bg1"/>
                </a:solidFill>
                <a:latin typeface="Meiryo"/>
                <a:ea typeface="Meiryo"/>
                <a:cs typeface="Meiryo"/>
                <a:sym typeface="Meiryo"/>
              </a:rPr>
              <a:t>公式アカウント </a:t>
            </a:r>
            <a:r>
              <a:rPr lang="en-US" altLang="ja-JP" sz="1300" b="1">
                <a:solidFill>
                  <a:schemeClr val="bg1"/>
                </a:solidFill>
                <a:latin typeface="Meiryo"/>
                <a:ea typeface="Meiryo"/>
                <a:cs typeface="Meiryo"/>
                <a:sym typeface="Meiryo"/>
              </a:rPr>
              <a:t>Growth</a:t>
            </a:r>
            <a:r>
              <a:rPr lang="ja-JP" altLang="en-US" sz="1300" b="1">
                <a:solidFill>
                  <a:schemeClr val="bg1"/>
                </a:solidFill>
                <a:latin typeface="Meiryo"/>
                <a:ea typeface="Meiryo"/>
                <a:cs typeface="Meiryo"/>
                <a:sym typeface="Meiryo"/>
              </a:rPr>
              <a:t>」受賞</a:t>
            </a:r>
            <a:endParaRPr lang="en-US" altLang="ja-JP" sz="1300" b="1" dirty="0">
              <a:solidFill>
                <a:schemeClr val="bg1"/>
              </a:solidFill>
              <a:latin typeface="Meiryo"/>
              <a:ea typeface="Meiryo"/>
              <a:cs typeface="Meiryo"/>
              <a:sym typeface="Meiryo"/>
            </a:endParaRPr>
          </a:p>
        </p:txBody>
      </p:sp>
      <p:sp>
        <p:nvSpPr>
          <p:cNvPr id="6" name="正方形/長方形 5">
            <a:extLst>
              <a:ext uri="{FF2B5EF4-FFF2-40B4-BE49-F238E27FC236}">
                <a16:creationId xmlns:a16="http://schemas.microsoft.com/office/drawing/2014/main" id="{DEE7F595-5FAC-C5CD-0B26-580B6DF09A53}"/>
              </a:ext>
            </a:extLst>
          </p:cNvPr>
          <p:cNvSpPr/>
          <p:nvPr/>
        </p:nvSpPr>
        <p:spPr>
          <a:xfrm>
            <a:off x="432943" y="700332"/>
            <a:ext cx="2391617" cy="306000"/>
          </a:xfrm>
          <a:prstGeom prst="rect">
            <a:avLst/>
          </a:prstGeom>
          <a:solidFill>
            <a:srgbClr val="10253F"/>
          </a:solidFill>
        </p:spPr>
        <p:txBody>
          <a:bodyPr wrap="square">
            <a:spAutoFit/>
          </a:bodyPr>
          <a:lstStyle/>
          <a:p>
            <a:pPr lvl="0" algn="ctr">
              <a:buClr>
                <a:srgbClr val="002060"/>
              </a:buClr>
              <a:buSzPts val="1600"/>
            </a:pPr>
            <a:r>
              <a:rPr lang="en-US" altLang="ja-JP" sz="1400" b="1">
                <a:solidFill>
                  <a:schemeClr val="bg1"/>
                </a:solidFill>
                <a:latin typeface="Meiryo"/>
                <a:ea typeface="Meiryo"/>
                <a:cs typeface="Meiryo"/>
                <a:sym typeface="Meiryo"/>
              </a:rPr>
              <a:t>DYM × LINEOA</a:t>
            </a:r>
            <a:endParaRPr lang="en-US" altLang="ja-JP" sz="1400" b="1" dirty="0">
              <a:solidFill>
                <a:schemeClr val="bg1"/>
              </a:solidFill>
              <a:latin typeface="Meiryo"/>
              <a:ea typeface="Meiryo"/>
              <a:cs typeface="Meiryo"/>
              <a:sym typeface="Meiryo"/>
            </a:endParaRPr>
          </a:p>
        </p:txBody>
      </p:sp>
      <p:pic>
        <p:nvPicPr>
          <p:cNvPr id="56" name="Picture 2">
            <a:extLst>
              <a:ext uri="{FF2B5EF4-FFF2-40B4-BE49-F238E27FC236}">
                <a16:creationId xmlns:a16="http://schemas.microsoft.com/office/drawing/2014/main" id="{6B503BF7-985B-8770-4643-5E3EB6E5562A}"/>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069689" y="5150774"/>
            <a:ext cx="1929199" cy="1286131"/>
          </a:xfrm>
          <a:prstGeom prst="rect">
            <a:avLst/>
          </a:prstGeom>
          <a:noFill/>
          <a:extLst>
            <a:ext uri="{909E8E84-426E-40DD-AFC4-6F175D3DCCD1}">
              <a14:hiddenFill xmlns:a14="http://schemas.microsoft.com/office/drawing/2010/main">
                <a:solidFill>
                  <a:srgbClr val="FFFFFF"/>
                </a:solidFill>
              </a14:hiddenFill>
            </a:ext>
          </a:extLst>
        </p:spPr>
      </p:pic>
      <p:sp>
        <p:nvSpPr>
          <p:cNvPr id="2" name="テキスト プレースホルダー 2">
            <a:extLst>
              <a:ext uri="{FF2B5EF4-FFF2-40B4-BE49-F238E27FC236}">
                <a16:creationId xmlns:a16="http://schemas.microsoft.com/office/drawing/2014/main" id="{761ADAB8-B668-8B05-EDE6-B5003466E015}"/>
              </a:ext>
            </a:extLst>
          </p:cNvPr>
          <p:cNvSpPr txBox="1">
            <a:spLocks/>
          </p:cNvSpPr>
          <p:nvPr/>
        </p:nvSpPr>
        <p:spPr>
          <a:xfrm>
            <a:off x="8209814" y="6217102"/>
            <a:ext cx="676273" cy="157797"/>
          </a:xfrm>
          <a:prstGeom prst="rect">
            <a:avLst/>
          </a:prstGeom>
        </p:spPr>
        <p:txBody>
          <a:bodyPr lIns="0" tIns="0" rIns="0" bIns="0" anchor="t"/>
          <a:lstStyle>
            <a:lvl1pPr marL="0" indent="0" algn="l" defTabSz="914400" rtl="0" eaLnBrk="1" latinLnBrk="0" hangingPunct="1">
              <a:lnSpc>
                <a:spcPct val="130000"/>
              </a:lnSpc>
              <a:spcBef>
                <a:spcPts val="0"/>
              </a:spcBef>
              <a:buFont typeface="Arial" panose="020B0604020202020204" pitchFamily="34" charset="0"/>
              <a:buNone/>
              <a:defRPr kumimoji="1" sz="1400" kern="1200">
                <a:solidFill>
                  <a:schemeClr val="tx1">
                    <a:lumMod val="95000"/>
                    <a:lumOff val="5000"/>
                  </a:schemeClr>
                </a:solidFill>
                <a:latin typeface="Meiryo" panose="020B0604030504040204" pitchFamily="34" charset="-128"/>
                <a:ea typeface="Meiryo" panose="020B0604030504040204" pitchFamily="34" charset="-128"/>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pPr lvl="0">
              <a:defRPr/>
            </a:pPr>
            <a:r>
              <a:rPr lang="en-US" altLang="ja-JP" sz="700">
                <a:solidFill>
                  <a:schemeClr val="bg1"/>
                </a:solidFill>
              </a:rPr>
              <a:t>※</a:t>
            </a:r>
            <a:r>
              <a:rPr lang="ja-JP" altLang="en-US" sz="700">
                <a:solidFill>
                  <a:schemeClr val="bg1"/>
                </a:solidFill>
              </a:rPr>
              <a:t>受賞時の</a:t>
            </a:r>
            <a:r>
              <a:rPr lang="en-US" altLang="ja-JP" sz="700">
                <a:solidFill>
                  <a:schemeClr val="bg1"/>
                </a:solidFill>
              </a:rPr>
              <a:t>1</a:t>
            </a:r>
            <a:r>
              <a:rPr lang="ja-JP" altLang="en-US" sz="700">
                <a:solidFill>
                  <a:schemeClr val="bg1"/>
                </a:solidFill>
              </a:rPr>
              <a:t>枚</a:t>
            </a:r>
            <a:endParaRPr lang="en-US" altLang="ja-JP" sz="700" dirty="0">
              <a:solidFill>
                <a:schemeClr val="bg1"/>
              </a:solidFill>
            </a:endParaRPr>
          </a:p>
        </p:txBody>
      </p:sp>
      <p:pic>
        <p:nvPicPr>
          <p:cNvPr id="7" name="図 6" descr="アイコン が含まれている画像&#10;&#10;AI 生成コンテンツは誤りを含む可能性があります。">
            <a:extLst>
              <a:ext uri="{FF2B5EF4-FFF2-40B4-BE49-F238E27FC236}">
                <a16:creationId xmlns:a16="http://schemas.microsoft.com/office/drawing/2014/main" id="{1FAB445F-372A-C0D2-7552-790613769A34}"/>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4408069" y="4654614"/>
            <a:ext cx="2886575" cy="2294826"/>
          </a:xfrm>
          <a:prstGeom prst="rect">
            <a:avLst/>
          </a:prstGeom>
        </p:spPr>
      </p:pic>
      <p:sp>
        <p:nvSpPr>
          <p:cNvPr id="10" name="テキスト ボックス 9">
            <a:extLst>
              <a:ext uri="{FF2B5EF4-FFF2-40B4-BE49-F238E27FC236}">
                <a16:creationId xmlns:a16="http://schemas.microsoft.com/office/drawing/2014/main" id="{F7A1F49B-800C-42EE-5308-93E8C2B2E88F}"/>
              </a:ext>
            </a:extLst>
          </p:cNvPr>
          <p:cNvSpPr txBox="1"/>
          <p:nvPr/>
        </p:nvSpPr>
        <p:spPr>
          <a:xfrm>
            <a:off x="2535025" y="5767731"/>
            <a:ext cx="4963884" cy="646331"/>
          </a:xfrm>
          <a:prstGeom prst="rect">
            <a:avLst/>
          </a:prstGeom>
          <a:noFill/>
        </p:spPr>
        <p:txBody>
          <a:bodyPr wrap="square">
            <a:spAutoFit/>
          </a:bodyPr>
          <a:lstStyle/>
          <a:p>
            <a:r>
              <a:rPr lang="ja-JP" altLang="en-US" sz="900" dirty="0">
                <a:solidFill>
                  <a:srgbClr val="000000">
                    <a:lumMod val="95000"/>
                    <a:lumOff val="5000"/>
                  </a:srgbClr>
                </a:solidFill>
                <a:latin typeface="メイリオ" panose="020B0604030504040204" pitchFamily="50" charset="-128"/>
                <a:ea typeface="メイリオ" panose="020B0604030504040204" pitchFamily="50" charset="-128"/>
              </a:rPr>
              <a:t>現在</a:t>
            </a:r>
            <a:r>
              <a:rPr lang="en-US" altLang="ja-JP" sz="900" dirty="0">
                <a:solidFill>
                  <a:srgbClr val="000000">
                    <a:lumMod val="95000"/>
                    <a:lumOff val="5000"/>
                  </a:srgbClr>
                </a:solidFill>
                <a:latin typeface="メイリオ" panose="020B0604030504040204" pitchFamily="50" charset="-128"/>
                <a:ea typeface="メイリオ" panose="020B0604030504040204" pitchFamily="50" charset="-128"/>
              </a:rPr>
              <a:t>Sales Partner Premier</a:t>
            </a:r>
          </a:p>
          <a:p>
            <a:r>
              <a:rPr lang="ja-JP" altLang="en-US" sz="900" dirty="0">
                <a:solidFill>
                  <a:srgbClr val="000000">
                    <a:lumMod val="95000"/>
                    <a:lumOff val="5000"/>
                  </a:srgbClr>
                </a:solidFill>
                <a:latin typeface="メイリオ" panose="020B0604030504040204" pitchFamily="50" charset="-128"/>
                <a:ea typeface="メイリオ" panose="020B0604030504040204" pitchFamily="50" charset="-128"/>
              </a:rPr>
              <a:t>は</a:t>
            </a:r>
            <a:r>
              <a:rPr lang="en-US" altLang="ja-JP" sz="900" dirty="0">
                <a:solidFill>
                  <a:srgbClr val="000000">
                    <a:lumMod val="95000"/>
                    <a:lumOff val="5000"/>
                  </a:srgbClr>
                </a:solidFill>
                <a:latin typeface="メイリオ" panose="020B0604030504040204" pitchFamily="50" charset="-128"/>
                <a:ea typeface="メイリオ" panose="020B0604030504040204" pitchFamily="50" charset="-128"/>
              </a:rPr>
              <a:t>DYM</a:t>
            </a:r>
            <a:r>
              <a:rPr lang="ja-JP" altLang="en-US" sz="900" dirty="0">
                <a:solidFill>
                  <a:srgbClr val="000000">
                    <a:lumMod val="95000"/>
                    <a:lumOff val="5000"/>
                  </a:srgbClr>
                </a:solidFill>
                <a:latin typeface="メイリオ" panose="020B0604030504040204" pitchFamily="50" charset="-128"/>
                <a:ea typeface="メイリオ" panose="020B0604030504040204" pitchFamily="50" charset="-128"/>
              </a:rPr>
              <a:t>を合わせて</a:t>
            </a:r>
            <a:r>
              <a:rPr lang="en-US" altLang="ja-JP" sz="900" b="1" dirty="0">
                <a:solidFill>
                  <a:srgbClr val="000000">
                    <a:lumMod val="95000"/>
                    <a:lumOff val="5000"/>
                  </a:srgbClr>
                </a:solidFill>
                <a:latin typeface="メイリオ" panose="020B0604030504040204" pitchFamily="50" charset="-128"/>
                <a:ea typeface="メイリオ" panose="020B0604030504040204" pitchFamily="50" charset="-128"/>
              </a:rPr>
              <a:t>12</a:t>
            </a:r>
            <a:r>
              <a:rPr lang="ja-JP" altLang="en-US" sz="900" b="1" dirty="0">
                <a:solidFill>
                  <a:srgbClr val="000000">
                    <a:lumMod val="95000"/>
                    <a:lumOff val="5000"/>
                  </a:srgbClr>
                </a:solidFill>
                <a:latin typeface="メイリオ" panose="020B0604030504040204" pitchFamily="50" charset="-128"/>
                <a:ea typeface="メイリオ" panose="020B0604030504040204" pitchFamily="50" charset="-128"/>
              </a:rPr>
              <a:t>社が認定</a:t>
            </a:r>
            <a:r>
              <a:rPr lang="ja-JP" altLang="en-US" sz="900" dirty="0">
                <a:solidFill>
                  <a:srgbClr val="000000">
                    <a:lumMod val="95000"/>
                    <a:lumOff val="5000"/>
                  </a:srgbClr>
                </a:solidFill>
                <a:latin typeface="メイリオ" panose="020B0604030504040204" pitchFamily="50" charset="-128"/>
                <a:ea typeface="メイリオ" panose="020B0604030504040204" pitchFamily="50" charset="-128"/>
              </a:rPr>
              <a:t>。</a:t>
            </a:r>
            <a:endParaRPr lang="en-US" altLang="ja-JP" sz="900" dirty="0">
              <a:solidFill>
                <a:srgbClr val="000000">
                  <a:lumMod val="95000"/>
                  <a:lumOff val="5000"/>
                </a:srgbClr>
              </a:solidFill>
              <a:latin typeface="メイリオ" panose="020B0604030504040204" pitchFamily="50" charset="-128"/>
              <a:ea typeface="メイリオ" panose="020B0604030504040204" pitchFamily="50" charset="-128"/>
            </a:endParaRPr>
          </a:p>
          <a:p>
            <a:endParaRPr lang="en-US" altLang="ja-JP" sz="900" dirty="0">
              <a:solidFill>
                <a:srgbClr val="000000">
                  <a:lumMod val="95000"/>
                  <a:lumOff val="5000"/>
                </a:srgbClr>
              </a:solidFill>
              <a:latin typeface="メイリオ" panose="020B0604030504040204" pitchFamily="50" charset="-128"/>
              <a:ea typeface="メイリオ" panose="020B0604030504040204" pitchFamily="50" charset="-128"/>
            </a:endParaRPr>
          </a:p>
          <a:p>
            <a:r>
              <a:rPr lang="en-US" altLang="ja-JP" sz="900" dirty="0">
                <a:solidFill>
                  <a:srgbClr val="000000">
                    <a:lumMod val="95000"/>
                    <a:lumOff val="5000"/>
                  </a:srgbClr>
                </a:solidFill>
                <a:latin typeface="メイリオ" panose="020B0604030504040204" pitchFamily="50" charset="-128"/>
                <a:ea typeface="メイリオ" panose="020B0604030504040204" pitchFamily="50" charset="-128"/>
              </a:rPr>
              <a:t>※</a:t>
            </a:r>
            <a:r>
              <a:rPr lang="ja-JP" altLang="en-US" sz="900" dirty="0">
                <a:solidFill>
                  <a:srgbClr val="000000">
                    <a:lumMod val="95000"/>
                    <a:lumOff val="5000"/>
                  </a:srgbClr>
                </a:solidFill>
                <a:latin typeface="メイリオ" panose="020B0604030504040204" pitchFamily="50" charset="-128"/>
                <a:ea typeface="メイリオ" panose="020B0604030504040204" pitchFamily="50" charset="-128"/>
              </a:rPr>
              <a:t>未上場企業では</a:t>
            </a:r>
            <a:r>
              <a:rPr lang="ja-JP" altLang="en-US" sz="900" b="1" dirty="0">
                <a:solidFill>
                  <a:srgbClr val="000000">
                    <a:lumMod val="95000"/>
                    <a:lumOff val="5000"/>
                  </a:srgbClr>
                </a:solidFill>
                <a:latin typeface="メイリオ" panose="020B0604030504040204" pitchFamily="50" charset="-128"/>
                <a:ea typeface="メイリオ" panose="020B0604030504040204" pitchFamily="50" charset="-128"/>
              </a:rPr>
              <a:t>唯一で最上位</a:t>
            </a:r>
            <a:r>
              <a:rPr lang="ja-JP" altLang="en-US" sz="900" dirty="0">
                <a:solidFill>
                  <a:srgbClr val="000000">
                    <a:lumMod val="95000"/>
                    <a:lumOff val="5000"/>
                  </a:srgbClr>
                </a:solidFill>
                <a:latin typeface="メイリオ" panose="020B0604030504040204" pitchFamily="50" charset="-128"/>
                <a:ea typeface="メイリオ" panose="020B0604030504040204" pitchFamily="50" charset="-128"/>
              </a:rPr>
              <a:t>。</a:t>
            </a:r>
            <a:endParaRPr lang="ja-JP" altLang="en-US" sz="900" dirty="0"/>
          </a:p>
        </p:txBody>
      </p:sp>
      <p:pic>
        <p:nvPicPr>
          <p:cNvPr id="5" name="図 4">
            <a:extLst>
              <a:ext uri="{FF2B5EF4-FFF2-40B4-BE49-F238E27FC236}">
                <a16:creationId xmlns:a16="http://schemas.microsoft.com/office/drawing/2014/main" id="{1F013E1B-3D36-6118-A1E8-A84BF28EDEC2}"/>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188996" y="4759370"/>
            <a:ext cx="2664636" cy="2074350"/>
          </a:xfrm>
          <a:prstGeom prst="rect">
            <a:avLst/>
          </a:prstGeom>
        </p:spPr>
      </p:pic>
    </p:spTree>
    <p:extLst>
      <p:ext uri="{BB962C8B-B14F-4D97-AF65-F5344CB8AC3E}">
        <p14:creationId xmlns:p14="http://schemas.microsoft.com/office/powerpoint/2010/main" val="332055576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EE5861D-E2B1-5330-6864-9B051B1B450A}"/>
            </a:ext>
          </a:extLst>
        </p:cNvPr>
        <p:cNvGrpSpPr/>
        <p:nvPr/>
      </p:nvGrpSpPr>
      <p:grpSpPr>
        <a:xfrm>
          <a:off x="0" y="0"/>
          <a:ext cx="0" cy="0"/>
          <a:chOff x="0" y="0"/>
          <a:chExt cx="0" cy="0"/>
        </a:xfrm>
      </p:grpSpPr>
      <p:cxnSp>
        <p:nvCxnSpPr>
          <p:cNvPr id="1033" name="直線コネクタ 4"/>
          <p:cNvCxnSpPr/>
          <p:nvPr/>
        </p:nvCxnSpPr>
        <p:spPr>
          <a:xfrm>
            <a:off x="0" y="548640"/>
            <a:ext cx="9906120" cy="360"/>
          </a:xfrm>
          <a:prstGeom prst="straightConnector1">
            <a:avLst/>
          </a:prstGeom>
          <a:ln>
            <a:solidFill>
              <a:srgbClr val="191F54"/>
            </a:solidFill>
            <a:round/>
          </a:ln>
        </p:spPr>
      </p:cxnSp>
      <p:sp>
        <p:nvSpPr>
          <p:cNvPr id="1034" name="正方形/長方形 6"/>
          <p:cNvSpPr/>
          <p:nvPr/>
        </p:nvSpPr>
        <p:spPr>
          <a:xfrm>
            <a:off x="0" y="0"/>
            <a:ext cx="450720" cy="548280"/>
          </a:xfrm>
          <a:prstGeom prst="rect">
            <a:avLst/>
          </a:prstGeom>
          <a:solidFill>
            <a:srgbClr val="191F54"/>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rgbClr val="FFFFFF"/>
              </a:solidFill>
              <a:effectLst/>
              <a:uFillTx/>
              <a:latin typeface="Calibri"/>
            </a:endParaRPr>
          </a:p>
        </p:txBody>
      </p:sp>
      <p:sp>
        <p:nvSpPr>
          <p:cNvPr id="4" name="Google Shape;752;p28">
            <a:extLst>
              <a:ext uri="{FF2B5EF4-FFF2-40B4-BE49-F238E27FC236}">
                <a16:creationId xmlns:a16="http://schemas.microsoft.com/office/drawing/2014/main" id="{10815731-3923-DF64-2497-E7A37D053AD8}"/>
              </a:ext>
            </a:extLst>
          </p:cNvPr>
          <p:cNvSpPr txBox="1"/>
          <p:nvPr/>
        </p:nvSpPr>
        <p:spPr>
          <a:xfrm>
            <a:off x="549000" y="138240"/>
            <a:ext cx="6276325" cy="338040"/>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弊社ポジショニング</a:t>
            </a:r>
          </a:p>
        </p:txBody>
      </p:sp>
      <p:sp>
        <p:nvSpPr>
          <p:cNvPr id="2" name="正方形/長方形 1">
            <a:extLst>
              <a:ext uri="{FF2B5EF4-FFF2-40B4-BE49-F238E27FC236}">
                <a16:creationId xmlns:a16="http://schemas.microsoft.com/office/drawing/2014/main" id="{6EE73D80-19A8-1B22-3E67-207FD67693A3}"/>
              </a:ext>
            </a:extLst>
          </p:cNvPr>
          <p:cNvSpPr/>
          <p:nvPr/>
        </p:nvSpPr>
        <p:spPr>
          <a:xfrm>
            <a:off x="414745" y="1861522"/>
            <a:ext cx="4383678" cy="1657101"/>
          </a:xfrm>
          <a:prstGeom prst="rect">
            <a:avLst/>
          </a:prstGeom>
          <a:no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00">
              <a:solidFill>
                <a:schemeClr val="tx1"/>
              </a:solidFill>
              <a:latin typeface="メイリオ" panose="020B0604030504040204" pitchFamily="50" charset="-128"/>
              <a:ea typeface="メイリオ" panose="020B0604030504040204" pitchFamily="50" charset="-128"/>
            </a:endParaRPr>
          </a:p>
        </p:txBody>
      </p:sp>
      <p:sp>
        <p:nvSpPr>
          <p:cNvPr id="5" name="正方形/長方形 4">
            <a:extLst>
              <a:ext uri="{FF2B5EF4-FFF2-40B4-BE49-F238E27FC236}">
                <a16:creationId xmlns:a16="http://schemas.microsoft.com/office/drawing/2014/main" id="{CD2306FC-4175-2C00-0D17-32F2AAC51C82}"/>
              </a:ext>
            </a:extLst>
          </p:cNvPr>
          <p:cNvSpPr/>
          <p:nvPr/>
        </p:nvSpPr>
        <p:spPr>
          <a:xfrm>
            <a:off x="4892040" y="1861522"/>
            <a:ext cx="4383678" cy="1657101"/>
          </a:xfrm>
          <a:prstGeom prst="rect">
            <a:avLst/>
          </a:prstGeom>
          <a:no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00">
              <a:latin typeface="メイリオ" panose="020B0604030504040204" pitchFamily="50" charset="-128"/>
              <a:ea typeface="メイリオ" panose="020B0604030504040204" pitchFamily="50" charset="-128"/>
            </a:endParaRPr>
          </a:p>
        </p:txBody>
      </p:sp>
      <p:sp>
        <p:nvSpPr>
          <p:cNvPr id="10" name="正方形/長方形 9">
            <a:extLst>
              <a:ext uri="{FF2B5EF4-FFF2-40B4-BE49-F238E27FC236}">
                <a16:creationId xmlns:a16="http://schemas.microsoft.com/office/drawing/2014/main" id="{9ED6AD3F-541D-3FC5-0062-3F2A923253C9}"/>
              </a:ext>
            </a:extLst>
          </p:cNvPr>
          <p:cNvSpPr/>
          <p:nvPr/>
        </p:nvSpPr>
        <p:spPr>
          <a:xfrm>
            <a:off x="414745" y="4308273"/>
            <a:ext cx="4383678" cy="1657101"/>
          </a:xfrm>
          <a:prstGeom prst="rect">
            <a:avLst/>
          </a:prstGeom>
          <a:no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00">
              <a:latin typeface="メイリオ" panose="020B0604030504040204" pitchFamily="50" charset="-128"/>
              <a:ea typeface="メイリオ" panose="020B0604030504040204" pitchFamily="50" charset="-128"/>
            </a:endParaRPr>
          </a:p>
        </p:txBody>
      </p:sp>
      <p:sp>
        <p:nvSpPr>
          <p:cNvPr id="11" name="正方形/長方形 10">
            <a:extLst>
              <a:ext uri="{FF2B5EF4-FFF2-40B4-BE49-F238E27FC236}">
                <a16:creationId xmlns:a16="http://schemas.microsoft.com/office/drawing/2014/main" id="{D4D20F90-DB1A-B6A0-8607-C0C93118158E}"/>
              </a:ext>
            </a:extLst>
          </p:cNvPr>
          <p:cNvSpPr/>
          <p:nvPr/>
        </p:nvSpPr>
        <p:spPr>
          <a:xfrm>
            <a:off x="4892040" y="4308273"/>
            <a:ext cx="4383678" cy="1657101"/>
          </a:xfrm>
          <a:prstGeom prst="rect">
            <a:avLst/>
          </a:prstGeom>
          <a:no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00">
              <a:latin typeface="メイリオ" panose="020B0604030504040204" pitchFamily="50" charset="-128"/>
              <a:ea typeface="メイリオ" panose="020B0604030504040204" pitchFamily="50" charset="-128"/>
            </a:endParaRPr>
          </a:p>
        </p:txBody>
      </p:sp>
      <p:sp>
        <p:nvSpPr>
          <p:cNvPr id="12" name="正方形/長方形 11">
            <a:extLst>
              <a:ext uri="{FF2B5EF4-FFF2-40B4-BE49-F238E27FC236}">
                <a16:creationId xmlns:a16="http://schemas.microsoft.com/office/drawing/2014/main" id="{94608CEE-4C85-001A-2579-A0A698688995}"/>
              </a:ext>
            </a:extLst>
          </p:cNvPr>
          <p:cNvSpPr/>
          <p:nvPr/>
        </p:nvSpPr>
        <p:spPr>
          <a:xfrm>
            <a:off x="414745" y="1861523"/>
            <a:ext cx="4383678" cy="324689"/>
          </a:xfrm>
          <a:prstGeom prst="rect">
            <a:avLst/>
          </a:prstGeom>
          <a:solidFill>
            <a:schemeClr val="tx2">
              <a:lumMod val="20000"/>
              <a:lumOff val="80000"/>
            </a:schemeClr>
          </a:solid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tx1"/>
                </a:solidFill>
                <a:latin typeface="メイリオ" panose="020B0604030504040204" pitchFamily="50" charset="-128"/>
                <a:ea typeface="メイリオ" panose="020B0604030504040204" pitchFamily="50" charset="-128"/>
              </a:rPr>
              <a:t>ツール会社　</a:t>
            </a:r>
          </a:p>
        </p:txBody>
      </p:sp>
      <p:sp>
        <p:nvSpPr>
          <p:cNvPr id="13" name="正方形/長方形 12">
            <a:extLst>
              <a:ext uri="{FF2B5EF4-FFF2-40B4-BE49-F238E27FC236}">
                <a16:creationId xmlns:a16="http://schemas.microsoft.com/office/drawing/2014/main" id="{59A99E6E-D460-C2CE-3554-D4177944BCC1}"/>
              </a:ext>
            </a:extLst>
          </p:cNvPr>
          <p:cNvSpPr/>
          <p:nvPr/>
        </p:nvSpPr>
        <p:spPr>
          <a:xfrm>
            <a:off x="4892040" y="1861523"/>
            <a:ext cx="4383678" cy="324689"/>
          </a:xfrm>
          <a:prstGeom prst="rect">
            <a:avLst/>
          </a:prstGeom>
          <a:solidFill>
            <a:schemeClr val="tx2">
              <a:lumMod val="20000"/>
              <a:lumOff val="80000"/>
            </a:schemeClr>
          </a:solid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tx1"/>
                </a:solidFill>
                <a:latin typeface="メイリオ" panose="020B0604030504040204" pitchFamily="50" charset="-128"/>
                <a:ea typeface="メイリオ" panose="020B0604030504040204" pitchFamily="50" charset="-128"/>
              </a:rPr>
              <a:t> コンサル会社</a:t>
            </a:r>
          </a:p>
        </p:txBody>
      </p:sp>
      <p:sp>
        <p:nvSpPr>
          <p:cNvPr id="14" name="正方形/長方形 13">
            <a:extLst>
              <a:ext uri="{FF2B5EF4-FFF2-40B4-BE49-F238E27FC236}">
                <a16:creationId xmlns:a16="http://schemas.microsoft.com/office/drawing/2014/main" id="{B9B23A0A-C181-F52D-CE83-83252D57916D}"/>
              </a:ext>
            </a:extLst>
          </p:cNvPr>
          <p:cNvSpPr/>
          <p:nvPr/>
        </p:nvSpPr>
        <p:spPr>
          <a:xfrm>
            <a:off x="414745" y="4295574"/>
            <a:ext cx="4383678" cy="324689"/>
          </a:xfrm>
          <a:prstGeom prst="rect">
            <a:avLst/>
          </a:prstGeom>
          <a:solidFill>
            <a:schemeClr val="tx2">
              <a:lumMod val="20000"/>
              <a:lumOff val="80000"/>
            </a:schemeClr>
          </a:solid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tx1"/>
                </a:solidFill>
                <a:latin typeface="メイリオ" panose="020B0604030504040204" pitchFamily="50" charset="-128"/>
                <a:ea typeface="メイリオ" panose="020B0604030504040204" pitchFamily="50" charset="-128"/>
              </a:rPr>
              <a:t>広告専業の代理店</a:t>
            </a:r>
          </a:p>
        </p:txBody>
      </p:sp>
      <p:sp>
        <p:nvSpPr>
          <p:cNvPr id="15" name="正方形/長方形 14">
            <a:extLst>
              <a:ext uri="{FF2B5EF4-FFF2-40B4-BE49-F238E27FC236}">
                <a16:creationId xmlns:a16="http://schemas.microsoft.com/office/drawing/2014/main" id="{735511C6-7F11-A23D-F1BA-0FACD703798D}"/>
              </a:ext>
            </a:extLst>
          </p:cNvPr>
          <p:cNvSpPr/>
          <p:nvPr/>
        </p:nvSpPr>
        <p:spPr>
          <a:xfrm>
            <a:off x="4892040" y="4295574"/>
            <a:ext cx="4383678" cy="324689"/>
          </a:xfrm>
          <a:prstGeom prst="rect">
            <a:avLst/>
          </a:prstGeom>
          <a:solidFill>
            <a:schemeClr val="tx2">
              <a:lumMod val="20000"/>
              <a:lumOff val="80000"/>
            </a:schemeClr>
          </a:solid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tx1"/>
                </a:solidFill>
                <a:latin typeface="メイリオ" panose="020B0604030504040204" pitchFamily="50" charset="-128"/>
                <a:ea typeface="メイリオ" panose="020B0604030504040204" pitchFamily="50" charset="-128"/>
              </a:rPr>
              <a:t>他</a:t>
            </a:r>
            <a:r>
              <a:rPr kumimoji="1" lang="en-US" altLang="ja-JP" sz="1000" dirty="0">
                <a:solidFill>
                  <a:schemeClr val="tx1"/>
                </a:solidFill>
                <a:latin typeface="メイリオ" panose="020B0604030504040204" pitchFamily="50" charset="-128"/>
                <a:ea typeface="メイリオ" panose="020B0604030504040204" pitchFamily="50" charset="-128"/>
              </a:rPr>
              <a:t>CRM</a:t>
            </a:r>
            <a:r>
              <a:rPr kumimoji="1" lang="ja-JP" altLang="en-US" sz="1000" dirty="0">
                <a:solidFill>
                  <a:schemeClr val="tx1"/>
                </a:solidFill>
                <a:latin typeface="メイリオ" panose="020B0604030504040204" pitchFamily="50" charset="-128"/>
                <a:ea typeface="メイリオ" panose="020B0604030504040204" pitchFamily="50" charset="-128"/>
              </a:rPr>
              <a:t>の会社</a:t>
            </a:r>
          </a:p>
        </p:txBody>
      </p:sp>
      <p:pic>
        <p:nvPicPr>
          <p:cNvPr id="21" name="図 20" descr="文字が書かれている&#10;&#10;AI 生成コンテンツは誤りを含む可能性があります。">
            <a:extLst>
              <a:ext uri="{FF2B5EF4-FFF2-40B4-BE49-F238E27FC236}">
                <a16:creationId xmlns:a16="http://schemas.microsoft.com/office/drawing/2014/main" id="{2521257E-D1E1-307C-8244-A7D93D470795}"/>
              </a:ext>
            </a:extLst>
          </p:cNvPr>
          <p:cNvPicPr>
            <a:picLocks noChangeAspect="1"/>
          </p:cNvPicPr>
          <p:nvPr/>
        </p:nvPicPr>
        <p:blipFill>
          <a:blip r:embed="rId2"/>
          <a:stretch>
            <a:fillRect/>
          </a:stretch>
        </p:blipFill>
        <p:spPr>
          <a:xfrm>
            <a:off x="1086533" y="2288778"/>
            <a:ext cx="1323427" cy="315679"/>
          </a:xfrm>
          <a:prstGeom prst="rect">
            <a:avLst/>
          </a:prstGeom>
        </p:spPr>
      </p:pic>
      <p:pic>
        <p:nvPicPr>
          <p:cNvPr id="1026" name="Picture 2" descr="特定商取引法に関する表示 | Lステップ（エルステップ）公式_LINE公式アカウント特化のマーケティングツール">
            <a:extLst>
              <a:ext uri="{FF2B5EF4-FFF2-40B4-BE49-F238E27FC236}">
                <a16:creationId xmlns:a16="http://schemas.microsoft.com/office/drawing/2014/main" id="{E86AB3B4-1E56-4227-88BE-FA673F023348}"/>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436417" y="2199280"/>
            <a:ext cx="831168" cy="467532"/>
          </a:xfrm>
          <a:prstGeom prst="rect">
            <a:avLst/>
          </a:prstGeom>
          <a:noFill/>
          <a:extLst>
            <a:ext uri="{909E8E84-426E-40DD-AFC4-6F175D3DCCD1}">
              <a14:hiddenFill xmlns:a14="http://schemas.microsoft.com/office/drawing/2010/main">
                <a:solidFill>
                  <a:srgbClr val="FFFFFF"/>
                </a:solidFill>
              </a14:hiddenFill>
            </a:ext>
          </a:extLst>
        </p:spPr>
      </p:pic>
      <p:sp>
        <p:nvSpPr>
          <p:cNvPr id="26" name="乗算記号 25">
            <a:extLst>
              <a:ext uri="{FF2B5EF4-FFF2-40B4-BE49-F238E27FC236}">
                <a16:creationId xmlns:a16="http://schemas.microsoft.com/office/drawing/2014/main" id="{676235DE-33EB-2E33-33D6-74D321860C39}"/>
              </a:ext>
            </a:extLst>
          </p:cNvPr>
          <p:cNvSpPr/>
          <p:nvPr/>
        </p:nvSpPr>
        <p:spPr>
          <a:xfrm>
            <a:off x="6198323" y="1838911"/>
            <a:ext cx="360000" cy="360000"/>
          </a:xfrm>
          <a:prstGeom prst="mathMultiply">
            <a:avLst>
              <a:gd name="adj1" fmla="val 4915"/>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7" name="乗算記号 26">
            <a:extLst>
              <a:ext uri="{FF2B5EF4-FFF2-40B4-BE49-F238E27FC236}">
                <a16:creationId xmlns:a16="http://schemas.microsoft.com/office/drawing/2014/main" id="{7C31A50F-57BD-64E8-DE3F-3A8FB722D839}"/>
              </a:ext>
            </a:extLst>
          </p:cNvPr>
          <p:cNvSpPr/>
          <p:nvPr/>
        </p:nvSpPr>
        <p:spPr>
          <a:xfrm>
            <a:off x="1472312" y="4277918"/>
            <a:ext cx="360000" cy="360000"/>
          </a:xfrm>
          <a:prstGeom prst="mathMultiply">
            <a:avLst>
              <a:gd name="adj1" fmla="val 4915"/>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8" name="乗算記号 27">
            <a:extLst>
              <a:ext uri="{FF2B5EF4-FFF2-40B4-BE49-F238E27FC236}">
                <a16:creationId xmlns:a16="http://schemas.microsoft.com/office/drawing/2014/main" id="{9B7C9A4B-096B-D2DD-08B8-D421AB634155}"/>
              </a:ext>
            </a:extLst>
          </p:cNvPr>
          <p:cNvSpPr/>
          <p:nvPr/>
        </p:nvSpPr>
        <p:spPr>
          <a:xfrm>
            <a:off x="1734353" y="1838911"/>
            <a:ext cx="360000" cy="360000"/>
          </a:xfrm>
          <a:prstGeom prst="mathMultiply">
            <a:avLst>
              <a:gd name="adj1" fmla="val 4915"/>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29" name="乗算記号 28">
            <a:extLst>
              <a:ext uri="{FF2B5EF4-FFF2-40B4-BE49-F238E27FC236}">
                <a16:creationId xmlns:a16="http://schemas.microsoft.com/office/drawing/2014/main" id="{E3AD3032-8560-946E-0D20-D2977D17F027}"/>
              </a:ext>
            </a:extLst>
          </p:cNvPr>
          <p:cNvSpPr/>
          <p:nvPr/>
        </p:nvSpPr>
        <p:spPr>
          <a:xfrm>
            <a:off x="6128651" y="4274166"/>
            <a:ext cx="360000" cy="360000"/>
          </a:xfrm>
          <a:prstGeom prst="mathMultiply">
            <a:avLst>
              <a:gd name="adj1" fmla="val 4915"/>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028" name="Picture 4" descr="Salesforceってなに？初心者でも簡単にわかる！導入のメリットと基本機能について | CONCENTO">
            <a:extLst>
              <a:ext uri="{FF2B5EF4-FFF2-40B4-BE49-F238E27FC236}">
                <a16:creationId xmlns:a16="http://schemas.microsoft.com/office/drawing/2014/main" id="{A10BCEF0-052F-BF99-39E9-5BA577F00F74}"/>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l="23384" t="14322" r="25004" b="16405"/>
          <a:stretch>
            <a:fillRect/>
          </a:stretch>
        </p:blipFill>
        <p:spPr bwMode="auto">
          <a:xfrm>
            <a:off x="5388428" y="4704431"/>
            <a:ext cx="441441" cy="311537"/>
          </a:xfrm>
          <a:prstGeom prst="rect">
            <a:avLst/>
          </a:prstGeom>
          <a:ln>
            <a:noFill/>
          </a:ln>
        </p:spPr>
        <p:style>
          <a:lnRef idx="2">
            <a:schemeClr val="dk1"/>
          </a:lnRef>
          <a:fillRef idx="1">
            <a:schemeClr val="lt1"/>
          </a:fillRef>
          <a:effectRef idx="0">
            <a:schemeClr val="dk1"/>
          </a:effectRef>
          <a:fontRef idx="minor">
            <a:schemeClr val="dk1"/>
          </a:fontRef>
        </p:style>
      </p:pic>
      <p:pic>
        <p:nvPicPr>
          <p:cNvPr id="31" name="図 30" descr="挿絵, 抽象 が含まれている画像&#10;&#10;AI 生成コンテンツは誤りを含む可能性があります。">
            <a:extLst>
              <a:ext uri="{FF2B5EF4-FFF2-40B4-BE49-F238E27FC236}">
                <a16:creationId xmlns:a16="http://schemas.microsoft.com/office/drawing/2014/main" id="{172999E0-2479-CF51-1EFC-C4CA794CEC4E}"/>
              </a:ext>
            </a:extLst>
          </p:cNvPr>
          <p:cNvPicPr>
            <a:picLocks noChangeAspect="1"/>
          </p:cNvPicPr>
          <p:nvPr/>
        </p:nvPicPr>
        <p:blipFill>
          <a:blip r:embed="rId5"/>
          <a:stretch>
            <a:fillRect/>
          </a:stretch>
        </p:blipFill>
        <p:spPr>
          <a:xfrm>
            <a:off x="5864283" y="4761290"/>
            <a:ext cx="682242" cy="197819"/>
          </a:xfrm>
          <a:prstGeom prst="rect">
            <a:avLst/>
          </a:prstGeom>
        </p:spPr>
      </p:pic>
      <p:pic>
        <p:nvPicPr>
          <p:cNvPr id="33" name="図 32" descr="黒い背景に白い文字がある&#10;&#10;AI 生成コンテンツは誤りを含む可能性があります。">
            <a:extLst>
              <a:ext uri="{FF2B5EF4-FFF2-40B4-BE49-F238E27FC236}">
                <a16:creationId xmlns:a16="http://schemas.microsoft.com/office/drawing/2014/main" id="{474C051E-B596-1651-549B-F1BDC6EA898F}"/>
              </a:ext>
            </a:extLst>
          </p:cNvPr>
          <p:cNvPicPr>
            <a:picLocks noChangeAspect="1"/>
          </p:cNvPicPr>
          <p:nvPr/>
        </p:nvPicPr>
        <p:blipFill>
          <a:blip r:embed="rId6"/>
          <a:stretch>
            <a:fillRect/>
          </a:stretch>
        </p:blipFill>
        <p:spPr>
          <a:xfrm>
            <a:off x="6580939" y="4739795"/>
            <a:ext cx="1225076" cy="219314"/>
          </a:xfrm>
          <a:prstGeom prst="rect">
            <a:avLst/>
          </a:prstGeom>
        </p:spPr>
      </p:pic>
      <p:sp>
        <p:nvSpPr>
          <p:cNvPr id="35" name="テキスト ボックス 34">
            <a:extLst>
              <a:ext uri="{FF2B5EF4-FFF2-40B4-BE49-F238E27FC236}">
                <a16:creationId xmlns:a16="http://schemas.microsoft.com/office/drawing/2014/main" id="{A53AB6D9-AEB5-ECF4-8C73-A7EFC4F05EF1}"/>
              </a:ext>
            </a:extLst>
          </p:cNvPr>
          <p:cNvSpPr txBox="1"/>
          <p:nvPr/>
        </p:nvSpPr>
        <p:spPr>
          <a:xfrm>
            <a:off x="4866072" y="2288778"/>
            <a:ext cx="4459715" cy="246221"/>
          </a:xfrm>
          <a:prstGeom prst="rect">
            <a:avLst/>
          </a:prstGeom>
          <a:noFill/>
        </p:spPr>
        <p:txBody>
          <a:bodyPr wrap="square">
            <a:spAutoFit/>
          </a:bodyPr>
          <a:lstStyle/>
          <a:p>
            <a:pPr algn="ctr"/>
            <a:r>
              <a:rPr lang="ja-JP" altLang="en-US" sz="1000" b="1" dirty="0">
                <a:latin typeface="メイリオ" panose="020B0604030504040204" pitchFamily="50" charset="-128"/>
                <a:ea typeface="メイリオ" panose="020B0604030504040204" pitchFamily="50" charset="-128"/>
              </a:rPr>
              <a:t>システム管理会社・ツール運用会社・デザイン会社</a:t>
            </a:r>
            <a:endParaRPr kumimoji="1" lang="ja-JP" altLang="en-US" sz="1000" b="1" dirty="0">
              <a:solidFill>
                <a:schemeClr val="tx1"/>
              </a:solidFill>
              <a:latin typeface="メイリオ" panose="020B0604030504040204" pitchFamily="50" charset="-128"/>
              <a:ea typeface="メイリオ" panose="020B0604030504040204" pitchFamily="50" charset="-128"/>
            </a:endParaRPr>
          </a:p>
        </p:txBody>
      </p:sp>
      <p:pic>
        <p:nvPicPr>
          <p:cNvPr id="1030" name="Picture 6" descr="お知らせ一覧｜LINEマーケティングや販促・顧客管理ならLiny">
            <a:extLst>
              <a:ext uri="{FF2B5EF4-FFF2-40B4-BE49-F238E27FC236}">
                <a16:creationId xmlns:a16="http://schemas.microsoft.com/office/drawing/2014/main" id="{A11EE7F3-23DE-A03C-6953-9FC6DABEDA85}"/>
              </a:ext>
            </a:extLst>
          </p:cNvPr>
          <p:cNvPicPr>
            <a:picLocks noChangeAspect="1" noChangeArrowheads="1"/>
          </p:cNvPicPr>
          <p:nvPr/>
        </p:nvPicPr>
        <p:blipFill rotWithShape="1">
          <a:blip r:embed="rId7" cstate="print">
            <a:extLst>
              <a:ext uri="{28A0092B-C50C-407E-A947-70E740481C1C}">
                <a14:useLocalDpi xmlns:a14="http://schemas.microsoft.com/office/drawing/2010/main" val="0"/>
              </a:ext>
            </a:extLst>
          </a:blip>
          <a:srcRect l="21448" t="26478" r="21237" b="27778"/>
          <a:stretch>
            <a:fillRect/>
          </a:stretch>
        </p:blipFill>
        <p:spPr bwMode="auto">
          <a:xfrm>
            <a:off x="3335235" y="2294514"/>
            <a:ext cx="571287" cy="304207"/>
          </a:xfrm>
          <a:prstGeom prst="rect">
            <a:avLst/>
          </a:prstGeom>
          <a:noFill/>
          <a:extLst>
            <a:ext uri="{909E8E84-426E-40DD-AFC4-6F175D3DCCD1}">
              <a14:hiddenFill xmlns:a14="http://schemas.microsoft.com/office/drawing/2010/main">
                <a:solidFill>
                  <a:srgbClr val="FFFFFF"/>
                </a:solidFill>
              </a14:hiddenFill>
            </a:ext>
          </a:extLst>
        </p:spPr>
      </p:pic>
      <p:pic>
        <p:nvPicPr>
          <p:cNvPr id="1032" name="Picture 8" descr="Shopify Japan 株式会社のプレスリリース｜PR TIMES">
            <a:extLst>
              <a:ext uri="{FF2B5EF4-FFF2-40B4-BE49-F238E27FC236}">
                <a16:creationId xmlns:a16="http://schemas.microsoft.com/office/drawing/2014/main" id="{1BF2471A-3689-B39E-D841-0A5CEE63B028}"/>
              </a:ext>
            </a:extLst>
          </p:cNvPr>
          <p:cNvPicPr>
            <a:picLocks noChangeAspect="1" noChangeArrowheads="1"/>
          </p:cNvPicPr>
          <p:nvPr/>
        </p:nvPicPr>
        <p:blipFill>
          <a:blip r:embed="rId8" cstate="print">
            <a:extLst>
              <a:ext uri="{28A0092B-C50C-407E-A947-70E740481C1C}">
                <a14:useLocalDpi xmlns:a14="http://schemas.microsoft.com/office/drawing/2010/main" val="0"/>
              </a:ext>
            </a:extLst>
          </a:blip>
          <a:srcRect/>
          <a:stretch>
            <a:fillRect/>
          </a:stretch>
        </p:blipFill>
        <p:spPr bwMode="auto">
          <a:xfrm>
            <a:off x="7938796" y="4740053"/>
            <a:ext cx="799200" cy="228571"/>
          </a:xfrm>
          <a:prstGeom prst="rect">
            <a:avLst/>
          </a:prstGeom>
          <a:noFill/>
          <a:extLst>
            <a:ext uri="{909E8E84-426E-40DD-AFC4-6F175D3DCCD1}">
              <a14:hiddenFill xmlns:a14="http://schemas.microsoft.com/office/drawing/2010/main">
                <a:solidFill>
                  <a:srgbClr val="FFFFFF"/>
                </a:solidFill>
              </a14:hiddenFill>
            </a:ext>
          </a:extLst>
        </p:spPr>
      </p:pic>
      <p:sp>
        <p:nvSpPr>
          <p:cNvPr id="36" name="テキスト ボックス 35">
            <a:extLst>
              <a:ext uri="{FF2B5EF4-FFF2-40B4-BE49-F238E27FC236}">
                <a16:creationId xmlns:a16="http://schemas.microsoft.com/office/drawing/2014/main" id="{EB20A091-C336-4BDE-54E9-33ECF6B1EC77}"/>
              </a:ext>
            </a:extLst>
          </p:cNvPr>
          <p:cNvSpPr txBox="1"/>
          <p:nvPr/>
        </p:nvSpPr>
        <p:spPr>
          <a:xfrm>
            <a:off x="362665" y="4754506"/>
            <a:ext cx="4459715" cy="246221"/>
          </a:xfrm>
          <a:prstGeom prst="rect">
            <a:avLst/>
          </a:prstGeom>
          <a:noFill/>
        </p:spPr>
        <p:txBody>
          <a:bodyPr wrap="square">
            <a:spAutoFit/>
          </a:bodyPr>
          <a:lstStyle/>
          <a:p>
            <a:pPr algn="ctr"/>
            <a:r>
              <a:rPr lang="en-US" altLang="ja-JP" sz="1000" b="1" dirty="0">
                <a:latin typeface="メイリオ" panose="020B0604030504040204" pitchFamily="50" charset="-128"/>
                <a:ea typeface="メイリオ" panose="020B0604030504040204" pitchFamily="50" charset="-128"/>
              </a:rPr>
              <a:t>LINE</a:t>
            </a:r>
            <a:r>
              <a:rPr lang="ja-JP" altLang="en-US" sz="1000" b="1" dirty="0">
                <a:latin typeface="メイリオ" panose="020B0604030504040204" pitchFamily="50" charset="-128"/>
                <a:ea typeface="メイリオ" panose="020B0604030504040204" pitchFamily="50" charset="-128"/>
              </a:rPr>
              <a:t>ヤフーのパッケージ商品などの拡販</a:t>
            </a:r>
            <a:endParaRPr kumimoji="1" lang="ja-JP" altLang="en-US" sz="1000" b="1" dirty="0">
              <a:solidFill>
                <a:schemeClr val="tx1"/>
              </a:solidFill>
              <a:latin typeface="メイリオ" panose="020B0604030504040204" pitchFamily="50" charset="-128"/>
              <a:ea typeface="メイリオ" panose="020B0604030504040204" pitchFamily="50" charset="-128"/>
            </a:endParaRPr>
          </a:p>
        </p:txBody>
      </p:sp>
      <p:sp>
        <p:nvSpPr>
          <p:cNvPr id="6" name="テキスト ボックス 5">
            <a:extLst>
              <a:ext uri="{FF2B5EF4-FFF2-40B4-BE49-F238E27FC236}">
                <a16:creationId xmlns:a16="http://schemas.microsoft.com/office/drawing/2014/main" id="{63CD4067-EE53-3C90-C918-C15397527FBF}"/>
              </a:ext>
            </a:extLst>
          </p:cNvPr>
          <p:cNvSpPr txBox="1"/>
          <p:nvPr/>
        </p:nvSpPr>
        <p:spPr>
          <a:xfrm>
            <a:off x="459470" y="2738645"/>
            <a:ext cx="4311647" cy="553998"/>
          </a:xfrm>
          <a:prstGeom prst="rect">
            <a:avLst/>
          </a:prstGeom>
          <a:noFill/>
        </p:spPr>
        <p:txBody>
          <a:bodyPr wrap="square">
            <a:spAutoFit/>
          </a:bodyPr>
          <a:lstStyle/>
          <a:p>
            <a:pPr algn="ctr"/>
            <a:r>
              <a:rPr kumimoji="1"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・ツールによって、適用される機能自体に差分がある。</a:t>
            </a:r>
            <a:endParaRPr kumimoji="1" lang="en-US" altLang="ja-JP" sz="1000" dirty="0">
              <a:solidFill>
                <a:schemeClr val="tx1">
                  <a:lumMod val="50000"/>
                  <a:lumOff val="50000"/>
                </a:schemeClr>
              </a:solidFill>
              <a:latin typeface="メイリオ" panose="020B0604030504040204" pitchFamily="50" charset="-128"/>
              <a:ea typeface="メイリオ" panose="020B0604030504040204" pitchFamily="50" charset="-128"/>
            </a:endParaRPr>
          </a:p>
          <a:p>
            <a:pPr algn="ctr"/>
            <a:r>
              <a:rPr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 </a:t>
            </a:r>
            <a:r>
              <a:rPr kumimoji="1" lang="en-US" altLang="ja-JP" sz="1000" dirty="0">
                <a:solidFill>
                  <a:schemeClr val="tx1">
                    <a:lumMod val="50000"/>
                    <a:lumOff val="50000"/>
                  </a:schemeClr>
                </a:solidFill>
                <a:latin typeface="メイリオ" panose="020B0604030504040204" pitchFamily="50" charset="-128"/>
                <a:ea typeface="メイリオ" panose="020B0604030504040204" pitchFamily="50" charset="-128"/>
              </a:rPr>
              <a:t>API</a:t>
            </a:r>
            <a:r>
              <a:rPr kumimoji="1"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ツールが</a:t>
            </a:r>
            <a:r>
              <a:rPr kumimoji="1" lang="en-US" altLang="ja-JP" sz="1000" dirty="0">
                <a:solidFill>
                  <a:schemeClr val="tx1">
                    <a:lumMod val="50000"/>
                    <a:lumOff val="50000"/>
                  </a:schemeClr>
                </a:solidFill>
                <a:latin typeface="メイリオ" panose="020B0604030504040204" pitchFamily="50" charset="-128"/>
                <a:ea typeface="メイリオ" panose="020B0604030504040204" pitchFamily="50" charset="-128"/>
              </a:rPr>
              <a:t>1</a:t>
            </a:r>
            <a:r>
              <a:rPr kumimoji="1"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社のみの独占となり、切替えが難しい。</a:t>
            </a:r>
            <a:endParaRPr kumimoji="1" lang="en-US" altLang="ja-JP" sz="1000" dirty="0">
              <a:solidFill>
                <a:schemeClr val="tx1">
                  <a:lumMod val="50000"/>
                  <a:lumOff val="50000"/>
                </a:schemeClr>
              </a:solidFill>
              <a:latin typeface="メイリオ" panose="020B0604030504040204" pitchFamily="50" charset="-128"/>
              <a:ea typeface="メイリオ" panose="020B0604030504040204" pitchFamily="50" charset="-128"/>
            </a:endParaRPr>
          </a:p>
          <a:p>
            <a:pPr algn="ctr"/>
            <a:r>
              <a:rPr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・コンサルも依頼の場合に費用が大きくなるリスク。</a:t>
            </a:r>
            <a:endParaRPr kumimoji="1" lang="ja-JP" altLang="en-US" sz="1000" dirty="0">
              <a:solidFill>
                <a:schemeClr val="tx1">
                  <a:lumMod val="50000"/>
                  <a:lumOff val="50000"/>
                </a:schemeClr>
              </a:solidFill>
              <a:latin typeface="メイリオ" panose="020B0604030504040204" pitchFamily="50" charset="-128"/>
              <a:ea typeface="メイリオ" panose="020B0604030504040204" pitchFamily="50" charset="-128"/>
            </a:endParaRPr>
          </a:p>
        </p:txBody>
      </p:sp>
      <p:sp>
        <p:nvSpPr>
          <p:cNvPr id="7" name="テキスト ボックス 6">
            <a:extLst>
              <a:ext uri="{FF2B5EF4-FFF2-40B4-BE49-F238E27FC236}">
                <a16:creationId xmlns:a16="http://schemas.microsoft.com/office/drawing/2014/main" id="{EBA4D737-3559-5FE1-B418-3302CBFCB9A9}"/>
              </a:ext>
            </a:extLst>
          </p:cNvPr>
          <p:cNvSpPr txBox="1"/>
          <p:nvPr/>
        </p:nvSpPr>
        <p:spPr>
          <a:xfrm>
            <a:off x="4928055" y="2733229"/>
            <a:ext cx="4311647" cy="553998"/>
          </a:xfrm>
          <a:prstGeom prst="rect">
            <a:avLst/>
          </a:prstGeom>
          <a:noFill/>
        </p:spPr>
        <p:txBody>
          <a:bodyPr wrap="square">
            <a:spAutoFit/>
          </a:bodyPr>
          <a:lstStyle/>
          <a:p>
            <a:pPr algn="ctr"/>
            <a:r>
              <a:rPr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・ツール外注により費用が大きくなる可能性がある。</a:t>
            </a:r>
            <a:endParaRPr lang="en-US" altLang="ja-JP" sz="1000" dirty="0">
              <a:solidFill>
                <a:schemeClr val="tx1">
                  <a:lumMod val="50000"/>
                  <a:lumOff val="50000"/>
                </a:schemeClr>
              </a:solidFill>
              <a:latin typeface="メイリオ" panose="020B0604030504040204" pitchFamily="50" charset="-128"/>
              <a:ea typeface="メイリオ" panose="020B0604030504040204" pitchFamily="50" charset="-128"/>
            </a:endParaRPr>
          </a:p>
          <a:p>
            <a:pPr algn="ctr"/>
            <a:r>
              <a:rPr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a:t>
            </a:r>
            <a:r>
              <a:rPr lang="en-US" altLang="ja-JP" sz="1000" dirty="0">
                <a:solidFill>
                  <a:schemeClr val="tx1">
                    <a:lumMod val="50000"/>
                    <a:lumOff val="50000"/>
                  </a:schemeClr>
                </a:solidFill>
                <a:latin typeface="メイリオ" panose="020B0604030504040204" pitchFamily="50" charset="-128"/>
                <a:ea typeface="メイリオ" panose="020B0604030504040204" pitchFamily="50" charset="-128"/>
              </a:rPr>
              <a:t>OA</a:t>
            </a:r>
            <a:r>
              <a:rPr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運用自体に対する知見が少ない。</a:t>
            </a:r>
            <a:endParaRPr lang="en-US" altLang="ja-JP" sz="1000" dirty="0">
              <a:solidFill>
                <a:schemeClr val="tx1">
                  <a:lumMod val="50000"/>
                  <a:lumOff val="50000"/>
                </a:schemeClr>
              </a:solidFill>
              <a:latin typeface="メイリオ" panose="020B0604030504040204" pitchFamily="50" charset="-128"/>
              <a:ea typeface="メイリオ" panose="020B0604030504040204" pitchFamily="50" charset="-128"/>
            </a:endParaRPr>
          </a:p>
          <a:p>
            <a:pPr algn="ctr"/>
            <a:r>
              <a:rPr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・一部利用できない機能が存在する（</a:t>
            </a:r>
            <a:r>
              <a:rPr lang="en-US" altLang="ja-JP" sz="1000" dirty="0">
                <a:solidFill>
                  <a:schemeClr val="tx1">
                    <a:lumMod val="50000"/>
                    <a:lumOff val="50000"/>
                  </a:schemeClr>
                </a:solidFill>
                <a:latin typeface="メイリオ" panose="020B0604030504040204" pitchFamily="50" charset="-128"/>
                <a:ea typeface="メイリオ" panose="020B0604030504040204" pitchFamily="50" charset="-128"/>
              </a:rPr>
              <a:t>Option API</a:t>
            </a:r>
            <a:r>
              <a:rPr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他）。</a:t>
            </a:r>
          </a:p>
        </p:txBody>
      </p:sp>
      <p:sp>
        <p:nvSpPr>
          <p:cNvPr id="8" name="テキスト ボックス 7">
            <a:extLst>
              <a:ext uri="{FF2B5EF4-FFF2-40B4-BE49-F238E27FC236}">
                <a16:creationId xmlns:a16="http://schemas.microsoft.com/office/drawing/2014/main" id="{C16446F7-FB27-00FA-5115-4A5251550BE6}"/>
              </a:ext>
            </a:extLst>
          </p:cNvPr>
          <p:cNvSpPr txBox="1"/>
          <p:nvPr/>
        </p:nvSpPr>
        <p:spPr>
          <a:xfrm>
            <a:off x="461608" y="5199061"/>
            <a:ext cx="4311647" cy="553998"/>
          </a:xfrm>
          <a:prstGeom prst="rect">
            <a:avLst/>
          </a:prstGeom>
          <a:noFill/>
        </p:spPr>
        <p:txBody>
          <a:bodyPr wrap="square">
            <a:spAutoFit/>
          </a:bodyPr>
          <a:lstStyle/>
          <a:p>
            <a:pPr algn="ctr"/>
            <a:r>
              <a:rPr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a:t>
            </a:r>
            <a:r>
              <a:rPr lang="en-US" altLang="ja-JP" sz="1000" dirty="0">
                <a:solidFill>
                  <a:schemeClr val="tx1">
                    <a:lumMod val="50000"/>
                    <a:lumOff val="50000"/>
                  </a:schemeClr>
                </a:solidFill>
                <a:latin typeface="メイリオ" panose="020B0604030504040204" pitchFamily="50" charset="-128"/>
                <a:ea typeface="メイリオ" panose="020B0604030504040204" pitchFamily="50" charset="-128"/>
              </a:rPr>
              <a:t>OA</a:t>
            </a:r>
            <a:r>
              <a:rPr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運用部隊を備えていない可能性がある。</a:t>
            </a:r>
            <a:endParaRPr lang="en-US" altLang="ja-JP" sz="1000" dirty="0">
              <a:solidFill>
                <a:schemeClr val="tx1">
                  <a:lumMod val="50000"/>
                  <a:lumOff val="50000"/>
                </a:schemeClr>
              </a:solidFill>
              <a:latin typeface="メイリオ" panose="020B0604030504040204" pitchFamily="50" charset="-128"/>
              <a:ea typeface="メイリオ" panose="020B0604030504040204" pitchFamily="50" charset="-128"/>
            </a:endParaRPr>
          </a:p>
          <a:p>
            <a:pPr algn="ctr"/>
            <a:r>
              <a:rPr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・パッケージ売りが中心で非アクティブユーザーが増加。</a:t>
            </a:r>
            <a:endParaRPr lang="en-US" altLang="ja-JP" sz="1000" dirty="0">
              <a:solidFill>
                <a:schemeClr val="tx1">
                  <a:lumMod val="50000"/>
                  <a:lumOff val="50000"/>
                </a:schemeClr>
              </a:solidFill>
              <a:latin typeface="メイリオ" panose="020B0604030504040204" pitchFamily="50" charset="-128"/>
              <a:ea typeface="メイリオ" panose="020B0604030504040204" pitchFamily="50" charset="-128"/>
            </a:endParaRPr>
          </a:p>
          <a:p>
            <a:pPr algn="ctr"/>
            <a:r>
              <a:rPr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・コンサルも依頼の場合に費用が大きくなるリスク。</a:t>
            </a:r>
          </a:p>
        </p:txBody>
      </p:sp>
      <p:sp>
        <p:nvSpPr>
          <p:cNvPr id="9" name="テキスト ボックス 8">
            <a:extLst>
              <a:ext uri="{FF2B5EF4-FFF2-40B4-BE49-F238E27FC236}">
                <a16:creationId xmlns:a16="http://schemas.microsoft.com/office/drawing/2014/main" id="{19EE3868-DB7E-927E-8B36-00939FCE4211}"/>
              </a:ext>
            </a:extLst>
          </p:cNvPr>
          <p:cNvSpPr txBox="1"/>
          <p:nvPr/>
        </p:nvSpPr>
        <p:spPr>
          <a:xfrm>
            <a:off x="4930193" y="5316755"/>
            <a:ext cx="4311647" cy="400110"/>
          </a:xfrm>
          <a:prstGeom prst="rect">
            <a:avLst/>
          </a:prstGeom>
          <a:noFill/>
        </p:spPr>
        <p:txBody>
          <a:bodyPr wrap="square" anchor="ctr">
            <a:spAutoFit/>
          </a:bodyPr>
          <a:lstStyle/>
          <a:p>
            <a:pPr algn="ctr"/>
            <a:r>
              <a:rPr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a:t>
            </a:r>
            <a:r>
              <a:rPr lang="en-US" altLang="ja-JP" sz="1000" dirty="0">
                <a:solidFill>
                  <a:schemeClr val="tx1">
                    <a:lumMod val="50000"/>
                    <a:lumOff val="50000"/>
                  </a:schemeClr>
                </a:solidFill>
                <a:latin typeface="メイリオ" panose="020B0604030504040204" pitchFamily="50" charset="-128"/>
                <a:ea typeface="メイリオ" panose="020B0604030504040204" pitchFamily="50" charset="-128"/>
              </a:rPr>
              <a:t>CRM</a:t>
            </a:r>
            <a:r>
              <a:rPr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側の</a:t>
            </a:r>
            <a:r>
              <a:rPr lang="en-US" altLang="ja-JP" sz="1000" dirty="0">
                <a:solidFill>
                  <a:schemeClr val="tx1">
                    <a:lumMod val="50000"/>
                    <a:lumOff val="50000"/>
                  </a:schemeClr>
                </a:solidFill>
                <a:latin typeface="メイリオ" panose="020B0604030504040204" pitchFamily="50" charset="-128"/>
                <a:ea typeface="メイリオ" panose="020B0604030504040204" pitchFamily="50" charset="-128"/>
              </a:rPr>
              <a:t>API</a:t>
            </a:r>
            <a:r>
              <a:rPr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利用時に通常より高単価になりやすい。</a:t>
            </a:r>
            <a:endParaRPr lang="en-US" altLang="ja-JP" sz="1000" dirty="0">
              <a:solidFill>
                <a:schemeClr val="tx1">
                  <a:lumMod val="50000"/>
                  <a:lumOff val="50000"/>
                </a:schemeClr>
              </a:solidFill>
              <a:latin typeface="メイリオ" panose="020B0604030504040204" pitchFamily="50" charset="-128"/>
              <a:ea typeface="メイリオ" panose="020B0604030504040204" pitchFamily="50" charset="-128"/>
            </a:endParaRPr>
          </a:p>
          <a:p>
            <a:pPr algn="ctr"/>
            <a:r>
              <a:rPr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a:t>
            </a:r>
            <a:r>
              <a:rPr lang="en-US" altLang="ja-JP" sz="1000" dirty="0">
                <a:solidFill>
                  <a:schemeClr val="tx1">
                    <a:lumMod val="50000"/>
                    <a:lumOff val="50000"/>
                  </a:schemeClr>
                </a:solidFill>
                <a:latin typeface="メイリオ" panose="020B0604030504040204" pitchFamily="50" charset="-128"/>
                <a:ea typeface="メイリオ" panose="020B0604030504040204" pitchFamily="50" charset="-128"/>
              </a:rPr>
              <a:t>OA</a:t>
            </a:r>
            <a:r>
              <a:rPr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単体での運用知見の乏しさ。</a:t>
            </a:r>
            <a:endParaRPr lang="en-US" altLang="ja-JP" sz="1000" dirty="0">
              <a:solidFill>
                <a:schemeClr val="tx1">
                  <a:lumMod val="50000"/>
                  <a:lumOff val="50000"/>
                </a:schemeClr>
              </a:solidFill>
              <a:latin typeface="メイリオ" panose="020B0604030504040204" pitchFamily="50" charset="-128"/>
              <a:ea typeface="メイリオ" panose="020B0604030504040204" pitchFamily="50" charset="-128"/>
            </a:endParaRPr>
          </a:p>
        </p:txBody>
      </p:sp>
      <p:sp>
        <p:nvSpPr>
          <p:cNvPr id="17" name="正方形/長方形 16">
            <a:extLst>
              <a:ext uri="{FF2B5EF4-FFF2-40B4-BE49-F238E27FC236}">
                <a16:creationId xmlns:a16="http://schemas.microsoft.com/office/drawing/2014/main" id="{189FFC9F-CF2D-25AD-00C7-208E47BC4C66}"/>
              </a:ext>
            </a:extLst>
          </p:cNvPr>
          <p:cNvSpPr/>
          <p:nvPr/>
        </p:nvSpPr>
        <p:spPr>
          <a:xfrm>
            <a:off x="3361317" y="1908015"/>
            <a:ext cx="1355280" cy="243944"/>
          </a:xfrm>
          <a:prstGeom prst="rect">
            <a:avLst/>
          </a:prstGeom>
          <a:solidFill>
            <a:schemeClr val="tx2"/>
          </a:solid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bg1"/>
                </a:solidFill>
                <a:latin typeface="メイリオ" panose="020B0604030504040204" pitchFamily="50" charset="-128"/>
                <a:ea typeface="メイリオ" panose="020B0604030504040204" pitchFamily="50" charset="-128"/>
              </a:rPr>
              <a:t>自動化・効率化</a:t>
            </a:r>
          </a:p>
        </p:txBody>
      </p:sp>
      <p:sp>
        <p:nvSpPr>
          <p:cNvPr id="18" name="正方形/長方形 17">
            <a:extLst>
              <a:ext uri="{FF2B5EF4-FFF2-40B4-BE49-F238E27FC236}">
                <a16:creationId xmlns:a16="http://schemas.microsoft.com/office/drawing/2014/main" id="{122AB27F-120A-6587-2E9E-7D2F5F3B4407}"/>
              </a:ext>
            </a:extLst>
          </p:cNvPr>
          <p:cNvSpPr/>
          <p:nvPr/>
        </p:nvSpPr>
        <p:spPr>
          <a:xfrm>
            <a:off x="7854818" y="1902839"/>
            <a:ext cx="1355280" cy="243944"/>
          </a:xfrm>
          <a:prstGeom prst="rect">
            <a:avLst/>
          </a:prstGeom>
          <a:solidFill>
            <a:schemeClr val="tx2"/>
          </a:solid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bg1"/>
                </a:solidFill>
                <a:latin typeface="メイリオ" panose="020B0604030504040204" pitchFamily="50" charset="-128"/>
                <a:ea typeface="メイリオ" panose="020B0604030504040204" pitchFamily="50" charset="-128"/>
              </a:rPr>
              <a:t>リッチ化</a:t>
            </a:r>
          </a:p>
        </p:txBody>
      </p:sp>
      <p:sp>
        <p:nvSpPr>
          <p:cNvPr id="19" name="正方形/長方形 18">
            <a:extLst>
              <a:ext uri="{FF2B5EF4-FFF2-40B4-BE49-F238E27FC236}">
                <a16:creationId xmlns:a16="http://schemas.microsoft.com/office/drawing/2014/main" id="{56DB3229-AC80-A545-1A7F-30968AF568EC}"/>
              </a:ext>
            </a:extLst>
          </p:cNvPr>
          <p:cNvSpPr/>
          <p:nvPr/>
        </p:nvSpPr>
        <p:spPr>
          <a:xfrm>
            <a:off x="3386263" y="4343224"/>
            <a:ext cx="1355280" cy="243944"/>
          </a:xfrm>
          <a:prstGeom prst="rect">
            <a:avLst/>
          </a:prstGeom>
          <a:solidFill>
            <a:schemeClr val="tx2"/>
          </a:solid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bg1"/>
                </a:solidFill>
                <a:latin typeface="メイリオ" panose="020B0604030504040204" pitchFamily="50" charset="-128"/>
                <a:ea typeface="メイリオ" panose="020B0604030504040204" pitchFamily="50" charset="-128"/>
              </a:rPr>
              <a:t>リード母数拡大</a:t>
            </a:r>
          </a:p>
        </p:txBody>
      </p:sp>
      <p:sp>
        <p:nvSpPr>
          <p:cNvPr id="20" name="正方形/長方形 19">
            <a:extLst>
              <a:ext uri="{FF2B5EF4-FFF2-40B4-BE49-F238E27FC236}">
                <a16:creationId xmlns:a16="http://schemas.microsoft.com/office/drawing/2014/main" id="{21D29B7F-EC01-1021-44F2-D37D7A2E27DC}"/>
              </a:ext>
            </a:extLst>
          </p:cNvPr>
          <p:cNvSpPr/>
          <p:nvPr/>
        </p:nvSpPr>
        <p:spPr>
          <a:xfrm>
            <a:off x="7879764" y="4338048"/>
            <a:ext cx="1355280" cy="243944"/>
          </a:xfrm>
          <a:prstGeom prst="rect">
            <a:avLst/>
          </a:prstGeom>
          <a:solidFill>
            <a:schemeClr val="tx2"/>
          </a:solid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bg1"/>
                </a:solidFill>
                <a:latin typeface="メイリオ" panose="020B0604030504040204" pitchFamily="50" charset="-128"/>
                <a:ea typeface="メイリオ" panose="020B0604030504040204" pitchFamily="50" charset="-128"/>
              </a:rPr>
              <a:t>自動化・効率化</a:t>
            </a:r>
          </a:p>
        </p:txBody>
      </p:sp>
      <p:sp>
        <p:nvSpPr>
          <p:cNvPr id="22" name="正方形/長方形 21">
            <a:extLst>
              <a:ext uri="{FF2B5EF4-FFF2-40B4-BE49-F238E27FC236}">
                <a16:creationId xmlns:a16="http://schemas.microsoft.com/office/drawing/2014/main" id="{2B94E779-B2D3-DA1A-5386-88EC8B7F7A2A}"/>
              </a:ext>
            </a:extLst>
          </p:cNvPr>
          <p:cNvSpPr/>
          <p:nvPr/>
        </p:nvSpPr>
        <p:spPr>
          <a:xfrm>
            <a:off x="486784" y="738200"/>
            <a:ext cx="9005456" cy="593857"/>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ja-JP" altLang="en-US" sz="1400" dirty="0">
                <a:solidFill>
                  <a:schemeClr val="tx1"/>
                </a:solidFill>
                <a:latin typeface="メイリオ" panose="020B0604030504040204" pitchFamily="50" charset="-128"/>
                <a:ea typeface="メイリオ" panose="020B0604030504040204" pitchFamily="50" charset="-128"/>
              </a:rPr>
              <a:t>各種パートナー企業との連携から、幅広い</a:t>
            </a:r>
            <a:r>
              <a:rPr lang="en-US" altLang="ja-JP" sz="1400" dirty="0">
                <a:solidFill>
                  <a:schemeClr val="tx1"/>
                </a:solidFill>
                <a:latin typeface="メイリオ" panose="020B0604030504040204" pitchFamily="50" charset="-128"/>
                <a:ea typeface="メイリオ" panose="020B0604030504040204" pitchFamily="50" charset="-128"/>
              </a:rPr>
              <a:t>LINEOA</a:t>
            </a:r>
            <a:r>
              <a:rPr lang="ja-JP" altLang="en-US" sz="1400" dirty="0">
                <a:solidFill>
                  <a:schemeClr val="tx1"/>
                </a:solidFill>
                <a:latin typeface="メイリオ" panose="020B0604030504040204" pitchFamily="50" charset="-128"/>
                <a:ea typeface="メイリオ" panose="020B0604030504040204" pitchFamily="50" charset="-128"/>
              </a:rPr>
              <a:t>業務に対して対応が可能。</a:t>
            </a:r>
            <a:endParaRPr lang="en-US" altLang="ja-JP" sz="1400" dirty="0">
              <a:solidFill>
                <a:schemeClr val="tx1"/>
              </a:solidFill>
              <a:latin typeface="メイリオ" panose="020B0604030504040204" pitchFamily="50" charset="-128"/>
              <a:ea typeface="メイリオ" panose="020B0604030504040204" pitchFamily="50" charset="-128"/>
            </a:endParaRPr>
          </a:p>
          <a:p>
            <a:pPr algn="ctr"/>
            <a:r>
              <a:rPr lang="ja-JP" altLang="en-US" sz="1400" dirty="0">
                <a:solidFill>
                  <a:schemeClr val="tx1"/>
                </a:solidFill>
                <a:latin typeface="メイリオ" panose="020B0604030504040204" pitchFamily="50" charset="-128"/>
                <a:ea typeface="メイリオ" panose="020B0604030504040204" pitchFamily="50" charset="-128"/>
              </a:rPr>
              <a:t>貴社社内部隊と連携して、一部委託もご相談いただけます。</a:t>
            </a:r>
            <a:endParaRPr lang="en-US" altLang="ja-JP" sz="1400" dirty="0">
              <a:solidFill>
                <a:schemeClr val="tx1"/>
              </a:solidFill>
              <a:latin typeface="メイリオ" panose="020B0604030504040204" pitchFamily="50" charset="-128"/>
              <a:ea typeface="メイリオ" panose="020B0604030504040204" pitchFamily="50" charset="-128"/>
            </a:endParaRPr>
          </a:p>
        </p:txBody>
      </p:sp>
      <p:sp>
        <p:nvSpPr>
          <p:cNvPr id="30" name="テキスト ボックス 29">
            <a:extLst>
              <a:ext uri="{FF2B5EF4-FFF2-40B4-BE49-F238E27FC236}">
                <a16:creationId xmlns:a16="http://schemas.microsoft.com/office/drawing/2014/main" id="{DB41465D-5D30-6E80-78F0-EEE5C4A9C571}"/>
              </a:ext>
            </a:extLst>
          </p:cNvPr>
          <p:cNvSpPr txBox="1"/>
          <p:nvPr/>
        </p:nvSpPr>
        <p:spPr>
          <a:xfrm>
            <a:off x="269967" y="3632378"/>
            <a:ext cx="687006" cy="261610"/>
          </a:xfrm>
          <a:prstGeom prst="rect">
            <a:avLst/>
          </a:prstGeom>
          <a:solidFill>
            <a:schemeClr val="tx2">
              <a:lumMod val="50000"/>
            </a:schemeClr>
          </a:solidFill>
        </p:spPr>
        <p:txBody>
          <a:bodyPr wrap="square">
            <a:spAutoFit/>
          </a:bodyPr>
          <a:lstStyle/>
          <a:p>
            <a:r>
              <a:rPr lang="en-US" altLang="ja-JP" sz="1100" b="1" dirty="0">
                <a:solidFill>
                  <a:schemeClr val="bg1"/>
                </a:solidFill>
                <a:latin typeface="メイリオ" panose="020B0604030504040204" pitchFamily="50" charset="-128"/>
                <a:ea typeface="メイリオ" panose="020B0604030504040204" pitchFamily="50" charset="-128"/>
              </a:rPr>
              <a:t>DYM</a:t>
            </a:r>
            <a:r>
              <a:rPr lang="ja-JP" altLang="en-US" sz="1100" b="1" dirty="0">
                <a:solidFill>
                  <a:schemeClr val="bg1"/>
                </a:solidFill>
                <a:latin typeface="メイリオ" panose="020B0604030504040204" pitchFamily="50" charset="-128"/>
                <a:ea typeface="メイリオ" panose="020B0604030504040204" pitchFamily="50" charset="-128"/>
              </a:rPr>
              <a:t>→</a:t>
            </a:r>
            <a:endParaRPr lang="ja-JP" altLang="en-US" sz="1100" dirty="0">
              <a:solidFill>
                <a:schemeClr val="bg1"/>
              </a:solidFill>
            </a:endParaRPr>
          </a:p>
        </p:txBody>
      </p:sp>
      <p:sp>
        <p:nvSpPr>
          <p:cNvPr id="34" name="テキスト ボックス 33">
            <a:extLst>
              <a:ext uri="{FF2B5EF4-FFF2-40B4-BE49-F238E27FC236}">
                <a16:creationId xmlns:a16="http://schemas.microsoft.com/office/drawing/2014/main" id="{0144DC71-37E5-DA34-FDBB-69F2A1BEA8E0}"/>
              </a:ext>
            </a:extLst>
          </p:cNvPr>
          <p:cNvSpPr txBox="1"/>
          <p:nvPr/>
        </p:nvSpPr>
        <p:spPr>
          <a:xfrm>
            <a:off x="4741544" y="3629460"/>
            <a:ext cx="687006" cy="261610"/>
          </a:xfrm>
          <a:prstGeom prst="rect">
            <a:avLst/>
          </a:prstGeom>
          <a:solidFill>
            <a:schemeClr val="tx2">
              <a:lumMod val="50000"/>
            </a:schemeClr>
          </a:solidFill>
        </p:spPr>
        <p:txBody>
          <a:bodyPr wrap="square">
            <a:spAutoFit/>
          </a:bodyPr>
          <a:lstStyle/>
          <a:p>
            <a:r>
              <a:rPr lang="en-US" altLang="ja-JP" sz="1100" b="1" dirty="0">
                <a:solidFill>
                  <a:schemeClr val="bg1"/>
                </a:solidFill>
                <a:latin typeface="メイリオ" panose="020B0604030504040204" pitchFamily="50" charset="-128"/>
                <a:ea typeface="メイリオ" panose="020B0604030504040204" pitchFamily="50" charset="-128"/>
              </a:rPr>
              <a:t>DYM</a:t>
            </a:r>
            <a:r>
              <a:rPr lang="ja-JP" altLang="en-US" sz="1100" b="1" dirty="0">
                <a:solidFill>
                  <a:schemeClr val="bg1"/>
                </a:solidFill>
                <a:latin typeface="メイリオ" panose="020B0604030504040204" pitchFamily="50" charset="-128"/>
                <a:ea typeface="メイリオ" panose="020B0604030504040204" pitchFamily="50" charset="-128"/>
              </a:rPr>
              <a:t>→</a:t>
            </a:r>
            <a:endParaRPr lang="ja-JP" altLang="en-US" sz="1100" dirty="0">
              <a:solidFill>
                <a:schemeClr val="bg1"/>
              </a:solidFill>
            </a:endParaRPr>
          </a:p>
        </p:txBody>
      </p:sp>
      <p:sp>
        <p:nvSpPr>
          <p:cNvPr id="38" name="テキスト ボックス 37">
            <a:extLst>
              <a:ext uri="{FF2B5EF4-FFF2-40B4-BE49-F238E27FC236}">
                <a16:creationId xmlns:a16="http://schemas.microsoft.com/office/drawing/2014/main" id="{AF15CFA9-BA43-360D-D26E-040407A743A9}"/>
              </a:ext>
            </a:extLst>
          </p:cNvPr>
          <p:cNvSpPr txBox="1"/>
          <p:nvPr/>
        </p:nvSpPr>
        <p:spPr>
          <a:xfrm>
            <a:off x="269967" y="6081294"/>
            <a:ext cx="687006" cy="261610"/>
          </a:xfrm>
          <a:prstGeom prst="rect">
            <a:avLst/>
          </a:prstGeom>
          <a:solidFill>
            <a:schemeClr val="tx2">
              <a:lumMod val="50000"/>
            </a:schemeClr>
          </a:solidFill>
        </p:spPr>
        <p:txBody>
          <a:bodyPr wrap="square">
            <a:spAutoFit/>
          </a:bodyPr>
          <a:lstStyle/>
          <a:p>
            <a:r>
              <a:rPr lang="en-US" altLang="ja-JP" sz="1100" b="1" dirty="0">
                <a:solidFill>
                  <a:schemeClr val="bg1"/>
                </a:solidFill>
                <a:latin typeface="メイリオ" panose="020B0604030504040204" pitchFamily="50" charset="-128"/>
                <a:ea typeface="メイリオ" panose="020B0604030504040204" pitchFamily="50" charset="-128"/>
              </a:rPr>
              <a:t>DYM</a:t>
            </a:r>
            <a:r>
              <a:rPr lang="ja-JP" altLang="en-US" sz="1100" b="1" dirty="0">
                <a:solidFill>
                  <a:schemeClr val="bg1"/>
                </a:solidFill>
                <a:latin typeface="メイリオ" panose="020B0604030504040204" pitchFamily="50" charset="-128"/>
                <a:ea typeface="メイリオ" panose="020B0604030504040204" pitchFamily="50" charset="-128"/>
              </a:rPr>
              <a:t>→</a:t>
            </a:r>
            <a:endParaRPr lang="ja-JP" altLang="en-US" sz="1100" dirty="0">
              <a:solidFill>
                <a:schemeClr val="bg1"/>
              </a:solidFill>
            </a:endParaRPr>
          </a:p>
        </p:txBody>
      </p:sp>
      <p:sp>
        <p:nvSpPr>
          <p:cNvPr id="40" name="テキスト ボックス 39">
            <a:extLst>
              <a:ext uri="{FF2B5EF4-FFF2-40B4-BE49-F238E27FC236}">
                <a16:creationId xmlns:a16="http://schemas.microsoft.com/office/drawing/2014/main" id="{240BE338-3054-2BB1-6A31-C90BDCFE06A9}"/>
              </a:ext>
            </a:extLst>
          </p:cNvPr>
          <p:cNvSpPr txBox="1"/>
          <p:nvPr/>
        </p:nvSpPr>
        <p:spPr>
          <a:xfrm>
            <a:off x="4741544" y="6078376"/>
            <a:ext cx="687006" cy="261610"/>
          </a:xfrm>
          <a:prstGeom prst="rect">
            <a:avLst/>
          </a:prstGeom>
          <a:solidFill>
            <a:schemeClr val="tx2">
              <a:lumMod val="50000"/>
            </a:schemeClr>
          </a:solidFill>
        </p:spPr>
        <p:txBody>
          <a:bodyPr wrap="square">
            <a:spAutoFit/>
          </a:bodyPr>
          <a:lstStyle/>
          <a:p>
            <a:r>
              <a:rPr lang="en-US" altLang="ja-JP" sz="1100" b="1" dirty="0">
                <a:solidFill>
                  <a:schemeClr val="bg1"/>
                </a:solidFill>
                <a:latin typeface="メイリオ" panose="020B0604030504040204" pitchFamily="50" charset="-128"/>
                <a:ea typeface="メイリオ" panose="020B0604030504040204" pitchFamily="50" charset="-128"/>
              </a:rPr>
              <a:t>DYM</a:t>
            </a:r>
            <a:r>
              <a:rPr lang="ja-JP" altLang="en-US" sz="1100" b="1" dirty="0">
                <a:solidFill>
                  <a:schemeClr val="bg1"/>
                </a:solidFill>
                <a:latin typeface="メイリオ" panose="020B0604030504040204" pitchFamily="50" charset="-128"/>
                <a:ea typeface="メイリオ" panose="020B0604030504040204" pitchFamily="50" charset="-128"/>
              </a:rPr>
              <a:t>→</a:t>
            </a:r>
            <a:endParaRPr lang="ja-JP" altLang="en-US" sz="1100" dirty="0">
              <a:solidFill>
                <a:schemeClr val="bg1"/>
              </a:solidFill>
            </a:endParaRPr>
          </a:p>
        </p:txBody>
      </p:sp>
      <p:sp>
        <p:nvSpPr>
          <p:cNvPr id="41" name="テキスト ボックス 40">
            <a:extLst>
              <a:ext uri="{FF2B5EF4-FFF2-40B4-BE49-F238E27FC236}">
                <a16:creationId xmlns:a16="http://schemas.microsoft.com/office/drawing/2014/main" id="{C0326F10-43FF-1E4A-8F3D-ED5A80FA014B}"/>
              </a:ext>
            </a:extLst>
          </p:cNvPr>
          <p:cNvSpPr txBox="1"/>
          <p:nvPr/>
        </p:nvSpPr>
        <p:spPr>
          <a:xfrm>
            <a:off x="956972" y="3530330"/>
            <a:ext cx="3842445" cy="461665"/>
          </a:xfrm>
          <a:prstGeom prst="rect">
            <a:avLst/>
          </a:prstGeom>
          <a:noFill/>
        </p:spPr>
        <p:txBody>
          <a:bodyPr wrap="square">
            <a:spAutoFit/>
          </a:bodyPr>
          <a:lstStyle/>
          <a:p>
            <a:pPr algn="ctr"/>
            <a:r>
              <a:rPr lang="ja-JP" altLang="en-US" sz="1200" b="1" dirty="0">
                <a:solidFill>
                  <a:schemeClr val="tx2"/>
                </a:solidFill>
                <a:latin typeface="メイリオ" panose="020B0604030504040204" pitchFamily="50" charset="-128"/>
                <a:ea typeface="メイリオ" panose="020B0604030504040204" pitchFamily="50" charset="-128"/>
              </a:rPr>
              <a:t>各種実績の多いツール企業と連携している為、</a:t>
            </a:r>
            <a:endParaRPr lang="en-US" altLang="ja-JP" sz="1200" b="1">
              <a:solidFill>
                <a:schemeClr val="tx2"/>
              </a:solidFill>
              <a:latin typeface="メイリオ" panose="020B0604030504040204" pitchFamily="50" charset="-128"/>
              <a:ea typeface="メイリオ" panose="020B0604030504040204" pitchFamily="50" charset="-128"/>
            </a:endParaRPr>
          </a:p>
          <a:p>
            <a:pPr algn="ctr"/>
            <a:r>
              <a:rPr kumimoji="1" lang="ja-JP" altLang="en-US" sz="1200" b="1">
                <a:solidFill>
                  <a:schemeClr val="tx2"/>
                </a:solidFill>
                <a:latin typeface="メイリオ" panose="020B0604030504040204" pitchFamily="50" charset="-128"/>
                <a:ea typeface="メイリオ" panose="020B0604030504040204" pitchFamily="50" charset="-128"/>
              </a:rPr>
              <a:t>将来的</a:t>
            </a:r>
            <a:r>
              <a:rPr kumimoji="1" lang="ja-JP" altLang="en-US" sz="1200" b="1" dirty="0">
                <a:solidFill>
                  <a:schemeClr val="tx2"/>
                </a:solidFill>
                <a:latin typeface="メイリオ" panose="020B0604030504040204" pitchFamily="50" charset="-128"/>
                <a:ea typeface="メイリオ" panose="020B0604030504040204" pitchFamily="50" charset="-128"/>
              </a:rPr>
              <a:t>な運用プランに合わせてツール選定をサポート。</a:t>
            </a:r>
          </a:p>
        </p:txBody>
      </p:sp>
      <p:sp>
        <p:nvSpPr>
          <p:cNvPr id="42" name="テキスト ボックス 41">
            <a:extLst>
              <a:ext uri="{FF2B5EF4-FFF2-40B4-BE49-F238E27FC236}">
                <a16:creationId xmlns:a16="http://schemas.microsoft.com/office/drawing/2014/main" id="{D6EF5007-A21E-89B0-31EE-98FC1F7BE5FB}"/>
              </a:ext>
            </a:extLst>
          </p:cNvPr>
          <p:cNvSpPr txBox="1"/>
          <p:nvPr/>
        </p:nvSpPr>
        <p:spPr>
          <a:xfrm>
            <a:off x="5428549" y="3527412"/>
            <a:ext cx="3842445" cy="461665"/>
          </a:xfrm>
          <a:prstGeom prst="rect">
            <a:avLst/>
          </a:prstGeom>
          <a:noFill/>
        </p:spPr>
        <p:txBody>
          <a:bodyPr wrap="square">
            <a:spAutoFit/>
          </a:bodyPr>
          <a:lstStyle/>
          <a:p>
            <a:pPr algn="ctr"/>
            <a:r>
              <a:rPr lang="en-US" altLang="ja-JP" sz="1200" b="1" dirty="0">
                <a:solidFill>
                  <a:schemeClr val="tx2"/>
                </a:solidFill>
                <a:latin typeface="メイリオ" panose="020B0604030504040204" pitchFamily="50" charset="-128"/>
                <a:ea typeface="メイリオ" panose="020B0604030504040204" pitchFamily="50" charset="-128"/>
              </a:rPr>
              <a:t>DYM</a:t>
            </a:r>
            <a:r>
              <a:rPr lang="ja-JP" altLang="en-US" sz="1200" b="1" dirty="0">
                <a:solidFill>
                  <a:schemeClr val="tx2"/>
                </a:solidFill>
                <a:latin typeface="メイリオ" panose="020B0604030504040204" pitchFamily="50" charset="-128"/>
                <a:ea typeface="メイリオ" panose="020B0604030504040204" pitchFamily="50" charset="-128"/>
              </a:rPr>
              <a:t>が商流に入ることにより限定の割引プランや</a:t>
            </a:r>
            <a:endParaRPr lang="en-US" altLang="ja-JP" sz="1200" b="1" dirty="0">
              <a:solidFill>
                <a:schemeClr val="tx2"/>
              </a:solidFill>
              <a:latin typeface="メイリオ" panose="020B0604030504040204" pitchFamily="50" charset="-128"/>
              <a:ea typeface="メイリオ" panose="020B0604030504040204" pitchFamily="50" charset="-128"/>
            </a:endParaRPr>
          </a:p>
          <a:p>
            <a:pPr algn="ctr"/>
            <a:r>
              <a:rPr kumimoji="1" lang="ja-JP" altLang="en-US" sz="1200" b="1" dirty="0">
                <a:solidFill>
                  <a:schemeClr val="tx2"/>
                </a:solidFill>
                <a:latin typeface="メイリオ" panose="020B0604030504040204" pitchFamily="50" charset="-128"/>
                <a:ea typeface="メイリオ" panose="020B0604030504040204" pitchFamily="50" charset="-128"/>
              </a:rPr>
              <a:t>拡張機能（一部</a:t>
            </a:r>
            <a:r>
              <a:rPr kumimoji="1" lang="en-US" altLang="ja-JP" sz="1200" b="1" dirty="0">
                <a:solidFill>
                  <a:schemeClr val="tx2"/>
                </a:solidFill>
                <a:latin typeface="メイリオ" panose="020B0604030504040204" pitchFamily="50" charset="-128"/>
                <a:ea typeface="メイリオ" panose="020B0604030504040204" pitchFamily="50" charset="-128"/>
              </a:rPr>
              <a:t>β</a:t>
            </a:r>
            <a:r>
              <a:rPr lang="ja-JP" altLang="en-US" sz="1200" b="1" dirty="0">
                <a:solidFill>
                  <a:schemeClr val="tx2"/>
                </a:solidFill>
                <a:latin typeface="メイリオ" panose="020B0604030504040204" pitchFamily="50" charset="-128"/>
                <a:ea typeface="メイリオ" panose="020B0604030504040204" pitchFamily="50" charset="-128"/>
              </a:rPr>
              <a:t>版）の展開を可能に。</a:t>
            </a:r>
            <a:endParaRPr kumimoji="1" lang="ja-JP" altLang="en-US" sz="1200" b="1" dirty="0">
              <a:solidFill>
                <a:schemeClr val="tx2"/>
              </a:solidFill>
              <a:latin typeface="メイリオ" panose="020B0604030504040204" pitchFamily="50" charset="-128"/>
              <a:ea typeface="メイリオ" panose="020B0604030504040204" pitchFamily="50" charset="-128"/>
            </a:endParaRPr>
          </a:p>
        </p:txBody>
      </p:sp>
      <p:sp>
        <p:nvSpPr>
          <p:cNvPr id="43" name="テキスト ボックス 42">
            <a:extLst>
              <a:ext uri="{FF2B5EF4-FFF2-40B4-BE49-F238E27FC236}">
                <a16:creationId xmlns:a16="http://schemas.microsoft.com/office/drawing/2014/main" id="{674B7463-4A8E-D0FC-FDB4-5BB44B5E2FB2}"/>
              </a:ext>
            </a:extLst>
          </p:cNvPr>
          <p:cNvSpPr txBox="1"/>
          <p:nvPr/>
        </p:nvSpPr>
        <p:spPr>
          <a:xfrm>
            <a:off x="956972" y="5979246"/>
            <a:ext cx="3842445" cy="461665"/>
          </a:xfrm>
          <a:prstGeom prst="rect">
            <a:avLst/>
          </a:prstGeom>
          <a:noFill/>
        </p:spPr>
        <p:txBody>
          <a:bodyPr wrap="square">
            <a:spAutoFit/>
          </a:bodyPr>
          <a:lstStyle/>
          <a:p>
            <a:pPr algn="ctr"/>
            <a:r>
              <a:rPr lang="ja-JP" altLang="en-US" sz="1200" b="1" dirty="0">
                <a:solidFill>
                  <a:schemeClr val="tx2"/>
                </a:solidFill>
                <a:latin typeface="メイリオ" panose="020B0604030504040204" pitchFamily="50" charset="-128"/>
                <a:ea typeface="メイリオ" panose="020B0604030504040204" pitchFamily="50" charset="-128"/>
              </a:rPr>
              <a:t>運用実務におけるアウトソースとして活用し、</a:t>
            </a:r>
            <a:endParaRPr lang="en-US" altLang="ja-JP" sz="1200" b="1" dirty="0">
              <a:solidFill>
                <a:schemeClr val="tx2"/>
              </a:solidFill>
              <a:latin typeface="メイリオ" panose="020B0604030504040204" pitchFamily="50" charset="-128"/>
              <a:ea typeface="メイリオ" panose="020B0604030504040204" pitchFamily="50" charset="-128"/>
            </a:endParaRPr>
          </a:p>
          <a:p>
            <a:pPr algn="ctr"/>
            <a:r>
              <a:rPr kumimoji="1" lang="ja-JP" altLang="en-US" sz="1200" b="1" dirty="0">
                <a:solidFill>
                  <a:schemeClr val="tx2"/>
                </a:solidFill>
                <a:latin typeface="メイリオ" panose="020B0604030504040204" pitchFamily="50" charset="-128"/>
                <a:ea typeface="メイリオ" panose="020B0604030504040204" pitchFamily="50" charset="-128"/>
              </a:rPr>
              <a:t>既存の運用領域における効率化をサポート。</a:t>
            </a:r>
          </a:p>
        </p:txBody>
      </p:sp>
      <p:sp>
        <p:nvSpPr>
          <p:cNvPr id="44" name="テキスト ボックス 43">
            <a:extLst>
              <a:ext uri="{FF2B5EF4-FFF2-40B4-BE49-F238E27FC236}">
                <a16:creationId xmlns:a16="http://schemas.microsoft.com/office/drawing/2014/main" id="{C373F1E9-22BB-9E8C-628E-A261897C133F}"/>
              </a:ext>
            </a:extLst>
          </p:cNvPr>
          <p:cNvSpPr txBox="1"/>
          <p:nvPr/>
        </p:nvSpPr>
        <p:spPr>
          <a:xfrm>
            <a:off x="5428549" y="5976328"/>
            <a:ext cx="3842445" cy="461665"/>
          </a:xfrm>
          <a:prstGeom prst="rect">
            <a:avLst/>
          </a:prstGeom>
          <a:noFill/>
        </p:spPr>
        <p:txBody>
          <a:bodyPr wrap="square">
            <a:spAutoFit/>
          </a:bodyPr>
          <a:lstStyle/>
          <a:p>
            <a:pPr algn="ctr"/>
            <a:r>
              <a:rPr kumimoji="1" lang="en-US" altLang="ja-JP" sz="1200" b="1" dirty="0">
                <a:solidFill>
                  <a:schemeClr val="tx2"/>
                </a:solidFill>
                <a:latin typeface="メイリオ" panose="020B0604030504040204" pitchFamily="50" charset="-128"/>
                <a:ea typeface="メイリオ" panose="020B0604030504040204" pitchFamily="50" charset="-128"/>
              </a:rPr>
              <a:t>OAM(</a:t>
            </a:r>
            <a:r>
              <a:rPr kumimoji="1" lang="ja-JP" altLang="en-US" sz="1200" b="1" dirty="0">
                <a:solidFill>
                  <a:schemeClr val="tx2"/>
                </a:solidFill>
                <a:latin typeface="メイリオ" panose="020B0604030504040204" pitchFamily="50" charset="-128"/>
                <a:ea typeface="メイリオ" panose="020B0604030504040204" pitchFamily="50" charset="-128"/>
              </a:rPr>
              <a:t>公式管理画面</a:t>
            </a:r>
            <a:r>
              <a:rPr kumimoji="1" lang="en-US" altLang="ja-JP" sz="1200" b="1" dirty="0">
                <a:solidFill>
                  <a:schemeClr val="tx2"/>
                </a:solidFill>
                <a:latin typeface="メイリオ" panose="020B0604030504040204" pitchFamily="50" charset="-128"/>
                <a:ea typeface="メイリオ" panose="020B0604030504040204" pitchFamily="50" charset="-128"/>
              </a:rPr>
              <a:t>)</a:t>
            </a:r>
            <a:r>
              <a:rPr kumimoji="1" lang="ja-JP" altLang="en-US" sz="1200" b="1" dirty="0">
                <a:solidFill>
                  <a:schemeClr val="tx2"/>
                </a:solidFill>
                <a:latin typeface="メイリオ" panose="020B0604030504040204" pitchFamily="50" charset="-128"/>
                <a:ea typeface="メイリオ" panose="020B0604030504040204" pitchFamily="50" charset="-128"/>
              </a:rPr>
              <a:t>と併用しながらコストカット。</a:t>
            </a:r>
            <a:endParaRPr kumimoji="1" lang="en-US" altLang="ja-JP" sz="1200" b="1" dirty="0">
              <a:solidFill>
                <a:schemeClr val="tx2"/>
              </a:solidFill>
              <a:latin typeface="メイリオ" panose="020B0604030504040204" pitchFamily="50" charset="-128"/>
              <a:ea typeface="メイリオ" panose="020B0604030504040204" pitchFamily="50" charset="-128"/>
            </a:endParaRPr>
          </a:p>
          <a:p>
            <a:pPr algn="ctr"/>
            <a:r>
              <a:rPr lang="ja-JP" altLang="en-US" sz="1200" b="1" dirty="0">
                <a:solidFill>
                  <a:schemeClr val="tx2"/>
                </a:solidFill>
                <a:latin typeface="メイリオ" panose="020B0604030504040204" pitchFamily="50" charset="-128"/>
                <a:ea typeface="メイリオ" panose="020B0604030504040204" pitchFamily="50" charset="-128"/>
              </a:rPr>
              <a:t>また複数ステップ配信の組み合わせで効率化も。</a:t>
            </a:r>
            <a:endParaRPr kumimoji="1" lang="ja-JP" altLang="en-US" sz="1200" b="1" dirty="0">
              <a:solidFill>
                <a:schemeClr val="tx2"/>
              </a:solidFill>
              <a:latin typeface="メイリオ" panose="020B0604030504040204" pitchFamily="50" charset="-128"/>
              <a:ea typeface="メイリオ" panose="020B0604030504040204" pitchFamily="50" charset="-128"/>
            </a:endParaRPr>
          </a:p>
        </p:txBody>
      </p:sp>
      <p:sp>
        <p:nvSpPr>
          <p:cNvPr id="16" name="テキスト ボックス 15">
            <a:extLst>
              <a:ext uri="{FF2B5EF4-FFF2-40B4-BE49-F238E27FC236}">
                <a16:creationId xmlns:a16="http://schemas.microsoft.com/office/drawing/2014/main" id="{09F8FD3D-D156-D73A-268D-4BD2C4EFA147}"/>
              </a:ext>
            </a:extLst>
          </p:cNvPr>
          <p:cNvSpPr txBox="1"/>
          <p:nvPr/>
        </p:nvSpPr>
        <p:spPr>
          <a:xfrm>
            <a:off x="1659517" y="1322455"/>
            <a:ext cx="6603340" cy="260597"/>
          </a:xfrm>
          <a:prstGeom prst="rect">
            <a:avLst/>
          </a:prstGeom>
          <a:noFill/>
        </p:spPr>
        <p:txBody>
          <a:bodyPr wrap="square">
            <a:spAutoFit/>
          </a:bodyPr>
          <a:lstStyle/>
          <a:p>
            <a:pPr algn="ctr"/>
            <a:r>
              <a:rPr lang="en-US" altLang="ja-JP" sz="1050" dirty="0">
                <a:solidFill>
                  <a:srgbClr val="FF0000"/>
                </a:solidFill>
                <a:latin typeface="メイリオ" panose="020B0604030504040204" pitchFamily="50" charset="-128"/>
                <a:ea typeface="メイリオ" panose="020B0604030504040204" pitchFamily="50" charset="-128"/>
              </a:rPr>
              <a:t>※</a:t>
            </a:r>
            <a:r>
              <a:rPr lang="ja-JP" altLang="en-US" sz="1050" dirty="0">
                <a:solidFill>
                  <a:srgbClr val="FF0000"/>
                </a:solidFill>
                <a:latin typeface="メイリオ" panose="020B0604030504040204" pitchFamily="50" charset="-128"/>
                <a:ea typeface="メイリオ" panose="020B0604030504040204" pitchFamily="50" charset="-128"/>
              </a:rPr>
              <a:t>現状運用環境に合わせた成果報酬プランやコストカットの監修なども提示が可能です。</a:t>
            </a:r>
            <a:endParaRPr lang="ja-JP" altLang="en-US" sz="1200" dirty="0">
              <a:solidFill>
                <a:srgbClr val="FF0000"/>
              </a:solidFill>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91138102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0D8079-0D33-0F1A-6794-86CD36E2B42B}"/>
            </a:ext>
          </a:extLst>
        </p:cNvPr>
        <p:cNvGrpSpPr/>
        <p:nvPr/>
      </p:nvGrpSpPr>
      <p:grpSpPr>
        <a:xfrm>
          <a:off x="0" y="0"/>
          <a:ext cx="0" cy="0"/>
          <a:chOff x="0" y="0"/>
          <a:chExt cx="0" cy="0"/>
        </a:xfrm>
      </p:grpSpPr>
      <p:sp>
        <p:nvSpPr>
          <p:cNvPr id="14" name="Google Shape;752;p28">
            <a:extLst>
              <a:ext uri="{FF2B5EF4-FFF2-40B4-BE49-F238E27FC236}">
                <a16:creationId xmlns:a16="http://schemas.microsoft.com/office/drawing/2014/main" id="{88CD823C-3E61-5E93-B9FE-BD623737FC13}"/>
              </a:ext>
            </a:extLst>
          </p:cNvPr>
          <p:cNvSpPr txBox="1"/>
          <p:nvPr/>
        </p:nvSpPr>
        <p:spPr>
          <a:xfrm>
            <a:off x="602223" y="1104688"/>
            <a:ext cx="1104657" cy="584735"/>
          </a:xfrm>
          <a:prstGeom prst="rect">
            <a:avLst/>
          </a:prstGeom>
          <a:noFill/>
          <a:ln>
            <a:noFill/>
          </a:ln>
        </p:spPr>
        <p:txBody>
          <a:bodyPr spcFirstLastPara="1" wrap="square" lIns="91425" tIns="45700" rIns="91425" bIns="45700" anchor="ctr" anchorCtr="0">
            <a:spAutoFit/>
          </a:bodyPr>
          <a:lstStyle/>
          <a:p>
            <a:pPr lvl="0"/>
            <a:r>
              <a:rPr lang="en-US" altLang="ja-JP" sz="3200" b="1" dirty="0">
                <a:solidFill>
                  <a:srgbClr val="323366"/>
                </a:solidFill>
                <a:latin typeface="メイリオ" panose="020B0604030504040204" pitchFamily="50" charset="-128"/>
                <a:ea typeface="メイリオ" panose="020B0604030504040204" pitchFamily="50" charset="-128"/>
                <a:cs typeface="Meiryo"/>
                <a:sym typeface="Meiryo"/>
              </a:rPr>
              <a:t>01</a:t>
            </a:r>
            <a:endParaRPr lang="ja-JP" altLang="en-US" sz="3200" b="1" dirty="0">
              <a:solidFill>
                <a:srgbClr val="323366"/>
              </a:solidFill>
              <a:latin typeface="メイリオ" panose="020B0604030504040204" pitchFamily="50" charset="-128"/>
              <a:ea typeface="メイリオ" panose="020B0604030504040204" pitchFamily="50" charset="-128"/>
              <a:cs typeface="Meiryo"/>
              <a:sym typeface="Meiryo"/>
            </a:endParaRPr>
          </a:p>
        </p:txBody>
      </p:sp>
      <p:sp>
        <p:nvSpPr>
          <p:cNvPr id="16" name="Google Shape;752;p28">
            <a:extLst>
              <a:ext uri="{FF2B5EF4-FFF2-40B4-BE49-F238E27FC236}">
                <a16:creationId xmlns:a16="http://schemas.microsoft.com/office/drawing/2014/main" id="{403775D4-CF2D-3023-3056-9E596BBE8648}"/>
              </a:ext>
            </a:extLst>
          </p:cNvPr>
          <p:cNvSpPr txBox="1"/>
          <p:nvPr/>
        </p:nvSpPr>
        <p:spPr>
          <a:xfrm>
            <a:off x="1867143" y="1043132"/>
            <a:ext cx="5028957" cy="707846"/>
          </a:xfrm>
          <a:prstGeom prst="rect">
            <a:avLst/>
          </a:prstGeom>
          <a:noFill/>
          <a:ln>
            <a:noFill/>
          </a:ln>
        </p:spPr>
        <p:txBody>
          <a:bodyPr spcFirstLastPara="1" wrap="square" lIns="91425" tIns="45700" rIns="91425" bIns="45700" anchor="ctr" anchorCtr="0">
            <a:spAutoFit/>
          </a:bodyPr>
          <a:lstStyle/>
          <a:p>
            <a:pPr lvl="0"/>
            <a:r>
              <a:rPr lang="ja-JP" altLang="en-US" sz="4000" b="1" dirty="0">
                <a:solidFill>
                  <a:schemeClr val="tx1">
                    <a:lumMod val="65000"/>
                    <a:lumOff val="35000"/>
                  </a:schemeClr>
                </a:solidFill>
                <a:latin typeface="メイリオ" panose="020B0604030504040204" pitchFamily="50" charset="-128"/>
                <a:ea typeface="メイリオ" panose="020B0604030504040204" pitchFamily="50" charset="-128"/>
                <a:cs typeface="Meiryo"/>
                <a:sym typeface="Meiryo"/>
              </a:rPr>
              <a:t>施策背景</a:t>
            </a:r>
          </a:p>
        </p:txBody>
      </p:sp>
      <p:cxnSp>
        <p:nvCxnSpPr>
          <p:cNvPr id="17" name="直線コネクタ 16">
            <a:extLst>
              <a:ext uri="{FF2B5EF4-FFF2-40B4-BE49-F238E27FC236}">
                <a16:creationId xmlns:a16="http://schemas.microsoft.com/office/drawing/2014/main" id="{24E0D700-8F0C-AA59-0C53-7B51F6E65BAA}"/>
              </a:ext>
            </a:extLst>
          </p:cNvPr>
          <p:cNvCxnSpPr>
            <a:cxnSpLocks/>
          </p:cNvCxnSpPr>
          <p:nvPr/>
        </p:nvCxnSpPr>
        <p:spPr>
          <a:xfrm>
            <a:off x="608527" y="1681803"/>
            <a:ext cx="944805" cy="0"/>
          </a:xfrm>
          <a:prstGeom prst="line">
            <a:avLst/>
          </a:prstGeom>
          <a:ln w="57150">
            <a:solidFill>
              <a:srgbClr val="10253F"/>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97642642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A42436-AC50-73E1-6EBE-63A7C5BBF420}"/>
            </a:ext>
          </a:extLst>
        </p:cNvPr>
        <p:cNvGrpSpPr/>
        <p:nvPr/>
      </p:nvGrpSpPr>
      <p:grpSpPr>
        <a:xfrm>
          <a:off x="0" y="0"/>
          <a:ext cx="0" cy="0"/>
          <a:chOff x="0" y="0"/>
          <a:chExt cx="0" cy="0"/>
        </a:xfrm>
      </p:grpSpPr>
      <p:cxnSp>
        <p:nvCxnSpPr>
          <p:cNvPr id="59" name="直線コネクタ 4"/>
          <p:cNvCxnSpPr/>
          <p:nvPr/>
        </p:nvCxnSpPr>
        <p:spPr>
          <a:xfrm>
            <a:off x="0" y="548640"/>
            <a:ext cx="9906120" cy="360"/>
          </a:xfrm>
          <a:prstGeom prst="straightConnector1">
            <a:avLst/>
          </a:prstGeom>
          <a:ln>
            <a:solidFill>
              <a:srgbClr val="191F54"/>
            </a:solidFill>
            <a:round/>
          </a:ln>
        </p:spPr>
      </p:cxnSp>
      <p:sp>
        <p:nvSpPr>
          <p:cNvPr id="60" name="正方形/長方形 6"/>
          <p:cNvSpPr/>
          <p:nvPr/>
        </p:nvSpPr>
        <p:spPr>
          <a:xfrm>
            <a:off x="0" y="0"/>
            <a:ext cx="450720" cy="548280"/>
          </a:xfrm>
          <a:prstGeom prst="rect">
            <a:avLst/>
          </a:prstGeom>
          <a:solidFill>
            <a:srgbClr val="191F54"/>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rgbClr val="FFFFFF"/>
              </a:solidFill>
              <a:effectLst/>
              <a:uFillTx/>
              <a:latin typeface="Calibri"/>
            </a:endParaRPr>
          </a:p>
        </p:txBody>
      </p:sp>
      <p:sp>
        <p:nvSpPr>
          <p:cNvPr id="58" name="正方形/長方形 57">
            <a:extLst>
              <a:ext uri="{FF2B5EF4-FFF2-40B4-BE49-F238E27FC236}">
                <a16:creationId xmlns:a16="http://schemas.microsoft.com/office/drawing/2014/main" id="{6C8986CB-406D-05C6-C63F-77B94833C597}"/>
              </a:ext>
            </a:extLst>
          </p:cNvPr>
          <p:cNvSpPr/>
          <p:nvPr/>
        </p:nvSpPr>
        <p:spPr>
          <a:xfrm>
            <a:off x="96788" y="1045811"/>
            <a:ext cx="1935768" cy="21878"/>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
        <p:nvSpPr>
          <p:cNvPr id="5" name="テキスト ボックス 4">
            <a:extLst>
              <a:ext uri="{FF2B5EF4-FFF2-40B4-BE49-F238E27FC236}">
                <a16:creationId xmlns:a16="http://schemas.microsoft.com/office/drawing/2014/main" id="{F31CD8C5-8C6B-79E9-DFB1-36686BF9F962}"/>
              </a:ext>
            </a:extLst>
          </p:cNvPr>
          <p:cNvSpPr txBox="1"/>
          <p:nvPr/>
        </p:nvSpPr>
        <p:spPr>
          <a:xfrm>
            <a:off x="96788" y="619405"/>
            <a:ext cx="4961186" cy="369332"/>
          </a:xfrm>
          <a:prstGeom prst="rect">
            <a:avLst/>
          </a:prstGeom>
          <a:noFill/>
        </p:spPr>
        <p:txBody>
          <a:bodyPr wrap="square">
            <a:spAutoFit/>
          </a:bodyPr>
          <a:lstStyle/>
          <a:p>
            <a:r>
              <a:rPr lang="ja-JP" altLang="en-US"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市況の変化</a:t>
            </a:r>
            <a:endParaRPr lang="ja-JP" altLang="en-US" sz="1100" dirty="0"/>
          </a:p>
        </p:txBody>
      </p:sp>
      <p:sp>
        <p:nvSpPr>
          <p:cNvPr id="7" name="テキスト ボックス 6">
            <a:extLst>
              <a:ext uri="{FF2B5EF4-FFF2-40B4-BE49-F238E27FC236}">
                <a16:creationId xmlns:a16="http://schemas.microsoft.com/office/drawing/2014/main" id="{0F9B49E5-148A-C9A5-79D8-759C503842CE}"/>
              </a:ext>
            </a:extLst>
          </p:cNvPr>
          <p:cNvSpPr txBox="1"/>
          <p:nvPr/>
        </p:nvSpPr>
        <p:spPr>
          <a:xfrm>
            <a:off x="96788" y="1202790"/>
            <a:ext cx="9687414" cy="307777"/>
          </a:xfrm>
          <a:prstGeom prst="rect">
            <a:avLst/>
          </a:prstGeom>
          <a:noFill/>
        </p:spPr>
        <p:txBody>
          <a:bodyPr wrap="square">
            <a:spAutoFit/>
          </a:bodyPr>
          <a:lstStyle/>
          <a:p>
            <a:r>
              <a:rPr lang="ja-JP" altLang="en-US"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市況の変化に伴い、リスト保有・マネタイズ・</a:t>
            </a:r>
            <a:r>
              <a:rPr lang="en-US" altLang="ja-JP"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LTV</a:t>
            </a:r>
            <a:r>
              <a:rPr lang="ja-JP" altLang="en-US"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の重要性は拡大している。</a:t>
            </a:r>
            <a:endParaRPr lang="ja-JP" altLang="en-US" sz="1000" dirty="0"/>
          </a:p>
        </p:txBody>
      </p:sp>
      <p:sp>
        <p:nvSpPr>
          <p:cNvPr id="9" name="テキスト ボックス 8">
            <a:extLst>
              <a:ext uri="{FF2B5EF4-FFF2-40B4-BE49-F238E27FC236}">
                <a16:creationId xmlns:a16="http://schemas.microsoft.com/office/drawing/2014/main" id="{E8BEF693-34F0-FCA3-0D13-025ADA077FA4}"/>
              </a:ext>
            </a:extLst>
          </p:cNvPr>
          <p:cNvSpPr txBox="1"/>
          <p:nvPr/>
        </p:nvSpPr>
        <p:spPr>
          <a:xfrm>
            <a:off x="549000" y="138240"/>
            <a:ext cx="4961186" cy="338040"/>
          </a:xfrm>
          <a:prstGeom prst="rect">
            <a:avLst/>
          </a:prstGeom>
          <a:noFill/>
        </p:spPr>
        <p:txBody>
          <a:bodyPr wrap="square" anchor="ctr" lIns="91425" rIns="91425" tIns="45700" bIns="45700">
            <a:spAutoFit/>
          </a:bodyPr>
          <a:lstStyle/>
          <a:p>
            <a:r>
              <a:rPr lang="ja-JP" altLang="en-US" sz="1600" b="1" dirty="0">
                <a:solidFill>
                  <a:srgbClr val="323366"/>
                </a:solidFill>
                <a:latin typeface="メイリオ" panose="020B0604030504040204" pitchFamily="50" charset="-128"/>
                <a:ea typeface="メイリオ" panose="020B0604030504040204" pitchFamily="50" charset="-128"/>
                <a:cs typeface="メイリオ" panose="020B0604030504040204" pitchFamily="50" charset="-128"/>
              </a:rPr>
              <a:t>前提調査</a:t>
            </a:r>
            <a:endParaRPr lang="ja-JP" altLang="en-US" sz="1050" dirty="0">
              <a:solidFill>
                <a:srgbClr val="323366"/>
              </a:solidFill>
            </a:endParaRPr>
          </a:p>
        </p:txBody>
      </p:sp>
      <p:sp>
        <p:nvSpPr>
          <p:cNvPr id="11" name="正方形/長方形 10">
            <a:extLst>
              <a:ext uri="{FF2B5EF4-FFF2-40B4-BE49-F238E27FC236}">
                <a16:creationId xmlns:a16="http://schemas.microsoft.com/office/drawing/2014/main" id="{0F0E6BAB-8E00-CEF9-3F7F-B243C9622CE9}"/>
              </a:ext>
            </a:extLst>
          </p:cNvPr>
          <p:cNvSpPr/>
          <p:nvPr/>
        </p:nvSpPr>
        <p:spPr>
          <a:xfrm>
            <a:off x="96788" y="1645669"/>
            <a:ext cx="9687414" cy="3577"/>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
        <p:nvSpPr>
          <p:cNvPr id="12" name="Rectangle 3">
            <a:extLst>
              <a:ext uri="{FF2B5EF4-FFF2-40B4-BE49-F238E27FC236}">
                <a16:creationId xmlns:a16="http://schemas.microsoft.com/office/drawing/2014/main" id="{AD99B47E-7A67-A20F-FA23-6FFE48B38289}"/>
              </a:ext>
            </a:extLst>
          </p:cNvPr>
          <p:cNvSpPr/>
          <p:nvPr/>
        </p:nvSpPr>
        <p:spPr>
          <a:xfrm>
            <a:off x="426720" y="1872996"/>
            <a:ext cx="155448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t"/>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l">
              <a:spcAft>
                <a:spcPts val="300"/>
              </a:spcAft>
            </a:pPr>
            <a:r>
              <a:rPr sz="1100" b="1">
                <a:solidFill>
                  <a:srgbClr val="1F2A5C"/>
                </a:solidFill>
                <a:latin typeface="メイリオ" panose="020B0604030504040204" pitchFamily="50" charset="-128"/>
                <a:ea typeface="メイリオ" panose="020B0604030504040204" pitchFamily="50" charset="-128"/>
              </a:rPr>
              <a:t>変化</a:t>
            </a:r>
          </a:p>
        </p:txBody>
      </p:sp>
      <p:sp>
        <p:nvSpPr>
          <p:cNvPr id="13" name="Rectangle 4">
            <a:extLst>
              <a:ext uri="{FF2B5EF4-FFF2-40B4-BE49-F238E27FC236}">
                <a16:creationId xmlns:a16="http://schemas.microsoft.com/office/drawing/2014/main" id="{3E0DC48D-92CE-9229-ADC8-397327218608}"/>
              </a:ext>
            </a:extLst>
          </p:cNvPr>
          <p:cNvSpPr/>
          <p:nvPr/>
        </p:nvSpPr>
        <p:spPr>
          <a:xfrm>
            <a:off x="2118360" y="1872996"/>
            <a:ext cx="26517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t"/>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l">
              <a:spcAft>
                <a:spcPts val="300"/>
              </a:spcAft>
            </a:pPr>
            <a:r>
              <a:rPr sz="1100" b="1">
                <a:solidFill>
                  <a:srgbClr val="1F2A5C"/>
                </a:solidFill>
                <a:latin typeface="メイリオ" panose="020B0604030504040204" pitchFamily="50" charset="-128"/>
                <a:ea typeface="メイリオ" panose="020B0604030504040204" pitchFamily="50" charset="-128"/>
              </a:rPr>
              <a:t>背景データ</a:t>
            </a:r>
          </a:p>
        </p:txBody>
      </p:sp>
      <p:sp>
        <p:nvSpPr>
          <p:cNvPr id="14" name="Rectangle 5">
            <a:extLst>
              <a:ext uri="{FF2B5EF4-FFF2-40B4-BE49-F238E27FC236}">
                <a16:creationId xmlns:a16="http://schemas.microsoft.com/office/drawing/2014/main" id="{E32730EA-2FDC-122D-34A0-22348B3965AF}"/>
              </a:ext>
            </a:extLst>
          </p:cNvPr>
          <p:cNvSpPr/>
          <p:nvPr/>
        </p:nvSpPr>
        <p:spPr>
          <a:xfrm>
            <a:off x="4907280" y="1872996"/>
            <a:ext cx="2011679"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t"/>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l">
              <a:spcAft>
                <a:spcPts val="300"/>
              </a:spcAft>
            </a:pPr>
            <a:r>
              <a:rPr lang="ja-JP" altLang="en-US" sz="1100" b="1" dirty="0">
                <a:solidFill>
                  <a:srgbClr val="1F2A5C"/>
                </a:solidFill>
                <a:latin typeface="メイリオ" panose="020B0604030504040204" pitchFamily="50" charset="-128"/>
                <a:ea typeface="メイリオ" panose="020B0604030504040204" pitchFamily="50" charset="-128"/>
              </a:rPr>
              <a:t>マーケティング</a:t>
            </a:r>
            <a:r>
              <a:rPr sz="1100" b="1" dirty="0" err="1">
                <a:solidFill>
                  <a:srgbClr val="1F2A5C"/>
                </a:solidFill>
                <a:latin typeface="メイリオ" panose="020B0604030504040204" pitchFamily="50" charset="-128"/>
                <a:ea typeface="メイリオ" panose="020B0604030504040204" pitchFamily="50" charset="-128"/>
              </a:rPr>
              <a:t>への影響</a:t>
            </a:r>
            <a:endParaRPr sz="1100" b="1" dirty="0">
              <a:solidFill>
                <a:srgbClr val="1F2A5C"/>
              </a:solidFill>
              <a:latin typeface="メイリオ" panose="020B0604030504040204" pitchFamily="50" charset="-128"/>
              <a:ea typeface="メイリオ" panose="020B0604030504040204" pitchFamily="50" charset="-128"/>
            </a:endParaRPr>
          </a:p>
        </p:txBody>
      </p:sp>
      <p:sp>
        <p:nvSpPr>
          <p:cNvPr id="15" name="Rectangle 6">
            <a:extLst>
              <a:ext uri="{FF2B5EF4-FFF2-40B4-BE49-F238E27FC236}">
                <a16:creationId xmlns:a16="http://schemas.microsoft.com/office/drawing/2014/main" id="{E20F6A55-5A9A-17DC-163C-8353499D7D59}"/>
              </a:ext>
            </a:extLst>
          </p:cNvPr>
          <p:cNvSpPr/>
          <p:nvPr/>
        </p:nvSpPr>
        <p:spPr>
          <a:xfrm>
            <a:off x="7056120" y="1872996"/>
            <a:ext cx="24231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t"/>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l">
              <a:spcAft>
                <a:spcPts val="300"/>
              </a:spcAft>
            </a:pPr>
            <a:r>
              <a:rPr sz="1100" b="1">
                <a:solidFill>
                  <a:srgbClr val="C8102E"/>
                </a:solidFill>
                <a:latin typeface="メイリオ" panose="020B0604030504040204" pitchFamily="50" charset="-128"/>
                <a:ea typeface="メイリオ" panose="020B0604030504040204" pitchFamily="50" charset="-128"/>
              </a:rPr>
              <a:t>LINE OAでの対応</a:t>
            </a:r>
          </a:p>
        </p:txBody>
      </p:sp>
      <p:sp>
        <p:nvSpPr>
          <p:cNvPr id="16" name="Rectangle 7">
            <a:extLst>
              <a:ext uri="{FF2B5EF4-FFF2-40B4-BE49-F238E27FC236}">
                <a16:creationId xmlns:a16="http://schemas.microsoft.com/office/drawing/2014/main" id="{5C785CCD-8743-8281-EE42-652E7CC6C711}"/>
              </a:ext>
            </a:extLst>
          </p:cNvPr>
          <p:cNvSpPr/>
          <p:nvPr/>
        </p:nvSpPr>
        <p:spPr>
          <a:xfrm>
            <a:off x="381000" y="2193036"/>
            <a:ext cx="1600200" cy="978408"/>
          </a:xfrm>
          <a:prstGeom prst="rect">
            <a:avLst/>
          </a:prstGeom>
          <a:solidFill>
            <a:srgbClr val="1F2A5C"/>
          </a:solidFill>
          <a:ln>
            <a:noFill/>
          </a:ln>
          <a:effectLst/>
        </p:spPr>
        <p:style>
          <a:lnRef idx="1">
            <a:schemeClr val="accent1"/>
          </a:lnRef>
          <a:fillRef idx="3">
            <a:schemeClr val="accent1"/>
          </a:fillRef>
          <a:effectRef idx="2">
            <a:schemeClr val="accent1"/>
          </a:effectRef>
          <a:fontRef idx="minor">
            <a:schemeClr val="lt1"/>
          </a:fontRef>
        </p:style>
        <p:txBody>
          <a:bodyPr wrap="square" lIns="109728" tIns="36576" rIns="109728" bIns="36576"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l">
              <a:spcAft>
                <a:spcPts val="200"/>
              </a:spcAft>
            </a:pPr>
            <a:r>
              <a:rPr sz="1800" b="1">
                <a:solidFill>
                  <a:srgbClr val="FFFFFF"/>
                </a:solidFill>
                <a:latin typeface="メイリオ" panose="020B0604030504040204" pitchFamily="50" charset="-128"/>
                <a:ea typeface="メイリオ" panose="020B0604030504040204" pitchFamily="50" charset="-128"/>
              </a:rPr>
              <a:t>①</a:t>
            </a:r>
          </a:p>
          <a:p>
            <a:pPr algn="l">
              <a:spcAft>
                <a:spcPts val="300"/>
              </a:spcAft>
            </a:pPr>
            <a:r>
              <a:rPr sz="1200" b="1">
                <a:solidFill>
                  <a:srgbClr val="FFFFFF"/>
                </a:solidFill>
                <a:latin typeface="メイリオ" panose="020B0604030504040204" pitchFamily="50" charset="-128"/>
                <a:ea typeface="メイリオ" panose="020B0604030504040204" pitchFamily="50" charset="-128"/>
              </a:rPr>
              <a:t>広告接点の早期化</a:t>
            </a:r>
          </a:p>
        </p:txBody>
      </p:sp>
      <p:sp>
        <p:nvSpPr>
          <p:cNvPr id="17" name="Rectangle 8">
            <a:extLst>
              <a:ext uri="{FF2B5EF4-FFF2-40B4-BE49-F238E27FC236}">
                <a16:creationId xmlns:a16="http://schemas.microsoft.com/office/drawing/2014/main" id="{51B35245-DA01-007C-B2BF-E2F0A67DC3C4}"/>
              </a:ext>
            </a:extLst>
          </p:cNvPr>
          <p:cNvSpPr/>
          <p:nvPr/>
        </p:nvSpPr>
        <p:spPr>
          <a:xfrm>
            <a:off x="2072640" y="2193036"/>
            <a:ext cx="2697480" cy="978408"/>
          </a:xfrm>
          <a:prstGeom prst="rect">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wrap="square" lIns="109728" tIns="36576" rIns="109728" bIns="36576"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l">
              <a:spcAft>
                <a:spcPts val="100"/>
              </a:spcAft>
            </a:pPr>
            <a:r>
              <a:rPr sz="1800" b="1" dirty="0">
                <a:solidFill>
                  <a:srgbClr val="1F2A5C"/>
                </a:solidFill>
                <a:latin typeface="メイリオ" panose="020B0604030504040204" pitchFamily="50" charset="-128"/>
                <a:ea typeface="メイリオ" panose="020B0604030504040204" pitchFamily="50" charset="-128"/>
              </a:rPr>
              <a:t>7,249億円</a:t>
            </a:r>
          </a:p>
          <a:p>
            <a:pPr algn="l">
              <a:spcAft>
                <a:spcPts val="300"/>
              </a:spcAft>
            </a:pPr>
            <a:r>
              <a:rPr sz="950" b="0" dirty="0">
                <a:solidFill>
                  <a:srgbClr val="777777"/>
                </a:solidFill>
                <a:latin typeface="メイリオ" panose="020B0604030504040204" pitchFamily="50" charset="-128"/>
                <a:ea typeface="メイリオ" panose="020B0604030504040204" pitchFamily="50" charset="-128"/>
              </a:rPr>
              <a:t>動画広告市場（2024年・前年比115.9%）。</a:t>
            </a:r>
            <a:r>
              <a:rPr sz="950" b="1" dirty="0">
                <a:solidFill>
                  <a:srgbClr val="777777"/>
                </a:solidFill>
                <a:latin typeface="メイリオ" panose="020B0604030504040204" pitchFamily="50" charset="-128"/>
                <a:ea typeface="メイリオ" panose="020B0604030504040204" pitchFamily="50" charset="-128"/>
              </a:rPr>
              <a:t>縦型動画は前年比171.1%</a:t>
            </a:r>
          </a:p>
        </p:txBody>
      </p:sp>
      <p:sp>
        <p:nvSpPr>
          <p:cNvPr id="18" name="Rectangle 9">
            <a:extLst>
              <a:ext uri="{FF2B5EF4-FFF2-40B4-BE49-F238E27FC236}">
                <a16:creationId xmlns:a16="http://schemas.microsoft.com/office/drawing/2014/main" id="{8A01196A-31FA-AA2D-83D7-5C664ABF1B2A}"/>
              </a:ext>
            </a:extLst>
          </p:cNvPr>
          <p:cNvSpPr/>
          <p:nvPr/>
        </p:nvSpPr>
        <p:spPr>
          <a:xfrm>
            <a:off x="4861560" y="2193036"/>
            <a:ext cx="2057400" cy="978408"/>
          </a:xfrm>
          <a:prstGeom prst="rect">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wrap="square" lIns="109728" tIns="36576" rIns="109728" bIns="36576"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l">
              <a:spcAft>
                <a:spcPts val="300"/>
              </a:spcAft>
            </a:pPr>
            <a:r>
              <a:rPr sz="1000" b="0" dirty="0" err="1">
                <a:solidFill>
                  <a:srgbClr val="333333"/>
                </a:solidFill>
                <a:latin typeface="メイリオ" panose="020B0604030504040204" pitchFamily="50" charset="-128"/>
                <a:ea typeface="メイリオ" panose="020B0604030504040204" pitchFamily="50" charset="-128"/>
              </a:rPr>
              <a:t>購入前の接触が増え</a:t>
            </a:r>
            <a:r>
              <a:rPr sz="1000" b="0" dirty="0">
                <a:solidFill>
                  <a:srgbClr val="333333"/>
                </a:solidFill>
                <a:latin typeface="メイリオ" panose="020B0604030504040204" pitchFamily="50" charset="-128"/>
                <a:ea typeface="メイリオ" panose="020B0604030504040204" pitchFamily="50" charset="-128"/>
              </a:rPr>
              <a:t>、</a:t>
            </a:r>
            <a:endParaRPr lang="en-US" sz="1000" b="0" dirty="0">
              <a:solidFill>
                <a:srgbClr val="333333"/>
              </a:solidFill>
              <a:latin typeface="メイリオ" panose="020B0604030504040204" pitchFamily="50" charset="-128"/>
              <a:ea typeface="メイリオ" panose="020B0604030504040204" pitchFamily="50" charset="-128"/>
            </a:endParaRPr>
          </a:p>
          <a:p>
            <a:pPr algn="l">
              <a:spcAft>
                <a:spcPts val="300"/>
              </a:spcAft>
            </a:pPr>
            <a:r>
              <a:rPr sz="1000" b="0" dirty="0" err="1">
                <a:solidFill>
                  <a:srgbClr val="333333"/>
                </a:solidFill>
                <a:latin typeface="メイリオ" panose="020B0604030504040204" pitchFamily="50" charset="-128"/>
                <a:ea typeface="メイリオ" panose="020B0604030504040204" pitchFamily="50" charset="-128"/>
              </a:rPr>
              <a:t>CVだけで接点の価値が見えない</a:t>
            </a:r>
            <a:endParaRPr sz="1000" b="0" dirty="0">
              <a:solidFill>
                <a:srgbClr val="333333"/>
              </a:solidFill>
              <a:latin typeface="メイリオ" panose="020B0604030504040204" pitchFamily="50" charset="-128"/>
              <a:ea typeface="メイリオ" panose="020B0604030504040204" pitchFamily="50" charset="-128"/>
            </a:endParaRPr>
          </a:p>
        </p:txBody>
      </p:sp>
      <p:sp>
        <p:nvSpPr>
          <p:cNvPr id="19" name="Rectangle 10">
            <a:extLst>
              <a:ext uri="{FF2B5EF4-FFF2-40B4-BE49-F238E27FC236}">
                <a16:creationId xmlns:a16="http://schemas.microsoft.com/office/drawing/2014/main" id="{CA8C05AB-C62C-76A1-00F4-F4DE182A4C8A}"/>
              </a:ext>
            </a:extLst>
          </p:cNvPr>
          <p:cNvSpPr/>
          <p:nvPr/>
        </p:nvSpPr>
        <p:spPr>
          <a:xfrm>
            <a:off x="7010400" y="2193036"/>
            <a:ext cx="2514600" cy="978408"/>
          </a:xfrm>
          <a:prstGeom prst="rect">
            <a:avLst/>
          </a:prstGeom>
          <a:solidFill>
            <a:srgbClr val="E4EAF6"/>
          </a:solidFill>
          <a:ln w="12700">
            <a:solidFill>
              <a:srgbClr val="C8102E"/>
            </a:solidFill>
          </a:ln>
          <a:effectLst/>
        </p:spPr>
        <p:style>
          <a:lnRef idx="1">
            <a:schemeClr val="accent1"/>
          </a:lnRef>
          <a:fillRef idx="3">
            <a:schemeClr val="accent1"/>
          </a:fillRef>
          <a:effectRef idx="2">
            <a:schemeClr val="accent1"/>
          </a:effectRef>
          <a:fontRef idx="minor">
            <a:schemeClr val="lt1"/>
          </a:fontRef>
        </p:style>
        <p:txBody>
          <a:bodyPr wrap="square" lIns="128016" tIns="36576" rIns="128016" bIns="36576"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l">
              <a:spcAft>
                <a:spcPts val="300"/>
              </a:spcAft>
            </a:pPr>
            <a:r>
              <a:rPr sz="1150" b="1" dirty="0" err="1">
                <a:solidFill>
                  <a:srgbClr val="1F2A5C"/>
                </a:solidFill>
                <a:latin typeface="メイリオ" panose="020B0604030504040204" pitchFamily="50" charset="-128"/>
                <a:ea typeface="メイリオ" panose="020B0604030504040204" pitchFamily="50" charset="-128"/>
              </a:rPr>
              <a:t>CV前に友だち化し</a:t>
            </a:r>
            <a:r>
              <a:rPr sz="1150" b="1" dirty="0">
                <a:solidFill>
                  <a:srgbClr val="1F2A5C"/>
                </a:solidFill>
                <a:latin typeface="メイリオ" panose="020B0604030504040204" pitchFamily="50" charset="-128"/>
                <a:ea typeface="メイリオ" panose="020B0604030504040204" pitchFamily="50" charset="-128"/>
              </a:rPr>
              <a:t>、</a:t>
            </a:r>
            <a:endParaRPr lang="en-US" sz="1150" b="1" dirty="0">
              <a:solidFill>
                <a:srgbClr val="1F2A5C"/>
              </a:solidFill>
              <a:latin typeface="メイリオ" panose="020B0604030504040204" pitchFamily="50" charset="-128"/>
              <a:ea typeface="メイリオ" panose="020B0604030504040204" pitchFamily="50" charset="-128"/>
            </a:endParaRPr>
          </a:p>
          <a:p>
            <a:pPr algn="l">
              <a:spcAft>
                <a:spcPts val="300"/>
              </a:spcAft>
            </a:pPr>
            <a:r>
              <a:rPr sz="1150" b="1" dirty="0" err="1">
                <a:solidFill>
                  <a:srgbClr val="1F2A5C"/>
                </a:solidFill>
                <a:latin typeface="メイリオ" panose="020B0604030504040204" pitchFamily="50" charset="-128"/>
                <a:ea typeface="メイリオ" panose="020B0604030504040204" pitchFamily="50" charset="-128"/>
              </a:rPr>
              <a:t>検討中も接点を維持する</a:t>
            </a:r>
            <a:endParaRPr sz="1150" b="1" dirty="0">
              <a:solidFill>
                <a:srgbClr val="1F2A5C"/>
              </a:solidFill>
              <a:latin typeface="メイリオ" panose="020B0604030504040204" pitchFamily="50" charset="-128"/>
              <a:ea typeface="メイリオ" panose="020B0604030504040204" pitchFamily="50" charset="-128"/>
            </a:endParaRPr>
          </a:p>
        </p:txBody>
      </p:sp>
      <p:sp>
        <p:nvSpPr>
          <p:cNvPr id="20" name="Rectangle 11">
            <a:extLst>
              <a:ext uri="{FF2B5EF4-FFF2-40B4-BE49-F238E27FC236}">
                <a16:creationId xmlns:a16="http://schemas.microsoft.com/office/drawing/2014/main" id="{A17D7EF3-1AC3-4FC4-0524-407D9564A31C}"/>
              </a:ext>
            </a:extLst>
          </p:cNvPr>
          <p:cNvSpPr/>
          <p:nvPr/>
        </p:nvSpPr>
        <p:spPr>
          <a:xfrm>
            <a:off x="381000" y="3244596"/>
            <a:ext cx="1600200" cy="978408"/>
          </a:xfrm>
          <a:prstGeom prst="rect">
            <a:avLst/>
          </a:prstGeom>
          <a:solidFill>
            <a:srgbClr val="1F2A5C"/>
          </a:solidFill>
          <a:ln>
            <a:noFill/>
          </a:ln>
          <a:effectLst/>
        </p:spPr>
        <p:style>
          <a:lnRef idx="1">
            <a:schemeClr val="accent1"/>
          </a:lnRef>
          <a:fillRef idx="3">
            <a:schemeClr val="accent1"/>
          </a:fillRef>
          <a:effectRef idx="2">
            <a:schemeClr val="accent1"/>
          </a:effectRef>
          <a:fontRef idx="minor">
            <a:schemeClr val="lt1"/>
          </a:fontRef>
        </p:style>
        <p:txBody>
          <a:bodyPr wrap="square" lIns="109728" tIns="36576" rIns="109728" bIns="36576"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l">
              <a:spcAft>
                <a:spcPts val="200"/>
              </a:spcAft>
            </a:pPr>
            <a:r>
              <a:rPr sz="1800" b="1">
                <a:solidFill>
                  <a:srgbClr val="FFFFFF"/>
                </a:solidFill>
                <a:latin typeface="メイリオ" panose="020B0604030504040204" pitchFamily="50" charset="-128"/>
                <a:ea typeface="メイリオ" panose="020B0604030504040204" pitchFamily="50" charset="-128"/>
              </a:rPr>
              <a:t>②</a:t>
            </a:r>
          </a:p>
          <a:p>
            <a:pPr algn="l">
              <a:spcAft>
                <a:spcPts val="300"/>
              </a:spcAft>
            </a:pPr>
            <a:r>
              <a:rPr sz="1200" b="1">
                <a:solidFill>
                  <a:srgbClr val="FFFFFF"/>
                </a:solidFill>
                <a:latin typeface="メイリオ" panose="020B0604030504040204" pitchFamily="50" charset="-128"/>
                <a:ea typeface="メイリオ" panose="020B0604030504040204" pitchFamily="50" charset="-128"/>
              </a:rPr>
              <a:t>CPCの高騰</a:t>
            </a:r>
          </a:p>
        </p:txBody>
      </p:sp>
      <p:sp>
        <p:nvSpPr>
          <p:cNvPr id="21" name="Rectangle 12">
            <a:extLst>
              <a:ext uri="{FF2B5EF4-FFF2-40B4-BE49-F238E27FC236}">
                <a16:creationId xmlns:a16="http://schemas.microsoft.com/office/drawing/2014/main" id="{9C9A8D6A-35C3-09FD-E00C-AF890038B7F2}"/>
              </a:ext>
            </a:extLst>
          </p:cNvPr>
          <p:cNvSpPr/>
          <p:nvPr/>
        </p:nvSpPr>
        <p:spPr>
          <a:xfrm>
            <a:off x="2072640" y="3244596"/>
            <a:ext cx="2697480" cy="978408"/>
          </a:xfrm>
          <a:prstGeom prst="rect">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wrap="square" lIns="109728" tIns="36576" rIns="109728" bIns="36576"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l">
              <a:spcAft>
                <a:spcPts val="100"/>
              </a:spcAft>
            </a:pPr>
            <a:r>
              <a:rPr sz="1800" b="1" dirty="0">
                <a:solidFill>
                  <a:srgbClr val="1F2A5C"/>
                </a:solidFill>
                <a:latin typeface="メイリオ" panose="020B0604030504040204" pitchFamily="50" charset="-128"/>
                <a:ea typeface="メイリオ" panose="020B0604030504040204" pitchFamily="50" charset="-128"/>
              </a:rPr>
              <a:t>1兆1,931億円</a:t>
            </a:r>
          </a:p>
          <a:p>
            <a:pPr algn="l">
              <a:spcAft>
                <a:spcPts val="300"/>
              </a:spcAft>
            </a:pPr>
            <a:r>
              <a:rPr sz="950" b="0" dirty="0">
                <a:solidFill>
                  <a:srgbClr val="777777"/>
                </a:solidFill>
                <a:latin typeface="メイリオ" panose="020B0604030504040204" pitchFamily="50" charset="-128"/>
                <a:ea typeface="メイリオ" panose="020B0604030504040204" pitchFamily="50" charset="-128"/>
              </a:rPr>
              <a:t>検索連動型広告（前年比111.2%）。ネット広告媒体費は2兆9,611億円</a:t>
            </a:r>
          </a:p>
        </p:txBody>
      </p:sp>
      <p:sp>
        <p:nvSpPr>
          <p:cNvPr id="22" name="Rectangle 13">
            <a:extLst>
              <a:ext uri="{FF2B5EF4-FFF2-40B4-BE49-F238E27FC236}">
                <a16:creationId xmlns:a16="http://schemas.microsoft.com/office/drawing/2014/main" id="{45BA9884-66A6-4B9C-6CA2-F04CF341DAAF}"/>
              </a:ext>
            </a:extLst>
          </p:cNvPr>
          <p:cNvSpPr/>
          <p:nvPr/>
        </p:nvSpPr>
        <p:spPr>
          <a:xfrm>
            <a:off x="4861560" y="3244596"/>
            <a:ext cx="2057400" cy="978408"/>
          </a:xfrm>
          <a:prstGeom prst="rect">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wrap="square" lIns="109728" tIns="36576" rIns="109728" bIns="36576"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l">
              <a:spcAft>
                <a:spcPts val="300"/>
              </a:spcAft>
            </a:pPr>
            <a:r>
              <a:rPr sz="1000" b="0" dirty="0" err="1">
                <a:solidFill>
                  <a:srgbClr val="333333"/>
                </a:solidFill>
                <a:latin typeface="メイリオ" panose="020B0604030504040204" pitchFamily="50" charset="-128"/>
                <a:ea typeface="メイリオ" panose="020B0604030504040204" pitchFamily="50" charset="-128"/>
              </a:rPr>
              <a:t>入札競争が続き、離脱した</a:t>
            </a:r>
            <a:endParaRPr lang="en-US" sz="1000" b="0" dirty="0">
              <a:solidFill>
                <a:srgbClr val="333333"/>
              </a:solidFill>
              <a:latin typeface="メイリオ" panose="020B0604030504040204" pitchFamily="50" charset="-128"/>
              <a:ea typeface="メイリオ" panose="020B0604030504040204" pitchFamily="50" charset="-128"/>
            </a:endParaRPr>
          </a:p>
          <a:p>
            <a:pPr algn="l">
              <a:spcAft>
                <a:spcPts val="300"/>
              </a:spcAft>
            </a:pPr>
            <a:r>
              <a:rPr sz="1000" b="0" dirty="0" err="1">
                <a:solidFill>
                  <a:srgbClr val="333333"/>
                </a:solidFill>
                <a:latin typeface="メイリオ" panose="020B0604030504040204" pitchFamily="50" charset="-128"/>
                <a:ea typeface="メイリオ" panose="020B0604030504040204" pitchFamily="50" charset="-128"/>
              </a:rPr>
              <a:t>流入の広告費が回収できない</a:t>
            </a:r>
            <a:endParaRPr lang="en-US" sz="1000" b="0" dirty="0">
              <a:solidFill>
                <a:srgbClr val="333333"/>
              </a:solidFill>
              <a:latin typeface="メイリオ" panose="020B0604030504040204" pitchFamily="50" charset="-128"/>
              <a:ea typeface="メイリオ" panose="020B0604030504040204" pitchFamily="50" charset="-128"/>
            </a:endParaRPr>
          </a:p>
          <a:p>
            <a:pPr algn="l">
              <a:spcAft>
                <a:spcPts val="300"/>
              </a:spcAft>
            </a:pPr>
            <a:r>
              <a:rPr lang="en-US" altLang="ja-JP" sz="1000" b="1" dirty="0">
                <a:solidFill>
                  <a:srgbClr val="333333"/>
                </a:solidFill>
                <a:latin typeface="メイリオ" panose="020B0604030504040204" pitchFamily="50" charset="-128"/>
                <a:ea typeface="メイリオ" panose="020B0604030504040204" pitchFamily="50" charset="-128"/>
              </a:rPr>
              <a:t>3</a:t>
            </a:r>
            <a:r>
              <a:rPr lang="ja-JP" altLang="en-US" sz="1000" b="1" dirty="0">
                <a:solidFill>
                  <a:srgbClr val="333333"/>
                </a:solidFill>
                <a:latin typeface="メイリオ" panose="020B0604030504040204" pitchFamily="50" charset="-128"/>
                <a:ea typeface="メイリオ" panose="020B0604030504040204" pitchFamily="50" charset="-128"/>
              </a:rPr>
              <a:t>年前比：</a:t>
            </a:r>
            <a:r>
              <a:rPr lang="en-US" altLang="ja-JP" sz="1000" b="1" dirty="0">
                <a:solidFill>
                  <a:srgbClr val="333333"/>
                </a:solidFill>
                <a:latin typeface="メイリオ" panose="020B0604030504040204" pitchFamily="50" charset="-128"/>
                <a:ea typeface="メイリオ" panose="020B0604030504040204" pitchFamily="50" charset="-128"/>
              </a:rPr>
              <a:t>32%</a:t>
            </a:r>
            <a:r>
              <a:rPr lang="ja-JP" altLang="en-US" sz="1000" b="1" dirty="0">
                <a:solidFill>
                  <a:srgbClr val="333333"/>
                </a:solidFill>
                <a:latin typeface="メイリオ" panose="020B0604030504040204" pitchFamily="50" charset="-128"/>
                <a:ea typeface="メイリオ" panose="020B0604030504040204" pitchFamily="50" charset="-128"/>
              </a:rPr>
              <a:t>程度増</a:t>
            </a:r>
            <a:endParaRPr sz="1000" b="1" dirty="0">
              <a:solidFill>
                <a:srgbClr val="333333"/>
              </a:solidFill>
              <a:latin typeface="メイリオ" panose="020B0604030504040204" pitchFamily="50" charset="-128"/>
              <a:ea typeface="メイリオ" panose="020B0604030504040204" pitchFamily="50" charset="-128"/>
            </a:endParaRPr>
          </a:p>
        </p:txBody>
      </p:sp>
      <p:sp>
        <p:nvSpPr>
          <p:cNvPr id="23" name="Rectangle 14">
            <a:extLst>
              <a:ext uri="{FF2B5EF4-FFF2-40B4-BE49-F238E27FC236}">
                <a16:creationId xmlns:a16="http://schemas.microsoft.com/office/drawing/2014/main" id="{0F279B57-A5CD-5ABE-1169-BA1B16859218}"/>
              </a:ext>
            </a:extLst>
          </p:cNvPr>
          <p:cNvSpPr/>
          <p:nvPr/>
        </p:nvSpPr>
        <p:spPr>
          <a:xfrm>
            <a:off x="7010400" y="3244596"/>
            <a:ext cx="2514600" cy="978408"/>
          </a:xfrm>
          <a:prstGeom prst="rect">
            <a:avLst/>
          </a:prstGeom>
          <a:solidFill>
            <a:srgbClr val="E4EAF6"/>
          </a:solidFill>
          <a:ln w="12700">
            <a:solidFill>
              <a:srgbClr val="C8102E"/>
            </a:solidFill>
          </a:ln>
          <a:effectLst/>
        </p:spPr>
        <p:style>
          <a:lnRef idx="1">
            <a:schemeClr val="accent1"/>
          </a:lnRef>
          <a:fillRef idx="3">
            <a:schemeClr val="accent1"/>
          </a:fillRef>
          <a:effectRef idx="2">
            <a:schemeClr val="accent1"/>
          </a:effectRef>
          <a:fontRef idx="minor">
            <a:schemeClr val="lt1"/>
          </a:fontRef>
        </p:style>
        <p:txBody>
          <a:bodyPr wrap="square" lIns="128016" tIns="36576" rIns="128016" bIns="36576"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l">
              <a:spcAft>
                <a:spcPts val="300"/>
              </a:spcAft>
            </a:pPr>
            <a:r>
              <a:rPr sz="1150" b="1" dirty="0" err="1">
                <a:solidFill>
                  <a:srgbClr val="1F2A5C"/>
                </a:solidFill>
                <a:latin typeface="メイリオ" panose="020B0604030504040204" pitchFamily="50" charset="-128"/>
                <a:ea typeface="メイリオ" panose="020B0604030504040204" pitchFamily="50" charset="-128"/>
              </a:rPr>
              <a:t>離脱後も友だち化し</a:t>
            </a:r>
            <a:r>
              <a:rPr sz="1150" b="1" dirty="0">
                <a:solidFill>
                  <a:srgbClr val="1F2A5C"/>
                </a:solidFill>
                <a:latin typeface="メイリオ" panose="020B0604030504040204" pitchFamily="50" charset="-128"/>
                <a:ea typeface="メイリオ" panose="020B0604030504040204" pitchFamily="50" charset="-128"/>
              </a:rPr>
              <a:t>、</a:t>
            </a:r>
            <a:endParaRPr lang="en-US" sz="1150" b="1" dirty="0">
              <a:solidFill>
                <a:srgbClr val="1F2A5C"/>
              </a:solidFill>
              <a:latin typeface="メイリオ" panose="020B0604030504040204" pitchFamily="50" charset="-128"/>
              <a:ea typeface="メイリオ" panose="020B0604030504040204" pitchFamily="50" charset="-128"/>
            </a:endParaRPr>
          </a:p>
          <a:p>
            <a:pPr algn="l">
              <a:spcAft>
                <a:spcPts val="300"/>
              </a:spcAft>
            </a:pPr>
            <a:r>
              <a:rPr lang="ja-JP" altLang="en-US" sz="1150" b="1" dirty="0">
                <a:solidFill>
                  <a:srgbClr val="FF0000"/>
                </a:solidFill>
                <a:latin typeface="メイリオ" panose="020B0604030504040204" pitchFamily="50" charset="-128"/>
                <a:ea typeface="メイリオ" panose="020B0604030504040204" pitchFamily="50" charset="-128"/>
              </a:rPr>
              <a:t>セグメント配信</a:t>
            </a:r>
            <a:r>
              <a:rPr lang="ja-JP" altLang="en-US" sz="1150" b="1" dirty="0">
                <a:solidFill>
                  <a:srgbClr val="1F2A5C"/>
                </a:solidFill>
                <a:latin typeface="メイリオ" panose="020B0604030504040204" pitchFamily="50" charset="-128"/>
                <a:ea typeface="メイリオ" panose="020B0604030504040204" pitchFamily="50" charset="-128"/>
              </a:rPr>
              <a:t>で</a:t>
            </a:r>
            <a:r>
              <a:rPr sz="1150" b="1" dirty="0" err="1">
                <a:solidFill>
                  <a:srgbClr val="1F2A5C"/>
                </a:solidFill>
                <a:latin typeface="メイリオ" panose="020B0604030504040204" pitchFamily="50" charset="-128"/>
                <a:ea typeface="メイリオ" panose="020B0604030504040204" pitchFamily="50" charset="-128"/>
              </a:rPr>
              <a:t>CV回収する</a:t>
            </a:r>
            <a:endParaRPr sz="1150" b="1" dirty="0">
              <a:solidFill>
                <a:srgbClr val="1F2A5C"/>
              </a:solidFill>
              <a:latin typeface="メイリオ" panose="020B0604030504040204" pitchFamily="50" charset="-128"/>
              <a:ea typeface="メイリオ" panose="020B0604030504040204" pitchFamily="50" charset="-128"/>
            </a:endParaRPr>
          </a:p>
        </p:txBody>
      </p:sp>
      <p:sp>
        <p:nvSpPr>
          <p:cNvPr id="24" name="Rectangle 15">
            <a:extLst>
              <a:ext uri="{FF2B5EF4-FFF2-40B4-BE49-F238E27FC236}">
                <a16:creationId xmlns:a16="http://schemas.microsoft.com/office/drawing/2014/main" id="{63F6C682-E819-BB1D-789F-194C9870942B}"/>
              </a:ext>
            </a:extLst>
          </p:cNvPr>
          <p:cNvSpPr/>
          <p:nvPr/>
        </p:nvSpPr>
        <p:spPr>
          <a:xfrm>
            <a:off x="381000" y="4296156"/>
            <a:ext cx="1600200" cy="978408"/>
          </a:xfrm>
          <a:prstGeom prst="rect">
            <a:avLst/>
          </a:prstGeom>
          <a:solidFill>
            <a:srgbClr val="1F2A5C"/>
          </a:solidFill>
          <a:ln>
            <a:noFill/>
          </a:ln>
          <a:effectLst/>
        </p:spPr>
        <p:style>
          <a:lnRef idx="1">
            <a:schemeClr val="accent1"/>
          </a:lnRef>
          <a:fillRef idx="3">
            <a:schemeClr val="accent1"/>
          </a:fillRef>
          <a:effectRef idx="2">
            <a:schemeClr val="accent1"/>
          </a:effectRef>
          <a:fontRef idx="minor">
            <a:schemeClr val="lt1"/>
          </a:fontRef>
        </p:style>
        <p:txBody>
          <a:bodyPr wrap="square" lIns="109728" tIns="36576" rIns="109728" bIns="36576"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l">
              <a:spcAft>
                <a:spcPts val="200"/>
              </a:spcAft>
            </a:pPr>
            <a:r>
              <a:rPr sz="1800" b="1">
                <a:solidFill>
                  <a:srgbClr val="FFFFFF"/>
                </a:solidFill>
                <a:latin typeface="メイリオ" panose="020B0604030504040204" pitchFamily="50" charset="-128"/>
                <a:ea typeface="メイリオ" panose="020B0604030504040204" pitchFamily="50" charset="-128"/>
              </a:rPr>
              <a:t>③</a:t>
            </a:r>
          </a:p>
          <a:p>
            <a:pPr algn="l">
              <a:spcAft>
                <a:spcPts val="300"/>
              </a:spcAft>
            </a:pPr>
            <a:r>
              <a:rPr sz="1200" b="1">
                <a:solidFill>
                  <a:srgbClr val="FFFFFF"/>
                </a:solidFill>
                <a:latin typeface="メイリオ" panose="020B0604030504040204" pitchFamily="50" charset="-128"/>
                <a:ea typeface="メイリオ" panose="020B0604030504040204" pitchFamily="50" charset="-128"/>
              </a:rPr>
              <a:t>リマケリストの難化</a:t>
            </a:r>
          </a:p>
        </p:txBody>
      </p:sp>
      <p:sp>
        <p:nvSpPr>
          <p:cNvPr id="25" name="Rectangle 16">
            <a:extLst>
              <a:ext uri="{FF2B5EF4-FFF2-40B4-BE49-F238E27FC236}">
                <a16:creationId xmlns:a16="http://schemas.microsoft.com/office/drawing/2014/main" id="{CE444CC6-8444-A56B-53F6-34549AA5E5D5}"/>
              </a:ext>
            </a:extLst>
          </p:cNvPr>
          <p:cNvSpPr/>
          <p:nvPr/>
        </p:nvSpPr>
        <p:spPr>
          <a:xfrm>
            <a:off x="2072640" y="4296156"/>
            <a:ext cx="2697480" cy="978408"/>
          </a:xfrm>
          <a:prstGeom prst="rect">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wrap="square" lIns="109728" tIns="36576" rIns="109728" bIns="36576"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l">
              <a:spcAft>
                <a:spcPts val="100"/>
              </a:spcAft>
            </a:pPr>
            <a:r>
              <a:rPr sz="1800" b="1" dirty="0">
                <a:solidFill>
                  <a:srgbClr val="1F2A5C"/>
                </a:solidFill>
                <a:latin typeface="メイリオ" panose="020B0604030504040204" pitchFamily="50" charset="-128"/>
                <a:ea typeface="メイリオ" panose="020B0604030504040204" pitchFamily="50" charset="-128"/>
              </a:rPr>
              <a:t>7日／24時間</a:t>
            </a:r>
          </a:p>
          <a:p>
            <a:pPr algn="l">
              <a:spcAft>
                <a:spcPts val="300"/>
              </a:spcAft>
            </a:pPr>
            <a:r>
              <a:rPr sz="950" b="0" dirty="0">
                <a:solidFill>
                  <a:srgbClr val="777777"/>
                </a:solidFill>
                <a:latin typeface="メイリオ" panose="020B0604030504040204" pitchFamily="50" charset="-128"/>
                <a:ea typeface="メイリオ" panose="020B0604030504040204" pitchFamily="50" charset="-128"/>
              </a:rPr>
              <a:t>Safariの保持期間上限（2022年秋〜）。2020年に全面ブロック、法改正で同意・通知も必要</a:t>
            </a:r>
          </a:p>
        </p:txBody>
      </p:sp>
      <p:sp>
        <p:nvSpPr>
          <p:cNvPr id="26" name="Rectangle 17">
            <a:extLst>
              <a:ext uri="{FF2B5EF4-FFF2-40B4-BE49-F238E27FC236}">
                <a16:creationId xmlns:a16="http://schemas.microsoft.com/office/drawing/2014/main" id="{A35C0F42-C61B-5793-966E-BE564AA54CFB}"/>
              </a:ext>
            </a:extLst>
          </p:cNvPr>
          <p:cNvSpPr/>
          <p:nvPr/>
        </p:nvSpPr>
        <p:spPr>
          <a:xfrm>
            <a:off x="4861560" y="4296156"/>
            <a:ext cx="2057400" cy="978408"/>
          </a:xfrm>
          <a:prstGeom prst="rect">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wrap="square" lIns="109728" tIns="36576" rIns="109728" bIns="36576"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l">
              <a:spcAft>
                <a:spcPts val="300"/>
              </a:spcAft>
            </a:pPr>
            <a:r>
              <a:rPr sz="1000" b="0">
                <a:solidFill>
                  <a:srgbClr val="333333"/>
                </a:solidFill>
                <a:latin typeface="メイリオ" panose="020B0604030504040204" pitchFamily="50" charset="-128"/>
                <a:ea typeface="メイリオ" panose="020B0604030504040204" pitchFamily="50" charset="-128"/>
              </a:rPr>
              <a:t>再訪問者リストを長く持てない</a:t>
            </a:r>
          </a:p>
        </p:txBody>
      </p:sp>
      <p:sp>
        <p:nvSpPr>
          <p:cNvPr id="27" name="Rectangle 18">
            <a:extLst>
              <a:ext uri="{FF2B5EF4-FFF2-40B4-BE49-F238E27FC236}">
                <a16:creationId xmlns:a16="http://schemas.microsoft.com/office/drawing/2014/main" id="{DF93DF39-4FD7-9BA0-BEEB-470FA702AFD7}"/>
              </a:ext>
            </a:extLst>
          </p:cNvPr>
          <p:cNvSpPr/>
          <p:nvPr/>
        </p:nvSpPr>
        <p:spPr>
          <a:xfrm>
            <a:off x="7010400" y="4296156"/>
            <a:ext cx="2514600" cy="978408"/>
          </a:xfrm>
          <a:prstGeom prst="rect">
            <a:avLst/>
          </a:prstGeom>
          <a:solidFill>
            <a:srgbClr val="E4EAF6"/>
          </a:solidFill>
          <a:ln w="12700">
            <a:solidFill>
              <a:srgbClr val="C8102E"/>
            </a:solidFill>
          </a:ln>
          <a:effectLst/>
        </p:spPr>
        <p:style>
          <a:lnRef idx="1">
            <a:schemeClr val="accent1"/>
          </a:lnRef>
          <a:fillRef idx="3">
            <a:schemeClr val="accent1"/>
          </a:fillRef>
          <a:effectRef idx="2">
            <a:schemeClr val="accent1"/>
          </a:effectRef>
          <a:fontRef idx="minor">
            <a:schemeClr val="lt1"/>
          </a:fontRef>
        </p:style>
        <p:txBody>
          <a:bodyPr wrap="square" lIns="128016" tIns="36576" rIns="128016" bIns="36576"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l">
              <a:spcAft>
                <a:spcPts val="300"/>
              </a:spcAft>
            </a:pPr>
            <a:r>
              <a:rPr sz="1150" b="1" dirty="0" err="1">
                <a:solidFill>
                  <a:srgbClr val="1F2A5C"/>
                </a:solidFill>
                <a:latin typeface="メイリオ" panose="020B0604030504040204" pitchFamily="50" charset="-128"/>
                <a:ea typeface="メイリオ" panose="020B0604030504040204" pitchFamily="50" charset="-128"/>
              </a:rPr>
              <a:t>許諾済みの自社リストとして</a:t>
            </a:r>
            <a:endParaRPr lang="en-US" sz="1150" b="1" dirty="0">
              <a:solidFill>
                <a:srgbClr val="1F2A5C"/>
              </a:solidFill>
              <a:latin typeface="メイリオ" panose="020B0604030504040204" pitchFamily="50" charset="-128"/>
              <a:ea typeface="メイリオ" panose="020B0604030504040204" pitchFamily="50" charset="-128"/>
            </a:endParaRPr>
          </a:p>
          <a:p>
            <a:pPr algn="l">
              <a:spcAft>
                <a:spcPts val="300"/>
              </a:spcAft>
            </a:pPr>
            <a:r>
              <a:rPr sz="1150" b="1" dirty="0" err="1">
                <a:solidFill>
                  <a:srgbClr val="1F2A5C"/>
                </a:solidFill>
                <a:latin typeface="メイリオ" panose="020B0604030504040204" pitchFamily="50" charset="-128"/>
                <a:ea typeface="メイリオ" panose="020B0604030504040204" pitchFamily="50" charset="-128"/>
              </a:rPr>
              <a:t>友だちを保持する</a:t>
            </a:r>
            <a:endParaRPr sz="1150" b="1" dirty="0">
              <a:solidFill>
                <a:srgbClr val="1F2A5C"/>
              </a:solidFill>
              <a:latin typeface="メイリオ" panose="020B0604030504040204" pitchFamily="50" charset="-128"/>
              <a:ea typeface="メイリオ" panose="020B0604030504040204" pitchFamily="50" charset="-128"/>
            </a:endParaRPr>
          </a:p>
        </p:txBody>
      </p:sp>
      <p:sp>
        <p:nvSpPr>
          <p:cNvPr id="28" name="Rectangle 19">
            <a:extLst>
              <a:ext uri="{FF2B5EF4-FFF2-40B4-BE49-F238E27FC236}">
                <a16:creationId xmlns:a16="http://schemas.microsoft.com/office/drawing/2014/main" id="{4AD57304-3963-5332-753B-F508A6F0B113}"/>
              </a:ext>
            </a:extLst>
          </p:cNvPr>
          <p:cNvSpPr/>
          <p:nvPr/>
        </p:nvSpPr>
        <p:spPr>
          <a:xfrm>
            <a:off x="381000" y="5347716"/>
            <a:ext cx="1600200" cy="978408"/>
          </a:xfrm>
          <a:prstGeom prst="rect">
            <a:avLst/>
          </a:prstGeom>
          <a:solidFill>
            <a:srgbClr val="1F2A5C"/>
          </a:solidFill>
          <a:ln>
            <a:noFill/>
          </a:ln>
          <a:effectLst/>
        </p:spPr>
        <p:style>
          <a:lnRef idx="1">
            <a:schemeClr val="accent1"/>
          </a:lnRef>
          <a:fillRef idx="3">
            <a:schemeClr val="accent1"/>
          </a:fillRef>
          <a:effectRef idx="2">
            <a:schemeClr val="accent1"/>
          </a:effectRef>
          <a:fontRef idx="minor">
            <a:schemeClr val="lt1"/>
          </a:fontRef>
        </p:style>
        <p:txBody>
          <a:bodyPr wrap="square" lIns="109728" tIns="36576" rIns="109728" bIns="36576"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l">
              <a:spcAft>
                <a:spcPts val="200"/>
              </a:spcAft>
            </a:pPr>
            <a:r>
              <a:rPr sz="1800" b="1" dirty="0">
                <a:solidFill>
                  <a:srgbClr val="FFFFFF"/>
                </a:solidFill>
                <a:latin typeface="メイリオ" panose="020B0604030504040204" pitchFamily="50" charset="-128"/>
                <a:ea typeface="メイリオ" panose="020B0604030504040204" pitchFamily="50" charset="-128"/>
              </a:rPr>
              <a:t>④</a:t>
            </a:r>
          </a:p>
          <a:p>
            <a:pPr algn="l">
              <a:spcAft>
                <a:spcPts val="300"/>
              </a:spcAft>
            </a:pPr>
            <a:r>
              <a:rPr sz="1200" b="1" dirty="0" err="1">
                <a:solidFill>
                  <a:srgbClr val="FFFFFF"/>
                </a:solidFill>
                <a:latin typeface="メイリオ" panose="020B0604030504040204" pitchFamily="50" charset="-128"/>
                <a:ea typeface="メイリオ" panose="020B0604030504040204" pitchFamily="50" charset="-128"/>
              </a:rPr>
              <a:t>選択肢</a:t>
            </a:r>
            <a:r>
              <a:rPr lang="ja-JP" altLang="en-US" sz="1200" b="1" dirty="0">
                <a:solidFill>
                  <a:srgbClr val="FFFFFF"/>
                </a:solidFill>
                <a:latin typeface="メイリオ" panose="020B0604030504040204" pitchFamily="50" charset="-128"/>
                <a:ea typeface="メイリオ" panose="020B0604030504040204" pitchFamily="50" charset="-128"/>
              </a:rPr>
              <a:t>の</a:t>
            </a:r>
            <a:r>
              <a:rPr sz="1200" b="1" dirty="0">
                <a:solidFill>
                  <a:srgbClr val="FFFFFF"/>
                </a:solidFill>
                <a:latin typeface="メイリオ" panose="020B0604030504040204" pitchFamily="50" charset="-128"/>
                <a:ea typeface="メイリオ" panose="020B0604030504040204" pitchFamily="50" charset="-128"/>
              </a:rPr>
              <a:t>増</a:t>
            </a:r>
            <a:r>
              <a:rPr lang="ja-JP" altLang="en-US" sz="1200" b="1" dirty="0">
                <a:solidFill>
                  <a:srgbClr val="FFFFFF"/>
                </a:solidFill>
                <a:latin typeface="メイリオ" panose="020B0604030504040204" pitchFamily="50" charset="-128"/>
                <a:ea typeface="メイリオ" panose="020B0604030504040204" pitchFamily="50" charset="-128"/>
              </a:rPr>
              <a:t>加</a:t>
            </a:r>
            <a:endParaRPr lang="en-US" sz="1200" b="1" dirty="0">
              <a:solidFill>
                <a:srgbClr val="FFFFFF"/>
              </a:solidFill>
              <a:latin typeface="メイリオ" panose="020B0604030504040204" pitchFamily="50" charset="-128"/>
              <a:ea typeface="メイリオ" panose="020B0604030504040204" pitchFamily="50" charset="-128"/>
            </a:endParaRPr>
          </a:p>
          <a:p>
            <a:pPr algn="l">
              <a:spcAft>
                <a:spcPts val="300"/>
              </a:spcAft>
            </a:pPr>
            <a:r>
              <a:rPr sz="1200" b="1" dirty="0" err="1">
                <a:solidFill>
                  <a:srgbClr val="FFFFFF"/>
                </a:solidFill>
                <a:latin typeface="メイリオ" panose="020B0604030504040204" pitchFamily="50" charset="-128"/>
                <a:ea typeface="メイリオ" panose="020B0604030504040204" pitchFamily="50" charset="-128"/>
              </a:rPr>
              <a:t>検討長期化</a:t>
            </a:r>
            <a:endParaRPr sz="1200" b="1" dirty="0">
              <a:solidFill>
                <a:srgbClr val="FFFFFF"/>
              </a:solidFill>
              <a:latin typeface="メイリオ" panose="020B0604030504040204" pitchFamily="50" charset="-128"/>
              <a:ea typeface="メイリオ" panose="020B0604030504040204" pitchFamily="50" charset="-128"/>
            </a:endParaRPr>
          </a:p>
        </p:txBody>
      </p:sp>
      <p:sp>
        <p:nvSpPr>
          <p:cNvPr id="29" name="Rectangle 20">
            <a:extLst>
              <a:ext uri="{FF2B5EF4-FFF2-40B4-BE49-F238E27FC236}">
                <a16:creationId xmlns:a16="http://schemas.microsoft.com/office/drawing/2014/main" id="{4C419739-A588-2E5A-0FCA-992B80A6DB23}"/>
              </a:ext>
            </a:extLst>
          </p:cNvPr>
          <p:cNvSpPr/>
          <p:nvPr/>
        </p:nvSpPr>
        <p:spPr>
          <a:xfrm>
            <a:off x="2072640" y="5347716"/>
            <a:ext cx="2697480" cy="978408"/>
          </a:xfrm>
          <a:prstGeom prst="rect">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wrap="square" lIns="109728" tIns="36576" rIns="109728" bIns="36576"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l">
              <a:spcAft>
                <a:spcPts val="100"/>
              </a:spcAft>
            </a:pPr>
            <a:r>
              <a:rPr sz="1800" b="1" dirty="0">
                <a:solidFill>
                  <a:srgbClr val="1F2A5C"/>
                </a:solidFill>
                <a:latin typeface="メイリオ" panose="020B0604030504040204" pitchFamily="50" charset="-128"/>
                <a:ea typeface="メイリオ" panose="020B0604030504040204" pitchFamily="50" charset="-128"/>
              </a:rPr>
              <a:t>9,900万人</a:t>
            </a:r>
          </a:p>
          <a:p>
            <a:pPr algn="l">
              <a:spcAft>
                <a:spcPts val="300"/>
              </a:spcAft>
            </a:pPr>
            <a:r>
              <a:rPr sz="950" b="0" dirty="0">
                <a:solidFill>
                  <a:srgbClr val="777777"/>
                </a:solidFill>
                <a:latin typeface="メイリオ" panose="020B0604030504040204" pitchFamily="50" charset="-128"/>
                <a:ea typeface="メイリオ" panose="020B0604030504040204" pitchFamily="50" charset="-128"/>
              </a:rPr>
              <a:t>LINE月間利用者（2025年6月末）。広告費は前年比110.2%で比較対象が増加</a:t>
            </a:r>
          </a:p>
        </p:txBody>
      </p:sp>
      <p:sp>
        <p:nvSpPr>
          <p:cNvPr id="30" name="Rectangle 21">
            <a:extLst>
              <a:ext uri="{FF2B5EF4-FFF2-40B4-BE49-F238E27FC236}">
                <a16:creationId xmlns:a16="http://schemas.microsoft.com/office/drawing/2014/main" id="{4DBE8D20-D000-63F5-78E8-0E87974E1648}"/>
              </a:ext>
            </a:extLst>
          </p:cNvPr>
          <p:cNvSpPr/>
          <p:nvPr/>
        </p:nvSpPr>
        <p:spPr>
          <a:xfrm>
            <a:off x="4861560" y="5347716"/>
            <a:ext cx="2057400" cy="978408"/>
          </a:xfrm>
          <a:prstGeom prst="rect">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wrap="square" lIns="109728" tIns="36576" rIns="109728" bIns="36576"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l">
              <a:spcAft>
                <a:spcPts val="300"/>
              </a:spcAft>
            </a:pPr>
            <a:r>
              <a:rPr sz="1000" b="0" dirty="0">
                <a:solidFill>
                  <a:srgbClr val="333333"/>
                </a:solidFill>
                <a:latin typeface="メイリオ" panose="020B0604030504040204" pitchFamily="50" charset="-128"/>
                <a:ea typeface="メイリオ" panose="020B0604030504040204" pitchFamily="50" charset="-128"/>
              </a:rPr>
              <a:t>1回の接触では決まらず、</a:t>
            </a:r>
            <a:endParaRPr lang="en-US" sz="1000" b="0" dirty="0">
              <a:solidFill>
                <a:srgbClr val="333333"/>
              </a:solidFill>
              <a:latin typeface="メイリオ" panose="020B0604030504040204" pitchFamily="50" charset="-128"/>
              <a:ea typeface="メイリオ" panose="020B0604030504040204" pitchFamily="50" charset="-128"/>
            </a:endParaRPr>
          </a:p>
          <a:p>
            <a:pPr algn="l">
              <a:spcAft>
                <a:spcPts val="300"/>
              </a:spcAft>
            </a:pPr>
            <a:r>
              <a:rPr sz="1000" b="0" dirty="0" err="1">
                <a:solidFill>
                  <a:srgbClr val="333333"/>
                </a:solidFill>
                <a:latin typeface="メイリオ" panose="020B0604030504040204" pitchFamily="50" charset="-128"/>
                <a:ea typeface="メイリオ" panose="020B0604030504040204" pitchFamily="50" charset="-128"/>
              </a:rPr>
              <a:t>離脱後の追客が要る</a:t>
            </a:r>
            <a:endParaRPr sz="1000" b="0" dirty="0">
              <a:solidFill>
                <a:srgbClr val="333333"/>
              </a:solidFill>
              <a:latin typeface="メイリオ" panose="020B0604030504040204" pitchFamily="50" charset="-128"/>
              <a:ea typeface="メイリオ" panose="020B0604030504040204" pitchFamily="50" charset="-128"/>
            </a:endParaRPr>
          </a:p>
        </p:txBody>
      </p:sp>
      <p:sp>
        <p:nvSpPr>
          <p:cNvPr id="31" name="Rectangle 22">
            <a:extLst>
              <a:ext uri="{FF2B5EF4-FFF2-40B4-BE49-F238E27FC236}">
                <a16:creationId xmlns:a16="http://schemas.microsoft.com/office/drawing/2014/main" id="{E546F08F-DCDF-7DC5-B4A8-B1568842B1C8}"/>
              </a:ext>
            </a:extLst>
          </p:cNvPr>
          <p:cNvSpPr/>
          <p:nvPr/>
        </p:nvSpPr>
        <p:spPr>
          <a:xfrm>
            <a:off x="7010400" y="5347716"/>
            <a:ext cx="2514600" cy="978408"/>
          </a:xfrm>
          <a:prstGeom prst="rect">
            <a:avLst/>
          </a:prstGeom>
          <a:solidFill>
            <a:srgbClr val="E4EAF6"/>
          </a:solidFill>
          <a:ln w="12700">
            <a:solidFill>
              <a:srgbClr val="C8102E"/>
            </a:solidFill>
          </a:ln>
          <a:effectLst/>
        </p:spPr>
        <p:style>
          <a:lnRef idx="1">
            <a:schemeClr val="accent1"/>
          </a:lnRef>
          <a:fillRef idx="3">
            <a:schemeClr val="accent1"/>
          </a:fillRef>
          <a:effectRef idx="2">
            <a:schemeClr val="accent1"/>
          </a:effectRef>
          <a:fontRef idx="minor">
            <a:schemeClr val="lt1"/>
          </a:fontRef>
        </p:style>
        <p:txBody>
          <a:bodyPr wrap="square" lIns="128016" tIns="36576" rIns="128016" bIns="36576"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l">
              <a:spcAft>
                <a:spcPts val="300"/>
              </a:spcAft>
            </a:pPr>
            <a:r>
              <a:rPr sz="1150" b="1" dirty="0" err="1">
                <a:solidFill>
                  <a:srgbClr val="1F2A5C"/>
                </a:solidFill>
                <a:latin typeface="メイリオ" panose="020B0604030504040204" pitchFamily="50" charset="-128"/>
                <a:ea typeface="メイリオ" panose="020B0604030504040204" pitchFamily="50" charset="-128"/>
              </a:rPr>
              <a:t>検討段階に合わせて</a:t>
            </a:r>
            <a:endParaRPr lang="en-US" sz="1150" b="1" dirty="0">
              <a:solidFill>
                <a:srgbClr val="1F2A5C"/>
              </a:solidFill>
              <a:latin typeface="メイリオ" panose="020B0604030504040204" pitchFamily="50" charset="-128"/>
              <a:ea typeface="メイリオ" panose="020B0604030504040204" pitchFamily="50" charset="-128"/>
            </a:endParaRPr>
          </a:p>
          <a:p>
            <a:pPr algn="l">
              <a:spcAft>
                <a:spcPts val="300"/>
              </a:spcAft>
            </a:pPr>
            <a:r>
              <a:rPr sz="1150" b="1" dirty="0" err="1">
                <a:solidFill>
                  <a:srgbClr val="FF0000"/>
                </a:solidFill>
                <a:latin typeface="メイリオ" panose="020B0604030504040204" pitchFamily="50" charset="-128"/>
                <a:ea typeface="メイリオ" panose="020B0604030504040204" pitchFamily="50" charset="-128"/>
              </a:rPr>
              <a:t>ステップ配信</a:t>
            </a:r>
            <a:r>
              <a:rPr sz="1150" b="1" dirty="0" err="1">
                <a:solidFill>
                  <a:srgbClr val="1F2A5C"/>
                </a:solidFill>
                <a:latin typeface="メイリオ" panose="020B0604030504040204" pitchFamily="50" charset="-128"/>
                <a:ea typeface="メイリオ" panose="020B0604030504040204" pitchFamily="50" charset="-128"/>
              </a:rPr>
              <a:t>で接触する</a:t>
            </a:r>
            <a:endParaRPr sz="1150" b="1" dirty="0">
              <a:solidFill>
                <a:srgbClr val="1F2A5C"/>
              </a:solidFill>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276938170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6542F3-A366-2F77-BD90-8553126BF310}"/>
            </a:ext>
          </a:extLst>
        </p:cNvPr>
        <p:cNvGrpSpPr/>
        <p:nvPr/>
      </p:nvGrpSpPr>
      <p:grpSpPr>
        <a:xfrm>
          <a:off x="0" y="0"/>
          <a:ext cx="0" cy="0"/>
          <a:chOff x="0" y="0"/>
          <a:chExt cx="0" cy="0"/>
        </a:xfrm>
      </p:grpSpPr>
      <p:cxnSp>
        <p:nvCxnSpPr>
          <p:cNvPr id="59" name="直線コネクタ 4"/>
          <p:cNvCxnSpPr/>
          <p:nvPr/>
        </p:nvCxnSpPr>
        <p:spPr>
          <a:xfrm>
            <a:off x="0" y="548640"/>
            <a:ext cx="9906120" cy="360"/>
          </a:xfrm>
          <a:prstGeom prst="straightConnector1">
            <a:avLst/>
          </a:prstGeom>
          <a:ln>
            <a:solidFill>
              <a:srgbClr val="191F54"/>
            </a:solidFill>
            <a:round/>
          </a:ln>
        </p:spPr>
      </p:cxnSp>
      <p:sp>
        <p:nvSpPr>
          <p:cNvPr id="60" name="正方形/長方形 6"/>
          <p:cNvSpPr/>
          <p:nvPr/>
        </p:nvSpPr>
        <p:spPr>
          <a:xfrm>
            <a:off x="0" y="0"/>
            <a:ext cx="450720" cy="548280"/>
          </a:xfrm>
          <a:prstGeom prst="rect">
            <a:avLst/>
          </a:prstGeom>
          <a:solidFill>
            <a:srgbClr val="191F54"/>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rgbClr val="FFFFFF"/>
              </a:solidFill>
              <a:effectLst/>
              <a:uFillTx/>
              <a:latin typeface="Calibri"/>
            </a:endParaRPr>
          </a:p>
        </p:txBody>
      </p:sp>
      <p:sp>
        <p:nvSpPr>
          <p:cNvPr id="58" name="正方形/長方形 57">
            <a:extLst>
              <a:ext uri="{FF2B5EF4-FFF2-40B4-BE49-F238E27FC236}">
                <a16:creationId xmlns:a16="http://schemas.microsoft.com/office/drawing/2014/main" id="{10EB49B5-9FC5-84CA-4DB1-FD1822B1AD4A}"/>
              </a:ext>
            </a:extLst>
          </p:cNvPr>
          <p:cNvSpPr/>
          <p:nvPr/>
        </p:nvSpPr>
        <p:spPr>
          <a:xfrm>
            <a:off x="96788" y="1045811"/>
            <a:ext cx="1935768" cy="21878"/>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
        <p:nvSpPr>
          <p:cNvPr id="3" name="正方形/長方形 2">
            <a:extLst>
              <a:ext uri="{FF2B5EF4-FFF2-40B4-BE49-F238E27FC236}">
                <a16:creationId xmlns:a16="http://schemas.microsoft.com/office/drawing/2014/main" id="{AAE0FF34-E36F-DACD-C81B-257EFD178A28}"/>
              </a:ext>
            </a:extLst>
          </p:cNvPr>
          <p:cNvSpPr/>
          <p:nvPr/>
        </p:nvSpPr>
        <p:spPr>
          <a:xfrm>
            <a:off x="96788" y="1645669"/>
            <a:ext cx="9687414" cy="3577"/>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
        <p:nvSpPr>
          <p:cNvPr id="5" name="テキスト ボックス 4">
            <a:extLst>
              <a:ext uri="{FF2B5EF4-FFF2-40B4-BE49-F238E27FC236}">
                <a16:creationId xmlns:a16="http://schemas.microsoft.com/office/drawing/2014/main" id="{ACBE40DF-02FF-09AD-254C-C183AF288F03}"/>
              </a:ext>
            </a:extLst>
          </p:cNvPr>
          <p:cNvSpPr txBox="1"/>
          <p:nvPr/>
        </p:nvSpPr>
        <p:spPr>
          <a:xfrm>
            <a:off x="96788" y="619405"/>
            <a:ext cx="4961186" cy="369332"/>
          </a:xfrm>
          <a:prstGeom prst="rect">
            <a:avLst/>
          </a:prstGeom>
          <a:noFill/>
        </p:spPr>
        <p:txBody>
          <a:bodyPr wrap="square">
            <a:spAutoFit/>
          </a:bodyPr>
          <a:lstStyle/>
          <a:p>
            <a:r>
              <a:rPr lang="en-US" altLang="ja-JP"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LINEOA</a:t>
            </a:r>
            <a:r>
              <a:rPr lang="ja-JP" altLang="en-US"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公式基礎</a:t>
            </a:r>
            <a:endParaRPr lang="ja-JP" altLang="en-US" sz="1100" dirty="0"/>
          </a:p>
        </p:txBody>
      </p:sp>
      <p:sp>
        <p:nvSpPr>
          <p:cNvPr id="7" name="テキスト ボックス 6">
            <a:extLst>
              <a:ext uri="{FF2B5EF4-FFF2-40B4-BE49-F238E27FC236}">
                <a16:creationId xmlns:a16="http://schemas.microsoft.com/office/drawing/2014/main" id="{6F82A582-FD96-0975-8BC7-695742F3474E}"/>
              </a:ext>
            </a:extLst>
          </p:cNvPr>
          <p:cNvSpPr txBox="1"/>
          <p:nvPr/>
        </p:nvSpPr>
        <p:spPr>
          <a:xfrm>
            <a:off x="96788" y="1202790"/>
            <a:ext cx="9687414" cy="307777"/>
          </a:xfrm>
          <a:prstGeom prst="rect">
            <a:avLst/>
          </a:prstGeom>
          <a:noFill/>
        </p:spPr>
        <p:txBody>
          <a:bodyPr wrap="square">
            <a:spAutoFit/>
          </a:bodyPr>
          <a:lstStyle/>
          <a:p>
            <a:r>
              <a:rPr lang="ja-JP" altLang="en-US"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市況変化に伴い、</a:t>
            </a:r>
            <a:r>
              <a:rPr lang="en-US" altLang="ja-JP"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LINE</a:t>
            </a:r>
            <a:r>
              <a:rPr lang="ja-JP" altLang="en-US"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施策の必要性が増加。反応率の高い</a:t>
            </a:r>
            <a:r>
              <a:rPr lang="en-US" altLang="ja-JP"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LINE</a:t>
            </a:r>
            <a:r>
              <a:rPr lang="ja-JP" altLang="en-US"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公式を効率化することでマーケティングを最適化。</a:t>
            </a:r>
            <a:endParaRPr lang="ja-JP" altLang="en-US" sz="1000" dirty="0"/>
          </a:p>
        </p:txBody>
      </p:sp>
      <p:sp>
        <p:nvSpPr>
          <p:cNvPr id="9" name="テキスト ボックス 8">
            <a:extLst>
              <a:ext uri="{FF2B5EF4-FFF2-40B4-BE49-F238E27FC236}">
                <a16:creationId xmlns:a16="http://schemas.microsoft.com/office/drawing/2014/main" id="{AA2B66CF-65F8-FB43-708F-6D49976FCE64}"/>
              </a:ext>
            </a:extLst>
          </p:cNvPr>
          <p:cNvSpPr txBox="1"/>
          <p:nvPr/>
        </p:nvSpPr>
        <p:spPr>
          <a:xfrm>
            <a:off x="549000" y="138240"/>
            <a:ext cx="4961186" cy="338040"/>
          </a:xfrm>
          <a:prstGeom prst="rect">
            <a:avLst/>
          </a:prstGeom>
          <a:noFill/>
        </p:spPr>
        <p:txBody>
          <a:bodyPr wrap="square" anchor="ctr" lIns="91425" rIns="91425" tIns="45700" bIns="45700">
            <a:spAutoFit/>
          </a:bodyPr>
          <a:lstStyle/>
          <a:p>
            <a:r>
              <a:rPr lang="ja-JP" altLang="en-US" sz="1600" b="1" dirty="0">
                <a:solidFill>
                  <a:srgbClr val="323366"/>
                </a:solidFill>
                <a:latin typeface="メイリオ" panose="020B0604030504040204" pitchFamily="50" charset="-128"/>
                <a:ea typeface="メイリオ" panose="020B0604030504040204" pitchFamily="50" charset="-128"/>
                <a:cs typeface="メイリオ" panose="020B0604030504040204" pitchFamily="50" charset="-128"/>
              </a:rPr>
              <a:t>前提調査</a:t>
            </a:r>
            <a:endParaRPr lang="ja-JP" altLang="en-US" sz="1050" dirty="0">
              <a:solidFill>
                <a:srgbClr val="323366"/>
              </a:solidFill>
            </a:endParaRPr>
          </a:p>
        </p:txBody>
      </p:sp>
      <p:pic>
        <p:nvPicPr>
          <p:cNvPr id="23" name="図 22">
            <a:extLst>
              <a:ext uri="{FF2B5EF4-FFF2-40B4-BE49-F238E27FC236}">
                <a16:creationId xmlns:a16="http://schemas.microsoft.com/office/drawing/2014/main" id="{A3ED5CD5-2475-1675-D861-6DF0FEF85224}"/>
              </a:ext>
            </a:extLst>
          </p:cNvPr>
          <p:cNvPicPr>
            <a:picLocks noChangeAspect="1"/>
          </p:cNvPicPr>
          <p:nvPr/>
        </p:nvPicPr>
        <p:blipFill>
          <a:blip r:embed="rId2"/>
          <a:stretch>
            <a:fillRect/>
          </a:stretch>
        </p:blipFill>
        <p:spPr>
          <a:xfrm>
            <a:off x="4731535" y="1769209"/>
            <a:ext cx="4865885" cy="2313349"/>
          </a:xfrm>
          <a:prstGeom prst="rect">
            <a:avLst/>
          </a:prstGeom>
        </p:spPr>
      </p:pic>
      <p:pic>
        <p:nvPicPr>
          <p:cNvPr id="55" name="図 54">
            <a:extLst>
              <a:ext uri="{FF2B5EF4-FFF2-40B4-BE49-F238E27FC236}">
                <a16:creationId xmlns:a16="http://schemas.microsoft.com/office/drawing/2014/main" id="{6F101A2A-4E40-54D6-6EFF-FC688C1D2F0B}"/>
              </a:ext>
            </a:extLst>
          </p:cNvPr>
          <p:cNvPicPr>
            <a:picLocks noChangeAspect="1"/>
          </p:cNvPicPr>
          <p:nvPr/>
        </p:nvPicPr>
        <p:blipFill>
          <a:blip r:embed="rId3"/>
          <a:stretch>
            <a:fillRect/>
          </a:stretch>
        </p:blipFill>
        <p:spPr>
          <a:xfrm>
            <a:off x="121721" y="1796423"/>
            <a:ext cx="4547463" cy="2282442"/>
          </a:xfrm>
          <a:prstGeom prst="rect">
            <a:avLst/>
          </a:prstGeom>
        </p:spPr>
      </p:pic>
      <p:pic>
        <p:nvPicPr>
          <p:cNvPr id="4" name="図 3">
            <a:extLst>
              <a:ext uri="{FF2B5EF4-FFF2-40B4-BE49-F238E27FC236}">
                <a16:creationId xmlns:a16="http://schemas.microsoft.com/office/drawing/2014/main" id="{E64EEB20-E6D7-1754-B863-CE02D1637BAF}"/>
              </a:ext>
            </a:extLst>
          </p:cNvPr>
          <p:cNvPicPr>
            <a:picLocks noChangeAspect="1"/>
          </p:cNvPicPr>
          <p:nvPr/>
        </p:nvPicPr>
        <p:blipFill>
          <a:blip r:embed="rId4"/>
          <a:stretch>
            <a:fillRect/>
          </a:stretch>
        </p:blipFill>
        <p:spPr>
          <a:xfrm>
            <a:off x="4743273" y="4163531"/>
            <a:ext cx="5026817" cy="2263604"/>
          </a:xfrm>
          <a:prstGeom prst="rect">
            <a:avLst/>
          </a:prstGeom>
        </p:spPr>
      </p:pic>
      <p:pic>
        <p:nvPicPr>
          <p:cNvPr id="8" name="図 7">
            <a:extLst>
              <a:ext uri="{FF2B5EF4-FFF2-40B4-BE49-F238E27FC236}">
                <a16:creationId xmlns:a16="http://schemas.microsoft.com/office/drawing/2014/main" id="{4155BE30-8F47-BE42-0733-C328ACCE19E0}"/>
              </a:ext>
            </a:extLst>
          </p:cNvPr>
          <p:cNvPicPr>
            <a:picLocks noChangeAspect="1"/>
          </p:cNvPicPr>
          <p:nvPr/>
        </p:nvPicPr>
        <p:blipFill>
          <a:blip r:embed="rId5"/>
          <a:stretch>
            <a:fillRect/>
          </a:stretch>
        </p:blipFill>
        <p:spPr>
          <a:xfrm>
            <a:off x="144233" y="4162283"/>
            <a:ext cx="4502439" cy="2249497"/>
          </a:xfrm>
          <a:prstGeom prst="rect">
            <a:avLst/>
          </a:prstGeom>
        </p:spPr>
      </p:pic>
    </p:spTree>
    <p:extLst>
      <p:ext uri="{BB962C8B-B14F-4D97-AF65-F5344CB8AC3E}">
        <p14:creationId xmlns:p14="http://schemas.microsoft.com/office/powerpoint/2010/main" val="88681943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85F785-21C2-3B5C-6EEA-F1CBBF75AF74}"/>
            </a:ext>
          </a:extLst>
        </p:cNvPr>
        <p:cNvGrpSpPr/>
        <p:nvPr/>
      </p:nvGrpSpPr>
      <p:grpSpPr>
        <a:xfrm>
          <a:off x="0" y="0"/>
          <a:ext cx="0" cy="0"/>
          <a:chOff x="0" y="0"/>
          <a:chExt cx="0" cy="0"/>
        </a:xfrm>
      </p:grpSpPr>
      <p:cxnSp>
        <p:nvCxnSpPr>
          <p:cNvPr id="126" name="直線コネクタ 4"/>
          <p:cNvCxnSpPr/>
          <p:nvPr/>
        </p:nvCxnSpPr>
        <p:spPr>
          <a:xfrm>
            <a:off x="0" y="548640"/>
            <a:ext cx="9906120" cy="360"/>
          </a:xfrm>
          <a:prstGeom prst="straightConnector1">
            <a:avLst/>
          </a:prstGeom>
          <a:ln>
            <a:solidFill>
              <a:srgbClr val="191F54"/>
            </a:solidFill>
            <a:round/>
          </a:ln>
        </p:spPr>
      </p:cxnSp>
      <p:sp>
        <p:nvSpPr>
          <p:cNvPr id="127" name="正方形/長方形 6"/>
          <p:cNvSpPr/>
          <p:nvPr/>
        </p:nvSpPr>
        <p:spPr>
          <a:xfrm>
            <a:off x="0" y="0"/>
            <a:ext cx="450720" cy="548280"/>
          </a:xfrm>
          <a:prstGeom prst="rect">
            <a:avLst/>
          </a:prstGeom>
          <a:solidFill>
            <a:srgbClr val="191F54"/>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rgbClr val="FFFFFF"/>
              </a:solidFill>
              <a:effectLst/>
              <a:uFillTx/>
              <a:latin typeface="Calibri"/>
            </a:endParaRPr>
          </a:p>
        </p:txBody>
      </p:sp>
      <p:sp>
        <p:nvSpPr>
          <p:cNvPr id="58" name="正方形/長方形 57">
            <a:extLst>
              <a:ext uri="{FF2B5EF4-FFF2-40B4-BE49-F238E27FC236}">
                <a16:creationId xmlns:a16="http://schemas.microsoft.com/office/drawing/2014/main" id="{0A6CFA27-8734-0256-59C9-95D2B252C115}"/>
              </a:ext>
            </a:extLst>
          </p:cNvPr>
          <p:cNvSpPr/>
          <p:nvPr/>
        </p:nvSpPr>
        <p:spPr>
          <a:xfrm>
            <a:off x="96788" y="1045811"/>
            <a:ext cx="1935768" cy="21878"/>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
        <p:nvSpPr>
          <p:cNvPr id="5" name="テキスト ボックス 4">
            <a:extLst>
              <a:ext uri="{FF2B5EF4-FFF2-40B4-BE49-F238E27FC236}">
                <a16:creationId xmlns:a16="http://schemas.microsoft.com/office/drawing/2014/main" id="{3705FD20-7673-B4F7-9F0F-FDAA55CE0655}"/>
              </a:ext>
            </a:extLst>
          </p:cNvPr>
          <p:cNvSpPr txBox="1"/>
          <p:nvPr/>
        </p:nvSpPr>
        <p:spPr>
          <a:xfrm>
            <a:off x="96788" y="619405"/>
            <a:ext cx="4961186" cy="369332"/>
          </a:xfrm>
          <a:prstGeom prst="rect">
            <a:avLst/>
          </a:prstGeom>
          <a:noFill/>
        </p:spPr>
        <p:txBody>
          <a:bodyPr wrap="square">
            <a:spAutoFit/>
          </a:bodyPr>
          <a:lstStyle/>
          <a:p>
            <a:r>
              <a:rPr lang="en-US" altLang="ja-JP"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LINEOA</a:t>
            </a:r>
            <a:r>
              <a:rPr lang="ja-JP" altLang="en-US"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公式基礎</a:t>
            </a:r>
            <a:endParaRPr lang="ja-JP" altLang="en-US" sz="1100" dirty="0"/>
          </a:p>
        </p:txBody>
      </p:sp>
      <p:sp>
        <p:nvSpPr>
          <p:cNvPr id="7" name="テキスト ボックス 6">
            <a:extLst>
              <a:ext uri="{FF2B5EF4-FFF2-40B4-BE49-F238E27FC236}">
                <a16:creationId xmlns:a16="http://schemas.microsoft.com/office/drawing/2014/main" id="{4C9CF45E-C71E-D1AB-5CC4-7A1544E4139F}"/>
              </a:ext>
            </a:extLst>
          </p:cNvPr>
          <p:cNvSpPr txBox="1"/>
          <p:nvPr/>
        </p:nvSpPr>
        <p:spPr>
          <a:xfrm>
            <a:off x="96788" y="1202790"/>
            <a:ext cx="4961186" cy="307777"/>
          </a:xfrm>
          <a:prstGeom prst="rect">
            <a:avLst/>
          </a:prstGeom>
          <a:noFill/>
        </p:spPr>
        <p:txBody>
          <a:bodyPr wrap="square">
            <a:spAutoFit/>
          </a:bodyPr>
          <a:lstStyle/>
          <a:p>
            <a:r>
              <a:rPr lang="ja-JP" altLang="en-US"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市況の変化</a:t>
            </a:r>
            <a:endParaRPr lang="ja-JP" altLang="en-US" sz="1000" dirty="0"/>
          </a:p>
        </p:txBody>
      </p:sp>
      <p:sp>
        <p:nvSpPr>
          <p:cNvPr id="9" name="テキスト ボックス 8">
            <a:extLst>
              <a:ext uri="{FF2B5EF4-FFF2-40B4-BE49-F238E27FC236}">
                <a16:creationId xmlns:a16="http://schemas.microsoft.com/office/drawing/2014/main" id="{2466A3D1-79A2-FC11-5F03-CB24F3F95CFB}"/>
              </a:ext>
            </a:extLst>
          </p:cNvPr>
          <p:cNvSpPr txBox="1"/>
          <p:nvPr/>
        </p:nvSpPr>
        <p:spPr>
          <a:xfrm>
            <a:off x="549000" y="138240"/>
            <a:ext cx="4961186" cy="338040"/>
          </a:xfrm>
          <a:prstGeom prst="rect">
            <a:avLst/>
          </a:prstGeom>
          <a:noFill/>
        </p:spPr>
        <p:txBody>
          <a:bodyPr wrap="square" anchor="ctr" lIns="91425" rIns="91425" tIns="45700" bIns="45700">
            <a:spAutoFit/>
          </a:bodyPr>
          <a:lstStyle/>
          <a:p>
            <a:r>
              <a:rPr lang="ja-JP" altLang="en-US" sz="1600" b="1" dirty="0">
                <a:solidFill>
                  <a:srgbClr val="323366"/>
                </a:solidFill>
                <a:latin typeface="メイリオ" panose="020B0604030504040204" pitchFamily="50" charset="-128"/>
                <a:ea typeface="メイリオ" panose="020B0604030504040204" pitchFamily="50" charset="-128"/>
                <a:cs typeface="メイリオ" panose="020B0604030504040204" pitchFamily="50" charset="-128"/>
              </a:rPr>
              <a:t>前提調査</a:t>
            </a:r>
            <a:endParaRPr lang="ja-JP" altLang="en-US" sz="1050" dirty="0">
              <a:solidFill>
                <a:srgbClr val="323366"/>
              </a:solidFill>
            </a:endParaRPr>
          </a:p>
        </p:txBody>
      </p:sp>
      <p:pic>
        <p:nvPicPr>
          <p:cNvPr id="70" name="図 69">
            <a:extLst>
              <a:ext uri="{FF2B5EF4-FFF2-40B4-BE49-F238E27FC236}">
                <a16:creationId xmlns:a16="http://schemas.microsoft.com/office/drawing/2014/main" id="{BD57C684-39A2-ED1F-858B-037F82BEC993}"/>
              </a:ext>
            </a:extLst>
          </p:cNvPr>
          <p:cNvPicPr>
            <a:picLocks noChangeAspect="1"/>
          </p:cNvPicPr>
          <p:nvPr/>
        </p:nvPicPr>
        <p:blipFill>
          <a:blip r:embed="rId2"/>
          <a:stretch>
            <a:fillRect/>
          </a:stretch>
        </p:blipFill>
        <p:spPr>
          <a:xfrm>
            <a:off x="4743273" y="4163531"/>
            <a:ext cx="5026817" cy="2263604"/>
          </a:xfrm>
          <a:prstGeom prst="rect">
            <a:avLst/>
          </a:prstGeom>
        </p:spPr>
      </p:pic>
      <p:pic>
        <p:nvPicPr>
          <p:cNvPr id="72" name="図 71">
            <a:extLst>
              <a:ext uri="{FF2B5EF4-FFF2-40B4-BE49-F238E27FC236}">
                <a16:creationId xmlns:a16="http://schemas.microsoft.com/office/drawing/2014/main" id="{CAD0F638-4BB5-8204-757C-602FB0EFC388}"/>
              </a:ext>
            </a:extLst>
          </p:cNvPr>
          <p:cNvPicPr>
            <a:picLocks noChangeAspect="1"/>
          </p:cNvPicPr>
          <p:nvPr/>
        </p:nvPicPr>
        <p:blipFill>
          <a:blip r:embed="rId3"/>
          <a:stretch>
            <a:fillRect/>
          </a:stretch>
        </p:blipFill>
        <p:spPr>
          <a:xfrm>
            <a:off x="144233" y="4162283"/>
            <a:ext cx="4502439" cy="2249497"/>
          </a:xfrm>
          <a:prstGeom prst="rect">
            <a:avLst/>
          </a:prstGeom>
        </p:spPr>
      </p:pic>
      <p:pic>
        <p:nvPicPr>
          <p:cNvPr id="89" name="図 88">
            <a:extLst>
              <a:ext uri="{FF2B5EF4-FFF2-40B4-BE49-F238E27FC236}">
                <a16:creationId xmlns:a16="http://schemas.microsoft.com/office/drawing/2014/main" id="{1E7DD73A-5ACE-57F2-3D84-1CCFDEA9CEE5}"/>
              </a:ext>
            </a:extLst>
          </p:cNvPr>
          <p:cNvPicPr>
            <a:picLocks noChangeAspect="1"/>
          </p:cNvPicPr>
          <p:nvPr/>
        </p:nvPicPr>
        <p:blipFill>
          <a:blip r:embed="rId4"/>
          <a:stretch>
            <a:fillRect/>
          </a:stretch>
        </p:blipFill>
        <p:spPr>
          <a:xfrm>
            <a:off x="4731535" y="1777918"/>
            <a:ext cx="4865885" cy="2313349"/>
          </a:xfrm>
          <a:prstGeom prst="rect">
            <a:avLst/>
          </a:prstGeom>
        </p:spPr>
      </p:pic>
      <p:pic>
        <p:nvPicPr>
          <p:cNvPr id="91" name="図 90">
            <a:extLst>
              <a:ext uri="{FF2B5EF4-FFF2-40B4-BE49-F238E27FC236}">
                <a16:creationId xmlns:a16="http://schemas.microsoft.com/office/drawing/2014/main" id="{FCAF1797-0FF8-82BA-FC52-3C1CCD7A2ED5}"/>
              </a:ext>
            </a:extLst>
          </p:cNvPr>
          <p:cNvPicPr>
            <a:picLocks noChangeAspect="1"/>
          </p:cNvPicPr>
          <p:nvPr/>
        </p:nvPicPr>
        <p:blipFill>
          <a:blip r:embed="rId5"/>
          <a:stretch>
            <a:fillRect/>
          </a:stretch>
        </p:blipFill>
        <p:spPr>
          <a:xfrm>
            <a:off x="121721" y="1805132"/>
            <a:ext cx="4547463" cy="2282442"/>
          </a:xfrm>
          <a:prstGeom prst="rect">
            <a:avLst/>
          </a:prstGeom>
        </p:spPr>
      </p:pic>
      <p:sp>
        <p:nvSpPr>
          <p:cNvPr id="109" name="正方形/長方形 108">
            <a:extLst>
              <a:ext uri="{FF2B5EF4-FFF2-40B4-BE49-F238E27FC236}">
                <a16:creationId xmlns:a16="http://schemas.microsoft.com/office/drawing/2014/main" id="{75E2613C-ECFC-1043-6B48-5CC36CDAEA49}"/>
              </a:ext>
            </a:extLst>
          </p:cNvPr>
          <p:cNvSpPr/>
          <p:nvPr/>
        </p:nvSpPr>
        <p:spPr>
          <a:xfrm>
            <a:off x="79632" y="1705966"/>
            <a:ext cx="9721727" cy="4805339"/>
          </a:xfrm>
          <a:prstGeom prst="rect">
            <a:avLst/>
          </a:prstGeom>
          <a:solidFill>
            <a:schemeClr val="bg1">
              <a:alpha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tLang="ja-JP" sz="1400" dirty="0">
              <a:solidFill>
                <a:schemeClr val="tx1"/>
              </a:solidFill>
              <a:latin typeface="メイリオ" panose="020B0604030504040204" pitchFamily="50" charset="-128"/>
              <a:ea typeface="メイリオ" panose="020B0604030504040204" pitchFamily="50" charset="-128"/>
            </a:endParaRPr>
          </a:p>
        </p:txBody>
      </p:sp>
      <p:sp>
        <p:nvSpPr>
          <p:cNvPr id="111" name="正方形/長方形 110">
            <a:extLst>
              <a:ext uri="{FF2B5EF4-FFF2-40B4-BE49-F238E27FC236}">
                <a16:creationId xmlns:a16="http://schemas.microsoft.com/office/drawing/2014/main" id="{99739246-55F4-690F-7FCA-3A6125F81DC0}"/>
              </a:ext>
            </a:extLst>
          </p:cNvPr>
          <p:cNvSpPr/>
          <p:nvPr/>
        </p:nvSpPr>
        <p:spPr>
          <a:xfrm>
            <a:off x="212090" y="1717992"/>
            <a:ext cx="4646483" cy="2328629"/>
          </a:xfrm>
          <a:prstGeom prst="rect">
            <a:avLst/>
          </a:prstGeom>
          <a:solidFill>
            <a:schemeClr val="bg1">
              <a:lumMod val="85000"/>
              <a:alpha val="3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b="1" dirty="0">
                <a:solidFill>
                  <a:schemeClr val="tx1"/>
                </a:solidFill>
                <a:latin typeface="メイリオ" panose="020B0604030504040204" pitchFamily="50" charset="-128"/>
                <a:ea typeface="メイリオ" panose="020B0604030504040204" pitchFamily="50" charset="-128"/>
              </a:rPr>
              <a:t>LINE</a:t>
            </a:r>
            <a:r>
              <a:rPr lang="ja-JP" altLang="en-US" sz="2000" b="1" dirty="0">
                <a:solidFill>
                  <a:schemeClr val="tx1"/>
                </a:solidFill>
                <a:latin typeface="メイリオ" panose="020B0604030504040204" pitchFamily="50" charset="-128"/>
                <a:ea typeface="メイリオ" panose="020B0604030504040204" pitchFamily="50" charset="-128"/>
              </a:rPr>
              <a:t>施策の重要性</a:t>
            </a:r>
            <a:endParaRPr lang="en-US" altLang="ja-JP" sz="2000" b="1" dirty="0">
              <a:solidFill>
                <a:schemeClr val="tx1"/>
              </a:solidFill>
              <a:latin typeface="メイリオ" panose="020B0604030504040204" pitchFamily="50" charset="-128"/>
              <a:ea typeface="メイリオ" panose="020B0604030504040204" pitchFamily="50" charset="-128"/>
            </a:endParaRPr>
          </a:p>
          <a:p>
            <a:pPr algn="ctr"/>
            <a:endParaRPr lang="en-US" altLang="ja-JP" sz="2000" b="1" dirty="0">
              <a:solidFill>
                <a:schemeClr val="tx1"/>
              </a:solidFill>
              <a:latin typeface="メイリオ" panose="020B0604030504040204" pitchFamily="50" charset="-128"/>
              <a:ea typeface="メイリオ" panose="020B0604030504040204" pitchFamily="50" charset="-128"/>
            </a:endParaRPr>
          </a:p>
          <a:p>
            <a:pPr algn="ctr"/>
            <a:endParaRPr lang="en-US" altLang="ja-JP" sz="2000" b="1" dirty="0">
              <a:solidFill>
                <a:schemeClr val="tx1"/>
              </a:solidFill>
              <a:latin typeface="メイリオ" panose="020B0604030504040204" pitchFamily="50" charset="-128"/>
              <a:ea typeface="メイリオ" panose="020B0604030504040204" pitchFamily="50" charset="-128"/>
            </a:endParaRPr>
          </a:p>
        </p:txBody>
      </p:sp>
      <p:sp>
        <p:nvSpPr>
          <p:cNvPr id="113" name="正方形/長方形 112">
            <a:extLst>
              <a:ext uri="{FF2B5EF4-FFF2-40B4-BE49-F238E27FC236}">
                <a16:creationId xmlns:a16="http://schemas.microsoft.com/office/drawing/2014/main" id="{36DF7064-F61C-CF57-16F4-3ED4FE3F0D7A}"/>
              </a:ext>
            </a:extLst>
          </p:cNvPr>
          <p:cNvSpPr/>
          <p:nvPr/>
        </p:nvSpPr>
        <p:spPr>
          <a:xfrm>
            <a:off x="4929998" y="1717020"/>
            <a:ext cx="4646483" cy="2328629"/>
          </a:xfrm>
          <a:prstGeom prst="rect">
            <a:avLst/>
          </a:prstGeom>
          <a:solidFill>
            <a:schemeClr val="bg1">
              <a:lumMod val="85000"/>
              <a:alpha val="3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2000" b="1" dirty="0">
                <a:solidFill>
                  <a:schemeClr val="tx1"/>
                </a:solidFill>
                <a:latin typeface="メイリオ" panose="020B0604030504040204" pitchFamily="50" charset="-128"/>
                <a:ea typeface="メイリオ" panose="020B0604030504040204" pitchFamily="50" charset="-128"/>
              </a:rPr>
              <a:t>友だち追加後の最適化</a:t>
            </a:r>
            <a:endParaRPr lang="en-US" altLang="ja-JP" sz="2000" b="1" dirty="0">
              <a:solidFill>
                <a:schemeClr val="tx1"/>
              </a:solidFill>
              <a:latin typeface="メイリオ" panose="020B0604030504040204" pitchFamily="50" charset="-128"/>
              <a:ea typeface="メイリオ" panose="020B0604030504040204" pitchFamily="50" charset="-128"/>
            </a:endParaRPr>
          </a:p>
          <a:p>
            <a:pPr algn="ctr"/>
            <a:endParaRPr lang="en-US" altLang="ja-JP" sz="1400" b="1" dirty="0">
              <a:solidFill>
                <a:schemeClr val="tx1"/>
              </a:solidFill>
              <a:latin typeface="メイリオ" panose="020B0604030504040204" pitchFamily="50" charset="-128"/>
              <a:ea typeface="メイリオ" panose="020B0604030504040204" pitchFamily="50" charset="-128"/>
            </a:endParaRPr>
          </a:p>
          <a:p>
            <a:pPr algn="ctr"/>
            <a:endParaRPr lang="en-US" altLang="ja-JP" sz="1400" b="1" dirty="0">
              <a:solidFill>
                <a:schemeClr val="tx1"/>
              </a:solidFill>
              <a:latin typeface="メイリオ" panose="020B0604030504040204" pitchFamily="50" charset="-128"/>
              <a:ea typeface="メイリオ" panose="020B0604030504040204" pitchFamily="50" charset="-128"/>
            </a:endParaRPr>
          </a:p>
          <a:p>
            <a:pPr algn="ctr"/>
            <a:endParaRPr lang="en-US" altLang="ja-JP" sz="1400" b="1" dirty="0">
              <a:solidFill>
                <a:schemeClr val="tx1"/>
              </a:solidFill>
              <a:latin typeface="メイリオ" panose="020B0604030504040204" pitchFamily="50" charset="-128"/>
              <a:ea typeface="メイリオ" panose="020B0604030504040204" pitchFamily="50" charset="-128"/>
            </a:endParaRPr>
          </a:p>
        </p:txBody>
      </p:sp>
      <p:sp>
        <p:nvSpPr>
          <p:cNvPr id="115" name="正方形/長方形 114">
            <a:extLst>
              <a:ext uri="{FF2B5EF4-FFF2-40B4-BE49-F238E27FC236}">
                <a16:creationId xmlns:a16="http://schemas.microsoft.com/office/drawing/2014/main" id="{B413D49B-5D6C-8C2D-7652-878361DCE9FD}"/>
              </a:ext>
            </a:extLst>
          </p:cNvPr>
          <p:cNvSpPr/>
          <p:nvPr/>
        </p:nvSpPr>
        <p:spPr>
          <a:xfrm>
            <a:off x="212090" y="4103895"/>
            <a:ext cx="4646483" cy="2328629"/>
          </a:xfrm>
          <a:prstGeom prst="rect">
            <a:avLst/>
          </a:prstGeom>
          <a:solidFill>
            <a:schemeClr val="bg1">
              <a:lumMod val="85000"/>
              <a:alpha val="3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2000" b="1" dirty="0">
                <a:solidFill>
                  <a:srgbClr val="FF0000"/>
                </a:solidFill>
                <a:latin typeface="メイリオ" panose="020B0604030504040204" pitchFamily="50" charset="-128"/>
                <a:ea typeface="メイリオ" panose="020B0604030504040204" pitchFamily="50" charset="-128"/>
              </a:rPr>
              <a:t>集客</a:t>
            </a:r>
            <a:r>
              <a:rPr kumimoji="1" lang="en-US" altLang="ja-JP" sz="2000" b="1" dirty="0">
                <a:solidFill>
                  <a:srgbClr val="FF0000"/>
                </a:solidFill>
                <a:latin typeface="メイリオ" panose="020B0604030504040204" pitchFamily="50" charset="-128"/>
                <a:ea typeface="メイリオ" panose="020B0604030504040204" pitchFamily="50" charset="-128"/>
              </a:rPr>
              <a:t>CPA</a:t>
            </a:r>
            <a:r>
              <a:rPr kumimoji="1" lang="ja-JP" altLang="en-US" sz="2000" b="1" dirty="0">
                <a:solidFill>
                  <a:srgbClr val="FF0000"/>
                </a:solidFill>
                <a:latin typeface="メイリオ" panose="020B0604030504040204" pitchFamily="50" charset="-128"/>
                <a:ea typeface="メイリオ" panose="020B0604030504040204" pitchFamily="50" charset="-128"/>
              </a:rPr>
              <a:t>改善の必要性</a:t>
            </a:r>
            <a:endParaRPr kumimoji="1" lang="en-US" altLang="ja-JP" sz="2000" b="1" dirty="0">
              <a:solidFill>
                <a:srgbClr val="FF0000"/>
              </a:solidFill>
              <a:latin typeface="メイリオ" panose="020B0604030504040204" pitchFamily="50" charset="-128"/>
              <a:ea typeface="メイリオ" panose="020B0604030504040204" pitchFamily="50" charset="-128"/>
            </a:endParaRPr>
          </a:p>
          <a:p>
            <a:pPr algn="ctr"/>
            <a:endParaRPr lang="en-US" altLang="ja-JP" sz="1400" b="1" dirty="0">
              <a:solidFill>
                <a:srgbClr val="FF0000"/>
              </a:solidFill>
              <a:latin typeface="メイリオ" panose="020B0604030504040204" pitchFamily="50" charset="-128"/>
              <a:ea typeface="メイリオ" panose="020B0604030504040204" pitchFamily="50" charset="-128"/>
            </a:endParaRPr>
          </a:p>
          <a:p>
            <a:pPr algn="ctr"/>
            <a:endParaRPr lang="en-US" altLang="ja-JP" sz="1400" b="1" dirty="0">
              <a:solidFill>
                <a:srgbClr val="FF0000"/>
              </a:solidFill>
              <a:latin typeface="メイリオ" panose="020B0604030504040204" pitchFamily="50" charset="-128"/>
              <a:ea typeface="メイリオ" panose="020B0604030504040204" pitchFamily="50" charset="-128"/>
            </a:endParaRPr>
          </a:p>
          <a:p>
            <a:pPr algn="ctr"/>
            <a:endParaRPr lang="en-US" altLang="ja-JP" sz="1400" b="1" dirty="0">
              <a:solidFill>
                <a:srgbClr val="FF0000"/>
              </a:solidFill>
              <a:latin typeface="メイリオ" panose="020B0604030504040204" pitchFamily="50" charset="-128"/>
              <a:ea typeface="メイリオ" panose="020B0604030504040204" pitchFamily="50" charset="-128"/>
            </a:endParaRPr>
          </a:p>
        </p:txBody>
      </p:sp>
      <p:sp>
        <p:nvSpPr>
          <p:cNvPr id="119" name="正方形/長方形 118">
            <a:extLst>
              <a:ext uri="{FF2B5EF4-FFF2-40B4-BE49-F238E27FC236}">
                <a16:creationId xmlns:a16="http://schemas.microsoft.com/office/drawing/2014/main" id="{C700F13F-7FE1-285C-0D95-84AA99805426}"/>
              </a:ext>
            </a:extLst>
          </p:cNvPr>
          <p:cNvSpPr/>
          <p:nvPr/>
        </p:nvSpPr>
        <p:spPr>
          <a:xfrm>
            <a:off x="4929998" y="4103895"/>
            <a:ext cx="4646483" cy="2328629"/>
          </a:xfrm>
          <a:prstGeom prst="rect">
            <a:avLst/>
          </a:prstGeom>
          <a:solidFill>
            <a:schemeClr val="bg1">
              <a:lumMod val="85000"/>
              <a:alpha val="3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b="1" dirty="0">
                <a:solidFill>
                  <a:srgbClr val="FF0000"/>
                </a:solidFill>
                <a:latin typeface="メイリオ" panose="020B0604030504040204" pitchFamily="50" charset="-128"/>
                <a:ea typeface="メイリオ" panose="020B0604030504040204" pitchFamily="50" charset="-128"/>
              </a:rPr>
              <a:t>CPO</a:t>
            </a:r>
            <a:r>
              <a:rPr lang="ja-JP" altLang="en-US" sz="2000" b="1" dirty="0">
                <a:solidFill>
                  <a:srgbClr val="FF0000"/>
                </a:solidFill>
                <a:latin typeface="メイリオ" panose="020B0604030504040204" pitchFamily="50" charset="-128"/>
                <a:ea typeface="メイリオ" panose="020B0604030504040204" pitchFamily="50" charset="-128"/>
              </a:rPr>
              <a:t>・</a:t>
            </a:r>
            <a:r>
              <a:rPr lang="en-US" altLang="ja-JP" sz="2000" b="1" dirty="0">
                <a:solidFill>
                  <a:srgbClr val="FF0000"/>
                </a:solidFill>
                <a:latin typeface="メイリオ" panose="020B0604030504040204" pitchFamily="50" charset="-128"/>
                <a:ea typeface="メイリオ" panose="020B0604030504040204" pitchFamily="50" charset="-128"/>
              </a:rPr>
              <a:t>CPA</a:t>
            </a:r>
            <a:r>
              <a:rPr lang="ja-JP" altLang="en-US" sz="2000" b="1" dirty="0">
                <a:solidFill>
                  <a:srgbClr val="FF0000"/>
                </a:solidFill>
                <a:latin typeface="メイリオ" panose="020B0604030504040204" pitchFamily="50" charset="-128"/>
                <a:ea typeface="メイリオ" panose="020B0604030504040204" pitchFamily="50" charset="-128"/>
              </a:rPr>
              <a:t>改善</a:t>
            </a:r>
            <a:endParaRPr lang="en-US" altLang="ja-JP" sz="2000" b="1" dirty="0">
              <a:solidFill>
                <a:srgbClr val="FF0000"/>
              </a:solidFill>
              <a:latin typeface="メイリオ" panose="020B0604030504040204" pitchFamily="50" charset="-128"/>
              <a:ea typeface="メイリオ" panose="020B0604030504040204" pitchFamily="50" charset="-128"/>
            </a:endParaRPr>
          </a:p>
          <a:p>
            <a:pPr algn="ctr"/>
            <a:endParaRPr lang="en-US" altLang="ja-JP" sz="1400" b="1" dirty="0">
              <a:solidFill>
                <a:srgbClr val="FF0000"/>
              </a:solidFill>
              <a:latin typeface="メイリオ" panose="020B0604030504040204" pitchFamily="50" charset="-128"/>
              <a:ea typeface="メイリオ" panose="020B0604030504040204" pitchFamily="50" charset="-128"/>
            </a:endParaRPr>
          </a:p>
          <a:p>
            <a:pPr algn="ctr"/>
            <a:endParaRPr lang="en-US" altLang="ja-JP" sz="1400" b="1" dirty="0">
              <a:solidFill>
                <a:srgbClr val="FF0000"/>
              </a:solidFill>
              <a:latin typeface="メイリオ" panose="020B0604030504040204" pitchFamily="50" charset="-128"/>
              <a:ea typeface="メイリオ" panose="020B0604030504040204" pitchFamily="50" charset="-128"/>
            </a:endParaRPr>
          </a:p>
          <a:p>
            <a:pPr algn="ctr"/>
            <a:endParaRPr lang="en-US" altLang="ja-JP" sz="1400" b="1" dirty="0">
              <a:solidFill>
                <a:srgbClr val="FF0000"/>
              </a:solidFill>
              <a:latin typeface="メイリオ" panose="020B0604030504040204" pitchFamily="50" charset="-128"/>
              <a:ea typeface="メイリオ" panose="020B0604030504040204" pitchFamily="50" charset="-128"/>
            </a:endParaRPr>
          </a:p>
        </p:txBody>
      </p:sp>
      <p:sp>
        <p:nvSpPr>
          <p:cNvPr id="125" name="正方形/長方形 124">
            <a:extLst>
              <a:ext uri="{FF2B5EF4-FFF2-40B4-BE49-F238E27FC236}">
                <a16:creationId xmlns:a16="http://schemas.microsoft.com/office/drawing/2014/main" id="{8AA79FF8-045D-B91F-3862-26BD57F723BA}"/>
              </a:ext>
            </a:extLst>
          </p:cNvPr>
          <p:cNvSpPr/>
          <p:nvPr/>
        </p:nvSpPr>
        <p:spPr>
          <a:xfrm>
            <a:off x="96788" y="1645669"/>
            <a:ext cx="9687414" cy="3577"/>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
        <p:nvSpPr>
          <p:cNvPr id="3" name="テキスト ボックス 2">
            <a:extLst>
              <a:ext uri="{FF2B5EF4-FFF2-40B4-BE49-F238E27FC236}">
                <a16:creationId xmlns:a16="http://schemas.microsoft.com/office/drawing/2014/main" id="{BC1E3528-49FC-2F40-A6E5-CF541F7FF75D}"/>
              </a:ext>
            </a:extLst>
          </p:cNvPr>
          <p:cNvSpPr txBox="1"/>
          <p:nvPr/>
        </p:nvSpPr>
        <p:spPr>
          <a:xfrm>
            <a:off x="5218703" y="2796155"/>
            <a:ext cx="4102384" cy="523220"/>
          </a:xfrm>
          <a:prstGeom prst="rect">
            <a:avLst/>
          </a:prstGeom>
          <a:solidFill>
            <a:schemeClr val="bg1">
              <a:alpha val="60000"/>
            </a:schemeClr>
          </a:solidFill>
        </p:spPr>
        <p:txBody>
          <a:bodyPr wrap="square">
            <a:spAutoFit/>
          </a:bodyPr>
          <a:lstStyle/>
          <a:p>
            <a:pPr algn="ctr"/>
            <a:r>
              <a:rPr lang="en-US" altLang="ja-JP" sz="1400" dirty="0">
                <a:solidFill>
                  <a:schemeClr val="tx1"/>
                </a:solidFill>
                <a:latin typeface="メイリオ" panose="020B0604030504040204" pitchFamily="50" charset="-128"/>
                <a:ea typeface="メイリオ" panose="020B0604030504040204" pitchFamily="50" charset="-128"/>
              </a:rPr>
              <a:t>LINE</a:t>
            </a:r>
            <a:r>
              <a:rPr lang="ja-JP" altLang="en-US" sz="1400" dirty="0">
                <a:solidFill>
                  <a:schemeClr val="tx1"/>
                </a:solidFill>
                <a:latin typeface="メイリオ" panose="020B0604030504040204" pitchFamily="50" charset="-128"/>
                <a:ea typeface="メイリオ" panose="020B0604030504040204" pitchFamily="50" charset="-128"/>
              </a:rPr>
              <a:t>友だち追加後</a:t>
            </a:r>
            <a:r>
              <a:rPr lang="en-US" altLang="ja-JP" sz="1400" dirty="0">
                <a:solidFill>
                  <a:schemeClr val="tx1"/>
                </a:solidFill>
                <a:latin typeface="メイリオ" panose="020B0604030504040204" pitchFamily="50" charset="-128"/>
                <a:ea typeface="メイリオ" panose="020B0604030504040204" pitchFamily="50" charset="-128"/>
              </a:rPr>
              <a:t>30</a:t>
            </a:r>
            <a:r>
              <a:rPr lang="ja-JP" altLang="en-US" sz="1400" dirty="0">
                <a:solidFill>
                  <a:schemeClr val="tx1"/>
                </a:solidFill>
                <a:latin typeface="メイリオ" panose="020B0604030504040204" pitchFamily="50" charset="-128"/>
                <a:ea typeface="メイリオ" panose="020B0604030504040204" pitchFamily="50" charset="-128"/>
              </a:rPr>
              <a:t>日、</a:t>
            </a:r>
            <a:endParaRPr lang="en-US" altLang="ja-JP" sz="1400" dirty="0">
              <a:solidFill>
                <a:schemeClr val="tx1"/>
              </a:solidFill>
              <a:latin typeface="メイリオ" panose="020B0604030504040204" pitchFamily="50" charset="-128"/>
              <a:ea typeface="メイリオ" panose="020B0604030504040204" pitchFamily="50" charset="-128"/>
            </a:endParaRPr>
          </a:p>
          <a:p>
            <a:pPr algn="ctr"/>
            <a:r>
              <a:rPr lang="ja-JP" altLang="en-US" sz="1400" b="1" dirty="0">
                <a:solidFill>
                  <a:schemeClr val="tx1"/>
                </a:solidFill>
                <a:latin typeface="メイリオ" panose="020B0604030504040204" pitchFamily="50" charset="-128"/>
                <a:ea typeface="メイリオ" panose="020B0604030504040204" pitchFamily="50" charset="-128"/>
              </a:rPr>
              <a:t>初期誘導の最適化は重要性が高い</a:t>
            </a:r>
            <a:r>
              <a:rPr lang="ja-JP" altLang="en-US" sz="1400" dirty="0">
                <a:solidFill>
                  <a:schemeClr val="tx1"/>
                </a:solidFill>
                <a:latin typeface="メイリオ" panose="020B0604030504040204" pitchFamily="50" charset="-128"/>
                <a:ea typeface="メイリオ" panose="020B0604030504040204" pitchFamily="50" charset="-128"/>
              </a:rPr>
              <a:t>。</a:t>
            </a:r>
            <a:endParaRPr lang="en-US" altLang="ja-JP" sz="1400" dirty="0">
              <a:solidFill>
                <a:schemeClr val="tx1"/>
              </a:solidFill>
              <a:latin typeface="メイリオ" panose="020B0604030504040204" pitchFamily="50" charset="-128"/>
              <a:ea typeface="メイリオ" panose="020B0604030504040204" pitchFamily="50" charset="-128"/>
            </a:endParaRPr>
          </a:p>
        </p:txBody>
      </p:sp>
      <p:sp>
        <p:nvSpPr>
          <p:cNvPr id="14" name="テキスト ボックス 13">
            <a:extLst>
              <a:ext uri="{FF2B5EF4-FFF2-40B4-BE49-F238E27FC236}">
                <a16:creationId xmlns:a16="http://schemas.microsoft.com/office/drawing/2014/main" id="{9741E7E2-8CD1-5737-D697-09B5D2B75F28}"/>
              </a:ext>
            </a:extLst>
          </p:cNvPr>
          <p:cNvSpPr txBox="1"/>
          <p:nvPr/>
        </p:nvSpPr>
        <p:spPr>
          <a:xfrm>
            <a:off x="463701" y="2801521"/>
            <a:ext cx="4102384" cy="523220"/>
          </a:xfrm>
          <a:prstGeom prst="rect">
            <a:avLst/>
          </a:prstGeom>
          <a:solidFill>
            <a:schemeClr val="bg1">
              <a:alpha val="60000"/>
            </a:schemeClr>
          </a:solidFill>
        </p:spPr>
        <p:txBody>
          <a:bodyPr wrap="square">
            <a:spAutoFit/>
          </a:bodyPr>
          <a:lstStyle/>
          <a:p>
            <a:pPr algn="ctr"/>
            <a:r>
              <a:rPr lang="ja-JP" altLang="en-US" sz="1400" b="1" dirty="0">
                <a:latin typeface="メイリオ" panose="020B0604030504040204" pitchFamily="50" charset="-128"/>
                <a:ea typeface="メイリオ" panose="020B0604030504040204" pitchFamily="50" charset="-128"/>
              </a:rPr>
              <a:t>開封率、開封時間ともに高効率</a:t>
            </a:r>
            <a:r>
              <a:rPr lang="ja-JP" altLang="en-US" sz="1400" dirty="0">
                <a:latin typeface="メイリオ" panose="020B0604030504040204" pitchFamily="50" charset="-128"/>
                <a:ea typeface="メイリオ" panose="020B0604030504040204" pitchFamily="50" charset="-128"/>
              </a:rPr>
              <a:t>。</a:t>
            </a:r>
            <a:endParaRPr lang="en-US" altLang="ja-JP" sz="1400" dirty="0">
              <a:latin typeface="メイリオ" panose="020B0604030504040204" pitchFamily="50" charset="-128"/>
              <a:ea typeface="メイリオ" panose="020B0604030504040204" pitchFamily="50" charset="-128"/>
            </a:endParaRPr>
          </a:p>
          <a:p>
            <a:pPr algn="ctr"/>
            <a:r>
              <a:rPr lang="ja-JP" altLang="en-US" sz="1400" dirty="0">
                <a:latin typeface="メイリオ" panose="020B0604030504040204" pitchFamily="50" charset="-128"/>
                <a:ea typeface="メイリオ" panose="020B0604030504040204" pitchFamily="50" charset="-128"/>
              </a:rPr>
              <a:t>今後のマーケティングに必須のチャネル。</a:t>
            </a:r>
            <a:endParaRPr lang="en-US" altLang="ja-JP" sz="1400" dirty="0">
              <a:latin typeface="メイリオ" panose="020B0604030504040204" pitchFamily="50" charset="-128"/>
              <a:ea typeface="メイリオ" panose="020B0604030504040204" pitchFamily="50" charset="-128"/>
            </a:endParaRPr>
          </a:p>
        </p:txBody>
      </p:sp>
      <p:sp>
        <p:nvSpPr>
          <p:cNvPr id="16" name="テキスト ボックス 15">
            <a:extLst>
              <a:ext uri="{FF2B5EF4-FFF2-40B4-BE49-F238E27FC236}">
                <a16:creationId xmlns:a16="http://schemas.microsoft.com/office/drawing/2014/main" id="{BD081E68-EA84-585C-A316-D201FAC9649E}"/>
              </a:ext>
            </a:extLst>
          </p:cNvPr>
          <p:cNvSpPr txBox="1"/>
          <p:nvPr/>
        </p:nvSpPr>
        <p:spPr>
          <a:xfrm>
            <a:off x="463701" y="5262659"/>
            <a:ext cx="4102384" cy="523220"/>
          </a:xfrm>
          <a:prstGeom prst="rect">
            <a:avLst/>
          </a:prstGeom>
          <a:solidFill>
            <a:schemeClr val="bg1">
              <a:alpha val="60000"/>
            </a:schemeClr>
          </a:solidFill>
        </p:spPr>
        <p:txBody>
          <a:bodyPr wrap="square">
            <a:spAutoFit/>
          </a:bodyPr>
          <a:lstStyle/>
          <a:p>
            <a:pPr algn="ctr"/>
            <a:r>
              <a:rPr lang="ja-JP" altLang="en-US" sz="1400" dirty="0">
                <a:solidFill>
                  <a:srgbClr val="FF0000"/>
                </a:solidFill>
                <a:latin typeface="メイリオ" panose="020B0604030504040204" pitchFamily="50" charset="-128"/>
                <a:ea typeface="メイリオ" panose="020B0604030504040204" pitchFamily="50" charset="-128"/>
              </a:rPr>
              <a:t>広告離脱の</a:t>
            </a:r>
            <a:r>
              <a:rPr lang="en-US" altLang="ja-JP" sz="1400" dirty="0">
                <a:solidFill>
                  <a:srgbClr val="FF0000"/>
                </a:solidFill>
                <a:latin typeface="メイリオ" panose="020B0604030504040204" pitchFamily="50" charset="-128"/>
                <a:ea typeface="メイリオ" panose="020B0604030504040204" pitchFamily="50" charset="-128"/>
              </a:rPr>
              <a:t>98%</a:t>
            </a:r>
            <a:r>
              <a:rPr lang="ja-JP" altLang="en-US" sz="1400" dirty="0">
                <a:solidFill>
                  <a:srgbClr val="FF0000"/>
                </a:solidFill>
                <a:latin typeface="メイリオ" panose="020B0604030504040204" pitchFamily="50" charset="-128"/>
                <a:ea typeface="メイリオ" panose="020B0604030504040204" pitchFamily="50" charset="-128"/>
              </a:rPr>
              <a:t>は接触が難しい。</a:t>
            </a:r>
            <a:endParaRPr lang="en-US" altLang="ja-JP" sz="1400" dirty="0">
              <a:solidFill>
                <a:srgbClr val="FF0000"/>
              </a:solidFill>
              <a:latin typeface="メイリオ" panose="020B0604030504040204" pitchFamily="50" charset="-128"/>
              <a:ea typeface="メイリオ" panose="020B0604030504040204" pitchFamily="50" charset="-128"/>
            </a:endParaRPr>
          </a:p>
          <a:p>
            <a:pPr algn="ctr"/>
            <a:r>
              <a:rPr lang="ja-JP" altLang="en-US" sz="1400" b="1" dirty="0">
                <a:solidFill>
                  <a:srgbClr val="FF0000"/>
                </a:solidFill>
                <a:latin typeface="メイリオ" panose="020B0604030504040204" pitchFamily="50" charset="-128"/>
                <a:ea typeface="メイリオ" panose="020B0604030504040204" pitchFamily="50" charset="-128"/>
              </a:rPr>
              <a:t>離脱理由を洗い出し再追客へ</a:t>
            </a:r>
            <a:r>
              <a:rPr lang="ja-JP" altLang="en-US" sz="1400" dirty="0">
                <a:solidFill>
                  <a:srgbClr val="FF0000"/>
                </a:solidFill>
                <a:latin typeface="メイリオ" panose="020B0604030504040204" pitchFamily="50" charset="-128"/>
                <a:ea typeface="メイリオ" panose="020B0604030504040204" pitchFamily="50" charset="-128"/>
              </a:rPr>
              <a:t>乗せる。</a:t>
            </a:r>
            <a:endParaRPr lang="en-US" altLang="ja-JP" sz="1400" dirty="0">
              <a:solidFill>
                <a:srgbClr val="FF0000"/>
              </a:solidFill>
              <a:latin typeface="メイリオ" panose="020B0604030504040204" pitchFamily="50" charset="-128"/>
              <a:ea typeface="メイリオ" panose="020B0604030504040204" pitchFamily="50" charset="-128"/>
            </a:endParaRPr>
          </a:p>
        </p:txBody>
      </p:sp>
      <p:sp>
        <p:nvSpPr>
          <p:cNvPr id="18" name="テキスト ボックス 17">
            <a:extLst>
              <a:ext uri="{FF2B5EF4-FFF2-40B4-BE49-F238E27FC236}">
                <a16:creationId xmlns:a16="http://schemas.microsoft.com/office/drawing/2014/main" id="{F98D4197-216C-A3BE-091A-D32F4A6C7A17}"/>
              </a:ext>
            </a:extLst>
          </p:cNvPr>
          <p:cNvSpPr txBox="1"/>
          <p:nvPr/>
        </p:nvSpPr>
        <p:spPr>
          <a:xfrm>
            <a:off x="5218703" y="5262333"/>
            <a:ext cx="4102384" cy="738664"/>
          </a:xfrm>
          <a:prstGeom prst="rect">
            <a:avLst/>
          </a:prstGeom>
          <a:solidFill>
            <a:schemeClr val="bg1">
              <a:alpha val="60000"/>
            </a:schemeClr>
          </a:solidFill>
        </p:spPr>
        <p:txBody>
          <a:bodyPr wrap="square">
            <a:spAutoFit/>
          </a:bodyPr>
          <a:lstStyle/>
          <a:p>
            <a:pPr algn="ctr"/>
            <a:r>
              <a:rPr lang="ja-JP" altLang="en-US" sz="1400" dirty="0">
                <a:solidFill>
                  <a:srgbClr val="FF0000"/>
                </a:solidFill>
                <a:latin typeface="メイリオ" panose="020B0604030504040204" pitchFamily="50" charset="-128"/>
                <a:ea typeface="メイリオ" panose="020B0604030504040204" pitchFamily="50" charset="-128"/>
              </a:rPr>
              <a:t>成果地点、課金地点には、</a:t>
            </a:r>
            <a:endParaRPr lang="en-US" altLang="ja-JP" sz="1400" dirty="0">
              <a:solidFill>
                <a:srgbClr val="FF0000"/>
              </a:solidFill>
              <a:latin typeface="メイリオ" panose="020B0604030504040204" pitchFamily="50" charset="-128"/>
              <a:ea typeface="メイリオ" panose="020B0604030504040204" pitchFamily="50" charset="-128"/>
            </a:endParaRPr>
          </a:p>
          <a:p>
            <a:pPr algn="ctr"/>
            <a:r>
              <a:rPr lang="en-US" altLang="ja-JP" sz="1400" b="1" dirty="0">
                <a:solidFill>
                  <a:srgbClr val="FF0000"/>
                </a:solidFill>
                <a:latin typeface="メイリオ" panose="020B0604030504040204" pitchFamily="50" charset="-128"/>
                <a:ea typeface="メイリオ" panose="020B0604030504040204" pitchFamily="50" charset="-128"/>
              </a:rPr>
              <a:t>LINE</a:t>
            </a:r>
            <a:r>
              <a:rPr lang="ja-JP" altLang="en-US" sz="1400" b="1" dirty="0">
                <a:solidFill>
                  <a:srgbClr val="FF0000"/>
                </a:solidFill>
                <a:latin typeface="メイリオ" panose="020B0604030504040204" pitchFamily="50" charset="-128"/>
                <a:ea typeface="メイリオ" panose="020B0604030504040204" pitchFamily="50" charset="-128"/>
              </a:rPr>
              <a:t>追加から平均</a:t>
            </a:r>
            <a:r>
              <a:rPr lang="en-US" altLang="ja-JP" sz="1400" b="1" dirty="0">
                <a:solidFill>
                  <a:srgbClr val="FF0000"/>
                </a:solidFill>
                <a:latin typeface="メイリオ" panose="020B0604030504040204" pitchFamily="50" charset="-128"/>
                <a:ea typeface="メイリオ" panose="020B0604030504040204" pitchFamily="50" charset="-128"/>
              </a:rPr>
              <a:t>3%</a:t>
            </a:r>
            <a:r>
              <a:rPr lang="ja-JP" altLang="en-US" sz="1400" b="1" dirty="0">
                <a:solidFill>
                  <a:srgbClr val="FF0000"/>
                </a:solidFill>
                <a:latin typeface="メイリオ" panose="020B0604030504040204" pitchFamily="50" charset="-128"/>
                <a:ea typeface="メイリオ" panose="020B0604030504040204" pitchFamily="50" charset="-128"/>
              </a:rPr>
              <a:t>が到達</a:t>
            </a:r>
            <a:r>
              <a:rPr lang="ja-JP" altLang="en-US" sz="1400" dirty="0">
                <a:solidFill>
                  <a:srgbClr val="FF0000"/>
                </a:solidFill>
                <a:latin typeface="メイリオ" panose="020B0604030504040204" pitchFamily="50" charset="-128"/>
                <a:ea typeface="メイリオ" panose="020B0604030504040204" pitchFamily="50" charset="-128"/>
              </a:rPr>
              <a:t>する。</a:t>
            </a:r>
            <a:endParaRPr lang="en-US" altLang="ja-JP" sz="1400" dirty="0">
              <a:solidFill>
                <a:srgbClr val="FF0000"/>
              </a:solidFill>
              <a:latin typeface="メイリオ" panose="020B0604030504040204" pitchFamily="50" charset="-128"/>
              <a:ea typeface="メイリオ" panose="020B0604030504040204" pitchFamily="50" charset="-128"/>
            </a:endParaRPr>
          </a:p>
          <a:p>
            <a:pPr algn="ctr"/>
            <a:endParaRPr lang="en-US" altLang="ja-JP" sz="1400" dirty="0">
              <a:solidFill>
                <a:srgbClr val="FF0000"/>
              </a:solidFill>
              <a:latin typeface="メイリオ" panose="020B0604030504040204" pitchFamily="50" charset="-128"/>
              <a:ea typeface="メイリオ" panose="020B0604030504040204" pitchFamily="50" charset="-128"/>
            </a:endParaRPr>
          </a:p>
        </p:txBody>
      </p:sp>
      <p:sp>
        <p:nvSpPr>
          <p:cNvPr id="20" name="テキスト ボックス 19">
            <a:extLst>
              <a:ext uri="{FF2B5EF4-FFF2-40B4-BE49-F238E27FC236}">
                <a16:creationId xmlns:a16="http://schemas.microsoft.com/office/drawing/2014/main" id="{87DA217C-F98F-2E58-74CA-39B7014CE382}"/>
              </a:ext>
            </a:extLst>
          </p:cNvPr>
          <p:cNvSpPr txBox="1"/>
          <p:nvPr/>
        </p:nvSpPr>
        <p:spPr>
          <a:xfrm>
            <a:off x="5574695" y="5724686"/>
            <a:ext cx="3390400" cy="230832"/>
          </a:xfrm>
          <a:prstGeom prst="rect">
            <a:avLst/>
          </a:prstGeom>
          <a:noFill/>
        </p:spPr>
        <p:txBody>
          <a:bodyPr wrap="square">
            <a:spAutoFit/>
          </a:bodyPr>
          <a:lstStyle/>
          <a:p>
            <a:pPr algn="ctr"/>
            <a:r>
              <a:rPr lang="ja-JP" altLang="en-US" sz="900" dirty="0">
                <a:solidFill>
                  <a:srgbClr val="FF0000"/>
                </a:solidFill>
                <a:latin typeface="メイリオ" panose="020B0604030504040204" pitchFamily="50" charset="-128"/>
                <a:ea typeface="メイリオ" panose="020B0604030504040204" pitchFamily="50" charset="-128"/>
              </a:rPr>
              <a:t>友だち追加動線により変動します。</a:t>
            </a:r>
            <a:endParaRPr lang="ja-JP" altLang="en-US" sz="1050" dirty="0"/>
          </a:p>
        </p:txBody>
      </p:sp>
    </p:spTree>
    <p:extLst>
      <p:ext uri="{BB962C8B-B14F-4D97-AF65-F5344CB8AC3E}">
        <p14:creationId xmlns:p14="http://schemas.microsoft.com/office/powerpoint/2010/main" val="181905972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5" name="直線コネクタ 4"/>
          <p:cNvCxnSpPr/>
          <p:nvPr/>
        </p:nvCxnSpPr>
        <p:spPr>
          <a:xfrm>
            <a:off x="0" y="548640"/>
            <a:ext cx="9906120" cy="360"/>
          </a:xfrm>
          <a:prstGeom prst="straightConnector1">
            <a:avLst/>
          </a:prstGeom>
          <a:ln>
            <a:solidFill>
              <a:srgbClr val="191F54"/>
            </a:solidFill>
            <a:round/>
          </a:ln>
        </p:spPr>
      </p:cxnSp>
      <p:sp>
        <p:nvSpPr>
          <p:cNvPr id="6" name="正方形/長方形 6"/>
          <p:cNvSpPr/>
          <p:nvPr/>
        </p:nvSpPr>
        <p:spPr>
          <a:xfrm>
            <a:off x="0" y="0"/>
            <a:ext cx="450720" cy="548280"/>
          </a:xfrm>
          <a:prstGeom prst="rect">
            <a:avLst/>
          </a:prstGeom>
          <a:solidFill>
            <a:srgbClr val="191F54"/>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rgbClr val="FFFFFF"/>
              </a:solidFill>
              <a:effectLst/>
              <a:uFillTx/>
              <a:latin typeface="Calibri"/>
            </a:endParaRPr>
          </a:p>
        </p:txBody>
      </p:sp>
      <p:sp>
        <p:nvSpPr>
          <p:cNvPr id="4" name="Google Shape;752;p28">
            <a:extLst>
              <a:ext uri="{FF2B5EF4-FFF2-40B4-BE49-F238E27FC236}">
                <a16:creationId xmlns:a16="http://schemas.microsoft.com/office/drawing/2014/main" id="{E371F4F6-3F93-7830-595E-799AA69EA971}"/>
              </a:ext>
            </a:extLst>
          </p:cNvPr>
          <p:cNvSpPr txBox="1"/>
          <p:nvPr/>
        </p:nvSpPr>
        <p:spPr>
          <a:xfrm>
            <a:off x="549000" y="138240"/>
            <a:ext cx="6276325" cy="338040"/>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実例紹介 </a:t>
            </a:r>
            <a:r>
              <a:rPr lang="en-US" altLang="ja-JP" sz="1600" b="1" dirty="0">
                <a:solidFill>
                  <a:srgbClr val="323366"/>
                </a:solidFill>
                <a:latin typeface="メイリオ" panose="020B0604030504040204" pitchFamily="50" charset="-128"/>
                <a:ea typeface="メイリオ" panose="020B0604030504040204" pitchFamily="50" charset="-128"/>
                <a:cs typeface="Meiryo"/>
                <a:sym typeface="Meiryo"/>
              </a:rPr>
              <a:t>- </a:t>
            </a:r>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弊社実績について</a:t>
            </a:r>
          </a:p>
        </p:txBody>
      </p:sp>
      <p:graphicFrame>
        <p:nvGraphicFramePr>
          <p:cNvPr id="3" name="表 2">
            <a:extLst>
              <a:ext uri="{FF2B5EF4-FFF2-40B4-BE49-F238E27FC236}">
                <a16:creationId xmlns:a16="http://schemas.microsoft.com/office/drawing/2014/main" id="{9A6B81D2-7F85-D98D-ED15-FD61A8068EF9}"/>
              </a:ext>
            </a:extLst>
          </p:cNvPr>
          <p:cNvGraphicFramePr>
            <a:graphicFrameLocks noGrp="1"/>
          </p:cNvGraphicFramePr>
          <p:nvPr/>
        </p:nvGraphicFramePr>
        <p:xfrm>
          <a:off x="381000" y="809625"/>
          <a:ext cx="9191625" cy="5485142"/>
        </p:xfrm>
        <a:graphic>
          <a:graphicData uri="http://schemas.openxmlformats.org/drawingml/2006/table">
            <a:tbl>
              <a:tblPr/>
              <a:tblGrid>
                <a:gridCol w="1819275">
                  <a:extLst>
                    <a:ext uri="{9D8B030D-6E8A-4147-A177-3AD203B41FA5}">
                      <a16:colId xmlns:a16="http://schemas.microsoft.com/office/drawing/2014/main" val="1856077232"/>
                    </a:ext>
                  </a:extLst>
                </a:gridCol>
                <a:gridCol w="828675">
                  <a:extLst>
                    <a:ext uri="{9D8B030D-6E8A-4147-A177-3AD203B41FA5}">
                      <a16:colId xmlns:a16="http://schemas.microsoft.com/office/drawing/2014/main" val="2505763101"/>
                    </a:ext>
                  </a:extLst>
                </a:gridCol>
                <a:gridCol w="2856379">
                  <a:extLst>
                    <a:ext uri="{9D8B030D-6E8A-4147-A177-3AD203B41FA5}">
                      <a16:colId xmlns:a16="http://schemas.microsoft.com/office/drawing/2014/main" val="415261329"/>
                    </a:ext>
                  </a:extLst>
                </a:gridCol>
                <a:gridCol w="3687296">
                  <a:extLst>
                    <a:ext uri="{9D8B030D-6E8A-4147-A177-3AD203B41FA5}">
                      <a16:colId xmlns:a16="http://schemas.microsoft.com/office/drawing/2014/main" val="2991975434"/>
                    </a:ext>
                  </a:extLst>
                </a:gridCol>
              </a:tblGrid>
              <a:tr h="371475">
                <a:tc>
                  <a:txBody>
                    <a:bodyPr/>
                    <a:lstStyle/>
                    <a:p>
                      <a:pPr algn="ctr" fontAlgn="ctr">
                        <a:buNone/>
                      </a:pPr>
                      <a:r>
                        <a:rPr lang="ja-JP" altLang="en-US" sz="1400" b="1" i="0" u="none" strike="noStrike" dirty="0">
                          <a:solidFill>
                            <a:schemeClr val="bg1"/>
                          </a:solidFill>
                          <a:effectLst/>
                          <a:latin typeface="メイリオ" panose="020B0604030504040204" pitchFamily="50" charset="-128"/>
                          <a:ea typeface="メイリオ" panose="020B0604030504040204" pitchFamily="50" charset="-128"/>
                        </a:rPr>
                        <a:t>業界</a:t>
                      </a:r>
                    </a:p>
                  </a:txBody>
                  <a:tcPr marL="6120" marR="6120" marT="61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191F54"/>
                    </a:solidFill>
                  </a:tcPr>
                </a:tc>
                <a:tc>
                  <a:txBody>
                    <a:bodyPr/>
                    <a:lstStyle/>
                    <a:p>
                      <a:pPr algn="ctr" fontAlgn="ctr">
                        <a:buNone/>
                      </a:pPr>
                      <a:r>
                        <a:rPr lang="ja-JP" altLang="en-US" sz="1400" b="1" i="0" u="none" strike="noStrike" dirty="0">
                          <a:solidFill>
                            <a:schemeClr val="bg1"/>
                          </a:solidFill>
                          <a:effectLst/>
                          <a:latin typeface="メイリオ" panose="020B0604030504040204" pitchFamily="50" charset="-128"/>
                          <a:ea typeface="メイリオ" panose="020B0604030504040204" pitchFamily="50" charset="-128"/>
                        </a:rPr>
                        <a:t>運用期間</a:t>
                      </a:r>
                    </a:p>
                  </a:txBody>
                  <a:tcPr marL="6120" marR="6120" marT="61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191F54"/>
                    </a:solidFill>
                  </a:tcPr>
                </a:tc>
                <a:tc>
                  <a:txBody>
                    <a:bodyPr/>
                    <a:lstStyle/>
                    <a:p>
                      <a:pPr algn="ctr" fontAlgn="ctr">
                        <a:buNone/>
                      </a:pPr>
                      <a:r>
                        <a:rPr lang="ja-JP" altLang="en-US" sz="1400" b="1" i="0" u="none" strike="noStrike" dirty="0">
                          <a:solidFill>
                            <a:schemeClr val="bg1"/>
                          </a:solidFill>
                          <a:effectLst/>
                          <a:latin typeface="メイリオ" panose="020B0604030504040204" pitchFamily="50" charset="-128"/>
                          <a:ea typeface="メイリオ" panose="020B0604030504040204" pitchFamily="50" charset="-128"/>
                        </a:rPr>
                        <a:t>施策インパクト</a:t>
                      </a:r>
                    </a:p>
                  </a:txBody>
                  <a:tcPr marL="6120" marR="6120" marT="61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191F54"/>
                    </a:solidFill>
                  </a:tcPr>
                </a:tc>
                <a:tc>
                  <a:txBody>
                    <a:bodyPr/>
                    <a:lstStyle/>
                    <a:p>
                      <a:pPr algn="ctr" fontAlgn="ctr">
                        <a:buNone/>
                      </a:pPr>
                      <a:r>
                        <a:rPr lang="ja-JP" altLang="en-US" sz="1400" b="1" i="0" u="none" strike="noStrike" dirty="0">
                          <a:solidFill>
                            <a:schemeClr val="bg1"/>
                          </a:solidFill>
                          <a:effectLst/>
                          <a:latin typeface="メイリオ" panose="020B0604030504040204" pitchFamily="50" charset="-128"/>
                          <a:ea typeface="メイリオ" panose="020B0604030504040204" pitchFamily="50" charset="-128"/>
                        </a:rPr>
                        <a:t>施策内容</a:t>
                      </a:r>
                    </a:p>
                  </a:txBody>
                  <a:tcPr marL="6120" marR="6120" marT="61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191F54"/>
                    </a:solidFill>
                  </a:tcPr>
                </a:tc>
                <a:extLst>
                  <a:ext uri="{0D108BD9-81ED-4DB2-BD59-A6C34878D82A}">
                    <a16:rowId xmlns:a16="http://schemas.microsoft.com/office/drawing/2014/main" val="369463423"/>
                  </a:ext>
                </a:extLst>
              </a:tr>
              <a:tr h="1028103">
                <a:tc>
                  <a:txBody>
                    <a:bodyPr/>
                    <a:lstStyle/>
                    <a:p>
                      <a:pPr algn="ctr" fontAlgn="ctr">
                        <a:buNone/>
                      </a:pPr>
                      <a:r>
                        <a:rPr lang="ja-JP" altLang="en-US" sz="1200" b="1" i="0" u="none" strike="noStrike" dirty="0">
                          <a:solidFill>
                            <a:srgbClr val="191F54"/>
                          </a:solidFill>
                          <a:effectLst/>
                          <a:latin typeface="メイリオ" panose="020B0604030504040204" pitchFamily="50" charset="-128"/>
                          <a:ea typeface="メイリオ" panose="020B0604030504040204" pitchFamily="50" charset="-128"/>
                        </a:rPr>
                        <a:t>人材</a:t>
                      </a:r>
                      <a:endParaRPr lang="en-US" altLang="ja-JP" sz="1200" b="1" i="0" u="none" strike="noStrike" dirty="0">
                        <a:solidFill>
                          <a:srgbClr val="191F54"/>
                        </a:solidFill>
                        <a:effectLst/>
                        <a:latin typeface="メイリオ" panose="020B0604030504040204" pitchFamily="50" charset="-128"/>
                        <a:ea typeface="メイリオ" panose="020B0604030504040204" pitchFamily="50" charset="-128"/>
                      </a:endParaRPr>
                    </a:p>
                    <a:p>
                      <a:pPr algn="ctr" fontAlgn="ctr">
                        <a:buNone/>
                      </a:pPr>
                      <a:r>
                        <a:rPr lang="ja-JP" altLang="en-US" sz="1200" b="1" i="0" u="none" strike="noStrike" dirty="0">
                          <a:solidFill>
                            <a:srgbClr val="191F54"/>
                          </a:solidFill>
                          <a:effectLst/>
                          <a:latin typeface="メイリオ" panose="020B0604030504040204" pitchFamily="50" charset="-128"/>
                          <a:ea typeface="メイリオ" panose="020B0604030504040204" pitchFamily="50" charset="-128"/>
                        </a:rPr>
                        <a:t>（資格職・専門職転職）</a:t>
                      </a:r>
                    </a:p>
                  </a:txBody>
                  <a:tcPr marL="6120" marR="6120" marT="61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accent1">
                        <a:lumMod val="20000"/>
                        <a:lumOff val="80000"/>
                      </a:schemeClr>
                    </a:solidFill>
                  </a:tcPr>
                </a:tc>
                <a:tc>
                  <a:txBody>
                    <a:bodyPr/>
                    <a:lstStyle/>
                    <a:p>
                      <a:pPr algn="ctr" fontAlgn="ctr">
                        <a:buNone/>
                      </a:pPr>
                      <a:r>
                        <a:rPr lang="en-US" altLang="ja-JP" sz="1100" b="1"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8</a:t>
                      </a:r>
                      <a:r>
                        <a:rPr lang="ja-JP" altLang="en-US" sz="1100" b="1"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ヶ月</a:t>
                      </a:r>
                    </a:p>
                  </a:txBody>
                  <a:tcPr marL="6120" marR="6120" marT="61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marL="88900" indent="0" algn="l" fontAlgn="ctr">
                        <a:lnSpc>
                          <a:spcPct val="100000"/>
                        </a:lnSpc>
                        <a:buNone/>
                      </a:pP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■月間求人応募数</a:t>
                      </a:r>
                      <a: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a:t>
                      </a:r>
                      <a:b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br>
                      <a:r>
                        <a:rPr lang="ja-JP" altLang="en-US" sz="2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　</a:t>
                      </a:r>
                      <a:br>
                        <a:rPr lang="en-US" altLang="ja-JP"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br>
                      <a:r>
                        <a:rPr lang="ja-JP" altLang="en-US"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　</a:t>
                      </a:r>
                      <a:r>
                        <a:rPr lang="en-US" altLang="ja-JP" sz="1600" b="1" i="0" u="none" strike="noStrike" dirty="0">
                          <a:solidFill>
                            <a:srgbClr val="C00000"/>
                          </a:solidFill>
                          <a:effectLst/>
                          <a:latin typeface="メイリオ" panose="020B0604030504040204" pitchFamily="50" charset="-128"/>
                          <a:ea typeface="メイリオ" panose="020B0604030504040204" pitchFamily="50" charset="-128"/>
                        </a:rPr>
                        <a:t>2</a:t>
                      </a:r>
                      <a:r>
                        <a:rPr lang="ja-JP" altLang="en-US" sz="1600" b="1" i="0" u="none" strike="noStrike" dirty="0">
                          <a:solidFill>
                            <a:srgbClr val="C00000"/>
                          </a:solidFill>
                          <a:effectLst/>
                          <a:latin typeface="メイリオ" panose="020B0604030504040204" pitchFamily="50" charset="-128"/>
                          <a:ea typeface="メイリオ" panose="020B0604030504040204" pitchFamily="50" charset="-128"/>
                        </a:rPr>
                        <a:t>倍</a:t>
                      </a: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a:t>
                      </a:r>
                      <a: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2</a:t>
                      </a: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件</a:t>
                      </a:r>
                      <a: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 → 4</a:t>
                      </a: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件）</a:t>
                      </a:r>
                      <a:br>
                        <a:rPr lang="en-US" altLang="ja-JP" sz="18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br>
                      <a:r>
                        <a:rPr lang="ja-JP" altLang="en-US" sz="4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　</a:t>
                      </a:r>
                      <a:br>
                        <a:rPr lang="ja-JP" altLang="en-US"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b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a:t>
                      </a:r>
                      <a: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CPA</a:t>
                      </a: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換算</a:t>
                      </a:r>
                      <a: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 </a:t>
                      </a:r>
                      <a:b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br>
                      <a:r>
                        <a:rPr lang="ja-JP" altLang="en-US" sz="2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　</a:t>
                      </a:r>
                      <a:br>
                        <a:rPr lang="en-US" altLang="ja-JP"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br>
                      <a:r>
                        <a:rPr lang="ja-JP" altLang="en-US"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　</a:t>
                      </a:r>
                      <a:r>
                        <a:rPr lang="en-US" altLang="ja-JP" sz="1600" b="1" i="0" u="none" strike="noStrike" dirty="0">
                          <a:solidFill>
                            <a:srgbClr val="C00000"/>
                          </a:solidFill>
                          <a:effectLst/>
                          <a:latin typeface="メイリオ" panose="020B0604030504040204" pitchFamily="50" charset="-128"/>
                          <a:ea typeface="メイリオ" panose="020B0604030504040204" pitchFamily="50" charset="-128"/>
                        </a:rPr>
                        <a:t>30</a:t>
                      </a:r>
                      <a:r>
                        <a:rPr lang="ja-JP" altLang="en-US" sz="1600" b="1" i="0" u="none" strike="noStrike" dirty="0">
                          <a:solidFill>
                            <a:srgbClr val="C00000"/>
                          </a:solidFill>
                          <a:effectLst/>
                          <a:latin typeface="メイリオ" panose="020B0604030504040204" pitchFamily="50" charset="-128"/>
                          <a:ea typeface="メイリオ" panose="020B0604030504040204" pitchFamily="50" charset="-128"/>
                        </a:rPr>
                        <a:t>％改善</a:t>
                      </a: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a:t>
                      </a:r>
                      <a: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¥145,000 → ¥102,000</a:t>
                      </a: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a:t>
                      </a:r>
                      <a:endParaRPr lang="en-US" altLang="ja-JP"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endParaRPr>
                    </a:p>
                  </a:txBody>
                  <a:tcPr marL="6120" marR="6120" marT="61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marL="88900" indent="0" algn="l" fontAlgn="ctr">
                        <a:buNone/>
                      </a:pPr>
                      <a:r>
                        <a:rPr lang="ja-JP" altLang="en-US"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・アンケートによる</a:t>
                      </a:r>
                      <a:r>
                        <a:rPr lang="ja-JP" altLang="en-US" sz="1200" b="1" i="0" u="sng" strike="noStrike" dirty="0">
                          <a:solidFill>
                            <a:srgbClr val="C00000"/>
                          </a:solidFill>
                          <a:effectLst/>
                          <a:latin typeface="メイリオ" panose="020B0604030504040204" pitchFamily="50" charset="-128"/>
                          <a:ea typeface="メイリオ" panose="020B0604030504040204" pitchFamily="50" charset="-128"/>
                        </a:rPr>
                        <a:t>ユーザーセグメントの取得</a:t>
                      </a:r>
                      <a:br>
                        <a:rPr lang="en-US" altLang="ja-JP" sz="1200" b="1" i="0" u="sng" strike="noStrike" dirty="0">
                          <a:solidFill>
                            <a:srgbClr val="C00000"/>
                          </a:solidFill>
                          <a:effectLst/>
                          <a:latin typeface="メイリオ" panose="020B0604030504040204" pitchFamily="50" charset="-128"/>
                          <a:ea typeface="メイリオ" panose="020B0604030504040204" pitchFamily="50" charset="-128"/>
                        </a:rPr>
                      </a:br>
                      <a:r>
                        <a:rPr lang="ja-JP" altLang="en-US" sz="400" b="1" i="0" u="sng" strike="noStrike" dirty="0">
                          <a:solidFill>
                            <a:srgbClr val="C00000"/>
                          </a:solidFill>
                          <a:effectLst/>
                          <a:latin typeface="メイリオ" panose="020B0604030504040204" pitchFamily="50" charset="-128"/>
                          <a:ea typeface="メイリオ" panose="020B0604030504040204" pitchFamily="50" charset="-128"/>
                        </a:rPr>
                        <a:t>　</a:t>
                      </a:r>
                      <a:br>
                        <a:rPr lang="ja-JP" altLang="en-US"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br>
                      <a:r>
                        <a:rPr lang="ja-JP" altLang="en-US"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・セグメント配信による</a:t>
                      </a:r>
                      <a:r>
                        <a:rPr lang="ja-JP" altLang="en-US" sz="1200" b="1" i="0" u="sng" strike="noStrike" dirty="0">
                          <a:solidFill>
                            <a:srgbClr val="C00000"/>
                          </a:solidFill>
                          <a:effectLst/>
                          <a:latin typeface="メイリオ" panose="020B0604030504040204" pitchFamily="50" charset="-128"/>
                          <a:ea typeface="メイリオ" panose="020B0604030504040204" pitchFamily="50" charset="-128"/>
                        </a:rPr>
                        <a:t>パーソナライズされた追客</a:t>
                      </a:r>
                      <a:endParaRPr lang="ja-JP" altLang="en-US" sz="1100" b="1" i="0" u="sng" strike="noStrike" dirty="0">
                        <a:solidFill>
                          <a:srgbClr val="C00000"/>
                        </a:solidFill>
                        <a:effectLst/>
                        <a:latin typeface="メイリオ" panose="020B0604030504040204" pitchFamily="50" charset="-128"/>
                        <a:ea typeface="メイリオ" panose="020B0604030504040204" pitchFamily="50" charset="-128"/>
                      </a:endParaRPr>
                    </a:p>
                  </a:txBody>
                  <a:tcPr marL="6120" marR="6120" marT="61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1534378025"/>
                  </a:ext>
                </a:extLst>
              </a:tr>
              <a:tr h="1021391">
                <a:tc>
                  <a:txBody>
                    <a:bodyPr/>
                    <a:lstStyle/>
                    <a:p>
                      <a:pPr algn="ctr" fontAlgn="ctr">
                        <a:buNone/>
                      </a:pPr>
                      <a:r>
                        <a:rPr lang="ja-JP" altLang="en-US" sz="1200" b="1" i="0" u="none" strike="noStrike" dirty="0">
                          <a:solidFill>
                            <a:srgbClr val="191F54"/>
                          </a:solidFill>
                          <a:effectLst/>
                          <a:latin typeface="メイリオ" panose="020B0604030504040204" pitchFamily="50" charset="-128"/>
                          <a:ea typeface="メイリオ" panose="020B0604030504040204" pitchFamily="50" charset="-128"/>
                        </a:rPr>
                        <a:t>不動産</a:t>
                      </a:r>
                      <a:endParaRPr lang="en-US" altLang="ja-JP" sz="1200" b="1" i="0" u="none" strike="noStrike" dirty="0">
                        <a:solidFill>
                          <a:srgbClr val="191F54"/>
                        </a:solidFill>
                        <a:effectLst/>
                        <a:latin typeface="メイリオ" panose="020B0604030504040204" pitchFamily="50" charset="-128"/>
                        <a:ea typeface="メイリオ" panose="020B0604030504040204" pitchFamily="50" charset="-128"/>
                      </a:endParaRPr>
                    </a:p>
                    <a:p>
                      <a:pPr algn="ctr" fontAlgn="ctr">
                        <a:buNone/>
                      </a:pPr>
                      <a:r>
                        <a:rPr lang="ja-JP" altLang="en-US" sz="1200" b="1" i="0" u="none" strike="noStrike" dirty="0">
                          <a:solidFill>
                            <a:srgbClr val="191F54"/>
                          </a:solidFill>
                          <a:effectLst/>
                          <a:latin typeface="メイリオ" panose="020B0604030504040204" pitchFamily="50" charset="-128"/>
                          <a:ea typeface="メイリオ" panose="020B0604030504040204" pitchFamily="50" charset="-128"/>
                        </a:rPr>
                        <a:t>（住宅メーカー）</a:t>
                      </a:r>
                    </a:p>
                  </a:txBody>
                  <a:tcPr marL="6120" marR="6120" marT="61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accent1">
                        <a:lumMod val="20000"/>
                        <a:lumOff val="80000"/>
                      </a:schemeClr>
                    </a:solidFill>
                  </a:tcPr>
                </a:tc>
                <a:tc>
                  <a:txBody>
                    <a:bodyPr/>
                    <a:lstStyle/>
                    <a:p>
                      <a:pPr algn="ctr" fontAlgn="ctr">
                        <a:buNone/>
                      </a:pPr>
                      <a:r>
                        <a:rPr lang="en-US" altLang="ja-JP" sz="1100" b="1"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10</a:t>
                      </a:r>
                      <a:r>
                        <a:rPr lang="ja-JP" altLang="en-US" sz="1100" b="1"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ヶ月</a:t>
                      </a:r>
                    </a:p>
                  </a:txBody>
                  <a:tcPr marL="6120" marR="6120" marT="61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marL="88900" indent="0" algn="l" fontAlgn="ctr">
                        <a:lnSpc>
                          <a:spcPct val="100000"/>
                        </a:lnSpc>
                        <a:buNone/>
                      </a:pP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■月間来場・資料請求件数</a:t>
                      </a:r>
                      <a: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a:t>
                      </a:r>
                    </a:p>
                    <a:p>
                      <a:pPr marL="88900" indent="0" algn="l" fontAlgn="ctr">
                        <a:lnSpc>
                          <a:spcPct val="100000"/>
                        </a:lnSpc>
                        <a:buNone/>
                      </a:pPr>
                      <a:r>
                        <a:rPr lang="ja-JP" altLang="en-US" sz="2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　</a:t>
                      </a:r>
                      <a:endParaRPr lang="en-US" altLang="ja-JP" sz="2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endParaRPr>
                    </a:p>
                    <a:p>
                      <a:pPr marL="88900" indent="0" algn="l" fontAlgn="ctr">
                        <a:lnSpc>
                          <a:spcPct val="100000"/>
                        </a:lnSpc>
                        <a:buNone/>
                      </a:pPr>
                      <a:r>
                        <a:rPr lang="ja-JP" altLang="en-US"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　</a:t>
                      </a:r>
                      <a:r>
                        <a:rPr lang="en-US" altLang="ja-JP" sz="1600" b="1" i="0" u="none" strike="noStrike" dirty="0">
                          <a:solidFill>
                            <a:srgbClr val="C00000"/>
                          </a:solidFill>
                          <a:effectLst/>
                          <a:latin typeface="メイリオ" panose="020B0604030504040204" pitchFamily="50" charset="-128"/>
                          <a:ea typeface="メイリオ" panose="020B0604030504040204" pitchFamily="50" charset="-128"/>
                        </a:rPr>
                        <a:t>12</a:t>
                      </a:r>
                      <a:r>
                        <a:rPr lang="ja-JP" altLang="en-US" sz="1600" b="1" i="0" u="none" strike="noStrike" dirty="0">
                          <a:solidFill>
                            <a:srgbClr val="C00000"/>
                          </a:solidFill>
                          <a:effectLst/>
                          <a:latin typeface="メイリオ" panose="020B0604030504040204" pitchFamily="50" charset="-128"/>
                          <a:ea typeface="メイリオ" panose="020B0604030504040204" pitchFamily="50" charset="-128"/>
                        </a:rPr>
                        <a:t>倍</a:t>
                      </a: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a:t>
                      </a:r>
                      <a: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5</a:t>
                      </a: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件 → </a:t>
                      </a:r>
                      <a: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60</a:t>
                      </a: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件）</a:t>
                      </a:r>
                      <a:endPar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endParaRPr>
                    </a:p>
                    <a:p>
                      <a:pPr marL="88900" indent="0" algn="l" fontAlgn="ctr">
                        <a:lnSpc>
                          <a:spcPct val="100000"/>
                        </a:lnSpc>
                        <a:buNone/>
                      </a:pPr>
                      <a:r>
                        <a:rPr lang="ja-JP" altLang="en-US" sz="4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　</a:t>
                      </a:r>
                      <a:b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b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a:t>
                      </a:r>
                      <a: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CPA</a:t>
                      </a: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換算</a:t>
                      </a:r>
                      <a: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 </a:t>
                      </a:r>
                    </a:p>
                    <a:p>
                      <a:pPr marL="88900" indent="0" algn="l" fontAlgn="ctr">
                        <a:lnSpc>
                          <a:spcPct val="100000"/>
                        </a:lnSpc>
                        <a:buNone/>
                      </a:pPr>
                      <a:r>
                        <a:rPr lang="ja-JP" altLang="en-US" sz="2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　</a:t>
                      </a:r>
                      <a:b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br>
                      <a:r>
                        <a:rPr lang="ja-JP" altLang="en-US"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　</a:t>
                      </a:r>
                      <a:r>
                        <a:rPr lang="en-US" altLang="ja-JP" sz="1600" b="1" i="0" u="none" strike="noStrike" dirty="0">
                          <a:solidFill>
                            <a:srgbClr val="C00000"/>
                          </a:solidFill>
                          <a:effectLst/>
                          <a:latin typeface="メイリオ" panose="020B0604030504040204" pitchFamily="50" charset="-128"/>
                          <a:ea typeface="メイリオ" panose="020B0604030504040204" pitchFamily="50" charset="-128"/>
                        </a:rPr>
                        <a:t>92</a:t>
                      </a:r>
                      <a:r>
                        <a:rPr lang="ja-JP" altLang="en-US" sz="1600" b="1" i="0" u="none" strike="noStrike" dirty="0">
                          <a:solidFill>
                            <a:srgbClr val="C00000"/>
                          </a:solidFill>
                          <a:effectLst/>
                          <a:latin typeface="メイリオ" panose="020B0604030504040204" pitchFamily="50" charset="-128"/>
                          <a:ea typeface="メイリオ" panose="020B0604030504040204" pitchFamily="50" charset="-128"/>
                        </a:rPr>
                        <a:t>％改善</a:t>
                      </a: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a:t>
                      </a:r>
                      <a: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¥150,000 → ¥12,500</a:t>
                      </a: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a:t>
                      </a:r>
                      <a:endPar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endParaRPr>
                    </a:p>
                  </a:txBody>
                  <a:tcPr marL="6120" marR="6120" marT="61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marL="88900" indent="0" algn="l" fontAlgn="ctr">
                        <a:buNone/>
                      </a:pPr>
                      <a:r>
                        <a:rPr lang="ja-JP" altLang="en-US"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a:t>
                      </a:r>
                      <a:r>
                        <a:rPr lang="ja-JP" altLang="en-US" sz="1200" b="1" i="0" u="sng" strike="noStrike" dirty="0">
                          <a:solidFill>
                            <a:srgbClr val="C00000"/>
                          </a:solidFill>
                          <a:effectLst/>
                          <a:latin typeface="メイリオ" panose="020B0604030504040204" pitchFamily="50" charset="-128"/>
                          <a:ea typeface="メイリオ" panose="020B0604030504040204" pitchFamily="50" charset="-128"/>
                        </a:rPr>
                        <a:t>離脱防止バナー</a:t>
                      </a:r>
                      <a:r>
                        <a:rPr lang="ja-JP" altLang="en-US"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による友だち増加促進</a:t>
                      </a:r>
                      <a:br>
                        <a:rPr lang="en-US" altLang="ja-JP"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br>
                      <a:r>
                        <a:rPr lang="ja-JP" altLang="en-US" sz="4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　</a:t>
                      </a:r>
                      <a:br>
                        <a:rPr lang="ja-JP" altLang="en-US"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br>
                      <a:r>
                        <a:rPr lang="ja-JP" altLang="en-US"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a:t>
                      </a:r>
                      <a:r>
                        <a:rPr lang="ja-JP" altLang="en-US" sz="1200" b="1" i="0" u="sng" strike="noStrike" dirty="0">
                          <a:solidFill>
                            <a:srgbClr val="C00000"/>
                          </a:solidFill>
                          <a:effectLst/>
                          <a:latin typeface="メイリオ" panose="020B0604030504040204" pitchFamily="50" charset="-128"/>
                          <a:ea typeface="メイリオ" panose="020B0604030504040204" pitchFamily="50" charset="-128"/>
                        </a:rPr>
                        <a:t>ペルソナに合わせた動線・クリエイティブ</a:t>
                      </a:r>
                      <a:r>
                        <a:rPr lang="ja-JP" altLang="en-US"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の設計</a:t>
                      </a:r>
                    </a:p>
                  </a:txBody>
                  <a:tcPr marL="6120" marR="6120" marT="61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2409117311"/>
                  </a:ext>
                </a:extLst>
              </a:tr>
              <a:tr h="1021391">
                <a:tc>
                  <a:txBody>
                    <a:bodyPr/>
                    <a:lstStyle/>
                    <a:p>
                      <a:pPr algn="ctr" fontAlgn="ctr">
                        <a:buNone/>
                      </a:pPr>
                      <a:r>
                        <a:rPr lang="en-US" sz="1200" b="1" i="0" u="none" strike="noStrike" dirty="0">
                          <a:solidFill>
                            <a:srgbClr val="191F54"/>
                          </a:solidFill>
                          <a:effectLst/>
                          <a:latin typeface="メイリオ" panose="020B0604030504040204" pitchFamily="50" charset="-128"/>
                          <a:ea typeface="メイリオ" panose="020B0604030504040204" pitchFamily="50" charset="-128"/>
                        </a:rPr>
                        <a:t>EC</a:t>
                      </a:r>
                    </a:p>
                    <a:p>
                      <a:pPr algn="ctr" fontAlgn="ctr">
                        <a:buNone/>
                      </a:pPr>
                      <a:r>
                        <a:rPr lang="en-US" sz="1200" b="1" i="0" u="none" strike="noStrike" dirty="0">
                          <a:solidFill>
                            <a:srgbClr val="191F54"/>
                          </a:solidFill>
                          <a:effectLst/>
                          <a:latin typeface="メイリオ" panose="020B0604030504040204" pitchFamily="50" charset="-128"/>
                          <a:ea typeface="メイリオ" panose="020B0604030504040204" pitchFamily="50" charset="-128"/>
                        </a:rPr>
                        <a:t>（</a:t>
                      </a:r>
                      <a:r>
                        <a:rPr lang="ja-JP" altLang="en-US" sz="1200" b="1" i="0" u="none" strike="noStrike" dirty="0">
                          <a:solidFill>
                            <a:srgbClr val="191F54"/>
                          </a:solidFill>
                          <a:effectLst/>
                          <a:latin typeface="メイリオ" panose="020B0604030504040204" pitchFamily="50" charset="-128"/>
                          <a:ea typeface="メイリオ" panose="020B0604030504040204" pitchFamily="50" charset="-128"/>
                        </a:rPr>
                        <a:t>総合</a:t>
                      </a:r>
                      <a:r>
                        <a:rPr lang="en-US" sz="1200" b="1" i="0" u="none" strike="noStrike" dirty="0">
                          <a:solidFill>
                            <a:srgbClr val="191F54"/>
                          </a:solidFill>
                          <a:effectLst/>
                          <a:latin typeface="メイリオ" panose="020B0604030504040204" pitchFamily="50" charset="-128"/>
                          <a:ea typeface="メイリオ" panose="020B0604030504040204" pitchFamily="50" charset="-128"/>
                        </a:rPr>
                        <a:t>EC）</a:t>
                      </a:r>
                    </a:p>
                  </a:txBody>
                  <a:tcPr marL="6120" marR="6120" marT="61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accent1">
                        <a:lumMod val="20000"/>
                        <a:lumOff val="80000"/>
                      </a:schemeClr>
                    </a:solidFill>
                  </a:tcPr>
                </a:tc>
                <a:tc>
                  <a:txBody>
                    <a:bodyPr/>
                    <a:lstStyle/>
                    <a:p>
                      <a:pPr algn="ctr" fontAlgn="ctr">
                        <a:buNone/>
                      </a:pPr>
                      <a:r>
                        <a:rPr lang="en-US" altLang="ja-JP" sz="1100" b="1"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1</a:t>
                      </a:r>
                      <a:r>
                        <a:rPr lang="ja-JP" altLang="en-US" sz="1100" b="1"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年</a:t>
                      </a:r>
                      <a:r>
                        <a:rPr lang="en-US" altLang="ja-JP" sz="1100" b="1"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8</a:t>
                      </a:r>
                      <a:r>
                        <a:rPr lang="ja-JP" altLang="en-US" sz="1100" b="1"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ヶ月</a:t>
                      </a:r>
                    </a:p>
                  </a:txBody>
                  <a:tcPr marL="6120" marR="6120" marT="61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marL="88900" indent="0" algn="l" fontAlgn="ctr">
                        <a:lnSpc>
                          <a:spcPct val="100000"/>
                        </a:lnSpc>
                        <a:buNone/>
                      </a:pP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■月間</a:t>
                      </a:r>
                      <a: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CV</a:t>
                      </a: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件数</a:t>
                      </a:r>
                      <a: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a:t>
                      </a:r>
                    </a:p>
                    <a:p>
                      <a:pPr marL="88900" indent="0" algn="l" fontAlgn="ctr">
                        <a:lnSpc>
                          <a:spcPct val="100000"/>
                        </a:lnSpc>
                        <a:buNone/>
                      </a:pPr>
                      <a:r>
                        <a:rPr lang="ja-JP" altLang="en-US" sz="2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　</a:t>
                      </a:r>
                      <a:endParaRPr lang="en-US" altLang="ja-JP" sz="2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endParaRPr>
                    </a:p>
                    <a:p>
                      <a:pPr marL="88900" indent="0" algn="l" fontAlgn="ctr">
                        <a:lnSpc>
                          <a:spcPct val="100000"/>
                        </a:lnSpc>
                        <a:buNone/>
                      </a:pPr>
                      <a:r>
                        <a:rPr lang="ja-JP" altLang="en-US"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　</a:t>
                      </a:r>
                      <a:r>
                        <a:rPr lang="en-US" altLang="ja-JP" sz="1600" b="1" i="0" u="none" strike="noStrike" dirty="0">
                          <a:solidFill>
                            <a:srgbClr val="C00000"/>
                          </a:solidFill>
                          <a:effectLst/>
                          <a:latin typeface="メイリオ" panose="020B0604030504040204" pitchFamily="50" charset="-128"/>
                          <a:ea typeface="メイリオ" panose="020B0604030504040204" pitchFamily="50" charset="-128"/>
                        </a:rPr>
                        <a:t>4.3</a:t>
                      </a:r>
                      <a:r>
                        <a:rPr lang="ja-JP" altLang="en-US" sz="1600" b="1" i="0" u="none" strike="noStrike" dirty="0">
                          <a:solidFill>
                            <a:srgbClr val="C00000"/>
                          </a:solidFill>
                          <a:effectLst/>
                          <a:latin typeface="メイリオ" panose="020B0604030504040204" pitchFamily="50" charset="-128"/>
                          <a:ea typeface="メイリオ" panose="020B0604030504040204" pitchFamily="50" charset="-128"/>
                        </a:rPr>
                        <a:t>倍</a:t>
                      </a: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a:t>
                      </a:r>
                      <a: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120</a:t>
                      </a: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件 → </a:t>
                      </a:r>
                      <a: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520</a:t>
                      </a: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件）</a:t>
                      </a:r>
                      <a:endPar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endParaRPr>
                    </a:p>
                    <a:p>
                      <a:pPr marL="88900" indent="0" algn="l" fontAlgn="ctr">
                        <a:lnSpc>
                          <a:spcPct val="100000"/>
                        </a:lnSpc>
                        <a:buNone/>
                      </a:pPr>
                      <a:r>
                        <a:rPr lang="ja-JP" altLang="en-US" sz="4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　</a:t>
                      </a:r>
                      <a:b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b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a:t>
                      </a:r>
                      <a: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ROAS</a:t>
                      </a: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換算</a:t>
                      </a:r>
                      <a: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 </a:t>
                      </a:r>
                    </a:p>
                    <a:p>
                      <a:pPr marL="88900" indent="0" algn="l" fontAlgn="ctr">
                        <a:lnSpc>
                          <a:spcPct val="100000"/>
                        </a:lnSpc>
                        <a:buNone/>
                      </a:pPr>
                      <a:r>
                        <a:rPr lang="ja-JP" altLang="en-US" sz="2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　</a:t>
                      </a:r>
                      <a:b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br>
                      <a:r>
                        <a:rPr lang="ja-JP" altLang="en-US"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　</a:t>
                      </a:r>
                      <a:r>
                        <a:rPr lang="en-US" altLang="ja-JP" sz="1600" b="1" i="0" u="none" strike="noStrike" dirty="0">
                          <a:solidFill>
                            <a:srgbClr val="C00000"/>
                          </a:solidFill>
                          <a:effectLst/>
                          <a:latin typeface="メイリオ" panose="020B0604030504040204" pitchFamily="50" charset="-128"/>
                          <a:ea typeface="メイリオ" panose="020B0604030504040204" pitchFamily="50" charset="-128"/>
                        </a:rPr>
                        <a:t>92</a:t>
                      </a:r>
                      <a:r>
                        <a:rPr lang="ja-JP" altLang="en-US" sz="1600" b="1" i="0" u="none" strike="noStrike" dirty="0">
                          <a:solidFill>
                            <a:srgbClr val="C00000"/>
                          </a:solidFill>
                          <a:effectLst/>
                          <a:latin typeface="メイリオ" panose="020B0604030504040204" pitchFamily="50" charset="-128"/>
                          <a:ea typeface="メイリオ" panose="020B0604030504040204" pitchFamily="50" charset="-128"/>
                        </a:rPr>
                        <a:t>％改善</a:t>
                      </a: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a:t>
                      </a:r>
                      <a: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¥150,000 → ¥12,500</a:t>
                      </a: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a:t>
                      </a:r>
                      <a:endPar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endParaRPr>
                    </a:p>
                  </a:txBody>
                  <a:tcPr marL="6120" marR="6120" marT="61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marL="88900" indent="0" algn="l" fontAlgn="ctr">
                        <a:buNone/>
                      </a:pPr>
                      <a:r>
                        <a:rPr lang="ja-JP" altLang="en-US"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a:t>
                      </a:r>
                      <a:r>
                        <a:rPr lang="ja-JP" altLang="en-US" sz="1200" b="1" i="0" u="sng" strike="noStrike" dirty="0">
                          <a:solidFill>
                            <a:srgbClr val="C00000"/>
                          </a:solidFill>
                          <a:effectLst/>
                          <a:latin typeface="メイリオ" panose="020B0604030504040204" pitchFamily="50" charset="-128"/>
                          <a:ea typeface="メイリオ" panose="020B0604030504040204" pitchFamily="50" charset="-128"/>
                        </a:rPr>
                        <a:t>離脱防止バナーと</a:t>
                      </a:r>
                      <a:r>
                        <a:rPr lang="en-US" altLang="ja-JP" sz="1200" b="1" i="0" u="sng" strike="noStrike" dirty="0">
                          <a:solidFill>
                            <a:srgbClr val="C00000"/>
                          </a:solidFill>
                          <a:effectLst/>
                          <a:latin typeface="メイリオ" panose="020B0604030504040204" pitchFamily="50" charset="-128"/>
                          <a:ea typeface="メイリオ" panose="020B0604030504040204" pitchFamily="50" charset="-128"/>
                        </a:rPr>
                        <a:t>CPF</a:t>
                      </a:r>
                      <a:r>
                        <a:rPr lang="ja-JP" altLang="en-US"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を活用した友だち増加</a:t>
                      </a:r>
                      <a:br>
                        <a:rPr lang="en-US" altLang="ja-JP"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br>
                      <a:r>
                        <a:rPr lang="ja-JP" altLang="en-US" sz="4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　</a:t>
                      </a:r>
                      <a:br>
                        <a:rPr lang="ja-JP" altLang="en-US"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br>
                      <a:r>
                        <a:rPr lang="ja-JP" altLang="en-US"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・アンケートを実施し、</a:t>
                      </a:r>
                      <a:r>
                        <a:rPr lang="ja-JP" altLang="en-US" sz="1200" b="1" i="0" u="sng" strike="noStrike" dirty="0">
                          <a:solidFill>
                            <a:srgbClr val="C00000"/>
                          </a:solidFill>
                          <a:effectLst/>
                          <a:latin typeface="メイリオ" panose="020B0604030504040204" pitchFamily="50" charset="-128"/>
                          <a:ea typeface="メイリオ" panose="020B0604030504040204" pitchFamily="50" charset="-128"/>
                        </a:rPr>
                        <a:t>カゴ落ちユーザーを中心に</a:t>
                      </a:r>
                      <a:br>
                        <a:rPr lang="ja-JP" altLang="en-US" sz="1200" b="1" i="0" u="sng" strike="noStrike" dirty="0">
                          <a:solidFill>
                            <a:srgbClr val="C00000"/>
                          </a:solidFill>
                          <a:effectLst/>
                          <a:latin typeface="メイリオ" panose="020B0604030504040204" pitchFamily="50" charset="-128"/>
                          <a:ea typeface="メイリオ" panose="020B0604030504040204" pitchFamily="50" charset="-128"/>
                        </a:rPr>
                      </a:br>
                      <a:r>
                        <a:rPr lang="ja-JP" altLang="en-US" sz="1200" b="0" i="0" u="none" strike="noStrike" dirty="0">
                          <a:solidFill>
                            <a:srgbClr val="C00000"/>
                          </a:solidFill>
                          <a:effectLst/>
                          <a:latin typeface="メイリオ" panose="020B0604030504040204" pitchFamily="50" charset="-128"/>
                          <a:ea typeface="メイリオ" panose="020B0604030504040204" pitchFamily="50" charset="-128"/>
                        </a:rPr>
                        <a:t>　</a:t>
                      </a:r>
                      <a:r>
                        <a:rPr lang="ja-JP" altLang="en-US" sz="1200" b="1" i="0" u="sng" strike="noStrike" dirty="0">
                          <a:solidFill>
                            <a:srgbClr val="C00000"/>
                          </a:solidFill>
                          <a:effectLst/>
                          <a:latin typeface="メイリオ" panose="020B0604030504040204" pitchFamily="50" charset="-128"/>
                          <a:ea typeface="メイリオ" panose="020B0604030504040204" pitchFamily="50" charset="-128"/>
                        </a:rPr>
                        <a:t>期間限定商品・高単価商品の情報を配信</a:t>
                      </a:r>
                      <a:endParaRPr lang="ja-JP" altLang="en-US" sz="1100" b="1" i="0" u="sng" strike="noStrike" dirty="0">
                        <a:solidFill>
                          <a:srgbClr val="C00000"/>
                        </a:solidFill>
                        <a:effectLst/>
                        <a:latin typeface="メイリオ" panose="020B0604030504040204" pitchFamily="50" charset="-128"/>
                        <a:ea typeface="メイリオ" panose="020B0604030504040204" pitchFamily="50" charset="-128"/>
                      </a:endParaRPr>
                    </a:p>
                  </a:txBody>
                  <a:tcPr marL="6120" marR="6120" marT="61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603009258"/>
                  </a:ext>
                </a:extLst>
              </a:tr>
              <a:tr h="1021391">
                <a:tc>
                  <a:txBody>
                    <a:bodyPr/>
                    <a:lstStyle/>
                    <a:p>
                      <a:pPr algn="ctr" fontAlgn="ctr">
                        <a:buNone/>
                      </a:pPr>
                      <a:r>
                        <a:rPr lang="ja-JP" altLang="en-US" sz="1200" b="1" i="0" u="none" strike="noStrike" dirty="0">
                          <a:solidFill>
                            <a:srgbClr val="191F54"/>
                          </a:solidFill>
                          <a:effectLst/>
                          <a:latin typeface="メイリオ" panose="020B0604030504040204" pitchFamily="50" charset="-128"/>
                          <a:ea typeface="メイリオ" panose="020B0604030504040204" pitchFamily="50" charset="-128"/>
                        </a:rPr>
                        <a:t>美容クリニック</a:t>
                      </a:r>
                      <a:endParaRPr lang="en-US" altLang="ja-JP" sz="1200" b="1" i="0" u="none" strike="noStrike" dirty="0">
                        <a:solidFill>
                          <a:srgbClr val="191F54"/>
                        </a:solidFill>
                        <a:effectLst/>
                        <a:latin typeface="メイリオ" panose="020B0604030504040204" pitchFamily="50" charset="-128"/>
                        <a:ea typeface="メイリオ" panose="020B0604030504040204" pitchFamily="50" charset="-128"/>
                      </a:endParaRPr>
                    </a:p>
                    <a:p>
                      <a:pPr algn="ctr" fontAlgn="ctr">
                        <a:buNone/>
                      </a:pPr>
                      <a:r>
                        <a:rPr lang="ja-JP" altLang="en-US" sz="1200" b="1" i="0" u="none" strike="noStrike" dirty="0">
                          <a:solidFill>
                            <a:srgbClr val="191F54"/>
                          </a:solidFill>
                          <a:effectLst/>
                          <a:latin typeface="メイリオ" panose="020B0604030504040204" pitchFamily="50" charset="-128"/>
                          <a:ea typeface="メイリオ" panose="020B0604030504040204" pitchFamily="50" charset="-128"/>
                        </a:rPr>
                        <a:t>（美肌治療）</a:t>
                      </a:r>
                    </a:p>
                  </a:txBody>
                  <a:tcPr marL="6120" marR="6120" marT="61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accent1">
                        <a:lumMod val="20000"/>
                        <a:lumOff val="80000"/>
                      </a:schemeClr>
                    </a:solidFill>
                  </a:tcPr>
                </a:tc>
                <a:tc>
                  <a:txBody>
                    <a:bodyPr/>
                    <a:lstStyle/>
                    <a:p>
                      <a:pPr algn="ctr" fontAlgn="ctr">
                        <a:buNone/>
                      </a:pPr>
                      <a:r>
                        <a:rPr lang="en-US" altLang="ja-JP" sz="1100" b="1"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1</a:t>
                      </a:r>
                      <a:r>
                        <a:rPr lang="ja-JP" altLang="en-US" sz="1100" b="1" i="0" u="none" strike="noStrike">
                          <a:solidFill>
                            <a:schemeClr val="tx1">
                              <a:lumMod val="65000"/>
                              <a:lumOff val="35000"/>
                            </a:schemeClr>
                          </a:solidFill>
                          <a:effectLst/>
                          <a:latin typeface="メイリオ" panose="020B0604030504040204" pitchFamily="50" charset="-128"/>
                          <a:ea typeface="メイリオ" panose="020B0604030504040204" pitchFamily="50" charset="-128"/>
                        </a:rPr>
                        <a:t>年</a:t>
                      </a:r>
                      <a:endParaRPr lang="ja-JP" altLang="en-US" sz="1100" b="1"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endParaRPr>
                    </a:p>
                  </a:txBody>
                  <a:tcPr marL="6120" marR="6120" marT="61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marL="88900" indent="0" algn="l" fontAlgn="ctr">
                        <a:lnSpc>
                          <a:spcPct val="100000"/>
                        </a:lnSpc>
                        <a:buNone/>
                      </a:pP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■月間</a:t>
                      </a:r>
                      <a: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CV</a:t>
                      </a: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件数</a:t>
                      </a:r>
                      <a: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a:t>
                      </a:r>
                    </a:p>
                    <a:p>
                      <a:pPr marL="88900" indent="0" algn="l" fontAlgn="ctr">
                        <a:lnSpc>
                          <a:spcPct val="100000"/>
                        </a:lnSpc>
                        <a:buNone/>
                      </a:pPr>
                      <a:r>
                        <a:rPr lang="ja-JP" altLang="en-US" sz="2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　</a:t>
                      </a:r>
                      <a:endParaRPr lang="en-US" altLang="ja-JP" sz="2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endParaRPr>
                    </a:p>
                    <a:p>
                      <a:pPr marL="88900" indent="0" algn="l" fontAlgn="ctr">
                        <a:lnSpc>
                          <a:spcPct val="100000"/>
                        </a:lnSpc>
                        <a:buNone/>
                      </a:pPr>
                      <a:r>
                        <a:rPr lang="ja-JP" altLang="en-US"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　</a:t>
                      </a:r>
                      <a:r>
                        <a:rPr lang="en-US" altLang="ja-JP" sz="1600" b="1" i="0" u="none" strike="noStrike" dirty="0">
                          <a:solidFill>
                            <a:srgbClr val="C00000"/>
                          </a:solidFill>
                          <a:effectLst/>
                          <a:latin typeface="メイリオ" panose="020B0604030504040204" pitchFamily="50" charset="-128"/>
                          <a:ea typeface="メイリオ" panose="020B0604030504040204" pitchFamily="50" charset="-128"/>
                        </a:rPr>
                        <a:t>4</a:t>
                      </a:r>
                      <a:r>
                        <a:rPr lang="ja-JP" altLang="en-US" sz="1600" b="1" i="0" u="none" strike="noStrike" dirty="0">
                          <a:solidFill>
                            <a:srgbClr val="C00000"/>
                          </a:solidFill>
                          <a:effectLst/>
                          <a:latin typeface="メイリオ" panose="020B0604030504040204" pitchFamily="50" charset="-128"/>
                          <a:ea typeface="メイリオ" panose="020B0604030504040204" pitchFamily="50" charset="-128"/>
                        </a:rPr>
                        <a:t>倍</a:t>
                      </a: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a:t>
                      </a:r>
                      <a: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15</a:t>
                      </a: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件 → </a:t>
                      </a:r>
                      <a: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60</a:t>
                      </a: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件）</a:t>
                      </a:r>
                      <a:endPar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endParaRPr>
                    </a:p>
                    <a:p>
                      <a:pPr marL="88900" indent="0" algn="l" fontAlgn="ctr">
                        <a:lnSpc>
                          <a:spcPct val="100000"/>
                        </a:lnSpc>
                        <a:buNone/>
                      </a:pPr>
                      <a:r>
                        <a:rPr lang="ja-JP" altLang="en-US" sz="4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　</a:t>
                      </a:r>
                      <a:b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b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a:t>
                      </a:r>
                      <a: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ROAS</a:t>
                      </a: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換算</a:t>
                      </a:r>
                      <a: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 </a:t>
                      </a:r>
                    </a:p>
                    <a:p>
                      <a:pPr marL="88900" indent="0" algn="l" fontAlgn="ctr">
                        <a:lnSpc>
                          <a:spcPct val="100000"/>
                        </a:lnSpc>
                        <a:buNone/>
                      </a:pPr>
                      <a:r>
                        <a:rPr lang="ja-JP" altLang="en-US" sz="2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　</a:t>
                      </a:r>
                      <a:b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br>
                      <a:r>
                        <a:rPr lang="ja-JP" altLang="en-US"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　</a:t>
                      </a:r>
                      <a:r>
                        <a:rPr lang="en-US" altLang="ja-JP" sz="1600" b="1" i="0" u="none" strike="noStrike" dirty="0">
                          <a:solidFill>
                            <a:srgbClr val="C00000"/>
                          </a:solidFill>
                          <a:effectLst/>
                          <a:latin typeface="メイリオ" panose="020B0604030504040204" pitchFamily="50" charset="-128"/>
                          <a:ea typeface="メイリオ" panose="020B0604030504040204" pitchFamily="50" charset="-128"/>
                        </a:rPr>
                        <a:t>63</a:t>
                      </a:r>
                      <a:r>
                        <a:rPr lang="ja-JP" altLang="en-US" sz="1600" b="1" i="0" u="none" strike="noStrike" dirty="0">
                          <a:solidFill>
                            <a:srgbClr val="C00000"/>
                          </a:solidFill>
                          <a:effectLst/>
                          <a:latin typeface="メイリオ" panose="020B0604030504040204" pitchFamily="50" charset="-128"/>
                          <a:ea typeface="メイリオ" panose="020B0604030504040204" pitchFamily="50" charset="-128"/>
                        </a:rPr>
                        <a:t>％改善</a:t>
                      </a: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a:t>
                      </a:r>
                      <a: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¥32,000 → ¥12,000</a:t>
                      </a: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a:t>
                      </a:r>
                      <a:endParaRPr lang="en-US" altLang="ja-JP"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endParaRPr>
                    </a:p>
                  </a:txBody>
                  <a:tcPr marL="6120" marR="6120" marT="61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marL="88900" indent="0" algn="l" fontAlgn="ctr">
                        <a:buNone/>
                      </a:pPr>
                      <a:r>
                        <a:rPr lang="ja-JP" altLang="en-US"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a:t>
                      </a:r>
                      <a:r>
                        <a:rPr lang="ja-JP" altLang="en-US" sz="1200" b="1" i="0" u="sng" strike="noStrike" dirty="0">
                          <a:solidFill>
                            <a:srgbClr val="C00000"/>
                          </a:solidFill>
                          <a:effectLst/>
                          <a:latin typeface="メイリオ" panose="020B0604030504040204" pitchFamily="50" charset="-128"/>
                          <a:ea typeface="メイリオ" panose="020B0604030504040204" pitchFamily="50" charset="-128"/>
                        </a:rPr>
                        <a:t>ビフォーアフターがわかるクリエイティブ</a:t>
                      </a:r>
                      <a:r>
                        <a:rPr lang="ja-JP" altLang="en-US"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を配信</a:t>
                      </a:r>
                      <a:br>
                        <a:rPr lang="en-US" altLang="ja-JP"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br>
                      <a:r>
                        <a:rPr lang="ja-JP" altLang="en-US" sz="4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　</a:t>
                      </a:r>
                      <a:br>
                        <a:rPr lang="ja-JP" altLang="en-US"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br>
                      <a:r>
                        <a:rPr lang="ja-JP" altLang="en-US"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a:t>
                      </a:r>
                      <a:r>
                        <a:rPr lang="ja-JP" altLang="en-US" sz="1200" b="1" i="0" u="sng" strike="noStrike" dirty="0">
                          <a:solidFill>
                            <a:srgbClr val="C00000"/>
                          </a:solidFill>
                          <a:effectLst/>
                          <a:latin typeface="メイリオ" panose="020B0604030504040204" pitchFamily="50" charset="-128"/>
                          <a:ea typeface="メイリオ" panose="020B0604030504040204" pitchFamily="50" charset="-128"/>
                        </a:rPr>
                        <a:t>個別メッセージを利用したユーザー個々への追客</a:t>
                      </a:r>
                    </a:p>
                  </a:txBody>
                  <a:tcPr marL="6120" marR="6120" marT="61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1665115858"/>
                  </a:ext>
                </a:extLst>
              </a:tr>
              <a:tr h="1021391">
                <a:tc>
                  <a:txBody>
                    <a:bodyPr/>
                    <a:lstStyle/>
                    <a:p>
                      <a:pPr algn="ctr" fontAlgn="ctr">
                        <a:buNone/>
                      </a:pPr>
                      <a:r>
                        <a:rPr lang="ja-JP" altLang="en-US" sz="1200" b="1" i="0" u="none" strike="noStrike" dirty="0">
                          <a:solidFill>
                            <a:srgbClr val="191F54"/>
                          </a:solidFill>
                          <a:effectLst/>
                          <a:latin typeface="メイリオ" panose="020B0604030504040204" pitchFamily="50" charset="-128"/>
                          <a:ea typeface="メイリオ" panose="020B0604030504040204" pitchFamily="50" charset="-128"/>
                        </a:rPr>
                        <a:t>美容クリニック</a:t>
                      </a:r>
                      <a:endParaRPr lang="en-US" altLang="ja-JP" sz="1200" b="1" i="0" u="none" strike="noStrike" dirty="0">
                        <a:solidFill>
                          <a:srgbClr val="191F54"/>
                        </a:solidFill>
                        <a:effectLst/>
                        <a:latin typeface="メイリオ" panose="020B0604030504040204" pitchFamily="50" charset="-128"/>
                        <a:ea typeface="メイリオ" panose="020B0604030504040204" pitchFamily="50" charset="-128"/>
                      </a:endParaRPr>
                    </a:p>
                    <a:p>
                      <a:pPr algn="ctr" fontAlgn="ctr">
                        <a:buNone/>
                      </a:pPr>
                      <a:r>
                        <a:rPr lang="ja-JP" altLang="en-US" sz="1200" b="1" i="0" u="none" strike="noStrike" dirty="0">
                          <a:solidFill>
                            <a:srgbClr val="191F54"/>
                          </a:solidFill>
                          <a:effectLst/>
                          <a:latin typeface="メイリオ" panose="020B0604030504040204" pitchFamily="50" charset="-128"/>
                          <a:ea typeface="メイリオ" panose="020B0604030504040204" pitchFamily="50" charset="-128"/>
                        </a:rPr>
                        <a:t>（痩身）</a:t>
                      </a:r>
                    </a:p>
                  </a:txBody>
                  <a:tcPr marL="6120" marR="6120" marT="61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accent1">
                        <a:lumMod val="20000"/>
                        <a:lumOff val="80000"/>
                      </a:schemeClr>
                    </a:solidFill>
                  </a:tcPr>
                </a:tc>
                <a:tc>
                  <a:txBody>
                    <a:bodyPr/>
                    <a:lstStyle/>
                    <a:p>
                      <a:pPr algn="ctr" fontAlgn="ctr">
                        <a:buNone/>
                      </a:pPr>
                      <a:r>
                        <a:rPr lang="en-US" altLang="ja-JP" sz="1100" b="1"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3</a:t>
                      </a:r>
                      <a:r>
                        <a:rPr lang="ja-JP" altLang="en-US" sz="1100" b="1"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年</a:t>
                      </a:r>
                      <a:r>
                        <a:rPr lang="en-US" altLang="ja-JP" sz="1100" b="1"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4</a:t>
                      </a:r>
                      <a:r>
                        <a:rPr lang="ja-JP" altLang="en-US" sz="1100" b="1"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ヶ月</a:t>
                      </a:r>
                    </a:p>
                  </a:txBody>
                  <a:tcPr marL="6120" marR="6120" marT="61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marL="88900" indent="0" algn="l" fontAlgn="ctr">
                        <a:lnSpc>
                          <a:spcPct val="100000"/>
                        </a:lnSpc>
                        <a:buNone/>
                      </a:pP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■月間</a:t>
                      </a:r>
                      <a: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CV</a:t>
                      </a: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件数</a:t>
                      </a:r>
                      <a: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a:t>
                      </a:r>
                    </a:p>
                    <a:p>
                      <a:pPr marL="88900" indent="0" algn="l" fontAlgn="ctr">
                        <a:lnSpc>
                          <a:spcPct val="100000"/>
                        </a:lnSpc>
                        <a:buNone/>
                      </a:pPr>
                      <a:r>
                        <a:rPr lang="ja-JP" altLang="en-US" sz="2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　</a:t>
                      </a:r>
                      <a:endParaRPr lang="en-US" altLang="ja-JP" sz="2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endParaRPr>
                    </a:p>
                    <a:p>
                      <a:pPr marL="88900" indent="0" algn="l" fontAlgn="ctr">
                        <a:lnSpc>
                          <a:spcPct val="100000"/>
                        </a:lnSpc>
                        <a:buNone/>
                      </a:pPr>
                      <a:r>
                        <a:rPr lang="ja-JP" altLang="en-US"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　</a:t>
                      </a:r>
                      <a:r>
                        <a:rPr lang="ja-JP" altLang="en-US" sz="1100" b="1" i="0" u="none" strike="noStrike" dirty="0">
                          <a:solidFill>
                            <a:srgbClr val="C00000"/>
                          </a:solidFill>
                          <a:effectLst/>
                          <a:latin typeface="メイリオ" panose="020B0604030504040204" pitchFamily="50" charset="-128"/>
                          <a:ea typeface="メイリオ" panose="020B0604030504040204" pitchFamily="50" charset="-128"/>
                        </a:rPr>
                        <a:t>開設から</a:t>
                      </a:r>
                      <a:r>
                        <a:rPr lang="en-US" altLang="ja-JP" sz="1600" b="1" i="0" u="none" strike="noStrike" dirty="0">
                          <a:solidFill>
                            <a:srgbClr val="C00000"/>
                          </a:solidFill>
                          <a:effectLst/>
                          <a:latin typeface="メイリオ" panose="020B0604030504040204" pitchFamily="50" charset="-128"/>
                          <a:ea typeface="メイリオ" panose="020B0604030504040204" pitchFamily="50" charset="-128"/>
                        </a:rPr>
                        <a:t>45</a:t>
                      </a:r>
                      <a:r>
                        <a:rPr lang="ja-JP" altLang="en-US" sz="1600" b="1" i="0" u="none" strike="noStrike" dirty="0">
                          <a:solidFill>
                            <a:srgbClr val="C00000"/>
                          </a:solidFill>
                          <a:effectLst/>
                          <a:latin typeface="メイリオ" panose="020B0604030504040204" pitchFamily="50" charset="-128"/>
                          <a:ea typeface="メイリオ" panose="020B0604030504040204" pitchFamily="50" charset="-128"/>
                        </a:rPr>
                        <a:t>件</a:t>
                      </a: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a:t>
                      </a:r>
                      <a: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N/A</a:t>
                      </a: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 → </a:t>
                      </a:r>
                      <a: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45</a:t>
                      </a: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件）</a:t>
                      </a:r>
                      <a:endPar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endParaRPr>
                    </a:p>
                    <a:p>
                      <a:pPr marL="88900" indent="0" algn="l" fontAlgn="ctr">
                        <a:lnSpc>
                          <a:spcPct val="100000"/>
                        </a:lnSpc>
                        <a:buNone/>
                      </a:pPr>
                      <a:r>
                        <a:rPr lang="ja-JP" altLang="en-US" sz="4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　</a:t>
                      </a:r>
                      <a:b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b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a:t>
                      </a:r>
                      <a: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CPA</a:t>
                      </a: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換算</a:t>
                      </a:r>
                      <a: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 </a:t>
                      </a:r>
                    </a:p>
                    <a:p>
                      <a:pPr marL="88900" indent="0" algn="l" fontAlgn="ctr">
                        <a:lnSpc>
                          <a:spcPct val="100000"/>
                        </a:lnSpc>
                        <a:buNone/>
                      </a:pPr>
                      <a:r>
                        <a:rPr lang="ja-JP" altLang="en-US" sz="2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　</a:t>
                      </a:r>
                      <a:b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br>
                      <a:r>
                        <a:rPr lang="ja-JP" altLang="en-US"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　</a:t>
                      </a:r>
                      <a:r>
                        <a:rPr lang="ja-JP" altLang="en-US" sz="1100" b="1" i="0" u="none" strike="noStrike" dirty="0">
                          <a:solidFill>
                            <a:srgbClr val="C00000"/>
                          </a:solidFill>
                          <a:effectLst/>
                          <a:latin typeface="メイリオ" panose="020B0604030504040204" pitchFamily="50" charset="-128"/>
                          <a:ea typeface="メイリオ" panose="020B0604030504040204" pitchFamily="50" charset="-128"/>
                        </a:rPr>
                        <a:t>開設から</a:t>
                      </a:r>
                      <a:r>
                        <a:rPr lang="en-US" altLang="ja-JP" sz="1600" b="1" i="0" u="none" strike="noStrike" dirty="0">
                          <a:solidFill>
                            <a:srgbClr val="C00000"/>
                          </a:solidFill>
                          <a:effectLst/>
                          <a:latin typeface="メイリオ" panose="020B0604030504040204" pitchFamily="50" charset="-128"/>
                          <a:ea typeface="メイリオ" panose="020B0604030504040204" pitchFamily="50" charset="-128"/>
                        </a:rPr>
                        <a:t>1</a:t>
                      </a:r>
                      <a:r>
                        <a:rPr lang="ja-JP" altLang="en-US" sz="1600" b="1" i="0" u="none" strike="noStrike" dirty="0">
                          <a:solidFill>
                            <a:srgbClr val="C00000"/>
                          </a:solidFill>
                          <a:effectLst/>
                          <a:latin typeface="メイリオ" panose="020B0604030504040204" pitchFamily="50" charset="-128"/>
                          <a:ea typeface="メイリオ" panose="020B0604030504040204" pitchFamily="50" charset="-128"/>
                        </a:rPr>
                        <a:t>万円台</a:t>
                      </a: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a:t>
                      </a:r>
                      <a: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N/A → ¥10,700</a:t>
                      </a: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a:t>
                      </a:r>
                      <a:endParaRPr lang="en-US" altLang="ja-JP"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endParaRPr>
                    </a:p>
                  </a:txBody>
                  <a:tcPr marL="6120" marR="6120" marT="61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marL="88900" indent="0" algn="l" fontAlgn="ctr">
                        <a:buNone/>
                      </a:pPr>
                      <a:r>
                        <a:rPr lang="ja-JP" altLang="en-US"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a:t>
                      </a:r>
                      <a:r>
                        <a:rPr lang="ja-JP" altLang="en-US" sz="1200" b="1" i="0" u="sng" strike="noStrike" dirty="0">
                          <a:solidFill>
                            <a:srgbClr val="C00000"/>
                          </a:solidFill>
                          <a:effectLst/>
                          <a:latin typeface="メイリオ" panose="020B0604030504040204" pitchFamily="50" charset="-128"/>
                          <a:ea typeface="メイリオ" panose="020B0604030504040204" pitchFamily="50" charset="-128"/>
                        </a:rPr>
                        <a:t>ビフォーアフターがわかるクリエイティブ</a:t>
                      </a:r>
                      <a:r>
                        <a:rPr lang="ja-JP" altLang="en-US"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を配信</a:t>
                      </a:r>
                      <a:br>
                        <a:rPr lang="en-US" altLang="ja-JP"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br>
                      <a:r>
                        <a:rPr lang="ja-JP" altLang="en-US" sz="4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　</a:t>
                      </a:r>
                      <a:br>
                        <a:rPr lang="ja-JP" altLang="en-US"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br>
                      <a:r>
                        <a:rPr lang="ja-JP" altLang="en-US"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・アンケート動線を設定し、</a:t>
                      </a:r>
                      <a:r>
                        <a:rPr lang="ja-JP" altLang="en-US" sz="1200" b="1" i="0" u="sng" strike="noStrike" dirty="0">
                          <a:solidFill>
                            <a:srgbClr val="C00000"/>
                          </a:solidFill>
                          <a:effectLst/>
                          <a:latin typeface="メイリオ" panose="020B0604030504040204" pitchFamily="50" charset="-128"/>
                          <a:ea typeface="メイリオ" panose="020B0604030504040204" pitchFamily="50" charset="-128"/>
                        </a:rPr>
                        <a:t>悩み別のシナリオを用意</a:t>
                      </a:r>
                      <a:endParaRPr lang="ja-JP" altLang="en-US" sz="1100" b="1" i="0" u="sng" strike="noStrike" dirty="0">
                        <a:solidFill>
                          <a:srgbClr val="C00000"/>
                        </a:solidFill>
                        <a:effectLst/>
                        <a:latin typeface="メイリオ" panose="020B0604030504040204" pitchFamily="50" charset="-128"/>
                        <a:ea typeface="メイリオ" panose="020B0604030504040204" pitchFamily="50" charset="-128"/>
                      </a:endParaRPr>
                    </a:p>
                  </a:txBody>
                  <a:tcPr marL="6120" marR="6120" marT="61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2147929865"/>
                  </a:ext>
                </a:extLst>
              </a:tr>
            </a:tbl>
          </a:graphicData>
        </a:graphic>
      </p:graphicFrame>
    </p:spTree>
    <p:extLst>
      <p:ext uri="{BB962C8B-B14F-4D97-AF65-F5344CB8AC3E}">
        <p14:creationId xmlns:p14="http://schemas.microsoft.com/office/powerpoint/2010/main" val="1624169571"/>
      </p:ext>
    </p:extLst>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4" name="Google Shape;752;p28">
            <a:extLst>
              <a:ext uri="{FF2B5EF4-FFF2-40B4-BE49-F238E27FC236}">
                <a16:creationId xmlns:a16="http://schemas.microsoft.com/office/drawing/2014/main" id="{88CD823C-3E61-5E93-B9FE-BD623737FC13}"/>
              </a:ext>
            </a:extLst>
          </p:cNvPr>
          <p:cNvSpPr txBox="1"/>
          <p:nvPr/>
        </p:nvSpPr>
        <p:spPr>
          <a:xfrm>
            <a:off x="602223" y="1104688"/>
            <a:ext cx="1104657" cy="584735"/>
          </a:xfrm>
          <a:prstGeom prst="rect">
            <a:avLst/>
          </a:prstGeom>
          <a:noFill/>
          <a:ln>
            <a:noFill/>
          </a:ln>
        </p:spPr>
        <p:txBody>
          <a:bodyPr spcFirstLastPara="1" wrap="square" lIns="91425" tIns="45700" rIns="91425" bIns="45700" anchor="ctr" anchorCtr="0">
            <a:spAutoFit/>
          </a:bodyPr>
          <a:lstStyle/>
          <a:p>
            <a:pPr lvl="0"/>
            <a:r>
              <a:rPr lang="en-US" altLang="ja-JP" sz="3200" b="1" dirty="0">
                <a:solidFill>
                  <a:srgbClr val="323366"/>
                </a:solidFill>
                <a:latin typeface="メイリオ" panose="020B0604030504040204" pitchFamily="50" charset="-128"/>
                <a:ea typeface="メイリオ" panose="020B0604030504040204" pitchFamily="50" charset="-128"/>
                <a:cs typeface="Meiryo"/>
                <a:sym typeface="Meiryo"/>
              </a:rPr>
              <a:t>02</a:t>
            </a:r>
            <a:endParaRPr lang="ja-JP" altLang="en-US" sz="3200" b="1" dirty="0">
              <a:solidFill>
                <a:srgbClr val="323366"/>
              </a:solidFill>
              <a:latin typeface="メイリオ" panose="020B0604030504040204" pitchFamily="50" charset="-128"/>
              <a:ea typeface="メイリオ" panose="020B0604030504040204" pitchFamily="50" charset="-128"/>
              <a:cs typeface="Meiryo"/>
              <a:sym typeface="Meiryo"/>
            </a:endParaRPr>
          </a:p>
        </p:txBody>
      </p:sp>
      <p:sp>
        <p:nvSpPr>
          <p:cNvPr id="16" name="Google Shape;752;p28">
            <a:extLst>
              <a:ext uri="{FF2B5EF4-FFF2-40B4-BE49-F238E27FC236}">
                <a16:creationId xmlns:a16="http://schemas.microsoft.com/office/drawing/2014/main" id="{403775D4-CF2D-3023-3056-9E596BBE8648}"/>
              </a:ext>
            </a:extLst>
          </p:cNvPr>
          <p:cNvSpPr txBox="1"/>
          <p:nvPr/>
        </p:nvSpPr>
        <p:spPr>
          <a:xfrm>
            <a:off x="1867143" y="1043132"/>
            <a:ext cx="5028957" cy="707846"/>
          </a:xfrm>
          <a:prstGeom prst="rect">
            <a:avLst/>
          </a:prstGeom>
          <a:noFill/>
          <a:ln>
            <a:noFill/>
          </a:ln>
        </p:spPr>
        <p:txBody>
          <a:bodyPr spcFirstLastPara="1" wrap="square" lIns="91425" tIns="45700" rIns="91425" bIns="45700" anchor="ctr" anchorCtr="0">
            <a:spAutoFit/>
          </a:bodyPr>
          <a:lstStyle/>
          <a:p>
            <a:pPr lvl="0"/>
            <a:r>
              <a:rPr lang="ja-JP" altLang="en-US" sz="4000" b="1" dirty="0">
                <a:solidFill>
                  <a:schemeClr val="tx1">
                    <a:lumMod val="65000"/>
                    <a:lumOff val="35000"/>
                  </a:schemeClr>
                </a:solidFill>
                <a:latin typeface="メイリオ" panose="020B0604030504040204" pitchFamily="50" charset="-128"/>
                <a:ea typeface="メイリオ" panose="020B0604030504040204" pitchFamily="50" charset="-128"/>
                <a:cs typeface="Meiryo"/>
                <a:sym typeface="Meiryo"/>
              </a:rPr>
              <a:t>現状と課題</a:t>
            </a:r>
          </a:p>
        </p:txBody>
      </p:sp>
      <p:cxnSp>
        <p:nvCxnSpPr>
          <p:cNvPr id="17" name="直線コネクタ 16">
            <a:extLst>
              <a:ext uri="{FF2B5EF4-FFF2-40B4-BE49-F238E27FC236}">
                <a16:creationId xmlns:a16="http://schemas.microsoft.com/office/drawing/2014/main" id="{24E0D700-8F0C-AA59-0C53-7B51F6E65BAA}"/>
              </a:ext>
            </a:extLst>
          </p:cNvPr>
          <p:cNvCxnSpPr>
            <a:cxnSpLocks/>
          </p:cNvCxnSpPr>
          <p:nvPr/>
        </p:nvCxnSpPr>
        <p:spPr>
          <a:xfrm>
            <a:off x="608527" y="1681803"/>
            <a:ext cx="944805" cy="0"/>
          </a:xfrm>
          <a:prstGeom prst="line">
            <a:avLst/>
          </a:prstGeom>
          <a:ln w="57150">
            <a:solidFill>
              <a:srgbClr val="10253F"/>
            </a:solidFill>
          </a:ln>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9000" y="138240"/>
            <a:ext cx="7920000" cy="338040"/>
          </a:xfrm>
          <a:prstGeom prst="rect">
            <a:avLst/>
          </a:prstGeom>
          <a:noFill/>
        </p:spPr>
        <p:txBody>
          <a:bodyPr wrap="square" lIns="91425" tIns="45700" rIns="91425" bIns="45700" anchor="ctr">
            <a:spAutoFit/>
          </a:bodyPr>
          <a:lstStyle/>
          <a:p>
            <a:pPr algn="l">
              <a:lnSpc>
                <a:spcPct val="120000"/>
              </a:lnSpc>
            </a:pPr>
            <a:r>
              <a:rPr sz="1600" b="1">
                <a:solidFill>
                  <a:srgbClr val="323366"/>
                </a:solidFill>
                <a:latin typeface="メイリオ"/>
                <a:ea typeface="メイリオ"/>
                <a:cs typeface="メイリオ"/>
              </a:rPr>
              <a:t>現状把握｜横浜シミズの事業と、想定している課題</a:t>
            </a:r>
          </a:p>
        </p:txBody>
      </p:sp>
      <p:sp>
        <p:nvSpPr>
          <p:cNvPr id="3" name="TextBox 2"/>
          <p:cNvSpPr txBox="1"/>
          <p:nvPr/>
        </p:nvSpPr>
        <p:spPr>
          <a:xfrm>
            <a:off x="430860" y="862696"/>
            <a:ext cx="9331200" cy="585216"/>
          </a:xfrm>
          <a:prstGeom prst="rect">
            <a:avLst/>
          </a:prstGeom>
          <a:noFill/>
        </p:spPr>
        <p:txBody>
          <a:bodyPr wrap="square" lIns="28800" tIns="7200" rIns="28800" bIns="7200" anchor="ctr">
            <a:spAutoFit/>
          </a:bodyPr>
          <a:lstStyle/>
          <a:p>
            <a:pPr algn="l">
              <a:lnSpc>
                <a:spcPct val="120000"/>
              </a:lnSpc>
            </a:pPr>
            <a:r>
              <a:rPr sz="1400" b="1" dirty="0" err="1">
                <a:solidFill>
                  <a:srgbClr val="1E2761"/>
                </a:solidFill>
                <a:latin typeface="メイリオ"/>
                <a:ea typeface="メイリオ"/>
                <a:cs typeface="メイリオ"/>
              </a:rPr>
              <a:t>登録制のアルバイトスタッフとともに、神奈川・静岡全域のイベント会場の運営・警備・設営を担う会社です</a:t>
            </a:r>
            <a:r>
              <a:rPr sz="1400" b="1" dirty="0">
                <a:solidFill>
                  <a:srgbClr val="1E2761"/>
                </a:solidFill>
                <a:latin typeface="メイリオ"/>
                <a:ea typeface="メイリオ"/>
                <a:cs typeface="メイリオ"/>
              </a:rPr>
              <a:t>。</a:t>
            </a:r>
          </a:p>
          <a:p>
            <a:pPr algn="l">
              <a:lnSpc>
                <a:spcPct val="120000"/>
              </a:lnSpc>
            </a:pPr>
            <a:r>
              <a:rPr sz="1400" b="1" dirty="0" err="1">
                <a:solidFill>
                  <a:srgbClr val="FF0000"/>
                </a:solidFill>
                <a:latin typeface="メイリオ"/>
                <a:ea typeface="メイリオ"/>
                <a:cs typeface="メイリオ"/>
              </a:rPr>
              <a:t>イベントごとに人を集める事業だからこそ、勤務後の接点が次の人員確保につながると考えます</a:t>
            </a:r>
            <a:r>
              <a:rPr sz="1400" b="1" dirty="0">
                <a:solidFill>
                  <a:srgbClr val="FF0000"/>
                </a:solidFill>
                <a:latin typeface="メイリオ"/>
                <a:ea typeface="メイリオ"/>
                <a:cs typeface="メイリオ"/>
              </a:rPr>
              <a:t>。</a:t>
            </a:r>
          </a:p>
        </p:txBody>
      </p:sp>
      <p:sp>
        <p:nvSpPr>
          <p:cNvPr id="18" name="Rectangle 17"/>
          <p:cNvSpPr/>
          <p:nvPr/>
        </p:nvSpPr>
        <p:spPr>
          <a:xfrm>
            <a:off x="430860" y="4826699"/>
            <a:ext cx="8773451" cy="374904"/>
          </a:xfrm>
          <a:prstGeom prst="rect">
            <a:avLst/>
          </a:prstGeom>
          <a:solidFill>
            <a:srgbClr val="0020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432000" y="6089904"/>
            <a:ext cx="9043200" cy="457200"/>
          </a:xfrm>
          <a:prstGeom prst="rect">
            <a:avLst/>
          </a:prstGeom>
          <a:noFill/>
        </p:spPr>
        <p:txBody>
          <a:bodyPr wrap="square" lIns="28800" tIns="7200" rIns="28800" bIns="7200" anchor="ctr">
            <a:spAutoFit/>
          </a:bodyPr>
          <a:lstStyle/>
          <a:p>
            <a:pPr algn="l">
              <a:lnSpc>
                <a:spcPct val="120000"/>
              </a:lnSpc>
            </a:pPr>
            <a:r>
              <a:rPr sz="900" b="0">
                <a:solidFill>
                  <a:srgbClr val="888888"/>
                </a:solidFill>
                <a:latin typeface="メイリオ"/>
                <a:ea typeface="メイリオ"/>
                <a:cs typeface="メイリオ"/>
              </a:rPr>
              <a:t>出典｜株式会社横浜シミズ 公式サイト（事業内容・会社情報・アルバイト募集）・採用サイト（shimizuocto-saiyou.net）　2026年10月20日 弊社確認</a:t>
            </a:r>
          </a:p>
        </p:txBody>
      </p:sp>
      <p:sp>
        <p:nvSpPr>
          <p:cNvPr id="21" name="Rectangle 20"/>
          <p:cNvSpPr/>
          <p:nvPr/>
        </p:nvSpPr>
        <p:spPr>
          <a:xfrm>
            <a:off x="430860" y="4826699"/>
            <a:ext cx="9043416" cy="374904"/>
          </a:xfrm>
          <a:prstGeom prst="rect">
            <a:avLst/>
          </a:prstGeom>
          <a:noFill/>
          <a:ln>
            <a:noFill/>
          </a:ln>
        </p:spPr>
        <p:txBody>
          <a:bodyPr wrap="square" lIns="45720" tIns="0" rIns="45720" bIns="0" rtlCol="0" anchor="ctr">
            <a:noAutofit/>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rPr>
              <a:t>一度働いた方に、次のイベントでも戻ってきていただく仕組みをつくる</a:t>
            </a:r>
            <a:endParaRPr lang="ja-JP" altLang="en-US" sz="1300" dirty="0"/>
          </a:p>
        </p:txBody>
      </p:sp>
      <p:sp>
        <p:nvSpPr>
          <p:cNvPr id="22" name="Rounded Rectangle 21"/>
          <p:cNvSpPr/>
          <p:nvPr/>
        </p:nvSpPr>
        <p:spPr>
          <a:xfrm>
            <a:off x="431292" y="1650519"/>
            <a:ext cx="4636881" cy="2973573"/>
          </a:xfrm>
          <a:prstGeom prst="roundRect">
            <a:avLst>
              <a:gd name="adj" fmla="val 5000"/>
            </a:avLst>
          </a:prstGeom>
          <a:solidFill>
            <a:srgbClr val="F5F6FA"/>
          </a:solidFill>
          <a:ln w="9525">
            <a:solidFill>
              <a:srgbClr val="D9D9D9"/>
            </a:solidFill>
          </a:ln>
        </p:spPr>
        <p:txBody>
          <a:bodyPr wrap="square" lIns="109728" tIns="73152" rIns="91440" bIns="54864" rtlCol="0" anchor="t">
            <a:noAutofit/>
          </a:bodyPr>
          <a:lstStyle/>
          <a:p>
            <a:pPr algn="l">
              <a:buNone/>
            </a:pPr>
            <a:endParaRPr lang="ja-JP" altLang="en-US" sz="1100" dirty="0"/>
          </a:p>
        </p:txBody>
      </p:sp>
      <p:sp>
        <p:nvSpPr>
          <p:cNvPr id="23" name="Rounded Rectangle 22"/>
          <p:cNvSpPr/>
          <p:nvPr/>
        </p:nvSpPr>
        <p:spPr>
          <a:xfrm>
            <a:off x="568452" y="1760247"/>
            <a:ext cx="3017520" cy="292608"/>
          </a:xfrm>
          <a:prstGeom prst="roundRect">
            <a:avLst>
              <a:gd name="adj" fmla="val 20000"/>
            </a:avLst>
          </a:prstGeom>
          <a:solidFill>
            <a:srgbClr val="1E2761"/>
          </a:solidFill>
          <a:ln>
            <a:noFill/>
          </a:ln>
        </p:spPr>
        <p:txBody>
          <a:bodyPr wrap="square" lIns="36576" tIns="0" rIns="36576" bIns="0" rtlCol="0" anchor="ctr">
            <a:noAutofit/>
          </a:bodyPr>
          <a:lstStyle/>
          <a:p>
            <a:pPr algn="ctr">
              <a:buNone/>
            </a:pPr>
            <a:r>
              <a:rPr lang="ja-JP" altLang="en-US" sz="1050" b="1" dirty="0">
                <a:solidFill>
                  <a:srgbClr val="FFFFFF"/>
                </a:solidFill>
                <a:latin typeface="メイリオ" panose="020B0604030504040204" pitchFamily="50" charset="-128"/>
                <a:ea typeface="メイリオ" panose="020B0604030504040204" pitchFamily="50" charset="-128"/>
              </a:rPr>
              <a:t>事業の特徴（公式サイト・採用サイトより）</a:t>
            </a:r>
            <a:endParaRPr lang="ja-JP" altLang="en-US" sz="1050" dirty="0"/>
          </a:p>
        </p:txBody>
      </p:sp>
      <p:sp>
        <p:nvSpPr>
          <p:cNvPr id="24" name="Rectangle 23"/>
          <p:cNvSpPr/>
          <p:nvPr/>
        </p:nvSpPr>
        <p:spPr>
          <a:xfrm>
            <a:off x="541236" y="2157997"/>
            <a:ext cx="4526937" cy="2329138"/>
          </a:xfrm>
          <a:prstGeom prst="rect">
            <a:avLst/>
          </a:prstGeom>
          <a:noFill/>
          <a:ln>
            <a:noFill/>
          </a:ln>
        </p:spPr>
        <p:txBody>
          <a:bodyPr wrap="square" lIns="54864" tIns="36576" rIns="54864" bIns="36576" rtlCol="0" anchor="t">
            <a:noAutofit/>
          </a:bodyPr>
          <a:lstStyle/>
          <a:p>
            <a:pPr marL="155448" indent="-155448" algn="l">
              <a:lnSpc>
                <a:spcPct val="105000"/>
              </a:lnSpc>
              <a:spcAft>
                <a:spcPts val="800"/>
              </a:spcAft>
              <a:buNone/>
            </a:pPr>
            <a:r>
              <a:rPr lang="ja-JP" altLang="en-US" sz="1200" b="0" dirty="0">
                <a:solidFill>
                  <a:srgbClr val="333333"/>
                </a:solidFill>
                <a:latin typeface="メイリオ" panose="020B0604030504040204" pitchFamily="50" charset="-128"/>
                <a:ea typeface="メイリオ" panose="020B0604030504040204" pitchFamily="50" charset="-128"/>
              </a:rPr>
              <a:t>・神奈川県・静岡県全域で、舞台設営・美術施工・</a:t>
            </a:r>
            <a:br>
              <a:rPr lang="ja-JP" altLang="en-US" sz="1200" b="0" dirty="0">
                <a:solidFill>
                  <a:srgbClr val="333333"/>
                </a:solidFill>
                <a:latin typeface="メイリオ" panose="020B0604030504040204" pitchFamily="50" charset="-128"/>
                <a:ea typeface="メイリオ" panose="020B0604030504040204" pitchFamily="50" charset="-128"/>
              </a:rPr>
            </a:br>
            <a:r>
              <a:rPr lang="ja-JP" altLang="en-US" sz="1200" b="0" dirty="0">
                <a:solidFill>
                  <a:srgbClr val="333333"/>
                </a:solidFill>
                <a:latin typeface="メイリオ" panose="020B0604030504040204" pitchFamily="50" charset="-128"/>
                <a:ea typeface="メイリオ" panose="020B0604030504040204" pitchFamily="50" charset="-128"/>
              </a:rPr>
              <a:t>運営管理・警備をワンストップで提供</a:t>
            </a:r>
            <a:endParaRPr lang="ja-JP" altLang="en-US" sz="1200" dirty="0"/>
          </a:p>
          <a:p>
            <a:pPr marL="155448" indent="-155448" algn="l">
              <a:lnSpc>
                <a:spcPct val="105000"/>
              </a:lnSpc>
              <a:spcAft>
                <a:spcPts val="800"/>
              </a:spcAft>
              <a:buNone/>
            </a:pPr>
            <a:r>
              <a:rPr lang="ja-JP" altLang="en-US" sz="1200" b="0" dirty="0">
                <a:solidFill>
                  <a:srgbClr val="333333"/>
                </a:solidFill>
                <a:latin typeface="メイリオ" panose="020B0604030504040204" pitchFamily="50" charset="-128"/>
                <a:ea typeface="メイリオ" panose="020B0604030504040204" pitchFamily="50" charset="-128"/>
              </a:rPr>
              <a:t>・運営管理は、少人数から1日1,000人以上の規模まで動員</a:t>
            </a:r>
            <a:endParaRPr lang="ja-JP" altLang="en-US" sz="1200" dirty="0"/>
          </a:p>
          <a:p>
            <a:pPr marL="155448" indent="-155448" algn="l">
              <a:lnSpc>
                <a:spcPct val="105000"/>
              </a:lnSpc>
              <a:spcAft>
                <a:spcPts val="800"/>
              </a:spcAft>
              <a:buNone/>
            </a:pPr>
            <a:r>
              <a:rPr lang="ja-JP" altLang="en-US" sz="1200" b="0" dirty="0">
                <a:solidFill>
                  <a:srgbClr val="333333"/>
                </a:solidFill>
                <a:latin typeface="メイリオ" panose="020B0604030504040204" pitchFamily="50" charset="-128"/>
                <a:ea typeface="メイリオ" panose="020B0604030504040204" pitchFamily="50" charset="-128"/>
              </a:rPr>
              <a:t>・アルバイトは登録制。都合の良い日に勤務できる</a:t>
            </a:r>
            <a:br>
              <a:rPr lang="ja-JP" altLang="en-US" sz="1200" b="0" dirty="0">
                <a:solidFill>
                  <a:srgbClr val="333333"/>
                </a:solidFill>
                <a:latin typeface="メイリオ" panose="020B0604030504040204" pitchFamily="50" charset="-128"/>
                <a:ea typeface="メイリオ" panose="020B0604030504040204" pitchFamily="50" charset="-128"/>
              </a:rPr>
            </a:br>
            <a:r>
              <a:rPr lang="ja-JP" altLang="en-US" sz="1200" b="0" dirty="0">
                <a:solidFill>
                  <a:srgbClr val="333333"/>
                </a:solidFill>
                <a:latin typeface="メイリオ" panose="020B0604030504040204" pitchFamily="50" charset="-128"/>
                <a:ea typeface="メイリオ" panose="020B0604030504040204" pitchFamily="50" charset="-128"/>
              </a:rPr>
              <a:t>（シフトは自己申告制）</a:t>
            </a:r>
            <a:endParaRPr lang="ja-JP" altLang="en-US" sz="1200" dirty="0"/>
          </a:p>
          <a:p>
            <a:pPr marL="155448" indent="-155448" algn="l">
              <a:lnSpc>
                <a:spcPct val="105000"/>
              </a:lnSpc>
              <a:spcAft>
                <a:spcPts val="800"/>
              </a:spcAft>
              <a:buNone/>
            </a:pPr>
            <a:r>
              <a:rPr lang="ja-JP" altLang="en-US" sz="1200" b="0" dirty="0">
                <a:solidFill>
                  <a:srgbClr val="333333"/>
                </a:solidFill>
                <a:latin typeface="メイリオ" panose="020B0604030504040204" pitchFamily="50" charset="-128"/>
                <a:ea typeface="メイリオ" panose="020B0604030504040204" pitchFamily="50" charset="-128"/>
              </a:rPr>
              <a:t>・一度採用されると、ほかの業務にも勤務できる（面接は1回）</a:t>
            </a:r>
            <a:endParaRPr lang="ja-JP" altLang="en-US" sz="1200" dirty="0"/>
          </a:p>
          <a:p>
            <a:pPr marL="155448" indent="-155448" algn="l">
              <a:lnSpc>
                <a:spcPct val="105000"/>
              </a:lnSpc>
              <a:spcAft>
                <a:spcPts val="800"/>
              </a:spcAft>
              <a:buNone/>
            </a:pPr>
            <a:r>
              <a:rPr lang="ja-JP" altLang="en-US" sz="1200" b="0" dirty="0">
                <a:solidFill>
                  <a:srgbClr val="333333"/>
                </a:solidFill>
                <a:latin typeface="メイリオ" panose="020B0604030504040204" pitchFamily="50" charset="-128"/>
                <a:ea typeface="メイリオ" panose="020B0604030504040204" pitchFamily="50" charset="-128"/>
              </a:rPr>
              <a:t>・勤務地は日産スタジアム・横浜アリーナ・横浜スタジアム・</a:t>
            </a:r>
            <a:br>
              <a:rPr lang="ja-JP" altLang="en-US" sz="1200" b="0" dirty="0">
                <a:solidFill>
                  <a:srgbClr val="333333"/>
                </a:solidFill>
                <a:latin typeface="メイリオ" panose="020B0604030504040204" pitchFamily="50" charset="-128"/>
                <a:ea typeface="メイリオ" panose="020B0604030504040204" pitchFamily="50" charset="-128"/>
              </a:rPr>
            </a:br>
            <a:r>
              <a:rPr lang="ja-JP" altLang="en-US" sz="1200" b="0" dirty="0">
                <a:solidFill>
                  <a:srgbClr val="333333"/>
                </a:solidFill>
                <a:latin typeface="メイリオ" panose="020B0604030504040204" pitchFamily="50" charset="-128"/>
                <a:ea typeface="メイリオ" panose="020B0604030504040204" pitchFamily="50" charset="-128"/>
              </a:rPr>
              <a:t>Kアリーナ横浜など多数</a:t>
            </a:r>
            <a:endParaRPr lang="ja-JP" altLang="en-US" sz="1200" dirty="0"/>
          </a:p>
          <a:p>
            <a:pPr marL="155448" indent="-155448" algn="l">
              <a:lnSpc>
                <a:spcPct val="105000"/>
              </a:lnSpc>
              <a:spcAft>
                <a:spcPts val="800"/>
              </a:spcAft>
              <a:buNone/>
            </a:pPr>
            <a:r>
              <a:rPr lang="ja-JP" altLang="en-US" sz="1200" b="0" dirty="0">
                <a:solidFill>
                  <a:srgbClr val="333333"/>
                </a:solidFill>
                <a:latin typeface="メイリオ" panose="020B0604030504040204" pitchFamily="50" charset="-128"/>
                <a:ea typeface="メイリオ" panose="020B0604030504040204" pitchFamily="50" charset="-128"/>
              </a:rPr>
              <a:t>・応募は採用サイトから。面接予約の完了はメールで届く</a:t>
            </a:r>
            <a:endParaRPr lang="ja-JP" altLang="en-US" sz="1200" dirty="0"/>
          </a:p>
        </p:txBody>
      </p:sp>
      <p:sp>
        <p:nvSpPr>
          <p:cNvPr id="26" name="Rounded Rectangle 25"/>
          <p:cNvSpPr/>
          <p:nvPr/>
        </p:nvSpPr>
        <p:spPr>
          <a:xfrm>
            <a:off x="5446127" y="1650519"/>
            <a:ext cx="3758184" cy="1670651"/>
          </a:xfrm>
          <a:prstGeom prst="roundRect">
            <a:avLst>
              <a:gd name="adj" fmla="val 5000"/>
            </a:avLst>
          </a:prstGeom>
          <a:solidFill>
            <a:srgbClr val="FFFFFF"/>
          </a:solidFill>
          <a:ln w="9525">
            <a:solidFill>
              <a:srgbClr val="1E2761"/>
            </a:solidFill>
          </a:ln>
        </p:spPr>
        <p:txBody>
          <a:bodyPr wrap="square" lIns="109728" tIns="73152" rIns="91440" bIns="54864" rtlCol="0" anchor="t">
            <a:noAutofit/>
          </a:bodyPr>
          <a:lstStyle/>
          <a:p>
            <a:pPr algn="l">
              <a:spcAft>
                <a:spcPts val="300"/>
              </a:spcAft>
              <a:buNone/>
            </a:pPr>
            <a:r>
              <a:rPr lang="ja-JP" altLang="en-US" sz="1400" b="1" dirty="0">
                <a:solidFill>
                  <a:srgbClr val="323366"/>
                </a:solidFill>
                <a:latin typeface="メイリオ" panose="020B0604030504040204" pitchFamily="50" charset="-128"/>
                <a:ea typeface="メイリオ" panose="020B0604030504040204" pitchFamily="50" charset="-128"/>
              </a:rPr>
              <a:t>想定している課題（仮説）</a:t>
            </a:r>
            <a:endParaRPr lang="ja-JP" altLang="en-US" sz="1400" dirty="0"/>
          </a:p>
          <a:p>
            <a:pPr algn="l">
              <a:spcAft>
                <a:spcPts val="300"/>
              </a:spcAft>
              <a:buNone/>
            </a:pPr>
            <a:r>
              <a:rPr lang="ja-JP" altLang="en-US" sz="1400" b="0" dirty="0">
                <a:solidFill>
                  <a:srgbClr val="333333"/>
                </a:solidFill>
                <a:latin typeface="メイリオ" panose="020B0604030504040204" pitchFamily="50" charset="-128"/>
                <a:ea typeface="メイリオ" panose="020B0604030504040204" pitchFamily="50" charset="-128"/>
              </a:rPr>
              <a:t>イベントの勤務が終わると、スタッフの方との連絡が途切れやすい。</a:t>
            </a:r>
            <a:endParaRPr lang="ja-JP" altLang="en-US" sz="1400" dirty="0"/>
          </a:p>
          <a:p>
            <a:pPr algn="l">
              <a:spcAft>
                <a:spcPts val="300"/>
              </a:spcAft>
              <a:buNone/>
            </a:pPr>
            <a:r>
              <a:rPr lang="ja-JP" altLang="en-US" sz="1400" b="0" dirty="0">
                <a:solidFill>
                  <a:srgbClr val="333333"/>
                </a:solidFill>
                <a:latin typeface="メイリオ" panose="020B0604030504040204" pitchFamily="50" charset="-128"/>
                <a:ea typeface="メイリオ" panose="020B0604030504040204" pitchFamily="50" charset="-128"/>
              </a:rPr>
              <a:t>次のイベントでも働いていただける接点を残すことが、継続的な人員確保の鍵と考えます。</a:t>
            </a:r>
            <a:endParaRPr lang="ja-JP" altLang="en-US" sz="14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9000" y="138240"/>
            <a:ext cx="7920000" cy="338040"/>
          </a:xfrm>
          <a:prstGeom prst="rect">
            <a:avLst/>
          </a:prstGeom>
          <a:noFill/>
        </p:spPr>
        <p:txBody>
          <a:bodyPr wrap="square" lIns="91425" tIns="45700" rIns="91425" bIns="45700" anchor="ctr">
            <a:spAutoFit/>
          </a:bodyPr>
          <a:lstStyle/>
          <a:p>
            <a:pPr algn="l">
              <a:lnSpc>
                <a:spcPct val="120000"/>
              </a:lnSpc>
            </a:pPr>
            <a:r>
              <a:rPr sz="1600" b="1">
                <a:solidFill>
                  <a:srgbClr val="323366"/>
                </a:solidFill>
                <a:latin typeface="メイリオ"/>
                <a:ea typeface="メイリオ"/>
                <a:cs typeface="メイリオ"/>
              </a:rPr>
              <a:t>業界課題①｜イベント・単発の仕事は、毎回の人員確保が前提</a:t>
            </a:r>
          </a:p>
        </p:txBody>
      </p:sp>
      <p:sp>
        <p:nvSpPr>
          <p:cNvPr id="3" name="TextBox 2"/>
          <p:cNvSpPr txBox="1"/>
          <p:nvPr/>
        </p:nvSpPr>
        <p:spPr>
          <a:xfrm>
            <a:off x="309600" y="687600"/>
            <a:ext cx="9331200" cy="585216"/>
          </a:xfrm>
          <a:prstGeom prst="rect">
            <a:avLst/>
          </a:prstGeom>
          <a:noFill/>
        </p:spPr>
        <p:txBody>
          <a:bodyPr wrap="square" lIns="28800" tIns="7200" rIns="28800" bIns="7200" anchor="ctr">
            <a:spAutoFit/>
          </a:bodyPr>
          <a:lstStyle/>
          <a:p>
            <a:pPr algn="l">
              <a:lnSpc>
                <a:spcPct val="120000"/>
              </a:lnSpc>
            </a:pPr>
            <a:r>
              <a:rPr sz="1400" b="1">
                <a:solidFill>
                  <a:srgbClr val="1E2761"/>
                </a:solidFill>
                <a:latin typeface="メイリオ"/>
                <a:ea typeface="メイリオ"/>
                <a:cs typeface="メイリオ"/>
              </a:rPr>
              <a:t>単発・短期の仕事は、イベントのたびに必要な人数を集め直す必要があります。</a:t>
            </a:r>
          </a:p>
          <a:p>
            <a:pPr algn="l">
              <a:lnSpc>
                <a:spcPct val="120000"/>
              </a:lnSpc>
            </a:pPr>
            <a:r>
              <a:rPr sz="1400" b="1">
                <a:solidFill>
                  <a:srgbClr val="FF0000"/>
                </a:solidFill>
                <a:latin typeface="メイリオ"/>
                <a:ea typeface="メイリオ"/>
                <a:cs typeface="メイリオ"/>
              </a:rPr>
              <a:t>新規の応募だけに頼ると、募集・採用の負担がイベントごとにくり返されます。</a:t>
            </a:r>
          </a:p>
        </p:txBody>
      </p:sp>
      <p:sp>
        <p:nvSpPr>
          <p:cNvPr id="18" name="Rectangle 17"/>
          <p:cNvSpPr/>
          <p:nvPr/>
        </p:nvSpPr>
        <p:spPr>
          <a:xfrm>
            <a:off x="429768" y="5330952"/>
            <a:ext cx="8906255" cy="374904"/>
          </a:xfrm>
          <a:prstGeom prst="rect">
            <a:avLst/>
          </a:prstGeom>
          <a:solidFill>
            <a:srgbClr val="0020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432000" y="6089904"/>
            <a:ext cx="9043200" cy="457200"/>
          </a:xfrm>
          <a:prstGeom prst="rect">
            <a:avLst/>
          </a:prstGeom>
          <a:noFill/>
        </p:spPr>
        <p:txBody>
          <a:bodyPr wrap="square" lIns="28800" tIns="7200" rIns="28800" bIns="7200" anchor="ctr">
            <a:spAutoFit/>
          </a:bodyPr>
          <a:lstStyle/>
          <a:p>
            <a:pPr algn="l">
              <a:lnSpc>
                <a:spcPct val="120000"/>
              </a:lnSpc>
            </a:pPr>
            <a:r>
              <a:rPr sz="900" b="0">
                <a:solidFill>
                  <a:srgbClr val="888888"/>
                </a:solidFill>
                <a:latin typeface="メイリオ"/>
                <a:ea typeface="メイリオ"/>
                <a:cs typeface="メイリオ"/>
              </a:rPr>
              <a:t>出典｜LINEヤフー 媒体データ（検索の前後行動）。起点キーワード「単発バイト」・期間2025年3月17日〜2026年3月22日。分類は弊社</a:t>
            </a:r>
          </a:p>
        </p:txBody>
      </p:sp>
      <p:sp>
        <p:nvSpPr>
          <p:cNvPr id="21" name="Rectangle 20"/>
          <p:cNvSpPr/>
          <p:nvPr/>
        </p:nvSpPr>
        <p:spPr>
          <a:xfrm>
            <a:off x="429768" y="5330952"/>
            <a:ext cx="9043416" cy="374904"/>
          </a:xfrm>
          <a:prstGeom prst="rect">
            <a:avLst/>
          </a:prstGeom>
          <a:noFill/>
          <a:ln>
            <a:noFill/>
          </a:ln>
        </p:spPr>
        <p:txBody>
          <a:bodyPr wrap="square" lIns="45720" tIns="0" rIns="45720" bIns="0" rtlCol="0" anchor="ctr">
            <a:noAutofit/>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rPr>
              <a:t>比べて選ばれる仕事だからこそ、一度つながった方との接点が次の人員確保を左右する</a:t>
            </a:r>
            <a:endParaRPr lang="ja-JP" altLang="en-US" sz="1300" dirty="0"/>
          </a:p>
        </p:txBody>
      </p:sp>
      <p:sp>
        <p:nvSpPr>
          <p:cNvPr id="22" name="Rounded Rectangle 21"/>
          <p:cNvSpPr/>
          <p:nvPr/>
        </p:nvSpPr>
        <p:spPr>
          <a:xfrm>
            <a:off x="429768" y="1371600"/>
            <a:ext cx="4160520" cy="960120"/>
          </a:xfrm>
          <a:prstGeom prst="roundRect">
            <a:avLst>
              <a:gd name="adj" fmla="val 5000"/>
            </a:avLst>
          </a:prstGeom>
          <a:solidFill>
            <a:srgbClr val="FFFFFF"/>
          </a:solidFill>
          <a:ln w="9525">
            <a:solidFill>
              <a:srgbClr val="1E2761"/>
            </a:solidFill>
          </a:ln>
        </p:spPr>
        <p:txBody>
          <a:bodyPr wrap="square" lIns="109728" tIns="73152" rIns="91440" bIns="54864" rtlCol="0" anchor="ctr">
            <a:noAutofit/>
          </a:bodyPr>
          <a:lstStyle/>
          <a:p>
            <a:pPr algn="l">
              <a:spcAft>
                <a:spcPts val="400"/>
              </a:spcAft>
              <a:buNone/>
            </a:pPr>
            <a:r>
              <a:rPr lang="ja-JP" altLang="en-US" sz="1200" b="1" dirty="0">
                <a:solidFill>
                  <a:srgbClr val="323366"/>
                </a:solidFill>
                <a:latin typeface="メイリオ" panose="020B0604030504040204" pitchFamily="50" charset="-128"/>
                <a:ea typeface="メイリオ" panose="020B0604030504040204" pitchFamily="50" charset="-128"/>
              </a:rPr>
              <a:t>① イベントのたびに、必要な人数を集め直す</a:t>
            </a:r>
            <a:endParaRPr lang="ja-JP" altLang="en-US" sz="1150" dirty="0"/>
          </a:p>
          <a:p>
            <a:pPr algn="l">
              <a:spcAft>
                <a:spcPts val="400"/>
              </a:spcAft>
              <a:buNone/>
            </a:pPr>
            <a:r>
              <a:rPr lang="ja-JP" altLang="en-US" sz="1150" b="0" dirty="0">
                <a:solidFill>
                  <a:srgbClr val="333333"/>
                </a:solidFill>
                <a:latin typeface="メイリオ" panose="020B0604030504040204" pitchFamily="50" charset="-128"/>
                <a:ea typeface="メイリオ" panose="020B0604030504040204" pitchFamily="50" charset="-128"/>
              </a:rPr>
              <a:t>開催日・会場・規模によって、必要な人数と業務が変わります</a:t>
            </a:r>
            <a:endParaRPr lang="ja-JP" altLang="en-US" sz="1150" dirty="0"/>
          </a:p>
        </p:txBody>
      </p:sp>
      <p:sp>
        <p:nvSpPr>
          <p:cNvPr id="23" name="Rounded Rectangle 22"/>
          <p:cNvSpPr/>
          <p:nvPr/>
        </p:nvSpPr>
        <p:spPr>
          <a:xfrm>
            <a:off x="429768" y="2743200"/>
            <a:ext cx="4160520" cy="960120"/>
          </a:xfrm>
          <a:prstGeom prst="roundRect">
            <a:avLst>
              <a:gd name="adj" fmla="val 5000"/>
            </a:avLst>
          </a:prstGeom>
          <a:solidFill>
            <a:srgbClr val="FFFFFF"/>
          </a:solidFill>
          <a:ln w="9525">
            <a:solidFill>
              <a:srgbClr val="1E2761"/>
            </a:solidFill>
          </a:ln>
        </p:spPr>
        <p:txBody>
          <a:bodyPr wrap="square" lIns="109728" tIns="73152" rIns="91440" bIns="54864" rtlCol="0" anchor="ctr">
            <a:noAutofit/>
          </a:bodyPr>
          <a:lstStyle/>
          <a:p>
            <a:pPr algn="l">
              <a:spcAft>
                <a:spcPts val="400"/>
              </a:spcAft>
              <a:buNone/>
            </a:pPr>
            <a:r>
              <a:rPr lang="ja-JP" altLang="en-US" sz="1200" b="1" dirty="0">
                <a:solidFill>
                  <a:srgbClr val="323366"/>
                </a:solidFill>
                <a:latin typeface="メイリオ" panose="020B0604030504040204" pitchFamily="50" charset="-128"/>
                <a:ea typeface="メイリオ" panose="020B0604030504040204" pitchFamily="50" charset="-128"/>
              </a:rPr>
              <a:t>② 新規の応募だけに頼ると、負担がくり返される</a:t>
            </a:r>
            <a:endParaRPr lang="ja-JP" altLang="en-US" sz="1150" dirty="0"/>
          </a:p>
          <a:p>
            <a:pPr algn="l">
              <a:spcAft>
                <a:spcPts val="400"/>
              </a:spcAft>
              <a:buNone/>
            </a:pPr>
            <a:r>
              <a:rPr lang="ja-JP" altLang="en-US" sz="1150" b="0" dirty="0">
                <a:solidFill>
                  <a:srgbClr val="333333"/>
                </a:solidFill>
                <a:latin typeface="メイリオ" panose="020B0604030504040204" pitchFamily="50" charset="-128"/>
                <a:ea typeface="メイリオ" panose="020B0604030504040204" pitchFamily="50" charset="-128"/>
              </a:rPr>
              <a:t>募集・面接・登録の手間が、イベントごとにかかります</a:t>
            </a:r>
            <a:endParaRPr lang="ja-JP" altLang="en-US" sz="1150" dirty="0"/>
          </a:p>
        </p:txBody>
      </p:sp>
      <p:sp>
        <p:nvSpPr>
          <p:cNvPr id="24" name="Rounded Rectangle 23"/>
          <p:cNvSpPr/>
          <p:nvPr/>
        </p:nvSpPr>
        <p:spPr>
          <a:xfrm>
            <a:off x="429768" y="4114800"/>
            <a:ext cx="4160520" cy="960120"/>
          </a:xfrm>
          <a:prstGeom prst="roundRect">
            <a:avLst>
              <a:gd name="adj" fmla="val 5000"/>
            </a:avLst>
          </a:prstGeom>
          <a:solidFill>
            <a:srgbClr val="FFFFFF"/>
          </a:solidFill>
          <a:ln w="9525">
            <a:solidFill>
              <a:srgbClr val="1E2761"/>
            </a:solidFill>
          </a:ln>
        </p:spPr>
        <p:txBody>
          <a:bodyPr wrap="square" lIns="109728" tIns="73152" rIns="91440" bIns="54864" rtlCol="0" anchor="ctr">
            <a:noAutofit/>
          </a:bodyPr>
          <a:lstStyle/>
          <a:p>
            <a:pPr algn="l">
              <a:spcAft>
                <a:spcPts val="400"/>
              </a:spcAft>
              <a:buNone/>
            </a:pPr>
            <a:r>
              <a:rPr lang="ja-JP" altLang="en-US" sz="1200" b="1" dirty="0">
                <a:solidFill>
                  <a:srgbClr val="323366"/>
                </a:solidFill>
                <a:latin typeface="メイリオ" panose="020B0604030504040204" pitchFamily="50" charset="-128"/>
                <a:ea typeface="メイリオ" panose="020B0604030504040204" pitchFamily="50" charset="-128"/>
              </a:rPr>
              <a:t>③ 勤務が終わると、接点が薄れる</a:t>
            </a:r>
            <a:endParaRPr lang="ja-JP" altLang="en-US" sz="1150" dirty="0"/>
          </a:p>
          <a:p>
            <a:pPr algn="l">
              <a:spcAft>
                <a:spcPts val="400"/>
              </a:spcAft>
              <a:buNone/>
            </a:pPr>
            <a:r>
              <a:rPr lang="ja-JP" altLang="en-US" sz="1150" b="0" dirty="0">
                <a:solidFill>
                  <a:srgbClr val="333333"/>
                </a:solidFill>
                <a:latin typeface="メイリオ" panose="020B0604030504040204" pitchFamily="50" charset="-128"/>
                <a:ea typeface="メイリオ" panose="020B0604030504040204" pitchFamily="50" charset="-128"/>
              </a:rPr>
              <a:t>次の募集を届ける手段が残らず、また新規で集めることになります</a:t>
            </a:r>
            <a:endParaRPr lang="ja-JP" altLang="en-US" sz="1150" dirty="0"/>
          </a:p>
        </p:txBody>
      </p:sp>
      <p:sp>
        <p:nvSpPr>
          <p:cNvPr id="25" name="Rounded Rectangle 24"/>
          <p:cNvSpPr/>
          <p:nvPr/>
        </p:nvSpPr>
        <p:spPr>
          <a:xfrm>
            <a:off x="4773168" y="1391689"/>
            <a:ext cx="4562855" cy="3683232"/>
          </a:xfrm>
          <a:prstGeom prst="roundRect">
            <a:avLst>
              <a:gd name="adj" fmla="val 5000"/>
            </a:avLst>
          </a:prstGeom>
          <a:solidFill>
            <a:srgbClr val="F5F6FA"/>
          </a:solidFill>
          <a:ln w="9525">
            <a:solidFill>
              <a:srgbClr val="D9D9D9"/>
            </a:solidFill>
          </a:ln>
        </p:spPr>
        <p:txBody>
          <a:bodyPr wrap="square" lIns="109728" tIns="73152" rIns="91440" bIns="54864" rtlCol="0" anchor="t">
            <a:noAutofit/>
          </a:bodyPr>
          <a:lstStyle/>
          <a:p>
            <a:pPr algn="l">
              <a:buNone/>
            </a:pPr>
            <a:endParaRPr lang="ja-JP" altLang="en-US" sz="1100" dirty="0"/>
          </a:p>
        </p:txBody>
      </p:sp>
      <p:sp>
        <p:nvSpPr>
          <p:cNvPr id="26" name="Rectangle 25"/>
          <p:cNvSpPr/>
          <p:nvPr/>
        </p:nvSpPr>
        <p:spPr>
          <a:xfrm>
            <a:off x="4910328" y="1444752"/>
            <a:ext cx="4425696" cy="502920"/>
          </a:xfrm>
          <a:prstGeom prst="rect">
            <a:avLst/>
          </a:prstGeom>
          <a:noFill/>
          <a:ln>
            <a:noFill/>
          </a:ln>
        </p:spPr>
        <p:txBody>
          <a:bodyPr wrap="square" lIns="0" tIns="0" rIns="0" bIns="0" rtlCol="0" anchor="ctr">
            <a:noAutofit/>
          </a:bodyPr>
          <a:lstStyle/>
          <a:p>
            <a:pPr algn="l">
              <a:buNone/>
            </a:pPr>
            <a:r>
              <a:rPr lang="ja-JP" altLang="en-US" sz="1200" b="1" dirty="0">
                <a:solidFill>
                  <a:srgbClr val="323366"/>
                </a:solidFill>
                <a:latin typeface="メイリオ" panose="020B0604030504040204" pitchFamily="50" charset="-128"/>
                <a:ea typeface="メイリオ" panose="020B0604030504040204" pitchFamily="50" charset="-128"/>
              </a:rPr>
              <a:t>「単発バイト」を検索した方は、前後に何を調べているか</a:t>
            </a:r>
            <a:endParaRPr lang="ja-JP" altLang="en-US" sz="1200" dirty="0"/>
          </a:p>
        </p:txBody>
      </p:sp>
      <p:sp>
        <p:nvSpPr>
          <p:cNvPr id="27" name="Rounded Rectangle 26"/>
          <p:cNvSpPr/>
          <p:nvPr/>
        </p:nvSpPr>
        <p:spPr>
          <a:xfrm>
            <a:off x="4910328" y="2057400"/>
            <a:ext cx="960120" cy="274320"/>
          </a:xfrm>
          <a:prstGeom prst="roundRect">
            <a:avLst>
              <a:gd name="adj" fmla="val 20000"/>
            </a:avLst>
          </a:prstGeom>
          <a:solidFill>
            <a:srgbClr val="1E2761"/>
          </a:solidFill>
          <a:ln>
            <a:noFill/>
          </a:ln>
        </p:spPr>
        <p:txBody>
          <a:bodyPr wrap="square" lIns="36576" tIns="0" rIns="36576" bIns="0" rtlCol="0" anchor="ctr">
            <a:noAutofit/>
          </a:bodyPr>
          <a:lstStyle/>
          <a:p>
            <a:pPr algn="ctr">
              <a:buNone/>
            </a:pPr>
            <a:r>
              <a:rPr lang="ja-JP" altLang="en-US" sz="1050" b="1" dirty="0">
                <a:solidFill>
                  <a:srgbClr val="FFFFFF"/>
                </a:solidFill>
                <a:latin typeface="メイリオ" panose="020B0604030504040204" pitchFamily="50" charset="-128"/>
                <a:ea typeface="メイリオ" panose="020B0604030504040204" pitchFamily="50" charset="-128"/>
              </a:rPr>
              <a:t>-7〜-1日</a:t>
            </a:r>
            <a:endParaRPr lang="ja-JP" altLang="en-US" sz="1050" dirty="0"/>
          </a:p>
        </p:txBody>
      </p:sp>
      <p:sp>
        <p:nvSpPr>
          <p:cNvPr id="28" name="Rectangle 27"/>
          <p:cNvSpPr/>
          <p:nvPr/>
        </p:nvSpPr>
        <p:spPr>
          <a:xfrm>
            <a:off x="5961888" y="2011680"/>
            <a:ext cx="3374135" cy="868680"/>
          </a:xfrm>
          <a:prstGeom prst="rect">
            <a:avLst/>
          </a:prstGeom>
          <a:noFill/>
          <a:ln>
            <a:noFill/>
          </a:ln>
        </p:spPr>
        <p:txBody>
          <a:bodyPr wrap="square" lIns="18288" tIns="18288" rIns="18288" bIns="18288" rtlCol="0" anchor="t">
            <a:noAutofit/>
          </a:bodyPr>
          <a:lstStyle/>
          <a:p>
            <a:pPr algn="l">
              <a:spcAft>
                <a:spcPts val="200"/>
              </a:spcAft>
              <a:buNone/>
            </a:pPr>
            <a:r>
              <a:rPr lang="ja-JP" altLang="en-US" sz="1200" b="1" dirty="0">
                <a:solidFill>
                  <a:srgbClr val="323366"/>
                </a:solidFill>
                <a:latin typeface="メイリオ" panose="020B0604030504040204" pitchFamily="50" charset="-128"/>
                <a:ea typeface="メイリオ" panose="020B0604030504040204" pitchFamily="50" charset="-128"/>
              </a:rPr>
              <a:t>スキマ時間で、すぐ稼ぎたい</a:t>
            </a:r>
            <a:endParaRPr lang="ja-JP" altLang="en-US" sz="1200" dirty="0"/>
          </a:p>
          <a:p>
            <a:pPr algn="l">
              <a:spcAft>
                <a:spcPts val="200"/>
              </a:spcAft>
              <a:buNone/>
            </a:pPr>
            <a:r>
              <a:rPr lang="ja-JP" altLang="en-US" sz="1050" b="0" dirty="0">
                <a:solidFill>
                  <a:srgbClr val="595959"/>
                </a:solidFill>
                <a:latin typeface="メイリオ" panose="020B0604030504040204" pitchFamily="50" charset="-128"/>
                <a:ea typeface="メイリオ" panose="020B0604030504040204" pitchFamily="50" charset="-128"/>
              </a:rPr>
              <a:t>副業 在宅 スキマ時間／在宅ワーク 求人／バイト 求人</a:t>
            </a:r>
            <a:endParaRPr lang="ja-JP" altLang="en-US" sz="1200" dirty="0"/>
          </a:p>
        </p:txBody>
      </p:sp>
      <p:sp>
        <p:nvSpPr>
          <p:cNvPr id="29" name="Rounded Rectangle 28"/>
          <p:cNvSpPr/>
          <p:nvPr/>
        </p:nvSpPr>
        <p:spPr>
          <a:xfrm>
            <a:off x="4910328" y="3044952"/>
            <a:ext cx="960120" cy="274320"/>
          </a:xfrm>
          <a:prstGeom prst="roundRect">
            <a:avLst>
              <a:gd name="adj" fmla="val 20000"/>
            </a:avLst>
          </a:prstGeom>
          <a:solidFill>
            <a:srgbClr val="1E2761"/>
          </a:solidFill>
          <a:ln>
            <a:noFill/>
          </a:ln>
        </p:spPr>
        <p:txBody>
          <a:bodyPr wrap="square" lIns="36576" tIns="0" rIns="36576" bIns="0" rtlCol="0" anchor="ctr">
            <a:noAutofit/>
          </a:bodyPr>
          <a:lstStyle/>
          <a:p>
            <a:pPr algn="ctr">
              <a:buNone/>
            </a:pPr>
            <a:r>
              <a:rPr lang="ja-JP" altLang="en-US" sz="1050" b="1" dirty="0">
                <a:solidFill>
                  <a:srgbClr val="FFFFFF"/>
                </a:solidFill>
                <a:latin typeface="メイリオ" panose="020B0604030504040204" pitchFamily="50" charset="-128"/>
                <a:ea typeface="メイリオ" panose="020B0604030504040204" pitchFamily="50" charset="-128"/>
              </a:rPr>
              <a:t>0〜+2日</a:t>
            </a:r>
            <a:endParaRPr lang="ja-JP" altLang="en-US" sz="1050" dirty="0"/>
          </a:p>
        </p:txBody>
      </p:sp>
      <p:sp>
        <p:nvSpPr>
          <p:cNvPr id="30" name="Rectangle 29"/>
          <p:cNvSpPr/>
          <p:nvPr/>
        </p:nvSpPr>
        <p:spPr>
          <a:xfrm>
            <a:off x="5961888" y="2999232"/>
            <a:ext cx="3374135" cy="868680"/>
          </a:xfrm>
          <a:prstGeom prst="rect">
            <a:avLst/>
          </a:prstGeom>
          <a:noFill/>
          <a:ln>
            <a:noFill/>
          </a:ln>
        </p:spPr>
        <p:txBody>
          <a:bodyPr wrap="square" lIns="18288" tIns="18288" rIns="18288" bIns="18288" rtlCol="0" anchor="t">
            <a:noAutofit/>
          </a:bodyPr>
          <a:lstStyle/>
          <a:p>
            <a:pPr algn="l">
              <a:spcAft>
                <a:spcPts val="200"/>
              </a:spcAft>
              <a:buNone/>
            </a:pPr>
            <a:r>
              <a:rPr lang="ja-JP" altLang="en-US" sz="1200" b="1" dirty="0">
                <a:solidFill>
                  <a:srgbClr val="323366"/>
                </a:solidFill>
                <a:latin typeface="メイリオ" panose="020B0604030504040204" pitchFamily="50" charset="-128"/>
                <a:ea typeface="メイリオ" panose="020B0604030504040204" pitchFamily="50" charset="-128"/>
              </a:rPr>
              <a:t>同じ日に、複数のサービスを並べて比べる</a:t>
            </a:r>
            <a:endParaRPr lang="ja-JP" altLang="en-US" sz="1200" dirty="0"/>
          </a:p>
          <a:p>
            <a:pPr algn="l">
              <a:spcAft>
                <a:spcPts val="200"/>
              </a:spcAft>
              <a:buNone/>
            </a:pPr>
            <a:r>
              <a:rPr lang="ja-JP" altLang="en-US" sz="1050" b="0" dirty="0">
                <a:solidFill>
                  <a:srgbClr val="595959"/>
                </a:solidFill>
                <a:latin typeface="メイリオ" panose="020B0604030504040204" pitchFamily="50" charset="-128"/>
                <a:ea typeface="メイリオ" panose="020B0604030504040204" pitchFamily="50" charset="-128"/>
              </a:rPr>
              <a:t>タイミー／バイトル／短期バイト／単発バイト アプリ</a:t>
            </a:r>
            <a:endParaRPr lang="ja-JP" altLang="en-US" sz="1200" dirty="0"/>
          </a:p>
        </p:txBody>
      </p:sp>
      <p:sp>
        <p:nvSpPr>
          <p:cNvPr id="31" name="Rounded Rectangle 30"/>
          <p:cNvSpPr/>
          <p:nvPr/>
        </p:nvSpPr>
        <p:spPr>
          <a:xfrm>
            <a:off x="4910328" y="4032504"/>
            <a:ext cx="960120" cy="274320"/>
          </a:xfrm>
          <a:prstGeom prst="roundRect">
            <a:avLst>
              <a:gd name="adj" fmla="val 20000"/>
            </a:avLst>
          </a:prstGeom>
          <a:solidFill>
            <a:srgbClr val="1E2761"/>
          </a:solidFill>
          <a:ln>
            <a:noFill/>
          </a:ln>
        </p:spPr>
        <p:txBody>
          <a:bodyPr wrap="square" lIns="36576" tIns="0" rIns="36576" bIns="0" rtlCol="0" anchor="ctr">
            <a:noAutofit/>
          </a:bodyPr>
          <a:lstStyle/>
          <a:p>
            <a:pPr algn="ctr">
              <a:buNone/>
            </a:pPr>
            <a:r>
              <a:rPr lang="ja-JP" altLang="en-US" sz="1050" b="1" dirty="0">
                <a:solidFill>
                  <a:srgbClr val="FFFFFF"/>
                </a:solidFill>
                <a:latin typeface="メイリオ" panose="020B0604030504040204" pitchFamily="50" charset="-128"/>
                <a:ea typeface="メイリオ" panose="020B0604030504040204" pitchFamily="50" charset="-128"/>
              </a:rPr>
              <a:t>+1〜+15日</a:t>
            </a:r>
            <a:endParaRPr lang="ja-JP" altLang="en-US" sz="1050" dirty="0"/>
          </a:p>
        </p:txBody>
      </p:sp>
      <p:sp>
        <p:nvSpPr>
          <p:cNvPr id="32" name="Rectangle 31"/>
          <p:cNvSpPr/>
          <p:nvPr/>
        </p:nvSpPr>
        <p:spPr>
          <a:xfrm>
            <a:off x="5961888" y="3986784"/>
            <a:ext cx="3374135" cy="868680"/>
          </a:xfrm>
          <a:prstGeom prst="rect">
            <a:avLst/>
          </a:prstGeom>
          <a:noFill/>
          <a:ln>
            <a:noFill/>
          </a:ln>
        </p:spPr>
        <p:txBody>
          <a:bodyPr wrap="square" lIns="18288" tIns="18288" rIns="18288" bIns="18288" rtlCol="0" anchor="t">
            <a:noAutofit/>
          </a:bodyPr>
          <a:lstStyle/>
          <a:p>
            <a:pPr algn="l">
              <a:spcAft>
                <a:spcPts val="200"/>
              </a:spcAft>
              <a:buNone/>
            </a:pPr>
            <a:r>
              <a:rPr lang="ja-JP" altLang="en-US" sz="1200" b="1" dirty="0">
                <a:solidFill>
                  <a:srgbClr val="323366"/>
                </a:solidFill>
                <a:latin typeface="メイリオ" panose="020B0604030504040204" pitchFamily="50" charset="-128"/>
                <a:ea typeface="メイリオ" panose="020B0604030504040204" pitchFamily="50" charset="-128"/>
              </a:rPr>
              <a:t>続けられるか・扶養や税金は大丈夫か</a:t>
            </a:r>
            <a:endParaRPr lang="ja-JP" altLang="en-US" sz="1200" dirty="0"/>
          </a:p>
          <a:p>
            <a:pPr algn="l">
              <a:spcAft>
                <a:spcPts val="200"/>
              </a:spcAft>
              <a:buNone/>
            </a:pPr>
            <a:r>
              <a:rPr lang="ja-JP" altLang="en-US" sz="1050" b="0" dirty="0">
                <a:solidFill>
                  <a:srgbClr val="595959"/>
                </a:solidFill>
                <a:latin typeface="メイリオ" panose="020B0604030504040204" pitchFamily="50" charset="-128"/>
                <a:ea typeface="メイリオ" panose="020B0604030504040204" pitchFamily="50" charset="-128"/>
              </a:rPr>
              <a:t>副業 確定申告 20万円以下／ダブルワーク 扶養内 いくらまで</a:t>
            </a:r>
            <a:endParaRPr lang="ja-JP" alt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9000" y="138240"/>
            <a:ext cx="7920000" cy="338040"/>
          </a:xfrm>
          <a:prstGeom prst="rect">
            <a:avLst/>
          </a:prstGeom>
          <a:noFill/>
        </p:spPr>
        <p:txBody>
          <a:bodyPr wrap="square" lIns="91425" tIns="45700" rIns="91425" bIns="45700" anchor="ctr">
            <a:spAutoFit/>
          </a:bodyPr>
          <a:lstStyle/>
          <a:p>
            <a:pPr algn="l">
              <a:lnSpc>
                <a:spcPct val="120000"/>
              </a:lnSpc>
            </a:pPr>
            <a:r>
              <a:rPr sz="1600" b="1">
                <a:solidFill>
                  <a:srgbClr val="323366"/>
                </a:solidFill>
                <a:latin typeface="メイリオ"/>
                <a:ea typeface="メイリオ"/>
                <a:cs typeface="メイリオ"/>
              </a:rPr>
              <a:t>業界課題②｜応募後の連絡・勤務前の案内・次の募集に手間がかかる</a:t>
            </a:r>
          </a:p>
        </p:txBody>
      </p:sp>
      <p:sp>
        <p:nvSpPr>
          <p:cNvPr id="3" name="TextBox 2"/>
          <p:cNvSpPr txBox="1"/>
          <p:nvPr/>
        </p:nvSpPr>
        <p:spPr>
          <a:xfrm>
            <a:off x="429768" y="696249"/>
            <a:ext cx="9331200" cy="585216"/>
          </a:xfrm>
          <a:prstGeom prst="rect">
            <a:avLst/>
          </a:prstGeom>
          <a:noFill/>
        </p:spPr>
        <p:txBody>
          <a:bodyPr wrap="square" lIns="28800" tIns="7200" rIns="28800" bIns="7200" anchor="ctr">
            <a:spAutoFit/>
          </a:bodyPr>
          <a:lstStyle/>
          <a:p>
            <a:pPr algn="l">
              <a:lnSpc>
                <a:spcPct val="120000"/>
              </a:lnSpc>
            </a:pPr>
            <a:r>
              <a:rPr sz="1400" b="1" dirty="0" err="1">
                <a:solidFill>
                  <a:srgbClr val="1E2761"/>
                </a:solidFill>
                <a:latin typeface="メイリオ"/>
                <a:ea typeface="メイリオ"/>
                <a:cs typeface="メイリオ"/>
              </a:rPr>
              <a:t>応募から勤務までの連絡、勤務前の案内、次の募集。どれも人数が増えるほど手間が増えます</a:t>
            </a:r>
            <a:r>
              <a:rPr sz="1400" b="1" dirty="0">
                <a:solidFill>
                  <a:srgbClr val="1E2761"/>
                </a:solidFill>
                <a:latin typeface="メイリオ"/>
                <a:ea typeface="メイリオ"/>
                <a:cs typeface="メイリオ"/>
              </a:rPr>
              <a:t>。</a:t>
            </a:r>
          </a:p>
          <a:p>
            <a:pPr algn="l">
              <a:lnSpc>
                <a:spcPct val="120000"/>
              </a:lnSpc>
            </a:pPr>
            <a:r>
              <a:rPr sz="1400" b="1" dirty="0" err="1">
                <a:solidFill>
                  <a:srgbClr val="FF0000"/>
                </a:solidFill>
                <a:latin typeface="メイリオ"/>
                <a:ea typeface="メイリオ"/>
                <a:cs typeface="メイリオ"/>
              </a:rPr>
              <a:t>連絡をLINEに集めることで、届きやすく、次の募集にもつなげやすくなります</a:t>
            </a:r>
            <a:r>
              <a:rPr sz="1400" b="1" dirty="0">
                <a:solidFill>
                  <a:srgbClr val="FF0000"/>
                </a:solidFill>
                <a:latin typeface="メイリオ"/>
                <a:ea typeface="メイリオ"/>
                <a:cs typeface="メイリオ"/>
              </a:rPr>
              <a:t>。</a:t>
            </a:r>
          </a:p>
        </p:txBody>
      </p:sp>
      <p:sp>
        <p:nvSpPr>
          <p:cNvPr id="18" name="Rectangle 17"/>
          <p:cNvSpPr/>
          <p:nvPr/>
        </p:nvSpPr>
        <p:spPr>
          <a:xfrm>
            <a:off x="431292" y="5002638"/>
            <a:ext cx="9043416" cy="374904"/>
          </a:xfrm>
          <a:prstGeom prst="rect">
            <a:avLst/>
          </a:prstGeom>
          <a:solidFill>
            <a:srgbClr val="0020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432000" y="6089904"/>
            <a:ext cx="9043200" cy="457200"/>
          </a:xfrm>
          <a:prstGeom prst="rect">
            <a:avLst/>
          </a:prstGeom>
          <a:noFill/>
        </p:spPr>
        <p:txBody>
          <a:bodyPr wrap="square" lIns="28800" tIns="7200" rIns="28800" bIns="7200" anchor="ctr">
            <a:spAutoFit/>
          </a:bodyPr>
          <a:lstStyle/>
          <a:p>
            <a:pPr algn="l">
              <a:lnSpc>
                <a:spcPct val="120000"/>
              </a:lnSpc>
            </a:pPr>
            <a:r>
              <a:rPr sz="900" b="0">
                <a:solidFill>
                  <a:srgbClr val="888888"/>
                </a:solidFill>
                <a:latin typeface="メイリオ"/>
                <a:ea typeface="メイリオ"/>
                <a:cs typeface="メイリオ"/>
              </a:rPr>
              <a:t>出典｜LINEの月間利用者数・メッセージ開封率：LINEヤフー公式値。※応募から勤務までの実施率・再応募率は公開データがなく、貴社での計測が必要です</a:t>
            </a:r>
          </a:p>
        </p:txBody>
      </p:sp>
      <p:sp>
        <p:nvSpPr>
          <p:cNvPr id="21" name="Rectangle 20"/>
          <p:cNvSpPr/>
          <p:nvPr/>
        </p:nvSpPr>
        <p:spPr>
          <a:xfrm>
            <a:off x="431292" y="5002638"/>
            <a:ext cx="9043416" cy="374904"/>
          </a:xfrm>
          <a:prstGeom prst="rect">
            <a:avLst/>
          </a:prstGeom>
          <a:noFill/>
          <a:ln>
            <a:noFill/>
          </a:ln>
        </p:spPr>
        <p:txBody>
          <a:bodyPr wrap="square" lIns="45720" tIns="0" rIns="45720" bIns="0" rtlCol="0" anchor="ctr">
            <a:noAutofit/>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rPr>
              <a:t>連絡の手間を減らしながら、次の募集が届く状態をつくる</a:t>
            </a:r>
            <a:endParaRPr lang="ja-JP" altLang="en-US" sz="1300" dirty="0"/>
          </a:p>
        </p:txBody>
      </p:sp>
      <p:sp>
        <p:nvSpPr>
          <p:cNvPr id="22" name="Rounded Rectangle 21"/>
          <p:cNvSpPr/>
          <p:nvPr/>
        </p:nvSpPr>
        <p:spPr>
          <a:xfrm>
            <a:off x="429768" y="1653758"/>
            <a:ext cx="2880360" cy="310896"/>
          </a:xfrm>
          <a:prstGeom prst="roundRect">
            <a:avLst>
              <a:gd name="adj" fmla="val 20000"/>
            </a:avLst>
          </a:prstGeom>
          <a:solidFill>
            <a:srgbClr val="1E2761"/>
          </a:solidFill>
          <a:ln>
            <a:noFill/>
          </a:ln>
        </p:spPr>
        <p:txBody>
          <a:bodyPr wrap="square" lIns="36576" tIns="0" rIns="36576" bIns="0" rtlCol="0" anchor="ctr">
            <a:noAutofit/>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応募のあと</a:t>
            </a:r>
            <a:endParaRPr lang="ja-JP" altLang="en-US" sz="1400" dirty="0"/>
          </a:p>
        </p:txBody>
      </p:sp>
      <p:sp>
        <p:nvSpPr>
          <p:cNvPr id="23" name="Rounded Rectangle 22"/>
          <p:cNvSpPr/>
          <p:nvPr/>
        </p:nvSpPr>
        <p:spPr>
          <a:xfrm>
            <a:off x="429768" y="2065238"/>
            <a:ext cx="2880360" cy="759823"/>
          </a:xfrm>
          <a:prstGeom prst="roundRect">
            <a:avLst>
              <a:gd name="adj" fmla="val 5000"/>
            </a:avLst>
          </a:prstGeom>
          <a:solidFill>
            <a:srgbClr val="F5F6FA"/>
          </a:solidFill>
          <a:ln w="9525">
            <a:solidFill>
              <a:srgbClr val="D9D9D9"/>
            </a:solidFill>
          </a:ln>
        </p:spPr>
        <p:txBody>
          <a:bodyPr wrap="square" lIns="109728" tIns="73152" rIns="91440" bIns="54864" rtlCol="0" anchor="t">
            <a:noAutofit/>
          </a:bodyPr>
          <a:lstStyle/>
          <a:p>
            <a:pPr algn="l">
              <a:spcAft>
                <a:spcPts val="300"/>
              </a:spcAft>
              <a:buNone/>
            </a:pPr>
            <a:r>
              <a:rPr lang="ja-JP" altLang="en-US" sz="1050" b="1" dirty="0">
                <a:solidFill>
                  <a:srgbClr val="595959"/>
                </a:solidFill>
                <a:latin typeface="メイリオ" panose="020B0604030504040204" pitchFamily="50" charset="-128"/>
                <a:ea typeface="メイリオ" panose="020B0604030504040204" pitchFamily="50" charset="-128"/>
              </a:rPr>
              <a:t>起きやすいこと（想定）</a:t>
            </a:r>
            <a:endParaRPr lang="ja-JP" altLang="en-US" sz="1200" dirty="0"/>
          </a:p>
          <a:p>
            <a:pPr algn="l">
              <a:spcAft>
                <a:spcPts val="300"/>
              </a:spcAft>
              <a:buNone/>
            </a:pPr>
            <a:r>
              <a:rPr lang="ja-JP" altLang="en-US" sz="1200" b="0" dirty="0">
                <a:solidFill>
                  <a:srgbClr val="333333"/>
                </a:solidFill>
                <a:latin typeface="メイリオ" panose="020B0604030504040204" pitchFamily="50" charset="-128"/>
                <a:ea typeface="メイリオ" panose="020B0604030504040204" pitchFamily="50" charset="-128"/>
              </a:rPr>
              <a:t>メールや電話がつながらず、面接・登録の案内が届きにくい</a:t>
            </a:r>
            <a:endParaRPr lang="ja-JP" altLang="en-US" sz="1200" dirty="0"/>
          </a:p>
        </p:txBody>
      </p:sp>
      <p:sp>
        <p:nvSpPr>
          <p:cNvPr id="24" name="Rectangle 23"/>
          <p:cNvSpPr/>
          <p:nvPr/>
        </p:nvSpPr>
        <p:spPr>
          <a:xfrm>
            <a:off x="1641348" y="2862072"/>
            <a:ext cx="457200" cy="274320"/>
          </a:xfrm>
          <a:prstGeom prst="rect">
            <a:avLst/>
          </a:prstGeom>
          <a:noFill/>
          <a:ln>
            <a:noFill/>
          </a:ln>
        </p:spPr>
        <p:txBody>
          <a:bodyPr wrap="square" lIns="0" tIns="0" rIns="0" bIns="0" rtlCol="0" anchor="ctr">
            <a:noAutofit/>
          </a:bodyPr>
          <a:lstStyle/>
          <a:p>
            <a:pPr algn="ctr">
              <a:buNone/>
            </a:pPr>
            <a:r>
              <a:rPr lang="ja-JP" altLang="en-US" sz="1600" b="0" dirty="0">
                <a:solidFill>
                  <a:srgbClr val="1E2761"/>
                </a:solidFill>
                <a:latin typeface="メイリオ" panose="020B0604030504040204" pitchFamily="50" charset="-128"/>
                <a:ea typeface="メイリオ" panose="020B0604030504040204" pitchFamily="50" charset="-128"/>
              </a:rPr>
              <a:t>▼</a:t>
            </a:r>
            <a:endParaRPr lang="ja-JP" altLang="en-US" sz="1600" dirty="0"/>
          </a:p>
        </p:txBody>
      </p:sp>
      <p:sp>
        <p:nvSpPr>
          <p:cNvPr id="25" name="Rounded Rectangle 24"/>
          <p:cNvSpPr/>
          <p:nvPr/>
        </p:nvSpPr>
        <p:spPr>
          <a:xfrm>
            <a:off x="429768" y="3154680"/>
            <a:ext cx="2880360" cy="658368"/>
          </a:xfrm>
          <a:prstGeom prst="roundRect">
            <a:avLst>
              <a:gd name="adj" fmla="val 5000"/>
            </a:avLst>
          </a:prstGeom>
          <a:solidFill>
            <a:srgbClr val="FFFFFF"/>
          </a:solidFill>
          <a:ln w="9525">
            <a:solidFill>
              <a:srgbClr val="1E2761"/>
            </a:solidFill>
          </a:ln>
        </p:spPr>
        <p:txBody>
          <a:bodyPr wrap="square" lIns="109728" tIns="73152" rIns="91440" bIns="54864" rtlCol="0" anchor="t">
            <a:noAutofit/>
          </a:bodyPr>
          <a:lstStyle/>
          <a:p>
            <a:pPr algn="l">
              <a:spcAft>
                <a:spcPts val="300"/>
              </a:spcAft>
              <a:buNone/>
            </a:pPr>
            <a:r>
              <a:rPr lang="ja-JP" altLang="en-US" sz="1050" b="1" dirty="0">
                <a:solidFill>
                  <a:srgbClr val="323366"/>
                </a:solidFill>
                <a:latin typeface="メイリオ" panose="020B0604030504040204" pitchFamily="50" charset="-128"/>
                <a:ea typeface="メイリオ" panose="020B0604030504040204" pitchFamily="50" charset="-128"/>
              </a:rPr>
              <a:t>LINEでできること</a:t>
            </a:r>
            <a:endParaRPr lang="ja-JP" altLang="en-US" sz="1200" dirty="0"/>
          </a:p>
          <a:p>
            <a:pPr algn="l">
              <a:spcAft>
                <a:spcPts val="300"/>
              </a:spcAft>
              <a:buNone/>
            </a:pPr>
            <a:r>
              <a:rPr lang="ja-JP" altLang="en-US" sz="1200" b="0" dirty="0">
                <a:solidFill>
                  <a:srgbClr val="333333"/>
                </a:solidFill>
                <a:latin typeface="メイリオ" panose="020B0604030504040204" pitchFamily="50" charset="-128"/>
                <a:ea typeface="メイリオ" panose="020B0604030504040204" pitchFamily="50" charset="-128"/>
              </a:rPr>
              <a:t>LINEから応募いただき、面接・登録の案内もLINEで届ける</a:t>
            </a:r>
            <a:endParaRPr lang="ja-JP" altLang="en-US" sz="1200" dirty="0"/>
          </a:p>
        </p:txBody>
      </p:sp>
      <p:sp>
        <p:nvSpPr>
          <p:cNvPr id="26" name="Rounded Rectangle 25"/>
          <p:cNvSpPr/>
          <p:nvPr/>
        </p:nvSpPr>
        <p:spPr>
          <a:xfrm>
            <a:off x="3511296" y="1653758"/>
            <a:ext cx="2880360" cy="310896"/>
          </a:xfrm>
          <a:prstGeom prst="roundRect">
            <a:avLst>
              <a:gd name="adj" fmla="val 20000"/>
            </a:avLst>
          </a:prstGeom>
          <a:solidFill>
            <a:srgbClr val="1E2761"/>
          </a:solidFill>
          <a:ln>
            <a:noFill/>
          </a:ln>
        </p:spPr>
        <p:txBody>
          <a:bodyPr wrap="square" lIns="36576" tIns="0" rIns="36576" bIns="0" rtlCol="0" anchor="ctr">
            <a:noAutofit/>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勤務の前</a:t>
            </a:r>
            <a:endParaRPr lang="ja-JP" altLang="en-US" sz="1400" dirty="0"/>
          </a:p>
        </p:txBody>
      </p:sp>
      <p:sp>
        <p:nvSpPr>
          <p:cNvPr id="27" name="Rounded Rectangle 26"/>
          <p:cNvSpPr/>
          <p:nvPr/>
        </p:nvSpPr>
        <p:spPr>
          <a:xfrm>
            <a:off x="3511296" y="2065238"/>
            <a:ext cx="2880360" cy="759823"/>
          </a:xfrm>
          <a:prstGeom prst="roundRect">
            <a:avLst>
              <a:gd name="adj" fmla="val 5000"/>
            </a:avLst>
          </a:prstGeom>
          <a:solidFill>
            <a:srgbClr val="F5F6FA"/>
          </a:solidFill>
          <a:ln w="9525">
            <a:solidFill>
              <a:srgbClr val="D9D9D9"/>
            </a:solidFill>
          </a:ln>
        </p:spPr>
        <p:txBody>
          <a:bodyPr wrap="square" lIns="109728" tIns="73152" rIns="91440" bIns="54864" rtlCol="0" anchor="t">
            <a:noAutofit/>
          </a:bodyPr>
          <a:lstStyle/>
          <a:p>
            <a:pPr algn="l">
              <a:spcAft>
                <a:spcPts val="300"/>
              </a:spcAft>
              <a:buNone/>
            </a:pPr>
            <a:r>
              <a:rPr lang="ja-JP" altLang="en-US" sz="1050" b="1" dirty="0">
                <a:solidFill>
                  <a:srgbClr val="595959"/>
                </a:solidFill>
                <a:latin typeface="メイリオ" panose="020B0604030504040204" pitchFamily="50" charset="-128"/>
                <a:ea typeface="メイリオ" panose="020B0604030504040204" pitchFamily="50" charset="-128"/>
              </a:rPr>
              <a:t>起きやすいこと（想定）</a:t>
            </a:r>
            <a:endParaRPr lang="ja-JP" altLang="en-US" sz="1200" dirty="0"/>
          </a:p>
          <a:p>
            <a:pPr algn="l">
              <a:spcAft>
                <a:spcPts val="300"/>
              </a:spcAft>
              <a:buNone/>
            </a:pPr>
            <a:r>
              <a:rPr lang="ja-JP" altLang="en-US" sz="1200" b="0" dirty="0">
                <a:solidFill>
                  <a:srgbClr val="333333"/>
                </a:solidFill>
                <a:latin typeface="メイリオ" panose="020B0604030504040204" pitchFamily="50" charset="-128"/>
                <a:ea typeface="メイリオ" panose="020B0604030504040204" pitchFamily="50" charset="-128"/>
              </a:rPr>
              <a:t>集合場所・時間・持ち物・服装の案内を、人数分くり返し送る</a:t>
            </a:r>
            <a:endParaRPr lang="ja-JP" altLang="en-US" sz="1200" dirty="0"/>
          </a:p>
        </p:txBody>
      </p:sp>
      <p:sp>
        <p:nvSpPr>
          <p:cNvPr id="28" name="Rectangle 27"/>
          <p:cNvSpPr/>
          <p:nvPr/>
        </p:nvSpPr>
        <p:spPr>
          <a:xfrm>
            <a:off x="4722876" y="2862072"/>
            <a:ext cx="457200" cy="274320"/>
          </a:xfrm>
          <a:prstGeom prst="rect">
            <a:avLst/>
          </a:prstGeom>
          <a:noFill/>
          <a:ln>
            <a:noFill/>
          </a:ln>
        </p:spPr>
        <p:txBody>
          <a:bodyPr wrap="square" lIns="0" tIns="0" rIns="0" bIns="0" rtlCol="0" anchor="ctr">
            <a:noAutofit/>
          </a:bodyPr>
          <a:lstStyle/>
          <a:p>
            <a:pPr algn="ctr">
              <a:buNone/>
            </a:pPr>
            <a:r>
              <a:rPr lang="ja-JP" altLang="en-US" sz="1600" b="0" dirty="0">
                <a:solidFill>
                  <a:srgbClr val="1E2761"/>
                </a:solidFill>
                <a:latin typeface="メイリオ" panose="020B0604030504040204" pitchFamily="50" charset="-128"/>
                <a:ea typeface="メイリオ" panose="020B0604030504040204" pitchFamily="50" charset="-128"/>
              </a:rPr>
              <a:t>▼</a:t>
            </a:r>
            <a:endParaRPr lang="ja-JP" altLang="en-US" sz="1600" dirty="0"/>
          </a:p>
        </p:txBody>
      </p:sp>
      <p:sp>
        <p:nvSpPr>
          <p:cNvPr id="29" name="Rounded Rectangle 28"/>
          <p:cNvSpPr/>
          <p:nvPr/>
        </p:nvSpPr>
        <p:spPr>
          <a:xfrm>
            <a:off x="3511296" y="3154681"/>
            <a:ext cx="2880360" cy="658368"/>
          </a:xfrm>
          <a:prstGeom prst="roundRect">
            <a:avLst>
              <a:gd name="adj" fmla="val 5000"/>
            </a:avLst>
          </a:prstGeom>
          <a:solidFill>
            <a:srgbClr val="FFFFFF"/>
          </a:solidFill>
          <a:ln w="9525">
            <a:solidFill>
              <a:srgbClr val="1E2761"/>
            </a:solidFill>
          </a:ln>
        </p:spPr>
        <p:txBody>
          <a:bodyPr wrap="square" lIns="109728" tIns="73152" rIns="91440" bIns="54864" rtlCol="0" anchor="t">
            <a:noAutofit/>
          </a:bodyPr>
          <a:lstStyle/>
          <a:p>
            <a:pPr algn="l">
              <a:spcAft>
                <a:spcPts val="300"/>
              </a:spcAft>
              <a:buNone/>
            </a:pPr>
            <a:r>
              <a:rPr lang="ja-JP" altLang="en-US" sz="1050" b="1" dirty="0">
                <a:solidFill>
                  <a:srgbClr val="323366"/>
                </a:solidFill>
                <a:latin typeface="メイリオ" panose="020B0604030504040204" pitchFamily="50" charset="-128"/>
                <a:ea typeface="メイリオ" panose="020B0604030504040204" pitchFamily="50" charset="-128"/>
              </a:rPr>
              <a:t>LINEでできること</a:t>
            </a:r>
            <a:endParaRPr lang="ja-JP" altLang="en-US" sz="1200" dirty="0"/>
          </a:p>
          <a:p>
            <a:pPr algn="l">
              <a:spcAft>
                <a:spcPts val="300"/>
              </a:spcAft>
              <a:buNone/>
            </a:pPr>
            <a:r>
              <a:rPr lang="ja-JP" altLang="en-US" sz="1200" b="0" dirty="0">
                <a:solidFill>
                  <a:srgbClr val="333333"/>
                </a:solidFill>
                <a:latin typeface="メイリオ" panose="020B0604030504040204" pitchFamily="50" charset="-128"/>
                <a:ea typeface="メイリオ" panose="020B0604030504040204" pitchFamily="50" charset="-128"/>
              </a:rPr>
              <a:t>同じイベントの方へ一斉に、会場・業務ごとに絞って案内する</a:t>
            </a:r>
            <a:endParaRPr lang="ja-JP" altLang="en-US" sz="1200" dirty="0"/>
          </a:p>
        </p:txBody>
      </p:sp>
      <p:sp>
        <p:nvSpPr>
          <p:cNvPr id="30" name="Rounded Rectangle 29"/>
          <p:cNvSpPr/>
          <p:nvPr/>
        </p:nvSpPr>
        <p:spPr>
          <a:xfrm>
            <a:off x="6592824" y="1653758"/>
            <a:ext cx="2880360" cy="310896"/>
          </a:xfrm>
          <a:prstGeom prst="roundRect">
            <a:avLst>
              <a:gd name="adj" fmla="val 20000"/>
            </a:avLst>
          </a:prstGeom>
          <a:solidFill>
            <a:srgbClr val="1E2761"/>
          </a:solidFill>
          <a:ln>
            <a:noFill/>
          </a:ln>
        </p:spPr>
        <p:txBody>
          <a:bodyPr wrap="square" lIns="36576" tIns="0" rIns="36576" bIns="0" rtlCol="0" anchor="ctr">
            <a:noAutofit/>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勤務のあと</a:t>
            </a:r>
            <a:endParaRPr lang="ja-JP" altLang="en-US" sz="1400" dirty="0"/>
          </a:p>
        </p:txBody>
      </p:sp>
      <p:sp>
        <p:nvSpPr>
          <p:cNvPr id="31" name="Rounded Rectangle 30"/>
          <p:cNvSpPr/>
          <p:nvPr/>
        </p:nvSpPr>
        <p:spPr>
          <a:xfrm>
            <a:off x="6592824" y="2065238"/>
            <a:ext cx="2880360" cy="759823"/>
          </a:xfrm>
          <a:prstGeom prst="roundRect">
            <a:avLst>
              <a:gd name="adj" fmla="val 5000"/>
            </a:avLst>
          </a:prstGeom>
          <a:solidFill>
            <a:srgbClr val="F5F6FA"/>
          </a:solidFill>
          <a:ln w="9525">
            <a:solidFill>
              <a:srgbClr val="D9D9D9"/>
            </a:solidFill>
          </a:ln>
        </p:spPr>
        <p:txBody>
          <a:bodyPr wrap="square" lIns="109728" tIns="73152" rIns="91440" bIns="54864" rtlCol="0" anchor="t">
            <a:noAutofit/>
          </a:bodyPr>
          <a:lstStyle/>
          <a:p>
            <a:pPr algn="l">
              <a:spcAft>
                <a:spcPts val="300"/>
              </a:spcAft>
              <a:buNone/>
            </a:pPr>
            <a:r>
              <a:rPr lang="ja-JP" altLang="en-US" sz="1050" b="1" dirty="0">
                <a:solidFill>
                  <a:srgbClr val="595959"/>
                </a:solidFill>
                <a:latin typeface="メイリオ" panose="020B0604030504040204" pitchFamily="50" charset="-128"/>
                <a:ea typeface="メイリオ" panose="020B0604030504040204" pitchFamily="50" charset="-128"/>
              </a:rPr>
              <a:t>起きやすいこと（想定）</a:t>
            </a:r>
            <a:endParaRPr lang="ja-JP" altLang="en-US" sz="1200" dirty="0"/>
          </a:p>
          <a:p>
            <a:pPr algn="l">
              <a:spcAft>
                <a:spcPts val="300"/>
              </a:spcAft>
              <a:buNone/>
            </a:pPr>
            <a:r>
              <a:rPr lang="ja-JP" altLang="en-US" sz="1200" b="0" dirty="0">
                <a:solidFill>
                  <a:srgbClr val="333333"/>
                </a:solidFill>
                <a:latin typeface="メイリオ" panose="020B0604030504040204" pitchFamily="50" charset="-128"/>
                <a:ea typeface="メイリオ" panose="020B0604030504040204" pitchFamily="50" charset="-128"/>
              </a:rPr>
              <a:t>次の募集を届ける手段が残らず、新規の募集に頼りがち</a:t>
            </a:r>
            <a:endParaRPr lang="ja-JP" altLang="en-US" sz="1200" dirty="0"/>
          </a:p>
        </p:txBody>
      </p:sp>
      <p:sp>
        <p:nvSpPr>
          <p:cNvPr id="32" name="Rectangle 31"/>
          <p:cNvSpPr/>
          <p:nvPr/>
        </p:nvSpPr>
        <p:spPr>
          <a:xfrm>
            <a:off x="7804404" y="2862072"/>
            <a:ext cx="457200" cy="274320"/>
          </a:xfrm>
          <a:prstGeom prst="rect">
            <a:avLst/>
          </a:prstGeom>
          <a:noFill/>
          <a:ln>
            <a:noFill/>
          </a:ln>
        </p:spPr>
        <p:txBody>
          <a:bodyPr wrap="square" lIns="0" tIns="0" rIns="0" bIns="0" rtlCol="0" anchor="ctr">
            <a:noAutofit/>
          </a:bodyPr>
          <a:lstStyle/>
          <a:p>
            <a:pPr algn="ctr">
              <a:buNone/>
            </a:pPr>
            <a:r>
              <a:rPr lang="ja-JP" altLang="en-US" sz="1600" b="0" dirty="0">
                <a:solidFill>
                  <a:srgbClr val="1E2761"/>
                </a:solidFill>
                <a:latin typeface="メイリオ" panose="020B0604030504040204" pitchFamily="50" charset="-128"/>
                <a:ea typeface="メイリオ" panose="020B0604030504040204" pitchFamily="50" charset="-128"/>
              </a:rPr>
              <a:t>▼</a:t>
            </a:r>
            <a:endParaRPr lang="ja-JP" altLang="en-US" sz="1600" dirty="0"/>
          </a:p>
        </p:txBody>
      </p:sp>
      <p:sp>
        <p:nvSpPr>
          <p:cNvPr id="33" name="Rounded Rectangle 32"/>
          <p:cNvSpPr/>
          <p:nvPr/>
        </p:nvSpPr>
        <p:spPr>
          <a:xfrm>
            <a:off x="6592824" y="3154680"/>
            <a:ext cx="2880360" cy="658368"/>
          </a:xfrm>
          <a:prstGeom prst="roundRect">
            <a:avLst>
              <a:gd name="adj" fmla="val 5000"/>
            </a:avLst>
          </a:prstGeom>
          <a:solidFill>
            <a:srgbClr val="FFFFFF"/>
          </a:solidFill>
          <a:ln w="9525">
            <a:solidFill>
              <a:srgbClr val="1E2761"/>
            </a:solidFill>
          </a:ln>
        </p:spPr>
        <p:txBody>
          <a:bodyPr wrap="square" lIns="109728" tIns="73152" rIns="91440" bIns="54864" rtlCol="0" anchor="t">
            <a:noAutofit/>
          </a:bodyPr>
          <a:lstStyle/>
          <a:p>
            <a:pPr algn="l">
              <a:spcAft>
                <a:spcPts val="300"/>
              </a:spcAft>
              <a:buNone/>
            </a:pPr>
            <a:r>
              <a:rPr lang="ja-JP" altLang="en-US" sz="1050" b="1" dirty="0">
                <a:solidFill>
                  <a:srgbClr val="323366"/>
                </a:solidFill>
                <a:latin typeface="メイリオ" panose="020B0604030504040204" pitchFamily="50" charset="-128"/>
                <a:ea typeface="メイリオ" panose="020B0604030504040204" pitchFamily="50" charset="-128"/>
              </a:rPr>
              <a:t>LINEでできること</a:t>
            </a:r>
            <a:endParaRPr lang="ja-JP" altLang="en-US" sz="1200" dirty="0"/>
          </a:p>
          <a:p>
            <a:pPr algn="l">
              <a:spcAft>
                <a:spcPts val="300"/>
              </a:spcAft>
              <a:buNone/>
            </a:pPr>
            <a:r>
              <a:rPr lang="ja-JP" altLang="en-US" sz="1200" b="0" dirty="0">
                <a:solidFill>
                  <a:srgbClr val="333333"/>
                </a:solidFill>
                <a:latin typeface="メイリオ" panose="020B0604030504040204" pitchFamily="50" charset="-128"/>
                <a:ea typeface="メイリオ" panose="020B0604030504040204" pitchFamily="50" charset="-128"/>
              </a:rPr>
              <a:t>希望に合う次回イベントの募集を届け、再応募につなげる</a:t>
            </a:r>
            <a:endParaRPr lang="ja-JP" altLang="en-US" sz="1200" dirty="0"/>
          </a:p>
        </p:txBody>
      </p:sp>
      <p:sp>
        <p:nvSpPr>
          <p:cNvPr id="34" name="Rounded Rectangle 33"/>
          <p:cNvSpPr/>
          <p:nvPr/>
        </p:nvSpPr>
        <p:spPr>
          <a:xfrm>
            <a:off x="429768" y="4114365"/>
            <a:ext cx="4421124" cy="658368"/>
          </a:xfrm>
          <a:prstGeom prst="roundRect">
            <a:avLst>
              <a:gd name="adj" fmla="val 5000"/>
            </a:avLst>
          </a:prstGeom>
          <a:solidFill>
            <a:srgbClr val="EEF2F9"/>
          </a:solidFill>
          <a:ln w="9525">
            <a:solidFill>
              <a:srgbClr val="D9D9D9"/>
            </a:solidFill>
          </a:ln>
        </p:spPr>
        <p:txBody>
          <a:bodyPr wrap="square" lIns="109728" tIns="73152" rIns="91440" bIns="54864" rtlCol="0" anchor="t">
            <a:noAutofit/>
          </a:bodyPr>
          <a:lstStyle/>
          <a:p>
            <a:pPr algn="l">
              <a:buNone/>
            </a:pPr>
            <a:endParaRPr lang="ja-JP" altLang="en-US" sz="1200" dirty="0"/>
          </a:p>
        </p:txBody>
      </p:sp>
      <p:sp>
        <p:nvSpPr>
          <p:cNvPr id="35" name="Rectangle 34"/>
          <p:cNvSpPr/>
          <p:nvPr/>
        </p:nvSpPr>
        <p:spPr>
          <a:xfrm>
            <a:off x="566928" y="4114363"/>
            <a:ext cx="2431618" cy="658368"/>
          </a:xfrm>
          <a:prstGeom prst="rect">
            <a:avLst/>
          </a:prstGeom>
          <a:noFill/>
          <a:ln>
            <a:noFill/>
          </a:ln>
        </p:spPr>
        <p:txBody>
          <a:bodyPr wrap="square" lIns="0" tIns="0" rIns="0" bIns="0" rtlCol="0" anchor="ctr">
            <a:noAutofit/>
          </a:bodyPr>
          <a:lstStyle/>
          <a:p>
            <a:pPr algn="l">
              <a:spcAft>
                <a:spcPts val="200"/>
              </a:spcAft>
              <a:buNone/>
            </a:pPr>
            <a:r>
              <a:rPr lang="ja-JP" altLang="en-US" sz="1200" b="1" dirty="0">
                <a:solidFill>
                  <a:srgbClr val="323366"/>
                </a:solidFill>
                <a:latin typeface="メイリオ" panose="020B0604030504040204" pitchFamily="50" charset="-128"/>
                <a:ea typeface="メイリオ" panose="020B0604030504040204" pitchFamily="50" charset="-128"/>
              </a:rPr>
              <a:t>メッセージ開封率（当日中）</a:t>
            </a:r>
            <a:endParaRPr lang="ja-JP" altLang="en-US" sz="1200" dirty="0"/>
          </a:p>
          <a:p>
            <a:pPr algn="l">
              <a:spcAft>
                <a:spcPts val="200"/>
              </a:spcAft>
              <a:buNone/>
            </a:pPr>
            <a:r>
              <a:rPr lang="ja-JP" altLang="en-US" sz="1050" b="0" dirty="0">
                <a:solidFill>
                  <a:srgbClr val="595959"/>
                </a:solidFill>
                <a:latin typeface="メイリオ" panose="020B0604030504040204" pitchFamily="50" charset="-128"/>
                <a:ea typeface="メイリオ" panose="020B0604030504040204" pitchFamily="50" charset="-128"/>
              </a:rPr>
              <a:t>受信直後 約2割／3〜6時間で約5割</a:t>
            </a:r>
            <a:endParaRPr lang="ja-JP" altLang="en-US" sz="1200" dirty="0"/>
          </a:p>
        </p:txBody>
      </p:sp>
      <p:sp>
        <p:nvSpPr>
          <p:cNvPr id="36" name="Rectangle 35"/>
          <p:cNvSpPr/>
          <p:nvPr/>
        </p:nvSpPr>
        <p:spPr>
          <a:xfrm>
            <a:off x="2861386" y="4114364"/>
            <a:ext cx="1852345" cy="658368"/>
          </a:xfrm>
          <a:prstGeom prst="rect">
            <a:avLst/>
          </a:prstGeom>
          <a:noFill/>
          <a:ln>
            <a:noFill/>
          </a:ln>
        </p:spPr>
        <p:txBody>
          <a:bodyPr wrap="square" lIns="0" tIns="0" rIns="0" bIns="0" rtlCol="0" anchor="ctr">
            <a:noAutofit/>
          </a:bodyPr>
          <a:lstStyle/>
          <a:p>
            <a:pPr algn="r">
              <a:buNone/>
            </a:pPr>
            <a:r>
              <a:rPr lang="ja-JP" altLang="en-US" sz="2800" b="1" dirty="0">
                <a:solidFill>
                  <a:srgbClr val="323366"/>
                </a:solidFill>
                <a:latin typeface="メイリオ" panose="020B0604030504040204" pitchFamily="50" charset="-128"/>
                <a:ea typeface="メイリオ" panose="020B0604030504040204" pitchFamily="50" charset="-128"/>
              </a:rPr>
              <a:t>約8割</a:t>
            </a:r>
            <a:endParaRPr lang="ja-JP" altLang="en-US" sz="2800" dirty="0"/>
          </a:p>
        </p:txBody>
      </p:sp>
      <p:sp>
        <p:nvSpPr>
          <p:cNvPr id="37" name="Rounded Rectangle 36"/>
          <p:cNvSpPr/>
          <p:nvPr/>
        </p:nvSpPr>
        <p:spPr>
          <a:xfrm>
            <a:off x="5052059" y="4114365"/>
            <a:ext cx="4421124" cy="658368"/>
          </a:xfrm>
          <a:prstGeom prst="roundRect">
            <a:avLst>
              <a:gd name="adj" fmla="val 5000"/>
            </a:avLst>
          </a:prstGeom>
          <a:solidFill>
            <a:srgbClr val="EEF2F9"/>
          </a:solidFill>
          <a:ln w="9525">
            <a:solidFill>
              <a:srgbClr val="D9D9D9"/>
            </a:solidFill>
          </a:ln>
        </p:spPr>
        <p:txBody>
          <a:bodyPr wrap="square" lIns="109728" tIns="73152" rIns="91440" bIns="54864" rtlCol="0" anchor="t">
            <a:noAutofit/>
          </a:bodyPr>
          <a:lstStyle/>
          <a:p>
            <a:pPr algn="l">
              <a:buNone/>
            </a:pPr>
            <a:endParaRPr lang="ja-JP" altLang="en-US" sz="1200" dirty="0"/>
          </a:p>
        </p:txBody>
      </p:sp>
      <p:sp>
        <p:nvSpPr>
          <p:cNvPr id="38" name="Rectangle 37"/>
          <p:cNvSpPr/>
          <p:nvPr/>
        </p:nvSpPr>
        <p:spPr>
          <a:xfrm>
            <a:off x="5189220" y="4114364"/>
            <a:ext cx="2431618" cy="658368"/>
          </a:xfrm>
          <a:prstGeom prst="rect">
            <a:avLst/>
          </a:prstGeom>
          <a:noFill/>
          <a:ln>
            <a:noFill/>
          </a:ln>
        </p:spPr>
        <p:txBody>
          <a:bodyPr wrap="square" lIns="0" tIns="0" rIns="0" bIns="0" rtlCol="0" anchor="ctr">
            <a:noAutofit/>
          </a:bodyPr>
          <a:lstStyle/>
          <a:p>
            <a:pPr algn="l">
              <a:spcAft>
                <a:spcPts val="200"/>
              </a:spcAft>
              <a:buNone/>
            </a:pPr>
            <a:r>
              <a:rPr lang="ja-JP" altLang="en-US" sz="1200" b="1" dirty="0">
                <a:solidFill>
                  <a:srgbClr val="323366"/>
                </a:solidFill>
                <a:latin typeface="メイリオ" panose="020B0604030504040204" pitchFamily="50" charset="-128"/>
                <a:ea typeface="メイリオ" panose="020B0604030504040204" pitchFamily="50" charset="-128"/>
              </a:rPr>
              <a:t>LINEの国内の月間利用者数</a:t>
            </a:r>
            <a:endParaRPr lang="ja-JP" altLang="en-US" sz="1200" dirty="0"/>
          </a:p>
          <a:p>
            <a:pPr algn="l">
              <a:spcAft>
                <a:spcPts val="200"/>
              </a:spcAft>
              <a:buNone/>
            </a:pPr>
            <a:r>
              <a:rPr lang="ja-JP" altLang="en-US" sz="1050" b="0" dirty="0">
                <a:solidFill>
                  <a:srgbClr val="595959"/>
                </a:solidFill>
                <a:latin typeface="メイリオ" panose="020B0604030504040204" pitchFamily="50" charset="-128"/>
                <a:ea typeface="メイリオ" panose="020B0604030504040204" pitchFamily="50" charset="-128"/>
              </a:rPr>
              <a:t>2025年12月末時点</a:t>
            </a:r>
            <a:endParaRPr lang="ja-JP" altLang="en-US" sz="1200" dirty="0"/>
          </a:p>
        </p:txBody>
      </p:sp>
      <p:sp>
        <p:nvSpPr>
          <p:cNvPr id="39" name="Rectangle 38"/>
          <p:cNvSpPr/>
          <p:nvPr/>
        </p:nvSpPr>
        <p:spPr>
          <a:xfrm>
            <a:off x="7483678" y="4114364"/>
            <a:ext cx="1852345" cy="658368"/>
          </a:xfrm>
          <a:prstGeom prst="rect">
            <a:avLst/>
          </a:prstGeom>
          <a:noFill/>
          <a:ln>
            <a:noFill/>
          </a:ln>
        </p:spPr>
        <p:txBody>
          <a:bodyPr wrap="square" lIns="0" tIns="0" rIns="0" bIns="0" rtlCol="0" anchor="ctr">
            <a:noAutofit/>
          </a:bodyPr>
          <a:lstStyle/>
          <a:p>
            <a:pPr algn="r">
              <a:buNone/>
            </a:pPr>
            <a:r>
              <a:rPr lang="ja-JP" altLang="en-US" sz="2800" b="1" dirty="0">
                <a:solidFill>
                  <a:srgbClr val="323366"/>
                </a:solidFill>
                <a:latin typeface="メイリオ" panose="020B0604030504040204" pitchFamily="50" charset="-128"/>
                <a:ea typeface="メイリオ" panose="020B0604030504040204" pitchFamily="50" charset="-128"/>
              </a:rPr>
              <a:t>1億人突破</a:t>
            </a:r>
            <a:endParaRPr lang="ja-JP" altLang="en-US" sz="2800" dirty="0"/>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4" name="Google Shape;752;p28">
            <a:extLst>
              <a:ext uri="{FF2B5EF4-FFF2-40B4-BE49-F238E27FC236}">
                <a16:creationId xmlns:a16="http://schemas.microsoft.com/office/drawing/2014/main" id="{88CD823C-3E61-5E93-B9FE-BD623737FC13}"/>
              </a:ext>
            </a:extLst>
          </p:cNvPr>
          <p:cNvSpPr txBox="1"/>
          <p:nvPr/>
        </p:nvSpPr>
        <p:spPr>
          <a:xfrm>
            <a:off x="602223" y="1104688"/>
            <a:ext cx="1104657" cy="584735"/>
          </a:xfrm>
          <a:prstGeom prst="rect">
            <a:avLst/>
          </a:prstGeom>
          <a:noFill/>
          <a:ln>
            <a:noFill/>
          </a:ln>
        </p:spPr>
        <p:txBody>
          <a:bodyPr spcFirstLastPara="1" wrap="square" lIns="91425" tIns="45700" rIns="91425" bIns="45700" anchor="ctr" anchorCtr="0">
            <a:spAutoFit/>
          </a:bodyPr>
          <a:lstStyle/>
          <a:p>
            <a:pPr lvl="0"/>
            <a:r>
              <a:rPr lang="en-US" altLang="ja-JP" sz="3200" b="1" dirty="0">
                <a:solidFill>
                  <a:srgbClr val="323366"/>
                </a:solidFill>
                <a:latin typeface="メイリオ" panose="020B0604030504040204" pitchFamily="50" charset="-128"/>
                <a:ea typeface="メイリオ" panose="020B0604030504040204" pitchFamily="50" charset="-128"/>
                <a:cs typeface="Meiryo"/>
                <a:sym typeface="Meiryo"/>
              </a:rPr>
              <a:t>03</a:t>
            </a:r>
            <a:endParaRPr lang="ja-JP" altLang="en-US" sz="3200" b="1" dirty="0">
              <a:solidFill>
                <a:srgbClr val="323366"/>
              </a:solidFill>
              <a:latin typeface="メイリオ" panose="020B0604030504040204" pitchFamily="50" charset="-128"/>
              <a:ea typeface="メイリオ" panose="020B0604030504040204" pitchFamily="50" charset="-128"/>
              <a:cs typeface="Meiryo"/>
              <a:sym typeface="Meiryo"/>
            </a:endParaRPr>
          </a:p>
        </p:txBody>
      </p:sp>
      <p:sp>
        <p:nvSpPr>
          <p:cNvPr id="16" name="Google Shape;752;p28">
            <a:extLst>
              <a:ext uri="{FF2B5EF4-FFF2-40B4-BE49-F238E27FC236}">
                <a16:creationId xmlns:a16="http://schemas.microsoft.com/office/drawing/2014/main" id="{403775D4-CF2D-3023-3056-9E596BBE8648}"/>
              </a:ext>
            </a:extLst>
          </p:cNvPr>
          <p:cNvSpPr txBox="1"/>
          <p:nvPr/>
        </p:nvSpPr>
        <p:spPr>
          <a:xfrm>
            <a:off x="1867143" y="1043132"/>
            <a:ext cx="5028957" cy="707846"/>
          </a:xfrm>
          <a:prstGeom prst="rect">
            <a:avLst/>
          </a:prstGeom>
          <a:noFill/>
          <a:ln>
            <a:noFill/>
          </a:ln>
        </p:spPr>
        <p:txBody>
          <a:bodyPr spcFirstLastPara="1" wrap="square" lIns="91425" tIns="45700" rIns="91425" bIns="45700" anchor="ctr" anchorCtr="0">
            <a:spAutoFit/>
          </a:bodyPr>
          <a:lstStyle/>
          <a:p>
            <a:pPr lvl="0"/>
            <a:r>
              <a:rPr lang="ja-JP" altLang="en-US" sz="4000" b="1" dirty="0">
                <a:solidFill>
                  <a:schemeClr val="tx1">
                    <a:lumMod val="65000"/>
                    <a:lumOff val="35000"/>
                  </a:schemeClr>
                </a:solidFill>
                <a:latin typeface="メイリオ" panose="020B0604030504040204" pitchFamily="50" charset="-128"/>
                <a:ea typeface="メイリオ" panose="020B0604030504040204" pitchFamily="50" charset="-128"/>
                <a:cs typeface="Meiryo"/>
                <a:sym typeface="Meiryo"/>
              </a:rPr>
              <a:t>競合分析</a:t>
            </a:r>
          </a:p>
        </p:txBody>
      </p:sp>
      <p:cxnSp>
        <p:nvCxnSpPr>
          <p:cNvPr id="17" name="直線コネクタ 16">
            <a:extLst>
              <a:ext uri="{FF2B5EF4-FFF2-40B4-BE49-F238E27FC236}">
                <a16:creationId xmlns:a16="http://schemas.microsoft.com/office/drawing/2014/main" id="{24E0D700-8F0C-AA59-0C53-7B51F6E65BAA}"/>
              </a:ext>
            </a:extLst>
          </p:cNvPr>
          <p:cNvCxnSpPr>
            <a:cxnSpLocks/>
          </p:cNvCxnSpPr>
          <p:nvPr/>
        </p:nvCxnSpPr>
        <p:spPr>
          <a:xfrm>
            <a:off x="608527" y="1681803"/>
            <a:ext cx="944805" cy="0"/>
          </a:xfrm>
          <a:prstGeom prst="line">
            <a:avLst/>
          </a:prstGeom>
          <a:ln w="57150">
            <a:solidFill>
              <a:srgbClr val="10253F"/>
            </a:solidFill>
          </a:ln>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9000" y="138240"/>
            <a:ext cx="7920000" cy="338040"/>
          </a:xfrm>
          <a:prstGeom prst="rect">
            <a:avLst/>
          </a:prstGeom>
          <a:noFill/>
        </p:spPr>
        <p:txBody>
          <a:bodyPr wrap="square" lIns="91425" tIns="45700" rIns="91425" bIns="45700" anchor="ctr">
            <a:spAutoFit/>
          </a:bodyPr>
          <a:lstStyle/>
          <a:p>
            <a:pPr algn="l">
              <a:lnSpc>
                <a:spcPct val="120000"/>
              </a:lnSpc>
            </a:pPr>
            <a:r>
              <a:rPr sz="1600" b="1">
                <a:solidFill>
                  <a:srgbClr val="323366"/>
                </a:solidFill>
                <a:latin typeface="メイリオ"/>
                <a:ea typeface="メイリオ"/>
                <a:cs typeface="メイリオ"/>
              </a:rPr>
              <a:t>競合分析①｜イベント・単発の人材会社のLINE運用（実際の画面）</a:t>
            </a:r>
          </a:p>
        </p:txBody>
      </p:sp>
      <p:sp>
        <p:nvSpPr>
          <p:cNvPr id="3" name="TextBox 2"/>
          <p:cNvSpPr txBox="1"/>
          <p:nvPr/>
        </p:nvSpPr>
        <p:spPr>
          <a:xfrm>
            <a:off x="309600" y="687600"/>
            <a:ext cx="9331200" cy="585216"/>
          </a:xfrm>
          <a:prstGeom prst="rect">
            <a:avLst/>
          </a:prstGeom>
          <a:noFill/>
        </p:spPr>
        <p:txBody>
          <a:bodyPr wrap="square" lIns="28800" tIns="7200" rIns="28800" bIns="7200" anchor="ctr">
            <a:spAutoFit/>
          </a:bodyPr>
          <a:lstStyle/>
          <a:p>
            <a:pPr algn="l">
              <a:lnSpc>
                <a:spcPct val="120000"/>
              </a:lnSpc>
            </a:pPr>
            <a:r>
              <a:rPr sz="1400" b="1">
                <a:solidFill>
                  <a:srgbClr val="1E2761"/>
                </a:solidFill>
                <a:latin typeface="メイリオ"/>
                <a:ea typeface="メイリオ"/>
                <a:cs typeface="メイリオ"/>
              </a:rPr>
              <a:t>登録（ムーヴ）・選考（ワントゥワン）・勤務（ステッドワン）のやり取りに、それぞれLINEを使っています。</a:t>
            </a:r>
          </a:p>
          <a:p>
            <a:pPr algn="l">
              <a:lnSpc>
                <a:spcPct val="120000"/>
              </a:lnSpc>
            </a:pPr>
            <a:r>
              <a:rPr sz="1400" b="1">
                <a:solidFill>
                  <a:srgbClr val="FF0000"/>
                </a:solidFill>
                <a:latin typeface="メイリオ"/>
                <a:ea typeface="メイリオ"/>
                <a:cs typeface="メイリオ"/>
              </a:rPr>
              <a:t>画面から確認できたことだけを記載しています（2026年10月 弊社確認）。</a:t>
            </a:r>
          </a:p>
        </p:txBody>
      </p:sp>
      <p:sp>
        <p:nvSpPr>
          <p:cNvPr id="20" name="TextBox 19"/>
          <p:cNvSpPr txBox="1"/>
          <p:nvPr/>
        </p:nvSpPr>
        <p:spPr>
          <a:xfrm>
            <a:off x="432000" y="6089904"/>
            <a:ext cx="9043200" cy="457200"/>
          </a:xfrm>
          <a:prstGeom prst="rect">
            <a:avLst/>
          </a:prstGeom>
          <a:noFill/>
        </p:spPr>
        <p:txBody>
          <a:bodyPr wrap="square" lIns="28800" tIns="7200" rIns="28800" bIns="7200" anchor="ctr">
            <a:spAutoFit/>
          </a:bodyPr>
          <a:lstStyle/>
          <a:p>
            <a:pPr algn="l">
              <a:lnSpc>
                <a:spcPct val="120000"/>
              </a:lnSpc>
            </a:pPr>
            <a:r>
              <a:rPr sz="900" b="0">
                <a:solidFill>
                  <a:srgbClr val="888888"/>
                </a:solidFill>
                <a:latin typeface="メイリオ"/>
                <a:ea typeface="メイリオ"/>
                <a:cs typeface="メイリオ"/>
              </a:rPr>
              <a:t>画面：各社のLINE公式アカウント（2026年10月 弊社確認）。個人名は消しています</a:t>
            </a:r>
          </a:p>
        </p:txBody>
      </p:sp>
      <p:sp>
        <p:nvSpPr>
          <p:cNvPr id="21" name="Rounded Rectangle 20"/>
          <p:cNvSpPr/>
          <p:nvPr/>
        </p:nvSpPr>
        <p:spPr>
          <a:xfrm>
            <a:off x="429768" y="1371600"/>
            <a:ext cx="2880360" cy="310896"/>
          </a:xfrm>
          <a:prstGeom prst="roundRect">
            <a:avLst>
              <a:gd name="adj" fmla="val 20000"/>
            </a:avLst>
          </a:prstGeom>
          <a:solidFill>
            <a:srgbClr val="1E2761"/>
          </a:solidFill>
          <a:ln>
            <a:noFill/>
          </a:ln>
        </p:spPr>
        <p:txBody>
          <a:bodyPr wrap="square" lIns="36576" tIns="0" rIns="36576" bIns="0" rtlCol="0" anchor="ctr">
            <a:noAutofit/>
          </a:bodyPr>
          <a:lstStyle/>
          <a:p>
            <a:pPr algn="ctr">
              <a:buNone/>
            </a:pPr>
            <a:r>
              <a:rPr lang="ja-JP" altLang="en-US" sz="1100" b="1" dirty="0">
                <a:solidFill>
                  <a:srgbClr val="FFFFFF"/>
                </a:solidFill>
                <a:latin typeface="メイリオ" panose="020B0604030504040204" pitchFamily="50" charset="-128"/>
                <a:ea typeface="メイリオ" panose="020B0604030504040204" pitchFamily="50" charset="-128"/>
              </a:rPr>
              <a:t>ムーヴ｜登録の入口をLINEに</a:t>
            </a:r>
            <a:endParaRPr lang="ja-JP" altLang="en-US" sz="1100" dirty="0"/>
          </a:p>
        </p:txBody>
      </p:sp>
      <p:pic>
        <p:nvPicPr>
          <p:cNvPr id="22" name="競合LINE_1"/>
          <p:cNvPicPr>
            <a:picLocks noChangeAspect="1"/>
          </p:cNvPicPr>
          <p:nvPr/>
        </p:nvPicPr>
        <p:blipFill>
          <a:blip r:embed="rId2"/>
          <a:stretch>
            <a:fillRect/>
          </a:stretch>
        </p:blipFill>
        <p:spPr>
          <a:xfrm>
            <a:off x="489203" y="1783080"/>
            <a:ext cx="1325880" cy="2871942"/>
          </a:xfrm>
          <a:prstGeom prst="rect">
            <a:avLst/>
          </a:prstGeom>
          <a:ln w="9525">
            <a:solidFill>
              <a:srgbClr val="C6CADD"/>
            </a:solidFill>
          </a:ln>
        </p:spPr>
      </p:pic>
      <p:pic>
        <p:nvPicPr>
          <p:cNvPr id="23" name="競合LINE_2"/>
          <p:cNvPicPr>
            <a:picLocks noChangeAspect="1"/>
          </p:cNvPicPr>
          <p:nvPr/>
        </p:nvPicPr>
        <p:blipFill>
          <a:blip r:embed="rId3"/>
          <a:stretch>
            <a:fillRect/>
          </a:stretch>
        </p:blipFill>
        <p:spPr>
          <a:xfrm>
            <a:off x="1924811" y="1783080"/>
            <a:ext cx="1325880" cy="2871942"/>
          </a:xfrm>
          <a:prstGeom prst="rect">
            <a:avLst/>
          </a:prstGeom>
          <a:ln w="9525">
            <a:solidFill>
              <a:srgbClr val="C6CADD"/>
            </a:solidFill>
          </a:ln>
        </p:spPr>
      </p:pic>
      <p:sp>
        <p:nvSpPr>
          <p:cNvPr id="24" name="Rectangle 23"/>
          <p:cNvSpPr/>
          <p:nvPr/>
        </p:nvSpPr>
        <p:spPr>
          <a:xfrm>
            <a:off x="429768" y="4728174"/>
            <a:ext cx="2880360" cy="739937"/>
          </a:xfrm>
          <a:prstGeom prst="rect">
            <a:avLst/>
          </a:prstGeom>
          <a:noFill/>
          <a:ln>
            <a:noFill/>
          </a:ln>
        </p:spPr>
        <p:txBody>
          <a:bodyPr wrap="square" lIns="36576" tIns="18288" rIns="18288" bIns="18288" rtlCol="0" anchor="t">
            <a:noAutofit/>
          </a:bodyPr>
          <a:lstStyle/>
          <a:p>
            <a:pPr algn="l">
              <a:spcAft>
                <a:spcPts val="100"/>
              </a:spcAft>
              <a:buNone/>
            </a:pPr>
            <a:r>
              <a:rPr lang="ja-JP" altLang="en-US" sz="1050" b="0" dirty="0">
                <a:solidFill>
                  <a:srgbClr val="333333"/>
                </a:solidFill>
                <a:latin typeface="メイリオ" panose="020B0604030504040204" pitchFamily="50" charset="-128"/>
                <a:ea typeface="メイリオ" panose="020B0604030504040204" pitchFamily="50" charset="-128"/>
              </a:rPr>
              <a:t>・お仕事開始までの手順を4つで案内</a:t>
            </a:r>
            <a:endParaRPr lang="ja-JP" altLang="en-US" sz="1050" dirty="0"/>
          </a:p>
          <a:p>
            <a:pPr algn="l">
              <a:spcAft>
                <a:spcPts val="100"/>
              </a:spcAft>
              <a:buNone/>
            </a:pPr>
            <a:r>
              <a:rPr lang="ja-JP" altLang="en-US" sz="1050" b="0" dirty="0">
                <a:solidFill>
                  <a:srgbClr val="333333"/>
                </a:solidFill>
                <a:latin typeface="メイリオ" panose="020B0604030504040204" pitchFamily="50" charset="-128"/>
                <a:ea typeface="メイリオ" panose="020B0604030504040204" pitchFamily="50" charset="-128"/>
              </a:rPr>
              <a:t>・登録／ID連携のボタンを表示</a:t>
            </a:r>
            <a:endParaRPr lang="ja-JP" altLang="en-US" sz="1050" dirty="0"/>
          </a:p>
          <a:p>
            <a:pPr algn="l">
              <a:spcAft>
                <a:spcPts val="100"/>
              </a:spcAft>
              <a:buNone/>
            </a:pPr>
            <a:r>
              <a:rPr lang="ja-JP" altLang="en-US" sz="1050" b="0" dirty="0">
                <a:solidFill>
                  <a:srgbClr val="333333"/>
                </a:solidFill>
                <a:latin typeface="メイリオ" panose="020B0604030504040204" pitchFamily="50" charset="-128"/>
                <a:ea typeface="メイリオ" panose="020B0604030504040204" pitchFamily="50" charset="-128"/>
              </a:rPr>
              <a:t>・メニュー：仕事情報・Q&amp;A・問い合わせ</a:t>
            </a:r>
            <a:endParaRPr lang="ja-JP" altLang="en-US" sz="1050" dirty="0"/>
          </a:p>
        </p:txBody>
      </p:sp>
      <p:sp>
        <p:nvSpPr>
          <p:cNvPr id="25" name="Rounded Rectangle 24"/>
          <p:cNvSpPr/>
          <p:nvPr/>
        </p:nvSpPr>
        <p:spPr>
          <a:xfrm>
            <a:off x="3511296" y="1371600"/>
            <a:ext cx="2880360" cy="310896"/>
          </a:xfrm>
          <a:prstGeom prst="roundRect">
            <a:avLst>
              <a:gd name="adj" fmla="val 20000"/>
            </a:avLst>
          </a:prstGeom>
          <a:solidFill>
            <a:srgbClr val="1E2761"/>
          </a:solidFill>
          <a:ln>
            <a:noFill/>
          </a:ln>
        </p:spPr>
        <p:txBody>
          <a:bodyPr wrap="square" lIns="36576" tIns="0" rIns="36576" bIns="0" rtlCol="0" anchor="ctr">
            <a:noAutofit/>
          </a:bodyPr>
          <a:lstStyle/>
          <a:p>
            <a:pPr algn="ctr">
              <a:buNone/>
            </a:pPr>
            <a:r>
              <a:rPr lang="ja-JP" altLang="en-US" sz="1100" b="1" dirty="0">
                <a:solidFill>
                  <a:srgbClr val="FFFFFF"/>
                </a:solidFill>
                <a:latin typeface="メイリオ" panose="020B0604030504040204" pitchFamily="50" charset="-128"/>
                <a:ea typeface="メイリオ" panose="020B0604030504040204" pitchFamily="50" charset="-128"/>
              </a:rPr>
              <a:t>ワントゥワン｜選考の案内をLINEで</a:t>
            </a:r>
            <a:endParaRPr lang="ja-JP" altLang="en-US" sz="1100" dirty="0"/>
          </a:p>
        </p:txBody>
      </p:sp>
      <p:pic>
        <p:nvPicPr>
          <p:cNvPr id="26" name="競合LINE_3"/>
          <p:cNvPicPr>
            <a:picLocks noChangeAspect="1"/>
          </p:cNvPicPr>
          <p:nvPr/>
        </p:nvPicPr>
        <p:blipFill>
          <a:blip r:embed="rId4"/>
          <a:stretch>
            <a:fillRect/>
          </a:stretch>
        </p:blipFill>
        <p:spPr>
          <a:xfrm>
            <a:off x="3570732" y="1783080"/>
            <a:ext cx="1325880" cy="2871942"/>
          </a:xfrm>
          <a:prstGeom prst="rect">
            <a:avLst/>
          </a:prstGeom>
          <a:ln w="9525">
            <a:solidFill>
              <a:srgbClr val="C6CADD"/>
            </a:solidFill>
          </a:ln>
        </p:spPr>
      </p:pic>
      <p:pic>
        <p:nvPicPr>
          <p:cNvPr id="27" name="競合LINE_4"/>
          <p:cNvPicPr>
            <a:picLocks noChangeAspect="1"/>
          </p:cNvPicPr>
          <p:nvPr/>
        </p:nvPicPr>
        <p:blipFill>
          <a:blip r:embed="rId5"/>
          <a:stretch>
            <a:fillRect/>
          </a:stretch>
        </p:blipFill>
        <p:spPr>
          <a:xfrm>
            <a:off x="5006340" y="1783080"/>
            <a:ext cx="1325880" cy="2871942"/>
          </a:xfrm>
          <a:prstGeom prst="rect">
            <a:avLst/>
          </a:prstGeom>
          <a:ln w="9525">
            <a:solidFill>
              <a:srgbClr val="C6CADD"/>
            </a:solidFill>
          </a:ln>
        </p:spPr>
      </p:pic>
      <p:sp>
        <p:nvSpPr>
          <p:cNvPr id="28" name="Rectangle 27"/>
          <p:cNvSpPr/>
          <p:nvPr/>
        </p:nvSpPr>
        <p:spPr>
          <a:xfrm>
            <a:off x="3511296" y="4728174"/>
            <a:ext cx="2880360" cy="739937"/>
          </a:xfrm>
          <a:prstGeom prst="rect">
            <a:avLst/>
          </a:prstGeom>
          <a:noFill/>
          <a:ln>
            <a:noFill/>
          </a:ln>
        </p:spPr>
        <p:txBody>
          <a:bodyPr wrap="square" lIns="36576" tIns="18288" rIns="18288" bIns="18288" rtlCol="0" anchor="t">
            <a:noAutofit/>
          </a:bodyPr>
          <a:lstStyle/>
          <a:p>
            <a:pPr algn="l">
              <a:spcAft>
                <a:spcPts val="100"/>
              </a:spcAft>
              <a:buNone/>
            </a:pPr>
            <a:r>
              <a:rPr lang="ja-JP" altLang="en-US" sz="1050" b="0" dirty="0">
                <a:solidFill>
                  <a:srgbClr val="333333"/>
                </a:solidFill>
                <a:latin typeface="メイリオ" panose="020B0604030504040204" pitchFamily="50" charset="-128"/>
                <a:ea typeface="メイリオ" panose="020B0604030504040204" pitchFamily="50" charset="-128"/>
              </a:rPr>
              <a:t>・追加の直後に、氏名をLINEで送ってもらう</a:t>
            </a:r>
            <a:endParaRPr lang="ja-JP" altLang="en-US" sz="1050" dirty="0"/>
          </a:p>
          <a:p>
            <a:pPr algn="l">
              <a:spcAft>
                <a:spcPts val="100"/>
              </a:spcAft>
              <a:buNone/>
            </a:pPr>
            <a:r>
              <a:rPr lang="ja-JP" altLang="en-US" sz="1050" b="0" dirty="0">
                <a:solidFill>
                  <a:srgbClr val="333333"/>
                </a:solidFill>
                <a:latin typeface="メイリオ" panose="020B0604030504040204" pitchFamily="50" charset="-128"/>
                <a:ea typeface="メイリオ" panose="020B0604030504040204" pitchFamily="50" charset="-128"/>
              </a:rPr>
              <a:t>・録画面接のURLを案内</a:t>
            </a:r>
            <a:endParaRPr lang="ja-JP" altLang="en-US" sz="1050" dirty="0"/>
          </a:p>
          <a:p>
            <a:pPr algn="l">
              <a:spcAft>
                <a:spcPts val="100"/>
              </a:spcAft>
              <a:buNone/>
            </a:pPr>
            <a:r>
              <a:rPr lang="ja-JP" altLang="en-US" sz="1050" b="0" dirty="0">
                <a:solidFill>
                  <a:srgbClr val="333333"/>
                </a:solidFill>
                <a:latin typeface="メイリオ" panose="020B0604030504040204" pitchFamily="50" charset="-128"/>
                <a:ea typeface="メイリオ" panose="020B0604030504040204" pitchFamily="50" charset="-128"/>
              </a:rPr>
              <a:t>・合否はメール、質問はLINEで受付</a:t>
            </a:r>
            <a:endParaRPr lang="ja-JP" altLang="en-US" sz="1050" dirty="0"/>
          </a:p>
        </p:txBody>
      </p:sp>
      <p:sp>
        <p:nvSpPr>
          <p:cNvPr id="29" name="Rounded Rectangle 28"/>
          <p:cNvSpPr/>
          <p:nvPr/>
        </p:nvSpPr>
        <p:spPr>
          <a:xfrm>
            <a:off x="6592824" y="1371600"/>
            <a:ext cx="2880360" cy="310896"/>
          </a:xfrm>
          <a:prstGeom prst="roundRect">
            <a:avLst>
              <a:gd name="adj" fmla="val 20000"/>
            </a:avLst>
          </a:prstGeom>
          <a:solidFill>
            <a:srgbClr val="1E2761"/>
          </a:solidFill>
          <a:ln>
            <a:noFill/>
          </a:ln>
        </p:spPr>
        <p:txBody>
          <a:bodyPr wrap="square" lIns="36576" tIns="0" rIns="36576" bIns="0" rtlCol="0" anchor="ctr">
            <a:noAutofit/>
          </a:bodyPr>
          <a:lstStyle/>
          <a:p>
            <a:pPr algn="ctr">
              <a:buNone/>
            </a:pPr>
            <a:r>
              <a:rPr lang="ja-JP" altLang="en-US" sz="1100" b="1" dirty="0">
                <a:solidFill>
                  <a:srgbClr val="FFFFFF"/>
                </a:solidFill>
                <a:latin typeface="メイリオ" panose="020B0604030504040204" pitchFamily="50" charset="-128"/>
                <a:ea typeface="メイリオ" panose="020B0604030504040204" pitchFamily="50" charset="-128"/>
              </a:rPr>
              <a:t>ステッドワン｜勤務のやり取りをLINEで</a:t>
            </a:r>
            <a:endParaRPr lang="ja-JP" altLang="en-US" sz="1100" dirty="0"/>
          </a:p>
        </p:txBody>
      </p:sp>
      <p:pic>
        <p:nvPicPr>
          <p:cNvPr id="30" name="競合LINE_5"/>
          <p:cNvPicPr>
            <a:picLocks noChangeAspect="1"/>
          </p:cNvPicPr>
          <p:nvPr/>
        </p:nvPicPr>
        <p:blipFill>
          <a:blip r:embed="rId6"/>
          <a:stretch>
            <a:fillRect/>
          </a:stretch>
        </p:blipFill>
        <p:spPr>
          <a:xfrm>
            <a:off x="6652260" y="1783080"/>
            <a:ext cx="1325880" cy="2871942"/>
          </a:xfrm>
          <a:prstGeom prst="rect">
            <a:avLst/>
          </a:prstGeom>
          <a:ln w="9525">
            <a:solidFill>
              <a:srgbClr val="C6CADD"/>
            </a:solidFill>
          </a:ln>
        </p:spPr>
      </p:pic>
      <p:pic>
        <p:nvPicPr>
          <p:cNvPr id="31" name="競合LINE_6"/>
          <p:cNvPicPr>
            <a:picLocks noChangeAspect="1"/>
          </p:cNvPicPr>
          <p:nvPr/>
        </p:nvPicPr>
        <p:blipFill>
          <a:blip r:embed="rId7"/>
          <a:stretch>
            <a:fillRect/>
          </a:stretch>
        </p:blipFill>
        <p:spPr>
          <a:xfrm>
            <a:off x="8087868" y="1783080"/>
            <a:ext cx="1325880" cy="2871942"/>
          </a:xfrm>
          <a:prstGeom prst="rect">
            <a:avLst/>
          </a:prstGeom>
          <a:ln w="9525">
            <a:solidFill>
              <a:srgbClr val="C6CADD"/>
            </a:solidFill>
          </a:ln>
        </p:spPr>
      </p:pic>
      <p:sp>
        <p:nvSpPr>
          <p:cNvPr id="32" name="Rectangle 31"/>
          <p:cNvSpPr/>
          <p:nvPr/>
        </p:nvSpPr>
        <p:spPr>
          <a:xfrm>
            <a:off x="6592824" y="4728174"/>
            <a:ext cx="2880360" cy="739937"/>
          </a:xfrm>
          <a:prstGeom prst="rect">
            <a:avLst/>
          </a:prstGeom>
          <a:noFill/>
          <a:ln>
            <a:noFill/>
          </a:ln>
        </p:spPr>
        <p:txBody>
          <a:bodyPr wrap="square" lIns="36576" tIns="18288" rIns="18288" bIns="18288" rtlCol="0" anchor="t">
            <a:noAutofit/>
          </a:bodyPr>
          <a:lstStyle/>
          <a:p>
            <a:pPr algn="l">
              <a:spcAft>
                <a:spcPts val="100"/>
              </a:spcAft>
              <a:buNone/>
            </a:pPr>
            <a:r>
              <a:rPr lang="ja-JP" altLang="en-US" sz="1050" b="0" dirty="0">
                <a:solidFill>
                  <a:srgbClr val="333333"/>
                </a:solidFill>
                <a:latin typeface="メイリオ" panose="020B0604030504040204" pitchFamily="50" charset="-128"/>
                <a:ea typeface="メイリオ" panose="020B0604030504040204" pitchFamily="50" charset="-128"/>
              </a:rPr>
              <a:t>・このLINEで仕事をやり取りすると宣言</a:t>
            </a:r>
            <a:endParaRPr lang="ja-JP" altLang="en-US" sz="1050" dirty="0"/>
          </a:p>
          <a:p>
            <a:pPr algn="l">
              <a:spcAft>
                <a:spcPts val="100"/>
              </a:spcAft>
              <a:buNone/>
            </a:pPr>
            <a:r>
              <a:rPr lang="ja-JP" altLang="en-US" sz="1050" b="0" dirty="0">
                <a:solidFill>
                  <a:srgbClr val="333333"/>
                </a:solidFill>
                <a:latin typeface="メイリオ" panose="020B0604030504040204" pitchFamily="50" charset="-128"/>
                <a:ea typeface="メイリオ" panose="020B0604030504040204" pitchFamily="50" charset="-128"/>
              </a:rPr>
              <a:t>・新規案件・勤務の可否・集合詳細を送る</a:t>
            </a:r>
            <a:endParaRPr lang="ja-JP" altLang="en-US" sz="1050" dirty="0"/>
          </a:p>
          <a:p>
            <a:pPr algn="l">
              <a:spcAft>
                <a:spcPts val="100"/>
              </a:spcAft>
              <a:buNone/>
            </a:pPr>
            <a:r>
              <a:rPr lang="ja-JP" altLang="en-US" sz="1050" b="0" dirty="0">
                <a:solidFill>
                  <a:srgbClr val="333333"/>
                </a:solidFill>
                <a:latin typeface="メイリオ" panose="020B0604030504040204" pitchFamily="50" charset="-128"/>
                <a:ea typeface="メイリオ" panose="020B0604030504040204" pitchFamily="50" charset="-128"/>
              </a:rPr>
              <a:t>・スタッフからは起床連絡・勤怠報告</a:t>
            </a:r>
            <a:endParaRPr lang="ja-JP" altLang="en-US" sz="10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9000" y="138240"/>
            <a:ext cx="7920000" cy="338040"/>
          </a:xfrm>
          <a:prstGeom prst="rect">
            <a:avLst/>
          </a:prstGeom>
          <a:noFill/>
        </p:spPr>
        <p:txBody>
          <a:bodyPr wrap="square" lIns="91425" tIns="45700" rIns="91425" bIns="45700" anchor="ctr">
            <a:spAutoFit/>
          </a:bodyPr>
          <a:lstStyle/>
          <a:p>
            <a:pPr algn="l">
              <a:lnSpc>
                <a:spcPct val="120000"/>
              </a:lnSpc>
            </a:pPr>
            <a:r>
              <a:rPr sz="1600" b="1">
                <a:solidFill>
                  <a:srgbClr val="323366"/>
                </a:solidFill>
                <a:latin typeface="メイリオ"/>
                <a:ea typeface="メイリオ"/>
                <a:cs typeface="メイリオ"/>
              </a:rPr>
              <a:t>競合分析②｜LINEの使い方の比較と、横浜シミズで目指す形</a:t>
            </a:r>
          </a:p>
        </p:txBody>
      </p:sp>
      <p:sp>
        <p:nvSpPr>
          <p:cNvPr id="3" name="TextBox 2"/>
          <p:cNvSpPr txBox="1"/>
          <p:nvPr/>
        </p:nvSpPr>
        <p:spPr>
          <a:xfrm>
            <a:off x="309600" y="687600"/>
            <a:ext cx="9331200" cy="585216"/>
          </a:xfrm>
          <a:prstGeom prst="rect">
            <a:avLst/>
          </a:prstGeom>
          <a:noFill/>
        </p:spPr>
        <p:txBody>
          <a:bodyPr wrap="square" lIns="28800" tIns="7200" rIns="28800" bIns="7200" anchor="ctr">
            <a:spAutoFit/>
          </a:bodyPr>
          <a:lstStyle/>
          <a:p>
            <a:pPr algn="l">
              <a:lnSpc>
                <a:spcPct val="120000"/>
              </a:lnSpc>
            </a:pPr>
            <a:r>
              <a:rPr sz="1400" b="1">
                <a:solidFill>
                  <a:srgbClr val="1E2761"/>
                </a:solidFill>
                <a:latin typeface="メイリオ"/>
                <a:ea typeface="メイリオ"/>
                <a:cs typeface="メイリオ"/>
              </a:rPr>
              <a:t>応募の受付だけでなく、勤務の連絡や次の募集まで、スタッフとの継続的な接点にLINEを活用できます。</a:t>
            </a:r>
          </a:p>
          <a:p>
            <a:pPr algn="l">
              <a:lnSpc>
                <a:spcPct val="120000"/>
              </a:lnSpc>
            </a:pPr>
            <a:r>
              <a:rPr sz="1400" b="1">
                <a:solidFill>
                  <a:srgbClr val="FF0000"/>
                </a:solidFill>
                <a:latin typeface="メイリオ"/>
                <a:ea typeface="メイリオ"/>
                <a:cs typeface="メイリオ"/>
              </a:rPr>
              <a:t>3社の画面で、勤務の連絡と次の案件までLINEで扱っていたのは、ステッドワンでした。</a:t>
            </a:r>
          </a:p>
        </p:txBody>
      </p:sp>
      <p:sp>
        <p:nvSpPr>
          <p:cNvPr id="18" name="Rectangle 17"/>
          <p:cNvSpPr/>
          <p:nvPr/>
        </p:nvSpPr>
        <p:spPr>
          <a:xfrm>
            <a:off x="429768" y="5596128"/>
            <a:ext cx="9043416" cy="374904"/>
          </a:xfrm>
          <a:prstGeom prst="rect">
            <a:avLst/>
          </a:prstGeom>
          <a:solidFill>
            <a:srgbClr val="0020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432000" y="6089904"/>
            <a:ext cx="9043200" cy="457200"/>
          </a:xfrm>
          <a:prstGeom prst="rect">
            <a:avLst/>
          </a:prstGeom>
          <a:noFill/>
        </p:spPr>
        <p:txBody>
          <a:bodyPr wrap="square" lIns="28800" tIns="7200" rIns="28800" bIns="7200" anchor="ctr">
            <a:spAutoFit/>
          </a:bodyPr>
          <a:lstStyle/>
          <a:p>
            <a:pPr algn="l">
              <a:lnSpc>
                <a:spcPct val="120000"/>
              </a:lnSpc>
            </a:pPr>
            <a:r>
              <a:rPr sz="900" b="0">
                <a:solidFill>
                  <a:srgbClr val="888888"/>
                </a:solidFill>
                <a:latin typeface="メイリオ"/>
                <a:ea typeface="メイリオ"/>
                <a:cs typeface="メイリオ"/>
              </a:rPr>
              <a:t>画面：各社のLINE公式アカウント（2026年10月 弊社確認）／タウンワーク：LINEヤフー for Business 導入事例「バイト応募件数約80％増！リッチメニューを生かしたタウンワークのLINE活用事例」（2019年1月公開）</a:t>
            </a:r>
          </a:p>
        </p:txBody>
      </p:sp>
      <p:sp>
        <p:nvSpPr>
          <p:cNvPr id="21" name="Rectangle 20"/>
          <p:cNvSpPr/>
          <p:nvPr/>
        </p:nvSpPr>
        <p:spPr>
          <a:xfrm>
            <a:off x="429768" y="5596128"/>
            <a:ext cx="9043416" cy="374904"/>
          </a:xfrm>
          <a:prstGeom prst="rect">
            <a:avLst/>
          </a:prstGeom>
          <a:noFill/>
          <a:ln>
            <a:noFill/>
          </a:ln>
        </p:spPr>
        <p:txBody>
          <a:bodyPr wrap="square" lIns="45720" tIns="0" rIns="45720" bIns="0" rtlCol="0" anchor="ctr">
            <a:noAutofit/>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rPr>
              <a:t>応募の受付から、勤務の連絡・次の募集までをLINEでつなぐ</a:t>
            </a:r>
            <a:endParaRPr lang="ja-JP" altLang="en-US" sz="1300" dirty="0"/>
          </a:p>
        </p:txBody>
      </p:sp>
      <p:graphicFrame>
        <p:nvGraphicFramePr>
          <p:cNvPr id="22" name="表 21"/>
          <p:cNvGraphicFramePr>
            <a:graphicFrameLocks noGrp="1"/>
          </p:cNvGraphicFramePr>
          <p:nvPr/>
        </p:nvGraphicFramePr>
        <p:xfrm>
          <a:off x="429768" y="1371600"/>
          <a:ext cx="9043416" cy="3401568"/>
        </p:xfrm>
        <a:graphic>
          <a:graphicData uri="http://schemas.openxmlformats.org/drawingml/2006/table">
            <a:tbl>
              <a:tblPr/>
              <a:tblGrid>
                <a:gridCol w="1463040">
                  <a:extLst>
                    <a:ext uri="{9D8B030D-6E8A-4147-A177-3AD203B41FA5}">
                      <a16:colId xmlns:a16="http://schemas.microsoft.com/office/drawing/2014/main" val="20000"/>
                    </a:ext>
                  </a:extLst>
                </a:gridCol>
                <a:gridCol w="1783080">
                  <a:extLst>
                    <a:ext uri="{9D8B030D-6E8A-4147-A177-3AD203B41FA5}">
                      <a16:colId xmlns:a16="http://schemas.microsoft.com/office/drawing/2014/main" val="20001"/>
                    </a:ext>
                  </a:extLst>
                </a:gridCol>
                <a:gridCol w="1645920">
                  <a:extLst>
                    <a:ext uri="{9D8B030D-6E8A-4147-A177-3AD203B41FA5}">
                      <a16:colId xmlns:a16="http://schemas.microsoft.com/office/drawing/2014/main" val="20002"/>
                    </a:ext>
                  </a:extLst>
                </a:gridCol>
                <a:gridCol w="1828800">
                  <a:extLst>
                    <a:ext uri="{9D8B030D-6E8A-4147-A177-3AD203B41FA5}">
                      <a16:colId xmlns:a16="http://schemas.microsoft.com/office/drawing/2014/main" val="20003"/>
                    </a:ext>
                  </a:extLst>
                </a:gridCol>
                <a:gridCol w="2322576">
                  <a:extLst>
                    <a:ext uri="{9D8B030D-6E8A-4147-A177-3AD203B41FA5}">
                      <a16:colId xmlns:a16="http://schemas.microsoft.com/office/drawing/2014/main" val="20004"/>
                    </a:ext>
                  </a:extLst>
                </a:gridCol>
              </a:tblGrid>
              <a:tr h="329184">
                <a:tc>
                  <a:txBody>
                    <a:bodyPr/>
                    <a:lstStyle/>
                    <a:p>
                      <a:pPr algn="ctr">
                        <a:buNone/>
                      </a:pPr>
                      <a:r>
                        <a:rPr lang="ja-JP" altLang="en-US" sz="1050" b="1" dirty="0">
                          <a:solidFill>
                            <a:srgbClr val="FFFFFF"/>
                          </a:solidFill>
                          <a:latin typeface="メイリオ" panose="020B0604030504040204" pitchFamily="50" charset="-128"/>
                          <a:ea typeface="メイリオ" panose="020B0604030504040204" pitchFamily="50" charset="-128"/>
                        </a:rPr>
                        <a:t>評価項目</a:t>
                      </a:r>
                      <a:endParaRPr lang="ja-JP" altLang="en-US" sz="105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1E2761"/>
                    </a:solidFill>
                  </a:tcPr>
                </a:tc>
                <a:tc>
                  <a:txBody>
                    <a:bodyPr/>
                    <a:lstStyle/>
                    <a:p>
                      <a:pPr algn="ctr">
                        <a:buNone/>
                      </a:pPr>
                      <a:r>
                        <a:rPr lang="ja-JP" altLang="en-US" sz="1050" b="1" dirty="0">
                          <a:solidFill>
                            <a:srgbClr val="FFFFFF"/>
                          </a:solidFill>
                          <a:latin typeface="メイリオ" panose="020B0604030504040204" pitchFamily="50" charset="-128"/>
                          <a:ea typeface="メイリオ" panose="020B0604030504040204" pitchFamily="50" charset="-128"/>
                        </a:rPr>
                        <a:t>ムーヴ</a:t>
                      </a:r>
                      <a:endParaRPr lang="ja-JP" altLang="en-US" sz="105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1E2761"/>
                    </a:solidFill>
                  </a:tcPr>
                </a:tc>
                <a:tc>
                  <a:txBody>
                    <a:bodyPr/>
                    <a:lstStyle/>
                    <a:p>
                      <a:pPr algn="ctr">
                        <a:buNone/>
                      </a:pPr>
                      <a:r>
                        <a:rPr lang="ja-JP" altLang="en-US" sz="1050" b="1" dirty="0">
                          <a:solidFill>
                            <a:srgbClr val="FFFFFF"/>
                          </a:solidFill>
                          <a:latin typeface="メイリオ" panose="020B0604030504040204" pitchFamily="50" charset="-128"/>
                          <a:ea typeface="メイリオ" panose="020B0604030504040204" pitchFamily="50" charset="-128"/>
                        </a:rPr>
                        <a:t>ワントゥワン</a:t>
                      </a:r>
                      <a:endParaRPr lang="ja-JP" altLang="en-US" sz="105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1E2761"/>
                    </a:solidFill>
                  </a:tcPr>
                </a:tc>
                <a:tc>
                  <a:txBody>
                    <a:bodyPr/>
                    <a:lstStyle/>
                    <a:p>
                      <a:pPr algn="ctr">
                        <a:buNone/>
                      </a:pPr>
                      <a:r>
                        <a:rPr lang="ja-JP" altLang="en-US" sz="1050" b="1" dirty="0">
                          <a:solidFill>
                            <a:srgbClr val="FFFFFF"/>
                          </a:solidFill>
                          <a:latin typeface="メイリオ" panose="020B0604030504040204" pitchFamily="50" charset="-128"/>
                          <a:ea typeface="メイリオ" panose="020B0604030504040204" pitchFamily="50" charset="-128"/>
                        </a:rPr>
                        <a:t>ステッドワン</a:t>
                      </a:r>
                      <a:endParaRPr lang="ja-JP" altLang="en-US" sz="105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1E2761"/>
                    </a:solidFill>
                  </a:tcPr>
                </a:tc>
                <a:tc>
                  <a:txBody>
                    <a:bodyPr/>
                    <a:lstStyle/>
                    <a:p>
                      <a:pPr algn="ctr">
                        <a:buNone/>
                      </a:pPr>
                      <a:r>
                        <a:rPr lang="ja-JP" altLang="en-US" sz="1050" b="1" dirty="0">
                          <a:solidFill>
                            <a:srgbClr val="FFFFFF"/>
                          </a:solidFill>
                          <a:latin typeface="メイリオ" panose="020B0604030504040204" pitchFamily="50" charset="-128"/>
                          <a:ea typeface="メイリオ" panose="020B0604030504040204" pitchFamily="50" charset="-128"/>
                        </a:rPr>
                        <a:t>横浜シミズで目指す形</a:t>
                      </a:r>
                      <a:endParaRPr lang="ja-JP" altLang="en-US" sz="105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323366"/>
                    </a:solidFill>
                  </a:tcPr>
                </a:tc>
                <a:extLst>
                  <a:ext uri="{0D108BD9-81ED-4DB2-BD59-A6C34878D82A}">
                    <a16:rowId xmlns:a16="http://schemas.microsoft.com/office/drawing/2014/main" val="10000"/>
                  </a:ext>
                </a:extLst>
              </a:tr>
              <a:tr h="512064">
                <a:tc>
                  <a:txBody>
                    <a:bodyPr/>
                    <a:lstStyle/>
                    <a:p>
                      <a:pPr algn="ctr">
                        <a:buNone/>
                      </a:pPr>
                      <a:r>
                        <a:rPr lang="ja-JP" altLang="en-US" sz="1050" b="1" dirty="0">
                          <a:solidFill>
                            <a:srgbClr val="323366"/>
                          </a:solidFill>
                          <a:latin typeface="メイリオ" panose="020B0604030504040204" pitchFamily="50" charset="-128"/>
                          <a:ea typeface="メイリオ" panose="020B0604030504040204" pitchFamily="50" charset="-128"/>
                        </a:rPr>
                        <a:t>友だち追加後の案内</a:t>
                      </a:r>
                      <a:endParaRPr lang="ja-JP" altLang="en-US" sz="105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EF2F9"/>
                    </a:solidFill>
                  </a:tcPr>
                </a:tc>
                <a:tc>
                  <a:txBody>
                    <a:bodyPr/>
                    <a:lstStyle/>
                    <a:p>
                      <a:pPr algn="ctr">
                        <a:buNone/>
                      </a:pPr>
                      <a:r>
                        <a:rPr lang="ja-JP" altLang="en-US" sz="1000" b="0" dirty="0">
                          <a:solidFill>
                            <a:srgbClr val="333333"/>
                          </a:solidFill>
                          <a:latin typeface="メイリオ" panose="020B0604030504040204" pitchFamily="50" charset="-128"/>
                          <a:ea typeface="メイリオ" panose="020B0604030504040204" pitchFamily="50" charset="-128"/>
                        </a:rPr>
                        <a:t>お仕事開始までの手順を4つで案内</a:t>
                      </a:r>
                      <a:endParaRPr lang="ja-JP" altLang="en-US" sz="10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000" b="0" dirty="0">
                          <a:solidFill>
                            <a:srgbClr val="333333"/>
                          </a:solidFill>
                          <a:latin typeface="メイリオ" panose="020B0604030504040204" pitchFamily="50" charset="-128"/>
                          <a:ea typeface="メイリオ" panose="020B0604030504040204" pitchFamily="50" charset="-128"/>
                        </a:rPr>
                        <a:t>氏名（漢字・ふりがな）の送信を依頼</a:t>
                      </a:r>
                      <a:endParaRPr lang="ja-JP" altLang="en-US" sz="10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000" b="0" dirty="0">
                          <a:solidFill>
                            <a:srgbClr val="333333"/>
                          </a:solidFill>
                          <a:latin typeface="メイリオ" panose="020B0604030504040204" pitchFamily="50" charset="-128"/>
                          <a:ea typeface="メイリオ" panose="020B0604030504040204" pitchFamily="50" charset="-128"/>
                        </a:rPr>
                        <a:t>このLINEでのやり取りを説明</a:t>
                      </a:r>
                      <a:endParaRPr lang="ja-JP" altLang="en-US" sz="10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000" b="1" dirty="0">
                          <a:solidFill>
                            <a:srgbClr val="333333"/>
                          </a:solidFill>
                          <a:latin typeface="メイリオ" panose="020B0604030504040204" pitchFamily="50" charset="-128"/>
                          <a:ea typeface="メイリオ" panose="020B0604030504040204" pitchFamily="50" charset="-128"/>
                        </a:rPr>
                        <a:t>勤務に必要な情報が届くことを最初に伝える</a:t>
                      </a:r>
                      <a:endParaRPr lang="ja-JP" altLang="en-US" sz="10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4E9F2"/>
                    </a:solidFill>
                  </a:tcPr>
                </a:tc>
                <a:extLst>
                  <a:ext uri="{0D108BD9-81ED-4DB2-BD59-A6C34878D82A}">
                    <a16:rowId xmlns:a16="http://schemas.microsoft.com/office/drawing/2014/main" val="10001"/>
                  </a:ext>
                </a:extLst>
              </a:tr>
              <a:tr h="512064">
                <a:tc>
                  <a:txBody>
                    <a:bodyPr/>
                    <a:lstStyle/>
                    <a:p>
                      <a:pPr algn="ctr">
                        <a:buNone/>
                      </a:pPr>
                      <a:r>
                        <a:rPr lang="ja-JP" altLang="en-US" sz="1050" b="1" dirty="0">
                          <a:solidFill>
                            <a:srgbClr val="323366"/>
                          </a:solidFill>
                          <a:latin typeface="メイリオ" panose="020B0604030504040204" pitchFamily="50" charset="-128"/>
                          <a:ea typeface="メイリオ" panose="020B0604030504040204" pitchFamily="50" charset="-128"/>
                        </a:rPr>
                        <a:t>応募・登録の導線</a:t>
                      </a:r>
                      <a:endParaRPr lang="ja-JP" altLang="en-US" sz="105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EF2F9"/>
                    </a:solidFill>
                  </a:tcPr>
                </a:tc>
                <a:tc>
                  <a:txBody>
                    <a:bodyPr/>
                    <a:lstStyle/>
                    <a:p>
                      <a:pPr algn="ctr">
                        <a:buNone/>
                      </a:pPr>
                      <a:r>
                        <a:rPr lang="ja-JP" altLang="en-US" sz="1000" b="0" dirty="0">
                          <a:solidFill>
                            <a:srgbClr val="333333"/>
                          </a:solidFill>
                          <a:latin typeface="メイリオ" panose="020B0604030504040204" pitchFamily="50" charset="-128"/>
                          <a:ea typeface="メイリオ" panose="020B0604030504040204" pitchFamily="50" charset="-128"/>
                        </a:rPr>
                        <a:t>LINEからスタッフ登録・ID連携</a:t>
                      </a:r>
                      <a:endParaRPr lang="ja-JP" altLang="en-US" sz="10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000" b="0" dirty="0">
                          <a:solidFill>
                            <a:srgbClr val="333333"/>
                          </a:solidFill>
                          <a:latin typeface="メイリオ" panose="020B0604030504040204" pitchFamily="50" charset="-128"/>
                          <a:ea typeface="メイリオ" panose="020B0604030504040204" pitchFamily="50" charset="-128"/>
                        </a:rPr>
                        <a:t>録画面接のURLを案内</a:t>
                      </a:r>
                      <a:endParaRPr lang="ja-JP" altLang="en-US" sz="10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000" b="0" dirty="0">
                          <a:solidFill>
                            <a:srgbClr val="333333"/>
                          </a:solidFill>
                          <a:latin typeface="メイリオ" panose="020B0604030504040204" pitchFamily="50" charset="-128"/>
                          <a:ea typeface="メイリオ" panose="020B0604030504040204" pitchFamily="50" charset="-128"/>
                        </a:rPr>
                        <a:t>採用手続きフォーム（外部）へ</a:t>
                      </a:r>
                      <a:endParaRPr lang="ja-JP" altLang="en-US" sz="10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000" b="1" dirty="0">
                          <a:solidFill>
                            <a:srgbClr val="333333"/>
                          </a:solidFill>
                          <a:latin typeface="メイリオ" panose="020B0604030504040204" pitchFamily="50" charset="-128"/>
                          <a:ea typeface="メイリオ" panose="020B0604030504040204" pitchFamily="50" charset="-128"/>
                        </a:rPr>
                        <a:t>サイトのLINEボタン・離脱防止で、</a:t>
                      </a:r>
                      <a:endParaRPr lang="ja-JP" altLang="en-US" sz="1000" dirty="0"/>
                    </a:p>
                    <a:p>
                      <a:pPr algn="ctr">
                        <a:buNone/>
                      </a:pPr>
                      <a:r>
                        <a:rPr lang="ja-JP" altLang="en-US" sz="1000" b="1" dirty="0">
                          <a:solidFill>
                            <a:srgbClr val="333333"/>
                          </a:solidFill>
                          <a:latin typeface="メイリオ" panose="020B0604030504040204" pitchFamily="50" charset="-128"/>
                          <a:ea typeface="メイリオ" panose="020B0604030504040204" pitchFamily="50" charset="-128"/>
                        </a:rPr>
                        <a:t>応募の前からLINEへ</a:t>
                      </a:r>
                      <a:endParaRPr lang="ja-JP" altLang="en-US" sz="1000" dirty="0"/>
                    </a:p>
                    <a:p>
                      <a:pPr algn="ctr">
                        <a:buNone/>
                      </a:pPr>
                      <a:r>
                        <a:rPr lang="ja-JP" altLang="en-US" sz="1000" b="1" dirty="0">
                          <a:solidFill>
                            <a:srgbClr val="333333"/>
                          </a:solidFill>
                          <a:latin typeface="メイリオ" panose="020B0604030504040204" pitchFamily="50" charset="-128"/>
                          <a:ea typeface="メイリオ" panose="020B0604030504040204" pitchFamily="50" charset="-128"/>
                        </a:rPr>
                        <a:t>（応募後はサンクスLINE誘導）</a:t>
                      </a:r>
                      <a:endParaRPr lang="ja-JP" altLang="en-US" sz="10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4E9F2"/>
                    </a:solidFill>
                  </a:tcPr>
                </a:tc>
                <a:extLst>
                  <a:ext uri="{0D108BD9-81ED-4DB2-BD59-A6C34878D82A}">
                    <a16:rowId xmlns:a16="http://schemas.microsoft.com/office/drawing/2014/main" val="10002"/>
                  </a:ext>
                </a:extLst>
              </a:tr>
              <a:tr h="512064">
                <a:tc>
                  <a:txBody>
                    <a:bodyPr/>
                    <a:lstStyle/>
                    <a:p>
                      <a:pPr algn="ctr">
                        <a:buNone/>
                      </a:pPr>
                      <a:r>
                        <a:rPr lang="ja-JP" altLang="en-US" sz="1050" b="1" dirty="0">
                          <a:solidFill>
                            <a:srgbClr val="323366"/>
                          </a:solidFill>
                          <a:latin typeface="メイリオ" panose="020B0604030504040204" pitchFamily="50" charset="-128"/>
                          <a:ea typeface="メイリオ" panose="020B0604030504040204" pitchFamily="50" charset="-128"/>
                        </a:rPr>
                        <a:t>勤務連絡への活用</a:t>
                      </a:r>
                      <a:endParaRPr lang="ja-JP" altLang="en-US" sz="105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EF2F9"/>
                    </a:solidFill>
                  </a:tcPr>
                </a:tc>
                <a:tc>
                  <a:txBody>
                    <a:bodyPr/>
                    <a:lstStyle/>
                    <a:p>
                      <a:pPr algn="ctr">
                        <a:buNone/>
                      </a:pPr>
                      <a:r>
                        <a:rPr lang="ja-JP" altLang="en-US" sz="1000" b="0" dirty="0">
                          <a:solidFill>
                            <a:srgbClr val="595959"/>
                          </a:solidFill>
                          <a:latin typeface="メイリオ" panose="020B0604030504040204" pitchFamily="50" charset="-128"/>
                          <a:ea typeface="メイリオ" panose="020B0604030504040204" pitchFamily="50" charset="-128"/>
                        </a:rPr>
                        <a:t>画面では未確認</a:t>
                      </a:r>
                      <a:endParaRPr lang="ja-JP" altLang="en-US" sz="10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000" b="0" dirty="0">
                          <a:solidFill>
                            <a:srgbClr val="595959"/>
                          </a:solidFill>
                          <a:latin typeface="メイリオ" panose="020B0604030504040204" pitchFamily="50" charset="-128"/>
                          <a:ea typeface="メイリオ" panose="020B0604030504040204" pitchFamily="50" charset="-128"/>
                        </a:rPr>
                        <a:t>画面では未確認（合否はメール）</a:t>
                      </a:r>
                      <a:endParaRPr lang="ja-JP" altLang="en-US" sz="10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000" b="0" dirty="0">
                          <a:solidFill>
                            <a:srgbClr val="333333"/>
                          </a:solidFill>
                          <a:latin typeface="メイリオ" panose="020B0604030504040204" pitchFamily="50" charset="-128"/>
                          <a:ea typeface="メイリオ" panose="020B0604030504040204" pitchFamily="50" charset="-128"/>
                        </a:rPr>
                        <a:t>集合詳細・起床連絡・勤怠報告</a:t>
                      </a:r>
                      <a:endParaRPr lang="ja-JP" altLang="en-US" sz="10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000" b="1" dirty="0">
                          <a:solidFill>
                            <a:srgbClr val="333333"/>
                          </a:solidFill>
                          <a:latin typeface="メイリオ" panose="020B0604030504040204" pitchFamily="50" charset="-128"/>
                          <a:ea typeface="メイリオ" panose="020B0604030504040204" pitchFamily="50" charset="-128"/>
                        </a:rPr>
                        <a:t>集合・持ち物・前日のリマインド</a:t>
                      </a:r>
                      <a:endParaRPr lang="ja-JP" altLang="en-US" sz="10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4E9F2"/>
                    </a:solidFill>
                  </a:tcPr>
                </a:tc>
                <a:extLst>
                  <a:ext uri="{0D108BD9-81ED-4DB2-BD59-A6C34878D82A}">
                    <a16:rowId xmlns:a16="http://schemas.microsoft.com/office/drawing/2014/main" val="10003"/>
                  </a:ext>
                </a:extLst>
              </a:tr>
              <a:tr h="512064">
                <a:tc>
                  <a:txBody>
                    <a:bodyPr/>
                    <a:lstStyle/>
                    <a:p>
                      <a:pPr algn="ctr">
                        <a:buNone/>
                      </a:pPr>
                      <a:r>
                        <a:rPr lang="ja-JP" altLang="en-US" sz="1050" b="1" dirty="0">
                          <a:solidFill>
                            <a:srgbClr val="323366"/>
                          </a:solidFill>
                          <a:latin typeface="メイリオ" panose="020B0604030504040204" pitchFamily="50" charset="-128"/>
                          <a:ea typeface="メイリオ" panose="020B0604030504040204" pitchFamily="50" charset="-128"/>
                        </a:rPr>
                        <a:t>募集情報の配信</a:t>
                      </a:r>
                      <a:endParaRPr lang="ja-JP" altLang="en-US" sz="105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EF2F9"/>
                    </a:solidFill>
                  </a:tcPr>
                </a:tc>
                <a:tc>
                  <a:txBody>
                    <a:bodyPr/>
                    <a:lstStyle/>
                    <a:p>
                      <a:pPr algn="ctr">
                        <a:buNone/>
                      </a:pPr>
                      <a:r>
                        <a:rPr lang="ja-JP" altLang="en-US" sz="1000" b="0" dirty="0">
                          <a:solidFill>
                            <a:srgbClr val="333333"/>
                          </a:solidFill>
                          <a:latin typeface="メイリオ" panose="020B0604030504040204" pitchFamily="50" charset="-128"/>
                          <a:ea typeface="メイリオ" panose="020B0604030504040204" pitchFamily="50" charset="-128"/>
                        </a:rPr>
                        <a:t>登録後に「条件に合う仕事も案内」と記載</a:t>
                      </a:r>
                      <a:endParaRPr lang="ja-JP" altLang="en-US" sz="10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000" b="0" dirty="0">
                          <a:solidFill>
                            <a:srgbClr val="595959"/>
                          </a:solidFill>
                          <a:latin typeface="メイリオ" panose="020B0604030504040204" pitchFamily="50" charset="-128"/>
                          <a:ea typeface="メイリオ" panose="020B0604030504040204" pitchFamily="50" charset="-128"/>
                        </a:rPr>
                        <a:t>画面では未確認</a:t>
                      </a:r>
                      <a:endParaRPr lang="ja-JP" altLang="en-US" sz="10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000" b="0" dirty="0">
                          <a:solidFill>
                            <a:srgbClr val="333333"/>
                          </a:solidFill>
                          <a:latin typeface="メイリオ" panose="020B0604030504040204" pitchFamily="50" charset="-128"/>
                          <a:ea typeface="メイリオ" panose="020B0604030504040204" pitchFamily="50" charset="-128"/>
                        </a:rPr>
                        <a:t>新規案件をLINEで送る</a:t>
                      </a:r>
                      <a:endParaRPr lang="ja-JP" altLang="en-US" sz="10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000" b="1" dirty="0">
                          <a:solidFill>
                            <a:srgbClr val="333333"/>
                          </a:solidFill>
                          <a:latin typeface="メイリオ" panose="020B0604030504040204" pitchFamily="50" charset="-128"/>
                          <a:ea typeface="メイリオ" panose="020B0604030504040204" pitchFamily="50" charset="-128"/>
                        </a:rPr>
                        <a:t>エリア・会場・希望で絞って届ける</a:t>
                      </a:r>
                      <a:endParaRPr lang="ja-JP" altLang="en-US" sz="10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4E9F2"/>
                    </a:solidFill>
                  </a:tcPr>
                </a:tc>
                <a:extLst>
                  <a:ext uri="{0D108BD9-81ED-4DB2-BD59-A6C34878D82A}">
                    <a16:rowId xmlns:a16="http://schemas.microsoft.com/office/drawing/2014/main" val="10004"/>
                  </a:ext>
                </a:extLst>
              </a:tr>
              <a:tr h="512064">
                <a:tc>
                  <a:txBody>
                    <a:bodyPr/>
                    <a:lstStyle/>
                    <a:p>
                      <a:pPr algn="ctr">
                        <a:buNone/>
                      </a:pPr>
                      <a:r>
                        <a:rPr lang="ja-JP" altLang="en-US" sz="1050" b="1" dirty="0">
                          <a:solidFill>
                            <a:srgbClr val="323366"/>
                          </a:solidFill>
                          <a:latin typeface="メイリオ" panose="020B0604030504040204" pitchFamily="50" charset="-128"/>
                          <a:ea typeface="メイリオ" panose="020B0604030504040204" pitchFamily="50" charset="-128"/>
                        </a:rPr>
                        <a:t>再応募への導線</a:t>
                      </a:r>
                      <a:endParaRPr lang="ja-JP" altLang="en-US" sz="105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EF2F9"/>
                    </a:solidFill>
                  </a:tcPr>
                </a:tc>
                <a:tc>
                  <a:txBody>
                    <a:bodyPr/>
                    <a:lstStyle/>
                    <a:p>
                      <a:pPr algn="ctr">
                        <a:buNone/>
                      </a:pPr>
                      <a:r>
                        <a:rPr lang="ja-JP" altLang="en-US" sz="1000" b="0" dirty="0">
                          <a:solidFill>
                            <a:srgbClr val="333333"/>
                          </a:solidFill>
                          <a:latin typeface="メイリオ" panose="020B0604030504040204" pitchFamily="50" charset="-128"/>
                          <a:ea typeface="メイリオ" panose="020B0604030504040204" pitchFamily="50" charset="-128"/>
                        </a:rPr>
                        <a:t>「お仕事一覧から申込み」と記載</a:t>
                      </a:r>
                      <a:endParaRPr lang="ja-JP" altLang="en-US" sz="10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000" b="0" dirty="0">
                          <a:solidFill>
                            <a:srgbClr val="595959"/>
                          </a:solidFill>
                          <a:latin typeface="メイリオ" panose="020B0604030504040204" pitchFamily="50" charset="-128"/>
                          <a:ea typeface="メイリオ" panose="020B0604030504040204" pitchFamily="50" charset="-128"/>
                        </a:rPr>
                        <a:t>画面では未確認</a:t>
                      </a:r>
                      <a:endParaRPr lang="ja-JP" altLang="en-US" sz="10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000" b="0" dirty="0">
                          <a:solidFill>
                            <a:srgbClr val="333333"/>
                          </a:solidFill>
                          <a:latin typeface="メイリオ" panose="020B0604030504040204" pitchFamily="50" charset="-128"/>
                          <a:ea typeface="メイリオ" panose="020B0604030504040204" pitchFamily="50" charset="-128"/>
                        </a:rPr>
                        <a:t>案件へのエントリーをLINEで送る</a:t>
                      </a:r>
                      <a:endParaRPr lang="ja-JP" altLang="en-US" sz="10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000" b="1" dirty="0">
                          <a:solidFill>
                            <a:srgbClr val="333333"/>
                          </a:solidFill>
                          <a:latin typeface="メイリオ" panose="020B0604030504040204" pitchFamily="50" charset="-128"/>
                          <a:ea typeface="メイリオ" panose="020B0604030504040204" pitchFamily="50" charset="-128"/>
                        </a:rPr>
                        <a:t>次回イベントの募集から再応募へ</a:t>
                      </a:r>
                      <a:endParaRPr lang="ja-JP" altLang="en-US" sz="10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4E9F2"/>
                    </a:solidFill>
                  </a:tcPr>
                </a:tc>
                <a:extLst>
                  <a:ext uri="{0D108BD9-81ED-4DB2-BD59-A6C34878D82A}">
                    <a16:rowId xmlns:a16="http://schemas.microsoft.com/office/drawing/2014/main" val="10005"/>
                  </a:ext>
                </a:extLst>
              </a:tr>
              <a:tr h="512064">
                <a:tc>
                  <a:txBody>
                    <a:bodyPr/>
                    <a:lstStyle/>
                    <a:p>
                      <a:pPr algn="ctr">
                        <a:buNone/>
                      </a:pPr>
                      <a:r>
                        <a:rPr lang="ja-JP" altLang="en-US" sz="1050" b="1" dirty="0">
                          <a:solidFill>
                            <a:srgbClr val="323366"/>
                          </a:solidFill>
                          <a:latin typeface="メイリオ" panose="020B0604030504040204" pitchFamily="50" charset="-128"/>
                          <a:ea typeface="メイリオ" panose="020B0604030504040204" pitchFamily="50" charset="-128"/>
                        </a:rPr>
                        <a:t>リッチメニュー</a:t>
                      </a:r>
                      <a:endParaRPr lang="ja-JP" altLang="en-US" sz="105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EF2F9"/>
                    </a:solidFill>
                  </a:tcPr>
                </a:tc>
                <a:tc>
                  <a:txBody>
                    <a:bodyPr/>
                    <a:lstStyle/>
                    <a:p>
                      <a:pPr algn="ctr">
                        <a:buNone/>
                      </a:pPr>
                      <a:r>
                        <a:rPr lang="ja-JP" altLang="en-US" sz="1000" b="0" dirty="0">
                          <a:solidFill>
                            <a:srgbClr val="333333"/>
                          </a:solidFill>
                          <a:latin typeface="メイリオ" panose="020B0604030504040204" pitchFamily="50" charset="-128"/>
                          <a:ea typeface="メイリオ" panose="020B0604030504040204" pitchFamily="50" charset="-128"/>
                        </a:rPr>
                        <a:t>仕事情報・Q&amp;A・問い合わせ＋登録</a:t>
                      </a:r>
                      <a:endParaRPr lang="ja-JP" altLang="en-US" sz="10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000" b="0" dirty="0">
                          <a:solidFill>
                            <a:srgbClr val="595959"/>
                          </a:solidFill>
                          <a:latin typeface="メイリオ" panose="020B0604030504040204" pitchFamily="50" charset="-128"/>
                          <a:ea typeface="メイリオ" panose="020B0604030504040204" pitchFamily="50" charset="-128"/>
                        </a:rPr>
                        <a:t>画面では未確認</a:t>
                      </a:r>
                      <a:endParaRPr lang="ja-JP" altLang="en-US" sz="10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000" b="0" dirty="0">
                          <a:solidFill>
                            <a:srgbClr val="333333"/>
                          </a:solidFill>
                          <a:latin typeface="メイリオ" panose="020B0604030504040204" pitchFamily="50" charset="-128"/>
                          <a:ea typeface="メイリオ" panose="020B0604030504040204" pitchFamily="50" charset="-128"/>
                        </a:rPr>
                        <a:t>「案件一覧」あり（ほかは未確認）</a:t>
                      </a:r>
                      <a:endParaRPr lang="ja-JP" altLang="en-US" sz="10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000" b="1" dirty="0">
                          <a:solidFill>
                            <a:srgbClr val="333333"/>
                          </a:solidFill>
                          <a:latin typeface="メイリオ" panose="020B0604030504040204" pitchFamily="50" charset="-128"/>
                          <a:ea typeface="メイリオ" panose="020B0604030504040204" pitchFamily="50" charset="-128"/>
                        </a:rPr>
                        <a:t>仕事を探す・勤務の案内・よくある質問など</a:t>
                      </a:r>
                      <a:endParaRPr lang="ja-JP" altLang="en-US" sz="10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4E9F2"/>
                    </a:solidFill>
                  </a:tcPr>
                </a:tc>
                <a:extLst>
                  <a:ext uri="{0D108BD9-81ED-4DB2-BD59-A6C34878D82A}">
                    <a16:rowId xmlns:a16="http://schemas.microsoft.com/office/drawing/2014/main" val="10006"/>
                  </a:ext>
                </a:extLst>
              </a:tr>
            </a:tbl>
          </a:graphicData>
        </a:graphic>
      </p:graphicFrame>
      <p:sp>
        <p:nvSpPr>
          <p:cNvPr id="23" name="Rounded Rectangle 22"/>
          <p:cNvSpPr/>
          <p:nvPr/>
        </p:nvSpPr>
        <p:spPr>
          <a:xfrm>
            <a:off x="429768" y="4864608"/>
            <a:ext cx="9043416" cy="603504"/>
          </a:xfrm>
          <a:prstGeom prst="roundRect">
            <a:avLst>
              <a:gd name="adj" fmla="val 5000"/>
            </a:avLst>
          </a:prstGeom>
          <a:solidFill>
            <a:srgbClr val="F5F6FA"/>
          </a:solidFill>
          <a:ln w="9525">
            <a:solidFill>
              <a:srgbClr val="D9D9D9"/>
            </a:solidFill>
          </a:ln>
        </p:spPr>
        <p:txBody>
          <a:bodyPr wrap="square" lIns="109728" tIns="36576" rIns="109728" bIns="36576" rtlCol="0" anchor="ctr">
            <a:noAutofit/>
          </a:bodyPr>
          <a:lstStyle/>
          <a:p>
            <a:pPr algn="l">
              <a:buNone/>
            </a:pPr>
            <a:r>
              <a:rPr lang="ja-JP" altLang="en-US" sz="1000" b="0" dirty="0">
                <a:solidFill>
                  <a:srgbClr val="333333"/>
                </a:solidFill>
                <a:latin typeface="メイリオ" panose="020B0604030504040204" pitchFamily="50" charset="-128"/>
                <a:ea typeface="メイリオ" panose="020B0604030504040204" pitchFamily="50" charset="-128"/>
              </a:rPr>
              <a:t>参考｜タウンワーク（求人メディア）は、LINEを求人検索の入口に活用して、リッチメニュー経由の応募数が79%増えました（2019年公開の導入事例）。直接の競合ではなく、LINEを応募の入口にした参考事例です。</a:t>
            </a:r>
            <a:endParaRPr lang="ja-JP" altLang="en-US" sz="1000" dirty="0"/>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4" name="Google Shape;752;p28">
            <a:extLst>
              <a:ext uri="{FF2B5EF4-FFF2-40B4-BE49-F238E27FC236}">
                <a16:creationId xmlns:a16="http://schemas.microsoft.com/office/drawing/2014/main" id="{88CD823C-3E61-5E93-B9FE-BD623737FC13}"/>
              </a:ext>
            </a:extLst>
          </p:cNvPr>
          <p:cNvSpPr txBox="1"/>
          <p:nvPr/>
        </p:nvSpPr>
        <p:spPr>
          <a:xfrm>
            <a:off x="602223" y="1104688"/>
            <a:ext cx="1104657" cy="584735"/>
          </a:xfrm>
          <a:prstGeom prst="rect">
            <a:avLst/>
          </a:prstGeom>
          <a:noFill/>
          <a:ln>
            <a:noFill/>
          </a:ln>
        </p:spPr>
        <p:txBody>
          <a:bodyPr spcFirstLastPara="1" wrap="square" lIns="91425" tIns="45700" rIns="91425" bIns="45700" anchor="ctr" anchorCtr="0">
            <a:spAutoFit/>
          </a:bodyPr>
          <a:lstStyle/>
          <a:p>
            <a:pPr lvl="0"/>
            <a:r>
              <a:rPr lang="en-US" altLang="ja-JP" sz="3200" b="1" dirty="0">
                <a:solidFill>
                  <a:srgbClr val="323366"/>
                </a:solidFill>
                <a:latin typeface="メイリオ" panose="020B0604030504040204" pitchFamily="50" charset="-128"/>
                <a:ea typeface="メイリオ" panose="020B0604030504040204" pitchFamily="50" charset="-128"/>
                <a:cs typeface="Meiryo"/>
                <a:sym typeface="Meiryo"/>
              </a:rPr>
              <a:t>04</a:t>
            </a:r>
            <a:endParaRPr lang="ja-JP" altLang="en-US" sz="3200" b="1" dirty="0">
              <a:solidFill>
                <a:srgbClr val="323366"/>
              </a:solidFill>
              <a:latin typeface="メイリオ" panose="020B0604030504040204" pitchFamily="50" charset="-128"/>
              <a:ea typeface="メイリオ" panose="020B0604030504040204" pitchFamily="50" charset="-128"/>
              <a:cs typeface="Meiryo"/>
              <a:sym typeface="Meiryo"/>
            </a:endParaRPr>
          </a:p>
        </p:txBody>
      </p:sp>
      <p:sp>
        <p:nvSpPr>
          <p:cNvPr id="16" name="Google Shape;752;p28">
            <a:extLst>
              <a:ext uri="{FF2B5EF4-FFF2-40B4-BE49-F238E27FC236}">
                <a16:creationId xmlns:a16="http://schemas.microsoft.com/office/drawing/2014/main" id="{403775D4-CF2D-3023-3056-9E596BBE8648}"/>
              </a:ext>
            </a:extLst>
          </p:cNvPr>
          <p:cNvSpPr txBox="1"/>
          <p:nvPr/>
        </p:nvSpPr>
        <p:spPr>
          <a:xfrm>
            <a:off x="1867143" y="1043132"/>
            <a:ext cx="5028957" cy="707846"/>
          </a:xfrm>
          <a:prstGeom prst="rect">
            <a:avLst/>
          </a:prstGeom>
          <a:noFill/>
          <a:ln>
            <a:noFill/>
          </a:ln>
        </p:spPr>
        <p:txBody>
          <a:bodyPr spcFirstLastPara="1" wrap="square" lIns="91425" tIns="45700" rIns="91425" bIns="45700" anchor="ctr" anchorCtr="0">
            <a:spAutoFit/>
          </a:bodyPr>
          <a:lstStyle/>
          <a:p>
            <a:pPr lvl="0"/>
            <a:r>
              <a:rPr lang="ja-JP" altLang="en-US" sz="4000" b="1" dirty="0">
                <a:solidFill>
                  <a:schemeClr val="tx1">
                    <a:lumMod val="65000"/>
                    <a:lumOff val="35000"/>
                  </a:schemeClr>
                </a:solidFill>
                <a:latin typeface="メイリオ" panose="020B0604030504040204" pitchFamily="50" charset="-128"/>
                <a:ea typeface="メイリオ" panose="020B0604030504040204" pitchFamily="50" charset="-128"/>
                <a:cs typeface="Meiryo"/>
                <a:sym typeface="Meiryo"/>
              </a:rPr>
              <a:t>ご提案内容</a:t>
            </a:r>
          </a:p>
        </p:txBody>
      </p:sp>
      <p:cxnSp>
        <p:nvCxnSpPr>
          <p:cNvPr id="17" name="直線コネクタ 16">
            <a:extLst>
              <a:ext uri="{FF2B5EF4-FFF2-40B4-BE49-F238E27FC236}">
                <a16:creationId xmlns:a16="http://schemas.microsoft.com/office/drawing/2014/main" id="{24E0D700-8F0C-AA59-0C53-7B51F6E65BAA}"/>
              </a:ext>
            </a:extLst>
          </p:cNvPr>
          <p:cNvCxnSpPr>
            <a:cxnSpLocks/>
          </p:cNvCxnSpPr>
          <p:nvPr/>
        </p:nvCxnSpPr>
        <p:spPr>
          <a:xfrm>
            <a:off x="608527" y="1681803"/>
            <a:ext cx="944805" cy="0"/>
          </a:xfrm>
          <a:prstGeom prst="line">
            <a:avLst/>
          </a:prstGeom>
          <a:ln w="57150">
            <a:solidFill>
              <a:srgbClr val="10253F"/>
            </a:solidFill>
          </a:ln>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9000" y="138240"/>
            <a:ext cx="7920000" cy="338040"/>
          </a:xfrm>
          <a:prstGeom prst="rect">
            <a:avLst/>
          </a:prstGeom>
          <a:noFill/>
        </p:spPr>
        <p:txBody>
          <a:bodyPr wrap="square" lIns="91425" tIns="45700" rIns="91425" bIns="45700" anchor="ctr">
            <a:spAutoFit/>
          </a:bodyPr>
          <a:lstStyle/>
          <a:p>
            <a:pPr algn="l">
              <a:lnSpc>
                <a:spcPct val="120000"/>
              </a:lnSpc>
            </a:pPr>
            <a:r>
              <a:rPr sz="1600" b="1">
                <a:solidFill>
                  <a:srgbClr val="323366"/>
                </a:solidFill>
                <a:latin typeface="メイリオ"/>
                <a:ea typeface="メイリオ"/>
                <a:cs typeface="メイリオ"/>
              </a:rPr>
              <a:t>提案の全体像｜応募から再応募までを、LINEで循環させる</a:t>
            </a:r>
          </a:p>
        </p:txBody>
      </p:sp>
      <p:sp>
        <p:nvSpPr>
          <p:cNvPr id="3" name="TextBox 2"/>
          <p:cNvSpPr txBox="1"/>
          <p:nvPr/>
        </p:nvSpPr>
        <p:spPr>
          <a:xfrm>
            <a:off x="309600" y="687600"/>
            <a:ext cx="9331200" cy="585216"/>
          </a:xfrm>
          <a:prstGeom prst="rect">
            <a:avLst/>
          </a:prstGeom>
          <a:noFill/>
        </p:spPr>
        <p:txBody>
          <a:bodyPr wrap="square" lIns="28800" tIns="7200" rIns="28800" bIns="7200" anchor="ctr">
            <a:spAutoFit/>
          </a:bodyPr>
          <a:lstStyle/>
          <a:p>
            <a:pPr algn="l">
              <a:lnSpc>
                <a:spcPct val="120000"/>
              </a:lnSpc>
            </a:pPr>
            <a:r>
              <a:rPr sz="1400" b="1">
                <a:solidFill>
                  <a:srgbClr val="1E2761"/>
                </a:solidFill>
                <a:latin typeface="メイリオ"/>
                <a:ea typeface="メイリオ"/>
                <a:cs typeface="メイリオ"/>
              </a:rPr>
              <a:t>サイトに来た方に友だちになっていただき、応募から次の募集までLINEでつなぎます。</a:t>
            </a:r>
          </a:p>
          <a:p>
            <a:pPr algn="l">
              <a:lnSpc>
                <a:spcPct val="120000"/>
              </a:lnSpc>
            </a:pPr>
            <a:r>
              <a:rPr sz="1400" b="1">
                <a:solidFill>
                  <a:srgbClr val="FF0000"/>
                </a:solidFill>
                <a:latin typeface="メイリオ"/>
                <a:ea typeface="メイリオ"/>
                <a:cs typeface="メイリオ"/>
              </a:rPr>
              <a:t>イベントが終わっても接点が切れず、次のイベントの人員確保につながる仕組みです。</a:t>
            </a:r>
          </a:p>
        </p:txBody>
      </p:sp>
      <p:sp>
        <p:nvSpPr>
          <p:cNvPr id="18" name="Rectangle 17"/>
          <p:cNvSpPr/>
          <p:nvPr/>
        </p:nvSpPr>
        <p:spPr>
          <a:xfrm>
            <a:off x="429768" y="5596128"/>
            <a:ext cx="9043416" cy="374904"/>
          </a:xfrm>
          <a:prstGeom prst="rect">
            <a:avLst/>
          </a:prstGeom>
          <a:solidFill>
            <a:srgbClr val="0020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ectangle 20"/>
          <p:cNvSpPr/>
          <p:nvPr/>
        </p:nvSpPr>
        <p:spPr>
          <a:xfrm>
            <a:off x="429768" y="5596128"/>
            <a:ext cx="9043416" cy="374904"/>
          </a:xfrm>
          <a:prstGeom prst="rect">
            <a:avLst/>
          </a:prstGeom>
          <a:noFill/>
          <a:ln>
            <a:noFill/>
          </a:ln>
        </p:spPr>
        <p:txBody>
          <a:bodyPr wrap="square" lIns="45720" tIns="0" rIns="45720" bIns="0" rtlCol="0" anchor="ctr">
            <a:noAutofit/>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rPr>
              <a:t>単発の勤務を、イベントごとに途切れない関係に変える</a:t>
            </a:r>
            <a:endParaRPr lang="ja-JP" altLang="en-US" sz="1300" dirty="0"/>
          </a:p>
        </p:txBody>
      </p:sp>
      <p:sp>
        <p:nvSpPr>
          <p:cNvPr id="22" name="Rounded Rectangle 21"/>
          <p:cNvSpPr/>
          <p:nvPr/>
        </p:nvSpPr>
        <p:spPr>
          <a:xfrm>
            <a:off x="429768" y="1463040"/>
            <a:ext cx="1874519" cy="777240"/>
          </a:xfrm>
          <a:prstGeom prst="roundRect">
            <a:avLst>
              <a:gd name="adj" fmla="val 5000"/>
            </a:avLst>
          </a:prstGeom>
          <a:solidFill>
            <a:srgbClr val="F5F6FA"/>
          </a:solidFill>
          <a:ln w="15875">
            <a:solidFill>
              <a:srgbClr val="1E2761"/>
            </a:solidFill>
          </a:ln>
        </p:spPr>
        <p:txBody>
          <a:bodyPr wrap="square" lIns="73152" tIns="36576" rIns="73152" bIns="36576" rtlCol="0" anchor="ctr">
            <a:noAutofit/>
          </a:bodyPr>
          <a:lstStyle/>
          <a:p>
            <a:pPr algn="ctr">
              <a:spcAft>
                <a:spcPts val="100"/>
              </a:spcAft>
              <a:buNone/>
            </a:pPr>
            <a:r>
              <a:rPr lang="ja-JP" altLang="en-US" sz="1400" b="1" dirty="0">
                <a:solidFill>
                  <a:srgbClr val="323366"/>
                </a:solidFill>
                <a:latin typeface="メイリオ" panose="020B0604030504040204" pitchFamily="50" charset="-128"/>
                <a:ea typeface="メイリオ" panose="020B0604030504040204" pitchFamily="50" charset="-128"/>
              </a:rPr>
              <a:t>採用サイト</a:t>
            </a:r>
            <a:endParaRPr lang="ja-JP" altLang="en-US" sz="1100" dirty="0"/>
          </a:p>
          <a:p>
            <a:pPr algn="ctr">
              <a:spcAft>
                <a:spcPts val="100"/>
              </a:spcAft>
              <a:buNone/>
            </a:pPr>
            <a:r>
              <a:rPr lang="ja-JP" altLang="en-US" sz="1050" b="0" dirty="0">
                <a:solidFill>
                  <a:srgbClr val="333333"/>
                </a:solidFill>
                <a:latin typeface="メイリオ" panose="020B0604030504040204" pitchFamily="50" charset="-128"/>
                <a:ea typeface="メイリオ" panose="020B0604030504040204" pitchFamily="50" charset="-128"/>
              </a:rPr>
              <a:t>求人を見る</a:t>
            </a:r>
            <a:endParaRPr lang="ja-JP" altLang="en-US" sz="1100" dirty="0"/>
          </a:p>
        </p:txBody>
      </p:sp>
      <p:sp>
        <p:nvSpPr>
          <p:cNvPr id="36" name="Rounded Rectangle 21"/>
          <p:cNvSpPr/>
          <p:nvPr/>
        </p:nvSpPr>
        <p:spPr>
          <a:xfrm>
            <a:off x="429768" y="3749039"/>
            <a:ext cx="1874519" cy="822960"/>
          </a:xfrm>
          <a:prstGeom prst="roundRect">
            <a:avLst>
              <a:gd name="adj" fmla="val 5000"/>
            </a:avLst>
          </a:prstGeom>
          <a:solidFill>
            <a:srgbClr val="F5F6FA"/>
          </a:solidFill>
          <a:ln w="15875">
            <a:solidFill>
              <a:srgbClr val="1E2761"/>
            </a:solidFill>
          </a:ln>
        </p:spPr>
        <p:txBody>
          <a:bodyPr wrap="square" lIns="73152" tIns="36576" rIns="73152" bIns="36576" rtlCol="0" anchor="ctr">
            <a:noAutofit/>
          </a:bodyPr>
          <a:lstStyle/>
          <a:p>
            <a:pPr algn="ctr">
              <a:spcAft>
                <a:spcPts val="100"/>
              </a:spcAft>
              <a:buNone/>
            </a:pPr>
            <a:r>
              <a:rPr lang="ja-JP" altLang="en-US" sz="1400" b="1" dirty="0">
                <a:solidFill>
                  <a:srgbClr val="323366"/>
                </a:solidFill>
                <a:latin typeface="メイリオ" panose="020B0604030504040204" pitchFamily="50" charset="-128"/>
                <a:ea typeface="メイリオ" panose="020B0604030504040204" pitchFamily="50" charset="-128"/>
              </a:rPr>
              <a:t>新規応募</a:t>
            </a:r>
            <a:endParaRPr lang="ja-JP" altLang="en-US" sz="1100" dirty="0"/>
          </a:p>
          <a:p>
            <a:pPr algn="ctr">
              <a:spcAft>
                <a:spcPts val="100"/>
              </a:spcAft>
              <a:buNone/>
            </a:pPr>
            <a:r>
              <a:rPr lang="ja-JP" altLang="en-US" sz="1050" b="0" dirty="0">
                <a:solidFill>
                  <a:srgbClr val="333333"/>
                </a:solidFill>
                <a:latin typeface="メイリオ" panose="020B0604030504040204" pitchFamily="50" charset="-128"/>
                <a:ea typeface="メイリオ" panose="020B0604030504040204" pitchFamily="50" charset="-128"/>
              </a:rPr>
              <a:t>LINEから応募フォームへ</a:t>
            </a:r>
            <a:endParaRPr lang="ja-JP" altLang="en-US" sz="1100" dirty="0"/>
          </a:p>
        </p:txBody>
      </p:sp>
      <p:cxnSp>
        <p:nvCxnSpPr>
          <p:cNvPr id="23" name="Connector 22"/>
          <p:cNvCxnSpPr/>
          <p:nvPr/>
        </p:nvCxnSpPr>
        <p:spPr>
          <a:xfrm>
            <a:off x="1371600" y="2258568"/>
            <a:ext cx="0" cy="237744"/>
          </a:xfrm>
          <a:prstGeom prst="line">
            <a:avLst/>
          </a:prstGeom>
          <a:ln w="25400">
            <a:solidFill>
              <a:srgbClr val="1E2761"/>
            </a:solidFill>
            <a:tailEnd type="triangle" w="med" len="med"/>
          </a:ln>
        </p:spPr>
      </p:cxnSp>
      <p:cxnSp>
        <p:nvCxnSpPr>
          <p:cNvPr id="37" name="Connector 22"/>
          <p:cNvCxnSpPr/>
          <p:nvPr/>
        </p:nvCxnSpPr>
        <p:spPr>
          <a:xfrm>
            <a:off x="1371600" y="3493008"/>
            <a:ext cx="0" cy="237744"/>
          </a:xfrm>
          <a:prstGeom prst="line">
            <a:avLst/>
          </a:prstGeom>
          <a:ln w="25400">
            <a:solidFill>
              <a:srgbClr val="1E2761"/>
            </a:solidFill>
            <a:tailEnd type="triangle" w="med" len="med"/>
          </a:ln>
        </p:spPr>
      </p:cxnSp>
      <p:sp>
        <p:nvSpPr>
          <p:cNvPr id="24" name="Rounded Rectangle 23"/>
          <p:cNvSpPr/>
          <p:nvPr/>
        </p:nvSpPr>
        <p:spPr>
          <a:xfrm>
            <a:off x="429768" y="2514600"/>
            <a:ext cx="1874519" cy="960120"/>
          </a:xfrm>
          <a:prstGeom prst="roundRect">
            <a:avLst>
              <a:gd name="adj" fmla="val 5000"/>
            </a:avLst>
          </a:prstGeom>
          <a:solidFill>
            <a:srgbClr val="E9F8EF"/>
          </a:solidFill>
          <a:ln w="15875">
            <a:solidFill>
              <a:srgbClr val="06C755"/>
            </a:solidFill>
          </a:ln>
        </p:spPr>
        <p:txBody>
          <a:bodyPr wrap="square" lIns="73152" tIns="36576" rIns="73152" bIns="36576" rtlCol="0" anchor="ctr">
            <a:noAutofit/>
          </a:bodyPr>
          <a:lstStyle/>
          <a:p>
            <a:pPr algn="ctr">
              <a:spcAft>
                <a:spcPts val="100"/>
              </a:spcAft>
              <a:buNone/>
            </a:pPr>
            <a:r>
              <a:rPr lang="ja-JP" altLang="en-US" sz="1000" b="1" dirty="0">
                <a:solidFill>
                  <a:srgbClr val="06C755"/>
                </a:solidFill>
                <a:latin typeface="メイリオ" panose="020B0604030504040204" pitchFamily="50" charset="-128"/>
                <a:ea typeface="メイリオ" panose="020B0604030504040204" pitchFamily="50" charset="-128"/>
              </a:rPr>
              <a:t>施策① 友だち獲得</a:t>
            </a:r>
            <a:endParaRPr lang="ja-JP" altLang="en-US" sz="1100" dirty="0"/>
          </a:p>
          <a:p>
            <a:pPr algn="ctr">
              <a:spcAft>
                <a:spcPts val="100"/>
              </a:spcAft>
              <a:buNone/>
            </a:pPr>
            <a:r>
              <a:rPr lang="ja-JP" altLang="en-US" sz="1400" b="1" dirty="0">
                <a:solidFill>
                  <a:srgbClr val="323366"/>
                </a:solidFill>
                <a:latin typeface="メイリオ" panose="020B0604030504040204" pitchFamily="50" charset="-128"/>
                <a:ea typeface="メイリオ" panose="020B0604030504040204" pitchFamily="50" charset="-128"/>
              </a:rPr>
              <a:t>LINE友だち追加</a:t>
            </a:r>
            <a:endParaRPr lang="ja-JP" altLang="en-US" sz="1100" dirty="0"/>
          </a:p>
          <a:p>
            <a:pPr algn="ctr">
              <a:spcAft>
                <a:spcPts val="100"/>
              </a:spcAft>
              <a:buNone/>
            </a:pPr>
            <a:r>
              <a:rPr lang="ja-JP" altLang="en-US" sz="1050" b="0" dirty="0">
                <a:solidFill>
                  <a:srgbClr val="333333"/>
                </a:solidFill>
                <a:latin typeface="メイリオ" panose="020B0604030504040204" pitchFamily="50" charset="-128"/>
                <a:ea typeface="メイリオ" panose="020B0604030504040204" pitchFamily="50" charset="-128"/>
              </a:rPr>
              <a:t>LINEボタン・離脱防止</a:t>
            </a:r>
            <a:endParaRPr lang="ja-JP" altLang="en-US" sz="1100" dirty="0"/>
          </a:p>
        </p:txBody>
      </p:sp>
      <p:cxnSp>
        <p:nvCxnSpPr>
          <p:cNvPr id="25" name="Connector 24"/>
          <p:cNvCxnSpPr/>
          <p:nvPr/>
        </p:nvCxnSpPr>
        <p:spPr>
          <a:xfrm flipV="1">
            <a:off x="2322576" y="2148840"/>
            <a:ext cx="630936" cy="2011680"/>
          </a:xfrm>
          <a:prstGeom prst="line">
            <a:avLst/>
          </a:prstGeom>
          <a:ln w="25400">
            <a:solidFill>
              <a:srgbClr val="1E2761"/>
            </a:solidFill>
            <a:tailEnd type="triangle" w="med" len="med"/>
          </a:ln>
        </p:spPr>
      </p:cxnSp>
      <p:sp>
        <p:nvSpPr>
          <p:cNvPr id="26" name="Rounded Rectangle 25"/>
          <p:cNvSpPr/>
          <p:nvPr/>
        </p:nvSpPr>
        <p:spPr>
          <a:xfrm>
            <a:off x="2971800" y="1463040"/>
            <a:ext cx="2432304" cy="1051560"/>
          </a:xfrm>
          <a:prstGeom prst="roundRect">
            <a:avLst>
              <a:gd name="adj" fmla="val 5000"/>
            </a:avLst>
          </a:prstGeom>
          <a:solidFill>
            <a:srgbClr val="FFFFFF"/>
          </a:solidFill>
          <a:ln w="15875">
            <a:solidFill>
              <a:srgbClr val="1E2761"/>
            </a:solidFill>
          </a:ln>
        </p:spPr>
        <p:txBody>
          <a:bodyPr wrap="square" lIns="73152" tIns="36576" rIns="73152" bIns="36576" rtlCol="0" anchor="ctr">
            <a:noAutofit/>
          </a:bodyPr>
          <a:lstStyle/>
          <a:p>
            <a:pPr algn="ctr">
              <a:spcAft>
                <a:spcPts val="100"/>
              </a:spcAft>
              <a:buNone/>
            </a:pPr>
            <a:r>
              <a:rPr lang="ja-JP" altLang="en-US" sz="1000" b="1" dirty="0">
                <a:solidFill>
                  <a:srgbClr val="323366"/>
                </a:solidFill>
                <a:latin typeface="メイリオ" panose="020B0604030504040204" pitchFamily="50" charset="-128"/>
                <a:ea typeface="メイリオ" panose="020B0604030504040204" pitchFamily="50" charset="-128"/>
              </a:rPr>
              <a:t>施策② 勤務連絡・管理</a:t>
            </a:r>
            <a:endParaRPr lang="ja-JP" altLang="en-US" sz="1100" dirty="0"/>
          </a:p>
          <a:p>
            <a:pPr algn="ctr">
              <a:spcAft>
                <a:spcPts val="100"/>
              </a:spcAft>
              <a:buNone/>
            </a:pPr>
            <a:r>
              <a:rPr lang="ja-JP" altLang="en-US" sz="1400" b="1" dirty="0">
                <a:solidFill>
                  <a:srgbClr val="323366"/>
                </a:solidFill>
                <a:latin typeface="メイリオ" panose="020B0604030504040204" pitchFamily="50" charset="-128"/>
                <a:ea typeface="メイリオ" panose="020B0604030504040204" pitchFamily="50" charset="-128"/>
              </a:rPr>
              <a:t>勤務連絡</a:t>
            </a:r>
            <a:endParaRPr lang="ja-JP" altLang="en-US" sz="1100" dirty="0"/>
          </a:p>
          <a:p>
            <a:pPr algn="ctr">
              <a:spcAft>
                <a:spcPts val="100"/>
              </a:spcAft>
              <a:buNone/>
            </a:pPr>
            <a:r>
              <a:rPr lang="ja-JP" altLang="en-US" sz="1050" b="0" dirty="0">
                <a:solidFill>
                  <a:srgbClr val="333333"/>
                </a:solidFill>
                <a:latin typeface="メイリオ" panose="020B0604030504040204" pitchFamily="50" charset="-128"/>
                <a:ea typeface="メイリオ" panose="020B0604030504040204" pitchFamily="50" charset="-128"/>
              </a:rPr>
              <a:t>集合・持ち物・前日のリマインド</a:t>
            </a:r>
            <a:endParaRPr lang="ja-JP" altLang="en-US" sz="1100" dirty="0"/>
          </a:p>
        </p:txBody>
      </p:sp>
      <p:sp>
        <p:nvSpPr>
          <p:cNvPr id="27" name="Rounded Rectangle 26"/>
          <p:cNvSpPr/>
          <p:nvPr/>
        </p:nvSpPr>
        <p:spPr>
          <a:xfrm>
            <a:off x="7040880" y="1463040"/>
            <a:ext cx="2432304" cy="1051560"/>
          </a:xfrm>
          <a:prstGeom prst="roundRect">
            <a:avLst>
              <a:gd name="adj" fmla="val 5000"/>
            </a:avLst>
          </a:prstGeom>
          <a:solidFill>
            <a:srgbClr val="FFFFFF"/>
          </a:solidFill>
          <a:ln w="15875">
            <a:solidFill>
              <a:srgbClr val="1E2761"/>
            </a:solidFill>
          </a:ln>
        </p:spPr>
        <p:txBody>
          <a:bodyPr wrap="square" lIns="73152" tIns="36576" rIns="73152" bIns="36576" rtlCol="0" anchor="ctr">
            <a:noAutofit/>
          </a:bodyPr>
          <a:lstStyle/>
          <a:p>
            <a:pPr algn="ctr">
              <a:spcAft>
                <a:spcPts val="100"/>
              </a:spcAft>
              <a:buNone/>
            </a:pPr>
            <a:r>
              <a:rPr lang="ja-JP" altLang="en-US" sz="1400" b="1" dirty="0">
                <a:solidFill>
                  <a:srgbClr val="323366"/>
                </a:solidFill>
                <a:latin typeface="メイリオ" panose="020B0604030504040204" pitchFamily="50" charset="-128"/>
                <a:ea typeface="メイリオ" panose="020B0604030504040204" pitchFamily="50" charset="-128"/>
              </a:rPr>
              <a:t>イベント勤務</a:t>
            </a:r>
            <a:endParaRPr lang="ja-JP" altLang="en-US" sz="1100" dirty="0"/>
          </a:p>
          <a:p>
            <a:pPr algn="ctr">
              <a:spcAft>
                <a:spcPts val="100"/>
              </a:spcAft>
              <a:buNone/>
            </a:pPr>
            <a:r>
              <a:rPr lang="ja-JP" altLang="en-US" sz="1050" b="0" dirty="0">
                <a:solidFill>
                  <a:srgbClr val="333333"/>
                </a:solidFill>
                <a:latin typeface="メイリオ" panose="020B0604030504040204" pitchFamily="50" charset="-128"/>
                <a:ea typeface="メイリオ" panose="020B0604030504040204" pitchFamily="50" charset="-128"/>
              </a:rPr>
              <a:t>現場で勤務</a:t>
            </a:r>
            <a:endParaRPr lang="ja-JP" altLang="en-US" sz="1100" dirty="0"/>
          </a:p>
        </p:txBody>
      </p:sp>
      <p:sp>
        <p:nvSpPr>
          <p:cNvPr id="28" name="Rounded Rectangle 27"/>
          <p:cNvSpPr/>
          <p:nvPr/>
        </p:nvSpPr>
        <p:spPr>
          <a:xfrm>
            <a:off x="7040880" y="3657600"/>
            <a:ext cx="2432304" cy="1051560"/>
          </a:xfrm>
          <a:prstGeom prst="roundRect">
            <a:avLst>
              <a:gd name="adj" fmla="val 5000"/>
            </a:avLst>
          </a:prstGeom>
          <a:solidFill>
            <a:srgbClr val="FFFFFF"/>
          </a:solidFill>
          <a:ln w="15875">
            <a:solidFill>
              <a:srgbClr val="1E2761"/>
            </a:solidFill>
          </a:ln>
        </p:spPr>
        <p:txBody>
          <a:bodyPr wrap="square" lIns="73152" tIns="36576" rIns="73152" bIns="36576" rtlCol="0" anchor="ctr">
            <a:noAutofit/>
          </a:bodyPr>
          <a:lstStyle/>
          <a:p>
            <a:pPr algn="ctr">
              <a:spcAft>
                <a:spcPts val="100"/>
              </a:spcAft>
              <a:buNone/>
            </a:pPr>
            <a:r>
              <a:rPr lang="ja-JP" altLang="en-US" sz="1000" b="1" dirty="0">
                <a:solidFill>
                  <a:srgbClr val="323366"/>
                </a:solidFill>
                <a:latin typeface="メイリオ" panose="020B0604030504040204" pitchFamily="50" charset="-128"/>
                <a:ea typeface="メイリオ" panose="020B0604030504040204" pitchFamily="50" charset="-128"/>
              </a:rPr>
              <a:t>施策③ 再応募・再稼働</a:t>
            </a:r>
            <a:endParaRPr lang="ja-JP" altLang="en-US" sz="1100" dirty="0"/>
          </a:p>
          <a:p>
            <a:pPr algn="ctr">
              <a:spcAft>
                <a:spcPts val="100"/>
              </a:spcAft>
              <a:buNone/>
            </a:pPr>
            <a:r>
              <a:rPr lang="ja-JP" altLang="en-US" sz="1400" b="1" dirty="0">
                <a:solidFill>
                  <a:srgbClr val="323366"/>
                </a:solidFill>
                <a:latin typeface="メイリオ" panose="020B0604030504040204" pitchFamily="50" charset="-128"/>
                <a:ea typeface="メイリオ" panose="020B0604030504040204" pitchFamily="50" charset="-128"/>
              </a:rPr>
              <a:t>次回募集</a:t>
            </a:r>
            <a:endParaRPr lang="ja-JP" altLang="en-US" sz="1100" dirty="0"/>
          </a:p>
          <a:p>
            <a:pPr algn="ctr">
              <a:spcAft>
                <a:spcPts val="100"/>
              </a:spcAft>
              <a:buNone/>
            </a:pPr>
            <a:r>
              <a:rPr lang="ja-JP" altLang="en-US" sz="1050" b="0" dirty="0">
                <a:solidFill>
                  <a:srgbClr val="333333"/>
                </a:solidFill>
                <a:latin typeface="メイリオ" panose="020B0604030504040204" pitchFamily="50" charset="-128"/>
                <a:ea typeface="メイリオ" panose="020B0604030504040204" pitchFamily="50" charset="-128"/>
              </a:rPr>
              <a:t>エリア・会場・希望で絞って案内</a:t>
            </a:r>
            <a:endParaRPr lang="ja-JP" altLang="en-US" sz="1100" dirty="0"/>
          </a:p>
        </p:txBody>
      </p:sp>
      <p:sp>
        <p:nvSpPr>
          <p:cNvPr id="29" name="Rounded Rectangle 28"/>
          <p:cNvSpPr/>
          <p:nvPr/>
        </p:nvSpPr>
        <p:spPr>
          <a:xfrm>
            <a:off x="2971800" y="3657600"/>
            <a:ext cx="2432304" cy="1051560"/>
          </a:xfrm>
          <a:prstGeom prst="roundRect">
            <a:avLst>
              <a:gd name="adj" fmla="val 5000"/>
            </a:avLst>
          </a:prstGeom>
          <a:solidFill>
            <a:srgbClr val="FFFFFF"/>
          </a:solidFill>
          <a:ln w="15875">
            <a:solidFill>
              <a:srgbClr val="1E2761"/>
            </a:solidFill>
          </a:ln>
        </p:spPr>
        <p:txBody>
          <a:bodyPr wrap="square" lIns="73152" tIns="36576" rIns="73152" bIns="36576" rtlCol="0" anchor="ctr">
            <a:noAutofit/>
          </a:bodyPr>
          <a:lstStyle/>
          <a:p>
            <a:pPr algn="ctr">
              <a:spcAft>
                <a:spcPts val="100"/>
              </a:spcAft>
              <a:buNone/>
            </a:pPr>
            <a:r>
              <a:rPr lang="ja-JP" altLang="en-US" sz="1000" b="1" dirty="0">
                <a:solidFill>
                  <a:srgbClr val="323366"/>
                </a:solidFill>
                <a:latin typeface="メイリオ" panose="020B0604030504040204" pitchFamily="50" charset="-128"/>
                <a:ea typeface="メイリオ" panose="020B0604030504040204" pitchFamily="50" charset="-128"/>
              </a:rPr>
              <a:t>施策③ 再応募・再稼働</a:t>
            </a:r>
            <a:endParaRPr lang="ja-JP" altLang="en-US" sz="1100" dirty="0"/>
          </a:p>
          <a:p>
            <a:pPr algn="ctr">
              <a:spcAft>
                <a:spcPts val="100"/>
              </a:spcAft>
              <a:buNone/>
            </a:pPr>
            <a:r>
              <a:rPr lang="ja-JP" altLang="en-US" sz="1400" b="1" dirty="0">
                <a:solidFill>
                  <a:srgbClr val="323366"/>
                </a:solidFill>
                <a:latin typeface="メイリオ" panose="020B0604030504040204" pitchFamily="50" charset="-128"/>
                <a:ea typeface="メイリオ" panose="020B0604030504040204" pitchFamily="50" charset="-128"/>
              </a:rPr>
              <a:t>再応募・継続</a:t>
            </a:r>
            <a:endParaRPr lang="ja-JP" altLang="en-US" sz="1100" dirty="0"/>
          </a:p>
          <a:p>
            <a:pPr algn="ctr">
              <a:spcAft>
                <a:spcPts val="100"/>
              </a:spcAft>
              <a:buNone/>
            </a:pPr>
            <a:r>
              <a:rPr lang="ja-JP" altLang="en-US" sz="1050" b="0" dirty="0">
                <a:solidFill>
                  <a:srgbClr val="333333"/>
                </a:solidFill>
                <a:latin typeface="メイリオ" panose="020B0604030504040204" pitchFamily="50" charset="-128"/>
                <a:ea typeface="メイリオ" panose="020B0604030504040204" pitchFamily="50" charset="-128"/>
              </a:rPr>
              <a:t>次のイベントにも勤務</a:t>
            </a:r>
            <a:endParaRPr lang="ja-JP" altLang="en-US" sz="1100" dirty="0"/>
          </a:p>
        </p:txBody>
      </p:sp>
      <p:cxnSp>
        <p:nvCxnSpPr>
          <p:cNvPr id="30" name="Connector 29"/>
          <p:cNvCxnSpPr/>
          <p:nvPr/>
        </p:nvCxnSpPr>
        <p:spPr>
          <a:xfrm>
            <a:off x="5449824" y="1988819"/>
            <a:ext cx="1545336" cy="0"/>
          </a:xfrm>
          <a:prstGeom prst="line">
            <a:avLst/>
          </a:prstGeom>
          <a:ln w="25400">
            <a:solidFill>
              <a:srgbClr val="1E2761"/>
            </a:solidFill>
            <a:tailEnd type="triangle" w="med" len="med"/>
          </a:ln>
        </p:spPr>
      </p:cxnSp>
      <p:cxnSp>
        <p:nvCxnSpPr>
          <p:cNvPr id="31" name="Connector 30"/>
          <p:cNvCxnSpPr/>
          <p:nvPr/>
        </p:nvCxnSpPr>
        <p:spPr>
          <a:xfrm>
            <a:off x="8257032" y="2560320"/>
            <a:ext cx="0" cy="1051560"/>
          </a:xfrm>
          <a:prstGeom prst="line">
            <a:avLst/>
          </a:prstGeom>
          <a:ln w="25400">
            <a:solidFill>
              <a:srgbClr val="1E2761"/>
            </a:solidFill>
            <a:tailEnd type="triangle" w="med" len="med"/>
          </a:ln>
        </p:spPr>
      </p:cxnSp>
      <p:cxnSp>
        <p:nvCxnSpPr>
          <p:cNvPr id="32" name="Connector 31"/>
          <p:cNvCxnSpPr/>
          <p:nvPr/>
        </p:nvCxnSpPr>
        <p:spPr>
          <a:xfrm flipH="1">
            <a:off x="5449824" y="4183380"/>
            <a:ext cx="1545336" cy="0"/>
          </a:xfrm>
          <a:prstGeom prst="line">
            <a:avLst/>
          </a:prstGeom>
          <a:ln w="25400">
            <a:solidFill>
              <a:srgbClr val="1E2761"/>
            </a:solidFill>
            <a:tailEnd type="triangle" w="med" len="med"/>
          </a:ln>
        </p:spPr>
      </p:cxnSp>
      <p:cxnSp>
        <p:nvCxnSpPr>
          <p:cNvPr id="33" name="Connector 32"/>
          <p:cNvCxnSpPr/>
          <p:nvPr/>
        </p:nvCxnSpPr>
        <p:spPr>
          <a:xfrm flipV="1">
            <a:off x="4187952" y="2560320"/>
            <a:ext cx="0" cy="1051560"/>
          </a:xfrm>
          <a:prstGeom prst="line">
            <a:avLst/>
          </a:prstGeom>
          <a:ln w="25400">
            <a:solidFill>
              <a:srgbClr val="1E2761"/>
            </a:solidFill>
            <a:tailEnd type="triangle" w="med" len="med"/>
          </a:ln>
        </p:spPr>
      </p:cxnSp>
      <p:sp>
        <p:nvSpPr>
          <p:cNvPr id="34" name="Rectangle 33"/>
          <p:cNvSpPr/>
          <p:nvPr/>
        </p:nvSpPr>
        <p:spPr>
          <a:xfrm>
            <a:off x="4370832" y="2788920"/>
            <a:ext cx="3703320" cy="594360"/>
          </a:xfrm>
          <a:prstGeom prst="rect">
            <a:avLst/>
          </a:prstGeom>
          <a:noFill/>
          <a:ln>
            <a:noFill/>
          </a:ln>
        </p:spPr>
        <p:txBody>
          <a:bodyPr wrap="square" lIns="0" tIns="0" rIns="0" bIns="0" rtlCol="0" anchor="ctr">
            <a:noAutofit/>
          </a:bodyPr>
          <a:lstStyle/>
          <a:p>
            <a:pPr algn="ctr">
              <a:buNone/>
            </a:pPr>
            <a:r>
              <a:rPr lang="ja-JP" altLang="en-US" sz="1200" b="1" dirty="0">
                <a:solidFill>
                  <a:srgbClr val="595959"/>
                </a:solidFill>
                <a:latin typeface="メイリオ" panose="020B0604030504040204" pitchFamily="50" charset="-128"/>
                <a:ea typeface="メイリオ" panose="020B0604030504040204" pitchFamily="50" charset="-128"/>
              </a:rPr>
              <a:t>イベントのたびに</a:t>
            </a:r>
            <a:endParaRPr lang="ja-JP" altLang="en-US" sz="1200" dirty="0"/>
          </a:p>
          <a:p>
            <a:pPr algn="ctr">
              <a:buNone/>
            </a:pPr>
            <a:r>
              <a:rPr lang="ja-JP" altLang="en-US" sz="1200" b="1" dirty="0">
                <a:solidFill>
                  <a:srgbClr val="595959"/>
                </a:solidFill>
                <a:latin typeface="メイリオ" panose="020B0604030504040204" pitchFamily="50" charset="-128"/>
                <a:ea typeface="メイリオ" panose="020B0604030504040204" pitchFamily="50" charset="-128"/>
              </a:rPr>
              <a:t>くり返す</a:t>
            </a:r>
            <a:endParaRPr lang="ja-JP" altLang="en-US" sz="1200" dirty="0"/>
          </a:p>
        </p:txBody>
      </p:sp>
      <p:sp>
        <p:nvSpPr>
          <p:cNvPr id="35" name="Rectangle 34"/>
          <p:cNvSpPr/>
          <p:nvPr/>
        </p:nvSpPr>
        <p:spPr>
          <a:xfrm>
            <a:off x="2971800" y="4846320"/>
            <a:ext cx="6501383" cy="566928"/>
          </a:xfrm>
          <a:prstGeom prst="rect">
            <a:avLst/>
          </a:prstGeom>
          <a:noFill/>
          <a:ln>
            <a:noFill/>
          </a:ln>
        </p:spPr>
        <p:txBody>
          <a:bodyPr wrap="square" lIns="45720" tIns="0" rIns="45720" bIns="0" rtlCol="0" anchor="ctr">
            <a:noAutofit/>
          </a:bodyPr>
          <a:lstStyle/>
          <a:p>
            <a:pPr algn="ctr">
              <a:buNone/>
            </a:pPr>
            <a:r>
              <a:rPr lang="ja-JP" altLang="en-US" sz="1100" b="0" dirty="0">
                <a:solidFill>
                  <a:srgbClr val="333333"/>
                </a:solidFill>
                <a:latin typeface="メイリオ" panose="020B0604030504040204" pitchFamily="50" charset="-128"/>
                <a:ea typeface="メイリオ" panose="020B0604030504040204" pitchFamily="50" charset="-128"/>
              </a:rPr>
              <a:t>応募の前から友だちになるので、イベントが終わっても次の募集が届きます。</a:t>
            </a:r>
            <a:endParaRPr lang="ja-JP" altLang="en-US" sz="1100" dirty="0"/>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9000" y="138240"/>
            <a:ext cx="7920000" cy="338040"/>
          </a:xfrm>
          <a:prstGeom prst="rect">
            <a:avLst/>
          </a:prstGeom>
          <a:noFill/>
        </p:spPr>
        <p:txBody>
          <a:bodyPr wrap="square" lIns="91425" tIns="45700" rIns="91425" bIns="45700" anchor="ctr">
            <a:spAutoFit/>
          </a:bodyPr>
          <a:lstStyle/>
          <a:p>
            <a:pPr algn="l">
              <a:lnSpc>
                <a:spcPct val="120000"/>
              </a:lnSpc>
            </a:pPr>
            <a:r>
              <a:rPr sz="1600" b="1">
                <a:solidFill>
                  <a:srgbClr val="323366"/>
                </a:solidFill>
                <a:latin typeface="メイリオ"/>
                <a:ea typeface="メイリオ"/>
                <a:cs typeface="メイリオ"/>
              </a:rPr>
              <a:t>施策①｜友だち獲得：サイトに来た方を、LINEにつなぐ</a:t>
            </a:r>
          </a:p>
        </p:txBody>
      </p:sp>
      <p:sp>
        <p:nvSpPr>
          <p:cNvPr id="3" name="TextBox 2"/>
          <p:cNvSpPr txBox="1"/>
          <p:nvPr/>
        </p:nvSpPr>
        <p:spPr>
          <a:xfrm>
            <a:off x="309600" y="687600"/>
            <a:ext cx="9331200" cy="585216"/>
          </a:xfrm>
          <a:prstGeom prst="rect">
            <a:avLst/>
          </a:prstGeom>
          <a:noFill/>
        </p:spPr>
        <p:txBody>
          <a:bodyPr wrap="square" lIns="28800" tIns="7200" rIns="28800" bIns="7200" anchor="ctr">
            <a:spAutoFit/>
          </a:bodyPr>
          <a:lstStyle/>
          <a:p>
            <a:pPr algn="l">
              <a:lnSpc>
                <a:spcPct val="120000"/>
              </a:lnSpc>
            </a:pPr>
            <a:r>
              <a:rPr sz="1400" b="1">
                <a:solidFill>
                  <a:srgbClr val="1E2761"/>
                </a:solidFill>
                <a:latin typeface="メイリオ"/>
                <a:ea typeface="メイリオ"/>
                <a:cs typeface="メイリオ"/>
              </a:rPr>
              <a:t>求人を見る・離れる・応募する、どの場面でもLINEにつながる入口を用意します。</a:t>
            </a:r>
          </a:p>
          <a:p>
            <a:pPr algn="l">
              <a:lnSpc>
                <a:spcPct val="120000"/>
              </a:lnSpc>
            </a:pPr>
            <a:r>
              <a:rPr sz="1400" b="1">
                <a:solidFill>
                  <a:srgbClr val="FF0000"/>
                </a:solidFill>
                <a:latin typeface="メイリオ"/>
                <a:ea typeface="メイリオ"/>
                <a:cs typeface="メイリオ"/>
              </a:rPr>
              <a:t>友だちになった方には、LINEから応募フォームへご案内します。</a:t>
            </a:r>
          </a:p>
        </p:txBody>
      </p:sp>
      <p:sp>
        <p:nvSpPr>
          <p:cNvPr id="18" name="Rectangle 17"/>
          <p:cNvSpPr/>
          <p:nvPr/>
        </p:nvSpPr>
        <p:spPr>
          <a:xfrm>
            <a:off x="429768" y="4937759"/>
            <a:ext cx="9043416" cy="374904"/>
          </a:xfrm>
          <a:prstGeom prst="rect">
            <a:avLst/>
          </a:prstGeom>
          <a:solidFill>
            <a:srgbClr val="0020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ectangle 20"/>
          <p:cNvSpPr/>
          <p:nvPr/>
        </p:nvSpPr>
        <p:spPr>
          <a:xfrm>
            <a:off x="429768" y="4937759"/>
            <a:ext cx="9043416" cy="374904"/>
          </a:xfrm>
          <a:prstGeom prst="rect">
            <a:avLst/>
          </a:prstGeom>
          <a:noFill/>
          <a:ln>
            <a:noFill/>
          </a:ln>
        </p:spPr>
        <p:txBody>
          <a:bodyPr wrap="square" lIns="45720" tIns="0" rIns="45720" bIns="0" rtlCol="0" anchor="ctr">
            <a:noAutofit/>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rPr>
              <a:t>サイトに来た方を、取りこぼさず友だちにする</a:t>
            </a:r>
            <a:endParaRPr lang="ja-JP" altLang="en-US" sz="1300" dirty="0"/>
          </a:p>
        </p:txBody>
      </p:sp>
      <p:sp>
        <p:nvSpPr>
          <p:cNvPr id="22" name="Rounded Rectangle 21"/>
          <p:cNvSpPr/>
          <p:nvPr/>
        </p:nvSpPr>
        <p:spPr>
          <a:xfrm>
            <a:off x="429768" y="1783080"/>
            <a:ext cx="1371600" cy="2697480"/>
          </a:xfrm>
          <a:prstGeom prst="roundRect">
            <a:avLst>
              <a:gd name="adj" fmla="val 8000"/>
            </a:avLst>
          </a:prstGeom>
          <a:solidFill>
            <a:srgbClr val="F4F7FF"/>
          </a:solidFill>
          <a:ln w="12700">
            <a:solidFill>
              <a:srgbClr val="1F285A"/>
            </a:solidFill>
          </a:ln>
          <a:effectLst/>
        </p:spPr>
        <p:style>
          <a:lnRef idx="1">
            <a:schemeClr val="accent1"/>
          </a:lnRef>
          <a:fillRef idx="3">
            <a:schemeClr val="accent1"/>
          </a:fillRef>
          <a:effectRef idx="0">
            <a:schemeClr val="accent1"/>
          </a:effectRef>
          <a:fontRef idx="minor">
            <a:schemeClr val="lt1"/>
          </a:fontRef>
        </p:style>
        <p:txBody>
          <a:bodyPr rtlCol="0" anchor="ctr" wrap="square" lIns="54000" tIns="18000" rIns="54000" bIns="18000"/>
          <a:lstStyle/>
          <a:p>
            <a:pPr algn="ctr">
              <a:lnSpc>
                <a:spcPct val="110000"/>
              </a:lnSpc>
              <a:spcAft>
                <a:spcPts val="0"/>
              </a:spcAft>
            </a:pPr>
            <a:r>
              <a:rPr sz="1300" b="1">
                <a:solidFill>
                  <a:srgbClr val="1F285A"/>
                </a:solidFill>
                <a:latin typeface="メイリオ"/>
                <a:ea typeface="メイリオ"/>
                <a:cs typeface="メイリオ"/>
              </a:rPr>
              <a:t>採用サイトに</a:t>
            </a:r>
          </a:p>
          <a:p>
            <a:pPr algn="ctr">
              <a:lnSpc>
                <a:spcPct val="110000"/>
              </a:lnSpc>
              <a:spcAft>
                <a:spcPts val="0"/>
              </a:spcAft>
            </a:pPr>
            <a:r>
              <a:rPr sz="1300" b="1">
                <a:solidFill>
                  <a:srgbClr val="1F285A"/>
                </a:solidFill>
                <a:latin typeface="メイリオ"/>
                <a:ea typeface="メイリオ"/>
                <a:cs typeface="メイリオ"/>
              </a:rPr>
              <a:t>来た方</a:t>
            </a:r>
          </a:p>
        </p:txBody>
      </p:sp>
      <p:cxnSp>
        <p:nvCxnSpPr>
          <p:cNvPr id="23" name="Connector 22"/>
          <p:cNvCxnSpPr/>
          <p:nvPr/>
        </p:nvCxnSpPr>
        <p:spPr>
          <a:xfrm>
            <a:off x="1828800" y="2171700"/>
            <a:ext cx="256032" cy="0"/>
          </a:xfrm>
          <a:prstGeom prst="line">
            <a:avLst/>
          </a:prstGeom>
          <a:ln w="19050">
            <a:solidFill>
              <a:srgbClr val="1F285A"/>
            </a:solidFill>
            <a:tailEnd type="triangle" w="med" len="med"/>
          </a:ln>
        </p:spPr>
        <p:style>
          <a:lnRef idx="2">
            <a:schemeClr val="accent1"/>
          </a:lnRef>
          <a:fillRef idx="0">
            <a:schemeClr val="accent1"/>
          </a:fillRef>
          <a:effectRef idx="0">
            <a:schemeClr val="accent1"/>
          </a:effectRef>
          <a:fontRef idx="minor">
            <a:schemeClr val="tx1"/>
          </a:fontRef>
        </p:style>
      </p:cxnSp>
      <p:sp>
        <p:nvSpPr>
          <p:cNvPr id="24" name="Rounded Rectangle 23"/>
          <p:cNvSpPr/>
          <p:nvPr/>
        </p:nvSpPr>
        <p:spPr>
          <a:xfrm>
            <a:off x="2103120" y="1783080"/>
            <a:ext cx="1828800" cy="777239"/>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0">
            <a:schemeClr val="accent1"/>
          </a:effectRef>
          <a:fontRef idx="minor">
            <a:schemeClr val="lt1"/>
          </a:fontRef>
        </p:style>
        <p:txBody>
          <a:bodyPr rtlCol="0" anchor="ctr" wrap="square" lIns="54000" tIns="18000" rIns="54000" bIns="18000"/>
          <a:lstStyle/>
          <a:p>
            <a:pPr algn="ctr">
              <a:lnSpc>
                <a:spcPct val="110000"/>
              </a:lnSpc>
              <a:spcAft>
                <a:spcPts val="0"/>
              </a:spcAft>
            </a:pPr>
            <a:r>
              <a:rPr sz="1250" b="1">
                <a:solidFill>
                  <a:srgbClr val="333333"/>
                </a:solidFill>
                <a:latin typeface="メイリオ"/>
                <a:ea typeface="メイリオ"/>
                <a:cs typeface="メイリオ"/>
              </a:rPr>
              <a:t>求人を見ている</a:t>
            </a:r>
          </a:p>
        </p:txBody>
      </p:sp>
      <p:cxnSp>
        <p:nvCxnSpPr>
          <p:cNvPr id="25" name="Connector 24"/>
          <p:cNvCxnSpPr/>
          <p:nvPr/>
        </p:nvCxnSpPr>
        <p:spPr>
          <a:xfrm>
            <a:off x="3959352" y="2171700"/>
            <a:ext cx="246888" cy="0"/>
          </a:xfrm>
          <a:prstGeom prst="line">
            <a:avLst/>
          </a:prstGeom>
          <a:ln w="19050">
            <a:solidFill>
              <a:srgbClr val="1F285A"/>
            </a:solidFill>
            <a:tailEnd type="triangle" w="med" len="med"/>
          </a:ln>
        </p:spPr>
        <p:style>
          <a:lnRef idx="2">
            <a:schemeClr val="accent1"/>
          </a:lnRef>
          <a:fillRef idx="0">
            <a:schemeClr val="accent1"/>
          </a:fillRef>
          <a:effectRef idx="0">
            <a:schemeClr val="accent1"/>
          </a:effectRef>
          <a:fontRef idx="minor">
            <a:schemeClr val="tx1"/>
          </a:fontRef>
        </p:style>
      </p:cxnSp>
      <p:sp>
        <p:nvSpPr>
          <p:cNvPr id="26" name="Rounded Rectangle 25"/>
          <p:cNvSpPr/>
          <p:nvPr/>
        </p:nvSpPr>
        <p:spPr>
          <a:xfrm>
            <a:off x="4224528" y="1783080"/>
            <a:ext cx="2377440" cy="777239"/>
          </a:xfrm>
          <a:prstGeom prst="roundRect">
            <a:avLst>
              <a:gd name="adj" fmla="val 8000"/>
            </a:avLst>
          </a:prstGeom>
          <a:solidFill>
            <a:srgbClr val="1F285A"/>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54000" tIns="18000" rIns="54000" bIns="18000"/>
          <a:lstStyle/>
          <a:p>
            <a:pPr algn="ctr">
              <a:lnSpc>
                <a:spcPct val="110000"/>
              </a:lnSpc>
              <a:spcAft>
                <a:spcPts val="200"/>
              </a:spcAft>
            </a:pPr>
            <a:r>
              <a:rPr sz="1300" b="1">
                <a:solidFill>
                  <a:srgbClr val="FFFFFF"/>
                </a:solidFill>
                <a:latin typeface="メイリオ"/>
                <a:ea typeface="メイリオ"/>
                <a:cs typeface="メイリオ"/>
              </a:rPr>
              <a:t>サイトのLINEボタン</a:t>
            </a:r>
          </a:p>
          <a:p>
            <a:pPr algn="ctr">
              <a:lnSpc>
                <a:spcPct val="110000"/>
              </a:lnSpc>
              <a:spcAft>
                <a:spcPts val="0"/>
              </a:spcAft>
            </a:pPr>
            <a:r>
              <a:rPr sz="1100" b="0">
                <a:solidFill>
                  <a:srgbClr val="FFFFFF"/>
                </a:solidFill>
                <a:latin typeface="メイリオ"/>
                <a:ea typeface="メイリオ"/>
                <a:cs typeface="メイリオ"/>
              </a:rPr>
              <a:t>新着の募集がLINEで届く</a:t>
            </a:r>
          </a:p>
        </p:txBody>
      </p:sp>
      <p:cxnSp>
        <p:nvCxnSpPr>
          <p:cNvPr id="27" name="Connector 26"/>
          <p:cNvCxnSpPr/>
          <p:nvPr/>
        </p:nvCxnSpPr>
        <p:spPr>
          <a:xfrm>
            <a:off x="6629400" y="2171700"/>
            <a:ext cx="320039" cy="0"/>
          </a:xfrm>
          <a:prstGeom prst="line">
            <a:avLst/>
          </a:prstGeom>
          <a:ln w="19050">
            <a:solidFill>
              <a:srgbClr val="1F285A"/>
            </a:solidFill>
            <a:tailEnd type="triangle" w="med" len="med"/>
          </a:ln>
        </p:spPr>
        <p:style>
          <a:lnRef idx="2">
            <a:schemeClr val="accent1"/>
          </a:lnRef>
          <a:fillRef idx="0">
            <a:schemeClr val="accent1"/>
          </a:fillRef>
          <a:effectRef idx="0">
            <a:schemeClr val="accent1"/>
          </a:effectRef>
          <a:fontRef idx="minor">
            <a:schemeClr val="tx1"/>
          </a:fontRef>
        </p:style>
      </p:cxnSp>
      <p:cxnSp>
        <p:nvCxnSpPr>
          <p:cNvPr id="28" name="Connector 27"/>
          <p:cNvCxnSpPr/>
          <p:nvPr/>
        </p:nvCxnSpPr>
        <p:spPr>
          <a:xfrm>
            <a:off x="1828800" y="3131820"/>
            <a:ext cx="256032" cy="0"/>
          </a:xfrm>
          <a:prstGeom prst="line">
            <a:avLst/>
          </a:prstGeom>
          <a:ln w="19050">
            <a:solidFill>
              <a:srgbClr val="1F285A"/>
            </a:solidFill>
            <a:tailEnd type="triangle" w="med" len="med"/>
          </a:ln>
        </p:spPr>
        <p:style>
          <a:lnRef idx="2">
            <a:schemeClr val="accent1"/>
          </a:lnRef>
          <a:fillRef idx="0">
            <a:schemeClr val="accent1"/>
          </a:fillRef>
          <a:effectRef idx="0">
            <a:schemeClr val="accent1"/>
          </a:effectRef>
          <a:fontRef idx="minor">
            <a:schemeClr val="tx1"/>
          </a:fontRef>
        </p:style>
      </p:cxnSp>
      <p:sp>
        <p:nvSpPr>
          <p:cNvPr id="29" name="Rounded Rectangle 28"/>
          <p:cNvSpPr/>
          <p:nvPr/>
        </p:nvSpPr>
        <p:spPr>
          <a:xfrm>
            <a:off x="2103120" y="2743200"/>
            <a:ext cx="1828800" cy="777239"/>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0">
            <a:schemeClr val="accent1"/>
          </a:effectRef>
          <a:fontRef idx="minor">
            <a:schemeClr val="lt1"/>
          </a:fontRef>
        </p:style>
        <p:txBody>
          <a:bodyPr rtlCol="0" anchor="ctr" wrap="square" lIns="54000" tIns="18000" rIns="54000" bIns="18000"/>
          <a:lstStyle/>
          <a:p>
            <a:pPr algn="ctr">
              <a:lnSpc>
                <a:spcPct val="110000"/>
              </a:lnSpc>
              <a:spcAft>
                <a:spcPts val="0"/>
              </a:spcAft>
            </a:pPr>
            <a:r>
              <a:rPr sz="1250" b="1">
                <a:solidFill>
                  <a:srgbClr val="333333"/>
                </a:solidFill>
                <a:latin typeface="メイリオ"/>
                <a:ea typeface="メイリオ"/>
                <a:cs typeface="メイリオ"/>
              </a:rPr>
              <a:t>応募せずに離れる</a:t>
            </a:r>
          </a:p>
        </p:txBody>
      </p:sp>
      <p:cxnSp>
        <p:nvCxnSpPr>
          <p:cNvPr id="30" name="Connector 29"/>
          <p:cNvCxnSpPr/>
          <p:nvPr/>
        </p:nvCxnSpPr>
        <p:spPr>
          <a:xfrm>
            <a:off x="3959352" y="3131820"/>
            <a:ext cx="246888" cy="0"/>
          </a:xfrm>
          <a:prstGeom prst="line">
            <a:avLst/>
          </a:prstGeom>
          <a:ln w="19050">
            <a:solidFill>
              <a:srgbClr val="1F285A"/>
            </a:solidFill>
            <a:tailEnd type="triangle" w="med" len="med"/>
          </a:ln>
        </p:spPr>
        <p:style>
          <a:lnRef idx="2">
            <a:schemeClr val="accent1"/>
          </a:lnRef>
          <a:fillRef idx="0">
            <a:schemeClr val="accent1"/>
          </a:fillRef>
          <a:effectRef idx="0">
            <a:schemeClr val="accent1"/>
          </a:effectRef>
          <a:fontRef idx="minor">
            <a:schemeClr val="tx1"/>
          </a:fontRef>
        </p:style>
      </p:cxnSp>
      <p:sp>
        <p:nvSpPr>
          <p:cNvPr id="31" name="Rounded Rectangle 30"/>
          <p:cNvSpPr/>
          <p:nvPr/>
        </p:nvSpPr>
        <p:spPr>
          <a:xfrm>
            <a:off x="4224528" y="2743200"/>
            <a:ext cx="2377440" cy="777239"/>
          </a:xfrm>
          <a:prstGeom prst="roundRect">
            <a:avLst>
              <a:gd name="adj" fmla="val 8000"/>
            </a:avLst>
          </a:prstGeom>
          <a:solidFill>
            <a:srgbClr val="1F285A"/>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54000" tIns="18000" rIns="54000" bIns="18000"/>
          <a:lstStyle/>
          <a:p>
            <a:pPr algn="ctr">
              <a:lnSpc>
                <a:spcPct val="110000"/>
              </a:lnSpc>
              <a:spcAft>
                <a:spcPts val="200"/>
              </a:spcAft>
            </a:pPr>
            <a:r>
              <a:rPr sz="1300" b="1">
                <a:solidFill>
                  <a:srgbClr val="FFFFFF"/>
                </a:solidFill>
                <a:latin typeface="メイリオ"/>
                <a:ea typeface="メイリオ"/>
                <a:cs typeface="メイリオ"/>
              </a:rPr>
              <a:t>離脱防止（ポップアップ）</a:t>
            </a:r>
          </a:p>
          <a:p>
            <a:pPr algn="ctr">
              <a:lnSpc>
                <a:spcPct val="110000"/>
              </a:lnSpc>
              <a:spcAft>
                <a:spcPts val="0"/>
              </a:spcAft>
            </a:pPr>
            <a:r>
              <a:rPr sz="1100" b="0">
                <a:solidFill>
                  <a:srgbClr val="FFFFFF"/>
                </a:solidFill>
                <a:latin typeface="メイリオ"/>
                <a:ea typeface="メイリオ"/>
                <a:cs typeface="メイリオ"/>
              </a:rPr>
              <a:t>希望の募集をLINEで受け取る</a:t>
            </a:r>
          </a:p>
        </p:txBody>
      </p:sp>
      <p:cxnSp>
        <p:nvCxnSpPr>
          <p:cNvPr id="32" name="Connector 31"/>
          <p:cNvCxnSpPr/>
          <p:nvPr/>
        </p:nvCxnSpPr>
        <p:spPr>
          <a:xfrm>
            <a:off x="6629400" y="3131820"/>
            <a:ext cx="320039" cy="0"/>
          </a:xfrm>
          <a:prstGeom prst="line">
            <a:avLst/>
          </a:prstGeom>
          <a:ln w="19050">
            <a:solidFill>
              <a:srgbClr val="1F285A"/>
            </a:solidFill>
            <a:tailEnd type="triangle" w="med" len="med"/>
          </a:ln>
        </p:spPr>
        <p:style>
          <a:lnRef idx="2">
            <a:schemeClr val="accent1"/>
          </a:lnRef>
          <a:fillRef idx="0">
            <a:schemeClr val="accent1"/>
          </a:fillRef>
          <a:effectRef idx="0">
            <a:schemeClr val="accent1"/>
          </a:effectRef>
          <a:fontRef idx="minor">
            <a:schemeClr val="tx1"/>
          </a:fontRef>
        </p:style>
      </p:cxnSp>
      <p:cxnSp>
        <p:nvCxnSpPr>
          <p:cNvPr id="33" name="Connector 32"/>
          <p:cNvCxnSpPr/>
          <p:nvPr/>
        </p:nvCxnSpPr>
        <p:spPr>
          <a:xfrm>
            <a:off x="1828800" y="4091939"/>
            <a:ext cx="256032" cy="0"/>
          </a:xfrm>
          <a:prstGeom prst="line">
            <a:avLst/>
          </a:prstGeom>
          <a:ln w="19050">
            <a:solidFill>
              <a:srgbClr val="1F285A"/>
            </a:solidFill>
            <a:tailEnd type="triangle" w="med" len="med"/>
          </a:ln>
        </p:spPr>
        <p:style>
          <a:lnRef idx="2">
            <a:schemeClr val="accent1"/>
          </a:lnRef>
          <a:fillRef idx="0">
            <a:schemeClr val="accent1"/>
          </a:fillRef>
          <a:effectRef idx="0">
            <a:schemeClr val="accent1"/>
          </a:effectRef>
          <a:fontRef idx="minor">
            <a:schemeClr val="tx1"/>
          </a:fontRef>
        </p:style>
      </p:cxnSp>
      <p:sp>
        <p:nvSpPr>
          <p:cNvPr id="34" name="Rounded Rectangle 33"/>
          <p:cNvSpPr/>
          <p:nvPr/>
        </p:nvSpPr>
        <p:spPr>
          <a:xfrm>
            <a:off x="2103120" y="3703319"/>
            <a:ext cx="1828800" cy="777239"/>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0">
            <a:schemeClr val="accent1"/>
          </a:effectRef>
          <a:fontRef idx="minor">
            <a:schemeClr val="lt1"/>
          </a:fontRef>
        </p:style>
        <p:txBody>
          <a:bodyPr rtlCol="0" anchor="ctr" wrap="square" lIns="54000" tIns="18000" rIns="54000" bIns="18000"/>
          <a:lstStyle/>
          <a:p>
            <a:pPr algn="ctr">
              <a:lnSpc>
                <a:spcPct val="110000"/>
              </a:lnSpc>
              <a:spcAft>
                <a:spcPts val="0"/>
              </a:spcAft>
            </a:pPr>
            <a:r>
              <a:rPr sz="1250" b="1">
                <a:solidFill>
                  <a:srgbClr val="333333"/>
                </a:solidFill>
                <a:latin typeface="メイリオ"/>
                <a:ea typeface="メイリオ"/>
                <a:cs typeface="メイリオ"/>
              </a:rPr>
              <a:t>サイトで応募した</a:t>
            </a:r>
          </a:p>
        </p:txBody>
      </p:sp>
      <p:cxnSp>
        <p:nvCxnSpPr>
          <p:cNvPr id="35" name="Connector 34"/>
          <p:cNvCxnSpPr/>
          <p:nvPr/>
        </p:nvCxnSpPr>
        <p:spPr>
          <a:xfrm>
            <a:off x="3959352" y="4091939"/>
            <a:ext cx="246888" cy="0"/>
          </a:xfrm>
          <a:prstGeom prst="line">
            <a:avLst/>
          </a:prstGeom>
          <a:ln w="19050">
            <a:solidFill>
              <a:srgbClr val="1F285A"/>
            </a:solidFill>
            <a:tailEnd type="triangle" w="med" len="med"/>
          </a:ln>
        </p:spPr>
        <p:style>
          <a:lnRef idx="2">
            <a:schemeClr val="accent1"/>
          </a:lnRef>
          <a:fillRef idx="0">
            <a:schemeClr val="accent1"/>
          </a:fillRef>
          <a:effectRef idx="0">
            <a:schemeClr val="accent1"/>
          </a:effectRef>
          <a:fontRef idx="minor">
            <a:schemeClr val="tx1"/>
          </a:fontRef>
        </p:style>
      </p:cxnSp>
      <p:sp>
        <p:nvSpPr>
          <p:cNvPr id="36" name="Rounded Rectangle 35"/>
          <p:cNvSpPr/>
          <p:nvPr/>
        </p:nvSpPr>
        <p:spPr>
          <a:xfrm>
            <a:off x="4224528" y="3703319"/>
            <a:ext cx="2377440" cy="777239"/>
          </a:xfrm>
          <a:prstGeom prst="roundRect">
            <a:avLst>
              <a:gd name="adj" fmla="val 8000"/>
            </a:avLst>
          </a:prstGeom>
          <a:solidFill>
            <a:srgbClr val="1F285A"/>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54000" tIns="18000" rIns="54000" bIns="18000"/>
          <a:lstStyle/>
          <a:p>
            <a:pPr algn="ctr">
              <a:lnSpc>
                <a:spcPct val="110000"/>
              </a:lnSpc>
              <a:spcAft>
                <a:spcPts val="200"/>
              </a:spcAft>
            </a:pPr>
            <a:r>
              <a:rPr sz="1300" b="1">
                <a:solidFill>
                  <a:srgbClr val="FFFFFF"/>
                </a:solidFill>
                <a:latin typeface="メイリオ"/>
                <a:ea typeface="メイリオ"/>
                <a:cs typeface="メイリオ"/>
              </a:rPr>
              <a:t>サンクスLINE誘導</a:t>
            </a:r>
          </a:p>
          <a:p>
            <a:pPr algn="ctr">
              <a:lnSpc>
                <a:spcPct val="110000"/>
              </a:lnSpc>
              <a:spcAft>
                <a:spcPts val="0"/>
              </a:spcAft>
            </a:pPr>
            <a:r>
              <a:rPr sz="1100" b="0">
                <a:solidFill>
                  <a:srgbClr val="FFFFFF"/>
                </a:solidFill>
                <a:latin typeface="メイリオ"/>
                <a:ea typeface="メイリオ"/>
                <a:cs typeface="メイリオ"/>
              </a:rPr>
              <a:t>面接・登録の案内がLINEで届く</a:t>
            </a:r>
          </a:p>
        </p:txBody>
      </p:sp>
      <p:cxnSp>
        <p:nvCxnSpPr>
          <p:cNvPr id="37" name="Connector 36"/>
          <p:cNvCxnSpPr/>
          <p:nvPr/>
        </p:nvCxnSpPr>
        <p:spPr>
          <a:xfrm>
            <a:off x="6629400" y="4091939"/>
            <a:ext cx="320039" cy="0"/>
          </a:xfrm>
          <a:prstGeom prst="line">
            <a:avLst/>
          </a:prstGeom>
          <a:ln w="19050">
            <a:solidFill>
              <a:srgbClr val="1F285A"/>
            </a:solidFill>
            <a:tailEnd type="triangle" w="med" len="med"/>
          </a:ln>
        </p:spPr>
        <p:style>
          <a:lnRef idx="2">
            <a:schemeClr val="accent1"/>
          </a:lnRef>
          <a:fillRef idx="0">
            <a:schemeClr val="accent1"/>
          </a:fillRef>
          <a:effectRef idx="0">
            <a:schemeClr val="accent1"/>
          </a:effectRef>
          <a:fontRef idx="minor">
            <a:schemeClr val="tx1"/>
          </a:fontRef>
        </p:style>
      </p:cxnSp>
      <p:sp>
        <p:nvSpPr>
          <p:cNvPr id="38" name="Rounded Rectangle 37"/>
          <p:cNvSpPr/>
          <p:nvPr/>
        </p:nvSpPr>
        <p:spPr>
          <a:xfrm>
            <a:off x="6967728" y="1783080"/>
            <a:ext cx="1143000" cy="2697480"/>
          </a:xfrm>
          <a:prstGeom prst="roundRect">
            <a:avLst>
              <a:gd name="adj" fmla="val 8000"/>
            </a:avLst>
          </a:prstGeom>
          <a:solidFill>
            <a:srgbClr val="E8F8EE"/>
          </a:solidFill>
          <a:ln w="19050">
            <a:solidFill>
              <a:srgbClr val="06C755"/>
            </a:solidFill>
          </a:ln>
          <a:effectLst/>
        </p:spPr>
        <p:style>
          <a:lnRef idx="1">
            <a:schemeClr val="accent1"/>
          </a:lnRef>
          <a:fillRef idx="3">
            <a:schemeClr val="accent1"/>
          </a:fillRef>
          <a:effectRef idx="0">
            <a:schemeClr val="accent1"/>
          </a:effectRef>
          <a:fontRef idx="minor">
            <a:schemeClr val="lt1"/>
          </a:fontRef>
        </p:style>
        <p:txBody>
          <a:bodyPr rtlCol="0" anchor="ctr" wrap="square" lIns="54000" tIns="18000" rIns="54000" bIns="18000"/>
          <a:lstStyle/>
          <a:p>
            <a:pPr algn="ctr">
              <a:lnSpc>
                <a:spcPct val="110000"/>
              </a:lnSpc>
              <a:spcAft>
                <a:spcPts val="0"/>
              </a:spcAft>
            </a:pPr>
            <a:r>
              <a:rPr sz="1300" b="1">
                <a:solidFill>
                  <a:srgbClr val="1F285A"/>
                </a:solidFill>
                <a:latin typeface="メイリオ"/>
                <a:ea typeface="メイリオ"/>
                <a:cs typeface="メイリオ"/>
              </a:rPr>
              <a:t>LINE</a:t>
            </a:r>
          </a:p>
          <a:p>
            <a:pPr algn="ctr">
              <a:lnSpc>
                <a:spcPct val="110000"/>
              </a:lnSpc>
              <a:spcAft>
                <a:spcPts val="0"/>
              </a:spcAft>
            </a:pPr>
            <a:r>
              <a:rPr sz="1300" b="1">
                <a:solidFill>
                  <a:srgbClr val="1F285A"/>
                </a:solidFill>
                <a:latin typeface="メイリオ"/>
                <a:ea typeface="メイリオ"/>
                <a:cs typeface="メイリオ"/>
              </a:rPr>
              <a:t>友だち追加</a:t>
            </a:r>
          </a:p>
        </p:txBody>
      </p:sp>
      <p:cxnSp>
        <p:nvCxnSpPr>
          <p:cNvPr id="39" name="Connector 38"/>
          <p:cNvCxnSpPr/>
          <p:nvPr/>
        </p:nvCxnSpPr>
        <p:spPr>
          <a:xfrm>
            <a:off x="8138160" y="3131820"/>
            <a:ext cx="182880" cy="0"/>
          </a:xfrm>
          <a:prstGeom prst="line">
            <a:avLst/>
          </a:prstGeom>
          <a:ln w="19050">
            <a:solidFill>
              <a:srgbClr val="1F285A"/>
            </a:solidFill>
            <a:tailEnd type="triangle" w="med" len="med"/>
          </a:ln>
        </p:spPr>
        <p:style>
          <a:lnRef idx="2">
            <a:schemeClr val="accent1"/>
          </a:lnRef>
          <a:fillRef idx="0">
            <a:schemeClr val="accent1"/>
          </a:fillRef>
          <a:effectRef idx="0">
            <a:schemeClr val="accent1"/>
          </a:effectRef>
          <a:fontRef idx="minor">
            <a:schemeClr val="tx1"/>
          </a:fontRef>
        </p:style>
      </p:cxnSp>
      <p:sp>
        <p:nvSpPr>
          <p:cNvPr id="40" name="Rounded Rectangle 39"/>
          <p:cNvSpPr/>
          <p:nvPr/>
        </p:nvSpPr>
        <p:spPr>
          <a:xfrm>
            <a:off x="8339328" y="1783080"/>
            <a:ext cx="1133856" cy="2697480"/>
          </a:xfrm>
          <a:prstGeom prst="roundRect">
            <a:avLst>
              <a:gd name="adj" fmla="val 8000"/>
            </a:avLst>
          </a:prstGeom>
          <a:solidFill>
            <a:srgbClr val="FFFFFF"/>
          </a:solidFill>
          <a:ln w="12700">
            <a:solidFill>
              <a:srgbClr val="1F285A"/>
            </a:solidFill>
          </a:ln>
          <a:effectLst/>
        </p:spPr>
        <p:style>
          <a:lnRef idx="1">
            <a:schemeClr val="accent1"/>
          </a:lnRef>
          <a:fillRef idx="3">
            <a:schemeClr val="accent1"/>
          </a:fillRef>
          <a:effectRef idx="0">
            <a:schemeClr val="accent1"/>
          </a:effectRef>
          <a:fontRef idx="minor">
            <a:schemeClr val="lt1"/>
          </a:fontRef>
        </p:style>
        <p:txBody>
          <a:bodyPr rtlCol="0" anchor="ctr" wrap="square" lIns="18000" tIns="18000" rIns="18000" bIns="18000"/>
          <a:lstStyle/>
          <a:p>
            <a:pPr algn="ctr">
              <a:lnSpc>
                <a:spcPct val="110000"/>
              </a:lnSpc>
              <a:spcAft>
                <a:spcPts val="0"/>
              </a:spcAft>
            </a:pPr>
            <a:r>
              <a:rPr sz="1200" b="1">
                <a:solidFill>
                  <a:srgbClr val="1F285A"/>
                </a:solidFill>
                <a:latin typeface="メイリオ"/>
                <a:ea typeface="メイリオ"/>
                <a:cs typeface="メイリオ"/>
              </a:rPr>
              <a:t>LINEで</a:t>
            </a:r>
          </a:p>
          <a:p>
            <a:pPr algn="ctr">
              <a:lnSpc>
                <a:spcPct val="110000"/>
              </a:lnSpc>
              <a:spcAft>
                <a:spcPts val="0"/>
              </a:spcAft>
            </a:pPr>
            <a:r>
              <a:rPr sz="1200" b="1">
                <a:solidFill>
                  <a:srgbClr val="1F285A"/>
                </a:solidFill>
                <a:latin typeface="メイリオ"/>
                <a:ea typeface="メイリオ"/>
                <a:cs typeface="メイリオ"/>
              </a:rPr>
              <a:t>応募・</a:t>
            </a:r>
          </a:p>
          <a:p>
            <a:pPr algn="ctr">
              <a:lnSpc>
                <a:spcPct val="110000"/>
              </a:lnSpc>
              <a:spcAft>
                <a:spcPts val="0"/>
              </a:spcAft>
            </a:pPr>
            <a:r>
              <a:rPr sz="1200" b="1">
                <a:solidFill>
                  <a:srgbClr val="1F285A"/>
                </a:solidFill>
                <a:latin typeface="メイリオ"/>
                <a:ea typeface="メイリオ"/>
                <a:cs typeface="メイリオ"/>
              </a:rPr>
              <a:t>勤務の連絡・</a:t>
            </a:r>
          </a:p>
          <a:p>
            <a:pPr algn="ctr">
              <a:lnSpc>
                <a:spcPct val="110000"/>
              </a:lnSpc>
              <a:spcAft>
                <a:spcPts val="0"/>
              </a:spcAft>
            </a:pPr>
            <a:r>
              <a:rPr sz="1200" b="1">
                <a:solidFill>
                  <a:srgbClr val="1F285A"/>
                </a:solidFill>
                <a:latin typeface="メイリオ"/>
                <a:ea typeface="メイリオ"/>
                <a:cs typeface="メイリオ"/>
              </a:rPr>
              <a:t>次の募集</a:t>
            </a:r>
          </a:p>
        </p:txBody>
      </p:sp>
      <p:sp>
        <p:nvSpPr>
          <p:cNvPr id="41" name="TextBox 40"/>
          <p:cNvSpPr txBox="1"/>
          <p:nvPr/>
        </p:nvSpPr>
        <p:spPr>
          <a:xfrm>
            <a:off x="429768" y="4553711"/>
            <a:ext cx="9043416" cy="274320"/>
          </a:xfrm>
          <a:prstGeom prst="rect">
            <a:avLst/>
          </a:prstGeom>
          <a:noFill/>
        </p:spPr>
        <p:txBody>
          <a:bodyPr wrap="square" anchor="t" lIns="36000" rIns="36000" tIns="18000" bIns="18000">
            <a:spAutoFit/>
          </a:bodyPr>
          <a:lstStyle/>
          <a:p>
            <a:pPr algn="l">
              <a:lnSpc>
                <a:spcPct val="110000"/>
              </a:lnSpc>
              <a:spcAft>
                <a:spcPts val="0"/>
              </a:spcAft>
            </a:pPr>
            <a:r>
              <a:rPr sz="900" b="0">
                <a:solidFill>
                  <a:srgbClr val="7F7F7F"/>
                </a:solidFill>
                <a:latin typeface="メイリオ"/>
                <a:ea typeface="メイリオ"/>
                <a:cs typeface="メイリオ"/>
              </a:rPr>
              <a:t>※サンクスLINE誘導は、サイトの応募フォームから応募した方を、完了画面からLINEへご案内する仕組みです（次ページ）。</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 name="Google Shape;752;p28">
            <a:extLst>
              <a:ext uri="{FF2B5EF4-FFF2-40B4-BE49-F238E27FC236}">
                <a16:creationId xmlns:a16="http://schemas.microsoft.com/office/drawing/2014/main" id="{AA80CD04-9456-70DB-2E44-D3EDB1461933}"/>
              </a:ext>
            </a:extLst>
          </p:cNvPr>
          <p:cNvSpPr txBox="1"/>
          <p:nvPr/>
        </p:nvSpPr>
        <p:spPr>
          <a:xfrm>
            <a:off x="549000" y="138240"/>
            <a:ext cx="6516000" cy="338040"/>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a:ea typeface="メイリオ"/>
                <a:cs typeface="メイリオ"/>
                <a:sym typeface="Meiryo"/>
              </a:rPr>
              <a:t>施策①｜友だち獲得：サイトで応募した方も、そのままLINEへ</a:t>
            </a:r>
            <a:endParaRPr lang="en-US" altLang="ja-JP" sz="1600" b="1" dirty="0">
              <a:solidFill>
                <a:srgbClr val="323366"/>
              </a:solidFill>
              <a:latin typeface="メイリオ"/>
              <a:ea typeface="メイリオ"/>
              <a:cs typeface="メイリオ"/>
              <a:sym typeface="Meiryo"/>
            </a:endParaRPr>
          </a:p>
        </p:txBody>
      </p:sp>
      <p:sp>
        <p:nvSpPr>
          <p:cNvPr id="16" name="正方形/長方形 15">
            <a:extLst>
              <a:ext uri="{FF2B5EF4-FFF2-40B4-BE49-F238E27FC236}">
                <a16:creationId xmlns:a16="http://schemas.microsoft.com/office/drawing/2014/main" id="{32BBF438-B1EF-A61A-EE3D-69CD39766C7E}"/>
              </a:ext>
            </a:extLst>
          </p:cNvPr>
          <p:cNvSpPr/>
          <p:nvPr/>
        </p:nvSpPr>
        <p:spPr>
          <a:xfrm>
            <a:off x="6123840" y="2144236"/>
            <a:ext cx="2487570" cy="1821208"/>
          </a:xfrm>
          <a:prstGeom prst="rect">
            <a:avLst/>
          </a:prstGeom>
          <a:noFill/>
          <a:ln>
            <a:solidFill>
              <a:schemeClr val="tx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endParaRPr lang="ja-JP" altLang="en-US">
              <a:latin typeface="メイリオ"/>
              <a:ea typeface="メイリオ"/>
              <a:cs typeface="メイリオ"/>
            </a:endParaRPr>
          </a:p>
        </p:txBody>
      </p:sp>
      <p:sp>
        <p:nvSpPr>
          <p:cNvPr id="17" name="正方形/長方形 16">
            <a:extLst>
              <a:ext uri="{FF2B5EF4-FFF2-40B4-BE49-F238E27FC236}">
                <a16:creationId xmlns:a16="http://schemas.microsoft.com/office/drawing/2014/main" id="{1A1E4128-77DC-C871-EE20-5BD43326E078}"/>
              </a:ext>
            </a:extLst>
          </p:cNvPr>
          <p:cNvSpPr/>
          <p:nvPr/>
        </p:nvSpPr>
        <p:spPr>
          <a:xfrm>
            <a:off x="6123841" y="4317370"/>
            <a:ext cx="2487569" cy="1821208"/>
          </a:xfrm>
          <a:prstGeom prst="rect">
            <a:avLst/>
          </a:prstGeom>
          <a:noFill/>
          <a:ln>
            <a:solidFill>
              <a:schemeClr val="tx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endParaRPr lang="ja-JP" altLang="en-US">
              <a:latin typeface="メイリオ"/>
              <a:ea typeface="メイリオ"/>
              <a:cs typeface="メイリオ"/>
            </a:endParaRPr>
          </a:p>
        </p:txBody>
      </p:sp>
      <p:sp>
        <p:nvSpPr>
          <p:cNvPr id="20" name="正方形/長方形 19">
            <a:extLst>
              <a:ext uri="{FF2B5EF4-FFF2-40B4-BE49-F238E27FC236}">
                <a16:creationId xmlns:a16="http://schemas.microsoft.com/office/drawing/2014/main" id="{F37BB268-660A-FEE4-BB39-0E338F1DDC23}"/>
              </a:ext>
            </a:extLst>
          </p:cNvPr>
          <p:cNvSpPr/>
          <p:nvPr/>
        </p:nvSpPr>
        <p:spPr>
          <a:xfrm>
            <a:off x="6161261" y="1989652"/>
            <a:ext cx="1315634" cy="244151"/>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r>
              <a:rPr lang="en-US" altLang="ja-JP" sz="850" b="1" dirty="0">
                <a:solidFill>
                  <a:schemeClr val="tx1"/>
                </a:solidFill>
                <a:latin typeface="メイリオ" panose="020B0604030504040204" pitchFamily="50" charset="-128"/>
                <a:ea typeface="メイリオ" panose="020B0604030504040204" pitchFamily="50" charset="-128"/>
                <a:cs typeface="メイリオ"/>
              </a:rPr>
              <a:t>LINE</a:t>
            </a:r>
            <a:r>
              <a:rPr lang="ja-JP" altLang="en-US" sz="850" b="1" dirty="0">
                <a:solidFill>
                  <a:schemeClr val="tx1"/>
                </a:solidFill>
                <a:latin typeface="メイリオ" panose="020B0604030504040204" pitchFamily="50" charset="-128"/>
                <a:ea typeface="メイリオ" panose="020B0604030504040204" pitchFamily="50" charset="-128"/>
                <a:cs typeface="メイリオ"/>
              </a:rPr>
              <a:t>未追加の場合</a:t>
            </a:r>
          </a:p>
        </p:txBody>
      </p:sp>
      <p:sp>
        <p:nvSpPr>
          <p:cNvPr id="21" name="正方形/長方形 20">
            <a:extLst>
              <a:ext uri="{FF2B5EF4-FFF2-40B4-BE49-F238E27FC236}">
                <a16:creationId xmlns:a16="http://schemas.microsoft.com/office/drawing/2014/main" id="{C9FF4626-FD17-CA1C-8064-F46606D0BCCE}"/>
              </a:ext>
            </a:extLst>
          </p:cNvPr>
          <p:cNvSpPr/>
          <p:nvPr/>
        </p:nvSpPr>
        <p:spPr>
          <a:xfrm>
            <a:off x="6161261" y="4195296"/>
            <a:ext cx="1315634" cy="244151"/>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r>
              <a:rPr lang="en-US" altLang="ja-JP" sz="850" b="1" dirty="0">
                <a:solidFill>
                  <a:schemeClr val="tx1"/>
                </a:solidFill>
                <a:latin typeface="メイリオ" panose="020B0604030504040204" pitchFamily="50" charset="-128"/>
                <a:ea typeface="メイリオ" panose="020B0604030504040204" pitchFamily="50" charset="-128"/>
                <a:cs typeface="メイリオ"/>
              </a:rPr>
              <a:t>LINE</a:t>
            </a:r>
            <a:r>
              <a:rPr lang="ja-JP" altLang="en-US" sz="850" b="1" dirty="0">
                <a:solidFill>
                  <a:schemeClr val="tx1"/>
                </a:solidFill>
                <a:latin typeface="メイリオ" panose="020B0604030504040204" pitchFamily="50" charset="-128"/>
                <a:ea typeface="メイリオ" panose="020B0604030504040204" pitchFamily="50" charset="-128"/>
                <a:cs typeface="メイリオ"/>
              </a:rPr>
              <a:t>追加済みの場合</a:t>
            </a:r>
          </a:p>
        </p:txBody>
      </p:sp>
      <p:cxnSp>
        <p:nvCxnSpPr>
          <p:cNvPr id="23" name="直線矢印コネクタ 22">
            <a:extLst>
              <a:ext uri="{FF2B5EF4-FFF2-40B4-BE49-F238E27FC236}">
                <a16:creationId xmlns:a16="http://schemas.microsoft.com/office/drawing/2014/main" id="{8F202453-7FF9-8AE7-D10D-66F74A74A2F4}"/>
              </a:ext>
            </a:extLst>
          </p:cNvPr>
          <p:cNvCxnSpPr>
            <a:cxnSpLocks/>
          </p:cNvCxnSpPr>
          <p:nvPr/>
        </p:nvCxnSpPr>
        <p:spPr>
          <a:xfrm flipV="1">
            <a:off x="5819550" y="2932418"/>
            <a:ext cx="318138" cy="421706"/>
          </a:xfrm>
          <a:prstGeom prst="straightConnector1">
            <a:avLst/>
          </a:prstGeom>
          <a:ln w="19050">
            <a:solidFill>
              <a:srgbClr val="00B050">
                <a:alpha val="80000"/>
              </a:srgbClr>
            </a:solidFill>
            <a:prstDash val="sysDot"/>
            <a:tailEnd type="triangle"/>
          </a:ln>
        </p:spPr>
        <p:style>
          <a:lnRef idx="1">
            <a:schemeClr val="accent1"/>
          </a:lnRef>
          <a:fillRef idx="0">
            <a:schemeClr val="accent1"/>
          </a:fillRef>
          <a:effectRef idx="0">
            <a:schemeClr val="accent1"/>
          </a:effectRef>
          <a:fontRef idx="minor">
            <a:schemeClr val="tx1"/>
          </a:fontRef>
        </p:style>
      </p:cxnSp>
      <p:cxnSp>
        <p:nvCxnSpPr>
          <p:cNvPr id="24" name="直線矢印コネクタ 23">
            <a:extLst>
              <a:ext uri="{FF2B5EF4-FFF2-40B4-BE49-F238E27FC236}">
                <a16:creationId xmlns:a16="http://schemas.microsoft.com/office/drawing/2014/main" id="{C92F6E28-BBFF-1A56-AC22-CA16D2F1B1EA}"/>
              </a:ext>
            </a:extLst>
          </p:cNvPr>
          <p:cNvCxnSpPr>
            <a:cxnSpLocks/>
          </p:cNvCxnSpPr>
          <p:nvPr/>
        </p:nvCxnSpPr>
        <p:spPr>
          <a:xfrm>
            <a:off x="5819550" y="3354124"/>
            <a:ext cx="280718" cy="1392760"/>
          </a:xfrm>
          <a:prstGeom prst="straightConnector1">
            <a:avLst/>
          </a:prstGeom>
          <a:ln w="19050">
            <a:solidFill>
              <a:srgbClr val="00B050">
                <a:alpha val="80000"/>
              </a:srgbClr>
            </a:solidFill>
            <a:prstDash val="sysDot"/>
            <a:tailEnd type="triangle"/>
          </a:ln>
        </p:spPr>
        <p:style>
          <a:lnRef idx="1">
            <a:schemeClr val="accent1"/>
          </a:lnRef>
          <a:fillRef idx="0">
            <a:schemeClr val="accent1"/>
          </a:fillRef>
          <a:effectRef idx="0">
            <a:schemeClr val="accent1"/>
          </a:effectRef>
          <a:fontRef idx="minor">
            <a:schemeClr val="tx1"/>
          </a:fontRef>
        </p:style>
      </p:cxnSp>
      <p:pic>
        <p:nvPicPr>
          <p:cNvPr id="45" name="図 44" descr="グラフィカル ユーザー インターフェイス, アプリケーション, Teams&#10;&#10;AI 生成コンテンツは誤りを含む可能性があります。">
            <a:extLst>
              <a:ext uri="{FF2B5EF4-FFF2-40B4-BE49-F238E27FC236}">
                <a16:creationId xmlns:a16="http://schemas.microsoft.com/office/drawing/2014/main" id="{E91CA7A5-62B3-F1F8-38C3-DDCE33E1CC3D}"/>
              </a:ext>
            </a:extLst>
          </p:cNvPr>
          <p:cNvPicPr>
            <a:picLocks noChangeAspect="1"/>
          </p:cNvPicPr>
          <p:nvPr/>
        </p:nvPicPr>
        <p:blipFill>
          <a:blip r:embed="rId2" cstate="print">
            <a:extLst>
              <a:ext uri="{28A0092B-C50C-407E-A947-70E740481C1C}">
                <a14:useLocalDpi xmlns:a14="http://schemas.microsoft.com/office/drawing/2010/main" val="0"/>
              </a:ext>
            </a:extLst>
          </a:blip>
          <a:srcRect t="4580"/>
          <a:stretch>
            <a:fillRect/>
          </a:stretch>
        </p:blipFill>
        <p:spPr>
          <a:xfrm>
            <a:off x="7518319" y="2173082"/>
            <a:ext cx="1000253" cy="1694141"/>
          </a:xfrm>
          <a:prstGeom prst="rect">
            <a:avLst/>
          </a:prstGeom>
        </p:spPr>
      </p:pic>
      <p:pic>
        <p:nvPicPr>
          <p:cNvPr id="46" name="図 45" descr="電卓の写真のスマートフォンのスクリーンショット&#10;&#10;AI 生成コンテンツは誤りを含む可能性があります。">
            <a:extLst>
              <a:ext uri="{FF2B5EF4-FFF2-40B4-BE49-F238E27FC236}">
                <a16:creationId xmlns:a16="http://schemas.microsoft.com/office/drawing/2014/main" id="{31EEAD2C-3BE8-0210-FD8E-46D52B30A0AE}"/>
              </a:ext>
            </a:extLst>
          </p:cNvPr>
          <p:cNvPicPr>
            <a:picLocks noChangeAspect="1"/>
          </p:cNvPicPr>
          <p:nvPr/>
        </p:nvPicPr>
        <p:blipFill>
          <a:blip r:embed="rId3" cstate="print">
            <a:extLst>
              <a:ext uri="{28A0092B-C50C-407E-A947-70E740481C1C}">
                <a14:useLocalDpi xmlns:a14="http://schemas.microsoft.com/office/drawing/2010/main" val="0"/>
              </a:ext>
            </a:extLst>
          </a:blip>
          <a:srcRect t="4580"/>
          <a:stretch>
            <a:fillRect/>
          </a:stretch>
        </p:blipFill>
        <p:spPr>
          <a:xfrm>
            <a:off x="7527889" y="4316771"/>
            <a:ext cx="1000253" cy="1694142"/>
          </a:xfrm>
          <a:prstGeom prst="rect">
            <a:avLst/>
          </a:prstGeom>
        </p:spPr>
      </p:pic>
      <p:sp>
        <p:nvSpPr>
          <p:cNvPr id="48" name="テキスト ボックス 47">
            <a:extLst>
              <a:ext uri="{FF2B5EF4-FFF2-40B4-BE49-F238E27FC236}">
                <a16:creationId xmlns:a16="http://schemas.microsoft.com/office/drawing/2014/main" id="{E989AEB3-EF0E-8885-B426-8B6A5E01F40A}"/>
              </a:ext>
            </a:extLst>
          </p:cNvPr>
          <p:cNvSpPr txBox="1"/>
          <p:nvPr/>
        </p:nvSpPr>
        <p:spPr>
          <a:xfrm>
            <a:off x="6161261" y="2335961"/>
            <a:ext cx="1227667" cy="400110"/>
          </a:xfrm>
          <a:prstGeom prst="rect">
            <a:avLst/>
          </a:prstGeom>
          <a:noFill/>
        </p:spPr>
        <p:txBody>
          <a:bodyPr wrap="square" lIns="74295" rIns="74295">
            <a:spAutoFit/>
          </a:bodyPr>
          <a:lstStyle/>
          <a:p>
            <a:r>
              <a:rPr lang="ja-JP" altLang="en-US" sz="1000" b="1" dirty="0">
                <a:latin typeface="メイリオ" panose="020B0604030504040204" pitchFamily="50" charset="-128"/>
                <a:ea typeface="メイリオ" panose="020B0604030504040204" pitchFamily="50" charset="-128"/>
                <a:cs typeface="メイリオ"/>
              </a:rPr>
              <a:t>友だち登録ページ</a:t>
            </a:r>
            <a:r>
              <a:rPr lang="ja-JP" altLang="en-US" sz="1000" dirty="0">
                <a:latin typeface="メイリオ" panose="020B0604030504040204" pitchFamily="50" charset="-128"/>
                <a:ea typeface="メイリオ" panose="020B0604030504040204" pitchFamily="50" charset="-128"/>
                <a:cs typeface="メイリオ"/>
              </a:rPr>
              <a:t>へ遷移する。</a:t>
            </a:r>
          </a:p>
        </p:txBody>
      </p:sp>
      <p:sp>
        <p:nvSpPr>
          <p:cNvPr id="49" name="テキスト ボックス 48">
            <a:extLst>
              <a:ext uri="{FF2B5EF4-FFF2-40B4-BE49-F238E27FC236}">
                <a16:creationId xmlns:a16="http://schemas.microsoft.com/office/drawing/2014/main" id="{4E6D08E3-E0B3-1DF4-0533-E4EE67240415}"/>
              </a:ext>
            </a:extLst>
          </p:cNvPr>
          <p:cNvSpPr txBox="1"/>
          <p:nvPr/>
        </p:nvSpPr>
        <p:spPr>
          <a:xfrm>
            <a:off x="6157879" y="4570201"/>
            <a:ext cx="1338278" cy="400110"/>
          </a:xfrm>
          <a:prstGeom prst="rect">
            <a:avLst/>
          </a:prstGeom>
          <a:noFill/>
        </p:spPr>
        <p:txBody>
          <a:bodyPr wrap="square" lIns="74295" rIns="74295">
            <a:spAutoFit/>
          </a:bodyPr>
          <a:lstStyle/>
          <a:p>
            <a:r>
              <a:rPr lang="ja-JP" altLang="en-US" sz="1000" b="1" dirty="0">
                <a:latin typeface="メイリオ" panose="020B0604030504040204" pitchFamily="50" charset="-128"/>
                <a:ea typeface="メイリオ" panose="020B0604030504040204" pitchFamily="50" charset="-128"/>
                <a:cs typeface="メイリオ"/>
              </a:rPr>
              <a:t>トーク画面</a:t>
            </a:r>
            <a:r>
              <a:rPr lang="ja-JP" altLang="en-US" sz="1000" dirty="0">
                <a:latin typeface="メイリオ" panose="020B0604030504040204" pitchFamily="50" charset="-128"/>
                <a:ea typeface="メイリオ" panose="020B0604030504040204" pitchFamily="50" charset="-128"/>
                <a:cs typeface="メイリオ"/>
              </a:rPr>
              <a:t>へ</a:t>
            </a:r>
            <a:endParaRPr lang="en-US" altLang="ja-JP" sz="1000" dirty="0">
              <a:latin typeface="メイリオ" panose="020B0604030504040204" pitchFamily="50" charset="-128"/>
              <a:ea typeface="メイリオ" panose="020B0604030504040204" pitchFamily="50" charset="-128"/>
              <a:cs typeface="メイリオ"/>
            </a:endParaRPr>
          </a:p>
          <a:p>
            <a:r>
              <a:rPr lang="ja-JP" altLang="en-US" sz="1000" dirty="0">
                <a:latin typeface="メイリオ" panose="020B0604030504040204" pitchFamily="50" charset="-128"/>
                <a:ea typeface="メイリオ" panose="020B0604030504040204" pitchFamily="50" charset="-128"/>
                <a:cs typeface="メイリオ"/>
              </a:rPr>
              <a:t>遷移する。</a:t>
            </a:r>
            <a:endParaRPr lang="en-US" altLang="ja-JP" sz="1000" dirty="0">
              <a:latin typeface="メイリオ" panose="020B0604030504040204" pitchFamily="50" charset="-128"/>
              <a:ea typeface="メイリオ" panose="020B0604030504040204" pitchFamily="50" charset="-128"/>
              <a:cs typeface="メイリオ"/>
            </a:endParaRPr>
          </a:p>
        </p:txBody>
      </p:sp>
      <p:pic>
        <p:nvPicPr>
          <p:cNvPr id="56" name="図 55">
            <a:extLst>
              <a:ext uri="{FF2B5EF4-FFF2-40B4-BE49-F238E27FC236}">
                <a16:creationId xmlns:a16="http://schemas.microsoft.com/office/drawing/2014/main" id="{0B7B313D-7D5F-4357-9B38-DFC3DBC5FCF6}"/>
              </a:ext>
            </a:extLst>
          </p:cNvPr>
          <p:cNvPicPr>
            <a:picLocks noChangeAspect="1"/>
          </p:cNvPicPr>
          <p:nvPr/>
        </p:nvPicPr>
        <p:blipFill>
          <a:blip r:embed="rId4"/>
          <a:stretch>
            <a:fillRect/>
          </a:stretch>
        </p:blipFill>
        <p:spPr>
          <a:xfrm>
            <a:off x="7557873" y="2950101"/>
            <a:ext cx="921141" cy="89556"/>
          </a:xfrm>
          <a:prstGeom prst="rect">
            <a:avLst/>
          </a:prstGeom>
        </p:spPr>
      </p:pic>
      <p:pic>
        <p:nvPicPr>
          <p:cNvPr id="57" name="図 56">
            <a:extLst>
              <a:ext uri="{FF2B5EF4-FFF2-40B4-BE49-F238E27FC236}">
                <a16:creationId xmlns:a16="http://schemas.microsoft.com/office/drawing/2014/main" id="{A8EA42C4-338F-850B-B276-B83DC2A73148}"/>
              </a:ext>
            </a:extLst>
          </p:cNvPr>
          <p:cNvPicPr>
            <a:picLocks noChangeAspect="1"/>
          </p:cNvPicPr>
          <p:nvPr/>
        </p:nvPicPr>
        <p:blipFill>
          <a:blip r:embed="rId5"/>
          <a:stretch>
            <a:fillRect/>
          </a:stretch>
        </p:blipFill>
        <p:spPr>
          <a:xfrm>
            <a:off x="7825776" y="2949394"/>
            <a:ext cx="389971" cy="86660"/>
          </a:xfrm>
          <a:prstGeom prst="rect">
            <a:avLst/>
          </a:prstGeom>
        </p:spPr>
      </p:pic>
      <p:pic>
        <p:nvPicPr>
          <p:cNvPr id="58" name="図 57">
            <a:extLst>
              <a:ext uri="{FF2B5EF4-FFF2-40B4-BE49-F238E27FC236}">
                <a16:creationId xmlns:a16="http://schemas.microsoft.com/office/drawing/2014/main" id="{CCB04072-A708-EEE7-1345-D4C9E9FA9C1D}"/>
              </a:ext>
            </a:extLst>
          </p:cNvPr>
          <p:cNvPicPr>
            <a:picLocks noChangeAspect="1"/>
          </p:cNvPicPr>
          <p:nvPr/>
        </p:nvPicPr>
        <p:blipFill>
          <a:blip r:embed="rId5"/>
          <a:stretch>
            <a:fillRect/>
          </a:stretch>
        </p:blipFill>
        <p:spPr>
          <a:xfrm>
            <a:off x="7849883" y="4314411"/>
            <a:ext cx="271710" cy="60381"/>
          </a:xfrm>
          <a:prstGeom prst="rect">
            <a:avLst/>
          </a:prstGeom>
        </p:spPr>
      </p:pic>
      <p:pic>
        <p:nvPicPr>
          <p:cNvPr id="59" name="図 58">
            <a:extLst>
              <a:ext uri="{FF2B5EF4-FFF2-40B4-BE49-F238E27FC236}">
                <a16:creationId xmlns:a16="http://schemas.microsoft.com/office/drawing/2014/main" id="{EDED354B-362F-AAF7-76A6-52D8547EDC91}"/>
              </a:ext>
            </a:extLst>
          </p:cNvPr>
          <p:cNvPicPr>
            <a:picLocks noChangeAspect="1"/>
          </p:cNvPicPr>
          <p:nvPr/>
        </p:nvPicPr>
        <p:blipFill>
          <a:blip r:embed="rId5"/>
          <a:stretch>
            <a:fillRect/>
          </a:stretch>
        </p:blipFill>
        <p:spPr>
          <a:xfrm>
            <a:off x="7973708" y="4438236"/>
            <a:ext cx="271710" cy="60381"/>
          </a:xfrm>
          <a:prstGeom prst="rect">
            <a:avLst/>
          </a:prstGeom>
        </p:spPr>
      </p:pic>
      <p:sp>
        <p:nvSpPr>
          <p:cNvPr id="1030" name="楕円 1029">
            <a:extLst>
              <a:ext uri="{FF2B5EF4-FFF2-40B4-BE49-F238E27FC236}">
                <a16:creationId xmlns:a16="http://schemas.microsoft.com/office/drawing/2014/main" id="{A0934BB8-8F8D-D4F0-8D59-8F32A6A6E03A}"/>
              </a:ext>
            </a:extLst>
          </p:cNvPr>
          <p:cNvSpPr/>
          <p:nvPr/>
        </p:nvSpPr>
        <p:spPr>
          <a:xfrm>
            <a:off x="7855110" y="2591706"/>
            <a:ext cx="321750" cy="321750"/>
          </a:xfrm>
          <a:prstGeom prst="ellipse">
            <a:avLst/>
          </a:prstGeom>
          <a:solidFill>
            <a:schemeClr val="bg1">
              <a:lumMod val="95000"/>
            </a:schemeClr>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r>
              <a:rPr lang="ja-JP" altLang="en-US" sz="700" dirty="0">
                <a:solidFill>
                  <a:schemeClr val="tx1"/>
                </a:solidFill>
                <a:latin typeface="メイリオ" panose="020B0604030504040204" pitchFamily="50" charset="-128"/>
                <a:ea typeface="メイリオ" panose="020B0604030504040204" pitchFamily="50" charset="-128"/>
                <a:cs typeface="メイリオ"/>
              </a:rPr>
              <a:t>ロゴ</a:t>
            </a:r>
          </a:p>
        </p:txBody>
      </p:sp>
      <p:sp>
        <p:nvSpPr>
          <p:cNvPr id="34" name="正方形/長方形 33">
            <a:extLst>
              <a:ext uri="{FF2B5EF4-FFF2-40B4-BE49-F238E27FC236}">
                <a16:creationId xmlns:a16="http://schemas.microsoft.com/office/drawing/2014/main" id="{A593FC72-954C-48DC-E845-1A5FCE4C9E00}"/>
              </a:ext>
            </a:extLst>
          </p:cNvPr>
          <p:cNvSpPr/>
          <p:nvPr/>
        </p:nvSpPr>
        <p:spPr>
          <a:xfrm>
            <a:off x="693249" y="1644209"/>
            <a:ext cx="1142154" cy="2841034"/>
          </a:xfrm>
          <a:prstGeom prst="rect">
            <a:avLst/>
          </a:prstGeom>
          <a:noFill/>
          <a:ln>
            <a:solidFill>
              <a:schemeClr val="tx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endParaRPr lang="ja-JP" altLang="en-US">
              <a:latin typeface="メイリオ"/>
              <a:ea typeface="メイリオ"/>
              <a:cs typeface="メイリオ"/>
            </a:endParaRPr>
          </a:p>
        </p:txBody>
      </p:sp>
      <p:sp>
        <p:nvSpPr>
          <p:cNvPr id="36" name="二等辺三角形 35">
            <a:extLst>
              <a:ext uri="{FF2B5EF4-FFF2-40B4-BE49-F238E27FC236}">
                <a16:creationId xmlns:a16="http://schemas.microsoft.com/office/drawing/2014/main" id="{626832A8-575E-5E2B-73F4-BE5567514E57}"/>
              </a:ext>
            </a:extLst>
          </p:cNvPr>
          <p:cNvSpPr/>
          <p:nvPr/>
        </p:nvSpPr>
        <p:spPr>
          <a:xfrm rot="5400000">
            <a:off x="1869100" y="2879016"/>
            <a:ext cx="205320" cy="182781"/>
          </a:xfrm>
          <a:prstGeom prst="triangle">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endParaRPr lang="ja-JP" altLang="en-US">
              <a:latin typeface="メイリオ"/>
              <a:ea typeface="メイリオ"/>
              <a:cs typeface="メイリオ"/>
            </a:endParaRPr>
          </a:p>
        </p:txBody>
      </p:sp>
      <p:sp>
        <p:nvSpPr>
          <p:cNvPr id="38" name="正方形/長方形 37">
            <a:extLst>
              <a:ext uri="{FF2B5EF4-FFF2-40B4-BE49-F238E27FC236}">
                <a16:creationId xmlns:a16="http://schemas.microsoft.com/office/drawing/2014/main" id="{28671F13-F479-AFF6-9832-C7C00D2D05EE}"/>
              </a:ext>
            </a:extLst>
          </p:cNvPr>
          <p:cNvSpPr/>
          <p:nvPr/>
        </p:nvSpPr>
        <p:spPr>
          <a:xfrm>
            <a:off x="693249" y="4241092"/>
            <a:ext cx="1142154" cy="244151"/>
          </a:xfrm>
          <a:prstGeom prst="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r>
              <a:rPr lang="ja-JP" altLang="en-US" sz="850" b="1" dirty="0">
                <a:solidFill>
                  <a:schemeClr val="tx1"/>
                </a:solidFill>
                <a:latin typeface="メイリオ" panose="020B0604030504040204" pitchFamily="50" charset="-128"/>
                <a:ea typeface="メイリオ" panose="020B0604030504040204" pitchFamily="50" charset="-128"/>
                <a:cs typeface="メイリオ"/>
              </a:rPr>
              <a:t>フォーム入力</a:t>
            </a:r>
          </a:p>
        </p:txBody>
      </p:sp>
      <p:pic>
        <p:nvPicPr>
          <p:cNvPr id="55" name="図 54">
            <a:extLst>
              <a:ext uri="{FF2B5EF4-FFF2-40B4-BE49-F238E27FC236}">
                <a16:creationId xmlns:a16="http://schemas.microsoft.com/office/drawing/2014/main" id="{8AF12F67-4C9A-867F-4608-8FE9DA811630}"/>
              </a:ext>
            </a:extLst>
          </p:cNvPr>
          <p:cNvPicPr>
            <a:picLocks noChangeAspect="1"/>
          </p:cNvPicPr>
          <p:nvPr/>
        </p:nvPicPr>
        <p:blipFill>
          <a:blip r:embed="rId6"/>
          <a:stretch>
            <a:fillRect/>
          </a:stretch>
        </p:blipFill>
        <p:spPr>
          <a:xfrm>
            <a:off x="760471" y="2042343"/>
            <a:ext cx="1015294" cy="1834505"/>
          </a:xfrm>
          <a:prstGeom prst="rect">
            <a:avLst/>
          </a:prstGeom>
        </p:spPr>
      </p:pic>
      <p:sp>
        <p:nvSpPr>
          <p:cNvPr id="1032" name="正方形/長方形 1031">
            <a:extLst>
              <a:ext uri="{FF2B5EF4-FFF2-40B4-BE49-F238E27FC236}">
                <a16:creationId xmlns:a16="http://schemas.microsoft.com/office/drawing/2014/main" id="{D1D96D42-255C-636E-49E5-2CDA95DD6764}"/>
              </a:ext>
            </a:extLst>
          </p:cNvPr>
          <p:cNvSpPr/>
          <p:nvPr/>
        </p:nvSpPr>
        <p:spPr>
          <a:xfrm>
            <a:off x="2102458" y="1617265"/>
            <a:ext cx="1225682" cy="2841034"/>
          </a:xfrm>
          <a:prstGeom prst="rect">
            <a:avLst/>
          </a:prstGeom>
          <a:solidFill>
            <a:schemeClr val="bg1"/>
          </a:solidFill>
          <a:ln>
            <a:solidFill>
              <a:schemeClr val="tx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endParaRPr lang="ja-JP" altLang="en-US">
              <a:latin typeface="メイリオ"/>
              <a:ea typeface="メイリオ"/>
              <a:cs typeface="メイリオ"/>
            </a:endParaRPr>
          </a:p>
        </p:txBody>
      </p:sp>
      <p:sp>
        <p:nvSpPr>
          <p:cNvPr id="1034" name="正方形/長方形 1033">
            <a:extLst>
              <a:ext uri="{FF2B5EF4-FFF2-40B4-BE49-F238E27FC236}">
                <a16:creationId xmlns:a16="http://schemas.microsoft.com/office/drawing/2014/main" id="{8693E451-BCB1-207B-6B73-131F2A8588BF}"/>
              </a:ext>
            </a:extLst>
          </p:cNvPr>
          <p:cNvSpPr/>
          <p:nvPr/>
        </p:nvSpPr>
        <p:spPr>
          <a:xfrm>
            <a:off x="2100228" y="4219785"/>
            <a:ext cx="1225683" cy="244151"/>
          </a:xfrm>
          <a:prstGeom prst="rect">
            <a:avLst/>
          </a:prstGeom>
          <a:solidFill>
            <a:schemeClr val="tx1">
              <a:lumMod val="65000"/>
              <a:lumOff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r>
              <a:rPr lang="ja-JP" altLang="en-US" sz="850" b="1" dirty="0">
                <a:latin typeface="メイリオ" panose="020B0604030504040204" pitchFamily="50" charset="-128"/>
                <a:ea typeface="メイリオ" panose="020B0604030504040204" pitchFamily="50" charset="-128"/>
                <a:cs typeface="メイリオ"/>
              </a:rPr>
              <a:t>サンクス画面へ</a:t>
            </a:r>
            <a:endParaRPr lang="en-US" altLang="ja-JP" sz="850" b="1" dirty="0">
              <a:latin typeface="メイリオ" panose="020B0604030504040204" pitchFamily="50" charset="-128"/>
              <a:ea typeface="メイリオ" panose="020B0604030504040204" pitchFamily="50" charset="-128"/>
              <a:cs typeface="メイリオ"/>
            </a:endParaRPr>
          </a:p>
        </p:txBody>
      </p:sp>
      <p:pic>
        <p:nvPicPr>
          <p:cNvPr id="1038" name="図 1037" descr="テキスト, 手紙&#10;&#10;AI 生成コンテンツは誤りを含む可能性があります。">
            <a:extLst>
              <a:ext uri="{FF2B5EF4-FFF2-40B4-BE49-F238E27FC236}">
                <a16:creationId xmlns:a16="http://schemas.microsoft.com/office/drawing/2014/main" id="{85260668-6C66-A032-FFE0-0276021F9433}"/>
              </a:ext>
            </a:extLst>
          </p:cNvPr>
          <p:cNvPicPr>
            <a:picLocks noChangeAspect="1"/>
          </p:cNvPicPr>
          <p:nvPr/>
        </p:nvPicPr>
        <p:blipFill>
          <a:blip r:embed="rId7" cstate="print">
            <a:extLst>
              <a:ext uri="{28A0092B-C50C-407E-A947-70E740481C1C}">
                <a14:useLocalDpi xmlns:a14="http://schemas.microsoft.com/office/drawing/2010/main" val="0"/>
              </a:ext>
            </a:extLst>
          </a:blip>
          <a:srcRect t="4580"/>
          <a:stretch>
            <a:fillRect/>
          </a:stretch>
        </p:blipFill>
        <p:spPr>
          <a:xfrm>
            <a:off x="2195552" y="2083381"/>
            <a:ext cx="1066362" cy="1789421"/>
          </a:xfrm>
          <a:prstGeom prst="rect">
            <a:avLst/>
          </a:prstGeom>
        </p:spPr>
      </p:pic>
      <p:pic>
        <p:nvPicPr>
          <p:cNvPr id="1039" name="Picture 2" descr="買い物完了！イラスト｜無料イラスト・フリー素材なら「イラストAC」">
            <a:extLst>
              <a:ext uri="{FF2B5EF4-FFF2-40B4-BE49-F238E27FC236}">
                <a16:creationId xmlns:a16="http://schemas.microsoft.com/office/drawing/2014/main" id="{23D05307-D6FE-6284-27D3-3433EE0122E2}"/>
              </a:ext>
            </a:extLst>
          </p:cNvPr>
          <p:cNvPicPr>
            <a:picLocks noChangeAspect="1" noChangeArrowheads="1"/>
          </p:cNvPicPr>
          <p:nvPr/>
        </p:nvPicPr>
        <p:blipFill rotWithShape="1">
          <a:blip r:embed="rId8" cstate="print">
            <a:extLst>
              <a:ext uri="{28A0092B-C50C-407E-A947-70E740481C1C}">
                <a14:useLocalDpi xmlns:a14="http://schemas.microsoft.com/office/drawing/2010/main" val="0"/>
              </a:ext>
            </a:extLst>
          </a:blip>
          <a:srcRect l="20270" r="23682"/>
          <a:stretch>
            <a:fillRect/>
          </a:stretch>
        </p:blipFill>
        <p:spPr bwMode="auto">
          <a:xfrm>
            <a:off x="3292898" y="1459246"/>
            <a:ext cx="250223" cy="335086"/>
          </a:xfrm>
          <a:prstGeom prst="rect">
            <a:avLst/>
          </a:prstGeom>
          <a:noFill/>
          <a:extLst>
            <a:ext uri="{909E8E84-426E-40DD-AFC4-6F175D3DCCD1}">
              <a14:hiddenFill xmlns:a14="http://schemas.microsoft.com/office/drawing/2010/main">
                <a:solidFill>
                  <a:srgbClr val="FFFFFF"/>
                </a:solidFill>
              </a14:hiddenFill>
            </a:ext>
          </a:extLst>
        </p:spPr>
      </p:pic>
      <p:grpSp>
        <p:nvGrpSpPr>
          <p:cNvPr id="3" name="グループ化 2">
            <a:extLst>
              <a:ext uri="{FF2B5EF4-FFF2-40B4-BE49-F238E27FC236}">
                <a16:creationId xmlns:a16="http://schemas.microsoft.com/office/drawing/2014/main" id="{E76D8F54-2926-2D56-7238-F66ACCBC4F20}"/>
              </a:ext>
            </a:extLst>
          </p:cNvPr>
          <p:cNvGrpSpPr/>
          <p:nvPr/>
        </p:nvGrpSpPr>
        <p:grpSpPr>
          <a:xfrm>
            <a:off x="1261302" y="837894"/>
            <a:ext cx="2523077" cy="485102"/>
            <a:chOff x="507969" y="928495"/>
            <a:chExt cx="3105325" cy="485102"/>
          </a:xfrm>
        </p:grpSpPr>
        <p:sp>
          <p:nvSpPr>
            <p:cNvPr id="4" name="Google Shape;51;p19">
              <a:extLst>
                <a:ext uri="{FF2B5EF4-FFF2-40B4-BE49-F238E27FC236}">
                  <a16:creationId xmlns:a16="http://schemas.microsoft.com/office/drawing/2014/main" id="{98F6BB16-EFC6-9846-2A11-E624E876E64B}"/>
                </a:ext>
              </a:extLst>
            </p:cNvPr>
            <p:cNvSpPr/>
            <p:nvPr/>
          </p:nvSpPr>
          <p:spPr>
            <a:xfrm>
              <a:off x="507969" y="928495"/>
              <a:ext cx="3105325" cy="485102"/>
            </a:xfrm>
            <a:prstGeom prst="roundRect">
              <a:avLst>
                <a:gd name="adj" fmla="val 16667"/>
              </a:avLst>
            </a:prstGeom>
            <a:solidFill>
              <a:schemeClr val="dk1"/>
            </a:solidFill>
            <a:ln>
              <a:noFill/>
            </a:ln>
          </p:spPr>
          <p:txBody>
            <a:bodyPr spcFirstLastPara="1" wrap="square" lIns="74282" tIns="45700" rIns="74282"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9pPr>
            </a:lstStyle>
            <a:p>
              <a:pPr algn="ctr">
                <a:buSzPts val="1400"/>
              </a:pPr>
              <a:endParaRPr b="1" dirty="0">
                <a:solidFill>
                  <a:schemeClr val="lt1"/>
                </a:solidFill>
                <a:sym typeface="Meiryo"/>
              </a:endParaRPr>
            </a:p>
          </p:txBody>
        </p:sp>
        <p:sp>
          <p:nvSpPr>
            <p:cNvPr id="5" name="テキスト ボックス 4">
              <a:extLst>
                <a:ext uri="{FF2B5EF4-FFF2-40B4-BE49-F238E27FC236}">
                  <a16:creationId xmlns:a16="http://schemas.microsoft.com/office/drawing/2014/main" id="{560EDF30-5F09-B70A-2993-8CD4F9E40EFA}"/>
                </a:ext>
              </a:extLst>
            </p:cNvPr>
            <p:cNvSpPr txBox="1"/>
            <p:nvPr/>
          </p:nvSpPr>
          <p:spPr>
            <a:xfrm>
              <a:off x="1140096" y="988192"/>
              <a:ext cx="1832553" cy="357790"/>
            </a:xfrm>
            <a:prstGeom prst="rect">
              <a:avLst/>
            </a:prstGeom>
            <a:noFill/>
          </p:spPr>
          <p:txBody>
            <a:bodyPr wrap="none" lIns="74295" rIns="74295" rtlCol="0">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9pPr>
            </a:lstStyle>
            <a:p>
              <a:pPr>
                <a:lnSpc>
                  <a:spcPct val="120000"/>
                </a:lnSpc>
              </a:pPr>
              <a:r>
                <a:rPr lang="ja-JP" altLang="en-US" sz="1200" b="1" dirty="0">
                  <a:solidFill>
                    <a:schemeClr val="bg1"/>
                  </a:solidFill>
                  <a:latin typeface="メイリオ" panose="020B0604030504040204" pitchFamily="34" charset="-128"/>
                  <a:ea typeface="メイリオ" panose="020B0604030504040204" pitchFamily="34" charset="-128"/>
                </a:rPr>
                <a:t>サンクス</a:t>
              </a:r>
              <a:r>
                <a:rPr lang="en-US" altLang="ja-JP" sz="1200" b="1" dirty="0">
                  <a:solidFill>
                    <a:schemeClr val="bg1"/>
                  </a:solidFill>
                  <a:latin typeface="メイリオ" panose="020B0604030504040204" pitchFamily="34" charset="-128"/>
                  <a:ea typeface="メイリオ" panose="020B0604030504040204" pitchFamily="34" charset="-128"/>
                </a:rPr>
                <a:t>LINE</a:t>
              </a:r>
              <a:r>
                <a:rPr lang="ja-JP" altLang="en-US" sz="1200" b="1" dirty="0">
                  <a:solidFill>
                    <a:schemeClr val="bg1"/>
                  </a:solidFill>
                  <a:latin typeface="メイリオ" panose="020B0604030504040204" pitchFamily="34" charset="-128"/>
                  <a:ea typeface="メイリオ" panose="020B0604030504040204" pitchFamily="34" charset="-128"/>
                </a:rPr>
                <a:t>誘導</a:t>
              </a:r>
            </a:p>
          </p:txBody>
        </p:sp>
      </p:grpSp>
      <p:sp>
        <p:nvSpPr>
          <p:cNvPr id="6" name="正方形/長方形 5">
            <a:extLst>
              <a:ext uri="{FF2B5EF4-FFF2-40B4-BE49-F238E27FC236}">
                <a16:creationId xmlns:a16="http://schemas.microsoft.com/office/drawing/2014/main" id="{8B20BFF3-9D3E-A4D7-FF5A-70927F78FC9D}"/>
              </a:ext>
            </a:extLst>
          </p:cNvPr>
          <p:cNvSpPr/>
          <p:nvPr/>
        </p:nvSpPr>
        <p:spPr>
          <a:xfrm>
            <a:off x="7729169" y="4623314"/>
            <a:ext cx="730843" cy="649672"/>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endParaRPr lang="ja-JP" altLang="en-US">
              <a:latin typeface="メイリオ"/>
              <a:ea typeface="メイリオ"/>
              <a:cs typeface="メイリオ"/>
            </a:endParaRPr>
          </a:p>
        </p:txBody>
      </p:sp>
      <p:sp>
        <p:nvSpPr>
          <p:cNvPr id="9" name="正方形/長方形 8">
            <a:extLst>
              <a:ext uri="{FF2B5EF4-FFF2-40B4-BE49-F238E27FC236}">
                <a16:creationId xmlns:a16="http://schemas.microsoft.com/office/drawing/2014/main" id="{DC4FF56C-47EE-47DB-92F1-3F0EF57613D9}"/>
              </a:ext>
            </a:extLst>
          </p:cNvPr>
          <p:cNvSpPr/>
          <p:nvPr/>
        </p:nvSpPr>
        <p:spPr>
          <a:xfrm>
            <a:off x="4180596" y="846996"/>
            <a:ext cx="4575836" cy="307777"/>
          </a:xfrm>
          <a:prstGeom prst="rect">
            <a:avLst/>
          </a:prstGeom>
        </p:spPr>
        <p:txBody>
          <a:bodyPr wrap="square" lIns="74295" rIns="74295">
            <a:spAutoFit/>
          </a:bodyPr>
          <a:lstStyle/>
          <a:p>
            <a:pPr lvl="0">
              <a:buClr>
                <a:schemeClr val="dk1"/>
              </a:buClr>
              <a:buSzPts val="1500"/>
            </a:pPr>
            <a:r>
              <a:rPr lang="ja-JP" altLang="en-US" sz="1400" dirty="0">
                <a:latin typeface="メイリオ"/>
                <a:ea typeface="メイリオ"/>
                <a:cs typeface="メイリオ"/>
                <a:sym typeface="Meiryo"/>
              </a:rPr>
              <a:t>フォーム送信後の</a:t>
            </a:r>
            <a:r>
              <a:rPr lang="en-US" altLang="ja-JP" sz="1400" dirty="0">
                <a:latin typeface="メイリオ"/>
                <a:ea typeface="メイリオ"/>
                <a:cs typeface="メイリオ"/>
                <a:sym typeface="Meiryo"/>
              </a:rPr>
              <a:t>LINE</a:t>
            </a:r>
            <a:r>
              <a:rPr lang="ja-JP" altLang="en-US" sz="1400" dirty="0">
                <a:latin typeface="メイリオ"/>
                <a:ea typeface="メイリオ"/>
                <a:cs typeface="メイリオ"/>
                <a:sym typeface="Meiryo"/>
              </a:rPr>
              <a:t>誘導を自動化するツール</a:t>
            </a:r>
            <a:endParaRPr lang="en-US" altLang="ja-JP" sz="1400" dirty="0">
              <a:latin typeface="メイリオ"/>
              <a:ea typeface="メイリオ"/>
              <a:cs typeface="メイリオ"/>
              <a:sym typeface="Meiryo"/>
            </a:endParaRPr>
          </a:p>
        </p:txBody>
      </p:sp>
      <p:sp>
        <p:nvSpPr>
          <p:cNvPr id="14" name="テキスト ボックス 13">
            <a:extLst>
              <a:ext uri="{FF2B5EF4-FFF2-40B4-BE49-F238E27FC236}">
                <a16:creationId xmlns:a16="http://schemas.microsoft.com/office/drawing/2014/main" id="{5ED6F7D2-546D-BF9F-9805-58455D7E2831}"/>
              </a:ext>
            </a:extLst>
          </p:cNvPr>
          <p:cNvSpPr txBox="1"/>
          <p:nvPr/>
        </p:nvSpPr>
        <p:spPr>
          <a:xfrm>
            <a:off x="4180597" y="1172815"/>
            <a:ext cx="3833883" cy="230832"/>
          </a:xfrm>
          <a:prstGeom prst="rect">
            <a:avLst/>
          </a:prstGeom>
          <a:noFill/>
        </p:spPr>
        <p:txBody>
          <a:bodyPr wrap="square" lIns="74295" rIns="74295">
            <a:spAutoFit/>
          </a:bodyPr>
          <a:lstStyle/>
          <a:p>
            <a:r>
              <a:rPr lang="en-US" altLang="ja-JP" sz="900" dirty="0">
                <a:solidFill>
                  <a:srgbClr val="FF0000"/>
                </a:solidFill>
                <a:latin typeface="メイリオ" panose="020B0604030504040204" pitchFamily="50" charset="-128"/>
                <a:ea typeface="メイリオ" panose="020B0604030504040204" pitchFamily="50" charset="-128"/>
                <a:cs typeface="メイリオ"/>
                <a:sym typeface="Meiryo"/>
              </a:rPr>
              <a:t>※</a:t>
            </a:r>
            <a:r>
              <a:rPr lang="ja-JP" altLang="en-US" sz="900" dirty="0">
                <a:solidFill>
                  <a:srgbClr val="FF0000"/>
                </a:solidFill>
                <a:latin typeface="メイリオ" panose="020B0604030504040204" pitchFamily="50" charset="-128"/>
                <a:ea typeface="メイリオ" panose="020B0604030504040204" pitchFamily="50" charset="-128"/>
                <a:cs typeface="メイリオ"/>
                <a:sym typeface="Meiryo"/>
              </a:rPr>
              <a:t>既存</a:t>
            </a:r>
            <a:r>
              <a:rPr lang="en-US" altLang="ja-JP" sz="900" dirty="0">
                <a:solidFill>
                  <a:srgbClr val="FF0000"/>
                </a:solidFill>
                <a:latin typeface="メイリオ" panose="020B0604030504040204" pitchFamily="50" charset="-128"/>
                <a:ea typeface="メイリオ" panose="020B0604030504040204" pitchFamily="50" charset="-128"/>
                <a:cs typeface="メイリオ"/>
                <a:sym typeface="Meiryo"/>
              </a:rPr>
              <a:t>API</a:t>
            </a:r>
            <a:r>
              <a:rPr lang="ja-JP" altLang="en-US" sz="900" dirty="0">
                <a:solidFill>
                  <a:srgbClr val="FF0000"/>
                </a:solidFill>
                <a:latin typeface="メイリオ" panose="020B0604030504040204" pitchFamily="50" charset="-128"/>
                <a:ea typeface="メイリオ" panose="020B0604030504040204" pitchFamily="50" charset="-128"/>
                <a:cs typeface="メイリオ"/>
                <a:sym typeface="Meiryo"/>
              </a:rPr>
              <a:t>ツールとの併用についても、問題なく稼働が可能。</a:t>
            </a:r>
            <a:endParaRPr lang="ja-JP" altLang="en-US" sz="900" dirty="0">
              <a:solidFill>
                <a:srgbClr val="FF0000"/>
              </a:solidFill>
              <a:latin typeface="メイリオ"/>
              <a:ea typeface="メイリオ"/>
              <a:cs typeface="メイリオ"/>
            </a:endParaRPr>
          </a:p>
        </p:txBody>
      </p:sp>
      <p:sp>
        <p:nvSpPr>
          <p:cNvPr id="8" name="正方形/長方形 7">
            <a:extLst>
              <a:ext uri="{FF2B5EF4-FFF2-40B4-BE49-F238E27FC236}">
                <a16:creationId xmlns:a16="http://schemas.microsoft.com/office/drawing/2014/main" id="{F5B8C83A-7191-D772-EF88-AE268D007E63}"/>
              </a:ext>
            </a:extLst>
          </p:cNvPr>
          <p:cNvSpPr/>
          <p:nvPr/>
        </p:nvSpPr>
        <p:spPr>
          <a:xfrm>
            <a:off x="6097538" y="1666571"/>
            <a:ext cx="2513872" cy="284744"/>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r>
              <a:rPr lang="ja-JP" altLang="en-US" sz="1100" b="1" dirty="0">
                <a:solidFill>
                  <a:schemeClr val="bg1"/>
                </a:solidFill>
                <a:latin typeface="メイリオ" panose="020B0604030504040204" pitchFamily="50" charset="-128"/>
                <a:ea typeface="メイリオ" panose="020B0604030504040204" pitchFamily="50" charset="-128"/>
                <a:cs typeface="メイリオ"/>
              </a:rPr>
              <a:t>動作イメージ</a:t>
            </a:r>
          </a:p>
        </p:txBody>
      </p:sp>
      <p:sp>
        <p:nvSpPr>
          <p:cNvPr id="11" name="正方形/長方形 10">
            <a:extLst>
              <a:ext uri="{FF2B5EF4-FFF2-40B4-BE49-F238E27FC236}">
                <a16:creationId xmlns:a16="http://schemas.microsoft.com/office/drawing/2014/main" id="{189A6A4C-E34E-E7CF-D6DD-C175E600A94D}"/>
              </a:ext>
            </a:extLst>
          </p:cNvPr>
          <p:cNvSpPr/>
          <p:nvPr/>
        </p:nvSpPr>
        <p:spPr>
          <a:xfrm>
            <a:off x="1209560" y="1525688"/>
            <a:ext cx="1510467" cy="244151"/>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r>
              <a:rPr lang="en-US" altLang="ja-JP" sz="950" b="1"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WEB</a:t>
            </a:r>
            <a:r>
              <a:rPr lang="ja-JP" altLang="en-US" sz="950" b="1"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サイト</a:t>
            </a:r>
          </a:p>
        </p:txBody>
      </p:sp>
      <p:pic>
        <p:nvPicPr>
          <p:cNvPr id="18" name="図 17">
            <a:extLst>
              <a:ext uri="{FF2B5EF4-FFF2-40B4-BE49-F238E27FC236}">
                <a16:creationId xmlns:a16="http://schemas.microsoft.com/office/drawing/2014/main" id="{122BEACA-AA0E-EFF8-CDF2-B0A5B58840D0}"/>
              </a:ext>
            </a:extLst>
          </p:cNvPr>
          <p:cNvPicPr>
            <a:picLocks noChangeAspect="1"/>
          </p:cNvPicPr>
          <p:nvPr/>
        </p:nvPicPr>
        <p:blipFill>
          <a:blip r:embed="rId9"/>
          <a:stretch>
            <a:fillRect/>
          </a:stretch>
        </p:blipFill>
        <p:spPr>
          <a:xfrm>
            <a:off x="2412518" y="3590272"/>
            <a:ext cx="379108" cy="69986"/>
          </a:xfrm>
          <a:prstGeom prst="rect">
            <a:avLst/>
          </a:prstGeom>
        </p:spPr>
      </p:pic>
      <p:pic>
        <p:nvPicPr>
          <p:cNvPr id="27" name="図 26">
            <a:extLst>
              <a:ext uri="{FF2B5EF4-FFF2-40B4-BE49-F238E27FC236}">
                <a16:creationId xmlns:a16="http://schemas.microsoft.com/office/drawing/2014/main" id="{D971BE53-7CD8-C375-2A00-B224602AC25F}"/>
              </a:ext>
            </a:extLst>
          </p:cNvPr>
          <p:cNvPicPr>
            <a:picLocks noChangeAspect="1"/>
          </p:cNvPicPr>
          <p:nvPr/>
        </p:nvPicPr>
        <p:blipFill>
          <a:blip r:embed="rId9"/>
          <a:stretch>
            <a:fillRect/>
          </a:stretch>
        </p:blipFill>
        <p:spPr>
          <a:xfrm>
            <a:off x="2234699" y="2111288"/>
            <a:ext cx="379108" cy="69986"/>
          </a:xfrm>
          <a:prstGeom prst="rect">
            <a:avLst/>
          </a:prstGeom>
        </p:spPr>
      </p:pic>
      <p:sp>
        <p:nvSpPr>
          <p:cNvPr id="33" name="四角形: 角を丸くする 32">
            <a:extLst>
              <a:ext uri="{FF2B5EF4-FFF2-40B4-BE49-F238E27FC236}">
                <a16:creationId xmlns:a16="http://schemas.microsoft.com/office/drawing/2014/main" id="{B7D71D80-6086-B1B4-3E2C-EE891B12909E}"/>
              </a:ext>
            </a:extLst>
          </p:cNvPr>
          <p:cNvSpPr/>
          <p:nvPr/>
        </p:nvSpPr>
        <p:spPr>
          <a:xfrm>
            <a:off x="1511868" y="4640731"/>
            <a:ext cx="3960179" cy="659955"/>
          </a:xfrm>
          <a:prstGeom prst="roundRect">
            <a:avLst>
              <a:gd name="adj" fmla="val 25327"/>
            </a:avLst>
          </a:prstGeom>
          <a:solidFill>
            <a:srgbClr val="04FA0A">
              <a:alpha val="4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r>
              <a:rPr lang="ja-JP" altLang="en-US" sz="1300" dirty="0">
                <a:solidFill>
                  <a:schemeClr val="tx1"/>
                </a:solidFill>
                <a:latin typeface="メイリオ" panose="020B0604030504040204" pitchFamily="50" charset="-128"/>
                <a:ea typeface="メイリオ" panose="020B0604030504040204" pitchFamily="50" charset="-128"/>
              </a:rPr>
              <a:t>フォーム入力内容を</a:t>
            </a:r>
            <a:br>
              <a:rPr lang="en-US" altLang="ja-JP" sz="1300" dirty="0">
                <a:solidFill>
                  <a:schemeClr val="tx1"/>
                </a:solidFill>
                <a:latin typeface="メイリオ" panose="020B0604030504040204" pitchFamily="50" charset="-128"/>
                <a:ea typeface="メイリオ" panose="020B0604030504040204" pitchFamily="50" charset="-128"/>
              </a:rPr>
            </a:br>
            <a:r>
              <a:rPr lang="en-US" altLang="ja-JP" sz="1300" dirty="0">
                <a:solidFill>
                  <a:schemeClr val="tx1"/>
                </a:solidFill>
                <a:latin typeface="メイリオ" panose="020B0604030504040204" pitchFamily="50" charset="-128"/>
                <a:ea typeface="メイリオ" panose="020B0604030504040204" pitchFamily="50" charset="-128"/>
              </a:rPr>
              <a:t>LINE</a:t>
            </a:r>
            <a:r>
              <a:rPr lang="ja-JP" altLang="en-US" sz="1300" dirty="0">
                <a:solidFill>
                  <a:schemeClr val="tx1"/>
                </a:solidFill>
                <a:latin typeface="メイリオ" panose="020B0604030504040204" pitchFamily="50" charset="-128"/>
                <a:ea typeface="メイリオ" panose="020B0604030504040204" pitchFamily="50" charset="-128"/>
              </a:rPr>
              <a:t>トーク入力画面へ引き継ぎ可能</a:t>
            </a:r>
          </a:p>
        </p:txBody>
      </p:sp>
      <p:cxnSp>
        <p:nvCxnSpPr>
          <p:cNvPr id="44" name="直線矢印コネクタ 43">
            <a:extLst>
              <a:ext uri="{FF2B5EF4-FFF2-40B4-BE49-F238E27FC236}">
                <a16:creationId xmlns:a16="http://schemas.microsoft.com/office/drawing/2014/main" id="{666CF79B-D322-06BC-F342-DE710BE7473B}"/>
              </a:ext>
            </a:extLst>
          </p:cNvPr>
          <p:cNvCxnSpPr>
            <a:cxnSpLocks/>
          </p:cNvCxnSpPr>
          <p:nvPr/>
        </p:nvCxnSpPr>
        <p:spPr>
          <a:xfrm flipH="1" flipV="1">
            <a:off x="1145256" y="4485242"/>
            <a:ext cx="515326" cy="485466"/>
          </a:xfrm>
          <a:prstGeom prst="straightConnector1">
            <a:avLst/>
          </a:prstGeom>
          <a:ln w="19050">
            <a:solidFill>
              <a:srgbClr val="00B050">
                <a:alpha val="80000"/>
              </a:srgbClr>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29" name="正方形/長方形 28">
            <a:extLst>
              <a:ext uri="{FF2B5EF4-FFF2-40B4-BE49-F238E27FC236}">
                <a16:creationId xmlns:a16="http://schemas.microsoft.com/office/drawing/2014/main" id="{1D29A9C3-A3E8-0780-A758-0C8E7E376668}"/>
              </a:ext>
            </a:extLst>
          </p:cNvPr>
          <p:cNvSpPr/>
          <p:nvPr/>
        </p:nvSpPr>
        <p:spPr>
          <a:xfrm>
            <a:off x="5284944" y="2415812"/>
            <a:ext cx="530810" cy="1821208"/>
          </a:xfrm>
          <a:prstGeom prst="rect">
            <a:avLst/>
          </a:prstGeom>
          <a:solidFill>
            <a:srgbClr val="04FA0A">
              <a:alpha val="4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r>
              <a:rPr lang="en-US" altLang="ja-JP" sz="950" b="1" dirty="0">
                <a:solidFill>
                  <a:schemeClr val="tx1"/>
                </a:solidFill>
                <a:latin typeface="メイリオ" panose="020B0604030504040204" pitchFamily="50" charset="-128"/>
                <a:ea typeface="メイリオ" panose="020B0604030504040204" pitchFamily="50" charset="-128"/>
                <a:cs typeface="メイリオ"/>
              </a:rPr>
              <a:t>DYM</a:t>
            </a:r>
          </a:p>
          <a:p>
            <a:pPr algn="ctr"/>
            <a:r>
              <a:rPr lang="ja-JP" altLang="en-US" sz="950" b="1" dirty="0">
                <a:solidFill>
                  <a:schemeClr val="tx1"/>
                </a:solidFill>
                <a:latin typeface="メイリオ" panose="020B0604030504040204" pitchFamily="50" charset="-128"/>
                <a:ea typeface="メイリオ" panose="020B0604030504040204" pitchFamily="50" charset="-128"/>
                <a:cs typeface="メイリオ"/>
              </a:rPr>
              <a:t>開発</a:t>
            </a:r>
            <a:endParaRPr lang="en-US" altLang="ja-JP" sz="950" b="1" dirty="0">
              <a:solidFill>
                <a:schemeClr val="tx1"/>
              </a:solidFill>
              <a:latin typeface="メイリオ" panose="020B0604030504040204" pitchFamily="50" charset="-128"/>
              <a:ea typeface="メイリオ" panose="020B0604030504040204" pitchFamily="50" charset="-128"/>
              <a:cs typeface="メイリオ"/>
            </a:endParaRPr>
          </a:p>
          <a:p>
            <a:pPr algn="ctr"/>
            <a:r>
              <a:rPr lang="ja-JP" altLang="en-US" sz="950" b="1" dirty="0">
                <a:solidFill>
                  <a:schemeClr val="tx1"/>
                </a:solidFill>
                <a:latin typeface="メイリオ" panose="020B0604030504040204" pitchFamily="50" charset="-128"/>
                <a:ea typeface="メイリオ" panose="020B0604030504040204" pitchFamily="50" charset="-128"/>
                <a:cs typeface="メイリオ"/>
              </a:rPr>
              <a:t>ツール</a:t>
            </a:r>
            <a:endParaRPr lang="en-US" altLang="ja-JP" sz="950" b="1" dirty="0">
              <a:solidFill>
                <a:schemeClr val="tx1"/>
              </a:solidFill>
              <a:latin typeface="メイリオ" panose="020B0604030504040204" pitchFamily="50" charset="-128"/>
              <a:ea typeface="メイリオ" panose="020B0604030504040204" pitchFamily="50" charset="-128"/>
              <a:cs typeface="メイリオ"/>
            </a:endParaRPr>
          </a:p>
        </p:txBody>
      </p:sp>
      <p:sp>
        <p:nvSpPr>
          <p:cNvPr id="1048" name="矢印: 右 1047">
            <a:extLst>
              <a:ext uri="{FF2B5EF4-FFF2-40B4-BE49-F238E27FC236}">
                <a16:creationId xmlns:a16="http://schemas.microsoft.com/office/drawing/2014/main" id="{6A5BBE8E-2B42-49E0-686B-A6584B59E72F}"/>
              </a:ext>
            </a:extLst>
          </p:cNvPr>
          <p:cNvSpPr/>
          <p:nvPr/>
        </p:nvSpPr>
        <p:spPr>
          <a:xfrm>
            <a:off x="3398999" y="3203047"/>
            <a:ext cx="1843892" cy="392774"/>
          </a:xfrm>
          <a:prstGeom prst="rightArrow">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endParaRPr lang="ja-JP" altLang="en-US"/>
          </a:p>
        </p:txBody>
      </p:sp>
      <p:sp>
        <p:nvSpPr>
          <p:cNvPr id="1050" name="吹き出し: 角を丸めた四角形 1049">
            <a:extLst>
              <a:ext uri="{FF2B5EF4-FFF2-40B4-BE49-F238E27FC236}">
                <a16:creationId xmlns:a16="http://schemas.microsoft.com/office/drawing/2014/main" id="{0D7606B7-7AEE-445F-FB97-74913C4A4F60}"/>
              </a:ext>
            </a:extLst>
          </p:cNvPr>
          <p:cNvSpPr/>
          <p:nvPr/>
        </p:nvSpPr>
        <p:spPr>
          <a:xfrm>
            <a:off x="3492025" y="2641849"/>
            <a:ext cx="1624523" cy="476757"/>
          </a:xfrm>
          <a:prstGeom prst="wedgeRoundRectCallout">
            <a:avLst/>
          </a:prstGeom>
          <a:solidFill>
            <a:srgbClr val="FDFDFD"/>
          </a:solidFill>
          <a:ln w="19050">
            <a:solidFill>
              <a:schemeClr val="tx2">
                <a:alpha val="40000"/>
              </a:schemeClr>
            </a:solid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r>
              <a:rPr lang="en-US" altLang="ja-JP" sz="1100" dirty="0">
                <a:solidFill>
                  <a:schemeClr val="tx1"/>
                </a:solidFill>
                <a:latin typeface="メイリオ" panose="020B0604030504040204" pitchFamily="50" charset="-128"/>
                <a:ea typeface="メイリオ" panose="020B0604030504040204" pitchFamily="50" charset="-128"/>
              </a:rPr>
              <a:t>CV</a:t>
            </a:r>
            <a:r>
              <a:rPr lang="ja-JP" altLang="en-US" sz="1100" dirty="0">
                <a:solidFill>
                  <a:schemeClr val="tx1"/>
                </a:solidFill>
                <a:latin typeface="メイリオ" panose="020B0604030504040204" pitchFamily="50" charset="-128"/>
                <a:ea typeface="メイリオ" panose="020B0604030504040204" pitchFamily="50" charset="-128"/>
              </a:rPr>
              <a:t>完了後約</a:t>
            </a:r>
            <a:r>
              <a:rPr lang="en-US" altLang="ja-JP" sz="1100" dirty="0">
                <a:solidFill>
                  <a:schemeClr val="tx1"/>
                </a:solidFill>
                <a:latin typeface="メイリオ" panose="020B0604030504040204" pitchFamily="50" charset="-128"/>
                <a:ea typeface="メイリオ" panose="020B0604030504040204" pitchFamily="50" charset="-128"/>
              </a:rPr>
              <a:t>2~3</a:t>
            </a:r>
            <a:r>
              <a:rPr lang="ja-JP" altLang="en-US" sz="1100" dirty="0">
                <a:solidFill>
                  <a:schemeClr val="tx1"/>
                </a:solidFill>
                <a:latin typeface="メイリオ" panose="020B0604030504040204" pitchFamily="50" charset="-128"/>
                <a:ea typeface="メイリオ" panose="020B0604030504040204" pitchFamily="50" charset="-128"/>
              </a:rPr>
              <a:t>秒で</a:t>
            </a:r>
            <a:br>
              <a:rPr lang="en-US" altLang="ja-JP" sz="1100" dirty="0">
                <a:solidFill>
                  <a:schemeClr val="tx1"/>
                </a:solidFill>
                <a:latin typeface="メイリオ" panose="020B0604030504040204" pitchFamily="50" charset="-128"/>
                <a:ea typeface="メイリオ" panose="020B0604030504040204" pitchFamily="50" charset="-128"/>
              </a:rPr>
            </a:br>
            <a:r>
              <a:rPr lang="en-US" altLang="ja-JP" sz="1100" dirty="0">
                <a:solidFill>
                  <a:schemeClr val="tx1"/>
                </a:solidFill>
                <a:latin typeface="メイリオ" panose="020B0604030504040204" pitchFamily="50" charset="-128"/>
                <a:ea typeface="メイリオ" panose="020B0604030504040204" pitchFamily="50" charset="-128"/>
              </a:rPr>
              <a:t>LINE</a:t>
            </a:r>
            <a:r>
              <a:rPr lang="ja-JP" altLang="en-US" sz="1100" dirty="0">
                <a:solidFill>
                  <a:schemeClr val="tx1"/>
                </a:solidFill>
                <a:latin typeface="メイリオ" panose="020B0604030504040204" pitchFamily="50" charset="-128"/>
                <a:ea typeface="メイリオ" panose="020B0604030504040204" pitchFamily="50" charset="-128"/>
              </a:rPr>
              <a:t>へ自動遷移</a:t>
            </a:r>
            <a:endParaRPr lang="en-US" altLang="ja-JP" sz="1100" dirty="0">
              <a:solidFill>
                <a:schemeClr val="tx1"/>
              </a:solidFill>
              <a:latin typeface="メイリオ" panose="020B0604030504040204" pitchFamily="50" charset="-128"/>
              <a:ea typeface="メイリオ" panose="020B0604030504040204" pitchFamily="50" charset="-128"/>
            </a:endParaRPr>
          </a:p>
        </p:txBody>
      </p:sp>
      <p:cxnSp>
        <p:nvCxnSpPr>
          <p:cNvPr id="1052" name="直線矢印コネクタ 1051">
            <a:extLst>
              <a:ext uri="{FF2B5EF4-FFF2-40B4-BE49-F238E27FC236}">
                <a16:creationId xmlns:a16="http://schemas.microsoft.com/office/drawing/2014/main" id="{5B4E7079-E54A-2282-BDB8-487FFE5E8981}"/>
              </a:ext>
            </a:extLst>
          </p:cNvPr>
          <p:cNvCxnSpPr>
            <a:cxnSpLocks/>
          </p:cNvCxnSpPr>
          <p:nvPr/>
        </p:nvCxnSpPr>
        <p:spPr>
          <a:xfrm>
            <a:off x="5242891" y="4971540"/>
            <a:ext cx="2486278" cy="256434"/>
          </a:xfrm>
          <a:prstGeom prst="straightConnector1">
            <a:avLst/>
          </a:prstGeom>
          <a:ln w="19050">
            <a:solidFill>
              <a:srgbClr val="00B050">
                <a:alpha val="80000"/>
              </a:srgbClr>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7" name="矢印: 右 6">
            <a:extLst>
              <a:ext uri="{FF2B5EF4-FFF2-40B4-BE49-F238E27FC236}">
                <a16:creationId xmlns:a16="http://schemas.microsoft.com/office/drawing/2014/main" id="{9EC51A72-DCD0-B1E9-7CCE-6674E65DC641}"/>
              </a:ext>
            </a:extLst>
          </p:cNvPr>
          <p:cNvSpPr/>
          <p:nvPr/>
        </p:nvSpPr>
        <p:spPr>
          <a:xfrm rot="5400000">
            <a:off x="6436767" y="3831408"/>
            <a:ext cx="349205" cy="392774"/>
          </a:xfrm>
          <a:prstGeom prst="rightArrow">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endParaRPr lang="ja-JP" altLang="en-US"/>
          </a:p>
        </p:txBody>
      </p:sp>
      <p:sp>
        <p:nvSpPr>
          <p:cNvPr id="41" name="四角形: 角を丸くする 40">
            <a:extLst>
              <a:ext uri="{FF2B5EF4-FFF2-40B4-BE49-F238E27FC236}">
                <a16:creationId xmlns:a16="http://schemas.microsoft.com/office/drawing/2014/main" id="{3DEB8AF5-27EB-F2A5-5738-9D4876D62932}"/>
              </a:ext>
            </a:extLst>
          </p:cNvPr>
          <p:cNvSpPr/>
          <p:nvPr/>
        </p:nvSpPr>
        <p:spPr>
          <a:xfrm>
            <a:off x="1331634" y="5386674"/>
            <a:ext cx="3965148" cy="1126724"/>
          </a:xfrm>
          <a:prstGeom prst="roundRect">
            <a:avLst>
              <a:gd name="adj" fmla="val 8129"/>
            </a:avLst>
          </a:prstGeom>
          <a:solidFill>
            <a:schemeClr val="bg1">
              <a:lumMod val="85000"/>
            </a:schemeClr>
          </a:solidFill>
          <a:ln w="12700">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43" name="図 42">
            <a:extLst>
              <a:ext uri="{FF2B5EF4-FFF2-40B4-BE49-F238E27FC236}">
                <a16:creationId xmlns:a16="http://schemas.microsoft.com/office/drawing/2014/main" id="{F4AEE4F6-B4F2-3B63-B340-970573C6BC9B}"/>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1407362" y="5422614"/>
            <a:ext cx="1068810" cy="1060107"/>
          </a:xfrm>
          <a:prstGeom prst="rect">
            <a:avLst/>
          </a:prstGeom>
        </p:spPr>
      </p:pic>
      <p:sp>
        <p:nvSpPr>
          <p:cNvPr id="50" name="テキスト ボックス 49">
            <a:extLst>
              <a:ext uri="{FF2B5EF4-FFF2-40B4-BE49-F238E27FC236}">
                <a16:creationId xmlns:a16="http://schemas.microsoft.com/office/drawing/2014/main" id="{9E529396-156F-55A0-24A1-E3F30C8D079F}"/>
              </a:ext>
            </a:extLst>
          </p:cNvPr>
          <p:cNvSpPr txBox="1"/>
          <p:nvPr/>
        </p:nvSpPr>
        <p:spPr>
          <a:xfrm>
            <a:off x="2607260" y="6011736"/>
            <a:ext cx="1740223" cy="430887"/>
          </a:xfrm>
          <a:prstGeom prst="rect">
            <a:avLst/>
          </a:prstGeom>
          <a:noFill/>
        </p:spPr>
        <p:txBody>
          <a:bodyPr wrap="square">
            <a:spAutoFit/>
          </a:bodyPr>
          <a:lstStyle/>
          <a:p>
            <a:r>
              <a:rPr lang="ja-JP" altLang="ja-JP" sz="1050" b="1" dirty="0">
                <a:latin typeface="メイリオ" panose="020B0604030504040204" pitchFamily="50" charset="-128"/>
                <a:ea typeface="メイリオ" panose="020B0604030504040204" pitchFamily="50" charset="-128"/>
              </a:rPr>
              <a:t>QRコードを読み取って</a:t>
            </a:r>
            <a:endParaRPr lang="en-US" altLang="ja-JP" sz="1050" b="1" dirty="0">
              <a:latin typeface="メイリオ" panose="020B0604030504040204" pitchFamily="50" charset="-128"/>
              <a:ea typeface="メイリオ" panose="020B0604030504040204" pitchFamily="50" charset="-128"/>
            </a:endParaRPr>
          </a:p>
          <a:p>
            <a:r>
              <a:rPr lang="ja-JP" altLang="ja-JP" sz="1050" b="1" dirty="0">
                <a:latin typeface="メイリオ" panose="020B0604030504040204" pitchFamily="50" charset="-128"/>
                <a:ea typeface="メイリオ" panose="020B0604030504040204" pitchFamily="50" charset="-128"/>
              </a:rPr>
              <a:t>動画を見る（約22秒）</a:t>
            </a:r>
            <a:endParaRPr lang="en-US" altLang="ja-JP" sz="1050" b="1" dirty="0">
              <a:latin typeface="メイリオ" panose="020B0604030504040204" pitchFamily="50" charset="-128"/>
              <a:ea typeface="メイリオ" panose="020B0604030504040204" pitchFamily="50" charset="-128"/>
            </a:endParaRPr>
          </a:p>
        </p:txBody>
      </p:sp>
      <p:sp>
        <p:nvSpPr>
          <p:cNvPr id="52" name="テキスト ボックス 51">
            <a:extLst>
              <a:ext uri="{FF2B5EF4-FFF2-40B4-BE49-F238E27FC236}">
                <a16:creationId xmlns:a16="http://schemas.microsoft.com/office/drawing/2014/main" id="{FA39FB9E-0354-C79E-71A4-67DB6A28B75A}"/>
              </a:ext>
            </a:extLst>
          </p:cNvPr>
          <p:cNvSpPr txBox="1"/>
          <p:nvPr/>
        </p:nvSpPr>
        <p:spPr>
          <a:xfrm>
            <a:off x="4032248" y="5546685"/>
            <a:ext cx="869321" cy="276999"/>
          </a:xfrm>
          <a:prstGeom prst="rect">
            <a:avLst/>
          </a:prstGeom>
          <a:solidFill>
            <a:schemeClr val="tx2"/>
          </a:solidFill>
        </p:spPr>
        <p:txBody>
          <a:bodyPr wrap="square">
            <a:spAutoFit/>
          </a:bodyPr>
          <a:lstStyle/>
          <a:p>
            <a:r>
              <a:rPr lang="ja-JP" altLang="en-US" sz="1200" dirty="0">
                <a:solidFill>
                  <a:schemeClr val="bg1"/>
                </a:solidFill>
                <a:latin typeface="メイリオ" panose="020B0604030504040204" pitchFamily="50" charset="-128"/>
                <a:ea typeface="メイリオ" panose="020B0604030504040204" pitchFamily="50" charset="-128"/>
                <a:hlinkClick r:id="rId11">
                  <a:extLst>
                    <a:ext uri="{A12FA001-AC4F-418D-AE19-62706E023703}">
                      <ahyp:hlinkClr xmlns:ahyp="http://schemas.microsoft.com/office/drawing/2018/hyperlinkcolor" val="tx"/>
                    </a:ext>
                  </a:extLst>
                </a:hlinkClick>
              </a:rPr>
              <a:t>再生</a:t>
            </a:r>
            <a:r>
              <a:rPr lang="ja-JP" altLang="en-US" sz="1200" dirty="0">
                <a:solidFill>
                  <a:srgbClr val="0000FF"/>
                </a:solidFill>
                <a:latin typeface="メイリオ" panose="020B0604030504040204" pitchFamily="50" charset="-128"/>
                <a:ea typeface="メイリオ" panose="020B0604030504040204" pitchFamily="50" charset="-128"/>
                <a:hlinkClick r:id="rId11">
                  <a:extLst>
                    <a:ext uri="{A12FA001-AC4F-418D-AE19-62706E023703}">
                      <ahyp:hlinkClr xmlns:ahyp="http://schemas.microsoft.com/office/drawing/2018/hyperlinkcolor" val="tx"/>
                    </a:ext>
                  </a:extLst>
                </a:hlinkClick>
              </a:rPr>
              <a:t> </a:t>
            </a:r>
            <a:r>
              <a:rPr lang="en-US" altLang="ja-JP" sz="1200" dirty="0">
                <a:solidFill>
                  <a:schemeClr val="bg1"/>
                </a:solidFill>
                <a:latin typeface="メイリオ" panose="020B0604030504040204" pitchFamily="50" charset="-128"/>
                <a:ea typeface="メイリオ" panose="020B0604030504040204" pitchFamily="50" charset="-128"/>
                <a:hlinkClick r:id="rId11">
                  <a:extLst>
                    <a:ext uri="{A12FA001-AC4F-418D-AE19-62706E023703}">
                      <ahyp:hlinkClr xmlns:ahyp="http://schemas.microsoft.com/office/drawing/2018/hyperlinkcolor" val="tx"/>
                    </a:ext>
                  </a:extLst>
                </a:hlinkClick>
              </a:rPr>
              <a:t>[▷]</a:t>
            </a:r>
            <a:endParaRPr lang="ja-JP" altLang="en-US" sz="1200" dirty="0">
              <a:solidFill>
                <a:schemeClr val="bg1"/>
              </a:solidFill>
              <a:latin typeface="メイリオ" panose="020B0604030504040204" pitchFamily="50" charset="-128"/>
              <a:ea typeface="メイリオ" panose="020B0604030504040204" pitchFamily="50" charset="-128"/>
            </a:endParaRPr>
          </a:p>
        </p:txBody>
      </p:sp>
      <p:sp>
        <p:nvSpPr>
          <p:cNvPr id="54" name="テキスト ボックス 53">
            <a:extLst>
              <a:ext uri="{FF2B5EF4-FFF2-40B4-BE49-F238E27FC236}">
                <a16:creationId xmlns:a16="http://schemas.microsoft.com/office/drawing/2014/main" id="{C2099EF7-D4DC-D52C-E0A5-F84C559A9E47}"/>
              </a:ext>
            </a:extLst>
          </p:cNvPr>
          <p:cNvSpPr txBox="1"/>
          <p:nvPr/>
        </p:nvSpPr>
        <p:spPr>
          <a:xfrm>
            <a:off x="2648894" y="5570417"/>
            <a:ext cx="1740223" cy="253916"/>
          </a:xfrm>
          <a:prstGeom prst="rect">
            <a:avLst/>
          </a:prstGeom>
          <a:noFill/>
        </p:spPr>
        <p:txBody>
          <a:bodyPr wrap="square">
            <a:spAutoFit/>
          </a:bodyPr>
          <a:lstStyle/>
          <a:p>
            <a:r>
              <a:rPr lang="ja-JP" altLang="en-US" sz="1050" b="1" dirty="0">
                <a:latin typeface="メイリオ" panose="020B0604030504040204" pitchFamily="50" charset="-128"/>
                <a:ea typeface="メイリオ" panose="020B0604030504040204" pitchFamily="50" charset="-128"/>
              </a:rPr>
              <a:t>クリックして再生</a:t>
            </a:r>
            <a:endParaRPr lang="en-US" altLang="ja-JP" sz="1050" b="1" dirty="0">
              <a:latin typeface="メイリオ" panose="020B0604030504040204" pitchFamily="50" charset="-128"/>
              <a:ea typeface="メイリオ" panose="020B0604030504040204" pitchFamily="50" charset="-128"/>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1"/>
          <p:cNvSpPr txBox="1"/>
          <p:nvPr/>
        </p:nvSpPr>
        <p:spPr>
          <a:xfrm>
            <a:off x="549000" y="138240"/>
            <a:ext cx="6516000" cy="338040"/>
          </a:xfrm>
          <a:prstGeom prst="rect">
            <a:avLst/>
          </a:prstGeom>
          <a:noFill/>
        </p:spPr>
        <p:txBody>
          <a:bodyPr wrap="square" lIns="91425" tIns="45700" rIns="91425" bIns="45700" anchor="ctr">
            <a:spAutoFit/>
          </a:bodyPr>
          <a:lstStyle/>
          <a:p>
            <a:pPr algn="l"/>
            <a:r>
              <a:rPr sz="1600" b="1" dirty="0" err="1">
                <a:solidFill>
                  <a:srgbClr val="323366"/>
                </a:solidFill>
                <a:latin typeface="メイリオ"/>
                <a:ea typeface="メイリオ"/>
                <a:cs typeface="メイリオ"/>
              </a:rPr>
              <a:t>施策①｜サンクスLINE誘導の導入実績（人材業界）</a:t>
            </a:r>
            <a:endParaRPr sz="1600" b="1" dirty="0">
              <a:solidFill>
                <a:srgbClr val="323366"/>
              </a:solidFill>
              <a:latin typeface="メイリオ"/>
              <a:ea typeface="メイリオ"/>
              <a:cs typeface="メイリオ"/>
            </a:endParaRPr>
          </a:p>
        </p:txBody>
      </p:sp>
      <p:sp>
        <p:nvSpPr>
          <p:cNvPr id="4" name="TextBox 2"/>
          <p:cNvSpPr txBox="1"/>
          <p:nvPr/>
        </p:nvSpPr>
        <p:spPr>
          <a:xfrm>
            <a:off x="644865" y="817378"/>
            <a:ext cx="9111472" cy="345243"/>
          </a:xfrm>
          <a:prstGeom prst="rect">
            <a:avLst/>
          </a:prstGeom>
          <a:noFill/>
        </p:spPr>
        <p:txBody>
          <a:bodyPr wrap="square" lIns="0" tIns="21600" rIns="0" bIns="21600" anchor="ctr">
            <a:spAutoFit/>
          </a:bodyPr>
          <a:lstStyle/>
          <a:p>
            <a:pPr algn="l">
              <a:lnSpc>
                <a:spcPct val="130000"/>
              </a:lnSpc>
            </a:pPr>
            <a:r>
              <a:rPr sz="1600" dirty="0" err="1">
                <a:solidFill>
                  <a:srgbClr val="333333"/>
                </a:solidFill>
                <a:latin typeface="メイリオ"/>
                <a:ea typeface="メイリオ"/>
                <a:cs typeface="メイリオ"/>
              </a:rPr>
              <a:t>人材業界での導入実績（DYM）と、横浜シミズでの使い方（補助の入口）</a:t>
            </a:r>
            <a:endParaRPr sz="1050" dirty="0">
              <a:solidFill>
                <a:srgbClr val="333333"/>
              </a:solidFill>
              <a:latin typeface="メイリオ"/>
              <a:ea typeface="メイリオ"/>
              <a:cs typeface="メイリオ"/>
            </a:endParaRPr>
          </a:p>
        </p:txBody>
      </p:sp>
      <p:cxnSp>
        <p:nvCxnSpPr>
          <p:cNvPr id="5" name="Connector 3"/>
          <p:cNvCxnSpPr/>
          <p:nvPr/>
        </p:nvCxnSpPr>
        <p:spPr>
          <a:xfrm>
            <a:off x="0" y="1389600"/>
            <a:ext cx="9906097"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6" name="Rectangle 5"/>
          <p:cNvSpPr/>
          <p:nvPr/>
        </p:nvSpPr>
        <p:spPr>
          <a:xfrm>
            <a:off x="644400" y="1548000"/>
            <a:ext cx="8629200" cy="1386000"/>
          </a:xfrm>
          <a:prstGeom prst="rect">
            <a:avLst/>
          </a:prstGeom>
          <a:solidFill>
            <a:srgbClr val="FFFFFF"/>
          </a:solidFill>
          <a:ln w="12700">
            <a:solidFill>
              <a:srgbClr val="D9D9D9"/>
            </a:solidFill>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endParaRPr/>
          </a:p>
        </p:txBody>
      </p:sp>
      <p:sp>
        <p:nvSpPr>
          <p:cNvPr id="16" name="TextBox 15"/>
          <p:cNvSpPr txBox="1"/>
          <p:nvPr/>
        </p:nvSpPr>
        <p:spPr>
          <a:xfrm>
            <a:off x="644400" y="3078000"/>
            <a:ext cx="3780000" cy="270000"/>
          </a:xfrm>
          <a:prstGeom prst="rect">
            <a:avLst/>
          </a:prstGeom>
          <a:noFill/>
        </p:spPr>
        <p:txBody>
          <a:bodyPr wrap="square" lIns="36000" tIns="18000" rIns="36000" bIns="18000" anchor="ctr">
            <a:spAutoFit/>
          </a:bodyPr>
          <a:lstStyle/>
          <a:p>
            <a:pPr algn="l">
              <a:lnSpc>
                <a:spcPct val="110000"/>
              </a:lnSpc>
              <a:spcAft>
                <a:spcPts val="0"/>
              </a:spcAft>
            </a:pPr>
            <a:r>
              <a:rPr sz="1300" b="1">
                <a:solidFill>
                  <a:srgbClr val="1F285A"/>
                </a:solidFill>
                <a:latin typeface="メイリオ"/>
                <a:ea typeface="メイリオ"/>
                <a:cs typeface="メイリオ"/>
              </a:rPr>
              <a:t>人材業界｜サンクスLINE誘導ツール導入実績</a:t>
            </a:r>
          </a:p>
        </p:txBody>
      </p:sp>
      <p:sp>
        <p:nvSpPr>
          <p:cNvPr id="17" name="Rounded Rectangle 16"/>
          <p:cNvSpPr/>
          <p:nvPr/>
        </p:nvSpPr>
        <p:spPr>
          <a:xfrm>
            <a:off x="4496399" y="3114000"/>
            <a:ext cx="1152000" cy="198000"/>
          </a:xfrm>
          <a:prstGeom prst="roundRect">
            <a:avLst>
              <a:gd name="adj" fmla="val 50000"/>
            </a:avLst>
          </a:prstGeom>
          <a:solidFill>
            <a:srgbClr val="1F285A"/>
          </a:solidFill>
          <a:ln>
            <a:noFill/>
          </a:ln>
          <a:effectLst/>
        </p:spPr>
        <p:style>
          <a:lnRef idx="1">
            <a:schemeClr val="accent1"/>
          </a:lnRef>
          <a:fillRef idx="3">
            <a:schemeClr val="accent1"/>
          </a:fillRef>
          <a:effectRef idx="0">
            <a:schemeClr val="accent1"/>
          </a:effectRef>
          <a:fontRef idx="minor">
            <a:schemeClr val="lt1"/>
          </a:fontRef>
        </p:style>
        <p:txBody>
          <a:bodyPr wrap="square" lIns="18000" tIns="0" rIns="18000" bIns="0" rtlCol="0" anchor="ctr"/>
          <a:lstStyle/>
          <a:p>
            <a:pPr algn="ctr">
              <a:lnSpc>
                <a:spcPct val="110000"/>
              </a:lnSpc>
              <a:spcAft>
                <a:spcPts val="0"/>
              </a:spcAft>
            </a:pPr>
            <a:r>
              <a:rPr sz="850" b="1">
                <a:solidFill>
                  <a:srgbClr val="FFFFFF"/>
                </a:solidFill>
                <a:latin typeface="メイリオ"/>
                <a:ea typeface="メイリオ"/>
                <a:cs typeface="メイリオ"/>
              </a:rPr>
              <a:t>DYMの導入実績</a:t>
            </a:r>
          </a:p>
        </p:txBody>
      </p:sp>
      <p:sp>
        <p:nvSpPr>
          <p:cNvPr id="18" name="Rectangle 17"/>
          <p:cNvSpPr/>
          <p:nvPr/>
        </p:nvSpPr>
        <p:spPr>
          <a:xfrm>
            <a:off x="644400" y="3401999"/>
            <a:ext cx="2880000" cy="2070000"/>
          </a:xfrm>
          <a:prstGeom prst="rect">
            <a:avLst/>
          </a:prstGeom>
          <a:solidFill>
            <a:srgbClr val="FFFFFF"/>
          </a:solidFill>
          <a:ln w="12700">
            <a:solidFill>
              <a:srgbClr val="D9D9D9"/>
            </a:solidFill>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endParaRPr/>
          </a:p>
        </p:txBody>
      </p:sp>
      <p:sp>
        <p:nvSpPr>
          <p:cNvPr id="19" name="Rectangle 18"/>
          <p:cNvSpPr/>
          <p:nvPr/>
        </p:nvSpPr>
        <p:spPr>
          <a:xfrm>
            <a:off x="644400" y="3401999"/>
            <a:ext cx="2880000" cy="270000"/>
          </a:xfrm>
          <a:prstGeom prst="rect">
            <a:avLst/>
          </a:prstGeom>
          <a:solidFill>
            <a:srgbClr val="E4E8F6"/>
          </a:solidFill>
          <a:ln>
            <a:noFill/>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lnSpc>
                <a:spcPct val="110000"/>
              </a:lnSpc>
              <a:spcAft>
                <a:spcPts val="0"/>
              </a:spcAft>
            </a:pPr>
            <a:r>
              <a:rPr sz="1150" b="1">
                <a:solidFill>
                  <a:srgbClr val="1F285A"/>
                </a:solidFill>
                <a:latin typeface="メイリオ"/>
                <a:ea typeface="メイリオ"/>
                <a:cs typeface="メイリオ"/>
              </a:rPr>
              <a:t>① 導入前後3か月比較</a:t>
            </a:r>
          </a:p>
        </p:txBody>
      </p:sp>
      <p:sp>
        <p:nvSpPr>
          <p:cNvPr id="20" name="TextBox 19"/>
          <p:cNvSpPr txBox="1"/>
          <p:nvPr/>
        </p:nvSpPr>
        <p:spPr>
          <a:xfrm>
            <a:off x="752400" y="3761999"/>
            <a:ext cx="1188000" cy="162000"/>
          </a:xfrm>
          <a:prstGeom prst="rect">
            <a:avLst/>
          </a:prstGeom>
          <a:noFill/>
        </p:spPr>
        <p:txBody>
          <a:bodyPr wrap="square" lIns="36000" tIns="18000" rIns="36000" bIns="18000" anchor="t">
            <a:spAutoFit/>
          </a:bodyPr>
          <a:lstStyle/>
          <a:p>
            <a:pPr algn="ctr">
              <a:lnSpc>
                <a:spcPct val="110000"/>
              </a:lnSpc>
              <a:spcAft>
                <a:spcPts val="0"/>
              </a:spcAft>
            </a:pPr>
            <a:r>
              <a:rPr sz="950" b="0">
                <a:solidFill>
                  <a:srgbClr val="7F7F7F"/>
                </a:solidFill>
                <a:latin typeface="メイリオ"/>
                <a:ea typeface="メイリオ"/>
                <a:cs typeface="メイリオ"/>
              </a:rPr>
              <a:t>導入前</a:t>
            </a:r>
          </a:p>
        </p:txBody>
      </p:sp>
      <p:sp>
        <p:nvSpPr>
          <p:cNvPr id="21" name="TextBox 20"/>
          <p:cNvSpPr txBox="1"/>
          <p:nvPr/>
        </p:nvSpPr>
        <p:spPr>
          <a:xfrm>
            <a:off x="752400" y="3923999"/>
            <a:ext cx="1188000" cy="306000"/>
          </a:xfrm>
          <a:prstGeom prst="rect">
            <a:avLst/>
          </a:prstGeom>
          <a:noFill/>
        </p:spPr>
        <p:txBody>
          <a:bodyPr wrap="square" lIns="36000" tIns="18000" rIns="36000" bIns="18000" anchor="ctr">
            <a:spAutoFit/>
          </a:bodyPr>
          <a:lstStyle/>
          <a:p>
            <a:pPr algn="ctr">
              <a:lnSpc>
                <a:spcPct val="110000"/>
              </a:lnSpc>
              <a:spcAft>
                <a:spcPts val="0"/>
              </a:spcAft>
            </a:pPr>
            <a:r>
              <a:rPr sz="1700" b="1">
                <a:solidFill>
                  <a:srgbClr val="333333"/>
                </a:solidFill>
                <a:latin typeface="メイリオ"/>
                <a:ea typeface="メイリオ"/>
                <a:cs typeface="メイリオ"/>
              </a:rPr>
              <a:t>1,532人</a:t>
            </a:r>
          </a:p>
        </p:txBody>
      </p:sp>
      <p:sp>
        <p:nvSpPr>
          <p:cNvPr id="22" name="Right Arrow 21"/>
          <p:cNvSpPr/>
          <p:nvPr/>
        </p:nvSpPr>
        <p:spPr>
          <a:xfrm>
            <a:off x="1958400" y="3977999"/>
            <a:ext cx="251999" cy="198000"/>
          </a:xfrm>
          <a:prstGeom prst="rightArrow">
            <a:avLst>
              <a:gd name="adj1" fmla="val 40000"/>
              <a:gd name="adj2" fmla="val 50000"/>
            </a:avLst>
          </a:prstGeom>
          <a:solidFill>
            <a:srgbClr val="1F285A"/>
          </a:solidFill>
          <a:ln>
            <a:noFill/>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endParaRPr/>
          </a:p>
        </p:txBody>
      </p:sp>
      <p:sp>
        <p:nvSpPr>
          <p:cNvPr id="23" name="TextBox 22"/>
          <p:cNvSpPr txBox="1"/>
          <p:nvPr/>
        </p:nvSpPr>
        <p:spPr>
          <a:xfrm>
            <a:off x="2228399" y="3761999"/>
            <a:ext cx="1188000" cy="162000"/>
          </a:xfrm>
          <a:prstGeom prst="rect">
            <a:avLst/>
          </a:prstGeom>
          <a:noFill/>
        </p:spPr>
        <p:txBody>
          <a:bodyPr wrap="square" lIns="36000" tIns="18000" rIns="36000" bIns="18000" anchor="t">
            <a:spAutoFit/>
          </a:bodyPr>
          <a:lstStyle/>
          <a:p>
            <a:pPr algn="ctr">
              <a:lnSpc>
                <a:spcPct val="110000"/>
              </a:lnSpc>
              <a:spcAft>
                <a:spcPts val="0"/>
              </a:spcAft>
            </a:pPr>
            <a:r>
              <a:rPr sz="950" b="0">
                <a:solidFill>
                  <a:srgbClr val="7F7F7F"/>
                </a:solidFill>
                <a:latin typeface="メイリオ"/>
                <a:ea typeface="メイリオ"/>
                <a:cs typeface="メイリオ"/>
              </a:rPr>
              <a:t>導入後</a:t>
            </a:r>
          </a:p>
        </p:txBody>
      </p:sp>
      <p:sp>
        <p:nvSpPr>
          <p:cNvPr id="24" name="TextBox 23"/>
          <p:cNvSpPr txBox="1"/>
          <p:nvPr/>
        </p:nvSpPr>
        <p:spPr>
          <a:xfrm>
            <a:off x="2228399" y="3923999"/>
            <a:ext cx="1188000" cy="306000"/>
          </a:xfrm>
          <a:prstGeom prst="rect">
            <a:avLst/>
          </a:prstGeom>
          <a:noFill/>
        </p:spPr>
        <p:txBody>
          <a:bodyPr wrap="square" lIns="36000" tIns="18000" rIns="36000" bIns="18000" anchor="ctr">
            <a:spAutoFit/>
          </a:bodyPr>
          <a:lstStyle/>
          <a:p>
            <a:pPr algn="ctr">
              <a:lnSpc>
                <a:spcPct val="110000"/>
              </a:lnSpc>
              <a:spcAft>
                <a:spcPts val="0"/>
              </a:spcAft>
            </a:pPr>
            <a:r>
              <a:rPr sz="1700" b="1">
                <a:solidFill>
                  <a:srgbClr val="1F285A"/>
                </a:solidFill>
                <a:latin typeface="メイリオ"/>
                <a:ea typeface="メイリオ"/>
                <a:cs typeface="メイリオ"/>
              </a:rPr>
              <a:t>2,103人</a:t>
            </a:r>
          </a:p>
        </p:txBody>
      </p:sp>
      <p:cxnSp>
        <p:nvCxnSpPr>
          <p:cNvPr id="25" name="Connector 24"/>
          <p:cNvCxnSpPr/>
          <p:nvPr/>
        </p:nvCxnSpPr>
        <p:spPr>
          <a:xfrm>
            <a:off x="788400" y="4320000"/>
            <a:ext cx="2591999" cy="0"/>
          </a:xfrm>
          <a:prstGeom prst="line">
            <a:avLst/>
          </a:prstGeom>
          <a:ln w="9525">
            <a:solidFill>
              <a:srgbClr val="D9D9D9"/>
            </a:solidFill>
          </a:ln>
        </p:spPr>
        <p:style>
          <a:lnRef idx="2">
            <a:schemeClr val="accent1"/>
          </a:lnRef>
          <a:fillRef idx="0">
            <a:schemeClr val="accent1"/>
          </a:fillRef>
          <a:effectRef idx="0">
            <a:schemeClr val="accent1"/>
          </a:effectRef>
          <a:fontRef idx="minor">
            <a:schemeClr val="tx1"/>
          </a:fontRef>
        </p:style>
      </p:cxnSp>
      <p:sp>
        <p:nvSpPr>
          <p:cNvPr id="26" name="TextBox 25"/>
          <p:cNvSpPr txBox="1"/>
          <p:nvPr/>
        </p:nvSpPr>
        <p:spPr>
          <a:xfrm>
            <a:off x="716400" y="4373999"/>
            <a:ext cx="2736000" cy="576000"/>
          </a:xfrm>
          <a:prstGeom prst="rect">
            <a:avLst/>
          </a:prstGeom>
          <a:noFill/>
        </p:spPr>
        <p:txBody>
          <a:bodyPr wrap="square" lIns="36000" tIns="10800" rIns="36000" bIns="10800" anchor="ctr">
            <a:spAutoFit/>
          </a:bodyPr>
          <a:lstStyle/>
          <a:p>
            <a:pPr algn="ctr">
              <a:lnSpc>
                <a:spcPct val="105000"/>
              </a:lnSpc>
              <a:spcAft>
                <a:spcPts val="200"/>
              </a:spcAft>
            </a:pPr>
            <a:r>
              <a:rPr sz="1100" b="1">
                <a:solidFill>
                  <a:srgbClr val="333333"/>
                </a:solidFill>
                <a:latin typeface="メイリオ"/>
                <a:ea typeface="メイリオ"/>
                <a:cs typeface="メイリオ"/>
              </a:rPr>
              <a:t>導入前比 </a:t>
            </a:r>
            <a:r>
              <a:rPr sz="3000" b="1">
                <a:solidFill>
                  <a:srgbClr val="1F285A"/>
                </a:solidFill>
                <a:latin typeface="メイリオ"/>
                <a:ea typeface="メイリオ"/>
                <a:cs typeface="メイリオ"/>
              </a:rPr>
              <a:t>137.3%</a:t>
            </a:r>
          </a:p>
        </p:txBody>
      </p:sp>
      <p:sp>
        <p:nvSpPr>
          <p:cNvPr id="27" name="TextBox 26"/>
          <p:cNvSpPr txBox="1"/>
          <p:nvPr/>
        </p:nvSpPr>
        <p:spPr>
          <a:xfrm>
            <a:off x="716400" y="4986000"/>
            <a:ext cx="2736000" cy="288000"/>
          </a:xfrm>
          <a:prstGeom prst="rect">
            <a:avLst/>
          </a:prstGeom>
          <a:noFill/>
        </p:spPr>
        <p:txBody>
          <a:bodyPr wrap="square" lIns="36000" tIns="10800" rIns="36000" bIns="10800" anchor="ctr">
            <a:spAutoFit/>
          </a:bodyPr>
          <a:lstStyle/>
          <a:p>
            <a:pPr algn="ctr">
              <a:lnSpc>
                <a:spcPct val="105000"/>
              </a:lnSpc>
              <a:spcAft>
                <a:spcPts val="200"/>
              </a:spcAft>
            </a:pPr>
            <a:r>
              <a:rPr sz="950" b="0">
                <a:solidFill>
                  <a:srgbClr val="7F7F7F"/>
                </a:solidFill>
                <a:latin typeface="メイリオ"/>
                <a:ea typeface="メイリオ"/>
                <a:cs typeface="メイリオ"/>
              </a:rPr>
              <a:t>増加数 </a:t>
            </a:r>
            <a:r>
              <a:rPr sz="1500" b="1">
                <a:solidFill>
                  <a:srgbClr val="0B7A3B"/>
                </a:solidFill>
                <a:latin typeface="メイリオ"/>
                <a:ea typeface="メイリオ"/>
                <a:cs typeface="メイリオ"/>
              </a:rPr>
              <a:t>+571人</a:t>
            </a:r>
          </a:p>
        </p:txBody>
      </p:sp>
      <p:sp>
        <p:nvSpPr>
          <p:cNvPr id="28" name="Rectangle 27"/>
          <p:cNvSpPr/>
          <p:nvPr/>
        </p:nvSpPr>
        <p:spPr>
          <a:xfrm>
            <a:off x="3632400" y="3401999"/>
            <a:ext cx="2880000" cy="2070000"/>
          </a:xfrm>
          <a:prstGeom prst="rect">
            <a:avLst/>
          </a:prstGeom>
          <a:solidFill>
            <a:srgbClr val="FFFFFF"/>
          </a:solidFill>
          <a:ln w="12700">
            <a:solidFill>
              <a:srgbClr val="D9D9D9"/>
            </a:solidFill>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endParaRPr/>
          </a:p>
        </p:txBody>
      </p:sp>
      <p:sp>
        <p:nvSpPr>
          <p:cNvPr id="29" name="Rectangle 28"/>
          <p:cNvSpPr/>
          <p:nvPr/>
        </p:nvSpPr>
        <p:spPr>
          <a:xfrm>
            <a:off x="3632400" y="3401999"/>
            <a:ext cx="2880000" cy="270000"/>
          </a:xfrm>
          <a:prstGeom prst="rect">
            <a:avLst/>
          </a:prstGeom>
          <a:solidFill>
            <a:srgbClr val="E4E8F6"/>
          </a:solidFill>
          <a:ln>
            <a:noFill/>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lnSpc>
                <a:spcPct val="110000"/>
              </a:lnSpc>
              <a:spcAft>
                <a:spcPts val="0"/>
              </a:spcAft>
            </a:pPr>
            <a:r>
              <a:rPr sz="1150" b="1">
                <a:solidFill>
                  <a:srgbClr val="1F285A"/>
                </a:solidFill>
                <a:latin typeface="メイリオ"/>
                <a:ea typeface="メイリオ"/>
                <a:cs typeface="メイリオ"/>
              </a:rPr>
              <a:t>② 前年同期間比較</a:t>
            </a:r>
          </a:p>
        </p:txBody>
      </p:sp>
      <p:sp>
        <p:nvSpPr>
          <p:cNvPr id="30" name="TextBox 29"/>
          <p:cNvSpPr txBox="1"/>
          <p:nvPr/>
        </p:nvSpPr>
        <p:spPr>
          <a:xfrm>
            <a:off x="3740400" y="3761999"/>
            <a:ext cx="1188000" cy="162000"/>
          </a:xfrm>
          <a:prstGeom prst="rect">
            <a:avLst/>
          </a:prstGeom>
          <a:noFill/>
        </p:spPr>
        <p:txBody>
          <a:bodyPr wrap="square" lIns="36000" tIns="18000" rIns="36000" bIns="18000" anchor="t">
            <a:spAutoFit/>
          </a:bodyPr>
          <a:lstStyle/>
          <a:p>
            <a:pPr algn="ctr">
              <a:lnSpc>
                <a:spcPct val="110000"/>
              </a:lnSpc>
              <a:spcAft>
                <a:spcPts val="0"/>
              </a:spcAft>
            </a:pPr>
            <a:r>
              <a:rPr sz="950" b="0">
                <a:solidFill>
                  <a:srgbClr val="7F7F7F"/>
                </a:solidFill>
                <a:latin typeface="メイリオ"/>
                <a:ea typeface="メイリオ"/>
                <a:cs typeface="メイリオ"/>
              </a:rPr>
              <a:t>2025年7〜9月</a:t>
            </a:r>
          </a:p>
        </p:txBody>
      </p:sp>
      <p:sp>
        <p:nvSpPr>
          <p:cNvPr id="31" name="TextBox 30"/>
          <p:cNvSpPr txBox="1"/>
          <p:nvPr/>
        </p:nvSpPr>
        <p:spPr>
          <a:xfrm>
            <a:off x="3740400" y="3923999"/>
            <a:ext cx="1188000" cy="306000"/>
          </a:xfrm>
          <a:prstGeom prst="rect">
            <a:avLst/>
          </a:prstGeom>
          <a:noFill/>
        </p:spPr>
        <p:txBody>
          <a:bodyPr wrap="square" lIns="36000" tIns="18000" rIns="36000" bIns="18000" anchor="ctr">
            <a:spAutoFit/>
          </a:bodyPr>
          <a:lstStyle/>
          <a:p>
            <a:pPr algn="ctr">
              <a:lnSpc>
                <a:spcPct val="110000"/>
              </a:lnSpc>
              <a:spcAft>
                <a:spcPts val="0"/>
              </a:spcAft>
            </a:pPr>
            <a:r>
              <a:rPr sz="1700" b="1">
                <a:solidFill>
                  <a:srgbClr val="333333"/>
                </a:solidFill>
                <a:latin typeface="メイリオ"/>
                <a:ea typeface="メイリオ"/>
                <a:cs typeface="メイリオ"/>
              </a:rPr>
              <a:t>1,650人</a:t>
            </a:r>
          </a:p>
        </p:txBody>
      </p:sp>
      <p:sp>
        <p:nvSpPr>
          <p:cNvPr id="32" name="Right Arrow 31"/>
          <p:cNvSpPr/>
          <p:nvPr/>
        </p:nvSpPr>
        <p:spPr>
          <a:xfrm>
            <a:off x="4946400" y="3977999"/>
            <a:ext cx="251999" cy="198000"/>
          </a:xfrm>
          <a:prstGeom prst="rightArrow">
            <a:avLst>
              <a:gd name="adj1" fmla="val 40000"/>
              <a:gd name="adj2" fmla="val 50000"/>
            </a:avLst>
          </a:prstGeom>
          <a:solidFill>
            <a:srgbClr val="1F285A"/>
          </a:solidFill>
          <a:ln>
            <a:noFill/>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endParaRPr/>
          </a:p>
        </p:txBody>
      </p:sp>
      <p:sp>
        <p:nvSpPr>
          <p:cNvPr id="33" name="TextBox 32"/>
          <p:cNvSpPr txBox="1"/>
          <p:nvPr/>
        </p:nvSpPr>
        <p:spPr>
          <a:xfrm>
            <a:off x="5216399" y="3761999"/>
            <a:ext cx="1188000" cy="162000"/>
          </a:xfrm>
          <a:prstGeom prst="rect">
            <a:avLst/>
          </a:prstGeom>
          <a:noFill/>
        </p:spPr>
        <p:txBody>
          <a:bodyPr wrap="square" lIns="36000" tIns="18000" rIns="36000" bIns="18000" anchor="t">
            <a:spAutoFit/>
          </a:bodyPr>
          <a:lstStyle/>
          <a:p>
            <a:pPr algn="ctr">
              <a:lnSpc>
                <a:spcPct val="110000"/>
              </a:lnSpc>
              <a:spcAft>
                <a:spcPts val="0"/>
              </a:spcAft>
            </a:pPr>
            <a:r>
              <a:rPr sz="950" b="0">
                <a:solidFill>
                  <a:srgbClr val="7F7F7F"/>
                </a:solidFill>
                <a:latin typeface="メイリオ"/>
                <a:ea typeface="メイリオ"/>
                <a:cs typeface="メイリオ"/>
              </a:rPr>
              <a:t>2026年7〜9月</a:t>
            </a:r>
          </a:p>
        </p:txBody>
      </p:sp>
      <p:sp>
        <p:nvSpPr>
          <p:cNvPr id="34" name="TextBox 33"/>
          <p:cNvSpPr txBox="1"/>
          <p:nvPr/>
        </p:nvSpPr>
        <p:spPr>
          <a:xfrm>
            <a:off x="5216399" y="3923999"/>
            <a:ext cx="1188000" cy="306000"/>
          </a:xfrm>
          <a:prstGeom prst="rect">
            <a:avLst/>
          </a:prstGeom>
          <a:noFill/>
        </p:spPr>
        <p:txBody>
          <a:bodyPr wrap="square" lIns="36000" tIns="18000" rIns="36000" bIns="18000" anchor="ctr">
            <a:spAutoFit/>
          </a:bodyPr>
          <a:lstStyle/>
          <a:p>
            <a:pPr algn="ctr">
              <a:lnSpc>
                <a:spcPct val="110000"/>
              </a:lnSpc>
              <a:spcAft>
                <a:spcPts val="0"/>
              </a:spcAft>
            </a:pPr>
            <a:r>
              <a:rPr sz="1700" b="1">
                <a:solidFill>
                  <a:srgbClr val="1F285A"/>
                </a:solidFill>
                <a:latin typeface="メイリオ"/>
                <a:ea typeface="メイリオ"/>
                <a:cs typeface="メイリオ"/>
              </a:rPr>
              <a:t>2,103人</a:t>
            </a:r>
          </a:p>
        </p:txBody>
      </p:sp>
      <p:cxnSp>
        <p:nvCxnSpPr>
          <p:cNvPr id="35" name="Connector 34"/>
          <p:cNvCxnSpPr/>
          <p:nvPr/>
        </p:nvCxnSpPr>
        <p:spPr>
          <a:xfrm>
            <a:off x="3776400" y="4320000"/>
            <a:ext cx="2592000" cy="0"/>
          </a:xfrm>
          <a:prstGeom prst="line">
            <a:avLst/>
          </a:prstGeom>
          <a:ln w="9525">
            <a:solidFill>
              <a:srgbClr val="D9D9D9"/>
            </a:solidFill>
          </a:ln>
        </p:spPr>
        <p:style>
          <a:lnRef idx="2">
            <a:schemeClr val="accent1"/>
          </a:lnRef>
          <a:fillRef idx="0">
            <a:schemeClr val="accent1"/>
          </a:fillRef>
          <a:effectRef idx="0">
            <a:schemeClr val="accent1"/>
          </a:effectRef>
          <a:fontRef idx="minor">
            <a:schemeClr val="tx1"/>
          </a:fontRef>
        </p:style>
      </p:cxnSp>
      <p:sp>
        <p:nvSpPr>
          <p:cNvPr id="36" name="TextBox 35"/>
          <p:cNvSpPr txBox="1"/>
          <p:nvPr/>
        </p:nvSpPr>
        <p:spPr>
          <a:xfrm>
            <a:off x="3704399" y="4373999"/>
            <a:ext cx="2736000" cy="576000"/>
          </a:xfrm>
          <a:prstGeom prst="rect">
            <a:avLst/>
          </a:prstGeom>
          <a:noFill/>
        </p:spPr>
        <p:txBody>
          <a:bodyPr wrap="square" lIns="36000" tIns="10800" rIns="36000" bIns="10800" anchor="ctr">
            <a:spAutoFit/>
          </a:bodyPr>
          <a:lstStyle/>
          <a:p>
            <a:pPr algn="ctr">
              <a:lnSpc>
                <a:spcPct val="105000"/>
              </a:lnSpc>
              <a:spcAft>
                <a:spcPts val="200"/>
              </a:spcAft>
            </a:pPr>
            <a:r>
              <a:rPr sz="1100" b="1">
                <a:solidFill>
                  <a:srgbClr val="333333"/>
                </a:solidFill>
                <a:latin typeface="メイリオ"/>
                <a:ea typeface="メイリオ"/>
                <a:cs typeface="メイリオ"/>
              </a:rPr>
              <a:t>前年比 </a:t>
            </a:r>
            <a:r>
              <a:rPr sz="3000" b="1">
                <a:solidFill>
                  <a:srgbClr val="1F285A"/>
                </a:solidFill>
                <a:latin typeface="メイリオ"/>
                <a:ea typeface="メイリオ"/>
                <a:cs typeface="メイリオ"/>
              </a:rPr>
              <a:t>127.5%</a:t>
            </a:r>
          </a:p>
        </p:txBody>
      </p:sp>
      <p:sp>
        <p:nvSpPr>
          <p:cNvPr id="37" name="TextBox 36"/>
          <p:cNvSpPr txBox="1"/>
          <p:nvPr/>
        </p:nvSpPr>
        <p:spPr>
          <a:xfrm>
            <a:off x="3704399" y="4986000"/>
            <a:ext cx="2736000" cy="288000"/>
          </a:xfrm>
          <a:prstGeom prst="rect">
            <a:avLst/>
          </a:prstGeom>
          <a:noFill/>
        </p:spPr>
        <p:txBody>
          <a:bodyPr wrap="square" lIns="36000" tIns="10800" rIns="36000" bIns="10800" anchor="ctr">
            <a:spAutoFit/>
          </a:bodyPr>
          <a:lstStyle/>
          <a:p>
            <a:pPr algn="ctr">
              <a:lnSpc>
                <a:spcPct val="105000"/>
              </a:lnSpc>
              <a:spcAft>
                <a:spcPts val="200"/>
              </a:spcAft>
            </a:pPr>
            <a:r>
              <a:rPr sz="950" b="0">
                <a:solidFill>
                  <a:srgbClr val="7F7F7F"/>
                </a:solidFill>
                <a:latin typeface="メイリオ"/>
                <a:ea typeface="メイリオ"/>
                <a:cs typeface="メイリオ"/>
              </a:rPr>
              <a:t>増加数 </a:t>
            </a:r>
            <a:r>
              <a:rPr sz="1500" b="1">
                <a:solidFill>
                  <a:srgbClr val="0B7A3B"/>
                </a:solidFill>
                <a:latin typeface="メイリオ"/>
                <a:ea typeface="メイリオ"/>
                <a:cs typeface="メイリオ"/>
              </a:rPr>
              <a:t>+453人</a:t>
            </a:r>
          </a:p>
        </p:txBody>
      </p:sp>
      <p:sp>
        <p:nvSpPr>
          <p:cNvPr id="38" name="TextBox 37"/>
          <p:cNvSpPr txBox="1"/>
          <p:nvPr/>
        </p:nvSpPr>
        <p:spPr>
          <a:xfrm>
            <a:off x="6656399" y="3420000"/>
            <a:ext cx="2617200" cy="162000"/>
          </a:xfrm>
          <a:prstGeom prst="rect">
            <a:avLst/>
          </a:prstGeom>
          <a:noFill/>
        </p:spPr>
        <p:txBody>
          <a:bodyPr wrap="square" lIns="36000" tIns="18000" rIns="36000" bIns="18000" anchor="t">
            <a:spAutoFit/>
          </a:bodyPr>
          <a:lstStyle/>
          <a:p>
            <a:pPr algn="l">
              <a:lnSpc>
                <a:spcPct val="110000"/>
              </a:lnSpc>
              <a:spcAft>
                <a:spcPts val="0"/>
              </a:spcAft>
            </a:pPr>
            <a:r>
              <a:rPr sz="900" b="1">
                <a:solidFill>
                  <a:srgbClr val="7F7F7F"/>
                </a:solidFill>
                <a:latin typeface="メイリオ"/>
                <a:ea typeface="メイリオ"/>
                <a:cs typeface="メイリオ"/>
              </a:rPr>
              <a:t>月別比較（友だち増加数・人）</a:t>
            </a:r>
          </a:p>
        </p:txBody>
      </p:sp>
      <p:sp>
        <p:nvSpPr>
          <p:cNvPr id="39" name="Rectangle 38"/>
          <p:cNvSpPr/>
          <p:nvPr/>
        </p:nvSpPr>
        <p:spPr>
          <a:xfrm>
            <a:off x="6692400" y="3625199"/>
            <a:ext cx="108000" cy="108000"/>
          </a:xfrm>
          <a:prstGeom prst="rect">
            <a:avLst/>
          </a:prstGeom>
          <a:solidFill>
            <a:srgbClr val="8E9BC4"/>
          </a:solidFill>
          <a:ln>
            <a:noFill/>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endParaRPr/>
          </a:p>
        </p:txBody>
      </p:sp>
      <p:sp>
        <p:nvSpPr>
          <p:cNvPr id="40" name="TextBox 39"/>
          <p:cNvSpPr txBox="1"/>
          <p:nvPr/>
        </p:nvSpPr>
        <p:spPr>
          <a:xfrm>
            <a:off x="6818399" y="3571200"/>
            <a:ext cx="684000" cy="216000"/>
          </a:xfrm>
          <a:prstGeom prst="rect">
            <a:avLst/>
          </a:prstGeom>
          <a:noFill/>
        </p:spPr>
        <p:txBody>
          <a:bodyPr wrap="square" lIns="36000" tIns="18000" rIns="36000" bIns="18000" anchor="ctr">
            <a:spAutoFit/>
          </a:bodyPr>
          <a:lstStyle/>
          <a:p>
            <a:pPr algn="l">
              <a:lnSpc>
                <a:spcPct val="110000"/>
              </a:lnSpc>
              <a:spcAft>
                <a:spcPts val="0"/>
              </a:spcAft>
            </a:pPr>
            <a:r>
              <a:rPr sz="800" b="0">
                <a:solidFill>
                  <a:srgbClr val="7F7F7F"/>
                </a:solidFill>
                <a:latin typeface="メイリオ"/>
                <a:ea typeface="メイリオ"/>
                <a:cs typeface="メイリオ"/>
              </a:rPr>
              <a:t>2025年</a:t>
            </a:r>
          </a:p>
        </p:txBody>
      </p:sp>
      <p:sp>
        <p:nvSpPr>
          <p:cNvPr id="41" name="Rectangle 40"/>
          <p:cNvSpPr/>
          <p:nvPr/>
        </p:nvSpPr>
        <p:spPr>
          <a:xfrm>
            <a:off x="7520400" y="3625199"/>
            <a:ext cx="108000" cy="108000"/>
          </a:xfrm>
          <a:prstGeom prst="rect">
            <a:avLst/>
          </a:prstGeom>
          <a:solidFill>
            <a:srgbClr val="1F285A"/>
          </a:solidFill>
          <a:ln>
            <a:noFill/>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endParaRPr/>
          </a:p>
        </p:txBody>
      </p:sp>
      <p:sp>
        <p:nvSpPr>
          <p:cNvPr id="42" name="TextBox 41"/>
          <p:cNvSpPr txBox="1"/>
          <p:nvPr/>
        </p:nvSpPr>
        <p:spPr>
          <a:xfrm>
            <a:off x="7646399" y="3571200"/>
            <a:ext cx="684000" cy="216000"/>
          </a:xfrm>
          <a:prstGeom prst="rect">
            <a:avLst/>
          </a:prstGeom>
          <a:noFill/>
        </p:spPr>
        <p:txBody>
          <a:bodyPr wrap="square" lIns="36000" tIns="18000" rIns="36000" bIns="18000" anchor="ctr">
            <a:spAutoFit/>
          </a:bodyPr>
          <a:lstStyle/>
          <a:p>
            <a:pPr algn="l">
              <a:lnSpc>
                <a:spcPct val="110000"/>
              </a:lnSpc>
              <a:spcAft>
                <a:spcPts val="0"/>
              </a:spcAft>
            </a:pPr>
            <a:r>
              <a:rPr sz="800" b="0">
                <a:solidFill>
                  <a:srgbClr val="7F7F7F"/>
                </a:solidFill>
                <a:latin typeface="メイリオ"/>
                <a:ea typeface="メイリオ"/>
                <a:cs typeface="メイリオ"/>
              </a:rPr>
              <a:t>2026年</a:t>
            </a:r>
          </a:p>
        </p:txBody>
      </p:sp>
      <p:sp>
        <p:nvSpPr>
          <p:cNvPr id="43" name="Rectangle 42"/>
          <p:cNvSpPr/>
          <p:nvPr/>
        </p:nvSpPr>
        <p:spPr>
          <a:xfrm>
            <a:off x="6688799" y="4259114"/>
            <a:ext cx="288000" cy="690885"/>
          </a:xfrm>
          <a:prstGeom prst="rect">
            <a:avLst/>
          </a:prstGeom>
          <a:solidFill>
            <a:srgbClr val="8E9BC4"/>
          </a:solidFill>
          <a:ln>
            <a:noFill/>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endParaRPr/>
          </a:p>
        </p:txBody>
      </p:sp>
      <p:sp>
        <p:nvSpPr>
          <p:cNvPr id="44" name="TextBox 43"/>
          <p:cNvSpPr txBox="1"/>
          <p:nvPr/>
        </p:nvSpPr>
        <p:spPr>
          <a:xfrm>
            <a:off x="6580799" y="4079114"/>
            <a:ext cx="503999" cy="162000"/>
          </a:xfrm>
          <a:prstGeom prst="rect">
            <a:avLst/>
          </a:prstGeom>
          <a:noFill/>
        </p:spPr>
        <p:txBody>
          <a:bodyPr wrap="none" lIns="36000" tIns="18000" rIns="36000" bIns="18000" anchor="b">
            <a:spAutoFit/>
          </a:bodyPr>
          <a:lstStyle/>
          <a:p>
            <a:pPr algn="ctr">
              <a:lnSpc>
                <a:spcPct val="110000"/>
              </a:lnSpc>
              <a:spcAft>
                <a:spcPts val="0"/>
              </a:spcAft>
            </a:pPr>
            <a:r>
              <a:rPr sz="750" b="1">
                <a:solidFill>
                  <a:srgbClr val="333333"/>
                </a:solidFill>
                <a:latin typeface="メイリオ"/>
                <a:ea typeface="メイリオ"/>
                <a:cs typeface="メイリオ"/>
              </a:rPr>
              <a:t>575</a:t>
            </a:r>
          </a:p>
        </p:txBody>
      </p:sp>
      <p:sp>
        <p:nvSpPr>
          <p:cNvPr id="45" name="Rectangle 44"/>
          <p:cNvSpPr/>
          <p:nvPr/>
        </p:nvSpPr>
        <p:spPr>
          <a:xfrm>
            <a:off x="7019999" y="4211052"/>
            <a:ext cx="288000" cy="738947"/>
          </a:xfrm>
          <a:prstGeom prst="rect">
            <a:avLst/>
          </a:prstGeom>
          <a:solidFill>
            <a:srgbClr val="1F285A"/>
          </a:solidFill>
          <a:ln>
            <a:noFill/>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endParaRPr/>
          </a:p>
        </p:txBody>
      </p:sp>
      <p:sp>
        <p:nvSpPr>
          <p:cNvPr id="46" name="TextBox 45"/>
          <p:cNvSpPr txBox="1"/>
          <p:nvPr/>
        </p:nvSpPr>
        <p:spPr>
          <a:xfrm>
            <a:off x="6911999" y="4031052"/>
            <a:ext cx="503999" cy="162000"/>
          </a:xfrm>
          <a:prstGeom prst="rect">
            <a:avLst/>
          </a:prstGeom>
          <a:noFill/>
        </p:spPr>
        <p:txBody>
          <a:bodyPr wrap="none" lIns="36000" tIns="18000" rIns="36000" bIns="18000" anchor="b">
            <a:spAutoFit/>
          </a:bodyPr>
          <a:lstStyle/>
          <a:p>
            <a:pPr algn="ctr">
              <a:lnSpc>
                <a:spcPct val="110000"/>
              </a:lnSpc>
              <a:spcAft>
                <a:spcPts val="0"/>
              </a:spcAft>
            </a:pPr>
            <a:r>
              <a:rPr sz="750" b="1">
                <a:solidFill>
                  <a:srgbClr val="333333"/>
                </a:solidFill>
                <a:latin typeface="メイリオ"/>
                <a:ea typeface="メイリオ"/>
                <a:cs typeface="メイリオ"/>
              </a:rPr>
              <a:t>615</a:t>
            </a:r>
          </a:p>
        </p:txBody>
      </p:sp>
      <p:sp>
        <p:nvSpPr>
          <p:cNvPr id="47" name="TextBox 46"/>
          <p:cNvSpPr txBox="1"/>
          <p:nvPr/>
        </p:nvSpPr>
        <p:spPr>
          <a:xfrm>
            <a:off x="6620399" y="4968000"/>
            <a:ext cx="756000" cy="151200"/>
          </a:xfrm>
          <a:prstGeom prst="rect">
            <a:avLst/>
          </a:prstGeom>
          <a:noFill/>
        </p:spPr>
        <p:txBody>
          <a:bodyPr wrap="square" lIns="36000" tIns="18000" rIns="36000" bIns="18000" anchor="t">
            <a:spAutoFit/>
          </a:bodyPr>
          <a:lstStyle/>
          <a:p>
            <a:pPr algn="ctr">
              <a:lnSpc>
                <a:spcPct val="110000"/>
              </a:lnSpc>
              <a:spcAft>
                <a:spcPts val="0"/>
              </a:spcAft>
            </a:pPr>
            <a:r>
              <a:rPr sz="900" b="1">
                <a:solidFill>
                  <a:srgbClr val="333333"/>
                </a:solidFill>
                <a:latin typeface="メイリオ"/>
                <a:ea typeface="メイリオ"/>
                <a:cs typeface="メイリオ"/>
              </a:rPr>
              <a:t>7月</a:t>
            </a:r>
          </a:p>
        </p:txBody>
      </p:sp>
      <p:sp>
        <p:nvSpPr>
          <p:cNvPr id="48" name="TextBox 47"/>
          <p:cNvSpPr txBox="1"/>
          <p:nvPr/>
        </p:nvSpPr>
        <p:spPr>
          <a:xfrm>
            <a:off x="6620399" y="5112000"/>
            <a:ext cx="756000" cy="180000"/>
          </a:xfrm>
          <a:prstGeom prst="rect">
            <a:avLst/>
          </a:prstGeom>
          <a:noFill/>
        </p:spPr>
        <p:txBody>
          <a:bodyPr wrap="none" lIns="36000" tIns="10800" rIns="36000" bIns="10800" anchor="ctr">
            <a:spAutoFit/>
          </a:bodyPr>
          <a:lstStyle/>
          <a:p>
            <a:pPr algn="ctr">
              <a:lnSpc>
                <a:spcPct val="105000"/>
              </a:lnSpc>
              <a:spcAft>
                <a:spcPts val="200"/>
              </a:spcAft>
            </a:pPr>
            <a:r>
              <a:rPr sz="750" b="0">
                <a:solidFill>
                  <a:srgbClr val="7F7F7F"/>
                </a:solidFill>
                <a:latin typeface="メイリオ"/>
                <a:ea typeface="メイリオ"/>
                <a:cs typeface="メイリオ"/>
              </a:rPr>
              <a:t>前年比 </a:t>
            </a:r>
            <a:r>
              <a:rPr sz="1000" b="1">
                <a:solidFill>
                  <a:srgbClr val="0B7A3B"/>
                </a:solidFill>
                <a:latin typeface="メイリオ"/>
                <a:ea typeface="メイリオ"/>
                <a:cs typeface="メイリオ"/>
              </a:rPr>
              <a:t>107%</a:t>
            </a:r>
          </a:p>
        </p:txBody>
      </p:sp>
      <p:sp>
        <p:nvSpPr>
          <p:cNvPr id="49" name="Rectangle 48"/>
          <p:cNvSpPr/>
          <p:nvPr/>
        </p:nvSpPr>
        <p:spPr>
          <a:xfrm>
            <a:off x="7516800" y="4330005"/>
            <a:ext cx="288000" cy="619994"/>
          </a:xfrm>
          <a:prstGeom prst="rect">
            <a:avLst/>
          </a:prstGeom>
          <a:solidFill>
            <a:srgbClr val="8E9BC4"/>
          </a:solidFill>
          <a:ln>
            <a:noFill/>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endParaRPr/>
          </a:p>
        </p:txBody>
      </p:sp>
      <p:sp>
        <p:nvSpPr>
          <p:cNvPr id="50" name="TextBox 49"/>
          <p:cNvSpPr txBox="1"/>
          <p:nvPr/>
        </p:nvSpPr>
        <p:spPr>
          <a:xfrm>
            <a:off x="7408799" y="4150005"/>
            <a:ext cx="503999" cy="162000"/>
          </a:xfrm>
          <a:prstGeom prst="rect">
            <a:avLst/>
          </a:prstGeom>
          <a:noFill/>
        </p:spPr>
        <p:txBody>
          <a:bodyPr wrap="none" lIns="36000" tIns="18000" rIns="36000" bIns="18000" anchor="b">
            <a:spAutoFit/>
          </a:bodyPr>
          <a:lstStyle/>
          <a:p>
            <a:pPr algn="ctr">
              <a:lnSpc>
                <a:spcPct val="110000"/>
              </a:lnSpc>
              <a:spcAft>
                <a:spcPts val="0"/>
              </a:spcAft>
            </a:pPr>
            <a:r>
              <a:rPr sz="750" b="1">
                <a:solidFill>
                  <a:srgbClr val="333333"/>
                </a:solidFill>
                <a:latin typeface="メイリオ"/>
                <a:ea typeface="メイリオ"/>
                <a:cs typeface="メイリオ"/>
              </a:rPr>
              <a:t>516</a:t>
            </a:r>
          </a:p>
        </p:txBody>
      </p:sp>
      <p:sp>
        <p:nvSpPr>
          <p:cNvPr id="51" name="Rectangle 50"/>
          <p:cNvSpPr/>
          <p:nvPr/>
        </p:nvSpPr>
        <p:spPr>
          <a:xfrm>
            <a:off x="7847999" y="4014000"/>
            <a:ext cx="288000" cy="936000"/>
          </a:xfrm>
          <a:prstGeom prst="rect">
            <a:avLst/>
          </a:prstGeom>
          <a:solidFill>
            <a:srgbClr val="1F285A"/>
          </a:solidFill>
          <a:ln>
            <a:noFill/>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endParaRPr/>
          </a:p>
        </p:txBody>
      </p:sp>
      <p:sp>
        <p:nvSpPr>
          <p:cNvPr id="52" name="TextBox 51"/>
          <p:cNvSpPr txBox="1"/>
          <p:nvPr/>
        </p:nvSpPr>
        <p:spPr>
          <a:xfrm>
            <a:off x="7739999" y="3834000"/>
            <a:ext cx="503999" cy="162000"/>
          </a:xfrm>
          <a:prstGeom prst="rect">
            <a:avLst/>
          </a:prstGeom>
          <a:noFill/>
        </p:spPr>
        <p:txBody>
          <a:bodyPr wrap="none" lIns="36000" tIns="18000" rIns="36000" bIns="18000" anchor="b">
            <a:spAutoFit/>
          </a:bodyPr>
          <a:lstStyle/>
          <a:p>
            <a:pPr algn="ctr">
              <a:lnSpc>
                <a:spcPct val="110000"/>
              </a:lnSpc>
              <a:spcAft>
                <a:spcPts val="0"/>
              </a:spcAft>
            </a:pPr>
            <a:r>
              <a:rPr sz="750" b="1">
                <a:solidFill>
                  <a:srgbClr val="333333"/>
                </a:solidFill>
                <a:latin typeface="メイリオ"/>
                <a:ea typeface="メイリオ"/>
                <a:cs typeface="メイリオ"/>
              </a:rPr>
              <a:t>779</a:t>
            </a:r>
          </a:p>
        </p:txBody>
      </p:sp>
      <p:sp>
        <p:nvSpPr>
          <p:cNvPr id="53" name="TextBox 52"/>
          <p:cNvSpPr txBox="1"/>
          <p:nvPr/>
        </p:nvSpPr>
        <p:spPr>
          <a:xfrm>
            <a:off x="7448399" y="4968000"/>
            <a:ext cx="756000" cy="151200"/>
          </a:xfrm>
          <a:prstGeom prst="rect">
            <a:avLst/>
          </a:prstGeom>
          <a:noFill/>
        </p:spPr>
        <p:txBody>
          <a:bodyPr wrap="square" lIns="36000" tIns="18000" rIns="36000" bIns="18000" anchor="t">
            <a:spAutoFit/>
          </a:bodyPr>
          <a:lstStyle/>
          <a:p>
            <a:pPr algn="ctr">
              <a:lnSpc>
                <a:spcPct val="110000"/>
              </a:lnSpc>
              <a:spcAft>
                <a:spcPts val="0"/>
              </a:spcAft>
            </a:pPr>
            <a:r>
              <a:rPr sz="900" b="1">
                <a:solidFill>
                  <a:srgbClr val="333333"/>
                </a:solidFill>
                <a:latin typeface="メイリオ"/>
                <a:ea typeface="メイリオ"/>
                <a:cs typeface="メイリオ"/>
              </a:rPr>
              <a:t>8月</a:t>
            </a:r>
          </a:p>
        </p:txBody>
      </p:sp>
      <p:sp>
        <p:nvSpPr>
          <p:cNvPr id="54" name="TextBox 53"/>
          <p:cNvSpPr txBox="1"/>
          <p:nvPr/>
        </p:nvSpPr>
        <p:spPr>
          <a:xfrm>
            <a:off x="7448399" y="5112000"/>
            <a:ext cx="756000" cy="180000"/>
          </a:xfrm>
          <a:prstGeom prst="rect">
            <a:avLst/>
          </a:prstGeom>
          <a:noFill/>
        </p:spPr>
        <p:txBody>
          <a:bodyPr wrap="none" lIns="36000" tIns="10800" rIns="36000" bIns="10800" anchor="ctr">
            <a:spAutoFit/>
          </a:bodyPr>
          <a:lstStyle/>
          <a:p>
            <a:pPr algn="ctr">
              <a:lnSpc>
                <a:spcPct val="105000"/>
              </a:lnSpc>
              <a:spcAft>
                <a:spcPts val="200"/>
              </a:spcAft>
            </a:pPr>
            <a:r>
              <a:rPr sz="750" b="0">
                <a:solidFill>
                  <a:srgbClr val="7F7F7F"/>
                </a:solidFill>
                <a:latin typeface="メイリオ"/>
                <a:ea typeface="メイリオ"/>
                <a:cs typeface="メイリオ"/>
              </a:rPr>
              <a:t>前年比 </a:t>
            </a:r>
            <a:r>
              <a:rPr sz="1000" b="1">
                <a:solidFill>
                  <a:srgbClr val="0B7A3B"/>
                </a:solidFill>
                <a:latin typeface="メイリオ"/>
                <a:ea typeface="メイリオ"/>
                <a:cs typeface="メイリオ"/>
              </a:rPr>
              <a:t>151%</a:t>
            </a:r>
          </a:p>
        </p:txBody>
      </p:sp>
      <p:sp>
        <p:nvSpPr>
          <p:cNvPr id="55" name="Rectangle 54"/>
          <p:cNvSpPr/>
          <p:nvPr/>
        </p:nvSpPr>
        <p:spPr>
          <a:xfrm>
            <a:off x="8344800" y="4278338"/>
            <a:ext cx="288000" cy="671661"/>
          </a:xfrm>
          <a:prstGeom prst="rect">
            <a:avLst/>
          </a:prstGeom>
          <a:solidFill>
            <a:srgbClr val="8E9BC4"/>
          </a:solidFill>
          <a:ln>
            <a:noFill/>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endParaRPr/>
          </a:p>
        </p:txBody>
      </p:sp>
      <p:sp>
        <p:nvSpPr>
          <p:cNvPr id="56" name="TextBox 55"/>
          <p:cNvSpPr txBox="1"/>
          <p:nvPr/>
        </p:nvSpPr>
        <p:spPr>
          <a:xfrm>
            <a:off x="8236800" y="4098338"/>
            <a:ext cx="503999" cy="162000"/>
          </a:xfrm>
          <a:prstGeom prst="rect">
            <a:avLst/>
          </a:prstGeom>
          <a:noFill/>
        </p:spPr>
        <p:txBody>
          <a:bodyPr wrap="none" lIns="36000" tIns="18000" rIns="36000" bIns="18000" anchor="b">
            <a:spAutoFit/>
          </a:bodyPr>
          <a:lstStyle/>
          <a:p>
            <a:pPr algn="ctr">
              <a:lnSpc>
                <a:spcPct val="110000"/>
              </a:lnSpc>
              <a:spcAft>
                <a:spcPts val="0"/>
              </a:spcAft>
            </a:pPr>
            <a:r>
              <a:rPr sz="750" b="1">
                <a:solidFill>
                  <a:srgbClr val="333333"/>
                </a:solidFill>
                <a:latin typeface="メイリオ"/>
                <a:ea typeface="メイリオ"/>
                <a:cs typeface="メイリオ"/>
              </a:rPr>
              <a:t>559</a:t>
            </a:r>
          </a:p>
        </p:txBody>
      </p:sp>
      <p:sp>
        <p:nvSpPr>
          <p:cNvPr id="57" name="Rectangle 56"/>
          <p:cNvSpPr/>
          <p:nvPr/>
        </p:nvSpPr>
        <p:spPr>
          <a:xfrm>
            <a:off x="8676000" y="4098107"/>
            <a:ext cx="288000" cy="851892"/>
          </a:xfrm>
          <a:prstGeom prst="rect">
            <a:avLst/>
          </a:prstGeom>
          <a:solidFill>
            <a:srgbClr val="1F285A"/>
          </a:solidFill>
          <a:ln>
            <a:noFill/>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endParaRPr/>
          </a:p>
        </p:txBody>
      </p:sp>
      <p:sp>
        <p:nvSpPr>
          <p:cNvPr id="58" name="TextBox 57"/>
          <p:cNvSpPr txBox="1"/>
          <p:nvPr/>
        </p:nvSpPr>
        <p:spPr>
          <a:xfrm>
            <a:off x="8567999" y="3918107"/>
            <a:ext cx="503999" cy="162000"/>
          </a:xfrm>
          <a:prstGeom prst="rect">
            <a:avLst/>
          </a:prstGeom>
          <a:noFill/>
        </p:spPr>
        <p:txBody>
          <a:bodyPr wrap="none" lIns="36000" tIns="18000" rIns="36000" bIns="18000" anchor="b">
            <a:spAutoFit/>
          </a:bodyPr>
          <a:lstStyle/>
          <a:p>
            <a:pPr algn="ctr">
              <a:lnSpc>
                <a:spcPct val="110000"/>
              </a:lnSpc>
              <a:spcAft>
                <a:spcPts val="0"/>
              </a:spcAft>
            </a:pPr>
            <a:r>
              <a:rPr sz="750" b="1">
                <a:solidFill>
                  <a:srgbClr val="333333"/>
                </a:solidFill>
                <a:latin typeface="メイリオ"/>
                <a:ea typeface="メイリオ"/>
                <a:cs typeface="メイリオ"/>
              </a:rPr>
              <a:t>709</a:t>
            </a:r>
          </a:p>
        </p:txBody>
      </p:sp>
      <p:sp>
        <p:nvSpPr>
          <p:cNvPr id="59" name="TextBox 58"/>
          <p:cNvSpPr txBox="1"/>
          <p:nvPr/>
        </p:nvSpPr>
        <p:spPr>
          <a:xfrm>
            <a:off x="8276399" y="4968000"/>
            <a:ext cx="756000" cy="151200"/>
          </a:xfrm>
          <a:prstGeom prst="rect">
            <a:avLst/>
          </a:prstGeom>
          <a:noFill/>
        </p:spPr>
        <p:txBody>
          <a:bodyPr wrap="square" lIns="36000" tIns="18000" rIns="36000" bIns="18000" anchor="t">
            <a:spAutoFit/>
          </a:bodyPr>
          <a:lstStyle/>
          <a:p>
            <a:pPr algn="ctr">
              <a:lnSpc>
                <a:spcPct val="110000"/>
              </a:lnSpc>
              <a:spcAft>
                <a:spcPts val="0"/>
              </a:spcAft>
            </a:pPr>
            <a:r>
              <a:rPr sz="900" b="1">
                <a:solidFill>
                  <a:srgbClr val="333333"/>
                </a:solidFill>
                <a:latin typeface="メイリオ"/>
                <a:ea typeface="メイリオ"/>
                <a:cs typeface="メイリオ"/>
              </a:rPr>
              <a:t>9月</a:t>
            </a:r>
          </a:p>
        </p:txBody>
      </p:sp>
      <p:sp>
        <p:nvSpPr>
          <p:cNvPr id="60" name="TextBox 59"/>
          <p:cNvSpPr txBox="1"/>
          <p:nvPr/>
        </p:nvSpPr>
        <p:spPr>
          <a:xfrm>
            <a:off x="8276399" y="5112000"/>
            <a:ext cx="756000" cy="180000"/>
          </a:xfrm>
          <a:prstGeom prst="rect">
            <a:avLst/>
          </a:prstGeom>
          <a:noFill/>
        </p:spPr>
        <p:txBody>
          <a:bodyPr wrap="none" lIns="36000" tIns="10800" rIns="36000" bIns="10800" anchor="ctr">
            <a:spAutoFit/>
          </a:bodyPr>
          <a:lstStyle/>
          <a:p>
            <a:pPr algn="ctr">
              <a:lnSpc>
                <a:spcPct val="105000"/>
              </a:lnSpc>
              <a:spcAft>
                <a:spcPts val="200"/>
              </a:spcAft>
            </a:pPr>
            <a:r>
              <a:rPr sz="750" b="0">
                <a:solidFill>
                  <a:srgbClr val="7F7F7F"/>
                </a:solidFill>
                <a:latin typeface="メイリオ"/>
                <a:ea typeface="メイリオ"/>
                <a:cs typeface="メイリオ"/>
              </a:rPr>
              <a:t>前年比 </a:t>
            </a:r>
            <a:r>
              <a:rPr sz="1000" b="1">
                <a:solidFill>
                  <a:srgbClr val="0B7A3B"/>
                </a:solidFill>
                <a:latin typeface="メイリオ"/>
                <a:ea typeface="メイリオ"/>
                <a:cs typeface="メイリオ"/>
              </a:rPr>
              <a:t>127%</a:t>
            </a:r>
          </a:p>
        </p:txBody>
      </p:sp>
      <p:cxnSp>
        <p:nvCxnSpPr>
          <p:cNvPr id="61" name="Connector 60"/>
          <p:cNvCxnSpPr/>
          <p:nvPr/>
        </p:nvCxnSpPr>
        <p:spPr>
          <a:xfrm>
            <a:off x="6728399" y="4950000"/>
            <a:ext cx="2509201" cy="0"/>
          </a:xfrm>
          <a:prstGeom prst="line">
            <a:avLst/>
          </a:prstGeom>
          <a:ln w="9525">
            <a:solidFill>
              <a:srgbClr val="7F7F7F"/>
            </a:solidFill>
          </a:ln>
        </p:spPr>
        <p:style>
          <a:lnRef idx="2">
            <a:schemeClr val="accent1"/>
          </a:lnRef>
          <a:fillRef idx="0">
            <a:schemeClr val="accent1"/>
          </a:fillRef>
          <a:effectRef idx="0">
            <a:schemeClr val="accent1"/>
          </a:effectRef>
          <a:fontRef idx="minor">
            <a:schemeClr val="tx1"/>
          </a:fontRef>
        </p:style>
      </p:cxnSp>
      <p:sp>
        <p:nvSpPr>
          <p:cNvPr id="62" name="Rectangle 61"/>
          <p:cNvSpPr/>
          <p:nvPr/>
        </p:nvSpPr>
        <p:spPr>
          <a:xfrm>
            <a:off x="644400" y="5598000"/>
            <a:ext cx="8629200" cy="342000"/>
          </a:xfrm>
          <a:prstGeom prst="rect">
            <a:avLst/>
          </a:prstGeom>
          <a:solidFill>
            <a:srgbClr val="1F285A"/>
          </a:solidFill>
          <a:ln>
            <a:noFill/>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lnSpc>
                <a:spcPct val="110000"/>
              </a:lnSpc>
              <a:spcAft>
                <a:spcPts val="0"/>
              </a:spcAft>
            </a:pPr>
            <a:r>
              <a:rPr sz="1400" b="1">
                <a:solidFill>
                  <a:srgbClr val="FFFFFF"/>
                </a:solidFill>
                <a:latin typeface="メイリオ"/>
                <a:ea typeface="メイリオ"/>
                <a:cs typeface="メイリオ"/>
              </a:rPr>
              <a:t>サンクスLINE誘導ツールの導入後、友だち増加数が導入前比137.3%、前年比127.5%に改善。</a:t>
            </a:r>
          </a:p>
        </p:txBody>
      </p:sp>
      <p:sp>
        <p:nvSpPr>
          <p:cNvPr id="2" name="テキスト ボックス 1">
            <a:extLst>
              <a:ext uri="{FF2B5EF4-FFF2-40B4-BE49-F238E27FC236}">
                <a16:creationId xmlns:a16="http://schemas.microsoft.com/office/drawing/2014/main" id="{EE821B20-3372-85EB-4334-5055D2443F85}"/>
              </a:ext>
            </a:extLst>
          </p:cNvPr>
          <p:cNvSpPr txBox="1"/>
          <p:nvPr/>
        </p:nvSpPr>
        <p:spPr>
          <a:xfrm>
            <a:off x="429768" y="6053328"/>
            <a:ext cx="8778240" cy="457200"/>
          </a:xfrm>
          <a:prstGeom prst="rect">
            <a:avLst/>
          </a:prstGeom>
          <a:noFill/>
        </p:spPr>
        <p:txBody>
          <a:bodyPr wrap="none" rtlCol="0">
            <a:spAutoFit/>
          </a:bodyPr>
          <a:lstStyle/>
          <a:p>
            <a:r>
              <a:rPr lang="en-US" altLang="ja-JP" sz="900" dirty="0">
                <a:latin typeface="メイリオ" panose="020B0604030504040204" pitchFamily="50" charset="-128"/>
                <a:ea typeface="メイリオ" panose="020B0604030504040204" pitchFamily="50" charset="-128"/>
              </a:rPr>
              <a:t>※出典：人材業界｜株式会社DYM 社内集計（サンクスLINE誘導ツール導入前後3か月、2025年・2026年7〜9月の友だち増加数）</a:t>
            </a:r>
            <a:endParaRPr lang="en-US" altLang="ja-JP" sz="600" dirty="0">
              <a:latin typeface="メイリオ" panose="020B0604030504040204" pitchFamily="50" charset="-128"/>
              <a:ea typeface="メイリオ" panose="020B0604030504040204" pitchFamily="50" charset="-128"/>
            </a:endParaRPr>
          </a:p>
          <a:p>
            <a:r>
              <a:rPr lang="en-US" altLang="ja-JP" sz="900" dirty="0">
                <a:latin typeface="メイリオ" panose="020B0604030504040204" pitchFamily="50" charset="-128"/>
                <a:ea typeface="メイリオ" panose="020B0604030504040204" pitchFamily="50" charset="-128"/>
              </a:rPr>
              <a:t>※他社での実績であり、横浜シミズ様での効果を示すものではありません。</a:t>
            </a:r>
            <a:endParaRPr lang="en-US" altLang="ja-JP" sz="600" dirty="0">
              <a:latin typeface="メイリオ" panose="020B0604030504040204" pitchFamily="50" charset="-128"/>
              <a:ea typeface="メイリオ" panose="020B0604030504040204" pitchFamily="50" charset="-128"/>
            </a:endParaRPr>
          </a:p>
        </p:txBody>
      </p:sp>
      <p:sp>
        <p:nvSpPr>
          <p:cNvPr id="63" name="Rectangle 62"/>
          <p:cNvSpPr/>
          <p:nvPr/>
        </p:nvSpPr>
        <p:spPr>
          <a:xfrm>
            <a:off x="768096" y="1627632"/>
            <a:ext cx="6400800" cy="274320"/>
          </a:xfrm>
          <a:prstGeom prst="rect">
            <a:avLst/>
          </a:prstGeom>
          <a:noFill/>
          <a:ln>
            <a:noFill/>
          </a:ln>
        </p:spPr>
        <p:txBody>
          <a:bodyPr wrap="square" lIns="0" tIns="0" rIns="0" bIns="0" rtlCol="0" anchor="ctr">
            <a:noAutofit/>
          </a:bodyPr>
          <a:lstStyle/>
          <a:p>
            <a:pPr algn="l">
              <a:buNone/>
            </a:pPr>
            <a:r>
              <a:rPr lang="ja-JP" altLang="en-US" sz="1200" b="1" dirty="0">
                <a:solidFill>
                  <a:srgbClr val="323366"/>
                </a:solidFill>
                <a:latin typeface="メイリオ" panose="020B0604030504040204" pitchFamily="50" charset="-128"/>
                <a:ea typeface="メイリオ" panose="020B0604030504040204" pitchFamily="50" charset="-128"/>
              </a:rPr>
              <a:t>横浜シミズでの使い方｜応募前に友だちにならなかった方の受け皿</a:t>
            </a:r>
            <a:endParaRPr lang="ja-JP" altLang="en-US" sz="1200" dirty="0"/>
          </a:p>
        </p:txBody>
      </p:sp>
      <p:sp>
        <p:nvSpPr>
          <p:cNvPr id="64" name="Rectangle 63"/>
          <p:cNvSpPr/>
          <p:nvPr/>
        </p:nvSpPr>
        <p:spPr>
          <a:xfrm>
            <a:off x="868680" y="1965960"/>
            <a:ext cx="1389888" cy="512064"/>
          </a:xfrm>
          <a:prstGeom prst="rect">
            <a:avLst/>
          </a:prstGeom>
          <a:solidFill>
            <a:srgbClr val="1E2761"/>
          </a:solidFill>
          <a:ln>
            <a:noFill/>
          </a:ln>
        </p:spPr>
        <p:txBody>
          <a:bodyPr wrap="square" lIns="27432" tIns="0" rIns="27432" bIns="0" rtlCol="0" anchor="ctr">
            <a:noAutofit/>
          </a:bodyPr>
          <a:lstStyle/>
          <a:p>
            <a:pPr algn="ctr">
              <a:buNone/>
            </a:pPr>
            <a:r>
              <a:rPr lang="ja-JP" altLang="en-US" sz="1050" b="1" dirty="0">
                <a:solidFill>
                  <a:srgbClr val="FFFFFF"/>
                </a:solidFill>
                <a:latin typeface="メイリオ" panose="020B0604030504040204" pitchFamily="50" charset="-128"/>
                <a:ea typeface="メイリオ" panose="020B0604030504040204" pitchFamily="50" charset="-128"/>
              </a:rPr>
              <a:t>LINE未追加で</a:t>
            </a:r>
            <a:endParaRPr lang="ja-JP" altLang="en-US" sz="1050" dirty="0"/>
          </a:p>
          <a:p>
            <a:pPr algn="ctr">
              <a:buNone/>
            </a:pPr>
            <a:r>
              <a:rPr lang="ja-JP" altLang="en-US" sz="1050" b="1" dirty="0">
                <a:solidFill>
                  <a:srgbClr val="FFFFFF"/>
                </a:solidFill>
                <a:latin typeface="メイリオ" panose="020B0604030504040204" pitchFamily="50" charset="-128"/>
                <a:ea typeface="メイリオ" panose="020B0604030504040204" pitchFamily="50" charset="-128"/>
              </a:rPr>
              <a:t>応募完了</a:t>
            </a:r>
            <a:endParaRPr lang="ja-JP" altLang="en-US" sz="1050" dirty="0"/>
          </a:p>
        </p:txBody>
      </p:sp>
      <p:sp>
        <p:nvSpPr>
          <p:cNvPr id="65" name="Rectangle 64"/>
          <p:cNvSpPr/>
          <p:nvPr/>
        </p:nvSpPr>
        <p:spPr>
          <a:xfrm>
            <a:off x="2560320" y="1965960"/>
            <a:ext cx="1389888" cy="512064"/>
          </a:xfrm>
          <a:prstGeom prst="rect">
            <a:avLst/>
          </a:prstGeom>
          <a:solidFill>
            <a:srgbClr val="06C755"/>
          </a:solidFill>
          <a:ln>
            <a:noFill/>
          </a:ln>
        </p:spPr>
        <p:txBody>
          <a:bodyPr wrap="square" lIns="27432" tIns="0" rIns="27432" bIns="0" rtlCol="0" anchor="ctr">
            <a:noAutofit/>
          </a:bodyPr>
          <a:lstStyle/>
          <a:p>
            <a:pPr algn="ctr">
              <a:buNone/>
            </a:pPr>
            <a:r>
              <a:rPr lang="ja-JP" altLang="en-US" sz="1050" b="1" dirty="0">
                <a:solidFill>
                  <a:srgbClr val="FFFFFF"/>
                </a:solidFill>
                <a:latin typeface="メイリオ" panose="020B0604030504040204" pitchFamily="50" charset="-128"/>
                <a:ea typeface="メイリオ" panose="020B0604030504040204" pitchFamily="50" charset="-128"/>
              </a:rPr>
              <a:t>LINE友だち追加</a:t>
            </a:r>
            <a:endParaRPr lang="ja-JP" altLang="en-US" sz="1050" dirty="0"/>
          </a:p>
          <a:p>
            <a:pPr algn="ctr">
              <a:buNone/>
            </a:pPr>
            <a:r>
              <a:rPr lang="ja-JP" altLang="en-US" sz="1050" b="1" dirty="0">
                <a:solidFill>
                  <a:srgbClr val="FFFFFF"/>
                </a:solidFill>
                <a:latin typeface="メイリオ" panose="020B0604030504040204" pitchFamily="50" charset="-128"/>
                <a:ea typeface="メイリオ" panose="020B0604030504040204" pitchFamily="50" charset="-128"/>
              </a:rPr>
              <a:t>（サンクスLINE）</a:t>
            </a:r>
            <a:endParaRPr lang="ja-JP" altLang="en-US" sz="1050" dirty="0"/>
          </a:p>
        </p:txBody>
      </p:sp>
      <p:cxnSp>
        <p:nvCxnSpPr>
          <p:cNvPr id="66" name="Connector 65"/>
          <p:cNvCxnSpPr/>
          <p:nvPr/>
        </p:nvCxnSpPr>
        <p:spPr>
          <a:xfrm>
            <a:off x="2295144" y="2221992"/>
            <a:ext cx="228600" cy="0"/>
          </a:xfrm>
          <a:prstGeom prst="line">
            <a:avLst/>
          </a:prstGeom>
          <a:ln w="19050">
            <a:solidFill>
              <a:srgbClr val="1E2761"/>
            </a:solidFill>
            <a:tailEnd type="triangle" w="med" len="med"/>
          </a:ln>
        </p:spPr>
      </p:cxnSp>
      <p:sp>
        <p:nvSpPr>
          <p:cNvPr id="67" name="Rectangle 66"/>
          <p:cNvSpPr/>
          <p:nvPr/>
        </p:nvSpPr>
        <p:spPr>
          <a:xfrm>
            <a:off x="4251960" y="1965960"/>
            <a:ext cx="1389888" cy="512064"/>
          </a:xfrm>
          <a:prstGeom prst="rect">
            <a:avLst/>
          </a:prstGeom>
          <a:solidFill>
            <a:srgbClr val="1E2761"/>
          </a:solidFill>
          <a:ln>
            <a:noFill/>
          </a:ln>
        </p:spPr>
        <p:txBody>
          <a:bodyPr wrap="square" lIns="27432" tIns="0" rIns="27432" bIns="0" rtlCol="0" anchor="ctr">
            <a:noAutofit/>
          </a:bodyPr>
          <a:lstStyle/>
          <a:p>
            <a:pPr algn="ctr">
              <a:buNone/>
            </a:pPr>
            <a:r>
              <a:rPr lang="ja-JP" altLang="en-US" sz="1050" b="1" dirty="0">
                <a:solidFill>
                  <a:srgbClr val="FFFFFF"/>
                </a:solidFill>
                <a:latin typeface="メイリオ" panose="020B0604030504040204" pitchFamily="50" charset="-128"/>
                <a:ea typeface="メイリオ" panose="020B0604030504040204" pitchFamily="50" charset="-128"/>
              </a:rPr>
              <a:t>面接・登録の</a:t>
            </a:r>
            <a:endParaRPr lang="ja-JP" altLang="en-US" sz="1050" dirty="0"/>
          </a:p>
          <a:p>
            <a:pPr algn="ctr">
              <a:buNone/>
            </a:pPr>
            <a:r>
              <a:rPr lang="ja-JP" altLang="en-US" sz="1050" b="1" dirty="0">
                <a:solidFill>
                  <a:srgbClr val="FFFFFF"/>
                </a:solidFill>
                <a:latin typeface="メイリオ" panose="020B0604030504040204" pitchFamily="50" charset="-128"/>
                <a:ea typeface="メイリオ" panose="020B0604030504040204" pitchFamily="50" charset="-128"/>
              </a:rPr>
              <a:t>案内</a:t>
            </a:r>
            <a:endParaRPr lang="ja-JP" altLang="en-US" sz="1050" dirty="0"/>
          </a:p>
        </p:txBody>
      </p:sp>
      <p:cxnSp>
        <p:nvCxnSpPr>
          <p:cNvPr id="68" name="Connector 67"/>
          <p:cNvCxnSpPr/>
          <p:nvPr/>
        </p:nvCxnSpPr>
        <p:spPr>
          <a:xfrm>
            <a:off x="3986784" y="2221992"/>
            <a:ext cx="228600" cy="0"/>
          </a:xfrm>
          <a:prstGeom prst="line">
            <a:avLst/>
          </a:prstGeom>
          <a:ln w="19050">
            <a:solidFill>
              <a:srgbClr val="1E2761"/>
            </a:solidFill>
            <a:tailEnd type="triangle" w="med" len="med"/>
          </a:ln>
        </p:spPr>
      </p:cxnSp>
      <p:sp>
        <p:nvSpPr>
          <p:cNvPr id="69" name="Rectangle 68"/>
          <p:cNvSpPr/>
          <p:nvPr/>
        </p:nvSpPr>
        <p:spPr>
          <a:xfrm>
            <a:off x="5943600" y="1965960"/>
            <a:ext cx="1389888" cy="512064"/>
          </a:xfrm>
          <a:prstGeom prst="rect">
            <a:avLst/>
          </a:prstGeom>
          <a:solidFill>
            <a:srgbClr val="1E2761"/>
          </a:solidFill>
          <a:ln>
            <a:noFill/>
          </a:ln>
        </p:spPr>
        <p:txBody>
          <a:bodyPr wrap="square" lIns="27432" tIns="0" rIns="27432" bIns="0" rtlCol="0" anchor="ctr">
            <a:noAutofit/>
          </a:bodyPr>
          <a:lstStyle/>
          <a:p>
            <a:pPr algn="ctr">
              <a:buNone/>
            </a:pPr>
            <a:r>
              <a:rPr lang="ja-JP" altLang="en-US" sz="1050" b="1" dirty="0">
                <a:solidFill>
                  <a:srgbClr val="FFFFFF"/>
                </a:solidFill>
                <a:latin typeface="メイリオ" panose="020B0604030504040204" pitchFamily="50" charset="-128"/>
                <a:ea typeface="メイリオ" panose="020B0604030504040204" pitchFamily="50" charset="-128"/>
              </a:rPr>
              <a:t>勤務前の</a:t>
            </a:r>
            <a:endParaRPr lang="ja-JP" altLang="en-US" sz="1050" dirty="0"/>
          </a:p>
          <a:p>
            <a:pPr algn="ctr">
              <a:buNone/>
            </a:pPr>
            <a:r>
              <a:rPr lang="ja-JP" altLang="en-US" sz="1050" b="1" dirty="0">
                <a:solidFill>
                  <a:srgbClr val="FFFFFF"/>
                </a:solidFill>
                <a:latin typeface="メイリオ" panose="020B0604030504040204" pitchFamily="50" charset="-128"/>
                <a:ea typeface="メイリオ" panose="020B0604030504040204" pitchFamily="50" charset="-128"/>
              </a:rPr>
              <a:t>案内</a:t>
            </a:r>
            <a:endParaRPr lang="ja-JP" altLang="en-US" sz="1050" dirty="0"/>
          </a:p>
        </p:txBody>
      </p:sp>
      <p:cxnSp>
        <p:nvCxnSpPr>
          <p:cNvPr id="70" name="Connector 69"/>
          <p:cNvCxnSpPr/>
          <p:nvPr/>
        </p:nvCxnSpPr>
        <p:spPr>
          <a:xfrm>
            <a:off x="5678424" y="2221992"/>
            <a:ext cx="228600" cy="0"/>
          </a:xfrm>
          <a:prstGeom prst="line">
            <a:avLst/>
          </a:prstGeom>
          <a:ln w="19050">
            <a:solidFill>
              <a:srgbClr val="1E2761"/>
            </a:solidFill>
            <a:tailEnd type="triangle" w="med" len="med"/>
          </a:ln>
        </p:spPr>
      </p:cxnSp>
      <p:sp>
        <p:nvSpPr>
          <p:cNvPr id="71" name="Rectangle 70"/>
          <p:cNvSpPr/>
          <p:nvPr/>
        </p:nvSpPr>
        <p:spPr>
          <a:xfrm>
            <a:off x="7635240" y="1965960"/>
            <a:ext cx="1389888" cy="512064"/>
          </a:xfrm>
          <a:prstGeom prst="rect">
            <a:avLst/>
          </a:prstGeom>
          <a:solidFill>
            <a:srgbClr val="1E2761"/>
          </a:solidFill>
          <a:ln>
            <a:noFill/>
          </a:ln>
        </p:spPr>
        <p:txBody>
          <a:bodyPr wrap="square" lIns="27432" tIns="0" rIns="27432" bIns="0" rtlCol="0" anchor="ctr">
            <a:noAutofit/>
          </a:bodyPr>
          <a:lstStyle/>
          <a:p>
            <a:pPr algn="ctr">
              <a:buNone/>
            </a:pPr>
            <a:r>
              <a:rPr lang="ja-JP" altLang="en-US" sz="1050" b="1" dirty="0">
                <a:solidFill>
                  <a:srgbClr val="FFFFFF"/>
                </a:solidFill>
                <a:latin typeface="メイリオ" panose="020B0604030504040204" pitchFamily="50" charset="-128"/>
                <a:ea typeface="メイリオ" panose="020B0604030504040204" pitchFamily="50" charset="-128"/>
              </a:rPr>
              <a:t>次回イベントの</a:t>
            </a:r>
            <a:endParaRPr lang="ja-JP" altLang="en-US" sz="1050" dirty="0"/>
          </a:p>
          <a:p>
            <a:pPr algn="ctr">
              <a:buNone/>
            </a:pPr>
            <a:r>
              <a:rPr lang="ja-JP" altLang="en-US" sz="1050" b="1" dirty="0">
                <a:solidFill>
                  <a:srgbClr val="FFFFFF"/>
                </a:solidFill>
                <a:latin typeface="メイリオ" panose="020B0604030504040204" pitchFamily="50" charset="-128"/>
                <a:ea typeface="メイリオ" panose="020B0604030504040204" pitchFamily="50" charset="-128"/>
              </a:rPr>
              <a:t>募集</a:t>
            </a:r>
            <a:endParaRPr lang="ja-JP" altLang="en-US" sz="1050" dirty="0"/>
          </a:p>
        </p:txBody>
      </p:sp>
      <p:cxnSp>
        <p:nvCxnSpPr>
          <p:cNvPr id="72" name="Connector 71"/>
          <p:cNvCxnSpPr/>
          <p:nvPr/>
        </p:nvCxnSpPr>
        <p:spPr>
          <a:xfrm>
            <a:off x="7370063" y="2221992"/>
            <a:ext cx="228601" cy="0"/>
          </a:xfrm>
          <a:prstGeom prst="line">
            <a:avLst/>
          </a:prstGeom>
          <a:ln w="19050">
            <a:solidFill>
              <a:srgbClr val="1E2761"/>
            </a:solidFill>
            <a:tailEnd type="triangle" w="med" len="med"/>
          </a:ln>
        </p:spPr>
      </p:cxnSp>
      <p:sp>
        <p:nvSpPr>
          <p:cNvPr id="73" name="Rectangle 72"/>
          <p:cNvSpPr/>
          <p:nvPr/>
        </p:nvSpPr>
        <p:spPr>
          <a:xfrm>
            <a:off x="868680" y="2542032"/>
            <a:ext cx="8229600" cy="329184"/>
          </a:xfrm>
          <a:prstGeom prst="rect">
            <a:avLst/>
          </a:prstGeom>
          <a:noFill/>
          <a:ln>
            <a:noFill/>
          </a:ln>
        </p:spPr>
        <p:txBody>
          <a:bodyPr wrap="square" lIns="0" tIns="0" rIns="0" bIns="0" rtlCol="0" anchor="ctr">
            <a:noAutofit/>
          </a:bodyPr>
          <a:lstStyle/>
          <a:p>
            <a:pPr algn="l">
              <a:buNone/>
            </a:pPr>
            <a:r>
              <a:rPr lang="ja-JP" altLang="en-US" sz="1050" b="0" dirty="0">
                <a:solidFill>
                  <a:srgbClr val="333333"/>
                </a:solidFill>
                <a:latin typeface="メイリオ" panose="020B0604030504040204" pitchFamily="50" charset="-128"/>
                <a:ea typeface="メイリオ" panose="020B0604030504040204" pitchFamily="50" charset="-128"/>
              </a:rPr>
              <a:t>応募の直後から、ほかの友だちと同じLINEで、面接・勤務の案内と次の募集をお届けします。</a:t>
            </a:r>
            <a:endParaRPr lang="ja-JP" altLang="en-US" sz="10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9000" y="138240"/>
            <a:ext cx="7920000" cy="338040"/>
          </a:xfrm>
          <a:prstGeom prst="rect">
            <a:avLst/>
          </a:prstGeom>
          <a:noFill/>
        </p:spPr>
        <p:txBody>
          <a:bodyPr wrap="square" lIns="91425" tIns="45700" rIns="91425" bIns="45700" anchor="ctr">
            <a:spAutoFit/>
          </a:bodyPr>
          <a:lstStyle/>
          <a:p>
            <a:pPr algn="l">
              <a:lnSpc>
                <a:spcPct val="120000"/>
              </a:lnSpc>
            </a:pPr>
            <a:r>
              <a:rPr sz="1600" b="1">
                <a:solidFill>
                  <a:srgbClr val="323366"/>
                </a:solidFill>
                <a:latin typeface="メイリオ"/>
                <a:ea typeface="メイリオ"/>
                <a:cs typeface="メイリオ"/>
              </a:rPr>
              <a:t>施策②｜勤務連絡・管理：勤務に必要な情報をLINEで届ける</a:t>
            </a:r>
          </a:p>
        </p:txBody>
      </p:sp>
      <p:sp>
        <p:nvSpPr>
          <p:cNvPr id="3" name="TextBox 2"/>
          <p:cNvSpPr txBox="1"/>
          <p:nvPr/>
        </p:nvSpPr>
        <p:spPr>
          <a:xfrm>
            <a:off x="309600" y="687600"/>
            <a:ext cx="9331200" cy="585216"/>
          </a:xfrm>
          <a:prstGeom prst="rect">
            <a:avLst/>
          </a:prstGeom>
          <a:noFill/>
        </p:spPr>
        <p:txBody>
          <a:bodyPr wrap="square" lIns="28800" tIns="7200" rIns="28800" bIns="7200" anchor="ctr">
            <a:spAutoFit/>
          </a:bodyPr>
          <a:lstStyle/>
          <a:p>
            <a:pPr algn="l">
              <a:lnSpc>
                <a:spcPct val="120000"/>
              </a:lnSpc>
            </a:pPr>
            <a:r>
              <a:rPr sz="1400" b="1">
                <a:solidFill>
                  <a:srgbClr val="1E2761"/>
                </a:solidFill>
                <a:latin typeface="メイリオ"/>
                <a:ea typeface="メイリオ"/>
                <a:cs typeface="メイリオ"/>
              </a:rPr>
              <a:t>集合場所・時間・持ち物・服装・注意事項を、勤務の前にLINEでお届けします。</a:t>
            </a:r>
          </a:p>
          <a:p>
            <a:pPr algn="l">
              <a:lnSpc>
                <a:spcPct val="120000"/>
              </a:lnSpc>
            </a:pPr>
            <a:r>
              <a:rPr sz="1400" b="1">
                <a:solidFill>
                  <a:srgbClr val="FF0000"/>
                </a:solidFill>
                <a:latin typeface="メイリオ"/>
                <a:ea typeface="メイリオ"/>
                <a:cs typeface="メイリオ"/>
              </a:rPr>
              <a:t>「LINEを追加すると、勤務に必要な情報が届く」ことが、友だちでいる理由になります。</a:t>
            </a:r>
          </a:p>
        </p:txBody>
      </p:sp>
      <p:sp>
        <p:nvSpPr>
          <p:cNvPr id="18" name="Rectangle 17"/>
          <p:cNvSpPr/>
          <p:nvPr/>
        </p:nvSpPr>
        <p:spPr>
          <a:xfrm>
            <a:off x="429768" y="5596128"/>
            <a:ext cx="9043416" cy="374904"/>
          </a:xfrm>
          <a:prstGeom prst="rect">
            <a:avLst/>
          </a:prstGeom>
          <a:solidFill>
            <a:srgbClr val="0020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ectangle 20"/>
          <p:cNvSpPr/>
          <p:nvPr/>
        </p:nvSpPr>
        <p:spPr>
          <a:xfrm>
            <a:off x="429768" y="5596128"/>
            <a:ext cx="9043416" cy="374904"/>
          </a:xfrm>
          <a:prstGeom prst="rect">
            <a:avLst/>
          </a:prstGeom>
          <a:noFill/>
          <a:ln>
            <a:noFill/>
          </a:ln>
        </p:spPr>
        <p:txBody>
          <a:bodyPr wrap="square" lIns="45720" tIns="0" rIns="45720" bIns="0" rtlCol="0" anchor="ctr">
            <a:noAutofit/>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rPr>
              <a:t>届く理由があるから友だちが残り、残るから次の募集が届く</a:t>
            </a:r>
            <a:endParaRPr lang="ja-JP" altLang="en-US" sz="1300" dirty="0"/>
          </a:p>
        </p:txBody>
      </p:sp>
      <p:sp>
        <p:nvSpPr>
          <p:cNvPr id="22" name="Rounded Rectangle 21"/>
          <p:cNvSpPr/>
          <p:nvPr/>
        </p:nvSpPr>
        <p:spPr>
          <a:xfrm>
            <a:off x="429768" y="1371600"/>
            <a:ext cx="2880360" cy="329184"/>
          </a:xfrm>
          <a:prstGeom prst="roundRect">
            <a:avLst>
              <a:gd name="adj" fmla="val 20000"/>
            </a:avLst>
          </a:prstGeom>
          <a:solidFill>
            <a:srgbClr val="1E2761"/>
          </a:solidFill>
          <a:ln>
            <a:noFill/>
          </a:ln>
        </p:spPr>
        <p:txBody>
          <a:bodyPr wrap="square" lIns="36576" tIns="0" rIns="36576" bIns="0" rtlCol="0" anchor="ctr">
            <a:noAutofit/>
          </a:bodyPr>
          <a:lstStyle/>
          <a:p>
            <a:pPr algn="ctr">
              <a:buNone/>
            </a:pPr>
            <a:r>
              <a:rPr lang="ja-JP" altLang="en-US" sz="1200" b="1" dirty="0">
                <a:solidFill>
                  <a:srgbClr val="FFFFFF"/>
                </a:solidFill>
                <a:latin typeface="メイリオ" panose="020B0604030504040204" pitchFamily="50" charset="-128"/>
                <a:ea typeface="メイリオ" panose="020B0604030504040204" pitchFamily="50" charset="-128"/>
              </a:rPr>
              <a:t>勤務の前にお届けする情報</a:t>
            </a:r>
            <a:endParaRPr lang="ja-JP" altLang="en-US" sz="1200" dirty="0"/>
          </a:p>
        </p:txBody>
      </p:sp>
      <p:sp>
        <p:nvSpPr>
          <p:cNvPr id="23" name="Rounded Rectangle 22"/>
          <p:cNvSpPr/>
          <p:nvPr/>
        </p:nvSpPr>
        <p:spPr>
          <a:xfrm>
            <a:off x="429768" y="1810512"/>
            <a:ext cx="2880360" cy="914400"/>
          </a:xfrm>
          <a:prstGeom prst="roundRect">
            <a:avLst>
              <a:gd name="adj" fmla="val 5000"/>
            </a:avLst>
          </a:prstGeom>
          <a:solidFill>
            <a:srgbClr val="F5F6FA"/>
          </a:solidFill>
          <a:ln w="9525">
            <a:solidFill>
              <a:srgbClr val="D9D9D9"/>
            </a:solidFill>
          </a:ln>
        </p:spPr>
        <p:txBody>
          <a:bodyPr wrap="square" lIns="109728" tIns="73152" rIns="91440" bIns="54864" rtlCol="0" anchor="t">
            <a:noAutofit/>
          </a:bodyPr>
          <a:lstStyle/>
          <a:p>
            <a:pPr algn="l">
              <a:spcAft>
                <a:spcPts val="200"/>
              </a:spcAft>
              <a:buNone/>
            </a:pPr>
            <a:r>
              <a:rPr lang="ja-JP" altLang="en-US" sz="1200" b="1" dirty="0">
                <a:solidFill>
                  <a:srgbClr val="323366"/>
                </a:solidFill>
                <a:latin typeface="メイリオ" panose="020B0604030504040204" pitchFamily="50" charset="-128"/>
                <a:ea typeface="メイリオ" panose="020B0604030504040204" pitchFamily="50" charset="-128"/>
              </a:rPr>
              <a:t>勤務が決まったら</a:t>
            </a:r>
            <a:endParaRPr lang="ja-JP" altLang="en-US" sz="1200" dirty="0"/>
          </a:p>
          <a:p>
            <a:pPr algn="l">
              <a:spcAft>
                <a:spcPts val="200"/>
              </a:spcAft>
              <a:buNone/>
            </a:pPr>
            <a:r>
              <a:rPr lang="ja-JP" altLang="en-US" sz="1200" b="0" dirty="0">
                <a:solidFill>
                  <a:srgbClr val="333333"/>
                </a:solidFill>
                <a:latin typeface="メイリオ" panose="020B0604030504040204" pitchFamily="50" charset="-128"/>
                <a:ea typeface="メイリオ" panose="020B0604030504040204" pitchFamily="50" charset="-128"/>
              </a:rPr>
              <a:t>会場・集合場所と時間・持ち物・服装</a:t>
            </a:r>
            <a:endParaRPr lang="ja-JP" altLang="en-US" sz="1200" dirty="0"/>
          </a:p>
        </p:txBody>
      </p:sp>
      <p:sp>
        <p:nvSpPr>
          <p:cNvPr id="24" name="Rounded Rectangle 23"/>
          <p:cNvSpPr/>
          <p:nvPr/>
        </p:nvSpPr>
        <p:spPr>
          <a:xfrm>
            <a:off x="429768" y="2834640"/>
            <a:ext cx="2880360" cy="914400"/>
          </a:xfrm>
          <a:prstGeom prst="roundRect">
            <a:avLst>
              <a:gd name="adj" fmla="val 5000"/>
            </a:avLst>
          </a:prstGeom>
          <a:solidFill>
            <a:srgbClr val="F5F6FA"/>
          </a:solidFill>
          <a:ln w="9525">
            <a:solidFill>
              <a:srgbClr val="D9D9D9"/>
            </a:solidFill>
          </a:ln>
        </p:spPr>
        <p:txBody>
          <a:bodyPr wrap="square" lIns="109728" tIns="73152" rIns="91440" bIns="54864" rtlCol="0" anchor="t">
            <a:noAutofit/>
          </a:bodyPr>
          <a:lstStyle/>
          <a:p>
            <a:pPr algn="l">
              <a:spcAft>
                <a:spcPts val="200"/>
              </a:spcAft>
              <a:buNone/>
            </a:pPr>
            <a:r>
              <a:rPr lang="ja-JP" altLang="en-US" sz="1200" b="1" dirty="0">
                <a:solidFill>
                  <a:srgbClr val="323366"/>
                </a:solidFill>
                <a:latin typeface="メイリオ" panose="020B0604030504040204" pitchFamily="50" charset="-128"/>
                <a:ea typeface="メイリオ" panose="020B0604030504040204" pitchFamily="50" charset="-128"/>
              </a:rPr>
              <a:t>勤務の前日</a:t>
            </a:r>
            <a:endParaRPr lang="ja-JP" altLang="en-US" sz="1200" dirty="0"/>
          </a:p>
          <a:p>
            <a:pPr algn="l">
              <a:spcAft>
                <a:spcPts val="200"/>
              </a:spcAft>
              <a:buNone/>
            </a:pPr>
            <a:r>
              <a:rPr lang="ja-JP" altLang="en-US" sz="1200" b="0" dirty="0">
                <a:solidFill>
                  <a:srgbClr val="333333"/>
                </a:solidFill>
                <a:latin typeface="メイリオ" panose="020B0604030504040204" pitchFamily="50" charset="-128"/>
                <a:ea typeface="メイリオ" panose="020B0604030504040204" pitchFamily="50" charset="-128"/>
              </a:rPr>
              <a:t>リマインド（集合時間・持ち物・天候による変更など）</a:t>
            </a:r>
            <a:endParaRPr lang="ja-JP" altLang="en-US" sz="1200" dirty="0"/>
          </a:p>
        </p:txBody>
      </p:sp>
      <p:sp>
        <p:nvSpPr>
          <p:cNvPr id="25" name="Rounded Rectangle 24"/>
          <p:cNvSpPr/>
          <p:nvPr/>
        </p:nvSpPr>
        <p:spPr>
          <a:xfrm>
            <a:off x="429768" y="3858768"/>
            <a:ext cx="2880360" cy="914400"/>
          </a:xfrm>
          <a:prstGeom prst="roundRect">
            <a:avLst>
              <a:gd name="adj" fmla="val 5000"/>
            </a:avLst>
          </a:prstGeom>
          <a:solidFill>
            <a:srgbClr val="F5F6FA"/>
          </a:solidFill>
          <a:ln w="9525">
            <a:solidFill>
              <a:srgbClr val="D9D9D9"/>
            </a:solidFill>
          </a:ln>
        </p:spPr>
        <p:txBody>
          <a:bodyPr wrap="square" lIns="109728" tIns="73152" rIns="91440" bIns="54864" rtlCol="0" anchor="t">
            <a:noAutofit/>
          </a:bodyPr>
          <a:lstStyle/>
          <a:p>
            <a:pPr algn="l">
              <a:spcAft>
                <a:spcPts val="200"/>
              </a:spcAft>
              <a:buNone/>
            </a:pPr>
            <a:r>
              <a:rPr lang="ja-JP" altLang="en-US" sz="1200" b="1" dirty="0">
                <a:solidFill>
                  <a:srgbClr val="323366"/>
                </a:solidFill>
                <a:latin typeface="メイリオ" panose="020B0604030504040204" pitchFamily="50" charset="-128"/>
                <a:ea typeface="メイリオ" panose="020B0604030504040204" pitchFamily="50" charset="-128"/>
              </a:rPr>
              <a:t>勤務の当日</a:t>
            </a:r>
            <a:endParaRPr lang="ja-JP" altLang="en-US" sz="1200" dirty="0"/>
          </a:p>
          <a:p>
            <a:pPr algn="l">
              <a:spcAft>
                <a:spcPts val="200"/>
              </a:spcAft>
              <a:buNone/>
            </a:pPr>
            <a:r>
              <a:rPr lang="ja-JP" altLang="en-US" sz="1200" b="0" dirty="0">
                <a:solidFill>
                  <a:srgbClr val="333333"/>
                </a:solidFill>
                <a:latin typeface="メイリオ" panose="020B0604030504040204" pitchFamily="50" charset="-128"/>
                <a:ea typeface="メイリオ" panose="020B0604030504040204" pitchFamily="50" charset="-128"/>
              </a:rPr>
              <a:t>注意事項・当日の連絡先</a:t>
            </a:r>
            <a:endParaRPr lang="ja-JP" altLang="en-US" sz="1200" dirty="0"/>
          </a:p>
        </p:txBody>
      </p:sp>
      <p:sp>
        <p:nvSpPr>
          <p:cNvPr id="26" name="Rounded Rectangle 25"/>
          <p:cNvSpPr/>
          <p:nvPr/>
        </p:nvSpPr>
        <p:spPr>
          <a:xfrm>
            <a:off x="3511296" y="1371600"/>
            <a:ext cx="2880360" cy="329184"/>
          </a:xfrm>
          <a:prstGeom prst="roundRect">
            <a:avLst>
              <a:gd name="adj" fmla="val 20000"/>
            </a:avLst>
          </a:prstGeom>
          <a:solidFill>
            <a:srgbClr val="1E2761"/>
          </a:solidFill>
          <a:ln>
            <a:noFill/>
          </a:ln>
        </p:spPr>
        <p:txBody>
          <a:bodyPr wrap="square" lIns="36576" tIns="0" rIns="36576" bIns="0" rtlCol="0" anchor="ctr">
            <a:noAutofit/>
          </a:bodyPr>
          <a:lstStyle/>
          <a:p>
            <a:pPr algn="ctr">
              <a:buNone/>
            </a:pPr>
            <a:r>
              <a:rPr lang="ja-JP" altLang="en-US" sz="1200" b="1" dirty="0">
                <a:solidFill>
                  <a:srgbClr val="FFFFFF"/>
                </a:solidFill>
                <a:latin typeface="メイリオ" panose="020B0604030504040204" pitchFamily="50" charset="-128"/>
                <a:ea typeface="メイリオ" panose="020B0604030504040204" pitchFamily="50" charset="-128"/>
              </a:rPr>
              <a:t>届け方（運用に合わせて選びます）</a:t>
            </a:r>
            <a:endParaRPr lang="ja-JP" altLang="en-US" sz="1200" dirty="0"/>
          </a:p>
        </p:txBody>
      </p:sp>
      <p:sp>
        <p:nvSpPr>
          <p:cNvPr id="27" name="Rounded Rectangle 26"/>
          <p:cNvSpPr/>
          <p:nvPr/>
        </p:nvSpPr>
        <p:spPr>
          <a:xfrm>
            <a:off x="3511296" y="1810512"/>
            <a:ext cx="2880360" cy="914400"/>
          </a:xfrm>
          <a:prstGeom prst="roundRect">
            <a:avLst>
              <a:gd name="adj" fmla="val 5000"/>
            </a:avLst>
          </a:prstGeom>
          <a:solidFill>
            <a:srgbClr val="F5F6FA"/>
          </a:solidFill>
          <a:ln w="9525">
            <a:solidFill>
              <a:srgbClr val="D9D9D9"/>
            </a:solidFill>
          </a:ln>
        </p:spPr>
        <p:txBody>
          <a:bodyPr wrap="square" lIns="109728" tIns="73152" rIns="91440" bIns="54864" rtlCol="0" anchor="t">
            <a:noAutofit/>
          </a:bodyPr>
          <a:lstStyle/>
          <a:p>
            <a:pPr algn="l">
              <a:spcAft>
                <a:spcPts val="200"/>
              </a:spcAft>
              <a:buNone/>
            </a:pPr>
            <a:r>
              <a:rPr lang="ja-JP" altLang="en-US" sz="1200" b="1" dirty="0">
                <a:solidFill>
                  <a:srgbClr val="323366"/>
                </a:solidFill>
                <a:latin typeface="メイリオ" panose="020B0604030504040204" pitchFamily="50" charset="-128"/>
                <a:ea typeface="メイリオ" panose="020B0604030504040204" pitchFamily="50" charset="-128"/>
              </a:rPr>
              <a:t>一斉案内</a:t>
            </a:r>
            <a:endParaRPr lang="ja-JP" altLang="en-US" sz="1200" dirty="0"/>
          </a:p>
          <a:p>
            <a:pPr algn="l">
              <a:spcAft>
                <a:spcPts val="200"/>
              </a:spcAft>
              <a:buNone/>
            </a:pPr>
            <a:r>
              <a:rPr lang="ja-JP" altLang="en-US" sz="1200" b="0" dirty="0">
                <a:solidFill>
                  <a:srgbClr val="333333"/>
                </a:solidFill>
                <a:latin typeface="メイリオ" panose="020B0604030504040204" pitchFamily="50" charset="-128"/>
                <a:ea typeface="メイリオ" panose="020B0604030504040204" pitchFamily="50" charset="-128"/>
              </a:rPr>
              <a:t>同じイベントに勤務する方へ、</a:t>
            </a:r>
            <a:endParaRPr lang="en-US" altLang="ja-JP" sz="1200" b="0" dirty="0">
              <a:solidFill>
                <a:srgbClr val="333333"/>
              </a:solidFill>
              <a:latin typeface="メイリオ" panose="020B0604030504040204" pitchFamily="50" charset="-128"/>
              <a:ea typeface="メイリオ" panose="020B0604030504040204" pitchFamily="50" charset="-128"/>
            </a:endParaRPr>
          </a:p>
          <a:p>
            <a:pPr algn="l">
              <a:spcAft>
                <a:spcPts val="200"/>
              </a:spcAft>
              <a:buNone/>
            </a:pPr>
            <a:r>
              <a:rPr lang="ja-JP" altLang="en-US" sz="1200" b="0" dirty="0">
                <a:solidFill>
                  <a:srgbClr val="333333"/>
                </a:solidFill>
                <a:latin typeface="メイリオ" panose="020B0604030504040204" pitchFamily="50" charset="-128"/>
                <a:ea typeface="メイリオ" panose="020B0604030504040204" pitchFamily="50" charset="-128"/>
              </a:rPr>
              <a:t>まとめて案内</a:t>
            </a:r>
            <a:endParaRPr lang="ja-JP" altLang="en-US" sz="1200" dirty="0"/>
          </a:p>
        </p:txBody>
      </p:sp>
      <p:sp>
        <p:nvSpPr>
          <p:cNvPr id="28" name="Rounded Rectangle 27"/>
          <p:cNvSpPr/>
          <p:nvPr/>
        </p:nvSpPr>
        <p:spPr>
          <a:xfrm>
            <a:off x="3511296" y="2834640"/>
            <a:ext cx="2880360" cy="914400"/>
          </a:xfrm>
          <a:prstGeom prst="roundRect">
            <a:avLst>
              <a:gd name="adj" fmla="val 5000"/>
            </a:avLst>
          </a:prstGeom>
          <a:solidFill>
            <a:srgbClr val="F5F6FA"/>
          </a:solidFill>
          <a:ln w="9525">
            <a:solidFill>
              <a:srgbClr val="D9D9D9"/>
            </a:solidFill>
          </a:ln>
        </p:spPr>
        <p:txBody>
          <a:bodyPr wrap="square" lIns="109728" tIns="73152" rIns="91440" bIns="54864" rtlCol="0" anchor="t">
            <a:noAutofit/>
          </a:bodyPr>
          <a:lstStyle/>
          <a:p>
            <a:pPr algn="l">
              <a:spcAft>
                <a:spcPts val="200"/>
              </a:spcAft>
              <a:buNone/>
            </a:pPr>
            <a:r>
              <a:rPr lang="ja-JP" altLang="en-US" sz="1200" b="1" dirty="0">
                <a:solidFill>
                  <a:srgbClr val="323366"/>
                </a:solidFill>
                <a:latin typeface="メイリオ" panose="020B0604030504040204" pitchFamily="50" charset="-128"/>
                <a:ea typeface="メイリオ" panose="020B0604030504040204" pitchFamily="50" charset="-128"/>
              </a:rPr>
              <a:t>タグで対象者別</a:t>
            </a:r>
            <a:endParaRPr lang="ja-JP" altLang="en-US" sz="1200" dirty="0"/>
          </a:p>
          <a:p>
            <a:pPr algn="l">
              <a:spcAft>
                <a:spcPts val="200"/>
              </a:spcAft>
              <a:buNone/>
            </a:pPr>
            <a:r>
              <a:rPr lang="ja-JP" altLang="en-US" sz="1200" b="0" dirty="0">
                <a:solidFill>
                  <a:srgbClr val="333333"/>
                </a:solidFill>
                <a:latin typeface="メイリオ" panose="020B0604030504040204" pitchFamily="50" charset="-128"/>
                <a:ea typeface="メイリオ" panose="020B0604030504040204" pitchFamily="50" charset="-128"/>
              </a:rPr>
              <a:t>会場・業務ごとに、対象の方だけに</a:t>
            </a:r>
            <a:endParaRPr lang="en-US" altLang="ja-JP" sz="1200" b="0" dirty="0">
              <a:solidFill>
                <a:srgbClr val="333333"/>
              </a:solidFill>
              <a:latin typeface="メイリオ" panose="020B0604030504040204" pitchFamily="50" charset="-128"/>
              <a:ea typeface="メイリオ" panose="020B0604030504040204" pitchFamily="50" charset="-128"/>
            </a:endParaRPr>
          </a:p>
          <a:p>
            <a:pPr algn="l">
              <a:spcAft>
                <a:spcPts val="200"/>
              </a:spcAft>
              <a:buNone/>
            </a:pPr>
            <a:r>
              <a:rPr lang="ja-JP" altLang="en-US" sz="1200" b="0" dirty="0">
                <a:solidFill>
                  <a:srgbClr val="333333"/>
                </a:solidFill>
                <a:latin typeface="メイリオ" panose="020B0604030504040204" pitchFamily="50" charset="-128"/>
                <a:ea typeface="メイリオ" panose="020B0604030504040204" pitchFamily="50" charset="-128"/>
              </a:rPr>
              <a:t>案内</a:t>
            </a:r>
            <a:endParaRPr lang="ja-JP" altLang="en-US" sz="1200" dirty="0"/>
          </a:p>
        </p:txBody>
      </p:sp>
      <p:sp>
        <p:nvSpPr>
          <p:cNvPr id="29" name="Rounded Rectangle 28"/>
          <p:cNvSpPr/>
          <p:nvPr/>
        </p:nvSpPr>
        <p:spPr>
          <a:xfrm>
            <a:off x="3511296" y="3858768"/>
            <a:ext cx="2880360" cy="914400"/>
          </a:xfrm>
          <a:prstGeom prst="roundRect">
            <a:avLst>
              <a:gd name="adj" fmla="val 5000"/>
            </a:avLst>
          </a:prstGeom>
          <a:solidFill>
            <a:srgbClr val="F5F6FA"/>
          </a:solidFill>
          <a:ln w="9525">
            <a:solidFill>
              <a:srgbClr val="D9D9D9"/>
            </a:solidFill>
          </a:ln>
        </p:spPr>
        <p:txBody>
          <a:bodyPr wrap="square" lIns="109728" tIns="73152" rIns="91440" bIns="54864" rtlCol="0" anchor="t">
            <a:noAutofit/>
          </a:bodyPr>
          <a:lstStyle/>
          <a:p>
            <a:pPr algn="l">
              <a:spcAft>
                <a:spcPts val="200"/>
              </a:spcAft>
              <a:buNone/>
            </a:pPr>
            <a:r>
              <a:rPr lang="ja-JP" altLang="en-US" sz="1200" b="1" dirty="0">
                <a:solidFill>
                  <a:srgbClr val="323366"/>
                </a:solidFill>
                <a:latin typeface="メイリオ" panose="020B0604030504040204" pitchFamily="50" charset="-128"/>
                <a:ea typeface="メイリオ" panose="020B0604030504040204" pitchFamily="50" charset="-128"/>
              </a:rPr>
              <a:t>個別連絡（チャット）</a:t>
            </a:r>
            <a:endParaRPr lang="ja-JP" altLang="en-US" sz="1200" dirty="0"/>
          </a:p>
          <a:p>
            <a:pPr algn="l">
              <a:spcAft>
                <a:spcPts val="200"/>
              </a:spcAft>
              <a:buNone/>
            </a:pPr>
            <a:r>
              <a:rPr lang="ja-JP" altLang="en-US" sz="1200" b="0" dirty="0">
                <a:solidFill>
                  <a:srgbClr val="333333"/>
                </a:solidFill>
                <a:latin typeface="メイリオ" panose="020B0604030504040204" pitchFamily="50" charset="-128"/>
                <a:ea typeface="メイリオ" panose="020B0604030504040204" pitchFamily="50" charset="-128"/>
              </a:rPr>
              <a:t>勤務の変更・欠席・質問など、</a:t>
            </a:r>
            <a:endParaRPr lang="en-US" altLang="ja-JP" sz="1200" b="0" dirty="0">
              <a:solidFill>
                <a:srgbClr val="333333"/>
              </a:solidFill>
              <a:latin typeface="メイリオ" panose="020B0604030504040204" pitchFamily="50" charset="-128"/>
              <a:ea typeface="メイリオ" panose="020B0604030504040204" pitchFamily="50" charset="-128"/>
            </a:endParaRPr>
          </a:p>
          <a:p>
            <a:pPr algn="l">
              <a:spcAft>
                <a:spcPts val="200"/>
              </a:spcAft>
              <a:buNone/>
            </a:pPr>
            <a:r>
              <a:rPr lang="ja-JP" altLang="en-US" sz="1200" b="0" dirty="0">
                <a:solidFill>
                  <a:srgbClr val="333333"/>
                </a:solidFill>
                <a:latin typeface="メイリオ" panose="020B0604030504040204" pitchFamily="50" charset="-128"/>
                <a:ea typeface="メイリオ" panose="020B0604030504040204" pitchFamily="50" charset="-128"/>
              </a:rPr>
              <a:t>1対1のやり取り</a:t>
            </a:r>
            <a:endParaRPr lang="ja-JP" altLang="en-US" sz="1200" dirty="0"/>
          </a:p>
        </p:txBody>
      </p:sp>
      <p:sp>
        <p:nvSpPr>
          <p:cNvPr id="30" name="Rounded Rectangle 29"/>
          <p:cNvSpPr/>
          <p:nvPr/>
        </p:nvSpPr>
        <p:spPr>
          <a:xfrm>
            <a:off x="6592824" y="1371600"/>
            <a:ext cx="2880360" cy="329184"/>
          </a:xfrm>
          <a:prstGeom prst="roundRect">
            <a:avLst>
              <a:gd name="adj" fmla="val 20000"/>
            </a:avLst>
          </a:prstGeom>
          <a:solidFill>
            <a:srgbClr val="1E2761"/>
          </a:solidFill>
          <a:ln>
            <a:noFill/>
          </a:ln>
        </p:spPr>
        <p:txBody>
          <a:bodyPr wrap="square" lIns="36576" tIns="0" rIns="36576" bIns="0" rtlCol="0" anchor="ctr">
            <a:noAutofit/>
          </a:bodyPr>
          <a:lstStyle/>
          <a:p>
            <a:pPr algn="ctr">
              <a:buNone/>
            </a:pPr>
            <a:r>
              <a:rPr lang="ja-JP" altLang="en-US" sz="1200" b="1" dirty="0">
                <a:solidFill>
                  <a:srgbClr val="FFFFFF"/>
                </a:solidFill>
                <a:latin typeface="メイリオ" panose="020B0604030504040204" pitchFamily="50" charset="-128"/>
                <a:ea typeface="メイリオ" panose="020B0604030504040204" pitchFamily="50" charset="-128"/>
              </a:rPr>
              <a:t>期待できること</a:t>
            </a:r>
            <a:endParaRPr lang="ja-JP" altLang="en-US" sz="1200" dirty="0"/>
          </a:p>
        </p:txBody>
      </p:sp>
      <p:sp>
        <p:nvSpPr>
          <p:cNvPr id="31" name="Rounded Rectangle 30"/>
          <p:cNvSpPr/>
          <p:nvPr/>
        </p:nvSpPr>
        <p:spPr>
          <a:xfrm>
            <a:off x="6592824" y="1810512"/>
            <a:ext cx="2880360" cy="914400"/>
          </a:xfrm>
          <a:prstGeom prst="roundRect">
            <a:avLst>
              <a:gd name="adj" fmla="val 5000"/>
            </a:avLst>
          </a:prstGeom>
          <a:solidFill>
            <a:srgbClr val="FFFFFF"/>
          </a:solidFill>
          <a:ln w="9525">
            <a:solidFill>
              <a:srgbClr val="1E2761"/>
            </a:solidFill>
          </a:ln>
        </p:spPr>
        <p:txBody>
          <a:bodyPr wrap="square" lIns="109728" tIns="73152" rIns="91440" bIns="54864" rtlCol="0" anchor="t">
            <a:noAutofit/>
          </a:bodyPr>
          <a:lstStyle/>
          <a:p>
            <a:pPr algn="l">
              <a:spcAft>
                <a:spcPts val="200"/>
              </a:spcAft>
              <a:buNone/>
            </a:pPr>
            <a:r>
              <a:rPr lang="ja-JP" altLang="en-US" sz="1200" b="1" dirty="0">
                <a:solidFill>
                  <a:srgbClr val="323366"/>
                </a:solidFill>
                <a:latin typeface="メイリオ" panose="020B0604030504040204" pitchFamily="50" charset="-128"/>
                <a:ea typeface="メイリオ" panose="020B0604030504040204" pitchFamily="50" charset="-128"/>
              </a:rPr>
              <a:t>スタッフの皆さま</a:t>
            </a:r>
            <a:endParaRPr lang="ja-JP" altLang="en-US" sz="1200" dirty="0"/>
          </a:p>
          <a:p>
            <a:pPr algn="l">
              <a:spcAft>
                <a:spcPts val="200"/>
              </a:spcAft>
              <a:buNone/>
            </a:pPr>
            <a:r>
              <a:rPr lang="ja-JP" altLang="en-US" sz="1200" b="0" dirty="0">
                <a:solidFill>
                  <a:srgbClr val="333333"/>
                </a:solidFill>
                <a:latin typeface="メイリオ" panose="020B0604030504040204" pitchFamily="50" charset="-128"/>
                <a:ea typeface="メイリオ" panose="020B0604030504040204" pitchFamily="50" charset="-128"/>
              </a:rPr>
              <a:t>必要な情報をLINEで見返せる。</a:t>
            </a:r>
            <a:endParaRPr lang="en-US" altLang="ja-JP" sz="1200" b="0" dirty="0">
              <a:solidFill>
                <a:srgbClr val="333333"/>
              </a:solidFill>
              <a:latin typeface="メイリオ" panose="020B0604030504040204" pitchFamily="50" charset="-128"/>
              <a:ea typeface="メイリオ" panose="020B0604030504040204" pitchFamily="50" charset="-128"/>
            </a:endParaRPr>
          </a:p>
          <a:p>
            <a:pPr algn="l">
              <a:spcAft>
                <a:spcPts val="200"/>
              </a:spcAft>
              <a:buNone/>
            </a:pPr>
            <a:r>
              <a:rPr lang="ja-JP" altLang="en-US" sz="1200" b="0" dirty="0">
                <a:solidFill>
                  <a:srgbClr val="333333"/>
                </a:solidFill>
                <a:latin typeface="メイリオ" panose="020B0604030504040204" pitchFamily="50" charset="-128"/>
                <a:ea typeface="メイリオ" panose="020B0604030504040204" pitchFamily="50" charset="-128"/>
              </a:rPr>
              <a:t>通知で気づける。質問しやすい</a:t>
            </a:r>
            <a:endParaRPr lang="ja-JP" altLang="en-US" sz="1200" dirty="0"/>
          </a:p>
        </p:txBody>
      </p:sp>
      <p:sp>
        <p:nvSpPr>
          <p:cNvPr id="32" name="Rounded Rectangle 31"/>
          <p:cNvSpPr/>
          <p:nvPr/>
        </p:nvSpPr>
        <p:spPr>
          <a:xfrm>
            <a:off x="6592824" y="2834640"/>
            <a:ext cx="2880360" cy="914400"/>
          </a:xfrm>
          <a:prstGeom prst="roundRect">
            <a:avLst>
              <a:gd name="adj" fmla="val 5000"/>
            </a:avLst>
          </a:prstGeom>
          <a:solidFill>
            <a:srgbClr val="FFFFFF"/>
          </a:solidFill>
          <a:ln w="9525">
            <a:solidFill>
              <a:srgbClr val="1E2761"/>
            </a:solidFill>
          </a:ln>
        </p:spPr>
        <p:txBody>
          <a:bodyPr wrap="square" lIns="109728" tIns="73152" rIns="91440" bIns="54864" rtlCol="0" anchor="t">
            <a:noAutofit/>
          </a:bodyPr>
          <a:lstStyle/>
          <a:p>
            <a:pPr algn="l">
              <a:spcAft>
                <a:spcPts val="200"/>
              </a:spcAft>
              <a:buNone/>
            </a:pPr>
            <a:r>
              <a:rPr lang="ja-JP" altLang="en-US" sz="1200" b="1" dirty="0">
                <a:solidFill>
                  <a:srgbClr val="323366"/>
                </a:solidFill>
                <a:latin typeface="メイリオ" panose="020B0604030504040204" pitchFamily="50" charset="-128"/>
                <a:ea typeface="メイリオ" panose="020B0604030504040204" pitchFamily="50" charset="-128"/>
              </a:rPr>
              <a:t>横浜シミズ様（管理側）</a:t>
            </a:r>
            <a:endParaRPr lang="ja-JP" altLang="en-US" sz="1200" dirty="0"/>
          </a:p>
          <a:p>
            <a:pPr algn="l">
              <a:spcAft>
                <a:spcPts val="200"/>
              </a:spcAft>
              <a:buNone/>
            </a:pPr>
            <a:r>
              <a:rPr lang="ja-JP" altLang="en-US" sz="1200" b="0" dirty="0">
                <a:solidFill>
                  <a:srgbClr val="333333"/>
                </a:solidFill>
                <a:latin typeface="メイリオ" panose="020B0604030504040204" pitchFamily="50" charset="-128"/>
                <a:ea typeface="メイリオ" panose="020B0604030504040204" pitchFamily="50" charset="-128"/>
              </a:rPr>
              <a:t>一斉に送れる。案内の型をつくり、</a:t>
            </a:r>
            <a:endParaRPr lang="en-US" altLang="ja-JP" sz="1200" b="0" dirty="0">
              <a:solidFill>
                <a:srgbClr val="333333"/>
              </a:solidFill>
              <a:latin typeface="メイリオ" panose="020B0604030504040204" pitchFamily="50" charset="-128"/>
              <a:ea typeface="メイリオ" panose="020B0604030504040204" pitchFamily="50" charset="-128"/>
            </a:endParaRPr>
          </a:p>
          <a:p>
            <a:pPr algn="l">
              <a:spcAft>
                <a:spcPts val="200"/>
              </a:spcAft>
              <a:buNone/>
            </a:pPr>
            <a:r>
              <a:rPr lang="ja-JP" altLang="en-US" sz="1200" b="0" dirty="0">
                <a:solidFill>
                  <a:srgbClr val="333333"/>
                </a:solidFill>
                <a:latin typeface="メイリオ" panose="020B0604030504040204" pitchFamily="50" charset="-128"/>
                <a:ea typeface="メイリオ" panose="020B0604030504040204" pitchFamily="50" charset="-128"/>
              </a:rPr>
              <a:t>毎回の作成の手間を減らす</a:t>
            </a:r>
            <a:endParaRPr lang="ja-JP" altLang="en-US" sz="1200" dirty="0"/>
          </a:p>
        </p:txBody>
      </p:sp>
      <p:sp>
        <p:nvSpPr>
          <p:cNvPr id="33" name="Rounded Rectangle 32"/>
          <p:cNvSpPr/>
          <p:nvPr/>
        </p:nvSpPr>
        <p:spPr>
          <a:xfrm>
            <a:off x="6592824" y="3858768"/>
            <a:ext cx="2880360" cy="914400"/>
          </a:xfrm>
          <a:prstGeom prst="roundRect">
            <a:avLst>
              <a:gd name="adj" fmla="val 5000"/>
            </a:avLst>
          </a:prstGeom>
          <a:solidFill>
            <a:srgbClr val="FFFFFF"/>
          </a:solidFill>
          <a:ln w="9525">
            <a:solidFill>
              <a:srgbClr val="1E2761"/>
            </a:solidFill>
          </a:ln>
        </p:spPr>
        <p:txBody>
          <a:bodyPr wrap="square" lIns="109728" tIns="73152" rIns="91440" bIns="54864" rtlCol="0" anchor="t">
            <a:noAutofit/>
          </a:bodyPr>
          <a:lstStyle/>
          <a:p>
            <a:pPr algn="l">
              <a:spcAft>
                <a:spcPts val="200"/>
              </a:spcAft>
              <a:buNone/>
            </a:pPr>
            <a:r>
              <a:rPr lang="ja-JP" altLang="en-US" sz="1200" b="1" dirty="0">
                <a:solidFill>
                  <a:srgbClr val="323366"/>
                </a:solidFill>
                <a:latin typeface="メイリオ" panose="020B0604030504040204" pitchFamily="50" charset="-128"/>
                <a:ea typeface="メイリオ" panose="020B0604030504040204" pitchFamily="50" charset="-128"/>
              </a:rPr>
              <a:t>横浜シミズ様（管理側）</a:t>
            </a:r>
            <a:endParaRPr lang="ja-JP" altLang="en-US" sz="1200" dirty="0"/>
          </a:p>
          <a:p>
            <a:pPr algn="l">
              <a:spcAft>
                <a:spcPts val="200"/>
              </a:spcAft>
              <a:buNone/>
            </a:pPr>
            <a:r>
              <a:rPr lang="ja-JP" altLang="en-US" sz="1200" b="0" dirty="0">
                <a:solidFill>
                  <a:srgbClr val="333333"/>
                </a:solidFill>
                <a:latin typeface="メイリオ" panose="020B0604030504040204" pitchFamily="50" charset="-128"/>
                <a:ea typeface="メイリオ" panose="020B0604030504040204" pitchFamily="50" charset="-128"/>
              </a:rPr>
              <a:t>電話・メールでの個別の確認を減らせる（期待効果）</a:t>
            </a:r>
            <a:endParaRPr lang="ja-JP" altLang="en-US" sz="1200" dirty="0"/>
          </a:p>
        </p:txBody>
      </p:sp>
      <p:sp>
        <p:nvSpPr>
          <p:cNvPr id="34" name="Rectangle 33"/>
          <p:cNvSpPr/>
          <p:nvPr/>
        </p:nvSpPr>
        <p:spPr>
          <a:xfrm>
            <a:off x="429768" y="4919472"/>
            <a:ext cx="9043416" cy="548640"/>
          </a:xfrm>
          <a:prstGeom prst="rect">
            <a:avLst/>
          </a:prstGeom>
          <a:noFill/>
          <a:ln>
            <a:noFill/>
          </a:ln>
        </p:spPr>
        <p:txBody>
          <a:bodyPr wrap="square" lIns="18288" tIns="0" rIns="18288" bIns="0" rtlCol="0" anchor="ctr">
            <a:noAutofit/>
          </a:bodyPr>
          <a:lstStyle/>
          <a:p>
            <a:pPr algn="l">
              <a:buNone/>
            </a:pPr>
            <a:r>
              <a:rPr lang="ja-JP" altLang="en-US" sz="1000" b="0" dirty="0">
                <a:solidFill>
                  <a:srgbClr val="595959"/>
                </a:solidFill>
                <a:latin typeface="メイリオ" panose="020B0604030504040204" pitchFamily="50" charset="-128"/>
                <a:ea typeface="メイリオ" panose="020B0604030504040204" pitchFamily="50" charset="-128"/>
              </a:rPr>
              <a:t>※勤務の予定とLINEの自動連携は前提にしていません。一斉案内・タグ・個別連絡の組み合わせで始め、自動連携が必要な場合は別途確認します。</a:t>
            </a:r>
            <a:endParaRPr lang="ja-JP" altLang="en-US" sz="10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9000" y="138240"/>
            <a:ext cx="7920000" cy="338040"/>
          </a:xfrm>
          <a:prstGeom prst="rect">
            <a:avLst/>
          </a:prstGeom>
          <a:noFill/>
        </p:spPr>
        <p:txBody>
          <a:bodyPr wrap="square" lIns="91425" tIns="45700" rIns="91425" bIns="45700" anchor="ctr">
            <a:spAutoFit/>
          </a:bodyPr>
          <a:lstStyle/>
          <a:p>
            <a:pPr algn="l">
              <a:lnSpc>
                <a:spcPct val="120000"/>
              </a:lnSpc>
            </a:pPr>
            <a:r>
              <a:rPr sz="1600" b="1">
                <a:solidFill>
                  <a:srgbClr val="323366"/>
                </a:solidFill>
                <a:latin typeface="メイリオ"/>
                <a:ea typeface="メイリオ"/>
                <a:cs typeface="メイリオ"/>
              </a:rPr>
              <a:t>施策③｜再応募・再稼働：希望に合う募集だけを届ける</a:t>
            </a:r>
          </a:p>
        </p:txBody>
      </p:sp>
      <p:sp>
        <p:nvSpPr>
          <p:cNvPr id="3" name="TextBox 2"/>
          <p:cNvSpPr txBox="1"/>
          <p:nvPr/>
        </p:nvSpPr>
        <p:spPr>
          <a:xfrm>
            <a:off x="309600" y="687600"/>
            <a:ext cx="9331200" cy="585216"/>
          </a:xfrm>
          <a:prstGeom prst="rect">
            <a:avLst/>
          </a:prstGeom>
          <a:noFill/>
        </p:spPr>
        <p:txBody>
          <a:bodyPr wrap="square" lIns="28800" tIns="7200" rIns="28800" bIns="7200" anchor="ctr">
            <a:spAutoFit/>
          </a:bodyPr>
          <a:lstStyle/>
          <a:p>
            <a:pPr algn="l">
              <a:lnSpc>
                <a:spcPct val="120000"/>
              </a:lnSpc>
            </a:pPr>
            <a:r>
              <a:rPr sz="1400" b="1">
                <a:solidFill>
                  <a:srgbClr val="1E2761"/>
                </a:solidFill>
                <a:latin typeface="メイリオ"/>
                <a:ea typeface="メイリオ"/>
                <a:cs typeface="メイリオ"/>
              </a:rPr>
              <a:t>エリア・会場・業務・曜日などをタグで管理し、対象を絞ってイベントの募集をお届けします。</a:t>
            </a:r>
          </a:p>
          <a:p>
            <a:pPr algn="l">
              <a:lnSpc>
                <a:spcPct val="120000"/>
              </a:lnSpc>
            </a:pPr>
            <a:r>
              <a:rPr sz="1400" b="1">
                <a:solidFill>
                  <a:srgbClr val="FF0000"/>
                </a:solidFill>
                <a:latin typeface="メイリオ"/>
                <a:ea typeface="メイリオ"/>
                <a:cs typeface="メイリオ"/>
              </a:rPr>
              <a:t>合わない募集が届かないので、ブロックを抑えることが期待できます。</a:t>
            </a:r>
          </a:p>
        </p:txBody>
      </p:sp>
      <p:sp>
        <p:nvSpPr>
          <p:cNvPr id="18" name="Rectangle 17"/>
          <p:cNvSpPr/>
          <p:nvPr/>
        </p:nvSpPr>
        <p:spPr>
          <a:xfrm>
            <a:off x="429768" y="5596128"/>
            <a:ext cx="9043416" cy="374904"/>
          </a:xfrm>
          <a:prstGeom prst="rect">
            <a:avLst/>
          </a:prstGeom>
          <a:solidFill>
            <a:srgbClr val="0020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ectangle 20"/>
          <p:cNvSpPr/>
          <p:nvPr/>
        </p:nvSpPr>
        <p:spPr>
          <a:xfrm>
            <a:off x="429768" y="5596128"/>
            <a:ext cx="9043416" cy="374904"/>
          </a:xfrm>
          <a:prstGeom prst="rect">
            <a:avLst/>
          </a:prstGeom>
          <a:noFill/>
          <a:ln>
            <a:noFill/>
          </a:ln>
        </p:spPr>
        <p:txBody>
          <a:bodyPr wrap="square" lIns="45720" tIns="0" rIns="45720" bIns="0" rtlCol="0" anchor="ctr">
            <a:noAutofit/>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rPr>
              <a:t>取れる情報から始めて、配信のたびに絞り込みの精度を上げる</a:t>
            </a:r>
            <a:endParaRPr lang="ja-JP" altLang="en-US" sz="1300" dirty="0"/>
          </a:p>
        </p:txBody>
      </p:sp>
      <p:graphicFrame>
        <p:nvGraphicFramePr>
          <p:cNvPr id="22" name="表 21"/>
          <p:cNvGraphicFramePr>
            <a:graphicFrameLocks noGrp="1"/>
          </p:cNvGraphicFramePr>
          <p:nvPr>
            <p:extLst>
              <p:ext uri="{D42A27DB-BD31-4B8C-83A1-F6EECF244321}">
                <p14:modId xmlns:p14="http://schemas.microsoft.com/office/powerpoint/2010/main" val="1362775021"/>
              </p:ext>
            </p:extLst>
          </p:nvPr>
        </p:nvGraphicFramePr>
        <p:xfrm>
          <a:off x="429767" y="1371600"/>
          <a:ext cx="5039379" cy="2889504"/>
        </p:xfrm>
        <a:graphic>
          <a:graphicData uri="http://schemas.openxmlformats.org/drawingml/2006/table">
            <a:tbl>
              <a:tblPr/>
              <a:tblGrid>
                <a:gridCol w="1166523">
                  <a:extLst>
                    <a:ext uri="{9D8B030D-6E8A-4147-A177-3AD203B41FA5}">
                      <a16:colId xmlns:a16="http://schemas.microsoft.com/office/drawing/2014/main" val="20000"/>
                    </a:ext>
                  </a:extLst>
                </a:gridCol>
                <a:gridCol w="2286385">
                  <a:extLst>
                    <a:ext uri="{9D8B030D-6E8A-4147-A177-3AD203B41FA5}">
                      <a16:colId xmlns:a16="http://schemas.microsoft.com/office/drawing/2014/main" val="20001"/>
                    </a:ext>
                  </a:extLst>
                </a:gridCol>
                <a:gridCol w="1586471">
                  <a:extLst>
                    <a:ext uri="{9D8B030D-6E8A-4147-A177-3AD203B41FA5}">
                      <a16:colId xmlns:a16="http://schemas.microsoft.com/office/drawing/2014/main" val="20002"/>
                    </a:ext>
                  </a:extLst>
                </a:gridCol>
              </a:tblGrid>
              <a:tr h="329184">
                <a:tc>
                  <a:txBody>
                    <a:bodyPr/>
                    <a:lstStyle/>
                    <a:p>
                      <a:pPr algn="ctr">
                        <a:buNone/>
                      </a:pPr>
                      <a:r>
                        <a:rPr lang="ja-JP" altLang="en-US" sz="1050" b="1" dirty="0">
                          <a:solidFill>
                            <a:srgbClr val="FFFFFF"/>
                          </a:solidFill>
                          <a:latin typeface="メイリオ" panose="020B0604030504040204" pitchFamily="50" charset="-128"/>
                          <a:ea typeface="メイリオ" panose="020B0604030504040204" pitchFamily="50" charset="-128"/>
                        </a:rPr>
                        <a:t>タグ</a:t>
                      </a:r>
                      <a:endParaRPr lang="ja-JP" altLang="en-US" sz="105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1E2761"/>
                    </a:solidFill>
                  </a:tcPr>
                </a:tc>
                <a:tc>
                  <a:txBody>
                    <a:bodyPr/>
                    <a:lstStyle/>
                    <a:p>
                      <a:pPr algn="ctr">
                        <a:buNone/>
                      </a:pPr>
                      <a:r>
                        <a:rPr lang="ja-JP" altLang="en-US" sz="1100" b="1" dirty="0">
                          <a:solidFill>
                            <a:srgbClr val="FFFFFF"/>
                          </a:solidFill>
                          <a:latin typeface="メイリオ" panose="020B0604030504040204" pitchFamily="50" charset="-128"/>
                          <a:ea typeface="メイリオ" panose="020B0604030504040204" pitchFamily="50" charset="-128"/>
                        </a:rPr>
                        <a:t>例</a:t>
                      </a:r>
                      <a:endParaRPr lang="ja-JP" altLang="en-US" sz="11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1E2761"/>
                    </a:solidFill>
                  </a:tcPr>
                </a:tc>
                <a:tc>
                  <a:txBody>
                    <a:bodyPr/>
                    <a:lstStyle/>
                    <a:p>
                      <a:pPr algn="ctr">
                        <a:buNone/>
                      </a:pPr>
                      <a:r>
                        <a:rPr lang="ja-JP" altLang="en-US" sz="1100" b="1" dirty="0">
                          <a:solidFill>
                            <a:srgbClr val="FFFFFF"/>
                          </a:solidFill>
                          <a:latin typeface="メイリオ" panose="020B0604030504040204" pitchFamily="50" charset="-128"/>
                          <a:ea typeface="メイリオ" panose="020B0604030504040204" pitchFamily="50" charset="-128"/>
                        </a:rPr>
                        <a:t>取り方</a:t>
                      </a:r>
                      <a:endParaRPr lang="ja-JP" altLang="en-US" sz="11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1E2761"/>
                    </a:solidFill>
                  </a:tcPr>
                </a:tc>
                <a:extLst>
                  <a:ext uri="{0D108BD9-81ED-4DB2-BD59-A6C34878D82A}">
                    <a16:rowId xmlns:a16="http://schemas.microsoft.com/office/drawing/2014/main" val="10000"/>
                  </a:ext>
                </a:extLst>
              </a:tr>
              <a:tr h="512064">
                <a:tc>
                  <a:txBody>
                    <a:bodyPr/>
                    <a:lstStyle/>
                    <a:p>
                      <a:pPr algn="ctr">
                        <a:buNone/>
                      </a:pPr>
                      <a:r>
                        <a:rPr lang="ja-JP" altLang="en-US" sz="1050" b="1" dirty="0">
                          <a:solidFill>
                            <a:srgbClr val="323366"/>
                          </a:solidFill>
                          <a:latin typeface="メイリオ" panose="020B0604030504040204" pitchFamily="50" charset="-128"/>
                          <a:ea typeface="メイリオ" panose="020B0604030504040204" pitchFamily="50" charset="-128"/>
                        </a:rPr>
                        <a:t>エリア</a:t>
                      </a:r>
                      <a:endParaRPr lang="ja-JP" altLang="en-US" sz="105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EF2F9"/>
                    </a:solidFill>
                  </a:tcPr>
                </a:tc>
                <a:tc>
                  <a:txBody>
                    <a:bodyPr/>
                    <a:lstStyle/>
                    <a:p>
                      <a:pPr algn="l">
                        <a:buNone/>
                      </a:pPr>
                      <a:r>
                        <a:rPr lang="ja-JP" altLang="en-US" sz="1100" b="0" dirty="0">
                          <a:solidFill>
                            <a:srgbClr val="333333"/>
                          </a:solidFill>
                          <a:latin typeface="メイリオ" panose="020B0604030504040204" pitchFamily="50" charset="-128"/>
                          <a:ea typeface="メイリオ" panose="020B0604030504040204" pitchFamily="50" charset="-128"/>
                        </a:rPr>
                        <a:t>神奈川（横浜・川崎・湘南など）／静岡</a:t>
                      </a:r>
                      <a:endParaRPr lang="ja-JP" altLang="en-US" sz="11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l">
                        <a:buNone/>
                      </a:pPr>
                      <a:r>
                        <a:rPr lang="ja-JP" altLang="en-US" sz="1050" b="0" dirty="0">
                          <a:solidFill>
                            <a:srgbClr val="333333"/>
                          </a:solidFill>
                          <a:latin typeface="メイリオ" panose="020B0604030504040204" pitchFamily="50" charset="-128"/>
                          <a:ea typeface="メイリオ" panose="020B0604030504040204" pitchFamily="50" charset="-128"/>
                        </a:rPr>
                        <a:t>追加後の質問</a:t>
                      </a:r>
                      <a:endParaRPr lang="en-US" altLang="ja-JP" sz="1050" b="0" dirty="0">
                        <a:solidFill>
                          <a:srgbClr val="333333"/>
                        </a:solidFill>
                        <a:latin typeface="メイリオ" panose="020B0604030504040204" pitchFamily="50" charset="-128"/>
                        <a:ea typeface="メイリオ" panose="020B0604030504040204" pitchFamily="50" charset="-128"/>
                      </a:endParaRPr>
                    </a:p>
                    <a:p>
                      <a:pPr algn="l">
                        <a:buNone/>
                      </a:pPr>
                      <a:r>
                        <a:rPr lang="ja-JP" altLang="en-US" sz="1050" b="0" dirty="0">
                          <a:solidFill>
                            <a:srgbClr val="333333"/>
                          </a:solidFill>
                          <a:latin typeface="メイリオ" panose="020B0604030504040204" pitchFamily="50" charset="-128"/>
                          <a:ea typeface="メイリオ" panose="020B0604030504040204" pitchFamily="50" charset="-128"/>
                        </a:rPr>
                        <a:t>（選択式）</a:t>
                      </a:r>
                      <a:endParaRPr lang="ja-JP" altLang="en-US" sz="105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12064">
                <a:tc>
                  <a:txBody>
                    <a:bodyPr/>
                    <a:lstStyle/>
                    <a:p>
                      <a:pPr algn="ctr">
                        <a:buNone/>
                      </a:pPr>
                      <a:r>
                        <a:rPr lang="ja-JP" altLang="en-US" sz="1050" b="1" dirty="0">
                          <a:solidFill>
                            <a:srgbClr val="323366"/>
                          </a:solidFill>
                          <a:latin typeface="メイリオ" panose="020B0604030504040204" pitchFamily="50" charset="-128"/>
                          <a:ea typeface="メイリオ" panose="020B0604030504040204" pitchFamily="50" charset="-128"/>
                        </a:rPr>
                        <a:t>会場</a:t>
                      </a:r>
                      <a:endParaRPr lang="ja-JP" altLang="en-US" sz="105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EF2F9"/>
                    </a:solidFill>
                  </a:tcPr>
                </a:tc>
                <a:tc>
                  <a:txBody>
                    <a:bodyPr/>
                    <a:lstStyle/>
                    <a:p>
                      <a:pPr algn="l">
                        <a:buNone/>
                      </a:pPr>
                      <a:r>
                        <a:rPr lang="ja-JP" altLang="en-US" sz="1100" b="0" dirty="0">
                          <a:solidFill>
                            <a:srgbClr val="333333"/>
                          </a:solidFill>
                          <a:latin typeface="メイリオ" panose="020B0604030504040204" pitchFamily="50" charset="-128"/>
                          <a:ea typeface="メイリオ" panose="020B0604030504040204" pitchFamily="50" charset="-128"/>
                        </a:rPr>
                        <a:t>日産スタジアム・横浜アリーナ・横浜スタジアムなど</a:t>
                      </a:r>
                      <a:endParaRPr lang="ja-JP" altLang="en-US" sz="11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l">
                        <a:buNone/>
                      </a:pPr>
                      <a:r>
                        <a:rPr lang="ja-JP" altLang="en-US" sz="1050" b="0" dirty="0">
                          <a:solidFill>
                            <a:srgbClr val="333333"/>
                          </a:solidFill>
                          <a:latin typeface="メイリオ" panose="020B0604030504040204" pitchFamily="50" charset="-128"/>
                          <a:ea typeface="メイリオ" panose="020B0604030504040204" pitchFamily="50" charset="-128"/>
                        </a:rPr>
                        <a:t>追加後の質問・勤務の案内時</a:t>
                      </a:r>
                      <a:endParaRPr lang="ja-JP" altLang="en-US" sz="105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12064">
                <a:tc>
                  <a:txBody>
                    <a:bodyPr/>
                    <a:lstStyle/>
                    <a:p>
                      <a:pPr algn="ctr">
                        <a:buNone/>
                      </a:pPr>
                      <a:r>
                        <a:rPr lang="ja-JP" altLang="en-US" sz="1050" b="1" dirty="0">
                          <a:solidFill>
                            <a:srgbClr val="323366"/>
                          </a:solidFill>
                          <a:latin typeface="メイリオ" panose="020B0604030504040204" pitchFamily="50" charset="-128"/>
                          <a:ea typeface="メイリオ" panose="020B0604030504040204" pitchFamily="50" charset="-128"/>
                        </a:rPr>
                        <a:t>業務</a:t>
                      </a:r>
                      <a:endParaRPr lang="ja-JP" altLang="en-US" sz="105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EF2F9"/>
                    </a:solidFill>
                  </a:tcPr>
                </a:tc>
                <a:tc>
                  <a:txBody>
                    <a:bodyPr/>
                    <a:lstStyle/>
                    <a:p>
                      <a:pPr algn="l">
                        <a:buNone/>
                      </a:pPr>
                      <a:r>
                        <a:rPr lang="ja-JP" altLang="en-US" sz="1100" b="0" dirty="0">
                          <a:solidFill>
                            <a:srgbClr val="333333"/>
                          </a:solidFill>
                          <a:latin typeface="メイリオ" panose="020B0604030504040204" pitchFamily="50" charset="-128"/>
                          <a:ea typeface="メイリオ" panose="020B0604030504040204" pitchFamily="50" charset="-128"/>
                        </a:rPr>
                        <a:t>案内・誘導／販売／警備／</a:t>
                      </a:r>
                      <a:endParaRPr lang="en-US" altLang="ja-JP" sz="1100" b="0" dirty="0">
                        <a:solidFill>
                          <a:srgbClr val="333333"/>
                        </a:solidFill>
                        <a:latin typeface="メイリオ" panose="020B0604030504040204" pitchFamily="50" charset="-128"/>
                        <a:ea typeface="メイリオ" panose="020B0604030504040204" pitchFamily="50" charset="-128"/>
                      </a:endParaRPr>
                    </a:p>
                    <a:p>
                      <a:pPr algn="l">
                        <a:buNone/>
                      </a:pPr>
                      <a:r>
                        <a:rPr lang="ja-JP" altLang="en-US" sz="1100" b="0" dirty="0">
                          <a:solidFill>
                            <a:srgbClr val="333333"/>
                          </a:solidFill>
                          <a:latin typeface="メイリオ" panose="020B0604030504040204" pitchFamily="50" charset="-128"/>
                          <a:ea typeface="メイリオ" panose="020B0604030504040204" pitchFamily="50" charset="-128"/>
                        </a:rPr>
                        <a:t>設営・撤去</a:t>
                      </a:r>
                      <a:endParaRPr lang="ja-JP" altLang="en-US" sz="11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l">
                        <a:buNone/>
                      </a:pPr>
                      <a:r>
                        <a:rPr lang="ja-JP" altLang="en-US" sz="1050" b="0" dirty="0">
                          <a:solidFill>
                            <a:srgbClr val="333333"/>
                          </a:solidFill>
                          <a:latin typeface="メイリオ" panose="020B0604030504040204" pitchFamily="50" charset="-128"/>
                          <a:ea typeface="メイリオ" panose="020B0604030504040204" pitchFamily="50" charset="-128"/>
                        </a:rPr>
                        <a:t>追加後の質問</a:t>
                      </a:r>
                      <a:endParaRPr lang="ja-JP" altLang="en-US" sz="105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12064">
                <a:tc>
                  <a:txBody>
                    <a:bodyPr/>
                    <a:lstStyle/>
                    <a:p>
                      <a:pPr algn="ctr">
                        <a:buNone/>
                      </a:pPr>
                      <a:r>
                        <a:rPr lang="ja-JP" altLang="en-US" sz="1050" b="1" dirty="0">
                          <a:solidFill>
                            <a:srgbClr val="323366"/>
                          </a:solidFill>
                          <a:latin typeface="メイリオ" panose="020B0604030504040204" pitchFamily="50" charset="-128"/>
                          <a:ea typeface="メイリオ" panose="020B0604030504040204" pitchFamily="50" charset="-128"/>
                        </a:rPr>
                        <a:t>曜日・時間帯</a:t>
                      </a:r>
                      <a:endParaRPr lang="ja-JP" altLang="en-US" sz="105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EF2F9"/>
                    </a:solidFill>
                  </a:tcPr>
                </a:tc>
                <a:tc>
                  <a:txBody>
                    <a:bodyPr/>
                    <a:lstStyle/>
                    <a:p>
                      <a:pPr algn="l">
                        <a:buNone/>
                      </a:pPr>
                      <a:r>
                        <a:rPr lang="ja-JP" altLang="en-US" sz="1100" b="0" dirty="0">
                          <a:solidFill>
                            <a:srgbClr val="333333"/>
                          </a:solidFill>
                          <a:latin typeface="メイリオ" panose="020B0604030504040204" pitchFamily="50" charset="-128"/>
                          <a:ea typeface="メイリオ" panose="020B0604030504040204" pitchFamily="50" charset="-128"/>
                        </a:rPr>
                        <a:t>土日祝／平日／夜</a:t>
                      </a:r>
                      <a:endParaRPr lang="ja-JP" altLang="en-US" sz="11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l">
                        <a:buNone/>
                      </a:pPr>
                      <a:r>
                        <a:rPr lang="ja-JP" altLang="en-US" sz="1050" b="0" dirty="0">
                          <a:solidFill>
                            <a:srgbClr val="333333"/>
                          </a:solidFill>
                          <a:latin typeface="メイリオ" panose="020B0604030504040204" pitchFamily="50" charset="-128"/>
                          <a:ea typeface="メイリオ" panose="020B0604030504040204" pitchFamily="50" charset="-128"/>
                        </a:rPr>
                        <a:t>追加後の質問・</a:t>
                      </a:r>
                      <a:endParaRPr lang="en-US" altLang="ja-JP" sz="1050" b="0" dirty="0">
                        <a:solidFill>
                          <a:srgbClr val="333333"/>
                        </a:solidFill>
                        <a:latin typeface="メイリオ" panose="020B0604030504040204" pitchFamily="50" charset="-128"/>
                        <a:ea typeface="メイリオ" panose="020B0604030504040204" pitchFamily="50" charset="-128"/>
                      </a:endParaRPr>
                    </a:p>
                    <a:p>
                      <a:pPr algn="l">
                        <a:buNone/>
                      </a:pPr>
                      <a:r>
                        <a:rPr lang="ja-JP" altLang="en-US" sz="1050" b="0" dirty="0">
                          <a:solidFill>
                            <a:srgbClr val="333333"/>
                          </a:solidFill>
                          <a:latin typeface="メイリオ" panose="020B0604030504040204" pitchFamily="50" charset="-128"/>
                          <a:ea typeface="メイリオ" panose="020B0604030504040204" pitchFamily="50" charset="-128"/>
                        </a:rPr>
                        <a:t>メニューで変更</a:t>
                      </a:r>
                      <a:endParaRPr lang="ja-JP" altLang="en-US" sz="105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512064">
                <a:tc>
                  <a:txBody>
                    <a:bodyPr/>
                    <a:lstStyle/>
                    <a:p>
                      <a:pPr algn="ctr">
                        <a:buNone/>
                      </a:pPr>
                      <a:r>
                        <a:rPr lang="ja-JP" altLang="en-US" sz="1050" b="1" dirty="0">
                          <a:solidFill>
                            <a:srgbClr val="323366"/>
                          </a:solidFill>
                          <a:latin typeface="メイリオ" panose="020B0604030504040204" pitchFamily="50" charset="-128"/>
                          <a:ea typeface="メイリオ" panose="020B0604030504040204" pitchFamily="50" charset="-128"/>
                        </a:rPr>
                        <a:t>勤務実績</a:t>
                      </a:r>
                      <a:endParaRPr lang="ja-JP" altLang="en-US" sz="105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EF2F9"/>
                    </a:solidFill>
                  </a:tcPr>
                </a:tc>
                <a:tc>
                  <a:txBody>
                    <a:bodyPr/>
                    <a:lstStyle/>
                    <a:p>
                      <a:pPr algn="l">
                        <a:buNone/>
                      </a:pPr>
                      <a:r>
                        <a:rPr lang="ja-JP" altLang="en-US" sz="1100" b="0" dirty="0">
                          <a:solidFill>
                            <a:srgbClr val="333333"/>
                          </a:solidFill>
                          <a:latin typeface="メイリオ" panose="020B0604030504040204" pitchFamily="50" charset="-128"/>
                          <a:ea typeface="メイリオ" panose="020B0604030504040204" pitchFamily="50" charset="-128"/>
                        </a:rPr>
                        <a:t>勤務済み／まだ勤務なし</a:t>
                      </a:r>
                      <a:endParaRPr lang="ja-JP" altLang="en-US" sz="11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l">
                        <a:buNone/>
                      </a:pPr>
                      <a:r>
                        <a:rPr lang="ja-JP" altLang="en-US" sz="1050" b="0" dirty="0">
                          <a:solidFill>
                            <a:srgbClr val="333333"/>
                          </a:solidFill>
                          <a:latin typeface="メイリオ" panose="020B0604030504040204" pitchFamily="50" charset="-128"/>
                          <a:ea typeface="メイリオ" panose="020B0604030504040204" pitchFamily="50" charset="-128"/>
                        </a:rPr>
                        <a:t>勤務実績を確認</a:t>
                      </a:r>
                      <a:endParaRPr lang="ja-JP" altLang="en-US" sz="1050" dirty="0"/>
                    </a:p>
                    <a:p>
                      <a:pPr algn="l">
                        <a:buNone/>
                      </a:pPr>
                      <a:r>
                        <a:rPr lang="ja-JP" altLang="en-US" sz="1050" b="0" dirty="0">
                          <a:solidFill>
                            <a:srgbClr val="333333"/>
                          </a:solidFill>
                          <a:latin typeface="メイリオ" panose="020B0604030504040204" pitchFamily="50" charset="-128"/>
                          <a:ea typeface="メイリオ" panose="020B0604030504040204" pitchFamily="50" charset="-128"/>
                        </a:rPr>
                        <a:t>できた方だけ</a:t>
                      </a:r>
                      <a:endParaRPr lang="ja-JP" altLang="en-US" sz="105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23" name="Rectangle 22"/>
          <p:cNvSpPr/>
          <p:nvPr/>
        </p:nvSpPr>
        <p:spPr>
          <a:xfrm>
            <a:off x="429768" y="4315968"/>
            <a:ext cx="4937760" cy="1188720"/>
          </a:xfrm>
          <a:prstGeom prst="rect">
            <a:avLst/>
          </a:prstGeom>
          <a:noFill/>
          <a:ln>
            <a:noFill/>
          </a:ln>
        </p:spPr>
        <p:txBody>
          <a:bodyPr wrap="square" lIns="18288" tIns="18288" rIns="18288" bIns="0" rtlCol="0" anchor="t">
            <a:noAutofit/>
          </a:bodyPr>
          <a:lstStyle/>
          <a:p>
            <a:pPr algn="l">
              <a:spcAft>
                <a:spcPts val="100"/>
              </a:spcAft>
              <a:buNone/>
            </a:pPr>
            <a:r>
              <a:rPr lang="ja-JP" altLang="en-US" sz="950" b="0" dirty="0">
                <a:solidFill>
                  <a:srgbClr val="595959"/>
                </a:solidFill>
                <a:latin typeface="メイリオ" panose="020B0604030504040204" pitchFamily="50" charset="-128"/>
                <a:ea typeface="メイリオ" panose="020B0604030504040204" pitchFamily="50" charset="-128"/>
              </a:rPr>
              <a:t>※再応募＝登録済みの方からの、次回イベントへの勤務希望（シフトの申告）も含みます。</a:t>
            </a:r>
            <a:endParaRPr lang="ja-JP" altLang="en-US" sz="950" dirty="0"/>
          </a:p>
          <a:p>
            <a:pPr algn="l">
              <a:spcAft>
                <a:spcPts val="100"/>
              </a:spcAft>
              <a:buNone/>
            </a:pPr>
            <a:r>
              <a:rPr lang="ja-JP" altLang="en-US" sz="950" b="0" dirty="0">
                <a:solidFill>
                  <a:srgbClr val="595959"/>
                </a:solidFill>
                <a:latin typeface="メイリオ" panose="020B0604030504040204" pitchFamily="50" charset="-128"/>
                <a:ea typeface="メイリオ" panose="020B0604030504040204" pitchFamily="50" charset="-128"/>
              </a:rPr>
              <a:t>※取れる情報から、段階的にタグを付けます（システム連携は前提にしません）。</a:t>
            </a:r>
            <a:endParaRPr lang="ja-JP" altLang="en-US" sz="950" dirty="0"/>
          </a:p>
          <a:p>
            <a:pPr algn="l">
              <a:spcAft>
                <a:spcPts val="100"/>
              </a:spcAft>
              <a:buNone/>
            </a:pPr>
            <a:r>
              <a:rPr lang="ja-JP" altLang="en-US" sz="950" b="0" dirty="0">
                <a:solidFill>
                  <a:srgbClr val="595959"/>
                </a:solidFill>
                <a:latin typeface="メイリオ" panose="020B0604030504040204" pitchFamily="50" charset="-128"/>
                <a:ea typeface="メイリオ" panose="020B0604030504040204" pitchFamily="50" charset="-128"/>
              </a:rPr>
              <a:t>※勤務の案内を送っただけでは「勤務済み」にしません。</a:t>
            </a:r>
            <a:endParaRPr lang="ja-JP" altLang="en-US" sz="950" dirty="0"/>
          </a:p>
          <a:p>
            <a:pPr algn="l">
              <a:spcAft>
                <a:spcPts val="100"/>
              </a:spcAft>
              <a:buNone/>
            </a:pPr>
            <a:r>
              <a:rPr lang="ja-JP" altLang="en-US" sz="950" b="0" dirty="0">
                <a:solidFill>
                  <a:srgbClr val="595959"/>
                </a:solidFill>
                <a:latin typeface="メイリオ" panose="020B0604030504040204" pitchFamily="50" charset="-128"/>
                <a:ea typeface="メイリオ" panose="020B0604030504040204" pitchFamily="50" charset="-128"/>
              </a:rPr>
              <a:t>※勤務の履歴・希望条件をいまどこで管理しているかは確認事項です。</a:t>
            </a:r>
            <a:endParaRPr lang="ja-JP" altLang="en-US" sz="950" dirty="0"/>
          </a:p>
        </p:txBody>
      </p:sp>
      <p:sp>
        <p:nvSpPr>
          <p:cNvPr id="24" name="Rounded Rectangle 23"/>
          <p:cNvSpPr/>
          <p:nvPr/>
        </p:nvSpPr>
        <p:spPr>
          <a:xfrm>
            <a:off x="5596128" y="1371600"/>
            <a:ext cx="3877056" cy="329184"/>
          </a:xfrm>
          <a:prstGeom prst="roundRect">
            <a:avLst>
              <a:gd name="adj" fmla="val 20000"/>
            </a:avLst>
          </a:prstGeom>
          <a:solidFill>
            <a:srgbClr val="1E2761"/>
          </a:solidFill>
          <a:ln>
            <a:noFill/>
          </a:ln>
        </p:spPr>
        <p:txBody>
          <a:bodyPr wrap="square" lIns="36576" tIns="0" rIns="36576" bIns="0" rtlCol="0" anchor="ctr">
            <a:noAutofit/>
          </a:bodyPr>
          <a:lstStyle/>
          <a:p>
            <a:pPr algn="ctr">
              <a:buNone/>
            </a:pPr>
            <a:r>
              <a:rPr lang="ja-JP" altLang="en-US" sz="1150" b="1" dirty="0">
                <a:solidFill>
                  <a:srgbClr val="FFFFFF"/>
                </a:solidFill>
                <a:latin typeface="メイリオ" panose="020B0604030504040204" pitchFamily="50" charset="-128"/>
                <a:ea typeface="メイリオ" panose="020B0604030504040204" pitchFamily="50" charset="-128"/>
              </a:rPr>
              <a:t>配信の出し分けの例</a:t>
            </a:r>
            <a:endParaRPr lang="ja-JP" altLang="en-US" sz="1150" dirty="0"/>
          </a:p>
        </p:txBody>
      </p:sp>
      <p:sp>
        <p:nvSpPr>
          <p:cNvPr id="25" name="Rectangle 24"/>
          <p:cNvSpPr/>
          <p:nvPr/>
        </p:nvSpPr>
        <p:spPr>
          <a:xfrm>
            <a:off x="5596128" y="1828800"/>
            <a:ext cx="1600200" cy="603504"/>
          </a:xfrm>
          <a:prstGeom prst="rect">
            <a:avLst/>
          </a:prstGeom>
          <a:solidFill>
            <a:srgbClr val="EEF2F9"/>
          </a:solidFill>
          <a:ln>
            <a:noFill/>
          </a:ln>
        </p:spPr>
        <p:txBody>
          <a:bodyPr wrap="square" lIns="36576" tIns="0" rIns="36576" bIns="0" rtlCol="0" anchor="ctr">
            <a:noAutofit/>
          </a:bodyPr>
          <a:lstStyle/>
          <a:p>
            <a:pPr algn="ctr">
              <a:buNone/>
            </a:pPr>
            <a:r>
              <a:rPr lang="ja-JP" altLang="en-US" sz="1100" b="1" dirty="0">
                <a:solidFill>
                  <a:srgbClr val="323366"/>
                </a:solidFill>
                <a:latin typeface="メイリオ" panose="020B0604030504040204" pitchFamily="50" charset="-128"/>
                <a:ea typeface="メイリオ" panose="020B0604030504040204" pitchFamily="50" charset="-128"/>
              </a:rPr>
              <a:t>横浜エリアを希望</a:t>
            </a:r>
            <a:endParaRPr lang="ja-JP" altLang="en-US" sz="1100" dirty="0"/>
          </a:p>
        </p:txBody>
      </p:sp>
      <p:cxnSp>
        <p:nvCxnSpPr>
          <p:cNvPr id="26" name="Connector 25"/>
          <p:cNvCxnSpPr/>
          <p:nvPr/>
        </p:nvCxnSpPr>
        <p:spPr>
          <a:xfrm>
            <a:off x="7242048" y="2130552"/>
            <a:ext cx="292608" cy="0"/>
          </a:xfrm>
          <a:prstGeom prst="line">
            <a:avLst/>
          </a:prstGeom>
          <a:ln w="22225">
            <a:solidFill>
              <a:srgbClr val="1E2761"/>
            </a:solidFill>
            <a:tailEnd type="triangle" w="med" len="med"/>
          </a:ln>
        </p:spPr>
      </p:cxnSp>
      <p:sp>
        <p:nvSpPr>
          <p:cNvPr id="27" name="Rounded Rectangle 26"/>
          <p:cNvSpPr/>
          <p:nvPr/>
        </p:nvSpPr>
        <p:spPr>
          <a:xfrm>
            <a:off x="7580375" y="1828800"/>
            <a:ext cx="1892808" cy="603504"/>
          </a:xfrm>
          <a:prstGeom prst="roundRect">
            <a:avLst>
              <a:gd name="adj" fmla="val 5000"/>
            </a:avLst>
          </a:prstGeom>
          <a:solidFill>
            <a:srgbClr val="FFFFFF"/>
          </a:solidFill>
          <a:ln w="9525">
            <a:solidFill>
              <a:srgbClr val="1E2761"/>
            </a:solidFill>
          </a:ln>
        </p:spPr>
        <p:txBody>
          <a:bodyPr wrap="square" lIns="36576" tIns="0" rIns="36576" bIns="0" rtlCol="0" anchor="ctr">
            <a:noAutofit/>
          </a:bodyPr>
          <a:lstStyle/>
          <a:p>
            <a:pPr algn="ctr">
              <a:buNone/>
            </a:pPr>
            <a:r>
              <a:rPr lang="ja-JP" altLang="en-US" sz="1100" b="0" dirty="0">
                <a:solidFill>
                  <a:srgbClr val="333333"/>
                </a:solidFill>
                <a:latin typeface="メイリオ" panose="020B0604030504040204" pitchFamily="50" charset="-128"/>
                <a:ea typeface="メイリオ" panose="020B0604030504040204" pitchFamily="50" charset="-128"/>
              </a:rPr>
              <a:t>横浜周辺のイベントの募集</a:t>
            </a:r>
            <a:endParaRPr lang="ja-JP" altLang="en-US" sz="1100" dirty="0"/>
          </a:p>
        </p:txBody>
      </p:sp>
      <p:sp>
        <p:nvSpPr>
          <p:cNvPr id="28" name="Rectangle 27"/>
          <p:cNvSpPr/>
          <p:nvPr/>
        </p:nvSpPr>
        <p:spPr>
          <a:xfrm>
            <a:off x="5596128" y="2615184"/>
            <a:ext cx="1600200" cy="603504"/>
          </a:xfrm>
          <a:prstGeom prst="rect">
            <a:avLst/>
          </a:prstGeom>
          <a:solidFill>
            <a:srgbClr val="EEF2F9"/>
          </a:solidFill>
          <a:ln>
            <a:noFill/>
          </a:ln>
        </p:spPr>
        <p:txBody>
          <a:bodyPr wrap="square" lIns="36576" tIns="0" rIns="36576" bIns="0" rtlCol="0" anchor="ctr">
            <a:noAutofit/>
          </a:bodyPr>
          <a:lstStyle/>
          <a:p>
            <a:pPr algn="ctr">
              <a:buNone/>
            </a:pPr>
            <a:r>
              <a:rPr lang="ja-JP" altLang="en-US" sz="1100" b="1" dirty="0">
                <a:solidFill>
                  <a:srgbClr val="323366"/>
                </a:solidFill>
                <a:latin typeface="メイリオ" panose="020B0604030504040204" pitchFamily="50" charset="-128"/>
                <a:ea typeface="メイリオ" panose="020B0604030504040204" pitchFamily="50" charset="-128"/>
              </a:rPr>
              <a:t>特定の会場に関心</a:t>
            </a:r>
            <a:endParaRPr lang="ja-JP" altLang="en-US" sz="1100" dirty="0"/>
          </a:p>
        </p:txBody>
      </p:sp>
      <p:cxnSp>
        <p:nvCxnSpPr>
          <p:cNvPr id="29" name="Connector 28"/>
          <p:cNvCxnSpPr/>
          <p:nvPr/>
        </p:nvCxnSpPr>
        <p:spPr>
          <a:xfrm>
            <a:off x="7242048" y="2916936"/>
            <a:ext cx="292608" cy="0"/>
          </a:xfrm>
          <a:prstGeom prst="line">
            <a:avLst/>
          </a:prstGeom>
          <a:ln w="22225">
            <a:solidFill>
              <a:srgbClr val="1E2761"/>
            </a:solidFill>
            <a:tailEnd type="triangle" w="med" len="med"/>
          </a:ln>
        </p:spPr>
      </p:cxnSp>
      <p:sp>
        <p:nvSpPr>
          <p:cNvPr id="30" name="Rounded Rectangle 29"/>
          <p:cNvSpPr/>
          <p:nvPr/>
        </p:nvSpPr>
        <p:spPr>
          <a:xfrm>
            <a:off x="7580375" y="2615184"/>
            <a:ext cx="1892808" cy="603504"/>
          </a:xfrm>
          <a:prstGeom prst="roundRect">
            <a:avLst>
              <a:gd name="adj" fmla="val 5000"/>
            </a:avLst>
          </a:prstGeom>
          <a:solidFill>
            <a:srgbClr val="FFFFFF"/>
          </a:solidFill>
          <a:ln w="9525">
            <a:solidFill>
              <a:srgbClr val="1E2761"/>
            </a:solidFill>
          </a:ln>
        </p:spPr>
        <p:txBody>
          <a:bodyPr wrap="square" lIns="36576" tIns="0" rIns="36576" bIns="0" rtlCol="0" anchor="ctr">
            <a:noAutofit/>
          </a:bodyPr>
          <a:lstStyle/>
          <a:p>
            <a:pPr algn="ctr">
              <a:buNone/>
            </a:pPr>
            <a:r>
              <a:rPr lang="ja-JP" altLang="en-US" sz="1100" b="0" dirty="0">
                <a:solidFill>
                  <a:srgbClr val="333333"/>
                </a:solidFill>
                <a:latin typeface="メイリオ" panose="020B0604030504040204" pitchFamily="50" charset="-128"/>
                <a:ea typeface="メイリオ" panose="020B0604030504040204" pitchFamily="50" charset="-128"/>
              </a:rPr>
              <a:t>その会場のイベントの募集</a:t>
            </a:r>
            <a:endParaRPr lang="ja-JP" altLang="en-US" sz="1100" dirty="0"/>
          </a:p>
        </p:txBody>
      </p:sp>
      <p:sp>
        <p:nvSpPr>
          <p:cNvPr id="31" name="Rectangle 30"/>
          <p:cNvSpPr/>
          <p:nvPr/>
        </p:nvSpPr>
        <p:spPr>
          <a:xfrm>
            <a:off x="5596128" y="3401568"/>
            <a:ext cx="1600200" cy="603504"/>
          </a:xfrm>
          <a:prstGeom prst="rect">
            <a:avLst/>
          </a:prstGeom>
          <a:solidFill>
            <a:srgbClr val="EEF2F9"/>
          </a:solidFill>
          <a:ln>
            <a:noFill/>
          </a:ln>
        </p:spPr>
        <p:txBody>
          <a:bodyPr wrap="square" lIns="36576" tIns="0" rIns="36576" bIns="0" rtlCol="0" anchor="ctr">
            <a:noAutofit/>
          </a:bodyPr>
          <a:lstStyle/>
          <a:p>
            <a:pPr algn="ctr">
              <a:buNone/>
            </a:pPr>
            <a:r>
              <a:rPr lang="ja-JP" altLang="en-US" sz="1100" b="1" dirty="0">
                <a:solidFill>
                  <a:srgbClr val="323366"/>
                </a:solidFill>
                <a:latin typeface="メイリオ" panose="020B0604030504040204" pitchFamily="50" charset="-128"/>
                <a:ea typeface="メイリオ" panose="020B0604030504040204" pitchFamily="50" charset="-128"/>
              </a:rPr>
              <a:t>土日に勤務したい</a:t>
            </a:r>
            <a:endParaRPr lang="ja-JP" altLang="en-US" sz="1100" dirty="0"/>
          </a:p>
        </p:txBody>
      </p:sp>
      <p:cxnSp>
        <p:nvCxnSpPr>
          <p:cNvPr id="32" name="Connector 31"/>
          <p:cNvCxnSpPr/>
          <p:nvPr/>
        </p:nvCxnSpPr>
        <p:spPr>
          <a:xfrm>
            <a:off x="7242048" y="3703320"/>
            <a:ext cx="292608" cy="0"/>
          </a:xfrm>
          <a:prstGeom prst="line">
            <a:avLst/>
          </a:prstGeom>
          <a:ln w="22225">
            <a:solidFill>
              <a:srgbClr val="1E2761"/>
            </a:solidFill>
            <a:tailEnd type="triangle" w="med" len="med"/>
          </a:ln>
        </p:spPr>
      </p:cxnSp>
      <p:sp>
        <p:nvSpPr>
          <p:cNvPr id="33" name="Rounded Rectangle 32"/>
          <p:cNvSpPr/>
          <p:nvPr/>
        </p:nvSpPr>
        <p:spPr>
          <a:xfrm>
            <a:off x="7580375" y="3401568"/>
            <a:ext cx="1892808" cy="603504"/>
          </a:xfrm>
          <a:prstGeom prst="roundRect">
            <a:avLst>
              <a:gd name="adj" fmla="val 5000"/>
            </a:avLst>
          </a:prstGeom>
          <a:solidFill>
            <a:srgbClr val="FFFFFF"/>
          </a:solidFill>
          <a:ln w="9525">
            <a:solidFill>
              <a:srgbClr val="1E2761"/>
            </a:solidFill>
          </a:ln>
        </p:spPr>
        <p:txBody>
          <a:bodyPr wrap="square" lIns="36576" tIns="0" rIns="36576" bIns="0" rtlCol="0" anchor="ctr">
            <a:noAutofit/>
          </a:bodyPr>
          <a:lstStyle/>
          <a:p>
            <a:pPr algn="ctr">
              <a:buNone/>
            </a:pPr>
            <a:r>
              <a:rPr lang="ja-JP" altLang="en-US" sz="1100" b="0" dirty="0">
                <a:solidFill>
                  <a:srgbClr val="333333"/>
                </a:solidFill>
                <a:latin typeface="メイリオ" panose="020B0604030504040204" pitchFamily="50" charset="-128"/>
                <a:ea typeface="メイリオ" panose="020B0604030504040204" pitchFamily="50" charset="-128"/>
              </a:rPr>
              <a:t>休日のイベントの募集</a:t>
            </a:r>
            <a:endParaRPr lang="ja-JP" altLang="en-US" sz="1100" dirty="0"/>
          </a:p>
        </p:txBody>
      </p:sp>
      <p:sp>
        <p:nvSpPr>
          <p:cNvPr id="34" name="Rectangle 33"/>
          <p:cNvSpPr/>
          <p:nvPr/>
        </p:nvSpPr>
        <p:spPr>
          <a:xfrm>
            <a:off x="5596128" y="4187952"/>
            <a:ext cx="1600200" cy="603504"/>
          </a:xfrm>
          <a:prstGeom prst="rect">
            <a:avLst/>
          </a:prstGeom>
          <a:solidFill>
            <a:srgbClr val="EEF2F9"/>
          </a:solidFill>
          <a:ln>
            <a:noFill/>
          </a:ln>
        </p:spPr>
        <p:txBody>
          <a:bodyPr wrap="square" lIns="36576" tIns="0" rIns="36576" bIns="0" rtlCol="0" anchor="ctr">
            <a:noAutofit/>
          </a:bodyPr>
          <a:lstStyle/>
          <a:p>
            <a:pPr algn="ctr">
              <a:buNone/>
            </a:pPr>
            <a:r>
              <a:rPr lang="ja-JP" altLang="en-US" sz="1100" b="1" dirty="0">
                <a:solidFill>
                  <a:srgbClr val="323366"/>
                </a:solidFill>
                <a:latin typeface="メイリオ" panose="020B0604030504040204" pitchFamily="50" charset="-128"/>
                <a:ea typeface="メイリオ" panose="020B0604030504040204" pitchFamily="50" charset="-128"/>
              </a:rPr>
              <a:t>勤務実績のある方</a:t>
            </a:r>
            <a:endParaRPr lang="ja-JP" altLang="en-US" sz="1100" dirty="0"/>
          </a:p>
        </p:txBody>
      </p:sp>
      <p:cxnSp>
        <p:nvCxnSpPr>
          <p:cNvPr id="35" name="Connector 34"/>
          <p:cNvCxnSpPr/>
          <p:nvPr/>
        </p:nvCxnSpPr>
        <p:spPr>
          <a:xfrm>
            <a:off x="7242048" y="4489704"/>
            <a:ext cx="292608" cy="0"/>
          </a:xfrm>
          <a:prstGeom prst="line">
            <a:avLst/>
          </a:prstGeom>
          <a:ln w="22225">
            <a:solidFill>
              <a:srgbClr val="1E2761"/>
            </a:solidFill>
            <a:tailEnd type="triangle" w="med" len="med"/>
          </a:ln>
        </p:spPr>
      </p:cxnSp>
      <p:sp>
        <p:nvSpPr>
          <p:cNvPr id="36" name="Rounded Rectangle 35"/>
          <p:cNvSpPr/>
          <p:nvPr/>
        </p:nvSpPr>
        <p:spPr>
          <a:xfrm>
            <a:off x="7580375" y="4187952"/>
            <a:ext cx="1892808" cy="603504"/>
          </a:xfrm>
          <a:prstGeom prst="roundRect">
            <a:avLst>
              <a:gd name="adj" fmla="val 5000"/>
            </a:avLst>
          </a:prstGeom>
          <a:solidFill>
            <a:srgbClr val="FFFFFF"/>
          </a:solidFill>
          <a:ln w="9525">
            <a:solidFill>
              <a:srgbClr val="1E2761"/>
            </a:solidFill>
          </a:ln>
        </p:spPr>
        <p:txBody>
          <a:bodyPr wrap="square" lIns="36576" tIns="0" rIns="36576" bIns="0" rtlCol="0" anchor="ctr">
            <a:noAutofit/>
          </a:bodyPr>
          <a:lstStyle/>
          <a:p>
            <a:pPr algn="ctr">
              <a:buNone/>
            </a:pPr>
            <a:r>
              <a:rPr lang="ja-JP" altLang="en-US" sz="1100" b="0" dirty="0">
                <a:solidFill>
                  <a:srgbClr val="333333"/>
                </a:solidFill>
                <a:latin typeface="メイリオ" panose="020B0604030504040204" pitchFamily="50" charset="-128"/>
                <a:ea typeface="メイリオ" panose="020B0604030504040204" pitchFamily="50" charset="-128"/>
              </a:rPr>
              <a:t>次回の募集を先にご案内</a:t>
            </a:r>
            <a:endParaRPr lang="ja-JP" altLang="en-US" sz="1100" dirty="0"/>
          </a:p>
        </p:txBody>
      </p:sp>
      <p:sp>
        <p:nvSpPr>
          <p:cNvPr id="37" name="Rectangle 36"/>
          <p:cNvSpPr/>
          <p:nvPr/>
        </p:nvSpPr>
        <p:spPr>
          <a:xfrm>
            <a:off x="5596128" y="4983480"/>
            <a:ext cx="3877056" cy="457200"/>
          </a:xfrm>
          <a:prstGeom prst="rect">
            <a:avLst/>
          </a:prstGeom>
          <a:noFill/>
          <a:ln>
            <a:noFill/>
          </a:ln>
        </p:spPr>
        <p:txBody>
          <a:bodyPr wrap="square" lIns="18288" tIns="18288" rIns="18288" bIns="0" rtlCol="0" anchor="t">
            <a:noAutofit/>
          </a:bodyPr>
          <a:lstStyle/>
          <a:p>
            <a:pPr algn="l">
              <a:buNone/>
            </a:pPr>
            <a:r>
              <a:rPr lang="ja-JP" altLang="en-US" sz="1000" b="0" dirty="0">
                <a:solidFill>
                  <a:srgbClr val="595959"/>
                </a:solidFill>
                <a:latin typeface="メイリオ" panose="020B0604030504040204" pitchFamily="50" charset="-128"/>
                <a:ea typeface="メイリオ" panose="020B0604030504040204" pitchFamily="50" charset="-128"/>
              </a:rPr>
              <a:t>※配信設計の例です。</a:t>
            </a:r>
            <a:endParaRPr lang="ja-JP" altLang="en-US" sz="10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Google Shape;752;p28"/>
          <p:cNvSpPr/>
          <p:nvPr/>
        </p:nvSpPr>
        <p:spPr>
          <a:xfrm>
            <a:off x="549000" y="138240"/>
            <a:ext cx="7680960" cy="338040"/>
          </a:xfrm>
          <a:prstGeom prst="rect">
            <a:avLst/>
          </a:prstGeom>
          <a:noFill/>
          <a:ln w="0">
            <a:noFill/>
          </a:ln>
        </p:spPr>
        <p:style>
          <a:lnRef idx="0">
            <a:scrgbClr r="0" g="0" b="0"/>
          </a:lnRef>
          <a:fillRef idx="0">
            <a:scrgbClr r="0" g="0" b="0"/>
          </a:fillRef>
          <a:effectRef idx="0">
            <a:scrgbClr r="0" g="0" b="0"/>
          </a:effectRef>
          <a:fontRef idx="minor"/>
        </p:style>
        <p:txBody>
          <a:bodyPr anchor="ctr" lIns="91425" rIns="91425" tIns="45700" bIns="45700">
            <a:spAutoFit/>
          </a:bodyPr>
          <a:lstStyle/>
          <a:p>
            <a:pPr defTabSz="914400">
              <a:lnSpc>
                <a:spcPct val="100000"/>
              </a:lnSpc>
            </a:pPr>
            <a:r>
              <a:rPr lang="ja-JP" sz="1600" b="1" u="none" strike="noStrike">
                <a:solidFill>
                  <a:srgbClr val="323366"/>
                </a:solidFill>
                <a:effectLst/>
                <a:uFillTx/>
                <a:latin typeface="メイリオ"/>
                <a:ea typeface="メイリオ"/>
              </a:rPr>
              <a:t>前後検索「単発バイト」｜当日に何社も比べ、その後は給与・働き方を調べる</a:t>
            </a:r>
            <a:endParaRPr lang="en-US" sz="1600" b="0" u="none" strike="noStrike">
              <a:solidFill>
                <a:srgbClr val="323366"/>
              </a:solidFill>
              <a:effectLst/>
              <a:uFillTx/>
              <a:latin typeface="メイリオ"/>
            </a:endParaRPr>
          </a:p>
        </p:txBody>
      </p:sp>
      <p:sp>
        <p:nvSpPr>
          <p:cNvPr id="3"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4" name="正方形/長方形 3"/>
          <p:cNvSpPr/>
          <p:nvPr/>
        </p:nvSpPr>
        <p:spPr>
          <a:xfrm>
            <a:off x="379800" y="635040"/>
            <a:ext cx="9160560" cy="6980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endParaRPr lang="en-US" sz="1400" b="0" u="none" strike="noStrike">
              <a:solidFill>
                <a:srgbClr val="343434"/>
              </a:solidFill>
              <a:effectLst/>
              <a:uFillTx/>
              <a:latin typeface="メイリオ"/>
              <a:ea typeface="メイリオ"/>
            </a:endParaRPr>
          </a:p>
        </p:txBody>
      </p:sp>
      <p:cxnSp>
        <p:nvCxnSpPr>
          <p:cNvPr id="5" name="直線コネクタ 1"/>
          <p:cNvCxnSpPr/>
          <p:nvPr/>
        </p:nvCxnSpPr>
        <p:spPr>
          <a:xfrm>
            <a:off x="0" y="1390320"/>
            <a:ext cx="9906120" cy="360"/>
          </a:xfrm>
          <a:prstGeom prst="straightConnector1">
            <a:avLst/>
          </a:prstGeom>
          <a:ln w="19050">
            <a:solidFill>
              <a:schemeClr val="lt1">
                <a:lumMod val="85000"/>
                <a:alpha val="60000"/>
              </a:schemeClr>
            </a:solidFill>
            <a:round/>
          </a:ln>
        </p:spPr>
      </p:cxnSp>
      <p:sp>
        <p:nvSpPr>
          <p:cNvPr id="6" name="テキスト ボックス 30"/>
          <p:cNvSpPr/>
          <p:nvPr/>
        </p:nvSpPr>
        <p:spPr>
          <a:xfrm>
            <a:off x="426240" y="635400"/>
            <a:ext cx="9068760" cy="698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ja-JP" sz="1400" b="1" u="none" strike="noStrike" dirty="0">
                <a:effectLst/>
                <a:uFillTx/>
                <a:latin typeface="メイリオ" panose="020B0604030504040204" pitchFamily="50" charset="-128"/>
                <a:ea typeface="メイリオ" panose="020B0604030504040204" pitchFamily="50" charset="-128"/>
              </a:rPr>
              <a:t>応募の前後に調べていることを、LINEで先に届ける</a:t>
            </a:r>
            <a:endParaRPr lang="en-US" sz="1400" b="1" u="none" strike="noStrike" dirty="0">
              <a:effectLst/>
              <a:uFillTx/>
              <a:latin typeface="メイリオ"/>
            </a:endParaRPr>
          </a:p>
        </p:txBody>
      </p:sp>
      <p:pic>
        <p:nvPicPr>
          <p:cNvPr id="7" name="前後検索 単発バイト（色分け）" descr="tanaka_zengo_chumon_color.png"/>
          <p:cNvPicPr>
            <a:picLocks noChangeAspect="1"/>
          </p:cNvPicPr>
          <p:nvPr/>
        </p:nvPicPr>
        <p:blipFill>
          <a:blip r:embed="rId2"/>
          <a:stretch>
            <a:fillRect/>
          </a:stretch>
        </p:blipFill>
        <p:spPr>
          <a:xfrm>
            <a:off x="502920" y="1600200"/>
            <a:ext cx="5943600" cy="3730824"/>
          </a:xfrm>
          <a:prstGeom prst="rect">
            <a:avLst/>
          </a:prstGeom>
        </p:spPr>
      </p:pic>
      <p:sp>
        <p:nvSpPr>
          <p:cNvPr id="8" name="LINE追加の時期"/>
          <p:cNvSpPr/>
          <p:nvPr/>
        </p:nvSpPr>
        <p:spPr>
          <a:xfrm>
            <a:off x="3584676" y="1644777"/>
            <a:ext cx="692429" cy="3485439"/>
          </a:xfrm>
          <a:prstGeom prst="rect">
            <a:avLst/>
          </a:prstGeom>
          <a:solidFill>
            <a:srgbClr val="06C755">
              <a:alpha val="1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LINE追加 札"/>
          <p:cNvSpPr/>
          <p:nvPr/>
        </p:nvSpPr>
        <p:spPr>
          <a:xfrm>
            <a:off x="3473690" y="5377104"/>
            <a:ext cx="914400" cy="237744"/>
          </a:xfrm>
          <a:prstGeom prst="rect">
            <a:avLst/>
          </a:prstGeom>
          <a:solidFill>
            <a:srgbClr val="C6EFCE"/>
          </a:solidFill>
          <a:ln>
            <a:noFill/>
          </a:ln>
        </p:spPr>
        <p:txBody>
          <a:bodyPr wrap="square" lIns="0" tIns="0" rIns="0" bIns="0" rtlCol="0" anchor="ctr">
            <a:noAutofit/>
          </a:bodyPr>
          <a:lstStyle/>
          <a:p>
            <a:pPr algn="ctr">
              <a:buNone/>
            </a:pPr>
            <a:r>
              <a:rPr lang="ja-JP" altLang="en-US" sz="950" b="1" dirty="0">
                <a:solidFill>
                  <a:srgbClr val="00873C"/>
                </a:solidFill>
                <a:latin typeface="メイリオ" panose="020B0604030504040204" pitchFamily="50" charset="-128"/>
                <a:ea typeface="メイリオ" panose="020B0604030504040204" pitchFamily="50" charset="-128"/>
              </a:rPr>
              <a:t>LINE追加</a:t>
            </a:r>
            <a:endParaRPr lang="ja-JP" altLang="en-US" sz="1200" dirty="0"/>
          </a:p>
        </p:txBody>
      </p:sp>
      <p:sp>
        <p:nvSpPr>
          <p:cNvPr id="10" name="凡例の色"/>
          <p:cNvSpPr/>
          <p:nvPr/>
        </p:nvSpPr>
        <p:spPr>
          <a:xfrm>
            <a:off x="6629400" y="1655064"/>
            <a:ext cx="137160" cy="137160"/>
          </a:xfrm>
          <a:prstGeom prst="rect">
            <a:avLst/>
          </a:prstGeom>
          <a:solidFill>
            <a:srgbClr val="3467B2"/>
          </a:solidFill>
          <a:ln>
            <a:noFill/>
          </a:ln>
        </p:spPr>
        <p:txBody>
          <a:bodyPr wrap="square" lIns="0" tIns="0" rIns="0" bIns="0" rtlCol="0" anchor="ctr">
            <a:noAutofit/>
          </a:bodyPr>
          <a:lstStyle/>
          <a:p>
            <a:pPr algn="l">
              <a:buNone/>
            </a:pPr>
            <a:endParaRPr lang="ja-JP" altLang="en-US" sz="1200" dirty="0"/>
          </a:p>
        </p:txBody>
      </p:sp>
      <p:sp>
        <p:nvSpPr>
          <p:cNvPr id="11" name="凡例"/>
          <p:cNvSpPr/>
          <p:nvPr/>
        </p:nvSpPr>
        <p:spPr>
          <a:xfrm>
            <a:off x="6812280" y="1600200"/>
            <a:ext cx="2587752" cy="246888"/>
          </a:xfrm>
          <a:prstGeom prst="rect">
            <a:avLst/>
          </a:prstGeom>
          <a:noFill/>
          <a:ln>
            <a:noFill/>
          </a:ln>
        </p:spPr>
        <p:txBody>
          <a:bodyPr wrap="square" lIns="0" tIns="0" rIns="0" bIns="0" rtlCol="0" anchor="ctr">
            <a:noAutofit/>
          </a:bodyPr>
          <a:lstStyle/>
          <a:p>
            <a:pPr algn="l">
              <a:buNone/>
            </a:pPr>
            <a:r>
              <a:rPr lang="ja-JP" altLang="en-US" sz="1100" b="0" dirty="0">
                <a:solidFill>
                  <a:srgbClr val="333333"/>
                </a:solidFill>
                <a:latin typeface="メイリオ" panose="020B0604030504040204" pitchFamily="50" charset="-128"/>
                <a:ea typeface="メイリオ" panose="020B0604030504040204" pitchFamily="50" charset="-128"/>
              </a:rPr>
              <a:t>求人サービスを比べる</a:t>
            </a:r>
            <a:endParaRPr lang="ja-JP" altLang="en-US" sz="1200" dirty="0"/>
          </a:p>
        </p:txBody>
      </p:sp>
      <p:sp>
        <p:nvSpPr>
          <p:cNvPr id="12" name="凡例の色"/>
          <p:cNvSpPr/>
          <p:nvPr/>
        </p:nvSpPr>
        <p:spPr>
          <a:xfrm>
            <a:off x="6629400" y="1901952"/>
            <a:ext cx="137160" cy="137160"/>
          </a:xfrm>
          <a:prstGeom prst="rect">
            <a:avLst/>
          </a:prstGeom>
          <a:solidFill>
            <a:srgbClr val="8E4EC6"/>
          </a:solidFill>
          <a:ln>
            <a:noFill/>
          </a:ln>
        </p:spPr>
        <p:txBody>
          <a:bodyPr wrap="square" lIns="0" tIns="0" rIns="0" bIns="0" rtlCol="0" anchor="ctr">
            <a:noAutofit/>
          </a:bodyPr>
          <a:lstStyle/>
          <a:p>
            <a:pPr algn="l">
              <a:buNone/>
            </a:pPr>
            <a:endParaRPr lang="ja-JP" altLang="en-US" sz="1200" dirty="0"/>
          </a:p>
        </p:txBody>
      </p:sp>
      <p:sp>
        <p:nvSpPr>
          <p:cNvPr id="13" name="凡例"/>
          <p:cNvSpPr/>
          <p:nvPr/>
        </p:nvSpPr>
        <p:spPr>
          <a:xfrm>
            <a:off x="6812280" y="1847088"/>
            <a:ext cx="2587752" cy="246888"/>
          </a:xfrm>
          <a:prstGeom prst="rect">
            <a:avLst/>
          </a:prstGeom>
          <a:noFill/>
          <a:ln>
            <a:noFill/>
          </a:ln>
        </p:spPr>
        <p:txBody>
          <a:bodyPr wrap="square" lIns="0" tIns="0" rIns="0" bIns="0" rtlCol="0" anchor="ctr">
            <a:noAutofit/>
          </a:bodyPr>
          <a:lstStyle/>
          <a:p>
            <a:pPr algn="l">
              <a:buNone/>
            </a:pPr>
            <a:r>
              <a:rPr lang="ja-JP" altLang="en-US" sz="1100" b="0" dirty="0">
                <a:solidFill>
                  <a:srgbClr val="333333"/>
                </a:solidFill>
                <a:latin typeface="メイリオ" panose="020B0604030504040204" pitchFamily="50" charset="-128"/>
                <a:ea typeface="メイリオ" panose="020B0604030504040204" pitchFamily="50" charset="-128"/>
              </a:rPr>
              <a:t>応募・面接の準備</a:t>
            </a:r>
            <a:endParaRPr lang="ja-JP" altLang="en-US" sz="1200" dirty="0"/>
          </a:p>
        </p:txBody>
      </p:sp>
      <p:sp>
        <p:nvSpPr>
          <p:cNvPr id="14" name="凡例の色"/>
          <p:cNvSpPr/>
          <p:nvPr/>
        </p:nvSpPr>
        <p:spPr>
          <a:xfrm>
            <a:off x="6629400" y="2148840"/>
            <a:ext cx="137160" cy="137160"/>
          </a:xfrm>
          <a:prstGeom prst="rect">
            <a:avLst/>
          </a:prstGeom>
          <a:solidFill>
            <a:srgbClr val="00897B"/>
          </a:solidFill>
          <a:ln>
            <a:noFill/>
          </a:ln>
        </p:spPr>
        <p:txBody>
          <a:bodyPr wrap="square" lIns="0" tIns="0" rIns="0" bIns="0" rtlCol="0" anchor="ctr">
            <a:noAutofit/>
          </a:bodyPr>
          <a:lstStyle/>
          <a:p>
            <a:pPr algn="l">
              <a:buNone/>
            </a:pPr>
            <a:endParaRPr lang="ja-JP" altLang="en-US" sz="1200" dirty="0"/>
          </a:p>
        </p:txBody>
      </p:sp>
      <p:sp>
        <p:nvSpPr>
          <p:cNvPr id="15" name="凡例"/>
          <p:cNvSpPr/>
          <p:nvPr/>
        </p:nvSpPr>
        <p:spPr>
          <a:xfrm>
            <a:off x="6812280" y="2093976"/>
            <a:ext cx="2587752" cy="246888"/>
          </a:xfrm>
          <a:prstGeom prst="rect">
            <a:avLst/>
          </a:prstGeom>
          <a:noFill/>
          <a:ln>
            <a:noFill/>
          </a:ln>
        </p:spPr>
        <p:txBody>
          <a:bodyPr wrap="square" lIns="0" tIns="0" rIns="0" bIns="0" rtlCol="0" anchor="ctr">
            <a:noAutofit/>
          </a:bodyPr>
          <a:lstStyle/>
          <a:p>
            <a:pPr algn="l">
              <a:buNone/>
            </a:pPr>
            <a:r>
              <a:rPr lang="ja-JP" altLang="en-US" sz="1100" b="0" dirty="0">
                <a:solidFill>
                  <a:srgbClr val="333333"/>
                </a:solidFill>
                <a:latin typeface="メイリオ" panose="020B0604030504040204" pitchFamily="50" charset="-128"/>
                <a:ea typeface="メイリオ" panose="020B0604030504040204" pitchFamily="50" charset="-128"/>
              </a:rPr>
              <a:t>給与・働き方を調べる</a:t>
            </a:r>
            <a:endParaRPr lang="ja-JP" altLang="en-US" sz="1200" dirty="0"/>
          </a:p>
        </p:txBody>
      </p:sp>
      <p:sp>
        <p:nvSpPr>
          <p:cNvPr id="18" name="分析 当日"/>
          <p:cNvSpPr/>
          <p:nvPr/>
        </p:nvSpPr>
        <p:spPr>
          <a:xfrm>
            <a:off x="6629400" y="2404872"/>
            <a:ext cx="2770632" cy="274320"/>
          </a:xfrm>
          <a:prstGeom prst="rect">
            <a:avLst/>
          </a:prstGeom>
          <a:solidFill>
            <a:srgbClr val="1F285A"/>
          </a:solidFill>
          <a:ln>
            <a:noFill/>
          </a:ln>
        </p:spPr>
        <p:txBody>
          <a:bodyPr wrap="square" lIns="73152" tIns="36576" rIns="73152" bIns="36576" rtlCol="0" anchor="ctr">
            <a:noAutofit/>
          </a:bodyPr>
          <a:lstStyle/>
          <a:p>
            <a:pPr algn="ctr">
              <a:buNone/>
            </a:pPr>
            <a:r>
              <a:rPr lang="ja-JP" altLang="en-US" sz="1150" b="1" dirty="0">
                <a:solidFill>
                  <a:srgbClr val="FFFFFF"/>
                </a:solidFill>
                <a:latin typeface="メイリオ" panose="020B0604030504040204" pitchFamily="50" charset="-128"/>
                <a:ea typeface="メイリオ" panose="020B0604030504040204" pitchFamily="50" charset="-128"/>
              </a:rPr>
              <a:t>検索前</a:t>
            </a:r>
            <a:endParaRPr lang="ja-JP" altLang="en-US" sz="1200" dirty="0"/>
          </a:p>
        </p:txBody>
      </p:sp>
      <p:sp>
        <p:nvSpPr>
          <p:cNvPr id="19" name="分析 当日 本文"/>
          <p:cNvSpPr/>
          <p:nvPr/>
        </p:nvSpPr>
        <p:spPr>
          <a:xfrm>
            <a:off x="6629400" y="2679191"/>
            <a:ext cx="2770632" cy="713232"/>
          </a:xfrm>
          <a:prstGeom prst="rect">
            <a:avLst/>
          </a:prstGeom>
          <a:noFill/>
          <a:ln w="9525">
            <a:solidFill>
              <a:srgbClr val="D9D9D9"/>
            </a:solidFill>
          </a:ln>
        </p:spPr>
        <p:txBody>
          <a:bodyPr wrap="square" lIns="73152" tIns="36576" rIns="73152" bIns="27432" rtlCol="0" anchor="t">
            <a:noAutofit/>
          </a:bodyPr>
          <a:lstStyle/>
          <a:p>
            <a:pPr algn="l">
              <a:lnSpc>
                <a:spcPct val="110000"/>
              </a:lnSpc>
              <a:buNone/>
            </a:pPr>
            <a:r>
              <a:rPr lang="ja-JP" altLang="en-US" sz="1200" b="1" dirty="0">
                <a:solidFill>
                  <a:srgbClr val="1F285A"/>
                </a:solidFill>
                <a:latin typeface="メイリオ" panose="020B0604030504040204" pitchFamily="50" charset="-128"/>
                <a:ea typeface="メイリオ" panose="020B0604030504040204" pitchFamily="50" charset="-128"/>
              </a:rPr>
              <a:t>求人サイトで探し始める</a:t>
            </a:r>
            <a:endParaRPr lang="ja-JP" altLang="en-US" sz="1200" dirty="0"/>
          </a:p>
          <a:p>
            <a:pPr algn="l">
              <a:lnSpc>
                <a:spcPct val="110000"/>
              </a:lnSpc>
              <a:buNone/>
            </a:pPr>
            <a:r>
              <a:rPr lang="ja-JP" altLang="en-US" sz="1100" b="0" dirty="0">
                <a:solidFill>
                  <a:srgbClr val="333333"/>
                </a:solidFill>
                <a:latin typeface="メイリオ" panose="020B0604030504040204" pitchFamily="50" charset="-128"/>
                <a:ea typeface="メイリオ" panose="020B0604030504040204" pitchFamily="50" charset="-128"/>
              </a:rPr>
              <a:t>バイト 求人・タウンワークなど</a:t>
            </a:r>
            <a:endParaRPr lang="ja-JP" altLang="en-US" sz="1200" dirty="0"/>
          </a:p>
        </p:txBody>
      </p:sp>
      <p:sp>
        <p:nvSpPr>
          <p:cNvPr id="20" name="分析 1〜7日後"/>
          <p:cNvSpPr/>
          <p:nvPr/>
        </p:nvSpPr>
        <p:spPr>
          <a:xfrm>
            <a:off x="6629400" y="3447288"/>
            <a:ext cx="2770632" cy="274320"/>
          </a:xfrm>
          <a:prstGeom prst="rect">
            <a:avLst/>
          </a:prstGeom>
          <a:solidFill>
            <a:srgbClr val="1F285A"/>
          </a:solidFill>
          <a:ln>
            <a:noFill/>
          </a:ln>
        </p:spPr>
        <p:txBody>
          <a:bodyPr wrap="square" lIns="73152" tIns="36576" rIns="73152" bIns="36576" rtlCol="0" anchor="ctr">
            <a:noAutofit/>
          </a:bodyPr>
          <a:lstStyle/>
          <a:p>
            <a:pPr algn="ctr">
              <a:buNone/>
            </a:pPr>
            <a:r>
              <a:rPr lang="ja-JP" altLang="en-US" sz="1150" b="1" dirty="0">
                <a:solidFill>
                  <a:srgbClr val="FFFFFF"/>
                </a:solidFill>
                <a:latin typeface="メイリオ" panose="020B0604030504040204" pitchFamily="50" charset="-128"/>
                <a:ea typeface="メイリオ" panose="020B0604030504040204" pitchFamily="50" charset="-128"/>
              </a:rPr>
              <a:t>当日</a:t>
            </a:r>
            <a:endParaRPr lang="ja-JP" altLang="en-US" sz="1200" dirty="0"/>
          </a:p>
        </p:txBody>
      </p:sp>
      <p:sp>
        <p:nvSpPr>
          <p:cNvPr id="21" name="分析 1〜7日後 本文"/>
          <p:cNvSpPr/>
          <p:nvPr/>
        </p:nvSpPr>
        <p:spPr>
          <a:xfrm>
            <a:off x="6629400" y="3721608"/>
            <a:ext cx="2770632" cy="713232"/>
          </a:xfrm>
          <a:prstGeom prst="rect">
            <a:avLst/>
          </a:prstGeom>
          <a:noFill/>
          <a:ln w="9525">
            <a:solidFill>
              <a:srgbClr val="D9D9D9"/>
            </a:solidFill>
          </a:ln>
        </p:spPr>
        <p:txBody>
          <a:bodyPr wrap="square" lIns="73152" tIns="36576" rIns="73152" bIns="27432" rtlCol="0" anchor="t">
            <a:noAutofit/>
          </a:bodyPr>
          <a:lstStyle/>
          <a:p>
            <a:pPr algn="l">
              <a:lnSpc>
                <a:spcPct val="110000"/>
              </a:lnSpc>
              <a:buNone/>
            </a:pPr>
            <a:r>
              <a:rPr lang="ja-JP" altLang="en-US" sz="1200" b="1" dirty="0">
                <a:solidFill>
                  <a:srgbClr val="1F285A"/>
                </a:solidFill>
                <a:latin typeface="メイリオ" panose="020B0604030504040204" pitchFamily="50" charset="-128"/>
                <a:ea typeface="メイリオ" panose="020B0604030504040204" pitchFamily="50" charset="-128"/>
              </a:rPr>
              <a:t>単発のサービスを比べる</a:t>
            </a:r>
            <a:endParaRPr lang="ja-JP" altLang="en-US" sz="1200" dirty="0"/>
          </a:p>
          <a:p>
            <a:pPr algn="l">
              <a:lnSpc>
                <a:spcPct val="110000"/>
              </a:lnSpc>
              <a:buNone/>
            </a:pPr>
            <a:r>
              <a:rPr lang="ja-JP" altLang="en-US" sz="1100" b="0" dirty="0">
                <a:solidFill>
                  <a:srgbClr val="333333"/>
                </a:solidFill>
                <a:latin typeface="メイリオ" panose="020B0604030504040204" pitchFamily="50" charset="-128"/>
                <a:ea typeface="メイリオ" panose="020B0604030504040204" pitchFamily="50" charset="-128"/>
              </a:rPr>
              <a:t>タイミー・バイトル・短期バイトなど。履歴書の書き方も</a:t>
            </a:r>
            <a:endParaRPr lang="ja-JP" altLang="en-US" sz="1200" dirty="0"/>
          </a:p>
        </p:txBody>
      </p:sp>
      <p:sp>
        <p:nvSpPr>
          <p:cNvPr id="22" name="分析 7〜15日後"/>
          <p:cNvSpPr/>
          <p:nvPr/>
        </p:nvSpPr>
        <p:spPr>
          <a:xfrm>
            <a:off x="6629400" y="4489704"/>
            <a:ext cx="2770632" cy="274320"/>
          </a:xfrm>
          <a:prstGeom prst="rect">
            <a:avLst/>
          </a:prstGeom>
          <a:solidFill>
            <a:srgbClr val="1F285A"/>
          </a:solidFill>
          <a:ln>
            <a:noFill/>
          </a:ln>
        </p:spPr>
        <p:txBody>
          <a:bodyPr wrap="square" lIns="73152" tIns="36576" rIns="73152" bIns="36576" rtlCol="0" anchor="ctr">
            <a:noAutofit/>
          </a:bodyPr>
          <a:lstStyle/>
          <a:p>
            <a:pPr algn="ctr">
              <a:buNone/>
            </a:pPr>
            <a:r>
              <a:rPr lang="ja-JP" altLang="en-US" sz="1150" b="1" dirty="0">
                <a:solidFill>
                  <a:srgbClr val="FFFFFF"/>
                </a:solidFill>
                <a:latin typeface="メイリオ" panose="020B0604030504040204" pitchFamily="50" charset="-128"/>
                <a:ea typeface="メイリオ" panose="020B0604030504040204" pitchFamily="50" charset="-128"/>
              </a:rPr>
              <a:t>1〜15日後</a:t>
            </a:r>
            <a:endParaRPr lang="ja-JP" altLang="en-US" sz="1200" dirty="0"/>
          </a:p>
        </p:txBody>
      </p:sp>
      <p:sp>
        <p:nvSpPr>
          <p:cNvPr id="23" name="分析 7〜15日後 本文"/>
          <p:cNvSpPr/>
          <p:nvPr/>
        </p:nvSpPr>
        <p:spPr>
          <a:xfrm>
            <a:off x="6629400" y="4764024"/>
            <a:ext cx="2770632" cy="713232"/>
          </a:xfrm>
          <a:prstGeom prst="rect">
            <a:avLst/>
          </a:prstGeom>
          <a:noFill/>
          <a:ln w="9525">
            <a:solidFill>
              <a:srgbClr val="D9D9D9"/>
            </a:solidFill>
          </a:ln>
        </p:spPr>
        <p:txBody>
          <a:bodyPr wrap="square" lIns="73152" tIns="36576" rIns="73152" bIns="27432" rtlCol="0" anchor="t">
            <a:noAutofit/>
          </a:bodyPr>
          <a:lstStyle/>
          <a:p>
            <a:pPr algn="l">
              <a:lnSpc>
                <a:spcPct val="110000"/>
              </a:lnSpc>
              <a:buNone/>
            </a:pPr>
            <a:r>
              <a:rPr lang="ja-JP" altLang="en-US" sz="1200" b="1" dirty="0">
                <a:solidFill>
                  <a:srgbClr val="1F285A"/>
                </a:solidFill>
                <a:latin typeface="メイリオ" panose="020B0604030504040204" pitchFamily="50" charset="-128"/>
                <a:ea typeface="メイリオ" panose="020B0604030504040204" pitchFamily="50" charset="-128"/>
              </a:rPr>
              <a:t>給与・働き方を調べる</a:t>
            </a:r>
            <a:endParaRPr lang="ja-JP" altLang="en-US" sz="1200" dirty="0"/>
          </a:p>
          <a:p>
            <a:pPr algn="l">
              <a:lnSpc>
                <a:spcPct val="110000"/>
              </a:lnSpc>
              <a:buNone/>
            </a:pPr>
            <a:r>
              <a:rPr lang="ja-JP" altLang="en-US" sz="1100" b="0" dirty="0">
                <a:solidFill>
                  <a:srgbClr val="333333"/>
                </a:solidFill>
                <a:latin typeface="メイリオ" panose="020B0604030504040204" pitchFamily="50" charset="-128"/>
                <a:ea typeface="メイリオ" panose="020B0604030504040204" pitchFamily="50" charset="-128"/>
              </a:rPr>
              <a:t>日払い・確定申告・ダブルワークの扶養。面接の服装も</a:t>
            </a:r>
            <a:endParaRPr lang="ja-JP" altLang="en-US" sz="1200" dirty="0"/>
          </a:p>
        </p:txBody>
      </p:sp>
      <p:sp>
        <p:nvSpPr>
          <p:cNvPr id="24" name="示唆"/>
          <p:cNvSpPr/>
          <p:nvPr/>
        </p:nvSpPr>
        <p:spPr>
          <a:xfrm>
            <a:off x="502920" y="5779008"/>
            <a:ext cx="8897112" cy="411480"/>
          </a:xfrm>
          <a:prstGeom prst="rect">
            <a:avLst/>
          </a:prstGeom>
          <a:solidFill>
            <a:srgbClr val="F4F7FF"/>
          </a:solidFill>
          <a:ln>
            <a:noFill/>
          </a:ln>
        </p:spPr>
        <p:txBody>
          <a:bodyPr wrap="square" lIns="73152" tIns="36576" rIns="73152" bIns="36576" rtlCol="0" anchor="ctr">
            <a:noAutofit/>
          </a:bodyPr>
          <a:lstStyle/>
          <a:p>
            <a:pPr algn="ctr">
              <a:buNone/>
            </a:pPr>
            <a:r>
              <a:rPr lang="ja-JP" altLang="en-US" sz="1400" b="1" dirty="0">
                <a:solidFill>
                  <a:srgbClr val="1F285A"/>
                </a:solidFill>
                <a:latin typeface="メイリオ" panose="020B0604030504040204" pitchFamily="50" charset="-128"/>
                <a:ea typeface="メイリオ" panose="020B0604030504040204" pitchFamily="50" charset="-128"/>
              </a:rPr>
              <a:t>求人サービスを比べる → 応募・面接の準備 → 給与・働き方 の順に調べている</a:t>
            </a:r>
            <a:endParaRPr lang="ja-JP" altLang="en-US" sz="1200" dirty="0"/>
          </a:p>
        </p:txBody>
      </p:sp>
      <p:sp>
        <p:nvSpPr>
          <p:cNvPr id="25" name="注記"/>
          <p:cNvSpPr/>
          <p:nvPr/>
        </p:nvSpPr>
        <p:spPr>
          <a:xfrm>
            <a:off x="502920" y="6236208"/>
            <a:ext cx="8897112" cy="228600"/>
          </a:xfrm>
          <a:prstGeom prst="rect">
            <a:avLst/>
          </a:prstGeom>
          <a:noFill/>
          <a:ln>
            <a:noFill/>
          </a:ln>
        </p:spPr>
        <p:txBody>
          <a:bodyPr wrap="square" lIns="0" tIns="0" rIns="0" bIns="0" rtlCol="0" anchor="t">
            <a:noAutofit/>
          </a:bodyPr>
          <a:lstStyle/>
          <a:p>
            <a:pPr algn="l">
              <a:lnSpc>
                <a:spcPct val="115000"/>
              </a:lnSpc>
              <a:buNone/>
            </a:pPr>
            <a:r>
              <a:rPr lang="ja-JP" altLang="en-US" sz="850" b="0" dirty="0">
                <a:solidFill>
                  <a:srgbClr val="7F7F7F"/>
                </a:solidFill>
                <a:latin typeface="メイリオ" panose="020B0604030504040204" pitchFamily="50" charset="-128"/>
                <a:ea typeface="メイリオ" panose="020B0604030504040204" pitchFamily="50" charset="-128"/>
              </a:rPr>
              <a:t>※LINEヤフー社の前後検索データより。「単発バイト」を検索した方が、前後15日間に検索した言葉（縦軸＝検索した人数）。</a:t>
            </a:r>
            <a:endParaRPr lang="ja-JP" altLang="en-US" sz="12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9000" y="138240"/>
            <a:ext cx="7920000" cy="338040"/>
          </a:xfrm>
          <a:prstGeom prst="rect">
            <a:avLst/>
          </a:prstGeom>
          <a:noFill/>
        </p:spPr>
        <p:txBody>
          <a:bodyPr wrap="square" lIns="91425" tIns="45700" rIns="91425" bIns="45700" anchor="ctr">
            <a:spAutoFit/>
          </a:bodyPr>
          <a:lstStyle/>
          <a:p>
            <a:pPr algn="l">
              <a:lnSpc>
                <a:spcPct val="120000"/>
              </a:lnSpc>
            </a:pPr>
            <a:r>
              <a:rPr sz="1600" b="1">
                <a:solidFill>
                  <a:srgbClr val="323366"/>
                </a:solidFill>
                <a:latin typeface="メイリオ"/>
                <a:ea typeface="メイリオ"/>
                <a:cs typeface="メイリオ"/>
              </a:rPr>
              <a:t>配信イメージ｜勤務前の案内・次回の募集・リッチメニュー</a:t>
            </a:r>
          </a:p>
        </p:txBody>
      </p:sp>
      <p:sp>
        <p:nvSpPr>
          <p:cNvPr id="3" name="TextBox 2"/>
          <p:cNvSpPr txBox="1"/>
          <p:nvPr/>
        </p:nvSpPr>
        <p:spPr>
          <a:xfrm>
            <a:off x="309600" y="687600"/>
            <a:ext cx="9331200" cy="585216"/>
          </a:xfrm>
          <a:prstGeom prst="rect">
            <a:avLst/>
          </a:prstGeom>
          <a:noFill/>
        </p:spPr>
        <p:txBody>
          <a:bodyPr wrap="square" lIns="28800" tIns="7200" rIns="28800" bIns="7200" anchor="ctr">
            <a:spAutoFit/>
          </a:bodyPr>
          <a:lstStyle/>
          <a:p>
            <a:pPr algn="l">
              <a:lnSpc>
                <a:spcPct val="120000"/>
              </a:lnSpc>
            </a:pPr>
            <a:r>
              <a:rPr sz="1400" b="1">
                <a:solidFill>
                  <a:srgbClr val="1E2761"/>
                </a:solidFill>
                <a:latin typeface="メイリオ"/>
                <a:ea typeface="メイリオ"/>
                <a:cs typeface="メイリオ"/>
              </a:rPr>
              <a:t>横浜シミズ向けの配信の文面と、リッチメニューの構成案です。</a:t>
            </a:r>
          </a:p>
          <a:p>
            <a:pPr algn="l">
              <a:lnSpc>
                <a:spcPct val="120000"/>
              </a:lnSpc>
            </a:pPr>
            <a:r>
              <a:rPr sz="1400" b="1">
                <a:solidFill>
                  <a:srgbClr val="FF0000"/>
                </a:solidFill>
                <a:latin typeface="メイリオ"/>
                <a:ea typeface="メイリオ"/>
                <a:cs typeface="メイリオ"/>
              </a:rPr>
              <a:t>文面・項目は例です。運用を始める前にすり合わせて確定します。</a:t>
            </a:r>
          </a:p>
        </p:txBody>
      </p:sp>
      <p:sp>
        <p:nvSpPr>
          <p:cNvPr id="18" name="Rectangle 17"/>
          <p:cNvSpPr/>
          <p:nvPr/>
        </p:nvSpPr>
        <p:spPr>
          <a:xfrm>
            <a:off x="429768" y="5596128"/>
            <a:ext cx="9043416" cy="374904"/>
          </a:xfrm>
          <a:prstGeom prst="rect">
            <a:avLst/>
          </a:prstGeom>
          <a:solidFill>
            <a:srgbClr val="0020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ectangle 20"/>
          <p:cNvSpPr/>
          <p:nvPr/>
        </p:nvSpPr>
        <p:spPr>
          <a:xfrm>
            <a:off x="429768" y="5596128"/>
            <a:ext cx="9043416" cy="374904"/>
          </a:xfrm>
          <a:prstGeom prst="rect">
            <a:avLst/>
          </a:prstGeom>
          <a:noFill/>
          <a:ln>
            <a:noFill/>
          </a:ln>
        </p:spPr>
        <p:txBody>
          <a:bodyPr wrap="square" lIns="45720" tIns="0" rIns="45720" bIns="0" rtlCol="0" anchor="ctr">
            <a:noAutofit/>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rPr>
              <a:t>勤務に必要な情報と次の募集が、同じLINEに届く</a:t>
            </a:r>
            <a:endParaRPr lang="ja-JP" altLang="en-US" sz="1300" dirty="0"/>
          </a:p>
        </p:txBody>
      </p:sp>
      <p:sp>
        <p:nvSpPr>
          <p:cNvPr id="22" name="Rounded Rectangle 21"/>
          <p:cNvSpPr/>
          <p:nvPr/>
        </p:nvSpPr>
        <p:spPr>
          <a:xfrm>
            <a:off x="429768" y="1371600"/>
            <a:ext cx="2880360" cy="329184"/>
          </a:xfrm>
          <a:prstGeom prst="roundRect">
            <a:avLst>
              <a:gd name="adj" fmla="val 20000"/>
            </a:avLst>
          </a:prstGeom>
          <a:solidFill>
            <a:srgbClr val="1E2761"/>
          </a:solidFill>
          <a:ln>
            <a:noFill/>
          </a:ln>
        </p:spPr>
        <p:txBody>
          <a:bodyPr wrap="square" lIns="36576" tIns="0" rIns="36576" bIns="0" rtlCol="0" anchor="ctr">
            <a:noAutofit/>
          </a:bodyPr>
          <a:lstStyle/>
          <a:p>
            <a:pPr algn="ctr">
              <a:buNone/>
            </a:pPr>
            <a:r>
              <a:rPr lang="ja-JP" altLang="en-US" sz="1150" b="1" dirty="0">
                <a:solidFill>
                  <a:srgbClr val="FFFFFF"/>
                </a:solidFill>
                <a:latin typeface="メイリオ" panose="020B0604030504040204" pitchFamily="50" charset="-128"/>
                <a:ea typeface="メイリオ" panose="020B0604030504040204" pitchFamily="50" charset="-128"/>
              </a:rPr>
              <a:t>勤務前の案内（前日）</a:t>
            </a:r>
            <a:endParaRPr lang="ja-JP" altLang="en-US" sz="1150" dirty="0"/>
          </a:p>
        </p:txBody>
      </p:sp>
      <p:sp>
        <p:nvSpPr>
          <p:cNvPr id="23" name="Rectangle 22"/>
          <p:cNvSpPr/>
          <p:nvPr/>
        </p:nvSpPr>
        <p:spPr>
          <a:xfrm>
            <a:off x="429768" y="1783080"/>
            <a:ext cx="2880360" cy="3246120"/>
          </a:xfrm>
          <a:prstGeom prst="rect">
            <a:avLst/>
          </a:prstGeom>
          <a:solidFill>
            <a:srgbClr val="D8E2F1"/>
          </a:solidFill>
          <a:ln>
            <a:noFill/>
          </a:ln>
        </p:spPr>
        <p:txBody>
          <a:bodyPr wrap="square" lIns="73152" tIns="36576" rIns="73152" bIns="36576" rtlCol="0" anchor="ctr">
            <a:noAutofit/>
          </a:bodyPr>
          <a:lstStyle/>
          <a:p>
            <a:pPr algn="l">
              <a:buNone/>
            </a:pPr>
            <a:endParaRPr lang="ja-JP" altLang="en-US" sz="1200" dirty="0"/>
          </a:p>
        </p:txBody>
      </p:sp>
      <p:sp>
        <p:nvSpPr>
          <p:cNvPr id="24" name="Rounded Rectangle 23"/>
          <p:cNvSpPr/>
          <p:nvPr/>
        </p:nvSpPr>
        <p:spPr>
          <a:xfrm>
            <a:off x="594359" y="1920240"/>
            <a:ext cx="2551176" cy="2926080"/>
          </a:xfrm>
          <a:prstGeom prst="roundRect">
            <a:avLst>
              <a:gd name="adj" fmla="val 5000"/>
            </a:avLst>
          </a:prstGeom>
          <a:solidFill>
            <a:srgbClr val="FFFFFF"/>
          </a:solidFill>
          <a:ln>
            <a:noFill/>
          </a:ln>
        </p:spPr>
        <p:txBody>
          <a:bodyPr wrap="square" lIns="109728" tIns="73152" rIns="91440" bIns="54864" rtlCol="0" anchor="t">
            <a:noAutofit/>
          </a:bodyPr>
          <a:lstStyle/>
          <a:p>
            <a:pPr algn="l">
              <a:spcAft>
                <a:spcPts val="200"/>
              </a:spcAft>
              <a:buNone/>
            </a:pPr>
            <a:r>
              <a:rPr lang="ja-JP" altLang="en-US" sz="1050" b="1" dirty="0">
                <a:solidFill>
                  <a:srgbClr val="323366"/>
                </a:solidFill>
                <a:latin typeface="メイリオ" panose="020B0604030504040204" pitchFamily="50" charset="-128"/>
                <a:ea typeface="メイリオ" panose="020B0604030504040204" pitchFamily="50" charset="-128"/>
              </a:rPr>
              <a:t>【明日の勤務のご案内】</a:t>
            </a:r>
            <a:endParaRPr lang="ja-JP" altLang="en-US" sz="1050" dirty="0"/>
          </a:p>
          <a:p>
            <a:pPr algn="l">
              <a:spcAft>
                <a:spcPts val="200"/>
              </a:spcAft>
              <a:buNone/>
            </a:pPr>
            <a:r>
              <a:rPr lang="ja-JP" altLang="en-US" sz="1050" b="0" dirty="0">
                <a:solidFill>
                  <a:srgbClr val="333333"/>
                </a:solidFill>
                <a:latin typeface="メイリオ" panose="020B0604030504040204" pitchFamily="50" charset="-128"/>
                <a:ea typeface="メイリオ" panose="020B0604030504040204" pitchFamily="50" charset="-128"/>
              </a:rPr>
              <a:t>〇月〇日（〇）〇〇スタジアム</a:t>
            </a:r>
            <a:endParaRPr lang="ja-JP" altLang="en-US" sz="1050" dirty="0"/>
          </a:p>
          <a:p>
            <a:pPr algn="l">
              <a:spcAft>
                <a:spcPts val="200"/>
              </a:spcAft>
              <a:buNone/>
            </a:pPr>
            <a:r>
              <a:rPr lang="ja-JP" altLang="en-US" sz="1050" b="0" dirty="0">
                <a:solidFill>
                  <a:srgbClr val="333333"/>
                </a:solidFill>
                <a:latin typeface="メイリオ" panose="020B0604030504040204" pitchFamily="50" charset="-128"/>
                <a:ea typeface="メイリオ" panose="020B0604030504040204" pitchFamily="50" charset="-128"/>
              </a:rPr>
              <a:t>集合：〇〇:〇〇　〇〇ゲート前</a:t>
            </a:r>
            <a:endParaRPr lang="ja-JP" altLang="en-US" sz="1050" dirty="0"/>
          </a:p>
          <a:p>
            <a:pPr algn="l">
              <a:spcAft>
                <a:spcPts val="200"/>
              </a:spcAft>
              <a:buNone/>
            </a:pPr>
            <a:r>
              <a:rPr lang="ja-JP" altLang="en-US" sz="1050" b="0" dirty="0">
                <a:solidFill>
                  <a:srgbClr val="333333"/>
                </a:solidFill>
                <a:latin typeface="メイリオ" panose="020B0604030504040204" pitchFamily="50" charset="-128"/>
                <a:ea typeface="メイリオ" panose="020B0604030504040204" pitchFamily="50" charset="-128"/>
              </a:rPr>
              <a:t>持ち物：〇〇・〇〇</a:t>
            </a:r>
            <a:endParaRPr lang="ja-JP" altLang="en-US" sz="1050" dirty="0"/>
          </a:p>
          <a:p>
            <a:pPr algn="l">
              <a:spcAft>
                <a:spcPts val="200"/>
              </a:spcAft>
              <a:buNone/>
            </a:pPr>
            <a:r>
              <a:rPr lang="ja-JP" altLang="en-US" sz="1050" b="0" dirty="0">
                <a:solidFill>
                  <a:srgbClr val="333333"/>
                </a:solidFill>
                <a:latin typeface="メイリオ" panose="020B0604030504040204" pitchFamily="50" charset="-128"/>
                <a:ea typeface="メイリオ" panose="020B0604030504040204" pitchFamily="50" charset="-128"/>
              </a:rPr>
              <a:t>服装：〇〇</a:t>
            </a:r>
            <a:endParaRPr lang="ja-JP" altLang="en-US" sz="1050" dirty="0"/>
          </a:p>
          <a:p>
            <a:pPr algn="l">
              <a:spcAft>
                <a:spcPts val="200"/>
              </a:spcAft>
              <a:buNone/>
            </a:pPr>
            <a:r>
              <a:rPr lang="ja-JP" altLang="en-US" sz="1050" b="0" dirty="0">
                <a:solidFill>
                  <a:srgbClr val="333333"/>
                </a:solidFill>
                <a:latin typeface="メイリオ" panose="020B0604030504040204" pitchFamily="50" charset="-128"/>
                <a:ea typeface="メイリオ" panose="020B0604030504040204" pitchFamily="50" charset="-128"/>
              </a:rPr>
              <a:t>遅れる場合・</a:t>
            </a:r>
            <a:endParaRPr lang="ja-JP" altLang="en-US" sz="1050" dirty="0"/>
          </a:p>
          <a:p>
            <a:pPr algn="l">
              <a:spcAft>
                <a:spcPts val="200"/>
              </a:spcAft>
              <a:buNone/>
            </a:pPr>
            <a:r>
              <a:rPr lang="ja-JP" altLang="en-US" sz="1050" b="0" dirty="0">
                <a:solidFill>
                  <a:srgbClr val="333333"/>
                </a:solidFill>
                <a:latin typeface="メイリオ" panose="020B0604030504040204" pitchFamily="50" charset="-128"/>
                <a:ea typeface="メイリオ" panose="020B0604030504040204" pitchFamily="50" charset="-128"/>
              </a:rPr>
              <a:t>体調がすぐれないときは、</a:t>
            </a:r>
            <a:endParaRPr lang="ja-JP" altLang="en-US" sz="1050" dirty="0"/>
          </a:p>
          <a:p>
            <a:pPr algn="l">
              <a:spcAft>
                <a:spcPts val="200"/>
              </a:spcAft>
              <a:buNone/>
            </a:pPr>
            <a:r>
              <a:rPr lang="ja-JP" altLang="en-US" sz="1050" b="0" dirty="0">
                <a:solidFill>
                  <a:srgbClr val="333333"/>
                </a:solidFill>
                <a:latin typeface="メイリオ" panose="020B0604030504040204" pitchFamily="50" charset="-128"/>
                <a:ea typeface="メイリオ" panose="020B0604030504040204" pitchFamily="50" charset="-128"/>
              </a:rPr>
              <a:t>このLINEでご連絡ください。</a:t>
            </a:r>
            <a:endParaRPr lang="ja-JP" altLang="en-US" sz="1050" dirty="0"/>
          </a:p>
        </p:txBody>
      </p:sp>
      <p:sp>
        <p:nvSpPr>
          <p:cNvPr id="25" name="Rectangle 24"/>
          <p:cNvSpPr/>
          <p:nvPr/>
        </p:nvSpPr>
        <p:spPr>
          <a:xfrm>
            <a:off x="429768" y="5074920"/>
            <a:ext cx="2880360" cy="365760"/>
          </a:xfrm>
          <a:prstGeom prst="rect">
            <a:avLst/>
          </a:prstGeom>
          <a:noFill/>
          <a:ln>
            <a:noFill/>
          </a:ln>
        </p:spPr>
        <p:txBody>
          <a:bodyPr wrap="square" lIns="18288" tIns="0" rIns="18288" bIns="0" rtlCol="0" anchor="ctr">
            <a:noAutofit/>
          </a:bodyPr>
          <a:lstStyle/>
          <a:p>
            <a:pPr algn="l">
              <a:buNone/>
            </a:pPr>
            <a:r>
              <a:rPr lang="ja-JP" altLang="en-US" sz="1000" b="0" dirty="0">
                <a:solidFill>
                  <a:srgbClr val="595959"/>
                </a:solidFill>
                <a:latin typeface="メイリオ" panose="020B0604030504040204" pitchFamily="50" charset="-128"/>
                <a:ea typeface="メイリオ" panose="020B0604030504040204" pitchFamily="50" charset="-128"/>
              </a:rPr>
              <a:t>対象：そのイベントに勤務する方（タグ）</a:t>
            </a:r>
            <a:endParaRPr lang="ja-JP" altLang="en-US" sz="1000" dirty="0"/>
          </a:p>
        </p:txBody>
      </p:sp>
      <p:sp>
        <p:nvSpPr>
          <p:cNvPr id="26" name="Rounded Rectangle 25"/>
          <p:cNvSpPr/>
          <p:nvPr/>
        </p:nvSpPr>
        <p:spPr>
          <a:xfrm>
            <a:off x="3511296" y="1371600"/>
            <a:ext cx="2880360" cy="329184"/>
          </a:xfrm>
          <a:prstGeom prst="roundRect">
            <a:avLst>
              <a:gd name="adj" fmla="val 20000"/>
            </a:avLst>
          </a:prstGeom>
          <a:solidFill>
            <a:srgbClr val="1E2761"/>
          </a:solidFill>
          <a:ln>
            <a:noFill/>
          </a:ln>
        </p:spPr>
        <p:txBody>
          <a:bodyPr wrap="square" lIns="36576" tIns="0" rIns="36576" bIns="0" rtlCol="0" anchor="ctr">
            <a:noAutofit/>
          </a:bodyPr>
          <a:lstStyle/>
          <a:p>
            <a:pPr algn="ctr">
              <a:buNone/>
            </a:pPr>
            <a:r>
              <a:rPr lang="ja-JP" altLang="en-US" sz="1150" b="1" dirty="0">
                <a:solidFill>
                  <a:srgbClr val="FFFFFF"/>
                </a:solidFill>
                <a:latin typeface="メイリオ" panose="020B0604030504040204" pitchFamily="50" charset="-128"/>
                <a:ea typeface="メイリオ" panose="020B0604030504040204" pitchFamily="50" charset="-128"/>
              </a:rPr>
              <a:t>次回イベントの募集</a:t>
            </a:r>
            <a:endParaRPr lang="ja-JP" altLang="en-US" sz="1150" dirty="0"/>
          </a:p>
        </p:txBody>
      </p:sp>
      <p:sp>
        <p:nvSpPr>
          <p:cNvPr id="27" name="Rectangle 26"/>
          <p:cNvSpPr/>
          <p:nvPr/>
        </p:nvSpPr>
        <p:spPr>
          <a:xfrm>
            <a:off x="3511296" y="1783080"/>
            <a:ext cx="2880360" cy="3246120"/>
          </a:xfrm>
          <a:prstGeom prst="rect">
            <a:avLst/>
          </a:prstGeom>
          <a:solidFill>
            <a:srgbClr val="D8E2F1"/>
          </a:solidFill>
          <a:ln>
            <a:noFill/>
          </a:ln>
        </p:spPr>
        <p:txBody>
          <a:bodyPr wrap="square" lIns="73152" tIns="36576" rIns="73152" bIns="36576" rtlCol="0" anchor="ctr">
            <a:noAutofit/>
          </a:bodyPr>
          <a:lstStyle/>
          <a:p>
            <a:pPr algn="l">
              <a:buNone/>
            </a:pPr>
            <a:endParaRPr lang="ja-JP" altLang="en-US" sz="1200" dirty="0"/>
          </a:p>
        </p:txBody>
      </p:sp>
      <p:sp>
        <p:nvSpPr>
          <p:cNvPr id="28" name="Rounded Rectangle 27"/>
          <p:cNvSpPr/>
          <p:nvPr/>
        </p:nvSpPr>
        <p:spPr>
          <a:xfrm>
            <a:off x="3675888" y="1920240"/>
            <a:ext cx="2551176" cy="2331720"/>
          </a:xfrm>
          <a:prstGeom prst="roundRect">
            <a:avLst>
              <a:gd name="adj" fmla="val 5000"/>
            </a:avLst>
          </a:prstGeom>
          <a:solidFill>
            <a:srgbClr val="FFFFFF"/>
          </a:solidFill>
          <a:ln>
            <a:noFill/>
          </a:ln>
        </p:spPr>
        <p:txBody>
          <a:bodyPr wrap="square" lIns="109728" tIns="73152" rIns="91440" bIns="54864" rtlCol="0" anchor="t">
            <a:noAutofit/>
          </a:bodyPr>
          <a:lstStyle/>
          <a:p>
            <a:pPr algn="l">
              <a:spcAft>
                <a:spcPts val="200"/>
              </a:spcAft>
              <a:buNone/>
            </a:pPr>
            <a:r>
              <a:rPr lang="ja-JP" altLang="en-US" sz="1050" b="1" dirty="0">
                <a:solidFill>
                  <a:srgbClr val="323366"/>
                </a:solidFill>
                <a:latin typeface="メイリオ" panose="020B0604030504040204" pitchFamily="50" charset="-128"/>
                <a:ea typeface="メイリオ" panose="020B0604030504040204" pitchFamily="50" charset="-128"/>
              </a:rPr>
              <a:t>【勤務者募集｜横浜アリーナ】</a:t>
            </a:r>
            <a:endParaRPr lang="ja-JP" altLang="en-US" sz="1050" dirty="0"/>
          </a:p>
          <a:p>
            <a:pPr algn="l">
              <a:spcAft>
                <a:spcPts val="200"/>
              </a:spcAft>
              <a:buNone/>
            </a:pPr>
            <a:r>
              <a:rPr lang="ja-JP" altLang="en-US" sz="1050" b="0" dirty="0">
                <a:solidFill>
                  <a:srgbClr val="333333"/>
                </a:solidFill>
                <a:latin typeface="メイリオ" panose="020B0604030504040204" pitchFamily="50" charset="-128"/>
                <a:ea typeface="メイリオ" panose="020B0604030504040204" pitchFamily="50" charset="-128"/>
              </a:rPr>
              <a:t>〇月〇日（〇）〇〇時〜〇〇時</a:t>
            </a:r>
            <a:endParaRPr lang="ja-JP" altLang="en-US" sz="1050" dirty="0"/>
          </a:p>
          <a:p>
            <a:pPr algn="l">
              <a:spcAft>
                <a:spcPts val="200"/>
              </a:spcAft>
              <a:buNone/>
            </a:pPr>
            <a:r>
              <a:rPr lang="ja-JP" altLang="en-US" sz="1050" b="0" dirty="0">
                <a:solidFill>
                  <a:srgbClr val="333333"/>
                </a:solidFill>
                <a:latin typeface="メイリオ" panose="020B0604030504040204" pitchFamily="50" charset="-128"/>
                <a:ea typeface="メイリオ" panose="020B0604030504040204" pitchFamily="50" charset="-128"/>
              </a:rPr>
              <a:t>案内・誘導スタッフ　時給〇〇円〜</a:t>
            </a:r>
            <a:endParaRPr lang="ja-JP" altLang="en-US" sz="1050" dirty="0"/>
          </a:p>
          <a:p>
            <a:pPr algn="l">
              <a:spcAft>
                <a:spcPts val="200"/>
              </a:spcAft>
              <a:buNone/>
            </a:pPr>
            <a:r>
              <a:rPr lang="ja-JP" altLang="en-US" sz="1050" b="0" dirty="0">
                <a:solidFill>
                  <a:srgbClr val="333333"/>
                </a:solidFill>
                <a:latin typeface="メイリオ" panose="020B0604030504040204" pitchFamily="50" charset="-128"/>
                <a:ea typeface="メイリオ" panose="020B0604030504040204" pitchFamily="50" charset="-128"/>
              </a:rPr>
              <a:t>前回のご勤務、</a:t>
            </a:r>
            <a:endParaRPr lang="ja-JP" altLang="en-US" sz="1050" dirty="0"/>
          </a:p>
          <a:p>
            <a:pPr algn="l">
              <a:spcAft>
                <a:spcPts val="200"/>
              </a:spcAft>
              <a:buNone/>
            </a:pPr>
            <a:r>
              <a:rPr lang="ja-JP" altLang="en-US" sz="1050" b="0" dirty="0">
                <a:solidFill>
                  <a:srgbClr val="333333"/>
                </a:solidFill>
                <a:latin typeface="メイリオ" panose="020B0604030504040204" pitchFamily="50" charset="-128"/>
                <a:ea typeface="メイリオ" panose="020B0604030504040204" pitchFamily="50" charset="-128"/>
              </a:rPr>
              <a:t>ありがとうございました。</a:t>
            </a:r>
            <a:endParaRPr lang="ja-JP" altLang="en-US" sz="1050" dirty="0"/>
          </a:p>
          <a:p>
            <a:pPr algn="l">
              <a:spcAft>
                <a:spcPts val="200"/>
              </a:spcAft>
              <a:buNone/>
            </a:pPr>
            <a:r>
              <a:rPr lang="ja-JP" altLang="en-US" sz="1050" b="0" dirty="0">
                <a:solidFill>
                  <a:srgbClr val="333333"/>
                </a:solidFill>
                <a:latin typeface="メイリオ" panose="020B0604030504040204" pitchFamily="50" charset="-128"/>
                <a:ea typeface="メイリオ" panose="020B0604030504040204" pitchFamily="50" charset="-128"/>
              </a:rPr>
              <a:t>次のイベントもお待ちしています。</a:t>
            </a:r>
            <a:endParaRPr lang="ja-JP" altLang="en-US" sz="1050" dirty="0"/>
          </a:p>
        </p:txBody>
      </p:sp>
      <p:sp>
        <p:nvSpPr>
          <p:cNvPr id="29" name="Rectangle 28"/>
          <p:cNvSpPr/>
          <p:nvPr/>
        </p:nvSpPr>
        <p:spPr>
          <a:xfrm>
            <a:off x="3831336" y="4343400"/>
            <a:ext cx="2240280" cy="411480"/>
          </a:xfrm>
          <a:prstGeom prst="rect">
            <a:avLst/>
          </a:prstGeom>
          <a:solidFill>
            <a:srgbClr val="06C755"/>
          </a:solidFill>
          <a:ln>
            <a:noFill/>
          </a:ln>
        </p:spPr>
        <p:txBody>
          <a:bodyPr wrap="square" lIns="0" tIns="0" rIns="0" bIns="0" rtlCol="0" anchor="ctr">
            <a:noAutofit/>
          </a:bodyPr>
          <a:lstStyle/>
          <a:p>
            <a:pPr algn="ctr">
              <a:buNone/>
            </a:pPr>
            <a:r>
              <a:rPr lang="ja-JP" altLang="en-US" sz="1100" b="1" dirty="0">
                <a:solidFill>
                  <a:srgbClr val="FFFFFF"/>
                </a:solidFill>
                <a:latin typeface="メイリオ" panose="020B0604030504040204" pitchFamily="50" charset="-128"/>
                <a:ea typeface="メイリオ" panose="020B0604030504040204" pitchFamily="50" charset="-128"/>
              </a:rPr>
              <a:t>勤務希望を出す</a:t>
            </a:r>
            <a:endParaRPr lang="ja-JP" altLang="en-US" sz="1100" dirty="0"/>
          </a:p>
        </p:txBody>
      </p:sp>
      <p:sp>
        <p:nvSpPr>
          <p:cNvPr id="30" name="Rectangle 29"/>
          <p:cNvSpPr/>
          <p:nvPr/>
        </p:nvSpPr>
        <p:spPr>
          <a:xfrm>
            <a:off x="3511296" y="5074920"/>
            <a:ext cx="2880360" cy="365760"/>
          </a:xfrm>
          <a:prstGeom prst="rect">
            <a:avLst/>
          </a:prstGeom>
          <a:noFill/>
          <a:ln>
            <a:noFill/>
          </a:ln>
        </p:spPr>
        <p:txBody>
          <a:bodyPr wrap="square" lIns="18288" tIns="0" rIns="18288" bIns="0" rtlCol="0" anchor="ctr">
            <a:noAutofit/>
          </a:bodyPr>
          <a:lstStyle/>
          <a:p>
            <a:pPr algn="l">
              <a:buNone/>
            </a:pPr>
            <a:r>
              <a:rPr lang="ja-JP" altLang="en-US" sz="1000" b="0" dirty="0">
                <a:solidFill>
                  <a:srgbClr val="595959"/>
                </a:solidFill>
                <a:latin typeface="メイリオ" panose="020B0604030504040204" pitchFamily="50" charset="-128"/>
                <a:ea typeface="メイリオ" panose="020B0604030504040204" pitchFamily="50" charset="-128"/>
              </a:rPr>
              <a:t>対象：横浜・土日希望・勤務実績のある方</a:t>
            </a:r>
            <a:endParaRPr lang="ja-JP" altLang="en-US" sz="1000" dirty="0"/>
          </a:p>
        </p:txBody>
      </p:sp>
      <p:sp>
        <p:nvSpPr>
          <p:cNvPr id="31" name="Rounded Rectangle 30"/>
          <p:cNvSpPr/>
          <p:nvPr/>
        </p:nvSpPr>
        <p:spPr>
          <a:xfrm>
            <a:off x="6592824" y="1371600"/>
            <a:ext cx="2880360" cy="329184"/>
          </a:xfrm>
          <a:prstGeom prst="roundRect">
            <a:avLst>
              <a:gd name="adj" fmla="val 20000"/>
            </a:avLst>
          </a:prstGeom>
          <a:solidFill>
            <a:srgbClr val="1E2761"/>
          </a:solidFill>
          <a:ln>
            <a:noFill/>
          </a:ln>
        </p:spPr>
        <p:txBody>
          <a:bodyPr wrap="square" lIns="36576" tIns="0" rIns="36576" bIns="0" rtlCol="0" anchor="ctr">
            <a:noAutofit/>
          </a:bodyPr>
          <a:lstStyle/>
          <a:p>
            <a:pPr algn="ctr">
              <a:buNone/>
            </a:pPr>
            <a:r>
              <a:rPr lang="ja-JP" altLang="en-US" sz="1150" b="1" dirty="0">
                <a:solidFill>
                  <a:srgbClr val="FFFFFF"/>
                </a:solidFill>
                <a:latin typeface="メイリオ" panose="020B0604030504040204" pitchFamily="50" charset="-128"/>
                <a:ea typeface="メイリオ" panose="020B0604030504040204" pitchFamily="50" charset="-128"/>
              </a:rPr>
              <a:t>リッチメニュー（構成案）</a:t>
            </a:r>
            <a:endParaRPr lang="ja-JP" altLang="en-US" sz="1150" dirty="0"/>
          </a:p>
        </p:txBody>
      </p:sp>
      <p:sp>
        <p:nvSpPr>
          <p:cNvPr id="32" name="Rectangle 31"/>
          <p:cNvSpPr/>
          <p:nvPr/>
        </p:nvSpPr>
        <p:spPr>
          <a:xfrm>
            <a:off x="6592824" y="1783080"/>
            <a:ext cx="2880360" cy="3246120"/>
          </a:xfrm>
          <a:prstGeom prst="rect">
            <a:avLst/>
          </a:prstGeom>
          <a:solidFill>
            <a:srgbClr val="F2F2F2"/>
          </a:solidFill>
          <a:ln>
            <a:noFill/>
          </a:ln>
        </p:spPr>
        <p:txBody>
          <a:bodyPr wrap="square" lIns="73152" tIns="36576" rIns="73152" bIns="36576" rtlCol="0" anchor="ctr">
            <a:noAutofit/>
          </a:bodyPr>
          <a:lstStyle/>
          <a:p>
            <a:pPr algn="l">
              <a:buNone/>
            </a:pPr>
            <a:endParaRPr lang="ja-JP" altLang="en-US" sz="1200" dirty="0"/>
          </a:p>
        </p:txBody>
      </p:sp>
      <p:sp>
        <p:nvSpPr>
          <p:cNvPr id="33" name="Rectangle 32"/>
          <p:cNvSpPr/>
          <p:nvPr/>
        </p:nvSpPr>
        <p:spPr>
          <a:xfrm>
            <a:off x="6647688" y="2240280"/>
            <a:ext cx="893064" cy="914400"/>
          </a:xfrm>
          <a:prstGeom prst="rect">
            <a:avLst/>
          </a:prstGeom>
          <a:solidFill>
            <a:srgbClr val="1E2761"/>
          </a:solidFill>
          <a:ln>
            <a:noFill/>
          </a:ln>
        </p:spPr>
        <p:txBody>
          <a:bodyPr wrap="square" lIns="18288" tIns="18288" rIns="18288" bIns="18288" rtlCol="0" anchor="ctr">
            <a:noAutofit/>
          </a:bodyPr>
          <a:lstStyle/>
          <a:p>
            <a:pPr algn="ctr">
              <a:spcAft>
                <a:spcPts val="100"/>
              </a:spcAft>
              <a:buNone/>
            </a:pPr>
            <a:r>
              <a:rPr lang="ja-JP" altLang="en-US" sz="1150" b="1" dirty="0">
                <a:solidFill>
                  <a:srgbClr val="FFFFFF"/>
                </a:solidFill>
                <a:latin typeface="メイリオ" panose="020B0604030504040204" pitchFamily="50" charset="-128"/>
                <a:ea typeface="メイリオ" panose="020B0604030504040204" pitchFamily="50" charset="-128"/>
              </a:rPr>
              <a:t>仕事を探す</a:t>
            </a:r>
            <a:endParaRPr lang="ja-JP" altLang="en-US" sz="1100" dirty="0"/>
          </a:p>
          <a:p>
            <a:pPr algn="ctr">
              <a:spcAft>
                <a:spcPts val="100"/>
              </a:spcAft>
              <a:buNone/>
            </a:pPr>
            <a:r>
              <a:rPr lang="ja-JP" altLang="en-US" sz="950" b="0" dirty="0">
                <a:solidFill>
                  <a:srgbClr val="FFFFFF"/>
                </a:solidFill>
                <a:latin typeface="メイリオ" panose="020B0604030504040204" pitchFamily="50" charset="-128"/>
                <a:ea typeface="メイリオ" panose="020B0604030504040204" pitchFamily="50" charset="-128"/>
              </a:rPr>
              <a:t>募集中の</a:t>
            </a:r>
            <a:br>
              <a:rPr lang="ja-JP" altLang="en-US" sz="950" b="0" dirty="0">
                <a:solidFill>
                  <a:srgbClr val="FFFFFF"/>
                </a:solidFill>
                <a:latin typeface="メイリオ" panose="020B0604030504040204" pitchFamily="50" charset="-128"/>
                <a:ea typeface="メイリオ" panose="020B0604030504040204" pitchFamily="50" charset="-128"/>
              </a:rPr>
            </a:br>
            <a:r>
              <a:rPr lang="ja-JP" altLang="en-US" sz="950" b="0" dirty="0">
                <a:solidFill>
                  <a:srgbClr val="FFFFFF"/>
                </a:solidFill>
                <a:latin typeface="メイリオ" panose="020B0604030504040204" pitchFamily="50" charset="-128"/>
                <a:ea typeface="メイリオ" panose="020B0604030504040204" pitchFamily="50" charset="-128"/>
              </a:rPr>
              <a:t>イベント</a:t>
            </a:r>
            <a:endParaRPr lang="ja-JP" altLang="en-US" sz="1100" dirty="0"/>
          </a:p>
        </p:txBody>
      </p:sp>
      <p:sp>
        <p:nvSpPr>
          <p:cNvPr id="34" name="Rectangle 33"/>
          <p:cNvSpPr/>
          <p:nvPr/>
        </p:nvSpPr>
        <p:spPr>
          <a:xfrm>
            <a:off x="7586472" y="2240280"/>
            <a:ext cx="893064" cy="914400"/>
          </a:xfrm>
          <a:prstGeom prst="rect">
            <a:avLst/>
          </a:prstGeom>
          <a:solidFill>
            <a:srgbClr val="FFFFFF"/>
          </a:solidFill>
          <a:ln w="9525">
            <a:solidFill>
              <a:srgbClr val="D9D9D9"/>
            </a:solidFill>
          </a:ln>
        </p:spPr>
        <p:txBody>
          <a:bodyPr wrap="square" lIns="18288" tIns="18288" rIns="18288" bIns="18288" rtlCol="0" anchor="ctr">
            <a:noAutofit/>
          </a:bodyPr>
          <a:lstStyle/>
          <a:p>
            <a:pPr algn="ctr">
              <a:spcAft>
                <a:spcPts val="100"/>
              </a:spcAft>
              <a:buNone/>
            </a:pPr>
            <a:r>
              <a:rPr lang="ja-JP" altLang="en-US" sz="1150" b="1" dirty="0">
                <a:solidFill>
                  <a:srgbClr val="323366"/>
                </a:solidFill>
                <a:latin typeface="メイリオ" panose="020B0604030504040204" pitchFamily="50" charset="-128"/>
                <a:ea typeface="メイリオ" panose="020B0604030504040204" pitchFamily="50" charset="-128"/>
              </a:rPr>
              <a:t>勤務の案内</a:t>
            </a:r>
            <a:endParaRPr lang="ja-JP" altLang="en-US" sz="1100" dirty="0"/>
          </a:p>
          <a:p>
            <a:pPr algn="ctr">
              <a:spcAft>
                <a:spcPts val="100"/>
              </a:spcAft>
              <a:buNone/>
            </a:pPr>
            <a:r>
              <a:rPr lang="ja-JP" altLang="en-US" sz="950" b="0" dirty="0">
                <a:solidFill>
                  <a:srgbClr val="323366"/>
                </a:solidFill>
                <a:latin typeface="メイリオ" panose="020B0604030504040204" pitchFamily="50" charset="-128"/>
                <a:ea typeface="メイリオ" panose="020B0604030504040204" pitchFamily="50" charset="-128"/>
              </a:rPr>
              <a:t>集合・持ち物</a:t>
            </a:r>
            <a:endParaRPr lang="ja-JP" altLang="en-US" sz="1100" dirty="0"/>
          </a:p>
        </p:txBody>
      </p:sp>
      <p:sp>
        <p:nvSpPr>
          <p:cNvPr id="35" name="Rectangle 34"/>
          <p:cNvSpPr/>
          <p:nvPr/>
        </p:nvSpPr>
        <p:spPr>
          <a:xfrm>
            <a:off x="8525256" y="2240280"/>
            <a:ext cx="893064" cy="914400"/>
          </a:xfrm>
          <a:prstGeom prst="rect">
            <a:avLst/>
          </a:prstGeom>
          <a:solidFill>
            <a:srgbClr val="FFFFFF"/>
          </a:solidFill>
          <a:ln w="9525">
            <a:solidFill>
              <a:srgbClr val="D9D9D9"/>
            </a:solidFill>
          </a:ln>
        </p:spPr>
        <p:txBody>
          <a:bodyPr wrap="square" lIns="18288" tIns="18288" rIns="18288" bIns="18288" rtlCol="0" anchor="ctr">
            <a:noAutofit/>
          </a:bodyPr>
          <a:lstStyle/>
          <a:p>
            <a:pPr algn="ctr">
              <a:spcAft>
                <a:spcPts val="100"/>
              </a:spcAft>
              <a:buNone/>
            </a:pPr>
            <a:r>
              <a:rPr lang="ja-JP" altLang="en-US" sz="1150" b="1" dirty="0">
                <a:solidFill>
                  <a:srgbClr val="323366"/>
                </a:solidFill>
                <a:latin typeface="メイリオ" panose="020B0604030504040204" pitchFamily="50" charset="-128"/>
                <a:ea typeface="メイリオ" panose="020B0604030504040204" pitchFamily="50" charset="-128"/>
              </a:rPr>
              <a:t>希望条件を</a:t>
            </a:r>
            <a:br>
              <a:rPr lang="ja-JP" altLang="en-US" sz="1150" b="1" dirty="0">
                <a:solidFill>
                  <a:srgbClr val="323366"/>
                </a:solidFill>
                <a:latin typeface="メイリオ" panose="020B0604030504040204" pitchFamily="50" charset="-128"/>
                <a:ea typeface="メイリオ" panose="020B0604030504040204" pitchFamily="50" charset="-128"/>
              </a:rPr>
            </a:br>
            <a:r>
              <a:rPr lang="ja-JP" altLang="en-US" sz="1150" b="1" dirty="0">
                <a:solidFill>
                  <a:srgbClr val="323366"/>
                </a:solidFill>
                <a:latin typeface="メイリオ" panose="020B0604030504040204" pitchFamily="50" charset="-128"/>
                <a:ea typeface="メイリオ" panose="020B0604030504040204" pitchFamily="50" charset="-128"/>
              </a:rPr>
              <a:t>変える</a:t>
            </a:r>
            <a:endParaRPr lang="ja-JP" altLang="en-US" sz="1100" dirty="0"/>
          </a:p>
          <a:p>
            <a:pPr algn="ctr">
              <a:spcAft>
                <a:spcPts val="100"/>
              </a:spcAft>
              <a:buNone/>
            </a:pPr>
            <a:r>
              <a:rPr lang="ja-JP" altLang="en-US" sz="950" b="0" dirty="0">
                <a:solidFill>
                  <a:srgbClr val="323366"/>
                </a:solidFill>
                <a:latin typeface="メイリオ" panose="020B0604030504040204" pitchFamily="50" charset="-128"/>
                <a:ea typeface="メイリオ" panose="020B0604030504040204" pitchFamily="50" charset="-128"/>
              </a:rPr>
              <a:t>エリア・曜日</a:t>
            </a:r>
            <a:endParaRPr lang="ja-JP" altLang="en-US" sz="1100" dirty="0"/>
          </a:p>
        </p:txBody>
      </p:sp>
      <p:sp>
        <p:nvSpPr>
          <p:cNvPr id="36" name="Rectangle 35"/>
          <p:cNvSpPr/>
          <p:nvPr/>
        </p:nvSpPr>
        <p:spPr>
          <a:xfrm>
            <a:off x="6647688" y="3200400"/>
            <a:ext cx="893064" cy="914400"/>
          </a:xfrm>
          <a:prstGeom prst="rect">
            <a:avLst/>
          </a:prstGeom>
          <a:solidFill>
            <a:srgbClr val="FFFFFF"/>
          </a:solidFill>
          <a:ln w="9525">
            <a:solidFill>
              <a:srgbClr val="D9D9D9"/>
            </a:solidFill>
          </a:ln>
        </p:spPr>
        <p:txBody>
          <a:bodyPr wrap="square" lIns="18288" tIns="18288" rIns="18288" bIns="18288" rtlCol="0" anchor="ctr">
            <a:noAutofit/>
          </a:bodyPr>
          <a:lstStyle/>
          <a:p>
            <a:pPr algn="ctr">
              <a:spcAft>
                <a:spcPts val="100"/>
              </a:spcAft>
              <a:buNone/>
            </a:pPr>
            <a:r>
              <a:rPr lang="ja-JP" altLang="en-US" sz="1150" b="1" dirty="0">
                <a:solidFill>
                  <a:srgbClr val="323366"/>
                </a:solidFill>
                <a:latin typeface="メイリオ" panose="020B0604030504040204" pitchFamily="50" charset="-128"/>
                <a:ea typeface="メイリオ" panose="020B0604030504040204" pitchFamily="50" charset="-128"/>
              </a:rPr>
              <a:t>よくある</a:t>
            </a:r>
            <a:br>
              <a:rPr lang="ja-JP" altLang="en-US" sz="1150" b="1" dirty="0">
                <a:solidFill>
                  <a:srgbClr val="323366"/>
                </a:solidFill>
                <a:latin typeface="メイリオ" panose="020B0604030504040204" pitchFamily="50" charset="-128"/>
                <a:ea typeface="メイリオ" panose="020B0604030504040204" pitchFamily="50" charset="-128"/>
              </a:rPr>
            </a:br>
            <a:r>
              <a:rPr lang="ja-JP" altLang="en-US" sz="1150" b="1" dirty="0">
                <a:solidFill>
                  <a:srgbClr val="323366"/>
                </a:solidFill>
                <a:latin typeface="メイリオ" panose="020B0604030504040204" pitchFamily="50" charset="-128"/>
                <a:ea typeface="メイリオ" panose="020B0604030504040204" pitchFamily="50" charset="-128"/>
              </a:rPr>
              <a:t>質問</a:t>
            </a:r>
            <a:endParaRPr lang="ja-JP" altLang="en-US" sz="1100" dirty="0"/>
          </a:p>
          <a:p>
            <a:pPr algn="ctr">
              <a:spcAft>
                <a:spcPts val="100"/>
              </a:spcAft>
              <a:buNone/>
            </a:pPr>
            <a:r>
              <a:rPr lang="ja-JP" altLang="en-US" sz="950" b="0" dirty="0">
                <a:solidFill>
                  <a:srgbClr val="323366"/>
                </a:solidFill>
                <a:latin typeface="メイリオ" panose="020B0604030504040204" pitchFamily="50" charset="-128"/>
                <a:ea typeface="メイリオ" panose="020B0604030504040204" pitchFamily="50" charset="-128"/>
              </a:rPr>
              <a:t>給与・服装など</a:t>
            </a:r>
            <a:endParaRPr lang="ja-JP" altLang="en-US" sz="1100" dirty="0"/>
          </a:p>
        </p:txBody>
      </p:sp>
      <p:sp>
        <p:nvSpPr>
          <p:cNvPr id="37" name="Rectangle 36"/>
          <p:cNvSpPr/>
          <p:nvPr/>
        </p:nvSpPr>
        <p:spPr>
          <a:xfrm>
            <a:off x="7586472" y="3200400"/>
            <a:ext cx="893064" cy="914400"/>
          </a:xfrm>
          <a:prstGeom prst="rect">
            <a:avLst/>
          </a:prstGeom>
          <a:solidFill>
            <a:srgbClr val="FFFFFF"/>
          </a:solidFill>
          <a:ln w="9525">
            <a:solidFill>
              <a:srgbClr val="D9D9D9"/>
            </a:solidFill>
          </a:ln>
        </p:spPr>
        <p:txBody>
          <a:bodyPr wrap="square" lIns="18288" tIns="18288" rIns="18288" bIns="18288" rtlCol="0" anchor="ctr">
            <a:noAutofit/>
          </a:bodyPr>
          <a:lstStyle/>
          <a:p>
            <a:pPr algn="ctr">
              <a:spcAft>
                <a:spcPts val="100"/>
              </a:spcAft>
              <a:buNone/>
            </a:pPr>
            <a:r>
              <a:rPr lang="ja-JP" altLang="en-US" sz="1150" b="1" dirty="0">
                <a:solidFill>
                  <a:srgbClr val="323366"/>
                </a:solidFill>
                <a:latin typeface="メイリオ" panose="020B0604030504040204" pitchFamily="50" charset="-128"/>
                <a:ea typeface="メイリオ" panose="020B0604030504040204" pitchFamily="50" charset="-128"/>
              </a:rPr>
              <a:t>お問い</a:t>
            </a:r>
            <a:br>
              <a:rPr lang="ja-JP" altLang="en-US" sz="1150" b="1" dirty="0">
                <a:solidFill>
                  <a:srgbClr val="323366"/>
                </a:solidFill>
                <a:latin typeface="メイリオ" panose="020B0604030504040204" pitchFamily="50" charset="-128"/>
                <a:ea typeface="メイリオ" panose="020B0604030504040204" pitchFamily="50" charset="-128"/>
              </a:rPr>
            </a:br>
            <a:r>
              <a:rPr lang="ja-JP" altLang="en-US" sz="1150" b="1" dirty="0">
                <a:solidFill>
                  <a:srgbClr val="323366"/>
                </a:solidFill>
                <a:latin typeface="メイリオ" panose="020B0604030504040204" pitchFamily="50" charset="-128"/>
                <a:ea typeface="メイリオ" panose="020B0604030504040204" pitchFamily="50" charset="-128"/>
              </a:rPr>
              <a:t>合わせ</a:t>
            </a:r>
            <a:endParaRPr lang="ja-JP" altLang="en-US" sz="1100" dirty="0"/>
          </a:p>
          <a:p>
            <a:pPr algn="ctr">
              <a:spcAft>
                <a:spcPts val="100"/>
              </a:spcAft>
              <a:buNone/>
            </a:pPr>
            <a:r>
              <a:rPr lang="ja-JP" altLang="en-US" sz="950" b="0" dirty="0">
                <a:solidFill>
                  <a:srgbClr val="323366"/>
                </a:solidFill>
                <a:latin typeface="メイリオ" panose="020B0604030504040204" pitchFamily="50" charset="-128"/>
                <a:ea typeface="メイリオ" panose="020B0604030504040204" pitchFamily="50" charset="-128"/>
              </a:rPr>
              <a:t>チャットで相談</a:t>
            </a:r>
            <a:endParaRPr lang="ja-JP" altLang="en-US" sz="1100" dirty="0"/>
          </a:p>
        </p:txBody>
      </p:sp>
      <p:sp>
        <p:nvSpPr>
          <p:cNvPr id="38" name="Rectangle 37"/>
          <p:cNvSpPr/>
          <p:nvPr/>
        </p:nvSpPr>
        <p:spPr>
          <a:xfrm>
            <a:off x="8525256" y="3200400"/>
            <a:ext cx="893064" cy="914400"/>
          </a:xfrm>
          <a:prstGeom prst="rect">
            <a:avLst/>
          </a:prstGeom>
          <a:solidFill>
            <a:srgbClr val="FFFFFF"/>
          </a:solidFill>
          <a:ln w="9525">
            <a:solidFill>
              <a:srgbClr val="D9D9D9"/>
            </a:solidFill>
          </a:ln>
        </p:spPr>
        <p:txBody>
          <a:bodyPr wrap="square" lIns="18288" tIns="18288" rIns="18288" bIns="18288" rtlCol="0" anchor="ctr">
            <a:noAutofit/>
          </a:bodyPr>
          <a:lstStyle/>
          <a:p>
            <a:pPr algn="ctr">
              <a:spcAft>
                <a:spcPts val="100"/>
              </a:spcAft>
              <a:buNone/>
            </a:pPr>
            <a:r>
              <a:rPr lang="ja-JP" altLang="en-US" sz="1150" b="1" dirty="0">
                <a:solidFill>
                  <a:srgbClr val="323366"/>
                </a:solidFill>
                <a:latin typeface="メイリオ" panose="020B0604030504040204" pitchFamily="50" charset="-128"/>
                <a:ea typeface="メイリオ" panose="020B0604030504040204" pitchFamily="50" charset="-128"/>
              </a:rPr>
              <a:t>横浜シミズ</a:t>
            </a:r>
            <a:br>
              <a:rPr lang="ja-JP" altLang="en-US" sz="1150" b="1" dirty="0">
                <a:solidFill>
                  <a:srgbClr val="323366"/>
                </a:solidFill>
                <a:latin typeface="メイリオ" panose="020B0604030504040204" pitchFamily="50" charset="-128"/>
                <a:ea typeface="メイリオ" panose="020B0604030504040204" pitchFamily="50" charset="-128"/>
              </a:rPr>
            </a:br>
            <a:r>
              <a:rPr lang="ja-JP" altLang="en-US" sz="1150" b="1" dirty="0">
                <a:solidFill>
                  <a:srgbClr val="323366"/>
                </a:solidFill>
                <a:latin typeface="メイリオ" panose="020B0604030504040204" pitchFamily="50" charset="-128"/>
                <a:ea typeface="メイリオ" panose="020B0604030504040204" pitchFamily="50" charset="-128"/>
              </a:rPr>
              <a:t>とは</a:t>
            </a:r>
            <a:endParaRPr lang="ja-JP" altLang="en-US" sz="1100" dirty="0"/>
          </a:p>
          <a:p>
            <a:pPr algn="ctr">
              <a:spcAft>
                <a:spcPts val="100"/>
              </a:spcAft>
              <a:buNone/>
            </a:pPr>
            <a:r>
              <a:rPr lang="ja-JP" altLang="en-US" sz="950" b="0" dirty="0">
                <a:solidFill>
                  <a:srgbClr val="323366"/>
                </a:solidFill>
                <a:latin typeface="メイリオ" panose="020B0604030504040204" pitchFamily="50" charset="-128"/>
                <a:ea typeface="メイリオ" panose="020B0604030504040204" pitchFamily="50" charset="-128"/>
              </a:rPr>
              <a:t>会社・現場</a:t>
            </a:r>
            <a:br>
              <a:rPr lang="ja-JP" altLang="en-US" sz="950" b="0" dirty="0">
                <a:solidFill>
                  <a:srgbClr val="323366"/>
                </a:solidFill>
                <a:latin typeface="メイリオ" panose="020B0604030504040204" pitchFamily="50" charset="-128"/>
                <a:ea typeface="メイリオ" panose="020B0604030504040204" pitchFamily="50" charset="-128"/>
              </a:rPr>
            </a:br>
            <a:r>
              <a:rPr lang="ja-JP" altLang="en-US" sz="950" b="0" dirty="0">
                <a:solidFill>
                  <a:srgbClr val="323366"/>
                </a:solidFill>
                <a:latin typeface="メイリオ" panose="020B0604030504040204" pitchFamily="50" charset="-128"/>
                <a:ea typeface="メイリオ" panose="020B0604030504040204" pitchFamily="50" charset="-128"/>
              </a:rPr>
              <a:t>の紹介</a:t>
            </a:r>
            <a:endParaRPr lang="ja-JP" altLang="en-US" sz="1100" dirty="0"/>
          </a:p>
        </p:txBody>
      </p:sp>
      <p:sp>
        <p:nvSpPr>
          <p:cNvPr id="39" name="Rectangle 38"/>
          <p:cNvSpPr/>
          <p:nvPr/>
        </p:nvSpPr>
        <p:spPr>
          <a:xfrm>
            <a:off x="6592824" y="5074920"/>
            <a:ext cx="2880360" cy="365760"/>
          </a:xfrm>
          <a:prstGeom prst="rect">
            <a:avLst/>
          </a:prstGeom>
          <a:noFill/>
          <a:ln>
            <a:noFill/>
          </a:ln>
        </p:spPr>
        <p:txBody>
          <a:bodyPr wrap="square" lIns="18288" tIns="0" rIns="18288" bIns="0" rtlCol="0" anchor="ctr">
            <a:noAutofit/>
          </a:bodyPr>
          <a:lstStyle/>
          <a:p>
            <a:pPr algn="l">
              <a:buNone/>
            </a:pPr>
            <a:r>
              <a:rPr lang="ja-JP" altLang="en-US" sz="1000" b="0" dirty="0">
                <a:solidFill>
                  <a:srgbClr val="595959"/>
                </a:solidFill>
                <a:latin typeface="メイリオ" panose="020B0604030504040204" pitchFamily="50" charset="-128"/>
                <a:ea typeface="メイリオ" panose="020B0604030504040204" pitchFamily="50" charset="-128"/>
              </a:rPr>
              <a:t>一番押してほしい「仕事を探す」を左上に</a:t>
            </a:r>
            <a:endParaRPr lang="ja-JP" altLang="en-US" sz="1000" dirty="0"/>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4" name="Google Shape;752;p28">
            <a:extLst>
              <a:ext uri="{FF2B5EF4-FFF2-40B4-BE49-F238E27FC236}">
                <a16:creationId xmlns:a16="http://schemas.microsoft.com/office/drawing/2014/main" id="{88CD823C-3E61-5E93-B9FE-BD623737FC13}"/>
              </a:ext>
            </a:extLst>
          </p:cNvPr>
          <p:cNvSpPr txBox="1"/>
          <p:nvPr/>
        </p:nvSpPr>
        <p:spPr>
          <a:xfrm>
            <a:off x="602223" y="1104688"/>
            <a:ext cx="1104657" cy="584735"/>
          </a:xfrm>
          <a:prstGeom prst="rect">
            <a:avLst/>
          </a:prstGeom>
          <a:noFill/>
          <a:ln>
            <a:noFill/>
          </a:ln>
        </p:spPr>
        <p:txBody>
          <a:bodyPr spcFirstLastPara="1" wrap="square" lIns="91425" tIns="45700" rIns="91425" bIns="45700" anchor="ctr" anchorCtr="0">
            <a:spAutoFit/>
          </a:bodyPr>
          <a:lstStyle/>
          <a:p>
            <a:pPr lvl="0"/>
            <a:r>
              <a:rPr lang="en-US" altLang="ja-JP" sz="3200" b="1" dirty="0">
                <a:solidFill>
                  <a:srgbClr val="323366"/>
                </a:solidFill>
                <a:latin typeface="メイリオ" panose="020B0604030504040204" pitchFamily="50" charset="-128"/>
                <a:ea typeface="メイリオ" panose="020B0604030504040204" pitchFamily="50" charset="-128"/>
                <a:cs typeface="Meiryo"/>
                <a:sym typeface="Meiryo"/>
              </a:rPr>
              <a:t>05</a:t>
            </a:r>
            <a:endParaRPr lang="ja-JP" altLang="en-US" sz="3200" b="1" dirty="0">
              <a:solidFill>
                <a:srgbClr val="323366"/>
              </a:solidFill>
              <a:latin typeface="メイリオ" panose="020B0604030504040204" pitchFamily="50" charset="-128"/>
              <a:ea typeface="メイリオ" panose="020B0604030504040204" pitchFamily="50" charset="-128"/>
              <a:cs typeface="Meiryo"/>
              <a:sym typeface="Meiryo"/>
            </a:endParaRPr>
          </a:p>
        </p:txBody>
      </p:sp>
      <p:sp>
        <p:nvSpPr>
          <p:cNvPr id="16" name="Google Shape;752;p28">
            <a:extLst>
              <a:ext uri="{FF2B5EF4-FFF2-40B4-BE49-F238E27FC236}">
                <a16:creationId xmlns:a16="http://schemas.microsoft.com/office/drawing/2014/main" id="{403775D4-CF2D-3023-3056-9E596BBE8648}"/>
              </a:ext>
            </a:extLst>
          </p:cNvPr>
          <p:cNvSpPr txBox="1"/>
          <p:nvPr/>
        </p:nvSpPr>
        <p:spPr>
          <a:xfrm>
            <a:off x="1867143" y="1043132"/>
            <a:ext cx="5028957" cy="707846"/>
          </a:xfrm>
          <a:prstGeom prst="rect">
            <a:avLst/>
          </a:prstGeom>
          <a:noFill/>
          <a:ln>
            <a:noFill/>
          </a:ln>
        </p:spPr>
        <p:txBody>
          <a:bodyPr spcFirstLastPara="1" wrap="square" lIns="91425" tIns="45700" rIns="91425" bIns="45700" anchor="ctr" anchorCtr="0">
            <a:spAutoFit/>
          </a:bodyPr>
          <a:lstStyle/>
          <a:p>
            <a:pPr lvl="0"/>
            <a:r>
              <a:rPr lang="ja-JP" altLang="en-US" sz="4000" b="1" dirty="0">
                <a:solidFill>
                  <a:schemeClr val="tx1">
                    <a:lumMod val="65000"/>
                    <a:lumOff val="35000"/>
                  </a:schemeClr>
                </a:solidFill>
                <a:latin typeface="メイリオ" panose="020B0604030504040204" pitchFamily="50" charset="-128"/>
                <a:ea typeface="メイリオ" panose="020B0604030504040204" pitchFamily="50" charset="-128"/>
                <a:cs typeface="Meiryo"/>
                <a:sym typeface="Meiryo"/>
              </a:rPr>
              <a:t>料金プラン</a:t>
            </a:r>
          </a:p>
        </p:txBody>
      </p:sp>
      <p:cxnSp>
        <p:nvCxnSpPr>
          <p:cNvPr id="17" name="直線コネクタ 16">
            <a:extLst>
              <a:ext uri="{FF2B5EF4-FFF2-40B4-BE49-F238E27FC236}">
                <a16:creationId xmlns:a16="http://schemas.microsoft.com/office/drawing/2014/main" id="{24E0D700-8F0C-AA59-0C53-7B51F6E65BAA}"/>
              </a:ext>
            </a:extLst>
          </p:cNvPr>
          <p:cNvCxnSpPr>
            <a:cxnSpLocks/>
          </p:cNvCxnSpPr>
          <p:nvPr/>
        </p:nvCxnSpPr>
        <p:spPr>
          <a:xfrm>
            <a:off x="608527" y="1681803"/>
            <a:ext cx="944805" cy="0"/>
          </a:xfrm>
          <a:prstGeom prst="line">
            <a:avLst/>
          </a:prstGeom>
          <a:ln w="57150">
            <a:solidFill>
              <a:srgbClr val="10253F"/>
            </a:solidFill>
          </a:ln>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7"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338" name="正方形/長方形 3"/>
          <p:cNvSpPr/>
          <p:nvPr/>
        </p:nvSpPr>
        <p:spPr>
          <a:xfrm>
            <a:off x="379800" y="635040"/>
            <a:ext cx="9160560" cy="6980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endParaRPr lang="en-US" sz="1400" b="0" u="none" strike="noStrike">
              <a:solidFill>
                <a:srgbClr val="343434"/>
              </a:solidFill>
              <a:effectLst/>
              <a:uFillTx/>
              <a:latin typeface="メイリオ"/>
              <a:ea typeface="メイリオ"/>
            </a:endParaRPr>
          </a:p>
        </p:txBody>
      </p:sp>
      <p:sp>
        <p:nvSpPr>
          <p:cNvPr id="339" name="Google Shape;156;p7"/>
          <p:cNvSpPr/>
          <p:nvPr/>
        </p:nvSpPr>
        <p:spPr>
          <a:xfrm>
            <a:off x="549000" y="138240"/>
            <a:ext cx="7680960" cy="338040"/>
          </a:xfrm>
          <a:prstGeom prst="rect">
            <a:avLst/>
          </a:prstGeom>
          <a:noFill/>
          <a:ln w="19050">
            <a:noFill/>
          </a:ln>
        </p:spPr>
        <p:style>
          <a:lnRef idx="0">
            <a:scrgbClr r="0" g="0" b="0"/>
          </a:lnRef>
          <a:fillRef idx="0">
            <a:scrgbClr r="0" g="0" b="0"/>
          </a:fillRef>
          <a:effectRef idx="0">
            <a:scrgbClr r="0" g="0" b="0"/>
          </a:effectRef>
          <a:fontRef idx="minor"/>
        </p:style>
        <p:txBody>
          <a:bodyPr anchor="ctr" lIns="91425" rIns="91425" tIns="45700" bIns="45700">
            <a:spAutoFit/>
          </a:bodyPr>
          <a:lstStyle/>
          <a:p>
            <a:pPr>
              <a:tabLst>
                <a:tab pos="0" algn="l"/>
              </a:tabLst>
            </a:pPr>
            <a:r>
              <a:rPr lang="ja-JP" sz="1600" b="1" u="none" strike="noStrike" dirty="0">
                <a:solidFill>
                  <a:srgbClr val="323366"/>
                </a:solidFill>
                <a:effectLst/>
                <a:uFillTx/>
                <a:latin typeface="メイリオ"/>
                <a:ea typeface="メイリオ"/>
              </a:rPr>
              <a:t>概算お見積り：月215,000円で、6か月目に新規応募 月7件・再応募 月3件</a:t>
            </a:r>
          </a:p>
        </p:txBody>
      </p:sp>
      <p:cxnSp>
        <p:nvCxnSpPr>
          <p:cNvPr id="340" name="直線コネクタ 1"/>
          <p:cNvCxnSpPr/>
          <p:nvPr/>
        </p:nvCxnSpPr>
        <p:spPr>
          <a:xfrm>
            <a:off x="0" y="1390320"/>
            <a:ext cx="9906120" cy="360"/>
          </a:xfrm>
          <a:prstGeom prst="straightConnector1">
            <a:avLst/>
          </a:prstGeom>
          <a:ln w="19050">
            <a:solidFill>
              <a:schemeClr val="lt1">
                <a:lumMod val="85000"/>
                <a:alpha val="60000"/>
              </a:schemeClr>
            </a:solidFill>
            <a:round/>
          </a:ln>
        </p:spPr>
      </p:cxnSp>
      <p:sp>
        <p:nvSpPr>
          <p:cNvPr id="341" name="正方形/長方形 4"/>
          <p:cNvSpPr/>
          <p:nvPr/>
        </p:nvSpPr>
        <p:spPr>
          <a:xfrm>
            <a:off x="261360" y="1517760"/>
            <a:ext cx="2899440" cy="383760"/>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400" b="0" u="none" strike="noStrike">
                <a:solidFill>
                  <a:schemeClr val="lt1"/>
                </a:solidFill>
                <a:effectLst/>
                <a:uFillTx/>
                <a:latin typeface="メイリオ"/>
                <a:ea typeface="メイリオ"/>
              </a:rPr>
              <a:t>初期</a:t>
            </a:r>
            <a:endParaRPr lang="en-US" sz="1400" b="0" u="none" strike="noStrike">
              <a:solidFill>
                <a:srgbClr val="FFFFFF"/>
              </a:solidFill>
              <a:effectLst/>
              <a:uFillTx/>
              <a:latin typeface="メイリオ"/>
            </a:endParaRPr>
          </a:p>
        </p:txBody>
      </p:sp>
      <p:sp>
        <p:nvSpPr>
          <p:cNvPr id="342" name="正方形/長方形 6"/>
          <p:cNvSpPr/>
          <p:nvPr/>
        </p:nvSpPr>
        <p:spPr>
          <a:xfrm>
            <a:off x="3337560" y="1517760"/>
            <a:ext cx="2899440" cy="383760"/>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400" b="0" u="none" strike="noStrike">
                <a:solidFill>
                  <a:schemeClr val="lt1"/>
                </a:solidFill>
                <a:effectLst/>
                <a:uFillTx/>
                <a:latin typeface="メイリオ"/>
                <a:ea typeface="メイリオ"/>
              </a:rPr>
              <a:t>月次</a:t>
            </a:r>
            <a:endParaRPr lang="en-US" sz="1400" b="0" u="none" strike="noStrike">
              <a:solidFill>
                <a:srgbClr val="FFFFFF"/>
              </a:solidFill>
              <a:effectLst/>
              <a:uFillTx/>
              <a:latin typeface="メイリオ"/>
            </a:endParaRPr>
          </a:p>
        </p:txBody>
      </p:sp>
      <p:sp>
        <p:nvSpPr>
          <p:cNvPr id="343" name="正方形/長方形 7"/>
          <p:cNvSpPr/>
          <p:nvPr/>
        </p:nvSpPr>
        <p:spPr>
          <a:xfrm>
            <a:off x="261360" y="1956960"/>
            <a:ext cx="2899440" cy="676440"/>
          </a:xfrm>
          <a:prstGeom prst="rect">
            <a:avLst/>
          </a:prstGeom>
          <a:noFill/>
          <a:ln>
            <a:solidFill>
              <a:srgbClr val="223852"/>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600" b="1" u="none" strike="noStrike">
                <a:solidFill>
                  <a:schemeClr val="dk1"/>
                </a:solidFill>
                <a:effectLst/>
                <a:uFillTx/>
                <a:latin typeface="メイリオ"/>
                <a:ea typeface="メイリオ"/>
              </a:rPr>
              <a:t>¥295,000〜</a:t>
            </a:r>
            <a:endParaRPr lang="en-US" sz="1600" b="0" u="none" strike="noStrike">
              <a:solidFill>
                <a:srgbClr val="000000"/>
              </a:solidFill>
              <a:effectLst/>
              <a:uFillTx/>
              <a:latin typeface="メイリオ"/>
            </a:endParaRPr>
          </a:p>
        </p:txBody>
      </p:sp>
      <p:sp>
        <p:nvSpPr>
          <p:cNvPr id="344" name="正方形/長方形 9"/>
          <p:cNvSpPr/>
          <p:nvPr/>
        </p:nvSpPr>
        <p:spPr>
          <a:xfrm>
            <a:off x="3337560" y="1956960"/>
            <a:ext cx="2899440" cy="676440"/>
          </a:xfrm>
          <a:prstGeom prst="rect">
            <a:avLst/>
          </a:prstGeom>
          <a:noFill/>
          <a:ln>
            <a:solidFill>
              <a:srgbClr val="223852"/>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600" b="1" u="none" strike="noStrike">
                <a:solidFill>
                  <a:schemeClr val="dk1"/>
                </a:solidFill>
                <a:effectLst/>
                <a:uFillTx/>
                <a:latin typeface="メイリオ"/>
                <a:ea typeface="メイリオ"/>
              </a:rPr>
              <a:t>¥215,000〜</a:t>
            </a:r>
            <a:endParaRPr lang="en-US" sz="1600" b="0" u="none" strike="noStrike">
              <a:solidFill>
                <a:srgbClr val="000000"/>
              </a:solidFill>
              <a:effectLst/>
              <a:uFillTx/>
              <a:latin typeface="メイリオ"/>
            </a:endParaRPr>
          </a:p>
        </p:txBody>
      </p:sp>
      <p:sp>
        <p:nvSpPr>
          <p:cNvPr id="345" name="矢印: 右 14"/>
          <p:cNvSpPr/>
          <p:nvPr/>
        </p:nvSpPr>
        <p:spPr>
          <a:xfrm>
            <a:off x="6379200" y="1956960"/>
            <a:ext cx="365400" cy="2797560"/>
          </a:xfrm>
          <a:prstGeom prst="rightArrow">
            <a:avLst>
              <a:gd name="adj1" fmla="val 50000"/>
              <a:gd name="adj2" fmla="val 50000"/>
            </a:avLst>
          </a:prstGeom>
          <a:solidFill>
            <a:schemeClr val="tx1"/>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ndParaRPr>
          </a:p>
        </p:txBody>
      </p:sp>
      <p:sp>
        <p:nvSpPr>
          <p:cNvPr id="346" name="正方形/長方形 16"/>
          <p:cNvSpPr/>
          <p:nvPr/>
        </p:nvSpPr>
        <p:spPr>
          <a:xfrm>
            <a:off x="6744960" y="1517760"/>
            <a:ext cx="2899440" cy="38376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400" b="0" u="none" strike="noStrike">
                <a:solidFill>
                  <a:schemeClr val="lt1"/>
                </a:solidFill>
                <a:effectLst/>
                <a:uFillTx/>
                <a:latin typeface="メイリオ"/>
                <a:ea typeface="メイリオ"/>
              </a:rPr>
              <a:t>6</a:t>
            </a:r>
            <a:r>
              <a:rPr lang="ja-JP" sz="1400" b="0" u="none" strike="noStrike">
                <a:solidFill>
                  <a:schemeClr val="lt1"/>
                </a:solidFill>
                <a:effectLst/>
                <a:uFillTx/>
                <a:latin typeface="メイリオ"/>
                <a:ea typeface="メイリオ"/>
              </a:rPr>
              <a:t>か月後</a:t>
            </a:r>
            <a:endParaRPr lang="en-US" sz="1400" b="0" u="none" strike="noStrike">
              <a:solidFill>
                <a:srgbClr val="FFFFFF"/>
              </a:solidFill>
              <a:effectLst/>
              <a:uFillTx/>
              <a:latin typeface="メイリオ"/>
            </a:endParaRPr>
          </a:p>
        </p:txBody>
      </p:sp>
      <p:sp>
        <p:nvSpPr>
          <p:cNvPr id="347" name="テキスト ボックス 18"/>
          <p:cNvSpPr/>
          <p:nvPr/>
        </p:nvSpPr>
        <p:spPr>
          <a:xfrm>
            <a:off x="261360" y="2688480"/>
            <a:ext cx="2899080" cy="3470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en-US" sz="1400" b="0" u="none" strike="noStrike">
                <a:solidFill>
                  <a:schemeClr val="dk1"/>
                </a:solidFill>
                <a:effectLst/>
                <a:uFillTx/>
                <a:latin typeface="メイリオ"/>
                <a:ea typeface="メイリオ"/>
              </a:rPr>
              <a:t>&lt;</a:t>
            </a:r>
            <a:r>
              <a:rPr lang="ja-JP" sz="1400" b="0" u="none" strike="noStrike">
                <a:solidFill>
                  <a:schemeClr val="dk1"/>
                </a:solidFill>
                <a:effectLst/>
                <a:uFillTx/>
                <a:latin typeface="メイリオ"/>
                <a:ea typeface="メイリオ"/>
              </a:rPr>
              <a:t>実施内容</a:t>
            </a:r>
            <a:r>
              <a:rPr lang="en-US" sz="1400" b="0" u="none" strike="noStrike">
                <a:solidFill>
                  <a:schemeClr val="dk1"/>
                </a:solidFill>
                <a:effectLst/>
                <a:uFillTx/>
                <a:latin typeface="メイリオ"/>
                <a:ea typeface="メイリオ"/>
              </a:rPr>
              <a:t>&gt;</a:t>
            </a:r>
            <a:endParaRPr lang="en-US" sz="1400" b="0" u="none" strike="noStrike">
              <a:solidFill>
                <a:srgbClr val="000000"/>
              </a:solidFill>
              <a:effectLst/>
              <a:uFillTx/>
              <a:latin typeface="メイリオ"/>
            </a:endParaRPr>
          </a:p>
        </p:txBody>
      </p:sp>
      <p:sp>
        <p:nvSpPr>
          <p:cNvPr id="348" name="テキスト ボックス 20"/>
          <p:cNvSpPr/>
          <p:nvPr/>
        </p:nvSpPr>
        <p:spPr>
          <a:xfrm>
            <a:off x="3337560" y="2688480"/>
            <a:ext cx="2899080" cy="3470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en-US" sz="1400" b="0" u="none" strike="noStrike">
                <a:solidFill>
                  <a:schemeClr val="dk1"/>
                </a:solidFill>
                <a:effectLst/>
                <a:uFillTx/>
                <a:latin typeface="メイリオ"/>
                <a:ea typeface="メイリオ"/>
              </a:rPr>
              <a:t>&lt;</a:t>
            </a:r>
            <a:r>
              <a:rPr lang="ja-JP" sz="1400" b="0" u="none" strike="noStrike">
                <a:solidFill>
                  <a:schemeClr val="dk1"/>
                </a:solidFill>
                <a:effectLst/>
                <a:uFillTx/>
                <a:latin typeface="メイリオ"/>
                <a:ea typeface="メイリオ"/>
              </a:rPr>
              <a:t>実施内容</a:t>
            </a:r>
            <a:r>
              <a:rPr lang="en-US" sz="1400" b="0" u="none" strike="noStrike">
                <a:solidFill>
                  <a:schemeClr val="dk1"/>
                </a:solidFill>
                <a:effectLst/>
                <a:uFillTx/>
                <a:latin typeface="メイリオ"/>
                <a:ea typeface="メイリオ"/>
              </a:rPr>
              <a:t>&gt;</a:t>
            </a:r>
            <a:endParaRPr lang="en-US" sz="1400" b="0" u="none" strike="noStrike">
              <a:solidFill>
                <a:srgbClr val="000000"/>
              </a:solidFill>
              <a:effectLst/>
              <a:uFillTx/>
              <a:latin typeface="メイリオ"/>
            </a:endParaRPr>
          </a:p>
        </p:txBody>
      </p:sp>
      <p:sp>
        <p:nvSpPr>
          <p:cNvPr id="349" name="正方形/長方形 24"/>
          <p:cNvSpPr/>
          <p:nvPr/>
        </p:nvSpPr>
        <p:spPr>
          <a:xfrm>
            <a:off x="3383280" y="309060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rPr>
              <a:t>企画配信</a:t>
            </a:r>
            <a:endParaRPr lang="en-US" sz="1300" b="0" u="none" strike="noStrike">
              <a:solidFill>
                <a:srgbClr val="FFFFFF"/>
              </a:solidFill>
              <a:effectLst/>
              <a:uFillTx/>
              <a:latin typeface="メイリオ"/>
            </a:endParaRPr>
          </a:p>
        </p:txBody>
      </p:sp>
      <p:sp>
        <p:nvSpPr>
          <p:cNvPr id="350" name="正方形/長方形 28"/>
          <p:cNvSpPr/>
          <p:nvPr/>
        </p:nvSpPr>
        <p:spPr>
          <a:xfrm>
            <a:off x="4846320" y="309060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zh-CN" sz="1300" b="0" u="none" strike="noStrike">
                <a:solidFill>
                  <a:schemeClr val="dk1"/>
                </a:solidFill>
                <a:effectLst/>
                <a:uFillTx/>
                <a:latin typeface="メイリオ"/>
                <a:ea typeface="メイリオ"/>
              </a:rPr>
              <a:t>月4回</a:t>
            </a:r>
            <a:endParaRPr lang="en-US" sz="1300" b="0" u="none" strike="noStrike">
              <a:solidFill>
                <a:srgbClr val="000000"/>
              </a:solidFill>
              <a:effectLst/>
              <a:uFillTx/>
              <a:latin typeface="メイリオ"/>
            </a:endParaRPr>
          </a:p>
        </p:txBody>
      </p:sp>
      <p:sp>
        <p:nvSpPr>
          <p:cNvPr id="351" name="正方形/長方形 32"/>
          <p:cNvSpPr/>
          <p:nvPr/>
        </p:nvSpPr>
        <p:spPr>
          <a:xfrm>
            <a:off x="3383280" y="3579840"/>
            <a:ext cx="1425960" cy="48420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36576" tIns="0" rIns="36576" bIns="0" anchor="ctr">
            <a:noAutofit/>
          </a:bodyPr>
          <a:lstStyle/>
          <a:p>
            <a:pPr algn="ctr" defTabSz="914400">
              <a:lnSpc>
                <a:spcPct val="90000"/>
              </a:lnSpc>
            </a:pPr>
            <a:r>
              <a:rPr lang="ja-JP" sz="1200" b="0" u="none" strike="noStrike">
                <a:solidFill>
                  <a:schemeClr val="lt1"/>
                </a:solidFill>
                <a:effectLst/>
                <a:uFillTx/>
                <a:latin typeface="メイリオ"/>
                <a:ea typeface="メイリオ"/>
              </a:rPr>
              <a:t>ステップ配信</a:t>
            </a:r>
            <a:endParaRPr lang="en-US" sz="1200" b="0" u="none" strike="noStrike">
              <a:solidFill>
                <a:srgbClr val="FFFFFF"/>
              </a:solidFill>
              <a:effectLst/>
              <a:uFillTx/>
              <a:latin typeface="メイリオ"/>
            </a:endParaRPr>
          </a:p>
        </p:txBody>
      </p:sp>
      <p:sp>
        <p:nvSpPr>
          <p:cNvPr id="352" name="正方形/長方形 36"/>
          <p:cNvSpPr/>
          <p:nvPr/>
        </p:nvSpPr>
        <p:spPr>
          <a:xfrm>
            <a:off x="4846320" y="3579840"/>
            <a:ext cx="1343880" cy="48420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36576" tIns="0" rIns="36576" bIns="0" anchor="ctr">
            <a:noAutofit/>
          </a:bodyPr>
          <a:lstStyle/>
          <a:p>
            <a:pPr algn="ctr" defTabSz="914400">
              <a:lnSpc>
                <a:spcPct val="100000"/>
              </a:lnSpc>
            </a:pPr>
            <a:r>
              <a:rPr lang="ja-JP" sz="1200" b="0" u="none" strike="noStrike">
                <a:solidFill>
                  <a:schemeClr val="dk1"/>
                </a:solidFill>
                <a:effectLst/>
                <a:uFillTx/>
                <a:latin typeface="メイリオ"/>
                <a:ea typeface="メイリオ"/>
              </a:rPr>
              <a:t>4通の改善</a:t>
            </a:r>
            <a:endParaRPr lang="en-US" sz="1200" b="0" u="none" strike="noStrike">
              <a:solidFill>
                <a:srgbClr val="000000"/>
              </a:solidFill>
              <a:effectLst/>
              <a:uFillTx/>
              <a:latin typeface="メイリオ"/>
            </a:endParaRPr>
          </a:p>
        </p:txBody>
      </p:sp>
      <p:sp>
        <p:nvSpPr>
          <p:cNvPr id="353" name="正方形/長方形 40"/>
          <p:cNvSpPr/>
          <p:nvPr/>
        </p:nvSpPr>
        <p:spPr>
          <a:xfrm>
            <a:off x="3383280" y="406908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rPr>
              <a:t>セグメント配信</a:t>
            </a:r>
            <a:endParaRPr lang="en-US" sz="1300" b="0" u="none" strike="noStrike">
              <a:solidFill>
                <a:srgbClr val="FFFFFF"/>
              </a:solidFill>
              <a:effectLst/>
              <a:uFillTx/>
              <a:latin typeface="メイリオ"/>
            </a:endParaRPr>
          </a:p>
        </p:txBody>
      </p:sp>
      <p:sp>
        <p:nvSpPr>
          <p:cNvPr id="354" name="正方形/長方形 45"/>
          <p:cNvSpPr/>
          <p:nvPr/>
        </p:nvSpPr>
        <p:spPr>
          <a:xfrm>
            <a:off x="4846320" y="406908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en-US" sz="1300" b="0" u="none" strike="noStrike">
                <a:solidFill>
                  <a:schemeClr val="dk1"/>
                </a:solidFill>
                <a:effectLst/>
                <a:uFillTx/>
                <a:latin typeface="メイリオ"/>
                <a:ea typeface="メイリオ"/>
              </a:rPr>
              <a:t>設定・改善</a:t>
            </a:r>
            <a:endParaRPr lang="en-US" sz="1300" b="0" u="none" strike="noStrike">
              <a:solidFill>
                <a:srgbClr val="000000"/>
              </a:solidFill>
              <a:effectLst/>
              <a:uFillTx/>
              <a:latin typeface="メイリオ"/>
            </a:endParaRPr>
          </a:p>
        </p:txBody>
      </p:sp>
      <p:sp>
        <p:nvSpPr>
          <p:cNvPr id="355" name="正方形/長方形 49"/>
          <p:cNvSpPr/>
          <p:nvPr/>
        </p:nvSpPr>
        <p:spPr>
          <a:xfrm>
            <a:off x="3383280" y="455832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rPr>
              <a:t>勤務前の案内</a:t>
            </a:r>
            <a:endParaRPr lang="en-US" sz="1300" b="0" u="none" strike="noStrike">
              <a:solidFill>
                <a:srgbClr val="FFFFFF"/>
              </a:solidFill>
              <a:effectLst/>
              <a:uFillTx/>
              <a:latin typeface="メイリオ"/>
            </a:endParaRPr>
          </a:p>
        </p:txBody>
      </p:sp>
      <p:sp>
        <p:nvSpPr>
          <p:cNvPr id="356" name="正方形/長方形 53"/>
          <p:cNvSpPr/>
          <p:nvPr/>
        </p:nvSpPr>
        <p:spPr>
          <a:xfrm>
            <a:off x="4846320" y="455832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en-US" sz="1300" b="0" u="none" strike="noStrike">
                <a:solidFill>
                  <a:schemeClr val="dk1"/>
                </a:solidFill>
                <a:effectLst/>
                <a:uFillTx/>
                <a:latin typeface="メイリオ"/>
                <a:ea typeface="メイリオ"/>
              </a:rPr>
              <a:t>型の改善</a:t>
            </a:r>
            <a:endParaRPr lang="en-US" sz="1300" b="0" u="none" strike="noStrike">
              <a:solidFill>
                <a:srgbClr val="000000"/>
              </a:solidFill>
              <a:effectLst/>
              <a:uFillTx/>
              <a:latin typeface="メイリオ"/>
            </a:endParaRPr>
          </a:p>
        </p:txBody>
      </p:sp>
      <p:sp>
        <p:nvSpPr>
          <p:cNvPr id="357" name="正方形/長方形 57"/>
          <p:cNvSpPr/>
          <p:nvPr/>
        </p:nvSpPr>
        <p:spPr>
          <a:xfrm>
            <a:off x="3383280" y="504756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rPr>
              <a:t>月次レポート</a:t>
            </a:r>
            <a:endParaRPr lang="en-US" sz="1300" b="0" u="none" strike="noStrike">
              <a:solidFill>
                <a:srgbClr val="FFFFFF"/>
              </a:solidFill>
              <a:effectLst/>
              <a:uFillTx/>
              <a:latin typeface="メイリオ"/>
            </a:endParaRPr>
          </a:p>
        </p:txBody>
      </p:sp>
      <p:sp>
        <p:nvSpPr>
          <p:cNvPr id="358" name="正方形/長方形 61"/>
          <p:cNvSpPr/>
          <p:nvPr/>
        </p:nvSpPr>
        <p:spPr>
          <a:xfrm>
            <a:off x="4846320" y="504756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dk1"/>
                </a:solidFill>
                <a:effectLst/>
                <a:uFillTx/>
                <a:latin typeface="メイリオ"/>
                <a:ea typeface="メイリオ"/>
              </a:rPr>
              <a:t>1回</a:t>
            </a:r>
            <a:endParaRPr lang="en-US" sz="1300" b="0" u="none" strike="noStrike">
              <a:solidFill>
                <a:srgbClr val="000000"/>
              </a:solidFill>
              <a:effectLst/>
              <a:uFillTx/>
              <a:latin typeface="メイリオ"/>
            </a:endParaRPr>
          </a:p>
        </p:txBody>
      </p:sp>
      <p:sp>
        <p:nvSpPr>
          <p:cNvPr id="359" name="正方形/長方形 65"/>
          <p:cNvSpPr/>
          <p:nvPr/>
        </p:nvSpPr>
        <p:spPr>
          <a:xfrm>
            <a:off x="3383280" y="553680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rPr>
              <a:t>友だちの入口</a:t>
            </a:r>
            <a:endParaRPr lang="en-US" sz="1300" b="0" u="none" strike="noStrike">
              <a:solidFill>
                <a:srgbClr val="FFFFFF"/>
              </a:solidFill>
              <a:effectLst/>
              <a:uFillTx/>
              <a:latin typeface="メイリオ"/>
            </a:endParaRPr>
          </a:p>
        </p:txBody>
      </p:sp>
      <p:sp>
        <p:nvSpPr>
          <p:cNvPr id="360" name="正方形/長方形 69"/>
          <p:cNvSpPr/>
          <p:nvPr/>
        </p:nvSpPr>
        <p:spPr>
          <a:xfrm>
            <a:off x="4846320" y="553680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en-US" sz="1300" b="0" u="none" strike="noStrike">
                <a:solidFill>
                  <a:schemeClr val="dk1"/>
                </a:solidFill>
                <a:effectLst/>
                <a:uFillTx/>
                <a:latin typeface="メイリオ"/>
                <a:ea typeface="メイリオ"/>
              </a:rPr>
              <a:t>運用</a:t>
            </a:r>
            <a:endParaRPr lang="en-US" sz="1300" b="0" u="none" strike="noStrike">
              <a:solidFill>
                <a:srgbClr val="000000"/>
              </a:solidFill>
              <a:effectLst/>
              <a:uFillTx/>
              <a:latin typeface="メイリオ"/>
            </a:endParaRPr>
          </a:p>
        </p:txBody>
      </p:sp>
      <p:sp>
        <p:nvSpPr>
          <p:cNvPr id="361" name="正方形/長方形 79"/>
          <p:cNvSpPr/>
          <p:nvPr/>
        </p:nvSpPr>
        <p:spPr>
          <a:xfrm>
            <a:off x="6812280" y="1956960"/>
            <a:ext cx="1425960" cy="402120"/>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p:style>
        <p:txBody>
          <a:bodyPr lIns="45720" tIns="45000" rIns="45720" bIns="45000" anchor="ctr">
            <a:noAutofit/>
          </a:bodyPr>
          <a:lstStyle/>
          <a:p>
            <a:pPr algn="ctr" defTabSz="914400">
              <a:lnSpc>
                <a:spcPct val="100000"/>
              </a:lnSpc>
            </a:pPr>
            <a:r>
              <a:rPr lang="ja-JP" sz="1400" b="1" u="none" strike="noStrike">
                <a:solidFill>
                  <a:schemeClr val="lt1"/>
                </a:solidFill>
                <a:effectLst/>
                <a:uFillTx/>
                <a:latin typeface="メイリオ"/>
                <a:ea typeface="メイリオ"/>
              </a:rPr>
              <a:t>友だち数</a:t>
            </a:r>
            <a:endParaRPr lang="en-US" sz="1400" b="0" u="none" strike="noStrike">
              <a:solidFill>
                <a:srgbClr val="000000"/>
              </a:solidFill>
              <a:effectLst/>
              <a:uFillTx/>
              <a:latin typeface="メイリオ"/>
            </a:endParaRPr>
          </a:p>
        </p:txBody>
      </p:sp>
      <p:sp>
        <p:nvSpPr>
          <p:cNvPr id="362" name="正方形/長方形 81"/>
          <p:cNvSpPr/>
          <p:nvPr/>
        </p:nvSpPr>
        <p:spPr>
          <a:xfrm>
            <a:off x="6812280" y="2432160"/>
            <a:ext cx="1425960" cy="402120"/>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p:style>
        <p:txBody>
          <a:bodyPr lIns="45720" tIns="45000" rIns="45720" bIns="45000" anchor="ctr">
            <a:noAutofit/>
          </a:bodyPr>
          <a:lstStyle/>
          <a:p>
            <a:pPr algn="ctr" defTabSz="914400">
              <a:lnSpc>
                <a:spcPct val="100000"/>
              </a:lnSpc>
            </a:pPr>
            <a:r>
              <a:rPr lang="ja-JP" sz="1400" b="1" u="none" strike="noStrike">
                <a:solidFill>
                  <a:schemeClr val="lt1"/>
                </a:solidFill>
                <a:effectLst/>
                <a:uFillTx/>
                <a:latin typeface="メイリオ"/>
                <a:ea typeface="メイリオ"/>
              </a:rPr>
              <a:t>新規応募</a:t>
            </a:r>
            <a:endParaRPr lang="en-US" sz="1400" b="0" u="none" strike="noStrike">
              <a:solidFill>
                <a:srgbClr val="000000"/>
              </a:solidFill>
              <a:effectLst/>
              <a:uFillTx/>
              <a:latin typeface="メイリオ"/>
            </a:endParaRPr>
          </a:p>
        </p:txBody>
      </p:sp>
      <p:sp>
        <p:nvSpPr>
          <p:cNvPr id="364" name="正方形/長方形 85"/>
          <p:cNvSpPr/>
          <p:nvPr/>
        </p:nvSpPr>
        <p:spPr>
          <a:xfrm>
            <a:off x="6812280" y="2907792"/>
            <a:ext cx="1425960" cy="402120"/>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p:style>
        <p:txBody>
          <a:bodyPr lIns="45720" tIns="45000" rIns="45720" bIns="45000" anchor="ctr">
            <a:noAutofit/>
          </a:bodyPr>
          <a:lstStyle/>
          <a:p>
            <a:pPr algn="ctr" defTabSz="914400">
              <a:lnSpc>
                <a:spcPct val="100000"/>
              </a:lnSpc>
            </a:pPr>
            <a:r>
              <a:rPr lang="zh-CN" sz="1400" b="1" u="none" strike="noStrike">
                <a:solidFill>
                  <a:schemeClr val="lt1"/>
                </a:solidFill>
                <a:effectLst/>
                <a:uFillTx/>
                <a:latin typeface="メイリオ"/>
                <a:ea typeface="メイリオ"/>
              </a:rPr>
              <a:t>再応募</a:t>
            </a:r>
            <a:endParaRPr lang="en-US" sz="1400" b="0" u="none" strike="noStrike">
              <a:solidFill>
                <a:srgbClr val="000000"/>
              </a:solidFill>
              <a:effectLst/>
              <a:uFillTx/>
              <a:latin typeface="メイリオ"/>
            </a:endParaRPr>
          </a:p>
        </p:txBody>
      </p:sp>
      <p:sp>
        <p:nvSpPr>
          <p:cNvPr id="382" name="正方形/長方形 85"/>
          <p:cNvSpPr/>
          <p:nvPr/>
        </p:nvSpPr>
        <p:spPr>
          <a:xfrm>
            <a:off x="6812280" y="3383424"/>
            <a:ext cx="1425960" cy="402120"/>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p:style>
        <p:txBody>
          <a:bodyPr lIns="45720" tIns="45000" rIns="45720" bIns="45000" anchor="ctr">
            <a:noAutofit/>
          </a:bodyPr>
          <a:lstStyle/>
          <a:p>
            <a:pPr algn="ctr" defTabSz="914400">
              <a:lnSpc>
                <a:spcPct val="100000"/>
              </a:lnSpc>
            </a:pPr>
            <a:r>
              <a:rPr lang="zh-CN" sz="1400" b="1" u="none" strike="noStrike">
                <a:solidFill>
                  <a:schemeClr val="lt1"/>
                </a:solidFill>
                <a:effectLst/>
                <a:uFillTx/>
                <a:latin typeface="メイリオ"/>
                <a:ea typeface="メイリオ"/>
              </a:rPr>
              <a:t>会員登録</a:t>
            </a:r>
            <a:endParaRPr lang="en-US" sz="1400" b="0" u="none" strike="noStrike">
              <a:solidFill>
                <a:srgbClr val="000000"/>
              </a:solidFill>
              <a:effectLst/>
              <a:uFillTx/>
              <a:latin typeface="メイリオ"/>
            </a:endParaRPr>
          </a:p>
        </p:txBody>
      </p:sp>
      <p:sp>
        <p:nvSpPr>
          <p:cNvPr id="365" name="正方形/長方形 11"/>
          <p:cNvSpPr/>
          <p:nvPr/>
        </p:nvSpPr>
        <p:spPr>
          <a:xfrm>
            <a:off x="307080" y="309060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rPr>
              <a:t>離脱防止</a:t>
            </a:r>
            <a:endParaRPr lang="en-US" sz="1300" b="0" u="none" strike="noStrike">
              <a:solidFill>
                <a:srgbClr val="FFFFFF"/>
              </a:solidFill>
              <a:effectLst/>
              <a:uFillTx/>
              <a:latin typeface="メイリオ"/>
            </a:endParaRPr>
          </a:p>
        </p:txBody>
      </p:sp>
      <p:sp>
        <p:nvSpPr>
          <p:cNvPr id="366" name="正方形/長方形 13"/>
          <p:cNvSpPr/>
          <p:nvPr/>
        </p:nvSpPr>
        <p:spPr>
          <a:xfrm>
            <a:off x="1770120" y="309060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zh-CN" sz="1300" b="0" u="none" strike="noStrike">
                <a:solidFill>
                  <a:schemeClr val="dk1"/>
                </a:solidFill>
                <a:effectLst/>
                <a:uFillTx/>
                <a:latin typeface="メイリオ"/>
                <a:ea typeface="メイリオ"/>
              </a:rPr>
              <a:t>導入</a:t>
            </a:r>
            <a:endParaRPr lang="en-US" sz="1300" b="0" u="none" strike="noStrike">
              <a:solidFill>
                <a:srgbClr val="000000"/>
              </a:solidFill>
              <a:effectLst/>
              <a:uFillTx/>
              <a:latin typeface="メイリオ"/>
            </a:endParaRPr>
          </a:p>
        </p:txBody>
      </p:sp>
      <p:sp>
        <p:nvSpPr>
          <p:cNvPr id="367" name="正方形/長方形 17"/>
          <p:cNvSpPr/>
          <p:nvPr/>
        </p:nvSpPr>
        <p:spPr>
          <a:xfrm>
            <a:off x="307080" y="357984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rPr>
              <a:t>サンクス</a:t>
            </a:r>
            <a:endParaRPr lang="en-US" sz="1300" b="0" u="none" strike="noStrike">
              <a:solidFill>
                <a:srgbClr val="FFFFFF"/>
              </a:solidFill>
              <a:effectLst/>
              <a:uFillTx/>
              <a:latin typeface="メイリオ"/>
            </a:endParaRPr>
          </a:p>
          <a:p>
            <a:pPr algn="ctr" defTabSz="914400">
              <a:lnSpc>
                <a:spcPct val="100000"/>
              </a:lnSpc>
            </a:pPr>
            <a:r>
              <a:rPr lang="ja-JP" sz="1300" b="0" u="none" strike="noStrike">
                <a:solidFill>
                  <a:schemeClr val="lt1"/>
                </a:solidFill>
                <a:effectLst/>
                <a:uFillTx/>
                <a:latin typeface="メイリオ"/>
                <a:ea typeface="メイリオ"/>
              </a:rPr>
              <a:t>LINE誘導</a:t>
            </a:r>
            <a:endParaRPr lang="en-US" sz="1300" b="0" u="none" strike="noStrike">
              <a:solidFill>
                <a:srgbClr val="FFFFFF"/>
              </a:solidFill>
              <a:effectLst/>
              <a:uFillTx/>
              <a:latin typeface="メイリオ"/>
            </a:endParaRPr>
          </a:p>
        </p:txBody>
      </p:sp>
      <p:sp>
        <p:nvSpPr>
          <p:cNvPr id="368" name="正方形/長方形 21"/>
          <p:cNvSpPr/>
          <p:nvPr/>
        </p:nvSpPr>
        <p:spPr>
          <a:xfrm>
            <a:off x="1770120" y="357984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dk1"/>
                </a:solidFill>
                <a:effectLst/>
                <a:uFillTx/>
                <a:latin typeface="メイリオ"/>
                <a:ea typeface="メイリオ"/>
              </a:rPr>
              <a:t>導入</a:t>
            </a:r>
            <a:endParaRPr lang="en-US" sz="1300" b="0" u="none" strike="noStrike">
              <a:solidFill>
                <a:srgbClr val="000000"/>
              </a:solidFill>
              <a:effectLst/>
              <a:uFillTx/>
              <a:latin typeface="メイリオ"/>
            </a:endParaRPr>
          </a:p>
        </p:txBody>
      </p:sp>
      <p:sp>
        <p:nvSpPr>
          <p:cNvPr id="371" name="正方形/長方形 33"/>
          <p:cNvSpPr/>
          <p:nvPr/>
        </p:nvSpPr>
        <p:spPr>
          <a:xfrm>
            <a:off x="307080" y="406908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rPr>
              <a:t>ステップ配信</a:t>
            </a:r>
            <a:endParaRPr lang="en-US" sz="1300" b="0" u="none" strike="noStrike">
              <a:solidFill>
                <a:srgbClr val="FFFFFF"/>
              </a:solidFill>
              <a:effectLst/>
              <a:uFillTx/>
              <a:latin typeface="メイリオ"/>
            </a:endParaRPr>
          </a:p>
        </p:txBody>
      </p:sp>
      <p:sp>
        <p:nvSpPr>
          <p:cNvPr id="372" name="正方形/長方形 37"/>
          <p:cNvSpPr/>
          <p:nvPr/>
        </p:nvSpPr>
        <p:spPr>
          <a:xfrm>
            <a:off x="1770120" y="406908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dk1"/>
                </a:solidFill>
                <a:effectLst/>
                <a:uFillTx/>
                <a:latin typeface="メイリオ"/>
                <a:ea typeface="メイリオ"/>
              </a:rPr>
              <a:t>4通を構築</a:t>
            </a:r>
            <a:endParaRPr lang="en-US" sz="1300" b="0" u="none" strike="noStrike">
              <a:solidFill>
                <a:srgbClr val="000000"/>
              </a:solidFill>
              <a:effectLst/>
              <a:uFillTx/>
              <a:latin typeface="メイリオ"/>
            </a:endParaRPr>
          </a:p>
        </p:txBody>
      </p:sp>
      <p:sp>
        <p:nvSpPr>
          <p:cNvPr id="373" name="正方形/長方形 41"/>
          <p:cNvSpPr/>
          <p:nvPr/>
        </p:nvSpPr>
        <p:spPr>
          <a:xfrm>
            <a:off x="307080" y="455832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rPr>
              <a:t>勤務前の案内</a:t>
            </a:r>
            <a:endParaRPr lang="en-US" sz="1300" b="0" u="none" strike="noStrike">
              <a:solidFill>
                <a:srgbClr val="FFFFFF"/>
              </a:solidFill>
              <a:effectLst/>
              <a:uFillTx/>
              <a:latin typeface="メイリオ"/>
            </a:endParaRPr>
          </a:p>
        </p:txBody>
      </p:sp>
      <p:sp>
        <p:nvSpPr>
          <p:cNvPr id="374" name="正方形/長方形 46"/>
          <p:cNvSpPr/>
          <p:nvPr/>
        </p:nvSpPr>
        <p:spPr>
          <a:xfrm>
            <a:off x="1770120" y="455832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dk1"/>
                </a:solidFill>
                <a:effectLst/>
                <a:uFillTx/>
                <a:latin typeface="メイリオ"/>
                <a:ea typeface="メイリオ"/>
              </a:rPr>
              <a:t>型をつくる</a:t>
            </a:r>
            <a:endParaRPr lang="en-US" sz="1300" b="0" u="none" strike="noStrike">
              <a:solidFill>
                <a:srgbClr val="000000"/>
              </a:solidFill>
              <a:effectLst/>
              <a:uFillTx/>
              <a:latin typeface="メイリオ"/>
            </a:endParaRPr>
          </a:p>
        </p:txBody>
      </p:sp>
      <p:sp>
        <p:nvSpPr>
          <p:cNvPr id="375" name="テキスト ボックス 10"/>
          <p:cNvSpPr/>
          <p:nvPr/>
        </p:nvSpPr>
        <p:spPr>
          <a:xfrm>
            <a:off x="8256960" y="1956960"/>
            <a:ext cx="1325520" cy="4021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zh-CN" sz="1400" b="1" u="none" strike="noStrike">
                <a:solidFill>
                  <a:srgbClr val="1F285A"/>
                </a:solidFill>
                <a:effectLst/>
                <a:uFillTx/>
                <a:latin typeface="メイリオ"/>
                <a:ea typeface="メイリオ"/>
              </a:rPr>
              <a:t>1,102人</a:t>
            </a:r>
            <a:endParaRPr lang="en-US" sz="1400" b="0" u="none" strike="noStrike">
              <a:solidFill>
                <a:srgbClr val="000000"/>
              </a:solidFill>
              <a:effectLst/>
              <a:uFillTx/>
              <a:latin typeface="メイリオ"/>
            </a:endParaRPr>
          </a:p>
        </p:txBody>
      </p:sp>
      <p:sp>
        <p:nvSpPr>
          <p:cNvPr id="376" name="テキスト ボックス 15"/>
          <p:cNvSpPr/>
          <p:nvPr/>
        </p:nvSpPr>
        <p:spPr>
          <a:xfrm>
            <a:off x="8256960" y="2432160"/>
            <a:ext cx="1325520" cy="4021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en-US" sz="1400" b="1" u="none" strike="noStrike">
                <a:solidFill>
                  <a:srgbClr val="1F285A"/>
                </a:solidFill>
                <a:effectLst/>
                <a:uFillTx/>
                <a:latin typeface="メイリオ"/>
                <a:ea typeface="メイリオ"/>
              </a:rPr>
              <a:t>7件/月</a:t>
            </a:r>
            <a:endParaRPr lang="en-US" sz="1400" b="0" u="none" strike="noStrike">
              <a:solidFill>
                <a:srgbClr val="000000"/>
              </a:solidFill>
              <a:effectLst/>
              <a:uFillTx/>
              <a:latin typeface="メイリオ"/>
            </a:endParaRPr>
          </a:p>
        </p:txBody>
      </p:sp>
      <p:sp>
        <p:nvSpPr>
          <p:cNvPr id="378" name="テキスト ボックス 26"/>
          <p:cNvSpPr/>
          <p:nvPr/>
        </p:nvSpPr>
        <p:spPr>
          <a:xfrm>
            <a:off x="8256960" y="2907792"/>
            <a:ext cx="1325520" cy="4021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en-US" sz="1400" b="1" u="none" strike="noStrike">
                <a:solidFill>
                  <a:srgbClr val="1F285A"/>
                </a:solidFill>
                <a:effectLst/>
                <a:uFillTx/>
                <a:latin typeface="メイリオ"/>
                <a:ea typeface="メイリオ"/>
              </a:rPr>
              <a:t>3件/月</a:t>
            </a:r>
            <a:endParaRPr lang="en-US" sz="1400" b="0" u="none" strike="noStrike">
              <a:solidFill>
                <a:srgbClr val="000000"/>
              </a:solidFill>
              <a:effectLst/>
              <a:uFillTx/>
              <a:latin typeface="メイリオ"/>
            </a:endParaRPr>
          </a:p>
        </p:txBody>
      </p:sp>
      <p:sp>
        <p:nvSpPr>
          <p:cNvPr id="383" name="テキスト ボックス 26"/>
          <p:cNvSpPr/>
          <p:nvPr/>
        </p:nvSpPr>
        <p:spPr>
          <a:xfrm>
            <a:off x="8256960" y="3383424"/>
            <a:ext cx="1325520" cy="4021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en-US" sz="1400" b="1" u="none" strike="noStrike">
                <a:solidFill>
                  <a:srgbClr val="1F285A"/>
                </a:solidFill>
                <a:effectLst/>
                <a:uFillTx/>
                <a:latin typeface="メイリオ"/>
                <a:ea typeface="メイリオ"/>
              </a:rPr>
              <a:t>10件/月</a:t>
            </a:r>
            <a:endParaRPr lang="en-US" sz="1400" b="0" u="none" strike="noStrike">
              <a:solidFill>
                <a:srgbClr val="000000"/>
              </a:solidFill>
              <a:effectLst/>
              <a:uFillTx/>
              <a:latin typeface="メイリオ"/>
            </a:endParaRPr>
          </a:p>
        </p:txBody>
      </p:sp>
      <p:sp>
        <p:nvSpPr>
          <p:cNvPr id="381" name="テキスト ボックス 30"/>
          <p:cNvSpPr/>
          <p:nvPr/>
        </p:nvSpPr>
        <p:spPr>
          <a:xfrm>
            <a:off x="426240" y="635400"/>
            <a:ext cx="9068760" cy="698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ja-JP" sz="1400" b="0" u="none" strike="noStrike">
                <a:solidFill>
                  <a:schemeClr val="dk1">
                    <a:lumMod val="65000"/>
                    <a:lumOff val="35000"/>
                  </a:schemeClr>
                </a:solidFill>
                <a:effectLst/>
                <a:uFillTx/>
                <a:latin typeface="メイリオ"/>
                <a:ea typeface="メイリオ"/>
              </a:rPr>
              <a:t>プラン②｜友だちの入口を増やし、勤務の連絡と次回イベントの募集で、新規応募・再応募を増やす</a:t>
            </a:r>
            <a:endParaRPr lang="en-US" sz="1400" b="0" u="none" strike="noStrike">
              <a:solidFill>
                <a:srgbClr val="000000"/>
              </a:solidFill>
              <a:effectLst/>
              <a:uFillTx/>
              <a:latin typeface="メイリオ"/>
            </a:endParaRP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35"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lIns="91425" rIns="91425" tIns="45700" bIns="45700">
            <a:spAutoFit/>
          </a:bodyPr>
          <a:lstStyle/>
          <a:p>
            <a:pPr defTabSz="914400">
              <a:lnSpc>
                <a:spcPct val="100000"/>
              </a:lnSpc>
            </a:pPr>
            <a:r>
              <a:rPr lang="ja-JP" sz="1600" b="1" u="none" strike="noStrike">
                <a:solidFill>
                  <a:srgbClr val="323366"/>
                </a:solidFill>
                <a:effectLst/>
                <a:uFillTx/>
                <a:latin typeface="メイリオ"/>
                <a:ea typeface="メイリオ"/>
              </a:rPr>
              <a:t>料金プラン：4つのプランの費用</a:t>
            </a:r>
            <a:endParaRPr lang="en-US" sz="1600" b="0" u="none" strike="noStrike">
              <a:solidFill>
                <a:srgbClr val="323366"/>
              </a:solidFill>
              <a:effectLst/>
              <a:uFillTx/>
              <a:latin typeface="メイリオ"/>
            </a:endParaRPr>
          </a:p>
        </p:txBody>
      </p:sp>
      <p:sp>
        <p:nvSpPr>
          <p:cNvPr id="636" name="正方形/長方形 8"/>
          <p:cNvSpPr/>
          <p:nvPr/>
        </p:nvSpPr>
        <p:spPr>
          <a:xfrm>
            <a:off x="0" y="681480"/>
            <a:ext cx="2914200" cy="50256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400" b="0" u="none" strike="noStrike" dirty="0">
                <a:solidFill>
                  <a:schemeClr val="lt1"/>
                </a:solidFill>
                <a:effectLst/>
                <a:uFillTx/>
                <a:latin typeface="メイリオ"/>
                <a:ea typeface="メイリオ"/>
              </a:rPr>
              <a:t>料金プランの比較</a:t>
            </a:r>
            <a:endParaRPr lang="en-US" sz="1400" b="0" u="none" strike="noStrike" dirty="0">
              <a:solidFill>
                <a:srgbClr val="FFFFFF"/>
              </a:solidFill>
              <a:effectLst/>
              <a:uFillTx/>
              <a:latin typeface="メイリオ"/>
            </a:endParaRPr>
          </a:p>
        </p:txBody>
      </p:sp>
      <p:sp>
        <p:nvSpPr>
          <p:cNvPr id="637" name="Google Shape;752;p28"/>
          <p:cNvSpPr/>
          <p:nvPr/>
        </p:nvSpPr>
        <p:spPr>
          <a:xfrm>
            <a:off x="2983680" y="783000"/>
            <a:ext cx="66196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dirty="0">
                <a:solidFill>
                  <a:schemeClr val="dk1"/>
                </a:solidFill>
                <a:effectLst/>
                <a:uFillTx/>
                <a:latin typeface="メイリオ"/>
                <a:ea typeface="メイリオ"/>
              </a:rPr>
              <a:t>運用範囲と料金の形に合わせて、4つのプランをご用意</a:t>
            </a:r>
            <a:endParaRPr lang="en-US" sz="1600" b="0" u="none" strike="noStrike" dirty="0">
              <a:solidFill>
                <a:srgbClr val="000000"/>
              </a:solidFill>
              <a:effectLst/>
              <a:uFillTx/>
              <a:latin typeface="メイリオ"/>
            </a:endParaRPr>
          </a:p>
        </p:txBody>
      </p:sp>
      <p:graphicFrame>
        <p:nvGraphicFramePr>
          <p:cNvPr id="639" name="料金プラン比較表 638"/>
          <p:cNvGraphicFramePr>
            <a:graphicFrameLocks noGrp="1"/>
          </p:cNvGraphicFramePr>
          <p:nvPr>
            <p:extLst>
              <p:ext uri="{D42A27DB-BD31-4B8C-83A1-F6EECF244321}">
                <p14:modId xmlns:p14="http://schemas.microsoft.com/office/powerpoint/2010/main" val="4252399329"/>
              </p:ext>
            </p:extLst>
          </p:nvPr>
        </p:nvGraphicFramePr>
        <p:xfrm>
          <a:off x="384048" y="1490760"/>
          <a:ext cx="9144000" cy="3749040"/>
        </p:xfrm>
        <a:graphic>
          <a:graphicData uri="http://schemas.openxmlformats.org/drawingml/2006/table">
            <a:tbl>
              <a:tblPr/>
              <a:tblGrid>
                <a:gridCol w="1645920">
                  <a:extLst>
                    <a:ext uri="{9D8B030D-6E8A-4147-A177-3AD203B41FA5}">
                      <a16:colId xmlns:a16="http://schemas.microsoft.com/office/drawing/2014/main" val="20000"/>
                    </a:ext>
                  </a:extLst>
                </a:gridCol>
                <a:gridCol w="1874519">
                  <a:extLst>
                    <a:ext uri="{9D8B030D-6E8A-4147-A177-3AD203B41FA5}">
                      <a16:colId xmlns:a16="http://schemas.microsoft.com/office/drawing/2014/main" val="20001"/>
                    </a:ext>
                  </a:extLst>
                </a:gridCol>
                <a:gridCol w="1874519">
                  <a:extLst>
                    <a:ext uri="{9D8B030D-6E8A-4147-A177-3AD203B41FA5}">
                      <a16:colId xmlns:a16="http://schemas.microsoft.com/office/drawing/2014/main" val="20002"/>
                    </a:ext>
                  </a:extLst>
                </a:gridCol>
                <a:gridCol w="1874519">
                  <a:extLst>
                    <a:ext uri="{9D8B030D-6E8A-4147-A177-3AD203B41FA5}">
                      <a16:colId xmlns:a16="http://schemas.microsoft.com/office/drawing/2014/main" val="20003"/>
                    </a:ext>
                  </a:extLst>
                </a:gridCol>
                <a:gridCol w="1874519">
                  <a:extLst>
                    <a:ext uri="{9D8B030D-6E8A-4147-A177-3AD203B41FA5}">
                      <a16:colId xmlns:a16="http://schemas.microsoft.com/office/drawing/2014/main" val="20004"/>
                    </a:ext>
                  </a:extLst>
                </a:gridCol>
              </a:tblGrid>
              <a:tr h="777240">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項目</a:t>
                      </a:r>
                      <a:endParaRPr lang="ja-JP" altLang="en-US" sz="1400" dirty="0"/>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F285A"/>
                    </a:solidFill>
                  </a:tcPr>
                </a:tc>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プラン①</a:t>
                      </a:r>
                      <a:endParaRPr lang="ja-JP" altLang="en-US" sz="1300" dirty="0"/>
                    </a:p>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初期設計・構築のみ</a:t>
                      </a:r>
                      <a:endParaRPr lang="ja-JP" altLang="en-US" sz="1300" dirty="0"/>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F285A"/>
                    </a:solidFill>
                  </a:tcPr>
                </a:tc>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プラン②</a:t>
                      </a:r>
                      <a:endParaRPr lang="ja-JP" altLang="en-US" sz="1300" dirty="0"/>
                    </a:p>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運用代行・効率改善</a:t>
                      </a:r>
                      <a:endParaRPr lang="ja-JP" altLang="en-US" sz="1300" dirty="0"/>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F285A"/>
                    </a:solidFill>
                  </a:tcPr>
                </a:tc>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プラン③</a:t>
                      </a:r>
                      <a:endParaRPr lang="ja-JP" altLang="en-US" sz="1300" dirty="0"/>
                    </a:p>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運用代行</a:t>
                      </a:r>
                      <a:endParaRPr lang="ja-JP" altLang="en-US" sz="1300" dirty="0"/>
                    </a:p>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フルサポート</a:t>
                      </a:r>
                      <a:endParaRPr lang="ja-JP" altLang="en-US" sz="1300" dirty="0"/>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F285A"/>
                    </a:solidFill>
                  </a:tcPr>
                </a:tc>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プラン④</a:t>
                      </a:r>
                      <a:endParaRPr lang="ja-JP" altLang="en-US" sz="1300" dirty="0"/>
                    </a:p>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成果報酬</a:t>
                      </a:r>
                      <a:endParaRPr lang="ja-JP" altLang="en-US" sz="1300" dirty="0"/>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F285A"/>
                    </a:solidFill>
                  </a:tcPr>
                </a:tc>
                <a:extLst>
                  <a:ext uri="{0D108BD9-81ED-4DB2-BD59-A6C34878D82A}">
                    <a16:rowId xmlns:a16="http://schemas.microsoft.com/office/drawing/2014/main" val="10000"/>
                  </a:ext>
                </a:extLst>
              </a:tr>
              <a:tr h="640080">
                <a:tc>
                  <a:txBody>
                    <a:bodyPr/>
                    <a:lstStyle/>
                    <a:p>
                      <a:pPr algn="ctr">
                        <a:buNone/>
                      </a:pPr>
                      <a:r>
                        <a:rPr lang="ja-JP" altLang="en-US" sz="1400" b="1" dirty="0">
                          <a:solidFill>
                            <a:srgbClr val="1F285A"/>
                          </a:solidFill>
                          <a:latin typeface="メイリオ" panose="020B0604030504040204" pitchFamily="50" charset="-128"/>
                          <a:ea typeface="メイリオ" panose="020B0604030504040204" pitchFamily="50" charset="-128"/>
                        </a:rPr>
                        <a:t>初期費用</a:t>
                      </a:r>
                      <a:endParaRPr lang="ja-JP" altLang="en-US" sz="14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500" b="0" dirty="0">
                          <a:solidFill>
                            <a:srgbClr val="333333"/>
                          </a:solidFill>
                          <a:latin typeface="メイリオ" panose="020B0604030504040204" pitchFamily="50" charset="-128"/>
                          <a:ea typeface="メイリオ" panose="020B0604030504040204" pitchFamily="50" charset="-128"/>
                        </a:rPr>
                        <a:t>295,000円〜</a:t>
                      </a:r>
                      <a:endParaRPr lang="ja-JP" altLang="en-US" sz="15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500" b="0" dirty="0">
                          <a:solidFill>
                            <a:srgbClr val="333333"/>
                          </a:solidFill>
                          <a:latin typeface="メイリオ" panose="020B0604030504040204" pitchFamily="50" charset="-128"/>
                          <a:ea typeface="メイリオ" panose="020B0604030504040204" pitchFamily="50" charset="-128"/>
                        </a:rPr>
                        <a:t>295,000円〜</a:t>
                      </a:r>
                      <a:endParaRPr lang="ja-JP" altLang="en-US" sz="15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500" b="0" dirty="0">
                          <a:solidFill>
                            <a:srgbClr val="333333"/>
                          </a:solidFill>
                          <a:latin typeface="メイリオ" panose="020B0604030504040204" pitchFamily="50" charset="-128"/>
                          <a:ea typeface="メイリオ" panose="020B0604030504040204" pitchFamily="50" charset="-128"/>
                        </a:rPr>
                        <a:t>295,000円〜</a:t>
                      </a:r>
                      <a:endParaRPr lang="ja-JP" altLang="en-US" sz="15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500" b="0" dirty="0">
                          <a:solidFill>
                            <a:srgbClr val="333333"/>
                          </a:solidFill>
                          <a:latin typeface="メイリオ" panose="020B0604030504040204" pitchFamily="50" charset="-128"/>
                          <a:ea typeface="メイリオ" panose="020B0604030504040204" pitchFamily="50" charset="-128"/>
                        </a:rPr>
                        <a:t>295,000円〜</a:t>
                      </a:r>
                      <a:endParaRPr lang="ja-JP" altLang="en-US" sz="15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640080">
                <a:tc>
                  <a:txBody>
                    <a:bodyPr/>
                    <a:lstStyle/>
                    <a:p>
                      <a:pPr algn="ctr">
                        <a:buNone/>
                      </a:pPr>
                      <a:r>
                        <a:rPr lang="ja-JP" altLang="en-US" sz="1400" b="1" dirty="0">
                          <a:solidFill>
                            <a:srgbClr val="1F285A"/>
                          </a:solidFill>
                          <a:latin typeface="メイリオ" panose="020B0604030504040204" pitchFamily="50" charset="-128"/>
                          <a:ea typeface="メイリオ" panose="020B0604030504040204" pitchFamily="50" charset="-128"/>
                        </a:rPr>
                        <a:t>月額運用費</a:t>
                      </a:r>
                      <a:endParaRPr lang="ja-JP" altLang="en-US" sz="14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500" b="0" dirty="0">
                          <a:solidFill>
                            <a:srgbClr val="333333"/>
                          </a:solidFill>
                          <a:latin typeface="メイリオ" panose="020B0604030504040204" pitchFamily="50" charset="-128"/>
                          <a:ea typeface="メイリオ" panose="020B0604030504040204" pitchFamily="50" charset="-128"/>
                        </a:rPr>
                        <a:t>なし</a:t>
                      </a:r>
                      <a:endParaRPr lang="ja-JP" altLang="en-US" sz="15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500" b="0" dirty="0">
                          <a:solidFill>
                            <a:srgbClr val="333333"/>
                          </a:solidFill>
                          <a:latin typeface="メイリオ" panose="020B0604030504040204" pitchFamily="50" charset="-128"/>
                          <a:ea typeface="メイリオ" panose="020B0604030504040204" pitchFamily="50" charset="-128"/>
                        </a:rPr>
                        <a:t>150,000円〜</a:t>
                      </a:r>
                      <a:endParaRPr lang="ja-JP" altLang="en-US" sz="15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500" b="0" dirty="0">
                          <a:solidFill>
                            <a:srgbClr val="333333"/>
                          </a:solidFill>
                          <a:latin typeface="メイリオ" panose="020B0604030504040204" pitchFamily="50" charset="-128"/>
                          <a:ea typeface="メイリオ" panose="020B0604030504040204" pitchFamily="50" charset="-128"/>
                        </a:rPr>
                        <a:t>250,000円〜</a:t>
                      </a:r>
                      <a:endParaRPr lang="ja-JP" altLang="en-US" sz="15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成果報酬</a:t>
                      </a:r>
                      <a:endParaRPr lang="ja-JP" altLang="en-US" sz="1500" dirty="0"/>
                    </a:p>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応募 8,000円/件</a:t>
                      </a:r>
                      <a:endParaRPr lang="ja-JP" altLang="en-US" sz="1500" dirty="0"/>
                    </a:p>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会員登録 2,500円/件</a:t>
                      </a:r>
                      <a:endParaRPr lang="ja-JP" altLang="en-US" sz="15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777240">
                <a:tc>
                  <a:txBody>
                    <a:bodyPr/>
                    <a:lstStyle/>
                    <a:p>
                      <a:pPr algn="ctr">
                        <a:buNone/>
                      </a:pPr>
                      <a:r>
                        <a:rPr lang="ja-JP" altLang="en-US" sz="1400" b="1" dirty="0">
                          <a:solidFill>
                            <a:srgbClr val="1F285A"/>
                          </a:solidFill>
                          <a:latin typeface="メイリオ" panose="020B0604030504040204" pitchFamily="50" charset="-128"/>
                          <a:ea typeface="メイリオ" panose="020B0604030504040204" pitchFamily="50" charset="-128"/>
                        </a:rPr>
                        <a:t>月額ツール・</a:t>
                      </a:r>
                      <a:endParaRPr lang="ja-JP" altLang="en-US" sz="1400" dirty="0"/>
                    </a:p>
                    <a:p>
                      <a:pPr algn="ctr">
                        <a:buNone/>
                      </a:pPr>
                      <a:r>
                        <a:rPr lang="ja-JP" altLang="en-US" sz="1400" b="1" dirty="0">
                          <a:solidFill>
                            <a:srgbClr val="1F285A"/>
                          </a:solidFill>
                          <a:latin typeface="メイリオ" panose="020B0604030504040204" pitchFamily="50" charset="-128"/>
                          <a:ea typeface="メイリオ" panose="020B0604030504040204" pitchFamily="50" charset="-128"/>
                        </a:rPr>
                        <a:t>LINE関連費</a:t>
                      </a:r>
                      <a:endParaRPr lang="ja-JP" altLang="en-US" sz="1400" dirty="0"/>
                    </a:p>
                  </a:txBody>
                  <a:tcPr marL="27432" marR="2743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500" b="0" dirty="0">
                          <a:solidFill>
                            <a:srgbClr val="333333"/>
                          </a:solidFill>
                          <a:latin typeface="メイリオ" panose="020B0604030504040204" pitchFamily="50" charset="-128"/>
                          <a:ea typeface="メイリオ" panose="020B0604030504040204" pitchFamily="50" charset="-128"/>
                        </a:rPr>
                        <a:t>65,000円〜</a:t>
                      </a:r>
                      <a:endParaRPr lang="ja-JP" altLang="en-US" sz="15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500" b="0" dirty="0">
                          <a:solidFill>
                            <a:srgbClr val="333333"/>
                          </a:solidFill>
                          <a:latin typeface="メイリオ" panose="020B0604030504040204" pitchFamily="50" charset="-128"/>
                          <a:ea typeface="メイリオ" panose="020B0604030504040204" pitchFamily="50" charset="-128"/>
                        </a:rPr>
                        <a:t>65,000円〜</a:t>
                      </a:r>
                      <a:endParaRPr lang="ja-JP" altLang="en-US" sz="15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500" b="0" dirty="0">
                          <a:solidFill>
                            <a:srgbClr val="333333"/>
                          </a:solidFill>
                          <a:latin typeface="メイリオ" panose="020B0604030504040204" pitchFamily="50" charset="-128"/>
                          <a:ea typeface="メイリオ" panose="020B0604030504040204" pitchFamily="50" charset="-128"/>
                        </a:rPr>
                        <a:t>65,000円〜</a:t>
                      </a:r>
                      <a:endParaRPr lang="ja-JP" altLang="en-US" sz="15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500" b="0" dirty="0">
                          <a:solidFill>
                            <a:srgbClr val="333333"/>
                          </a:solidFill>
                          <a:latin typeface="メイリオ" panose="020B0604030504040204" pitchFamily="50" charset="-128"/>
                          <a:ea typeface="メイリオ" panose="020B0604030504040204" pitchFamily="50" charset="-128"/>
                        </a:rPr>
                        <a:t>65,000円〜</a:t>
                      </a:r>
                      <a:endParaRPr lang="ja-JP" altLang="en-US" sz="15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914400">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月額費用</a:t>
                      </a:r>
                      <a:endParaRPr lang="ja-JP" altLang="en-US" sz="14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1F285A"/>
                    </a:solidFill>
                  </a:tcPr>
                </a:tc>
                <a:tc>
                  <a:txBody>
                    <a:bodyPr/>
                    <a:lstStyle/>
                    <a:p>
                      <a:pPr algn="ctr">
                        <a:buNone/>
                      </a:pPr>
                      <a:r>
                        <a:rPr lang="ja-JP" altLang="en-US" sz="2000" b="1" dirty="0">
                          <a:solidFill>
                            <a:srgbClr val="1F285A"/>
                          </a:solidFill>
                          <a:latin typeface="メイリオ" panose="020B0604030504040204" pitchFamily="50" charset="-128"/>
                          <a:ea typeface="メイリオ" panose="020B0604030504040204" pitchFamily="50" charset="-128"/>
                        </a:rPr>
                        <a:t>65,000円〜</a:t>
                      </a:r>
                      <a:endParaRPr lang="ja-JP" altLang="en-US" sz="20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2000" b="1" dirty="0">
                          <a:solidFill>
                            <a:srgbClr val="1F285A"/>
                          </a:solidFill>
                          <a:latin typeface="メイリオ" panose="020B0604030504040204" pitchFamily="50" charset="-128"/>
                          <a:ea typeface="メイリオ" panose="020B0604030504040204" pitchFamily="50" charset="-128"/>
                        </a:rPr>
                        <a:t>215,000円〜</a:t>
                      </a:r>
                      <a:endParaRPr lang="ja-JP" altLang="en-US" sz="20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2000" b="1" dirty="0">
                          <a:solidFill>
                            <a:srgbClr val="1F285A"/>
                          </a:solidFill>
                          <a:latin typeface="メイリオ" panose="020B0604030504040204" pitchFamily="50" charset="-128"/>
                          <a:ea typeface="メイリオ" panose="020B0604030504040204" pitchFamily="50" charset="-128"/>
                        </a:rPr>
                        <a:t>315,000円〜</a:t>
                      </a:r>
                      <a:endParaRPr lang="ja-JP" altLang="en-US" sz="20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2000" b="1" dirty="0">
                          <a:solidFill>
                            <a:srgbClr val="1F285A"/>
                          </a:solidFill>
                          <a:latin typeface="メイリオ" panose="020B0604030504040204" pitchFamily="50" charset="-128"/>
                          <a:ea typeface="メイリオ" panose="020B0604030504040204" pitchFamily="50" charset="-128"/>
                        </a:rPr>
                        <a:t>65,000円〜</a:t>
                      </a:r>
                      <a:endParaRPr lang="ja-JP" altLang="en-US" sz="2000" dirty="0"/>
                    </a:p>
                    <a:p>
                      <a:pPr algn="ctr">
                        <a:buNone/>
                      </a:pPr>
                      <a:r>
                        <a:rPr lang="ja-JP" altLang="en-US" sz="2000" b="1" dirty="0">
                          <a:solidFill>
                            <a:srgbClr val="1F285A"/>
                          </a:solidFill>
                          <a:latin typeface="メイリオ" panose="020B0604030504040204" pitchFamily="50" charset="-128"/>
                          <a:ea typeface="メイリオ" panose="020B0604030504040204" pitchFamily="50" charset="-128"/>
                        </a:rPr>
                        <a:t>＋成果報酬</a:t>
                      </a:r>
                      <a:endParaRPr lang="ja-JP" altLang="en-US" sz="20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extLst>
                  <a:ext uri="{0D108BD9-81ED-4DB2-BD59-A6C34878D82A}">
                    <a16:rowId xmlns:a16="http://schemas.microsoft.com/office/drawing/2014/main" val="10004"/>
                  </a:ext>
                </a:extLst>
              </a:tr>
            </a:tbl>
          </a:graphicData>
        </a:graphic>
      </p:graphicFrame>
      <p:sp>
        <p:nvSpPr>
          <p:cNvPr id="640" name="注記"/>
          <p:cNvSpPr/>
          <p:nvPr/>
        </p:nvSpPr>
        <p:spPr>
          <a:xfrm>
            <a:off x="384048" y="5312664"/>
            <a:ext cx="9144000" cy="246888"/>
          </a:xfrm>
          <a:prstGeom prst="rect">
            <a:avLst/>
          </a:prstGeom>
          <a:noFill/>
          <a:ln>
            <a:noFill/>
          </a:ln>
        </p:spPr>
        <p:txBody>
          <a:bodyPr wrap="square" lIns="0" tIns="0" rIns="0" bIns="0" rtlCol="0" anchor="t">
            <a:noAutofit/>
          </a:bodyPr>
          <a:lstStyle/>
          <a:p>
            <a:pPr algn="l">
              <a:buNone/>
            </a:pPr>
            <a:r>
              <a:rPr lang="ja-JP" altLang="en-US" sz="900" b="0" dirty="0">
                <a:solidFill>
                  <a:srgbClr val="7F7F7F"/>
                </a:solidFill>
                <a:latin typeface="メイリオ" panose="020B0604030504040204" pitchFamily="50" charset="-128"/>
                <a:ea typeface="メイリオ" panose="020B0604030504040204" pitchFamily="50" charset="-128"/>
              </a:rPr>
              <a:t>※初期費用＝運用設計・構築 100,000円〜＋離脱防止 15,000円＋サンクスLINE誘導 150,000円＋LINE公式アカウント開設 30,000円</a:t>
            </a:r>
            <a:endParaRPr lang="ja-JP" altLang="en-US" sz="1200" dirty="0"/>
          </a:p>
        </p:txBody>
      </p:sp>
      <p:sp>
        <p:nvSpPr>
          <p:cNvPr id="641" name="注記"/>
          <p:cNvSpPr/>
          <p:nvPr/>
        </p:nvSpPr>
        <p:spPr>
          <a:xfrm>
            <a:off x="384048" y="5541264"/>
            <a:ext cx="9144000" cy="246888"/>
          </a:xfrm>
          <a:prstGeom prst="rect">
            <a:avLst/>
          </a:prstGeom>
          <a:noFill/>
          <a:ln>
            <a:noFill/>
          </a:ln>
        </p:spPr>
        <p:txBody>
          <a:bodyPr wrap="square" lIns="0" tIns="0" rIns="0" bIns="0" rtlCol="0" anchor="t">
            <a:noAutofit/>
          </a:bodyPr>
          <a:lstStyle/>
          <a:p>
            <a:pPr algn="l">
              <a:buNone/>
            </a:pPr>
            <a:r>
              <a:rPr lang="ja-JP" altLang="en-US" sz="900" b="0" dirty="0">
                <a:solidFill>
                  <a:srgbClr val="7F7F7F"/>
                </a:solidFill>
                <a:latin typeface="メイリオ" panose="020B0604030504040204" pitchFamily="50" charset="-128"/>
                <a:ea typeface="メイリオ" panose="020B0604030504040204" pitchFamily="50" charset="-128"/>
              </a:rPr>
              <a:t>※月額ツール・LINE関連費＝離脱防止 30,000円＋サンクスLINE誘導 30,000円〜＋LINE公式アカウント利用料 5,000円〜（ライトプラン想定）</a:t>
            </a:r>
            <a:endParaRPr lang="ja-JP" altLang="en-US" sz="1200" dirty="0"/>
          </a:p>
        </p:txBody>
      </p:sp>
      <p:sp>
        <p:nvSpPr>
          <p:cNvPr id="642" name="注記"/>
          <p:cNvSpPr/>
          <p:nvPr/>
        </p:nvSpPr>
        <p:spPr>
          <a:xfrm>
            <a:off x="384048" y="5769864"/>
            <a:ext cx="9144000" cy="246888"/>
          </a:xfrm>
          <a:prstGeom prst="rect">
            <a:avLst/>
          </a:prstGeom>
          <a:noFill/>
          <a:ln>
            <a:noFill/>
          </a:ln>
        </p:spPr>
        <p:txBody>
          <a:bodyPr wrap="square" lIns="0" tIns="0" rIns="0" bIns="0" rtlCol="0" anchor="t">
            <a:noAutofit/>
          </a:bodyPr>
          <a:lstStyle/>
          <a:p>
            <a:pPr algn="l">
              <a:buNone/>
            </a:pPr>
            <a:r>
              <a:rPr lang="ja-JP" altLang="en-US" sz="900" b="0" dirty="0">
                <a:solidFill>
                  <a:srgbClr val="7F7F7F"/>
                </a:solidFill>
                <a:latin typeface="メイリオ" panose="020B0604030504040204" pitchFamily="50" charset="-128"/>
                <a:ea typeface="メイリオ" panose="020B0604030504040204" pitchFamily="50" charset="-128"/>
              </a:rPr>
              <a:t>※成果報酬の対象＝LINEからの新規応募・再応募・会員登録（再応募は、勤務希望をLINEで受け付ける場合）</a:t>
            </a:r>
            <a:endParaRPr lang="ja-JP" altLang="en-US" sz="1200" dirty="0"/>
          </a:p>
        </p:txBody>
      </p:sp>
      <p:sp>
        <p:nvSpPr>
          <p:cNvPr id="643" name="注記"/>
          <p:cNvSpPr/>
          <p:nvPr/>
        </p:nvSpPr>
        <p:spPr>
          <a:xfrm>
            <a:off x="384048" y="5998464"/>
            <a:ext cx="9144000" cy="246888"/>
          </a:xfrm>
          <a:prstGeom prst="rect">
            <a:avLst/>
          </a:prstGeom>
          <a:noFill/>
          <a:ln>
            <a:noFill/>
          </a:ln>
        </p:spPr>
        <p:txBody>
          <a:bodyPr wrap="square" lIns="0" tIns="0" rIns="0" bIns="0" rtlCol="0" anchor="t">
            <a:noAutofit/>
          </a:bodyPr>
          <a:lstStyle/>
          <a:p>
            <a:pPr algn="l">
              <a:buNone/>
            </a:pPr>
            <a:r>
              <a:rPr lang="ja-JP" altLang="en-US" sz="900" b="0" dirty="0">
                <a:solidFill>
                  <a:srgbClr val="7F7F7F"/>
                </a:solidFill>
                <a:latin typeface="メイリオ" panose="020B0604030504040204" pitchFamily="50" charset="-128"/>
                <a:ea typeface="メイリオ" panose="020B0604030504040204" pitchFamily="50" charset="-128"/>
              </a:rPr>
              <a:t>※契約期間は6か月〜。概算お見積りのページはプラン②の場合</a:t>
            </a:r>
            <a:endParaRPr lang="ja-JP" altLang="en-US" sz="1200" dirty="0"/>
          </a:p>
        </p:txBody>
      </p:sp>
      <p:sp>
        <p:nvSpPr>
          <p:cNvPr id="644" name="注記"/>
          <p:cNvSpPr/>
          <p:nvPr/>
        </p:nvSpPr>
        <p:spPr>
          <a:xfrm>
            <a:off x="384048" y="6227064"/>
            <a:ext cx="9144000" cy="246888"/>
          </a:xfrm>
          <a:prstGeom prst="rect">
            <a:avLst/>
          </a:prstGeom>
          <a:noFill/>
          <a:ln>
            <a:noFill/>
          </a:ln>
        </p:spPr>
        <p:txBody>
          <a:bodyPr wrap="square" lIns="0" tIns="0" rIns="0" bIns="0" rtlCol="0" anchor="t">
            <a:noAutofit/>
          </a:bodyPr>
          <a:lstStyle/>
          <a:p>
            <a:pPr algn="l">
              <a:buNone/>
            </a:pPr>
            <a:r>
              <a:rPr lang="ja-JP" altLang="en-US" sz="900" b="0" dirty="0">
                <a:solidFill>
                  <a:srgbClr val="7F7F7F"/>
                </a:solidFill>
                <a:latin typeface="メイリオ" panose="020B0604030504040204" pitchFamily="50" charset="-128"/>
                <a:ea typeface="メイリオ" panose="020B0604030504040204" pitchFamily="50" charset="-128"/>
              </a:rPr>
              <a:t>※施策内容・配信本数・連携範囲等により、費用は個別にお見積もりいたします。</a:t>
            </a:r>
            <a:endParaRPr lang="ja-JP" altLang="en-US" sz="12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lIns="91425" rIns="91425" tIns="45700" bIns="45700">
            <a:spAutoFit/>
          </a:bodyPr>
          <a:lstStyle/>
          <a:p>
            <a:pPr defTabSz="914400">
              <a:lnSpc>
                <a:spcPct val="100000"/>
              </a:lnSpc>
            </a:pPr>
            <a:r>
              <a:rPr lang="ja-JP" sz="1600" b="1" u="none" strike="noStrike">
                <a:solidFill>
                  <a:srgbClr val="323366"/>
                </a:solidFill>
                <a:effectLst/>
                <a:uFillTx/>
                <a:latin typeface="メイリオ"/>
                <a:ea typeface="メイリオ"/>
              </a:rPr>
              <a:t>運用内容：プランごとの対応範囲</a:t>
            </a:r>
            <a:endParaRPr lang="en-US" sz="1600" b="0" u="none" strike="noStrike">
              <a:solidFill>
                <a:srgbClr val="323366"/>
              </a:solidFill>
              <a:effectLst/>
              <a:uFillTx/>
              <a:latin typeface="メイリオ"/>
            </a:endParaRPr>
          </a:p>
        </p:txBody>
      </p:sp>
      <p:sp>
        <p:nvSpPr>
          <p:cNvPr id="4" name="正方形/長方形 8"/>
          <p:cNvSpPr/>
          <p:nvPr/>
        </p:nvSpPr>
        <p:spPr>
          <a:xfrm>
            <a:off x="0" y="681480"/>
            <a:ext cx="2914200" cy="50256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400" b="0" u="none" strike="noStrike">
                <a:solidFill>
                  <a:schemeClr val="lt1"/>
                </a:solidFill>
                <a:effectLst/>
                <a:uFillTx/>
                <a:latin typeface="メイリオ"/>
                <a:ea typeface="メイリオ"/>
              </a:rPr>
              <a:t>運用内容の比較</a:t>
            </a:r>
            <a:endParaRPr lang="en-US" sz="1400" b="0" u="none" strike="noStrike">
              <a:solidFill>
                <a:srgbClr val="FFFFFF"/>
              </a:solidFill>
              <a:effectLst/>
              <a:uFillTx/>
              <a:latin typeface="メイリオ"/>
            </a:endParaRPr>
          </a:p>
        </p:txBody>
      </p:sp>
      <p:sp>
        <p:nvSpPr>
          <p:cNvPr id="5" name="Google Shape;752;p28"/>
          <p:cNvSpPr/>
          <p:nvPr/>
        </p:nvSpPr>
        <p:spPr>
          <a:xfrm>
            <a:off x="2983680" y="783000"/>
            <a:ext cx="66196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dirty="0">
                <a:solidFill>
                  <a:schemeClr val="dk1"/>
                </a:solidFill>
                <a:effectLst/>
                <a:uFillTx/>
                <a:latin typeface="メイリオ"/>
                <a:ea typeface="メイリオ"/>
              </a:rPr>
              <a:t>4つのプランの運用内容の比較（プラン②と④は同じ）</a:t>
            </a:r>
            <a:endParaRPr lang="en-US" sz="1600" b="0" u="none" strike="noStrike" dirty="0">
              <a:solidFill>
                <a:srgbClr val="000000"/>
              </a:solidFill>
              <a:effectLst/>
              <a:uFillTx/>
              <a:latin typeface="メイリオ"/>
            </a:endParaRPr>
          </a:p>
        </p:txBody>
      </p:sp>
      <p:graphicFrame>
        <p:nvGraphicFramePr>
          <p:cNvPr id="6" name="運用内容比較表 5"/>
          <p:cNvGraphicFramePr>
            <a:graphicFrameLocks noGrp="1"/>
          </p:cNvGraphicFramePr>
          <p:nvPr>
            <p:extLst>
              <p:ext uri="{D42A27DB-BD31-4B8C-83A1-F6EECF244321}">
                <p14:modId xmlns:p14="http://schemas.microsoft.com/office/powerpoint/2010/main" val="950625100"/>
              </p:ext>
            </p:extLst>
          </p:nvPr>
        </p:nvGraphicFramePr>
        <p:xfrm>
          <a:off x="381000" y="1490760"/>
          <a:ext cx="9144000" cy="3255264"/>
        </p:xfrm>
        <a:graphic>
          <a:graphicData uri="http://schemas.openxmlformats.org/drawingml/2006/table">
            <a:tbl>
              <a:tblPr/>
              <a:tblGrid>
                <a:gridCol w="2286000">
                  <a:extLst>
                    <a:ext uri="{9D8B030D-6E8A-4147-A177-3AD203B41FA5}">
                      <a16:colId xmlns:a16="http://schemas.microsoft.com/office/drawing/2014/main" val="20000"/>
                    </a:ext>
                  </a:extLst>
                </a:gridCol>
                <a:gridCol w="2286000">
                  <a:extLst>
                    <a:ext uri="{9D8B030D-6E8A-4147-A177-3AD203B41FA5}">
                      <a16:colId xmlns:a16="http://schemas.microsoft.com/office/drawing/2014/main" val="20001"/>
                    </a:ext>
                  </a:extLst>
                </a:gridCol>
                <a:gridCol w="2286000">
                  <a:extLst>
                    <a:ext uri="{9D8B030D-6E8A-4147-A177-3AD203B41FA5}">
                      <a16:colId xmlns:a16="http://schemas.microsoft.com/office/drawing/2014/main" val="20002"/>
                    </a:ext>
                  </a:extLst>
                </a:gridCol>
                <a:gridCol w="2286000">
                  <a:extLst>
                    <a:ext uri="{9D8B030D-6E8A-4147-A177-3AD203B41FA5}">
                      <a16:colId xmlns:a16="http://schemas.microsoft.com/office/drawing/2014/main" val="20003"/>
                    </a:ext>
                  </a:extLst>
                </a:gridCol>
              </a:tblGrid>
              <a:tr h="786384">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項目</a:t>
                      </a:r>
                      <a:endParaRPr lang="ja-JP" altLang="en-US" sz="1400" dirty="0"/>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F285A"/>
                    </a:solidFill>
                  </a:tcPr>
                </a:tc>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プラン①</a:t>
                      </a:r>
                      <a:endParaRPr lang="ja-JP" altLang="en-US" sz="1300" dirty="0"/>
                    </a:p>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初期設計・構築のみ</a:t>
                      </a:r>
                      <a:endParaRPr lang="ja-JP" altLang="en-US" sz="1300" dirty="0"/>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F285A"/>
                    </a:solidFill>
                  </a:tcPr>
                </a:tc>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プラン②・プラン④</a:t>
                      </a:r>
                      <a:endParaRPr lang="ja-JP" altLang="en-US" sz="1300" dirty="0"/>
                    </a:p>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運用代行・効率改善</a:t>
                      </a:r>
                      <a:endParaRPr lang="ja-JP" altLang="en-US" sz="1300" dirty="0"/>
                    </a:p>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／成果報酬</a:t>
                      </a:r>
                      <a:endParaRPr lang="ja-JP" altLang="en-US" sz="1300" dirty="0"/>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F285A"/>
                    </a:solidFill>
                  </a:tcPr>
                </a:tc>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プラン③</a:t>
                      </a:r>
                      <a:endParaRPr lang="ja-JP" altLang="en-US" sz="1300" dirty="0"/>
                    </a:p>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運用代行フルサポート</a:t>
                      </a:r>
                      <a:endParaRPr lang="ja-JP" altLang="en-US" sz="1300" dirty="0"/>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F285A"/>
                    </a:solidFill>
                  </a:tcPr>
                </a:tc>
                <a:extLst>
                  <a:ext uri="{0D108BD9-81ED-4DB2-BD59-A6C34878D82A}">
                    <a16:rowId xmlns:a16="http://schemas.microsoft.com/office/drawing/2014/main" val="10000"/>
                  </a:ext>
                </a:extLst>
              </a:tr>
              <a:tr h="493776">
                <a:tc>
                  <a:txBody>
                    <a:bodyPr/>
                    <a:lstStyle/>
                    <a:p>
                      <a:pPr algn="ctr">
                        <a:buNone/>
                      </a:pPr>
                      <a:r>
                        <a:rPr lang="ja-JP" altLang="en-US" sz="1300" b="1" dirty="0">
                          <a:solidFill>
                            <a:srgbClr val="1F285A"/>
                          </a:solidFill>
                          <a:latin typeface="メイリオ" panose="020B0604030504040204" pitchFamily="50" charset="-128"/>
                          <a:ea typeface="メイリオ" panose="020B0604030504040204" pitchFamily="50" charset="-128"/>
                        </a:rPr>
                        <a:t>離脱防止・</a:t>
                      </a:r>
                      <a:endParaRPr lang="ja-JP" altLang="en-US" sz="1300" dirty="0"/>
                    </a:p>
                    <a:p>
                      <a:pPr algn="ctr">
                        <a:buNone/>
                      </a:pPr>
                      <a:r>
                        <a:rPr lang="ja-JP" altLang="en-US" sz="1300" b="1" dirty="0">
                          <a:solidFill>
                            <a:srgbClr val="1F285A"/>
                          </a:solidFill>
                          <a:latin typeface="メイリオ" panose="020B0604030504040204" pitchFamily="50" charset="-128"/>
                          <a:ea typeface="メイリオ" panose="020B0604030504040204" pitchFamily="50" charset="-128"/>
                        </a:rPr>
                        <a:t>サンクスLINE誘導</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導入・運用</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導入・運用</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導入・運用</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93776">
                <a:tc>
                  <a:txBody>
                    <a:bodyPr/>
                    <a:lstStyle/>
                    <a:p>
                      <a:pPr algn="ctr">
                        <a:buNone/>
                      </a:pPr>
                      <a:r>
                        <a:rPr lang="ja-JP" altLang="en-US" sz="1300" b="1" dirty="0">
                          <a:solidFill>
                            <a:srgbClr val="1F285A"/>
                          </a:solidFill>
                          <a:latin typeface="メイリオ" panose="020B0604030504040204" pitchFamily="50" charset="-128"/>
                          <a:ea typeface="メイリオ" panose="020B0604030504040204" pitchFamily="50" charset="-128"/>
                        </a:rPr>
                        <a:t>ステップ配信</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14日間・4通</a:t>
                      </a:r>
                      <a:endParaRPr lang="ja-JP" altLang="en-US" sz="1300" dirty="0"/>
                    </a:p>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（構築のみ）</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14日間・4通</a:t>
                      </a:r>
                      <a:endParaRPr lang="ja-JP" altLang="en-US" sz="1300" dirty="0"/>
                    </a:p>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（構築・改善）</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14日間・4通</a:t>
                      </a:r>
                      <a:endParaRPr lang="ja-JP" altLang="en-US" sz="1300" dirty="0"/>
                    </a:p>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（構築・改善）</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93776">
                <a:tc>
                  <a:txBody>
                    <a:bodyPr/>
                    <a:lstStyle/>
                    <a:p>
                      <a:pPr algn="ctr">
                        <a:buNone/>
                      </a:pPr>
                      <a:r>
                        <a:rPr lang="ja-JP" altLang="en-US" sz="1300" b="1" dirty="0">
                          <a:solidFill>
                            <a:srgbClr val="1F285A"/>
                          </a:solidFill>
                          <a:latin typeface="メイリオ" panose="020B0604030504040204" pitchFamily="50" charset="-128"/>
                          <a:ea typeface="メイリオ" panose="020B0604030504040204" pitchFamily="50" charset="-128"/>
                        </a:rPr>
                        <a:t>企画配信</a:t>
                      </a:r>
                      <a:endParaRPr lang="ja-JP" altLang="en-US" sz="1300" dirty="0"/>
                    </a:p>
                    <a:p>
                      <a:pPr algn="ctr">
                        <a:buNone/>
                      </a:pPr>
                      <a:r>
                        <a:rPr lang="ja-JP" altLang="en-US" sz="1300" b="1" dirty="0">
                          <a:solidFill>
                            <a:srgbClr val="1F285A"/>
                          </a:solidFill>
                          <a:latin typeface="メイリオ" panose="020B0604030504040204" pitchFamily="50" charset="-128"/>
                          <a:ea typeface="メイリオ" panose="020B0604030504040204" pitchFamily="50" charset="-128"/>
                        </a:rPr>
                        <a:t>（次回イベントの募集）</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なし（貴社で運用）</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月4回</a:t>
                      </a:r>
                      <a:endParaRPr lang="ja-JP" altLang="en-US" sz="1300" dirty="0"/>
                    </a:p>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（設計・作成）</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月4回</a:t>
                      </a:r>
                      <a:endParaRPr lang="ja-JP" altLang="en-US" sz="1300" dirty="0"/>
                    </a:p>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（設計・作成・画像制作）</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93776">
                <a:tc>
                  <a:txBody>
                    <a:bodyPr/>
                    <a:lstStyle/>
                    <a:p>
                      <a:pPr algn="ctr">
                        <a:buNone/>
                      </a:pPr>
                      <a:r>
                        <a:rPr lang="ja-JP" altLang="en-US" sz="1300" b="1" dirty="0">
                          <a:solidFill>
                            <a:srgbClr val="1F285A"/>
                          </a:solidFill>
                          <a:latin typeface="メイリオ" panose="020B0604030504040204" pitchFamily="50" charset="-128"/>
                          <a:ea typeface="メイリオ" panose="020B0604030504040204" pitchFamily="50" charset="-128"/>
                        </a:rPr>
                        <a:t>勤務前の案内</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型の作成のみ</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型の作成・改善</a:t>
                      </a:r>
                      <a:endParaRPr lang="ja-JP" altLang="en-US" sz="1300" dirty="0"/>
                    </a:p>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（送信は貴社）</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型の作成・改善</a:t>
                      </a:r>
                      <a:endParaRPr lang="ja-JP" altLang="en-US" sz="1300" dirty="0"/>
                    </a:p>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（送信は貴社）</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493776">
                <a:tc>
                  <a:txBody>
                    <a:bodyPr/>
                    <a:lstStyle/>
                    <a:p>
                      <a:pPr algn="ctr">
                        <a:buNone/>
                      </a:pPr>
                      <a:r>
                        <a:rPr lang="ja-JP" altLang="en-US" sz="1300" b="1" dirty="0">
                          <a:solidFill>
                            <a:srgbClr val="1F285A"/>
                          </a:solidFill>
                          <a:latin typeface="メイリオ" panose="020B0604030504040204" pitchFamily="50" charset="-128"/>
                          <a:ea typeface="メイリオ" panose="020B0604030504040204" pitchFamily="50" charset="-128"/>
                        </a:rPr>
                        <a:t>結果の分析・改善</a:t>
                      </a:r>
                      <a:endParaRPr lang="ja-JP" altLang="en-US" sz="1300" dirty="0"/>
                    </a:p>
                    <a:p>
                      <a:pPr algn="ctr">
                        <a:buNone/>
                      </a:pPr>
                      <a:r>
                        <a:rPr lang="ja-JP" altLang="en-US" sz="1300" b="1" dirty="0">
                          <a:solidFill>
                            <a:srgbClr val="1F285A"/>
                          </a:solidFill>
                          <a:latin typeface="メイリオ" panose="020B0604030504040204" pitchFamily="50" charset="-128"/>
                          <a:ea typeface="メイリオ" panose="020B0604030504040204" pitchFamily="50" charset="-128"/>
                        </a:rPr>
                        <a:t>（月次レポート）</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なし</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対応</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対応</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bl>
          </a:graphicData>
        </a:graphic>
      </p:graphicFrame>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4" name="Google Shape;752;p28">
            <a:extLst>
              <a:ext uri="{FF2B5EF4-FFF2-40B4-BE49-F238E27FC236}">
                <a16:creationId xmlns:a16="http://schemas.microsoft.com/office/drawing/2014/main" id="{88CD823C-3E61-5E93-B9FE-BD623737FC13}"/>
              </a:ext>
            </a:extLst>
          </p:cNvPr>
          <p:cNvSpPr txBox="1"/>
          <p:nvPr/>
        </p:nvSpPr>
        <p:spPr>
          <a:xfrm>
            <a:off x="602223" y="1104688"/>
            <a:ext cx="1104657" cy="584735"/>
          </a:xfrm>
          <a:prstGeom prst="rect">
            <a:avLst/>
          </a:prstGeom>
          <a:noFill/>
          <a:ln>
            <a:noFill/>
          </a:ln>
        </p:spPr>
        <p:txBody>
          <a:bodyPr spcFirstLastPara="1" wrap="square" lIns="91425" tIns="45700" rIns="91425" bIns="45700" anchor="ctr" anchorCtr="0">
            <a:spAutoFit/>
          </a:bodyPr>
          <a:lstStyle/>
          <a:p>
            <a:pPr lvl="0"/>
            <a:r>
              <a:rPr lang="en-US" altLang="ja-JP" sz="3200" b="1" dirty="0">
                <a:solidFill>
                  <a:srgbClr val="323366"/>
                </a:solidFill>
                <a:latin typeface="メイリオ" panose="020B0604030504040204" pitchFamily="50" charset="-128"/>
                <a:ea typeface="メイリオ" panose="020B0604030504040204" pitchFamily="50" charset="-128"/>
                <a:cs typeface="Meiryo"/>
                <a:sym typeface="Meiryo"/>
              </a:rPr>
              <a:t>06</a:t>
            </a:r>
            <a:endParaRPr lang="ja-JP" altLang="en-US" sz="3200" b="1" dirty="0">
              <a:solidFill>
                <a:srgbClr val="323366"/>
              </a:solidFill>
              <a:latin typeface="メイリオ" panose="020B0604030504040204" pitchFamily="50" charset="-128"/>
              <a:ea typeface="メイリオ" panose="020B0604030504040204" pitchFamily="50" charset="-128"/>
              <a:cs typeface="Meiryo"/>
              <a:sym typeface="Meiryo"/>
            </a:endParaRPr>
          </a:p>
        </p:txBody>
      </p:sp>
      <p:sp>
        <p:nvSpPr>
          <p:cNvPr id="16" name="Google Shape;752;p28">
            <a:extLst>
              <a:ext uri="{FF2B5EF4-FFF2-40B4-BE49-F238E27FC236}">
                <a16:creationId xmlns:a16="http://schemas.microsoft.com/office/drawing/2014/main" id="{403775D4-CF2D-3023-3056-9E596BBE8648}"/>
              </a:ext>
            </a:extLst>
          </p:cNvPr>
          <p:cNvSpPr txBox="1"/>
          <p:nvPr/>
        </p:nvSpPr>
        <p:spPr>
          <a:xfrm>
            <a:off x="1867143" y="1043132"/>
            <a:ext cx="5028957" cy="707846"/>
          </a:xfrm>
          <a:prstGeom prst="rect">
            <a:avLst/>
          </a:prstGeom>
          <a:noFill/>
          <a:ln>
            <a:noFill/>
          </a:ln>
        </p:spPr>
        <p:txBody>
          <a:bodyPr spcFirstLastPara="1" wrap="square" lIns="91425" tIns="45700" rIns="91425" bIns="45700" anchor="ctr" anchorCtr="0">
            <a:spAutoFit/>
          </a:bodyPr>
          <a:lstStyle/>
          <a:p>
            <a:pPr lvl="0"/>
            <a:r>
              <a:rPr lang="ja-JP" altLang="en-US" sz="4000" b="1" dirty="0">
                <a:solidFill>
                  <a:schemeClr val="tx1">
                    <a:lumMod val="65000"/>
                    <a:lumOff val="35000"/>
                  </a:schemeClr>
                </a:solidFill>
                <a:latin typeface="メイリオ" panose="020B0604030504040204" pitchFamily="50" charset="-128"/>
                <a:ea typeface="メイリオ" panose="020B0604030504040204" pitchFamily="50" charset="-128"/>
                <a:cs typeface="Meiryo"/>
                <a:sym typeface="Meiryo"/>
              </a:rPr>
              <a:t>今後の展開</a:t>
            </a:r>
          </a:p>
        </p:txBody>
      </p:sp>
      <p:cxnSp>
        <p:nvCxnSpPr>
          <p:cNvPr id="17" name="直線コネクタ 16">
            <a:extLst>
              <a:ext uri="{FF2B5EF4-FFF2-40B4-BE49-F238E27FC236}">
                <a16:creationId xmlns:a16="http://schemas.microsoft.com/office/drawing/2014/main" id="{24E0D700-8F0C-AA59-0C53-7B51F6E65BAA}"/>
              </a:ext>
            </a:extLst>
          </p:cNvPr>
          <p:cNvCxnSpPr>
            <a:cxnSpLocks/>
          </p:cNvCxnSpPr>
          <p:nvPr/>
        </p:nvCxnSpPr>
        <p:spPr>
          <a:xfrm>
            <a:off x="608527" y="1681803"/>
            <a:ext cx="944805" cy="0"/>
          </a:xfrm>
          <a:prstGeom prst="line">
            <a:avLst/>
          </a:prstGeom>
          <a:ln w="57150">
            <a:solidFill>
              <a:srgbClr val="10253F"/>
            </a:solidFill>
          </a:ln>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9000" y="138240"/>
            <a:ext cx="7920000" cy="338040"/>
          </a:xfrm>
          <a:prstGeom prst="rect">
            <a:avLst/>
          </a:prstGeom>
          <a:noFill/>
        </p:spPr>
        <p:txBody>
          <a:bodyPr wrap="square" lIns="91425" tIns="45700" rIns="91425" bIns="45700" anchor="ctr">
            <a:spAutoFit/>
          </a:bodyPr>
          <a:lstStyle/>
          <a:p>
            <a:pPr algn="l">
              <a:lnSpc>
                <a:spcPct val="120000"/>
              </a:lnSpc>
            </a:pPr>
            <a:r>
              <a:rPr sz="1600" b="1">
                <a:solidFill>
                  <a:srgbClr val="323366"/>
                </a:solidFill>
                <a:latin typeface="メイリオ"/>
                <a:ea typeface="メイリオ"/>
                <a:cs typeface="メイリオ"/>
              </a:rPr>
              <a:t>今後の展開｜横浜シミズで運用モデルをつくり、検証する</a:t>
            </a:r>
          </a:p>
        </p:txBody>
      </p:sp>
      <p:sp>
        <p:nvSpPr>
          <p:cNvPr id="3" name="TextBox 2"/>
          <p:cNvSpPr txBox="1"/>
          <p:nvPr/>
        </p:nvSpPr>
        <p:spPr>
          <a:xfrm>
            <a:off x="431292" y="824484"/>
            <a:ext cx="9331200" cy="585216"/>
          </a:xfrm>
          <a:prstGeom prst="rect">
            <a:avLst/>
          </a:prstGeom>
          <a:noFill/>
        </p:spPr>
        <p:txBody>
          <a:bodyPr wrap="square" lIns="28800" tIns="7200" rIns="28800" bIns="7200" anchor="ctr">
            <a:spAutoFit/>
          </a:bodyPr>
          <a:lstStyle/>
          <a:p>
            <a:pPr algn="l">
              <a:lnSpc>
                <a:spcPct val="120000"/>
              </a:lnSpc>
            </a:pPr>
            <a:r>
              <a:rPr sz="1400" b="1" dirty="0" err="1">
                <a:solidFill>
                  <a:srgbClr val="1E2761"/>
                </a:solidFill>
                <a:latin typeface="メイリオ"/>
                <a:ea typeface="メイリオ"/>
                <a:cs typeface="メイリオ"/>
              </a:rPr>
              <a:t>まず横浜シミズで、友だち獲得・勤務連絡・再応募の運用モデルをつくり、成果と運用の負荷を確かめます</a:t>
            </a:r>
            <a:r>
              <a:rPr sz="1400" b="1" dirty="0">
                <a:solidFill>
                  <a:srgbClr val="1E2761"/>
                </a:solidFill>
                <a:latin typeface="メイリオ"/>
                <a:ea typeface="メイリオ"/>
                <a:cs typeface="メイリオ"/>
              </a:rPr>
              <a:t>。</a:t>
            </a:r>
          </a:p>
          <a:p>
            <a:pPr algn="l">
              <a:lnSpc>
                <a:spcPct val="120000"/>
              </a:lnSpc>
            </a:pPr>
            <a:r>
              <a:rPr sz="1400" b="1" dirty="0" err="1">
                <a:solidFill>
                  <a:srgbClr val="FF0000"/>
                </a:solidFill>
                <a:latin typeface="メイリオ"/>
                <a:ea typeface="メイリオ"/>
                <a:cs typeface="メイリオ"/>
              </a:rPr>
              <a:t>成果をふまえ、シミズグループの他社でも使えるモデルとして整理することを目指します</a:t>
            </a:r>
            <a:r>
              <a:rPr sz="1400" b="1" dirty="0">
                <a:solidFill>
                  <a:srgbClr val="FF0000"/>
                </a:solidFill>
                <a:latin typeface="メイリオ"/>
                <a:ea typeface="メイリオ"/>
                <a:cs typeface="メイリオ"/>
              </a:rPr>
              <a:t>。</a:t>
            </a:r>
          </a:p>
        </p:txBody>
      </p:sp>
      <p:sp>
        <p:nvSpPr>
          <p:cNvPr id="18" name="Rectangle 17"/>
          <p:cNvSpPr/>
          <p:nvPr/>
        </p:nvSpPr>
        <p:spPr>
          <a:xfrm>
            <a:off x="431292" y="4876800"/>
            <a:ext cx="9043416" cy="374904"/>
          </a:xfrm>
          <a:prstGeom prst="rect">
            <a:avLst/>
          </a:prstGeom>
          <a:solidFill>
            <a:srgbClr val="0020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ectangle 20"/>
          <p:cNvSpPr/>
          <p:nvPr/>
        </p:nvSpPr>
        <p:spPr>
          <a:xfrm>
            <a:off x="431292" y="4876800"/>
            <a:ext cx="9043416" cy="374904"/>
          </a:xfrm>
          <a:prstGeom prst="rect">
            <a:avLst/>
          </a:prstGeom>
          <a:noFill/>
          <a:ln>
            <a:noFill/>
          </a:ln>
        </p:spPr>
        <p:txBody>
          <a:bodyPr wrap="square" lIns="45720" tIns="0" rIns="45720" bIns="0" rtlCol="0" anchor="ctr">
            <a:noAutofit/>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rPr>
              <a:t>応募から勤務・次の募集までをLINEでつなぎ、継続的な人員確保の仕組みに</a:t>
            </a:r>
            <a:endParaRPr lang="ja-JP" altLang="en-US" sz="1300" dirty="0"/>
          </a:p>
        </p:txBody>
      </p:sp>
      <p:sp>
        <p:nvSpPr>
          <p:cNvPr id="22" name="Rectangle 21"/>
          <p:cNvSpPr/>
          <p:nvPr/>
        </p:nvSpPr>
        <p:spPr>
          <a:xfrm>
            <a:off x="431292" y="1676400"/>
            <a:ext cx="2983992" cy="457200"/>
          </a:xfrm>
          <a:prstGeom prst="homePlate">
            <a:avLst/>
          </a:prstGeom>
          <a:solidFill>
            <a:srgbClr val="1E2761"/>
          </a:solidFill>
          <a:ln>
            <a:noFill/>
          </a:ln>
        </p:spPr>
        <p:txBody>
          <a:bodyPr wrap="square" lIns="91440" tIns="18288" rIns="18288" bIns="18288" rtlCol="0" anchor="ctr">
            <a:noAutofit/>
          </a:bodyPr>
          <a:lstStyle/>
          <a:p>
            <a:pPr algn="ctr">
              <a:buNone/>
            </a:pPr>
            <a:r>
              <a:rPr lang="ja-JP" altLang="en-US" sz="1000" b="1" dirty="0">
                <a:solidFill>
                  <a:srgbClr val="FFFFFF"/>
                </a:solidFill>
                <a:latin typeface="メイリオ" panose="020B0604030504040204" pitchFamily="50" charset="-128"/>
                <a:ea typeface="メイリオ" panose="020B0604030504040204" pitchFamily="50" charset="-128"/>
              </a:rPr>
              <a:t>STEP1｜構築（運用開始の前）</a:t>
            </a:r>
            <a:endParaRPr lang="ja-JP" altLang="en-US" sz="1000" dirty="0"/>
          </a:p>
        </p:txBody>
      </p:sp>
      <p:sp>
        <p:nvSpPr>
          <p:cNvPr id="23" name="Rounded Rectangle 22"/>
          <p:cNvSpPr/>
          <p:nvPr/>
        </p:nvSpPr>
        <p:spPr>
          <a:xfrm>
            <a:off x="477012" y="2225040"/>
            <a:ext cx="2801112" cy="979714"/>
          </a:xfrm>
          <a:prstGeom prst="roundRect">
            <a:avLst>
              <a:gd name="adj" fmla="val 5000"/>
            </a:avLst>
          </a:prstGeom>
          <a:solidFill>
            <a:srgbClr val="F5F6FA"/>
          </a:solidFill>
          <a:ln w="9525">
            <a:solidFill>
              <a:srgbClr val="D9D9D9"/>
            </a:solidFill>
          </a:ln>
        </p:spPr>
        <p:txBody>
          <a:bodyPr wrap="square" lIns="109728" tIns="73152" rIns="91440" bIns="54864" rtlCol="0" anchor="t">
            <a:noAutofit/>
          </a:bodyPr>
          <a:lstStyle/>
          <a:p>
            <a:pPr algn="l">
              <a:spcAft>
                <a:spcPts val="300"/>
              </a:spcAft>
              <a:buNone/>
            </a:pPr>
            <a:r>
              <a:rPr lang="ja-JP" altLang="en-US" sz="1100" b="0" dirty="0">
                <a:solidFill>
                  <a:srgbClr val="333333"/>
                </a:solidFill>
                <a:latin typeface="メイリオ" panose="020B0604030504040204" pitchFamily="50" charset="-128"/>
                <a:ea typeface="メイリオ" panose="020B0604030504040204" pitchFamily="50" charset="-128"/>
              </a:rPr>
              <a:t>・離脱防止・サンクスLINE誘導の設置</a:t>
            </a:r>
            <a:endParaRPr lang="ja-JP" altLang="en-US" sz="1100" dirty="0"/>
          </a:p>
          <a:p>
            <a:pPr algn="l">
              <a:spcAft>
                <a:spcPts val="300"/>
              </a:spcAft>
              <a:buNone/>
            </a:pPr>
            <a:r>
              <a:rPr lang="ja-JP" altLang="en-US" sz="1100" b="0" dirty="0">
                <a:solidFill>
                  <a:srgbClr val="333333"/>
                </a:solidFill>
                <a:latin typeface="メイリオ" panose="020B0604030504040204" pitchFamily="50" charset="-128"/>
                <a:ea typeface="メイリオ" panose="020B0604030504040204" pitchFamily="50" charset="-128"/>
              </a:rPr>
              <a:t>・あいさつ・リッチメニューの設計</a:t>
            </a:r>
            <a:endParaRPr lang="ja-JP" altLang="en-US" sz="1100" dirty="0"/>
          </a:p>
          <a:p>
            <a:pPr algn="l">
              <a:spcAft>
                <a:spcPts val="300"/>
              </a:spcAft>
              <a:buNone/>
            </a:pPr>
            <a:r>
              <a:rPr lang="ja-JP" altLang="en-US" sz="1100" b="0" dirty="0">
                <a:solidFill>
                  <a:srgbClr val="333333"/>
                </a:solidFill>
                <a:latin typeface="メイリオ" panose="020B0604030504040204" pitchFamily="50" charset="-128"/>
                <a:ea typeface="メイリオ" panose="020B0604030504040204" pitchFamily="50" charset="-128"/>
              </a:rPr>
              <a:t>・タグの設計</a:t>
            </a:r>
            <a:endParaRPr lang="ja-JP" altLang="en-US" sz="1100" dirty="0"/>
          </a:p>
          <a:p>
            <a:pPr algn="l">
              <a:spcAft>
                <a:spcPts val="300"/>
              </a:spcAft>
              <a:buNone/>
            </a:pPr>
            <a:r>
              <a:rPr lang="ja-JP" altLang="en-US" sz="1100" b="0" dirty="0">
                <a:solidFill>
                  <a:srgbClr val="333333"/>
                </a:solidFill>
                <a:latin typeface="メイリオ" panose="020B0604030504040204" pitchFamily="50" charset="-128"/>
                <a:ea typeface="メイリオ" panose="020B0604030504040204" pitchFamily="50" charset="-128"/>
              </a:rPr>
              <a:t>・勤務前の案内の型づくり</a:t>
            </a:r>
            <a:endParaRPr lang="ja-JP" altLang="en-US" sz="1100" dirty="0"/>
          </a:p>
        </p:txBody>
      </p:sp>
      <p:sp>
        <p:nvSpPr>
          <p:cNvPr id="24" name="Rectangle 23"/>
          <p:cNvSpPr/>
          <p:nvPr/>
        </p:nvSpPr>
        <p:spPr>
          <a:xfrm>
            <a:off x="3461004" y="1676400"/>
            <a:ext cx="2983992" cy="457200"/>
          </a:xfrm>
          <a:prstGeom prst="chevron">
            <a:avLst/>
          </a:prstGeom>
          <a:solidFill>
            <a:srgbClr val="1E2761"/>
          </a:solidFill>
          <a:ln>
            <a:noFill/>
          </a:ln>
        </p:spPr>
        <p:txBody>
          <a:bodyPr wrap="square" lIns="91440" tIns="18288" rIns="18288" bIns="18288" rtlCol="0" anchor="ctr">
            <a:noAutofit/>
          </a:bodyPr>
          <a:lstStyle/>
          <a:p>
            <a:pPr algn="ctr">
              <a:buNone/>
            </a:pPr>
            <a:r>
              <a:rPr lang="ja-JP" altLang="en-US" sz="1000" b="1" dirty="0">
                <a:solidFill>
                  <a:srgbClr val="FFFFFF"/>
                </a:solidFill>
                <a:latin typeface="メイリオ" panose="020B0604030504040204" pitchFamily="50" charset="-128"/>
                <a:ea typeface="メイリオ" panose="020B0604030504040204" pitchFamily="50" charset="-128"/>
              </a:rPr>
              <a:t>STEP2｜運用・検証（1〜6か月目）</a:t>
            </a:r>
            <a:endParaRPr lang="ja-JP" altLang="en-US" sz="1000" dirty="0"/>
          </a:p>
        </p:txBody>
      </p:sp>
      <p:sp>
        <p:nvSpPr>
          <p:cNvPr id="25" name="Rounded Rectangle 24"/>
          <p:cNvSpPr/>
          <p:nvPr/>
        </p:nvSpPr>
        <p:spPr>
          <a:xfrm>
            <a:off x="3506723" y="2225040"/>
            <a:ext cx="2801112" cy="979714"/>
          </a:xfrm>
          <a:prstGeom prst="roundRect">
            <a:avLst>
              <a:gd name="adj" fmla="val 5000"/>
            </a:avLst>
          </a:prstGeom>
          <a:solidFill>
            <a:srgbClr val="F5F6FA"/>
          </a:solidFill>
          <a:ln w="9525">
            <a:solidFill>
              <a:srgbClr val="D9D9D9"/>
            </a:solidFill>
          </a:ln>
        </p:spPr>
        <p:txBody>
          <a:bodyPr wrap="square" lIns="109728" tIns="73152" rIns="91440" bIns="54864" rtlCol="0" anchor="t">
            <a:noAutofit/>
          </a:bodyPr>
          <a:lstStyle/>
          <a:p>
            <a:pPr algn="l">
              <a:spcAft>
                <a:spcPts val="300"/>
              </a:spcAft>
              <a:buNone/>
            </a:pPr>
            <a:r>
              <a:rPr lang="ja-JP" altLang="en-US" sz="1100" b="0" dirty="0">
                <a:solidFill>
                  <a:srgbClr val="333333"/>
                </a:solidFill>
                <a:latin typeface="メイリオ" panose="020B0604030504040204" pitchFamily="50" charset="-128"/>
                <a:ea typeface="メイリオ" panose="020B0604030504040204" pitchFamily="50" charset="-128"/>
              </a:rPr>
              <a:t>・次回募集のセグメント配信</a:t>
            </a:r>
            <a:endParaRPr lang="ja-JP" altLang="en-US" sz="1100" dirty="0"/>
          </a:p>
          <a:p>
            <a:pPr algn="l">
              <a:spcAft>
                <a:spcPts val="300"/>
              </a:spcAft>
              <a:buNone/>
            </a:pPr>
            <a:r>
              <a:rPr lang="ja-JP" altLang="en-US" sz="1100" b="0" dirty="0">
                <a:solidFill>
                  <a:srgbClr val="333333"/>
                </a:solidFill>
                <a:latin typeface="メイリオ" panose="020B0604030504040204" pitchFamily="50" charset="-128"/>
                <a:ea typeface="メイリオ" panose="020B0604030504040204" pitchFamily="50" charset="-128"/>
              </a:rPr>
              <a:t>・再応募・再稼働の計測（LINEからの勤務希望の数）</a:t>
            </a:r>
            <a:endParaRPr lang="ja-JP" altLang="en-US" sz="1100" dirty="0"/>
          </a:p>
          <a:p>
            <a:pPr algn="l">
              <a:spcAft>
                <a:spcPts val="300"/>
              </a:spcAft>
              <a:buNone/>
            </a:pPr>
            <a:r>
              <a:rPr lang="ja-JP" altLang="en-US" sz="1100" b="0" dirty="0">
                <a:solidFill>
                  <a:srgbClr val="333333"/>
                </a:solidFill>
                <a:latin typeface="メイリオ" panose="020B0604030504040204" pitchFamily="50" charset="-128"/>
                <a:ea typeface="メイリオ" panose="020B0604030504040204" pitchFamily="50" charset="-128"/>
              </a:rPr>
              <a:t>・運用の負荷の確認と改善</a:t>
            </a:r>
            <a:endParaRPr lang="ja-JP" altLang="en-US" sz="1100" dirty="0"/>
          </a:p>
        </p:txBody>
      </p:sp>
      <p:sp>
        <p:nvSpPr>
          <p:cNvPr id="26" name="Rectangle 25"/>
          <p:cNvSpPr/>
          <p:nvPr/>
        </p:nvSpPr>
        <p:spPr>
          <a:xfrm>
            <a:off x="6490716" y="1676400"/>
            <a:ext cx="2983992" cy="457200"/>
          </a:xfrm>
          <a:prstGeom prst="chevron">
            <a:avLst/>
          </a:prstGeom>
          <a:solidFill>
            <a:srgbClr val="595959"/>
          </a:solidFill>
          <a:ln>
            <a:noFill/>
          </a:ln>
        </p:spPr>
        <p:txBody>
          <a:bodyPr wrap="square" lIns="91440" tIns="18288" rIns="18288" bIns="18288" rtlCol="0" anchor="ctr">
            <a:noAutofit/>
          </a:bodyPr>
          <a:lstStyle/>
          <a:p>
            <a:pPr algn="ctr">
              <a:buNone/>
            </a:pPr>
            <a:r>
              <a:rPr lang="ja-JP" altLang="en-US" sz="1000" b="1" dirty="0">
                <a:solidFill>
                  <a:srgbClr val="FFFFFF"/>
                </a:solidFill>
                <a:latin typeface="メイリオ" panose="020B0604030504040204" pitchFamily="50" charset="-128"/>
                <a:ea typeface="メイリオ" panose="020B0604030504040204" pitchFamily="50" charset="-128"/>
              </a:rPr>
              <a:t>STEP3｜展開の検討（7か月目〜）</a:t>
            </a:r>
            <a:endParaRPr lang="ja-JP" altLang="en-US" sz="1000" dirty="0"/>
          </a:p>
        </p:txBody>
      </p:sp>
      <p:sp>
        <p:nvSpPr>
          <p:cNvPr id="27" name="Rounded Rectangle 26"/>
          <p:cNvSpPr/>
          <p:nvPr/>
        </p:nvSpPr>
        <p:spPr>
          <a:xfrm>
            <a:off x="6536436" y="2225040"/>
            <a:ext cx="2801112" cy="979714"/>
          </a:xfrm>
          <a:prstGeom prst="roundRect">
            <a:avLst>
              <a:gd name="adj" fmla="val 5000"/>
            </a:avLst>
          </a:prstGeom>
          <a:solidFill>
            <a:srgbClr val="FFFFFF"/>
          </a:solidFill>
          <a:ln w="9525">
            <a:solidFill>
              <a:srgbClr val="D9D9D9"/>
            </a:solidFill>
          </a:ln>
        </p:spPr>
        <p:txBody>
          <a:bodyPr wrap="square" lIns="109728" tIns="73152" rIns="91440" bIns="54864" rtlCol="0" anchor="t">
            <a:noAutofit/>
          </a:bodyPr>
          <a:lstStyle/>
          <a:p>
            <a:pPr algn="l">
              <a:spcAft>
                <a:spcPts val="300"/>
              </a:spcAft>
              <a:buNone/>
            </a:pPr>
            <a:r>
              <a:rPr lang="ja-JP" altLang="en-US" sz="1100" b="0" dirty="0">
                <a:solidFill>
                  <a:srgbClr val="333333"/>
                </a:solidFill>
                <a:latin typeface="メイリオ" panose="020B0604030504040204" pitchFamily="50" charset="-128"/>
                <a:ea typeface="メイリオ" panose="020B0604030504040204" pitchFamily="50" charset="-128"/>
              </a:rPr>
              <a:t>・成果と手順を整理</a:t>
            </a:r>
            <a:endParaRPr lang="ja-JP" altLang="en-US" sz="1100" dirty="0"/>
          </a:p>
          <a:p>
            <a:pPr algn="l">
              <a:spcAft>
                <a:spcPts val="300"/>
              </a:spcAft>
              <a:buNone/>
            </a:pPr>
            <a:r>
              <a:rPr lang="ja-JP" altLang="en-US" sz="1100" b="0" dirty="0">
                <a:solidFill>
                  <a:srgbClr val="333333"/>
                </a:solidFill>
                <a:latin typeface="メイリオ" panose="020B0604030504040204" pitchFamily="50" charset="-128"/>
                <a:ea typeface="メイリオ" panose="020B0604030504040204" pitchFamily="50" charset="-128"/>
              </a:rPr>
              <a:t>・グループ他社で使えるかを検討</a:t>
            </a:r>
            <a:endParaRPr lang="ja-JP" altLang="en-US" sz="1100" dirty="0"/>
          </a:p>
          <a:p>
            <a:pPr algn="l">
              <a:spcAft>
                <a:spcPts val="300"/>
              </a:spcAft>
              <a:buNone/>
            </a:pPr>
            <a:r>
              <a:rPr lang="ja-JP" altLang="en-US" sz="1100" b="0" dirty="0">
                <a:solidFill>
                  <a:srgbClr val="333333"/>
                </a:solidFill>
                <a:latin typeface="メイリオ" panose="020B0604030504040204" pitchFamily="50" charset="-128"/>
                <a:ea typeface="メイリオ" panose="020B0604030504040204" pitchFamily="50" charset="-128"/>
              </a:rPr>
              <a:t>・（展開は成果を見て判断）</a:t>
            </a:r>
            <a:endParaRPr lang="ja-JP" altLang="en-US" sz="1100" dirty="0"/>
          </a:p>
        </p:txBody>
      </p:sp>
      <p:sp>
        <p:nvSpPr>
          <p:cNvPr id="28" name="Rounded Rectangle 27"/>
          <p:cNvSpPr/>
          <p:nvPr/>
        </p:nvSpPr>
        <p:spPr>
          <a:xfrm>
            <a:off x="431292" y="3429000"/>
            <a:ext cx="5532120" cy="1264920"/>
          </a:xfrm>
          <a:prstGeom prst="roundRect">
            <a:avLst>
              <a:gd name="adj" fmla="val 5000"/>
            </a:avLst>
          </a:prstGeom>
          <a:solidFill>
            <a:srgbClr val="FFFFFF"/>
          </a:solidFill>
          <a:ln w="9525">
            <a:solidFill>
              <a:srgbClr val="1E2761"/>
            </a:solidFill>
          </a:ln>
        </p:spPr>
        <p:txBody>
          <a:bodyPr wrap="square" lIns="109728" tIns="73152" rIns="91440" bIns="54864" rtlCol="0" anchor="t">
            <a:noAutofit/>
          </a:bodyPr>
          <a:lstStyle/>
          <a:p>
            <a:pPr algn="l">
              <a:spcAft>
                <a:spcPts val="400"/>
              </a:spcAft>
              <a:buNone/>
            </a:pPr>
            <a:r>
              <a:rPr lang="ja-JP" altLang="en-US" sz="1200" b="1" dirty="0">
                <a:solidFill>
                  <a:srgbClr val="323366"/>
                </a:solidFill>
                <a:latin typeface="メイリオ" panose="020B0604030504040204" pitchFamily="50" charset="-128"/>
                <a:ea typeface="メイリオ" panose="020B0604030504040204" pitchFamily="50" charset="-128"/>
              </a:rPr>
              <a:t>ご提案のまとめ</a:t>
            </a:r>
            <a:endParaRPr lang="ja-JP" altLang="en-US" sz="1100" dirty="0"/>
          </a:p>
          <a:p>
            <a:pPr algn="l">
              <a:spcAft>
                <a:spcPts val="400"/>
              </a:spcAft>
              <a:buNone/>
            </a:pPr>
            <a:r>
              <a:rPr lang="ja-JP" altLang="en-US" sz="1100" b="0" dirty="0">
                <a:solidFill>
                  <a:srgbClr val="333333"/>
                </a:solidFill>
                <a:latin typeface="メイリオ" panose="020B0604030504040204" pitchFamily="50" charset="-128"/>
                <a:ea typeface="メイリオ" panose="020B0604030504040204" pitchFamily="50" charset="-128"/>
              </a:rPr>
              <a:t>① 友だち獲得：応募の前からLINEへ（応募後はサンクスLINE誘導）</a:t>
            </a:r>
            <a:endParaRPr lang="ja-JP" altLang="en-US" sz="1100" dirty="0"/>
          </a:p>
          <a:p>
            <a:pPr algn="l">
              <a:spcAft>
                <a:spcPts val="400"/>
              </a:spcAft>
              <a:buNone/>
            </a:pPr>
            <a:r>
              <a:rPr lang="ja-JP" altLang="en-US" sz="1100" b="0" dirty="0">
                <a:solidFill>
                  <a:srgbClr val="333333"/>
                </a:solidFill>
                <a:latin typeface="メイリオ" panose="020B0604030504040204" pitchFamily="50" charset="-128"/>
                <a:ea typeface="メイリオ" panose="020B0604030504040204" pitchFamily="50" charset="-128"/>
              </a:rPr>
              <a:t>② 勤務連絡・管理：集合・持ち物・前日のリマインドをLINEで</a:t>
            </a:r>
            <a:endParaRPr lang="ja-JP" altLang="en-US" sz="1100" dirty="0"/>
          </a:p>
          <a:p>
            <a:pPr algn="l">
              <a:spcAft>
                <a:spcPts val="400"/>
              </a:spcAft>
              <a:buNone/>
            </a:pPr>
            <a:r>
              <a:rPr lang="ja-JP" altLang="en-US" sz="1100" b="0" dirty="0">
                <a:solidFill>
                  <a:srgbClr val="333333"/>
                </a:solidFill>
                <a:latin typeface="メイリオ" panose="020B0604030504040204" pitchFamily="50" charset="-128"/>
                <a:ea typeface="メイリオ" panose="020B0604030504040204" pitchFamily="50" charset="-128"/>
              </a:rPr>
              <a:t>③ 再応募・再稼働：タグで絞って、希望に合う次回の募集を届ける</a:t>
            </a:r>
            <a:endParaRPr lang="ja-JP" altLang="en-US" sz="1100" dirty="0"/>
          </a:p>
          <a:p>
            <a:pPr algn="l">
              <a:spcAft>
                <a:spcPts val="400"/>
              </a:spcAft>
              <a:buNone/>
            </a:pPr>
            <a:r>
              <a:rPr lang="ja-JP" altLang="en-US" sz="1100" b="1" dirty="0">
                <a:solidFill>
                  <a:srgbClr val="323366"/>
                </a:solidFill>
                <a:latin typeface="メイリオ" panose="020B0604030504040204" pitchFamily="50" charset="-128"/>
                <a:ea typeface="メイリオ" panose="020B0604030504040204" pitchFamily="50" charset="-128"/>
              </a:rPr>
              <a:t>コンサル・成果報酬のどちらのプランも、成果を見て調整します。</a:t>
            </a:r>
            <a:endParaRPr lang="ja-JP" altLang="en-US" sz="1100" dirty="0"/>
          </a:p>
        </p:txBody>
      </p:sp>
      <p:sp>
        <p:nvSpPr>
          <p:cNvPr id="29" name="Rounded Rectangle 28"/>
          <p:cNvSpPr/>
          <p:nvPr/>
        </p:nvSpPr>
        <p:spPr>
          <a:xfrm>
            <a:off x="6100572" y="3429000"/>
            <a:ext cx="3374136" cy="1264920"/>
          </a:xfrm>
          <a:prstGeom prst="roundRect">
            <a:avLst>
              <a:gd name="adj" fmla="val 5000"/>
            </a:avLst>
          </a:prstGeom>
          <a:solidFill>
            <a:srgbClr val="F5F6FA"/>
          </a:solidFill>
          <a:ln w="9525">
            <a:solidFill>
              <a:srgbClr val="D9D9D9"/>
            </a:solidFill>
          </a:ln>
        </p:spPr>
        <p:txBody>
          <a:bodyPr wrap="square" lIns="109728" tIns="73152" rIns="91440" bIns="54864" rtlCol="0" anchor="t">
            <a:noAutofit/>
          </a:bodyPr>
          <a:lstStyle/>
          <a:p>
            <a:pPr algn="l">
              <a:spcAft>
                <a:spcPts val="300"/>
              </a:spcAft>
              <a:buNone/>
            </a:pPr>
            <a:r>
              <a:rPr lang="ja-JP" altLang="en-US" sz="1150" b="1" dirty="0">
                <a:solidFill>
                  <a:srgbClr val="323366"/>
                </a:solidFill>
                <a:latin typeface="メイリオ" panose="020B0604030504040204" pitchFamily="50" charset="-128"/>
                <a:ea typeface="メイリオ" panose="020B0604030504040204" pitchFamily="50" charset="-128"/>
              </a:rPr>
              <a:t>追加施策（ご参考）</a:t>
            </a:r>
            <a:endParaRPr lang="ja-JP" altLang="en-US" sz="1050" dirty="0"/>
          </a:p>
          <a:p>
            <a:pPr algn="l">
              <a:spcAft>
                <a:spcPts val="300"/>
              </a:spcAft>
              <a:buNone/>
            </a:pPr>
            <a:r>
              <a:rPr lang="ja-JP" altLang="en-US" sz="1050" b="0" dirty="0">
                <a:solidFill>
                  <a:srgbClr val="333333"/>
                </a:solidFill>
                <a:latin typeface="メイリオ" panose="020B0604030504040204" pitchFamily="50" charset="-128"/>
                <a:ea typeface="メイリオ" panose="020B0604030504040204" pitchFamily="50" charset="-128"/>
              </a:rPr>
              <a:t>社員採用（中途・新卒）にも、同じLINE公式アカウントを使える可能性があります。</a:t>
            </a:r>
            <a:endParaRPr lang="ja-JP" altLang="en-US" sz="1050" dirty="0"/>
          </a:p>
          <a:p>
            <a:pPr algn="l">
              <a:spcAft>
                <a:spcPts val="300"/>
              </a:spcAft>
              <a:buNone/>
            </a:pPr>
            <a:r>
              <a:rPr lang="ja-JP" altLang="en-US" sz="1050" b="0" dirty="0">
                <a:solidFill>
                  <a:srgbClr val="595959"/>
                </a:solidFill>
                <a:latin typeface="メイリオ" panose="020B0604030504040204" pitchFamily="50" charset="-128"/>
                <a:ea typeface="メイリオ" panose="020B0604030504040204" pitchFamily="50" charset="-128"/>
              </a:rPr>
              <a:t>社員とアルバイトで案内を分ける設計を想定しています（今回のご提案には含めていません）。</a:t>
            </a:r>
            <a:endParaRPr lang="ja-JP" altLang="en-US" sz="10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正方形/長方形 18"/>
          <p:cNvSpPr>
            <a:spLocks noChangeArrowheads="1"/>
          </p:cNvSpPr>
          <p:nvPr/>
        </p:nvSpPr>
        <p:spPr bwMode="auto">
          <a:xfrm>
            <a:off x="1649030" y="5820984"/>
            <a:ext cx="6192837" cy="37362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spAutoFit/>
          </a:bodyPr>
          <a:lstStyle/>
          <a:p>
            <a:pPr marL="0" lvl="1" fontAlgn="base">
              <a:spcBef>
                <a:spcPct val="20000"/>
              </a:spcBef>
              <a:spcAft>
                <a:spcPct val="0"/>
              </a:spcAft>
              <a:defRPr/>
            </a:pPr>
            <a:r>
              <a:rPr lang="ja-JP" altLang="en-US" sz="831" b="1" dirty="0">
                <a:solidFill>
                  <a:prstClr val="black"/>
                </a:solidFill>
                <a:latin typeface="メイリオ"/>
                <a:ea typeface="メイリオ"/>
                <a:cs typeface="メイリオ"/>
              </a:rPr>
              <a:t>株式会社</a:t>
            </a:r>
            <a:r>
              <a:rPr lang="en-US" altLang="ja-JP" sz="831" b="1" dirty="0">
                <a:solidFill>
                  <a:prstClr val="black"/>
                </a:solidFill>
                <a:latin typeface="メイリオ"/>
                <a:ea typeface="メイリオ"/>
                <a:cs typeface="メイリオ"/>
              </a:rPr>
              <a:t>DYM</a:t>
            </a:r>
            <a:r>
              <a:rPr lang="ja-JP" altLang="en-US" sz="831" b="1" dirty="0">
                <a:solidFill>
                  <a:prstClr val="black"/>
                </a:solidFill>
                <a:latin typeface="メイリオ"/>
                <a:ea typeface="メイリオ"/>
                <a:cs typeface="メイリオ"/>
              </a:rPr>
              <a:t>　〒</a:t>
            </a:r>
            <a:r>
              <a:rPr lang="en-US" altLang="ja-JP" sz="831" b="1" dirty="0">
                <a:solidFill>
                  <a:prstClr val="black"/>
                </a:solidFill>
                <a:latin typeface="メイリオ"/>
                <a:ea typeface="メイリオ"/>
                <a:cs typeface="メイリオ"/>
              </a:rPr>
              <a:t>141-0032</a:t>
            </a:r>
            <a:r>
              <a:rPr lang="ja-JP" altLang="en-US" sz="831" b="1" dirty="0">
                <a:solidFill>
                  <a:prstClr val="black"/>
                </a:solidFill>
                <a:latin typeface="メイリオ"/>
                <a:ea typeface="メイリオ"/>
                <a:cs typeface="メイリオ"/>
              </a:rPr>
              <a:t>　東京都品川区大崎</a:t>
            </a:r>
            <a:r>
              <a:rPr lang="en-US" altLang="ja-JP" sz="831" b="1" dirty="0">
                <a:solidFill>
                  <a:prstClr val="black"/>
                </a:solidFill>
                <a:latin typeface="メイリオ"/>
                <a:ea typeface="メイリオ"/>
                <a:cs typeface="メイリオ"/>
              </a:rPr>
              <a:t>1-11-2</a:t>
            </a:r>
            <a:r>
              <a:rPr lang="ja-JP" altLang="en-US" sz="831" b="1" dirty="0">
                <a:solidFill>
                  <a:prstClr val="black"/>
                </a:solidFill>
                <a:latin typeface="メイリオ"/>
                <a:ea typeface="メイリオ"/>
                <a:cs typeface="メイリオ"/>
              </a:rPr>
              <a:t>　ゲートシティ大崎イーストタワー</a:t>
            </a:r>
            <a:r>
              <a:rPr lang="en-US" altLang="ja-JP" sz="831" b="1" dirty="0">
                <a:solidFill>
                  <a:prstClr val="black"/>
                </a:solidFill>
                <a:latin typeface="メイリオ"/>
                <a:ea typeface="メイリオ"/>
                <a:cs typeface="メイリオ"/>
              </a:rPr>
              <a:t>10</a:t>
            </a:r>
            <a:r>
              <a:rPr lang="ja-JP" altLang="en-US" sz="831" b="1" dirty="0">
                <a:solidFill>
                  <a:prstClr val="black"/>
                </a:solidFill>
                <a:latin typeface="メイリオ"/>
                <a:ea typeface="メイリオ"/>
                <a:cs typeface="メイリオ"/>
              </a:rPr>
              <a:t>階</a:t>
            </a:r>
            <a:endParaRPr lang="en-US" altLang="ja-JP" sz="831" b="1" dirty="0">
              <a:solidFill>
                <a:prstClr val="black"/>
              </a:solidFill>
              <a:latin typeface="メイリオ"/>
              <a:ea typeface="メイリオ"/>
              <a:cs typeface="メイリオ"/>
            </a:endParaRPr>
          </a:p>
          <a:p>
            <a:pPr marL="0" lvl="1" fontAlgn="base">
              <a:spcBef>
                <a:spcPct val="20000"/>
              </a:spcBef>
              <a:spcAft>
                <a:spcPct val="0"/>
              </a:spcAft>
              <a:defRPr/>
            </a:pPr>
            <a:r>
              <a:rPr lang="en-US" altLang="ja-JP" sz="831" b="1" dirty="0">
                <a:solidFill>
                  <a:prstClr val="black"/>
                </a:solidFill>
                <a:latin typeface="メイリオ"/>
                <a:ea typeface="メイリオ"/>
                <a:cs typeface="メイリオ"/>
              </a:rPr>
              <a:t>TEL: 03-5745-0200</a:t>
            </a:r>
            <a:r>
              <a:rPr lang="ja-JP" altLang="en-US" sz="831" b="1" dirty="0">
                <a:solidFill>
                  <a:prstClr val="black"/>
                </a:solidFill>
                <a:latin typeface="メイリオ"/>
                <a:ea typeface="メイリオ"/>
                <a:cs typeface="メイリオ"/>
              </a:rPr>
              <a:t>　</a:t>
            </a:r>
            <a:r>
              <a:rPr lang="en-US" altLang="ja-JP" sz="831" b="1" dirty="0">
                <a:solidFill>
                  <a:prstClr val="black"/>
                </a:solidFill>
                <a:latin typeface="メイリオ"/>
                <a:ea typeface="メイリオ"/>
                <a:cs typeface="メイリオ"/>
              </a:rPr>
              <a:t>FAX: 03-3779-8720 </a:t>
            </a:r>
            <a:r>
              <a:rPr lang="ja-JP" altLang="en-US" sz="831" b="1" dirty="0">
                <a:solidFill>
                  <a:prstClr val="black"/>
                </a:solidFill>
                <a:latin typeface="メイリオ"/>
                <a:ea typeface="メイリオ"/>
                <a:cs typeface="メイリオ"/>
              </a:rPr>
              <a:t>　</a:t>
            </a:r>
            <a:r>
              <a:rPr lang="en-US" altLang="ja-JP" sz="831" b="1" dirty="0">
                <a:solidFill>
                  <a:prstClr val="black"/>
                </a:solidFill>
                <a:latin typeface="メイリオ"/>
                <a:ea typeface="メイリオ"/>
                <a:cs typeface="メイリオ"/>
              </a:rPr>
              <a:t>http://dym.asia   </a:t>
            </a:r>
            <a:r>
              <a:rPr lang="ja-JP" altLang="en-US" sz="831" b="1" dirty="0">
                <a:solidFill>
                  <a:prstClr val="black"/>
                </a:solidFill>
                <a:latin typeface="メイリオ"/>
                <a:ea typeface="メイリオ"/>
                <a:cs typeface="メイリオ"/>
              </a:rPr>
              <a:t>代表取締役　水谷佑毅</a:t>
            </a:r>
          </a:p>
        </p:txBody>
      </p:sp>
      <p:pic>
        <p:nvPicPr>
          <p:cNvPr id="24" name="図 1"/>
          <p:cNvPicPr>
            <a:picLocks noChangeAspect="1"/>
          </p:cNvPicPr>
          <p:nvPr/>
        </p:nvPicPr>
        <p:blipFill rotWithShape="1">
          <a:blip r:embed="rId3" cstate="email">
            <a:extLst>
              <a:ext uri="{28A0092B-C50C-407E-A947-70E740481C1C}">
                <a14:useLocalDpi xmlns:a14="http://schemas.microsoft.com/office/drawing/2010/main"/>
              </a:ext>
            </a:extLst>
          </a:blip>
          <a:srcRect l="-1647" r="-11171"/>
          <a:stretch/>
        </p:blipFill>
        <p:spPr bwMode="auto">
          <a:xfrm>
            <a:off x="543897" y="5895365"/>
            <a:ext cx="1100981" cy="224866"/>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 name="テキスト ボックス 2"/>
          <p:cNvSpPr txBox="1"/>
          <p:nvPr/>
        </p:nvSpPr>
        <p:spPr>
          <a:xfrm>
            <a:off x="5070232" y="5597769"/>
            <a:ext cx="184731" cy="369332"/>
          </a:xfrm>
          <a:prstGeom prst="rect">
            <a:avLst/>
          </a:prstGeom>
          <a:noFill/>
        </p:spPr>
        <p:txBody>
          <a:bodyPr wrap="none" rtlCol="0">
            <a:spAutoFit/>
          </a:bodyPr>
          <a:lstStyle/>
          <a:p>
            <a:pPr fontAlgn="base">
              <a:spcBef>
                <a:spcPct val="0"/>
              </a:spcBef>
              <a:spcAft>
                <a:spcPct val="0"/>
              </a:spcAft>
              <a:defRPr/>
            </a:pPr>
            <a:endParaRPr lang="ja-JP" altLang="en-US">
              <a:solidFill>
                <a:prstClr val="black"/>
              </a:solidFill>
              <a:latin typeface="Arial" pitchFamily="34" charset="0"/>
              <a:ea typeface="ＭＳ Ｐゴシック" pitchFamily="50" charset="-128"/>
            </a:endParaRPr>
          </a:p>
        </p:txBody>
      </p:sp>
      <p:sp>
        <p:nvSpPr>
          <p:cNvPr id="18" name="正方形/長方形 17"/>
          <p:cNvSpPr/>
          <p:nvPr/>
        </p:nvSpPr>
        <p:spPr>
          <a:xfrm>
            <a:off x="2170038" y="989684"/>
            <a:ext cx="5565924" cy="369332"/>
          </a:xfrm>
          <a:prstGeom prst="rect">
            <a:avLst/>
          </a:prstGeom>
        </p:spPr>
        <p:txBody>
          <a:bodyPr wrap="square">
            <a:spAutoFit/>
          </a:bodyPr>
          <a:lstStyle/>
          <a:p>
            <a:pPr algn="ctr" fontAlgn="base">
              <a:spcBef>
                <a:spcPct val="20000"/>
              </a:spcBef>
              <a:spcAft>
                <a:spcPct val="0"/>
              </a:spcAft>
              <a:defRPr/>
            </a:pPr>
            <a:r>
              <a:rPr lang="ja-JP" altLang="en-US" b="1" dirty="0">
                <a:solidFill>
                  <a:prstClr val="black"/>
                </a:solidFill>
                <a:latin typeface="メイリオ" charset="0"/>
                <a:ea typeface="メイリオ" charset="0"/>
                <a:cs typeface="メイリオ" charset="0"/>
              </a:rPr>
              <a:t>貴社の明るい未来に必ず貢献致します。</a:t>
            </a:r>
          </a:p>
        </p:txBody>
      </p:sp>
      <p:sp>
        <p:nvSpPr>
          <p:cNvPr id="14" name="正方形/長方形 13"/>
          <p:cNvSpPr/>
          <p:nvPr/>
        </p:nvSpPr>
        <p:spPr>
          <a:xfrm>
            <a:off x="382695" y="2698377"/>
            <a:ext cx="598220" cy="205890"/>
          </a:xfrm>
          <a:prstGeom prst="rect">
            <a:avLst/>
          </a:prstGeom>
        </p:spPr>
        <p:txBody>
          <a:bodyPr wrap="square">
            <a:spAutoFit/>
          </a:bodyPr>
          <a:lstStyle/>
          <a:p>
            <a:pPr algn="ctr" fontAlgn="base">
              <a:spcBef>
                <a:spcPct val="20000"/>
              </a:spcBef>
              <a:spcAft>
                <a:spcPct val="0"/>
              </a:spcAft>
              <a:defRPr/>
            </a:pPr>
            <a:r>
              <a:rPr lang="ja-JP" altLang="en-US" sz="738">
                <a:solidFill>
                  <a:srgbClr val="FFFFFF"/>
                </a:solidFill>
                <a:latin typeface="メイリオ" charset="0"/>
                <a:ea typeface="メイリオ" charset="0"/>
                <a:cs typeface="メイリオ" charset="0"/>
              </a:rPr>
              <a:t>本社</a:t>
            </a:r>
          </a:p>
        </p:txBody>
      </p:sp>
      <p:sp>
        <p:nvSpPr>
          <p:cNvPr id="15" name="正方形/長方形 14"/>
          <p:cNvSpPr/>
          <p:nvPr/>
        </p:nvSpPr>
        <p:spPr>
          <a:xfrm>
            <a:off x="368300" y="2355213"/>
            <a:ext cx="756684" cy="215444"/>
          </a:xfrm>
          <a:prstGeom prst="rect">
            <a:avLst/>
          </a:prstGeom>
        </p:spPr>
        <p:txBody>
          <a:bodyPr wrap="square">
            <a:spAutoFit/>
          </a:bodyPr>
          <a:lstStyle/>
          <a:p>
            <a:pPr algn="ctr" fontAlgn="base">
              <a:spcBef>
                <a:spcPct val="20000"/>
              </a:spcBef>
              <a:spcAft>
                <a:spcPct val="0"/>
              </a:spcAft>
              <a:defRPr/>
            </a:pPr>
            <a:r>
              <a:rPr lang="ja-JP" altLang="en-US" sz="800" dirty="0">
                <a:solidFill>
                  <a:srgbClr val="FFFFFF"/>
                </a:solidFill>
                <a:latin typeface="メイリオ" charset="0"/>
                <a:ea typeface="メイリオ" charset="0"/>
                <a:cs typeface="メイリオ" charset="0"/>
              </a:rPr>
              <a:t>本社</a:t>
            </a:r>
          </a:p>
        </p:txBody>
      </p:sp>
      <p:grpSp>
        <p:nvGrpSpPr>
          <p:cNvPr id="22" name="グループ化 21">
            <a:extLst>
              <a:ext uri="{FF2B5EF4-FFF2-40B4-BE49-F238E27FC236}">
                <a16:creationId xmlns:a16="http://schemas.microsoft.com/office/drawing/2014/main" id="{05A1AABC-CDB8-5B83-4CFD-649967A361BF}"/>
              </a:ext>
            </a:extLst>
          </p:cNvPr>
          <p:cNvGrpSpPr/>
          <p:nvPr/>
        </p:nvGrpSpPr>
        <p:grpSpPr>
          <a:xfrm>
            <a:off x="381002" y="1772817"/>
            <a:ext cx="9143999" cy="3314853"/>
            <a:chOff x="1" y="1772816"/>
            <a:chExt cx="9143999" cy="3314853"/>
          </a:xfrm>
        </p:grpSpPr>
        <p:pic>
          <p:nvPicPr>
            <p:cNvPr id="21" name="図 20" descr="ポーズをとる男性グループ&#10;&#10;自動的に生成された説明">
              <a:extLst>
                <a:ext uri="{FF2B5EF4-FFF2-40B4-BE49-F238E27FC236}">
                  <a16:creationId xmlns:a16="http://schemas.microsoft.com/office/drawing/2014/main" id="{4927F40E-D146-C638-5583-C9DC2984722E}"/>
                </a:ext>
              </a:extLst>
            </p:cNvPr>
            <p:cNvPicPr>
              <a:picLocks noChangeAspect="1"/>
            </p:cNvPicPr>
            <p:nvPr/>
          </p:nvPicPr>
          <p:blipFill rotWithShape="1">
            <a:blip r:embed="rId4" cstate="print">
              <a:extLst>
                <a:ext uri="{28A0092B-C50C-407E-A947-70E740481C1C}">
                  <a14:useLocalDpi xmlns:a14="http://schemas.microsoft.com/office/drawing/2010/main" val="0"/>
                </a:ext>
              </a:extLst>
            </a:blip>
            <a:srcRect l="3642" r="4076"/>
            <a:stretch/>
          </p:blipFill>
          <p:spPr>
            <a:xfrm>
              <a:off x="6973793" y="3518745"/>
              <a:ext cx="2170207" cy="1567781"/>
            </a:xfrm>
            <a:prstGeom prst="rect">
              <a:avLst/>
            </a:prstGeom>
          </p:spPr>
        </p:pic>
        <p:pic>
          <p:nvPicPr>
            <p:cNvPr id="16" name="図 15" descr="白いシャツを着ている男性&#10;&#10;中程度の精度で自動的に生成された説明">
              <a:extLst>
                <a:ext uri="{FF2B5EF4-FFF2-40B4-BE49-F238E27FC236}">
                  <a16:creationId xmlns:a16="http://schemas.microsoft.com/office/drawing/2014/main" id="{2ECDFCA7-8611-D865-F999-FDCD0EC21269}"/>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4983808" y="3519888"/>
              <a:ext cx="1989985" cy="1567781"/>
            </a:xfrm>
            <a:prstGeom prst="rect">
              <a:avLst/>
            </a:prstGeom>
          </p:spPr>
        </p:pic>
        <p:pic>
          <p:nvPicPr>
            <p:cNvPr id="10" name="図 9" descr="スーツを着た男性たち&#10;&#10;自動的に生成された説明">
              <a:extLst>
                <a:ext uri="{FF2B5EF4-FFF2-40B4-BE49-F238E27FC236}">
                  <a16:creationId xmlns:a16="http://schemas.microsoft.com/office/drawing/2014/main" id="{9D3AD52A-1514-4350-FFDD-09984B3666E2}"/>
                </a:ext>
              </a:extLst>
            </p:cNvPr>
            <p:cNvPicPr>
              <a:picLocks noChangeAspect="1"/>
            </p:cNvPicPr>
            <p:nvPr/>
          </p:nvPicPr>
          <p:blipFill rotWithShape="1">
            <a:blip r:embed="rId6" cstate="print">
              <a:extLst>
                <a:ext uri="{28A0092B-C50C-407E-A947-70E740481C1C}">
                  <a14:useLocalDpi xmlns:a14="http://schemas.microsoft.com/office/drawing/2010/main" val="0"/>
                </a:ext>
              </a:extLst>
            </a:blip>
            <a:srcRect l="10703" r="10363"/>
            <a:stretch/>
          </p:blipFill>
          <p:spPr>
            <a:xfrm>
              <a:off x="7299681" y="1773979"/>
              <a:ext cx="1842624" cy="1745909"/>
            </a:xfrm>
            <a:prstGeom prst="rect">
              <a:avLst/>
            </a:prstGeom>
          </p:spPr>
        </p:pic>
        <p:pic>
          <p:nvPicPr>
            <p:cNvPr id="7" name="図 6" descr="講堂にいる人たち&#10;&#10;中程度の精度で自動的に生成された説明">
              <a:extLst>
                <a:ext uri="{FF2B5EF4-FFF2-40B4-BE49-F238E27FC236}">
                  <a16:creationId xmlns:a16="http://schemas.microsoft.com/office/drawing/2014/main" id="{B1CA0DFF-0DAF-D5BD-8D9F-8AFB103E2698}"/>
                </a:ext>
              </a:extLst>
            </p:cNvPr>
            <p:cNvPicPr>
              <a:picLocks noChangeAspect="1"/>
            </p:cNvPicPr>
            <p:nvPr/>
          </p:nvPicPr>
          <p:blipFill rotWithShape="1">
            <a:blip r:embed="rId7" cstate="print">
              <a:extLst>
                <a:ext uri="{28A0092B-C50C-407E-A947-70E740481C1C}">
                  <a14:useLocalDpi xmlns:a14="http://schemas.microsoft.com/office/drawing/2010/main" val="0"/>
                </a:ext>
              </a:extLst>
            </a:blip>
            <a:srcRect l="2512" t="12879" r="2477"/>
            <a:stretch/>
          </p:blipFill>
          <p:spPr>
            <a:xfrm>
              <a:off x="1" y="1772816"/>
              <a:ext cx="5089778" cy="3314853"/>
            </a:xfrm>
            <a:prstGeom prst="rect">
              <a:avLst/>
            </a:prstGeom>
          </p:spPr>
        </p:pic>
        <p:pic>
          <p:nvPicPr>
            <p:cNvPr id="11" name="図 10" descr="スーツを着た男性グループの写真&#10;&#10;低い精度で自動的に生成された説明">
              <a:extLst>
                <a:ext uri="{FF2B5EF4-FFF2-40B4-BE49-F238E27FC236}">
                  <a16:creationId xmlns:a16="http://schemas.microsoft.com/office/drawing/2014/main" id="{FEFAFF33-EFBF-C67E-586A-08D93AF295F8}"/>
                </a:ext>
              </a:extLst>
            </p:cNvPr>
            <p:cNvPicPr>
              <a:picLocks noChangeAspect="1"/>
            </p:cNvPicPr>
            <p:nvPr/>
          </p:nvPicPr>
          <p:blipFill rotWithShape="1">
            <a:blip r:embed="rId8" cstate="print">
              <a:extLst>
                <a:ext uri="{28A0092B-C50C-407E-A947-70E740481C1C}">
                  <a14:useLocalDpi xmlns:a14="http://schemas.microsoft.com/office/drawing/2010/main" val="0"/>
                </a:ext>
              </a:extLst>
            </a:blip>
            <a:srcRect l="8595" r="6763"/>
            <a:stretch/>
          </p:blipFill>
          <p:spPr>
            <a:xfrm>
              <a:off x="5089779" y="1772836"/>
              <a:ext cx="2215315" cy="1745909"/>
            </a:xfrm>
            <a:prstGeom prst="rect">
              <a:avLst/>
            </a:prstGeom>
          </p:spPr>
        </p:pic>
      </p:grpSp>
      <p:sp>
        <p:nvSpPr>
          <p:cNvPr id="6" name="正方形/長方形 5">
            <a:extLst>
              <a:ext uri="{FF2B5EF4-FFF2-40B4-BE49-F238E27FC236}">
                <a16:creationId xmlns:a16="http://schemas.microsoft.com/office/drawing/2014/main" id="{238B92EF-519D-929F-4345-5BAC445EF234}"/>
              </a:ext>
            </a:extLst>
          </p:cNvPr>
          <p:cNvSpPr/>
          <p:nvPr/>
        </p:nvSpPr>
        <p:spPr>
          <a:xfrm>
            <a:off x="128016" y="6620256"/>
            <a:ext cx="2852928" cy="237744"/>
          </a:xfrm>
          <a:prstGeom prst="rect">
            <a:avLst/>
          </a:prstGeom>
          <a:solidFill>
            <a:srgbClr val="191F54"/>
          </a:solidFill>
          <a:ln>
            <a:solidFill>
              <a:srgbClr val="10253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 name="正方形/長方形 1">
            <a:extLst>
              <a:ext uri="{FF2B5EF4-FFF2-40B4-BE49-F238E27FC236}">
                <a16:creationId xmlns:a16="http://schemas.microsoft.com/office/drawing/2014/main" id="{A949B271-D24D-666E-90F2-EA616E1EABC2}"/>
              </a:ext>
            </a:extLst>
          </p:cNvPr>
          <p:cNvSpPr/>
          <p:nvPr/>
        </p:nvSpPr>
        <p:spPr>
          <a:xfrm>
            <a:off x="368300" y="0"/>
            <a:ext cx="9537700" cy="514974"/>
          </a:xfrm>
          <a:prstGeom prst="rect">
            <a:avLst/>
          </a:prstGeom>
          <a:solidFill>
            <a:schemeClr val="bg1"/>
          </a:solidFill>
          <a:ln>
            <a:solidFill>
              <a:schemeClr val="bg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4185355464"/>
      </p:ext>
    </p:extLst>
  </p:cSld>
  <p:clrMapOvr>
    <a:masterClrMapping/>
  </p:clrMapOvr>
  <p:transition spd="slow"/>
</p:sld>
</file>

<file path=ppt/theme/theme1.xml><?xml version="1.0" encoding="utf-8"?>
<a:theme xmlns:a="http://schemas.openxmlformats.org/drawingml/2006/main" name="テーマ1">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テーマ1" id="{8EA1701B-0E00-4167-9612-575199E01EDB}" vid="{8EF6575E-BB77-44AE-AF00-801DE4CAFB82}"/>
    </a:ext>
  </a:extLst>
</a:theme>
</file>

<file path=ppt/theme/theme2.xml><?xml version="1.0" encoding="utf-8"?>
<a:theme xmlns:a="http://schemas.openxmlformats.org/drawingml/2006/main" name="DYMJAPAN">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3.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Default Theme</Template>
  <TotalTime>141749</TotalTime>
  <Words>4547</Words>
  <Application>Microsoft Office PowerPoint</Application>
  <PresentationFormat>A4 210 x 297 mm</PresentationFormat>
  <Paragraphs>668</Paragraphs>
  <Slides>27</Slides>
  <Notes>1</Notes>
  <HiddenSlides>0</HiddenSlides>
  <MMClips>0</MMClips>
  <ScaleCrop>false</ScaleCrop>
  <HeadingPairs>
    <vt:vector size="6" baseType="variant">
      <vt:variant>
        <vt:lpstr>使用されているフォント</vt:lpstr>
      </vt:variant>
      <vt:variant>
        <vt:i4>5</vt:i4>
      </vt:variant>
      <vt:variant>
        <vt:lpstr>テーマ</vt:lpstr>
      </vt:variant>
      <vt:variant>
        <vt:i4>2</vt:i4>
      </vt:variant>
      <vt:variant>
        <vt:lpstr>スライド タイトル</vt:lpstr>
      </vt:variant>
      <vt:variant>
        <vt:i4>27</vt:i4>
      </vt:variant>
    </vt:vector>
  </HeadingPairs>
  <TitlesOfParts>
    <vt:vector size="34" baseType="lpstr">
      <vt:lpstr>Arial</vt:lpstr>
      <vt:lpstr>Calibri</vt:lpstr>
      <vt:lpstr>Century Gothic</vt:lpstr>
      <vt:lpstr>メイリオ</vt:lpstr>
      <vt:lpstr>メイリオ</vt:lpstr>
      <vt:lpstr>テーマ1</vt:lpstr>
      <vt:lpstr>DYMJAPAN</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プレゼンテーション</dc:title>
  <dc:creator>中村 駿</dc:creator>
  <cp:lastModifiedBy>殿村 亮太</cp:lastModifiedBy>
  <cp:revision>1934</cp:revision>
  <cp:lastPrinted>2022-11-01T11:38:14Z</cp:lastPrinted>
  <dcterms:created xsi:type="dcterms:W3CDTF">2015-09-04T09:21:15Z</dcterms:created>
  <dcterms:modified xsi:type="dcterms:W3CDTF">2026-10-29T06:18:34Z</dcterms:modified>
</cp:coreProperties>
</file>