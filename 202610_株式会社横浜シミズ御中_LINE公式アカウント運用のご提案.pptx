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21"/>
  </p:notesMasterIdLst>
  <p:handoutMasterIdLst>
    <p:handoutMasterId r:id="rId22"/>
  </p:handoutMasterIdLst>
  <p:sldIdLst>
    <p:sldId id="2363" r:id="rId3"/>
    <p:sldId id="2364" r:id="rId4"/>
    <p:sldId id="2365" r:id="rId5"/>
    <p:sldId id="2366" r:id="rId6"/>
    <p:sldId id="2367" r:id="rId7"/>
    <p:sldId id="2368" r:id="rId8"/>
    <p:sldId id="2369" r:id="rId9"/>
    <p:sldId id="257" r:id="rId10"/>
    <p:sldId id="2371" r:id="rId11"/>
    <p:sldId id="2372" r:id="rId12"/>
    <p:sldId id="2373" r:id="rId13"/>
    <p:sldId id="2381" r:id="rId14"/>
    <p:sldId id="2374" r:id="rId15"/>
    <p:sldId id="2378" r:id="rId16"/>
    <p:sldId id="2379" r:id="rId17"/>
    <p:sldId id="2382" r:id="rId27"/>
    <p:sldId id="2380" r:id="rId18"/>
    <p:sldId id="2377" r:id="rId19"/>
    <p:sldId id="1169" r:id="rId20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18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Relationship Id="rId5" Type="http://schemas.openxmlformats.org/officeDocument/2006/relationships/image" Target="../media/image8.jpeg"/><Relationship Id="rId6" Type="http://schemas.openxmlformats.org/officeDocument/2006/relationships/image" Target="../media/image9.jpeg"/><Relationship Id="rId7" Type="http://schemas.openxmlformats.org/officeDocument/2006/relationships/image" Target="../media/image10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jpg"/><Relationship Id="rId8" Type="http://schemas.openxmlformats.org/officeDocument/2006/relationships/image" Target="../media/image17.jpe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hyperlink" Target="https://youtube.com/shorts/0qI4QgrOppQ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21.jpeg"/><Relationship Id="rId5" Type="http://schemas.openxmlformats.org/officeDocument/2006/relationships/image" Target="../media/image22.jpeg"/><Relationship Id="rId6" Type="http://schemas.openxmlformats.org/officeDocument/2006/relationships/image" Target="../media/image23.jpeg"/><Relationship Id="rId7" Type="http://schemas.openxmlformats.org/officeDocument/2006/relationships/image" Target="../media/image24.jpeg"/><Relationship Id="rId8" Type="http://schemas.openxmlformats.org/officeDocument/2006/relationships/image" Target="../media/image2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0860" y="862696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0860" y="4826699"/>
            <a:ext cx="8773451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860" y="4826699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31292" y="1650519"/>
            <a:ext cx="4636881" cy="297357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8452" y="1760247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41236" y="2157997"/>
            <a:ext cx="4526937" cy="2329138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marL="155448" indent="-155448" algn="l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5446127" y="1650519"/>
            <a:ext cx="3758184" cy="167065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4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4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330952"/>
            <a:ext cx="8906255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33095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96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91689"/>
            <a:ext cx="4562855" cy="368323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5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5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96249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1292" y="500263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4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20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4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20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1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653758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4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2065238"/>
            <a:ext cx="2880360" cy="759823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20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6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6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2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20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114363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2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8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114365"/>
            <a:ext cx="4421124" cy="65836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114364"/>
            <a:ext cx="2431618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114364"/>
            <a:ext cx="1852345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8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225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2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まとめて案内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2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1対1のやり取り</a:t>
            </a:r>
            <a:endParaRPr lang="ja-JP" altLang="en-US" sz="12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通知で気づける。質問しやすい</a:t>
            </a:r>
            <a:endParaRPr lang="ja-JP" altLang="en-US" sz="12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</a:t>
            </a:r>
            <a:endParaRPr lang="en-US" altLang="ja-JP" sz="1200" b="0" dirty="0">
              <a:solidFill>
                <a:srgbClr val="333333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毎回の作成の手間を減らす</a:t>
            </a:r>
            <a:endParaRPr lang="ja-JP" altLang="en-US" sz="12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2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2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2775021"/>
              </p:ext>
            </p:extLst>
          </p:nvPr>
        </p:nvGraphicFramePr>
        <p:xfrm>
          <a:off x="429767" y="1371600"/>
          <a:ext cx="5039379" cy="2889504"/>
        </p:xfrm>
        <a:graphic>
          <a:graphicData uri="http://schemas.openxmlformats.org/drawingml/2006/table">
            <a:tbl>
              <a:tblPr/>
              <a:tblGrid>
                <a:gridCol w="116652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3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（選択式）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</a:t>
                      </a:r>
                      <a:endParaRPr lang="en-US" altLang="ja-JP" sz="110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設営・撤去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</a:t>
                      </a:r>
                      <a:endParaRPr lang="en-US" altLang="ja-JP" sz="1050" b="0" dirty="0">
                        <a:solidFill>
                          <a:srgbClr val="333333"/>
                        </a:solidFill>
                        <a:latin typeface="メイリオ" panose="020B0604030504040204" pitchFamily="50" charset="-128"/>
                        <a:ea typeface="メイリオ" panose="020B0604030504040204" pitchFamily="50" charset="-128"/>
                      </a:endParaRPr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メニューで変更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前後検索「単発バイト」｜当日に何社も比べ、その後は給与・働き方を調べる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</a:rPr>
              <a:t>応募の前後に調べていることを、LINEで先に届ける</a:t>
            </a:r>
            <a:endParaRPr lang="en-US" sz="1400" b="1" u="none" strike="noStrike" dirty="0">
              <a:effectLst/>
              <a:uFillTx/>
              <a:latin typeface="メイリオ"/>
            </a:endParaRPr>
          </a:p>
        </p:txBody>
      </p:sp>
      <p:pic>
        <p:nvPicPr>
          <p:cNvPr id="7" name="前後検索 単発バイト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730824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84676" y="1644777"/>
            <a:ext cx="692429" cy="3485439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LINE追加 札"/>
          <p:cNvSpPr/>
          <p:nvPr/>
        </p:nvSpPr>
        <p:spPr>
          <a:xfrm>
            <a:off x="3473690" y="5377104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LINE追加</a:t>
            </a:r>
            <a:endParaRPr lang="ja-JP" altLang="en-US" sz="1200" dirty="0"/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</a:t>
            </a:r>
            <a:endParaRPr lang="ja-JP" altLang="en-US" sz="1200" dirty="0"/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応募・面接の準備</a:t>
            </a:r>
            <a:endParaRPr lang="ja-JP" altLang="en-US" sz="1200" dirty="0"/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</p:txBody>
      </p:sp>
      <p:sp>
        <p:nvSpPr>
          <p:cNvPr id="18" name="分析 当日"/>
          <p:cNvSpPr/>
          <p:nvPr/>
        </p:nvSpPr>
        <p:spPr>
          <a:xfrm>
            <a:off x="6629400" y="240487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検索前</a:t>
            </a:r>
            <a:endParaRPr lang="ja-JP" altLang="en-US" sz="1200" dirty="0"/>
          </a:p>
        </p:txBody>
      </p:sp>
      <p:sp>
        <p:nvSpPr>
          <p:cNvPr id="19" name="分析 当日 本文"/>
          <p:cNvSpPr/>
          <p:nvPr/>
        </p:nvSpPr>
        <p:spPr>
          <a:xfrm>
            <a:off x="6629400" y="2679191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求人サイトで探し始める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バイト 求人・タウンワークなど</a:t>
            </a:r>
            <a:endParaRPr lang="ja-JP" altLang="en-US" sz="1200" dirty="0"/>
          </a:p>
        </p:txBody>
      </p:sp>
      <p:sp>
        <p:nvSpPr>
          <p:cNvPr id="20" name="分析 1〜7日後"/>
          <p:cNvSpPr/>
          <p:nvPr/>
        </p:nvSpPr>
        <p:spPr>
          <a:xfrm>
            <a:off x="6629400" y="3447288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当日</a:t>
            </a:r>
            <a:endParaRPr lang="ja-JP" altLang="en-US" sz="1200" dirty="0"/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721608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単発のサービスを比べる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タイミー・バイトル・短期バイトなど。履歴書の書き方も</a:t>
            </a:r>
            <a:endParaRPr lang="ja-JP" altLang="en-US" sz="1200" dirty="0"/>
          </a:p>
        </p:txBody>
      </p:sp>
      <p:sp>
        <p:nvSpPr>
          <p:cNvPr id="22" name="分析 7〜15日後"/>
          <p:cNvSpPr/>
          <p:nvPr/>
        </p:nvSpPr>
        <p:spPr>
          <a:xfrm>
            <a:off x="6629400" y="4489704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1〜15日後</a:t>
            </a:r>
            <a:endParaRPr lang="ja-JP" altLang="en-US" sz="1200" dirty="0"/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4764024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給与・働き方を調べる</a:t>
            </a:r>
            <a:endParaRPr lang="ja-JP" altLang="en-US" sz="1200" dirty="0"/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日払い・確定申告・ダブルワークの扶養。面接の服装も</a:t>
            </a:r>
            <a:endParaRPr lang="ja-JP" altLang="en-US" sz="1200" dirty="0"/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求人サービスを比べる → 応募・面接の準備 → 給与・働き方 の順に調べている</a:t>
            </a:r>
            <a:endParaRPr lang="ja-JP" altLang="en-US" sz="1200" dirty="0"/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※LINEヤフー社の前後検索データより。「単発バイト」を検索した方が、前後15日間に検索した言葉（縦軸＝検索した人数）。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47688" y="2240280"/>
            <a:ext cx="893064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</a:t>
            </a:r>
            <a:b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7586472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8525256" y="224028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6647688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7586472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525256" y="3200400"/>
            <a:ext cx="893064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8288" tIns="18288" rIns="18288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</a:t>
            </a:r>
            <a:b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</a:t>
            </a:r>
            <a:b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料金プラン（成果報酬）：月額を抑え、応募1件ごとにお支払い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成果報酬プラン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初期費用は同じ。月額運用費の代わりに、応募1件ごとの成果報酬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2399329"/>
              </p:ext>
            </p:extLst>
          </p:nvPr>
        </p:nvGraphicFramePr>
        <p:xfrm>
          <a:off x="384048" y="1490760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成果報酬</a:t>
                      </a:r>
                      <a:endParaRPr lang="ja-JP" altLang="en-US" sz="14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（応募1件）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10,000円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＋成果報酬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312412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593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8061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※成果報酬の対象＝LINEからの新規応募・再応募（再応募は、勤務希望をLINEで受け付ける場合）。契約期間は6か月〜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60530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0625100"/>
              </p:ext>
            </p:extLst>
          </p:nvPr>
        </p:nvGraphicFramePr>
        <p:xfrm>
          <a:off x="381000" y="1490760"/>
          <a:ext cx="9144000" cy="3149193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1292" y="824484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</a:t>
            </a:r>
            <a:r>
              <a:rPr sz="1400" b="1" dirty="0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1292" y="4876800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31292" y="16764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7012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61004" y="16764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6723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90716" y="16764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6436" y="2225040"/>
            <a:ext cx="2801112" cy="97971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31292" y="3429000"/>
            <a:ext cx="5532120" cy="12649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コンサル・成果報酬のどちらのプランも、成果を見て調整します。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100572" y="3429000"/>
            <a:ext cx="3374136" cy="12649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3189</Words>
  <Application>Microsoft Office PowerPoint</Application>
  <PresentationFormat>A4 210 x 297 mm</PresentationFormat>
  <Paragraphs>475</Paragraphs>
  <Slides>18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18</vt:i4>
      </vt:variant>
    </vt:vector>
  </HeadingPairs>
  <TitlesOfParts>
    <vt:vector size="25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1931</cp:revision>
  <cp:lastPrinted>2022-11-01T11:38:14Z</cp:lastPrinted>
  <dcterms:created xsi:type="dcterms:W3CDTF">2015-09-04T09:21:15Z</dcterms:created>
  <dcterms:modified xsi:type="dcterms:W3CDTF">2026-10-21T04:59:24Z</dcterms:modified>
</cp:coreProperties>
</file>