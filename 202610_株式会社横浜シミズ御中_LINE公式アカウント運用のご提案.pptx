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43"/>
  </p:notesMasterIdLst>
  <p:handoutMasterIdLst>
    <p:handoutMasterId r:id="rId44"/>
  </p:handoutMasterIdLst>
  <p:sldIdLst>
    <p:sldId id="2363" r:id="rId3"/>
    <p:sldId id="2364" r:id="rId49"/>
    <p:sldId id="2365" r:id="rId50"/>
    <p:sldId id="2366" r:id="rId51"/>
    <p:sldId id="2367" r:id="rId52"/>
    <p:sldId id="2368" r:id="rId53"/>
    <p:sldId id="2369" r:id="rId54"/>
    <p:sldId id="2370" r:id="rId55"/>
    <p:sldId id="2371" r:id="rId56"/>
    <p:sldId id="2372" r:id="rId57"/>
    <p:sldId id="2373" r:id="rId58"/>
    <p:sldId id="2374" r:id="rId59"/>
    <p:sldId id="2375" r:id="rId60"/>
    <p:sldId id="2376" r:id="rId61"/>
    <p:sldId id="2377" r:id="rId62"/>
    <p:sldId id="1169" r:id="rId3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31" Type="http://schemas.openxmlformats.org/officeDocument/2006/relationships/slide" Target="slides/slide16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2.xml"/><Relationship Id="rId50" Type="http://schemas.openxmlformats.org/officeDocument/2006/relationships/slide" Target="slides/slide3.xml"/><Relationship Id="rId51" Type="http://schemas.openxmlformats.org/officeDocument/2006/relationships/slide" Target="slides/slide4.xml"/><Relationship Id="rId52" Type="http://schemas.openxmlformats.org/officeDocument/2006/relationships/slide" Target="slides/slide5.xml"/><Relationship Id="rId53" Type="http://schemas.openxmlformats.org/officeDocument/2006/relationships/slide" Target="slides/slide6.xml"/><Relationship Id="rId54" Type="http://schemas.openxmlformats.org/officeDocument/2006/relationships/slide" Target="slides/slide7.xml"/><Relationship Id="rId55" Type="http://schemas.openxmlformats.org/officeDocument/2006/relationships/slide" Target="slides/slide8.xml"/><Relationship Id="rId56" Type="http://schemas.openxmlformats.org/officeDocument/2006/relationships/slide" Target="slides/slide9.xml"/><Relationship Id="rId57" Type="http://schemas.openxmlformats.org/officeDocument/2006/relationships/slide" Target="slides/slide10.xml"/><Relationship Id="rId58" Type="http://schemas.openxmlformats.org/officeDocument/2006/relationships/slide" Target="slides/slide11.xml"/><Relationship Id="rId59" Type="http://schemas.openxmlformats.org/officeDocument/2006/relationships/slide" Target="slides/slide12.xml"/><Relationship Id="rId60" Type="http://schemas.openxmlformats.org/officeDocument/2006/relationships/slide" Target="slides/slide13.xml"/><Relationship Id="rId61" Type="http://schemas.openxmlformats.org/officeDocument/2006/relationships/slide" Target="slides/slide14.xml"/><Relationship Id="rId62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101" Type="http://schemas.openxmlformats.org/officeDocument/2006/relationships/image" Target="../media/ys_shot_1.jpeg"/><Relationship Id="rId102" Type="http://schemas.openxmlformats.org/officeDocument/2006/relationships/image" Target="../media/ys_shot_2.jpeg"/><Relationship Id="rId103" Type="http://schemas.openxmlformats.org/officeDocument/2006/relationships/image" Target="../media/ys_shot_3.jpeg"/><Relationship Id="rId104" Type="http://schemas.openxmlformats.org/officeDocument/2006/relationships/image" Target="../media/ys_shot_4.jpeg"/><Relationship Id="rId105" Type="http://schemas.openxmlformats.org/officeDocument/2006/relationships/image" Target="../media/ys_shot_5.jpeg"/><Relationship Id="rId106" Type="http://schemas.openxmlformats.org/officeDocument/2006/relationships/image" Target="../media/ys_shot_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ys_app1_image4.jpeg"/><Relationship Id="rId3" Type="http://schemas.openxmlformats.org/officeDocument/2006/relationships/image" Target="../media/ys_app1_image5.jpeg"/><Relationship Id="rId4" Type="http://schemas.openxmlformats.org/officeDocument/2006/relationships/image" Target="../media/ys_app1_image6.png"/><Relationship Id="rId5" Type="http://schemas.openxmlformats.org/officeDocument/2006/relationships/image" Target="../media/ys_app1_image7.png"/><Relationship Id="rId6" Type="http://schemas.openxmlformats.org/officeDocument/2006/relationships/image" Target="../media/ys_app1_image8.png"/><Relationship Id="rId7" Type="http://schemas.openxmlformats.org/officeDocument/2006/relationships/image" Target="../media/ys_app1_image9.jpeg"/><Relationship Id="rId8" Type="http://schemas.openxmlformats.org/officeDocument/2006/relationships/image" Target="../media/ys_app1_image10.jpeg"/><Relationship Id="rId9" Type="http://schemas.openxmlformats.org/officeDocument/2006/relationships/image" Target="../media/ys_app1_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image" Target="../media/image2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応募から勤務連絡、次回イベントへの再応募までをLINEでつなぐ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5120640" cy="40690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6928" y="1481328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39496" y="1920240"/>
            <a:ext cx="4901184" cy="3429000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/>
        </p:nvGraphicFramePr>
        <p:xfrm>
          <a:off x="5715000" y="1371600"/>
          <a:ext cx="3758184" cy="2414016"/>
        </p:xfrm>
        <a:graphic>
          <a:graphicData uri="http://schemas.openxmlformats.org/drawingml/2006/table">
            <a:tbl>
              <a:tblPr/>
              <a:tblGrid>
                <a:gridCol w="1600200"/>
                <a:gridCol w="2157984"/>
              </a:tblGrid>
              <a:tr h="310896">
                <a:tc gridSpan="2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いただいている情報・確認したいこと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サイトUU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8,947（集計期間：未確認）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月間の応募数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広告の実施状況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LINE公式アカウントの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現在の使い方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想定予算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月額20万円（ツール費込み）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初期費用は別途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715000" y="3886200"/>
            <a:ext cx="3758184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71600"/>
            <a:ext cx="4700016" cy="3977639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100" dirty="0"/>
          </a:p>
        </p:txBody>
      </p:sp>
      <p:sp>
        <p:nvSpPr>
          <p:cNvPr id="33" name="Rectangle 32"/>
          <p:cNvSpPr/>
          <p:nvPr/>
        </p:nvSpPr>
        <p:spPr>
          <a:xfrm>
            <a:off x="4910328" y="4937760"/>
            <a:ext cx="442569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★ 検索行動のデータです。応募者ご本人の行動と同一ではありません。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15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15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15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15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4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 descr="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 descr="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 descr="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 descr="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 descr="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 descr="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645920"/>
                <a:gridCol w="1828800"/>
                <a:gridCol w="2322576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4937760" cy="384048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※画面は動作のイメージです（他業種の例）。ほかのツールと併用できるかも、事前に確認します。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応募後 約2〜3秒で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3" name="Rounded Rectangle 1052"/>
          <p:cNvSpPr/>
          <p:nvPr/>
        </p:nvSpPr>
        <p:spPr>
          <a:xfrm>
            <a:off x="429768" y="5340096"/>
            <a:ext cx="484632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73152" bIns="36576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横浜シミズでの導線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採用サイトで応募 → 面接予約の完了 → 自動でLINEへ → 友だち追加 → 勤務の案内・次回の募集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応募を済ませた、働く意思のある方を、そのまま友だちにできます。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※採用サイト（応募フォーム）の完了画面に設置できるかは確認事項です。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1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1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同じイベントに勤務する方へ、まとめて案内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勤務の変更・欠席・質問など、1対1のやり取り</a:t>
            </a:r>
            <a:endParaRPr lang="ja-JP" altLang="en-US" sz="11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15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必要な情報をLINEで見返せる。通知で気づける。質問しやすい</a:t>
            </a:r>
            <a:endParaRPr lang="ja-JP" altLang="en-US" sz="11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一斉に送れる。案内の型をつくり、毎回の作成の手間を減らす</a:t>
            </a:r>
            <a:endParaRPr lang="ja-JP" altLang="en-US" sz="11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4937760" cy="2889504"/>
        </p:xfrm>
        <a:graphic>
          <a:graphicData uri="http://schemas.openxmlformats.org/drawingml/2006/table">
            <a:tbl>
              <a:tblPr/>
              <a:tblGrid>
                <a:gridCol w="1143000"/>
                <a:gridCol w="224028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追加後の質問（選択式）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案内・誘導／販売／警備／設営・撤去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追加後の質問・メニューで変更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84264" y="1920240"/>
            <a:ext cx="130302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8078724" y="192024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668426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807872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668426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07872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概算お見積り｜友だち獲得から新規応募・再応募まで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サイトの訪問者数（UU）月8,947をもとに、友だち獲得から新規応募・再応募までの6か月の見込みを算出。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月の応募数と各率は仮に置いた数字。実数をいただければ、置き換えて算出し直す。</a:t>
            </a:r>
          </a:p>
        </p:txBody>
      </p:sp>
      <p:graphicFrame>
        <p:nvGraphicFramePr>
          <p:cNvPr id="4" name="表 3"/>
          <p:cNvGraphicFramePr>
            <a:graphicFrameLocks noGrp="1"/>
          </p:cNvGraphicFramePr>
          <p:nvPr/>
        </p:nvGraphicFramePr>
        <p:xfrm>
          <a:off x="429768" y="1371600"/>
          <a:ext cx="9043416" cy="2779776"/>
        </p:xfrm>
        <a:graphic>
          <a:graphicData uri="http://schemas.openxmlformats.org/drawingml/2006/table">
            <a:tbl>
              <a:tblPr/>
              <a:tblGrid>
                <a:gridCol w="1481328"/>
                <a:gridCol w="2587752"/>
                <a:gridCol w="676656"/>
                <a:gridCol w="676656"/>
                <a:gridCol w="676656"/>
                <a:gridCol w="676656"/>
                <a:gridCol w="676656"/>
                <a:gridCol w="676656"/>
                <a:gridCol w="914400"/>
              </a:tblGrid>
              <a:tr h="3108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計算（仮定）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6か月計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サイトのLINEボタン 45＋離脱防止 91＋サンクスLINE誘導 28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984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累計の友だち数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前月 ＋ 友だち追加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328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492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656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820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984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—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ブロック率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32%から毎月少しずつ上昇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32%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33%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34%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34%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35%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36%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—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配信できる友だち数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累計 ×（1 − ブロック率）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112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221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327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430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531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628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—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配信のクリック数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 月4回＋ステップ配信 4通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107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313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330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407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481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1,849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新規応募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応募前に友だちになった方の応募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再応募（勤務希望）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一度勤務した方の、次回イベントへの応募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応募の合計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新規応募 ＋ 再応募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7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33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29768" y="4279392"/>
            <a:ext cx="2923032" cy="124358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91440" tIns="45720" rIns="54864" bIns="27432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いただいている数値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・サイトUU 8,947（月間）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※月の応募数は、仮にUUの1%（89件）で計算</a:t>
            </a:r>
            <a:endParaRPr lang="ja-JP" altLang="en-US" sz="950" dirty="0"/>
          </a:p>
        </p:txBody>
      </p:sp>
      <p:sp>
        <p:nvSpPr>
          <p:cNvPr id="6" name="Rounded Rectangle 5"/>
          <p:cNvSpPr/>
          <p:nvPr/>
        </p:nvSpPr>
        <p:spPr>
          <a:xfrm>
            <a:off x="3489960" y="4279392"/>
            <a:ext cx="2923032" cy="12435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54864" bIns="27432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仮定（弊社で設定）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・サンクスLINE誘導：応募×遷移80%×追加40%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・LINEボタン・離脱防止：弊社の標準の係数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・応募：配信からのクリックに対する応募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※採用サイトの完了画面に設置できる前提</a:t>
            </a:r>
            <a:endParaRPr lang="ja-JP" altLang="en-US" sz="950" dirty="0"/>
          </a:p>
        </p:txBody>
      </p:sp>
      <p:sp>
        <p:nvSpPr>
          <p:cNvPr id="7" name="Rounded Rectangle 6"/>
          <p:cNvSpPr/>
          <p:nvPr/>
        </p:nvSpPr>
        <p:spPr>
          <a:xfrm>
            <a:off x="6550152" y="4279392"/>
            <a:ext cx="2923032" cy="124358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91440" tIns="45720" rIns="54864" bIns="27432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含めていないもの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・今いる登録スタッフ（LINE公式アカウントは新規開設のため、0人から）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・求人媒体経由の応募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・勤務連絡の効率化（時間の削減）</a:t>
            </a:r>
            <a:endParaRPr lang="ja-JP" altLang="en-US" sz="950" dirty="0"/>
          </a:p>
        </p:txBody>
      </p:sp>
      <p:sp>
        <p:nvSpPr>
          <p:cNvPr id="8" name="Rectangle 7"/>
          <p:cNvSpPr/>
          <p:nvPr/>
        </p:nvSpPr>
        <p:spPr>
          <a:xfrm>
            <a:off x="429768" y="5623560"/>
            <a:ext cx="9043416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※見込みであり、成果を保証するものではない。1か月目＝運用開始の月（構築の完了後）。広告経由と自然流入は区別していない。人数・件数は四捨五入。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運用プラン・費用｜月額215,000円〜（ツール費込み）で運用します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月額はツール費を含めて215,000円〜（税抜）。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初期費用は月額とは別にお見積りします（6か月〜のご契約）。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税抜。施策内容・配信本数・連携範囲により、費用は個別にお見積りします。LINE公式アカウントの利用料は配信数により変わります。勤務前の案内はイベントごとに送るため、企画配信・ステップ配信とは別に運用します（送信の担当はご相談のうえ決定）。</a:t>
            </a:r>
          </a:p>
        </p:txBody>
      </p:sp>
      <p:graphicFrame>
        <p:nvGraphicFramePr>
          <p:cNvPr id="21" name="表 20"/>
          <p:cNvGraphicFramePr>
            <a:graphicFrameLocks noGrp="1"/>
          </p:cNvGraphicFramePr>
          <p:nvPr/>
        </p:nvGraphicFramePr>
        <p:xfrm>
          <a:off x="429768" y="1371600"/>
          <a:ext cx="4709160" cy="2103120"/>
        </p:xfrm>
        <a:graphic>
          <a:graphicData uri="http://schemas.openxmlformats.org/drawingml/2006/table">
            <a:tbl>
              <a:tblPr/>
              <a:tblGrid>
                <a:gridCol w="3246120"/>
                <a:gridCol w="1463040"/>
              </a:tblGrid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金額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DYMの運用費（運用代行・効率改善プラン／企画配信 月4回・ステップ配信 4通）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離脱防止ポップアップ（ツール費）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30,000円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サンクスLINE誘導（ツール費）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30,000円〜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LINE公式アカウント利用料（ライトプラン想定）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5,000円〜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合計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3611880"/>
          <a:ext cx="4709160" cy="2084832"/>
        </p:xfrm>
        <a:graphic>
          <a:graphicData uri="http://schemas.openxmlformats.org/drawingml/2006/table">
            <a:tbl>
              <a:tblPr/>
              <a:tblGrid>
                <a:gridCol w="3246120"/>
                <a:gridCol w="1463040"/>
              </a:tblGrid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初期費用（別途）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金額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LINEの初期構築（あいさつ・リッチメニュー・タグ設計・勤務前の案内の型）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100,000円〜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離脱防止ポップアップの導入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15,000円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サンクスLINE誘導の導入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LINE公式アカウントの開設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30,000円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合計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367528" y="1371600"/>
            <a:ext cx="41056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役割分担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5367528" y="1783080"/>
            <a:ext cx="4105656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DYM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・配信の設計・作成（企画配信 月4回・ステップ配信 4通）／タグ・セグメント配信の設定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・離脱防止ポップアップ・サンクスLINE誘導の導入・設定／勤務前の案内の型づくり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・月次レポート・改善のご提案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5367528" y="3063240"/>
            <a:ext cx="4105656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・勤務・募集の情報のご提供（会場・日時・集合など）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・勤務前の案内の送信（型を使ってイベントごとに）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・個別のチャット対応・サイトと応募フォームへの設置のご協力</a:t>
            </a:r>
            <a:endParaRPr lang="ja-JP" altLang="en-US" sz="1050" dirty="0"/>
          </a:p>
        </p:txBody>
      </p:sp>
      <p:sp>
        <p:nvSpPr>
          <p:cNvPr id="26" name="Rounded Rectangle 25"/>
          <p:cNvSpPr/>
          <p:nvPr/>
        </p:nvSpPr>
        <p:spPr>
          <a:xfrm>
            <a:off x="5367528" y="4297680"/>
            <a:ext cx="4105656" cy="126187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分析・改善（毎月）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見る数字：友だち数・ブロック率・配信の開封とクリック・再応募件数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配信の内容・対象・タイミングを見直し、配信本数・ツールも成果を見て調整します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29768" y="13716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5488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59480" y="13716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5199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89192" y="13716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4912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29768" y="3429000"/>
            <a:ext cx="55321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月額215,000円〜（ツール費込み）で始め、成果を見て調整します。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099048" y="3429000"/>
            <a:ext cx="3374136" cy="20116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141683</TotalTime>
  <Words>5149</Words>
  <Application>Microsoft Office PowerPoint</Application>
  <PresentationFormat>A4 210 x 297 mm</PresentationFormat>
  <Paragraphs>981</Paragraphs>
  <Slides>16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16</vt:i4>
      </vt:variant>
    </vt:vector>
  </HeadingPairs>
  <TitlesOfParts>
    <vt:vector size="2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1925</cp:revision>
  <cp:lastPrinted>2022-11-01T11:38:14Z</cp:lastPrinted>
  <dcterms:created xsi:type="dcterms:W3CDTF">2015-09-04T09:21:15Z</dcterms:created>
  <dcterms:modified xsi:type="dcterms:W3CDTF">2026-10-20T10:04:58Z</dcterms:modified>
</cp:coreProperties>
</file>