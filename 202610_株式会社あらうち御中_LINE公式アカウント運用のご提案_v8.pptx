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8" r:id="rId15"/>
    <p:sldId id="279" r:id="rId16"/>
    <p:sldId id="302" r:id="rId17"/>
    <p:sldId id="269" r:id="rId19"/>
    <p:sldId id="270" r:id="rId20"/>
    <p:sldId id="271" r:id="rId21"/>
    <p:sldId id="272" r:id="rId22"/>
    <p:sldId id="273" r:id="rId23"/>
    <p:sldId id="274" r:id="rId24"/>
    <p:sldId id="275" r:id="rId25"/>
    <p:sldId id="276" r:id="rId26"/>
    <p:sldId id="277"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00" y="1243080"/>
            <a:ext cx="4844520" cy="3354120"/>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00" y="1243080"/>
            <a:ext cx="4844520" cy="3354120"/>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00" y="1243080"/>
            <a:ext cx="4844520" cy="3354120"/>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8" name="PlaceHolder 1"/>
          <p:cNvSpPr>
            <a:spLocks noGrp="1" noRot="1" noChangeAspect="1"/>
          </p:cNvSpPr>
          <p:nvPr>
            <p:ph type="sldImg"/>
          </p:nvPr>
        </p:nvSpPr>
        <p:spPr>
          <a:xfrm>
            <a:off x="981000" y="1243080"/>
            <a:ext cx="4844520" cy="3354120"/>
          </a:xfrm>
          <a:prstGeom prst="rect">
            <a:avLst/>
          </a:prstGeom>
          <a:ln w="0">
            <a:noFill/>
          </a:ln>
        </p:spPr>
      </p:sp>
      <p:sp>
        <p:nvSpPr>
          <p:cNvPr id="110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0" name="PlaceHolder 3"/>
          <p:cNvSpPr>
            <a:spLocks noGrp="1"/>
          </p:cNvSpPr>
          <p:nvPr>
            <p:ph type="sldNum" idx="1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79F29F5-2099-45DD-85A7-18C6DA959F49}"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00" y="1243080"/>
            <a:ext cx="4844520" cy="3354120"/>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00" y="1243080"/>
            <a:ext cx="4844520" cy="3354120"/>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00" y="1243080"/>
            <a:ext cx="4844520" cy="3354120"/>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37</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48</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jpe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jpeg"/><Relationship Id="rId7" Type="http://schemas.openxmlformats.org/officeDocument/2006/relationships/image" Target="../media/image29.png"/><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7.png"/><Relationship Id="rId10" Type="http://schemas.openxmlformats.org/officeDocument/2006/relationships/image" Target="../media/image32.jpeg"/><Relationship Id="rId4" Type="http://schemas.openxmlformats.org/officeDocument/2006/relationships/image" Target="../media/image26.png"/><Relationship Id="rId9"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3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1.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51.svg"/><Relationship Id="rId4" Type="http://schemas.openxmlformats.org/officeDocument/2006/relationships/image" Target="../media/image50.sv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4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8.xml.rels><?xml version="1.0" encoding="UTF-8" standalone="yes"?>
<Relationships xmlns="http://schemas.openxmlformats.org/package/2006/relationships"><Relationship Id="rId8" Type="http://schemas.openxmlformats.org/officeDocument/2006/relationships/image" Target="../media/image73.jpeg"/><Relationship Id="rId3" Type="http://schemas.openxmlformats.org/officeDocument/2006/relationships/image" Target="../media/image68.emf"/><Relationship Id="rId7" Type="http://schemas.openxmlformats.org/officeDocument/2006/relationships/image" Target="../media/image72.jpe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70.jpeg"/><Relationship Id="rId4" Type="http://schemas.openxmlformats.org/officeDocument/2006/relationships/image" Target="../media/image6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762139"/>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746938"/>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429000"/>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現状把握</a:t>
            </a:r>
            <a:endParaRPr lang="en-US" sz="1600" b="0" u="none" strike="noStrike">
              <a:solidFill>
                <a:srgbClr val="000000"/>
              </a:solidFill>
              <a:effectLst/>
              <a:uFillTx/>
              <a:latin typeface="Arial"/>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改善の余地あり。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5180040"/>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595959"/>
                </a:solidFill>
                <a:effectLst/>
                <a:uFillTx/>
                <a:latin typeface="メイリオ"/>
                <a:ea typeface="メイリオ"/>
              </a:rPr>
              <a:t>※いずれも貴社ヒヤリング、外部計測</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　をもとにした想定。（仮）は仮置き。</a:t>
            </a:r>
            <a:endParaRPr lang="en-US" sz="1100" b="0" u="none" strike="noStrike">
              <a:solidFill>
                <a:srgbClr val="000000"/>
              </a:solidFill>
              <a:effectLst/>
              <a:uFillTx/>
              <a:latin typeface="Arial"/>
            </a:endParaRPr>
          </a:p>
        </p:txBody>
      </p:sp>
      <p:sp>
        <p:nvSpPr>
          <p:cNvPr id="44" name="テキスト ボックス 68"/>
          <p:cNvSpPr/>
          <p:nvPr/>
        </p:nvSpPr>
        <p:spPr>
          <a:xfrm>
            <a:off x="178308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5" name="テキスト ボックス 70"/>
          <p:cNvSpPr/>
          <p:nvPr/>
        </p:nvSpPr>
        <p:spPr>
          <a:xfrm>
            <a:off x="178308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広告費用</a:t>
            </a:r>
            <a:endParaRPr lang="en-US" sz="1200" b="0" u="none" strike="noStrike">
              <a:solidFill>
                <a:srgbClr val="FFFFFF"/>
              </a:solidFill>
              <a:effectLst/>
              <a:uFillTx/>
              <a:latin typeface="Arial"/>
            </a:endParaRPr>
          </a:p>
        </p:txBody>
      </p:sp>
      <p:sp>
        <p:nvSpPr>
          <p:cNvPr id="46" name="テキスト ボックス 72"/>
          <p:cNvSpPr/>
          <p:nvPr/>
        </p:nvSpPr>
        <p:spPr>
          <a:xfrm>
            <a:off x="178308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メイン流入元</a:t>
            </a:r>
            <a:endParaRPr lang="en-US" sz="1200" b="0" u="none" strike="noStrike">
              <a:solidFill>
                <a:srgbClr val="FFFFFF"/>
              </a:solidFill>
              <a:effectLst/>
              <a:uFillTx/>
              <a:latin typeface="Arial"/>
            </a:endParaRPr>
          </a:p>
        </p:txBody>
      </p:sp>
      <p:sp>
        <p:nvSpPr>
          <p:cNvPr id="47" name="テキスト ボックス 74"/>
          <p:cNvSpPr/>
          <p:nvPr/>
        </p:nvSpPr>
        <p:spPr>
          <a:xfrm>
            <a:off x="178308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2" name="テキスト ボックス 83"/>
          <p:cNvSpPr/>
          <p:nvPr/>
        </p:nvSpPr>
        <p:spPr>
          <a:xfrm>
            <a:off x="178308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広告比率</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58" name="テキスト ボックス 95"/>
          <p:cNvSpPr/>
          <p:nvPr/>
        </p:nvSpPr>
        <p:spPr>
          <a:xfrm>
            <a:off x="651060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想定コスト</a:t>
            </a:r>
            <a:endParaRPr lang="en-US" sz="1200" b="0" u="none" strike="noStrike">
              <a:solidFill>
                <a:srgbClr val="FFFFFF"/>
              </a:solidFill>
              <a:effectLst/>
              <a:uFillTx/>
              <a:latin typeface="Arial"/>
            </a:endParaRPr>
          </a:p>
        </p:txBody>
      </p:sp>
      <p:sp>
        <p:nvSpPr>
          <p:cNvPr id="59" name="テキスト ボックス 97"/>
          <p:cNvSpPr/>
          <p:nvPr/>
        </p:nvSpPr>
        <p:spPr>
          <a:xfrm>
            <a:off x="651060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月間投稿数</a:t>
            </a:r>
            <a:endParaRPr lang="en-US" sz="1200" b="0" u="none" strike="noStrike">
              <a:solidFill>
                <a:srgbClr val="FFFFFF"/>
              </a:solidFill>
              <a:effectLst/>
              <a:uFillTx/>
              <a:latin typeface="Arial"/>
            </a:endParaRPr>
          </a:p>
        </p:txBody>
      </p:sp>
      <p:sp>
        <p:nvSpPr>
          <p:cNvPr id="60" name="テキスト ボックス 99"/>
          <p:cNvSpPr/>
          <p:nvPr/>
        </p:nvSpPr>
        <p:spPr>
          <a:xfrm>
            <a:off x="651060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ステップ実施</a:t>
            </a:r>
            <a:endParaRPr lang="en-US" sz="1200" b="0" u="none" strike="noStrike">
              <a:solidFill>
                <a:srgbClr val="FFFFFF"/>
              </a:solidFill>
              <a:effectLst/>
              <a:uFillTx/>
              <a:latin typeface="Arial"/>
            </a:endParaRPr>
          </a:p>
        </p:txBody>
      </p:sp>
      <p:sp>
        <p:nvSpPr>
          <p:cNvPr id="61" name="テキスト ボックス 101"/>
          <p:cNvSpPr/>
          <p:nvPr/>
        </p:nvSpPr>
        <p:spPr>
          <a:xfrm>
            <a:off x="651060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アンケート実施</a:t>
            </a:r>
            <a:endParaRPr lang="en-US" sz="1200" b="0" u="none" strike="noStrike">
              <a:solidFill>
                <a:srgbClr val="FFFFFF"/>
              </a:solidFill>
              <a:effectLst/>
              <a:uFillTx/>
              <a:latin typeface="Arial"/>
            </a:endParaRPr>
          </a:p>
        </p:txBody>
      </p:sp>
      <p:sp>
        <p:nvSpPr>
          <p:cNvPr id="62" name="テキスト ボックス 103"/>
          <p:cNvSpPr/>
          <p:nvPr/>
        </p:nvSpPr>
        <p:spPr>
          <a:xfrm>
            <a:off x="651060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ja-JP" sz="1200" b="1" u="none" strike="noStrike">
                <a:solidFill>
                  <a:schemeClr val="dk1"/>
                </a:solidFill>
                <a:effectLst/>
                <a:uFillTx/>
                <a:latin typeface="メイリオ"/>
                <a:ea typeface="メイリオ"/>
              </a:rPr>
              <a:t>（広告なし）</a:t>
            </a:r>
            <a:endParaRPr lang="en-US" sz="1200" b="0" u="none" strike="noStrike">
              <a:solidFill>
                <a:srgbClr val="000000"/>
              </a:solidFill>
              <a:effectLst/>
              <a:uFillTx/>
              <a:latin typeface="Arial"/>
            </a:endParaRPr>
          </a:p>
        </p:txBody>
      </p:sp>
      <p:sp>
        <p:nvSpPr>
          <p:cNvPr id="65" name="テキスト ボックス 109"/>
          <p:cNvSpPr/>
          <p:nvPr/>
        </p:nvSpPr>
        <p:spPr>
          <a:xfrm>
            <a:off x="308160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lumMod val="85000"/>
                    <a:lumOff val="15000"/>
                  </a:schemeClr>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6" name="テキスト ボックス 111"/>
          <p:cNvSpPr/>
          <p:nvPr/>
        </p:nvSpPr>
        <p:spPr>
          <a:xfrm>
            <a:off x="308160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不明（広告なし）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2" name="テキスト ボックス 123"/>
          <p:cNvSpPr/>
          <p:nvPr/>
        </p:nvSpPr>
        <p:spPr>
          <a:xfrm>
            <a:off x="308160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zh-CN"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73" name="テキスト ボックス 168"/>
          <p:cNvSpPr/>
          <p:nvPr/>
        </p:nvSpPr>
        <p:spPr>
          <a:xfrm>
            <a:off x="6510600" y="51663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a:t>
            </a:r>
            <a:r>
              <a:rPr lang="en-US" sz="1200" b="1" u="none" strike="noStrike">
                <a:solidFill>
                  <a:schemeClr val="dk1"/>
                </a:solidFill>
                <a:effectLst/>
                <a:uFillTx/>
                <a:latin typeface="メイリオ"/>
                <a:ea typeface="メイリオ"/>
              </a:rPr>
              <a:t>807</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6" name="テキスト ボックス 174"/>
          <p:cNvSpPr/>
          <p:nvPr/>
        </p:nvSpPr>
        <p:spPr>
          <a:xfrm>
            <a:off x="780912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79" name="テキスト ボックス 180"/>
          <p:cNvSpPr/>
          <p:nvPr/>
        </p:nvSpPr>
        <p:spPr>
          <a:xfrm>
            <a:off x="780912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0" name="テキスト ボックス 182"/>
          <p:cNvSpPr/>
          <p:nvPr/>
        </p:nvSpPr>
        <p:spPr>
          <a:xfrm>
            <a:off x="780912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1" name="テキスト ボックス 184"/>
          <p:cNvSpPr/>
          <p:nvPr/>
        </p:nvSpPr>
        <p:spPr>
          <a:xfrm>
            <a:off x="780912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2" name="テキスト ボックス 186"/>
          <p:cNvSpPr/>
          <p:nvPr/>
        </p:nvSpPr>
        <p:spPr>
          <a:xfrm>
            <a:off x="780912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3" name="テキスト ボックス 188"/>
          <p:cNvSpPr/>
          <p:nvPr/>
        </p:nvSpPr>
        <p:spPr>
          <a:xfrm>
            <a:off x="780912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51663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solidFill>
                <a:effectLst/>
                <a:uFillTx/>
                <a:latin typeface="メイリオ"/>
                <a:ea typeface="メイリオ"/>
              </a:rPr>
              <a:t>友だち追加の入口・追加後の動線ともに、改善の余地があると想定。</a:t>
            </a:r>
            <a:endParaRPr lang="en-US" sz="14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400" b="1" u="none" strike="noStrike">
                <a:solidFill>
                  <a:srgbClr val="FFFFFF"/>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ポータルサイトで物件検索 → サイト閲覧 → LINE追加 → 物件情報の送信（CV）の流れで設計します。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最大の改善ポイントは、LINE友だち追加後に物件情報の送信（CV）へつなげる導線の整備です。</a:t>
            </a:r>
            <a:endParaRPr lang="en-US" sz="1400" b="0" u="none" strike="noStrike">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2" name="最重要課題チップ"/>
          <p:cNvSpPr/>
          <p:nvPr/>
        </p:nvSpPr>
        <p:spPr>
          <a:xfrm>
            <a:off x="5961960" y="1938600"/>
            <a:ext cx="2102760" cy="273960"/>
          </a:xfrm>
          <a:prstGeom prst="rect">
            <a:avLst/>
          </a:prstGeom>
          <a:noFill/>
          <a:ln w="0">
            <a:noFill/>
          </a:ln>
        </p:spPr>
        <p:style>
          <a:lnRef idx="0">
            <a:scrgbClr r="0" g="0" b="0"/>
          </a:lnRef>
          <a:fillRef idx="0">
            <a:scrgbClr r="0" g="0" b="0"/>
          </a:fillRef>
          <a:effectRef idx="0">
            <a:scrgbClr r="0" g="0" b="0"/>
          </a:effectRef>
          <a:fontRef idx="minor"/>
        </p:style>
        <p:txBody>
          <a:bodyPr lIns="36720" tIns="0" rIns="36720" bIns="0" anchor="ctr">
            <a:noAutofit/>
          </a:bodyPr>
          <a:lstStyle/>
          <a:p>
            <a:pPr defTabSz="914400">
              <a:lnSpc>
                <a:spcPct val="100000"/>
              </a:lnSpc>
            </a:pPr>
            <a:r>
              <a:rPr lang="en-US" sz="1300" b="1" u="none" strike="noStrike">
                <a:solidFill>
                  <a:srgbClr val="C00000"/>
                </a:solidFill>
                <a:effectLst/>
                <a:uFillTx/>
                <a:latin typeface="メイリオ"/>
                <a:ea typeface="メイリオ"/>
              </a:rPr>
              <a:t>◀ 最重要課題（仮説）</a:t>
            </a:r>
            <a:endParaRPr lang="en-US" sz="1300" b="0" u="none" strike="noStrike">
              <a:solidFill>
                <a:srgbClr val="000000"/>
              </a:solidFill>
              <a:effectLst/>
              <a:uFillTx/>
              <a:latin typeface="Arial"/>
            </a:endParaRPr>
          </a:p>
        </p:txBody>
      </p: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アカウントの現状</a:t>
            </a:r>
            <a:endParaRPr lang="en-US" sz="1600" b="0" u="none" strike="noStrike">
              <a:solidFill>
                <a:srgbClr val="000000"/>
              </a:solidFill>
              <a:effectLst/>
              <a:uFillTx/>
              <a:latin typeface="Arial"/>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あいさつで物件名・</a:t>
            </a:r>
            <a:r>
              <a:rPr lang="en-US" sz="1400" b="0" u="none" strike="noStrike">
                <a:solidFill>
                  <a:schemeClr val="dk1">
                    <a:lumMod val="65000"/>
                    <a:lumOff val="35000"/>
                  </a:schemeClr>
                </a:solidFill>
                <a:effectLst/>
                <a:uFillTx/>
                <a:latin typeface="メイリオ"/>
                <a:ea typeface="メイリオ"/>
              </a:rPr>
              <a:t>URL</a:t>
            </a:r>
            <a:r>
              <a:rPr lang="ja-JP" sz="1400" b="0" u="none" strike="noStrike">
                <a:solidFill>
                  <a:schemeClr val="dk1">
                    <a:lumMod val="65000"/>
                    <a:lumOff val="35000"/>
                  </a:schemeClr>
                </a:solidFill>
                <a:effectLst/>
                <a:uFillTx/>
                <a:latin typeface="メイリオ"/>
                <a:ea typeface="メイリオ"/>
              </a:rPr>
              <a:t>の送信をお願いする形は、</a:t>
            </a:r>
            <a:r>
              <a:rPr lang="en-US" sz="1400" b="0" u="none" strike="noStrike">
                <a:solidFill>
                  <a:schemeClr val="dk1">
                    <a:lumMod val="65000"/>
                    <a:lumOff val="35000"/>
                  </a:schemeClr>
                </a:solidFill>
                <a:effectLst/>
                <a:uFillTx/>
                <a:latin typeface="メイリオ"/>
                <a:ea typeface="メイリオ"/>
              </a:rPr>
              <a:t>100</a:t>
            </a:r>
            <a:r>
              <a:rPr lang="ja-JP" sz="1400" b="0" u="none" strike="noStrike">
                <a:solidFill>
                  <a:schemeClr val="dk1">
                    <a:lumMod val="65000"/>
                    <a:lumOff val="35000"/>
                  </a:schemeClr>
                </a:solidFill>
                <a:effectLst/>
                <a:uFillTx/>
                <a:latin typeface="メイリオ"/>
                <a:ea typeface="メイリオ"/>
              </a:rPr>
              <a:t>円賃貸の使い方に合っています。</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一方で、</a:t>
            </a:r>
            <a:r>
              <a:rPr lang="ja-JP" sz="1400" b="1" u="none" strike="noStrike">
                <a:solidFill>
                  <a:schemeClr val="dk1">
                    <a:lumMod val="65000"/>
                    <a:lumOff val="35000"/>
                  </a:schemeClr>
                </a:solidFill>
                <a:effectLst/>
                <a:uFillTx/>
                <a:latin typeface="メイリオ"/>
                <a:ea typeface="メイリオ"/>
              </a:rPr>
              <a:t>あいさつに送るメリット・安心材料やボタンがなく、リッチメニューも未設置</a:t>
            </a:r>
            <a:r>
              <a:rPr lang="ja-JP" sz="1400" b="0" u="none" strike="noStrike">
                <a:solidFill>
                  <a:schemeClr val="dk1">
                    <a:lumMod val="65000"/>
                    <a:lumOff val="35000"/>
                  </a:schemeClr>
                </a:solidFill>
                <a:effectLst/>
                <a:uFillTx/>
                <a:latin typeface="メイリオ"/>
                <a:ea typeface="メイリオ"/>
              </a:rPr>
              <a:t>です。</a:t>
            </a:r>
            <a:endParaRPr lang="en-US" sz="14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家賃が上がる今、仲介手数料・初期費用への負担感に応えることを、提案の軸にします。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物件はポータルサイトで自分で探し、問い合わせ先は別に選ぶ流れが主流</a:t>
            </a:r>
            <a:r>
              <a:rPr lang="ja-JP" sz="1400" b="0" u="none" strike="noStrike" dirty="0">
                <a:solidFill>
                  <a:schemeClr val="dk1">
                    <a:lumMod val="65000"/>
                    <a:lumOff val="35000"/>
                  </a:schemeClr>
                </a:solidFill>
                <a:effectLst/>
                <a:uFillTx/>
                <a:latin typeface="メイリオ"/>
                <a:ea typeface="メイリオ"/>
              </a:rPr>
              <a:t>です。</a:t>
            </a:r>
            <a:endParaRPr lang="en-US" sz="1400" b="0" u="none" strike="noStrike" dirty="0">
              <a:solidFill>
                <a:srgbClr val="000000"/>
              </a:solidFill>
              <a:effectLst/>
              <a:uFillTx/>
              <a:latin typeface="Arial"/>
            </a:endParaRPr>
          </a:p>
        </p:txBody>
      </p:sp>
      <p:sp>
        <p:nvSpPr>
          <p:cNvPr id="143"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物件はポータルサイトで探す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0"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問い合わせ先は物件数で選ぶ</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・問い合わせる不動産会社を選ぶ基準は「取り扱っている物件数が多い」が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位（経験者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26.6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47.7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円賃貸は、お客様が見つけた物件の仲介に対応し、仲介手数料を抑えられる（</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円賃貸が対応できる物件に限ります）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5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5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5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5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内見予約のやり取りは、電話よりメール・</a:t>
            </a:r>
            <a:r>
              <a:rPr lang="en-US" sz="1400" b="0" u="none" strike="noStrike" dirty="0">
                <a:solidFill>
                  <a:schemeClr val="dk1">
                    <a:lumMod val="65000"/>
                    <a:lumOff val="35000"/>
                  </a:schemeClr>
                </a:solidFill>
                <a:effectLst/>
                <a:uFillTx/>
                <a:latin typeface="メイリオ"/>
                <a:ea typeface="メイリオ"/>
              </a:rPr>
              <a:t>SMS</a:t>
            </a:r>
            <a:r>
              <a:rPr lang="ja-JP" sz="1400" b="0" u="none" strike="noStrike" dirty="0">
                <a:solidFill>
                  <a:schemeClr val="dk1">
                    <a:lumMod val="65000"/>
                    <a:lumOff val="35000"/>
                  </a:schemeClr>
                </a:solidFill>
                <a:effectLst/>
                <a:uFillTx/>
                <a:latin typeface="メイリオ"/>
                <a:ea typeface="メイリオ"/>
              </a:rPr>
              <a:t>を希望する方が多くいます。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での受け口が欠かせません</a:t>
            </a:r>
            <a:r>
              <a:rPr lang="ja-JP"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158"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9"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電話より、文字でのやり取り</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0"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1"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62"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手続きもオンラインで</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3"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・オンラインで契約したい検討者は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36.4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％、オンラインで重要事項説明を受けたい検討者は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29.6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円賃貸は、テレビ電話・郵送・ネットでのお申込み・ご契約に対応</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4"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5"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a:t>
            </a: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を送るだけの競合も</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6"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12614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公式アカウントの標準機能を中心に運用します。</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プラン①では、必要に応じて</a:t>
            </a:r>
            <a:r>
              <a:rPr lang="en-US" sz="1400" b="0" u="none" strike="noStrike" dirty="0">
                <a:solidFill>
                  <a:srgbClr val="333333"/>
                </a:solidFill>
                <a:effectLst/>
                <a:uFillTx/>
                <a:latin typeface="メイリオ"/>
                <a:ea typeface="メイリオ"/>
              </a:rPr>
              <a:t>API</a:t>
            </a:r>
            <a:r>
              <a:rPr lang="ja-JP" sz="1400" b="0" u="none" strike="noStrike" dirty="0">
                <a:solidFill>
                  <a:srgbClr val="333333"/>
                </a:solidFill>
                <a:effectLst/>
                <a:uFillTx/>
                <a:latin typeface="メイリオ"/>
                <a:ea typeface="メイリオ"/>
              </a:rPr>
              <a:t>連携・開発を別途お見積りでご提案します（基本料金に含まず）。</a:t>
            </a:r>
            <a:endParaRPr lang="en-US" sz="1400" b="0" u="none" strike="noStrike" dirty="0">
              <a:solidFill>
                <a:srgbClr val="000000"/>
              </a:solidFill>
              <a:effectLst/>
              <a:uFillTx/>
              <a:latin typeface="Arial"/>
            </a:endParaRPr>
          </a:p>
          <a:p>
            <a:pPr defTabSz="914400">
              <a:lnSpc>
                <a:spcPct val="100000"/>
              </a:lnSpc>
              <a:spcBef>
                <a:spcPts val="201"/>
              </a:spcBef>
            </a:pPr>
            <a:r>
              <a:rPr lang="en-US" sz="1400" b="0" u="none" strike="noStrike" dirty="0">
                <a:solidFill>
                  <a:srgbClr val="333333"/>
                </a:solidFill>
                <a:effectLst/>
                <a:uFillTx/>
                <a:latin typeface="メイリオ"/>
                <a:ea typeface="メイリオ"/>
              </a:rPr>
              <a:t>※</a:t>
            </a:r>
            <a:r>
              <a:rPr lang="en-US" sz="1400" b="0" u="none" strike="noStrike" dirty="0" err="1">
                <a:solidFill>
                  <a:srgbClr val="333333"/>
                </a:solidFill>
                <a:effectLst/>
                <a:uFillTx/>
                <a:latin typeface="メイリオ"/>
                <a:ea typeface="メイリオ"/>
              </a:rPr>
              <a:t>離脱防止ポップアップは、LINE</a:t>
            </a:r>
            <a:r>
              <a:rPr lang="ja-JP" sz="1400" b="0" u="none" strike="noStrike" dirty="0">
                <a:solidFill>
                  <a:srgbClr val="333333"/>
                </a:solidFill>
                <a:effectLst/>
                <a:uFillTx/>
                <a:latin typeface="メイリオ"/>
                <a:ea typeface="メイリオ"/>
              </a:rPr>
              <a:t>公式アカウントの機能ではなく、サイト側に別途導入する施策です。</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20"/>
            <a:ext cx="9190440" cy="243180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4544640"/>
            <a:ext cx="9190440" cy="191988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&lt;対新規ユーザー領域（プラン①｜総合運用）&gt;</a:t>
            </a:r>
            <a:endParaRPr lang="en-US" sz="1400" b="0" u="none" strike="noStrike">
              <a:solidFill>
                <a:srgbClr val="000000"/>
              </a:solidFill>
              <a:effectLst/>
              <a:uFillTx/>
              <a:latin typeface="Arial"/>
            </a:endParaRPr>
          </a:p>
        </p:txBody>
      </p:sp>
      <p:sp>
        <p:nvSpPr>
          <p:cNvPr id="183" name="テキスト ボックス 8"/>
          <p:cNvSpPr/>
          <p:nvPr/>
        </p:nvSpPr>
        <p:spPr>
          <a:xfrm>
            <a:off x="453240" y="4215240"/>
            <a:ext cx="90525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&lt;参考：CV以降の流れ（個別対応はあらうち様）／当社の計測対象外&gt;</a:t>
            </a:r>
            <a:r>
              <a:rPr lang="en-US" sz="1200" b="0" u="none" strike="noStrike">
                <a:solidFill>
                  <a:schemeClr val="dk1">
                    <a:lumMod val="50000"/>
                    <a:lumOff val="50000"/>
                  </a:schemeClr>
                </a:solidFill>
                <a:effectLst/>
                <a:uFillTx/>
                <a:latin typeface="メイリオ"/>
                <a:ea typeface="メイリオ"/>
              </a:rPr>
              <a:t>　※当社の対応はプラン①の場合</a:t>
            </a:r>
            <a:endParaRPr lang="en-US" sz="1400" b="0" u="none" strike="noStrike">
              <a:solidFill>
                <a:srgbClr val="000000"/>
              </a:solidFill>
              <a:effectLst/>
              <a:uFillTx/>
              <a:latin typeface="Arial"/>
            </a:endParaRPr>
          </a:p>
        </p:txBody>
      </p:sp>
      <p:sp>
        <p:nvSpPr>
          <p:cNvPr id="184" name="正方形/長方形 8"/>
          <p:cNvSpPr/>
          <p:nvPr/>
        </p:nvSpPr>
        <p:spPr>
          <a:xfrm>
            <a:off x="567000" y="1847160"/>
            <a:ext cx="164556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048256"/>
            <a:ext cx="1371240" cy="51206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物件情報の送信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541960"/>
            <a:ext cx="2559960" cy="49356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167200"/>
            <a:ext cx="2559960" cy="29232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035808"/>
            <a:ext cx="1371240" cy="822960"/>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個別対応（参考）</a:t>
            </a:r>
            <a:endParaRPr lang="en-US" sz="1200" b="0" u="none" strike="noStrike" dirty="0">
              <a:solidFill>
                <a:srgbClr val="595959"/>
              </a:solidFill>
              <a:effectLst/>
              <a:uFillTx/>
              <a:latin typeface="Arial"/>
            </a:endParaRPr>
          </a:p>
        </p:txBody>
      </p:sp>
      <p:sp>
        <p:nvSpPr>
          <p:cNvPr id="189" name="正方形/長方形 19"/>
          <p:cNvSpPr/>
          <p:nvPr/>
        </p:nvSpPr>
        <p:spPr>
          <a:xfrm>
            <a:off x="6675120" y="4978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6675120" y="5266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6675120" y="5843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675120" y="5555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6675120" y="6131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4" name="正方形/長方形 24"/>
          <p:cNvSpPr/>
          <p:nvPr/>
        </p:nvSpPr>
        <p:spPr>
          <a:xfrm>
            <a:off x="6675120" y="4690800"/>
            <a:ext cx="2578608" cy="25560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当社の定期対応項目(一部抽出)</a:t>
            </a:r>
            <a:endParaRPr lang="en-US" sz="1200" b="0" u="none" strike="noStrike">
              <a:solidFill>
                <a:srgbClr val="000000"/>
              </a:solidFill>
              <a:effectLst/>
              <a:uFillTx/>
              <a:latin typeface="Arial"/>
            </a:endParaRPr>
          </a:p>
        </p:txBody>
      </p:sp>
      <p:sp>
        <p:nvSpPr>
          <p:cNvPr id="195" name="正方形/長方形 25"/>
          <p:cNvSpPr/>
          <p:nvPr/>
        </p:nvSpPr>
        <p:spPr>
          <a:xfrm>
            <a:off x="3310200" y="1792080"/>
            <a:ext cx="4534920" cy="23223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47160"/>
            <a:ext cx="1517400" cy="27396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1983960"/>
            <a:ext cx="275040" cy="804960"/>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1983960"/>
            <a:ext cx="275040" cy="329760"/>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471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r>
              <a:rPr lang="en-US" sz="1200" b="1" u="none" strike="noStrike">
                <a:solidFill>
                  <a:schemeClr val="lt1"/>
                </a:solidFill>
                <a:effectLst/>
                <a:uFillTx/>
                <a:latin typeface="メイリオ"/>
                <a:ea typeface="メイリオ"/>
              </a:rPr>
              <a:t/>
            </a:r>
            <a:r>
              <a:rPr lang="ja-JP" sz="1200" b="1" u="none" strike="noStrike">
                <a:solidFill>
                  <a:schemeClr val="lt1"/>
                </a:solidFill>
                <a:effectLst/>
                <a:uFillTx/>
                <a:latin typeface="メイリオ"/>
                <a:ea typeface="メイリオ"/>
              </a:rPr>
              <a:t>）</a:t>
            </a:r>
            <a:endParaRPr lang="en-US" sz="1200" b="0" u="none" strike="noStrike">
              <a:solidFill>
                <a:srgbClr val="FFFFFF"/>
              </a:solidFill>
              <a:effectLst/>
              <a:uFillTx/>
              <a:latin typeface="Arial"/>
            </a:endParaRPr>
          </a:p>
        </p:txBody>
      </p:sp>
      <p:sp>
        <p:nvSpPr>
          <p:cNvPr id="200" name="正方形/長方形 31"/>
          <p:cNvSpPr/>
          <p:nvPr/>
        </p:nvSpPr>
        <p:spPr>
          <a:xfrm>
            <a:off x="5193720" y="21718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185560"/>
            <a:ext cx="1517400" cy="23724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441520"/>
            <a:ext cx="1572480" cy="1554120"/>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28209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47004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1456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379476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447288"/>
            <a:ext cx="439560" cy="480312"/>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304000"/>
            <a:ext cx="439560" cy="1298880"/>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304000"/>
            <a:ext cx="439560" cy="974520"/>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304000"/>
            <a:ext cx="439560" cy="649800"/>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304000"/>
            <a:ext cx="439560" cy="325080"/>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304000"/>
            <a:ext cx="439560" cy="720"/>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1979640"/>
            <a:ext cx="439560" cy="324720"/>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19800"/>
            <a:ext cx="145800" cy="2267280"/>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17" name="正方形/長方形 49"/>
          <p:cNvSpPr/>
          <p:nvPr/>
        </p:nvSpPr>
        <p:spPr>
          <a:xfrm>
            <a:off x="530280" y="4636080"/>
            <a:ext cx="5769360" cy="1796400"/>
          </a:xfrm>
          <a:prstGeom prst="rect">
            <a:avLst/>
          </a:prstGeom>
          <a:solidFill>
            <a:srgbClr val="F2F2F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218" name="正方形/長方形 51"/>
          <p:cNvSpPr/>
          <p:nvPr/>
        </p:nvSpPr>
        <p:spPr>
          <a:xfrm>
            <a:off x="640080" y="4690800"/>
            <a:ext cx="959760" cy="25560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defTabSz="914400">
              <a:lnSpc>
                <a:spcPct val="100000"/>
              </a:lnSpc>
            </a:pPr>
            <a:r>
              <a:rPr lang="zh-CN" sz="1200" b="1" u="none" strike="noStrike">
                <a:solidFill>
                  <a:srgbClr val="595959"/>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220" name="正方形/長方形 56"/>
          <p:cNvSpPr/>
          <p:nvPr/>
        </p:nvSpPr>
        <p:spPr>
          <a:xfrm>
            <a:off x="3611880" y="4690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内見・お申込みの案内</a:t>
            </a:r>
            <a:endParaRPr lang="en-US" sz="1200" b="0" u="none" strike="noStrike">
              <a:solidFill>
                <a:srgbClr val="FFFFFF"/>
              </a:solidFill>
              <a:effectLst/>
              <a:uFillTx/>
              <a:latin typeface="Arial"/>
            </a:endParaRPr>
          </a:p>
        </p:txBody>
      </p:sp>
      <p:sp>
        <p:nvSpPr>
          <p:cNvPr id="221" name="正方形/長方形 57"/>
          <p:cNvSpPr/>
          <p:nvPr/>
        </p:nvSpPr>
        <p:spPr>
          <a:xfrm>
            <a:off x="3611880" y="4978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別の物件</a:t>
            </a:r>
            <a:r>
              <a:rPr lang="en-US" sz="1200" b="1" u="none" strike="noStrike">
                <a:solidFill>
                  <a:schemeClr val="lt1"/>
                </a:solidFill>
                <a:effectLst/>
                <a:uFillTx/>
                <a:latin typeface="メイリオ"/>
                <a:ea typeface="メイリオ"/>
              </a:rPr>
              <a:t>URL</a:t>
            </a:r>
            <a:r>
              <a:rPr lang="ja-JP" sz="1200" b="1" u="none" strike="noStrike">
                <a:solidFill>
                  <a:schemeClr val="lt1"/>
                </a:solidFill>
                <a:effectLst/>
                <a:uFillTx/>
                <a:latin typeface="メイリオ"/>
                <a:ea typeface="メイリオ"/>
              </a:rPr>
              <a:t>の受付</a:t>
            </a:r>
            <a:endParaRPr lang="en-US" sz="1200" b="0" u="none" strike="noStrike">
              <a:solidFill>
                <a:srgbClr val="FFFFFF"/>
              </a:solidFill>
              <a:effectLst/>
              <a:uFillTx/>
              <a:latin typeface="Arial"/>
            </a:endParaRPr>
          </a:p>
        </p:txBody>
      </p:sp>
      <p:sp>
        <p:nvSpPr>
          <p:cNvPr id="222" name="正方形/長方形 58"/>
          <p:cNvSpPr/>
          <p:nvPr/>
        </p:nvSpPr>
        <p:spPr>
          <a:xfrm>
            <a:off x="361188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ご成約</a:t>
            </a:r>
            <a:endParaRPr lang="en-US" sz="1200" b="0" u="none" strike="noStrike">
              <a:solidFill>
                <a:srgbClr val="FFFFFF"/>
              </a:solidFill>
              <a:effectLst/>
              <a:uFillTx/>
              <a:latin typeface="Arial"/>
            </a:endParaRPr>
          </a:p>
        </p:txBody>
      </p:sp>
      <p:sp>
        <p:nvSpPr>
          <p:cNvPr id="223" name="正方形/長方形 59"/>
          <p:cNvSpPr/>
          <p:nvPr/>
        </p:nvSpPr>
        <p:spPr>
          <a:xfrm>
            <a:off x="3611880" y="5555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チャットタグで対応状況を管理</a:t>
            </a:r>
            <a:endParaRPr lang="en-US" sz="1200" b="0" u="none" strike="noStrike">
              <a:solidFill>
                <a:srgbClr val="FFFFFF"/>
              </a:solidFill>
              <a:effectLst/>
              <a:uFillTx/>
              <a:latin typeface="Arial"/>
            </a:endParaRPr>
          </a:p>
        </p:txBody>
      </p:sp>
      <p:sp>
        <p:nvSpPr>
          <p:cNvPr id="224" name="正方形/長方形 60"/>
          <p:cNvSpPr/>
          <p:nvPr/>
        </p:nvSpPr>
        <p:spPr>
          <a:xfrm>
            <a:off x="492876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入居までの案内</a:t>
            </a:r>
            <a:endParaRPr lang="en-US" sz="1200" b="0" u="none" strike="noStrike">
              <a:solidFill>
                <a:srgbClr val="FFFFFF"/>
              </a:solidFill>
              <a:effectLst/>
              <a:uFillTx/>
              <a:latin typeface="Arial"/>
            </a:endParaRPr>
          </a:p>
        </p:txBody>
      </p:sp>
      <p:cxnSp>
        <p:nvCxnSpPr>
          <p:cNvPr id="225" name="コネクタ: カギ線 61"/>
          <p:cNvCxnSpPr>
            <a:stCxn id="218" idx="3"/>
            <a:endCxn id="220" idx="1"/>
          </p:cNvCxnSpPr>
          <p:nvPr/>
        </p:nvCxnSpPr>
        <p:spPr>
          <a:xfrm>
            <a:off x="1599840" y="4818600"/>
            <a:ext cx="2012400" cy="360"/>
          </a:xfrm>
          <a:prstGeom prst="bentConnector2">
            <a:avLst/>
          </a:prstGeom>
          <a:ln>
            <a:solidFill>
              <a:srgbClr val="7F7F7F"/>
            </a:solidFill>
            <a:prstDash val="sysDash"/>
            <a:round/>
            <a:tailEnd type="triangle" w="med" len="med"/>
          </a:ln>
        </p:spPr>
      </p:cxnSp>
      <p:cxnSp>
        <p:nvCxnSpPr>
          <p:cNvPr id="226" name="コネクタ: カギ線 62"/>
          <p:cNvCxnSpPr>
            <a:stCxn id="218" idx="3"/>
            <a:endCxn id="221" idx="1"/>
          </p:cNvCxnSpPr>
          <p:nvPr/>
        </p:nvCxnSpPr>
        <p:spPr>
          <a:xfrm>
            <a:off x="1599840" y="4818600"/>
            <a:ext cx="2012400" cy="288360"/>
          </a:xfrm>
          <a:prstGeom prst="bentConnector3">
            <a:avLst>
              <a:gd name="adj1" fmla="val 50008"/>
            </a:avLst>
          </a:prstGeom>
          <a:ln>
            <a:solidFill>
              <a:srgbClr val="7F7F7F"/>
            </a:solidFill>
            <a:prstDash val="sysDash"/>
            <a:round/>
            <a:tailEnd type="triangle" w="med" len="med"/>
          </a:ln>
        </p:spPr>
      </p:cxnSp>
      <p:cxnSp>
        <p:nvCxnSpPr>
          <p:cNvPr id="227" name="コネクタ: カギ線 63"/>
          <p:cNvCxnSpPr>
            <a:stCxn id="218" idx="3"/>
            <a:endCxn id="222" idx="1"/>
          </p:cNvCxnSpPr>
          <p:nvPr/>
        </p:nvCxnSpPr>
        <p:spPr>
          <a:xfrm>
            <a:off x="1599840" y="4818600"/>
            <a:ext cx="2012400" cy="576360"/>
          </a:xfrm>
          <a:prstGeom prst="bentConnector3">
            <a:avLst>
              <a:gd name="adj1" fmla="val 50008"/>
            </a:avLst>
          </a:prstGeom>
          <a:ln>
            <a:solidFill>
              <a:srgbClr val="7F7F7F"/>
            </a:solidFill>
            <a:prstDash val="sysDash"/>
            <a:round/>
            <a:tailEnd type="triangle" w="med" len="med"/>
          </a:ln>
        </p:spPr>
      </p:cxnSp>
      <p:cxnSp>
        <p:nvCxnSpPr>
          <p:cNvPr id="228" name="コネクタ: カギ線 64"/>
          <p:cNvCxnSpPr>
            <a:stCxn id="218" idx="3"/>
            <a:endCxn id="223" idx="1"/>
          </p:cNvCxnSpPr>
          <p:nvPr/>
        </p:nvCxnSpPr>
        <p:spPr>
          <a:xfrm>
            <a:off x="1599840" y="4818600"/>
            <a:ext cx="2012400" cy="864720"/>
          </a:xfrm>
          <a:prstGeom prst="bentConnector3">
            <a:avLst>
              <a:gd name="adj1" fmla="val 50008"/>
            </a:avLst>
          </a:prstGeom>
          <a:ln>
            <a:solidFill>
              <a:srgbClr val="7F7F7F"/>
            </a:solidFill>
            <a:prstDash val="sysDash"/>
            <a:round/>
            <a:tailEnd type="triangle" w="med" len="med"/>
          </a:ln>
        </p:spPr>
      </p:cxnSp>
      <p:sp>
        <p:nvSpPr>
          <p:cNvPr id="229" name="正方形/長方形 65"/>
          <p:cNvSpPr/>
          <p:nvPr/>
        </p:nvSpPr>
        <p:spPr>
          <a:xfrm>
            <a:off x="3611880" y="5843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r>
              <a:rPr lang="en-US" sz="1200" b="1" u="none" strike="noStrike">
                <a:solidFill>
                  <a:schemeClr val="lt1"/>
                </a:solidFill>
                <a:effectLst/>
                <a:uFillTx/>
                <a:latin typeface="メイリオ"/>
                <a:ea typeface="メイリオ"/>
              </a:rPr>
              <a:t/>
            </a: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30" name="正方形/長方形 66"/>
          <p:cNvSpPr/>
          <p:nvPr/>
        </p:nvSpPr>
        <p:spPr>
          <a:xfrm>
            <a:off x="3611880" y="6131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a:t>
            </a:r>
            <a:endParaRPr lang="en-US" sz="1200" b="0" u="none" strike="noStrike">
              <a:solidFill>
                <a:srgbClr val="FFFFFF"/>
              </a:solidFill>
              <a:effectLst/>
              <a:uFillTx/>
              <a:latin typeface="Arial"/>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離脱防止ポップアップとサイトのLINEボタンから友だち追加し、物件情報の送信（CV）につなげます。</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587752"/>
            <a:ext cx="1554480" cy="402336"/>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想定セグメント</a:t>
            </a:r>
            <a:r>
              <a:rPr lang="en-US" sz="1600" b="1" u="none" strike="noStrike">
                <a:solidFill>
                  <a:srgbClr val="002060"/>
                </a:solidFill>
                <a:effectLst/>
                <a:uFillTx/>
                <a:latin typeface="Meiryo"/>
                <a:ea typeface="Meiryo"/>
              </a:rPr>
              <a:t>×</a:t>
            </a:r>
            <a:r>
              <a:rPr lang="ja-JP" sz="1600" b="1" u="none" strike="noStrike">
                <a:solidFill>
                  <a:srgbClr val="002060"/>
                </a:solidFill>
                <a:effectLst/>
                <a:uFillTx/>
                <a:latin typeface="Meiryo"/>
                <a:ea typeface="Meiryo"/>
              </a:rPr>
              <a:t>成果</a:t>
            </a:r>
            <a:endParaRPr lang="en-US" sz="1600" b="0" u="none" strike="noStrike">
              <a:solidFill>
                <a:srgbClr val="000000"/>
              </a:solidFill>
              <a:effectLst/>
              <a:uFillTx/>
              <a:latin typeface="Arial"/>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接点・手段</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268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026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261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02536"/>
            <a:ext cx="1425600" cy="1170432"/>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1" u="none" strike="noStrike" dirty="0">
                <a:solidFill>
                  <a:schemeClr val="dk1">
                    <a:lumMod val="75000"/>
                    <a:lumOff val="25000"/>
                  </a:schemeClr>
                </a:solidFill>
                <a:effectLst/>
                <a:uFillTx/>
                <a:latin typeface="メイリオ"/>
                <a:ea typeface="メイリオ"/>
              </a:rPr>
              <a:t>新規友だち</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（100円賃貸の</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サイトから）</a:t>
            </a:r>
            <a:endParaRPr lang="en-US" sz="1100" b="0" u="none" strike="noStrike" dirty="0">
              <a:solidFill>
                <a:srgbClr val="000000"/>
              </a:solidFill>
              <a:effectLst/>
              <a:uFillTx/>
              <a:latin typeface="Arial"/>
            </a:endParaRPr>
          </a:p>
        </p:txBody>
      </p:sp>
      <p:sp>
        <p:nvSpPr>
          <p:cNvPr id="244" name="正方形/長方形 12"/>
          <p:cNvSpPr/>
          <p:nvPr/>
        </p:nvSpPr>
        <p:spPr>
          <a:xfrm>
            <a:off x="3392640" y="199728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32202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6" name="矢印: 右 14"/>
          <p:cNvSpPr/>
          <p:nvPr/>
        </p:nvSpPr>
        <p:spPr>
          <a:xfrm>
            <a:off x="1031400" y="39214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247" name="直線コネクタ 15"/>
          <p:cNvCxnSpPr/>
          <p:nvPr/>
        </p:nvCxnSpPr>
        <p:spPr>
          <a:xfrm>
            <a:off x="388080" y="3876480"/>
            <a:ext cx="7324920" cy="360"/>
          </a:xfrm>
          <a:prstGeom prst="straightConnector1">
            <a:avLst/>
          </a:prstGeom>
          <a:ln>
            <a:solidFill>
              <a:srgbClr val="4A7EBB"/>
            </a:solidFill>
            <a:prstDash val="sysDash"/>
            <a:round/>
          </a:ln>
        </p:spPr>
      </p:cxnSp>
      <p:sp>
        <p:nvSpPr>
          <p:cNvPr id="248" name="正方形/長方形 16"/>
          <p:cNvSpPr/>
          <p:nvPr/>
        </p:nvSpPr>
        <p:spPr>
          <a:xfrm>
            <a:off x="388080" y="322920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1" u="none" strike="noStrike">
                <a:solidFill>
                  <a:schemeClr val="dk1">
                    <a:lumMod val="65000"/>
                    <a:lumOff val="35000"/>
                  </a:schemeClr>
                </a:solidFill>
                <a:effectLst/>
                <a:uFillTx/>
                <a:latin typeface="メイリオ"/>
                <a:ea typeface="メイリオ"/>
              </a:rPr>
              <a:t>既存友だち（今の友だち 1,241人）</a:t>
            </a:r>
            <a:endParaRPr lang="en-US" sz="1100" b="0" u="none" strike="noStrike">
              <a:solidFill>
                <a:srgbClr val="000000"/>
              </a:solidFill>
              <a:effectLst/>
              <a:uFillTx/>
              <a:latin typeface="Arial"/>
            </a:endParaRPr>
          </a:p>
        </p:txBody>
      </p:sp>
      <p:sp>
        <p:nvSpPr>
          <p:cNvPr id="249" name="正方形/長方形 17"/>
          <p:cNvSpPr/>
          <p:nvPr/>
        </p:nvSpPr>
        <p:spPr>
          <a:xfrm>
            <a:off x="1890360" y="39654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個別チャット</a:t>
            </a:r>
            <a:endParaRPr lang="en-US" sz="1100" b="0" u="none" strike="noStrike">
              <a:solidFill>
                <a:srgbClr val="000000"/>
              </a:solidFill>
              <a:effectLst/>
              <a:uFillTx/>
              <a:latin typeface="Arial"/>
            </a:endParaRPr>
          </a:p>
        </p:txBody>
      </p:sp>
      <p:sp>
        <p:nvSpPr>
          <p:cNvPr id="250" name="正方形/長方形 18"/>
          <p:cNvSpPr/>
          <p:nvPr/>
        </p:nvSpPr>
        <p:spPr>
          <a:xfrm>
            <a:off x="388080" y="39654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問い合わせた方</a:t>
            </a:r>
            <a:endParaRPr lang="en-US" sz="1100" b="0" u="none" strike="noStrike">
              <a:solidFill>
                <a:srgbClr val="000000"/>
              </a:solidFill>
              <a:effectLst/>
              <a:uFillTx/>
              <a:latin typeface="Arial"/>
            </a:endParaRPr>
          </a:p>
        </p:txBody>
      </p:sp>
      <p:sp>
        <p:nvSpPr>
          <p:cNvPr id="251" name="正方形/長方形 19"/>
          <p:cNvSpPr/>
          <p:nvPr/>
        </p:nvSpPr>
        <p:spPr>
          <a:xfrm>
            <a:off x="3392640" y="32292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2" name="正方形/長方形 20"/>
          <p:cNvSpPr/>
          <p:nvPr/>
        </p:nvSpPr>
        <p:spPr>
          <a:xfrm>
            <a:off x="3392640" y="3965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3" name="矢印: 右 21"/>
          <p:cNvSpPr/>
          <p:nvPr/>
        </p:nvSpPr>
        <p:spPr>
          <a:xfrm>
            <a:off x="1031400" y="45684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4" name="矢印: 右 22"/>
          <p:cNvSpPr/>
          <p:nvPr/>
        </p:nvSpPr>
        <p:spPr>
          <a:xfrm>
            <a:off x="1031400" y="57999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5" name="矢印: 右 23"/>
          <p:cNvSpPr/>
          <p:nvPr/>
        </p:nvSpPr>
        <p:spPr>
          <a:xfrm>
            <a:off x="1031400" y="51897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6" name="正方形/長方形 24"/>
          <p:cNvSpPr/>
          <p:nvPr/>
        </p:nvSpPr>
        <p:spPr>
          <a:xfrm>
            <a:off x="1890360" y="45838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自動応答</a:t>
            </a:r>
            <a:endParaRPr lang="en-US" sz="1100" b="0" u="none" strike="noStrike">
              <a:solidFill>
                <a:srgbClr val="000000"/>
              </a:solidFill>
              <a:effectLst/>
              <a:uFillTx/>
              <a:latin typeface="Arial"/>
            </a:endParaRPr>
          </a:p>
        </p:txBody>
      </p:sp>
      <p:sp>
        <p:nvSpPr>
          <p:cNvPr id="257" name="正方形/長方形 25"/>
          <p:cNvSpPr/>
          <p:nvPr/>
        </p:nvSpPr>
        <p:spPr>
          <a:xfrm>
            <a:off x="388080" y="45838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受付時間外の方</a:t>
            </a:r>
            <a:endParaRPr lang="en-US" sz="1100" b="0" u="none" strike="noStrike">
              <a:solidFill>
                <a:srgbClr val="000000"/>
              </a:solidFill>
              <a:effectLst/>
              <a:uFillTx/>
              <a:latin typeface="Arial"/>
            </a:endParaRPr>
          </a:p>
        </p:txBody>
      </p:sp>
      <p:sp>
        <p:nvSpPr>
          <p:cNvPr id="258" name="正方形/長方形 26"/>
          <p:cNvSpPr/>
          <p:nvPr/>
        </p:nvSpPr>
        <p:spPr>
          <a:xfrm>
            <a:off x="388080" y="520272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迷っている方</a:t>
            </a:r>
            <a:endParaRPr lang="en-US" sz="1100" b="0" u="none" strike="noStrike">
              <a:solidFill>
                <a:srgbClr val="000000"/>
              </a:solidFill>
              <a:effectLst/>
              <a:uFillTx/>
              <a:latin typeface="Arial"/>
            </a:endParaRPr>
          </a:p>
        </p:txBody>
      </p:sp>
      <p:sp>
        <p:nvSpPr>
          <p:cNvPr id="259" name="正方形/長方形 27"/>
          <p:cNvSpPr/>
          <p:nvPr/>
        </p:nvSpPr>
        <p:spPr>
          <a:xfrm>
            <a:off x="388080" y="58212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他社で内見済みの方</a:t>
            </a:r>
            <a:endParaRPr lang="en-US" sz="1100" b="0" u="none" strike="noStrike">
              <a:solidFill>
                <a:srgbClr val="000000"/>
              </a:solidFill>
              <a:effectLst/>
              <a:uFillTx/>
              <a:latin typeface="Arial"/>
            </a:endParaRPr>
          </a:p>
        </p:txBody>
      </p:sp>
      <p:sp>
        <p:nvSpPr>
          <p:cNvPr id="260" name="正方形/長方形 28"/>
          <p:cNvSpPr/>
          <p:nvPr/>
        </p:nvSpPr>
        <p:spPr>
          <a:xfrm>
            <a:off x="1890360" y="520272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リッチメニュー</a:t>
            </a:r>
            <a:endParaRPr lang="en-US" sz="1100" b="0" u="none" strike="noStrike">
              <a:solidFill>
                <a:srgbClr val="000000"/>
              </a:solidFill>
              <a:effectLst/>
              <a:uFillTx/>
              <a:latin typeface="Arial"/>
            </a:endParaRPr>
          </a:p>
        </p:txBody>
      </p:sp>
      <p:sp>
        <p:nvSpPr>
          <p:cNvPr id="261" name="正方形/長方形 29"/>
          <p:cNvSpPr/>
          <p:nvPr/>
        </p:nvSpPr>
        <p:spPr>
          <a:xfrm>
            <a:off x="1890360" y="58212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企画配信</a:t>
            </a:r>
            <a:endParaRPr lang="en-US" sz="1100" b="0" u="none" strike="noStrike">
              <a:solidFill>
                <a:srgbClr val="000000"/>
              </a:solidFill>
              <a:effectLst/>
              <a:uFillTx/>
              <a:latin typeface="Arial"/>
            </a:endParaRPr>
          </a:p>
        </p:txBody>
      </p:sp>
      <p:sp>
        <p:nvSpPr>
          <p:cNvPr id="262" name="正方形/長方形 30"/>
          <p:cNvSpPr/>
          <p:nvPr/>
        </p:nvSpPr>
        <p:spPr>
          <a:xfrm>
            <a:off x="3392640" y="45838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3" name="正方形/長方形 31"/>
          <p:cNvSpPr/>
          <p:nvPr/>
        </p:nvSpPr>
        <p:spPr>
          <a:xfrm>
            <a:off x="3392640" y="520272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4" name="正方形/長方形 32"/>
          <p:cNvSpPr/>
          <p:nvPr/>
        </p:nvSpPr>
        <p:spPr>
          <a:xfrm>
            <a:off x="3392640" y="5810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58668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あいさつ</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595959"/>
                </a:solidFill>
                <a:effectLst/>
                <a:uFillTx/>
                <a:latin typeface="メイリオ"/>
                <a:ea typeface="メイリオ"/>
              </a:rPr>
              <a:t>物件の送り方を案内</a:t>
            </a:r>
            <a:endParaRPr lang="en-US" sz="1100" b="0" u="none" strike="noStrike">
              <a:solidFill>
                <a:srgbClr val="000000"/>
              </a:solidFill>
              <a:effectLst/>
              <a:uFillTx/>
              <a:latin typeface="Arial"/>
            </a:endParaRPr>
          </a:p>
        </p:txBody>
      </p:sp>
      <p:sp>
        <p:nvSpPr>
          <p:cNvPr id="266" name="Shape 18"/>
          <p:cNvSpPr/>
          <p:nvPr/>
        </p:nvSpPr>
        <p:spPr>
          <a:xfrm>
            <a:off x="563580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ステップ配信（全</a:t>
            </a:r>
            <a:r>
              <a:rPr lang="en-US" sz="1100" b="0" u="none" strike="noStrike">
                <a:solidFill>
                  <a:srgbClr val="595959"/>
                </a:solidFill>
                <a:effectLst/>
                <a:uFillTx/>
                <a:latin typeface="メイリオ"/>
                <a:ea typeface="メイリオ"/>
              </a:rPr>
              <a:t>10</a:t>
            </a:r>
            <a:r>
              <a:rPr lang="zh-CN" sz="1100" b="0" u="none" strike="noStrike">
                <a:solidFill>
                  <a:srgbClr val="595959"/>
                </a:solidFill>
                <a:effectLst/>
                <a:uFillTx/>
                <a:latin typeface="メイリオ"/>
                <a:ea typeface="メイリオ"/>
              </a:rPr>
              <a:t>通）</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物件URL</a:t>
            </a:r>
            <a:r>
              <a:rPr lang="zh-CN" sz="1100" b="0" u="none" strike="noStrike">
                <a:solidFill>
                  <a:srgbClr val="595959"/>
                </a:solidFill>
                <a:effectLst/>
                <a:uFillTx/>
                <a:latin typeface="メイリオ"/>
                <a:ea typeface="メイリオ"/>
              </a:rPr>
              <a:t>の送信</a:t>
            </a:r>
            <a:endParaRPr lang="en-US" sz="1100" b="0" u="none" strike="noStrike">
              <a:solidFill>
                <a:srgbClr val="000000"/>
              </a:solidFill>
              <a:effectLst/>
              <a:uFillTx/>
              <a:latin typeface="Arial"/>
            </a:endParaRPr>
          </a:p>
        </p:txBody>
      </p:sp>
      <p:cxnSp>
        <p:nvCxnSpPr>
          <p:cNvPr id="267" name="直線矢印コネクタ 35"/>
          <p:cNvCxnSpPr>
            <a:endCxn id="266" idx="1"/>
          </p:cNvCxnSpPr>
          <p:nvPr/>
        </p:nvCxnSpPr>
        <p:spPr>
          <a:xfrm>
            <a:off x="5366880" y="2292120"/>
            <a:ext cx="269280" cy="9360"/>
          </a:xfrm>
          <a:prstGeom prst="straightConnector1">
            <a:avLst/>
          </a:prstGeom>
          <a:ln>
            <a:solidFill>
              <a:srgbClr val="000000"/>
            </a:solidFill>
            <a:prstDash val="sysDot"/>
            <a:round/>
            <a:tailEnd type="triangle" w="med" len="med"/>
          </a:ln>
        </p:spPr>
      </p:cxnSp>
      <p:sp>
        <p:nvSpPr>
          <p:cNvPr id="268" name="Shape 17"/>
          <p:cNvSpPr/>
          <p:nvPr/>
        </p:nvSpPr>
        <p:spPr>
          <a:xfrm>
            <a:off x="358668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キーワード応答</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よくある質問に返信</a:t>
            </a:r>
            <a:endParaRPr lang="en-US" sz="1100" b="0" u="none" strike="noStrike">
              <a:solidFill>
                <a:srgbClr val="000000"/>
              </a:solidFill>
              <a:effectLst/>
              <a:uFillTx/>
              <a:latin typeface="Arial"/>
            </a:endParaRPr>
          </a:p>
        </p:txBody>
      </p:sp>
      <p:sp>
        <p:nvSpPr>
          <p:cNvPr id="269" name="Shape 18"/>
          <p:cNvSpPr/>
          <p:nvPr/>
        </p:nvSpPr>
        <p:spPr>
          <a:xfrm>
            <a:off x="563580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個別チャット</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空室確認・内見の手配</a:t>
            </a:r>
            <a:endParaRPr lang="en-US" sz="11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960" y="2835360"/>
            <a:ext cx="28620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488936" y="1550880"/>
            <a:ext cx="219456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6か月目の問い合わせ</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rgbClr val="FF0000"/>
                </a:solidFill>
                <a:effectLst/>
                <a:uFillTx/>
                <a:latin typeface="メイリオ"/>
                <a:ea typeface="メイリオ"/>
              </a:rPr>
              <a:t>※プラン①の試算（月間）</a:t>
            </a:r>
            <a:endParaRPr lang="en-US" sz="1200" b="0" u="none" strike="noStrike">
              <a:solidFill>
                <a:srgbClr val="000000"/>
              </a:solidFill>
              <a:effectLst/>
              <a:uFillTx/>
              <a:latin typeface="Arial"/>
            </a:endParaRPr>
          </a:p>
        </p:txBody>
      </p:sp>
      <p:sp>
        <p:nvSpPr>
          <p:cNvPr id="272" name="テキスト ボックス 104"/>
          <p:cNvSpPr/>
          <p:nvPr/>
        </p:nvSpPr>
        <p:spPr>
          <a:xfrm>
            <a:off x="7498080" y="2247120"/>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約15件</a:t>
            </a:r>
            <a:endParaRPr lang="en-US" sz="14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新規友だち経由</a:t>
            </a:r>
            <a:endParaRPr lang="en-US" sz="11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（①13件＋②約2件）</a:t>
            </a:r>
            <a:endParaRPr lang="en-US" sz="1100" b="0" u="none" strike="noStrike" dirty="0">
              <a:solidFill>
                <a:srgbClr val="000000"/>
              </a:solidFill>
              <a:effectLst/>
              <a:uFillTx/>
              <a:latin typeface="Arial"/>
            </a:endParaRPr>
          </a:p>
        </p:txBody>
      </p:sp>
      <p:sp>
        <p:nvSpPr>
          <p:cNvPr id="273" name="テキスト ボックス 106"/>
          <p:cNvSpPr/>
          <p:nvPr/>
        </p:nvSpPr>
        <p:spPr>
          <a:xfrm>
            <a:off x="7498080" y="3192120"/>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a:solidFill>
                  <a:srgbClr val="FF0000"/>
                </a:solidFill>
                <a:effectLst/>
                <a:uFillTx/>
                <a:latin typeface="メイリオ"/>
                <a:ea typeface="メイリオ"/>
              </a:rPr>
              <a:t>約18件</a:t>
            </a:r>
            <a:endParaRPr lang="en-US" sz="1400" b="0" u="none" strike="noStrike">
              <a:solidFill>
                <a:srgbClr val="000000"/>
              </a:solidFill>
              <a:effectLst/>
              <a:uFillTx/>
              <a:latin typeface="Arial"/>
            </a:endParaRPr>
          </a:p>
          <a:p>
            <a:pPr algn="r" defTabSz="914400">
              <a:lnSpc>
                <a:spcPct val="100000"/>
              </a:lnSpc>
            </a:pPr>
            <a:r>
              <a:rPr lang="zh-CN" sz="1100" b="0" u="none" strike="noStrike">
                <a:solidFill>
                  <a:srgbClr val="FF0000"/>
                </a:solidFill>
                <a:effectLst/>
                <a:uFillTx/>
                <a:latin typeface="メイリオ"/>
                <a:ea typeface="メイリオ"/>
              </a:rPr>
              <a:t>既存友だち経由</a:t>
            </a:r>
            <a:endParaRPr lang="en-US" sz="1100" b="0" u="none" strike="noStrike">
              <a:solidFill>
                <a:srgbClr val="000000"/>
              </a:solidFill>
              <a:effectLst/>
              <a:uFillTx/>
              <a:latin typeface="Arial"/>
            </a:endParaRPr>
          </a:p>
          <a:p>
            <a:pPr algn="r" defTabSz="914400">
              <a:lnSpc>
                <a:spcPct val="100000"/>
              </a:lnSpc>
            </a:pPr>
            <a:r>
              <a:rPr lang="zh-CN" sz="1100" b="0" u="none" strike="noStrike">
                <a:solidFill>
                  <a:srgbClr val="FF0000"/>
                </a:solidFill>
                <a:effectLst/>
                <a:uFillTx/>
                <a:latin typeface="メイリオ"/>
                <a:ea typeface="メイリオ"/>
              </a:rPr>
              <a:t>（企画配信経由の②）</a:t>
            </a:r>
            <a:endParaRPr lang="en-US" sz="1100" b="0" u="none" strike="noStrike">
              <a:solidFill>
                <a:srgbClr val="000000"/>
              </a:solidFill>
              <a:effectLst/>
              <a:uFillTx/>
              <a:latin typeface="Arial"/>
            </a:endParaRPr>
          </a:p>
        </p:txBody>
      </p:sp>
      <p:sp>
        <p:nvSpPr>
          <p:cNvPr id="274" name="テキスト ボックス 108"/>
          <p:cNvSpPr/>
          <p:nvPr/>
        </p:nvSpPr>
        <p:spPr>
          <a:xfrm>
            <a:off x="7795440" y="3968496"/>
            <a:ext cx="1360800" cy="55778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pPr>
            <a:r>
              <a:rPr lang="zh-CN" sz="1200" b="1" u="none" strike="noStrike">
                <a:solidFill>
                  <a:srgbClr val="7F7F7F"/>
                </a:solidFill>
                <a:effectLst/>
                <a:uFillTx/>
                <a:latin typeface="メイリオ"/>
                <a:ea typeface="メイリオ"/>
              </a:rPr>
              <a:t>計測対象外</a:t>
            </a:r>
            <a:endParaRPr lang="en-US" sz="1200" b="0" u="none" strike="noStrike">
              <a:solidFill>
                <a:srgbClr val="7F7F7F"/>
              </a:solidFill>
              <a:effectLst/>
              <a:uFillTx/>
              <a:latin typeface="Arial"/>
            </a:endParaRPr>
          </a:p>
        </p:txBody>
      </p:sp>
      <p:sp>
        <p:nvSpPr>
          <p:cNvPr id="275" name="テキスト ボックス 110"/>
          <p:cNvSpPr/>
          <p:nvPr/>
        </p:nvSpPr>
        <p:spPr>
          <a:xfrm>
            <a:off x="7781400" y="4592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6" name="テキスト ボックス 112"/>
          <p:cNvSpPr/>
          <p:nvPr/>
        </p:nvSpPr>
        <p:spPr>
          <a:xfrm>
            <a:off x="7781400" y="521712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7" name="テキスト ボックス 114"/>
          <p:cNvSpPr/>
          <p:nvPr/>
        </p:nvSpPr>
        <p:spPr>
          <a:xfrm>
            <a:off x="7781400" y="5823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8" name="Shape 17"/>
          <p:cNvSpPr/>
          <p:nvPr/>
        </p:nvSpPr>
        <p:spPr>
          <a:xfrm>
            <a:off x="358668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企画配信（月4回程度</a:t>
            </a:r>
            <a:r>
              <a:rPr lang="en-US" sz="1100" b="0" u="none" strike="noStrike">
                <a:solidFill>
                  <a:srgbClr val="595959"/>
                </a:solidFill>
                <a:effectLst/>
                <a:uFillTx/>
                <a:latin typeface="メイリオ"/>
                <a:ea typeface="メイリオ"/>
              </a:rPr>
              <a:t/>
            </a:r>
            <a:r>
              <a:rPr lang="ja-JP" sz="1100" b="0" u="none" strike="noStrike">
                <a:solidFill>
                  <a:srgbClr val="595959"/>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送り方・費用など</a:t>
            </a:r>
            <a:endParaRPr lang="en-US" sz="1100" b="0" u="none" strike="noStrike">
              <a:solidFill>
                <a:srgbClr val="000000"/>
              </a:solidFill>
              <a:effectLst/>
              <a:uFillTx/>
              <a:latin typeface="Arial"/>
            </a:endParaRPr>
          </a:p>
        </p:txBody>
      </p:sp>
      <p:sp>
        <p:nvSpPr>
          <p:cNvPr id="279" name="Shape 18"/>
          <p:cNvSpPr/>
          <p:nvPr/>
        </p:nvSpPr>
        <p:spPr>
          <a:xfrm>
            <a:off x="563580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リッチメニュー</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物件の送信（CV）</a:t>
            </a:r>
            <a:endParaRPr lang="en-US" sz="11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960" y="3512880"/>
            <a:ext cx="286200" cy="360"/>
          </a:xfrm>
          <a:prstGeom prst="straightConnector1">
            <a:avLst/>
          </a:prstGeom>
          <a:ln>
            <a:solidFill>
              <a:srgbClr val="000000"/>
            </a:solidFill>
            <a:prstDash val="sysDot"/>
            <a:round/>
            <a:tailEnd type="triangle" w="med" len="med"/>
          </a:ln>
        </p:spPr>
      </p:cxnSp>
      <p:sp>
        <p:nvSpPr>
          <p:cNvPr id="281" name="Shape 17"/>
          <p:cNvSpPr/>
          <p:nvPr/>
        </p:nvSpPr>
        <p:spPr>
          <a:xfrm>
            <a:off x="358668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空室確認・内見の手配</a:t>
            </a:r>
            <a:endParaRPr lang="en-US" sz="1100" b="0" u="none" strike="noStrike">
              <a:solidFill>
                <a:srgbClr val="000000"/>
              </a:solidFill>
              <a:effectLst/>
              <a:uFillTx/>
              <a:latin typeface="Arial"/>
            </a:endParaRPr>
          </a:p>
        </p:txBody>
      </p:sp>
      <p:sp>
        <p:nvSpPr>
          <p:cNvPr id="282" name="Shape 18"/>
          <p:cNvSpPr/>
          <p:nvPr/>
        </p:nvSpPr>
        <p:spPr>
          <a:xfrm>
            <a:off x="563580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お申込み・ご契約の案内</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（あらうち様が対応）</a:t>
            </a:r>
            <a:endParaRPr lang="en-US" sz="1100" b="0" u="none" strike="noStrike">
              <a:solidFill>
                <a:srgbClr val="000000"/>
              </a:solidFill>
              <a:effectLst/>
              <a:uFillTx/>
              <a:latin typeface="Arial"/>
            </a:endParaRPr>
          </a:p>
        </p:txBody>
      </p:sp>
      <p:cxnSp>
        <p:nvCxnSpPr>
          <p:cNvPr id="283" name="直線矢印コネクタ 52"/>
          <p:cNvCxnSpPr>
            <a:stCxn id="281" idx="3"/>
            <a:endCxn id="282" idx="1"/>
          </p:cNvCxnSpPr>
          <p:nvPr/>
        </p:nvCxnSpPr>
        <p:spPr>
          <a:xfrm>
            <a:off x="5349960" y="4253760"/>
            <a:ext cx="286200" cy="360"/>
          </a:xfrm>
          <a:prstGeom prst="straightConnector1">
            <a:avLst/>
          </a:prstGeom>
          <a:ln>
            <a:solidFill>
              <a:srgbClr val="000000"/>
            </a:solidFill>
            <a:prstDash val="sysDot"/>
            <a:round/>
            <a:tailEnd type="triangle" w="med" len="med"/>
          </a:ln>
        </p:spPr>
      </p:cxnSp>
      <p:sp>
        <p:nvSpPr>
          <p:cNvPr id="284" name="Shape 17"/>
          <p:cNvSpPr/>
          <p:nvPr/>
        </p:nvSpPr>
        <p:spPr>
          <a:xfrm>
            <a:off x="358668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受付時間外は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受け付けた旨を自動で返信</a:t>
            </a:r>
            <a:endParaRPr lang="en-US" sz="1100" b="0" u="none" strike="noStrike">
              <a:solidFill>
                <a:srgbClr val="000000"/>
              </a:solidFill>
              <a:effectLst/>
              <a:uFillTx/>
              <a:latin typeface="Arial"/>
            </a:endParaRPr>
          </a:p>
        </p:txBody>
      </p:sp>
      <p:sp>
        <p:nvSpPr>
          <p:cNvPr id="285" name="Shape 18"/>
          <p:cNvSpPr/>
          <p:nvPr/>
        </p:nvSpPr>
        <p:spPr>
          <a:xfrm>
            <a:off x="563580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a:t>
            </a:r>
            <a:r>
              <a:rPr lang="en-US" sz="1100" b="0" u="none" strike="noStrike">
                <a:solidFill>
                  <a:srgbClr val="595959"/>
                </a:solidFill>
                <a:effectLst/>
                <a:uFillTx/>
                <a:latin typeface="メイリオ"/>
                <a:ea typeface="メイリオ"/>
              </a:rPr>
              <a:t>11</a:t>
            </a:r>
            <a:r>
              <a:rPr lang="ja-JP" sz="1100" b="0" u="none" strike="noStrike">
                <a:solidFill>
                  <a:srgbClr val="595959"/>
                </a:solidFill>
                <a:effectLst/>
                <a:uFillTx/>
                <a:latin typeface="メイリオ"/>
                <a:ea typeface="メイリオ"/>
              </a:rPr>
              <a:t>〜</a:t>
            </a:r>
            <a:r>
              <a:rPr lang="en-US" sz="1100" b="0" u="none" strike="noStrike">
                <a:solidFill>
                  <a:srgbClr val="595959"/>
                </a:solidFill>
                <a:effectLst/>
                <a:uFillTx/>
                <a:latin typeface="メイリオ"/>
                <a:ea typeface="メイリオ"/>
              </a:rPr>
              <a:t>18</a:t>
            </a:r>
            <a:r>
              <a:rPr lang="ja-JP" sz="1100" b="0" u="none" strike="noStrike">
                <a:solidFill>
                  <a:srgbClr val="595959"/>
                </a:solidFill>
                <a:effectLst/>
                <a:uFillTx/>
                <a:latin typeface="メイリオ"/>
                <a:ea typeface="メイリオ"/>
              </a:rPr>
              <a:t>時）</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内に担当者が確認</a:t>
            </a:r>
            <a:endParaRPr lang="en-US" sz="1100" b="0" u="none" strike="noStrike">
              <a:solidFill>
                <a:srgbClr val="000000"/>
              </a:solidFill>
              <a:effectLst/>
              <a:uFillTx/>
              <a:latin typeface="Arial"/>
            </a:endParaRPr>
          </a:p>
        </p:txBody>
      </p:sp>
      <p:cxnSp>
        <p:nvCxnSpPr>
          <p:cNvPr id="286" name="直線矢印コネクタ 55"/>
          <p:cNvCxnSpPr>
            <a:stCxn id="284" idx="3"/>
            <a:endCxn id="285" idx="1"/>
          </p:cNvCxnSpPr>
          <p:nvPr/>
        </p:nvCxnSpPr>
        <p:spPr>
          <a:xfrm>
            <a:off x="5349960" y="4860000"/>
            <a:ext cx="286200" cy="360"/>
          </a:xfrm>
          <a:prstGeom prst="straightConnector1">
            <a:avLst/>
          </a:prstGeom>
          <a:ln>
            <a:solidFill>
              <a:srgbClr val="000000"/>
            </a:solidFill>
            <a:prstDash val="sysDot"/>
            <a:round/>
            <a:tailEnd type="triangle" w="med" len="med"/>
          </a:ln>
        </p:spPr>
      </p:cxnSp>
      <p:sp>
        <p:nvSpPr>
          <p:cNvPr id="287" name="Shape 17"/>
          <p:cNvSpPr/>
          <p:nvPr/>
        </p:nvSpPr>
        <p:spPr>
          <a:xfrm>
            <a:off x="358668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100</a:t>
            </a:r>
            <a:r>
              <a:rPr lang="ja-JP" sz="1100" b="0" u="none" strike="noStrike">
                <a:solidFill>
                  <a:srgbClr val="595959"/>
                </a:solidFill>
                <a:effectLst/>
                <a:uFillTx/>
                <a:latin typeface="メイリオ"/>
                <a:ea typeface="メイリオ"/>
              </a:rPr>
              <a:t>円チェッカー</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（名前・電話番号は不要）</a:t>
            </a:r>
            <a:endParaRPr lang="en-US" sz="1100" b="0" u="none" strike="noStrike">
              <a:solidFill>
                <a:srgbClr val="000000"/>
              </a:solidFill>
              <a:effectLst/>
              <a:uFillTx/>
              <a:latin typeface="Arial"/>
            </a:endParaRPr>
          </a:p>
        </p:txBody>
      </p:sp>
      <p:sp>
        <p:nvSpPr>
          <p:cNvPr id="288" name="Shape 18"/>
          <p:cNvSpPr/>
          <p:nvPr/>
        </p:nvSpPr>
        <p:spPr>
          <a:xfrm>
            <a:off x="563580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物件の送信</a:t>
            </a:r>
            <a:endParaRPr lang="en-US" sz="1100" b="0" u="none" strike="noStrike">
              <a:solidFill>
                <a:srgbClr val="000000"/>
              </a:solidFill>
              <a:effectLst/>
              <a:uFillTx/>
              <a:latin typeface="Arial"/>
            </a:endParaRPr>
          </a:p>
        </p:txBody>
      </p:sp>
      <p:cxnSp>
        <p:nvCxnSpPr>
          <p:cNvPr id="289" name="直線矢印コネクタ 58"/>
          <p:cNvCxnSpPr>
            <a:stCxn id="287" idx="3"/>
            <a:endCxn id="288" idx="1"/>
          </p:cNvCxnSpPr>
          <p:nvPr/>
        </p:nvCxnSpPr>
        <p:spPr>
          <a:xfrm>
            <a:off x="5349960" y="5483880"/>
            <a:ext cx="286200" cy="360"/>
          </a:xfrm>
          <a:prstGeom prst="straightConnector1">
            <a:avLst/>
          </a:prstGeom>
          <a:ln>
            <a:solidFill>
              <a:srgbClr val="000000"/>
            </a:solidFill>
            <a:prstDash val="sysDot"/>
            <a:round/>
            <a:tailEnd type="triangle" w="med" len="med"/>
          </a:ln>
        </p:spPr>
      </p:cxnSp>
      <p:sp>
        <p:nvSpPr>
          <p:cNvPr id="290" name="Shape 17"/>
          <p:cNvSpPr/>
          <p:nvPr/>
        </p:nvSpPr>
        <p:spPr>
          <a:xfrm>
            <a:off x="358668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内見済みでも相談可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（お受けできない場合も）</a:t>
            </a:r>
            <a:endParaRPr lang="en-US" sz="1100" b="0" u="none" strike="noStrike">
              <a:solidFill>
                <a:srgbClr val="000000"/>
              </a:solidFill>
              <a:effectLst/>
              <a:uFillTx/>
              <a:latin typeface="Arial"/>
            </a:endParaRPr>
          </a:p>
        </p:txBody>
      </p:sp>
      <p:sp>
        <p:nvSpPr>
          <p:cNvPr id="291" name="Shape 18"/>
          <p:cNvSpPr/>
          <p:nvPr/>
        </p:nvSpPr>
        <p:spPr>
          <a:xfrm>
            <a:off x="563580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物件の送信</a:t>
            </a:r>
            <a:endParaRPr lang="en-US" sz="1100" b="0" u="none" strike="noStrike">
              <a:solidFill>
                <a:srgbClr val="000000"/>
              </a:solidFill>
              <a:effectLst/>
              <a:uFillTx/>
              <a:latin typeface="Arial"/>
            </a:endParaRPr>
          </a:p>
        </p:txBody>
      </p:sp>
      <p:cxnSp>
        <p:nvCxnSpPr>
          <p:cNvPr id="292" name="直線矢印コネクタ 61"/>
          <p:cNvCxnSpPr>
            <a:stCxn id="290" idx="3"/>
            <a:endCxn id="291" idx="1"/>
          </p:cNvCxnSpPr>
          <p:nvPr/>
        </p:nvCxnSpPr>
        <p:spPr>
          <a:xfrm>
            <a:off x="5349960" y="6092280"/>
            <a:ext cx="28620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新しい友だちには物件の送り方を、今の友だちには配信とリッチメニューで問い合わせのきっかけを届けます。</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今の友だちは見込み顧客として活用し、将来的な紹介にもつなげます（紹介による成果は試算に含みません）。</a:t>
            </a:r>
            <a:endParaRPr lang="en-US" sz="1300" b="0" u="none" strike="noStrike" dirty="0">
              <a:solidFill>
                <a:srgbClr val="000000"/>
              </a:solidFill>
              <a:effectLst/>
              <a:uFillTx/>
              <a:latin typeface="Arial"/>
            </a:endParaRPr>
          </a:p>
          <a:p>
            <a:pPr algn="ctr" defTabSz="914400">
              <a:lnSpc>
                <a:spcPct val="100000"/>
              </a:lnSpc>
            </a:pPr>
            <a:r>
              <a:rPr lang="en-US" sz="1100" b="0" u="none" strike="noStrike" dirty="0">
                <a:solidFill>
                  <a:srgbClr val="595959"/>
                </a:solidFill>
                <a:effectLst/>
                <a:uFillTx/>
                <a:latin typeface="メイリオ"/>
                <a:ea typeface="メイリオ"/>
              </a:rPr>
              <a:t>※問い合わせ①＝友だち追加直後、②＝配信経由。新規＝①＋ステップ配信の②、既存＝企画配信の②（クリック数で按分）</a:t>
            </a:r>
            <a:endParaRPr lang="en-US" sz="1100" b="0" u="none" strike="noStrike" dirty="0">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Google Shape;752;p28"/>
          <p:cNvSpPr/>
          <p:nvPr/>
        </p:nvSpPr>
        <p:spPr>
          <a:xfrm>
            <a:off x="549000" y="138240"/>
            <a:ext cx="702720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lumMod val="50000"/>
                    <a:lumOff val="50000"/>
                  </a:schemeClr>
                </a:solidFill>
                <a:effectLst/>
                <a:uFillTx/>
                <a:latin typeface="Meiryo"/>
                <a:ea typeface="Meiryo"/>
              </a:rPr>
              <a:t>LINE</a:t>
            </a:r>
            <a:r>
              <a:rPr lang="ja-JP" sz="1600" b="1" u="none" strike="noStrike">
                <a:solidFill>
                  <a:schemeClr val="dk1">
                    <a:lumMod val="50000"/>
                    <a:lumOff val="50000"/>
                  </a:schemeClr>
                </a:solidFill>
                <a:effectLst/>
                <a:uFillTx/>
                <a:latin typeface="Meiryo"/>
                <a:ea typeface="Meiryo"/>
              </a:rPr>
              <a:t>施策における重要な考え方</a:t>
            </a:r>
            <a:endParaRPr lang="en-US" sz="1600" b="0" u="none" strike="noStrike">
              <a:solidFill>
                <a:srgbClr val="000000"/>
              </a:solidFill>
              <a:effectLst/>
              <a:uFillTx/>
              <a:latin typeface="Arial"/>
            </a:endParaRPr>
          </a:p>
        </p:txBody>
      </p:sp>
      <p:sp>
        <p:nvSpPr>
          <p:cNvPr id="295" name="正方形/長方形 6"/>
          <p:cNvSpPr/>
          <p:nvPr/>
        </p:nvSpPr>
        <p:spPr>
          <a:xfrm>
            <a:off x="275040" y="1728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既存友だち</a:t>
            </a:r>
            <a:r>
              <a:rPr lang="ja-JP" sz="2400" b="0" u="none" strike="noStrike">
                <a:solidFill>
                  <a:schemeClr val="dk1">
                    <a:lumMod val="50000"/>
                    <a:lumOff val="50000"/>
                  </a:schemeClr>
                </a:solidFill>
                <a:effectLst/>
                <a:uFillTx/>
                <a:latin typeface="メイリオ"/>
                <a:ea typeface="メイリオ"/>
              </a:rPr>
              <a:t>のメッセージ配信を拡大＆検証し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課金対効果を向上する</a:t>
            </a:r>
            <a:endParaRPr lang="en-US" sz="2400" b="0" u="none" strike="noStrike">
              <a:solidFill>
                <a:srgbClr val="000000"/>
              </a:solidFill>
              <a:effectLst/>
              <a:uFillTx/>
              <a:latin typeface="Arial"/>
            </a:endParaRPr>
          </a:p>
        </p:txBody>
      </p:sp>
      <p:sp>
        <p:nvSpPr>
          <p:cNvPr id="296" name="正方形/長方形 8"/>
          <p:cNvSpPr/>
          <p:nvPr/>
        </p:nvSpPr>
        <p:spPr>
          <a:xfrm>
            <a:off x="275040" y="3222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新規友だち</a:t>
            </a:r>
            <a:r>
              <a:rPr lang="ja-JP" sz="2400" b="0" u="none" strike="noStrike">
                <a:solidFill>
                  <a:schemeClr val="dk1">
                    <a:lumMod val="50000"/>
                    <a:lumOff val="50000"/>
                  </a:schemeClr>
                </a:solidFill>
                <a:effectLst/>
                <a:uFillTx/>
                <a:latin typeface="メイリオ"/>
                <a:ea typeface="メイリオ"/>
              </a:rPr>
              <a:t>の追加動線を拡大</a:t>
            </a:r>
            <a:r>
              <a:rPr lang="en-US" sz="2400" b="0" u="none" strike="noStrike">
                <a:solidFill>
                  <a:schemeClr val="dk1">
                    <a:lumMod val="50000"/>
                    <a:lumOff val="50000"/>
                  </a:schemeClr>
                </a:solidFill>
                <a:effectLst/>
                <a:uFillTx/>
                <a:latin typeface="メイリオ"/>
                <a:ea typeface="メイリオ"/>
              </a:rPr>
              <a:t>&amp;</a:t>
            </a:r>
            <a:r>
              <a:rPr lang="ja-JP" sz="2400" b="0" u="none" strike="noStrike">
                <a:solidFill>
                  <a:schemeClr val="dk1">
                    <a:lumMod val="50000"/>
                    <a:lumOff val="50000"/>
                  </a:schemeClr>
                </a:solidFill>
                <a:effectLst/>
                <a:uFillTx/>
                <a:latin typeface="メイリオ"/>
                <a:ea typeface="メイリオ"/>
              </a:rPr>
              <a:t>整備し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見込みの高いユーザーのリードを獲得する</a:t>
            </a:r>
            <a:endParaRPr lang="en-US" sz="2400" b="0" u="none" strike="noStrike">
              <a:solidFill>
                <a:srgbClr val="000000"/>
              </a:solidFill>
              <a:effectLst/>
              <a:uFillTx/>
              <a:latin typeface="Arial"/>
            </a:endParaRPr>
          </a:p>
        </p:txBody>
      </p:sp>
      <p:cxnSp>
        <p:nvCxnSpPr>
          <p:cNvPr id="297" name="直線コネクタ 9"/>
          <p:cNvCxnSpPr/>
          <p:nvPr/>
        </p:nvCxnSpPr>
        <p:spPr>
          <a:xfrm>
            <a:off x="1519560" y="1451880"/>
            <a:ext cx="6579360" cy="360"/>
          </a:xfrm>
          <a:prstGeom prst="straightConnector1">
            <a:avLst/>
          </a:prstGeom>
          <a:ln w="12700">
            <a:solidFill>
              <a:srgbClr val="4A7EBB"/>
            </a:solidFill>
            <a:round/>
          </a:ln>
        </p:spPr>
      </p:cxnSp>
      <p:sp>
        <p:nvSpPr>
          <p:cNvPr id="298" name="楕円 12"/>
          <p:cNvSpPr/>
          <p:nvPr/>
        </p:nvSpPr>
        <p:spPr>
          <a:xfrm>
            <a:off x="3756240" y="750960"/>
            <a:ext cx="2021760" cy="589320"/>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299" name="正方形/長方形 13"/>
          <p:cNvSpPr/>
          <p:nvPr/>
        </p:nvSpPr>
        <p:spPr>
          <a:xfrm>
            <a:off x="1502640" y="842760"/>
            <a:ext cx="664776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アカウント効果を</a:t>
            </a:r>
            <a:r>
              <a:rPr lang="ja-JP" sz="2400" b="1" u="none" strike="noStrike">
                <a:solidFill>
                  <a:schemeClr val="dk1"/>
                </a:solidFill>
                <a:effectLst/>
                <a:uFillTx/>
                <a:latin typeface="メイリオ"/>
                <a:ea typeface="メイリオ"/>
              </a:rPr>
              <a:t>最大化する</a:t>
            </a:r>
            <a:r>
              <a:rPr lang="ja-JP" sz="2400" b="0" u="none" strike="noStrike">
                <a:solidFill>
                  <a:schemeClr val="dk1">
                    <a:lumMod val="50000"/>
                    <a:lumOff val="50000"/>
                  </a:schemeClr>
                </a:solidFill>
                <a:effectLst/>
                <a:uFillTx/>
                <a:latin typeface="メイリオ"/>
                <a:ea typeface="メイリオ"/>
              </a:rPr>
              <a:t>ためには・・・？</a:t>
            </a:r>
            <a:endParaRPr lang="en-US" sz="2400" b="0" u="none" strike="noStrike">
              <a:solidFill>
                <a:srgbClr val="000000"/>
              </a:solidFill>
              <a:effectLst/>
              <a:uFillTx/>
              <a:latin typeface="Arial"/>
            </a:endParaRPr>
          </a:p>
        </p:txBody>
      </p:sp>
      <p:sp>
        <p:nvSpPr>
          <p:cNvPr id="300" name="下矢印 1"/>
          <p:cNvSpPr/>
          <p:nvPr/>
        </p:nvSpPr>
        <p:spPr>
          <a:xfrm>
            <a:off x="3379680" y="4715640"/>
            <a:ext cx="3195720" cy="421200"/>
          </a:xfrm>
          <a:prstGeom prst="downArrow">
            <a:avLst>
              <a:gd name="adj1" fmla="val 50000"/>
              <a:gd name="adj2" fmla="val 52758"/>
            </a:avLst>
          </a:prstGeom>
          <a:solidFill>
            <a:schemeClr val="bg1">
              <a:lumMod val="95000"/>
            </a:schemeClr>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301" name="正方形/長方形 18"/>
          <p:cNvSpPr/>
          <p:nvPr/>
        </p:nvSpPr>
        <p:spPr>
          <a:xfrm>
            <a:off x="275040" y="5239800"/>
            <a:ext cx="9355680" cy="86688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dk1">
                    <a:lumMod val="50000"/>
                    <a:lumOff val="50000"/>
                  </a:schemeClr>
                </a:solidFill>
                <a:effectLst/>
                <a:uFillTx/>
                <a:latin typeface="メイリオ"/>
                <a:ea typeface="メイリオ"/>
              </a:rPr>
              <a:t>WEB</a:t>
            </a:r>
            <a:r>
              <a:rPr lang="ja-JP" sz="2400" b="0" u="none" strike="noStrike">
                <a:solidFill>
                  <a:schemeClr val="dk1">
                    <a:lumMod val="50000"/>
                    <a:lumOff val="50000"/>
                  </a:schemeClr>
                </a:solidFill>
                <a:effectLst/>
                <a:uFillTx/>
                <a:latin typeface="メイリオ"/>
                <a:ea typeface="メイリオ"/>
              </a:rPr>
              <a:t>サイト上情報と連携させ、配信効果を数値化する</a:t>
            </a:r>
            <a:endParaRPr lang="en-US" sz="2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8308" tIns="82296" rIns="178308" bIns="127101" anchor="t">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最重要課題は、友だち追加後の問い合わせ獲得（⑤リード有効化）です。あいさつ・リッチメニュー・ステップ配信で「物件を送る」まで案内します。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ボタンで新しい友だちを増やす課題です。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・サイトの月間訪問者（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UU</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でお問い合わせ」ボタンだけ</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・友だちは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％）よりメール・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％）を希望する方が多い</a:t>
            </a:r>
            <a:r>
              <a:rPr lang="en-US" sz="1400" b="0" u="none" strike="noStrike">
                <a:solidFill>
                  <a:srgbClr val="333333"/>
                </a:solidFill>
                <a:effectLst/>
                <a:uFillTx/>
                <a:latin typeface="メイリオ" panose="020B0604030504040204" pitchFamily="50" charset="-128"/>
                <a:ea typeface="メイリオ" panose="020B0604030504040204" pitchFamily="50" charset="-128"/>
              </a:rPr>
              <a:t/>
            </a:r>
            <a:r>
              <a:rPr lang="ja-JP" sz="1400" b="0" u="none" strike="noStrike">
                <a:solidFill>
                  <a:srgbClr val="333333"/>
                </a:solidFill>
                <a:effectLst/>
                <a:uFillTx/>
                <a:latin typeface="メイリオ" panose="020B0604030504040204" pitchFamily="50" charset="-128"/>
                <a:ea typeface="メイリオ" panose="020B0604030504040204" pitchFamily="50" charset="-128"/>
              </a:rPr>
              <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1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1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20" name="二等辺三角形 24"/>
          <p:cNvSpPr/>
          <p:nvPr/>
        </p:nvSpPr>
        <p:spPr>
          <a:xfrm rot="10800000">
            <a:off x="1014120" y="2766960"/>
            <a:ext cx="7964640" cy="486360"/>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21" name="正方形/長方形 25"/>
          <p:cNvSpPr/>
          <p:nvPr/>
        </p:nvSpPr>
        <p:spPr>
          <a:xfrm>
            <a:off x="502920" y="777240"/>
            <a:ext cx="2788920" cy="365760"/>
          </a:xfrm>
          <a:prstGeom prst="rect">
            <a:avLst/>
          </a:prstGeom>
          <a:solidFill>
            <a:schemeClr val="tx2">
              <a:lumMod val="75000"/>
            </a:schemeClr>
          </a:solid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0" rIns="90000" bIns="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プロモーション目的</a:t>
            </a:r>
            <a:endParaRPr lang="en-US" sz="1800" b="0" u="none" strike="noStrike">
              <a:solidFill>
                <a:srgbClr val="FFFFFF"/>
              </a:solidFill>
              <a:effectLst/>
              <a:uFillTx/>
              <a:latin typeface="Arial"/>
            </a:endParaRPr>
          </a:p>
        </p:txBody>
      </p:sp>
      <p:sp>
        <p:nvSpPr>
          <p:cNvPr id="322" name="正方形/長方形 26"/>
          <p:cNvSpPr/>
          <p:nvPr/>
        </p:nvSpPr>
        <p:spPr>
          <a:xfrm>
            <a:off x="502920" y="1143000"/>
            <a:ext cx="2788920" cy="1572768"/>
          </a:xfrm>
          <a:prstGeom prst="rect">
            <a:avLst/>
          </a:prstGeom>
          <a:no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1" u="none" strike="noStrike" dirty="0">
                <a:solidFill>
                  <a:srgbClr val="FF3300"/>
                </a:solidFill>
                <a:effectLst/>
                <a:uFillTx/>
                <a:latin typeface="メイリオ"/>
                <a:ea typeface="メイリオ"/>
              </a:rPr>
              <a:t>LINE経由の</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物件問い合わせを</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増やす</a:t>
            </a:r>
            <a:endParaRPr lang="en-US" sz="2400" b="0" u="none" strike="noStrike" dirty="0">
              <a:solidFill>
                <a:srgbClr val="000000"/>
              </a:solidFill>
              <a:effectLst/>
              <a:uFillTx/>
              <a:latin typeface="Arial"/>
            </a:endParaRPr>
          </a:p>
        </p:txBody>
      </p:sp>
      <p:sp>
        <p:nvSpPr>
          <p:cNvPr id="323" name="テキスト ボックス 4"/>
          <p:cNvSpPr/>
          <p:nvPr/>
        </p:nvSpPr>
        <p:spPr>
          <a:xfrm>
            <a:off x="3893040" y="2803320"/>
            <a:ext cx="223668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lt1"/>
                </a:solidFill>
                <a:effectLst/>
                <a:uFillTx/>
                <a:latin typeface="メイリオ"/>
                <a:ea typeface="メイリオ"/>
              </a:rPr>
              <a:t>弊社からのご提案</a:t>
            </a:r>
            <a:endParaRPr lang="en-US" sz="1800" b="0" u="none" strike="noStrike">
              <a:solidFill>
                <a:srgbClr val="000000"/>
              </a:solidFill>
              <a:effectLst/>
              <a:uFillTx/>
              <a:latin typeface="Arial"/>
            </a:endParaRPr>
          </a:p>
        </p:txBody>
      </p:sp>
      <p:sp>
        <p:nvSpPr>
          <p:cNvPr id="324" name="正方形/長方形 32"/>
          <p:cNvSpPr/>
          <p:nvPr/>
        </p:nvSpPr>
        <p:spPr>
          <a:xfrm>
            <a:off x="3383280" y="777240"/>
            <a:ext cx="6016752" cy="365760"/>
          </a:xfrm>
          <a:prstGeom prst="rect">
            <a:avLst/>
          </a:prstGeom>
          <a:solidFill>
            <a:schemeClr val="tx2"/>
          </a:solidFill>
          <a:ln>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配信目標</a:t>
            </a:r>
            <a:r>
              <a:rPr lang="ja-JP" sz="1200" b="0" u="none" strike="noStrike">
                <a:solidFill>
                  <a:schemeClr val="lt1"/>
                </a:solidFill>
                <a:effectLst/>
                <a:uFillTx/>
                <a:latin typeface="メイリオ"/>
                <a:ea typeface="メイリオ"/>
              </a:rPr>
              <a:t>　問い合わせ＝LINE上での物件情報の送信（CV）</a:t>
            </a:r>
            <a:endParaRPr lang="en-US" sz="1800" b="0" u="none" strike="noStrike">
              <a:solidFill>
                <a:srgbClr val="FFFFFF"/>
              </a:solidFill>
              <a:effectLst/>
              <a:uFillTx/>
              <a:latin typeface="Arial"/>
            </a:endParaRPr>
          </a:p>
        </p:txBody>
      </p:sp>
      <p:sp>
        <p:nvSpPr>
          <p:cNvPr id="325" name="正方形/長方形 33"/>
          <p:cNvSpPr/>
          <p:nvPr/>
        </p:nvSpPr>
        <p:spPr>
          <a:xfrm>
            <a:off x="3383280" y="1143000"/>
            <a:ext cx="6016752" cy="1572768"/>
          </a:xfrm>
          <a:prstGeom prst="rect">
            <a:avLst/>
          </a:prstGeom>
          <a:noFill/>
          <a:ln>
            <a:solidFill>
              <a:srgbClr val="4F81BD"/>
            </a:solidFill>
            <a:round/>
          </a:ln>
        </p:spPr>
        <p:style>
          <a:lnRef idx="2">
            <a:schemeClr val="accent1">
              <a:shade val="50000"/>
            </a:schemeClr>
          </a:lnRef>
          <a:fillRef idx="1">
            <a:schemeClr val="accent1"/>
          </a:fillRef>
          <a:effectRef idx="0">
            <a:schemeClr val="accent1"/>
          </a:effectRef>
          <a:fontRef idx="minor"/>
        </p:style>
        <p:txBody>
          <a:bodyPr lIns="91440" tIns="27432" rIns="91440" bIns="36576" anchor="t">
            <a:noAutofit/>
          </a:bodyPr>
          <a:lstStyle/>
          <a:p>
            <a:pPr algn="ctr" defTabSz="914400">
              <a:lnSpc>
                <a:spcPct val="100000"/>
              </a:lnSpc>
            </a:pPr>
            <a:r>
              <a:rPr lang="en-US" sz="1600" b="1" u="none" strike="noStrike" dirty="0">
                <a:solidFill>
                  <a:srgbClr val="FF3300"/>
                </a:solidFill>
                <a:effectLst/>
                <a:uFillTx/>
                <a:latin typeface="メイリオ"/>
                <a:ea typeface="メイリオ"/>
              </a:rPr>
              <a:t>1か月目 月10件 → 6か月目 月33件（プラン①の試算）</a:t>
            </a:r>
            <a:endParaRPr lang="en-US" sz="1600" b="0" u="none" strike="noStrike" dirty="0">
              <a:solidFill>
                <a:srgbClr val="000000"/>
              </a:solidFill>
              <a:effectLst/>
              <a:uFillTx/>
              <a:latin typeface="Arial"/>
            </a:endParaRPr>
          </a:p>
        </p:txBody>
      </p:sp>
      <p:sp>
        <p:nvSpPr>
          <p:cNvPr id="326" name="正方形/長方形 1"/>
          <p:cNvSpPr/>
          <p:nvPr/>
        </p:nvSpPr>
        <p:spPr>
          <a:xfrm>
            <a:off x="1574640" y="372708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離脱防止ポップアップ</a:t>
            </a:r>
            <a:endParaRPr lang="en-US" sz="1400" b="0" u="none" strike="noStrike" dirty="0">
              <a:solidFill>
                <a:srgbClr val="000000"/>
              </a:solidFill>
              <a:effectLst/>
              <a:uFillTx/>
              <a:latin typeface="Arial"/>
            </a:endParaRPr>
          </a:p>
        </p:txBody>
      </p:sp>
      <p:sp>
        <p:nvSpPr>
          <p:cNvPr id="327" name="正方形/長方形 4"/>
          <p:cNvSpPr/>
          <p:nvPr/>
        </p:nvSpPr>
        <p:spPr>
          <a:xfrm>
            <a:off x="1574640" y="438552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あいさつメッセージの改善</a:t>
            </a:r>
            <a:endParaRPr lang="en-US" sz="1400" b="0" u="none" strike="noStrike" dirty="0">
              <a:solidFill>
                <a:srgbClr val="000000"/>
              </a:solidFill>
              <a:effectLst/>
              <a:uFillTx/>
              <a:latin typeface="Arial"/>
            </a:endParaRPr>
          </a:p>
        </p:txBody>
      </p:sp>
      <p:sp>
        <p:nvSpPr>
          <p:cNvPr id="328" name="正方形/長方形 5"/>
          <p:cNvSpPr/>
          <p:nvPr/>
        </p:nvSpPr>
        <p:spPr>
          <a:xfrm>
            <a:off x="1574640" y="504396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リッチメニュー・自動応答</a:t>
            </a:r>
            <a:endParaRPr lang="en-US" sz="1400" b="0" u="none" strike="noStrike">
              <a:solidFill>
                <a:srgbClr val="000000"/>
              </a:solidFill>
              <a:effectLst/>
              <a:uFillTx/>
              <a:latin typeface="Arial"/>
            </a:endParaRPr>
          </a:p>
        </p:txBody>
      </p:sp>
      <p:sp>
        <p:nvSpPr>
          <p:cNvPr id="329" name="正方形/長方形 6"/>
          <p:cNvSpPr/>
          <p:nvPr/>
        </p:nvSpPr>
        <p:spPr>
          <a:xfrm>
            <a:off x="1574640" y="570204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ステップ配信・企画配信</a:t>
            </a:r>
            <a:endParaRPr lang="en-US" sz="1400" b="0" u="none" strike="noStrike">
              <a:solidFill>
                <a:srgbClr val="000000"/>
              </a:solidFill>
              <a:effectLst/>
              <a:uFillTx/>
              <a:latin typeface="Arial"/>
            </a:endParaRPr>
          </a:p>
        </p:txBody>
      </p:sp>
      <p:sp>
        <p:nvSpPr>
          <p:cNvPr id="330" name="正方形/長方形 7"/>
          <p:cNvSpPr/>
          <p:nvPr/>
        </p:nvSpPr>
        <p:spPr>
          <a:xfrm>
            <a:off x="4336920" y="372708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dirty="0">
                <a:solidFill>
                  <a:schemeClr val="dk2">
                    <a:lumMod val="75000"/>
                  </a:schemeClr>
                </a:solidFill>
                <a:effectLst/>
                <a:uFillTx/>
                <a:latin typeface="メイリオ"/>
                <a:ea typeface="メイリオ"/>
              </a:rPr>
              <a:t>サイトを離れようとした方に、</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での物件の問い合わせを案内（</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公式アカウントとは別に導入）</a:t>
            </a:r>
            <a:endParaRPr lang="en-US" sz="1400" b="0" u="none" strike="noStrike" dirty="0">
              <a:solidFill>
                <a:srgbClr val="000000"/>
              </a:solidFill>
              <a:effectLst/>
              <a:uFillTx/>
              <a:latin typeface="Arial"/>
            </a:endParaRPr>
          </a:p>
        </p:txBody>
      </p:sp>
      <p:sp>
        <p:nvSpPr>
          <p:cNvPr id="331" name="正方形/長方形 8"/>
          <p:cNvSpPr/>
          <p:nvPr/>
        </p:nvSpPr>
        <p:spPr>
          <a:xfrm>
            <a:off x="4336920" y="438552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物件の送り方に加え、営業電話なし・確認だけでも可などの送る理由と、ボタンを追加</a:t>
            </a:r>
            <a:endParaRPr lang="en-US" sz="1400" b="0" u="none" strike="noStrike">
              <a:solidFill>
                <a:srgbClr val="000000"/>
              </a:solidFill>
              <a:effectLst/>
              <a:uFillTx/>
              <a:latin typeface="Arial"/>
            </a:endParaRPr>
          </a:p>
        </p:txBody>
      </p:sp>
      <p:sp>
        <p:nvSpPr>
          <p:cNvPr id="332" name="正方形/長方形 9"/>
          <p:cNvSpPr/>
          <p:nvPr/>
        </p:nvSpPr>
        <p:spPr>
          <a:xfrm>
            <a:off x="4336920" y="504396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「物件を送る」「</a:t>
            </a:r>
            <a:r>
              <a:rPr lang="en-US" sz="1400" b="0" u="none" strike="noStrike">
                <a:solidFill>
                  <a:schemeClr val="dk2">
                    <a:lumMod val="75000"/>
                  </a:schemeClr>
                </a:solidFill>
                <a:effectLst/>
                <a:uFillTx/>
                <a:latin typeface="メイリオ"/>
                <a:ea typeface="メイリオ"/>
              </a:rPr>
              <a:t>100</a:t>
            </a:r>
            <a:r>
              <a:rPr lang="ja-JP" sz="1400" b="0" u="none" strike="noStrike">
                <a:solidFill>
                  <a:schemeClr val="dk2">
                    <a:lumMod val="75000"/>
                  </a:schemeClr>
                </a:solidFill>
                <a:effectLst/>
                <a:uFillTx/>
                <a:latin typeface="メイリオ"/>
                <a:ea typeface="メイリオ"/>
              </a:rPr>
              <a:t>円になるか確認」などを常に表示。よくある質問はキーワード応答で即時に回答</a:t>
            </a:r>
            <a:endParaRPr lang="en-US" sz="1400" b="0" u="none" strike="noStrike">
              <a:solidFill>
                <a:srgbClr val="000000"/>
              </a:solidFill>
              <a:effectLst/>
              <a:uFillTx/>
              <a:latin typeface="Arial"/>
            </a:endParaRPr>
          </a:p>
        </p:txBody>
      </p:sp>
      <p:sp>
        <p:nvSpPr>
          <p:cNvPr id="333" name="正方形/長方形 10"/>
          <p:cNvSpPr/>
          <p:nvPr/>
        </p:nvSpPr>
        <p:spPr>
          <a:xfrm>
            <a:off x="4336920" y="570204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友だち追加から</a:t>
            </a:r>
            <a:r>
              <a:rPr lang="en-US" sz="1400" b="0" u="none" strike="noStrike">
                <a:solidFill>
                  <a:schemeClr val="dk2">
                    <a:lumMod val="75000"/>
                  </a:schemeClr>
                </a:solidFill>
                <a:effectLst/>
                <a:uFillTx/>
                <a:latin typeface="メイリオ"/>
                <a:ea typeface="メイリオ"/>
              </a:rPr>
              <a:t>14</a:t>
            </a:r>
            <a:r>
              <a:rPr lang="ja-JP" sz="1400" b="0" u="none" strike="noStrike">
                <a:solidFill>
                  <a:schemeClr val="dk2">
                    <a:lumMod val="75000"/>
                  </a:schemeClr>
                </a:solidFill>
                <a:effectLst/>
                <a:uFillTx/>
                <a:latin typeface="メイリオ"/>
                <a:ea typeface="メイリオ"/>
              </a:rPr>
              <a:t>日間・全</a:t>
            </a:r>
            <a:r>
              <a:rPr lang="en-US" sz="1400" b="0" u="none" strike="noStrike">
                <a:solidFill>
                  <a:schemeClr val="dk2">
                    <a:lumMod val="75000"/>
                  </a:schemeClr>
                </a:solidFill>
                <a:effectLst/>
                <a:uFillTx/>
                <a:latin typeface="メイリオ"/>
                <a:ea typeface="メイリオ"/>
              </a:rPr>
              <a:t>10</a:t>
            </a:r>
            <a:r>
              <a:rPr lang="ja-JP" sz="1400" b="0" u="none" strike="noStrike">
                <a:solidFill>
                  <a:schemeClr val="dk2">
                    <a:lumMod val="75000"/>
                  </a:schemeClr>
                </a:solidFill>
                <a:effectLst/>
                <a:uFillTx/>
                <a:latin typeface="メイリオ"/>
                <a:ea typeface="メイリオ"/>
              </a:rPr>
              <a:t>通で物件の送信を後押しし、月4回程度</a:t>
            </a:r>
            <a:r>
              <a:rPr lang="en-US" sz="1400" b="0" u="none" strike="noStrike">
                <a:solidFill>
                  <a:schemeClr val="dk2">
                    <a:lumMod val="75000"/>
                  </a:schemeClr>
                </a:solidFill>
                <a:effectLst/>
                <a:uFillTx/>
                <a:latin typeface="メイリオ"/>
                <a:ea typeface="メイリオ"/>
              </a:rPr>
              <a:t/>
            </a:r>
            <a:r>
              <a:rPr lang="ja-JP" sz="1400" b="0" u="none" strike="noStrike">
                <a:solidFill>
                  <a:schemeClr val="dk2">
                    <a:lumMod val="75000"/>
                  </a:schemeClr>
                </a:solidFill>
                <a:effectLst/>
                <a:uFillTx/>
                <a:latin typeface="メイリオ"/>
                <a:ea typeface="メイリオ"/>
              </a:rPr>
              <a:t>の企画配信で今の友だちにも案内</a:t>
            </a:r>
            <a:endParaRPr lang="en-US" sz="1400" b="0" u="none" strike="noStrike">
              <a:solidFill>
                <a:srgbClr val="000000"/>
              </a:solidFill>
              <a:effectLst/>
              <a:uFillTx/>
              <a:latin typeface="Arial"/>
            </a:endParaRPr>
          </a:p>
        </p:txBody>
      </p:sp>
      <p:sp>
        <p:nvSpPr>
          <p:cNvPr id="334" name="正方形/長方形 11"/>
          <p:cNvSpPr/>
          <p:nvPr/>
        </p:nvSpPr>
        <p:spPr>
          <a:xfrm>
            <a:off x="595440" y="372708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a:solidFill>
                  <a:schemeClr val="dk2">
                    <a:lumMod val="75000"/>
                  </a:schemeClr>
                </a:solidFill>
                <a:effectLst/>
                <a:uFillTx/>
                <a:latin typeface="メイリオ"/>
                <a:ea typeface="メイリオ"/>
              </a:rPr>
              <a:t>入口・</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2">
                    <a:lumMod val="75000"/>
                  </a:schemeClr>
                </a:solidFill>
                <a:effectLst/>
                <a:uFillTx/>
                <a:latin typeface="メイリオ"/>
                <a:ea typeface="メイリオ"/>
              </a:rPr>
              <a:t>あいさつ</a:t>
            </a:r>
            <a:endParaRPr lang="en-US" sz="1400" b="0" u="none" strike="noStrike">
              <a:solidFill>
                <a:srgbClr val="000000"/>
              </a:solidFill>
              <a:effectLst/>
              <a:uFillTx/>
              <a:latin typeface="Arial"/>
            </a:endParaRPr>
          </a:p>
        </p:txBody>
      </p:sp>
      <p:sp>
        <p:nvSpPr>
          <p:cNvPr id="335" name="正方形/長方形 12"/>
          <p:cNvSpPr/>
          <p:nvPr/>
        </p:nvSpPr>
        <p:spPr>
          <a:xfrm>
            <a:off x="595440" y="504396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dirty="0">
                <a:solidFill>
                  <a:schemeClr val="dk2">
                    <a:lumMod val="75000"/>
                  </a:schemeClr>
                </a:solidFill>
                <a:effectLst/>
                <a:uFillTx/>
                <a:latin typeface="メイリオ"/>
                <a:ea typeface="メイリオ"/>
              </a:rPr>
              <a:t>追加後の</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2">
                    <a:lumMod val="75000"/>
                  </a:schemeClr>
                </a:solidFill>
                <a:effectLst/>
                <a:uFillTx/>
                <a:latin typeface="メイリオ"/>
                <a:ea typeface="メイリオ"/>
              </a:rPr>
              <a:t>案内</a:t>
            </a:r>
            <a:endParaRPr lang="en-US" sz="1400" b="0" u="none" strike="noStrike" dirty="0">
              <a:solidFill>
                <a:srgbClr val="000000"/>
              </a:solidFill>
              <a:effectLst/>
              <a:uFillTx/>
              <a:latin typeface="Arial"/>
            </a:endParaRPr>
          </a:p>
        </p:txBody>
      </p:sp>
      <p:sp>
        <p:nvSpPr>
          <p:cNvPr id="336" name="正方形/長方形 16"/>
          <p:cNvSpPr/>
          <p:nvPr/>
        </p:nvSpPr>
        <p:spPr>
          <a:xfrm>
            <a:off x="504000" y="3316680"/>
            <a:ext cx="8897760" cy="365760"/>
          </a:xfrm>
          <a:prstGeom prst="rect">
            <a:avLst/>
          </a:prstGeom>
          <a:solidFill>
            <a:schemeClr val="accent1">
              <a:lumMod val="20000"/>
              <a:lumOff val="80000"/>
            </a:schemeClr>
          </a:solidFill>
          <a:ln>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accent1">
                    <a:lumMod val="75000"/>
                  </a:schemeClr>
                </a:solidFill>
                <a:effectLst/>
                <a:uFillTx/>
                <a:latin typeface="メイリオ"/>
                <a:ea typeface="メイリオ"/>
              </a:rPr>
              <a:t>手法</a:t>
            </a:r>
            <a:r>
              <a:rPr lang="ja-JP" sz="1300" b="0" u="none" strike="noStrike">
                <a:solidFill>
                  <a:schemeClr val="accent1">
                    <a:lumMod val="75000"/>
                  </a:schemeClr>
                </a:solidFill>
                <a:effectLst/>
                <a:uFillTx/>
                <a:latin typeface="メイリオ"/>
                <a:ea typeface="メイリオ"/>
              </a:rPr>
              <a:t>　（プラン①｜総合運用の場合）</a:t>
            </a:r>
            <a:endParaRPr lang="en-US" sz="1800" b="0" u="none" strike="noStrike">
              <a:solidFill>
                <a:srgbClr val="000000"/>
              </a:solidFill>
              <a:effectLst/>
              <a:uFillTx/>
              <a:latin typeface="Arial"/>
            </a:endParaRPr>
          </a:p>
        </p:txBody>
      </p:sp>
      <p:grpSp>
        <p:nvGrpSpPr>
          <p:cNvPr id="2" name="グラフ（問い合わせ件数・月間の試算）"/>
          <p:cNvGrpSpPr/>
          <p:nvPr/>
        </p:nvGrpSpPr>
        <p:grpSpPr>
          <a:xfrm>
            <a:off x="3438144" y="1508760"/>
            <a:ext cx="5916168" cy="1197864"/>
            <a:chOff x="3438144" y="1508760"/>
            <a:chExt cx="5916168" cy="1197864"/>
          </a:xfrm>
        </p:grpSpPr>
        <p:sp>
          <p:nvSpPr>
            <p:cNvPr id="337" name="グラフ_基準線"/>
            <p:cNvSpPr/>
            <p:nvPr/>
          </p:nvSpPr>
          <p:spPr>
            <a:xfrm>
              <a:off x="3822191" y="2304288"/>
              <a:ext cx="3840479" cy="10972"/>
            </a:xfrm>
            <a:prstGeom prst="rect">
              <a:avLst/>
            </a:prstGeom>
            <a:solidFill>
              <a:srgbClr val="A6A6A6"/>
            </a:solidFill>
            <a:ln>
              <a:noFill/>
            </a:ln>
          </p:spPr>
          <p:txBody>
            <a:bodyPr wrap="square" lIns="73152" tIns="36576" rIns="73152" bIns="36576" rtlCol="0" anchor="ctr">
              <a:noAutofit/>
            </a:bodyPr>
            <a:lstStyle/>
            <a:p>
              <a:pPr algn="l">
                <a:buNone/>
              </a:pPr>
              <a:endParaRPr lang="ja-JP" altLang="en-US" sz="1200" dirty="0"/>
            </a:p>
          </p:txBody>
        </p:sp>
        <p:sp>
          <p:nvSpPr>
            <p:cNvPr id="338" name="グラフ_問い合わせ①_1か月目"/>
            <p:cNvSpPr/>
            <p:nvPr/>
          </p:nvSpPr>
          <p:spPr>
            <a:xfrm>
              <a:off x="3941063" y="2228088"/>
              <a:ext cx="402336" cy="7620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39" name="グラフ_問い合わせ②_1か月目"/>
            <p:cNvSpPr/>
            <p:nvPr/>
          </p:nvSpPr>
          <p:spPr>
            <a:xfrm>
              <a:off x="3941063" y="2151887"/>
              <a:ext cx="402336" cy="7620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40" name="グラフ_合計_1か月目"/>
            <p:cNvSpPr/>
            <p:nvPr/>
          </p:nvSpPr>
          <p:spPr>
            <a:xfrm>
              <a:off x="3822191" y="1859280"/>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10件</a:t>
              </a:r>
              <a:endParaRPr lang="ja-JP" altLang="en-US" sz="1400" dirty="0"/>
            </a:p>
          </p:txBody>
        </p:sp>
        <p:sp>
          <p:nvSpPr>
            <p:cNvPr id="341" name="グラフ_月_1"/>
            <p:cNvSpPr/>
            <p:nvPr/>
          </p:nvSpPr>
          <p:spPr>
            <a:xfrm>
              <a:off x="382219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1か月目</a:t>
              </a:r>
              <a:endParaRPr lang="ja-JP" altLang="en-US" sz="1000" dirty="0"/>
            </a:p>
          </p:txBody>
        </p:sp>
        <p:sp>
          <p:nvSpPr>
            <p:cNvPr id="342" name="グラフ_内訳_1か月目"/>
            <p:cNvSpPr/>
            <p:nvPr/>
          </p:nvSpPr>
          <p:spPr>
            <a:xfrm>
              <a:off x="3822191"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5＋5</a:t>
              </a:r>
              <a:endParaRPr lang="ja-JP" altLang="en-US" sz="1000" dirty="0"/>
            </a:p>
          </p:txBody>
        </p:sp>
        <p:sp>
          <p:nvSpPr>
            <p:cNvPr id="343" name="グラフ_問い合わせ①_2か月目"/>
            <p:cNvSpPr/>
            <p:nvPr/>
          </p:nvSpPr>
          <p:spPr>
            <a:xfrm>
              <a:off x="4581144" y="2197608"/>
              <a:ext cx="402336" cy="10668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4" name="グラフ_問い合わせ②_2か月目"/>
            <p:cNvSpPr/>
            <p:nvPr/>
          </p:nvSpPr>
          <p:spPr>
            <a:xfrm>
              <a:off x="4581144" y="2090928"/>
              <a:ext cx="402336" cy="10668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45" name="グラフ_合計_2か月目"/>
            <p:cNvSpPr/>
            <p:nvPr/>
          </p:nvSpPr>
          <p:spPr>
            <a:xfrm>
              <a:off x="4462272" y="179832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14</a:t>
              </a:r>
              <a:endParaRPr lang="ja-JP" altLang="en-US" sz="1200" dirty="0"/>
            </a:p>
          </p:txBody>
        </p:sp>
        <p:sp>
          <p:nvSpPr>
            <p:cNvPr id="346" name="グラフ_月_2"/>
            <p:cNvSpPr/>
            <p:nvPr/>
          </p:nvSpPr>
          <p:spPr>
            <a:xfrm>
              <a:off x="446227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2か月目</a:t>
              </a:r>
              <a:endParaRPr lang="ja-JP" altLang="en-US" sz="1000" dirty="0"/>
            </a:p>
          </p:txBody>
        </p:sp>
        <p:sp>
          <p:nvSpPr>
            <p:cNvPr id="347" name="グラフ_内訳_2か月目"/>
            <p:cNvSpPr/>
            <p:nvPr/>
          </p:nvSpPr>
          <p:spPr>
            <a:xfrm>
              <a:off x="446227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7＋7</a:t>
              </a:r>
              <a:endParaRPr lang="ja-JP" altLang="en-US" sz="1000" dirty="0"/>
            </a:p>
          </p:txBody>
        </p:sp>
        <p:sp>
          <p:nvSpPr>
            <p:cNvPr id="348" name="グラフ_問い合わせ①_3か月目"/>
            <p:cNvSpPr/>
            <p:nvPr/>
          </p:nvSpPr>
          <p:spPr>
            <a:xfrm>
              <a:off x="5221224" y="2182368"/>
              <a:ext cx="402336" cy="12192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9" name="グラフ_問い合わせ②_3か月目"/>
            <p:cNvSpPr/>
            <p:nvPr/>
          </p:nvSpPr>
          <p:spPr>
            <a:xfrm>
              <a:off x="5221224" y="2029968"/>
              <a:ext cx="402336" cy="15240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50" name="グラフ_合計_3か月目"/>
            <p:cNvSpPr/>
            <p:nvPr/>
          </p:nvSpPr>
          <p:spPr>
            <a:xfrm>
              <a:off x="5102352" y="173736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18</a:t>
              </a:r>
              <a:endParaRPr lang="ja-JP" altLang="en-US" sz="1200" dirty="0"/>
            </a:p>
          </p:txBody>
        </p:sp>
        <p:sp>
          <p:nvSpPr>
            <p:cNvPr id="351" name="グラフ_月_3"/>
            <p:cNvSpPr/>
            <p:nvPr/>
          </p:nvSpPr>
          <p:spPr>
            <a:xfrm>
              <a:off x="510235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3か月目</a:t>
              </a:r>
              <a:endParaRPr lang="ja-JP" altLang="en-US" sz="1000" dirty="0"/>
            </a:p>
          </p:txBody>
        </p:sp>
        <p:sp>
          <p:nvSpPr>
            <p:cNvPr id="352" name="グラフ_内訳_3か月目"/>
            <p:cNvSpPr/>
            <p:nvPr/>
          </p:nvSpPr>
          <p:spPr>
            <a:xfrm>
              <a:off x="510235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8＋10</a:t>
              </a:r>
              <a:endParaRPr lang="ja-JP" altLang="en-US" sz="1000" dirty="0"/>
            </a:p>
          </p:txBody>
        </p:sp>
        <p:sp>
          <p:nvSpPr>
            <p:cNvPr id="353" name="グラフ_問い合わせ①_4か月目"/>
            <p:cNvSpPr/>
            <p:nvPr/>
          </p:nvSpPr>
          <p:spPr>
            <a:xfrm>
              <a:off x="5861303" y="2151888"/>
              <a:ext cx="402336" cy="15240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4" name="グラフ_問い合わせ②_4か月目"/>
            <p:cNvSpPr/>
            <p:nvPr/>
          </p:nvSpPr>
          <p:spPr>
            <a:xfrm>
              <a:off x="5861303" y="1953768"/>
              <a:ext cx="402336" cy="19812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55" name="グラフ_合計_4か月目"/>
            <p:cNvSpPr/>
            <p:nvPr/>
          </p:nvSpPr>
          <p:spPr>
            <a:xfrm>
              <a:off x="5742431" y="166116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23</a:t>
              </a:r>
              <a:endParaRPr lang="ja-JP" altLang="en-US" sz="1200" dirty="0"/>
            </a:p>
          </p:txBody>
        </p:sp>
        <p:sp>
          <p:nvSpPr>
            <p:cNvPr id="356" name="グラフ_月_4"/>
            <p:cNvSpPr/>
            <p:nvPr/>
          </p:nvSpPr>
          <p:spPr>
            <a:xfrm>
              <a:off x="574243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4か月目</a:t>
              </a:r>
              <a:endParaRPr lang="ja-JP" altLang="en-US" sz="1000" dirty="0"/>
            </a:p>
          </p:txBody>
        </p:sp>
        <p:sp>
          <p:nvSpPr>
            <p:cNvPr id="357" name="グラフ_内訳_4か月目"/>
            <p:cNvSpPr/>
            <p:nvPr/>
          </p:nvSpPr>
          <p:spPr>
            <a:xfrm>
              <a:off x="5742431"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10＋13</a:t>
              </a:r>
              <a:endParaRPr lang="ja-JP" altLang="en-US" sz="1000" dirty="0"/>
            </a:p>
          </p:txBody>
        </p:sp>
        <p:sp>
          <p:nvSpPr>
            <p:cNvPr id="358" name="グラフ_問い合わせ①_5か月目"/>
            <p:cNvSpPr/>
            <p:nvPr/>
          </p:nvSpPr>
          <p:spPr>
            <a:xfrm>
              <a:off x="6501383" y="2121408"/>
              <a:ext cx="402336" cy="18288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9" name="グラフ_問い合わせ②_5か月目"/>
            <p:cNvSpPr/>
            <p:nvPr/>
          </p:nvSpPr>
          <p:spPr>
            <a:xfrm>
              <a:off x="6501383" y="1877568"/>
              <a:ext cx="402336" cy="24384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60" name="グラフ_合計_5か月目"/>
            <p:cNvSpPr/>
            <p:nvPr/>
          </p:nvSpPr>
          <p:spPr>
            <a:xfrm>
              <a:off x="6382512" y="1584959"/>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28</a:t>
              </a:r>
              <a:endParaRPr lang="ja-JP" altLang="en-US" sz="1200" dirty="0"/>
            </a:p>
          </p:txBody>
        </p:sp>
        <p:sp>
          <p:nvSpPr>
            <p:cNvPr id="361" name="グラフ_月_5"/>
            <p:cNvSpPr/>
            <p:nvPr/>
          </p:nvSpPr>
          <p:spPr>
            <a:xfrm>
              <a:off x="638251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5か月目</a:t>
              </a:r>
              <a:endParaRPr lang="ja-JP" altLang="en-US" sz="1000" dirty="0"/>
            </a:p>
          </p:txBody>
        </p:sp>
        <p:sp>
          <p:nvSpPr>
            <p:cNvPr id="362" name="グラフ_内訳_5か月目"/>
            <p:cNvSpPr/>
            <p:nvPr/>
          </p:nvSpPr>
          <p:spPr>
            <a:xfrm>
              <a:off x="638251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12＋16</a:t>
              </a:r>
              <a:endParaRPr lang="ja-JP" altLang="en-US" sz="1000" dirty="0"/>
            </a:p>
          </p:txBody>
        </p:sp>
        <p:sp>
          <p:nvSpPr>
            <p:cNvPr id="363" name="グラフ_問い合わせ①_6か月目"/>
            <p:cNvSpPr/>
            <p:nvPr/>
          </p:nvSpPr>
          <p:spPr>
            <a:xfrm>
              <a:off x="7141464" y="2106168"/>
              <a:ext cx="402336" cy="19812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64" name="グラフ_問い合わせ②_6か月目"/>
            <p:cNvSpPr/>
            <p:nvPr/>
          </p:nvSpPr>
          <p:spPr>
            <a:xfrm>
              <a:off x="7141464" y="1801368"/>
              <a:ext cx="402336" cy="30480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65" name="グラフ_合計_6か月目"/>
            <p:cNvSpPr/>
            <p:nvPr/>
          </p:nvSpPr>
          <p:spPr>
            <a:xfrm>
              <a:off x="7022592" y="1508760"/>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33件</a:t>
              </a:r>
              <a:endParaRPr lang="ja-JP" altLang="en-US" sz="1400" dirty="0"/>
            </a:p>
          </p:txBody>
        </p:sp>
        <p:sp>
          <p:nvSpPr>
            <p:cNvPr id="366" name="グラフ_月_6"/>
            <p:cNvSpPr/>
            <p:nvPr/>
          </p:nvSpPr>
          <p:spPr>
            <a:xfrm>
              <a:off x="702259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6か月目</a:t>
              </a:r>
              <a:endParaRPr lang="ja-JP" altLang="en-US" sz="1000" dirty="0"/>
            </a:p>
          </p:txBody>
        </p:sp>
        <p:sp>
          <p:nvSpPr>
            <p:cNvPr id="367" name="グラフ_内訳_6か月目"/>
            <p:cNvSpPr/>
            <p:nvPr/>
          </p:nvSpPr>
          <p:spPr>
            <a:xfrm>
              <a:off x="7022592" y="251460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13＋20</a:t>
              </a:r>
              <a:endParaRPr lang="ja-JP" altLang="en-US" sz="1000" dirty="0"/>
            </a:p>
          </p:txBody>
        </p:sp>
        <p:sp>
          <p:nvSpPr>
            <p:cNvPr id="368" name="グラフ_内訳の見出し"/>
            <p:cNvSpPr/>
            <p:nvPr/>
          </p:nvSpPr>
          <p:spPr>
            <a:xfrm>
              <a:off x="3438144" y="2514600"/>
              <a:ext cx="384048" cy="192024"/>
            </a:xfrm>
            <a:prstGeom prst="rect">
              <a:avLst/>
            </a:prstGeom>
            <a:noFill/>
            <a:ln>
              <a:noFill/>
            </a:ln>
          </p:spPr>
          <p:txBody>
            <a:bodyPr wrap="none" lIns="0" tIns="0" rIns="0"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①＋②</a:t>
              </a:r>
              <a:endParaRPr lang="ja-JP" altLang="en-US" sz="1000" dirty="0"/>
            </a:p>
          </p:txBody>
        </p:sp>
        <p:sp>
          <p:nvSpPr>
            <p:cNvPr id="369" name="グラフ_凡例_①"/>
            <p:cNvSpPr/>
            <p:nvPr/>
          </p:nvSpPr>
          <p:spPr>
            <a:xfrm>
              <a:off x="7845552" y="1609344"/>
              <a:ext cx="128016" cy="128016"/>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70" name="グラフ_凡例文字_①"/>
            <p:cNvSpPr/>
            <p:nvPr/>
          </p:nvSpPr>
          <p:spPr>
            <a:xfrm>
              <a:off x="8028431" y="1554480"/>
              <a:ext cx="1325880" cy="237744"/>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①友だち追加直後</a:t>
              </a:r>
              <a:endParaRPr lang="ja-JP" altLang="en-US" sz="1100" dirty="0"/>
            </a:p>
          </p:txBody>
        </p:sp>
        <p:sp>
          <p:nvSpPr>
            <p:cNvPr id="371" name="グラフ_凡例_②"/>
            <p:cNvSpPr/>
            <p:nvPr/>
          </p:nvSpPr>
          <p:spPr>
            <a:xfrm>
              <a:off x="7845552" y="1847088"/>
              <a:ext cx="128016" cy="128016"/>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72" name="グラフ_凡例文字_②"/>
            <p:cNvSpPr/>
            <p:nvPr/>
          </p:nvSpPr>
          <p:spPr>
            <a:xfrm>
              <a:off x="8028431" y="1792224"/>
              <a:ext cx="1325880" cy="438912"/>
            </a:xfrm>
            <a:prstGeom prst="rect">
              <a:avLst/>
            </a:prstGeom>
            <a:noFill/>
            <a:ln>
              <a:noFill/>
            </a:ln>
          </p:spPr>
          <p:txBody>
            <a:bodyPr wrap="square" lIns="0" tIns="0" rIns="0" bIns="0" rtlCol="0" anchor="t">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②ステップ配信・</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企画配信など</a:t>
              </a:r>
              <a:endParaRPr lang="ja-JP" altLang="en-US" sz="1100" dirty="0"/>
            </a:p>
          </p:txBody>
        </p:sp>
        <p:sp>
          <p:nvSpPr>
            <p:cNvPr id="373" name="グラフ_累計"/>
            <p:cNvSpPr/>
            <p:nvPr/>
          </p:nvSpPr>
          <p:spPr>
            <a:xfrm>
              <a:off x="7845552" y="2249424"/>
              <a:ext cx="1508760" cy="429768"/>
            </a:xfrm>
            <a:prstGeom prst="rect">
              <a:avLst/>
            </a:prstGeom>
            <a:noFill/>
            <a:ln>
              <a:noFill/>
            </a:ln>
          </p:spPr>
          <p:txBody>
            <a:bodyPr wrap="square" lIns="0" tIns="0" rIns="0" bIns="0" rtlCol="0" anchor="t">
              <a:noAutofit/>
            </a:bodyPr>
            <a:lstStyle/>
            <a:p>
              <a:pPr algn="l">
                <a:buNone/>
              </a:pPr>
              <a:r>
                <a:rPr lang="ja-JP" altLang="en-US" sz="1100" b="1" dirty="0">
                  <a:solidFill>
                    <a:srgbClr val="333333"/>
                  </a:solidFill>
                  <a:latin typeface="メイリオ" panose="020B0604030504040204" pitchFamily="50" charset="-128"/>
                  <a:ea typeface="メイリオ" panose="020B0604030504040204" pitchFamily="50" charset="-128"/>
                </a:rPr>
                <a:t>6か月累計</a:t>
              </a:r>
              <a:endParaRPr lang="ja-JP" altLang="en-US" sz="1100" dirty="0"/>
            </a:p>
            <a:p>
              <a:pPr algn="l">
                <a:buNone/>
              </a:pPr>
              <a:r>
                <a:rPr lang="ja-JP" altLang="en-US" sz="1100" b="1" dirty="0">
                  <a:solidFill>
                    <a:srgbClr val="333333"/>
                  </a:solidFill>
                  <a:latin typeface="メイリオ" panose="020B0604030504040204" pitchFamily="50" charset="-128"/>
                  <a:ea typeface="メイリオ" panose="020B0604030504040204" pitchFamily="50" charset="-128"/>
                </a:rPr>
                <a:t>126件（試算）</a:t>
              </a:r>
              <a:endParaRPr lang="ja-JP" altLang="en-US" sz="110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想定の費用対効果</a:t>
            </a:r>
            <a:endParaRPr lang="en-US" sz="1600" b="0" u="none" strike="noStrike">
              <a:solidFill>
                <a:srgbClr val="000000"/>
              </a:solidFill>
              <a:effectLst/>
              <a:uFillTx/>
              <a:latin typeface="Arial"/>
            </a:endParaRP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r>
              <a:rPr lang="en-US" sz="1300" b="0" u="none" strike="noStrike">
                <a:solidFill>
                  <a:schemeClr val="dk1"/>
                </a:solidFill>
                <a:effectLst/>
                <a:uFillTx/>
                <a:latin typeface="メイリオ"/>
                <a:ea typeface="メイリオ"/>
              </a:rPr>
              <a:t/>
            </a:r>
            <a:r>
              <a:rPr lang="zh-CN" sz="1300" b="0" u="none" strike="noStrike">
                <a:solidFill>
                  <a:schemeClr val="dk1"/>
                </a:solidFill>
                <a:effectLst/>
                <a:uFillTx/>
                <a:latin typeface="メイリオ"/>
                <a:ea typeface="メイリオ"/>
              </a:rPr>
              <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問い合わせ①</a:t>
            </a:r>
            <a:endParaRPr lang="en-US" sz="1400" b="0" u="none" strike="noStrike">
              <a:solidFill>
                <a:srgbClr val="000000"/>
              </a:solidFill>
              <a:effectLst/>
              <a:uFillTx/>
              <a:latin typeface="Arial"/>
            </a:endParaRPr>
          </a:p>
        </p:txBody>
      </p:sp>
      <p:sp>
        <p:nvSpPr>
          <p:cNvPr id="363" name="正方形/長方形 83"/>
          <p:cNvSpPr/>
          <p:nvPr/>
        </p:nvSpPr>
        <p:spPr>
          <a:xfrm>
            <a:off x="6812280" y="290772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問い合わせ②</a:t>
            </a:r>
            <a:endParaRPr lang="en-US" sz="1400" b="0" u="none" strike="noStrike">
              <a:solidFill>
                <a:srgbClr val="000000"/>
              </a:solidFill>
              <a:effectLst/>
              <a:uFillTx/>
              <a:latin typeface="Arial"/>
            </a:endParaRPr>
          </a:p>
        </p:txBody>
      </p:sp>
      <p:sp>
        <p:nvSpPr>
          <p:cNvPr id="364" name="正方形/長方形 85"/>
          <p:cNvSpPr/>
          <p:nvPr/>
        </p:nvSpPr>
        <p:spPr>
          <a:xfrm>
            <a:off x="6812280" y="338328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合計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1,377</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13</a:t>
            </a:r>
            <a:r>
              <a:rPr lang="zh-CN" sz="1400" b="1" u="none" strike="noStrike">
                <a:solidFill>
                  <a:srgbClr val="FF0000"/>
                </a:solidFill>
                <a:effectLst/>
                <a:uFillTx/>
                <a:latin typeface="メイリオ"/>
                <a:ea typeface="メイリオ"/>
              </a:rPr>
              <a:t>件</a:t>
            </a:r>
            <a:r>
              <a:rPr lang="en-US" sz="1400" b="1" u="none" strike="noStrike">
                <a:solidFill>
                  <a:srgbClr val="FF0000"/>
                </a:solidFill>
                <a:effectLst/>
                <a:uFillTx/>
                <a:latin typeface="メイリオ"/>
                <a:ea typeface="メイリオ"/>
              </a:rPr>
              <a:t>/</a:t>
            </a:r>
            <a:r>
              <a:rPr lang="zh-CN" sz="1400" b="1" u="none" strike="noStrike">
                <a:solidFill>
                  <a:srgbClr val="FF0000"/>
                </a:solidFill>
                <a:effectLst/>
                <a:uFillTx/>
                <a:latin typeface="メイリオ"/>
                <a:ea typeface="メイリオ"/>
              </a:rPr>
              <a:t>月</a:t>
            </a:r>
            <a:endParaRPr lang="en-US" sz="1400" b="0" u="none" strike="noStrike">
              <a:solidFill>
                <a:srgbClr val="000000"/>
              </a:solidFill>
              <a:effectLst/>
              <a:uFillTx/>
              <a:latin typeface="Arial"/>
            </a:endParaRPr>
          </a:p>
        </p:txBody>
      </p:sp>
      <p:sp>
        <p:nvSpPr>
          <p:cNvPr id="377" name="テキスト ボックス 22"/>
          <p:cNvSpPr/>
          <p:nvPr/>
        </p:nvSpPr>
        <p:spPr>
          <a:xfrm>
            <a:off x="8256960" y="290772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20件/月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338328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33件/月</a:t>
            </a:r>
            <a:endParaRPr lang="en-US" sz="1400" b="0" u="none" strike="noStrike">
              <a:solidFill>
                <a:srgbClr val="000000"/>
              </a:solidFill>
              <a:effectLst/>
              <a:uFillTx/>
              <a:latin typeface="Arial"/>
            </a:endParaRPr>
          </a:p>
        </p:txBody>
      </p:sp>
      <p:sp>
        <p:nvSpPr>
          <p:cNvPr id="379" name="テキスト ボックス 30"/>
          <p:cNvSpPr/>
          <p:nvPr/>
        </p:nvSpPr>
        <p:spPr>
          <a:xfrm>
            <a:off x="7680960" y="3858840"/>
            <a:ext cx="2194560" cy="365400"/>
          </a:xfrm>
          <a:prstGeom prst="rect">
            <a:avLst/>
          </a:prstGeom>
          <a:no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400" b="1" u="none" strike="noStrike">
                <a:solidFill>
                  <a:schemeClr val="dk1"/>
                </a:solidFill>
                <a:effectLst/>
                <a:uFillTx/>
                <a:latin typeface="メイリオ"/>
                <a:ea typeface="メイリオ"/>
              </a:rPr>
              <a:t>（6か月累計126件）</a:t>
            </a:r>
            <a:endParaRPr lang="en-US" sz="1400" b="0" u="none" strike="noStrike">
              <a:solidFill>
                <a:srgbClr val="000000"/>
              </a:solidFill>
              <a:effectLst/>
              <a:uFillTx/>
              <a:latin typeface="Arial"/>
            </a:endParaRPr>
          </a:p>
        </p:txBody>
      </p:sp>
      <p:sp>
        <p:nvSpPr>
          <p:cNvPr id="380" name="テキスト ボックス 18"/>
          <p:cNvSpPr/>
          <p:nvPr/>
        </p:nvSpPr>
        <p:spPr>
          <a:xfrm>
            <a:off x="265320" y="6035040"/>
            <a:ext cx="9417960" cy="438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000" b="0" u="none" strike="noStrike">
                <a:solidFill>
                  <a:schemeClr val="dk1"/>
                </a:solidFill>
                <a:effectLst/>
                <a:uFillTx/>
                <a:latin typeface="メイリオ"/>
                <a:ea typeface="メイリオ"/>
              </a:rPr>
              <a:t>※初期＝コンサル20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1.5</a:t>
            </a:r>
            <a:r>
              <a:rPr lang="zh-CN" sz="1000" b="0" u="none" strike="noStrike">
                <a:solidFill>
                  <a:schemeClr val="dk1"/>
                </a:solidFill>
                <a:effectLst/>
                <a:uFillTx/>
                <a:latin typeface="メイリオ"/>
                <a:ea typeface="メイリオ"/>
              </a:rPr>
              <a:t>万円／月額＝コンサル</a:t>
            </a:r>
            <a:r>
              <a:rPr lang="en-US" sz="1000" b="0" u="none" strike="noStrike">
                <a:solidFill>
                  <a:schemeClr val="dk1"/>
                </a:solidFill>
                <a:effectLst/>
                <a:uFillTx/>
                <a:latin typeface="メイリオ"/>
                <a:ea typeface="メイリオ"/>
              </a:rPr>
              <a:t>10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3</a:t>
            </a:r>
            <a:r>
              <a:rPr lang="zh-CN" sz="1000" b="0" u="none" strike="noStrike">
                <a:solidFill>
                  <a:schemeClr val="dk1"/>
                </a:solidFill>
                <a:effectLst/>
                <a:uFillTx/>
                <a:latin typeface="メイリオ"/>
                <a:ea typeface="メイリオ"/>
              </a:rPr>
              <a:t>万円＋</a:t>
            </a:r>
            <a:r>
              <a:rPr lang="en-US" sz="1000" b="0" u="none" strike="noStrike">
                <a:solidFill>
                  <a:schemeClr val="dk1"/>
                </a:solidFill>
                <a:effectLst/>
                <a:uFillTx/>
                <a:latin typeface="メイリオ"/>
                <a:ea typeface="メイリオ"/>
              </a:rPr>
              <a:t>LINE</a:t>
            </a:r>
            <a:r>
              <a:rPr lang="zh-CN" sz="1000" b="0" u="none" strike="noStrike">
                <a:solidFill>
                  <a:schemeClr val="dk1"/>
                </a:solidFill>
                <a:effectLst/>
                <a:uFillTx/>
                <a:latin typeface="メイリオ"/>
                <a:ea typeface="メイリオ"/>
              </a:rPr>
              <a:t>公式アカウント</a:t>
            </a:r>
            <a:r>
              <a:rPr lang="en-US" sz="1000" b="0" u="none" strike="noStrike">
                <a:solidFill>
                  <a:schemeClr val="dk1"/>
                </a:solidFill>
                <a:effectLst/>
                <a:uFillTx/>
                <a:latin typeface="メイリオ"/>
                <a:ea typeface="メイリオ"/>
              </a:rPr>
              <a:t>0.5</a:t>
            </a:r>
            <a:r>
              <a:rPr lang="zh-CN" sz="1000" b="0" u="none" strike="noStrike">
                <a:solidFill>
                  <a:schemeClr val="dk1"/>
                </a:solidFill>
                <a:effectLst/>
                <a:uFillTx/>
                <a:latin typeface="メイリオ"/>
                <a:ea typeface="メイリオ"/>
              </a:rPr>
              <a:t>万円</a:t>
            </a:r>
            <a:endParaRPr lang="en-US" sz="1000" b="0" u="none" strike="noStrike">
              <a:solidFill>
                <a:srgbClr val="000000"/>
              </a:solidFill>
              <a:effectLst/>
              <a:uFillTx/>
              <a:latin typeface="Arial"/>
            </a:endParaRPr>
          </a:p>
          <a:p>
            <a:pPr defTabSz="914400">
              <a:lnSpc>
                <a:spcPct val="100000"/>
              </a:lnSpc>
            </a:pP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か月後は</a:t>
            </a: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か月目の月間の試算。問い合わせ①＝友だち追加直後の物件の問い合わせ、②＝ステップ配信・企画配信などからの問い合わせ</a:t>
            </a:r>
            <a:endParaRPr lang="en-US" sz="10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プラン①｜総合運用：初期21.5万円・月額13.5万円で運用します。</a:t>
            </a:r>
            <a:endParaRPr lang="en-US" sz="1400" b="0" u="none" strike="noStrike">
              <a:solidFill>
                <a:srgbClr val="000000"/>
              </a:solidFill>
              <a:effectLst/>
              <a:uFillTx/>
              <a:latin typeface="Arial"/>
            </a:endParaRPr>
          </a:p>
          <a:p>
            <a:pPr algn="ctr" defTabSz="914400">
              <a:lnSpc>
                <a:spcPct val="100000"/>
              </a:lnSpc>
            </a:pPr>
            <a:r>
              <a:rPr lang="en-US" sz="1400" b="1" u="none" strike="noStrike">
                <a:solidFill>
                  <a:schemeClr val="dk1">
                    <a:lumMod val="65000"/>
                    <a:lumOff val="35000"/>
                  </a:schemeClr>
                </a:solidFill>
                <a:effectLst/>
                <a:uFillTx/>
                <a:latin typeface="メイリオ"/>
                <a:ea typeface="メイリオ"/>
              </a:rPr>
              <a:t>友だち追加の増加と導線改善で、6か月目にLINE経由の問い合わせ月33件を見込みます（試算）。</a:t>
            </a:r>
            <a:endParaRPr lang="en-US" sz="1400" b="0" u="none" strike="noStrike">
              <a:solidFill>
                <a:srgbClr val="000000"/>
              </a:solidFill>
              <a:effectLst/>
              <a:uFillTx/>
              <a:latin typeface="Arial"/>
            </a:endParaRPr>
          </a:p>
        </p:txBody>
      </p:sp>
      <p:sp>
        <p:nvSpPr>
          <p:cNvPr id="382" name="試算の前提"/>
          <p:cNvSpPr/>
          <p:nvPr/>
        </p:nvSpPr>
        <p:spPr>
          <a:xfrm>
            <a:off x="6812280" y="4370832"/>
            <a:ext cx="2834280" cy="1600200"/>
          </a:xfrm>
          <a:prstGeom prst="rect">
            <a:avLst/>
          </a:prstGeom>
          <a:solidFill>
            <a:srgbClr val="F4F7FF"/>
          </a:solidFill>
          <a:ln w="9525">
            <a:solidFill>
              <a:srgbClr val="D9D9D9"/>
            </a:solidFill>
            <a:round/>
          </a:ln>
        </p:spPr>
        <p:style>
          <a:lnRef idx="0">
            <a:scrgbClr r="0" g="0" b="0"/>
          </a:lnRef>
          <a:fillRef idx="0">
            <a:scrgbClr r="0" g="0" b="0"/>
          </a:fillRef>
          <a:effectRef idx="0">
            <a:scrgbClr r="0" g="0" b="0"/>
          </a:effectRef>
          <a:fontRef idx="minor"/>
        </p:style>
        <p:txBody>
          <a:bodyPr lIns="109800" tIns="73080" rIns="109800" bIns="54720" anchor="t">
            <a:noAutofit/>
          </a:bodyPr>
          <a:lstStyle/>
          <a:p>
            <a:pPr defTabSz="914400">
              <a:lnSpc>
                <a:spcPct val="100000"/>
              </a:lnSpc>
              <a:spcAft>
                <a:spcPts val="300"/>
              </a:spcAft>
            </a:pPr>
            <a:r>
              <a:rPr lang="ja-JP" sz="1200" b="1" u="none" strike="noStrike">
                <a:solidFill>
                  <a:srgbClr val="1F285A"/>
                </a:solidFill>
                <a:effectLst/>
                <a:uFillTx/>
                <a:latin typeface="メイリオ"/>
                <a:ea typeface="メイリオ"/>
              </a:rPr>
              <a:t>＜試算の前提＞</a:t>
            </a:r>
            <a:endParaRPr lang="en-US" sz="1200" b="0" u="none" strike="noStrike">
              <a:solidFill>
                <a:srgbClr val="000000"/>
              </a:solidFill>
              <a:effectLst/>
              <a:uFillTx/>
              <a:latin typeface="Arial"/>
            </a:endParaRPr>
          </a:p>
          <a:p>
            <a:pPr defTabSz="914400">
              <a:lnSpc>
                <a:spcPct val="100000"/>
              </a:lnSpc>
              <a:spcAft>
                <a:spcPts val="300"/>
              </a:spcAft>
            </a:pPr>
            <a:r>
              <a:rPr lang="ja-JP" sz="1100" b="0" u="none" strike="noStrike">
                <a:solidFill>
                  <a:srgbClr val="333333"/>
                </a:solidFill>
                <a:effectLst/>
                <a:uFillTx/>
                <a:latin typeface="メイリオ"/>
                <a:ea typeface="メイリオ"/>
              </a:rPr>
              <a:t>プラン①｜総合運用の基本施策を対象とした想定値です。</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API連携・追加開発、紹介による追加成果は含みません。</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成果を保証するものではありません。</a:t>
            </a:r>
            <a:endParaRPr lang="en-US" sz="11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34" name="正方形/長方形 1"/>
          <p:cNvSpPr/>
          <p:nvPr/>
        </p:nvSpPr>
        <p:spPr>
          <a:xfrm>
            <a:off x="4245120" y="303804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費用感</a:t>
            </a:r>
            <a:endParaRPr lang="en-US" sz="3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ご希望の運用範囲に合わせて、3つのプランをご用意しました。</a:t>
            </a:r>
            <a:endParaRPr lang="en-US" sz="1600" b="0" u="none" strike="noStrike">
              <a:solidFill>
                <a:srgbClr val="000000"/>
              </a:solidFill>
              <a:effectLst/>
              <a:uFillTx/>
              <a:latin typeface="Arial"/>
            </a:endParaRPr>
          </a:p>
        </p:txBody>
      </p:sp>
      <p:sp>
        <p:nvSpPr>
          <p:cNvPr id="638"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graphicFrame>
        <p:nvGraphicFramePr>
          <p:cNvPr id="639" name="料金プラン比較表 638"/>
          <p:cNvGraphicFramePr>
            <a:graphicFrameLocks noGrp="1"/>
          </p:cNvGraphicFramePr>
          <p:nvPr/>
        </p:nvGraphicFramePr>
        <p:xfrm>
          <a:off x="384048" y="1353312"/>
          <a:ext cx="9144000" cy="3749040"/>
        </p:xfrm>
        <a:graphic>
          <a:graphicData uri="http://schemas.openxmlformats.org/drawingml/2006/table">
            <a:tbl>
              <a:tblPr/>
              <a:tblGrid>
                <a:gridCol w="2286000"/>
                <a:gridCol w="2286000"/>
                <a:gridCol w="2286000"/>
                <a:gridCol w="2286000"/>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a:t>
                      </a:r>
                      <a:br>
                        <a:rPr lang="ja-JP" altLang="en-US" sz="1400" b="1" dirty="0">
                          <a:solidFill>
                            <a:srgbClr val="1F285A"/>
                          </a:solidFill>
                          <a:latin typeface="メイリオ" panose="020B0604030504040204" pitchFamily="50" charset="-128"/>
                          <a:ea typeface="メイリオ" panose="020B0604030504040204" pitchFamily="50" charset="-128"/>
                        </a:rPr>
                      </a:br>
                      <a:r>
                        <a:rPr lang="ja-JP" altLang="en-US" sz="1400" b="1" dirty="0">
                          <a:solidFill>
                            <a:srgbClr val="1F285A"/>
                          </a:solidFill>
                          <a:latin typeface="メイリオ" panose="020B0604030504040204" pitchFamily="50" charset="-128"/>
                          <a:ea typeface="メイリオ" panose="020B0604030504040204" pitchFamily="50" charset="-128"/>
                        </a:rPr>
                        <a:t>LINE関連費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rowSpan="2">
                  <a:txBody>
                    <a:bodyPr/>
                    <a:lstStyle/>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導入後も継続して利用する</a:t>
                      </a:r>
                      <a:endParaRPr lang="ja-JP" altLang="en-US" sz="1300" dirty="0"/>
                    </a:p>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ツールについて、</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ツール利用料＋DYM手数料</a:t>
                      </a:r>
                      <a:endParaRPr lang="ja-JP" altLang="en-US" sz="1300" dirty="0"/>
                    </a:p>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が発生します</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19050" cap="flat" cmpd="sng" algn="ctr">
                      <a:solidFill>
                        <a:srgbClr val="1F285A"/>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19050" cap="flat" cmpd="sng" algn="ctr">
                      <a:solidFill>
                        <a:srgbClr val="1F285A"/>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19050" cap="flat" cmpd="sng" algn="ctr">
                      <a:solidFill>
                        <a:srgbClr val="1F285A"/>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vMerge="1">
                  <a:txBody>
                    <a:bodyPr/>
                    <a:lstStyle/>
                    <a:p>
                      <a:pPr algn="ctr">
                        <a:buNone/>
                      </a:pP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19050" cap="flat" cmpd="sng" algn="ctr">
                      <a:solidFill>
                        <a:srgbClr val="1F285A"/>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r>
              <a:rPr lang="ja-JP" altLang="en-US" sz="1100" b="0" dirty="0">
                <a:solidFill>
                  <a:srgbClr val="444444"/>
                </a:solidFill>
                <a:latin typeface="メイリオ" panose="020B0604030504040204" pitchFamily="50" charset="-128"/>
                <a:ea typeface="メイリオ" panose="020B0604030504040204" pitchFamily="50" charset="-128"/>
              </a:rPr>
              <a:t>※価格はあらうち様向けの個別提案価格です（DYMの標準価格ではありません）。初期費用215,000円は3プラン共通です。</a:t>
            </a:r>
            <a:endParaRPr lang="ja-JP" altLang="en-US" sz="1100" dirty="0"/>
          </a:p>
          <a:p>
            <a:pPr algn="l">
              <a:spcAft>
                <a:spcPts val="300"/>
              </a:spcAft>
              <a:buNone/>
            </a:pPr>
            <a:r>
              <a:rPr lang="ja-JP" altLang="en-US" sz="1100" b="0" dirty="0">
                <a:solidFill>
                  <a:srgbClr val="444444"/>
                </a:solidFill>
                <a:latin typeface="メイリオ" panose="020B0604030504040204" pitchFamily="50" charset="-128"/>
                <a:ea typeface="メイリオ" panose="020B0604030504040204" pitchFamily="50" charset="-128"/>
              </a:rPr>
              <a:t>※プラン①の月額ツール・LINE関連費35,000円の内訳は、離脱防止ポップアップ30,000円、LINE公式アカウント5,000円です。</a:t>
            </a:r>
            <a:endParaRPr lang="ja-JP" altLang="en-US" sz="1100" dirty="0"/>
          </a:p>
          <a:p>
            <a:pPr algn="l">
              <a:spcAft>
                <a:spcPts val="300"/>
              </a:spcAft>
              <a:buNone/>
            </a:pPr>
            <a:r>
              <a:rPr lang="ja-JP" altLang="en-US" sz="1100" b="0" dirty="0">
                <a:solidFill>
                  <a:srgbClr val="444444"/>
                </a:solidFill>
                <a:latin typeface="メイリオ" panose="020B0604030504040204" pitchFamily="50" charset="-128"/>
                <a:ea typeface="メイリオ" panose="020B0604030504040204" pitchFamily="50" charset="-128"/>
              </a:rPr>
              <a:t>※プラン③は、月額のコンサルティング費用はありません。導入後も継続して利用するツールについては、ツール利用料およびDYM手数料が発生します。</a:t>
            </a:r>
            <a:endParaRPr lang="ja-JP" alt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3"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3つのプランの運用内容を比較します。</a:t>
            </a:r>
            <a:endParaRPr lang="en-US" sz="1600" b="0" u="none" strike="noStrike">
              <a:solidFill>
                <a:srgbClr val="000000"/>
              </a:solidFill>
              <a:effectLst/>
              <a:uFillTx/>
              <a:latin typeface="Arial"/>
            </a:endParaRPr>
          </a:p>
        </p:txBody>
      </p:sp>
      <p:graphicFrame>
        <p:nvGraphicFramePr>
          <p:cNvPr id="6" name="運用内容比較表 5"/>
          <p:cNvGraphicFramePr>
            <a:graphicFrameLocks noGrp="1"/>
          </p:cNvGraphicFramePr>
          <p:nvPr/>
        </p:nvGraphicFramePr>
        <p:xfrm>
          <a:off x="384048" y="1353312"/>
          <a:ext cx="9144000" cy="4206240"/>
        </p:xfrm>
        <a:graphic>
          <a:graphicData uri="http://schemas.openxmlformats.org/drawingml/2006/table">
            <a:tbl>
              <a:tblPr/>
              <a:tblGrid>
                <a:gridCol w="2286000"/>
                <a:gridCol w="2286000"/>
                <a:gridCol w="2286000"/>
                <a:gridCol w="2286000"/>
              </a:tblGrid>
              <a:tr h="566928">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r>
              <a:tr h="603504">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月額費用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135,000円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85,000円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継続利用するツールの</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ツール利用料＋DYM手数料</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56692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bl>
          </a:graphicData>
        </a:graphic>
      </p:graphicFrame>
      <p:sp>
        <p:nvSpPr>
          <p:cNvPr id="7" name="注記"/>
          <p:cNvSpPr/>
          <p:nvPr/>
        </p:nvSpPr>
        <p:spPr>
          <a:xfrm>
            <a:off x="384048" y="5687568"/>
            <a:ext cx="9144000" cy="804671"/>
          </a:xfrm>
          <a:prstGeom prst="rect">
            <a:avLst/>
          </a:prstGeom>
          <a:noFill/>
          <a:ln>
            <a:noFill/>
          </a:ln>
        </p:spPr>
        <p:txBody>
          <a:bodyPr wrap="square" lIns="18288" tIns="18288" rIns="18288" bIns="18288" rtlCol="0" anchor="t">
            <a:noAutofit/>
          </a:bodyPr>
          <a:lstStyle/>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※API連携・開発は基本料金に含まれません。必要に応じて、プラン①で別途お見積りします。</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※13ページの試算（6か月目に月33件）は、プラン①｜総合運用の基本施策を対象としたものです。プラン②・③の成果は含みません。</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※プラン③は、導入後も継続して利用するツールについて、ツール利用料およびDYM手数料が発生します。</a:t>
            </a:r>
            <a:endParaRPr lang="ja-JP" alt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実施施策</a:t>
            </a:r>
            <a:endParaRPr lang="en-US" sz="1600" b="0" u="none" strike="noStrike">
              <a:solidFill>
                <a:srgbClr val="000000"/>
              </a:solidFill>
              <a:effectLst/>
              <a:uFillTx/>
              <a:latin typeface="Arial"/>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a:solidFill>
                  <a:srgbClr val="5A6378"/>
                </a:solidFill>
                <a:effectLst/>
                <a:uFillTx/>
                <a:latin typeface="メイリオ"/>
                <a:ea typeface="メイリオ"/>
              </a:rPr>
              <a:t>友だち追加から14日間のステップ配信（全10通）と月4回程度の企画配信で、</a:t>
            </a:r>
            <a:br>
              <a:rPr lang="zh-CN" sz="1400" b="0" u="none" strike="noStrike">
                <a:solidFill>
                  <a:srgbClr val="5A6378"/>
                </a:solidFill>
                <a:effectLst/>
                <a:uFillTx/>
                <a:latin typeface="メイリオ"/>
                <a:ea typeface="メイリオ"/>
              </a:rPr>
            </a:br>
            <a:r>
              <a:rPr lang="zh-CN" sz="1400" b="0" u="none" strike="noStrike">
                <a:solidFill>
                  <a:srgbClr val="5A6378"/>
                </a:solidFill>
                <a:effectLst/>
                <a:uFillTx/>
                <a:latin typeface="メイリオ"/>
                <a:ea typeface="メイリオ"/>
              </a:rPr>
              <a:t>物件URLの送信を後押しします（プラン①｜総合運用）</a:t>
            </a:r>
            <a:endParaRPr lang="en-US" sz="1400" b="0" u="none" strike="noStrike">
              <a:solidFill>
                <a:srgbClr val="000000"/>
              </a:solidFill>
              <a:effectLst/>
              <a:uFillTx/>
              <a:latin typeface="Arial"/>
            </a:endParaRPr>
          </a:p>
        </p:txBody>
      </p:sp>
      <p:sp>
        <p:nvSpPr>
          <p:cNvPr id="387" name="TextBox 3"/>
          <p:cNvSpPr/>
          <p:nvPr/>
        </p:nvSpPr>
        <p:spPr>
          <a:xfrm>
            <a:off x="384120" y="137160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a:t>
            </a:r>
            <a:r>
              <a:rPr lang="en-US" sz="1400" b="1" u="none" strike="noStrike">
                <a:solidFill>
                  <a:srgbClr val="1F2A5C"/>
                </a:solidFill>
                <a:effectLst/>
                <a:uFillTx/>
                <a:latin typeface="メイリオ"/>
                <a:ea typeface="メイリオ"/>
              </a:rPr>
              <a:t>10</a:t>
            </a:r>
            <a:r>
              <a:rPr lang="zh-CN" sz="1400" b="1" u="none" strike="noStrike">
                <a:solidFill>
                  <a:srgbClr val="1F2A5C"/>
                </a:solidFill>
                <a:effectLst/>
                <a:uFillTx/>
                <a:latin typeface="メイリオ"/>
                <a:ea typeface="メイリオ"/>
              </a:rPr>
              <a:t>通</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120" y="192024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89" name="Rounded Rectangle 5"/>
          <p:cNvSpPr/>
          <p:nvPr/>
        </p:nvSpPr>
        <p:spPr>
          <a:xfrm>
            <a:off x="1426320" y="192024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390" name="Right Arrow 6"/>
          <p:cNvSpPr/>
          <p:nvPr/>
        </p:nvSpPr>
        <p:spPr>
          <a:xfrm>
            <a:off x="2615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1" name="Rounded Rectangle 7"/>
          <p:cNvSpPr/>
          <p:nvPr/>
        </p:nvSpPr>
        <p:spPr>
          <a:xfrm>
            <a:off x="2853000" y="192024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392" name="Right Arrow 8"/>
          <p:cNvSpPr/>
          <p:nvPr/>
        </p:nvSpPr>
        <p:spPr>
          <a:xfrm>
            <a:off x="4316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45536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61448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63824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a:t>
            </a:r>
            <a:r>
              <a:rPr lang="en-US" sz="1200" b="0" u="none" strike="noStrike">
                <a:solidFill>
                  <a:srgbClr val="333333"/>
                </a:solidFill>
                <a:effectLst/>
                <a:uFillTx/>
                <a:latin typeface="メイリオ"/>
                <a:ea typeface="メイリオ"/>
              </a:rPr>
              <a:t>URL</a:t>
            </a:r>
            <a:r>
              <a:rPr lang="zh-CN" sz="1200" b="0" u="none" strike="noStrike">
                <a:solidFill>
                  <a:srgbClr val="333333"/>
                </a:solidFill>
                <a:effectLst/>
                <a:uFillTx/>
                <a:latin typeface="メイリオ"/>
                <a:ea typeface="メイリオ"/>
              </a:rPr>
              <a:t>の送信</a:t>
            </a:r>
            <a:endParaRPr lang="en-US" sz="1200" b="0" u="none" strike="noStrike">
              <a:solidFill>
                <a:srgbClr val="000000"/>
              </a:solidFill>
              <a:effectLst/>
              <a:uFillTx/>
              <a:latin typeface="Arial"/>
            </a:endParaRPr>
          </a:p>
        </p:txBody>
      </p:sp>
      <p:sp>
        <p:nvSpPr>
          <p:cNvPr id="396" name="Right Arrow 12"/>
          <p:cNvSpPr/>
          <p:nvPr/>
        </p:nvSpPr>
        <p:spPr>
          <a:xfrm>
            <a:off x="79736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211240" y="192024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120" y="246888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9" name="Rounded Rectangle 15"/>
          <p:cNvSpPr/>
          <p:nvPr/>
        </p:nvSpPr>
        <p:spPr>
          <a:xfrm>
            <a:off x="1426320" y="246888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00" name="Right Arrow 16"/>
          <p:cNvSpPr/>
          <p:nvPr/>
        </p:nvSpPr>
        <p:spPr>
          <a:xfrm>
            <a:off x="2615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1" name="Rounded Rectangle 17"/>
          <p:cNvSpPr/>
          <p:nvPr/>
        </p:nvSpPr>
        <p:spPr>
          <a:xfrm>
            <a:off x="2853000" y="246888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02" name="Right Arrow 18"/>
          <p:cNvSpPr/>
          <p:nvPr/>
        </p:nvSpPr>
        <p:spPr>
          <a:xfrm>
            <a:off x="4316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45536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61448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63824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9736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211240" y="246888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120" y="301752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9" name="Rounded Rectangle 25"/>
          <p:cNvSpPr/>
          <p:nvPr/>
        </p:nvSpPr>
        <p:spPr>
          <a:xfrm>
            <a:off x="1426320" y="301752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10" name="Right Arrow 26"/>
          <p:cNvSpPr/>
          <p:nvPr/>
        </p:nvSpPr>
        <p:spPr>
          <a:xfrm>
            <a:off x="2615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1" name="Rounded Rectangle 27"/>
          <p:cNvSpPr/>
          <p:nvPr/>
        </p:nvSpPr>
        <p:spPr>
          <a:xfrm>
            <a:off x="2853000" y="301752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12" name="Right Arrow 28"/>
          <p:cNvSpPr/>
          <p:nvPr/>
        </p:nvSpPr>
        <p:spPr>
          <a:xfrm>
            <a:off x="4316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45536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61448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63824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9736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211240" y="301752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a:t>
            </a:r>
            <a:r>
              <a:rPr lang="en-US" sz="1200" b="0" u="none" strike="noStrike">
                <a:solidFill>
                  <a:srgbClr val="333333"/>
                </a:solidFill>
                <a:effectLst/>
                <a:uFillTx/>
                <a:latin typeface="メイリオ"/>
                <a:ea typeface="メイリオ"/>
              </a:rPr>
              <a:t>URL</a:t>
            </a:r>
            <a:r>
              <a:rPr lang="zh-CN" sz="1200" b="0" u="none" strike="noStrike">
                <a:solidFill>
                  <a:srgbClr val="333333"/>
                </a:solidFill>
                <a:effectLst/>
                <a:uFillTx/>
                <a:latin typeface="メイリオ"/>
                <a:ea typeface="メイリオ"/>
              </a:rPr>
              <a:t>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5" name="テキスト ボックス 4"/>
          <p:cNvSpPr/>
          <p:nvPr/>
        </p:nvSpPr>
        <p:spPr>
          <a:xfrm>
            <a:off x="1426320" y="1664280"/>
            <a:ext cx="11883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56" name="テキスト ボックス 7"/>
          <p:cNvSpPr/>
          <p:nvPr/>
        </p:nvSpPr>
        <p:spPr>
          <a:xfrm>
            <a:off x="2853000" y="1664280"/>
            <a:ext cx="146268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57" name="テキスト ボックス 9"/>
          <p:cNvSpPr/>
          <p:nvPr/>
        </p:nvSpPr>
        <p:spPr>
          <a:xfrm>
            <a:off x="45536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63824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による問い合わせ対応の効率化</a:t>
            </a:r>
            <a:endParaRPr lang="en-US" sz="1600" b="0" u="none" strike="noStrike">
              <a:solidFill>
                <a:srgbClr val="000000"/>
              </a:solidFill>
              <a:effectLst/>
              <a:uFillTx/>
              <a:latin typeface="Arial"/>
            </a:endParaRPr>
          </a:p>
        </p:txBody>
      </p:sp>
      <p:sp>
        <p:nvSpPr>
          <p:cNvPr id="464" name="TextBox 2"/>
          <p:cNvSpPr/>
          <p:nvPr/>
        </p:nvSpPr>
        <p:spPr>
          <a:xfrm>
            <a:off x="429840" y="749808"/>
            <a:ext cx="905220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の機能で、問い合わせへの一次対応と対応状況の管理を効率化します。</a:t>
            </a:r>
            <a:endParaRPr lang="en-US" sz="1400" b="0" u="none" strike="noStrike">
              <a:solidFill>
                <a:srgbClr val="000000"/>
              </a:solidFill>
              <a:effectLst/>
              <a:uFillTx/>
              <a:latin typeface="Arial"/>
            </a:endParaRPr>
          </a:p>
          <a:p>
            <a:pPr defTabSz="914400">
              <a:lnSpc>
                <a:spcPct val="100000"/>
              </a:lnSpc>
              <a:tabLst>
                <a:tab pos="0" algn="l"/>
              </a:tabLst>
            </a:pPr>
            <a:r>
              <a:rPr lang="zh-CN" sz="1400" b="1" u="none" strike="noStrike">
                <a:solidFill>
                  <a:srgbClr val="5A6378"/>
                </a:solidFill>
                <a:effectLst/>
                <a:uFillTx/>
                <a:latin typeface="メイリオ"/>
                <a:ea typeface="メイリオ"/>
              </a:rPr>
              <a:t>お客様への個別対応はあらうち様、仕組みづくりと改善支援は当社が担当します。</a:t>
            </a:r>
            <a:endParaRPr lang="en-US" sz="1400" b="0" u="none" strike="noStrike">
              <a:solidFill>
                <a:srgbClr val="000000"/>
              </a:solidFill>
              <a:effectLst/>
              <a:uFillTx/>
              <a:latin typeface="Arial"/>
            </a:endParaRPr>
          </a:p>
        </p:txBody>
      </p:sp>
      <p:sp>
        <p:nvSpPr>
          <p:cNvPr id="465" name="Rounded Rectangle 3"/>
          <p:cNvSpPr/>
          <p:nvPr/>
        </p:nvSpPr>
        <p:spPr>
          <a:xfrm>
            <a:off x="429840" y="1408176"/>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865376"/>
            <a:ext cx="2788560" cy="28346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64008" rIns="73152" bIns="36576" anchor="t" lIns="91440">
            <a:noAutofit/>
          </a:bodyPr>
          <a:lstStyle/>
          <a:p>
            <a:pPr defTabSz="914400">
              <a:lnSpc>
                <a:spcPct val="100000"/>
              </a:lnSpc>
              <a:spcBef>
                <a:spcPts val="100"/>
              </a:spcBef>
              <a:tabLst>
                <a:tab pos="0" algn="l"/>
              </a:tabLst>
            </a:pPr>
            <a:r>
              <a:rPr lang="ja-JP" sz="1300" b="1" u="none" strike="noStrike">
                <a:solidFill>
                  <a:srgbClr val="1F2A5C"/>
                </a:solidFill>
                <a:effectLst/>
                <a:uFillTx/>
                <a:latin typeface="メイリオ"/>
                <a:ea typeface="メイリオ"/>
              </a:rPr>
              <a:t>設定：当社　対応：自動</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・よくある質問（初期費用・お申込みの流れなど）にキーワード応答で自動回答</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・リッチメニューのボタンと同じ言葉で応答を用意</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・受付時間外は、時間を指定して受付の旨を自動で返信</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・リッチメニューから</a:t>
            </a:r>
            <a:r>
              <a:rPr lang="en-US" sz="1300" b="0" u="none" strike="noStrike">
                <a:solidFill>
                  <a:srgbClr val="333333"/>
                </a:solidFill>
                <a:effectLst/>
                <a:uFillTx/>
                <a:latin typeface="メイリオ"/>
                <a:ea typeface="メイリオ"/>
              </a:rPr>
              <a:t>100</a:t>
            </a:r>
            <a:r>
              <a:rPr lang="ja-JP" sz="1300" b="0" u="none" strike="noStrike">
                <a:solidFill>
                  <a:srgbClr val="333333"/>
                </a:solidFill>
                <a:effectLst/>
                <a:uFillTx/>
                <a:latin typeface="メイリオ"/>
                <a:ea typeface="メイリオ"/>
              </a:rPr>
              <a:t>円チェッカーへ案内</a:t>
            </a:r>
            <a:endParaRPr lang="en-US" sz="1300" b="0" u="none" strike="noStrike">
              <a:solidFill>
                <a:srgbClr val="000000"/>
              </a:solidFill>
              <a:effectLst/>
              <a:uFillTx/>
              <a:latin typeface="Arial"/>
            </a:endParaRPr>
          </a:p>
        </p:txBody>
      </p:sp>
      <p:sp>
        <p:nvSpPr>
          <p:cNvPr id="467" name="Rounded Rectangle 5"/>
          <p:cNvSpPr/>
          <p:nvPr/>
        </p:nvSpPr>
        <p:spPr>
          <a:xfrm>
            <a:off x="3493080" y="1408176"/>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865376"/>
            <a:ext cx="2788560" cy="28346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64008" rIns="73152" bIns="36576" anchor="t" lIns="91440">
            <a:noAutofit/>
          </a:bodyPr>
          <a:lstStyle/>
          <a:p>
            <a:pPr defTabSz="914400">
              <a:lnSpc>
                <a:spcPct val="100000"/>
              </a:lnSpc>
              <a:spcBef>
                <a:spcPts val="100"/>
              </a:spcBef>
              <a:tabLst>
                <a:tab pos="0" algn="l"/>
              </a:tabLst>
            </a:pPr>
            <a:r>
              <a:rPr lang="ja-JP" sz="1300" b="1" u="none" strike="noStrike">
                <a:solidFill>
                  <a:srgbClr val="4A6FA5"/>
                </a:solidFill>
                <a:effectLst/>
                <a:uFillTx/>
                <a:latin typeface="メイリオ"/>
                <a:ea typeface="メイリオ"/>
              </a:rPr>
              <a:t>対応：あらうち様</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・ご担当者様が、物件に関する相談・問い合わせに対応</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・送られた物件（</a:t>
            </a:r>
            <a:r>
              <a:rPr lang="en-US" sz="1300" b="0" u="none" strike="noStrike">
                <a:solidFill>
                  <a:srgbClr val="333333"/>
                </a:solidFill>
                <a:effectLst/>
                <a:uFillTx/>
                <a:latin typeface="メイリオ"/>
                <a:ea typeface="メイリオ"/>
              </a:rPr>
              <a:t>URL</a:t>
            </a:r>
            <a:r>
              <a:rPr lang="ja-JP" sz="1300" b="0" u="none" strike="noStrike">
                <a:solidFill>
                  <a:srgbClr val="333333"/>
                </a:solidFill>
                <a:effectLst/>
                <a:uFillTx/>
                <a:latin typeface="メイリオ"/>
                <a:ea typeface="メイリオ"/>
              </a:rPr>
              <a:t>・物件名・画像）の空室確認・内見の手配</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・一次対応は自動応答に任せ、物件の確認に集中</a:t>
            </a:r>
            <a:endParaRPr lang="en-US" sz="1300" b="0" u="none" strike="noStrike">
              <a:solidFill>
                <a:srgbClr val="000000"/>
              </a:solidFill>
              <a:effectLst/>
              <a:uFillTx/>
              <a:latin typeface="Arial"/>
            </a:endParaRPr>
          </a:p>
        </p:txBody>
      </p:sp>
      <p:sp>
        <p:nvSpPr>
          <p:cNvPr id="469" name="Rounded Rectangle 7"/>
          <p:cNvSpPr/>
          <p:nvPr/>
        </p:nvSpPr>
        <p:spPr>
          <a:xfrm>
            <a:off x="6556320" y="1408176"/>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865376"/>
            <a:ext cx="2788560" cy="28346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64008" rIns="73152" bIns="36576" anchor="t" lIns="91440">
            <a:noAutofit/>
          </a:bodyPr>
          <a:lstStyle/>
          <a:p>
            <a:pPr defTabSz="914400">
              <a:lnSpc>
                <a:spcPct val="100000"/>
              </a:lnSpc>
              <a:spcBef>
                <a:spcPts val="100"/>
              </a:spcBef>
              <a:tabLst>
                <a:tab pos="0" algn="l"/>
              </a:tabLst>
            </a:pPr>
            <a:r>
              <a:rPr lang="ja-JP" sz="1300" b="1" u="none" strike="noStrike">
                <a:solidFill>
                  <a:srgbClr val="5B6478"/>
                </a:solidFill>
                <a:effectLst/>
                <a:uFillTx/>
                <a:latin typeface="メイリオ"/>
                <a:ea typeface="メイリオ"/>
              </a:rPr>
              <a:t>設計・設定：当社</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・問い合わせ状況・対応ステータス（受付・確認中・返信済）を管理</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・タグの付け替えで、確認漏れ・返信漏れを防止</a:t>
            </a:r>
            <a:endParaRPr lang="en-US" sz="1300" b="0" u="none" strike="noStrike">
              <a:solidFill>
                <a:srgbClr val="000000"/>
              </a:solidFill>
              <a:effectLst/>
              <a:uFillTx/>
              <a:latin typeface="Arial"/>
            </a:endParaRPr>
          </a:p>
          <a:p>
            <a:pPr defTabSz="914400">
              <a:lnSpc>
                <a:spcPct val="100000"/>
              </a:lnSpc>
              <a:spcBef>
                <a:spcPts val="100"/>
              </a:spcBef>
              <a:tabLst>
                <a:tab pos="0" algn="l"/>
              </a:tabLst>
            </a:pPr>
            <a:r>
              <a:rPr lang="ja-JP" sz="1300" b="0" u="none" strike="noStrike">
                <a:solidFill>
                  <a:srgbClr val="333333"/>
                </a:solidFill>
                <a:effectLst/>
                <a:uFillTx/>
                <a:latin typeface="メイリオ"/>
                <a:ea typeface="メイリオ"/>
              </a:rPr>
              <a:t>・問い合わせ済みの方を除いた再案内で、重複配信を防止</a:t>
            </a:r>
            <a:endParaRPr lang="en-US" sz="1300" b="0" u="none" strike="noStrike">
              <a:solidFill>
                <a:srgbClr val="000000"/>
              </a:solidFill>
              <a:effectLst/>
              <a:uFillTx/>
              <a:latin typeface="Arial"/>
            </a:endParaRPr>
          </a:p>
        </p:txBody>
      </p:sp>
      <p:sp>
        <p:nvSpPr>
          <p:cNvPr id="471" name="Google Shape;156;p7"/>
          <p:cNvSpPr/>
          <p:nvPr/>
        </p:nvSpPr>
        <p:spPr>
          <a:xfrm>
            <a:off x="429840" y="4727520"/>
            <a:ext cx="891504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役割分担</a:t>
            </a:r>
            <a:r>
              <a:rPr lang="ja-JP" sz="1200" b="0" u="none" strike="noStrike">
                <a:solidFill>
                  <a:srgbClr val="002060"/>
                </a:solidFill>
                <a:effectLst/>
                <a:uFillTx/>
                <a:latin typeface="Meiryo"/>
                <a:ea typeface="Meiryo"/>
              </a:rPr>
              <a:t>　※配信運用・改善支援は月額コンサル費に含みます</a:t>
            </a:r>
            <a:endParaRPr lang="en-US" sz="1200" b="0" u="none" strike="noStrike">
              <a:solidFill>
                <a:srgbClr val="000000"/>
              </a:solidFill>
              <a:effectLst/>
              <a:uFillTx/>
              <a:latin typeface="Arial"/>
            </a:endParaRPr>
          </a:p>
        </p:txBody>
      </p:sp>
      <p:sp>
        <p:nvSpPr>
          <p:cNvPr id="472" name="Rounded Rectangle 3"/>
          <p:cNvSpPr/>
          <p:nvPr/>
        </p:nvSpPr>
        <p:spPr>
          <a:xfrm>
            <a:off x="429840" y="5056560"/>
            <a:ext cx="4320360" cy="3654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当社（</a:t>
            </a:r>
            <a:r>
              <a:rPr lang="en-US" sz="1400" b="1" u="none" strike="noStrike">
                <a:solidFill>
                  <a:srgbClr val="FFFFFF"/>
                </a:solidFill>
                <a:effectLst/>
                <a:uFillTx/>
                <a:latin typeface="メイリオ"/>
                <a:ea typeface="メイリオ"/>
              </a:rPr>
              <a:t>DYM</a:t>
            </a:r>
            <a:r>
              <a:rPr lang="zh-CN" sz="1400" b="1" u="none" strike="noStrike">
                <a:solidFill>
                  <a:srgbClr val="FFFFFF"/>
                </a:solidFill>
                <a:effectLst/>
                <a:uFillTx/>
                <a:latin typeface="メイリオ"/>
                <a:ea typeface="メイリオ"/>
              </a:rPr>
              <a:t>）｜仕組みづくり・改善支援</a:t>
            </a:r>
            <a:endParaRPr lang="en-US" sz="1400" b="0" u="none" strike="noStrike">
              <a:solidFill>
                <a:srgbClr val="FFFFFF"/>
              </a:solidFill>
              <a:effectLst/>
              <a:uFillTx/>
              <a:latin typeface="Arial"/>
            </a:endParaRPr>
          </a:p>
        </p:txBody>
      </p:sp>
      <p:sp>
        <p:nvSpPr>
          <p:cNvPr id="473" name="Rounded Rectangle 4"/>
          <p:cNvSpPr/>
          <p:nvPr/>
        </p:nvSpPr>
        <p:spPr>
          <a:xfrm>
            <a:off x="42984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728" tIns="18288" rIns="73152" bIns="18288" anchor="ctr">
            <a:noAutofit/>
          </a:bodyPr>
          <a:lstStyle/>
          <a:p>
            <a:pPr defTabSz="914400">
              <a:lnSpc>
                <a:spcPct val="100000"/>
              </a:lnSpc>
            </a:pPr>
            <a:r>
              <a:rPr lang="ja-JP" sz="1250" b="0" u="none" strike="noStrike">
                <a:solidFill>
                  <a:srgbClr val="333333"/>
                </a:solidFill>
                <a:effectLst/>
                <a:uFillTx/>
                <a:latin typeface="メイリオ"/>
                <a:ea typeface="メイリオ"/>
              </a:rPr>
              <a:t>・</a:t>
            </a:r>
            <a:r>
              <a:rPr lang="en-US" sz="1250" b="0" u="none" strike="noStrike">
                <a:solidFill>
                  <a:srgbClr val="333333"/>
                </a:solidFill>
                <a:effectLst/>
                <a:uFillTx/>
                <a:latin typeface="メイリオ"/>
                <a:ea typeface="メイリオ"/>
              </a:rPr>
              <a:t>LINE</a:t>
            </a:r>
            <a:r>
              <a:rPr lang="ja-JP" sz="1250" b="0" u="none" strike="noStrike">
                <a:solidFill>
                  <a:srgbClr val="333333"/>
                </a:solidFill>
                <a:effectLst/>
                <a:uFillTx/>
                <a:latin typeface="メイリオ"/>
                <a:ea typeface="メイリオ"/>
              </a:rPr>
              <a:t>公式アカウントの初期設計</a:t>
            </a:r>
            <a:endParaRPr lang="en-US" sz="1250" b="0" u="none" strike="noStrike">
              <a:solidFill>
                <a:srgbClr val="000000"/>
              </a:solidFill>
              <a:effectLst/>
              <a:uFillTx/>
              <a:latin typeface="Arial"/>
            </a:endParaRPr>
          </a:p>
          <a:p>
            <a:pPr defTabSz="914400">
              <a:lnSpc>
                <a:spcPct val="100000"/>
              </a:lnSpc>
            </a:pPr>
            <a:r>
              <a:rPr lang="ja-JP" sz="1250" b="0" u="none" strike="noStrike">
                <a:solidFill>
                  <a:srgbClr val="333333"/>
                </a:solidFill>
                <a:effectLst/>
                <a:uFillTx/>
                <a:latin typeface="メイリオ"/>
                <a:ea typeface="メイリオ"/>
              </a:rPr>
              <a:t>・自動応答の設定</a:t>
            </a:r>
            <a:endParaRPr lang="en-US" sz="1250" b="0" u="none" strike="noStrike">
              <a:solidFill>
                <a:srgbClr val="000000"/>
              </a:solidFill>
              <a:effectLst/>
              <a:uFillTx/>
              <a:latin typeface="Arial"/>
            </a:endParaRPr>
          </a:p>
          <a:p>
            <a:pPr defTabSz="914400">
              <a:lnSpc>
                <a:spcPct val="100000"/>
              </a:lnSpc>
            </a:pPr>
            <a:r>
              <a:rPr lang="ja-JP" sz="1250" b="0" u="none" strike="noStrike">
                <a:solidFill>
                  <a:srgbClr val="333333"/>
                </a:solidFill>
                <a:effectLst/>
                <a:uFillTx/>
                <a:latin typeface="メイリオ"/>
                <a:ea typeface="メイリオ"/>
              </a:rPr>
              <a:t>・チャットタグの設計・設定</a:t>
            </a:r>
            <a:endParaRPr lang="en-US" sz="1250" b="0" u="none" strike="noStrike">
              <a:solidFill>
                <a:srgbClr val="000000"/>
              </a:solidFill>
              <a:effectLst/>
              <a:uFillTx/>
              <a:latin typeface="Arial"/>
            </a:endParaRPr>
          </a:p>
          <a:p>
            <a:pPr defTabSz="914400">
              <a:lnSpc>
                <a:spcPct val="100000"/>
              </a:lnSpc>
            </a:pPr>
            <a:r>
              <a:rPr lang="ja-JP" sz="1250" b="0" u="none" strike="noStrike">
                <a:solidFill>
                  <a:srgbClr val="333333"/>
                </a:solidFill>
                <a:effectLst/>
                <a:uFillTx/>
                <a:latin typeface="メイリオ"/>
                <a:ea typeface="メイリオ"/>
              </a:rPr>
              <a:t>・配信運用・改善支援</a:t>
            </a:r>
            <a:endParaRPr lang="en-US" sz="1250" b="0" u="none" strike="noStrike">
              <a:solidFill>
                <a:srgbClr val="000000"/>
              </a:solidFill>
              <a:effectLst/>
              <a:uFillTx/>
              <a:latin typeface="Arial"/>
            </a:endParaRPr>
          </a:p>
        </p:txBody>
      </p:sp>
      <p:sp>
        <p:nvSpPr>
          <p:cNvPr id="474" name="Rounded Rectangle 5"/>
          <p:cNvSpPr/>
          <p:nvPr/>
        </p:nvSpPr>
        <p:spPr>
          <a:xfrm>
            <a:off x="5024520" y="5056560"/>
            <a:ext cx="4320360" cy="3654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あらうち様｜物件確認・内見等の個別対応</a:t>
            </a:r>
            <a:endParaRPr lang="en-US" sz="1400" b="0" u="none" strike="noStrike">
              <a:solidFill>
                <a:srgbClr val="FFFFFF"/>
              </a:solidFill>
              <a:effectLst/>
              <a:uFillTx/>
              <a:latin typeface="Arial"/>
            </a:endParaRPr>
          </a:p>
        </p:txBody>
      </p:sp>
      <p:sp>
        <p:nvSpPr>
          <p:cNvPr id="475" name="Rounded Rectangle 6"/>
          <p:cNvSpPr/>
          <p:nvPr/>
        </p:nvSpPr>
        <p:spPr>
          <a:xfrm>
            <a:off x="502452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728" tIns="18288" rIns="73152" bIns="18288" anchor="ctr">
            <a:noAutofit/>
          </a:bodyPr>
          <a:lstStyle/>
          <a:p>
            <a:pPr defTabSz="914400">
              <a:lnSpc>
                <a:spcPct val="100000"/>
              </a:lnSpc>
            </a:pPr>
            <a:r>
              <a:rPr lang="ja-JP" sz="1250" b="0" u="none" strike="noStrike">
                <a:solidFill>
                  <a:srgbClr val="333333"/>
                </a:solidFill>
                <a:effectLst/>
                <a:uFillTx/>
                <a:latin typeface="メイリオ"/>
                <a:ea typeface="メイリオ"/>
              </a:rPr>
              <a:t>・個別チャットでの返信</a:t>
            </a:r>
            <a:endParaRPr lang="en-US" sz="1250" b="0" u="none" strike="noStrike">
              <a:solidFill>
                <a:srgbClr val="000000"/>
              </a:solidFill>
              <a:effectLst/>
              <a:uFillTx/>
              <a:latin typeface="Arial"/>
            </a:endParaRPr>
          </a:p>
          <a:p>
            <a:pPr defTabSz="914400">
              <a:lnSpc>
                <a:spcPct val="100000"/>
              </a:lnSpc>
            </a:pPr>
            <a:r>
              <a:rPr lang="ja-JP" sz="1250" b="0" u="none" strike="noStrike">
                <a:solidFill>
                  <a:srgbClr val="333333"/>
                </a:solidFill>
                <a:effectLst/>
                <a:uFillTx/>
                <a:latin typeface="メイリオ"/>
                <a:ea typeface="メイリオ"/>
              </a:rPr>
              <a:t>・物件の空室確認</a:t>
            </a:r>
            <a:endParaRPr lang="en-US" sz="1250" b="0" u="none" strike="noStrike">
              <a:solidFill>
                <a:srgbClr val="000000"/>
              </a:solidFill>
              <a:effectLst/>
              <a:uFillTx/>
              <a:latin typeface="Arial"/>
            </a:endParaRPr>
          </a:p>
          <a:p>
            <a:pPr defTabSz="914400">
              <a:lnSpc>
                <a:spcPct val="100000"/>
              </a:lnSpc>
            </a:pPr>
            <a:r>
              <a:rPr lang="ja-JP" sz="1250" b="0" u="none" strike="noStrike">
                <a:solidFill>
                  <a:srgbClr val="333333"/>
                </a:solidFill>
                <a:effectLst/>
                <a:uFillTx/>
                <a:latin typeface="メイリオ"/>
                <a:ea typeface="メイリオ"/>
              </a:rPr>
              <a:t>・内見の手配</a:t>
            </a:r>
            <a:endParaRPr lang="en-US" sz="1250" b="0" u="none" strike="noStrike">
              <a:solidFill>
                <a:srgbClr val="000000"/>
              </a:solidFill>
              <a:effectLst/>
              <a:uFillTx/>
              <a:latin typeface="Arial"/>
            </a:endParaRPr>
          </a:p>
          <a:p>
            <a:pPr defTabSz="914400">
              <a:lnSpc>
                <a:spcPct val="100000"/>
              </a:lnSpc>
            </a:pPr>
            <a:r>
              <a:rPr lang="ja-JP" sz="1250" b="0" u="none" strike="noStrike">
                <a:solidFill>
                  <a:srgbClr val="333333"/>
                </a:solidFill>
                <a:effectLst/>
                <a:uFillTx/>
                <a:latin typeface="メイリオ"/>
                <a:ea typeface="メイリオ"/>
              </a:rPr>
              <a:t>・その他、お客様ごとの個別対応</a:t>
            </a:r>
            <a:endParaRPr lang="en-US" sz="1250" b="0" u="none" strike="noStrike">
              <a:solidFill>
                <a:srgbClr val="000000"/>
              </a:solidFill>
              <a:effectLst/>
              <a:uFillTx/>
              <a:latin typeface="Arial"/>
            </a:endParaRPr>
          </a:p>
        </p:txBody>
      </p:sp>
      <p:sp>
        <p:nvSpPr>
          <p:cNvPr id="476" name="Right Arrow 4"/>
          <p:cNvSpPr/>
          <p:nvPr/>
        </p:nvSpPr>
        <p:spPr>
          <a:xfrm>
            <a:off x="3250800" y="3182112"/>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182112"/>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8" name="計測範囲の注記"/>
          <p:cNvSpPr/>
          <p:nvPr/>
        </p:nvSpPr>
        <p:spPr>
          <a:xfrm>
            <a:off x="5024628" y="4745736"/>
            <a:ext cx="4320540" cy="292608"/>
          </a:xfrm>
          <a:prstGeom prst="rect">
            <a:avLst/>
          </a:prstGeom>
          <a:noFill/>
          <a:ln>
            <a:noFill/>
          </a:ln>
        </p:spPr>
        <p:txBody>
          <a:bodyPr wrap="square" lIns="36576" tIns="18288" rIns="36576" bIns="18288" rtlCol="0" anchor="ctr">
            <a:noAutofit/>
          </a:bodyPr>
          <a:lstStyle/>
          <a:p>
            <a:pPr algn="r">
              <a:buNone/>
            </a:pPr>
            <a:r>
              <a:rPr lang="ja-JP" altLang="en-US" sz="1200" b="0" dirty="0">
                <a:solidFill>
                  <a:srgbClr val="444444"/>
                </a:solidFill>
                <a:latin typeface="メイリオ" panose="020B0604030504040204" pitchFamily="50" charset="-128"/>
                <a:ea typeface="メイリオ" panose="020B0604030504040204" pitchFamily="50" charset="-128"/>
              </a:rPr>
              <a:t>※物件情報の送信（CV）以降は、当社の計測対象外です</a:t>
            </a:r>
            <a:endParaRPr lang="ja-JP" alt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施策詳細｜新規友だちの獲得</a:t>
            </a:r>
            <a:endParaRPr lang="en-US" sz="1600" b="0" u="none" strike="noStrike">
              <a:solidFill>
                <a:srgbClr val="000000"/>
              </a:solidFill>
              <a:effectLst/>
              <a:uFillTx/>
              <a:latin typeface="Arial"/>
            </a:endParaRPr>
          </a:p>
        </p:txBody>
      </p:sp>
      <p:sp>
        <p:nvSpPr>
          <p:cNvPr id="479" name="TextBox 2"/>
          <p:cNvSpPr/>
          <p:nvPr/>
        </p:nvSpPr>
        <p:spPr>
          <a:xfrm>
            <a:off x="429840" y="914400"/>
            <a:ext cx="905220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a:solidFill>
                  <a:srgbClr val="5A6378"/>
                </a:solidFill>
                <a:effectLst/>
                <a:uFillTx/>
                <a:latin typeface="メイリオ"/>
                <a:ea typeface="メイリオ"/>
              </a:rPr>
              <a:t>サイトの</a:t>
            </a:r>
            <a:r>
              <a:rPr lang="en-US" sz="1600" b="0" u="none" strike="noStrike">
                <a:solidFill>
                  <a:srgbClr val="5A6378"/>
                </a:solidFill>
                <a:effectLst/>
                <a:uFillTx/>
                <a:latin typeface="メイリオ"/>
                <a:ea typeface="メイリオ"/>
              </a:rPr>
              <a:t>2</a:t>
            </a:r>
            <a:r>
              <a:rPr lang="zh-CN" sz="1600" b="0" u="none" strike="noStrike">
                <a:solidFill>
                  <a:srgbClr val="5A6378"/>
                </a:solidFill>
                <a:effectLst/>
                <a:uFillTx/>
                <a:latin typeface="メイリオ"/>
                <a:ea typeface="メイリオ"/>
              </a:rPr>
              <a:t>つの接点から、</a:t>
            </a:r>
            <a:r>
              <a:rPr lang="en-US" sz="1600" b="0" u="none" strike="noStrike">
                <a:solidFill>
                  <a:srgbClr val="5A6378"/>
                </a:solidFill>
                <a:effectLst/>
                <a:uFillTx/>
                <a:latin typeface="メイリオ"/>
                <a:ea typeface="メイリオ"/>
              </a:rPr>
              <a:t>LINE</a:t>
            </a:r>
            <a:r>
              <a:rPr lang="zh-CN" sz="1600" b="0" u="none" strike="noStrike">
                <a:solidFill>
                  <a:srgbClr val="5A6378"/>
                </a:solidFill>
                <a:effectLst/>
                <a:uFillTx/>
                <a:latin typeface="メイリオ"/>
                <a:ea typeface="メイリオ"/>
              </a:rPr>
              <a:t>の友だち追加へつなげます</a:t>
            </a:r>
            <a:endParaRPr lang="en-US" sz="1600" b="0" u="none" strike="noStrike">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サイト内の「</a:t>
            </a:r>
            <a:r>
              <a:rPr lang="en-US" sz="1500" b="0" u="none" strike="noStrike">
                <a:solidFill>
                  <a:srgbClr val="333333"/>
                </a:solidFill>
                <a:effectLst/>
                <a:uFillTx/>
                <a:latin typeface="メイリオ"/>
                <a:ea typeface="メイリオ"/>
              </a:rPr>
              <a:t>LINE</a:t>
            </a:r>
            <a:r>
              <a:rPr lang="zh-CN" sz="1500" b="0" u="none" strike="noStrike">
                <a:solidFill>
                  <a:srgbClr val="333333"/>
                </a:solidFill>
                <a:effectLst/>
                <a:uFillTx/>
                <a:latin typeface="メイリオ"/>
                <a:ea typeface="メイリオ"/>
              </a:rPr>
              <a:t>でお問い合わせ」</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ボタン（全ページ）</a:t>
            </a:r>
            <a:endParaRPr lang="en-US" sz="1500" b="0" u="none" strike="noStrike">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0" name="TextBox 18"/>
          <p:cNvSpPr/>
          <p:nvPr/>
        </p:nvSpPr>
        <p:spPr>
          <a:xfrm>
            <a:off x="42984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※離脱防止ポップアップは、LINE</a:t>
            </a:r>
            <a:r>
              <a:rPr lang="zh-CN" sz="1300" b="0" u="none" strike="noStrike">
                <a:solidFill>
                  <a:srgbClr val="7F7F7F"/>
                </a:solidFill>
                <a:effectLst/>
                <a:uFillTx/>
                <a:latin typeface="メイリオ"/>
                <a:ea typeface="メイリオ"/>
              </a:rPr>
              <a:t>公式アカウントとは別に導入する施策です（初期</a:t>
            </a:r>
            <a:r>
              <a:rPr lang="en-US" sz="1300" b="0" u="none" strike="noStrike">
                <a:solidFill>
                  <a:srgbClr val="7F7F7F"/>
                </a:solidFill>
                <a:effectLst/>
                <a:uFillTx/>
                <a:latin typeface="メイリオ"/>
                <a:ea typeface="メイリオ"/>
              </a:rPr>
              <a:t>1.5</a:t>
            </a:r>
            <a:r>
              <a:rPr lang="zh-CN" sz="1300" b="0" u="none" strike="noStrike">
                <a:solidFill>
                  <a:srgbClr val="7F7F7F"/>
                </a:solidFill>
                <a:effectLst/>
                <a:uFillTx/>
                <a:latin typeface="メイリオ"/>
                <a:ea typeface="メイリオ"/>
              </a:rPr>
              <a:t>万円・月</a:t>
            </a:r>
            <a:r>
              <a:rPr lang="en-US" sz="1300" b="0" u="none" strike="noStrike">
                <a:solidFill>
                  <a:srgbClr val="7F7F7F"/>
                </a:solidFill>
                <a:effectLst/>
                <a:uFillTx/>
                <a:latin typeface="メイリオ"/>
                <a:ea typeface="メイリオ"/>
              </a:rPr>
              <a:t>3</a:t>
            </a:r>
            <a:r>
              <a:rPr lang="zh-CN" sz="1300" b="0" u="none" strike="noStrike">
                <a:solidFill>
                  <a:srgbClr val="7F7F7F"/>
                </a:solidFill>
                <a:effectLst/>
                <a:uFillTx/>
                <a:latin typeface="メイリオ"/>
                <a:ea typeface="メイリオ"/>
              </a:rPr>
              <a:t>万円）。</a:t>
            </a:r>
            <a:endParaRPr lang="en-US" sz="1300" b="0" u="none" strike="noStrike">
              <a:solidFill>
                <a:srgbClr val="000000"/>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5" name="TextBox 18"/>
          <p:cNvSpPr/>
          <p:nvPr/>
        </p:nvSpPr>
        <p:spPr>
          <a:xfrm>
            <a:off x="509328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※サイトのボタンは、リンク先を友だち追加用のURL</a:t>
            </a:r>
            <a:r>
              <a:rPr lang="zh-CN" sz="1300" b="0" u="none" strike="noStrike">
                <a:solidFill>
                  <a:srgbClr val="7F7F7F"/>
                </a:solidFill>
                <a:effectLst/>
                <a:uFillTx/>
                <a:latin typeface="メイリオ"/>
                <a:ea typeface="メイリオ"/>
              </a:rPr>
              <a:t>に変更します。</a:t>
            </a:r>
            <a:endParaRPr lang="en-US" sz="13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都度発注メニュー</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solidFill>
                <a:effectLst/>
                <a:uFillTx/>
                <a:latin typeface="メイリオ"/>
                <a:ea typeface="メイリオ"/>
              </a:rPr>
              <a:t>LINEOA</a:t>
            </a:r>
            <a:r>
              <a:rPr lang="ja-JP" sz="1600" b="1" u="none" strike="noStrike">
                <a:solidFill>
                  <a:schemeClr val="dk1"/>
                </a:solidFill>
                <a:effectLst/>
                <a:uFillTx/>
                <a:latin typeface="メイリオ"/>
                <a:ea typeface="メイリオ"/>
              </a:rPr>
              <a:t>の運用業務・</a:t>
            </a:r>
            <a:r>
              <a:rPr lang="en-US" sz="1600" b="1" u="none" strike="noStrike">
                <a:solidFill>
                  <a:schemeClr val="dk1"/>
                </a:solidFill>
                <a:effectLst/>
                <a:uFillTx/>
                <a:latin typeface="メイリオ"/>
                <a:ea typeface="メイリオ"/>
              </a:rPr>
              <a:t>CR</a:t>
            </a:r>
            <a:r>
              <a:rPr lang="ja-JP" sz="1600" b="1" u="none" strike="noStrike">
                <a:solidFill>
                  <a:schemeClr val="dk1"/>
                </a:solidFill>
                <a:effectLst/>
                <a:uFillTx/>
                <a:latin typeface="メイリオ"/>
                <a:ea typeface="メイリオ"/>
              </a:rPr>
              <a:t>制作業務を一部外出ししてご依頼も。</a:t>
            </a:r>
            <a:endParaRPr lang="en-US" sz="1600" b="0" u="none" strike="noStrike">
              <a:solidFill>
                <a:srgbClr val="000000"/>
              </a:solidFill>
              <a:effectLst/>
              <a:uFillTx/>
              <a:latin typeface="Arial"/>
            </a:endParaRPr>
          </a:p>
        </p:txBody>
      </p:sp>
      <p:sp>
        <p:nvSpPr>
          <p:cNvPr id="644" name="正方形/長方形 11"/>
          <p:cNvSpPr/>
          <p:nvPr/>
        </p:nvSpPr>
        <p:spPr>
          <a:xfrm>
            <a:off x="549000" y="1380240"/>
            <a:ext cx="8859240" cy="513892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3520" cy="406944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199632"/>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50" name="正方形/長方形 1"/>
          <p:cNvSpPr/>
          <p:nvPr/>
        </p:nvSpPr>
        <p:spPr>
          <a:xfrm>
            <a:off x="3629520" y="3038040"/>
            <a:ext cx="2646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サポート体制</a:t>
            </a:r>
            <a:endParaRPr lang="en-US" sz="320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3" name="正方形/長方形 1"/>
          <p:cNvSpPr/>
          <p:nvPr/>
        </p:nvSpPr>
        <p:spPr>
          <a:xfrm>
            <a:off x="6757920" y="93600"/>
            <a:ext cx="1320480" cy="3438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lt1"/>
                </a:solidFill>
                <a:effectLst/>
                <a:uFillTx/>
                <a:latin typeface="メイリオ"/>
                <a:ea typeface="メイリオ"/>
              </a:rPr>
              <a:t>効果計測</a:t>
            </a:r>
            <a:endParaRPr lang="en-US" sz="1100" b="0" u="none" strike="noStrike">
              <a:solidFill>
                <a:srgbClr val="000000"/>
              </a:solidFill>
              <a:effectLst/>
              <a:uFillTx/>
              <a:latin typeface="Arial"/>
            </a:endParaRPr>
          </a:p>
        </p:txBody>
      </p:sp>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体制図（イメージ）</a:t>
            </a:r>
            <a:endParaRPr lang="en-US" sz="1600" b="0" u="none" strike="noStrike">
              <a:solidFill>
                <a:srgbClr val="000000"/>
              </a:solidFill>
              <a:effectLst/>
              <a:uFillTx/>
              <a:latin typeface="Arial"/>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運用スケジュール</a:t>
            </a:r>
            <a:endParaRPr lang="en-US" sz="1600" b="0" u="none" strike="noStrike">
              <a:solidFill>
                <a:srgbClr val="000000"/>
              </a:solidFill>
              <a:effectLst/>
              <a:uFillTx/>
              <a:latin typeface="Arial"/>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a:solidFill>
                  <a:schemeClr val="dk1">
                    <a:lumMod val="50000"/>
                    <a:lumOff val="50000"/>
                  </a:schemeClr>
                </a:solidFill>
                <a:effectLst/>
                <a:uFillTx/>
                <a:latin typeface="メイリオ"/>
                <a:ea typeface="メイリオ"/>
              </a:rPr>
              <a:t>※</a:t>
            </a:r>
            <a:r>
              <a:rPr lang="ja-JP" sz="1200" b="0" u="none" strike="noStrike">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737" name="正方形/長方形 1"/>
          <p:cNvSpPr/>
          <p:nvPr/>
        </p:nvSpPr>
        <p:spPr>
          <a:xfrm>
            <a:off x="1460880" y="3038040"/>
            <a:ext cx="6984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a:solidFill>
                  <a:schemeClr val="dk1">
                    <a:lumMod val="75000"/>
                    <a:lumOff val="25000"/>
                  </a:schemeClr>
                </a:solidFill>
                <a:effectLst/>
                <a:uFillTx/>
                <a:latin typeface="メイリオ"/>
                <a:ea typeface="メイリオ"/>
              </a:rPr>
              <a:t>LINE</a:t>
            </a:r>
            <a:r>
              <a:rPr lang="ja-JP" sz="3200" b="1" u="none" strike="noStrike">
                <a:solidFill>
                  <a:schemeClr val="dk1">
                    <a:lumMod val="75000"/>
                    <a:lumOff val="25000"/>
                  </a:schemeClr>
                </a:solidFill>
                <a:effectLst/>
                <a:uFillTx/>
                <a:latin typeface="メイリオ"/>
                <a:ea typeface="メイリオ"/>
              </a:rPr>
              <a:t>公式アカウント運用のメリット</a:t>
            </a:r>
            <a:endParaRPr lang="en-US" sz="32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中長期施策として</a:t>
            </a:r>
            <a:r>
              <a:rPr lang="en-US" sz="3200" b="1" u="none" strike="noStrike">
                <a:solidFill>
                  <a:schemeClr val="dk1">
                    <a:lumMod val="75000"/>
                    <a:lumOff val="25000"/>
                  </a:schemeClr>
                </a:solidFill>
                <a:effectLst/>
                <a:uFillTx/>
                <a:latin typeface="メイリオ"/>
                <a:ea typeface="メイリオ"/>
              </a:rPr>
              <a:t>…。</a:t>
            </a:r>
            <a:endParaRPr lang="en-US" sz="32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143143</TotalTime>
  <Words>6766</Words>
  <Application>Microsoft Office PowerPoint</Application>
  <PresentationFormat>A4 210 x 297 mm</PresentationFormat>
  <Paragraphs>1256</Paragraphs>
  <Slides>47</Slides>
  <Notes>21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47</vt:i4>
      </vt:variant>
    </vt:vector>
  </HeadingPairs>
  <TitlesOfParts>
    <vt:vector size="55"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1963</cp:revision>
  <cp:lastPrinted>2022-11-01T11:38:14Z</cp:lastPrinted>
  <dcterms:created xsi:type="dcterms:W3CDTF">2015-09-04T09:21:15Z</dcterms:created>
  <dcterms:modified xsi:type="dcterms:W3CDTF">2026-10-13T07:35:06Z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