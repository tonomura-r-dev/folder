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9"/>
    <p:sldId id="270" r:id="rId20"/>
    <p:sldId id="271" r:id="rId21"/>
    <p:sldId id="272" r:id="rId22"/>
    <p:sldId id="273" r:id="rId23"/>
    <p:sldId id="274" r:id="rId24"/>
    <p:sldId id="275" r:id="rId25"/>
    <p:sldId id="276" r:id="rId26"/>
    <p:sldId id="277"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1.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8.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改善の余地あり。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a:t>
            </a:r>
            <a:r>
              <a:rPr lang="en-US" sz="1200" b="1" u="none" strike="noStrike">
                <a:solidFill>
                  <a:schemeClr val="dk1"/>
                </a:solidFill>
                <a:effectLst/>
                <a:uFillTx/>
                <a:latin typeface="メイリオ"/>
                <a:ea typeface="メイリオ"/>
              </a:rPr>
              <a:t>807</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友だち追加の入口・追加後の動線ともに、改善の余地があると想定。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ポータルサイトで物件検索 → サイト閲覧 → LINE追加 → 物件情報の送信（CV）の流れで設計します。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一方で、</a:t>
            </a:r>
            <a:r>
              <a:rPr lang="ja-JP" sz="1400" b="1" u="none" strike="noStrike">
                <a:solidFill>
                  <a:schemeClr val="dk1">
                    <a:lumMod val="65000"/>
                    <a:lumOff val="35000"/>
                  </a:schemeClr>
                </a:solidFill>
                <a:effectLst/>
                <a:uFillTx/>
                <a:latin typeface="メイリオ"/>
                <a:ea typeface="メイリオ"/>
              </a:rPr>
              <a:t>あいさつに送るメリット・安心材料やボタンがなく、リッチメニューも未設置</a:t>
            </a:r>
            <a:r>
              <a:rPr lang="ja-JP" sz="1400" b="0" u="none" strike="noStrike">
                <a:solidFill>
                  <a:schemeClr val="dk1">
                    <a:lumMod val="65000"/>
                    <a:lumOff val="35000"/>
                  </a:schemeClr>
                </a:solidFill>
                <a:effectLst/>
                <a:uFillTx/>
                <a:latin typeface="メイリオ"/>
                <a:ea typeface="メイリオ"/>
              </a:rPr>
              <a:t>です。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&lt;対新規ユーザー領域（プラン①｜総合運用）&gt;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&lt;参考：CV以降の流れ（個別対応はあらうち様）／当社の計測対象外&gt;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物件情報の送信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2578608"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当社の定期対応項目(一部抽出)</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r>
              <a:rPr lang="en-US" sz="1200" b="1" u="none" strike="noStrike">
                <a:solidFill>
                  <a:schemeClr val="lt1"/>
                </a:solidFill>
                <a:effectLst/>
                <a:uFillTx/>
                <a:latin typeface="メイリオ"/>
                <a:ea typeface="メイリオ"/>
              </a:rPr>
              <a:t/>
            </a:r>
            <a:r>
              <a:rPr lang="ja-JP" sz="1200" b="1" u="none" strike="noStrike">
                <a:solidFill>
                  <a:schemeClr val="lt1"/>
                </a:solidFill>
                <a:effectLst/>
                <a:uFillTx/>
                <a:latin typeface="メイリオ"/>
                <a:ea typeface="メイリオ"/>
              </a:rPr>
              <a:t>）</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r>
              <a:rPr lang="en-US" sz="1200" b="1" u="none" strike="noStrike">
                <a:solidFill>
                  <a:schemeClr val="lt1"/>
                </a:solidFill>
                <a:effectLst/>
                <a:uFillTx/>
                <a:latin typeface="メイリオ"/>
                <a:ea typeface="メイリオ"/>
              </a:rPr>
              <a:t/>
            </a: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離脱防止ポップアップとサイトのLINEボタンから友だち追加し、物件情報の送信（CV）につなげます。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LINE上の接点</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物件の送り方を案内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物件URL</a:t>
            </a:r>
            <a:r>
              <a:rPr lang="zh-CN" sz="1100" b="0" u="none" strike="noStrike">
                <a:solidFill>
                  <a:srgbClr val="595959"/>
                </a:solidFill>
                <a:effectLst/>
                <a:uFillTx/>
                <a:latin typeface="メイリオ"/>
                <a:ea typeface="メイリオ"/>
              </a:rPr>
              <a:t>の送信</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247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約15件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新規友だち経由</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（①13件＋②約2件）</a:t>
            </a:r>
            <a:endParaRPr lang="en-US" sz="1100" b="0" u="none" strike="noStrike" dirty="0">
              <a:solidFill>
                <a:srgbClr val="000000"/>
              </a:solidFill>
              <a:effectLst/>
              <a:uFillTx/>
              <a:latin typeface="Arial"/>
            </a:endParaRPr>
          </a:p>
        </p:txBody>
      </p:sp>
      <p:sp>
        <p:nvSpPr>
          <p:cNvPr id="273" name="テキスト ボックス 106"/>
          <p:cNvSpPr/>
          <p:nvPr/>
        </p:nvSpPr>
        <p:spPr>
          <a:xfrm>
            <a:off x="7498080" y="3192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a:solidFill>
                  <a:srgbClr val="FF0000"/>
                </a:solidFill>
                <a:effectLst/>
                <a:uFillTx/>
                <a:latin typeface="メイリオ"/>
                <a:ea typeface="メイリオ"/>
              </a:rPr>
              <a:t>約18件</a:t>
            </a:r>
            <a:endParaRPr lang="en-US" sz="14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既存友だち経由</a:t>
            </a:r>
            <a:endParaRPr lang="en-US" sz="11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（企画配信経由の②）</a:t>
            </a:r>
            <a:endParaRPr lang="en-US" sz="1100" b="0" u="none" strike="noStrike">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r>
              <a:rPr lang="en-US" sz="1100" b="0" u="none" strike="noStrike">
                <a:solidFill>
                  <a:srgbClr val="595959"/>
                </a:solidFill>
                <a:effectLst/>
                <a:uFillTx/>
                <a:latin typeface="メイリオ"/>
                <a:ea typeface="メイリオ"/>
              </a:rPr>
              <a:t/>
            </a:r>
            <a:r>
              <a:rPr lang="ja-JP" sz="1100" b="0" u="none" strike="noStrike">
                <a:solidFill>
                  <a:srgbClr val="595959"/>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物件の送信（CV）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※プラン①の試算。①＝友だち追加直後の物件の送信、②＝配信経由。新規・既存の内訳は②をクリック数の比で振り分け</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
            </a:r>
            <a:r>
              <a:rPr lang="ja-JP" sz="1400" b="0" u="none" strike="noStrike">
                <a:solidFill>
                  <a:srgbClr val="333333"/>
                </a:solidFill>
                <a:effectLst/>
                <a:uFillTx/>
                <a:latin typeface="メイリオ" panose="020B0604030504040204" pitchFamily="50" charset="-128"/>
                <a:ea typeface="メイリオ" panose="020B0604030504040204" pitchFamily="50" charset="-128"/>
              </a:rPr>
              <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r>
              <a:rPr lang="ja-JP" sz="1200" b="0" u="none" strike="noStrike">
                <a:solidFill>
                  <a:schemeClr val="lt1"/>
                </a:solidFill>
                <a:effectLst/>
                <a:uFillTx/>
                <a:latin typeface="メイリオ"/>
                <a:ea typeface="メイリオ"/>
              </a:rPr>
              <a:t>　問い合わせ＝LINE上での物件情報の送信（CV）</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月10件 → 6か月目 月33件（試算）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物件の送り方に加え、営業電話なし・確認だけでも可などの送る理由と、ボタンを追加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a:t>
            </a:r>
            <a:r>
              <a:rPr lang="en-US" sz="1400" b="0" u="none" strike="noStrike">
                <a:solidFill>
                  <a:schemeClr val="dk2">
                    <a:lumMod val="75000"/>
                  </a:schemeClr>
                </a:solidFill>
                <a:effectLst/>
                <a:uFillTx/>
                <a:latin typeface="メイリオ"/>
                <a:ea typeface="メイリオ"/>
              </a:rPr>
              <a:t/>
            </a:r>
            <a:r>
              <a:rPr lang="ja-JP" sz="1400" b="0" u="none" strike="noStrike">
                <a:solidFill>
                  <a:schemeClr val="dk2">
                    <a:lumMod val="75000"/>
                  </a:schemeClr>
                </a:solidFill>
                <a:effectLst/>
                <a:uFillTx/>
                <a:latin typeface="メイリオ"/>
                <a:ea typeface="メイリオ"/>
              </a:rPr>
              <a:t>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r>
              <a:rPr lang="ja-JP" sz="1300" b="0" u="none" strike="noStrike">
                <a:solidFill>
                  <a:schemeClr val="accent1">
                    <a:lumMod val="75000"/>
                  </a:schemeClr>
                </a:solidFill>
                <a:effectLst/>
                <a:uFillTx/>
                <a:latin typeface="メイリオ"/>
                <a:ea typeface="メイリオ"/>
              </a:rPr>
              <a:t>　（プラン①｜総合運用の場合）</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438144" y="1508760"/>
            <a:ext cx="5916168" cy="1197864"/>
            <a:chOff x="3438144" y="1508760"/>
            <a:chExt cx="5916168" cy="1197864"/>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①_1か月目"/>
            <p:cNvSpPr/>
            <p:nvPr/>
          </p:nvSpPr>
          <p:spPr>
            <a:xfrm>
              <a:off x="3941063" y="2228088"/>
              <a:ext cx="402336" cy="762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問い合わせ②_1か月目"/>
            <p:cNvSpPr/>
            <p:nvPr/>
          </p:nvSpPr>
          <p:spPr>
            <a:xfrm>
              <a:off x="3941063" y="2151887"/>
              <a:ext cx="402336" cy="762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0" name="グラフ_合計_1か月目"/>
            <p:cNvSpPr/>
            <p:nvPr/>
          </p:nvSpPr>
          <p:spPr>
            <a:xfrm>
              <a:off x="3822191" y="185928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10件</a:t>
              </a:r>
              <a:endParaRPr lang="ja-JP" altLang="en-US" sz="1400" dirty="0"/>
            </a:p>
          </p:txBody>
        </p:sp>
        <p:sp>
          <p:nvSpPr>
            <p:cNvPr id="341"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2" name="グラフ_内訳_1か月目"/>
            <p:cNvSpPr/>
            <p:nvPr/>
          </p:nvSpPr>
          <p:spPr>
            <a:xfrm>
              <a:off x="382219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5＋5</a:t>
              </a:r>
              <a:endParaRPr lang="ja-JP" altLang="en-US" sz="1000" dirty="0"/>
            </a:p>
          </p:txBody>
        </p:sp>
        <p:sp>
          <p:nvSpPr>
            <p:cNvPr id="343" name="グラフ_問い合わせ①_2か月目"/>
            <p:cNvSpPr/>
            <p:nvPr/>
          </p:nvSpPr>
          <p:spPr>
            <a:xfrm>
              <a:off x="4581144" y="2197608"/>
              <a:ext cx="402336" cy="1066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4" name="グラフ_問い合わせ②_2か月目"/>
            <p:cNvSpPr/>
            <p:nvPr/>
          </p:nvSpPr>
          <p:spPr>
            <a:xfrm>
              <a:off x="4581144" y="2090928"/>
              <a:ext cx="402336" cy="10668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5" name="グラフ_合計_2か月目"/>
            <p:cNvSpPr/>
            <p:nvPr/>
          </p:nvSpPr>
          <p:spPr>
            <a:xfrm>
              <a:off x="4462272" y="179832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6"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7" name="グラフ_内訳_2か月目"/>
            <p:cNvSpPr/>
            <p:nvPr/>
          </p:nvSpPr>
          <p:spPr>
            <a:xfrm>
              <a:off x="446227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7＋7</a:t>
              </a:r>
              <a:endParaRPr lang="ja-JP" altLang="en-US" sz="1000" dirty="0"/>
            </a:p>
          </p:txBody>
        </p:sp>
        <p:sp>
          <p:nvSpPr>
            <p:cNvPr id="348" name="グラフ_問い合わせ①_3か月目"/>
            <p:cNvSpPr/>
            <p:nvPr/>
          </p:nvSpPr>
          <p:spPr>
            <a:xfrm>
              <a:off x="5221224" y="2182368"/>
              <a:ext cx="402336" cy="121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9" name="グラフ_問い合わせ②_3か月目"/>
            <p:cNvSpPr/>
            <p:nvPr/>
          </p:nvSpPr>
          <p:spPr>
            <a:xfrm>
              <a:off x="5221224" y="2029968"/>
              <a:ext cx="402336" cy="1524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0" name="グラフ_合計_3か月目"/>
            <p:cNvSpPr/>
            <p:nvPr/>
          </p:nvSpPr>
          <p:spPr>
            <a:xfrm>
              <a:off x="5102352" y="17373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18</a:t>
              </a:r>
              <a:endParaRPr lang="ja-JP" altLang="en-US" sz="1200" dirty="0"/>
            </a:p>
          </p:txBody>
        </p:sp>
        <p:sp>
          <p:nvSpPr>
            <p:cNvPr id="351"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52" name="グラフ_内訳_3か月目"/>
            <p:cNvSpPr/>
            <p:nvPr/>
          </p:nvSpPr>
          <p:spPr>
            <a:xfrm>
              <a:off x="510235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8＋10</a:t>
              </a:r>
              <a:endParaRPr lang="ja-JP" altLang="en-US" sz="1000" dirty="0"/>
            </a:p>
          </p:txBody>
        </p:sp>
        <p:sp>
          <p:nvSpPr>
            <p:cNvPr id="353" name="グラフ_問い合わせ①_4か月目"/>
            <p:cNvSpPr/>
            <p:nvPr/>
          </p:nvSpPr>
          <p:spPr>
            <a:xfrm>
              <a:off x="5861303" y="2151888"/>
              <a:ext cx="402336" cy="1524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問い合わせ②_4か月目"/>
            <p:cNvSpPr/>
            <p:nvPr/>
          </p:nvSpPr>
          <p:spPr>
            <a:xfrm>
              <a:off x="5861303" y="1953768"/>
              <a:ext cx="402336" cy="19812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5" name="グラフ_合計_4か月目"/>
            <p:cNvSpPr/>
            <p:nvPr/>
          </p:nvSpPr>
          <p:spPr>
            <a:xfrm>
              <a:off x="5742431" y="16611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23</a:t>
              </a:r>
              <a:endParaRPr lang="ja-JP" altLang="en-US" sz="1200" dirty="0"/>
            </a:p>
          </p:txBody>
        </p:sp>
        <p:sp>
          <p:nvSpPr>
            <p:cNvPr id="356"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7" name="グラフ_内訳_4か月目"/>
            <p:cNvSpPr/>
            <p:nvPr/>
          </p:nvSpPr>
          <p:spPr>
            <a:xfrm>
              <a:off x="574243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10＋13</a:t>
              </a:r>
              <a:endParaRPr lang="ja-JP" altLang="en-US" sz="1000" dirty="0"/>
            </a:p>
          </p:txBody>
        </p:sp>
        <p:sp>
          <p:nvSpPr>
            <p:cNvPr id="358" name="グラフ_問い合わせ①_5か月目"/>
            <p:cNvSpPr/>
            <p:nvPr/>
          </p:nvSpPr>
          <p:spPr>
            <a:xfrm>
              <a:off x="6501383" y="2121408"/>
              <a:ext cx="402336" cy="1828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9" name="グラフ_問い合わせ②_5か月目"/>
            <p:cNvSpPr/>
            <p:nvPr/>
          </p:nvSpPr>
          <p:spPr>
            <a:xfrm>
              <a:off x="6501383" y="1877568"/>
              <a:ext cx="402336" cy="24384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0" name="グラフ_合計_5か月目"/>
            <p:cNvSpPr/>
            <p:nvPr/>
          </p:nvSpPr>
          <p:spPr>
            <a:xfrm>
              <a:off x="6382512" y="158495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28</a:t>
              </a:r>
              <a:endParaRPr lang="ja-JP" altLang="en-US" sz="1200" dirty="0"/>
            </a:p>
          </p:txBody>
        </p:sp>
        <p:sp>
          <p:nvSpPr>
            <p:cNvPr id="361"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62" name="グラフ_内訳_5か月目"/>
            <p:cNvSpPr/>
            <p:nvPr/>
          </p:nvSpPr>
          <p:spPr>
            <a:xfrm>
              <a:off x="638251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12＋16</a:t>
              </a:r>
              <a:endParaRPr lang="ja-JP" altLang="en-US" sz="1000" dirty="0"/>
            </a:p>
          </p:txBody>
        </p:sp>
        <p:sp>
          <p:nvSpPr>
            <p:cNvPr id="363" name="グラフ_問い合わせ①_6か月目"/>
            <p:cNvSpPr/>
            <p:nvPr/>
          </p:nvSpPr>
          <p:spPr>
            <a:xfrm>
              <a:off x="7141464" y="2106168"/>
              <a:ext cx="402336" cy="1981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64" name="グラフ_問い合わせ②_6か月目"/>
            <p:cNvSpPr/>
            <p:nvPr/>
          </p:nvSpPr>
          <p:spPr>
            <a:xfrm>
              <a:off x="7141464" y="1801368"/>
              <a:ext cx="402336" cy="3048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5" name="グラフ_合計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33件</a:t>
              </a:r>
              <a:endParaRPr lang="ja-JP" altLang="en-US" sz="1400" dirty="0"/>
            </a:p>
          </p:txBody>
        </p:sp>
        <p:sp>
          <p:nvSpPr>
            <p:cNvPr id="366"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67" name="グラフ_内訳_6か月目"/>
            <p:cNvSpPr/>
            <p:nvPr/>
          </p:nvSpPr>
          <p:spPr>
            <a:xfrm>
              <a:off x="702259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13＋20</a:t>
              </a:r>
              <a:endParaRPr lang="ja-JP" altLang="en-US" sz="1000" dirty="0"/>
            </a:p>
          </p:txBody>
        </p:sp>
        <p:sp>
          <p:nvSpPr>
            <p:cNvPr id="368" name="グラフ_内訳の見出し"/>
            <p:cNvSpPr/>
            <p:nvPr/>
          </p:nvSpPr>
          <p:spPr>
            <a:xfrm>
              <a:off x="3438144" y="2514600"/>
              <a:ext cx="384048" cy="192024"/>
            </a:xfrm>
            <a:prstGeom prst="rect">
              <a:avLst/>
            </a:prstGeom>
            <a:noFill/>
            <a:ln>
              <a:noFill/>
            </a:ln>
          </p:spPr>
          <p:txBody>
            <a:bodyPr wrap="none" lIns="0" tIns="0" rIns="0"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①＋②</a:t>
              </a:r>
              <a:endParaRPr lang="ja-JP" altLang="en-US" sz="1000" dirty="0"/>
            </a:p>
          </p:txBody>
        </p:sp>
        <p:sp>
          <p:nvSpPr>
            <p:cNvPr id="369" name="グラフ_凡例_①"/>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70" name="グラフ_凡例文字_①"/>
            <p:cNvSpPr/>
            <p:nvPr/>
          </p:nvSpPr>
          <p:spPr>
            <a:xfrm>
              <a:off x="8028431" y="1554480"/>
              <a:ext cx="1325880" cy="237744"/>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①友だち追加直後</a:t>
              </a:r>
              <a:endParaRPr lang="ja-JP" altLang="en-US" sz="1100" dirty="0"/>
            </a:p>
          </p:txBody>
        </p:sp>
        <p:sp>
          <p:nvSpPr>
            <p:cNvPr id="371" name="グラフ_凡例_②"/>
            <p:cNvSpPr/>
            <p:nvPr/>
          </p:nvSpPr>
          <p:spPr>
            <a:xfrm>
              <a:off x="7845552" y="1847088"/>
              <a:ext cx="128016" cy="128016"/>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72" name="グラフ_凡例文字_②"/>
            <p:cNvSpPr/>
            <p:nvPr/>
          </p:nvSpPr>
          <p:spPr>
            <a:xfrm>
              <a:off x="8028431" y="1792224"/>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②ステップ配信・</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企画配信など</a:t>
              </a:r>
              <a:endParaRPr lang="ja-JP" altLang="en-US" sz="1100" dirty="0"/>
            </a:p>
          </p:txBody>
        </p:sp>
        <p:sp>
          <p:nvSpPr>
            <p:cNvPr id="373"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126件（試算）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r>
              <a:rPr lang="en-US" sz="1300" b="0" u="none" strike="noStrike">
                <a:solidFill>
                  <a:schemeClr val="dk1"/>
                </a:solidFill>
                <a:effectLst/>
                <a:uFillTx/>
                <a:latin typeface="メイリオ"/>
                <a:ea typeface="メイリオ"/>
              </a:rPr>
              <a:t/>
            </a:r>
            <a:r>
              <a:rPr lang="zh-CN" sz="1300" b="0" u="none" strike="noStrike">
                <a:solidFill>
                  <a:schemeClr val="dk1"/>
                </a:solidFill>
                <a:effectLst/>
                <a:uFillTx/>
                <a:latin typeface="メイリオ"/>
                <a:ea typeface="メイリオ"/>
              </a:rPr>
              <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問い合わせ①</a:t>
            </a:r>
            <a:endParaRPr lang="en-US" sz="1400" b="0" u="none" strike="noStrike">
              <a:solidFill>
                <a:srgbClr val="000000"/>
              </a:solidFill>
              <a:effectLst/>
              <a:uFillTx/>
              <a:latin typeface="Arial"/>
            </a:endParaRPr>
          </a:p>
        </p:txBody>
      </p:sp>
      <p:sp>
        <p:nvSpPr>
          <p:cNvPr id="363" name="正方形/長方形 83"/>
          <p:cNvSpPr/>
          <p:nvPr/>
        </p:nvSpPr>
        <p:spPr>
          <a:xfrm>
            <a:off x="6812280" y="290772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問い合わせ②</a:t>
            </a:r>
            <a:endParaRPr lang="en-US" sz="1400" b="0" u="none" strike="noStrike">
              <a:solidFill>
                <a:srgbClr val="000000"/>
              </a:solidFill>
              <a:effectLst/>
              <a:uFillTx/>
              <a:latin typeface="Arial"/>
            </a:endParaRPr>
          </a:p>
        </p:txBody>
      </p:sp>
      <p:sp>
        <p:nvSpPr>
          <p:cNvPr id="364" name="正方形/長方形 85"/>
          <p:cNvSpPr/>
          <p:nvPr/>
        </p:nvSpPr>
        <p:spPr>
          <a:xfrm>
            <a:off x="6812280" y="338328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合計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13</a:t>
            </a:r>
            <a:r>
              <a:rPr lang="zh-CN" sz="1400" b="1" u="none" strike="noStrike">
                <a:solidFill>
                  <a:srgbClr val="FF0000"/>
                </a:solidFill>
                <a:effectLst/>
                <a:uFillTx/>
                <a:latin typeface="メイリオ"/>
                <a:ea typeface="メイリオ"/>
              </a:rPr>
              <a:t>件</a:t>
            </a:r>
            <a:r>
              <a:rPr lang="en-US" sz="1400" b="1" u="none" strike="noStrike">
                <a:solidFill>
                  <a:srgbClr val="FF0000"/>
                </a:solidFill>
                <a:effectLst/>
                <a:uFillTx/>
                <a:latin typeface="メイリオ"/>
                <a:ea typeface="メイリオ"/>
              </a:rPr>
              <a:t>/</a:t>
            </a:r>
            <a:r>
              <a:rPr lang="zh-CN" sz="1400" b="1" u="none" strike="noStrike">
                <a:solidFill>
                  <a:srgbClr val="FF0000"/>
                </a:solidFill>
                <a:effectLst/>
                <a:uFillTx/>
                <a:latin typeface="メイリオ"/>
                <a:ea typeface="メイリオ"/>
              </a:rPr>
              <a:t>月</a:t>
            </a:r>
            <a:endParaRPr lang="en-US" sz="1400" b="0" u="none" strike="noStrike">
              <a:solidFill>
                <a:srgbClr val="000000"/>
              </a:solidFill>
              <a:effectLst/>
              <a:uFillTx/>
              <a:latin typeface="Arial"/>
            </a:endParaRPr>
          </a:p>
        </p:txBody>
      </p:sp>
      <p:sp>
        <p:nvSpPr>
          <p:cNvPr id="377" name="テキスト ボックス 22"/>
          <p:cNvSpPr/>
          <p:nvPr/>
        </p:nvSpPr>
        <p:spPr>
          <a:xfrm>
            <a:off x="8256960" y="290772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20件/月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338328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33件/月</a:t>
            </a:r>
            <a:endParaRPr lang="en-US" sz="1400" b="0" u="none" strike="noStrike">
              <a:solidFill>
                <a:srgbClr val="000000"/>
              </a:solidFill>
              <a:effectLst/>
              <a:uFillTx/>
              <a:latin typeface="Arial"/>
            </a:endParaRPr>
          </a:p>
        </p:txBody>
      </p:sp>
      <p:sp>
        <p:nvSpPr>
          <p:cNvPr id="379" name="テキスト ボックス 30"/>
          <p:cNvSpPr/>
          <p:nvPr/>
        </p:nvSpPr>
        <p:spPr>
          <a:xfrm>
            <a:off x="7680960" y="3858840"/>
            <a:ext cx="2194560" cy="365400"/>
          </a:xfrm>
          <a:prstGeom prst="rect">
            <a:avLst/>
          </a:prstGeom>
          <a:no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400" b="1" u="none" strike="noStrike">
                <a:solidFill>
                  <a:schemeClr val="dk1"/>
                </a:solidFill>
                <a:effectLst/>
                <a:uFillTx/>
                <a:latin typeface="メイリオ"/>
                <a:ea typeface="メイリオ"/>
              </a:rPr>
              <a:t>（6か月累計126件）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か月目の月間の試算。問い合わせ①＝友だち追加直後の物件の問い合わせ、②＝ステップ配信・企画配信などからの問い合わせ</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友だち追加の増加と導線改善で、6か月目にLINE経由の問い合わせ月33件を見込みます（試算）。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4370832"/>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nvGraphicFramePr>
        <p:xfrm>
          <a:off x="384048" y="1353312"/>
          <a:ext cx="9144000" cy="3749040"/>
        </p:xfrm>
        <a:graphic>
          <a:graphicData uri="http://schemas.openxmlformats.org/drawingml/2006/table">
            <a:tbl>
              <a:tblPr/>
              <a:tblGrid>
                <a:gridCol w="2286000"/>
                <a:gridCol w="2286000"/>
                <a:gridCol w="2286000"/>
                <a:gridCol w="2286000"/>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br>
                        <a:rPr lang="ja-JP" altLang="en-US" sz="1400" b="1" dirty="0">
                          <a:solidFill>
                            <a:srgbClr val="1F285A"/>
                          </a:solidFill>
                          <a:latin typeface="メイリオ" panose="020B0604030504040204" pitchFamily="50" charset="-128"/>
                          <a:ea typeface="メイリオ" panose="020B0604030504040204" pitchFamily="50" charset="-128"/>
                        </a:rPr>
                      </a:b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rowSpan="2">
                  <a:txBody>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導入後も継続して利用する</a:t>
                      </a:r>
                      <a:endParaRPr lang="ja-JP" altLang="en-US" sz="1300" dirty="0"/>
                    </a:p>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ツールについて、</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ツール利用料＋DYM手数料</a:t>
                      </a:r>
                      <a:endParaRPr lang="ja-JP" altLang="en-US" sz="1300" dirty="0"/>
                    </a:p>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が発生します</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vMerge="1">
                  <a:txBody>
                    <a:bodyPr/>
                    <a:lstStyle/>
                    <a:p>
                      <a:pPr algn="ctr">
                        <a:buNone/>
                      </a:pP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※価格はあらうち様向けの個別提案価格です（DYMの標準価格ではありません）。初期費用215,000円は3プラン共通です。</a:t>
            </a:r>
            <a:endParaRPr lang="ja-JP" altLang="en-US" sz="1100" dirty="0"/>
          </a:p>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※プラン①の月額ツール・LINE関連費35,000円の内訳は、離脱防止ポップアップ30,000円、LINE公式アカウント5,000円です。</a:t>
            </a:r>
            <a:endParaRPr lang="ja-JP" altLang="en-US" sz="1100" dirty="0"/>
          </a:p>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※プラン③は、月額のコンサルティング費用はありません。導入後も継続して利用するツールについては、ツール利用料およびDYM手数料が発生します。</a:t>
            </a: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nvGraphicFramePr>
        <p:xfrm>
          <a:off x="384048" y="1353312"/>
          <a:ext cx="9144000" cy="4206240"/>
        </p:xfrm>
        <a:graphic>
          <a:graphicData uri="http://schemas.openxmlformats.org/drawingml/2006/table">
            <a:tbl>
              <a:tblPr/>
              <a:tblGrid>
                <a:gridCol w="2286000"/>
                <a:gridCol w="2286000"/>
                <a:gridCol w="2286000"/>
                <a:gridCol w="2286000"/>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r>
              <a:tr h="603504">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継続利用するツールの</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ツール利用料＋DYM手数料</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bl>
          </a:graphicData>
        </a:graphic>
      </p:graphicFrame>
      <p:sp>
        <p:nvSpPr>
          <p:cNvPr id="7" name="注記"/>
          <p:cNvSpPr/>
          <p:nvPr/>
        </p:nvSpPr>
        <p:spPr>
          <a:xfrm>
            <a:off x="384048" y="5687568"/>
            <a:ext cx="9144000" cy="804671"/>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※13ページの試算（6か月目に月33件）は、プラン①｜総合運用の基本施策を対象としたものです。プラン②・③の成果は含みません。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※プラン③は、導入後も継続して利用するツールについて、ツール利用料およびDYM手数料が発生します。</a:t>
            </a:r>
            <a:endParaRPr lang="ja-JP" alt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物件URLの送信を後押しします（プラン①｜総合運用）</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1F2A5C"/>
                </a:solidFill>
                <a:effectLst/>
                <a:uFillTx/>
                <a:latin typeface="メイリオ"/>
                <a:ea typeface="メイリオ"/>
              </a:rPr>
              <a:t>設定：当社　対応：自動</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・よくある質問（初期費用・お申込みの流れなど）にキーワード応答で自動回答</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・リッチメニューのボタンと同じ言葉で応答を用意</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・受付時間外は、時間を指定して受付の旨を自動で返信</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・リッチメニューから</a:t>
            </a:r>
            <a:r>
              <a:rPr lang="en-US" sz="1300" b="0" u="none" strike="noStrike">
                <a:solidFill>
                  <a:srgbClr val="333333"/>
                </a:solidFill>
                <a:effectLst/>
                <a:uFillTx/>
                <a:latin typeface="メイリオ"/>
                <a:ea typeface="メイリオ"/>
              </a:rPr>
              <a:t>100</a:t>
            </a:r>
            <a:r>
              <a:rPr lang="ja-JP" sz="1300" b="0" u="none" strike="noStrike">
                <a:solidFill>
                  <a:srgbClr val="333333"/>
                </a:solidFill>
                <a:effectLst/>
                <a:uFillTx/>
                <a:latin typeface="メイリオ"/>
                <a:ea typeface="メイリオ"/>
              </a:rPr>
              <a:t>円チェッカーへ案内</a:t>
            </a:r>
            <a:endParaRPr lang="en-US" sz="13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4A6FA5"/>
                </a:solidFill>
                <a:effectLst/>
                <a:uFillTx/>
                <a:latin typeface="メイリオ"/>
                <a:ea typeface="メイリオ"/>
              </a:rPr>
              <a:t>対応：あらうち様</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・ご担当者様が、物件に関する相談・問い合わせに対応</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・送られた物件（</a:t>
            </a:r>
            <a:r>
              <a:rPr lang="en-US" sz="1300" b="0" u="none" strike="noStrike">
                <a:solidFill>
                  <a:srgbClr val="333333"/>
                </a:solidFill>
                <a:effectLst/>
                <a:uFillTx/>
                <a:latin typeface="メイリオ"/>
                <a:ea typeface="メイリオ"/>
              </a:rPr>
              <a:t>URL</a:t>
            </a:r>
            <a:r>
              <a:rPr lang="ja-JP" sz="1300" b="0" u="none" strike="noStrike">
                <a:solidFill>
                  <a:srgbClr val="333333"/>
                </a:solidFill>
                <a:effectLst/>
                <a:uFillTx/>
                <a:latin typeface="メイリオ"/>
                <a:ea typeface="メイリオ"/>
              </a:rPr>
              <a:t>・物件名・画像）の空室確認・内見の手配</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・一次対応は自動応答に任せ、物件の確認に集中</a:t>
            </a:r>
            <a:endParaRPr lang="en-US" sz="13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5B6478"/>
                </a:solidFill>
                <a:effectLst/>
                <a:uFillTx/>
                <a:latin typeface="メイリオ"/>
                <a:ea typeface="メイリオ"/>
              </a:rPr>
              <a:t>設計・設定：当社</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・問い合わせ状況・対応ステータス（受付・確認中・返信済）を管理</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・タグの付け替えで、確認漏れ・返信漏れを防止</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・問い合わせ済みの方を除いた再案内で、重複配信を防止</a:t>
            </a:r>
            <a:endParaRPr lang="en-US" sz="13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※配信運用・改善支援は月額コンサル費に含みます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300" b="0" u="none" strike="noStrike">
                <a:solidFill>
                  <a:srgbClr val="333333"/>
                </a:solidFill>
                <a:effectLst/>
                <a:uFillTx/>
                <a:latin typeface="メイリオ"/>
                <a:ea typeface="メイリオ"/>
              </a:rPr>
              <a:t>・</a:t>
            </a:r>
            <a:r>
              <a:rPr lang="en-US" sz="1300" b="0" u="none" strike="noStrike">
                <a:solidFill>
                  <a:srgbClr val="333333"/>
                </a:solidFill>
                <a:effectLst/>
                <a:uFillTx/>
                <a:latin typeface="メイリオ"/>
                <a:ea typeface="メイリオ"/>
              </a:rPr>
              <a:t>LINE</a:t>
            </a:r>
            <a:r>
              <a:rPr lang="ja-JP" sz="1300" b="0" u="none" strike="noStrike">
                <a:solidFill>
                  <a:srgbClr val="333333"/>
                </a:solidFill>
                <a:effectLst/>
                <a:uFillTx/>
                <a:latin typeface="メイリオ"/>
                <a:ea typeface="メイリオ"/>
              </a:rPr>
              <a:t>公式アカウントの初期設計</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・自動応答の設定</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・チャットタグの設計・設定</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・配信運用・改善支援</a:t>
            </a:r>
            <a:endParaRPr lang="en-US" sz="13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300" b="0" u="none" strike="noStrike">
                <a:solidFill>
                  <a:srgbClr val="333333"/>
                </a:solidFill>
                <a:effectLst/>
                <a:uFillTx/>
                <a:latin typeface="メイリオ"/>
                <a:ea typeface="メイリオ"/>
              </a:rPr>
              <a:t>・個別チャットでの返信</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・物件の空室確認</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・内見の手配</a:t>
            </a:r>
            <a:endParaRPr lang="en-US" sz="1300" b="0" u="none" strike="noStrike">
              <a:solidFill>
                <a:srgbClr val="000000"/>
              </a:solidFill>
              <a:effectLst/>
              <a:uFillTx/>
              <a:latin typeface="Arial"/>
            </a:endParaRPr>
          </a:p>
          <a:p>
            <a:pPr defTabSz="914400">
              <a:lnSpc>
                <a:spcPct val="100000"/>
              </a:lnSpc>
            </a:pPr>
            <a:r>
              <a:rPr lang="ja-JP" sz="1300" b="0" u="none" strike="noStrike">
                <a:solidFill>
                  <a:srgbClr val="333333"/>
                </a:solidFill>
                <a:effectLst/>
                <a:uFillTx/>
                <a:latin typeface="メイリオ"/>
                <a:ea typeface="メイリオ"/>
              </a:rPr>
              <a:t>・その他、お客様ごとの個別対応</a:t>
            </a:r>
            <a:endParaRPr lang="en-US" sz="13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r">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都度発注メニュー</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2179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143143</TotalTime>
  <Words>6766</Words>
  <Application>Microsoft Office PowerPoint</Application>
  <PresentationFormat>A4 210 x 297 mm</PresentationFormat>
  <Paragraphs>1256</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1963</cp:revision>
  <cp:lastPrinted>2022-11-01T11:38:14Z</cp:lastPrinted>
  <dcterms:created xsi:type="dcterms:W3CDTF">2015-09-04T09:21:15Z</dcterms:created>
  <dcterms:modified xsi:type="dcterms:W3CDTF">2026-10-13T07:35:06Z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