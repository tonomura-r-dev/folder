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3152" r:id="rId37"/>
    <p:sldId id="3153" r:id="rId53"/>
    <p:sldId id="3154" r:id="rId54"/>
    <p:sldId id="3155" r:id="rId55"/>
    <p:sldId id="3156" r:id="rId56"/>
    <p:sldId id="3157" r:id="rId57"/>
    <p:sldId id="3158" r:id="rId58"/>
    <p:sldId id="3159" r:id="rId59"/>
    <p:sldId id="2727" r:id="rId11"/>
    <p:sldId id="3131" r:id="rId12"/>
    <p:sldId id="3132" r:id="rId13"/>
    <p:sldId id="3150" r:id="rId14"/>
    <p:sldId id="2732" r:id="rId15"/>
    <p:sldId id="2733" r:id="rId16"/>
    <p:sldId id="2972" r:id="rId17"/>
    <p:sldId id="2975" r:id="rId18"/>
    <p:sldId id="2974" r:id="rId19"/>
    <p:sldId id="2728" r:id="rId20"/>
    <p:sldId id="3160" r:id="rId60"/>
    <p:sldId id="3161" r:id="rId61"/>
    <p:sldId id="3162" r:id="rId62"/>
    <p:sldId id="3163" r:id="rId63"/>
    <p:sldId id="3164" r:id="rId64"/>
    <p:sldId id="3165" r:id="rId65"/>
    <p:sldId id="3166" r:id="rId66"/>
    <p:sldId id="3167" r:id="rId67"/>
    <p:sldId id="2729" r:id="rId29"/>
    <p:sldId id="3168" r:id="rId68"/>
    <p:sldId id="3169" r:id="rId69"/>
    <p:sldId id="3170" r:id="rId70"/>
    <p:sldId id="2730" r:id="rId31"/>
    <p:sldId id="2563" r:id="rId32"/>
    <p:sldId id="2959" r:id="rId33"/>
    <p:sldId id="2970" r:id="rId34"/>
    <p:sldId id="2968" r:id="rId35"/>
    <p:sldId id="2969" r:id="rId36"/>
    <p:sldId id="3151" r:id="rId52"/>
    <p:sldId id="2575" r:id="rId38"/>
    <p:sldId id="2910" r:id="rId39"/>
    <p:sldId id="3171" r:id="rId71"/>
    <p:sldId id="3172" r:id="rId72"/>
    <p:sldId id="3173" r:id="rId73"/>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24"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9" Type="http://schemas.openxmlformats.org/officeDocument/2006/relationships/slide" Target="slides/slide27.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44.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35.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46.jpeg"/><Relationship Id="rId5" Type="http://schemas.openxmlformats.org/officeDocument/2006/relationships/image" Target="../media/image61.jpg"/><Relationship Id="rId6" Type="http://schemas.openxmlformats.org/officeDocument/2006/relationships/image" Target="../media/image48.png"/><Relationship Id="rId7" Type="http://schemas.openxmlformats.org/officeDocument/2006/relationships/hyperlink" Target="https://youtube.com/shorts/0qI4QgrOppQ" TargetMode="External"/><Relationship Id="rId8" Type="http://schemas.openxmlformats.org/officeDocument/2006/relationships/image" Target="../media/image45.png"/><Relationship Id="rId9" Type="http://schemas.openxmlformats.org/officeDocument/2006/relationships/image" Target="../media/image62.png"/><Relationship Id="rId10" Type="http://schemas.openxmlformats.org/officeDocument/2006/relationships/image" Target="../media/image44.png"/><Relationship Id="rId11"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image" Target="../media/image56.jpeg"/><Relationship Id="rId7" Type="http://schemas.openxmlformats.org/officeDocument/2006/relationships/image" Target="../media/image57.jpeg"/><Relationship Id="rId8" Type="http://schemas.openxmlformats.org/officeDocument/2006/relationships/image" Target="../media/image5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jpg"/><Relationship Id="rId3" Type="http://schemas.openxmlformats.org/officeDocument/2006/relationships/image" Target="../media/image63.jpg"/><Relationship Id="rId4" Type="http://schemas.openxmlformats.org/officeDocument/2006/relationships/image" Target="../media/image6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jpg"/><Relationship Id="rId3" Type="http://schemas.openxmlformats.org/officeDocument/2006/relationships/image" Target="../media/image6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jpg"/><Relationship Id="rId3" Type="http://schemas.openxmlformats.org/officeDocument/2006/relationships/image" Target="../media/image6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jpg"/><Relationship Id="rId3" Type="http://schemas.openxmlformats.org/officeDocument/2006/relationships/image" Target="../media/image70.jpg"/><Relationship Id="rId4" Type="http://schemas.openxmlformats.org/officeDocument/2006/relationships/image" Target="../media/image71.jpg"/><Relationship Id="rId5" Type="http://schemas.openxmlformats.org/officeDocument/2006/relationships/image" Target="../media/image7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878" name="Rectangle 877"/>
          <p:cNvSpPr/>
          <p:nvPr/>
        </p:nvSpPr>
        <p:spPr>
          <a:xfrm>
            <a:off x="384048" y="1600200"/>
            <a:ext cx="9116568" cy="45720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0">
                <a:solidFill>
                  <a:srgbClr val="777777"/>
                </a:solidFill>
                <a:latin typeface="メイリオ"/>
                <a:ea typeface="メイリオ"/>
                <a:cs typeface="メイリオ"/>
              </a:rPr>
              <a:t>差し込み：前後検索「リゾートバイト」（LINEヤフーのデータ）</a:t>
            </a: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43" name="Rectangle 242"/>
          <p:cNvSpPr/>
          <p:nvPr/>
        </p:nvSpPr>
        <p:spPr>
          <a:xfrm>
            <a:off x="384048" y="1600200"/>
            <a:ext cx="9116568" cy="45720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0">
                <a:solidFill>
                  <a:srgbClr val="777777"/>
                </a:solidFill>
                <a:latin typeface="メイリオ"/>
                <a:ea typeface="メイリオ"/>
                <a:cs typeface="メイリオ"/>
              </a:rPr>
              <a:t>差し込み：Day0〜15のステップ配信（前後検索をもとに作成）</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19" name="Rectangle 18"/>
          <p:cNvSpPr/>
          <p:nvPr/>
        </p:nvSpPr>
        <p:spPr>
          <a:xfrm>
            <a:off x="384048" y="1600200"/>
            <a:ext cx="9116568" cy="45720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0">
                <a:solidFill>
                  <a:srgbClr val="777777"/>
                </a:solidFill>
                <a:latin typeface="メイリオ"/>
                <a:ea typeface="メイリオ"/>
                <a:cs typeface="メイリオ"/>
              </a:rPr>
              <a:t>差し込み：Googleトレンド「リゾートバイト」と、時期ごとの企画配信</a:t>
            </a: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5"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10"/>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8"/>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8"/>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8"/>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4"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11"/>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11"/>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55080"/>
            <a:ext cx="9144000" cy="228600"/>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出典｜各社のLINE公式アカウント（2026年10月に確認）。友だち数はプロフィールの表示。「—」は確認した画面では配信が見えなかったもの</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90000" tIns="0" rIns="36000" bIns="0"/>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t" wrap="square" lIns="90000" tIns="36000" rIns="54000" bIns="18000"/>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他社は、友だち追加の直後から毎日つないでいる。リゾートバイトの集客で、LINEは必須の接点になっている。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28800"/>
            <a:ext cx="32918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60" name="Rectangle 59"/>
          <p:cNvSpPr/>
          <p:nvPr/>
        </p:nvSpPr>
        <p:spPr>
          <a:xfrm>
            <a:off x="3703320" y="1828800"/>
            <a:ext cx="582472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61" name="Rectangle 60"/>
          <p:cNvSpPr/>
          <p:nvPr/>
        </p:nvSpPr>
        <p:spPr>
          <a:xfrm>
            <a:off x="384048" y="2231136"/>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1">
                <a:solidFill>
                  <a:srgbClr val="1F2A5C"/>
                </a:solidFill>
                <a:latin typeface="メイリオ"/>
                <a:ea typeface="メイリオ"/>
                <a:cs typeface="メイリオ"/>
              </a:rPr>
              <a:t>1. 追加の直後に、登録・相談へ誘導する</a:t>
            </a:r>
          </a:p>
        </p:txBody>
      </p:sp>
      <p:sp>
        <p:nvSpPr>
          <p:cNvPr id="62" name="Rectangle 61"/>
          <p:cNvSpPr/>
          <p:nvPr/>
        </p:nvSpPr>
        <p:spPr>
          <a:xfrm>
            <a:off x="3703320" y="2231136"/>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0">
                <a:solidFill>
                  <a:srgbClr val="333333"/>
                </a:solidFill>
                <a:latin typeface="メイリオ"/>
                <a:ea typeface="メイリオ"/>
                <a:cs typeface="メイリオ"/>
              </a:rPr>
              <a:t>リゾートバイトダイブ／リゾバ.com／アルファリゾート</a:t>
            </a:r>
          </a:p>
        </p:txBody>
      </p:sp>
      <p:sp>
        <p:nvSpPr>
          <p:cNvPr id="63" name="Rectangle 62"/>
          <p:cNvSpPr/>
          <p:nvPr/>
        </p:nvSpPr>
        <p:spPr>
          <a:xfrm>
            <a:off x="384048" y="2907792"/>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1">
                <a:solidFill>
                  <a:srgbClr val="1F2A5C"/>
                </a:solidFill>
                <a:latin typeface="メイリオ"/>
                <a:ea typeface="メイリオ"/>
                <a:cs typeface="メイリオ"/>
              </a:rPr>
              <a:t>2. 追加の後も、毎日配信する</a:t>
            </a:r>
          </a:p>
        </p:txBody>
      </p:sp>
      <p:sp>
        <p:nvSpPr>
          <p:cNvPr id="64" name="Rectangle 63"/>
          <p:cNvSpPr/>
          <p:nvPr/>
        </p:nvSpPr>
        <p:spPr>
          <a:xfrm>
            <a:off x="3703320" y="2907792"/>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0">
                <a:solidFill>
                  <a:srgbClr val="333333"/>
                </a:solidFill>
                <a:latin typeface="メイリオ"/>
                <a:ea typeface="メイリオ"/>
                <a:cs typeface="メイリオ"/>
              </a:rPr>
              <a:t>リゾートバイトダイブ（毎日1通）／リゾバ.com（1日2通）</a:t>
            </a:r>
          </a:p>
        </p:txBody>
      </p:sp>
      <p:sp>
        <p:nvSpPr>
          <p:cNvPr id="65" name="Rectangle 64"/>
          <p:cNvSpPr/>
          <p:nvPr/>
        </p:nvSpPr>
        <p:spPr>
          <a:xfrm>
            <a:off x="384048" y="3584448"/>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1">
                <a:solidFill>
                  <a:srgbClr val="1F2A5C"/>
                </a:solidFill>
                <a:latin typeface="メイリオ"/>
                <a:ea typeface="メイリオ"/>
                <a:cs typeface="メイリオ"/>
              </a:rPr>
              <a:t>3. 経験・タイプを聞き、合う求人を出し分ける</a:t>
            </a:r>
          </a:p>
        </p:txBody>
      </p:sp>
      <p:sp>
        <p:nvSpPr>
          <p:cNvPr id="66" name="Rectangle 65"/>
          <p:cNvSpPr/>
          <p:nvPr/>
        </p:nvSpPr>
        <p:spPr>
          <a:xfrm>
            <a:off x="3703320" y="3584448"/>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0">
                <a:solidFill>
                  <a:srgbClr val="333333"/>
                </a:solidFill>
                <a:latin typeface="メイリオ"/>
                <a:ea typeface="メイリオ"/>
                <a:cs typeface="メイリオ"/>
              </a:rPr>
              <a:t>リゾバ.com（経験の有無・タイプ別）／リゾートバイト.com（アンケート）</a:t>
            </a:r>
          </a:p>
        </p:txBody>
      </p:sp>
      <p:sp>
        <p:nvSpPr>
          <p:cNvPr id="67" name="Rectangle 66"/>
          <p:cNvSpPr/>
          <p:nvPr/>
        </p:nvSpPr>
        <p:spPr>
          <a:xfrm>
            <a:off x="384048" y="4261104"/>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1">
                <a:solidFill>
                  <a:srgbClr val="1F2A5C"/>
                </a:solidFill>
                <a:latin typeface="メイリオ"/>
                <a:ea typeface="メイリオ"/>
                <a:cs typeface="メイリオ"/>
              </a:rPr>
              <a:t>4. リッチメニューに、開始月別の求人を置く</a:t>
            </a:r>
          </a:p>
        </p:txBody>
      </p:sp>
      <p:sp>
        <p:nvSpPr>
          <p:cNvPr id="68" name="Rectangle 67"/>
          <p:cNvSpPr/>
          <p:nvPr/>
        </p:nvSpPr>
        <p:spPr>
          <a:xfrm>
            <a:off x="3703320" y="4261104"/>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50" b="0">
                <a:solidFill>
                  <a:srgbClr val="333333"/>
                </a:solidFill>
                <a:latin typeface="メイリオ"/>
                <a:ea typeface="メイリオ"/>
                <a:cs typeface="メイリオ"/>
              </a:rPr>
              <a:t>4社とも</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anchor="ctr" lIns="36000" rIns="36000" tIns="10800" bIns="10800">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anchor="ctr" lIns="36000" rIns="36000" tIns="10800" bIns="10800">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anchor="ctr" lIns="36000" rIns="36000" tIns="10800" bIns="10800">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anchor="ctr" lIns="36000" rIns="36000" tIns="10800" bIns="10800">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今のアンケートと「重視したいポイント」を発展</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サンクスLINE</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契約満了前の次のお仕事案内</a:t>
            </a:r>
          </a:p>
          <a:p>
            <a:pPr algn="l">
              <a:lnSpc>
                <a:spcPct val="105000"/>
              </a:lnSpc>
              <a:spcAft>
                <a:spcPts val="200"/>
              </a:spcAft>
            </a:pPr>
            <a:r>
              <a:rPr sz="1200" b="0">
                <a:solidFill>
                  <a:srgbClr val="333333"/>
                </a:solidFill>
                <a:latin typeface="メイリオ"/>
                <a:ea typeface="メイリオ"/>
                <a:cs typeface="メイリオ"/>
              </a:rPr>
              <a:t>稼働中・満了前に、次のお仕事をご案内</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概算お見積り：月--万円で、6か月目に友だち --人・ENTRY 月--件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ENTRY</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プラン①（月3投稿）で、友だちの入口を増やし、検討の順番に沿った配信でENTRY・応募を増やす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成果単価 × 件数</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54000" bIns="18000"/>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145287</TotalTime>
  <Words>3756</Words>
  <Application>Microsoft Office PowerPoint</Application>
  <PresentationFormat>A4 210 x 297 mm</PresentationFormat>
  <Paragraphs>870</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1982</cp:revision>
  <cp:lastPrinted>2022-11-01T11:38:14Z</cp:lastPrinted>
  <dcterms:created xsi:type="dcterms:W3CDTF">2015-09-04T09:21:15Z</dcterms:created>
  <dcterms:modified xsi:type="dcterms:W3CDTF">2026-10-24T07:35:09Z</dcterms:modified>
</cp:coreProperties>
</file>