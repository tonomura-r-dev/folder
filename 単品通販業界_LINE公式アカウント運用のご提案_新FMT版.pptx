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53.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39"/>
  </p:notesMasterIdLst>
  <p:handoutMasterIdLst>
    <p:handoutMasterId r:id="rId40"/>
  </p:handoutMasterIdLst>
  <p:sldIdLst>
    <p:sldId id="2363" r:id="rId3"/>
    <p:sldId id="2989" r:id="rId45"/>
    <p:sldId id="2990" r:id="rId46"/>
    <p:sldId id="2991" r:id="rId47"/>
    <p:sldId id="2992" r:id="rId48"/>
    <p:sldId id="2993" r:id="rId49"/>
    <p:sldId id="2956" r:id="rId5"/>
    <p:sldId id="2974" r:id="rId6"/>
    <p:sldId id="2982" r:id="rId7"/>
    <p:sldId id="2988" r:id="rId8"/>
    <p:sldId id="2972" r:id="rId9"/>
    <p:sldId id="2736" r:id="rId10"/>
    <p:sldId id="2979" r:id="rId11"/>
    <p:sldId id="2975" r:id="rId12"/>
    <p:sldId id="2994" r:id="rId50"/>
    <p:sldId id="2995" r:id="rId51"/>
    <p:sldId id="2996" r:id="rId52"/>
    <p:sldId id="2955" r:id="rId37"/>
    <p:sldId id="2997" r:id="rId53"/>
    <p:sldId id="2998" r:id="rId54"/>
    <p:sldId id="2983" r:id="rId13"/>
    <p:sldId id="2977" r:id="rId14"/>
    <p:sldId id="2984" r:id="rId15"/>
    <p:sldId id="2985" r:id="rId16"/>
    <p:sldId id="2986" r:id="rId17"/>
    <p:sldId id="2999" r:id="rId55"/>
    <p:sldId id="3000" r:id="rId56"/>
    <p:sldId id="3001" r:id="rId57"/>
    <p:sldId id="3002" r:id="rId58"/>
    <p:sldId id="3003" r:id="rId59"/>
    <p:sldId id="3032" r:id="rId88"/>
    <p:sldId id="3033" r:id="rId89"/>
    <p:sldId id="3034" r:id="rId90"/>
    <p:sldId id="3035" r:id="rId91"/>
    <p:sldId id="3036" r:id="rId92"/>
    <p:sldId id="3037" r:id="rId93"/>
    <p:sldId id="3038" r:id="rId94"/>
    <p:sldId id="3039" r:id="rId95"/>
    <p:sldId id="2987" r:id="rId18"/>
    <p:sldId id="2908" r:id="rId19"/>
    <p:sldId id="2950" r:id="rId20"/>
    <p:sldId id="2762" r:id="rId21"/>
    <p:sldId id="2937" r:id="rId22"/>
    <p:sldId id="2939" r:id="rId23"/>
    <p:sldId id="2966" r:id="rId24"/>
    <p:sldId id="2962" r:id="rId25"/>
    <p:sldId id="2942" r:id="rId26"/>
    <p:sldId id="2941" r:id="rId27"/>
    <p:sldId id="2943" r:id="rId28"/>
    <p:sldId id="2944" r:id="rId29"/>
    <p:sldId id="2967" r:id="rId30"/>
    <p:sldId id="2946" r:id="rId31"/>
    <p:sldId id="2954" r:id="rId35"/>
    <p:sldId id="2953" r:id="rId36"/>
    <p:sldId id="3007" r:id="rId63"/>
    <p:sldId id="3008" r:id="rId64"/>
    <p:sldId id="3009" r:id="rId65"/>
    <p:sldId id="3010" r:id="rId66"/>
    <p:sldId id="3011" r:id="rId67"/>
    <p:sldId id="3012" r:id="rId68"/>
    <p:sldId id="3013" r:id="rId69"/>
    <p:sldId id="3014" r:id="rId70"/>
    <p:sldId id="3015" r:id="rId71"/>
    <p:sldId id="3016" r:id="rId72"/>
    <p:sldId id="3017" r:id="rId73"/>
    <p:sldId id="3018" r:id="rId74"/>
    <p:sldId id="3019" r:id="rId75"/>
    <p:sldId id="3020" r:id="rId76"/>
    <p:sldId id="3021" r:id="rId77"/>
    <p:sldId id="3022" r:id="rId78"/>
    <p:sldId id="3023" r:id="rId79"/>
    <p:sldId id="3024" r:id="rId80"/>
    <p:sldId id="3025" r:id="rId81"/>
    <p:sldId id="3026" r:id="rId82"/>
    <p:sldId id="3027" r:id="rId83"/>
    <p:sldId id="3028" r:id="rId84"/>
    <p:sldId id="3029" r:id="rId85"/>
    <p:sldId id="3030" r:id="rId86"/>
    <p:sldId id="3031" r:id="rId87"/>
    <p:sldId id="3040" r:id="rId96"/>
    <p:sldId id="2947" r:id="rId32"/>
    <p:sldId id="2948" r:id="rId33"/>
    <p:sldId id="2958" r:id="rId34"/>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173559"/>
    <a:srgbClr val="04FA0A"/>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9" Type="http://schemas.openxmlformats.org/officeDocument/2006/relationships/notesMaster" Target="notesMasters/notesMaster1.xml"/><Relationship Id="rId40" Type="http://schemas.openxmlformats.org/officeDocument/2006/relationships/handoutMaster" Target="handoutMasters/handout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79" Type="http://schemas.openxmlformats.org/officeDocument/2006/relationships/slide" Target="slides/slide71.xml"/><Relationship Id="rId80" Type="http://schemas.openxmlformats.org/officeDocument/2006/relationships/slide" Target="slides/slide72.xml"/><Relationship Id="rId81" Type="http://schemas.openxmlformats.org/officeDocument/2006/relationships/slide" Target="slides/slide73.xml"/><Relationship Id="rId82" Type="http://schemas.openxmlformats.org/officeDocument/2006/relationships/slide" Target="slides/slide74.xml"/><Relationship Id="rId83" Type="http://schemas.openxmlformats.org/officeDocument/2006/relationships/slide" Target="slides/slide75.xml"/><Relationship Id="rId84" Type="http://schemas.openxmlformats.org/officeDocument/2006/relationships/slide" Target="slides/slide76.xml"/><Relationship Id="rId85" Type="http://schemas.openxmlformats.org/officeDocument/2006/relationships/slide" Target="slides/slide77.xml"/><Relationship Id="rId86" Type="http://schemas.openxmlformats.org/officeDocument/2006/relationships/slide" Target="slides/slide78.xml"/><Relationship Id="rId87" Type="http://schemas.openxmlformats.org/officeDocument/2006/relationships/slide" Target="slides/slide79.xml"/><Relationship Id="rId88" Type="http://schemas.openxmlformats.org/officeDocument/2006/relationships/slide" Target="slides/slide80.xml"/><Relationship Id="rId89" Type="http://schemas.openxmlformats.org/officeDocument/2006/relationships/slide" Target="slides/slide81.xml"/><Relationship Id="rId90" Type="http://schemas.openxmlformats.org/officeDocument/2006/relationships/slide" Target="slides/slide82.xml"/><Relationship Id="rId91" Type="http://schemas.openxmlformats.org/officeDocument/2006/relationships/slide" Target="slides/slide83.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5" Type="http://schemas.openxmlformats.org/officeDocument/2006/relationships/slide" Target="slides/slide87.xml"/><Relationship Id="rId96" Type="http://schemas.openxmlformats.org/officeDocument/2006/relationships/slide" Target="slides/slide8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2026/9/15</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F8CEE-BA77-7F59-159F-47D256C6C9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20AAE9-56BE-66E5-82F7-A32C5F5E37D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3263BB-84E3-A23F-F50A-22409A9D037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E676F0-0850-6080-8D54-24CC34C00E13}"/>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2181456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15851486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CC596-88E7-2BC9-7631-7B2FF864C8B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8EA305-DD4B-4755-1A79-3ECAA1BFAEF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530CFC-96E0-CB7F-D9F4-B974123A5B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C657086-8B2C-117D-A7A7-81B2D30759FF}"/>
              </a:ext>
            </a:extLst>
          </p:cNvPr>
          <p:cNvSpPr>
            <a:spLocks noGrp="1"/>
          </p:cNvSpPr>
          <p:nvPr>
            <p:ph type="sldNum" sz="quarter" idx="10"/>
          </p:nvPr>
        </p:nvSpPr>
        <p:spPr/>
        <p:txBody>
          <a:bodyPr/>
          <a:lstStyle/>
          <a:p>
            <a:fld id="{022E43C0-6795-4B13-B37C-259C826D4B6A}" type="slidenum">
              <a:rPr kumimoji="1" lang="ja-JP" altLang="en-US" smtClean="0"/>
              <a:t>12</a:t>
            </a:fld>
            <a:endParaRPr kumimoji="1" lang="ja-JP" altLang="en-US"/>
          </a:p>
        </p:txBody>
      </p:sp>
    </p:spTree>
    <p:extLst>
      <p:ext uri="{BB962C8B-B14F-4D97-AF65-F5344CB8AC3E}">
        <p14:creationId xmlns:p14="http://schemas.microsoft.com/office/powerpoint/2010/main" val="1244022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9A811-371F-8FB3-F066-52767F4E9A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A11C9D-FDA9-6C17-2E4B-B8729DB02D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D22E24C-8C3E-B253-1458-19B063283ED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5308508-22B0-7807-8EBD-1B4BC57F8A84}"/>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2217835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2497A-27D1-3FCF-1F91-9D3EAE5F54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F107B2A-3CC9-CDDB-0154-3C6FEEEB7FA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69E55FE-2D43-AAFB-1E0D-9FE86011A40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505F46C-9309-B38B-AEB2-32E50CF0E84A}"/>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32460700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18</a:t>
            </a:fld>
            <a:endParaRPr kumimoji="1" lang="ja-JP" altLang="en-US"/>
          </a:p>
        </p:txBody>
      </p:sp>
    </p:spTree>
    <p:extLst>
      <p:ext uri="{BB962C8B-B14F-4D97-AF65-F5344CB8AC3E}">
        <p14:creationId xmlns:p14="http://schemas.microsoft.com/office/powerpoint/2010/main" val="2702009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image" Target="../media/image14.png"/><Relationship Id="rId5"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3.png"/><Relationship Id="rId5" Type="http://schemas.openxmlformats.org/officeDocument/2006/relationships/image" Target="../media/image2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image" Target="../media/image28.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image" Target="../media/image4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png"/><Relationship Id="rId3" Type="http://schemas.openxmlformats.org/officeDocument/2006/relationships/image" Target="../media/image4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jpg"/><Relationship Id="rId3" Type="http://schemas.openxmlformats.org/officeDocument/2006/relationships/image" Target="../media/image45.jp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svg"/><Relationship Id="rId7" Type="http://schemas.openxmlformats.org/officeDocument/2006/relationships/image" Target="../media/image5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jpg"/><Relationship Id="rId3" Type="http://schemas.openxmlformats.org/officeDocument/2006/relationships/image" Target="../media/image71.jp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image" Target="../media/image74.png"/><Relationship Id="rId7" Type="http://schemas.openxmlformats.org/officeDocument/2006/relationships/image" Target="../media/image75.jpg"/><Relationship Id="rId8" Type="http://schemas.openxmlformats.org/officeDocument/2006/relationships/image" Target="../media/image76.jpg"/><Relationship Id="rId9" Type="http://schemas.openxmlformats.org/officeDocument/2006/relationships/image" Target="../media/image77.png"/><Relationship Id="rId10" Type="http://schemas.openxmlformats.org/officeDocument/2006/relationships/image" Target="../media/image78.png"/><Relationship Id="rId11" Type="http://schemas.openxmlformats.org/officeDocument/2006/relationships/hyperlink" Target="https://youtube.com/shorts/0qI4QgrOppQ"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9.png"/><Relationship Id="rId3" Type="http://schemas.openxmlformats.org/officeDocument/2006/relationships/image" Target="../media/image80.png"/><Relationship Id="rId4" Type="http://schemas.openxmlformats.org/officeDocument/2006/relationships/image" Target="../media/image8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emf"/><Relationship Id="rId3" Type="http://schemas.openxmlformats.org/officeDocument/2006/relationships/image" Target="../media/image5.jpeg"/><Relationship Id="rId4" Type="http://schemas.openxmlformats.org/officeDocument/2006/relationships/image" Target="../media/image6.jpeg"/><Relationship Id="rId5" Type="http://schemas.openxmlformats.org/officeDocument/2006/relationships/image" Target="../media/image7.jpeg"/><Relationship Id="rId6" Type="http://schemas.openxmlformats.org/officeDocument/2006/relationships/image" Target="../media/image8.jpeg"/><Relationship Id="rId7" Type="http://schemas.openxmlformats.org/officeDocument/2006/relationships/image" Target="../media/image9.jpe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461096"/>
            <a:ext cx="6626632" cy="536064"/>
          </a:xfrm>
          <a:prstGeom prst="rect">
            <a:avLst/>
          </a:prstGeom>
        </p:spPr>
        <p:txBody>
          <a:bodyPr wrap="square" lIns="50400" tIns="21600" rIns="50400" bIns="21600" anchor="ctr">
            <a:spAutoFit/>
          </a:bodyPr>
          <a:lstStyle/>
          <a:p>
            <a:pPr algn="ctr"/>
            <a:r>
              <a:rPr sz="1600" b="1" dirty="0" err="1">
                <a:solidFill>
                  <a:srgbClr val="333333"/>
                </a:solidFill>
                <a:latin typeface="メイリオ"/>
                <a:ea typeface="メイリオ"/>
                <a:cs typeface="メイリオ"/>
              </a:rPr>
              <a:t>解約を止めるのではなく、解約の手前で受け止める</a:t>
            </a:r>
            <a:r>
              <a:rPr sz="1600" b="1" dirty="0">
                <a:solidFill>
                  <a:srgbClr val="333333"/>
                </a:solidFill>
                <a:latin typeface="メイリオ"/>
                <a:ea typeface="メイリオ"/>
                <a:cs typeface="メイリオ"/>
              </a:rPr>
              <a:t>。</a:t>
            </a:r>
            <a:endParaRPr lang="en-US" sz="1600" b="1" dirty="0">
              <a:solidFill>
                <a:srgbClr val="333333"/>
              </a:solidFill>
              <a:latin typeface="メイリオ"/>
              <a:ea typeface="メイリオ"/>
              <a:cs typeface="メイリオ"/>
            </a:endParaRPr>
          </a:p>
          <a:p>
            <a:pPr algn="ctr"/>
            <a:r>
              <a:rPr sz="1600" b="1" dirty="0" err="1">
                <a:solidFill>
                  <a:srgbClr val="333333"/>
                </a:solidFill>
                <a:latin typeface="メイリオ"/>
                <a:ea typeface="メイリオ"/>
                <a:cs typeface="メイリオ"/>
              </a:rPr>
              <a:t>LTVを伸ばし、限界CPOを上げる</a:t>
            </a:r>
            <a:endParaRPr sz="1600" b="1" dirty="0">
              <a:solidFill>
                <a:srgbClr val="333333"/>
              </a:solidFill>
              <a:latin typeface="メイリオ"/>
              <a:ea typeface="メイリオ"/>
              <a:cs typeface="メイリオ"/>
            </a:endParaRP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524717" y="4341752"/>
            <a:ext cx="2804160"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0400" tIns="21600" rIns="50400" bIns="21600" rtlCol="0" anchor="ctr"/>
          <a:lstStyle/>
          <a:p>
            <a:pPr algn="ctr"/>
            <a:r>
              <a:rPr sz="1200" b="1" dirty="0" err="1">
                <a:solidFill>
                  <a:srgbClr val="002060"/>
                </a:solidFill>
                <a:latin typeface="メイリオ"/>
                <a:ea typeface="メイリオ"/>
                <a:cs typeface="メイリオ"/>
              </a:rPr>
              <a:t>業界：単品リピート通販</a:t>
            </a:r>
            <a:endParaRPr lang="en-US" sz="1200" b="1" dirty="0">
              <a:solidFill>
                <a:srgbClr val="002060"/>
              </a:solidFill>
              <a:latin typeface="メイリオ"/>
              <a:ea typeface="メイリオ"/>
              <a:cs typeface="メイリオ"/>
            </a:endParaRPr>
          </a:p>
          <a:p>
            <a:pPr algn="ctr"/>
            <a:r>
              <a:rPr sz="1200" b="1" dirty="0">
                <a:solidFill>
                  <a:srgbClr val="002060"/>
                </a:solidFill>
                <a:latin typeface="メイリオ"/>
                <a:ea typeface="メイリオ"/>
                <a:cs typeface="メイリオ"/>
              </a:rPr>
              <a:t>（単品通販・D2C）</a:t>
            </a:r>
          </a:p>
        </p:txBody>
      </p:sp>
    </p:spTree>
    <p:extLst>
      <p:ext uri="{BB962C8B-B14F-4D97-AF65-F5344CB8AC3E}">
        <p14:creationId xmlns:p14="http://schemas.microsoft.com/office/powerpoint/2010/main" val="39445980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市場全体①｜通販市場の規模</a:t>
            </a:r>
          </a:p>
        </p:txBody>
      </p:sp>
      <p:sp>
        <p:nvSpPr>
          <p:cNvPr id="3" name="TextBox 2"/>
          <p:cNvSpPr txBox="1"/>
          <p:nvPr/>
        </p:nvSpPr>
        <p:spPr>
          <a:xfrm>
            <a:off x="432000" y="699942"/>
            <a:ext cx="9036000" cy="580115"/>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通販市場そのものは伸びている。ただし上位は総合ブランドで固まっている。</a:t>
            </a:r>
          </a:p>
          <a:p>
            <a:pPr algn="l">
              <a:lnSpc>
                <a:spcPct val="128000"/>
              </a:lnSpc>
            </a:pPr>
            <a:r>
              <a:rPr sz="1400">
                <a:solidFill>
                  <a:srgbClr val="333333"/>
                </a:solidFill>
                <a:latin typeface="メイリオ"/>
                <a:ea typeface="メイリオ"/>
                <a:cs typeface="メイリオ"/>
              </a:rPr>
              <a:t>単品通販の本流（1商品×定期）は、その下で戦っている。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583999"/>
            <a:ext cx="9043200" cy="3096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0" rIns="72000" bIns="0" rtlCol="0" anchor="ctr"/>
          <a:lstStyle/>
          <a:p>
            <a:pPr algn="ctr"/>
            <a:r>
              <a:rPr sz="1400" b="1">
                <a:solidFill>
                  <a:srgbClr val="FFFFFF"/>
                </a:solidFill>
                <a:latin typeface="メイリオ"/>
                <a:ea typeface="メイリオ"/>
                <a:cs typeface="メイリオ"/>
              </a:rPr>
              <a:t>化粧品通販 91社合計　5,921億円超／実質成長率 4.1%</a:t>
            </a:r>
          </a:p>
        </p:txBody>
      </p:sp>
      <p:sp>
        <p:nvSpPr>
          <p:cNvPr id="6" name="Rounded Rectangle 5"/>
          <p:cNvSpPr/>
          <p:nvPr/>
        </p:nvSpPr>
        <p:spPr>
          <a:xfrm>
            <a:off x="432000" y="1980000"/>
            <a:ext cx="2942400"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0000" y="2012468"/>
            <a:ext cx="2726400"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健康食品通販 1位</a:t>
            </a:r>
          </a:p>
        </p:txBody>
      </p:sp>
      <p:sp>
        <p:nvSpPr>
          <p:cNvPr id="8" name="TextBox 7"/>
          <p:cNvSpPr txBox="1"/>
          <p:nvPr/>
        </p:nvSpPr>
        <p:spPr>
          <a:xfrm>
            <a:off x="540000" y="2250000"/>
            <a:ext cx="2726400" cy="360000"/>
          </a:xfrm>
          <a:prstGeom prst="rect">
            <a:avLst/>
          </a:prstGeom>
          <a:noFill/>
        </p:spPr>
        <p:txBody>
          <a:bodyPr wrap="square" lIns="50400" tIns="21600" rIns="50400" bIns="21600" anchor="ctr">
            <a:spAutoFit/>
          </a:bodyPr>
          <a:lstStyle/>
          <a:p>
            <a:pPr algn="l"/>
            <a:r>
              <a:rPr sz="2200" b="1">
                <a:solidFill>
                  <a:srgbClr val="ED7D31"/>
                </a:solidFill>
                <a:latin typeface="メイリオ"/>
                <a:ea typeface="メイリオ"/>
                <a:cs typeface="メイリオ"/>
              </a:rPr>
              <a:t>818億円</a:t>
            </a:r>
          </a:p>
        </p:txBody>
      </p:sp>
      <p:sp>
        <p:nvSpPr>
          <p:cNvPr id="9" name="TextBox 8"/>
          <p:cNvSpPr txBox="1"/>
          <p:nvPr/>
        </p:nvSpPr>
        <p:spPr>
          <a:xfrm>
            <a:off x="540000" y="2683974"/>
            <a:ext cx="2726400" cy="194048"/>
          </a:xfrm>
          <a:prstGeom prst="rect">
            <a:avLst/>
          </a:prstGeom>
          <a:noFill/>
        </p:spPr>
        <p:txBody>
          <a:bodyPr wrap="square" lIns="50400" tIns="21600" rIns="50400" bIns="21600" anchor="ctr">
            <a:spAutoFit/>
          </a:bodyPr>
          <a:lstStyle/>
          <a:p>
            <a:pPr algn="l">
              <a:lnSpc>
                <a:spcPct val="115000"/>
              </a:lnSpc>
            </a:pPr>
            <a:r>
              <a:rPr sz="850">
                <a:solidFill>
                  <a:srgbClr val="7F7F7F"/>
                </a:solidFill>
                <a:latin typeface="メイリオ"/>
                <a:ea typeface="メイリオ"/>
                <a:cs typeface="メイリオ"/>
              </a:rPr>
              <a:t>サントリーウエルネス（11年連続1位・前年比+5%）</a:t>
            </a:r>
          </a:p>
        </p:txBody>
      </p:sp>
      <p:sp>
        <p:nvSpPr>
          <p:cNvPr id="10" name="Rounded Rectangle 9"/>
          <p:cNvSpPr/>
          <p:nvPr/>
        </p:nvSpPr>
        <p:spPr>
          <a:xfrm>
            <a:off x="3482400" y="1980000"/>
            <a:ext cx="2942400"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590400" y="2012468"/>
            <a:ext cx="2726400"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健康食品通販 2位</a:t>
            </a:r>
          </a:p>
        </p:txBody>
      </p:sp>
      <p:sp>
        <p:nvSpPr>
          <p:cNvPr id="12" name="TextBox 11"/>
          <p:cNvSpPr txBox="1"/>
          <p:nvPr/>
        </p:nvSpPr>
        <p:spPr>
          <a:xfrm>
            <a:off x="3590400" y="2250000"/>
            <a:ext cx="2726400" cy="360000"/>
          </a:xfrm>
          <a:prstGeom prst="rect">
            <a:avLst/>
          </a:prstGeom>
          <a:noFill/>
        </p:spPr>
        <p:txBody>
          <a:bodyPr wrap="square" lIns="50400" tIns="21600" rIns="50400" bIns="21600" anchor="ctr">
            <a:spAutoFit/>
          </a:bodyPr>
          <a:lstStyle/>
          <a:p>
            <a:pPr algn="l"/>
            <a:r>
              <a:rPr sz="2200" b="1">
                <a:solidFill>
                  <a:srgbClr val="ED7D31"/>
                </a:solidFill>
                <a:latin typeface="メイリオ"/>
                <a:ea typeface="メイリオ"/>
                <a:cs typeface="メイリオ"/>
              </a:rPr>
              <a:t>493億円</a:t>
            </a:r>
          </a:p>
        </p:txBody>
      </p:sp>
      <p:sp>
        <p:nvSpPr>
          <p:cNvPr id="13" name="TextBox 12"/>
          <p:cNvSpPr txBox="1"/>
          <p:nvPr/>
        </p:nvSpPr>
        <p:spPr>
          <a:xfrm>
            <a:off x="3590400" y="2635308"/>
            <a:ext cx="2726400" cy="291382"/>
          </a:xfrm>
          <a:prstGeom prst="rect">
            <a:avLst/>
          </a:prstGeom>
          <a:noFill/>
        </p:spPr>
        <p:txBody>
          <a:bodyPr wrap="square" lIns="50400" tIns="21600" rIns="50400" bIns="21600" anchor="ctr">
            <a:spAutoFit/>
          </a:bodyPr>
          <a:lstStyle/>
          <a:p>
            <a:pPr algn="l">
              <a:lnSpc>
                <a:spcPct val="115000"/>
              </a:lnSpc>
            </a:pPr>
            <a:r>
              <a:rPr sz="1400">
                <a:solidFill>
                  <a:srgbClr val="7F7F7F"/>
                </a:solidFill>
                <a:latin typeface="メイリオ"/>
                <a:ea typeface="メイリオ"/>
                <a:cs typeface="メイリオ"/>
              </a:rPr>
              <a:t>DHC（前年比+3%）</a:t>
            </a:r>
          </a:p>
        </p:txBody>
      </p:sp>
      <p:sp>
        <p:nvSpPr>
          <p:cNvPr id="14" name="Rounded Rectangle 13"/>
          <p:cNvSpPr/>
          <p:nvPr/>
        </p:nvSpPr>
        <p:spPr>
          <a:xfrm>
            <a:off x="6532800" y="1980000"/>
            <a:ext cx="2942400"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40800" y="2012468"/>
            <a:ext cx="2726400"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化粧品通販 1位</a:t>
            </a:r>
          </a:p>
        </p:txBody>
      </p:sp>
      <p:sp>
        <p:nvSpPr>
          <p:cNvPr id="16" name="TextBox 15"/>
          <p:cNvSpPr txBox="1"/>
          <p:nvPr/>
        </p:nvSpPr>
        <p:spPr>
          <a:xfrm>
            <a:off x="6640800" y="2250000"/>
            <a:ext cx="2726400" cy="360000"/>
          </a:xfrm>
          <a:prstGeom prst="rect">
            <a:avLst/>
          </a:prstGeom>
          <a:noFill/>
        </p:spPr>
        <p:txBody>
          <a:bodyPr wrap="square" lIns="50400" tIns="21600" rIns="50400" bIns="21600" anchor="ctr">
            <a:spAutoFit/>
          </a:bodyPr>
          <a:lstStyle/>
          <a:p>
            <a:pPr algn="l"/>
            <a:r>
              <a:rPr sz="2200" b="1">
                <a:solidFill>
                  <a:srgbClr val="ED7D31"/>
                </a:solidFill>
                <a:latin typeface="メイリオ"/>
                <a:ea typeface="メイリオ"/>
                <a:cs typeface="メイリオ"/>
              </a:rPr>
              <a:t>365億円</a:t>
            </a:r>
          </a:p>
        </p:txBody>
      </p:sp>
      <p:sp>
        <p:nvSpPr>
          <p:cNvPr id="17" name="TextBox 16"/>
          <p:cNvSpPr txBox="1"/>
          <p:nvPr/>
        </p:nvSpPr>
        <p:spPr>
          <a:xfrm>
            <a:off x="6640800" y="2635308"/>
            <a:ext cx="2726400" cy="291382"/>
          </a:xfrm>
          <a:prstGeom prst="rect">
            <a:avLst/>
          </a:prstGeom>
          <a:noFill/>
        </p:spPr>
        <p:txBody>
          <a:bodyPr wrap="square" lIns="50400" tIns="21600" rIns="50400" bIns="21600" anchor="ctr">
            <a:spAutoFit/>
          </a:bodyPr>
          <a:lstStyle/>
          <a:p>
            <a:pPr algn="l">
              <a:lnSpc>
                <a:spcPct val="115000"/>
              </a:lnSpc>
            </a:pPr>
            <a:r>
              <a:rPr sz="1400">
                <a:solidFill>
                  <a:srgbClr val="7F7F7F"/>
                </a:solidFill>
                <a:latin typeface="メイリオ"/>
                <a:ea typeface="メイリオ"/>
                <a:cs typeface="メイリオ"/>
              </a:rPr>
              <a:t>オルビス</a:t>
            </a:r>
          </a:p>
        </p:txBody>
      </p:sp>
      <p:sp>
        <p:nvSpPr>
          <p:cNvPr id="18" name="Rounded Rectangle 17"/>
          <p:cNvSpPr/>
          <p:nvPr/>
        </p:nvSpPr>
        <p:spPr>
          <a:xfrm>
            <a:off x="432000" y="3023999"/>
            <a:ext cx="9043200" cy="900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76000" y="3046822"/>
            <a:ext cx="8755200" cy="854357"/>
          </a:xfrm>
          <a:prstGeom prst="rect">
            <a:avLst/>
          </a:prstGeom>
          <a:noFill/>
        </p:spPr>
        <p:txBody>
          <a:bodyPr wrap="square" lIns="50400" tIns="21600" rIns="50400" bIns="21600" anchor="ctr">
            <a:spAutoFit/>
          </a:bodyPr>
          <a:lstStyle/>
          <a:p>
            <a:pPr algn="l">
              <a:spcAft>
                <a:spcPts val="400"/>
              </a:spcAft>
            </a:pPr>
            <a:r>
              <a:rPr sz="1400" b="1">
                <a:solidFill>
                  <a:srgbClr val="ED7D31"/>
                </a:solidFill>
                <a:latin typeface="メイリオ"/>
                <a:ea typeface="メイリオ"/>
                <a:cs typeface="メイリオ"/>
              </a:rPr>
              <a:t>上位に並ぶのは、実店舗も商品数も持つ「総合ブランド」。</a:t>
            </a:r>
          </a:p>
          <a:p>
            <a:pPr algn="l">
              <a:lnSpc>
                <a:spcPct val="130000"/>
              </a:lnSpc>
            </a:pPr>
            <a:r>
              <a:rPr sz="1400">
                <a:solidFill>
                  <a:srgbClr val="333333"/>
                </a:solidFill>
                <a:latin typeface="メイリオ"/>
                <a:ea typeface="メイリオ"/>
                <a:cs typeface="メイリオ"/>
              </a:rPr>
              <a:t>単品通販の本流は 1商品 × 定期購入 のモデル。売上規模ではなく、「1人の顧客をどれだけ長く続けてもらえるか」で勝負している。</a:t>
            </a:r>
          </a:p>
        </p:txBody>
      </p:sp>
      <p:sp>
        <p:nvSpPr>
          <p:cNvPr id="20" name="Rounded Rectangle 19"/>
          <p:cNvSpPr/>
          <p:nvPr/>
        </p:nvSpPr>
        <p:spPr>
          <a:xfrm>
            <a:off x="432000" y="4068000"/>
            <a:ext cx="9043200" cy="158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6000" y="4239499"/>
            <a:ext cx="8755200" cy="1241001"/>
          </a:xfrm>
          <a:prstGeom prst="rect">
            <a:avLst/>
          </a:prstGeom>
          <a:noFill/>
        </p:spPr>
        <p:txBody>
          <a:bodyPr wrap="square" lIns="50400" tIns="21600" rIns="50400" bIns="21600" anchor="ctr">
            <a:spAutoFit/>
          </a:bodyPr>
          <a:lstStyle/>
          <a:p>
            <a:pPr algn="l">
              <a:spcAft>
                <a:spcPts val="600"/>
              </a:spcAft>
            </a:pPr>
            <a:r>
              <a:rPr sz="1400" b="1">
                <a:solidFill>
                  <a:srgbClr val="1F285A"/>
                </a:solidFill>
                <a:latin typeface="メイリオ"/>
                <a:ea typeface="メイリオ"/>
                <a:cs typeface="メイリオ"/>
              </a:rPr>
              <a:t>だから、この資料が見るのは市場規模ではない</a:t>
            </a:r>
          </a:p>
          <a:p>
            <a:pPr algn="l">
              <a:lnSpc>
                <a:spcPct val="135000"/>
              </a:lnSpc>
              <a:spcAft>
                <a:spcPts val="200"/>
              </a:spcAft>
            </a:pPr>
            <a:r>
              <a:rPr sz="1400">
                <a:solidFill>
                  <a:srgbClr val="333333"/>
                </a:solidFill>
                <a:latin typeface="メイリオ"/>
                <a:ea typeface="メイリオ"/>
                <a:cs typeface="メイリオ"/>
              </a:rPr>
              <a:t>・初回を買った人の、どれだけが2回目を買っているか（F2転換率）</a:t>
            </a:r>
          </a:p>
          <a:p>
            <a:pPr algn="l">
              <a:lnSpc>
                <a:spcPct val="135000"/>
              </a:lnSpc>
              <a:spcAft>
                <a:spcPts val="200"/>
              </a:spcAft>
            </a:pPr>
            <a:r>
              <a:rPr sz="1400">
                <a:solidFill>
                  <a:srgbClr val="333333"/>
                </a:solidFill>
                <a:latin typeface="メイリオ"/>
                <a:ea typeface="メイリオ"/>
                <a:cs typeface="メイリオ"/>
              </a:rPr>
              <a:t>・定期を始めた人が、どれだけ続いているか（月次解約率）</a:t>
            </a:r>
          </a:p>
          <a:p>
            <a:pPr algn="l">
              <a:lnSpc>
                <a:spcPct val="135000"/>
              </a:lnSpc>
            </a:pPr>
            <a:r>
              <a:rPr sz="1400" b="1">
                <a:solidFill>
                  <a:srgbClr val="ED7D31"/>
                </a:solidFill>
                <a:latin typeface="メイリオ"/>
                <a:ea typeface="メイリオ"/>
                <a:cs typeface="メイリオ"/>
              </a:rPr>
              <a:t>この2つが、単品通販のLTVをほぼ決めている。</a:t>
            </a:r>
          </a:p>
        </p:txBody>
      </p:sp>
      <p:sp>
        <p:nvSpPr>
          <p:cNvPr id="22" name="TextBox 21"/>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業界水準｜日本ネット経済新聞／日本流通産業新聞「2025年版 通販売上高ランキング」（化粧品通販は2024年4月〜2025年3月決算・91社）。提案時に最新年版を確認すること</a:t>
            </a:r>
          </a:p>
        </p:txBody>
      </p:sp>
    </p:spTree>
    <p:extLst>
      <p:ext uri="{BB962C8B-B14F-4D97-AF65-F5344CB8AC3E}">
        <p14:creationId xmlns:p14="http://schemas.microsoft.com/office/powerpoint/2010/main" val="676230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市場全体②｜広告単価は、もう下がらない</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新規獲得の単価は相場。だから触らない。触るのは回収側（LTV）だけ。</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2942400" cy="100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0000" y="1652468"/>
            <a:ext cx="2726400"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インターネット広告費</a:t>
            </a:r>
          </a:p>
        </p:txBody>
      </p:sp>
      <p:sp>
        <p:nvSpPr>
          <p:cNvPr id="7" name="TextBox 6"/>
          <p:cNvSpPr txBox="1"/>
          <p:nvPr/>
        </p:nvSpPr>
        <p:spPr>
          <a:xfrm>
            <a:off x="540000" y="1890000"/>
            <a:ext cx="2726400" cy="360000"/>
          </a:xfrm>
          <a:prstGeom prst="rect">
            <a:avLst/>
          </a:prstGeom>
          <a:noFill/>
        </p:spPr>
        <p:txBody>
          <a:bodyPr wrap="square" lIns="50400" tIns="21600" rIns="50400" bIns="21600" anchor="ctr">
            <a:spAutoFit/>
          </a:bodyPr>
          <a:lstStyle/>
          <a:p>
            <a:pPr algn="l"/>
            <a:r>
              <a:rPr sz="2600" b="1">
                <a:solidFill>
                  <a:srgbClr val="ED7D31"/>
                </a:solidFill>
                <a:latin typeface="メイリオ"/>
                <a:ea typeface="メイリオ"/>
                <a:cs typeface="メイリオ"/>
              </a:rPr>
              <a:t>4兆459億円</a:t>
            </a:r>
          </a:p>
        </p:txBody>
      </p:sp>
      <p:sp>
        <p:nvSpPr>
          <p:cNvPr id="8" name="TextBox 7"/>
          <p:cNvSpPr txBox="1"/>
          <p:nvPr/>
        </p:nvSpPr>
        <p:spPr>
          <a:xfrm>
            <a:off x="540000" y="2356157"/>
            <a:ext cx="2726400" cy="273685"/>
          </a:xfrm>
          <a:prstGeom prst="rect">
            <a:avLst/>
          </a:prstGeom>
          <a:noFill/>
        </p:spPr>
        <p:txBody>
          <a:bodyPr wrap="square" lIns="50400" tIns="21600" rIns="50400" bIns="21600" anchor="ctr">
            <a:spAutoFit/>
          </a:bodyPr>
          <a:lstStyle/>
          <a:p>
            <a:pPr algn="l">
              <a:lnSpc>
                <a:spcPct val="115000"/>
              </a:lnSpc>
            </a:pPr>
            <a:r>
              <a:rPr sz="1300">
                <a:solidFill>
                  <a:srgbClr val="7F7F7F"/>
                </a:solidFill>
                <a:latin typeface="メイリオ"/>
                <a:ea typeface="メイリオ"/>
                <a:cs typeface="メイリオ"/>
              </a:rPr>
              <a:t>前年比 +10.8%（初の4兆円超）</a:t>
            </a:r>
          </a:p>
        </p:txBody>
      </p:sp>
      <p:sp>
        <p:nvSpPr>
          <p:cNvPr id="9" name="Rounded Rectangle 8"/>
          <p:cNvSpPr/>
          <p:nvPr/>
        </p:nvSpPr>
        <p:spPr>
          <a:xfrm>
            <a:off x="3482400" y="1620000"/>
            <a:ext cx="2942400" cy="100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90400" y="1652468"/>
            <a:ext cx="2726400"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総広告費に占める構成比</a:t>
            </a:r>
          </a:p>
        </p:txBody>
      </p:sp>
      <p:sp>
        <p:nvSpPr>
          <p:cNvPr id="11" name="TextBox 10"/>
          <p:cNvSpPr txBox="1"/>
          <p:nvPr/>
        </p:nvSpPr>
        <p:spPr>
          <a:xfrm>
            <a:off x="3590400" y="1890000"/>
            <a:ext cx="2726400" cy="360000"/>
          </a:xfrm>
          <a:prstGeom prst="rect">
            <a:avLst/>
          </a:prstGeom>
          <a:noFill/>
        </p:spPr>
        <p:txBody>
          <a:bodyPr wrap="square" lIns="50400" tIns="21600" rIns="50400" bIns="21600" anchor="ctr">
            <a:spAutoFit/>
          </a:bodyPr>
          <a:lstStyle/>
          <a:p>
            <a:pPr algn="l"/>
            <a:r>
              <a:rPr sz="2600" b="1">
                <a:solidFill>
                  <a:srgbClr val="ED7D31"/>
                </a:solidFill>
                <a:latin typeface="メイリオ"/>
                <a:ea typeface="メイリオ"/>
                <a:cs typeface="メイリオ"/>
              </a:rPr>
              <a:t>50.2%</a:t>
            </a:r>
          </a:p>
        </p:txBody>
      </p:sp>
      <p:sp>
        <p:nvSpPr>
          <p:cNvPr id="12" name="TextBox 11"/>
          <p:cNvSpPr txBox="1"/>
          <p:nvPr/>
        </p:nvSpPr>
        <p:spPr>
          <a:xfrm>
            <a:off x="3590400" y="2347309"/>
            <a:ext cx="2726400" cy="291382"/>
          </a:xfrm>
          <a:prstGeom prst="rect">
            <a:avLst/>
          </a:prstGeom>
          <a:noFill/>
        </p:spPr>
        <p:txBody>
          <a:bodyPr wrap="square" lIns="50400" tIns="21600" rIns="50400" bIns="21600" anchor="ctr">
            <a:spAutoFit/>
          </a:bodyPr>
          <a:lstStyle/>
          <a:p>
            <a:pPr algn="l">
              <a:lnSpc>
                <a:spcPct val="115000"/>
              </a:lnSpc>
            </a:pPr>
            <a:r>
              <a:rPr sz="1400">
                <a:solidFill>
                  <a:srgbClr val="7F7F7F"/>
                </a:solidFill>
                <a:latin typeface="メイリオ"/>
                <a:ea typeface="メイリオ"/>
                <a:cs typeface="メイリオ"/>
              </a:rPr>
              <a:t>初の過半数＝枠の奪い合い</a:t>
            </a:r>
          </a:p>
        </p:txBody>
      </p:sp>
      <p:sp>
        <p:nvSpPr>
          <p:cNvPr id="13" name="Rounded Rectangle 12"/>
          <p:cNvSpPr/>
          <p:nvPr/>
        </p:nvSpPr>
        <p:spPr>
          <a:xfrm>
            <a:off x="6532800" y="1620000"/>
            <a:ext cx="2942400" cy="100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40800" y="1652468"/>
            <a:ext cx="2726400"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化粧品通販の成長率</a:t>
            </a:r>
          </a:p>
        </p:txBody>
      </p:sp>
      <p:sp>
        <p:nvSpPr>
          <p:cNvPr id="15" name="TextBox 14"/>
          <p:cNvSpPr txBox="1"/>
          <p:nvPr/>
        </p:nvSpPr>
        <p:spPr>
          <a:xfrm>
            <a:off x="6640800" y="1890000"/>
            <a:ext cx="2726400" cy="360000"/>
          </a:xfrm>
          <a:prstGeom prst="rect">
            <a:avLst/>
          </a:prstGeom>
          <a:noFill/>
        </p:spPr>
        <p:txBody>
          <a:bodyPr wrap="square" lIns="50400" tIns="21600" rIns="50400" bIns="21600" anchor="ctr">
            <a:spAutoFit/>
          </a:bodyPr>
          <a:lstStyle/>
          <a:p>
            <a:pPr algn="l"/>
            <a:r>
              <a:rPr sz="2600" b="1">
                <a:solidFill>
                  <a:srgbClr val="ED7D31"/>
                </a:solidFill>
                <a:latin typeface="メイリオ"/>
                <a:ea typeface="メイリオ"/>
                <a:cs typeface="メイリオ"/>
              </a:rPr>
              <a:t>+4.1%</a:t>
            </a:r>
          </a:p>
        </p:txBody>
      </p:sp>
      <p:sp>
        <p:nvSpPr>
          <p:cNvPr id="16" name="TextBox 15"/>
          <p:cNvSpPr txBox="1"/>
          <p:nvPr/>
        </p:nvSpPr>
        <p:spPr>
          <a:xfrm>
            <a:off x="6640800" y="2365006"/>
            <a:ext cx="2726400" cy="255988"/>
          </a:xfrm>
          <a:prstGeom prst="rect">
            <a:avLst/>
          </a:prstGeom>
          <a:noFill/>
        </p:spPr>
        <p:txBody>
          <a:bodyPr wrap="square" lIns="50400" tIns="21600" rIns="50400" bIns="21600" anchor="ctr">
            <a:spAutoFit/>
          </a:bodyPr>
          <a:lstStyle/>
          <a:p>
            <a:pPr algn="l">
              <a:lnSpc>
                <a:spcPct val="115000"/>
              </a:lnSpc>
            </a:pPr>
            <a:r>
              <a:rPr sz="1200">
                <a:solidFill>
                  <a:srgbClr val="7F7F7F"/>
                </a:solidFill>
                <a:latin typeface="メイリオ"/>
                <a:ea typeface="メイリオ"/>
                <a:cs typeface="メイリオ"/>
              </a:rPr>
              <a:t>広告費の伸び（+10.8%）の半分以下</a:t>
            </a:r>
          </a:p>
        </p:txBody>
      </p:sp>
      <p:sp>
        <p:nvSpPr>
          <p:cNvPr id="17" name="Rounded Rectangle 16"/>
          <p:cNvSpPr/>
          <p:nvPr/>
        </p:nvSpPr>
        <p:spPr>
          <a:xfrm>
            <a:off x="432000" y="2771999"/>
            <a:ext cx="9043200" cy="1080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2000" y="2859238"/>
            <a:ext cx="8683200" cy="905524"/>
          </a:xfrm>
          <a:prstGeom prst="rect">
            <a:avLst/>
          </a:prstGeom>
          <a:noFill/>
        </p:spPr>
        <p:txBody>
          <a:bodyPr wrap="square" lIns="50400" tIns="21600" rIns="50400" bIns="21600" anchor="ctr">
            <a:spAutoFit/>
          </a:bodyPr>
          <a:lstStyle/>
          <a:p>
            <a:pPr algn="l">
              <a:spcAft>
                <a:spcPts val="500"/>
              </a:spcAft>
            </a:pPr>
            <a:r>
              <a:rPr sz="1600" b="1">
                <a:solidFill>
                  <a:srgbClr val="ED7D31"/>
                </a:solidFill>
                <a:latin typeface="メイリオ"/>
                <a:ea typeface="メイリオ"/>
                <a:cs typeface="メイリオ"/>
              </a:rPr>
              <a:t>一番効くのは「構成比50.2%」。</a:t>
            </a:r>
          </a:p>
          <a:p>
            <a:pPr algn="l">
              <a:lnSpc>
                <a:spcPct val="132000"/>
              </a:lnSpc>
            </a:pPr>
            <a:r>
              <a:rPr sz="1400">
                <a:solidFill>
                  <a:srgbClr val="333333"/>
                </a:solidFill>
                <a:latin typeface="メイリオ"/>
                <a:ea typeface="メイリオ"/>
                <a:cs typeface="メイリオ"/>
              </a:rPr>
              <a:t>広告予算の半分以上がネットに集中している＝枠の奪い合いが起きている。だから単価は下がらない。競合が減らない限り、これは構造として続く。</a:t>
            </a:r>
          </a:p>
        </p:txBody>
      </p:sp>
      <p:sp>
        <p:nvSpPr>
          <p:cNvPr id="19" name="Rounded Rectangle 18"/>
          <p:cNvSpPr/>
          <p:nvPr/>
        </p:nvSpPr>
        <p:spPr>
          <a:xfrm>
            <a:off x="432000" y="4031999"/>
            <a:ext cx="9043200" cy="162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7999" y="4367372"/>
            <a:ext cx="8611200" cy="949254"/>
          </a:xfrm>
          <a:prstGeom prst="rect">
            <a:avLst/>
          </a:prstGeom>
          <a:noFill/>
        </p:spPr>
        <p:txBody>
          <a:bodyPr wrap="square" lIns="50400" tIns="21600" rIns="50400" bIns="21600" anchor="ctr">
            <a:spAutoFit/>
          </a:bodyPr>
          <a:lstStyle/>
          <a:p>
            <a:pPr algn="l">
              <a:spcAft>
                <a:spcPts val="600"/>
              </a:spcAft>
            </a:pPr>
            <a:r>
              <a:rPr sz="1600" b="1">
                <a:solidFill>
                  <a:srgbClr val="FFFFFF"/>
                </a:solidFill>
                <a:latin typeface="メイリオ"/>
                <a:ea typeface="メイリオ"/>
                <a:cs typeface="メイリオ"/>
              </a:rPr>
              <a:t>下げられないなら、上限を上げるしかない。</a:t>
            </a:r>
          </a:p>
          <a:p>
            <a:pPr algn="l">
              <a:lnSpc>
                <a:spcPct val="130000"/>
              </a:lnSpc>
              <a:spcAft>
                <a:spcPts val="300"/>
              </a:spcAft>
            </a:pPr>
            <a:r>
              <a:rPr sz="1400">
                <a:solidFill>
                  <a:srgbClr val="FFFFFF"/>
                </a:solidFill>
                <a:latin typeface="メイリオ"/>
                <a:ea typeface="メイリオ"/>
                <a:cs typeface="メイリオ"/>
              </a:rPr>
              <a:t>限界CPO ＝ 1件の新規顧客獲得にかけられる広告費の上限額（損益分岐点）。</a:t>
            </a:r>
          </a:p>
          <a:p>
            <a:pPr algn="l">
              <a:lnSpc>
                <a:spcPct val="130000"/>
              </a:lnSpc>
            </a:pPr>
            <a:r>
              <a:rPr sz="1400" b="1">
                <a:solidFill>
                  <a:srgbClr val="ED7D31"/>
                </a:solidFill>
                <a:latin typeface="メイリオ"/>
                <a:ea typeface="メイリオ"/>
                <a:cs typeface="メイリオ"/>
              </a:rPr>
              <a:t>LTVが上がる → 限界CPOが上がる → 同じ広告枠でも勝てる範囲が広がる。</a:t>
            </a:r>
          </a:p>
        </p:txBody>
      </p:sp>
      <p:sp>
        <p:nvSpPr>
          <p:cNvPr id="21" name="TextBox 2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業界水準｜電通「2025年 日本の広告費」（2026年3月5日発表）／化粧品通販の成長率は日本ネット経済新聞「2025年版 通販売上高ランキング」。海外のCPM/CPAデータは本資料では使用していない</a:t>
            </a:r>
          </a:p>
        </p:txBody>
      </p:sp>
    </p:spTree>
    <p:extLst>
      <p:ext uri="{BB962C8B-B14F-4D97-AF65-F5344CB8AC3E}">
        <p14:creationId xmlns:p14="http://schemas.microsoft.com/office/powerpoint/2010/main" val="142908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7598A-7489-8F6D-91D8-19CE7F507B2C}"/>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市場全体③｜検索の季節性</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年間の山がどこにあるかで、企画投稿カレンダー（P48）の骨格が決まる。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9043200" cy="2304000"/>
          </a:xfrm>
          <a:prstGeom prst="roundRect">
            <a:avLst>
              <a:gd name="adj" fmla="val 6000"/>
            </a:avLst>
          </a:prstGeom>
          <a:solidFill>
            <a:srgbClr val="FFFFFF"/>
          </a:solidFill>
          <a:ln w="1587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wrap="square" lIns="108000" tIns="36000" rIns="108000" bIns="36000" rtlCol="0" anchor="ctr"/>
          <a:lstStyle/>
          <a:p>
            <a:pPr algn="ctr">
              <a:spcAft>
                <a:spcPts val="400"/>
              </a:spcAft>
            </a:pPr>
            <a:r>
              <a:rPr sz="1400" b="1">
                <a:solidFill>
                  <a:srgbClr val="7F7F7F"/>
                </a:solidFill>
                <a:latin typeface="メイリオ"/>
                <a:ea typeface="メイリオ"/>
                <a:cs typeface="メイリオ"/>
              </a:rPr>
              <a:t>★差込枠｜Googleトレンド（未取得）</a:t>
            </a:r>
          </a:p>
          <a:p>
            <a:pPr algn="ctr">
              <a:lnSpc>
                <a:spcPct val="125000"/>
              </a:lnSpc>
            </a:pPr>
            <a:r>
              <a:rPr sz="1400">
                <a:solidFill>
                  <a:srgbClr val="7F7F7F"/>
                </a:solidFill>
                <a:latin typeface="メイリオ"/>
                <a:ea typeface="メイリオ"/>
                <a:cs typeface="メイリオ"/>
              </a:rPr>
              <a:t>対象KW（必ず一語）：サプリ／青汁／定期便／解約　※5年＋1年の2本を取得する
★Googleトレンドは相対指標。スケールの違うKWを1枚に混ぜないこと（小さい方が0に潰れる）
「サプリ」と「解約」はスケールが違う可能性が高いため、必ず別グラフにする</a:t>
            </a:r>
          </a:p>
        </p:txBody>
      </p:sp>
      <p:sp>
        <p:nvSpPr>
          <p:cNvPr id="6" name="Rounded Rectangle 5"/>
          <p:cNvSpPr/>
          <p:nvPr/>
        </p:nvSpPr>
        <p:spPr>
          <a:xfrm>
            <a:off x="432000" y="4103999"/>
            <a:ext cx="9043200" cy="154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000" y="4244579"/>
            <a:ext cx="8683200" cy="1266842"/>
          </a:xfrm>
          <a:prstGeom prst="rect">
            <a:avLst/>
          </a:prstGeom>
          <a:noFill/>
        </p:spPr>
        <p:txBody>
          <a:bodyPr wrap="square" lIns="50400" tIns="21600" rIns="50400" bIns="21600" anchor="ctr">
            <a:spAutoFit/>
          </a:bodyPr>
          <a:lstStyle/>
          <a:p>
            <a:pPr algn="l">
              <a:spcAft>
                <a:spcPts val="500"/>
              </a:spcAft>
            </a:pPr>
            <a:r>
              <a:rPr sz="1600" b="1">
                <a:solidFill>
                  <a:srgbClr val="1F285A"/>
                </a:solidFill>
                <a:latin typeface="メイリオ"/>
                <a:ea typeface="メイリオ"/>
                <a:cs typeface="メイリオ"/>
              </a:rPr>
              <a:t>この枠で確かめたい仮説</a:t>
            </a:r>
          </a:p>
          <a:p>
            <a:pPr algn="l">
              <a:lnSpc>
                <a:spcPct val="132000"/>
              </a:lnSpc>
              <a:spcAft>
                <a:spcPts val="300"/>
              </a:spcAft>
            </a:pPr>
            <a:r>
              <a:rPr sz="1400">
                <a:solidFill>
                  <a:srgbClr val="333333"/>
                </a:solidFill>
                <a:latin typeface="メイリオ"/>
                <a:ea typeface="メイリオ"/>
                <a:cs typeface="メイリオ"/>
              </a:rPr>
              <a:t>・「解約」への関心が伸びているなら、P47（解約の受け皿）の必要性がデータで裏づけられる</a:t>
            </a:r>
          </a:p>
          <a:p>
            <a:pPr algn="l">
              <a:lnSpc>
                <a:spcPct val="132000"/>
              </a:lnSpc>
              <a:spcAft>
                <a:spcPts val="300"/>
              </a:spcAft>
            </a:pPr>
            <a:r>
              <a:rPr sz="1400">
                <a:solidFill>
                  <a:srgbClr val="333333"/>
                </a:solidFill>
                <a:latin typeface="メイリオ"/>
                <a:ea typeface="メイリオ"/>
                <a:cs typeface="メイリオ"/>
              </a:rPr>
              <a:t>・「定期便」の推移は、定期モデルそのものへの受容度を示す</a:t>
            </a:r>
          </a:p>
          <a:p>
            <a:pPr algn="l">
              <a:lnSpc>
                <a:spcPct val="132000"/>
              </a:lnSpc>
            </a:pPr>
            <a:r>
              <a:rPr sz="1400">
                <a:solidFill>
                  <a:srgbClr val="333333"/>
                </a:solidFill>
                <a:latin typeface="メイリオ"/>
                <a:ea typeface="メイリオ"/>
                <a:cs typeface="メイリオ"/>
              </a:rPr>
              <a:t>・季節の山が出れば、P48の企画投稿を「◯月：企画（参照データ）」の形で置ける</a:t>
            </a:r>
          </a:p>
        </p:txBody>
      </p:sp>
      <p:sp>
        <p:nvSpPr>
          <p:cNvPr id="8" name="TextBox 7"/>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★未取得｜取得手順は本文に記載。生成には _build/make_images.py（trend）を使う</a:t>
            </a:r>
          </a:p>
        </p:txBody>
      </p:sp>
    </p:spTree>
    <p:extLst>
      <p:ext uri="{BB962C8B-B14F-4D97-AF65-F5344CB8AC3E}">
        <p14:creationId xmlns:p14="http://schemas.microsoft.com/office/powerpoint/2010/main" val="653866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単品通販の課題①｜3つの壁</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新規獲得の単価は下げられない。触れるのは、買った後の2つの壁だけ。</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2942400" cy="2664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0000" y="1780611"/>
            <a:ext cx="2726400" cy="326776"/>
          </a:xfrm>
          <a:prstGeom prst="rect">
            <a:avLst/>
          </a:prstGeom>
          <a:noFill/>
        </p:spPr>
        <p:txBody>
          <a:bodyPr wrap="square" lIns="50400" tIns="21600" rIns="50400" bIns="21600" anchor="ctr">
            <a:spAutoFit/>
          </a:bodyPr>
          <a:lstStyle/>
          <a:p>
            <a:pPr algn="l">
              <a:lnSpc>
                <a:spcPct val="120000"/>
              </a:lnSpc>
            </a:pPr>
            <a:r>
              <a:rPr sz="1600" b="1">
                <a:solidFill>
                  <a:srgbClr val="7F7F7F"/>
                </a:solidFill>
                <a:latin typeface="メイリオ"/>
                <a:ea typeface="メイリオ"/>
                <a:cs typeface="メイリオ"/>
              </a:rPr>
              <a:t>① CPOの高騰</a:t>
            </a:r>
          </a:p>
        </p:txBody>
      </p:sp>
      <p:sp>
        <p:nvSpPr>
          <p:cNvPr id="7" name="Rounded Rectangle 6"/>
          <p:cNvSpPr/>
          <p:nvPr/>
        </p:nvSpPr>
        <p:spPr>
          <a:xfrm>
            <a:off x="540000" y="2231999"/>
            <a:ext cx="684000" cy="216000"/>
          </a:xfrm>
          <a:prstGeom prst="roundRect">
            <a:avLst>
              <a:gd name="adj" fmla="val 6000"/>
            </a:avLst>
          </a:prstGeom>
          <a:solidFill>
            <a:srgbClr val="FFFF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200" b="1">
                <a:solidFill>
                  <a:srgbClr val="7F7F7F"/>
                </a:solidFill>
                <a:latin typeface="メイリオ"/>
                <a:ea typeface="メイリオ"/>
                <a:cs typeface="メイリオ"/>
              </a:rPr>
              <a:t>触れない</a:t>
            </a:r>
          </a:p>
        </p:txBody>
      </p:sp>
      <p:sp>
        <p:nvSpPr>
          <p:cNvPr id="8" name="TextBox 7"/>
          <p:cNvSpPr txBox="1"/>
          <p:nvPr/>
        </p:nvSpPr>
        <p:spPr>
          <a:xfrm>
            <a:off x="540000" y="2556000"/>
            <a:ext cx="2726400" cy="595183"/>
          </a:xfrm>
          <a:prstGeom prst="rect">
            <a:avLst/>
          </a:prstGeom>
          <a:noFill/>
        </p:spPr>
        <p:txBody>
          <a:bodyPr wrap="square" lIns="50400" tIns="21600" rIns="50400" bIns="21600" anchor="t">
            <a:spAutoFit/>
          </a:bodyPr>
          <a:lstStyle/>
          <a:p>
            <a:pPr algn="l">
              <a:lnSpc>
                <a:spcPct val="132000"/>
              </a:lnSpc>
            </a:pPr>
            <a:r>
              <a:rPr sz="1400">
                <a:solidFill>
                  <a:srgbClr val="333333"/>
                </a:solidFill>
                <a:latin typeface="メイリオ"/>
                <a:ea typeface="メイリオ"/>
                <a:cs typeface="メイリオ"/>
              </a:rPr>
              <a:t>・広告依存・記事LP・アフィリエイトの相場</a:t>
            </a:r>
          </a:p>
        </p:txBody>
      </p:sp>
      <p:sp>
        <p:nvSpPr>
          <p:cNvPr id="9" name="TextBox 8"/>
          <p:cNvSpPr txBox="1"/>
          <p:nvPr/>
        </p:nvSpPr>
        <p:spPr>
          <a:xfrm>
            <a:off x="540000" y="3096000"/>
            <a:ext cx="2726400" cy="595183"/>
          </a:xfrm>
          <a:prstGeom prst="rect">
            <a:avLst/>
          </a:prstGeom>
          <a:noFill/>
        </p:spPr>
        <p:txBody>
          <a:bodyPr wrap="square" lIns="50400" tIns="21600" rIns="50400" bIns="21600" anchor="t">
            <a:spAutoFit/>
          </a:bodyPr>
          <a:lstStyle/>
          <a:p>
            <a:pPr algn="l">
              <a:lnSpc>
                <a:spcPct val="132000"/>
              </a:lnSpc>
            </a:pPr>
            <a:r>
              <a:rPr sz="1400">
                <a:solidFill>
                  <a:srgbClr val="333333"/>
                </a:solidFill>
                <a:latin typeface="メイリオ"/>
                <a:ea typeface="メイリオ"/>
                <a:cs typeface="メイリオ"/>
              </a:rPr>
              <a:t>・通販市場+4.1%に対し、ネット広告費+10.8%</a:t>
            </a:r>
          </a:p>
        </p:txBody>
      </p:sp>
      <p:sp>
        <p:nvSpPr>
          <p:cNvPr id="10" name="TextBox 9"/>
          <p:cNvSpPr txBox="1"/>
          <p:nvPr/>
        </p:nvSpPr>
        <p:spPr>
          <a:xfrm>
            <a:off x="540000" y="3636000"/>
            <a:ext cx="2726400" cy="595183"/>
          </a:xfrm>
          <a:prstGeom prst="rect">
            <a:avLst/>
          </a:prstGeom>
          <a:noFill/>
        </p:spPr>
        <p:txBody>
          <a:bodyPr wrap="square" lIns="50400" tIns="21600" rIns="50400" bIns="21600" anchor="t">
            <a:spAutoFit/>
          </a:bodyPr>
          <a:lstStyle/>
          <a:p>
            <a:pPr algn="l">
              <a:lnSpc>
                <a:spcPct val="132000"/>
              </a:lnSpc>
            </a:pPr>
            <a:r>
              <a:rPr sz="1400">
                <a:solidFill>
                  <a:srgbClr val="333333"/>
                </a:solidFill>
                <a:latin typeface="メイリオ"/>
                <a:ea typeface="メイリオ"/>
                <a:cs typeface="メイリオ"/>
              </a:rPr>
              <a:t>・ネット広告費は構成比50.2%で初の過半数</a:t>
            </a:r>
          </a:p>
        </p:txBody>
      </p:sp>
      <p:sp>
        <p:nvSpPr>
          <p:cNvPr id="11" name="Rounded Rectangle 10"/>
          <p:cNvSpPr/>
          <p:nvPr/>
        </p:nvSpPr>
        <p:spPr>
          <a:xfrm>
            <a:off x="3482400" y="1620000"/>
            <a:ext cx="2942400" cy="2664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90400" y="1780611"/>
            <a:ext cx="2726400" cy="326776"/>
          </a:xfrm>
          <a:prstGeom prst="rect">
            <a:avLst/>
          </a:prstGeom>
          <a:noFill/>
        </p:spPr>
        <p:txBody>
          <a:bodyPr wrap="square" lIns="50400" tIns="21600" rIns="50400" bIns="21600" anchor="ctr">
            <a:spAutoFit/>
          </a:bodyPr>
          <a:lstStyle/>
          <a:p>
            <a:pPr algn="l">
              <a:lnSpc>
                <a:spcPct val="120000"/>
              </a:lnSpc>
            </a:pPr>
            <a:r>
              <a:rPr sz="1600" b="1">
                <a:solidFill>
                  <a:srgbClr val="ED7D31"/>
                </a:solidFill>
                <a:latin typeface="メイリオ"/>
                <a:ea typeface="メイリオ"/>
                <a:cs typeface="メイリオ"/>
              </a:rPr>
              <a:t>② 初回で消える</a:t>
            </a:r>
          </a:p>
        </p:txBody>
      </p:sp>
      <p:sp>
        <p:nvSpPr>
          <p:cNvPr id="13" name="Rounded Rectangle 12"/>
          <p:cNvSpPr/>
          <p:nvPr/>
        </p:nvSpPr>
        <p:spPr>
          <a:xfrm>
            <a:off x="3590400" y="2231999"/>
            <a:ext cx="684000" cy="216000"/>
          </a:xfrm>
          <a:prstGeom prst="roundRect">
            <a:avLst>
              <a:gd name="adj" fmla="val 6000"/>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400" b="1">
                <a:solidFill>
                  <a:srgbClr val="ED7D31"/>
                </a:solidFill>
                <a:latin typeface="メイリオ"/>
                <a:ea typeface="メイリオ"/>
                <a:cs typeface="メイリオ"/>
              </a:rPr>
              <a:t>触れる</a:t>
            </a:r>
          </a:p>
        </p:txBody>
      </p:sp>
      <p:sp>
        <p:nvSpPr>
          <p:cNvPr id="14" name="TextBox 13"/>
          <p:cNvSpPr txBox="1"/>
          <p:nvPr/>
        </p:nvSpPr>
        <p:spPr>
          <a:xfrm>
            <a:off x="3590400" y="2556000"/>
            <a:ext cx="2726400" cy="272659"/>
          </a:xfrm>
          <a:prstGeom prst="rect">
            <a:avLst/>
          </a:prstGeom>
          <a:noFill/>
        </p:spPr>
        <p:txBody>
          <a:bodyPr wrap="square" lIns="50400" tIns="21600" rIns="50400" bIns="21600" anchor="t">
            <a:spAutoFit/>
          </a:bodyPr>
          <a:lstStyle/>
          <a:p>
            <a:pPr algn="l">
              <a:lnSpc>
                <a:spcPct val="132000"/>
              </a:lnSpc>
            </a:pPr>
            <a:r>
              <a:rPr sz="1200">
                <a:solidFill>
                  <a:srgbClr val="333333"/>
                </a:solidFill>
                <a:latin typeface="メイリオ"/>
                <a:ea typeface="メイリオ"/>
                <a:cs typeface="メイリオ"/>
              </a:rPr>
              <a:t>・初回を買った後に離脱する人が多い</a:t>
            </a:r>
          </a:p>
        </p:txBody>
      </p:sp>
      <p:sp>
        <p:nvSpPr>
          <p:cNvPr id="15" name="TextBox 14"/>
          <p:cNvSpPr txBox="1"/>
          <p:nvPr/>
        </p:nvSpPr>
        <p:spPr>
          <a:xfrm>
            <a:off x="3590400" y="3096000"/>
            <a:ext cx="2726400" cy="291703"/>
          </a:xfrm>
          <a:prstGeom prst="rect">
            <a:avLst/>
          </a:prstGeom>
          <a:noFill/>
        </p:spPr>
        <p:txBody>
          <a:bodyPr wrap="square" lIns="50400" tIns="21600" rIns="50400" bIns="21600" anchor="t">
            <a:spAutoFit/>
          </a:bodyPr>
          <a:lstStyle/>
          <a:p>
            <a:pPr algn="l">
              <a:lnSpc>
                <a:spcPct val="132000"/>
              </a:lnSpc>
            </a:pPr>
            <a:r>
              <a:rPr sz="1300">
                <a:solidFill>
                  <a:srgbClr val="333333"/>
                </a:solidFill>
                <a:latin typeface="メイリオ"/>
                <a:ea typeface="メイリオ"/>
                <a:cs typeface="メイリオ"/>
              </a:rPr>
              <a:t>・2回目を買わずに終わる人が多い</a:t>
            </a:r>
          </a:p>
        </p:txBody>
      </p:sp>
      <p:sp>
        <p:nvSpPr>
          <p:cNvPr id="16" name="TextBox 15"/>
          <p:cNvSpPr txBox="1"/>
          <p:nvPr/>
        </p:nvSpPr>
        <p:spPr>
          <a:xfrm>
            <a:off x="3590400" y="3636000"/>
            <a:ext cx="2726400" cy="310811"/>
          </a:xfrm>
          <a:prstGeom prst="rect">
            <a:avLst/>
          </a:prstGeom>
          <a:noFill/>
        </p:spPr>
        <p:txBody>
          <a:bodyPr wrap="square" lIns="50400" tIns="21600" rIns="50400" bIns="21600" anchor="t">
            <a:spAutoFit/>
          </a:bodyPr>
          <a:lstStyle/>
          <a:p>
            <a:pPr algn="l">
              <a:lnSpc>
                <a:spcPct val="132000"/>
              </a:lnSpc>
            </a:pPr>
            <a:r>
              <a:rPr sz="1400">
                <a:solidFill>
                  <a:srgbClr val="333333"/>
                </a:solidFill>
                <a:latin typeface="メイリオ"/>
                <a:ea typeface="メイリオ"/>
                <a:cs typeface="メイリオ"/>
              </a:rPr>
              <a:t>・効果実感の前に脱落している</a:t>
            </a:r>
          </a:p>
        </p:txBody>
      </p:sp>
      <p:sp>
        <p:nvSpPr>
          <p:cNvPr id="17" name="Rounded Rectangle 16"/>
          <p:cNvSpPr/>
          <p:nvPr/>
        </p:nvSpPr>
        <p:spPr>
          <a:xfrm>
            <a:off x="6532800" y="1620000"/>
            <a:ext cx="2942400" cy="2664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40800" y="1798309"/>
            <a:ext cx="2726400" cy="291382"/>
          </a:xfrm>
          <a:prstGeom prst="rect">
            <a:avLst/>
          </a:prstGeom>
          <a:noFill/>
        </p:spPr>
        <p:txBody>
          <a:bodyPr wrap="square" lIns="50400" tIns="21600" rIns="50400" bIns="21600" anchor="ctr">
            <a:spAutoFit/>
          </a:bodyPr>
          <a:lstStyle/>
          <a:p>
            <a:pPr algn="l">
              <a:lnSpc>
                <a:spcPct val="120000"/>
              </a:lnSpc>
            </a:pPr>
            <a:r>
              <a:rPr sz="1400" b="1">
                <a:solidFill>
                  <a:srgbClr val="ED7D31"/>
                </a:solidFill>
                <a:latin typeface="メイリオ"/>
                <a:ea typeface="メイリオ"/>
                <a:cs typeface="メイリオ"/>
              </a:rPr>
              <a:t>③ 解約の受け皿が電話しかない</a:t>
            </a:r>
          </a:p>
        </p:txBody>
      </p:sp>
      <p:sp>
        <p:nvSpPr>
          <p:cNvPr id="19" name="Rounded Rectangle 18"/>
          <p:cNvSpPr/>
          <p:nvPr/>
        </p:nvSpPr>
        <p:spPr>
          <a:xfrm>
            <a:off x="6640800" y="2231999"/>
            <a:ext cx="684000" cy="216000"/>
          </a:xfrm>
          <a:prstGeom prst="roundRect">
            <a:avLst>
              <a:gd name="adj" fmla="val 6000"/>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400" b="1">
                <a:solidFill>
                  <a:srgbClr val="ED7D31"/>
                </a:solidFill>
                <a:latin typeface="メイリオ"/>
                <a:ea typeface="メイリオ"/>
                <a:cs typeface="メイリオ"/>
              </a:rPr>
              <a:t>触れる</a:t>
            </a:r>
          </a:p>
        </p:txBody>
      </p:sp>
      <p:sp>
        <p:nvSpPr>
          <p:cNvPr id="20" name="TextBox 19"/>
          <p:cNvSpPr txBox="1"/>
          <p:nvPr/>
        </p:nvSpPr>
        <p:spPr>
          <a:xfrm>
            <a:off x="6640800" y="2556000"/>
            <a:ext cx="2726400" cy="595183"/>
          </a:xfrm>
          <a:prstGeom prst="rect">
            <a:avLst/>
          </a:prstGeom>
          <a:noFill/>
        </p:spPr>
        <p:txBody>
          <a:bodyPr wrap="square" lIns="50400" tIns="21600" rIns="50400" bIns="21600" anchor="t">
            <a:spAutoFit/>
          </a:bodyPr>
          <a:lstStyle/>
          <a:p>
            <a:pPr algn="l">
              <a:lnSpc>
                <a:spcPct val="132000"/>
              </a:lnSpc>
            </a:pPr>
            <a:r>
              <a:rPr sz="1400">
                <a:solidFill>
                  <a:srgbClr val="333333"/>
                </a:solidFill>
                <a:latin typeface="メイリオ"/>
                <a:ea typeface="メイリオ"/>
                <a:cs typeface="メイリオ"/>
              </a:rPr>
              <a:t>・定期購入の相談は年74,146件（2022年度）</a:t>
            </a:r>
          </a:p>
        </p:txBody>
      </p:sp>
      <p:sp>
        <p:nvSpPr>
          <p:cNvPr id="21" name="TextBox 20"/>
          <p:cNvSpPr txBox="1"/>
          <p:nvPr/>
        </p:nvSpPr>
        <p:spPr>
          <a:xfrm>
            <a:off x="6640800" y="3096000"/>
            <a:ext cx="2726400" cy="595183"/>
          </a:xfrm>
          <a:prstGeom prst="rect">
            <a:avLst/>
          </a:prstGeom>
          <a:noFill/>
        </p:spPr>
        <p:txBody>
          <a:bodyPr wrap="square" lIns="50400" tIns="21600" rIns="50400" bIns="21600" anchor="t">
            <a:spAutoFit/>
          </a:bodyPr>
          <a:lstStyle/>
          <a:p>
            <a:pPr algn="l">
              <a:lnSpc>
                <a:spcPct val="132000"/>
              </a:lnSpc>
            </a:pPr>
            <a:r>
              <a:rPr sz="1400">
                <a:solidFill>
                  <a:srgbClr val="333333"/>
                </a:solidFill>
                <a:latin typeface="メイリオ"/>
                <a:ea typeface="メイリオ"/>
                <a:cs typeface="メイリオ"/>
              </a:rPr>
              <a:t>・主な苦情は「電話がつながらず解約できない」</a:t>
            </a:r>
          </a:p>
        </p:txBody>
      </p:sp>
      <p:sp>
        <p:nvSpPr>
          <p:cNvPr id="22" name="TextBox 21"/>
          <p:cNvSpPr txBox="1"/>
          <p:nvPr/>
        </p:nvSpPr>
        <p:spPr>
          <a:xfrm>
            <a:off x="6640800" y="3636000"/>
            <a:ext cx="2726400" cy="595183"/>
          </a:xfrm>
          <a:prstGeom prst="rect">
            <a:avLst/>
          </a:prstGeom>
          <a:noFill/>
        </p:spPr>
        <p:txBody>
          <a:bodyPr wrap="square" lIns="50400" tIns="21600" rIns="50400" bIns="21600" anchor="t">
            <a:spAutoFit/>
          </a:bodyPr>
          <a:lstStyle/>
          <a:p>
            <a:pPr algn="l">
              <a:lnSpc>
                <a:spcPct val="132000"/>
              </a:lnSpc>
            </a:pPr>
            <a:r>
              <a:rPr sz="1400">
                <a:solidFill>
                  <a:srgbClr val="333333"/>
                </a:solidFill>
                <a:latin typeface="メイリオ"/>
                <a:ea typeface="メイリオ"/>
                <a:cs typeface="メイリオ"/>
              </a:rPr>
              <a:t>・★塞ぐと違法（特商法・解約妨害に罰則）</a:t>
            </a:r>
          </a:p>
        </p:txBody>
      </p:sp>
      <p:sp>
        <p:nvSpPr>
          <p:cNvPr id="23" name="Rounded Rectangle 22"/>
          <p:cNvSpPr/>
          <p:nvPr/>
        </p:nvSpPr>
        <p:spPr>
          <a:xfrm>
            <a:off x="432000" y="4500000"/>
            <a:ext cx="9043200" cy="115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12000" y="4632214"/>
            <a:ext cx="8683200" cy="887571"/>
          </a:xfrm>
          <a:prstGeom prst="rect">
            <a:avLst/>
          </a:prstGeom>
          <a:noFill/>
        </p:spPr>
        <p:txBody>
          <a:bodyPr wrap="square" lIns="50400" tIns="21600" rIns="50400" bIns="21600" anchor="ctr">
            <a:spAutoFit/>
          </a:bodyPr>
          <a:lstStyle/>
          <a:p>
            <a:pPr algn="l">
              <a:spcAft>
                <a:spcPts val="600"/>
              </a:spcAft>
            </a:pPr>
            <a:r>
              <a:rPr sz="1400" b="1">
                <a:solidFill>
                  <a:srgbClr val="FFFFFF"/>
                </a:solidFill>
                <a:latin typeface="メイリオ"/>
                <a:ea typeface="メイリオ"/>
                <a:cs typeface="メイリオ"/>
              </a:rPr>
              <a:t>②③を潰すと、広告費も新規獲得数も据え置きのまま LTV が上がる。</a:t>
            </a:r>
          </a:p>
          <a:p>
            <a:pPr algn="l">
              <a:lnSpc>
                <a:spcPct val="132000"/>
              </a:lnSpc>
            </a:pPr>
            <a:r>
              <a:rPr sz="1400">
                <a:solidFill>
                  <a:srgbClr val="FFFFFF"/>
                </a:solidFill>
                <a:latin typeface="メイリオ"/>
                <a:ea typeface="メイリオ"/>
                <a:cs typeface="メイリオ"/>
              </a:rPr>
              <a:t>そしてLTVが上がると、限界CPO（1件の獲得にかけられる広告費の上限）が上がる。＝ 同じ広告枠でも勝てる範囲が広がる。</a:t>
            </a:r>
          </a:p>
        </p:txBody>
      </p:sp>
      <p:sp>
        <p:nvSpPr>
          <p:cNvPr id="25" name="TextBox 24"/>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業界水準｜相談件数＝国民生活センター／広告費＝電通「2025年 日本の広告費」／通販市場＝日本ネット経済新聞「2025年版 通販売上高ランキング」（化粧品通販91社）</a:t>
            </a:r>
          </a:p>
        </p:txBody>
      </p:sp>
    </p:spTree>
    <p:extLst>
      <p:ext uri="{BB962C8B-B14F-4D97-AF65-F5344CB8AC3E}">
        <p14:creationId xmlns:p14="http://schemas.microsoft.com/office/powerpoint/2010/main" val="3509480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単品通販の課題②｜なぜ1回で終わるのか</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商品が悪いから辞めるのではない。効果を実感する前に、不安が先に来る。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5606784"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57999" y="1662649"/>
            <a:ext cx="5354784" cy="850702"/>
          </a:xfrm>
          <a:prstGeom prst="rect">
            <a:avLst/>
          </a:prstGeom>
          <a:noFill/>
        </p:spPr>
        <p:txBody>
          <a:bodyPr wrap="square" lIns="50400" tIns="21600" rIns="50400" bIns="21600" anchor="ctr">
            <a:spAutoFit/>
          </a:bodyPr>
          <a:lstStyle/>
          <a:p>
            <a:pPr algn="l">
              <a:spcAft>
                <a:spcPts val="500"/>
              </a:spcAft>
            </a:pPr>
            <a:r>
              <a:rPr sz="1500" b="1">
                <a:solidFill>
                  <a:srgbClr val="1F285A"/>
                </a:solidFill>
                <a:latin typeface="メイリオ"/>
                <a:ea typeface="メイリオ"/>
                <a:cs typeface="メイリオ"/>
              </a:rPr>
              <a:t>「効いているのか分からない」</a:t>
            </a:r>
          </a:p>
          <a:p>
            <a:pPr algn="l">
              <a:lnSpc>
                <a:spcPct val="132000"/>
              </a:lnSpc>
            </a:pPr>
            <a:r>
              <a:rPr sz="1300">
                <a:solidFill>
                  <a:srgbClr val="333333"/>
                </a:solidFill>
                <a:latin typeface="メイリオ"/>
                <a:ea typeface="メイリオ"/>
                <a:cs typeface="メイリオ"/>
              </a:rPr>
              <a:t>ヘアケア・スキンケアは効果実感に時間がかかるため短期離脱が多い。食品・日用品は消費サイクルが明確なので継続率が比較的高い。</a:t>
            </a:r>
          </a:p>
        </p:txBody>
      </p:sp>
      <p:sp>
        <p:nvSpPr>
          <p:cNvPr id="7" name="Rounded Rectangle 6"/>
          <p:cNvSpPr/>
          <p:nvPr/>
        </p:nvSpPr>
        <p:spPr>
          <a:xfrm>
            <a:off x="6146784" y="1620000"/>
            <a:ext cx="3328416" cy="936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54784" y="1943655"/>
            <a:ext cx="3112416" cy="288689"/>
          </a:xfrm>
          <a:prstGeom prst="rect">
            <a:avLst/>
          </a:prstGeom>
          <a:noFill/>
        </p:spPr>
        <p:txBody>
          <a:bodyPr wrap="square" lIns="50400" tIns="21600" rIns="50400" bIns="21600" anchor="ctr">
            <a:spAutoFit/>
          </a:bodyPr>
          <a:lstStyle/>
          <a:p>
            <a:pPr algn="l">
              <a:lnSpc>
                <a:spcPct val="130000"/>
              </a:lnSpc>
            </a:pPr>
            <a:r>
              <a:rPr sz="1300" b="1">
                <a:solidFill>
                  <a:srgbClr val="ED7D31"/>
                </a:solidFill>
                <a:latin typeface="メイリオ"/>
                <a:ea typeface="メイリオ"/>
                <a:cs typeface="メイリオ"/>
              </a:rPr>
              <a:t>→ 使い始めの伴走が効く（P45）</a:t>
            </a:r>
          </a:p>
        </p:txBody>
      </p:sp>
      <p:sp>
        <p:nvSpPr>
          <p:cNvPr id="9" name="Rounded Rectangle 8"/>
          <p:cNvSpPr/>
          <p:nvPr/>
        </p:nvSpPr>
        <p:spPr>
          <a:xfrm>
            <a:off x="432000" y="2664000"/>
            <a:ext cx="5606784"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57999" y="2679238"/>
            <a:ext cx="5354784" cy="905524"/>
          </a:xfrm>
          <a:prstGeom prst="rect">
            <a:avLst/>
          </a:prstGeom>
          <a:noFill/>
        </p:spPr>
        <p:txBody>
          <a:bodyPr wrap="square" lIns="50400" tIns="21600" rIns="50400" bIns="21600" anchor="ctr">
            <a:spAutoFit/>
          </a:bodyPr>
          <a:lstStyle/>
          <a:p>
            <a:pPr algn="l">
              <a:spcAft>
                <a:spcPts val="500"/>
              </a:spcAft>
            </a:pPr>
            <a:r>
              <a:rPr sz="1600" b="1">
                <a:solidFill>
                  <a:srgbClr val="1F285A"/>
                </a:solidFill>
                <a:latin typeface="メイリオ"/>
                <a:ea typeface="メイリオ"/>
                <a:cs typeface="メイリオ"/>
              </a:rPr>
              <a:t>「定期に縛られたくない」</a:t>
            </a:r>
          </a:p>
          <a:p>
            <a:pPr algn="l">
              <a:lnSpc>
                <a:spcPct val="132000"/>
              </a:lnSpc>
            </a:pPr>
            <a:r>
              <a:rPr sz="1400">
                <a:solidFill>
                  <a:srgbClr val="333333"/>
                </a:solidFill>
                <a:latin typeface="メイリオ"/>
                <a:ea typeface="メイリオ"/>
                <a:cs typeface="メイリオ"/>
              </a:rPr>
              <a:t>解約条件が分かりにくいこと自体が不安の源。だから購入後に「解約」を検索する人が出る。</a:t>
            </a:r>
          </a:p>
        </p:txBody>
      </p:sp>
      <p:sp>
        <p:nvSpPr>
          <p:cNvPr id="11" name="Rounded Rectangle 10"/>
          <p:cNvSpPr/>
          <p:nvPr/>
        </p:nvSpPr>
        <p:spPr>
          <a:xfrm>
            <a:off x="6146784" y="2664000"/>
            <a:ext cx="3328416" cy="936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54784" y="2857619"/>
            <a:ext cx="3112416" cy="548760"/>
          </a:xfrm>
          <a:prstGeom prst="rect">
            <a:avLst/>
          </a:prstGeom>
          <a:noFill/>
        </p:spPr>
        <p:txBody>
          <a:bodyPr wrap="square" lIns="50400" tIns="21600" rIns="50400" bIns="21600" anchor="ctr">
            <a:spAutoFit/>
          </a:bodyPr>
          <a:lstStyle/>
          <a:p>
            <a:pPr algn="l">
              <a:lnSpc>
                <a:spcPct val="130000"/>
              </a:lnSpc>
            </a:pPr>
            <a:r>
              <a:rPr sz="1300" b="1">
                <a:solidFill>
                  <a:srgbClr val="ED7D31"/>
                </a:solidFill>
                <a:latin typeface="メイリオ"/>
                <a:ea typeface="メイリオ"/>
                <a:cs typeface="メイリオ"/>
              </a:rPr>
              <a:t>→ 先に選択肢を出せば解約にならない（P47）</a:t>
            </a:r>
          </a:p>
        </p:txBody>
      </p:sp>
      <p:sp>
        <p:nvSpPr>
          <p:cNvPr id="13" name="Rounded Rectangle 12"/>
          <p:cNvSpPr/>
          <p:nvPr/>
        </p:nvSpPr>
        <p:spPr>
          <a:xfrm>
            <a:off x="432000" y="3708000"/>
            <a:ext cx="5606784"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7999" y="3750649"/>
            <a:ext cx="5354784" cy="850702"/>
          </a:xfrm>
          <a:prstGeom prst="rect">
            <a:avLst/>
          </a:prstGeom>
          <a:noFill/>
        </p:spPr>
        <p:txBody>
          <a:bodyPr wrap="square" lIns="50400" tIns="21600" rIns="50400" bIns="21600" anchor="ctr">
            <a:spAutoFit/>
          </a:bodyPr>
          <a:lstStyle/>
          <a:p>
            <a:pPr algn="l">
              <a:spcAft>
                <a:spcPts val="500"/>
              </a:spcAft>
            </a:pPr>
            <a:r>
              <a:rPr sz="1500" b="1">
                <a:solidFill>
                  <a:srgbClr val="1F285A"/>
                </a:solidFill>
                <a:latin typeface="メイリオ"/>
                <a:ea typeface="メイリオ"/>
                <a:cs typeface="メイリオ"/>
              </a:rPr>
              <a:t>「言い出しにくい・繋がらない」</a:t>
            </a:r>
          </a:p>
          <a:p>
            <a:pPr algn="l">
              <a:lnSpc>
                <a:spcPct val="132000"/>
              </a:lnSpc>
            </a:pPr>
            <a:r>
              <a:rPr sz="1300">
                <a:solidFill>
                  <a:srgbClr val="333333"/>
                </a:solidFill>
                <a:latin typeface="メイリオ"/>
                <a:ea typeface="メイリオ"/>
                <a:cs typeface="メイリオ"/>
              </a:rPr>
              <a:t>定期購入の相談は年74,146件。主な苦情は「電話がつながらず解約できない」。電話しか窓口が無いこと自体が不満を生んでいる。</a:t>
            </a:r>
          </a:p>
        </p:txBody>
      </p:sp>
      <p:sp>
        <p:nvSpPr>
          <p:cNvPr id="15" name="Rounded Rectangle 14"/>
          <p:cNvSpPr/>
          <p:nvPr/>
        </p:nvSpPr>
        <p:spPr>
          <a:xfrm>
            <a:off x="6146784" y="3708000"/>
            <a:ext cx="3328416" cy="936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54784" y="4031654"/>
            <a:ext cx="3112416" cy="288689"/>
          </a:xfrm>
          <a:prstGeom prst="rect">
            <a:avLst/>
          </a:prstGeom>
          <a:noFill/>
        </p:spPr>
        <p:txBody>
          <a:bodyPr wrap="square" lIns="50400" tIns="21600" rIns="50400" bIns="21600" anchor="ctr">
            <a:spAutoFit/>
          </a:bodyPr>
          <a:lstStyle/>
          <a:p>
            <a:pPr algn="l">
              <a:lnSpc>
                <a:spcPct val="130000"/>
              </a:lnSpc>
            </a:pPr>
            <a:r>
              <a:rPr sz="1300" b="1">
                <a:solidFill>
                  <a:srgbClr val="ED7D31"/>
                </a:solidFill>
                <a:latin typeface="メイリオ"/>
                <a:ea typeface="メイリオ"/>
                <a:cs typeface="メイリオ"/>
              </a:rPr>
              <a:t>→ </a:t>
            </a:r>
            <a:r>
              <a:rPr lang="en-US" altLang="ja-JP" sz="1300" b="1">
                <a:solidFill>
                  <a:srgbClr val="ED7D31"/>
                </a:solidFill>
                <a:latin typeface="メイリオ"/>
                <a:ea typeface="メイリオ"/>
                <a:cs typeface="メイリオ"/>
              </a:rPr>
              <a:t>24</a:t>
            </a:r>
            <a:r>
              <a:rPr lang="ja-JP" altLang="en-US" sz="1300" b="1">
                <a:solidFill>
                  <a:srgbClr val="ED7D31"/>
                </a:solidFill>
                <a:latin typeface="メイリオ"/>
                <a:ea typeface="メイリオ"/>
                <a:cs typeface="メイリオ"/>
              </a:rPr>
              <a:t>時間の窓口を持つ</a:t>
            </a:r>
            <a:r>
              <a:rPr sz="1300" b="1">
                <a:solidFill>
                  <a:srgbClr val="ED7D31"/>
                </a:solidFill>
                <a:latin typeface="メイリオ"/>
                <a:ea typeface="メイリオ"/>
                <a:cs typeface="メイリオ"/>
              </a:rPr>
              <a:t>（P47）</a:t>
            </a:r>
          </a:p>
        </p:txBody>
      </p:sp>
      <p:sp>
        <p:nvSpPr>
          <p:cNvPr id="17" name="Rounded Rectangle 16"/>
          <p:cNvSpPr/>
          <p:nvPr/>
        </p:nvSpPr>
        <p:spPr>
          <a:xfrm>
            <a:off x="432000" y="4823999"/>
            <a:ext cx="9043200" cy="827999"/>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2000" y="4934766"/>
            <a:ext cx="8683200" cy="606468"/>
          </a:xfrm>
          <a:prstGeom prst="rect">
            <a:avLst/>
          </a:prstGeom>
          <a:noFill/>
        </p:spPr>
        <p:txBody>
          <a:bodyPr wrap="square" lIns="50400" tIns="21600" rIns="50400" bIns="21600" anchor="ctr">
            <a:spAutoFit/>
          </a:bodyPr>
          <a:lstStyle/>
          <a:p>
            <a:pPr algn="l">
              <a:lnSpc>
                <a:spcPct val="135000"/>
              </a:lnSpc>
            </a:pPr>
            <a:r>
              <a:rPr sz="1400" b="1">
                <a:solidFill>
                  <a:srgbClr val="333333"/>
                </a:solidFill>
                <a:latin typeface="メイリオ"/>
                <a:ea typeface="メイリオ"/>
                <a:cs typeface="メイリオ"/>
              </a:rPr>
              <a:t>そして、追いかける手段も機能していない。</a:t>
            </a:r>
            <a:r>
              <a:rPr sz="1400">
                <a:solidFill>
                  <a:srgbClr val="333333"/>
                </a:solidFill>
                <a:latin typeface="メイリオ"/>
                <a:ea typeface="メイリオ"/>
                <a:cs typeface="メイリオ"/>
              </a:rPr>
              <a:t>　メルマガ開封率は20%前後（業界水準）に対し、</a:t>
            </a:r>
            <a:r>
              <a:rPr sz="1400" b="1">
                <a:solidFill>
                  <a:srgbClr val="ED7D31"/>
                </a:solidFill>
                <a:latin typeface="メイリオ"/>
                <a:ea typeface="メイリオ"/>
                <a:cs typeface="メイリオ"/>
              </a:rPr>
              <a:t>LINEは当日中に約8割が開封（LINEヤフー公式）。</a:t>
            </a:r>
          </a:p>
        </p:txBody>
      </p:sp>
      <p:sp>
        <p:nvSpPr>
          <p:cNvPr id="19" name="TextBox 18"/>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業界水準｜相談件数＝国民生活センター／メルマガ開封率＝国内EC平均。LY公式｜開封率は倍率ではなく実数で記載</a:t>
            </a:r>
          </a:p>
        </p:txBody>
      </p:sp>
    </p:spTree>
    <p:extLst>
      <p:ext uri="{BB962C8B-B14F-4D97-AF65-F5344CB8AC3E}">
        <p14:creationId xmlns:p14="http://schemas.microsoft.com/office/powerpoint/2010/main" val="1187594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単品通販の課題③｜前後検索（購入の前と後で、何を調べているか）</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単品通販の特徴は、不安が「買う前」より「買った後」に出ること。</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4449600"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57999" y="1785471"/>
            <a:ext cx="4197600" cy="605058"/>
          </a:xfrm>
          <a:prstGeom prst="rect">
            <a:avLst/>
          </a:prstGeom>
          <a:noFill/>
        </p:spPr>
        <p:txBody>
          <a:bodyPr wrap="square" lIns="50400" tIns="21600" rIns="50400" bIns="21600" anchor="ctr">
            <a:spAutoFit/>
          </a:bodyPr>
          <a:lstStyle/>
          <a:p>
            <a:pPr algn="l">
              <a:spcAft>
                <a:spcPts val="400"/>
              </a:spcAft>
            </a:pPr>
            <a:r>
              <a:rPr sz="1600" b="1">
                <a:solidFill>
                  <a:srgbClr val="1F285A"/>
                </a:solidFill>
                <a:latin typeface="メイリオ"/>
                <a:ea typeface="メイリオ"/>
                <a:cs typeface="メイリオ"/>
              </a:rPr>
              <a:t>購入の前</a:t>
            </a:r>
          </a:p>
          <a:p>
            <a:pPr algn="l">
              <a:lnSpc>
                <a:spcPct val="130000"/>
              </a:lnSpc>
            </a:pPr>
            <a:r>
              <a:rPr sz="1400">
                <a:solidFill>
                  <a:srgbClr val="333333"/>
                </a:solidFill>
                <a:latin typeface="メイリオ"/>
                <a:ea typeface="メイリオ"/>
                <a:cs typeface="メイリオ"/>
              </a:rPr>
              <a:t>効果／口コミ／成分／比較／最安</a:t>
            </a:r>
          </a:p>
        </p:txBody>
      </p:sp>
      <p:sp>
        <p:nvSpPr>
          <p:cNvPr id="7" name="Rounded Rectangle 6"/>
          <p:cNvSpPr/>
          <p:nvPr/>
        </p:nvSpPr>
        <p:spPr>
          <a:xfrm>
            <a:off x="5025600" y="1620000"/>
            <a:ext cx="4449600" cy="936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151600" y="1785471"/>
            <a:ext cx="4197600" cy="605058"/>
          </a:xfrm>
          <a:prstGeom prst="rect">
            <a:avLst/>
          </a:prstGeom>
          <a:noFill/>
        </p:spPr>
        <p:txBody>
          <a:bodyPr wrap="square" lIns="50400" tIns="21600" rIns="50400" bIns="21600" anchor="ctr">
            <a:spAutoFit/>
          </a:bodyPr>
          <a:lstStyle/>
          <a:p>
            <a:pPr algn="l">
              <a:spcAft>
                <a:spcPts val="400"/>
              </a:spcAft>
            </a:pPr>
            <a:r>
              <a:rPr sz="1600" b="1">
                <a:solidFill>
                  <a:srgbClr val="ED7D31"/>
                </a:solidFill>
                <a:latin typeface="メイリオ"/>
                <a:ea typeface="メイリオ"/>
                <a:cs typeface="メイリオ"/>
              </a:rPr>
              <a:t>購入の後　★ここが本命</a:t>
            </a:r>
          </a:p>
          <a:p>
            <a:pPr algn="l">
              <a:lnSpc>
                <a:spcPct val="130000"/>
              </a:lnSpc>
            </a:pPr>
            <a:r>
              <a:rPr sz="1400" b="1">
                <a:solidFill>
                  <a:srgbClr val="333333"/>
                </a:solidFill>
                <a:latin typeface="メイリオ"/>
                <a:ea typeface="メイリオ"/>
                <a:cs typeface="メイリオ"/>
              </a:rPr>
              <a:t>解約／返品／休止／縛り</a:t>
            </a:r>
          </a:p>
        </p:txBody>
      </p:sp>
      <p:sp>
        <p:nvSpPr>
          <p:cNvPr id="9" name="Rounded Rectangle 8"/>
          <p:cNvSpPr/>
          <p:nvPr/>
        </p:nvSpPr>
        <p:spPr>
          <a:xfrm>
            <a:off x="432000" y="2736000"/>
            <a:ext cx="9043200" cy="1584000"/>
          </a:xfrm>
          <a:prstGeom prst="roundRect">
            <a:avLst>
              <a:gd name="adj" fmla="val 6000"/>
            </a:avLst>
          </a:prstGeom>
          <a:solidFill>
            <a:srgbClr val="FFFFFF"/>
          </a:solidFill>
          <a:ln w="1587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wrap="square" lIns="108000" tIns="36000" rIns="108000" bIns="36000" rtlCol="0" anchor="ctr"/>
          <a:lstStyle/>
          <a:p>
            <a:pPr algn="ctr">
              <a:spcAft>
                <a:spcPts val="400"/>
              </a:spcAft>
            </a:pPr>
            <a:r>
              <a:rPr sz="1400" b="1">
                <a:solidFill>
                  <a:srgbClr val="7F7F7F"/>
                </a:solidFill>
                <a:latin typeface="メイリオ"/>
                <a:ea typeface="メイリオ"/>
                <a:cs typeface="メイリオ"/>
              </a:rPr>
              <a:t>★差込枠｜LINEヤフー 前後検索（Journey・未取得）</a:t>
            </a:r>
          </a:p>
          <a:p>
            <a:pPr algn="ctr">
              <a:lnSpc>
                <a:spcPct val="125000"/>
              </a:lnSpc>
            </a:pPr>
            <a:r>
              <a:rPr sz="1400">
                <a:solidFill>
                  <a:srgbClr val="7F7F7F"/>
                </a:solidFill>
                <a:latin typeface="メイリオ"/>
                <a:ea typeface="メイリオ"/>
                <a:cs typeface="メイリオ"/>
              </a:rPr>
              <a:t>対象KW（必ず一語）：サプリ／定期便／解約／口コミ
★「解約」が本命。解約の前後に何を調べているかが分かれば、
P47で先回りすべき内容（スキップ・周期変更・休止のどれを先に出すか）が決まる</a:t>
            </a:r>
          </a:p>
        </p:txBody>
      </p:sp>
      <p:sp>
        <p:nvSpPr>
          <p:cNvPr id="10" name="Rounded Rectangle 9"/>
          <p:cNvSpPr/>
          <p:nvPr/>
        </p:nvSpPr>
        <p:spPr>
          <a:xfrm>
            <a:off x="432000" y="4500000"/>
            <a:ext cx="9043200" cy="115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7999" y="4638626"/>
            <a:ext cx="8611200" cy="874747"/>
          </a:xfrm>
          <a:prstGeom prst="rect">
            <a:avLst/>
          </a:prstGeom>
          <a:noFill/>
        </p:spPr>
        <p:txBody>
          <a:bodyPr wrap="square" lIns="50400" tIns="21600" rIns="50400" bIns="21600" anchor="ctr">
            <a:spAutoFit/>
          </a:bodyPr>
          <a:lstStyle/>
          <a:p>
            <a:pPr algn="l">
              <a:spcAft>
                <a:spcPts val="500"/>
              </a:spcAft>
            </a:pPr>
            <a:r>
              <a:rPr sz="1400" b="1">
                <a:solidFill>
                  <a:srgbClr val="FFFFFF"/>
                </a:solidFill>
                <a:latin typeface="メイリオ"/>
                <a:ea typeface="メイリオ"/>
                <a:cs typeface="メイリオ"/>
              </a:rPr>
              <a:t>「解約」を調べている人は、まだ解約していない。</a:t>
            </a:r>
          </a:p>
          <a:p>
            <a:pPr algn="l">
              <a:lnSpc>
                <a:spcPct val="132000"/>
              </a:lnSpc>
            </a:pPr>
            <a:r>
              <a:rPr sz="1400">
                <a:solidFill>
                  <a:srgbClr val="FFFFFF"/>
                </a:solidFill>
                <a:latin typeface="メイリオ"/>
                <a:ea typeface="メイリオ"/>
                <a:cs typeface="メイリオ"/>
              </a:rPr>
              <a:t>調べている時点で接触できれば、スキップや周期変更という選択肢を出せる。電話しか窓口が無いと、この瞬間に触れない。</a:t>
            </a:r>
          </a:p>
        </p:txBody>
      </p:sp>
      <p:sp>
        <p:nvSpPr>
          <p:cNvPr id="12" name="TextBox 11"/>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★未取得｜KWは必ず一語で取得する（二語にすると検索Volが落ちて使えない）</a:t>
            </a:r>
          </a:p>
        </p:txBody>
      </p:sp>
    </p:spTree>
    <p:extLst>
      <p:ext uri="{BB962C8B-B14F-4D97-AF65-F5344CB8AC3E}">
        <p14:creationId xmlns:p14="http://schemas.microsoft.com/office/powerpoint/2010/main" val="3112803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単品通販の課題④｜「LINEは広告ではない」は誤り</a:t>
            </a:r>
          </a:p>
        </p:txBody>
      </p:sp>
      <p:sp>
        <p:nvSpPr>
          <p:cNvPr id="3" name="TextBox 2"/>
          <p:cNvSpPr txBox="1"/>
          <p:nvPr/>
        </p:nvSpPr>
        <p:spPr>
          <a:xfrm>
            <a:off x="432000" y="699942"/>
            <a:ext cx="9036000" cy="580115"/>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単品通販は、法律がビジネスモデルそのものを規制している業界。</a:t>
            </a:r>
          </a:p>
          <a:p>
            <a:pPr algn="l">
              <a:lnSpc>
                <a:spcPct val="128000"/>
              </a:lnSpc>
            </a:pPr>
            <a:r>
              <a:rPr sz="1400">
                <a:solidFill>
                  <a:srgbClr val="333333"/>
                </a:solidFill>
                <a:latin typeface="メイリオ"/>
                <a:ea typeface="メイリオ"/>
                <a:cs typeface="メイリオ"/>
              </a:rPr>
              <a:t>配信文面の設計は、最初から表現規制を織り込む必要がある。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21123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11200" y="1650678"/>
            <a:ext cx="1953900" cy="766640"/>
          </a:xfrm>
          <a:prstGeom prst="rect">
            <a:avLst/>
          </a:prstGeom>
          <a:noFill/>
        </p:spPr>
        <p:txBody>
          <a:bodyPr wrap="square" lIns="50400" tIns="21600" rIns="50400" bIns="21600" anchor="ctr">
            <a:spAutoFit/>
          </a:bodyPr>
          <a:lstStyle/>
          <a:p>
            <a:pPr algn="l">
              <a:lnSpc>
                <a:spcPct val="120000"/>
              </a:lnSpc>
              <a:spcAft>
                <a:spcPts val="400"/>
              </a:spcAft>
            </a:pPr>
            <a:r>
              <a:rPr sz="1200" b="1">
                <a:solidFill>
                  <a:srgbClr val="1F285A"/>
                </a:solidFill>
                <a:latin typeface="メイリオ"/>
                <a:ea typeface="メイリオ"/>
                <a:cs typeface="メイリオ"/>
              </a:rPr>
              <a:t>① 初回赤字 → 定期で回収</a:t>
            </a:r>
          </a:p>
          <a:p>
            <a:pPr algn="l">
              <a:lnSpc>
                <a:spcPct val="125000"/>
              </a:lnSpc>
            </a:pPr>
            <a:r>
              <a:rPr sz="1200">
                <a:solidFill>
                  <a:srgbClr val="333333"/>
                </a:solidFill>
                <a:latin typeface="メイリオ"/>
                <a:ea typeface="メイリオ"/>
                <a:cs typeface="メイリオ"/>
              </a:rPr>
              <a:t>「定期に引き上げること」が事業の生命線</a:t>
            </a:r>
          </a:p>
        </p:txBody>
      </p:sp>
      <p:sp>
        <p:nvSpPr>
          <p:cNvPr id="7" name="Right Arrow 6"/>
          <p:cNvSpPr/>
          <p:nvPr/>
        </p:nvSpPr>
        <p:spPr>
          <a:xfrm>
            <a:off x="2565900" y="1961999"/>
            <a:ext cx="151200" cy="151200"/>
          </a:xfrm>
          <a:prstGeom prst="right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742300" y="1620000"/>
            <a:ext cx="21123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821500" y="1622690"/>
            <a:ext cx="1953900" cy="822618"/>
          </a:xfrm>
          <a:prstGeom prst="rect">
            <a:avLst/>
          </a:prstGeom>
          <a:noFill/>
        </p:spPr>
        <p:txBody>
          <a:bodyPr wrap="square" lIns="50400" tIns="21600" rIns="50400" bIns="21600" anchor="ctr">
            <a:spAutoFit/>
          </a:bodyPr>
          <a:lstStyle/>
          <a:p>
            <a:pPr algn="l">
              <a:lnSpc>
                <a:spcPct val="120000"/>
              </a:lnSpc>
              <a:spcAft>
                <a:spcPts val="400"/>
              </a:spcAft>
            </a:pPr>
            <a:r>
              <a:rPr sz="1300" b="1">
                <a:solidFill>
                  <a:srgbClr val="1F285A"/>
                </a:solidFill>
                <a:latin typeface="メイリオ"/>
                <a:ea typeface="メイリオ"/>
                <a:cs typeface="メイリオ"/>
              </a:rPr>
              <a:t>② 表示が過激化</a:t>
            </a:r>
          </a:p>
          <a:p>
            <a:pPr algn="l">
              <a:lnSpc>
                <a:spcPct val="125000"/>
              </a:lnSpc>
            </a:pPr>
            <a:r>
              <a:rPr sz="1300">
                <a:solidFill>
                  <a:srgbClr val="333333"/>
                </a:solidFill>
                <a:latin typeface="メイリオ"/>
                <a:ea typeface="メイリオ"/>
                <a:cs typeface="メイリオ"/>
              </a:rPr>
              <a:t>業界全体が「初回を安く見せる」表示に寄った</a:t>
            </a:r>
          </a:p>
        </p:txBody>
      </p:sp>
      <p:sp>
        <p:nvSpPr>
          <p:cNvPr id="10" name="Right Arrow 9"/>
          <p:cNvSpPr/>
          <p:nvPr/>
        </p:nvSpPr>
        <p:spPr>
          <a:xfrm>
            <a:off x="4876200" y="1961999"/>
            <a:ext cx="151200" cy="151200"/>
          </a:xfrm>
          <a:prstGeom prst="right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052600" y="1620000"/>
            <a:ext cx="21123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131800" y="1807355"/>
            <a:ext cx="1953900" cy="453286"/>
          </a:xfrm>
          <a:prstGeom prst="rect">
            <a:avLst/>
          </a:prstGeom>
          <a:noFill/>
        </p:spPr>
        <p:txBody>
          <a:bodyPr wrap="square" lIns="50400" tIns="21600" rIns="50400" bIns="21600" anchor="ctr">
            <a:spAutoFit/>
          </a:bodyPr>
          <a:lstStyle/>
          <a:p>
            <a:pPr algn="l">
              <a:lnSpc>
                <a:spcPct val="120000"/>
              </a:lnSpc>
              <a:spcAft>
                <a:spcPts val="400"/>
              </a:spcAft>
            </a:pPr>
            <a:r>
              <a:rPr sz="1050" b="1">
                <a:solidFill>
                  <a:srgbClr val="1F285A"/>
                </a:solidFill>
                <a:latin typeface="メイリオ"/>
                <a:ea typeface="メイリオ"/>
                <a:cs typeface="メイリオ"/>
              </a:rPr>
              <a:t>③ 消費者トラブルが激増</a:t>
            </a:r>
          </a:p>
          <a:p>
            <a:pPr algn="l">
              <a:lnSpc>
                <a:spcPct val="125000"/>
              </a:lnSpc>
            </a:pPr>
            <a:r>
              <a:rPr sz="900">
                <a:solidFill>
                  <a:srgbClr val="333333"/>
                </a:solidFill>
                <a:latin typeface="メイリオ"/>
                <a:ea typeface="メイリオ"/>
                <a:cs typeface="メイリオ"/>
              </a:rPr>
              <a:t>定期購入の相談が年7万件規模に</a:t>
            </a:r>
          </a:p>
        </p:txBody>
      </p:sp>
      <p:sp>
        <p:nvSpPr>
          <p:cNvPr id="13" name="Right Arrow 12"/>
          <p:cNvSpPr/>
          <p:nvPr/>
        </p:nvSpPr>
        <p:spPr>
          <a:xfrm>
            <a:off x="7186499" y="1961999"/>
            <a:ext cx="151200" cy="151200"/>
          </a:xfrm>
          <a:prstGeom prst="right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362900" y="1620000"/>
            <a:ext cx="2112300" cy="827999"/>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42100" y="1650679"/>
            <a:ext cx="1953900" cy="766640"/>
          </a:xfrm>
          <a:prstGeom prst="rect">
            <a:avLst/>
          </a:prstGeom>
          <a:noFill/>
        </p:spPr>
        <p:txBody>
          <a:bodyPr wrap="square" lIns="50400" tIns="21600" rIns="50400" bIns="21600" anchor="ctr">
            <a:spAutoFit/>
          </a:bodyPr>
          <a:lstStyle/>
          <a:p>
            <a:pPr algn="l">
              <a:lnSpc>
                <a:spcPct val="120000"/>
              </a:lnSpc>
              <a:spcAft>
                <a:spcPts val="400"/>
              </a:spcAft>
            </a:pPr>
            <a:r>
              <a:rPr sz="1200" b="1">
                <a:solidFill>
                  <a:srgbClr val="ED7D31"/>
                </a:solidFill>
                <a:latin typeface="メイリオ"/>
                <a:ea typeface="メイリオ"/>
                <a:cs typeface="メイリオ"/>
              </a:rPr>
              <a:t>④ 名指しの法改正</a:t>
            </a:r>
          </a:p>
          <a:p>
            <a:pPr algn="l">
              <a:lnSpc>
                <a:spcPct val="125000"/>
              </a:lnSpc>
            </a:pPr>
            <a:r>
              <a:rPr sz="1200">
                <a:solidFill>
                  <a:srgbClr val="333333"/>
                </a:solidFill>
                <a:latin typeface="メイリオ"/>
                <a:ea typeface="メイリオ"/>
                <a:cs typeface="メイリオ"/>
              </a:rPr>
              <a:t>改正の目的そのものが「詐欺的な定期購入商法対策」</a:t>
            </a:r>
          </a:p>
        </p:txBody>
      </p:sp>
      <p:graphicFrame>
        <p:nvGraphicFramePr>
          <p:cNvPr id="16" name="Table 15"/>
          <p:cNvGraphicFramePr>
            <a:graphicFrameLocks noGrp="1"/>
          </p:cNvGraphicFramePr>
          <p:nvPr>
            <p:extLst>
              <p:ext uri="{D42A27DB-BD31-4B8C-83A1-F6EECF244321}">
                <p14:modId xmlns:p14="http://schemas.microsoft.com/office/powerpoint/2010/main" val="1803846579"/>
              </p:ext>
            </p:extLst>
          </p:nvPr>
        </p:nvGraphicFramePr>
        <p:xfrm>
          <a:off x="432000" y="2591999"/>
          <a:ext cx="9043199" cy="1224000"/>
        </p:xfrm>
        <a:graphic>
          <a:graphicData uri="http://schemas.openxmlformats.org/drawingml/2006/table">
            <a:tbl>
              <a:tblPr firstRow="1" bandRow="1">
                <a:tableStyleId>{5C22544A-7EE6-4342-B048-85BDC9FD1C3A}</a:tableStyleId>
              </a:tblPr>
              <a:tblGrid>
                <a:gridCol w="2015999">
                  <a:extLst>
                    <a:ext uri="{9D8B030D-6E8A-4147-A177-3AD203B41FA5}">
                      <a16:colId xmlns:a16="http://schemas.microsoft.com/office/drawing/2014/main" val="20000"/>
                    </a:ext>
                  </a:extLst>
                </a:gridCol>
                <a:gridCol w="4500000">
                  <a:extLst>
                    <a:ext uri="{9D8B030D-6E8A-4147-A177-3AD203B41FA5}">
                      <a16:colId xmlns:a16="http://schemas.microsoft.com/office/drawing/2014/main" val="20001"/>
                    </a:ext>
                  </a:extLst>
                </a:gridCol>
                <a:gridCol w="2527200">
                  <a:extLst>
                    <a:ext uri="{9D8B030D-6E8A-4147-A177-3AD203B41FA5}">
                      <a16:colId xmlns:a16="http://schemas.microsoft.com/office/drawing/2014/main" val="20002"/>
                    </a:ext>
                  </a:extLst>
                </a:gridCol>
              </a:tblGrid>
              <a:tr h="306000">
                <a:tc>
                  <a:txBody>
                    <a:bodyPr/>
                    <a:lstStyle/>
                    <a:p>
                      <a:pPr algn="l"/>
                      <a:r>
                        <a:rPr sz="1300" b="1">
                          <a:solidFill>
                            <a:srgbClr val="FFFFFF"/>
                          </a:solidFill>
                          <a:latin typeface="メイリオ"/>
                          <a:ea typeface="メイリオ"/>
                          <a:cs typeface="メイリオ"/>
                        </a:rPr>
                        <a:t>法律</a:t>
                      </a:r>
                    </a:p>
                  </a:txBody>
                  <a:tcPr marL="43200" marR="43200" marT="18000" marB="18000" anchor="ctr">
                    <a:solidFill>
                      <a:srgbClr val="1F285A"/>
                    </a:solidFill>
                  </a:tcPr>
                </a:tc>
                <a:tc>
                  <a:txBody>
                    <a:bodyPr/>
                    <a:lstStyle/>
                    <a:p>
                      <a:pPr algn="l"/>
                      <a:r>
                        <a:rPr sz="1300" b="1">
                          <a:solidFill>
                            <a:srgbClr val="FFFFFF"/>
                          </a:solidFill>
                          <a:latin typeface="メイリオ"/>
                          <a:ea typeface="メイリオ"/>
                          <a:cs typeface="メイリオ"/>
                        </a:rPr>
                        <a:t>何が規制されるか</a:t>
                      </a:r>
                    </a:p>
                  </a:txBody>
                  <a:tcPr marL="43200" marR="43200" marT="18000" marB="18000" anchor="ctr">
                    <a:solidFill>
                      <a:srgbClr val="1F285A"/>
                    </a:solidFill>
                  </a:tcPr>
                </a:tc>
                <a:tc>
                  <a:txBody>
                    <a:bodyPr/>
                    <a:lstStyle/>
                    <a:p>
                      <a:pPr algn="l"/>
                      <a:r>
                        <a:rPr sz="1300" b="1">
                          <a:solidFill>
                            <a:srgbClr val="FFFFFF"/>
                          </a:solidFill>
                          <a:latin typeface="メイリオ"/>
                          <a:ea typeface="メイリオ"/>
                          <a:cs typeface="メイリオ"/>
                        </a:rPr>
                        <a:t>他のECは</a:t>
                      </a:r>
                    </a:p>
                  </a:txBody>
                  <a:tcPr marL="43200" marR="43200" marT="18000" marB="18000" anchor="ctr">
                    <a:solidFill>
                      <a:srgbClr val="1F285A"/>
                    </a:solidFill>
                  </a:tcPr>
                </a:tc>
                <a:extLst>
                  <a:ext uri="{0D108BD9-81ED-4DB2-BD59-A6C34878D82A}">
                    <a16:rowId xmlns:a16="http://schemas.microsoft.com/office/drawing/2014/main" val="10000"/>
                  </a:ext>
                </a:extLst>
              </a:tr>
              <a:tr h="306000">
                <a:tc>
                  <a:txBody>
                    <a:bodyPr/>
                    <a:lstStyle/>
                    <a:p>
                      <a:pPr algn="l"/>
                      <a:r>
                        <a:rPr sz="1300">
                          <a:solidFill>
                            <a:srgbClr val="333333"/>
                          </a:solidFill>
                          <a:latin typeface="メイリオ"/>
                          <a:ea typeface="メイリオ"/>
                          <a:cs typeface="メイリオ"/>
                        </a:rPr>
                        <a:t>薬機法</a:t>
                      </a:r>
                    </a:p>
                  </a:txBody>
                  <a:tcPr anchor="ctr">
                    <a:solidFill>
                      <a:srgbClr val="FFFFFF"/>
                    </a:solidFill>
                  </a:tcPr>
                </a:tc>
                <a:tc>
                  <a:txBody>
                    <a:bodyPr/>
                    <a:lstStyle/>
                    <a:p>
                      <a:pPr algn="l"/>
                      <a:r>
                        <a:rPr sz="1300">
                          <a:solidFill>
                            <a:srgbClr val="333333"/>
                          </a:solidFill>
                          <a:latin typeface="メイリオ"/>
                          <a:ea typeface="メイリオ"/>
                          <a:cs typeface="メイリオ"/>
                        </a:rPr>
                        <a:t>効果効能が書けない（商材が化粧品・健康食品）</a:t>
                      </a:r>
                    </a:p>
                  </a:txBody>
                  <a:tcPr anchor="ctr">
                    <a:solidFill>
                      <a:srgbClr val="FFFFFF"/>
                    </a:solidFill>
                  </a:tcPr>
                </a:tc>
                <a:tc>
                  <a:txBody>
                    <a:bodyPr/>
                    <a:lstStyle/>
                    <a:p>
                      <a:pPr algn="l"/>
                      <a:r>
                        <a:rPr sz="1300">
                          <a:solidFill>
                            <a:srgbClr val="333333"/>
                          </a:solidFill>
                          <a:latin typeface="メイリオ"/>
                          <a:ea typeface="メイリオ"/>
                          <a:cs typeface="メイリオ"/>
                        </a:rPr>
                        <a:t>かからない業種も多い</a:t>
                      </a:r>
                    </a:p>
                  </a:txBody>
                  <a:tcPr anchor="ctr">
                    <a:solidFill>
                      <a:srgbClr val="FFFFFF"/>
                    </a:solidFill>
                  </a:tcPr>
                </a:tc>
                <a:extLst>
                  <a:ext uri="{0D108BD9-81ED-4DB2-BD59-A6C34878D82A}">
                    <a16:rowId xmlns:a16="http://schemas.microsoft.com/office/drawing/2014/main" val="10001"/>
                  </a:ext>
                </a:extLst>
              </a:tr>
              <a:tr h="306000">
                <a:tc>
                  <a:txBody>
                    <a:bodyPr/>
                    <a:lstStyle/>
                    <a:p>
                      <a:pPr algn="l"/>
                      <a:r>
                        <a:rPr sz="1300">
                          <a:solidFill>
                            <a:srgbClr val="333333"/>
                          </a:solidFill>
                          <a:latin typeface="メイリオ"/>
                          <a:ea typeface="メイリオ"/>
                          <a:cs typeface="メイリオ"/>
                        </a:rPr>
                        <a:t>景品表示法</a:t>
                      </a:r>
                    </a:p>
                  </a:txBody>
                  <a:tcPr anchor="ctr">
                    <a:solidFill>
                      <a:srgbClr val="F4F7FF"/>
                    </a:solidFill>
                  </a:tcPr>
                </a:tc>
                <a:tc>
                  <a:txBody>
                    <a:bodyPr/>
                    <a:lstStyle/>
                    <a:p>
                      <a:pPr algn="l"/>
                      <a:r>
                        <a:rPr sz="1300">
                          <a:solidFill>
                            <a:srgbClr val="333333"/>
                          </a:solidFill>
                          <a:latin typeface="メイリオ"/>
                          <a:ea typeface="メイリオ"/>
                          <a:cs typeface="メイリオ"/>
                        </a:rPr>
                        <a:t>効果の見せ方・No.1表示・打消し表示（優良誤認／有利誤認）</a:t>
                      </a:r>
                    </a:p>
                  </a:txBody>
                  <a:tcPr anchor="ctr">
                    <a:solidFill>
                      <a:srgbClr val="F4F7FF"/>
                    </a:solidFill>
                  </a:tcPr>
                </a:tc>
                <a:tc>
                  <a:txBody>
                    <a:bodyPr/>
                    <a:lstStyle/>
                    <a:p>
                      <a:pPr algn="l"/>
                      <a:r>
                        <a:rPr sz="1300">
                          <a:solidFill>
                            <a:srgbClr val="333333"/>
                          </a:solidFill>
                          <a:latin typeface="メイリオ"/>
                          <a:ea typeface="メイリオ"/>
                          <a:cs typeface="メイリオ"/>
                        </a:rPr>
                        <a:t>かかる</a:t>
                      </a:r>
                    </a:p>
                  </a:txBody>
                  <a:tcPr anchor="ctr">
                    <a:solidFill>
                      <a:srgbClr val="F4F7FF"/>
                    </a:solidFill>
                  </a:tcPr>
                </a:tc>
                <a:extLst>
                  <a:ext uri="{0D108BD9-81ED-4DB2-BD59-A6C34878D82A}">
                    <a16:rowId xmlns:a16="http://schemas.microsoft.com/office/drawing/2014/main" val="10002"/>
                  </a:ext>
                </a:extLst>
              </a:tr>
              <a:tr h="306000">
                <a:tc>
                  <a:txBody>
                    <a:bodyPr/>
                    <a:lstStyle/>
                    <a:p>
                      <a:pPr algn="l"/>
                      <a:r>
                        <a:rPr sz="1300">
                          <a:solidFill>
                            <a:srgbClr val="333333"/>
                          </a:solidFill>
                          <a:latin typeface="メイリオ"/>
                          <a:ea typeface="メイリオ"/>
                          <a:cs typeface="メイリオ"/>
                        </a:rPr>
                        <a:t>特商法（定期購入規制）</a:t>
                      </a:r>
                    </a:p>
                  </a:txBody>
                  <a:tcPr anchor="ctr">
                    <a:solidFill>
                      <a:srgbClr val="FFFFFF"/>
                    </a:solidFill>
                  </a:tcPr>
                </a:tc>
                <a:tc>
                  <a:txBody>
                    <a:bodyPr/>
                    <a:lstStyle/>
                    <a:p>
                      <a:pPr algn="l"/>
                      <a:r>
                        <a:rPr sz="1300">
                          <a:solidFill>
                            <a:srgbClr val="333333"/>
                          </a:solidFill>
                          <a:latin typeface="メイリオ"/>
                          <a:ea typeface="メイリオ"/>
                          <a:cs typeface="メイリオ"/>
                        </a:rPr>
                        <a:t>最終確認画面の表示義務／★契約解除の妨害に罰則</a:t>
                      </a:r>
                    </a:p>
                  </a:txBody>
                  <a:tcPr anchor="ctr">
                    <a:solidFill>
                      <a:srgbClr val="FFFFFF"/>
                    </a:solidFill>
                  </a:tcPr>
                </a:tc>
                <a:tc>
                  <a:txBody>
                    <a:bodyPr/>
                    <a:lstStyle/>
                    <a:p>
                      <a:pPr algn="l"/>
                      <a:r>
                        <a:rPr sz="1300">
                          <a:solidFill>
                            <a:srgbClr val="333333"/>
                          </a:solidFill>
                          <a:latin typeface="メイリオ"/>
                          <a:ea typeface="メイリオ"/>
                          <a:cs typeface="メイリオ"/>
                        </a:rPr>
                        <a:t>かからない（都度購入のため）</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17" name="Rounded Rectangle 16"/>
          <p:cNvSpPr/>
          <p:nvPr/>
        </p:nvSpPr>
        <p:spPr>
          <a:xfrm>
            <a:off x="432000" y="4031999"/>
            <a:ext cx="4340736" cy="162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57999" y="4055235"/>
            <a:ext cx="4088736" cy="1573528"/>
          </a:xfrm>
          <a:prstGeom prst="rect">
            <a:avLst/>
          </a:prstGeom>
          <a:noFill/>
        </p:spPr>
        <p:txBody>
          <a:bodyPr wrap="square" lIns="50400" tIns="21600" rIns="50400" bIns="21600" anchor="ctr">
            <a:spAutoFit/>
          </a:bodyPr>
          <a:lstStyle/>
          <a:p>
            <a:pPr algn="l">
              <a:spcAft>
                <a:spcPts val="500"/>
              </a:spcAft>
            </a:pPr>
            <a:r>
              <a:rPr sz="1600" b="1">
                <a:solidFill>
                  <a:srgbClr val="1F285A"/>
                </a:solidFill>
                <a:latin typeface="メイリオ"/>
                <a:ea typeface="メイリオ"/>
                <a:cs typeface="メイリオ"/>
              </a:rPr>
              <a:t>薬機法上の「広告」3要件</a:t>
            </a:r>
          </a:p>
          <a:p>
            <a:pPr algn="l">
              <a:lnSpc>
                <a:spcPct val="130000"/>
              </a:lnSpc>
              <a:spcAft>
                <a:spcPts val="200"/>
              </a:spcAft>
            </a:pPr>
            <a:r>
              <a:rPr sz="1400">
                <a:solidFill>
                  <a:srgbClr val="333333"/>
                </a:solidFill>
                <a:latin typeface="メイリオ"/>
                <a:ea typeface="メイリオ"/>
                <a:cs typeface="メイリオ"/>
              </a:rPr>
              <a:t>① 誘引性：購入意欲を昂進させる意図が明確</a:t>
            </a:r>
          </a:p>
          <a:p>
            <a:pPr algn="l">
              <a:lnSpc>
                <a:spcPct val="130000"/>
              </a:lnSpc>
              <a:spcAft>
                <a:spcPts val="200"/>
              </a:spcAft>
            </a:pPr>
            <a:r>
              <a:rPr sz="1400">
                <a:solidFill>
                  <a:srgbClr val="333333"/>
                </a:solidFill>
                <a:latin typeface="メイリオ"/>
                <a:ea typeface="メイリオ"/>
                <a:cs typeface="メイリオ"/>
              </a:rPr>
              <a:t>② 特定性：特定の商品名が明らかにされている</a:t>
            </a:r>
          </a:p>
          <a:p>
            <a:pPr algn="l">
              <a:lnSpc>
                <a:spcPct val="130000"/>
              </a:lnSpc>
              <a:spcAft>
                <a:spcPts val="500"/>
              </a:spcAft>
            </a:pPr>
            <a:r>
              <a:rPr sz="1400">
                <a:solidFill>
                  <a:srgbClr val="333333"/>
                </a:solidFill>
                <a:latin typeface="メイリオ"/>
                <a:ea typeface="メイリオ"/>
                <a:cs typeface="メイリオ"/>
              </a:rPr>
              <a:t>③ 認知性：一般人が認知できる状態</a:t>
            </a:r>
          </a:p>
          <a:p>
            <a:pPr algn="l">
              <a:lnSpc>
                <a:spcPct val="130000"/>
              </a:lnSpc>
            </a:pPr>
            <a:r>
              <a:rPr sz="1400" b="1">
                <a:solidFill>
                  <a:srgbClr val="333333"/>
                </a:solidFill>
                <a:latin typeface="メイリオ"/>
                <a:ea typeface="メイリオ"/>
                <a:cs typeface="メイリオ"/>
              </a:rPr>
              <a:t>3つすべてを満たすと「広告」に該当する</a:t>
            </a:r>
          </a:p>
        </p:txBody>
      </p:sp>
      <p:sp>
        <p:nvSpPr>
          <p:cNvPr id="19" name="Rounded Rectangle 18"/>
          <p:cNvSpPr/>
          <p:nvPr/>
        </p:nvSpPr>
        <p:spPr>
          <a:xfrm>
            <a:off x="4880736" y="4031999"/>
            <a:ext cx="4594464" cy="1620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06736" y="4093322"/>
            <a:ext cx="4360464" cy="1497353"/>
          </a:xfrm>
          <a:prstGeom prst="rect">
            <a:avLst/>
          </a:prstGeom>
          <a:noFill/>
        </p:spPr>
        <p:txBody>
          <a:bodyPr wrap="square" lIns="50400" tIns="21600" rIns="50400" bIns="21600" anchor="ctr">
            <a:spAutoFit/>
          </a:bodyPr>
          <a:lstStyle/>
          <a:p>
            <a:pPr algn="l">
              <a:lnSpc>
                <a:spcPct val="125000"/>
              </a:lnSpc>
              <a:spcAft>
                <a:spcPts val="500"/>
              </a:spcAft>
            </a:pPr>
            <a:r>
              <a:rPr sz="1400" b="1">
                <a:solidFill>
                  <a:srgbClr val="ED7D31"/>
                </a:solidFill>
                <a:latin typeface="メイリオ"/>
                <a:ea typeface="メイリオ"/>
                <a:cs typeface="メイリオ"/>
              </a:rPr>
              <a:t>だからLINE配信の大半は「広告」に該当する</a:t>
            </a:r>
          </a:p>
          <a:p>
            <a:pPr algn="l">
              <a:lnSpc>
                <a:spcPct val="132000"/>
              </a:lnSpc>
            </a:pPr>
            <a:r>
              <a:rPr sz="1400">
                <a:solidFill>
                  <a:srgbClr val="333333"/>
                </a:solidFill>
                <a:latin typeface="メイリオ"/>
                <a:ea typeface="メイリオ"/>
                <a:cs typeface="メイリオ"/>
              </a:rPr>
              <a:t>送信元が事業者である時点で特定性は自動的に満たされ、商品案内や購入促進の内容なら誘引性も満たす。メールマガジン・DMも同じく広告媒体として扱われる。</a:t>
            </a:r>
          </a:p>
        </p:txBody>
      </p:sp>
      <p:sp>
        <p:nvSpPr>
          <p:cNvPr id="21" name="TextBox 2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法令｜特定商取引法改正（2021年成立・2022年6月1日施行）／薬機法の広告3要件（薬監発第148号）。★審査に落ちた実例は社内から取得して差し込むこと</a:t>
            </a:r>
          </a:p>
        </p:txBody>
      </p:sp>
    </p:spTree>
    <p:extLst>
      <p:ext uri="{BB962C8B-B14F-4D97-AF65-F5344CB8AC3E}">
        <p14:creationId xmlns:p14="http://schemas.microsoft.com/office/powerpoint/2010/main" val="2687779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単品通販の課題⑤｜弊社の広告実績（CV地点別）</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CV地点を明記しないと、CVRは比較できない。単品通販は3地点で見る。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3709838753"/>
              </p:ext>
            </p:extLst>
          </p:nvPr>
        </p:nvGraphicFramePr>
        <p:xfrm>
          <a:off x="432000" y="1620000"/>
          <a:ext cx="9043199" cy="1180800"/>
        </p:xfrm>
        <a:graphic>
          <a:graphicData uri="http://schemas.openxmlformats.org/drawingml/2006/table">
            <a:tbl>
              <a:tblPr firstRow="1" bandRow="1">
                <a:tableStyleId>{5C22544A-7EE6-4342-B048-85BDC9FD1C3A}</a:tableStyleId>
              </a:tblPr>
              <a:tblGrid>
                <a:gridCol w="1800000">
                  <a:extLst>
                    <a:ext uri="{9D8B030D-6E8A-4147-A177-3AD203B41FA5}">
                      <a16:colId xmlns:a16="http://schemas.microsoft.com/office/drawing/2014/main" val="20000"/>
                    </a:ext>
                  </a:extLst>
                </a:gridCol>
                <a:gridCol w="3960000">
                  <a:extLst>
                    <a:ext uri="{9D8B030D-6E8A-4147-A177-3AD203B41FA5}">
                      <a16:colId xmlns:a16="http://schemas.microsoft.com/office/drawing/2014/main" val="20001"/>
                    </a:ext>
                  </a:extLst>
                </a:gridCol>
                <a:gridCol w="3283199">
                  <a:extLst>
                    <a:ext uri="{9D8B030D-6E8A-4147-A177-3AD203B41FA5}">
                      <a16:colId xmlns:a16="http://schemas.microsoft.com/office/drawing/2014/main" val="20002"/>
                    </a:ext>
                  </a:extLst>
                </a:gridCol>
              </a:tblGrid>
              <a:tr h="295200">
                <a:tc>
                  <a:txBody>
                    <a:bodyPr/>
                    <a:lstStyle/>
                    <a:p>
                      <a:pPr algn="ctr"/>
                      <a:r>
                        <a:rPr sz="1400" b="1">
                          <a:solidFill>
                            <a:srgbClr val="FFFFFF"/>
                          </a:solidFill>
                          <a:latin typeface="メイリオ"/>
                          <a:ea typeface="メイリオ"/>
                          <a:cs typeface="メイリオ"/>
                        </a:rPr>
                        <a:t>CV地点</a:t>
                      </a:r>
                    </a:p>
                  </a:txBody>
                  <a:tcPr marL="43200" marR="43200" marT="18000" marB="18000" anchor="ctr">
                    <a:solidFill>
                      <a:srgbClr val="1F285A"/>
                    </a:solidFill>
                  </a:tcPr>
                </a:tc>
                <a:tc>
                  <a:txBody>
                    <a:bodyPr/>
                    <a:lstStyle/>
                    <a:p>
                      <a:pPr algn="l"/>
                      <a:r>
                        <a:rPr sz="1400" b="1">
                          <a:solidFill>
                            <a:srgbClr val="FFFFFF"/>
                          </a:solidFill>
                          <a:latin typeface="メイリオ"/>
                          <a:ea typeface="メイリオ"/>
                          <a:cs typeface="メイリオ"/>
                        </a:rPr>
                        <a:t>何を測るか</a:t>
                      </a:r>
                    </a:p>
                  </a:txBody>
                  <a:tcPr marL="43200" marR="43200" marT="18000" marB="18000" anchor="ctr">
                    <a:solidFill>
                      <a:srgbClr val="1F285A"/>
                    </a:solidFill>
                  </a:tcPr>
                </a:tc>
                <a:tc>
                  <a:txBody>
                    <a:bodyPr/>
                    <a:lstStyle/>
                    <a:p>
                      <a:pPr algn="l"/>
                      <a:r>
                        <a:rPr sz="1400" b="1">
                          <a:solidFill>
                            <a:srgbClr val="FFFFFF"/>
                          </a:solidFill>
                          <a:latin typeface="メイリオ"/>
                          <a:ea typeface="メイリオ"/>
                          <a:cs typeface="メイリオ"/>
                        </a:rPr>
                        <a:t>この資料での役割</a:t>
                      </a:r>
                    </a:p>
                  </a:txBody>
                  <a:tcPr marL="43200" marR="43200" marT="18000" marB="18000" anchor="ctr">
                    <a:solidFill>
                      <a:srgbClr val="1F285A"/>
                    </a:solidFill>
                  </a:tcPr>
                </a:tc>
                <a:extLst>
                  <a:ext uri="{0D108BD9-81ED-4DB2-BD59-A6C34878D82A}">
                    <a16:rowId xmlns:a16="http://schemas.microsoft.com/office/drawing/2014/main" val="10000"/>
                  </a:ext>
                </a:extLst>
              </a:tr>
              <a:tr h="295200">
                <a:tc>
                  <a:txBody>
                    <a:bodyPr/>
                    <a:lstStyle/>
                    <a:p>
                      <a:pPr algn="ctr"/>
                      <a:r>
                        <a:rPr sz="1400">
                          <a:solidFill>
                            <a:srgbClr val="333333"/>
                          </a:solidFill>
                          <a:latin typeface="メイリオ"/>
                          <a:ea typeface="メイリオ"/>
                          <a:cs typeface="メイリオ"/>
                        </a:rPr>
                        <a:t>初回購入</a:t>
                      </a:r>
                    </a:p>
                  </a:txBody>
                  <a:tcPr anchor="ctr">
                    <a:solidFill>
                      <a:srgbClr val="FFFFFF"/>
                    </a:solidFill>
                  </a:tcPr>
                </a:tc>
                <a:tc>
                  <a:txBody>
                    <a:bodyPr/>
                    <a:lstStyle/>
                    <a:p>
                      <a:pPr algn="l"/>
                      <a:r>
                        <a:rPr sz="1400">
                          <a:solidFill>
                            <a:srgbClr val="333333"/>
                          </a:solidFill>
                          <a:latin typeface="メイリオ"/>
                          <a:ea typeface="メイリオ"/>
                          <a:cs typeface="メイリオ"/>
                        </a:rPr>
                        <a:t>トライアル／お試しの申込</a:t>
                      </a:r>
                    </a:p>
                  </a:txBody>
                  <a:tcPr anchor="ctr">
                    <a:solidFill>
                      <a:srgbClr val="FFFFFF"/>
                    </a:solidFill>
                  </a:tcPr>
                </a:tc>
                <a:tc>
                  <a:txBody>
                    <a:bodyPr/>
                    <a:lstStyle/>
                    <a:p>
                      <a:pPr algn="l"/>
                      <a:r>
                        <a:rPr sz="1400">
                          <a:solidFill>
                            <a:srgbClr val="333333"/>
                          </a:solidFill>
                          <a:latin typeface="メイリオ"/>
                          <a:ea typeface="メイリオ"/>
                          <a:cs typeface="メイリオ"/>
                        </a:rPr>
                        <a:t>獲得側。CPOの分母</a:t>
                      </a:r>
                    </a:p>
                  </a:txBody>
                  <a:tcPr anchor="ctr">
                    <a:solidFill>
                      <a:srgbClr val="FFFFFF"/>
                    </a:solidFill>
                  </a:tcPr>
                </a:tc>
                <a:extLst>
                  <a:ext uri="{0D108BD9-81ED-4DB2-BD59-A6C34878D82A}">
                    <a16:rowId xmlns:a16="http://schemas.microsoft.com/office/drawing/2014/main" val="10001"/>
                  </a:ext>
                </a:extLst>
              </a:tr>
              <a:tr h="295200">
                <a:tc>
                  <a:txBody>
                    <a:bodyPr/>
                    <a:lstStyle/>
                    <a:p>
                      <a:pPr algn="ctr"/>
                      <a:r>
                        <a:rPr sz="1400">
                          <a:solidFill>
                            <a:srgbClr val="333333"/>
                          </a:solidFill>
                          <a:latin typeface="メイリオ"/>
                          <a:ea typeface="メイリオ"/>
                          <a:cs typeface="メイリオ"/>
                        </a:rPr>
                        <a:t>定期引上</a:t>
                      </a:r>
                    </a:p>
                  </a:txBody>
                  <a:tcPr anchor="ctr">
                    <a:solidFill>
                      <a:srgbClr val="F4F7FF"/>
                    </a:solidFill>
                  </a:tcPr>
                </a:tc>
                <a:tc>
                  <a:txBody>
                    <a:bodyPr/>
                    <a:lstStyle/>
                    <a:p>
                      <a:pPr algn="l"/>
                      <a:r>
                        <a:rPr sz="1400">
                          <a:solidFill>
                            <a:srgbClr val="333333"/>
                          </a:solidFill>
                          <a:latin typeface="メイリオ"/>
                          <a:ea typeface="メイリオ"/>
                          <a:cs typeface="メイリオ"/>
                        </a:rPr>
                        <a:t>初回お試し → 定期購入への引き上げ</a:t>
                      </a:r>
                    </a:p>
                  </a:txBody>
                  <a:tcPr anchor="ctr">
                    <a:solidFill>
                      <a:srgbClr val="F4F7FF"/>
                    </a:solidFill>
                  </a:tcPr>
                </a:tc>
                <a:tc>
                  <a:txBody>
                    <a:bodyPr/>
                    <a:lstStyle/>
                    <a:p>
                      <a:pPr algn="l"/>
                      <a:r>
                        <a:rPr sz="1400">
                          <a:solidFill>
                            <a:srgbClr val="333333"/>
                          </a:solidFill>
                          <a:latin typeface="メイリオ"/>
                          <a:ea typeface="メイリオ"/>
                          <a:cs typeface="メイリオ"/>
                        </a:rPr>
                        <a:t>業界水準は約20%</a:t>
                      </a:r>
                    </a:p>
                  </a:txBody>
                  <a:tcPr anchor="ctr">
                    <a:solidFill>
                      <a:srgbClr val="F4F7FF"/>
                    </a:solidFill>
                  </a:tcPr>
                </a:tc>
                <a:extLst>
                  <a:ext uri="{0D108BD9-81ED-4DB2-BD59-A6C34878D82A}">
                    <a16:rowId xmlns:a16="http://schemas.microsoft.com/office/drawing/2014/main" val="10002"/>
                  </a:ext>
                </a:extLst>
              </a:tr>
              <a:tr h="295200">
                <a:tc>
                  <a:txBody>
                    <a:bodyPr/>
                    <a:lstStyle/>
                    <a:p>
                      <a:pPr algn="ctr"/>
                      <a:r>
                        <a:rPr sz="1400">
                          <a:solidFill>
                            <a:srgbClr val="333333"/>
                          </a:solidFill>
                          <a:latin typeface="メイリオ"/>
                          <a:ea typeface="メイリオ"/>
                          <a:cs typeface="メイリオ"/>
                        </a:rPr>
                        <a:t>F2（2回目購入）</a:t>
                      </a:r>
                    </a:p>
                  </a:txBody>
                  <a:tcPr anchor="ctr">
                    <a:solidFill>
                      <a:srgbClr val="FFFFFF"/>
                    </a:solidFill>
                  </a:tcPr>
                </a:tc>
                <a:tc>
                  <a:txBody>
                    <a:bodyPr/>
                    <a:lstStyle/>
                    <a:p>
                      <a:pPr algn="l"/>
                      <a:r>
                        <a:rPr sz="1400">
                          <a:solidFill>
                            <a:srgbClr val="333333"/>
                          </a:solidFill>
                          <a:latin typeface="メイリオ"/>
                          <a:ea typeface="メイリオ"/>
                          <a:cs typeface="メイリオ"/>
                        </a:rPr>
                        <a:t>単発購入者の再購入</a:t>
                      </a:r>
                    </a:p>
                  </a:txBody>
                  <a:tcPr anchor="ctr">
                    <a:solidFill>
                      <a:srgbClr val="FFFFFF"/>
                    </a:solidFill>
                  </a:tcPr>
                </a:tc>
                <a:tc>
                  <a:txBody>
                    <a:bodyPr/>
                    <a:lstStyle/>
                    <a:p>
                      <a:pPr algn="l"/>
                      <a:r>
                        <a:rPr sz="1400">
                          <a:solidFill>
                            <a:srgbClr val="333333"/>
                          </a:solidFill>
                          <a:latin typeface="メイリオ"/>
                          <a:ea typeface="メイリオ"/>
                          <a:cs typeface="メイリオ"/>
                        </a:rPr>
                        <a:t>業界水準は30〜40%</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432000" y="3023999"/>
            <a:ext cx="9043200" cy="1512000"/>
          </a:xfrm>
          <a:prstGeom prst="roundRect">
            <a:avLst>
              <a:gd name="adj" fmla="val 6000"/>
            </a:avLst>
          </a:prstGeom>
          <a:solidFill>
            <a:srgbClr val="FFFFFF"/>
          </a:solidFill>
          <a:ln w="1587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wrap="square" lIns="108000" tIns="36000" rIns="108000" bIns="36000" rtlCol="0" anchor="ctr"/>
          <a:lstStyle/>
          <a:p>
            <a:pPr algn="ctr">
              <a:spcAft>
                <a:spcPts val="400"/>
              </a:spcAft>
            </a:pPr>
            <a:r>
              <a:rPr sz="1400" b="1">
                <a:solidFill>
                  <a:srgbClr val="7F7F7F"/>
                </a:solidFill>
                <a:latin typeface="メイリオ"/>
                <a:ea typeface="メイリオ"/>
                <a:cs typeface="メイリオ"/>
              </a:rPr>
              <a:t>★差込枠｜弊社の単品通販 広告実績（未提供）</a:t>
            </a:r>
          </a:p>
          <a:p>
            <a:pPr algn="ctr">
              <a:lnSpc>
                <a:spcPct val="125000"/>
              </a:lnSpc>
            </a:pPr>
            <a:r>
              <a:rPr sz="1400">
                <a:solidFill>
                  <a:srgbClr val="7F7F7F"/>
                </a:solidFill>
                <a:latin typeface="メイリオ"/>
                <a:ea typeface="メイリオ"/>
                <a:cs typeface="メイリオ"/>
              </a:rPr>
              <a:t>CV地点別（初回購入／定期引上／F2）の CPC・CVR・CPO を社内から取得して差し込む。
★CV地点の明記は必須。地点が違う数値を並べると比較にならない</a:t>
            </a:r>
          </a:p>
        </p:txBody>
      </p:sp>
      <p:sp>
        <p:nvSpPr>
          <p:cNvPr id="7" name="Rounded Rectangle 6"/>
          <p:cNvSpPr/>
          <p:nvPr/>
        </p:nvSpPr>
        <p:spPr>
          <a:xfrm>
            <a:off x="432000" y="4716000"/>
            <a:ext cx="9043200" cy="936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2000" y="4741433"/>
            <a:ext cx="8683200" cy="885134"/>
          </a:xfrm>
          <a:prstGeom prst="rect">
            <a:avLst/>
          </a:prstGeom>
          <a:noFill/>
        </p:spPr>
        <p:txBody>
          <a:bodyPr wrap="square" lIns="50400" tIns="21600" rIns="50400" bIns="21600" anchor="ctr">
            <a:spAutoFit/>
          </a:bodyPr>
          <a:lstStyle/>
          <a:p>
            <a:pPr algn="l">
              <a:spcAft>
                <a:spcPts val="400"/>
              </a:spcAft>
            </a:pPr>
            <a:r>
              <a:rPr sz="1600" b="1">
                <a:solidFill>
                  <a:srgbClr val="333333"/>
                </a:solidFill>
                <a:latin typeface="メイリオ"/>
                <a:ea typeface="メイリオ"/>
                <a:cs typeface="メイリオ"/>
              </a:rPr>
              <a:t>なお、本提案が触るのは初回購入より後ろ。</a:t>
            </a:r>
          </a:p>
          <a:p>
            <a:pPr algn="l">
              <a:lnSpc>
                <a:spcPct val="130000"/>
              </a:lnSpc>
            </a:pPr>
            <a:r>
              <a:rPr sz="1400">
                <a:solidFill>
                  <a:srgbClr val="333333"/>
                </a:solidFill>
                <a:latin typeface="メイリオ"/>
                <a:ea typeface="メイリオ"/>
                <a:cs typeface="メイリオ"/>
              </a:rPr>
              <a:t>この実績は「いま獲得にいくらかかっているか」を示すためのもので、獲得単価そのものを改善する提案ではない。</a:t>
            </a:r>
          </a:p>
        </p:txBody>
      </p:sp>
      <p:sp>
        <p:nvSpPr>
          <p:cNvPr id="9" name="TextBox 8"/>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★未取得｜提案前に社内実績を差し込むこと。数値は捏造していない</a:t>
            </a:r>
          </a:p>
        </p:txBody>
      </p:sp>
    </p:spTree>
    <p:extLst>
      <p:ext uri="{BB962C8B-B14F-4D97-AF65-F5344CB8AC3E}">
        <p14:creationId xmlns:p14="http://schemas.microsoft.com/office/powerpoint/2010/main" val="1438123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LINEでやるべきこと①｜競合のLINE運用</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「大手」と「単品通販の本流」は別物。本流の運用を見る。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551492829"/>
              </p:ext>
            </p:extLst>
          </p:nvPr>
        </p:nvGraphicFramePr>
        <p:xfrm>
          <a:off x="432000" y="1620000"/>
          <a:ext cx="9043199" cy="1116000"/>
        </p:xfrm>
        <a:graphic>
          <a:graphicData uri="http://schemas.openxmlformats.org/drawingml/2006/table">
            <a:tbl>
              <a:tblPr firstRow="1" bandRow="1">
                <a:tableStyleId>{5C22544A-7EE6-4342-B048-85BDC9FD1C3A}</a:tableStyleId>
              </a:tblPr>
              <a:tblGrid>
                <a:gridCol w="2015999">
                  <a:extLst>
                    <a:ext uri="{9D8B030D-6E8A-4147-A177-3AD203B41FA5}">
                      <a16:colId xmlns:a16="http://schemas.microsoft.com/office/drawing/2014/main" val="20000"/>
                    </a:ext>
                  </a:extLst>
                </a:gridCol>
                <a:gridCol w="4680000">
                  <a:extLst>
                    <a:ext uri="{9D8B030D-6E8A-4147-A177-3AD203B41FA5}">
                      <a16:colId xmlns:a16="http://schemas.microsoft.com/office/drawing/2014/main" val="20001"/>
                    </a:ext>
                  </a:extLst>
                </a:gridCol>
                <a:gridCol w="2347200">
                  <a:extLst>
                    <a:ext uri="{9D8B030D-6E8A-4147-A177-3AD203B41FA5}">
                      <a16:colId xmlns:a16="http://schemas.microsoft.com/office/drawing/2014/main" val="20002"/>
                    </a:ext>
                  </a:extLst>
                </a:gridCol>
              </a:tblGrid>
              <a:tr h="223200">
                <a:tc>
                  <a:txBody>
                    <a:bodyPr/>
                    <a:lstStyle/>
                    <a:p>
                      <a:pPr algn="l"/>
                      <a:r>
                        <a:rPr sz="1000" b="1">
                          <a:solidFill>
                            <a:srgbClr val="FFFFFF"/>
                          </a:solidFill>
                          <a:latin typeface="メイリオ"/>
                          <a:ea typeface="メイリオ"/>
                          <a:cs typeface="メイリオ"/>
                        </a:rPr>
                        <a:t>運用の型</a:t>
                      </a:r>
                    </a:p>
                  </a:txBody>
                  <a:tcPr marL="43200" marR="43200" marT="18000" marB="18000" anchor="ctr">
                    <a:solidFill>
                      <a:srgbClr val="1F285A"/>
                    </a:solidFill>
                  </a:tcPr>
                </a:tc>
                <a:tc>
                  <a:txBody>
                    <a:bodyPr/>
                    <a:lstStyle/>
                    <a:p>
                      <a:pPr algn="l"/>
                      <a:r>
                        <a:rPr sz="1000" b="1">
                          <a:solidFill>
                            <a:srgbClr val="FFFFFF"/>
                          </a:solidFill>
                          <a:latin typeface="メイリオ"/>
                          <a:ea typeface="メイリオ"/>
                          <a:cs typeface="メイリオ"/>
                        </a:rPr>
                        <a:t>特徴</a:t>
                      </a:r>
                    </a:p>
                  </a:txBody>
                  <a:tcPr marL="43200" marR="43200" marT="18000" marB="18000" anchor="ctr">
                    <a:solidFill>
                      <a:srgbClr val="1F285A"/>
                    </a:solidFill>
                  </a:tcPr>
                </a:tc>
                <a:tc>
                  <a:txBody>
                    <a:bodyPr/>
                    <a:lstStyle/>
                    <a:p>
                      <a:pPr algn="l"/>
                      <a:r>
                        <a:rPr sz="1000" b="1">
                          <a:solidFill>
                            <a:srgbClr val="FFFFFF"/>
                          </a:solidFill>
                          <a:latin typeface="メイリオ"/>
                          <a:ea typeface="メイリオ"/>
                          <a:cs typeface="メイリオ"/>
                        </a:rPr>
                        <a:t>解約導線</a:t>
                      </a:r>
                    </a:p>
                  </a:txBody>
                  <a:tcPr marL="43200" marR="43200" marT="18000" marB="18000" anchor="ctr">
                    <a:solidFill>
                      <a:srgbClr val="1F285A"/>
                    </a:solidFill>
                  </a:tcPr>
                </a:tc>
                <a:extLst>
                  <a:ext uri="{0D108BD9-81ED-4DB2-BD59-A6C34878D82A}">
                    <a16:rowId xmlns:a16="http://schemas.microsoft.com/office/drawing/2014/main" val="10000"/>
                  </a:ext>
                </a:extLst>
              </a:tr>
              <a:tr h="223200">
                <a:tc>
                  <a:txBody>
                    <a:bodyPr/>
                    <a:lstStyle/>
                    <a:p>
                      <a:pPr algn="l"/>
                      <a:r>
                        <a:rPr sz="1000">
                          <a:solidFill>
                            <a:srgbClr val="333333"/>
                          </a:solidFill>
                          <a:latin typeface="メイリオ"/>
                          <a:ea typeface="メイリオ"/>
                          <a:cs typeface="メイリオ"/>
                        </a:rPr>
                        <a:t>診断ドリブン型</a:t>
                      </a:r>
                    </a:p>
                  </a:txBody>
                  <a:tcPr anchor="ctr">
                    <a:solidFill>
                      <a:srgbClr val="FFFFFF"/>
                    </a:solidFill>
                  </a:tcPr>
                </a:tc>
                <a:tc>
                  <a:txBody>
                    <a:bodyPr/>
                    <a:lstStyle/>
                    <a:p>
                      <a:pPr algn="l"/>
                      <a:r>
                        <a:rPr sz="1000">
                          <a:solidFill>
                            <a:srgbClr val="333333"/>
                          </a:solidFill>
                          <a:latin typeface="メイリオ"/>
                          <a:ea typeface="メイリオ"/>
                          <a:cs typeface="メイリオ"/>
                        </a:rPr>
                        <a:t>診断で属性を取得し、検討段階別に出し分ける</a:t>
                      </a:r>
                    </a:p>
                  </a:txBody>
                  <a:tcPr anchor="ctr">
                    <a:solidFill>
                      <a:srgbClr val="FFFFFF"/>
                    </a:solidFill>
                  </a:tcPr>
                </a:tc>
                <a:tc>
                  <a:txBody>
                    <a:bodyPr/>
                    <a:lstStyle/>
                    <a:p>
                      <a:pPr algn="l"/>
                      <a:r>
                        <a:rPr sz="1000">
                          <a:solidFill>
                            <a:srgbClr val="333333"/>
                          </a:solidFill>
                          <a:latin typeface="メイリオ"/>
                          <a:ea typeface="メイリオ"/>
                          <a:cs typeface="メイリオ"/>
                        </a:rPr>
                        <a:t>有無を実測で確認</a:t>
                      </a:r>
                    </a:p>
                  </a:txBody>
                  <a:tcPr anchor="ctr">
                    <a:solidFill>
                      <a:srgbClr val="FFFFFF"/>
                    </a:solidFill>
                  </a:tcPr>
                </a:tc>
                <a:extLst>
                  <a:ext uri="{0D108BD9-81ED-4DB2-BD59-A6C34878D82A}">
                    <a16:rowId xmlns:a16="http://schemas.microsoft.com/office/drawing/2014/main" val="10001"/>
                  </a:ext>
                </a:extLst>
              </a:tr>
              <a:tr h="223200">
                <a:tc>
                  <a:txBody>
                    <a:bodyPr/>
                    <a:lstStyle/>
                    <a:p>
                      <a:pPr algn="l"/>
                      <a:r>
                        <a:rPr sz="1000">
                          <a:solidFill>
                            <a:srgbClr val="333333"/>
                          </a:solidFill>
                          <a:latin typeface="メイリオ"/>
                          <a:ea typeface="メイリオ"/>
                          <a:cs typeface="メイリオ"/>
                        </a:rPr>
                        <a:t>特典・会員型</a:t>
                      </a:r>
                    </a:p>
                  </a:txBody>
                  <a:tcPr anchor="ctr">
                    <a:solidFill>
                      <a:srgbClr val="F4F7FF"/>
                    </a:solidFill>
                  </a:tcPr>
                </a:tc>
                <a:tc>
                  <a:txBody>
                    <a:bodyPr/>
                    <a:lstStyle/>
                    <a:p>
                      <a:pPr algn="l"/>
                      <a:r>
                        <a:rPr sz="1000">
                          <a:solidFill>
                            <a:srgbClr val="333333"/>
                          </a:solidFill>
                          <a:latin typeface="メイリオ"/>
                          <a:ea typeface="メイリオ"/>
                          <a:cs typeface="メイリオ"/>
                        </a:rPr>
                        <a:t>初回特典・継続特典で友だち化。配信は販促中心</a:t>
                      </a:r>
                    </a:p>
                  </a:txBody>
                  <a:tcPr anchor="ctr">
                    <a:solidFill>
                      <a:srgbClr val="F4F7FF"/>
                    </a:solidFill>
                  </a:tcPr>
                </a:tc>
                <a:tc>
                  <a:txBody>
                    <a:bodyPr/>
                    <a:lstStyle/>
                    <a:p>
                      <a:pPr algn="l"/>
                      <a:r>
                        <a:rPr sz="1000">
                          <a:solidFill>
                            <a:srgbClr val="333333"/>
                          </a:solidFill>
                          <a:latin typeface="メイリオ"/>
                          <a:ea typeface="メイリオ"/>
                          <a:cs typeface="メイリオ"/>
                        </a:rPr>
                        <a:t>有無を実測で確認</a:t>
                      </a:r>
                    </a:p>
                  </a:txBody>
                  <a:tcPr anchor="ctr">
                    <a:solidFill>
                      <a:srgbClr val="F4F7FF"/>
                    </a:solidFill>
                  </a:tcPr>
                </a:tc>
                <a:extLst>
                  <a:ext uri="{0D108BD9-81ED-4DB2-BD59-A6C34878D82A}">
                    <a16:rowId xmlns:a16="http://schemas.microsoft.com/office/drawing/2014/main" val="10002"/>
                  </a:ext>
                </a:extLst>
              </a:tr>
              <a:tr h="223200">
                <a:tc>
                  <a:txBody>
                    <a:bodyPr/>
                    <a:lstStyle/>
                    <a:p>
                      <a:pPr algn="l"/>
                      <a:r>
                        <a:rPr sz="1000">
                          <a:solidFill>
                            <a:srgbClr val="333333"/>
                          </a:solidFill>
                          <a:latin typeface="メイリオ"/>
                          <a:ea typeface="メイリオ"/>
                          <a:cs typeface="メイリオ"/>
                        </a:rPr>
                        <a:t>カタログ・配信型</a:t>
                      </a:r>
                    </a:p>
                  </a:txBody>
                  <a:tcPr anchor="ctr">
                    <a:solidFill>
                      <a:srgbClr val="FFFFFF"/>
                    </a:solidFill>
                  </a:tcPr>
                </a:tc>
                <a:tc>
                  <a:txBody>
                    <a:bodyPr/>
                    <a:lstStyle/>
                    <a:p>
                      <a:pPr algn="l"/>
                      <a:r>
                        <a:rPr sz="1000">
                          <a:solidFill>
                            <a:srgbClr val="333333"/>
                          </a:solidFill>
                          <a:latin typeface="メイリオ"/>
                          <a:ea typeface="メイリオ"/>
                          <a:cs typeface="メイリオ"/>
                        </a:rPr>
                        <a:t>新商品や特集を定期配信。セグメントは浅い</a:t>
                      </a:r>
                    </a:p>
                  </a:txBody>
                  <a:tcPr anchor="ctr">
                    <a:solidFill>
                      <a:srgbClr val="FFFFFF"/>
                    </a:solidFill>
                  </a:tcPr>
                </a:tc>
                <a:tc>
                  <a:txBody>
                    <a:bodyPr/>
                    <a:lstStyle/>
                    <a:p>
                      <a:pPr algn="l"/>
                      <a:r>
                        <a:rPr sz="1000">
                          <a:solidFill>
                            <a:srgbClr val="333333"/>
                          </a:solidFill>
                          <a:latin typeface="メイリオ"/>
                          <a:ea typeface="メイリオ"/>
                          <a:cs typeface="メイリオ"/>
                        </a:rPr>
                        <a:t>有無を実測で確認</a:t>
                      </a:r>
                    </a:p>
                  </a:txBody>
                  <a:tcPr anchor="ctr">
                    <a:solidFill>
                      <a:srgbClr val="FFFFFF"/>
                    </a:solidFill>
                  </a:tcPr>
                </a:tc>
                <a:extLst>
                  <a:ext uri="{0D108BD9-81ED-4DB2-BD59-A6C34878D82A}">
                    <a16:rowId xmlns:a16="http://schemas.microsoft.com/office/drawing/2014/main" val="10003"/>
                  </a:ext>
                </a:extLst>
              </a:tr>
              <a:tr h="223200">
                <a:tc>
                  <a:txBody>
                    <a:bodyPr/>
                    <a:lstStyle/>
                    <a:p>
                      <a:pPr algn="l"/>
                      <a:r>
                        <a:rPr sz="1000">
                          <a:solidFill>
                            <a:srgbClr val="333333"/>
                          </a:solidFill>
                          <a:latin typeface="メイリオ"/>
                          <a:ea typeface="メイリオ"/>
                          <a:cs typeface="メイリオ"/>
                        </a:rPr>
                        <a:t>CRM統合型</a:t>
                      </a:r>
                    </a:p>
                  </a:txBody>
                  <a:tcPr anchor="ctr">
                    <a:solidFill>
                      <a:srgbClr val="F4F7FF"/>
                    </a:solidFill>
                  </a:tcPr>
                </a:tc>
                <a:tc>
                  <a:txBody>
                    <a:bodyPr/>
                    <a:lstStyle/>
                    <a:p>
                      <a:pPr algn="l"/>
                      <a:r>
                        <a:rPr sz="1000">
                          <a:solidFill>
                            <a:srgbClr val="333333"/>
                          </a:solidFill>
                          <a:latin typeface="メイリオ"/>
                          <a:ea typeface="メイリオ"/>
                          <a:cs typeface="メイリオ"/>
                        </a:rPr>
                        <a:t>購買・定期ステータスと連携し1to1で出し分ける</a:t>
                      </a:r>
                    </a:p>
                  </a:txBody>
                  <a:tcPr anchor="ctr">
                    <a:solidFill>
                      <a:srgbClr val="F4F7FF"/>
                    </a:solidFill>
                  </a:tcPr>
                </a:tc>
                <a:tc>
                  <a:txBody>
                    <a:bodyPr/>
                    <a:lstStyle/>
                    <a:p>
                      <a:pPr algn="l"/>
                      <a:r>
                        <a:rPr sz="1000">
                          <a:solidFill>
                            <a:srgbClr val="333333"/>
                          </a:solidFill>
                          <a:latin typeface="メイリオ"/>
                          <a:ea typeface="メイリオ"/>
                          <a:cs typeface="メイリオ"/>
                        </a:rPr>
                        <a:t>★LINEで完結する型</a:t>
                      </a:r>
                    </a:p>
                  </a:txBody>
                  <a:tcPr anchor="ctr">
                    <a:solidFill>
                      <a:srgbClr val="F4F7FF"/>
                    </a:solid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432000" y="2771999"/>
            <a:ext cx="5425920" cy="1584000"/>
          </a:xfrm>
          <a:prstGeom prst="roundRect">
            <a:avLst>
              <a:gd name="adj" fmla="val 6000"/>
            </a:avLst>
          </a:prstGeom>
          <a:solidFill>
            <a:srgbClr val="FFFFFF"/>
          </a:solidFill>
          <a:ln w="1587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wrap="square" lIns="108000" tIns="36000" rIns="108000" bIns="36000" rtlCol="0" anchor="ctr"/>
          <a:lstStyle/>
          <a:p>
            <a:pPr algn="ctr">
              <a:spcAft>
                <a:spcPts val="400"/>
              </a:spcAft>
            </a:pPr>
            <a:r>
              <a:rPr sz="1400" b="1">
                <a:solidFill>
                  <a:srgbClr val="7F7F7F"/>
                </a:solidFill>
                <a:latin typeface="メイリオ"/>
                <a:ea typeface="メイリオ"/>
                <a:cs typeface="メイリオ"/>
              </a:rPr>
              <a:t>★差込枠｜競合8社の友だち数・配信内容（未取得）</a:t>
            </a:r>
          </a:p>
          <a:p>
            <a:pPr algn="ctr">
              <a:lnSpc>
                <a:spcPct val="125000"/>
              </a:lnSpc>
            </a:pPr>
            <a:r>
              <a:rPr sz="1400">
                <a:solidFill>
                  <a:srgbClr val="7F7F7F"/>
                </a:solidFill>
                <a:latin typeface="メイリオ"/>
                <a:ea typeface="メイリオ"/>
                <a:cs typeface="メイリオ"/>
              </a:rPr>
              <a:t>北の達人／新日本製薬／再春館製薬所／やずや／
世田谷自然食品／キューサイ／健康家族／ステラ漢方
page.line.me（公式）から取得し、取得日を必ず併記する</a:t>
            </a:r>
          </a:p>
        </p:txBody>
      </p:sp>
      <p:sp>
        <p:nvSpPr>
          <p:cNvPr id="7" name="Rounded Rectangle 6"/>
          <p:cNvSpPr/>
          <p:nvPr/>
        </p:nvSpPr>
        <p:spPr>
          <a:xfrm>
            <a:off x="5965920" y="2771999"/>
            <a:ext cx="3509280" cy="1584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91919" y="2988831"/>
            <a:ext cx="3275280" cy="1150335"/>
          </a:xfrm>
          <a:prstGeom prst="rect">
            <a:avLst/>
          </a:prstGeom>
          <a:noFill/>
        </p:spPr>
        <p:txBody>
          <a:bodyPr wrap="square" lIns="50400" tIns="21600" rIns="50400" bIns="21600" anchor="ctr">
            <a:spAutoFit/>
          </a:bodyPr>
          <a:lstStyle/>
          <a:p>
            <a:pPr algn="l">
              <a:spcAft>
                <a:spcPts val="500"/>
              </a:spcAft>
            </a:pPr>
            <a:r>
              <a:rPr sz="1150" b="1">
                <a:solidFill>
                  <a:srgbClr val="ED7D31"/>
                </a:solidFill>
                <a:latin typeface="メイリオ"/>
                <a:ea typeface="メイリオ"/>
                <a:cs typeface="メイリオ"/>
              </a:rPr>
              <a:t>★この業界固有の記録項目</a:t>
            </a:r>
          </a:p>
          <a:p>
            <a:pPr algn="l">
              <a:lnSpc>
                <a:spcPct val="130000"/>
              </a:lnSpc>
              <a:spcAft>
                <a:spcPts val="300"/>
              </a:spcAft>
            </a:pPr>
            <a:r>
              <a:rPr sz="1000">
                <a:solidFill>
                  <a:srgbClr val="333333"/>
                </a:solidFill>
                <a:latin typeface="メイリオ"/>
                <a:ea typeface="メイリオ"/>
                <a:cs typeface="メイリオ"/>
              </a:rPr>
              <a:t>・リッチメニューに「解約」「休止」があるか</a:t>
            </a:r>
          </a:p>
          <a:p>
            <a:pPr algn="l">
              <a:lnSpc>
                <a:spcPct val="130000"/>
              </a:lnSpc>
              <a:spcAft>
                <a:spcPts val="300"/>
              </a:spcAft>
            </a:pPr>
            <a:r>
              <a:rPr sz="1000">
                <a:solidFill>
                  <a:srgbClr val="333333"/>
                </a:solidFill>
                <a:latin typeface="メイリオ"/>
                <a:ea typeface="メイリオ"/>
                <a:cs typeface="メイリオ"/>
              </a:rPr>
              <a:t>・解約導線がLINEで完結するか（電話に逃がしていないか）</a:t>
            </a:r>
          </a:p>
          <a:p>
            <a:pPr algn="l">
              <a:lnSpc>
                <a:spcPct val="130000"/>
              </a:lnSpc>
            </a:pPr>
            <a:r>
              <a:rPr sz="1000">
                <a:solidFill>
                  <a:srgbClr val="333333"/>
                </a:solidFill>
                <a:latin typeface="メイリオ"/>
                <a:ea typeface="メイリオ"/>
                <a:cs typeface="メイリオ"/>
              </a:rPr>
              <a:t>・次回発送前に通知が来るか／スキップを選べるか</a:t>
            </a:r>
          </a:p>
        </p:txBody>
      </p:sp>
      <p:sp>
        <p:nvSpPr>
          <p:cNvPr id="9" name="Rounded Rectangle 8"/>
          <p:cNvSpPr/>
          <p:nvPr/>
        </p:nvSpPr>
        <p:spPr>
          <a:xfrm>
            <a:off x="432000" y="4536000"/>
            <a:ext cx="9043200" cy="1116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2000" y="4806860"/>
            <a:ext cx="8683200" cy="574280"/>
          </a:xfrm>
          <a:prstGeom prst="rect">
            <a:avLst/>
          </a:prstGeom>
          <a:noFill/>
        </p:spPr>
        <p:txBody>
          <a:bodyPr wrap="square" lIns="50400" tIns="21600" rIns="50400" bIns="21600" anchor="ctr">
            <a:spAutoFit/>
          </a:bodyPr>
          <a:lstStyle/>
          <a:p>
            <a:pPr algn="l">
              <a:spcAft>
                <a:spcPts val="400"/>
              </a:spcAft>
            </a:pPr>
            <a:r>
              <a:rPr sz="1400" b="1">
                <a:solidFill>
                  <a:srgbClr val="333333"/>
                </a:solidFill>
                <a:latin typeface="メイリオ"/>
                <a:ea typeface="メイリオ"/>
                <a:cs typeface="メイリオ"/>
              </a:rPr>
              <a:t>参考｜サントリーウエルネス・DHC・ファンケル・オルビスは総合ブランド。</a:t>
            </a:r>
          </a:p>
          <a:p>
            <a:pPr algn="l">
              <a:lnSpc>
                <a:spcPct val="130000"/>
              </a:lnSpc>
            </a:pPr>
            <a:r>
              <a:rPr sz="1400">
                <a:solidFill>
                  <a:srgbClr val="333333"/>
                </a:solidFill>
                <a:latin typeface="メイリオ"/>
                <a:ea typeface="メイリオ"/>
                <a:cs typeface="メイリオ"/>
              </a:rPr>
              <a:t>売上規模の比較には使えるが、1商品×定期の運用の型としては参考にならない。混ぜて分析しないこと。</a:t>
            </a:r>
          </a:p>
        </p:txBody>
      </p:sp>
      <p:sp>
        <p:nvSpPr>
          <p:cNvPr id="11" name="TextBox 10"/>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★未取得｜数値は page.line.me（公式）から。第三者サイトの数値は掲載しない。実名掲載の可否は社内確認が必要</a:t>
            </a:r>
          </a:p>
        </p:txBody>
      </p:sp>
    </p:spTree>
    <p:extLst>
      <p:ext uri="{BB962C8B-B14F-4D97-AF65-F5344CB8AC3E}">
        <p14:creationId xmlns:p14="http://schemas.microsoft.com/office/powerpoint/2010/main" val="406932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E587B-DB18-248C-DB39-A170420D4342}"/>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LINEでやるべきこと②｜できること／できないこと</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LINEで触れるのは「買った後」だけ。先に範囲を決めておく。</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3255552" cy="2376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57999" y="1673078"/>
            <a:ext cx="3003552" cy="289843"/>
          </a:xfrm>
          <a:prstGeom prst="rect">
            <a:avLst/>
          </a:prstGeom>
          <a:noFill/>
        </p:spPr>
        <p:txBody>
          <a:bodyPr wrap="square" lIns="50400" tIns="21600" rIns="50400" bIns="21600" anchor="ctr">
            <a:spAutoFit/>
          </a:bodyPr>
          <a:lstStyle/>
          <a:p>
            <a:pPr algn="l"/>
            <a:r>
              <a:rPr sz="1600" b="1">
                <a:solidFill>
                  <a:srgbClr val="7F7F7F"/>
                </a:solidFill>
                <a:latin typeface="メイリオ"/>
                <a:ea typeface="メイリオ"/>
                <a:cs typeface="メイリオ"/>
              </a:rPr>
              <a:t>できないこと</a:t>
            </a:r>
          </a:p>
        </p:txBody>
      </p:sp>
      <p:sp>
        <p:nvSpPr>
          <p:cNvPr id="7" name="TextBox 6"/>
          <p:cNvSpPr txBox="1"/>
          <p:nvPr/>
        </p:nvSpPr>
        <p:spPr>
          <a:xfrm>
            <a:off x="557999" y="2112232"/>
            <a:ext cx="3003552" cy="304334"/>
          </a:xfrm>
          <a:prstGeom prst="rect">
            <a:avLst/>
          </a:prstGeom>
          <a:noFill/>
        </p:spPr>
        <p:txBody>
          <a:bodyPr wrap="square" lIns="50400" tIns="21600" rIns="50400" bIns="21600" anchor="ctr">
            <a:spAutoFit/>
          </a:bodyPr>
          <a:lstStyle/>
          <a:p>
            <a:pPr algn="l">
              <a:lnSpc>
                <a:spcPct val="128000"/>
              </a:lnSpc>
            </a:pPr>
            <a:r>
              <a:rPr sz="1400">
                <a:solidFill>
                  <a:srgbClr val="333333"/>
                </a:solidFill>
                <a:latin typeface="メイリオ"/>
                <a:ea typeface="メイリオ"/>
                <a:cs typeface="メイリオ"/>
              </a:rPr>
              <a:t>・商品力・効果実感そのもの</a:t>
            </a:r>
          </a:p>
        </p:txBody>
      </p:sp>
      <p:sp>
        <p:nvSpPr>
          <p:cNvPr id="8" name="TextBox 7"/>
          <p:cNvSpPr txBox="1"/>
          <p:nvPr/>
        </p:nvSpPr>
        <p:spPr>
          <a:xfrm>
            <a:off x="557999" y="2573033"/>
            <a:ext cx="3003552" cy="304334"/>
          </a:xfrm>
          <a:prstGeom prst="rect">
            <a:avLst/>
          </a:prstGeom>
          <a:noFill/>
        </p:spPr>
        <p:txBody>
          <a:bodyPr wrap="square" lIns="50400" tIns="21600" rIns="50400" bIns="21600" anchor="ctr">
            <a:spAutoFit/>
          </a:bodyPr>
          <a:lstStyle/>
          <a:p>
            <a:pPr algn="l">
              <a:lnSpc>
                <a:spcPct val="128000"/>
              </a:lnSpc>
            </a:pPr>
            <a:r>
              <a:rPr sz="1400">
                <a:solidFill>
                  <a:srgbClr val="333333"/>
                </a:solidFill>
                <a:latin typeface="メイリオ"/>
                <a:ea typeface="メイリオ"/>
                <a:cs typeface="メイリオ"/>
              </a:rPr>
              <a:t>・価格・原価・送料</a:t>
            </a:r>
          </a:p>
        </p:txBody>
      </p:sp>
      <p:sp>
        <p:nvSpPr>
          <p:cNvPr id="9" name="TextBox 8"/>
          <p:cNvSpPr txBox="1"/>
          <p:nvPr/>
        </p:nvSpPr>
        <p:spPr>
          <a:xfrm>
            <a:off x="557999" y="3061757"/>
            <a:ext cx="3003552" cy="248486"/>
          </a:xfrm>
          <a:prstGeom prst="rect">
            <a:avLst/>
          </a:prstGeom>
          <a:noFill/>
        </p:spPr>
        <p:txBody>
          <a:bodyPr wrap="square" lIns="50400" tIns="21600" rIns="50400" bIns="21600" anchor="ctr">
            <a:spAutoFit/>
          </a:bodyPr>
          <a:lstStyle/>
          <a:p>
            <a:pPr algn="l">
              <a:lnSpc>
                <a:spcPct val="128000"/>
              </a:lnSpc>
            </a:pPr>
            <a:r>
              <a:rPr sz="1100">
                <a:solidFill>
                  <a:srgbClr val="333333"/>
                </a:solidFill>
                <a:latin typeface="メイリオ"/>
                <a:ea typeface="メイリオ"/>
                <a:cs typeface="メイリオ"/>
              </a:rPr>
              <a:t>・広告の単価（記事LP・アフィリの相場）</a:t>
            </a:r>
          </a:p>
        </p:txBody>
      </p:sp>
      <p:sp>
        <p:nvSpPr>
          <p:cNvPr id="10" name="TextBox 9"/>
          <p:cNvSpPr txBox="1"/>
          <p:nvPr/>
        </p:nvSpPr>
        <p:spPr>
          <a:xfrm>
            <a:off x="557999" y="3503930"/>
            <a:ext cx="3003552" cy="285739"/>
          </a:xfrm>
          <a:prstGeom prst="rect">
            <a:avLst/>
          </a:prstGeom>
          <a:noFill/>
        </p:spPr>
        <p:txBody>
          <a:bodyPr wrap="square" lIns="50400" tIns="21600" rIns="50400" bIns="21600" anchor="ctr">
            <a:spAutoFit/>
          </a:bodyPr>
          <a:lstStyle/>
          <a:p>
            <a:pPr algn="l">
              <a:lnSpc>
                <a:spcPct val="128000"/>
              </a:lnSpc>
            </a:pPr>
            <a:r>
              <a:rPr sz="1300" b="1">
                <a:solidFill>
                  <a:srgbClr val="C00000"/>
                </a:solidFill>
                <a:latin typeface="メイリオ"/>
                <a:ea typeface="メイリオ"/>
                <a:cs typeface="メイリオ"/>
              </a:rPr>
              <a:t>・★解約を止めること（法律で禁止）</a:t>
            </a:r>
          </a:p>
        </p:txBody>
      </p:sp>
      <p:sp>
        <p:nvSpPr>
          <p:cNvPr id="11" name="Rounded Rectangle 10"/>
          <p:cNvSpPr/>
          <p:nvPr/>
        </p:nvSpPr>
        <p:spPr>
          <a:xfrm>
            <a:off x="3795552" y="1620000"/>
            <a:ext cx="5679648" cy="237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921552" y="1673078"/>
            <a:ext cx="5427648"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できること（＝本提案の範囲）</a:t>
            </a:r>
          </a:p>
        </p:txBody>
      </p:sp>
      <p:sp>
        <p:nvSpPr>
          <p:cNvPr id="13" name="TextBox 12"/>
          <p:cNvSpPr txBox="1"/>
          <p:nvPr/>
        </p:nvSpPr>
        <p:spPr>
          <a:xfrm>
            <a:off x="3921552" y="2034066"/>
            <a:ext cx="2499045"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① 初回購入者を友だち化</a:t>
            </a:r>
          </a:p>
        </p:txBody>
      </p:sp>
      <p:sp>
        <p:nvSpPr>
          <p:cNvPr id="14" name="TextBox 13"/>
          <p:cNvSpPr txBox="1"/>
          <p:nvPr/>
        </p:nvSpPr>
        <p:spPr>
          <a:xfrm>
            <a:off x="6420597" y="2026756"/>
            <a:ext cx="2928602" cy="273685"/>
          </a:xfrm>
          <a:prstGeom prst="rect">
            <a:avLst/>
          </a:prstGeom>
          <a:noFill/>
        </p:spPr>
        <p:txBody>
          <a:bodyPr wrap="square" lIns="50400" tIns="21600" rIns="50400" bIns="21600" anchor="ctr">
            <a:spAutoFit/>
          </a:bodyPr>
          <a:lstStyle/>
          <a:p>
            <a:pPr algn="l">
              <a:lnSpc>
                <a:spcPct val="120000"/>
              </a:lnSpc>
            </a:pPr>
            <a:r>
              <a:rPr sz="1300">
                <a:solidFill>
                  <a:srgbClr val="333333"/>
                </a:solidFill>
                <a:latin typeface="メイリオ"/>
                <a:ea typeface="メイリオ"/>
                <a:cs typeface="メイリオ"/>
              </a:rPr>
              <a:t>同梱物QR。商品が必ず届く</a:t>
            </a:r>
          </a:p>
        </p:txBody>
      </p:sp>
      <p:sp>
        <p:nvSpPr>
          <p:cNvPr id="15" name="TextBox 14"/>
          <p:cNvSpPr txBox="1"/>
          <p:nvPr/>
        </p:nvSpPr>
        <p:spPr>
          <a:xfrm>
            <a:off x="3921552" y="2350867"/>
            <a:ext cx="2499045"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② 効果実感まで伴走する</a:t>
            </a:r>
          </a:p>
        </p:txBody>
      </p:sp>
      <p:sp>
        <p:nvSpPr>
          <p:cNvPr id="16" name="TextBox 15"/>
          <p:cNvSpPr txBox="1"/>
          <p:nvPr/>
        </p:nvSpPr>
        <p:spPr>
          <a:xfrm>
            <a:off x="6420597" y="2352405"/>
            <a:ext cx="2928602" cy="255988"/>
          </a:xfrm>
          <a:prstGeom prst="rect">
            <a:avLst/>
          </a:prstGeom>
          <a:noFill/>
        </p:spPr>
        <p:txBody>
          <a:bodyPr wrap="square" lIns="50400" tIns="21600" rIns="50400" bIns="21600" anchor="ctr">
            <a:spAutoFit/>
          </a:bodyPr>
          <a:lstStyle/>
          <a:p>
            <a:pPr algn="l">
              <a:lnSpc>
                <a:spcPct val="120000"/>
              </a:lnSpc>
            </a:pPr>
            <a:r>
              <a:rPr sz="1200">
                <a:solidFill>
                  <a:srgbClr val="333333"/>
                </a:solidFill>
                <a:latin typeface="メイリオ"/>
                <a:ea typeface="メイリオ"/>
                <a:cs typeface="メイリオ"/>
              </a:rPr>
              <a:t>使い始めのフォロー。短期離脱を潰す</a:t>
            </a:r>
          </a:p>
        </p:txBody>
      </p:sp>
      <p:sp>
        <p:nvSpPr>
          <p:cNvPr id="17" name="TextBox 16"/>
          <p:cNvSpPr txBox="1"/>
          <p:nvPr/>
        </p:nvSpPr>
        <p:spPr>
          <a:xfrm>
            <a:off x="3921552" y="2667667"/>
            <a:ext cx="2499045"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③ F2オファーを自動で出す</a:t>
            </a:r>
          </a:p>
        </p:txBody>
      </p:sp>
      <p:sp>
        <p:nvSpPr>
          <p:cNvPr id="18" name="TextBox 17"/>
          <p:cNvSpPr txBox="1"/>
          <p:nvPr/>
        </p:nvSpPr>
        <p:spPr>
          <a:xfrm>
            <a:off x="6420597" y="2669205"/>
            <a:ext cx="2928602" cy="255988"/>
          </a:xfrm>
          <a:prstGeom prst="rect">
            <a:avLst/>
          </a:prstGeom>
          <a:noFill/>
        </p:spPr>
        <p:txBody>
          <a:bodyPr wrap="square" lIns="50400" tIns="21600" rIns="50400" bIns="21600" anchor="ctr">
            <a:spAutoFit/>
          </a:bodyPr>
          <a:lstStyle/>
          <a:p>
            <a:pPr algn="l">
              <a:lnSpc>
                <a:spcPct val="120000"/>
              </a:lnSpc>
            </a:pPr>
            <a:r>
              <a:rPr sz="1200">
                <a:solidFill>
                  <a:srgbClr val="333333"/>
                </a:solidFill>
                <a:latin typeface="メイリオ"/>
                <a:ea typeface="メイリオ"/>
                <a:cs typeface="メイリオ"/>
              </a:rPr>
              <a:t>消費サイクルに合わせる（P41で逆算）</a:t>
            </a:r>
          </a:p>
        </p:txBody>
      </p:sp>
      <p:sp>
        <p:nvSpPr>
          <p:cNvPr id="19" name="TextBox 18"/>
          <p:cNvSpPr txBox="1"/>
          <p:nvPr/>
        </p:nvSpPr>
        <p:spPr>
          <a:xfrm>
            <a:off x="3921552" y="2984467"/>
            <a:ext cx="2499045" cy="259065"/>
          </a:xfrm>
          <a:prstGeom prst="rect">
            <a:avLst/>
          </a:prstGeom>
          <a:noFill/>
        </p:spPr>
        <p:txBody>
          <a:bodyPr wrap="square" lIns="50400" tIns="21600" rIns="50400" bIns="21600" anchor="ctr">
            <a:spAutoFit/>
          </a:bodyPr>
          <a:lstStyle/>
          <a:p>
            <a:pPr algn="l"/>
            <a:r>
              <a:rPr sz="1400" b="1">
                <a:solidFill>
                  <a:srgbClr val="ED7D31"/>
                </a:solidFill>
                <a:latin typeface="メイリオ"/>
                <a:ea typeface="メイリオ"/>
                <a:cs typeface="メイリオ"/>
              </a:rPr>
              <a:t>④ ★解約の受け皿をつくる</a:t>
            </a:r>
          </a:p>
        </p:txBody>
      </p:sp>
      <p:sp>
        <p:nvSpPr>
          <p:cNvPr id="20" name="TextBox 19"/>
          <p:cNvSpPr txBox="1"/>
          <p:nvPr/>
        </p:nvSpPr>
        <p:spPr>
          <a:xfrm>
            <a:off x="6420597" y="2986005"/>
            <a:ext cx="2928602" cy="255988"/>
          </a:xfrm>
          <a:prstGeom prst="rect">
            <a:avLst/>
          </a:prstGeom>
          <a:noFill/>
        </p:spPr>
        <p:txBody>
          <a:bodyPr wrap="square" lIns="50400" tIns="21600" rIns="50400" bIns="21600" anchor="ctr">
            <a:spAutoFit/>
          </a:bodyPr>
          <a:lstStyle/>
          <a:p>
            <a:pPr algn="l">
              <a:lnSpc>
                <a:spcPct val="120000"/>
              </a:lnSpc>
            </a:pPr>
            <a:r>
              <a:rPr sz="1200">
                <a:solidFill>
                  <a:srgbClr val="333333"/>
                </a:solidFill>
                <a:latin typeface="メイリオ"/>
                <a:ea typeface="メイリオ"/>
                <a:cs typeface="メイリオ"/>
              </a:rPr>
              <a:t>アンケート→スキップ／周期変更を先に</a:t>
            </a:r>
          </a:p>
        </p:txBody>
      </p:sp>
      <p:sp>
        <p:nvSpPr>
          <p:cNvPr id="21" name="TextBox 20"/>
          <p:cNvSpPr txBox="1"/>
          <p:nvPr/>
        </p:nvSpPr>
        <p:spPr>
          <a:xfrm>
            <a:off x="3921552" y="3301266"/>
            <a:ext cx="2499045"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⑤ 次回発送前フォロー</a:t>
            </a:r>
          </a:p>
        </p:txBody>
      </p:sp>
      <p:sp>
        <p:nvSpPr>
          <p:cNvPr id="22" name="TextBox 21"/>
          <p:cNvSpPr txBox="1"/>
          <p:nvPr/>
        </p:nvSpPr>
        <p:spPr>
          <a:xfrm>
            <a:off x="6420597" y="3302804"/>
            <a:ext cx="2928602" cy="255988"/>
          </a:xfrm>
          <a:prstGeom prst="rect">
            <a:avLst/>
          </a:prstGeom>
          <a:noFill/>
        </p:spPr>
        <p:txBody>
          <a:bodyPr wrap="square" lIns="50400" tIns="21600" rIns="50400" bIns="21600" anchor="ctr">
            <a:spAutoFit/>
          </a:bodyPr>
          <a:lstStyle/>
          <a:p>
            <a:pPr algn="l">
              <a:lnSpc>
                <a:spcPct val="120000"/>
              </a:lnSpc>
            </a:pPr>
            <a:r>
              <a:rPr sz="1200">
                <a:solidFill>
                  <a:srgbClr val="333333"/>
                </a:solidFill>
                <a:latin typeface="メイリオ"/>
                <a:ea typeface="メイリオ"/>
                <a:cs typeface="メイリオ"/>
              </a:rPr>
              <a:t>届く前に「スキップ」を選べる</a:t>
            </a:r>
          </a:p>
        </p:txBody>
      </p:sp>
      <p:sp>
        <p:nvSpPr>
          <p:cNvPr id="23" name="TextBox 22"/>
          <p:cNvSpPr txBox="1"/>
          <p:nvPr/>
        </p:nvSpPr>
        <p:spPr>
          <a:xfrm>
            <a:off x="3921552" y="3618067"/>
            <a:ext cx="2499045"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⑥ 休眠の掘り起こし</a:t>
            </a:r>
          </a:p>
        </p:txBody>
      </p:sp>
      <p:sp>
        <p:nvSpPr>
          <p:cNvPr id="24" name="TextBox 23"/>
          <p:cNvSpPr txBox="1"/>
          <p:nvPr/>
        </p:nvSpPr>
        <p:spPr>
          <a:xfrm>
            <a:off x="6420597" y="3600000"/>
            <a:ext cx="2928602" cy="295200"/>
          </a:xfrm>
          <a:prstGeom prst="rect">
            <a:avLst/>
          </a:prstGeom>
          <a:noFill/>
        </p:spPr>
        <p:txBody>
          <a:bodyPr wrap="square" lIns="50400" tIns="21600" rIns="50400" bIns="21600" anchor="ctr">
            <a:spAutoFit/>
          </a:bodyPr>
          <a:lstStyle/>
          <a:p>
            <a:pPr algn="l">
              <a:lnSpc>
                <a:spcPct val="120000"/>
              </a:lnSpc>
            </a:pPr>
            <a:r>
              <a:rPr sz="1400">
                <a:solidFill>
                  <a:srgbClr val="333333"/>
                </a:solidFill>
                <a:latin typeface="メイリオ"/>
                <a:ea typeface="メイリオ"/>
                <a:cs typeface="メイリオ"/>
              </a:rPr>
              <a:t>解約後も再開提案ができる</a:t>
            </a:r>
          </a:p>
        </p:txBody>
      </p:sp>
      <p:sp>
        <p:nvSpPr>
          <p:cNvPr id="25" name="Rounded Rectangle 24"/>
          <p:cNvSpPr/>
          <p:nvPr/>
        </p:nvSpPr>
        <p:spPr>
          <a:xfrm>
            <a:off x="432000" y="4103999"/>
            <a:ext cx="9043200" cy="154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7999" y="4187801"/>
            <a:ext cx="8611200" cy="1380398"/>
          </a:xfrm>
          <a:prstGeom prst="rect">
            <a:avLst/>
          </a:prstGeom>
          <a:noFill/>
        </p:spPr>
        <p:txBody>
          <a:bodyPr wrap="square" lIns="50400" tIns="21600" rIns="50400" bIns="21600" anchor="ctr">
            <a:spAutoFit/>
          </a:bodyPr>
          <a:lstStyle/>
          <a:p>
            <a:pPr algn="l">
              <a:spcAft>
                <a:spcPts val="600"/>
              </a:spcAft>
            </a:pPr>
            <a:r>
              <a:rPr sz="1400" b="1">
                <a:solidFill>
                  <a:srgbClr val="ED7D31"/>
                </a:solidFill>
                <a:latin typeface="メイリオ"/>
                <a:ea typeface="メイリオ"/>
                <a:cs typeface="メイリオ"/>
              </a:rPr>
              <a:t>スコープ宣言</a:t>
            </a:r>
          </a:p>
          <a:p>
            <a:pPr algn="l">
              <a:lnSpc>
                <a:spcPct val="130000"/>
              </a:lnSpc>
              <a:spcAft>
                <a:spcPts val="400"/>
              </a:spcAft>
            </a:pPr>
            <a:r>
              <a:rPr sz="1600" b="1">
                <a:solidFill>
                  <a:srgbClr val="FFFFFF"/>
                </a:solidFill>
                <a:latin typeface="メイリオ"/>
                <a:ea typeface="メイリオ"/>
                <a:cs typeface="メイリオ"/>
              </a:rPr>
              <a:t>触るのは「買った後」だけ。広告もLPも商品も触りません。</a:t>
            </a:r>
          </a:p>
          <a:p>
            <a:pPr algn="l">
              <a:lnSpc>
                <a:spcPct val="130000"/>
              </a:lnSpc>
              <a:spcAft>
                <a:spcPts val="400"/>
              </a:spcAft>
            </a:pPr>
            <a:r>
              <a:rPr sz="1600" b="1">
                <a:solidFill>
                  <a:srgbClr val="FFFFFF"/>
                </a:solidFill>
                <a:latin typeface="メイリオ"/>
                <a:ea typeface="メイリオ"/>
                <a:cs typeface="メイリオ"/>
              </a:rPr>
              <a:t>そして、解約は止めません。止められないし、止めてはいけない。</a:t>
            </a:r>
          </a:p>
          <a:p>
            <a:pPr algn="l">
              <a:lnSpc>
                <a:spcPct val="130000"/>
              </a:lnSpc>
            </a:pPr>
            <a:r>
              <a:rPr sz="1600" b="1">
                <a:solidFill>
                  <a:srgbClr val="FFFFFF"/>
                </a:solidFill>
                <a:latin typeface="メイリオ"/>
                <a:ea typeface="メイリオ"/>
                <a:cs typeface="メイリオ"/>
              </a:rPr>
              <a:t>やるのは、解約の手前に選択肢を置くことです。</a:t>
            </a:r>
          </a:p>
        </p:txBody>
      </p:sp>
      <p:sp>
        <p:nvSpPr>
          <p:cNvPr id="27" name="TextBox 2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法令｜特定商取引法は契約解除の妨害行為に罰則を定めている（2022年6月1日施行の改正）</a:t>
            </a:r>
          </a:p>
        </p:txBody>
      </p:sp>
    </p:spTree>
    <p:extLst>
      <p:ext uri="{BB962C8B-B14F-4D97-AF65-F5344CB8AC3E}">
        <p14:creationId xmlns:p14="http://schemas.microsoft.com/office/powerpoint/2010/main" val="466478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全体設計①｜カスタマージャーニー（8フェーズ）× CV3段</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単品通販は、友だち追加（軽CV）の起点が「購入後」にある。ここが他業界と違う。</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1086300" cy="36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2000" y="1670467"/>
            <a:ext cx="1086300" cy="259065"/>
          </a:xfrm>
          <a:prstGeom prst="rect">
            <a:avLst/>
          </a:prstGeom>
          <a:noFill/>
        </p:spPr>
        <p:txBody>
          <a:bodyPr wrap="square" lIns="14400" tIns="21600" rIns="14400" bIns="21600" anchor="ctr">
            <a:spAutoFit/>
          </a:bodyPr>
          <a:lstStyle/>
          <a:p>
            <a:pPr algn="ctr"/>
            <a:r>
              <a:rPr sz="1400" b="1">
                <a:solidFill>
                  <a:srgbClr val="7F7F7F"/>
                </a:solidFill>
                <a:latin typeface="メイリオ"/>
                <a:ea typeface="メイリオ"/>
                <a:cs typeface="メイリオ"/>
              </a:rPr>
              <a:t>認知</a:t>
            </a:r>
          </a:p>
        </p:txBody>
      </p:sp>
      <p:sp>
        <p:nvSpPr>
          <p:cNvPr id="7" name="Rounded Rectangle 6"/>
          <p:cNvSpPr/>
          <p:nvPr/>
        </p:nvSpPr>
        <p:spPr>
          <a:xfrm>
            <a:off x="1568700" y="1620000"/>
            <a:ext cx="1086300" cy="36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68700" y="1670467"/>
            <a:ext cx="1086300" cy="259065"/>
          </a:xfrm>
          <a:prstGeom prst="rect">
            <a:avLst/>
          </a:prstGeom>
          <a:noFill/>
        </p:spPr>
        <p:txBody>
          <a:bodyPr wrap="square" lIns="14400" tIns="21600" rIns="14400" bIns="21600" anchor="ctr">
            <a:spAutoFit/>
          </a:bodyPr>
          <a:lstStyle/>
          <a:p>
            <a:pPr algn="ctr"/>
            <a:r>
              <a:rPr sz="1400" b="1">
                <a:solidFill>
                  <a:srgbClr val="7F7F7F"/>
                </a:solidFill>
                <a:latin typeface="メイリオ"/>
                <a:ea typeface="メイリオ"/>
                <a:cs typeface="メイリオ"/>
              </a:rPr>
              <a:t>興味</a:t>
            </a:r>
          </a:p>
        </p:txBody>
      </p:sp>
      <p:sp>
        <p:nvSpPr>
          <p:cNvPr id="9" name="Rounded Rectangle 8"/>
          <p:cNvSpPr/>
          <p:nvPr/>
        </p:nvSpPr>
        <p:spPr>
          <a:xfrm>
            <a:off x="2705400" y="1620000"/>
            <a:ext cx="1086300" cy="36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05400" y="1670467"/>
            <a:ext cx="1086300" cy="259065"/>
          </a:xfrm>
          <a:prstGeom prst="rect">
            <a:avLst/>
          </a:prstGeom>
          <a:noFill/>
        </p:spPr>
        <p:txBody>
          <a:bodyPr wrap="square" lIns="14400" tIns="21600" rIns="14400" bIns="21600" anchor="ctr">
            <a:spAutoFit/>
          </a:bodyPr>
          <a:lstStyle/>
          <a:p>
            <a:pPr algn="ctr"/>
            <a:r>
              <a:rPr sz="1400" b="1">
                <a:solidFill>
                  <a:srgbClr val="7F7F7F"/>
                </a:solidFill>
                <a:latin typeface="メイリオ"/>
                <a:ea typeface="メイリオ"/>
                <a:cs typeface="メイリオ"/>
              </a:rPr>
              <a:t>比較</a:t>
            </a:r>
          </a:p>
        </p:txBody>
      </p:sp>
      <p:sp>
        <p:nvSpPr>
          <p:cNvPr id="11" name="Rounded Rectangle 10"/>
          <p:cNvSpPr/>
          <p:nvPr/>
        </p:nvSpPr>
        <p:spPr>
          <a:xfrm>
            <a:off x="3842100" y="1620000"/>
            <a:ext cx="1086300" cy="36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2100" y="1670467"/>
            <a:ext cx="1086300" cy="259065"/>
          </a:xfrm>
          <a:prstGeom prst="rect">
            <a:avLst/>
          </a:prstGeom>
          <a:noFill/>
        </p:spPr>
        <p:txBody>
          <a:bodyPr wrap="square" lIns="14400" tIns="21600" rIns="14400" bIns="21600" anchor="ctr">
            <a:spAutoFit/>
          </a:bodyPr>
          <a:lstStyle/>
          <a:p>
            <a:pPr algn="ctr"/>
            <a:r>
              <a:rPr sz="1400" b="1">
                <a:solidFill>
                  <a:srgbClr val="7F7F7F"/>
                </a:solidFill>
                <a:latin typeface="メイリオ"/>
                <a:ea typeface="メイリオ"/>
                <a:cs typeface="メイリオ"/>
              </a:rPr>
              <a:t>初回購入</a:t>
            </a:r>
          </a:p>
        </p:txBody>
      </p:sp>
      <p:sp>
        <p:nvSpPr>
          <p:cNvPr id="13" name="Rounded Rectangle 12"/>
          <p:cNvSpPr/>
          <p:nvPr/>
        </p:nvSpPr>
        <p:spPr>
          <a:xfrm>
            <a:off x="4978800" y="1620000"/>
            <a:ext cx="1086300" cy="360000"/>
          </a:xfrm>
          <a:prstGeom prst="roundRect">
            <a:avLst>
              <a:gd name="adj" fmla="val 6000"/>
            </a:avLst>
          </a:prstGeom>
          <a:solidFill>
            <a:srgbClr val="FCE4D6"/>
          </a:solidFill>
          <a:ln w="1524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78800" y="1670467"/>
            <a:ext cx="1086300" cy="259065"/>
          </a:xfrm>
          <a:prstGeom prst="rect">
            <a:avLst/>
          </a:prstGeom>
          <a:noFill/>
        </p:spPr>
        <p:txBody>
          <a:bodyPr wrap="square" lIns="14400" tIns="21600" rIns="14400" bIns="21600" anchor="ctr">
            <a:spAutoFit/>
          </a:bodyPr>
          <a:lstStyle/>
          <a:p>
            <a:pPr algn="ctr"/>
            <a:r>
              <a:rPr sz="1400" b="1">
                <a:solidFill>
                  <a:srgbClr val="ED7D31"/>
                </a:solidFill>
                <a:latin typeface="メイリオ"/>
                <a:ea typeface="メイリオ"/>
                <a:cs typeface="メイリオ"/>
              </a:rPr>
              <a:t>使用開始</a:t>
            </a:r>
          </a:p>
        </p:txBody>
      </p:sp>
      <p:sp>
        <p:nvSpPr>
          <p:cNvPr id="15" name="Rounded Rectangle 14"/>
          <p:cNvSpPr/>
          <p:nvPr/>
        </p:nvSpPr>
        <p:spPr>
          <a:xfrm>
            <a:off x="6115500" y="1620000"/>
            <a:ext cx="1086300" cy="360000"/>
          </a:xfrm>
          <a:prstGeom prst="roundRect">
            <a:avLst>
              <a:gd name="adj" fmla="val 6000"/>
            </a:avLst>
          </a:prstGeom>
          <a:solidFill>
            <a:srgbClr val="FCE4D6"/>
          </a:solidFill>
          <a:ln w="1524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15500" y="1670467"/>
            <a:ext cx="1086300" cy="259065"/>
          </a:xfrm>
          <a:prstGeom prst="rect">
            <a:avLst/>
          </a:prstGeom>
          <a:noFill/>
        </p:spPr>
        <p:txBody>
          <a:bodyPr wrap="square" lIns="14400" tIns="21600" rIns="14400" bIns="21600" anchor="ctr">
            <a:spAutoFit/>
          </a:bodyPr>
          <a:lstStyle/>
          <a:p>
            <a:pPr algn="ctr"/>
            <a:r>
              <a:rPr sz="1400" b="1">
                <a:solidFill>
                  <a:srgbClr val="ED7D31"/>
                </a:solidFill>
                <a:latin typeface="メイリオ"/>
                <a:ea typeface="メイリオ"/>
                <a:cs typeface="メイリオ"/>
              </a:rPr>
              <a:t>F2</a:t>
            </a:r>
          </a:p>
        </p:txBody>
      </p:sp>
      <p:sp>
        <p:nvSpPr>
          <p:cNvPr id="17" name="Rounded Rectangle 16"/>
          <p:cNvSpPr/>
          <p:nvPr/>
        </p:nvSpPr>
        <p:spPr>
          <a:xfrm>
            <a:off x="7252200" y="1620000"/>
            <a:ext cx="1086300" cy="360000"/>
          </a:xfrm>
          <a:prstGeom prst="roundRect">
            <a:avLst>
              <a:gd name="adj" fmla="val 6000"/>
            </a:avLst>
          </a:prstGeom>
          <a:solidFill>
            <a:srgbClr val="FCE4D6"/>
          </a:solidFill>
          <a:ln w="1524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52200" y="1670467"/>
            <a:ext cx="1086300" cy="259065"/>
          </a:xfrm>
          <a:prstGeom prst="rect">
            <a:avLst/>
          </a:prstGeom>
          <a:noFill/>
        </p:spPr>
        <p:txBody>
          <a:bodyPr wrap="square" lIns="14400" tIns="21600" rIns="14400" bIns="21600" anchor="ctr">
            <a:spAutoFit/>
          </a:bodyPr>
          <a:lstStyle/>
          <a:p>
            <a:pPr algn="ctr"/>
            <a:r>
              <a:rPr sz="1400" b="1">
                <a:solidFill>
                  <a:srgbClr val="ED7D31"/>
                </a:solidFill>
                <a:latin typeface="メイリオ"/>
                <a:ea typeface="メイリオ"/>
                <a:cs typeface="メイリオ"/>
              </a:rPr>
              <a:t>定期化</a:t>
            </a:r>
          </a:p>
        </p:txBody>
      </p:sp>
      <p:sp>
        <p:nvSpPr>
          <p:cNvPr id="19" name="Rounded Rectangle 18"/>
          <p:cNvSpPr/>
          <p:nvPr/>
        </p:nvSpPr>
        <p:spPr>
          <a:xfrm>
            <a:off x="8388900" y="1620000"/>
            <a:ext cx="1086300" cy="360000"/>
          </a:xfrm>
          <a:prstGeom prst="roundRect">
            <a:avLst>
              <a:gd name="adj" fmla="val 6000"/>
            </a:avLst>
          </a:prstGeom>
          <a:solidFill>
            <a:srgbClr val="FCE4D6"/>
          </a:solidFill>
          <a:ln w="1524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88900" y="1693550"/>
            <a:ext cx="1086300" cy="212899"/>
          </a:xfrm>
          <a:prstGeom prst="rect">
            <a:avLst/>
          </a:prstGeom>
          <a:noFill/>
        </p:spPr>
        <p:txBody>
          <a:bodyPr wrap="square" lIns="14400" tIns="21600" rIns="14400" bIns="21600" anchor="ctr">
            <a:spAutoFit/>
          </a:bodyPr>
          <a:lstStyle/>
          <a:p>
            <a:pPr algn="ctr"/>
            <a:r>
              <a:rPr sz="1100" b="1">
                <a:solidFill>
                  <a:srgbClr val="ED7D31"/>
                </a:solidFill>
                <a:latin typeface="メイリオ"/>
                <a:ea typeface="メイリオ"/>
                <a:cs typeface="メイリオ"/>
              </a:rPr>
              <a:t>継続／解約検討</a:t>
            </a:r>
          </a:p>
        </p:txBody>
      </p:sp>
      <p:sp>
        <p:nvSpPr>
          <p:cNvPr id="21" name="TextBox 20"/>
          <p:cNvSpPr txBox="1"/>
          <p:nvPr/>
        </p:nvSpPr>
        <p:spPr>
          <a:xfrm>
            <a:off x="432000" y="2012468"/>
            <a:ext cx="9043200" cy="259065"/>
          </a:xfrm>
          <a:prstGeom prst="rect">
            <a:avLst/>
          </a:prstGeom>
          <a:noFill/>
        </p:spPr>
        <p:txBody>
          <a:bodyPr wrap="square" lIns="50400" tIns="21600" rIns="50400" bIns="21600" anchor="ctr">
            <a:spAutoFit/>
          </a:bodyPr>
          <a:lstStyle/>
          <a:p>
            <a:pPr algn="ctr"/>
            <a:r>
              <a:rPr sz="1400" b="1">
                <a:solidFill>
                  <a:srgbClr val="333333"/>
                </a:solidFill>
                <a:latin typeface="メイリオ"/>
                <a:ea typeface="メイリオ"/>
                <a:cs typeface="メイリオ"/>
              </a:rPr>
              <a:t>← 触らない（広告・LP・商品）　｜　★本提案が触る区間 →</a:t>
            </a:r>
          </a:p>
        </p:txBody>
      </p:sp>
      <p:sp>
        <p:nvSpPr>
          <p:cNvPr id="22" name="Rounded Rectangle 21"/>
          <p:cNvSpPr/>
          <p:nvPr/>
        </p:nvSpPr>
        <p:spPr>
          <a:xfrm>
            <a:off x="432000" y="2376000"/>
            <a:ext cx="9043200" cy="972000"/>
          </a:xfrm>
          <a:prstGeom prst="roundRect">
            <a:avLst>
              <a:gd name="adj" fmla="val 6000"/>
            </a:avLst>
          </a:prstGeom>
          <a:solidFill>
            <a:srgbClr val="FCE4D6"/>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57999" y="2717078"/>
            <a:ext cx="1224000" cy="289843"/>
          </a:xfrm>
          <a:prstGeom prst="rect">
            <a:avLst/>
          </a:prstGeom>
          <a:noFill/>
        </p:spPr>
        <p:txBody>
          <a:bodyPr wrap="square" lIns="50400" tIns="21600" rIns="50400" bIns="21600" anchor="ctr">
            <a:spAutoFit/>
          </a:bodyPr>
          <a:lstStyle/>
          <a:p>
            <a:pPr algn="l"/>
            <a:r>
              <a:rPr sz="1600" b="1">
                <a:solidFill>
                  <a:srgbClr val="ED7D31"/>
                </a:solidFill>
                <a:latin typeface="メイリオ"/>
                <a:ea typeface="メイリオ"/>
                <a:cs typeface="メイリオ"/>
              </a:rPr>
              <a:t>① 軽CV</a:t>
            </a:r>
          </a:p>
        </p:txBody>
      </p:sp>
      <p:sp>
        <p:nvSpPr>
          <p:cNvPr id="24" name="TextBox 23"/>
          <p:cNvSpPr txBox="1"/>
          <p:nvPr/>
        </p:nvSpPr>
        <p:spPr>
          <a:xfrm>
            <a:off x="1835999" y="2698611"/>
            <a:ext cx="2520000" cy="326776"/>
          </a:xfrm>
          <a:prstGeom prst="rect">
            <a:avLst/>
          </a:prstGeom>
          <a:noFill/>
        </p:spPr>
        <p:txBody>
          <a:bodyPr wrap="square" lIns="50400" tIns="21600" rIns="50400" bIns="21600" anchor="ctr">
            <a:spAutoFit/>
          </a:bodyPr>
          <a:lstStyle/>
          <a:p>
            <a:pPr algn="l">
              <a:lnSpc>
                <a:spcPct val="120000"/>
              </a:lnSpc>
            </a:pPr>
            <a:r>
              <a:rPr sz="1600" b="1">
                <a:solidFill>
                  <a:srgbClr val="1F285A"/>
                </a:solidFill>
                <a:latin typeface="メイリオ"/>
                <a:ea typeface="メイリオ"/>
                <a:cs typeface="メイリオ"/>
              </a:rPr>
              <a:t>LINE友だち追加</a:t>
            </a:r>
          </a:p>
        </p:txBody>
      </p:sp>
      <p:sp>
        <p:nvSpPr>
          <p:cNvPr id="25" name="TextBox 24"/>
          <p:cNvSpPr txBox="1"/>
          <p:nvPr/>
        </p:nvSpPr>
        <p:spPr>
          <a:xfrm>
            <a:off x="4463999" y="2568191"/>
            <a:ext cx="4867200" cy="587617"/>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同梱物QR／購入完了画面／マイページ。★購入後に取るのが基本。商品が必ず届くので取りこぼしが少ない</a:t>
            </a:r>
          </a:p>
        </p:txBody>
      </p:sp>
      <p:sp>
        <p:nvSpPr>
          <p:cNvPr id="26" name="Rounded Rectangle 25"/>
          <p:cNvSpPr/>
          <p:nvPr/>
        </p:nvSpPr>
        <p:spPr>
          <a:xfrm>
            <a:off x="432000" y="3456000"/>
            <a:ext cx="9043200" cy="972000"/>
          </a:xfrm>
          <a:prstGeom prst="roundRect">
            <a:avLst>
              <a:gd name="adj" fmla="val 6000"/>
            </a:avLst>
          </a:prstGeom>
          <a:solidFill>
            <a:srgbClr val="FCE4D6"/>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57999" y="3797077"/>
            <a:ext cx="1224000" cy="289843"/>
          </a:xfrm>
          <a:prstGeom prst="rect">
            <a:avLst/>
          </a:prstGeom>
          <a:noFill/>
        </p:spPr>
        <p:txBody>
          <a:bodyPr wrap="square" lIns="50400" tIns="21600" rIns="50400" bIns="21600" anchor="ctr">
            <a:spAutoFit/>
          </a:bodyPr>
          <a:lstStyle/>
          <a:p>
            <a:pPr algn="l"/>
            <a:r>
              <a:rPr sz="1600" b="1">
                <a:solidFill>
                  <a:srgbClr val="ED7D31"/>
                </a:solidFill>
                <a:latin typeface="メイリオ"/>
                <a:ea typeface="メイリオ"/>
                <a:cs typeface="メイリオ"/>
              </a:rPr>
              <a:t>② 主CV</a:t>
            </a:r>
          </a:p>
        </p:txBody>
      </p:sp>
      <p:sp>
        <p:nvSpPr>
          <p:cNvPr id="28" name="TextBox 27"/>
          <p:cNvSpPr txBox="1"/>
          <p:nvPr/>
        </p:nvSpPr>
        <p:spPr>
          <a:xfrm>
            <a:off x="1835999" y="3796307"/>
            <a:ext cx="2520000" cy="291382"/>
          </a:xfrm>
          <a:prstGeom prst="rect">
            <a:avLst/>
          </a:prstGeom>
          <a:noFill/>
        </p:spPr>
        <p:txBody>
          <a:bodyPr wrap="square" lIns="50400" tIns="21600" rIns="50400" bIns="21600" anchor="ctr">
            <a:spAutoFit/>
          </a:bodyPr>
          <a:lstStyle/>
          <a:p>
            <a:pPr algn="l">
              <a:lnSpc>
                <a:spcPct val="120000"/>
              </a:lnSpc>
            </a:pPr>
            <a:r>
              <a:rPr sz="1400" b="1">
                <a:solidFill>
                  <a:srgbClr val="1F285A"/>
                </a:solidFill>
                <a:latin typeface="メイリオ"/>
                <a:ea typeface="メイリオ"/>
                <a:cs typeface="メイリオ"/>
              </a:rPr>
              <a:t>F2（2回目購入）／定期引上</a:t>
            </a:r>
          </a:p>
        </p:txBody>
      </p:sp>
      <p:sp>
        <p:nvSpPr>
          <p:cNvPr id="29" name="TextBox 28"/>
          <p:cNvSpPr txBox="1"/>
          <p:nvPr/>
        </p:nvSpPr>
        <p:spPr>
          <a:xfrm>
            <a:off x="4463999" y="3648190"/>
            <a:ext cx="4867200" cy="587617"/>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初回で離脱する人を減らす。消費サイクルに合わせてオファーを出す</a:t>
            </a:r>
          </a:p>
        </p:txBody>
      </p:sp>
      <p:sp>
        <p:nvSpPr>
          <p:cNvPr id="30" name="Rounded Rectangle 29"/>
          <p:cNvSpPr/>
          <p:nvPr/>
        </p:nvSpPr>
        <p:spPr>
          <a:xfrm>
            <a:off x="432000" y="4536000"/>
            <a:ext cx="9043200" cy="972000"/>
          </a:xfrm>
          <a:prstGeom prst="roundRect">
            <a:avLst>
              <a:gd name="adj" fmla="val 6000"/>
            </a:avLst>
          </a:prstGeom>
          <a:solidFill>
            <a:srgbClr val="FCE4D6"/>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57999" y="4753967"/>
            <a:ext cx="1224000" cy="536064"/>
          </a:xfrm>
          <a:prstGeom prst="rect">
            <a:avLst/>
          </a:prstGeom>
          <a:noFill/>
        </p:spPr>
        <p:txBody>
          <a:bodyPr wrap="square" lIns="50400" tIns="21600" rIns="50400" bIns="21600" anchor="ctr">
            <a:spAutoFit/>
          </a:bodyPr>
          <a:lstStyle/>
          <a:p>
            <a:pPr algn="l"/>
            <a:r>
              <a:rPr sz="1600" b="1">
                <a:solidFill>
                  <a:srgbClr val="ED7D31"/>
                </a:solidFill>
                <a:latin typeface="メイリオ"/>
                <a:ea typeface="メイリオ"/>
                <a:cs typeface="メイリオ"/>
              </a:rPr>
              <a:t>③ 最終CV／LTV</a:t>
            </a:r>
          </a:p>
        </p:txBody>
      </p:sp>
      <p:sp>
        <p:nvSpPr>
          <p:cNvPr id="32" name="TextBox 31"/>
          <p:cNvSpPr txBox="1"/>
          <p:nvPr/>
        </p:nvSpPr>
        <p:spPr>
          <a:xfrm>
            <a:off x="1835999" y="4858611"/>
            <a:ext cx="2520000" cy="326776"/>
          </a:xfrm>
          <a:prstGeom prst="rect">
            <a:avLst/>
          </a:prstGeom>
          <a:noFill/>
        </p:spPr>
        <p:txBody>
          <a:bodyPr wrap="square" lIns="50400" tIns="21600" rIns="50400" bIns="21600" anchor="ctr">
            <a:spAutoFit/>
          </a:bodyPr>
          <a:lstStyle/>
          <a:p>
            <a:pPr algn="l">
              <a:lnSpc>
                <a:spcPct val="120000"/>
              </a:lnSpc>
            </a:pPr>
            <a:r>
              <a:rPr sz="1600" b="1">
                <a:solidFill>
                  <a:srgbClr val="1F285A"/>
                </a:solidFill>
                <a:latin typeface="メイリオ"/>
                <a:ea typeface="メイリオ"/>
                <a:cs typeface="メイリオ"/>
              </a:rPr>
              <a:t>定期の継続</a:t>
            </a:r>
          </a:p>
        </p:txBody>
      </p:sp>
      <p:sp>
        <p:nvSpPr>
          <p:cNvPr id="33" name="TextBox 32"/>
          <p:cNvSpPr txBox="1"/>
          <p:nvPr/>
        </p:nvSpPr>
        <p:spPr>
          <a:xfrm>
            <a:off x="4463999" y="4728191"/>
            <a:ext cx="4867200" cy="587617"/>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★本提案の主戦場。解約の手前で受け止める。月次解約率がLTVをほぼ決める</a:t>
            </a:r>
          </a:p>
        </p:txBody>
      </p:sp>
      <p:sp>
        <p:nvSpPr>
          <p:cNvPr id="34" name="TextBox 33"/>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意見｜重CVが遠い業種ではないが、軽CVを「買う前」に取れない。ナーチャリングの起点が購入後にあるという、他業界に無い形</a:t>
            </a:r>
          </a:p>
        </p:txBody>
      </p:sp>
    </p:spTree>
    <p:extLst>
      <p:ext uri="{BB962C8B-B14F-4D97-AF65-F5344CB8AC3E}">
        <p14:creationId xmlns:p14="http://schemas.microsoft.com/office/powerpoint/2010/main" val="3225074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全体設計②｜施策全体像と対策領域</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どの施策が、誰を拾い、どのKPIに効くのか。1枚で対応させる。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285566505"/>
              </p:ext>
            </p:extLst>
          </p:nvPr>
        </p:nvGraphicFramePr>
        <p:xfrm>
          <a:off x="432000" y="1620000"/>
          <a:ext cx="9043198" cy="2203200"/>
        </p:xfrm>
        <a:graphic>
          <a:graphicData uri="http://schemas.openxmlformats.org/drawingml/2006/table">
            <a:tbl>
              <a:tblPr firstRow="1" bandRow="1">
                <a:tableStyleId>{5C22544A-7EE6-4342-B048-85BDC9FD1C3A}</a:tableStyleId>
              </a:tblPr>
              <a:tblGrid>
                <a:gridCol w="3311999">
                  <a:extLst>
                    <a:ext uri="{9D8B030D-6E8A-4147-A177-3AD203B41FA5}">
                      <a16:colId xmlns:a16="http://schemas.microsoft.com/office/drawing/2014/main" val="20000"/>
                    </a:ext>
                  </a:extLst>
                </a:gridCol>
                <a:gridCol w="2664000">
                  <a:extLst>
                    <a:ext uri="{9D8B030D-6E8A-4147-A177-3AD203B41FA5}">
                      <a16:colId xmlns:a16="http://schemas.microsoft.com/office/drawing/2014/main" val="20001"/>
                    </a:ext>
                  </a:extLst>
                </a:gridCol>
                <a:gridCol w="2015999">
                  <a:extLst>
                    <a:ext uri="{9D8B030D-6E8A-4147-A177-3AD203B41FA5}">
                      <a16:colId xmlns:a16="http://schemas.microsoft.com/office/drawing/2014/main" val="20002"/>
                    </a:ext>
                  </a:extLst>
                </a:gridCol>
                <a:gridCol w="1051200">
                  <a:extLst>
                    <a:ext uri="{9D8B030D-6E8A-4147-A177-3AD203B41FA5}">
                      <a16:colId xmlns:a16="http://schemas.microsoft.com/office/drawing/2014/main" val="20003"/>
                    </a:ext>
                  </a:extLst>
                </a:gridCol>
              </a:tblGrid>
              <a:tr h="244800">
                <a:tc>
                  <a:txBody>
                    <a:bodyPr/>
                    <a:lstStyle/>
                    <a:p>
                      <a:pPr algn="l"/>
                      <a:r>
                        <a:rPr sz="1200" b="1">
                          <a:solidFill>
                            <a:srgbClr val="FFFFFF"/>
                          </a:solidFill>
                          <a:latin typeface="メイリオ"/>
                          <a:ea typeface="メイリオ"/>
                          <a:cs typeface="メイリオ"/>
                        </a:rPr>
                        <a:t>施策</a:t>
                      </a:r>
                    </a:p>
                  </a:txBody>
                  <a:tcPr marL="43200" marR="43200" marT="18000" marB="18000" anchor="ctr">
                    <a:solidFill>
                      <a:srgbClr val="1F285A"/>
                    </a:solidFill>
                  </a:tcPr>
                </a:tc>
                <a:tc>
                  <a:txBody>
                    <a:bodyPr/>
                    <a:lstStyle/>
                    <a:p>
                      <a:pPr algn="l"/>
                      <a:r>
                        <a:rPr sz="1200" b="1">
                          <a:solidFill>
                            <a:srgbClr val="FFFFFF"/>
                          </a:solidFill>
                          <a:latin typeface="メイリオ"/>
                          <a:ea typeface="メイリオ"/>
                          <a:cs typeface="メイリオ"/>
                        </a:rPr>
                        <a:t>誰を拾うか</a:t>
                      </a:r>
                    </a:p>
                  </a:txBody>
                  <a:tcPr marL="43200" marR="43200" marT="18000" marB="18000" anchor="ctr">
                    <a:solidFill>
                      <a:srgbClr val="1F285A"/>
                    </a:solidFill>
                  </a:tcPr>
                </a:tc>
                <a:tc>
                  <a:txBody>
                    <a:bodyPr/>
                    <a:lstStyle/>
                    <a:p>
                      <a:pPr algn="l"/>
                      <a:r>
                        <a:rPr sz="1200" b="1">
                          <a:solidFill>
                            <a:srgbClr val="FFFFFF"/>
                          </a:solidFill>
                          <a:latin typeface="メイリオ"/>
                          <a:ea typeface="メイリオ"/>
                          <a:cs typeface="メイリオ"/>
                        </a:rPr>
                        <a:t>効くKPI</a:t>
                      </a:r>
                    </a:p>
                  </a:txBody>
                  <a:tcPr marL="43200" marR="43200" marT="18000" marB="18000" anchor="ctr">
                    <a:solidFill>
                      <a:srgbClr val="1F285A"/>
                    </a:solidFill>
                  </a:tcPr>
                </a:tc>
                <a:tc>
                  <a:txBody>
                    <a:bodyPr/>
                    <a:lstStyle/>
                    <a:p>
                      <a:pPr algn="ctr"/>
                      <a:r>
                        <a:rPr sz="1200" b="1">
                          <a:solidFill>
                            <a:srgbClr val="FFFFFF"/>
                          </a:solidFill>
                          <a:latin typeface="メイリオ"/>
                          <a:ea typeface="メイリオ"/>
                          <a:cs typeface="メイリオ"/>
                        </a:rPr>
                        <a:t>枚</a:t>
                      </a:r>
                    </a:p>
                  </a:txBody>
                  <a:tcPr marL="43200" marR="43200" marT="18000" marB="18000" anchor="ctr">
                    <a:solidFill>
                      <a:srgbClr val="1F285A"/>
                    </a:solidFill>
                  </a:tcPr>
                </a:tc>
                <a:extLst>
                  <a:ext uri="{0D108BD9-81ED-4DB2-BD59-A6C34878D82A}">
                    <a16:rowId xmlns:a16="http://schemas.microsoft.com/office/drawing/2014/main" val="10000"/>
                  </a:ext>
                </a:extLst>
              </a:tr>
              <a:tr h="244800">
                <a:tc>
                  <a:txBody>
                    <a:bodyPr/>
                    <a:lstStyle/>
                    <a:p>
                      <a:pPr algn="l"/>
                      <a:r>
                        <a:rPr sz="1200">
                          <a:solidFill>
                            <a:srgbClr val="333333"/>
                          </a:solidFill>
                          <a:latin typeface="メイリオ"/>
                          <a:ea typeface="メイリオ"/>
                          <a:cs typeface="メイリオ"/>
                        </a:rPr>
                        <a:t>同梱物QR・購入完了画面での友だち化</a:t>
                      </a:r>
                    </a:p>
                  </a:txBody>
                  <a:tcPr anchor="ctr">
                    <a:solidFill>
                      <a:srgbClr val="FFFFFF"/>
                    </a:solidFill>
                  </a:tcPr>
                </a:tc>
                <a:tc>
                  <a:txBody>
                    <a:bodyPr/>
                    <a:lstStyle/>
                    <a:p>
                      <a:pPr algn="l"/>
                      <a:r>
                        <a:rPr sz="1200">
                          <a:solidFill>
                            <a:srgbClr val="333333"/>
                          </a:solidFill>
                          <a:latin typeface="メイリオ"/>
                          <a:ea typeface="メイリオ"/>
                          <a:cs typeface="メイリオ"/>
                        </a:rPr>
                        <a:t>初回購入者（未友だち）</a:t>
                      </a:r>
                    </a:p>
                  </a:txBody>
                  <a:tcPr anchor="ctr">
                    <a:solidFill>
                      <a:srgbClr val="FFFFFF"/>
                    </a:solidFill>
                  </a:tcPr>
                </a:tc>
                <a:tc>
                  <a:txBody>
                    <a:bodyPr/>
                    <a:lstStyle/>
                    <a:p>
                      <a:pPr algn="l"/>
                      <a:r>
                        <a:rPr sz="1200">
                          <a:solidFill>
                            <a:srgbClr val="333333"/>
                          </a:solidFill>
                          <a:latin typeface="メイリオ"/>
                          <a:ea typeface="メイリオ"/>
                          <a:cs typeface="メイリオ"/>
                        </a:rPr>
                        <a:t>全段の前提</a:t>
                      </a:r>
                    </a:p>
                  </a:txBody>
                  <a:tcPr anchor="ctr">
                    <a:solidFill>
                      <a:srgbClr val="FFFFFF"/>
                    </a:solidFill>
                  </a:tcPr>
                </a:tc>
                <a:tc>
                  <a:txBody>
                    <a:bodyPr/>
                    <a:lstStyle/>
                    <a:p>
                      <a:pPr algn="ctr"/>
                      <a:r>
                        <a:rPr sz="1200">
                          <a:solidFill>
                            <a:srgbClr val="333333"/>
                          </a:solidFill>
                          <a:latin typeface="メイリオ"/>
                          <a:ea typeface="メイリオ"/>
                          <a:cs typeface="メイリオ"/>
                        </a:rPr>
                        <a:t>P39</a:t>
                      </a:r>
                    </a:p>
                  </a:txBody>
                  <a:tcPr anchor="ctr">
                    <a:solidFill>
                      <a:srgbClr val="FFFFFF"/>
                    </a:solidFill>
                  </a:tcPr>
                </a:tc>
                <a:extLst>
                  <a:ext uri="{0D108BD9-81ED-4DB2-BD59-A6C34878D82A}">
                    <a16:rowId xmlns:a16="http://schemas.microsoft.com/office/drawing/2014/main" val="10001"/>
                  </a:ext>
                </a:extLst>
              </a:tr>
              <a:tr h="244800">
                <a:tc>
                  <a:txBody>
                    <a:bodyPr/>
                    <a:lstStyle/>
                    <a:p>
                      <a:pPr algn="l"/>
                      <a:r>
                        <a:rPr sz="1200">
                          <a:solidFill>
                            <a:srgbClr val="333333"/>
                          </a:solidFill>
                          <a:latin typeface="メイリオ"/>
                          <a:ea typeface="メイリオ"/>
                          <a:cs typeface="メイリオ"/>
                        </a:rPr>
                        <a:t>あいさつ＋初期アンケート</a:t>
                      </a:r>
                    </a:p>
                  </a:txBody>
                  <a:tcPr anchor="ctr">
                    <a:solidFill>
                      <a:srgbClr val="F4F7FF"/>
                    </a:solidFill>
                  </a:tcPr>
                </a:tc>
                <a:tc>
                  <a:txBody>
                    <a:bodyPr/>
                    <a:lstStyle/>
                    <a:p>
                      <a:pPr algn="l"/>
                      <a:r>
                        <a:rPr sz="1200">
                          <a:solidFill>
                            <a:srgbClr val="333333"/>
                          </a:solidFill>
                          <a:latin typeface="メイリオ"/>
                          <a:ea typeface="メイリオ"/>
                          <a:cs typeface="メイリオ"/>
                        </a:rPr>
                        <a:t>友だち追加直後</a:t>
                      </a:r>
                    </a:p>
                  </a:txBody>
                  <a:tcPr anchor="ctr">
                    <a:solidFill>
                      <a:srgbClr val="F4F7FF"/>
                    </a:solidFill>
                  </a:tcPr>
                </a:tc>
                <a:tc>
                  <a:txBody>
                    <a:bodyPr/>
                    <a:lstStyle/>
                    <a:p>
                      <a:pPr algn="l"/>
                      <a:r>
                        <a:rPr sz="1200">
                          <a:solidFill>
                            <a:srgbClr val="333333"/>
                          </a:solidFill>
                          <a:latin typeface="メイリオ"/>
                          <a:ea typeface="メイリオ"/>
                          <a:cs typeface="メイリオ"/>
                        </a:rPr>
                        <a:t>タグ設計の起点</a:t>
                      </a:r>
                    </a:p>
                  </a:txBody>
                  <a:tcPr anchor="ctr">
                    <a:solidFill>
                      <a:srgbClr val="F4F7FF"/>
                    </a:solidFill>
                  </a:tcPr>
                </a:tc>
                <a:tc>
                  <a:txBody>
                    <a:bodyPr/>
                    <a:lstStyle/>
                    <a:p>
                      <a:pPr algn="ctr"/>
                      <a:r>
                        <a:rPr sz="1200">
                          <a:solidFill>
                            <a:srgbClr val="333333"/>
                          </a:solidFill>
                          <a:latin typeface="メイリオ"/>
                          <a:ea typeface="メイリオ"/>
                          <a:cs typeface="メイリオ"/>
                        </a:rPr>
                        <a:t>P40〜P41</a:t>
                      </a:r>
                    </a:p>
                  </a:txBody>
                  <a:tcPr anchor="ctr">
                    <a:solidFill>
                      <a:srgbClr val="F4F7FF"/>
                    </a:solidFill>
                  </a:tcPr>
                </a:tc>
                <a:extLst>
                  <a:ext uri="{0D108BD9-81ED-4DB2-BD59-A6C34878D82A}">
                    <a16:rowId xmlns:a16="http://schemas.microsoft.com/office/drawing/2014/main" val="10002"/>
                  </a:ext>
                </a:extLst>
              </a:tr>
              <a:tr h="244800">
                <a:tc>
                  <a:txBody>
                    <a:bodyPr/>
                    <a:lstStyle/>
                    <a:p>
                      <a:pPr algn="l"/>
                      <a:r>
                        <a:rPr sz="1200">
                          <a:solidFill>
                            <a:srgbClr val="333333"/>
                          </a:solidFill>
                          <a:latin typeface="メイリオ"/>
                          <a:ea typeface="メイリオ"/>
                          <a:cs typeface="メイリオ"/>
                        </a:rPr>
                        <a:t>LINE ID連携</a:t>
                      </a:r>
                    </a:p>
                  </a:txBody>
                  <a:tcPr anchor="ctr">
                    <a:solidFill>
                      <a:srgbClr val="FFFFFF"/>
                    </a:solidFill>
                  </a:tcPr>
                </a:tc>
                <a:tc>
                  <a:txBody>
                    <a:bodyPr/>
                    <a:lstStyle/>
                    <a:p>
                      <a:pPr algn="l"/>
                      <a:r>
                        <a:rPr sz="1200">
                          <a:solidFill>
                            <a:srgbClr val="333333"/>
                          </a:solidFill>
                          <a:latin typeface="メイリオ"/>
                          <a:ea typeface="メイリオ"/>
                          <a:cs typeface="メイリオ"/>
                        </a:rPr>
                        <a:t>全員（定期ステータスの取得）</a:t>
                      </a:r>
                    </a:p>
                  </a:txBody>
                  <a:tcPr anchor="ctr">
                    <a:solidFill>
                      <a:srgbClr val="FFFFFF"/>
                    </a:solidFill>
                  </a:tcPr>
                </a:tc>
                <a:tc>
                  <a:txBody>
                    <a:bodyPr/>
                    <a:lstStyle/>
                    <a:p>
                      <a:pPr algn="l"/>
                      <a:r>
                        <a:rPr sz="1200">
                          <a:solidFill>
                            <a:srgbClr val="333333"/>
                          </a:solidFill>
                          <a:latin typeface="メイリオ"/>
                          <a:ea typeface="メイリオ"/>
                          <a:cs typeface="メイリオ"/>
                        </a:rPr>
                        <a:t>★以降すべての前提</a:t>
                      </a:r>
                    </a:p>
                  </a:txBody>
                  <a:tcPr anchor="ctr">
                    <a:solidFill>
                      <a:srgbClr val="FFFFFF"/>
                    </a:solidFill>
                  </a:tcPr>
                </a:tc>
                <a:tc>
                  <a:txBody>
                    <a:bodyPr/>
                    <a:lstStyle/>
                    <a:p>
                      <a:pPr algn="ctr"/>
                      <a:r>
                        <a:rPr sz="1200">
                          <a:solidFill>
                            <a:srgbClr val="333333"/>
                          </a:solidFill>
                          <a:latin typeface="メイリオ"/>
                          <a:ea typeface="メイリオ"/>
                          <a:cs typeface="メイリオ"/>
                        </a:rPr>
                        <a:t>P43</a:t>
                      </a:r>
                    </a:p>
                  </a:txBody>
                  <a:tcPr anchor="ctr">
                    <a:solidFill>
                      <a:srgbClr val="FFFFFF"/>
                    </a:solidFill>
                  </a:tcPr>
                </a:tc>
                <a:extLst>
                  <a:ext uri="{0D108BD9-81ED-4DB2-BD59-A6C34878D82A}">
                    <a16:rowId xmlns:a16="http://schemas.microsoft.com/office/drawing/2014/main" val="10003"/>
                  </a:ext>
                </a:extLst>
              </a:tr>
              <a:tr h="244800">
                <a:tc>
                  <a:txBody>
                    <a:bodyPr/>
                    <a:lstStyle/>
                    <a:p>
                      <a:pPr algn="l"/>
                      <a:r>
                        <a:rPr sz="1200">
                          <a:solidFill>
                            <a:srgbClr val="333333"/>
                          </a:solidFill>
                          <a:latin typeface="メイリオ"/>
                          <a:ea typeface="メイリオ"/>
                          <a:cs typeface="メイリオ"/>
                        </a:rPr>
                        <a:t>使用フォロー配信</a:t>
                      </a:r>
                    </a:p>
                  </a:txBody>
                  <a:tcPr anchor="ctr">
                    <a:solidFill>
                      <a:srgbClr val="F4F7FF"/>
                    </a:solidFill>
                  </a:tcPr>
                </a:tc>
                <a:tc>
                  <a:txBody>
                    <a:bodyPr/>
                    <a:lstStyle/>
                    <a:p>
                      <a:pPr algn="l"/>
                      <a:r>
                        <a:rPr sz="1200">
                          <a:solidFill>
                            <a:srgbClr val="333333"/>
                          </a:solidFill>
                          <a:latin typeface="メイリオ"/>
                          <a:ea typeface="メイリオ"/>
                          <a:cs typeface="メイリオ"/>
                        </a:rPr>
                        <a:t>使い始めで不安になっている人</a:t>
                      </a:r>
                    </a:p>
                  </a:txBody>
                  <a:tcPr anchor="ctr">
                    <a:solidFill>
                      <a:srgbClr val="F4F7FF"/>
                    </a:solidFill>
                  </a:tcPr>
                </a:tc>
                <a:tc>
                  <a:txBody>
                    <a:bodyPr/>
                    <a:lstStyle/>
                    <a:p>
                      <a:pPr algn="l"/>
                      <a:r>
                        <a:rPr sz="1200">
                          <a:solidFill>
                            <a:srgbClr val="333333"/>
                          </a:solidFill>
                          <a:latin typeface="メイリオ"/>
                          <a:ea typeface="メイリオ"/>
                          <a:cs typeface="メイリオ"/>
                        </a:rPr>
                        <a:t>F2転換率</a:t>
                      </a:r>
                    </a:p>
                  </a:txBody>
                  <a:tcPr anchor="ctr">
                    <a:solidFill>
                      <a:srgbClr val="F4F7FF"/>
                    </a:solidFill>
                  </a:tcPr>
                </a:tc>
                <a:tc>
                  <a:txBody>
                    <a:bodyPr/>
                    <a:lstStyle/>
                    <a:p>
                      <a:pPr algn="ctr"/>
                      <a:r>
                        <a:rPr sz="1200">
                          <a:solidFill>
                            <a:srgbClr val="333333"/>
                          </a:solidFill>
                          <a:latin typeface="メイリオ"/>
                          <a:ea typeface="メイリオ"/>
                          <a:cs typeface="メイリオ"/>
                        </a:rPr>
                        <a:t>P45</a:t>
                      </a:r>
                    </a:p>
                  </a:txBody>
                  <a:tcPr anchor="ctr">
                    <a:solidFill>
                      <a:srgbClr val="F4F7FF"/>
                    </a:solidFill>
                  </a:tcPr>
                </a:tc>
                <a:extLst>
                  <a:ext uri="{0D108BD9-81ED-4DB2-BD59-A6C34878D82A}">
                    <a16:rowId xmlns:a16="http://schemas.microsoft.com/office/drawing/2014/main" val="10004"/>
                  </a:ext>
                </a:extLst>
              </a:tr>
              <a:tr h="244800">
                <a:tc>
                  <a:txBody>
                    <a:bodyPr/>
                    <a:lstStyle/>
                    <a:p>
                      <a:pPr algn="l"/>
                      <a:r>
                        <a:rPr sz="1200">
                          <a:solidFill>
                            <a:srgbClr val="333333"/>
                          </a:solidFill>
                          <a:latin typeface="メイリオ"/>
                          <a:ea typeface="メイリオ"/>
                          <a:cs typeface="メイリオ"/>
                        </a:rPr>
                        <a:t>F2オファー（消費サイクル連動）</a:t>
                      </a:r>
                    </a:p>
                  </a:txBody>
                  <a:tcPr anchor="ctr">
                    <a:solidFill>
                      <a:srgbClr val="FFFFFF"/>
                    </a:solidFill>
                  </a:tcPr>
                </a:tc>
                <a:tc>
                  <a:txBody>
                    <a:bodyPr/>
                    <a:lstStyle/>
                    <a:p>
                      <a:pPr algn="l"/>
                      <a:r>
                        <a:rPr sz="1200">
                          <a:solidFill>
                            <a:srgbClr val="333333"/>
                          </a:solidFill>
                          <a:latin typeface="メイリオ"/>
                          <a:ea typeface="メイリオ"/>
                          <a:cs typeface="メイリオ"/>
                        </a:rPr>
                        <a:t>そろそろ無くなる人</a:t>
                      </a:r>
                    </a:p>
                  </a:txBody>
                  <a:tcPr anchor="ctr">
                    <a:solidFill>
                      <a:srgbClr val="FFFFFF"/>
                    </a:solidFill>
                  </a:tcPr>
                </a:tc>
                <a:tc>
                  <a:txBody>
                    <a:bodyPr/>
                    <a:lstStyle/>
                    <a:p>
                      <a:pPr algn="l"/>
                      <a:r>
                        <a:rPr sz="1200">
                          <a:solidFill>
                            <a:srgbClr val="333333"/>
                          </a:solidFill>
                          <a:latin typeface="メイリオ"/>
                          <a:ea typeface="メイリオ"/>
                          <a:cs typeface="メイリオ"/>
                        </a:rPr>
                        <a:t>★F2転換率</a:t>
                      </a:r>
                    </a:p>
                  </a:txBody>
                  <a:tcPr anchor="ctr">
                    <a:solidFill>
                      <a:srgbClr val="FFFFFF"/>
                    </a:solidFill>
                  </a:tcPr>
                </a:tc>
                <a:tc>
                  <a:txBody>
                    <a:bodyPr/>
                    <a:lstStyle/>
                    <a:p>
                      <a:pPr algn="ctr"/>
                      <a:r>
                        <a:rPr sz="1200">
                          <a:solidFill>
                            <a:srgbClr val="333333"/>
                          </a:solidFill>
                          <a:latin typeface="メイリオ"/>
                          <a:ea typeface="メイリオ"/>
                          <a:cs typeface="メイリオ"/>
                        </a:rPr>
                        <a:t>P45</a:t>
                      </a:r>
                    </a:p>
                  </a:txBody>
                  <a:tcPr anchor="ctr">
                    <a:solidFill>
                      <a:srgbClr val="FFFFFF"/>
                    </a:solidFill>
                  </a:tcPr>
                </a:tc>
                <a:extLst>
                  <a:ext uri="{0D108BD9-81ED-4DB2-BD59-A6C34878D82A}">
                    <a16:rowId xmlns:a16="http://schemas.microsoft.com/office/drawing/2014/main" val="10005"/>
                  </a:ext>
                </a:extLst>
              </a:tr>
              <a:tr h="244800">
                <a:tc>
                  <a:txBody>
                    <a:bodyPr/>
                    <a:lstStyle/>
                    <a:p>
                      <a:pPr algn="l"/>
                      <a:r>
                        <a:rPr sz="1200">
                          <a:solidFill>
                            <a:srgbClr val="333333"/>
                          </a:solidFill>
                          <a:latin typeface="メイリオ"/>
                          <a:ea typeface="メイリオ"/>
                          <a:cs typeface="メイリオ"/>
                        </a:rPr>
                        <a:t>次回発送前フォロー（スキップ提示）</a:t>
                      </a:r>
                    </a:p>
                  </a:txBody>
                  <a:tcPr anchor="ctr">
                    <a:solidFill>
                      <a:srgbClr val="F4F7FF"/>
                    </a:solidFill>
                  </a:tcPr>
                </a:tc>
                <a:tc>
                  <a:txBody>
                    <a:bodyPr/>
                    <a:lstStyle/>
                    <a:p>
                      <a:pPr algn="l"/>
                      <a:r>
                        <a:rPr sz="1200">
                          <a:solidFill>
                            <a:srgbClr val="333333"/>
                          </a:solidFill>
                          <a:latin typeface="メイリオ"/>
                          <a:ea typeface="メイリオ"/>
                          <a:cs typeface="メイリオ"/>
                        </a:rPr>
                        <a:t>定期継続中の人</a:t>
                      </a:r>
                    </a:p>
                  </a:txBody>
                  <a:tcPr anchor="ctr">
                    <a:solidFill>
                      <a:srgbClr val="F4F7FF"/>
                    </a:solidFill>
                  </a:tcPr>
                </a:tc>
                <a:tc>
                  <a:txBody>
                    <a:bodyPr/>
                    <a:lstStyle/>
                    <a:p>
                      <a:pPr algn="l"/>
                      <a:r>
                        <a:rPr sz="1200">
                          <a:solidFill>
                            <a:srgbClr val="333333"/>
                          </a:solidFill>
                          <a:latin typeface="メイリオ"/>
                          <a:ea typeface="メイリオ"/>
                          <a:cs typeface="メイリオ"/>
                        </a:rPr>
                        <a:t>★月次解約率</a:t>
                      </a:r>
                    </a:p>
                  </a:txBody>
                  <a:tcPr anchor="ctr">
                    <a:solidFill>
                      <a:srgbClr val="F4F7FF"/>
                    </a:solidFill>
                  </a:tcPr>
                </a:tc>
                <a:tc>
                  <a:txBody>
                    <a:bodyPr/>
                    <a:lstStyle/>
                    <a:p>
                      <a:pPr algn="ctr"/>
                      <a:r>
                        <a:rPr sz="1200">
                          <a:solidFill>
                            <a:srgbClr val="333333"/>
                          </a:solidFill>
                          <a:latin typeface="メイリオ"/>
                          <a:ea typeface="メイリオ"/>
                          <a:cs typeface="メイリオ"/>
                        </a:rPr>
                        <a:t>P46</a:t>
                      </a:r>
                    </a:p>
                  </a:txBody>
                  <a:tcPr anchor="ctr">
                    <a:solidFill>
                      <a:srgbClr val="F4F7FF"/>
                    </a:solidFill>
                  </a:tcPr>
                </a:tc>
                <a:extLst>
                  <a:ext uri="{0D108BD9-81ED-4DB2-BD59-A6C34878D82A}">
                    <a16:rowId xmlns:a16="http://schemas.microsoft.com/office/drawing/2014/main" val="10006"/>
                  </a:ext>
                </a:extLst>
              </a:tr>
              <a:tr h="244800">
                <a:tc>
                  <a:txBody>
                    <a:bodyPr/>
                    <a:lstStyle/>
                    <a:p>
                      <a:pPr algn="l"/>
                      <a:r>
                        <a:rPr sz="1200">
                          <a:solidFill>
                            <a:srgbClr val="333333"/>
                          </a:solidFill>
                          <a:latin typeface="メイリオ"/>
                          <a:ea typeface="メイリオ"/>
                          <a:cs typeface="メイリオ"/>
                        </a:rPr>
                        <a:t>解約シナリオ</a:t>
                      </a:r>
                    </a:p>
                  </a:txBody>
                  <a:tcPr anchor="ctr">
                    <a:solidFill>
                      <a:srgbClr val="FFFFFF"/>
                    </a:solidFill>
                  </a:tcPr>
                </a:tc>
                <a:tc>
                  <a:txBody>
                    <a:bodyPr/>
                    <a:lstStyle/>
                    <a:p>
                      <a:pPr algn="l"/>
                      <a:r>
                        <a:rPr sz="1200">
                          <a:solidFill>
                            <a:srgbClr val="333333"/>
                          </a:solidFill>
                          <a:latin typeface="メイリオ"/>
                          <a:ea typeface="メイリオ"/>
                          <a:cs typeface="メイリオ"/>
                        </a:rPr>
                        <a:t>解約を考えている人</a:t>
                      </a:r>
                    </a:p>
                  </a:txBody>
                  <a:tcPr anchor="ctr">
                    <a:solidFill>
                      <a:srgbClr val="FFFFFF"/>
                    </a:solidFill>
                  </a:tcPr>
                </a:tc>
                <a:tc>
                  <a:txBody>
                    <a:bodyPr/>
                    <a:lstStyle/>
                    <a:p>
                      <a:pPr algn="l"/>
                      <a:r>
                        <a:rPr sz="1200">
                          <a:solidFill>
                            <a:srgbClr val="333333"/>
                          </a:solidFill>
                          <a:latin typeface="メイリオ"/>
                          <a:ea typeface="メイリオ"/>
                          <a:cs typeface="メイリオ"/>
                        </a:rPr>
                        <a:t>★月次解約率</a:t>
                      </a:r>
                    </a:p>
                  </a:txBody>
                  <a:tcPr anchor="ctr">
                    <a:solidFill>
                      <a:srgbClr val="FFFFFF"/>
                    </a:solidFill>
                  </a:tcPr>
                </a:tc>
                <a:tc>
                  <a:txBody>
                    <a:bodyPr/>
                    <a:lstStyle/>
                    <a:p>
                      <a:pPr algn="ctr"/>
                      <a:r>
                        <a:rPr sz="1200">
                          <a:solidFill>
                            <a:srgbClr val="333333"/>
                          </a:solidFill>
                          <a:latin typeface="メイリオ"/>
                          <a:ea typeface="メイリオ"/>
                          <a:cs typeface="メイリオ"/>
                        </a:rPr>
                        <a:t>P47</a:t>
                      </a:r>
                    </a:p>
                  </a:txBody>
                  <a:tcPr anchor="ctr">
                    <a:solidFill>
                      <a:srgbClr val="FFFFFF"/>
                    </a:solidFill>
                  </a:tcPr>
                </a:tc>
                <a:extLst>
                  <a:ext uri="{0D108BD9-81ED-4DB2-BD59-A6C34878D82A}">
                    <a16:rowId xmlns:a16="http://schemas.microsoft.com/office/drawing/2014/main" val="10007"/>
                  </a:ext>
                </a:extLst>
              </a:tr>
              <a:tr h="244800">
                <a:tc>
                  <a:txBody>
                    <a:bodyPr/>
                    <a:lstStyle/>
                    <a:p>
                      <a:pPr algn="l"/>
                      <a:r>
                        <a:rPr sz="1200">
                          <a:solidFill>
                            <a:srgbClr val="333333"/>
                          </a:solidFill>
                          <a:latin typeface="メイリオ"/>
                          <a:ea typeface="メイリオ"/>
                          <a:cs typeface="メイリオ"/>
                        </a:rPr>
                        <a:t>休眠掘り起こし</a:t>
                      </a:r>
                    </a:p>
                  </a:txBody>
                  <a:tcPr anchor="ctr">
                    <a:solidFill>
                      <a:srgbClr val="F4F7FF"/>
                    </a:solidFill>
                  </a:tcPr>
                </a:tc>
                <a:tc>
                  <a:txBody>
                    <a:bodyPr/>
                    <a:lstStyle/>
                    <a:p>
                      <a:pPr algn="l"/>
                      <a:r>
                        <a:rPr sz="1200">
                          <a:solidFill>
                            <a:srgbClr val="333333"/>
                          </a:solidFill>
                          <a:latin typeface="メイリオ"/>
                          <a:ea typeface="メイリオ"/>
                          <a:cs typeface="メイリオ"/>
                        </a:rPr>
                        <a:t>解約後・離脱後の人</a:t>
                      </a:r>
                    </a:p>
                  </a:txBody>
                  <a:tcPr anchor="ctr">
                    <a:solidFill>
                      <a:srgbClr val="F4F7FF"/>
                    </a:solidFill>
                  </a:tcPr>
                </a:tc>
                <a:tc>
                  <a:txBody>
                    <a:bodyPr/>
                    <a:lstStyle/>
                    <a:p>
                      <a:pPr algn="l"/>
                      <a:r>
                        <a:rPr sz="1200">
                          <a:solidFill>
                            <a:srgbClr val="333333"/>
                          </a:solidFill>
                          <a:latin typeface="メイリオ"/>
                          <a:ea typeface="メイリオ"/>
                          <a:cs typeface="メイリオ"/>
                        </a:rPr>
                        <a:t>LTV</a:t>
                      </a:r>
                    </a:p>
                  </a:txBody>
                  <a:tcPr anchor="ctr">
                    <a:solidFill>
                      <a:srgbClr val="F4F7FF"/>
                    </a:solidFill>
                  </a:tcPr>
                </a:tc>
                <a:tc>
                  <a:txBody>
                    <a:bodyPr/>
                    <a:lstStyle/>
                    <a:p>
                      <a:pPr algn="ctr"/>
                      <a:r>
                        <a:rPr sz="1200">
                          <a:solidFill>
                            <a:srgbClr val="333333"/>
                          </a:solidFill>
                          <a:latin typeface="メイリオ"/>
                          <a:ea typeface="メイリオ"/>
                          <a:cs typeface="メイリオ"/>
                        </a:rPr>
                        <a:t>P50</a:t>
                      </a:r>
                    </a:p>
                  </a:txBody>
                  <a:tcPr anchor="ctr">
                    <a:solidFill>
                      <a:srgbClr val="F4F7FF"/>
                    </a:solidFill>
                  </a:tcPr>
                </a:tc>
                <a:extLst>
                  <a:ext uri="{0D108BD9-81ED-4DB2-BD59-A6C34878D82A}">
                    <a16:rowId xmlns:a16="http://schemas.microsoft.com/office/drawing/2014/main" val="10008"/>
                  </a:ext>
                </a:extLst>
              </a:tr>
            </a:tbl>
          </a:graphicData>
        </a:graphic>
      </p:graphicFrame>
      <p:sp>
        <p:nvSpPr>
          <p:cNvPr id="6" name="Rounded Rectangle 5"/>
          <p:cNvSpPr/>
          <p:nvPr/>
        </p:nvSpPr>
        <p:spPr>
          <a:xfrm>
            <a:off x="432000" y="4103999"/>
            <a:ext cx="9043200" cy="154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999" y="4231275"/>
            <a:ext cx="8611200" cy="1293451"/>
          </a:xfrm>
          <a:prstGeom prst="rect">
            <a:avLst/>
          </a:prstGeom>
          <a:noFill/>
        </p:spPr>
        <p:txBody>
          <a:bodyPr wrap="square" lIns="50400" tIns="21600" rIns="50400" bIns="21600" anchor="ctr">
            <a:spAutoFit/>
          </a:bodyPr>
          <a:lstStyle/>
          <a:p>
            <a:pPr algn="l">
              <a:spcAft>
                <a:spcPts val="600"/>
              </a:spcAft>
            </a:pPr>
            <a:r>
              <a:rPr sz="1600" b="1">
                <a:solidFill>
                  <a:srgbClr val="ED7D31"/>
                </a:solidFill>
                <a:latin typeface="メイリオ"/>
                <a:ea typeface="メイリオ"/>
                <a:cs typeface="メイリオ"/>
              </a:rPr>
              <a:t>対策領域は2つだけ</a:t>
            </a:r>
          </a:p>
          <a:p>
            <a:pPr algn="l">
              <a:lnSpc>
                <a:spcPct val="130000"/>
              </a:lnSpc>
              <a:spcAft>
                <a:spcPts val="400"/>
              </a:spcAft>
            </a:pPr>
            <a:r>
              <a:rPr sz="1400" b="1">
                <a:solidFill>
                  <a:srgbClr val="FFFFFF"/>
                </a:solidFill>
                <a:latin typeface="メイリオ"/>
                <a:ea typeface="メイリオ"/>
                <a:cs typeface="メイリオ"/>
              </a:rPr>
              <a:t>① 買った直後〜F2まで（効果実感の伴走とタイミング）　→ F2転換率</a:t>
            </a:r>
          </a:p>
          <a:p>
            <a:pPr algn="l">
              <a:lnSpc>
                <a:spcPct val="130000"/>
              </a:lnSpc>
              <a:spcAft>
                <a:spcPts val="400"/>
              </a:spcAft>
            </a:pPr>
            <a:r>
              <a:rPr sz="1400" b="1">
                <a:solidFill>
                  <a:srgbClr val="FFFFFF"/>
                </a:solidFill>
                <a:latin typeface="メイリオ"/>
                <a:ea typeface="メイリオ"/>
                <a:cs typeface="メイリオ"/>
              </a:rPr>
              <a:t>② 定期継続中〜解約検討（選択肢を先に出す）　→ 月次解約率</a:t>
            </a:r>
          </a:p>
          <a:p>
            <a:pPr algn="l">
              <a:lnSpc>
                <a:spcPct val="130000"/>
              </a:lnSpc>
            </a:pPr>
            <a:r>
              <a:rPr sz="1400">
                <a:solidFill>
                  <a:srgbClr val="FFFFFF"/>
                </a:solidFill>
                <a:latin typeface="メイリオ"/>
                <a:ea typeface="メイリオ"/>
                <a:cs typeface="メイリオ"/>
              </a:rPr>
              <a:t>広告・LP・商品には一切触れない。</a:t>
            </a:r>
          </a:p>
        </p:txBody>
      </p:sp>
      <p:sp>
        <p:nvSpPr>
          <p:cNvPr id="8" name="TextBox 7"/>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意見｜離脱防止＝未CV者を軽いCVへ、サンクス系＝CV済み者を重いCVへ、の対応で設計している</a:t>
            </a:r>
          </a:p>
        </p:txBody>
      </p:sp>
    </p:spTree>
    <p:extLst>
      <p:ext uri="{BB962C8B-B14F-4D97-AF65-F5344CB8AC3E}">
        <p14:creationId xmlns:p14="http://schemas.microsoft.com/office/powerpoint/2010/main" val="4224870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F09D0-C3F8-FF51-9B68-5792A11B6744}"/>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全体設計③｜施策展開図（初期構築と月次運用）</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初期に「基盤」を作り、月次で「回す」。基盤が無いと月次が打てない。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4340736" cy="201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57999" y="1673078"/>
            <a:ext cx="4088736"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初期構築（1〜2ヶ月目）</a:t>
            </a:r>
          </a:p>
        </p:txBody>
      </p:sp>
      <p:sp>
        <p:nvSpPr>
          <p:cNvPr id="7" name="TextBox 6"/>
          <p:cNvSpPr txBox="1"/>
          <p:nvPr/>
        </p:nvSpPr>
        <p:spPr>
          <a:xfrm>
            <a:off x="557999" y="1992268"/>
            <a:ext cx="4088736"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・アカウント開設・プロフィール整備</a:t>
            </a:r>
          </a:p>
        </p:txBody>
      </p:sp>
      <p:sp>
        <p:nvSpPr>
          <p:cNvPr id="8" name="TextBox 7"/>
          <p:cNvSpPr txBox="1"/>
          <p:nvPr/>
        </p:nvSpPr>
        <p:spPr>
          <a:xfrm>
            <a:off x="557999" y="2262269"/>
            <a:ext cx="4088736" cy="299461"/>
          </a:xfrm>
          <a:prstGeom prst="rect">
            <a:avLst/>
          </a:prstGeom>
          <a:noFill/>
        </p:spPr>
        <p:txBody>
          <a:bodyPr wrap="square" lIns="50400" tIns="21600" rIns="50400" bIns="21600" anchor="ctr">
            <a:spAutoFit/>
          </a:bodyPr>
          <a:lstStyle/>
          <a:p>
            <a:pPr algn="l">
              <a:lnSpc>
                <a:spcPct val="125000"/>
              </a:lnSpc>
            </a:pPr>
            <a:r>
              <a:rPr sz="1400" b="1">
                <a:solidFill>
                  <a:srgbClr val="ED7D31"/>
                </a:solidFill>
                <a:latin typeface="メイリオ"/>
                <a:ea typeface="メイリオ"/>
                <a:cs typeface="メイリオ"/>
              </a:rPr>
              <a:t>・★LINE ID連携（購買・定期ステータス）</a:t>
            </a:r>
          </a:p>
        </p:txBody>
      </p:sp>
      <p:sp>
        <p:nvSpPr>
          <p:cNvPr id="9" name="TextBox 8"/>
          <p:cNvSpPr txBox="1"/>
          <p:nvPr/>
        </p:nvSpPr>
        <p:spPr>
          <a:xfrm>
            <a:off x="557999" y="2532269"/>
            <a:ext cx="4088736"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・同梱物QR・購入完了画面の導線設置</a:t>
            </a:r>
          </a:p>
        </p:txBody>
      </p:sp>
      <p:sp>
        <p:nvSpPr>
          <p:cNvPr id="10" name="TextBox 9"/>
          <p:cNvSpPr txBox="1"/>
          <p:nvPr/>
        </p:nvSpPr>
        <p:spPr>
          <a:xfrm>
            <a:off x="557999" y="2811406"/>
            <a:ext cx="4088736" cy="281187"/>
          </a:xfrm>
          <a:prstGeom prst="rect">
            <a:avLst/>
          </a:prstGeom>
          <a:noFill/>
        </p:spPr>
        <p:txBody>
          <a:bodyPr wrap="square" lIns="50400" tIns="21600" rIns="50400" bIns="21600" anchor="ctr">
            <a:spAutoFit/>
          </a:bodyPr>
          <a:lstStyle/>
          <a:p>
            <a:pPr algn="l">
              <a:lnSpc>
                <a:spcPct val="125000"/>
              </a:lnSpc>
            </a:pPr>
            <a:r>
              <a:rPr sz="1300">
                <a:solidFill>
                  <a:srgbClr val="333333"/>
                </a:solidFill>
                <a:latin typeface="メイリオ"/>
                <a:ea typeface="メイリオ"/>
                <a:cs typeface="メイリオ"/>
              </a:rPr>
              <a:t>・あいさつメッセージ／初期アンケート</a:t>
            </a:r>
          </a:p>
        </p:txBody>
      </p:sp>
      <p:sp>
        <p:nvSpPr>
          <p:cNvPr id="11" name="TextBox 10"/>
          <p:cNvSpPr txBox="1"/>
          <p:nvPr/>
        </p:nvSpPr>
        <p:spPr>
          <a:xfrm>
            <a:off x="557999" y="3081406"/>
            <a:ext cx="4088736" cy="281187"/>
          </a:xfrm>
          <a:prstGeom prst="rect">
            <a:avLst/>
          </a:prstGeom>
          <a:noFill/>
        </p:spPr>
        <p:txBody>
          <a:bodyPr wrap="square" lIns="50400" tIns="21600" rIns="50400" bIns="21600" anchor="ctr">
            <a:spAutoFit/>
          </a:bodyPr>
          <a:lstStyle/>
          <a:p>
            <a:pPr algn="l">
              <a:lnSpc>
                <a:spcPct val="125000"/>
              </a:lnSpc>
            </a:pPr>
            <a:r>
              <a:rPr sz="1300">
                <a:solidFill>
                  <a:srgbClr val="333333"/>
                </a:solidFill>
                <a:latin typeface="メイリオ"/>
                <a:ea typeface="メイリオ"/>
                <a:cs typeface="メイリオ"/>
              </a:rPr>
              <a:t>・リッチメニュー3タブ（解約・休止の枠を含む）</a:t>
            </a:r>
          </a:p>
        </p:txBody>
      </p:sp>
      <p:sp>
        <p:nvSpPr>
          <p:cNvPr id="12" name="TextBox 11"/>
          <p:cNvSpPr txBox="1"/>
          <p:nvPr/>
        </p:nvSpPr>
        <p:spPr>
          <a:xfrm>
            <a:off x="557999" y="3351406"/>
            <a:ext cx="4088736" cy="281187"/>
          </a:xfrm>
          <a:prstGeom prst="rect">
            <a:avLst/>
          </a:prstGeom>
          <a:noFill/>
        </p:spPr>
        <p:txBody>
          <a:bodyPr wrap="square" lIns="50400" tIns="21600" rIns="50400" bIns="21600" anchor="ctr">
            <a:spAutoFit/>
          </a:bodyPr>
          <a:lstStyle/>
          <a:p>
            <a:pPr algn="l">
              <a:lnSpc>
                <a:spcPct val="125000"/>
              </a:lnSpc>
            </a:pPr>
            <a:r>
              <a:rPr sz="1300">
                <a:solidFill>
                  <a:srgbClr val="333333"/>
                </a:solidFill>
                <a:latin typeface="メイリオ"/>
                <a:ea typeface="メイリオ"/>
                <a:cs typeface="メイリオ"/>
              </a:rPr>
              <a:t>・シナリオ3本の設計と実装</a:t>
            </a:r>
          </a:p>
        </p:txBody>
      </p:sp>
      <p:sp>
        <p:nvSpPr>
          <p:cNvPr id="13" name="Rounded Rectangle 12"/>
          <p:cNvSpPr/>
          <p:nvPr/>
        </p:nvSpPr>
        <p:spPr>
          <a:xfrm>
            <a:off x="4880736" y="1620000"/>
            <a:ext cx="4594464" cy="201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06736" y="1673078"/>
            <a:ext cx="4360464"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月次運用（3ヶ月目〜）</a:t>
            </a:r>
          </a:p>
        </p:txBody>
      </p:sp>
      <p:sp>
        <p:nvSpPr>
          <p:cNvPr id="15" name="TextBox 14"/>
          <p:cNvSpPr txBox="1"/>
          <p:nvPr/>
        </p:nvSpPr>
        <p:spPr>
          <a:xfrm>
            <a:off x="5006736" y="1992268"/>
            <a:ext cx="4360464"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・企画投稿（季節・成分・使い方）</a:t>
            </a:r>
          </a:p>
        </p:txBody>
      </p:sp>
      <p:sp>
        <p:nvSpPr>
          <p:cNvPr id="16" name="TextBox 15"/>
          <p:cNvSpPr txBox="1"/>
          <p:nvPr/>
        </p:nvSpPr>
        <p:spPr>
          <a:xfrm>
            <a:off x="5006736" y="2262269"/>
            <a:ext cx="4360464"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・F2オファーのタイミング調整（消費サイクル）</a:t>
            </a:r>
          </a:p>
        </p:txBody>
      </p:sp>
      <p:sp>
        <p:nvSpPr>
          <p:cNvPr id="17" name="TextBox 16"/>
          <p:cNvSpPr txBox="1"/>
          <p:nvPr/>
        </p:nvSpPr>
        <p:spPr>
          <a:xfrm>
            <a:off x="5006736" y="2532269"/>
            <a:ext cx="4360464"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・解約アンケートの回答分析 → オファー改善</a:t>
            </a:r>
          </a:p>
        </p:txBody>
      </p:sp>
      <p:sp>
        <p:nvSpPr>
          <p:cNvPr id="18" name="TextBox 17"/>
          <p:cNvSpPr txBox="1"/>
          <p:nvPr/>
        </p:nvSpPr>
        <p:spPr>
          <a:xfrm>
            <a:off x="5006736" y="2802269"/>
            <a:ext cx="4360464"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・セグメント配信（定期回数・購入商品別）</a:t>
            </a:r>
          </a:p>
        </p:txBody>
      </p:sp>
      <p:sp>
        <p:nvSpPr>
          <p:cNvPr id="19" name="TextBox 18"/>
          <p:cNvSpPr txBox="1"/>
          <p:nvPr/>
        </p:nvSpPr>
        <p:spPr>
          <a:xfrm>
            <a:off x="5006736" y="3072269"/>
            <a:ext cx="4360464"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・通知メッセージ（発送・次回発送前）</a:t>
            </a:r>
          </a:p>
        </p:txBody>
      </p:sp>
      <p:sp>
        <p:nvSpPr>
          <p:cNvPr id="20" name="TextBox 19"/>
          <p:cNvSpPr txBox="1"/>
          <p:nvPr/>
        </p:nvSpPr>
        <p:spPr>
          <a:xfrm>
            <a:off x="5006736" y="3342269"/>
            <a:ext cx="4360464"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・定例会でF2転換率・月次解約率をレビュー</a:t>
            </a:r>
          </a:p>
        </p:txBody>
      </p:sp>
      <p:sp>
        <p:nvSpPr>
          <p:cNvPr id="21" name="Rounded Rectangle 20"/>
          <p:cNvSpPr/>
          <p:nvPr/>
        </p:nvSpPr>
        <p:spPr>
          <a:xfrm>
            <a:off x="432000" y="3888000"/>
            <a:ext cx="9043200" cy="1764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7999" y="4142991"/>
            <a:ext cx="8611200" cy="1254018"/>
          </a:xfrm>
          <a:prstGeom prst="rect">
            <a:avLst/>
          </a:prstGeom>
          <a:noFill/>
        </p:spPr>
        <p:txBody>
          <a:bodyPr wrap="square" lIns="50400" tIns="21600" rIns="50400" bIns="21600" anchor="ctr">
            <a:spAutoFit/>
          </a:bodyPr>
          <a:lstStyle/>
          <a:p>
            <a:pPr algn="l">
              <a:spcAft>
                <a:spcPts val="600"/>
              </a:spcAft>
            </a:pPr>
            <a:r>
              <a:rPr sz="1600" b="1">
                <a:solidFill>
                  <a:srgbClr val="ED7D31"/>
                </a:solidFill>
                <a:latin typeface="メイリオ"/>
                <a:ea typeface="メイリオ"/>
                <a:cs typeface="メイリオ"/>
              </a:rPr>
              <a:t>★順番を間違えない</a:t>
            </a:r>
          </a:p>
          <a:p>
            <a:pPr algn="l">
              <a:lnSpc>
                <a:spcPct val="132000"/>
              </a:lnSpc>
              <a:spcAft>
                <a:spcPts val="400"/>
              </a:spcAft>
            </a:pPr>
            <a:r>
              <a:rPr sz="1400">
                <a:solidFill>
                  <a:srgbClr val="333333"/>
                </a:solidFill>
                <a:latin typeface="メイリオ"/>
                <a:ea typeface="メイリオ"/>
                <a:cs typeface="メイリオ"/>
              </a:rPr>
              <a:t>LINE ID連携（P43）が最初。これが無いと「定期何回目か」「次回発送日はいつか」が分からないので、F2オファーもスキップ提案も解約受付も全部打てない。</a:t>
            </a:r>
          </a:p>
          <a:p>
            <a:pPr algn="l">
              <a:lnSpc>
                <a:spcPct val="132000"/>
              </a:lnSpc>
            </a:pPr>
            <a:r>
              <a:rPr sz="1400" b="1">
                <a:solidFill>
                  <a:srgbClr val="333333"/>
                </a:solidFill>
                <a:latin typeface="メイリオ"/>
                <a:ea typeface="メイリオ"/>
                <a:cs typeface="メイリオ"/>
              </a:rPr>
              <a:t>連携なしで始めると、全員に同じ配信を送るだけのアカウントになる。</a:t>
            </a:r>
          </a:p>
        </p:txBody>
      </p:sp>
      <p:sp>
        <p:nvSpPr>
          <p:cNvPr id="23" name="TextBox 22"/>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意見｜ID連携を前提に進める。連携できない場合は、友だち追加直後のアンケート回答でタグを付ける方法に切り替える</a:t>
            </a:r>
          </a:p>
        </p:txBody>
      </p:sp>
    </p:spTree>
    <p:extLst>
      <p:ext uri="{BB962C8B-B14F-4D97-AF65-F5344CB8AC3E}">
        <p14:creationId xmlns:p14="http://schemas.microsoft.com/office/powerpoint/2010/main" val="1772806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1590B-7660-E16F-AF1F-C1B09199CC7C}"/>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構築①｜友だち追加動線（★同梱物QRが主役）</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単品通販は「商品が必ず届く」。この一点が、他業種に無い最強の動線になる。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9043200" cy="737999"/>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57999" y="1825612"/>
            <a:ext cx="1944000" cy="326776"/>
          </a:xfrm>
          <a:prstGeom prst="rect">
            <a:avLst/>
          </a:prstGeom>
          <a:noFill/>
        </p:spPr>
        <p:txBody>
          <a:bodyPr wrap="square" lIns="50400" tIns="21600" rIns="50400" bIns="21600" anchor="ctr">
            <a:spAutoFit/>
          </a:bodyPr>
          <a:lstStyle/>
          <a:p>
            <a:pPr algn="l">
              <a:lnSpc>
                <a:spcPct val="120000"/>
              </a:lnSpc>
            </a:pPr>
            <a:r>
              <a:rPr sz="1600" b="1">
                <a:solidFill>
                  <a:srgbClr val="ED7D31"/>
                </a:solidFill>
                <a:latin typeface="メイリオ"/>
                <a:ea typeface="メイリオ"/>
                <a:cs typeface="メイリオ"/>
              </a:rPr>
              <a:t>★ 同梱物QR</a:t>
            </a:r>
          </a:p>
        </p:txBody>
      </p:sp>
      <p:sp>
        <p:nvSpPr>
          <p:cNvPr id="7" name="Rounded Rectangle 6"/>
          <p:cNvSpPr/>
          <p:nvPr/>
        </p:nvSpPr>
        <p:spPr>
          <a:xfrm>
            <a:off x="2556000" y="1835999"/>
            <a:ext cx="612000" cy="251999"/>
          </a:xfrm>
          <a:prstGeom prst="roundRect">
            <a:avLst>
              <a:gd name="adj" fmla="val 6000"/>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400" b="1">
                <a:solidFill>
                  <a:srgbClr val="ED7D31"/>
                </a:solidFill>
                <a:latin typeface="メイリオ"/>
                <a:ea typeface="メイリオ"/>
                <a:cs typeface="メイリオ"/>
              </a:rPr>
              <a:t>主役</a:t>
            </a:r>
          </a:p>
        </p:txBody>
      </p:sp>
      <p:sp>
        <p:nvSpPr>
          <p:cNvPr id="8" name="TextBox 7"/>
          <p:cNvSpPr txBox="1"/>
          <p:nvPr/>
        </p:nvSpPr>
        <p:spPr>
          <a:xfrm>
            <a:off x="3311999" y="1695191"/>
            <a:ext cx="6019200" cy="587617"/>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初回配送に必ず同梱される。開封率が高く、購入者を確実に捕まえられる。「解約もここでできます」と書くと追加率が上がる</a:t>
            </a:r>
          </a:p>
        </p:txBody>
      </p:sp>
      <p:sp>
        <p:nvSpPr>
          <p:cNvPr id="9" name="Rounded Rectangle 8"/>
          <p:cNvSpPr/>
          <p:nvPr/>
        </p:nvSpPr>
        <p:spPr>
          <a:xfrm>
            <a:off x="432000" y="2430000"/>
            <a:ext cx="9043200" cy="73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57999" y="2635612"/>
            <a:ext cx="1944000" cy="326776"/>
          </a:xfrm>
          <a:prstGeom prst="rect">
            <a:avLst/>
          </a:prstGeom>
          <a:noFill/>
        </p:spPr>
        <p:txBody>
          <a:bodyPr wrap="square" lIns="50400" tIns="21600" rIns="50400" bIns="21600" anchor="ctr">
            <a:spAutoFit/>
          </a:bodyPr>
          <a:lstStyle/>
          <a:p>
            <a:pPr algn="l">
              <a:lnSpc>
                <a:spcPct val="120000"/>
              </a:lnSpc>
            </a:pPr>
            <a:r>
              <a:rPr sz="1600" b="1">
                <a:solidFill>
                  <a:srgbClr val="1F285A"/>
                </a:solidFill>
                <a:latin typeface="メイリオ"/>
                <a:ea typeface="メイリオ"/>
                <a:cs typeface="メイリオ"/>
              </a:rPr>
              <a:t>購入完了画面</a:t>
            </a:r>
          </a:p>
        </p:txBody>
      </p:sp>
      <p:sp>
        <p:nvSpPr>
          <p:cNvPr id="11" name="Rounded Rectangle 10"/>
          <p:cNvSpPr/>
          <p:nvPr/>
        </p:nvSpPr>
        <p:spPr>
          <a:xfrm>
            <a:off x="2556000" y="2646000"/>
            <a:ext cx="612000" cy="251999"/>
          </a:xfrm>
          <a:prstGeom prst="roundRect">
            <a:avLst>
              <a:gd name="adj" fmla="val 6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400" b="1">
                <a:solidFill>
                  <a:srgbClr val="1F285A"/>
                </a:solidFill>
                <a:latin typeface="メイリオ"/>
                <a:ea typeface="メイリオ"/>
                <a:cs typeface="メイリオ"/>
              </a:rPr>
              <a:t>併用</a:t>
            </a:r>
          </a:p>
        </p:txBody>
      </p:sp>
      <p:sp>
        <p:nvSpPr>
          <p:cNvPr id="12" name="TextBox 11"/>
          <p:cNvSpPr txBox="1"/>
          <p:nvPr/>
        </p:nvSpPr>
        <p:spPr>
          <a:xfrm>
            <a:off x="3311999" y="2645230"/>
            <a:ext cx="6019200" cy="307540"/>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決済直後にその場で追加してもらう。離脱が少ない</a:t>
            </a:r>
          </a:p>
        </p:txBody>
      </p:sp>
      <p:sp>
        <p:nvSpPr>
          <p:cNvPr id="13" name="Rounded Rectangle 12"/>
          <p:cNvSpPr/>
          <p:nvPr/>
        </p:nvSpPr>
        <p:spPr>
          <a:xfrm>
            <a:off x="432000" y="3240000"/>
            <a:ext cx="9043200" cy="73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7999" y="3445612"/>
            <a:ext cx="1944000" cy="326776"/>
          </a:xfrm>
          <a:prstGeom prst="rect">
            <a:avLst/>
          </a:prstGeom>
          <a:noFill/>
        </p:spPr>
        <p:txBody>
          <a:bodyPr wrap="square" lIns="50400" tIns="21600" rIns="50400" bIns="21600" anchor="ctr">
            <a:spAutoFit/>
          </a:bodyPr>
          <a:lstStyle/>
          <a:p>
            <a:pPr algn="l">
              <a:lnSpc>
                <a:spcPct val="120000"/>
              </a:lnSpc>
            </a:pPr>
            <a:r>
              <a:rPr sz="1600" b="1">
                <a:solidFill>
                  <a:srgbClr val="1F285A"/>
                </a:solidFill>
                <a:latin typeface="メイリオ"/>
                <a:ea typeface="メイリオ"/>
                <a:cs typeface="メイリオ"/>
              </a:rPr>
              <a:t>マイページ</a:t>
            </a:r>
          </a:p>
        </p:txBody>
      </p:sp>
      <p:sp>
        <p:nvSpPr>
          <p:cNvPr id="15" name="Rounded Rectangle 14"/>
          <p:cNvSpPr/>
          <p:nvPr/>
        </p:nvSpPr>
        <p:spPr>
          <a:xfrm>
            <a:off x="2556000" y="3456000"/>
            <a:ext cx="612000" cy="251999"/>
          </a:xfrm>
          <a:prstGeom prst="roundRect">
            <a:avLst>
              <a:gd name="adj" fmla="val 6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400" b="1">
                <a:solidFill>
                  <a:srgbClr val="1F285A"/>
                </a:solidFill>
                <a:latin typeface="メイリオ"/>
                <a:ea typeface="メイリオ"/>
                <a:cs typeface="メイリオ"/>
              </a:rPr>
              <a:t>併用</a:t>
            </a:r>
          </a:p>
        </p:txBody>
      </p:sp>
      <p:sp>
        <p:nvSpPr>
          <p:cNvPr id="16" name="TextBox 15"/>
          <p:cNvSpPr txBox="1"/>
          <p:nvPr/>
        </p:nvSpPr>
        <p:spPr>
          <a:xfrm>
            <a:off x="3311999" y="3455230"/>
            <a:ext cx="6019200" cy="307540"/>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定期の変更・確認をしに来た人を拾う。解約導線の手前に置く</a:t>
            </a:r>
          </a:p>
        </p:txBody>
      </p:sp>
      <p:sp>
        <p:nvSpPr>
          <p:cNvPr id="17" name="Rounded Rectangle 16"/>
          <p:cNvSpPr/>
          <p:nvPr/>
        </p:nvSpPr>
        <p:spPr>
          <a:xfrm>
            <a:off x="432000" y="4050000"/>
            <a:ext cx="9043200" cy="73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57999" y="4255612"/>
            <a:ext cx="1944000" cy="326776"/>
          </a:xfrm>
          <a:prstGeom prst="rect">
            <a:avLst/>
          </a:prstGeom>
          <a:noFill/>
        </p:spPr>
        <p:txBody>
          <a:bodyPr wrap="square" lIns="50400" tIns="21600" rIns="50400" bIns="21600" anchor="ctr">
            <a:spAutoFit/>
          </a:bodyPr>
          <a:lstStyle/>
          <a:p>
            <a:pPr algn="l">
              <a:lnSpc>
                <a:spcPct val="120000"/>
              </a:lnSpc>
            </a:pPr>
            <a:r>
              <a:rPr sz="1600" b="1">
                <a:solidFill>
                  <a:srgbClr val="1F285A"/>
                </a:solidFill>
                <a:latin typeface="メイリオ"/>
                <a:ea typeface="メイリオ"/>
                <a:cs typeface="メイリオ"/>
              </a:rPr>
              <a:t>通知メッセージ経由</a:t>
            </a:r>
          </a:p>
        </p:txBody>
      </p:sp>
      <p:sp>
        <p:nvSpPr>
          <p:cNvPr id="19" name="Rounded Rectangle 18"/>
          <p:cNvSpPr/>
          <p:nvPr/>
        </p:nvSpPr>
        <p:spPr>
          <a:xfrm>
            <a:off x="2556000" y="4266000"/>
            <a:ext cx="612000" cy="251999"/>
          </a:xfrm>
          <a:prstGeom prst="roundRect">
            <a:avLst>
              <a:gd name="adj" fmla="val 6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400" b="1">
                <a:solidFill>
                  <a:srgbClr val="1F285A"/>
                </a:solidFill>
                <a:latin typeface="メイリオ"/>
                <a:ea typeface="メイリオ"/>
                <a:cs typeface="メイリオ"/>
              </a:rPr>
              <a:t>拡張</a:t>
            </a:r>
          </a:p>
        </p:txBody>
      </p:sp>
      <p:sp>
        <p:nvSpPr>
          <p:cNvPr id="20" name="TextBox 19"/>
          <p:cNvSpPr txBox="1"/>
          <p:nvPr/>
        </p:nvSpPr>
        <p:spPr>
          <a:xfrm>
            <a:off x="3311999" y="4265230"/>
            <a:ext cx="6019200" cy="307540"/>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電話番号ベースで届くので、未友だちの既存顧客にも到達できる（P54）</a:t>
            </a:r>
          </a:p>
        </p:txBody>
      </p:sp>
      <p:sp>
        <p:nvSpPr>
          <p:cNvPr id="21" name="Rounded Rectangle 20"/>
          <p:cNvSpPr/>
          <p:nvPr/>
        </p:nvSpPr>
        <p:spPr>
          <a:xfrm>
            <a:off x="432000" y="4860000"/>
            <a:ext cx="9043200" cy="73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57999" y="5065612"/>
            <a:ext cx="1944000" cy="326776"/>
          </a:xfrm>
          <a:prstGeom prst="rect">
            <a:avLst/>
          </a:prstGeom>
          <a:noFill/>
        </p:spPr>
        <p:txBody>
          <a:bodyPr wrap="square" lIns="50400" tIns="21600" rIns="50400" bIns="21600" anchor="ctr">
            <a:spAutoFit/>
          </a:bodyPr>
          <a:lstStyle/>
          <a:p>
            <a:pPr algn="l">
              <a:lnSpc>
                <a:spcPct val="120000"/>
              </a:lnSpc>
            </a:pPr>
            <a:r>
              <a:rPr sz="1600" b="1">
                <a:solidFill>
                  <a:srgbClr val="1F285A"/>
                </a:solidFill>
                <a:latin typeface="メイリオ"/>
                <a:ea typeface="メイリオ"/>
                <a:cs typeface="メイリオ"/>
              </a:rPr>
              <a:t>LINE広告 CPF</a:t>
            </a:r>
          </a:p>
        </p:txBody>
      </p:sp>
      <p:sp>
        <p:nvSpPr>
          <p:cNvPr id="23" name="Rounded Rectangle 22"/>
          <p:cNvSpPr/>
          <p:nvPr/>
        </p:nvSpPr>
        <p:spPr>
          <a:xfrm>
            <a:off x="2556000" y="5076000"/>
            <a:ext cx="612000" cy="251999"/>
          </a:xfrm>
          <a:prstGeom prst="roundRect">
            <a:avLst>
              <a:gd name="adj" fmla="val 6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400" b="1">
                <a:solidFill>
                  <a:srgbClr val="1F285A"/>
                </a:solidFill>
                <a:latin typeface="メイリオ"/>
                <a:ea typeface="メイリオ"/>
                <a:cs typeface="メイリオ"/>
              </a:rPr>
              <a:t>拡張</a:t>
            </a:r>
          </a:p>
        </p:txBody>
      </p:sp>
      <p:sp>
        <p:nvSpPr>
          <p:cNvPr id="24" name="TextBox 23"/>
          <p:cNvSpPr txBox="1"/>
          <p:nvPr/>
        </p:nvSpPr>
        <p:spPr>
          <a:xfrm>
            <a:off x="3311999" y="5075230"/>
            <a:ext cx="6019200" cy="307540"/>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友だち追加課金。新規の母数を増やしたいときのみ</a:t>
            </a:r>
          </a:p>
        </p:txBody>
      </p:sp>
      <p:sp>
        <p:nvSpPr>
          <p:cNvPr id="25" name="TextBox 24"/>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意見｜LINE広告CPFは友だち追加動線として置いている。広告運用の提案ではない</a:t>
            </a:r>
          </a:p>
        </p:txBody>
      </p:sp>
    </p:spTree>
    <p:extLst>
      <p:ext uri="{BB962C8B-B14F-4D97-AF65-F5344CB8AC3E}">
        <p14:creationId xmlns:p14="http://schemas.microsoft.com/office/powerpoint/2010/main" val="4260980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構築②｜あいさつメッセージ</a:t>
            </a:r>
          </a:p>
        </p:txBody>
      </p:sp>
      <p:sp>
        <p:nvSpPr>
          <p:cNvPr id="3" name="TextBox 2"/>
          <p:cNvSpPr txBox="1"/>
          <p:nvPr/>
        </p:nvSpPr>
        <p:spPr>
          <a:xfrm>
            <a:off x="432000" y="699942"/>
            <a:ext cx="9036000" cy="580115"/>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最初の1通で「ここは売り込みの場ではない」と分からせる。</a:t>
            </a:r>
          </a:p>
          <a:p>
            <a:pPr algn="l">
              <a:lnSpc>
                <a:spcPct val="128000"/>
              </a:lnSpc>
            </a:pPr>
            <a:r>
              <a:rPr sz="1400">
                <a:solidFill>
                  <a:srgbClr val="333333"/>
                </a:solidFill>
                <a:latin typeface="メイリオ"/>
                <a:ea typeface="メイリオ"/>
                <a:cs typeface="メイリオ"/>
              </a:rPr>
              <a:t>★「解約もここでできます」を、こちらから先に言う。</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7999" y="1620000"/>
            <a:ext cx="2664000" cy="3888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98400" y="1771200"/>
            <a:ext cx="2563200" cy="36864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8400" y="1771200"/>
            <a:ext cx="2563200" cy="187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200" b="1">
                <a:solidFill>
                  <a:srgbClr val="FFFFFF"/>
                </a:solidFill>
                <a:latin typeface="メイリオ"/>
                <a:ea typeface="メイリオ"/>
                <a:cs typeface="メイリオ"/>
              </a:rPr>
              <a:t>●●（商品名）公式</a:t>
            </a:r>
          </a:p>
        </p:txBody>
      </p:sp>
      <p:sp>
        <p:nvSpPr>
          <p:cNvPr id="8" name="Rounded Rectangle 7"/>
          <p:cNvSpPr/>
          <p:nvPr/>
        </p:nvSpPr>
        <p:spPr>
          <a:xfrm>
            <a:off x="759600" y="1998000"/>
            <a:ext cx="2440800"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0400" tIns="18000" rIns="36000" bIns="18000" rtlCol="0" anchor="ctr"/>
          <a:lstStyle/>
          <a:p>
            <a:pPr algn="l">
              <a:lnSpc>
                <a:spcPct val="118000"/>
              </a:lnSpc>
            </a:pPr>
            <a:r>
              <a:rPr sz="1000">
                <a:solidFill>
                  <a:srgbClr val="333333"/>
                </a:solidFill>
                <a:latin typeface="メイリオ"/>
                <a:ea typeface="メイリオ"/>
                <a:cs typeface="メイリオ"/>
              </a:rPr>
              <a:t>ご購入ありがとうございます。</a:t>
            </a:r>
          </a:p>
          <a:p>
            <a:pPr algn="l">
              <a:lnSpc>
                <a:spcPct val="118000"/>
              </a:lnSpc>
            </a:pPr>
            <a:r>
              <a:rPr sz="1000">
                <a:solidFill>
                  <a:srgbClr val="333333"/>
                </a:solidFill>
                <a:latin typeface="メイリオ"/>
                <a:ea typeface="メイリオ"/>
                <a:cs typeface="メイリオ"/>
              </a:rPr>
              <a:t>担当の●●です。</a:t>
            </a:r>
          </a:p>
        </p:txBody>
      </p:sp>
      <p:sp>
        <p:nvSpPr>
          <p:cNvPr id="9" name="Rounded Rectangle 8"/>
          <p:cNvSpPr/>
          <p:nvPr/>
        </p:nvSpPr>
        <p:spPr>
          <a:xfrm>
            <a:off x="759600" y="2365200"/>
            <a:ext cx="2440800"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0400" tIns="18000" rIns="36000" bIns="18000" rtlCol="0" anchor="ctr"/>
          <a:lstStyle/>
          <a:p>
            <a:pPr algn="l">
              <a:lnSpc>
                <a:spcPct val="118000"/>
              </a:lnSpc>
            </a:pPr>
            <a:r>
              <a:rPr sz="800">
                <a:solidFill>
                  <a:srgbClr val="333333"/>
                </a:solidFill>
                <a:latin typeface="メイリオ"/>
                <a:ea typeface="メイリオ"/>
                <a:cs typeface="メイリオ"/>
              </a:rPr>
              <a:t>✅ お電話はいたしません</a:t>
            </a:r>
          </a:p>
          <a:p>
            <a:pPr algn="l">
              <a:lnSpc>
                <a:spcPct val="118000"/>
              </a:lnSpc>
            </a:pPr>
            <a:r>
              <a:rPr sz="800">
                <a:solidFill>
                  <a:srgbClr val="333333"/>
                </a:solidFill>
                <a:latin typeface="メイリオ"/>
                <a:ea typeface="メイリオ"/>
                <a:cs typeface="メイリオ"/>
              </a:rPr>
              <a:t>✅ しつこい配信もしません</a:t>
            </a:r>
          </a:p>
        </p:txBody>
      </p:sp>
      <p:sp>
        <p:nvSpPr>
          <p:cNvPr id="10" name="Rounded Rectangle 9"/>
          <p:cNvSpPr/>
          <p:nvPr/>
        </p:nvSpPr>
        <p:spPr>
          <a:xfrm>
            <a:off x="759600" y="2732400"/>
            <a:ext cx="2440800" cy="648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0400" tIns="18000" rIns="36000" bIns="18000" rtlCol="0" anchor="ctr"/>
          <a:lstStyle/>
          <a:p>
            <a:pPr algn="l">
              <a:lnSpc>
                <a:spcPct val="118000"/>
              </a:lnSpc>
            </a:pPr>
            <a:r>
              <a:rPr sz="700">
                <a:solidFill>
                  <a:srgbClr val="333333"/>
                </a:solidFill>
                <a:latin typeface="メイリオ"/>
                <a:ea typeface="メイリオ"/>
                <a:cs typeface="メイリオ"/>
              </a:rPr>
              <a:t>【このアカウントでできること】</a:t>
            </a:r>
          </a:p>
          <a:p>
            <a:pPr algn="l">
              <a:lnSpc>
                <a:spcPct val="118000"/>
              </a:lnSpc>
            </a:pPr>
            <a:r>
              <a:rPr sz="700">
                <a:solidFill>
                  <a:srgbClr val="333333"/>
                </a:solidFill>
                <a:latin typeface="メイリオ"/>
                <a:ea typeface="メイリオ"/>
                <a:cs typeface="メイリオ"/>
              </a:rPr>
              <a:t>・発送状況の確認</a:t>
            </a:r>
          </a:p>
          <a:p>
            <a:pPr algn="l">
              <a:lnSpc>
                <a:spcPct val="118000"/>
              </a:lnSpc>
            </a:pPr>
            <a:r>
              <a:rPr sz="700">
                <a:solidFill>
                  <a:srgbClr val="333333"/>
                </a:solidFill>
                <a:latin typeface="メイリオ"/>
                <a:ea typeface="メイリオ"/>
                <a:cs typeface="メイリオ"/>
              </a:rPr>
              <a:t>・お届け日の変更・スキップ</a:t>
            </a:r>
          </a:p>
          <a:p>
            <a:pPr algn="l">
              <a:lnSpc>
                <a:spcPct val="118000"/>
              </a:lnSpc>
            </a:pPr>
            <a:r>
              <a:rPr sz="700">
                <a:solidFill>
                  <a:srgbClr val="333333"/>
                </a:solidFill>
                <a:latin typeface="メイリオ"/>
                <a:ea typeface="メイリオ"/>
                <a:cs typeface="メイリオ"/>
              </a:rPr>
              <a:t>・解約のお手続き</a:t>
            </a:r>
          </a:p>
          <a:p>
            <a:pPr algn="l">
              <a:lnSpc>
                <a:spcPct val="118000"/>
              </a:lnSpc>
            </a:pPr>
            <a:r>
              <a:rPr sz="700">
                <a:solidFill>
                  <a:srgbClr val="333333"/>
                </a:solidFill>
                <a:latin typeface="メイリオ"/>
                <a:ea typeface="メイリオ"/>
                <a:cs typeface="メイリオ"/>
              </a:rPr>
              <a:t>・使い方のご相談</a:t>
            </a:r>
          </a:p>
        </p:txBody>
      </p:sp>
      <p:sp>
        <p:nvSpPr>
          <p:cNvPr id="11" name="Rounded Rectangle 10"/>
          <p:cNvSpPr/>
          <p:nvPr/>
        </p:nvSpPr>
        <p:spPr>
          <a:xfrm>
            <a:off x="759600" y="3423600"/>
            <a:ext cx="2440800"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0400" tIns="18000" rIns="36000" bIns="18000" rtlCol="0" anchor="ctr"/>
          <a:lstStyle/>
          <a:p>
            <a:pPr algn="l">
              <a:lnSpc>
                <a:spcPct val="118000"/>
              </a:lnSpc>
            </a:pPr>
            <a:r>
              <a:rPr sz="800">
                <a:solidFill>
                  <a:srgbClr val="333333"/>
                </a:solidFill>
                <a:latin typeface="メイリオ"/>
                <a:ea typeface="メイリオ"/>
                <a:cs typeface="メイリオ"/>
              </a:rPr>
              <a:t>初回のお届けは</a:t>
            </a:r>
          </a:p>
          <a:p>
            <a:pPr algn="l">
              <a:lnSpc>
                <a:spcPct val="118000"/>
              </a:lnSpc>
            </a:pPr>
            <a:r>
              <a:rPr sz="800">
                <a:solidFill>
                  <a:srgbClr val="333333"/>
                </a:solidFill>
                <a:latin typeface="メイリオ"/>
                <a:ea typeface="メイリオ"/>
                <a:cs typeface="メイリオ"/>
              </a:rPr>
              <a:t>●月●日ごろの予定です。</a:t>
            </a:r>
          </a:p>
        </p:txBody>
      </p:sp>
      <p:sp>
        <p:nvSpPr>
          <p:cNvPr id="12" name="Rounded Rectangle 11"/>
          <p:cNvSpPr/>
          <p:nvPr/>
        </p:nvSpPr>
        <p:spPr>
          <a:xfrm>
            <a:off x="759600" y="3790800"/>
            <a:ext cx="2440800" cy="216000"/>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5000"/>
              </a:lnSpc>
            </a:pPr>
            <a:r>
              <a:rPr sz="1200" b="1">
                <a:solidFill>
                  <a:srgbClr val="FFFFFF"/>
                </a:solidFill>
                <a:latin typeface="メイリオ"/>
                <a:ea typeface="メイリオ"/>
                <a:cs typeface="メイリオ"/>
              </a:rPr>
              <a:t>使い方を見る</a:t>
            </a:r>
          </a:p>
        </p:txBody>
      </p:sp>
      <p:sp>
        <p:nvSpPr>
          <p:cNvPr id="13" name="Rounded Rectangle 12"/>
          <p:cNvSpPr/>
          <p:nvPr/>
        </p:nvSpPr>
        <p:spPr>
          <a:xfrm>
            <a:off x="759600" y="4050000"/>
            <a:ext cx="24408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5000"/>
              </a:lnSpc>
            </a:pPr>
            <a:r>
              <a:rPr sz="1000">
                <a:solidFill>
                  <a:srgbClr val="0B7A3B"/>
                </a:solidFill>
                <a:latin typeface="メイリオ"/>
                <a:ea typeface="メイリオ"/>
                <a:cs typeface="メイリオ"/>
              </a:rPr>
              <a:t>お届け日を変更する</a:t>
            </a:r>
          </a:p>
        </p:txBody>
      </p:sp>
      <p:sp>
        <p:nvSpPr>
          <p:cNvPr id="14" name="TextBox 13"/>
          <p:cNvSpPr txBox="1"/>
          <p:nvPr/>
        </p:nvSpPr>
        <p:spPr>
          <a:xfrm>
            <a:off x="759600" y="4328713"/>
            <a:ext cx="2440800" cy="176972"/>
          </a:xfrm>
          <a:prstGeom prst="rect">
            <a:avLst/>
          </a:prstGeom>
          <a:noFill/>
        </p:spPr>
        <p:txBody>
          <a:bodyPr wrap="square" lIns="18000" tIns="0" rIns="18000" bIns="0" anchor="ctr">
            <a:spAutoFit/>
          </a:bodyPr>
          <a:lstStyle/>
          <a:p>
            <a:pPr algn="l">
              <a:lnSpc>
                <a:spcPct val="115000"/>
              </a:lnSpc>
            </a:pPr>
            <a:r>
              <a:rPr sz="1000">
                <a:solidFill>
                  <a:srgbClr val="7F7F7F"/>
                </a:solidFill>
                <a:latin typeface="メイリオ"/>
                <a:ea typeface="メイリオ"/>
                <a:cs typeface="メイリオ"/>
              </a:rPr>
              <a:t>※ 友だち追加から数秒以内に自動送信</a:t>
            </a:r>
          </a:p>
        </p:txBody>
      </p:sp>
      <p:sp>
        <p:nvSpPr>
          <p:cNvPr id="15" name="Rounded Rectangle 14"/>
          <p:cNvSpPr/>
          <p:nvPr/>
        </p:nvSpPr>
        <p:spPr>
          <a:xfrm>
            <a:off x="3527999" y="1620000"/>
            <a:ext cx="6163200" cy="1800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3999" y="1757216"/>
            <a:ext cx="5911200" cy="1525566"/>
          </a:xfrm>
          <a:prstGeom prst="rect">
            <a:avLst/>
          </a:prstGeom>
          <a:noFill/>
        </p:spPr>
        <p:txBody>
          <a:bodyPr wrap="square" lIns="50400" tIns="21600" rIns="50400" bIns="21600" anchor="ctr">
            <a:spAutoFit/>
          </a:bodyPr>
          <a:lstStyle/>
          <a:p>
            <a:pPr algn="l">
              <a:spcAft>
                <a:spcPts val="500"/>
              </a:spcAft>
            </a:pPr>
            <a:r>
              <a:rPr sz="1600" b="1">
                <a:solidFill>
                  <a:srgbClr val="ED7D31"/>
                </a:solidFill>
                <a:latin typeface="メイリオ"/>
                <a:ea typeface="メイリオ"/>
                <a:cs typeface="メイリオ"/>
              </a:rPr>
              <a:t>★「解約のお手続き」を最初に書く理由</a:t>
            </a:r>
          </a:p>
          <a:p>
            <a:pPr algn="l">
              <a:lnSpc>
                <a:spcPct val="132000"/>
              </a:lnSpc>
              <a:spcAft>
                <a:spcPts val="400"/>
              </a:spcAft>
            </a:pPr>
            <a:r>
              <a:rPr sz="1400">
                <a:solidFill>
                  <a:srgbClr val="333333"/>
                </a:solidFill>
                <a:latin typeface="メイリオ"/>
                <a:ea typeface="メイリオ"/>
                <a:cs typeface="メイリオ"/>
              </a:rPr>
              <a:t>解約導線を隠すのは、特商法上のリスクであるだけでなく、実際に「電話がつながらない」という苦情の原因になっている。</a:t>
            </a:r>
          </a:p>
          <a:p>
            <a:pPr algn="l">
              <a:lnSpc>
                <a:spcPct val="132000"/>
              </a:lnSpc>
            </a:pPr>
            <a:r>
              <a:rPr sz="1400" b="1">
                <a:solidFill>
                  <a:srgbClr val="333333"/>
                </a:solidFill>
                <a:latin typeface="メイリオ"/>
                <a:ea typeface="メイリオ"/>
                <a:cs typeface="メイリオ"/>
              </a:rPr>
              <a:t>先に出しておくと、解約したくなった人が必ずLINEに来る。＝ スキップや周期変更を提示できる場所に来てくれる。</a:t>
            </a:r>
          </a:p>
        </p:txBody>
      </p:sp>
      <p:sp>
        <p:nvSpPr>
          <p:cNvPr id="17" name="Rounded Rectangle 16"/>
          <p:cNvSpPr/>
          <p:nvPr/>
        </p:nvSpPr>
        <p:spPr>
          <a:xfrm>
            <a:off x="3527999" y="3563999"/>
            <a:ext cx="6163200" cy="194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3999" y="3760393"/>
            <a:ext cx="5911200" cy="1551214"/>
          </a:xfrm>
          <a:prstGeom prst="rect">
            <a:avLst/>
          </a:prstGeom>
          <a:noFill/>
        </p:spPr>
        <p:txBody>
          <a:bodyPr wrap="square" lIns="50400" tIns="21600" rIns="50400" bIns="21600" anchor="ctr">
            <a:spAutoFit/>
          </a:bodyPr>
          <a:lstStyle/>
          <a:p>
            <a:pPr algn="l">
              <a:spcAft>
                <a:spcPts val="500"/>
              </a:spcAft>
            </a:pPr>
            <a:r>
              <a:rPr sz="1600" b="1">
                <a:solidFill>
                  <a:srgbClr val="1F285A"/>
                </a:solidFill>
                <a:latin typeface="メイリオ"/>
                <a:ea typeface="メイリオ"/>
                <a:cs typeface="メイリオ"/>
              </a:rPr>
              <a:t>書かないこと</a:t>
            </a:r>
          </a:p>
          <a:p>
            <a:pPr algn="l">
              <a:lnSpc>
                <a:spcPct val="132000"/>
              </a:lnSpc>
              <a:spcAft>
                <a:spcPts val="300"/>
              </a:spcAft>
            </a:pPr>
            <a:r>
              <a:rPr sz="1400">
                <a:solidFill>
                  <a:srgbClr val="333333"/>
                </a:solidFill>
                <a:latin typeface="メイリオ"/>
                <a:ea typeface="メイリオ"/>
                <a:cs typeface="メイリオ"/>
              </a:rPr>
              <a:t>・「いつでも解約可能」などの強調表示（誤認表示として禁止されている）</a:t>
            </a:r>
          </a:p>
          <a:p>
            <a:pPr algn="l">
              <a:lnSpc>
                <a:spcPct val="132000"/>
              </a:lnSpc>
              <a:spcAft>
                <a:spcPts val="300"/>
              </a:spcAft>
            </a:pPr>
            <a:r>
              <a:rPr sz="1400">
                <a:solidFill>
                  <a:srgbClr val="333333"/>
                </a:solidFill>
                <a:latin typeface="メイリオ"/>
                <a:ea typeface="メイリオ"/>
                <a:cs typeface="メイリオ"/>
              </a:rPr>
              <a:t>・効果効能を断定する表現（薬機法）</a:t>
            </a:r>
          </a:p>
          <a:p>
            <a:pPr algn="l">
              <a:lnSpc>
                <a:spcPct val="132000"/>
              </a:lnSpc>
            </a:pPr>
            <a:r>
              <a:rPr sz="1400">
                <a:solidFill>
                  <a:srgbClr val="333333"/>
                </a:solidFill>
                <a:latin typeface="メイリオ"/>
                <a:ea typeface="メイリオ"/>
                <a:cs typeface="メイリオ"/>
              </a:rPr>
              <a:t>・初回価格だけを目立たせる書き方（2回目以降の条件を併記する）</a:t>
            </a:r>
          </a:p>
        </p:txBody>
      </p:sp>
      <p:sp>
        <p:nvSpPr>
          <p:cNvPr id="19" name="TextBox 18"/>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法令｜「お試し」「いつでも解約可能」等の強調表示で誤認させることは特商法で禁止されている</a:t>
            </a:r>
          </a:p>
        </p:txBody>
      </p:sp>
    </p:spTree>
    <p:extLst>
      <p:ext uri="{BB962C8B-B14F-4D97-AF65-F5344CB8AC3E}">
        <p14:creationId xmlns:p14="http://schemas.microsoft.com/office/powerpoint/2010/main" val="970958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構築③｜初期アンケートとタグ設計</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★使用頻度を最初に聞く。これがF2オファーのタイミングを逆算する材料になる。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1797479170"/>
              </p:ext>
            </p:extLst>
          </p:nvPr>
        </p:nvGraphicFramePr>
        <p:xfrm>
          <a:off x="432000" y="1620000"/>
          <a:ext cx="9043199" cy="1476000"/>
        </p:xfrm>
        <a:graphic>
          <a:graphicData uri="http://schemas.openxmlformats.org/drawingml/2006/table">
            <a:tbl>
              <a:tblPr firstRow="1" bandRow="1">
                <a:tableStyleId>{5C22544A-7EE6-4342-B048-85BDC9FD1C3A}</a:tableStyleId>
              </a:tblPr>
              <a:tblGrid>
                <a:gridCol w="2160000">
                  <a:extLst>
                    <a:ext uri="{9D8B030D-6E8A-4147-A177-3AD203B41FA5}">
                      <a16:colId xmlns:a16="http://schemas.microsoft.com/office/drawing/2014/main" val="20000"/>
                    </a:ext>
                  </a:extLst>
                </a:gridCol>
                <a:gridCol w="2664000">
                  <a:extLst>
                    <a:ext uri="{9D8B030D-6E8A-4147-A177-3AD203B41FA5}">
                      <a16:colId xmlns:a16="http://schemas.microsoft.com/office/drawing/2014/main" val="20001"/>
                    </a:ext>
                  </a:extLst>
                </a:gridCol>
                <a:gridCol w="1655999">
                  <a:extLst>
                    <a:ext uri="{9D8B030D-6E8A-4147-A177-3AD203B41FA5}">
                      <a16:colId xmlns:a16="http://schemas.microsoft.com/office/drawing/2014/main" val="20002"/>
                    </a:ext>
                  </a:extLst>
                </a:gridCol>
                <a:gridCol w="2563200">
                  <a:extLst>
                    <a:ext uri="{9D8B030D-6E8A-4147-A177-3AD203B41FA5}">
                      <a16:colId xmlns:a16="http://schemas.microsoft.com/office/drawing/2014/main" val="20003"/>
                    </a:ext>
                  </a:extLst>
                </a:gridCol>
              </a:tblGrid>
              <a:tr h="295200">
                <a:tc>
                  <a:txBody>
                    <a:bodyPr/>
                    <a:lstStyle/>
                    <a:p>
                      <a:pPr algn="l"/>
                      <a:r>
                        <a:rPr sz="1400" b="1">
                          <a:solidFill>
                            <a:srgbClr val="FFFFFF"/>
                          </a:solidFill>
                          <a:latin typeface="メイリオ"/>
                          <a:ea typeface="メイリオ"/>
                          <a:cs typeface="メイリオ"/>
                        </a:rPr>
                        <a:t>設問</a:t>
                      </a:r>
                    </a:p>
                  </a:txBody>
                  <a:tcPr marL="43200" marR="43200" marT="18000" marB="18000" anchor="ctr">
                    <a:solidFill>
                      <a:srgbClr val="1F285A"/>
                    </a:solidFill>
                  </a:tcPr>
                </a:tc>
                <a:tc>
                  <a:txBody>
                    <a:bodyPr/>
                    <a:lstStyle/>
                    <a:p>
                      <a:pPr algn="l"/>
                      <a:r>
                        <a:rPr sz="1400" b="1">
                          <a:solidFill>
                            <a:srgbClr val="FFFFFF"/>
                          </a:solidFill>
                          <a:latin typeface="メイリオ"/>
                          <a:ea typeface="メイリオ"/>
                          <a:cs typeface="メイリオ"/>
                        </a:rPr>
                        <a:t>選択肢の例</a:t>
                      </a:r>
                    </a:p>
                  </a:txBody>
                  <a:tcPr marL="43200" marR="43200" marT="18000" marB="18000" anchor="ctr">
                    <a:solidFill>
                      <a:srgbClr val="1F285A"/>
                    </a:solidFill>
                  </a:tcPr>
                </a:tc>
                <a:tc>
                  <a:txBody>
                    <a:bodyPr/>
                    <a:lstStyle/>
                    <a:p>
                      <a:pPr algn="l"/>
                      <a:r>
                        <a:rPr sz="1400" b="1">
                          <a:solidFill>
                            <a:srgbClr val="FFFFFF"/>
                          </a:solidFill>
                          <a:latin typeface="メイリオ"/>
                          <a:ea typeface="メイリオ"/>
                          <a:cs typeface="メイリオ"/>
                        </a:rPr>
                        <a:t>取れるタグ</a:t>
                      </a:r>
                    </a:p>
                  </a:txBody>
                  <a:tcPr marL="43200" marR="43200" marT="18000" marB="18000" anchor="ctr">
                    <a:solidFill>
                      <a:srgbClr val="1F285A"/>
                    </a:solidFill>
                  </a:tcPr>
                </a:tc>
                <a:tc>
                  <a:txBody>
                    <a:bodyPr/>
                    <a:lstStyle/>
                    <a:p>
                      <a:pPr algn="l"/>
                      <a:r>
                        <a:rPr sz="1400" b="1">
                          <a:solidFill>
                            <a:srgbClr val="FFFFFF"/>
                          </a:solidFill>
                          <a:latin typeface="メイリオ"/>
                          <a:ea typeface="メイリオ"/>
                          <a:cs typeface="メイリオ"/>
                        </a:rPr>
                        <a:t>何に使うか</a:t>
                      </a:r>
                    </a:p>
                  </a:txBody>
                  <a:tcPr marL="43200" marR="43200" marT="18000" marB="18000" anchor="ctr">
                    <a:solidFill>
                      <a:srgbClr val="1F285A"/>
                    </a:solidFill>
                  </a:tcPr>
                </a:tc>
                <a:extLst>
                  <a:ext uri="{0D108BD9-81ED-4DB2-BD59-A6C34878D82A}">
                    <a16:rowId xmlns:a16="http://schemas.microsoft.com/office/drawing/2014/main" val="10000"/>
                  </a:ext>
                </a:extLst>
              </a:tr>
              <a:tr h="295200">
                <a:tc>
                  <a:txBody>
                    <a:bodyPr/>
                    <a:lstStyle/>
                    <a:p>
                      <a:pPr algn="l"/>
                      <a:r>
                        <a:rPr sz="1400">
                          <a:solidFill>
                            <a:srgbClr val="333333"/>
                          </a:solidFill>
                          <a:latin typeface="メイリオ"/>
                          <a:ea typeface="メイリオ"/>
                          <a:cs typeface="メイリオ"/>
                        </a:rPr>
                        <a:t>お悩みは</a:t>
                      </a:r>
                    </a:p>
                  </a:txBody>
                  <a:tcPr anchor="ctr">
                    <a:solidFill>
                      <a:srgbClr val="FFFFFF"/>
                    </a:solidFill>
                  </a:tcPr>
                </a:tc>
                <a:tc>
                  <a:txBody>
                    <a:bodyPr/>
                    <a:lstStyle/>
                    <a:p>
                      <a:pPr algn="l"/>
                      <a:r>
                        <a:rPr sz="1400">
                          <a:solidFill>
                            <a:srgbClr val="333333"/>
                          </a:solidFill>
                          <a:latin typeface="メイリオ"/>
                          <a:ea typeface="メイリオ"/>
                          <a:cs typeface="メイリオ"/>
                        </a:rPr>
                        <a:t>乾燥／ハリ／くすみ／疲れ</a:t>
                      </a:r>
                    </a:p>
                  </a:txBody>
                  <a:tcPr anchor="ctr">
                    <a:solidFill>
                      <a:srgbClr val="FFFFFF"/>
                    </a:solidFill>
                  </a:tcPr>
                </a:tc>
                <a:tc>
                  <a:txBody>
                    <a:bodyPr/>
                    <a:lstStyle/>
                    <a:p>
                      <a:pPr algn="l"/>
                      <a:r>
                        <a:rPr sz="1400">
                          <a:solidFill>
                            <a:srgbClr val="333333"/>
                          </a:solidFill>
                          <a:latin typeface="メイリオ"/>
                          <a:ea typeface="メイリオ"/>
                          <a:cs typeface="メイリオ"/>
                        </a:rPr>
                        <a:t>悩みタグ</a:t>
                      </a:r>
                    </a:p>
                  </a:txBody>
                  <a:tcPr anchor="ctr">
                    <a:solidFill>
                      <a:srgbClr val="FFFFFF"/>
                    </a:solidFill>
                  </a:tcPr>
                </a:tc>
                <a:tc>
                  <a:txBody>
                    <a:bodyPr/>
                    <a:lstStyle/>
                    <a:p>
                      <a:pPr algn="l"/>
                      <a:r>
                        <a:rPr sz="1400">
                          <a:solidFill>
                            <a:srgbClr val="333333"/>
                          </a:solidFill>
                          <a:latin typeface="メイリオ"/>
                          <a:ea typeface="メイリオ"/>
                          <a:cs typeface="メイリオ"/>
                        </a:rPr>
                        <a:t>配信内容の出し分け</a:t>
                      </a:r>
                    </a:p>
                  </a:txBody>
                  <a:tcPr anchor="ctr">
                    <a:solidFill>
                      <a:srgbClr val="FFFFFF"/>
                    </a:solidFill>
                  </a:tcPr>
                </a:tc>
                <a:extLst>
                  <a:ext uri="{0D108BD9-81ED-4DB2-BD59-A6C34878D82A}">
                    <a16:rowId xmlns:a16="http://schemas.microsoft.com/office/drawing/2014/main" val="10001"/>
                  </a:ext>
                </a:extLst>
              </a:tr>
              <a:tr h="295200">
                <a:tc>
                  <a:txBody>
                    <a:bodyPr/>
                    <a:lstStyle/>
                    <a:p>
                      <a:pPr algn="l"/>
                      <a:r>
                        <a:rPr sz="1400">
                          <a:solidFill>
                            <a:srgbClr val="333333"/>
                          </a:solidFill>
                          <a:latin typeface="メイリオ"/>
                          <a:ea typeface="メイリオ"/>
                          <a:cs typeface="メイリオ"/>
                        </a:rPr>
                        <a:t>★1日の使用量は</a:t>
                      </a:r>
                    </a:p>
                  </a:txBody>
                  <a:tcPr anchor="ctr">
                    <a:solidFill>
                      <a:srgbClr val="F4F7FF"/>
                    </a:solidFill>
                  </a:tcPr>
                </a:tc>
                <a:tc>
                  <a:txBody>
                    <a:bodyPr/>
                    <a:lstStyle/>
                    <a:p>
                      <a:pPr algn="l"/>
                      <a:r>
                        <a:rPr sz="1400">
                          <a:solidFill>
                            <a:srgbClr val="333333"/>
                          </a:solidFill>
                          <a:latin typeface="メイリオ"/>
                          <a:ea typeface="メイリオ"/>
                          <a:cs typeface="メイリオ"/>
                        </a:rPr>
                        <a:t>1回／2回／不定期</a:t>
                      </a:r>
                    </a:p>
                  </a:txBody>
                  <a:tcPr anchor="ctr">
                    <a:solidFill>
                      <a:srgbClr val="F4F7FF"/>
                    </a:solidFill>
                  </a:tcPr>
                </a:tc>
                <a:tc>
                  <a:txBody>
                    <a:bodyPr/>
                    <a:lstStyle/>
                    <a:p>
                      <a:pPr algn="l"/>
                      <a:r>
                        <a:rPr sz="1400">
                          <a:solidFill>
                            <a:srgbClr val="333333"/>
                          </a:solidFill>
                          <a:latin typeface="メイリオ"/>
                          <a:ea typeface="メイリオ"/>
                          <a:cs typeface="メイリオ"/>
                        </a:rPr>
                        <a:t>使用頻度タグ</a:t>
                      </a:r>
                    </a:p>
                  </a:txBody>
                  <a:tcPr anchor="ctr">
                    <a:solidFill>
                      <a:srgbClr val="F4F7FF"/>
                    </a:solidFill>
                  </a:tcPr>
                </a:tc>
                <a:tc>
                  <a:txBody>
                    <a:bodyPr/>
                    <a:lstStyle/>
                    <a:p>
                      <a:pPr algn="l"/>
                      <a:r>
                        <a:rPr sz="1400">
                          <a:solidFill>
                            <a:srgbClr val="333333"/>
                          </a:solidFill>
                          <a:latin typeface="メイリオ"/>
                          <a:ea typeface="メイリオ"/>
                          <a:cs typeface="メイリオ"/>
                        </a:rPr>
                        <a:t>★F2オファーの日数を逆算</a:t>
                      </a:r>
                    </a:p>
                  </a:txBody>
                  <a:tcPr anchor="ctr">
                    <a:solidFill>
                      <a:srgbClr val="F4F7FF"/>
                    </a:solidFill>
                  </a:tcPr>
                </a:tc>
                <a:extLst>
                  <a:ext uri="{0D108BD9-81ED-4DB2-BD59-A6C34878D82A}">
                    <a16:rowId xmlns:a16="http://schemas.microsoft.com/office/drawing/2014/main" val="10002"/>
                  </a:ext>
                </a:extLst>
              </a:tr>
              <a:tr h="295200">
                <a:tc>
                  <a:txBody>
                    <a:bodyPr/>
                    <a:lstStyle/>
                    <a:p>
                      <a:pPr algn="l"/>
                      <a:r>
                        <a:rPr sz="1400">
                          <a:solidFill>
                            <a:srgbClr val="333333"/>
                          </a:solidFill>
                          <a:latin typeface="メイリオ"/>
                          <a:ea typeface="メイリオ"/>
                          <a:cs typeface="メイリオ"/>
                        </a:rPr>
                        <a:t>同種の商品の使用歴</a:t>
                      </a:r>
                    </a:p>
                  </a:txBody>
                  <a:tcPr anchor="ctr">
                    <a:solidFill>
                      <a:srgbClr val="FFFFFF"/>
                    </a:solidFill>
                  </a:tcPr>
                </a:tc>
                <a:tc>
                  <a:txBody>
                    <a:bodyPr/>
                    <a:lstStyle/>
                    <a:p>
                      <a:pPr algn="l"/>
                      <a:r>
                        <a:rPr sz="1400">
                          <a:solidFill>
                            <a:srgbClr val="333333"/>
                          </a:solidFill>
                          <a:latin typeface="メイリオ"/>
                          <a:ea typeface="メイリオ"/>
                          <a:cs typeface="メイリオ"/>
                        </a:rPr>
                        <a:t>初めて／他社から乗り換え</a:t>
                      </a:r>
                    </a:p>
                  </a:txBody>
                  <a:tcPr anchor="ctr">
                    <a:solidFill>
                      <a:srgbClr val="FFFFFF"/>
                    </a:solidFill>
                  </a:tcPr>
                </a:tc>
                <a:tc>
                  <a:txBody>
                    <a:bodyPr/>
                    <a:lstStyle/>
                    <a:p>
                      <a:pPr algn="l"/>
                      <a:r>
                        <a:rPr sz="1400">
                          <a:solidFill>
                            <a:srgbClr val="333333"/>
                          </a:solidFill>
                          <a:latin typeface="メイリオ"/>
                          <a:ea typeface="メイリオ"/>
                          <a:cs typeface="メイリオ"/>
                        </a:rPr>
                        <a:t>経験タグ</a:t>
                      </a:r>
                    </a:p>
                  </a:txBody>
                  <a:tcPr anchor="ctr">
                    <a:solidFill>
                      <a:srgbClr val="FFFFFF"/>
                    </a:solidFill>
                  </a:tcPr>
                </a:tc>
                <a:tc>
                  <a:txBody>
                    <a:bodyPr/>
                    <a:lstStyle/>
                    <a:p>
                      <a:pPr algn="l"/>
                      <a:r>
                        <a:rPr sz="1400">
                          <a:solidFill>
                            <a:srgbClr val="333333"/>
                          </a:solidFill>
                          <a:latin typeface="メイリオ"/>
                          <a:ea typeface="メイリオ"/>
                          <a:cs typeface="メイリオ"/>
                        </a:rPr>
                        <a:t>使い方の説明の深さ</a:t>
                      </a:r>
                    </a:p>
                  </a:txBody>
                  <a:tcPr anchor="ctr">
                    <a:solidFill>
                      <a:srgbClr val="FFFFFF"/>
                    </a:solidFill>
                  </a:tcPr>
                </a:tc>
                <a:extLst>
                  <a:ext uri="{0D108BD9-81ED-4DB2-BD59-A6C34878D82A}">
                    <a16:rowId xmlns:a16="http://schemas.microsoft.com/office/drawing/2014/main" val="10003"/>
                  </a:ext>
                </a:extLst>
              </a:tr>
              <a:tr h="295200">
                <a:tc>
                  <a:txBody>
                    <a:bodyPr/>
                    <a:lstStyle/>
                    <a:p>
                      <a:pPr algn="l"/>
                      <a:r>
                        <a:rPr sz="1400">
                          <a:solidFill>
                            <a:srgbClr val="333333"/>
                          </a:solidFill>
                          <a:latin typeface="メイリオ"/>
                          <a:ea typeface="メイリオ"/>
                          <a:cs typeface="メイリオ"/>
                        </a:rPr>
                        <a:t>いつ使うことが多いか</a:t>
                      </a:r>
                    </a:p>
                  </a:txBody>
                  <a:tcPr anchor="ctr">
                    <a:solidFill>
                      <a:srgbClr val="F4F7FF"/>
                    </a:solidFill>
                  </a:tcPr>
                </a:tc>
                <a:tc>
                  <a:txBody>
                    <a:bodyPr/>
                    <a:lstStyle/>
                    <a:p>
                      <a:pPr algn="l"/>
                      <a:r>
                        <a:rPr sz="1400">
                          <a:solidFill>
                            <a:srgbClr val="333333"/>
                          </a:solidFill>
                          <a:latin typeface="メイリオ"/>
                          <a:ea typeface="メイリオ"/>
                          <a:cs typeface="メイリオ"/>
                        </a:rPr>
                        <a:t>朝／夜／両方</a:t>
                      </a:r>
                    </a:p>
                  </a:txBody>
                  <a:tcPr anchor="ctr">
                    <a:solidFill>
                      <a:srgbClr val="F4F7FF"/>
                    </a:solidFill>
                  </a:tcPr>
                </a:tc>
                <a:tc>
                  <a:txBody>
                    <a:bodyPr/>
                    <a:lstStyle/>
                    <a:p>
                      <a:pPr algn="l"/>
                      <a:r>
                        <a:rPr sz="1400">
                          <a:solidFill>
                            <a:srgbClr val="333333"/>
                          </a:solidFill>
                          <a:latin typeface="メイリオ"/>
                          <a:ea typeface="メイリオ"/>
                          <a:cs typeface="メイリオ"/>
                        </a:rPr>
                        <a:t>生活タグ</a:t>
                      </a:r>
                    </a:p>
                  </a:txBody>
                  <a:tcPr anchor="ctr">
                    <a:solidFill>
                      <a:srgbClr val="F4F7FF"/>
                    </a:solidFill>
                  </a:tcPr>
                </a:tc>
                <a:tc>
                  <a:txBody>
                    <a:bodyPr/>
                    <a:lstStyle/>
                    <a:p>
                      <a:pPr algn="l"/>
                      <a:r>
                        <a:rPr sz="1400">
                          <a:solidFill>
                            <a:srgbClr val="333333"/>
                          </a:solidFill>
                          <a:latin typeface="メイリオ"/>
                          <a:ea typeface="メイリオ"/>
                          <a:cs typeface="メイリオ"/>
                        </a:rPr>
                        <a:t>配信時間の最適化</a:t>
                      </a:r>
                    </a:p>
                  </a:txBody>
                  <a:tcPr anchor="ctr">
                    <a:solidFill>
                      <a:srgbClr val="F4F7FF"/>
                    </a:solid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432000" y="3311999"/>
            <a:ext cx="9043200" cy="1152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999" y="3450625"/>
            <a:ext cx="8611200" cy="874747"/>
          </a:xfrm>
          <a:prstGeom prst="rect">
            <a:avLst/>
          </a:prstGeom>
          <a:noFill/>
        </p:spPr>
        <p:txBody>
          <a:bodyPr wrap="square" lIns="50400" tIns="21600" rIns="50400" bIns="21600" anchor="ctr">
            <a:spAutoFit/>
          </a:bodyPr>
          <a:lstStyle/>
          <a:p>
            <a:pPr algn="l">
              <a:spcAft>
                <a:spcPts val="500"/>
              </a:spcAft>
            </a:pPr>
            <a:r>
              <a:rPr sz="1400" b="1">
                <a:solidFill>
                  <a:srgbClr val="ED7D31"/>
                </a:solidFill>
                <a:latin typeface="メイリオ"/>
                <a:ea typeface="メイリオ"/>
                <a:cs typeface="メイリオ"/>
              </a:rPr>
              <a:t>★F2オファーのタイミングは、日数固定にしない</a:t>
            </a:r>
          </a:p>
          <a:p>
            <a:pPr algn="l">
              <a:lnSpc>
                <a:spcPct val="132000"/>
              </a:lnSpc>
            </a:pPr>
            <a:r>
              <a:rPr sz="1400">
                <a:solidFill>
                  <a:srgbClr val="333333"/>
                </a:solidFill>
                <a:latin typeface="メイリオ"/>
                <a:ea typeface="メイリオ"/>
                <a:cs typeface="メイリオ"/>
              </a:rPr>
              <a:t>商品の内容量 ÷ 1日の使用量 ＝ 無くなる日　を逆算し、その少し前に出す。同じ商品でも使用頻度が違えば、無くなる日は変わる。</a:t>
            </a:r>
          </a:p>
        </p:txBody>
      </p:sp>
      <p:sp>
        <p:nvSpPr>
          <p:cNvPr id="8" name="Rounded Rectangle 7"/>
          <p:cNvSpPr/>
          <p:nvPr/>
        </p:nvSpPr>
        <p:spPr>
          <a:xfrm>
            <a:off x="432000" y="4643999"/>
            <a:ext cx="9043200" cy="100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7999" y="4860860"/>
            <a:ext cx="8611200" cy="574280"/>
          </a:xfrm>
          <a:prstGeom prst="rect">
            <a:avLst/>
          </a:prstGeom>
          <a:noFill/>
        </p:spPr>
        <p:txBody>
          <a:bodyPr wrap="square" lIns="50400" tIns="21600" rIns="50400" bIns="21600" anchor="ctr">
            <a:spAutoFit/>
          </a:bodyPr>
          <a:lstStyle/>
          <a:p>
            <a:pPr algn="l">
              <a:spcAft>
                <a:spcPts val="400"/>
              </a:spcAft>
            </a:pPr>
            <a:r>
              <a:rPr sz="1400" b="1">
                <a:solidFill>
                  <a:srgbClr val="1F285A"/>
                </a:solidFill>
                <a:latin typeface="メイリオ"/>
                <a:ea typeface="メイリオ"/>
                <a:cs typeface="メイリオ"/>
              </a:rPr>
              <a:t>設問は4つまで。多いと最後まで答えてもらえない。</a:t>
            </a:r>
          </a:p>
          <a:p>
            <a:pPr algn="l">
              <a:lnSpc>
                <a:spcPct val="130000"/>
              </a:lnSpc>
            </a:pPr>
            <a:r>
              <a:rPr sz="1400">
                <a:solidFill>
                  <a:srgbClr val="333333"/>
                </a:solidFill>
                <a:latin typeface="メイリオ"/>
                <a:ea typeface="メイリオ"/>
                <a:cs typeface="メイリオ"/>
              </a:rPr>
              <a:t>残りの属性は、購買データ側（P43のID連携）から自動で取る。聞かなくて済むことは聞かない。</a:t>
            </a:r>
          </a:p>
        </p:txBody>
      </p:sp>
      <p:sp>
        <p:nvSpPr>
          <p:cNvPr id="10" name="TextBox 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意見｜業界汎用のため具体的な日数は記載していない。商材ごとに逆算して設定する</a:t>
            </a:r>
          </a:p>
        </p:txBody>
      </p:sp>
    </p:spTree>
    <p:extLst>
      <p:ext uri="{BB962C8B-B14F-4D97-AF65-F5344CB8AC3E}">
        <p14:creationId xmlns:p14="http://schemas.microsoft.com/office/powerpoint/2010/main" val="12511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68898-91A3-9BC1-3966-7771C36E7509}"/>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構築④｜リッチメニュー（3タブ × 6枠＝18ボタン）</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★「解約・休止」を必ず1枠に置く。隠さないことが、結果的に解約を減らす。</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20000" y="1655999"/>
            <a:ext cx="5184000" cy="2376000"/>
          </a:xfrm>
          <a:prstGeom prst="roundRect">
            <a:avLst>
              <a:gd name="adj" fmla="val 6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1600" y="1677599"/>
            <a:ext cx="1702800" cy="1980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お届け</a:t>
            </a:r>
          </a:p>
        </p:txBody>
      </p:sp>
      <p:sp>
        <p:nvSpPr>
          <p:cNvPr id="7" name="Rectangle 6"/>
          <p:cNvSpPr/>
          <p:nvPr/>
        </p:nvSpPr>
        <p:spPr>
          <a:xfrm>
            <a:off x="2455200" y="1677599"/>
            <a:ext cx="1702800" cy="1980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使い方</a:t>
            </a:r>
          </a:p>
        </p:txBody>
      </p:sp>
      <p:sp>
        <p:nvSpPr>
          <p:cNvPr id="8" name="Rectangle 7"/>
          <p:cNvSpPr/>
          <p:nvPr/>
        </p:nvSpPr>
        <p:spPr>
          <a:xfrm>
            <a:off x="4168800" y="1677599"/>
            <a:ext cx="1702800" cy="1980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メイリオ"/>
                <a:ea typeface="メイリオ"/>
                <a:cs typeface="メイリオ"/>
              </a:rPr>
              <a:t>お客様情報</a:t>
            </a:r>
          </a:p>
        </p:txBody>
      </p:sp>
      <p:sp>
        <p:nvSpPr>
          <p:cNvPr id="9" name="Rounded Rectangle 8"/>
          <p:cNvSpPr/>
          <p:nvPr/>
        </p:nvSpPr>
        <p:spPr>
          <a:xfrm>
            <a:off x="741600" y="1897199"/>
            <a:ext cx="1699200" cy="1045800"/>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1400" b="1">
                <a:solidFill>
                  <a:srgbClr val="1F285A"/>
                </a:solidFill>
                <a:latin typeface="メイリオ"/>
                <a:ea typeface="メイリオ"/>
                <a:cs typeface="メイリオ"/>
              </a:rPr>
              <a:t>お届け日を</a:t>
            </a:r>
          </a:p>
          <a:p>
            <a:pPr algn="ctr">
              <a:lnSpc>
                <a:spcPct val="110000"/>
              </a:lnSpc>
            </a:pPr>
            <a:r>
              <a:rPr sz="1400" b="1">
                <a:solidFill>
                  <a:srgbClr val="1F285A"/>
                </a:solidFill>
                <a:latin typeface="メイリオ"/>
                <a:ea typeface="メイリオ"/>
                <a:cs typeface="メイリオ"/>
              </a:rPr>
              <a:t>変更する</a:t>
            </a:r>
          </a:p>
        </p:txBody>
      </p:sp>
      <p:sp>
        <p:nvSpPr>
          <p:cNvPr id="10" name="Rounded Rectangle 9"/>
          <p:cNvSpPr/>
          <p:nvPr/>
        </p:nvSpPr>
        <p:spPr>
          <a:xfrm>
            <a:off x="2462400" y="1897199"/>
            <a:ext cx="1699200" cy="1045800"/>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1400" b="1">
                <a:solidFill>
                  <a:srgbClr val="1F285A"/>
                </a:solidFill>
                <a:latin typeface="メイリオ"/>
                <a:ea typeface="メイリオ"/>
                <a:cs typeface="メイリオ"/>
              </a:rPr>
              <a:t>今回だけ</a:t>
            </a:r>
          </a:p>
          <a:p>
            <a:pPr algn="ctr">
              <a:lnSpc>
                <a:spcPct val="110000"/>
              </a:lnSpc>
            </a:pPr>
            <a:r>
              <a:rPr sz="1400" b="1">
                <a:solidFill>
                  <a:srgbClr val="1F285A"/>
                </a:solidFill>
                <a:latin typeface="メイリオ"/>
                <a:ea typeface="メイリオ"/>
                <a:cs typeface="メイリオ"/>
              </a:rPr>
              <a:t>スキップ</a:t>
            </a:r>
          </a:p>
        </p:txBody>
      </p:sp>
      <p:sp>
        <p:nvSpPr>
          <p:cNvPr id="11" name="Rounded Rectangle 10"/>
          <p:cNvSpPr/>
          <p:nvPr/>
        </p:nvSpPr>
        <p:spPr>
          <a:xfrm>
            <a:off x="4183200" y="1897199"/>
            <a:ext cx="1699200" cy="1045800"/>
          </a:xfrm>
          <a:prstGeom prst="roundRect">
            <a:avLst>
              <a:gd name="adj" fmla="val 4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1400" b="1">
                <a:solidFill>
                  <a:srgbClr val="ED7D31"/>
                </a:solidFill>
                <a:latin typeface="メイリオ"/>
                <a:ea typeface="メイリオ"/>
                <a:cs typeface="メイリオ"/>
              </a:rPr>
              <a:t>★解約・休止</a:t>
            </a:r>
          </a:p>
          <a:p>
            <a:pPr algn="ctr">
              <a:lnSpc>
                <a:spcPct val="110000"/>
              </a:lnSpc>
            </a:pPr>
            <a:r>
              <a:rPr sz="1400" b="1">
                <a:solidFill>
                  <a:srgbClr val="ED7D31"/>
                </a:solidFill>
                <a:latin typeface="メイリオ"/>
                <a:ea typeface="メイリオ"/>
                <a:cs typeface="メイリオ"/>
              </a:rPr>
              <a:t>のご相談</a:t>
            </a:r>
          </a:p>
        </p:txBody>
      </p:sp>
      <p:sp>
        <p:nvSpPr>
          <p:cNvPr id="12" name="Rounded Rectangle 11"/>
          <p:cNvSpPr/>
          <p:nvPr/>
        </p:nvSpPr>
        <p:spPr>
          <a:xfrm>
            <a:off x="741600" y="2964600"/>
            <a:ext cx="1699200" cy="1045800"/>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1400" b="1">
                <a:solidFill>
                  <a:srgbClr val="1F285A"/>
                </a:solidFill>
                <a:latin typeface="メイリオ"/>
                <a:ea typeface="メイリオ"/>
                <a:cs typeface="メイリオ"/>
              </a:rPr>
              <a:t>配送状況を</a:t>
            </a:r>
          </a:p>
          <a:p>
            <a:pPr algn="ctr">
              <a:lnSpc>
                <a:spcPct val="110000"/>
              </a:lnSpc>
            </a:pPr>
            <a:r>
              <a:rPr sz="1400" b="1">
                <a:solidFill>
                  <a:srgbClr val="1F285A"/>
                </a:solidFill>
                <a:latin typeface="メイリオ"/>
                <a:ea typeface="メイリオ"/>
                <a:cs typeface="メイリオ"/>
              </a:rPr>
              <a:t>見る</a:t>
            </a:r>
          </a:p>
        </p:txBody>
      </p:sp>
      <p:sp>
        <p:nvSpPr>
          <p:cNvPr id="13" name="Rounded Rectangle 12"/>
          <p:cNvSpPr/>
          <p:nvPr/>
        </p:nvSpPr>
        <p:spPr>
          <a:xfrm>
            <a:off x="2462400" y="2964600"/>
            <a:ext cx="1699200" cy="1045800"/>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1400" b="1">
                <a:solidFill>
                  <a:srgbClr val="1F285A"/>
                </a:solidFill>
                <a:latin typeface="メイリオ"/>
                <a:ea typeface="メイリオ"/>
                <a:cs typeface="メイリオ"/>
              </a:rPr>
              <a:t>お届け間隔を</a:t>
            </a:r>
          </a:p>
          <a:p>
            <a:pPr algn="ctr">
              <a:lnSpc>
                <a:spcPct val="110000"/>
              </a:lnSpc>
            </a:pPr>
            <a:r>
              <a:rPr sz="1400" b="1">
                <a:solidFill>
                  <a:srgbClr val="1F285A"/>
                </a:solidFill>
                <a:latin typeface="メイリオ"/>
                <a:ea typeface="メイリオ"/>
                <a:cs typeface="メイリオ"/>
              </a:rPr>
              <a:t>変える</a:t>
            </a:r>
          </a:p>
        </p:txBody>
      </p:sp>
      <p:sp>
        <p:nvSpPr>
          <p:cNvPr id="14" name="Rounded Rectangle 13"/>
          <p:cNvSpPr/>
          <p:nvPr/>
        </p:nvSpPr>
        <p:spPr>
          <a:xfrm>
            <a:off x="4183200" y="2964600"/>
            <a:ext cx="1699200" cy="1045800"/>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1400" b="1">
                <a:solidFill>
                  <a:srgbClr val="1F285A"/>
                </a:solidFill>
                <a:latin typeface="メイリオ"/>
                <a:ea typeface="メイリオ"/>
                <a:cs typeface="メイリオ"/>
              </a:rPr>
              <a:t>数量を</a:t>
            </a:r>
          </a:p>
          <a:p>
            <a:pPr algn="ctr">
              <a:lnSpc>
                <a:spcPct val="110000"/>
              </a:lnSpc>
            </a:pPr>
            <a:r>
              <a:rPr sz="1400" b="1">
                <a:solidFill>
                  <a:srgbClr val="1F285A"/>
                </a:solidFill>
                <a:latin typeface="メイリオ"/>
                <a:ea typeface="メイリオ"/>
                <a:cs typeface="メイリオ"/>
              </a:rPr>
              <a:t>変える</a:t>
            </a:r>
          </a:p>
        </p:txBody>
      </p:sp>
      <p:sp>
        <p:nvSpPr>
          <p:cNvPr id="15" name="Rounded Rectangle 14"/>
          <p:cNvSpPr/>
          <p:nvPr/>
        </p:nvSpPr>
        <p:spPr>
          <a:xfrm>
            <a:off x="6120000" y="1655999"/>
            <a:ext cx="3499200" cy="2376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45999" y="1629010"/>
            <a:ext cx="3355200" cy="2429981"/>
          </a:xfrm>
          <a:prstGeom prst="rect">
            <a:avLst/>
          </a:prstGeom>
          <a:noFill/>
        </p:spPr>
        <p:txBody>
          <a:bodyPr wrap="square" lIns="50400" tIns="21600" rIns="50400" bIns="21600" anchor="ctr">
            <a:spAutoFit/>
          </a:bodyPr>
          <a:lstStyle/>
          <a:p>
            <a:pPr algn="l">
              <a:spcAft>
                <a:spcPts val="500"/>
              </a:spcAft>
            </a:pPr>
            <a:r>
              <a:rPr sz="1600" b="1">
                <a:solidFill>
                  <a:srgbClr val="ED7D31"/>
                </a:solidFill>
                <a:latin typeface="メイリオ"/>
                <a:ea typeface="メイリオ"/>
                <a:cs typeface="メイリオ"/>
              </a:rPr>
              <a:t>★なぜ解約を1軍に置くのか</a:t>
            </a:r>
          </a:p>
          <a:p>
            <a:pPr algn="l">
              <a:lnSpc>
                <a:spcPct val="132000"/>
              </a:lnSpc>
              <a:spcAft>
                <a:spcPts val="400"/>
              </a:spcAft>
            </a:pPr>
            <a:r>
              <a:rPr sz="1400">
                <a:solidFill>
                  <a:srgbClr val="333333"/>
                </a:solidFill>
                <a:latin typeface="メイリオ"/>
                <a:ea typeface="メイリオ"/>
                <a:cs typeface="メイリオ"/>
              </a:rPr>
              <a:t>探させると、人は電話に行く。電話が繋がらないと苦情になる。</a:t>
            </a:r>
          </a:p>
          <a:p>
            <a:pPr algn="l">
              <a:lnSpc>
                <a:spcPct val="132000"/>
              </a:lnSpc>
              <a:spcAft>
                <a:spcPts val="400"/>
              </a:spcAft>
            </a:pPr>
            <a:r>
              <a:rPr sz="1400">
                <a:solidFill>
                  <a:srgbClr val="333333"/>
                </a:solidFill>
                <a:latin typeface="メイリオ"/>
                <a:ea typeface="メイリオ"/>
                <a:cs typeface="メイリオ"/>
              </a:rPr>
              <a:t>LINEに置けば、タップした瞬間に「今回だけスキップ」「お届け間隔を変える」を先に提示できる。</a:t>
            </a:r>
          </a:p>
          <a:p>
            <a:pPr algn="l">
              <a:lnSpc>
                <a:spcPct val="132000"/>
              </a:lnSpc>
            </a:pPr>
            <a:r>
              <a:rPr sz="1400" b="1">
                <a:solidFill>
                  <a:srgbClr val="333333"/>
                </a:solidFill>
                <a:latin typeface="メイリオ"/>
                <a:ea typeface="メイリオ"/>
                <a:cs typeface="メイリオ"/>
              </a:rPr>
              <a:t>解約を隠す設計より、解約を受ける設計のほうが、結果として残る。</a:t>
            </a:r>
          </a:p>
        </p:txBody>
      </p:sp>
      <p:sp>
        <p:nvSpPr>
          <p:cNvPr id="17" name="Rounded Rectangle 16"/>
          <p:cNvSpPr/>
          <p:nvPr/>
        </p:nvSpPr>
        <p:spPr>
          <a:xfrm>
            <a:off x="432000" y="4248000"/>
            <a:ext cx="9043200" cy="140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7999" y="4322511"/>
            <a:ext cx="8611200" cy="1254979"/>
          </a:xfrm>
          <a:prstGeom prst="rect">
            <a:avLst/>
          </a:prstGeom>
          <a:noFill/>
        </p:spPr>
        <p:txBody>
          <a:bodyPr wrap="square" lIns="50400" tIns="21600" rIns="50400" bIns="21600" anchor="ctr">
            <a:spAutoFit/>
          </a:bodyPr>
          <a:lstStyle/>
          <a:p>
            <a:pPr algn="l">
              <a:spcAft>
                <a:spcPts val="500"/>
              </a:spcAft>
            </a:pPr>
            <a:r>
              <a:rPr sz="1600" b="1">
                <a:solidFill>
                  <a:srgbClr val="1F285A"/>
                </a:solidFill>
                <a:latin typeface="メイリオ"/>
                <a:ea typeface="メイリオ"/>
                <a:cs typeface="メイリオ"/>
              </a:rPr>
              <a:t>タブの並び順にも意味がある</a:t>
            </a:r>
          </a:p>
          <a:p>
            <a:pPr algn="l">
              <a:lnSpc>
                <a:spcPct val="130000"/>
              </a:lnSpc>
              <a:spcAft>
                <a:spcPts val="300"/>
              </a:spcAft>
            </a:pPr>
            <a:r>
              <a:rPr sz="1400">
                <a:solidFill>
                  <a:srgbClr val="333333"/>
                </a:solidFill>
                <a:latin typeface="メイリオ"/>
                <a:ea typeface="メイリオ"/>
                <a:cs typeface="メイリオ"/>
              </a:rPr>
              <a:t>1番目「お届け」＝ 定期中の人が一番よく来る用事（変更・スキップ・解約）を最短で。</a:t>
            </a:r>
          </a:p>
          <a:p>
            <a:pPr algn="l">
              <a:lnSpc>
                <a:spcPct val="130000"/>
              </a:lnSpc>
              <a:spcAft>
                <a:spcPts val="300"/>
              </a:spcAft>
            </a:pPr>
            <a:r>
              <a:rPr sz="1400">
                <a:solidFill>
                  <a:srgbClr val="333333"/>
                </a:solidFill>
                <a:latin typeface="メイリオ"/>
                <a:ea typeface="メイリオ"/>
                <a:cs typeface="メイリオ"/>
              </a:rPr>
              <a:t>2番目「使い方」＝ 効果を感じない人の受け皿。短期離脱の防波堤。</a:t>
            </a:r>
          </a:p>
          <a:p>
            <a:pPr algn="l">
              <a:lnSpc>
                <a:spcPct val="130000"/>
              </a:lnSpc>
            </a:pPr>
            <a:r>
              <a:rPr sz="1400">
                <a:solidFill>
                  <a:srgbClr val="333333"/>
                </a:solidFill>
                <a:latin typeface="メイリオ"/>
                <a:ea typeface="メイリオ"/>
                <a:cs typeface="メイリオ"/>
              </a:rPr>
              <a:t>3番目「お客様情報」＝ 頻度は低いが必要なもの。</a:t>
            </a:r>
          </a:p>
        </p:txBody>
      </p:sp>
      <p:sp>
        <p:nvSpPr>
          <p:cNvPr id="19" name="TextBox 18"/>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意見｜18ボタンは商材により調整する。ただし「解約・休止」の枠は必ず1軍タブに残すこと</a:t>
            </a:r>
          </a:p>
        </p:txBody>
      </p:sp>
    </p:spTree>
    <p:extLst>
      <p:ext uri="{BB962C8B-B14F-4D97-AF65-F5344CB8AC3E}">
        <p14:creationId xmlns:p14="http://schemas.microsoft.com/office/powerpoint/2010/main" val="2034270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構築⑤｜LINE ID連携（★以降すべての前提）</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「定期何回目か」「次回発送日はいつか」が分からないと、この後の施策は1つも打てない。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3693583737"/>
              </p:ext>
            </p:extLst>
          </p:nvPr>
        </p:nvGraphicFramePr>
        <p:xfrm>
          <a:off x="432000" y="1620000"/>
          <a:ext cx="9043200" cy="1368000"/>
        </p:xfrm>
        <a:graphic>
          <a:graphicData uri="http://schemas.openxmlformats.org/drawingml/2006/table">
            <a:tbl>
              <a:tblPr firstRow="1" bandRow="1">
                <a:tableStyleId>{5C22544A-7EE6-4342-B048-85BDC9FD1C3A}</a:tableStyleId>
              </a:tblPr>
              <a:tblGrid>
                <a:gridCol w="3456000">
                  <a:extLst>
                    <a:ext uri="{9D8B030D-6E8A-4147-A177-3AD203B41FA5}">
                      <a16:colId xmlns:a16="http://schemas.microsoft.com/office/drawing/2014/main" val="20000"/>
                    </a:ext>
                  </a:extLst>
                </a:gridCol>
                <a:gridCol w="2880000">
                  <a:extLst>
                    <a:ext uri="{9D8B030D-6E8A-4147-A177-3AD203B41FA5}">
                      <a16:colId xmlns:a16="http://schemas.microsoft.com/office/drawing/2014/main" val="20001"/>
                    </a:ext>
                  </a:extLst>
                </a:gridCol>
                <a:gridCol w="2707200">
                  <a:extLst>
                    <a:ext uri="{9D8B030D-6E8A-4147-A177-3AD203B41FA5}">
                      <a16:colId xmlns:a16="http://schemas.microsoft.com/office/drawing/2014/main" val="20002"/>
                    </a:ext>
                  </a:extLst>
                </a:gridCol>
              </a:tblGrid>
              <a:tr h="273600">
                <a:tc>
                  <a:txBody>
                    <a:bodyPr/>
                    <a:lstStyle/>
                    <a:p>
                      <a:pPr algn="l"/>
                      <a:r>
                        <a:rPr sz="1200" b="1">
                          <a:solidFill>
                            <a:srgbClr val="FFFFFF"/>
                          </a:solidFill>
                          <a:latin typeface="メイリオ"/>
                          <a:ea typeface="メイリオ"/>
                          <a:cs typeface="メイリオ"/>
                        </a:rPr>
                        <a:t>やりたいこと</a:t>
                      </a:r>
                    </a:p>
                  </a:txBody>
                  <a:tcPr marL="43200" marR="43200" marT="18000" marB="18000" anchor="ctr">
                    <a:solidFill>
                      <a:srgbClr val="1F285A"/>
                    </a:solidFill>
                  </a:tcPr>
                </a:tc>
                <a:tc>
                  <a:txBody>
                    <a:bodyPr/>
                    <a:lstStyle/>
                    <a:p>
                      <a:pPr algn="l"/>
                      <a:r>
                        <a:rPr sz="1200" b="1">
                          <a:solidFill>
                            <a:srgbClr val="FFFFFF"/>
                          </a:solidFill>
                          <a:latin typeface="メイリオ"/>
                          <a:ea typeface="メイリオ"/>
                          <a:cs typeface="メイリオ"/>
                        </a:rPr>
                        <a:t>ID連携なし</a:t>
                      </a:r>
                    </a:p>
                  </a:txBody>
                  <a:tcPr marL="43200" marR="43200" marT="18000" marB="18000" anchor="ctr">
                    <a:solidFill>
                      <a:srgbClr val="1F285A"/>
                    </a:solidFill>
                  </a:tcPr>
                </a:tc>
                <a:tc>
                  <a:txBody>
                    <a:bodyPr/>
                    <a:lstStyle/>
                    <a:p>
                      <a:pPr algn="l"/>
                      <a:r>
                        <a:rPr sz="1200" b="1">
                          <a:solidFill>
                            <a:srgbClr val="FFFFFF"/>
                          </a:solidFill>
                          <a:latin typeface="メイリオ"/>
                          <a:ea typeface="メイリオ"/>
                          <a:cs typeface="メイリオ"/>
                        </a:rPr>
                        <a:t>ID連携あり</a:t>
                      </a:r>
                    </a:p>
                  </a:txBody>
                  <a:tcPr marL="43200" marR="43200" marT="18000" marB="18000" anchor="ctr">
                    <a:solidFill>
                      <a:srgbClr val="1F285A"/>
                    </a:solidFill>
                  </a:tcPr>
                </a:tc>
                <a:extLst>
                  <a:ext uri="{0D108BD9-81ED-4DB2-BD59-A6C34878D82A}">
                    <a16:rowId xmlns:a16="http://schemas.microsoft.com/office/drawing/2014/main" val="10000"/>
                  </a:ext>
                </a:extLst>
              </a:tr>
              <a:tr h="273600">
                <a:tc>
                  <a:txBody>
                    <a:bodyPr/>
                    <a:lstStyle/>
                    <a:p>
                      <a:pPr algn="l"/>
                      <a:r>
                        <a:rPr sz="1200">
                          <a:solidFill>
                            <a:srgbClr val="333333"/>
                          </a:solidFill>
                          <a:latin typeface="メイリオ"/>
                          <a:ea typeface="メイリオ"/>
                          <a:cs typeface="メイリオ"/>
                        </a:rPr>
                        <a:t>購入商品に応じたF2オファー</a:t>
                      </a:r>
                    </a:p>
                  </a:txBody>
                  <a:tcPr anchor="ctr">
                    <a:solidFill>
                      <a:srgbClr val="FFFFFF"/>
                    </a:solidFill>
                  </a:tcPr>
                </a:tc>
                <a:tc>
                  <a:txBody>
                    <a:bodyPr/>
                    <a:lstStyle/>
                    <a:p>
                      <a:pPr algn="l"/>
                      <a:r>
                        <a:rPr sz="1200">
                          <a:solidFill>
                            <a:srgbClr val="333333"/>
                          </a:solidFill>
                          <a:latin typeface="メイリオ"/>
                          <a:ea typeface="メイリオ"/>
                          <a:cs typeface="メイリオ"/>
                        </a:rPr>
                        <a:t>× 全員に同じ配信しか送れない</a:t>
                      </a:r>
                    </a:p>
                  </a:txBody>
                  <a:tcPr anchor="ctr">
                    <a:solidFill>
                      <a:srgbClr val="FFFFFF"/>
                    </a:solidFill>
                  </a:tcPr>
                </a:tc>
                <a:tc>
                  <a:txBody>
                    <a:bodyPr/>
                    <a:lstStyle/>
                    <a:p>
                      <a:pPr algn="l"/>
                      <a:r>
                        <a:rPr sz="1200">
                          <a:solidFill>
                            <a:srgbClr val="333333"/>
                          </a:solidFill>
                          <a:latin typeface="メイリオ"/>
                          <a:ea typeface="メイリオ"/>
                          <a:cs typeface="メイリオ"/>
                        </a:rPr>
                        <a:t>○ 買った商品で出し分け</a:t>
                      </a:r>
                    </a:p>
                  </a:txBody>
                  <a:tcPr anchor="ctr">
                    <a:solidFill>
                      <a:srgbClr val="FFFFFF"/>
                    </a:solidFill>
                  </a:tcPr>
                </a:tc>
                <a:extLst>
                  <a:ext uri="{0D108BD9-81ED-4DB2-BD59-A6C34878D82A}">
                    <a16:rowId xmlns:a16="http://schemas.microsoft.com/office/drawing/2014/main" val="10001"/>
                  </a:ext>
                </a:extLst>
              </a:tr>
              <a:tr h="273600">
                <a:tc>
                  <a:txBody>
                    <a:bodyPr/>
                    <a:lstStyle/>
                    <a:p>
                      <a:pPr algn="l"/>
                      <a:r>
                        <a:rPr sz="1200">
                          <a:solidFill>
                            <a:srgbClr val="333333"/>
                          </a:solidFill>
                          <a:latin typeface="メイリオ"/>
                          <a:ea typeface="メイリオ"/>
                          <a:cs typeface="メイリオ"/>
                        </a:rPr>
                        <a:t>定期の次回発送前フォロー</a:t>
                      </a:r>
                    </a:p>
                  </a:txBody>
                  <a:tcPr anchor="ctr">
                    <a:solidFill>
                      <a:srgbClr val="F4F7FF"/>
                    </a:solidFill>
                  </a:tcPr>
                </a:tc>
                <a:tc>
                  <a:txBody>
                    <a:bodyPr/>
                    <a:lstStyle/>
                    <a:p>
                      <a:pPr algn="l"/>
                      <a:r>
                        <a:rPr sz="1200">
                          <a:solidFill>
                            <a:srgbClr val="333333"/>
                          </a:solidFill>
                          <a:latin typeface="メイリオ"/>
                          <a:ea typeface="メイリオ"/>
                          <a:cs typeface="メイリオ"/>
                        </a:rPr>
                        <a:t>× 打てない</a:t>
                      </a:r>
                    </a:p>
                  </a:txBody>
                  <a:tcPr anchor="ctr">
                    <a:solidFill>
                      <a:srgbClr val="F4F7FF"/>
                    </a:solidFill>
                  </a:tcPr>
                </a:tc>
                <a:tc>
                  <a:txBody>
                    <a:bodyPr/>
                    <a:lstStyle/>
                    <a:p>
                      <a:pPr algn="l"/>
                      <a:r>
                        <a:rPr sz="1200">
                          <a:solidFill>
                            <a:srgbClr val="333333"/>
                          </a:solidFill>
                          <a:latin typeface="メイリオ"/>
                          <a:ea typeface="メイリオ"/>
                          <a:cs typeface="メイリオ"/>
                        </a:rPr>
                        <a:t>○ 発送サイクルに合わせて自動</a:t>
                      </a:r>
                    </a:p>
                  </a:txBody>
                  <a:tcPr anchor="ctr">
                    <a:solidFill>
                      <a:srgbClr val="F4F7FF"/>
                    </a:solidFill>
                  </a:tcPr>
                </a:tc>
                <a:extLst>
                  <a:ext uri="{0D108BD9-81ED-4DB2-BD59-A6C34878D82A}">
                    <a16:rowId xmlns:a16="http://schemas.microsoft.com/office/drawing/2014/main" val="10002"/>
                  </a:ext>
                </a:extLst>
              </a:tr>
              <a:tr h="273600">
                <a:tc>
                  <a:txBody>
                    <a:bodyPr/>
                    <a:lstStyle/>
                    <a:p>
                      <a:pPr algn="l"/>
                      <a:r>
                        <a:rPr sz="1200">
                          <a:solidFill>
                            <a:srgbClr val="333333"/>
                          </a:solidFill>
                          <a:latin typeface="メイリオ"/>
                          <a:ea typeface="メイリオ"/>
                          <a:cs typeface="メイリオ"/>
                        </a:rPr>
                        <a:t>★解約受付・スキップ受付</a:t>
                      </a:r>
                    </a:p>
                  </a:txBody>
                  <a:tcPr anchor="ctr">
                    <a:solidFill>
                      <a:srgbClr val="FFFFFF"/>
                    </a:solidFill>
                  </a:tcPr>
                </a:tc>
                <a:tc>
                  <a:txBody>
                    <a:bodyPr/>
                    <a:lstStyle/>
                    <a:p>
                      <a:pPr algn="l"/>
                      <a:r>
                        <a:rPr sz="1200">
                          <a:solidFill>
                            <a:srgbClr val="333333"/>
                          </a:solidFill>
                          <a:latin typeface="メイリオ"/>
                          <a:ea typeface="メイリオ"/>
                          <a:cs typeface="メイリオ"/>
                        </a:rPr>
                        <a:t>× 打てない</a:t>
                      </a:r>
                    </a:p>
                  </a:txBody>
                  <a:tcPr anchor="ctr">
                    <a:solidFill>
                      <a:srgbClr val="FFFFFF"/>
                    </a:solidFill>
                  </a:tcPr>
                </a:tc>
                <a:tc>
                  <a:txBody>
                    <a:bodyPr/>
                    <a:lstStyle/>
                    <a:p>
                      <a:pPr algn="l"/>
                      <a:r>
                        <a:rPr sz="1200">
                          <a:solidFill>
                            <a:srgbClr val="333333"/>
                          </a:solidFill>
                          <a:latin typeface="メイリオ"/>
                          <a:ea typeface="メイリオ"/>
                          <a:cs typeface="メイリオ"/>
                        </a:rPr>
                        <a:t>○ 定期ステータスを見て出し分け</a:t>
                      </a:r>
                    </a:p>
                  </a:txBody>
                  <a:tcPr anchor="ctr">
                    <a:solidFill>
                      <a:srgbClr val="FFFFFF"/>
                    </a:solidFill>
                  </a:tcPr>
                </a:tc>
                <a:extLst>
                  <a:ext uri="{0D108BD9-81ED-4DB2-BD59-A6C34878D82A}">
                    <a16:rowId xmlns:a16="http://schemas.microsoft.com/office/drawing/2014/main" val="10003"/>
                  </a:ext>
                </a:extLst>
              </a:tr>
              <a:tr h="273600">
                <a:tc>
                  <a:txBody>
                    <a:bodyPr/>
                    <a:lstStyle/>
                    <a:p>
                      <a:pPr algn="l"/>
                      <a:r>
                        <a:rPr sz="1200">
                          <a:solidFill>
                            <a:srgbClr val="333333"/>
                          </a:solidFill>
                          <a:latin typeface="メイリオ"/>
                          <a:ea typeface="メイリオ"/>
                          <a:cs typeface="メイリオ"/>
                        </a:rPr>
                        <a:t>購入者を配信から除外</a:t>
                      </a:r>
                    </a:p>
                  </a:txBody>
                  <a:tcPr anchor="ctr">
                    <a:solidFill>
                      <a:srgbClr val="F4F7FF"/>
                    </a:solidFill>
                  </a:tcPr>
                </a:tc>
                <a:tc>
                  <a:txBody>
                    <a:bodyPr/>
                    <a:lstStyle/>
                    <a:p>
                      <a:pPr algn="l"/>
                      <a:r>
                        <a:rPr sz="1200">
                          <a:solidFill>
                            <a:srgbClr val="333333"/>
                          </a:solidFill>
                          <a:latin typeface="メイリオ"/>
                          <a:ea typeface="メイリオ"/>
                          <a:cs typeface="メイリオ"/>
                        </a:rPr>
                        <a:t>× クーポンを無駄打ち</a:t>
                      </a:r>
                    </a:p>
                  </a:txBody>
                  <a:tcPr anchor="ctr">
                    <a:solidFill>
                      <a:srgbClr val="F4F7FF"/>
                    </a:solidFill>
                  </a:tcPr>
                </a:tc>
                <a:tc>
                  <a:txBody>
                    <a:bodyPr/>
                    <a:lstStyle/>
                    <a:p>
                      <a:pPr algn="l"/>
                      <a:r>
                        <a:rPr sz="1200">
                          <a:solidFill>
                            <a:srgbClr val="333333"/>
                          </a:solidFill>
                          <a:latin typeface="メイリオ"/>
                          <a:ea typeface="メイリオ"/>
                          <a:cs typeface="メイリオ"/>
                        </a:rPr>
                        <a:t>○ 除外できる</a:t>
                      </a:r>
                    </a:p>
                  </a:txBody>
                  <a:tcPr anchor="ctr">
                    <a:solidFill>
                      <a:srgbClr val="F4F7FF"/>
                    </a:solid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432000" y="3168000"/>
            <a:ext cx="2179800" cy="43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2000" y="3254467"/>
            <a:ext cx="2179800" cy="259065"/>
          </a:xfrm>
          <a:prstGeom prst="rect">
            <a:avLst/>
          </a:prstGeom>
          <a:noFill/>
        </p:spPr>
        <p:txBody>
          <a:bodyPr wrap="square" lIns="36000" tIns="21600" rIns="36000" bIns="21600" anchor="ctr">
            <a:spAutoFit/>
          </a:bodyPr>
          <a:lstStyle/>
          <a:p>
            <a:pPr algn="ctr"/>
            <a:r>
              <a:rPr sz="1400" b="1">
                <a:solidFill>
                  <a:srgbClr val="1F285A"/>
                </a:solidFill>
                <a:latin typeface="メイリオ"/>
                <a:ea typeface="メイリオ"/>
                <a:cs typeface="メイリオ"/>
              </a:rPr>
              <a:t>P45 F2オファー</a:t>
            </a:r>
          </a:p>
        </p:txBody>
      </p:sp>
      <p:sp>
        <p:nvSpPr>
          <p:cNvPr id="8" name="Down Arrow 7"/>
          <p:cNvSpPr/>
          <p:nvPr/>
        </p:nvSpPr>
        <p:spPr>
          <a:xfrm>
            <a:off x="1442700" y="3653999"/>
            <a:ext cx="158400" cy="180000"/>
          </a:xfrm>
          <a:prstGeom prst="down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719800" y="3168000"/>
            <a:ext cx="2179800" cy="43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19800" y="3254467"/>
            <a:ext cx="2179800" cy="259065"/>
          </a:xfrm>
          <a:prstGeom prst="rect">
            <a:avLst/>
          </a:prstGeom>
          <a:noFill/>
        </p:spPr>
        <p:txBody>
          <a:bodyPr wrap="square" lIns="36000" tIns="21600" rIns="36000" bIns="21600" anchor="ctr">
            <a:spAutoFit/>
          </a:bodyPr>
          <a:lstStyle/>
          <a:p>
            <a:pPr algn="ctr"/>
            <a:r>
              <a:rPr sz="1400" b="1">
                <a:solidFill>
                  <a:srgbClr val="1F285A"/>
                </a:solidFill>
                <a:latin typeface="メイリオ"/>
                <a:ea typeface="メイリオ"/>
                <a:cs typeface="メイリオ"/>
              </a:rPr>
              <a:t>P46 スキップ提示</a:t>
            </a:r>
          </a:p>
        </p:txBody>
      </p:sp>
      <p:sp>
        <p:nvSpPr>
          <p:cNvPr id="11" name="Down Arrow 10"/>
          <p:cNvSpPr/>
          <p:nvPr/>
        </p:nvSpPr>
        <p:spPr>
          <a:xfrm>
            <a:off x="3730500" y="3653999"/>
            <a:ext cx="158400" cy="180000"/>
          </a:xfrm>
          <a:prstGeom prst="down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07600" y="3168000"/>
            <a:ext cx="2179800" cy="43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07600" y="3254467"/>
            <a:ext cx="2179800" cy="259065"/>
          </a:xfrm>
          <a:prstGeom prst="rect">
            <a:avLst/>
          </a:prstGeom>
          <a:noFill/>
        </p:spPr>
        <p:txBody>
          <a:bodyPr wrap="square" lIns="36000" tIns="21600" rIns="36000" bIns="21600" anchor="ctr">
            <a:spAutoFit/>
          </a:bodyPr>
          <a:lstStyle/>
          <a:p>
            <a:pPr algn="ctr"/>
            <a:r>
              <a:rPr sz="1400" b="1">
                <a:solidFill>
                  <a:srgbClr val="1F285A"/>
                </a:solidFill>
                <a:latin typeface="メイリオ"/>
                <a:ea typeface="メイリオ"/>
                <a:cs typeface="メイリオ"/>
              </a:rPr>
              <a:t>P47 解約シナリオ</a:t>
            </a:r>
          </a:p>
        </p:txBody>
      </p:sp>
      <p:sp>
        <p:nvSpPr>
          <p:cNvPr id="14" name="Down Arrow 13"/>
          <p:cNvSpPr/>
          <p:nvPr/>
        </p:nvSpPr>
        <p:spPr>
          <a:xfrm>
            <a:off x="6018300" y="3653999"/>
            <a:ext cx="158400" cy="180000"/>
          </a:xfrm>
          <a:prstGeom prst="down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295400" y="3168000"/>
            <a:ext cx="2179800" cy="43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295400" y="3254467"/>
            <a:ext cx="2179800" cy="259065"/>
          </a:xfrm>
          <a:prstGeom prst="rect">
            <a:avLst/>
          </a:prstGeom>
          <a:noFill/>
        </p:spPr>
        <p:txBody>
          <a:bodyPr wrap="square" lIns="36000" tIns="21600" rIns="36000" bIns="21600" anchor="ctr">
            <a:spAutoFit/>
          </a:bodyPr>
          <a:lstStyle/>
          <a:p>
            <a:pPr algn="ctr"/>
            <a:r>
              <a:rPr sz="1400" b="1">
                <a:solidFill>
                  <a:srgbClr val="1F285A"/>
                </a:solidFill>
                <a:latin typeface="メイリオ"/>
                <a:ea typeface="メイリオ"/>
                <a:cs typeface="メイリオ"/>
              </a:rPr>
              <a:t>P49 通知メッセージ</a:t>
            </a:r>
          </a:p>
        </p:txBody>
      </p:sp>
      <p:sp>
        <p:nvSpPr>
          <p:cNvPr id="17" name="Down Arrow 16"/>
          <p:cNvSpPr/>
          <p:nvPr/>
        </p:nvSpPr>
        <p:spPr>
          <a:xfrm>
            <a:off x="8306100" y="3653999"/>
            <a:ext cx="158400" cy="180000"/>
          </a:xfrm>
          <a:prstGeom prst="down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32000" y="3923999"/>
            <a:ext cx="9043200" cy="576000"/>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2000" y="3923999"/>
            <a:ext cx="9043200" cy="576000"/>
          </a:xfrm>
          <a:prstGeom prst="rect">
            <a:avLst/>
          </a:prstGeom>
          <a:noFill/>
        </p:spPr>
        <p:txBody>
          <a:bodyPr wrap="square" lIns="50400" tIns="21600" rIns="50400" bIns="21600" anchor="ctr">
            <a:spAutoFit/>
          </a:bodyPr>
          <a:lstStyle/>
          <a:p>
            <a:pPr algn="ctr"/>
            <a:r>
              <a:rPr sz="1400" b="1">
                <a:solidFill>
                  <a:srgbClr val="FFFFFF"/>
                </a:solidFill>
                <a:latin typeface="メイリオ"/>
                <a:ea typeface="メイリオ"/>
                <a:cs typeface="メイリオ"/>
              </a:rPr>
              <a:t>P43　LINE ID連携（購買データ・定期ステータス × LINE）</a:t>
            </a:r>
          </a:p>
        </p:txBody>
      </p:sp>
      <p:sp>
        <p:nvSpPr>
          <p:cNvPr id="20" name="Rounded Rectangle 19"/>
          <p:cNvSpPr/>
          <p:nvPr/>
        </p:nvSpPr>
        <p:spPr>
          <a:xfrm>
            <a:off x="432000" y="4680000"/>
            <a:ext cx="9043200" cy="97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7999" y="4878859"/>
            <a:ext cx="8611200" cy="574280"/>
          </a:xfrm>
          <a:prstGeom prst="rect">
            <a:avLst/>
          </a:prstGeom>
          <a:noFill/>
        </p:spPr>
        <p:txBody>
          <a:bodyPr wrap="square" lIns="50400" tIns="21600" rIns="50400" bIns="21600" anchor="ctr">
            <a:spAutoFit/>
          </a:bodyPr>
          <a:lstStyle/>
          <a:p>
            <a:pPr algn="l">
              <a:spcAft>
                <a:spcPts val="400"/>
              </a:spcAft>
            </a:pPr>
            <a:r>
              <a:rPr sz="1400" b="1">
                <a:solidFill>
                  <a:srgbClr val="FFFFFF"/>
                </a:solidFill>
                <a:latin typeface="メイリオ"/>
                <a:ea typeface="メイリオ"/>
                <a:cs typeface="メイリオ"/>
              </a:rPr>
              <a:t>連携しないまま始めると、全員に同じ配信を送るだけのアカウントになる。</a:t>
            </a:r>
          </a:p>
          <a:p>
            <a:pPr algn="l">
              <a:lnSpc>
                <a:spcPct val="130000"/>
              </a:lnSpc>
            </a:pPr>
            <a:r>
              <a:rPr sz="1400">
                <a:solidFill>
                  <a:srgbClr val="FFFFFF"/>
                </a:solidFill>
                <a:latin typeface="メイリオ"/>
                <a:ea typeface="メイリオ"/>
                <a:cs typeface="メイリオ"/>
              </a:rPr>
              <a:t>LINE IDをマスタIDにすれば、EC・店舗・SNSを横断したCRM基盤としても使える。</a:t>
            </a:r>
          </a:p>
        </p:txBody>
      </p:sp>
      <p:sp>
        <p:nvSpPr>
          <p:cNvPr id="22" name="TextBox 21"/>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業界水準｜LINEログイン経由で顧客IDとLINE IDを紐づける。★連携できない場合は、アンケート回答でのタグ付けと、連携が不要な施策から先に立ち上げる</a:t>
            </a:r>
          </a:p>
        </p:txBody>
      </p:sp>
    </p:spTree>
    <p:extLst>
      <p:ext uri="{BB962C8B-B14F-4D97-AF65-F5344CB8AC3E}">
        <p14:creationId xmlns:p14="http://schemas.microsoft.com/office/powerpoint/2010/main" val="13354487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配信設計①｜シナリオは3本（購入後だけで完結する）</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単品通販はLPで直接買う。だから「買う前」のシナリオを持たない。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1767723834"/>
              </p:ext>
            </p:extLst>
          </p:nvPr>
        </p:nvGraphicFramePr>
        <p:xfrm>
          <a:off x="432000" y="1620000"/>
          <a:ext cx="9043200" cy="4212000"/>
        </p:xfrm>
        <a:graphic>
          <a:graphicData uri="http://schemas.openxmlformats.org/drawingml/2006/table">
            <a:tbl>
              <a:tblPr firstRow="1" bandRow="1">
                <a:tableStyleId>{5C22544A-7EE6-4342-B048-85BDC9FD1C3A}</a:tableStyleId>
              </a:tblPr>
              <a:tblGrid>
                <a:gridCol w="1584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3096000">
                  <a:extLst>
                    <a:ext uri="{9D8B030D-6E8A-4147-A177-3AD203B41FA5}">
                      <a16:colId xmlns:a16="http://schemas.microsoft.com/office/drawing/2014/main" val="20002"/>
                    </a:ext>
                  </a:extLst>
                </a:gridCol>
                <a:gridCol w="2563200">
                  <a:extLst>
                    <a:ext uri="{9D8B030D-6E8A-4147-A177-3AD203B41FA5}">
                      <a16:colId xmlns:a16="http://schemas.microsoft.com/office/drawing/2014/main" val="20003"/>
                    </a:ext>
                  </a:extLst>
                </a:gridCol>
              </a:tblGrid>
              <a:tr h="468000">
                <a:tc>
                  <a:txBody>
                    <a:bodyPr/>
                    <a:lstStyle/>
                    <a:p>
                      <a:pPr algn="l"/>
                      <a:r>
                        <a:rPr sz="1400" b="1">
                          <a:solidFill>
                            <a:srgbClr val="FFFFFF"/>
                          </a:solidFill>
                          <a:latin typeface="メイリオ"/>
                          <a:ea typeface="メイリオ"/>
                          <a:cs typeface="メイリオ"/>
                        </a:rPr>
                        <a:t>シナリオ</a:t>
                      </a:r>
                    </a:p>
                  </a:txBody>
                  <a:tcPr marL="43200" marR="43200" marT="18000" marB="18000" anchor="ctr">
                    <a:solidFill>
                      <a:srgbClr val="1F285A"/>
                    </a:solidFill>
                  </a:tcPr>
                </a:tc>
                <a:tc>
                  <a:txBody>
                    <a:bodyPr/>
                    <a:lstStyle/>
                    <a:p>
                      <a:pPr algn="l"/>
                      <a:r>
                        <a:rPr sz="1400" b="1">
                          <a:solidFill>
                            <a:srgbClr val="FFFFFF"/>
                          </a:solidFill>
                          <a:latin typeface="メイリオ"/>
                          <a:ea typeface="メイリオ"/>
                          <a:cs typeface="メイリオ"/>
                        </a:rPr>
                        <a:t>タイミング</a:t>
                      </a:r>
                    </a:p>
                  </a:txBody>
                  <a:tcPr marL="43200" marR="43200" marT="18000" marB="18000" anchor="ctr">
                    <a:solidFill>
                      <a:srgbClr val="1F285A"/>
                    </a:solidFill>
                  </a:tcPr>
                </a:tc>
                <a:tc>
                  <a:txBody>
                    <a:bodyPr/>
                    <a:lstStyle/>
                    <a:p>
                      <a:pPr algn="l"/>
                      <a:r>
                        <a:rPr sz="1400" b="1">
                          <a:solidFill>
                            <a:srgbClr val="FFFFFF"/>
                          </a:solidFill>
                          <a:latin typeface="メイリオ"/>
                          <a:ea typeface="メイリオ"/>
                          <a:cs typeface="メイリオ"/>
                        </a:rPr>
                        <a:t>方向性</a:t>
                      </a:r>
                    </a:p>
                  </a:txBody>
                  <a:tcPr marL="43200" marR="43200" marT="18000" marB="18000" anchor="ctr">
                    <a:solidFill>
                      <a:srgbClr val="1F285A"/>
                    </a:solidFill>
                  </a:tcPr>
                </a:tc>
                <a:tc>
                  <a:txBody>
                    <a:bodyPr/>
                    <a:lstStyle/>
                    <a:p>
                      <a:pPr algn="l"/>
                      <a:r>
                        <a:rPr sz="1400" b="1">
                          <a:solidFill>
                            <a:srgbClr val="FFFFFF"/>
                          </a:solidFill>
                          <a:latin typeface="メイリオ"/>
                          <a:ea typeface="メイリオ"/>
                          <a:cs typeface="メイリオ"/>
                        </a:rPr>
                        <a:t>根拠</a:t>
                      </a:r>
                    </a:p>
                  </a:txBody>
                  <a:tcPr marL="43200" marR="43200" marT="18000" marB="18000" anchor="ctr">
                    <a:solidFill>
                      <a:srgbClr val="1F285A"/>
                    </a:solidFill>
                  </a:tcPr>
                </a:tc>
                <a:extLst>
                  <a:ext uri="{0D108BD9-81ED-4DB2-BD59-A6C34878D82A}">
                    <a16:rowId xmlns:a16="http://schemas.microsoft.com/office/drawing/2014/main" val="10000"/>
                  </a:ext>
                </a:extLst>
              </a:tr>
              <a:tr h="468000">
                <a:tc>
                  <a:txBody>
                    <a:bodyPr/>
                    <a:lstStyle/>
                    <a:p>
                      <a:pPr algn="l"/>
                      <a:r>
                        <a:rPr sz="1400">
                          <a:solidFill>
                            <a:srgbClr val="333333"/>
                          </a:solidFill>
                          <a:latin typeface="メイリオ"/>
                          <a:ea typeface="メイリオ"/>
                          <a:cs typeface="メイリオ"/>
                        </a:rPr>
                        <a:t>① 初回購入後
（F2狙い）</a:t>
                      </a:r>
                    </a:p>
                  </a:txBody>
                  <a:tcPr anchor="ctr">
                    <a:solidFill>
                      <a:srgbClr val="FFFFFF"/>
                    </a:solidFill>
                  </a:tcPr>
                </a:tc>
                <a:tc>
                  <a:txBody>
                    <a:bodyPr/>
                    <a:lstStyle/>
                    <a:p>
                      <a:pPr algn="l"/>
                      <a:r>
                        <a:rPr sz="1400">
                          <a:solidFill>
                            <a:srgbClr val="333333"/>
                          </a:solidFill>
                          <a:latin typeface="メイリオ"/>
                          <a:ea typeface="メイリオ"/>
                          <a:cs typeface="メイリオ"/>
                        </a:rPr>
                        <a:t>購入直後</a:t>
                      </a:r>
                    </a:p>
                  </a:txBody>
                  <a:tcPr anchor="ctr">
                    <a:solidFill>
                      <a:srgbClr val="FFFFFF"/>
                    </a:solidFill>
                  </a:tcPr>
                </a:tc>
                <a:tc>
                  <a:txBody>
                    <a:bodyPr/>
                    <a:lstStyle/>
                    <a:p>
                      <a:pPr algn="l"/>
                      <a:r>
                        <a:rPr sz="1400">
                          <a:solidFill>
                            <a:srgbClr val="333333"/>
                          </a:solidFill>
                          <a:latin typeface="メイリオ"/>
                          <a:ea typeface="メイリオ"/>
                          <a:cs typeface="メイリオ"/>
                        </a:rPr>
                        <a:t>サンクス。発送予定と正しい使い方。レビューは求めない</a:t>
                      </a:r>
                    </a:p>
                  </a:txBody>
                  <a:tcPr anchor="ctr">
                    <a:solidFill>
                      <a:srgbClr val="FFFFFF"/>
                    </a:solidFill>
                  </a:tcPr>
                </a:tc>
                <a:tc>
                  <a:txBody>
                    <a:bodyPr/>
                    <a:lstStyle/>
                    <a:p>
                      <a:pPr algn="l"/>
                      <a:r>
                        <a:rPr sz="1400">
                          <a:solidFill>
                            <a:srgbClr val="333333"/>
                          </a:solidFill>
                          <a:latin typeface="メイリオ"/>
                          <a:ea typeface="メイリオ"/>
                          <a:cs typeface="メイリオ"/>
                        </a:rPr>
                        <a:t>初回購入後が、最も離脱の多い区間のため</a:t>
                      </a:r>
                    </a:p>
                  </a:txBody>
                  <a:tcPr anchor="ctr">
                    <a:solidFill>
                      <a:srgbClr val="FFFFFF"/>
                    </a:solidFill>
                  </a:tcPr>
                </a:tc>
                <a:extLst>
                  <a:ext uri="{0D108BD9-81ED-4DB2-BD59-A6C34878D82A}">
                    <a16:rowId xmlns:a16="http://schemas.microsoft.com/office/drawing/2014/main" val="10001"/>
                  </a:ext>
                </a:extLst>
              </a:tr>
              <a:tr h="468000">
                <a:tc>
                  <a:txBody>
                    <a:bodyPr/>
                    <a:lstStyle/>
                    <a:p>
                      <a:pPr algn="l"/>
                      <a:endParaRPr/>
                    </a:p>
                  </a:txBody>
                  <a:tcPr anchor="ctr">
                    <a:solidFill>
                      <a:srgbClr val="F4F7FF"/>
                    </a:solidFill>
                  </a:tcPr>
                </a:tc>
                <a:tc>
                  <a:txBody>
                    <a:bodyPr/>
                    <a:lstStyle/>
                    <a:p>
                      <a:pPr algn="l"/>
                      <a:r>
                        <a:rPr sz="1400">
                          <a:solidFill>
                            <a:srgbClr val="333333"/>
                          </a:solidFill>
                          <a:latin typeface="メイリオ"/>
                          <a:ea typeface="メイリオ"/>
                          <a:cs typeface="メイリオ"/>
                        </a:rPr>
                        <a:t>使い始めの頃</a:t>
                      </a:r>
                    </a:p>
                  </a:txBody>
                  <a:tcPr anchor="ctr">
                    <a:solidFill>
                      <a:srgbClr val="F4F7FF"/>
                    </a:solidFill>
                  </a:tcPr>
                </a:tc>
                <a:tc>
                  <a:txBody>
                    <a:bodyPr/>
                    <a:lstStyle/>
                    <a:p>
                      <a:pPr algn="l"/>
                      <a:r>
                        <a:rPr sz="1400">
                          <a:solidFill>
                            <a:srgbClr val="333333"/>
                          </a:solidFill>
                          <a:latin typeface="メイリオ"/>
                          <a:ea typeface="メイリオ"/>
                          <a:cs typeface="メイリオ"/>
                        </a:rPr>
                        <a:t>★使用フォロー。「効果実感までの目安」を伝える</a:t>
                      </a:r>
                    </a:p>
                  </a:txBody>
                  <a:tcPr anchor="ctr">
                    <a:solidFill>
                      <a:srgbClr val="F4F7FF"/>
                    </a:solidFill>
                  </a:tcPr>
                </a:tc>
                <a:tc>
                  <a:txBody>
                    <a:bodyPr/>
                    <a:lstStyle/>
                    <a:p>
                      <a:pPr algn="l"/>
                      <a:r>
                        <a:rPr sz="1400">
                          <a:solidFill>
                            <a:srgbClr val="333333"/>
                          </a:solidFill>
                          <a:latin typeface="メイリオ"/>
                          <a:ea typeface="メイリオ"/>
                          <a:cs typeface="メイリオ"/>
                        </a:rPr>
                        <a:t>効果実感に時間がかかる商材ほど短期離脱が多い</a:t>
                      </a:r>
                    </a:p>
                  </a:txBody>
                  <a:tcPr anchor="ctr">
                    <a:solidFill>
                      <a:srgbClr val="F4F7FF"/>
                    </a:solidFill>
                  </a:tcPr>
                </a:tc>
                <a:extLst>
                  <a:ext uri="{0D108BD9-81ED-4DB2-BD59-A6C34878D82A}">
                    <a16:rowId xmlns:a16="http://schemas.microsoft.com/office/drawing/2014/main" val="10002"/>
                  </a:ext>
                </a:extLst>
              </a:tr>
              <a:tr h="468000">
                <a:tc>
                  <a:txBody>
                    <a:bodyPr/>
                    <a:lstStyle/>
                    <a:p>
                      <a:pPr algn="l"/>
                      <a:endParaRPr/>
                    </a:p>
                  </a:txBody>
                  <a:tcPr anchor="ctr">
                    <a:solidFill>
                      <a:srgbClr val="FFFFFF"/>
                    </a:solidFill>
                  </a:tcPr>
                </a:tc>
                <a:tc>
                  <a:txBody>
                    <a:bodyPr/>
                    <a:lstStyle/>
                    <a:p>
                      <a:pPr algn="l"/>
                      <a:r>
                        <a:rPr sz="1400">
                          <a:solidFill>
                            <a:srgbClr val="333333"/>
                          </a:solidFill>
                          <a:latin typeface="メイリオ"/>
                          <a:ea typeface="メイリオ"/>
                          <a:cs typeface="メイリオ"/>
                        </a:rPr>
                        <a:t>★無くなる少し前</a:t>
                      </a:r>
                    </a:p>
                  </a:txBody>
                  <a:tcPr anchor="ctr">
                    <a:solidFill>
                      <a:srgbClr val="FFFFFF"/>
                    </a:solidFill>
                  </a:tcPr>
                </a:tc>
                <a:tc>
                  <a:txBody>
                    <a:bodyPr/>
                    <a:lstStyle/>
                    <a:p>
                      <a:pPr algn="l"/>
                      <a:r>
                        <a:rPr sz="1400">
                          <a:solidFill>
                            <a:srgbClr val="333333"/>
                          </a:solidFill>
                          <a:latin typeface="メイリオ"/>
                          <a:ea typeface="メイリオ"/>
                          <a:cs typeface="メイリオ"/>
                        </a:rPr>
                        <a:t>★F2オファー。「そろそろ切れる頃です」＋再購入導線</a:t>
                      </a:r>
                    </a:p>
                  </a:txBody>
                  <a:tcPr anchor="ctr">
                    <a:solidFill>
                      <a:srgbClr val="FFFFFF"/>
                    </a:solidFill>
                  </a:tcPr>
                </a:tc>
                <a:tc>
                  <a:txBody>
                    <a:bodyPr/>
                    <a:lstStyle/>
                    <a:p>
                      <a:pPr algn="l"/>
                      <a:r>
                        <a:rPr sz="1400">
                          <a:solidFill>
                            <a:srgbClr val="333333"/>
                          </a:solidFill>
                          <a:latin typeface="メイリオ"/>
                          <a:ea typeface="メイリオ"/>
                          <a:cs typeface="メイリオ"/>
                        </a:rPr>
                        <a:t>内容量÷1日使用量で逆算（P41の使用頻度）</a:t>
                      </a:r>
                    </a:p>
                  </a:txBody>
                  <a:tcPr anchor="ctr">
                    <a:solidFill>
                      <a:srgbClr val="FFFFFF"/>
                    </a:solidFill>
                  </a:tcPr>
                </a:tc>
                <a:extLst>
                  <a:ext uri="{0D108BD9-81ED-4DB2-BD59-A6C34878D82A}">
                    <a16:rowId xmlns:a16="http://schemas.microsoft.com/office/drawing/2014/main" val="10003"/>
                  </a:ext>
                </a:extLst>
              </a:tr>
              <a:tr h="468000">
                <a:tc>
                  <a:txBody>
                    <a:bodyPr/>
                    <a:lstStyle/>
                    <a:p>
                      <a:pPr algn="l"/>
                      <a:endParaRPr/>
                    </a:p>
                  </a:txBody>
                  <a:tcPr anchor="ctr">
                    <a:solidFill>
                      <a:srgbClr val="F4F7FF"/>
                    </a:solidFill>
                  </a:tcPr>
                </a:tc>
                <a:tc>
                  <a:txBody>
                    <a:bodyPr/>
                    <a:lstStyle/>
                    <a:p>
                      <a:pPr algn="l"/>
                      <a:r>
                        <a:rPr sz="1400">
                          <a:solidFill>
                            <a:srgbClr val="333333"/>
                          </a:solidFill>
                          <a:latin typeface="メイリオ"/>
                          <a:ea typeface="メイリオ"/>
                          <a:cs typeface="メイリオ"/>
                        </a:rPr>
                        <a:t>F2の後</a:t>
                      </a:r>
                    </a:p>
                  </a:txBody>
                  <a:tcPr anchor="ctr">
                    <a:solidFill>
                      <a:srgbClr val="F4F7FF"/>
                    </a:solidFill>
                  </a:tcPr>
                </a:tc>
                <a:tc>
                  <a:txBody>
                    <a:bodyPr/>
                    <a:lstStyle/>
                    <a:p>
                      <a:pPr algn="l"/>
                      <a:r>
                        <a:rPr sz="1400">
                          <a:solidFill>
                            <a:srgbClr val="333333"/>
                          </a:solidFill>
                          <a:latin typeface="メイリオ"/>
                          <a:ea typeface="メイリオ"/>
                          <a:cs typeface="メイリオ"/>
                        </a:rPr>
                        <a:t>定期・まとめ買いへの引き上げ</a:t>
                      </a:r>
                    </a:p>
                  </a:txBody>
                  <a:tcPr anchor="ctr">
                    <a:solidFill>
                      <a:srgbClr val="F4F7FF"/>
                    </a:solidFill>
                  </a:tcPr>
                </a:tc>
                <a:tc>
                  <a:txBody>
                    <a:bodyPr/>
                    <a:lstStyle/>
                    <a:p>
                      <a:pPr algn="l"/>
                      <a:r>
                        <a:rPr sz="1400">
                          <a:solidFill>
                            <a:srgbClr val="333333"/>
                          </a:solidFill>
                          <a:latin typeface="メイリオ"/>
                          <a:ea typeface="メイリオ"/>
                          <a:cs typeface="メイリオ"/>
                        </a:rPr>
                        <a:t>2回目を買った人は、続ける意思が見えているため</a:t>
                      </a:r>
                    </a:p>
                  </a:txBody>
                  <a:tcPr anchor="ctr">
                    <a:solidFill>
                      <a:srgbClr val="F4F7FF"/>
                    </a:solidFill>
                  </a:tcPr>
                </a:tc>
                <a:extLst>
                  <a:ext uri="{0D108BD9-81ED-4DB2-BD59-A6C34878D82A}">
                    <a16:rowId xmlns:a16="http://schemas.microsoft.com/office/drawing/2014/main" val="10004"/>
                  </a:ext>
                </a:extLst>
              </a:tr>
              <a:tr h="468000">
                <a:tc>
                  <a:txBody>
                    <a:bodyPr/>
                    <a:lstStyle/>
                    <a:p>
                      <a:pPr algn="l"/>
                      <a:r>
                        <a:rPr sz="1400">
                          <a:solidFill>
                            <a:srgbClr val="333333"/>
                          </a:solidFill>
                          <a:latin typeface="メイリオ"/>
                          <a:ea typeface="メイリオ"/>
                          <a:cs typeface="メイリオ"/>
                        </a:rPr>
                        <a:t>② 定期継続中
（解約予防）</a:t>
                      </a:r>
                    </a:p>
                  </a:txBody>
                  <a:tcPr anchor="ctr">
                    <a:solidFill>
                      <a:srgbClr val="FFFFFF"/>
                    </a:solidFill>
                  </a:tcPr>
                </a:tc>
                <a:tc>
                  <a:txBody>
                    <a:bodyPr/>
                    <a:lstStyle/>
                    <a:p>
                      <a:pPr algn="l"/>
                      <a:r>
                        <a:rPr sz="1400">
                          <a:solidFill>
                            <a:srgbClr val="333333"/>
                          </a:solidFill>
                          <a:latin typeface="メイリオ"/>
                          <a:ea typeface="メイリオ"/>
                          <a:cs typeface="メイリオ"/>
                        </a:rPr>
                        <a:t>★次回発送の数日前</a:t>
                      </a:r>
                    </a:p>
                  </a:txBody>
                  <a:tcPr anchor="ctr">
                    <a:solidFill>
                      <a:srgbClr val="FFFFFF"/>
                    </a:solidFill>
                  </a:tcPr>
                </a:tc>
                <a:tc>
                  <a:txBody>
                    <a:bodyPr/>
                    <a:lstStyle/>
                    <a:p>
                      <a:pPr algn="l"/>
                      <a:r>
                        <a:rPr sz="1400">
                          <a:solidFill>
                            <a:srgbClr val="333333"/>
                          </a:solidFill>
                          <a:latin typeface="メイリオ"/>
                          <a:ea typeface="メイリオ"/>
                          <a:cs typeface="メイリオ"/>
                        </a:rPr>
                        <a:t>★「今回はスキップできます」を先に出す</a:t>
                      </a:r>
                    </a:p>
                  </a:txBody>
                  <a:tcPr anchor="ctr">
                    <a:solidFill>
                      <a:srgbClr val="FFFFFF"/>
                    </a:solidFill>
                  </a:tcPr>
                </a:tc>
                <a:tc>
                  <a:txBody>
                    <a:bodyPr/>
                    <a:lstStyle/>
                    <a:p>
                      <a:pPr algn="l"/>
                      <a:r>
                        <a:rPr sz="1400">
                          <a:solidFill>
                            <a:srgbClr val="333333"/>
                          </a:solidFill>
                          <a:latin typeface="メイリオ"/>
                          <a:ea typeface="メイリオ"/>
                          <a:cs typeface="メイリオ"/>
                        </a:rPr>
                        <a:t>余っていることが解約理由の上位にあるため</a:t>
                      </a:r>
                    </a:p>
                  </a:txBody>
                  <a:tcPr anchor="ctr">
                    <a:solidFill>
                      <a:srgbClr val="FFFFFF"/>
                    </a:solidFill>
                  </a:tcPr>
                </a:tc>
                <a:extLst>
                  <a:ext uri="{0D108BD9-81ED-4DB2-BD59-A6C34878D82A}">
                    <a16:rowId xmlns:a16="http://schemas.microsoft.com/office/drawing/2014/main" val="10005"/>
                  </a:ext>
                </a:extLst>
              </a:tr>
              <a:tr h="468000">
                <a:tc>
                  <a:txBody>
                    <a:bodyPr/>
                    <a:lstStyle/>
                    <a:p>
                      <a:pPr algn="l"/>
                      <a:endParaRPr/>
                    </a:p>
                  </a:txBody>
                  <a:tcPr anchor="ctr">
                    <a:solidFill>
                      <a:srgbClr val="F4F7FF"/>
                    </a:solidFill>
                  </a:tcPr>
                </a:tc>
                <a:tc>
                  <a:txBody>
                    <a:bodyPr/>
                    <a:lstStyle/>
                    <a:p>
                      <a:pPr algn="l"/>
                      <a:r>
                        <a:rPr sz="1400">
                          <a:solidFill>
                            <a:srgbClr val="333333"/>
                          </a:solidFill>
                          <a:latin typeface="メイリオ"/>
                          <a:ea typeface="メイリオ"/>
                          <a:cs typeface="メイリオ"/>
                        </a:rPr>
                        <a:t>効果実感の停滞期</a:t>
                      </a:r>
                    </a:p>
                  </a:txBody>
                  <a:tcPr anchor="ctr">
                    <a:solidFill>
                      <a:srgbClr val="F4F7FF"/>
                    </a:solidFill>
                  </a:tcPr>
                </a:tc>
                <a:tc>
                  <a:txBody>
                    <a:bodyPr/>
                    <a:lstStyle/>
                    <a:p>
                      <a:pPr algn="l"/>
                      <a:r>
                        <a:rPr sz="1400">
                          <a:solidFill>
                            <a:srgbClr val="333333"/>
                          </a:solidFill>
                          <a:latin typeface="メイリオ"/>
                          <a:ea typeface="メイリオ"/>
                          <a:cs typeface="メイリオ"/>
                        </a:rPr>
                        <a:t>使い方の見直し・成分の解説</a:t>
                      </a:r>
                    </a:p>
                  </a:txBody>
                  <a:tcPr anchor="ctr">
                    <a:solidFill>
                      <a:srgbClr val="F4F7FF"/>
                    </a:solidFill>
                  </a:tcPr>
                </a:tc>
                <a:tc>
                  <a:txBody>
                    <a:bodyPr/>
                    <a:lstStyle/>
                    <a:p>
                      <a:pPr algn="l"/>
                      <a:r>
                        <a:rPr sz="1400">
                          <a:solidFill>
                            <a:srgbClr val="333333"/>
                          </a:solidFill>
                          <a:latin typeface="メイリオ"/>
                          <a:ea typeface="メイリオ"/>
                          <a:cs typeface="メイリオ"/>
                        </a:rPr>
                        <a:t>「効果を感じない」を解約前に拾うため</a:t>
                      </a:r>
                    </a:p>
                  </a:txBody>
                  <a:tcPr anchor="ctr">
                    <a:solidFill>
                      <a:srgbClr val="F4F7FF"/>
                    </a:solidFill>
                  </a:tcPr>
                </a:tc>
                <a:extLst>
                  <a:ext uri="{0D108BD9-81ED-4DB2-BD59-A6C34878D82A}">
                    <a16:rowId xmlns:a16="http://schemas.microsoft.com/office/drawing/2014/main" val="10006"/>
                  </a:ext>
                </a:extLst>
              </a:tr>
              <a:tr h="468000">
                <a:tc>
                  <a:txBody>
                    <a:bodyPr/>
                    <a:lstStyle/>
                    <a:p>
                      <a:pPr algn="l"/>
                      <a:endParaRPr/>
                    </a:p>
                  </a:txBody>
                  <a:tcPr anchor="ctr">
                    <a:solidFill>
                      <a:srgbClr val="FFFFFF"/>
                    </a:solidFill>
                  </a:tcPr>
                </a:tc>
                <a:tc>
                  <a:txBody>
                    <a:bodyPr/>
                    <a:lstStyle/>
                    <a:p>
                      <a:pPr algn="l"/>
                      <a:r>
                        <a:rPr sz="1400">
                          <a:solidFill>
                            <a:srgbClr val="333333"/>
                          </a:solidFill>
                          <a:latin typeface="メイリオ"/>
                          <a:ea typeface="メイリオ"/>
                          <a:cs typeface="メイリオ"/>
                        </a:rPr>
                        <a:t>節目（3回目・6回目）</a:t>
                      </a:r>
                    </a:p>
                  </a:txBody>
                  <a:tcPr anchor="ctr">
                    <a:solidFill>
                      <a:srgbClr val="FFFFFF"/>
                    </a:solidFill>
                  </a:tcPr>
                </a:tc>
                <a:tc>
                  <a:txBody>
                    <a:bodyPr/>
                    <a:lstStyle/>
                    <a:p>
                      <a:pPr algn="l"/>
                      <a:r>
                        <a:rPr sz="1400">
                          <a:solidFill>
                            <a:srgbClr val="333333"/>
                          </a:solidFill>
                          <a:latin typeface="メイリオ"/>
                          <a:ea typeface="メイリオ"/>
                          <a:cs typeface="メイリオ"/>
                        </a:rPr>
                        <a:t>継続特典・プラン変更の提案</a:t>
                      </a:r>
                    </a:p>
                  </a:txBody>
                  <a:tcPr anchor="ctr">
                    <a:solidFill>
                      <a:srgbClr val="FFFFFF"/>
                    </a:solidFill>
                  </a:tcPr>
                </a:tc>
                <a:tc>
                  <a:txBody>
                    <a:bodyPr/>
                    <a:lstStyle/>
                    <a:p>
                      <a:pPr algn="l"/>
                      <a:r>
                        <a:rPr sz="1400">
                          <a:solidFill>
                            <a:srgbClr val="333333"/>
                          </a:solidFill>
                          <a:latin typeface="メイリオ"/>
                          <a:ea typeface="メイリオ"/>
                          <a:cs typeface="メイリオ"/>
                        </a:rPr>
                        <a:t>継続の意思を確認できる自然なタイミング</a:t>
                      </a:r>
                    </a:p>
                  </a:txBody>
                  <a:tcPr anchor="ctr">
                    <a:solidFill>
                      <a:srgbClr val="FFFFFF"/>
                    </a:solidFill>
                  </a:tcPr>
                </a:tc>
                <a:extLst>
                  <a:ext uri="{0D108BD9-81ED-4DB2-BD59-A6C34878D82A}">
                    <a16:rowId xmlns:a16="http://schemas.microsoft.com/office/drawing/2014/main" val="10007"/>
                  </a:ext>
                </a:extLst>
              </a:tr>
              <a:tr h="468000">
                <a:tc>
                  <a:txBody>
                    <a:bodyPr/>
                    <a:lstStyle/>
                    <a:p>
                      <a:pPr algn="l"/>
                      <a:r>
                        <a:rPr sz="1400">
                          <a:solidFill>
                            <a:srgbClr val="333333"/>
                          </a:solidFill>
                          <a:latin typeface="メイリオ"/>
                          <a:ea typeface="メイリオ"/>
                          <a:cs typeface="メイリオ"/>
                        </a:rPr>
                        <a:t>③ 解約
（P47で詳述）</a:t>
                      </a:r>
                    </a:p>
                  </a:txBody>
                  <a:tcPr anchor="ctr">
                    <a:solidFill>
                      <a:srgbClr val="F4F7FF"/>
                    </a:solidFill>
                  </a:tcPr>
                </a:tc>
                <a:tc>
                  <a:txBody>
                    <a:bodyPr/>
                    <a:lstStyle/>
                    <a:p>
                      <a:pPr algn="l"/>
                      <a:r>
                        <a:rPr sz="1400">
                          <a:solidFill>
                            <a:srgbClr val="333333"/>
                          </a:solidFill>
                          <a:latin typeface="メイリオ"/>
                          <a:ea typeface="メイリオ"/>
                          <a:cs typeface="メイリオ"/>
                        </a:rPr>
                        <a:t>解約意思を検知した瞬間</a:t>
                      </a:r>
                    </a:p>
                  </a:txBody>
                  <a:tcPr anchor="ctr">
                    <a:solidFill>
                      <a:srgbClr val="F4F7FF"/>
                    </a:solidFill>
                  </a:tcPr>
                </a:tc>
                <a:tc>
                  <a:txBody>
                    <a:bodyPr/>
                    <a:lstStyle/>
                    <a:p>
                      <a:pPr algn="l"/>
                      <a:r>
                        <a:rPr sz="1400">
                          <a:solidFill>
                            <a:srgbClr val="333333"/>
                          </a:solidFill>
                          <a:latin typeface="メイリオ"/>
                          <a:ea typeface="メイリオ"/>
                          <a:cs typeface="メイリオ"/>
                        </a:rPr>
                        <a:t>★アンケート→理由別オファー→それでも解約なら止めない</a:t>
                      </a:r>
                    </a:p>
                  </a:txBody>
                  <a:tcPr anchor="ctr">
                    <a:solidFill>
                      <a:srgbClr val="F4F7FF"/>
                    </a:solidFill>
                  </a:tcPr>
                </a:tc>
                <a:tc>
                  <a:txBody>
                    <a:bodyPr/>
                    <a:lstStyle/>
                    <a:p>
                      <a:pPr algn="l"/>
                      <a:r>
                        <a:rPr sz="1400">
                          <a:solidFill>
                            <a:srgbClr val="333333"/>
                          </a:solidFill>
                          <a:latin typeface="メイリオ"/>
                          <a:ea typeface="メイリオ"/>
                          <a:cs typeface="メイリオ"/>
                        </a:rPr>
                        <a:t>★特商法。解約妨害には罰則がある</a:t>
                      </a:r>
                    </a:p>
                  </a:txBody>
                  <a:tcPr anchor="ctr">
                    <a:solidFill>
                      <a:srgbClr val="F4F7FF"/>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★形式は「◯日後：方向性（〜というデータがあるため）」。具体的な日数は商材で変わるため、業界汎用版では逆算の型のみ示している</a:t>
            </a:r>
          </a:p>
        </p:txBody>
      </p:sp>
    </p:spTree>
    <p:extLst>
      <p:ext uri="{BB962C8B-B14F-4D97-AF65-F5344CB8AC3E}">
        <p14:creationId xmlns:p14="http://schemas.microsoft.com/office/powerpoint/2010/main" val="1738656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配信設計②｜実文面（初回購入後 → F2）</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★F2オファーは「売り込み」ではなく「切れる頃のお知らせ」として出す。</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76000" y="1620000"/>
            <a:ext cx="2592000" cy="3888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26400" y="1771200"/>
            <a:ext cx="2491200" cy="36864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26400" y="1771200"/>
            <a:ext cx="2491200" cy="187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200" b="1">
                <a:solidFill>
                  <a:srgbClr val="FFFFFF"/>
                </a:solidFill>
                <a:latin typeface="メイリオ"/>
                <a:ea typeface="メイリオ"/>
                <a:cs typeface="メイリオ"/>
              </a:rPr>
              <a:t>●●公式｜使用フォロー</a:t>
            </a:r>
          </a:p>
        </p:txBody>
      </p:sp>
      <p:sp>
        <p:nvSpPr>
          <p:cNvPr id="8" name="Rounded Rectangle 7"/>
          <p:cNvSpPr/>
          <p:nvPr/>
        </p:nvSpPr>
        <p:spPr>
          <a:xfrm>
            <a:off x="687600" y="1998000"/>
            <a:ext cx="2368800"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0400" tIns="18000" rIns="36000" bIns="18000" rtlCol="0" anchor="ctr"/>
          <a:lstStyle/>
          <a:p>
            <a:pPr algn="l">
              <a:lnSpc>
                <a:spcPct val="118000"/>
              </a:lnSpc>
            </a:pPr>
            <a:r>
              <a:rPr sz="800">
                <a:solidFill>
                  <a:srgbClr val="333333"/>
                </a:solidFill>
                <a:latin typeface="メイリオ"/>
                <a:ea typeface="メイリオ"/>
                <a:cs typeface="メイリオ"/>
              </a:rPr>
              <a:t>使い始めて1週間ですね。</a:t>
            </a:r>
          </a:p>
          <a:p>
            <a:pPr algn="l">
              <a:lnSpc>
                <a:spcPct val="118000"/>
              </a:lnSpc>
            </a:pPr>
            <a:r>
              <a:rPr sz="800">
                <a:solidFill>
                  <a:srgbClr val="333333"/>
                </a:solidFill>
                <a:latin typeface="メイリオ"/>
                <a:ea typeface="メイリオ"/>
                <a:cs typeface="メイリオ"/>
              </a:rPr>
              <a:t>いかがですか？</a:t>
            </a:r>
          </a:p>
        </p:txBody>
      </p:sp>
      <p:sp>
        <p:nvSpPr>
          <p:cNvPr id="9" name="Rounded Rectangle 8"/>
          <p:cNvSpPr/>
          <p:nvPr/>
        </p:nvSpPr>
        <p:spPr>
          <a:xfrm>
            <a:off x="687600" y="2365200"/>
            <a:ext cx="2368800" cy="648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0400" tIns="18000" rIns="36000" bIns="18000" rtlCol="0" anchor="ctr"/>
          <a:lstStyle/>
          <a:p>
            <a:pPr algn="l">
              <a:lnSpc>
                <a:spcPct val="118000"/>
              </a:lnSpc>
            </a:pPr>
            <a:r>
              <a:rPr sz="700">
                <a:solidFill>
                  <a:srgbClr val="333333"/>
                </a:solidFill>
                <a:latin typeface="メイリオ"/>
                <a:ea typeface="メイリオ"/>
                <a:cs typeface="メイリオ"/>
              </a:rPr>
              <a:t>【この時期によくあるご質問】</a:t>
            </a:r>
          </a:p>
          <a:p>
            <a:pPr algn="l">
              <a:lnSpc>
                <a:spcPct val="118000"/>
              </a:lnSpc>
            </a:pPr>
            <a:r>
              <a:rPr sz="700">
                <a:solidFill>
                  <a:srgbClr val="333333"/>
                </a:solidFill>
                <a:latin typeface="メイリオ"/>
                <a:ea typeface="メイリオ"/>
                <a:cs typeface="メイリオ"/>
              </a:rPr>
              <a:t>Q. まだ変化を感じません</a:t>
            </a:r>
          </a:p>
          <a:p>
            <a:pPr algn="l">
              <a:lnSpc>
                <a:spcPct val="118000"/>
              </a:lnSpc>
            </a:pPr>
            <a:r>
              <a:rPr sz="700">
                <a:solidFill>
                  <a:srgbClr val="333333"/>
                </a:solidFill>
                <a:latin typeface="メイリオ"/>
                <a:ea typeface="メイリオ"/>
                <a:cs typeface="メイリオ"/>
              </a:rPr>
              <a:t>A. 肌の生まれ変わりには</a:t>
            </a:r>
          </a:p>
          <a:p>
            <a:pPr algn="l">
              <a:lnSpc>
                <a:spcPct val="118000"/>
              </a:lnSpc>
            </a:pPr>
            <a:r>
              <a:rPr sz="700">
                <a:solidFill>
                  <a:srgbClr val="333333"/>
                </a:solidFill>
                <a:latin typeface="メイリオ"/>
                <a:ea typeface="メイリオ"/>
                <a:cs typeface="メイリオ"/>
              </a:rPr>
              <a:t>　 時間がかかります。</a:t>
            </a:r>
          </a:p>
          <a:p>
            <a:pPr algn="l">
              <a:lnSpc>
                <a:spcPct val="118000"/>
              </a:lnSpc>
            </a:pPr>
            <a:r>
              <a:rPr sz="700">
                <a:solidFill>
                  <a:srgbClr val="333333"/>
                </a:solidFill>
                <a:latin typeface="メイリオ"/>
                <a:ea typeface="メイリオ"/>
                <a:cs typeface="メイリオ"/>
              </a:rPr>
              <a:t>　 まずは1本お使いください。</a:t>
            </a:r>
          </a:p>
        </p:txBody>
      </p:sp>
      <p:sp>
        <p:nvSpPr>
          <p:cNvPr id="10" name="Rounded Rectangle 9"/>
          <p:cNvSpPr/>
          <p:nvPr/>
        </p:nvSpPr>
        <p:spPr>
          <a:xfrm>
            <a:off x="687600" y="3056400"/>
            <a:ext cx="2368800"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0400" tIns="18000" rIns="36000" bIns="18000" rtlCol="0" anchor="ctr"/>
          <a:lstStyle/>
          <a:p>
            <a:pPr algn="l">
              <a:lnSpc>
                <a:spcPct val="118000"/>
              </a:lnSpc>
            </a:pPr>
            <a:r>
              <a:rPr sz="800">
                <a:solidFill>
                  <a:srgbClr val="333333"/>
                </a:solidFill>
                <a:latin typeface="メイリオ"/>
                <a:ea typeface="メイリオ"/>
                <a:cs typeface="メイリオ"/>
              </a:rPr>
              <a:t>使い方のコツを</a:t>
            </a:r>
          </a:p>
          <a:p>
            <a:pPr algn="l">
              <a:lnSpc>
                <a:spcPct val="118000"/>
              </a:lnSpc>
            </a:pPr>
            <a:r>
              <a:rPr sz="800">
                <a:solidFill>
                  <a:srgbClr val="333333"/>
                </a:solidFill>
                <a:latin typeface="メイリオ"/>
                <a:ea typeface="メイリオ"/>
                <a:cs typeface="メイリオ"/>
              </a:rPr>
              <a:t>動画にまとめました。</a:t>
            </a:r>
          </a:p>
        </p:txBody>
      </p:sp>
      <p:sp>
        <p:nvSpPr>
          <p:cNvPr id="11" name="Rounded Rectangle 10"/>
          <p:cNvSpPr/>
          <p:nvPr/>
        </p:nvSpPr>
        <p:spPr>
          <a:xfrm>
            <a:off x="687600" y="3423600"/>
            <a:ext cx="23688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5000"/>
              </a:lnSpc>
            </a:pPr>
            <a:r>
              <a:rPr sz="1000">
                <a:solidFill>
                  <a:srgbClr val="0B7A3B"/>
                </a:solidFill>
                <a:latin typeface="メイリオ"/>
                <a:ea typeface="メイリオ"/>
                <a:cs typeface="メイリオ"/>
              </a:rPr>
              <a:t>使い方の動画を見る</a:t>
            </a:r>
          </a:p>
        </p:txBody>
      </p:sp>
      <p:sp>
        <p:nvSpPr>
          <p:cNvPr id="12" name="TextBox 11"/>
          <p:cNvSpPr txBox="1"/>
          <p:nvPr/>
        </p:nvSpPr>
        <p:spPr>
          <a:xfrm>
            <a:off x="687600" y="3711162"/>
            <a:ext cx="2368800" cy="159274"/>
          </a:xfrm>
          <a:prstGeom prst="rect">
            <a:avLst/>
          </a:prstGeom>
          <a:noFill/>
        </p:spPr>
        <p:txBody>
          <a:bodyPr wrap="square" lIns="18000" tIns="0" rIns="18000" bIns="0" anchor="ctr">
            <a:spAutoFit/>
          </a:bodyPr>
          <a:lstStyle/>
          <a:p>
            <a:pPr algn="l">
              <a:lnSpc>
                <a:spcPct val="115000"/>
              </a:lnSpc>
            </a:pPr>
            <a:r>
              <a:rPr sz="900">
                <a:solidFill>
                  <a:srgbClr val="7F7F7F"/>
                </a:solidFill>
                <a:latin typeface="メイリオ"/>
                <a:ea typeface="メイリオ"/>
                <a:cs typeface="メイリオ"/>
              </a:rPr>
              <a:t>※ 効果を断定する表現は使わない（薬機法）</a:t>
            </a:r>
          </a:p>
        </p:txBody>
      </p:sp>
      <p:sp>
        <p:nvSpPr>
          <p:cNvPr id="13" name="Rounded Rectangle 12"/>
          <p:cNvSpPr/>
          <p:nvPr/>
        </p:nvSpPr>
        <p:spPr>
          <a:xfrm>
            <a:off x="3527999" y="1620000"/>
            <a:ext cx="2592000" cy="3888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578400" y="1771200"/>
            <a:ext cx="2491200" cy="36864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578400" y="1771200"/>
            <a:ext cx="2491200" cy="187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200" b="1">
                <a:solidFill>
                  <a:srgbClr val="FFFFFF"/>
                </a:solidFill>
                <a:latin typeface="メイリオ"/>
                <a:ea typeface="メイリオ"/>
                <a:cs typeface="メイリオ"/>
              </a:rPr>
              <a:t>●●公式｜F2オファー</a:t>
            </a:r>
          </a:p>
        </p:txBody>
      </p:sp>
      <p:sp>
        <p:nvSpPr>
          <p:cNvPr id="16" name="Rounded Rectangle 15"/>
          <p:cNvSpPr/>
          <p:nvPr/>
        </p:nvSpPr>
        <p:spPr>
          <a:xfrm>
            <a:off x="3639600" y="1998000"/>
            <a:ext cx="2368800"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0400" tIns="18000" rIns="36000" bIns="18000" rtlCol="0" anchor="ctr"/>
          <a:lstStyle/>
          <a:p>
            <a:pPr algn="l">
              <a:lnSpc>
                <a:spcPct val="118000"/>
              </a:lnSpc>
            </a:pPr>
            <a:r>
              <a:rPr sz="1000">
                <a:solidFill>
                  <a:srgbClr val="333333"/>
                </a:solidFill>
                <a:latin typeface="メイリオ"/>
                <a:ea typeface="メイリオ"/>
                <a:cs typeface="メイリオ"/>
              </a:rPr>
              <a:t>そろそろ残り少なく</a:t>
            </a:r>
          </a:p>
          <a:p>
            <a:pPr algn="l">
              <a:lnSpc>
                <a:spcPct val="118000"/>
              </a:lnSpc>
            </a:pPr>
            <a:r>
              <a:rPr sz="1000">
                <a:solidFill>
                  <a:srgbClr val="333333"/>
                </a:solidFill>
                <a:latin typeface="メイリオ"/>
                <a:ea typeface="メイリオ"/>
                <a:cs typeface="メイリオ"/>
              </a:rPr>
              <a:t>なる頃でしょうか。</a:t>
            </a:r>
          </a:p>
        </p:txBody>
      </p:sp>
      <p:sp>
        <p:nvSpPr>
          <p:cNvPr id="17" name="Rounded Rectangle 16"/>
          <p:cNvSpPr/>
          <p:nvPr/>
        </p:nvSpPr>
        <p:spPr>
          <a:xfrm>
            <a:off x="3639600" y="2365200"/>
            <a:ext cx="2368800" cy="432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0400" tIns="18000" rIns="36000" bIns="18000" rtlCol="0" anchor="ctr"/>
          <a:lstStyle/>
          <a:p>
            <a:pPr algn="l">
              <a:lnSpc>
                <a:spcPct val="118000"/>
              </a:lnSpc>
            </a:pPr>
            <a:r>
              <a:rPr sz="800">
                <a:solidFill>
                  <a:srgbClr val="333333"/>
                </a:solidFill>
                <a:latin typeface="メイリオ"/>
                <a:ea typeface="メイリオ"/>
                <a:cs typeface="メイリオ"/>
              </a:rPr>
              <a:t>お使いのペースだと</a:t>
            </a:r>
          </a:p>
          <a:p>
            <a:pPr algn="l">
              <a:lnSpc>
                <a:spcPct val="118000"/>
              </a:lnSpc>
            </a:pPr>
            <a:r>
              <a:rPr sz="800">
                <a:solidFill>
                  <a:srgbClr val="333333"/>
                </a:solidFill>
                <a:latin typeface="メイリオ"/>
                <a:ea typeface="メイリオ"/>
                <a:cs typeface="メイリオ"/>
              </a:rPr>
              <a:t>●月●日ごろに</a:t>
            </a:r>
          </a:p>
          <a:p>
            <a:pPr algn="l">
              <a:lnSpc>
                <a:spcPct val="118000"/>
              </a:lnSpc>
            </a:pPr>
            <a:r>
              <a:rPr sz="800">
                <a:solidFill>
                  <a:srgbClr val="333333"/>
                </a:solidFill>
                <a:latin typeface="メイリオ"/>
                <a:ea typeface="メイリオ"/>
                <a:cs typeface="メイリオ"/>
              </a:rPr>
              <a:t>無くなる計算です。</a:t>
            </a:r>
          </a:p>
        </p:txBody>
      </p:sp>
      <p:sp>
        <p:nvSpPr>
          <p:cNvPr id="18" name="Rounded Rectangle 17"/>
          <p:cNvSpPr/>
          <p:nvPr/>
        </p:nvSpPr>
        <p:spPr>
          <a:xfrm>
            <a:off x="3639600" y="2840400"/>
            <a:ext cx="2368800"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0400" tIns="18000" rIns="36000" bIns="18000" rtlCol="0" anchor="ctr"/>
          <a:lstStyle/>
          <a:p>
            <a:pPr algn="l">
              <a:lnSpc>
                <a:spcPct val="118000"/>
              </a:lnSpc>
            </a:pPr>
            <a:r>
              <a:rPr sz="1000">
                <a:solidFill>
                  <a:srgbClr val="333333"/>
                </a:solidFill>
                <a:latin typeface="メイリオ"/>
                <a:ea typeface="メイリオ"/>
                <a:cs typeface="メイリオ"/>
              </a:rPr>
              <a:t>切らさずお使いいただくなら、</a:t>
            </a:r>
          </a:p>
          <a:p>
            <a:pPr algn="l">
              <a:lnSpc>
                <a:spcPct val="118000"/>
              </a:lnSpc>
            </a:pPr>
            <a:r>
              <a:rPr sz="1000">
                <a:solidFill>
                  <a:srgbClr val="333333"/>
                </a:solidFill>
                <a:latin typeface="メイリオ"/>
                <a:ea typeface="メイリオ"/>
                <a:cs typeface="メイリオ"/>
              </a:rPr>
              <a:t>今のうちのご注文が安心です。</a:t>
            </a:r>
          </a:p>
        </p:txBody>
      </p:sp>
      <p:sp>
        <p:nvSpPr>
          <p:cNvPr id="19" name="Rounded Rectangle 18"/>
          <p:cNvSpPr/>
          <p:nvPr/>
        </p:nvSpPr>
        <p:spPr>
          <a:xfrm>
            <a:off x="3639600" y="3207600"/>
            <a:ext cx="2368800" cy="216000"/>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5000"/>
              </a:lnSpc>
            </a:pPr>
            <a:r>
              <a:rPr sz="1200" b="1">
                <a:solidFill>
                  <a:srgbClr val="FFFFFF"/>
                </a:solidFill>
                <a:latin typeface="メイリオ"/>
                <a:ea typeface="メイリオ"/>
                <a:cs typeface="メイリオ"/>
              </a:rPr>
              <a:t>同じものを注文する</a:t>
            </a:r>
          </a:p>
        </p:txBody>
      </p:sp>
      <p:sp>
        <p:nvSpPr>
          <p:cNvPr id="20" name="Rounded Rectangle 19"/>
          <p:cNvSpPr/>
          <p:nvPr/>
        </p:nvSpPr>
        <p:spPr>
          <a:xfrm>
            <a:off x="3639600" y="3466800"/>
            <a:ext cx="23688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5000"/>
              </a:lnSpc>
            </a:pPr>
            <a:r>
              <a:rPr sz="1000">
                <a:solidFill>
                  <a:srgbClr val="0B7A3B"/>
                </a:solidFill>
                <a:latin typeface="メイリオ"/>
                <a:ea typeface="メイリオ"/>
                <a:cs typeface="メイリオ"/>
              </a:rPr>
              <a:t>定期にして送料無料にする</a:t>
            </a:r>
          </a:p>
        </p:txBody>
      </p:sp>
      <p:sp>
        <p:nvSpPr>
          <p:cNvPr id="21" name="TextBox 20"/>
          <p:cNvSpPr txBox="1"/>
          <p:nvPr/>
        </p:nvSpPr>
        <p:spPr>
          <a:xfrm>
            <a:off x="3639600" y="3745513"/>
            <a:ext cx="2368800" cy="176972"/>
          </a:xfrm>
          <a:prstGeom prst="rect">
            <a:avLst/>
          </a:prstGeom>
          <a:noFill/>
        </p:spPr>
        <p:txBody>
          <a:bodyPr wrap="square" lIns="18000" tIns="0" rIns="18000" bIns="0" anchor="ctr">
            <a:spAutoFit/>
          </a:bodyPr>
          <a:lstStyle/>
          <a:p>
            <a:pPr algn="l">
              <a:lnSpc>
                <a:spcPct val="115000"/>
              </a:lnSpc>
            </a:pPr>
            <a:r>
              <a:rPr sz="1000">
                <a:solidFill>
                  <a:srgbClr val="7F7F7F"/>
                </a:solidFill>
                <a:latin typeface="メイリオ"/>
                <a:ea typeface="メイリオ"/>
                <a:cs typeface="メイリオ"/>
              </a:rPr>
              <a:t>※ 通知冒頭15字：そろそろ残り少なく</a:t>
            </a:r>
          </a:p>
        </p:txBody>
      </p:sp>
      <p:sp>
        <p:nvSpPr>
          <p:cNvPr id="22" name="Rounded Rectangle 21"/>
          <p:cNvSpPr/>
          <p:nvPr/>
        </p:nvSpPr>
        <p:spPr>
          <a:xfrm>
            <a:off x="6480000" y="1620000"/>
            <a:ext cx="3139200" cy="3888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605999" y="1960794"/>
            <a:ext cx="3031200" cy="3206411"/>
          </a:xfrm>
          <a:prstGeom prst="rect">
            <a:avLst/>
          </a:prstGeom>
          <a:noFill/>
        </p:spPr>
        <p:txBody>
          <a:bodyPr wrap="square" lIns="50400" tIns="21600" rIns="50400" bIns="21600" anchor="ctr">
            <a:spAutoFit/>
          </a:bodyPr>
          <a:lstStyle/>
          <a:p>
            <a:pPr algn="l">
              <a:spcAft>
                <a:spcPts val="600"/>
              </a:spcAft>
            </a:pPr>
            <a:r>
              <a:rPr sz="1500" b="1">
                <a:solidFill>
                  <a:srgbClr val="ED7D31"/>
                </a:solidFill>
                <a:latin typeface="メイリオ"/>
                <a:ea typeface="メイリオ"/>
                <a:cs typeface="メイリオ"/>
              </a:rPr>
              <a:t>★この2通の作法</a:t>
            </a:r>
          </a:p>
          <a:p>
            <a:pPr algn="l">
              <a:lnSpc>
                <a:spcPct val="130000"/>
              </a:lnSpc>
              <a:spcAft>
                <a:spcPts val="300"/>
              </a:spcAft>
            </a:pPr>
            <a:r>
              <a:rPr sz="1300" b="1">
                <a:solidFill>
                  <a:srgbClr val="333333"/>
                </a:solidFill>
                <a:latin typeface="メイリオ"/>
                <a:ea typeface="メイリオ"/>
                <a:cs typeface="メイリオ"/>
              </a:rPr>
              <a:t>使用フォローでは売らない。</a:t>
            </a:r>
          </a:p>
          <a:p>
            <a:pPr algn="l">
              <a:lnSpc>
                <a:spcPct val="130000"/>
              </a:lnSpc>
              <a:spcAft>
                <a:spcPts val="600"/>
              </a:spcAft>
            </a:pPr>
            <a:r>
              <a:rPr sz="1300">
                <a:solidFill>
                  <a:srgbClr val="333333"/>
                </a:solidFill>
                <a:latin typeface="メイリオ"/>
                <a:ea typeface="メイリオ"/>
                <a:cs typeface="メイリオ"/>
              </a:rPr>
              <a:t>「効果を感じない」を先に拾うことが、いちばんの離脱防止になる。</a:t>
            </a:r>
          </a:p>
          <a:p>
            <a:pPr algn="l">
              <a:lnSpc>
                <a:spcPct val="130000"/>
              </a:lnSpc>
              <a:spcAft>
                <a:spcPts val="300"/>
              </a:spcAft>
            </a:pPr>
            <a:r>
              <a:rPr sz="1300" b="1">
                <a:solidFill>
                  <a:srgbClr val="333333"/>
                </a:solidFill>
                <a:latin typeface="メイリオ"/>
                <a:ea typeface="メイリオ"/>
                <a:cs typeface="メイリオ"/>
              </a:rPr>
              <a:t>F2オファーは日付で語る。</a:t>
            </a:r>
          </a:p>
          <a:p>
            <a:pPr algn="l">
              <a:lnSpc>
                <a:spcPct val="130000"/>
              </a:lnSpc>
              <a:spcAft>
                <a:spcPts val="600"/>
              </a:spcAft>
            </a:pPr>
            <a:r>
              <a:rPr sz="1300">
                <a:solidFill>
                  <a:srgbClr val="333333"/>
                </a:solidFill>
                <a:latin typeface="メイリオ"/>
                <a:ea typeface="メイリオ"/>
                <a:cs typeface="メイリオ"/>
              </a:rPr>
              <a:t>「買ってください」ではなく「●日に無くなります」。事実を伝えるだけで、必要な人は自分で動く。</a:t>
            </a:r>
          </a:p>
          <a:p>
            <a:pPr algn="l">
              <a:lnSpc>
                <a:spcPct val="130000"/>
              </a:lnSpc>
              <a:spcAft>
                <a:spcPts val="300"/>
              </a:spcAft>
            </a:pPr>
            <a:r>
              <a:rPr sz="1300" b="1">
                <a:solidFill>
                  <a:srgbClr val="333333"/>
                </a:solidFill>
                <a:latin typeface="メイリオ"/>
                <a:ea typeface="メイリオ"/>
                <a:cs typeface="メイリオ"/>
              </a:rPr>
              <a:t>薬機法の線引き</a:t>
            </a:r>
          </a:p>
          <a:p>
            <a:pPr algn="l">
              <a:lnSpc>
                <a:spcPct val="130000"/>
              </a:lnSpc>
            </a:pPr>
            <a:r>
              <a:rPr sz="1300">
                <a:solidFill>
                  <a:srgbClr val="333333"/>
                </a:solidFill>
                <a:latin typeface="メイリオ"/>
                <a:ea typeface="メイリオ"/>
                <a:cs typeface="メイリオ"/>
              </a:rPr>
              <a:t>効果効能を断定しない。体験談も、広告に該当するため同じ規制がかかる。</a:t>
            </a:r>
          </a:p>
        </p:txBody>
      </p:sp>
      <p:sp>
        <p:nvSpPr>
          <p:cNvPr id="24" name="TextBox 23"/>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法令｜LINE配信は薬機法上の「広告」に該当する（誘引性・特定性・認知性）。文面は必ず薬機法チェックを通すこと</a:t>
            </a:r>
          </a:p>
        </p:txBody>
      </p:sp>
    </p:spTree>
    <p:extLst>
      <p:ext uri="{BB962C8B-B14F-4D97-AF65-F5344CB8AC3E}">
        <p14:creationId xmlns:p14="http://schemas.microsoft.com/office/powerpoint/2010/main" val="106556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配信設計③｜実文面（定期継続中・解約予防）</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★次回発送の数日前に「今回はスキップできます」を、こちらから先に出す。</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7999" y="1620000"/>
            <a:ext cx="2664000" cy="3888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98400" y="1771200"/>
            <a:ext cx="2563200" cy="36864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8400" y="1771200"/>
            <a:ext cx="2563200" cy="187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200" b="1">
                <a:solidFill>
                  <a:srgbClr val="FFFFFF"/>
                </a:solidFill>
                <a:latin typeface="メイリオ"/>
                <a:ea typeface="メイリオ"/>
                <a:cs typeface="メイリオ"/>
              </a:rPr>
              <a:t>●●公式｜次回発送前</a:t>
            </a:r>
          </a:p>
        </p:txBody>
      </p:sp>
      <p:sp>
        <p:nvSpPr>
          <p:cNvPr id="8" name="Rounded Rectangle 7"/>
          <p:cNvSpPr/>
          <p:nvPr/>
        </p:nvSpPr>
        <p:spPr>
          <a:xfrm>
            <a:off x="759600" y="1998000"/>
            <a:ext cx="2440800"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0400" tIns="18000" rIns="36000" bIns="18000" rtlCol="0" anchor="ctr"/>
          <a:lstStyle/>
          <a:p>
            <a:pPr algn="l">
              <a:lnSpc>
                <a:spcPct val="118000"/>
              </a:lnSpc>
            </a:pPr>
            <a:r>
              <a:rPr sz="1000">
                <a:solidFill>
                  <a:srgbClr val="333333"/>
                </a:solidFill>
                <a:latin typeface="メイリオ"/>
                <a:ea typeface="メイリオ"/>
                <a:cs typeface="メイリオ"/>
              </a:rPr>
              <a:t>次回のお届けは</a:t>
            </a:r>
          </a:p>
          <a:p>
            <a:pPr algn="l">
              <a:lnSpc>
                <a:spcPct val="118000"/>
              </a:lnSpc>
            </a:pPr>
            <a:r>
              <a:rPr sz="1000">
                <a:solidFill>
                  <a:srgbClr val="333333"/>
                </a:solidFill>
                <a:latin typeface="メイリオ"/>
                <a:ea typeface="メイリオ"/>
                <a:cs typeface="メイリオ"/>
              </a:rPr>
              <a:t>●月●日の予定です。</a:t>
            </a:r>
          </a:p>
        </p:txBody>
      </p:sp>
      <p:sp>
        <p:nvSpPr>
          <p:cNvPr id="9" name="Rounded Rectangle 8"/>
          <p:cNvSpPr/>
          <p:nvPr/>
        </p:nvSpPr>
        <p:spPr>
          <a:xfrm>
            <a:off x="759600" y="2365200"/>
            <a:ext cx="2440800" cy="432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0400" tIns="18000" rIns="36000" bIns="18000" rtlCol="0" anchor="ctr"/>
          <a:lstStyle/>
          <a:p>
            <a:pPr algn="l">
              <a:lnSpc>
                <a:spcPct val="118000"/>
              </a:lnSpc>
            </a:pPr>
            <a:r>
              <a:rPr sz="800">
                <a:solidFill>
                  <a:srgbClr val="333333"/>
                </a:solidFill>
                <a:latin typeface="メイリオ"/>
                <a:ea typeface="メイリオ"/>
                <a:cs typeface="メイリオ"/>
              </a:rPr>
              <a:t>まだ残っていませんか？</a:t>
            </a:r>
          </a:p>
          <a:p>
            <a:pPr algn="l">
              <a:lnSpc>
                <a:spcPct val="118000"/>
              </a:lnSpc>
            </a:pPr>
            <a:r>
              <a:rPr sz="800">
                <a:solidFill>
                  <a:srgbClr val="333333"/>
                </a:solidFill>
                <a:latin typeface="メイリオ"/>
                <a:ea typeface="メイリオ"/>
                <a:cs typeface="メイリオ"/>
              </a:rPr>
              <a:t>余っているときは</a:t>
            </a:r>
          </a:p>
          <a:p>
            <a:pPr algn="l">
              <a:lnSpc>
                <a:spcPct val="118000"/>
              </a:lnSpc>
            </a:pPr>
            <a:r>
              <a:rPr sz="800">
                <a:solidFill>
                  <a:srgbClr val="333333"/>
                </a:solidFill>
                <a:latin typeface="メイリオ"/>
                <a:ea typeface="メイリオ"/>
                <a:cs typeface="メイリオ"/>
              </a:rPr>
              <a:t>スキップできます。</a:t>
            </a:r>
          </a:p>
        </p:txBody>
      </p:sp>
      <p:sp>
        <p:nvSpPr>
          <p:cNvPr id="10" name="Rounded Rectangle 9"/>
          <p:cNvSpPr/>
          <p:nvPr/>
        </p:nvSpPr>
        <p:spPr>
          <a:xfrm>
            <a:off x="759600" y="2840400"/>
            <a:ext cx="24408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5000"/>
              </a:lnSpc>
            </a:pPr>
            <a:r>
              <a:rPr sz="1000">
                <a:solidFill>
                  <a:srgbClr val="0B7A3B"/>
                </a:solidFill>
                <a:latin typeface="メイリオ"/>
                <a:ea typeface="メイリオ"/>
                <a:cs typeface="メイリオ"/>
              </a:rPr>
              <a:t>今回はスキップする</a:t>
            </a:r>
          </a:p>
        </p:txBody>
      </p:sp>
      <p:sp>
        <p:nvSpPr>
          <p:cNvPr id="11" name="Rounded Rectangle 10"/>
          <p:cNvSpPr/>
          <p:nvPr/>
        </p:nvSpPr>
        <p:spPr>
          <a:xfrm>
            <a:off x="759600" y="3099600"/>
            <a:ext cx="24408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5000"/>
              </a:lnSpc>
            </a:pPr>
            <a:r>
              <a:rPr sz="1400">
                <a:solidFill>
                  <a:srgbClr val="0B7A3B"/>
                </a:solidFill>
                <a:latin typeface="メイリオ"/>
                <a:ea typeface="メイリオ"/>
                <a:cs typeface="メイリオ"/>
              </a:rPr>
              <a:t>お届け間隔を変える</a:t>
            </a:r>
          </a:p>
        </p:txBody>
      </p:sp>
      <p:sp>
        <p:nvSpPr>
          <p:cNvPr id="12" name="Rounded Rectangle 11"/>
          <p:cNvSpPr/>
          <p:nvPr/>
        </p:nvSpPr>
        <p:spPr>
          <a:xfrm>
            <a:off x="759600" y="3358800"/>
            <a:ext cx="24408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5000"/>
              </a:lnSpc>
            </a:pPr>
            <a:r>
              <a:rPr sz="1400">
                <a:solidFill>
                  <a:srgbClr val="0B7A3B"/>
                </a:solidFill>
                <a:latin typeface="メイリオ"/>
                <a:ea typeface="メイリオ"/>
                <a:cs typeface="メイリオ"/>
              </a:rPr>
              <a:t>このままお届け</a:t>
            </a:r>
          </a:p>
        </p:txBody>
      </p:sp>
      <p:sp>
        <p:nvSpPr>
          <p:cNvPr id="13" name="TextBox 12"/>
          <p:cNvSpPr txBox="1"/>
          <p:nvPr/>
        </p:nvSpPr>
        <p:spPr>
          <a:xfrm>
            <a:off x="759600" y="3602120"/>
            <a:ext cx="2440800" cy="247760"/>
          </a:xfrm>
          <a:prstGeom prst="rect">
            <a:avLst/>
          </a:prstGeom>
          <a:noFill/>
        </p:spPr>
        <p:txBody>
          <a:bodyPr wrap="square" lIns="18000" tIns="0" rIns="18000" bIns="0" anchor="ctr">
            <a:spAutoFit/>
          </a:bodyPr>
          <a:lstStyle/>
          <a:p>
            <a:pPr algn="l">
              <a:lnSpc>
                <a:spcPct val="115000"/>
              </a:lnSpc>
            </a:pPr>
            <a:r>
              <a:rPr sz="1400">
                <a:solidFill>
                  <a:srgbClr val="7F7F7F"/>
                </a:solidFill>
                <a:latin typeface="メイリオ"/>
                <a:ea typeface="メイリオ"/>
                <a:cs typeface="メイリオ"/>
              </a:rPr>
              <a:t>※ 発送3日前に自動送信</a:t>
            </a:r>
          </a:p>
        </p:txBody>
      </p:sp>
      <p:sp>
        <p:nvSpPr>
          <p:cNvPr id="14" name="Rounded Rectangle 13"/>
          <p:cNvSpPr/>
          <p:nvPr/>
        </p:nvSpPr>
        <p:spPr>
          <a:xfrm>
            <a:off x="3527999" y="1620000"/>
            <a:ext cx="6163200" cy="1872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3999" y="1793218"/>
            <a:ext cx="5911200" cy="1525566"/>
          </a:xfrm>
          <a:prstGeom prst="rect">
            <a:avLst/>
          </a:prstGeom>
          <a:noFill/>
        </p:spPr>
        <p:txBody>
          <a:bodyPr wrap="square" lIns="50400" tIns="21600" rIns="50400" bIns="21600" anchor="ctr">
            <a:spAutoFit/>
          </a:bodyPr>
          <a:lstStyle/>
          <a:p>
            <a:pPr algn="l">
              <a:spcAft>
                <a:spcPts val="500"/>
              </a:spcAft>
            </a:pPr>
            <a:r>
              <a:rPr sz="1600" b="1">
                <a:solidFill>
                  <a:srgbClr val="ED7D31"/>
                </a:solidFill>
                <a:latin typeface="メイリオ"/>
                <a:ea typeface="メイリオ"/>
                <a:cs typeface="メイリオ"/>
              </a:rPr>
              <a:t>★これは引き止めではない</a:t>
            </a:r>
          </a:p>
          <a:p>
            <a:pPr algn="l">
              <a:lnSpc>
                <a:spcPct val="132000"/>
              </a:lnSpc>
              <a:spcAft>
                <a:spcPts val="400"/>
              </a:spcAft>
            </a:pPr>
            <a:r>
              <a:rPr sz="1400">
                <a:solidFill>
                  <a:srgbClr val="333333"/>
                </a:solidFill>
                <a:latin typeface="メイリオ"/>
                <a:ea typeface="メイリオ"/>
                <a:cs typeface="メイリオ"/>
              </a:rPr>
              <a:t>「余っているのに届く」は、解約理由の上位。届く前にスキップを選べるようにするのは、顧客にとっての利便であって、解約の妨害ではない。</a:t>
            </a:r>
          </a:p>
          <a:p>
            <a:pPr algn="l">
              <a:lnSpc>
                <a:spcPct val="132000"/>
              </a:lnSpc>
            </a:pPr>
            <a:r>
              <a:rPr sz="1400" b="1">
                <a:solidFill>
                  <a:srgbClr val="333333"/>
                </a:solidFill>
                <a:latin typeface="メイリオ"/>
                <a:ea typeface="メイリオ"/>
                <a:cs typeface="メイリオ"/>
              </a:rPr>
              <a:t>解約を申し出た人を引き止めるのとは、行為として全く別のもの。</a:t>
            </a:r>
          </a:p>
        </p:txBody>
      </p:sp>
      <p:sp>
        <p:nvSpPr>
          <p:cNvPr id="16" name="Rounded Rectangle 15"/>
          <p:cNvSpPr/>
          <p:nvPr/>
        </p:nvSpPr>
        <p:spPr>
          <a:xfrm>
            <a:off x="3527999" y="3636000"/>
            <a:ext cx="6163200" cy="187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3999" y="3944511"/>
            <a:ext cx="5911200" cy="1254979"/>
          </a:xfrm>
          <a:prstGeom prst="rect">
            <a:avLst/>
          </a:prstGeom>
          <a:noFill/>
        </p:spPr>
        <p:txBody>
          <a:bodyPr wrap="square" lIns="50400" tIns="21600" rIns="50400" bIns="21600" anchor="ctr">
            <a:spAutoFit/>
          </a:bodyPr>
          <a:lstStyle/>
          <a:p>
            <a:pPr algn="l">
              <a:spcAft>
                <a:spcPts val="500"/>
              </a:spcAft>
            </a:pPr>
            <a:r>
              <a:rPr sz="1600" b="1">
                <a:solidFill>
                  <a:srgbClr val="1F285A"/>
                </a:solidFill>
                <a:latin typeface="メイリオ"/>
                <a:ea typeface="メイリオ"/>
                <a:cs typeface="メイリオ"/>
              </a:rPr>
              <a:t>節目の配信（3回目・6回目）</a:t>
            </a:r>
          </a:p>
          <a:p>
            <a:pPr algn="l">
              <a:lnSpc>
                <a:spcPct val="130000"/>
              </a:lnSpc>
              <a:spcAft>
                <a:spcPts val="300"/>
              </a:spcAft>
            </a:pPr>
            <a:r>
              <a:rPr sz="1400">
                <a:solidFill>
                  <a:srgbClr val="333333"/>
                </a:solidFill>
                <a:latin typeface="メイリオ"/>
                <a:ea typeface="メイリオ"/>
                <a:cs typeface="メイリオ"/>
              </a:rPr>
              <a:t>・3回目：ここまでの使用量と、次のステップの提案</a:t>
            </a:r>
          </a:p>
          <a:p>
            <a:pPr algn="l">
              <a:lnSpc>
                <a:spcPct val="130000"/>
              </a:lnSpc>
              <a:spcAft>
                <a:spcPts val="300"/>
              </a:spcAft>
            </a:pPr>
            <a:r>
              <a:rPr sz="1400">
                <a:solidFill>
                  <a:srgbClr val="333333"/>
                </a:solidFill>
                <a:latin typeface="メイリオ"/>
                <a:ea typeface="メイリオ"/>
                <a:cs typeface="メイリオ"/>
              </a:rPr>
              <a:t>・6回目：継続特典／まとめ買いへのプラン変更</a:t>
            </a:r>
          </a:p>
          <a:p>
            <a:pPr algn="l">
              <a:lnSpc>
                <a:spcPct val="130000"/>
              </a:lnSpc>
            </a:pPr>
            <a:r>
              <a:rPr sz="1400" b="1">
                <a:solidFill>
                  <a:srgbClr val="333333"/>
                </a:solidFill>
                <a:latin typeface="メイリオ"/>
                <a:ea typeface="メイリオ"/>
                <a:cs typeface="メイリオ"/>
              </a:rPr>
              <a:t>・いずれも「やめる」も同じ画面から選べる状態にしておく</a:t>
            </a:r>
          </a:p>
        </p:txBody>
      </p:sp>
      <p:sp>
        <p:nvSpPr>
          <p:cNvPr id="18" name="TextBox 17"/>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意見｜スキップ・間隔変更・数量変更は、解約の「代わり」になる選択肢。これを出せるかどうかで月次解約率が変わる</a:t>
            </a:r>
          </a:p>
        </p:txBody>
      </p:sp>
    </p:spTree>
    <p:extLst>
      <p:ext uri="{BB962C8B-B14F-4D97-AF65-F5344CB8AC3E}">
        <p14:creationId xmlns:p14="http://schemas.microsoft.com/office/powerpoint/2010/main" val="2299358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配信設計④｜解約シナリオ（★この提案の核心）</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解約を止めることはできない。できるのは、解約の手前に選択肢を置くことだけ。</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9043200" cy="540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2000" y="1593756"/>
            <a:ext cx="8683200" cy="592490"/>
          </a:xfrm>
          <a:prstGeom prst="rect">
            <a:avLst/>
          </a:prstGeom>
          <a:noFill/>
        </p:spPr>
        <p:txBody>
          <a:bodyPr wrap="square" lIns="50400" tIns="21600" rIns="50400" bIns="21600" anchor="ctr">
            <a:spAutoFit/>
          </a:bodyPr>
          <a:lstStyle/>
          <a:p>
            <a:pPr algn="l">
              <a:lnSpc>
                <a:spcPct val="120000"/>
              </a:lnSpc>
              <a:spcAft>
                <a:spcPts val="500"/>
              </a:spcAft>
            </a:pPr>
            <a:r>
              <a:rPr sz="1400" b="1">
                <a:solidFill>
                  <a:srgbClr val="1F285A"/>
                </a:solidFill>
                <a:latin typeface="メイリオ"/>
                <a:ea typeface="メイリオ"/>
                <a:cs typeface="メイリオ"/>
              </a:rPr>
              <a:t>解約意思の検知</a:t>
            </a:r>
          </a:p>
          <a:p>
            <a:pPr algn="l">
              <a:lnSpc>
                <a:spcPct val="130000"/>
              </a:lnSpc>
            </a:pPr>
            <a:r>
              <a:rPr sz="1200">
                <a:solidFill>
                  <a:srgbClr val="333333"/>
                </a:solidFill>
                <a:latin typeface="メイリオ"/>
                <a:ea typeface="メイリオ"/>
                <a:cs typeface="メイリオ"/>
              </a:rPr>
              <a:t>リッチメニュー「解約・休止のご相談」をタップ 等</a:t>
            </a:r>
          </a:p>
        </p:txBody>
      </p:sp>
      <p:sp>
        <p:nvSpPr>
          <p:cNvPr id="7" name="Down Arrow 6"/>
          <p:cNvSpPr/>
          <p:nvPr/>
        </p:nvSpPr>
        <p:spPr>
          <a:xfrm>
            <a:off x="4874400" y="2185200"/>
            <a:ext cx="158400" cy="147600"/>
          </a:xfrm>
          <a:prstGeom prst="down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2000" y="2358000"/>
            <a:ext cx="9043200" cy="540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2000" y="2331756"/>
            <a:ext cx="8683200" cy="592490"/>
          </a:xfrm>
          <a:prstGeom prst="rect">
            <a:avLst/>
          </a:prstGeom>
          <a:noFill/>
        </p:spPr>
        <p:txBody>
          <a:bodyPr wrap="square" lIns="50400" tIns="21600" rIns="50400" bIns="21600" anchor="ctr">
            <a:spAutoFit/>
          </a:bodyPr>
          <a:lstStyle/>
          <a:p>
            <a:pPr algn="l">
              <a:lnSpc>
                <a:spcPct val="120000"/>
              </a:lnSpc>
              <a:spcAft>
                <a:spcPts val="500"/>
              </a:spcAft>
            </a:pPr>
            <a:r>
              <a:rPr sz="1400" b="1">
                <a:solidFill>
                  <a:srgbClr val="1F285A"/>
                </a:solidFill>
                <a:latin typeface="メイリオ"/>
                <a:ea typeface="メイリオ"/>
                <a:cs typeface="メイリオ"/>
              </a:rPr>
              <a:t>① 解約アンケート</a:t>
            </a:r>
          </a:p>
          <a:p>
            <a:pPr algn="l">
              <a:lnSpc>
                <a:spcPct val="130000"/>
              </a:lnSpc>
            </a:pPr>
            <a:r>
              <a:rPr sz="1200">
                <a:solidFill>
                  <a:srgbClr val="333333"/>
                </a:solidFill>
                <a:latin typeface="メイリオ"/>
                <a:ea typeface="メイリオ"/>
                <a:cs typeface="メイリオ"/>
              </a:rPr>
              <a:t>理由を1タップで。入力の手間を増やさない</a:t>
            </a:r>
          </a:p>
        </p:txBody>
      </p:sp>
      <p:sp>
        <p:nvSpPr>
          <p:cNvPr id="10" name="Down Arrow 9"/>
          <p:cNvSpPr/>
          <p:nvPr/>
        </p:nvSpPr>
        <p:spPr>
          <a:xfrm>
            <a:off x="4874400" y="2923200"/>
            <a:ext cx="158400" cy="147600"/>
          </a:xfrm>
          <a:prstGeom prst="down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2000" y="3096000"/>
            <a:ext cx="9043200" cy="827999"/>
          </a:xfrm>
          <a:prstGeom prst="roundRect">
            <a:avLst>
              <a:gd name="adj" fmla="val 6000"/>
            </a:avLst>
          </a:prstGeom>
          <a:solidFill>
            <a:srgbClr val="FCE4D6"/>
          </a:solidFill>
          <a:ln w="2032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2000" y="3065061"/>
            <a:ext cx="8683200" cy="889879"/>
          </a:xfrm>
          <a:prstGeom prst="rect">
            <a:avLst/>
          </a:prstGeom>
          <a:noFill/>
        </p:spPr>
        <p:txBody>
          <a:bodyPr wrap="square" lIns="50400" tIns="21600" rIns="50400" bIns="21600" anchor="ctr">
            <a:spAutoFit/>
          </a:bodyPr>
          <a:lstStyle/>
          <a:p>
            <a:pPr algn="l">
              <a:lnSpc>
                <a:spcPct val="120000"/>
              </a:lnSpc>
              <a:spcAft>
                <a:spcPts val="500"/>
              </a:spcAft>
            </a:pPr>
            <a:r>
              <a:rPr sz="1500" b="1">
                <a:solidFill>
                  <a:srgbClr val="ED7D31"/>
                </a:solidFill>
                <a:latin typeface="メイリオ"/>
                <a:ea typeface="メイリオ"/>
                <a:cs typeface="メイリオ"/>
              </a:rPr>
              <a:t>② 理由に応じたオファー</a:t>
            </a:r>
          </a:p>
          <a:p>
            <a:pPr algn="l">
              <a:lnSpc>
                <a:spcPct val="130000"/>
              </a:lnSpc>
            </a:pPr>
            <a:r>
              <a:rPr sz="1300">
                <a:solidFill>
                  <a:srgbClr val="333333"/>
                </a:solidFill>
                <a:latin typeface="メイリオ"/>
                <a:ea typeface="メイリオ"/>
                <a:cs typeface="メイリオ"/>
              </a:rPr>
              <a:t>余っている→スキップ／周期変更　　高い→プラン変更／数量変更
効果を感じない→使い方の見直し／別商品　　一時的な事情→休止</a:t>
            </a:r>
          </a:p>
        </p:txBody>
      </p:sp>
      <p:sp>
        <p:nvSpPr>
          <p:cNvPr id="13" name="Down Arrow 12"/>
          <p:cNvSpPr/>
          <p:nvPr/>
        </p:nvSpPr>
        <p:spPr>
          <a:xfrm>
            <a:off x="4874400" y="3949200"/>
            <a:ext cx="158400" cy="147600"/>
          </a:xfrm>
          <a:prstGeom prst="down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32000" y="4122000"/>
            <a:ext cx="9043200" cy="827999"/>
          </a:xfrm>
          <a:prstGeom prst="roundRect">
            <a:avLst>
              <a:gd name="adj" fmla="val 6000"/>
            </a:avLst>
          </a:prstGeom>
          <a:solidFill>
            <a:srgbClr val="FDF2F2"/>
          </a:solidFill>
          <a:ln w="2032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2000" y="4220903"/>
            <a:ext cx="8683200" cy="630193"/>
          </a:xfrm>
          <a:prstGeom prst="rect">
            <a:avLst/>
          </a:prstGeom>
          <a:noFill/>
        </p:spPr>
        <p:txBody>
          <a:bodyPr wrap="square" lIns="50400" tIns="21600" rIns="50400" bIns="21600" anchor="ctr">
            <a:spAutoFit/>
          </a:bodyPr>
          <a:lstStyle/>
          <a:p>
            <a:pPr algn="l">
              <a:lnSpc>
                <a:spcPct val="120000"/>
              </a:lnSpc>
              <a:spcAft>
                <a:spcPts val="500"/>
              </a:spcAft>
            </a:pPr>
            <a:r>
              <a:rPr sz="1400" b="1">
                <a:solidFill>
                  <a:srgbClr val="C00000"/>
                </a:solidFill>
                <a:latin typeface="メイリオ"/>
                <a:ea typeface="メイリオ"/>
                <a:cs typeface="メイリオ"/>
              </a:rPr>
              <a:t>③ それでも解約なら　止めない。すぐ解約導線を出す</a:t>
            </a:r>
          </a:p>
          <a:p>
            <a:pPr algn="l">
              <a:lnSpc>
                <a:spcPct val="130000"/>
              </a:lnSpc>
            </a:pPr>
            <a:r>
              <a:rPr sz="1400" b="1">
                <a:solidFill>
                  <a:srgbClr val="333333"/>
                </a:solidFill>
                <a:latin typeface="メイリオ"/>
                <a:ea typeface="メイリオ"/>
                <a:cs typeface="メイリオ"/>
              </a:rPr>
              <a:t>★ここで引き止めると特商法違反のリスク。これは引き止め施策ではありません</a:t>
            </a:r>
          </a:p>
        </p:txBody>
      </p:sp>
      <p:sp>
        <p:nvSpPr>
          <p:cNvPr id="16" name="Rounded Rectangle 15"/>
          <p:cNvSpPr/>
          <p:nvPr/>
        </p:nvSpPr>
        <p:spPr>
          <a:xfrm>
            <a:off x="432000" y="5058000"/>
            <a:ext cx="9043200" cy="684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7999" y="5255656"/>
            <a:ext cx="8611200" cy="288689"/>
          </a:xfrm>
          <a:prstGeom prst="rect">
            <a:avLst/>
          </a:prstGeom>
          <a:noFill/>
        </p:spPr>
        <p:txBody>
          <a:bodyPr wrap="square" lIns="50400" tIns="21600" rIns="50400" bIns="21600" anchor="ctr">
            <a:spAutoFit/>
          </a:bodyPr>
          <a:lstStyle/>
          <a:p>
            <a:pPr algn="l">
              <a:lnSpc>
                <a:spcPct val="130000"/>
              </a:lnSpc>
            </a:pPr>
            <a:r>
              <a:rPr sz="1300" b="1">
                <a:solidFill>
                  <a:srgbClr val="FFFFFF"/>
                </a:solidFill>
                <a:latin typeface="メイリオ"/>
                <a:ea typeface="メイリオ"/>
                <a:cs typeface="メイリオ"/>
              </a:rPr>
              <a:t>解約アンケートと理由別オファーを自動化すると、解約の手前で片づく件数が増え、月次解約率が下がる。</a:t>
            </a:r>
          </a:p>
        </p:txBody>
      </p:sp>
      <p:sp>
        <p:nvSpPr>
          <p:cNvPr id="18" name="TextBox 17"/>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法令｜特定商取引法は契約解除の妨害行為に罰則を定めている。本シナリオは解約導線を塞ぐものではなく、選択肢を先に提示するもの</a:t>
            </a:r>
          </a:p>
        </p:txBody>
      </p:sp>
    </p:spTree>
    <p:extLst>
      <p:ext uri="{BB962C8B-B14F-4D97-AF65-F5344CB8AC3E}">
        <p14:creationId xmlns:p14="http://schemas.microsoft.com/office/powerpoint/2010/main" val="2957158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配信設計⑤｜年間の企画投稿カレンダー</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P9の季節性データが入り次第、「◯月：企画（参照データ）」の形で確定させる。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1685075016"/>
              </p:ext>
            </p:extLst>
          </p:nvPr>
        </p:nvGraphicFramePr>
        <p:xfrm>
          <a:off x="432000" y="1620000"/>
          <a:ext cx="9043200" cy="20160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gridCol w="4363200">
                  <a:extLst>
                    <a:ext uri="{9D8B030D-6E8A-4147-A177-3AD203B41FA5}">
                      <a16:colId xmlns:a16="http://schemas.microsoft.com/office/drawing/2014/main" val="20002"/>
                    </a:ext>
                  </a:extLst>
                </a:gridCol>
              </a:tblGrid>
              <a:tr h="288000">
                <a:tc>
                  <a:txBody>
                    <a:bodyPr/>
                    <a:lstStyle/>
                    <a:p>
                      <a:pPr algn="ctr"/>
                      <a:r>
                        <a:rPr sz="1300" b="1">
                          <a:solidFill>
                            <a:srgbClr val="FFFFFF"/>
                          </a:solidFill>
                          <a:latin typeface="メイリオ"/>
                          <a:ea typeface="メイリオ"/>
                          <a:cs typeface="メイリオ"/>
                        </a:rPr>
                        <a:t>月</a:t>
                      </a:r>
                    </a:p>
                  </a:txBody>
                  <a:tcPr marL="43200" marR="43200" marT="18000" marB="18000" anchor="ctr">
                    <a:solidFill>
                      <a:srgbClr val="1F285A"/>
                    </a:solidFill>
                  </a:tcPr>
                </a:tc>
                <a:tc>
                  <a:txBody>
                    <a:bodyPr/>
                    <a:lstStyle/>
                    <a:p>
                      <a:pPr algn="l"/>
                      <a:r>
                        <a:rPr sz="1300" b="1">
                          <a:solidFill>
                            <a:srgbClr val="FFFFFF"/>
                          </a:solidFill>
                          <a:latin typeface="メイリオ"/>
                          <a:ea typeface="メイリオ"/>
                          <a:cs typeface="メイリオ"/>
                        </a:rPr>
                        <a:t>企画</a:t>
                      </a:r>
                    </a:p>
                  </a:txBody>
                  <a:tcPr marL="43200" marR="43200" marT="18000" marB="18000" anchor="ctr">
                    <a:solidFill>
                      <a:srgbClr val="1F285A"/>
                    </a:solidFill>
                  </a:tcPr>
                </a:tc>
                <a:tc>
                  <a:txBody>
                    <a:bodyPr/>
                    <a:lstStyle/>
                    <a:p>
                      <a:pPr algn="l"/>
                      <a:r>
                        <a:rPr sz="1300" b="1">
                          <a:solidFill>
                            <a:srgbClr val="FFFFFF"/>
                          </a:solidFill>
                          <a:latin typeface="メイリオ"/>
                          <a:ea typeface="メイリオ"/>
                          <a:cs typeface="メイリオ"/>
                        </a:rPr>
                        <a:t>参照データ／理由</a:t>
                      </a:r>
                    </a:p>
                  </a:txBody>
                  <a:tcPr marL="43200" marR="43200" marT="18000" marB="18000" anchor="ctr">
                    <a:solidFill>
                      <a:srgbClr val="1F285A"/>
                    </a:solidFill>
                  </a:tcPr>
                </a:tc>
                <a:extLst>
                  <a:ext uri="{0D108BD9-81ED-4DB2-BD59-A6C34878D82A}">
                    <a16:rowId xmlns:a16="http://schemas.microsoft.com/office/drawing/2014/main" val="10000"/>
                  </a:ext>
                </a:extLst>
              </a:tr>
              <a:tr h="288000">
                <a:tc>
                  <a:txBody>
                    <a:bodyPr/>
                    <a:lstStyle/>
                    <a:p>
                      <a:pPr algn="ctr"/>
                      <a:r>
                        <a:rPr sz="1300">
                          <a:solidFill>
                            <a:srgbClr val="333333"/>
                          </a:solidFill>
                          <a:latin typeface="メイリオ"/>
                          <a:ea typeface="メイリオ"/>
                          <a:cs typeface="メイリオ"/>
                        </a:rPr>
                        <a:t>1月</a:t>
                      </a:r>
                    </a:p>
                  </a:txBody>
                  <a:tcPr anchor="ctr">
                    <a:solidFill>
                      <a:srgbClr val="FFFFFF"/>
                    </a:solidFill>
                  </a:tcPr>
                </a:tc>
                <a:tc>
                  <a:txBody>
                    <a:bodyPr/>
                    <a:lstStyle/>
                    <a:p>
                      <a:pPr algn="l"/>
                      <a:r>
                        <a:rPr sz="1300">
                          <a:solidFill>
                            <a:srgbClr val="333333"/>
                          </a:solidFill>
                          <a:latin typeface="メイリオ"/>
                          <a:ea typeface="メイリオ"/>
                          <a:cs typeface="メイリオ"/>
                        </a:rPr>
                        <a:t>新年の習慣づくり企画</a:t>
                      </a:r>
                    </a:p>
                  </a:txBody>
                  <a:tcPr anchor="ctr">
                    <a:solidFill>
                      <a:srgbClr val="FFFFFF"/>
                    </a:solidFill>
                  </a:tcPr>
                </a:tc>
                <a:tc>
                  <a:txBody>
                    <a:bodyPr/>
                    <a:lstStyle/>
                    <a:p>
                      <a:pPr algn="l"/>
                      <a:r>
                        <a:rPr sz="1300">
                          <a:solidFill>
                            <a:srgbClr val="333333"/>
                          </a:solidFill>
                          <a:latin typeface="メイリオ"/>
                          <a:ea typeface="メイリオ"/>
                          <a:cs typeface="メイリオ"/>
                        </a:rPr>
                        <a:t>年始は継続の意思が固まりやすい</a:t>
                      </a:r>
                    </a:p>
                  </a:txBody>
                  <a:tcPr anchor="ctr">
                    <a:solidFill>
                      <a:srgbClr val="FFFFFF"/>
                    </a:solidFill>
                  </a:tcPr>
                </a:tc>
                <a:extLst>
                  <a:ext uri="{0D108BD9-81ED-4DB2-BD59-A6C34878D82A}">
                    <a16:rowId xmlns:a16="http://schemas.microsoft.com/office/drawing/2014/main" val="10001"/>
                  </a:ext>
                </a:extLst>
              </a:tr>
              <a:tr h="288000">
                <a:tc>
                  <a:txBody>
                    <a:bodyPr/>
                    <a:lstStyle/>
                    <a:p>
                      <a:pPr algn="ctr"/>
                      <a:r>
                        <a:rPr sz="1300">
                          <a:solidFill>
                            <a:srgbClr val="333333"/>
                          </a:solidFill>
                          <a:latin typeface="メイリオ"/>
                          <a:ea typeface="メイリオ"/>
                          <a:cs typeface="メイリオ"/>
                        </a:rPr>
                        <a:t>3月</a:t>
                      </a:r>
                    </a:p>
                  </a:txBody>
                  <a:tcPr anchor="ctr">
                    <a:solidFill>
                      <a:srgbClr val="F4F7FF"/>
                    </a:solidFill>
                  </a:tcPr>
                </a:tc>
                <a:tc>
                  <a:txBody>
                    <a:bodyPr/>
                    <a:lstStyle/>
                    <a:p>
                      <a:pPr algn="l"/>
                      <a:r>
                        <a:rPr sz="1300">
                          <a:solidFill>
                            <a:srgbClr val="333333"/>
                          </a:solidFill>
                          <a:latin typeface="メイリオ"/>
                          <a:ea typeface="メイリオ"/>
                          <a:cs typeface="メイリオ"/>
                        </a:rPr>
                        <a:t>新生活・環境変化のフォロー</a:t>
                      </a:r>
                    </a:p>
                  </a:txBody>
                  <a:tcPr anchor="ctr">
                    <a:solidFill>
                      <a:srgbClr val="F4F7FF"/>
                    </a:solidFill>
                  </a:tcPr>
                </a:tc>
                <a:tc>
                  <a:txBody>
                    <a:bodyPr/>
                    <a:lstStyle/>
                    <a:p>
                      <a:pPr algn="l"/>
                      <a:r>
                        <a:rPr sz="1300">
                          <a:solidFill>
                            <a:srgbClr val="333333"/>
                          </a:solidFill>
                          <a:latin typeface="メイリオ"/>
                          <a:ea typeface="メイリオ"/>
                          <a:cs typeface="メイリオ"/>
                        </a:rPr>
                        <a:t>生活リズムが変わり離脱が出やすい</a:t>
                      </a:r>
                    </a:p>
                  </a:txBody>
                  <a:tcPr anchor="ctr">
                    <a:solidFill>
                      <a:srgbClr val="F4F7FF"/>
                    </a:solidFill>
                  </a:tcPr>
                </a:tc>
                <a:extLst>
                  <a:ext uri="{0D108BD9-81ED-4DB2-BD59-A6C34878D82A}">
                    <a16:rowId xmlns:a16="http://schemas.microsoft.com/office/drawing/2014/main" val="10002"/>
                  </a:ext>
                </a:extLst>
              </a:tr>
              <a:tr h="288000">
                <a:tc>
                  <a:txBody>
                    <a:bodyPr/>
                    <a:lstStyle/>
                    <a:p>
                      <a:pPr algn="ctr"/>
                      <a:r>
                        <a:rPr sz="1300">
                          <a:solidFill>
                            <a:srgbClr val="333333"/>
                          </a:solidFill>
                          <a:latin typeface="メイリオ"/>
                          <a:ea typeface="メイリオ"/>
                          <a:cs typeface="メイリオ"/>
                        </a:rPr>
                        <a:t>5月</a:t>
                      </a:r>
                    </a:p>
                  </a:txBody>
                  <a:tcPr anchor="ctr">
                    <a:solidFill>
                      <a:srgbClr val="FFFFFF"/>
                    </a:solidFill>
                  </a:tcPr>
                </a:tc>
                <a:tc>
                  <a:txBody>
                    <a:bodyPr/>
                    <a:lstStyle/>
                    <a:p>
                      <a:pPr algn="l"/>
                      <a:r>
                        <a:rPr sz="1300">
                          <a:solidFill>
                            <a:srgbClr val="333333"/>
                          </a:solidFill>
                          <a:latin typeface="メイリオ"/>
                          <a:ea typeface="メイリオ"/>
                          <a:cs typeface="メイリオ"/>
                        </a:rPr>
                        <a:t>母の日ギフト（LINEギフト）</a:t>
                      </a:r>
                    </a:p>
                  </a:txBody>
                  <a:tcPr anchor="ctr">
                    <a:solidFill>
                      <a:srgbClr val="FFFFFF"/>
                    </a:solidFill>
                  </a:tcPr>
                </a:tc>
                <a:tc>
                  <a:txBody>
                    <a:bodyPr/>
                    <a:lstStyle/>
                    <a:p>
                      <a:pPr algn="l"/>
                      <a:r>
                        <a:rPr sz="1300">
                          <a:solidFill>
                            <a:srgbClr val="333333"/>
                          </a:solidFill>
                          <a:latin typeface="メイリオ"/>
                          <a:ea typeface="メイリオ"/>
                          <a:cs typeface="メイリオ"/>
                        </a:rPr>
                        <a:t>贈答需要。受け取り側の新規友だち化</a:t>
                      </a:r>
                    </a:p>
                  </a:txBody>
                  <a:tcPr anchor="ctr">
                    <a:solidFill>
                      <a:srgbClr val="FFFFFF"/>
                    </a:solidFill>
                  </a:tcPr>
                </a:tc>
                <a:extLst>
                  <a:ext uri="{0D108BD9-81ED-4DB2-BD59-A6C34878D82A}">
                    <a16:rowId xmlns:a16="http://schemas.microsoft.com/office/drawing/2014/main" val="10003"/>
                  </a:ext>
                </a:extLst>
              </a:tr>
              <a:tr h="288000">
                <a:tc>
                  <a:txBody>
                    <a:bodyPr/>
                    <a:lstStyle/>
                    <a:p>
                      <a:pPr algn="ctr"/>
                      <a:r>
                        <a:rPr sz="1300">
                          <a:solidFill>
                            <a:srgbClr val="333333"/>
                          </a:solidFill>
                          <a:latin typeface="メイリオ"/>
                          <a:ea typeface="メイリオ"/>
                          <a:cs typeface="メイリオ"/>
                        </a:rPr>
                        <a:t>6月</a:t>
                      </a:r>
                    </a:p>
                  </a:txBody>
                  <a:tcPr anchor="ctr">
                    <a:solidFill>
                      <a:srgbClr val="F4F7FF"/>
                    </a:solidFill>
                  </a:tcPr>
                </a:tc>
                <a:tc>
                  <a:txBody>
                    <a:bodyPr/>
                    <a:lstStyle/>
                    <a:p>
                      <a:pPr algn="l"/>
                      <a:r>
                        <a:rPr sz="1300">
                          <a:solidFill>
                            <a:srgbClr val="333333"/>
                          </a:solidFill>
                          <a:latin typeface="メイリオ"/>
                          <a:ea typeface="メイリオ"/>
                          <a:cs typeface="メイリオ"/>
                        </a:rPr>
                        <a:t>梅雨・体調の変化に合わせた使い方</a:t>
                      </a:r>
                    </a:p>
                  </a:txBody>
                  <a:tcPr anchor="ctr">
                    <a:solidFill>
                      <a:srgbClr val="F4F7FF"/>
                    </a:solidFill>
                  </a:tcPr>
                </a:tc>
                <a:tc>
                  <a:txBody>
                    <a:bodyPr/>
                    <a:lstStyle/>
                    <a:p>
                      <a:pPr algn="l"/>
                      <a:r>
                        <a:rPr sz="1300">
                          <a:solidFill>
                            <a:srgbClr val="333333"/>
                          </a:solidFill>
                          <a:latin typeface="メイリオ"/>
                          <a:ea typeface="メイリオ"/>
                          <a:cs typeface="メイリオ"/>
                        </a:rPr>
                        <a:t>使用継続のフォロー</a:t>
                      </a:r>
                    </a:p>
                  </a:txBody>
                  <a:tcPr anchor="ctr">
                    <a:solidFill>
                      <a:srgbClr val="F4F7FF"/>
                    </a:solidFill>
                  </a:tcPr>
                </a:tc>
                <a:extLst>
                  <a:ext uri="{0D108BD9-81ED-4DB2-BD59-A6C34878D82A}">
                    <a16:rowId xmlns:a16="http://schemas.microsoft.com/office/drawing/2014/main" val="10004"/>
                  </a:ext>
                </a:extLst>
              </a:tr>
              <a:tr h="288000">
                <a:tc>
                  <a:txBody>
                    <a:bodyPr/>
                    <a:lstStyle/>
                    <a:p>
                      <a:pPr algn="ctr"/>
                      <a:r>
                        <a:rPr sz="1300">
                          <a:solidFill>
                            <a:srgbClr val="333333"/>
                          </a:solidFill>
                          <a:latin typeface="メイリオ"/>
                          <a:ea typeface="メイリオ"/>
                          <a:cs typeface="メイリオ"/>
                        </a:rPr>
                        <a:t>8月</a:t>
                      </a:r>
                    </a:p>
                  </a:txBody>
                  <a:tcPr anchor="ctr">
                    <a:solidFill>
                      <a:srgbClr val="FFFFFF"/>
                    </a:solidFill>
                  </a:tcPr>
                </a:tc>
                <a:tc>
                  <a:txBody>
                    <a:bodyPr/>
                    <a:lstStyle/>
                    <a:p>
                      <a:pPr algn="l"/>
                      <a:r>
                        <a:rPr sz="1300">
                          <a:solidFill>
                            <a:srgbClr val="333333"/>
                          </a:solidFill>
                          <a:latin typeface="メイリオ"/>
                          <a:ea typeface="メイリオ"/>
                          <a:cs typeface="メイリオ"/>
                        </a:rPr>
                        <a:t>夏の使い方・保管方法</a:t>
                      </a:r>
                    </a:p>
                  </a:txBody>
                  <a:tcPr anchor="ctr">
                    <a:solidFill>
                      <a:srgbClr val="FFFFFF"/>
                    </a:solidFill>
                  </a:tcPr>
                </a:tc>
                <a:tc>
                  <a:txBody>
                    <a:bodyPr/>
                    <a:lstStyle/>
                    <a:p>
                      <a:pPr algn="l"/>
                      <a:r>
                        <a:rPr sz="1300">
                          <a:solidFill>
                            <a:srgbClr val="333333"/>
                          </a:solidFill>
                          <a:latin typeface="メイリオ"/>
                          <a:ea typeface="メイリオ"/>
                          <a:cs typeface="メイリオ"/>
                        </a:rPr>
                        <a:t>高温期は保管の相談が増える</a:t>
                      </a:r>
                    </a:p>
                  </a:txBody>
                  <a:tcPr anchor="ctr">
                    <a:solidFill>
                      <a:srgbClr val="FFFFFF"/>
                    </a:solidFill>
                  </a:tcPr>
                </a:tc>
                <a:extLst>
                  <a:ext uri="{0D108BD9-81ED-4DB2-BD59-A6C34878D82A}">
                    <a16:rowId xmlns:a16="http://schemas.microsoft.com/office/drawing/2014/main" val="10005"/>
                  </a:ext>
                </a:extLst>
              </a:tr>
              <a:tr h="288000">
                <a:tc>
                  <a:txBody>
                    <a:bodyPr/>
                    <a:lstStyle/>
                    <a:p>
                      <a:pPr algn="ctr"/>
                      <a:r>
                        <a:rPr sz="1300">
                          <a:solidFill>
                            <a:srgbClr val="333333"/>
                          </a:solidFill>
                          <a:latin typeface="メイリオ"/>
                          <a:ea typeface="メイリオ"/>
                          <a:cs typeface="メイリオ"/>
                        </a:rPr>
                        <a:t>11月</a:t>
                      </a:r>
                    </a:p>
                  </a:txBody>
                  <a:tcPr anchor="ctr">
                    <a:solidFill>
                      <a:srgbClr val="F4F7FF"/>
                    </a:solidFill>
                  </a:tcPr>
                </a:tc>
                <a:tc>
                  <a:txBody>
                    <a:bodyPr/>
                    <a:lstStyle/>
                    <a:p>
                      <a:pPr algn="l"/>
                      <a:r>
                        <a:rPr sz="1300">
                          <a:solidFill>
                            <a:srgbClr val="333333"/>
                          </a:solidFill>
                          <a:latin typeface="メイリオ"/>
                          <a:ea typeface="メイリオ"/>
                          <a:cs typeface="メイリオ"/>
                        </a:rPr>
                        <a:t>年末に向けた買い置き提案</a:t>
                      </a:r>
                    </a:p>
                  </a:txBody>
                  <a:tcPr anchor="ctr">
                    <a:solidFill>
                      <a:srgbClr val="F4F7FF"/>
                    </a:solidFill>
                  </a:tcPr>
                </a:tc>
                <a:tc>
                  <a:txBody>
                    <a:bodyPr/>
                    <a:lstStyle/>
                    <a:p>
                      <a:pPr algn="l"/>
                      <a:r>
                        <a:rPr sz="1300">
                          <a:solidFill>
                            <a:srgbClr val="333333"/>
                          </a:solidFill>
                          <a:latin typeface="メイリオ"/>
                          <a:ea typeface="メイリオ"/>
                          <a:cs typeface="メイリオ"/>
                        </a:rPr>
                        <a:t>まとめ買い・プラン変更の好機</a:t>
                      </a:r>
                    </a:p>
                  </a:txBody>
                  <a:tcPr anchor="ctr">
                    <a:solidFill>
                      <a:srgbClr val="F4F7FF"/>
                    </a:solidFill>
                  </a:tcPr>
                </a:tc>
                <a:extLst>
                  <a:ext uri="{0D108BD9-81ED-4DB2-BD59-A6C34878D82A}">
                    <a16:rowId xmlns:a16="http://schemas.microsoft.com/office/drawing/2014/main" val="10006"/>
                  </a:ext>
                </a:extLst>
              </a:tr>
            </a:tbl>
          </a:graphicData>
        </a:graphic>
      </p:graphicFrame>
      <p:sp>
        <p:nvSpPr>
          <p:cNvPr id="6" name="Rounded Rectangle 5"/>
          <p:cNvSpPr/>
          <p:nvPr/>
        </p:nvSpPr>
        <p:spPr>
          <a:xfrm>
            <a:off x="432000" y="3600000"/>
            <a:ext cx="9043200" cy="936000"/>
          </a:xfrm>
          <a:prstGeom prst="roundRect">
            <a:avLst>
              <a:gd name="adj" fmla="val 6000"/>
            </a:avLst>
          </a:prstGeom>
          <a:solidFill>
            <a:srgbClr val="FCE4D6"/>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999" y="3640820"/>
            <a:ext cx="8611200" cy="854357"/>
          </a:xfrm>
          <a:prstGeom prst="rect">
            <a:avLst/>
          </a:prstGeom>
          <a:noFill/>
        </p:spPr>
        <p:txBody>
          <a:bodyPr wrap="square" lIns="50400" tIns="21600" rIns="50400" bIns="21600" anchor="ctr">
            <a:spAutoFit/>
          </a:bodyPr>
          <a:lstStyle/>
          <a:p>
            <a:pPr algn="l">
              <a:spcAft>
                <a:spcPts val="400"/>
              </a:spcAft>
            </a:pPr>
            <a:r>
              <a:rPr sz="1400" b="1">
                <a:solidFill>
                  <a:srgbClr val="ED7D31"/>
                </a:solidFill>
                <a:latin typeface="メイリオ"/>
                <a:ea typeface="メイリオ"/>
                <a:cs typeface="メイリオ"/>
              </a:rPr>
              <a:t>★上の企画は、季節性データが入るまでの叩き台</a:t>
            </a:r>
          </a:p>
          <a:p>
            <a:pPr algn="l">
              <a:lnSpc>
                <a:spcPct val="130000"/>
              </a:lnSpc>
            </a:pPr>
            <a:r>
              <a:rPr sz="1400">
                <a:solidFill>
                  <a:srgbClr val="333333"/>
                </a:solidFill>
                <a:latin typeface="メイリオ"/>
                <a:ea typeface="メイリオ"/>
                <a:cs typeface="メイリオ"/>
              </a:rPr>
              <a:t>Googleトレンド（P9）で山が確定したら、「参照データ」の列に実データを入れて確定させる。根拠のない企画カレンダーは作らない。</a:t>
            </a:r>
          </a:p>
        </p:txBody>
      </p:sp>
      <p:sp>
        <p:nvSpPr>
          <p:cNvPr id="8" name="Rounded Rectangle 7"/>
          <p:cNvSpPr/>
          <p:nvPr/>
        </p:nvSpPr>
        <p:spPr>
          <a:xfrm>
            <a:off x="432000" y="4680000"/>
            <a:ext cx="9043200" cy="97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7999" y="4723432"/>
            <a:ext cx="8611200" cy="885134"/>
          </a:xfrm>
          <a:prstGeom prst="rect">
            <a:avLst/>
          </a:prstGeom>
          <a:noFill/>
        </p:spPr>
        <p:txBody>
          <a:bodyPr wrap="square" lIns="50400" tIns="21600" rIns="50400" bIns="21600" anchor="ctr">
            <a:spAutoFit/>
          </a:bodyPr>
          <a:lstStyle/>
          <a:p>
            <a:pPr algn="l">
              <a:spcAft>
                <a:spcPts val="400"/>
              </a:spcAft>
            </a:pPr>
            <a:r>
              <a:rPr sz="1600" b="1">
                <a:solidFill>
                  <a:srgbClr val="1F285A"/>
                </a:solidFill>
                <a:latin typeface="メイリオ"/>
                <a:ea typeface="メイリオ"/>
                <a:cs typeface="メイリオ"/>
              </a:rPr>
              <a:t>企画投稿の役割は「売ること」ではない</a:t>
            </a:r>
          </a:p>
          <a:p>
            <a:pPr algn="l">
              <a:lnSpc>
                <a:spcPct val="130000"/>
              </a:lnSpc>
            </a:pPr>
            <a:r>
              <a:rPr sz="1400">
                <a:solidFill>
                  <a:srgbClr val="333333"/>
                </a:solidFill>
                <a:latin typeface="メイリオ"/>
                <a:ea typeface="メイリオ"/>
                <a:cs typeface="メイリオ"/>
              </a:rPr>
              <a:t>配信を止めるとアカウントは忘れられる。忘れられたアカウントからのスキップ提案や解約受付は開かれない。接点を絶やさないことが目的。</a:t>
            </a:r>
          </a:p>
        </p:txBody>
      </p:sp>
      <p:sp>
        <p:nvSpPr>
          <p:cNvPr id="10" name="TextBox 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★P9のGoogleトレンド取得後に確定する。現時点の企画は根拠列が未確定の叩き台</a:t>
            </a:r>
          </a:p>
        </p:txBody>
      </p:sp>
    </p:spTree>
    <p:extLst>
      <p:ext uri="{BB962C8B-B14F-4D97-AF65-F5344CB8AC3E}">
        <p14:creationId xmlns:p14="http://schemas.microsoft.com/office/powerpoint/2010/main" val="2756826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配信設計⑥｜通知メッセージ（友だちでなくても届く）</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電話番号ベースで届く。＝ まだ友だちになっていない既存顧客にも到達できる。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9043200" cy="6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00" y="1781078"/>
            <a:ext cx="3024000"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発送完了・配送状況</a:t>
            </a:r>
          </a:p>
        </p:txBody>
      </p:sp>
      <p:sp>
        <p:nvSpPr>
          <p:cNvPr id="7" name="TextBox 6"/>
          <p:cNvSpPr txBox="1"/>
          <p:nvPr/>
        </p:nvSpPr>
        <p:spPr>
          <a:xfrm>
            <a:off x="3743999" y="1772229"/>
            <a:ext cx="5587200" cy="307540"/>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問い合わせが一番多い用件。自動化で受電が減る</a:t>
            </a:r>
          </a:p>
        </p:txBody>
      </p:sp>
      <p:sp>
        <p:nvSpPr>
          <p:cNvPr id="8" name="Rounded Rectangle 7"/>
          <p:cNvSpPr/>
          <p:nvPr/>
        </p:nvSpPr>
        <p:spPr>
          <a:xfrm>
            <a:off x="432000" y="2304000"/>
            <a:ext cx="9043200" cy="612000"/>
          </a:xfrm>
          <a:prstGeom prst="roundRect">
            <a:avLst>
              <a:gd name="adj" fmla="val 6000"/>
            </a:avLst>
          </a:prstGeom>
          <a:solidFill>
            <a:srgbClr val="FCE4D6"/>
          </a:solidFill>
          <a:ln w="1778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00" y="2465078"/>
            <a:ext cx="3024000" cy="289843"/>
          </a:xfrm>
          <a:prstGeom prst="rect">
            <a:avLst/>
          </a:prstGeom>
          <a:noFill/>
        </p:spPr>
        <p:txBody>
          <a:bodyPr wrap="square" lIns="50400" tIns="21600" rIns="50400" bIns="21600" anchor="ctr">
            <a:spAutoFit/>
          </a:bodyPr>
          <a:lstStyle/>
          <a:p>
            <a:pPr algn="l"/>
            <a:r>
              <a:rPr sz="1600" b="1">
                <a:solidFill>
                  <a:srgbClr val="ED7D31"/>
                </a:solidFill>
                <a:latin typeface="メイリオ"/>
                <a:ea typeface="メイリオ"/>
                <a:cs typeface="メイリオ"/>
              </a:rPr>
              <a:t>★定期の次回発送前</a:t>
            </a:r>
          </a:p>
        </p:txBody>
      </p:sp>
      <p:sp>
        <p:nvSpPr>
          <p:cNvPr id="10" name="TextBox 9"/>
          <p:cNvSpPr txBox="1"/>
          <p:nvPr/>
        </p:nvSpPr>
        <p:spPr>
          <a:xfrm>
            <a:off x="3743999" y="2456229"/>
            <a:ext cx="5587200" cy="307540"/>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スキップ・間隔変更を選べる導線を、友だち以外にも届けられる</a:t>
            </a:r>
          </a:p>
        </p:txBody>
      </p:sp>
      <p:sp>
        <p:nvSpPr>
          <p:cNvPr id="11" name="Rounded Rectangle 10"/>
          <p:cNvSpPr/>
          <p:nvPr/>
        </p:nvSpPr>
        <p:spPr>
          <a:xfrm>
            <a:off x="432000" y="2988000"/>
            <a:ext cx="9043200" cy="6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76000" y="3149078"/>
            <a:ext cx="3024000"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決済エラー</a:t>
            </a:r>
          </a:p>
        </p:txBody>
      </p:sp>
      <p:sp>
        <p:nvSpPr>
          <p:cNvPr id="13" name="TextBox 12"/>
          <p:cNvSpPr txBox="1"/>
          <p:nvPr/>
        </p:nvSpPr>
        <p:spPr>
          <a:xfrm>
            <a:off x="3743999" y="3140229"/>
            <a:ext cx="5587200" cy="307540"/>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カード期限切れ等。放置すると意図しない解約になる</a:t>
            </a:r>
          </a:p>
        </p:txBody>
      </p:sp>
      <p:sp>
        <p:nvSpPr>
          <p:cNvPr id="14" name="Rounded Rectangle 13"/>
          <p:cNvSpPr/>
          <p:nvPr/>
        </p:nvSpPr>
        <p:spPr>
          <a:xfrm>
            <a:off x="432000" y="3671999"/>
            <a:ext cx="9043200" cy="6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76000" y="3833078"/>
            <a:ext cx="3024000"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再入荷・欠品のお詫び</a:t>
            </a:r>
          </a:p>
        </p:txBody>
      </p:sp>
      <p:sp>
        <p:nvSpPr>
          <p:cNvPr id="16" name="TextBox 15"/>
          <p:cNvSpPr txBox="1"/>
          <p:nvPr/>
        </p:nvSpPr>
        <p:spPr>
          <a:xfrm>
            <a:off x="3743999" y="3824229"/>
            <a:ext cx="5587200" cy="307540"/>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待っている人にだけ届く</a:t>
            </a:r>
          </a:p>
        </p:txBody>
      </p:sp>
      <p:sp>
        <p:nvSpPr>
          <p:cNvPr id="17" name="Rounded Rectangle 16"/>
          <p:cNvSpPr/>
          <p:nvPr/>
        </p:nvSpPr>
        <p:spPr>
          <a:xfrm>
            <a:off x="432000" y="4428000"/>
            <a:ext cx="9043200" cy="1224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7999" y="4602627"/>
            <a:ext cx="8611200" cy="874747"/>
          </a:xfrm>
          <a:prstGeom prst="rect">
            <a:avLst/>
          </a:prstGeom>
          <a:noFill/>
        </p:spPr>
        <p:txBody>
          <a:bodyPr wrap="square" lIns="50400" tIns="21600" rIns="50400" bIns="21600" anchor="ctr">
            <a:spAutoFit/>
          </a:bodyPr>
          <a:lstStyle/>
          <a:p>
            <a:pPr algn="l">
              <a:spcAft>
                <a:spcPts val="500"/>
              </a:spcAft>
            </a:pPr>
            <a:r>
              <a:rPr sz="1400" b="1">
                <a:solidFill>
                  <a:srgbClr val="ED7D31"/>
                </a:solidFill>
                <a:latin typeface="メイリオ"/>
                <a:ea typeface="メイリオ"/>
                <a:cs typeface="メイリオ"/>
              </a:rPr>
              <a:t>★決済エラーの放置は「意図しない解約」を生む</a:t>
            </a:r>
          </a:p>
          <a:p>
            <a:pPr algn="l">
              <a:lnSpc>
                <a:spcPct val="132000"/>
              </a:lnSpc>
            </a:pPr>
            <a:r>
              <a:rPr sz="1400">
                <a:solidFill>
                  <a:srgbClr val="FFFFFF"/>
                </a:solidFill>
                <a:latin typeface="メイリオ"/>
                <a:ea typeface="メイリオ"/>
                <a:cs typeface="メイリオ"/>
              </a:rPr>
              <a:t>カードの期限切れで止まった定期は、顧客が辞めたわけではない。気づかないまま関係が切れる。通知メッセージで拾えば、そのまま継続する。</a:t>
            </a:r>
          </a:p>
        </p:txBody>
      </p:sp>
      <p:sp>
        <p:nvSpPr>
          <p:cNvPr id="19" name="TextBox 18"/>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業界水準｜通知メッセージは電話番号をキーに配信できるため、未友だちの既存顧客にも到達する。利用には所定の申請と要件確認が必要</a:t>
            </a:r>
          </a:p>
        </p:txBody>
      </p:sp>
    </p:spTree>
    <p:extLst>
      <p:ext uri="{BB962C8B-B14F-4D97-AF65-F5344CB8AC3E}">
        <p14:creationId xmlns:p14="http://schemas.microsoft.com/office/powerpoint/2010/main" val="7743960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改善①｜LTVを決めているのは、解約率</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月次解約率が4ポイント違うだけで、顧客の寿命は2倍以上変わる。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4431600" cy="129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00" y="1673078"/>
            <a:ext cx="4143600"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月次解約率 3% なら</a:t>
            </a:r>
          </a:p>
        </p:txBody>
      </p:sp>
      <p:sp>
        <p:nvSpPr>
          <p:cNvPr id="7" name="TextBox 6"/>
          <p:cNvSpPr txBox="1"/>
          <p:nvPr/>
        </p:nvSpPr>
        <p:spPr>
          <a:xfrm>
            <a:off x="576000" y="1961999"/>
            <a:ext cx="4143600" cy="648000"/>
          </a:xfrm>
          <a:prstGeom prst="rect">
            <a:avLst/>
          </a:prstGeom>
          <a:noFill/>
        </p:spPr>
        <p:txBody>
          <a:bodyPr wrap="square" lIns="50400" tIns="21600" rIns="50400" bIns="21600" anchor="ctr">
            <a:spAutoFit/>
          </a:bodyPr>
          <a:lstStyle/>
          <a:p>
            <a:pPr algn="l"/>
            <a:r>
              <a:rPr sz="3400" b="1">
                <a:solidFill>
                  <a:srgbClr val="1F285A"/>
                </a:solidFill>
                <a:latin typeface="メイリオ"/>
                <a:ea typeface="メイリオ"/>
                <a:cs typeface="メイリオ"/>
              </a:rPr>
              <a:t>約33ヶ月</a:t>
            </a:r>
          </a:p>
        </p:txBody>
      </p:sp>
      <p:sp>
        <p:nvSpPr>
          <p:cNvPr id="8" name="TextBox 7"/>
          <p:cNvSpPr txBox="1"/>
          <p:nvPr/>
        </p:nvSpPr>
        <p:spPr>
          <a:xfrm>
            <a:off x="576000" y="2606468"/>
            <a:ext cx="4143600" cy="259065"/>
          </a:xfrm>
          <a:prstGeom prst="rect">
            <a:avLst/>
          </a:prstGeom>
          <a:noFill/>
        </p:spPr>
        <p:txBody>
          <a:bodyPr wrap="square" lIns="50400" tIns="21600" rIns="50400" bIns="21600" anchor="ctr">
            <a:spAutoFit/>
          </a:bodyPr>
          <a:lstStyle/>
          <a:p>
            <a:pPr algn="l"/>
            <a:r>
              <a:rPr sz="1400">
                <a:solidFill>
                  <a:srgbClr val="7F7F7F"/>
                </a:solidFill>
                <a:latin typeface="メイリオ"/>
                <a:ea typeface="メイリオ"/>
                <a:cs typeface="メイリオ"/>
              </a:rPr>
              <a:t>平均継続期間</a:t>
            </a:r>
          </a:p>
        </p:txBody>
      </p:sp>
      <p:sp>
        <p:nvSpPr>
          <p:cNvPr id="9" name="Rounded Rectangle 8"/>
          <p:cNvSpPr/>
          <p:nvPr/>
        </p:nvSpPr>
        <p:spPr>
          <a:xfrm>
            <a:off x="5043600" y="1620000"/>
            <a:ext cx="4431600" cy="1296000"/>
          </a:xfrm>
          <a:prstGeom prst="roundRect">
            <a:avLst>
              <a:gd name="adj" fmla="val 6000"/>
            </a:avLst>
          </a:prstGeom>
          <a:solidFill>
            <a:srgbClr val="FDF2F2"/>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187600" y="1673078"/>
            <a:ext cx="4143600" cy="289843"/>
          </a:xfrm>
          <a:prstGeom prst="rect">
            <a:avLst/>
          </a:prstGeom>
          <a:noFill/>
        </p:spPr>
        <p:txBody>
          <a:bodyPr wrap="square" lIns="50400" tIns="21600" rIns="50400" bIns="21600" anchor="ctr">
            <a:spAutoFit/>
          </a:bodyPr>
          <a:lstStyle/>
          <a:p>
            <a:pPr algn="l"/>
            <a:r>
              <a:rPr sz="1600" b="1">
                <a:solidFill>
                  <a:srgbClr val="C00000"/>
                </a:solidFill>
                <a:latin typeface="メイリオ"/>
                <a:ea typeface="メイリオ"/>
                <a:cs typeface="メイリオ"/>
              </a:rPr>
              <a:t>月次解約率 7% なら</a:t>
            </a:r>
          </a:p>
        </p:txBody>
      </p:sp>
      <p:sp>
        <p:nvSpPr>
          <p:cNvPr id="11" name="TextBox 10"/>
          <p:cNvSpPr txBox="1"/>
          <p:nvPr/>
        </p:nvSpPr>
        <p:spPr>
          <a:xfrm>
            <a:off x="5187600" y="1961999"/>
            <a:ext cx="4143600" cy="648000"/>
          </a:xfrm>
          <a:prstGeom prst="rect">
            <a:avLst/>
          </a:prstGeom>
          <a:noFill/>
        </p:spPr>
        <p:txBody>
          <a:bodyPr wrap="square" lIns="50400" tIns="21600" rIns="50400" bIns="21600" anchor="ctr">
            <a:spAutoFit/>
          </a:bodyPr>
          <a:lstStyle/>
          <a:p>
            <a:pPr algn="l"/>
            <a:r>
              <a:rPr sz="3400" b="1">
                <a:solidFill>
                  <a:srgbClr val="C00000"/>
                </a:solidFill>
                <a:latin typeface="メイリオ"/>
                <a:ea typeface="メイリオ"/>
                <a:cs typeface="メイリオ"/>
              </a:rPr>
              <a:t>約14ヶ月</a:t>
            </a:r>
          </a:p>
        </p:txBody>
      </p:sp>
      <p:sp>
        <p:nvSpPr>
          <p:cNvPr id="12" name="TextBox 11"/>
          <p:cNvSpPr txBox="1"/>
          <p:nvPr/>
        </p:nvSpPr>
        <p:spPr>
          <a:xfrm>
            <a:off x="5187600" y="2606468"/>
            <a:ext cx="4143600" cy="259065"/>
          </a:xfrm>
          <a:prstGeom prst="rect">
            <a:avLst/>
          </a:prstGeom>
          <a:noFill/>
        </p:spPr>
        <p:txBody>
          <a:bodyPr wrap="square" lIns="50400" tIns="21600" rIns="50400" bIns="21600" anchor="ctr">
            <a:spAutoFit/>
          </a:bodyPr>
          <a:lstStyle/>
          <a:p>
            <a:pPr algn="l"/>
            <a:r>
              <a:rPr sz="1400">
                <a:solidFill>
                  <a:srgbClr val="7F7F7F"/>
                </a:solidFill>
                <a:latin typeface="メイリオ"/>
                <a:ea typeface="メイリオ"/>
                <a:cs typeface="メイリオ"/>
              </a:rPr>
              <a:t>平均継続期間</a:t>
            </a:r>
          </a:p>
        </p:txBody>
      </p:sp>
      <p:sp>
        <p:nvSpPr>
          <p:cNvPr id="13" name="Rounded Rectangle 12"/>
          <p:cNvSpPr/>
          <p:nvPr/>
        </p:nvSpPr>
        <p:spPr>
          <a:xfrm>
            <a:off x="432000" y="3060000"/>
            <a:ext cx="9043200" cy="864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7999" y="3045649"/>
            <a:ext cx="8611200" cy="892700"/>
          </a:xfrm>
          <a:prstGeom prst="rect">
            <a:avLst/>
          </a:prstGeom>
          <a:noFill/>
        </p:spPr>
        <p:txBody>
          <a:bodyPr wrap="square" lIns="50400" tIns="21600" rIns="50400" bIns="21600" anchor="ctr">
            <a:spAutoFit/>
          </a:bodyPr>
          <a:lstStyle/>
          <a:p>
            <a:pPr algn="l">
              <a:spcAft>
                <a:spcPts val="400"/>
              </a:spcAft>
            </a:pPr>
            <a:r>
              <a:rPr sz="1600" b="1">
                <a:solidFill>
                  <a:srgbClr val="ED7D31"/>
                </a:solidFill>
                <a:latin typeface="メイリオ"/>
                <a:ea typeface="メイリオ"/>
                <a:cs typeface="メイリオ"/>
              </a:rPr>
              <a:t>そして、解約率は下げられる。</a:t>
            </a:r>
          </a:p>
          <a:p>
            <a:pPr algn="l">
              <a:lnSpc>
                <a:spcPct val="132000"/>
              </a:lnSpc>
            </a:pPr>
            <a:r>
              <a:rPr sz="1400">
                <a:solidFill>
                  <a:srgbClr val="333333"/>
                </a:solidFill>
                <a:latin typeface="メイリオ"/>
                <a:ea typeface="メイリオ"/>
                <a:cs typeface="メイリオ"/>
              </a:rPr>
              <a:t>解約アンケートと、理由別の選択肢（スキップ／プラン変更／休止）を自動で出すと、解約の手前で片づく件数が増える。</a:t>
            </a:r>
          </a:p>
        </p:txBody>
      </p:sp>
      <p:sp>
        <p:nvSpPr>
          <p:cNvPr id="15" name="Rounded Rectangle 14"/>
          <p:cNvSpPr/>
          <p:nvPr/>
        </p:nvSpPr>
        <p:spPr>
          <a:xfrm>
            <a:off x="432000" y="4068000"/>
            <a:ext cx="9043200" cy="46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76000" y="4172467"/>
            <a:ext cx="2232000"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レバー① F2転換率</a:t>
            </a:r>
          </a:p>
        </p:txBody>
      </p:sp>
      <p:sp>
        <p:nvSpPr>
          <p:cNvPr id="17" name="TextBox 16"/>
          <p:cNvSpPr txBox="1"/>
          <p:nvPr/>
        </p:nvSpPr>
        <p:spPr>
          <a:xfrm>
            <a:off x="2880000" y="4157078"/>
            <a:ext cx="1224000" cy="289843"/>
          </a:xfrm>
          <a:prstGeom prst="rect">
            <a:avLst/>
          </a:prstGeom>
          <a:noFill/>
        </p:spPr>
        <p:txBody>
          <a:bodyPr wrap="square" lIns="50400" tIns="21600" rIns="50400" bIns="21600" anchor="ctr">
            <a:spAutoFit/>
          </a:bodyPr>
          <a:lstStyle/>
          <a:p>
            <a:pPr algn="l"/>
            <a:r>
              <a:rPr sz="1600" b="1">
                <a:solidFill>
                  <a:srgbClr val="ED7D31"/>
                </a:solidFill>
                <a:latin typeface="メイリオ"/>
                <a:ea typeface="メイリオ"/>
                <a:cs typeface="メイリオ"/>
              </a:rPr>
              <a:t>上げる</a:t>
            </a:r>
          </a:p>
        </p:txBody>
      </p:sp>
      <p:sp>
        <p:nvSpPr>
          <p:cNvPr id="18" name="TextBox 17"/>
          <p:cNvSpPr txBox="1"/>
          <p:nvPr/>
        </p:nvSpPr>
        <p:spPr>
          <a:xfrm>
            <a:off x="4248000" y="4161406"/>
            <a:ext cx="5083200" cy="281187"/>
          </a:xfrm>
          <a:prstGeom prst="rect">
            <a:avLst/>
          </a:prstGeom>
          <a:noFill/>
        </p:spPr>
        <p:txBody>
          <a:bodyPr wrap="square" lIns="50400" tIns="21600" rIns="50400" bIns="21600" anchor="ctr">
            <a:spAutoFit/>
          </a:bodyPr>
          <a:lstStyle/>
          <a:p>
            <a:pPr algn="l">
              <a:lnSpc>
                <a:spcPct val="125000"/>
              </a:lnSpc>
            </a:pPr>
            <a:r>
              <a:rPr sz="1300">
                <a:solidFill>
                  <a:srgbClr val="333333"/>
                </a:solidFill>
                <a:latin typeface="メイリオ"/>
                <a:ea typeface="メイリオ"/>
                <a:cs typeface="メイリオ"/>
              </a:rPr>
              <a:t>初回で離脱する人を減らす。使用フォローとF2オファー（P45）</a:t>
            </a:r>
          </a:p>
        </p:txBody>
      </p:sp>
      <p:sp>
        <p:nvSpPr>
          <p:cNvPr id="19" name="Rounded Rectangle 18"/>
          <p:cNvSpPr/>
          <p:nvPr/>
        </p:nvSpPr>
        <p:spPr>
          <a:xfrm>
            <a:off x="432000" y="4608000"/>
            <a:ext cx="9043200" cy="46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6000" y="4712467"/>
            <a:ext cx="2232000"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レバー② 月次解約率</a:t>
            </a:r>
          </a:p>
        </p:txBody>
      </p:sp>
      <p:sp>
        <p:nvSpPr>
          <p:cNvPr id="21" name="TextBox 20"/>
          <p:cNvSpPr txBox="1"/>
          <p:nvPr/>
        </p:nvSpPr>
        <p:spPr>
          <a:xfrm>
            <a:off x="2880000" y="4697078"/>
            <a:ext cx="1224000" cy="289843"/>
          </a:xfrm>
          <a:prstGeom prst="rect">
            <a:avLst/>
          </a:prstGeom>
          <a:noFill/>
        </p:spPr>
        <p:txBody>
          <a:bodyPr wrap="square" lIns="50400" tIns="21600" rIns="50400" bIns="21600" anchor="ctr">
            <a:spAutoFit/>
          </a:bodyPr>
          <a:lstStyle/>
          <a:p>
            <a:pPr algn="l"/>
            <a:r>
              <a:rPr sz="1600" b="1">
                <a:solidFill>
                  <a:srgbClr val="ED7D31"/>
                </a:solidFill>
                <a:latin typeface="メイリオ"/>
                <a:ea typeface="メイリオ"/>
                <a:cs typeface="メイリオ"/>
              </a:rPr>
              <a:t>下げる</a:t>
            </a:r>
          </a:p>
        </p:txBody>
      </p:sp>
      <p:sp>
        <p:nvSpPr>
          <p:cNvPr id="22" name="TextBox 21"/>
          <p:cNvSpPr txBox="1"/>
          <p:nvPr/>
        </p:nvSpPr>
        <p:spPr>
          <a:xfrm>
            <a:off x="4248000" y="4692269"/>
            <a:ext cx="5083200"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解約の受け皿とスキップ提示（P46・P47）</a:t>
            </a:r>
          </a:p>
        </p:txBody>
      </p:sp>
      <p:sp>
        <p:nvSpPr>
          <p:cNvPr id="23" name="Rounded Rectangle 22"/>
          <p:cNvSpPr/>
          <p:nvPr/>
        </p:nvSpPr>
        <p:spPr>
          <a:xfrm>
            <a:off x="432000" y="5148000"/>
            <a:ext cx="9043200" cy="46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76000" y="5252467"/>
            <a:ext cx="2232000"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休眠の掘り起こし</a:t>
            </a:r>
          </a:p>
        </p:txBody>
      </p:sp>
      <p:sp>
        <p:nvSpPr>
          <p:cNvPr id="25" name="TextBox 24"/>
          <p:cNvSpPr txBox="1"/>
          <p:nvPr/>
        </p:nvSpPr>
        <p:spPr>
          <a:xfrm>
            <a:off x="2880000" y="5237078"/>
            <a:ext cx="1224000" cy="289843"/>
          </a:xfrm>
          <a:prstGeom prst="rect">
            <a:avLst/>
          </a:prstGeom>
          <a:noFill/>
        </p:spPr>
        <p:txBody>
          <a:bodyPr wrap="square" lIns="50400" tIns="21600" rIns="50400" bIns="21600" anchor="ctr">
            <a:spAutoFit/>
          </a:bodyPr>
          <a:lstStyle/>
          <a:p>
            <a:pPr algn="l"/>
            <a:r>
              <a:rPr sz="1600" b="1">
                <a:solidFill>
                  <a:srgbClr val="ED7D31"/>
                </a:solidFill>
                <a:latin typeface="メイリオ"/>
                <a:ea typeface="メイリオ"/>
                <a:cs typeface="メイリオ"/>
              </a:rPr>
              <a:t>―</a:t>
            </a:r>
          </a:p>
        </p:txBody>
      </p:sp>
      <p:sp>
        <p:nvSpPr>
          <p:cNvPr id="26" name="TextBox 25"/>
          <p:cNvSpPr txBox="1"/>
          <p:nvPr/>
        </p:nvSpPr>
        <p:spPr>
          <a:xfrm>
            <a:off x="4248000" y="5232269"/>
            <a:ext cx="5083200"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解約後もブロックされなければ再開提案ができる</a:t>
            </a:r>
          </a:p>
        </p:txBody>
      </p:sp>
      <p:sp>
        <p:nvSpPr>
          <p:cNvPr id="27" name="TextBox 26"/>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算出｜平均継続期間 ＝ 1 ÷ 月次解約率（3%→約33ヶ月／7%→約14ヶ月）</a:t>
            </a:r>
          </a:p>
        </p:txBody>
      </p:sp>
    </p:spTree>
    <p:extLst>
      <p:ext uri="{BB962C8B-B14F-4D97-AF65-F5344CB8AC3E}">
        <p14:creationId xmlns:p14="http://schemas.microsoft.com/office/powerpoint/2010/main" val="22997255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改善②｜工数削減と、改善が積み上がる仕組み</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解約の電話をLINEに逃がすと、受電が減り、同時に解約も減る。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4340736" cy="194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57999" y="1673078"/>
            <a:ext cx="4088736"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工数が減るところ</a:t>
            </a:r>
          </a:p>
        </p:txBody>
      </p:sp>
      <p:sp>
        <p:nvSpPr>
          <p:cNvPr id="7" name="TextBox 6"/>
          <p:cNvSpPr txBox="1"/>
          <p:nvPr/>
        </p:nvSpPr>
        <p:spPr>
          <a:xfrm>
            <a:off x="557999" y="2010269"/>
            <a:ext cx="4088736"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・解約・休止の受付（電話 → LINE）</a:t>
            </a:r>
          </a:p>
        </p:txBody>
      </p:sp>
      <p:sp>
        <p:nvSpPr>
          <p:cNvPr id="8" name="TextBox 7"/>
          <p:cNvSpPr txBox="1"/>
          <p:nvPr/>
        </p:nvSpPr>
        <p:spPr>
          <a:xfrm>
            <a:off x="557999" y="2316269"/>
            <a:ext cx="4088736"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・配送状況・お届け日の問い合わせ</a:t>
            </a:r>
          </a:p>
        </p:txBody>
      </p:sp>
      <p:sp>
        <p:nvSpPr>
          <p:cNvPr id="9" name="TextBox 8"/>
          <p:cNvSpPr txBox="1"/>
          <p:nvPr/>
        </p:nvSpPr>
        <p:spPr>
          <a:xfrm>
            <a:off x="557999" y="2622270"/>
            <a:ext cx="4088736"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・お届け間隔・数量の変更受付</a:t>
            </a:r>
          </a:p>
        </p:txBody>
      </p:sp>
      <p:sp>
        <p:nvSpPr>
          <p:cNvPr id="10" name="TextBox 9"/>
          <p:cNvSpPr txBox="1"/>
          <p:nvPr/>
        </p:nvSpPr>
        <p:spPr>
          <a:xfrm>
            <a:off x="557999" y="2928269"/>
            <a:ext cx="4088736"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・使い方・保管方法のよくある質問</a:t>
            </a:r>
          </a:p>
        </p:txBody>
      </p:sp>
      <p:sp>
        <p:nvSpPr>
          <p:cNvPr id="11" name="TextBox 10"/>
          <p:cNvSpPr txBox="1"/>
          <p:nvPr/>
        </p:nvSpPr>
        <p:spPr>
          <a:xfrm>
            <a:off x="557999" y="3234270"/>
            <a:ext cx="4088736" cy="299461"/>
          </a:xfrm>
          <a:prstGeom prst="rect">
            <a:avLst/>
          </a:prstGeom>
          <a:noFill/>
        </p:spPr>
        <p:txBody>
          <a:bodyPr wrap="square" lIns="50400" tIns="21600" rIns="50400" bIns="21600" anchor="ctr">
            <a:spAutoFit/>
          </a:bodyPr>
          <a:lstStyle/>
          <a:p>
            <a:pPr algn="l">
              <a:lnSpc>
                <a:spcPct val="125000"/>
              </a:lnSpc>
            </a:pPr>
            <a:r>
              <a:rPr sz="1400">
                <a:solidFill>
                  <a:srgbClr val="333333"/>
                </a:solidFill>
                <a:latin typeface="メイリオ"/>
                <a:ea typeface="メイリオ"/>
                <a:cs typeface="メイリオ"/>
              </a:rPr>
              <a:t>・決済エラーの個別連絡</a:t>
            </a:r>
          </a:p>
        </p:txBody>
      </p:sp>
      <p:sp>
        <p:nvSpPr>
          <p:cNvPr id="12" name="Rounded Rectangle 11"/>
          <p:cNvSpPr/>
          <p:nvPr/>
        </p:nvSpPr>
        <p:spPr>
          <a:xfrm>
            <a:off x="4880736" y="1620000"/>
            <a:ext cx="4594464" cy="1944000"/>
          </a:xfrm>
          <a:prstGeom prst="roundRect">
            <a:avLst>
              <a:gd name="adj" fmla="val 6000"/>
            </a:avLst>
          </a:prstGeom>
          <a:solidFill>
            <a:srgbClr val="FCE4D6"/>
          </a:solidFill>
          <a:ln w="1778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06736" y="1671610"/>
            <a:ext cx="4360464" cy="1840781"/>
          </a:xfrm>
          <a:prstGeom prst="rect">
            <a:avLst/>
          </a:prstGeom>
          <a:noFill/>
        </p:spPr>
        <p:txBody>
          <a:bodyPr wrap="square" lIns="50400" tIns="21600" rIns="50400" bIns="21600" anchor="ctr">
            <a:spAutoFit/>
          </a:bodyPr>
          <a:lstStyle/>
          <a:p>
            <a:pPr algn="l">
              <a:spcAft>
                <a:spcPts val="500"/>
              </a:spcAft>
            </a:pPr>
            <a:r>
              <a:rPr sz="1600" b="1">
                <a:solidFill>
                  <a:srgbClr val="ED7D31"/>
                </a:solidFill>
                <a:latin typeface="メイリオ"/>
                <a:ea typeface="メイリオ"/>
                <a:cs typeface="メイリオ"/>
              </a:rPr>
              <a:t>★人件費の削減額では語らない</a:t>
            </a:r>
          </a:p>
          <a:p>
            <a:pPr algn="l">
              <a:lnSpc>
                <a:spcPct val="130000"/>
              </a:lnSpc>
              <a:spcAft>
                <a:spcPts val="400"/>
              </a:spcAft>
            </a:pPr>
            <a:r>
              <a:rPr sz="1400">
                <a:solidFill>
                  <a:srgbClr val="333333"/>
                </a:solidFill>
                <a:latin typeface="メイリオ"/>
                <a:ea typeface="メイリオ"/>
                <a:cs typeface="メイリオ"/>
              </a:rPr>
              <a:t>金額にすると小さく見えるし、論点もズレる。</a:t>
            </a:r>
          </a:p>
          <a:p>
            <a:pPr algn="l">
              <a:lnSpc>
                <a:spcPct val="130000"/>
              </a:lnSpc>
              <a:spcAft>
                <a:spcPts val="400"/>
              </a:spcAft>
            </a:pPr>
            <a:r>
              <a:rPr sz="1400">
                <a:solidFill>
                  <a:srgbClr val="333333"/>
                </a:solidFill>
                <a:latin typeface="メイリオ"/>
                <a:ea typeface="メイリオ"/>
                <a:cs typeface="メイリオ"/>
              </a:rPr>
              <a:t>問題は「ピーク時に手が止まること」。解約の電話が集中する時間帯に受電が詰まると、繋がらない → 苦情 → 行政の目、という順に悪化する。</a:t>
            </a:r>
          </a:p>
          <a:p>
            <a:pPr algn="l">
              <a:lnSpc>
                <a:spcPct val="130000"/>
              </a:lnSpc>
            </a:pPr>
            <a:r>
              <a:rPr sz="1400" b="1">
                <a:solidFill>
                  <a:srgbClr val="333333"/>
                </a:solidFill>
                <a:latin typeface="メイリオ"/>
                <a:ea typeface="メイリオ"/>
                <a:cs typeface="メイリオ"/>
              </a:rPr>
              <a:t>LINEなら24時間、同時に何人でも受けられる。</a:t>
            </a:r>
          </a:p>
        </p:txBody>
      </p:sp>
      <p:sp>
        <p:nvSpPr>
          <p:cNvPr id="14" name="Rounded Rectangle 13"/>
          <p:cNvSpPr/>
          <p:nvPr/>
        </p:nvSpPr>
        <p:spPr>
          <a:xfrm>
            <a:off x="432000" y="3816000"/>
            <a:ext cx="9043200" cy="1835999"/>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7999" y="3796683"/>
            <a:ext cx="8611200" cy="1874636"/>
          </a:xfrm>
          <a:prstGeom prst="rect">
            <a:avLst/>
          </a:prstGeom>
          <a:noFill/>
        </p:spPr>
        <p:txBody>
          <a:bodyPr wrap="square" lIns="50400" tIns="21600" rIns="50400" bIns="21600" anchor="ctr">
            <a:spAutoFit/>
          </a:bodyPr>
          <a:lstStyle/>
          <a:p>
            <a:pPr algn="l">
              <a:spcAft>
                <a:spcPts val="600"/>
              </a:spcAft>
            </a:pPr>
            <a:r>
              <a:rPr sz="1500" b="1">
                <a:solidFill>
                  <a:srgbClr val="ED7D31"/>
                </a:solidFill>
                <a:latin typeface="メイリオ"/>
                <a:ea typeface="メイリオ"/>
                <a:cs typeface="メイリオ"/>
              </a:rPr>
              <a:t>改善モデル｜なぜ運用するほど良くなるのか</a:t>
            </a:r>
          </a:p>
          <a:p>
            <a:pPr algn="l">
              <a:lnSpc>
                <a:spcPct val="132000"/>
              </a:lnSpc>
              <a:spcAft>
                <a:spcPts val="300"/>
              </a:spcAft>
            </a:pPr>
            <a:r>
              <a:rPr sz="1300">
                <a:solidFill>
                  <a:srgbClr val="FFFFFF"/>
                </a:solidFill>
                <a:latin typeface="メイリオ"/>
                <a:ea typeface="メイリオ"/>
                <a:cs typeface="メイリオ"/>
              </a:rPr>
              <a:t>① 解約アンケートの回答が溜まる　→　理由の分布が分かる</a:t>
            </a:r>
          </a:p>
          <a:p>
            <a:pPr algn="l">
              <a:lnSpc>
                <a:spcPct val="132000"/>
              </a:lnSpc>
              <a:spcAft>
                <a:spcPts val="300"/>
              </a:spcAft>
            </a:pPr>
            <a:r>
              <a:rPr sz="1300">
                <a:solidFill>
                  <a:srgbClr val="FFFFFF"/>
                </a:solidFill>
                <a:latin typeface="メイリオ"/>
                <a:ea typeface="メイリオ"/>
                <a:cs typeface="メイリオ"/>
              </a:rPr>
              <a:t>② 一番多い理由に対して、先に出すオファーを変える</a:t>
            </a:r>
          </a:p>
          <a:p>
            <a:pPr algn="l">
              <a:lnSpc>
                <a:spcPct val="132000"/>
              </a:lnSpc>
              <a:spcAft>
                <a:spcPts val="300"/>
              </a:spcAft>
            </a:pPr>
            <a:r>
              <a:rPr sz="1300">
                <a:solidFill>
                  <a:srgbClr val="FFFFFF"/>
                </a:solidFill>
                <a:latin typeface="メイリオ"/>
                <a:ea typeface="メイリオ"/>
                <a:cs typeface="メイリオ"/>
              </a:rPr>
              <a:t>③ 効いたオファーを、次回発送前フォロー（P46）に前倒しする</a:t>
            </a:r>
          </a:p>
          <a:p>
            <a:pPr algn="l">
              <a:lnSpc>
                <a:spcPct val="132000"/>
              </a:lnSpc>
              <a:spcAft>
                <a:spcPts val="500"/>
              </a:spcAft>
            </a:pPr>
            <a:r>
              <a:rPr sz="1300" b="1">
                <a:solidFill>
                  <a:srgbClr val="FFFFFF"/>
                </a:solidFill>
                <a:latin typeface="メイリオ"/>
                <a:ea typeface="メイリオ"/>
                <a:cs typeface="メイリオ"/>
              </a:rPr>
              <a:t>④ 解約に至る前に片づく件数が増える　→　月次解約率が下がる</a:t>
            </a:r>
          </a:p>
          <a:p>
            <a:pPr algn="l">
              <a:lnSpc>
                <a:spcPct val="132000"/>
              </a:lnSpc>
            </a:pPr>
            <a:r>
              <a:rPr sz="1300" b="1">
                <a:solidFill>
                  <a:srgbClr val="ED7D31"/>
                </a:solidFill>
                <a:latin typeface="メイリオ"/>
                <a:ea typeface="メイリオ"/>
                <a:cs typeface="メイリオ"/>
              </a:rPr>
              <a:t>★ 顧客が辞める理由を、こちらが知っている状態をつくることが本質。</a:t>
            </a:r>
          </a:p>
        </p:txBody>
      </p:sp>
      <p:sp>
        <p:nvSpPr>
          <p:cNvPr id="16" name="TextBox 15"/>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意見｜アンケートの回答は、配信改善だけでなく商品開発・同梱物の改善にも使える</a:t>
            </a:r>
          </a:p>
        </p:txBody>
      </p:sp>
    </p:spTree>
    <p:extLst>
      <p:ext uri="{BB962C8B-B14F-4D97-AF65-F5344CB8AC3E}">
        <p14:creationId xmlns:p14="http://schemas.microsoft.com/office/powerpoint/2010/main" val="2638127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成果｜効果測定の設計</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握る指標と、その先の指標を分ける。LTVは6ヶ月では動ききらないので約束しない。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933162915"/>
              </p:ext>
            </p:extLst>
          </p:nvPr>
        </p:nvGraphicFramePr>
        <p:xfrm>
          <a:off x="432000" y="1620000"/>
          <a:ext cx="9043200" cy="1152720"/>
        </p:xfrm>
        <a:graphic>
          <a:graphicData uri="http://schemas.openxmlformats.org/drawingml/2006/table">
            <a:tbl>
              <a:tblPr firstRow="1" bandRow="1">
                <a:tableStyleId>{5C22544A-7EE6-4342-B048-85BDC9FD1C3A}</a:tableStyleId>
              </a:tblPr>
              <a:tblGrid>
                <a:gridCol w="1152000">
                  <a:extLst>
                    <a:ext uri="{9D8B030D-6E8A-4147-A177-3AD203B41FA5}">
                      <a16:colId xmlns:a16="http://schemas.microsoft.com/office/drawing/2014/main" val="20000"/>
                    </a:ext>
                  </a:extLst>
                </a:gridCol>
                <a:gridCol w="3240000">
                  <a:extLst>
                    <a:ext uri="{9D8B030D-6E8A-4147-A177-3AD203B41FA5}">
                      <a16:colId xmlns:a16="http://schemas.microsoft.com/office/drawing/2014/main" val="20001"/>
                    </a:ext>
                  </a:extLst>
                </a:gridCol>
                <a:gridCol w="2304000">
                  <a:extLst>
                    <a:ext uri="{9D8B030D-6E8A-4147-A177-3AD203B41FA5}">
                      <a16:colId xmlns:a16="http://schemas.microsoft.com/office/drawing/2014/main" val="20002"/>
                    </a:ext>
                  </a:extLst>
                </a:gridCol>
                <a:gridCol w="2347200">
                  <a:extLst>
                    <a:ext uri="{9D8B030D-6E8A-4147-A177-3AD203B41FA5}">
                      <a16:colId xmlns:a16="http://schemas.microsoft.com/office/drawing/2014/main" val="20003"/>
                    </a:ext>
                  </a:extLst>
                </a:gridCol>
              </a:tblGrid>
              <a:tr h="280800">
                <a:tc>
                  <a:txBody>
                    <a:bodyPr/>
                    <a:lstStyle/>
                    <a:p>
                      <a:pPr algn="ctr"/>
                      <a:endParaRPr/>
                    </a:p>
                  </a:txBody>
                  <a:tcPr marL="43200" marR="43200" marT="18000" marB="18000" anchor="ctr">
                    <a:solidFill>
                      <a:srgbClr val="1F285A"/>
                    </a:solidFill>
                  </a:tcPr>
                </a:tc>
                <a:tc>
                  <a:txBody>
                    <a:bodyPr/>
                    <a:lstStyle/>
                    <a:p>
                      <a:pPr algn="l"/>
                      <a:r>
                        <a:rPr sz="1300" b="1">
                          <a:solidFill>
                            <a:srgbClr val="FFFFFF"/>
                          </a:solidFill>
                          <a:latin typeface="メイリオ"/>
                          <a:ea typeface="メイリオ"/>
                          <a:cs typeface="メイリオ"/>
                        </a:rPr>
                        <a:t>指標</a:t>
                      </a:r>
                    </a:p>
                  </a:txBody>
                  <a:tcPr marL="43200" marR="43200" marT="18000" marB="18000" anchor="ctr">
                    <a:solidFill>
                      <a:srgbClr val="1F285A"/>
                    </a:solidFill>
                  </a:tcPr>
                </a:tc>
                <a:tc>
                  <a:txBody>
                    <a:bodyPr/>
                    <a:lstStyle/>
                    <a:p>
                      <a:pPr algn="l"/>
                      <a:r>
                        <a:rPr sz="1300" b="1">
                          <a:solidFill>
                            <a:srgbClr val="FFFFFF"/>
                          </a:solidFill>
                          <a:latin typeface="メイリオ"/>
                          <a:ea typeface="メイリオ"/>
                          <a:cs typeface="メイリオ"/>
                        </a:rPr>
                        <a:t>測れる時期</a:t>
                      </a:r>
                    </a:p>
                  </a:txBody>
                  <a:tcPr marL="43200" marR="43200" marT="18000" marB="18000" anchor="ctr">
                    <a:solidFill>
                      <a:srgbClr val="1F285A"/>
                    </a:solidFill>
                  </a:tcPr>
                </a:tc>
                <a:tc>
                  <a:txBody>
                    <a:bodyPr/>
                    <a:lstStyle/>
                    <a:p>
                      <a:pPr algn="l"/>
                      <a:r>
                        <a:rPr sz="1300" b="1">
                          <a:solidFill>
                            <a:srgbClr val="FFFFFF"/>
                          </a:solidFill>
                          <a:latin typeface="メイリオ"/>
                          <a:ea typeface="メイリオ"/>
                          <a:cs typeface="メイリオ"/>
                        </a:rPr>
                        <a:t>扱い</a:t>
                      </a:r>
                    </a:p>
                  </a:txBody>
                  <a:tcPr marL="43200" marR="43200" marT="18000" marB="18000" anchor="ctr">
                    <a:solidFill>
                      <a:srgbClr val="1F285A"/>
                    </a:solidFill>
                  </a:tcPr>
                </a:tc>
                <a:extLst>
                  <a:ext uri="{0D108BD9-81ED-4DB2-BD59-A6C34878D82A}">
                    <a16:rowId xmlns:a16="http://schemas.microsoft.com/office/drawing/2014/main" val="10000"/>
                  </a:ext>
                </a:extLst>
              </a:tr>
              <a:tr h="280800">
                <a:tc>
                  <a:txBody>
                    <a:bodyPr/>
                    <a:lstStyle/>
                    <a:p>
                      <a:pPr algn="ctr"/>
                      <a:r>
                        <a:rPr sz="1300">
                          <a:solidFill>
                            <a:srgbClr val="333333"/>
                          </a:solidFill>
                          <a:latin typeface="メイリオ"/>
                          <a:ea typeface="メイリオ"/>
                          <a:cs typeface="メイリオ"/>
                        </a:rPr>
                        <a:t>握る</a:t>
                      </a:r>
                    </a:p>
                  </a:txBody>
                  <a:tcPr anchor="ctr">
                    <a:solidFill>
                      <a:srgbClr val="FFFFFF"/>
                    </a:solidFill>
                  </a:tcPr>
                </a:tc>
                <a:tc>
                  <a:txBody>
                    <a:bodyPr/>
                    <a:lstStyle/>
                    <a:p>
                      <a:pPr algn="l"/>
                      <a:r>
                        <a:rPr sz="1300">
                          <a:solidFill>
                            <a:srgbClr val="333333"/>
                          </a:solidFill>
                          <a:latin typeface="メイリオ"/>
                          <a:ea typeface="メイリオ"/>
                          <a:cs typeface="メイリオ"/>
                        </a:rPr>
                        <a:t>F2転換率</a:t>
                      </a:r>
                    </a:p>
                  </a:txBody>
                  <a:tcPr anchor="ctr">
                    <a:solidFill>
                      <a:srgbClr val="FFFFFF"/>
                    </a:solidFill>
                  </a:tcPr>
                </a:tc>
                <a:tc>
                  <a:txBody>
                    <a:bodyPr/>
                    <a:lstStyle/>
                    <a:p>
                      <a:pPr algn="l"/>
                      <a:r>
                        <a:rPr sz="1300">
                          <a:solidFill>
                            <a:srgbClr val="333333"/>
                          </a:solidFill>
                          <a:latin typeface="メイリオ"/>
                          <a:ea typeface="メイリオ"/>
                          <a:cs typeface="メイリオ"/>
                        </a:rPr>
                        <a:t>1〜2ヶ月で動く</a:t>
                      </a:r>
                    </a:p>
                  </a:txBody>
                  <a:tcPr anchor="ctr">
                    <a:solidFill>
                      <a:srgbClr val="FFFFFF"/>
                    </a:solidFill>
                  </a:tcPr>
                </a:tc>
                <a:tc>
                  <a:txBody>
                    <a:bodyPr/>
                    <a:lstStyle/>
                    <a:p>
                      <a:pPr algn="l"/>
                      <a:r>
                        <a:rPr sz="1300">
                          <a:solidFill>
                            <a:srgbClr val="333333"/>
                          </a:solidFill>
                          <a:latin typeface="メイリオ"/>
                          <a:ea typeface="メイリオ"/>
                          <a:cs typeface="メイリオ"/>
                        </a:rPr>
                        <a:t>成果指標</a:t>
                      </a:r>
                    </a:p>
                  </a:txBody>
                  <a:tcPr anchor="ctr">
                    <a:solidFill>
                      <a:srgbClr val="FFFFFF"/>
                    </a:solidFill>
                  </a:tcPr>
                </a:tc>
                <a:extLst>
                  <a:ext uri="{0D108BD9-81ED-4DB2-BD59-A6C34878D82A}">
                    <a16:rowId xmlns:a16="http://schemas.microsoft.com/office/drawing/2014/main" val="10001"/>
                  </a:ext>
                </a:extLst>
              </a:tr>
              <a:tr h="280800">
                <a:tc>
                  <a:txBody>
                    <a:bodyPr/>
                    <a:lstStyle/>
                    <a:p>
                      <a:pPr algn="ctr"/>
                      <a:r>
                        <a:rPr sz="1300">
                          <a:solidFill>
                            <a:srgbClr val="333333"/>
                          </a:solidFill>
                          <a:latin typeface="メイリオ"/>
                          <a:ea typeface="メイリオ"/>
                          <a:cs typeface="メイリオ"/>
                        </a:rPr>
                        <a:t>握る</a:t>
                      </a:r>
                    </a:p>
                  </a:txBody>
                  <a:tcPr anchor="ctr">
                    <a:solidFill>
                      <a:srgbClr val="F4F7FF"/>
                    </a:solidFill>
                  </a:tcPr>
                </a:tc>
                <a:tc>
                  <a:txBody>
                    <a:bodyPr/>
                    <a:lstStyle/>
                    <a:p>
                      <a:pPr algn="l"/>
                      <a:r>
                        <a:rPr sz="1300">
                          <a:solidFill>
                            <a:srgbClr val="333333"/>
                          </a:solidFill>
                          <a:latin typeface="メイリオ"/>
                          <a:ea typeface="メイリオ"/>
                          <a:cs typeface="メイリオ"/>
                        </a:rPr>
                        <a:t>月次解約率</a:t>
                      </a:r>
                    </a:p>
                  </a:txBody>
                  <a:tcPr anchor="ctr">
                    <a:solidFill>
                      <a:srgbClr val="F4F7FF"/>
                    </a:solidFill>
                  </a:tcPr>
                </a:tc>
                <a:tc>
                  <a:txBody>
                    <a:bodyPr/>
                    <a:lstStyle/>
                    <a:p>
                      <a:pPr algn="l"/>
                      <a:r>
                        <a:rPr sz="1300">
                          <a:solidFill>
                            <a:srgbClr val="333333"/>
                          </a:solidFill>
                          <a:latin typeface="メイリオ"/>
                          <a:ea typeface="メイリオ"/>
                          <a:cs typeface="メイリオ"/>
                        </a:rPr>
                        <a:t>3〜6ヶ月で動く</a:t>
                      </a:r>
                    </a:p>
                  </a:txBody>
                  <a:tcPr anchor="ctr">
                    <a:solidFill>
                      <a:srgbClr val="F4F7FF"/>
                    </a:solidFill>
                  </a:tcPr>
                </a:tc>
                <a:tc>
                  <a:txBody>
                    <a:bodyPr/>
                    <a:lstStyle/>
                    <a:p>
                      <a:pPr algn="l"/>
                      <a:r>
                        <a:rPr sz="1300">
                          <a:solidFill>
                            <a:srgbClr val="333333"/>
                          </a:solidFill>
                          <a:latin typeface="メイリオ"/>
                          <a:ea typeface="メイリオ"/>
                          <a:cs typeface="メイリオ"/>
                        </a:rPr>
                        <a:t>成果指標</a:t>
                      </a:r>
                    </a:p>
                  </a:txBody>
                  <a:tcPr anchor="ctr">
                    <a:solidFill>
                      <a:srgbClr val="F4F7FF"/>
                    </a:solidFill>
                  </a:tcPr>
                </a:tc>
                <a:extLst>
                  <a:ext uri="{0D108BD9-81ED-4DB2-BD59-A6C34878D82A}">
                    <a16:rowId xmlns:a16="http://schemas.microsoft.com/office/drawing/2014/main" val="10002"/>
                  </a:ext>
                </a:extLst>
              </a:tr>
              <a:tr h="280800">
                <a:tc>
                  <a:txBody>
                    <a:bodyPr/>
                    <a:lstStyle/>
                    <a:p>
                      <a:pPr algn="ctr"/>
                      <a:r>
                        <a:rPr sz="1300">
                          <a:solidFill>
                            <a:srgbClr val="333333"/>
                          </a:solidFill>
                          <a:latin typeface="メイリオ"/>
                          <a:ea typeface="メイリオ"/>
                          <a:cs typeface="メイリオ"/>
                        </a:rPr>
                        <a:t>その先</a:t>
                      </a:r>
                    </a:p>
                  </a:txBody>
                  <a:tcPr anchor="ctr">
                    <a:solidFill>
                      <a:srgbClr val="FFFFFF"/>
                    </a:solidFill>
                  </a:tcPr>
                </a:tc>
                <a:tc>
                  <a:txBody>
                    <a:bodyPr/>
                    <a:lstStyle/>
                    <a:p>
                      <a:pPr algn="l"/>
                      <a:r>
                        <a:rPr sz="1300">
                          <a:solidFill>
                            <a:srgbClr val="333333"/>
                          </a:solidFill>
                          <a:latin typeface="メイリオ"/>
                          <a:ea typeface="メイリオ"/>
                          <a:cs typeface="メイリオ"/>
                        </a:rPr>
                        <a:t>LTV → 限界CPO</a:t>
                      </a:r>
                    </a:p>
                  </a:txBody>
                  <a:tcPr anchor="ctr">
                    <a:solidFill>
                      <a:srgbClr val="FFFFFF"/>
                    </a:solidFill>
                  </a:tcPr>
                </a:tc>
                <a:tc>
                  <a:txBody>
                    <a:bodyPr/>
                    <a:lstStyle/>
                    <a:p>
                      <a:pPr algn="l"/>
                      <a:r>
                        <a:rPr sz="1300">
                          <a:solidFill>
                            <a:srgbClr val="333333"/>
                          </a:solidFill>
                          <a:latin typeface="メイリオ"/>
                          <a:ea typeface="メイリオ"/>
                          <a:cs typeface="メイリオ"/>
                        </a:rPr>
                        <a:t>12ヶ月以上</a:t>
                      </a:r>
                    </a:p>
                  </a:txBody>
                  <a:tcPr anchor="ctr">
                    <a:solidFill>
                      <a:srgbClr val="FFFFFF"/>
                    </a:solidFill>
                  </a:tcPr>
                </a:tc>
                <a:tc>
                  <a:txBody>
                    <a:bodyPr/>
                    <a:lstStyle/>
                    <a:p>
                      <a:pPr algn="l"/>
                      <a:r>
                        <a:rPr sz="1300">
                          <a:solidFill>
                            <a:srgbClr val="333333"/>
                          </a:solidFill>
                          <a:latin typeface="メイリオ"/>
                          <a:ea typeface="メイリオ"/>
                          <a:cs typeface="メイリオ"/>
                        </a:rPr>
                        <a:t>構造で示すだけ。約束しない</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432000" y="2988000"/>
            <a:ext cx="9043200" cy="15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999" y="2964033"/>
            <a:ext cx="8611200" cy="1559934"/>
          </a:xfrm>
          <a:prstGeom prst="rect">
            <a:avLst/>
          </a:prstGeom>
          <a:noFill/>
        </p:spPr>
        <p:txBody>
          <a:bodyPr wrap="square" lIns="50400" tIns="21600" rIns="50400" bIns="21600" anchor="ctr">
            <a:spAutoFit/>
          </a:bodyPr>
          <a:lstStyle/>
          <a:p>
            <a:pPr algn="l">
              <a:spcAft>
                <a:spcPts val="300"/>
              </a:spcAft>
            </a:pPr>
            <a:r>
              <a:rPr sz="1300" b="1">
                <a:solidFill>
                  <a:srgbClr val="7F7F7F"/>
                </a:solidFill>
                <a:latin typeface="メイリオ"/>
                <a:ea typeface="メイリオ"/>
                <a:cs typeface="メイリオ"/>
              </a:rPr>
              <a:t>Before（広告のみ）</a:t>
            </a:r>
          </a:p>
          <a:p>
            <a:pPr algn="l">
              <a:lnSpc>
                <a:spcPct val="130000"/>
              </a:lnSpc>
              <a:spcAft>
                <a:spcPts val="600"/>
              </a:spcAft>
            </a:pPr>
            <a:r>
              <a:rPr sz="1100">
                <a:solidFill>
                  <a:srgbClr val="333333"/>
                </a:solidFill>
                <a:latin typeface="メイリオ"/>
                <a:ea typeface="メイリオ"/>
                <a:cs typeface="メイリオ"/>
              </a:rPr>
              <a:t>1回買って終わる／解約は電話でしか受けられない　→　LTVが伸びない　→　限界CPOが低い　→　広告で勝てる範囲が狭い</a:t>
            </a:r>
          </a:p>
          <a:p>
            <a:pPr algn="l">
              <a:spcAft>
                <a:spcPts val="300"/>
              </a:spcAft>
            </a:pPr>
            <a:r>
              <a:rPr sz="1200" b="1">
                <a:solidFill>
                  <a:srgbClr val="1F285A"/>
                </a:solidFill>
                <a:latin typeface="メイリオ"/>
                <a:ea typeface="メイリオ"/>
                <a:cs typeface="メイリオ"/>
              </a:rPr>
              <a:t>After（広告 × LINE）── 広告費も新規獲得数も据え置き</a:t>
            </a:r>
          </a:p>
          <a:p>
            <a:pPr algn="l">
              <a:lnSpc>
                <a:spcPct val="130000"/>
              </a:lnSpc>
              <a:spcAft>
                <a:spcPts val="200"/>
              </a:spcAft>
            </a:pPr>
            <a:r>
              <a:rPr sz="1100">
                <a:solidFill>
                  <a:srgbClr val="333333"/>
                </a:solidFill>
                <a:latin typeface="メイリオ"/>
                <a:ea typeface="メイリオ"/>
                <a:cs typeface="メイリオ"/>
              </a:rPr>
              <a:t>① 使用フォロー・F2オファー　→　平均購入回数が増える</a:t>
            </a:r>
          </a:p>
          <a:p>
            <a:pPr algn="l">
              <a:lnSpc>
                <a:spcPct val="130000"/>
              </a:lnSpc>
              <a:spcAft>
                <a:spcPts val="200"/>
              </a:spcAft>
            </a:pPr>
            <a:r>
              <a:rPr sz="1100">
                <a:solidFill>
                  <a:srgbClr val="333333"/>
                </a:solidFill>
                <a:latin typeface="メイリオ"/>
                <a:ea typeface="メイリオ"/>
                <a:cs typeface="メイリオ"/>
              </a:rPr>
              <a:t>② 解約の手前で受け止める　→　平均継続期間が伸びる</a:t>
            </a:r>
          </a:p>
          <a:p>
            <a:pPr algn="l">
              <a:lnSpc>
                <a:spcPct val="130000"/>
              </a:lnSpc>
            </a:pPr>
            <a:r>
              <a:rPr sz="1100" b="1">
                <a:solidFill>
                  <a:srgbClr val="ED7D31"/>
                </a:solidFill>
                <a:latin typeface="メイリオ"/>
                <a:ea typeface="メイリオ"/>
                <a:cs typeface="メイリオ"/>
              </a:rPr>
              <a:t>③ ①②の結果　→　LTVが上がる　→　限界CPOが上がる　→　同じ広告枠でも勝てる範囲が広がる</a:t>
            </a:r>
          </a:p>
        </p:txBody>
      </p:sp>
      <p:sp>
        <p:nvSpPr>
          <p:cNvPr id="8" name="Rounded Rectangle 7"/>
          <p:cNvSpPr/>
          <p:nvPr/>
        </p:nvSpPr>
        <p:spPr>
          <a:xfrm>
            <a:off x="432000" y="4643999"/>
            <a:ext cx="9043200" cy="1007999"/>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7999" y="4720821"/>
            <a:ext cx="8611200" cy="854357"/>
          </a:xfrm>
          <a:prstGeom prst="rect">
            <a:avLst/>
          </a:prstGeom>
          <a:noFill/>
        </p:spPr>
        <p:txBody>
          <a:bodyPr wrap="square" lIns="50400" tIns="21600" rIns="50400" bIns="21600" anchor="ctr">
            <a:spAutoFit/>
          </a:bodyPr>
          <a:lstStyle/>
          <a:p>
            <a:pPr algn="l">
              <a:spcAft>
                <a:spcPts val="400"/>
              </a:spcAft>
            </a:pPr>
            <a:r>
              <a:rPr sz="1400" b="1">
                <a:solidFill>
                  <a:srgbClr val="FFFFFF"/>
                </a:solidFill>
                <a:latin typeface="メイリオ"/>
                <a:ea typeface="メイリオ"/>
                <a:cs typeface="メイリオ"/>
              </a:rPr>
              <a:t>本資料では、具体的な数値シミュレーションは載せていません。</a:t>
            </a:r>
          </a:p>
          <a:p>
            <a:pPr algn="l">
              <a:lnSpc>
                <a:spcPct val="130000"/>
              </a:lnSpc>
            </a:pPr>
            <a:r>
              <a:rPr sz="1400">
                <a:solidFill>
                  <a:srgbClr val="FFFFFF"/>
                </a:solidFill>
                <a:latin typeface="メイリオ"/>
                <a:ea typeface="メイリオ"/>
                <a:cs typeface="メイリオ"/>
              </a:rPr>
              <a:t>御社の実績値（初回獲得数・F2転換率・月次解約率・客単価・利益率）をいただければ、貴社専用のシミュレーションを作成します。</a:t>
            </a:r>
          </a:p>
        </p:txBody>
      </p:sp>
      <p:sp>
        <p:nvSpPr>
          <p:cNvPr id="10" name="TextBox 9"/>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意見｜業界汎用資料のため仮置きの数値を並べていない。限界CPO ＝ 年間LTV −（広告費を除く年間の総費用 ÷ 顧客総数）</a:t>
            </a:r>
          </a:p>
        </p:txBody>
      </p:sp>
    </p:spTree>
    <p:extLst>
      <p:ext uri="{BB962C8B-B14F-4D97-AF65-F5344CB8AC3E}">
        <p14:creationId xmlns:p14="http://schemas.microsoft.com/office/powerpoint/2010/main" val="35561967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費用プラン（6ヶ月〜／税抜）</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初期費用と月額を分けて記載。継続費は複数箇所に明記している。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416464031"/>
              </p:ext>
            </p:extLst>
          </p:nvPr>
        </p:nvGraphicFramePr>
        <p:xfrm>
          <a:off x="432000" y="1620000"/>
          <a:ext cx="9043200" cy="1584000"/>
        </p:xfrm>
        <a:graphic>
          <a:graphicData uri="http://schemas.openxmlformats.org/drawingml/2006/table">
            <a:tbl>
              <a:tblPr firstRow="1" bandRow="1">
                <a:tableStyleId>{5C22544A-7EE6-4342-B048-85BDC9FD1C3A}</a:tableStyleId>
              </a:tblPr>
              <a:tblGrid>
                <a:gridCol w="2160000">
                  <a:extLst>
                    <a:ext uri="{9D8B030D-6E8A-4147-A177-3AD203B41FA5}">
                      <a16:colId xmlns:a16="http://schemas.microsoft.com/office/drawing/2014/main" val="20000"/>
                    </a:ext>
                  </a:extLst>
                </a:gridCol>
                <a:gridCol w="1584000">
                  <a:extLst>
                    <a:ext uri="{9D8B030D-6E8A-4147-A177-3AD203B41FA5}">
                      <a16:colId xmlns:a16="http://schemas.microsoft.com/office/drawing/2014/main" val="20001"/>
                    </a:ext>
                  </a:extLst>
                </a:gridCol>
                <a:gridCol w="2232000">
                  <a:extLst>
                    <a:ext uri="{9D8B030D-6E8A-4147-A177-3AD203B41FA5}">
                      <a16:colId xmlns:a16="http://schemas.microsoft.com/office/drawing/2014/main" val="20002"/>
                    </a:ext>
                  </a:extLst>
                </a:gridCol>
                <a:gridCol w="3067200">
                  <a:extLst>
                    <a:ext uri="{9D8B030D-6E8A-4147-A177-3AD203B41FA5}">
                      <a16:colId xmlns:a16="http://schemas.microsoft.com/office/drawing/2014/main" val="20003"/>
                    </a:ext>
                  </a:extLst>
                </a:gridCol>
              </a:tblGrid>
              <a:tr h="316800">
                <a:tc>
                  <a:txBody>
                    <a:bodyPr/>
                    <a:lstStyle/>
                    <a:p>
                      <a:pPr algn="l"/>
                      <a:r>
                        <a:rPr sz="1300" b="1">
                          <a:solidFill>
                            <a:srgbClr val="FFFFFF"/>
                          </a:solidFill>
                          <a:latin typeface="メイリオ"/>
                          <a:ea typeface="メイリオ"/>
                          <a:cs typeface="メイリオ"/>
                        </a:rPr>
                        <a:t>プラン</a:t>
                      </a:r>
                    </a:p>
                  </a:txBody>
                  <a:tcPr marL="43200" marR="43200" marT="18000" marB="18000" anchor="ctr">
                    <a:solidFill>
                      <a:srgbClr val="1F285A"/>
                    </a:solidFill>
                  </a:tcPr>
                </a:tc>
                <a:tc>
                  <a:txBody>
                    <a:bodyPr/>
                    <a:lstStyle/>
                    <a:p>
                      <a:pPr algn="ctr"/>
                      <a:r>
                        <a:rPr sz="1300" b="1">
                          <a:solidFill>
                            <a:srgbClr val="FFFFFF"/>
                          </a:solidFill>
                          <a:latin typeface="メイリオ"/>
                          <a:ea typeface="メイリオ"/>
                          <a:cs typeface="メイリオ"/>
                        </a:rPr>
                        <a:t>初期費用</a:t>
                      </a:r>
                    </a:p>
                  </a:txBody>
                  <a:tcPr marL="43200" marR="43200" marT="18000" marB="18000" anchor="ctr">
                    <a:solidFill>
                      <a:srgbClr val="1F285A"/>
                    </a:solidFill>
                  </a:tcPr>
                </a:tc>
                <a:tc>
                  <a:txBody>
                    <a:bodyPr/>
                    <a:lstStyle/>
                    <a:p>
                      <a:pPr algn="ctr"/>
                      <a:r>
                        <a:rPr sz="1300" b="1">
                          <a:solidFill>
                            <a:srgbClr val="FFFFFF"/>
                          </a:solidFill>
                          <a:latin typeface="メイリオ"/>
                          <a:ea typeface="メイリオ"/>
                          <a:cs typeface="メイリオ"/>
                        </a:rPr>
                        <a:t>月額</a:t>
                      </a:r>
                    </a:p>
                  </a:txBody>
                  <a:tcPr marL="43200" marR="43200" marT="18000" marB="18000" anchor="ctr">
                    <a:solidFill>
                      <a:srgbClr val="1F285A"/>
                    </a:solidFill>
                  </a:tcPr>
                </a:tc>
                <a:tc>
                  <a:txBody>
                    <a:bodyPr/>
                    <a:lstStyle/>
                    <a:p>
                      <a:pPr algn="l"/>
                      <a:r>
                        <a:rPr sz="1300" b="1">
                          <a:solidFill>
                            <a:srgbClr val="FFFFFF"/>
                          </a:solidFill>
                          <a:latin typeface="メイリオ"/>
                          <a:ea typeface="メイリオ"/>
                          <a:cs typeface="メイリオ"/>
                        </a:rPr>
                        <a:t>内容</a:t>
                      </a:r>
                    </a:p>
                  </a:txBody>
                  <a:tcPr marL="43200" marR="43200" marT="18000" marB="18000" anchor="ctr">
                    <a:solidFill>
                      <a:srgbClr val="1F285A"/>
                    </a:solidFill>
                  </a:tcPr>
                </a:tc>
                <a:extLst>
                  <a:ext uri="{0D108BD9-81ED-4DB2-BD59-A6C34878D82A}">
                    <a16:rowId xmlns:a16="http://schemas.microsoft.com/office/drawing/2014/main" val="10000"/>
                  </a:ext>
                </a:extLst>
              </a:tr>
              <a:tr h="316800">
                <a:tc>
                  <a:txBody>
                    <a:bodyPr/>
                    <a:lstStyle/>
                    <a:p>
                      <a:pPr algn="l"/>
                      <a:r>
                        <a:rPr sz="1300">
                          <a:solidFill>
                            <a:srgbClr val="333333"/>
                          </a:solidFill>
                          <a:latin typeface="メイリオ"/>
                          <a:ea typeface="メイリオ"/>
                          <a:cs typeface="メイリオ"/>
                        </a:rPr>
                        <a:t>① コンサル基本</a:t>
                      </a:r>
                    </a:p>
                  </a:txBody>
                  <a:tcPr anchor="ctr">
                    <a:solidFill>
                      <a:srgbClr val="FFFFFF"/>
                    </a:solidFill>
                  </a:tcPr>
                </a:tc>
                <a:tc>
                  <a:txBody>
                    <a:bodyPr/>
                    <a:lstStyle/>
                    <a:p>
                      <a:pPr algn="ctr"/>
                      <a:r>
                        <a:rPr sz="1300">
                          <a:solidFill>
                            <a:srgbClr val="333333"/>
                          </a:solidFill>
                          <a:latin typeface="メイリオ"/>
                          <a:ea typeface="メイリオ"/>
                          <a:cs typeface="メイリオ"/>
                        </a:rPr>
                        <a:t>10万円〜</a:t>
                      </a:r>
                    </a:p>
                  </a:txBody>
                  <a:tcPr anchor="ctr">
                    <a:solidFill>
                      <a:srgbClr val="FFFFFF"/>
                    </a:solidFill>
                  </a:tcPr>
                </a:tc>
                <a:tc>
                  <a:txBody>
                    <a:bodyPr/>
                    <a:lstStyle/>
                    <a:p>
                      <a:pPr algn="ctr"/>
                      <a:r>
                        <a:rPr sz="1300">
                          <a:solidFill>
                            <a:srgbClr val="333333"/>
                          </a:solidFill>
                          <a:latin typeface="メイリオ"/>
                          <a:ea typeface="メイリオ"/>
                          <a:cs typeface="メイリオ"/>
                        </a:rPr>
                        <a:t>20万／30万／50万</a:t>
                      </a:r>
                    </a:p>
                  </a:txBody>
                  <a:tcPr anchor="ctr">
                    <a:solidFill>
                      <a:srgbClr val="FFFFFF"/>
                    </a:solidFill>
                  </a:tcPr>
                </a:tc>
                <a:tc>
                  <a:txBody>
                    <a:bodyPr/>
                    <a:lstStyle/>
                    <a:p>
                      <a:pPr algn="l"/>
                      <a:r>
                        <a:rPr sz="1300">
                          <a:solidFill>
                            <a:srgbClr val="333333"/>
                          </a:solidFill>
                          <a:latin typeface="メイリオ"/>
                          <a:ea typeface="メイリオ"/>
                          <a:cs typeface="メイリオ"/>
                        </a:rPr>
                        <a:t>月3投稿／5投稿／9投稿。設計から運用まで伴走</a:t>
                      </a:r>
                    </a:p>
                  </a:txBody>
                  <a:tcPr anchor="ctr">
                    <a:solidFill>
                      <a:srgbClr val="FFFFFF"/>
                    </a:solidFill>
                  </a:tcPr>
                </a:tc>
                <a:extLst>
                  <a:ext uri="{0D108BD9-81ED-4DB2-BD59-A6C34878D82A}">
                    <a16:rowId xmlns:a16="http://schemas.microsoft.com/office/drawing/2014/main" val="10001"/>
                  </a:ext>
                </a:extLst>
              </a:tr>
              <a:tr h="316800">
                <a:tc>
                  <a:txBody>
                    <a:bodyPr/>
                    <a:lstStyle/>
                    <a:p>
                      <a:pPr algn="l"/>
                      <a:r>
                        <a:rPr sz="1300">
                          <a:solidFill>
                            <a:srgbClr val="333333"/>
                          </a:solidFill>
                          <a:latin typeface="メイリオ"/>
                          <a:ea typeface="メイリオ"/>
                          <a:cs typeface="メイリオ"/>
                        </a:rPr>
                        <a:t>② 初動設計＋運用</a:t>
                      </a:r>
                    </a:p>
                  </a:txBody>
                  <a:tcPr anchor="ctr">
                    <a:solidFill>
                      <a:srgbClr val="F4F7FF"/>
                    </a:solidFill>
                  </a:tcPr>
                </a:tc>
                <a:tc>
                  <a:txBody>
                    <a:bodyPr/>
                    <a:lstStyle/>
                    <a:p>
                      <a:pPr algn="ctr"/>
                      <a:r>
                        <a:rPr sz="1300">
                          <a:solidFill>
                            <a:srgbClr val="333333"/>
                          </a:solidFill>
                          <a:latin typeface="メイリオ"/>
                          <a:ea typeface="メイリオ"/>
                          <a:cs typeface="メイリオ"/>
                        </a:rPr>
                        <a:t>10万円〜</a:t>
                      </a:r>
                    </a:p>
                  </a:txBody>
                  <a:tcPr anchor="ctr">
                    <a:solidFill>
                      <a:srgbClr val="F4F7FF"/>
                    </a:solidFill>
                  </a:tcPr>
                </a:tc>
                <a:tc>
                  <a:txBody>
                    <a:bodyPr/>
                    <a:lstStyle/>
                    <a:p>
                      <a:pPr algn="ctr"/>
                      <a:r>
                        <a:rPr sz="1300">
                          <a:solidFill>
                            <a:srgbClr val="333333"/>
                          </a:solidFill>
                          <a:latin typeface="メイリオ"/>
                          <a:ea typeface="メイリオ"/>
                          <a:cs typeface="メイリオ"/>
                        </a:rPr>
                        <a:t>5万円〜</a:t>
                      </a:r>
                    </a:p>
                  </a:txBody>
                  <a:tcPr anchor="ctr">
                    <a:solidFill>
                      <a:srgbClr val="F4F7FF"/>
                    </a:solidFill>
                  </a:tcPr>
                </a:tc>
                <a:tc>
                  <a:txBody>
                    <a:bodyPr/>
                    <a:lstStyle/>
                    <a:p>
                      <a:pPr algn="l"/>
                      <a:r>
                        <a:rPr sz="1300">
                          <a:solidFill>
                            <a:srgbClr val="333333"/>
                          </a:solidFill>
                          <a:latin typeface="メイリオ"/>
                          <a:ea typeface="メイリオ"/>
                          <a:cs typeface="メイリオ"/>
                        </a:rPr>
                        <a:t>構築を中心に、運用は最小限</a:t>
                      </a:r>
                    </a:p>
                  </a:txBody>
                  <a:tcPr anchor="ctr">
                    <a:solidFill>
                      <a:srgbClr val="F4F7FF"/>
                    </a:solidFill>
                  </a:tcPr>
                </a:tc>
                <a:extLst>
                  <a:ext uri="{0D108BD9-81ED-4DB2-BD59-A6C34878D82A}">
                    <a16:rowId xmlns:a16="http://schemas.microsoft.com/office/drawing/2014/main" val="10002"/>
                  </a:ext>
                </a:extLst>
              </a:tr>
              <a:tr h="316800">
                <a:tc>
                  <a:txBody>
                    <a:bodyPr/>
                    <a:lstStyle/>
                    <a:p>
                      <a:pPr algn="l"/>
                      <a:r>
                        <a:rPr sz="1300">
                          <a:solidFill>
                            <a:srgbClr val="333333"/>
                          </a:solidFill>
                          <a:latin typeface="メイリオ"/>
                          <a:ea typeface="メイリオ"/>
                          <a:cs typeface="メイリオ"/>
                        </a:rPr>
                        <a:t>③ 運用代行・効率改善</a:t>
                      </a:r>
                    </a:p>
                  </a:txBody>
                  <a:tcPr anchor="ctr">
                    <a:solidFill>
                      <a:srgbClr val="FFFFFF"/>
                    </a:solidFill>
                  </a:tcPr>
                </a:tc>
                <a:tc>
                  <a:txBody>
                    <a:bodyPr/>
                    <a:lstStyle/>
                    <a:p>
                      <a:pPr algn="ctr"/>
                      <a:r>
                        <a:rPr sz="1300">
                          <a:solidFill>
                            <a:srgbClr val="333333"/>
                          </a:solidFill>
                          <a:latin typeface="メイリオ"/>
                          <a:ea typeface="メイリオ"/>
                          <a:cs typeface="メイリオ"/>
                        </a:rPr>
                        <a:t>10万円〜</a:t>
                      </a:r>
                    </a:p>
                  </a:txBody>
                  <a:tcPr anchor="ctr">
                    <a:solidFill>
                      <a:srgbClr val="FFFFFF"/>
                    </a:solidFill>
                  </a:tcPr>
                </a:tc>
                <a:tc>
                  <a:txBody>
                    <a:bodyPr/>
                    <a:lstStyle/>
                    <a:p>
                      <a:pPr algn="ctr"/>
                      <a:r>
                        <a:rPr sz="1300">
                          <a:solidFill>
                            <a:srgbClr val="333333"/>
                          </a:solidFill>
                          <a:latin typeface="メイリオ"/>
                          <a:ea typeface="メイリオ"/>
                          <a:cs typeface="メイリオ"/>
                        </a:rPr>
                        <a:t>0万円〜</a:t>
                      </a:r>
                    </a:p>
                  </a:txBody>
                  <a:tcPr anchor="ctr">
                    <a:solidFill>
                      <a:srgbClr val="FFFFFF"/>
                    </a:solidFill>
                  </a:tcPr>
                </a:tc>
                <a:tc>
                  <a:txBody>
                    <a:bodyPr/>
                    <a:lstStyle/>
                    <a:p>
                      <a:pPr algn="l"/>
                      <a:r>
                        <a:rPr sz="1300">
                          <a:solidFill>
                            <a:srgbClr val="333333"/>
                          </a:solidFill>
                          <a:latin typeface="メイリオ"/>
                          <a:ea typeface="メイリオ"/>
                          <a:cs typeface="メイリオ"/>
                        </a:rPr>
                        <a:t>アカウント費のみ。既存運用の改善</a:t>
                      </a:r>
                    </a:p>
                  </a:txBody>
                  <a:tcPr anchor="ctr">
                    <a:solidFill>
                      <a:srgbClr val="FFFFFF"/>
                    </a:solidFill>
                  </a:tcPr>
                </a:tc>
                <a:extLst>
                  <a:ext uri="{0D108BD9-81ED-4DB2-BD59-A6C34878D82A}">
                    <a16:rowId xmlns:a16="http://schemas.microsoft.com/office/drawing/2014/main" val="10003"/>
                  </a:ext>
                </a:extLst>
              </a:tr>
              <a:tr h="316800">
                <a:tc>
                  <a:txBody>
                    <a:bodyPr/>
                    <a:lstStyle/>
                    <a:p>
                      <a:pPr algn="l"/>
                      <a:r>
                        <a:rPr sz="1300">
                          <a:solidFill>
                            <a:srgbClr val="333333"/>
                          </a:solidFill>
                          <a:latin typeface="メイリオ"/>
                          <a:ea typeface="メイリオ"/>
                          <a:cs typeface="メイリオ"/>
                        </a:rPr>
                        <a:t>④ 成果報酬型</a:t>
                      </a:r>
                    </a:p>
                  </a:txBody>
                  <a:tcPr anchor="ctr">
                    <a:solidFill>
                      <a:srgbClr val="F4F7FF"/>
                    </a:solidFill>
                  </a:tcPr>
                </a:tc>
                <a:tc>
                  <a:txBody>
                    <a:bodyPr/>
                    <a:lstStyle/>
                    <a:p>
                      <a:pPr algn="ctr"/>
                      <a:r>
                        <a:rPr sz="1300">
                          <a:solidFill>
                            <a:srgbClr val="333333"/>
                          </a:solidFill>
                          <a:latin typeface="メイリオ"/>
                          <a:ea typeface="メイリオ"/>
                          <a:cs typeface="メイリオ"/>
                        </a:rPr>
                        <a:t>5万円〜</a:t>
                      </a:r>
                    </a:p>
                  </a:txBody>
                  <a:tcPr anchor="ctr">
                    <a:solidFill>
                      <a:srgbClr val="F4F7FF"/>
                    </a:solidFill>
                  </a:tcPr>
                </a:tc>
                <a:tc>
                  <a:txBody>
                    <a:bodyPr/>
                    <a:lstStyle/>
                    <a:p>
                      <a:pPr algn="ctr"/>
                      <a:r>
                        <a:rPr sz="1300">
                          <a:solidFill>
                            <a:srgbClr val="333333"/>
                          </a:solidFill>
                          <a:latin typeface="メイリオ"/>
                          <a:ea typeface="メイリオ"/>
                          <a:cs typeface="メイリオ"/>
                        </a:rPr>
                        <a:t>単価×成果数＋固定費</a:t>
                      </a:r>
                    </a:p>
                  </a:txBody>
                  <a:tcPr anchor="ctr">
                    <a:solidFill>
                      <a:srgbClr val="F4F7FF"/>
                    </a:solidFill>
                  </a:tcPr>
                </a:tc>
                <a:tc>
                  <a:txBody>
                    <a:bodyPr/>
                    <a:lstStyle/>
                    <a:p>
                      <a:pPr algn="l"/>
                      <a:r>
                        <a:rPr sz="1300">
                          <a:solidFill>
                            <a:srgbClr val="333333"/>
                          </a:solidFill>
                          <a:latin typeface="メイリオ"/>
                          <a:ea typeface="メイリオ"/>
                          <a:cs typeface="メイリオ"/>
                        </a:rPr>
                        <a:t>成果地点を合意のうえ設定</a:t>
                      </a:r>
                    </a:p>
                  </a:txBody>
                  <a:tcPr anchor="ctr">
                    <a:solidFill>
                      <a:srgbClr val="F4F7FF"/>
                    </a:solid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432000" y="3383999"/>
            <a:ext cx="4521600" cy="122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57999" y="3524770"/>
            <a:ext cx="4269600" cy="942458"/>
          </a:xfrm>
          <a:prstGeom prst="rect">
            <a:avLst/>
          </a:prstGeom>
          <a:noFill/>
        </p:spPr>
        <p:txBody>
          <a:bodyPr wrap="square" lIns="50400" tIns="21600" rIns="50400" bIns="21600" anchor="ctr">
            <a:spAutoFit/>
          </a:bodyPr>
          <a:lstStyle/>
          <a:p>
            <a:pPr algn="l">
              <a:spcAft>
                <a:spcPts val="400"/>
              </a:spcAft>
            </a:pPr>
            <a:r>
              <a:rPr sz="1300" b="1">
                <a:solidFill>
                  <a:srgbClr val="1F285A"/>
                </a:solidFill>
                <a:latin typeface="メイリオ"/>
                <a:ea typeface="メイリオ"/>
                <a:cs typeface="メイリオ"/>
              </a:rPr>
              <a:t>無償で付帯するもの</a:t>
            </a:r>
          </a:p>
          <a:p>
            <a:pPr algn="l">
              <a:lnSpc>
                <a:spcPct val="130000"/>
              </a:lnSpc>
            </a:pPr>
            <a:r>
              <a:rPr sz="1100">
                <a:solidFill>
                  <a:srgbClr val="333333"/>
                </a:solidFill>
                <a:latin typeface="メイリオ"/>
                <a:ea typeface="メイリオ"/>
                <a:cs typeface="メイリオ"/>
              </a:rPr>
              <a:t>プロフィール／リッチメニュー／あいさつメッセージ／初期アンケート／キーワード自動応答／ステップ配信／セグメント配信／タグ管理／GAレポート連携／クリエイティブ／定例会</a:t>
            </a:r>
          </a:p>
        </p:txBody>
      </p:sp>
      <p:sp>
        <p:nvSpPr>
          <p:cNvPr id="8" name="Rounded Rectangle 7"/>
          <p:cNvSpPr/>
          <p:nvPr/>
        </p:nvSpPr>
        <p:spPr>
          <a:xfrm>
            <a:off x="5061600" y="3383999"/>
            <a:ext cx="4413600" cy="1224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187600" y="3542659"/>
            <a:ext cx="4179600" cy="906679"/>
          </a:xfrm>
          <a:prstGeom prst="rect">
            <a:avLst/>
          </a:prstGeom>
          <a:noFill/>
        </p:spPr>
        <p:txBody>
          <a:bodyPr wrap="square" lIns="50400" tIns="21600" rIns="50400" bIns="21600" anchor="ctr">
            <a:spAutoFit/>
          </a:bodyPr>
          <a:lstStyle/>
          <a:p>
            <a:pPr algn="l">
              <a:spcAft>
                <a:spcPts val="400"/>
              </a:spcAft>
            </a:pPr>
            <a:r>
              <a:rPr sz="1200" b="1">
                <a:solidFill>
                  <a:srgbClr val="333333"/>
                </a:solidFill>
                <a:latin typeface="メイリオ"/>
                <a:ea typeface="メイリオ"/>
                <a:cs typeface="メイリオ"/>
              </a:rPr>
              <a:t>別途費用がかかるもの</a:t>
            </a:r>
          </a:p>
          <a:p>
            <a:pPr algn="l">
              <a:lnSpc>
                <a:spcPct val="130000"/>
              </a:lnSpc>
              <a:spcAft>
                <a:spcPts val="300"/>
              </a:spcAft>
            </a:pPr>
            <a:r>
              <a:rPr sz="1000">
                <a:solidFill>
                  <a:srgbClr val="333333"/>
                </a:solidFill>
                <a:latin typeface="メイリオ"/>
                <a:ea typeface="メイリオ"/>
                <a:cs typeface="メイリオ"/>
              </a:rPr>
              <a:t>アカウント開設 初期1万（成果報酬型は3万）／ポップアップ（離脱防止）初期1.5万＋月3万／通知メッセージ 初期10万＋月8万〜＋通数7円</a:t>
            </a:r>
          </a:p>
          <a:p>
            <a:pPr algn="l">
              <a:lnSpc>
                <a:spcPct val="130000"/>
              </a:lnSpc>
            </a:pPr>
            <a:r>
              <a:rPr sz="1000">
                <a:solidFill>
                  <a:srgbClr val="7F7F7F"/>
                </a:solidFill>
                <a:latin typeface="メイリオ"/>
                <a:ea typeface="メイリオ"/>
                <a:cs typeface="メイリオ"/>
              </a:rPr>
              <a:t>※API連携・配信ツール利用料は別途。配信ツールは1種を選定します</a:t>
            </a:r>
          </a:p>
        </p:txBody>
      </p:sp>
      <p:sp>
        <p:nvSpPr>
          <p:cNvPr id="10" name="Rounded Rectangle 9"/>
          <p:cNvSpPr/>
          <p:nvPr/>
        </p:nvSpPr>
        <p:spPr>
          <a:xfrm>
            <a:off x="432000" y="4788000"/>
            <a:ext cx="9043200" cy="864000"/>
          </a:xfrm>
          <a:prstGeom prst="roundRect">
            <a:avLst>
              <a:gd name="adj" fmla="val 6000"/>
            </a:avLst>
          </a:prstGeom>
          <a:solidFill>
            <a:srgbClr val="FCE4D6"/>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7999" y="4777433"/>
            <a:ext cx="8611200" cy="885134"/>
          </a:xfrm>
          <a:prstGeom prst="rect">
            <a:avLst/>
          </a:prstGeom>
          <a:noFill/>
        </p:spPr>
        <p:txBody>
          <a:bodyPr wrap="square" lIns="50400" tIns="21600" rIns="50400" bIns="21600" anchor="ctr">
            <a:spAutoFit/>
          </a:bodyPr>
          <a:lstStyle/>
          <a:p>
            <a:pPr algn="l">
              <a:spcAft>
                <a:spcPts val="400"/>
              </a:spcAft>
            </a:pPr>
            <a:r>
              <a:rPr sz="1600" b="1">
                <a:solidFill>
                  <a:srgbClr val="ED7D31"/>
                </a:solidFill>
                <a:latin typeface="メイリオ"/>
                <a:ea typeface="メイリオ"/>
                <a:cs typeface="メイリオ"/>
              </a:rPr>
              <a:t>継続費のご確認</a:t>
            </a:r>
          </a:p>
          <a:p>
            <a:pPr algn="l">
              <a:lnSpc>
                <a:spcPct val="130000"/>
              </a:lnSpc>
            </a:pPr>
            <a:r>
              <a:rPr sz="1400">
                <a:solidFill>
                  <a:srgbClr val="333333"/>
                </a:solidFill>
                <a:latin typeface="メイリオ"/>
                <a:ea typeface="メイリオ"/>
                <a:cs typeface="メイリオ"/>
              </a:rPr>
              <a:t>初期費用は初月のみ。2ヶ月目以降は月額のみが継続してかかります。契約期間は6ヶ月〜。7ヶ月目以降も同額の月額が継続します。</a:t>
            </a:r>
          </a:p>
        </p:txBody>
      </p:sp>
      <p:sp>
        <p:nvSpPr>
          <p:cNvPr id="12" name="TextBox 11"/>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すべて税抜。契約期間・成果地点は個別のご要望に応じて調整します</a:t>
            </a:r>
          </a:p>
        </p:txBody>
      </p:sp>
    </p:spTree>
    <p:extLst>
      <p:ext uri="{BB962C8B-B14F-4D97-AF65-F5344CB8AC3E}">
        <p14:creationId xmlns:p14="http://schemas.microsoft.com/office/powerpoint/2010/main" val="20125450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運用スケジュール（6ヶ月）</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★1〜2ヶ月目のID連携がすべての前提。ここが遅れると全体が後ろ倒しになる。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1447200" cy="324000"/>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32000" y="1652467"/>
            <a:ext cx="1447200" cy="259065"/>
          </a:xfrm>
          <a:prstGeom prst="rect">
            <a:avLst/>
          </a:prstGeom>
          <a:noFill/>
        </p:spPr>
        <p:txBody>
          <a:bodyPr wrap="square" lIns="18000" tIns="21600" rIns="18000" bIns="21600" anchor="ctr">
            <a:spAutoFit/>
          </a:bodyPr>
          <a:lstStyle/>
          <a:p>
            <a:pPr algn="ctr"/>
            <a:r>
              <a:rPr sz="1400" b="1">
                <a:solidFill>
                  <a:srgbClr val="FFFFFF"/>
                </a:solidFill>
                <a:latin typeface="メイリオ"/>
                <a:ea typeface="メイリオ"/>
                <a:cs typeface="メイリオ"/>
              </a:rPr>
              <a:t>1ヶ月目</a:t>
            </a:r>
          </a:p>
        </p:txBody>
      </p:sp>
      <p:sp>
        <p:nvSpPr>
          <p:cNvPr id="7" name="Rounded Rectangle 6"/>
          <p:cNvSpPr/>
          <p:nvPr/>
        </p:nvSpPr>
        <p:spPr>
          <a:xfrm>
            <a:off x="432000" y="1980000"/>
            <a:ext cx="1447200" cy="1944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89599" y="2051999"/>
            <a:ext cx="1332000" cy="465148"/>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キックオフ・要件確認</a:t>
            </a:r>
          </a:p>
        </p:txBody>
      </p:sp>
      <p:sp>
        <p:nvSpPr>
          <p:cNvPr id="9" name="TextBox 8"/>
          <p:cNvSpPr txBox="1"/>
          <p:nvPr/>
        </p:nvSpPr>
        <p:spPr>
          <a:xfrm>
            <a:off x="489599" y="2664000"/>
            <a:ext cx="1332000" cy="465148"/>
          </a:xfrm>
          <a:prstGeom prst="rect">
            <a:avLst/>
          </a:prstGeom>
          <a:noFill/>
        </p:spPr>
        <p:txBody>
          <a:bodyPr wrap="square" lIns="50400" tIns="21600" rIns="50400" bIns="21600" anchor="t">
            <a:spAutoFit/>
          </a:bodyPr>
          <a:lstStyle/>
          <a:p>
            <a:pPr algn="l">
              <a:lnSpc>
                <a:spcPct val="128000"/>
              </a:lnSpc>
            </a:pPr>
            <a:r>
              <a:rPr sz="1100" b="1">
                <a:solidFill>
                  <a:srgbClr val="ED7D31"/>
                </a:solidFill>
                <a:latin typeface="メイリオ"/>
                <a:ea typeface="メイリオ"/>
                <a:cs typeface="メイリオ"/>
              </a:rPr>
              <a:t>★ID連携の可否確認と設計</a:t>
            </a:r>
          </a:p>
        </p:txBody>
      </p:sp>
      <p:sp>
        <p:nvSpPr>
          <p:cNvPr id="10" name="TextBox 9"/>
          <p:cNvSpPr txBox="1"/>
          <p:nvPr/>
        </p:nvSpPr>
        <p:spPr>
          <a:xfrm>
            <a:off x="489599" y="3276000"/>
            <a:ext cx="1332000" cy="465148"/>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アカウント開設・プロフィール</a:t>
            </a:r>
          </a:p>
        </p:txBody>
      </p:sp>
      <p:sp>
        <p:nvSpPr>
          <p:cNvPr id="11" name="Rounded Rectangle 10"/>
          <p:cNvSpPr/>
          <p:nvPr/>
        </p:nvSpPr>
        <p:spPr>
          <a:xfrm>
            <a:off x="1951200" y="1620000"/>
            <a:ext cx="1447200" cy="324000"/>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951200" y="1652467"/>
            <a:ext cx="1447200" cy="259065"/>
          </a:xfrm>
          <a:prstGeom prst="rect">
            <a:avLst/>
          </a:prstGeom>
          <a:noFill/>
        </p:spPr>
        <p:txBody>
          <a:bodyPr wrap="square" lIns="18000" tIns="21600" rIns="18000" bIns="21600" anchor="ctr">
            <a:spAutoFit/>
          </a:bodyPr>
          <a:lstStyle/>
          <a:p>
            <a:pPr algn="ctr"/>
            <a:r>
              <a:rPr sz="1400" b="1">
                <a:solidFill>
                  <a:srgbClr val="FFFFFF"/>
                </a:solidFill>
                <a:latin typeface="メイリオ"/>
                <a:ea typeface="メイリオ"/>
                <a:cs typeface="メイリオ"/>
              </a:rPr>
              <a:t>2ヶ月目</a:t>
            </a:r>
          </a:p>
        </p:txBody>
      </p:sp>
      <p:sp>
        <p:nvSpPr>
          <p:cNvPr id="13" name="Rounded Rectangle 12"/>
          <p:cNvSpPr/>
          <p:nvPr/>
        </p:nvSpPr>
        <p:spPr>
          <a:xfrm>
            <a:off x="1951200" y="1980000"/>
            <a:ext cx="1447200" cy="1944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008800" y="2051999"/>
            <a:ext cx="1332000" cy="248486"/>
          </a:xfrm>
          <a:prstGeom prst="rect">
            <a:avLst/>
          </a:prstGeom>
          <a:noFill/>
        </p:spPr>
        <p:txBody>
          <a:bodyPr wrap="square" lIns="50400" tIns="21600" rIns="50400" bIns="21600" anchor="t">
            <a:spAutoFit/>
          </a:bodyPr>
          <a:lstStyle/>
          <a:p>
            <a:pPr algn="l">
              <a:lnSpc>
                <a:spcPct val="128000"/>
              </a:lnSpc>
            </a:pPr>
            <a:r>
              <a:rPr sz="1100" b="1">
                <a:solidFill>
                  <a:srgbClr val="ED7D31"/>
                </a:solidFill>
                <a:latin typeface="メイリオ"/>
                <a:ea typeface="メイリオ"/>
                <a:cs typeface="メイリオ"/>
              </a:rPr>
              <a:t>★ID連携の実装</a:t>
            </a:r>
          </a:p>
        </p:txBody>
      </p:sp>
      <p:sp>
        <p:nvSpPr>
          <p:cNvPr id="15" name="TextBox 14"/>
          <p:cNvSpPr txBox="1"/>
          <p:nvPr/>
        </p:nvSpPr>
        <p:spPr>
          <a:xfrm>
            <a:off x="2008800" y="2664000"/>
            <a:ext cx="1332000" cy="465148"/>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同梱物QR・購入完了画面の導線</a:t>
            </a:r>
          </a:p>
        </p:txBody>
      </p:sp>
      <p:sp>
        <p:nvSpPr>
          <p:cNvPr id="16" name="TextBox 15"/>
          <p:cNvSpPr txBox="1"/>
          <p:nvPr/>
        </p:nvSpPr>
        <p:spPr>
          <a:xfrm>
            <a:off x="2008800" y="3276000"/>
            <a:ext cx="1332000" cy="681810"/>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あいさつ／初期アンケート／リッチメニュー</a:t>
            </a:r>
          </a:p>
        </p:txBody>
      </p:sp>
      <p:sp>
        <p:nvSpPr>
          <p:cNvPr id="17" name="Rounded Rectangle 16"/>
          <p:cNvSpPr/>
          <p:nvPr/>
        </p:nvSpPr>
        <p:spPr>
          <a:xfrm>
            <a:off x="3470400" y="1620000"/>
            <a:ext cx="1447200" cy="324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470400" y="1652467"/>
            <a:ext cx="1447200" cy="259065"/>
          </a:xfrm>
          <a:prstGeom prst="rect">
            <a:avLst/>
          </a:prstGeom>
          <a:noFill/>
        </p:spPr>
        <p:txBody>
          <a:bodyPr wrap="square" lIns="18000" tIns="21600" rIns="18000" bIns="21600" anchor="ctr">
            <a:spAutoFit/>
          </a:bodyPr>
          <a:lstStyle/>
          <a:p>
            <a:pPr algn="ctr"/>
            <a:r>
              <a:rPr sz="1400" b="1">
                <a:solidFill>
                  <a:srgbClr val="FFFFFF"/>
                </a:solidFill>
                <a:latin typeface="メイリオ"/>
                <a:ea typeface="メイリオ"/>
                <a:cs typeface="メイリオ"/>
              </a:rPr>
              <a:t>3ヶ月目</a:t>
            </a:r>
          </a:p>
        </p:txBody>
      </p:sp>
      <p:sp>
        <p:nvSpPr>
          <p:cNvPr id="19" name="Rounded Rectangle 18"/>
          <p:cNvSpPr/>
          <p:nvPr/>
        </p:nvSpPr>
        <p:spPr>
          <a:xfrm>
            <a:off x="3470400" y="1980000"/>
            <a:ext cx="1447200" cy="194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528000" y="2051999"/>
            <a:ext cx="1332000" cy="248486"/>
          </a:xfrm>
          <a:prstGeom prst="rect">
            <a:avLst/>
          </a:prstGeom>
          <a:noFill/>
        </p:spPr>
        <p:txBody>
          <a:bodyPr wrap="square" lIns="50400" tIns="21600" rIns="50400" bIns="21600" anchor="t">
            <a:spAutoFit/>
          </a:bodyPr>
          <a:lstStyle/>
          <a:p>
            <a:pPr algn="l">
              <a:lnSpc>
                <a:spcPct val="128000"/>
              </a:lnSpc>
            </a:pPr>
            <a:r>
              <a:rPr lang="ja-JP" altLang="en-US" sz="1100">
                <a:solidFill>
                  <a:srgbClr val="333333"/>
                </a:solidFill>
                <a:latin typeface="メイリオ"/>
                <a:ea typeface="メイリオ"/>
                <a:cs typeface="メイリオ"/>
              </a:rPr>
              <a:t>シナリオ①②実装</a:t>
            </a:r>
            <a:endParaRPr sz="1100">
              <a:solidFill>
                <a:srgbClr val="333333"/>
              </a:solidFill>
              <a:latin typeface="メイリオ"/>
              <a:ea typeface="メイリオ"/>
              <a:cs typeface="メイリオ"/>
            </a:endParaRPr>
          </a:p>
        </p:txBody>
      </p:sp>
      <p:sp>
        <p:nvSpPr>
          <p:cNvPr id="21" name="TextBox 20"/>
          <p:cNvSpPr txBox="1"/>
          <p:nvPr/>
        </p:nvSpPr>
        <p:spPr>
          <a:xfrm>
            <a:off x="3528000" y="2664000"/>
            <a:ext cx="1332000" cy="465148"/>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通知メッセージの申請・設定</a:t>
            </a:r>
          </a:p>
        </p:txBody>
      </p:sp>
      <p:sp>
        <p:nvSpPr>
          <p:cNvPr id="22" name="TextBox 21"/>
          <p:cNvSpPr txBox="1"/>
          <p:nvPr/>
        </p:nvSpPr>
        <p:spPr>
          <a:xfrm>
            <a:off x="3528000" y="3276000"/>
            <a:ext cx="1332000" cy="248486"/>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配信開始</a:t>
            </a:r>
          </a:p>
        </p:txBody>
      </p:sp>
      <p:sp>
        <p:nvSpPr>
          <p:cNvPr id="23" name="Rounded Rectangle 22"/>
          <p:cNvSpPr/>
          <p:nvPr/>
        </p:nvSpPr>
        <p:spPr>
          <a:xfrm>
            <a:off x="4989600" y="1620000"/>
            <a:ext cx="1447200" cy="324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989600" y="1652467"/>
            <a:ext cx="1447200" cy="259065"/>
          </a:xfrm>
          <a:prstGeom prst="rect">
            <a:avLst/>
          </a:prstGeom>
          <a:noFill/>
        </p:spPr>
        <p:txBody>
          <a:bodyPr wrap="square" lIns="18000" tIns="21600" rIns="18000" bIns="21600" anchor="ctr">
            <a:spAutoFit/>
          </a:bodyPr>
          <a:lstStyle/>
          <a:p>
            <a:pPr algn="ctr"/>
            <a:r>
              <a:rPr sz="1400" b="1">
                <a:solidFill>
                  <a:srgbClr val="FFFFFF"/>
                </a:solidFill>
                <a:latin typeface="メイリオ"/>
                <a:ea typeface="メイリオ"/>
                <a:cs typeface="メイリオ"/>
              </a:rPr>
              <a:t>4ヶ月目</a:t>
            </a:r>
          </a:p>
        </p:txBody>
      </p:sp>
      <p:sp>
        <p:nvSpPr>
          <p:cNvPr id="25" name="Rounded Rectangle 24"/>
          <p:cNvSpPr/>
          <p:nvPr/>
        </p:nvSpPr>
        <p:spPr>
          <a:xfrm>
            <a:off x="4989600" y="1980000"/>
            <a:ext cx="1447200" cy="194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47200" y="2051999"/>
            <a:ext cx="1332000" cy="465148"/>
          </a:xfrm>
          <a:prstGeom prst="rect">
            <a:avLst/>
          </a:prstGeom>
          <a:noFill/>
        </p:spPr>
        <p:txBody>
          <a:bodyPr wrap="square" lIns="50400" tIns="21600" rIns="50400" bIns="21600" anchor="t">
            <a:spAutoFit/>
          </a:bodyPr>
          <a:lstStyle/>
          <a:p>
            <a:pPr algn="l">
              <a:lnSpc>
                <a:spcPct val="128000"/>
              </a:lnSpc>
            </a:pPr>
            <a:r>
              <a:rPr sz="1100" b="1">
                <a:solidFill>
                  <a:srgbClr val="ED7D31"/>
                </a:solidFill>
                <a:latin typeface="メイリオ"/>
                <a:ea typeface="メイリオ"/>
                <a:cs typeface="メイリオ"/>
              </a:rPr>
              <a:t>★シナリオ③（解約）の実装</a:t>
            </a:r>
          </a:p>
        </p:txBody>
      </p:sp>
      <p:sp>
        <p:nvSpPr>
          <p:cNvPr id="27" name="TextBox 26"/>
          <p:cNvSpPr txBox="1"/>
          <p:nvPr/>
        </p:nvSpPr>
        <p:spPr>
          <a:xfrm>
            <a:off x="5047200" y="2664000"/>
            <a:ext cx="1332000" cy="248486"/>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企画投稿の開始</a:t>
            </a:r>
          </a:p>
        </p:txBody>
      </p:sp>
      <p:sp>
        <p:nvSpPr>
          <p:cNvPr id="28" name="TextBox 27"/>
          <p:cNvSpPr txBox="1"/>
          <p:nvPr/>
        </p:nvSpPr>
        <p:spPr>
          <a:xfrm>
            <a:off x="5047200" y="3276000"/>
            <a:ext cx="1332000" cy="465148"/>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F2転換率の初回レビュー</a:t>
            </a:r>
          </a:p>
        </p:txBody>
      </p:sp>
      <p:sp>
        <p:nvSpPr>
          <p:cNvPr id="29" name="Rounded Rectangle 28"/>
          <p:cNvSpPr/>
          <p:nvPr/>
        </p:nvSpPr>
        <p:spPr>
          <a:xfrm>
            <a:off x="6508800" y="1620000"/>
            <a:ext cx="1447200" cy="324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08800" y="1652467"/>
            <a:ext cx="1447200" cy="259065"/>
          </a:xfrm>
          <a:prstGeom prst="rect">
            <a:avLst/>
          </a:prstGeom>
          <a:noFill/>
        </p:spPr>
        <p:txBody>
          <a:bodyPr wrap="square" lIns="18000" tIns="21600" rIns="18000" bIns="21600" anchor="ctr">
            <a:spAutoFit/>
          </a:bodyPr>
          <a:lstStyle/>
          <a:p>
            <a:pPr algn="ctr"/>
            <a:r>
              <a:rPr sz="1400" b="1">
                <a:solidFill>
                  <a:srgbClr val="FFFFFF"/>
                </a:solidFill>
                <a:latin typeface="メイリオ"/>
                <a:ea typeface="メイリオ"/>
                <a:cs typeface="メイリオ"/>
              </a:rPr>
              <a:t>5ヶ月目</a:t>
            </a:r>
          </a:p>
        </p:txBody>
      </p:sp>
      <p:sp>
        <p:nvSpPr>
          <p:cNvPr id="31" name="Rounded Rectangle 30"/>
          <p:cNvSpPr/>
          <p:nvPr/>
        </p:nvSpPr>
        <p:spPr>
          <a:xfrm>
            <a:off x="6508800" y="1980000"/>
            <a:ext cx="1447200" cy="194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66400" y="2051999"/>
            <a:ext cx="1332000" cy="465148"/>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解約アンケートの回答分析</a:t>
            </a:r>
          </a:p>
        </p:txBody>
      </p:sp>
      <p:sp>
        <p:nvSpPr>
          <p:cNvPr id="33" name="TextBox 32"/>
          <p:cNvSpPr txBox="1"/>
          <p:nvPr/>
        </p:nvSpPr>
        <p:spPr>
          <a:xfrm>
            <a:off x="6566400" y="2664000"/>
            <a:ext cx="1332000" cy="248486"/>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オファーの改善</a:t>
            </a:r>
          </a:p>
        </p:txBody>
      </p:sp>
      <p:sp>
        <p:nvSpPr>
          <p:cNvPr id="34" name="TextBox 33"/>
          <p:cNvSpPr txBox="1"/>
          <p:nvPr/>
        </p:nvSpPr>
        <p:spPr>
          <a:xfrm>
            <a:off x="6566400" y="3276000"/>
            <a:ext cx="1332000" cy="465148"/>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セグメント配信の追加</a:t>
            </a:r>
          </a:p>
        </p:txBody>
      </p:sp>
      <p:sp>
        <p:nvSpPr>
          <p:cNvPr id="35" name="Rounded Rectangle 34"/>
          <p:cNvSpPr/>
          <p:nvPr/>
        </p:nvSpPr>
        <p:spPr>
          <a:xfrm>
            <a:off x="8028000" y="1620000"/>
            <a:ext cx="1447200" cy="324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028000" y="1652467"/>
            <a:ext cx="1447200" cy="259065"/>
          </a:xfrm>
          <a:prstGeom prst="rect">
            <a:avLst/>
          </a:prstGeom>
          <a:noFill/>
        </p:spPr>
        <p:txBody>
          <a:bodyPr wrap="square" lIns="18000" tIns="21600" rIns="18000" bIns="21600" anchor="ctr">
            <a:spAutoFit/>
          </a:bodyPr>
          <a:lstStyle/>
          <a:p>
            <a:pPr algn="ctr"/>
            <a:r>
              <a:rPr sz="1400" b="1">
                <a:solidFill>
                  <a:srgbClr val="FFFFFF"/>
                </a:solidFill>
                <a:latin typeface="メイリオ"/>
                <a:ea typeface="メイリオ"/>
                <a:cs typeface="メイリオ"/>
              </a:rPr>
              <a:t>6ヶ月目</a:t>
            </a:r>
          </a:p>
        </p:txBody>
      </p:sp>
      <p:sp>
        <p:nvSpPr>
          <p:cNvPr id="37" name="Rounded Rectangle 36"/>
          <p:cNvSpPr/>
          <p:nvPr/>
        </p:nvSpPr>
        <p:spPr>
          <a:xfrm>
            <a:off x="8028000" y="1980000"/>
            <a:ext cx="1447200" cy="194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085600" y="2051999"/>
            <a:ext cx="1332000" cy="465148"/>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月次解約率のレビュー</a:t>
            </a:r>
          </a:p>
        </p:txBody>
      </p:sp>
      <p:sp>
        <p:nvSpPr>
          <p:cNvPr id="39" name="TextBox 38"/>
          <p:cNvSpPr txBox="1"/>
          <p:nvPr/>
        </p:nvSpPr>
        <p:spPr>
          <a:xfrm>
            <a:off x="8085600" y="2664000"/>
            <a:ext cx="1332000" cy="248486"/>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半期の振り返り</a:t>
            </a:r>
          </a:p>
        </p:txBody>
      </p:sp>
      <p:sp>
        <p:nvSpPr>
          <p:cNvPr id="40" name="TextBox 39"/>
          <p:cNvSpPr txBox="1"/>
          <p:nvPr/>
        </p:nvSpPr>
        <p:spPr>
          <a:xfrm>
            <a:off x="8085600" y="3276000"/>
            <a:ext cx="1332000" cy="248486"/>
          </a:xfrm>
          <a:prstGeom prst="rect">
            <a:avLst/>
          </a:prstGeom>
          <a:noFill/>
        </p:spPr>
        <p:txBody>
          <a:bodyPr wrap="square" lIns="50400" tIns="21600" rIns="50400" bIns="21600" anchor="t">
            <a:spAutoFit/>
          </a:bodyPr>
          <a:lstStyle/>
          <a:p>
            <a:pPr algn="l">
              <a:lnSpc>
                <a:spcPct val="128000"/>
              </a:lnSpc>
            </a:pPr>
            <a:r>
              <a:rPr sz="1100">
                <a:solidFill>
                  <a:srgbClr val="333333"/>
                </a:solidFill>
                <a:latin typeface="メイリオ"/>
                <a:ea typeface="メイリオ"/>
                <a:cs typeface="メイリオ"/>
              </a:rPr>
              <a:t>次期の設計</a:t>
            </a:r>
          </a:p>
        </p:txBody>
      </p:sp>
      <p:sp>
        <p:nvSpPr>
          <p:cNvPr id="41" name="Rounded Rectangle 40"/>
          <p:cNvSpPr/>
          <p:nvPr/>
        </p:nvSpPr>
        <p:spPr>
          <a:xfrm>
            <a:off x="432000" y="4212000"/>
            <a:ext cx="9043200" cy="144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47999" y="4326791"/>
            <a:ext cx="8611200" cy="1210416"/>
          </a:xfrm>
          <a:prstGeom prst="rect">
            <a:avLst/>
          </a:prstGeom>
          <a:noFill/>
        </p:spPr>
        <p:txBody>
          <a:bodyPr wrap="square" lIns="50400" tIns="21600" rIns="50400" bIns="21600" anchor="ctr">
            <a:spAutoFit/>
          </a:bodyPr>
          <a:lstStyle/>
          <a:p>
            <a:pPr algn="l">
              <a:spcAft>
                <a:spcPts val="500"/>
              </a:spcAft>
            </a:pPr>
            <a:r>
              <a:rPr sz="1400" b="1">
                <a:solidFill>
                  <a:srgbClr val="ED7D31"/>
                </a:solidFill>
                <a:latin typeface="メイリオ"/>
                <a:ea typeface="メイリオ"/>
                <a:cs typeface="メイリオ"/>
              </a:rPr>
              <a:t>★解約シナリオ（P47）は4ヶ月目に置いている</a:t>
            </a:r>
          </a:p>
          <a:p>
            <a:pPr algn="l">
              <a:lnSpc>
                <a:spcPct val="132000"/>
              </a:lnSpc>
              <a:spcAft>
                <a:spcPts val="400"/>
              </a:spcAft>
            </a:pPr>
            <a:r>
              <a:rPr sz="1400">
                <a:solidFill>
                  <a:srgbClr val="FFFFFF"/>
                </a:solidFill>
                <a:latin typeface="メイリオ"/>
                <a:ea typeface="メイリオ"/>
                <a:cs typeface="メイリオ"/>
              </a:rPr>
              <a:t>先に「買った直後〜F2」（シナリオ①）と「次回発送前」（シナリオ②）を回して、解約に至る前に片づく件数を増やしてから、解約シナリオを実装する。</a:t>
            </a:r>
          </a:p>
          <a:p>
            <a:pPr algn="l">
              <a:lnSpc>
                <a:spcPct val="132000"/>
              </a:lnSpc>
            </a:pPr>
            <a:r>
              <a:rPr sz="1400" b="1">
                <a:solidFill>
                  <a:srgbClr val="FFFFFF"/>
                </a:solidFill>
                <a:latin typeface="メイリオ"/>
                <a:ea typeface="メイリオ"/>
                <a:cs typeface="メイリオ"/>
              </a:rPr>
              <a:t>順番を逆にすると、解約の受付だけが増える。</a:t>
            </a:r>
          </a:p>
        </p:txBody>
      </p:sp>
      <p:sp>
        <p:nvSpPr>
          <p:cNvPr id="43" name="TextBox 42"/>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意見｜1〜2ヶ月目でID連携の可否を確認する。取れない場合は、連携が不要な施策から先に立ち上げる</a:t>
            </a:r>
          </a:p>
        </p:txBody>
      </p:sp>
    </p:spTree>
    <p:extLst>
      <p:ext uri="{BB962C8B-B14F-4D97-AF65-F5344CB8AC3E}">
        <p14:creationId xmlns:p14="http://schemas.microsoft.com/office/powerpoint/2010/main" val="38455432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サポート体制</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配信を作る人と、法令を見る人を分ける。単品通販はここが要る。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9043200" cy="75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00" y="1853078"/>
            <a:ext cx="2304000"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戦略・設計</a:t>
            </a:r>
          </a:p>
        </p:txBody>
      </p:sp>
      <p:sp>
        <p:nvSpPr>
          <p:cNvPr id="7" name="TextBox 6"/>
          <p:cNvSpPr txBox="1"/>
          <p:nvPr/>
        </p:nvSpPr>
        <p:spPr>
          <a:xfrm>
            <a:off x="3024000" y="1844230"/>
            <a:ext cx="6307200" cy="307540"/>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シナリオ設計／KPI設計／定例会。F2転換率と月次解約率の推移を追う</a:t>
            </a:r>
          </a:p>
        </p:txBody>
      </p:sp>
      <p:sp>
        <p:nvSpPr>
          <p:cNvPr id="8" name="Rounded Rectangle 7"/>
          <p:cNvSpPr/>
          <p:nvPr/>
        </p:nvSpPr>
        <p:spPr>
          <a:xfrm>
            <a:off x="432000" y="2484000"/>
            <a:ext cx="9043200" cy="75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00" y="2717078"/>
            <a:ext cx="2304000"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配信制作</a:t>
            </a:r>
          </a:p>
        </p:txBody>
      </p:sp>
      <p:sp>
        <p:nvSpPr>
          <p:cNvPr id="10" name="TextBox 9"/>
          <p:cNvSpPr txBox="1"/>
          <p:nvPr/>
        </p:nvSpPr>
        <p:spPr>
          <a:xfrm>
            <a:off x="3024000" y="2708230"/>
            <a:ext cx="6307200" cy="307540"/>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文面・クリエイティブ制作／リッチメニュー更新／企画投稿</a:t>
            </a:r>
          </a:p>
        </p:txBody>
      </p:sp>
      <p:sp>
        <p:nvSpPr>
          <p:cNvPr id="11" name="Rounded Rectangle 10"/>
          <p:cNvSpPr/>
          <p:nvPr/>
        </p:nvSpPr>
        <p:spPr>
          <a:xfrm>
            <a:off x="432000" y="3348000"/>
            <a:ext cx="9043200" cy="756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76000" y="3581078"/>
            <a:ext cx="2304000" cy="289843"/>
          </a:xfrm>
          <a:prstGeom prst="rect">
            <a:avLst/>
          </a:prstGeom>
          <a:noFill/>
        </p:spPr>
        <p:txBody>
          <a:bodyPr wrap="square" lIns="50400" tIns="21600" rIns="50400" bIns="21600" anchor="ctr">
            <a:spAutoFit/>
          </a:bodyPr>
          <a:lstStyle/>
          <a:p>
            <a:pPr algn="l"/>
            <a:r>
              <a:rPr sz="1600" b="1">
                <a:solidFill>
                  <a:srgbClr val="ED7D31"/>
                </a:solidFill>
                <a:latin typeface="メイリオ"/>
                <a:ea typeface="メイリオ"/>
                <a:cs typeface="メイリオ"/>
              </a:rPr>
              <a:t>★法令チェック</a:t>
            </a:r>
          </a:p>
        </p:txBody>
      </p:sp>
      <p:sp>
        <p:nvSpPr>
          <p:cNvPr id="13" name="TextBox 12"/>
          <p:cNvSpPr txBox="1"/>
          <p:nvPr/>
        </p:nvSpPr>
        <p:spPr>
          <a:xfrm>
            <a:off x="3024000" y="3432191"/>
            <a:ext cx="6307200" cy="587617"/>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薬機法・景表法・特商法の観点で配信文面を確認。★LINE配信は薬機法上の「広告」に該当するため必須</a:t>
            </a:r>
          </a:p>
        </p:txBody>
      </p:sp>
      <p:sp>
        <p:nvSpPr>
          <p:cNvPr id="14" name="Rounded Rectangle 13"/>
          <p:cNvSpPr/>
          <p:nvPr/>
        </p:nvSpPr>
        <p:spPr>
          <a:xfrm>
            <a:off x="432000" y="4212000"/>
            <a:ext cx="9043200" cy="75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76000" y="4445078"/>
            <a:ext cx="2304000"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技術・連携</a:t>
            </a:r>
          </a:p>
        </p:txBody>
      </p:sp>
      <p:sp>
        <p:nvSpPr>
          <p:cNvPr id="16" name="TextBox 15"/>
          <p:cNvSpPr txBox="1"/>
          <p:nvPr/>
        </p:nvSpPr>
        <p:spPr>
          <a:xfrm>
            <a:off x="3024000" y="4436230"/>
            <a:ext cx="6307200" cy="307540"/>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ID連携／通知メッセージ／API／計測環境の構築と保守</a:t>
            </a:r>
          </a:p>
        </p:txBody>
      </p:sp>
      <p:sp>
        <p:nvSpPr>
          <p:cNvPr id="17" name="Rounded Rectangle 16"/>
          <p:cNvSpPr/>
          <p:nvPr/>
        </p:nvSpPr>
        <p:spPr>
          <a:xfrm>
            <a:off x="432000" y="5112000"/>
            <a:ext cx="9043200" cy="54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7999" y="5252467"/>
            <a:ext cx="8611200" cy="259065"/>
          </a:xfrm>
          <a:prstGeom prst="rect">
            <a:avLst/>
          </a:prstGeom>
          <a:noFill/>
        </p:spPr>
        <p:txBody>
          <a:bodyPr wrap="square" lIns="50400" tIns="21600" rIns="50400" bIns="21600" anchor="ctr">
            <a:spAutoFit/>
          </a:bodyPr>
          <a:lstStyle/>
          <a:p>
            <a:pPr algn="l"/>
            <a:r>
              <a:rPr sz="1400" b="1">
                <a:solidFill>
                  <a:srgbClr val="333333"/>
                </a:solidFill>
                <a:latin typeface="メイリオ"/>
                <a:ea typeface="メイリオ"/>
                <a:cs typeface="メイリオ"/>
              </a:rPr>
              <a:t>定例会は月1回。F2転換率・月次解約率・解約理由の分布を定点で見ます。</a:t>
            </a:r>
          </a:p>
        </p:txBody>
      </p:sp>
      <p:sp>
        <p:nvSpPr>
          <p:cNvPr id="19" name="TextBox 18"/>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意見｜法令チェックの体制は単品通販では省略できない。配信文面が薬機法上の広告に該当するため</a:t>
            </a:r>
          </a:p>
        </p:txBody>
      </p:sp>
    </p:spTree>
    <p:extLst>
      <p:ext uri="{BB962C8B-B14F-4D97-AF65-F5344CB8AC3E}">
        <p14:creationId xmlns:p14="http://schemas.microsoft.com/office/powerpoint/2010/main" val="14827790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4070-0F2B-474C-0AD3-89D288BF8607}"/>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締め①｜飛び道具｜解約ボタンを、LINEに置く</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法令を守りながらリテンションできる場所は、いまここしかない。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9043200" cy="1224000"/>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20000" y="1692000"/>
            <a:ext cx="8467200" cy="1080000"/>
          </a:xfrm>
          <a:prstGeom prst="rect">
            <a:avLst/>
          </a:prstGeom>
          <a:noFill/>
        </p:spPr>
        <p:txBody>
          <a:bodyPr wrap="square" lIns="50400" tIns="21600" rIns="50400" bIns="21600" anchor="ctr">
            <a:spAutoFit/>
          </a:bodyPr>
          <a:lstStyle/>
          <a:p>
            <a:pPr algn="l">
              <a:lnSpc>
                <a:spcPct val="125000"/>
              </a:lnSpc>
              <a:spcAft>
                <a:spcPts val="600"/>
              </a:spcAft>
            </a:pPr>
            <a:r>
              <a:rPr sz="2000" b="1">
                <a:solidFill>
                  <a:srgbClr val="FFFFFF"/>
                </a:solidFill>
                <a:latin typeface="メイリオ"/>
                <a:ea typeface="メイリオ"/>
                <a:cs typeface="メイリオ"/>
              </a:rPr>
              <a:t>「解約はこちら」を、リッチメニューの1軍に置く。</a:t>
            </a:r>
          </a:p>
          <a:p>
            <a:pPr algn="l">
              <a:lnSpc>
                <a:spcPct val="125000"/>
              </a:lnSpc>
            </a:pPr>
            <a:r>
              <a:rPr sz="1400">
                <a:solidFill>
                  <a:srgbClr val="FFFFFF"/>
                </a:solidFill>
                <a:latin typeface="メイリオ"/>
                <a:ea typeface="メイリオ"/>
                <a:cs typeface="メイリオ"/>
              </a:rPr>
              <a:t>隠さない。むしろ目立たせる。</a:t>
            </a:r>
          </a:p>
        </p:txBody>
      </p:sp>
      <p:sp>
        <p:nvSpPr>
          <p:cNvPr id="7" name="Rounded Rectangle 6"/>
          <p:cNvSpPr/>
          <p:nvPr/>
        </p:nvSpPr>
        <p:spPr>
          <a:xfrm>
            <a:off x="432000" y="2988000"/>
            <a:ext cx="9043200" cy="6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6000" y="3147278"/>
            <a:ext cx="2376000"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① 法令リスクが下がる</a:t>
            </a:r>
          </a:p>
        </p:txBody>
      </p:sp>
      <p:sp>
        <p:nvSpPr>
          <p:cNvPr id="9" name="TextBox 8"/>
          <p:cNvSpPr txBox="1"/>
          <p:nvPr/>
        </p:nvSpPr>
        <p:spPr>
          <a:xfrm>
            <a:off x="3096000" y="2998392"/>
            <a:ext cx="6235200" cy="587617"/>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解約導線を分かりにくくすること自体が、特商法上の指摘対象になり得る。目立たせるほど安全になる</a:t>
            </a:r>
          </a:p>
        </p:txBody>
      </p:sp>
      <p:sp>
        <p:nvSpPr>
          <p:cNvPr id="10" name="Rounded Rectangle 9"/>
          <p:cNvSpPr/>
          <p:nvPr/>
        </p:nvSpPr>
        <p:spPr>
          <a:xfrm>
            <a:off x="432000" y="3672000"/>
            <a:ext cx="9043200" cy="6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6000" y="3831278"/>
            <a:ext cx="2376000"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② 苦情が減る</a:t>
            </a:r>
          </a:p>
        </p:txBody>
      </p:sp>
      <p:sp>
        <p:nvSpPr>
          <p:cNvPr id="12" name="TextBox 11"/>
          <p:cNvSpPr txBox="1"/>
          <p:nvPr/>
        </p:nvSpPr>
        <p:spPr>
          <a:xfrm>
            <a:off x="3096000" y="3682392"/>
            <a:ext cx="6235200" cy="587617"/>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「電話がつながらない」が定期購入の苦情の中心。24時間受けられる窓口があれば、そもそも発生しない</a:t>
            </a:r>
          </a:p>
        </p:txBody>
      </p:sp>
      <p:sp>
        <p:nvSpPr>
          <p:cNvPr id="13" name="Rounded Rectangle 12"/>
          <p:cNvSpPr/>
          <p:nvPr/>
        </p:nvSpPr>
        <p:spPr>
          <a:xfrm>
            <a:off x="432000" y="4356000"/>
            <a:ext cx="9043200" cy="612000"/>
          </a:xfrm>
          <a:prstGeom prst="roundRect">
            <a:avLst>
              <a:gd name="adj" fmla="val 6000"/>
            </a:avLst>
          </a:prstGeom>
          <a:solidFill>
            <a:srgbClr val="FCE4D6"/>
          </a:solidFill>
          <a:ln w="1778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76000" y="4522973"/>
            <a:ext cx="2376000" cy="274454"/>
          </a:xfrm>
          <a:prstGeom prst="rect">
            <a:avLst/>
          </a:prstGeom>
          <a:noFill/>
        </p:spPr>
        <p:txBody>
          <a:bodyPr wrap="square" lIns="50400" tIns="21600" rIns="50400" bIns="21600" anchor="ctr">
            <a:spAutoFit/>
          </a:bodyPr>
          <a:lstStyle/>
          <a:p>
            <a:pPr algn="l"/>
            <a:r>
              <a:rPr sz="1500" b="1">
                <a:solidFill>
                  <a:srgbClr val="ED7D31"/>
                </a:solidFill>
                <a:latin typeface="メイリオ"/>
                <a:ea typeface="メイリオ"/>
                <a:cs typeface="メイリオ"/>
              </a:rPr>
              <a:t>③ ★リテンションできる</a:t>
            </a:r>
          </a:p>
        </p:txBody>
      </p:sp>
      <p:sp>
        <p:nvSpPr>
          <p:cNvPr id="15" name="TextBox 14"/>
          <p:cNvSpPr txBox="1"/>
          <p:nvPr/>
        </p:nvSpPr>
        <p:spPr>
          <a:xfrm>
            <a:off x="3096000" y="4366392"/>
            <a:ext cx="6235200" cy="587617"/>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解約したい人が必ずLINEに来る。＝ スキップ・周期変更・休止を提示できる場所に、自分から来てくれる</a:t>
            </a:r>
          </a:p>
        </p:txBody>
      </p:sp>
      <p:sp>
        <p:nvSpPr>
          <p:cNvPr id="16" name="Rounded Rectangle 15"/>
          <p:cNvSpPr/>
          <p:nvPr/>
        </p:nvSpPr>
        <p:spPr>
          <a:xfrm>
            <a:off x="432000" y="5040000"/>
            <a:ext cx="9043200" cy="6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6000" y="5199278"/>
            <a:ext cx="2376000" cy="289843"/>
          </a:xfrm>
          <a:prstGeom prst="rect">
            <a:avLst/>
          </a:prstGeom>
          <a:noFill/>
        </p:spPr>
        <p:txBody>
          <a:bodyPr wrap="square" lIns="50400" tIns="21600" rIns="50400" bIns="21600" anchor="ctr">
            <a:spAutoFit/>
          </a:bodyPr>
          <a:lstStyle/>
          <a:p>
            <a:pPr algn="l"/>
            <a:r>
              <a:rPr sz="1600" b="1">
                <a:solidFill>
                  <a:srgbClr val="1F285A"/>
                </a:solidFill>
                <a:latin typeface="メイリオ"/>
                <a:ea typeface="メイリオ"/>
                <a:cs typeface="メイリオ"/>
              </a:rPr>
              <a:t>④ 理由が溜まる</a:t>
            </a:r>
          </a:p>
        </p:txBody>
      </p:sp>
      <p:sp>
        <p:nvSpPr>
          <p:cNvPr id="18" name="TextBox 17"/>
          <p:cNvSpPr txBox="1"/>
          <p:nvPr/>
        </p:nvSpPr>
        <p:spPr>
          <a:xfrm>
            <a:off x="3096000" y="5190430"/>
            <a:ext cx="6235200" cy="307540"/>
          </a:xfrm>
          <a:prstGeom prst="rect">
            <a:avLst/>
          </a:prstGeom>
          <a:noFill/>
        </p:spPr>
        <p:txBody>
          <a:bodyPr wrap="square" lIns="50400" tIns="21600" rIns="50400" bIns="21600" anchor="ctr">
            <a:spAutoFit/>
          </a:bodyPr>
          <a:lstStyle/>
          <a:p>
            <a:pPr algn="l">
              <a:lnSpc>
                <a:spcPct val="130000"/>
              </a:lnSpc>
            </a:pPr>
            <a:r>
              <a:rPr sz="1400">
                <a:solidFill>
                  <a:srgbClr val="333333"/>
                </a:solidFill>
                <a:latin typeface="メイリオ"/>
                <a:ea typeface="メイリオ"/>
                <a:cs typeface="メイリオ"/>
              </a:rPr>
              <a:t>解約アンケートが自動で溜まる。商品開発・同梱物・配信の改善材料になる</a:t>
            </a:r>
          </a:p>
        </p:txBody>
      </p:sp>
      <p:sp>
        <p:nvSpPr>
          <p:cNvPr id="19" name="TextBox 18"/>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意見｜「解約を隠す」運用は、法令・苦情・改善のすべてで不利になる。本提案は解約を止めるものではない</a:t>
            </a:r>
          </a:p>
        </p:txBody>
      </p:sp>
    </p:spTree>
    <p:extLst>
      <p:ext uri="{BB962C8B-B14F-4D97-AF65-F5344CB8AC3E}">
        <p14:creationId xmlns:p14="http://schemas.microsoft.com/office/powerpoint/2010/main" val="9010635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33825-9171-A79A-31F7-FBB36FFE7BAB}"/>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締め②｜第2の提案軸｜通知メッセージで既存顧客を全部拾う</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友だちでなくても、電話番号で届く。＝ いま繋がっていない既存顧客に到達できる。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9043200" cy="108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20000" y="1816594"/>
            <a:ext cx="8467200" cy="686811"/>
          </a:xfrm>
          <a:prstGeom prst="rect">
            <a:avLst/>
          </a:prstGeom>
          <a:noFill/>
        </p:spPr>
        <p:txBody>
          <a:bodyPr wrap="square" lIns="50400" tIns="21600" rIns="50400" bIns="21600" anchor="ctr">
            <a:spAutoFit/>
          </a:bodyPr>
          <a:lstStyle/>
          <a:p>
            <a:pPr algn="l">
              <a:lnSpc>
                <a:spcPct val="128000"/>
              </a:lnSpc>
              <a:spcAft>
                <a:spcPts val="500"/>
              </a:spcAft>
            </a:pPr>
            <a:r>
              <a:rPr sz="1600" b="1">
                <a:solidFill>
                  <a:srgbClr val="FFFFFF"/>
                </a:solidFill>
                <a:latin typeface="メイリオ"/>
                <a:ea typeface="メイリオ"/>
                <a:cs typeface="メイリオ"/>
              </a:rPr>
              <a:t>既存顧客のうち、LINEの友だちになっているのは一部にすぎない。</a:t>
            </a:r>
          </a:p>
          <a:p>
            <a:pPr algn="l">
              <a:lnSpc>
                <a:spcPct val="130000"/>
              </a:lnSpc>
            </a:pPr>
            <a:r>
              <a:rPr sz="1400">
                <a:solidFill>
                  <a:srgbClr val="FFFFFF"/>
                </a:solidFill>
                <a:latin typeface="メイリオ"/>
                <a:ea typeface="メイリオ"/>
                <a:cs typeface="メイリオ"/>
              </a:rPr>
              <a:t>通知メッセージは電話番号をキーに配信できるため、友だち未追加の既存顧客にも届く。</a:t>
            </a:r>
          </a:p>
        </p:txBody>
      </p:sp>
      <p:sp>
        <p:nvSpPr>
          <p:cNvPr id="7" name="Rounded Rectangle 6"/>
          <p:cNvSpPr/>
          <p:nvPr/>
        </p:nvSpPr>
        <p:spPr>
          <a:xfrm>
            <a:off x="432000" y="2880000"/>
            <a:ext cx="4449600" cy="187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7999" y="2932611"/>
            <a:ext cx="4197600" cy="326776"/>
          </a:xfrm>
          <a:prstGeom prst="rect">
            <a:avLst/>
          </a:prstGeom>
          <a:noFill/>
        </p:spPr>
        <p:txBody>
          <a:bodyPr wrap="square" lIns="50400" tIns="21600" rIns="50400" bIns="21600" anchor="ctr">
            <a:spAutoFit/>
          </a:bodyPr>
          <a:lstStyle/>
          <a:p>
            <a:pPr algn="l">
              <a:lnSpc>
                <a:spcPct val="120000"/>
              </a:lnSpc>
            </a:pPr>
            <a:r>
              <a:rPr sz="1600" b="1">
                <a:solidFill>
                  <a:srgbClr val="1F285A"/>
                </a:solidFill>
                <a:latin typeface="メイリオ"/>
                <a:ea typeface="メイリオ"/>
                <a:cs typeface="メイリオ"/>
              </a:rPr>
              <a:t>いま到達できていない層に届く</a:t>
            </a:r>
          </a:p>
        </p:txBody>
      </p:sp>
      <p:sp>
        <p:nvSpPr>
          <p:cNvPr id="9" name="TextBox 8"/>
          <p:cNvSpPr txBox="1"/>
          <p:nvPr/>
        </p:nvSpPr>
        <p:spPr>
          <a:xfrm>
            <a:off x="557999" y="3311999"/>
            <a:ext cx="4197600" cy="307540"/>
          </a:xfrm>
          <a:prstGeom prst="rect">
            <a:avLst/>
          </a:prstGeom>
          <a:noFill/>
        </p:spPr>
        <p:txBody>
          <a:bodyPr wrap="square" lIns="50400" tIns="21600" rIns="50400" bIns="21600" anchor="t">
            <a:spAutoFit/>
          </a:bodyPr>
          <a:lstStyle/>
          <a:p>
            <a:pPr algn="l">
              <a:lnSpc>
                <a:spcPct val="130000"/>
              </a:lnSpc>
            </a:pPr>
            <a:r>
              <a:rPr sz="1400">
                <a:solidFill>
                  <a:srgbClr val="333333"/>
                </a:solidFill>
                <a:latin typeface="メイリオ"/>
                <a:ea typeface="メイリオ"/>
                <a:cs typeface="メイリオ"/>
              </a:rPr>
              <a:t>・購入したが友だち追加していない人</a:t>
            </a:r>
          </a:p>
        </p:txBody>
      </p:sp>
      <p:sp>
        <p:nvSpPr>
          <p:cNvPr id="10" name="TextBox 9"/>
          <p:cNvSpPr txBox="1"/>
          <p:nvPr/>
        </p:nvSpPr>
        <p:spPr>
          <a:xfrm>
            <a:off x="557999" y="3780000"/>
            <a:ext cx="4197600" cy="307540"/>
          </a:xfrm>
          <a:prstGeom prst="rect">
            <a:avLst/>
          </a:prstGeom>
          <a:noFill/>
        </p:spPr>
        <p:txBody>
          <a:bodyPr wrap="square" lIns="50400" tIns="21600" rIns="50400" bIns="21600" anchor="t">
            <a:spAutoFit/>
          </a:bodyPr>
          <a:lstStyle/>
          <a:p>
            <a:pPr algn="l">
              <a:lnSpc>
                <a:spcPct val="130000"/>
              </a:lnSpc>
            </a:pPr>
            <a:r>
              <a:rPr sz="1400">
                <a:solidFill>
                  <a:srgbClr val="333333"/>
                </a:solidFill>
                <a:latin typeface="メイリオ"/>
                <a:ea typeface="メイリオ"/>
                <a:cs typeface="メイリオ"/>
              </a:rPr>
              <a:t>・解約したが連絡先は残っている人</a:t>
            </a:r>
          </a:p>
        </p:txBody>
      </p:sp>
      <p:sp>
        <p:nvSpPr>
          <p:cNvPr id="11" name="TextBox 10"/>
          <p:cNvSpPr txBox="1"/>
          <p:nvPr/>
        </p:nvSpPr>
        <p:spPr>
          <a:xfrm>
            <a:off x="557999" y="4248000"/>
            <a:ext cx="4197600" cy="307540"/>
          </a:xfrm>
          <a:prstGeom prst="rect">
            <a:avLst/>
          </a:prstGeom>
          <a:noFill/>
        </p:spPr>
        <p:txBody>
          <a:bodyPr wrap="square" lIns="50400" tIns="21600" rIns="50400" bIns="21600" anchor="t">
            <a:spAutoFit/>
          </a:bodyPr>
          <a:lstStyle/>
          <a:p>
            <a:pPr algn="l">
              <a:lnSpc>
                <a:spcPct val="130000"/>
              </a:lnSpc>
            </a:pPr>
            <a:r>
              <a:rPr sz="1400">
                <a:solidFill>
                  <a:srgbClr val="333333"/>
                </a:solidFill>
                <a:latin typeface="メイリオ"/>
                <a:ea typeface="メイリオ"/>
                <a:cs typeface="メイリオ"/>
              </a:rPr>
              <a:t>・決済エラーで止まっている人</a:t>
            </a:r>
          </a:p>
        </p:txBody>
      </p:sp>
      <p:sp>
        <p:nvSpPr>
          <p:cNvPr id="12" name="Rounded Rectangle 11"/>
          <p:cNvSpPr/>
          <p:nvPr/>
        </p:nvSpPr>
        <p:spPr>
          <a:xfrm>
            <a:off x="5025600" y="2880000"/>
            <a:ext cx="4449600" cy="187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51600" y="2932611"/>
            <a:ext cx="4197600" cy="326776"/>
          </a:xfrm>
          <a:prstGeom prst="rect">
            <a:avLst/>
          </a:prstGeom>
          <a:noFill/>
        </p:spPr>
        <p:txBody>
          <a:bodyPr wrap="square" lIns="50400" tIns="21600" rIns="50400" bIns="21600" anchor="ctr">
            <a:spAutoFit/>
          </a:bodyPr>
          <a:lstStyle/>
          <a:p>
            <a:pPr algn="l">
              <a:lnSpc>
                <a:spcPct val="120000"/>
              </a:lnSpc>
            </a:pPr>
            <a:r>
              <a:rPr sz="1600" b="1">
                <a:solidFill>
                  <a:srgbClr val="1F285A"/>
                </a:solidFill>
                <a:latin typeface="メイリオ"/>
                <a:ea typeface="メイリオ"/>
                <a:cs typeface="メイリオ"/>
              </a:rPr>
              <a:t>そこから友だち化につなげる</a:t>
            </a:r>
          </a:p>
        </p:txBody>
      </p:sp>
      <p:sp>
        <p:nvSpPr>
          <p:cNvPr id="14" name="TextBox 13"/>
          <p:cNvSpPr txBox="1"/>
          <p:nvPr/>
        </p:nvSpPr>
        <p:spPr>
          <a:xfrm>
            <a:off x="5151600" y="3311999"/>
            <a:ext cx="4197600" cy="307540"/>
          </a:xfrm>
          <a:prstGeom prst="rect">
            <a:avLst/>
          </a:prstGeom>
          <a:noFill/>
        </p:spPr>
        <p:txBody>
          <a:bodyPr wrap="square" lIns="50400" tIns="21600" rIns="50400" bIns="21600" anchor="t">
            <a:spAutoFit/>
          </a:bodyPr>
          <a:lstStyle/>
          <a:p>
            <a:pPr algn="l">
              <a:lnSpc>
                <a:spcPct val="130000"/>
              </a:lnSpc>
            </a:pPr>
            <a:r>
              <a:rPr sz="1400">
                <a:solidFill>
                  <a:srgbClr val="333333"/>
                </a:solidFill>
                <a:latin typeface="メイリオ"/>
                <a:ea typeface="メイリオ"/>
                <a:cs typeface="メイリオ"/>
              </a:rPr>
              <a:t>・通知の中に友だち追加の導線を置く</a:t>
            </a:r>
          </a:p>
        </p:txBody>
      </p:sp>
      <p:sp>
        <p:nvSpPr>
          <p:cNvPr id="15" name="TextBox 14"/>
          <p:cNvSpPr txBox="1"/>
          <p:nvPr/>
        </p:nvSpPr>
        <p:spPr>
          <a:xfrm>
            <a:off x="5151600" y="3780000"/>
            <a:ext cx="4197600" cy="307540"/>
          </a:xfrm>
          <a:prstGeom prst="rect">
            <a:avLst/>
          </a:prstGeom>
          <a:noFill/>
        </p:spPr>
        <p:txBody>
          <a:bodyPr wrap="square" lIns="50400" tIns="21600" rIns="50400" bIns="21600" anchor="t">
            <a:spAutoFit/>
          </a:bodyPr>
          <a:lstStyle/>
          <a:p>
            <a:pPr algn="l">
              <a:lnSpc>
                <a:spcPct val="130000"/>
              </a:lnSpc>
            </a:pPr>
            <a:r>
              <a:rPr sz="1400">
                <a:solidFill>
                  <a:srgbClr val="333333"/>
                </a:solidFill>
                <a:latin typeface="メイリオ"/>
                <a:ea typeface="メイリオ"/>
                <a:cs typeface="メイリオ"/>
              </a:rPr>
              <a:t>・一度届けば、以降は通常配信で追える</a:t>
            </a:r>
          </a:p>
        </p:txBody>
      </p:sp>
      <p:sp>
        <p:nvSpPr>
          <p:cNvPr id="16" name="TextBox 15"/>
          <p:cNvSpPr txBox="1"/>
          <p:nvPr/>
        </p:nvSpPr>
        <p:spPr>
          <a:xfrm>
            <a:off x="5151600" y="4248000"/>
            <a:ext cx="4197600" cy="307540"/>
          </a:xfrm>
          <a:prstGeom prst="rect">
            <a:avLst/>
          </a:prstGeom>
          <a:noFill/>
        </p:spPr>
        <p:txBody>
          <a:bodyPr wrap="square" lIns="50400" tIns="21600" rIns="50400" bIns="21600" anchor="t">
            <a:spAutoFit/>
          </a:bodyPr>
          <a:lstStyle/>
          <a:p>
            <a:pPr algn="l">
              <a:lnSpc>
                <a:spcPct val="130000"/>
              </a:lnSpc>
            </a:pPr>
            <a:r>
              <a:rPr sz="1400">
                <a:solidFill>
                  <a:srgbClr val="333333"/>
                </a:solidFill>
                <a:latin typeface="メイリオ"/>
                <a:ea typeface="メイリオ"/>
                <a:cs typeface="メイリオ"/>
              </a:rPr>
              <a:t>・同梱物QRと合わせて到達率を底上げする</a:t>
            </a:r>
          </a:p>
        </p:txBody>
      </p:sp>
      <p:sp>
        <p:nvSpPr>
          <p:cNvPr id="17" name="Rounded Rectangle 16"/>
          <p:cNvSpPr/>
          <p:nvPr/>
        </p:nvSpPr>
        <p:spPr>
          <a:xfrm>
            <a:off x="432000" y="4896000"/>
            <a:ext cx="9043200" cy="756000"/>
          </a:xfrm>
          <a:prstGeom prst="roundRect">
            <a:avLst>
              <a:gd name="adj" fmla="val 6000"/>
            </a:avLst>
          </a:prstGeom>
          <a:solidFill>
            <a:srgbClr val="FCE4D6"/>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7999" y="5120230"/>
            <a:ext cx="8611200" cy="307540"/>
          </a:xfrm>
          <a:prstGeom prst="rect">
            <a:avLst/>
          </a:prstGeom>
          <a:noFill/>
        </p:spPr>
        <p:txBody>
          <a:bodyPr wrap="square" lIns="50400" tIns="21600" rIns="50400" bIns="21600" anchor="ctr">
            <a:spAutoFit/>
          </a:bodyPr>
          <a:lstStyle/>
          <a:p>
            <a:pPr algn="l">
              <a:lnSpc>
                <a:spcPct val="130000"/>
              </a:lnSpc>
            </a:pPr>
            <a:r>
              <a:rPr sz="1400" b="1">
                <a:solidFill>
                  <a:srgbClr val="ED7D31"/>
                </a:solidFill>
                <a:latin typeface="メイリオ"/>
                <a:ea typeface="メイリオ"/>
                <a:cs typeface="メイリオ"/>
              </a:rPr>
              <a:t>本提案（P39〜P49）のID連携基盤の上に、そのまま乗せられます。</a:t>
            </a:r>
          </a:p>
        </p:txBody>
      </p:sp>
      <p:sp>
        <p:nvSpPr>
          <p:cNvPr id="19" name="TextBox 18"/>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業界水準｜通知メッセージの利用には所定の申請と要件確認が必要。配信できる内容にも制限がある</a:t>
            </a:r>
          </a:p>
        </p:txBody>
      </p:sp>
    </p:spTree>
    <p:extLst>
      <p:ext uri="{BB962C8B-B14F-4D97-AF65-F5344CB8AC3E}">
        <p14:creationId xmlns:p14="http://schemas.microsoft.com/office/powerpoint/2010/main" val="21853059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AE1A8-B06F-74B4-1E2A-7416EDA4E827}"/>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tIns="21600" rIns="0" bIns="21600" anchor="ctr">
            <a:spAutoFit/>
          </a:bodyPr>
          <a:lstStyle/>
          <a:p>
            <a:pPr algn="l"/>
            <a:r>
              <a:rPr sz="1600" b="1">
                <a:solidFill>
                  <a:srgbClr val="002060"/>
                </a:solidFill>
                <a:latin typeface="メイリオ"/>
                <a:ea typeface="メイリオ"/>
                <a:cs typeface="メイリオ"/>
              </a:rPr>
              <a:t>締め③｜LINEOA実績</a:t>
            </a:r>
          </a:p>
        </p:txBody>
      </p:sp>
      <p:sp>
        <p:nvSpPr>
          <p:cNvPr id="3" name="TextBox 2"/>
          <p:cNvSpPr txBox="1"/>
          <p:nvPr/>
        </p:nvSpPr>
        <p:spPr>
          <a:xfrm>
            <a:off x="432000" y="837833"/>
            <a:ext cx="9036000" cy="304334"/>
          </a:xfrm>
          <a:prstGeom prst="rect">
            <a:avLst/>
          </a:prstGeom>
          <a:noFill/>
        </p:spPr>
        <p:txBody>
          <a:bodyPr wrap="square" lIns="0" tIns="21600" rIns="0" bIns="21600" anchor="ctr">
            <a:spAutoFit/>
          </a:bodyPr>
          <a:lstStyle/>
          <a:p>
            <a:pPr algn="l">
              <a:lnSpc>
                <a:spcPct val="128000"/>
              </a:lnSpc>
            </a:pPr>
            <a:r>
              <a:rPr sz="1400">
                <a:solidFill>
                  <a:srgbClr val="333333"/>
                </a:solidFill>
                <a:latin typeface="メイリオ"/>
                <a:ea typeface="メイリオ"/>
                <a:cs typeface="メイリオ"/>
              </a:rPr>
              <a:t>LINEヤフー公式データと、D2C・単品通販の導入事例を並べる。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4449600"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0000" y="1652468"/>
            <a:ext cx="4233600"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LINE国内MAU</a:t>
            </a:r>
          </a:p>
        </p:txBody>
      </p:sp>
      <p:sp>
        <p:nvSpPr>
          <p:cNvPr id="7" name="TextBox 6"/>
          <p:cNvSpPr txBox="1"/>
          <p:nvPr/>
        </p:nvSpPr>
        <p:spPr>
          <a:xfrm>
            <a:off x="540000" y="1890000"/>
            <a:ext cx="4233600" cy="360000"/>
          </a:xfrm>
          <a:prstGeom prst="rect">
            <a:avLst/>
          </a:prstGeom>
          <a:noFill/>
        </p:spPr>
        <p:txBody>
          <a:bodyPr wrap="square" lIns="50400" tIns="21600" rIns="50400" bIns="21600" anchor="ctr">
            <a:spAutoFit/>
          </a:bodyPr>
          <a:lstStyle/>
          <a:p>
            <a:pPr algn="l"/>
            <a:r>
              <a:rPr sz="2400" b="1">
                <a:solidFill>
                  <a:srgbClr val="ED7D31"/>
                </a:solidFill>
                <a:latin typeface="メイリオ"/>
                <a:ea typeface="メイリオ"/>
                <a:cs typeface="メイリオ"/>
              </a:rPr>
              <a:t>1億人突破</a:t>
            </a:r>
          </a:p>
        </p:txBody>
      </p:sp>
      <p:sp>
        <p:nvSpPr>
          <p:cNvPr id="8" name="TextBox 7"/>
          <p:cNvSpPr txBox="1"/>
          <p:nvPr/>
        </p:nvSpPr>
        <p:spPr>
          <a:xfrm>
            <a:off x="540000" y="2275308"/>
            <a:ext cx="4233600" cy="291382"/>
          </a:xfrm>
          <a:prstGeom prst="rect">
            <a:avLst/>
          </a:prstGeom>
          <a:noFill/>
        </p:spPr>
        <p:txBody>
          <a:bodyPr wrap="square" lIns="50400" tIns="21600" rIns="50400" bIns="21600" anchor="ctr">
            <a:spAutoFit/>
          </a:bodyPr>
          <a:lstStyle/>
          <a:p>
            <a:pPr algn="l">
              <a:lnSpc>
                <a:spcPct val="115000"/>
              </a:lnSpc>
            </a:pPr>
            <a:r>
              <a:rPr sz="1400">
                <a:solidFill>
                  <a:srgbClr val="7F7F7F"/>
                </a:solidFill>
                <a:latin typeface="メイリオ"/>
                <a:ea typeface="メイリオ"/>
                <a:cs typeface="メイリオ"/>
              </a:rPr>
              <a:t>2025年12月末時点</a:t>
            </a:r>
          </a:p>
        </p:txBody>
      </p:sp>
      <p:sp>
        <p:nvSpPr>
          <p:cNvPr id="9" name="Rounded Rectangle 8"/>
          <p:cNvSpPr/>
          <p:nvPr/>
        </p:nvSpPr>
        <p:spPr>
          <a:xfrm>
            <a:off x="5025600" y="1620000"/>
            <a:ext cx="4449600"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133600" y="1652468"/>
            <a:ext cx="4233600" cy="259065"/>
          </a:xfrm>
          <a:prstGeom prst="rect">
            <a:avLst/>
          </a:prstGeom>
          <a:noFill/>
        </p:spPr>
        <p:txBody>
          <a:bodyPr wrap="square" lIns="50400" tIns="21600" rIns="50400" bIns="21600" anchor="ctr">
            <a:spAutoFit/>
          </a:bodyPr>
          <a:lstStyle/>
          <a:p>
            <a:pPr algn="l"/>
            <a:r>
              <a:rPr sz="1400" b="1">
                <a:solidFill>
                  <a:srgbClr val="1F285A"/>
                </a:solidFill>
                <a:latin typeface="メイリオ"/>
                <a:ea typeface="メイリオ"/>
                <a:cs typeface="メイリオ"/>
              </a:rPr>
              <a:t>メッセージ開封率（当日中）</a:t>
            </a:r>
          </a:p>
        </p:txBody>
      </p:sp>
      <p:sp>
        <p:nvSpPr>
          <p:cNvPr id="11" name="TextBox 10"/>
          <p:cNvSpPr txBox="1"/>
          <p:nvPr/>
        </p:nvSpPr>
        <p:spPr>
          <a:xfrm>
            <a:off x="5133600" y="1890000"/>
            <a:ext cx="4233600" cy="360000"/>
          </a:xfrm>
          <a:prstGeom prst="rect">
            <a:avLst/>
          </a:prstGeom>
          <a:noFill/>
        </p:spPr>
        <p:txBody>
          <a:bodyPr wrap="square" lIns="50400" tIns="21600" rIns="50400" bIns="21600" anchor="ctr">
            <a:spAutoFit/>
          </a:bodyPr>
          <a:lstStyle/>
          <a:p>
            <a:pPr algn="l"/>
            <a:r>
              <a:rPr sz="2400" b="1">
                <a:solidFill>
                  <a:srgbClr val="ED7D31"/>
                </a:solidFill>
                <a:latin typeface="メイリオ"/>
                <a:ea typeface="メイリオ"/>
                <a:cs typeface="メイリオ"/>
              </a:rPr>
              <a:t>約8割</a:t>
            </a:r>
          </a:p>
        </p:txBody>
      </p:sp>
      <p:sp>
        <p:nvSpPr>
          <p:cNvPr id="12" name="TextBox 11"/>
          <p:cNvSpPr txBox="1"/>
          <p:nvPr/>
        </p:nvSpPr>
        <p:spPr>
          <a:xfrm>
            <a:off x="5133600" y="2275308"/>
            <a:ext cx="4233600" cy="291382"/>
          </a:xfrm>
          <a:prstGeom prst="rect">
            <a:avLst/>
          </a:prstGeom>
          <a:noFill/>
        </p:spPr>
        <p:txBody>
          <a:bodyPr wrap="square" lIns="50400" tIns="21600" rIns="50400" bIns="21600" anchor="ctr">
            <a:spAutoFit/>
          </a:bodyPr>
          <a:lstStyle/>
          <a:p>
            <a:pPr algn="l">
              <a:lnSpc>
                <a:spcPct val="115000"/>
              </a:lnSpc>
            </a:pPr>
            <a:r>
              <a:rPr sz="1400">
                <a:solidFill>
                  <a:srgbClr val="7F7F7F"/>
                </a:solidFill>
                <a:latin typeface="メイリオ"/>
                <a:ea typeface="メイリオ"/>
                <a:cs typeface="メイリオ"/>
              </a:rPr>
              <a:t>受信直後 約2割／3〜6時間で約5割</a:t>
            </a:r>
          </a:p>
        </p:txBody>
      </p:sp>
      <p:sp>
        <p:nvSpPr>
          <p:cNvPr id="13" name="Rounded Rectangle 12"/>
          <p:cNvSpPr/>
          <p:nvPr/>
        </p:nvSpPr>
        <p:spPr>
          <a:xfrm>
            <a:off x="432000" y="2700000"/>
            <a:ext cx="9043200" cy="1584000"/>
          </a:xfrm>
          <a:prstGeom prst="roundRect">
            <a:avLst>
              <a:gd name="adj" fmla="val 6000"/>
            </a:avLst>
          </a:prstGeom>
          <a:solidFill>
            <a:srgbClr val="FFFFFF"/>
          </a:solidFill>
          <a:ln w="1587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wrap="square" lIns="108000" tIns="36000" rIns="108000" bIns="36000" rtlCol="0" anchor="ctr"/>
          <a:lstStyle/>
          <a:p>
            <a:pPr algn="ctr">
              <a:spcAft>
                <a:spcPts val="400"/>
              </a:spcAft>
            </a:pPr>
            <a:r>
              <a:rPr sz="1300" b="1">
                <a:solidFill>
                  <a:srgbClr val="7F7F7F"/>
                </a:solidFill>
                <a:latin typeface="メイリオ"/>
                <a:ea typeface="メイリオ"/>
                <a:cs typeface="メイリオ"/>
              </a:rPr>
              <a:t>★差込枠｜LINEヤフー公式 D2C・単品通販の導入事例（未取得）</a:t>
            </a:r>
          </a:p>
          <a:p>
            <a:pPr algn="ctr">
              <a:lnSpc>
                <a:spcPct val="125000"/>
              </a:lnSpc>
            </a:pPr>
            <a:r>
              <a:rPr sz="1300">
                <a:solidFill>
                  <a:srgbClr val="7F7F7F"/>
                </a:solidFill>
                <a:latin typeface="メイリオ"/>
                <a:ea typeface="メイリオ"/>
                <a:cs typeface="メイリオ"/>
              </a:rPr>
              <a:t>取得先：lycbiz.com（LINE公式アカウントの導入事例）
掲載前に各事例ページの原典で数値を再確認すること。公式事例が存在しない場合は「該当なし」と正直に報告する</a:t>
            </a:r>
          </a:p>
        </p:txBody>
      </p:sp>
      <p:sp>
        <p:nvSpPr>
          <p:cNvPr id="14" name="Rounded Rectangle 13"/>
          <p:cNvSpPr/>
          <p:nvPr/>
        </p:nvSpPr>
        <p:spPr>
          <a:xfrm>
            <a:off x="432000" y="4463999"/>
            <a:ext cx="9043200" cy="1188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7999" y="4630822"/>
            <a:ext cx="8611200" cy="854357"/>
          </a:xfrm>
          <a:prstGeom prst="rect">
            <a:avLst/>
          </a:prstGeom>
          <a:noFill/>
        </p:spPr>
        <p:txBody>
          <a:bodyPr wrap="square" lIns="50400" tIns="21600" rIns="50400" bIns="21600" anchor="ctr">
            <a:spAutoFit/>
          </a:bodyPr>
          <a:lstStyle/>
          <a:p>
            <a:pPr algn="l">
              <a:spcAft>
                <a:spcPts val="400"/>
              </a:spcAft>
            </a:pPr>
            <a:r>
              <a:rPr sz="1400" b="1">
                <a:solidFill>
                  <a:srgbClr val="333333"/>
                </a:solidFill>
                <a:latin typeface="メイリオ"/>
                <a:ea typeface="メイリオ"/>
                <a:cs typeface="メイリオ"/>
              </a:rPr>
              <a:t>数値の出所について</a:t>
            </a:r>
          </a:p>
          <a:p>
            <a:pPr algn="l">
              <a:lnSpc>
                <a:spcPct val="130000"/>
              </a:lnSpc>
            </a:pPr>
            <a:r>
              <a:rPr sz="1400">
                <a:solidFill>
                  <a:srgbClr val="333333"/>
                </a:solidFill>
                <a:latin typeface="メイリオ"/>
                <a:ea typeface="メイリオ"/>
                <a:cs typeface="メイリオ"/>
              </a:rPr>
              <a:t>本資料では、LINEヤフー公式値と業界水準を明確に分けて記載しています。「開封率はメルマガの◯倍」といった倍率表現は公式値ではないため使用していません。</a:t>
            </a:r>
          </a:p>
        </p:txBody>
      </p:sp>
      <p:sp>
        <p:nvSpPr>
          <p:cNvPr id="16" name="TextBox 15"/>
          <p:cNvSpPr txBox="1"/>
          <p:nvPr/>
        </p:nvSpPr>
        <p:spPr>
          <a:xfrm>
            <a:off x="432000" y="6246000"/>
            <a:ext cx="9043200" cy="324000"/>
          </a:xfrm>
          <a:prstGeom prst="rect">
            <a:avLst/>
          </a:prstGeom>
          <a:noFill/>
        </p:spPr>
        <p:txBody>
          <a:bodyPr wrap="square" lIns="0" tIns="21600" rIns="0" bIns="21600" anchor="t">
            <a:spAutoFit/>
          </a:bodyPr>
          <a:lstStyle/>
          <a:p>
            <a:pPr algn="l">
              <a:lnSpc>
                <a:spcPct val="115000"/>
              </a:lnSpc>
            </a:pPr>
            <a:r>
              <a:rPr sz="750">
                <a:solidFill>
                  <a:srgbClr val="7F7F7F"/>
                </a:solidFill>
                <a:latin typeface="メイリオ"/>
                <a:ea typeface="メイリオ"/>
                <a:cs typeface="メイリオ"/>
              </a:rPr>
              <a:t>LY公式｜LINE国内MAU・開封率はLINEヤフー公式値。★導入事例は未取得</a:t>
            </a:r>
          </a:p>
        </p:txBody>
      </p:sp>
    </p:spTree>
    <p:extLst>
      <p:ext uri="{BB962C8B-B14F-4D97-AF65-F5344CB8AC3E}">
        <p14:creationId xmlns:p14="http://schemas.microsoft.com/office/powerpoint/2010/main" val="1932664488"/>
      </p:ext>
    </p:extLst>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E0553DA5-5DE0-BD33-70D4-FC02F33113D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6" name="図 5">
            <a:extLst>
              <a:ext uri="{FF2B5EF4-FFF2-40B4-BE49-F238E27FC236}">
                <a16:creationId xmlns:a16="http://schemas.microsoft.com/office/drawing/2014/main" id="{CFA9FEA4-17EA-590D-125E-FAC8C6AD3583}"/>
              </a:ext>
            </a:extLst>
          </p:cNvPr>
          <p:cNvPicPr>
            <a:picLocks noChangeAspect="1"/>
          </p:cNvPicPr>
          <p:nvPr/>
        </p:nvPicPr>
        <p:blipFill>
          <a:blip r:embed="rId2"/>
          <a:srcRect b="947"/>
          <a:stretch>
            <a:fillRect/>
          </a:stretch>
        </p:blipFill>
        <p:spPr>
          <a:xfrm>
            <a:off x="10340" y="821330"/>
            <a:ext cx="9885321" cy="5476601"/>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7594930"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市況変化の中で、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公式アカウントを導入・最適化すべき</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つの理由</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実例紹介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弊社実績について</a:t>
            </a:r>
          </a:p>
        </p:txBody>
      </p:sp>
      <p:graphicFrame>
        <p:nvGraphicFramePr>
          <p:cNvPr id="3" name="表 2">
            <a:extLst>
              <a:ext uri="{FF2B5EF4-FFF2-40B4-BE49-F238E27FC236}">
                <a16:creationId xmlns:a16="http://schemas.microsoft.com/office/drawing/2014/main" id="{9A6B81D2-7F85-D98D-ED15-FD61A8068EF9}"/>
              </a:ext>
            </a:extLst>
          </p:cNvPr>
          <p:cNvGraphicFramePr>
            <a:graphicFrameLocks noGrp="1"/>
          </p:cNvGraphicFramePr>
          <p:nvPr/>
        </p:nvGraphicFramePr>
        <p:xfrm>
          <a:off x="381000" y="809625"/>
          <a:ext cx="9191625" cy="5485142"/>
        </p:xfrm>
        <a:graphic>
          <a:graphicData uri="http://schemas.openxmlformats.org/drawingml/2006/table">
            <a:tbl>
              <a:tblPr/>
              <a:tblGrid>
                <a:gridCol w="1819275">
                  <a:extLst>
                    <a:ext uri="{9D8B030D-6E8A-4147-A177-3AD203B41FA5}">
                      <a16:colId xmlns:a16="http://schemas.microsoft.com/office/drawing/2014/main" val="1856077232"/>
                    </a:ext>
                  </a:extLst>
                </a:gridCol>
                <a:gridCol w="828675">
                  <a:extLst>
                    <a:ext uri="{9D8B030D-6E8A-4147-A177-3AD203B41FA5}">
                      <a16:colId xmlns:a16="http://schemas.microsoft.com/office/drawing/2014/main" val="2505763101"/>
                    </a:ext>
                  </a:extLst>
                </a:gridCol>
                <a:gridCol w="2856379">
                  <a:extLst>
                    <a:ext uri="{9D8B030D-6E8A-4147-A177-3AD203B41FA5}">
                      <a16:colId xmlns:a16="http://schemas.microsoft.com/office/drawing/2014/main" val="415261329"/>
                    </a:ext>
                  </a:extLst>
                </a:gridCol>
                <a:gridCol w="3687296">
                  <a:extLst>
                    <a:ext uri="{9D8B030D-6E8A-4147-A177-3AD203B41FA5}">
                      <a16:colId xmlns:a16="http://schemas.microsoft.com/office/drawing/2014/main" val="2991975434"/>
                    </a:ext>
                  </a:extLst>
                </a:gridCol>
              </a:tblGrid>
              <a:tr h="371475">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業界</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運用期間</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施策インパクト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施策内容</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extLst>
                  <a:ext uri="{0D108BD9-81ED-4DB2-BD59-A6C34878D82A}">
                    <a16:rowId xmlns:a16="http://schemas.microsoft.com/office/drawing/2014/main" val="369463423"/>
                  </a:ext>
                </a:extLst>
              </a:tr>
              <a:tr h="1028103">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人材</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（資格職・専門職転職）</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■月間求人応募数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4</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br>
                        <a:rPr lang="en-US" altLang="ja-JP" sz="18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30</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¥145,000 → ¥102,000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ユーザーセグメントの取得</a:t>
                      </a:r>
                      <a:b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400" b="1" i="0" u="sng" strike="noStrike" dirty="0">
                          <a:solidFill>
                            <a:srgbClr val="C00000"/>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・セグメント配信による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パーソナライズされた追客</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4378025"/>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不動産</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（住宅メーカー）</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10</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■月間来場・資料請求件数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による友だち増加促進</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ペルソナに合わせた動線・クリエイティブ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の設計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9117311"/>
                  </a:ext>
                </a:extLst>
              </a:tr>
              <a:tr h="1021391">
                <a:tc>
                  <a:txBody>
                    <a:bodyPr/>
                    <a:lstStyle/>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a:t>
                      </a: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総合</a:t>
                      </a: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離脱防止バナーと</a:t>
                      </a:r>
                      <a: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t>CPF</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を活用した友だち増加</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・アンケートを実施し、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カゴ落ちユーザーを中心に</a:t>
                      </a:r>
                      <a:b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1200" b="0" i="0" u="none" strike="noStrike" dirty="0">
                          <a:solidFill>
                            <a:srgbClr val="C00000"/>
                          </a:solidFill>
                          <a:effectLst/>
                          <a:latin typeface="メイリオ" panose="020B0604030504040204" pitchFamily="50" charset="-128"/>
                          <a:ea typeface="メイリオ" panose="020B0604030504040204" pitchFamily="50" charset="-128"/>
                        </a:rPr>
                        <a:t>　</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期間限定商品・高単価商品の情報を配信</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30092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（美肌治療）</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a:solidFill>
                            <a:schemeClr val="tx1">
                              <a:lumMod val="65000"/>
                              <a:lumOff val="35000"/>
                            </a:schemeClr>
                          </a:solidFill>
                          <a:effectLst/>
                          <a:latin typeface="メイリオ" panose="020B0604030504040204" pitchFamily="50" charset="-128"/>
                          <a:ea typeface="メイリオ" panose="020B0604030504040204" pitchFamily="50" charset="-128"/>
                        </a:rPr>
                        <a:t>年</a:t>
                      </a:r>
                      <a:endPar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63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¥32,000 → ¥12,000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個別メッセージを利用したユーザー個々への追客</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51158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（痩身）</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45</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件</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万円台</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 → ¥10,700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・アンケート動線を設定し、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悩み別のシナリオを用意</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7929865"/>
                  </a:ext>
                </a:extLst>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 name="正方形/長方形 57">
            <a:extLst>
              <a:ext uri="{FF2B5EF4-FFF2-40B4-BE49-F238E27FC236}">
                <a16:creationId xmlns:a16="http://schemas.microsoft.com/office/drawing/2014/main" id="{AEDFC864-0FC1-906B-B68E-650BA4B41D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F535991-533F-EFBE-4AEE-48F51BFAA70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6CD0D3C-91C0-AC26-EA06-0D9436780C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ユーザーファネルの考え方</a:t>
            </a:r>
            <a:endParaRPr lang="ja-JP" altLang="en-US" sz="1100" dirty="0"/>
          </a:p>
        </p:txBody>
      </p:sp>
      <p:sp>
        <p:nvSpPr>
          <p:cNvPr id="7" name="テキスト ボックス 6">
            <a:extLst>
              <a:ext uri="{FF2B5EF4-FFF2-40B4-BE49-F238E27FC236}">
                <a16:creationId xmlns:a16="http://schemas.microsoft.com/office/drawing/2014/main" id="{E2E43B61-D3D6-CF9F-215E-9E9F057C93FC}"/>
              </a:ext>
            </a:extLst>
          </p:cNvPr>
          <p:cNvSpPr txBox="1"/>
          <p:nvPr/>
        </p:nvSpPr>
        <p:spPr>
          <a:xfrm>
            <a:off x="96788" y="1202790"/>
            <a:ext cx="9687414" cy="307777"/>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集客・友だち追加</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から </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育成・反響</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までの全体動線設計</a:t>
            </a:r>
            <a:endParaRPr lang="ja-JP" altLang="en-US" sz="1000" dirty="0"/>
          </a:p>
        </p:txBody>
      </p:sp>
      <p:sp>
        <p:nvSpPr>
          <p:cNvPr id="9" name="テキスト ボックス 8">
            <a:extLst>
              <a:ext uri="{FF2B5EF4-FFF2-40B4-BE49-F238E27FC236}">
                <a16:creationId xmlns:a16="http://schemas.microsoft.com/office/drawing/2014/main" id="{68CB1203-9B68-6A7A-DAA2-3E7F946368F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cxnSp>
        <p:nvCxnSpPr>
          <p:cNvPr id="48" name="直線コネクタ 47">
            <a:extLst>
              <a:ext uri="{FF2B5EF4-FFF2-40B4-BE49-F238E27FC236}">
                <a16:creationId xmlns:a16="http://schemas.microsoft.com/office/drawing/2014/main" id="{8D0721AE-E7E5-698E-E773-F2614C0DBB07}"/>
              </a:ext>
            </a:extLst>
          </p:cNvPr>
          <p:cNvCxnSpPr>
            <a:cxnSpLocks/>
          </p:cNvCxnSpPr>
          <p:nvPr/>
        </p:nvCxnSpPr>
        <p:spPr>
          <a:xfrm>
            <a:off x="240222" y="1892621"/>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FFC88E-A589-D631-D366-94F280EFF67D}"/>
              </a:ext>
            </a:extLst>
          </p:cNvPr>
          <p:cNvCxnSpPr>
            <a:cxnSpLocks/>
          </p:cNvCxnSpPr>
          <p:nvPr/>
        </p:nvCxnSpPr>
        <p:spPr>
          <a:xfrm>
            <a:off x="1600733"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90E23BB-3076-5B7D-82F3-8433A2B09D1F}"/>
              </a:ext>
            </a:extLst>
          </p:cNvPr>
          <p:cNvCxnSpPr>
            <a:cxnSpLocks/>
          </p:cNvCxnSpPr>
          <p:nvPr/>
        </p:nvCxnSpPr>
        <p:spPr>
          <a:xfrm>
            <a:off x="2773855"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558815C-4A36-8DFA-3258-ADAC642B44B6}"/>
              </a:ext>
            </a:extLst>
          </p:cNvPr>
          <p:cNvCxnSpPr>
            <a:cxnSpLocks/>
          </p:cNvCxnSpPr>
          <p:nvPr/>
        </p:nvCxnSpPr>
        <p:spPr>
          <a:xfrm>
            <a:off x="3936993" y="1892621"/>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B24DBF0-6A3A-0783-C6E3-74B28D837D9E}"/>
              </a:ext>
            </a:extLst>
          </p:cNvPr>
          <p:cNvCxnSpPr>
            <a:cxnSpLocks/>
          </p:cNvCxnSpPr>
          <p:nvPr/>
        </p:nvCxnSpPr>
        <p:spPr>
          <a:xfrm>
            <a:off x="5079515" y="194096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D9F92929-7F37-647E-2D3E-0EB84FFB20D1}"/>
              </a:ext>
            </a:extLst>
          </p:cNvPr>
          <p:cNvCxnSpPr>
            <a:cxnSpLocks/>
          </p:cNvCxnSpPr>
          <p:nvPr/>
        </p:nvCxnSpPr>
        <p:spPr>
          <a:xfrm>
            <a:off x="6233170" y="191158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53FD7B1-4120-4E04-0DDF-B4B54EDB9BFD}"/>
              </a:ext>
            </a:extLst>
          </p:cNvPr>
          <p:cNvCxnSpPr>
            <a:cxnSpLocks/>
          </p:cNvCxnSpPr>
          <p:nvPr/>
        </p:nvCxnSpPr>
        <p:spPr>
          <a:xfrm>
            <a:off x="7398333" y="190184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65A72C8-45FF-A070-3E5F-46A3A7352507}"/>
              </a:ext>
            </a:extLst>
          </p:cNvPr>
          <p:cNvCxnSpPr>
            <a:cxnSpLocks/>
          </p:cNvCxnSpPr>
          <p:nvPr/>
        </p:nvCxnSpPr>
        <p:spPr>
          <a:xfrm>
            <a:off x="9719357" y="2048213"/>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490BDABD-2035-40BF-A521-7BBCDAFC6FFE}"/>
              </a:ext>
            </a:extLst>
          </p:cNvPr>
          <p:cNvCxnSpPr>
            <a:cxnSpLocks/>
          </p:cNvCxnSpPr>
          <p:nvPr/>
        </p:nvCxnSpPr>
        <p:spPr>
          <a:xfrm>
            <a:off x="8549009" y="2036711"/>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pic>
        <p:nvPicPr>
          <p:cNvPr id="345" name="図 344">
            <a:extLst>
              <a:ext uri="{FF2B5EF4-FFF2-40B4-BE49-F238E27FC236}">
                <a16:creationId xmlns:a16="http://schemas.microsoft.com/office/drawing/2014/main" id="{89F7A10B-75A8-6EC6-A69F-413DDACCFE56}"/>
              </a:ext>
            </a:extLst>
          </p:cNvPr>
          <p:cNvPicPr>
            <a:picLocks noChangeAspect="1"/>
          </p:cNvPicPr>
          <p:nvPr/>
        </p:nvPicPr>
        <p:blipFill>
          <a:blip r:embed="rId2"/>
          <a:stretch>
            <a:fillRect/>
          </a:stretch>
        </p:blipFill>
        <p:spPr>
          <a:xfrm>
            <a:off x="117307" y="1707348"/>
            <a:ext cx="9666895" cy="952587"/>
          </a:xfrm>
          <a:prstGeom prst="rect">
            <a:avLst/>
          </a:prstGeom>
        </p:spPr>
      </p:pic>
      <p:sp>
        <p:nvSpPr>
          <p:cNvPr id="348" name="Pentagon 10">
            <a:extLst>
              <a:ext uri="{FF2B5EF4-FFF2-40B4-BE49-F238E27FC236}">
                <a16:creationId xmlns:a16="http://schemas.microsoft.com/office/drawing/2014/main" id="{D60CF545-0B19-2223-E0F6-EE6FBF96A846}"/>
              </a:ext>
            </a:extLst>
          </p:cNvPr>
          <p:cNvSpPr/>
          <p:nvPr/>
        </p:nvSpPr>
        <p:spPr>
          <a:xfrm>
            <a:off x="240491" y="1840092"/>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349" name="Chevron 11">
            <a:extLst>
              <a:ext uri="{FF2B5EF4-FFF2-40B4-BE49-F238E27FC236}">
                <a16:creationId xmlns:a16="http://schemas.microsoft.com/office/drawing/2014/main" id="{6D6E4BCF-267F-981F-EDFF-6E6633C27F06}"/>
              </a:ext>
            </a:extLst>
          </p:cNvPr>
          <p:cNvSpPr/>
          <p:nvPr/>
        </p:nvSpPr>
        <p:spPr>
          <a:xfrm>
            <a:off x="127714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0" name="Chevron 12">
            <a:extLst>
              <a:ext uri="{FF2B5EF4-FFF2-40B4-BE49-F238E27FC236}">
                <a16:creationId xmlns:a16="http://schemas.microsoft.com/office/drawing/2014/main" id="{EC978F15-CE92-BED7-7057-8873621D3985}"/>
              </a:ext>
            </a:extLst>
          </p:cNvPr>
          <p:cNvSpPr/>
          <p:nvPr/>
        </p:nvSpPr>
        <p:spPr>
          <a:xfrm>
            <a:off x="359706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1" name="Chevron 13">
            <a:extLst>
              <a:ext uri="{FF2B5EF4-FFF2-40B4-BE49-F238E27FC236}">
                <a16:creationId xmlns:a16="http://schemas.microsoft.com/office/drawing/2014/main" id="{326837EC-FB23-5C3F-80BE-2EB4C32996AB}"/>
              </a:ext>
            </a:extLst>
          </p:cNvPr>
          <p:cNvSpPr/>
          <p:nvPr/>
        </p:nvSpPr>
        <p:spPr>
          <a:xfrm>
            <a:off x="7076940"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2" name="Chevron 11">
            <a:extLst>
              <a:ext uri="{FF2B5EF4-FFF2-40B4-BE49-F238E27FC236}">
                <a16:creationId xmlns:a16="http://schemas.microsoft.com/office/drawing/2014/main" id="{F00C946B-3DA8-CABA-0BC5-3A47F04D04EB}"/>
              </a:ext>
            </a:extLst>
          </p:cNvPr>
          <p:cNvSpPr/>
          <p:nvPr/>
        </p:nvSpPr>
        <p:spPr>
          <a:xfrm>
            <a:off x="243710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3" name="Chevron 12">
            <a:extLst>
              <a:ext uri="{FF2B5EF4-FFF2-40B4-BE49-F238E27FC236}">
                <a16:creationId xmlns:a16="http://schemas.microsoft.com/office/drawing/2014/main" id="{4734BA7D-D5B4-15DE-E6B2-03A372158F7F}"/>
              </a:ext>
            </a:extLst>
          </p:cNvPr>
          <p:cNvSpPr/>
          <p:nvPr/>
        </p:nvSpPr>
        <p:spPr>
          <a:xfrm>
            <a:off x="591698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4" name="Chevron 11">
            <a:extLst>
              <a:ext uri="{FF2B5EF4-FFF2-40B4-BE49-F238E27FC236}">
                <a16:creationId xmlns:a16="http://schemas.microsoft.com/office/drawing/2014/main" id="{394E8B7C-CBBB-1A12-4306-5A441E1EEA9D}"/>
              </a:ext>
            </a:extLst>
          </p:cNvPr>
          <p:cNvSpPr/>
          <p:nvPr/>
        </p:nvSpPr>
        <p:spPr>
          <a:xfrm>
            <a:off x="475702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5" name="Chevron 13">
            <a:extLst>
              <a:ext uri="{FF2B5EF4-FFF2-40B4-BE49-F238E27FC236}">
                <a16:creationId xmlns:a16="http://schemas.microsoft.com/office/drawing/2014/main" id="{EB635053-C38A-55EE-802F-AC6DA46611CC}"/>
              </a:ext>
            </a:extLst>
          </p:cNvPr>
          <p:cNvSpPr/>
          <p:nvPr/>
        </p:nvSpPr>
        <p:spPr>
          <a:xfrm>
            <a:off x="8236902"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6" name="テキスト ボックス 355">
            <a:extLst>
              <a:ext uri="{FF2B5EF4-FFF2-40B4-BE49-F238E27FC236}">
                <a16:creationId xmlns:a16="http://schemas.microsoft.com/office/drawing/2014/main" id="{473AD700-DED1-D270-A19A-6794676F7FBF}"/>
              </a:ext>
            </a:extLst>
          </p:cNvPr>
          <p:cNvSpPr txBox="1"/>
          <p:nvPr/>
        </p:nvSpPr>
        <p:spPr>
          <a:xfrm>
            <a:off x="1594177"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57" name="テキスト ボックス 356">
            <a:extLst>
              <a:ext uri="{FF2B5EF4-FFF2-40B4-BE49-F238E27FC236}">
                <a16:creationId xmlns:a16="http://schemas.microsoft.com/office/drawing/2014/main" id="{8D0682B5-5691-0BAD-1DEA-C5B42E971AE4}"/>
              </a:ext>
            </a:extLst>
          </p:cNvPr>
          <p:cNvSpPr txBox="1"/>
          <p:nvPr/>
        </p:nvSpPr>
        <p:spPr>
          <a:xfrm>
            <a:off x="2765459"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58" name="テキスト ボックス 357">
            <a:extLst>
              <a:ext uri="{FF2B5EF4-FFF2-40B4-BE49-F238E27FC236}">
                <a16:creationId xmlns:a16="http://schemas.microsoft.com/office/drawing/2014/main" id="{58A1D426-1AFD-A9B8-69FC-8C2417EF20DC}"/>
              </a:ext>
            </a:extLst>
          </p:cNvPr>
          <p:cNvSpPr txBox="1"/>
          <p:nvPr/>
        </p:nvSpPr>
        <p:spPr>
          <a:xfrm>
            <a:off x="422895"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359" name="テキスト ボックス 358">
            <a:extLst>
              <a:ext uri="{FF2B5EF4-FFF2-40B4-BE49-F238E27FC236}">
                <a16:creationId xmlns:a16="http://schemas.microsoft.com/office/drawing/2014/main" id="{805EA854-7800-18C4-DB2F-0B1684AFD649}"/>
              </a:ext>
            </a:extLst>
          </p:cNvPr>
          <p:cNvSpPr txBox="1"/>
          <p:nvPr/>
        </p:nvSpPr>
        <p:spPr>
          <a:xfrm>
            <a:off x="7398333" y="2075045"/>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360" name="テキスト ボックス 359">
            <a:extLst>
              <a:ext uri="{FF2B5EF4-FFF2-40B4-BE49-F238E27FC236}">
                <a16:creationId xmlns:a16="http://schemas.microsoft.com/office/drawing/2014/main" id="{1DCB6D4B-003C-2B81-10F1-B8085D0EF871}"/>
              </a:ext>
            </a:extLst>
          </p:cNvPr>
          <p:cNvSpPr txBox="1"/>
          <p:nvPr/>
        </p:nvSpPr>
        <p:spPr>
          <a:xfrm>
            <a:off x="3936741"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361" name="テキスト ボックス 360">
            <a:extLst>
              <a:ext uri="{FF2B5EF4-FFF2-40B4-BE49-F238E27FC236}">
                <a16:creationId xmlns:a16="http://schemas.microsoft.com/office/drawing/2014/main" id="{5694FDD1-6764-7963-230E-B55B3C5E6AE8}"/>
              </a:ext>
            </a:extLst>
          </p:cNvPr>
          <p:cNvSpPr txBox="1"/>
          <p:nvPr/>
        </p:nvSpPr>
        <p:spPr>
          <a:xfrm>
            <a:off x="5108023" y="1990407"/>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362" name="テキスト ボックス 361">
            <a:extLst>
              <a:ext uri="{FF2B5EF4-FFF2-40B4-BE49-F238E27FC236}">
                <a16:creationId xmlns:a16="http://schemas.microsoft.com/office/drawing/2014/main" id="{4FFDA1D0-E62A-A391-F7C2-2B8A8B4FAC30}"/>
              </a:ext>
            </a:extLst>
          </p:cNvPr>
          <p:cNvSpPr txBox="1"/>
          <p:nvPr/>
        </p:nvSpPr>
        <p:spPr>
          <a:xfrm>
            <a:off x="6279305" y="199040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363" name="テキスト ボックス 362">
            <a:extLst>
              <a:ext uri="{FF2B5EF4-FFF2-40B4-BE49-F238E27FC236}">
                <a16:creationId xmlns:a16="http://schemas.microsoft.com/office/drawing/2014/main" id="{950238DC-BC8D-67A5-9664-2467CA1CCC24}"/>
              </a:ext>
            </a:extLst>
          </p:cNvPr>
          <p:cNvSpPr txBox="1"/>
          <p:nvPr/>
        </p:nvSpPr>
        <p:spPr>
          <a:xfrm>
            <a:off x="8565884" y="1990407"/>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92" name="正方形/長方形 391">
            <a:extLst>
              <a:ext uri="{FF2B5EF4-FFF2-40B4-BE49-F238E27FC236}">
                <a16:creationId xmlns:a16="http://schemas.microsoft.com/office/drawing/2014/main" id="{F2695BAE-49A0-C99D-85EB-9666DE14C4B0}"/>
              </a:ext>
            </a:extLst>
          </p:cNvPr>
          <p:cNvSpPr/>
          <p:nvPr/>
        </p:nvSpPr>
        <p:spPr>
          <a:xfrm>
            <a:off x="134519" y="2643132"/>
            <a:ext cx="9687414"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99" name="正方形/長方形 398">
            <a:extLst>
              <a:ext uri="{FF2B5EF4-FFF2-40B4-BE49-F238E27FC236}">
                <a16:creationId xmlns:a16="http://schemas.microsoft.com/office/drawing/2014/main" id="{0D7E2DB9-3642-9C9A-E851-E5DD52315F1D}"/>
              </a:ext>
            </a:extLst>
          </p:cNvPr>
          <p:cNvSpPr/>
          <p:nvPr/>
        </p:nvSpPr>
        <p:spPr>
          <a:xfrm>
            <a:off x="2646720" y="4590888"/>
            <a:ext cx="7175212"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cxnSp>
        <p:nvCxnSpPr>
          <p:cNvPr id="428" name="直線矢印コネクタ 427">
            <a:extLst>
              <a:ext uri="{FF2B5EF4-FFF2-40B4-BE49-F238E27FC236}">
                <a16:creationId xmlns:a16="http://schemas.microsoft.com/office/drawing/2014/main" id="{4DD36FC2-6468-F5B5-EFB8-BBFB2CF7F452}"/>
              </a:ext>
            </a:extLst>
          </p:cNvPr>
          <p:cNvCxnSpPr>
            <a:cxnSpLocks/>
          </p:cNvCxnSpPr>
          <p:nvPr/>
        </p:nvCxnSpPr>
        <p:spPr>
          <a:xfrm>
            <a:off x="3366878" y="37501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9" name="テキスト ボックス 428">
            <a:extLst>
              <a:ext uri="{FF2B5EF4-FFF2-40B4-BE49-F238E27FC236}">
                <a16:creationId xmlns:a16="http://schemas.microsoft.com/office/drawing/2014/main" id="{52205788-B1CC-5FF9-ED78-B6DD32267E17}"/>
              </a:ext>
            </a:extLst>
          </p:cNvPr>
          <p:cNvSpPr txBox="1"/>
          <p:nvPr/>
        </p:nvSpPr>
        <p:spPr>
          <a:xfrm>
            <a:off x="3735917" y="36163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0" name="直線矢印コネクタ 429">
            <a:extLst>
              <a:ext uri="{FF2B5EF4-FFF2-40B4-BE49-F238E27FC236}">
                <a16:creationId xmlns:a16="http://schemas.microsoft.com/office/drawing/2014/main" id="{923E43E2-8157-8C38-4A7C-C186793E6650}"/>
              </a:ext>
            </a:extLst>
          </p:cNvPr>
          <p:cNvCxnSpPr>
            <a:cxnSpLocks/>
          </p:cNvCxnSpPr>
          <p:nvPr/>
        </p:nvCxnSpPr>
        <p:spPr>
          <a:xfrm>
            <a:off x="3366878" y="400340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1" name="テキスト ボックス 430">
            <a:extLst>
              <a:ext uri="{FF2B5EF4-FFF2-40B4-BE49-F238E27FC236}">
                <a16:creationId xmlns:a16="http://schemas.microsoft.com/office/drawing/2014/main" id="{9B46B511-7630-9D21-552D-BAD1DCEC8387}"/>
              </a:ext>
            </a:extLst>
          </p:cNvPr>
          <p:cNvSpPr txBox="1"/>
          <p:nvPr/>
        </p:nvSpPr>
        <p:spPr>
          <a:xfrm>
            <a:off x="3735917" y="3869624"/>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32" name="直線矢印コネクタ 431">
            <a:extLst>
              <a:ext uri="{FF2B5EF4-FFF2-40B4-BE49-F238E27FC236}">
                <a16:creationId xmlns:a16="http://schemas.microsoft.com/office/drawing/2014/main" id="{64D8562C-014D-DFB4-2D01-7479448659D1}"/>
              </a:ext>
            </a:extLst>
          </p:cNvPr>
          <p:cNvCxnSpPr>
            <a:cxnSpLocks/>
          </p:cNvCxnSpPr>
          <p:nvPr/>
        </p:nvCxnSpPr>
        <p:spPr>
          <a:xfrm>
            <a:off x="1275980" y="3570877"/>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3" name="テキスト ボックス 432">
            <a:extLst>
              <a:ext uri="{FF2B5EF4-FFF2-40B4-BE49-F238E27FC236}">
                <a16:creationId xmlns:a16="http://schemas.microsoft.com/office/drawing/2014/main" id="{540E1D19-5457-9319-2789-430F63EC5A42}"/>
              </a:ext>
            </a:extLst>
          </p:cNvPr>
          <p:cNvSpPr txBox="1"/>
          <p:nvPr/>
        </p:nvSpPr>
        <p:spPr>
          <a:xfrm>
            <a:off x="1645019" y="3437093"/>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4" name="直線矢印コネクタ 433">
            <a:extLst>
              <a:ext uri="{FF2B5EF4-FFF2-40B4-BE49-F238E27FC236}">
                <a16:creationId xmlns:a16="http://schemas.microsoft.com/office/drawing/2014/main" id="{490155E9-25FB-3090-382A-CA0B7F87F965}"/>
              </a:ext>
            </a:extLst>
          </p:cNvPr>
          <p:cNvCxnSpPr>
            <a:cxnSpLocks/>
          </p:cNvCxnSpPr>
          <p:nvPr/>
        </p:nvCxnSpPr>
        <p:spPr>
          <a:xfrm>
            <a:off x="1275980" y="380202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5" name="テキスト ボックス 434">
            <a:extLst>
              <a:ext uri="{FF2B5EF4-FFF2-40B4-BE49-F238E27FC236}">
                <a16:creationId xmlns:a16="http://schemas.microsoft.com/office/drawing/2014/main" id="{08D35021-E114-E4DF-FF22-BF7BE0CDF4D8}"/>
              </a:ext>
            </a:extLst>
          </p:cNvPr>
          <p:cNvSpPr txBox="1"/>
          <p:nvPr/>
        </p:nvSpPr>
        <p:spPr>
          <a:xfrm>
            <a:off x="1645019" y="3668238"/>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サイト動線の整備</a:t>
            </a:r>
          </a:p>
        </p:txBody>
      </p:sp>
      <p:cxnSp>
        <p:nvCxnSpPr>
          <p:cNvPr id="436" name="直線矢印コネクタ 435">
            <a:extLst>
              <a:ext uri="{FF2B5EF4-FFF2-40B4-BE49-F238E27FC236}">
                <a16:creationId xmlns:a16="http://schemas.microsoft.com/office/drawing/2014/main" id="{6840C346-E790-A413-26C5-79129D6F5FB7}"/>
              </a:ext>
            </a:extLst>
          </p:cNvPr>
          <p:cNvCxnSpPr>
            <a:cxnSpLocks/>
          </p:cNvCxnSpPr>
          <p:nvPr/>
        </p:nvCxnSpPr>
        <p:spPr>
          <a:xfrm>
            <a:off x="3825040" y="34398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7" name="テキスト ボックス 436">
            <a:extLst>
              <a:ext uri="{FF2B5EF4-FFF2-40B4-BE49-F238E27FC236}">
                <a16:creationId xmlns:a16="http://schemas.microsoft.com/office/drawing/2014/main" id="{715CC99E-9A08-159E-0120-31020FC33D0F}"/>
              </a:ext>
            </a:extLst>
          </p:cNvPr>
          <p:cNvSpPr txBox="1"/>
          <p:nvPr/>
        </p:nvSpPr>
        <p:spPr>
          <a:xfrm>
            <a:off x="4194079" y="330607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900" b="1" dirty="0">
              <a:latin typeface="メイリオ" panose="020B0604030504040204" pitchFamily="50" charset="-128"/>
              <a:ea typeface="メイリオ" panose="020B0604030504040204" pitchFamily="50" charset="-128"/>
              <a:cs typeface="Meiryo"/>
              <a:sym typeface="Meiryo"/>
            </a:endParaRPr>
          </a:p>
        </p:txBody>
      </p:sp>
      <p:cxnSp>
        <p:nvCxnSpPr>
          <p:cNvPr id="438" name="直線矢印コネクタ 437">
            <a:extLst>
              <a:ext uri="{FF2B5EF4-FFF2-40B4-BE49-F238E27FC236}">
                <a16:creationId xmlns:a16="http://schemas.microsoft.com/office/drawing/2014/main" id="{C26FDFF8-ECDB-0D20-5A53-4F74EF6D93F8}"/>
              </a:ext>
            </a:extLst>
          </p:cNvPr>
          <p:cNvCxnSpPr>
            <a:cxnSpLocks/>
          </p:cNvCxnSpPr>
          <p:nvPr/>
        </p:nvCxnSpPr>
        <p:spPr>
          <a:xfrm>
            <a:off x="5418772" y="374623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9" name="テキスト ボックス 438">
            <a:extLst>
              <a:ext uri="{FF2B5EF4-FFF2-40B4-BE49-F238E27FC236}">
                <a16:creationId xmlns:a16="http://schemas.microsoft.com/office/drawing/2014/main" id="{03517788-8A00-3CE9-B8A0-DC9904CB9E29}"/>
              </a:ext>
            </a:extLst>
          </p:cNvPr>
          <p:cNvSpPr txBox="1"/>
          <p:nvPr/>
        </p:nvSpPr>
        <p:spPr>
          <a:xfrm>
            <a:off x="5787811" y="361245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40" name="直線矢印コネクタ 439">
            <a:extLst>
              <a:ext uri="{FF2B5EF4-FFF2-40B4-BE49-F238E27FC236}">
                <a16:creationId xmlns:a16="http://schemas.microsoft.com/office/drawing/2014/main" id="{8A08B47D-236B-D58F-E880-0E520352BC81}"/>
              </a:ext>
            </a:extLst>
          </p:cNvPr>
          <p:cNvCxnSpPr>
            <a:cxnSpLocks/>
          </p:cNvCxnSpPr>
          <p:nvPr/>
        </p:nvCxnSpPr>
        <p:spPr>
          <a:xfrm>
            <a:off x="5418772" y="40090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1" name="テキスト ボックス 440">
            <a:extLst>
              <a:ext uri="{FF2B5EF4-FFF2-40B4-BE49-F238E27FC236}">
                <a16:creationId xmlns:a16="http://schemas.microsoft.com/office/drawing/2014/main" id="{8376E216-AB77-BC34-74BE-9C14746155C3}"/>
              </a:ext>
            </a:extLst>
          </p:cNvPr>
          <p:cNvSpPr txBox="1"/>
          <p:nvPr/>
        </p:nvSpPr>
        <p:spPr>
          <a:xfrm>
            <a:off x="5787811" y="38752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42" name="直線矢印コネクタ 441">
            <a:extLst>
              <a:ext uri="{FF2B5EF4-FFF2-40B4-BE49-F238E27FC236}">
                <a16:creationId xmlns:a16="http://schemas.microsoft.com/office/drawing/2014/main" id="{D6F7AD1E-A403-6C2E-4207-BA25C2D7BCC6}"/>
              </a:ext>
            </a:extLst>
          </p:cNvPr>
          <p:cNvCxnSpPr>
            <a:cxnSpLocks/>
          </p:cNvCxnSpPr>
          <p:nvPr/>
        </p:nvCxnSpPr>
        <p:spPr>
          <a:xfrm>
            <a:off x="675354" y="4048370"/>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3" name="テキスト ボックス 442">
            <a:extLst>
              <a:ext uri="{FF2B5EF4-FFF2-40B4-BE49-F238E27FC236}">
                <a16:creationId xmlns:a16="http://schemas.microsoft.com/office/drawing/2014/main" id="{7D798DBD-5393-6131-8034-EC789105D05B}"/>
              </a:ext>
            </a:extLst>
          </p:cNvPr>
          <p:cNvSpPr txBox="1"/>
          <p:nvPr/>
        </p:nvSpPr>
        <p:spPr>
          <a:xfrm>
            <a:off x="908229" y="3944309"/>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444" name="直線矢印コネクタ 443">
            <a:extLst>
              <a:ext uri="{FF2B5EF4-FFF2-40B4-BE49-F238E27FC236}">
                <a16:creationId xmlns:a16="http://schemas.microsoft.com/office/drawing/2014/main" id="{527AED14-C910-4D3E-987F-EA62ABD18D90}"/>
              </a:ext>
            </a:extLst>
          </p:cNvPr>
          <p:cNvCxnSpPr>
            <a:cxnSpLocks/>
          </p:cNvCxnSpPr>
          <p:nvPr/>
        </p:nvCxnSpPr>
        <p:spPr>
          <a:xfrm>
            <a:off x="672248" y="431511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5" name="テキスト ボックス 444">
            <a:extLst>
              <a:ext uri="{FF2B5EF4-FFF2-40B4-BE49-F238E27FC236}">
                <a16:creationId xmlns:a16="http://schemas.microsoft.com/office/drawing/2014/main" id="{9644DD32-D05B-DE83-7791-37895274BDE9}"/>
              </a:ext>
            </a:extLst>
          </p:cNvPr>
          <p:cNvSpPr txBox="1"/>
          <p:nvPr/>
        </p:nvSpPr>
        <p:spPr>
          <a:xfrm>
            <a:off x="894117" y="4203750"/>
            <a:ext cx="1117086" cy="231238"/>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446" name="直線矢印コネクタ 445">
            <a:extLst>
              <a:ext uri="{FF2B5EF4-FFF2-40B4-BE49-F238E27FC236}">
                <a16:creationId xmlns:a16="http://schemas.microsoft.com/office/drawing/2014/main" id="{D3D532EE-6712-DE63-E452-E8BEAA167260}"/>
              </a:ext>
            </a:extLst>
          </p:cNvPr>
          <p:cNvCxnSpPr>
            <a:cxnSpLocks/>
          </p:cNvCxnSpPr>
          <p:nvPr/>
        </p:nvCxnSpPr>
        <p:spPr>
          <a:xfrm>
            <a:off x="7458966" y="3862297"/>
            <a:ext cx="2184020"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7" name="テキスト ボックス 446">
            <a:extLst>
              <a:ext uri="{FF2B5EF4-FFF2-40B4-BE49-F238E27FC236}">
                <a16:creationId xmlns:a16="http://schemas.microsoft.com/office/drawing/2014/main" id="{DCDD6E46-B8C3-8536-41F9-F39EB73CBD24}"/>
              </a:ext>
            </a:extLst>
          </p:cNvPr>
          <p:cNvSpPr txBox="1"/>
          <p:nvPr/>
        </p:nvSpPr>
        <p:spPr>
          <a:xfrm>
            <a:off x="8013302" y="3728513"/>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900" b="1" dirty="0">
              <a:solidFill>
                <a:schemeClr val="tx1">
                  <a:lumMod val="50000"/>
                  <a:lumOff val="50000"/>
                </a:schemeClr>
              </a:solidFill>
            </a:endParaRPr>
          </a:p>
        </p:txBody>
      </p:sp>
      <p:cxnSp>
        <p:nvCxnSpPr>
          <p:cNvPr id="448" name="直線矢印コネクタ 447">
            <a:extLst>
              <a:ext uri="{FF2B5EF4-FFF2-40B4-BE49-F238E27FC236}">
                <a16:creationId xmlns:a16="http://schemas.microsoft.com/office/drawing/2014/main" id="{B94F8848-87A6-4A24-C2DE-D4A5BD2787D7}"/>
              </a:ext>
            </a:extLst>
          </p:cNvPr>
          <p:cNvCxnSpPr>
            <a:cxnSpLocks/>
          </p:cNvCxnSpPr>
          <p:nvPr/>
        </p:nvCxnSpPr>
        <p:spPr>
          <a:xfrm>
            <a:off x="313007" y="3382504"/>
            <a:ext cx="124270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9" name="テキスト ボックス 448">
            <a:extLst>
              <a:ext uri="{FF2B5EF4-FFF2-40B4-BE49-F238E27FC236}">
                <a16:creationId xmlns:a16="http://schemas.microsoft.com/office/drawing/2014/main" id="{88C02960-866B-6E8C-A752-2889BC37BC11}"/>
              </a:ext>
            </a:extLst>
          </p:cNvPr>
          <p:cNvSpPr txBox="1"/>
          <p:nvPr/>
        </p:nvSpPr>
        <p:spPr>
          <a:xfrm>
            <a:off x="588964" y="3278443"/>
            <a:ext cx="747951"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CPF</a:t>
            </a:r>
            <a:r>
              <a:rPr lang="ja-JP" altLang="en-US" sz="900" b="1" dirty="0">
                <a:latin typeface="メイリオ" panose="020B0604030504040204" pitchFamily="50" charset="-128"/>
                <a:ea typeface="メイリオ" panose="020B0604030504040204" pitchFamily="50" charset="-128"/>
                <a:cs typeface="Meiryo"/>
                <a:sym typeface="Meiryo"/>
              </a:rPr>
              <a:t>広告</a:t>
            </a:r>
            <a:endParaRPr lang="ja-JP" altLang="en-US" sz="900" b="1" dirty="0"/>
          </a:p>
        </p:txBody>
      </p:sp>
      <p:cxnSp>
        <p:nvCxnSpPr>
          <p:cNvPr id="450" name="直線矢印コネクタ 449">
            <a:extLst>
              <a:ext uri="{FF2B5EF4-FFF2-40B4-BE49-F238E27FC236}">
                <a16:creationId xmlns:a16="http://schemas.microsoft.com/office/drawing/2014/main" id="{3F2ACC73-0643-27D8-F1B3-1B871FCEF141}"/>
              </a:ext>
            </a:extLst>
          </p:cNvPr>
          <p:cNvCxnSpPr>
            <a:cxnSpLocks/>
          </p:cNvCxnSpPr>
          <p:nvPr/>
        </p:nvCxnSpPr>
        <p:spPr>
          <a:xfrm>
            <a:off x="258586" y="2898668"/>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1" name="直線矢印コネクタ 450">
            <a:extLst>
              <a:ext uri="{FF2B5EF4-FFF2-40B4-BE49-F238E27FC236}">
                <a16:creationId xmlns:a16="http://schemas.microsoft.com/office/drawing/2014/main" id="{C2DCC080-98CE-945F-96A2-C42DE7E0C936}"/>
              </a:ext>
            </a:extLst>
          </p:cNvPr>
          <p:cNvCxnSpPr>
            <a:cxnSpLocks/>
          </p:cNvCxnSpPr>
          <p:nvPr/>
        </p:nvCxnSpPr>
        <p:spPr>
          <a:xfrm>
            <a:off x="3534258" y="2887662"/>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2" name="テキスト ボックス 451">
            <a:extLst>
              <a:ext uri="{FF2B5EF4-FFF2-40B4-BE49-F238E27FC236}">
                <a16:creationId xmlns:a16="http://schemas.microsoft.com/office/drawing/2014/main" id="{46C960EE-3214-11A7-C2A3-07025A9849E3}"/>
              </a:ext>
            </a:extLst>
          </p:cNvPr>
          <p:cNvSpPr txBox="1"/>
          <p:nvPr/>
        </p:nvSpPr>
        <p:spPr>
          <a:xfrm>
            <a:off x="1262357" y="2775091"/>
            <a:ext cx="1319856" cy="230832"/>
          </a:xfrm>
          <a:prstGeom prst="rect">
            <a:avLst/>
          </a:prstGeom>
          <a:solidFill>
            <a:schemeClr val="bg1"/>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WEB</a:t>
            </a:r>
            <a:r>
              <a:rPr lang="ja-JP" altLang="en-US" sz="900" b="1" dirty="0">
                <a:latin typeface="メイリオ" panose="020B0604030504040204" pitchFamily="50" charset="-128"/>
                <a:ea typeface="メイリオ" panose="020B0604030504040204" pitchFamily="50" charset="-128"/>
                <a:cs typeface="Meiryo"/>
                <a:sym typeface="Meiryo"/>
              </a:rPr>
              <a:t>→</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3" name="テキスト ボックス 452">
            <a:extLst>
              <a:ext uri="{FF2B5EF4-FFF2-40B4-BE49-F238E27FC236}">
                <a16:creationId xmlns:a16="http://schemas.microsoft.com/office/drawing/2014/main" id="{6035DF7C-B4BD-5EC8-7209-4196763C930C}"/>
              </a:ext>
            </a:extLst>
          </p:cNvPr>
          <p:cNvSpPr txBox="1"/>
          <p:nvPr/>
        </p:nvSpPr>
        <p:spPr>
          <a:xfrm>
            <a:off x="3961298" y="2771249"/>
            <a:ext cx="1597026" cy="230832"/>
          </a:xfrm>
          <a:prstGeom prst="rect">
            <a:avLst/>
          </a:prstGeom>
          <a:solidFill>
            <a:schemeClr val="bg1"/>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オフライン→</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4" name="正方形/長方形 453">
            <a:extLst>
              <a:ext uri="{FF2B5EF4-FFF2-40B4-BE49-F238E27FC236}">
                <a16:creationId xmlns:a16="http://schemas.microsoft.com/office/drawing/2014/main" id="{E33317FD-3364-4CC0-4FE2-E3D336A50C78}"/>
              </a:ext>
            </a:extLst>
          </p:cNvPr>
          <p:cNvSpPr/>
          <p:nvPr/>
        </p:nvSpPr>
        <p:spPr>
          <a:xfrm>
            <a:off x="240222" y="3031675"/>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WEB</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a:t>
            </a:r>
          </a:p>
        </p:txBody>
      </p:sp>
      <p:cxnSp>
        <p:nvCxnSpPr>
          <p:cNvPr id="455" name="直線矢印コネクタ 454">
            <a:extLst>
              <a:ext uri="{FF2B5EF4-FFF2-40B4-BE49-F238E27FC236}">
                <a16:creationId xmlns:a16="http://schemas.microsoft.com/office/drawing/2014/main" id="{69C05BA8-18F6-F344-3C54-A5E03AFE2368}"/>
              </a:ext>
            </a:extLst>
          </p:cNvPr>
          <p:cNvCxnSpPr>
            <a:cxnSpLocks/>
          </p:cNvCxnSpPr>
          <p:nvPr/>
        </p:nvCxnSpPr>
        <p:spPr>
          <a:xfrm>
            <a:off x="2892769" y="4798575"/>
            <a:ext cx="6752172"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6" name="テキスト ボックス 455">
            <a:extLst>
              <a:ext uri="{FF2B5EF4-FFF2-40B4-BE49-F238E27FC236}">
                <a16:creationId xmlns:a16="http://schemas.microsoft.com/office/drawing/2014/main" id="{5B6D9466-EC9E-4057-AB18-8974D147F3E8}"/>
              </a:ext>
            </a:extLst>
          </p:cNvPr>
          <p:cNvSpPr txBox="1"/>
          <p:nvPr/>
        </p:nvSpPr>
        <p:spPr>
          <a:xfrm>
            <a:off x="5430583" y="4657308"/>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457" name="直線矢印コネクタ 456">
            <a:extLst>
              <a:ext uri="{FF2B5EF4-FFF2-40B4-BE49-F238E27FC236}">
                <a16:creationId xmlns:a16="http://schemas.microsoft.com/office/drawing/2014/main" id="{B9C84515-E6C9-A256-421E-9C3EFEBBFF17}"/>
              </a:ext>
            </a:extLst>
          </p:cNvPr>
          <p:cNvCxnSpPr>
            <a:cxnSpLocks/>
          </p:cNvCxnSpPr>
          <p:nvPr/>
        </p:nvCxnSpPr>
        <p:spPr>
          <a:xfrm>
            <a:off x="7622020" y="536575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8" name="テキスト ボックス 457">
            <a:extLst>
              <a:ext uri="{FF2B5EF4-FFF2-40B4-BE49-F238E27FC236}">
                <a16:creationId xmlns:a16="http://schemas.microsoft.com/office/drawing/2014/main" id="{7E002B77-EFC0-55F3-D3E6-100837F9B195}"/>
              </a:ext>
            </a:extLst>
          </p:cNvPr>
          <p:cNvSpPr txBox="1"/>
          <p:nvPr/>
        </p:nvSpPr>
        <p:spPr>
          <a:xfrm>
            <a:off x="8102883" y="5231969"/>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900" b="1" dirty="0">
              <a:solidFill>
                <a:schemeClr val="tx1">
                  <a:lumMod val="50000"/>
                  <a:lumOff val="50000"/>
                </a:schemeClr>
              </a:solidFill>
            </a:endParaRPr>
          </a:p>
        </p:txBody>
      </p:sp>
      <p:cxnSp>
        <p:nvCxnSpPr>
          <p:cNvPr id="459" name="直線矢印コネクタ 458">
            <a:extLst>
              <a:ext uri="{FF2B5EF4-FFF2-40B4-BE49-F238E27FC236}">
                <a16:creationId xmlns:a16="http://schemas.microsoft.com/office/drawing/2014/main" id="{03BD82C1-8BEC-3E49-C1DA-A1C214DB1C8C}"/>
              </a:ext>
            </a:extLst>
          </p:cNvPr>
          <p:cNvCxnSpPr>
            <a:cxnSpLocks/>
          </p:cNvCxnSpPr>
          <p:nvPr/>
        </p:nvCxnSpPr>
        <p:spPr>
          <a:xfrm>
            <a:off x="4443737" y="536428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テキスト ボックス 459">
            <a:extLst>
              <a:ext uri="{FF2B5EF4-FFF2-40B4-BE49-F238E27FC236}">
                <a16:creationId xmlns:a16="http://schemas.microsoft.com/office/drawing/2014/main" id="{919F797F-1B6A-876C-B468-E147B3D97E8A}"/>
              </a:ext>
            </a:extLst>
          </p:cNvPr>
          <p:cNvSpPr txBox="1"/>
          <p:nvPr/>
        </p:nvSpPr>
        <p:spPr>
          <a:xfrm>
            <a:off x="5470240" y="5239208"/>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ステップ配信</a:t>
            </a:r>
            <a:endParaRPr lang="ja-JP" altLang="en-US" sz="900" b="1" dirty="0"/>
          </a:p>
        </p:txBody>
      </p:sp>
      <p:cxnSp>
        <p:nvCxnSpPr>
          <p:cNvPr id="461" name="直線矢印コネクタ 460">
            <a:extLst>
              <a:ext uri="{FF2B5EF4-FFF2-40B4-BE49-F238E27FC236}">
                <a16:creationId xmlns:a16="http://schemas.microsoft.com/office/drawing/2014/main" id="{C96E67E6-B364-7DED-CDB8-DDCEEFB96AD2}"/>
              </a:ext>
            </a:extLst>
          </p:cNvPr>
          <p:cNvCxnSpPr>
            <a:cxnSpLocks/>
          </p:cNvCxnSpPr>
          <p:nvPr/>
        </p:nvCxnSpPr>
        <p:spPr>
          <a:xfrm>
            <a:off x="4443578" y="563739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2" name="テキスト ボックス 461">
            <a:extLst>
              <a:ext uri="{FF2B5EF4-FFF2-40B4-BE49-F238E27FC236}">
                <a16:creationId xmlns:a16="http://schemas.microsoft.com/office/drawing/2014/main" id="{335DB4AB-DEFA-E356-751F-7106100F929E}"/>
              </a:ext>
            </a:extLst>
          </p:cNvPr>
          <p:cNvSpPr txBox="1"/>
          <p:nvPr/>
        </p:nvSpPr>
        <p:spPr>
          <a:xfrm>
            <a:off x="5470081" y="5512324"/>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企画配信</a:t>
            </a:r>
            <a:endParaRPr lang="ja-JP" altLang="en-US" sz="900" b="1" dirty="0"/>
          </a:p>
        </p:txBody>
      </p:sp>
      <p:cxnSp>
        <p:nvCxnSpPr>
          <p:cNvPr id="463" name="直線矢印コネクタ 462">
            <a:extLst>
              <a:ext uri="{FF2B5EF4-FFF2-40B4-BE49-F238E27FC236}">
                <a16:creationId xmlns:a16="http://schemas.microsoft.com/office/drawing/2014/main" id="{7884810E-3E89-4CCB-C00C-B386A34717E4}"/>
              </a:ext>
            </a:extLst>
          </p:cNvPr>
          <p:cNvCxnSpPr>
            <a:cxnSpLocks/>
          </p:cNvCxnSpPr>
          <p:nvPr/>
        </p:nvCxnSpPr>
        <p:spPr>
          <a:xfrm>
            <a:off x="3989118" y="585218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テキスト ボックス 463">
            <a:extLst>
              <a:ext uri="{FF2B5EF4-FFF2-40B4-BE49-F238E27FC236}">
                <a16:creationId xmlns:a16="http://schemas.microsoft.com/office/drawing/2014/main" id="{6FD45AC0-2372-776F-6D16-846C0FB7AC64}"/>
              </a:ext>
            </a:extLst>
          </p:cNvPr>
          <p:cNvSpPr txBox="1"/>
          <p:nvPr/>
        </p:nvSpPr>
        <p:spPr>
          <a:xfrm>
            <a:off x="4304358" y="5753281"/>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アンケート回収</a:t>
            </a:r>
            <a:endParaRPr lang="ja-JP" altLang="en-US" sz="900" b="1" dirty="0"/>
          </a:p>
        </p:txBody>
      </p:sp>
      <p:cxnSp>
        <p:nvCxnSpPr>
          <p:cNvPr id="465" name="直線矢印コネクタ 464">
            <a:extLst>
              <a:ext uri="{FF2B5EF4-FFF2-40B4-BE49-F238E27FC236}">
                <a16:creationId xmlns:a16="http://schemas.microsoft.com/office/drawing/2014/main" id="{5BF3558A-EBED-81EE-B158-28A7CA5D6693}"/>
              </a:ext>
            </a:extLst>
          </p:cNvPr>
          <p:cNvCxnSpPr>
            <a:cxnSpLocks/>
          </p:cNvCxnSpPr>
          <p:nvPr/>
        </p:nvCxnSpPr>
        <p:spPr>
          <a:xfrm>
            <a:off x="3986817" y="6094511"/>
            <a:ext cx="2027163"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6" name="テキスト ボックス 465">
            <a:extLst>
              <a:ext uri="{FF2B5EF4-FFF2-40B4-BE49-F238E27FC236}">
                <a16:creationId xmlns:a16="http://schemas.microsoft.com/office/drawing/2014/main" id="{001266CB-AC56-8914-0ACE-8B554DB19B76}"/>
              </a:ext>
            </a:extLst>
          </p:cNvPr>
          <p:cNvSpPr txBox="1"/>
          <p:nvPr/>
        </p:nvSpPr>
        <p:spPr>
          <a:xfrm>
            <a:off x="4319604" y="5997197"/>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スコアリング等</a:t>
            </a:r>
            <a:endParaRPr lang="ja-JP" altLang="en-US" sz="900" b="1" dirty="0"/>
          </a:p>
        </p:txBody>
      </p:sp>
      <p:cxnSp>
        <p:nvCxnSpPr>
          <p:cNvPr id="467" name="直線矢印コネクタ 466">
            <a:extLst>
              <a:ext uri="{FF2B5EF4-FFF2-40B4-BE49-F238E27FC236}">
                <a16:creationId xmlns:a16="http://schemas.microsoft.com/office/drawing/2014/main" id="{1B403718-ABF2-11BC-1A05-A9E208B7C0F7}"/>
              </a:ext>
            </a:extLst>
          </p:cNvPr>
          <p:cNvCxnSpPr>
            <a:cxnSpLocks/>
          </p:cNvCxnSpPr>
          <p:nvPr/>
        </p:nvCxnSpPr>
        <p:spPr>
          <a:xfrm>
            <a:off x="7042649" y="585610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8" name="直線矢印コネクタ 467">
            <a:extLst>
              <a:ext uri="{FF2B5EF4-FFF2-40B4-BE49-F238E27FC236}">
                <a16:creationId xmlns:a16="http://schemas.microsoft.com/office/drawing/2014/main" id="{B31EBA12-BB45-627B-A1FD-F44E077537B1}"/>
              </a:ext>
            </a:extLst>
          </p:cNvPr>
          <p:cNvCxnSpPr>
            <a:cxnSpLocks/>
          </p:cNvCxnSpPr>
          <p:nvPr/>
        </p:nvCxnSpPr>
        <p:spPr>
          <a:xfrm>
            <a:off x="6911926" y="611361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9" name="テキスト ボックス 468">
            <a:extLst>
              <a:ext uri="{FF2B5EF4-FFF2-40B4-BE49-F238E27FC236}">
                <a16:creationId xmlns:a16="http://schemas.microsoft.com/office/drawing/2014/main" id="{B0C05E5D-44B4-DA5D-7C04-0BDC8A4602CE}"/>
              </a:ext>
            </a:extLst>
          </p:cNvPr>
          <p:cNvSpPr txBox="1"/>
          <p:nvPr/>
        </p:nvSpPr>
        <p:spPr>
          <a:xfrm>
            <a:off x="7260372" y="6007902"/>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900" b="1" dirty="0">
              <a:solidFill>
                <a:schemeClr val="tx1">
                  <a:lumMod val="50000"/>
                  <a:lumOff val="50000"/>
                </a:schemeClr>
              </a:solidFill>
            </a:endParaRPr>
          </a:p>
        </p:txBody>
      </p:sp>
      <p:pic>
        <p:nvPicPr>
          <p:cNvPr id="470" name="図 469">
            <a:extLst>
              <a:ext uri="{FF2B5EF4-FFF2-40B4-BE49-F238E27FC236}">
                <a16:creationId xmlns:a16="http://schemas.microsoft.com/office/drawing/2014/main" id="{2F4B65BB-B8AA-5045-2074-C574F9423E61}"/>
              </a:ext>
            </a:extLst>
          </p:cNvPr>
          <p:cNvPicPr>
            <a:picLocks noChangeAspect="1"/>
          </p:cNvPicPr>
          <p:nvPr/>
        </p:nvPicPr>
        <p:blipFill>
          <a:blip r:embed="rId3" cstate="print">
            <a:extLst>
              <a:ext uri="{28A0092B-C50C-407E-A947-70E740481C1C}">
                <a14:useLocalDpi xmlns:a14="http://schemas.microsoft.com/office/drawing/2010/main" val="0"/>
              </a:ext>
            </a:extLst>
          </a:blip>
          <a:srcRect t="4981" b="4075"/>
          <a:stretch>
            <a:fillRect/>
          </a:stretch>
        </p:blipFill>
        <p:spPr>
          <a:xfrm>
            <a:off x="2929897" y="4918748"/>
            <a:ext cx="703970" cy="1385346"/>
          </a:xfrm>
          <a:prstGeom prst="rect">
            <a:avLst/>
          </a:prstGeom>
        </p:spPr>
      </p:pic>
      <p:sp>
        <p:nvSpPr>
          <p:cNvPr id="471" name="正方形/長方形 470">
            <a:extLst>
              <a:ext uri="{FF2B5EF4-FFF2-40B4-BE49-F238E27FC236}">
                <a16:creationId xmlns:a16="http://schemas.microsoft.com/office/drawing/2014/main" id="{D22C9FBF-7B93-079A-E87E-A4C967CD0194}"/>
              </a:ext>
            </a:extLst>
          </p:cNvPr>
          <p:cNvSpPr/>
          <p:nvPr/>
        </p:nvSpPr>
        <p:spPr>
          <a:xfrm>
            <a:off x="3832763" y="520693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2" name="テキスト ボックス 471">
            <a:extLst>
              <a:ext uri="{FF2B5EF4-FFF2-40B4-BE49-F238E27FC236}">
                <a16:creationId xmlns:a16="http://schemas.microsoft.com/office/drawing/2014/main" id="{89B35388-9C44-6C01-ACAA-2E691617E119}"/>
              </a:ext>
            </a:extLst>
          </p:cNvPr>
          <p:cNvSpPr txBox="1"/>
          <p:nvPr/>
        </p:nvSpPr>
        <p:spPr>
          <a:xfrm>
            <a:off x="5647624" y="617359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
        <p:nvSpPr>
          <p:cNvPr id="473" name="テキスト ボックス 472">
            <a:extLst>
              <a:ext uri="{FF2B5EF4-FFF2-40B4-BE49-F238E27FC236}">
                <a16:creationId xmlns:a16="http://schemas.microsoft.com/office/drawing/2014/main" id="{BD1C4614-6833-006B-0695-58E26A5CFFB7}"/>
              </a:ext>
            </a:extLst>
          </p:cNvPr>
          <p:cNvSpPr txBox="1"/>
          <p:nvPr/>
        </p:nvSpPr>
        <p:spPr>
          <a:xfrm>
            <a:off x="7434640" y="5741676"/>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900" b="1" dirty="0">
              <a:solidFill>
                <a:schemeClr val="tx1">
                  <a:lumMod val="50000"/>
                  <a:lumOff val="50000"/>
                </a:schemeClr>
              </a:solidFill>
            </a:endParaRPr>
          </a:p>
        </p:txBody>
      </p:sp>
      <p:sp>
        <p:nvSpPr>
          <p:cNvPr id="474" name="正方形/長方形 473">
            <a:extLst>
              <a:ext uri="{FF2B5EF4-FFF2-40B4-BE49-F238E27FC236}">
                <a16:creationId xmlns:a16="http://schemas.microsoft.com/office/drawing/2014/main" id="{149FC944-C0B9-A202-3A0B-03CB7D89620A}"/>
              </a:ext>
            </a:extLst>
          </p:cNvPr>
          <p:cNvSpPr/>
          <p:nvPr/>
        </p:nvSpPr>
        <p:spPr>
          <a:xfrm>
            <a:off x="3046381" y="492178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→反響）</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運用で追うべき重要指標（</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KPI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）と、目的に応じた</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つの施策方針</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集客・獲得 → 即時分類 → 分岐育成 → 成果回収 の4ステップで描く、LINE施策の全体図</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Pentagon 58"/>
          <p:cNvSpPr/>
          <p:nvPr/>
        </p:nvSpPr>
        <p:spPr>
          <a:xfrm>
            <a:off x="365760" y="1810512"/>
            <a:ext cx="2258568" cy="420624"/>
          </a:xfrm>
          <a:prstGeom prst="homePlate">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STEP1　集客・獲得</a:t>
            </a:r>
          </a:p>
        </p:txBody>
      </p:sp>
      <p:sp>
        <p:nvSpPr>
          <p:cNvPr id="60" name="Chevron 59"/>
          <p:cNvSpPr/>
          <p:nvPr/>
        </p:nvSpPr>
        <p:spPr>
          <a:xfrm>
            <a:off x="2496312" y="1810512"/>
            <a:ext cx="245973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STEP2　即時分類</a:t>
            </a:r>
          </a:p>
        </p:txBody>
      </p:sp>
      <p:sp>
        <p:nvSpPr>
          <p:cNvPr id="61" name="Chevron 60"/>
          <p:cNvSpPr/>
          <p:nvPr/>
        </p:nvSpPr>
        <p:spPr>
          <a:xfrm>
            <a:off x="4919472" y="1810512"/>
            <a:ext cx="255117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STEP3　分岐育成</a:t>
            </a:r>
          </a:p>
        </p:txBody>
      </p:sp>
      <p:sp>
        <p:nvSpPr>
          <p:cNvPr id="62" name="Chevron 61"/>
          <p:cNvSpPr/>
          <p:nvPr/>
        </p:nvSpPr>
        <p:spPr>
          <a:xfrm>
            <a:off x="7434071" y="1810512"/>
            <a:ext cx="2304288" cy="420624"/>
          </a:xfrm>
          <a:prstGeom prst="chevron">
            <a:avLst>
              <a:gd name="adj" fmla="val 30000"/>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STEP4　成果回収</a:t>
            </a:r>
          </a:p>
        </p:txBody>
      </p:sp>
      <p:sp>
        <p:nvSpPr>
          <p:cNvPr id="63" name="Rectangle 62"/>
          <p:cNvSpPr/>
          <p:nvPr/>
        </p:nvSpPr>
        <p:spPr>
          <a:xfrm>
            <a:off x="36576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広告・SEOの来訪者のうち</a:t>
            </a:r>
          </a:p>
          <a:p>
            <a:pPr algn="ctr">
              <a:lnSpc>
                <a:spcPct val="110000"/>
              </a:lnSpc>
              <a:spcAft>
                <a:spcPts val="0"/>
              </a:spcAft>
            </a:pPr>
            <a:r>
              <a:rPr sz="1400" b="1">
                <a:solidFill>
                  <a:srgbClr val="1F2A5C"/>
                </a:solidFill>
                <a:latin typeface="メイリオ"/>
                <a:ea typeface="メイリオ"/>
                <a:cs typeface="メイリオ"/>
              </a:rPr>
              <a:t>離脱する 約99%</a:t>
            </a:r>
          </a:p>
        </p:txBody>
      </p:sp>
      <p:cxnSp>
        <p:nvCxnSpPr>
          <p:cNvPr id="64" name="Connector 63"/>
          <p:cNvCxnSpPr/>
          <p:nvPr/>
        </p:nvCxnSpPr>
        <p:spPr>
          <a:xfrm>
            <a:off x="139446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5" name="Rectangle 64"/>
          <p:cNvSpPr/>
          <p:nvPr/>
        </p:nvSpPr>
        <p:spPr>
          <a:xfrm>
            <a:off x="365760" y="3337559"/>
            <a:ext cx="2057400" cy="73152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300" b="1">
                <a:solidFill>
                  <a:srgbClr val="1F2A5C"/>
                </a:solidFill>
                <a:latin typeface="メイリオ"/>
                <a:ea typeface="メイリオ"/>
                <a:cs typeface="メイリオ"/>
              </a:rPr>
              <a:t>ポップアップ</a:t>
            </a:r>
          </a:p>
          <a:p>
            <a:pPr algn="ctr">
              <a:lnSpc>
                <a:spcPct val="110000"/>
              </a:lnSpc>
              <a:spcAft>
                <a:spcPts val="0"/>
              </a:spcAft>
            </a:pPr>
            <a:r>
              <a:rPr sz="1300" b="1">
                <a:solidFill>
                  <a:srgbClr val="1F2A5C"/>
                </a:solidFill>
                <a:latin typeface="メイリオ"/>
                <a:ea typeface="メイリオ"/>
                <a:cs typeface="メイリオ"/>
              </a:rPr>
              <a:t>通知メッセージ</a:t>
            </a:r>
          </a:p>
        </p:txBody>
      </p:sp>
      <p:sp>
        <p:nvSpPr>
          <p:cNvPr id="66" name="TextBox 65"/>
          <p:cNvSpPr txBox="1"/>
          <p:nvPr/>
        </p:nvSpPr>
        <p:spPr>
          <a:xfrm>
            <a:off x="36576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サイトを離れる前に表示</a:t>
            </a:r>
          </a:p>
          <a:p>
            <a:pPr algn="ctr">
              <a:lnSpc>
                <a:spcPct val="105000"/>
              </a:lnSpc>
              <a:spcAft>
                <a:spcPts val="200"/>
              </a:spcAft>
            </a:pPr>
            <a:r>
              <a:rPr sz="1050" b="0">
                <a:solidFill>
                  <a:srgbClr val="777777"/>
                </a:solidFill>
                <a:latin typeface="メイリオ"/>
                <a:ea typeface="メイリオ"/>
                <a:cs typeface="メイリオ"/>
              </a:rPr>
              <a:t>保有リストにも届ける</a:t>
            </a:r>
          </a:p>
        </p:txBody>
      </p:sp>
      <p:cxnSp>
        <p:nvCxnSpPr>
          <p:cNvPr id="67" name="Connector 66"/>
          <p:cNvCxnSpPr/>
          <p:nvPr/>
        </p:nvCxnSpPr>
        <p:spPr>
          <a:xfrm>
            <a:off x="2423160" y="3703319"/>
            <a:ext cx="274320"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269748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最も反応が高い</a:t>
            </a:r>
          </a:p>
          <a:p>
            <a:pPr algn="ctr">
              <a:lnSpc>
                <a:spcPct val="110000"/>
              </a:lnSpc>
              <a:spcAft>
                <a:spcPts val="0"/>
              </a:spcAft>
            </a:pPr>
            <a:r>
              <a:rPr sz="1400" b="1">
                <a:solidFill>
                  <a:srgbClr val="1F2A5C"/>
                </a:solidFill>
                <a:latin typeface="メイリオ"/>
                <a:ea typeface="メイリオ"/>
                <a:cs typeface="メイリオ"/>
              </a:rPr>
              <a:t>友だち追加の直後</a:t>
            </a:r>
          </a:p>
        </p:txBody>
      </p:sp>
      <p:cxnSp>
        <p:nvCxnSpPr>
          <p:cNvPr id="69" name="Connector 68"/>
          <p:cNvCxnSpPr/>
          <p:nvPr/>
        </p:nvCxnSpPr>
        <p:spPr>
          <a:xfrm>
            <a:off x="372618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70" name="Rectangle 69"/>
          <p:cNvSpPr/>
          <p:nvPr/>
        </p:nvSpPr>
        <p:spPr>
          <a:xfrm>
            <a:off x="2697480" y="3337559"/>
            <a:ext cx="2057400" cy="274320"/>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LINE友だち追加</a:t>
            </a:r>
          </a:p>
        </p:txBody>
      </p:sp>
      <p:sp>
        <p:nvSpPr>
          <p:cNvPr id="71" name="Rectangle 70"/>
          <p:cNvSpPr/>
          <p:nvPr/>
        </p:nvSpPr>
        <p:spPr>
          <a:xfrm>
            <a:off x="2697480" y="3611880"/>
            <a:ext cx="205740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Day0 アンケート・診断</a:t>
            </a:r>
          </a:p>
        </p:txBody>
      </p:sp>
      <p:sp>
        <p:nvSpPr>
          <p:cNvPr id="72" name="TextBox 71"/>
          <p:cNvSpPr txBox="1"/>
          <p:nvPr/>
        </p:nvSpPr>
        <p:spPr>
          <a:xfrm>
            <a:off x="269748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属性・検討度を分け、</a:t>
            </a:r>
          </a:p>
          <a:p>
            <a:pPr algn="ctr">
              <a:lnSpc>
                <a:spcPct val="105000"/>
              </a:lnSpc>
              <a:spcAft>
                <a:spcPts val="200"/>
              </a:spcAft>
            </a:pPr>
            <a:r>
              <a:rPr sz="1050" b="0">
                <a:solidFill>
                  <a:srgbClr val="777777"/>
                </a:solidFill>
                <a:latin typeface="メイリオ"/>
                <a:ea typeface="メイリオ"/>
                <a:cs typeface="メイリオ"/>
              </a:rPr>
              <a:t>次の配信を出し分ける</a:t>
            </a:r>
          </a:p>
        </p:txBody>
      </p:sp>
      <p:sp>
        <p:nvSpPr>
          <p:cNvPr id="73" name="Rectangle 72"/>
          <p:cNvSpPr/>
          <p:nvPr/>
        </p:nvSpPr>
        <p:spPr>
          <a:xfrm>
            <a:off x="5120639" y="246888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短期集中トラック</a:t>
            </a:r>
          </a:p>
          <a:p>
            <a:pPr algn="ctr">
              <a:lnSpc>
                <a:spcPct val="110000"/>
              </a:lnSpc>
              <a:spcAft>
                <a:spcPts val="0"/>
              </a:spcAft>
            </a:pPr>
            <a:r>
              <a:rPr sz="1050" b="0">
                <a:solidFill>
                  <a:srgbClr val="333333"/>
                </a:solidFill>
                <a:latin typeface="メイリオ"/>
                <a:ea typeface="メイリオ"/>
                <a:cs typeface="メイリオ"/>
              </a:rPr>
              <a:t>Day0〜15｜検討度が高い方</a:t>
            </a:r>
          </a:p>
          <a:p>
            <a:pPr algn="ctr">
              <a:lnSpc>
                <a:spcPct val="110000"/>
              </a:lnSpc>
              <a:spcAft>
                <a:spcPts val="0"/>
              </a:spcAft>
            </a:pPr>
            <a:r>
              <a:rPr sz="1050" b="1">
                <a:solidFill>
                  <a:srgbClr val="333333"/>
                </a:solidFill>
                <a:latin typeface="メイリオ"/>
                <a:ea typeface="メイリオ"/>
                <a:cs typeface="メイリオ"/>
              </a:rPr>
              <a:t>15日の壁を超えるステップ配信</a:t>
            </a:r>
          </a:p>
        </p:txBody>
      </p:sp>
      <p:sp>
        <p:nvSpPr>
          <p:cNvPr id="74" name="Rectangle 73"/>
          <p:cNvSpPr/>
          <p:nvPr/>
        </p:nvSpPr>
        <p:spPr>
          <a:xfrm>
            <a:off x="5120639" y="374904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中長期トラック</a:t>
            </a:r>
          </a:p>
          <a:p>
            <a:pPr algn="ctr">
              <a:lnSpc>
                <a:spcPct val="110000"/>
              </a:lnSpc>
              <a:spcAft>
                <a:spcPts val="0"/>
              </a:spcAft>
            </a:pPr>
            <a:r>
              <a:rPr sz="1050" b="0">
                <a:solidFill>
                  <a:srgbClr val="333333"/>
                </a:solidFill>
                <a:latin typeface="メイリオ"/>
                <a:ea typeface="メイリオ"/>
                <a:cs typeface="メイリオ"/>
              </a:rPr>
              <a:t>15日以降｜検討度が中・低の方</a:t>
            </a:r>
          </a:p>
          <a:p>
            <a:pPr algn="ctr">
              <a:lnSpc>
                <a:spcPct val="110000"/>
              </a:lnSpc>
              <a:spcAft>
                <a:spcPts val="0"/>
              </a:spcAft>
            </a:pPr>
            <a:r>
              <a:rPr sz="1050" b="1">
                <a:solidFill>
                  <a:srgbClr val="333333"/>
                </a:solidFill>
                <a:latin typeface="メイリオ"/>
                <a:ea typeface="メイリオ"/>
                <a:cs typeface="メイリオ"/>
              </a:rPr>
              <a:t>シーズナリティ連動の企画配信</a:t>
            </a:r>
          </a:p>
        </p:txBody>
      </p:sp>
      <p:cxnSp>
        <p:nvCxnSpPr>
          <p:cNvPr id="75" name="Connector 74"/>
          <p:cNvCxnSpPr/>
          <p:nvPr/>
        </p:nvCxnSpPr>
        <p:spPr>
          <a:xfrm>
            <a:off x="4754880" y="3703319"/>
            <a:ext cx="146304"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4901184"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4901184" y="299466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4901184" y="427482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6195059" y="3520440"/>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0" name="TextBox 79"/>
          <p:cNvSpPr txBox="1"/>
          <p:nvPr/>
        </p:nvSpPr>
        <p:spPr>
          <a:xfrm>
            <a:off x="6249923" y="3529583"/>
            <a:ext cx="914400" cy="210312"/>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15日後に合流</a:t>
            </a:r>
          </a:p>
        </p:txBody>
      </p:sp>
      <p:cxnSp>
        <p:nvCxnSpPr>
          <p:cNvPr id="81" name="Connector 80"/>
          <p:cNvCxnSpPr/>
          <p:nvPr/>
        </p:nvCxnSpPr>
        <p:spPr>
          <a:xfrm>
            <a:off x="7269479" y="299466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7269479" y="427482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7406639"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7406639" y="3703319"/>
            <a:ext cx="228601"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5" name="Rectangle 84"/>
          <p:cNvSpPr/>
          <p:nvPr/>
        </p:nvSpPr>
        <p:spPr>
          <a:xfrm>
            <a:off x="7635240" y="2468880"/>
            <a:ext cx="1901952"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200" b="1">
                <a:solidFill>
                  <a:srgbClr val="1F2A5C"/>
                </a:solidFill>
                <a:latin typeface="メイリオ"/>
                <a:ea typeface="メイリオ"/>
                <a:cs typeface="メイリオ"/>
              </a:rPr>
              <a:t>不安・手続きの壁を</a:t>
            </a:r>
          </a:p>
          <a:p>
            <a:pPr algn="ctr">
              <a:lnSpc>
                <a:spcPct val="110000"/>
              </a:lnSpc>
              <a:spcAft>
                <a:spcPts val="0"/>
              </a:spcAft>
            </a:pPr>
            <a:r>
              <a:rPr sz="1200" b="1">
                <a:solidFill>
                  <a:srgbClr val="1F2A5C"/>
                </a:solidFill>
                <a:latin typeface="メイリオ"/>
                <a:ea typeface="メイリオ"/>
                <a:cs typeface="メイリオ"/>
              </a:rPr>
              <a:t>ひとつずつ解消</a:t>
            </a:r>
          </a:p>
        </p:txBody>
      </p:sp>
      <p:cxnSp>
        <p:nvCxnSpPr>
          <p:cNvPr id="86" name="Connector 85"/>
          <p:cNvCxnSpPr/>
          <p:nvPr/>
        </p:nvCxnSpPr>
        <p:spPr>
          <a:xfrm>
            <a:off x="8586216"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7635240" y="3337559"/>
            <a:ext cx="1901952" cy="73152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500" b="1">
                <a:solidFill>
                  <a:srgbClr val="FFFFFF"/>
                </a:solidFill>
                <a:latin typeface="メイリオ"/>
                <a:ea typeface="メイリオ"/>
                <a:cs typeface="メイリオ"/>
              </a:rPr>
              <a:t>CV</a:t>
            </a:r>
          </a:p>
          <a:p>
            <a:pPr algn="ctr">
              <a:lnSpc>
                <a:spcPct val="110000"/>
              </a:lnSpc>
              <a:spcAft>
                <a:spcPts val="0"/>
              </a:spcAft>
            </a:pPr>
            <a:r>
              <a:rPr sz="1100" b="0">
                <a:solidFill>
                  <a:srgbClr val="FFFFFF"/>
                </a:solidFill>
                <a:latin typeface="メイリオ"/>
                <a:ea typeface="メイリオ"/>
                <a:cs typeface="メイリオ"/>
              </a:rPr>
              <a:t>予約・面談・購入</a:t>
            </a:r>
          </a:p>
        </p:txBody>
      </p:sp>
      <p:cxnSp>
        <p:nvCxnSpPr>
          <p:cNvPr id="88" name="Connector 87"/>
          <p:cNvCxnSpPr/>
          <p:nvPr/>
        </p:nvCxnSpPr>
        <p:spPr>
          <a:xfrm>
            <a:off x="8586216" y="4087368"/>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9" name="Rectangle 88"/>
          <p:cNvSpPr/>
          <p:nvPr/>
        </p:nvSpPr>
        <p:spPr>
          <a:xfrm>
            <a:off x="7635240" y="4334255"/>
            <a:ext cx="1901952" cy="502920"/>
          </a:xfrm>
          <a:prstGeom prst="rect">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400" b="1">
                <a:solidFill>
                  <a:srgbClr val="FFFFFF"/>
                </a:solidFill>
                <a:latin typeface="メイリオ"/>
                <a:ea typeface="メイリオ"/>
                <a:cs typeface="メイリオ"/>
              </a:rPr>
              <a:t>CPA・CPO 改善</a:t>
            </a:r>
          </a:p>
        </p:txBody>
      </p:sp>
      <p:cxnSp>
        <p:nvCxnSpPr>
          <p:cNvPr id="90" name="Connector 89"/>
          <p:cNvCxnSpPr/>
          <p:nvPr/>
        </p:nvCxnSpPr>
        <p:spPr>
          <a:xfrm>
            <a:off x="365760" y="5074920"/>
            <a:ext cx="9171432" cy="0"/>
          </a:xfrm>
          <a:prstGeom prst="line">
            <a:avLst/>
          </a:prstGeom>
          <a:ln w="9525">
            <a:solidFill>
              <a:srgbClr val="D0D5E0"/>
            </a:solidFill>
          </a:ln>
        </p:spPr>
        <p:style>
          <a:lnRef idx="2">
            <a:schemeClr val="accent1"/>
          </a:lnRef>
          <a:fillRef idx="0">
            <a:schemeClr val="accent1"/>
          </a:fillRef>
          <a:effectRef idx="0">
            <a:schemeClr val="accent1"/>
          </a:effectRef>
          <a:fontRef idx="minor">
            <a:schemeClr val="tx1"/>
          </a:fontRef>
        </p:style>
      </p:cxnSp>
      <p:sp>
        <p:nvSpPr>
          <p:cNvPr id="91" name="TextBox 90"/>
          <p:cNvSpPr txBox="1"/>
          <p:nvPr/>
        </p:nvSpPr>
        <p:spPr>
          <a:xfrm>
            <a:off x="36576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見る数字：友だち追加数</a:t>
            </a:r>
          </a:p>
        </p:txBody>
      </p:sp>
      <p:sp>
        <p:nvSpPr>
          <p:cNvPr id="92" name="TextBox 91"/>
          <p:cNvSpPr txBox="1"/>
          <p:nvPr/>
        </p:nvSpPr>
        <p:spPr>
          <a:xfrm>
            <a:off x="269748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見る数字：回答率</a:t>
            </a:r>
          </a:p>
        </p:txBody>
      </p:sp>
      <p:sp>
        <p:nvSpPr>
          <p:cNvPr id="93" name="TextBox 92"/>
          <p:cNvSpPr txBox="1"/>
          <p:nvPr/>
        </p:nvSpPr>
        <p:spPr>
          <a:xfrm>
            <a:off x="5120639" y="5120639"/>
            <a:ext cx="214884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見る数字：開封率・クリック率</a:t>
            </a:r>
          </a:p>
        </p:txBody>
      </p:sp>
      <p:sp>
        <p:nvSpPr>
          <p:cNvPr id="94" name="TextBox 93"/>
          <p:cNvSpPr txBox="1"/>
          <p:nvPr/>
        </p:nvSpPr>
        <p:spPr>
          <a:xfrm>
            <a:off x="7406639" y="5120639"/>
            <a:ext cx="2130552"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見る数字：CV数・CPA・CPO</a:t>
            </a:r>
          </a:p>
        </p:txBody>
      </p:sp>
      <p:sp>
        <p:nvSpPr>
          <p:cNvPr id="95" name="Rectangle 94"/>
          <p:cNvSpPr/>
          <p:nvPr/>
        </p:nvSpPr>
        <p:spPr>
          <a:xfrm>
            <a:off x="365760" y="5623560"/>
            <a:ext cx="9171432" cy="43891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取りこぼしていた約99%を、LINEで追い続けてCVに変える</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初期に整える標準設定と、運用しながら改善する施策の一覧</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ectangle 3">
            <a:extLst>
              <a:ext uri="{FF2B5EF4-FFF2-40B4-BE49-F238E27FC236}">
                <a16:creationId xmlns:a16="http://schemas.microsoft.com/office/drawing/2014/main" id="{8EDF250F-68CF-F752-3821-E813039B5143}"/>
              </a:ext>
            </a:extLst>
          </p:cNvPr>
          <p:cNvSpPr/>
          <p:nvPr/>
        </p:nvSpPr>
        <p:spPr>
          <a:xfrm>
            <a:off x="384048" y="1751297"/>
            <a:ext cx="3611880" cy="256032"/>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初期の標準設定（構築時に設定）</a:t>
            </a:r>
          </a:p>
        </p:txBody>
      </p:sp>
      <p:sp>
        <p:nvSpPr>
          <p:cNvPr id="4" name="Rectangle 4">
            <a:extLst>
              <a:ext uri="{FF2B5EF4-FFF2-40B4-BE49-F238E27FC236}">
                <a16:creationId xmlns:a16="http://schemas.microsoft.com/office/drawing/2014/main" id="{00BC86A0-1945-0E28-F906-696A5BE460B5}"/>
              </a:ext>
            </a:extLst>
          </p:cNvPr>
          <p:cNvSpPr/>
          <p:nvPr/>
        </p:nvSpPr>
        <p:spPr>
          <a:xfrm>
            <a:off x="384048" y="2027227"/>
            <a:ext cx="3611880" cy="438307"/>
          </a:xfrm>
          <a:prstGeom prst="rect">
            <a:avLst/>
          </a:prstGeom>
          <a:solidFill>
            <a:srgbClr val="EEF1F8"/>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9590B812-0BE4-8959-A859-DFBF68A13331}"/>
              </a:ext>
            </a:extLst>
          </p:cNvPr>
          <p:cNvSpPr/>
          <p:nvPr/>
        </p:nvSpPr>
        <p:spPr>
          <a:xfrm>
            <a:off x="457200"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② 挨拶メッセージ</a:t>
            </a:r>
          </a:p>
        </p:txBody>
      </p:sp>
      <p:sp>
        <p:nvSpPr>
          <p:cNvPr id="8" name="Rounded Rectangle 6">
            <a:extLst>
              <a:ext uri="{FF2B5EF4-FFF2-40B4-BE49-F238E27FC236}">
                <a16:creationId xmlns:a16="http://schemas.microsoft.com/office/drawing/2014/main" id="{C604752C-4276-622A-392D-CD8A49B0584B}"/>
              </a:ext>
            </a:extLst>
          </p:cNvPr>
          <p:cNvSpPr/>
          <p:nvPr/>
        </p:nvSpPr>
        <p:spPr>
          <a:xfrm>
            <a:off x="1627632"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⑦ リッチメニュー</a:t>
            </a:r>
          </a:p>
        </p:txBody>
      </p:sp>
      <p:sp>
        <p:nvSpPr>
          <p:cNvPr id="10" name="Rounded Rectangle 7">
            <a:extLst>
              <a:ext uri="{FF2B5EF4-FFF2-40B4-BE49-F238E27FC236}">
                <a16:creationId xmlns:a16="http://schemas.microsoft.com/office/drawing/2014/main" id="{1F06A184-DB9D-F2CB-0471-0929DEE9A890}"/>
              </a:ext>
            </a:extLst>
          </p:cNvPr>
          <p:cNvSpPr/>
          <p:nvPr/>
        </p:nvSpPr>
        <p:spPr>
          <a:xfrm>
            <a:off x="2798064"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⑧ 自動応答</a:t>
            </a:r>
          </a:p>
        </p:txBody>
      </p:sp>
      <p:sp>
        <p:nvSpPr>
          <p:cNvPr id="11" name="Rectangle 8">
            <a:extLst>
              <a:ext uri="{FF2B5EF4-FFF2-40B4-BE49-F238E27FC236}">
                <a16:creationId xmlns:a16="http://schemas.microsoft.com/office/drawing/2014/main" id="{021E765B-A271-DE02-1792-DC9E5CE154F8}"/>
              </a:ext>
            </a:extLst>
          </p:cNvPr>
          <p:cNvSpPr/>
          <p:nvPr/>
        </p:nvSpPr>
        <p:spPr>
          <a:xfrm>
            <a:off x="4160520" y="1751297"/>
            <a:ext cx="5367528"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運用施策（運用しながら改善）</a:t>
            </a:r>
          </a:p>
        </p:txBody>
      </p:sp>
      <p:sp>
        <p:nvSpPr>
          <p:cNvPr id="12" name="Rectangle 9">
            <a:extLst>
              <a:ext uri="{FF2B5EF4-FFF2-40B4-BE49-F238E27FC236}">
                <a16:creationId xmlns:a16="http://schemas.microsoft.com/office/drawing/2014/main" id="{99190E0E-1162-5C21-4FF0-A5498319FCC2}"/>
              </a:ext>
            </a:extLst>
          </p:cNvPr>
          <p:cNvSpPr/>
          <p:nvPr/>
        </p:nvSpPr>
        <p:spPr>
          <a:xfrm>
            <a:off x="4160520" y="2027227"/>
            <a:ext cx="5367528" cy="438307"/>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3" name="Rounded Rectangle 10">
            <a:extLst>
              <a:ext uri="{FF2B5EF4-FFF2-40B4-BE49-F238E27FC236}">
                <a16:creationId xmlns:a16="http://schemas.microsoft.com/office/drawing/2014/main" id="{6525B561-FBF1-FB44-C0A8-CC3FE6C9680F}"/>
              </a:ext>
            </a:extLst>
          </p:cNvPr>
          <p:cNvSpPr/>
          <p:nvPr/>
        </p:nvSpPr>
        <p:spPr>
          <a:xfrm>
            <a:off x="4224528"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① ポップアップ</a:t>
            </a:r>
          </a:p>
        </p:txBody>
      </p:sp>
      <p:sp>
        <p:nvSpPr>
          <p:cNvPr id="14" name="Rounded Rectangle 11">
            <a:extLst>
              <a:ext uri="{FF2B5EF4-FFF2-40B4-BE49-F238E27FC236}">
                <a16:creationId xmlns:a16="http://schemas.microsoft.com/office/drawing/2014/main" id="{C4024D48-4A70-13B2-70F7-88912D787030}"/>
              </a:ext>
            </a:extLst>
          </p:cNvPr>
          <p:cNvSpPr/>
          <p:nvPr/>
        </p:nvSpPr>
        <p:spPr>
          <a:xfrm>
            <a:off x="5266944"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③ アンケート</a:t>
            </a:r>
          </a:p>
        </p:txBody>
      </p:sp>
      <p:sp>
        <p:nvSpPr>
          <p:cNvPr id="15" name="Rounded Rectangle 12">
            <a:extLst>
              <a:ext uri="{FF2B5EF4-FFF2-40B4-BE49-F238E27FC236}">
                <a16:creationId xmlns:a16="http://schemas.microsoft.com/office/drawing/2014/main" id="{D6345F19-2B8B-BAED-2EDE-1419C87C7D29}"/>
              </a:ext>
            </a:extLst>
          </p:cNvPr>
          <p:cNvSpPr/>
          <p:nvPr/>
        </p:nvSpPr>
        <p:spPr>
          <a:xfrm>
            <a:off x="6309360"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dirty="0">
                <a:solidFill>
                  <a:srgbClr val="C8102E"/>
                </a:solidFill>
                <a:latin typeface="メイリオ" panose="020B0604030504040204" pitchFamily="50" charset="-128"/>
                <a:ea typeface="メイリオ" panose="020B0604030504040204" pitchFamily="50" charset="-128"/>
                <a:cs typeface="メイリオ"/>
              </a:rPr>
              <a:t>④ </a:t>
            </a:r>
            <a:r>
              <a:rPr sz="800" b="1" dirty="0" err="1">
                <a:solidFill>
                  <a:srgbClr val="C8102E"/>
                </a:solidFill>
                <a:latin typeface="メイリオ" panose="020B0604030504040204" pitchFamily="50" charset="-128"/>
                <a:ea typeface="メイリオ" panose="020B0604030504040204" pitchFamily="50" charset="-128"/>
                <a:cs typeface="メイリオ"/>
              </a:rPr>
              <a:t>タグ</a:t>
            </a:r>
            <a:endParaRPr lang="en-US" sz="800" b="1" dirty="0">
              <a:solidFill>
                <a:srgbClr val="C8102E"/>
              </a:solidFill>
              <a:latin typeface="メイリオ" panose="020B0604030504040204" pitchFamily="50" charset="-128"/>
              <a:ea typeface="メイリオ" panose="020B0604030504040204" pitchFamily="50" charset="-128"/>
              <a:cs typeface="メイリオ"/>
            </a:endParaRPr>
          </a:p>
          <a:p>
            <a:pPr algn="ctr">
              <a:spcAft>
                <a:spcPts val="0"/>
              </a:spcAft>
            </a:pPr>
            <a:r>
              <a:rPr sz="800" b="1" dirty="0" err="1">
                <a:solidFill>
                  <a:srgbClr val="C8102E"/>
                </a:solidFill>
                <a:latin typeface="メイリオ" panose="020B0604030504040204" pitchFamily="50" charset="-128"/>
                <a:ea typeface="メイリオ" panose="020B0604030504040204" pitchFamily="50" charset="-128"/>
                <a:cs typeface="メイリオ"/>
              </a:rPr>
              <a:t>セグメント</a:t>
            </a:r>
            <a:endParaRPr sz="800" b="1" dirty="0">
              <a:solidFill>
                <a:srgbClr val="C8102E"/>
              </a:solidFill>
              <a:latin typeface="メイリオ" panose="020B0604030504040204" pitchFamily="50" charset="-128"/>
              <a:ea typeface="メイリオ" panose="020B0604030504040204" pitchFamily="50" charset="-128"/>
              <a:cs typeface="メイリオ"/>
            </a:endParaRPr>
          </a:p>
        </p:txBody>
      </p:sp>
      <p:sp>
        <p:nvSpPr>
          <p:cNvPr id="16" name="Rounded Rectangle 13">
            <a:extLst>
              <a:ext uri="{FF2B5EF4-FFF2-40B4-BE49-F238E27FC236}">
                <a16:creationId xmlns:a16="http://schemas.microsoft.com/office/drawing/2014/main" id="{B6BAB4F4-45CE-B7A8-528B-A94A518CCAAA}"/>
              </a:ext>
            </a:extLst>
          </p:cNvPr>
          <p:cNvSpPr/>
          <p:nvPr/>
        </p:nvSpPr>
        <p:spPr>
          <a:xfrm>
            <a:off x="7351775"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⑤ ステップ配信</a:t>
            </a:r>
          </a:p>
        </p:txBody>
      </p:sp>
      <p:sp>
        <p:nvSpPr>
          <p:cNvPr id="17" name="Rounded Rectangle 14">
            <a:extLst>
              <a:ext uri="{FF2B5EF4-FFF2-40B4-BE49-F238E27FC236}">
                <a16:creationId xmlns:a16="http://schemas.microsoft.com/office/drawing/2014/main" id="{F70AA91C-29B1-D2A6-C89C-6EE4F60F14DB}"/>
              </a:ext>
            </a:extLst>
          </p:cNvPr>
          <p:cNvSpPr/>
          <p:nvPr/>
        </p:nvSpPr>
        <p:spPr>
          <a:xfrm>
            <a:off x="8394192"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⑥ 企画配信</a:t>
            </a:r>
          </a:p>
        </p:txBody>
      </p:sp>
      <p:sp>
        <p:nvSpPr>
          <p:cNvPr id="18" name="Rectangle 15">
            <a:extLst>
              <a:ext uri="{FF2B5EF4-FFF2-40B4-BE49-F238E27FC236}">
                <a16:creationId xmlns:a16="http://schemas.microsoft.com/office/drawing/2014/main" id="{013A02CB-0DA2-C819-A363-A0BFC4E5F783}"/>
              </a:ext>
            </a:extLst>
          </p:cNvPr>
          <p:cNvSpPr/>
          <p:nvPr/>
        </p:nvSpPr>
        <p:spPr>
          <a:xfrm>
            <a:off x="384048" y="2586136"/>
            <a:ext cx="2468880" cy="1657418"/>
          </a:xfrm>
          <a:prstGeom prst="rect">
            <a:avLst/>
          </a:prstGeom>
          <a:solidFill>
            <a:srgbClr val="FFFFFF"/>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9" name="Rectangle 16">
            <a:extLst>
              <a:ext uri="{FF2B5EF4-FFF2-40B4-BE49-F238E27FC236}">
                <a16:creationId xmlns:a16="http://schemas.microsoft.com/office/drawing/2014/main" id="{E86D2C36-78EC-6854-E4E1-7334CABCDC1A}"/>
              </a:ext>
            </a:extLst>
          </p:cNvPr>
          <p:cNvSpPr/>
          <p:nvPr/>
        </p:nvSpPr>
        <p:spPr>
          <a:xfrm>
            <a:off x="384048" y="2588622"/>
            <a:ext cx="2468880" cy="2377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0" name="Oval 17">
            <a:extLst>
              <a:ext uri="{FF2B5EF4-FFF2-40B4-BE49-F238E27FC236}">
                <a16:creationId xmlns:a16="http://schemas.microsoft.com/office/drawing/2014/main" id="{094197D1-B3A2-167E-A162-4DA5857C26B2}"/>
              </a:ext>
            </a:extLst>
          </p:cNvPr>
          <p:cNvSpPr/>
          <p:nvPr/>
        </p:nvSpPr>
        <p:spPr>
          <a:xfrm>
            <a:off x="457200" y="2661774"/>
            <a:ext cx="91440" cy="9144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1" name="Oval 18">
            <a:extLst>
              <a:ext uri="{FF2B5EF4-FFF2-40B4-BE49-F238E27FC236}">
                <a16:creationId xmlns:a16="http://schemas.microsoft.com/office/drawing/2014/main" id="{1C9CC394-D94D-C09E-632E-D667409C8EAC}"/>
              </a:ext>
            </a:extLst>
          </p:cNvPr>
          <p:cNvSpPr/>
          <p:nvPr/>
        </p:nvSpPr>
        <p:spPr>
          <a:xfrm>
            <a:off x="612648" y="2661774"/>
            <a:ext cx="91440" cy="9144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2" name="Oval 19">
            <a:extLst>
              <a:ext uri="{FF2B5EF4-FFF2-40B4-BE49-F238E27FC236}">
                <a16:creationId xmlns:a16="http://schemas.microsoft.com/office/drawing/2014/main" id="{1E0A0DDB-0FA0-A8C4-EFC1-1987BE7B342B}"/>
              </a:ext>
            </a:extLst>
          </p:cNvPr>
          <p:cNvSpPr/>
          <p:nvPr/>
        </p:nvSpPr>
        <p:spPr>
          <a:xfrm>
            <a:off x="768096" y="2661774"/>
            <a:ext cx="91440" cy="91440"/>
          </a:xfrm>
          <a:prstGeom prst="ellipse">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3" name="Rectangle 20">
            <a:extLst>
              <a:ext uri="{FF2B5EF4-FFF2-40B4-BE49-F238E27FC236}">
                <a16:creationId xmlns:a16="http://schemas.microsoft.com/office/drawing/2014/main" id="{C7D8DE35-18E9-B2F8-EBB6-F5D39FC00825}"/>
              </a:ext>
            </a:extLst>
          </p:cNvPr>
          <p:cNvSpPr/>
          <p:nvPr/>
        </p:nvSpPr>
        <p:spPr>
          <a:xfrm>
            <a:off x="475488" y="2862942"/>
            <a:ext cx="1005840" cy="91440"/>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4" name="Rectangle 21">
            <a:extLst>
              <a:ext uri="{FF2B5EF4-FFF2-40B4-BE49-F238E27FC236}">
                <a16:creationId xmlns:a16="http://schemas.microsoft.com/office/drawing/2014/main" id="{5A60E50B-1463-C428-350C-6B20BB14F600}"/>
              </a:ext>
            </a:extLst>
          </p:cNvPr>
          <p:cNvSpPr/>
          <p:nvPr/>
        </p:nvSpPr>
        <p:spPr>
          <a:xfrm>
            <a:off x="475488" y="3000102"/>
            <a:ext cx="228600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5" name="Rectangle 22">
            <a:extLst>
              <a:ext uri="{FF2B5EF4-FFF2-40B4-BE49-F238E27FC236}">
                <a16:creationId xmlns:a16="http://schemas.microsoft.com/office/drawing/2014/main" id="{51632E22-3CBA-3EB1-097C-B5A452ACFB3F}"/>
              </a:ext>
            </a:extLst>
          </p:cNvPr>
          <p:cNvSpPr/>
          <p:nvPr/>
        </p:nvSpPr>
        <p:spPr>
          <a:xfrm>
            <a:off x="475488" y="3109830"/>
            <a:ext cx="201168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6" name="Rectangle 23">
            <a:extLst>
              <a:ext uri="{FF2B5EF4-FFF2-40B4-BE49-F238E27FC236}">
                <a16:creationId xmlns:a16="http://schemas.microsoft.com/office/drawing/2014/main" id="{A95F03D9-D5D2-F49D-3FA0-8D85F2FD1C45}"/>
              </a:ext>
            </a:extLst>
          </p:cNvPr>
          <p:cNvSpPr/>
          <p:nvPr/>
        </p:nvSpPr>
        <p:spPr>
          <a:xfrm>
            <a:off x="475488"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7" name="Rectangle 24">
            <a:extLst>
              <a:ext uri="{FF2B5EF4-FFF2-40B4-BE49-F238E27FC236}">
                <a16:creationId xmlns:a16="http://schemas.microsoft.com/office/drawing/2014/main" id="{9C4DBD8F-DB8B-6351-EA24-784802E89E28}"/>
              </a:ext>
            </a:extLst>
          </p:cNvPr>
          <p:cNvSpPr/>
          <p:nvPr/>
        </p:nvSpPr>
        <p:spPr>
          <a:xfrm>
            <a:off x="1417320"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8" name="Rounded Rectangle 25">
            <a:extLst>
              <a:ext uri="{FF2B5EF4-FFF2-40B4-BE49-F238E27FC236}">
                <a16:creationId xmlns:a16="http://schemas.microsoft.com/office/drawing/2014/main" id="{1214AD64-46E6-CE51-6B77-7D205CC291B6}"/>
              </a:ext>
            </a:extLst>
          </p:cNvPr>
          <p:cNvSpPr/>
          <p:nvPr/>
        </p:nvSpPr>
        <p:spPr>
          <a:xfrm>
            <a:off x="825135" y="3159858"/>
            <a:ext cx="1783080" cy="982414"/>
          </a:xfrm>
          <a:prstGeom prst="roundRect">
            <a:avLst/>
          </a:prstGeom>
          <a:solidFill>
            <a:srgbClr val="FFFFFF"/>
          </a:solidFill>
          <a:ln w="254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ご予約・お問い合わせ前に</a:t>
            </a:r>
            <a:endParaRPr sz="700" b="0" dirty="0">
              <a:solidFill>
                <a:srgbClr val="777777"/>
              </a:solidFill>
              <a:latin typeface="メイリオ" panose="020B0604030504040204" pitchFamily="50" charset="-128"/>
              <a:ea typeface="メイリオ" panose="020B0604030504040204" pitchFamily="50" charset="-128"/>
              <a:cs typeface="メイリオ"/>
            </a:endParaRPr>
          </a:p>
          <a:p>
            <a:pPr algn="ctr">
              <a:spcAft>
                <a:spcPts val="0"/>
              </a:spcAft>
            </a:pPr>
            <a:r>
              <a:rPr sz="900" b="1" dirty="0" err="1">
                <a:solidFill>
                  <a:srgbClr val="1F2A5C"/>
                </a:solidFill>
                <a:latin typeface="メイリオ" panose="020B0604030504040204" pitchFamily="50" charset="-128"/>
                <a:ea typeface="メイリオ" panose="020B0604030504040204" pitchFamily="50" charset="-128"/>
                <a:cs typeface="メイリオ"/>
              </a:rPr>
              <a:t>LINE友だち追加で特典</a:t>
            </a:r>
            <a:r>
              <a:rPr sz="900" b="1" dirty="0">
                <a:solidFill>
                  <a:srgbClr val="1F2A5C"/>
                </a:solidFill>
                <a:latin typeface="メイリオ" panose="020B0604030504040204" pitchFamily="50" charset="-128"/>
                <a:ea typeface="メイリオ" panose="020B0604030504040204" pitchFamily="50" charset="-128"/>
                <a:cs typeface="メイリオ"/>
              </a:rPr>
              <a:t>！</a:t>
            </a: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sz="9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Rounded Rectangle 26">
            <a:extLst>
              <a:ext uri="{FF2B5EF4-FFF2-40B4-BE49-F238E27FC236}">
                <a16:creationId xmlns:a16="http://schemas.microsoft.com/office/drawing/2014/main" id="{998E2A17-395F-CCDF-55C9-6834BD58C112}"/>
              </a:ext>
            </a:extLst>
          </p:cNvPr>
          <p:cNvSpPr/>
          <p:nvPr/>
        </p:nvSpPr>
        <p:spPr>
          <a:xfrm>
            <a:off x="1099455" y="3688154"/>
            <a:ext cx="1234440" cy="332509"/>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友だち追加</a:t>
            </a:r>
          </a:p>
        </p:txBody>
      </p:sp>
      <p:sp>
        <p:nvSpPr>
          <p:cNvPr id="30" name="Oval 27">
            <a:extLst>
              <a:ext uri="{FF2B5EF4-FFF2-40B4-BE49-F238E27FC236}">
                <a16:creationId xmlns:a16="http://schemas.microsoft.com/office/drawing/2014/main" id="{AD747F76-72D9-179D-BBA8-F6B4DCA2093D}"/>
              </a:ext>
            </a:extLst>
          </p:cNvPr>
          <p:cNvSpPr/>
          <p:nvPr/>
        </p:nvSpPr>
        <p:spPr>
          <a:xfrm>
            <a:off x="596535" y="2995984"/>
            <a:ext cx="292608" cy="266007"/>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1</a:t>
            </a:r>
          </a:p>
        </p:txBody>
      </p:sp>
      <p:sp>
        <p:nvSpPr>
          <p:cNvPr id="31" name="Rectangle 28">
            <a:extLst>
              <a:ext uri="{FF2B5EF4-FFF2-40B4-BE49-F238E27FC236}">
                <a16:creationId xmlns:a16="http://schemas.microsoft.com/office/drawing/2014/main" id="{1010E9AC-BCA0-BF47-C7F8-A152DF96AA04}"/>
              </a:ext>
            </a:extLst>
          </p:cNvPr>
          <p:cNvSpPr/>
          <p:nvPr/>
        </p:nvSpPr>
        <p:spPr>
          <a:xfrm>
            <a:off x="384048" y="4234536"/>
            <a:ext cx="2468880" cy="502920"/>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dirty="0">
                <a:solidFill>
                  <a:srgbClr val="C8102E"/>
                </a:solidFill>
                <a:latin typeface="メイリオ" panose="020B0604030504040204" pitchFamily="50" charset="-128"/>
                <a:ea typeface="メイリオ" panose="020B0604030504040204" pitchFamily="50" charset="-128"/>
                <a:cs typeface="メイリオ"/>
              </a:rPr>
              <a:t>① </a:t>
            </a:r>
            <a:r>
              <a:rPr sz="1000" b="1" dirty="0" err="1">
                <a:solidFill>
                  <a:srgbClr val="C8102E"/>
                </a:solidFill>
                <a:latin typeface="メイリオ" panose="020B0604030504040204" pitchFamily="50" charset="-128"/>
                <a:ea typeface="メイリオ" panose="020B0604030504040204" pitchFamily="50" charset="-128"/>
                <a:cs typeface="メイリオ"/>
              </a:rPr>
              <a:t>サイトのポップアップ</a:t>
            </a:r>
            <a:endParaRPr sz="1000" b="1" dirty="0">
              <a:solidFill>
                <a:srgbClr val="C8102E"/>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サイトからLINEへ誘導（専用ツール</a:t>
            </a:r>
            <a:r>
              <a:rPr sz="800" b="0" dirty="0">
                <a:solidFill>
                  <a:srgbClr val="333333"/>
                </a:solidFill>
                <a:latin typeface="メイリオ" panose="020B0604030504040204" pitchFamily="50" charset="-128"/>
                <a:ea typeface="メイリオ" panose="020B0604030504040204" pitchFamily="50" charset="-128"/>
                <a:cs typeface="メイリオ"/>
              </a:rPr>
              <a:t>）</a:t>
            </a:r>
          </a:p>
        </p:txBody>
      </p:sp>
      <p:sp>
        <p:nvSpPr>
          <p:cNvPr id="32" name="Rectangle 29">
            <a:extLst>
              <a:ext uri="{FF2B5EF4-FFF2-40B4-BE49-F238E27FC236}">
                <a16:creationId xmlns:a16="http://schemas.microsoft.com/office/drawing/2014/main" id="{C9B761A3-7BC1-BEDC-5294-579F8513A3B8}"/>
              </a:ext>
            </a:extLst>
          </p:cNvPr>
          <p:cNvSpPr/>
          <p:nvPr/>
        </p:nvSpPr>
        <p:spPr>
          <a:xfrm>
            <a:off x="384048" y="4900742"/>
            <a:ext cx="2468880" cy="1463040"/>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84048" y="4900742"/>
            <a:ext cx="2468880" cy="2926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④ タグ・セグメント</a:t>
            </a:r>
          </a:p>
        </p:txBody>
      </p:sp>
      <p:sp>
        <p:nvSpPr>
          <p:cNvPr id="34" name="Oval 31">
            <a:extLst>
              <a:ext uri="{FF2B5EF4-FFF2-40B4-BE49-F238E27FC236}">
                <a16:creationId xmlns:a16="http://schemas.microsoft.com/office/drawing/2014/main" id="{44AA6966-72C4-4DBF-CD4A-516799942AE3}"/>
              </a:ext>
            </a:extLst>
          </p:cNvPr>
          <p:cNvSpPr/>
          <p:nvPr/>
        </p:nvSpPr>
        <p:spPr>
          <a:xfrm>
            <a:off x="502920" y="5266502"/>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822960" y="5275646"/>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502920" y="5586542"/>
            <a:ext cx="105156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運動に興味</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1627632" y="5586542"/>
            <a:ext cx="109728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乗車5回以上</a:t>
            </a:r>
          </a:p>
        </p:txBody>
      </p:sp>
      <p:sp>
        <p:nvSpPr>
          <p:cNvPr id="38" name="Rectangle 35">
            <a:extLst>
              <a:ext uri="{FF2B5EF4-FFF2-40B4-BE49-F238E27FC236}">
                <a16:creationId xmlns:a16="http://schemas.microsoft.com/office/drawing/2014/main" id="{EFFFAAD6-D553-33A2-0CDA-D0F89C23C45A}"/>
              </a:ext>
            </a:extLst>
          </p:cNvPr>
          <p:cNvSpPr/>
          <p:nvPr/>
        </p:nvSpPr>
        <p:spPr>
          <a:xfrm>
            <a:off x="475488" y="5879150"/>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a:solidFill>
                  <a:srgbClr val="1F2A5C"/>
                </a:solidFill>
                <a:latin typeface="メイリオ" panose="020B0604030504040204" pitchFamily="50" charset="-128"/>
                <a:ea typeface="メイリオ" panose="020B0604030504040204" pitchFamily="50" charset="-128"/>
                <a:cs typeface="メイリオ"/>
              </a:rPr>
              <a:t>→「</a:t>
            </a:r>
            <a:r>
              <a:rPr sz="800" b="1" dirty="0" err="1">
                <a:solidFill>
                  <a:srgbClr val="1F2A5C"/>
                </a:solidFill>
                <a:latin typeface="メイリオ" panose="020B0604030504040204" pitchFamily="50" charset="-128"/>
                <a:ea typeface="メイリオ" panose="020B0604030504040204" pitchFamily="50" charset="-128"/>
                <a:cs typeface="メイリオ"/>
              </a:rPr>
              <a:t>運動に興味」の人だけに配信</a:t>
            </a:r>
            <a:endParaRPr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標準＋APIツール</a:t>
            </a:r>
            <a:endParaRPr sz="700" b="0" dirty="0">
              <a:solidFill>
                <a:srgbClr val="777777"/>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3200400" y="2663021"/>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3255264" y="2853798"/>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3611880" y="2768505"/>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友だち追加ありがとう！特典</a:t>
            </a:r>
            <a:r>
              <a:rPr lang="ja-JP" altLang="en-US" sz="800" b="0" dirty="0">
                <a:solidFill>
                  <a:srgbClr val="333333"/>
                </a:solidFill>
                <a:latin typeface="メイリオ" panose="020B0604030504040204" pitchFamily="50" charset="-128"/>
                <a:ea typeface="メイリオ" panose="020B0604030504040204" pitchFamily="50" charset="-128"/>
                <a:cs typeface="メイリオ"/>
              </a:rPr>
              <a:t>は</a:t>
            </a:r>
            <a:r>
              <a:rPr lang="en-US" altLang="ja-JP" sz="800" b="0" dirty="0">
                <a:solidFill>
                  <a:srgbClr val="333333"/>
                </a:solidFill>
                <a:latin typeface="メイリオ" panose="020B0604030504040204" pitchFamily="50" charset="-128"/>
                <a:ea typeface="メイリオ" panose="020B0604030504040204" pitchFamily="50" charset="-128"/>
                <a:cs typeface="メイリオ"/>
              </a:rPr>
              <a:t>…</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3310128" y="327442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3611880" y="3321789"/>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お子様の興味は？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3611880"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英語</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4123944" y="3640182"/>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a:t>
            </a:r>
          </a:p>
        </p:txBody>
      </p:sp>
      <p:sp>
        <p:nvSpPr>
          <p:cNvPr id="46" name="Rounded Rectangle 45">
            <a:extLst>
              <a:ext uri="{FF2B5EF4-FFF2-40B4-BE49-F238E27FC236}">
                <a16:creationId xmlns:a16="http://schemas.microsoft.com/office/drawing/2014/main" id="{671CB2FB-6AD7-FF9C-FB8A-30A83CB7BDBC}"/>
              </a:ext>
            </a:extLst>
          </p:cNvPr>
          <p:cNvSpPr/>
          <p:nvPr/>
        </p:nvSpPr>
        <p:spPr>
          <a:xfrm>
            <a:off x="4636008"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知育</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5166360" y="3640182"/>
            <a:ext cx="457200" cy="237744"/>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3310128" y="40242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3611880" y="401895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【Day3】運動指導のご紹介</a:t>
            </a:r>
          </a:p>
        </p:txBody>
      </p:sp>
      <p:sp>
        <p:nvSpPr>
          <p:cNvPr id="50" name="Oval 49">
            <a:extLst>
              <a:ext uri="{FF2B5EF4-FFF2-40B4-BE49-F238E27FC236}">
                <a16:creationId xmlns:a16="http://schemas.microsoft.com/office/drawing/2014/main" id="{D7FC1F60-741B-1216-E3C2-B9A9825969FD}"/>
              </a:ext>
            </a:extLst>
          </p:cNvPr>
          <p:cNvSpPr/>
          <p:nvPr/>
        </p:nvSpPr>
        <p:spPr>
          <a:xfrm>
            <a:off x="3310128" y="46003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3611880" y="4595031"/>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【今月】夏のイベント開催</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4434840" y="5084934"/>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料金を教えて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3310128" y="537754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3611880" y="5395155"/>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料金はこちらです→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3255264" y="6042006"/>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327355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386791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446227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05663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店舗</a:t>
            </a:r>
          </a:p>
        </p:txBody>
      </p:sp>
      <p:sp>
        <p:nvSpPr>
          <p:cNvPr id="61" name="Oval 60">
            <a:extLst>
              <a:ext uri="{FF2B5EF4-FFF2-40B4-BE49-F238E27FC236}">
                <a16:creationId xmlns:a16="http://schemas.microsoft.com/office/drawing/2014/main" id="{078D547B-19C0-D1D7-0B0A-A47E1EF12496}"/>
              </a:ext>
            </a:extLst>
          </p:cNvPr>
          <p:cNvSpPr/>
          <p:nvPr/>
        </p:nvSpPr>
        <p:spPr>
          <a:xfrm>
            <a:off x="3063240" y="3210414"/>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3</a:t>
            </a:r>
          </a:p>
        </p:txBody>
      </p:sp>
      <p:sp>
        <p:nvSpPr>
          <p:cNvPr id="62" name="Oval 61">
            <a:extLst>
              <a:ext uri="{FF2B5EF4-FFF2-40B4-BE49-F238E27FC236}">
                <a16:creationId xmlns:a16="http://schemas.microsoft.com/office/drawing/2014/main" id="{D5B5DA36-D1AC-3FF4-B014-CB1D23230DF3}"/>
              </a:ext>
            </a:extLst>
          </p:cNvPr>
          <p:cNvSpPr/>
          <p:nvPr/>
        </p:nvSpPr>
        <p:spPr>
          <a:xfrm>
            <a:off x="3063240" y="3914502"/>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5</a:t>
            </a:r>
          </a:p>
        </p:txBody>
      </p:sp>
      <p:sp>
        <p:nvSpPr>
          <p:cNvPr id="63" name="Oval 62">
            <a:extLst>
              <a:ext uri="{FF2B5EF4-FFF2-40B4-BE49-F238E27FC236}">
                <a16:creationId xmlns:a16="http://schemas.microsoft.com/office/drawing/2014/main" id="{AD9506F4-3424-385A-C649-D53A66ECE0FA}"/>
              </a:ext>
            </a:extLst>
          </p:cNvPr>
          <p:cNvSpPr/>
          <p:nvPr/>
        </p:nvSpPr>
        <p:spPr>
          <a:xfrm>
            <a:off x="3063240" y="4481430"/>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6</a:t>
            </a:r>
          </a:p>
        </p:txBody>
      </p:sp>
      <p:sp>
        <p:nvSpPr>
          <p:cNvPr id="64" name="Oval 63">
            <a:extLst>
              <a:ext uri="{FF2B5EF4-FFF2-40B4-BE49-F238E27FC236}">
                <a16:creationId xmlns:a16="http://schemas.microsoft.com/office/drawing/2014/main" id="{E17B94F9-0158-3E3C-FFDC-922E33C08ACA}"/>
              </a:ext>
            </a:extLst>
          </p:cNvPr>
          <p:cNvSpPr/>
          <p:nvPr/>
        </p:nvSpPr>
        <p:spPr>
          <a:xfrm>
            <a:off x="3063240" y="528610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8</a:t>
            </a:r>
          </a:p>
        </p:txBody>
      </p:sp>
      <p:sp>
        <p:nvSpPr>
          <p:cNvPr id="65" name="Oval 64">
            <a:extLst>
              <a:ext uri="{FF2B5EF4-FFF2-40B4-BE49-F238E27FC236}">
                <a16:creationId xmlns:a16="http://schemas.microsoft.com/office/drawing/2014/main" id="{C5EFD1D0-F44A-23A1-ADF0-04BFFF1243A0}"/>
              </a:ext>
            </a:extLst>
          </p:cNvPr>
          <p:cNvSpPr/>
          <p:nvPr/>
        </p:nvSpPr>
        <p:spPr>
          <a:xfrm>
            <a:off x="3063240" y="59871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7</a:t>
            </a:r>
          </a:p>
        </p:txBody>
      </p:sp>
      <p:cxnSp>
        <p:nvCxnSpPr>
          <p:cNvPr id="66" name="Connector 65">
            <a:extLst>
              <a:ext uri="{FF2B5EF4-FFF2-40B4-BE49-F238E27FC236}">
                <a16:creationId xmlns:a16="http://schemas.microsoft.com/office/drawing/2014/main" id="{1B3B9544-3929-8790-DDDE-E6205C63DB3B}"/>
              </a:ext>
            </a:extLst>
          </p:cNvPr>
          <p:cNvCxnSpPr/>
          <p:nvPr/>
        </p:nvCxnSpPr>
        <p:spPr>
          <a:xfrm>
            <a:off x="5715000" y="286294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BACF9AB3-5E23-75E5-2907-1B4CAA7E7697}"/>
              </a:ext>
            </a:extLst>
          </p:cNvPr>
          <p:cNvSpPr/>
          <p:nvPr/>
        </p:nvSpPr>
        <p:spPr>
          <a:xfrm>
            <a:off x="5989320" y="256119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8" name="Rectangle 67">
            <a:extLst>
              <a:ext uri="{FF2B5EF4-FFF2-40B4-BE49-F238E27FC236}">
                <a16:creationId xmlns:a16="http://schemas.microsoft.com/office/drawing/2014/main" id="{D99B972D-7A0F-C085-4B94-F0E1D1E5B217}"/>
              </a:ext>
            </a:extLst>
          </p:cNvPr>
          <p:cNvSpPr/>
          <p:nvPr/>
        </p:nvSpPr>
        <p:spPr>
          <a:xfrm>
            <a:off x="5989320" y="256119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9" name="Rectangle 68">
            <a:extLst>
              <a:ext uri="{FF2B5EF4-FFF2-40B4-BE49-F238E27FC236}">
                <a16:creationId xmlns:a16="http://schemas.microsoft.com/office/drawing/2014/main" id="{16F41EB6-80FA-E920-A132-BB4988500C60}"/>
              </a:ext>
            </a:extLst>
          </p:cNvPr>
          <p:cNvSpPr/>
          <p:nvPr/>
        </p:nvSpPr>
        <p:spPr>
          <a:xfrm>
            <a:off x="6108192" y="257947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2　挨拶メッセージ</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追加直後に自動で届く最初のメッセージ</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cxnSp>
        <p:nvCxnSpPr>
          <p:cNvPr id="70" name="Connector 69">
            <a:extLst>
              <a:ext uri="{FF2B5EF4-FFF2-40B4-BE49-F238E27FC236}">
                <a16:creationId xmlns:a16="http://schemas.microsoft.com/office/drawing/2014/main" id="{1CC8A23C-C7AE-2F6C-E6D0-69403F4AE719}"/>
              </a:ext>
            </a:extLst>
          </p:cNvPr>
          <p:cNvCxnSpPr/>
          <p:nvPr/>
        </p:nvCxnSpPr>
        <p:spPr>
          <a:xfrm>
            <a:off x="5715000" y="34573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878551C-954D-5600-4A28-2FB6B2FC835B}"/>
              </a:ext>
            </a:extLst>
          </p:cNvPr>
          <p:cNvSpPr/>
          <p:nvPr/>
        </p:nvSpPr>
        <p:spPr>
          <a:xfrm>
            <a:off x="5989320" y="3164694"/>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2" name="Rectangle 71">
            <a:extLst>
              <a:ext uri="{FF2B5EF4-FFF2-40B4-BE49-F238E27FC236}">
                <a16:creationId xmlns:a16="http://schemas.microsoft.com/office/drawing/2014/main" id="{08D588BD-CE61-D530-7D53-445F6FE2028D}"/>
              </a:ext>
            </a:extLst>
          </p:cNvPr>
          <p:cNvSpPr/>
          <p:nvPr/>
        </p:nvSpPr>
        <p:spPr>
          <a:xfrm>
            <a:off x="5989320" y="3164694"/>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3" name="Rectangle 72">
            <a:extLst>
              <a:ext uri="{FF2B5EF4-FFF2-40B4-BE49-F238E27FC236}">
                <a16:creationId xmlns:a16="http://schemas.microsoft.com/office/drawing/2014/main" id="{BEFBEC83-9F5E-D6AF-38B6-828597BBE02B}"/>
              </a:ext>
            </a:extLst>
          </p:cNvPr>
          <p:cNvSpPr/>
          <p:nvPr/>
        </p:nvSpPr>
        <p:spPr>
          <a:xfrm>
            <a:off x="6108192" y="318298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3　アンケート</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1タップで回答。興味・状況を把握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運用施策｜標準（簡易）／APIツール</a:t>
            </a:r>
          </a:p>
        </p:txBody>
      </p:sp>
      <p:cxnSp>
        <p:nvCxnSpPr>
          <p:cNvPr id="74" name="Connector 73">
            <a:extLst>
              <a:ext uri="{FF2B5EF4-FFF2-40B4-BE49-F238E27FC236}">
                <a16:creationId xmlns:a16="http://schemas.microsoft.com/office/drawing/2014/main" id="{087854F0-E07A-106C-2F55-5F4540F70FC7}"/>
              </a:ext>
            </a:extLst>
          </p:cNvPr>
          <p:cNvCxnSpPr/>
          <p:nvPr/>
        </p:nvCxnSpPr>
        <p:spPr>
          <a:xfrm>
            <a:off x="5715000" y="41431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5E635C83-4255-D874-02BA-723D8D3945A1}"/>
              </a:ext>
            </a:extLst>
          </p:cNvPr>
          <p:cNvSpPr/>
          <p:nvPr/>
        </p:nvSpPr>
        <p:spPr>
          <a:xfrm>
            <a:off x="5989320" y="3841350"/>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6" name="Rectangle 75">
            <a:extLst>
              <a:ext uri="{FF2B5EF4-FFF2-40B4-BE49-F238E27FC236}">
                <a16:creationId xmlns:a16="http://schemas.microsoft.com/office/drawing/2014/main" id="{DA813A00-D7BA-7CEB-2811-E995F53B6411}"/>
              </a:ext>
            </a:extLst>
          </p:cNvPr>
          <p:cNvSpPr/>
          <p:nvPr/>
        </p:nvSpPr>
        <p:spPr>
          <a:xfrm>
            <a:off x="5989320" y="3841350"/>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7" name="Rectangle 76">
            <a:extLst>
              <a:ext uri="{FF2B5EF4-FFF2-40B4-BE49-F238E27FC236}">
                <a16:creationId xmlns:a16="http://schemas.microsoft.com/office/drawing/2014/main" id="{37095BF6-3F59-87B8-0E59-07F70CAF7197}"/>
              </a:ext>
            </a:extLst>
          </p:cNvPr>
          <p:cNvSpPr/>
          <p:nvPr/>
        </p:nvSpPr>
        <p:spPr>
          <a:xfrm>
            <a:off x="6108192" y="385963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5　ステップ配信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追加日などを起点に、日数で自動配信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運用施策｜APIツール</a:t>
            </a:r>
          </a:p>
        </p:txBody>
      </p:sp>
      <p:cxnSp>
        <p:nvCxnSpPr>
          <p:cNvPr id="78" name="Connector 77">
            <a:extLst>
              <a:ext uri="{FF2B5EF4-FFF2-40B4-BE49-F238E27FC236}">
                <a16:creationId xmlns:a16="http://schemas.microsoft.com/office/drawing/2014/main" id="{14DA0944-ACF0-26E9-C341-0F08287E50E0}"/>
              </a:ext>
            </a:extLst>
          </p:cNvPr>
          <p:cNvCxnSpPr/>
          <p:nvPr/>
        </p:nvCxnSpPr>
        <p:spPr>
          <a:xfrm>
            <a:off x="5715000" y="473746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04741443-9216-D183-86C7-C1D3D8CD0F86}"/>
              </a:ext>
            </a:extLst>
          </p:cNvPr>
          <p:cNvSpPr/>
          <p:nvPr/>
        </p:nvSpPr>
        <p:spPr>
          <a:xfrm>
            <a:off x="5989320" y="4463142"/>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0" name="Rectangle 79">
            <a:extLst>
              <a:ext uri="{FF2B5EF4-FFF2-40B4-BE49-F238E27FC236}">
                <a16:creationId xmlns:a16="http://schemas.microsoft.com/office/drawing/2014/main" id="{EF62B91B-5616-0CBB-42CD-ABFAF3770BE1}"/>
              </a:ext>
            </a:extLst>
          </p:cNvPr>
          <p:cNvSpPr/>
          <p:nvPr/>
        </p:nvSpPr>
        <p:spPr>
          <a:xfrm>
            <a:off x="5989320" y="4463142"/>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1" name="Rectangle 80">
            <a:extLst>
              <a:ext uri="{FF2B5EF4-FFF2-40B4-BE49-F238E27FC236}">
                <a16:creationId xmlns:a16="http://schemas.microsoft.com/office/drawing/2014/main" id="{2D902E01-6B95-274E-8EFB-9F3B88059A6D}"/>
              </a:ext>
            </a:extLst>
          </p:cNvPr>
          <p:cNvSpPr/>
          <p:nvPr/>
        </p:nvSpPr>
        <p:spPr>
          <a:xfrm>
            <a:off x="6108192" y="4481429"/>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6　企画配信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季節・キャンペーンに合わせた定期配信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運用施策｜標準機能</a:t>
            </a:r>
          </a:p>
        </p:txBody>
      </p:sp>
      <p:cxnSp>
        <p:nvCxnSpPr>
          <p:cNvPr id="82" name="Connector 81">
            <a:extLst>
              <a:ext uri="{FF2B5EF4-FFF2-40B4-BE49-F238E27FC236}">
                <a16:creationId xmlns:a16="http://schemas.microsoft.com/office/drawing/2014/main" id="{9FBE9224-F179-3806-57FD-B70E3DD7299F}"/>
              </a:ext>
            </a:extLst>
          </p:cNvPr>
          <p:cNvCxnSpPr/>
          <p:nvPr/>
        </p:nvCxnSpPr>
        <p:spPr>
          <a:xfrm>
            <a:off x="5715000" y="542326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AB67702-2E81-6221-4139-488E660CAB4E}"/>
              </a:ext>
            </a:extLst>
          </p:cNvPr>
          <p:cNvSpPr/>
          <p:nvPr/>
        </p:nvSpPr>
        <p:spPr>
          <a:xfrm>
            <a:off x="5989320" y="512151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4" name="Rectangle 83">
            <a:extLst>
              <a:ext uri="{FF2B5EF4-FFF2-40B4-BE49-F238E27FC236}">
                <a16:creationId xmlns:a16="http://schemas.microsoft.com/office/drawing/2014/main" id="{3938AC4A-CD97-D0B1-CB8F-46DDCFAE35FE}"/>
              </a:ext>
            </a:extLst>
          </p:cNvPr>
          <p:cNvSpPr/>
          <p:nvPr/>
        </p:nvSpPr>
        <p:spPr>
          <a:xfrm>
            <a:off x="5989320" y="512151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5" name="Rectangle 84">
            <a:extLst>
              <a:ext uri="{FF2B5EF4-FFF2-40B4-BE49-F238E27FC236}">
                <a16:creationId xmlns:a16="http://schemas.microsoft.com/office/drawing/2014/main" id="{E093121A-3AE3-1B04-1572-43FD309CC342}"/>
              </a:ext>
            </a:extLst>
          </p:cNvPr>
          <p:cNvSpPr/>
          <p:nvPr/>
        </p:nvSpPr>
        <p:spPr>
          <a:xfrm>
            <a:off x="6108192" y="5139797"/>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dirty="0">
                <a:solidFill>
                  <a:srgbClr val="1F2A5C"/>
                </a:solidFill>
                <a:latin typeface="メイリオ" panose="020B0604030504040204" pitchFamily="50" charset="-128"/>
                <a:ea typeface="メイリオ" panose="020B0604030504040204" pitchFamily="50" charset="-128"/>
                <a:cs typeface="メイリオ"/>
              </a:rPr>
              <a:t>8　</a:t>
            </a:r>
            <a:r>
              <a:rPr sz="1000" b="1" dirty="0" err="1">
                <a:solidFill>
                  <a:srgbClr val="1F2A5C"/>
                </a:solidFill>
                <a:latin typeface="メイリオ" panose="020B0604030504040204" pitchFamily="50" charset="-128"/>
                <a:ea typeface="メイリオ" panose="020B0604030504040204" pitchFamily="50" charset="-128"/>
                <a:cs typeface="メイリオ"/>
              </a:rPr>
              <a:t>自動応答</a:t>
            </a:r>
            <a:endParaRPr sz="10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キーワードに自動で返信</a:t>
            </a:r>
            <a:endParaRPr sz="800" b="0" dirty="0">
              <a:solidFill>
                <a:srgbClr val="333333"/>
              </a:solidFill>
              <a:latin typeface="メイリオ" panose="020B0604030504040204" pitchFamily="50" charset="-128"/>
              <a:ea typeface="メイリオ" panose="020B0604030504040204" pitchFamily="50" charset="-128"/>
              <a:cs typeface="メイリオ"/>
            </a:endParaRPr>
          </a:p>
          <a:p>
            <a:pPr algn="l">
              <a:spcAft>
                <a:spcPts val="0"/>
              </a:spcAft>
            </a:pPr>
            <a:r>
              <a:rPr sz="700" b="1" dirty="0" err="1">
                <a:solidFill>
                  <a:srgbClr val="1F2A5C"/>
                </a:solidFill>
                <a:latin typeface="メイリオ" panose="020B0604030504040204" pitchFamily="50" charset="-128"/>
                <a:ea typeface="メイリオ" panose="020B0604030504040204" pitchFamily="50" charset="-128"/>
                <a:cs typeface="メイリオ"/>
              </a:rPr>
              <a:t>初期標準設定｜標準（FAQ・有人は別途</a:t>
            </a:r>
            <a:r>
              <a:rPr sz="700" b="1" dirty="0">
                <a:solidFill>
                  <a:srgbClr val="1F2A5C"/>
                </a:solidFill>
                <a:latin typeface="メイリオ" panose="020B0604030504040204" pitchFamily="50" charset="-128"/>
                <a:ea typeface="メイリオ" panose="020B0604030504040204" pitchFamily="50" charset="-128"/>
                <a:cs typeface="メイリオ"/>
              </a:rPr>
              <a:t>）</a:t>
            </a:r>
          </a:p>
        </p:txBody>
      </p:sp>
      <p:cxnSp>
        <p:nvCxnSpPr>
          <p:cNvPr id="86" name="Connector 85">
            <a:extLst>
              <a:ext uri="{FF2B5EF4-FFF2-40B4-BE49-F238E27FC236}">
                <a16:creationId xmlns:a16="http://schemas.microsoft.com/office/drawing/2014/main" id="{4A507D46-E245-9BC1-8E49-9B98A20927EE}"/>
              </a:ext>
            </a:extLst>
          </p:cNvPr>
          <p:cNvCxnSpPr/>
          <p:nvPr/>
        </p:nvCxnSpPr>
        <p:spPr>
          <a:xfrm>
            <a:off x="5715000" y="617002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BA218128-D353-B007-1B9E-9CC4F4C7DA73}"/>
              </a:ext>
            </a:extLst>
          </p:cNvPr>
          <p:cNvSpPr/>
          <p:nvPr/>
        </p:nvSpPr>
        <p:spPr>
          <a:xfrm>
            <a:off x="5989320" y="5877414"/>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8" name="Rectangle 87">
            <a:extLst>
              <a:ext uri="{FF2B5EF4-FFF2-40B4-BE49-F238E27FC236}">
                <a16:creationId xmlns:a16="http://schemas.microsoft.com/office/drawing/2014/main" id="{D31DED20-2693-1ECE-3338-7CEF9571C52B}"/>
              </a:ext>
            </a:extLst>
          </p:cNvPr>
          <p:cNvSpPr/>
          <p:nvPr/>
        </p:nvSpPr>
        <p:spPr>
          <a:xfrm>
            <a:off x="5989320" y="5877414"/>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9" name="Rectangle 88">
            <a:extLst>
              <a:ext uri="{FF2B5EF4-FFF2-40B4-BE49-F238E27FC236}">
                <a16:creationId xmlns:a16="http://schemas.microsoft.com/office/drawing/2014/main" id="{D03442D7-B1E7-5F7B-CB6D-531AF520BA8B}"/>
              </a:ext>
            </a:extLst>
          </p:cNvPr>
          <p:cNvSpPr/>
          <p:nvPr/>
        </p:nvSpPr>
        <p:spPr>
          <a:xfrm>
            <a:off x="6108192" y="589570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7　リッチメニュー</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トーク下部に常時表示。1タップで行動</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sp>
        <p:nvSpPr>
          <p:cNvPr id="90" name="Rectangle 89">
            <a:extLst>
              <a:ext uri="{FF2B5EF4-FFF2-40B4-BE49-F238E27FC236}">
                <a16:creationId xmlns:a16="http://schemas.microsoft.com/office/drawing/2014/main" id="{6504280E-50E9-27C6-B905-70CBC084EA6F}"/>
              </a:ext>
            </a:extLst>
          </p:cNvPr>
          <p:cNvSpPr/>
          <p:nvPr/>
        </p:nvSpPr>
        <p:spPr>
          <a:xfrm>
            <a:off x="384048" y="6822294"/>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p>
        </p:txBody>
      </p:sp>
      <p:sp>
        <p:nvSpPr>
          <p:cNvPr id="91" name="Rectangle 37">
            <a:extLst>
              <a:ext uri="{FF2B5EF4-FFF2-40B4-BE49-F238E27FC236}">
                <a16:creationId xmlns:a16="http://schemas.microsoft.com/office/drawing/2014/main" id="{815B0ED0-A740-600B-6C02-0EA2C830954C}"/>
              </a:ext>
            </a:extLst>
          </p:cNvPr>
          <p:cNvSpPr/>
          <p:nvPr/>
        </p:nvSpPr>
        <p:spPr>
          <a:xfrm>
            <a:off x="3504539" y="2556296"/>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2" name="Oval 59">
            <a:extLst>
              <a:ext uri="{FF2B5EF4-FFF2-40B4-BE49-F238E27FC236}">
                <a16:creationId xmlns:a16="http://schemas.microsoft.com/office/drawing/2014/main" id="{AE3F0BB7-CAA2-7DC4-5444-A62887C4147B}"/>
              </a:ext>
            </a:extLst>
          </p:cNvPr>
          <p:cNvSpPr/>
          <p:nvPr/>
        </p:nvSpPr>
        <p:spPr>
          <a:xfrm>
            <a:off x="3063240" y="26343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2</a:t>
            </a:r>
          </a:p>
        </p:txBody>
      </p:sp>
      <p:sp>
        <p:nvSpPr>
          <p:cNvPr id="93" name="Oval 39">
            <a:extLst>
              <a:ext uri="{FF2B5EF4-FFF2-40B4-BE49-F238E27FC236}">
                <a16:creationId xmlns:a16="http://schemas.microsoft.com/office/drawing/2014/main" id="{BD5572D2-C987-F20B-3DAE-F41EEAF2F9EC}"/>
              </a:ext>
            </a:extLst>
          </p:cNvPr>
          <p:cNvSpPr/>
          <p:nvPr/>
        </p:nvSpPr>
        <p:spPr>
          <a:xfrm>
            <a:off x="3310128" y="27715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8" name="正方形/長方形 57">
            <a:extLst>
              <a:ext uri="{FF2B5EF4-FFF2-40B4-BE49-F238E27FC236}">
                <a16:creationId xmlns:a16="http://schemas.microsoft.com/office/drawing/2014/main" id="{3CAF7A2C-02DA-8C56-48F2-6F9C35F802AB}"/>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E688361-05C3-950A-7ADB-027296FECB9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798B0F8-1488-15A2-554D-D8BA88CE6CBC}"/>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C3DDC107-5B3F-A510-D857-9EB2AC13C8E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機能ごとの区分と、各施策への有効度</a:t>
            </a:r>
            <a:endParaRPr lang="ja-JP" altLang="en-US" sz="1000" dirty="0"/>
          </a:p>
        </p:txBody>
      </p:sp>
      <p:sp>
        <p:nvSpPr>
          <p:cNvPr id="9" name="テキスト ボックス 8">
            <a:extLst>
              <a:ext uri="{FF2B5EF4-FFF2-40B4-BE49-F238E27FC236}">
                <a16:creationId xmlns:a16="http://schemas.microsoft.com/office/drawing/2014/main" id="{E73117CB-A562-540A-5859-17084973099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90" name="Rectangle 89">
            <a:extLst>
              <a:ext uri="{FF2B5EF4-FFF2-40B4-BE49-F238E27FC236}">
                <a16:creationId xmlns:a16="http://schemas.microsoft.com/office/drawing/2014/main" id="{D3CD1414-1712-221C-F683-DBEB34A5718E}"/>
              </a:ext>
            </a:extLst>
          </p:cNvPr>
          <p:cNvSpPr/>
          <p:nvPr/>
        </p:nvSpPr>
        <p:spPr>
          <a:xfrm>
            <a:off x="384048" y="6308486"/>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dirty="0">
                <a:solidFill>
                  <a:srgbClr val="777777"/>
                </a:solidFill>
                <a:latin typeface="メイリオ" panose="020B0604030504040204" pitchFamily="50" charset="-128"/>
                <a:ea typeface="メイリオ" panose="020B0604030504040204" pitchFamily="50" charset="-128"/>
                <a:cs typeface="メイリオ"/>
              </a:rPr>
              <a:t>※</a:t>
            </a:r>
            <a:r>
              <a:rPr sz="600" b="0" dirty="0" err="1">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r>
              <a:rPr sz="600" b="0" dirty="0">
                <a:solidFill>
                  <a:srgbClr val="777777"/>
                </a:solidFill>
                <a:latin typeface="メイリオ" panose="020B0604030504040204" pitchFamily="50" charset="-128"/>
                <a:ea typeface="メイリオ" panose="020B0604030504040204" pitchFamily="50" charset="-128"/>
                <a:cs typeface="メイリオ"/>
              </a:rPr>
              <a:t>）</a:t>
            </a:r>
          </a:p>
        </p:txBody>
      </p:sp>
      <p:sp>
        <p:nvSpPr>
          <p:cNvPr id="95" name="Rectangle 3">
            <a:extLst>
              <a:ext uri="{FF2B5EF4-FFF2-40B4-BE49-F238E27FC236}">
                <a16:creationId xmlns:a16="http://schemas.microsoft.com/office/drawing/2014/main" id="{49EA327F-E96A-0E42-51BE-B55AF4253D76}"/>
              </a:ext>
            </a:extLst>
          </p:cNvPr>
          <p:cNvSpPr/>
          <p:nvPr/>
        </p:nvSpPr>
        <p:spPr>
          <a:xfrm>
            <a:off x="384048" y="1772236"/>
            <a:ext cx="216712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機能</a:t>
            </a:r>
          </a:p>
        </p:txBody>
      </p:sp>
      <p:sp>
        <p:nvSpPr>
          <p:cNvPr id="97" name="Rectangle 4">
            <a:extLst>
              <a:ext uri="{FF2B5EF4-FFF2-40B4-BE49-F238E27FC236}">
                <a16:creationId xmlns:a16="http://schemas.microsoft.com/office/drawing/2014/main" id="{A8E732CD-14AC-5A08-4E7F-82ED6AF4AA6B}"/>
              </a:ext>
            </a:extLst>
          </p:cNvPr>
          <p:cNvSpPr/>
          <p:nvPr/>
        </p:nvSpPr>
        <p:spPr>
          <a:xfrm>
            <a:off x="2578608" y="1772236"/>
            <a:ext cx="116128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区分</a:t>
            </a:r>
          </a:p>
        </p:txBody>
      </p:sp>
      <p:sp>
        <p:nvSpPr>
          <p:cNvPr id="99" name="Rectangle 5">
            <a:extLst>
              <a:ext uri="{FF2B5EF4-FFF2-40B4-BE49-F238E27FC236}">
                <a16:creationId xmlns:a16="http://schemas.microsoft.com/office/drawing/2014/main" id="{D2E91A74-DE49-482E-7EBE-AD0D0EE66A34}"/>
              </a:ext>
            </a:extLst>
          </p:cNvPr>
          <p:cNvSpPr/>
          <p:nvPr/>
        </p:nvSpPr>
        <p:spPr>
          <a:xfrm>
            <a:off x="3767328"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1 露出強化</a:t>
            </a:r>
          </a:p>
        </p:txBody>
      </p:sp>
      <p:sp>
        <p:nvSpPr>
          <p:cNvPr id="101" name="Rectangle 6">
            <a:extLst>
              <a:ext uri="{FF2B5EF4-FFF2-40B4-BE49-F238E27FC236}">
                <a16:creationId xmlns:a16="http://schemas.microsoft.com/office/drawing/2014/main" id="{C4777D6E-7DF6-A05E-5153-229B34E8BA1D}"/>
              </a:ext>
            </a:extLst>
          </p:cNvPr>
          <p:cNvSpPr/>
          <p:nvPr/>
        </p:nvSpPr>
        <p:spPr>
          <a:xfrm>
            <a:off x="4919472"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2 CV</a:t>
            </a:r>
          </a:p>
        </p:txBody>
      </p:sp>
      <p:sp>
        <p:nvSpPr>
          <p:cNvPr id="103" name="Rectangle 7">
            <a:extLst>
              <a:ext uri="{FF2B5EF4-FFF2-40B4-BE49-F238E27FC236}">
                <a16:creationId xmlns:a16="http://schemas.microsoft.com/office/drawing/2014/main" id="{7EC19AA3-119E-E5FD-C316-5A3BEA9CE35A}"/>
              </a:ext>
            </a:extLst>
          </p:cNvPr>
          <p:cNvSpPr/>
          <p:nvPr/>
        </p:nvSpPr>
        <p:spPr>
          <a:xfrm>
            <a:off x="6071616"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3 LTV・質</a:t>
            </a:r>
          </a:p>
        </p:txBody>
      </p:sp>
      <p:sp>
        <p:nvSpPr>
          <p:cNvPr id="105" name="Rectangle 8">
            <a:extLst>
              <a:ext uri="{FF2B5EF4-FFF2-40B4-BE49-F238E27FC236}">
                <a16:creationId xmlns:a16="http://schemas.microsoft.com/office/drawing/2014/main" id="{54AC6625-CD1A-C326-598A-628F361B05A1}"/>
              </a:ext>
            </a:extLst>
          </p:cNvPr>
          <p:cNvSpPr/>
          <p:nvPr/>
        </p:nvSpPr>
        <p:spPr>
          <a:xfrm>
            <a:off x="7223760"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4 リピート</a:t>
            </a:r>
          </a:p>
        </p:txBody>
      </p:sp>
      <p:sp>
        <p:nvSpPr>
          <p:cNvPr id="107" name="Rectangle 9">
            <a:extLst>
              <a:ext uri="{FF2B5EF4-FFF2-40B4-BE49-F238E27FC236}">
                <a16:creationId xmlns:a16="http://schemas.microsoft.com/office/drawing/2014/main" id="{5E88DC84-02C4-EEA1-3E9D-0DFFE020630D}"/>
              </a:ext>
            </a:extLst>
          </p:cNvPr>
          <p:cNvSpPr/>
          <p:nvPr/>
        </p:nvSpPr>
        <p:spPr>
          <a:xfrm>
            <a:off x="8375904"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5 コミュニティ</a:t>
            </a:r>
          </a:p>
        </p:txBody>
      </p:sp>
      <p:sp>
        <p:nvSpPr>
          <p:cNvPr id="109" name="Rectangle 10">
            <a:extLst>
              <a:ext uri="{FF2B5EF4-FFF2-40B4-BE49-F238E27FC236}">
                <a16:creationId xmlns:a16="http://schemas.microsoft.com/office/drawing/2014/main" id="{F8AF94DD-6BD0-815B-7F96-916DA7A75686}"/>
              </a:ext>
            </a:extLst>
          </p:cNvPr>
          <p:cNvSpPr/>
          <p:nvPr/>
        </p:nvSpPr>
        <p:spPr>
          <a:xfrm>
            <a:off x="384048" y="2148229"/>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① ポップアップ</a:t>
            </a:r>
          </a:p>
        </p:txBody>
      </p:sp>
      <p:sp>
        <p:nvSpPr>
          <p:cNvPr id="111" name="Rectangle 11">
            <a:extLst>
              <a:ext uri="{FF2B5EF4-FFF2-40B4-BE49-F238E27FC236}">
                <a16:creationId xmlns:a16="http://schemas.microsoft.com/office/drawing/2014/main" id="{EAC07884-840F-9E39-DF22-1A68ACDBB41F}"/>
              </a:ext>
            </a:extLst>
          </p:cNvPr>
          <p:cNvSpPr/>
          <p:nvPr/>
        </p:nvSpPr>
        <p:spPr>
          <a:xfrm>
            <a:off x="2578608" y="2148229"/>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入口</a:t>
            </a:r>
          </a:p>
        </p:txBody>
      </p:sp>
      <p:sp>
        <p:nvSpPr>
          <p:cNvPr id="113" name="Rectangle 12">
            <a:extLst>
              <a:ext uri="{FF2B5EF4-FFF2-40B4-BE49-F238E27FC236}">
                <a16:creationId xmlns:a16="http://schemas.microsoft.com/office/drawing/2014/main" id="{311D7915-7E63-7CCC-0695-EFC6BA2C3ADA}"/>
              </a:ext>
            </a:extLst>
          </p:cNvPr>
          <p:cNvSpPr/>
          <p:nvPr/>
        </p:nvSpPr>
        <p:spPr>
          <a:xfrm>
            <a:off x="3767328"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15" name="Rectangle 13">
            <a:extLst>
              <a:ext uri="{FF2B5EF4-FFF2-40B4-BE49-F238E27FC236}">
                <a16:creationId xmlns:a16="http://schemas.microsoft.com/office/drawing/2014/main" id="{60BE805D-C095-F8E7-7A94-0B18AEB6F84C}"/>
              </a:ext>
            </a:extLst>
          </p:cNvPr>
          <p:cNvSpPr/>
          <p:nvPr/>
        </p:nvSpPr>
        <p:spPr>
          <a:xfrm>
            <a:off x="4919472" y="2148229"/>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17" name="Rectangle 14">
            <a:extLst>
              <a:ext uri="{FF2B5EF4-FFF2-40B4-BE49-F238E27FC236}">
                <a16:creationId xmlns:a16="http://schemas.microsoft.com/office/drawing/2014/main" id="{39625F34-980E-D2C8-E6DD-8B8B44D77878}"/>
              </a:ext>
            </a:extLst>
          </p:cNvPr>
          <p:cNvSpPr/>
          <p:nvPr/>
        </p:nvSpPr>
        <p:spPr>
          <a:xfrm>
            <a:off x="6071616"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19" name="Rectangle 15">
            <a:extLst>
              <a:ext uri="{FF2B5EF4-FFF2-40B4-BE49-F238E27FC236}">
                <a16:creationId xmlns:a16="http://schemas.microsoft.com/office/drawing/2014/main" id="{24EDAC7A-83AC-8541-1B88-A1D93D0649D0}"/>
              </a:ext>
            </a:extLst>
          </p:cNvPr>
          <p:cNvSpPr/>
          <p:nvPr/>
        </p:nvSpPr>
        <p:spPr>
          <a:xfrm>
            <a:off x="7223760"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1" name="Rectangle 16">
            <a:extLst>
              <a:ext uri="{FF2B5EF4-FFF2-40B4-BE49-F238E27FC236}">
                <a16:creationId xmlns:a16="http://schemas.microsoft.com/office/drawing/2014/main" id="{4DC3437B-9697-00DC-A150-0F58E0E7685B}"/>
              </a:ext>
            </a:extLst>
          </p:cNvPr>
          <p:cNvSpPr/>
          <p:nvPr/>
        </p:nvSpPr>
        <p:spPr>
          <a:xfrm>
            <a:off x="8375904"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23" name="Rectangle 17">
            <a:extLst>
              <a:ext uri="{FF2B5EF4-FFF2-40B4-BE49-F238E27FC236}">
                <a16:creationId xmlns:a16="http://schemas.microsoft.com/office/drawing/2014/main" id="{A38047BC-377A-0AF5-F712-50F5C69AF30C}"/>
              </a:ext>
            </a:extLst>
          </p:cNvPr>
          <p:cNvSpPr/>
          <p:nvPr/>
        </p:nvSpPr>
        <p:spPr>
          <a:xfrm>
            <a:off x="384048" y="2643310"/>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② 挨拶メッセージ</a:t>
            </a:r>
          </a:p>
        </p:txBody>
      </p:sp>
      <p:sp>
        <p:nvSpPr>
          <p:cNvPr id="125" name="Rectangle 18">
            <a:extLst>
              <a:ext uri="{FF2B5EF4-FFF2-40B4-BE49-F238E27FC236}">
                <a16:creationId xmlns:a16="http://schemas.microsoft.com/office/drawing/2014/main" id="{A9F3AEF1-F5C3-F86D-A4DE-DC40884A3A77}"/>
              </a:ext>
            </a:extLst>
          </p:cNvPr>
          <p:cNvSpPr/>
          <p:nvPr/>
        </p:nvSpPr>
        <p:spPr>
          <a:xfrm>
            <a:off x="2578608" y="2643310"/>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27" name="Rectangle 19">
            <a:extLst>
              <a:ext uri="{FF2B5EF4-FFF2-40B4-BE49-F238E27FC236}">
                <a16:creationId xmlns:a16="http://schemas.microsoft.com/office/drawing/2014/main" id="{1A5FF7DD-0DFB-757E-EED7-59CFFD8427A5}"/>
              </a:ext>
            </a:extLst>
          </p:cNvPr>
          <p:cNvSpPr/>
          <p:nvPr/>
        </p:nvSpPr>
        <p:spPr>
          <a:xfrm>
            <a:off x="3767328"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9" name="Rectangle 20">
            <a:extLst>
              <a:ext uri="{FF2B5EF4-FFF2-40B4-BE49-F238E27FC236}">
                <a16:creationId xmlns:a16="http://schemas.microsoft.com/office/drawing/2014/main" id="{74E363AF-90CC-FE97-A178-1488F203CCC6}"/>
              </a:ext>
            </a:extLst>
          </p:cNvPr>
          <p:cNvSpPr/>
          <p:nvPr/>
        </p:nvSpPr>
        <p:spPr>
          <a:xfrm>
            <a:off x="4919472"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1" name="Rectangle 21">
            <a:extLst>
              <a:ext uri="{FF2B5EF4-FFF2-40B4-BE49-F238E27FC236}">
                <a16:creationId xmlns:a16="http://schemas.microsoft.com/office/drawing/2014/main" id="{6AC96041-BB43-D3DA-9D34-9C915166E941}"/>
              </a:ext>
            </a:extLst>
          </p:cNvPr>
          <p:cNvSpPr/>
          <p:nvPr/>
        </p:nvSpPr>
        <p:spPr>
          <a:xfrm>
            <a:off x="6071616" y="2643310"/>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33" name="Rectangle 22">
            <a:extLst>
              <a:ext uri="{FF2B5EF4-FFF2-40B4-BE49-F238E27FC236}">
                <a16:creationId xmlns:a16="http://schemas.microsoft.com/office/drawing/2014/main" id="{06964474-BEB7-B1A3-7CC2-7091782D3005}"/>
              </a:ext>
            </a:extLst>
          </p:cNvPr>
          <p:cNvSpPr/>
          <p:nvPr/>
        </p:nvSpPr>
        <p:spPr>
          <a:xfrm>
            <a:off x="7223760"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35" name="Rectangle 23">
            <a:extLst>
              <a:ext uri="{FF2B5EF4-FFF2-40B4-BE49-F238E27FC236}">
                <a16:creationId xmlns:a16="http://schemas.microsoft.com/office/drawing/2014/main" id="{8D23914E-C971-EE96-4111-076CA6C88E76}"/>
              </a:ext>
            </a:extLst>
          </p:cNvPr>
          <p:cNvSpPr/>
          <p:nvPr/>
        </p:nvSpPr>
        <p:spPr>
          <a:xfrm>
            <a:off x="8375904"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7" name="Rectangle 24">
            <a:extLst>
              <a:ext uri="{FF2B5EF4-FFF2-40B4-BE49-F238E27FC236}">
                <a16:creationId xmlns:a16="http://schemas.microsoft.com/office/drawing/2014/main" id="{9A69F835-F2FD-D659-DCE3-F67F1A44358D}"/>
              </a:ext>
            </a:extLst>
          </p:cNvPr>
          <p:cNvSpPr/>
          <p:nvPr/>
        </p:nvSpPr>
        <p:spPr>
          <a:xfrm>
            <a:off x="384048" y="3138391"/>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③ アンケート</a:t>
            </a:r>
          </a:p>
        </p:txBody>
      </p:sp>
      <p:sp>
        <p:nvSpPr>
          <p:cNvPr id="139" name="Rectangle 25">
            <a:extLst>
              <a:ext uri="{FF2B5EF4-FFF2-40B4-BE49-F238E27FC236}">
                <a16:creationId xmlns:a16="http://schemas.microsoft.com/office/drawing/2014/main" id="{73D5E841-C5F6-49BC-FC6C-246893B9A073}"/>
              </a:ext>
            </a:extLst>
          </p:cNvPr>
          <p:cNvSpPr/>
          <p:nvPr/>
        </p:nvSpPr>
        <p:spPr>
          <a:xfrm>
            <a:off x="2578608" y="3138391"/>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41" name="Rectangle 26">
            <a:extLst>
              <a:ext uri="{FF2B5EF4-FFF2-40B4-BE49-F238E27FC236}">
                <a16:creationId xmlns:a16="http://schemas.microsoft.com/office/drawing/2014/main" id="{6E33CD1B-69FA-AAA6-AC07-587E543F496B}"/>
              </a:ext>
            </a:extLst>
          </p:cNvPr>
          <p:cNvSpPr/>
          <p:nvPr/>
        </p:nvSpPr>
        <p:spPr>
          <a:xfrm>
            <a:off x="3767328"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43" name="Rectangle 27">
            <a:extLst>
              <a:ext uri="{FF2B5EF4-FFF2-40B4-BE49-F238E27FC236}">
                <a16:creationId xmlns:a16="http://schemas.microsoft.com/office/drawing/2014/main" id="{B1237B51-61FD-415A-B88D-9D4093177C7E}"/>
              </a:ext>
            </a:extLst>
          </p:cNvPr>
          <p:cNvSpPr/>
          <p:nvPr/>
        </p:nvSpPr>
        <p:spPr>
          <a:xfrm>
            <a:off x="4919472"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5" name="Rectangle 28">
            <a:extLst>
              <a:ext uri="{FF2B5EF4-FFF2-40B4-BE49-F238E27FC236}">
                <a16:creationId xmlns:a16="http://schemas.microsoft.com/office/drawing/2014/main" id="{698EED6C-FFE7-DAA0-F5E4-938EB0082F32}"/>
              </a:ext>
            </a:extLst>
          </p:cNvPr>
          <p:cNvSpPr/>
          <p:nvPr/>
        </p:nvSpPr>
        <p:spPr>
          <a:xfrm>
            <a:off x="6071616" y="3138391"/>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47" name="Rectangle 29">
            <a:extLst>
              <a:ext uri="{FF2B5EF4-FFF2-40B4-BE49-F238E27FC236}">
                <a16:creationId xmlns:a16="http://schemas.microsoft.com/office/drawing/2014/main" id="{39F28ADA-54CB-21A9-D4E0-5A9FC11D5B5E}"/>
              </a:ext>
            </a:extLst>
          </p:cNvPr>
          <p:cNvSpPr/>
          <p:nvPr/>
        </p:nvSpPr>
        <p:spPr>
          <a:xfrm>
            <a:off x="7223760"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9" name="Rectangle 30">
            <a:extLst>
              <a:ext uri="{FF2B5EF4-FFF2-40B4-BE49-F238E27FC236}">
                <a16:creationId xmlns:a16="http://schemas.microsoft.com/office/drawing/2014/main" id="{05051530-F83D-00C2-4F87-FEB4B1CF2797}"/>
              </a:ext>
            </a:extLst>
          </p:cNvPr>
          <p:cNvSpPr/>
          <p:nvPr/>
        </p:nvSpPr>
        <p:spPr>
          <a:xfrm>
            <a:off x="8375904"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1" name="Rectangle 31">
            <a:extLst>
              <a:ext uri="{FF2B5EF4-FFF2-40B4-BE49-F238E27FC236}">
                <a16:creationId xmlns:a16="http://schemas.microsoft.com/office/drawing/2014/main" id="{61A04942-3698-E590-BEA7-6EF906A190B1}"/>
              </a:ext>
            </a:extLst>
          </p:cNvPr>
          <p:cNvSpPr/>
          <p:nvPr/>
        </p:nvSpPr>
        <p:spPr>
          <a:xfrm>
            <a:off x="384048" y="363347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④ タグ・セグメント</a:t>
            </a:r>
          </a:p>
        </p:txBody>
      </p:sp>
      <p:sp>
        <p:nvSpPr>
          <p:cNvPr id="153" name="Rectangle 32">
            <a:extLst>
              <a:ext uri="{FF2B5EF4-FFF2-40B4-BE49-F238E27FC236}">
                <a16:creationId xmlns:a16="http://schemas.microsoft.com/office/drawing/2014/main" id="{1E39E853-C262-3BCD-C77F-9B94DE1F207C}"/>
              </a:ext>
            </a:extLst>
          </p:cNvPr>
          <p:cNvSpPr/>
          <p:nvPr/>
        </p:nvSpPr>
        <p:spPr>
          <a:xfrm>
            <a:off x="2578608" y="363347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55" name="Rectangle 33">
            <a:extLst>
              <a:ext uri="{FF2B5EF4-FFF2-40B4-BE49-F238E27FC236}">
                <a16:creationId xmlns:a16="http://schemas.microsoft.com/office/drawing/2014/main" id="{7DDE9A5B-F57A-CB76-B304-0E68CA66FC16}"/>
              </a:ext>
            </a:extLst>
          </p:cNvPr>
          <p:cNvSpPr/>
          <p:nvPr/>
        </p:nvSpPr>
        <p:spPr>
          <a:xfrm>
            <a:off x="3767328"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57" name="Rectangle 34">
            <a:extLst>
              <a:ext uri="{FF2B5EF4-FFF2-40B4-BE49-F238E27FC236}">
                <a16:creationId xmlns:a16="http://schemas.microsoft.com/office/drawing/2014/main" id="{3A07BE12-AC72-F155-28A9-47640CE9BCD1}"/>
              </a:ext>
            </a:extLst>
          </p:cNvPr>
          <p:cNvSpPr/>
          <p:nvPr/>
        </p:nvSpPr>
        <p:spPr>
          <a:xfrm>
            <a:off x="4919472"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9" name="Rectangle 35">
            <a:extLst>
              <a:ext uri="{FF2B5EF4-FFF2-40B4-BE49-F238E27FC236}">
                <a16:creationId xmlns:a16="http://schemas.microsoft.com/office/drawing/2014/main" id="{027726E8-B7E9-98DB-B7EA-DD4F11AB37AF}"/>
              </a:ext>
            </a:extLst>
          </p:cNvPr>
          <p:cNvSpPr/>
          <p:nvPr/>
        </p:nvSpPr>
        <p:spPr>
          <a:xfrm>
            <a:off x="6071616"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1" name="Rectangle 36">
            <a:extLst>
              <a:ext uri="{FF2B5EF4-FFF2-40B4-BE49-F238E27FC236}">
                <a16:creationId xmlns:a16="http://schemas.microsoft.com/office/drawing/2014/main" id="{BD93EC24-9E89-5DFD-1A06-5A3F18ADE95C}"/>
              </a:ext>
            </a:extLst>
          </p:cNvPr>
          <p:cNvSpPr/>
          <p:nvPr/>
        </p:nvSpPr>
        <p:spPr>
          <a:xfrm>
            <a:off x="7223760"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3" name="Rectangle 37">
            <a:extLst>
              <a:ext uri="{FF2B5EF4-FFF2-40B4-BE49-F238E27FC236}">
                <a16:creationId xmlns:a16="http://schemas.microsoft.com/office/drawing/2014/main" id="{CC63009F-72DA-DCD6-5469-085A390B1CFE}"/>
              </a:ext>
            </a:extLst>
          </p:cNvPr>
          <p:cNvSpPr/>
          <p:nvPr/>
        </p:nvSpPr>
        <p:spPr>
          <a:xfrm>
            <a:off x="8375904"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65" name="Rectangle 38">
            <a:extLst>
              <a:ext uri="{FF2B5EF4-FFF2-40B4-BE49-F238E27FC236}">
                <a16:creationId xmlns:a16="http://schemas.microsoft.com/office/drawing/2014/main" id="{7B60F0BC-54A4-8C7F-5CFA-B0D158A96A5B}"/>
              </a:ext>
            </a:extLst>
          </p:cNvPr>
          <p:cNvSpPr/>
          <p:nvPr/>
        </p:nvSpPr>
        <p:spPr>
          <a:xfrm>
            <a:off x="384048" y="412855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⑤ ステップ配信</a:t>
            </a:r>
          </a:p>
        </p:txBody>
      </p:sp>
      <p:sp>
        <p:nvSpPr>
          <p:cNvPr id="167" name="Rectangle 39">
            <a:extLst>
              <a:ext uri="{FF2B5EF4-FFF2-40B4-BE49-F238E27FC236}">
                <a16:creationId xmlns:a16="http://schemas.microsoft.com/office/drawing/2014/main" id="{806AF363-F59B-F87D-1131-F239AB9F2E26}"/>
              </a:ext>
            </a:extLst>
          </p:cNvPr>
          <p:cNvSpPr/>
          <p:nvPr/>
        </p:nvSpPr>
        <p:spPr>
          <a:xfrm>
            <a:off x="2578608" y="412855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69" name="Rectangle 40">
            <a:extLst>
              <a:ext uri="{FF2B5EF4-FFF2-40B4-BE49-F238E27FC236}">
                <a16:creationId xmlns:a16="http://schemas.microsoft.com/office/drawing/2014/main" id="{75CC7116-0D68-AEE0-F3AA-5738E7C9F663}"/>
              </a:ext>
            </a:extLst>
          </p:cNvPr>
          <p:cNvSpPr/>
          <p:nvPr/>
        </p:nvSpPr>
        <p:spPr>
          <a:xfrm>
            <a:off x="3767328"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1" name="Rectangle 41">
            <a:extLst>
              <a:ext uri="{FF2B5EF4-FFF2-40B4-BE49-F238E27FC236}">
                <a16:creationId xmlns:a16="http://schemas.microsoft.com/office/drawing/2014/main" id="{0331AD44-DDB1-9676-B388-6C92C21A0A0D}"/>
              </a:ext>
            </a:extLst>
          </p:cNvPr>
          <p:cNvSpPr/>
          <p:nvPr/>
        </p:nvSpPr>
        <p:spPr>
          <a:xfrm>
            <a:off x="4919472"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3" name="Rectangle 42">
            <a:extLst>
              <a:ext uri="{FF2B5EF4-FFF2-40B4-BE49-F238E27FC236}">
                <a16:creationId xmlns:a16="http://schemas.microsoft.com/office/drawing/2014/main" id="{E8FFC0A2-2357-92B7-1C19-EEA69C76294B}"/>
              </a:ext>
            </a:extLst>
          </p:cNvPr>
          <p:cNvSpPr/>
          <p:nvPr/>
        </p:nvSpPr>
        <p:spPr>
          <a:xfrm>
            <a:off x="6071616"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5" name="Rectangle 43">
            <a:extLst>
              <a:ext uri="{FF2B5EF4-FFF2-40B4-BE49-F238E27FC236}">
                <a16:creationId xmlns:a16="http://schemas.microsoft.com/office/drawing/2014/main" id="{6B13204F-831A-41C7-355D-11C8A35D7F53}"/>
              </a:ext>
            </a:extLst>
          </p:cNvPr>
          <p:cNvSpPr/>
          <p:nvPr/>
        </p:nvSpPr>
        <p:spPr>
          <a:xfrm>
            <a:off x="7223760"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77" name="Rectangle 44">
            <a:extLst>
              <a:ext uri="{FF2B5EF4-FFF2-40B4-BE49-F238E27FC236}">
                <a16:creationId xmlns:a16="http://schemas.microsoft.com/office/drawing/2014/main" id="{97032AD7-3026-A0FE-32F3-DD27D7313366}"/>
              </a:ext>
            </a:extLst>
          </p:cNvPr>
          <p:cNvSpPr/>
          <p:nvPr/>
        </p:nvSpPr>
        <p:spPr>
          <a:xfrm>
            <a:off x="8375904"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9" name="Rectangle 45">
            <a:extLst>
              <a:ext uri="{FF2B5EF4-FFF2-40B4-BE49-F238E27FC236}">
                <a16:creationId xmlns:a16="http://schemas.microsoft.com/office/drawing/2014/main" id="{3ADF3E0A-9911-06FB-98B2-85AD95D9DC05}"/>
              </a:ext>
            </a:extLst>
          </p:cNvPr>
          <p:cNvSpPr/>
          <p:nvPr/>
        </p:nvSpPr>
        <p:spPr>
          <a:xfrm>
            <a:off x="384048" y="4623634"/>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⑥ 企画配信</a:t>
            </a:r>
          </a:p>
        </p:txBody>
      </p:sp>
      <p:sp>
        <p:nvSpPr>
          <p:cNvPr id="181" name="Rectangle 46">
            <a:extLst>
              <a:ext uri="{FF2B5EF4-FFF2-40B4-BE49-F238E27FC236}">
                <a16:creationId xmlns:a16="http://schemas.microsoft.com/office/drawing/2014/main" id="{81A43C7F-2A31-08D4-D136-672F79B135F4}"/>
              </a:ext>
            </a:extLst>
          </p:cNvPr>
          <p:cNvSpPr/>
          <p:nvPr/>
        </p:nvSpPr>
        <p:spPr>
          <a:xfrm>
            <a:off x="2578608" y="4623634"/>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83" name="Rectangle 47">
            <a:extLst>
              <a:ext uri="{FF2B5EF4-FFF2-40B4-BE49-F238E27FC236}">
                <a16:creationId xmlns:a16="http://schemas.microsoft.com/office/drawing/2014/main" id="{AC663C8A-1A44-5E0D-18DB-CDEBA22BD084}"/>
              </a:ext>
            </a:extLst>
          </p:cNvPr>
          <p:cNvSpPr/>
          <p:nvPr/>
        </p:nvSpPr>
        <p:spPr>
          <a:xfrm>
            <a:off x="3767328"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5" name="Rectangle 48">
            <a:extLst>
              <a:ext uri="{FF2B5EF4-FFF2-40B4-BE49-F238E27FC236}">
                <a16:creationId xmlns:a16="http://schemas.microsoft.com/office/drawing/2014/main" id="{593C58F8-7428-8726-B84F-B1A8BF819D76}"/>
              </a:ext>
            </a:extLst>
          </p:cNvPr>
          <p:cNvSpPr/>
          <p:nvPr/>
        </p:nvSpPr>
        <p:spPr>
          <a:xfrm>
            <a:off x="4919472"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7" name="Rectangle 49">
            <a:extLst>
              <a:ext uri="{FF2B5EF4-FFF2-40B4-BE49-F238E27FC236}">
                <a16:creationId xmlns:a16="http://schemas.microsoft.com/office/drawing/2014/main" id="{623B2847-331D-6B25-8DD7-9819D7D1BA82}"/>
              </a:ext>
            </a:extLst>
          </p:cNvPr>
          <p:cNvSpPr/>
          <p:nvPr/>
        </p:nvSpPr>
        <p:spPr>
          <a:xfrm>
            <a:off x="6071616"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89" name="Rectangle 50">
            <a:extLst>
              <a:ext uri="{FF2B5EF4-FFF2-40B4-BE49-F238E27FC236}">
                <a16:creationId xmlns:a16="http://schemas.microsoft.com/office/drawing/2014/main" id="{EA6E0F6C-83E1-4256-F51C-9E8CC7E87158}"/>
              </a:ext>
            </a:extLst>
          </p:cNvPr>
          <p:cNvSpPr/>
          <p:nvPr/>
        </p:nvSpPr>
        <p:spPr>
          <a:xfrm>
            <a:off x="7223760"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91" name="Rectangle 51">
            <a:extLst>
              <a:ext uri="{FF2B5EF4-FFF2-40B4-BE49-F238E27FC236}">
                <a16:creationId xmlns:a16="http://schemas.microsoft.com/office/drawing/2014/main" id="{30FBCC1D-C3D9-761F-4E3B-CDF1D885FD38}"/>
              </a:ext>
            </a:extLst>
          </p:cNvPr>
          <p:cNvSpPr/>
          <p:nvPr/>
        </p:nvSpPr>
        <p:spPr>
          <a:xfrm>
            <a:off x="8375904"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93" name="Rectangle 52">
            <a:extLst>
              <a:ext uri="{FF2B5EF4-FFF2-40B4-BE49-F238E27FC236}">
                <a16:creationId xmlns:a16="http://schemas.microsoft.com/office/drawing/2014/main" id="{9F969861-65E2-7DEA-1D8D-3C991DC6FCAD}"/>
              </a:ext>
            </a:extLst>
          </p:cNvPr>
          <p:cNvSpPr/>
          <p:nvPr/>
        </p:nvSpPr>
        <p:spPr>
          <a:xfrm>
            <a:off x="384048" y="5118715"/>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⑦ リッチメニュー</a:t>
            </a:r>
          </a:p>
        </p:txBody>
      </p:sp>
      <p:sp>
        <p:nvSpPr>
          <p:cNvPr id="195" name="Rectangle 53">
            <a:extLst>
              <a:ext uri="{FF2B5EF4-FFF2-40B4-BE49-F238E27FC236}">
                <a16:creationId xmlns:a16="http://schemas.microsoft.com/office/drawing/2014/main" id="{FEB00F4C-6D07-AD41-CDD3-7D400EE74D94}"/>
              </a:ext>
            </a:extLst>
          </p:cNvPr>
          <p:cNvSpPr/>
          <p:nvPr/>
        </p:nvSpPr>
        <p:spPr>
          <a:xfrm>
            <a:off x="2578608" y="5118715"/>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97" name="Rectangle 54">
            <a:extLst>
              <a:ext uri="{FF2B5EF4-FFF2-40B4-BE49-F238E27FC236}">
                <a16:creationId xmlns:a16="http://schemas.microsoft.com/office/drawing/2014/main" id="{474006B6-8EF9-5160-0A19-AAD059407EE5}"/>
              </a:ext>
            </a:extLst>
          </p:cNvPr>
          <p:cNvSpPr/>
          <p:nvPr/>
        </p:nvSpPr>
        <p:spPr>
          <a:xfrm>
            <a:off x="3767328"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99" name="Rectangle 55">
            <a:extLst>
              <a:ext uri="{FF2B5EF4-FFF2-40B4-BE49-F238E27FC236}">
                <a16:creationId xmlns:a16="http://schemas.microsoft.com/office/drawing/2014/main" id="{835DFC8E-494C-23F3-5A75-365D4389E0A1}"/>
              </a:ext>
            </a:extLst>
          </p:cNvPr>
          <p:cNvSpPr/>
          <p:nvPr/>
        </p:nvSpPr>
        <p:spPr>
          <a:xfrm>
            <a:off x="4919472" y="5118715"/>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201" name="Rectangle 56">
            <a:extLst>
              <a:ext uri="{FF2B5EF4-FFF2-40B4-BE49-F238E27FC236}">
                <a16:creationId xmlns:a16="http://schemas.microsoft.com/office/drawing/2014/main" id="{508AA054-C140-CE04-06DD-6D9CFC991D51}"/>
              </a:ext>
            </a:extLst>
          </p:cNvPr>
          <p:cNvSpPr/>
          <p:nvPr/>
        </p:nvSpPr>
        <p:spPr>
          <a:xfrm>
            <a:off x="6071616"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03" name="Rectangle 57">
            <a:extLst>
              <a:ext uri="{FF2B5EF4-FFF2-40B4-BE49-F238E27FC236}">
                <a16:creationId xmlns:a16="http://schemas.microsoft.com/office/drawing/2014/main" id="{0A32F90C-518A-01EC-ACCD-61CF0DA46AE2}"/>
              </a:ext>
            </a:extLst>
          </p:cNvPr>
          <p:cNvSpPr/>
          <p:nvPr/>
        </p:nvSpPr>
        <p:spPr>
          <a:xfrm>
            <a:off x="7223760"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5" name="Rectangle 58">
            <a:extLst>
              <a:ext uri="{FF2B5EF4-FFF2-40B4-BE49-F238E27FC236}">
                <a16:creationId xmlns:a16="http://schemas.microsoft.com/office/drawing/2014/main" id="{E5905130-E57A-E645-DD15-13FCB3239157}"/>
              </a:ext>
            </a:extLst>
          </p:cNvPr>
          <p:cNvSpPr/>
          <p:nvPr/>
        </p:nvSpPr>
        <p:spPr>
          <a:xfrm>
            <a:off x="8375904"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7" name="Rectangle 59">
            <a:extLst>
              <a:ext uri="{FF2B5EF4-FFF2-40B4-BE49-F238E27FC236}">
                <a16:creationId xmlns:a16="http://schemas.microsoft.com/office/drawing/2014/main" id="{670A42D2-0E96-12D3-B85F-5BE6BFDE1675}"/>
              </a:ext>
            </a:extLst>
          </p:cNvPr>
          <p:cNvSpPr/>
          <p:nvPr/>
        </p:nvSpPr>
        <p:spPr>
          <a:xfrm>
            <a:off x="384048" y="5613796"/>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⑧ 自動応答</a:t>
            </a:r>
          </a:p>
        </p:txBody>
      </p:sp>
      <p:sp>
        <p:nvSpPr>
          <p:cNvPr id="209" name="Rectangle 60">
            <a:extLst>
              <a:ext uri="{FF2B5EF4-FFF2-40B4-BE49-F238E27FC236}">
                <a16:creationId xmlns:a16="http://schemas.microsoft.com/office/drawing/2014/main" id="{BA384BB0-B57F-BDEA-8AFD-F70160763ED6}"/>
              </a:ext>
            </a:extLst>
          </p:cNvPr>
          <p:cNvSpPr/>
          <p:nvPr/>
        </p:nvSpPr>
        <p:spPr>
          <a:xfrm>
            <a:off x="2578608" y="5613796"/>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211" name="Rectangle 61">
            <a:extLst>
              <a:ext uri="{FF2B5EF4-FFF2-40B4-BE49-F238E27FC236}">
                <a16:creationId xmlns:a16="http://schemas.microsoft.com/office/drawing/2014/main" id="{8CF9A974-AF48-0226-F298-3354D9E8A871}"/>
              </a:ext>
            </a:extLst>
          </p:cNvPr>
          <p:cNvSpPr/>
          <p:nvPr/>
        </p:nvSpPr>
        <p:spPr>
          <a:xfrm>
            <a:off x="3767328"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3" name="Rectangle 62">
            <a:extLst>
              <a:ext uri="{FF2B5EF4-FFF2-40B4-BE49-F238E27FC236}">
                <a16:creationId xmlns:a16="http://schemas.microsoft.com/office/drawing/2014/main" id="{4AF384A8-31D1-31F4-4E26-ECFC1A5A1189}"/>
              </a:ext>
            </a:extLst>
          </p:cNvPr>
          <p:cNvSpPr/>
          <p:nvPr/>
        </p:nvSpPr>
        <p:spPr>
          <a:xfrm>
            <a:off x="4919472"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5" name="Rectangle 63">
            <a:extLst>
              <a:ext uri="{FF2B5EF4-FFF2-40B4-BE49-F238E27FC236}">
                <a16:creationId xmlns:a16="http://schemas.microsoft.com/office/drawing/2014/main" id="{EBB135C8-694D-04ED-2331-A114B5F6A2E2}"/>
              </a:ext>
            </a:extLst>
          </p:cNvPr>
          <p:cNvSpPr/>
          <p:nvPr/>
        </p:nvSpPr>
        <p:spPr>
          <a:xfrm>
            <a:off x="6071616"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7" name="Rectangle 64">
            <a:extLst>
              <a:ext uri="{FF2B5EF4-FFF2-40B4-BE49-F238E27FC236}">
                <a16:creationId xmlns:a16="http://schemas.microsoft.com/office/drawing/2014/main" id="{7BE70E8C-EF6D-E9D1-E47E-1FD6C3CCD3C9}"/>
              </a:ext>
            </a:extLst>
          </p:cNvPr>
          <p:cNvSpPr/>
          <p:nvPr/>
        </p:nvSpPr>
        <p:spPr>
          <a:xfrm>
            <a:off x="7223760"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9" name="Rectangle 65">
            <a:extLst>
              <a:ext uri="{FF2B5EF4-FFF2-40B4-BE49-F238E27FC236}">
                <a16:creationId xmlns:a16="http://schemas.microsoft.com/office/drawing/2014/main" id="{1EE8F08D-6C1C-22F4-2DD7-D1DDB06A7245}"/>
              </a:ext>
            </a:extLst>
          </p:cNvPr>
          <p:cNvSpPr/>
          <p:nvPr/>
        </p:nvSpPr>
        <p:spPr>
          <a:xfrm>
            <a:off x="8375904"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21" name="Rectangle 66">
            <a:extLst>
              <a:ext uri="{FF2B5EF4-FFF2-40B4-BE49-F238E27FC236}">
                <a16:creationId xmlns:a16="http://schemas.microsoft.com/office/drawing/2014/main" id="{5AB0CFB9-851A-14A5-120D-2BF5670B93F5}"/>
              </a:ext>
            </a:extLst>
          </p:cNvPr>
          <p:cNvSpPr/>
          <p:nvPr/>
        </p:nvSpPr>
        <p:spPr>
          <a:xfrm>
            <a:off x="384048" y="6124303"/>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当社想定の整理</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初期標準」は構築時に設定する標準機能</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運用</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入口」は運用しながら改善する施策</a:t>
            </a:r>
            <a:endParaRPr sz="800" b="0" dirty="0">
              <a:solidFill>
                <a:srgbClr val="777777"/>
              </a:solidFill>
              <a:latin typeface="メイリオ"/>
              <a:ea typeface="メイリオ"/>
              <a:cs typeface="メイリオ"/>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購入者のカスタマージャーニー（8フェーズ）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接触〜リピートまでの動線設計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5-10</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
        <p:nvSpPr>
          <p:cNvPr id="6" name="テキスト ボックス 5">
            <a:extLst>
              <a:ext uri="{FF2B5EF4-FFF2-40B4-BE49-F238E27FC236}">
                <a16:creationId xmlns:a16="http://schemas.microsoft.com/office/drawing/2014/main" id="{14EEAC90-C9E7-2110-180C-DAC5C9A3E290}"/>
              </a:ext>
            </a:extLst>
          </p:cNvPr>
          <p:cNvSpPr txBox="1"/>
          <p:nvPr/>
        </p:nvSpPr>
        <p:spPr>
          <a:xfrm>
            <a:off x="320847" y="3458307"/>
            <a:ext cx="3538935" cy="246221"/>
          </a:xfrm>
          <a:prstGeom prst="rect">
            <a:avLst/>
          </a:prstGeom>
          <a:solidFill>
            <a:schemeClr val="bg1">
              <a:alpha val="65000"/>
            </a:schemeClr>
          </a:solidFill>
        </p:spPr>
        <p:txBody>
          <a:bodyPr wrap="square">
            <a:spAutoFit/>
          </a:bodyPr>
          <a:lstStyle/>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初期設計も</a:t>
            </a:r>
            <a:r>
              <a:rPr kumimoji="1" lang="en-US" altLang="ja-JP" sz="1000" dirty="0">
                <a:solidFill>
                  <a:srgbClr val="FF0000"/>
                </a:solidFill>
                <a:latin typeface="メイリオ" panose="020B0604030504040204" pitchFamily="50" charset="-128"/>
                <a:ea typeface="メイリオ" panose="020B0604030504040204" pitchFamily="50" charset="-128"/>
              </a:rPr>
              <a:t>3</a:t>
            </a:r>
            <a:r>
              <a:rPr kumimoji="1" lang="ja-JP" altLang="en-US" sz="1000" dirty="0">
                <a:solidFill>
                  <a:srgbClr val="FF0000"/>
                </a:solidFill>
                <a:latin typeface="メイリオ" panose="020B0604030504040204" pitchFamily="50" charset="-128"/>
                <a:ea typeface="メイリオ" panose="020B0604030504040204" pitchFamily="50" charset="-128"/>
              </a:rPr>
              <a:t>か月に</a:t>
            </a:r>
            <a:r>
              <a:rPr kumimoji="1" lang="en-US" altLang="ja-JP" sz="1000" dirty="0">
                <a:solidFill>
                  <a:srgbClr val="FF0000"/>
                </a:solidFill>
                <a:latin typeface="メイリオ" panose="020B0604030504040204" pitchFamily="50" charset="-128"/>
                <a:ea typeface="メイリオ" panose="020B0604030504040204" pitchFamily="50" charset="-128"/>
              </a:rPr>
              <a:t>1</a:t>
            </a:r>
            <a:r>
              <a:rPr kumimoji="1" lang="ja-JP" altLang="en-US" sz="1000" dirty="0">
                <a:solidFill>
                  <a:srgbClr val="FF0000"/>
                </a:solidFill>
                <a:latin typeface="メイリオ" panose="020B0604030504040204" pitchFamily="50" charset="-128"/>
                <a:ea typeface="メイリオ" panose="020B0604030504040204" pitchFamily="50" charset="-128"/>
              </a:rPr>
              <a:t>回の頻度で設計の見直しを行います。</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60D2538F-E1B8-8AE5-0CD4-42EA268B5DF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DYM</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によるご提供プラン</a:t>
            </a:r>
          </a:p>
        </p:txBody>
      </p:sp>
      <p:pic>
        <p:nvPicPr>
          <p:cNvPr id="12" name="図 11" descr="アイコン が含まれている画像&#10;&#10;AI 生成コンテンツは誤りを含む可能性があります。">
            <a:extLst>
              <a:ext uri="{FF2B5EF4-FFF2-40B4-BE49-F238E27FC236}">
                <a16:creationId xmlns:a16="http://schemas.microsoft.com/office/drawing/2014/main" id="{DA698D6F-CD58-6385-1BCA-1E3129DEE1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3108" y="1416099"/>
            <a:ext cx="1106285" cy="737523"/>
          </a:xfrm>
          <a:prstGeom prst="rect">
            <a:avLst/>
          </a:prstGeom>
        </p:spPr>
      </p:pic>
      <p:sp>
        <p:nvSpPr>
          <p:cNvPr id="41" name="正方形/長方形 40">
            <a:extLst>
              <a:ext uri="{FF2B5EF4-FFF2-40B4-BE49-F238E27FC236}">
                <a16:creationId xmlns:a16="http://schemas.microsoft.com/office/drawing/2014/main" id="{83976F76-8A4B-AFB5-EE98-67FE261517F3}"/>
              </a:ext>
            </a:extLst>
          </p:cNvPr>
          <p:cNvSpPr/>
          <p:nvPr/>
        </p:nvSpPr>
        <p:spPr>
          <a:xfrm>
            <a:off x="1123324" y="1813322"/>
            <a:ext cx="3368922" cy="134091"/>
          </a:xfrm>
          <a:prstGeom prst="rect">
            <a:avLst/>
          </a:prstGeom>
          <a:solidFill>
            <a:schemeClr val="tx2">
              <a:lumMod val="60000"/>
              <a:lumOff val="40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Google Shape;752;p28">
            <a:extLst>
              <a:ext uri="{FF2B5EF4-FFF2-40B4-BE49-F238E27FC236}">
                <a16:creationId xmlns:a16="http://schemas.microsoft.com/office/drawing/2014/main" id="{8185E67B-5C3A-B719-9811-C4C631E8B2F4}"/>
              </a:ext>
            </a:extLst>
          </p:cNvPr>
          <p:cNvSpPr txBox="1"/>
          <p:nvPr/>
        </p:nvSpPr>
        <p:spPr>
          <a:xfrm>
            <a:off x="1147590" y="1615603"/>
            <a:ext cx="483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DYM</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よりご提供できるプラン一覧</a:t>
            </a:r>
          </a:p>
        </p:txBody>
      </p:sp>
      <p:sp>
        <p:nvSpPr>
          <p:cNvPr id="2" name="Google Shape;752;p28">
            <a:extLst>
              <a:ext uri="{FF2B5EF4-FFF2-40B4-BE49-F238E27FC236}">
                <a16:creationId xmlns:a16="http://schemas.microsoft.com/office/drawing/2014/main" id="{9D5A302D-F00E-0C43-E9D8-F1DB17CF4EC0}"/>
              </a:ext>
            </a:extLst>
          </p:cNvPr>
          <p:cNvSpPr txBox="1"/>
          <p:nvPr/>
        </p:nvSpPr>
        <p:spPr>
          <a:xfrm>
            <a:off x="661098" y="824235"/>
            <a:ext cx="8437327" cy="307736"/>
          </a:xfrm>
          <a:prstGeom prst="rect">
            <a:avLst/>
          </a:prstGeom>
          <a:noFill/>
          <a:ln>
            <a:noFill/>
          </a:ln>
        </p:spPr>
        <p:txBody>
          <a:bodyPr spcFirstLastPara="1" wrap="square" lIns="91425" tIns="45700" rIns="91425" bIns="45700" anchor="ctr" anchorCtr="0">
            <a:spAutoFit/>
          </a:bodyPr>
          <a:lstStyle/>
          <a:p>
            <a:pPr lvl="0" algn="ct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貴社課題感・予算感・施策規模感に合わせて、複数のプランでの提案が可能です。</a:t>
            </a:r>
            <a:endPar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8D454AA9-AD97-90CA-946B-22BBC421527A}"/>
              </a:ext>
            </a:extLst>
          </p:cNvPr>
          <p:cNvSpPr/>
          <p:nvPr/>
        </p:nvSpPr>
        <p:spPr>
          <a:xfrm>
            <a:off x="506322" y="2770359"/>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コンサル基本プラン</a:t>
            </a:r>
          </a:p>
        </p:txBody>
      </p:sp>
      <p:sp>
        <p:nvSpPr>
          <p:cNvPr id="5" name="正方形/長方形 4">
            <a:extLst>
              <a:ext uri="{FF2B5EF4-FFF2-40B4-BE49-F238E27FC236}">
                <a16:creationId xmlns:a16="http://schemas.microsoft.com/office/drawing/2014/main" id="{EEC8E70F-A694-0D6C-4FF1-315A6E9F733E}"/>
              </a:ext>
            </a:extLst>
          </p:cNvPr>
          <p:cNvSpPr/>
          <p:nvPr/>
        </p:nvSpPr>
        <p:spPr>
          <a:xfrm>
            <a:off x="506322" y="4666973"/>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初動設計</a:t>
            </a:r>
            <a:r>
              <a:rPr lang="ja-JP" altLang="en-US" sz="1400" dirty="0">
                <a:latin typeface="メイリオ" panose="020B0604030504040204" pitchFamily="50" charset="-128"/>
                <a:ea typeface="メイリオ" panose="020B0604030504040204" pitchFamily="50" charset="-128"/>
              </a:rPr>
              <a:t>のみ</a:t>
            </a:r>
            <a:r>
              <a:rPr kumimoji="1" lang="ja-JP" altLang="en-US" sz="1400" dirty="0">
                <a:latin typeface="メイリオ" panose="020B0604030504040204" pitchFamily="50" charset="-128"/>
                <a:ea typeface="メイリオ" panose="020B0604030504040204" pitchFamily="50" charset="-128"/>
              </a:rPr>
              <a:t>プラン</a:t>
            </a:r>
          </a:p>
        </p:txBody>
      </p:sp>
      <p:sp>
        <p:nvSpPr>
          <p:cNvPr id="6" name="正方形/長方形 5">
            <a:extLst>
              <a:ext uri="{FF2B5EF4-FFF2-40B4-BE49-F238E27FC236}">
                <a16:creationId xmlns:a16="http://schemas.microsoft.com/office/drawing/2014/main" id="{951ADC50-2D6D-823F-2EEF-A053535442BE}"/>
              </a:ext>
            </a:extLst>
          </p:cNvPr>
          <p:cNvSpPr/>
          <p:nvPr/>
        </p:nvSpPr>
        <p:spPr>
          <a:xfrm>
            <a:off x="506322" y="5615281"/>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運用代行・効率改善プラン</a:t>
            </a:r>
          </a:p>
        </p:txBody>
      </p:sp>
      <p:sp>
        <p:nvSpPr>
          <p:cNvPr id="7" name="正方形/長方形 6">
            <a:extLst>
              <a:ext uri="{FF2B5EF4-FFF2-40B4-BE49-F238E27FC236}">
                <a16:creationId xmlns:a16="http://schemas.microsoft.com/office/drawing/2014/main" id="{ED866F59-8FC1-9200-5700-DE2EEF3AF79A}"/>
              </a:ext>
            </a:extLst>
          </p:cNvPr>
          <p:cNvSpPr/>
          <p:nvPr/>
        </p:nvSpPr>
        <p:spPr>
          <a:xfrm>
            <a:off x="506322" y="3718666"/>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成果報酬型プラン</a:t>
            </a:r>
            <a:endParaRPr kumimoji="1" lang="ja-JP" altLang="en-US" sz="14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D7A43CC0-345F-22EA-1EA2-259B21EA4E19}"/>
              </a:ext>
            </a:extLst>
          </p:cNvPr>
          <p:cNvSpPr/>
          <p:nvPr/>
        </p:nvSpPr>
        <p:spPr>
          <a:xfrm>
            <a:off x="3477934" y="2602078"/>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10</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設定内容により変動</a:t>
            </a:r>
            <a:endParaRPr lang="en-US" altLang="ja-JP" sz="900"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B41ABFD0-4DA0-5335-346F-E7FA981B5FD9}"/>
              </a:ext>
            </a:extLst>
          </p:cNvPr>
          <p:cNvSpPr/>
          <p:nvPr/>
        </p:nvSpPr>
        <p:spPr>
          <a:xfrm>
            <a:off x="3477934" y="4498692"/>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10</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solidFill>
              <a:latin typeface="メイリオ" panose="020B0604030504040204" pitchFamily="50" charset="-128"/>
              <a:ea typeface="メイリオ" panose="020B0604030504040204" pitchFamily="50" charset="-128"/>
            </a:endParaRPr>
          </a:p>
          <a:p>
            <a:pPr algn="ctr"/>
            <a:r>
              <a:rPr lang="en-US" altLang="ja-JP" sz="1200" dirty="0">
                <a:solidFill>
                  <a:schemeClr val="tx1"/>
                </a:solidFill>
                <a:latin typeface="メイリオ" panose="020B0604030504040204" pitchFamily="50" charset="-128"/>
                <a:ea typeface="メイリオ" panose="020B0604030504040204" pitchFamily="50" charset="-128"/>
              </a:rPr>
              <a:t>GA</a:t>
            </a:r>
            <a:r>
              <a:rPr lang="ja-JP" altLang="en-US" sz="1200" dirty="0">
                <a:solidFill>
                  <a:schemeClr val="tx1"/>
                </a:solidFill>
                <a:latin typeface="メイリオ" panose="020B0604030504040204" pitchFamily="50" charset="-128"/>
                <a:ea typeface="メイリオ" panose="020B0604030504040204" pitchFamily="50" charset="-128"/>
              </a:rPr>
              <a:t>計測、ステップ配信を構築します</a:t>
            </a:r>
            <a:endParaRPr lang="en-US" altLang="ja-JP" sz="105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AD61DD43-5145-183F-4944-CF28902E2BB5}"/>
              </a:ext>
            </a:extLst>
          </p:cNvPr>
          <p:cNvSpPr/>
          <p:nvPr/>
        </p:nvSpPr>
        <p:spPr>
          <a:xfrm>
            <a:off x="3477934" y="5447000"/>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5</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投稿数により変動</a:t>
            </a:r>
            <a:r>
              <a:rPr lang="en-US" altLang="ja-JP" sz="1050" dirty="0">
                <a:solidFill>
                  <a:schemeClr val="tx1"/>
                </a:solidFill>
                <a:latin typeface="メイリオ" panose="020B0604030504040204" pitchFamily="50" charset="-128"/>
                <a:ea typeface="メイリオ" panose="020B0604030504040204" pitchFamily="50" charset="-128"/>
              </a:rPr>
              <a:t>(3</a:t>
            </a:r>
            <a:r>
              <a:rPr lang="ja-JP" altLang="en-US" sz="1050" dirty="0">
                <a:solidFill>
                  <a:schemeClr val="tx1"/>
                </a:solidFill>
                <a:latin typeface="メイリオ" panose="020B0604030504040204" pitchFamily="50" charset="-128"/>
                <a:ea typeface="メイリオ" panose="020B0604030504040204" pitchFamily="50" charset="-128"/>
              </a:rPr>
              <a:t>投稿</a:t>
            </a:r>
            <a:r>
              <a:rPr lang="en-US" altLang="ja-JP" sz="1050" dirty="0">
                <a:solidFill>
                  <a:schemeClr val="tx1"/>
                </a:solidFill>
                <a:latin typeface="メイリオ" panose="020B0604030504040204" pitchFamily="50" charset="-128"/>
                <a:ea typeface="メイリオ" panose="020B0604030504040204" pitchFamily="50" charset="-128"/>
              </a:rPr>
              <a:t>〜/10</a:t>
            </a:r>
            <a:r>
              <a:rPr lang="ja-JP" altLang="en-US" sz="1050" dirty="0">
                <a:solidFill>
                  <a:schemeClr val="tx1"/>
                </a:solidFill>
                <a:latin typeface="メイリオ" panose="020B0604030504040204" pitchFamily="50" charset="-128"/>
                <a:ea typeface="メイリオ" panose="020B0604030504040204" pitchFamily="50" charset="-128"/>
              </a:rPr>
              <a:t>万円</a:t>
            </a:r>
            <a:r>
              <a:rPr lang="en-US" altLang="ja-JP" sz="1050" dirty="0">
                <a:solidFill>
                  <a:schemeClr val="tx1"/>
                </a:solidFill>
                <a:latin typeface="メイリオ" panose="020B0604030504040204" pitchFamily="50" charset="-128"/>
                <a:ea typeface="メイリオ" panose="020B0604030504040204" pitchFamily="50" charset="-128"/>
              </a:rPr>
              <a:t>6</a:t>
            </a:r>
            <a:r>
              <a:rPr lang="ja-JP" altLang="en-US" sz="1050" dirty="0">
                <a:solidFill>
                  <a:schemeClr val="tx1"/>
                </a:solidFill>
                <a:latin typeface="メイリオ" panose="020B0604030504040204" pitchFamily="50" charset="-128"/>
                <a:ea typeface="メイリオ" panose="020B0604030504040204" pitchFamily="50" charset="-128"/>
              </a:rPr>
              <a:t>投稿</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11" name="正方形/長方形 10">
            <a:extLst>
              <a:ext uri="{FF2B5EF4-FFF2-40B4-BE49-F238E27FC236}">
                <a16:creationId xmlns:a16="http://schemas.microsoft.com/office/drawing/2014/main" id="{AEBE1332-3E19-248E-DB59-7DA92679932C}"/>
              </a:ext>
            </a:extLst>
          </p:cNvPr>
          <p:cNvSpPr/>
          <p:nvPr/>
        </p:nvSpPr>
        <p:spPr>
          <a:xfrm>
            <a:off x="3477934" y="3550385"/>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10</a:t>
            </a:r>
            <a:r>
              <a:rPr lang="ja-JP" altLang="en-US" sz="1400" b="1" dirty="0">
                <a:solidFill>
                  <a:schemeClr val="tx1"/>
                </a:solidFill>
                <a:latin typeface="メイリオ" panose="020B0604030504040204" pitchFamily="50" charset="-128"/>
                <a:ea typeface="メイリオ" panose="020B0604030504040204" pitchFamily="50" charset="-128"/>
              </a:rPr>
              <a:t>万円</a:t>
            </a:r>
            <a:r>
              <a:rPr lang="en-US" altLang="ja-JP" sz="1400" b="1" dirty="0">
                <a:solidFill>
                  <a:schemeClr val="tx1"/>
                </a:solidFill>
                <a:latin typeface="メイリオ" panose="020B0604030504040204" pitchFamily="50" charset="-128"/>
                <a:ea typeface="メイリオ" panose="020B0604030504040204" pitchFamily="50" charset="-128"/>
              </a:rPr>
              <a:t>〜</a:t>
            </a:r>
          </a:p>
          <a:p>
            <a:pPr algn="ct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設定内容により変動</a:t>
            </a:r>
            <a:endParaRPr lang="en-US" altLang="ja-JP" sz="9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2A0C2CFB-F02A-8049-96FD-FD6CF42B0E7A}"/>
              </a:ext>
            </a:extLst>
          </p:cNvPr>
          <p:cNvSpPr/>
          <p:nvPr/>
        </p:nvSpPr>
        <p:spPr>
          <a:xfrm>
            <a:off x="6517118" y="2602078"/>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lumMod val="65000"/>
                    <a:lumOff val="35000"/>
                  </a:schemeClr>
                </a:solidFill>
                <a:latin typeface="メイリオ" panose="020B0604030504040204" pitchFamily="50" charset="-128"/>
                <a:ea typeface="メイリオ" panose="020B0604030504040204" pitchFamily="50" charset="-128"/>
              </a:rPr>
              <a:t>20</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投稿数により変動</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(3</a:t>
            </a: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投稿</a:t>
            </a:r>
            <a:r>
              <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4" name="正方形/長方形 13">
            <a:extLst>
              <a:ext uri="{FF2B5EF4-FFF2-40B4-BE49-F238E27FC236}">
                <a16:creationId xmlns:a16="http://schemas.microsoft.com/office/drawing/2014/main" id="{E6CA090D-A0FE-B83F-F9D4-7F2081B321AC}"/>
              </a:ext>
            </a:extLst>
          </p:cNvPr>
          <p:cNvSpPr/>
          <p:nvPr/>
        </p:nvSpPr>
        <p:spPr>
          <a:xfrm>
            <a:off x="6517118" y="4498692"/>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lumMod val="65000"/>
                    <a:lumOff val="35000"/>
                  </a:schemeClr>
                </a:solidFill>
                <a:latin typeface="メイリオ" panose="020B0604030504040204" pitchFamily="50" charset="-128"/>
                <a:ea typeface="メイリオ" panose="020B0604030504040204" pitchFamily="50" charset="-128"/>
              </a:rPr>
              <a:t>0</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rPr>
              <a:t>〜</a:t>
            </a: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アカウント費用のみ発生</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75000"/>
                  </a:schemeClr>
                </a:solidFill>
                <a:latin typeface="メイリオ" panose="020B0604030504040204" pitchFamily="50" charset="-128"/>
                <a:ea typeface="メイリオ" panose="020B0604030504040204" pitchFamily="50" charset="-128"/>
              </a:rPr>
              <a:t>※</a:t>
            </a:r>
            <a:r>
              <a:rPr lang="ja-JP" altLang="en-US" sz="1050" dirty="0">
                <a:solidFill>
                  <a:schemeClr val="bg1">
                    <a:lumMod val="75000"/>
                  </a:schemeClr>
                </a:solidFill>
                <a:latin typeface="メイリオ" panose="020B0604030504040204" pitchFamily="50" charset="-128"/>
                <a:ea typeface="メイリオ" panose="020B0604030504040204" pitchFamily="50" charset="-128"/>
              </a:rPr>
              <a:t>機能導入の場合は別途費用（</a:t>
            </a:r>
            <a:r>
              <a:rPr lang="en-US" altLang="ja-JP" sz="1050" dirty="0">
                <a:solidFill>
                  <a:schemeClr val="bg1">
                    <a:lumMod val="75000"/>
                  </a:schemeClr>
                </a:solidFill>
                <a:latin typeface="メイリオ" panose="020B0604030504040204" pitchFamily="50" charset="-128"/>
                <a:ea typeface="メイリオ" panose="020B0604030504040204" pitchFamily="50" charset="-128"/>
              </a:rPr>
              <a:t>Fee</a:t>
            </a:r>
            <a:r>
              <a:rPr lang="ja-JP" altLang="en-US" sz="1050" dirty="0">
                <a:solidFill>
                  <a:schemeClr val="bg1">
                    <a:lumMod val="75000"/>
                  </a:schemeClr>
                </a:solidFill>
                <a:latin typeface="メイリオ" panose="020B0604030504040204" pitchFamily="50" charset="-128"/>
                <a:ea typeface="メイリオ" panose="020B0604030504040204" pitchFamily="50" charset="-128"/>
              </a:rPr>
              <a:t>）が発生</a:t>
            </a:r>
            <a:endParaRPr lang="en-US" altLang="ja-JP" sz="1050"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EE3D57F9-87AE-6E15-36E0-FB1FCC357320}"/>
              </a:ext>
            </a:extLst>
          </p:cNvPr>
          <p:cNvSpPr/>
          <p:nvPr/>
        </p:nvSpPr>
        <p:spPr>
          <a:xfrm>
            <a:off x="6517118" y="5447000"/>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lumMod val="65000"/>
                    <a:lumOff val="35000"/>
                  </a:schemeClr>
                </a:solidFill>
                <a:latin typeface="メイリオ" panose="020B0604030504040204" pitchFamily="50" charset="-128"/>
                <a:ea typeface="メイリオ" panose="020B0604030504040204" pitchFamily="50" charset="-128"/>
              </a:rPr>
              <a:t>5</a:t>
            </a:r>
            <a:r>
              <a:rPr lang="ja-JP" altLang="en-US" sz="1400" b="1"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400" b="1" dirty="0">
                <a:solidFill>
                  <a:schemeClr val="tx1">
                    <a:lumMod val="65000"/>
                    <a:lumOff val="35000"/>
                  </a:schemeClr>
                </a:solidFill>
                <a:latin typeface="メイリオ" panose="020B0604030504040204" pitchFamily="50" charset="-128"/>
                <a:ea typeface="メイリオ" panose="020B0604030504040204" pitchFamily="50" charset="-128"/>
              </a:rPr>
              <a:t>〜</a:t>
            </a:r>
          </a:p>
          <a:p>
            <a:pPr algn="ct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投稿数により変動</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(3</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投稿</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〜/10</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万円</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6</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投稿</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a:t>
            </a:r>
          </a:p>
        </p:txBody>
      </p:sp>
      <p:sp>
        <p:nvSpPr>
          <p:cNvPr id="16" name="正方形/長方形 15">
            <a:extLst>
              <a:ext uri="{FF2B5EF4-FFF2-40B4-BE49-F238E27FC236}">
                <a16:creationId xmlns:a16="http://schemas.microsoft.com/office/drawing/2014/main" id="{CA00712D-E4EC-DEB7-454F-CD087FC64AB8}"/>
              </a:ext>
            </a:extLst>
          </p:cNvPr>
          <p:cNvSpPr/>
          <p:nvPr/>
        </p:nvSpPr>
        <p:spPr>
          <a:xfrm>
            <a:off x="6517118" y="3550385"/>
            <a:ext cx="2982883" cy="8288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lumMod val="65000"/>
                    <a:lumOff val="35000"/>
                  </a:schemeClr>
                </a:solidFill>
                <a:latin typeface="メイリオ" panose="020B0604030504040204" pitchFamily="50" charset="-128"/>
                <a:ea typeface="メイリオ" panose="020B0604030504040204" pitchFamily="50" charset="-128"/>
              </a:rPr>
              <a:t>単価</a:t>
            </a:r>
            <a:r>
              <a:rPr lang="en-US" altLang="ja-JP" b="1"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b="1" dirty="0">
                <a:solidFill>
                  <a:schemeClr val="tx1">
                    <a:lumMod val="65000"/>
                    <a:lumOff val="35000"/>
                  </a:schemeClr>
                </a:solidFill>
                <a:latin typeface="メイリオ" panose="020B0604030504040204" pitchFamily="50" charset="-128"/>
                <a:ea typeface="メイリオ" panose="020B0604030504040204" pitchFamily="50" charset="-128"/>
              </a:rPr>
              <a:t>成果数により変動</a:t>
            </a:r>
            <a:endParaRPr lang="en-US" altLang="ja-JP" sz="12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endParaRPr lang="en-US" altLang="ja-JP" sz="7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アカウント費とツール費は発生します</a:t>
            </a:r>
            <a:endParaRPr lang="en-US" altLang="ja-JP" sz="7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B3C94D54-28FD-BEBF-AEF0-979D8BE80231}"/>
              </a:ext>
            </a:extLst>
          </p:cNvPr>
          <p:cNvSpPr txBox="1"/>
          <p:nvPr/>
        </p:nvSpPr>
        <p:spPr>
          <a:xfrm>
            <a:off x="3569145" y="2256270"/>
            <a:ext cx="2800460" cy="261610"/>
          </a:xfrm>
          <a:prstGeom prst="rect">
            <a:avLst/>
          </a:prstGeom>
          <a:noFill/>
        </p:spPr>
        <p:txBody>
          <a:bodyPr wrap="square">
            <a:spAutoFit/>
          </a:bodyPr>
          <a:lstStyle/>
          <a:p>
            <a:pPr algn="ct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&lt;</a:t>
            </a:r>
            <a:r>
              <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rPr>
              <a:t>初期費用</a:t>
            </a: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&gt;</a:t>
            </a:r>
            <a:endPar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91B5A2B5-E8BF-32E8-3229-6262A8849DFA}"/>
              </a:ext>
            </a:extLst>
          </p:cNvPr>
          <p:cNvSpPr txBox="1"/>
          <p:nvPr/>
        </p:nvSpPr>
        <p:spPr>
          <a:xfrm>
            <a:off x="6608329" y="2256270"/>
            <a:ext cx="2800460" cy="261610"/>
          </a:xfrm>
          <a:prstGeom prst="rect">
            <a:avLst/>
          </a:prstGeom>
          <a:noFill/>
        </p:spPr>
        <p:txBody>
          <a:bodyPr wrap="square">
            <a:spAutoFit/>
          </a:bodyPr>
          <a:lstStyle/>
          <a:p>
            <a:pPr algn="ct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&lt;</a:t>
            </a:r>
            <a:r>
              <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rPr>
              <a:t>月額費用</a:t>
            </a:r>
            <a:r>
              <a:rPr kumimoji="1" lang="en-US" altLang="ja-JP" sz="1100" b="1" dirty="0">
                <a:solidFill>
                  <a:schemeClr val="tx1">
                    <a:lumMod val="65000"/>
                    <a:lumOff val="35000"/>
                  </a:schemeClr>
                </a:solidFill>
                <a:latin typeface="メイリオ" panose="020B0604030504040204" pitchFamily="50" charset="-128"/>
                <a:ea typeface="メイリオ" panose="020B0604030504040204" pitchFamily="50" charset="-128"/>
              </a:rPr>
              <a:t>&gt;</a:t>
            </a:r>
            <a:endParaRPr kumimoji="1" lang="ja-JP" altLang="en-US" sz="11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F2E30823-4A97-1E61-22CA-60C942910619}"/>
              </a:ext>
            </a:extLst>
          </p:cNvPr>
          <p:cNvSpPr txBox="1"/>
          <p:nvPr/>
        </p:nvSpPr>
        <p:spPr>
          <a:xfrm>
            <a:off x="4864912" y="1516791"/>
            <a:ext cx="4294201" cy="276999"/>
          </a:xfrm>
          <a:prstGeom prst="rect">
            <a:avLst/>
          </a:prstGeom>
          <a:noFill/>
        </p:spPr>
        <p:txBody>
          <a:bodyPr wrap="square">
            <a:spAutoFit/>
          </a:bodyPr>
          <a:lstStyle/>
          <a:p>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いずれも</a:t>
            </a:r>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6</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か月</a:t>
            </a:r>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の契約となります。</a:t>
            </a:r>
            <a:endParaRPr lang="ja-JP" altLang="en-US" sz="1200" b="1" dirty="0">
              <a:solidFill>
                <a:srgbClr val="FF0000"/>
              </a:solidFill>
            </a:endParaRPr>
          </a:p>
        </p:txBody>
      </p:sp>
      <p:sp>
        <p:nvSpPr>
          <p:cNvPr id="25" name="テキスト ボックス 24">
            <a:extLst>
              <a:ext uri="{FF2B5EF4-FFF2-40B4-BE49-F238E27FC236}">
                <a16:creationId xmlns:a16="http://schemas.microsoft.com/office/drawing/2014/main" id="{D33F2179-B983-907C-4091-A1C6C62D52D4}"/>
              </a:ext>
            </a:extLst>
          </p:cNvPr>
          <p:cNvSpPr txBox="1"/>
          <p:nvPr/>
        </p:nvSpPr>
        <p:spPr>
          <a:xfrm>
            <a:off x="4879760" y="1751891"/>
            <a:ext cx="4294201" cy="276999"/>
          </a:xfrm>
          <a:prstGeom prst="rect">
            <a:avLst/>
          </a:prstGeom>
          <a:noFill/>
        </p:spPr>
        <p:txBody>
          <a:bodyPr wrap="square">
            <a:spAutoFit/>
          </a:bodyPr>
          <a:lstStyle/>
          <a:p>
            <a:r>
              <a:rPr lang="en-US" altLang="ja-JP" sz="12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開発やツール導入の場合は別途費用が発生します。</a:t>
            </a:r>
            <a:endParaRPr lang="ja-JP" altLang="en-US" sz="1200" b="1" dirty="0">
              <a:solidFill>
                <a:srgbClr val="FF0000"/>
              </a:solidFill>
            </a:endParaRPr>
          </a:p>
        </p:txBody>
      </p:sp>
      <p:sp>
        <p:nvSpPr>
          <p:cNvPr id="18" name="正方形/長方形 17">
            <a:extLst>
              <a:ext uri="{FF2B5EF4-FFF2-40B4-BE49-F238E27FC236}">
                <a16:creationId xmlns:a16="http://schemas.microsoft.com/office/drawing/2014/main" id="{6C7D4DA1-1231-53FE-3BA9-7E10A6828C3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CCBC79D5-B48C-EA1F-E7C8-2470B18780C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D61F0D43-1EC8-C807-64DC-BE9799A02F79}"/>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コンサル基本プラン</a:t>
            </a:r>
          </a:p>
        </p:txBody>
      </p:sp>
      <p:sp>
        <p:nvSpPr>
          <p:cNvPr id="3" name="Google Shape;752;p28">
            <a:extLst>
              <a:ext uri="{FF2B5EF4-FFF2-40B4-BE49-F238E27FC236}">
                <a16:creationId xmlns:a16="http://schemas.microsoft.com/office/drawing/2014/main" id="{690D08B2-6972-E80D-2DA1-D0B4EE8CE831}"/>
              </a:ext>
            </a:extLst>
          </p:cNvPr>
          <p:cNvSpPr txBox="1"/>
          <p:nvPr/>
        </p:nvSpPr>
        <p:spPr>
          <a:xfrm>
            <a:off x="2914650" y="859443"/>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latin typeface="メイリオ" panose="020B0604030504040204" pitchFamily="50" charset="-128"/>
                <a:ea typeface="メイリオ" panose="020B0604030504040204" pitchFamily="50" charset="-128"/>
                <a:cs typeface="Meiryo"/>
                <a:sym typeface="Meiryo"/>
              </a:rPr>
              <a:t>オーソドックスなコンサルプラン。月間企画数により費用を設定。</a:t>
            </a:r>
          </a:p>
        </p:txBody>
      </p:sp>
      <p:sp>
        <p:nvSpPr>
          <p:cNvPr id="7" name="正方形/長方形 6">
            <a:extLst>
              <a:ext uri="{FF2B5EF4-FFF2-40B4-BE49-F238E27FC236}">
                <a16:creationId xmlns:a16="http://schemas.microsoft.com/office/drawing/2014/main" id="{9640D725-6CB1-3362-4D55-D2D874EE3245}"/>
              </a:ext>
            </a:extLst>
          </p:cNvPr>
          <p:cNvSpPr/>
          <p:nvPr/>
        </p:nvSpPr>
        <p:spPr>
          <a:xfrm>
            <a:off x="548883" y="3587932"/>
            <a:ext cx="8859613" cy="288253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aphicFrame>
        <p:nvGraphicFramePr>
          <p:cNvPr id="10" name="表 9">
            <a:extLst>
              <a:ext uri="{FF2B5EF4-FFF2-40B4-BE49-F238E27FC236}">
                <a16:creationId xmlns:a16="http://schemas.microsoft.com/office/drawing/2014/main" id="{C9C27775-D0B4-87CE-2D50-752D4FF8706F}"/>
              </a:ext>
            </a:extLst>
          </p:cNvPr>
          <p:cNvGraphicFramePr>
            <a:graphicFrameLocks noGrp="1"/>
          </p:cNvGraphicFramePr>
          <p:nvPr/>
        </p:nvGraphicFramePr>
        <p:xfrm>
          <a:off x="706726" y="3963057"/>
          <a:ext cx="8543925" cy="2454494"/>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175321">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8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アカウント開設</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0324702"/>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プロフィール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2466269"/>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リッチメニュー</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3180495"/>
                  </a:ext>
                </a:extLst>
              </a:tr>
              <a:tr h="175321">
                <a:tc>
                  <a:txBody>
                    <a:bodyPr/>
                    <a:lstStyle/>
                    <a:p>
                      <a:pPr algn="ctr" fontAlgn="ctr">
                        <a:buNone/>
                      </a:pPr>
                      <a:r>
                        <a:rPr lang="ja-JP" altLang="en-US" sz="800" b="0" i="0" u="none" strike="noStrike">
                          <a:solidFill>
                            <a:srgbClr val="000000"/>
                          </a:solidFill>
                          <a:effectLst/>
                          <a:highlight>
                            <a:srgbClr val="FFFFFF"/>
                          </a:highlight>
                          <a:latin typeface="メイリオ" panose="020B0604030504040204" pitchFamily="50" charset="-128"/>
                          <a:ea typeface="メイリオ" panose="020B0604030504040204" pitchFamily="50" charset="-128"/>
                        </a:rPr>
                        <a:t>あいさつメッセージ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¥600,000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5619942"/>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初期アンケート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8230469"/>
                  </a:ext>
                </a:extLst>
              </a:tr>
              <a:tr h="175321">
                <a:tc>
                  <a:txBody>
                    <a:bodyPr/>
                    <a:lstStyle/>
                    <a:p>
                      <a:pPr algn="ctr" fontAlgn="ctr">
                        <a:buNone/>
                      </a:pPr>
                      <a:r>
                        <a:rPr 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KW</a:t>
                      </a: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の自動応答</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305542"/>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ステップ配信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l-GR" sz="800" b="0" i="0" u="none" strike="noStrike">
                          <a:solidFill>
                            <a:schemeClr val="bg1">
                              <a:lumMod val="75000"/>
                            </a:schemeClr>
                          </a:solidFill>
                          <a:effectLst/>
                          <a:latin typeface="メイリオ" panose="020B0604030504040204" pitchFamily="50" charset="-128"/>
                          <a:ea typeface="メイリオ" panose="020B0604030504040204" pitchFamily="50" charset="-128"/>
                        </a:rPr>
                        <a:t>¥100,000+α</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1135084"/>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セグメント配信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3,5</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手数料</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9714401"/>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チャットタグ管理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予約管理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0214931"/>
                  </a:ext>
                </a:extLst>
              </a:tr>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チャット対応</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多店舗管理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9396613"/>
                  </a:ext>
                </a:extLst>
              </a:tr>
              <a:tr h="175321">
                <a:tc>
                  <a:txBody>
                    <a:bodyPr/>
                    <a:lstStyle/>
                    <a:p>
                      <a:pPr algn="ctr" fontAlgn="ctr">
                        <a:buNone/>
                      </a:pPr>
                      <a:r>
                        <a:rPr lang="en-US" altLang="ja-JP"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GA(CRM)</a:t>
                      </a: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レポート連携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2321774"/>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クリエイティブ</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離脱防止ツール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8905920"/>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定例会</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サンクス</a:t>
                      </a: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誘導ツール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¥150,000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7655704"/>
                  </a:ext>
                </a:extLst>
              </a:tr>
            </a:tbl>
          </a:graphicData>
        </a:graphic>
      </p:graphicFrame>
      <p:sp>
        <p:nvSpPr>
          <p:cNvPr id="12" name="テキスト ボックス 11">
            <a:extLst>
              <a:ext uri="{FF2B5EF4-FFF2-40B4-BE49-F238E27FC236}">
                <a16:creationId xmlns:a16="http://schemas.microsoft.com/office/drawing/2014/main" id="{78F7A265-899D-CCF4-2C14-ED5BB94EA90E}"/>
              </a:ext>
            </a:extLst>
          </p:cNvPr>
          <p:cNvSpPr txBox="1"/>
          <p:nvPr/>
        </p:nvSpPr>
        <p:spPr>
          <a:xfrm>
            <a:off x="706726" y="3644690"/>
            <a:ext cx="4963884" cy="261610"/>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20" name="表 19">
            <a:extLst>
              <a:ext uri="{FF2B5EF4-FFF2-40B4-BE49-F238E27FC236}">
                <a16:creationId xmlns:a16="http://schemas.microsoft.com/office/drawing/2014/main" id="{35A17481-69F7-B4A9-E021-97EE397EC507}"/>
              </a:ext>
            </a:extLst>
          </p:cNvPr>
          <p:cNvGraphicFramePr>
            <a:graphicFrameLocks noGrp="1"/>
          </p:cNvGraphicFramePr>
          <p:nvPr/>
        </p:nvGraphicFramePr>
        <p:xfrm>
          <a:off x="5052177" y="3697199"/>
          <a:ext cx="1236867" cy="175321"/>
        </p:xfrm>
        <a:graphic>
          <a:graphicData uri="http://schemas.openxmlformats.org/drawingml/2006/table">
            <a:tbl>
              <a:tblPr/>
              <a:tblGrid>
                <a:gridCol w="1236867">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運用時、基本付帯する</a:t>
                      </a:r>
                    </a:p>
                  </a:txBody>
                  <a:tcPr marL="8241" marR="8241"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21" name="表 20">
            <a:extLst>
              <a:ext uri="{FF2B5EF4-FFF2-40B4-BE49-F238E27FC236}">
                <a16:creationId xmlns:a16="http://schemas.microsoft.com/office/drawing/2014/main" id="{389502D4-BA2A-6A1C-BF6C-A371B6D109FD}"/>
              </a:ext>
            </a:extLst>
          </p:cNvPr>
          <p:cNvGraphicFramePr>
            <a:graphicFrameLocks noGrp="1"/>
          </p:cNvGraphicFramePr>
          <p:nvPr/>
        </p:nvGraphicFramePr>
        <p:xfrm>
          <a:off x="7891522" y="3697199"/>
          <a:ext cx="1249236" cy="15396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53961">
                <a:tc>
                  <a:txBody>
                    <a:bodyPr/>
                    <a:lstStyle/>
                    <a:p>
                      <a:pPr algn="ctr" fontAlgn="ctr">
                        <a:buNone/>
                      </a:pPr>
                      <a:r>
                        <a:rPr lang="ja-JP" altLang="en-US" sz="800" b="0" i="0" u="none" strike="noStrike" dirty="0">
                          <a:solidFill>
                            <a:srgbClr val="000000"/>
                          </a:solidFill>
                          <a:effectLst/>
                          <a:highlight>
                            <a:srgbClr val="C0C0C0"/>
                          </a:highlight>
                          <a:latin typeface="メイリオ" panose="020B0604030504040204" pitchFamily="50" charset="-128"/>
                          <a:ea typeface="メイリオ" panose="020B0604030504040204" pitchFamily="50" charset="-128"/>
                        </a:rPr>
                        <a:t>対応しない領域</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22" name="表 21">
            <a:extLst>
              <a:ext uri="{FF2B5EF4-FFF2-40B4-BE49-F238E27FC236}">
                <a16:creationId xmlns:a16="http://schemas.microsoft.com/office/drawing/2014/main" id="{1AEA4D62-5A51-5D4C-668D-F5733449D649}"/>
              </a:ext>
            </a:extLst>
          </p:cNvPr>
          <p:cNvGraphicFramePr>
            <a:graphicFrameLocks noGrp="1"/>
          </p:cNvGraphicFramePr>
          <p:nvPr/>
        </p:nvGraphicFramePr>
        <p:xfrm>
          <a:off x="6465665" y="3697198"/>
          <a:ext cx="1249236" cy="17532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貴社にて対応</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sp>
        <p:nvSpPr>
          <p:cNvPr id="2" name="正方形/長方形 1">
            <a:extLst>
              <a:ext uri="{FF2B5EF4-FFF2-40B4-BE49-F238E27FC236}">
                <a16:creationId xmlns:a16="http://schemas.microsoft.com/office/drawing/2014/main" id="{C482A5B9-1B77-7CB2-3577-651B908CC4DA}"/>
              </a:ext>
            </a:extLst>
          </p:cNvPr>
          <p:cNvSpPr/>
          <p:nvPr/>
        </p:nvSpPr>
        <p:spPr>
          <a:xfrm>
            <a:off x="706726" y="1556872"/>
            <a:ext cx="2326304"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メイリオ" panose="020B0604030504040204" pitchFamily="50" charset="-128"/>
                <a:ea typeface="メイリオ" panose="020B0604030504040204" pitchFamily="50" charset="-128"/>
              </a:rPr>
              <a:t>20</a:t>
            </a:r>
            <a:r>
              <a:rPr kumimoji="1" lang="ja-JP" altLang="en-US" sz="1600" b="1" dirty="0">
                <a:solidFill>
                  <a:schemeClr val="tx1"/>
                </a:solidFill>
                <a:latin typeface="メイリオ" panose="020B0604030504040204" pitchFamily="50" charset="-128"/>
                <a:ea typeface="メイリオ" panose="020B0604030504040204" pitchFamily="50" charset="-128"/>
              </a:rPr>
              <a:t>万円</a:t>
            </a:r>
            <a:r>
              <a:rPr kumimoji="1" lang="ja-JP" altLang="en-US" sz="1400" b="1" dirty="0">
                <a:solidFill>
                  <a:schemeClr val="tx1"/>
                </a:solidFill>
                <a:latin typeface="メイリオ" panose="020B0604030504040204" pitchFamily="50" charset="-128"/>
                <a:ea typeface="メイリオ" panose="020B0604030504040204" pitchFamily="50" charset="-128"/>
              </a:rPr>
              <a:t> </a:t>
            </a:r>
            <a:r>
              <a:rPr kumimoji="1"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 月</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74AE0EC-48BF-DC77-08FD-383C4B76F73E}"/>
              </a:ext>
            </a:extLst>
          </p:cNvPr>
          <p:cNvSpPr/>
          <p:nvPr/>
        </p:nvSpPr>
        <p:spPr>
          <a:xfrm>
            <a:off x="706726" y="2183457"/>
            <a:ext cx="2326304"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30</a:t>
            </a:r>
            <a:r>
              <a:rPr lang="ja-JP" altLang="en-US" sz="1600" b="1" dirty="0">
                <a:solidFill>
                  <a:schemeClr val="tx1"/>
                </a:solidFill>
                <a:latin typeface="メイリオ" panose="020B0604030504040204" pitchFamily="50" charset="-128"/>
                <a:ea typeface="メイリオ" panose="020B0604030504040204" pitchFamily="50" charset="-128"/>
              </a:rPr>
              <a:t>万円</a:t>
            </a:r>
            <a:r>
              <a:rPr lang="ja-JP" altLang="en-US" sz="1400" b="1" dirty="0">
                <a:solidFill>
                  <a:schemeClr val="tx1"/>
                </a:solidFill>
                <a:latin typeface="メイリオ" panose="020B0604030504040204" pitchFamily="50" charset="-128"/>
                <a:ea typeface="メイリオ" panose="020B0604030504040204" pitchFamily="50" charset="-128"/>
              </a:rPr>
              <a:t> </a:t>
            </a:r>
            <a:r>
              <a:rPr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 月</a:t>
            </a:r>
          </a:p>
        </p:txBody>
      </p:sp>
      <p:sp>
        <p:nvSpPr>
          <p:cNvPr id="6" name="正方形/長方形 5">
            <a:extLst>
              <a:ext uri="{FF2B5EF4-FFF2-40B4-BE49-F238E27FC236}">
                <a16:creationId xmlns:a16="http://schemas.microsoft.com/office/drawing/2014/main" id="{89600F16-6DFB-0370-C7A6-875494596D74}"/>
              </a:ext>
            </a:extLst>
          </p:cNvPr>
          <p:cNvSpPr/>
          <p:nvPr/>
        </p:nvSpPr>
        <p:spPr>
          <a:xfrm>
            <a:off x="706726" y="2815389"/>
            <a:ext cx="2326304"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dirty="0">
                <a:solidFill>
                  <a:schemeClr val="tx1"/>
                </a:solidFill>
                <a:latin typeface="メイリオ" panose="020B0604030504040204" pitchFamily="50" charset="-128"/>
                <a:ea typeface="メイリオ" panose="020B0604030504040204" pitchFamily="50" charset="-128"/>
              </a:rPr>
              <a:t>50</a:t>
            </a:r>
            <a:r>
              <a:rPr lang="ja-JP" altLang="en-US" sz="1600" b="1" dirty="0">
                <a:solidFill>
                  <a:schemeClr val="tx1"/>
                </a:solidFill>
                <a:latin typeface="メイリオ" panose="020B0604030504040204" pitchFamily="50" charset="-128"/>
                <a:ea typeface="メイリオ" panose="020B0604030504040204" pitchFamily="50" charset="-128"/>
              </a:rPr>
              <a:t>万円</a:t>
            </a:r>
            <a:r>
              <a:rPr lang="ja-JP" altLang="en-US" sz="1400" b="1" dirty="0">
                <a:solidFill>
                  <a:schemeClr val="tx1"/>
                </a:solidFill>
                <a:latin typeface="メイリオ" panose="020B0604030504040204" pitchFamily="50" charset="-128"/>
                <a:ea typeface="メイリオ" panose="020B0604030504040204" pitchFamily="50" charset="-128"/>
              </a:rPr>
              <a:t> </a:t>
            </a:r>
            <a:r>
              <a:rPr lang="en-US" altLang="ja-JP" sz="1400" b="1" dirty="0">
                <a:solidFill>
                  <a:schemeClr val="tx1"/>
                </a:solidFill>
                <a:latin typeface="メイリオ" panose="020B0604030504040204" pitchFamily="50" charset="-128"/>
                <a:ea typeface="メイリオ" panose="020B0604030504040204" pitchFamily="50" charset="-128"/>
              </a:rPr>
              <a:t>/</a:t>
            </a:r>
            <a:r>
              <a:rPr lang="ja-JP" altLang="en-US" sz="1400" b="1" dirty="0">
                <a:solidFill>
                  <a:schemeClr val="tx1"/>
                </a:solidFill>
                <a:latin typeface="メイリオ" panose="020B0604030504040204" pitchFamily="50" charset="-128"/>
                <a:ea typeface="メイリオ" panose="020B0604030504040204" pitchFamily="50" charset="-128"/>
              </a:rPr>
              <a:t> 月</a:t>
            </a:r>
          </a:p>
        </p:txBody>
      </p:sp>
      <p:sp>
        <p:nvSpPr>
          <p:cNvPr id="11" name="正方形/長方形 10">
            <a:extLst>
              <a:ext uri="{FF2B5EF4-FFF2-40B4-BE49-F238E27FC236}">
                <a16:creationId xmlns:a16="http://schemas.microsoft.com/office/drawing/2014/main" id="{81506C69-8126-9C2B-FABF-119E315AF939}"/>
              </a:ext>
            </a:extLst>
          </p:cNvPr>
          <p:cNvSpPr/>
          <p:nvPr/>
        </p:nvSpPr>
        <p:spPr>
          <a:xfrm>
            <a:off x="3088448" y="1556872"/>
            <a:ext cx="1963729" cy="5029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メイリオ" panose="020B0604030504040204" pitchFamily="50" charset="-128"/>
                <a:ea typeface="メイリオ" panose="020B0604030504040204" pitchFamily="50" charset="-128"/>
              </a:rPr>
              <a:t>３</a:t>
            </a:r>
            <a:r>
              <a:rPr kumimoji="1" lang="ja-JP" altLang="en-US" sz="2000" dirty="0">
                <a:solidFill>
                  <a:schemeClr val="tx1"/>
                </a:solidFill>
                <a:latin typeface="メイリオ" panose="020B0604030504040204" pitchFamily="50" charset="-128"/>
                <a:ea typeface="メイリオ" panose="020B0604030504040204" pitchFamily="50" charset="-128"/>
              </a:rPr>
              <a:t>投稿</a:t>
            </a:r>
            <a:r>
              <a:rPr kumimoji="1" lang="ja-JP" altLang="en-US" sz="1200" dirty="0">
                <a:solidFill>
                  <a:schemeClr val="tx1"/>
                </a:solidFill>
                <a:latin typeface="メイリオ" panose="020B0604030504040204" pitchFamily="50" charset="-128"/>
                <a:ea typeface="メイリオ" panose="020B0604030504040204" pitchFamily="50" charset="-128"/>
              </a:rPr>
              <a:t> </a:t>
            </a:r>
            <a:r>
              <a:rPr kumimoji="1"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月</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B15A40AA-7F6C-2AC4-1C14-0AC66212601F}"/>
              </a:ext>
            </a:extLst>
          </p:cNvPr>
          <p:cNvSpPr/>
          <p:nvPr/>
        </p:nvSpPr>
        <p:spPr>
          <a:xfrm>
            <a:off x="3088448" y="2183457"/>
            <a:ext cx="1963729" cy="5029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メイリオ" panose="020B0604030504040204" pitchFamily="50" charset="-128"/>
                <a:ea typeface="メイリオ" panose="020B0604030504040204" pitchFamily="50" charset="-128"/>
              </a:rPr>
              <a:t>５投稿</a:t>
            </a:r>
            <a:r>
              <a:rPr lang="ja-JP" altLang="en-US" sz="1200" dirty="0">
                <a:solidFill>
                  <a:schemeClr val="tx1"/>
                </a:solidFill>
                <a:latin typeface="メイリオ" panose="020B0604030504040204" pitchFamily="50" charset="-128"/>
                <a:ea typeface="メイリオ" panose="020B0604030504040204" pitchFamily="50" charset="-128"/>
              </a:rPr>
              <a:t> </a:t>
            </a: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月</a:t>
            </a:r>
          </a:p>
        </p:txBody>
      </p:sp>
      <p:sp>
        <p:nvSpPr>
          <p:cNvPr id="15" name="正方形/長方形 14">
            <a:extLst>
              <a:ext uri="{FF2B5EF4-FFF2-40B4-BE49-F238E27FC236}">
                <a16:creationId xmlns:a16="http://schemas.microsoft.com/office/drawing/2014/main" id="{83D790EB-0222-5E5B-FEEC-80F16C159B19}"/>
              </a:ext>
            </a:extLst>
          </p:cNvPr>
          <p:cNvSpPr/>
          <p:nvPr/>
        </p:nvSpPr>
        <p:spPr>
          <a:xfrm>
            <a:off x="3088448" y="2815389"/>
            <a:ext cx="1963729" cy="5029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dirty="0">
                <a:solidFill>
                  <a:schemeClr val="tx1"/>
                </a:solidFill>
                <a:latin typeface="メイリオ" panose="020B0604030504040204" pitchFamily="50" charset="-128"/>
                <a:ea typeface="メイリオ" panose="020B0604030504040204" pitchFamily="50" charset="-128"/>
              </a:rPr>
              <a:t>９投稿</a:t>
            </a:r>
            <a:r>
              <a:rPr lang="ja-JP" altLang="en-US" sz="1200" dirty="0">
                <a:solidFill>
                  <a:schemeClr val="tx1"/>
                </a:solidFill>
                <a:latin typeface="メイリオ" panose="020B0604030504040204" pitchFamily="50" charset="-128"/>
                <a:ea typeface="メイリオ" panose="020B0604030504040204" pitchFamily="50" charset="-128"/>
              </a:rPr>
              <a:t> </a:t>
            </a:r>
            <a:r>
              <a:rPr lang="en-US" altLang="ja-JP" sz="1200" dirty="0">
                <a:solidFill>
                  <a:schemeClr val="tx1"/>
                </a:solidFill>
                <a:latin typeface="メイリオ" panose="020B0604030504040204" pitchFamily="50" charset="-128"/>
                <a:ea typeface="メイリオ" panose="020B0604030504040204" pitchFamily="50" charset="-128"/>
              </a:rPr>
              <a:t>/</a:t>
            </a:r>
            <a:r>
              <a:rPr lang="ja-JP" altLang="en-US" sz="1200" dirty="0">
                <a:solidFill>
                  <a:schemeClr val="tx1"/>
                </a:solidFill>
                <a:latin typeface="メイリオ" panose="020B0604030504040204" pitchFamily="50" charset="-128"/>
                <a:ea typeface="メイリオ" panose="020B0604030504040204" pitchFamily="50" charset="-128"/>
              </a:rPr>
              <a:t> 月</a:t>
            </a:r>
          </a:p>
        </p:txBody>
      </p:sp>
      <p:sp>
        <p:nvSpPr>
          <p:cNvPr id="16" name="正方形/長方形 15">
            <a:extLst>
              <a:ext uri="{FF2B5EF4-FFF2-40B4-BE49-F238E27FC236}">
                <a16:creationId xmlns:a16="http://schemas.microsoft.com/office/drawing/2014/main" id="{584F8FA8-652A-A0F8-874C-3E9B80EB3F4B}"/>
              </a:ext>
            </a:extLst>
          </p:cNvPr>
          <p:cNvSpPr/>
          <p:nvPr/>
        </p:nvSpPr>
        <p:spPr>
          <a:xfrm>
            <a:off x="5107595" y="1550011"/>
            <a:ext cx="4091679" cy="502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その他基本付帯サービスは無償。</a:t>
            </a:r>
            <a:endParaRPr lang="en-US" altLang="ja-JP" sz="1050" dirty="0">
              <a:solidFill>
                <a:schemeClr val="tx1"/>
              </a:solidFill>
              <a:latin typeface="メイリオ" panose="020B0604030504040204" pitchFamily="50" charset="-128"/>
              <a:ea typeface="メイリオ" panose="020B0604030504040204" pitchFamily="50" charset="-128"/>
            </a:endParaRPr>
          </a:p>
          <a:p>
            <a:pPr algn="ctr"/>
            <a:r>
              <a:rPr lang="ja-JP" altLang="en-US" sz="1050" b="1" dirty="0">
                <a:solidFill>
                  <a:schemeClr val="tx1"/>
                </a:solidFill>
                <a:latin typeface="メイリオ" panose="020B0604030504040204" pitchFamily="50" charset="-128"/>
                <a:ea typeface="メイリオ" panose="020B0604030504040204" pitchFamily="50" charset="-128"/>
              </a:rPr>
              <a:t>レポート対応：有 </a:t>
            </a:r>
            <a:r>
              <a:rPr lang="en-US" altLang="ja-JP" sz="1050" b="1" dirty="0">
                <a:solidFill>
                  <a:schemeClr val="tx1"/>
                </a:solidFill>
                <a:latin typeface="メイリオ" panose="020B0604030504040204" pitchFamily="50" charset="-128"/>
                <a:ea typeface="メイリオ" panose="020B0604030504040204" pitchFamily="50" charset="-128"/>
              </a:rPr>
              <a:t>/ </a:t>
            </a:r>
            <a:r>
              <a:rPr lang="ja-JP" altLang="en-US" sz="1050" b="1" dirty="0">
                <a:solidFill>
                  <a:schemeClr val="tx1"/>
                </a:solidFill>
                <a:latin typeface="メイリオ" panose="020B0604030504040204" pitchFamily="50" charset="-128"/>
                <a:ea typeface="メイリオ" panose="020B0604030504040204" pitchFamily="50" charset="-128"/>
              </a:rPr>
              <a:t>定例会：</a:t>
            </a:r>
            <a:r>
              <a:rPr lang="en-US" altLang="ja-JP" sz="1050" b="1" dirty="0">
                <a:solidFill>
                  <a:schemeClr val="tx1"/>
                </a:solidFill>
                <a:latin typeface="メイリオ" panose="020B0604030504040204" pitchFamily="50" charset="-128"/>
                <a:ea typeface="メイリオ" panose="020B0604030504040204" pitchFamily="50" charset="-128"/>
              </a:rPr>
              <a:t>3</a:t>
            </a:r>
            <a:r>
              <a:rPr lang="ja-JP" altLang="en-US" sz="1050" b="1" dirty="0">
                <a:solidFill>
                  <a:schemeClr val="tx1"/>
                </a:solidFill>
                <a:latin typeface="メイリオ" panose="020B0604030504040204" pitchFamily="50" charset="-128"/>
                <a:ea typeface="メイリオ" panose="020B0604030504040204" pitchFamily="50" charset="-128"/>
              </a:rPr>
              <a:t>か月に</a:t>
            </a:r>
            <a:r>
              <a:rPr lang="en-US" altLang="ja-JP" sz="1050" b="1" dirty="0">
                <a:solidFill>
                  <a:schemeClr val="tx1"/>
                </a:solidFill>
                <a:latin typeface="メイリオ" panose="020B0604030504040204" pitchFamily="50" charset="-128"/>
                <a:ea typeface="メイリオ" panose="020B0604030504040204" pitchFamily="50" charset="-128"/>
              </a:rPr>
              <a:t>1</a:t>
            </a:r>
            <a:r>
              <a:rPr lang="ja-JP" altLang="en-US" sz="1050" b="1" dirty="0">
                <a:solidFill>
                  <a:schemeClr val="tx1"/>
                </a:solidFill>
                <a:latin typeface="メイリオ" panose="020B0604030504040204" pitchFamily="50" charset="-128"/>
                <a:ea typeface="メイリオ" panose="020B0604030504040204" pitchFamily="50" charset="-128"/>
              </a:rPr>
              <a:t>回。</a:t>
            </a:r>
            <a:endParaRPr lang="en-US" altLang="ja-JP" sz="1050" b="1" dirty="0">
              <a:solidFill>
                <a:schemeClr val="tx1"/>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4076E51B-9B1D-9885-A1EF-A14722C86109}"/>
              </a:ext>
            </a:extLst>
          </p:cNvPr>
          <p:cNvSpPr/>
          <p:nvPr/>
        </p:nvSpPr>
        <p:spPr>
          <a:xfrm>
            <a:off x="5107595" y="2176596"/>
            <a:ext cx="4091679" cy="502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その他基本付帯サービスは無償。</a:t>
            </a:r>
            <a:endParaRPr lang="en-US" altLang="ja-JP" sz="1050" dirty="0">
              <a:solidFill>
                <a:schemeClr val="tx1"/>
              </a:solidFill>
              <a:latin typeface="メイリオ" panose="020B0604030504040204" pitchFamily="50" charset="-128"/>
              <a:ea typeface="メイリオ" panose="020B0604030504040204" pitchFamily="50" charset="-128"/>
            </a:endParaRPr>
          </a:p>
          <a:p>
            <a:pPr algn="ctr"/>
            <a:r>
              <a:rPr lang="ja-JP" altLang="en-US" sz="1050" b="1" dirty="0">
                <a:solidFill>
                  <a:srgbClr val="FF0000"/>
                </a:solidFill>
                <a:latin typeface="メイリオ" panose="020B0604030504040204" pitchFamily="50" charset="-128"/>
                <a:ea typeface="メイリオ" panose="020B0604030504040204" pitchFamily="50" charset="-128"/>
              </a:rPr>
              <a:t>レポート対応：有 </a:t>
            </a:r>
            <a:r>
              <a:rPr lang="en-US" altLang="ja-JP" sz="1050" b="1" dirty="0">
                <a:solidFill>
                  <a:srgbClr val="FF0000"/>
                </a:solidFill>
                <a:latin typeface="メイリオ" panose="020B0604030504040204" pitchFamily="50" charset="-128"/>
                <a:ea typeface="メイリオ" panose="020B0604030504040204" pitchFamily="50" charset="-128"/>
              </a:rPr>
              <a:t>/ </a:t>
            </a:r>
            <a:r>
              <a:rPr lang="ja-JP" altLang="en-US" sz="1050" b="1" dirty="0">
                <a:solidFill>
                  <a:srgbClr val="FF0000"/>
                </a:solidFill>
                <a:latin typeface="メイリオ" panose="020B0604030504040204" pitchFamily="50" charset="-128"/>
                <a:ea typeface="メイリオ" panose="020B0604030504040204" pitchFamily="50" charset="-128"/>
              </a:rPr>
              <a:t>定例会：</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か月に</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回。</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0CD9CFCA-70E9-24BE-9FC5-7AA490583C16}"/>
              </a:ext>
            </a:extLst>
          </p:cNvPr>
          <p:cNvSpPr/>
          <p:nvPr/>
        </p:nvSpPr>
        <p:spPr>
          <a:xfrm>
            <a:off x="5107595" y="2808528"/>
            <a:ext cx="4091679" cy="502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メイリオ" panose="020B0604030504040204" pitchFamily="50" charset="-128"/>
                <a:ea typeface="メイリオ" panose="020B0604030504040204" pitchFamily="50" charset="-128"/>
              </a:rPr>
              <a:t>その他基本付帯サービスは無償。</a:t>
            </a:r>
            <a:endParaRPr lang="en-US" altLang="ja-JP" sz="1050" dirty="0">
              <a:solidFill>
                <a:schemeClr val="tx1"/>
              </a:solidFill>
              <a:latin typeface="メイリオ" panose="020B0604030504040204" pitchFamily="50" charset="-128"/>
              <a:ea typeface="メイリオ" panose="020B0604030504040204" pitchFamily="50" charset="-128"/>
            </a:endParaRPr>
          </a:p>
          <a:p>
            <a:pPr algn="ctr"/>
            <a:r>
              <a:rPr lang="ja-JP" altLang="en-US" sz="1050" b="1" dirty="0">
                <a:solidFill>
                  <a:srgbClr val="FF0000"/>
                </a:solidFill>
                <a:latin typeface="メイリオ" panose="020B0604030504040204" pitchFamily="50" charset="-128"/>
                <a:ea typeface="メイリオ" panose="020B0604030504040204" pitchFamily="50" charset="-128"/>
              </a:rPr>
              <a:t>レポート対応：有 </a:t>
            </a:r>
            <a:r>
              <a:rPr lang="en-US" altLang="ja-JP" sz="1050" b="1" dirty="0">
                <a:solidFill>
                  <a:srgbClr val="FF0000"/>
                </a:solidFill>
                <a:latin typeface="メイリオ" panose="020B0604030504040204" pitchFamily="50" charset="-128"/>
                <a:ea typeface="メイリオ" panose="020B0604030504040204" pitchFamily="50" charset="-128"/>
              </a:rPr>
              <a:t>/ </a:t>
            </a:r>
            <a:r>
              <a:rPr lang="ja-JP" altLang="en-US" sz="1050" b="1" dirty="0">
                <a:solidFill>
                  <a:srgbClr val="FF0000"/>
                </a:solidFill>
                <a:latin typeface="メイリオ" panose="020B0604030504040204" pitchFamily="50" charset="-128"/>
                <a:ea typeface="メイリオ" panose="020B0604030504040204" pitchFamily="50" charset="-128"/>
              </a:rPr>
              <a:t>定例会：</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か月に</a:t>
            </a:r>
            <a:r>
              <a:rPr lang="en-US" altLang="ja-JP" sz="1050" b="1" dirty="0">
                <a:solidFill>
                  <a:srgbClr val="FF0000"/>
                </a:solidFill>
                <a:latin typeface="メイリオ" panose="020B0604030504040204" pitchFamily="50" charset="-128"/>
                <a:ea typeface="メイリオ" panose="020B0604030504040204" pitchFamily="50" charset="-128"/>
              </a:rPr>
              <a:t>1</a:t>
            </a:r>
            <a:r>
              <a:rPr lang="ja-JP" altLang="en-US" sz="1050" b="1" dirty="0">
                <a:solidFill>
                  <a:srgbClr val="FF0000"/>
                </a:solidFill>
                <a:latin typeface="メイリオ" panose="020B0604030504040204" pitchFamily="50" charset="-128"/>
                <a:ea typeface="メイリオ" panose="020B0604030504040204" pitchFamily="50" charset="-128"/>
              </a:rPr>
              <a:t>回。</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AD5DC77C-BB7C-1DC7-BA4A-AF3ECCC137A1}"/>
              </a:ext>
            </a:extLst>
          </p:cNvPr>
          <p:cNvSpPr/>
          <p:nvPr/>
        </p:nvSpPr>
        <p:spPr>
          <a:xfrm>
            <a:off x="548881" y="1405687"/>
            <a:ext cx="8859613"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CD3409E3-7B2F-6541-B533-69689AE3B73B}"/>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成果報酬型プラン</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914650" y="859443"/>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8" name="正方形/長方形 7">
            <a:extLst>
              <a:ext uri="{FF2B5EF4-FFF2-40B4-BE49-F238E27FC236}">
                <a16:creationId xmlns:a16="http://schemas.microsoft.com/office/drawing/2014/main" id="{FFB1B171-05E1-F3C6-1EBE-EBC6AA97A939}"/>
              </a:ext>
            </a:extLst>
          </p:cNvPr>
          <p:cNvSpPr/>
          <p:nvPr/>
        </p:nvSpPr>
        <p:spPr>
          <a:xfrm>
            <a:off x="548883" y="3587932"/>
            <a:ext cx="8859613" cy="288253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2DE66FC-7E13-76D6-A2AE-003C514A6B15}"/>
              </a:ext>
            </a:extLst>
          </p:cNvPr>
          <p:cNvSpPr txBox="1"/>
          <p:nvPr/>
        </p:nvSpPr>
        <p:spPr>
          <a:xfrm>
            <a:off x="706726" y="3644690"/>
            <a:ext cx="4963884" cy="261610"/>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1" name="表 10">
            <a:extLst>
              <a:ext uri="{FF2B5EF4-FFF2-40B4-BE49-F238E27FC236}">
                <a16:creationId xmlns:a16="http://schemas.microsoft.com/office/drawing/2014/main" id="{AB699F68-6D67-CD60-1CF9-54BD45B04FBA}"/>
              </a:ext>
            </a:extLst>
          </p:cNvPr>
          <p:cNvGraphicFramePr>
            <a:graphicFrameLocks noGrp="1"/>
          </p:cNvGraphicFramePr>
          <p:nvPr/>
        </p:nvGraphicFramePr>
        <p:xfrm>
          <a:off x="706726" y="3963057"/>
          <a:ext cx="8543925" cy="2454494"/>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175321">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8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8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アカウント開設</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API</a:t>
                      </a: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ツール導入</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0324702"/>
                  </a:ext>
                </a:extLst>
              </a:tr>
              <a:tr h="175321">
                <a:tc>
                  <a:txBody>
                    <a:bodyPr/>
                    <a:lstStyle/>
                    <a:p>
                      <a:pPr algn="ctr" fontAlgn="ctr">
                        <a:buNone/>
                      </a:pPr>
                      <a:r>
                        <a:rPr lang="ja-JP" altLang="en-US" sz="800" b="0" i="0" u="none" strike="noStrike">
                          <a:solidFill>
                            <a:srgbClr val="000000"/>
                          </a:solidFill>
                          <a:effectLst/>
                          <a:highlight>
                            <a:srgbClr val="FFFFFF"/>
                          </a:highlight>
                          <a:latin typeface="メイリオ" panose="020B0604030504040204" pitchFamily="50" charset="-128"/>
                          <a:ea typeface="メイリオ" panose="020B0604030504040204" pitchFamily="50" charset="-128"/>
                        </a:rPr>
                        <a:t>プロフィール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2466269"/>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リッチメニュー</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3180495"/>
                  </a:ext>
                </a:extLst>
              </a:tr>
              <a:tr h="175321">
                <a:tc>
                  <a:txBody>
                    <a:bodyPr/>
                    <a:lstStyle/>
                    <a:p>
                      <a:pPr algn="ctr" fontAlgn="ctr">
                        <a:buNone/>
                      </a:pPr>
                      <a:r>
                        <a:rPr lang="ja-JP" altLang="en-US" sz="800" b="0" i="0" u="none" strike="noStrike">
                          <a:solidFill>
                            <a:srgbClr val="000000"/>
                          </a:solidFill>
                          <a:effectLst/>
                          <a:highlight>
                            <a:srgbClr val="FFFFFF"/>
                          </a:highlight>
                          <a:latin typeface="メイリオ" panose="020B0604030504040204" pitchFamily="50" charset="-128"/>
                          <a:ea typeface="メイリオ" panose="020B0604030504040204" pitchFamily="50" charset="-128"/>
                        </a:rPr>
                        <a:t>あいさつメッセージ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¥600,000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5619942"/>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初期アンケート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8230469"/>
                  </a:ext>
                </a:extLst>
              </a:tr>
              <a:tr h="175321">
                <a:tc>
                  <a:txBody>
                    <a:bodyPr/>
                    <a:lstStyle/>
                    <a:p>
                      <a:pPr algn="ctr" fontAlgn="ctr">
                        <a:buNone/>
                      </a:pPr>
                      <a:r>
                        <a:rPr 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KW</a:t>
                      </a: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の自動応答</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305542"/>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ステップ配信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¥200,000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l-GR" sz="800" b="0" i="0" u="none" strike="noStrike">
                          <a:solidFill>
                            <a:schemeClr val="bg1">
                              <a:lumMod val="75000"/>
                            </a:schemeClr>
                          </a:solidFill>
                          <a:effectLst/>
                          <a:latin typeface="メイリオ" panose="020B0604030504040204" pitchFamily="50" charset="-128"/>
                          <a:ea typeface="メイリオ" panose="020B0604030504040204" pitchFamily="50" charset="-128"/>
                        </a:rPr>
                        <a:t>¥100,000+α</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1135084"/>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セグメント配信</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3,5</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手数料</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9714401"/>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チャットタグ管理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予約管理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¥3,000~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0214931"/>
                  </a:ext>
                </a:extLst>
              </a:tr>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チャット対応</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多店舗管理</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¥15,000(/</a:t>
                      </a:r>
                      <a:r>
                        <a:rPr lang="ja-JP" altLang="en-US"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店舗</a:t>
                      </a: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19396613"/>
                  </a:ext>
                </a:extLst>
              </a:tr>
              <a:tr h="175321">
                <a:tc>
                  <a:txBody>
                    <a:bodyPr/>
                    <a:lstStyle/>
                    <a:p>
                      <a:pPr algn="ctr" fontAlgn="ctr">
                        <a:buNone/>
                      </a:pPr>
                      <a:r>
                        <a:rPr lang="en-US" altLang="ja-JP"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GA(CRM)</a:t>
                      </a: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レポート連携</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2321774"/>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クリエイティブ</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離脱防止ツール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8905920"/>
                  </a:ext>
                </a:extLst>
              </a:tr>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定例会</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ja-JP" altLang="en-US" sz="8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サンクス</a:t>
                      </a: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誘導ツール</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¥150,000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800" b="0" i="0" u="none" strike="noStrike" dirty="0">
                          <a:solidFill>
                            <a:schemeClr val="bg1">
                              <a:lumMod val="75000"/>
                            </a:schemeClr>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7655704"/>
                  </a:ext>
                </a:extLst>
              </a:tr>
            </a:tbl>
          </a:graphicData>
        </a:graphic>
      </p:graphicFrame>
      <p:graphicFrame>
        <p:nvGraphicFramePr>
          <p:cNvPr id="12" name="表 11">
            <a:extLst>
              <a:ext uri="{FF2B5EF4-FFF2-40B4-BE49-F238E27FC236}">
                <a16:creationId xmlns:a16="http://schemas.microsoft.com/office/drawing/2014/main" id="{F91A02FC-5E04-6D49-4A4E-97104D3E348C}"/>
              </a:ext>
            </a:extLst>
          </p:cNvPr>
          <p:cNvGraphicFramePr>
            <a:graphicFrameLocks noGrp="1"/>
          </p:cNvGraphicFramePr>
          <p:nvPr/>
        </p:nvGraphicFramePr>
        <p:xfrm>
          <a:off x="5052177" y="3697199"/>
          <a:ext cx="1236867" cy="175321"/>
        </p:xfrm>
        <a:graphic>
          <a:graphicData uri="http://schemas.openxmlformats.org/drawingml/2006/table">
            <a:tbl>
              <a:tblPr/>
              <a:tblGrid>
                <a:gridCol w="1236867">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FFFFF"/>
                          </a:highlight>
                          <a:latin typeface="メイリオ" panose="020B0604030504040204" pitchFamily="50" charset="-128"/>
                          <a:ea typeface="メイリオ" panose="020B0604030504040204" pitchFamily="50" charset="-128"/>
                        </a:rPr>
                        <a:t>運用時、基本付帯する</a:t>
                      </a:r>
                    </a:p>
                  </a:txBody>
                  <a:tcPr marL="8241" marR="8241"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13" name="表 12">
            <a:extLst>
              <a:ext uri="{FF2B5EF4-FFF2-40B4-BE49-F238E27FC236}">
                <a16:creationId xmlns:a16="http://schemas.microsoft.com/office/drawing/2014/main" id="{C2727225-26CE-D16E-9C5D-1FBD426B841E}"/>
              </a:ext>
            </a:extLst>
          </p:cNvPr>
          <p:cNvGraphicFramePr>
            <a:graphicFrameLocks noGrp="1"/>
          </p:cNvGraphicFramePr>
          <p:nvPr/>
        </p:nvGraphicFramePr>
        <p:xfrm>
          <a:off x="7891522" y="3697199"/>
          <a:ext cx="1249236" cy="15396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53961">
                <a:tc>
                  <a:txBody>
                    <a:bodyPr/>
                    <a:lstStyle/>
                    <a:p>
                      <a:pPr algn="ctr" fontAlgn="ctr">
                        <a:buNone/>
                      </a:pPr>
                      <a:r>
                        <a:rPr lang="ja-JP" altLang="en-US" sz="800" b="0" i="0" u="none" strike="noStrike" dirty="0">
                          <a:solidFill>
                            <a:srgbClr val="000000"/>
                          </a:solidFill>
                          <a:effectLst/>
                          <a:highlight>
                            <a:srgbClr val="C0C0C0"/>
                          </a:highlight>
                          <a:latin typeface="メイリオ" panose="020B0604030504040204" pitchFamily="50" charset="-128"/>
                          <a:ea typeface="メイリオ" panose="020B0604030504040204" pitchFamily="50" charset="-128"/>
                        </a:rPr>
                        <a:t>対応しない領域</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graphicFrame>
        <p:nvGraphicFramePr>
          <p:cNvPr id="14" name="表 13">
            <a:extLst>
              <a:ext uri="{FF2B5EF4-FFF2-40B4-BE49-F238E27FC236}">
                <a16:creationId xmlns:a16="http://schemas.microsoft.com/office/drawing/2014/main" id="{6568ED1F-4ADB-05EB-EAF7-6D88C325C7BB}"/>
              </a:ext>
            </a:extLst>
          </p:cNvPr>
          <p:cNvGraphicFramePr>
            <a:graphicFrameLocks noGrp="1"/>
          </p:cNvGraphicFramePr>
          <p:nvPr/>
        </p:nvGraphicFramePr>
        <p:xfrm>
          <a:off x="6465665" y="3697198"/>
          <a:ext cx="1249236" cy="175321"/>
        </p:xfrm>
        <a:graphic>
          <a:graphicData uri="http://schemas.openxmlformats.org/drawingml/2006/table">
            <a:tbl>
              <a:tblPr/>
              <a:tblGrid>
                <a:gridCol w="1249236">
                  <a:extLst>
                    <a:ext uri="{9D8B030D-6E8A-4147-A177-3AD203B41FA5}">
                      <a16:colId xmlns:a16="http://schemas.microsoft.com/office/drawing/2014/main" val="1094262138"/>
                    </a:ext>
                  </a:extLst>
                </a:gridCol>
              </a:tblGrid>
              <a:tr h="175321">
                <a:tc>
                  <a:txBody>
                    <a:bodyPr/>
                    <a:lstStyle/>
                    <a:p>
                      <a:pPr algn="ctr" fontAlgn="ctr">
                        <a:buNone/>
                      </a:pPr>
                      <a:r>
                        <a:rPr lang="ja-JP" altLang="en-US" sz="800" b="0" i="0" u="none" strike="noStrike" dirty="0">
                          <a:solidFill>
                            <a:srgbClr val="000000"/>
                          </a:solidFill>
                          <a:effectLst/>
                          <a:highlight>
                            <a:srgbClr val="F6A454"/>
                          </a:highlight>
                          <a:latin typeface="メイリオ" panose="020B0604030504040204" pitchFamily="50" charset="-128"/>
                          <a:ea typeface="メイリオ" panose="020B0604030504040204" pitchFamily="50" charset="-128"/>
                        </a:rPr>
                        <a:t>貴社にて対応</a:t>
                      </a:r>
                    </a:p>
                  </a:txBody>
                  <a:tcPr marL="8323" marR="8323"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664283"/>
                  </a:ext>
                </a:extLst>
              </a:tr>
            </a:tbl>
          </a:graphicData>
        </a:graphic>
      </p:graphicFrame>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rPr>
              <a:t>成果件数 </a:t>
            </a:r>
            <a:r>
              <a:rPr lang="en-US" altLang="ja-JP" sz="1400" b="1" dirty="0">
                <a:solidFill>
                  <a:schemeClr val="tx1"/>
                </a:solidFill>
                <a:latin typeface="メイリオ" panose="020B0604030504040204" pitchFamily="50" charset="-128"/>
                <a:ea typeface="メイリオ" panose="020B0604030504040204" pitchFamily="50" charset="-128"/>
              </a:rPr>
              <a:t>× </a:t>
            </a:r>
            <a:r>
              <a:rPr lang="ja-JP" altLang="en-US" sz="1400" b="1" dirty="0">
                <a:solidFill>
                  <a:schemeClr val="tx1"/>
                </a:solidFill>
                <a:latin typeface="メイリオ" panose="020B0604030504040204" pitchFamily="50" charset="-128"/>
                <a:ea typeface="メイリオ" panose="020B0604030504040204" pitchFamily="50" charset="-128"/>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rPr>
              <a:t>アカウント費</a:t>
            </a:r>
            <a:endParaRPr lang="en-US" altLang="ja-JP" sz="12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a:t>
            </a:r>
            <a:endParaRPr lang="en-US" altLang="ja-JP" sz="12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ツール費</a:t>
            </a:r>
            <a:endParaRPr lang="en-US" altLang="ja-JP" sz="1200" dirty="0">
              <a:solidFill>
                <a:schemeClr val="tx1"/>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rPr>
              <a:t>＋</a:t>
            </a:r>
            <a:endParaRPr lang="en-US" altLang="ja-JP" sz="2800" b="1" dirty="0">
              <a:solidFill>
                <a:schemeClr val="tx1"/>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rPr>
              <a:t> ☑ 複数の</a:t>
            </a: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数を増加。 </a:t>
            </a:r>
            <a:endParaRPr lang="en-US" altLang="ja-JP" sz="1100" dirty="0">
              <a:solidFill>
                <a:schemeClr val="tx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2750968"/>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導入ツールに応じて費用発生</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上限通数を設定して運営可能</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成果件数は</a:t>
            </a:r>
            <a:r>
              <a:rPr lang="en-US" altLang="ja-JP" sz="800" dirty="0">
                <a:solidFill>
                  <a:srgbClr val="FF0000"/>
                </a:solidFill>
                <a:latin typeface="メイリオ" panose="020B0604030504040204" pitchFamily="50" charset="-128"/>
                <a:ea typeface="メイリオ" panose="020B0604030504040204" pitchFamily="50" charset="-128"/>
              </a:rPr>
              <a:t>GA</a:t>
            </a:r>
            <a:r>
              <a:rPr lang="ja-JP" altLang="en-US" sz="800" dirty="0">
                <a:solidFill>
                  <a:srgbClr val="FF0000"/>
                </a:solidFill>
                <a:latin typeface="メイリオ" panose="020B0604030504040204" pitchFamily="50" charset="-128"/>
                <a:ea typeface="メイリオ" panose="020B0604030504040204" pitchFamily="50" charset="-128"/>
              </a:rPr>
              <a:t>、他ツールでの計測</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 </a:t>
            </a:r>
            <a:r>
              <a:rPr lang="ja-JP" altLang="en-US" sz="800" dirty="0">
                <a:solidFill>
                  <a:srgbClr val="FF0000"/>
                </a:solidFill>
                <a:latin typeface="メイリオ" panose="020B0604030504040204" pitchFamily="50" charset="-128"/>
                <a:ea typeface="メイリオ" panose="020B0604030504040204" pitchFamily="50" charset="-128"/>
              </a:rPr>
              <a:t>成果報酬単価は広告</a:t>
            </a:r>
            <a:r>
              <a:rPr lang="en-US" altLang="ja-JP" sz="800" dirty="0">
                <a:solidFill>
                  <a:srgbClr val="FF0000"/>
                </a:solidFill>
                <a:latin typeface="メイリオ" panose="020B0604030504040204" pitchFamily="50" charset="-128"/>
                <a:ea typeface="メイリオ" panose="020B0604030504040204" pitchFamily="50" charset="-128"/>
              </a:rPr>
              <a:t>CPA</a:t>
            </a:r>
            <a:r>
              <a:rPr lang="ja-JP" altLang="en-US" sz="800" dirty="0">
                <a:solidFill>
                  <a:srgbClr val="FF0000"/>
                </a:solidFill>
                <a:latin typeface="メイリオ" panose="020B0604030504040204" pitchFamily="50" charset="-128"/>
                <a:ea typeface="メイリオ" panose="020B0604030504040204" pitchFamily="50" charset="-128"/>
              </a:rPr>
              <a:t>に基づき設定</a:t>
            </a:r>
            <a:endParaRPr lang="en-US" altLang="ja-JP" sz="800" dirty="0">
              <a:solidFill>
                <a:srgbClr val="FF0000"/>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80A369CB-95D9-6607-0494-7E11C05DB30B}"/>
              </a:ext>
            </a:extLst>
          </p:cNvPr>
          <p:cNvSpPr/>
          <p:nvPr/>
        </p:nvSpPr>
        <p:spPr>
          <a:xfrm>
            <a:off x="5186487" y="1789945"/>
            <a:ext cx="843230" cy="166616"/>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bg1"/>
                </a:solidFill>
                <a:latin typeface="メイリオ" panose="020B0604030504040204" pitchFamily="50" charset="-128"/>
                <a:ea typeface="メイリオ" panose="020B0604030504040204" pitchFamily="50" charset="-128"/>
              </a:rPr>
              <a:t>離脱防止</a:t>
            </a:r>
          </a:p>
        </p:txBody>
      </p:sp>
      <p:sp>
        <p:nvSpPr>
          <p:cNvPr id="20" name="正方形/長方形 19">
            <a:extLst>
              <a:ext uri="{FF2B5EF4-FFF2-40B4-BE49-F238E27FC236}">
                <a16:creationId xmlns:a16="http://schemas.microsoft.com/office/drawing/2014/main" id="{EC40B420-994F-D333-3411-E864E0430DDC}"/>
              </a:ext>
            </a:extLst>
          </p:cNvPr>
          <p:cNvSpPr/>
          <p:nvPr/>
        </p:nvSpPr>
        <p:spPr>
          <a:xfrm>
            <a:off x="5186487" y="2204881"/>
            <a:ext cx="843230" cy="166616"/>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bg1"/>
                </a:solidFill>
                <a:latin typeface="メイリオ" panose="020B0604030504040204" pitchFamily="50" charset="-128"/>
                <a:ea typeface="メイリオ" panose="020B0604030504040204" pitchFamily="50" charset="-128"/>
              </a:rPr>
              <a:t>CPF</a:t>
            </a:r>
            <a:r>
              <a:rPr lang="ja-JP" altLang="en-US" sz="900" dirty="0">
                <a:solidFill>
                  <a:schemeClr val="bg1"/>
                </a:solidFill>
                <a:latin typeface="メイリオ" panose="020B0604030504040204" pitchFamily="50" charset="-128"/>
                <a:ea typeface="メイリオ" panose="020B0604030504040204" pitchFamily="50" charset="-128"/>
              </a:rPr>
              <a:t>広告</a:t>
            </a:r>
            <a:endParaRPr kumimoji="1"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3036028"/>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endParaRPr>
          </a:p>
        </p:txBody>
      </p:sp>
      <p:cxnSp>
        <p:nvCxnSpPr>
          <p:cNvPr id="41" name="直線矢印コネクタ 40">
            <a:extLst>
              <a:ext uri="{FF2B5EF4-FFF2-40B4-BE49-F238E27FC236}">
                <a16:creationId xmlns:a16="http://schemas.microsoft.com/office/drawing/2014/main" id="{3C75F8CA-AB1D-7749-481F-57570BE4B193}"/>
              </a:ext>
            </a:extLst>
          </p:cNvPr>
          <p:cNvCxnSpPr>
            <a:cxnSpLocks/>
            <a:stCxn id="16" idx="3"/>
          </p:cNvCxnSpPr>
          <p:nvPr/>
        </p:nvCxnSpPr>
        <p:spPr>
          <a:xfrm>
            <a:off x="6029717" y="1873253"/>
            <a:ext cx="2472656" cy="0"/>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C7C50C22-3D43-6C8E-7118-95F98A2DC0F9}"/>
              </a:ext>
            </a:extLst>
          </p:cNvPr>
          <p:cNvSpPr/>
          <p:nvPr/>
        </p:nvSpPr>
        <p:spPr>
          <a:xfrm>
            <a:off x="8502373" y="1789945"/>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10</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50" name="正方形/長方形 49">
            <a:extLst>
              <a:ext uri="{FF2B5EF4-FFF2-40B4-BE49-F238E27FC236}">
                <a16:creationId xmlns:a16="http://schemas.microsoft.com/office/drawing/2014/main" id="{D2356226-E20C-9118-F99F-C9E163470ACF}"/>
              </a:ext>
            </a:extLst>
          </p:cNvPr>
          <p:cNvSpPr/>
          <p:nvPr/>
        </p:nvSpPr>
        <p:spPr>
          <a:xfrm>
            <a:off x="7302164" y="1986273"/>
            <a:ext cx="503628" cy="16661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bg1"/>
                </a:solidFill>
                <a:latin typeface="メイリオ" panose="020B0604030504040204" pitchFamily="50" charset="-128"/>
                <a:ea typeface="メイリオ" panose="020B0604030504040204" pitchFamily="50" charset="-128"/>
              </a:rPr>
              <a:t>未回答</a:t>
            </a:r>
          </a:p>
        </p:txBody>
      </p:sp>
      <p:sp>
        <p:nvSpPr>
          <p:cNvPr id="51" name="正方形/長方形 50">
            <a:extLst>
              <a:ext uri="{FF2B5EF4-FFF2-40B4-BE49-F238E27FC236}">
                <a16:creationId xmlns:a16="http://schemas.microsoft.com/office/drawing/2014/main" id="{B78951B1-4D17-2544-74F5-B18E0BD48A94}"/>
              </a:ext>
            </a:extLst>
          </p:cNvPr>
          <p:cNvSpPr/>
          <p:nvPr/>
        </p:nvSpPr>
        <p:spPr>
          <a:xfrm>
            <a:off x="8502373" y="1980991"/>
            <a:ext cx="503628" cy="16661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bg1"/>
                </a:solidFill>
                <a:latin typeface="メイリオ" panose="020B0604030504040204" pitchFamily="50" charset="-128"/>
                <a:ea typeface="メイリオ" panose="020B0604030504040204" pitchFamily="50" charset="-128"/>
              </a:rPr>
              <a:t>未回答</a:t>
            </a:r>
            <a:endParaRPr kumimoji="1" lang="ja-JP" altLang="en-US" sz="600" dirty="0">
              <a:solidFill>
                <a:schemeClr val="bg1"/>
              </a:solidFill>
              <a:latin typeface="メイリオ" panose="020B0604030504040204" pitchFamily="50" charset="-128"/>
              <a:ea typeface="メイリオ" panose="020B0604030504040204" pitchFamily="50" charset="-128"/>
            </a:endParaRPr>
          </a:p>
        </p:txBody>
      </p:sp>
      <p:cxnSp>
        <p:nvCxnSpPr>
          <p:cNvPr id="54" name="コネクタ: カギ線 53">
            <a:extLst>
              <a:ext uri="{FF2B5EF4-FFF2-40B4-BE49-F238E27FC236}">
                <a16:creationId xmlns:a16="http://schemas.microsoft.com/office/drawing/2014/main" id="{9AAF7DE6-A4BF-3A79-F5FB-1D24DC5D4A56}"/>
              </a:ext>
            </a:extLst>
          </p:cNvPr>
          <p:cNvCxnSpPr>
            <a:stCxn id="16" idx="3"/>
            <a:endCxn id="50" idx="1"/>
          </p:cNvCxnSpPr>
          <p:nvPr/>
        </p:nvCxnSpPr>
        <p:spPr>
          <a:xfrm>
            <a:off x="6029717" y="1873253"/>
            <a:ext cx="1272447" cy="196328"/>
          </a:xfrm>
          <a:prstGeom prst="bentConnector3">
            <a:avLst>
              <a:gd name="adj1" fmla="val 7021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7" name="コネクタ: カギ線 56">
            <a:extLst>
              <a:ext uri="{FF2B5EF4-FFF2-40B4-BE49-F238E27FC236}">
                <a16:creationId xmlns:a16="http://schemas.microsoft.com/office/drawing/2014/main" id="{76ACAA41-83DB-CA83-5B7D-33F8FDF68E1F}"/>
              </a:ext>
            </a:extLst>
          </p:cNvPr>
          <p:cNvCxnSpPr>
            <a:cxnSpLocks/>
            <a:stCxn id="16" idx="3"/>
            <a:endCxn id="51" idx="1"/>
          </p:cNvCxnSpPr>
          <p:nvPr/>
        </p:nvCxnSpPr>
        <p:spPr>
          <a:xfrm>
            <a:off x="6029717" y="1873253"/>
            <a:ext cx="2472656" cy="191046"/>
          </a:xfrm>
          <a:prstGeom prst="bentConnector3">
            <a:avLst>
              <a:gd name="adj1" fmla="val 80239"/>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1" name="正方形/長方形 60">
            <a:extLst>
              <a:ext uri="{FF2B5EF4-FFF2-40B4-BE49-F238E27FC236}">
                <a16:creationId xmlns:a16="http://schemas.microsoft.com/office/drawing/2014/main" id="{C1825D74-634C-9E36-9ECC-717EDC08D01D}"/>
              </a:ext>
            </a:extLst>
          </p:cNvPr>
          <p:cNvSpPr/>
          <p:nvPr/>
        </p:nvSpPr>
        <p:spPr>
          <a:xfrm>
            <a:off x="7302164" y="1795227"/>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5</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2" name="正方形/長方形 61">
            <a:extLst>
              <a:ext uri="{FF2B5EF4-FFF2-40B4-BE49-F238E27FC236}">
                <a16:creationId xmlns:a16="http://schemas.microsoft.com/office/drawing/2014/main" id="{5151ACBE-C823-12BC-893C-27BAE6932995}"/>
              </a:ext>
            </a:extLst>
          </p:cNvPr>
          <p:cNvSpPr/>
          <p:nvPr/>
        </p:nvSpPr>
        <p:spPr>
          <a:xfrm>
            <a:off x="6101955" y="1792712"/>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chemeClr val="bg1"/>
                </a:solidFill>
                <a:latin typeface="メイリオ" panose="020B0604030504040204" pitchFamily="50" charset="-128"/>
                <a:ea typeface="メイリオ" panose="020B0604030504040204" pitchFamily="50" charset="-128"/>
              </a:rPr>
              <a:t>3</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cxnSp>
        <p:nvCxnSpPr>
          <p:cNvPr id="63" name="直線矢印コネクタ 62">
            <a:extLst>
              <a:ext uri="{FF2B5EF4-FFF2-40B4-BE49-F238E27FC236}">
                <a16:creationId xmlns:a16="http://schemas.microsoft.com/office/drawing/2014/main" id="{4579CA69-5B2F-0843-0A27-914CF103589C}"/>
              </a:ext>
            </a:extLst>
          </p:cNvPr>
          <p:cNvCxnSpPr>
            <a:cxnSpLocks/>
          </p:cNvCxnSpPr>
          <p:nvPr/>
        </p:nvCxnSpPr>
        <p:spPr>
          <a:xfrm>
            <a:off x="6029717" y="2297422"/>
            <a:ext cx="2472656" cy="0"/>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8F57977B-34B8-7FE2-E800-D3FDB3F4B342}"/>
              </a:ext>
            </a:extLst>
          </p:cNvPr>
          <p:cNvCxnSpPr>
            <a:cxnSpLocks/>
          </p:cNvCxnSpPr>
          <p:nvPr/>
        </p:nvCxnSpPr>
        <p:spPr>
          <a:xfrm>
            <a:off x="6029717" y="2297422"/>
            <a:ext cx="2472656" cy="191046"/>
          </a:xfrm>
          <a:prstGeom prst="bentConnector3">
            <a:avLst>
              <a:gd name="adj1" fmla="val 80239"/>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B4580F79-A6B6-6CB7-42C9-9E72234E928E}"/>
              </a:ext>
            </a:extLst>
          </p:cNvPr>
          <p:cNvSpPr/>
          <p:nvPr/>
        </p:nvSpPr>
        <p:spPr>
          <a:xfrm>
            <a:off x="6101955" y="2207648"/>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solidFill>
                  <a:schemeClr val="bg1"/>
                </a:solidFill>
                <a:latin typeface="メイリオ" panose="020B0604030504040204" pitchFamily="50" charset="-128"/>
                <a:ea typeface="メイリオ" panose="020B0604030504040204" pitchFamily="50" charset="-128"/>
              </a:rPr>
              <a:t>5</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7" name="正方形/長方形 66">
            <a:extLst>
              <a:ext uri="{FF2B5EF4-FFF2-40B4-BE49-F238E27FC236}">
                <a16:creationId xmlns:a16="http://schemas.microsoft.com/office/drawing/2014/main" id="{1AE63C1F-BD64-D8ED-A701-8ADCA2511466}"/>
              </a:ext>
            </a:extLst>
          </p:cNvPr>
          <p:cNvSpPr/>
          <p:nvPr/>
        </p:nvSpPr>
        <p:spPr>
          <a:xfrm>
            <a:off x="7302164" y="2210163"/>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15</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8" name="正方形/長方形 67">
            <a:extLst>
              <a:ext uri="{FF2B5EF4-FFF2-40B4-BE49-F238E27FC236}">
                <a16:creationId xmlns:a16="http://schemas.microsoft.com/office/drawing/2014/main" id="{64057BAB-625B-5994-36D5-E83BE7E59586}"/>
              </a:ext>
            </a:extLst>
          </p:cNvPr>
          <p:cNvSpPr/>
          <p:nvPr/>
        </p:nvSpPr>
        <p:spPr>
          <a:xfrm>
            <a:off x="8502373" y="2204881"/>
            <a:ext cx="503628" cy="166616"/>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600" dirty="0">
                <a:solidFill>
                  <a:schemeClr val="bg1"/>
                </a:solidFill>
                <a:latin typeface="メイリオ" panose="020B0604030504040204" pitchFamily="50" charset="-128"/>
                <a:ea typeface="メイリオ" panose="020B0604030504040204" pitchFamily="50" charset="-128"/>
              </a:rPr>
              <a:t>30</a:t>
            </a:r>
            <a:r>
              <a:rPr kumimoji="1" lang="ja-JP" altLang="en-US" sz="600" dirty="0">
                <a:solidFill>
                  <a:schemeClr val="bg1"/>
                </a:solidFill>
                <a:latin typeface="メイリオ" panose="020B0604030504040204" pitchFamily="50" charset="-128"/>
                <a:ea typeface="メイリオ" panose="020B0604030504040204" pitchFamily="50" charset="-128"/>
              </a:rPr>
              <a:t>日後</a:t>
            </a:r>
          </a:p>
        </p:txBody>
      </p:sp>
      <p:sp>
        <p:nvSpPr>
          <p:cNvPr id="69" name="正方形/長方形 68">
            <a:extLst>
              <a:ext uri="{FF2B5EF4-FFF2-40B4-BE49-F238E27FC236}">
                <a16:creationId xmlns:a16="http://schemas.microsoft.com/office/drawing/2014/main" id="{878D4A23-0BCD-1E38-061D-650AD132E3D9}"/>
              </a:ext>
            </a:extLst>
          </p:cNvPr>
          <p:cNvSpPr/>
          <p:nvPr/>
        </p:nvSpPr>
        <p:spPr>
          <a:xfrm>
            <a:off x="8502373" y="2394616"/>
            <a:ext cx="503628" cy="166616"/>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600" dirty="0">
                <a:solidFill>
                  <a:schemeClr val="bg1"/>
                </a:solidFill>
                <a:latin typeface="メイリオ" panose="020B0604030504040204" pitchFamily="50" charset="-128"/>
                <a:ea typeface="メイリオ" panose="020B0604030504040204" pitchFamily="50" charset="-128"/>
              </a:rPr>
              <a:t>未回答</a:t>
            </a:r>
            <a:endParaRPr kumimoji="1" lang="ja-JP" altLang="en-US" sz="600" dirty="0">
              <a:solidFill>
                <a:schemeClr val="bg1"/>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2"/>
          <a:stretch>
            <a:fillRect/>
          </a:stretch>
        </p:blipFill>
        <p:spPr>
          <a:xfrm>
            <a:off x="1183616" y="2131090"/>
            <a:ext cx="2498573" cy="1744287"/>
          </a:xfrm>
          <a:prstGeom prst="rect">
            <a:avLst/>
          </a:prstGeom>
        </p:spPr>
      </p:pic>
      <p:pic>
        <p:nvPicPr>
          <p:cNvPr id="8" name="図 7"/>
          <p:cNvPicPr>
            <a:picLocks noChangeAspect="1"/>
          </p:cNvPicPr>
          <p:nvPr/>
        </p:nvPicPr>
        <p:blipFill>
          <a:blip r:embed="rId3"/>
          <a:stretch>
            <a:fillRect/>
          </a:stretch>
        </p:blipFill>
        <p:spPr>
          <a:xfrm>
            <a:off x="3456146" y="2402524"/>
            <a:ext cx="2393091" cy="1668595"/>
          </a:xfrm>
          <a:prstGeom prst="rect">
            <a:avLst/>
          </a:prstGeom>
        </p:spPr>
      </p:pic>
      <p:pic>
        <p:nvPicPr>
          <p:cNvPr id="10" name="図 9"/>
          <p:cNvPicPr>
            <a:picLocks noChangeAspect="1"/>
          </p:cNvPicPr>
          <p:nvPr/>
        </p:nvPicPr>
        <p:blipFill>
          <a:blip r:embed="rId4"/>
          <a:stretch>
            <a:fillRect/>
          </a:stretch>
        </p:blipFill>
        <p:spPr>
          <a:xfrm>
            <a:off x="5697714" y="2676687"/>
            <a:ext cx="2432174" cy="1698131"/>
          </a:xfrm>
          <a:prstGeom prst="rect">
            <a:avLst/>
          </a:prstGeom>
        </p:spPr>
      </p:pic>
      <p:pic>
        <p:nvPicPr>
          <p:cNvPr id="14" name="図 13"/>
          <p:cNvPicPr>
            <a:picLocks noChangeAspect="1"/>
          </p:cNvPicPr>
          <p:nvPr/>
        </p:nvPicPr>
        <p:blipFill>
          <a:blip r:embed="rId5"/>
          <a:stretch>
            <a:fillRect/>
          </a:stretch>
        </p:blipFill>
        <p:spPr>
          <a:xfrm>
            <a:off x="1158180" y="4165451"/>
            <a:ext cx="2417022" cy="1682579"/>
          </a:xfrm>
          <a:prstGeom prst="rect">
            <a:avLst/>
          </a:prstGeom>
        </p:spPr>
      </p:pic>
      <p:pic>
        <p:nvPicPr>
          <p:cNvPr id="15" name="図 14"/>
          <p:cNvPicPr>
            <a:picLocks noChangeAspect="1"/>
          </p:cNvPicPr>
          <p:nvPr/>
        </p:nvPicPr>
        <p:blipFill>
          <a:blip r:embed="rId6"/>
          <a:stretch>
            <a:fillRect/>
          </a:stretch>
        </p:blipFill>
        <p:spPr>
          <a:xfrm>
            <a:off x="3434655" y="4410829"/>
            <a:ext cx="2417022" cy="1683209"/>
          </a:xfrm>
          <a:prstGeom prst="rect">
            <a:avLst/>
          </a:prstGeom>
        </p:spPr>
      </p:pic>
      <p:pic>
        <p:nvPicPr>
          <p:cNvPr id="24" name="図 23"/>
          <p:cNvPicPr>
            <a:picLocks noChangeAspect="1"/>
          </p:cNvPicPr>
          <p:nvPr/>
        </p:nvPicPr>
        <p:blipFill>
          <a:blip r:embed="rId7"/>
          <a:stretch>
            <a:fillRect/>
          </a:stretch>
        </p:blipFill>
        <p:spPr>
          <a:xfrm>
            <a:off x="5697714" y="4687135"/>
            <a:ext cx="2427146" cy="1691079"/>
          </a:xfrm>
          <a:prstGeom prst="rect">
            <a:avLst/>
          </a:prstGeom>
        </p:spPr>
      </p:pic>
      <p:pic>
        <p:nvPicPr>
          <p:cNvPr id="26" name="図 25"/>
          <p:cNvPicPr>
            <a:picLocks noChangeAspect="1"/>
          </p:cNvPicPr>
          <p:nvPr/>
        </p:nvPicPr>
        <p:blipFill>
          <a:blip r:embed="rId8"/>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2"/>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3"/>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正方形/長方形 3"/>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計測環境の構築</a:t>
            </a:r>
            <a:endParaRPr kumimoji="1" lang="ja-JP" altLang="en-US" sz="1600" b="1" dirty="0">
              <a:latin typeface="メイリオ" panose="020B0604030504040204" pitchFamily="50" charset="-128"/>
              <a:ea typeface="メイリオ" panose="020B0604030504040204" pitchFamily="50" charset="-128"/>
            </a:endParaRPr>
          </a:p>
        </p:txBody>
      </p:sp>
      <p:cxnSp>
        <p:nvCxnSpPr>
          <p:cNvPr id="5" name="直線コネクタ 4"/>
          <p:cNvCxnSpPr/>
          <p:nvPr/>
        </p:nvCxnSpPr>
        <p:spPr>
          <a:xfrm>
            <a:off x="466638" y="1802924"/>
            <a:ext cx="898708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Google Shape;156;p7"/>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7" name="正方形/長方形 6"/>
          <p:cNvSpPr/>
          <p:nvPr/>
        </p:nvSpPr>
        <p:spPr>
          <a:xfrm>
            <a:off x="390709" y="1971785"/>
            <a:ext cx="8988624" cy="27778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メイリオ" panose="020B0604030504040204" pitchFamily="50" charset="-128"/>
                <a:ea typeface="メイリオ" panose="020B0604030504040204" pitchFamily="50" charset="-128"/>
              </a:rPr>
              <a:t>設定イメージ</a:t>
            </a:r>
            <a:endParaRPr kumimoji="1" lang="ja-JP" altLang="en-US" sz="1200" b="1" dirty="0">
              <a:latin typeface="メイリオ" panose="020B0604030504040204" pitchFamily="50" charset="-128"/>
              <a:ea typeface="メイリオ" panose="020B0604030504040204" pitchFamily="50" charset="-128"/>
            </a:endParaRPr>
          </a:p>
        </p:txBody>
      </p:sp>
      <p:graphicFrame>
        <p:nvGraphicFramePr>
          <p:cNvPr id="8" name="表 7"/>
          <p:cNvGraphicFramePr>
            <a:graphicFrameLocks noGrp="1"/>
          </p:cNvGraphicFramePr>
          <p:nvPr/>
        </p:nvGraphicFramePr>
        <p:xfrm>
          <a:off x="394861" y="2273528"/>
          <a:ext cx="8988618" cy="1631076"/>
        </p:xfrm>
        <a:graphic>
          <a:graphicData uri="http://schemas.openxmlformats.org/drawingml/2006/table">
            <a:tbl>
              <a:tblPr/>
              <a:tblGrid>
                <a:gridCol w="616271">
                  <a:extLst>
                    <a:ext uri="{9D8B030D-6E8A-4147-A177-3AD203B41FA5}">
                      <a16:colId xmlns:a16="http://schemas.microsoft.com/office/drawing/2014/main" val="1670584577"/>
                    </a:ext>
                  </a:extLst>
                </a:gridCol>
                <a:gridCol w="584117">
                  <a:extLst>
                    <a:ext uri="{9D8B030D-6E8A-4147-A177-3AD203B41FA5}">
                      <a16:colId xmlns:a16="http://schemas.microsoft.com/office/drawing/2014/main" val="783239229"/>
                    </a:ext>
                  </a:extLst>
                </a:gridCol>
                <a:gridCol w="594835">
                  <a:extLst>
                    <a:ext uri="{9D8B030D-6E8A-4147-A177-3AD203B41FA5}">
                      <a16:colId xmlns:a16="http://schemas.microsoft.com/office/drawing/2014/main" val="2882545821"/>
                    </a:ext>
                  </a:extLst>
                </a:gridCol>
                <a:gridCol w="594835">
                  <a:extLst>
                    <a:ext uri="{9D8B030D-6E8A-4147-A177-3AD203B41FA5}">
                      <a16:colId xmlns:a16="http://schemas.microsoft.com/office/drawing/2014/main" val="1085754342"/>
                    </a:ext>
                  </a:extLst>
                </a:gridCol>
                <a:gridCol w="594835">
                  <a:extLst>
                    <a:ext uri="{9D8B030D-6E8A-4147-A177-3AD203B41FA5}">
                      <a16:colId xmlns:a16="http://schemas.microsoft.com/office/drawing/2014/main" val="3609874806"/>
                    </a:ext>
                  </a:extLst>
                </a:gridCol>
                <a:gridCol w="594835">
                  <a:extLst>
                    <a:ext uri="{9D8B030D-6E8A-4147-A177-3AD203B41FA5}">
                      <a16:colId xmlns:a16="http://schemas.microsoft.com/office/drawing/2014/main" val="1613786001"/>
                    </a:ext>
                  </a:extLst>
                </a:gridCol>
                <a:gridCol w="594835">
                  <a:extLst>
                    <a:ext uri="{9D8B030D-6E8A-4147-A177-3AD203B41FA5}">
                      <a16:colId xmlns:a16="http://schemas.microsoft.com/office/drawing/2014/main" val="2234954468"/>
                    </a:ext>
                  </a:extLst>
                </a:gridCol>
                <a:gridCol w="594835">
                  <a:extLst>
                    <a:ext uri="{9D8B030D-6E8A-4147-A177-3AD203B41FA5}">
                      <a16:colId xmlns:a16="http://schemas.microsoft.com/office/drawing/2014/main" val="1983969397"/>
                    </a:ext>
                  </a:extLst>
                </a:gridCol>
                <a:gridCol w="594835">
                  <a:extLst>
                    <a:ext uri="{9D8B030D-6E8A-4147-A177-3AD203B41FA5}">
                      <a16:colId xmlns:a16="http://schemas.microsoft.com/office/drawing/2014/main" val="38530890"/>
                    </a:ext>
                  </a:extLst>
                </a:gridCol>
                <a:gridCol w="594835">
                  <a:extLst>
                    <a:ext uri="{9D8B030D-6E8A-4147-A177-3AD203B41FA5}">
                      <a16:colId xmlns:a16="http://schemas.microsoft.com/office/drawing/2014/main" val="4265005170"/>
                    </a:ext>
                  </a:extLst>
                </a:gridCol>
                <a:gridCol w="594835">
                  <a:extLst>
                    <a:ext uri="{9D8B030D-6E8A-4147-A177-3AD203B41FA5}">
                      <a16:colId xmlns:a16="http://schemas.microsoft.com/office/drawing/2014/main" val="2342412426"/>
                    </a:ext>
                  </a:extLst>
                </a:gridCol>
                <a:gridCol w="594835">
                  <a:extLst>
                    <a:ext uri="{9D8B030D-6E8A-4147-A177-3AD203B41FA5}">
                      <a16:colId xmlns:a16="http://schemas.microsoft.com/office/drawing/2014/main" val="1958758615"/>
                    </a:ext>
                  </a:extLst>
                </a:gridCol>
                <a:gridCol w="650210">
                  <a:extLst>
                    <a:ext uri="{9D8B030D-6E8A-4147-A177-3AD203B41FA5}">
                      <a16:colId xmlns:a16="http://schemas.microsoft.com/office/drawing/2014/main" val="3616243268"/>
                    </a:ext>
                  </a:extLst>
                </a:gridCol>
                <a:gridCol w="594835">
                  <a:extLst>
                    <a:ext uri="{9D8B030D-6E8A-4147-A177-3AD203B41FA5}">
                      <a16:colId xmlns:a16="http://schemas.microsoft.com/office/drawing/2014/main" val="689028932"/>
                    </a:ext>
                  </a:extLst>
                </a:gridCol>
                <a:gridCol w="594835">
                  <a:extLst>
                    <a:ext uri="{9D8B030D-6E8A-4147-A177-3AD203B41FA5}">
                      <a16:colId xmlns:a16="http://schemas.microsoft.com/office/drawing/2014/main" val="3105858647"/>
                    </a:ext>
                  </a:extLst>
                </a:gridCol>
              </a:tblGrid>
              <a:tr h="135923">
                <a:tc gridSpan="2">
                  <a:txBody>
                    <a:bodyPr/>
                    <a:lstStyle/>
                    <a:p>
                      <a:pPr algn="l" fontAlgn="ctr"/>
                      <a:r>
                        <a:rPr lang="ja-JP" altLang="en-US" sz="600" b="1" i="0" u="none" strike="noStrike">
                          <a:solidFill>
                            <a:srgbClr val="000000"/>
                          </a:solidFill>
                          <a:effectLst/>
                          <a:latin typeface="メイリオ" panose="020B0604030504040204" pitchFamily="50" charset="-128"/>
                          <a:ea typeface="メイリオ" panose="020B0604030504040204" pitchFamily="50" charset="-128"/>
                        </a:rPr>
                        <a:t>■月間の</a:t>
                      </a: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KPI</a:t>
                      </a:r>
                      <a:r>
                        <a:rPr lang="ja-JP" altLang="en-US" sz="600" b="1" i="0" u="none" strike="noStrike">
                          <a:solidFill>
                            <a:srgbClr val="000000"/>
                          </a:solidFill>
                          <a:effectLst/>
                          <a:latin typeface="メイリオ" panose="020B0604030504040204" pitchFamily="50" charset="-128"/>
                          <a:ea typeface="メイリオ" panose="020B0604030504040204" pitchFamily="50" charset="-128"/>
                        </a:rPr>
                        <a:t>（ご提案時）</a:t>
                      </a:r>
                    </a:p>
                  </a:txBody>
                  <a:tcPr marL="5106" marR="5106" marT="5106" marB="0" anchor="ctr">
                    <a:lnL>
                      <a:noFill/>
                    </a:lnL>
                    <a:lnR>
                      <a:noFill/>
                    </a:lnR>
                    <a:lnT>
                      <a:noFill/>
                    </a:lnT>
                    <a:lnB>
                      <a:noFill/>
                    </a:lnB>
                  </a:tcPr>
                </a:tc>
                <a:tc hMerge="1">
                  <a:txBody>
                    <a:bodyPr/>
                    <a:lstStyle/>
                    <a:p>
                      <a:endParaRPr kumimoji="1" lang="ja-JP" altLang="en-US"/>
                    </a:p>
                  </a:txBody>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a:noFill/>
                    </a:lnT>
                    <a:lnB>
                      <a:noFill/>
                    </a:lnB>
                  </a:tcPr>
                </a:tc>
                <a:extLst>
                  <a:ext uri="{0D108BD9-81ED-4DB2-BD59-A6C34878D82A}">
                    <a16:rowId xmlns:a16="http://schemas.microsoft.com/office/drawing/2014/main" val="759026655"/>
                  </a:ext>
                </a:extLst>
              </a:tr>
              <a:tr h="135923">
                <a:tc>
                  <a:txBody>
                    <a:bodyPr/>
                    <a:lstStyle/>
                    <a:p>
                      <a:pPr algn="ctr" fontAlgn="ctr"/>
                      <a:r>
                        <a:rPr lang="ja-JP" altLang="en-US" sz="600" b="1" i="0" u="none" strike="noStrike" dirty="0">
                          <a:solidFill>
                            <a:srgbClr val="FFFFFF"/>
                          </a:solidFill>
                          <a:effectLst/>
                          <a:latin typeface="メイリオ" panose="020B0604030504040204" pitchFamily="50" charset="-128"/>
                          <a:ea typeface="メイリオ" panose="020B0604030504040204" pitchFamily="50" charset="-128"/>
                        </a:rPr>
                        <a:t>期間</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友だち数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ブロック率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コスト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配信メッセ数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開封率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クリック率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その他流入</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流入単価</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GA_CV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CV_</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 </a:t>
                      </a:r>
                      <a:r>
                        <a:rPr lang="en-US" altLang="ja-JP" sz="600" b="1" i="0" u="none" strike="noStrike">
                          <a:solidFill>
                            <a:srgbClr val="FFFFFF"/>
                          </a:solidFill>
                          <a:effectLst/>
                          <a:latin typeface="メイリオ" panose="020B0604030504040204" pitchFamily="50" charset="-128"/>
                          <a:ea typeface="メイリオ" panose="020B0604030504040204" pitchFamily="50" charset="-128"/>
                        </a:rPr>
                        <a:t>※</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仮</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3A3838"/>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CPA</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C00000"/>
                    </a:solidFill>
                  </a:tcPr>
                </a:tc>
                <a:extLst>
                  <a:ext uri="{0D108BD9-81ED-4DB2-BD59-A6C34878D82A}">
                    <a16:rowId xmlns:a16="http://schemas.microsoft.com/office/drawing/2014/main" val="2732671633"/>
                  </a:ext>
                </a:extLst>
              </a:tr>
              <a:tr h="135923">
                <a:tc>
                  <a:txBody>
                    <a:bodyPr/>
                    <a:lstStyle/>
                    <a:p>
                      <a:pPr algn="ctr" fontAlgn="ct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ご提案時</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ja-JP" altLang="en-US" sz="600" b="0" i="0" u="none" strike="noStrike">
                          <a:solidFill>
                            <a:srgbClr val="000000"/>
                          </a:solidFill>
                          <a:effectLst/>
                          <a:latin typeface="メイリオ" panose="020B0604030504040204" pitchFamily="50" charset="-128"/>
                          <a:ea typeface="メイリオ" panose="020B0604030504040204" pitchFamily="50" charset="-128"/>
                        </a:rPr>
                        <a:t>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2,200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647146513"/>
                  </a:ext>
                </a:extLst>
              </a:tr>
              <a:tr h="135923">
                <a:tc gridSpan="2">
                  <a:txBody>
                    <a:bodyPr/>
                    <a:lstStyle/>
                    <a:p>
                      <a:pPr algn="l" fontAlgn="ctr"/>
                      <a:r>
                        <a:rPr lang="ja-JP" altLang="en-US" sz="600" b="1" i="0" u="none" strike="noStrike" dirty="0">
                          <a:solidFill>
                            <a:srgbClr val="000000"/>
                          </a:solidFill>
                          <a:effectLst/>
                          <a:latin typeface="メイリオ" panose="020B0604030504040204" pitchFamily="50" charset="-128"/>
                          <a:ea typeface="メイリオ" panose="020B0604030504040204" pitchFamily="50" charset="-128"/>
                        </a:rPr>
                        <a:t>■月次データ（概要）</a:t>
                      </a: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hMerge="1">
                  <a:txBody>
                    <a:bodyPr/>
                    <a:lstStyle/>
                    <a:p>
                      <a:endParaRPr kumimoji="1" lang="ja-JP" altLang="en-US"/>
                    </a:p>
                  </a:txBody>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tc>
                  <a:txBody>
                    <a:bodyPr/>
                    <a:lstStyle/>
                    <a:p>
                      <a:pPr algn="l" fontAlgn="ctr"/>
                      <a:endParaRPr lang="ja-JP" altLang="en-US" sz="600" b="0" i="0" u="none" strike="noStrike">
                        <a:solidFill>
                          <a:srgbClr val="000000"/>
                        </a:solidFill>
                        <a:effectLst/>
                        <a:latin typeface="メイリオ" panose="020B0604030504040204" pitchFamily="50" charset="-128"/>
                        <a:ea typeface="メイリオ" panose="020B0604030504040204" pitchFamily="50" charset="-128"/>
                      </a:endParaRPr>
                    </a:p>
                  </a:txBody>
                  <a:tcPr marL="5106" marR="5106" marT="5106" marB="0" anchor="ctr">
                    <a:lnL>
                      <a:noFill/>
                    </a:lnL>
                    <a:lnR>
                      <a:noFill/>
                    </a:lnR>
                    <a:lnT w="6350" cap="flat" cmpd="sng" algn="ctr">
                      <a:solidFill>
                        <a:srgbClr val="000000"/>
                      </a:solidFill>
                      <a:prstDash val="dash"/>
                      <a:round/>
                      <a:headEnd type="none" w="med" len="med"/>
                      <a:tailEnd type="none" w="med" len="med"/>
                    </a:lnT>
                    <a:lnB>
                      <a:noFill/>
                    </a:lnB>
                  </a:tcPr>
                </a:tc>
                <a:extLst>
                  <a:ext uri="{0D108BD9-81ED-4DB2-BD59-A6C34878D82A}">
                    <a16:rowId xmlns:a16="http://schemas.microsoft.com/office/drawing/2014/main" val="2623514694"/>
                  </a:ext>
                </a:extLst>
              </a:tr>
              <a:tr h="135923">
                <a:tc>
                  <a:txBody>
                    <a:bodyPr/>
                    <a:lstStyle/>
                    <a:p>
                      <a:pPr algn="ctr" fontAlgn="ctr"/>
                      <a:r>
                        <a:rPr lang="ja-JP" altLang="en-US" sz="600" b="1" i="0" u="none" strike="noStrike" dirty="0">
                          <a:solidFill>
                            <a:srgbClr val="FFFFFF"/>
                          </a:solidFill>
                          <a:effectLst/>
                          <a:latin typeface="メイリオ" panose="020B0604030504040204" pitchFamily="50" charset="-128"/>
                          <a:ea typeface="メイリオ" panose="020B0604030504040204" pitchFamily="50" charset="-128"/>
                        </a:rPr>
                        <a:t>期間</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変換用</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友だち数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ブロック率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コスト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配信メッセ数</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開封率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クリック率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その他流入</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流入単価</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GA_CV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計</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F0000"/>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CV_</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その他 </a:t>
                      </a:r>
                      <a:r>
                        <a:rPr lang="en-US" altLang="ja-JP" sz="600" b="1" i="0" u="none" strike="noStrike">
                          <a:solidFill>
                            <a:srgbClr val="FFFFFF"/>
                          </a:solidFill>
                          <a:effectLst/>
                          <a:latin typeface="メイリオ" panose="020B0604030504040204" pitchFamily="50" charset="-128"/>
                          <a:ea typeface="メイリオ" panose="020B0604030504040204" pitchFamily="50" charset="-128"/>
                        </a:rPr>
                        <a:t>※</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仮</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3A3838"/>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CV</a:t>
                      </a:r>
                      <a:r>
                        <a:rPr lang="ja-JP" altLang="en-US" sz="600" b="1" i="0" u="none" strike="noStrike">
                          <a:solidFill>
                            <a:srgbClr val="FFFFFF"/>
                          </a:solidFill>
                          <a:effectLst/>
                          <a:latin typeface="メイリオ" panose="020B0604030504040204" pitchFamily="50" charset="-128"/>
                          <a:ea typeface="メイリオ" panose="020B0604030504040204" pitchFamily="50" charset="-128"/>
                        </a:rPr>
                        <a:t>率</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tc>
                  <a:txBody>
                    <a:bodyPr/>
                    <a:lstStyle/>
                    <a:p>
                      <a:pPr algn="ctr" fontAlgn="ctr"/>
                      <a:r>
                        <a:rPr lang="en-US" sz="600" b="1" i="0" u="none" strike="noStrike">
                          <a:solidFill>
                            <a:srgbClr val="FFFFFF"/>
                          </a:solidFill>
                          <a:effectLst/>
                          <a:latin typeface="メイリオ" panose="020B0604030504040204" pitchFamily="50" charset="-128"/>
                          <a:ea typeface="メイリオ" panose="020B0604030504040204" pitchFamily="50" charset="-128"/>
                        </a:rPr>
                        <a:t>CPA</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no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44546A"/>
                    </a:solidFill>
                  </a:tcPr>
                </a:tc>
                <a:extLst>
                  <a:ext uri="{0D108BD9-81ED-4DB2-BD59-A6C34878D82A}">
                    <a16:rowId xmlns:a16="http://schemas.microsoft.com/office/drawing/2014/main" val="2368346719"/>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2025/1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20250101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184,548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22,901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77.0%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¥659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32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¥14,063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018188146"/>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20241201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181,780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82,916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47.8%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1,865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22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¥20,455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42232307"/>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20241101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179,053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53,464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57.7%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¥28,125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491418966"/>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20241001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176,367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82,279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53.2%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1,868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¥37,500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705770834"/>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20240901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173,722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24,240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88.3%</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617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¥1,159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¥40,909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2777529875"/>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20240801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171,116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39,665</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86.0%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3.1%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1,064</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¥699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10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2</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FF0000"/>
                          </a:solidFill>
                          <a:effectLst/>
                          <a:latin typeface="メイリオ" panose="020B0604030504040204" pitchFamily="50" charset="-128"/>
                          <a:ea typeface="メイリオ" panose="020B0604030504040204" pitchFamily="50" charset="-128"/>
                        </a:rPr>
                        <a:t>¥45,000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3532772668"/>
                  </a:ext>
                </a:extLst>
              </a:tr>
              <a:tr h="135923">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2024/7</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ct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20240701 </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168,549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68.9%</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¥450,000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74,478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44.6%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4.0%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1,321</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¥680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8</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solidFill>
                      <a:srgbClr val="FCE4D6"/>
                    </a:solidFill>
                  </a:tcPr>
                </a:tc>
                <a:tc>
                  <a:txBody>
                    <a:bodyPr/>
                    <a:lstStyle/>
                    <a:p>
                      <a:pPr algn="r" fontAlgn="ctr"/>
                      <a:r>
                        <a:rPr lang="en-US" altLang="ja-JP" sz="600" b="1" i="0" u="none" strike="noStrike">
                          <a:solidFill>
                            <a:srgbClr val="000000"/>
                          </a:solidFill>
                          <a:effectLst/>
                          <a:latin typeface="メイリオ" panose="020B0604030504040204" pitchFamily="50" charset="-128"/>
                          <a:ea typeface="メイリオ" panose="020B0604030504040204" pitchFamily="50" charset="-128"/>
                        </a:rPr>
                        <a:t>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a:solidFill>
                            <a:srgbClr val="000000"/>
                          </a:solidFill>
                          <a:effectLst/>
                          <a:latin typeface="メイリオ" panose="020B0604030504040204" pitchFamily="50" charset="-128"/>
                          <a:ea typeface="メイリオ" panose="020B0604030504040204" pitchFamily="50" charset="-128"/>
                        </a:rPr>
                        <a:t>0.6%</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tc>
                  <a:txBody>
                    <a:bodyPr/>
                    <a:lstStyle/>
                    <a:p>
                      <a:pPr algn="r" fontAlgn="ctr"/>
                      <a:r>
                        <a:rPr lang="en-US" altLang="ja-JP" sz="600" b="0" i="0" u="none" strike="noStrike" dirty="0">
                          <a:solidFill>
                            <a:srgbClr val="FF0000"/>
                          </a:solidFill>
                          <a:effectLst/>
                          <a:latin typeface="メイリオ" panose="020B0604030504040204" pitchFamily="50" charset="-128"/>
                          <a:ea typeface="メイリオ" panose="020B0604030504040204" pitchFamily="50" charset="-128"/>
                        </a:rPr>
                        <a:t>¥56,250</a:t>
                      </a:r>
                    </a:p>
                  </a:txBody>
                  <a:tcPr marL="5106" marR="5106" marT="5106" marB="0" anchor="ctr">
                    <a:lnL w="6350" cap="flat" cmpd="sng" algn="ctr">
                      <a:solidFill>
                        <a:srgbClr val="000000"/>
                      </a:solidFill>
                      <a:prstDash val="dash"/>
                      <a:round/>
                      <a:headEnd type="none" w="med" len="med"/>
                      <a:tailEnd type="none" w="med" len="med"/>
                    </a:lnL>
                    <a:lnR w="6350" cap="flat" cmpd="sng" algn="ctr">
                      <a:solidFill>
                        <a:srgbClr val="000000"/>
                      </a:solidFill>
                      <a:prstDash val="dash"/>
                      <a:round/>
                      <a:headEnd type="none" w="med" len="med"/>
                      <a:tailEnd type="none" w="med" len="med"/>
                    </a:lnR>
                    <a:lnT w="6350" cap="flat" cmpd="sng" algn="ctr">
                      <a:solidFill>
                        <a:srgbClr val="000000"/>
                      </a:solidFill>
                      <a:prstDash val="dash"/>
                      <a:round/>
                      <a:headEnd type="none" w="med" len="med"/>
                      <a:tailEnd type="none" w="med" len="med"/>
                    </a:lnT>
                    <a:lnB w="6350" cap="flat" cmpd="sng" algn="ctr">
                      <a:solidFill>
                        <a:srgbClr val="000000"/>
                      </a:solidFill>
                      <a:prstDash val="dash"/>
                      <a:round/>
                      <a:headEnd type="none" w="med" len="med"/>
                      <a:tailEnd type="none" w="med" len="med"/>
                    </a:lnB>
                  </a:tcPr>
                </a:tc>
                <a:extLst>
                  <a:ext uri="{0D108BD9-81ED-4DB2-BD59-A6C34878D82A}">
                    <a16:rowId xmlns:a16="http://schemas.microsoft.com/office/drawing/2014/main" val="1526691278"/>
                  </a:ext>
                </a:extLst>
              </a:tr>
            </a:tbl>
          </a:graphicData>
        </a:graphic>
      </p:graphicFrame>
      <p:sp>
        <p:nvSpPr>
          <p:cNvPr id="9" name="正方形/長方形 8"/>
          <p:cNvSpPr/>
          <p:nvPr/>
        </p:nvSpPr>
        <p:spPr>
          <a:xfrm>
            <a:off x="5164183" y="2352739"/>
            <a:ext cx="4219296" cy="1762616"/>
          </a:xfrm>
          <a:prstGeom prst="rect">
            <a:avLst/>
          </a:prstGeom>
          <a:noFill/>
          <a:ln>
            <a:solidFill>
              <a:schemeClr val="tx2">
                <a:alpha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p:nvSpPr>
        <p:spPr>
          <a:xfrm>
            <a:off x="7192964" y="3902953"/>
            <a:ext cx="2206519" cy="209848"/>
          </a:xfrm>
          <a:prstGeom prst="rect">
            <a:avLst/>
          </a:prstGeom>
        </p:spPr>
        <p:txBody>
          <a:bodyPr wrap="none">
            <a:spAutoFit/>
          </a:bodyPr>
          <a:lstStyle/>
          <a:p>
            <a:r>
              <a:rPr lang="en-US" altLang="ja-JP" sz="1050" b="1" dirty="0">
                <a:solidFill>
                  <a:schemeClr val="tx1">
                    <a:lumMod val="65000"/>
                    <a:lumOff val="35000"/>
                  </a:schemeClr>
                </a:solidFill>
                <a:latin typeface="Meiryo"/>
                <a:ea typeface="Meiryo"/>
                <a:cs typeface="Meiryo"/>
                <a:sym typeface="Meiryo"/>
              </a:rPr>
              <a:t>GA</a:t>
            </a:r>
            <a:r>
              <a:rPr lang="ja-JP" altLang="en-US" sz="1050" b="1" dirty="0">
                <a:solidFill>
                  <a:schemeClr val="tx1">
                    <a:lumMod val="65000"/>
                    <a:lumOff val="35000"/>
                  </a:schemeClr>
                </a:solidFill>
                <a:latin typeface="Meiryo"/>
                <a:ea typeface="Meiryo"/>
                <a:cs typeface="Meiryo"/>
                <a:sym typeface="Meiryo"/>
              </a:rPr>
              <a:t>管理画面上で計測し、数値反映</a:t>
            </a:r>
            <a:endParaRPr lang="ja-JP" altLang="en-US" sz="1050" dirty="0"/>
          </a:p>
        </p:txBody>
      </p:sp>
      <p:sp>
        <p:nvSpPr>
          <p:cNvPr id="16" name="右矢印 15"/>
          <p:cNvSpPr/>
          <p:nvPr/>
        </p:nvSpPr>
        <p:spPr>
          <a:xfrm>
            <a:off x="4570905" y="4720337"/>
            <a:ext cx="717764" cy="680165"/>
          </a:xfrm>
          <a:prstGeom prst="rightArrow">
            <a:avLst>
              <a:gd name="adj1" fmla="val 65364"/>
              <a:gd name="adj2" fmla="val 5000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 name="図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1717" y="4408755"/>
            <a:ext cx="1685243" cy="2001227"/>
          </a:xfrm>
          <a:prstGeom prst="rect">
            <a:avLst/>
          </a:prstGeom>
        </p:spPr>
      </p:pic>
      <p:pic>
        <p:nvPicPr>
          <p:cNvPr id="18" name="図 17"/>
          <p:cNvPicPr>
            <a:picLocks noChangeAspect="1"/>
          </p:cNvPicPr>
          <p:nvPr/>
        </p:nvPicPr>
        <p:blipFill rotWithShape="1">
          <a:blip r:embed="rId3" cstate="print">
            <a:extLst>
              <a:ext uri="{28A0092B-C50C-407E-A947-70E740481C1C}">
                <a14:useLocalDpi xmlns:a14="http://schemas.microsoft.com/office/drawing/2010/main" val="0"/>
              </a:ext>
            </a:extLst>
          </a:blip>
          <a:srcRect r="4805" b="31533"/>
          <a:stretch/>
        </p:blipFill>
        <p:spPr>
          <a:xfrm>
            <a:off x="934688" y="5400502"/>
            <a:ext cx="1403563" cy="1009480"/>
          </a:xfrm>
          <a:prstGeom prst="rect">
            <a:avLst/>
          </a:prstGeom>
        </p:spPr>
      </p:pic>
      <p:pic>
        <p:nvPicPr>
          <p:cNvPr id="19" name="図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86163" y="4408755"/>
            <a:ext cx="1685243" cy="2001227"/>
          </a:xfrm>
          <a:prstGeom prst="rect">
            <a:avLst/>
          </a:prstGeom>
        </p:spPr>
      </p:pic>
      <p:pic>
        <p:nvPicPr>
          <p:cNvPr id="21" name="図 20"/>
          <p:cNvPicPr>
            <a:picLocks noChangeAspect="1"/>
          </p:cNvPicPr>
          <p:nvPr/>
        </p:nvPicPr>
        <p:blipFill>
          <a:blip r:embed="rId4"/>
          <a:stretch>
            <a:fillRect/>
          </a:stretch>
        </p:blipFill>
        <p:spPr>
          <a:xfrm>
            <a:off x="5535676" y="4826463"/>
            <a:ext cx="1309023" cy="542766"/>
          </a:xfrm>
          <a:prstGeom prst="rect">
            <a:avLst/>
          </a:prstGeom>
        </p:spPr>
      </p:pic>
      <p:sp>
        <p:nvSpPr>
          <p:cNvPr id="22" name="楕円 21"/>
          <p:cNvSpPr/>
          <p:nvPr/>
        </p:nvSpPr>
        <p:spPr>
          <a:xfrm>
            <a:off x="7644705" y="5440910"/>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売上</a:t>
            </a:r>
          </a:p>
        </p:txBody>
      </p:sp>
      <p:sp>
        <p:nvSpPr>
          <p:cNvPr id="24" name="楕円 23"/>
          <p:cNvSpPr/>
          <p:nvPr/>
        </p:nvSpPr>
        <p:spPr>
          <a:xfrm>
            <a:off x="6613630" y="5424347"/>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CV</a:t>
            </a:r>
            <a:endParaRPr kumimoji="1" lang="ja-JP" altLang="en-US" sz="12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5" name="楕円 24"/>
          <p:cNvSpPr/>
          <p:nvPr/>
        </p:nvSpPr>
        <p:spPr>
          <a:xfrm>
            <a:off x="5459174" y="5424348"/>
            <a:ext cx="1326812" cy="552958"/>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有効（</a:t>
            </a:r>
            <a:r>
              <a:rPr lang="en-US" altLang="ja-JP" sz="1100" dirty="0">
                <a:solidFill>
                  <a:schemeClr val="tx1">
                    <a:lumMod val="65000"/>
                    <a:lumOff val="35000"/>
                  </a:schemeClr>
                </a:solidFill>
                <a:latin typeface="メイリオ" panose="020B0604030504040204" pitchFamily="50" charset="-128"/>
                <a:ea typeface="メイリオ" panose="020B0604030504040204" pitchFamily="50" charset="-128"/>
              </a:rPr>
              <a:t>mcv</a:t>
            </a:r>
            <a:r>
              <a:rPr lang="ja-JP" altLang="en-US" sz="1100"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1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6" name="正方形/長方形 25"/>
          <p:cNvSpPr/>
          <p:nvPr/>
        </p:nvSpPr>
        <p:spPr>
          <a:xfrm>
            <a:off x="6785986" y="5037438"/>
            <a:ext cx="2492990" cy="276999"/>
          </a:xfrm>
          <a:prstGeom prst="rect">
            <a:avLst/>
          </a:prstGeom>
        </p:spPr>
        <p:txBody>
          <a:bodyPr wrap="none">
            <a:spAutoFit/>
          </a:bodyPr>
          <a:lstStyle/>
          <a:p>
            <a:r>
              <a:rPr lang="ja-JP" altLang="en-US" sz="1200" b="1" dirty="0">
                <a:latin typeface="Meiryo"/>
                <a:ea typeface="Meiryo"/>
                <a:cs typeface="Meiryo"/>
                <a:sym typeface="Meiryo"/>
              </a:rPr>
              <a:t>管理画面を成果としてレポート化</a:t>
            </a:r>
            <a:endParaRPr lang="ja-JP" altLang="en-US" sz="1200" b="1" dirty="0"/>
          </a:p>
        </p:txBody>
      </p:sp>
      <p:sp>
        <p:nvSpPr>
          <p:cNvPr id="27" name="正方形/長方形 26"/>
          <p:cNvSpPr/>
          <p:nvPr/>
        </p:nvSpPr>
        <p:spPr>
          <a:xfrm>
            <a:off x="5895888" y="6013913"/>
            <a:ext cx="2762295" cy="261610"/>
          </a:xfrm>
          <a:prstGeom prst="rect">
            <a:avLst/>
          </a:prstGeom>
        </p:spPr>
        <p:txBody>
          <a:bodyPr wrap="none">
            <a:spAutoFit/>
          </a:bodyPr>
          <a:lstStyle/>
          <a:p>
            <a:r>
              <a:rPr lang="en-US" altLang="ja-JP" sz="1100" dirty="0">
                <a:solidFill>
                  <a:schemeClr val="tx1">
                    <a:lumMod val="50000"/>
                    <a:lumOff val="50000"/>
                  </a:schemeClr>
                </a:solidFill>
                <a:latin typeface="Meiryo"/>
                <a:ea typeface="Meiryo"/>
                <a:sym typeface="Meiryo"/>
              </a:rPr>
              <a:t>※</a:t>
            </a:r>
            <a:r>
              <a:rPr lang="en-US" altLang="ja-JP" sz="1100" dirty="0" err="1">
                <a:solidFill>
                  <a:schemeClr val="tx1">
                    <a:lumMod val="50000"/>
                    <a:lumOff val="50000"/>
                  </a:schemeClr>
                </a:solidFill>
                <a:latin typeface="Meiryo"/>
                <a:ea typeface="Meiryo"/>
                <a:sym typeface="Meiryo"/>
              </a:rPr>
              <a:t>AdEbis</a:t>
            </a:r>
            <a:r>
              <a:rPr lang="ja-JP" altLang="en-US" sz="1100" dirty="0">
                <a:solidFill>
                  <a:schemeClr val="tx1">
                    <a:lumMod val="50000"/>
                    <a:lumOff val="50000"/>
                  </a:schemeClr>
                </a:solidFill>
                <a:latin typeface="Meiryo"/>
                <a:ea typeface="Meiryo"/>
                <a:sym typeface="Meiryo"/>
              </a:rPr>
              <a:t>等の外部ツールの対応も可能。</a:t>
            </a:r>
            <a:endParaRPr lang="ja-JP" altLang="en-US" sz="1100" dirty="0">
              <a:solidFill>
                <a:schemeClr val="tx1">
                  <a:lumMod val="50000"/>
                  <a:lumOff val="50000"/>
                </a:schemeClr>
              </a:solidFill>
            </a:endParaRPr>
          </a:p>
        </p:txBody>
      </p:sp>
      <p:sp>
        <p:nvSpPr>
          <p:cNvPr id="28" name="正方形/長方形 27"/>
          <p:cNvSpPr/>
          <p:nvPr/>
        </p:nvSpPr>
        <p:spPr>
          <a:xfrm>
            <a:off x="390709" y="4227706"/>
            <a:ext cx="4219296" cy="277788"/>
          </a:xfrm>
          <a:prstGeom prst="rect">
            <a:avLst/>
          </a:prstGeom>
          <a:solidFill>
            <a:srgbClr val="00C0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アプリ上</a:t>
            </a:r>
            <a:endParaRPr kumimoji="1" lang="ja-JP" altLang="en-US" sz="1200" b="1" dirty="0">
              <a:latin typeface="メイリオ" panose="020B0604030504040204" pitchFamily="50" charset="-128"/>
              <a:ea typeface="メイリオ" panose="020B0604030504040204" pitchFamily="50" charset="-128"/>
            </a:endParaRPr>
          </a:p>
        </p:txBody>
      </p:sp>
      <p:pic>
        <p:nvPicPr>
          <p:cNvPr id="1034" name="Picture 10" descr="Illustrazione Stock クリック,チェック,注目,選ぶ,指,押す,注意,決定,タッチ,おすすめ,案内,重要,選択,発見,検索,ピクトグラム,カーソル,ポインター,マウス,指す,記号,マーク,ワンポイント,シンボル,サイン,タップ,スワイプ,ポイント,手,人差し指,ゆび,イチ押し,スライド,アイコン,広告,ひらめき,チラシ,シンプル,プッシュ,開く,イラスト | Adobe Stock"/>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3670773">
            <a:off x="1882803" y="6009237"/>
            <a:ext cx="542505" cy="38294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0" descr="Illustrazione Stock クリック,チェック,注目,選ぶ,指,押す,注意,決定,タッチ,おすすめ,案内,重要,選択,発見,検索,ピクトグラム,カーソル,ポインター,マウス,指す,記号,マーク,ワンポイント,シンボル,サイン,タップ,スワイプ,ポイント,手,人差し指,ゆび,イチ押し,スライド,アイコン,広告,ひらめき,チラシ,シンプル,プッシュ,開く,イラスト | Adobe Stock"/>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3670773">
            <a:off x="3827252" y="6144220"/>
            <a:ext cx="542505" cy="382945"/>
          </a:xfrm>
          <a:prstGeom prst="rect">
            <a:avLst/>
          </a:prstGeom>
          <a:noFill/>
          <a:extLst>
            <a:ext uri="{909E8E84-426E-40DD-AFC4-6F175D3DCCD1}">
              <a14:hiddenFill xmlns:a14="http://schemas.microsoft.com/office/drawing/2010/main">
                <a:solidFill>
                  <a:srgbClr val="FFFFFF"/>
                </a:solidFill>
              </a14:hiddenFill>
            </a:ext>
          </a:extLst>
        </p:spPr>
      </p:pic>
      <p:grpSp>
        <p:nvGrpSpPr>
          <p:cNvPr id="41" name="グループ化 40"/>
          <p:cNvGrpSpPr/>
          <p:nvPr/>
        </p:nvGrpSpPr>
        <p:grpSpPr>
          <a:xfrm>
            <a:off x="1802228" y="5899367"/>
            <a:ext cx="125343" cy="138465"/>
            <a:chOff x="4245087" y="1539805"/>
            <a:chExt cx="325106" cy="269830"/>
          </a:xfrm>
        </p:grpSpPr>
        <p:sp>
          <p:nvSpPr>
            <p:cNvPr id="42" name="二等辺三角形 41"/>
            <p:cNvSpPr/>
            <p:nvPr/>
          </p:nvSpPr>
          <p:spPr>
            <a:xfrm rot="7826235">
              <a:off x="4335416" y="1595821"/>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二等辺三角形 42"/>
            <p:cNvSpPr/>
            <p:nvPr/>
          </p:nvSpPr>
          <p:spPr>
            <a:xfrm rot="9540823">
              <a:off x="4394543" y="1541914"/>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二等辺三角形 43"/>
            <p:cNvSpPr/>
            <p:nvPr/>
          </p:nvSpPr>
          <p:spPr>
            <a:xfrm rot="10800000">
              <a:off x="4483129" y="1539805"/>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4" name="グループ化 53"/>
          <p:cNvGrpSpPr/>
          <p:nvPr/>
        </p:nvGrpSpPr>
        <p:grpSpPr>
          <a:xfrm>
            <a:off x="3722470" y="6025641"/>
            <a:ext cx="125343" cy="138465"/>
            <a:chOff x="4245087" y="1539805"/>
            <a:chExt cx="325106" cy="269830"/>
          </a:xfrm>
        </p:grpSpPr>
        <p:sp>
          <p:nvSpPr>
            <p:cNvPr id="55" name="二等辺三角形 54"/>
            <p:cNvSpPr/>
            <p:nvPr/>
          </p:nvSpPr>
          <p:spPr>
            <a:xfrm rot="7826235">
              <a:off x="4335416" y="1595821"/>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二等辺三角形 55"/>
            <p:cNvSpPr/>
            <p:nvPr/>
          </p:nvSpPr>
          <p:spPr>
            <a:xfrm rot="9540823">
              <a:off x="4394543" y="1541914"/>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二等辺三角形 56"/>
            <p:cNvSpPr/>
            <p:nvPr/>
          </p:nvSpPr>
          <p:spPr>
            <a:xfrm rot="10800000">
              <a:off x="4483129" y="1539805"/>
              <a:ext cx="87064" cy="26772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3" name="正方形/長方形 32"/>
          <p:cNvSpPr/>
          <p:nvPr/>
        </p:nvSpPr>
        <p:spPr>
          <a:xfrm>
            <a:off x="5180187" y="4221922"/>
            <a:ext cx="4219296" cy="27778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dirty="0">
                <a:latin typeface="メイリオ" panose="020B0604030504040204" pitchFamily="50" charset="-128"/>
                <a:ea typeface="メイリオ" panose="020B0604030504040204" pitchFamily="50" charset="-128"/>
              </a:rPr>
              <a:t>WEB</a:t>
            </a:r>
            <a:r>
              <a:rPr lang="ja-JP" altLang="en-US" sz="1200" b="1" dirty="0">
                <a:latin typeface="メイリオ" panose="020B0604030504040204" pitchFamily="50" charset="-128"/>
                <a:ea typeface="メイリオ" panose="020B0604030504040204" pitchFamily="50" charset="-128"/>
              </a:rPr>
              <a:t>サイト上</a:t>
            </a:r>
            <a:endParaRPr kumimoji="1" lang="ja-JP" altLang="en-US" sz="1200" b="1" dirty="0">
              <a:latin typeface="メイリオ" panose="020B0604030504040204" pitchFamily="50" charset="-128"/>
              <a:ea typeface="メイリオ" panose="020B0604030504040204" pitchFamily="50" charset="-128"/>
            </a:endParaRPr>
          </a:p>
        </p:txBody>
      </p:sp>
      <p:pic>
        <p:nvPicPr>
          <p:cNvPr id="10" name="図 9"/>
          <p:cNvPicPr>
            <a:picLocks noChangeAspect="1"/>
          </p:cNvPicPr>
          <p:nvPr/>
        </p:nvPicPr>
        <p:blipFill>
          <a:blip r:embed="rId6"/>
          <a:stretch>
            <a:fillRect/>
          </a:stretch>
        </p:blipFill>
        <p:spPr>
          <a:xfrm>
            <a:off x="2758013" y="4552453"/>
            <a:ext cx="1379725" cy="919257"/>
          </a:xfrm>
          <a:prstGeom prst="rect">
            <a:avLst/>
          </a:prstGeom>
        </p:spPr>
      </p:pic>
      <p:sp>
        <p:nvSpPr>
          <p:cNvPr id="11" name="正方形/長方形 10">
            <a:extLst>
              <a:ext uri="{FF2B5EF4-FFF2-40B4-BE49-F238E27FC236}">
                <a16:creationId xmlns:a16="http://schemas.microsoft.com/office/drawing/2014/main" id="{22778390-5C65-8A0B-FBCC-331F4769C279}"/>
              </a:ext>
            </a:extLst>
          </p:cNvPr>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2" name="Google Shape;156;p7">
            <a:extLst>
              <a:ext uri="{FF2B5EF4-FFF2-40B4-BE49-F238E27FC236}">
                <a16:creationId xmlns:a16="http://schemas.microsoft.com/office/drawing/2014/main" id="{6FA8B775-64BA-CC75-EC39-92A06C7D5702}"/>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4"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596621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841248" y="1783080"/>
            <a:ext cx="12527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2121408" y="1783080"/>
            <a:ext cx="3794760"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5943600" y="1783080"/>
            <a:ext cx="822960"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重要度</a:t>
            </a:r>
          </a:p>
        </p:txBody>
      </p:sp>
      <p:sp>
        <p:nvSpPr>
          <p:cNvPr id="18" name="Rectangle 7">
            <a:extLst>
              <a:ext uri="{FF2B5EF4-FFF2-40B4-BE49-F238E27FC236}">
                <a16:creationId xmlns:a16="http://schemas.microsoft.com/office/drawing/2014/main" id="{0DE26C81-EAA6-9BC7-2010-07A0AE499222}"/>
              </a:ext>
            </a:extLst>
          </p:cNvPr>
          <p:cNvSpPr/>
          <p:nvPr/>
        </p:nvSpPr>
        <p:spPr>
          <a:xfrm>
            <a:off x="841248" y="2203704"/>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2121408" y="2203704"/>
            <a:ext cx="3794760"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dirty="0" err="1">
                <a:solidFill>
                  <a:srgbClr val="333333"/>
                </a:solidFill>
                <a:latin typeface="メイリオ"/>
                <a:ea typeface="メイリオ"/>
                <a:cs typeface="メイリオ"/>
              </a:rPr>
              <a:t>友だち追加の入口を増やす</a:t>
            </a:r>
            <a:br>
              <a:rPr sz="1400" b="0" dirty="0" err="1">
                <a:solidFill>
                  <a:srgbClr val="333333"/>
                </a:solidFill>
                <a:latin typeface="メイリオ"/>
                <a:ea typeface="メイリオ"/>
                <a:cs typeface="メイリオ"/>
              </a:rPr>
            </a:br>
            <a:r>
              <a:rPr sz="1400" b="0" dirty="0" err="1">
                <a:solidFill>
                  <a:srgbClr val="333333"/>
                </a:solidFill>
                <a:latin typeface="メイリオ"/>
                <a:ea typeface="メイリオ"/>
                <a:cs typeface="メイリオ"/>
              </a:rPr>
              <a:t>（ポップアップ・広告・店頭）</a:t>
            </a:r>
          </a:p>
        </p:txBody>
      </p:sp>
      <p:sp>
        <p:nvSpPr>
          <p:cNvPr id="23" name="Rectangle 9">
            <a:extLst>
              <a:ext uri="{FF2B5EF4-FFF2-40B4-BE49-F238E27FC236}">
                <a16:creationId xmlns:a16="http://schemas.microsoft.com/office/drawing/2014/main" id="{4D555954-77CD-7E09-CEBD-4C58033525FD}"/>
              </a:ext>
            </a:extLst>
          </p:cNvPr>
          <p:cNvSpPr/>
          <p:nvPr/>
        </p:nvSpPr>
        <p:spPr>
          <a:xfrm>
            <a:off x="5943600" y="2203704"/>
            <a:ext cx="822960"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27" name="Rectangle 11">
            <a:extLst>
              <a:ext uri="{FF2B5EF4-FFF2-40B4-BE49-F238E27FC236}">
                <a16:creationId xmlns:a16="http://schemas.microsoft.com/office/drawing/2014/main" id="{CB2A3195-221A-72EE-7427-467D873BA83B}"/>
              </a:ext>
            </a:extLst>
          </p:cNvPr>
          <p:cNvSpPr/>
          <p:nvPr/>
        </p:nvSpPr>
        <p:spPr>
          <a:xfrm>
            <a:off x="841248" y="3118104"/>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2121408" y="3118104"/>
            <a:ext cx="3794760"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5943600" y="3118104"/>
            <a:ext cx="822960"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35" name="Rectangle 15">
            <a:extLst>
              <a:ext uri="{FF2B5EF4-FFF2-40B4-BE49-F238E27FC236}">
                <a16:creationId xmlns:a16="http://schemas.microsoft.com/office/drawing/2014/main" id="{6C54381C-EDB8-6610-8581-D5F4C5355345}"/>
              </a:ext>
            </a:extLst>
          </p:cNvPr>
          <p:cNvSpPr/>
          <p:nvPr/>
        </p:nvSpPr>
        <p:spPr>
          <a:xfrm>
            <a:off x="841248" y="4032504"/>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2121408" y="4032504"/>
            <a:ext cx="3794760"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5943600" y="4032504"/>
            <a:ext cx="822960"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43" name="Rectangle 19">
            <a:extLst>
              <a:ext uri="{FF2B5EF4-FFF2-40B4-BE49-F238E27FC236}">
                <a16:creationId xmlns:a16="http://schemas.microsoft.com/office/drawing/2014/main" id="{16CB7492-2668-EFB7-5628-A5714FE43E02}"/>
              </a:ext>
            </a:extLst>
          </p:cNvPr>
          <p:cNvSpPr/>
          <p:nvPr/>
        </p:nvSpPr>
        <p:spPr>
          <a:xfrm>
            <a:off x="841248" y="4946904"/>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効率化</a:t>
            </a:r>
          </a:p>
        </p:txBody>
      </p:sp>
      <p:sp>
        <p:nvSpPr>
          <p:cNvPr id="54" name="Rectangle 6">
            <a:extLst>
              <a:ext uri="{FF2B5EF4-FFF2-40B4-BE49-F238E27FC236}">
                <a16:creationId xmlns:a16="http://schemas.microsoft.com/office/drawing/2014/main" id="{3006611C-155B-26D2-87F5-F1073BED0DD5}"/>
              </a:ext>
            </a:extLst>
          </p:cNvPr>
          <p:cNvSpPr/>
          <p:nvPr/>
        </p:nvSpPr>
        <p:spPr>
          <a:xfrm>
            <a:off x="6793992" y="1783080"/>
            <a:ext cx="2203704"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度合い・目標</a:t>
            </a:r>
          </a:p>
        </p:txBody>
      </p:sp>
      <p:sp>
        <p:nvSpPr>
          <p:cNvPr id="55" name="Rectangle 10">
            <a:extLst>
              <a:ext uri="{FF2B5EF4-FFF2-40B4-BE49-F238E27FC236}">
                <a16:creationId xmlns:a16="http://schemas.microsoft.com/office/drawing/2014/main" id="{86F1D30D-393D-E40A-6D1C-9AFE711E6551}"/>
              </a:ext>
            </a:extLst>
          </p:cNvPr>
          <p:cNvSpPr/>
          <p:nvPr/>
        </p:nvSpPr>
        <p:spPr>
          <a:xfrm>
            <a:off x="6793992" y="2203704"/>
            <a:ext cx="2203704"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（例：月間追加数）</a:t>
            </a:r>
          </a:p>
        </p:txBody>
      </p:sp>
      <p:sp>
        <p:nvSpPr>
          <p:cNvPr id="56" name="Rectangle 14">
            <a:extLst>
              <a:ext uri="{FF2B5EF4-FFF2-40B4-BE49-F238E27FC236}">
                <a16:creationId xmlns:a16="http://schemas.microsoft.com/office/drawing/2014/main" id="{BDC1EB93-A86A-84CE-F73E-2149AD61E5FC}"/>
              </a:ext>
            </a:extLst>
          </p:cNvPr>
          <p:cNvSpPr/>
          <p:nvPr/>
        </p:nvSpPr>
        <p:spPr>
          <a:xfrm>
            <a:off x="6793992" y="3118104"/>
            <a:ext cx="2203704"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（例：CV数・リピート率）</a:t>
            </a:r>
          </a:p>
        </p:txBody>
      </p:sp>
      <p:sp>
        <p:nvSpPr>
          <p:cNvPr id="57" name="Rectangle 18">
            <a:extLst>
              <a:ext uri="{FF2B5EF4-FFF2-40B4-BE49-F238E27FC236}">
                <a16:creationId xmlns:a16="http://schemas.microsoft.com/office/drawing/2014/main" id="{188A2264-AC44-69F3-AADC-6C99A3918A5E}"/>
              </a:ext>
            </a:extLst>
          </p:cNvPr>
          <p:cNvSpPr/>
          <p:nvPr/>
        </p:nvSpPr>
        <p:spPr>
          <a:xfrm>
            <a:off x="6793992" y="4032504"/>
            <a:ext cx="2203704"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（例：会員数・反応率）</a:t>
            </a:r>
          </a:p>
        </p:txBody>
      </p:sp>
      <p:sp>
        <p:nvSpPr>
          <p:cNvPr id="58" name="Rectangle 22">
            <a:extLst>
              <a:ext uri="{FF2B5EF4-FFF2-40B4-BE49-F238E27FC236}">
                <a16:creationId xmlns:a16="http://schemas.microsoft.com/office/drawing/2014/main" id="{E8B63E0D-903B-EFBB-A4FF-728A697ABE8D}"/>
              </a:ext>
            </a:extLst>
          </p:cNvPr>
          <p:cNvSpPr/>
          <p:nvPr/>
        </p:nvSpPr>
        <p:spPr>
          <a:xfrm>
            <a:off x="6793992" y="4946904"/>
            <a:ext cx="2203704"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00" b="0">
                <a:solidFill>
                  <a:srgbClr val="999999"/>
                </a:solidFill>
                <a:latin typeface="メイリオ"/>
                <a:ea typeface="メイリオ"/>
                <a:cs typeface="メイリオ"/>
              </a:rPr>
              <a:t>（例：通数費の削減額）</a:t>
            </a:r>
          </a:p>
        </p:txBody>
      </p:sp>
      <p:sp>
        <p:nvSpPr>
          <p:cNvPr id="45" name="Rectangle 20">
            <a:extLst>
              <a:ext uri="{FF2B5EF4-FFF2-40B4-BE49-F238E27FC236}">
                <a16:creationId xmlns:a16="http://schemas.microsoft.com/office/drawing/2014/main" id="{B7F2AF46-39FB-CD72-C394-6101BBA1E6AE}"/>
              </a:ext>
            </a:extLst>
          </p:cNvPr>
          <p:cNvSpPr/>
          <p:nvPr/>
        </p:nvSpPr>
        <p:spPr>
          <a:xfrm>
            <a:off x="2121408" y="4946904"/>
            <a:ext cx="3794760"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通数費・運用工数の削減</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5943600" y="4946904"/>
            <a:ext cx="822960"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51" name="Rectangle 23">
            <a:extLst>
              <a:ext uri="{FF2B5EF4-FFF2-40B4-BE49-F238E27FC236}">
                <a16:creationId xmlns:a16="http://schemas.microsoft.com/office/drawing/2014/main" id="{B53BF0F8-9B97-5A93-DC50-8004A6ADA6B5}"/>
              </a:ext>
            </a:extLst>
          </p:cNvPr>
          <p:cNvSpPr/>
          <p:nvPr/>
        </p:nvSpPr>
        <p:spPr>
          <a:xfrm>
            <a:off x="841248" y="5897880"/>
            <a:ext cx="8156448" cy="603504"/>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◎＝最重視／○＝重視／△＝優先度は低い。</a:t>
            </a:r>
            <a:br>
              <a:rPr sz="1400" b="1">
                <a:solidFill>
                  <a:srgbClr val="1F2A5C"/>
                </a:solidFill>
                <a:latin typeface="メイリオ"/>
                <a:ea typeface="メイリオ"/>
                <a:cs typeface="メイリオ"/>
              </a:rPr>
            </a:br>
            <a:r>
              <a:rPr sz="1400" b="1">
                <a:solidFill>
                  <a:srgbClr val="1F2A5C"/>
                </a:solidFill>
                <a:latin typeface="メイリオ"/>
                <a:ea typeface="メイリオ"/>
                <a:cs typeface="メイリオ"/>
              </a:rPr>
              <a:t>ヒアリングで記入し、施策の配分と予算の目安に反映する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流入量・CV・CV地点から、LINEで拾えるユーザーの規模を見積もる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841248" y="1783080"/>
            <a:ext cx="207568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2944368" y="1783080"/>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CF4FAB5-94CA-8D75-4428-FE51AE61E877}"/>
              </a:ext>
            </a:extLst>
          </p:cNvPr>
          <p:cNvSpPr/>
          <p:nvPr/>
        </p:nvSpPr>
        <p:spPr>
          <a:xfrm>
            <a:off x="841248" y="2203704"/>
            <a:ext cx="2075688" cy="539496"/>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2944368" y="2203704"/>
            <a:ext cx="399592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サイト全体のユニークユーザー数</a:t>
            </a:r>
          </a:p>
        </p:txBody>
      </p:sp>
      <p:sp>
        <p:nvSpPr>
          <p:cNvPr id="24" name="Rectangle 9">
            <a:extLst>
              <a:ext uri="{FF2B5EF4-FFF2-40B4-BE49-F238E27FC236}">
                <a16:creationId xmlns:a16="http://schemas.microsoft.com/office/drawing/2014/main" id="{D73FA1D7-BEA3-B981-6155-AEFEF0286995}"/>
              </a:ext>
            </a:extLst>
          </p:cNvPr>
          <p:cNvSpPr/>
          <p:nvPr/>
        </p:nvSpPr>
        <p:spPr>
          <a:xfrm>
            <a:off x="841248" y="2770632"/>
            <a:ext cx="2075688" cy="539496"/>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2944368" y="2770632"/>
            <a:ext cx="399592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広告経由の流入と月間の広告費</a:t>
            </a:r>
          </a:p>
        </p:txBody>
      </p:sp>
      <p:sp>
        <p:nvSpPr>
          <p:cNvPr id="36" name="Rectangle 12">
            <a:extLst>
              <a:ext uri="{FF2B5EF4-FFF2-40B4-BE49-F238E27FC236}">
                <a16:creationId xmlns:a16="http://schemas.microsoft.com/office/drawing/2014/main" id="{697ECEAF-7BB9-7DE2-205B-BF4102EA1DC3}"/>
              </a:ext>
            </a:extLst>
          </p:cNvPr>
          <p:cNvSpPr/>
          <p:nvPr/>
        </p:nvSpPr>
        <p:spPr>
          <a:xfrm>
            <a:off x="841248" y="3337560"/>
            <a:ext cx="2075688" cy="539496"/>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2944368" y="3337560"/>
            <a:ext cx="399592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申込・予約・購入などの件数</a:t>
            </a:r>
          </a:p>
        </p:txBody>
      </p:sp>
      <p:sp>
        <p:nvSpPr>
          <p:cNvPr id="48" name="Rectangle 15">
            <a:extLst>
              <a:ext uri="{FF2B5EF4-FFF2-40B4-BE49-F238E27FC236}">
                <a16:creationId xmlns:a16="http://schemas.microsoft.com/office/drawing/2014/main" id="{61F4857C-44FC-330D-6E38-FCB957103270}"/>
              </a:ext>
            </a:extLst>
          </p:cNvPr>
          <p:cNvSpPr/>
          <p:nvPr/>
        </p:nvSpPr>
        <p:spPr>
          <a:xfrm>
            <a:off x="841248" y="3904487"/>
            <a:ext cx="2075688" cy="539496"/>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2944368" y="3904487"/>
            <a:ext cx="399592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電話／フォーム／来店予約／購入など</a:t>
            </a:r>
          </a:p>
        </p:txBody>
      </p:sp>
      <p:sp>
        <p:nvSpPr>
          <p:cNvPr id="57" name="Rectangle 18">
            <a:extLst>
              <a:ext uri="{FF2B5EF4-FFF2-40B4-BE49-F238E27FC236}">
                <a16:creationId xmlns:a16="http://schemas.microsoft.com/office/drawing/2014/main" id="{E3B3C022-C821-43A8-BDFA-36760FBCB427}"/>
              </a:ext>
            </a:extLst>
          </p:cNvPr>
          <p:cNvSpPr/>
          <p:nvPr/>
        </p:nvSpPr>
        <p:spPr>
          <a:xfrm>
            <a:off x="841248" y="4471416"/>
            <a:ext cx="2075688" cy="539496"/>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2944368" y="4471416"/>
            <a:ext cx="399592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SEO・広告・SNS・ディスプレイの比率</a:t>
            </a:r>
          </a:p>
        </p:txBody>
      </p:sp>
      <p:sp>
        <p:nvSpPr>
          <p:cNvPr id="63" name="Rectangle 21">
            <a:extLst>
              <a:ext uri="{FF2B5EF4-FFF2-40B4-BE49-F238E27FC236}">
                <a16:creationId xmlns:a16="http://schemas.microsoft.com/office/drawing/2014/main" id="{7313DF05-AD69-66C6-AA40-BD1CA81439B5}"/>
              </a:ext>
            </a:extLst>
          </p:cNvPr>
          <p:cNvSpPr/>
          <p:nvPr/>
        </p:nvSpPr>
        <p:spPr>
          <a:xfrm>
            <a:off x="841248" y="5038344"/>
            <a:ext cx="2075688" cy="539496"/>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2944368" y="5038344"/>
            <a:ext cx="399592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サイト上の友だち追加の入口の有無</a:t>
            </a:r>
          </a:p>
        </p:txBody>
      </p:sp>
      <p:sp>
        <p:nvSpPr>
          <p:cNvPr id="69" name="Rectangle 24">
            <a:extLst>
              <a:ext uri="{FF2B5EF4-FFF2-40B4-BE49-F238E27FC236}">
                <a16:creationId xmlns:a16="http://schemas.microsoft.com/office/drawing/2014/main" id="{C6E03287-2BFA-C776-5D36-CFA637C8C321}"/>
              </a:ext>
            </a:extLst>
          </p:cNvPr>
          <p:cNvSpPr/>
          <p:nvPr/>
        </p:nvSpPr>
        <p:spPr>
          <a:xfrm>
            <a:off x="841248" y="5605272"/>
            <a:ext cx="2075688" cy="539496"/>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リード保有数・他SNS</a:t>
            </a:r>
          </a:p>
        </p:txBody>
      </p:sp>
      <p:sp>
        <p:nvSpPr>
          <p:cNvPr id="76" name="Rectangle 5">
            <a:extLst>
              <a:ext uri="{FF2B5EF4-FFF2-40B4-BE49-F238E27FC236}">
                <a16:creationId xmlns:a16="http://schemas.microsoft.com/office/drawing/2014/main" id="{B38F1B92-D634-77F8-3356-02B435E0FAEE}"/>
              </a:ext>
            </a:extLst>
          </p:cNvPr>
          <p:cNvSpPr/>
          <p:nvPr/>
        </p:nvSpPr>
        <p:spPr>
          <a:xfrm>
            <a:off x="6967728" y="1783080"/>
            <a:ext cx="202996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77" name="Rectangle 8">
            <a:extLst>
              <a:ext uri="{FF2B5EF4-FFF2-40B4-BE49-F238E27FC236}">
                <a16:creationId xmlns:a16="http://schemas.microsoft.com/office/drawing/2014/main" id="{192BDBE0-827A-A566-E2C7-3CE69EF889BE}"/>
              </a:ext>
            </a:extLst>
          </p:cNvPr>
          <p:cNvSpPr/>
          <p:nvPr/>
        </p:nvSpPr>
        <p:spPr>
          <a:xfrm>
            <a:off x="6967728" y="2203704"/>
            <a:ext cx="202996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8" name="Rectangle 11">
            <a:extLst>
              <a:ext uri="{FF2B5EF4-FFF2-40B4-BE49-F238E27FC236}">
                <a16:creationId xmlns:a16="http://schemas.microsoft.com/office/drawing/2014/main" id="{DF2E3318-BC22-D10A-07C4-5D09E1B00A87}"/>
              </a:ext>
            </a:extLst>
          </p:cNvPr>
          <p:cNvSpPr/>
          <p:nvPr/>
        </p:nvSpPr>
        <p:spPr>
          <a:xfrm>
            <a:off x="6967728" y="2770632"/>
            <a:ext cx="202996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9" name="Rectangle 14">
            <a:extLst>
              <a:ext uri="{FF2B5EF4-FFF2-40B4-BE49-F238E27FC236}">
                <a16:creationId xmlns:a16="http://schemas.microsoft.com/office/drawing/2014/main" id="{2F30D830-C8E5-B05E-3354-E6780E4D8F34}"/>
              </a:ext>
            </a:extLst>
          </p:cNvPr>
          <p:cNvSpPr/>
          <p:nvPr/>
        </p:nvSpPr>
        <p:spPr>
          <a:xfrm>
            <a:off x="6967728" y="3337560"/>
            <a:ext cx="202996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80" name="Rectangle 17">
            <a:extLst>
              <a:ext uri="{FF2B5EF4-FFF2-40B4-BE49-F238E27FC236}">
                <a16:creationId xmlns:a16="http://schemas.microsoft.com/office/drawing/2014/main" id="{68B146F0-A9E6-7C8D-DC20-A149DB41E5D2}"/>
              </a:ext>
            </a:extLst>
          </p:cNvPr>
          <p:cNvSpPr/>
          <p:nvPr/>
        </p:nvSpPr>
        <p:spPr>
          <a:xfrm>
            <a:off x="6967728" y="3904487"/>
            <a:ext cx="202996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81" name="Rectangle 20">
            <a:extLst>
              <a:ext uri="{FF2B5EF4-FFF2-40B4-BE49-F238E27FC236}">
                <a16:creationId xmlns:a16="http://schemas.microsoft.com/office/drawing/2014/main" id="{886B0D5C-0C30-0B30-0BA4-E1C772ECF373}"/>
              </a:ext>
            </a:extLst>
          </p:cNvPr>
          <p:cNvSpPr/>
          <p:nvPr/>
        </p:nvSpPr>
        <p:spPr>
          <a:xfrm>
            <a:off x="6967728" y="4471416"/>
            <a:ext cx="202996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82" name="Rectangle 23">
            <a:extLst>
              <a:ext uri="{FF2B5EF4-FFF2-40B4-BE49-F238E27FC236}">
                <a16:creationId xmlns:a16="http://schemas.microsoft.com/office/drawing/2014/main" id="{22594C73-0280-1178-5856-83C2C8C7B870}"/>
              </a:ext>
            </a:extLst>
          </p:cNvPr>
          <p:cNvSpPr/>
          <p:nvPr/>
        </p:nvSpPr>
        <p:spPr>
          <a:xfrm>
            <a:off x="6967728" y="5038344"/>
            <a:ext cx="202996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83" name="Rectangle 26">
            <a:extLst>
              <a:ext uri="{FF2B5EF4-FFF2-40B4-BE49-F238E27FC236}">
                <a16:creationId xmlns:a16="http://schemas.microsoft.com/office/drawing/2014/main" id="{646B48C3-12AF-E6E5-8AEE-F4C5DD2EEC0C}"/>
              </a:ext>
            </a:extLst>
          </p:cNvPr>
          <p:cNvSpPr/>
          <p:nvPr/>
        </p:nvSpPr>
        <p:spPr>
          <a:xfrm>
            <a:off x="6967728" y="5605272"/>
            <a:ext cx="202996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1" name="Rectangle 25">
            <a:extLst>
              <a:ext uri="{FF2B5EF4-FFF2-40B4-BE49-F238E27FC236}">
                <a16:creationId xmlns:a16="http://schemas.microsoft.com/office/drawing/2014/main" id="{FC84BF14-9CF1-6C23-B694-B5ABD998471B}"/>
              </a:ext>
            </a:extLst>
          </p:cNvPr>
          <p:cNvSpPr/>
          <p:nvPr/>
        </p:nvSpPr>
        <p:spPr>
          <a:xfrm>
            <a:off x="2944368" y="5605272"/>
            <a:ext cx="3995928" cy="539496"/>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メール会員・他SNSのフォロワー数など</a:t>
            </a:r>
          </a:p>
        </p:txBody>
      </p:sp>
      <p:sp>
        <p:nvSpPr>
          <p:cNvPr id="75" name="Rectangle 27">
            <a:extLst>
              <a:ext uri="{FF2B5EF4-FFF2-40B4-BE49-F238E27FC236}">
                <a16:creationId xmlns:a16="http://schemas.microsoft.com/office/drawing/2014/main" id="{9173779F-195E-9786-2251-C130A6484F81}"/>
              </a:ext>
            </a:extLst>
          </p:cNvPr>
          <p:cNvSpPr/>
          <p:nvPr/>
        </p:nvSpPr>
        <p:spPr>
          <a:xfrm>
            <a:off x="841248" y="6307118"/>
            <a:ext cx="8156448"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836762" y="1780907"/>
            <a:ext cx="1714414"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2578608"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836762" y="2203668"/>
            <a:ext cx="1714414"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2578608"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累計と、直近の月間増加数</a:t>
            </a:r>
          </a:p>
        </p:txBody>
      </p:sp>
      <p:sp>
        <p:nvSpPr>
          <p:cNvPr id="24" name="Rectangle 9">
            <a:extLst>
              <a:ext uri="{FF2B5EF4-FFF2-40B4-BE49-F238E27FC236}">
                <a16:creationId xmlns:a16="http://schemas.microsoft.com/office/drawing/2014/main" id="{382D44E1-F4E2-5751-D452-0D8CCC481730}"/>
              </a:ext>
            </a:extLst>
          </p:cNvPr>
          <p:cNvSpPr/>
          <p:nvPr/>
        </p:nvSpPr>
        <p:spPr>
          <a:xfrm>
            <a:off x="836762" y="2809782"/>
            <a:ext cx="1714414"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2578608"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ブロック率、開封率、クリック率</a:t>
            </a:r>
          </a:p>
        </p:txBody>
      </p:sp>
      <p:sp>
        <p:nvSpPr>
          <p:cNvPr id="36" name="Rectangle 12">
            <a:extLst>
              <a:ext uri="{FF2B5EF4-FFF2-40B4-BE49-F238E27FC236}">
                <a16:creationId xmlns:a16="http://schemas.microsoft.com/office/drawing/2014/main" id="{C5BC36E1-E9EC-5F99-6730-862D59A7268A}"/>
              </a:ext>
            </a:extLst>
          </p:cNvPr>
          <p:cNvSpPr/>
          <p:nvPr/>
        </p:nvSpPr>
        <p:spPr>
          <a:xfrm>
            <a:off x="836762" y="3424605"/>
            <a:ext cx="1714414"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2578608"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一斉配信・ステップ配信の本数、月間通数</a:t>
            </a:r>
          </a:p>
        </p:txBody>
      </p:sp>
      <p:sp>
        <p:nvSpPr>
          <p:cNvPr id="48" name="Rectangle 15">
            <a:extLst>
              <a:ext uri="{FF2B5EF4-FFF2-40B4-BE49-F238E27FC236}">
                <a16:creationId xmlns:a16="http://schemas.microsoft.com/office/drawing/2014/main" id="{7A4A3E0B-F476-7DC4-F177-948A5D80A39F}"/>
              </a:ext>
            </a:extLst>
          </p:cNvPr>
          <p:cNvSpPr/>
          <p:nvPr/>
        </p:nvSpPr>
        <p:spPr>
          <a:xfrm>
            <a:off x="836762" y="4030719"/>
            <a:ext cx="1714414"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2578608"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LINE公式アカウントの料金プラン</a:t>
            </a:r>
          </a:p>
        </p:txBody>
      </p:sp>
      <p:sp>
        <p:nvSpPr>
          <p:cNvPr id="57" name="Rectangle 18">
            <a:extLst>
              <a:ext uri="{FF2B5EF4-FFF2-40B4-BE49-F238E27FC236}">
                <a16:creationId xmlns:a16="http://schemas.microsoft.com/office/drawing/2014/main" id="{279B2C05-4721-5850-5790-24F42D16195C}"/>
              </a:ext>
            </a:extLst>
          </p:cNvPr>
          <p:cNvSpPr/>
          <p:nvPr/>
        </p:nvSpPr>
        <p:spPr>
          <a:xfrm>
            <a:off x="836762" y="4645542"/>
            <a:ext cx="1714414"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2578608"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APIツール（Lステップ等）の有無・プラン</a:t>
            </a:r>
          </a:p>
        </p:txBody>
      </p:sp>
      <p:sp>
        <p:nvSpPr>
          <p:cNvPr id="63" name="Rectangle 21">
            <a:extLst>
              <a:ext uri="{FF2B5EF4-FFF2-40B4-BE49-F238E27FC236}">
                <a16:creationId xmlns:a16="http://schemas.microsoft.com/office/drawing/2014/main" id="{F4210959-8935-1BA3-A155-B4D4B1BE79EA}"/>
              </a:ext>
            </a:extLst>
          </p:cNvPr>
          <p:cNvSpPr/>
          <p:nvPr/>
        </p:nvSpPr>
        <p:spPr>
          <a:xfrm>
            <a:off x="836762" y="5251655"/>
            <a:ext cx="1714414"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全体費用感</a:t>
            </a:r>
          </a:p>
        </p:txBody>
      </p:sp>
      <p:sp>
        <p:nvSpPr>
          <p:cNvPr id="70" name="Rectangle 5">
            <a:extLst>
              <a:ext uri="{FF2B5EF4-FFF2-40B4-BE49-F238E27FC236}">
                <a16:creationId xmlns:a16="http://schemas.microsoft.com/office/drawing/2014/main" id="{5BA3C8AC-F83B-8887-50C2-B4AED74F4F54}"/>
              </a:ext>
            </a:extLst>
          </p:cNvPr>
          <p:cNvSpPr/>
          <p:nvPr/>
        </p:nvSpPr>
        <p:spPr>
          <a:xfrm>
            <a:off x="6601968" y="1780907"/>
            <a:ext cx="2395383"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00" b="1">
                <a:solidFill>
                  <a:srgbClr val="FFFFFF"/>
                </a:solidFill>
                <a:latin typeface="メイリオ"/>
                <a:ea typeface="メイリオ"/>
                <a:cs typeface="メイリオ"/>
              </a:rPr>
              <a:t>数値・内容</a:t>
            </a:r>
          </a:p>
        </p:txBody>
      </p:sp>
      <p:sp>
        <p:nvSpPr>
          <p:cNvPr id="71" name="Rectangle 8">
            <a:extLst>
              <a:ext uri="{FF2B5EF4-FFF2-40B4-BE49-F238E27FC236}">
                <a16:creationId xmlns:a16="http://schemas.microsoft.com/office/drawing/2014/main" id="{090C52B4-5C5E-4082-D9D0-B3F682D1D56B}"/>
              </a:ext>
            </a:extLst>
          </p:cNvPr>
          <p:cNvSpPr/>
          <p:nvPr/>
        </p:nvSpPr>
        <p:spPr>
          <a:xfrm>
            <a:off x="6601968" y="2203668"/>
            <a:ext cx="2395383"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2" name="Rectangle 11">
            <a:extLst>
              <a:ext uri="{FF2B5EF4-FFF2-40B4-BE49-F238E27FC236}">
                <a16:creationId xmlns:a16="http://schemas.microsoft.com/office/drawing/2014/main" id="{5D95E04F-E0EF-7048-CE4F-52EF8E06A51C}"/>
              </a:ext>
            </a:extLst>
          </p:cNvPr>
          <p:cNvSpPr/>
          <p:nvPr/>
        </p:nvSpPr>
        <p:spPr>
          <a:xfrm>
            <a:off x="6601968" y="2809782"/>
            <a:ext cx="2395383"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3" name="Rectangle 14">
            <a:extLst>
              <a:ext uri="{FF2B5EF4-FFF2-40B4-BE49-F238E27FC236}">
                <a16:creationId xmlns:a16="http://schemas.microsoft.com/office/drawing/2014/main" id="{8DF123B9-F9C1-F5AC-B9B8-847E3B54BB6E}"/>
              </a:ext>
            </a:extLst>
          </p:cNvPr>
          <p:cNvSpPr/>
          <p:nvPr/>
        </p:nvSpPr>
        <p:spPr>
          <a:xfrm>
            <a:off x="6601968" y="3424605"/>
            <a:ext cx="2395383"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4" name="Rectangle 17">
            <a:extLst>
              <a:ext uri="{FF2B5EF4-FFF2-40B4-BE49-F238E27FC236}">
                <a16:creationId xmlns:a16="http://schemas.microsoft.com/office/drawing/2014/main" id="{8586DBF7-7FC5-FCBD-008A-A179145000C4}"/>
              </a:ext>
            </a:extLst>
          </p:cNvPr>
          <p:cNvSpPr/>
          <p:nvPr/>
        </p:nvSpPr>
        <p:spPr>
          <a:xfrm>
            <a:off x="6601968" y="4030719"/>
            <a:ext cx="2395383"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5" name="Rectangle 20">
            <a:extLst>
              <a:ext uri="{FF2B5EF4-FFF2-40B4-BE49-F238E27FC236}">
                <a16:creationId xmlns:a16="http://schemas.microsoft.com/office/drawing/2014/main" id="{DB7FB4C0-51C6-3078-A140-B7A1B50F861A}"/>
              </a:ext>
            </a:extLst>
          </p:cNvPr>
          <p:cNvSpPr/>
          <p:nvPr/>
        </p:nvSpPr>
        <p:spPr>
          <a:xfrm>
            <a:off x="6601968" y="4645542"/>
            <a:ext cx="2395383"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76" name="Rectangle 23">
            <a:extLst>
              <a:ext uri="{FF2B5EF4-FFF2-40B4-BE49-F238E27FC236}">
                <a16:creationId xmlns:a16="http://schemas.microsoft.com/office/drawing/2014/main" id="{0B10266D-13DE-7185-5A31-5B2D7BD7491A}"/>
              </a:ext>
            </a:extLst>
          </p:cNvPr>
          <p:cNvSpPr/>
          <p:nvPr/>
        </p:nvSpPr>
        <p:spPr>
          <a:xfrm>
            <a:off x="6601968" y="5251655"/>
            <a:ext cx="2395383"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50" b="0">
                <a:solidFill>
                  <a:srgbClr val="999999"/>
                </a:solidFill>
                <a:latin typeface="メイリオ"/>
                <a:ea typeface="メイリオ"/>
                <a:cs typeface="メイリオ"/>
              </a:rPr>
              <a:t>（ご記入）</a:t>
            </a:r>
          </a:p>
        </p:txBody>
      </p:sp>
      <p:sp>
        <p:nvSpPr>
          <p:cNvPr id="65" name="Rectangle 22">
            <a:extLst>
              <a:ext uri="{FF2B5EF4-FFF2-40B4-BE49-F238E27FC236}">
                <a16:creationId xmlns:a16="http://schemas.microsoft.com/office/drawing/2014/main" id="{16CDB4BF-4971-BB2D-5EDB-62359C5FCF0B}"/>
              </a:ext>
            </a:extLst>
          </p:cNvPr>
          <p:cNvSpPr/>
          <p:nvPr/>
        </p:nvSpPr>
        <p:spPr>
          <a:xfrm>
            <a:off x="2578608"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アカウント費・ツール費・運用費・</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通数費の月額合計</a:t>
            </a:r>
          </a:p>
        </p:txBody>
      </p:sp>
      <p:sp>
        <p:nvSpPr>
          <p:cNvPr id="69" name="Rectangle 24">
            <a:extLst>
              <a:ext uri="{FF2B5EF4-FFF2-40B4-BE49-F238E27FC236}">
                <a16:creationId xmlns:a16="http://schemas.microsoft.com/office/drawing/2014/main" id="{809B7433-BAD1-B81E-97BD-B889CD809E11}"/>
              </a:ext>
            </a:extLst>
          </p:cNvPr>
          <p:cNvSpPr/>
          <p:nvPr/>
        </p:nvSpPr>
        <p:spPr>
          <a:xfrm>
            <a:off x="836762" y="6000207"/>
            <a:ext cx="8160589"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アクティブ率・通数費の現状を見て、セグメント配信などで改善できる範囲を提案に反映する</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配信の体制や社内の確認の流れなど、運用の進め方に関わる確認事項</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841248" y="1783080"/>
            <a:ext cx="1709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2578608" y="1783080"/>
            <a:ext cx="641908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841248" y="2203704"/>
            <a:ext cx="1709928" cy="566928"/>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配信の確認体制</a:t>
            </a:r>
          </a:p>
        </p:txBody>
      </p:sp>
      <p:sp>
        <p:nvSpPr>
          <p:cNvPr id="17" name="Rectangle 7">
            <a:extLst>
              <a:ext uri="{FF2B5EF4-FFF2-40B4-BE49-F238E27FC236}">
                <a16:creationId xmlns:a16="http://schemas.microsoft.com/office/drawing/2014/main" id="{18AC0B76-9D3D-7E03-E909-B45DC15D43B6}"/>
              </a:ext>
            </a:extLst>
          </p:cNvPr>
          <p:cNvSpPr/>
          <p:nvPr/>
        </p:nvSpPr>
        <p:spPr>
          <a:xfrm>
            <a:off x="2578608" y="2203704"/>
            <a:ext cx="6419088" cy="56692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確認する方・承認の流れ・確認にかかる日数</a:t>
            </a:r>
          </a:p>
        </p:txBody>
      </p:sp>
      <p:sp>
        <p:nvSpPr>
          <p:cNvPr id="2" name="Rectangle 6">
            <a:extLst>
              <a:ext uri="{FF2B5EF4-FFF2-40B4-BE49-F238E27FC236}">
                <a16:creationId xmlns:a16="http://schemas.microsoft.com/office/drawing/2014/main" id="{E019A0C2-CAAE-25A0-61D2-699B65C42417}"/>
              </a:ext>
            </a:extLst>
          </p:cNvPr>
          <p:cNvSpPr/>
          <p:nvPr/>
        </p:nvSpPr>
        <p:spPr>
          <a:xfrm>
            <a:off x="841248" y="2811780"/>
            <a:ext cx="1709928" cy="566928"/>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窓口・素材</a:t>
            </a:r>
          </a:p>
        </p:txBody>
      </p:sp>
      <p:sp>
        <p:nvSpPr>
          <p:cNvPr id="6" name="Rectangle 7">
            <a:extLst>
              <a:ext uri="{FF2B5EF4-FFF2-40B4-BE49-F238E27FC236}">
                <a16:creationId xmlns:a16="http://schemas.microsoft.com/office/drawing/2014/main" id="{18AC0B76-9D3D-7E03-E909-B45DC15D43B6}"/>
              </a:ext>
            </a:extLst>
          </p:cNvPr>
          <p:cNvSpPr/>
          <p:nvPr/>
        </p:nvSpPr>
        <p:spPr>
          <a:xfrm>
            <a:off x="2578608" y="2811780"/>
            <a:ext cx="6419088" cy="56692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社内の窓口、写真・事例などの素材</a:t>
            </a:r>
          </a:p>
        </p:txBody>
      </p:sp>
      <p:sp>
        <p:nvSpPr>
          <p:cNvPr id="7" name="Rectangle 6">
            <a:extLst>
              <a:ext uri="{FF2B5EF4-FFF2-40B4-BE49-F238E27FC236}">
                <a16:creationId xmlns:a16="http://schemas.microsoft.com/office/drawing/2014/main" id="{E019A0C2-CAAE-25A0-61D2-699B65C42417}"/>
              </a:ext>
            </a:extLst>
          </p:cNvPr>
          <p:cNvSpPr/>
          <p:nvPr/>
        </p:nvSpPr>
        <p:spPr>
          <a:xfrm>
            <a:off x="841248" y="3419856"/>
            <a:ext cx="1709928" cy="566928"/>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年間の予定</a:t>
            </a:r>
          </a:p>
        </p:txBody>
      </p:sp>
      <p:sp>
        <p:nvSpPr>
          <p:cNvPr id="9" name="Rectangle 7">
            <a:extLst>
              <a:ext uri="{FF2B5EF4-FFF2-40B4-BE49-F238E27FC236}">
                <a16:creationId xmlns:a16="http://schemas.microsoft.com/office/drawing/2014/main" id="{18AC0B76-9D3D-7E03-E909-B45DC15D43B6}"/>
              </a:ext>
            </a:extLst>
          </p:cNvPr>
          <p:cNvSpPr/>
          <p:nvPr/>
        </p:nvSpPr>
        <p:spPr>
          <a:xfrm>
            <a:off x="2578608" y="3419856"/>
            <a:ext cx="6419088" cy="56692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繁忙期・キャンペーン・イベントの時期</a:t>
            </a:r>
          </a:p>
        </p:txBody>
      </p:sp>
      <p:sp>
        <p:nvSpPr>
          <p:cNvPr id="10" name="Rectangle 6">
            <a:extLst>
              <a:ext uri="{FF2B5EF4-FFF2-40B4-BE49-F238E27FC236}">
                <a16:creationId xmlns:a16="http://schemas.microsoft.com/office/drawing/2014/main" id="{E019A0C2-CAAE-25A0-61D2-699B65C42417}"/>
              </a:ext>
            </a:extLst>
          </p:cNvPr>
          <p:cNvSpPr/>
          <p:nvPr/>
        </p:nvSpPr>
        <p:spPr>
          <a:xfrm>
            <a:off x="841248" y="4027932"/>
            <a:ext cx="1709928" cy="566928"/>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予約・顧客管理</a:t>
            </a:r>
          </a:p>
        </p:txBody>
      </p:sp>
      <p:sp>
        <p:nvSpPr>
          <p:cNvPr id="11" name="Rectangle 7">
            <a:extLst>
              <a:ext uri="{FF2B5EF4-FFF2-40B4-BE49-F238E27FC236}">
                <a16:creationId xmlns:a16="http://schemas.microsoft.com/office/drawing/2014/main" id="{18AC0B76-9D3D-7E03-E909-B45DC15D43B6}"/>
              </a:ext>
            </a:extLst>
          </p:cNvPr>
          <p:cNvSpPr/>
          <p:nvPr/>
        </p:nvSpPr>
        <p:spPr>
          <a:xfrm>
            <a:off x="2578608" y="4027932"/>
            <a:ext cx="6419088" cy="56692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使っているシステムと、LINE連携の可否</a:t>
            </a:r>
          </a:p>
        </p:txBody>
      </p:sp>
      <p:sp>
        <p:nvSpPr>
          <p:cNvPr id="12" name="Rectangle 6">
            <a:extLst>
              <a:ext uri="{FF2B5EF4-FFF2-40B4-BE49-F238E27FC236}">
                <a16:creationId xmlns:a16="http://schemas.microsoft.com/office/drawing/2014/main" id="{E019A0C2-CAAE-25A0-61D2-699B65C42417}"/>
              </a:ext>
            </a:extLst>
          </p:cNvPr>
          <p:cNvSpPr/>
          <p:nvPr/>
        </p:nvSpPr>
        <p:spPr>
          <a:xfrm>
            <a:off x="841248" y="4636008"/>
            <a:ext cx="1709928" cy="566928"/>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表現の決まり</a:t>
            </a:r>
          </a:p>
        </p:txBody>
      </p:sp>
      <p:sp>
        <p:nvSpPr>
          <p:cNvPr id="13" name="Rectangle 7">
            <a:extLst>
              <a:ext uri="{FF2B5EF4-FFF2-40B4-BE49-F238E27FC236}">
                <a16:creationId xmlns:a16="http://schemas.microsoft.com/office/drawing/2014/main" id="{18AC0B76-9D3D-7E03-E909-B45DC15D43B6}"/>
              </a:ext>
            </a:extLst>
          </p:cNvPr>
          <p:cNvSpPr/>
          <p:nvPr/>
        </p:nvSpPr>
        <p:spPr>
          <a:xfrm>
            <a:off x="2578608" y="4636008"/>
            <a:ext cx="6419088" cy="56692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業法・社内ルールで使えない表現</a:t>
            </a:r>
          </a:p>
        </p:txBody>
      </p:sp>
      <p:sp>
        <p:nvSpPr>
          <p:cNvPr id="69" name="Rectangle 24">
            <a:extLst>
              <a:ext uri="{FF2B5EF4-FFF2-40B4-BE49-F238E27FC236}">
                <a16:creationId xmlns:a16="http://schemas.microsoft.com/office/drawing/2014/main" id="{A485A409-0FAF-105F-F311-A3F789094A81}"/>
              </a:ext>
            </a:extLst>
          </p:cNvPr>
          <p:cNvSpPr/>
          <p:nvPr/>
        </p:nvSpPr>
        <p:spPr>
          <a:xfrm>
            <a:off x="841248" y="5897880"/>
            <a:ext cx="8156448" cy="603504"/>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400" b="1" dirty="0">
                <a:solidFill>
                  <a:srgbClr val="1F2A5C"/>
                </a:solidFill>
                <a:latin typeface="メイリオ"/>
                <a:ea typeface="メイリオ"/>
                <a:cs typeface="メイリオ"/>
              </a:rPr>
              <a:t>LINE Official</a:t>
            </a:r>
            <a:r>
              <a:rPr lang="ja-JP" altLang="en-US" sz="1400" b="1" dirty="0">
                <a:solidFill>
                  <a:srgbClr val="1F2A5C"/>
                </a:solidFill>
                <a:latin typeface="メイリオ"/>
                <a:ea typeface="メイリオ"/>
                <a:cs typeface="メイリオ"/>
              </a:rPr>
              <a:t> </a:t>
            </a:r>
            <a:r>
              <a:rPr lang="en-US" altLang="ja-JP" sz="1400" b="1" dirty="0">
                <a:solidFill>
                  <a:srgbClr val="1F2A5C"/>
                </a:solidFill>
                <a:latin typeface="メイリオ"/>
                <a:ea typeface="メイリオ"/>
                <a:cs typeface="メイリオ"/>
              </a:rPr>
              <a:t>Manager</a:t>
            </a:r>
            <a:r>
              <a:rPr lang="ja-JP" altLang="en-US" sz="1400" b="1" dirty="0">
                <a:solidFill>
                  <a:srgbClr val="1F2A5C"/>
                </a:solidFill>
                <a:latin typeface="メイリオ"/>
                <a:ea typeface="メイリオ"/>
                <a:cs typeface="メイリオ"/>
              </a:rPr>
              <a:t>、</a:t>
            </a:r>
            <a:r>
              <a:rPr lang="en-US" altLang="ja-JP" sz="1400" b="1" dirty="0">
                <a:solidFill>
                  <a:srgbClr val="1F2A5C"/>
                </a:solidFill>
                <a:latin typeface="メイリオ"/>
                <a:ea typeface="メイリオ"/>
                <a:cs typeface="メイリオ"/>
              </a:rPr>
              <a:t>API</a:t>
            </a:r>
            <a:r>
              <a:rPr lang="ja-JP" altLang="en-US" sz="1400" b="1" dirty="0">
                <a:solidFill>
                  <a:srgbClr val="1F2A5C"/>
                </a:solidFill>
                <a:latin typeface="メイリオ"/>
                <a:ea typeface="メイリオ"/>
                <a:cs typeface="メイリオ"/>
              </a:rPr>
              <a:t>ツール等、配信にかかわる</a:t>
            </a:r>
            <a:br>
              <a:rPr lang="ja-JP" altLang="en-US" sz="1400" b="1" dirty="0">
                <a:solidFill>
                  <a:srgbClr val="1F2A5C"/>
                </a:solidFill>
                <a:latin typeface="メイリオ"/>
                <a:ea typeface="メイリオ"/>
                <a:cs typeface="メイリオ"/>
              </a:rPr>
            </a:br>
            <a:r>
              <a:rPr lang="ja-JP" altLang="en-US" sz="1400" b="1" dirty="0">
                <a:solidFill>
                  <a:srgbClr val="1F2A5C"/>
                </a:solidFill>
                <a:latin typeface="メイリオ"/>
                <a:ea typeface="メイリオ"/>
                <a:cs typeface="メイリオ"/>
              </a:rPr>
              <a:t>管理画面の共有をいただければ詳細なご提案が可能</a:t>
            </a:r>
            <a:endParaRPr sz="1400" b="1" dirty="0">
              <a:solidFill>
                <a:srgbClr val="1F2A5C"/>
              </a:solidFill>
              <a:latin typeface="メイリオ"/>
              <a:ea typeface="メイリオ"/>
              <a:cs typeface="メイリオ"/>
            </a:endParaRP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ポップアップ</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80596" y="846996"/>
            <a:ext cx="4575836" cy="307777"/>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
        <p:nvSpPr>
          <p:cNvPr id="1053" name="Rectangle 1052"/>
          <p:cNvSpPr/>
          <p:nvPr/>
        </p:nvSpPr>
        <p:spPr>
          <a:xfrm>
            <a:off x="4178808" y="1216152"/>
            <a:ext cx="114300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初期：15万円</a:t>
            </a:r>
          </a:p>
        </p:txBody>
      </p:sp>
      <p:sp>
        <p:nvSpPr>
          <p:cNvPr id="1054" name="Rectangle 1053"/>
          <p:cNvSpPr/>
          <p:nvPr/>
        </p:nvSpPr>
        <p:spPr>
          <a:xfrm>
            <a:off x="5394960" y="1216152"/>
            <a:ext cx="210312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月額3万円〜＋設定地点追加</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FF"/>
                </a:solidFill>
                <a:latin typeface="メイリオ" panose="020B0604030504040204" pitchFamily="50" charset="-128"/>
                <a:ea typeface="メイリオ" panose="020B0604030504040204" pitchFamily="50" charset="-128"/>
              </a:rPr>
              <a:t>※CPF</a:t>
            </a:r>
            <a:r>
              <a:rPr lang="ja-JP" altLang="en-US" sz="1200" b="1" dirty="0">
                <a:solidFill>
                  <a:srgbClr val="FFFFFF"/>
                </a:solidFill>
                <a:latin typeface="メイリオ" panose="020B0604030504040204" pitchFamily="50" charset="-128"/>
                <a:ea typeface="メイリオ" panose="020B0604030504040204" pitchFamily="50" charset="-128"/>
              </a:rPr>
              <a:t>広告</a:t>
            </a:r>
            <a:r>
              <a:rPr lang="en-US" altLang="ja-JP" sz="1200" b="1" dirty="0">
                <a:solidFill>
                  <a:srgbClr val="FFFFFF"/>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2"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LINEの友だちへ</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0BEFA75-B102-C230-3C22-72F3A514CEB4}"/>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7F6B650E-CBCB-6054-2356-DEAFE87D97A9}"/>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F459B5A5-8632-46A3-40F1-E4DEBFD1FCA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Rectangle 88"/>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90" name="Rectangle 89"/>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購入者・既存顧客</a:t>
            </a:r>
          </a:p>
          <a:p>
            <a:pPr algn="l">
              <a:lnSpc>
                <a:spcPct val="110000"/>
              </a:lnSpc>
              <a:spcAft>
                <a:spcPts val="0"/>
              </a:spcAft>
            </a:pPr>
            <a:r>
              <a:rPr sz="1050" b="0">
                <a:solidFill>
                  <a:srgbClr val="333333"/>
                </a:solidFill>
                <a:latin typeface="メイリオ"/>
                <a:ea typeface="メイリオ"/>
                <a:cs typeface="メイリオ"/>
              </a:rPr>
              <a:t>同梱物QR／購入完了画面／マイページ</a:t>
            </a:r>
          </a:p>
        </p:txBody>
      </p:sp>
      <p:sp>
        <p:nvSpPr>
          <p:cNvPr id="91" name="TextBox 90"/>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2" name="Rectangle 91"/>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93" name="Rectangle 92"/>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友だち追加</a:t>
            </a:r>
          </a:p>
          <a:p>
            <a:pPr algn="l">
              <a:lnSpc>
                <a:spcPct val="110000"/>
              </a:lnSpc>
              <a:spcAft>
                <a:spcPts val="0"/>
              </a:spcAft>
            </a:pPr>
            <a:r>
              <a:rPr sz="1050" b="0">
                <a:solidFill>
                  <a:srgbClr val="333333"/>
                </a:solidFill>
                <a:latin typeface="メイリオ"/>
                <a:ea typeface="メイリオ"/>
                <a:cs typeface="メイリオ"/>
              </a:rPr>
              <a:t>「解約・休止もLINEでできます」</a:t>
            </a:r>
          </a:p>
        </p:txBody>
      </p:sp>
      <p:sp>
        <p:nvSpPr>
          <p:cNvPr id="94" name="TextBox 93"/>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5" name="Rectangle 94"/>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96" name="Rectangle 95"/>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あいさつメッセージ</a:t>
            </a:r>
          </a:p>
          <a:p>
            <a:pPr algn="l">
              <a:lnSpc>
                <a:spcPct val="110000"/>
              </a:lnSpc>
              <a:spcAft>
                <a:spcPts val="0"/>
              </a:spcAft>
            </a:pPr>
            <a:r>
              <a:rPr sz="1050" b="0">
                <a:solidFill>
                  <a:srgbClr val="333333"/>
                </a:solidFill>
                <a:latin typeface="メイリオ"/>
                <a:ea typeface="メイリオ"/>
                <a:cs typeface="メイリオ"/>
              </a:rPr>
              <a:t>初期アンケート（使用頻度）</a:t>
            </a:r>
          </a:p>
        </p:txBody>
      </p:sp>
      <p:sp>
        <p:nvSpPr>
          <p:cNvPr id="97" name="TextBox 96"/>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8" name="Rectangle 97"/>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99" name="Rectangle 98"/>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友だちとしてつながり続ける</a:t>
            </a:r>
          </a:p>
        </p:txBody>
      </p:sp>
      <p:sp>
        <p:nvSpPr>
          <p:cNvPr id="100" name="TextBox 99"/>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購入した方を、確実に</a:t>
            </a:r>
          </a:p>
          <a:p>
            <a:pPr algn="l">
              <a:lnSpc>
                <a:spcPct val="105000"/>
              </a:lnSpc>
              <a:spcAft>
                <a:spcPts val="200"/>
              </a:spcAft>
            </a:pPr>
            <a:r>
              <a:rPr sz="1200" b="0">
                <a:solidFill>
                  <a:srgbClr val="333333"/>
                </a:solidFill>
                <a:latin typeface="メイリオ"/>
                <a:ea typeface="メイリオ"/>
                <a:cs typeface="メイリオ"/>
              </a:rPr>
              <a:t>LINEの友だちにする</a:t>
            </a:r>
          </a:p>
        </p:txBody>
      </p:sp>
      <p:sp>
        <p:nvSpPr>
          <p:cNvPr id="101" name="TextBox 100"/>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初回購入した方／</a:t>
            </a:r>
          </a:p>
          <a:p>
            <a:pPr algn="l">
              <a:lnSpc>
                <a:spcPct val="105000"/>
              </a:lnSpc>
              <a:spcAft>
                <a:spcPts val="200"/>
              </a:spcAft>
            </a:pPr>
            <a:r>
              <a:rPr sz="1200" b="0">
                <a:solidFill>
                  <a:srgbClr val="333333"/>
                </a:solidFill>
                <a:latin typeface="メイリオ"/>
                <a:ea typeface="メイリオ"/>
                <a:cs typeface="メイリオ"/>
              </a:rPr>
              <a:t>定期で購入している方</a:t>
            </a:r>
          </a:p>
        </p:txBody>
      </p:sp>
      <p:sp>
        <p:nvSpPr>
          <p:cNvPr id="102" name="TextBox 101"/>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同梱物QR（主役）／</a:t>
            </a:r>
          </a:p>
          <a:p>
            <a:pPr algn="l">
              <a:lnSpc>
                <a:spcPct val="105000"/>
              </a:lnSpc>
              <a:spcAft>
                <a:spcPts val="200"/>
              </a:spcAft>
            </a:pPr>
            <a:r>
              <a:rPr sz="1200" b="0">
                <a:solidFill>
                  <a:srgbClr val="333333"/>
                </a:solidFill>
                <a:latin typeface="メイリオ"/>
                <a:ea typeface="メイリオ"/>
                <a:cs typeface="メイリオ"/>
              </a:rPr>
              <a:t>購入完了画面・マイページ／</a:t>
            </a:r>
          </a:p>
          <a:p>
            <a:pPr algn="l">
              <a:lnSpc>
                <a:spcPct val="105000"/>
              </a:lnSpc>
              <a:spcAft>
                <a:spcPts val="200"/>
              </a:spcAft>
            </a:pPr>
            <a:r>
              <a:rPr sz="1200" b="0">
                <a:solidFill>
                  <a:srgbClr val="333333"/>
                </a:solidFill>
                <a:latin typeface="メイリオ"/>
                <a:ea typeface="メイリオ"/>
                <a:cs typeface="メイリオ"/>
              </a:rPr>
              <a:t>通知メッセージで既存顧客へ</a:t>
            </a:r>
          </a:p>
        </p:txBody>
      </p:sp>
      <p:sp>
        <p:nvSpPr>
          <p:cNvPr id="103" name="TextBox 102"/>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友だち追加数／</a:t>
            </a:r>
          </a:p>
          <a:p>
            <a:pPr algn="l">
              <a:lnSpc>
                <a:spcPct val="105000"/>
              </a:lnSpc>
              <a:spcAft>
                <a:spcPts val="200"/>
              </a:spcAft>
            </a:pPr>
            <a:r>
              <a:rPr sz="1200" b="0">
                <a:solidFill>
                  <a:srgbClr val="333333"/>
                </a:solidFill>
                <a:latin typeface="メイリオ"/>
                <a:ea typeface="メイリオ"/>
                <a:cs typeface="メイリオ"/>
              </a:rPr>
              <a:t>購入者のうちの追加率</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露出の強化</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Rectangle 84"/>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86" name="Rectangle 85"/>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友だち全体</a:t>
            </a:r>
          </a:p>
        </p:txBody>
      </p:sp>
      <p:sp>
        <p:nvSpPr>
          <p:cNvPr id="87" name="TextBox 86"/>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88" name="Rectangle 87"/>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89" name="Rectangle 88"/>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企画配信</a:t>
            </a:r>
          </a:p>
          <a:p>
            <a:pPr algn="l">
              <a:lnSpc>
                <a:spcPct val="110000"/>
              </a:lnSpc>
              <a:spcAft>
                <a:spcPts val="0"/>
              </a:spcAft>
            </a:pPr>
            <a:r>
              <a:rPr sz="1050" b="0">
                <a:solidFill>
                  <a:srgbClr val="333333"/>
                </a:solidFill>
                <a:latin typeface="メイリオ"/>
                <a:ea typeface="メイリオ"/>
                <a:cs typeface="メイリオ"/>
              </a:rPr>
              <a:t>季節・新商品・限定セット</a:t>
            </a:r>
          </a:p>
        </p:txBody>
      </p:sp>
      <p:sp>
        <p:nvSpPr>
          <p:cNvPr id="90" name="TextBox 89"/>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1" name="Rectangle 90"/>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92" name="Rectangle 91"/>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年間の企画投稿カレンダーに沿って案内</a:t>
            </a:r>
          </a:p>
        </p:txBody>
      </p:sp>
      <p:sp>
        <p:nvSpPr>
          <p:cNvPr id="93" name="TextBox 92"/>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4" name="Rectangle 93"/>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95" name="Rectangle 94"/>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まとめ買い・関連商品の購入</a:t>
            </a:r>
          </a:p>
        </p:txBody>
      </p:sp>
      <p:sp>
        <p:nvSpPr>
          <p:cNvPr id="96" name="TextBox 95"/>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季節や新商品の情報を届け、</a:t>
            </a:r>
          </a:p>
          <a:p>
            <a:pPr algn="l">
              <a:lnSpc>
                <a:spcPct val="105000"/>
              </a:lnSpc>
              <a:spcAft>
                <a:spcPts val="200"/>
              </a:spcAft>
            </a:pPr>
            <a:r>
              <a:rPr sz="1200" b="0">
                <a:solidFill>
                  <a:srgbClr val="333333"/>
                </a:solidFill>
                <a:latin typeface="メイリオ"/>
                <a:ea typeface="メイリオ"/>
                <a:cs typeface="メイリオ"/>
              </a:rPr>
              <a:t>接触の量を増やす</a:t>
            </a:r>
          </a:p>
        </p:txBody>
      </p:sp>
      <p:sp>
        <p:nvSpPr>
          <p:cNvPr id="97" name="TextBox 96"/>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友だち全体</a:t>
            </a:r>
          </a:p>
          <a:p>
            <a:pPr algn="l">
              <a:lnSpc>
                <a:spcPct val="105000"/>
              </a:lnSpc>
              <a:spcAft>
                <a:spcPts val="200"/>
              </a:spcAft>
            </a:pPr>
            <a:r>
              <a:rPr sz="1200" b="0">
                <a:solidFill>
                  <a:srgbClr val="333333"/>
                </a:solidFill>
                <a:latin typeface="メイリオ"/>
                <a:ea typeface="メイリオ"/>
                <a:cs typeface="メイリオ"/>
              </a:rPr>
              <a:t>（定期・単品で購入の方を含む）</a:t>
            </a:r>
          </a:p>
        </p:txBody>
      </p:sp>
      <p:sp>
        <p:nvSpPr>
          <p:cNvPr id="98" name="TextBox 97"/>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年間の企画投稿カレンダー／</a:t>
            </a:r>
          </a:p>
          <a:p>
            <a:pPr algn="l">
              <a:lnSpc>
                <a:spcPct val="105000"/>
              </a:lnSpc>
              <a:spcAft>
                <a:spcPts val="200"/>
              </a:spcAft>
            </a:pPr>
            <a:r>
              <a:rPr sz="1200" b="0">
                <a:solidFill>
                  <a:srgbClr val="333333"/>
                </a:solidFill>
                <a:latin typeface="メイリオ"/>
                <a:ea typeface="メイリオ"/>
                <a:cs typeface="メイリオ"/>
              </a:rPr>
              <a:t>新商品・限定セットの案内／</a:t>
            </a:r>
          </a:p>
          <a:p>
            <a:pPr algn="l">
              <a:lnSpc>
                <a:spcPct val="105000"/>
              </a:lnSpc>
              <a:spcAft>
                <a:spcPts val="200"/>
              </a:spcAft>
            </a:pPr>
            <a:r>
              <a:rPr sz="1200" b="0">
                <a:solidFill>
                  <a:srgbClr val="333333"/>
                </a:solidFill>
                <a:latin typeface="メイリオ"/>
                <a:ea typeface="メイリオ"/>
                <a:cs typeface="メイリオ"/>
              </a:rPr>
              <a:t>売り込みにならない情報の配信</a:t>
            </a:r>
          </a:p>
        </p:txBody>
      </p:sp>
      <p:sp>
        <p:nvSpPr>
          <p:cNvPr id="99" name="TextBox 98"/>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配信到達数・開封率／</a:t>
            </a:r>
          </a:p>
          <a:p>
            <a:pPr algn="l">
              <a:lnSpc>
                <a:spcPct val="105000"/>
              </a:lnSpc>
              <a:spcAft>
                <a:spcPts val="200"/>
              </a:spcAft>
            </a:pPr>
            <a:r>
              <a:rPr sz="1200" b="0">
                <a:solidFill>
                  <a:srgbClr val="333333"/>
                </a:solidFill>
                <a:latin typeface="メイリオ"/>
                <a:ea typeface="メイリオ"/>
                <a:cs typeface="メイリオ"/>
              </a:rPr>
              <a:t>企画配信からの購入数</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CV</a:t>
            </a:r>
            <a:r>
              <a:rPr kumimoji="1" lang="ja-JP" altLang="en-US" sz="1200" b="1" dirty="0">
                <a:solidFill>
                  <a:srgbClr val="FFFFFF"/>
                </a:solidFill>
                <a:latin typeface="メイリオ" panose="020B0604030504040204" pitchFamily="50" charset="-128"/>
                <a:ea typeface="メイリオ" panose="020B0604030504040204" pitchFamily="50" charset="-128"/>
              </a:rPr>
              <a:t>の最大化</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DCC85EB-7726-39A6-E767-A7E7AF9FC9A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D941B869-0BE3-91CA-64FF-DE13FF4539A3}"/>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F7F5C7CD-143E-D046-95E0-587BA9375C6D}"/>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 name="Rectangle 107"/>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9" name="Rectangle 108"/>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初回購入した方</a:t>
            </a:r>
          </a:p>
        </p:txBody>
      </p:sp>
      <p:sp>
        <p:nvSpPr>
          <p:cNvPr id="110" name="TextBox 109"/>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1" name="Rectangle 110"/>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12" name="Rectangle 111"/>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使用頻度のタグ</a:t>
            </a:r>
          </a:p>
          <a:p>
            <a:pPr algn="l">
              <a:lnSpc>
                <a:spcPct val="110000"/>
              </a:lnSpc>
              <a:spcAft>
                <a:spcPts val="0"/>
              </a:spcAft>
            </a:pPr>
            <a:r>
              <a:rPr sz="1050" b="0">
                <a:solidFill>
                  <a:srgbClr val="333333"/>
                </a:solidFill>
                <a:latin typeface="メイリオ"/>
                <a:ea typeface="メイリオ"/>
                <a:cs typeface="メイリオ"/>
              </a:rPr>
              <a:t>内容量÷1日の使用量で、切れる頃を逆算</a:t>
            </a:r>
          </a:p>
        </p:txBody>
      </p:sp>
      <p:sp>
        <p:nvSpPr>
          <p:cNvPr id="113" name="TextBox 112"/>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4" name="Rectangle 113"/>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5" name="Rectangle 114"/>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購入後の配信</a:t>
            </a:r>
          </a:p>
          <a:p>
            <a:pPr algn="l">
              <a:lnSpc>
                <a:spcPct val="110000"/>
              </a:lnSpc>
              <a:spcAft>
                <a:spcPts val="0"/>
              </a:spcAft>
            </a:pPr>
            <a:r>
              <a:rPr sz="1050" b="0">
                <a:solidFill>
                  <a:srgbClr val="333333"/>
                </a:solidFill>
                <a:latin typeface="メイリオ"/>
                <a:ea typeface="メイリオ"/>
                <a:cs typeface="メイリオ"/>
              </a:rPr>
              <a:t>使用フォロー → 切れる頃のお知らせ</a:t>
            </a:r>
          </a:p>
        </p:txBody>
      </p:sp>
      <p:sp>
        <p:nvSpPr>
          <p:cNvPr id="116" name="TextBox 115"/>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7" name="Rectangle 116"/>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8" name="Rectangle 117"/>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2回目の購入（F2）・定期引上</a:t>
            </a:r>
          </a:p>
        </p:txBody>
      </p:sp>
      <p:sp>
        <p:nvSpPr>
          <p:cNvPr id="119" name="TextBox 118"/>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初回で離脱する方を減らし、</a:t>
            </a:r>
          </a:p>
          <a:p>
            <a:pPr algn="l">
              <a:lnSpc>
                <a:spcPct val="105000"/>
              </a:lnSpc>
              <a:spcAft>
                <a:spcPts val="200"/>
              </a:spcAft>
            </a:pPr>
            <a:r>
              <a:rPr sz="1200" b="0">
                <a:solidFill>
                  <a:srgbClr val="333333"/>
                </a:solidFill>
                <a:latin typeface="メイリオ"/>
                <a:ea typeface="メイリオ"/>
                <a:cs typeface="メイリオ"/>
              </a:rPr>
              <a:t>2回目の購入につなげる</a:t>
            </a:r>
          </a:p>
        </p:txBody>
      </p:sp>
      <p:sp>
        <p:nvSpPr>
          <p:cNvPr id="120" name="TextBox 119"/>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初回購入した方</a:t>
            </a:r>
          </a:p>
        </p:txBody>
      </p:sp>
      <p:sp>
        <p:nvSpPr>
          <p:cNvPr id="121" name="TextBox 120"/>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効果実感までの目安を伝える配信／</a:t>
            </a:r>
          </a:p>
          <a:p>
            <a:pPr algn="l">
              <a:lnSpc>
                <a:spcPct val="105000"/>
              </a:lnSpc>
              <a:spcAft>
                <a:spcPts val="200"/>
              </a:spcAft>
            </a:pPr>
            <a:r>
              <a:rPr sz="1200" b="0">
                <a:solidFill>
                  <a:srgbClr val="333333"/>
                </a:solidFill>
                <a:latin typeface="メイリオ"/>
                <a:ea typeface="メイリオ"/>
                <a:cs typeface="メイリオ"/>
              </a:rPr>
              <a:t>「そろそろ切れる頃です」の案内／</a:t>
            </a:r>
          </a:p>
          <a:p>
            <a:pPr algn="l">
              <a:lnSpc>
                <a:spcPct val="105000"/>
              </a:lnSpc>
              <a:spcAft>
                <a:spcPts val="200"/>
              </a:spcAft>
            </a:pPr>
            <a:r>
              <a:rPr sz="1200" b="0">
                <a:solidFill>
                  <a:srgbClr val="333333"/>
                </a:solidFill>
                <a:latin typeface="メイリオ"/>
                <a:ea typeface="メイリオ"/>
                <a:cs typeface="メイリオ"/>
              </a:rPr>
              <a:t>F2の後に定期・まとめ買いの案内</a:t>
            </a:r>
          </a:p>
        </p:txBody>
      </p:sp>
      <p:sp>
        <p:nvSpPr>
          <p:cNvPr id="122" name="TextBox 121"/>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F2転換率／定期引上率</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CPO</a:t>
            </a:r>
            <a:r>
              <a:rPr kumimoji="1" lang="ja-JP" altLang="en-US" sz="1200" b="1" dirty="0">
                <a:solidFill>
                  <a:srgbClr val="FFFFFF"/>
                </a:solidFill>
                <a:latin typeface="メイリオ" panose="020B0604030504040204" pitchFamily="50" charset="-128"/>
                <a:ea typeface="メイリオ" panose="020B0604030504040204" pitchFamily="50" charset="-128"/>
              </a:rPr>
              <a:t>の改善（</a:t>
            </a:r>
            <a:r>
              <a:rPr kumimoji="1" lang="en-US" altLang="ja-JP" sz="1200" b="1" dirty="0">
                <a:solidFill>
                  <a:srgbClr val="FFFFFF"/>
                </a:solidFill>
                <a:latin typeface="メイリオ" panose="020B0604030504040204" pitchFamily="50" charset="-128"/>
                <a:ea typeface="メイリオ" panose="020B0604030504040204" pitchFamily="50" charset="-128"/>
              </a:rPr>
              <a:t>CV</a:t>
            </a:r>
            <a:r>
              <a:rPr kumimoji="1" lang="ja-JP" altLang="en-US" sz="1200" b="1" dirty="0">
                <a:solidFill>
                  <a:srgbClr val="FFFFFF"/>
                </a:solidFill>
                <a:latin typeface="メイリオ" panose="020B0604030504040204" pitchFamily="50" charset="-128"/>
                <a:ea typeface="メイリオ" panose="020B0604030504040204" pitchFamily="50" charset="-128"/>
              </a:rPr>
              <a:t>質）</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EA7B3E98-3D68-0C62-992B-836D9101D96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7F965D0E-3CAC-A55D-5335-0187FA81CB54}"/>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EC9AAED-0E7E-3F8D-0A4E-056B8E955E7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定期で購入している方</a:t>
            </a:r>
          </a:p>
        </p:txBody>
      </p:sp>
      <p:sp>
        <p:nvSpPr>
          <p:cNvPr id="106" name="TextBox 105"/>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LINE ID連携</a:t>
            </a:r>
          </a:p>
          <a:p>
            <a:pPr algn="l">
              <a:lnSpc>
                <a:spcPct val="110000"/>
              </a:lnSpc>
              <a:spcAft>
                <a:spcPts val="0"/>
              </a:spcAft>
            </a:pPr>
            <a:r>
              <a:rPr sz="1050" b="0">
                <a:solidFill>
                  <a:srgbClr val="333333"/>
                </a:solidFill>
                <a:latin typeface="メイリオ"/>
                <a:ea typeface="メイリオ"/>
                <a:cs typeface="メイリオ"/>
              </a:rPr>
              <a:t>定期の回数・次回発送日が分かる</a:t>
            </a:r>
          </a:p>
        </p:txBody>
      </p:sp>
      <p:sp>
        <p:nvSpPr>
          <p:cNvPr id="109" name="TextBox 108"/>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次回発送の数日前の配信</a:t>
            </a:r>
          </a:p>
          <a:p>
            <a:pPr algn="l">
              <a:lnSpc>
                <a:spcPct val="110000"/>
              </a:lnSpc>
              <a:spcAft>
                <a:spcPts val="0"/>
              </a:spcAft>
            </a:pPr>
            <a:r>
              <a:rPr sz="1050" b="0">
                <a:solidFill>
                  <a:srgbClr val="333333"/>
                </a:solidFill>
                <a:latin typeface="メイリオ"/>
                <a:ea typeface="メイリオ"/>
                <a:cs typeface="メイリオ"/>
              </a:rPr>
              <a:t>「今回はスキップできます」</a:t>
            </a:r>
          </a:p>
        </p:txBody>
      </p:sp>
      <p:sp>
        <p:nvSpPr>
          <p:cNvPr id="112" name="TextBox 111"/>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定期の継続</a:t>
            </a:r>
          </a:p>
        </p:txBody>
      </p:sp>
      <p:sp>
        <p:nvSpPr>
          <p:cNvPr id="115" name="TextBox 114"/>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定期を続けやすくし、</a:t>
            </a:r>
          </a:p>
          <a:p>
            <a:pPr algn="l">
              <a:lnSpc>
                <a:spcPct val="105000"/>
              </a:lnSpc>
              <a:spcAft>
                <a:spcPts val="200"/>
              </a:spcAft>
            </a:pPr>
            <a:r>
              <a:rPr sz="1200" b="0">
                <a:solidFill>
                  <a:srgbClr val="333333"/>
                </a:solidFill>
                <a:latin typeface="メイリオ"/>
                <a:ea typeface="メイリオ"/>
                <a:cs typeface="メイリオ"/>
              </a:rPr>
              <a:t>お客様1人あたりの成果を高める</a:t>
            </a:r>
          </a:p>
        </p:txBody>
      </p:sp>
      <p:sp>
        <p:nvSpPr>
          <p:cNvPr id="116" name="TextBox 115"/>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定期で購入している方</a:t>
            </a:r>
          </a:p>
        </p:txBody>
      </p:sp>
      <p:sp>
        <p:nvSpPr>
          <p:cNvPr id="117" name="TextBox 116"/>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次回発送前のスキップの案内／</a:t>
            </a:r>
          </a:p>
          <a:p>
            <a:pPr algn="l">
              <a:lnSpc>
                <a:spcPct val="105000"/>
              </a:lnSpc>
              <a:spcAft>
                <a:spcPts val="200"/>
              </a:spcAft>
            </a:pPr>
            <a:r>
              <a:rPr sz="1200" b="0">
                <a:solidFill>
                  <a:srgbClr val="333333"/>
                </a:solidFill>
                <a:latin typeface="メイリオ"/>
                <a:ea typeface="メイリオ"/>
                <a:cs typeface="メイリオ"/>
              </a:rPr>
              <a:t>お届け間隔・数量の変更／</a:t>
            </a:r>
          </a:p>
          <a:p>
            <a:pPr algn="l">
              <a:lnSpc>
                <a:spcPct val="105000"/>
              </a:lnSpc>
              <a:spcAft>
                <a:spcPts val="200"/>
              </a:spcAft>
            </a:pPr>
            <a:r>
              <a:rPr sz="1200" b="0">
                <a:solidFill>
                  <a:srgbClr val="333333"/>
                </a:solidFill>
                <a:latin typeface="メイリオ"/>
                <a:ea typeface="メイリオ"/>
                <a:cs typeface="メイリオ"/>
              </a:rPr>
              <a:t>節目（3回目・6回目）の継続特典</a:t>
            </a:r>
          </a:p>
        </p:txBody>
      </p:sp>
      <p:sp>
        <p:nvSpPr>
          <p:cNvPr id="118" name="TextBox 117"/>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月次解約率／継続回数</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休眠顧客の有効化</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54D3EDD-30AC-24FB-8D5A-5513D1411FF3}"/>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1BBBE87-752F-09D4-9E13-13A9F878286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D870C123-133D-9CF1-6418-078AA9217B26}"/>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友だちでない既存顧客・解約した方</a:t>
            </a:r>
          </a:p>
        </p:txBody>
      </p:sp>
      <p:sp>
        <p:nvSpPr>
          <p:cNvPr id="106" name="TextBox 105"/>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通知メッセージ（電話番号でLINEに届く）</a:t>
            </a:r>
          </a:p>
        </p:txBody>
      </p:sp>
      <p:sp>
        <p:nvSpPr>
          <p:cNvPr id="109" name="TextBox 108"/>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発送・決済エラー・再入荷のお知らせ</a:t>
            </a:r>
          </a:p>
          <a:p>
            <a:pPr algn="l">
              <a:lnSpc>
                <a:spcPct val="110000"/>
              </a:lnSpc>
              <a:spcAft>
                <a:spcPts val="0"/>
              </a:spcAft>
            </a:pPr>
            <a:r>
              <a:rPr sz="1050" b="0">
                <a:solidFill>
                  <a:srgbClr val="333333"/>
                </a:solidFill>
                <a:latin typeface="メイリオ"/>
                <a:ea typeface="メイリオ"/>
                <a:cs typeface="メイリオ"/>
              </a:rPr>
              <a:t>通知の中に友だち追加の導線</a:t>
            </a:r>
          </a:p>
        </p:txBody>
      </p:sp>
      <p:sp>
        <p:nvSpPr>
          <p:cNvPr id="112" name="TextBox 111"/>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友だち追加・購入の再開</a:t>
            </a:r>
          </a:p>
        </p:txBody>
      </p:sp>
      <p:sp>
        <p:nvSpPr>
          <p:cNvPr id="115" name="TextBox 114"/>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LINEで届いていない既存顧客に、</a:t>
            </a:r>
          </a:p>
          <a:p>
            <a:pPr algn="l">
              <a:lnSpc>
                <a:spcPct val="105000"/>
              </a:lnSpc>
              <a:spcAft>
                <a:spcPts val="200"/>
              </a:spcAft>
            </a:pPr>
            <a:r>
              <a:rPr sz="1200" b="0">
                <a:solidFill>
                  <a:srgbClr val="333333"/>
                </a:solidFill>
                <a:latin typeface="メイリオ"/>
                <a:ea typeface="メイリオ"/>
                <a:cs typeface="メイリオ"/>
              </a:rPr>
              <a:t>もう一度届ける</a:t>
            </a:r>
          </a:p>
        </p:txBody>
      </p:sp>
      <p:sp>
        <p:nvSpPr>
          <p:cNvPr id="116" name="TextBox 115"/>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購入したが友だちでない方／</a:t>
            </a:r>
          </a:p>
          <a:p>
            <a:pPr algn="l">
              <a:lnSpc>
                <a:spcPct val="105000"/>
              </a:lnSpc>
              <a:spcAft>
                <a:spcPts val="200"/>
              </a:spcAft>
            </a:pPr>
            <a:r>
              <a:rPr sz="1200" b="0">
                <a:solidFill>
                  <a:srgbClr val="333333"/>
                </a:solidFill>
                <a:latin typeface="メイリオ"/>
                <a:ea typeface="メイリオ"/>
                <a:cs typeface="メイリオ"/>
              </a:rPr>
              <a:t>解約した方・決済エラーで</a:t>
            </a:r>
          </a:p>
          <a:p>
            <a:pPr algn="l">
              <a:lnSpc>
                <a:spcPct val="105000"/>
              </a:lnSpc>
              <a:spcAft>
                <a:spcPts val="200"/>
              </a:spcAft>
            </a:pPr>
            <a:r>
              <a:rPr sz="1200" b="0">
                <a:solidFill>
                  <a:srgbClr val="333333"/>
                </a:solidFill>
                <a:latin typeface="メイリオ"/>
                <a:ea typeface="メイリオ"/>
                <a:cs typeface="メイリオ"/>
              </a:rPr>
              <a:t>止まっている方</a:t>
            </a:r>
          </a:p>
        </p:txBody>
      </p:sp>
      <p:sp>
        <p:nvSpPr>
          <p:cNvPr id="117" name="TextBox 116"/>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通知の中に友だち追加の導線／</a:t>
            </a:r>
          </a:p>
          <a:p>
            <a:pPr algn="l">
              <a:lnSpc>
                <a:spcPct val="105000"/>
              </a:lnSpc>
              <a:spcAft>
                <a:spcPts val="200"/>
              </a:spcAft>
            </a:pPr>
            <a:r>
              <a:rPr sz="1200" b="0">
                <a:solidFill>
                  <a:srgbClr val="333333"/>
                </a:solidFill>
                <a:latin typeface="メイリオ"/>
                <a:ea typeface="メイリオ"/>
                <a:cs typeface="メイリオ"/>
              </a:rPr>
              <a:t>決済エラーの放置を防ぐ／</a:t>
            </a:r>
          </a:p>
          <a:p>
            <a:pPr algn="l">
              <a:lnSpc>
                <a:spcPct val="105000"/>
              </a:lnSpc>
              <a:spcAft>
                <a:spcPts val="200"/>
              </a:spcAft>
            </a:pPr>
            <a:r>
              <a:rPr sz="1200" b="0">
                <a:solidFill>
                  <a:srgbClr val="333333"/>
                </a:solidFill>
                <a:latin typeface="メイリオ"/>
                <a:ea typeface="メイリオ"/>
                <a:cs typeface="メイリオ"/>
              </a:rPr>
              <a:t>同梱物QRと合わせて到達率を上げる</a:t>
            </a:r>
          </a:p>
        </p:txBody>
      </p:sp>
      <p:sp>
        <p:nvSpPr>
          <p:cNvPr id="118" name="TextBox 117"/>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通知からの友だち追加数／</a:t>
            </a:r>
          </a:p>
          <a:p>
            <a:pPr algn="l">
              <a:lnSpc>
                <a:spcPct val="105000"/>
              </a:lnSpc>
              <a:spcAft>
                <a:spcPts val="200"/>
              </a:spcAft>
            </a:pPr>
            <a:r>
              <a:rPr sz="1200" b="0">
                <a:solidFill>
                  <a:srgbClr val="333333"/>
                </a:solidFill>
                <a:latin typeface="メイリオ"/>
                <a:ea typeface="メイリオ"/>
                <a:cs typeface="メイリオ"/>
              </a:rPr>
              <a:t>購入の再開数</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マネタイズ最大化</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F4D2433-0552-CC23-D4A0-E5C59759DDB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67937DA-B7CA-9F47-D5F6-7CB5CBBCCBB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E2E40065-F00C-4873-7138-F81C1E4B9727}"/>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解約・休止を相談した方</a:t>
            </a:r>
          </a:p>
        </p:txBody>
      </p:sp>
      <p:sp>
        <p:nvSpPr>
          <p:cNvPr id="106" name="TextBox 105"/>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解約アンケート</a:t>
            </a:r>
          </a:p>
          <a:p>
            <a:pPr algn="l">
              <a:lnSpc>
                <a:spcPct val="110000"/>
              </a:lnSpc>
              <a:spcAft>
                <a:spcPts val="0"/>
              </a:spcAft>
            </a:pPr>
            <a:r>
              <a:rPr sz="1050" b="0">
                <a:solidFill>
                  <a:srgbClr val="333333"/>
                </a:solidFill>
                <a:latin typeface="メイリオ"/>
                <a:ea typeface="メイリオ"/>
                <a:cs typeface="メイリオ"/>
              </a:rPr>
              <a:t>理由を1タップで</a:t>
            </a:r>
          </a:p>
        </p:txBody>
      </p:sp>
      <p:sp>
        <p:nvSpPr>
          <p:cNvPr id="109" name="TextBox 108"/>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理由に応じた選択肢</a:t>
            </a:r>
          </a:p>
          <a:p>
            <a:pPr algn="l">
              <a:lnSpc>
                <a:spcPct val="110000"/>
              </a:lnSpc>
              <a:spcAft>
                <a:spcPts val="0"/>
              </a:spcAft>
            </a:pPr>
            <a:r>
              <a:rPr sz="1050" b="0">
                <a:solidFill>
                  <a:srgbClr val="333333"/>
                </a:solidFill>
                <a:latin typeface="メイリオ"/>
                <a:ea typeface="メイリオ"/>
                <a:cs typeface="メイリオ"/>
              </a:rPr>
              <a:t>スキップ・周期変更・プラン変更・休止</a:t>
            </a:r>
          </a:p>
        </p:txBody>
      </p:sp>
      <p:sp>
        <p:nvSpPr>
          <p:cNvPr id="112" name="TextBox 111"/>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継続・休止（解約も止めない）</a:t>
            </a:r>
          </a:p>
        </p:txBody>
      </p:sp>
      <p:sp>
        <p:nvSpPr>
          <p:cNvPr id="115" name="TextBox 114"/>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解約の手前で選択肢を出し、</a:t>
            </a:r>
          </a:p>
          <a:p>
            <a:pPr algn="l">
              <a:lnSpc>
                <a:spcPct val="105000"/>
              </a:lnSpc>
              <a:spcAft>
                <a:spcPts val="200"/>
              </a:spcAft>
            </a:pPr>
            <a:r>
              <a:rPr sz="1200" b="0">
                <a:solidFill>
                  <a:srgbClr val="333333"/>
                </a:solidFill>
                <a:latin typeface="メイリオ"/>
                <a:ea typeface="メイリオ"/>
                <a:cs typeface="メイリオ"/>
              </a:rPr>
              <a:t>続けられる方には続けていただく</a:t>
            </a:r>
          </a:p>
        </p:txBody>
      </p:sp>
      <p:sp>
        <p:nvSpPr>
          <p:cNvPr id="116" name="TextBox 115"/>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リッチメニュー「解約・休止の</a:t>
            </a:r>
          </a:p>
          <a:p>
            <a:pPr algn="l">
              <a:lnSpc>
                <a:spcPct val="105000"/>
              </a:lnSpc>
              <a:spcAft>
                <a:spcPts val="200"/>
              </a:spcAft>
            </a:pPr>
            <a:r>
              <a:rPr sz="1200" b="0">
                <a:solidFill>
                  <a:srgbClr val="333333"/>
                </a:solidFill>
                <a:latin typeface="メイリオ"/>
                <a:ea typeface="メイリオ"/>
                <a:cs typeface="メイリオ"/>
              </a:rPr>
              <a:t>ご相談」を押した方</a:t>
            </a:r>
          </a:p>
        </p:txBody>
      </p:sp>
      <p:sp>
        <p:nvSpPr>
          <p:cNvPr id="117" name="TextBox 116"/>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余っている→スキップ・周期変更／</a:t>
            </a:r>
          </a:p>
          <a:p>
            <a:pPr algn="l">
              <a:lnSpc>
                <a:spcPct val="105000"/>
              </a:lnSpc>
              <a:spcAft>
                <a:spcPts val="200"/>
              </a:spcAft>
            </a:pPr>
            <a:r>
              <a:rPr sz="1200" b="0">
                <a:solidFill>
                  <a:srgbClr val="333333"/>
                </a:solidFill>
                <a:latin typeface="メイリオ"/>
                <a:ea typeface="メイリオ"/>
                <a:cs typeface="メイリオ"/>
              </a:rPr>
              <a:t>高い→プラン・数量の変更／</a:t>
            </a:r>
          </a:p>
          <a:p>
            <a:pPr algn="l">
              <a:lnSpc>
                <a:spcPct val="105000"/>
              </a:lnSpc>
              <a:spcAft>
                <a:spcPts val="200"/>
              </a:spcAft>
            </a:pPr>
            <a:r>
              <a:rPr sz="1200" b="0">
                <a:solidFill>
                  <a:srgbClr val="333333"/>
                </a:solidFill>
                <a:latin typeface="メイリオ"/>
                <a:ea typeface="メイリオ"/>
                <a:cs typeface="メイリオ"/>
              </a:rPr>
              <a:t>一時的な事情→休止</a:t>
            </a:r>
          </a:p>
        </p:txBody>
      </p:sp>
      <p:sp>
        <p:nvSpPr>
          <p:cNvPr id="118" name="TextBox 117"/>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解約の手前で片づいた件数／</a:t>
            </a:r>
          </a:p>
          <a:p>
            <a:pPr algn="l">
              <a:lnSpc>
                <a:spcPct val="105000"/>
              </a:lnSpc>
              <a:spcAft>
                <a:spcPts val="200"/>
              </a:spcAft>
            </a:pPr>
            <a:r>
              <a:rPr sz="1200" b="0">
                <a:solidFill>
                  <a:srgbClr val="333333"/>
                </a:solidFill>
                <a:latin typeface="メイリオ"/>
                <a:ea typeface="メイリオ"/>
                <a:cs typeface="メイリオ"/>
              </a:rPr>
              <a:t>月次解約率</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70CBF08D-A75A-0470-2FBB-3028F9D942F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3C7D88F4-3C3C-3E2E-C03F-2CCC867D89EC}"/>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リピート施策</a:t>
            </a:r>
          </a:p>
        </p:txBody>
      </p:sp>
      <p:sp>
        <p:nvSpPr>
          <p:cNvPr id="51" name="Chevron 13">
            <a:extLst>
              <a:ext uri="{FF2B5EF4-FFF2-40B4-BE49-F238E27FC236}">
                <a16:creationId xmlns:a16="http://schemas.microsoft.com/office/drawing/2014/main" id="{759E7DA1-B0BF-83B4-5B22-46858D37029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E1C272E5-75EC-C617-4703-013CF3754F63}"/>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E9DA71D7-9C78-CD2C-7714-F3A95FFC1731}"/>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8CCD9A2E-65D9-A3A7-1F9E-9F339A653484}"/>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A3BB58FC-6C79-950E-F1BC-61DF96A00F4B}"/>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CF6FF1B6-0073-1D5C-E7B4-9CD1A7C404F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F755585F-9990-C994-AFCB-6B55869BB11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1A586438-3489-526C-D969-F3D159B19FC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20A32186-62A1-3BBF-CED6-D509ABE569B8}"/>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29F4C005-9928-FAAC-6A92-971D5F0B969B}"/>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48B7705-5A53-CB64-8318-08FA7AC165A4}"/>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9F8A8E43-9950-E3F2-F3FE-9C9B3CFBF78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B125C3F7-8289-EA3D-F9C3-E4122A1EF6CC}"/>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C4497524-AB39-B15B-217D-366289997E7B}"/>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C49ED30C-CEC0-2E49-5CC6-AB9E06E1664C}"/>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7095497-8A9F-3AE5-CF43-E456608BFED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1DE68DC3-7D7A-9CDB-56F3-E6921DE8DBAD}"/>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1C592B4B-F240-144A-4EC6-877E40B5DA24}"/>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A6208BB2-3F77-CF64-CB2E-3FF447A9F5F7}"/>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4FD2BF1B-521D-CC1A-7BFD-A22AA1142DA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C915B36-4012-C279-83CB-222ABE1F6039}"/>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9E5CE7E-1D8F-576F-9D97-DFF65D6EF007}"/>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3D248B8A-3417-C9D7-9DE8-CF0AAB168222}"/>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定期・単品で購入している方</a:t>
            </a:r>
          </a:p>
        </p:txBody>
      </p:sp>
      <p:sp>
        <p:nvSpPr>
          <p:cNvPr id="106" name="TextBox 105"/>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購入内容・回数のタグ</a:t>
            </a:r>
          </a:p>
          <a:p>
            <a:pPr algn="l">
              <a:lnSpc>
                <a:spcPct val="110000"/>
              </a:lnSpc>
              <a:spcAft>
                <a:spcPts val="0"/>
              </a:spcAft>
            </a:pPr>
            <a:r>
              <a:rPr sz="1050" b="0">
                <a:solidFill>
                  <a:srgbClr val="333333"/>
                </a:solidFill>
                <a:latin typeface="メイリオ"/>
                <a:ea typeface="メイリオ"/>
                <a:cs typeface="メイリオ"/>
              </a:rPr>
              <a:t>LINE ID連携で自動で付く</a:t>
            </a:r>
          </a:p>
        </p:txBody>
      </p:sp>
      <p:sp>
        <p:nvSpPr>
          <p:cNvPr id="109" name="TextBox 108"/>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節目・季節の配信</a:t>
            </a:r>
          </a:p>
          <a:p>
            <a:pPr algn="l">
              <a:lnSpc>
                <a:spcPct val="110000"/>
              </a:lnSpc>
              <a:spcAft>
                <a:spcPts val="0"/>
              </a:spcAft>
            </a:pPr>
            <a:r>
              <a:rPr sz="1050" b="0">
                <a:solidFill>
                  <a:srgbClr val="333333"/>
                </a:solidFill>
                <a:latin typeface="メイリオ"/>
                <a:ea typeface="メイリオ"/>
                <a:cs typeface="メイリオ"/>
              </a:rPr>
              <a:t>継続特典・まとめ買い・関連商品</a:t>
            </a:r>
          </a:p>
        </p:txBody>
      </p:sp>
      <p:sp>
        <p:nvSpPr>
          <p:cNvPr id="112" name="TextBox 111"/>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継続・関連商品の購入</a:t>
            </a:r>
          </a:p>
        </p:txBody>
      </p:sp>
      <p:sp>
        <p:nvSpPr>
          <p:cNvPr id="115" name="TextBox 114"/>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購入の回数と内容に合わせ、</a:t>
            </a:r>
          </a:p>
          <a:p>
            <a:pPr algn="l">
              <a:lnSpc>
                <a:spcPct val="105000"/>
              </a:lnSpc>
              <a:spcAft>
                <a:spcPts val="200"/>
              </a:spcAft>
            </a:pPr>
            <a:r>
              <a:rPr sz="1200" b="0">
                <a:solidFill>
                  <a:srgbClr val="333333"/>
                </a:solidFill>
                <a:latin typeface="メイリオ"/>
                <a:ea typeface="メイリオ"/>
                <a:cs typeface="メイリオ"/>
              </a:rPr>
              <a:t>次の購入につなげる</a:t>
            </a:r>
          </a:p>
        </p:txBody>
      </p:sp>
      <p:sp>
        <p:nvSpPr>
          <p:cNvPr id="116" name="TextBox 115"/>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定期・単品で購入している方</a:t>
            </a:r>
          </a:p>
        </p:txBody>
      </p:sp>
      <p:sp>
        <p:nvSpPr>
          <p:cNvPr id="117" name="TextBox 116"/>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3回目・6回目の継続特典／</a:t>
            </a:r>
          </a:p>
          <a:p>
            <a:pPr algn="l">
              <a:lnSpc>
                <a:spcPct val="105000"/>
              </a:lnSpc>
              <a:spcAft>
                <a:spcPts val="200"/>
              </a:spcAft>
            </a:pPr>
            <a:r>
              <a:rPr sz="1200" b="0">
                <a:solidFill>
                  <a:srgbClr val="333333"/>
                </a:solidFill>
                <a:latin typeface="メイリオ"/>
                <a:ea typeface="メイリオ"/>
                <a:cs typeface="メイリオ"/>
              </a:rPr>
              <a:t>使い方の見直し・成分の解説／</a:t>
            </a:r>
          </a:p>
          <a:p>
            <a:pPr algn="l">
              <a:lnSpc>
                <a:spcPct val="105000"/>
              </a:lnSpc>
              <a:spcAft>
                <a:spcPts val="200"/>
              </a:spcAft>
            </a:pPr>
            <a:r>
              <a:rPr sz="1200" b="0">
                <a:solidFill>
                  <a:srgbClr val="333333"/>
                </a:solidFill>
                <a:latin typeface="メイリオ"/>
                <a:ea typeface="メイリオ"/>
                <a:cs typeface="メイリオ"/>
              </a:rPr>
              <a:t>関連商品・まとめ買いの案内</a:t>
            </a:r>
          </a:p>
        </p:txBody>
      </p:sp>
      <p:sp>
        <p:nvSpPr>
          <p:cNvPr id="118" name="TextBox 117"/>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継続回数／関連商品の購入数</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53FE06A6-86EF-D7B0-BBFB-528ECC073C7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01D9328-0162-B9BC-14E5-4043C4775398}"/>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コミュニティ運営</a:t>
            </a:r>
          </a:p>
        </p:txBody>
      </p:sp>
      <p:sp>
        <p:nvSpPr>
          <p:cNvPr id="51" name="Chevron 13">
            <a:extLst>
              <a:ext uri="{FF2B5EF4-FFF2-40B4-BE49-F238E27FC236}">
                <a16:creationId xmlns:a16="http://schemas.microsoft.com/office/drawing/2014/main" id="{CE22BBFE-2B26-237F-982B-2EA5618B295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80FBA5C2-85D8-876D-21BD-21D8CBF46DCA}"/>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414E7487-2F11-DE25-DBC0-3F05BADEBBB5}"/>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520F0369-7B38-CED2-FDCE-2A3D5E2FBA45}"/>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6ACC63D7-6F52-9BE7-B7F1-06941B3FB662}"/>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41EEE8B7-3911-9FA9-D5E8-3DA2ED3998D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00F69354-CC26-C840-A15E-CBD7B45B2E08}"/>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5A3585B4-3CB4-7042-40C9-E33D520250E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37372EB0-F5E6-65AF-7C6F-6ED9C8B77FAA}"/>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AA83D2FD-45C9-0F59-802A-AF2C5668C61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59DD36B2-96D9-D151-9C00-1072C4868402}"/>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439A3FCC-970E-F0D5-83C6-3DB1603A260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FFB75D8D-CCC8-08DA-9374-BDCC4DBC0F8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053B8822-C5C6-7FF1-2E68-9A537E44EC6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D30303D8-861D-2829-9C34-EB5B96556F40}"/>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BF23443-3F44-9153-9179-100EF3B83E19}"/>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09B631BF-2611-3282-49CE-E252DECDE27A}"/>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E0CC1822-52C4-D2B9-7FF9-B51A2204E8B1}"/>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F9C56CF2-60DE-DF0B-73AB-C8769DA02AE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DC098DF-392C-B85B-2BD7-9024C9265A47}"/>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4E5D985-1393-630A-EACC-F61C1CA5E4B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0043C29-FD63-A762-3BE9-A94DAE22A315}"/>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0666F0DA-BF7D-5966-BD1A-BE7B1A9ECF9F}"/>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Rectangle 103"/>
          <p:cNvSpPr/>
          <p:nvPr/>
        </p:nvSpPr>
        <p:spPr>
          <a:xfrm>
            <a:off x="854964" y="2583179"/>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入口</a:t>
            </a:r>
          </a:p>
        </p:txBody>
      </p:sp>
      <p:sp>
        <p:nvSpPr>
          <p:cNvPr id="105" name="Rectangle 104"/>
          <p:cNvSpPr/>
          <p:nvPr/>
        </p:nvSpPr>
        <p:spPr>
          <a:xfrm>
            <a:off x="1632204" y="2583179"/>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長く続けている方</a:t>
            </a:r>
          </a:p>
        </p:txBody>
      </p:sp>
      <p:sp>
        <p:nvSpPr>
          <p:cNvPr id="106" name="TextBox 105"/>
          <p:cNvSpPr txBox="1"/>
          <p:nvPr/>
        </p:nvSpPr>
        <p:spPr>
          <a:xfrm>
            <a:off x="854964" y="3177539"/>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7" name="Rectangle 106"/>
          <p:cNvSpPr/>
          <p:nvPr/>
        </p:nvSpPr>
        <p:spPr>
          <a:xfrm>
            <a:off x="854964" y="3351275"/>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LINE</a:t>
            </a:r>
          </a:p>
        </p:txBody>
      </p:sp>
      <p:sp>
        <p:nvSpPr>
          <p:cNvPr id="108" name="Rectangle 107"/>
          <p:cNvSpPr/>
          <p:nvPr/>
        </p:nvSpPr>
        <p:spPr>
          <a:xfrm>
            <a:off x="1632204" y="3351275"/>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継続回数のタグ</a:t>
            </a:r>
          </a:p>
          <a:p>
            <a:pPr algn="l">
              <a:lnSpc>
                <a:spcPct val="110000"/>
              </a:lnSpc>
              <a:spcAft>
                <a:spcPts val="0"/>
              </a:spcAft>
            </a:pPr>
            <a:r>
              <a:rPr sz="1050" b="0">
                <a:solidFill>
                  <a:srgbClr val="333333"/>
                </a:solidFill>
                <a:latin typeface="メイリオ"/>
                <a:ea typeface="メイリオ"/>
                <a:cs typeface="メイリオ"/>
              </a:rPr>
              <a:t>リッチメニュー「使い方」に会員向けの入口</a:t>
            </a:r>
          </a:p>
        </p:txBody>
      </p:sp>
      <p:sp>
        <p:nvSpPr>
          <p:cNvPr id="109" name="TextBox 108"/>
          <p:cNvSpPr txBox="1"/>
          <p:nvPr/>
        </p:nvSpPr>
        <p:spPr>
          <a:xfrm>
            <a:off x="854964" y="3945635"/>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0" name="Rectangle 109"/>
          <p:cNvSpPr/>
          <p:nvPr/>
        </p:nvSpPr>
        <p:spPr>
          <a:xfrm>
            <a:off x="854964" y="4119371"/>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配信</a:t>
            </a:r>
          </a:p>
        </p:txBody>
      </p:sp>
      <p:sp>
        <p:nvSpPr>
          <p:cNvPr id="111" name="Rectangle 110"/>
          <p:cNvSpPr/>
          <p:nvPr/>
        </p:nvSpPr>
        <p:spPr>
          <a:xfrm>
            <a:off x="1632204" y="4119371"/>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使い方のコツ・よくある質問</a:t>
            </a:r>
          </a:p>
        </p:txBody>
      </p:sp>
      <p:sp>
        <p:nvSpPr>
          <p:cNvPr id="112" name="TextBox 111"/>
          <p:cNvSpPr txBox="1"/>
          <p:nvPr/>
        </p:nvSpPr>
        <p:spPr>
          <a:xfrm>
            <a:off x="854964" y="4713731"/>
            <a:ext cx="777239" cy="182880"/>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3" name="Rectangle 112"/>
          <p:cNvSpPr/>
          <p:nvPr/>
        </p:nvSpPr>
        <p:spPr>
          <a:xfrm>
            <a:off x="854964" y="4887468"/>
            <a:ext cx="777239" cy="603504"/>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400" b="1">
                <a:solidFill>
                  <a:srgbClr val="FFFFFF"/>
                </a:solidFill>
                <a:latin typeface="メイリオ"/>
                <a:ea typeface="メイリオ"/>
                <a:cs typeface="メイリオ"/>
              </a:rPr>
              <a:t>ゴール</a:t>
            </a:r>
          </a:p>
        </p:txBody>
      </p:sp>
      <p:sp>
        <p:nvSpPr>
          <p:cNvPr id="114" name="Rectangle 113"/>
          <p:cNvSpPr/>
          <p:nvPr/>
        </p:nvSpPr>
        <p:spPr>
          <a:xfrm>
            <a:off x="1632204" y="4887468"/>
            <a:ext cx="3931920" cy="603504"/>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64800" tIns="10800" rIns="43200" bIns="10800"/>
          <a:lstStyle/>
          <a:p>
            <a:pPr algn="l">
              <a:lnSpc>
                <a:spcPct val="110000"/>
              </a:lnSpc>
              <a:spcAft>
                <a:spcPts val="0"/>
              </a:spcAft>
            </a:pPr>
            <a:r>
              <a:rPr sz="1400" b="1">
                <a:solidFill>
                  <a:srgbClr val="1F2A5C"/>
                </a:solidFill>
                <a:latin typeface="メイリオ"/>
                <a:ea typeface="メイリオ"/>
                <a:cs typeface="メイリオ"/>
              </a:rPr>
              <a:t>継続・紹介</a:t>
            </a:r>
          </a:p>
        </p:txBody>
      </p:sp>
      <p:sp>
        <p:nvSpPr>
          <p:cNvPr id="115" name="TextBox 114"/>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長く続けている方とのつながりを</a:t>
            </a:r>
          </a:p>
          <a:p>
            <a:pPr algn="l">
              <a:lnSpc>
                <a:spcPct val="105000"/>
              </a:lnSpc>
              <a:spcAft>
                <a:spcPts val="200"/>
              </a:spcAft>
            </a:pPr>
            <a:r>
              <a:rPr sz="1200" b="0">
                <a:solidFill>
                  <a:srgbClr val="333333"/>
                </a:solidFill>
                <a:latin typeface="メイリオ"/>
                <a:ea typeface="メイリオ"/>
                <a:cs typeface="メイリオ"/>
              </a:rPr>
              <a:t>強くし、紹介につなげる</a:t>
            </a:r>
          </a:p>
        </p:txBody>
      </p:sp>
      <p:sp>
        <p:nvSpPr>
          <p:cNvPr id="116" name="TextBox 115"/>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定期を長く続けている方</a:t>
            </a:r>
          </a:p>
        </p:txBody>
      </p:sp>
      <p:sp>
        <p:nvSpPr>
          <p:cNvPr id="117" name="TextBox 116"/>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長く続けている方への限定案内／</a:t>
            </a:r>
          </a:p>
          <a:p>
            <a:pPr algn="l">
              <a:lnSpc>
                <a:spcPct val="105000"/>
              </a:lnSpc>
              <a:spcAft>
                <a:spcPts val="200"/>
              </a:spcAft>
            </a:pPr>
            <a:r>
              <a:rPr sz="1200" b="0">
                <a:solidFill>
                  <a:srgbClr val="333333"/>
                </a:solidFill>
                <a:latin typeface="メイリオ"/>
                <a:ea typeface="メイリオ"/>
                <a:cs typeface="メイリオ"/>
              </a:rPr>
              <a:t>使い方のコツ・よくある質問／</a:t>
            </a:r>
          </a:p>
          <a:p>
            <a:pPr algn="l">
              <a:lnSpc>
                <a:spcPct val="105000"/>
              </a:lnSpc>
              <a:spcAft>
                <a:spcPts val="200"/>
              </a:spcAft>
            </a:pPr>
            <a:r>
              <a:rPr sz="1200" b="0">
                <a:solidFill>
                  <a:srgbClr val="333333"/>
                </a:solidFill>
                <a:latin typeface="メイリオ"/>
                <a:ea typeface="メイリオ"/>
                <a:cs typeface="メイリオ"/>
              </a:rPr>
              <a:t>LINEの転送でお友だちに紹介</a:t>
            </a:r>
          </a:p>
        </p:txBody>
      </p:sp>
      <p:sp>
        <p:nvSpPr>
          <p:cNvPr id="118" name="TextBox 117"/>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継続回数／</a:t>
            </a:r>
          </a:p>
          <a:p>
            <a:pPr algn="l">
              <a:lnSpc>
                <a:spcPct val="105000"/>
              </a:lnSpc>
              <a:spcAft>
                <a:spcPts val="200"/>
              </a:spcAft>
            </a:pPr>
            <a:r>
              <a:rPr sz="1200" b="0">
                <a:solidFill>
                  <a:srgbClr val="333333"/>
                </a:solidFill>
                <a:latin typeface="メイリオ"/>
                <a:ea typeface="メイリオ"/>
                <a:cs typeface="メイリオ"/>
              </a:rPr>
              <a:t>紹介からの友だち追加数</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603504" y="1043132"/>
            <a:ext cx="82296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Appendix（参考資料）</a:t>
            </a:r>
          </a:p>
        </p:txBody>
      </p:sp>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141506</TotalTime>
  <Words>3660</Words>
  <Application>Microsoft Office PowerPoint</Application>
  <PresentationFormat>A4 210 x 297 mm</PresentationFormat>
  <Paragraphs>767</Paragraphs>
  <Slides>36</Slides>
  <Notes>14</Notes>
  <HiddenSlides>1</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36</vt:i4>
      </vt:variant>
    </vt:vector>
  </HeadingPairs>
  <TitlesOfParts>
    <vt:vector size="42"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1925</cp:revision>
  <cp:lastPrinted>2022-11-01T11:38:14Z</cp:lastPrinted>
  <dcterms:created xsi:type="dcterms:W3CDTF">2015-09-04T09:21:15Z</dcterms:created>
  <dcterms:modified xsi:type="dcterms:W3CDTF">2026-09-15T01:12:32Z</dcterms:modified>
</cp:coreProperties>
</file>