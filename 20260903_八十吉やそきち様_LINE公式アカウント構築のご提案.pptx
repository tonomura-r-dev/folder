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32"/>
  </p:notesMasterIdLst>
  <p:handoutMasterIdLst>
    <p:handoutMasterId r:id="rId33"/>
  </p:handoutMasterIdLst>
  <p:sldIdLst>
    <p:sldId id="2363" r:id="rId3"/>
    <p:sldId id="2971" r:id="rId4"/>
    <p:sldId id="2996" r:id="rId5"/>
    <p:sldId id="2972" r:id="rId6"/>
    <p:sldId id="2973" r:id="rId7"/>
    <p:sldId id="2974" r:id="rId8"/>
    <p:sldId id="2975" r:id="rId9"/>
    <p:sldId id="2976" r:id="rId10"/>
    <p:sldId id="2977" r:id="rId11"/>
    <p:sldId id="2978" r:id="rId12"/>
    <p:sldId id="2979" r:id="rId13"/>
    <p:sldId id="2980" r:id="rId14"/>
    <p:sldId id="2981" r:id="rId15"/>
    <p:sldId id="2982" r:id="rId16"/>
    <p:sldId id="2983" r:id="rId17"/>
    <p:sldId id="2984" r:id="rId18"/>
    <p:sldId id="2985" r:id="rId19"/>
    <p:sldId id="2986" r:id="rId20"/>
    <p:sldId id="2987" r:id="rId21"/>
    <p:sldId id="2988" r:id="rId22"/>
    <p:sldId id="2989" r:id="rId23"/>
    <p:sldId id="2990" r:id="rId24"/>
    <p:sldId id="2991" r:id="rId25"/>
    <p:sldId id="2992" r:id="rId26"/>
    <p:sldId id="2994" r:id="rId27"/>
    <p:sldId id="2995" r:id="rId28"/>
    <p:sldId id="2997" r:id="rId29"/>
    <p:sldId id="2993" r:id="rId30"/>
    <p:sldId id="1169" r:id="rId31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173559"/>
    <a:srgbClr val="04FA0A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1236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notesMaster" Target="notesMasters/notesMaster1.xml"/><Relationship Id="rId33" Type="http://schemas.openxmlformats.org/officeDocument/2006/relationships/handoutMaster" Target="handoutMasters/handout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2026/9/3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29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emf"/><Relationship Id="rId4" Type="http://schemas.openxmlformats.org/officeDocument/2006/relationships/image" Target="../media/image11.jpeg"/><Relationship Id="rId5" Type="http://schemas.openxmlformats.org/officeDocument/2006/relationships/image" Target="../media/image12.jpeg"/><Relationship Id="rId6" Type="http://schemas.openxmlformats.org/officeDocument/2006/relationships/image" Target="../media/image13.jpeg"/><Relationship Id="rId7" Type="http://schemas.openxmlformats.org/officeDocument/2006/relationships/image" Target="../media/image14.jpeg"/><Relationship Id="rId8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13481" y="3094333"/>
            <a:ext cx="7488000" cy="584775"/>
          </a:xfrm>
          <a:prstGeom prst="rect">
            <a:avLst/>
          </a:prstGeom>
        </p:spPr>
        <p:txBody>
          <a:bodyPr wrap="square" lIns="0" tIns="18000" rIns="0" bIns="18000" anchor="ctr">
            <a:spAutoFit/>
          </a:bodyPr>
          <a:lstStyle/>
          <a:p>
            <a:pPr algn="l"/>
            <a:r>
              <a:rPr sz="32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LINE公式アカウント構築のご提案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729823"/>
            <a:ext cx="6626632" cy="338554"/>
          </a:xfrm>
          <a:prstGeom prst="rect">
            <a:avLst/>
          </a:prstGeom>
        </p:spPr>
        <p:txBody>
          <a:bodyPr wrap="square" lIns="57600" tIns="18000" rIns="57600" bIns="180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ご予約の受付から確定のご連絡までを、LINEのトークで完結させる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705064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10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EDEE7F4-9CB5-D481-E92E-3941E7AB9B1C}"/>
              </a:ext>
            </a:extLst>
          </p:cNvPr>
          <p:cNvSpPr/>
          <p:nvPr/>
        </p:nvSpPr>
        <p:spPr>
          <a:xfrm>
            <a:off x="3524717" y="3910946"/>
            <a:ext cx="2804160" cy="4055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600" b="1">
                <a:solidFill>
                  <a:srgbClr val="4A4A6A"/>
                </a:solidFill>
                <a:latin typeface="メイリオ"/>
                <a:ea typeface="メイリオ"/>
                <a:cs typeface="メイリオ"/>
              </a:rPr>
              <a:t>八十吉やそきち　御中</a:t>
            </a:r>
            <a:endParaRPr kumimoji="1" lang="ja-JP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0D14D38F-F567-ACF2-CDEB-76004FDB5B51}"/>
              </a:ext>
            </a:extLst>
          </p:cNvPr>
          <p:cNvSpPr txBox="1"/>
          <p:nvPr/>
        </p:nvSpPr>
        <p:spPr>
          <a:xfrm>
            <a:off x="548883" y="138137"/>
            <a:ext cx="70272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" rIns="0" bIns="18000" anchor="ctr" anchorCtr="0">
            <a:spAutoFit/>
          </a:bodyPr>
          <a:lstStyle/>
          <a:p>
            <a:pPr lvl="0" algn="l"/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本日のご説明内容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7200" y="936000"/>
            <a:ext cx="9144000" cy="558000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4つの章に分けてご説明いたします。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600" y="1745999"/>
            <a:ext cx="9144000" cy="827999"/>
          </a:xfrm>
          <a:prstGeom prst="rect">
            <a:avLst/>
          </a:prstGeom>
          <a:solidFill>
            <a:srgbClr val="F4F7FF"/>
          </a:solidFill>
          <a:ln w="12700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7600" y="1925999"/>
            <a:ext cx="468000" cy="4680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5600" y="1875600"/>
            <a:ext cx="3456000" cy="576000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ご予約の流れ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73600" y="1875600"/>
            <a:ext cx="4535999" cy="576000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>
                <a:solidFill>
                  <a:srgbClr val="4A4A6A"/>
                </a:solidFill>
                <a:latin typeface="メイリオ"/>
                <a:ea typeface="メイリオ"/>
                <a:cs typeface="メイリオ"/>
              </a:rPr>
              <a:t>ご指名から確定まで、どのように進むか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1600" y="2725200"/>
            <a:ext cx="9144000" cy="82799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7600" y="2905200"/>
            <a:ext cx="468000" cy="4680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5600" y="2854800"/>
            <a:ext cx="3456000" cy="576000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ご要望への対応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600" y="2988625"/>
            <a:ext cx="4535999" cy="308349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dirty="0" err="1">
                <a:solidFill>
                  <a:srgbClr val="4A4A6A"/>
                </a:solidFill>
                <a:latin typeface="メイリオ"/>
                <a:ea typeface="メイリオ"/>
                <a:cs typeface="メイリオ"/>
              </a:rPr>
              <a:t>いただいたご要望に、どこまで応えられるか</a:t>
            </a:r>
            <a:endParaRPr sz="1400" dirty="0">
              <a:solidFill>
                <a:srgbClr val="4A4A6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81600" y="3704399"/>
            <a:ext cx="9144000" cy="827999"/>
          </a:xfrm>
          <a:prstGeom prst="rect">
            <a:avLst/>
          </a:prstGeom>
          <a:solidFill>
            <a:srgbClr val="F4F7FF"/>
          </a:solidFill>
          <a:ln w="12700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97600" y="3884399"/>
            <a:ext cx="468000" cy="4680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5600" y="3833999"/>
            <a:ext cx="3456000" cy="576000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ご費用と運用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600" y="3833999"/>
            <a:ext cx="4535999" cy="576000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>
                <a:solidFill>
                  <a:srgbClr val="4A4A6A"/>
                </a:solidFill>
                <a:latin typeface="メイリオ"/>
                <a:ea typeface="メイリオ"/>
                <a:cs typeface="メイリオ"/>
              </a:rPr>
              <a:t>毎月いくらかかり、どなたが何をされるか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1600" y="4683600"/>
            <a:ext cx="9144000" cy="82799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97600" y="4863600"/>
            <a:ext cx="468000" cy="4680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5600" y="4813200"/>
            <a:ext cx="3456000" cy="576000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これから決めること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600" y="4813200"/>
            <a:ext cx="4535999" cy="576000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>
                <a:solidFill>
                  <a:srgbClr val="4A4A6A"/>
                </a:solidFill>
                <a:latin typeface="メイリオ"/>
                <a:ea typeface="メイリオ"/>
                <a:cs typeface="メイリオ"/>
              </a:rPr>
              <a:t>ご確認いただきたいことと、今後の進め方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600" y="5958000"/>
            <a:ext cx="9144000" cy="396000"/>
          </a:xfrm>
          <a:prstGeom prst="rect">
            <a:avLst/>
          </a:prstGeom>
          <a:noFill/>
        </p:spPr>
        <p:txBody>
          <a:bodyPr wrap="square" lIns="0" tIns="14400" rIns="0" bIns="144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お席の管理はこれまで通り。LINEが担うのは、連絡と、Webサイトのような案内の場です。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381600" y="4877999"/>
            <a:ext cx="9144000" cy="792000"/>
          </a:xfrm>
          <a:prstGeom prst="rect">
            <a:avLst/>
          </a:prstGeom>
          <a:solidFill>
            <a:srgbClr val="F4F7FF"/>
          </a:solidFill>
          <a:ln w="12700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4400" rIns="0" bIns="14400" rtlCol="0" anchor="ctr"/>
          <a:lstStyle/>
          <a:p>
            <a:pPr algn="ctr">
              <a:lnSpc>
                <a:spcPct val="140000"/>
              </a:lnSpc>
            </a:pPr>
            <a:r>
              <a:rPr sz="17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エイトビート様をやるかどうかは、今日決めなくて大丈夫です。</a:t>
            </a:r>
          </a:p>
          <a:p>
            <a:pPr algn="ctr">
              <a:lnSpc>
                <a:spcPct val="140000"/>
              </a:lnSpc>
            </a:pPr>
            <a:r>
              <a:rPr sz="17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決まったときに、すぐ動かせる状態まで作っておきます。</a:t>
            </a:r>
          </a:p>
        </p:txBody>
      </p:sp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0D14D38F-F567-ACF2-CDEB-76004FDB5B51}"/>
              </a:ext>
            </a:extLst>
          </p:cNvPr>
          <p:cNvSpPr txBox="1"/>
          <p:nvPr/>
        </p:nvSpPr>
        <p:spPr>
          <a:xfrm>
            <a:off x="548883" y="138137"/>
            <a:ext cx="70272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" rIns="0" bIns="14400" anchor="ctr" anchorCtr="0">
            <a:spAutoFit/>
          </a:bodyPr>
          <a:lstStyle/>
          <a:p>
            <a:pPr lvl="0" algn="l"/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本日のゴール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600" y="827999"/>
            <a:ext cx="9144000" cy="468000"/>
          </a:xfrm>
          <a:prstGeom prst="rect">
            <a:avLst/>
          </a:prstGeom>
          <a:noFill/>
        </p:spPr>
        <p:txBody>
          <a:bodyPr wrap="square" lIns="0" tIns="14400" rIns="0" bIns="14400" anchor="ctr">
            <a:spAutoFit/>
          </a:bodyPr>
          <a:lstStyle/>
          <a:p>
            <a:pPr algn="ctr"/>
            <a:r>
              <a:rPr sz="2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今日決めていただくのは、2つだけです。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600" y="1475999"/>
            <a:ext cx="4428000" cy="3273144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343599" y="1710000"/>
            <a:ext cx="503999" cy="503999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4400" rIns="0" bIns="1440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600" y="2322000"/>
            <a:ext cx="4139999" cy="396000"/>
          </a:xfrm>
          <a:prstGeom prst="rect">
            <a:avLst/>
          </a:prstGeom>
          <a:noFill/>
        </p:spPr>
        <p:txBody>
          <a:bodyPr wrap="square" lIns="0" tIns="14400" rIns="0" bIns="14400" anchor="ctr">
            <a:spAutoFit/>
          </a:bodyPr>
          <a:lstStyle/>
          <a:p>
            <a:pPr algn="ctr"/>
            <a:r>
              <a:rPr sz="19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4つのご確認にチェック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9600" y="2718000"/>
            <a:ext cx="3852000" cy="1617978"/>
          </a:xfrm>
          <a:prstGeom prst="rect">
            <a:avLst/>
          </a:prstGeom>
          <a:noFill/>
        </p:spPr>
        <p:txBody>
          <a:bodyPr wrap="square" lIns="0" tIns="14400" rIns="0" bIns="144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dirty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400" dirty="0" err="1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パフォーマーの方への操作権限</a:t>
            </a:r>
            <a:endParaRPr sz="1400" dirty="0">
              <a:solidFill>
                <a:srgbClr val="1A1A2E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50000"/>
              </a:lnSpc>
            </a:pPr>
            <a:r>
              <a:rPr sz="1400" dirty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・ご予約はこれまで通り（LINEは連絡と案内）</a:t>
            </a:r>
          </a:p>
          <a:p>
            <a:pPr algn="l">
              <a:lnSpc>
                <a:spcPct val="150000"/>
              </a:lnSpc>
            </a:pPr>
            <a:r>
              <a:rPr sz="1400" dirty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・月額の固定費は0円</a:t>
            </a:r>
          </a:p>
          <a:p>
            <a:pPr algn="l">
              <a:lnSpc>
                <a:spcPct val="150000"/>
              </a:lnSpc>
            </a:pPr>
            <a:r>
              <a:rPr sz="1400" dirty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400" dirty="0" err="1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一斉配信は新規のお客様向けのみ</a:t>
            </a:r>
            <a:endParaRPr lang="ja-JP" altLang="en-US" sz="1400" dirty="0">
              <a:solidFill>
                <a:srgbClr val="1A1A2E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50000"/>
              </a:lnSpc>
            </a:pPr>
            <a:r>
              <a:rPr lang="ja-JP" altLang="en-US" sz="1400" dirty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内容は第</a:t>
            </a:r>
            <a:r>
              <a:rPr lang="en-US" altLang="ja-JP" sz="1400" dirty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4</a:t>
            </a:r>
            <a:r>
              <a:rPr lang="ja-JP" altLang="en-US" sz="1400" dirty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章でご説明します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97600" y="1475999"/>
            <a:ext cx="4428000" cy="3273144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059600" y="1710000"/>
            <a:ext cx="503999" cy="503999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4400" rIns="0" bIns="1440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41600" y="2322000"/>
            <a:ext cx="4139999" cy="396000"/>
          </a:xfrm>
          <a:prstGeom prst="rect">
            <a:avLst/>
          </a:prstGeom>
          <a:noFill/>
        </p:spPr>
        <p:txBody>
          <a:bodyPr wrap="square" lIns="0" tIns="14400" rIns="0" bIns="14400" anchor="ctr">
            <a:spAutoFit/>
          </a:bodyPr>
          <a:lstStyle/>
          <a:p>
            <a:pPr algn="ctr"/>
            <a:r>
              <a:rPr sz="19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八十吉様の営業時間と定休日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85601" y="2718000"/>
            <a:ext cx="3852000" cy="1617978"/>
          </a:xfrm>
          <a:prstGeom prst="rect">
            <a:avLst/>
          </a:prstGeom>
          <a:noFill/>
        </p:spPr>
        <p:txBody>
          <a:bodyPr wrap="square" lIns="0" tIns="14400" rIns="0" bIns="144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定休日は「木曜・日曜」の認識です。</a:t>
            </a:r>
          </a:p>
          <a:p>
            <a:pPr algn="l">
              <a:lnSpc>
                <a:spcPct val="145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営業時間とあわせて、この認識で</a:t>
            </a:r>
          </a:p>
          <a:p>
            <a:pPr algn="l">
              <a:lnSpc>
                <a:spcPct val="145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合っているかをご確認ください。</a:t>
            </a:r>
          </a:p>
          <a:p>
            <a:pPr algn="l"/>
            <a:r>
              <a:rPr sz="8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臨時のお休み・営業は、都度お知らせ</a:t>
            </a:r>
          </a:p>
          <a:p>
            <a:pPr algn="l">
              <a:lnSpc>
                <a:spcPct val="145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いただければ自動応答に反映します。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600" y="5885999"/>
            <a:ext cx="9144000" cy="360000"/>
          </a:xfrm>
          <a:prstGeom prst="rect">
            <a:avLst/>
          </a:prstGeom>
          <a:noFill/>
        </p:spPr>
        <p:txBody>
          <a:bodyPr wrap="square" lIns="0" tIns="14400" rIns="0" bIns="1440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この2つが決まれば、あとは弊社が構築を進め、納品まで完了させます。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0D14D38F-F567-ACF2-CDEB-76004FDB5B51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" rIns="0" bIns="18000" anchor="ctr" anchorCtr="0">
            <a:spAutoFit/>
          </a:bodyPr>
          <a:lstStyle/>
          <a:p>
            <a:pPr lvl="0" algn="l"/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資料アジェンダ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36C1E2A-AC35-76CA-EBEE-CAD4F26CF45A}"/>
              </a:ext>
            </a:extLst>
          </p:cNvPr>
          <p:cNvSpPr/>
          <p:nvPr/>
        </p:nvSpPr>
        <p:spPr>
          <a:xfrm>
            <a:off x="1460711" y="3038203"/>
            <a:ext cx="6984604" cy="584775"/>
          </a:xfrm>
          <a:prstGeom prst="rect">
            <a:avLst/>
          </a:prstGeom>
        </p:spPr>
        <p:txBody>
          <a:bodyPr wrap="square" lIns="57600" tIns="18000" rIns="57600" bIns="18000" anchor="ctr">
            <a:spAutoFit/>
          </a:bodyPr>
          <a:lstStyle/>
          <a:p>
            <a:pPr algn="ctr"/>
            <a:r>
              <a:rPr sz="32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ご予約の流れ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0D14D38F-F567-ACF2-CDEB-76004FDB5B51}"/>
              </a:ext>
            </a:extLst>
          </p:cNvPr>
          <p:cNvSpPr txBox="1"/>
          <p:nvPr/>
        </p:nvSpPr>
        <p:spPr>
          <a:xfrm>
            <a:off x="548883" y="138137"/>
            <a:ext cx="70272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" rIns="0" bIns="18000" anchor="ctr" anchorCtr="0">
            <a:spAutoFit/>
          </a:bodyPr>
          <a:lstStyle/>
          <a:p>
            <a:pPr lvl="0" algn="l"/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ご予約の流れ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600"/>
            <a:ext cx="2916000" cy="503999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1. ご予約の流れ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34800" y="777600"/>
            <a:ext cx="6490799" cy="737999"/>
          </a:xfrm>
          <a:prstGeom prst="rect">
            <a:avLst/>
          </a:prstGeom>
          <a:noFill/>
        </p:spPr>
        <p:txBody>
          <a:bodyPr wrap="square" lIns="0" tIns="14400" rIns="0" bIns="144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ご指名から確定まで、LINEのトークの中で完結いたします。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ご指名の仕組みは、エイトビート様を始められるときにすぐ動かせるよう、八十吉様のアカウントに先に整えておきます。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638000"/>
            <a:ext cx="2947199" cy="273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1600" y="1638000"/>
            <a:ext cx="2947199" cy="576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646399" y="1810799"/>
            <a:ext cx="417600" cy="4176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400" y="2286000"/>
            <a:ext cx="2745599" cy="666000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ご予約リクエスト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7600" y="3013199"/>
            <a:ext cx="2515199" cy="14400"/>
          </a:xfrm>
          <a:prstGeom prst="rect">
            <a:avLst/>
          </a:prstGeom>
          <a:solidFill>
            <a:srgbClr val="D8D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2800" y="3131999"/>
            <a:ext cx="2644799" cy="978917"/>
          </a:xfrm>
          <a:prstGeom prst="rect">
            <a:avLst/>
          </a:prstGeom>
          <a:noFill/>
        </p:spPr>
        <p:txBody>
          <a:bodyPr wrap="square" lIns="0" tIns="18000" rIns="0" bIns="180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dirty="0" err="1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お客様</a:t>
            </a:r>
            <a:endParaRPr sz="1400" dirty="0">
              <a:solidFill>
                <a:srgbClr val="1A1A2E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50000"/>
              </a:lnSpc>
            </a:pPr>
            <a:r>
              <a:rPr sz="1400" dirty="0" err="1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日時・人数・ご指名を</a:t>
            </a:r>
            <a:endParaRPr sz="1400" dirty="0">
              <a:solidFill>
                <a:srgbClr val="1A1A2E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50000"/>
              </a:lnSpc>
            </a:pPr>
            <a:r>
              <a:rPr sz="1400" dirty="0" err="1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トークで送っていただきます</a:t>
            </a:r>
            <a:endParaRPr sz="1400" dirty="0">
              <a:solidFill>
                <a:srgbClr val="1A1A2E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480000" y="1638000"/>
            <a:ext cx="2947199" cy="273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80000" y="1638000"/>
            <a:ext cx="2947199" cy="576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744799" y="1810799"/>
            <a:ext cx="417600" cy="4176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0799" y="2286000"/>
            <a:ext cx="2745599" cy="666000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ご承諾のお返事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95999" y="3013199"/>
            <a:ext cx="2515199" cy="14400"/>
          </a:xfrm>
          <a:prstGeom prst="rect">
            <a:avLst/>
          </a:prstGeom>
          <a:solidFill>
            <a:srgbClr val="D8D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31199" y="3131999"/>
            <a:ext cx="2644799" cy="978917"/>
          </a:xfrm>
          <a:prstGeom prst="rect">
            <a:avLst/>
          </a:prstGeom>
          <a:noFill/>
        </p:spPr>
        <p:txBody>
          <a:bodyPr wrap="square" lIns="0" tIns="18000" rIns="0" bIns="180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dirty="0" err="1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パフォーマ</a:t>
            </a:r>
            <a:r>
              <a:rPr sz="1400" dirty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ー</a:t>
            </a:r>
          </a:p>
          <a:p>
            <a:pPr algn="l">
              <a:lnSpc>
                <a:spcPct val="150000"/>
              </a:lnSpc>
            </a:pPr>
            <a:r>
              <a:rPr sz="1400" dirty="0" err="1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ご指名に気づいて</a:t>
            </a:r>
            <a:r>
              <a:rPr sz="1400" dirty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50000"/>
              </a:lnSpc>
            </a:pPr>
            <a:r>
              <a:rPr sz="1400" dirty="0" err="1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お受けできるかを返信</a:t>
            </a:r>
            <a:endParaRPr sz="1400" dirty="0">
              <a:solidFill>
                <a:srgbClr val="1A1A2E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578399" y="1638000"/>
            <a:ext cx="2947199" cy="273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78399" y="1638000"/>
            <a:ext cx="2947199" cy="576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843199" y="1810799"/>
            <a:ext cx="417600" cy="4176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9199" y="2286000"/>
            <a:ext cx="2745599" cy="666000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確定のご連絡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94399" y="3013199"/>
            <a:ext cx="2515199" cy="14400"/>
          </a:xfrm>
          <a:prstGeom prst="rect">
            <a:avLst/>
          </a:prstGeom>
          <a:solidFill>
            <a:srgbClr val="D8D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29599" y="3131999"/>
            <a:ext cx="2644799" cy="978917"/>
          </a:xfrm>
          <a:prstGeom prst="rect">
            <a:avLst/>
          </a:prstGeom>
          <a:noFill/>
        </p:spPr>
        <p:txBody>
          <a:bodyPr wrap="square" lIns="0" tIns="18000" rIns="0" bIns="180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dirty="0" err="1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パフォーマ</a:t>
            </a:r>
            <a:r>
              <a:rPr sz="1400" dirty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ー</a:t>
            </a:r>
          </a:p>
          <a:p>
            <a:pPr algn="l">
              <a:lnSpc>
                <a:spcPct val="150000"/>
              </a:lnSpc>
            </a:pPr>
            <a:r>
              <a:rPr sz="1400" dirty="0" err="1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お客様へ直接お伝えいただき</a:t>
            </a:r>
            <a:r>
              <a:rPr sz="1400" dirty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50000"/>
              </a:lnSpc>
            </a:pPr>
            <a:r>
              <a:rPr sz="1400" dirty="0" err="1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ご来店時刻もここで調整</a:t>
            </a:r>
            <a:endParaRPr sz="1400" dirty="0">
              <a:solidFill>
                <a:srgbClr val="1A1A2E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81600" y="4536000"/>
            <a:ext cx="9144000" cy="432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600" b="1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店舗様の作業は、お席の確保だけです。ご予約台帳での操作は、これまで通りです。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1600" y="5094000"/>
            <a:ext cx="9144000" cy="917999"/>
          </a:xfrm>
          <a:prstGeom prst="rect">
            <a:avLst/>
          </a:prstGeom>
          <a:solidFill>
            <a:srgbClr val="FFFFFF"/>
          </a:solidFill>
          <a:ln w="28575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>
              <a:lnSpc>
                <a:spcPct val="140000"/>
              </a:lnSpc>
            </a:pPr>
            <a:r>
              <a:rPr sz="18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ご指名の取り次ぎは要りません。パフォーマーの方に通知が届きます。</a:t>
            </a:r>
          </a:p>
          <a:p>
            <a:pPr algn="ctr">
              <a:lnSpc>
                <a:spcPct val="140000"/>
              </a:lnSpc>
            </a:pPr>
            <a:r>
              <a:rPr sz="18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チャットは通数に含まれないため、何往復しても月額0円のままです。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0D14D38F-F567-ACF2-CDEB-76004FDB5B51}"/>
              </a:ext>
            </a:extLst>
          </p:cNvPr>
          <p:cNvSpPr txBox="1"/>
          <p:nvPr/>
        </p:nvSpPr>
        <p:spPr>
          <a:xfrm>
            <a:off x="548883" y="138137"/>
            <a:ext cx="70272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" rIns="0" bIns="18000" anchor="ctr" anchorCtr="0">
            <a:spAutoFit/>
          </a:bodyPr>
          <a:lstStyle/>
          <a:p>
            <a:pPr lvl="0" algn="l"/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実際のトーク画面で見ると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600"/>
            <a:ext cx="2916000" cy="503999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1. ご予約の流れ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34800" y="777600"/>
            <a:ext cx="6490799" cy="503999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先ほどの3工程が、お客様の画面ではこのように進みます。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600" y="1303200"/>
            <a:ext cx="2678400" cy="223200"/>
          </a:xfrm>
          <a:prstGeom prst="rect">
            <a:avLst/>
          </a:prstGeom>
          <a:noFill/>
        </p:spPr>
        <p:txBody>
          <a:bodyPr wrap="square" lIns="0" tIns="14400" rIns="0" bIns="14400" anchor="ctr">
            <a:spAutoFit/>
          </a:bodyPr>
          <a:lstStyle/>
          <a:p>
            <a:pPr algn="ctr"/>
            <a:r>
              <a:rPr sz="15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① お客様が送る</a:t>
            </a:r>
          </a:p>
        </p:txBody>
      </p:sp>
      <p:pic>
        <p:nvPicPr>
          <p:cNvPr id="8" name="Picture 7" descr="Codex 画像 2026年9月3日 13_12_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00" y="1565999"/>
            <a:ext cx="2678400" cy="334680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14400" y="1303200"/>
            <a:ext cx="2678400" cy="223200"/>
          </a:xfrm>
          <a:prstGeom prst="rect">
            <a:avLst/>
          </a:prstGeom>
          <a:noFill/>
        </p:spPr>
        <p:txBody>
          <a:bodyPr wrap="square" lIns="0" tIns="14400" rIns="0" bIns="14400" anchor="ctr">
            <a:spAutoFit/>
          </a:bodyPr>
          <a:lstStyle/>
          <a:p>
            <a:pPr algn="ctr"/>
            <a:r>
              <a:rPr sz="15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 パフォーマーが返す</a:t>
            </a:r>
          </a:p>
        </p:txBody>
      </p:sp>
      <p:pic>
        <p:nvPicPr>
          <p:cNvPr id="10" name="Picture 9" descr="Codex 画像 2026年9月3日 13_13_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4400" y="1565999"/>
            <a:ext cx="2678400" cy="334680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47200" y="1303200"/>
            <a:ext cx="2678400" cy="223200"/>
          </a:xfrm>
          <a:prstGeom prst="rect">
            <a:avLst/>
          </a:prstGeom>
          <a:noFill/>
        </p:spPr>
        <p:txBody>
          <a:bodyPr wrap="square" lIns="0" tIns="14400" rIns="0" bIns="14400" anchor="ctr">
            <a:spAutoFit/>
          </a:bodyPr>
          <a:lstStyle/>
          <a:p>
            <a:pPr algn="ctr"/>
            <a:r>
              <a:rPr sz="15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③ 確定をお伝えする</a:t>
            </a:r>
          </a:p>
        </p:txBody>
      </p:sp>
      <p:pic>
        <p:nvPicPr>
          <p:cNvPr id="12" name="Picture 11" descr="Codex 画像 2026年9月3日 13_14_4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200" y="1565999"/>
            <a:ext cx="2678400" cy="334680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81600" y="5038806"/>
            <a:ext cx="9144000" cy="324000"/>
          </a:xfrm>
          <a:prstGeom prst="rect">
            <a:avLst/>
          </a:prstGeom>
          <a:noFill/>
        </p:spPr>
        <p:txBody>
          <a:bodyPr wrap="square" lIns="0" tIns="14400" rIns="0" bIns="14400" anchor="ctr">
            <a:spAutoFit/>
          </a:bodyPr>
          <a:lstStyle/>
          <a:p>
            <a:pPr algn="ctr"/>
            <a:r>
              <a:rPr sz="16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店舗様に取り次いでいただく場面は、この中に一度もございません。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0D14D38F-F567-ACF2-CDEB-76004FDB5B51}"/>
              </a:ext>
            </a:extLst>
          </p:cNvPr>
          <p:cNvSpPr txBox="1"/>
          <p:nvPr/>
        </p:nvSpPr>
        <p:spPr>
          <a:xfrm>
            <a:off x="548883" y="138137"/>
            <a:ext cx="70272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" rIns="0" bIns="18000" anchor="ctr" anchorCtr="0">
            <a:spAutoFit/>
          </a:bodyPr>
          <a:lstStyle/>
          <a:p>
            <a:pPr lvl="0" algn="l"/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この構成を採る理由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600"/>
            <a:ext cx="2916000" cy="503999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1. ご予約の流れ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34800" y="777600"/>
            <a:ext cx="6490799" cy="503999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お席の管理をこれまで通りにしたうえで、連絡と案内をLINEに集約いたします。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638000"/>
            <a:ext cx="2172599" cy="3024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1600" y="1638000"/>
            <a:ext cx="2172599" cy="576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59099" y="1810799"/>
            <a:ext cx="417600" cy="4176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400" y="2286000"/>
            <a:ext cx="1970999" cy="666000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お席が二重に埋まりません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7600" y="3013199"/>
            <a:ext cx="1740599" cy="14400"/>
          </a:xfrm>
          <a:prstGeom prst="rect">
            <a:avLst/>
          </a:prstGeom>
          <a:solidFill>
            <a:srgbClr val="D8D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2400" y="3131999"/>
            <a:ext cx="1970999" cy="978917"/>
          </a:xfrm>
          <a:prstGeom prst="rect">
            <a:avLst/>
          </a:prstGeom>
          <a:noFill/>
        </p:spPr>
        <p:txBody>
          <a:bodyPr wrap="square" lIns="0" tIns="18000" rIns="0" bIns="180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dirty="0" err="1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お席の管理をこれまでと</a:t>
            </a:r>
            <a:endParaRPr sz="1400" dirty="0">
              <a:solidFill>
                <a:srgbClr val="1A1A2E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50000"/>
              </a:lnSpc>
            </a:pPr>
            <a:r>
              <a:rPr sz="1400" dirty="0" err="1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変えないため、媒体側の</a:t>
            </a:r>
            <a:endParaRPr sz="1400" dirty="0">
              <a:solidFill>
                <a:srgbClr val="1A1A2E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50000"/>
              </a:lnSpc>
            </a:pPr>
            <a:r>
              <a:rPr sz="1400" dirty="0" err="1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ご予約と重なりません</a:t>
            </a:r>
            <a:endParaRPr sz="1400" dirty="0">
              <a:solidFill>
                <a:srgbClr val="1A1A2E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05399" y="1638000"/>
            <a:ext cx="2172599" cy="3024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05399" y="1638000"/>
            <a:ext cx="2172599" cy="576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82899" y="1810799"/>
            <a:ext cx="417600" cy="4176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6199" y="2286000"/>
            <a:ext cx="1970999" cy="666000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固定費が発生しません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1399" y="3013199"/>
            <a:ext cx="1740599" cy="14400"/>
          </a:xfrm>
          <a:prstGeom prst="rect">
            <a:avLst/>
          </a:prstGeom>
          <a:solidFill>
            <a:srgbClr val="D8D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06199" y="3131999"/>
            <a:ext cx="1970999" cy="655752"/>
          </a:xfrm>
          <a:prstGeom prst="rect">
            <a:avLst/>
          </a:prstGeom>
          <a:noFill/>
        </p:spPr>
        <p:txBody>
          <a:bodyPr wrap="square" lIns="0" tIns="18000" rIns="0" bIns="180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予約管理の外部ツールを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導入しないためです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1638000"/>
            <a:ext cx="2172599" cy="3024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0" y="1638000"/>
            <a:ext cx="2172599" cy="576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906700" y="1810799"/>
            <a:ext cx="417600" cy="4176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999" y="2286000"/>
            <a:ext cx="1970999" cy="666000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個人のLINEが不要です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45199" y="3013199"/>
            <a:ext cx="1740599" cy="14400"/>
          </a:xfrm>
          <a:prstGeom prst="rect">
            <a:avLst/>
          </a:prstGeom>
          <a:solidFill>
            <a:srgbClr val="D8D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80400" y="3131999"/>
            <a:ext cx="1870199" cy="1386000"/>
          </a:xfrm>
          <a:prstGeom prst="rect">
            <a:avLst/>
          </a:prstGeom>
          <a:noFill/>
        </p:spPr>
        <p:txBody>
          <a:bodyPr wrap="square" lIns="0" tIns="18000" rIns="0" bIns="180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やり取りが店舗の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アカウントに残ります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6997" y="1638000"/>
            <a:ext cx="2172599" cy="3024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52999" y="1638000"/>
            <a:ext cx="2172599" cy="576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230499" y="1810799"/>
            <a:ext cx="417600" cy="4176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3799" y="2286000"/>
            <a:ext cx="1970999" cy="666000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何往復しても同額です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68999" y="3013199"/>
            <a:ext cx="1740599" cy="14400"/>
          </a:xfrm>
          <a:prstGeom prst="rect">
            <a:avLst/>
          </a:prstGeom>
          <a:solidFill>
            <a:srgbClr val="D8D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51801" y="3131999"/>
            <a:ext cx="2172599" cy="655752"/>
          </a:xfrm>
          <a:prstGeom prst="rect">
            <a:avLst/>
          </a:prstGeom>
          <a:noFill/>
        </p:spPr>
        <p:txBody>
          <a:bodyPr wrap="square" lIns="0" tIns="18000" rIns="0" bIns="180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dirty="0" err="1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LINEのチャットは配信の</a:t>
            </a:r>
            <a:endParaRPr sz="1400" dirty="0">
              <a:solidFill>
                <a:srgbClr val="1A1A2E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50000"/>
              </a:lnSpc>
            </a:pPr>
            <a:r>
              <a:rPr sz="1400" dirty="0" err="1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通数に含まれないためです</a:t>
            </a:r>
            <a:endParaRPr sz="1400" dirty="0">
              <a:solidFill>
                <a:srgbClr val="1A1A2E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81600" y="4896000"/>
            <a:ext cx="9144000" cy="396000"/>
          </a:xfrm>
          <a:prstGeom prst="rect">
            <a:avLst/>
          </a:prstGeom>
          <a:noFill/>
        </p:spPr>
        <p:txBody>
          <a:bodyPr wrap="square" lIns="57600" tIns="18000" rIns="57600" bIns="1800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外部のツールを使わないという方針が、そのまま安全と低コストにつながります。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0D14D38F-F567-ACF2-CDEB-76004FDB5B51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" rIns="0" bIns="18000" anchor="ctr" anchorCtr="0">
            <a:spAutoFit/>
          </a:bodyPr>
          <a:lstStyle/>
          <a:p>
            <a:pPr lvl="0" algn="l"/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資料アジェンダ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36C1E2A-AC35-76CA-EBEE-CAD4F26CF45A}"/>
              </a:ext>
            </a:extLst>
          </p:cNvPr>
          <p:cNvSpPr/>
          <p:nvPr/>
        </p:nvSpPr>
        <p:spPr>
          <a:xfrm>
            <a:off x="1460711" y="3038203"/>
            <a:ext cx="6984604" cy="584775"/>
          </a:xfrm>
          <a:prstGeom prst="rect">
            <a:avLst/>
          </a:prstGeom>
        </p:spPr>
        <p:txBody>
          <a:bodyPr wrap="square" lIns="57600" tIns="18000" rIns="57600" bIns="18000" anchor="ctr">
            <a:spAutoFit/>
          </a:bodyPr>
          <a:lstStyle/>
          <a:p>
            <a:pPr algn="ctr"/>
            <a:r>
              <a:rPr sz="32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ご要望への対応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0D14D38F-F567-ACF2-CDEB-76004FDB5B51}"/>
              </a:ext>
            </a:extLst>
          </p:cNvPr>
          <p:cNvSpPr txBox="1"/>
          <p:nvPr/>
        </p:nvSpPr>
        <p:spPr>
          <a:xfrm>
            <a:off x="548883" y="138137"/>
            <a:ext cx="70272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" rIns="0" bIns="18000" anchor="ctr" anchorCtr="0">
            <a:spAutoFit/>
          </a:bodyPr>
          <a:lstStyle/>
          <a:p>
            <a:pPr lvl="0" algn="l"/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LINE側でご用意するもの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600"/>
            <a:ext cx="2916000" cy="503999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2. ご要望への対応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34800" y="777600"/>
            <a:ext cx="6490799" cy="503999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下記はすべて、LINE公式アカウントの標準の機能です。追加の費用はかかりません。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638000"/>
            <a:ext cx="91440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1600" y="1638000"/>
            <a:ext cx="2376000" cy="37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機能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57600" y="1638000"/>
            <a:ext cx="5328000" cy="37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用途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5600" y="1638000"/>
            <a:ext cx="1440000" cy="37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費用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1600" y="2015999"/>
            <a:ext cx="9144000" cy="7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1600" y="2015999"/>
            <a:ext cx="2376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リッチメニュー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7600" y="2015999"/>
            <a:ext cx="5328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ご予約の入口、出演者のご紹介、お問い合わせ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5600" y="2015999"/>
            <a:ext cx="1440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0円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1600" y="2718000"/>
            <a:ext cx="9144000" cy="702000"/>
          </a:xfrm>
          <a:prstGeom prst="rect">
            <a:avLst/>
          </a:prstGeom>
          <a:solidFill>
            <a:srgbClr val="F4F7FF"/>
          </a:solidFill>
          <a:ln w="952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1600" y="2718000"/>
            <a:ext cx="2376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あいさつメッセージ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57600" y="2718000"/>
            <a:ext cx="5328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友だち追加時のごあいさつとご予約方法のご案内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5600" y="2718000"/>
            <a:ext cx="1440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0円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1600" y="3420000"/>
            <a:ext cx="9144000" cy="7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1600" y="3420000"/>
            <a:ext cx="2376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自動応答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57600" y="3420000"/>
            <a:ext cx="5328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営業時間外の返信、ご記入フォーマットの提示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5600" y="3420000"/>
            <a:ext cx="1440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0円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600" y="4121999"/>
            <a:ext cx="9144000" cy="702000"/>
          </a:xfrm>
          <a:prstGeom prst="rect">
            <a:avLst/>
          </a:prstGeom>
          <a:solidFill>
            <a:srgbClr val="F4F7FF"/>
          </a:solidFill>
          <a:ln w="952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1600" y="4121999"/>
            <a:ext cx="2376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チャット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57600" y="4121999"/>
            <a:ext cx="5328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パフォーマーとお客様のやり取り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5600" y="4121999"/>
            <a:ext cx="1440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0円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600" y="4823999"/>
            <a:ext cx="9144000" cy="7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1600" y="4823999"/>
            <a:ext cx="2376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操作権限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57600" y="4823999"/>
            <a:ext cx="5328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パフォーマーがご自身でチャットを扱える（100名まで）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5600" y="4823999"/>
            <a:ext cx="1440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0円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1600" y="5544000"/>
            <a:ext cx="9144000" cy="396000"/>
          </a:xfrm>
          <a:prstGeom prst="rect">
            <a:avLst/>
          </a:prstGeom>
          <a:noFill/>
        </p:spPr>
        <p:txBody>
          <a:bodyPr wrap="square" lIns="57600" tIns="18000" rIns="57600" bIns="1800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外部のツールは導入しません。お席の管理は、いまお使いの仕組みのままです。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1600" y="6336000"/>
            <a:ext cx="9144000" cy="288000"/>
          </a:xfrm>
          <a:prstGeom prst="rect">
            <a:avLst/>
          </a:prstGeom>
          <a:noFill/>
        </p:spPr>
        <p:txBody>
          <a:bodyPr wrap="square" lIns="57600" tIns="18000" rIns="57600" bIns="180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5A5A72"/>
                </a:solidFill>
                <a:latin typeface="メイリオ"/>
                <a:ea typeface="メイリオ"/>
                <a:cs typeface="メイリオ"/>
              </a:rPr>
              <a:t>※ 操作権限は、店舗のアカウントに紐づきます。個人のLINEをお客様にお教えする必要はありません。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0D14D38F-F567-ACF2-CDEB-76004FDB5B51}"/>
              </a:ext>
            </a:extLst>
          </p:cNvPr>
          <p:cNvSpPr txBox="1"/>
          <p:nvPr/>
        </p:nvSpPr>
        <p:spPr>
          <a:xfrm>
            <a:off x="548883" y="138137"/>
            <a:ext cx="70272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" rIns="0" bIns="18000" anchor="ctr" anchorCtr="0">
            <a:spAutoFit/>
          </a:bodyPr>
          <a:lstStyle/>
          <a:p>
            <a:pPr lvl="0" algn="l"/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ご要望への対応（1）　1〜5番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600"/>
            <a:ext cx="2916000" cy="503999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2. ご要望への対応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34800" y="777600"/>
            <a:ext cx="6490799" cy="503999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○ そのまま成立　　△ できるが手作業が残る　　× この構成ではできない　　－ LINE側では扱いません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638000"/>
            <a:ext cx="91440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1600" y="1638000"/>
            <a:ext cx="2304000" cy="37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ご要望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5600" y="1638000"/>
            <a:ext cx="792000" cy="37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判定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7600" y="1638000"/>
            <a:ext cx="3816000" cy="37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実現する方法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3599" y="1638000"/>
            <a:ext cx="2232000" cy="37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残る手作業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1600" y="2015999"/>
            <a:ext cx="9144000" cy="7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1600" y="2015999"/>
            <a:ext cx="2304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来店日時＋人数の指定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5600" y="2015999"/>
            <a:ext cx="792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7600" y="2015999"/>
            <a:ext cx="3816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チャットに自由入力。記入フォーマットを自動応答で案内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3599" y="2015999"/>
            <a:ext cx="2232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内容を読み取る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1600" y="2718000"/>
            <a:ext cx="9144000" cy="702000"/>
          </a:xfrm>
          <a:prstGeom prst="rect">
            <a:avLst/>
          </a:prstGeom>
          <a:solidFill>
            <a:srgbClr val="F4F7FF"/>
          </a:solidFill>
          <a:ln w="952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1600" y="2718000"/>
            <a:ext cx="2304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ご指名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5600" y="2718000"/>
            <a:ext cx="792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7600" y="2718000"/>
            <a:ext cx="3816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出演者のご紹介で、お名前の書き方をご案内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93599" y="2718000"/>
            <a:ext cx="2232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どなたのご指名かを読み取る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1600" y="3420000"/>
            <a:ext cx="9144000" cy="7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1600" y="3420000"/>
            <a:ext cx="2304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ご希望の内容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85600" y="3420000"/>
            <a:ext cx="792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7600" y="3420000"/>
            <a:ext cx="3816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チャットにお書きいただく。演目とお食事の一覧も掲載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93599" y="3420000"/>
            <a:ext cx="2232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ご希望の内容を読み取る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600" y="4121999"/>
            <a:ext cx="9144000" cy="702000"/>
          </a:xfrm>
          <a:prstGeom prst="rect">
            <a:avLst/>
          </a:prstGeom>
          <a:solidFill>
            <a:srgbClr val="F4F7FF"/>
          </a:solidFill>
          <a:ln w="952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1600" y="4121999"/>
            <a:ext cx="2304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パフォーマーへの自動通知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85600" y="4121999"/>
            <a:ext cx="792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7600" y="4121999"/>
            <a:ext cx="3816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権限をお持ちの方全員に通知が届く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3599" y="4121999"/>
            <a:ext cx="2232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なし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1600" y="4823999"/>
            <a:ext cx="9144000" cy="7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81600" y="4823999"/>
            <a:ext cx="2304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パフォーマーの手動確認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85600" y="4823999"/>
            <a:ext cx="792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7600" y="4823999"/>
            <a:ext cx="3816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操作権限を付与する。100名まで無料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3599" y="4823999"/>
            <a:ext cx="2232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なし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1600" y="5684400"/>
            <a:ext cx="9144000" cy="396000"/>
          </a:xfrm>
          <a:prstGeom prst="rect">
            <a:avLst/>
          </a:prstGeom>
          <a:noFill/>
        </p:spPr>
        <p:txBody>
          <a:bodyPr wrap="square" lIns="57600" tIns="18000" rIns="57600" bIns="1800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dirty="0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5件のうち3件は、内容を読み取る手作業が残ります。文面の型で最小にいたします。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0D14D38F-F567-ACF2-CDEB-76004FDB5B51}"/>
              </a:ext>
            </a:extLst>
          </p:cNvPr>
          <p:cNvSpPr txBox="1"/>
          <p:nvPr/>
        </p:nvSpPr>
        <p:spPr>
          <a:xfrm>
            <a:off x="548883" y="138137"/>
            <a:ext cx="70272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" rIns="0" bIns="18000" anchor="ctr" anchorCtr="0">
            <a:spAutoFit/>
          </a:bodyPr>
          <a:lstStyle/>
          <a:p>
            <a:pPr lvl="0" algn="l"/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ご要望への対応（2）　6〜10番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600"/>
            <a:ext cx="2916000" cy="503999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2. ご要望への対応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34800" y="777600"/>
            <a:ext cx="6490799" cy="503999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○ そのまま成立　　△ できるが手作業が残る　　× この構成ではできない　　－ LINE側では扱いません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638000"/>
            <a:ext cx="91440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1600" y="1638000"/>
            <a:ext cx="2304000" cy="37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ご要望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5600" y="1638000"/>
            <a:ext cx="792000" cy="37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判定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7600" y="1638000"/>
            <a:ext cx="3816000" cy="37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実現する方法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3599" y="1638000"/>
            <a:ext cx="2232000" cy="37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残る手作業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1600" y="2015999"/>
            <a:ext cx="9144000" cy="7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1600" y="2212824"/>
            <a:ext cx="2303999" cy="308349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オーナー確定</a:t>
            </a:r>
            <a:r>
              <a:rPr lang="en-US" sz="14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(</a:t>
            </a:r>
            <a:r>
              <a:rPr sz="14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お席の調整</a:t>
            </a:r>
            <a:r>
              <a:rPr lang="en-US" sz="14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)</a:t>
            </a:r>
            <a:endParaRPr sz="14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685600" y="2015999"/>
            <a:ext cx="792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7600" y="2015999"/>
            <a:ext cx="3816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これまで通りの方法で管理していただく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3599" y="2015999"/>
            <a:ext cx="2232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お席の確保（既存）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1600" y="2718000"/>
            <a:ext cx="9144000" cy="702000"/>
          </a:xfrm>
          <a:prstGeom prst="rect">
            <a:avLst/>
          </a:prstGeom>
          <a:solidFill>
            <a:srgbClr val="F4F7FF"/>
          </a:solidFill>
          <a:ln w="952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1600" y="2718000"/>
            <a:ext cx="2304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ゲストへの確定通知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5600" y="2718000"/>
            <a:ext cx="792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7600" y="2718000"/>
            <a:ext cx="3816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個別チャットで返信。定型文を登録しておく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93599" y="2718000"/>
            <a:ext cx="2232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送信操作そのもの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1600" y="3420000"/>
            <a:ext cx="9144000" cy="7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1600" y="3420000"/>
            <a:ext cx="2304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リクエスト予約制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85600" y="3420000"/>
            <a:ext cx="792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7600" y="3420000"/>
            <a:ext cx="3816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即時確定にしないため、この構成と相性がよい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93599" y="3420000"/>
            <a:ext cx="2232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なし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600" y="4121999"/>
            <a:ext cx="9144000" cy="702000"/>
          </a:xfrm>
          <a:prstGeom prst="rect">
            <a:avLst/>
          </a:prstGeom>
          <a:solidFill>
            <a:srgbClr val="F4F7FF"/>
          </a:solidFill>
          <a:ln w="952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1600" y="4121999"/>
            <a:ext cx="2304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固定費ゼロ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85600" y="4121999"/>
            <a:ext cx="792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7600" y="4121999"/>
            <a:ext cx="3816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一斉配信が月200通を超えるまでは0円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3599" y="4121999"/>
            <a:ext cx="2232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なし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1600" y="4823999"/>
            <a:ext cx="9144000" cy="7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81600" y="4823999"/>
            <a:ext cx="2304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将来の外部システム温存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85600" y="4823999"/>
            <a:ext cx="792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7600" y="4823999"/>
            <a:ext cx="3816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タグと項目の名称を統一しておく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3599" y="4823999"/>
            <a:ext cx="2232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なし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1600" y="5684400"/>
            <a:ext cx="9144000" cy="396000"/>
          </a:xfrm>
          <a:prstGeom prst="rect">
            <a:avLst/>
          </a:prstGeom>
          <a:noFill/>
        </p:spPr>
        <p:txBody>
          <a:bodyPr wrap="square" lIns="57600" tIns="18000" rIns="57600" bIns="1800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dirty="0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この5件は、いずれもそのまま成立いたします。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0D14D38F-F567-ACF2-CDEB-76004FDB5B51}"/>
              </a:ext>
            </a:extLst>
          </p:cNvPr>
          <p:cNvSpPr txBox="1"/>
          <p:nvPr/>
        </p:nvSpPr>
        <p:spPr>
          <a:xfrm>
            <a:off x="548883" y="138137"/>
            <a:ext cx="70272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" rIns="0" bIns="18000" anchor="ctr" anchorCtr="0">
            <a:spAutoFit/>
          </a:bodyPr>
          <a:lstStyle/>
          <a:p>
            <a:pPr lvl="0" algn="l"/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ご要望への対応（3）　11〜14番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600"/>
            <a:ext cx="2916000" cy="503999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2. ご要望への対応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34800" y="777600"/>
            <a:ext cx="6490799" cy="503999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○ そのまま成立　　△ できるが手作業が残る　　× この構成ではできない　　－ LINE側では扱いません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638000"/>
            <a:ext cx="91440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1600" y="1638000"/>
            <a:ext cx="2304000" cy="37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ご要望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5600" y="1638000"/>
            <a:ext cx="792000" cy="37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判定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7600" y="1638000"/>
            <a:ext cx="3816000" cy="37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実現する方法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3599" y="1638000"/>
            <a:ext cx="2232000" cy="37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残る手作業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1600" y="2015999"/>
            <a:ext cx="9144000" cy="7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1600" y="2015999"/>
            <a:ext cx="2304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サイトコントローラー連携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5600" y="2015999"/>
            <a:ext cx="792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7600" y="2015999"/>
            <a:ext cx="3816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いまお使いのものをそのまま使う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3599" y="2015999"/>
            <a:ext cx="2232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なし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1600" y="2718000"/>
            <a:ext cx="9144000" cy="702000"/>
          </a:xfrm>
          <a:prstGeom prst="rect">
            <a:avLst/>
          </a:prstGeom>
          <a:solidFill>
            <a:srgbClr val="F4F7FF"/>
          </a:solidFill>
          <a:ln w="952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1600" y="2718000"/>
            <a:ext cx="2304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ゲスト都合キャンセルの徴収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5600" y="2718000"/>
            <a:ext cx="792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7600" y="2718000"/>
            <a:ext cx="3816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請求のご案内はできるが、徴収はできない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93599" y="2718000"/>
            <a:ext cx="2232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請求と入金の確認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1600" y="3420000"/>
            <a:ext cx="9144000" cy="7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1600" y="3420000"/>
            <a:ext cx="2304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パフォーマー都合のお詫び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85600" y="3420000"/>
            <a:ext cx="792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7600" y="3420000"/>
            <a:ext cx="3816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クーポンを手動で発行する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93599" y="3420000"/>
            <a:ext cx="2232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発行の操作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600" y="4121999"/>
            <a:ext cx="9144000" cy="702000"/>
          </a:xfrm>
          <a:prstGeom prst="rect">
            <a:avLst/>
          </a:prstGeom>
          <a:solidFill>
            <a:srgbClr val="F4F7FF"/>
          </a:solidFill>
          <a:ln w="952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1600" y="4121999"/>
            <a:ext cx="2304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キャンセルをご本人のご負担に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85600" y="4121999"/>
            <a:ext cx="792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7600" y="4121999"/>
            <a:ext cx="3816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記録としてLINE上に残せます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3599" y="4121999"/>
            <a:ext cx="2232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差し引きはLINEの外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1600" y="4824000"/>
            <a:ext cx="9144000" cy="413999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600" b="1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できない2件は、いずれもお金のやり取りに関わる部分です。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1600" y="5364000"/>
            <a:ext cx="9144000" cy="684000"/>
          </a:xfrm>
          <a:prstGeom prst="rect">
            <a:avLst/>
          </a:prstGeom>
          <a:noFill/>
        </p:spPr>
        <p:txBody>
          <a:bodyPr wrap="square" lIns="57600" tIns="18000" rIns="57600" bIns="1800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ご入金の確認と、お支払いからの差し引きは、これまで通りLINEの外で行っていただきます。</a:t>
            </a:r>
          </a:p>
          <a:p>
            <a:pPr algn="ctr">
              <a:lnSpc>
                <a:spcPct val="140000"/>
              </a:lnSpc>
            </a:pPr>
            <a:r>
              <a:rPr sz="18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それ以外の12件は、LINEの中で完結いたします。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600" y="6336000"/>
            <a:ext cx="9144000" cy="288000"/>
          </a:xfrm>
          <a:prstGeom prst="rect">
            <a:avLst/>
          </a:prstGeom>
          <a:noFill/>
        </p:spPr>
        <p:txBody>
          <a:bodyPr wrap="square" lIns="57600" tIns="18000" rIns="57600" bIns="180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5A5A72"/>
                </a:solidFill>
                <a:latin typeface="メイリオ"/>
                <a:ea typeface="メイリオ"/>
                <a:cs typeface="メイリオ"/>
              </a:rPr>
              <a:t>※ サイトコントローラー（複数のご予約サイトの空席をまとめて管理する仕組み）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0D14D38F-F567-ACF2-CDEB-76004FDB5B51}"/>
              </a:ext>
            </a:extLst>
          </p:cNvPr>
          <p:cNvSpPr txBox="1"/>
          <p:nvPr/>
        </p:nvSpPr>
        <p:spPr>
          <a:xfrm>
            <a:off x="548883" y="138137"/>
            <a:ext cx="70272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" rIns="0" bIns="18000" anchor="ctr" anchorCtr="0">
            <a:spAutoFit/>
          </a:bodyPr>
          <a:lstStyle/>
          <a:p>
            <a:pPr lvl="0" algn="l"/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お席の管理を、あえてLINEに持ち込まない理由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600"/>
            <a:ext cx="2916000" cy="503999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2. ご要望への対応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34800" y="777600"/>
            <a:ext cx="6490799" cy="503999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LINE公式アカウントには、お席の在庫を管理する機能がございません。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637999"/>
            <a:ext cx="4338000" cy="3581999"/>
          </a:xfrm>
          <a:prstGeom prst="rect">
            <a:avLst/>
          </a:prstGeom>
          <a:solidFill>
            <a:srgbClr val="FFFFFF"/>
          </a:solidFill>
          <a:ln w="1587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1600" y="1638000"/>
            <a:ext cx="4338000" cy="468000"/>
          </a:xfrm>
          <a:prstGeom prst="rect">
            <a:avLst/>
          </a:prstGeom>
          <a:solidFill>
            <a:srgbClr val="5A5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LINEでお席まで管理した場合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1600" y="2214000"/>
            <a:ext cx="3977999" cy="2881361"/>
          </a:xfrm>
          <a:prstGeom prst="rect">
            <a:avLst/>
          </a:prstGeom>
          <a:noFill/>
        </p:spPr>
        <p:txBody>
          <a:bodyPr wrap="square" lIns="0" tIns="18000" rIns="0" bIns="1800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500" dirty="0" err="1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外部ツールの予約カレンダーが必要になります</a:t>
            </a:r>
            <a:endParaRPr sz="1500" dirty="0">
              <a:solidFill>
                <a:srgbClr val="1A1A2E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8000"/>
              </a:lnSpc>
            </a:pPr>
            <a:endParaRPr sz="1500" dirty="0">
              <a:solidFill>
                <a:srgbClr val="1A1A2E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8000"/>
              </a:lnSpc>
            </a:pPr>
            <a:r>
              <a:rPr sz="1500" dirty="0" err="1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そのカレンダーは、食べログや</a:t>
            </a:r>
            <a:endParaRPr sz="1500" dirty="0">
              <a:solidFill>
                <a:srgbClr val="1A1A2E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8000"/>
              </a:lnSpc>
            </a:pPr>
            <a:r>
              <a:rPr sz="1500" dirty="0" err="1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ホットペッパーのご予約状況を知りません</a:t>
            </a:r>
            <a:endParaRPr sz="1500" dirty="0">
              <a:solidFill>
                <a:srgbClr val="1A1A2E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8000"/>
              </a:lnSpc>
            </a:pPr>
            <a:endParaRPr sz="1500" dirty="0">
              <a:solidFill>
                <a:srgbClr val="1A1A2E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8000"/>
              </a:lnSpc>
            </a:pPr>
            <a:r>
              <a:rPr sz="1500" dirty="0" err="1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媒体側で埋まっているお席が</a:t>
            </a:r>
            <a:r>
              <a:rPr sz="1500" dirty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38000"/>
              </a:lnSpc>
            </a:pPr>
            <a:r>
              <a:rPr sz="1500" dirty="0" err="1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LINE上では空いているように見えます</a:t>
            </a:r>
            <a:endParaRPr sz="1500" dirty="0">
              <a:solidFill>
                <a:srgbClr val="1A1A2E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8000"/>
              </a:lnSpc>
            </a:pPr>
            <a:r>
              <a:rPr sz="1500" dirty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500" dirty="0" err="1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同じお席に二重のご予約</a:t>
            </a:r>
            <a:endParaRPr sz="1500" dirty="0">
              <a:solidFill>
                <a:srgbClr val="1A1A2E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187600" y="1638000"/>
            <a:ext cx="4338000" cy="3582000"/>
          </a:xfrm>
          <a:prstGeom prst="rect">
            <a:avLst/>
          </a:prstGeom>
          <a:solidFill>
            <a:srgbClr val="FFFFFF"/>
          </a:solidFill>
          <a:ln w="28575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187600" y="1638000"/>
            <a:ext cx="4338000" cy="46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これまで通りにした場合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67600" y="2214000"/>
            <a:ext cx="3977999" cy="2646000"/>
          </a:xfrm>
          <a:prstGeom prst="rect">
            <a:avLst/>
          </a:prstGeom>
          <a:noFill/>
        </p:spPr>
        <p:txBody>
          <a:bodyPr wrap="square" lIns="0" tIns="18000" rIns="0" bIns="1800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500" dirty="0" err="1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お席の管理は、いまお使いの仕組みのままです</a:t>
            </a:r>
            <a:endParaRPr sz="1500" dirty="0">
              <a:solidFill>
                <a:srgbClr val="1A1A2E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8000"/>
              </a:lnSpc>
            </a:pPr>
            <a:endParaRPr sz="1500" dirty="0">
              <a:solidFill>
                <a:srgbClr val="1A1A2E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8000"/>
              </a:lnSpc>
            </a:pPr>
            <a:r>
              <a:rPr sz="1500" dirty="0" err="1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媒体のご予約状況が、そのまま正となります</a:t>
            </a:r>
            <a:endParaRPr sz="1500" dirty="0">
              <a:solidFill>
                <a:srgbClr val="1A1A2E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8000"/>
              </a:lnSpc>
            </a:pPr>
            <a:endParaRPr sz="1500" dirty="0">
              <a:solidFill>
                <a:srgbClr val="1A1A2E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8000"/>
              </a:lnSpc>
            </a:pPr>
            <a:r>
              <a:rPr sz="1500" dirty="0" err="1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LINEは連絡と案内だけを担うため、</a:t>
            </a:r>
          </a:p>
          <a:p>
            <a:pPr algn="l">
              <a:lnSpc>
                <a:spcPct val="138000"/>
              </a:lnSpc>
            </a:pPr>
            <a:r>
              <a:rPr sz="1500" dirty="0" err="1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お席の情報を持ちません</a:t>
            </a:r>
            <a:endParaRPr sz="1500" dirty="0">
              <a:solidFill>
                <a:srgbClr val="1A1A2E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8000"/>
              </a:lnSpc>
            </a:pPr>
            <a:endParaRPr sz="1500" dirty="0">
              <a:solidFill>
                <a:srgbClr val="1A1A2E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8000"/>
              </a:lnSpc>
            </a:pPr>
            <a:r>
              <a:rPr sz="1500" dirty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500" dirty="0" err="1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二重のご予約は起きません</a:t>
            </a:r>
            <a:endParaRPr sz="1500" dirty="0">
              <a:solidFill>
                <a:srgbClr val="1A1A2E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4784400" y="3113999"/>
            <a:ext cx="338400" cy="396000"/>
          </a:xfrm>
          <a:prstGeom prst="rightArrow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1600" y="5459771"/>
            <a:ext cx="9144000" cy="396000"/>
          </a:xfrm>
          <a:prstGeom prst="rect">
            <a:avLst/>
          </a:prstGeom>
          <a:noFill/>
        </p:spPr>
        <p:txBody>
          <a:bodyPr wrap="square" lIns="57600" tIns="18000" rIns="57600" bIns="1800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dirty="0" err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変えないことが、そのまま最も安全な選択になります</a:t>
            </a:r>
            <a:r>
              <a:rPr sz="1800" b="1" dirty="0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0D14D38F-F567-ACF2-CDEB-76004FDB5B51}"/>
              </a:ext>
            </a:extLst>
          </p:cNvPr>
          <p:cNvSpPr txBox="1"/>
          <p:nvPr/>
        </p:nvSpPr>
        <p:spPr>
          <a:xfrm>
            <a:off x="548883" y="138137"/>
            <a:ext cx="70272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" rIns="0" bIns="18000" anchor="ctr" anchorCtr="0">
            <a:spAutoFit/>
          </a:bodyPr>
          <a:lstStyle/>
          <a:p>
            <a:pPr lvl="0" algn="l"/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チャットに費用がかからない理由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600"/>
            <a:ext cx="2916000" cy="503999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2. ご要望への対応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34800" y="777600"/>
            <a:ext cx="6490799" cy="503999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費用がかかるのは、お客様全員へまとめてお送りする「メッセージ配信」だけです。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788618"/>
            <a:ext cx="4338000" cy="2664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1600" y="1788618"/>
            <a:ext cx="4338000" cy="468000"/>
          </a:xfrm>
          <a:prstGeom prst="rect">
            <a:avLst/>
          </a:prstGeom>
          <a:solidFill>
            <a:srgbClr val="5A5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通数を使うもの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1600" y="2364618"/>
            <a:ext cx="3977999" cy="1607166"/>
          </a:xfrm>
          <a:prstGeom prst="rect">
            <a:avLst/>
          </a:prstGeom>
          <a:noFill/>
        </p:spPr>
        <p:txBody>
          <a:bodyPr wrap="square" lIns="0" tIns="18000" rIns="0" bIns="18000" anchor="t">
            <a:spAutoFit/>
          </a:bodyPr>
          <a:lstStyle/>
          <a:p>
            <a:pPr algn="ctr">
              <a:lnSpc>
                <a:spcPct val="138000"/>
              </a:lnSpc>
            </a:pPr>
            <a:r>
              <a:rPr sz="15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一斉配信</a:t>
            </a:r>
          </a:p>
          <a:p>
            <a:pPr algn="ctr">
              <a:lnSpc>
                <a:spcPct val="138000"/>
              </a:lnSpc>
            </a:pPr>
            <a:endParaRPr sz="1500">
              <a:solidFill>
                <a:srgbClr val="1A1A2E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38000"/>
              </a:lnSpc>
            </a:pPr>
            <a:r>
              <a:rPr sz="15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絞り込み配信</a:t>
            </a:r>
          </a:p>
          <a:p>
            <a:pPr algn="ctr">
              <a:lnSpc>
                <a:spcPct val="138000"/>
              </a:lnSpc>
            </a:pPr>
            <a:endParaRPr sz="1500">
              <a:solidFill>
                <a:srgbClr val="1A1A2E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38000"/>
              </a:lnSpc>
            </a:pPr>
            <a:r>
              <a:rPr sz="15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ステップ配信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87600" y="1788618"/>
            <a:ext cx="4338000" cy="2664000"/>
          </a:xfrm>
          <a:prstGeom prst="rect">
            <a:avLst/>
          </a:prstGeom>
          <a:solidFill>
            <a:srgbClr val="FFFFFF"/>
          </a:solidFill>
          <a:ln w="28575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187600" y="1788618"/>
            <a:ext cx="4338000" cy="46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通数を使わないもの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67600" y="2364618"/>
            <a:ext cx="3977999" cy="1607166"/>
          </a:xfrm>
          <a:prstGeom prst="rect">
            <a:avLst/>
          </a:prstGeom>
          <a:noFill/>
        </p:spPr>
        <p:txBody>
          <a:bodyPr wrap="square" lIns="0" tIns="18000" rIns="0" bIns="18000" anchor="t">
            <a:spAutoFit/>
          </a:bodyPr>
          <a:lstStyle/>
          <a:p>
            <a:pPr algn="ctr">
              <a:lnSpc>
                <a:spcPct val="138000"/>
              </a:lnSpc>
            </a:pPr>
            <a:r>
              <a:rPr sz="15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あいさつメッセージ</a:t>
            </a:r>
          </a:p>
          <a:p>
            <a:pPr algn="ctr">
              <a:lnSpc>
                <a:spcPct val="138000"/>
              </a:lnSpc>
            </a:pPr>
            <a:endParaRPr sz="1500">
              <a:solidFill>
                <a:srgbClr val="1A1A2E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38000"/>
              </a:lnSpc>
            </a:pPr>
            <a:r>
              <a:rPr sz="15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自動応答</a:t>
            </a:r>
          </a:p>
          <a:p>
            <a:pPr algn="ctr">
              <a:lnSpc>
                <a:spcPct val="138000"/>
              </a:lnSpc>
            </a:pPr>
            <a:endParaRPr sz="1500">
              <a:solidFill>
                <a:srgbClr val="1A1A2E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38000"/>
              </a:lnSpc>
            </a:pPr>
            <a:r>
              <a:rPr sz="15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お客様との個別のやり取り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784400" y="2922618"/>
            <a:ext cx="338400" cy="396000"/>
          </a:xfrm>
          <a:prstGeom prst="rightArrow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1600" y="5257566"/>
            <a:ext cx="9144000" cy="396000"/>
          </a:xfrm>
          <a:prstGeom prst="rect">
            <a:avLst/>
          </a:prstGeom>
          <a:noFill/>
        </p:spPr>
        <p:txBody>
          <a:bodyPr wrap="square" lIns="57600" tIns="18000" rIns="57600" bIns="1800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パフォーマーとお客様が何往復されても、費用は変わりません。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600" y="5936400"/>
            <a:ext cx="9144000" cy="288000"/>
          </a:xfrm>
          <a:prstGeom prst="rect">
            <a:avLst/>
          </a:prstGeom>
          <a:noFill/>
        </p:spPr>
        <p:txBody>
          <a:bodyPr wrap="square" lIns="57600" tIns="18000" rIns="57600" bIns="180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dirty="0" err="1">
                <a:solidFill>
                  <a:srgbClr val="5A5A72"/>
                </a:solidFill>
                <a:latin typeface="メイリオ"/>
                <a:ea typeface="メイリオ"/>
                <a:cs typeface="メイリオ"/>
              </a:rPr>
              <a:t>出典：LINEヤフ</a:t>
            </a:r>
            <a:r>
              <a:rPr sz="1200" dirty="0">
                <a:solidFill>
                  <a:srgbClr val="5A5A72"/>
                </a:solidFill>
                <a:latin typeface="メイリオ"/>
                <a:ea typeface="メイリオ"/>
                <a:cs typeface="メイリオ"/>
              </a:rPr>
              <a:t>ー for Business「無料メッセージ通数はメッセージ配信の通数が対象。チャットでのメッセージ通数は対象外となり、通数制限はございません」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0D14D38F-F567-ACF2-CDEB-76004FDB5B51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" rIns="0" bIns="18000" anchor="ctr" anchorCtr="0">
            <a:spAutoFit/>
          </a:bodyPr>
          <a:lstStyle/>
          <a:p>
            <a:pPr lvl="0" algn="l"/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資料アジェンダ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36C1E2A-AC35-76CA-EBEE-CAD4F26CF45A}"/>
              </a:ext>
            </a:extLst>
          </p:cNvPr>
          <p:cNvSpPr/>
          <p:nvPr/>
        </p:nvSpPr>
        <p:spPr>
          <a:xfrm>
            <a:off x="1460711" y="3038203"/>
            <a:ext cx="6984604" cy="584775"/>
          </a:xfrm>
          <a:prstGeom prst="rect">
            <a:avLst/>
          </a:prstGeom>
        </p:spPr>
        <p:txBody>
          <a:bodyPr wrap="square" lIns="57600" tIns="18000" rIns="57600" bIns="18000" anchor="ctr">
            <a:spAutoFit/>
          </a:bodyPr>
          <a:lstStyle/>
          <a:p>
            <a:pPr algn="ctr"/>
            <a:r>
              <a:rPr sz="32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ご費用と運用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0D14D38F-F567-ACF2-CDEB-76004FDB5B51}"/>
              </a:ext>
            </a:extLst>
          </p:cNvPr>
          <p:cNvSpPr txBox="1"/>
          <p:nvPr/>
        </p:nvSpPr>
        <p:spPr>
          <a:xfrm>
            <a:off x="548883" y="138137"/>
            <a:ext cx="70272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" rIns="0" bIns="18000" anchor="ctr" anchorCtr="0">
            <a:spAutoFit/>
          </a:bodyPr>
          <a:lstStyle/>
          <a:p>
            <a:pPr lvl="0" algn="l"/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ご費用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600"/>
            <a:ext cx="2916000" cy="503999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3. ご費用と運用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34800" y="777600"/>
            <a:ext cx="6490799" cy="503999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月額0円のプランから始められます。外部ツールを使わないため、これ以外の月額費用はございません。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638000"/>
            <a:ext cx="91440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1600" y="1638000"/>
            <a:ext cx="864000" cy="378000"/>
          </a:xfrm>
          <a:prstGeom prst="rect">
            <a:avLst/>
          </a:prstGeom>
          <a:noFill/>
        </p:spPr>
        <p:txBody>
          <a:bodyPr wrap="square" lIns="57600" tIns="18000" rIns="576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段階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5600" y="1638000"/>
            <a:ext cx="4176000" cy="378000"/>
          </a:xfrm>
          <a:prstGeom prst="rect">
            <a:avLst/>
          </a:prstGeom>
          <a:noFill/>
        </p:spPr>
        <p:txBody>
          <a:bodyPr wrap="square" lIns="57600" tIns="18000" rIns="576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プラン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1600" y="1638000"/>
            <a:ext cx="1872000" cy="378000"/>
          </a:xfrm>
          <a:prstGeom prst="rect">
            <a:avLst/>
          </a:prstGeom>
          <a:noFill/>
        </p:spPr>
        <p:txBody>
          <a:bodyPr wrap="square" lIns="57600" tIns="18000" rIns="576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月額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3599" y="1638000"/>
            <a:ext cx="2231999" cy="378000"/>
          </a:xfrm>
          <a:prstGeom prst="rect">
            <a:avLst/>
          </a:prstGeom>
          <a:noFill/>
        </p:spPr>
        <p:txBody>
          <a:bodyPr wrap="square" lIns="57600" tIns="18000" rIns="576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上げるタイミング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1600" y="2015999"/>
            <a:ext cx="9144000" cy="792000"/>
          </a:xfrm>
          <a:prstGeom prst="rect">
            <a:avLst/>
          </a:prstGeom>
          <a:solidFill>
            <a:srgbClr val="FFFFFF"/>
          </a:solidFill>
          <a:ln w="28575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1600" y="2015999"/>
            <a:ext cx="864000" cy="792000"/>
          </a:xfrm>
          <a:prstGeom prst="rect">
            <a:avLst/>
          </a:prstGeom>
          <a:noFill/>
        </p:spPr>
        <p:txBody>
          <a:bodyPr wrap="square" lIns="57600" tIns="18000" rIns="57600" bIns="18000" anchor="ctr">
            <a:spAutoFit/>
          </a:bodyPr>
          <a:lstStyle/>
          <a:p>
            <a:pPr algn="ctr"/>
            <a:r>
              <a:rPr sz="18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600" y="2015999"/>
            <a:ext cx="3960000" cy="792000"/>
          </a:xfrm>
          <a:prstGeom prst="rect">
            <a:avLst/>
          </a:prstGeom>
          <a:noFill/>
        </p:spPr>
        <p:txBody>
          <a:bodyPr wrap="square" lIns="57600" tIns="18000" rIns="57600" bIns="18000" anchor="ctr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LINE公式アカウント　コミュニケーション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1600" y="2015999"/>
            <a:ext cx="1872000" cy="792000"/>
          </a:xfrm>
          <a:prstGeom prst="rect">
            <a:avLst/>
          </a:prstGeom>
          <a:noFill/>
        </p:spPr>
        <p:txBody>
          <a:bodyPr wrap="square" lIns="57600" tIns="18000" rIns="57600" bIns="18000" anchor="ctr">
            <a:spAutoFit/>
          </a:bodyPr>
          <a:lstStyle/>
          <a:p>
            <a:pPr algn="ctr"/>
            <a:r>
              <a:rPr sz="32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0円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94400" y="2015999"/>
            <a:ext cx="2030399" cy="792000"/>
          </a:xfrm>
          <a:prstGeom prst="rect">
            <a:avLst/>
          </a:prstGeom>
          <a:noFill/>
        </p:spPr>
        <p:txBody>
          <a:bodyPr wrap="square" lIns="57600" tIns="18000" rIns="5760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開始時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1600" y="2808000"/>
            <a:ext cx="9144000" cy="792000"/>
          </a:xfrm>
          <a:prstGeom prst="rect">
            <a:avLst/>
          </a:prstGeom>
          <a:solidFill>
            <a:srgbClr val="F4F7FF"/>
          </a:solidFill>
          <a:ln w="952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1600" y="2808000"/>
            <a:ext cx="864000" cy="792000"/>
          </a:xfrm>
          <a:prstGeom prst="rect">
            <a:avLst/>
          </a:prstGeom>
          <a:noFill/>
        </p:spPr>
        <p:txBody>
          <a:bodyPr wrap="square" lIns="57600" tIns="18000" rIns="57600" bIns="18000" anchor="ctr">
            <a:spAutoFit/>
          </a:bodyPr>
          <a:lstStyle/>
          <a:p>
            <a:pPr algn="ctr"/>
            <a:r>
              <a:rPr sz="1800" b="1">
                <a:solidFill>
                  <a:srgbClr val="5A5A72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600" y="2808000"/>
            <a:ext cx="3960000" cy="792000"/>
          </a:xfrm>
          <a:prstGeom prst="rect">
            <a:avLst/>
          </a:prstGeom>
          <a:noFill/>
        </p:spPr>
        <p:txBody>
          <a:bodyPr wrap="square" lIns="57600" tIns="18000" rIns="57600" bIns="18000" anchor="ctr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LINE公式アカウント　ライト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1600" y="2808000"/>
            <a:ext cx="1872000" cy="792000"/>
          </a:xfrm>
          <a:prstGeom prst="rect">
            <a:avLst/>
          </a:prstGeom>
          <a:noFill/>
        </p:spPr>
        <p:txBody>
          <a:bodyPr wrap="square" lIns="57600" tIns="18000" rIns="57600" bIns="18000" anchor="ctr">
            <a:spAutoFit/>
          </a:bodyPr>
          <a:lstStyle/>
          <a:p>
            <a:pPr algn="ctr"/>
            <a:r>
              <a:rPr sz="20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5,500円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94400" y="2808000"/>
            <a:ext cx="2030399" cy="792000"/>
          </a:xfrm>
          <a:prstGeom prst="rect">
            <a:avLst/>
          </a:prstGeom>
          <a:noFill/>
        </p:spPr>
        <p:txBody>
          <a:bodyPr wrap="square" lIns="57600" tIns="18000" rIns="5760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一斉配信が月200通を超えたとき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1600" y="3851999"/>
            <a:ext cx="9144000" cy="864000"/>
          </a:xfrm>
          <a:prstGeom prst="rect">
            <a:avLst/>
          </a:prstGeom>
          <a:solidFill>
            <a:srgbClr val="F4F7FF"/>
          </a:solidFill>
          <a:ln w="952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1600" y="3931200"/>
            <a:ext cx="9144000" cy="583200"/>
          </a:xfrm>
          <a:prstGeom prst="rect">
            <a:avLst/>
          </a:prstGeom>
          <a:noFill/>
        </p:spPr>
        <p:txBody>
          <a:bodyPr wrap="square" lIns="57600" tIns="18000" rIns="57600" bIns="18000" anchor="ctr">
            <a:spAutoFit/>
          </a:bodyPr>
          <a:lstStyle/>
          <a:p>
            <a:pPr algn="ctr"/>
            <a:r>
              <a:rPr sz="18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お友だちが</a:t>
            </a:r>
            <a:r>
              <a:rPr sz="32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156</a:t>
            </a:r>
            <a:r>
              <a:rPr sz="18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名の場合、1回の配信で</a:t>
            </a:r>
            <a:r>
              <a:rPr sz="32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156</a:t>
            </a:r>
            <a:r>
              <a:rPr sz="18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通となります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7600" y="4410000"/>
            <a:ext cx="8712000" cy="251999"/>
          </a:xfrm>
          <a:prstGeom prst="rect">
            <a:avLst/>
          </a:prstGeom>
          <a:noFill/>
        </p:spPr>
        <p:txBody>
          <a:bodyPr wrap="square" lIns="57600" tIns="18000" rIns="57600" bIns="18000" anchor="ctr">
            <a:spAutoFit/>
          </a:bodyPr>
          <a:lstStyle/>
          <a:p>
            <a:pPr algn="ctr"/>
            <a:r>
              <a:rPr sz="1400">
                <a:solidFill>
                  <a:srgbClr val="4A4A6A"/>
                </a:solidFill>
                <a:latin typeface="メイリオ"/>
                <a:ea typeface="メイリオ"/>
                <a:cs typeface="メイリオ"/>
              </a:rPr>
              <a:t>通数を使うのは、一斉配信・絞り込み配信・ステップ配信の3つです。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600" y="5364000"/>
            <a:ext cx="9144000" cy="396000"/>
          </a:xfrm>
          <a:prstGeom prst="rect">
            <a:avLst/>
          </a:prstGeom>
          <a:noFill/>
        </p:spPr>
        <p:txBody>
          <a:bodyPr wrap="square" lIns="57600" tIns="18000" rIns="57600" bIns="1800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構築費のほかに、毎月かかる費用はございません。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1600" y="6336000"/>
            <a:ext cx="9144000" cy="288000"/>
          </a:xfrm>
          <a:prstGeom prst="rect">
            <a:avLst/>
          </a:prstGeom>
          <a:noFill/>
        </p:spPr>
        <p:txBody>
          <a:bodyPr wrap="square" lIns="57600" tIns="18000" rIns="57600" bIns="180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5A5A72"/>
                </a:solidFill>
                <a:latin typeface="メイリオ"/>
                <a:ea typeface="メイリオ"/>
                <a:cs typeface="メイリオ"/>
              </a:rPr>
              <a:t>※ あいさつメッセージ、自動応答、お客様との個別のやり取りは、何通でも費用がかかりません。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0D14D38F-F567-ACF2-CDEB-76004FDB5B51}"/>
              </a:ext>
            </a:extLst>
          </p:cNvPr>
          <p:cNvSpPr txBox="1"/>
          <p:nvPr/>
        </p:nvSpPr>
        <p:spPr>
          <a:xfrm>
            <a:off x="548883" y="138137"/>
            <a:ext cx="70272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" rIns="0" bIns="18000" anchor="ctr" anchorCtr="0">
            <a:spAutoFit/>
          </a:bodyPr>
          <a:lstStyle/>
          <a:p>
            <a:pPr lvl="0" algn="l"/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運用の分担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600"/>
            <a:ext cx="2916000" cy="503999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3. ご費用と運用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34800" y="777600"/>
            <a:ext cx="6490799" cy="503999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どなたが何をされるかを整理いたしました。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638000"/>
            <a:ext cx="91440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1600" y="1638000"/>
            <a:ext cx="3456000" cy="37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作業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37600" y="1638000"/>
            <a:ext cx="3384000" cy="37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ご担当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1600" y="1638000"/>
            <a:ext cx="2304000" cy="37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ご負担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1600" y="2015999"/>
            <a:ext cx="9144000" cy="7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1600" y="2212824"/>
            <a:ext cx="3456000" cy="308349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ご予約リクエストの受信</a:t>
            </a:r>
            <a:endParaRPr sz="14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37600" y="2212824"/>
            <a:ext cx="3384000" cy="308349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0" dirty="0" err="1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LINE（自動で通知</a:t>
            </a:r>
            <a:r>
              <a:rPr sz="1400" b="0" dirty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1600" y="2015999"/>
            <a:ext cx="2304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1600" y="2718000"/>
            <a:ext cx="9144000" cy="702000"/>
          </a:xfrm>
          <a:prstGeom prst="rect">
            <a:avLst/>
          </a:prstGeom>
          <a:solidFill>
            <a:srgbClr val="F4F7FF"/>
          </a:solidFill>
          <a:ln w="952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1600" y="2914825"/>
            <a:ext cx="3456000" cy="308349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ご承諾のお返事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37600" y="2914825"/>
            <a:ext cx="3384000" cy="308349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パフォーマー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1600" y="2718000"/>
            <a:ext cx="2304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1600" y="3420000"/>
            <a:ext cx="9144000" cy="7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1600" y="3616825"/>
            <a:ext cx="3456000" cy="308349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お客様への確定のご連絡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37600" y="3616825"/>
            <a:ext cx="3384000" cy="308349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0" dirty="0" err="1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パフォーマ</a:t>
            </a:r>
            <a:r>
              <a:rPr sz="1400" b="0" dirty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1600" y="3420000"/>
            <a:ext cx="2304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600" y="4121999"/>
            <a:ext cx="9144000" cy="702000"/>
          </a:xfrm>
          <a:prstGeom prst="rect">
            <a:avLst/>
          </a:prstGeom>
          <a:solidFill>
            <a:srgbClr val="F4F7FF"/>
          </a:solidFill>
          <a:ln w="952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1600" y="4318824"/>
            <a:ext cx="3456000" cy="308349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お席の確保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37600" y="4318824"/>
            <a:ext cx="3384000" cy="308349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店舗様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1600" y="4121999"/>
            <a:ext cx="2304000" cy="702000"/>
          </a:xfrm>
          <a:prstGeom prst="rect">
            <a:avLst/>
          </a:prstGeom>
          <a:noFill/>
        </p:spPr>
        <p:txBody>
          <a:bodyPr wrap="square" lIns="79200" tIns="18000" rIns="792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既存の作業に含まれる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1000" y="5103291"/>
            <a:ext cx="9144000" cy="396000"/>
          </a:xfrm>
          <a:prstGeom prst="rect">
            <a:avLst/>
          </a:prstGeom>
          <a:noFill/>
        </p:spPr>
        <p:txBody>
          <a:bodyPr wrap="square" lIns="57600" tIns="18000" rIns="57600" bIns="1800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店舗様の作業として、新しく増えるものはございません。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0D14D38F-F567-ACF2-CDEB-76004FDB5B51}"/>
              </a:ext>
            </a:extLst>
          </p:cNvPr>
          <p:cNvSpPr txBox="1"/>
          <p:nvPr/>
        </p:nvSpPr>
        <p:spPr>
          <a:xfrm>
            <a:off x="548883" y="138137"/>
            <a:ext cx="70272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" rIns="0" bIns="18000" anchor="ctr" anchorCtr="0">
            <a:spAutoFit/>
          </a:bodyPr>
          <a:lstStyle/>
          <a:p>
            <a:pPr lvl="0" algn="l"/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情報管理について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600"/>
            <a:ext cx="2916000" cy="503999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3. ご費用と運用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34800" y="777600"/>
            <a:ext cx="6490799" cy="503999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権限をお持ちの方は、ほかのお客様とのやり取りもご覧いただける状態になります。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638000"/>
            <a:ext cx="2947199" cy="3024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1600" y="1638000"/>
            <a:ext cx="2947199" cy="576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646399" y="1810799"/>
            <a:ext cx="417600" cy="4176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400" y="2286000"/>
            <a:ext cx="2745599" cy="666000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退職時に権限を削除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7600" y="3013199"/>
            <a:ext cx="2515199" cy="14400"/>
          </a:xfrm>
          <a:prstGeom prst="rect">
            <a:avLst/>
          </a:prstGeom>
          <a:solidFill>
            <a:srgbClr val="D8D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2800" y="3131999"/>
            <a:ext cx="2644799" cy="1386000"/>
          </a:xfrm>
          <a:prstGeom prst="rect">
            <a:avLst/>
          </a:prstGeom>
          <a:noFill/>
        </p:spPr>
        <p:txBody>
          <a:bodyPr wrap="square" lIns="0" tIns="18000" rIns="0" bIns="180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お辞めになった時点で、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閲覧できない状態にいたします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80000" y="1638000"/>
            <a:ext cx="2947199" cy="3024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80000" y="1638000"/>
            <a:ext cx="2947199" cy="576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744799" y="1810799"/>
            <a:ext cx="417600" cy="4176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0799" y="2286000"/>
            <a:ext cx="2745599" cy="666000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台帳で管理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95999" y="3013199"/>
            <a:ext cx="2515199" cy="14400"/>
          </a:xfrm>
          <a:prstGeom prst="rect">
            <a:avLst/>
          </a:prstGeom>
          <a:solidFill>
            <a:srgbClr val="D8D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31199" y="3131999"/>
            <a:ext cx="2644799" cy="1302083"/>
          </a:xfrm>
          <a:prstGeom prst="rect">
            <a:avLst/>
          </a:prstGeom>
          <a:noFill/>
        </p:spPr>
        <p:txBody>
          <a:bodyPr wrap="square" lIns="0" tIns="18000" rIns="0" bIns="180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dirty="0" err="1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誰にいつ権限を付与したかを</a:t>
            </a:r>
            <a:endParaRPr lang="en-US" sz="1400" dirty="0">
              <a:solidFill>
                <a:srgbClr val="1A1A2E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50000"/>
              </a:lnSpc>
            </a:pPr>
            <a:r>
              <a:rPr sz="1400" dirty="0" err="1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記録し</a:t>
            </a:r>
            <a:r>
              <a:rPr sz="1400" dirty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50000"/>
              </a:lnSpc>
            </a:pPr>
            <a:r>
              <a:rPr sz="1400" dirty="0" err="1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いつでも確認できるように</a:t>
            </a:r>
            <a:endParaRPr lang="en-US" sz="1400" dirty="0">
              <a:solidFill>
                <a:srgbClr val="1A1A2E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50000"/>
              </a:lnSpc>
            </a:pPr>
            <a:r>
              <a:rPr sz="1400" dirty="0" err="1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いたします</a:t>
            </a:r>
            <a:endParaRPr sz="1400" dirty="0">
              <a:solidFill>
                <a:srgbClr val="1A1A2E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578399" y="1638000"/>
            <a:ext cx="2947199" cy="3024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78399" y="1638000"/>
            <a:ext cx="2947199" cy="576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843199" y="1810799"/>
            <a:ext cx="417600" cy="4176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9199" y="2286000"/>
            <a:ext cx="2745599" cy="666000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担当分のみを扱う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94399" y="3013199"/>
            <a:ext cx="2515199" cy="14400"/>
          </a:xfrm>
          <a:prstGeom prst="rect">
            <a:avLst/>
          </a:prstGeom>
          <a:solidFill>
            <a:srgbClr val="D8D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29599" y="3131999"/>
            <a:ext cx="2644799" cy="1386000"/>
          </a:xfrm>
          <a:prstGeom prst="rect">
            <a:avLst/>
          </a:prstGeom>
          <a:noFill/>
        </p:spPr>
        <p:txBody>
          <a:bodyPr wrap="square" lIns="0" tIns="18000" rIns="0" bIns="180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担当者機能を用い、ご自身の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担当以外には原則として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触れない運用にいたします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600" y="5004000"/>
            <a:ext cx="9144000" cy="396000"/>
          </a:xfrm>
          <a:prstGeom prst="rect">
            <a:avLst/>
          </a:prstGeom>
          <a:noFill/>
        </p:spPr>
        <p:txBody>
          <a:bodyPr wrap="square" lIns="57600" tIns="18000" rIns="57600" bIns="1800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上記を運用マニュアルに明記し、書面で了承をいただきます。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0D14D38F-F567-ACF2-CDEB-76004FDB5B51}"/>
              </a:ext>
            </a:extLst>
          </p:cNvPr>
          <p:cNvSpPr txBox="1"/>
          <p:nvPr/>
        </p:nvSpPr>
        <p:spPr>
          <a:xfrm>
            <a:off x="548883" y="138137"/>
            <a:ext cx="70272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" rIns="0" bIns="18000" anchor="ctr" anchorCtr="0">
            <a:spAutoFit/>
          </a:bodyPr>
          <a:lstStyle/>
          <a:p>
            <a:pPr lvl="0" algn="l"/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リッチメニューのイメージ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600"/>
            <a:ext cx="2916000" cy="503999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3. ご費用と運用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34800" y="777600"/>
            <a:ext cx="6490799" cy="503999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お客様のトーク画面の下に、常に表示されるメニューです。6つの入口を1画面にまとめます。</a:t>
            </a:r>
          </a:p>
        </p:txBody>
      </p:sp>
      <p:pic>
        <p:nvPicPr>
          <p:cNvPr id="7" name="Picture 6" descr="八十吉_リッチメニュー6分割_本番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00" y="1512000"/>
            <a:ext cx="4896000" cy="33024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1600" y="1512000"/>
            <a:ext cx="4896000" cy="3302475"/>
          </a:xfrm>
          <a:prstGeom prst="rect">
            <a:avLst/>
          </a:prstGeom>
          <a:noFill/>
          <a:ln w="1587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1600" y="4904475"/>
            <a:ext cx="4896000" cy="342000"/>
          </a:xfrm>
          <a:prstGeom prst="rect">
            <a:avLst/>
          </a:prstGeom>
          <a:noFill/>
        </p:spPr>
        <p:txBody>
          <a:bodyPr wrap="square" lIns="0" tIns="14400" rIns="0" bIns="144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5A5A72"/>
                </a:solidFill>
                <a:latin typeface="メイリオ"/>
                <a:ea typeface="メイリオ"/>
                <a:cs typeface="メイリオ"/>
              </a:rPr>
              <a:t>※ 実装は標準の6分割テンプレート＋画像1枚（2500×1686px）。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5A5A72"/>
                </a:solidFill>
                <a:latin typeface="メイリオ"/>
                <a:ea typeface="メイリオ"/>
                <a:cs typeface="メイリオ"/>
              </a:rPr>
              <a:t>　 特別なツールは使いません。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57600" y="1512000"/>
            <a:ext cx="4067999" cy="503999"/>
          </a:xfrm>
          <a:prstGeom prst="rect">
            <a:avLst/>
          </a:prstGeom>
          <a:solidFill>
            <a:srgbClr val="F4F7FF"/>
          </a:solidFill>
          <a:ln w="12700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58400" y="1548000"/>
            <a:ext cx="3866399" cy="208800"/>
          </a:xfrm>
          <a:prstGeom prst="rect">
            <a:avLst/>
          </a:prstGeom>
          <a:noFill/>
        </p:spPr>
        <p:txBody>
          <a:bodyPr wrap="square" lIns="0" tIns="14400" rIns="0" bIns="14400" anchor="ctr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ご予約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58400" y="1764000"/>
            <a:ext cx="3866399" cy="216000"/>
          </a:xfrm>
          <a:prstGeom prst="rect">
            <a:avLst/>
          </a:prstGeom>
          <a:noFill/>
        </p:spPr>
        <p:txBody>
          <a:bodyPr wrap="square" lIns="0" tIns="14400" rIns="0" bIns="14400" anchor="ctr">
            <a:spAutoFit/>
          </a:bodyPr>
          <a:lstStyle/>
          <a:p>
            <a:pPr algn="l"/>
            <a:r>
              <a:rPr sz="115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押すと、ご記入いただく項目が自動で表示されます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57600" y="2073600"/>
            <a:ext cx="4067999" cy="50399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58400" y="2109600"/>
            <a:ext cx="3866399" cy="208800"/>
          </a:xfrm>
          <a:prstGeom prst="rect">
            <a:avLst/>
          </a:prstGeom>
          <a:noFill/>
        </p:spPr>
        <p:txBody>
          <a:bodyPr wrap="square" lIns="0" tIns="14400" rIns="0" bIns="14400" anchor="ctr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今から行く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8400" y="2325600"/>
            <a:ext cx="3866399" cy="216000"/>
          </a:xfrm>
          <a:prstGeom prst="rect">
            <a:avLst/>
          </a:prstGeom>
          <a:noFill/>
        </p:spPr>
        <p:txBody>
          <a:bodyPr wrap="square" lIns="0" tIns="14400" rIns="0" bIns="14400" anchor="ctr">
            <a:spAutoFit/>
          </a:bodyPr>
          <a:lstStyle/>
          <a:p>
            <a:pPr algn="l"/>
            <a:r>
              <a:rPr sz="115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当日のご来店前に、トークでひとこと送れます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57600" y="2635200"/>
            <a:ext cx="4067999" cy="50399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58400" y="2671200"/>
            <a:ext cx="3866399" cy="208800"/>
          </a:xfrm>
          <a:prstGeom prst="rect">
            <a:avLst/>
          </a:prstGeom>
          <a:noFill/>
        </p:spPr>
        <p:txBody>
          <a:bodyPr wrap="square" lIns="0" tIns="14400" rIns="0" bIns="14400" anchor="ctr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お品書き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58400" y="2887200"/>
            <a:ext cx="3866399" cy="216000"/>
          </a:xfrm>
          <a:prstGeom prst="rect">
            <a:avLst/>
          </a:prstGeom>
          <a:noFill/>
        </p:spPr>
        <p:txBody>
          <a:bodyPr wrap="square" lIns="0" tIns="14400" rIns="0" bIns="14400" anchor="ctr">
            <a:spAutoFit/>
          </a:bodyPr>
          <a:lstStyle/>
          <a:p>
            <a:pPr algn="l"/>
            <a:r>
              <a:rPr sz="115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お料理とお飲み物の一覧をご覧いただけます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57600" y="3196799"/>
            <a:ext cx="4067999" cy="50399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58400" y="3232799"/>
            <a:ext cx="3866399" cy="208800"/>
          </a:xfrm>
          <a:prstGeom prst="rect">
            <a:avLst/>
          </a:prstGeom>
          <a:noFill/>
        </p:spPr>
        <p:txBody>
          <a:bodyPr wrap="square" lIns="0" tIns="14400" rIns="0" bIns="14400" anchor="ctr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はじめての方へ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58400" y="3448799"/>
            <a:ext cx="3866399" cy="216000"/>
          </a:xfrm>
          <a:prstGeom prst="rect">
            <a:avLst/>
          </a:prstGeom>
          <a:noFill/>
        </p:spPr>
        <p:txBody>
          <a:bodyPr wrap="square" lIns="0" tIns="14400" rIns="0" bIns="14400" anchor="ctr">
            <a:spAutoFit/>
          </a:bodyPr>
          <a:lstStyle/>
          <a:p>
            <a:pPr algn="l"/>
            <a:r>
              <a:rPr sz="115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営業時間・ご予算で、初めての不安を解消します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57600" y="3758400"/>
            <a:ext cx="4067999" cy="50399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58400" y="3794400"/>
            <a:ext cx="3866399" cy="208800"/>
          </a:xfrm>
          <a:prstGeom prst="rect">
            <a:avLst/>
          </a:prstGeom>
          <a:noFill/>
        </p:spPr>
        <p:txBody>
          <a:bodyPr wrap="square" lIns="0" tIns="14400" rIns="0" bIns="14400" anchor="ctr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アクセス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58400" y="4010400"/>
            <a:ext cx="3866399" cy="216000"/>
          </a:xfrm>
          <a:prstGeom prst="rect">
            <a:avLst/>
          </a:prstGeom>
          <a:noFill/>
        </p:spPr>
        <p:txBody>
          <a:bodyPr wrap="square" lIns="0" tIns="14400" rIns="0" bIns="14400" anchor="ctr">
            <a:spAutoFit/>
          </a:bodyPr>
          <a:lstStyle/>
          <a:p>
            <a:pPr algn="l"/>
            <a:r>
              <a:rPr sz="115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麻生駅からの道順を、地図でご案内します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57600" y="4320000"/>
            <a:ext cx="4067999" cy="50399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58400" y="4356000"/>
            <a:ext cx="3866399" cy="208800"/>
          </a:xfrm>
          <a:prstGeom prst="rect">
            <a:avLst/>
          </a:prstGeom>
          <a:noFill/>
        </p:spPr>
        <p:txBody>
          <a:bodyPr wrap="square" lIns="0" tIns="14400" rIns="0" bIns="14400" anchor="ctr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系列店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58400" y="4572000"/>
            <a:ext cx="3866399" cy="216000"/>
          </a:xfrm>
          <a:prstGeom prst="rect">
            <a:avLst/>
          </a:prstGeom>
          <a:noFill/>
        </p:spPr>
        <p:txBody>
          <a:bodyPr wrap="square" lIns="0" tIns="14400" rIns="0" bIns="14400" anchor="ctr">
            <a:spAutoFit/>
          </a:bodyPr>
          <a:lstStyle/>
          <a:p>
            <a:pPr algn="l"/>
            <a:r>
              <a:rPr sz="115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えいとキャンプ場など、系列のご案内です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1600" y="5454000"/>
            <a:ext cx="9144000" cy="288000"/>
          </a:xfrm>
          <a:prstGeom prst="rect">
            <a:avLst/>
          </a:prstGeom>
          <a:noFill/>
        </p:spPr>
        <p:txBody>
          <a:bodyPr wrap="square" lIns="0" tIns="14400" rIns="0" bIns="144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5A5A72"/>
                </a:solidFill>
                <a:latin typeface="メイリオ"/>
                <a:ea typeface="メイリオ"/>
                <a:cs typeface="メイリオ"/>
              </a:rPr>
              <a:t>※ エイトビート様が開店されましたら、「系列店」にエイトビート様を追加します。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0D14D38F-F567-ACF2-CDEB-76004FDB5B51}"/>
              </a:ext>
            </a:extLst>
          </p:cNvPr>
          <p:cNvSpPr txBox="1"/>
          <p:nvPr/>
        </p:nvSpPr>
        <p:spPr>
          <a:xfrm>
            <a:off x="548883" y="138137"/>
            <a:ext cx="70272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" rIns="0" bIns="18000" anchor="ctr" anchorCtr="0">
            <a:spAutoFit/>
          </a:bodyPr>
          <a:lstStyle/>
          <a:p>
            <a:pPr lvl="0" algn="l"/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文面の例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600"/>
            <a:ext cx="2916000" cy="503999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3. ご費用と運用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34800" y="777600"/>
            <a:ext cx="6490799" cy="503999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実際にお客様へ届く文面です。全20本をご用意しております。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638000"/>
            <a:ext cx="2947199" cy="429840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1600" y="1638000"/>
            <a:ext cx="2947199" cy="52903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　あいさつ</a:t>
            </a:r>
          </a:p>
        </p:txBody>
      </p:sp>
      <p:sp>
        <p:nvSpPr>
          <p:cNvPr id="9" name="Rectangle 8"/>
          <p:cNvSpPr/>
          <p:nvPr/>
        </p:nvSpPr>
        <p:spPr>
          <a:xfrm>
            <a:off x="504000" y="2185200"/>
            <a:ext cx="2702399" cy="3478398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7600" y="2286000"/>
            <a:ext cx="2515199" cy="2682000"/>
          </a:xfrm>
          <a:prstGeom prst="rect">
            <a:avLst/>
          </a:prstGeom>
          <a:noFill/>
        </p:spPr>
        <p:txBody>
          <a:bodyPr wrap="square" lIns="0" tIns="18000" rIns="0" bIns="180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dirty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【</a:t>
            </a:r>
            <a:r>
              <a:rPr sz="1400" dirty="0" err="1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お名前】さん</a:t>
            </a:r>
            <a:endParaRPr sz="1400" dirty="0">
              <a:solidFill>
                <a:srgbClr val="1A1A2E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50000"/>
              </a:lnSpc>
            </a:pPr>
            <a:r>
              <a:rPr sz="1400" dirty="0" err="1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友だち追加ありがとうございます</a:t>
            </a:r>
            <a:r>
              <a:rPr sz="1400" dirty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50000"/>
              </a:lnSpc>
            </a:pPr>
            <a:r>
              <a:rPr sz="1400" dirty="0" err="1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あさぶの居酒屋</a:t>
            </a:r>
            <a:r>
              <a:rPr sz="1400" dirty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sz="1400" dirty="0" err="1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八十吉です</a:t>
            </a:r>
            <a:r>
              <a:rPr sz="1400" dirty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50000"/>
              </a:lnSpc>
            </a:pPr>
            <a:endParaRPr sz="1400" dirty="0">
              <a:solidFill>
                <a:srgbClr val="1A1A2E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50000"/>
              </a:lnSpc>
            </a:pPr>
            <a:r>
              <a:rPr sz="1400" dirty="0" err="1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このアカウントでは、ご予約の受付と</a:t>
            </a:r>
            <a:endParaRPr sz="1400" dirty="0">
              <a:solidFill>
                <a:srgbClr val="1A1A2E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50000"/>
              </a:lnSpc>
            </a:pPr>
            <a:r>
              <a:rPr sz="1400" dirty="0" err="1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出演者の情報をお届けしております</a:t>
            </a:r>
            <a:r>
              <a:rPr sz="1400" dirty="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80000" y="1638000"/>
            <a:ext cx="2947199" cy="429840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80000" y="1638000"/>
            <a:ext cx="2947199" cy="52903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　ご予約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2399" y="2185200"/>
            <a:ext cx="2702399" cy="3478398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95999" y="2286000"/>
            <a:ext cx="2515199" cy="2682000"/>
          </a:xfrm>
          <a:prstGeom prst="rect">
            <a:avLst/>
          </a:prstGeom>
          <a:noFill/>
        </p:spPr>
        <p:txBody>
          <a:bodyPr wrap="square" lIns="0" tIns="18000" rIns="0" bIns="180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ご予約ありがとうございます。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下記をコピーして、埋めたうえで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お送りください。</a:t>
            </a:r>
          </a:p>
          <a:p>
            <a:pPr algn="l">
              <a:lnSpc>
                <a:spcPct val="150000"/>
              </a:lnSpc>
            </a:pPr>
            <a:endParaRPr sz="1400">
              <a:solidFill>
                <a:srgbClr val="1A1A2E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ご希望日：　月　日（　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お時間：　時　分ごろ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人数：　名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ご指名：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ご要望：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78399" y="1638000"/>
            <a:ext cx="2947199" cy="429840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78399" y="1638000"/>
            <a:ext cx="2947199" cy="52903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　確定のお知らせ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00799" y="2185200"/>
            <a:ext cx="2702399" cy="3478398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94399" y="2286000"/>
            <a:ext cx="2515199" cy="2682000"/>
          </a:xfrm>
          <a:prstGeom prst="rect">
            <a:avLst/>
          </a:prstGeom>
          <a:noFill/>
        </p:spPr>
        <p:txBody>
          <a:bodyPr wrap="square" lIns="0" tIns="18000" rIns="0" bIns="180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お待たせいたしました。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下記の内容でご予約を承りました。</a:t>
            </a:r>
          </a:p>
          <a:p>
            <a:pPr algn="l">
              <a:lnSpc>
                <a:spcPct val="150000"/>
              </a:lnSpc>
            </a:pPr>
            <a:endParaRPr sz="1400">
              <a:solidFill>
                <a:srgbClr val="1A1A2E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◇ご予約日時　◇人数　◇ご指名</a:t>
            </a:r>
          </a:p>
          <a:p>
            <a:pPr algn="l">
              <a:lnSpc>
                <a:spcPct val="150000"/>
              </a:lnSpc>
            </a:pPr>
            <a:endParaRPr sz="1400">
              <a:solidFill>
                <a:srgbClr val="1A1A2E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ご来店を心よりお待ちしております。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198" y="5936400"/>
            <a:ext cx="9144000" cy="288000"/>
          </a:xfrm>
          <a:prstGeom prst="rect">
            <a:avLst/>
          </a:prstGeom>
          <a:noFill/>
        </p:spPr>
        <p:txBody>
          <a:bodyPr wrap="square" lIns="57600" tIns="18000" rIns="57600" bIns="180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dirty="0">
                <a:solidFill>
                  <a:srgbClr val="5A5A72"/>
                </a:solidFill>
                <a:latin typeface="メイリオ"/>
                <a:ea typeface="メイリオ"/>
                <a:cs typeface="メイリオ"/>
              </a:rPr>
              <a:t>※ </a:t>
            </a:r>
            <a:r>
              <a:rPr sz="1200" dirty="0" err="1">
                <a:solidFill>
                  <a:srgbClr val="5A5A72"/>
                </a:solidFill>
                <a:latin typeface="メイリオ"/>
                <a:ea typeface="メイリオ"/>
                <a:cs typeface="メイリオ"/>
              </a:rPr>
              <a:t>ご予約の文面には「この時点ではご予約は確定しておりません」を明記し、行き違いを防ぎます</a:t>
            </a:r>
            <a:r>
              <a:rPr sz="1200" dirty="0">
                <a:solidFill>
                  <a:srgbClr val="5A5A72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0D14D38F-F567-ACF2-CDEB-76004FDB5B51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" rIns="0" bIns="18000" anchor="ctr" anchorCtr="0">
            <a:spAutoFit/>
          </a:bodyPr>
          <a:lstStyle/>
          <a:p>
            <a:pPr lvl="0" algn="l"/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資料アジェンダ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36C1E2A-AC35-76CA-EBEE-CAD4F26CF45A}"/>
              </a:ext>
            </a:extLst>
          </p:cNvPr>
          <p:cNvSpPr/>
          <p:nvPr/>
        </p:nvSpPr>
        <p:spPr>
          <a:xfrm>
            <a:off x="1460711" y="3038203"/>
            <a:ext cx="6984604" cy="584775"/>
          </a:xfrm>
          <a:prstGeom prst="rect">
            <a:avLst/>
          </a:prstGeom>
        </p:spPr>
        <p:txBody>
          <a:bodyPr wrap="square" lIns="57600" tIns="18000" rIns="57600" bIns="18000" anchor="ctr">
            <a:spAutoFit/>
          </a:bodyPr>
          <a:lstStyle/>
          <a:p>
            <a:pPr algn="ctr"/>
            <a:r>
              <a:rPr sz="32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これから決めること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0D14D38F-F567-ACF2-CDEB-76004FDB5B51}"/>
              </a:ext>
            </a:extLst>
          </p:cNvPr>
          <p:cNvSpPr txBox="1"/>
          <p:nvPr/>
        </p:nvSpPr>
        <p:spPr>
          <a:xfrm>
            <a:off x="548883" y="138137"/>
            <a:ext cx="70272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" rIns="0" bIns="18000" anchor="ctr" anchorCtr="0">
            <a:spAutoFit/>
          </a:bodyPr>
          <a:lstStyle/>
          <a:p>
            <a:pPr lvl="0" algn="l"/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ご確認いただきたいこと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600"/>
            <a:ext cx="2916000" cy="503999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4. これから決めること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34800" y="777600"/>
            <a:ext cx="6490799" cy="503999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弊社側で決めている内容です。認識に相違がないかご確認ください。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638000"/>
            <a:ext cx="2172599" cy="288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1600" y="1638000"/>
            <a:ext cx="2172599" cy="576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59099" y="1810799"/>
            <a:ext cx="417600" cy="4176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400" y="2286000"/>
            <a:ext cx="1970999" cy="666000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操作権限をお渡しします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7600" y="3013199"/>
            <a:ext cx="1740599" cy="14400"/>
          </a:xfrm>
          <a:prstGeom prst="rect">
            <a:avLst/>
          </a:prstGeom>
          <a:solidFill>
            <a:srgbClr val="D8D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2800" y="3131999"/>
            <a:ext cx="1870199" cy="1242000"/>
          </a:xfrm>
          <a:prstGeom prst="rect">
            <a:avLst/>
          </a:prstGeom>
          <a:noFill/>
        </p:spPr>
        <p:txBody>
          <a:bodyPr wrap="square" lIns="0" tIns="18000" rIns="0" bIns="180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個人のLINEを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教える必要がなく、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やり取りは店舗の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アカウントに残ります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05399" y="1638000"/>
            <a:ext cx="2172599" cy="288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05399" y="1638000"/>
            <a:ext cx="2172599" cy="576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82899" y="1810799"/>
            <a:ext cx="417600" cy="4176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6199" y="2286000"/>
            <a:ext cx="1970999" cy="666000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ご予約はこれまで通りです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1399" y="3013199"/>
            <a:ext cx="1740599" cy="14400"/>
          </a:xfrm>
          <a:prstGeom prst="rect">
            <a:avLst/>
          </a:prstGeom>
          <a:solidFill>
            <a:srgbClr val="D8D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56599" y="3131999"/>
            <a:ext cx="1870199" cy="1242000"/>
          </a:xfrm>
          <a:prstGeom prst="rect">
            <a:avLst/>
          </a:prstGeom>
          <a:noFill/>
        </p:spPr>
        <p:txBody>
          <a:bodyPr wrap="square" lIns="0" tIns="14400" rIns="0" bIns="144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LINEが担うのは、連絡と</a:t>
            </a:r>
          </a:p>
          <a:p>
            <a:pPr algn="l">
              <a:lnSpc>
                <a:spcPct val="14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お店の案内の場です。</a:t>
            </a:r>
          </a:p>
          <a:p>
            <a:pPr algn="l">
              <a:lnSpc>
                <a:spcPct val="14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お席の確保は</a:t>
            </a:r>
          </a:p>
          <a:p>
            <a:pPr algn="l">
              <a:lnSpc>
                <a:spcPct val="14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これまで通りです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1638000"/>
            <a:ext cx="2172599" cy="288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0" y="1638000"/>
            <a:ext cx="2172599" cy="576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906700" y="1810799"/>
            <a:ext cx="417600" cy="4176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999" y="2286000"/>
            <a:ext cx="1970999" cy="666000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月額の固定費は0円です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45199" y="3013199"/>
            <a:ext cx="1740599" cy="14400"/>
          </a:xfrm>
          <a:prstGeom prst="rect">
            <a:avLst/>
          </a:prstGeom>
          <a:solidFill>
            <a:srgbClr val="D8D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80400" y="3131999"/>
            <a:ext cx="1870199" cy="1242000"/>
          </a:xfrm>
          <a:prstGeom prst="rect">
            <a:avLst/>
          </a:prstGeom>
          <a:noFill/>
        </p:spPr>
        <p:txBody>
          <a:bodyPr wrap="square" lIns="0" tIns="18000" rIns="0" bIns="180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外部のツールは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導入しません。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月額0円のプランから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始められます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52999" y="1638000"/>
            <a:ext cx="2172599" cy="288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52999" y="1638000"/>
            <a:ext cx="2172599" cy="576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230499" y="1810799"/>
            <a:ext cx="417600" cy="4176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3799" y="2286000"/>
            <a:ext cx="1970999" cy="666000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一斉配信は新規のお客様へ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68999" y="3013199"/>
            <a:ext cx="1740599" cy="14400"/>
          </a:xfrm>
          <a:prstGeom prst="rect">
            <a:avLst/>
          </a:prstGeom>
          <a:solidFill>
            <a:srgbClr val="D8D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04200" y="3131999"/>
            <a:ext cx="1870199" cy="1242000"/>
          </a:xfrm>
          <a:prstGeom prst="rect">
            <a:avLst/>
          </a:prstGeom>
          <a:noFill/>
        </p:spPr>
        <p:txBody>
          <a:bodyPr wrap="square" lIns="0" tIns="18000" rIns="0" bIns="180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再来店をうながす配信や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ステップ配信は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行いません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1600" y="4752000"/>
            <a:ext cx="9144000" cy="48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800" b="1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□ この内容で問題ありません　　□ 気になる点があります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0D14D38F-F567-ACF2-CDEB-76004FDB5B51}"/>
              </a:ext>
            </a:extLst>
          </p:cNvPr>
          <p:cNvSpPr txBox="1"/>
          <p:nvPr/>
        </p:nvSpPr>
        <p:spPr>
          <a:xfrm>
            <a:off x="548883" y="138137"/>
            <a:ext cx="70272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" rIns="0" bIns="18000" anchor="ctr" anchorCtr="0">
            <a:spAutoFit/>
          </a:bodyPr>
          <a:lstStyle/>
          <a:p>
            <a:pPr lvl="0" algn="l"/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お教えいただきたいこと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600"/>
            <a:ext cx="2916000" cy="503999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4. これから決めること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34800" y="777600"/>
            <a:ext cx="6490799" cy="503999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ご予約サイトによって記載が異なっており、正しい情報をお教えいただけますでしょうか。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638000"/>
            <a:ext cx="9144000" cy="1116000"/>
          </a:xfrm>
          <a:prstGeom prst="rect">
            <a:avLst/>
          </a:prstGeom>
          <a:solidFill>
            <a:srgbClr val="F4F7FF"/>
          </a:solidFill>
          <a:ln w="28575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9600" y="1818000"/>
            <a:ext cx="8567999" cy="756000"/>
          </a:xfrm>
          <a:prstGeom prst="rect">
            <a:avLst/>
          </a:prstGeom>
          <a:noFill/>
        </p:spPr>
        <p:txBody>
          <a:bodyPr wrap="square" lIns="0" tIns="18000" rIns="0" bIns="18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八十吉様の営業時間と定休日</a:t>
            </a:r>
          </a:p>
          <a:p>
            <a:pPr algn="l">
              <a:lnSpc>
                <a:spcPct val="135000"/>
              </a:lnSpc>
            </a:pPr>
            <a:r>
              <a:rPr sz="15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定休日は 木曜・日曜 と認識しております。営業時間とあわせて、相違がないかご確認ください。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600" y="3078000"/>
            <a:ext cx="1800000" cy="468000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/>
            <a:r>
              <a:rPr sz="18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営業時間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97600" y="3495600"/>
            <a:ext cx="6912000" cy="18000"/>
          </a:xfrm>
          <a:prstGeom prst="rect">
            <a:avLst/>
          </a:prstGeom>
          <a:solidFill>
            <a:srgbClr val="D8D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5600" y="3942000"/>
            <a:ext cx="1800000" cy="468000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/>
            <a:r>
              <a:rPr sz="18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定休日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97600" y="4359600"/>
            <a:ext cx="6912000" cy="18000"/>
          </a:xfrm>
          <a:prstGeom prst="rect">
            <a:avLst/>
          </a:prstGeom>
          <a:solidFill>
            <a:srgbClr val="D8D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1600" y="4896000"/>
            <a:ext cx="9144000" cy="396000"/>
          </a:xfrm>
          <a:prstGeom prst="rect">
            <a:avLst/>
          </a:prstGeom>
          <a:noFill/>
        </p:spPr>
        <p:txBody>
          <a:bodyPr wrap="square" lIns="57600" tIns="18000" rIns="57600" bIns="1800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こちらが分かりますと、営業時間外の自動応答を設定できます。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4000" y="3941999"/>
            <a:ext cx="6660000" cy="468000"/>
          </a:xfrm>
          <a:prstGeom prst="rect">
            <a:avLst/>
          </a:prstGeom>
          <a:noFill/>
        </p:spPr>
        <p:txBody>
          <a:bodyPr wrap="square" lIns="0" rIns="0" tIns="14400" bIns="144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木曜・日曜（相違があればお知らせください）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600" y="4536000"/>
            <a:ext cx="9144000" cy="270000"/>
          </a:xfrm>
          <a:prstGeom prst="rect">
            <a:avLst/>
          </a:prstGeom>
          <a:noFill/>
        </p:spPr>
        <p:txBody>
          <a:bodyPr wrap="square" lIns="0" rIns="0" tIns="14400" bIns="144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5A5A72"/>
                </a:solidFill>
                <a:latin typeface="メイリオ"/>
                <a:ea typeface="メイリオ"/>
                <a:cs typeface="メイリオ"/>
              </a:rPr>
              <a:t>※ 臨時の営業・お休みは、その都度お知らせください。自動応答にすぐ反映します。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0D14D38F-F567-ACF2-CDEB-76004FDB5B51}"/>
              </a:ext>
            </a:extLst>
          </p:cNvPr>
          <p:cNvSpPr txBox="1"/>
          <p:nvPr/>
        </p:nvSpPr>
        <p:spPr>
          <a:xfrm>
            <a:off x="548883" y="138137"/>
            <a:ext cx="70272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" rIns="0" bIns="18000" anchor="ctr" anchorCtr="0">
            <a:spAutoFit/>
          </a:bodyPr>
          <a:lstStyle/>
          <a:p>
            <a:pPr lvl="0" algn="l"/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エイトビート様を始められるときに決めること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600"/>
            <a:ext cx="2916000" cy="503999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4. これから決めること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34800" y="777600"/>
            <a:ext cx="6490799" cy="503999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出演者の方や内容が決まってから、あらためてご相談させてください。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638000"/>
            <a:ext cx="2947199" cy="223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1600" y="1638000"/>
            <a:ext cx="2947199" cy="576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646399" y="1810799"/>
            <a:ext cx="417600" cy="4176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400" y="2286000"/>
            <a:ext cx="2745599" cy="666000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パフォーマーの人数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7600" y="3013199"/>
            <a:ext cx="2515199" cy="14400"/>
          </a:xfrm>
          <a:prstGeom prst="rect">
            <a:avLst/>
          </a:prstGeom>
          <a:solidFill>
            <a:srgbClr val="D8D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2800" y="3131999"/>
            <a:ext cx="2644799" cy="594000"/>
          </a:xfrm>
          <a:prstGeom prst="rect">
            <a:avLst/>
          </a:prstGeom>
          <a:noFill/>
        </p:spPr>
        <p:txBody>
          <a:bodyPr wrap="square" lIns="0" tIns="18000" rIns="0" bIns="180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何名の方が、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どのように出勤されるか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80000" y="1638000"/>
            <a:ext cx="2947199" cy="223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80000" y="1638000"/>
            <a:ext cx="2947199" cy="576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744799" y="1810799"/>
            <a:ext cx="417600" cy="4176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0799" y="2286000"/>
            <a:ext cx="2745599" cy="666000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ご指名の書き方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95999" y="3013199"/>
            <a:ext cx="2515199" cy="14400"/>
          </a:xfrm>
          <a:prstGeom prst="rect">
            <a:avLst/>
          </a:prstGeom>
          <a:solidFill>
            <a:srgbClr val="D8D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31199" y="3131999"/>
            <a:ext cx="2644799" cy="594000"/>
          </a:xfrm>
          <a:prstGeom prst="rect">
            <a:avLst/>
          </a:prstGeom>
          <a:noFill/>
        </p:spPr>
        <p:txBody>
          <a:bodyPr wrap="square" lIns="0" tIns="18000" rIns="0" bIns="180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お名前のみ／芸名／番号など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78399" y="1638000"/>
            <a:ext cx="2947199" cy="223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78399" y="1638000"/>
            <a:ext cx="2947199" cy="576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843199" y="1810799"/>
            <a:ext cx="417600" cy="4176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9199" y="2286000"/>
            <a:ext cx="2745599" cy="666000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キャンセルの取り決め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94399" y="3013199"/>
            <a:ext cx="2515199" cy="14400"/>
          </a:xfrm>
          <a:prstGeom prst="rect">
            <a:avLst/>
          </a:prstGeom>
          <a:solidFill>
            <a:srgbClr val="D8D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29599" y="3131999"/>
            <a:ext cx="2644799" cy="594000"/>
          </a:xfrm>
          <a:prstGeom prst="rect">
            <a:avLst/>
          </a:prstGeom>
          <a:noFill/>
        </p:spPr>
        <p:txBody>
          <a:bodyPr wrap="square" lIns="0" tIns="18000" rIns="0" bIns="180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お客様側・パフォーマー側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それぞれ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1600" y="4104000"/>
            <a:ext cx="9144000" cy="576000"/>
          </a:xfrm>
          <a:prstGeom prst="rect">
            <a:avLst/>
          </a:prstGeom>
          <a:solidFill>
            <a:srgbClr val="FFFFFF"/>
          </a:solidFill>
          <a:ln w="28575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20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いまお決めいただく必要はありません。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1600" y="5004000"/>
            <a:ext cx="9144000" cy="396000"/>
          </a:xfrm>
          <a:prstGeom prst="rect">
            <a:avLst/>
          </a:prstGeom>
          <a:noFill/>
        </p:spPr>
        <p:txBody>
          <a:bodyPr wrap="square" lIns="57600" tIns="18000" rIns="57600" bIns="1800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決まりましたら、文面とメニューの表記を差し替えるだけで運用に入れます。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0D14D38F-F567-ACF2-CDEB-76004FDB5B51}"/>
              </a:ext>
            </a:extLst>
          </p:cNvPr>
          <p:cNvSpPr txBox="1"/>
          <p:nvPr/>
        </p:nvSpPr>
        <p:spPr>
          <a:xfrm>
            <a:off x="548883" y="138137"/>
            <a:ext cx="70272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" rIns="0" bIns="18000" anchor="ctr" anchorCtr="0">
            <a:spAutoFit/>
          </a:bodyPr>
          <a:lstStyle/>
          <a:p>
            <a:pPr lvl="0" algn="l"/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エイトビート様のリッチメニュー（想定図）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600"/>
            <a:ext cx="2916000" cy="503999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000" rIns="0" bIns="18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4. これから決めること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34800" y="777600"/>
            <a:ext cx="6490799" cy="503999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6つの入口を1画面に。出演の確認からご予約まで、迷わせません。</a:t>
            </a:r>
          </a:p>
        </p:txBody>
      </p:sp>
      <p:pic>
        <p:nvPicPr>
          <p:cNvPr id="7" name="Picture 6" descr="Codex 画像 2026年9月3日 12_51_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00" y="1548000"/>
            <a:ext cx="5220000" cy="352102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1600" y="1548000"/>
            <a:ext cx="5220000" cy="3521021"/>
          </a:xfrm>
          <a:prstGeom prst="rect">
            <a:avLst/>
          </a:prstGeom>
          <a:noFill/>
          <a:ln w="1587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1600" y="5159021"/>
            <a:ext cx="5220000" cy="251999"/>
          </a:xfrm>
          <a:prstGeom prst="rect">
            <a:avLst/>
          </a:prstGeom>
          <a:noFill/>
        </p:spPr>
        <p:txBody>
          <a:bodyPr wrap="square" lIns="0" tIns="18000" rIns="0" bIns="180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5A5A72"/>
                </a:solidFill>
                <a:latin typeface="メイリオ"/>
                <a:ea typeface="メイリオ"/>
                <a:cs typeface="メイリオ"/>
              </a:rPr>
              <a:t>※ 実装は標準の6分割テンプレート＋画像1枚（2500×1686px）。特別なツールは使いません。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25600" y="1548000"/>
            <a:ext cx="3599999" cy="532800"/>
          </a:xfrm>
          <a:prstGeom prst="rect">
            <a:avLst/>
          </a:prstGeom>
          <a:solidFill>
            <a:srgbClr val="F4F7FF"/>
          </a:solidFill>
          <a:ln w="12700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91498" y="1576903"/>
            <a:ext cx="3532902" cy="251795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/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ご予約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91498" y="1819887"/>
            <a:ext cx="3532902" cy="248717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dirty="0" err="1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押すと、ご記入いただく項目が自動で表示されます</a:t>
            </a:r>
            <a:endParaRPr sz="1200" dirty="0">
              <a:solidFill>
                <a:srgbClr val="1A1A2E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925600" y="2145600"/>
            <a:ext cx="3599999" cy="53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91498" y="2174503"/>
            <a:ext cx="3532902" cy="251795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/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今から行く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91498" y="2406442"/>
            <a:ext cx="3532902" cy="248717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当日のご来店。お電話より早く伝わります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25600" y="2743199"/>
            <a:ext cx="3599999" cy="53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91498" y="2772102"/>
            <a:ext cx="3532902" cy="251795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/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スケジュール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91498" y="3004042"/>
            <a:ext cx="3532902" cy="248717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本日の出勤を、いつでも確認できます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25600" y="3340800"/>
            <a:ext cx="3599999" cy="53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91498" y="3369702"/>
            <a:ext cx="3532902" cy="251795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/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はじめての方へ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91498" y="3601642"/>
            <a:ext cx="3532902" cy="248717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料金・アクセス。初めての不安を解消します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25600" y="3938400"/>
            <a:ext cx="3599999" cy="53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91498" y="3967302"/>
            <a:ext cx="3532902" cy="251795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/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系列店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91498" y="4199242"/>
            <a:ext cx="3532902" cy="248717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八十吉など、系列店のご案内です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25600" y="4535999"/>
            <a:ext cx="3599999" cy="53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91498" y="4564902"/>
            <a:ext cx="3532902" cy="251795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/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お問い合わせ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91498" y="4796841"/>
            <a:ext cx="3532902" cy="248717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そのままメッセージを送っていただけます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1600" y="5616000"/>
            <a:ext cx="9144000" cy="360000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6分割は標準テンプレートにある形です。追加費用なしで、この画面まで作れます。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027200" cy="338400"/>
          </a:xfrm>
          <a:prstGeom prst="rect">
            <a:avLst/>
          </a:prstGeom>
          <a:noFill/>
        </p:spPr>
        <p:txBody>
          <a:bodyPr wrap="square" lIns="0" tIns="14400" rIns="0" bIns="14400" anchor="ctr">
            <a:spAutoFit/>
          </a:bodyPr>
          <a:lstStyle/>
          <a:p>
            <a:pPr algn="l"/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配信の例（エイトビート開店時）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600"/>
            <a:ext cx="2916000" cy="503999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4400" rIns="0" bIns="144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4. これから決めること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34800" y="777600"/>
            <a:ext cx="6490799" cy="503999"/>
          </a:xfrm>
          <a:prstGeom prst="rect">
            <a:avLst/>
          </a:prstGeom>
          <a:noFill/>
        </p:spPr>
        <p:txBody>
          <a:bodyPr wrap="square" lIns="0" tIns="14400" rIns="0" bIns="144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開店のお知らせと出演者の募集を、八十吉の友だち156名へお届けできます。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00" y="1512000"/>
            <a:ext cx="3096000" cy="38686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1600" y="1512000"/>
            <a:ext cx="3096000" cy="3868620"/>
          </a:xfrm>
          <a:prstGeom prst="rect">
            <a:avLst/>
          </a:prstGeom>
          <a:noFill/>
          <a:ln w="15875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729600" y="1512000"/>
            <a:ext cx="5795999" cy="120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729600" y="1512000"/>
            <a:ext cx="5795999" cy="32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4400" rIns="0" bIns="144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この配信でやること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73600" y="1900800"/>
            <a:ext cx="5507999" cy="774000"/>
          </a:xfrm>
          <a:prstGeom prst="rect">
            <a:avLst/>
          </a:prstGeom>
          <a:noFill/>
        </p:spPr>
        <p:txBody>
          <a:bodyPr wrap="square" lIns="0" tIns="14400" rIns="0" bIns="1440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・エイトビート開店のお知らせ</a:t>
            </a:r>
          </a:p>
          <a:p>
            <a:pPr algn="l">
              <a:lnSpc>
                <a:spcPct val="142000"/>
              </a:lnSpc>
            </a:pPr>
            <a:r>
              <a:rPr sz="13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・出演者（マジシャン・芸人の方）募集の告知</a:t>
            </a:r>
          </a:p>
          <a:p>
            <a:pPr algn="l">
              <a:lnSpc>
                <a:spcPct val="142000"/>
              </a:lnSpc>
            </a:pPr>
            <a:r>
              <a:rPr sz="13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　※ 出演者はエイトビート様の所属です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29600" y="2826000"/>
            <a:ext cx="5795999" cy="1206000"/>
          </a:xfrm>
          <a:prstGeom prst="rect">
            <a:avLst/>
          </a:prstGeom>
          <a:solidFill>
            <a:srgbClr val="FFFFFF"/>
          </a:solidFill>
          <a:ln w="222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729600" y="2826000"/>
            <a:ext cx="5795999" cy="3240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4400" rIns="0" bIns="144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やらないこと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73600" y="3214800"/>
            <a:ext cx="5507999" cy="774000"/>
          </a:xfrm>
          <a:prstGeom prst="rect">
            <a:avLst/>
          </a:prstGeom>
          <a:noFill/>
        </p:spPr>
        <p:txBody>
          <a:bodyPr wrap="square" lIns="0" tIns="14400" rIns="0" bIns="1440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・ご応募の受付は、LINEでは行いません</a:t>
            </a:r>
          </a:p>
          <a:p>
            <a:pPr algn="l">
              <a:lnSpc>
                <a:spcPct val="142000"/>
              </a:lnSpc>
            </a:pPr>
            <a:r>
              <a:rPr sz="13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・再来店をうながす配信も行いません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29600" y="4140000"/>
            <a:ext cx="5795999" cy="120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729600" y="4140000"/>
            <a:ext cx="5795999" cy="32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4400" rIns="0" bIns="144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なぜ八十吉のアカウントから配信するのか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73600" y="4528800"/>
            <a:ext cx="5507999" cy="774000"/>
          </a:xfrm>
          <a:prstGeom prst="rect">
            <a:avLst/>
          </a:prstGeom>
          <a:noFill/>
        </p:spPr>
        <p:txBody>
          <a:bodyPr wrap="square" lIns="0" tIns="14400" rIns="0" bIns="1440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・エイトビートのアカウントは開店後の開設で、友だち0名から</a:t>
            </a:r>
          </a:p>
          <a:p>
            <a:pPr algn="l">
              <a:lnSpc>
                <a:spcPct val="142000"/>
              </a:lnSpc>
            </a:pPr>
            <a:r>
              <a:rPr sz="13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・八十吉の156名は近隣の常連の方々＝いちばん届く告知先</a:t>
            </a:r>
          </a:p>
          <a:p>
            <a:pPr algn="l">
              <a:lnSpc>
                <a:spcPct val="142000"/>
              </a:lnSpc>
            </a:pPr>
            <a:r>
              <a:rPr sz="13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・1回の配信は156通＝月200通の無料枠内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00" y="5652000"/>
            <a:ext cx="9144000" cy="360000"/>
          </a:xfrm>
          <a:prstGeom prst="rect">
            <a:avLst/>
          </a:prstGeom>
          <a:noFill/>
        </p:spPr>
        <p:txBody>
          <a:bodyPr wrap="square" lIns="0" tIns="14400" rIns="0" bIns="1440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開店の日に、いちばん届く156名へ、追加費用なしで告知できます。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0D14D38F-F567-ACF2-CDEB-76004FDB5B51}"/>
              </a:ext>
            </a:extLst>
          </p:cNvPr>
          <p:cNvSpPr txBox="1"/>
          <p:nvPr/>
        </p:nvSpPr>
        <p:spPr>
          <a:xfrm>
            <a:off x="548883" y="138137"/>
            <a:ext cx="70272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" rIns="0" bIns="14400" anchor="ctr" anchorCtr="0">
            <a:spAutoFit/>
          </a:bodyPr>
          <a:lstStyle/>
          <a:p>
            <a:pPr lvl="0" algn="l"/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納品物と完了の定義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600"/>
            <a:ext cx="2916000" cy="503999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4400" rIns="0" bIns="144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4. これから決めること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34800" y="777600"/>
            <a:ext cx="6490799" cy="503999"/>
          </a:xfrm>
          <a:prstGeom prst="rect">
            <a:avLst/>
          </a:prstGeom>
          <a:noFill/>
        </p:spPr>
        <p:txBody>
          <a:bodyPr wrap="square" lIns="0" tIns="14400" rIns="0" bIns="144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下記の4点をお渡しした時点で、構築の完了といたします。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475999"/>
            <a:ext cx="9144000" cy="655200"/>
          </a:xfrm>
          <a:prstGeom prst="rect">
            <a:avLst/>
          </a:prstGeom>
          <a:solidFill>
            <a:srgbClr val="F4F7FF"/>
          </a:solidFill>
          <a:ln w="12700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9600" y="1699200"/>
            <a:ext cx="208800" cy="20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A5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7600" y="1540799"/>
            <a:ext cx="4500000" cy="306000"/>
          </a:xfrm>
          <a:prstGeom prst="rect">
            <a:avLst/>
          </a:prstGeom>
          <a:noFill/>
        </p:spPr>
        <p:txBody>
          <a:bodyPr wrap="square" lIns="0" tIns="14400" rIns="0" bIns="14400" anchor="ctr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LINE公式アカウントの設定一式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7600" y="1843199"/>
            <a:ext cx="8352000" cy="234000"/>
          </a:xfrm>
          <a:prstGeom prst="rect">
            <a:avLst/>
          </a:prstGeom>
          <a:noFill/>
        </p:spPr>
        <p:txBody>
          <a:bodyPr wrap="square" lIns="0" tIns="14400" rIns="0" bIns="14400" anchor="ctr">
            <a:spAutoFit/>
          </a:bodyPr>
          <a:lstStyle/>
          <a:p>
            <a:pPr algn="l"/>
            <a:r>
              <a:rPr sz="13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リッチメニュー・あいさつメッセージ・自動応答・操作権限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1600" y="2203199"/>
            <a:ext cx="9144000" cy="65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9600" y="2426399"/>
            <a:ext cx="208800" cy="20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A5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7600" y="2267999"/>
            <a:ext cx="4500000" cy="306000"/>
          </a:xfrm>
          <a:prstGeom prst="rect">
            <a:avLst/>
          </a:prstGeom>
          <a:noFill/>
        </p:spPr>
        <p:txBody>
          <a:bodyPr wrap="square" lIns="0" tIns="14400" rIns="0" bIns="14400" anchor="ctr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運用マニュアル 2種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600" y="2570399"/>
            <a:ext cx="8352000" cy="234000"/>
          </a:xfrm>
          <a:prstGeom prst="rect">
            <a:avLst/>
          </a:prstGeom>
          <a:noFill/>
        </p:spPr>
        <p:txBody>
          <a:bodyPr wrap="square" lIns="0" tIns="14400" rIns="0" bIns="14400" anchor="ctr">
            <a:spAutoFit/>
          </a:bodyPr>
          <a:lstStyle/>
          <a:p>
            <a:pPr algn="l"/>
            <a:r>
              <a:rPr sz="13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店舗様向け／パフォーマーの方向け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1600" y="2930400"/>
            <a:ext cx="9144000" cy="655200"/>
          </a:xfrm>
          <a:prstGeom prst="rect">
            <a:avLst/>
          </a:prstGeom>
          <a:solidFill>
            <a:srgbClr val="F4F7FF"/>
          </a:solidFill>
          <a:ln w="12700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9600" y="3153600"/>
            <a:ext cx="208800" cy="20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A5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7600" y="2995200"/>
            <a:ext cx="4500000" cy="306000"/>
          </a:xfrm>
          <a:prstGeom prst="rect">
            <a:avLst/>
          </a:prstGeom>
          <a:noFill/>
        </p:spPr>
        <p:txBody>
          <a:bodyPr wrap="square" lIns="0" tIns="14400" rIns="0" bIns="14400" anchor="ctr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文面集（全20本）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7600" y="3297600"/>
            <a:ext cx="8352000" cy="234000"/>
          </a:xfrm>
          <a:prstGeom prst="rect">
            <a:avLst/>
          </a:prstGeom>
          <a:noFill/>
        </p:spPr>
        <p:txBody>
          <a:bodyPr wrap="square" lIns="0" tIns="14400" rIns="0" bIns="14400" anchor="ctr">
            <a:spAutoFit/>
          </a:bodyPr>
          <a:lstStyle/>
          <a:p>
            <a:pPr algn="l"/>
            <a:r>
              <a:rPr sz="13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あいさつ・ご予約・確定のご連絡・お詫びなど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1600" y="3657600"/>
            <a:ext cx="9144000" cy="65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79600" y="3880800"/>
            <a:ext cx="208800" cy="20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A5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7600" y="3722400"/>
            <a:ext cx="4500000" cy="306000"/>
          </a:xfrm>
          <a:prstGeom prst="rect">
            <a:avLst/>
          </a:prstGeom>
          <a:noFill/>
        </p:spPr>
        <p:txBody>
          <a:bodyPr wrap="square" lIns="0" tIns="14400" rIns="0" bIns="14400" anchor="ctr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権限管理台帳のひな形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7600" y="4024800"/>
            <a:ext cx="8352000" cy="234000"/>
          </a:xfrm>
          <a:prstGeom prst="rect">
            <a:avLst/>
          </a:prstGeom>
          <a:noFill/>
        </p:spPr>
        <p:txBody>
          <a:bodyPr wrap="square" lIns="0" tIns="14400" rIns="0" bIns="14400" anchor="ctr">
            <a:spAutoFit/>
          </a:bodyPr>
          <a:lstStyle/>
          <a:p>
            <a:pPr algn="l"/>
            <a:r>
              <a:rPr sz="13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誰に・いつ権限をお渡ししたかを記録する台帳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600" y="4536000"/>
            <a:ext cx="9144000" cy="792000"/>
          </a:xfrm>
          <a:prstGeom prst="rect">
            <a:avLst/>
          </a:prstGeom>
          <a:solidFill>
            <a:srgbClr val="F4F7FF"/>
          </a:solidFill>
          <a:ln w="12700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4400" rIns="0" bIns="14400" rtlCol="0" anchor="ctr"/>
          <a:lstStyle/>
          <a:p>
            <a:pPr algn="ctr">
              <a:lnSpc>
                <a:spcPct val="140000"/>
              </a:lnSpc>
            </a:pPr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エイトビート様を始めるかどうかのご判断とは、切り離してお考えください。</a:t>
            </a:r>
          </a:p>
          <a:p>
            <a:pPr algn="ctr">
              <a:lnSpc>
                <a:spcPct val="140000"/>
              </a:lnSpc>
            </a:pPr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仕組みは先に整い、決まった日からすぐお使いいただけます。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600" y="5544000"/>
            <a:ext cx="9144000" cy="360000"/>
          </a:xfrm>
          <a:prstGeom prst="rect">
            <a:avLst/>
          </a:prstGeom>
          <a:noFill/>
        </p:spPr>
        <p:txBody>
          <a:bodyPr wrap="square" lIns="0" tIns="14400" rIns="0" bIns="1440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この4点がお手元に揃ったら、本件の構築は完了です。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0D14D38F-F567-ACF2-CDEB-76004FDB5B51}"/>
              </a:ext>
            </a:extLst>
          </p:cNvPr>
          <p:cNvSpPr txBox="1"/>
          <p:nvPr/>
        </p:nvSpPr>
        <p:spPr>
          <a:xfrm>
            <a:off x="548883" y="138137"/>
            <a:ext cx="70272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" rIns="0" bIns="18000" anchor="ctr" anchorCtr="0">
            <a:spAutoFit/>
          </a:bodyPr>
          <a:lstStyle/>
          <a:p>
            <a:pPr lvl="0" algn="l"/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今後の進め方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600"/>
            <a:ext cx="2916000" cy="503999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4. これから決めること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34800" y="777600"/>
            <a:ext cx="6490799" cy="503999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下記の流れで進めさせていただきます。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745999"/>
            <a:ext cx="2015999" cy="630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 1</a:t>
            </a:r>
          </a:p>
        </p:txBody>
      </p:sp>
      <p:sp>
        <p:nvSpPr>
          <p:cNvPr id="8" name="Rectangle 7"/>
          <p:cNvSpPr/>
          <p:nvPr/>
        </p:nvSpPr>
        <p:spPr>
          <a:xfrm>
            <a:off x="2505600" y="1745999"/>
            <a:ext cx="7020000" cy="6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49600" y="1745999"/>
            <a:ext cx="2304000" cy="630000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/>
            <a:r>
              <a:rPr sz="18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構築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5600" y="1745999"/>
            <a:ext cx="3384000" cy="630000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リッチメニュー・あいさつ・自動応答・文面の作成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1600" y="1745999"/>
            <a:ext cx="935999" cy="630000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ctr"/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（弊社）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317600" y="2386800"/>
            <a:ext cx="144000" cy="187200"/>
          </a:xfrm>
          <a:prstGeom prst="downArrow">
            <a:avLst/>
          </a:prstGeom>
          <a:solidFill>
            <a:srgbClr val="D8D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1600" y="2591999"/>
            <a:ext cx="2015999" cy="630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05600" y="2591999"/>
            <a:ext cx="7020000" cy="6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49600" y="2591999"/>
            <a:ext cx="2304000" cy="630000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/>
            <a:r>
              <a:rPr sz="18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ご確認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5600" y="2591999"/>
            <a:ext cx="3384000" cy="630000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作成したものを画面でご覧いただき、ご意見をいただく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1600" y="2591999"/>
            <a:ext cx="935999" cy="630000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ctr"/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（店舗様）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1317600" y="3232799"/>
            <a:ext cx="144000" cy="187200"/>
          </a:xfrm>
          <a:prstGeom prst="downArrow">
            <a:avLst/>
          </a:prstGeom>
          <a:solidFill>
            <a:srgbClr val="D8D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81600" y="3438000"/>
            <a:ext cx="2015999" cy="630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05600" y="3438000"/>
            <a:ext cx="7020000" cy="6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49600" y="3438000"/>
            <a:ext cx="2304000" cy="630000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/>
            <a:r>
              <a:rPr sz="18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設定投入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5600" y="3438000"/>
            <a:ext cx="3384000" cy="630000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LINE公式アカウントへ反映・操作権限の付与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1600" y="3438000"/>
            <a:ext cx="935999" cy="630000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ctr"/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（弊社）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1317600" y="4078800"/>
            <a:ext cx="144000" cy="187200"/>
          </a:xfrm>
          <a:prstGeom prst="downArrow">
            <a:avLst/>
          </a:prstGeom>
          <a:solidFill>
            <a:srgbClr val="D8D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81600" y="4284000"/>
            <a:ext cx="2015999" cy="630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18000" rIns="57600" bIns="180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 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05600" y="4284000"/>
            <a:ext cx="7020000" cy="6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649600" y="4284000"/>
            <a:ext cx="2304000" cy="630000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/>
            <a:r>
              <a:rPr sz="18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ご納品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5600" y="4284000"/>
            <a:ext cx="3384000" cy="630000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1A1A2E"/>
                </a:solidFill>
                <a:latin typeface="メイリオ"/>
                <a:ea typeface="メイリオ"/>
                <a:cs typeface="メイリオ"/>
              </a:rPr>
              <a:t>運用マニュアルをお渡しし、操作をご説明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81600" y="4284000"/>
            <a:ext cx="935999" cy="630000"/>
          </a:xfrm>
          <a:prstGeom prst="rect">
            <a:avLst/>
          </a:prstGeom>
          <a:noFill/>
        </p:spPr>
        <p:txBody>
          <a:bodyPr wrap="square" lIns="0" tIns="18000" rIns="0" bIns="18000" anchor="ctr">
            <a:spAutoFit/>
          </a:bodyPr>
          <a:lstStyle/>
          <a:p>
            <a:pPr algn="ctr"/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（弊社）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600" y="5256000"/>
            <a:ext cx="9144000" cy="396000"/>
          </a:xfrm>
          <a:prstGeom prst="rect">
            <a:avLst/>
          </a:prstGeom>
          <a:noFill/>
        </p:spPr>
        <p:txBody>
          <a:bodyPr wrap="square" lIns="57600" tIns="18000" rIns="57600" bIns="1800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弊社の作業範囲は構築までです。ご納品後の配信代行は含んでおりません。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2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/>
              </a:solidFill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14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15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21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6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0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7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1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141496</TotalTime>
  <Words>1175</Words>
  <Application>Microsoft Office PowerPoint</Application>
  <PresentationFormat>A4 210 x 297 mm</PresentationFormat>
  <Paragraphs>466</Paragraphs>
  <Slides>29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29</vt:i4>
      </vt:variant>
    </vt:vector>
  </HeadingPairs>
  <TitlesOfParts>
    <vt:vector size="35" baseType="lpstr"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1917</cp:revision>
  <cp:lastPrinted>2022-11-01T11:38:14Z</cp:lastPrinted>
  <dcterms:created xsi:type="dcterms:W3CDTF">2015-09-04T09:21:15Z</dcterms:created>
  <dcterms:modified xsi:type="dcterms:W3CDTF">2026-09-03T05:47:10Z</dcterms:modified>
</cp:coreProperties>
</file>