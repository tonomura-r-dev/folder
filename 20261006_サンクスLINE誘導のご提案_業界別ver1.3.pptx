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7"/>
  </p:notesMasterIdLst>
  <p:handoutMasterIdLst>
    <p:handoutMasterId r:id="rId8"/>
  </p:handoutMasterIdLst>
  <p:sldIdLst>
    <p:sldId id="3043" r:id="rId13"/>
    <p:sldId id="3044" r:id="rId14"/>
    <p:sldId id="3039" r:id="rId3"/>
    <p:sldId id="3040" r:id="rId4"/>
    <p:sldId id="3041" r:id="rId5"/>
    <p:sldId id="3042" r:id="rId6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450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広告で反響を獲得し、LINEで売上・LTVまで最大化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集客からCV後のフォローまで、一気通貫で顧客接点を設計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92000" y="1854000"/>
            <a:ext cx="3960000" cy="50400"/>
          </a:xfrm>
          <a:prstGeom prst="rect">
            <a:avLst/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602000"/>
            <a:ext cx="216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AD領域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0000" y="1854000"/>
            <a:ext cx="6372000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0" y="1602000"/>
            <a:ext cx="216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96000" y="1620000"/>
            <a:ext cx="0" cy="3672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92000" y="2448000"/>
            <a:ext cx="2088000" cy="612000"/>
          </a:xfrm>
          <a:prstGeom prst="rect">
            <a:avLst/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広告で反響獲得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060000"/>
            <a:ext cx="2088000" cy="21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3240000"/>
            <a:ext cx="2088000" cy="12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検索広告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SNS広告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その他WEB広告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8000" y="4644000"/>
            <a:ext cx="165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4680000"/>
            <a:ext cx="2088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サイト・LPへ集客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8000" y="2448000"/>
            <a:ext cx="1584000" cy="612000"/>
          </a:xfrm>
          <a:prstGeom prst="rect">
            <a:avLst/>
          </a:prstGeom>
          <a:solidFill>
            <a:srgbClr val="FE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CVを獲得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68000" y="3060000"/>
            <a:ext cx="1584000" cy="21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68000" y="3240000"/>
            <a:ext cx="1584000" cy="1655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購入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 など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3150000"/>
            <a:ext cx="1296000" cy="1368000"/>
          </a:xfrm>
          <a:prstGeom prst="roundRect">
            <a:avLst>
              <a:gd name="adj" fmla="val 2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99" y="2448000"/>
            <a:ext cx="2376000" cy="6120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3999" y="3060000"/>
            <a:ext cx="2376000" cy="21600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50000" y="3265199"/>
            <a:ext cx="251999" cy="251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Rounded Rectangular Callout 22"/>
          <p:cNvSpPr/>
          <p:nvPr/>
        </p:nvSpPr>
        <p:spPr>
          <a:xfrm>
            <a:off x="7110000" y="3221999"/>
            <a:ext cx="1745999" cy="342000"/>
          </a:xfrm>
          <a:prstGeom prst="wedgeRoundRectCallout">
            <a:avLst>
              <a:gd name="adj1" fmla="val -56000"/>
              <a:gd name="adj2" fmla="val -15000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24" name="Oval 23"/>
          <p:cNvSpPr/>
          <p:nvPr/>
        </p:nvSpPr>
        <p:spPr>
          <a:xfrm>
            <a:off x="6750000" y="3740399"/>
            <a:ext cx="251999" cy="251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Rounded Rectangular Callout 24"/>
          <p:cNvSpPr/>
          <p:nvPr/>
        </p:nvSpPr>
        <p:spPr>
          <a:xfrm>
            <a:off x="7110000" y="3697200"/>
            <a:ext cx="1745999" cy="342000"/>
          </a:xfrm>
          <a:prstGeom prst="wedgeRoundRectCallout">
            <a:avLst>
              <a:gd name="adj1" fmla="val -56000"/>
              <a:gd name="adj2" fmla="val -15000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6" name="Oval 25"/>
          <p:cNvSpPr/>
          <p:nvPr/>
        </p:nvSpPr>
        <p:spPr>
          <a:xfrm>
            <a:off x="6750000" y="4215600"/>
            <a:ext cx="251999" cy="251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7" name="Rounded Rectangular Callout 26"/>
          <p:cNvSpPr/>
          <p:nvPr/>
        </p:nvSpPr>
        <p:spPr>
          <a:xfrm>
            <a:off x="7110000" y="4172400"/>
            <a:ext cx="1745999" cy="342000"/>
          </a:xfrm>
          <a:prstGeom prst="wedgeRoundRectCallout">
            <a:avLst>
              <a:gd name="adj1" fmla="val -56000"/>
              <a:gd name="adj2" fmla="val -15000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キャンペーン案内</a:t>
            </a:r>
          </a:p>
        </p:txBody>
      </p:sp>
      <p:sp>
        <p:nvSpPr>
          <p:cNvPr id="28" name="Oval 27"/>
          <p:cNvSpPr/>
          <p:nvPr/>
        </p:nvSpPr>
        <p:spPr>
          <a:xfrm>
            <a:off x="6750000" y="4690800"/>
            <a:ext cx="251999" cy="251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9" name="Rounded Rectangular Callout 28"/>
          <p:cNvSpPr/>
          <p:nvPr/>
        </p:nvSpPr>
        <p:spPr>
          <a:xfrm>
            <a:off x="7110000" y="4647600"/>
            <a:ext cx="1745999" cy="342000"/>
          </a:xfrm>
          <a:prstGeom prst="wedgeRoundRectCallout">
            <a:avLst>
              <a:gd name="adj1" fmla="val -56000"/>
              <a:gd name="adj2" fmla="val -15000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個別案内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8000" y="2448000"/>
            <a:ext cx="212400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売上・LTV最大化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8000" y="3060000"/>
            <a:ext cx="2124000" cy="216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8000" y="3221999"/>
            <a:ext cx="2124000" cy="180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面談・商談</a:t>
            </a:r>
          </a:p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</a:t>
            </a:r>
          </a:p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再購入</a:t>
            </a:r>
          </a:p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継続利用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04000" y="3078000"/>
            <a:ext cx="1692000" cy="0"/>
          </a:xfrm>
          <a:prstGeom prst="line">
            <a:avLst/>
          </a:prstGeom>
          <a:ln w="9525">
            <a:solidFill>
              <a:srgbClr val="5A63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23199" y="3834000"/>
            <a:ext cx="2016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795200" y="3834000"/>
            <a:ext cx="2016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79200" y="3834000"/>
            <a:ext cx="201599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43200" y="3834000"/>
            <a:ext cx="2016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2000" y="5580000"/>
            <a:ext cx="1062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CVをゴールにせず、広告で獲得したユーザーをLINEで育成し、その後の売上までつなげる。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CV後の接点をLINEに残す｜サンクスLINE誘導とは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CVの完了画面から、LINEの友だち追加へ案内する機能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6000" y="3849296"/>
            <a:ext cx="2988000" cy="79740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lang="en-US" altLang="ja-JP" sz="18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8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：</a:t>
            </a:r>
            <a:r>
              <a:rPr sz="4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100</a:t>
            </a:r>
            <a:r>
              <a:rPr lang="ja-JP" altLang="en-US" sz="4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</a:t>
            </a:r>
            <a:endParaRPr sz="20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08000" y="3816000"/>
            <a:ext cx="2988000" cy="86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60</a:t>
            </a:r>
            <a:r>
              <a:rPr sz="18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000" y="4644000"/>
            <a:ext cx="2988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サンクスLINE誘導の対象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999" y="3816000"/>
            <a:ext cx="2988000" cy="86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3999" y="4644000"/>
            <a:ext cx="2988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23999" y="4248000"/>
            <a:ext cx="7920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20000" y="4428000"/>
            <a:ext cx="18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× 誘導可能率 60%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60000" y="4248000"/>
            <a:ext cx="792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56000" y="4428000"/>
            <a:ext cx="18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× 友だち追加率 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6192000"/>
            <a:ext cx="10608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誘導可能率・友だち追加率は想定値</a:t>
            </a:r>
            <a:endParaRPr sz="900" b="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Pentagon 30"/>
          <p:cNvSpPr/>
          <p:nvPr/>
        </p:nvSpPr>
        <p:spPr>
          <a:xfrm>
            <a:off x="792000" y="1764000"/>
            <a:ext cx="2222400" cy="936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0000" y="1764000"/>
            <a:ext cx="18984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33" name="Chevron 32"/>
          <p:cNvSpPr/>
          <p:nvPr/>
        </p:nvSpPr>
        <p:spPr>
          <a:xfrm>
            <a:off x="28884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40400" y="1764000"/>
            <a:ext cx="17544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35" name="Chevron 34"/>
          <p:cNvSpPr/>
          <p:nvPr/>
        </p:nvSpPr>
        <p:spPr>
          <a:xfrm>
            <a:off x="49848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36800" y="1764000"/>
            <a:ext cx="17544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37" name="Chevron 36"/>
          <p:cNvSpPr/>
          <p:nvPr/>
        </p:nvSpPr>
        <p:spPr>
          <a:xfrm>
            <a:off x="70812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33200" y="1764000"/>
            <a:ext cx="17544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39" name="Chevron 38"/>
          <p:cNvSpPr/>
          <p:nvPr/>
        </p:nvSpPr>
        <p:spPr>
          <a:xfrm>
            <a:off x="91776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29600" y="1764000"/>
            <a:ext cx="17544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8400" y="2736000"/>
            <a:ext cx="29424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予約・申込・問い合わせ・会員登録など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CVはゴールではなく、売上化のスタート地点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CVで接点が終わると、面談・商談・購入・継続利用につながらない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944000"/>
            <a:ext cx="1655999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7" name="Pentagon 6"/>
          <p:cNvSpPr/>
          <p:nvPr/>
        </p:nvSpPr>
        <p:spPr>
          <a:xfrm>
            <a:off x="2556000" y="1944000"/>
            <a:ext cx="2305500" cy="1080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64000" y="1944000"/>
            <a:ext cx="1981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</p:txBody>
      </p:sp>
      <p:sp>
        <p:nvSpPr>
          <p:cNvPr id="9" name="Chevron 8"/>
          <p:cNvSpPr/>
          <p:nvPr/>
        </p:nvSpPr>
        <p:spPr>
          <a:xfrm>
            <a:off x="4735500" y="19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7500" y="1944000"/>
            <a:ext cx="1837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1" name="Chevron 10"/>
          <p:cNvSpPr/>
          <p:nvPr/>
        </p:nvSpPr>
        <p:spPr>
          <a:xfrm>
            <a:off x="6915000" y="19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67000" y="1944000"/>
            <a:ext cx="1837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接点終了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2000" y="3294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2000" y="3744000"/>
            <a:ext cx="1655999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あり</a:t>
            </a:r>
          </a:p>
        </p:txBody>
      </p:sp>
      <p:sp>
        <p:nvSpPr>
          <p:cNvPr id="15" name="Pentagon 14"/>
          <p:cNvSpPr/>
          <p:nvPr/>
        </p:nvSpPr>
        <p:spPr>
          <a:xfrm>
            <a:off x="2556000" y="3744000"/>
            <a:ext cx="2305500" cy="1080000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64000" y="3744000"/>
            <a:ext cx="1981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</p:txBody>
      </p:sp>
      <p:sp>
        <p:nvSpPr>
          <p:cNvPr id="17" name="Chevron 16"/>
          <p:cNvSpPr/>
          <p:nvPr/>
        </p:nvSpPr>
        <p:spPr>
          <a:xfrm>
            <a:off x="47355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7500" y="3744000"/>
            <a:ext cx="1837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Chevron 18"/>
          <p:cNvSpPr/>
          <p:nvPr/>
        </p:nvSpPr>
        <p:spPr>
          <a:xfrm>
            <a:off x="69150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67000" y="3744000"/>
            <a:ext cx="1837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1" name="Chevron 20"/>
          <p:cNvSpPr/>
          <p:nvPr/>
        </p:nvSpPr>
        <p:spPr>
          <a:xfrm>
            <a:off x="90945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46500" y="3744000"/>
            <a:ext cx="1837500" cy="10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LINE上で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継続接点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" y="3978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68" y="1692000"/>
            <a:ext cx="1771831" cy="2214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9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4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21999" y="2700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68" y="1692000"/>
            <a:ext cx="1771831" cy="2214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31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9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6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2000" y="2700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1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68" y="4050000"/>
            <a:ext cx="1771831" cy="2214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79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ホビー（toC）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7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44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21999" y="5058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68" y="4050000"/>
            <a:ext cx="1771831" cy="221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31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9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96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42000" y="5058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1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LINEヤフー活用事例｜旅行・クリニック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予約後・友だち追加後のLINE配信が、友だち化・予約の増加につながった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175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2000" y="1620000"/>
            <a:ext cx="508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旅行（観光バス）</a:t>
            </a:r>
          </a:p>
        </p:txBody>
      </p:sp>
      <p:sp>
        <p:nvSpPr>
          <p:cNvPr id="8" name="Pentagon 7"/>
          <p:cNvSpPr/>
          <p:nvPr/>
        </p:nvSpPr>
        <p:spPr>
          <a:xfrm>
            <a:off x="792000" y="2070000"/>
            <a:ext cx="1780000" cy="827999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000" y="2070000"/>
            <a:ext cx="1456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高速バス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の予約</a:t>
            </a:r>
          </a:p>
        </p:txBody>
      </p:sp>
      <p:sp>
        <p:nvSpPr>
          <p:cNvPr id="10" name="Chevron 9"/>
          <p:cNvSpPr/>
          <p:nvPr/>
        </p:nvSpPr>
        <p:spPr>
          <a:xfrm>
            <a:off x="2446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8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乗車前日の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案内をLINEで</a:t>
            </a:r>
          </a:p>
        </p:txBody>
      </p:sp>
      <p:sp>
        <p:nvSpPr>
          <p:cNvPr id="12" name="Chevron 11"/>
          <p:cNvSpPr/>
          <p:nvPr/>
        </p:nvSpPr>
        <p:spPr>
          <a:xfrm>
            <a:off x="4100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52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295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予約番号・便名・乗車場所を、乗車前日の夕方に配信（LINE通知メッセージ）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40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案内を受け取った方の友だち追加率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671999"/>
            <a:ext cx="5088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4680000"/>
            <a:ext cx="5088000" cy="46826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導入から約2か月で、4,398人が友だち追加（2021年10月〜）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予約忘れ・乗車前の問い合わせも減少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2000" y="5436000"/>
            <a:ext cx="508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導入事例（琴平バス／2022年6月公開・取材先調べ）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2000" y="1620000"/>
            <a:ext cx="5088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クリニック（皮膚科）</a:t>
            </a:r>
          </a:p>
        </p:txBody>
      </p:sp>
      <p:sp>
        <p:nvSpPr>
          <p:cNvPr id="20" name="Pentagon 19"/>
          <p:cNvSpPr/>
          <p:nvPr/>
        </p:nvSpPr>
        <p:spPr>
          <a:xfrm>
            <a:off x="6312000" y="2070000"/>
            <a:ext cx="1780000" cy="827999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0000" y="2070000"/>
            <a:ext cx="1456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22" name="Chevron 21"/>
          <p:cNvSpPr/>
          <p:nvPr/>
        </p:nvSpPr>
        <p:spPr>
          <a:xfrm>
            <a:off x="7966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8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全5通</a:t>
            </a:r>
          </a:p>
        </p:txBody>
      </p:sp>
      <p:sp>
        <p:nvSpPr>
          <p:cNvPr id="24" name="Chevron 23"/>
          <p:cNvSpPr/>
          <p:nvPr/>
        </p:nvSpPr>
        <p:spPr>
          <a:xfrm>
            <a:off x="9620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2000" y="2070000"/>
            <a:ext cx="1312000" cy="827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2000" y="295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ニキビ・治療法の解説 → 患者の声 → 無料カウンセリングのクーポン、の順に自動配信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2000" y="3401999"/>
            <a:ext cx="508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LINE経由の予約数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2000" y="3671999"/>
            <a:ext cx="5088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約20%増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2000" y="4680000"/>
            <a:ext cx="5088000" cy="46826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ステップ配信の実施前との比較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友だち追加広告による友だち数の増加も含む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12000" y="5436000"/>
            <a:ext cx="508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導入事例（アクネクリニック／2022年4月公開・取材先調べ）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軽いCVで接点をつくり、LINEで本CVまで引き上げる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検討初期のユーザーとも早い段階で接点を持ち、LINEで継続的に育成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2268000"/>
            <a:ext cx="1383567" cy="936000"/>
          </a:xfrm>
          <a:prstGeom prst="homePlate">
            <a:avLst>
              <a:gd name="adj" fmla="val 22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268000"/>
            <a:ext cx="1077567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広告・LP</a:t>
            </a:r>
          </a:p>
        </p:txBody>
      </p:sp>
      <p:sp>
        <p:nvSpPr>
          <p:cNvPr id="8" name="Chevron 7"/>
          <p:cNvSpPr/>
          <p:nvPr/>
        </p:nvSpPr>
        <p:spPr>
          <a:xfrm>
            <a:off x="2049567" y="2124000"/>
            <a:ext cx="2152216" cy="1224000"/>
          </a:xfrm>
          <a:prstGeom prst="chevron">
            <a:avLst>
              <a:gd name="adj" fmla="val 22000"/>
            </a:avLst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3567" y="2124000"/>
            <a:ext cx="1720216" cy="12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簡易診断などの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軽いCV</a:t>
            </a:r>
          </a:p>
        </p:txBody>
      </p:sp>
      <p:sp>
        <p:nvSpPr>
          <p:cNvPr id="10" name="Chevron 9"/>
          <p:cNvSpPr/>
          <p:nvPr/>
        </p:nvSpPr>
        <p:spPr>
          <a:xfrm>
            <a:off x="4075783" y="2268000"/>
            <a:ext cx="1614162" cy="936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9783" y="2268000"/>
            <a:ext cx="1182162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2" name="Chevron 11"/>
          <p:cNvSpPr/>
          <p:nvPr/>
        </p:nvSpPr>
        <p:spPr>
          <a:xfrm>
            <a:off x="5563945" y="2268000"/>
            <a:ext cx="1614162" cy="936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945" y="2268000"/>
            <a:ext cx="1182162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4" name="Chevron 13"/>
          <p:cNvSpPr/>
          <p:nvPr/>
        </p:nvSpPr>
        <p:spPr>
          <a:xfrm>
            <a:off x="7052108" y="2268000"/>
            <a:ext cx="1767891" cy="936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6108" y="2268000"/>
            <a:ext cx="1335891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ナーチャリング</a:t>
            </a:r>
          </a:p>
        </p:txBody>
      </p:sp>
      <p:sp>
        <p:nvSpPr>
          <p:cNvPr id="16" name="Chevron 15"/>
          <p:cNvSpPr/>
          <p:nvPr/>
        </p:nvSpPr>
        <p:spPr>
          <a:xfrm>
            <a:off x="8694000" y="2268000"/>
            <a:ext cx="1383567" cy="936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8000" y="2268000"/>
            <a:ext cx="951567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本CV</a:t>
            </a:r>
          </a:p>
        </p:txBody>
      </p:sp>
      <p:sp>
        <p:nvSpPr>
          <p:cNvPr id="18" name="Chevron 17"/>
          <p:cNvSpPr/>
          <p:nvPr/>
        </p:nvSpPr>
        <p:spPr>
          <a:xfrm>
            <a:off x="9951567" y="2268000"/>
            <a:ext cx="1460432" cy="936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5567" y="2268000"/>
            <a:ext cx="1028432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売上・LTV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1854000"/>
            <a:ext cx="3355783" cy="50400"/>
          </a:xfrm>
          <a:prstGeom prst="rect">
            <a:avLst/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1602000"/>
            <a:ext cx="216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AD領域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5783" y="1854000"/>
            <a:ext cx="7246216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5783" y="1602000"/>
            <a:ext cx="216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56783" y="1620000"/>
            <a:ext cx="0" cy="2700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79675" y="3510000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簡易診断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79675" y="3816000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チェックコンテンツ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79675" y="4121999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資料DL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90054" y="3510000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90054" y="3816000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90054" y="4121999"/>
            <a:ext cx="158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個別案内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000" y="3510000"/>
            <a:ext cx="1491567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問い合わせ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面談・相談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購入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2000" y="4518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36000" y="468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4000" y="4662000"/>
            <a:ext cx="2892000" cy="34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CVハードルを下げる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4000" y="5004000"/>
            <a:ext cx="289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いきなり問い合わせ・購入を求めず、まず軽い接点をつくる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32000" y="4662000"/>
            <a:ext cx="0" cy="738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476000" y="468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4000" y="4662000"/>
            <a:ext cx="2892000" cy="34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早い段階でLINE接点を持つ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4000" y="5004000"/>
            <a:ext cx="289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検討初期のユーザーもLINE上で接点を確保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72000" y="4662000"/>
            <a:ext cx="0" cy="738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016000" y="468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000" y="4662000"/>
            <a:ext cx="2892000" cy="34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本CVまで育成する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000" y="5004000"/>
            <a:ext cx="289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継続的な情報提供で、問い合わせ・購入などへ引き上げる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000" y="5562000"/>
            <a:ext cx="10620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今すぐ客だけでなく、検討初期のユーザーとも接点を持ち、本CVまで育成する。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143260</TotalTime>
  <Words>272</Words>
  <Application>Microsoft Office PowerPoint</Application>
  <PresentationFormat>ワイド画面</PresentationFormat>
  <Paragraphs>91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1967</cp:revision>
  <cp:lastPrinted>2022-11-01T11:38:14Z</cp:lastPrinted>
  <dcterms:created xsi:type="dcterms:W3CDTF">2015-09-04T09:21:15Z</dcterms:created>
  <dcterms:modified xsi:type="dcterms:W3CDTF">2026-10-05T23:34:21Z</dcterms:modified>
</cp:coreProperties>
</file>