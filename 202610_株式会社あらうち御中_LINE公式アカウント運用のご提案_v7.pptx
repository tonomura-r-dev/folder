
<file path=[Content_Types].xml><?xml version="1.0" encoding="utf-8"?>
<Types xmlns="http://schemas.openxmlformats.org/package/2006/content-types">
  <Default Extension="emf" ContentType="image/x-emf"/>
  <Default Extension="svg" ContentType="image/svg+xml"/>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4.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_rels/presentation.xml.rels" ContentType="application/vnd.openxmlformats-package.relationships+xml"/>
  <Override PartName="/ppt/media/image56.png" ContentType="image/png"/>
  <Override PartName="/ppt/media/image52.png" ContentType="image/png"/>
  <Override PartName="/ppt/media/image50.png" ContentType="image/png"/>
  <Override PartName="/ppt/media/image49.png" ContentType="image/png"/>
  <Override PartName="/ppt/media/image46.png" ContentType="image/png"/>
  <Override PartName="/ppt/media/image45.png" ContentType="image/png"/>
  <Override PartName="/ppt/media/image44.png" ContentType="image/png"/>
  <Override PartName="/ppt/media/image76.jpeg" ContentType="image/jpeg"/>
  <Override PartName="/ppt/media/image43.png" ContentType="image/png"/>
  <Override PartName="/ppt/media/image42.png" ContentType="image/png"/>
  <Override PartName="/ppt/media/image41.png" ContentType="image/png"/>
  <Override PartName="/ppt/media/image40.png" ContentType="image/png"/>
  <Override PartName="/ppt/media/image39.png" ContentType="image/png"/>
  <Override PartName="/ppt/media/image54.png" ContentType="image/png"/>
  <Override PartName="/ppt/media/image77.jpeg" ContentType="image/jpeg"/>
  <Override PartName="/ppt/media/image19.png" ContentType="image/png"/>
  <Override PartName="/ppt/media/image61.png" ContentType="image/png"/>
  <Override PartName="/ppt/media/image21.png" ContentType="image/png"/>
  <Override PartName="/ppt/media/image58.png" ContentType="image/png"/>
  <Override PartName="/ppt/media/image74.jpeg" ContentType="image/jpeg"/>
  <Override PartName="/ppt/media/image22.png" ContentType="image/png"/>
  <Override PartName="/ppt/media/image59.png" ContentType="image/png"/>
  <Override PartName="/ppt/media/image20.png" ContentType="image/png"/>
  <Override PartName="/ppt/media/image24.jpeg" ContentType="image/jpeg"/>
  <Override PartName="/ppt/media/image25.jpeg" ContentType="image/jpeg"/>
  <Override PartName="/ppt/media/image30.png" ContentType="image/png"/>
  <Override PartName="/ppt/media/image67.png" ContentType="image/png"/>
  <Override PartName="/ppt/media/image60.png" ContentType="image/png"/>
  <Override PartName="/ppt/media/image23.png" ContentType="image/png"/>
  <Override PartName="/ppt/media/image65.png" ContentType="image/png"/>
  <Override PartName="/ppt/media/image33.png" ContentType="image/png"/>
  <Override PartName="/ppt/media/image62.png" ContentType="image/png"/>
  <Override PartName="/ppt/media/image6.jpeg" ContentType="image/jpeg"/>
  <Override PartName="/ppt/media/image71.png" ContentType="image/png"/>
  <Override PartName="/ppt/media/image29.png" ContentType="image/png"/>
  <Override PartName="/ppt/media/image69.png" ContentType="image/png"/>
  <Override PartName="/ppt/media/image70.png" ContentType="image/png"/>
  <Override PartName="/ppt/media/image68.png" ContentType="image/png"/>
  <Override PartName="/ppt/media/image28.jpeg" ContentType="image/jpeg"/>
  <Override PartName="/ppt/media/image31.png" ContentType="image/png"/>
  <Override PartName="/ppt/media/image66.png" ContentType="image/png"/>
  <Override PartName="/ppt/media/image72.png" ContentType="image/png"/>
  <Override PartName="/ppt/media/image27.png" ContentType="image/png"/>
  <Override PartName="/ppt/media/image78.jpeg" ContentType="image/jpeg"/>
  <Override PartName="/ppt/media/image64.png" ContentType="image/png"/>
  <Override PartName="/ppt/media/image63.png" ContentType="image/png"/>
  <Override PartName="/ppt/media/image17.png" ContentType="image/png"/>
  <Override PartName="/ppt/media/image15.png" ContentType="image/png"/>
  <Override PartName="/ppt/media/image3.png" ContentType="image/png"/>
  <Override PartName="/ppt/media/image32.jpeg" ContentType="image/jpeg"/>
  <Override PartName="/ppt/media/image35.png" ContentType="image/png"/>
  <Override PartName="/ppt/media/image14.png" ContentType="image/png"/>
  <Override PartName="/ppt/media/image5.png" ContentType="image/png"/>
  <Override PartName="/ppt/media/image37.png" ContentType="image/png"/>
  <Override PartName="/ppt/media/image26.png" ContentType="image/png"/>
  <Override PartName="/ppt/media/image8.jpeg" ContentType="image/jpeg"/>
  <Override PartName="/ppt/media/image38.png" ContentType="image/png"/>
  <Override PartName="/ppt/media/image36.png" ContentType="image/png"/>
  <Override PartName="/ppt/media/image7.jpeg" ContentType="image/jpeg"/>
  <Override PartName="/ppt/media/image16.png" ContentType="image/png"/>
  <Override PartName="/ppt/media/image75.jpeg" ContentType="image/jpeg"/>
  <Override PartName="/ppt/media/image34.png" ContentType="image/png"/>
  <Override PartName="/ppt/media/image18.png" ContentType="image/png"/>
  <Override PartName="/ppt/media/image12.jpeg" ContentType="image/jpeg"/>
  <Override PartName="/ppt/media/image9.png" ContentType="image/png"/>
  <Override PartName="/ppt/media/image4.png" ContentType="image/png"/>
  <Override PartName="/ppt/media/image13.png" ContentType="image/png"/>
  <Override PartName="/ppt/media/image1.png" ContentType="image/png"/>
  <Override PartName="/ppt/media/image10.png" ContentType="image/png"/>
  <Override PartName="/ppt/media/image47.png" ContentType="image/png"/>
  <Override PartName="/ppt/media/image2.png" ContentType="image/png"/>
  <Override PartName="/ppt/media/image11.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46.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7.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_rels/notesSlide9.xml.rels" ContentType="application/vnd.openxmlformats-package.relationships+xml"/>
  <Override PartName="/ppt/notesSlides/_rels/notesSlide37.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46.xml.rels" ContentType="application/vnd.openxmlformats-package.relationships+xml"/>
  <Override PartName="/ppt/notesSlides/_rels/notesSlide35.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2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3.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34.xml.rels" ContentType="application/vnd.openxmlformats-package.relationships+xml"/>
  <Override PartName="/ppt/notesSlides/_rels/notesSlide3.xml.rels" ContentType="application/vnd.openxmlformats-package.relationships+xml"/>
  <Override PartName="/ppt/notesSlides/_rels/notesSlide29.xml.rels" ContentType="application/vnd.openxmlformats-package.relationships+xml"/>
  <Override PartName="/ppt/notesSlides/_rels/notesSlide3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4.xml" ContentType="application/vnd.openxmlformats-officedocument.presentationml.notesSlide+xml"/>
  <Override PartName="/ppt/notesSlides/notesSlide8.xml" ContentType="application/vnd.openxmlformats-officedocument.presentationml.notesSlide+xml"/>
  <Override PartName="/ppt/notesSlides/notesSlide33.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35.xml" ContentType="application/vnd.openxmlformats-officedocument.presentationml.notesSlide+xml"/>
  <Override PartName="/ppt/notesSlides/notesSlide46.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37.xml" ContentType="application/vnd.openxmlformats-officedocument.presentationml.notesSlide+xml"/>
  <Override PartName="/ppt/slides/slide47.xml" ContentType="application/vnd.openxmlformats-officedocument.presentationml.slide+xml"/>
  <Override PartName="/ppt/slides/slide4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78" r:id="rId26"/>
    <p:sldId id="279" r:id="rId27"/>
    <p:sldId id="302" r:id="rId51"/>
    <p:sldId id="303" r:id="rId52"/>
    <p:sldId id="269" r:id="rId17"/>
    <p:sldId id="270" r:id="rId18"/>
    <p:sldId id="271" r:id="rId19"/>
    <p:sldId id="272" r:id="rId20"/>
    <p:sldId id="273" r:id="rId21"/>
    <p:sldId id="274" r:id="rId22"/>
    <p:sldId id="275" r:id="rId23"/>
    <p:sldId id="276" r:id="rId24"/>
    <p:sldId id="277" r:id="rId25"/>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906000" cy="6858000"/>
  <p:notesSz cx="6807200" cy="993933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presProps" Target="presProps.xml"/>
<Relationship Id="rId51" Type="http://schemas.openxmlformats.org/officeDocument/2006/relationships/slide" Target="slides/slide47.xml"/><Relationship Id="rId52" Type="http://schemas.openxmlformats.org/officeDocument/2006/relationships/slide" Target="slides/slide48.xml"/></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2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23"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9023FD08-B3C3-42F8-A153-9D5527DEAE1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B938330-FE6F-42FA-888B-54BA75BDCD0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981000" y="1243080"/>
            <a:ext cx="4844520" cy="3354120"/>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C2CECCF-8D73-40E8-8240-AEEE2AEC60D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981000" y="1243080"/>
            <a:ext cx="4844520" cy="3354120"/>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5B8CF54-B312-4BD2-B800-F249C15D931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sldImg"/>
          </p:nvPr>
        </p:nvSpPr>
        <p:spPr>
          <a:xfrm>
            <a:off x="981000" y="1243080"/>
            <a:ext cx="4844520" cy="3354120"/>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232F5AC-944B-4DEB-AD69-07423CA7CF4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4D115F2-B34B-42E8-9697-2D9FA63D644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D9F940E-30FD-4A61-A80D-C863CD0E5A3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PlaceHolder 1"/>
          <p:cNvSpPr>
            <a:spLocks noGrp="1"/>
          </p:cNvSpPr>
          <p:nvPr>
            <p:ph type="sldImg"/>
          </p:nvPr>
        </p:nvSpPr>
        <p:spPr>
          <a:xfrm>
            <a:off x="981000" y="1243080"/>
            <a:ext cx="4844520" cy="3354120"/>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3689BB4-1D02-4AD1-84CD-933C367E541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981000" y="1243080"/>
            <a:ext cx="4844520" cy="3354120"/>
          </a:xfrm>
          <a:prstGeom prst="rect">
            <a:avLst/>
          </a:prstGeom>
          <a:ln w="0">
            <a:noFill/>
          </a:ln>
        </p:spPr>
      </p:sp>
      <p:sp>
        <p:nvSpPr>
          <p:cNvPr id="1109"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0" name="PlaceHolder 3"/>
          <p:cNvSpPr>
            <a:spLocks noGrp="1"/>
          </p:cNvSpPr>
          <p:nvPr>
            <p:ph type="sldNum" idx="11"/>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79F29F5-2099-45DD-85A7-18C6DA959F4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7DC23C4-4477-4D06-BA81-990A47EB9AE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62333C0-0849-43BA-AADF-C797DCFA3F6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E0B0EE4-FF2D-44E5-B451-33122B23954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6C55CA5-E2E8-42D3-912A-CF5480C31C2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D53DC02-905B-4247-A366-DADF4CE12DC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PlaceHolder 1"/>
          <p:cNvSpPr>
            <a:spLocks noGrp="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DDDEF33-39B9-48FA-8D37-8603A0BDD78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9" name="PlaceHolder 1"/>
          <p:cNvSpPr>
            <a:spLocks noGrp="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764E7FB-01D1-4560-BBC6-6095E96E79F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2" name="PlaceHolder 1"/>
          <p:cNvSpPr>
            <a:spLocks noGrp="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5A0801F-0C43-46B0-A05F-EB5ADB79D6B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PlaceHolder 1"/>
          <p:cNvSpPr>
            <a:spLocks noGrp="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6DC7076-5EC0-4FC8-B9B3-24E0D19B2E3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8" name="PlaceHolder 1"/>
          <p:cNvSpPr>
            <a:spLocks noGrp="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6A252D6-971A-4F45-B2E5-AC163838B5A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62F9013-9F67-4705-AD62-8B4D61EBEBE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4" name="PlaceHolder 1"/>
          <p:cNvSpPr>
            <a:spLocks noGrp="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8FB36D4-2F7A-48E6-BFB4-9BF92A34CF2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PlaceHolder 1"/>
          <p:cNvSpPr>
            <a:spLocks noGrp="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rIns="91440" tIns="45720" bIns="45720" anchor="b">
            <a:noAutofit/>
          </a:bodyPr>
          <a:p>
            <a:pPr indent="0">
              <a:buNone/>
            </a:pPr>
            <a:endParaRPr b="0" lang="en-US" sz="1200" strike="noStrike" u="non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rIns="91440" tIns="45720" bIns="45720" anchor="b">
            <a:noAutofit/>
          </a:bodyPr>
          <a:lstStyle>
            <a:lvl1pPr indent="0" algn="r" defTabSz="956880">
              <a:lnSpc>
                <a:spcPct val="100000"/>
              </a:lnSpc>
              <a:buNone/>
              <a:defRPr b="0" lang="en-US" sz="1200" strike="noStrike" u="non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b="0" lang="en-US" sz="1200" strike="noStrike" u="none">
                <a:solidFill>
                  <a:srgbClr val="000000"/>
                </a:solidFill>
                <a:effectLst/>
                <a:uFillTx/>
                <a:latin typeface="Calibri"/>
                <a:ea typeface="ＭＳ Ｐゴシック"/>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タイトルとコンテンツ">
    <p:bg>
      <p:bgPr>
        <a:solidFill>
          <a:srgbClr val="ffffff"/>
        </a:solidFill>
      </p:bgPr>
    </p:bg>
    <p:spTree>
      <p:nvGrpSpPr>
        <p:cNvPr id="1" name=""/>
        <p:cNvGrpSpPr/>
        <p:nvPr/>
      </p:nvGrpSpPr>
      <p:grpSpPr>
        <a:xfrm>
          <a:off x="0" y="0"/>
          <a:ext cx="0" cy="0"/>
          <a:chOff x="0" y="0"/>
          <a:chExt cx="0" cy="0"/>
        </a:xfrm>
      </p:grpSpPr>
      <p:pic>
        <p:nvPicPr>
          <p:cNvPr id="0" name="図 1" descr=""/>
          <p:cNvPicPr/>
          <p:nvPr/>
        </p:nvPicPr>
        <p:blipFill>
          <a:blip r:embed="rId2"/>
          <a:stretch/>
        </p:blipFill>
        <p:spPr>
          <a:xfrm>
            <a:off x="8151480" y="72360"/>
            <a:ext cx="1598400" cy="423720"/>
          </a:xfrm>
          <a:prstGeom prst="rect">
            <a:avLst/>
          </a:prstGeom>
          <a:noFill/>
          <a:ln w="0">
            <a:noFill/>
          </a:ln>
        </p:spPr>
      </p:pic>
      <p:pic>
        <p:nvPicPr>
          <p:cNvPr id="1" name="図 4" descr=""/>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7221DD93-BA6E-44AE-9625-337799002E27}"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タイトルとコンテンツ">
    <p:bg>
      <p:bgPr>
        <a:solidFill>
          <a:srgbClr val="ffffff"/>
        </a:solidFill>
      </p:bgPr>
    </p:bg>
    <p:spTree>
      <p:nvGrpSpPr>
        <p:cNvPr id="1" name=""/>
        <p:cNvGrpSpPr/>
        <p:nvPr/>
      </p:nvGrpSpPr>
      <p:grpSpPr>
        <a:xfrm>
          <a:off x="0" y="0"/>
          <a:ext cx="0" cy="0"/>
          <a:chOff x="0" y="0"/>
          <a:chExt cx="0" cy="0"/>
        </a:xfrm>
      </p:grpSpPr>
      <p:pic>
        <p:nvPicPr>
          <p:cNvPr id="6" name="図 1" descr=""/>
          <p:cNvPicPr/>
          <p:nvPr/>
        </p:nvPicPr>
        <p:blipFill>
          <a:blip r:embed="rId2"/>
          <a:stretch/>
        </p:blipFill>
        <p:spPr>
          <a:xfrm>
            <a:off x="8151480" y="72360"/>
            <a:ext cx="1598400" cy="423720"/>
          </a:xfrm>
          <a:prstGeom prst="rect">
            <a:avLst/>
          </a:prstGeom>
          <a:noFill/>
          <a:ln w="0">
            <a:noFill/>
          </a:ln>
        </p:spPr>
      </p:pic>
      <p:pic>
        <p:nvPicPr>
          <p:cNvPr id="7" name="図 4" descr=""/>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B234BB70-5183-4ABD-92F4-80874DE4EEF5}"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タイトル スライド">
    <p:bg>
      <p:bgPr>
        <a:solidFill>
          <a:srgbClr val="ffffff"/>
        </a:solidFill>
      </p:bgPr>
    </p:bg>
    <p:spTree>
      <p:nvGrpSpPr>
        <p:cNvPr id="1" name=""/>
        <p:cNvGrpSpPr/>
        <p:nvPr/>
      </p:nvGrpSpPr>
      <p:grpSpPr>
        <a:xfrm>
          <a:off x="0" y="0"/>
          <a:ext cx="0" cy="0"/>
          <a:chOff x="0" y="0"/>
          <a:chExt cx="0" cy="0"/>
        </a:xfrm>
      </p:grpSpPr>
      <p:pic>
        <p:nvPicPr>
          <p:cNvPr id="15" name="図 1" descr=""/>
          <p:cNvPicPr/>
          <p:nvPr/>
        </p:nvPicPr>
        <p:blipFill>
          <a:blip r:embed="rId2"/>
          <a:stretch/>
        </p:blipFill>
        <p:spPr>
          <a:xfrm>
            <a:off x="8151480" y="72360"/>
            <a:ext cx="1598400" cy="423720"/>
          </a:xfrm>
          <a:prstGeom prst="rect">
            <a:avLst/>
          </a:prstGeom>
          <a:noFill/>
          <a:ln w="0">
            <a:noFill/>
          </a:ln>
        </p:spPr>
      </p:pic>
      <p:pic>
        <p:nvPicPr>
          <p:cNvPr id="16" name="図 4" descr=""/>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077BD008-84D6-4C04-8004-9A059DF72521}"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slideLayout" Target="../slideLayouts/slideLayout2.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6.jpe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slideLayout" Target="../slideLayouts/slideLayout2.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hyperlink" Target="https://www.athome.co.jp/corporate/news/data/questionnaire/yondai-news-202512/" TargetMode="External"/><Relationship Id="rId2" Type="http://schemas.openxmlformats.org/officeDocument/2006/relationships/hyperlink" Target="https://www.athome.co.jp/corporate/news/data/questionnaire/online-chintai-202510/" TargetMode="External"/><Relationship Id="rId3" Type="http://schemas.openxmlformats.org/officeDocument/2006/relationships/hyperlink" Target="https://100en.net/" TargetMode="External"/><Relationship Id="rId4"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hyperlink" Target="https://www.athome.co.jp/corporate/news/data/questionnaire/online-chintai-202510/" TargetMode="External"/><Relationship Id="rId2" Type="http://schemas.openxmlformats.org/officeDocument/2006/relationships/hyperlink" Target="https://tadasumu.com/" TargetMode="External"/><Relationship Id="rId3" Type="http://schemas.openxmlformats.org/officeDocument/2006/relationships/hyperlink" Target="https://tadasumu.com/navi/tadasumu-toha/" TargetMode="External"/><Relationship Id="rId4" Type="http://schemas.openxmlformats.org/officeDocument/2006/relationships/hyperlink" Target="https://100en.net/" TargetMode="External"/><Relationship Id="rId5"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jpeg"/><Relationship Id="rId5"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7.png"/><Relationship Id="rId6" Type="http://schemas.openxmlformats.org/officeDocument/2006/relationships/image" Target="../media/image27.png"/><Relationship Id="rId7" Type="http://schemas.openxmlformats.org/officeDocument/2006/relationships/image" Target="../media/image28.jpeg"/><Relationship Id="rId8" Type="http://schemas.openxmlformats.org/officeDocument/2006/relationships/image" Target="../media/image29.png"/><Relationship Id="rId9" Type="http://schemas.openxmlformats.org/officeDocument/2006/relationships/image" Target="../media/image29.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28.jpeg"/><Relationship Id="rId14" Type="http://schemas.openxmlformats.org/officeDocument/2006/relationships/image" Target="../media/image32.jpeg"/><Relationship Id="rId15" Type="http://schemas.openxmlformats.org/officeDocument/2006/relationships/image" Target="../media/image29.png"/><Relationship Id="rId16" Type="http://schemas.openxmlformats.org/officeDocument/2006/relationships/image" Target="../media/image29.png"/><Relationship Id="rId17" Type="http://schemas.openxmlformats.org/officeDocument/2006/relationships/image" Target="../media/image29.png"/><Relationship Id="rId18"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slideLayout" Target="../slideLayouts/slideLayout2.xml"/><Relationship Id="rId10"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svg"/><Relationship Id="rId7" Type="http://schemas.openxmlformats.org/officeDocument/2006/relationships/image" Target="../media/image49.png"/><Relationship Id="rId8" Type="http://schemas.openxmlformats.org/officeDocument/2006/relationships/slideLayout" Target="../slideLayouts/slideLayout2.xml"/><Relationship Id="rId9"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svg"/><Relationship Id="rId3" Type="http://schemas.openxmlformats.org/officeDocument/2006/relationships/image" Target="../media/image52.png"/><Relationship Id="rId4" Type="http://schemas.openxmlformats.org/officeDocument/2006/relationships/image" Target="../media/image53.svg"/><Relationship Id="rId5" Type="http://schemas.openxmlformats.org/officeDocument/2006/relationships/image" Target="../media/image54.png"/><Relationship Id="rId6" Type="http://schemas.openxmlformats.org/officeDocument/2006/relationships/image" Target="../media/image55.svg"/><Relationship Id="rId7" Type="http://schemas.openxmlformats.org/officeDocument/2006/relationships/image" Target="../media/image56.png"/><Relationship Id="rId8" Type="http://schemas.openxmlformats.org/officeDocument/2006/relationships/image" Target="../media/image57.svg"/><Relationship Id="rId9" Type="http://schemas.openxmlformats.org/officeDocument/2006/relationships/slideLayout" Target="../slideLayouts/slideLayout2.xml"/><Relationship Id="rId10"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2.xml"/>
</Relationships>
</file>

<file path=ppt/slides/_rels/slide43.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2.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image" Target="../media/image73.emf"/><Relationship Id="rId2" Type="http://schemas.openxmlformats.org/officeDocument/2006/relationships/image" Target="../media/image74.jpeg"/><Relationship Id="rId3" Type="http://schemas.openxmlformats.org/officeDocument/2006/relationships/image" Target="../media/image75.jpeg"/><Relationship Id="rId4" Type="http://schemas.openxmlformats.org/officeDocument/2006/relationships/image" Target="../media/image76.jpeg"/><Relationship Id="rId5" Type="http://schemas.openxmlformats.org/officeDocument/2006/relationships/image" Target="../media/image77.jpeg"/><Relationship Id="rId6" Type="http://schemas.openxmlformats.org/officeDocument/2006/relationships/image" Target="../media/image78.jpeg"/><Relationship Id="rId7" Type="http://schemas.openxmlformats.org/officeDocument/2006/relationships/slideLayout" Target="../slideLayouts/slideLayout3.xml"/><Relationship Id="rId8" Type="http://schemas.openxmlformats.org/officeDocument/2006/relationships/notesSlide" Target="../notesSlides/notesSlide46.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正方形/長方形 1"/>
          <p:cNvSpPr/>
          <p:nvPr/>
        </p:nvSpPr>
        <p:spPr>
          <a:xfrm>
            <a:off x="1665720" y="2533105"/>
            <a:ext cx="65739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3200" strike="noStrike" u="none">
                <a:solidFill>
                  <a:schemeClr val="dk1">
                    <a:lumMod val="75000"/>
                    <a:lumOff val="25000"/>
                  </a:schemeClr>
                </a:solidFill>
                <a:effectLst/>
                <a:uFillTx/>
                <a:latin typeface="メイリオ"/>
                <a:ea typeface="メイリオ"/>
              </a:rPr>
              <a:t>LINE</a:t>
            </a:r>
            <a:r>
              <a:rPr b="1" lang="ja-JP" sz="3200" strike="noStrike" u="none">
                <a:solidFill>
                  <a:schemeClr val="dk1">
                    <a:lumMod val="75000"/>
                    <a:lumOff val="25000"/>
                  </a:schemeClr>
                </a:solidFill>
                <a:effectLst/>
                <a:uFillTx/>
                <a:latin typeface="メイリオ"/>
                <a:ea typeface="メイリオ"/>
              </a:rPr>
              <a:t>公式アカウント運用のご提案</a:t>
            </a:r>
            <a:endParaRPr b="0" lang="en-US" sz="3200" strike="noStrike" u="none">
              <a:solidFill>
                <a:srgbClr val="000000"/>
              </a:solidFill>
              <a:effectLst/>
              <a:uFillTx/>
              <a:latin typeface="Arial"/>
            </a:endParaRPr>
          </a:p>
        </p:txBody>
      </p:sp>
      <p:sp>
        <p:nvSpPr>
          <p:cNvPr id="27" name="正方形/長方形 5"/>
          <p:cNvSpPr/>
          <p:nvPr/>
        </p:nvSpPr>
        <p:spPr>
          <a:xfrm>
            <a:off x="1336852" y="1517904"/>
            <a:ext cx="7231989" cy="1042415"/>
          </a:xfrm>
          <a:prstGeom prst="rect">
            <a:avLst/>
          </a:prstGeom>
          <a:noFill/>
          <a:ln w="0">
            <a:noFill/>
          </a:ln>
        </p:spPr>
        <p:style>
          <a:lnRef idx="0"/>
          <a:fillRef idx="0"/>
          <a:effectRef idx="0"/>
          <a:fontRef idx="minor"/>
        </p:style>
        <p:txBody>
          <a:bodyPr lIns="91440" rIns="91440" tIns="45720" bIns="45720" anchor="b" wrap="square">
            <a:noAutofit/>
          </a:bodyPr>
          <a:p>
            <a:pPr algn="ctr"/>
            <a:r>
              <a:rPr b="0" lang="ja-JP" sz="1600" strike="noStrike" u="none">
                <a:solidFill>
                  <a:schemeClr val="dk1">
                    <a:lumMod val="50000"/>
                    <a:lumOff val="50000"/>
                  </a:schemeClr>
                </a:solidFill>
                <a:effectLst/>
                <a:uFillTx/>
                <a:latin typeface="Meiryo"/>
                <a:ea typeface="Meiryo"/>
              </a:rPr>
              <a:t>LINEへの流入と友だち追加後の導線を整備し、</a:t>
            </a:r>
            <a:endParaRPr b="0" lang="ja-JP" sz="1600" strike="noStrike" u="none">
              <a:solidFill>
                <a:schemeClr val="dk1">
                  <a:lumMod val="50000"/>
                  <a:lumOff val="50000"/>
                </a:schemeClr>
              </a:solidFill>
              <a:effectLst/>
              <a:uFillTx/>
              <a:latin typeface="Meiryo"/>
              <a:ea typeface="Meiryo"/>
            </a:endParaRPr>
          </a:p>
          <a:p>
            <a:pPr algn="ctr"/>
            <a:r>
              <a:rPr b="0" lang="ja-JP" sz="1600" strike="noStrike" u="none">
                <a:solidFill>
                  <a:schemeClr val="dk1">
                    <a:lumMod val="50000"/>
                    <a:lumOff val="50000"/>
                  </a:schemeClr>
                </a:solidFill>
                <a:effectLst/>
                <a:uFillTx/>
                <a:latin typeface="Meiryo"/>
                <a:ea typeface="Meiryo"/>
              </a:rPr>
              <a:t>物件問い合わせの増加を実現する</a:t>
            </a:r>
            <a:endParaRPr b="0" lang="ja-JP" sz="1600" strike="noStrike" u="none">
              <a:solidFill>
                <a:schemeClr val="dk1">
                  <a:lumMod val="50000"/>
                  <a:lumOff val="50000"/>
                </a:schemeClr>
              </a:solidFill>
              <a:effectLst/>
              <a:uFillTx/>
              <a:latin typeface="Meiryo"/>
              <a:ea typeface="Meiryo"/>
            </a:endParaRPr>
          </a:p>
        </p:txBody>
      </p:sp>
      <p:cxnSp>
        <p:nvCxnSpPr>
          <p:cNvPr id="28" name="直線コネクタ 4"/>
          <p:cNvCxnSpPr/>
          <p:nvPr/>
        </p:nvCxnSpPr>
        <p:spPr>
          <a:xfrm>
            <a:off x="1337040" y="3199966"/>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1"/>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600" strike="noStrike" u="none">
                <a:solidFill>
                  <a:schemeClr val="dk1">
                    <a:lumMod val="50000"/>
                    <a:lumOff val="50000"/>
                  </a:schemeClr>
                </a:solidFill>
                <a:effectLst/>
                <a:uFillTx/>
                <a:latin typeface="Meiryo"/>
                <a:ea typeface="Meiryo"/>
              </a:rPr>
              <a:t>株式会社あらうち 御中</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現状把握</a:t>
            </a:r>
            <a:endParaRPr b="0" lang="en-US" sz="1600" strike="noStrike" u="none">
              <a:solidFill>
                <a:srgbClr val="000000"/>
              </a:solidFill>
              <a:effectLst/>
              <a:uFillTx/>
              <a:latin typeface="Arial"/>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LINE</a:t>
            </a:r>
            <a:r>
              <a:rPr b="1" lang="ja-JP" sz="1400" strike="noStrike" u="none">
                <a:solidFill>
                  <a:schemeClr val="lt1"/>
                </a:solidFill>
                <a:effectLst/>
                <a:uFillTx/>
                <a:latin typeface="メイリオ"/>
                <a:ea typeface="メイリオ"/>
              </a:rPr>
              <a:t>ステータス</a:t>
            </a:r>
            <a:endParaRPr b="0" lang="en-US" sz="1400" strike="noStrike" u="non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lt1"/>
                </a:solidFill>
                <a:effectLst/>
                <a:uFillTx/>
                <a:latin typeface="メイリオ"/>
                <a:ea typeface="メイリオ"/>
              </a:rPr>
              <a:t>WEB</a:t>
            </a:r>
            <a:r>
              <a:rPr b="0" lang="ja-JP" sz="1400" strike="noStrike" u="none">
                <a:solidFill>
                  <a:schemeClr val="lt1"/>
                </a:solidFill>
                <a:effectLst/>
                <a:uFillTx/>
                <a:latin typeface="メイリオ"/>
                <a:ea typeface="メイリオ"/>
              </a:rPr>
              <a:t>サイトステータス</a:t>
            </a:r>
            <a:endParaRPr b="0" lang="en-US" sz="1400" strike="noStrike" u="non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dk1"/>
                </a:solidFill>
                <a:effectLst/>
                <a:uFillTx/>
                <a:latin typeface="メイリオ"/>
                <a:ea typeface="メイリオ"/>
              </a:rPr>
              <a:t>全ページに「</a:t>
            </a:r>
            <a:r>
              <a:rPr b="0" lang="en-US" sz="1200" strike="noStrike" u="none">
                <a:solidFill>
                  <a:schemeClr val="dk1"/>
                </a:solidFill>
                <a:effectLst/>
                <a:uFillTx/>
                <a:latin typeface="メイリオ"/>
                <a:ea typeface="メイリオ"/>
              </a:rPr>
              <a:t>LINE</a:t>
            </a:r>
            <a:r>
              <a:rPr b="0" lang="ja-JP" sz="1200" strike="noStrike" u="none">
                <a:solidFill>
                  <a:schemeClr val="dk1"/>
                </a:solidFill>
                <a:effectLst/>
                <a:uFillTx/>
                <a:latin typeface="メイリオ"/>
                <a:ea typeface="メイリオ"/>
              </a:rPr>
              <a:t>でお問い合わせ」ボタンを設置。</a:t>
            </a:r>
            <a:endParaRPr b="0" lang="en-US" sz="1200" strike="noStrike" u="none">
              <a:solidFill>
                <a:srgbClr val="000000"/>
              </a:solidFill>
              <a:effectLst/>
              <a:uFillTx/>
              <a:latin typeface="Arial"/>
            </a:endParaRPr>
          </a:p>
          <a:p>
            <a:pPr algn="ctr" defTabSz="914400">
              <a:lnSpc>
                <a:spcPct val="100000"/>
              </a:lnSpc>
            </a:pPr>
            <a:r>
              <a:rPr b="1" lang="en-US" sz="1200" strike="noStrike" u="none">
                <a:solidFill>
                  <a:schemeClr val="dk1"/>
                </a:solidFill>
                <a:effectLst/>
                <a:uFillTx/>
                <a:latin typeface="メイリオ"/>
                <a:ea typeface="メイリオ"/>
              </a:rPr>
              <a:t>100</a:t>
            </a:r>
            <a:r>
              <a:rPr b="1" lang="ja-JP" sz="1200" strike="noStrike" u="none">
                <a:solidFill>
                  <a:schemeClr val="dk1"/>
                </a:solidFill>
                <a:effectLst/>
                <a:uFillTx/>
                <a:latin typeface="メイリオ"/>
                <a:ea typeface="メイリオ"/>
              </a:rPr>
              <a:t>円チェッカー・内見依頼</a:t>
            </a:r>
            <a:r>
              <a:rPr b="0" lang="ja-JP" sz="1200" strike="noStrike" u="none">
                <a:solidFill>
                  <a:schemeClr val="dk1"/>
                </a:solidFill>
                <a:effectLst/>
                <a:uFillTx/>
                <a:latin typeface="メイリオ"/>
                <a:ea typeface="メイリオ"/>
              </a:rPr>
              <a:t>など、問い合わせ入口を整備。</a:t>
            </a:r>
            <a:endParaRPr b="0" lang="en-US" sz="1200" strike="noStrike" u="non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リッチメニュー未設置・あいさつにボタンなし。</a:t>
            </a:r>
            <a:br>
              <a:rPr sz="1200"/>
            </a:br>
            <a:r>
              <a:rPr b="1" lang="ja-JP" sz="1200" strike="noStrike" u="none">
                <a:solidFill>
                  <a:schemeClr val="dk1"/>
                </a:solidFill>
                <a:effectLst/>
                <a:uFillTx/>
                <a:latin typeface="メイリオ"/>
                <a:ea typeface="メイリオ"/>
              </a:rPr>
              <a:t>改善の余地あり。</a:t>
            </a:r>
            <a:endParaRPr b="0" lang="en-US" sz="1200" strike="noStrike" u="none">
              <a:solidFill>
                <a:srgbClr val="000000"/>
              </a:solidFill>
              <a:effectLst/>
              <a:uFillTx/>
              <a:latin typeface="Arial"/>
            </a:endParaRPr>
          </a:p>
        </p:txBody>
      </p:sp>
      <p:pic>
        <p:nvPicPr>
          <p:cNvPr id="40" name="図 54" descr=""/>
          <p:cNvPicPr/>
          <p:nvPr/>
        </p:nvPicPr>
        <p:blipFill>
          <a:blip r:embed="rId1"/>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sp>
        <p:nvSpPr>
          <p:cNvPr id="42" name="テキスト ボックス 64"/>
          <p:cNvSpPr/>
          <p:nvPr/>
        </p:nvSpPr>
        <p:spPr>
          <a:xfrm>
            <a:off x="1783080" y="19202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サイト</a:t>
            </a:r>
            <a:r>
              <a:rPr b="0" lang="en-US" sz="1200" strike="noStrike" u="none">
                <a:solidFill>
                  <a:schemeClr val="lt1"/>
                </a:solidFill>
                <a:effectLst/>
                <a:uFillTx/>
                <a:latin typeface="メイリオ"/>
                <a:ea typeface="メイリオ"/>
              </a:rPr>
              <a:t>UU</a:t>
            </a:r>
            <a:endParaRPr b="0" lang="en-US" sz="1200" strike="noStrike" u="none">
              <a:solidFill>
                <a:srgbClr val="ffffff"/>
              </a:solidFill>
              <a:effectLst/>
              <a:uFillTx/>
              <a:latin typeface="Arial"/>
            </a:endParaRPr>
          </a:p>
        </p:txBody>
      </p:sp>
      <p:sp>
        <p:nvSpPr>
          <p:cNvPr id="43" name="テキスト ボックス 66"/>
          <p:cNvSpPr/>
          <p:nvPr/>
        </p:nvSpPr>
        <p:spPr>
          <a:xfrm>
            <a:off x="1783080" y="5180040"/>
            <a:ext cx="2971440" cy="4568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100" strike="noStrike" u="none">
                <a:solidFill>
                  <a:srgbClr val="595959"/>
                </a:solidFill>
                <a:effectLst/>
                <a:uFillTx/>
                <a:latin typeface="メイリオ"/>
                <a:ea typeface="メイリオ"/>
              </a:rPr>
              <a:t>※いずれも貴社ヒヤリング、外部計測</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　をもとにした想定。（仮）は仮置き。</a:t>
            </a:r>
            <a:endParaRPr b="0" lang="en-US" sz="1100" strike="noStrike" u="none">
              <a:solidFill>
                <a:srgbClr val="000000"/>
              </a:solidFill>
              <a:effectLst/>
              <a:uFillTx/>
              <a:latin typeface="Arial"/>
            </a:endParaRPr>
          </a:p>
        </p:txBody>
      </p:sp>
      <p:sp>
        <p:nvSpPr>
          <p:cNvPr id="44" name="テキスト ボックス 68"/>
          <p:cNvSpPr/>
          <p:nvPr/>
        </p:nvSpPr>
        <p:spPr>
          <a:xfrm>
            <a:off x="1783080" y="22449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a:t>
            </a:r>
            <a:r>
              <a:rPr b="0" lang="en-US" sz="1200" strike="noStrike" u="none">
                <a:solidFill>
                  <a:schemeClr val="lt1"/>
                </a:solidFill>
                <a:effectLst/>
                <a:uFillTx/>
                <a:latin typeface="メイリオ"/>
                <a:ea typeface="メイリオ"/>
              </a:rPr>
              <a:t>UU</a:t>
            </a:r>
            <a:endParaRPr b="0" lang="en-US" sz="1200" strike="noStrike" u="none">
              <a:solidFill>
                <a:srgbClr val="ffffff"/>
              </a:solidFill>
              <a:effectLst/>
              <a:uFillTx/>
              <a:latin typeface="Arial"/>
            </a:endParaRPr>
          </a:p>
        </p:txBody>
      </p:sp>
      <p:sp>
        <p:nvSpPr>
          <p:cNvPr id="45" name="テキスト ボックス 70"/>
          <p:cNvSpPr/>
          <p:nvPr/>
        </p:nvSpPr>
        <p:spPr>
          <a:xfrm>
            <a:off x="1783080" y="256932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広告費用</a:t>
            </a:r>
            <a:endParaRPr b="0" lang="en-US" sz="1200" strike="noStrike" u="none">
              <a:solidFill>
                <a:srgbClr val="ffffff"/>
              </a:solidFill>
              <a:effectLst/>
              <a:uFillTx/>
              <a:latin typeface="Arial"/>
            </a:endParaRPr>
          </a:p>
        </p:txBody>
      </p:sp>
      <p:sp>
        <p:nvSpPr>
          <p:cNvPr id="46" name="テキスト ボックス 72"/>
          <p:cNvSpPr/>
          <p:nvPr/>
        </p:nvSpPr>
        <p:spPr>
          <a:xfrm>
            <a:off x="1783080" y="48416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メイン流入元</a:t>
            </a:r>
            <a:endParaRPr b="0" lang="en-US" sz="1200" strike="noStrike" u="none">
              <a:solidFill>
                <a:srgbClr val="ffffff"/>
              </a:solidFill>
              <a:effectLst/>
              <a:uFillTx/>
              <a:latin typeface="Arial"/>
            </a:endParaRPr>
          </a:p>
        </p:txBody>
      </p:sp>
      <p:sp>
        <p:nvSpPr>
          <p:cNvPr id="47" name="テキスト ボックス 74"/>
          <p:cNvSpPr/>
          <p:nvPr/>
        </p:nvSpPr>
        <p:spPr>
          <a:xfrm>
            <a:off x="1783080" y="45172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他</a:t>
            </a:r>
            <a:r>
              <a:rPr b="0" lang="en-US" sz="1200" strike="noStrike" u="none">
                <a:solidFill>
                  <a:schemeClr val="lt1"/>
                </a:solidFill>
                <a:effectLst/>
                <a:uFillTx/>
                <a:latin typeface="メイリオ"/>
                <a:ea typeface="メイリオ"/>
              </a:rPr>
              <a:t>SNS</a:t>
            </a:r>
            <a:endParaRPr b="0" lang="en-US" sz="1200" strike="noStrike" u="none">
              <a:solidFill>
                <a:srgbClr val="ffffff"/>
              </a:solidFill>
              <a:effectLst/>
              <a:uFillTx/>
              <a:latin typeface="Arial"/>
            </a:endParaRPr>
          </a:p>
        </p:txBody>
      </p:sp>
      <p:sp>
        <p:nvSpPr>
          <p:cNvPr id="48" name="テキスト ボックス 75"/>
          <p:cNvSpPr/>
          <p:nvPr/>
        </p:nvSpPr>
        <p:spPr>
          <a:xfrm>
            <a:off x="1783080" y="41925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リード保有数</a:t>
            </a:r>
            <a:endParaRPr b="0" lang="en-US" sz="1200" strike="noStrike" u="none">
              <a:solidFill>
                <a:srgbClr val="ffffff"/>
              </a:solidFill>
              <a:effectLst/>
              <a:uFillTx/>
              <a:latin typeface="Arial"/>
            </a:endParaRPr>
          </a:p>
        </p:txBody>
      </p:sp>
      <p:sp>
        <p:nvSpPr>
          <p:cNvPr id="49" name="テキスト ボックス 77"/>
          <p:cNvSpPr/>
          <p:nvPr/>
        </p:nvSpPr>
        <p:spPr>
          <a:xfrm>
            <a:off x="1783080" y="28940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月間</a:t>
            </a:r>
            <a:r>
              <a:rPr b="0" lang="en-US" sz="1200" strike="noStrike" u="none">
                <a:solidFill>
                  <a:schemeClr val="lt1"/>
                </a:solidFill>
                <a:effectLst/>
                <a:uFillTx/>
                <a:latin typeface="メイリオ"/>
                <a:ea typeface="メイリオ"/>
              </a:rPr>
              <a:t>CV</a:t>
            </a:r>
            <a:r>
              <a:rPr b="0" lang="ja-JP" sz="1200" strike="noStrike" u="none">
                <a:solidFill>
                  <a:schemeClr val="lt1"/>
                </a:solidFill>
                <a:effectLst/>
                <a:uFillTx/>
                <a:latin typeface="メイリオ"/>
                <a:ea typeface="メイリオ"/>
              </a:rPr>
              <a:t>数</a:t>
            </a:r>
            <a:endParaRPr b="0" lang="en-US" sz="1200" strike="noStrike" u="none">
              <a:solidFill>
                <a:srgbClr val="ffffff"/>
              </a:solidFill>
              <a:effectLst/>
              <a:uFillTx/>
              <a:latin typeface="Arial"/>
            </a:endParaRPr>
          </a:p>
        </p:txBody>
      </p:sp>
      <p:sp>
        <p:nvSpPr>
          <p:cNvPr id="50" name="テキスト ボックス 79"/>
          <p:cNvSpPr/>
          <p:nvPr/>
        </p:nvSpPr>
        <p:spPr>
          <a:xfrm>
            <a:off x="1783080" y="32187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en-US" sz="1200" strike="noStrike" u="none">
                <a:solidFill>
                  <a:schemeClr val="lt1"/>
                </a:solidFill>
                <a:effectLst/>
                <a:uFillTx/>
                <a:latin typeface="メイリオ"/>
                <a:ea typeface="メイリオ"/>
              </a:rPr>
              <a:t>CV</a:t>
            </a:r>
            <a:r>
              <a:rPr b="0" lang="ja-JP" sz="1200" strike="noStrike" u="none">
                <a:solidFill>
                  <a:schemeClr val="lt1"/>
                </a:solidFill>
                <a:effectLst/>
                <a:uFillTx/>
                <a:latin typeface="メイリオ"/>
                <a:ea typeface="メイリオ"/>
              </a:rPr>
              <a:t>地点</a:t>
            </a:r>
            <a:endParaRPr b="0" lang="en-US" sz="1200" strike="noStrike" u="none">
              <a:solidFill>
                <a:srgbClr val="ffffff"/>
              </a:solidFill>
              <a:effectLst/>
              <a:uFillTx/>
              <a:latin typeface="Arial"/>
            </a:endParaRPr>
          </a:p>
        </p:txBody>
      </p:sp>
      <p:sp>
        <p:nvSpPr>
          <p:cNvPr id="51" name="テキスト ボックス 81"/>
          <p:cNvSpPr/>
          <p:nvPr/>
        </p:nvSpPr>
        <p:spPr>
          <a:xfrm>
            <a:off x="1783080" y="35434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en-US" sz="1200" strike="noStrike" u="none">
                <a:solidFill>
                  <a:schemeClr val="lt1"/>
                </a:solidFill>
                <a:effectLst/>
                <a:uFillTx/>
                <a:latin typeface="メイリオ"/>
                <a:ea typeface="メイリオ"/>
              </a:rPr>
              <a:t>LINE</a:t>
            </a:r>
            <a:r>
              <a:rPr b="0" lang="ja-JP" sz="1200" strike="noStrike" u="none">
                <a:solidFill>
                  <a:schemeClr val="lt1"/>
                </a:solidFill>
                <a:effectLst/>
                <a:uFillTx/>
                <a:latin typeface="メイリオ"/>
                <a:ea typeface="メイリオ"/>
              </a:rPr>
              <a:t>動線</a:t>
            </a:r>
            <a:endParaRPr b="0" lang="en-US" sz="1200" strike="noStrike" u="none">
              <a:solidFill>
                <a:srgbClr val="ffffff"/>
              </a:solidFill>
              <a:effectLst/>
              <a:uFillTx/>
              <a:latin typeface="Arial"/>
            </a:endParaRPr>
          </a:p>
        </p:txBody>
      </p:sp>
      <p:sp>
        <p:nvSpPr>
          <p:cNvPr id="52" name="テキスト ボックス 83"/>
          <p:cNvSpPr/>
          <p:nvPr/>
        </p:nvSpPr>
        <p:spPr>
          <a:xfrm>
            <a:off x="1783080" y="38678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広告比率</a:t>
            </a:r>
            <a:endParaRPr b="0" lang="en-US" sz="1200" strike="noStrike" u="none">
              <a:solidFill>
                <a:srgbClr val="ffffff"/>
              </a:solidFill>
              <a:effectLst/>
              <a:uFillTx/>
              <a:latin typeface="Arial"/>
            </a:endParaRPr>
          </a:p>
        </p:txBody>
      </p:sp>
      <p:sp>
        <p:nvSpPr>
          <p:cNvPr id="53" name="テキスト ボックス 85"/>
          <p:cNvSpPr/>
          <p:nvPr/>
        </p:nvSpPr>
        <p:spPr>
          <a:xfrm>
            <a:off x="6510600" y="19202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友だち数</a:t>
            </a:r>
            <a:endParaRPr b="0" lang="en-US" sz="1200" strike="noStrike" u="none">
              <a:solidFill>
                <a:srgbClr val="ffffff"/>
              </a:solidFill>
              <a:effectLst/>
              <a:uFillTx/>
              <a:latin typeface="Arial"/>
            </a:endParaRPr>
          </a:p>
        </p:txBody>
      </p:sp>
      <p:sp>
        <p:nvSpPr>
          <p:cNvPr id="54" name="テキスト ボックス 87"/>
          <p:cNvSpPr/>
          <p:nvPr/>
        </p:nvSpPr>
        <p:spPr>
          <a:xfrm>
            <a:off x="6510600" y="22449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アクティブ数</a:t>
            </a:r>
            <a:endParaRPr b="0" lang="en-US" sz="1200" strike="noStrike" u="none">
              <a:solidFill>
                <a:srgbClr val="ffffff"/>
              </a:solidFill>
              <a:effectLst/>
              <a:uFillTx/>
              <a:latin typeface="Arial"/>
            </a:endParaRPr>
          </a:p>
        </p:txBody>
      </p:sp>
      <p:sp>
        <p:nvSpPr>
          <p:cNvPr id="55" name="テキスト ボックス 89"/>
          <p:cNvSpPr/>
          <p:nvPr/>
        </p:nvSpPr>
        <p:spPr>
          <a:xfrm>
            <a:off x="6510600" y="256932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ブロック率</a:t>
            </a:r>
            <a:endParaRPr b="0" lang="en-US" sz="1200" strike="noStrike" u="none">
              <a:solidFill>
                <a:srgbClr val="ffffff"/>
              </a:solidFill>
              <a:effectLst/>
              <a:uFillTx/>
              <a:latin typeface="Arial"/>
            </a:endParaRPr>
          </a:p>
        </p:txBody>
      </p:sp>
      <p:sp>
        <p:nvSpPr>
          <p:cNvPr id="56" name="テキスト ボックス 91"/>
          <p:cNvSpPr/>
          <p:nvPr/>
        </p:nvSpPr>
        <p:spPr>
          <a:xfrm>
            <a:off x="6510600" y="48416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chemeClr val="lt1"/>
                </a:solidFill>
                <a:effectLst/>
                <a:uFillTx/>
                <a:latin typeface="メイリオ"/>
                <a:ea typeface="メイリオ"/>
              </a:rPr>
              <a:t>リッチメニュー</a:t>
            </a:r>
            <a:endParaRPr b="0" lang="en-US" sz="1200" strike="noStrike" u="none">
              <a:solidFill>
                <a:srgbClr val="ffffff"/>
              </a:solidFill>
              <a:effectLst/>
              <a:uFillTx/>
              <a:latin typeface="Arial"/>
            </a:endParaRPr>
          </a:p>
        </p:txBody>
      </p:sp>
      <p:sp>
        <p:nvSpPr>
          <p:cNvPr id="57" name="テキスト ボックス 93"/>
          <p:cNvSpPr/>
          <p:nvPr/>
        </p:nvSpPr>
        <p:spPr>
          <a:xfrm>
            <a:off x="6510600" y="45172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ツール</a:t>
            </a:r>
            <a:endParaRPr b="0" lang="en-US" sz="1200" strike="noStrike" u="none">
              <a:solidFill>
                <a:srgbClr val="ffffff"/>
              </a:solidFill>
              <a:effectLst/>
              <a:uFillTx/>
              <a:latin typeface="Arial"/>
            </a:endParaRPr>
          </a:p>
        </p:txBody>
      </p:sp>
      <p:sp>
        <p:nvSpPr>
          <p:cNvPr id="58" name="テキスト ボックス 95"/>
          <p:cNvSpPr/>
          <p:nvPr/>
        </p:nvSpPr>
        <p:spPr>
          <a:xfrm>
            <a:off x="6510600" y="41925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想定コスト</a:t>
            </a:r>
            <a:endParaRPr b="0" lang="en-US" sz="1200" strike="noStrike" u="none">
              <a:solidFill>
                <a:srgbClr val="ffffff"/>
              </a:solidFill>
              <a:effectLst/>
              <a:uFillTx/>
              <a:latin typeface="Arial"/>
            </a:endParaRPr>
          </a:p>
        </p:txBody>
      </p:sp>
      <p:sp>
        <p:nvSpPr>
          <p:cNvPr id="59" name="テキスト ボックス 97"/>
          <p:cNvSpPr/>
          <p:nvPr/>
        </p:nvSpPr>
        <p:spPr>
          <a:xfrm>
            <a:off x="6510600" y="28940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月間投稿数</a:t>
            </a:r>
            <a:endParaRPr b="0" lang="en-US" sz="1200" strike="noStrike" u="none">
              <a:solidFill>
                <a:srgbClr val="ffffff"/>
              </a:solidFill>
              <a:effectLst/>
              <a:uFillTx/>
              <a:latin typeface="Arial"/>
            </a:endParaRPr>
          </a:p>
        </p:txBody>
      </p:sp>
      <p:sp>
        <p:nvSpPr>
          <p:cNvPr id="60" name="テキスト ボックス 99"/>
          <p:cNvSpPr/>
          <p:nvPr/>
        </p:nvSpPr>
        <p:spPr>
          <a:xfrm>
            <a:off x="6510600" y="32187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ステップ実施</a:t>
            </a:r>
            <a:endParaRPr b="0" lang="en-US" sz="1200" strike="noStrike" u="none">
              <a:solidFill>
                <a:srgbClr val="ffffff"/>
              </a:solidFill>
              <a:effectLst/>
              <a:uFillTx/>
              <a:latin typeface="Arial"/>
            </a:endParaRPr>
          </a:p>
        </p:txBody>
      </p:sp>
      <p:sp>
        <p:nvSpPr>
          <p:cNvPr id="61" name="テキスト ボックス 101"/>
          <p:cNvSpPr/>
          <p:nvPr/>
        </p:nvSpPr>
        <p:spPr>
          <a:xfrm>
            <a:off x="6510600" y="35434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アンケート実施</a:t>
            </a:r>
            <a:endParaRPr b="0" lang="en-US" sz="1200" strike="noStrike" u="none">
              <a:solidFill>
                <a:srgbClr val="ffffff"/>
              </a:solidFill>
              <a:effectLst/>
              <a:uFillTx/>
              <a:latin typeface="Arial"/>
            </a:endParaRPr>
          </a:p>
        </p:txBody>
      </p:sp>
      <p:sp>
        <p:nvSpPr>
          <p:cNvPr id="62" name="テキスト ボックス 103"/>
          <p:cNvSpPr/>
          <p:nvPr/>
        </p:nvSpPr>
        <p:spPr>
          <a:xfrm>
            <a:off x="6510600" y="38678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プロフ動線</a:t>
            </a:r>
            <a:endParaRPr b="0" lang="en-US" sz="1200" strike="noStrike" u="none">
              <a:solidFill>
                <a:srgbClr val="ffffff"/>
              </a:solidFill>
              <a:effectLst/>
              <a:uFillTx/>
              <a:latin typeface="Arial"/>
            </a:endParaRPr>
          </a:p>
        </p:txBody>
      </p:sp>
      <p:sp>
        <p:nvSpPr>
          <p:cNvPr id="63" name="テキスト ボックス 105"/>
          <p:cNvSpPr/>
          <p:nvPr/>
        </p:nvSpPr>
        <p:spPr>
          <a:xfrm>
            <a:off x="3081600" y="19202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1,737</a:t>
            </a:r>
            <a:endParaRPr b="0" lang="en-US" sz="1200" strike="noStrike" u="none">
              <a:solidFill>
                <a:srgbClr val="000000"/>
              </a:solidFill>
              <a:effectLst/>
              <a:uFillTx/>
              <a:latin typeface="Arial"/>
            </a:endParaRPr>
          </a:p>
        </p:txBody>
      </p:sp>
      <p:sp>
        <p:nvSpPr>
          <p:cNvPr id="64" name="テキスト ボックス 107"/>
          <p:cNvSpPr/>
          <p:nvPr/>
        </p:nvSpPr>
        <p:spPr>
          <a:xfrm>
            <a:off x="3081600" y="22449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0</a:t>
            </a:r>
            <a:r>
              <a:rPr b="1" lang="ja-JP" sz="1200" strike="noStrike" u="none">
                <a:solidFill>
                  <a:schemeClr val="dk1"/>
                </a:solidFill>
                <a:effectLst/>
                <a:uFillTx/>
                <a:latin typeface="メイリオ"/>
                <a:ea typeface="メイリオ"/>
              </a:rPr>
              <a:t>（広告なし）</a:t>
            </a:r>
            <a:endParaRPr b="0" lang="en-US" sz="1200" strike="noStrike" u="none">
              <a:solidFill>
                <a:srgbClr val="000000"/>
              </a:solidFill>
              <a:effectLst/>
              <a:uFillTx/>
              <a:latin typeface="Arial"/>
            </a:endParaRPr>
          </a:p>
        </p:txBody>
      </p:sp>
      <p:sp>
        <p:nvSpPr>
          <p:cNvPr id="65" name="テキスト ボックス 109"/>
          <p:cNvSpPr/>
          <p:nvPr/>
        </p:nvSpPr>
        <p:spPr>
          <a:xfrm>
            <a:off x="3081600" y="256932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lumMod val="85000"/>
                    <a:lumOff val="15000"/>
                  </a:schemeClr>
                </a:solidFill>
                <a:effectLst/>
                <a:uFillTx/>
                <a:latin typeface="メイリオ"/>
                <a:ea typeface="メイリオ"/>
              </a:rPr>
              <a:t>なし</a:t>
            </a:r>
            <a:endParaRPr b="0" lang="en-US" sz="1200" strike="noStrike" u="none">
              <a:solidFill>
                <a:srgbClr val="000000"/>
              </a:solidFill>
              <a:effectLst/>
              <a:uFillTx/>
              <a:latin typeface="Arial"/>
            </a:endParaRPr>
          </a:p>
        </p:txBody>
      </p:sp>
      <p:sp>
        <p:nvSpPr>
          <p:cNvPr id="66" name="テキスト ボックス 111"/>
          <p:cNvSpPr/>
          <p:nvPr/>
        </p:nvSpPr>
        <p:spPr>
          <a:xfrm>
            <a:off x="3081600" y="48416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不明（広告なし）</a:t>
            </a:r>
            <a:endParaRPr b="0" lang="en-US" sz="1200" strike="noStrike" u="none">
              <a:solidFill>
                <a:srgbClr val="000000"/>
              </a:solidFill>
              <a:effectLst/>
              <a:uFillTx/>
              <a:latin typeface="Arial"/>
            </a:endParaRPr>
          </a:p>
        </p:txBody>
      </p:sp>
      <p:sp>
        <p:nvSpPr>
          <p:cNvPr id="67" name="テキスト ボックス 113"/>
          <p:cNvSpPr/>
          <p:nvPr/>
        </p:nvSpPr>
        <p:spPr>
          <a:xfrm>
            <a:off x="3081600" y="45172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YouTube</a:t>
            </a:r>
            <a:endParaRPr b="0" lang="en-US" sz="1200" strike="noStrike" u="none">
              <a:solidFill>
                <a:srgbClr val="000000"/>
              </a:solidFill>
              <a:effectLst/>
              <a:uFillTx/>
              <a:latin typeface="Arial"/>
            </a:endParaRPr>
          </a:p>
        </p:txBody>
      </p:sp>
      <p:sp>
        <p:nvSpPr>
          <p:cNvPr id="68" name="テキスト ボックス 115"/>
          <p:cNvSpPr/>
          <p:nvPr/>
        </p:nvSpPr>
        <p:spPr>
          <a:xfrm>
            <a:off x="3081600" y="41925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不明</a:t>
            </a:r>
            <a:endParaRPr b="0" lang="en-US" sz="1200" strike="noStrike" u="none">
              <a:solidFill>
                <a:srgbClr val="000000"/>
              </a:solidFill>
              <a:effectLst/>
              <a:uFillTx/>
              <a:latin typeface="Arial"/>
            </a:endParaRPr>
          </a:p>
        </p:txBody>
      </p:sp>
      <p:sp>
        <p:nvSpPr>
          <p:cNvPr id="69" name="テキスト ボックス 117"/>
          <p:cNvSpPr/>
          <p:nvPr/>
        </p:nvSpPr>
        <p:spPr>
          <a:xfrm>
            <a:off x="3081600" y="28940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30</a:t>
            </a:r>
            <a:r>
              <a:rPr b="1" lang="ja-JP" sz="1200" strike="noStrike" u="none">
                <a:solidFill>
                  <a:schemeClr val="dk1"/>
                </a:solidFill>
                <a:effectLst/>
                <a:uFillTx/>
                <a:latin typeface="メイリオ"/>
                <a:ea typeface="メイリオ"/>
              </a:rPr>
              <a:t>件（仮）</a:t>
            </a:r>
            <a:endParaRPr b="0" lang="en-US" sz="1200" strike="noStrike" u="none">
              <a:solidFill>
                <a:srgbClr val="000000"/>
              </a:solidFill>
              <a:effectLst/>
              <a:uFillTx/>
              <a:latin typeface="Arial"/>
            </a:endParaRPr>
          </a:p>
        </p:txBody>
      </p:sp>
      <p:sp>
        <p:nvSpPr>
          <p:cNvPr id="70" name="テキスト ボックス 119"/>
          <p:cNvSpPr/>
          <p:nvPr/>
        </p:nvSpPr>
        <p:spPr>
          <a:xfrm>
            <a:off x="3081600" y="32187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rgbClr val="ff0000"/>
                </a:solidFill>
                <a:effectLst/>
                <a:uFillTx/>
                <a:latin typeface="メイリオ"/>
                <a:ea typeface="メイリオ"/>
              </a:rPr>
              <a:t>問い合わせ</a:t>
            </a:r>
            <a:endParaRPr b="0" lang="en-US" sz="1200" strike="noStrike" u="none">
              <a:solidFill>
                <a:srgbClr val="000000"/>
              </a:solidFill>
              <a:effectLst/>
              <a:uFillTx/>
              <a:latin typeface="Arial"/>
            </a:endParaRPr>
          </a:p>
        </p:txBody>
      </p:sp>
      <p:sp>
        <p:nvSpPr>
          <p:cNvPr id="71" name="テキスト ボックス 121"/>
          <p:cNvSpPr/>
          <p:nvPr/>
        </p:nvSpPr>
        <p:spPr>
          <a:xfrm>
            <a:off x="3081600" y="35434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有</a:t>
            </a:r>
            <a:endParaRPr b="0" lang="en-US" sz="1200" strike="noStrike" u="none">
              <a:solidFill>
                <a:srgbClr val="000000"/>
              </a:solidFill>
              <a:effectLst/>
              <a:uFillTx/>
              <a:latin typeface="Arial"/>
            </a:endParaRPr>
          </a:p>
        </p:txBody>
      </p:sp>
      <p:sp>
        <p:nvSpPr>
          <p:cNvPr id="72" name="テキスト ボックス 123"/>
          <p:cNvSpPr/>
          <p:nvPr/>
        </p:nvSpPr>
        <p:spPr>
          <a:xfrm>
            <a:off x="3081600" y="38678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0</a:t>
            </a:r>
            <a:r>
              <a:rPr b="1" lang="zh-CN"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73" name="テキスト ボックス 168"/>
          <p:cNvSpPr/>
          <p:nvPr/>
        </p:nvSpPr>
        <p:spPr>
          <a:xfrm>
            <a:off x="6510600" y="51663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chemeClr val="lt1"/>
                </a:solidFill>
                <a:effectLst/>
                <a:uFillTx/>
                <a:latin typeface="メイリオ"/>
                <a:ea typeface="メイリオ"/>
              </a:rPr>
              <a:t>あいさつ</a:t>
            </a:r>
            <a:endParaRPr b="0" lang="en-US" sz="1200" strike="noStrike" u="none">
              <a:solidFill>
                <a:srgbClr val="ffffff"/>
              </a:solidFill>
              <a:effectLst/>
              <a:uFillTx/>
              <a:latin typeface="Arial"/>
            </a:endParaRPr>
          </a:p>
        </p:txBody>
      </p:sp>
      <p:sp>
        <p:nvSpPr>
          <p:cNvPr id="74" name="テキスト ボックス 170"/>
          <p:cNvSpPr/>
          <p:nvPr/>
        </p:nvSpPr>
        <p:spPr>
          <a:xfrm>
            <a:off x="7809120" y="19202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1,241</a:t>
            </a:r>
            <a:endParaRPr b="0" lang="en-US" sz="1200" strike="noStrike" u="none">
              <a:solidFill>
                <a:srgbClr val="000000"/>
              </a:solidFill>
              <a:effectLst/>
              <a:uFillTx/>
              <a:latin typeface="Arial"/>
            </a:endParaRPr>
          </a:p>
        </p:txBody>
      </p:sp>
      <p:sp>
        <p:nvSpPr>
          <p:cNvPr id="75" name="テキスト ボックス 172"/>
          <p:cNvSpPr/>
          <p:nvPr/>
        </p:nvSpPr>
        <p:spPr>
          <a:xfrm>
            <a:off x="7809120" y="22449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約</a:t>
            </a:r>
            <a:r>
              <a:rPr b="1" lang="en-US" sz="1200" strike="noStrike" u="none">
                <a:solidFill>
                  <a:schemeClr val="dk1"/>
                </a:solidFill>
                <a:effectLst/>
                <a:uFillTx/>
                <a:latin typeface="メイリオ"/>
                <a:ea typeface="メイリオ"/>
              </a:rPr>
              <a:t>807</a:t>
            </a:r>
            <a:r>
              <a:rPr b="1" lang="zh-CN" sz="1200" strike="noStrike" u="none">
                <a:solidFill>
                  <a:schemeClr val="dk1"/>
                </a:solidFill>
                <a:effectLst/>
                <a:uFillTx/>
                <a:latin typeface="メイリオ"/>
                <a:ea typeface="メイリオ"/>
              </a:rPr>
              <a:t>（仮）</a:t>
            </a:r>
            <a:endParaRPr b="0" lang="en-US" sz="1200" strike="noStrike" u="none">
              <a:solidFill>
                <a:srgbClr val="000000"/>
              </a:solidFill>
              <a:effectLst/>
              <a:uFillTx/>
              <a:latin typeface="Arial"/>
            </a:endParaRPr>
          </a:p>
        </p:txBody>
      </p:sp>
      <p:sp>
        <p:nvSpPr>
          <p:cNvPr id="76" name="テキスト ボックス 174"/>
          <p:cNvSpPr/>
          <p:nvPr/>
        </p:nvSpPr>
        <p:spPr>
          <a:xfrm>
            <a:off x="7809120" y="256932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35%</a:t>
            </a:r>
            <a:r>
              <a:rPr b="1" lang="zh-CN" sz="1200" strike="noStrike" u="none">
                <a:solidFill>
                  <a:schemeClr val="dk1"/>
                </a:solidFill>
                <a:effectLst/>
                <a:uFillTx/>
                <a:latin typeface="メイリオ"/>
                <a:ea typeface="メイリオ"/>
              </a:rPr>
              <a:t>（仮）</a:t>
            </a:r>
            <a:endParaRPr b="0" lang="en-US" sz="1200" strike="noStrike" u="none">
              <a:solidFill>
                <a:srgbClr val="000000"/>
              </a:solidFill>
              <a:effectLst/>
              <a:uFillTx/>
              <a:latin typeface="Arial"/>
            </a:endParaRPr>
          </a:p>
        </p:txBody>
      </p:sp>
      <p:sp>
        <p:nvSpPr>
          <p:cNvPr id="77" name="テキスト ボックス 176"/>
          <p:cNvSpPr/>
          <p:nvPr/>
        </p:nvSpPr>
        <p:spPr>
          <a:xfrm>
            <a:off x="7809120" y="48416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なし</a:t>
            </a:r>
            <a:endParaRPr b="0" lang="en-US" sz="1200" strike="noStrike" u="none">
              <a:solidFill>
                <a:srgbClr val="000000"/>
              </a:solidFill>
              <a:effectLst/>
              <a:uFillTx/>
              <a:latin typeface="Arial"/>
            </a:endParaRPr>
          </a:p>
        </p:txBody>
      </p:sp>
      <p:sp>
        <p:nvSpPr>
          <p:cNvPr id="78" name="テキスト ボックス 178"/>
          <p:cNvSpPr/>
          <p:nvPr/>
        </p:nvSpPr>
        <p:spPr>
          <a:xfrm>
            <a:off x="7809120" y="45172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なし（標準機能）</a:t>
            </a:r>
            <a:endParaRPr b="0" lang="en-US" sz="1200" strike="noStrike" u="none">
              <a:solidFill>
                <a:srgbClr val="000000"/>
              </a:solidFill>
              <a:effectLst/>
              <a:uFillTx/>
              <a:latin typeface="Arial"/>
            </a:endParaRPr>
          </a:p>
        </p:txBody>
      </p:sp>
      <p:sp>
        <p:nvSpPr>
          <p:cNvPr id="79" name="テキスト ボックス 180"/>
          <p:cNvSpPr/>
          <p:nvPr/>
        </p:nvSpPr>
        <p:spPr>
          <a:xfrm>
            <a:off x="7809120" y="41925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0" name="テキスト ボックス 182"/>
          <p:cNvSpPr/>
          <p:nvPr/>
        </p:nvSpPr>
        <p:spPr>
          <a:xfrm>
            <a:off x="7809120" y="28940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1" name="テキスト ボックス 184"/>
          <p:cNvSpPr/>
          <p:nvPr/>
        </p:nvSpPr>
        <p:spPr>
          <a:xfrm>
            <a:off x="7809120" y="32187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2" name="テキスト ボックス 186"/>
          <p:cNvSpPr/>
          <p:nvPr/>
        </p:nvSpPr>
        <p:spPr>
          <a:xfrm>
            <a:off x="7809120" y="35434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3" name="テキスト ボックス 188"/>
          <p:cNvSpPr/>
          <p:nvPr/>
        </p:nvSpPr>
        <p:spPr>
          <a:xfrm>
            <a:off x="7809120" y="38678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有（サイト・動画）</a:t>
            </a:r>
            <a:endParaRPr b="0" lang="en-US" sz="1200" strike="noStrike" u="none">
              <a:solidFill>
                <a:srgbClr val="000000"/>
              </a:solidFill>
              <a:effectLst/>
              <a:uFillTx/>
              <a:latin typeface="Arial"/>
            </a:endParaRPr>
          </a:p>
        </p:txBody>
      </p:sp>
      <p:sp>
        <p:nvSpPr>
          <p:cNvPr id="84" name="テキスト ボックス 190"/>
          <p:cNvSpPr/>
          <p:nvPr/>
        </p:nvSpPr>
        <p:spPr>
          <a:xfrm>
            <a:off x="7809120" y="51663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ボタンなし</a:t>
            </a:r>
            <a:endParaRPr b="0" lang="en-US" sz="1200" strike="noStrike" u="non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pic>
        <p:nvPicPr>
          <p:cNvPr id="86" name="図 8" descr=""/>
          <p:cNvPicPr/>
          <p:nvPr/>
        </p:nvPicPr>
        <p:blipFill>
          <a:blip r:embed="rId2"/>
          <a:stretch/>
        </p:blipFill>
        <p:spPr>
          <a:xfrm>
            <a:off x="365760" y="1920240"/>
            <a:ext cx="1328040" cy="2697120"/>
          </a:xfrm>
          <a:prstGeom prst="rect">
            <a:avLst/>
          </a:prstGeom>
          <a:noFill/>
          <a:ln w="0">
            <a:noFill/>
          </a:ln>
        </p:spPr>
      </p:pic>
      <p:pic>
        <p:nvPicPr>
          <p:cNvPr id="87" name="図 23" descr=""/>
          <p:cNvPicPr/>
          <p:nvPr/>
        </p:nvPicPr>
        <p:blipFill>
          <a:blip r:embed="rId3"/>
          <a:srcRect l="0" t="4916" r="0"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LINE</a:t>
            </a:r>
            <a:r>
              <a:rPr b="0" lang="zh-CN" sz="1400" strike="noStrike" u="none">
                <a:solidFill>
                  <a:schemeClr val="dk1"/>
                </a:solidFill>
                <a:effectLst/>
                <a:uFillTx/>
                <a:latin typeface="メイリオ"/>
                <a:ea typeface="メイリオ"/>
              </a:rPr>
              <a:t>公式アカウントの標準機能で運用中（</a:t>
            </a:r>
            <a:r>
              <a:rPr b="0" lang="en-US" sz="1400" strike="noStrike" u="none">
                <a:solidFill>
                  <a:schemeClr val="dk1"/>
                </a:solidFill>
                <a:effectLst/>
                <a:uFillTx/>
                <a:latin typeface="メイリオ"/>
                <a:ea typeface="メイリオ"/>
              </a:rPr>
              <a:t>L</a:t>
            </a:r>
            <a:r>
              <a:rPr b="0" lang="zh-CN" sz="1400" strike="noStrike" u="none">
                <a:solidFill>
                  <a:schemeClr val="dk1"/>
                </a:solidFill>
                <a:effectLst/>
                <a:uFillTx/>
                <a:latin typeface="メイリオ"/>
                <a:ea typeface="メイリオ"/>
              </a:rPr>
              <a:t>ステップ等のツールなし）。</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solidFill>
                <a:effectLst/>
                <a:uFillTx/>
                <a:latin typeface="メイリオ"/>
                <a:ea typeface="メイリオ"/>
              </a:rPr>
              <a:t>友だち追加の入口・追加後の動線ともに、改善の余地があると想定。</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9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想定動線</a:t>
            </a:r>
            <a:endParaRPr b="0" lang="en-US" sz="1600" strike="noStrike" u="none">
              <a:solidFill>
                <a:srgbClr val="000000"/>
              </a:solidFill>
              <a:effectLst/>
              <a:uFillTx/>
              <a:latin typeface="Arial"/>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rgbClr val="c00000"/>
          </a:solid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ffffff"/>
                </a:solidFill>
                <a:effectLst/>
                <a:uFillTx/>
                <a:latin typeface="メイリオ"/>
                <a:ea typeface="メイリオ"/>
              </a:rPr>
              <a:t>⑤ リード有効化（CV）</a:t>
            </a:r>
            <a:endParaRPr b="0" lang="en-US" sz="1400" strike="noStrike" u="non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rgbClr val="BFBFBF">
              <a:alpha val="30000"/>
            </a:srgb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rgbClr val="595959"/>
                </a:solidFill>
                <a:effectLst/>
                <a:uFillTx/>
                <a:latin typeface="メイリオ"/>
                <a:ea typeface="メイリオ"/>
              </a:rPr>
              <a:t>⑦マネタイズ</a:t>
            </a:r>
            <a:r>
              <a:rPr b="1" lang="en-US" sz="1100" strike="noStrike" u="none">
                <a:solidFill>
                  <a:srgbClr val="595959"/>
                </a:solidFill>
                <a:effectLst/>
                <a:uFillTx/>
                <a:latin typeface="メイリオ"/>
                <a:ea typeface="メイリオ"/>
              </a:rPr>
              <a:t>(</a:t>
            </a:r>
            <a:r>
              <a:rPr b="1" lang="ja-JP" sz="1100" strike="noStrike" u="none">
                <a:solidFill>
                  <a:srgbClr val="595959"/>
                </a:solidFill>
                <a:effectLst/>
                <a:uFillTx/>
                <a:latin typeface="メイリオ"/>
                <a:ea typeface="メイリオ"/>
              </a:rPr>
              <a:t>成約</a:t>
            </a:r>
            <a:r>
              <a:rPr b="1" lang="en-US" sz="1100" strike="noStrike" u="none">
                <a:solidFill>
                  <a:srgbClr val="595959"/>
                </a:solidFill>
                <a:effectLst/>
                <a:uFillTx/>
                <a:latin typeface="メイリオ"/>
                <a:ea typeface="メイリオ"/>
              </a:rPr>
              <a:t>)</a:t>
            </a:r>
            <a:endParaRPr b="0" lang="en-US" sz="1100" strike="noStrike" u="none">
              <a:solidFill>
                <a:srgbClr val="595959"/>
              </a:solidFill>
              <a:effectLst/>
              <a:uFillTx/>
              <a:latin typeface="Arial"/>
            </a:endParaRPr>
          </a:p>
        </p:txBody>
      </p:sp>
      <p:sp>
        <p:nvSpPr>
          <p:cNvPr id="95" name="テキスト ボックス 7"/>
          <p:cNvSpPr/>
          <p:nvPr/>
        </p:nvSpPr>
        <p:spPr>
          <a:xfrm>
            <a:off x="4830840" y="2203560"/>
            <a:ext cx="2351520" cy="328680"/>
          </a:xfrm>
          <a:prstGeom prst="rect">
            <a:avLst/>
          </a:prstGeom>
          <a:solidFill>
            <a:srgbClr val="BFBFBF">
              <a:alpha val="30000"/>
            </a:srgb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rgbClr val="595959"/>
                </a:solidFill>
                <a:effectLst/>
                <a:uFillTx/>
                <a:latin typeface="メイリオ"/>
                <a:ea typeface="メイリオ"/>
              </a:rPr>
              <a:t>⑥ 有効リードの再育成</a:t>
            </a:r>
            <a:endParaRPr b="0" lang="en-US" sz="1200" strike="noStrike" u="none">
              <a:solidFill>
                <a:srgbClr val="595959"/>
              </a:solidFill>
              <a:effectLst/>
              <a:uFillTx/>
              <a:latin typeface="Arial"/>
            </a:endParaRPr>
          </a:p>
        </p:txBody>
      </p:sp>
      <p:sp>
        <p:nvSpPr>
          <p:cNvPr id="96" name="テキスト ボックス 8"/>
          <p:cNvSpPr/>
          <p:nvPr/>
        </p:nvSpPr>
        <p:spPr>
          <a:xfrm>
            <a:off x="7408080" y="2734200"/>
            <a:ext cx="2351520" cy="402120"/>
          </a:xfrm>
          <a:prstGeom prst="rect">
            <a:avLst/>
          </a:prstGeom>
          <a:solidFill>
            <a:srgbClr val="BFBFBF">
              <a:alpha val="30000"/>
            </a:srgb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rgbClr val="595959"/>
                </a:solidFill>
                <a:effectLst/>
                <a:uFillTx/>
                <a:latin typeface="メイリオ"/>
                <a:ea typeface="メイリオ"/>
              </a:rPr>
              <a:t>⑧</a:t>
            </a:r>
            <a:r>
              <a:rPr b="1" lang="en-US" sz="1200" strike="noStrike" u="none">
                <a:solidFill>
                  <a:srgbClr val="595959"/>
                </a:solidFill>
                <a:effectLst/>
                <a:uFillTx/>
                <a:latin typeface="メイリオ"/>
                <a:ea typeface="メイリオ"/>
              </a:rPr>
              <a:t>LTV</a:t>
            </a:r>
            <a:r>
              <a:rPr b="1" lang="ja-JP" sz="1200" strike="noStrike" u="none">
                <a:solidFill>
                  <a:srgbClr val="595959"/>
                </a:solidFill>
                <a:effectLst/>
                <a:uFillTx/>
                <a:latin typeface="メイリオ"/>
                <a:ea typeface="メイリオ"/>
              </a:rPr>
              <a:t>最大化・紹介</a:t>
            </a:r>
            <a:endParaRPr b="0" lang="en-US" sz="1200" strike="noStrike" u="none">
              <a:solidFill>
                <a:srgbClr val="595959"/>
              </a:solidFill>
              <a:effectLst/>
              <a:uFillTx/>
              <a:latin typeface="Arial"/>
            </a:endParaRPr>
          </a:p>
          <a:p>
            <a:pPr defTabSz="914400">
              <a:lnSpc>
                <a:spcPct val="100000"/>
              </a:lnSpc>
            </a:pPr>
            <a:endParaRPr b="0" lang="en-US" sz="1100" strike="noStrike" u="none">
              <a:solidFill>
                <a:srgbClr val="595959"/>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① 接触（認知・流入）</a:t>
            </a:r>
            <a:endParaRPr b="0" lang="en-US" sz="1200" strike="noStrike" u="non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② サイト離脱（対策）</a:t>
            </a:r>
            <a:endParaRPr b="0" lang="en-US" sz="1200" strike="noStrike" u="non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③ 育成（興味喚起）</a:t>
            </a:r>
            <a:endParaRPr b="0" lang="en-US" sz="1200" strike="noStrike" u="non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④リード獲得 </a:t>
            </a:r>
            <a:r>
              <a:rPr b="1" lang="en-US" sz="1100" strike="noStrike" u="none">
                <a:solidFill>
                  <a:schemeClr val="dk1"/>
                </a:solidFill>
                <a:effectLst/>
                <a:uFillTx/>
                <a:latin typeface="メイリオ"/>
                <a:ea typeface="メイリオ"/>
              </a:rPr>
              <a:t>(web/LINE)</a:t>
            </a:r>
            <a:endParaRPr b="0" lang="en-US" sz="1100" strike="noStrike" u="none">
              <a:solidFill>
                <a:srgbClr val="000000"/>
              </a:solidFill>
              <a:effectLst/>
              <a:uFillTx/>
              <a:latin typeface="Arial"/>
            </a:endParaRPr>
          </a:p>
        </p:txBody>
      </p:sp>
      <p:cxnSp>
        <p:nvCxnSpPr>
          <p:cNvPr id="101" name="コネクタ: カギ線 13"/>
          <p:cNvCxnSpPr/>
          <p:nvPr/>
        </p:nvCxnSpPr>
        <p:spPr>
          <a:xfrm flipH="1" flipV="1" rot="5400000">
            <a:off x="4319280" y="2335680"/>
            <a:ext cx="466560" cy="330480"/>
          </a:xfrm>
          <a:prstGeom prst="bentConnector3">
            <a:avLst>
              <a:gd name="adj1" fmla="val 49961"/>
            </a:avLst>
          </a:prstGeom>
          <a:ln w="19050">
            <a:solidFill>
              <a:srgbClr val="000000"/>
            </a:solidFill>
            <a:prstDash val="sysDot"/>
            <a:round/>
            <a:tailEnd len="med" type="triangle" w="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len="med" type="triangle" w="med"/>
            <a:tailEnd len="med" type="triangle" w="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カスタマージャーニーマップ</a:t>
            </a:r>
            <a:endParaRPr b="0" lang="en-US" sz="1200" strike="noStrike" u="non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6" name="テキスト ボックス 33"/>
          <p:cNvSpPr/>
          <p:nvPr/>
        </p:nvSpPr>
        <p:spPr>
          <a:xfrm>
            <a:off x="3542385" y="3931920"/>
            <a:ext cx="6035040" cy="731520"/>
          </a:xfrm>
          <a:prstGeom prst="rect">
            <a:avLst/>
          </a:prstGeom>
          <a:solidFill>
            <a:srgbClr val="FFFFFF"/>
          </a:solidFill>
          <a:ln w="12700">
            <a:solidFill>
              <a:srgbClr val="A6A6A6"/>
            </a:solidFill>
            <a:prstDash val="dash"/>
          </a:ln>
        </p:spPr>
        <p:style>
          <a:lnRef idx="0"/>
          <a:fillRef idx="0"/>
          <a:effectRef idx="0"/>
          <a:fontRef idx="minor"/>
        </p:style>
        <p:txBody>
          <a:bodyPr lIns="90000" rIns="90000" tIns="45000" bIns="45000" anchor="ctr">
            <a:noAutofit/>
          </a:bodyPr>
          <a:p>
            <a:pPr algn="ctr" defTabSz="914400">
              <a:lnSpc>
                <a:spcPct val="100000"/>
              </a:lnSpc>
            </a:pPr>
            <a:r>
              <a:rPr b="1" lang="ja-JP" sz="1400" strike="noStrike" u="none">
                <a:solidFill>
                  <a:srgbClr val="595959"/>
                </a:solidFill>
                <a:effectLst/>
                <a:uFillTx/>
                <a:latin typeface="メイリオ"/>
                <a:ea typeface="メイリオ"/>
              </a:rPr>
              <a:t>あらうち様による個別対応（参考・計測対象外）</a:t>
            </a:r>
            <a:endParaRPr b="0" lang="en-US" sz="1400" strike="noStrike" u="none">
              <a:solidFill>
                <a:srgbClr val="595959"/>
              </a:solidFill>
              <a:effectLst/>
              <a:uFillTx/>
              <a:latin typeface="Arial"/>
            </a:endParaRPr>
          </a:p>
          <a:p>
            <a:pPr algn="ctr" defTabSz="914400">
              <a:lnSpc>
                <a:spcPct val="100000"/>
              </a:lnSpc>
            </a:pPr>
            <a:r>
              <a:rPr b="0" lang="ja-JP" sz="1200" strike="noStrike" u="none">
                <a:solidFill>
                  <a:srgbClr val="595959"/>
                </a:solidFill>
                <a:effectLst/>
                <a:uFillTx/>
                <a:latin typeface="メイリオ"/>
                <a:ea typeface="メイリオ"/>
              </a:rPr>
              <a:t>空室確認・内見の手配／お申込み／ご契約／鍵のお渡し・お引っ越し など</a:t>
            </a:r>
            <a:endParaRPr b="0" lang="en-US" sz="1200" strike="noStrike" u="none">
              <a:solidFill>
                <a:srgbClr val="595959"/>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200" strike="noStrike" u="none">
                <a:solidFill>
                  <a:schemeClr val="dk1"/>
                </a:solidFill>
                <a:effectLst/>
                <a:uFillTx/>
                <a:latin typeface="メイリオ"/>
                <a:ea typeface="メイリオ"/>
              </a:rPr>
              <a:t>&lt;</a:t>
            </a:r>
            <a:r>
              <a:rPr b="0" lang="ja-JP" sz="1200" strike="noStrike" u="none">
                <a:solidFill>
                  <a:schemeClr val="dk1"/>
                </a:solidFill>
                <a:effectLst/>
                <a:uFillTx/>
                <a:latin typeface="メイリオ"/>
                <a:ea typeface="メイリオ"/>
              </a:rPr>
              <a:t>貴社のユーザー動線イメージ</a:t>
            </a:r>
            <a:r>
              <a:rPr b="0" lang="en-US" sz="1200" strike="noStrike" u="none">
                <a:solidFill>
                  <a:schemeClr val="dk1"/>
                </a:solidFill>
                <a:effectLst/>
                <a:uFillTx/>
                <a:latin typeface="メイリオ"/>
                <a:ea typeface="メイリオ"/>
              </a:rPr>
              <a:t>&gt;</a:t>
            </a:r>
            <a:endParaRPr b="0" lang="en-US" sz="1200" strike="noStrike" u="non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①ポータルで物件検索</a:t>
            </a:r>
            <a:endParaRPr b="0" lang="en-US" sz="1300" strike="noStrike" u="non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②100</a:t>
            </a:r>
            <a:r>
              <a:rPr b="1" lang="ja-JP" sz="1300" strike="noStrike" u="none">
                <a:solidFill>
                  <a:schemeClr val="dk1"/>
                </a:solidFill>
                <a:effectLst/>
                <a:uFillTx/>
                <a:latin typeface="メイリオ"/>
                <a:ea typeface="メイリオ"/>
              </a:rPr>
              <a:t>円賃貸のサイト</a:t>
            </a:r>
            <a:endParaRPr b="0" lang="en-US" sz="1300" strike="noStrike" u="non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③LINE</a:t>
            </a:r>
            <a:r>
              <a:rPr b="1" lang="ja-JP" sz="1300" strike="noStrike" u="none">
                <a:solidFill>
                  <a:schemeClr val="dk1"/>
                </a:solidFill>
                <a:effectLst/>
                <a:uFillTx/>
                <a:latin typeface="メイリオ"/>
                <a:ea typeface="メイリオ"/>
              </a:rPr>
              <a:t>で友だち追加</a:t>
            </a:r>
            <a:endParaRPr b="0" lang="en-US" sz="1300" strike="noStrike" u="non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rgbClr val="C00000"/>
          </a:solidFill>
          <a:ln w="0">
            <a:noFill/>
          </a:ln>
        </p:spPr>
        <p:style>
          <a:lnRef idx="0"/>
          <a:fillRef idx="0"/>
          <a:effectRef idx="0"/>
          <a:fontRef idx="minor"/>
        </p:style>
        <p:txBody>
          <a:bodyPr lIns="0" rIns="0" tIns="45000" bIns="45000" anchor="ctr">
            <a:noAutofit/>
          </a:bodyPr>
          <a:p>
            <a:pPr algn="ctr" defTabSz="914400">
              <a:lnSpc>
                <a:spcPct val="100000"/>
              </a:lnSpc>
            </a:pPr>
            <a:r>
              <a:rPr b="1" lang="en-US" sz="1200" strike="noStrike" u="none">
                <a:solidFill>
                  <a:srgbClr val="FFFFFF"/>
                </a:solidFill>
                <a:effectLst/>
                <a:uFillTx/>
                <a:latin typeface="メイリオ"/>
                <a:ea typeface="メイリオ"/>
              </a:rPr>
              <a:t>④物件情報の送信（CV）</a:t>
            </a:r>
            <a:endParaRPr b="0" lang="en-US" sz="1200" strike="noStrike" u="none">
              <a:solidFill>
                <a:srgbClr val="FFFFFF"/>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len="med" type="triangle" w="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fillRef idx="0"/>
          <a:effectRef idx="0"/>
          <a:fontRef idx="minor"/>
        </p:style>
        <p:txBody>
          <a:bodyPr lIns="18360" rIns="18360" tIns="45000" bIns="45000" anchor="ctr">
            <a:noAutofit/>
          </a:bodyPr>
          <a:p>
            <a:pPr algn="ctr" defTabSz="914400">
              <a:lnSpc>
                <a:spcPct val="100000"/>
              </a:lnSpc>
            </a:pPr>
            <a:r>
              <a:rPr b="0" lang="en-US" sz="1100" strike="noStrike" u="none">
                <a:solidFill>
                  <a:srgbClr val="1f285a"/>
                </a:solidFill>
                <a:effectLst/>
                <a:uFillTx/>
                <a:latin typeface="メイリオ"/>
                <a:ea typeface="メイリオ"/>
              </a:rPr>
              <a:t>LINE</a:t>
            </a:r>
            <a:endParaRPr b="0" lang="en-US" sz="1100" strike="noStrike" u="non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len="med" type="triangle" w="med"/>
          </a:ln>
        </p:spPr>
      </p:cxnSp>
      <p:sp>
        <p:nvSpPr>
          <p:cNvPr id="117" name="テキスト ボックス 30"/>
          <p:cNvSpPr/>
          <p:nvPr/>
        </p:nvSpPr>
        <p:spPr>
          <a:xfrm>
            <a:off x="426240" y="599040"/>
            <a:ext cx="9068760" cy="767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ポータルサイトで物件検索 → サイト閲覧 → LINE追加 → 物件情報の送信（CV）の流れで設計します。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最大の改善ポイントは、LINE友だち追加後に物件情報の送信（CV）へつなげる導線の整備です。</a:t>
            </a:r>
            <a:endParaRPr b="0" lang="en-US" sz="1400" strike="noStrike" u="none">
              <a:solidFill>
                <a:srgbClr val="000000"/>
              </a:solidFill>
              <a:effectLst/>
              <a:uFillTx/>
              <a:latin typeface="Arial"/>
            </a:endParaRPr>
          </a:p>
        </p:txBody>
      </p: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fillRef idx="0"/>
          <a:effectRef idx="0"/>
          <a:fontRef idx="minor"/>
        </p:style>
        <p:txBody>
          <a:bodyPr lIns="18360" rIns="18360" tIns="45000" bIns="45000" anchor="ctr">
            <a:noAutofit/>
          </a:bodyPr>
          <a:p>
            <a:pPr algn="ctr" defTabSz="914400">
              <a:lnSpc>
                <a:spcPct val="100000"/>
              </a:lnSpc>
            </a:pPr>
            <a:r>
              <a:rPr b="0" lang="ja-JP" sz="1100" strike="noStrike" u="none">
                <a:solidFill>
                  <a:srgbClr val="1f285a"/>
                </a:solidFill>
                <a:effectLst/>
                <a:uFillTx/>
                <a:latin typeface="メイリオ"/>
                <a:ea typeface="メイリオ"/>
              </a:rPr>
              <a:t>電話</a:t>
            </a:r>
            <a:endParaRPr b="0" lang="en-US" sz="1100" strike="noStrike" u="none">
              <a:solidFill>
                <a:srgbClr val="000000"/>
              </a:solidFill>
              <a:effectLst/>
              <a:uFillTx/>
              <a:latin typeface="Arial"/>
            </a:endParaRPr>
          </a:p>
          <a:p>
            <a:pPr algn="ctr" defTabSz="914400">
              <a:lnSpc>
                <a:spcPct val="100000"/>
              </a:lnSpc>
            </a:pPr>
            <a:r>
              <a:rPr b="0" lang="en-US" sz="1100" strike="noStrike" u="none">
                <a:solidFill>
                  <a:srgbClr val="1f285a"/>
                </a:solidFill>
                <a:effectLst/>
                <a:uFillTx/>
                <a:latin typeface="メイリオ"/>
                <a:ea typeface="メイリオ"/>
              </a:rPr>
              <a:t>WEB</a:t>
            </a:r>
            <a:endParaRPr b="0" lang="en-US" sz="1100" strike="noStrike" u="non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len="med" type="triangle" w="med"/>
          </a:ln>
        </p:spPr>
      </p:cxnSp>
      <p:sp>
        <p:nvSpPr>
          <p:cNvPr id="122" name="最重要課題チップ"/>
          <p:cNvSpPr/>
          <p:nvPr/>
        </p:nvSpPr>
        <p:spPr>
          <a:xfrm>
            <a:off x="5961960" y="1938600"/>
            <a:ext cx="2102760" cy="273960"/>
          </a:xfrm>
          <a:prstGeom prst="rect">
            <a:avLst/>
          </a:prstGeom>
          <a:noFill/>
          <a:ln w="0">
            <a:noFill/>
          </a:ln>
        </p:spPr>
        <p:style>
          <a:lnRef idx="0"/>
          <a:fillRef idx="0"/>
          <a:effectRef idx="0"/>
          <a:fontRef idx="minor"/>
        </p:style>
        <p:txBody>
          <a:bodyPr lIns="36720" rIns="36720" tIns="0" bIns="0" anchor="ctr">
            <a:noAutofit/>
          </a:bodyPr>
          <a:p>
            <a:pPr defTabSz="914400">
              <a:lnSpc>
                <a:spcPct val="100000"/>
              </a:lnSpc>
            </a:pPr>
            <a:r>
              <a:rPr b="1" lang="en-US" sz="1300" strike="noStrike" u="none">
                <a:solidFill>
                  <a:srgbClr val="c00000"/>
                </a:solidFill>
                <a:effectLst/>
                <a:uFillTx/>
                <a:latin typeface="メイリオ"/>
                <a:ea typeface="メイリオ"/>
              </a:rPr>
              <a:t>◀ 最重要課題（仮説）</a:t>
            </a:r>
            <a:endParaRPr b="0" lang="en-US" sz="1300" strike="noStrike" u="none">
              <a:solidFill>
                <a:srgbClr val="000000"/>
              </a:solidFill>
              <a:effectLst/>
              <a:uFillTx/>
              <a:latin typeface="Arial"/>
            </a:endParaRPr>
          </a:p>
        </p:txBody>
      </p: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fillRef idx="0"/>
          <a:effectRef idx="0"/>
          <a:fontRef idx="minor"/>
        </p:style>
        <p:txBody>
          <a:bodyPr lIns="73080" rIns="73080" tIns="36720" bIns="36720" anchor="ctr">
            <a:noAutofit/>
          </a:bodyPr>
          <a:p>
            <a:pPr defTabSz="914400">
              <a:lnSpc>
                <a:spcPct val="100000"/>
              </a:lnSpc>
            </a:pPr>
            <a:endParaRPr b="0" lang="en-US" sz="1800" strike="noStrike" u="non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fillRef idx="0"/>
          <a:effectRef idx="0"/>
          <a:fontRef idx="minor"/>
        </p:style>
        <p:txBody>
          <a:bodyPr lIns="18360" rIns="18360" tIns="0" bIns="0" anchor="ctr">
            <a:noAutofit/>
          </a:bodyPr>
          <a:p>
            <a:pPr algn="ctr" defTabSz="914400">
              <a:lnSpc>
                <a:spcPct val="100000"/>
              </a:lnSpc>
            </a:pPr>
            <a:r>
              <a:rPr b="1" lang="en-US" sz="1100" strike="noStrike" u="none">
                <a:solidFill>
                  <a:srgbClr val="ffffff"/>
                </a:solidFill>
                <a:effectLst/>
                <a:uFillTx/>
                <a:latin typeface="メイリオ"/>
                <a:ea typeface="メイリオ"/>
              </a:rPr>
              <a:t>⑤ 最重要課題</a:t>
            </a:r>
            <a:endParaRPr b="0" lang="en-US" sz="1100" strike="noStrike" u="none">
              <a:solidFill>
                <a:srgbClr val="ffffff"/>
              </a:solidFill>
              <a:effectLst/>
              <a:uFillTx/>
              <a:latin typeface="Arial"/>
            </a:endParaRPr>
          </a:p>
        </p:txBody>
      </p:sp>
      <p:sp>
        <p:nvSpPr>
          <p:cNvPr id="125" name="⑥〜⑧の注記"/>
          <p:cNvSpPr/>
          <p:nvPr/>
        </p:nvSpPr>
        <p:spPr>
          <a:xfrm>
            <a:off x="7955279" y="1901952"/>
            <a:ext cx="1810512" cy="512064"/>
          </a:xfrm>
          <a:prstGeom prst="rect">
            <a:avLst/>
          </a:prstGeom>
          <a:noFill/>
          <a:ln>
            <a:noFill/>
          </a:ln>
        </p:spPr>
        <p:txBody>
          <a:bodyPr wrap="square" lIns="18288" tIns="18288" rIns="0" bIns="18288" rtlCol="0" anchor="t">
            <a:noAutofit/>
          </a:bodyPr>
          <a:lstStyle/>
          <a:p>
            <a:pPr algn="l">
              <a:buNone/>
            </a:pPr>
            <a:r>
              <a:rPr lang="ja-JP" altLang="en-US" sz="1100" b="1" dirty="0">
                <a:solidFill>
                  <a:srgbClr val="595959"/>
                </a:solidFill>
                <a:latin typeface="メイリオ" panose="020B0604030504040204" pitchFamily="50" charset="-128"/>
                <a:ea typeface="メイリオ" panose="020B0604030504040204" pitchFamily="50" charset="-128"/>
              </a:rPr>
              <a:t>⑥〜⑧：あらうち様による</a:t>
            </a:r>
            <a:endParaRPr lang="ja-JP" altLang="en-US" sz="1100" dirty="0"/>
          </a:p>
          <a:p>
            <a:pPr algn="l">
              <a:buNone/>
            </a:pPr>
            <a:r>
              <a:rPr lang="ja-JP" altLang="en-US" sz="1100" b="1" dirty="0">
                <a:solidFill>
                  <a:srgbClr val="595959"/>
                </a:solidFill>
                <a:latin typeface="メイリオ" panose="020B0604030504040204" pitchFamily="50" charset="-128"/>
                <a:ea typeface="メイリオ" panose="020B0604030504040204" pitchFamily="50" charset="-128"/>
              </a:rPr>
              <a:t>個別対応（参考）</a:t>
            </a:r>
            <a:endParaRPr lang="ja-JP" altLang="en-US" sz="1100" dirty="0"/>
          </a:p>
        </p:txBody>
      </p:sp>
      <p:sp>
        <p:nvSpPr>
          <p:cNvPr id="126" name="CVの注記"/>
          <p:cNvSpPr/>
          <p:nvPr/>
        </p:nvSpPr>
        <p:spPr>
          <a:xfrm>
            <a:off x="3542385" y="5760720"/>
            <a:ext cx="6035040" cy="402336"/>
          </a:xfrm>
          <a:prstGeom prst="rect">
            <a:avLst/>
          </a:prstGeom>
          <a:noFill/>
          <a:ln>
            <a:noFill/>
          </a:ln>
        </p:spPr>
        <p:txBody>
          <a:bodyPr wrap="square" lIns="36576" tIns="18288" rIns="36576" bIns="18288" rtlCol="0" anchor="ctr">
            <a:noAutofit/>
          </a:bodyPr>
          <a:lstStyle/>
          <a:p>
            <a:pPr algn="l">
              <a:buNone/>
            </a:pPr>
            <a:r>
              <a:rPr lang="ja-JP" altLang="en-US" sz="1300" b="1" dirty="0">
                <a:solidFill>
                  <a:srgbClr val="C00000"/>
                </a:solidFill>
                <a:latin typeface="メイリオ" panose="020B0604030504040204" pitchFamily="50" charset="-128"/>
                <a:ea typeface="メイリオ" panose="020B0604030504040204" pitchFamily="50" charset="-128"/>
              </a:rPr>
              <a:t>◀ ゴール：当社の計測・評価はここまで</a:t>
            </a:r>
            <a:endParaRPr lang="ja-JP" altLang="en-US" sz="1300" dirty="0"/>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アカウントの現状</a:t>
            </a:r>
            <a:endParaRPr b="0" lang="en-US" sz="1600" strike="noStrike" u="none">
              <a:solidFill>
                <a:srgbClr val="000000"/>
              </a:solidFill>
              <a:effectLst/>
              <a:uFillTx/>
              <a:latin typeface="Arial"/>
            </a:endParaRPr>
          </a:p>
        </p:txBody>
      </p:sp>
      <p:pic>
        <p:nvPicPr>
          <p:cNvPr id="126" name="図 40" descr=""/>
          <p:cNvPicPr/>
          <p:nvPr/>
        </p:nvPicPr>
        <p:blipFill>
          <a:blip r:embed="rId1"/>
          <a:stretch/>
        </p:blipFill>
        <p:spPr>
          <a:xfrm>
            <a:off x="411480" y="1490400"/>
            <a:ext cx="1732320" cy="3519000"/>
          </a:xfrm>
          <a:prstGeom prst="rect">
            <a:avLst/>
          </a:prstGeom>
          <a:noFill/>
          <a:ln w="0">
            <a:noFill/>
          </a:ln>
        </p:spPr>
      </p:pic>
      <p:sp>
        <p:nvSpPr>
          <p:cNvPr id="127" name="テキスト ボックス 45"/>
          <p:cNvSpPr/>
          <p:nvPr/>
        </p:nvSpPr>
        <p:spPr>
          <a:xfrm>
            <a:off x="502200" y="1752120"/>
            <a:ext cx="1543320" cy="2862000"/>
          </a:xfrm>
          <a:prstGeom prst="rect">
            <a:avLst/>
          </a:prstGeom>
          <a:solidFill>
            <a:schemeClr val="bg1"/>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pic>
        <p:nvPicPr>
          <p:cNvPr id="128" name="図 6" descr=""/>
          <p:cNvPicPr/>
          <p:nvPr/>
        </p:nvPicPr>
        <p:blipFill>
          <a:blip r:embed="rId2"/>
          <a:srcRect l="0" t="4916" r="0" b="4368"/>
          <a:stretch/>
        </p:blipFill>
        <p:spPr>
          <a:xfrm>
            <a:off x="510840" y="1734120"/>
            <a:ext cx="1546920" cy="3037320"/>
          </a:xfrm>
          <a:prstGeom prst="rect">
            <a:avLst/>
          </a:prstGeom>
          <a:noFill/>
          <a:ln w="0">
            <a:noFill/>
          </a:ln>
        </p:spPr>
      </p:pic>
      <p:pic>
        <p:nvPicPr>
          <p:cNvPr id="129" name="図 8" descr=""/>
          <p:cNvPicPr/>
          <p:nvPr/>
        </p:nvPicPr>
        <p:blipFill>
          <a:blip r:embed="rId3"/>
          <a:stretch/>
        </p:blipFill>
        <p:spPr>
          <a:xfrm>
            <a:off x="5166360" y="1490400"/>
            <a:ext cx="1614960" cy="3280680"/>
          </a:xfrm>
          <a:prstGeom prst="rect">
            <a:avLst/>
          </a:prstGeom>
          <a:noFill/>
          <a:ln w="0">
            <a:noFill/>
          </a:ln>
        </p:spPr>
      </p:pic>
      <p:pic>
        <p:nvPicPr>
          <p:cNvPr id="130" name="図 10" descr=""/>
          <p:cNvPicPr/>
          <p:nvPr/>
        </p:nvPicPr>
        <p:blipFill>
          <a:blip r:embed="rId4"/>
          <a:stretch/>
        </p:blipFill>
        <p:spPr>
          <a:xfrm>
            <a:off x="2283480" y="1490400"/>
            <a:ext cx="1732320" cy="3519000"/>
          </a:xfrm>
          <a:prstGeom prst="rect">
            <a:avLst/>
          </a:prstGeom>
          <a:noFill/>
          <a:ln w="0">
            <a:noFill/>
          </a:ln>
        </p:spPr>
      </p:pic>
      <p:pic>
        <p:nvPicPr>
          <p:cNvPr id="131" name="図 12" descr=""/>
          <p:cNvPicPr/>
          <p:nvPr/>
        </p:nvPicPr>
        <p:blipFill>
          <a:blip r:embed="rId5"/>
          <a:srcRect l="0" t="5778" r="0" b="2174"/>
          <a:stretch/>
        </p:blipFill>
        <p:spPr>
          <a:xfrm>
            <a:off x="5265360"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あいさつで「気になる物件名」と「物件ページの</a:t>
            </a:r>
            <a:r>
              <a:rPr b="0" lang="en-US" sz="1300" strike="noStrike" u="none">
                <a:solidFill>
                  <a:schemeClr val="dk1">
                    <a:lumMod val="65000"/>
                    <a:lumOff val="35000"/>
                  </a:schemeClr>
                </a:solidFill>
                <a:effectLst/>
                <a:uFillTx/>
                <a:latin typeface="メイリオ"/>
                <a:ea typeface="メイリオ"/>
              </a:rPr>
              <a:t>URL</a:t>
            </a:r>
            <a:r>
              <a:rPr b="0" lang="ja-JP" sz="1300" strike="noStrike" u="none">
                <a:solidFill>
                  <a:schemeClr val="dk1">
                    <a:lumMod val="65000"/>
                    <a:lumOff val="35000"/>
                  </a:schemeClr>
                </a:solidFill>
                <a:effectLst/>
                <a:uFillTx/>
                <a:latin typeface="メイリオ"/>
                <a:ea typeface="メイリオ"/>
              </a:rPr>
              <a:t>」の</a:t>
            </a:r>
            <a:endParaRPr b="0" lang="en-US" sz="1300" strike="noStrike" u="none">
              <a:solidFill>
                <a:srgbClr val="000000"/>
              </a:solidFill>
              <a:effectLst/>
              <a:uFillTx/>
              <a:latin typeface="Arial"/>
            </a:endParaRPr>
          </a:p>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送信をお願いし、やり取りが始まる形。</a:t>
            </a:r>
            <a:endParaRPr b="0" lang="en-US" sz="1300" strike="noStrike" u="non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プロフィールにサイト・紹介動画へのリンクを掲載。</a:t>
            </a:r>
            <a:endParaRPr b="0" lang="en-US" sz="1300" strike="noStrike" u="none">
              <a:solidFill>
                <a:srgbClr val="000000"/>
              </a:solidFill>
              <a:effectLst/>
              <a:uFillTx/>
              <a:latin typeface="Arial"/>
            </a:endParaRPr>
          </a:p>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リッチメニューは未設置で、</a:t>
            </a:r>
            <a:br>
              <a:rPr sz="1300"/>
            </a:br>
            <a:r>
              <a:rPr b="0" lang="ja-JP" sz="1300" strike="noStrike" u="none">
                <a:solidFill>
                  <a:schemeClr val="dk1">
                    <a:lumMod val="65000"/>
                    <a:lumOff val="35000"/>
                  </a:schemeClr>
                </a:solidFill>
                <a:effectLst/>
                <a:uFillTx/>
                <a:latin typeface="メイリオ"/>
                <a:ea typeface="メイリオ"/>
              </a:rPr>
              <a:t>友だち追加後に次へ進む導線がない。</a:t>
            </a:r>
            <a:endParaRPr b="0" lang="en-US" sz="1300" strike="noStrike" u="none">
              <a:solidFill>
                <a:srgbClr val="000000"/>
              </a:solidFill>
              <a:effectLst/>
              <a:uFillTx/>
              <a:latin typeface="Arial"/>
            </a:endParaRPr>
          </a:p>
        </p:txBody>
      </p:sp>
      <p:pic>
        <p:nvPicPr>
          <p:cNvPr id="134" name="図 20" descr=""/>
          <p:cNvPicPr/>
          <p:nvPr/>
        </p:nvPicPr>
        <p:blipFill>
          <a:blip r:embed="rId6"/>
          <a:srcRect l="0" t="4508" r="0" b="3456"/>
          <a:stretch/>
        </p:blipFill>
        <p:spPr>
          <a:xfrm>
            <a:off x="2376360"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あいさつの後にマンガ・動画を送り、</a:t>
            </a:r>
            <a:br>
              <a:rPr sz="1300"/>
            </a:br>
            <a:r>
              <a:rPr b="0" lang="ja-JP" sz="1300" strike="noStrike" u="none">
                <a:solidFill>
                  <a:schemeClr val="dk1">
                    <a:lumMod val="65000"/>
                    <a:lumOff val="35000"/>
                  </a:schemeClr>
                </a:solidFill>
                <a:effectLst/>
                <a:uFillTx/>
                <a:latin typeface="メイリオ"/>
                <a:ea typeface="メイリオ"/>
              </a:rPr>
              <a:t>サービスの理解を促している。</a:t>
            </a:r>
            <a:endParaRPr b="0" lang="en-US" sz="1300" strike="noStrike" u="non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あいさつで物件名・</a:t>
            </a:r>
            <a:r>
              <a:rPr b="0" lang="en-US" sz="1400" strike="noStrike" u="none">
                <a:solidFill>
                  <a:schemeClr val="dk1">
                    <a:lumMod val="65000"/>
                    <a:lumOff val="35000"/>
                  </a:schemeClr>
                </a:solidFill>
                <a:effectLst/>
                <a:uFillTx/>
                <a:latin typeface="メイリオ"/>
                <a:ea typeface="メイリオ"/>
              </a:rPr>
              <a:t>URL</a:t>
            </a:r>
            <a:r>
              <a:rPr b="0" lang="ja-JP" sz="1400" strike="noStrike" u="none">
                <a:solidFill>
                  <a:schemeClr val="dk1">
                    <a:lumMod val="65000"/>
                    <a:lumOff val="35000"/>
                  </a:schemeClr>
                </a:solidFill>
                <a:effectLst/>
                <a:uFillTx/>
                <a:latin typeface="メイリオ"/>
                <a:ea typeface="メイリオ"/>
              </a:rPr>
              <a:t>の送信をお願いする形は、</a:t>
            </a:r>
            <a:r>
              <a:rPr b="0" lang="en-US" sz="1400" strike="noStrike" u="none">
                <a:solidFill>
                  <a:schemeClr val="dk1">
                    <a:lumMod val="65000"/>
                    <a:lumOff val="35000"/>
                  </a:schemeClr>
                </a:solidFill>
                <a:effectLst/>
                <a:uFillTx/>
                <a:latin typeface="メイリオ"/>
                <a:ea typeface="メイリオ"/>
              </a:rPr>
              <a:t>100</a:t>
            </a:r>
            <a:r>
              <a:rPr b="0" lang="ja-JP" sz="1400" strike="noStrike" u="none">
                <a:solidFill>
                  <a:schemeClr val="dk1">
                    <a:lumMod val="65000"/>
                    <a:lumOff val="35000"/>
                  </a:schemeClr>
                </a:solidFill>
                <a:effectLst/>
                <a:uFillTx/>
                <a:latin typeface="メイリオ"/>
                <a:ea typeface="メイリオ"/>
              </a:rPr>
              <a:t>円賃貸の使い方に合っています。</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一方で、</a:t>
            </a:r>
            <a:r>
              <a:rPr b="1" lang="ja-JP" sz="1400" strike="noStrike" u="none">
                <a:solidFill>
                  <a:schemeClr val="dk1">
                    <a:lumMod val="65000"/>
                    <a:lumOff val="35000"/>
                  </a:schemeClr>
                </a:solidFill>
                <a:effectLst/>
                <a:uFillTx/>
                <a:latin typeface="メイリオ"/>
                <a:ea typeface="メイリオ"/>
              </a:rPr>
              <a:t>あいさつに送るメリット・安心材料やボタンがなく、リッチメニューも未設置</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市場分析</a:t>
            </a:r>
            <a:endParaRPr b="0" lang="en-US" sz="1600" strike="noStrike" u="none">
              <a:solidFill>
                <a:srgbClr val="000000"/>
              </a:solidFill>
              <a:effectLst/>
              <a:uFillTx/>
              <a:latin typeface="Arial"/>
            </a:endParaRPr>
          </a:p>
        </p:txBody>
      </p:sp>
      <p:sp>
        <p:nvSpPr>
          <p:cNvPr id="139"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物件はポータルサイトで自分で探し、問い合わせ先は別に選ぶ流れが主流</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
        <p:nvSpPr>
          <p:cNvPr id="143" name="Card1_Num"/>
          <p:cNvSpPr/>
          <p:nvPr/>
        </p:nvSpPr>
        <p:spPr>
          <a:xfrm>
            <a:off x="380880" y="1481400"/>
            <a:ext cx="2920680" cy="51156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144" name="Card1_Title"/>
          <p:cNvSpPr/>
          <p:nvPr/>
        </p:nvSpPr>
        <p:spPr>
          <a:xfrm>
            <a:off x="380880" y="1993320"/>
            <a:ext cx="2920680" cy="45684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家賃の上昇（市場背景）</a:t>
            </a:r>
            <a:endParaRPr b="0" lang="en-US" sz="1400" strike="noStrike" u="none">
              <a:solidFill>
                <a:srgbClr val="000000"/>
              </a:solidFill>
              <a:effectLst/>
              <a:uFillTx/>
              <a:latin typeface="Arial"/>
            </a:endParaRPr>
          </a:p>
        </p:txBody>
      </p:sp>
      <p:sp>
        <p:nvSpPr>
          <p:cNvPr id="145" name="Card1_Body"/>
          <p:cNvSpPr/>
          <p:nvPr/>
        </p:nvSpPr>
        <p:spPr>
          <a:xfrm>
            <a:off x="38088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spcAft>
                <a:spcPts val="601"/>
              </a:spcAft>
            </a:pPr>
            <a:r>
              <a:rPr b="1" lang="ja-JP" sz="1400" strike="noStrike" u="none">
                <a:solidFill>
                  <a:srgbClr val="333333"/>
                </a:solidFill>
                <a:effectLst/>
                <a:uFillTx/>
                <a:latin typeface="Calibri"/>
              </a:rPr>
              <a:t>【市場データ】</a:t>
            </a:r>
            <a:r>
              <a:rPr b="0" lang="ja-JP" sz="1400" strike="noStrike" u="none">
                <a:solidFill>
                  <a:srgbClr val="333333"/>
                </a:solidFill>
                <a:effectLst/>
                <a:uFillTx/>
                <a:latin typeface="Calibri"/>
              </a:rPr>
              <a:t>東京</a:t>
            </a:r>
            <a:r>
              <a:rPr b="0" lang="en-US" sz="1400" strike="noStrike" u="none">
                <a:solidFill>
                  <a:srgbClr val="333333"/>
                </a:solidFill>
                <a:effectLst/>
                <a:uFillTx/>
                <a:latin typeface="Calibri"/>
              </a:rPr>
              <a:t>23</a:t>
            </a:r>
            <a:r>
              <a:rPr b="0" lang="ja-JP" sz="1400" strike="noStrike" u="none">
                <a:solidFill>
                  <a:srgbClr val="333333"/>
                </a:solidFill>
                <a:effectLst/>
                <a:uFillTx/>
                <a:latin typeface="Calibri"/>
              </a:rPr>
              <a:t>区のシングル向き（</a:t>
            </a:r>
            <a:r>
              <a:rPr b="0" lang="en-US" sz="1400" strike="noStrike" u="none">
                <a:solidFill>
                  <a:srgbClr val="333333"/>
                </a:solidFill>
                <a:effectLst/>
                <a:uFillTx/>
                <a:latin typeface="Calibri"/>
              </a:rPr>
              <a:t>30</a:t>
            </a:r>
            <a:r>
              <a:rPr b="0" lang="ja-JP" sz="1400" strike="noStrike" u="none">
                <a:solidFill>
                  <a:srgbClr val="333333"/>
                </a:solidFill>
                <a:effectLst/>
                <a:uFillTx/>
                <a:latin typeface="Calibri"/>
              </a:rPr>
              <a:t>㎡以下）マンションの平均家賃は、</a:t>
            </a:r>
            <a:r>
              <a:rPr b="0" lang="en-US" sz="1400" strike="noStrike" u="none">
                <a:solidFill>
                  <a:srgbClr val="333333"/>
                </a:solidFill>
                <a:effectLst/>
                <a:uFillTx/>
                <a:latin typeface="Calibri"/>
              </a:rPr>
              <a:t>2025</a:t>
            </a:r>
            <a:r>
              <a:rPr b="0" lang="ja-JP" sz="1400" strike="noStrike" u="none">
                <a:solidFill>
                  <a:srgbClr val="333333"/>
                </a:solidFill>
                <a:effectLst/>
                <a:uFillTx/>
                <a:latin typeface="Calibri"/>
              </a:rPr>
              <a:t>年</a:t>
            </a:r>
            <a:r>
              <a:rPr b="0" lang="en-US" sz="1400" strike="noStrike" u="none">
                <a:solidFill>
                  <a:srgbClr val="333333"/>
                </a:solidFill>
                <a:effectLst/>
                <a:uFillTx/>
                <a:latin typeface="Calibri"/>
              </a:rPr>
              <a:t>5</a:t>
            </a:r>
            <a:r>
              <a:rPr b="0" lang="ja-JP" sz="1400" strike="noStrike" u="none">
                <a:solidFill>
                  <a:srgbClr val="333333"/>
                </a:solidFill>
                <a:effectLst/>
                <a:uFillTx/>
                <a:latin typeface="Calibri"/>
              </a:rPr>
              <a:t>月に初めて</a:t>
            </a:r>
            <a:r>
              <a:rPr b="0" lang="en-US" sz="1400" strike="noStrike" u="none">
                <a:solidFill>
                  <a:srgbClr val="333333"/>
                </a:solidFill>
                <a:effectLst/>
                <a:uFillTx/>
                <a:latin typeface="Calibri"/>
              </a:rPr>
              <a:t>10</a:t>
            </a:r>
            <a:r>
              <a:rPr b="0" lang="ja-JP" sz="1400" strike="noStrike" u="none">
                <a:solidFill>
                  <a:srgbClr val="333333"/>
                </a:solidFill>
                <a:effectLst/>
                <a:uFillTx/>
                <a:latin typeface="Calibri"/>
              </a:rPr>
              <a:t>万円を超えた</a:t>
            </a:r>
            <a:endParaRPr b="0" lang="en-US" sz="1400" strike="noStrike" u="none">
              <a:solidFill>
                <a:srgbClr val="000000"/>
              </a:solidFill>
              <a:effectLst/>
              <a:uFillTx/>
              <a:latin typeface="Arial"/>
            </a:endParaRPr>
          </a:p>
          <a:p>
            <a:pPr defTabSz="914400">
              <a:lnSpc>
                <a:spcPct val="100000"/>
              </a:lnSpc>
              <a:spcBef>
                <a:spcPts val="201"/>
              </a:spcBef>
              <a:spcAft>
                <a:spcPts val="601"/>
              </a:spcAft>
            </a:pPr>
            <a:r>
              <a:rPr b="1" lang="ja-JP" sz="1400" strike="noStrike" u="none">
                <a:solidFill>
                  <a:srgbClr val="333333"/>
                </a:solidFill>
                <a:effectLst/>
                <a:uFillTx/>
                <a:latin typeface="Calibri"/>
              </a:rPr>
              <a:t>【提案上の仮説】</a:t>
            </a:r>
            <a:r>
              <a:rPr b="0" lang="ja-JP" sz="1400" strike="noStrike" u="none">
                <a:solidFill>
                  <a:srgbClr val="333333"/>
                </a:solidFill>
                <a:effectLst/>
                <a:uFillTx/>
                <a:latin typeface="Calibri"/>
              </a:rPr>
              <a:t>家賃の上昇で、仲介手数料・初期費用への負担感が高まると考えられる</a:t>
            </a:r>
            <a:endParaRPr b="0" lang="en-US" sz="1400" strike="noStrike" u="none">
              <a:solidFill>
                <a:srgbClr val="000000"/>
              </a:solidFill>
              <a:effectLst/>
              <a:uFillTx/>
              <a:latin typeface="Arial"/>
            </a:endParaRPr>
          </a:p>
        </p:txBody>
      </p:sp>
      <p:sp>
        <p:nvSpPr>
          <p:cNvPr id="146" name="Card2_Num"/>
          <p:cNvSpPr/>
          <p:nvPr/>
        </p:nvSpPr>
        <p:spPr>
          <a:xfrm>
            <a:off x="3492360" y="1481400"/>
            <a:ext cx="2920680" cy="51156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147" name="Card2_Title"/>
          <p:cNvSpPr/>
          <p:nvPr/>
        </p:nvSpPr>
        <p:spPr>
          <a:xfrm>
            <a:off x="3492360" y="1993320"/>
            <a:ext cx="2920680" cy="45684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物件はポータルサイトで探す</a:t>
            </a:r>
            <a:endParaRPr b="0" lang="en-US" sz="1400" strike="noStrike" u="none">
              <a:solidFill>
                <a:srgbClr val="000000"/>
              </a:solidFill>
              <a:effectLst/>
              <a:uFillTx/>
              <a:latin typeface="Arial"/>
            </a:endParaRPr>
          </a:p>
        </p:txBody>
      </p:sp>
      <p:sp>
        <p:nvSpPr>
          <p:cNvPr id="148" name="Card2_Body"/>
          <p:cNvSpPr/>
          <p:nvPr/>
        </p:nvSpPr>
        <p:spPr>
          <a:xfrm>
            <a:off x="349236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・住まいの探し方は「不動産ポータルサイトで検索」がトップ（引越し経験者</a:t>
            </a:r>
            <a:r>
              <a:rPr b="0" lang="en-US" sz="1400" strike="noStrike" u="none">
                <a:solidFill>
                  <a:srgbClr val="333333"/>
                </a:solidFill>
                <a:effectLst/>
                <a:uFillTx/>
                <a:latin typeface="Calibri"/>
              </a:rPr>
              <a:t>66.8</a:t>
            </a:r>
            <a:r>
              <a:rPr b="0" lang="ja-JP" sz="1400" strike="noStrike" u="none">
                <a:solidFill>
                  <a:srgbClr val="333333"/>
                </a:solidFill>
                <a:effectLst/>
                <a:uFillTx/>
                <a:latin typeface="Calibri"/>
              </a:rPr>
              <a:t>％・検討者</a:t>
            </a:r>
            <a:r>
              <a:rPr b="0" lang="en-US" sz="1400" strike="noStrike" u="none">
                <a:solidFill>
                  <a:srgbClr val="333333"/>
                </a:solidFill>
                <a:effectLst/>
                <a:uFillTx/>
                <a:latin typeface="Calibri"/>
              </a:rPr>
              <a:t>73.2</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49" name="Card3_Num"/>
          <p:cNvSpPr/>
          <p:nvPr/>
        </p:nvSpPr>
        <p:spPr>
          <a:xfrm>
            <a:off x="6603840" y="1481400"/>
            <a:ext cx="2920680" cy="51156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150"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chemeClr val="dk1">
                    <a:lumMod val="65000"/>
                    <a:lumOff val="35000"/>
                  </a:schemeClr>
                </a:solidFill>
                <a:effectLst/>
                <a:uFillTx/>
                <a:latin typeface="Calibri"/>
              </a:rPr>
              <a:t>問い合わせ先は物件数で選ぶ</a:t>
            </a:r>
            <a:endParaRPr b="0" lang="en-US" sz="1400" strike="noStrike" u="none">
              <a:solidFill>
                <a:srgbClr val="000000"/>
              </a:solidFill>
              <a:effectLst/>
              <a:uFillTx/>
              <a:latin typeface="Arial"/>
            </a:endParaRPr>
          </a:p>
        </p:txBody>
      </p:sp>
      <p:sp>
        <p:nvSpPr>
          <p:cNvPr id="151" name="Card3_Body"/>
          <p:cNvSpPr/>
          <p:nvPr/>
        </p:nvSpPr>
        <p:spPr>
          <a:xfrm>
            <a:off x="660384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spcAft>
                <a:spcPts val="601"/>
              </a:spcAft>
            </a:pPr>
            <a:r>
              <a:rPr b="0" lang="ja-JP" sz="1400" strike="noStrike" u="none">
                <a:solidFill>
                  <a:srgbClr val="333333"/>
                </a:solidFill>
                <a:effectLst/>
                <a:uFillTx/>
                <a:latin typeface="Calibri"/>
              </a:rPr>
              <a:t>・問い合わせる不動産会社を選ぶ基準は「取り扱っている物件数が多い」が</a:t>
            </a:r>
            <a:r>
              <a:rPr b="0" lang="en-US" sz="1400" strike="noStrike" u="none">
                <a:solidFill>
                  <a:srgbClr val="333333"/>
                </a:solidFill>
                <a:effectLst/>
                <a:uFillTx/>
                <a:latin typeface="Calibri"/>
              </a:rPr>
              <a:t>1</a:t>
            </a:r>
            <a:r>
              <a:rPr b="0" lang="ja-JP" sz="1400" strike="noStrike" u="none">
                <a:solidFill>
                  <a:srgbClr val="333333"/>
                </a:solidFill>
                <a:effectLst/>
                <a:uFillTx/>
                <a:latin typeface="Calibri"/>
              </a:rPr>
              <a:t>位（経験者</a:t>
            </a:r>
            <a:r>
              <a:rPr b="0" lang="en-US" sz="1400" strike="noStrike" u="none">
                <a:solidFill>
                  <a:srgbClr val="333333"/>
                </a:solidFill>
                <a:effectLst/>
                <a:uFillTx/>
                <a:latin typeface="Calibri"/>
              </a:rPr>
              <a:t>26.6</a:t>
            </a:r>
            <a:r>
              <a:rPr b="0" lang="ja-JP" sz="1400" strike="noStrike" u="none">
                <a:solidFill>
                  <a:srgbClr val="333333"/>
                </a:solidFill>
                <a:effectLst/>
                <a:uFillTx/>
                <a:latin typeface="Calibri"/>
              </a:rPr>
              <a:t>％・検討者</a:t>
            </a:r>
            <a:r>
              <a:rPr b="0" lang="en-US" sz="1400" strike="noStrike" u="none">
                <a:solidFill>
                  <a:srgbClr val="333333"/>
                </a:solidFill>
                <a:effectLst/>
                <a:uFillTx/>
                <a:latin typeface="Calibri"/>
              </a:rPr>
              <a:t>47.7</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a:p>
            <a:pPr defTabSz="914400">
              <a:lnSpc>
                <a:spcPct val="100000"/>
              </a:lnSpc>
              <a:spcBef>
                <a:spcPts val="201"/>
              </a:spcBef>
              <a:spcAft>
                <a:spcPts val="601"/>
              </a:spcAft>
            </a:pP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円賃貸は、お客様が見つけた物件の仲介に対応し、仲介手数料を抑えられる（</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円賃貸が対応できる物件に限ります）</a:t>
            </a:r>
            <a:endParaRPr b="0" lang="en-US" sz="1400" strike="noStrike" u="none">
              <a:solidFill>
                <a:srgbClr val="000000"/>
              </a:solidFill>
              <a:effectLst/>
              <a:uFillTx/>
              <a:latin typeface="Arial"/>
            </a:endParaRPr>
          </a:p>
        </p:txBody>
      </p:sp>
      <p:sp>
        <p:nvSpPr>
          <p:cNvPr id="152" name="Conclusion"/>
          <p:cNvSpPr/>
          <p:nvPr/>
        </p:nvSpPr>
        <p:spPr>
          <a:xfrm>
            <a:off x="380880" y="5266800"/>
            <a:ext cx="9143640" cy="117000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spcAft>
                <a:spcPts val="300"/>
              </a:spcAft>
            </a:pPr>
            <a:r>
              <a:rPr b="1" lang="ja-JP" sz="1100" strike="noStrike" u="none">
                <a:solidFill>
                  <a:srgbClr val="1f285a"/>
                </a:solidFill>
                <a:effectLst/>
                <a:uFillTx/>
                <a:latin typeface="メイリオ"/>
                <a:ea typeface="メイリオ"/>
              </a:rPr>
              <a:t>出典</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1"/>
              </a:rPr>
              <a:t>アットホーム「2025年の賃貸市場における4大ニュース」</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2"/>
              </a:rPr>
              <a:t>アットホーム「オンラインでの住まい探しに関する調査 2025 賃貸編」</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en-US" sz="1100" strike="noStrike" u="sng">
                <a:solidFill>
                  <a:srgbClr val="0000ff"/>
                </a:solidFill>
                <a:effectLst/>
                <a:uFillTx/>
                <a:latin typeface="メイリオ"/>
                <a:ea typeface="メイリオ"/>
                <a:hlinkClick r:id="rId3"/>
              </a:rPr>
              <a:t>100円賃貸 公式サイト</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市場分析</a:t>
            </a:r>
            <a:endParaRPr b="0" lang="en-US" sz="1600" strike="noStrike" u="none">
              <a:solidFill>
                <a:srgbClr val="000000"/>
              </a:solidFill>
              <a:effectLst/>
              <a:uFillTx/>
              <a:latin typeface="Arial"/>
            </a:endParaRPr>
          </a:p>
        </p:txBody>
      </p:sp>
      <p:sp>
        <p:nvSpPr>
          <p:cNvPr id="154"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5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15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57"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内見予約のやり取りは、電話よりメール・</a:t>
            </a:r>
            <a:r>
              <a:rPr b="0" lang="en-US" sz="1400" strike="noStrike" u="none">
                <a:solidFill>
                  <a:schemeClr val="dk1">
                    <a:lumMod val="65000"/>
                    <a:lumOff val="35000"/>
                  </a:schemeClr>
                </a:solidFill>
                <a:effectLst/>
                <a:uFillTx/>
                <a:latin typeface="メイリオ"/>
                <a:ea typeface="メイリオ"/>
              </a:rPr>
              <a:t>SMS</a:t>
            </a:r>
            <a:r>
              <a:rPr b="0" lang="ja-JP" sz="1400" strike="noStrike" u="none">
                <a:solidFill>
                  <a:schemeClr val="dk1">
                    <a:lumMod val="65000"/>
                    <a:lumOff val="35000"/>
                  </a:schemeClr>
                </a:solidFill>
                <a:effectLst/>
                <a:uFillTx/>
                <a:latin typeface="メイリオ"/>
                <a:ea typeface="メイリオ"/>
              </a:rPr>
              <a:t>を希望する方が多くいます。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物件の</a:t>
            </a:r>
            <a:r>
              <a:rPr b="1" lang="en-US" sz="1400" strike="noStrike" u="none">
                <a:solidFill>
                  <a:schemeClr val="dk1">
                    <a:lumMod val="65000"/>
                    <a:lumOff val="35000"/>
                  </a:schemeClr>
                </a:solidFill>
                <a:effectLst/>
                <a:uFillTx/>
                <a:latin typeface="メイリオ"/>
                <a:ea typeface="メイリオ"/>
              </a:rPr>
              <a:t>URL</a:t>
            </a:r>
            <a:r>
              <a:rPr b="1" lang="ja-JP" sz="1400" strike="noStrike" u="none">
                <a:solidFill>
                  <a:schemeClr val="dk1">
                    <a:lumMod val="65000"/>
                    <a:lumOff val="35000"/>
                  </a:schemeClr>
                </a:solidFill>
                <a:effectLst/>
                <a:uFillTx/>
                <a:latin typeface="メイリオ"/>
                <a:ea typeface="メイリオ"/>
              </a:rPr>
              <a:t>を</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で送るだけで相談できるサービスも出ており、</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での受け口が欠かせません</a:t>
            </a:r>
            <a:r>
              <a:rPr b="0" lang="ja-JP" sz="1400" strike="noStrike" u="none">
                <a:solidFill>
                  <a:schemeClr val="dk1">
                    <a:lumMod val="65000"/>
                    <a:lumOff val="35000"/>
                  </a:schemeClr>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158" name="Card1_Num"/>
          <p:cNvSpPr/>
          <p:nvPr/>
        </p:nvSpPr>
        <p:spPr>
          <a:xfrm>
            <a:off x="380880" y="1481400"/>
            <a:ext cx="2920680" cy="51156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159" name="Card1_Title"/>
          <p:cNvSpPr/>
          <p:nvPr/>
        </p:nvSpPr>
        <p:spPr>
          <a:xfrm>
            <a:off x="380880" y="1993320"/>
            <a:ext cx="2920680" cy="45684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電話より、文字でのやり取り</a:t>
            </a:r>
            <a:endParaRPr b="0" lang="en-US" sz="1400" strike="noStrike" u="none">
              <a:solidFill>
                <a:srgbClr val="000000"/>
              </a:solidFill>
              <a:effectLst/>
              <a:uFillTx/>
              <a:latin typeface="Arial"/>
            </a:endParaRPr>
          </a:p>
        </p:txBody>
      </p:sp>
      <p:sp>
        <p:nvSpPr>
          <p:cNvPr id="160" name="Card1_Body"/>
          <p:cNvSpPr/>
          <p:nvPr/>
        </p:nvSpPr>
        <p:spPr>
          <a:xfrm>
            <a:off x="38088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・内見予約のやり取りの希望は、電話</a:t>
            </a:r>
            <a:r>
              <a:rPr b="0" lang="en-US" sz="1400" strike="noStrike" u="none">
                <a:solidFill>
                  <a:srgbClr val="333333"/>
                </a:solidFill>
                <a:effectLst/>
                <a:uFillTx/>
                <a:latin typeface="Calibri"/>
              </a:rPr>
              <a:t>33.4</a:t>
            </a:r>
            <a:r>
              <a:rPr b="0" lang="ja-JP" sz="1400" strike="noStrike" u="none">
                <a:solidFill>
                  <a:srgbClr val="333333"/>
                </a:solidFill>
                <a:effectLst/>
                <a:uFillTx/>
                <a:latin typeface="Calibri"/>
              </a:rPr>
              <a:t>％に対し、メール・</a:t>
            </a:r>
            <a:r>
              <a:rPr b="0" lang="en-US" sz="1400" strike="noStrike" u="none">
                <a:solidFill>
                  <a:srgbClr val="333333"/>
                </a:solidFill>
                <a:effectLst/>
                <a:uFillTx/>
                <a:latin typeface="Calibri"/>
              </a:rPr>
              <a:t>SMS</a:t>
            </a:r>
            <a:r>
              <a:rPr b="0" lang="ja-JP" sz="1400" strike="noStrike" u="none">
                <a:solidFill>
                  <a:srgbClr val="333333"/>
                </a:solidFill>
                <a:effectLst/>
                <a:uFillTx/>
                <a:latin typeface="Calibri"/>
              </a:rPr>
              <a:t>が</a:t>
            </a:r>
            <a:r>
              <a:rPr b="0" lang="en-US" sz="1400" strike="noStrike" u="none">
                <a:solidFill>
                  <a:srgbClr val="333333"/>
                </a:solidFill>
                <a:effectLst/>
                <a:uFillTx/>
                <a:latin typeface="Calibri"/>
              </a:rPr>
              <a:t>52.6</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61" name="Card2_Num"/>
          <p:cNvSpPr/>
          <p:nvPr/>
        </p:nvSpPr>
        <p:spPr>
          <a:xfrm>
            <a:off x="3492360" y="1481400"/>
            <a:ext cx="2920680" cy="51156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162" name="Card2_Title"/>
          <p:cNvSpPr/>
          <p:nvPr/>
        </p:nvSpPr>
        <p:spPr>
          <a:xfrm>
            <a:off x="3492360" y="1993320"/>
            <a:ext cx="2920680" cy="45684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手続きもオンラインで</a:t>
            </a:r>
            <a:endParaRPr b="0" lang="en-US" sz="1400" strike="noStrike" u="none">
              <a:solidFill>
                <a:srgbClr val="000000"/>
              </a:solidFill>
              <a:effectLst/>
              <a:uFillTx/>
              <a:latin typeface="Arial"/>
            </a:endParaRPr>
          </a:p>
        </p:txBody>
      </p:sp>
      <p:sp>
        <p:nvSpPr>
          <p:cNvPr id="163" name="Card2_Body"/>
          <p:cNvSpPr/>
          <p:nvPr/>
        </p:nvSpPr>
        <p:spPr>
          <a:xfrm>
            <a:off x="349236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・オンラインで契約したい検討者は</a:t>
            </a:r>
            <a:r>
              <a:rPr b="0" lang="en-US" sz="1400" strike="noStrike" u="none">
                <a:solidFill>
                  <a:srgbClr val="333333"/>
                </a:solidFill>
                <a:effectLst/>
                <a:uFillTx/>
                <a:latin typeface="Calibri"/>
              </a:rPr>
              <a:t>36.4</a:t>
            </a:r>
            <a:r>
              <a:rPr b="0" lang="ja-JP" sz="1400" strike="noStrike" u="none">
                <a:solidFill>
                  <a:srgbClr val="333333"/>
                </a:solidFill>
                <a:effectLst/>
                <a:uFillTx/>
                <a:latin typeface="Calibri"/>
              </a:rPr>
              <a:t>％、オンラインで重要事項説明を受けたい検討者は</a:t>
            </a:r>
            <a:r>
              <a:rPr b="0" lang="en-US" sz="1400" strike="noStrike" u="none">
                <a:solidFill>
                  <a:srgbClr val="333333"/>
                </a:solidFill>
                <a:effectLst/>
                <a:uFillTx/>
                <a:latin typeface="Calibri"/>
              </a:rPr>
              <a:t>29.6</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円賃貸は、テレビ電話・郵送・ネットでのお申込み・ご契約に対応</a:t>
            </a:r>
            <a:endParaRPr b="0" lang="en-US" sz="1400" strike="noStrike" u="none">
              <a:solidFill>
                <a:srgbClr val="000000"/>
              </a:solidFill>
              <a:effectLst/>
              <a:uFillTx/>
              <a:latin typeface="Arial"/>
            </a:endParaRPr>
          </a:p>
        </p:txBody>
      </p:sp>
      <p:sp>
        <p:nvSpPr>
          <p:cNvPr id="164" name="Card3_Num"/>
          <p:cNvSpPr/>
          <p:nvPr/>
        </p:nvSpPr>
        <p:spPr>
          <a:xfrm>
            <a:off x="6603840" y="1481400"/>
            <a:ext cx="2920680" cy="51156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165"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en-US" sz="1400" strike="noStrike" u="none">
                <a:solidFill>
                  <a:schemeClr val="dk1">
                    <a:lumMod val="65000"/>
                    <a:lumOff val="35000"/>
                  </a:schemeClr>
                </a:solidFill>
                <a:effectLst/>
                <a:uFillTx/>
                <a:latin typeface="Calibri"/>
              </a:rPr>
              <a:t>URL</a:t>
            </a:r>
            <a:r>
              <a:rPr b="1" lang="ja-JP" sz="1400" strike="noStrike" u="none">
                <a:solidFill>
                  <a:schemeClr val="dk1">
                    <a:lumMod val="65000"/>
                    <a:lumOff val="35000"/>
                  </a:schemeClr>
                </a:solidFill>
                <a:effectLst/>
                <a:uFillTx/>
                <a:latin typeface="Calibri"/>
              </a:rPr>
              <a:t>を送るだけの競合も</a:t>
            </a:r>
            <a:endParaRPr b="0" lang="en-US" sz="1400" strike="noStrike" u="none">
              <a:solidFill>
                <a:srgbClr val="000000"/>
              </a:solidFill>
              <a:effectLst/>
              <a:uFillTx/>
              <a:latin typeface="Arial"/>
            </a:endParaRPr>
          </a:p>
        </p:txBody>
      </p:sp>
      <p:sp>
        <p:nvSpPr>
          <p:cNvPr id="166" name="Card3_Body"/>
          <p:cNvSpPr/>
          <p:nvPr/>
        </p:nvSpPr>
        <p:spPr>
          <a:xfrm>
            <a:off x="660384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・タダスム：見つけた物件の</a:t>
            </a:r>
            <a:r>
              <a:rPr b="0" lang="en-US" sz="1400" strike="noStrike" u="none">
                <a:solidFill>
                  <a:srgbClr val="333333"/>
                </a:solidFill>
                <a:effectLst/>
                <a:uFillTx/>
                <a:latin typeface="Calibri"/>
              </a:rPr>
              <a:t>URL</a:t>
            </a:r>
            <a:r>
              <a:rPr b="0" lang="ja-JP" sz="1400" strike="noStrike" u="none">
                <a:solidFill>
                  <a:srgbClr val="333333"/>
                </a:solidFill>
                <a:effectLst/>
                <a:uFillTx/>
                <a:latin typeface="Calibri"/>
              </a:rPr>
              <a:t>を</a:t>
            </a:r>
            <a:r>
              <a:rPr b="0" lang="en-US" sz="1400" strike="noStrike" u="none">
                <a:solidFill>
                  <a:srgbClr val="333333"/>
                </a:solidFill>
                <a:effectLst/>
                <a:uFillTx/>
                <a:latin typeface="Calibri"/>
              </a:rPr>
              <a:t>LINE</a:t>
            </a:r>
            <a:r>
              <a:rPr b="0" lang="ja-JP" sz="1400" strike="noStrike" u="none">
                <a:solidFill>
                  <a:srgbClr val="333333"/>
                </a:solidFill>
                <a:effectLst/>
                <a:uFillTx/>
                <a:latin typeface="Calibri"/>
              </a:rPr>
              <a:t>で送ると、空室確認・内見調整。仲介手数料は「</a:t>
            </a:r>
            <a:r>
              <a:rPr b="0" lang="en-US" sz="1400" strike="noStrike" u="none">
                <a:solidFill>
                  <a:srgbClr val="333333"/>
                </a:solidFill>
                <a:effectLst/>
                <a:uFillTx/>
                <a:latin typeface="Calibri"/>
              </a:rPr>
              <a:t>0</a:t>
            </a:r>
            <a:r>
              <a:rPr b="0" lang="ja-JP" sz="1400" strike="noStrike" u="none">
                <a:solidFill>
                  <a:srgbClr val="333333"/>
                </a:solidFill>
                <a:effectLst/>
                <a:uFillTx/>
                <a:latin typeface="Calibri"/>
              </a:rPr>
              <a:t>円</a:t>
            </a:r>
            <a:r>
              <a:rPr b="0" lang="en-US" sz="1400" strike="noStrike" u="none">
                <a:solidFill>
                  <a:srgbClr val="333333"/>
                </a:solidFill>
                <a:effectLst/>
                <a:uFillTx/>
                <a:latin typeface="Calibri"/>
              </a:rPr>
              <a:t>or</a:t>
            </a:r>
            <a:r>
              <a:rPr b="0" lang="ja-JP" sz="1400" strike="noStrike" u="none">
                <a:solidFill>
                  <a:srgbClr val="333333"/>
                </a:solidFill>
                <a:effectLst/>
                <a:uFillTx/>
                <a:latin typeface="Calibri"/>
              </a:rPr>
              <a:t>最大</a:t>
            </a:r>
            <a:r>
              <a:rPr b="0" lang="en-US" sz="1400" strike="noStrike" u="none">
                <a:solidFill>
                  <a:srgbClr val="333333"/>
                </a:solidFill>
                <a:effectLst/>
                <a:uFillTx/>
                <a:latin typeface="Calibri"/>
              </a:rPr>
              <a:t>50%</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67" name="Conclusion"/>
          <p:cNvSpPr/>
          <p:nvPr/>
        </p:nvSpPr>
        <p:spPr>
          <a:xfrm>
            <a:off x="380880" y="5266800"/>
            <a:ext cx="9143640" cy="117000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spcAft>
                <a:spcPts val="300"/>
              </a:spcAft>
            </a:pPr>
            <a:r>
              <a:rPr b="1" lang="ja-JP" sz="1100" strike="noStrike" u="none">
                <a:solidFill>
                  <a:srgbClr val="1f285a"/>
                </a:solidFill>
                <a:effectLst/>
                <a:uFillTx/>
                <a:latin typeface="メイリオ"/>
                <a:ea typeface="メイリオ"/>
              </a:rPr>
              <a:t>出典</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1"/>
              </a:rPr>
              <a:t>アットホーム「オンラインでの住まい探しに関する調査 2025 賃貸編」</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・タダスム（</a:t>
            </a:r>
            <a:r>
              <a:rPr b="0" lang="ja-JP" sz="1100" strike="noStrike" u="sng">
                <a:solidFill>
                  <a:srgbClr val="0000ff"/>
                </a:solidFill>
                <a:effectLst/>
                <a:uFillTx/>
                <a:latin typeface="メイリオ"/>
                <a:ea typeface="メイリオ"/>
                <a:hlinkClick r:id="rId2"/>
              </a:rPr>
              <a:t>公式サイト</a:t>
            </a: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3"/>
              </a:rPr>
              <a:t>サービス紹介</a:t>
            </a:r>
            <a:r>
              <a:rPr b="0" lang="ja-JP" sz="1100" strike="noStrike" u="none">
                <a:solidFill>
                  <a:srgbClr val="333333"/>
                </a:solidFill>
                <a:effectLst/>
                <a:uFillTx/>
                <a:latin typeface="メイリオ"/>
                <a:ea typeface="メイリオ"/>
              </a:rPr>
              <a:t>）</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en-US" sz="1100" strike="noStrike" u="sng">
                <a:solidFill>
                  <a:srgbClr val="0000ff"/>
                </a:solidFill>
                <a:effectLst/>
                <a:uFillTx/>
                <a:latin typeface="メイリオ"/>
                <a:ea typeface="メイリオ"/>
                <a:hlinkClick r:id="rId4"/>
              </a:rPr>
              <a:t>100円賃貸 公式サイト</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170"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171" name="Heading"/>
          <p:cNvSpPr/>
          <p:nvPr/>
        </p:nvSpPr>
        <p:spPr>
          <a:xfrm>
            <a:off x="365040" y="835920"/>
            <a:ext cx="9143640" cy="279000"/>
          </a:xfrm>
          <a:prstGeom prst="rect">
            <a:avLst/>
          </a:prstGeom>
          <a:noFill/>
          <a:ln w="0">
            <a:noFill/>
          </a:ln>
        </p:spPr>
        <p:style>
          <a:lnRef idx="0"/>
          <a:fillRef idx="0"/>
          <a:effectRef idx="0"/>
          <a:fontRef idx="minor"/>
        </p:style>
        <p:txBody>
          <a:bodyPr lIns="101520" rIns="101520" tIns="76320" bIns="76320" anchor="t">
            <a:noAutofit/>
          </a:bodyPr>
          <a:p>
            <a:pPr defTabSz="914400">
              <a:lnSpc>
                <a:spcPct val="100000"/>
              </a:lnSpc>
            </a:pPr>
            <a:r>
              <a:rPr b="1" lang="en-US" sz="1400" strike="noStrike" u="none">
                <a:solidFill>
                  <a:srgbClr val="1f2a5c"/>
                </a:solidFill>
                <a:effectLst/>
                <a:uFillTx/>
                <a:latin typeface="メイリオ"/>
                <a:ea typeface="メイリオ"/>
              </a:rPr>
              <a:t>LINE</a:t>
            </a:r>
            <a:r>
              <a:rPr b="1" lang="ja-JP" sz="1400" strike="noStrike" u="none">
                <a:solidFill>
                  <a:srgbClr val="1f2a5c"/>
                </a:solidFill>
                <a:effectLst/>
                <a:uFillTx/>
                <a:latin typeface="メイリオ"/>
                <a:ea typeface="メイリオ"/>
              </a:rPr>
              <a:t>運用ツールの選定</a:t>
            </a:r>
            <a:endParaRPr b="0" lang="en-US" sz="1400" strike="noStrike" u="non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fillRef idx="0"/>
          <a:effectRef idx="0"/>
          <a:fontRef idx="minor"/>
        </p:style>
        <p:txBody>
          <a:bodyPr lIns="73080" rIns="73080" tIns="76320" bIns="76320" anchor="ctr">
            <a:noAutofit/>
          </a:bodyPr>
          <a:p>
            <a:pPr algn="ctr" defTabSz="914400">
              <a:lnSpc>
                <a:spcPct val="100000"/>
              </a:lnSpc>
            </a:pPr>
            <a:r>
              <a:rPr b="1" lang="ja-JP" sz="1400" strike="noStrike" u="none">
                <a:solidFill>
                  <a:srgbClr val="ffffff"/>
                </a:solidFill>
                <a:effectLst/>
                <a:uFillTx/>
                <a:latin typeface="メイリオ"/>
                <a:ea typeface="メイリオ"/>
              </a:rPr>
              <a:t>標準機能で運用</a:t>
            </a:r>
            <a:r>
              <a:rPr b="0" lang="en-US" sz="1400" strike="noStrike" u="none">
                <a:solidFill>
                  <a:srgbClr val="ffffff"/>
                </a:solidFill>
                <a:effectLst/>
                <a:uFillTx/>
                <a:latin typeface="メイリオ"/>
                <a:ea typeface="メイリオ"/>
              </a:rPr>
              <a:t> </a:t>
            </a:r>
            <a:r>
              <a:rPr b="0" lang="en-US" sz="1200" strike="noStrike" u="none">
                <a:solidFill>
                  <a:srgbClr val="ffffff"/>
                </a:solidFill>
                <a:effectLst/>
                <a:uFillTx/>
                <a:latin typeface="メイリオ"/>
                <a:ea typeface="メイリオ"/>
              </a:rPr>
              <a:t>※基本施策はこちらで運用</a:t>
            </a:r>
            <a:endParaRPr b="0" lang="en-US" sz="1200" strike="noStrike" u="none">
              <a:solidFill>
                <a:srgbClr val="ffffff"/>
              </a:solidFill>
              <a:effectLst/>
              <a:uFillTx/>
              <a:latin typeface="Arial"/>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fillRef idx="0"/>
          <a:effectRef idx="0"/>
          <a:fontRef idx="minor"/>
        </p:style>
        <p:txBody>
          <a:bodyPr lIns="128160" rIns="128160" tIns="152280" bIns="152280" anchor="t">
            <a:noAutofit/>
          </a:bodyPr>
          <a:p>
            <a:pPr defTabSz="914400">
              <a:lnSpc>
                <a:spcPct val="100000"/>
              </a:lnSpc>
            </a:pPr>
            <a:r>
              <a:rPr b="1" lang="ja-JP" sz="1400" strike="noStrike" u="none">
                <a:solidFill>
                  <a:srgbClr val="1f2a5c"/>
                </a:solidFill>
                <a:effectLst/>
                <a:uFillTx/>
                <a:latin typeface="メイリオ"/>
                <a:ea typeface="メイリオ"/>
              </a:rPr>
              <a:t>特徴</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ツール費がかからず、</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公式アカウントの管理画面だけで運用できる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1f2a5c"/>
                </a:solidFill>
                <a:effectLst/>
                <a:uFillTx/>
                <a:latin typeface="メイリオ"/>
                <a:ea typeface="メイリオ"/>
              </a:rPr>
              <a:t>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ステップ配信・問い合わせ済みの方を除く配信・キーワード応答・チャットタグなど、</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上の施策はすべて標準機能で実現できる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1f2a5c"/>
                </a:solidFill>
                <a:effectLst/>
                <a:uFillTx/>
                <a:latin typeface="メイリオ"/>
                <a:ea typeface="メイリオ"/>
              </a:rPr>
              <a:t>デメリット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離脱防止ポップアップとサイトのボタンなど、同じ友だち追加</a:t>
            </a:r>
            <a:r>
              <a:rPr b="0" lang="en-US" sz="1400" strike="noStrike" u="none">
                <a:solidFill>
                  <a:srgbClr val="333333"/>
                </a:solidFill>
                <a:effectLst/>
                <a:uFillTx/>
                <a:latin typeface="メイリオ"/>
                <a:ea typeface="メイリオ"/>
              </a:rPr>
              <a:t>URL</a:t>
            </a:r>
            <a:r>
              <a:rPr b="0" lang="ja-JP" sz="1400" strike="noStrike" u="none">
                <a:solidFill>
                  <a:srgbClr val="333333"/>
                </a:solidFill>
                <a:effectLst/>
                <a:uFillTx/>
                <a:latin typeface="メイリオ"/>
                <a:ea typeface="メイリオ"/>
              </a:rPr>
              <a:t>から入った方は、経路で分けて配信できない</a:t>
            </a:r>
            <a:endParaRPr b="0" lang="en-US" sz="1400" strike="noStrike" u="none">
              <a:solidFill>
                <a:srgbClr val="000000"/>
              </a:solidFill>
              <a:effectLst/>
              <a:uFillTx/>
              <a:latin typeface="Arial"/>
            </a:endParaRPr>
          </a:p>
        </p:txBody>
      </p:sp>
      <p:sp>
        <p:nvSpPr>
          <p:cNvPr id="174" name="RightHeader"/>
          <p:cNvSpPr/>
          <p:nvPr/>
        </p:nvSpPr>
        <p:spPr>
          <a:xfrm>
            <a:off x="5079960" y="1320840"/>
            <a:ext cx="4444560" cy="420120"/>
          </a:xfrm>
          <a:prstGeom prst="rect">
            <a:avLst/>
          </a:prstGeom>
          <a:solidFill>
            <a:srgbClr val="00b050"/>
          </a:solidFill>
          <a:ln w="0">
            <a:noFill/>
          </a:ln>
        </p:spPr>
        <p:style>
          <a:lnRef idx="0"/>
          <a:fillRef idx="0"/>
          <a:effectRef idx="0"/>
          <a:fontRef idx="minor"/>
        </p:style>
        <p:txBody>
          <a:bodyPr lIns="73080" rIns="73080" tIns="76320" bIns="76320" anchor="ctr">
            <a:noAutofit/>
          </a:bodyPr>
          <a:p>
            <a:pPr algn="ctr" defTabSz="914400">
              <a:lnSpc>
                <a:spcPct val="100000"/>
              </a:lnSpc>
            </a:pPr>
            <a:r>
              <a:rPr b="1" lang="ja-JP" sz="1400" strike="noStrike" u="none">
                <a:solidFill>
                  <a:srgbClr val="ffffff"/>
                </a:solidFill>
                <a:effectLst/>
                <a:uFillTx/>
                <a:latin typeface="メイリオ"/>
                <a:ea typeface="メイリオ"/>
              </a:rPr>
              <a:t>外部の運用ツール</a:t>
            </a:r>
            <a:r>
              <a:rPr b="0" lang="en-US" sz="1400" strike="noStrike" u="none">
                <a:solidFill>
                  <a:srgbClr val="ffffff"/>
                </a:solidFill>
                <a:effectLst/>
                <a:uFillTx/>
                <a:latin typeface="メイリオ"/>
                <a:ea typeface="メイリオ"/>
              </a:rPr>
              <a:t> </a:t>
            </a:r>
            <a:r>
              <a:rPr b="0" lang="en-US" sz="1200" strike="noStrike" u="none">
                <a:solidFill>
                  <a:srgbClr val="ffffff"/>
                </a:solidFill>
                <a:effectLst/>
                <a:uFillTx/>
                <a:latin typeface="メイリオ"/>
                <a:ea typeface="メイリオ"/>
              </a:rPr>
              <a:t>※基本施策には含まない</a:t>
            </a:r>
            <a:endParaRPr b="0" lang="en-US" sz="1200" strike="noStrike" u="none">
              <a:solidFill>
                <a:srgbClr val="ffffff"/>
              </a:solidFill>
              <a:effectLst/>
              <a:uFillTx/>
              <a:latin typeface="Arial"/>
            </a:endParaRP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fillRef idx="0"/>
          <a:effectRef idx="0"/>
          <a:fontRef idx="minor"/>
        </p:style>
        <p:txBody>
          <a:bodyPr lIns="128160" rIns="128160" tIns="152280" bIns="152280" anchor="t">
            <a:noAutofit/>
          </a:bodyPr>
          <a:p>
            <a:pPr defTabSz="914400">
              <a:lnSpc>
                <a:spcPct val="100000"/>
              </a:lnSpc>
            </a:pPr>
            <a:r>
              <a:rPr b="1" lang="ja-JP" sz="1400" strike="noStrike" u="none">
                <a:solidFill>
                  <a:srgbClr val="00b050"/>
                </a:solidFill>
                <a:effectLst/>
                <a:uFillTx/>
                <a:latin typeface="メイリオ"/>
                <a:ea typeface="メイリオ"/>
              </a:rPr>
              <a:t>特徴</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タグや流入経路を細かく管理でき、外部データ連携に強い（</a:t>
            </a:r>
            <a:r>
              <a:rPr b="0" lang="en-US" sz="1400" strike="noStrike" u="none">
                <a:solidFill>
                  <a:srgbClr val="333333"/>
                </a:solidFill>
                <a:effectLst/>
                <a:uFillTx/>
                <a:latin typeface="メイリオ"/>
                <a:ea typeface="メイリオ"/>
              </a:rPr>
              <a:t>L</a:t>
            </a:r>
            <a:r>
              <a:rPr b="0" lang="ja-JP" sz="1400" strike="noStrike" u="none">
                <a:solidFill>
                  <a:srgbClr val="333333"/>
                </a:solidFill>
                <a:effectLst/>
                <a:uFillTx/>
                <a:latin typeface="メイリオ"/>
                <a:ea typeface="メイリオ"/>
              </a:rPr>
              <a:t>ステップ等）</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00b050"/>
                </a:solidFill>
                <a:effectLst/>
                <a:uFillTx/>
                <a:latin typeface="メイリオ"/>
                <a:ea typeface="メイリオ"/>
              </a:rPr>
              <a:t>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流入元ごとに、配信を細かく出し分けられる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00b050"/>
                </a:solidFill>
                <a:effectLst/>
                <a:uFillTx/>
                <a:latin typeface="メイリオ"/>
                <a:ea typeface="メイリオ"/>
              </a:rPr>
              <a:t>デメリット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月額のツール費と、初期設定・移行の工数がかかる</a:t>
            </a:r>
            <a:endParaRPr b="0" lang="en-US" sz="1400" strike="noStrike" u="none">
              <a:solidFill>
                <a:srgbClr val="000000"/>
              </a:solidFill>
              <a:effectLst/>
              <a:uFillTx/>
              <a:latin typeface="Arial"/>
            </a:endParaRPr>
          </a:p>
        </p:txBody>
      </p:sp>
      <p:sp>
        <p:nvSpPr>
          <p:cNvPr id="176" name="Conclusion"/>
          <p:cNvSpPr/>
          <p:nvPr/>
        </p:nvSpPr>
        <p:spPr>
          <a:xfrm>
            <a:off x="380880" y="5230440"/>
            <a:ext cx="9143640" cy="126144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pPr>
            <a:r>
              <a:rPr b="1" lang="ja-JP" sz="1400" strike="noStrike" u="none">
                <a:solidFill>
                  <a:srgbClr val="1f2a5c"/>
                </a:solidFill>
                <a:effectLst/>
                <a:uFillTx/>
                <a:latin typeface="メイリオ"/>
                <a:ea typeface="メイリオ"/>
              </a:rPr>
              <a:t>結論</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基本施策は、</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公式アカウントの標準機能を中心に運用します。</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プラン①では、必要に応じて</a:t>
            </a:r>
            <a:r>
              <a:rPr b="0" lang="en-US" sz="1400" strike="noStrike" u="none">
                <a:solidFill>
                  <a:srgbClr val="333333"/>
                </a:solidFill>
                <a:effectLst/>
                <a:uFillTx/>
                <a:latin typeface="メイリオ"/>
                <a:ea typeface="メイリオ"/>
              </a:rPr>
              <a:t>API</a:t>
            </a:r>
            <a:r>
              <a:rPr b="0" lang="ja-JP" sz="1400" strike="noStrike" u="none">
                <a:solidFill>
                  <a:srgbClr val="333333"/>
                </a:solidFill>
                <a:effectLst/>
                <a:uFillTx/>
                <a:latin typeface="メイリオ"/>
                <a:ea typeface="メイリオ"/>
              </a:rPr>
              <a:t>連携・開発を別途お見積りでご提案します（基本料金に含まず）。</a:t>
            </a:r>
            <a:endParaRPr b="0" lang="en-US" sz="1400" strike="noStrike" u="none">
              <a:solidFill>
                <a:srgbClr val="000000"/>
              </a:solidFill>
              <a:effectLst/>
              <a:uFillTx/>
              <a:latin typeface="Arial"/>
            </a:endParaRPr>
          </a:p>
          <a:p>
            <a:pPr defTabSz="914400">
              <a:lnSpc>
                <a:spcPct val="100000"/>
              </a:lnSpc>
              <a:spcBef>
                <a:spcPts val="201"/>
              </a:spcBef>
            </a:pPr>
            <a:r>
              <a:rPr b="0" lang="en-US" sz="1400" strike="noStrike" u="none">
                <a:solidFill>
                  <a:srgbClr val="333333"/>
                </a:solidFill>
                <a:effectLst/>
                <a:uFillTx/>
                <a:latin typeface="メイリオ"/>
                <a:ea typeface="メイリオ"/>
              </a:rPr>
              <a:t>※離脱防止ポップアップは、</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公式アカウントの機能ではなく、サイト側に別途導入する施策です。</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78"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想定動線</a:t>
            </a:r>
            <a:endParaRPr b="0" lang="en-US" sz="1600" strike="noStrike" u="none">
              <a:solidFill>
                <a:srgbClr val="000000"/>
              </a:solidFill>
              <a:effectLst/>
              <a:uFillTx/>
              <a:latin typeface="Arial"/>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20"/>
            <a:ext cx="9190440" cy="243180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181" name="正方形/長方形 5"/>
          <p:cNvSpPr/>
          <p:nvPr/>
        </p:nvSpPr>
        <p:spPr>
          <a:xfrm>
            <a:off x="453240" y="4544640"/>
            <a:ext cx="9190440" cy="191988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trike="noStrike" u="none">
                <a:solidFill>
                  <a:schemeClr val="dk1">
                    <a:lumMod val="50000"/>
                    <a:lumOff val="50000"/>
                  </a:schemeClr>
                </a:solidFill>
                <a:effectLst/>
                <a:uFillTx/>
                <a:latin typeface="メイリオ"/>
                <a:ea typeface="メイリオ"/>
              </a:rPr>
              <a:t>&lt;</a:t>
            </a:r>
            <a:r>
              <a:rPr b="1" lang="ja-JP" sz="1400" strike="noStrike" u="none">
                <a:solidFill>
                  <a:schemeClr val="dk1">
                    <a:lumMod val="50000"/>
                    <a:lumOff val="50000"/>
                  </a:schemeClr>
                </a:solidFill>
                <a:effectLst/>
                <a:uFillTx/>
                <a:latin typeface="メイリオ"/>
                <a:ea typeface="メイリオ"/>
              </a:rPr>
              <a:t>対新規ユーザー領域</a:t>
            </a:r>
            <a:r>
              <a:rPr b="1" lang="en-US" sz="1400" strike="noStrike" u="none">
                <a:solidFill>
                  <a:schemeClr val="dk1">
                    <a:lumMod val="50000"/>
                    <a:lumOff val="50000"/>
                  </a:schemeClr>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183" name="テキスト ボックス 8"/>
          <p:cNvSpPr/>
          <p:nvPr/>
        </p:nvSpPr>
        <p:spPr>
          <a:xfrm>
            <a:off x="453240" y="4215240"/>
            <a:ext cx="6217920" cy="30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trike="noStrike" u="none">
                <a:solidFill>
                  <a:schemeClr val="dk1">
                    <a:lumMod val="50000"/>
                    <a:lumOff val="50000"/>
                  </a:schemeClr>
                </a:solidFill>
                <a:effectLst/>
                <a:uFillTx/>
                <a:latin typeface="メイリオ"/>
                <a:ea typeface="メイリオ"/>
              </a:rPr>
              <a:t>&lt;参考：CV以降の個別対応（あらうち様）／当社の計測対象外&gt;</a:t>
            </a:r>
            <a:endParaRPr b="0" lang="en-US" sz="1400" strike="noStrike" u="none">
              <a:solidFill>
                <a:srgbClr val="000000"/>
              </a:solidFill>
              <a:effectLst/>
              <a:uFillTx/>
              <a:latin typeface="Arial"/>
            </a:endParaRPr>
          </a:p>
        </p:txBody>
      </p:sp>
      <p:sp>
        <p:nvSpPr>
          <p:cNvPr id="184" name="正方形/長方形 8"/>
          <p:cNvSpPr/>
          <p:nvPr/>
        </p:nvSpPr>
        <p:spPr>
          <a:xfrm>
            <a:off x="567000" y="1847160"/>
            <a:ext cx="164556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rIns="36720" tIns="0" bIns="0" anchor="ctr">
            <a:noAutofit/>
          </a:bodyPr>
          <a:p>
            <a:pPr algn="ctr" defTabSz="914400">
              <a:lnSpc>
                <a:spcPct val="100000"/>
              </a:lnSpc>
            </a:pPr>
            <a:r>
              <a:rPr b="1" lang="en-US" sz="1200" strike="noStrike" u="none">
                <a:solidFill>
                  <a:schemeClr val="lt1"/>
                </a:solidFill>
                <a:effectLst/>
                <a:uFillTx/>
                <a:latin typeface="メイリオ"/>
                <a:ea typeface="メイリオ"/>
              </a:rPr>
              <a:t>100</a:t>
            </a:r>
            <a:r>
              <a:rPr b="1" lang="zh-CN" sz="1200" strike="noStrike" u="none">
                <a:solidFill>
                  <a:schemeClr val="lt1"/>
                </a:solidFill>
                <a:effectLst/>
                <a:uFillTx/>
                <a:latin typeface="メイリオ"/>
                <a:ea typeface="メイリオ"/>
              </a:rPr>
              <a:t>円賃貸のサイト</a:t>
            </a:r>
            <a:endParaRPr b="0" lang="en-US" sz="1200" strike="noStrike" u="none">
              <a:solidFill>
                <a:srgbClr val="000000"/>
              </a:solidFill>
              <a:effectLst/>
              <a:uFillTx/>
              <a:latin typeface="Arial"/>
            </a:endParaRPr>
          </a:p>
        </p:txBody>
      </p:sp>
      <p:sp>
        <p:nvSpPr>
          <p:cNvPr id="185" name="正方形/長方形 13"/>
          <p:cNvSpPr/>
          <p:nvPr/>
        </p:nvSpPr>
        <p:spPr>
          <a:xfrm>
            <a:off x="8211240" y="2048256"/>
            <a:ext cx="1371240" cy="51206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rIns="18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物件情報の送信</a:t>
            </a:r>
            <a:endParaRPr b="0" lang="en-US" sz="1200" strike="noStrike" u="none">
              <a:solidFill>
                <a:srgbClr val="ffffff"/>
              </a:solidFill>
              <a:effectLst/>
              <a:uFillTx/>
              <a:latin typeface="Arial"/>
            </a:endParaRPr>
          </a:p>
          <a:p>
            <a:pPr algn="ctr" defTabSz="914400">
              <a:lnSpc>
                <a:spcPct val="100000"/>
              </a:lnSpc>
            </a:pPr>
            <a:r>
              <a:rPr b="1" lang="zh-CN" sz="1200" strike="noStrike" u="none">
                <a:solidFill>
                  <a:schemeClr val="lt1"/>
                </a:solidFill>
                <a:effectLst/>
                <a:uFillTx/>
                <a:latin typeface="メイリオ"/>
                <a:ea typeface="メイリオ"/>
              </a:rPr>
              <a:t>（CV）</a:t>
            </a:r>
            <a:endParaRPr b="0" lang="en-US" sz="1200" strike="noStrike" u="none">
              <a:solidFill>
                <a:srgbClr val="ffffff"/>
              </a:solidFill>
              <a:effectLst/>
              <a:uFillTx/>
              <a:latin typeface="Arial"/>
            </a:endParaRPr>
          </a:p>
        </p:txBody>
      </p:sp>
      <p:sp>
        <p:nvSpPr>
          <p:cNvPr id="186" name="正方形/長方形 14"/>
          <p:cNvSpPr/>
          <p:nvPr/>
        </p:nvSpPr>
        <p:spPr>
          <a:xfrm>
            <a:off x="567000" y="2541960"/>
            <a:ext cx="2559960" cy="49356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rgbClr val="ffffff"/>
                </a:solidFill>
                <a:effectLst/>
                <a:uFillTx/>
                <a:latin typeface="メイリオ"/>
                <a:ea typeface="メイリオ"/>
              </a:rPr>
              <a:t>サイトの</a:t>
            </a:r>
            <a:br>
              <a:rPr sz="1200"/>
            </a:br>
            <a:r>
              <a:rPr b="1" lang="ja-JP"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LINE</a:t>
            </a:r>
            <a:r>
              <a:rPr b="1" lang="ja-JP" sz="1200" strike="noStrike" u="none">
                <a:solidFill>
                  <a:srgbClr val="ffffff"/>
                </a:solidFill>
                <a:effectLst/>
                <a:uFillTx/>
                <a:latin typeface="メイリオ"/>
                <a:ea typeface="メイリオ"/>
              </a:rPr>
              <a:t>でお問い合わせ」ボタン</a:t>
            </a:r>
            <a:endParaRPr b="0" lang="en-US" sz="1200" strike="noStrike" u="none">
              <a:solidFill>
                <a:srgbClr val="ffffff"/>
              </a:solidFill>
              <a:effectLst/>
              <a:uFillTx/>
              <a:latin typeface="Arial"/>
            </a:endParaRPr>
          </a:p>
        </p:txBody>
      </p:sp>
      <p:sp>
        <p:nvSpPr>
          <p:cNvPr id="187" name="正方形/長方形 16"/>
          <p:cNvSpPr/>
          <p:nvPr/>
        </p:nvSpPr>
        <p:spPr>
          <a:xfrm>
            <a:off x="567000" y="2167200"/>
            <a:ext cx="2559960" cy="29232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離脱防止ポップアップ</a:t>
            </a:r>
            <a:endParaRPr b="0" lang="en-US" sz="1200" strike="noStrike" u="none">
              <a:solidFill>
                <a:srgbClr val="ffffff"/>
              </a:solidFill>
              <a:effectLst/>
              <a:uFillTx/>
              <a:latin typeface="Arial"/>
            </a:endParaRPr>
          </a:p>
        </p:txBody>
      </p:sp>
      <p:sp>
        <p:nvSpPr>
          <p:cNvPr id="188" name="正方形/長方形 18"/>
          <p:cNvSpPr/>
          <p:nvPr/>
        </p:nvSpPr>
        <p:spPr>
          <a:xfrm>
            <a:off x="8211240" y="3035808"/>
            <a:ext cx="1371240" cy="822960"/>
          </a:xfrm>
          <a:prstGeom prst="rect">
            <a:avLst/>
          </a:prstGeom>
          <a:solidFill>
            <a:srgbClr val="F2F2F2"/>
          </a:solidFill>
          <a:ln w="12700">
            <a:solidFill>
              <a:srgbClr val="A6A6A6"/>
            </a:solidFill>
            <a:prstDash val="dash"/>
          </a:ln>
        </p:spPr>
        <p:style>
          <a:lnRef idx="2">
            <a:schemeClr val="accent1">
              <a:shade val="15000"/>
            </a:schemeClr>
          </a:lnRef>
          <a:fillRef idx="1">
            <a:schemeClr val="accent1"/>
          </a:fillRef>
          <a:effectRef idx="0">
            <a:schemeClr val="accent1"/>
          </a:effectRef>
          <a:fontRef idx="minor"/>
        </p:style>
        <p:txBody>
          <a:bodyPr lIns="18360" rIns="18360" tIns="0" bIns="0" anchor="ctr">
            <a:noAutofit/>
          </a:bodyPr>
          <a:p>
            <a:pPr algn="ctr" defTabSz="914400">
              <a:lnSpc>
                <a:spcPct val="100000"/>
              </a:lnSpc>
            </a:pPr>
            <a:r>
              <a:rPr b="1" lang="ja-JP" sz="1200" strike="noStrike" u="none">
                <a:solidFill>
                  <a:srgbClr val="595959"/>
                </a:solidFill>
                <a:effectLst/>
                <a:uFillTx/>
                <a:latin typeface="メイリオ"/>
                <a:ea typeface="メイリオ"/>
              </a:rPr>
              <a:t>空室確認・内見</a:t>
            </a:r>
            <a:endParaRPr b="0" lang="en-US" sz="1200" strike="noStrike" u="none">
              <a:solidFill>
                <a:srgbClr val="595959"/>
              </a:solidFill>
              <a:effectLst/>
              <a:uFillTx/>
              <a:latin typeface="Arial"/>
            </a:endParaRPr>
          </a:p>
          <a:p>
            <a:pPr algn="ctr" defTabSz="914400">
              <a:lnSpc>
                <a:spcPct val="100000"/>
              </a:lnSpc>
            </a:pPr>
            <a:r>
              <a:rPr b="0" lang="ja-JP" sz="1200" strike="noStrike" u="none">
                <a:solidFill>
                  <a:srgbClr val="595959"/>
                </a:solidFill>
                <a:effectLst/>
                <a:uFillTx/>
                <a:latin typeface="メイリオ"/>
                <a:ea typeface="メイリオ"/>
              </a:rPr>
              <a:t>あらうち様による</a:t>
            </a:r>
            <a:endParaRPr b="0" lang="en-US" sz="1200" strike="noStrike" u="none">
              <a:solidFill>
                <a:srgbClr val="595959"/>
              </a:solidFill>
              <a:effectLst/>
              <a:uFillTx/>
              <a:latin typeface="Arial"/>
            </a:endParaRPr>
          </a:p>
          <a:p>
            <a:pPr algn="ctr" defTabSz="914400">
              <a:lnSpc>
                <a:spcPct val="100000"/>
              </a:lnSpc>
            </a:pPr>
            <a:r>
              <a:rPr b="0" lang="ja-JP" sz="1200" strike="noStrike" u="none">
                <a:solidFill>
                  <a:srgbClr val="595959"/>
                </a:solidFill>
                <a:effectLst/>
                <a:uFillTx/>
                <a:latin typeface="メイリオ"/>
                <a:ea typeface="メイリオ"/>
              </a:rPr>
              <a:t>個別対応（参考）</a:t>
            </a:r>
            <a:endParaRPr b="0" lang="en-US" sz="1200" strike="noStrike" u="none">
              <a:solidFill>
                <a:srgbClr val="595959"/>
              </a:solidFill>
              <a:effectLst/>
              <a:uFillTx/>
              <a:latin typeface="Arial"/>
            </a:endParaRPr>
          </a:p>
        </p:txBody>
      </p:sp>
      <p:sp>
        <p:nvSpPr>
          <p:cNvPr id="189" name="正方形/長方形 19"/>
          <p:cNvSpPr/>
          <p:nvPr/>
        </p:nvSpPr>
        <p:spPr>
          <a:xfrm>
            <a:off x="6675120" y="4978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アクセス解析での効果測定</a:t>
            </a:r>
            <a:endParaRPr b="0" lang="en-US" sz="1200" strike="noStrike" u="none">
              <a:solidFill>
                <a:srgbClr val="ffffff"/>
              </a:solidFill>
              <a:effectLst/>
              <a:uFillTx/>
              <a:latin typeface="Arial"/>
            </a:endParaRPr>
          </a:p>
        </p:txBody>
      </p:sp>
      <p:sp>
        <p:nvSpPr>
          <p:cNvPr id="190" name="正方形/長方形 20"/>
          <p:cNvSpPr/>
          <p:nvPr/>
        </p:nvSpPr>
        <p:spPr>
          <a:xfrm>
            <a:off x="6675120" y="5266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chemeClr val="lt1"/>
                </a:solidFill>
                <a:effectLst/>
                <a:uFillTx/>
                <a:latin typeface="メイリオ"/>
                <a:ea typeface="メイリオ"/>
              </a:rPr>
              <a:t>投稿スケジュール確認</a:t>
            </a:r>
            <a:endParaRPr b="0" lang="en-US" sz="1200" strike="noStrike" u="none">
              <a:solidFill>
                <a:srgbClr val="ffffff"/>
              </a:solidFill>
              <a:effectLst/>
              <a:uFillTx/>
              <a:latin typeface="Arial"/>
            </a:endParaRPr>
          </a:p>
        </p:txBody>
      </p:sp>
      <p:sp>
        <p:nvSpPr>
          <p:cNvPr id="191" name="正方形/長方形 21"/>
          <p:cNvSpPr/>
          <p:nvPr/>
        </p:nvSpPr>
        <p:spPr>
          <a:xfrm>
            <a:off x="6675120" y="5843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受付時間外の自動応答</a:t>
            </a:r>
            <a:endParaRPr b="0" lang="en-US" sz="1200" strike="noStrike" u="none">
              <a:solidFill>
                <a:srgbClr val="ffffff"/>
              </a:solidFill>
              <a:effectLst/>
              <a:uFillTx/>
              <a:latin typeface="Arial"/>
            </a:endParaRPr>
          </a:p>
        </p:txBody>
      </p:sp>
      <p:sp>
        <p:nvSpPr>
          <p:cNvPr id="192" name="正方形/長方形 22"/>
          <p:cNvSpPr/>
          <p:nvPr/>
        </p:nvSpPr>
        <p:spPr>
          <a:xfrm>
            <a:off x="6675120" y="5555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キーワード応答の見直し</a:t>
            </a:r>
            <a:endParaRPr b="0" lang="en-US" sz="1200" strike="noStrike" u="none">
              <a:solidFill>
                <a:srgbClr val="ffffff"/>
              </a:solidFill>
              <a:effectLst/>
              <a:uFillTx/>
              <a:latin typeface="Arial"/>
            </a:endParaRPr>
          </a:p>
        </p:txBody>
      </p:sp>
      <p:sp>
        <p:nvSpPr>
          <p:cNvPr id="193" name="正方形/長方形 23"/>
          <p:cNvSpPr/>
          <p:nvPr/>
        </p:nvSpPr>
        <p:spPr>
          <a:xfrm>
            <a:off x="6675120" y="6131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chemeClr val="lt1"/>
                </a:solidFill>
                <a:effectLst/>
                <a:uFillTx/>
                <a:latin typeface="メイリオ"/>
                <a:ea typeface="メイリオ"/>
              </a:rPr>
              <a:t>配信結果の振り返り</a:t>
            </a:r>
            <a:endParaRPr b="0" lang="en-US" sz="1200" strike="noStrike" u="none">
              <a:solidFill>
                <a:srgbClr val="ffffff"/>
              </a:solidFill>
              <a:effectLst/>
              <a:uFillTx/>
              <a:latin typeface="Arial"/>
            </a:endParaRPr>
          </a:p>
        </p:txBody>
      </p:sp>
      <p:sp>
        <p:nvSpPr>
          <p:cNvPr id="194" name="正方形/長方形 24"/>
          <p:cNvSpPr/>
          <p:nvPr/>
        </p:nvSpPr>
        <p:spPr>
          <a:xfrm>
            <a:off x="6675120" y="4690800"/>
            <a:ext cx="1919880" cy="25560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rgbClr val="595959"/>
                </a:solidFill>
                <a:effectLst/>
                <a:uFillTx/>
                <a:latin typeface="メイリオ"/>
                <a:ea typeface="メイリオ"/>
              </a:rPr>
              <a:t>定期対応項目</a:t>
            </a:r>
            <a:r>
              <a:rPr b="0" lang="en-US" sz="1200" strike="noStrike" u="none">
                <a:solidFill>
                  <a:srgbClr val="595959"/>
                </a:solidFill>
                <a:effectLst/>
                <a:uFillTx/>
                <a:latin typeface="メイリオ"/>
                <a:ea typeface="メイリオ"/>
              </a:rPr>
              <a:t>(</a:t>
            </a:r>
            <a:r>
              <a:rPr b="0" lang="ja-JP" sz="1200" strike="noStrike" u="none">
                <a:solidFill>
                  <a:srgbClr val="595959"/>
                </a:solidFill>
                <a:effectLst/>
                <a:uFillTx/>
                <a:latin typeface="メイリオ"/>
                <a:ea typeface="メイリオ"/>
              </a:rPr>
              <a:t>一部抽出</a:t>
            </a:r>
            <a:r>
              <a:rPr b="0" lang="en-US" sz="1200" strike="noStrike" u="none">
                <a:solidFill>
                  <a:srgbClr val="595959"/>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195" name="正方形/長方形 25"/>
          <p:cNvSpPr/>
          <p:nvPr/>
        </p:nvSpPr>
        <p:spPr>
          <a:xfrm>
            <a:off x="3310200" y="1792080"/>
            <a:ext cx="4534920" cy="23223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196" name="正方形/長方形 26"/>
          <p:cNvSpPr/>
          <p:nvPr/>
        </p:nvSpPr>
        <p:spPr>
          <a:xfrm>
            <a:off x="3401640" y="1847160"/>
            <a:ext cx="1517400" cy="27396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友だち追加</a:t>
            </a:r>
            <a:endParaRPr b="0" lang="en-US" sz="1200" strike="noStrike" u="non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1983960"/>
            <a:ext cx="275040" cy="804960"/>
          </a:xfrm>
          <a:prstGeom prst="bentConnector3">
            <a:avLst>
              <a:gd name="adj1" fmla="val 50065"/>
            </a:avLst>
          </a:prstGeom>
          <a:ln>
            <a:solidFill>
              <a:srgbClr val="1f497d"/>
            </a:solidFill>
            <a:prstDash val="sysDash"/>
            <a:round/>
            <a:tailEnd len="med" type="triangle" w="med"/>
          </a:ln>
        </p:spPr>
      </p:cxnSp>
      <p:cxnSp>
        <p:nvCxnSpPr>
          <p:cNvPr id="198" name="コネクタ: カギ線 29"/>
          <p:cNvCxnSpPr>
            <a:stCxn id="187" idx="3"/>
            <a:endCxn id="196" idx="1"/>
          </p:cNvCxnSpPr>
          <p:nvPr/>
        </p:nvCxnSpPr>
        <p:spPr>
          <a:xfrm flipV="1">
            <a:off x="3126960" y="1983960"/>
            <a:ext cx="275040" cy="329760"/>
          </a:xfrm>
          <a:prstGeom prst="bentConnector3">
            <a:avLst>
              <a:gd name="adj1" fmla="val 50065"/>
            </a:avLst>
          </a:prstGeom>
          <a:ln>
            <a:solidFill>
              <a:srgbClr val="1f497d"/>
            </a:solidFill>
            <a:prstDash val="sysDash"/>
            <a:round/>
            <a:tailEnd len="med" type="triangle" w="med"/>
          </a:ln>
        </p:spPr>
      </p:cxnSp>
      <p:sp>
        <p:nvSpPr>
          <p:cNvPr id="199" name="正方形/長方形 30"/>
          <p:cNvSpPr/>
          <p:nvPr/>
        </p:nvSpPr>
        <p:spPr>
          <a:xfrm>
            <a:off x="5193720" y="18471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企画配信（月</a:t>
            </a:r>
            <a:r>
              <a:rPr b="1" lang="en-US" sz="1200" strike="noStrike" u="none">
                <a:solidFill>
                  <a:schemeClr val="lt1"/>
                </a:solidFill>
                <a:effectLst/>
                <a:uFillTx/>
                <a:latin typeface="メイリオ"/>
                <a:ea typeface="メイリオ"/>
              </a:rPr>
              <a:t>4</a:t>
            </a:r>
            <a:r>
              <a:rPr b="1" lang="ja-JP" sz="1200" strike="noStrike" u="none">
                <a:solidFill>
                  <a:schemeClr val="lt1"/>
                </a:solidFill>
                <a:effectLst/>
                <a:uFillTx/>
                <a:latin typeface="メイリオ"/>
                <a:ea typeface="メイリオ"/>
              </a:rPr>
              <a:t>本）</a:t>
            </a:r>
            <a:endParaRPr b="0" lang="en-US" sz="1200" strike="noStrike" u="none">
              <a:solidFill>
                <a:srgbClr val="ffffff"/>
              </a:solidFill>
              <a:effectLst/>
              <a:uFillTx/>
              <a:latin typeface="Arial"/>
            </a:endParaRPr>
          </a:p>
        </p:txBody>
      </p:sp>
      <p:sp>
        <p:nvSpPr>
          <p:cNvPr id="200" name="正方形/長方形 31"/>
          <p:cNvSpPr/>
          <p:nvPr/>
        </p:nvSpPr>
        <p:spPr>
          <a:xfrm>
            <a:off x="5193720" y="21718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ステップ配信（全</a:t>
            </a:r>
            <a:r>
              <a:rPr b="1" lang="en-US" sz="1200" strike="noStrike" u="none">
                <a:solidFill>
                  <a:schemeClr val="lt1"/>
                </a:solidFill>
                <a:effectLst/>
                <a:uFillTx/>
                <a:latin typeface="メイリオ"/>
                <a:ea typeface="メイリオ"/>
              </a:rPr>
              <a:t>10</a:t>
            </a:r>
            <a:r>
              <a:rPr b="1" lang="ja-JP" sz="1200" strike="noStrike" u="none">
                <a:solidFill>
                  <a:schemeClr val="lt1"/>
                </a:solidFill>
                <a:effectLst/>
                <a:uFillTx/>
                <a:latin typeface="メイリオ"/>
                <a:ea typeface="メイリオ"/>
              </a:rPr>
              <a:t>通・</a:t>
            </a:r>
            <a:r>
              <a:rPr b="1" lang="en-US" sz="1200" strike="noStrike" u="none">
                <a:solidFill>
                  <a:schemeClr val="lt1"/>
                </a:solidFill>
                <a:effectLst/>
                <a:uFillTx/>
                <a:latin typeface="メイリオ"/>
                <a:ea typeface="メイリオ"/>
              </a:rPr>
              <a:t>14</a:t>
            </a:r>
            <a:r>
              <a:rPr b="1" lang="ja-JP" sz="1200" strike="noStrike" u="none">
                <a:solidFill>
                  <a:schemeClr val="lt1"/>
                </a:solidFill>
                <a:effectLst/>
                <a:uFillTx/>
                <a:latin typeface="メイリオ"/>
                <a:ea typeface="メイリオ"/>
              </a:rPr>
              <a:t>日）</a:t>
            </a:r>
            <a:endParaRPr b="0" lang="en-US" sz="1200" strike="noStrike" u="none">
              <a:solidFill>
                <a:srgbClr val="ffffff"/>
              </a:solidFill>
              <a:effectLst/>
              <a:uFillTx/>
              <a:latin typeface="Arial"/>
            </a:endParaRPr>
          </a:p>
        </p:txBody>
      </p:sp>
      <p:sp>
        <p:nvSpPr>
          <p:cNvPr id="201" name="正方形/長方形 32"/>
          <p:cNvSpPr/>
          <p:nvPr/>
        </p:nvSpPr>
        <p:spPr>
          <a:xfrm>
            <a:off x="519372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リサーチ</a:t>
            </a:r>
            <a:endParaRPr b="0" lang="en-US" sz="1200" strike="noStrike" u="none">
              <a:solidFill>
                <a:srgbClr val="ffffff"/>
              </a:solidFill>
              <a:effectLst/>
              <a:uFillTx/>
              <a:latin typeface="Arial"/>
            </a:endParaRPr>
          </a:p>
        </p:txBody>
      </p:sp>
      <p:sp>
        <p:nvSpPr>
          <p:cNvPr id="202" name="正方形/長方形 33"/>
          <p:cNvSpPr/>
          <p:nvPr/>
        </p:nvSpPr>
        <p:spPr>
          <a:xfrm>
            <a:off x="3401640" y="2185560"/>
            <a:ext cx="1517400" cy="23724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rgbClr val="595959"/>
                </a:solidFill>
                <a:effectLst/>
                <a:uFillTx/>
                <a:latin typeface="メイリオ"/>
                <a:ea typeface="メイリオ"/>
              </a:rPr>
              <a:t>初期設計項目↓</a:t>
            </a:r>
            <a:endParaRPr b="0" lang="en-US" sz="1200" strike="noStrike" u="none">
              <a:solidFill>
                <a:srgbClr val="000000"/>
              </a:solidFill>
              <a:effectLst/>
              <a:uFillTx/>
              <a:latin typeface="Arial"/>
            </a:endParaRPr>
          </a:p>
        </p:txBody>
      </p:sp>
      <p:sp>
        <p:nvSpPr>
          <p:cNvPr id="203" name="テキスト ボックス 67"/>
          <p:cNvSpPr/>
          <p:nvPr/>
        </p:nvSpPr>
        <p:spPr>
          <a:xfrm>
            <a:off x="3401640" y="2441520"/>
            <a:ext cx="1572480" cy="1554120"/>
          </a:xfrm>
          <a:prstGeom prst="rect">
            <a:avLst/>
          </a:prstGeom>
          <a:noFill/>
          <a:ln w="0">
            <a:noFill/>
          </a:ln>
        </p:spPr>
        <p:style>
          <a:lnRef idx="0"/>
          <a:fillRef idx="0"/>
          <a:effectRef idx="0"/>
          <a:fontRef idx="minor"/>
        </p:style>
        <p:txBody>
          <a:bodyPr lIns="45720" rIns="18360" tIns="18360" bIns="18360" anchor="t">
            <a:noAutofit/>
          </a:bodyPr>
          <a:p>
            <a:pPr defTabSz="914400">
              <a:lnSpc>
                <a:spcPts val="1451"/>
              </a:lnSpc>
            </a:pPr>
            <a:r>
              <a:rPr b="0" lang="ja-JP" sz="1200" strike="noStrike" u="none">
                <a:solidFill>
                  <a:srgbClr val="595959"/>
                </a:solidFill>
                <a:effectLst/>
                <a:uFillTx/>
                <a:latin typeface="メイリオ"/>
                <a:ea typeface="メイリオ"/>
              </a:rPr>
              <a:t>・プロフィール</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・リッチメニュー</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・あいさつ</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・応答メッセージ</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・チャットタグ</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・計測タグ</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・離脱防止（別途）</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・サイトのボタン</a:t>
            </a:r>
            <a:endParaRPr b="0" lang="en-US" sz="1200" strike="noStrike" u="none">
              <a:solidFill>
                <a:srgbClr val="000000"/>
              </a:solidFill>
              <a:effectLst/>
              <a:uFillTx/>
              <a:latin typeface="Arial"/>
            </a:endParaRPr>
          </a:p>
        </p:txBody>
      </p:sp>
      <p:sp>
        <p:nvSpPr>
          <p:cNvPr id="204" name="正方形/長方形 35"/>
          <p:cNvSpPr/>
          <p:nvPr/>
        </p:nvSpPr>
        <p:spPr>
          <a:xfrm>
            <a:off x="5193720" y="28209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問い合わせ済みの方を除く配信</a:t>
            </a:r>
            <a:endParaRPr b="0" lang="en-US" sz="1200" strike="noStrike" u="none">
              <a:solidFill>
                <a:srgbClr val="ffffff"/>
              </a:solidFill>
              <a:effectLst/>
              <a:uFillTx/>
              <a:latin typeface="Arial"/>
            </a:endParaRPr>
          </a:p>
        </p:txBody>
      </p:sp>
      <p:sp>
        <p:nvSpPr>
          <p:cNvPr id="205" name="正方形/長方形 36"/>
          <p:cNvSpPr/>
          <p:nvPr/>
        </p:nvSpPr>
        <p:spPr>
          <a:xfrm>
            <a:off x="5193720" y="347004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リッチメニュー（</a:t>
            </a:r>
            <a:r>
              <a:rPr b="1" lang="en-US" sz="1200" strike="noStrike" u="none">
                <a:solidFill>
                  <a:schemeClr val="lt1"/>
                </a:solidFill>
                <a:effectLst/>
                <a:uFillTx/>
                <a:latin typeface="メイリオ"/>
                <a:ea typeface="メイリオ"/>
              </a:rPr>
              <a:t>6</a:t>
            </a:r>
            <a:r>
              <a:rPr b="1" lang="ja-JP" sz="1200" strike="noStrike" u="none">
                <a:solidFill>
                  <a:schemeClr val="lt1"/>
                </a:solidFill>
                <a:effectLst/>
                <a:uFillTx/>
                <a:latin typeface="メイリオ"/>
                <a:ea typeface="メイリオ"/>
              </a:rPr>
              <a:t>ボタン）</a:t>
            </a:r>
            <a:endParaRPr b="0" lang="en-US" sz="1200" strike="noStrike" u="none">
              <a:solidFill>
                <a:srgbClr val="000000"/>
              </a:solidFill>
              <a:effectLst/>
              <a:uFillTx/>
              <a:latin typeface="Arial"/>
            </a:endParaRPr>
          </a:p>
        </p:txBody>
      </p:sp>
      <p:sp>
        <p:nvSpPr>
          <p:cNvPr id="206" name="正方形/長方形 37"/>
          <p:cNvSpPr/>
          <p:nvPr/>
        </p:nvSpPr>
        <p:spPr>
          <a:xfrm>
            <a:off x="5193720" y="31456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よくある質問（キーワード応答）</a:t>
            </a:r>
            <a:endParaRPr b="0" lang="en-US" sz="1200" strike="noStrike" u="none">
              <a:solidFill>
                <a:srgbClr val="ffffff"/>
              </a:solidFill>
              <a:effectLst/>
              <a:uFillTx/>
              <a:latin typeface="Arial"/>
            </a:endParaRPr>
          </a:p>
        </p:txBody>
      </p:sp>
      <p:sp>
        <p:nvSpPr>
          <p:cNvPr id="207" name="正方形/長方形 38"/>
          <p:cNvSpPr/>
          <p:nvPr/>
        </p:nvSpPr>
        <p:spPr>
          <a:xfrm>
            <a:off x="651060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en-US" sz="1200" strike="noStrike" u="none">
                <a:solidFill>
                  <a:schemeClr val="lt1"/>
                </a:solidFill>
                <a:effectLst/>
                <a:uFillTx/>
                <a:latin typeface="メイリオ"/>
                <a:ea typeface="メイリオ"/>
              </a:rPr>
              <a:t>→ 配信に反映</a:t>
            </a:r>
            <a:endParaRPr b="0" lang="en-US" sz="1200" strike="noStrike" u="none">
              <a:solidFill>
                <a:srgbClr val="ffffff"/>
              </a:solidFill>
              <a:effectLst/>
              <a:uFillTx/>
              <a:latin typeface="Arial"/>
            </a:endParaRPr>
          </a:p>
        </p:txBody>
      </p:sp>
      <p:sp>
        <p:nvSpPr>
          <p:cNvPr id="208" name="正方形/長方形 39"/>
          <p:cNvSpPr/>
          <p:nvPr/>
        </p:nvSpPr>
        <p:spPr>
          <a:xfrm>
            <a:off x="5193720" y="379476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個別チャット（物件の確認）</a:t>
            </a:r>
            <a:endParaRPr b="0" lang="en-US" sz="1200" strike="noStrike" u="none">
              <a:solidFill>
                <a:srgbClr val="000000"/>
              </a:solidFill>
              <a:effectLst/>
              <a:uFillTx/>
              <a:latin typeface="Arial"/>
            </a:endParaRPr>
          </a:p>
        </p:txBody>
      </p:sp>
      <p:cxnSp>
        <p:nvCxnSpPr>
          <p:cNvPr id="209" name="コネクタ: カギ線 40"/>
          <p:cNvCxnSpPr>
            <a:stCxn id="208" idx="3"/>
          </p:cNvCxnSpPr>
          <p:nvPr/>
        </p:nvCxnSpPr>
        <p:spPr>
          <a:xfrm flipV="1">
            <a:off x="7772040" y="3447288"/>
            <a:ext cx="439560" cy="480312"/>
          </a:xfrm>
          <a:prstGeom prst="bentConnector3">
            <a:avLst>
              <a:gd name="adj1" fmla="val 50000"/>
            </a:avLst>
          </a:prstGeom>
          <a:ln>
            <a:solidFill>
              <a:srgbClr val="1f497d"/>
            </a:solidFill>
            <a:prstDash val="sysDash"/>
            <a:round/>
            <a:tailEnd len="med" type="triangle" w="med"/>
          </a:ln>
        </p:spPr>
      </p:cxnSp>
      <p:cxnSp>
        <p:nvCxnSpPr>
          <p:cNvPr id="210" name="コネクタ: カギ線 41"/>
          <p:cNvCxnSpPr>
            <a:stCxn id="205" idx="3"/>
          </p:cNvCxnSpPr>
          <p:nvPr/>
        </p:nvCxnSpPr>
        <p:spPr>
          <a:xfrm flipV="1">
            <a:off x="7772040" y="2304000"/>
            <a:ext cx="439560" cy="1298880"/>
          </a:xfrm>
          <a:prstGeom prst="bentConnector3">
            <a:avLst>
              <a:gd name="adj1" fmla="val 50000"/>
            </a:avLst>
          </a:prstGeom>
          <a:ln>
            <a:solidFill>
              <a:srgbClr val="000000"/>
            </a:solidFill>
            <a:prstDash val="sysDash"/>
            <a:round/>
            <a:tailEnd len="med" type="triangle" w="med"/>
          </a:ln>
        </p:spPr>
      </p:cxnSp>
      <p:cxnSp>
        <p:nvCxnSpPr>
          <p:cNvPr id="211" name="コネクタ: カギ線 42"/>
          <p:cNvCxnSpPr>
            <a:stCxn id="206" idx="3"/>
          </p:cNvCxnSpPr>
          <p:nvPr/>
        </p:nvCxnSpPr>
        <p:spPr>
          <a:xfrm flipV="1">
            <a:off x="7772040" y="2304000"/>
            <a:ext cx="439560" cy="974520"/>
          </a:xfrm>
          <a:prstGeom prst="bentConnector3">
            <a:avLst>
              <a:gd name="adj1" fmla="val 50000"/>
            </a:avLst>
          </a:prstGeom>
          <a:ln>
            <a:solidFill>
              <a:srgbClr val="000000"/>
            </a:solidFill>
            <a:prstDash val="sysDash"/>
            <a:round/>
            <a:tailEnd len="med" type="triangle" w="med"/>
          </a:ln>
        </p:spPr>
      </p:cxnSp>
      <p:cxnSp>
        <p:nvCxnSpPr>
          <p:cNvPr id="212" name="コネクタ: カギ線 43"/>
          <p:cNvCxnSpPr>
            <a:stCxn id="204" idx="3"/>
          </p:cNvCxnSpPr>
          <p:nvPr/>
        </p:nvCxnSpPr>
        <p:spPr>
          <a:xfrm flipV="1">
            <a:off x="7772040" y="2304000"/>
            <a:ext cx="439560" cy="649800"/>
          </a:xfrm>
          <a:prstGeom prst="bentConnector3">
            <a:avLst>
              <a:gd name="adj1" fmla="val 50000"/>
            </a:avLst>
          </a:prstGeom>
          <a:ln>
            <a:solidFill>
              <a:srgbClr val="000000"/>
            </a:solidFill>
            <a:prstDash val="sysDash"/>
            <a:round/>
            <a:tailEnd len="med" type="triangle" w="med"/>
          </a:ln>
        </p:spPr>
      </p:cxnSp>
      <p:cxnSp>
        <p:nvCxnSpPr>
          <p:cNvPr id="213" name="コネクタ: カギ線 45"/>
          <p:cNvCxnSpPr>
            <a:stCxn id="207" idx="3"/>
          </p:cNvCxnSpPr>
          <p:nvPr/>
        </p:nvCxnSpPr>
        <p:spPr>
          <a:xfrm flipV="1">
            <a:off x="7772040" y="2304000"/>
            <a:ext cx="439560" cy="325080"/>
          </a:xfrm>
          <a:prstGeom prst="bentConnector3">
            <a:avLst>
              <a:gd name="adj1" fmla="val 50000"/>
            </a:avLst>
          </a:prstGeom>
          <a:ln>
            <a:solidFill>
              <a:srgbClr val="000000"/>
            </a:solidFill>
            <a:prstDash val="sysDash"/>
            <a:round/>
            <a:tailEnd len="med" type="triangle" w="med"/>
          </a:ln>
        </p:spPr>
      </p:cxnSp>
      <p:cxnSp>
        <p:nvCxnSpPr>
          <p:cNvPr id="214" name="コネクタ: カギ線 46"/>
          <p:cNvCxnSpPr>
            <a:stCxn id="200" idx="3"/>
          </p:cNvCxnSpPr>
          <p:nvPr/>
        </p:nvCxnSpPr>
        <p:spPr>
          <a:xfrm flipV="1">
            <a:off x="7772040" y="2304000"/>
            <a:ext cx="439560" cy="720"/>
          </a:xfrm>
          <a:prstGeom prst="bentConnector3">
            <a:avLst>
              <a:gd name="adj1" fmla="val 50000"/>
            </a:avLst>
          </a:prstGeom>
          <a:ln>
            <a:solidFill>
              <a:srgbClr val="000000"/>
            </a:solidFill>
            <a:prstDash val="sysDash"/>
            <a:round/>
            <a:tailEnd len="med" type="triangle" w="med"/>
          </a:ln>
        </p:spPr>
      </p:cxnSp>
      <p:cxnSp>
        <p:nvCxnSpPr>
          <p:cNvPr id="215" name="コネクタ: カギ線 47"/>
          <p:cNvCxnSpPr>
            <a:stCxn id="199" idx="3"/>
          </p:cNvCxnSpPr>
          <p:nvPr/>
        </p:nvCxnSpPr>
        <p:spPr>
          <a:xfrm>
            <a:off x="7772040" y="1979640"/>
            <a:ext cx="439560" cy="324720"/>
          </a:xfrm>
          <a:prstGeom prst="bentConnector3">
            <a:avLst>
              <a:gd name="adj1" fmla="val 50000"/>
            </a:avLst>
          </a:prstGeom>
          <a:ln>
            <a:solidFill>
              <a:srgbClr val="000000"/>
            </a:solidFill>
            <a:prstDash val="sysDash"/>
            <a:round/>
            <a:tailEnd len="med" type="triangle" w="med"/>
          </a:ln>
        </p:spPr>
      </p:cxnSp>
      <p:sp>
        <p:nvSpPr>
          <p:cNvPr id="216" name="左中かっこ 48"/>
          <p:cNvSpPr/>
          <p:nvPr/>
        </p:nvSpPr>
        <p:spPr>
          <a:xfrm>
            <a:off x="5010840" y="1819800"/>
            <a:ext cx="145800" cy="2267280"/>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solidFill>
              <a:effectLst/>
              <a:uFillTx/>
              <a:latin typeface="Calibri"/>
            </a:endParaRPr>
          </a:p>
        </p:txBody>
      </p:sp>
      <p:sp>
        <p:nvSpPr>
          <p:cNvPr id="217" name="正方形/長方形 49"/>
          <p:cNvSpPr/>
          <p:nvPr/>
        </p:nvSpPr>
        <p:spPr>
          <a:xfrm>
            <a:off x="530280" y="4636080"/>
            <a:ext cx="5769360" cy="1796400"/>
          </a:xfrm>
          <a:prstGeom prst="rect">
            <a:avLst/>
          </a:prstGeom>
          <a:solidFill>
            <a:srgbClr val="F2F2F2"/>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218" name="正方形/長方形 51"/>
          <p:cNvSpPr/>
          <p:nvPr/>
        </p:nvSpPr>
        <p:spPr>
          <a:xfrm>
            <a:off x="640080" y="4690800"/>
            <a:ext cx="959760" cy="25560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0" rIns="0" tIns="0" bIns="0" anchor="ctr">
            <a:noAutofit/>
          </a:bodyPr>
          <a:p>
            <a:pPr algn="ctr" defTabSz="914400">
              <a:lnSpc>
                <a:spcPct val="100000"/>
              </a:lnSpc>
            </a:pPr>
            <a:r>
              <a:rPr b="1" lang="zh-CN" sz="1200" strike="noStrike" u="none">
                <a:solidFill>
                  <a:srgbClr val="595959"/>
                </a:solidFill>
                <a:effectLst/>
                <a:uFillTx/>
                <a:latin typeface="メイリオ"/>
                <a:ea typeface="メイリオ"/>
              </a:rPr>
              <a:t>問い合わせ</a:t>
            </a:r>
            <a:endParaRPr b="0" lang="en-US" sz="1200" strike="noStrike" u="none">
              <a:solidFill>
                <a:srgbClr val="000000"/>
              </a:solidFill>
              <a:effectLst/>
              <a:uFillTx/>
              <a:latin typeface="Arial"/>
            </a:endParaRPr>
          </a:p>
        </p:txBody>
      </p:sp>
      <p:sp>
        <p:nvSpPr>
          <p:cNvPr id="220" name="正方形/長方形 56"/>
          <p:cNvSpPr/>
          <p:nvPr/>
        </p:nvSpPr>
        <p:spPr>
          <a:xfrm>
            <a:off x="3611880" y="4690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内見・お申込みの案内</a:t>
            </a:r>
            <a:endParaRPr b="0" lang="en-US" sz="1200" strike="noStrike" u="none">
              <a:solidFill>
                <a:srgbClr val="ffffff"/>
              </a:solidFill>
              <a:effectLst/>
              <a:uFillTx/>
              <a:latin typeface="Arial"/>
            </a:endParaRPr>
          </a:p>
        </p:txBody>
      </p:sp>
      <p:sp>
        <p:nvSpPr>
          <p:cNvPr id="221" name="正方形/長方形 57"/>
          <p:cNvSpPr/>
          <p:nvPr/>
        </p:nvSpPr>
        <p:spPr>
          <a:xfrm>
            <a:off x="3611880" y="4978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別の物件</a:t>
            </a:r>
            <a:r>
              <a:rPr b="1" lang="en-US" sz="1200" strike="noStrike" u="none">
                <a:solidFill>
                  <a:schemeClr val="lt1"/>
                </a:solidFill>
                <a:effectLst/>
                <a:uFillTx/>
                <a:latin typeface="メイリオ"/>
                <a:ea typeface="メイリオ"/>
              </a:rPr>
              <a:t>URL</a:t>
            </a:r>
            <a:r>
              <a:rPr b="1" lang="ja-JP" sz="1200" strike="noStrike" u="none">
                <a:solidFill>
                  <a:schemeClr val="lt1"/>
                </a:solidFill>
                <a:effectLst/>
                <a:uFillTx/>
                <a:latin typeface="メイリオ"/>
                <a:ea typeface="メイリオ"/>
              </a:rPr>
              <a:t>の受付</a:t>
            </a:r>
            <a:endParaRPr b="0" lang="en-US" sz="1200" strike="noStrike" u="none">
              <a:solidFill>
                <a:srgbClr val="ffffff"/>
              </a:solidFill>
              <a:effectLst/>
              <a:uFillTx/>
              <a:latin typeface="Arial"/>
            </a:endParaRPr>
          </a:p>
        </p:txBody>
      </p:sp>
      <p:sp>
        <p:nvSpPr>
          <p:cNvPr id="222" name="正方形/長方形 58"/>
          <p:cNvSpPr/>
          <p:nvPr/>
        </p:nvSpPr>
        <p:spPr>
          <a:xfrm>
            <a:off x="361188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ご成約</a:t>
            </a:r>
            <a:endParaRPr b="0" lang="en-US" sz="1200" strike="noStrike" u="none">
              <a:solidFill>
                <a:srgbClr val="ffffff"/>
              </a:solidFill>
              <a:effectLst/>
              <a:uFillTx/>
              <a:latin typeface="Arial"/>
            </a:endParaRPr>
          </a:p>
        </p:txBody>
      </p:sp>
      <p:sp>
        <p:nvSpPr>
          <p:cNvPr id="223" name="正方形/長方形 59"/>
          <p:cNvSpPr/>
          <p:nvPr/>
        </p:nvSpPr>
        <p:spPr>
          <a:xfrm>
            <a:off x="3611880" y="5555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チャットタグで対応状況を管理</a:t>
            </a:r>
            <a:endParaRPr b="0" lang="en-US" sz="1200" strike="noStrike" u="none">
              <a:solidFill>
                <a:srgbClr val="ffffff"/>
              </a:solidFill>
              <a:effectLst/>
              <a:uFillTx/>
              <a:latin typeface="Arial"/>
            </a:endParaRPr>
          </a:p>
        </p:txBody>
      </p:sp>
      <p:sp>
        <p:nvSpPr>
          <p:cNvPr id="224" name="正方形/長方形 60"/>
          <p:cNvSpPr/>
          <p:nvPr/>
        </p:nvSpPr>
        <p:spPr>
          <a:xfrm>
            <a:off x="492876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入居までの案内</a:t>
            </a:r>
            <a:endParaRPr b="0" lang="en-US" sz="1200" strike="noStrike" u="none">
              <a:solidFill>
                <a:srgbClr val="ffffff"/>
              </a:solidFill>
              <a:effectLst/>
              <a:uFillTx/>
              <a:latin typeface="Arial"/>
            </a:endParaRPr>
          </a:p>
        </p:txBody>
      </p:sp>
      <p:cxnSp>
        <p:nvCxnSpPr>
          <p:cNvPr id="225" name="コネクタ: カギ線 61"/>
          <p:cNvCxnSpPr>
            <a:stCxn id="218" idx="3"/>
            <a:endCxn id="220" idx="1"/>
          </p:cNvCxnSpPr>
          <p:nvPr/>
        </p:nvCxnSpPr>
        <p:spPr>
          <a:xfrm>
            <a:off x="1599840" y="4818600"/>
            <a:ext cx="2012400" cy="360"/>
          </a:xfrm>
          <a:prstGeom prst="bentConnector2">
            <a:avLst/>
          </a:prstGeom>
          <a:ln>
            <a:solidFill>
              <a:srgbClr val="7F7F7F"/>
            </a:solidFill>
            <a:prstDash val="sysDash"/>
            <a:round/>
            <a:tailEnd len="med" type="triangle" w="med"/>
          </a:ln>
        </p:spPr>
      </p:cxnSp>
      <p:cxnSp>
        <p:nvCxnSpPr>
          <p:cNvPr id="226" name="コネクタ: カギ線 62"/>
          <p:cNvCxnSpPr>
            <a:stCxn id="218" idx="3"/>
            <a:endCxn id="221" idx="1"/>
          </p:cNvCxnSpPr>
          <p:nvPr/>
        </p:nvCxnSpPr>
        <p:spPr>
          <a:xfrm>
            <a:off x="1599840" y="4818600"/>
            <a:ext cx="2012400" cy="288360"/>
          </a:xfrm>
          <a:prstGeom prst="bentConnector3">
            <a:avLst>
              <a:gd name="adj1" fmla="val 50008"/>
            </a:avLst>
          </a:prstGeom>
          <a:ln>
            <a:solidFill>
              <a:srgbClr val="7F7F7F"/>
            </a:solidFill>
            <a:prstDash val="sysDash"/>
            <a:round/>
            <a:tailEnd len="med" type="triangle" w="med"/>
          </a:ln>
        </p:spPr>
      </p:cxnSp>
      <p:cxnSp>
        <p:nvCxnSpPr>
          <p:cNvPr id="227" name="コネクタ: カギ線 63"/>
          <p:cNvCxnSpPr>
            <a:stCxn id="218" idx="3"/>
            <a:endCxn id="222" idx="1"/>
          </p:cNvCxnSpPr>
          <p:nvPr/>
        </p:nvCxnSpPr>
        <p:spPr>
          <a:xfrm>
            <a:off x="1599840" y="4818600"/>
            <a:ext cx="2012400" cy="576360"/>
          </a:xfrm>
          <a:prstGeom prst="bentConnector3">
            <a:avLst>
              <a:gd name="adj1" fmla="val 50008"/>
            </a:avLst>
          </a:prstGeom>
          <a:ln>
            <a:solidFill>
              <a:srgbClr val="7F7F7F"/>
            </a:solidFill>
            <a:prstDash val="sysDash"/>
            <a:round/>
            <a:tailEnd len="med" type="triangle" w="med"/>
          </a:ln>
        </p:spPr>
      </p:cxnSp>
      <p:cxnSp>
        <p:nvCxnSpPr>
          <p:cNvPr id="228" name="コネクタ: カギ線 64"/>
          <p:cNvCxnSpPr>
            <a:stCxn id="218" idx="3"/>
            <a:endCxn id="223" idx="1"/>
          </p:cNvCxnSpPr>
          <p:nvPr/>
        </p:nvCxnSpPr>
        <p:spPr>
          <a:xfrm>
            <a:off x="1599840" y="4818600"/>
            <a:ext cx="2012400" cy="864720"/>
          </a:xfrm>
          <a:prstGeom prst="bentConnector3">
            <a:avLst>
              <a:gd name="adj1" fmla="val 50008"/>
            </a:avLst>
          </a:prstGeom>
          <a:ln>
            <a:solidFill>
              <a:srgbClr val="7F7F7F"/>
            </a:solidFill>
            <a:prstDash val="sysDash"/>
            <a:round/>
            <a:tailEnd len="med" type="triangle" w="med"/>
          </a:ln>
        </p:spPr>
      </p:cxnSp>
      <p:sp>
        <p:nvSpPr>
          <p:cNvPr id="229" name="正方形/長方形 65"/>
          <p:cNvSpPr/>
          <p:nvPr/>
        </p:nvSpPr>
        <p:spPr>
          <a:xfrm>
            <a:off x="3611880" y="5843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企画配信（月</a:t>
            </a:r>
            <a:r>
              <a:rPr b="1" lang="en-US" sz="1200" strike="noStrike" u="none">
                <a:solidFill>
                  <a:schemeClr val="lt1"/>
                </a:solidFill>
                <a:effectLst/>
                <a:uFillTx/>
                <a:latin typeface="メイリオ"/>
                <a:ea typeface="メイリオ"/>
              </a:rPr>
              <a:t>4</a:t>
            </a:r>
            <a:r>
              <a:rPr b="1" lang="ja-JP" sz="1200" strike="noStrike" u="none">
                <a:solidFill>
                  <a:schemeClr val="lt1"/>
                </a:solidFill>
                <a:effectLst/>
                <a:uFillTx/>
                <a:latin typeface="メイリオ"/>
                <a:ea typeface="メイリオ"/>
              </a:rPr>
              <a:t>本）・リサーチ</a:t>
            </a:r>
            <a:endParaRPr b="0" lang="en-US" sz="1200" strike="noStrike" u="none">
              <a:solidFill>
                <a:srgbClr val="ffffff"/>
              </a:solidFill>
              <a:effectLst/>
              <a:uFillTx/>
              <a:latin typeface="Arial"/>
            </a:endParaRPr>
          </a:p>
        </p:txBody>
      </p:sp>
      <p:sp>
        <p:nvSpPr>
          <p:cNvPr id="230" name="正方形/長方形 66"/>
          <p:cNvSpPr/>
          <p:nvPr/>
        </p:nvSpPr>
        <p:spPr>
          <a:xfrm>
            <a:off x="3611880" y="6131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個別チャット</a:t>
            </a:r>
            <a:endParaRPr b="0" lang="en-US" sz="1200" strike="noStrike" u="none">
              <a:solidFill>
                <a:srgbClr val="ffffff"/>
              </a:solidFill>
              <a:effectLst/>
              <a:uFillTx/>
              <a:latin typeface="Arial"/>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rIns="45720" tIns="0" bIns="0" anchor="ctr">
            <a:noAutofit/>
          </a:bodyPr>
          <a:p>
            <a:pPr algn="ctr" defTabSz="914400">
              <a:lnSpc>
                <a:spcPct val="100000"/>
              </a:lnSpc>
            </a:pPr>
            <a:r>
              <a:rPr b="1" lang="en-US" sz="1200" strike="noStrike" u="none">
                <a:solidFill>
                  <a:srgbClr val="00b050"/>
                </a:solidFill>
                <a:effectLst/>
                <a:uFillTx/>
                <a:latin typeface="メイリオ"/>
                <a:ea typeface="メイリオ"/>
              </a:rPr>
              <a:t>LINE</a:t>
            </a:r>
            <a:r>
              <a:rPr b="1" lang="ja-JP" sz="1200" strike="noStrike" u="none">
                <a:solidFill>
                  <a:srgbClr val="00b050"/>
                </a:solidFill>
                <a:effectLst/>
                <a:uFillTx/>
                <a:latin typeface="メイリオ"/>
                <a:ea typeface="メイリオ"/>
              </a:rPr>
              <a:t>公式アカウントの標準機能で運用</a:t>
            </a:r>
            <a:endParaRPr b="0" lang="en-US" sz="1200" strike="noStrike" u="non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離脱防止ポップアップとサイトのLINEボタンから友だち追加し、物件情報の送信（CV）につなげます。</a:t>
            </a:r>
            <a:endParaRPr b="0" lang="en-US" sz="1400" strike="noStrike" u="none">
              <a:solidFill>
                <a:srgbClr val="000000"/>
              </a:solidFill>
              <a:effectLst/>
              <a:uFillTx/>
              <a:latin typeface="Arial"/>
            </a:endParaRPr>
          </a:p>
          <a:p>
            <a:pPr algn="ctr" defTabSz="914400">
              <a:lnSpc>
                <a:spcPct val="100000"/>
              </a:lnSpc>
            </a:pPr>
            <a:r>
              <a:rPr b="0" lang="en-US" sz="1400" strike="noStrike" u="none">
                <a:solidFill>
                  <a:schemeClr val="dk1">
                    <a:lumMod val="65000"/>
                    <a:lumOff val="35000"/>
                  </a:schemeClr>
                </a:solidFill>
                <a:effectLst/>
                <a:uFillTx/>
                <a:latin typeface="メイリオ"/>
                <a:ea typeface="メイリオ"/>
              </a:rPr>
              <a:t>LINE公式アカウントの標準機能で運用（離脱防止ポップアップは別途導入）</a:t>
            </a:r>
            <a:endParaRPr b="0" lang="en-US" sz="1400" strike="noStrike" u="none">
              <a:solidFill>
                <a:srgbClr val="000000"/>
              </a:solidFill>
              <a:effectLst/>
              <a:uFillTx/>
              <a:latin typeface="Arial"/>
            </a:endParaRPr>
          </a:p>
        </p:txBody>
      </p:sp>
      <p:sp>
        <p:nvSpPr>
          <p:cNvPr id="233" name="CVの注記"/>
          <p:cNvSpPr/>
          <p:nvPr/>
        </p:nvSpPr>
        <p:spPr>
          <a:xfrm>
            <a:off x="8119872" y="2587752"/>
            <a:ext cx="1554480" cy="402336"/>
          </a:xfrm>
          <a:prstGeom prst="rect">
            <a:avLst/>
          </a:prstGeom>
          <a:noFill/>
          <a:ln>
            <a:noFill/>
          </a:ln>
        </p:spPr>
        <p:txBody>
          <a:bodyPr wrap="square" lIns="0" tIns="0" rIns="0" bIns="0" rtlCol="0" anchor="ctr">
            <a:noAutofit/>
          </a:bodyPr>
          <a:lstStyle/>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運用フローの終点</a:t>
            </a:r>
            <a:endParaRPr lang="ja-JP" altLang="en-US" sz="1100" dirty="0"/>
          </a:p>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（当社の計測対象）</a:t>
            </a:r>
            <a:endParaRPr lang="ja-JP" altLang="en-US" sz="1100" dirty="0"/>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23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想定セグメント</a:t>
            </a:r>
            <a:r>
              <a:rPr b="1" lang="en-US" sz="1600" strike="noStrike" u="none">
                <a:solidFill>
                  <a:srgbClr val="002060"/>
                </a:solidFill>
                <a:effectLst/>
                <a:uFillTx/>
                <a:latin typeface="Meiryo"/>
                <a:ea typeface="Meiryo"/>
              </a:rPr>
              <a:t>×</a:t>
            </a:r>
            <a:r>
              <a:rPr b="1" lang="ja-JP" sz="1600" strike="noStrike" u="none">
                <a:solidFill>
                  <a:srgbClr val="002060"/>
                </a:solidFill>
                <a:effectLst/>
                <a:uFillTx/>
                <a:latin typeface="Meiryo"/>
                <a:ea typeface="Meiryo"/>
              </a:rPr>
              <a:t>成果</a:t>
            </a:r>
            <a:endParaRPr b="0" lang="en-US" sz="1600" strike="noStrike" u="none">
              <a:solidFill>
                <a:srgbClr val="000000"/>
              </a:solidFill>
              <a:effectLst/>
              <a:uFillTx/>
              <a:latin typeface="Arial"/>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流入元</a:t>
            </a:r>
            <a:endParaRPr b="0" lang="en-US" sz="1300" strike="noStrike" u="non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300" strike="noStrike" u="none">
                <a:solidFill>
                  <a:schemeClr val="lt1"/>
                </a:solidFill>
                <a:effectLst/>
                <a:uFillTx/>
                <a:latin typeface="メイリオ"/>
                <a:ea typeface="メイリオ"/>
              </a:rPr>
              <a:t>LINE</a:t>
            </a:r>
            <a:r>
              <a:rPr b="1" lang="ja-JP" sz="1300" strike="noStrike" u="none">
                <a:solidFill>
                  <a:schemeClr val="lt1"/>
                </a:solidFill>
                <a:effectLst/>
                <a:uFillTx/>
                <a:latin typeface="メイリオ"/>
                <a:ea typeface="メイリオ"/>
              </a:rPr>
              <a:t>誘導</a:t>
            </a:r>
            <a:endParaRPr b="0" lang="en-US" sz="1300" strike="noStrike" u="non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300" strike="noStrike" u="none">
                <a:solidFill>
                  <a:schemeClr val="lt1"/>
                </a:solidFill>
                <a:effectLst/>
                <a:uFillTx/>
                <a:latin typeface="メイリオ"/>
                <a:ea typeface="メイリオ"/>
              </a:rPr>
              <a:t>具体の施策方針</a:t>
            </a:r>
            <a:endParaRPr b="0" lang="en-US" sz="1300" strike="noStrike" u="none">
              <a:solidFill>
                <a:srgbClr val="ffffff"/>
              </a:solidFill>
              <a:effectLst/>
              <a:uFillTx/>
              <a:latin typeface="Arial"/>
            </a:endParaRPr>
          </a:p>
        </p:txBody>
      </p:sp>
      <p:sp>
        <p:nvSpPr>
          <p:cNvPr id="239" name="矢印: 右 7"/>
          <p:cNvSpPr/>
          <p:nvPr/>
        </p:nvSpPr>
        <p:spPr>
          <a:xfrm>
            <a:off x="1031400" y="2268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40" name="正方形/長方形 8"/>
          <p:cNvSpPr/>
          <p:nvPr/>
        </p:nvSpPr>
        <p:spPr>
          <a:xfrm>
            <a:off x="1890360" y="20026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離脱防止</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ポップアップ</a:t>
            </a:r>
            <a:endParaRPr b="0" lang="en-US" sz="1100" strike="noStrike" u="none">
              <a:solidFill>
                <a:srgbClr val="000000"/>
              </a:solidFill>
              <a:effectLst/>
              <a:uFillTx/>
              <a:latin typeface="Arial"/>
            </a:endParaRPr>
          </a:p>
        </p:txBody>
      </p:sp>
      <p:sp>
        <p:nvSpPr>
          <p:cNvPr id="241" name="正方形/長方形 9"/>
          <p:cNvSpPr/>
          <p:nvPr/>
        </p:nvSpPr>
        <p:spPr>
          <a:xfrm>
            <a:off x="1890360" y="261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LINE</a:t>
            </a:r>
            <a:r>
              <a:rPr b="0" lang="ja-JP" sz="1100" strike="noStrike" u="none">
                <a:solidFill>
                  <a:schemeClr val="dk1">
                    <a:lumMod val="75000"/>
                    <a:lumOff val="25000"/>
                  </a:schemeClr>
                </a:solidFill>
                <a:effectLst/>
                <a:uFillTx/>
                <a:latin typeface="メイリオ"/>
                <a:ea typeface="メイリオ"/>
              </a:rPr>
              <a:t>でお問い合わせ</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ボタン（全ページ）</a:t>
            </a:r>
            <a:endParaRPr b="0" lang="en-US" sz="1100" strike="noStrike" u="none">
              <a:solidFill>
                <a:srgbClr val="000000"/>
              </a:solidFill>
              <a:effectLst/>
              <a:uFillTx/>
              <a:latin typeface="Arial"/>
            </a:endParaRPr>
          </a:p>
        </p:txBody>
      </p:sp>
      <p:sp>
        <p:nvSpPr>
          <p:cNvPr id="242" name="正方形/長方形 10"/>
          <p:cNvSpPr/>
          <p:nvPr/>
        </p:nvSpPr>
        <p:spPr>
          <a:xfrm>
            <a:off x="388080" y="20026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100</a:t>
            </a:r>
            <a:r>
              <a:rPr b="0" lang="zh-CN" sz="1100" strike="noStrike" u="none">
                <a:solidFill>
                  <a:schemeClr val="dk1">
                    <a:lumMod val="75000"/>
                    <a:lumOff val="25000"/>
                  </a:schemeClr>
                </a:solidFill>
                <a:effectLst/>
                <a:uFillTx/>
                <a:latin typeface="メイリオ"/>
                <a:ea typeface="メイリオ"/>
              </a:rPr>
              <a:t>円賃貸のサイト</a:t>
            </a:r>
            <a:endParaRPr b="0" lang="en-US" sz="1100" strike="noStrike" u="none">
              <a:solidFill>
                <a:srgbClr val="000000"/>
              </a:solidFill>
              <a:effectLst/>
              <a:uFillTx/>
              <a:latin typeface="Arial"/>
            </a:endParaRPr>
          </a:p>
        </p:txBody>
      </p:sp>
      <p:sp>
        <p:nvSpPr>
          <p:cNvPr id="243" name="正方形/長方形 11"/>
          <p:cNvSpPr/>
          <p:nvPr/>
        </p:nvSpPr>
        <p:spPr>
          <a:xfrm>
            <a:off x="388080" y="261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100</a:t>
            </a:r>
            <a:r>
              <a:rPr b="0" lang="ja-JP" sz="1100" strike="noStrike" u="none">
                <a:solidFill>
                  <a:schemeClr val="dk1">
                    <a:lumMod val="75000"/>
                    <a:lumOff val="25000"/>
                  </a:schemeClr>
                </a:solidFill>
                <a:effectLst/>
                <a:uFillTx/>
                <a:latin typeface="メイリオ"/>
                <a:ea typeface="メイリオ"/>
              </a:rPr>
              <a:t>円賃貸のサイト</a:t>
            </a:r>
            <a:endParaRPr b="0" lang="en-US" sz="1100" strike="noStrike" u="none">
              <a:solidFill>
                <a:srgbClr val="000000"/>
              </a:solidFill>
              <a:effectLst/>
              <a:uFillTx/>
              <a:latin typeface="Arial"/>
            </a:endParaRPr>
          </a:p>
        </p:txBody>
      </p:sp>
      <p:sp>
        <p:nvSpPr>
          <p:cNvPr id="244" name="正方形/長方形 12"/>
          <p:cNvSpPr/>
          <p:nvPr/>
        </p:nvSpPr>
        <p:spPr>
          <a:xfrm>
            <a:off x="3392640" y="199728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32202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46" name="矢印: 右 14"/>
          <p:cNvSpPr/>
          <p:nvPr/>
        </p:nvSpPr>
        <p:spPr>
          <a:xfrm>
            <a:off x="1031400" y="39214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247" name="直線コネクタ 15"/>
          <p:cNvCxnSpPr/>
          <p:nvPr/>
        </p:nvCxnSpPr>
        <p:spPr>
          <a:xfrm>
            <a:off x="388080" y="3876480"/>
            <a:ext cx="7324920" cy="360"/>
          </a:xfrm>
          <a:prstGeom prst="straightConnector1">
            <a:avLst/>
          </a:prstGeom>
          <a:ln>
            <a:solidFill>
              <a:srgbClr val="4a7ebb"/>
            </a:solidFill>
            <a:prstDash val="sysDash"/>
            <a:round/>
          </a:ln>
        </p:spPr>
      </p:cxnSp>
      <p:sp>
        <p:nvSpPr>
          <p:cNvPr id="248" name="正方形/長方形 16"/>
          <p:cNvSpPr/>
          <p:nvPr/>
        </p:nvSpPr>
        <p:spPr>
          <a:xfrm>
            <a:off x="388080" y="322920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今の友だち（</a:t>
            </a:r>
            <a:r>
              <a:rPr b="0" lang="en-US" sz="1100" strike="noStrike" u="none">
                <a:solidFill>
                  <a:schemeClr val="dk1">
                    <a:lumMod val="65000"/>
                    <a:lumOff val="35000"/>
                  </a:schemeClr>
                </a:solidFill>
                <a:effectLst/>
                <a:uFillTx/>
                <a:latin typeface="メイリオ"/>
                <a:ea typeface="メイリオ"/>
              </a:rPr>
              <a:t>1,241</a:t>
            </a:r>
            <a:r>
              <a:rPr b="0" lang="zh-CN" sz="1100" strike="noStrike" u="none">
                <a:solidFill>
                  <a:schemeClr val="dk1">
                    <a:lumMod val="65000"/>
                    <a:lumOff val="35000"/>
                  </a:schemeClr>
                </a:solidFill>
                <a:effectLst/>
                <a:uFillTx/>
                <a:latin typeface="メイリオ"/>
                <a:ea typeface="メイリオ"/>
              </a:rPr>
              <a:t>人）</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新しい友だち</a:t>
            </a:r>
            <a:endParaRPr b="0" lang="en-US" sz="1100" strike="noStrike" u="none">
              <a:solidFill>
                <a:srgbClr val="000000"/>
              </a:solidFill>
              <a:effectLst/>
              <a:uFillTx/>
              <a:latin typeface="Arial"/>
            </a:endParaRPr>
          </a:p>
        </p:txBody>
      </p:sp>
      <p:sp>
        <p:nvSpPr>
          <p:cNvPr id="249" name="正方形/長方形 17"/>
          <p:cNvSpPr/>
          <p:nvPr/>
        </p:nvSpPr>
        <p:spPr>
          <a:xfrm>
            <a:off x="1890360" y="39654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個別チャット</a:t>
            </a:r>
            <a:endParaRPr b="0" lang="en-US" sz="1100" strike="noStrike" u="none">
              <a:solidFill>
                <a:srgbClr val="000000"/>
              </a:solidFill>
              <a:effectLst/>
              <a:uFillTx/>
              <a:latin typeface="Arial"/>
            </a:endParaRPr>
          </a:p>
        </p:txBody>
      </p:sp>
      <p:sp>
        <p:nvSpPr>
          <p:cNvPr id="250" name="正方形/長方形 18"/>
          <p:cNvSpPr/>
          <p:nvPr/>
        </p:nvSpPr>
        <p:spPr>
          <a:xfrm>
            <a:off x="388080" y="39654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問い合わせた方</a:t>
            </a:r>
            <a:endParaRPr b="0" lang="en-US" sz="1100" strike="noStrike" u="none">
              <a:solidFill>
                <a:srgbClr val="000000"/>
              </a:solidFill>
              <a:effectLst/>
              <a:uFillTx/>
              <a:latin typeface="Arial"/>
            </a:endParaRPr>
          </a:p>
        </p:txBody>
      </p:sp>
      <p:sp>
        <p:nvSpPr>
          <p:cNvPr id="251" name="正方形/長方形 19"/>
          <p:cNvSpPr/>
          <p:nvPr/>
        </p:nvSpPr>
        <p:spPr>
          <a:xfrm>
            <a:off x="3392640" y="32292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52" name="正方形/長方形 20"/>
          <p:cNvSpPr/>
          <p:nvPr/>
        </p:nvSpPr>
        <p:spPr>
          <a:xfrm>
            <a:off x="3392640" y="3965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53" name="矢印: 右 21"/>
          <p:cNvSpPr/>
          <p:nvPr/>
        </p:nvSpPr>
        <p:spPr>
          <a:xfrm>
            <a:off x="1031400" y="45684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4" name="矢印: 右 22"/>
          <p:cNvSpPr/>
          <p:nvPr/>
        </p:nvSpPr>
        <p:spPr>
          <a:xfrm>
            <a:off x="1031400" y="57999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5" name="矢印: 右 23"/>
          <p:cNvSpPr/>
          <p:nvPr/>
        </p:nvSpPr>
        <p:spPr>
          <a:xfrm>
            <a:off x="1031400" y="51897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6" name="正方形/長方形 24"/>
          <p:cNvSpPr/>
          <p:nvPr/>
        </p:nvSpPr>
        <p:spPr>
          <a:xfrm>
            <a:off x="1890360" y="45838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自動応答</a:t>
            </a:r>
            <a:endParaRPr b="0" lang="en-US" sz="1100" strike="noStrike" u="none">
              <a:solidFill>
                <a:srgbClr val="000000"/>
              </a:solidFill>
              <a:effectLst/>
              <a:uFillTx/>
              <a:latin typeface="Arial"/>
            </a:endParaRPr>
          </a:p>
        </p:txBody>
      </p:sp>
      <p:sp>
        <p:nvSpPr>
          <p:cNvPr id="257" name="正方形/長方形 25"/>
          <p:cNvSpPr/>
          <p:nvPr/>
        </p:nvSpPr>
        <p:spPr>
          <a:xfrm>
            <a:off x="388080" y="45838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受付時間外の方</a:t>
            </a:r>
            <a:endParaRPr b="0" lang="en-US" sz="1100" strike="noStrike" u="none">
              <a:solidFill>
                <a:srgbClr val="000000"/>
              </a:solidFill>
              <a:effectLst/>
              <a:uFillTx/>
              <a:latin typeface="Arial"/>
            </a:endParaRPr>
          </a:p>
        </p:txBody>
      </p:sp>
      <p:sp>
        <p:nvSpPr>
          <p:cNvPr id="258" name="正方形/長方形 26"/>
          <p:cNvSpPr/>
          <p:nvPr/>
        </p:nvSpPr>
        <p:spPr>
          <a:xfrm>
            <a:off x="388080" y="520272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迷っている方</a:t>
            </a:r>
            <a:endParaRPr b="0" lang="en-US" sz="1100" strike="noStrike" u="none">
              <a:solidFill>
                <a:srgbClr val="000000"/>
              </a:solidFill>
              <a:effectLst/>
              <a:uFillTx/>
              <a:latin typeface="Arial"/>
            </a:endParaRPr>
          </a:p>
        </p:txBody>
      </p:sp>
      <p:sp>
        <p:nvSpPr>
          <p:cNvPr id="259" name="正方形/長方形 27"/>
          <p:cNvSpPr/>
          <p:nvPr/>
        </p:nvSpPr>
        <p:spPr>
          <a:xfrm>
            <a:off x="388080" y="58212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他社で内見済みの方</a:t>
            </a:r>
            <a:endParaRPr b="0" lang="en-US" sz="1100" strike="noStrike" u="none">
              <a:solidFill>
                <a:srgbClr val="000000"/>
              </a:solidFill>
              <a:effectLst/>
              <a:uFillTx/>
              <a:latin typeface="Arial"/>
            </a:endParaRPr>
          </a:p>
        </p:txBody>
      </p:sp>
      <p:sp>
        <p:nvSpPr>
          <p:cNvPr id="260" name="正方形/長方形 28"/>
          <p:cNvSpPr/>
          <p:nvPr/>
        </p:nvSpPr>
        <p:spPr>
          <a:xfrm>
            <a:off x="1890360" y="520272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リッチメニュー</a:t>
            </a:r>
            <a:endParaRPr b="0" lang="en-US" sz="1100" strike="noStrike" u="none">
              <a:solidFill>
                <a:srgbClr val="000000"/>
              </a:solidFill>
              <a:effectLst/>
              <a:uFillTx/>
              <a:latin typeface="Arial"/>
            </a:endParaRPr>
          </a:p>
        </p:txBody>
      </p:sp>
      <p:sp>
        <p:nvSpPr>
          <p:cNvPr id="261" name="正方形/長方形 29"/>
          <p:cNvSpPr/>
          <p:nvPr/>
        </p:nvSpPr>
        <p:spPr>
          <a:xfrm>
            <a:off x="1890360" y="58212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企画配信</a:t>
            </a:r>
            <a:endParaRPr b="0" lang="en-US" sz="1100" strike="noStrike" u="none">
              <a:solidFill>
                <a:srgbClr val="000000"/>
              </a:solidFill>
              <a:effectLst/>
              <a:uFillTx/>
              <a:latin typeface="Arial"/>
            </a:endParaRPr>
          </a:p>
        </p:txBody>
      </p:sp>
      <p:sp>
        <p:nvSpPr>
          <p:cNvPr id="262" name="正方形/長方形 30"/>
          <p:cNvSpPr/>
          <p:nvPr/>
        </p:nvSpPr>
        <p:spPr>
          <a:xfrm>
            <a:off x="3392640" y="45838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3" name="正方形/長方形 31"/>
          <p:cNvSpPr/>
          <p:nvPr/>
        </p:nvSpPr>
        <p:spPr>
          <a:xfrm>
            <a:off x="3392640" y="520272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4" name="正方形/長方形 32"/>
          <p:cNvSpPr/>
          <p:nvPr/>
        </p:nvSpPr>
        <p:spPr>
          <a:xfrm>
            <a:off x="3392640" y="5810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5" name="Shape 17"/>
          <p:cNvSpPr/>
          <p:nvPr/>
        </p:nvSpPr>
        <p:spPr>
          <a:xfrm>
            <a:off x="3586680" y="206820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あいさつ</a:t>
            </a: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595959"/>
                </a:solidFill>
                <a:effectLst/>
                <a:uFillTx/>
                <a:latin typeface="メイリオ"/>
                <a:ea typeface="メイリオ"/>
              </a:rPr>
              <a:t>物件の送り方を案内</a:t>
            </a:r>
            <a:endParaRPr b="0" lang="en-US" sz="1100" strike="noStrike" u="none">
              <a:solidFill>
                <a:srgbClr val="000000"/>
              </a:solidFill>
              <a:effectLst/>
              <a:uFillTx/>
              <a:latin typeface="Arial"/>
            </a:endParaRPr>
          </a:p>
        </p:txBody>
      </p:sp>
      <p:sp>
        <p:nvSpPr>
          <p:cNvPr id="266" name="Shape 18"/>
          <p:cNvSpPr/>
          <p:nvPr/>
        </p:nvSpPr>
        <p:spPr>
          <a:xfrm>
            <a:off x="5635800" y="206820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ステップ配信（全</a:t>
            </a:r>
            <a:r>
              <a:rPr b="0" lang="en-US" sz="1100" strike="noStrike" u="none">
                <a:solidFill>
                  <a:srgbClr val="595959"/>
                </a:solidFill>
                <a:effectLst/>
                <a:uFillTx/>
                <a:latin typeface="メイリオ"/>
                <a:ea typeface="メイリオ"/>
              </a:rPr>
              <a:t>10</a:t>
            </a:r>
            <a:r>
              <a:rPr b="0" lang="zh-CN" sz="1100" strike="noStrike" u="none">
                <a:solidFill>
                  <a:srgbClr val="595959"/>
                </a:solidFill>
                <a:effectLst/>
                <a:uFillTx/>
                <a:latin typeface="メイリオ"/>
                <a:ea typeface="メイリオ"/>
              </a:rPr>
              <a:t>通）</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物件</a:t>
            </a:r>
            <a:r>
              <a:rPr b="0" lang="en-US" sz="1100" strike="noStrike" u="none">
                <a:solidFill>
                  <a:srgbClr val="595959"/>
                </a:solidFill>
                <a:effectLst/>
                <a:uFillTx/>
                <a:latin typeface="メイリオ"/>
                <a:ea typeface="メイリオ"/>
              </a:rPr>
              <a:t>URL</a:t>
            </a:r>
            <a:r>
              <a:rPr b="0" lang="zh-CN" sz="1100" strike="noStrike" u="none">
                <a:solidFill>
                  <a:srgbClr val="595959"/>
                </a:solidFill>
                <a:effectLst/>
                <a:uFillTx/>
                <a:latin typeface="メイリオ"/>
                <a:ea typeface="メイリオ"/>
              </a:rPr>
              <a:t>の送信</a:t>
            </a:r>
            <a:endParaRPr b="0" lang="en-US" sz="1100" strike="noStrike" u="none">
              <a:solidFill>
                <a:srgbClr val="000000"/>
              </a:solidFill>
              <a:effectLst/>
              <a:uFillTx/>
              <a:latin typeface="Arial"/>
            </a:endParaRPr>
          </a:p>
        </p:txBody>
      </p:sp>
      <p:cxnSp>
        <p:nvCxnSpPr>
          <p:cNvPr id="267" name="直線矢印コネクタ 35"/>
          <p:cNvCxnSpPr>
            <a:endCxn id="266" idx="1"/>
          </p:cNvCxnSpPr>
          <p:nvPr/>
        </p:nvCxnSpPr>
        <p:spPr>
          <a:xfrm>
            <a:off x="5366880" y="2292120"/>
            <a:ext cx="269280" cy="9360"/>
          </a:xfrm>
          <a:prstGeom prst="straightConnector1">
            <a:avLst/>
          </a:prstGeom>
          <a:ln>
            <a:solidFill>
              <a:srgbClr val="000000"/>
            </a:solidFill>
            <a:prstDash val="sysDot"/>
            <a:round/>
            <a:tailEnd len="med" type="triangle" w="med"/>
          </a:ln>
        </p:spPr>
      </p:cxnSp>
      <p:sp>
        <p:nvSpPr>
          <p:cNvPr id="268" name="Shape 17"/>
          <p:cNvSpPr/>
          <p:nvPr/>
        </p:nvSpPr>
        <p:spPr>
          <a:xfrm>
            <a:off x="3586680" y="26024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キーワード応答</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よくある質問に返信</a:t>
            </a:r>
            <a:endParaRPr b="0" lang="en-US" sz="1100" strike="noStrike" u="none">
              <a:solidFill>
                <a:srgbClr val="000000"/>
              </a:solidFill>
              <a:effectLst/>
              <a:uFillTx/>
              <a:latin typeface="Arial"/>
            </a:endParaRPr>
          </a:p>
        </p:txBody>
      </p:sp>
      <p:sp>
        <p:nvSpPr>
          <p:cNvPr id="269" name="Shape 18"/>
          <p:cNvSpPr/>
          <p:nvPr/>
        </p:nvSpPr>
        <p:spPr>
          <a:xfrm>
            <a:off x="5635800" y="26024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個別チャット</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空室確認・内見の手配</a:t>
            </a:r>
            <a:endParaRPr b="0" lang="en-US" sz="1100" strike="noStrike" u="none">
              <a:solidFill>
                <a:srgbClr val="000000"/>
              </a:solidFill>
              <a:effectLst/>
              <a:uFillTx/>
              <a:latin typeface="Arial"/>
            </a:endParaRPr>
          </a:p>
        </p:txBody>
      </p:sp>
      <p:cxnSp>
        <p:nvCxnSpPr>
          <p:cNvPr id="270" name="直線矢印コネクタ 38"/>
          <p:cNvCxnSpPr>
            <a:stCxn id="268" idx="3"/>
            <a:endCxn id="269" idx="1"/>
          </p:cNvCxnSpPr>
          <p:nvPr/>
        </p:nvCxnSpPr>
        <p:spPr>
          <a:xfrm>
            <a:off x="5349960" y="2835360"/>
            <a:ext cx="286200" cy="360"/>
          </a:xfrm>
          <a:prstGeom prst="straightConnector1">
            <a:avLst/>
          </a:prstGeom>
          <a:ln>
            <a:solidFill>
              <a:srgbClr val="000000"/>
            </a:solidFill>
            <a:prstDash val="sysDot"/>
            <a:round/>
            <a:tailEnd len="med" type="triangle" w="med"/>
          </a:ln>
        </p:spPr>
      </p:cxnSp>
      <p:sp>
        <p:nvSpPr>
          <p:cNvPr id="271" name="テキスト ボックス 102"/>
          <p:cNvSpPr/>
          <p:nvPr/>
        </p:nvSpPr>
        <p:spPr>
          <a:xfrm>
            <a:off x="7643520" y="1550880"/>
            <a:ext cx="1873800" cy="430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zh-CN" sz="1200" strike="noStrike" u="none">
                <a:solidFill>
                  <a:srgbClr val="ff0000"/>
                </a:solidFill>
                <a:effectLst/>
                <a:uFillTx/>
                <a:latin typeface="メイリオ"/>
                <a:ea typeface="メイリオ"/>
              </a:rPr>
              <a:t>問い合わせ率</a:t>
            </a:r>
            <a:endParaRPr b="0" lang="en-US" sz="1200" strike="noStrike" u="none">
              <a:solidFill>
                <a:srgbClr val="000000"/>
              </a:solidFill>
              <a:effectLst/>
              <a:uFillTx/>
              <a:latin typeface="Arial"/>
            </a:endParaRPr>
          </a:p>
          <a:p>
            <a:pPr algn="ctr" defTabSz="914400">
              <a:lnSpc>
                <a:spcPct val="100000"/>
              </a:lnSpc>
            </a:pPr>
            <a:r>
              <a:rPr b="0" lang="en-US" sz="1200" strike="noStrike" u="none">
                <a:solidFill>
                  <a:srgbClr val="ff0000"/>
                </a:solidFill>
                <a:effectLst/>
                <a:uFillTx/>
                <a:latin typeface="メイリオ"/>
                <a:ea typeface="メイリオ"/>
              </a:rPr>
              <a:t>※試算の想定</a:t>
            </a:r>
            <a:endParaRPr b="0" lang="en-US" sz="1200" strike="noStrike" u="none">
              <a:solidFill>
                <a:srgbClr val="000000"/>
              </a:solidFill>
              <a:effectLst/>
              <a:uFillTx/>
              <a:latin typeface="Arial"/>
            </a:endParaRPr>
          </a:p>
        </p:txBody>
      </p:sp>
      <p:sp>
        <p:nvSpPr>
          <p:cNvPr id="272" name="テキスト ボックス 104"/>
          <p:cNvSpPr/>
          <p:nvPr/>
        </p:nvSpPr>
        <p:spPr>
          <a:xfrm>
            <a:off x="7498080" y="2247120"/>
            <a:ext cx="1782720" cy="522720"/>
          </a:xfrm>
          <a:prstGeom prst="rect">
            <a:avLst/>
          </a:prstGeom>
          <a:noFill/>
          <a:ln w="0">
            <a:noFill/>
          </a:ln>
        </p:spPr>
        <p:style>
          <a:lnRef idx="0"/>
          <a:fillRef idx="0"/>
          <a:effectRef idx="0"/>
          <a:fontRef idx="minor"/>
        </p:style>
        <p:txBody>
          <a:bodyPr lIns="0" rIns="0" tIns="45000" bIns="45000" anchor="t">
            <a:spAutoFit/>
          </a:bodyPr>
          <a:p>
            <a:pPr algn="r" defTabSz="914400">
              <a:lnSpc>
                <a:spcPct val="100000"/>
              </a:lnSpc>
            </a:pPr>
            <a:r>
              <a:rPr b="1" lang="en-US" sz="2000" strike="noStrike" u="none">
                <a:solidFill>
                  <a:srgbClr val="ff0000"/>
                </a:solidFill>
                <a:effectLst/>
                <a:uFillTx/>
                <a:latin typeface="メイリオ"/>
                <a:ea typeface="メイリオ"/>
              </a:rPr>
              <a:t>22→57</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a:p>
            <a:pPr algn="r" defTabSz="914400">
              <a:lnSpc>
                <a:spcPct val="100000"/>
              </a:lnSpc>
            </a:pPr>
            <a:r>
              <a:rPr b="0" lang="ja-JP" sz="1100" strike="noStrike" u="none">
                <a:solidFill>
                  <a:srgbClr val="ff0000"/>
                </a:solidFill>
                <a:effectLst/>
                <a:uFillTx/>
                <a:latin typeface="メイリオ"/>
                <a:ea typeface="メイリオ"/>
              </a:rPr>
              <a:t>友だち追加直後に</a:t>
            </a:r>
            <a:endParaRPr b="0" lang="en-US" sz="1100" strike="noStrike" u="none">
              <a:solidFill>
                <a:srgbClr val="000000"/>
              </a:solidFill>
              <a:effectLst/>
              <a:uFillTx/>
              <a:latin typeface="Arial"/>
            </a:endParaRPr>
          </a:p>
          <a:p>
            <a:pPr algn="r" defTabSz="914400">
              <a:lnSpc>
                <a:spcPct val="100000"/>
              </a:lnSpc>
            </a:pPr>
            <a:r>
              <a:rPr b="0" lang="ja-JP" sz="1100" strike="noStrike" u="none">
                <a:solidFill>
                  <a:srgbClr val="ff0000"/>
                </a:solidFill>
                <a:effectLst/>
                <a:uFillTx/>
                <a:latin typeface="メイリオ"/>
                <a:ea typeface="メイリオ"/>
              </a:rPr>
              <a:t>物件を送る方（仮）</a:t>
            </a:r>
            <a:endParaRPr b="0" lang="en-US" sz="1100" strike="noStrike" u="none">
              <a:solidFill>
                <a:srgbClr val="000000"/>
              </a:solidFill>
              <a:effectLst/>
              <a:uFillTx/>
              <a:latin typeface="Arial"/>
            </a:endParaRPr>
          </a:p>
        </p:txBody>
      </p:sp>
      <p:sp>
        <p:nvSpPr>
          <p:cNvPr id="273" name="テキスト ボックス 106"/>
          <p:cNvSpPr/>
          <p:nvPr/>
        </p:nvSpPr>
        <p:spPr>
          <a:xfrm>
            <a:off x="7498080" y="3192120"/>
            <a:ext cx="1782720" cy="522720"/>
          </a:xfrm>
          <a:prstGeom prst="rect">
            <a:avLst/>
          </a:prstGeom>
          <a:noFill/>
          <a:ln w="0">
            <a:noFill/>
          </a:ln>
        </p:spPr>
        <p:style>
          <a:lnRef idx="0"/>
          <a:fillRef idx="0"/>
          <a:effectRef idx="0"/>
          <a:fontRef idx="minor"/>
        </p:style>
        <p:txBody>
          <a:bodyPr lIns="0" rIns="0" tIns="45000" bIns="45000" anchor="t">
            <a:spAutoFit/>
          </a:bodyPr>
          <a:p>
            <a:pPr algn="r" defTabSz="914400">
              <a:lnSpc>
                <a:spcPct val="100000"/>
              </a:lnSpc>
            </a:pPr>
            <a:r>
              <a:rPr b="1" lang="en-US" sz="2000" strike="noStrike" u="none">
                <a:solidFill>
                  <a:srgbClr val="ff0000"/>
                </a:solidFill>
                <a:effectLst/>
                <a:uFillTx/>
                <a:latin typeface="メイリオ"/>
                <a:ea typeface="メイリオ"/>
              </a:rPr>
              <a:t>0.3→2.0</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a:p>
            <a:pPr algn="r" defTabSz="914400">
              <a:lnSpc>
                <a:spcPct val="100000"/>
              </a:lnSpc>
            </a:pPr>
            <a:r>
              <a:rPr b="0" lang="zh-CN" sz="1100" strike="noStrike" u="none">
                <a:solidFill>
                  <a:srgbClr val="ff0000"/>
                </a:solidFill>
                <a:effectLst/>
                <a:uFillTx/>
                <a:latin typeface="メイリオ"/>
                <a:ea typeface="メイリオ"/>
              </a:rPr>
              <a:t>配信クリックからの</a:t>
            </a:r>
            <a:endParaRPr b="0" lang="en-US" sz="1100" strike="noStrike" u="none">
              <a:solidFill>
                <a:srgbClr val="000000"/>
              </a:solidFill>
              <a:effectLst/>
              <a:uFillTx/>
              <a:latin typeface="Arial"/>
            </a:endParaRPr>
          </a:p>
          <a:p>
            <a:pPr algn="r" defTabSz="914400">
              <a:lnSpc>
                <a:spcPct val="100000"/>
              </a:lnSpc>
            </a:pPr>
            <a:r>
              <a:rPr b="0" lang="zh-CN" sz="1100" strike="noStrike" u="none">
                <a:solidFill>
                  <a:srgbClr val="ff0000"/>
                </a:solidFill>
                <a:effectLst/>
                <a:uFillTx/>
                <a:latin typeface="メイリオ"/>
                <a:ea typeface="メイリオ"/>
              </a:rPr>
              <a:t>問い合わせ（</a:t>
            </a:r>
            <a:r>
              <a:rPr b="0" lang="en-US" sz="1100" strike="noStrike" u="none">
                <a:solidFill>
                  <a:srgbClr val="ff0000"/>
                </a:solidFill>
                <a:effectLst/>
                <a:uFillTx/>
                <a:latin typeface="メイリオ"/>
                <a:ea typeface="メイリオ"/>
              </a:rPr>
              <a:t>CVR</a:t>
            </a:r>
            <a:r>
              <a:rPr b="0" lang="zh-CN" sz="1100" strike="noStrike" u="none">
                <a:solidFill>
                  <a:srgbClr val="ff0000"/>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274" name="テキスト ボックス 108"/>
          <p:cNvSpPr/>
          <p:nvPr/>
        </p:nvSpPr>
        <p:spPr>
          <a:xfrm>
            <a:off x="7795440" y="39528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5" name="テキスト ボックス 110"/>
          <p:cNvSpPr/>
          <p:nvPr/>
        </p:nvSpPr>
        <p:spPr>
          <a:xfrm>
            <a:off x="7781400" y="45928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6" name="テキスト ボックス 112"/>
          <p:cNvSpPr/>
          <p:nvPr/>
        </p:nvSpPr>
        <p:spPr>
          <a:xfrm>
            <a:off x="7781400" y="521712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7" name="テキスト ボックス 114"/>
          <p:cNvSpPr/>
          <p:nvPr/>
        </p:nvSpPr>
        <p:spPr>
          <a:xfrm>
            <a:off x="7781400" y="58230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8" name="Shape 17"/>
          <p:cNvSpPr/>
          <p:nvPr/>
        </p:nvSpPr>
        <p:spPr>
          <a:xfrm>
            <a:off x="3586680" y="3279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企画配信（月</a:t>
            </a:r>
            <a:r>
              <a:rPr b="0" lang="en-US" sz="1100" strike="noStrike" u="none">
                <a:solidFill>
                  <a:srgbClr val="595959"/>
                </a:solidFill>
                <a:effectLst/>
                <a:uFillTx/>
                <a:latin typeface="メイリオ"/>
                <a:ea typeface="メイリオ"/>
              </a:rPr>
              <a:t>4</a:t>
            </a:r>
            <a:r>
              <a:rPr b="0" lang="ja-JP" sz="1100" strike="noStrike" u="none">
                <a:solidFill>
                  <a:srgbClr val="595959"/>
                </a:solidFill>
                <a:effectLst/>
                <a:uFillTx/>
                <a:latin typeface="メイリオ"/>
                <a:ea typeface="メイリオ"/>
              </a:rPr>
              <a:t>本）</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送り方・費用など</a:t>
            </a:r>
            <a:endParaRPr b="0" lang="en-US" sz="1100" strike="noStrike" u="none">
              <a:solidFill>
                <a:srgbClr val="000000"/>
              </a:solidFill>
              <a:effectLst/>
              <a:uFillTx/>
              <a:latin typeface="Arial"/>
            </a:endParaRPr>
          </a:p>
        </p:txBody>
      </p:sp>
      <p:sp>
        <p:nvSpPr>
          <p:cNvPr id="279" name="Shape 18"/>
          <p:cNvSpPr/>
          <p:nvPr/>
        </p:nvSpPr>
        <p:spPr>
          <a:xfrm>
            <a:off x="5635800" y="3279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リッチメニュー</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100</a:t>
            </a:r>
            <a:r>
              <a:rPr b="0" lang="ja-JP" sz="1100" strike="noStrike" u="none">
                <a:solidFill>
                  <a:srgbClr val="595959"/>
                </a:solidFill>
                <a:effectLst/>
                <a:uFillTx/>
                <a:latin typeface="メイリオ"/>
                <a:ea typeface="メイリオ"/>
              </a:rPr>
              <a:t>円チェッカーなど</a:t>
            </a:r>
            <a:endParaRPr b="0" lang="en-US" sz="1100" strike="noStrike" u="none">
              <a:solidFill>
                <a:srgbClr val="000000"/>
              </a:solidFill>
              <a:effectLst/>
              <a:uFillTx/>
              <a:latin typeface="Arial"/>
            </a:endParaRPr>
          </a:p>
        </p:txBody>
      </p:sp>
      <p:cxnSp>
        <p:nvCxnSpPr>
          <p:cNvPr id="280" name="直線矢印コネクタ 49"/>
          <p:cNvCxnSpPr>
            <a:stCxn id="278" idx="3"/>
            <a:endCxn id="279" idx="1"/>
          </p:cNvCxnSpPr>
          <p:nvPr/>
        </p:nvCxnSpPr>
        <p:spPr>
          <a:xfrm>
            <a:off x="5349960" y="3512880"/>
            <a:ext cx="286200" cy="360"/>
          </a:xfrm>
          <a:prstGeom prst="straightConnector1">
            <a:avLst/>
          </a:prstGeom>
          <a:ln>
            <a:solidFill>
              <a:srgbClr val="000000"/>
            </a:solidFill>
            <a:prstDash val="sysDot"/>
            <a:round/>
            <a:tailEnd len="med" type="triangle" w="med"/>
          </a:ln>
        </p:spPr>
      </p:cxnSp>
      <p:sp>
        <p:nvSpPr>
          <p:cNvPr id="281" name="Shape 17"/>
          <p:cNvSpPr/>
          <p:nvPr/>
        </p:nvSpPr>
        <p:spPr>
          <a:xfrm>
            <a:off x="3586680" y="40208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空室確認・内見の手配</a:t>
            </a:r>
            <a:endParaRPr b="0" lang="en-US" sz="1100" strike="noStrike" u="none">
              <a:solidFill>
                <a:srgbClr val="000000"/>
              </a:solidFill>
              <a:effectLst/>
              <a:uFillTx/>
              <a:latin typeface="Arial"/>
            </a:endParaRPr>
          </a:p>
        </p:txBody>
      </p:sp>
      <p:sp>
        <p:nvSpPr>
          <p:cNvPr id="282" name="Shape 18"/>
          <p:cNvSpPr/>
          <p:nvPr/>
        </p:nvSpPr>
        <p:spPr>
          <a:xfrm>
            <a:off x="5635800" y="40208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お申込み・ご契約の案内</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（オンラインでも可）</a:t>
            </a:r>
            <a:endParaRPr b="0" lang="en-US" sz="1100" strike="noStrike" u="none">
              <a:solidFill>
                <a:srgbClr val="000000"/>
              </a:solidFill>
              <a:effectLst/>
              <a:uFillTx/>
              <a:latin typeface="Arial"/>
            </a:endParaRPr>
          </a:p>
        </p:txBody>
      </p:sp>
      <p:cxnSp>
        <p:nvCxnSpPr>
          <p:cNvPr id="283" name="直線矢印コネクタ 52"/>
          <p:cNvCxnSpPr>
            <a:stCxn id="281" idx="3"/>
            <a:endCxn id="282" idx="1"/>
          </p:cNvCxnSpPr>
          <p:nvPr/>
        </p:nvCxnSpPr>
        <p:spPr>
          <a:xfrm>
            <a:off x="5349960" y="4253760"/>
            <a:ext cx="286200" cy="360"/>
          </a:xfrm>
          <a:prstGeom prst="straightConnector1">
            <a:avLst/>
          </a:prstGeom>
          <a:ln>
            <a:solidFill>
              <a:srgbClr val="000000"/>
            </a:solidFill>
            <a:prstDash val="sysDot"/>
            <a:round/>
            <a:tailEnd len="med" type="triangle" w="med"/>
          </a:ln>
        </p:spPr>
      </p:cxnSp>
      <p:sp>
        <p:nvSpPr>
          <p:cNvPr id="284" name="Shape 17"/>
          <p:cNvSpPr/>
          <p:nvPr/>
        </p:nvSpPr>
        <p:spPr>
          <a:xfrm>
            <a:off x="3586680" y="462708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受付時間外は</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受け付けた旨を自動で返信</a:t>
            </a:r>
            <a:endParaRPr b="0" lang="en-US" sz="1100" strike="noStrike" u="none">
              <a:solidFill>
                <a:srgbClr val="000000"/>
              </a:solidFill>
              <a:effectLst/>
              <a:uFillTx/>
              <a:latin typeface="Arial"/>
            </a:endParaRPr>
          </a:p>
        </p:txBody>
      </p:sp>
      <p:sp>
        <p:nvSpPr>
          <p:cNvPr id="285" name="Shape 18"/>
          <p:cNvSpPr/>
          <p:nvPr/>
        </p:nvSpPr>
        <p:spPr>
          <a:xfrm>
            <a:off x="5635800" y="462708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受付時間（</a:t>
            </a:r>
            <a:r>
              <a:rPr b="0" lang="en-US" sz="1100" strike="noStrike" u="none">
                <a:solidFill>
                  <a:srgbClr val="595959"/>
                </a:solidFill>
                <a:effectLst/>
                <a:uFillTx/>
                <a:latin typeface="メイリオ"/>
                <a:ea typeface="メイリオ"/>
              </a:rPr>
              <a:t>11</a:t>
            </a:r>
            <a:r>
              <a:rPr b="0" lang="ja-JP" sz="1100" strike="noStrike" u="none">
                <a:solidFill>
                  <a:srgbClr val="595959"/>
                </a:solidFill>
                <a:effectLst/>
                <a:uFillTx/>
                <a:latin typeface="メイリオ"/>
                <a:ea typeface="メイリオ"/>
              </a:rPr>
              <a:t>〜</a:t>
            </a:r>
            <a:r>
              <a:rPr b="0" lang="en-US" sz="1100" strike="noStrike" u="none">
                <a:solidFill>
                  <a:srgbClr val="595959"/>
                </a:solidFill>
                <a:effectLst/>
                <a:uFillTx/>
                <a:latin typeface="メイリオ"/>
                <a:ea typeface="メイリオ"/>
              </a:rPr>
              <a:t>18</a:t>
            </a:r>
            <a:r>
              <a:rPr b="0" lang="ja-JP" sz="1100" strike="noStrike" u="none">
                <a:solidFill>
                  <a:srgbClr val="595959"/>
                </a:solidFill>
                <a:effectLst/>
                <a:uFillTx/>
                <a:latin typeface="メイリオ"/>
                <a:ea typeface="メイリオ"/>
              </a:rPr>
              <a:t>時）</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内に担当者が確認</a:t>
            </a:r>
            <a:endParaRPr b="0" lang="en-US" sz="1100" strike="noStrike" u="none">
              <a:solidFill>
                <a:srgbClr val="000000"/>
              </a:solidFill>
              <a:effectLst/>
              <a:uFillTx/>
              <a:latin typeface="Arial"/>
            </a:endParaRPr>
          </a:p>
        </p:txBody>
      </p:sp>
      <p:cxnSp>
        <p:nvCxnSpPr>
          <p:cNvPr id="286" name="直線矢印コネクタ 55"/>
          <p:cNvCxnSpPr>
            <a:stCxn id="284" idx="3"/>
            <a:endCxn id="285" idx="1"/>
          </p:cNvCxnSpPr>
          <p:nvPr/>
        </p:nvCxnSpPr>
        <p:spPr>
          <a:xfrm>
            <a:off x="5349960" y="4860000"/>
            <a:ext cx="286200" cy="360"/>
          </a:xfrm>
          <a:prstGeom prst="straightConnector1">
            <a:avLst/>
          </a:prstGeom>
          <a:ln>
            <a:solidFill>
              <a:srgbClr val="000000"/>
            </a:solidFill>
            <a:prstDash val="sysDot"/>
            <a:round/>
            <a:tailEnd len="med" type="triangle" w="med"/>
          </a:ln>
        </p:spPr>
      </p:cxnSp>
      <p:sp>
        <p:nvSpPr>
          <p:cNvPr id="287" name="Shape 17"/>
          <p:cNvSpPr/>
          <p:nvPr/>
        </p:nvSpPr>
        <p:spPr>
          <a:xfrm>
            <a:off x="3586680" y="5250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100</a:t>
            </a:r>
            <a:r>
              <a:rPr b="0" lang="ja-JP" sz="1100" strike="noStrike" u="none">
                <a:solidFill>
                  <a:srgbClr val="595959"/>
                </a:solidFill>
                <a:effectLst/>
                <a:uFillTx/>
                <a:latin typeface="メイリオ"/>
                <a:ea typeface="メイリオ"/>
              </a:rPr>
              <a:t>円チェッカー</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（名前・電話番号は不要）</a:t>
            </a:r>
            <a:endParaRPr b="0" lang="en-US" sz="1100" strike="noStrike" u="none">
              <a:solidFill>
                <a:srgbClr val="000000"/>
              </a:solidFill>
              <a:effectLst/>
              <a:uFillTx/>
              <a:latin typeface="Arial"/>
            </a:endParaRPr>
          </a:p>
        </p:txBody>
      </p:sp>
      <p:sp>
        <p:nvSpPr>
          <p:cNvPr id="288" name="Shape 18"/>
          <p:cNvSpPr/>
          <p:nvPr/>
        </p:nvSpPr>
        <p:spPr>
          <a:xfrm>
            <a:off x="5635800" y="5250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 物件の送信</a:t>
            </a:r>
            <a:endParaRPr b="0" lang="en-US" sz="1100" strike="noStrike" u="none">
              <a:solidFill>
                <a:srgbClr val="000000"/>
              </a:solidFill>
              <a:effectLst/>
              <a:uFillTx/>
              <a:latin typeface="Arial"/>
            </a:endParaRPr>
          </a:p>
        </p:txBody>
      </p:sp>
      <p:cxnSp>
        <p:nvCxnSpPr>
          <p:cNvPr id="289" name="直線矢印コネクタ 58"/>
          <p:cNvCxnSpPr>
            <a:stCxn id="287" idx="3"/>
            <a:endCxn id="288" idx="1"/>
          </p:cNvCxnSpPr>
          <p:nvPr/>
        </p:nvCxnSpPr>
        <p:spPr>
          <a:xfrm>
            <a:off x="5349960" y="5483880"/>
            <a:ext cx="286200" cy="360"/>
          </a:xfrm>
          <a:prstGeom prst="straightConnector1">
            <a:avLst/>
          </a:prstGeom>
          <a:ln>
            <a:solidFill>
              <a:srgbClr val="000000"/>
            </a:solidFill>
            <a:prstDash val="sysDot"/>
            <a:round/>
            <a:tailEnd len="med" type="triangle" w="med"/>
          </a:ln>
        </p:spPr>
      </p:cxnSp>
      <p:sp>
        <p:nvSpPr>
          <p:cNvPr id="290" name="Shape 17"/>
          <p:cNvSpPr/>
          <p:nvPr/>
        </p:nvSpPr>
        <p:spPr>
          <a:xfrm>
            <a:off x="3586680" y="58593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内見済みでも相談可</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（お受けできない場合も）</a:t>
            </a:r>
            <a:endParaRPr b="0" lang="en-US" sz="1100" strike="noStrike" u="none">
              <a:solidFill>
                <a:srgbClr val="000000"/>
              </a:solidFill>
              <a:effectLst/>
              <a:uFillTx/>
              <a:latin typeface="Arial"/>
            </a:endParaRPr>
          </a:p>
        </p:txBody>
      </p:sp>
      <p:sp>
        <p:nvSpPr>
          <p:cNvPr id="291" name="Shape 18"/>
          <p:cNvSpPr/>
          <p:nvPr/>
        </p:nvSpPr>
        <p:spPr>
          <a:xfrm>
            <a:off x="5635800" y="58593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 物件の送信</a:t>
            </a:r>
            <a:endParaRPr b="0" lang="en-US" sz="1100" strike="noStrike" u="none">
              <a:solidFill>
                <a:srgbClr val="000000"/>
              </a:solidFill>
              <a:effectLst/>
              <a:uFillTx/>
              <a:latin typeface="Arial"/>
            </a:endParaRPr>
          </a:p>
        </p:txBody>
      </p:sp>
      <p:cxnSp>
        <p:nvCxnSpPr>
          <p:cNvPr id="292" name="直線矢印コネクタ 61"/>
          <p:cNvCxnSpPr>
            <a:stCxn id="290" idx="3"/>
            <a:endCxn id="291" idx="1"/>
          </p:cNvCxnSpPr>
          <p:nvPr/>
        </p:nvCxnSpPr>
        <p:spPr>
          <a:xfrm>
            <a:off x="5349960" y="6092280"/>
            <a:ext cx="286200" cy="360"/>
          </a:xfrm>
          <a:prstGeom prst="straightConnector1">
            <a:avLst/>
          </a:prstGeom>
          <a:ln>
            <a:solidFill>
              <a:srgbClr val="000000"/>
            </a:solidFill>
            <a:prstDash val="sysDot"/>
            <a:round/>
            <a:tailEnd len="med" type="triangle" w="med"/>
          </a:ln>
        </p:spPr>
      </p:cxnSp>
      <p:sp>
        <p:nvSpPr>
          <p:cNvPr id="293" name="テキスト ボックス 67"/>
          <p:cNvSpPr/>
          <p:nvPr/>
        </p:nvSpPr>
        <p:spPr>
          <a:xfrm>
            <a:off x="556200" y="603360"/>
            <a:ext cx="8793360" cy="73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b="0" lang="en-US" sz="1300" strike="noStrike" u="none">
              <a:solidFill>
                <a:srgbClr val="000000"/>
              </a:solidFill>
              <a:effectLst/>
              <a:uFillTx/>
              <a:latin typeface="Arial"/>
            </a:endParaRPr>
          </a:p>
          <a:p>
            <a:pPr algn="ctr" defTabSz="914400">
              <a:lnSpc>
                <a:spcPct val="100000"/>
              </a:lnSpc>
            </a:pPr>
            <a:r>
              <a:rPr b="1" lang="ja-JP" sz="1300" strike="noStrike" u="none">
                <a:solidFill>
                  <a:schemeClr val="dk1">
                    <a:lumMod val="65000"/>
                    <a:lumOff val="35000"/>
                  </a:schemeClr>
                </a:solidFill>
                <a:effectLst/>
                <a:uFillTx/>
                <a:latin typeface="メイリオ"/>
                <a:ea typeface="メイリオ"/>
              </a:rPr>
              <a:t>「どの物件が対象か」が分からないこと</a:t>
            </a:r>
            <a:r>
              <a:rPr b="0" lang="ja-JP" sz="1300" strike="noStrike" u="none">
                <a:solidFill>
                  <a:schemeClr val="dk1">
                    <a:lumMod val="65000"/>
                    <a:lumOff val="35000"/>
                  </a:schemeClr>
                </a:solidFill>
                <a:effectLst/>
                <a:uFillTx/>
                <a:latin typeface="メイリオ"/>
                <a:ea typeface="メイリオ"/>
              </a:rPr>
              <a:t>がハードルになっていると考え、</a:t>
            </a:r>
            <a:r>
              <a:rPr b="0" lang="en-US" sz="1300" strike="noStrike" u="none">
                <a:solidFill>
                  <a:schemeClr val="dk1">
                    <a:lumMod val="65000"/>
                    <a:lumOff val="35000"/>
                  </a:schemeClr>
                </a:solidFill>
                <a:effectLst/>
                <a:uFillTx/>
                <a:latin typeface="メイリオ"/>
                <a:ea typeface="メイリオ"/>
              </a:rPr>
              <a:t>100</a:t>
            </a:r>
            <a:r>
              <a:rPr b="0" lang="ja-JP" sz="1300" strike="noStrike" u="none">
                <a:solidFill>
                  <a:schemeClr val="dk1">
                    <a:lumMod val="65000"/>
                    <a:lumOff val="35000"/>
                  </a:schemeClr>
                </a:solidFill>
                <a:effectLst/>
                <a:uFillTx/>
                <a:latin typeface="メイリオ"/>
                <a:ea typeface="メイリオ"/>
              </a:rPr>
              <a:t>円チェッカーを前面に出します。</a:t>
            </a:r>
            <a:endParaRPr b="0" lang="en-US" sz="1300" strike="noStrike" u="none">
              <a:solidFill>
                <a:srgbClr val="000000"/>
              </a:solidFill>
              <a:effectLst/>
              <a:uFillTx/>
              <a:latin typeface="Arial"/>
            </a:endParaRPr>
          </a:p>
          <a:p>
            <a:pPr algn="ctr" defTabSz="914400">
              <a:lnSpc>
                <a:spcPct val="100000"/>
              </a:lnSpc>
            </a:pPr>
            <a:r>
              <a:rPr b="0" lang="en-US" sz="1100" strike="noStrike" u="none">
                <a:solidFill>
                  <a:srgbClr val="595959"/>
                </a:solidFill>
                <a:effectLst/>
                <a:uFillTx/>
                <a:latin typeface="メイリオ"/>
                <a:ea typeface="メイリオ"/>
              </a:rPr>
              <a:t>※試算の定義：物件を送る方の割合＝問い合わせ①</a:t>
            </a:r>
            <a:r>
              <a:rPr b="0" lang="en-US" sz="1100" strike="noStrike" u="none">
                <a:solidFill>
                  <a:srgbClr val="595959"/>
                </a:solidFill>
                <a:effectLst/>
                <a:uFillTx/>
                <a:latin typeface="メイリオ"/>
                <a:ea typeface="メイリオ"/>
              </a:rPr>
              <a:t>÷</a:t>
            </a:r>
            <a:r>
              <a:rPr b="0" lang="ja-JP" sz="1100" strike="noStrike" u="none">
                <a:solidFill>
                  <a:srgbClr val="595959"/>
                </a:solidFill>
                <a:effectLst/>
                <a:uFillTx/>
                <a:latin typeface="メイリオ"/>
                <a:ea typeface="メイリオ"/>
              </a:rPr>
              <a:t>新しい友だち／</a:t>
            </a:r>
            <a:r>
              <a:rPr b="0" lang="en-US" sz="1100" strike="noStrike" u="none">
                <a:solidFill>
                  <a:srgbClr val="595959"/>
                </a:solidFill>
                <a:effectLst/>
                <a:uFillTx/>
                <a:latin typeface="メイリオ"/>
                <a:ea typeface="メイリオ"/>
              </a:rPr>
              <a:t>CVR</a:t>
            </a:r>
            <a:r>
              <a:rPr b="0" lang="ja-JP" sz="1100" strike="noStrike" u="none">
                <a:solidFill>
                  <a:srgbClr val="595959"/>
                </a:solidFill>
                <a:effectLst/>
                <a:uFillTx/>
                <a:latin typeface="メイリオ"/>
                <a:ea typeface="メイリオ"/>
              </a:rPr>
              <a:t>＝問い合わせ②</a:t>
            </a:r>
            <a:r>
              <a:rPr b="0" lang="en-US" sz="1100" strike="noStrike" u="none">
                <a:solidFill>
                  <a:srgbClr val="595959"/>
                </a:solidFill>
                <a:effectLst/>
                <a:uFillTx/>
                <a:latin typeface="メイリオ"/>
                <a:ea typeface="メイリオ"/>
              </a:rPr>
              <a:t>÷</a:t>
            </a:r>
            <a:r>
              <a:rPr b="0" lang="ja-JP" sz="1100" strike="noStrike" u="none">
                <a:solidFill>
                  <a:srgbClr val="595959"/>
                </a:solidFill>
                <a:effectLst/>
                <a:uFillTx/>
                <a:latin typeface="メイリオ"/>
                <a:ea typeface="メイリオ"/>
              </a:rPr>
              <a:t>配信のクリック数</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Google Shape;752;p28"/>
          <p:cNvSpPr/>
          <p:nvPr/>
        </p:nvSpPr>
        <p:spPr>
          <a:xfrm>
            <a:off x="549000" y="138240"/>
            <a:ext cx="702720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chemeClr val="dk1">
                    <a:lumMod val="50000"/>
                    <a:lumOff val="50000"/>
                  </a:schemeClr>
                </a:solidFill>
                <a:effectLst/>
                <a:uFillTx/>
                <a:latin typeface="Meiryo"/>
                <a:ea typeface="Meiryo"/>
              </a:rPr>
              <a:t>LINE</a:t>
            </a:r>
            <a:r>
              <a:rPr b="1" lang="ja-JP" sz="1600" strike="noStrike" u="none">
                <a:solidFill>
                  <a:schemeClr val="dk1">
                    <a:lumMod val="50000"/>
                    <a:lumOff val="50000"/>
                  </a:schemeClr>
                </a:solidFill>
                <a:effectLst/>
                <a:uFillTx/>
                <a:latin typeface="Meiryo"/>
                <a:ea typeface="Meiryo"/>
              </a:rPr>
              <a:t>施策における重要な考え方</a:t>
            </a:r>
            <a:endParaRPr b="0" lang="en-US" sz="1600" strike="noStrike" u="none">
              <a:solidFill>
                <a:srgbClr val="000000"/>
              </a:solidFill>
              <a:effectLst/>
              <a:uFillTx/>
              <a:latin typeface="Arial"/>
            </a:endParaRPr>
          </a:p>
        </p:txBody>
      </p:sp>
      <p:sp>
        <p:nvSpPr>
          <p:cNvPr id="295" name="正方形/長方形 6"/>
          <p:cNvSpPr/>
          <p:nvPr/>
        </p:nvSpPr>
        <p:spPr>
          <a:xfrm>
            <a:off x="275040" y="1728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既存友だち</a:t>
            </a:r>
            <a:r>
              <a:rPr b="0" lang="ja-JP" sz="2400" strike="noStrike" u="none">
                <a:solidFill>
                  <a:schemeClr val="dk1">
                    <a:lumMod val="50000"/>
                    <a:lumOff val="50000"/>
                  </a:schemeClr>
                </a:solidFill>
                <a:effectLst/>
                <a:uFillTx/>
                <a:latin typeface="メイリオ"/>
                <a:ea typeface="メイリオ"/>
              </a:rPr>
              <a:t>のメッセージ配信を拡大＆検証し</a:t>
            </a:r>
            <a:endParaRPr b="0" lang="en-US" sz="2400" strike="noStrike" u="none">
              <a:solidFill>
                <a:srgbClr val="000000"/>
              </a:solidFill>
              <a:effectLst/>
              <a:uFillTx/>
              <a:latin typeface="Arial"/>
            </a:endParaRPr>
          </a:p>
          <a:p>
            <a:pPr algn="ctr" defTabSz="914400">
              <a:lnSpc>
                <a:spcPct val="100000"/>
              </a:lnSpc>
            </a:pPr>
            <a:r>
              <a:rPr b="0" lang="ja-JP" sz="2400" strike="noStrike" u="none">
                <a:solidFill>
                  <a:schemeClr val="dk1">
                    <a:lumMod val="50000"/>
                    <a:lumOff val="50000"/>
                  </a:schemeClr>
                </a:solidFill>
                <a:effectLst/>
                <a:uFillTx/>
                <a:latin typeface="メイリオ"/>
                <a:ea typeface="メイリオ"/>
              </a:rPr>
              <a:t>課金対効果を向上する</a:t>
            </a:r>
            <a:endParaRPr b="0" lang="en-US" sz="2400" strike="noStrike" u="none">
              <a:solidFill>
                <a:srgbClr val="000000"/>
              </a:solidFill>
              <a:effectLst/>
              <a:uFillTx/>
              <a:latin typeface="Arial"/>
            </a:endParaRPr>
          </a:p>
        </p:txBody>
      </p:sp>
      <p:sp>
        <p:nvSpPr>
          <p:cNvPr id="296" name="正方形/長方形 8"/>
          <p:cNvSpPr/>
          <p:nvPr/>
        </p:nvSpPr>
        <p:spPr>
          <a:xfrm>
            <a:off x="275040" y="3222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新規友だち</a:t>
            </a:r>
            <a:r>
              <a:rPr b="0" lang="ja-JP" sz="2400" strike="noStrike" u="none">
                <a:solidFill>
                  <a:schemeClr val="dk1">
                    <a:lumMod val="50000"/>
                    <a:lumOff val="50000"/>
                  </a:schemeClr>
                </a:solidFill>
                <a:effectLst/>
                <a:uFillTx/>
                <a:latin typeface="メイリオ"/>
                <a:ea typeface="メイリオ"/>
              </a:rPr>
              <a:t>の追加動線を拡大</a:t>
            </a:r>
            <a:r>
              <a:rPr b="0" lang="en-US" sz="2400" strike="noStrike" u="none">
                <a:solidFill>
                  <a:schemeClr val="dk1">
                    <a:lumMod val="50000"/>
                    <a:lumOff val="50000"/>
                  </a:schemeClr>
                </a:solidFill>
                <a:effectLst/>
                <a:uFillTx/>
                <a:latin typeface="メイリオ"/>
                <a:ea typeface="メイリオ"/>
              </a:rPr>
              <a:t>&amp;</a:t>
            </a:r>
            <a:r>
              <a:rPr b="0" lang="ja-JP" sz="2400" strike="noStrike" u="none">
                <a:solidFill>
                  <a:schemeClr val="dk1">
                    <a:lumMod val="50000"/>
                    <a:lumOff val="50000"/>
                  </a:schemeClr>
                </a:solidFill>
                <a:effectLst/>
                <a:uFillTx/>
                <a:latin typeface="メイリオ"/>
                <a:ea typeface="メイリオ"/>
              </a:rPr>
              <a:t>整備し</a:t>
            </a:r>
            <a:endParaRPr b="0" lang="en-US" sz="2400" strike="noStrike" u="none">
              <a:solidFill>
                <a:srgbClr val="000000"/>
              </a:solidFill>
              <a:effectLst/>
              <a:uFillTx/>
              <a:latin typeface="Arial"/>
            </a:endParaRPr>
          </a:p>
          <a:p>
            <a:pPr algn="ctr" defTabSz="914400">
              <a:lnSpc>
                <a:spcPct val="100000"/>
              </a:lnSpc>
            </a:pPr>
            <a:r>
              <a:rPr b="0" lang="ja-JP" sz="2400" strike="noStrike" u="none">
                <a:solidFill>
                  <a:schemeClr val="dk1">
                    <a:lumMod val="50000"/>
                    <a:lumOff val="50000"/>
                  </a:schemeClr>
                </a:solidFill>
                <a:effectLst/>
                <a:uFillTx/>
                <a:latin typeface="メイリオ"/>
                <a:ea typeface="メイリオ"/>
              </a:rPr>
              <a:t>見込みの高いユーザーのリードを獲得する</a:t>
            </a:r>
            <a:endParaRPr b="0" lang="en-US" sz="2400" strike="noStrike" u="none">
              <a:solidFill>
                <a:srgbClr val="000000"/>
              </a:solidFill>
              <a:effectLst/>
              <a:uFillTx/>
              <a:latin typeface="Arial"/>
            </a:endParaRPr>
          </a:p>
        </p:txBody>
      </p:sp>
      <p:cxnSp>
        <p:nvCxnSpPr>
          <p:cNvPr id="297" name="直線コネクタ 9"/>
          <p:cNvCxnSpPr/>
          <p:nvPr/>
        </p:nvCxnSpPr>
        <p:spPr>
          <a:xfrm>
            <a:off x="1519560" y="1451880"/>
            <a:ext cx="6579360" cy="360"/>
          </a:xfrm>
          <a:prstGeom prst="straightConnector1">
            <a:avLst/>
          </a:prstGeom>
          <a:ln w="12700">
            <a:solidFill>
              <a:srgbClr val="4a7ebb"/>
            </a:solidFill>
            <a:round/>
          </a:ln>
        </p:spPr>
      </p:cxnSp>
      <p:sp>
        <p:nvSpPr>
          <p:cNvPr id="298" name="楕円 12"/>
          <p:cNvSpPr/>
          <p:nvPr/>
        </p:nvSpPr>
        <p:spPr>
          <a:xfrm>
            <a:off x="3756240" y="750960"/>
            <a:ext cx="2021760" cy="589320"/>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lumMod val="50000"/>
                  <a:lumOff val="50000"/>
                </a:schemeClr>
              </a:solidFill>
              <a:effectLst/>
              <a:uFillTx/>
              <a:latin typeface="Calibri"/>
            </a:endParaRPr>
          </a:p>
        </p:txBody>
      </p:sp>
      <p:sp>
        <p:nvSpPr>
          <p:cNvPr id="299" name="正方形/長方形 13"/>
          <p:cNvSpPr/>
          <p:nvPr/>
        </p:nvSpPr>
        <p:spPr>
          <a:xfrm>
            <a:off x="1502640" y="842760"/>
            <a:ext cx="6647760" cy="4611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アカウント効果を</a:t>
            </a:r>
            <a:r>
              <a:rPr b="1" lang="ja-JP" sz="2400" strike="noStrike" u="none">
                <a:solidFill>
                  <a:schemeClr val="dk1"/>
                </a:solidFill>
                <a:effectLst/>
                <a:uFillTx/>
                <a:latin typeface="メイリオ"/>
                <a:ea typeface="メイリオ"/>
              </a:rPr>
              <a:t>最大化する</a:t>
            </a:r>
            <a:r>
              <a:rPr b="0" lang="ja-JP" sz="2400" strike="noStrike" u="none">
                <a:solidFill>
                  <a:schemeClr val="dk1">
                    <a:lumMod val="50000"/>
                    <a:lumOff val="50000"/>
                  </a:schemeClr>
                </a:solidFill>
                <a:effectLst/>
                <a:uFillTx/>
                <a:latin typeface="メイリオ"/>
                <a:ea typeface="メイリオ"/>
              </a:rPr>
              <a:t>ためには・・・？</a:t>
            </a:r>
            <a:endParaRPr b="0" lang="en-US" sz="2400" strike="noStrike" u="none">
              <a:solidFill>
                <a:srgbClr val="000000"/>
              </a:solidFill>
              <a:effectLst/>
              <a:uFillTx/>
              <a:latin typeface="Arial"/>
            </a:endParaRPr>
          </a:p>
        </p:txBody>
      </p:sp>
      <p:sp>
        <p:nvSpPr>
          <p:cNvPr id="300" name="下矢印 1"/>
          <p:cNvSpPr/>
          <p:nvPr/>
        </p:nvSpPr>
        <p:spPr>
          <a:xfrm>
            <a:off x="3379680" y="4715640"/>
            <a:ext cx="3195720" cy="421200"/>
          </a:xfrm>
          <a:prstGeom prst="downArrow">
            <a:avLst>
              <a:gd name="adj1" fmla="val 50000"/>
              <a:gd name="adj2" fmla="val 52758"/>
            </a:avLst>
          </a:prstGeom>
          <a:solidFill>
            <a:schemeClr val="bg1">
              <a:lumMod val="95000"/>
            </a:schemeClr>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lumMod val="50000"/>
                  <a:lumOff val="50000"/>
                </a:schemeClr>
              </a:solidFill>
              <a:effectLst/>
              <a:uFillTx/>
              <a:latin typeface="Calibri"/>
            </a:endParaRPr>
          </a:p>
        </p:txBody>
      </p:sp>
      <p:sp>
        <p:nvSpPr>
          <p:cNvPr id="301" name="正方形/長方形 18"/>
          <p:cNvSpPr/>
          <p:nvPr/>
        </p:nvSpPr>
        <p:spPr>
          <a:xfrm>
            <a:off x="275040" y="5239800"/>
            <a:ext cx="9355680" cy="86688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400" strike="noStrike" u="none">
                <a:solidFill>
                  <a:schemeClr val="dk1">
                    <a:lumMod val="50000"/>
                    <a:lumOff val="50000"/>
                  </a:schemeClr>
                </a:solidFill>
                <a:effectLst/>
                <a:uFillTx/>
                <a:latin typeface="メイリオ"/>
                <a:ea typeface="メイリオ"/>
              </a:rPr>
              <a:t>WEB</a:t>
            </a:r>
            <a:r>
              <a:rPr b="0" lang="ja-JP" sz="2400" strike="noStrike" u="none">
                <a:solidFill>
                  <a:schemeClr val="dk1">
                    <a:lumMod val="50000"/>
                    <a:lumOff val="50000"/>
                  </a:schemeClr>
                </a:solidFill>
                <a:effectLst/>
                <a:uFillTx/>
                <a:latin typeface="メイリオ"/>
                <a:ea typeface="メイリオ"/>
              </a:rPr>
              <a:t>サイト上情報と連携させ、配信効果を数値化する</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0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305" name="Conclusion"/>
          <p:cNvSpPr/>
          <p:nvPr/>
        </p:nvSpPr>
        <p:spPr>
          <a:xfrm>
            <a:off x="380880" y="5248800"/>
            <a:ext cx="9143640" cy="124308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pPr>
            <a:r>
              <a:rPr b="1" lang="ja-JP" sz="1400" strike="noStrike" u="none">
                <a:solidFill>
                  <a:srgbClr val="1f2a5c"/>
                </a:solidFill>
                <a:effectLst/>
                <a:uFillTx/>
                <a:latin typeface="メイリオ"/>
                <a:ea typeface="メイリオ"/>
              </a:rPr>
              <a:t>結論</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最重要課題は、友だち追加後の問い合わせ獲得（⑤リード有効化）です。あいさつ・リッチメニュー・ステップ配信で「物件を送る」まで案内します。</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サイト離脱対策は、離脱防止ポップアップ・</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ボタンで新しい友だちを増やす課題です。</a:t>
            </a:r>
            <a:endParaRPr b="0" lang="en-US" sz="1400" strike="noStrike" u="none">
              <a:solidFill>
                <a:srgbClr val="000000"/>
              </a:solidFill>
              <a:effectLst/>
              <a:uFillTx/>
              <a:latin typeface="Arial"/>
            </a:endParaRPr>
          </a:p>
        </p:txBody>
      </p:sp>
      <p:sp>
        <p:nvSpPr>
          <p:cNvPr id="306" name="Card1_Num"/>
          <p:cNvSpPr/>
          <p:nvPr/>
        </p:nvSpPr>
        <p:spPr>
          <a:xfrm>
            <a:off x="380880" y="1115640"/>
            <a:ext cx="2920680" cy="52992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サイト訪問者の取りこぼし</a:t>
            </a:r>
            <a:endParaRPr b="0" lang="en-US" sz="1400" strike="noStrike" u="none">
              <a:solidFill>
                <a:srgbClr val="000000"/>
              </a:solidFill>
              <a:effectLst/>
              <a:uFillTx/>
              <a:latin typeface="Arial"/>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・サイトの月間訪問者（</a:t>
            </a:r>
            <a:r>
              <a:rPr b="0" lang="en-US" sz="1400" strike="noStrike" u="none">
                <a:solidFill>
                  <a:srgbClr val="333333"/>
                </a:solidFill>
                <a:effectLst/>
                <a:uFillTx/>
                <a:latin typeface="Calibri"/>
              </a:rPr>
              <a:t>UU</a:t>
            </a:r>
            <a:r>
              <a:rPr b="0" lang="ja-JP" sz="1400" strike="noStrike" u="none">
                <a:solidFill>
                  <a:srgbClr val="333333"/>
                </a:solidFill>
                <a:effectLst/>
                <a:uFillTx/>
                <a:latin typeface="Calibri"/>
              </a:rPr>
              <a:t>）は</a:t>
            </a:r>
            <a:r>
              <a:rPr b="0" lang="en-US" sz="1400" strike="noStrike" u="none">
                <a:solidFill>
                  <a:srgbClr val="333333"/>
                </a:solidFill>
                <a:effectLst/>
                <a:uFillTx/>
                <a:latin typeface="Calibri"/>
              </a:rPr>
              <a:t>1,737</a:t>
            </a:r>
            <a:r>
              <a:rPr b="0" lang="ja-JP" sz="1400" strike="noStrike" u="none">
                <a:solidFill>
                  <a:srgbClr val="333333"/>
                </a:solidFill>
                <a:effectLst/>
                <a:uFillTx/>
                <a:latin typeface="Calibri"/>
              </a:rPr>
              <a:t>。広告は出しておらず、友だちの入口はサイトの「</a:t>
            </a:r>
            <a:r>
              <a:rPr b="0" lang="en-US" sz="1400" strike="noStrike" u="none">
                <a:solidFill>
                  <a:srgbClr val="333333"/>
                </a:solidFill>
                <a:effectLst/>
                <a:uFillTx/>
                <a:latin typeface="Calibri"/>
              </a:rPr>
              <a:t>LINE</a:t>
            </a:r>
            <a:r>
              <a:rPr b="0" lang="ja-JP" sz="1400" strike="noStrike" u="none">
                <a:solidFill>
                  <a:srgbClr val="333333"/>
                </a:solidFill>
                <a:effectLst/>
                <a:uFillTx/>
                <a:latin typeface="Calibri"/>
              </a:rPr>
              <a:t>でお問い合わせ」ボタンだけ</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・問い合わせずにサイトを離れる方へ、もう一度案内する手段がない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・友だちは</a:t>
            </a:r>
            <a:r>
              <a:rPr b="0" lang="en-US" sz="1400" strike="noStrike" u="none">
                <a:solidFill>
                  <a:srgbClr val="333333"/>
                </a:solidFill>
                <a:effectLst/>
                <a:uFillTx/>
                <a:latin typeface="Calibri"/>
              </a:rPr>
              <a:t>1,241</a:t>
            </a:r>
            <a:r>
              <a:rPr b="0" lang="ja-JP" sz="1400" strike="noStrike" u="none">
                <a:solidFill>
                  <a:srgbClr val="333333"/>
                </a:solidFill>
                <a:effectLst/>
                <a:uFillTx/>
                <a:latin typeface="Calibri"/>
              </a:rPr>
              <a:t>人で、増やす仕組みが少ない</a:t>
            </a:r>
            <a:endParaRPr b="0" lang="en-US" sz="1400" strike="noStrike" u="none">
              <a:solidFill>
                <a:srgbClr val="000000"/>
              </a:solidFill>
              <a:effectLst/>
              <a:uFillTx/>
              <a:latin typeface="Arial"/>
            </a:endParaRPr>
          </a:p>
        </p:txBody>
      </p:sp>
      <p:sp>
        <p:nvSpPr>
          <p:cNvPr id="309" name="Card2_Num"/>
          <p:cNvSpPr/>
          <p:nvPr/>
        </p:nvSpPr>
        <p:spPr>
          <a:xfrm>
            <a:off x="3492360" y="1115640"/>
            <a:ext cx="2920680" cy="52992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問い合わせへの心理的ハードル</a:t>
            </a:r>
            <a:endParaRPr b="0" lang="en-US" sz="1400" strike="noStrike" u="none">
              <a:solidFill>
                <a:srgbClr val="000000"/>
              </a:solidFill>
              <a:effectLst/>
              <a:uFillTx/>
              <a:latin typeface="Arial"/>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・「どの物件が対象か」「本当に</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円になるか」が分からないと、物件を送るのをためらう可能性がある</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・内見予約のやり取りは、電話（</a:t>
            </a:r>
            <a:r>
              <a:rPr b="0" lang="en-US" sz="1400" strike="noStrike" u="none">
                <a:solidFill>
                  <a:srgbClr val="333333"/>
                </a:solidFill>
                <a:effectLst/>
                <a:uFillTx/>
                <a:latin typeface="Calibri"/>
              </a:rPr>
              <a:t>33.4</a:t>
            </a:r>
            <a:r>
              <a:rPr b="0" lang="ja-JP" sz="1400" strike="noStrike" u="none">
                <a:solidFill>
                  <a:srgbClr val="333333"/>
                </a:solidFill>
                <a:effectLst/>
                <a:uFillTx/>
                <a:latin typeface="Calibri"/>
              </a:rPr>
              <a:t>％）よりメール・</a:t>
            </a:r>
            <a:r>
              <a:rPr b="0" lang="en-US" sz="1400" strike="noStrike" u="none">
                <a:solidFill>
                  <a:srgbClr val="333333"/>
                </a:solidFill>
                <a:effectLst/>
                <a:uFillTx/>
                <a:latin typeface="Calibri"/>
              </a:rPr>
              <a:t>SMS</a:t>
            </a: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52.6</a:t>
            </a:r>
            <a:r>
              <a:rPr b="0" lang="ja-JP" sz="1400" strike="noStrike" u="none">
                <a:solidFill>
                  <a:srgbClr val="333333"/>
                </a:solidFill>
                <a:effectLst/>
                <a:uFillTx/>
                <a:latin typeface="Calibri"/>
              </a:rPr>
              <a:t>％）を希望する方が多い（出典は</a:t>
            </a:r>
            <a:r>
              <a:rPr b="0" lang="en-US" sz="1400" strike="noStrike" u="none">
                <a:solidFill>
                  <a:srgbClr val="333333"/>
                </a:solidFill>
                <a:effectLst/>
                <a:uFillTx/>
                <a:latin typeface="Calibri"/>
              </a:rPr>
              <a:t>6</a:t>
            </a:r>
            <a:r>
              <a:rPr b="0" lang="ja-JP" sz="1400" strike="noStrike" u="none">
                <a:solidFill>
                  <a:srgbClr val="333333"/>
                </a:solidFill>
                <a:effectLst/>
                <a:uFillTx/>
                <a:latin typeface="Calibri"/>
              </a:rPr>
              <a:t>ページ）</a:t>
            </a:r>
            <a:endParaRPr b="0" lang="en-US" sz="1400" strike="noStrike" u="none">
              <a:solidFill>
                <a:srgbClr val="000000"/>
              </a:solidFill>
              <a:effectLst/>
              <a:uFillTx/>
              <a:latin typeface="Arial"/>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chemeClr val="dk1">
                    <a:lumMod val="65000"/>
                    <a:lumOff val="35000"/>
                  </a:schemeClr>
                </a:solidFill>
                <a:effectLst/>
                <a:uFillTx/>
                <a:latin typeface="Calibri"/>
              </a:rPr>
              <a:t>友だち追加後の配信・導線不足</a:t>
            </a:r>
            <a:endParaRPr b="0" lang="en-US" sz="1400" strike="noStrike" u="none">
              <a:solidFill>
                <a:srgbClr val="000000"/>
              </a:solidFill>
              <a:effectLst/>
              <a:uFillTx/>
              <a:latin typeface="Arial"/>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・リッチメニューが未設置で、友だち追加後に次の行動へ進むボタンがない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・あいさつは物件名・</a:t>
            </a:r>
            <a:r>
              <a:rPr b="0" lang="en-US" sz="1400" strike="noStrike" u="none">
                <a:solidFill>
                  <a:srgbClr val="333333"/>
                </a:solidFill>
                <a:effectLst/>
                <a:uFillTx/>
                <a:latin typeface="Calibri"/>
              </a:rPr>
              <a:t>URL</a:t>
            </a:r>
            <a:r>
              <a:rPr b="0" lang="ja-JP" sz="1400" strike="noStrike" u="none">
                <a:solidFill>
                  <a:srgbClr val="333333"/>
                </a:solidFill>
                <a:effectLst/>
                <a:uFillTx/>
                <a:latin typeface="Calibri"/>
              </a:rPr>
              <a:t>の送信のお願いが中心で、</a:t>
            </a:r>
            <a:br>
              <a:rPr sz="1400"/>
            </a:br>
            <a:r>
              <a:rPr b="0" lang="ja-JP" sz="1400" strike="noStrike" u="none">
                <a:solidFill>
                  <a:srgbClr val="333333"/>
                </a:solidFill>
                <a:effectLst/>
                <a:uFillTx/>
                <a:latin typeface="Calibri"/>
              </a:rPr>
              <a:t>送るメリットや安心材料が伝わりにくい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・物件を送らなかった方へ、続けて案内する配信の設計が必要</a:t>
            </a:r>
            <a:endParaRPr b="0" lang="en-US" sz="1400" strike="noStrike" u="none">
              <a:solidFill>
                <a:srgbClr val="000000"/>
              </a:solidFill>
              <a:effectLst/>
              <a:uFillTx/>
              <a:latin typeface="Arial"/>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fillRef idx="0"/>
          <a:effectRef idx="0"/>
          <a:fontRef idx="minor"/>
        </p:style>
        <p:txBody>
          <a:bodyPr lIns="27360" rIns="27360" tIns="18360" bIns="18360" anchor="ctr">
            <a:noAutofit/>
          </a:bodyPr>
          <a:p>
            <a:pPr algn="ctr" defTabSz="914400">
              <a:lnSpc>
                <a:spcPct val="100000"/>
              </a:lnSpc>
            </a:pPr>
            <a:r>
              <a:rPr b="1" lang="ja-JP" sz="1200" strike="noStrike" u="none">
                <a:solidFill>
                  <a:srgbClr val="1f285a"/>
                </a:solidFill>
                <a:effectLst/>
                <a:uFillTx/>
                <a:latin typeface="メイリオ"/>
                <a:ea typeface="メイリオ"/>
              </a:rPr>
              <a:t>新規友だち獲得（②サイト離脱対策）</a:t>
            </a:r>
            <a:endParaRPr b="0" lang="en-US" sz="1200" strike="noStrike" u="none">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fillRef idx="0"/>
          <a:effectRef idx="0"/>
          <a:fontRef idx="minor"/>
        </p:style>
        <p:txBody>
          <a:bodyPr lIns="45720" rIns="45720" tIns="18360" bIns="18360" anchor="ctr">
            <a:noAutofit/>
          </a:bodyPr>
          <a:p>
            <a:pPr algn="ctr" defTabSz="914400">
              <a:lnSpc>
                <a:spcPct val="100000"/>
              </a:lnSpc>
            </a:pPr>
            <a:r>
              <a:rPr b="1" lang="ja-JP" sz="1400" strike="noStrike" u="none">
                <a:solidFill>
                  <a:srgbClr val="ffffff"/>
                </a:solidFill>
                <a:effectLst/>
                <a:uFillTx/>
                <a:latin typeface="メイリオ"/>
                <a:ea typeface="メイリオ"/>
              </a:rPr>
              <a:t>最重要課題：</a:t>
            </a:r>
            <a:r>
              <a:rPr b="1" lang="en-US" sz="1400" strike="noStrike" u="none">
                <a:solidFill>
                  <a:srgbClr val="ffffff"/>
                </a:solidFill>
                <a:effectLst/>
                <a:uFillTx/>
                <a:latin typeface="メイリオ"/>
                <a:ea typeface="メイリオ"/>
              </a:rPr>
              <a:t>LINE</a:t>
            </a:r>
            <a:r>
              <a:rPr b="1" lang="ja-JP" sz="1400" strike="noStrike" u="none">
                <a:solidFill>
                  <a:srgbClr val="ffffff"/>
                </a:solidFill>
                <a:effectLst/>
                <a:uFillTx/>
                <a:latin typeface="メイリオ"/>
                <a:ea typeface="メイリオ"/>
              </a:rPr>
              <a:t>友だち追加後の問い合わせ転換（⑤リード有効化）</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1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19"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320" name="二等辺三角形 24"/>
          <p:cNvSpPr/>
          <p:nvPr/>
        </p:nvSpPr>
        <p:spPr>
          <a:xfrm rot="10800000">
            <a:off x="1014120" y="2766960"/>
            <a:ext cx="7964640" cy="486360"/>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21" name="正方形/長方形 25"/>
          <p:cNvSpPr/>
          <p:nvPr/>
        </p:nvSpPr>
        <p:spPr>
          <a:xfrm>
            <a:off x="504000" y="775080"/>
            <a:ext cx="8897760" cy="297360"/>
          </a:xfrm>
          <a:prstGeom prst="rect">
            <a:avLst/>
          </a:prstGeom>
          <a:solidFill>
            <a:schemeClr val="tx2">
              <a:lumMod val="75000"/>
            </a:schemeClr>
          </a:solid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rIns="90000" tIns="0" bIns="0" anchor="ctr">
            <a:noAutofit/>
          </a:bodyPr>
          <a:p>
            <a:pPr defTabSz="914400">
              <a:lnSpc>
                <a:spcPct val="100000"/>
              </a:lnSpc>
              <a:tabLst>
                <a:tab algn="l" pos="0"/>
              </a:tabLst>
            </a:pPr>
            <a:r>
              <a:rPr b="1" lang="ja-JP" sz="1800" strike="noStrike" u="none">
                <a:solidFill>
                  <a:schemeClr val="lt1"/>
                </a:solidFill>
                <a:effectLst/>
                <a:uFillTx/>
                <a:latin typeface="メイリオ"/>
                <a:ea typeface="メイリオ"/>
              </a:rPr>
              <a:t>プロモーション目的</a:t>
            </a:r>
            <a:endParaRPr b="0" lang="en-US" sz="1800" strike="noStrike" u="none">
              <a:solidFill>
                <a:srgbClr val="ffffff"/>
              </a:solidFill>
              <a:effectLst/>
              <a:uFillTx/>
              <a:latin typeface="Arial"/>
            </a:endParaRPr>
          </a:p>
        </p:txBody>
      </p:sp>
      <p:sp>
        <p:nvSpPr>
          <p:cNvPr id="322" name="正方形/長方形 26"/>
          <p:cNvSpPr/>
          <p:nvPr/>
        </p:nvSpPr>
        <p:spPr>
          <a:xfrm>
            <a:off x="504000" y="1090800"/>
            <a:ext cx="8897760" cy="524880"/>
          </a:xfrm>
          <a:prstGeom prst="rect">
            <a:avLst/>
          </a:prstGeom>
          <a:no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400" strike="noStrike" u="none">
                <a:solidFill>
                  <a:srgbClr val="ff3300"/>
                </a:solidFill>
                <a:effectLst/>
                <a:uFillTx/>
                <a:latin typeface="メイリオ"/>
                <a:ea typeface="メイリオ"/>
              </a:rPr>
              <a:t>LINE</a:t>
            </a:r>
            <a:r>
              <a:rPr b="1" lang="zh-CN" sz="2400" strike="noStrike" u="none">
                <a:solidFill>
                  <a:srgbClr val="ff3300"/>
                </a:solidFill>
                <a:effectLst/>
                <a:uFillTx/>
                <a:latin typeface="メイリオ"/>
                <a:ea typeface="メイリオ"/>
              </a:rPr>
              <a:t>経由の物件問い合わせを増やす</a:t>
            </a:r>
            <a:endParaRPr b="0" lang="en-US" sz="2400" strike="noStrike" u="none">
              <a:solidFill>
                <a:srgbClr val="000000"/>
              </a:solidFill>
              <a:effectLst/>
              <a:uFillTx/>
              <a:latin typeface="Arial"/>
            </a:endParaRPr>
          </a:p>
        </p:txBody>
      </p:sp>
      <p:sp>
        <p:nvSpPr>
          <p:cNvPr id="323" name="テキスト ボックス 4"/>
          <p:cNvSpPr/>
          <p:nvPr/>
        </p:nvSpPr>
        <p:spPr>
          <a:xfrm>
            <a:off x="3893040" y="2803320"/>
            <a:ext cx="223668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800" strike="noStrike" u="none">
                <a:solidFill>
                  <a:schemeClr val="lt1"/>
                </a:solidFill>
                <a:effectLst/>
                <a:uFillTx/>
                <a:latin typeface="メイリオ"/>
                <a:ea typeface="メイリオ"/>
              </a:rPr>
              <a:t>弊社からのご提案</a:t>
            </a:r>
            <a:endParaRPr b="0" lang="en-US" sz="1800" strike="noStrike" u="none">
              <a:solidFill>
                <a:srgbClr val="000000"/>
              </a:solidFill>
              <a:effectLst/>
              <a:uFillTx/>
              <a:latin typeface="Arial"/>
            </a:endParaRPr>
          </a:p>
        </p:txBody>
      </p:sp>
      <p:sp>
        <p:nvSpPr>
          <p:cNvPr id="324" name="正方形/長方形 32"/>
          <p:cNvSpPr/>
          <p:nvPr/>
        </p:nvSpPr>
        <p:spPr>
          <a:xfrm>
            <a:off x="504000" y="1675440"/>
            <a:ext cx="8897760" cy="385560"/>
          </a:xfrm>
          <a:prstGeom prst="rect">
            <a:avLst/>
          </a:prstGeom>
          <a:solidFill>
            <a:schemeClr val="tx2"/>
          </a:solidFill>
          <a:ln>
            <a:solidFill>
              <a:srgbClr val="1f497d"/>
            </a:solidFill>
            <a:round/>
          </a:ln>
        </p:spPr>
        <p:style>
          <a:lnRef idx="2">
            <a:schemeClr val="accent1">
              <a:shade val="50000"/>
            </a:schemeClr>
          </a:lnRef>
          <a:fillRef idx="1">
            <a:schemeClr val="accent1"/>
          </a:fillRef>
          <a:effectRef idx="0">
            <a:schemeClr val="accent1"/>
          </a:effectRef>
          <a:fontRef idx="minor"/>
        </p:style>
        <p:txBody>
          <a:bodyPr lIns="90000" rIns="90000" tIns="18360" bIns="18360" anchor="ctr">
            <a:noAutofit/>
          </a:bodyPr>
          <a:p>
            <a:pPr defTabSz="914400">
              <a:lnSpc>
                <a:spcPct val="100000"/>
              </a:lnSpc>
              <a:tabLst>
                <a:tab algn="l" pos="0"/>
              </a:tabLst>
            </a:pPr>
            <a:r>
              <a:rPr b="1" lang="ja-JP" sz="1800" strike="noStrike" u="none">
                <a:solidFill>
                  <a:schemeClr val="lt1"/>
                </a:solidFill>
                <a:effectLst/>
                <a:uFillTx/>
                <a:latin typeface="メイリオ"/>
                <a:ea typeface="メイリオ"/>
              </a:rPr>
              <a:t>配信目標</a:t>
            </a:r>
            <a:endParaRPr b="0" lang="en-US" sz="1800" strike="noStrike" u="none">
              <a:solidFill>
                <a:srgbClr val="ffffff"/>
              </a:solidFill>
              <a:effectLst/>
              <a:uFillTx/>
              <a:latin typeface="Arial"/>
            </a:endParaRPr>
          </a:p>
        </p:txBody>
      </p:sp>
      <p:sp>
        <p:nvSpPr>
          <p:cNvPr id="325" name="正方形/長方形 33"/>
          <p:cNvSpPr/>
          <p:nvPr/>
        </p:nvSpPr>
        <p:spPr>
          <a:xfrm>
            <a:off x="504000" y="2077560"/>
            <a:ext cx="8897760" cy="625680"/>
          </a:xfrm>
          <a:prstGeom prst="rect">
            <a:avLst/>
          </a:prstGeom>
          <a:noFill/>
          <a:ln>
            <a:solidFill>
              <a:srgbClr val="4f81bd"/>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000" strike="noStrike" u="none">
                <a:solidFill>
                  <a:srgbClr val="ff3300"/>
                </a:solidFill>
                <a:effectLst/>
                <a:uFillTx/>
                <a:latin typeface="メイリオ"/>
                <a:ea typeface="メイリオ"/>
              </a:rPr>
              <a:t>LINE</a:t>
            </a:r>
            <a:r>
              <a:rPr b="1" lang="ja-JP" sz="2000" strike="noStrike" u="none">
                <a:solidFill>
                  <a:srgbClr val="ff3300"/>
                </a:solidFill>
                <a:effectLst/>
                <a:uFillTx/>
                <a:latin typeface="メイリオ"/>
                <a:ea typeface="メイリオ"/>
              </a:rPr>
              <a:t>経由の問い合わせ </a:t>
            </a:r>
            <a:r>
              <a:rPr b="1" lang="en-US" sz="2000" strike="noStrike" u="none">
                <a:solidFill>
                  <a:srgbClr val="ff3300"/>
                </a:solidFill>
                <a:effectLst/>
                <a:uFillTx/>
                <a:latin typeface="メイリオ"/>
                <a:ea typeface="メイリオ"/>
              </a:rPr>
              <a:t>1</a:t>
            </a:r>
            <a:r>
              <a:rPr b="1" lang="ja-JP" sz="2000" strike="noStrike" u="none">
                <a:solidFill>
                  <a:srgbClr val="ff3300"/>
                </a:solidFill>
                <a:effectLst/>
                <a:uFillTx/>
                <a:latin typeface="メイリオ"/>
                <a:ea typeface="メイリオ"/>
              </a:rPr>
              <a:t>か月目 月</a:t>
            </a:r>
            <a:r>
              <a:rPr b="1" lang="en-US" sz="2000" strike="noStrike" u="none">
                <a:solidFill>
                  <a:srgbClr val="ff3300"/>
                </a:solidFill>
                <a:effectLst/>
                <a:uFillTx/>
                <a:latin typeface="メイリオ"/>
                <a:ea typeface="メイリオ"/>
              </a:rPr>
              <a:t>7</a:t>
            </a:r>
            <a:r>
              <a:rPr b="1" lang="ja-JP" sz="2000" strike="noStrike" u="none">
                <a:solidFill>
                  <a:srgbClr val="ff3300"/>
                </a:solidFill>
                <a:effectLst/>
                <a:uFillTx/>
                <a:latin typeface="メイリオ"/>
                <a:ea typeface="メイリオ"/>
              </a:rPr>
              <a:t>件→</a:t>
            </a:r>
            <a:r>
              <a:rPr b="1" lang="en-US" sz="2000" strike="noStrike" u="none">
                <a:solidFill>
                  <a:srgbClr val="ff3300"/>
                </a:solidFill>
                <a:effectLst/>
                <a:uFillTx/>
                <a:latin typeface="メイリオ"/>
                <a:ea typeface="メイリオ"/>
              </a:rPr>
              <a:t>6</a:t>
            </a:r>
            <a:r>
              <a:rPr b="1" lang="ja-JP" sz="2000" strike="noStrike" u="none">
                <a:solidFill>
                  <a:srgbClr val="ff3300"/>
                </a:solidFill>
                <a:effectLst/>
                <a:uFillTx/>
                <a:latin typeface="メイリオ"/>
                <a:ea typeface="メイリオ"/>
              </a:rPr>
              <a:t>か月目 月</a:t>
            </a:r>
            <a:r>
              <a:rPr b="1" lang="en-US" sz="2000" strike="noStrike" u="none">
                <a:solidFill>
                  <a:srgbClr val="ff3300"/>
                </a:solidFill>
                <a:effectLst/>
                <a:uFillTx/>
                <a:latin typeface="メイリオ"/>
                <a:ea typeface="メイリオ"/>
              </a:rPr>
              <a:t>23</a:t>
            </a:r>
            <a:r>
              <a:rPr b="1" lang="ja-JP" sz="2000" strike="noStrike" u="none">
                <a:solidFill>
                  <a:srgbClr val="ff3300"/>
                </a:solidFill>
                <a:effectLst/>
                <a:uFillTx/>
                <a:latin typeface="メイリオ"/>
                <a:ea typeface="メイリオ"/>
              </a:rPr>
              <a:t>件（試算）</a:t>
            </a:r>
            <a:endParaRPr b="0" lang="en-US" sz="2000" strike="noStrike" u="none">
              <a:solidFill>
                <a:srgbClr val="000000"/>
              </a:solidFill>
              <a:effectLst/>
              <a:uFillTx/>
              <a:latin typeface="Arial"/>
            </a:endParaRPr>
          </a:p>
        </p:txBody>
      </p:sp>
      <p:sp>
        <p:nvSpPr>
          <p:cNvPr id="326" name="正方形/長方形 1"/>
          <p:cNvSpPr/>
          <p:nvPr/>
        </p:nvSpPr>
        <p:spPr>
          <a:xfrm>
            <a:off x="1574640" y="372708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離脱防止ポップアップ</a:t>
            </a:r>
            <a:endParaRPr b="0" lang="en-US" sz="1400" strike="noStrike" u="none">
              <a:solidFill>
                <a:srgbClr val="000000"/>
              </a:solidFill>
              <a:effectLst/>
              <a:uFillTx/>
              <a:latin typeface="Arial"/>
            </a:endParaRPr>
          </a:p>
        </p:txBody>
      </p:sp>
      <p:sp>
        <p:nvSpPr>
          <p:cNvPr id="327" name="正方形/長方形 4"/>
          <p:cNvSpPr/>
          <p:nvPr/>
        </p:nvSpPr>
        <p:spPr>
          <a:xfrm>
            <a:off x="1574640" y="438552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あいさつメッセージの改善</a:t>
            </a:r>
            <a:endParaRPr b="0" lang="en-US" sz="1400" strike="noStrike" u="none">
              <a:solidFill>
                <a:srgbClr val="000000"/>
              </a:solidFill>
              <a:effectLst/>
              <a:uFillTx/>
              <a:latin typeface="Arial"/>
            </a:endParaRPr>
          </a:p>
        </p:txBody>
      </p:sp>
      <p:sp>
        <p:nvSpPr>
          <p:cNvPr id="328" name="正方形/長方形 5"/>
          <p:cNvSpPr/>
          <p:nvPr/>
        </p:nvSpPr>
        <p:spPr>
          <a:xfrm>
            <a:off x="1574640" y="504396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リッチメニュー・自動応答</a:t>
            </a:r>
            <a:endParaRPr b="0" lang="en-US" sz="1400" strike="noStrike" u="none">
              <a:solidFill>
                <a:srgbClr val="000000"/>
              </a:solidFill>
              <a:effectLst/>
              <a:uFillTx/>
              <a:latin typeface="Arial"/>
            </a:endParaRPr>
          </a:p>
        </p:txBody>
      </p:sp>
      <p:sp>
        <p:nvSpPr>
          <p:cNvPr id="329" name="正方形/長方形 6"/>
          <p:cNvSpPr/>
          <p:nvPr/>
        </p:nvSpPr>
        <p:spPr>
          <a:xfrm>
            <a:off x="1574640" y="570204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ステップ配信・企画配信</a:t>
            </a:r>
            <a:endParaRPr b="0" lang="en-US" sz="1400" strike="noStrike" u="none">
              <a:solidFill>
                <a:srgbClr val="000000"/>
              </a:solidFill>
              <a:effectLst/>
              <a:uFillTx/>
              <a:latin typeface="Arial"/>
            </a:endParaRPr>
          </a:p>
        </p:txBody>
      </p:sp>
      <p:sp>
        <p:nvSpPr>
          <p:cNvPr id="330" name="正方形/長方形 7"/>
          <p:cNvSpPr/>
          <p:nvPr/>
        </p:nvSpPr>
        <p:spPr>
          <a:xfrm>
            <a:off x="4336920" y="372708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サイトを離れようとした方に、</a:t>
            </a:r>
            <a:r>
              <a:rPr b="0" lang="en-US" sz="1400" strike="noStrike" u="none">
                <a:solidFill>
                  <a:schemeClr val="dk2">
                    <a:lumMod val="75000"/>
                  </a:schemeClr>
                </a:solidFill>
                <a:effectLst/>
                <a:uFillTx/>
                <a:latin typeface="メイリオ"/>
                <a:ea typeface="メイリオ"/>
              </a:rPr>
              <a:t>LINE</a:t>
            </a:r>
            <a:r>
              <a:rPr b="0" lang="ja-JP" sz="1400" strike="noStrike" u="none">
                <a:solidFill>
                  <a:schemeClr val="dk2">
                    <a:lumMod val="75000"/>
                  </a:schemeClr>
                </a:solidFill>
                <a:effectLst/>
                <a:uFillTx/>
                <a:latin typeface="メイリオ"/>
                <a:ea typeface="メイリオ"/>
              </a:rPr>
              <a:t>での物件の問い合わせを案内（</a:t>
            </a:r>
            <a:r>
              <a:rPr b="0" lang="en-US" sz="1400" strike="noStrike" u="none">
                <a:solidFill>
                  <a:schemeClr val="dk2">
                    <a:lumMod val="75000"/>
                  </a:schemeClr>
                </a:solidFill>
                <a:effectLst/>
                <a:uFillTx/>
                <a:latin typeface="メイリオ"/>
                <a:ea typeface="メイリオ"/>
              </a:rPr>
              <a:t>LINE</a:t>
            </a:r>
            <a:r>
              <a:rPr b="0" lang="ja-JP" sz="1400" strike="noStrike" u="none">
                <a:solidFill>
                  <a:schemeClr val="dk2">
                    <a:lumMod val="75000"/>
                  </a:schemeClr>
                </a:solidFill>
                <a:effectLst/>
                <a:uFillTx/>
                <a:latin typeface="メイリオ"/>
                <a:ea typeface="メイリオ"/>
              </a:rPr>
              <a:t>公式アカウントとは別に導入）</a:t>
            </a:r>
            <a:endParaRPr b="0" lang="en-US" sz="1400" strike="noStrike" u="none">
              <a:solidFill>
                <a:srgbClr val="000000"/>
              </a:solidFill>
              <a:effectLst/>
              <a:uFillTx/>
              <a:latin typeface="Arial"/>
            </a:endParaRPr>
          </a:p>
        </p:txBody>
      </p:sp>
      <p:sp>
        <p:nvSpPr>
          <p:cNvPr id="331" name="正方形/長方形 8"/>
          <p:cNvSpPr/>
          <p:nvPr/>
        </p:nvSpPr>
        <p:spPr>
          <a:xfrm>
            <a:off x="4336920" y="438552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物件の送り方に加え、営業電話なし・確認だけでも可などの送る理由と、ボタンを追加</a:t>
            </a:r>
            <a:endParaRPr b="0" lang="en-US" sz="1400" strike="noStrike" u="none">
              <a:solidFill>
                <a:srgbClr val="000000"/>
              </a:solidFill>
              <a:effectLst/>
              <a:uFillTx/>
              <a:latin typeface="Arial"/>
            </a:endParaRPr>
          </a:p>
        </p:txBody>
      </p:sp>
      <p:sp>
        <p:nvSpPr>
          <p:cNvPr id="332" name="正方形/長方形 9"/>
          <p:cNvSpPr/>
          <p:nvPr/>
        </p:nvSpPr>
        <p:spPr>
          <a:xfrm>
            <a:off x="4336920" y="504396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「物件を送る」「</a:t>
            </a:r>
            <a:r>
              <a:rPr b="0" lang="en-US" sz="1400" strike="noStrike" u="none">
                <a:solidFill>
                  <a:schemeClr val="dk2">
                    <a:lumMod val="75000"/>
                  </a:schemeClr>
                </a:solidFill>
                <a:effectLst/>
                <a:uFillTx/>
                <a:latin typeface="メイリオ"/>
                <a:ea typeface="メイリオ"/>
              </a:rPr>
              <a:t>100</a:t>
            </a:r>
            <a:r>
              <a:rPr b="0" lang="ja-JP" sz="1400" strike="noStrike" u="none">
                <a:solidFill>
                  <a:schemeClr val="dk2">
                    <a:lumMod val="75000"/>
                  </a:schemeClr>
                </a:solidFill>
                <a:effectLst/>
                <a:uFillTx/>
                <a:latin typeface="メイリオ"/>
                <a:ea typeface="メイリオ"/>
              </a:rPr>
              <a:t>円になるか確認」などを常に表示。よくある質問はキーワード応答で即時に回答</a:t>
            </a:r>
            <a:endParaRPr b="0" lang="en-US" sz="1400" strike="noStrike" u="none">
              <a:solidFill>
                <a:srgbClr val="000000"/>
              </a:solidFill>
              <a:effectLst/>
              <a:uFillTx/>
              <a:latin typeface="Arial"/>
            </a:endParaRPr>
          </a:p>
        </p:txBody>
      </p:sp>
      <p:sp>
        <p:nvSpPr>
          <p:cNvPr id="333" name="正方形/長方形 10"/>
          <p:cNvSpPr/>
          <p:nvPr/>
        </p:nvSpPr>
        <p:spPr>
          <a:xfrm>
            <a:off x="4336920" y="570204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友だち追加から</a:t>
            </a:r>
            <a:r>
              <a:rPr b="0" lang="en-US" sz="1400" strike="noStrike" u="none">
                <a:solidFill>
                  <a:schemeClr val="dk2">
                    <a:lumMod val="75000"/>
                  </a:schemeClr>
                </a:solidFill>
                <a:effectLst/>
                <a:uFillTx/>
                <a:latin typeface="メイリオ"/>
                <a:ea typeface="メイリオ"/>
              </a:rPr>
              <a:t>14</a:t>
            </a:r>
            <a:r>
              <a:rPr b="0" lang="ja-JP" sz="1400" strike="noStrike" u="none">
                <a:solidFill>
                  <a:schemeClr val="dk2">
                    <a:lumMod val="75000"/>
                  </a:schemeClr>
                </a:solidFill>
                <a:effectLst/>
                <a:uFillTx/>
                <a:latin typeface="メイリオ"/>
                <a:ea typeface="メイリオ"/>
              </a:rPr>
              <a:t>日間・全</a:t>
            </a:r>
            <a:r>
              <a:rPr b="0" lang="en-US" sz="1400" strike="noStrike" u="none">
                <a:solidFill>
                  <a:schemeClr val="dk2">
                    <a:lumMod val="75000"/>
                  </a:schemeClr>
                </a:solidFill>
                <a:effectLst/>
                <a:uFillTx/>
                <a:latin typeface="メイリオ"/>
                <a:ea typeface="メイリオ"/>
              </a:rPr>
              <a:t>10</a:t>
            </a:r>
            <a:r>
              <a:rPr b="0" lang="ja-JP" sz="1400" strike="noStrike" u="none">
                <a:solidFill>
                  <a:schemeClr val="dk2">
                    <a:lumMod val="75000"/>
                  </a:schemeClr>
                </a:solidFill>
                <a:effectLst/>
                <a:uFillTx/>
                <a:latin typeface="メイリオ"/>
                <a:ea typeface="メイリオ"/>
              </a:rPr>
              <a:t>通で物件の送信を後押しし、月</a:t>
            </a:r>
            <a:r>
              <a:rPr b="0" lang="en-US" sz="1400" strike="noStrike" u="none">
                <a:solidFill>
                  <a:schemeClr val="dk2">
                    <a:lumMod val="75000"/>
                  </a:schemeClr>
                </a:solidFill>
                <a:effectLst/>
                <a:uFillTx/>
                <a:latin typeface="メイリオ"/>
                <a:ea typeface="メイリオ"/>
              </a:rPr>
              <a:t>4</a:t>
            </a:r>
            <a:r>
              <a:rPr b="0" lang="ja-JP" sz="1400" strike="noStrike" u="none">
                <a:solidFill>
                  <a:schemeClr val="dk2">
                    <a:lumMod val="75000"/>
                  </a:schemeClr>
                </a:solidFill>
                <a:effectLst/>
                <a:uFillTx/>
                <a:latin typeface="メイリオ"/>
                <a:ea typeface="メイリオ"/>
              </a:rPr>
              <a:t>本の企画配信で今の友だちにも案内</a:t>
            </a:r>
            <a:endParaRPr b="0" lang="en-US" sz="1400" strike="noStrike" u="none">
              <a:solidFill>
                <a:srgbClr val="000000"/>
              </a:solidFill>
              <a:effectLst/>
              <a:uFillTx/>
              <a:latin typeface="Arial"/>
            </a:endParaRPr>
          </a:p>
        </p:txBody>
      </p:sp>
      <p:sp>
        <p:nvSpPr>
          <p:cNvPr id="334" name="正方形/長方形 11"/>
          <p:cNvSpPr/>
          <p:nvPr/>
        </p:nvSpPr>
        <p:spPr>
          <a:xfrm>
            <a:off x="595440" y="372708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1" lang="zh-CN" sz="1400" strike="noStrike" u="none">
                <a:solidFill>
                  <a:schemeClr val="dk2">
                    <a:lumMod val="75000"/>
                  </a:schemeClr>
                </a:solidFill>
                <a:effectLst/>
                <a:uFillTx/>
                <a:latin typeface="メイリオ"/>
                <a:ea typeface="メイリオ"/>
              </a:rPr>
              <a:t>入口・</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2">
                    <a:lumMod val="75000"/>
                  </a:schemeClr>
                </a:solidFill>
                <a:effectLst/>
                <a:uFillTx/>
                <a:latin typeface="メイリオ"/>
                <a:ea typeface="メイリオ"/>
              </a:rPr>
              <a:t>あいさつ</a:t>
            </a:r>
            <a:endParaRPr b="0" lang="en-US" sz="1400" strike="noStrike" u="none">
              <a:solidFill>
                <a:srgbClr val="000000"/>
              </a:solidFill>
              <a:effectLst/>
              <a:uFillTx/>
              <a:latin typeface="Arial"/>
            </a:endParaRPr>
          </a:p>
        </p:txBody>
      </p:sp>
      <p:sp>
        <p:nvSpPr>
          <p:cNvPr id="335" name="正方形/長方形 12"/>
          <p:cNvSpPr/>
          <p:nvPr/>
        </p:nvSpPr>
        <p:spPr>
          <a:xfrm>
            <a:off x="595440" y="504396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1" lang="zh-CN" sz="1400" strike="noStrike" u="none">
                <a:solidFill>
                  <a:schemeClr val="dk2">
                    <a:lumMod val="75000"/>
                  </a:schemeClr>
                </a:solidFill>
                <a:effectLst/>
                <a:uFillTx/>
                <a:latin typeface="メイリオ"/>
                <a:ea typeface="メイリオ"/>
              </a:rPr>
              <a:t>追加後の</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2">
                    <a:lumMod val="75000"/>
                  </a:schemeClr>
                </a:solidFill>
                <a:effectLst/>
                <a:uFillTx/>
                <a:latin typeface="メイリオ"/>
                <a:ea typeface="メイリオ"/>
              </a:rPr>
              <a:t>案内</a:t>
            </a:r>
            <a:endParaRPr b="0" lang="en-US" sz="1400" strike="noStrike" u="none">
              <a:solidFill>
                <a:srgbClr val="000000"/>
              </a:solidFill>
              <a:effectLst/>
              <a:uFillTx/>
              <a:latin typeface="Arial"/>
            </a:endParaRPr>
          </a:p>
        </p:txBody>
      </p:sp>
      <p:sp>
        <p:nvSpPr>
          <p:cNvPr id="336" name="正方形/長方形 16"/>
          <p:cNvSpPr/>
          <p:nvPr/>
        </p:nvSpPr>
        <p:spPr>
          <a:xfrm>
            <a:off x="504000" y="3316680"/>
            <a:ext cx="8897760" cy="365760"/>
          </a:xfrm>
          <a:prstGeom prst="rect">
            <a:avLst/>
          </a:prstGeom>
          <a:solidFill>
            <a:schemeClr val="accent1">
              <a:lumMod val="20000"/>
              <a:lumOff val="80000"/>
            </a:schemeClr>
          </a:solidFill>
          <a:ln>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18360" bIns="18360" anchor="ctr">
            <a:noAutofit/>
          </a:bodyPr>
          <a:p>
            <a:pPr defTabSz="914400">
              <a:lnSpc>
                <a:spcPct val="100000"/>
              </a:lnSpc>
              <a:tabLst>
                <a:tab algn="l" pos="0"/>
              </a:tabLst>
            </a:pPr>
            <a:r>
              <a:rPr b="1" lang="ja-JP" sz="1800" strike="noStrike" u="none">
                <a:solidFill>
                  <a:schemeClr val="accent1">
                    <a:lumMod val="75000"/>
                  </a:schemeClr>
                </a:solidFill>
                <a:effectLst/>
                <a:uFillTx/>
                <a:latin typeface="メイリオ"/>
                <a:ea typeface="メイリオ"/>
              </a:rPr>
              <a:t>手法</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39"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想定の費用対効果</a:t>
            </a:r>
            <a:endParaRPr b="0" lang="en-US" sz="1600" strike="noStrike" u="none">
              <a:solidFill>
                <a:srgbClr val="000000"/>
              </a:solidFill>
              <a:effectLst/>
              <a:uFillTx/>
              <a:latin typeface="Arial"/>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初期</a:t>
            </a:r>
            <a:endParaRPr b="0" lang="en-US" sz="1400" strike="noStrike" u="non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月次</a:t>
            </a:r>
            <a:endParaRPr b="0" lang="en-US" sz="1400" strike="noStrike" u="non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dk1"/>
                </a:solidFill>
                <a:effectLst/>
                <a:uFillTx/>
                <a:latin typeface="メイリオ"/>
                <a:ea typeface="メイリオ"/>
              </a:rPr>
              <a:t>¥215,000</a:t>
            </a:r>
            <a:endParaRPr b="0" lang="en-US" sz="1600" strike="noStrike" u="non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dk1"/>
                </a:solidFill>
                <a:effectLst/>
                <a:uFillTx/>
                <a:latin typeface="メイリオ"/>
                <a:ea typeface="メイリオ"/>
              </a:rPr>
              <a:t>¥135,000</a:t>
            </a:r>
            <a:endParaRPr b="0" lang="en-US" sz="1600" strike="noStrike" u="non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400" strike="noStrike" u="none">
                <a:solidFill>
                  <a:schemeClr val="lt1"/>
                </a:solidFill>
                <a:effectLst/>
                <a:uFillTx/>
                <a:latin typeface="メイリオ"/>
                <a:ea typeface="メイリオ"/>
              </a:rPr>
              <a:t>6</a:t>
            </a:r>
            <a:r>
              <a:rPr b="0" lang="ja-JP" sz="1400" strike="noStrike" u="none">
                <a:solidFill>
                  <a:schemeClr val="lt1"/>
                </a:solidFill>
                <a:effectLst/>
                <a:uFillTx/>
                <a:latin typeface="メイリオ"/>
                <a:ea typeface="メイリオ"/>
              </a:rPr>
              <a:t>か月後</a:t>
            </a:r>
            <a:endParaRPr b="0" lang="en-US" sz="1400" strike="noStrike" u="non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&lt;</a:t>
            </a:r>
            <a:r>
              <a:rPr b="0" lang="ja-JP" sz="1400" strike="noStrike" u="none">
                <a:solidFill>
                  <a:schemeClr val="dk1"/>
                </a:solidFill>
                <a:effectLst/>
                <a:uFillTx/>
                <a:latin typeface="メイリオ"/>
                <a:ea typeface="メイリオ"/>
              </a:rPr>
              <a:t>実施内容</a:t>
            </a:r>
            <a:r>
              <a:rPr b="0" lang="en-US" sz="1400" strike="noStrike" u="none">
                <a:solidFill>
                  <a:schemeClr val="dk1"/>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&lt;</a:t>
            </a:r>
            <a:r>
              <a:rPr b="0" lang="ja-JP" sz="1400" strike="noStrike" u="none">
                <a:solidFill>
                  <a:schemeClr val="dk1"/>
                </a:solidFill>
                <a:effectLst/>
                <a:uFillTx/>
                <a:latin typeface="メイリオ"/>
                <a:ea typeface="メイリオ"/>
              </a:rPr>
              <a:t>実施内容</a:t>
            </a:r>
            <a:r>
              <a:rPr b="0" lang="en-US" sz="1400" strike="noStrike" u="none">
                <a:solidFill>
                  <a:schemeClr val="dk1"/>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企画配信</a:t>
            </a:r>
            <a:endParaRPr b="0" lang="en-US" sz="1300" strike="noStrike" u="non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zh-CN" sz="1300" strike="noStrike" u="none">
                <a:solidFill>
                  <a:schemeClr val="dk1"/>
                </a:solidFill>
                <a:effectLst/>
                <a:uFillTx/>
                <a:latin typeface="メイリオ"/>
                <a:ea typeface="メイリオ"/>
              </a:rPr>
              <a:t>月</a:t>
            </a:r>
            <a:r>
              <a:rPr b="0" lang="en-US" sz="1300" strike="noStrike" u="none">
                <a:solidFill>
                  <a:schemeClr val="dk1"/>
                </a:solidFill>
                <a:effectLst/>
                <a:uFillTx/>
                <a:latin typeface="メイリオ"/>
                <a:ea typeface="メイリオ"/>
              </a:rPr>
              <a:t>4</a:t>
            </a:r>
            <a:r>
              <a:rPr b="0" lang="zh-CN" sz="1300" strike="noStrike" u="none">
                <a:solidFill>
                  <a:schemeClr val="dk1"/>
                </a:solidFill>
                <a:effectLst/>
                <a:uFillTx/>
                <a:latin typeface="メイリオ"/>
                <a:ea typeface="メイリオ"/>
              </a:rPr>
              <a:t>本</a:t>
            </a:r>
            <a:endParaRPr b="0" lang="en-US" sz="1300" strike="noStrike" u="non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90000"/>
              </a:lnSpc>
            </a:pPr>
            <a:r>
              <a:rPr b="0" lang="ja-JP" sz="1300" strike="noStrike" u="none">
                <a:solidFill>
                  <a:schemeClr val="lt1"/>
                </a:solidFill>
                <a:effectLst/>
                <a:uFillTx/>
                <a:latin typeface="メイリオ"/>
                <a:ea typeface="メイリオ"/>
              </a:rPr>
              <a:t>リッチメニュー</a:t>
            </a:r>
            <a:endParaRPr b="0" lang="en-US" sz="1300" strike="noStrike" u="none">
              <a:solidFill>
                <a:srgbClr val="ffffff"/>
              </a:solidFill>
              <a:effectLst/>
              <a:uFillTx/>
              <a:latin typeface="Arial"/>
            </a:endParaRPr>
          </a:p>
          <a:p>
            <a:pPr algn="ctr" defTabSz="914400">
              <a:lnSpc>
                <a:spcPct val="90000"/>
              </a:lnSpc>
            </a:pPr>
            <a:r>
              <a:rPr b="0" lang="ja-JP" sz="1300" strike="noStrike" u="none">
                <a:solidFill>
                  <a:schemeClr val="lt1"/>
                </a:solidFill>
                <a:effectLst/>
                <a:uFillTx/>
                <a:latin typeface="メイリオ"/>
                <a:ea typeface="メイリオ"/>
              </a:rPr>
              <a:t>修正変更</a:t>
            </a:r>
            <a:endParaRPr b="0" lang="en-US" sz="1300" strike="noStrike" u="non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720" rIns="36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月次運用範囲内で適宜調整</a:t>
            </a:r>
            <a:endParaRPr b="0" lang="en-US" sz="1300" strike="noStrike" u="non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月次レポート</a:t>
            </a:r>
            <a:endParaRPr b="0" lang="en-US" sz="1300" strike="noStrike" u="non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a:t>
            </a:r>
            <a:r>
              <a:rPr b="0" lang="ja-JP" sz="1300" strike="noStrike" u="none">
                <a:solidFill>
                  <a:schemeClr val="dk1"/>
                </a:solidFill>
                <a:effectLst/>
                <a:uFillTx/>
                <a:latin typeface="メイリオ"/>
                <a:ea typeface="メイリオ"/>
              </a:rPr>
              <a:t>回</a:t>
            </a:r>
            <a:endParaRPr b="0" lang="en-US" sz="1300" strike="noStrike" u="non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月次定例会</a:t>
            </a:r>
            <a:endParaRPr b="0" lang="en-US" sz="1300" strike="noStrike" u="non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a:t>
            </a:r>
            <a:r>
              <a:rPr b="0" lang="ja-JP" sz="1300" strike="noStrike" u="none">
                <a:solidFill>
                  <a:schemeClr val="dk1"/>
                </a:solidFill>
                <a:effectLst/>
                <a:uFillTx/>
                <a:latin typeface="メイリオ"/>
                <a:ea typeface="メイリオ"/>
              </a:rPr>
              <a:t>回</a:t>
            </a:r>
            <a:endParaRPr b="0" lang="en-US" sz="1300" strike="noStrike" u="non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離脱防止</a:t>
            </a:r>
            <a:endParaRPr b="0" lang="en-US" sz="1300" strike="noStrike" u="non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運用</a:t>
            </a:r>
            <a:endParaRPr b="0" lang="en-US" sz="1300" strike="noStrike" u="non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ステップ配信</a:t>
            </a:r>
            <a:endParaRPr b="0" lang="en-US" sz="1300" strike="noStrike" u="non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10</a:t>
            </a:r>
            <a:r>
              <a:rPr b="0" lang="zh-CN" sz="1300" strike="noStrike" u="none">
                <a:solidFill>
                  <a:schemeClr val="dk1"/>
                </a:solidFill>
                <a:effectLst/>
                <a:uFillTx/>
                <a:latin typeface="メイリオ"/>
                <a:ea typeface="メイリオ"/>
              </a:rPr>
              <a:t>通の改善</a:t>
            </a:r>
            <a:endParaRPr b="0" lang="en-US" sz="1300" strike="noStrike" u="non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友だち数</a:t>
            </a:r>
            <a:endParaRPr b="0" lang="en-US" sz="1400" strike="noStrike" u="non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問い合わせ①</a:t>
            </a:r>
            <a:endParaRPr b="0" lang="en-US" sz="1400" strike="noStrike" u="none">
              <a:solidFill>
                <a:srgbClr val="000000"/>
              </a:solidFill>
              <a:effectLst/>
              <a:uFillTx/>
              <a:latin typeface="Arial"/>
            </a:endParaRPr>
          </a:p>
        </p:txBody>
      </p:sp>
      <p:sp>
        <p:nvSpPr>
          <p:cNvPr id="363" name="正方形/長方形 83"/>
          <p:cNvSpPr/>
          <p:nvPr/>
        </p:nvSpPr>
        <p:spPr>
          <a:xfrm>
            <a:off x="6812280" y="290772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問い合わせ②</a:t>
            </a:r>
            <a:endParaRPr b="0" lang="en-US" sz="1400" strike="noStrike" u="none">
              <a:solidFill>
                <a:srgbClr val="000000"/>
              </a:solidFill>
              <a:effectLst/>
              <a:uFillTx/>
              <a:latin typeface="Arial"/>
            </a:endParaRPr>
          </a:p>
        </p:txBody>
      </p:sp>
      <p:sp>
        <p:nvSpPr>
          <p:cNvPr id="364" name="正方形/長方形 85"/>
          <p:cNvSpPr/>
          <p:nvPr/>
        </p:nvSpPr>
        <p:spPr>
          <a:xfrm>
            <a:off x="6812280" y="338328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zh-CN" sz="1400" strike="noStrike" u="none">
                <a:solidFill>
                  <a:schemeClr val="lt1"/>
                </a:solidFill>
                <a:effectLst/>
                <a:uFillTx/>
                <a:latin typeface="メイリオ"/>
                <a:ea typeface="メイリオ"/>
              </a:rPr>
              <a:t>合計</a:t>
            </a:r>
            <a:endParaRPr b="0" lang="en-US" sz="1400" strike="noStrike" u="non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あいさつ</a:t>
            </a:r>
            <a:endParaRPr b="0" lang="en-US" sz="1300" strike="noStrike" u="non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zh-CN" sz="1300" strike="noStrike" u="none">
                <a:solidFill>
                  <a:schemeClr val="dk1"/>
                </a:solidFill>
                <a:effectLst/>
                <a:uFillTx/>
                <a:latin typeface="メイリオ"/>
                <a:ea typeface="メイリオ"/>
              </a:rPr>
              <a:t>改善</a:t>
            </a:r>
            <a:endParaRPr b="0" lang="en-US" sz="1300" strike="noStrike" u="non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リッチメニュー</a:t>
            </a:r>
            <a:endParaRPr b="0" lang="en-US" sz="1300" strike="noStrike" u="non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新規作成</a:t>
            </a:r>
            <a:endParaRPr b="0" lang="en-US" sz="1300" strike="noStrike" u="non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ステップ配信</a:t>
            </a:r>
            <a:endParaRPr b="0" lang="en-US" sz="1300" strike="noStrike" u="non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10</a:t>
            </a:r>
            <a:r>
              <a:rPr b="0" lang="ja-JP" sz="1300" strike="noStrike" u="none">
                <a:solidFill>
                  <a:schemeClr val="dk1"/>
                </a:solidFill>
                <a:effectLst/>
                <a:uFillTx/>
                <a:latin typeface="メイリオ"/>
                <a:ea typeface="メイリオ"/>
              </a:rPr>
              <a:t>通を構築</a:t>
            </a:r>
            <a:endParaRPr b="0" lang="en-US" sz="1300" strike="noStrike" u="non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自動応答</a:t>
            </a:r>
            <a:endParaRPr b="0" lang="en-US" sz="1300" strike="noStrike" u="non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設定</a:t>
            </a:r>
            <a:endParaRPr b="0" lang="en-US" sz="1300" strike="noStrike" u="non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離脱防止</a:t>
            </a:r>
            <a:endParaRPr b="0" lang="en-US" sz="1300" strike="noStrike" u="non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導入</a:t>
            </a:r>
            <a:endParaRPr b="0" lang="en-US" sz="1300" strike="noStrike" u="non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zh-CN" sz="1400" strike="noStrike" u="none">
                <a:solidFill>
                  <a:srgbClr val="ff0000"/>
                </a:solidFill>
                <a:effectLst/>
                <a:uFillTx/>
                <a:latin typeface="メイリオ"/>
                <a:ea typeface="メイリオ"/>
              </a:rPr>
              <a:t>約</a:t>
            </a:r>
            <a:r>
              <a:rPr b="1" lang="en-US" sz="1400" strike="noStrike" u="none">
                <a:solidFill>
                  <a:srgbClr val="ff0000"/>
                </a:solidFill>
                <a:effectLst/>
                <a:uFillTx/>
                <a:latin typeface="メイリオ"/>
                <a:ea typeface="メイリオ"/>
              </a:rPr>
              <a:t>1,377</a:t>
            </a:r>
            <a:r>
              <a:rPr b="1" lang="zh-CN" sz="1400" strike="noStrike" u="none">
                <a:solidFill>
                  <a:srgbClr val="ff0000"/>
                </a:solidFill>
                <a:effectLst/>
                <a:uFillTx/>
                <a:latin typeface="メイリオ"/>
                <a:ea typeface="メイリオ"/>
              </a:rPr>
              <a:t>人</a:t>
            </a:r>
            <a:endParaRPr b="0" lang="en-US" sz="1400" strike="noStrike" u="non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13</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7" name="テキスト ボックス 22"/>
          <p:cNvSpPr/>
          <p:nvPr/>
        </p:nvSpPr>
        <p:spPr>
          <a:xfrm>
            <a:off x="8256960" y="290772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10</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8" name="テキスト ボックス 26"/>
          <p:cNvSpPr/>
          <p:nvPr/>
        </p:nvSpPr>
        <p:spPr>
          <a:xfrm>
            <a:off x="8256960" y="338328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23</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9" name="テキスト ボックス 30"/>
          <p:cNvSpPr/>
          <p:nvPr/>
        </p:nvSpPr>
        <p:spPr>
          <a:xfrm>
            <a:off x="7959960" y="3858840"/>
            <a:ext cx="1919880" cy="365400"/>
          </a:xfrm>
          <a:prstGeom prst="rect">
            <a:avLst/>
          </a:prstGeom>
          <a:noFill/>
          <a:ln w="0">
            <a:noFill/>
          </a:ln>
        </p:spPr>
        <p:style>
          <a:lnRef idx="0"/>
          <a:fillRef idx="0"/>
          <a:effectRef idx="0"/>
          <a:fontRef idx="minor"/>
        </p:style>
        <p:txBody>
          <a:bodyPr lIns="18360" rIns="18360" tIns="45000" bIns="45000" anchor="ctr">
            <a:noAutofit/>
          </a:bodyPr>
          <a:p>
            <a:pPr algn="ctr" defTabSz="914400">
              <a:lnSpc>
                <a:spcPct val="100000"/>
              </a:lnSpc>
            </a:pPr>
            <a:r>
              <a:rPr b="1" lang="ja-JP" sz="1400" strike="noStrike" u="none">
                <a:solidFill>
                  <a:schemeClr val="dk1"/>
                </a:solidFill>
                <a:effectLst/>
                <a:uFillTx/>
                <a:latin typeface="メイリオ"/>
                <a:ea typeface="メイリオ"/>
              </a:rPr>
              <a:t>（</a:t>
            </a:r>
            <a:r>
              <a:rPr b="1" lang="en-US" sz="1400" strike="noStrike" u="none">
                <a:solidFill>
                  <a:schemeClr val="dk1"/>
                </a:solidFill>
                <a:effectLst/>
                <a:uFillTx/>
                <a:latin typeface="メイリオ"/>
                <a:ea typeface="メイリオ"/>
              </a:rPr>
              <a:t>6</a:t>
            </a:r>
            <a:r>
              <a:rPr b="1" lang="ja-JP" sz="1400" strike="noStrike" u="none">
                <a:solidFill>
                  <a:schemeClr val="dk1"/>
                </a:solidFill>
                <a:effectLst/>
                <a:uFillTx/>
                <a:latin typeface="メイリオ"/>
                <a:ea typeface="メイリオ"/>
              </a:rPr>
              <a:t>か月累計</a:t>
            </a:r>
            <a:r>
              <a:rPr b="1" lang="en-US" sz="1400" strike="noStrike" u="none">
                <a:solidFill>
                  <a:schemeClr val="dk1"/>
                </a:solidFill>
                <a:effectLst/>
                <a:uFillTx/>
                <a:latin typeface="メイリオ"/>
                <a:ea typeface="メイリオ"/>
              </a:rPr>
              <a:t>90</a:t>
            </a:r>
            <a:r>
              <a:rPr b="1" lang="ja-JP" sz="1400" strike="noStrike" u="none">
                <a:solidFill>
                  <a:schemeClr val="dk1"/>
                </a:solidFill>
                <a:effectLst/>
                <a:uFillTx/>
                <a:latin typeface="メイリオ"/>
                <a:ea typeface="メイリオ"/>
              </a:rPr>
              <a:t>件）</a:t>
            </a:r>
            <a:endParaRPr b="0" lang="en-US" sz="1400" strike="noStrike" u="non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000" strike="noStrike" u="none">
                <a:solidFill>
                  <a:schemeClr val="dk1"/>
                </a:solidFill>
                <a:effectLst/>
                <a:uFillTx/>
                <a:latin typeface="メイリオ"/>
                <a:ea typeface="メイリオ"/>
              </a:rPr>
              <a:t>※初期＝コンサル</a:t>
            </a:r>
            <a:r>
              <a:rPr b="0" lang="en-US" sz="1000" strike="noStrike" u="none">
                <a:solidFill>
                  <a:schemeClr val="dk1"/>
                </a:solidFill>
                <a:effectLst/>
                <a:uFillTx/>
                <a:latin typeface="メイリオ"/>
                <a:ea typeface="メイリオ"/>
              </a:rPr>
              <a:t>20</a:t>
            </a:r>
            <a:r>
              <a:rPr b="0" lang="zh-CN" sz="1000" strike="noStrike" u="none">
                <a:solidFill>
                  <a:schemeClr val="dk1"/>
                </a:solidFill>
                <a:effectLst/>
                <a:uFillTx/>
                <a:latin typeface="メイリオ"/>
                <a:ea typeface="メイリオ"/>
              </a:rPr>
              <a:t>万円＋離脱防止</a:t>
            </a:r>
            <a:r>
              <a:rPr b="0" lang="en-US" sz="1000" strike="noStrike" u="none">
                <a:solidFill>
                  <a:schemeClr val="dk1"/>
                </a:solidFill>
                <a:effectLst/>
                <a:uFillTx/>
                <a:latin typeface="メイリオ"/>
                <a:ea typeface="メイリオ"/>
              </a:rPr>
              <a:t>1.5</a:t>
            </a:r>
            <a:r>
              <a:rPr b="0" lang="zh-CN" sz="1000" strike="noStrike" u="none">
                <a:solidFill>
                  <a:schemeClr val="dk1"/>
                </a:solidFill>
                <a:effectLst/>
                <a:uFillTx/>
                <a:latin typeface="メイリオ"/>
                <a:ea typeface="メイリオ"/>
              </a:rPr>
              <a:t>万円／月額＝コンサル</a:t>
            </a:r>
            <a:r>
              <a:rPr b="0" lang="en-US" sz="1000" strike="noStrike" u="none">
                <a:solidFill>
                  <a:schemeClr val="dk1"/>
                </a:solidFill>
                <a:effectLst/>
                <a:uFillTx/>
                <a:latin typeface="メイリオ"/>
                <a:ea typeface="メイリオ"/>
              </a:rPr>
              <a:t>10</a:t>
            </a:r>
            <a:r>
              <a:rPr b="0" lang="zh-CN" sz="1000" strike="noStrike" u="none">
                <a:solidFill>
                  <a:schemeClr val="dk1"/>
                </a:solidFill>
                <a:effectLst/>
                <a:uFillTx/>
                <a:latin typeface="メイリオ"/>
                <a:ea typeface="メイリオ"/>
              </a:rPr>
              <a:t>万円＋離脱防止</a:t>
            </a:r>
            <a:r>
              <a:rPr b="0" lang="en-US" sz="1000" strike="noStrike" u="none">
                <a:solidFill>
                  <a:schemeClr val="dk1"/>
                </a:solidFill>
                <a:effectLst/>
                <a:uFillTx/>
                <a:latin typeface="メイリオ"/>
                <a:ea typeface="メイリオ"/>
              </a:rPr>
              <a:t>3</a:t>
            </a:r>
            <a:r>
              <a:rPr b="0" lang="zh-CN" sz="1000" strike="noStrike" u="none">
                <a:solidFill>
                  <a:schemeClr val="dk1"/>
                </a:solidFill>
                <a:effectLst/>
                <a:uFillTx/>
                <a:latin typeface="メイリオ"/>
                <a:ea typeface="メイリオ"/>
              </a:rPr>
              <a:t>万円＋</a:t>
            </a:r>
            <a:r>
              <a:rPr b="0" lang="en-US" sz="1000" strike="noStrike" u="none">
                <a:solidFill>
                  <a:schemeClr val="dk1"/>
                </a:solidFill>
                <a:effectLst/>
                <a:uFillTx/>
                <a:latin typeface="メイリオ"/>
                <a:ea typeface="メイリオ"/>
              </a:rPr>
              <a:t>LINE</a:t>
            </a:r>
            <a:r>
              <a:rPr b="0" lang="zh-CN" sz="1000" strike="noStrike" u="none">
                <a:solidFill>
                  <a:schemeClr val="dk1"/>
                </a:solidFill>
                <a:effectLst/>
                <a:uFillTx/>
                <a:latin typeface="メイリオ"/>
                <a:ea typeface="メイリオ"/>
              </a:rPr>
              <a:t>公式アカウント</a:t>
            </a:r>
            <a:r>
              <a:rPr b="0" lang="en-US" sz="1000" strike="noStrike" u="none">
                <a:solidFill>
                  <a:schemeClr val="dk1"/>
                </a:solidFill>
                <a:effectLst/>
                <a:uFillTx/>
                <a:latin typeface="メイリオ"/>
                <a:ea typeface="メイリオ"/>
              </a:rPr>
              <a:t>0.5</a:t>
            </a:r>
            <a:r>
              <a:rPr b="0" lang="zh-CN" sz="1000" strike="noStrike" u="none">
                <a:solidFill>
                  <a:schemeClr val="dk1"/>
                </a:solidFill>
                <a:effectLst/>
                <a:uFillTx/>
                <a:latin typeface="メイリオ"/>
                <a:ea typeface="メイリオ"/>
              </a:rPr>
              <a:t>万円</a:t>
            </a:r>
            <a:endParaRPr b="0" lang="en-US" sz="1000" strike="noStrike" u="none">
              <a:solidFill>
                <a:srgbClr val="000000"/>
              </a:solidFill>
              <a:effectLst/>
              <a:uFillTx/>
              <a:latin typeface="Arial"/>
            </a:endParaRPr>
          </a:p>
          <a:p>
            <a:pPr defTabSz="914400">
              <a:lnSpc>
                <a:spcPct val="100000"/>
              </a:lnSpc>
            </a:pPr>
            <a:r>
              <a:rPr b="0" lang="en-US" sz="1000" strike="noStrike" u="none">
                <a:solidFill>
                  <a:schemeClr val="dk1"/>
                </a:solidFill>
                <a:effectLst/>
                <a:uFillTx/>
                <a:latin typeface="メイリオ"/>
                <a:ea typeface="メイリオ"/>
              </a:rPr>
              <a:t>※6</a:t>
            </a:r>
            <a:r>
              <a:rPr b="0" lang="zh-CN" sz="1000" strike="noStrike" u="none">
                <a:solidFill>
                  <a:schemeClr val="dk1"/>
                </a:solidFill>
                <a:effectLst/>
                <a:uFillTx/>
                <a:latin typeface="メイリオ"/>
                <a:ea typeface="メイリオ"/>
              </a:rPr>
              <a:t>か月後は</a:t>
            </a:r>
            <a:r>
              <a:rPr b="0" lang="en-US" sz="1000" strike="noStrike" u="none">
                <a:solidFill>
                  <a:schemeClr val="dk1"/>
                </a:solidFill>
                <a:effectLst/>
                <a:uFillTx/>
                <a:latin typeface="メイリオ"/>
                <a:ea typeface="メイリオ"/>
              </a:rPr>
              <a:t>6</a:t>
            </a:r>
            <a:r>
              <a:rPr b="0" lang="zh-CN" sz="1000" strike="noStrike" u="none">
                <a:solidFill>
                  <a:schemeClr val="dk1"/>
                </a:solidFill>
                <a:effectLst/>
                <a:uFillTx/>
                <a:latin typeface="メイリオ"/>
                <a:ea typeface="メイリオ"/>
              </a:rPr>
              <a:t>か月目の月間の試算。問い合わせ①＝友だち追加直後の物件の問い合わせ、②＝ステップ配信・企画配信などからの問い合わせ</a:t>
            </a:r>
            <a:endParaRPr b="0" lang="en-US" sz="1000" strike="noStrike" u="non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プラン①｜総合運用：初期</a:t>
            </a:r>
            <a:r>
              <a:rPr b="0" lang="en-US" sz="1400" strike="noStrike" u="none">
                <a:solidFill>
                  <a:schemeClr val="dk1">
                    <a:lumMod val="65000"/>
                    <a:lumOff val="35000"/>
                  </a:schemeClr>
                </a:solidFill>
                <a:effectLst/>
                <a:uFillTx/>
                <a:latin typeface="メイリオ"/>
                <a:ea typeface="メイリオ"/>
              </a:rPr>
              <a:t>21.5</a:t>
            </a:r>
            <a:r>
              <a:rPr b="0" lang="ja-JP" sz="1400" strike="noStrike" u="none">
                <a:solidFill>
                  <a:schemeClr val="dk1">
                    <a:lumMod val="65000"/>
                    <a:lumOff val="35000"/>
                  </a:schemeClr>
                </a:solidFill>
                <a:effectLst/>
                <a:uFillTx/>
                <a:latin typeface="メイリオ"/>
                <a:ea typeface="メイリオ"/>
              </a:rPr>
              <a:t>万円・月額</a:t>
            </a:r>
            <a:r>
              <a:rPr b="0" lang="en-US" sz="1400" strike="noStrike" u="none">
                <a:solidFill>
                  <a:schemeClr val="dk1">
                    <a:lumMod val="65000"/>
                    <a:lumOff val="35000"/>
                  </a:schemeClr>
                </a:solidFill>
                <a:effectLst/>
                <a:uFillTx/>
                <a:latin typeface="メイリオ"/>
                <a:ea typeface="メイリオ"/>
              </a:rPr>
              <a:t>13.5</a:t>
            </a:r>
            <a:r>
              <a:rPr b="0" lang="ja-JP" sz="1400" strike="noStrike" u="none">
                <a:solidFill>
                  <a:schemeClr val="dk1">
                    <a:lumMod val="65000"/>
                    <a:lumOff val="35000"/>
                  </a:schemeClr>
                </a:solidFill>
                <a:effectLst/>
                <a:uFillTx/>
                <a:latin typeface="メイリオ"/>
                <a:ea typeface="メイリオ"/>
              </a:rPr>
              <a:t>万円で運用します。</a:t>
            </a:r>
            <a:endParaRPr b="0" lang="en-US" sz="1400" strike="noStrike" u="none">
              <a:solidFill>
                <a:srgbClr val="000000"/>
              </a:solidFill>
              <a:effectLst/>
              <a:uFillTx/>
              <a:latin typeface="Arial"/>
            </a:endParaRPr>
          </a:p>
          <a:p>
            <a:pPr algn="ctr" defTabSz="914400">
              <a:lnSpc>
                <a:spcPct val="100000"/>
              </a:lnSpc>
            </a:pPr>
            <a:r>
              <a:rPr b="1" lang="en-US" sz="1400" strike="noStrike" u="none">
                <a:solidFill>
                  <a:schemeClr val="dk1">
                    <a:lumMod val="65000"/>
                    <a:lumOff val="35000"/>
                  </a:schemeClr>
                </a:solidFill>
                <a:effectLst/>
                <a:uFillTx/>
                <a:latin typeface="メイリオ"/>
                <a:ea typeface="メイリオ"/>
              </a:rPr>
              <a:t>6</a:t>
            </a:r>
            <a:r>
              <a:rPr b="1" lang="ja-JP" sz="1400" strike="noStrike" u="none">
                <a:solidFill>
                  <a:schemeClr val="dk1">
                    <a:lumMod val="65000"/>
                    <a:lumOff val="35000"/>
                  </a:schemeClr>
                </a:solidFill>
                <a:effectLst/>
                <a:uFillTx/>
                <a:latin typeface="メイリオ"/>
                <a:ea typeface="メイリオ"/>
              </a:rPr>
              <a:t>か月目に</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経由の問い合わせ月</a:t>
            </a:r>
            <a:r>
              <a:rPr b="1" lang="en-US" sz="1400" strike="noStrike" u="none">
                <a:solidFill>
                  <a:schemeClr val="dk1">
                    <a:lumMod val="65000"/>
                    <a:lumOff val="35000"/>
                  </a:schemeClr>
                </a:solidFill>
                <a:effectLst/>
                <a:uFillTx/>
                <a:latin typeface="メイリオ"/>
                <a:ea typeface="メイリオ"/>
              </a:rPr>
              <a:t>23</a:t>
            </a:r>
            <a:r>
              <a:rPr b="1" lang="ja-JP" sz="1400" strike="noStrike" u="none">
                <a:solidFill>
                  <a:schemeClr val="dk1">
                    <a:lumMod val="65000"/>
                    <a:lumOff val="35000"/>
                  </a:schemeClr>
                </a:solidFill>
                <a:effectLst/>
                <a:uFillTx/>
                <a:latin typeface="メイリオ"/>
                <a:ea typeface="メイリオ"/>
              </a:rPr>
              <a:t>件を見込みます（試算）</a:t>
            </a:r>
            <a:r>
              <a:rPr b="0" lang="ja-JP" sz="1400" strike="noStrike" u="none">
                <a:solidFill>
                  <a:schemeClr val="dk1">
                    <a:lumMod val="65000"/>
                    <a:lumOff val="35000"/>
                  </a:schemeClr>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382" name="試算の前提"/>
          <p:cNvSpPr/>
          <p:nvPr/>
        </p:nvSpPr>
        <p:spPr>
          <a:xfrm>
            <a:off x="6812280" y="4434840"/>
            <a:ext cx="2834280" cy="1508400"/>
          </a:xfrm>
          <a:prstGeom prst="rect">
            <a:avLst/>
          </a:prstGeom>
          <a:solidFill>
            <a:srgbClr val="f4f7ff"/>
          </a:solidFill>
          <a:ln w="9525">
            <a:solidFill>
              <a:srgbClr val="d9d9d9"/>
            </a:solidFill>
            <a:round/>
          </a:ln>
        </p:spPr>
        <p:style>
          <a:lnRef idx="0"/>
          <a:fillRef idx="0"/>
          <a:effectRef idx="0"/>
          <a:fontRef idx="minor"/>
        </p:style>
        <p:txBody>
          <a:bodyPr lIns="109800" rIns="109800" tIns="73080" bIns="54720" anchor="t">
            <a:noAutofit/>
          </a:bodyPr>
          <a:p>
            <a:pPr defTabSz="914400">
              <a:lnSpc>
                <a:spcPct val="100000"/>
              </a:lnSpc>
              <a:spcAft>
                <a:spcPts val="300"/>
              </a:spcAft>
            </a:pPr>
            <a:r>
              <a:rPr b="1" lang="ja-JP" sz="1200" strike="noStrike" u="none">
                <a:solidFill>
                  <a:srgbClr val="1f285a"/>
                </a:solidFill>
                <a:effectLst/>
                <a:uFillTx/>
                <a:latin typeface="メイリオ"/>
                <a:ea typeface="メイリオ"/>
              </a:rPr>
              <a:t>＜試算の前提＞</a:t>
            </a:r>
            <a:endParaRPr b="0" lang="en-US" sz="1200" strike="noStrike" u="none">
              <a:solidFill>
                <a:srgbClr val="000000"/>
              </a:solidFill>
              <a:effectLst/>
              <a:uFillTx/>
              <a:latin typeface="Arial"/>
            </a:endParaRPr>
          </a:p>
          <a:p>
            <a:pPr defTabSz="914400">
              <a:lnSpc>
                <a:spcPct val="100000"/>
              </a:lnSpc>
              <a:spcAft>
                <a:spcPts val="300"/>
              </a:spcAft>
            </a:pPr>
            <a:r>
              <a:rPr b="0" lang="ja-JP" sz="1200" strike="noStrike" u="none">
                <a:solidFill>
                  <a:srgbClr val="333333"/>
                </a:solidFill>
                <a:effectLst/>
                <a:uFillTx/>
                <a:latin typeface="メイリオ"/>
                <a:ea typeface="メイリオ"/>
              </a:rPr>
              <a:t>プラン①｜総合運用の基本施策を</a:t>
            </a:r>
            <a:br>
              <a:rPr sz="1200"/>
            </a:br>
            <a:r>
              <a:rPr b="0" lang="ja-JP" sz="1200" strike="noStrike" u="none">
                <a:solidFill>
                  <a:srgbClr val="333333"/>
                </a:solidFill>
                <a:effectLst/>
                <a:uFillTx/>
                <a:latin typeface="メイリオ"/>
                <a:ea typeface="メイリオ"/>
              </a:rPr>
              <a:t>対象とした試算です。</a:t>
            </a:r>
            <a:endParaRPr b="0" lang="en-US" sz="1200" strike="noStrike" u="none">
              <a:solidFill>
                <a:srgbClr val="000000"/>
              </a:solidFill>
              <a:effectLst/>
              <a:uFillTx/>
              <a:latin typeface="Arial"/>
            </a:endParaRPr>
          </a:p>
          <a:p>
            <a:pPr defTabSz="914400">
              <a:lnSpc>
                <a:spcPct val="100000"/>
              </a:lnSpc>
              <a:spcAft>
                <a:spcPts val="300"/>
              </a:spcAft>
            </a:pPr>
            <a:r>
              <a:rPr b="0" lang="en-US" sz="1200" strike="noStrike" u="none">
                <a:solidFill>
                  <a:srgbClr val="333333"/>
                </a:solidFill>
                <a:effectLst/>
                <a:uFillTx/>
                <a:latin typeface="メイリオ"/>
                <a:ea typeface="メイリオ"/>
              </a:rPr>
              <a:t>API</a:t>
            </a:r>
            <a:r>
              <a:rPr b="0" lang="ja-JP" sz="1200" strike="noStrike" u="none">
                <a:solidFill>
                  <a:srgbClr val="333333"/>
                </a:solidFill>
                <a:effectLst/>
                <a:uFillTx/>
                <a:latin typeface="メイリオ"/>
                <a:ea typeface="メイリオ"/>
              </a:rPr>
              <a:t>連携・追加開発の効果は</a:t>
            </a:r>
            <a:br>
              <a:rPr sz="1200"/>
            </a:br>
            <a:r>
              <a:rPr b="0" lang="ja-JP" sz="1200" strike="noStrike" u="none">
                <a:solidFill>
                  <a:srgbClr val="333333"/>
                </a:solidFill>
                <a:effectLst/>
                <a:uFillTx/>
                <a:latin typeface="メイリオ"/>
                <a:ea typeface="メイリオ"/>
              </a:rPr>
              <a:t>含みません。</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8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実施施策</a:t>
            </a:r>
            <a:endParaRPr b="0" lang="en-US" sz="1600" strike="noStrike" u="none">
              <a:solidFill>
                <a:srgbClr val="000000"/>
              </a:solidFill>
              <a:effectLst/>
              <a:uFillTx/>
              <a:latin typeface="Arial"/>
            </a:endParaRPr>
          </a:p>
        </p:txBody>
      </p:sp>
      <p:sp>
        <p:nvSpPr>
          <p:cNvPr id="386" name="TextBox 2"/>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zh-CN" sz="1400" strike="noStrike" u="none">
                <a:solidFill>
                  <a:srgbClr val="5a6378"/>
                </a:solidFill>
                <a:effectLst/>
                <a:uFillTx/>
                <a:latin typeface="メイリオ"/>
                <a:ea typeface="メイリオ"/>
              </a:rPr>
              <a:t>友だち追加から</a:t>
            </a:r>
            <a:r>
              <a:rPr b="0" lang="en-US" sz="1400" strike="noStrike" u="none">
                <a:solidFill>
                  <a:srgbClr val="5a6378"/>
                </a:solidFill>
                <a:effectLst/>
                <a:uFillTx/>
                <a:latin typeface="メイリオ"/>
                <a:ea typeface="メイリオ"/>
              </a:rPr>
              <a:t>14</a:t>
            </a:r>
            <a:r>
              <a:rPr b="0" lang="zh-CN" sz="1400" strike="noStrike" u="none">
                <a:solidFill>
                  <a:srgbClr val="5a6378"/>
                </a:solidFill>
                <a:effectLst/>
                <a:uFillTx/>
                <a:latin typeface="メイリオ"/>
                <a:ea typeface="メイリオ"/>
              </a:rPr>
              <a:t>日間のステップ配信（全</a:t>
            </a:r>
            <a:r>
              <a:rPr b="0" lang="en-US" sz="1400" strike="noStrike" u="none">
                <a:solidFill>
                  <a:srgbClr val="5a6378"/>
                </a:solidFill>
                <a:effectLst/>
                <a:uFillTx/>
                <a:latin typeface="メイリオ"/>
                <a:ea typeface="メイリオ"/>
              </a:rPr>
              <a:t>10</a:t>
            </a:r>
            <a:r>
              <a:rPr b="0" lang="zh-CN" sz="1400" strike="noStrike" u="none">
                <a:solidFill>
                  <a:srgbClr val="5a6378"/>
                </a:solidFill>
                <a:effectLst/>
                <a:uFillTx/>
                <a:latin typeface="メイリオ"/>
                <a:ea typeface="メイリオ"/>
              </a:rPr>
              <a:t>通）と月</a:t>
            </a:r>
            <a:r>
              <a:rPr b="0" lang="en-US" sz="1400" strike="noStrike" u="none">
                <a:solidFill>
                  <a:srgbClr val="5a6378"/>
                </a:solidFill>
                <a:effectLst/>
                <a:uFillTx/>
                <a:latin typeface="メイリオ"/>
                <a:ea typeface="メイリオ"/>
              </a:rPr>
              <a:t>4</a:t>
            </a:r>
            <a:r>
              <a:rPr b="0" lang="zh-CN" sz="1400" strike="noStrike" u="none">
                <a:solidFill>
                  <a:srgbClr val="5a6378"/>
                </a:solidFill>
                <a:effectLst/>
                <a:uFillTx/>
                <a:latin typeface="メイリオ"/>
                <a:ea typeface="メイリオ"/>
              </a:rPr>
              <a:t>本の企画配信で、物件</a:t>
            </a:r>
            <a:r>
              <a:rPr b="0" lang="en-US" sz="1400" strike="noStrike" u="none">
                <a:solidFill>
                  <a:srgbClr val="5a6378"/>
                </a:solidFill>
                <a:effectLst/>
                <a:uFillTx/>
                <a:latin typeface="メイリオ"/>
                <a:ea typeface="メイリオ"/>
              </a:rPr>
              <a:t>URL</a:t>
            </a:r>
            <a:r>
              <a:rPr b="0" lang="zh-CN" sz="1400" strike="noStrike" u="none">
                <a:solidFill>
                  <a:srgbClr val="5a6378"/>
                </a:solidFill>
                <a:effectLst/>
                <a:uFillTx/>
                <a:latin typeface="メイリオ"/>
                <a:ea typeface="メイリオ"/>
              </a:rPr>
              <a:t>の送信を後押しします</a:t>
            </a:r>
            <a:endParaRPr b="0" lang="en-US" sz="1400" strike="noStrike" u="none">
              <a:solidFill>
                <a:srgbClr val="000000"/>
              </a:solidFill>
              <a:effectLst/>
              <a:uFillTx/>
              <a:latin typeface="Arial"/>
            </a:endParaRPr>
          </a:p>
        </p:txBody>
      </p:sp>
      <p:sp>
        <p:nvSpPr>
          <p:cNvPr id="387" name="TextBox 3"/>
          <p:cNvSpPr/>
          <p:nvPr/>
        </p:nvSpPr>
        <p:spPr>
          <a:xfrm>
            <a:off x="384120" y="1371600"/>
            <a:ext cx="3657240" cy="292320"/>
          </a:xfrm>
          <a:prstGeom prst="rect">
            <a:avLst/>
          </a:prstGeom>
          <a:noFill/>
          <a:ln w="0">
            <a:noFill/>
          </a:ln>
        </p:spPr>
        <p:style>
          <a:lnRef idx="0"/>
          <a:fillRef idx="0"/>
          <a:effectRef idx="0"/>
          <a:fontRef idx="minor"/>
        </p:style>
        <p:txBody>
          <a:bodyPr lIns="45720" rIns="45720" tIns="0" bIns="0" anchor="ctr">
            <a:noAutofit/>
          </a:bodyPr>
          <a:p>
            <a:pPr defTabSz="914400">
              <a:lnSpc>
                <a:spcPct val="100000"/>
              </a:lnSpc>
              <a:tabLst>
                <a:tab algn="l" pos="0"/>
              </a:tabLst>
            </a:pPr>
            <a:r>
              <a:rPr b="1" lang="en-US" sz="1400" strike="noStrike" u="none">
                <a:solidFill>
                  <a:srgbClr val="1f2a5c"/>
                </a:solidFill>
                <a:effectLst/>
                <a:uFillTx/>
                <a:latin typeface="メイリオ"/>
                <a:ea typeface="メイリオ"/>
              </a:rPr>
              <a:t>[</a:t>
            </a:r>
            <a:r>
              <a:rPr b="1" lang="zh-CN" sz="1400" strike="noStrike" u="none">
                <a:solidFill>
                  <a:srgbClr val="1f2a5c"/>
                </a:solidFill>
                <a:effectLst/>
                <a:uFillTx/>
                <a:latin typeface="メイリオ"/>
                <a:ea typeface="メイリオ"/>
              </a:rPr>
              <a:t>ステップ配信・全</a:t>
            </a:r>
            <a:r>
              <a:rPr b="1" lang="en-US" sz="1400" strike="noStrike" u="none">
                <a:solidFill>
                  <a:srgbClr val="1f2a5c"/>
                </a:solidFill>
                <a:effectLst/>
                <a:uFillTx/>
                <a:latin typeface="メイリオ"/>
                <a:ea typeface="メイリオ"/>
              </a:rPr>
              <a:t>10</a:t>
            </a:r>
            <a:r>
              <a:rPr b="1" lang="zh-CN" sz="1400" strike="noStrike" u="none">
                <a:solidFill>
                  <a:srgbClr val="1f2a5c"/>
                </a:solidFill>
                <a:effectLst/>
                <a:uFillTx/>
                <a:latin typeface="メイリオ"/>
                <a:ea typeface="メイリオ"/>
              </a:rPr>
              <a:t>通</a:t>
            </a:r>
            <a:r>
              <a:rPr b="1" lang="en-US" sz="1400" strike="noStrike" u="none">
                <a:solidFill>
                  <a:srgbClr val="1f2a5c"/>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388" name="Rounded Rectangle 4"/>
          <p:cNvSpPr/>
          <p:nvPr/>
        </p:nvSpPr>
        <p:spPr>
          <a:xfrm>
            <a:off x="384120" y="192024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1</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3</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389" name="Rounded Rectangle 5"/>
          <p:cNvSpPr/>
          <p:nvPr/>
        </p:nvSpPr>
        <p:spPr>
          <a:xfrm>
            <a:off x="1426320" y="192024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390" name="Right Arrow 6"/>
          <p:cNvSpPr/>
          <p:nvPr/>
        </p:nvSpPr>
        <p:spPr>
          <a:xfrm>
            <a:off x="26150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1" name="Rounded Rectangle 7"/>
          <p:cNvSpPr/>
          <p:nvPr/>
        </p:nvSpPr>
        <p:spPr>
          <a:xfrm>
            <a:off x="2853000" y="192024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392" name="Right Arrow 8"/>
          <p:cNvSpPr/>
          <p:nvPr/>
        </p:nvSpPr>
        <p:spPr>
          <a:xfrm>
            <a:off x="43160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3" name="Rounded Rectangle 9"/>
          <p:cNvSpPr/>
          <p:nvPr/>
        </p:nvSpPr>
        <p:spPr>
          <a:xfrm>
            <a:off x="4553640" y="1920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仲介手数料のしくみ</a:t>
            </a:r>
            <a:endParaRPr b="0" lang="en-US" sz="1200" strike="noStrike" u="none">
              <a:solidFill>
                <a:srgbClr val="000000"/>
              </a:solidFill>
              <a:effectLst/>
              <a:uFillTx/>
              <a:latin typeface="Arial"/>
            </a:endParaRPr>
          </a:p>
          <a:p>
            <a:pPr algn="ctr" defTabSz="914400">
              <a:lnSpc>
                <a:spcPct val="90000"/>
              </a:lnSpc>
              <a:tabLst>
                <a:tab algn="l" pos="0"/>
              </a:tabLst>
            </a:pPr>
            <a:r>
              <a:rPr b="0" lang="en-US" sz="1200" strike="noStrike" u="none">
                <a:solidFill>
                  <a:srgbClr val="333333"/>
                </a:solidFill>
                <a:effectLst/>
                <a:uFillTx/>
                <a:latin typeface="メイリオ"/>
                <a:ea typeface="メイリオ"/>
              </a:rPr>
              <a:t>100</a:t>
            </a:r>
            <a:r>
              <a:rPr b="0" lang="zh-CN" sz="1200" strike="noStrike" u="none">
                <a:solidFill>
                  <a:srgbClr val="333333"/>
                </a:solidFill>
                <a:effectLst/>
                <a:uFillTx/>
                <a:latin typeface="メイリオ"/>
                <a:ea typeface="メイリオ"/>
              </a:rPr>
              <a:t>円チェッカー</a:t>
            </a:r>
            <a:endParaRPr b="0" lang="en-US" sz="1200" strike="noStrike" u="none">
              <a:solidFill>
                <a:srgbClr val="000000"/>
              </a:solidFill>
              <a:effectLst/>
              <a:uFillTx/>
              <a:latin typeface="Arial"/>
            </a:endParaRPr>
          </a:p>
        </p:txBody>
      </p:sp>
      <p:sp>
        <p:nvSpPr>
          <p:cNvPr id="394" name="Right Arrow 10"/>
          <p:cNvSpPr/>
          <p:nvPr/>
        </p:nvSpPr>
        <p:spPr>
          <a:xfrm>
            <a:off x="61448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5" name="Rounded Rectangle 11"/>
          <p:cNvSpPr/>
          <p:nvPr/>
        </p:nvSpPr>
        <p:spPr>
          <a:xfrm>
            <a:off x="6382440" y="1920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a:t>
            </a:r>
            <a:r>
              <a:rPr b="0" lang="en-US" sz="1200" strike="noStrike" u="none">
                <a:solidFill>
                  <a:srgbClr val="333333"/>
                </a:solidFill>
                <a:effectLst/>
                <a:uFillTx/>
                <a:latin typeface="メイリオ"/>
                <a:ea typeface="メイリオ"/>
              </a:rPr>
              <a:t>URL</a:t>
            </a:r>
            <a:r>
              <a:rPr b="0" lang="zh-CN" sz="1200" strike="noStrike" u="none">
                <a:solidFill>
                  <a:srgbClr val="333333"/>
                </a:solidFill>
                <a:effectLst/>
                <a:uFillTx/>
                <a:latin typeface="メイリオ"/>
                <a:ea typeface="メイリオ"/>
              </a:rPr>
              <a:t>の送信</a:t>
            </a:r>
            <a:endParaRPr b="0" lang="en-US" sz="1200" strike="noStrike" u="none">
              <a:solidFill>
                <a:srgbClr val="000000"/>
              </a:solidFill>
              <a:effectLst/>
              <a:uFillTx/>
              <a:latin typeface="Arial"/>
            </a:endParaRPr>
          </a:p>
        </p:txBody>
      </p:sp>
      <p:sp>
        <p:nvSpPr>
          <p:cNvPr id="396" name="Right Arrow 12"/>
          <p:cNvSpPr/>
          <p:nvPr/>
        </p:nvSpPr>
        <p:spPr>
          <a:xfrm>
            <a:off x="79736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7" name="Rounded Rectangle 13"/>
          <p:cNvSpPr/>
          <p:nvPr/>
        </p:nvSpPr>
        <p:spPr>
          <a:xfrm>
            <a:off x="8211240" y="192024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398" name="Rounded Rectangle 14"/>
          <p:cNvSpPr/>
          <p:nvPr/>
        </p:nvSpPr>
        <p:spPr>
          <a:xfrm>
            <a:off x="384120" y="246888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4</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7</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399" name="Rounded Rectangle 15"/>
          <p:cNvSpPr/>
          <p:nvPr/>
        </p:nvSpPr>
        <p:spPr>
          <a:xfrm>
            <a:off x="1426320" y="246888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400" name="Right Arrow 16"/>
          <p:cNvSpPr/>
          <p:nvPr/>
        </p:nvSpPr>
        <p:spPr>
          <a:xfrm>
            <a:off x="26150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1" name="Rounded Rectangle 17"/>
          <p:cNvSpPr/>
          <p:nvPr/>
        </p:nvSpPr>
        <p:spPr>
          <a:xfrm>
            <a:off x="2853000" y="246888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402" name="Right Arrow 18"/>
          <p:cNvSpPr/>
          <p:nvPr/>
        </p:nvSpPr>
        <p:spPr>
          <a:xfrm>
            <a:off x="43160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3" name="Rounded Rectangle 19"/>
          <p:cNvSpPr/>
          <p:nvPr/>
        </p:nvSpPr>
        <p:spPr>
          <a:xfrm>
            <a:off x="4553640" y="2468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ポータルでの探し方</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内見済みでも相談可</a:t>
            </a:r>
            <a:endParaRPr b="0" lang="en-US" sz="1200" strike="noStrike" u="none">
              <a:solidFill>
                <a:srgbClr val="000000"/>
              </a:solidFill>
              <a:effectLst/>
              <a:uFillTx/>
              <a:latin typeface="Arial"/>
            </a:endParaRPr>
          </a:p>
        </p:txBody>
      </p:sp>
      <p:sp>
        <p:nvSpPr>
          <p:cNvPr id="404" name="Right Arrow 20"/>
          <p:cNvSpPr/>
          <p:nvPr/>
        </p:nvSpPr>
        <p:spPr>
          <a:xfrm>
            <a:off x="61448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5" name="Rounded Rectangle 21"/>
          <p:cNvSpPr/>
          <p:nvPr/>
        </p:nvSpPr>
        <p:spPr>
          <a:xfrm>
            <a:off x="6382440" y="2468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比較中の方の後押し</a:t>
            </a:r>
            <a:endParaRPr b="0" lang="en-US" sz="1200" strike="noStrike" u="none">
              <a:solidFill>
                <a:srgbClr val="000000"/>
              </a:solidFill>
              <a:effectLst/>
              <a:uFillTx/>
              <a:latin typeface="Arial"/>
            </a:endParaRPr>
          </a:p>
        </p:txBody>
      </p:sp>
      <p:sp>
        <p:nvSpPr>
          <p:cNvPr id="406" name="Right Arrow 22"/>
          <p:cNvSpPr/>
          <p:nvPr/>
        </p:nvSpPr>
        <p:spPr>
          <a:xfrm>
            <a:off x="79736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7" name="Rounded Rectangle 23"/>
          <p:cNvSpPr/>
          <p:nvPr/>
        </p:nvSpPr>
        <p:spPr>
          <a:xfrm>
            <a:off x="8211240" y="246888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08" name="Rounded Rectangle 24"/>
          <p:cNvSpPr/>
          <p:nvPr/>
        </p:nvSpPr>
        <p:spPr>
          <a:xfrm>
            <a:off x="384120" y="301752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9</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14</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409" name="Rounded Rectangle 25"/>
          <p:cNvSpPr/>
          <p:nvPr/>
        </p:nvSpPr>
        <p:spPr>
          <a:xfrm>
            <a:off x="1426320" y="301752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410" name="Right Arrow 26"/>
          <p:cNvSpPr/>
          <p:nvPr/>
        </p:nvSpPr>
        <p:spPr>
          <a:xfrm>
            <a:off x="26150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1" name="Rounded Rectangle 27"/>
          <p:cNvSpPr/>
          <p:nvPr/>
        </p:nvSpPr>
        <p:spPr>
          <a:xfrm>
            <a:off x="2853000" y="301752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412" name="Right Arrow 28"/>
          <p:cNvSpPr/>
          <p:nvPr/>
        </p:nvSpPr>
        <p:spPr>
          <a:xfrm>
            <a:off x="43160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3" name="Rounded Rectangle 29"/>
          <p:cNvSpPr/>
          <p:nvPr/>
        </p:nvSpPr>
        <p:spPr>
          <a:xfrm>
            <a:off x="4553640" y="301752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初期費用の交渉</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入居までの流れ</a:t>
            </a:r>
            <a:endParaRPr b="0" lang="en-US" sz="1200" strike="noStrike" u="none">
              <a:solidFill>
                <a:srgbClr val="000000"/>
              </a:solidFill>
              <a:effectLst/>
              <a:uFillTx/>
              <a:latin typeface="Arial"/>
            </a:endParaRPr>
          </a:p>
        </p:txBody>
      </p:sp>
      <p:sp>
        <p:nvSpPr>
          <p:cNvPr id="414" name="Right Arrow 30"/>
          <p:cNvSpPr/>
          <p:nvPr/>
        </p:nvSpPr>
        <p:spPr>
          <a:xfrm>
            <a:off x="61448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5" name="Rounded Rectangle 31"/>
          <p:cNvSpPr/>
          <p:nvPr/>
        </p:nvSpPr>
        <p:spPr>
          <a:xfrm>
            <a:off x="6382440" y="301752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お申込みの後押し</a:t>
            </a:r>
            <a:endParaRPr b="0" lang="en-US" sz="1200" strike="noStrike" u="none">
              <a:solidFill>
                <a:srgbClr val="000000"/>
              </a:solidFill>
              <a:effectLst/>
              <a:uFillTx/>
              <a:latin typeface="Arial"/>
            </a:endParaRPr>
          </a:p>
        </p:txBody>
      </p:sp>
      <p:sp>
        <p:nvSpPr>
          <p:cNvPr id="416" name="Right Arrow 32"/>
          <p:cNvSpPr/>
          <p:nvPr/>
        </p:nvSpPr>
        <p:spPr>
          <a:xfrm>
            <a:off x="79736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7" name="Rounded Rectangle 33"/>
          <p:cNvSpPr/>
          <p:nvPr/>
        </p:nvSpPr>
        <p:spPr>
          <a:xfrm>
            <a:off x="8211240" y="301752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fillRef idx="0"/>
          <a:effectRef idx="0"/>
          <a:fontRef idx="minor"/>
        </p:style>
        <p:txBody>
          <a:bodyPr lIns="45720" rIns="45720" tIns="0" bIns="0" anchor="ctr">
            <a:noAutofit/>
          </a:bodyPr>
          <a:p>
            <a:pPr defTabSz="914400">
              <a:lnSpc>
                <a:spcPct val="100000"/>
              </a:lnSpc>
              <a:tabLst>
                <a:tab algn="l" pos="0"/>
              </a:tabLst>
            </a:pPr>
            <a:r>
              <a:rPr b="1" lang="en-US" sz="1400" strike="noStrike" u="none">
                <a:solidFill>
                  <a:srgbClr val="1f2a5c"/>
                </a:solidFill>
                <a:effectLst/>
                <a:uFillTx/>
                <a:latin typeface="メイリオ"/>
                <a:ea typeface="メイリオ"/>
              </a:rPr>
              <a:t>[</a:t>
            </a:r>
            <a:r>
              <a:rPr b="1" lang="zh-CN" sz="1400" strike="noStrike" u="none">
                <a:solidFill>
                  <a:srgbClr val="1f2a5c"/>
                </a:solidFill>
                <a:effectLst/>
                <a:uFillTx/>
                <a:latin typeface="メイリオ"/>
                <a:ea typeface="メイリオ"/>
              </a:rPr>
              <a:t>企画配信</a:t>
            </a:r>
            <a:r>
              <a:rPr b="1" lang="en-US" sz="1400" strike="noStrike" u="none">
                <a:solidFill>
                  <a:srgbClr val="1f2a5c"/>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a:t>
            </a:r>
            <a:r>
              <a:rPr b="0" lang="en-US" sz="1200" strike="noStrike" u="none">
                <a:solidFill>
                  <a:srgbClr val="333333"/>
                </a:solidFill>
                <a:effectLst/>
                <a:uFillTx/>
                <a:latin typeface="メイリオ"/>
                <a:ea typeface="メイリオ"/>
              </a:rPr>
              <a:t>URL</a:t>
            </a:r>
            <a:r>
              <a:rPr b="0" lang="zh-CN" sz="1200" strike="noStrike" u="none">
                <a:solidFill>
                  <a:srgbClr val="333333"/>
                </a:solidFill>
                <a:effectLst/>
                <a:uFillTx/>
                <a:latin typeface="メイリオ"/>
                <a:ea typeface="メイリオ"/>
              </a:rPr>
              <a:t>の送り方</a:t>
            </a:r>
            <a:endParaRPr b="0" lang="en-US" sz="1200" strike="noStrike" u="non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物件の送信</a:t>
            </a:r>
            <a:endParaRPr b="0" lang="en-US" sz="1200" strike="noStrike" u="non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初期費用の内訳</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（家賃</a:t>
            </a:r>
            <a:r>
              <a:rPr b="0" lang="en-US" sz="1200" strike="noStrike" u="none">
                <a:solidFill>
                  <a:srgbClr val="333333"/>
                </a:solidFill>
                <a:effectLst/>
                <a:uFillTx/>
                <a:latin typeface="メイリオ"/>
                <a:ea typeface="メイリオ"/>
              </a:rPr>
              <a:t>10</a:t>
            </a:r>
            <a:r>
              <a:rPr b="0" lang="zh-CN" sz="1200" strike="noStrike" u="none">
                <a:solidFill>
                  <a:srgbClr val="333333"/>
                </a:solidFill>
                <a:effectLst/>
                <a:uFillTx/>
                <a:latin typeface="メイリオ"/>
                <a:ea typeface="メイリオ"/>
              </a:rPr>
              <a:t>万円の例）</a:t>
            </a:r>
            <a:endParaRPr b="0" lang="en-US" sz="1200" strike="noStrike" u="non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費用の不安を解消</a:t>
            </a:r>
            <a:endParaRPr b="0" lang="en-US" sz="1200" strike="noStrike" u="non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物件を送っていない方</a:t>
            </a:r>
            <a:endParaRPr b="0" lang="en-US" sz="1200" strike="noStrike" u="non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問い合わせ済みを除く</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（チャットタグ）</a:t>
            </a:r>
            <a:endParaRPr b="0" lang="en-US" sz="1200" strike="noStrike" u="non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内見済みでも相談可</a:t>
            </a:r>
            <a:endParaRPr b="0" lang="en-US" sz="1200" strike="noStrike" u="none">
              <a:solidFill>
                <a:srgbClr val="000000"/>
              </a:solidFill>
              <a:effectLst/>
              <a:uFillTx/>
              <a:latin typeface="Arial"/>
            </a:endParaRPr>
          </a:p>
          <a:p>
            <a:pPr algn="ctr" defTabSz="914400">
              <a:lnSpc>
                <a:spcPct val="90000"/>
              </a:lnSpc>
              <a:tabLst>
                <a:tab algn="l" pos="0"/>
              </a:tabLst>
            </a:pPr>
            <a:r>
              <a:rPr b="0" lang="en-US" sz="1200" strike="noStrike" u="none">
                <a:solidFill>
                  <a:srgbClr val="333333"/>
                </a:solidFill>
                <a:effectLst/>
                <a:uFillTx/>
                <a:latin typeface="メイリオ"/>
                <a:ea typeface="メイリオ"/>
              </a:rPr>
              <a:t>100</a:t>
            </a:r>
            <a:r>
              <a:rPr b="0" lang="zh-CN" sz="1200" strike="noStrike" u="none">
                <a:solidFill>
                  <a:srgbClr val="333333"/>
                </a:solidFill>
                <a:effectLst/>
                <a:uFillTx/>
                <a:latin typeface="メイリオ"/>
                <a:ea typeface="メイリオ"/>
              </a:rPr>
              <a:t>円チェッカー</a:t>
            </a:r>
            <a:endParaRPr b="0" lang="en-US" sz="1200" strike="noStrike" u="non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物件の送信</a:t>
            </a:r>
            <a:endParaRPr b="0" lang="en-US" sz="1200" strike="noStrike" u="non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お申込みの準備</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入居までの流れ</a:t>
            </a:r>
            <a:endParaRPr b="0" lang="en-US" sz="1200" strike="noStrike" u="non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お申込みの後押し</a:t>
            </a:r>
            <a:endParaRPr b="0" lang="en-US" sz="1200" strike="noStrike" u="non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55" name="テキスト ボックス 4"/>
          <p:cNvSpPr/>
          <p:nvPr/>
        </p:nvSpPr>
        <p:spPr>
          <a:xfrm>
            <a:off x="1426320" y="1664280"/>
            <a:ext cx="118836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ターゲット層</a:t>
            </a:r>
            <a:endParaRPr b="0" lang="en-US" sz="1200" strike="noStrike" u="none">
              <a:solidFill>
                <a:srgbClr val="000000"/>
              </a:solidFill>
              <a:effectLst/>
              <a:uFillTx/>
              <a:latin typeface="Arial"/>
            </a:endParaRPr>
          </a:p>
        </p:txBody>
      </p:sp>
      <p:sp>
        <p:nvSpPr>
          <p:cNvPr id="456" name="テキスト ボックス 7"/>
          <p:cNvSpPr/>
          <p:nvPr/>
        </p:nvSpPr>
        <p:spPr>
          <a:xfrm>
            <a:off x="2853000" y="1664280"/>
            <a:ext cx="146268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セグメント方法</a:t>
            </a:r>
            <a:endParaRPr b="0" lang="en-US" sz="1200" strike="noStrike" u="none">
              <a:solidFill>
                <a:srgbClr val="000000"/>
              </a:solidFill>
              <a:effectLst/>
              <a:uFillTx/>
              <a:latin typeface="Arial"/>
            </a:endParaRPr>
          </a:p>
        </p:txBody>
      </p:sp>
      <p:sp>
        <p:nvSpPr>
          <p:cNvPr id="457" name="テキスト ボックス 9"/>
          <p:cNvSpPr/>
          <p:nvPr/>
        </p:nvSpPr>
        <p:spPr>
          <a:xfrm>
            <a:off x="4553640" y="166428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配信コンテンツ</a:t>
            </a:r>
            <a:endParaRPr b="0" lang="en-US" sz="1200" strike="noStrike" u="none">
              <a:solidFill>
                <a:srgbClr val="000000"/>
              </a:solidFill>
              <a:effectLst/>
              <a:uFillTx/>
              <a:latin typeface="Arial"/>
            </a:endParaRPr>
          </a:p>
        </p:txBody>
      </p:sp>
      <p:sp>
        <p:nvSpPr>
          <p:cNvPr id="458" name="テキスト ボックス 11"/>
          <p:cNvSpPr/>
          <p:nvPr/>
        </p:nvSpPr>
        <p:spPr>
          <a:xfrm>
            <a:off x="6382440" y="166428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ff0000"/>
                </a:solidFill>
                <a:effectLst/>
                <a:uFillTx/>
                <a:latin typeface="メイリオ"/>
                <a:ea typeface="メイリオ"/>
              </a:rPr>
              <a:t>ねらい</a:t>
            </a:r>
            <a:endParaRPr b="0" lang="en-US" sz="1200" strike="noStrike" u="non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ターゲット層</a:t>
            </a:r>
            <a:endParaRPr b="0" lang="en-US" sz="1200" strike="noStrike" u="non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セグメント方法</a:t>
            </a:r>
            <a:endParaRPr b="0" lang="en-US" sz="1200" strike="noStrike" u="non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配信コンテンツ</a:t>
            </a:r>
            <a:endParaRPr b="0" lang="en-US" sz="1200" strike="noStrike" u="non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ff0000"/>
                </a:solidFill>
                <a:effectLst/>
                <a:uFillTx/>
                <a:latin typeface="メイリオ"/>
                <a:ea typeface="メイリオ"/>
              </a:rPr>
              <a:t>ねらい</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による問い合わせ対応の効率化</a:t>
            </a:r>
            <a:endParaRPr b="0" lang="en-US" sz="1600" strike="noStrike" u="none">
              <a:solidFill>
                <a:srgbClr val="000000"/>
              </a:solidFill>
              <a:effectLst/>
              <a:uFillTx/>
              <a:latin typeface="Arial"/>
            </a:endParaRPr>
          </a:p>
        </p:txBody>
      </p:sp>
      <p:sp>
        <p:nvSpPr>
          <p:cNvPr id="464" name="TextBox 2"/>
          <p:cNvSpPr/>
          <p:nvPr/>
        </p:nvSpPr>
        <p:spPr>
          <a:xfrm>
            <a:off x="429840" y="896040"/>
            <a:ext cx="9052200" cy="566640"/>
          </a:xfrm>
          <a:prstGeom prst="rect">
            <a:avLst/>
          </a:prstGeom>
          <a:noFill/>
          <a:ln w="0">
            <a:noFill/>
          </a:ln>
        </p:spPr>
        <p:style>
          <a:lnRef idx="0"/>
          <a:fillRef idx="0"/>
          <a:effectRef idx="0"/>
          <a:fontRef idx="minor"/>
        </p:style>
        <p:txBody>
          <a:bodyPr lIns="90000" rIns="90000" tIns="45000" bIns="45000" anchor="ctr">
            <a:spAutoFit/>
          </a:bodyPr>
          <a:p>
            <a:pPr defTabSz="914400">
              <a:lnSpc>
                <a:spcPct val="100000"/>
              </a:lnSpc>
              <a:tabLst>
                <a:tab algn="l" pos="0"/>
              </a:tabLst>
            </a:pP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の機能で、問い合わせへの一次対応と対応状況の管理を効率化します。</a:t>
            </a:r>
            <a:endParaRPr b="0" lang="en-US" sz="1400" strike="noStrike" u="none">
              <a:solidFill>
                <a:srgbClr val="000000"/>
              </a:solidFill>
              <a:effectLst/>
              <a:uFillTx/>
              <a:latin typeface="Arial"/>
            </a:endParaRPr>
          </a:p>
          <a:p>
            <a:pPr defTabSz="914400">
              <a:lnSpc>
                <a:spcPct val="100000"/>
              </a:lnSpc>
              <a:tabLst>
                <a:tab algn="l" pos="0"/>
              </a:tabLst>
            </a:pPr>
            <a:r>
              <a:rPr b="1" lang="zh-CN" sz="1400" strike="noStrike" u="none">
                <a:solidFill>
                  <a:srgbClr val="5a6378"/>
                </a:solidFill>
                <a:effectLst/>
                <a:uFillTx/>
                <a:latin typeface="メイリオ"/>
                <a:ea typeface="メイリオ"/>
              </a:rPr>
              <a:t>お客様への個別対応はあらうち様、仕組みづくりと改善支援は当社が担当します。</a:t>
            </a:r>
            <a:endParaRPr b="0" lang="en-US" sz="1400" strike="noStrike" u="non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① 自動応答</a:t>
            </a:r>
            <a:endParaRPr b="0" lang="en-US" sz="1600" strike="noStrike" u="none">
              <a:solidFill>
                <a:srgbClr val="ffffff"/>
              </a:solidFill>
              <a:effectLst/>
              <a:uFillTx/>
              <a:latin typeface="Arial"/>
            </a:endParaRPr>
          </a:p>
        </p:txBody>
      </p:sp>
      <p:sp>
        <p:nvSpPr>
          <p:cNvPr id="466" name="Rounded Rectangle 4"/>
          <p:cNvSpPr/>
          <p:nvPr/>
        </p:nvSpPr>
        <p:spPr>
          <a:xfrm>
            <a:off x="42984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1f2a5c"/>
                </a:solidFill>
                <a:effectLst/>
                <a:uFillTx/>
                <a:latin typeface="メイリオ"/>
                <a:ea typeface="メイリオ"/>
              </a:rPr>
              <a:t>設定：当社　対応：自動</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・よくある質問（初期費用・お申込みの流れなど）にキーワード応答で自動回答</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・リッチメニューのボタンと同じ言葉で応答を用意</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・受付時間外は、時間を指定して受付の旨を自動で返信</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・リッチメニューから</a:t>
            </a:r>
            <a:r>
              <a:rPr b="0" lang="en-US" sz="1400" strike="noStrike" u="none">
                <a:solidFill>
                  <a:srgbClr val="333333"/>
                </a:solidFill>
                <a:effectLst/>
                <a:uFillTx/>
                <a:latin typeface="メイリオ"/>
                <a:ea typeface="メイリオ"/>
              </a:rPr>
              <a:t>100</a:t>
            </a:r>
            <a:r>
              <a:rPr b="0" lang="ja-JP" sz="1400" strike="noStrike" u="none">
                <a:solidFill>
                  <a:srgbClr val="333333"/>
                </a:solidFill>
                <a:effectLst/>
                <a:uFillTx/>
                <a:latin typeface="メイリオ"/>
                <a:ea typeface="メイリオ"/>
              </a:rPr>
              <a:t>円チェッカーへ案内</a:t>
            </a:r>
            <a:endParaRPr b="0" lang="en-US" sz="1400" strike="noStrike" u="non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② 個別チャット</a:t>
            </a:r>
            <a:endParaRPr b="0" lang="en-US" sz="1600" strike="noStrike" u="none">
              <a:solidFill>
                <a:srgbClr val="ffffff"/>
              </a:solidFill>
              <a:effectLst/>
              <a:uFillTx/>
              <a:latin typeface="Arial"/>
            </a:endParaRPr>
          </a:p>
        </p:txBody>
      </p:sp>
      <p:sp>
        <p:nvSpPr>
          <p:cNvPr id="468" name="Rounded Rectangle 6"/>
          <p:cNvSpPr/>
          <p:nvPr/>
        </p:nvSpPr>
        <p:spPr>
          <a:xfrm>
            <a:off x="349308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4a6fa5"/>
                </a:solidFill>
                <a:effectLst/>
                <a:uFillTx/>
                <a:latin typeface="メイリオ"/>
                <a:ea typeface="メイリオ"/>
              </a:rPr>
              <a:t>対応：あらうち様</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・ご担当者様が、物件に関する相談・問い合わせに対応</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・送られた物件（</a:t>
            </a:r>
            <a:r>
              <a:rPr b="0" lang="en-US" sz="1400" strike="noStrike" u="none">
                <a:solidFill>
                  <a:srgbClr val="333333"/>
                </a:solidFill>
                <a:effectLst/>
                <a:uFillTx/>
                <a:latin typeface="メイリオ"/>
                <a:ea typeface="メイリオ"/>
              </a:rPr>
              <a:t>URL</a:t>
            </a:r>
            <a:r>
              <a:rPr b="0" lang="ja-JP" sz="1400" strike="noStrike" u="none">
                <a:solidFill>
                  <a:srgbClr val="333333"/>
                </a:solidFill>
                <a:effectLst/>
                <a:uFillTx/>
                <a:latin typeface="メイリオ"/>
                <a:ea typeface="メイリオ"/>
              </a:rPr>
              <a:t>・物件名・画像）の空室確認・内見の手配</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・一次対応は自動応答に任せ、物件の確認に集中</a:t>
            </a:r>
            <a:endParaRPr b="0" lang="en-US" sz="1400" strike="noStrike" u="non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③ チャットタグ</a:t>
            </a:r>
            <a:endParaRPr b="0" lang="en-US" sz="1600" strike="noStrike" u="none">
              <a:solidFill>
                <a:srgbClr val="ffffff"/>
              </a:solidFill>
              <a:effectLst/>
              <a:uFillTx/>
              <a:latin typeface="Arial"/>
            </a:endParaRPr>
          </a:p>
        </p:txBody>
      </p:sp>
      <p:sp>
        <p:nvSpPr>
          <p:cNvPr id="470" name="Rounded Rectangle 8"/>
          <p:cNvSpPr/>
          <p:nvPr/>
        </p:nvSpPr>
        <p:spPr>
          <a:xfrm>
            <a:off x="655632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5b6478"/>
                </a:solidFill>
                <a:effectLst/>
                <a:uFillTx/>
                <a:latin typeface="メイリオ"/>
                <a:ea typeface="メイリオ"/>
              </a:rPr>
              <a:t>設計・設定：当社</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・問い合わせ状況・対応ステータス（受付・確認中・返信済）を管理</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・タグの付け替えで、確認漏れ・返信漏れを防止</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・問い合わせ済みの方を除いた再案内で、重複配信を防止</a:t>
            </a:r>
            <a:endParaRPr b="0" lang="en-US" sz="1400" strike="noStrike" u="none">
              <a:solidFill>
                <a:srgbClr val="000000"/>
              </a:solidFill>
              <a:effectLst/>
              <a:uFillTx/>
              <a:latin typeface="Arial"/>
            </a:endParaRPr>
          </a:p>
        </p:txBody>
      </p:sp>
      <p:sp>
        <p:nvSpPr>
          <p:cNvPr id="471" name="Google Shape;156;p7"/>
          <p:cNvSpPr/>
          <p:nvPr/>
        </p:nvSpPr>
        <p:spPr>
          <a:xfrm>
            <a:off x="429840" y="4727520"/>
            <a:ext cx="891504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役割分担</a:t>
            </a:r>
            <a:r>
              <a:rPr b="0" lang="ja-JP" sz="1200" strike="noStrike" u="none">
                <a:solidFill>
                  <a:srgbClr val="002060"/>
                </a:solidFill>
                <a:effectLst/>
                <a:uFillTx/>
                <a:latin typeface="Meiryo"/>
                <a:ea typeface="Meiryo"/>
              </a:rPr>
              <a:t>　※当社の対応は運用コンサル費用に含みます</a:t>
            </a:r>
            <a:endParaRPr b="0" lang="en-US" sz="1200" strike="noStrike" u="none">
              <a:solidFill>
                <a:srgbClr val="000000"/>
              </a:solidFill>
              <a:effectLst/>
              <a:uFillTx/>
              <a:latin typeface="Arial"/>
            </a:endParaRPr>
          </a:p>
        </p:txBody>
      </p:sp>
      <p:sp>
        <p:nvSpPr>
          <p:cNvPr id="472" name="Rounded Rectangle 3"/>
          <p:cNvSpPr/>
          <p:nvPr/>
        </p:nvSpPr>
        <p:spPr>
          <a:xfrm>
            <a:off x="429840" y="5056560"/>
            <a:ext cx="4320360" cy="3654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zh-CN" sz="1400" strike="noStrike" u="none">
                <a:solidFill>
                  <a:srgbClr val="ffffff"/>
                </a:solidFill>
                <a:effectLst/>
                <a:uFillTx/>
                <a:latin typeface="メイリオ"/>
                <a:ea typeface="メイリオ"/>
              </a:rPr>
              <a:t>当社（</a:t>
            </a:r>
            <a:r>
              <a:rPr b="1" lang="en-US" sz="1400" strike="noStrike" u="none">
                <a:solidFill>
                  <a:srgbClr val="ffffff"/>
                </a:solidFill>
                <a:effectLst/>
                <a:uFillTx/>
                <a:latin typeface="メイリオ"/>
                <a:ea typeface="メイリオ"/>
              </a:rPr>
              <a:t>DYM</a:t>
            </a:r>
            <a:r>
              <a:rPr b="1" lang="zh-CN" sz="1400" strike="noStrike" u="none">
                <a:solidFill>
                  <a:srgbClr val="ffffff"/>
                </a:solidFill>
                <a:effectLst/>
                <a:uFillTx/>
                <a:latin typeface="メイリオ"/>
                <a:ea typeface="メイリオ"/>
              </a:rPr>
              <a:t>）｜仕組みづくり・改善支援</a:t>
            </a:r>
            <a:endParaRPr b="0" lang="en-US" sz="1400" strike="noStrike" u="none">
              <a:solidFill>
                <a:srgbClr val="ffffff"/>
              </a:solidFill>
              <a:effectLst/>
              <a:uFillTx/>
              <a:latin typeface="Arial"/>
            </a:endParaRPr>
          </a:p>
        </p:txBody>
      </p:sp>
      <p:sp>
        <p:nvSpPr>
          <p:cNvPr id="473" name="Rounded Rectangle 4"/>
          <p:cNvSpPr/>
          <p:nvPr/>
        </p:nvSpPr>
        <p:spPr>
          <a:xfrm>
            <a:off x="429840" y="5459040"/>
            <a:ext cx="4320360" cy="100548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73080" tIns="36720" bIns="36720" anchor="ctr">
            <a:noAutofit/>
          </a:bodyPr>
          <a:p>
            <a:pPr defTabSz="914400">
              <a:lnSpc>
                <a:spcPct val="100000"/>
              </a:lnSpc>
            </a:pPr>
            <a:r>
              <a:rPr b="0" lang="ja-JP" sz="1400" strike="noStrike" u="none">
                <a:solidFill>
                  <a:srgbClr val="333333"/>
                </a:solidFill>
                <a:effectLst/>
                <a:uFillTx/>
                <a:latin typeface="メイリオ"/>
                <a:ea typeface="メイリオ"/>
              </a:rPr>
              <a:t>・</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公式アカウントの初期設計</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・自動応答の設定</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・チャットタグの設計・設定</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・配信運用・改善支援</a:t>
            </a:r>
            <a:endParaRPr b="0" lang="en-US" sz="1400" strike="noStrike" u="none">
              <a:solidFill>
                <a:srgbClr val="000000"/>
              </a:solidFill>
              <a:effectLst/>
              <a:uFillTx/>
              <a:latin typeface="Arial"/>
            </a:endParaRPr>
          </a:p>
        </p:txBody>
      </p:sp>
      <p:sp>
        <p:nvSpPr>
          <p:cNvPr id="474" name="Rounded Rectangle 5"/>
          <p:cNvSpPr/>
          <p:nvPr/>
        </p:nvSpPr>
        <p:spPr>
          <a:xfrm>
            <a:off x="5024520" y="5056560"/>
            <a:ext cx="4320360" cy="36540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zh-CN" sz="1400" strike="noStrike" u="none">
                <a:solidFill>
                  <a:srgbClr val="ffffff"/>
                </a:solidFill>
                <a:effectLst/>
                <a:uFillTx/>
                <a:latin typeface="メイリオ"/>
                <a:ea typeface="メイリオ"/>
              </a:rPr>
              <a:t>あらうち様｜物件確認・内見等の個別対応</a:t>
            </a:r>
            <a:endParaRPr b="0" lang="en-US" sz="1400" strike="noStrike" u="none">
              <a:solidFill>
                <a:srgbClr val="ffffff"/>
              </a:solidFill>
              <a:effectLst/>
              <a:uFillTx/>
              <a:latin typeface="Arial"/>
            </a:endParaRPr>
          </a:p>
        </p:txBody>
      </p:sp>
      <p:sp>
        <p:nvSpPr>
          <p:cNvPr id="475" name="Rounded Rectangle 6"/>
          <p:cNvSpPr/>
          <p:nvPr/>
        </p:nvSpPr>
        <p:spPr>
          <a:xfrm>
            <a:off x="5024520" y="5459040"/>
            <a:ext cx="4320360" cy="100548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73080" tIns="36720" bIns="36720" anchor="ctr">
            <a:noAutofit/>
          </a:bodyPr>
          <a:p>
            <a:pPr defTabSz="914400">
              <a:lnSpc>
                <a:spcPct val="100000"/>
              </a:lnSpc>
            </a:pPr>
            <a:r>
              <a:rPr b="0" lang="ja-JP" sz="1400" strike="noStrike" u="none">
                <a:solidFill>
                  <a:srgbClr val="333333"/>
                </a:solidFill>
                <a:effectLst/>
                <a:uFillTx/>
                <a:latin typeface="メイリオ"/>
                <a:ea typeface="メイリオ"/>
              </a:rPr>
              <a:t>・個別チャットでの返信</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・物件の空室確認</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・内見の手配</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・その他、お客様ごとの個別対応</a:t>
            </a:r>
            <a:endParaRPr b="0" lang="en-US" sz="1400" strike="noStrike" u="none">
              <a:solidFill>
                <a:srgbClr val="000000"/>
              </a:solidFill>
              <a:effectLst/>
              <a:uFillTx/>
              <a:latin typeface="Arial"/>
            </a:endParaRPr>
          </a:p>
        </p:txBody>
      </p:sp>
      <p:sp>
        <p:nvSpPr>
          <p:cNvPr id="476" name="Right Arrow 4"/>
          <p:cNvSpPr/>
          <p:nvPr/>
        </p:nvSpPr>
        <p:spPr>
          <a:xfrm>
            <a:off x="3250800" y="3218760"/>
            <a:ext cx="20988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77" name="Right Arrow 4"/>
          <p:cNvSpPr/>
          <p:nvPr/>
        </p:nvSpPr>
        <p:spPr>
          <a:xfrm>
            <a:off x="6314040" y="3218760"/>
            <a:ext cx="20988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78" name="計測範囲の注記"/>
          <p:cNvSpPr/>
          <p:nvPr/>
        </p:nvSpPr>
        <p:spPr>
          <a:xfrm>
            <a:off x="5024628" y="4745736"/>
            <a:ext cx="4320540" cy="292608"/>
          </a:xfrm>
          <a:prstGeom prst="rect">
            <a:avLst/>
          </a:prstGeom>
          <a:noFill/>
          <a:ln>
            <a:noFill/>
          </a:ln>
        </p:spPr>
        <p:txBody>
          <a:bodyPr wrap="square" lIns="36576" tIns="18288" rIns="36576" bIns="18288" rtlCol="0" anchor="ctr">
            <a:noAutofit/>
          </a:bodyPr>
          <a:lstStyle/>
          <a:p>
            <a:pPr algn="l">
              <a:buNone/>
            </a:pPr>
            <a:r>
              <a:rPr lang="ja-JP" altLang="en-US" sz="1200" b="0" dirty="0">
                <a:solidFill>
                  <a:srgbClr val="444444"/>
                </a:solidFill>
                <a:latin typeface="メイリオ" panose="020B0604030504040204" pitchFamily="50" charset="-128"/>
                <a:ea typeface="メイリオ" panose="020B0604030504040204" pitchFamily="50" charset="-128"/>
              </a:rPr>
              <a:t>※物件情報の送信（CV）以降は、当社の計測対象外です</a:t>
            </a:r>
            <a:endParaRPr lang="ja-JP" altLang="en-US" sz="1200" dirty="0"/>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施策詳細｜新規友だちの獲得</a:t>
            </a:r>
            <a:endParaRPr b="0" lang="en-US" sz="1600" strike="noStrike" u="none">
              <a:solidFill>
                <a:srgbClr val="000000"/>
              </a:solidFill>
              <a:effectLst/>
              <a:uFillTx/>
              <a:latin typeface="Arial"/>
            </a:endParaRPr>
          </a:p>
        </p:txBody>
      </p:sp>
      <p:sp>
        <p:nvSpPr>
          <p:cNvPr id="479" name="TextBox 2"/>
          <p:cNvSpPr/>
          <p:nvPr/>
        </p:nvSpPr>
        <p:spPr>
          <a:xfrm>
            <a:off x="429840" y="914400"/>
            <a:ext cx="9052200" cy="41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zh-CN" sz="1600" strike="noStrike" u="none">
                <a:solidFill>
                  <a:srgbClr val="5a6378"/>
                </a:solidFill>
                <a:effectLst/>
                <a:uFillTx/>
                <a:latin typeface="メイリオ"/>
                <a:ea typeface="メイリオ"/>
              </a:rPr>
              <a:t>サイトの</a:t>
            </a:r>
            <a:r>
              <a:rPr b="0" lang="en-US" sz="1600" strike="noStrike" u="none">
                <a:solidFill>
                  <a:srgbClr val="5a6378"/>
                </a:solidFill>
                <a:effectLst/>
                <a:uFillTx/>
                <a:latin typeface="メイリオ"/>
                <a:ea typeface="メイリオ"/>
              </a:rPr>
              <a:t>2</a:t>
            </a:r>
            <a:r>
              <a:rPr b="0" lang="zh-CN" sz="1600" strike="noStrike" u="none">
                <a:solidFill>
                  <a:srgbClr val="5a6378"/>
                </a:solidFill>
                <a:effectLst/>
                <a:uFillTx/>
                <a:latin typeface="メイリオ"/>
                <a:ea typeface="メイリオ"/>
              </a:rPr>
              <a:t>つの接点から、</a:t>
            </a:r>
            <a:r>
              <a:rPr b="0" lang="en-US" sz="1600" strike="noStrike" u="none">
                <a:solidFill>
                  <a:srgbClr val="5a6378"/>
                </a:solidFill>
                <a:effectLst/>
                <a:uFillTx/>
                <a:latin typeface="メイリオ"/>
                <a:ea typeface="メイリオ"/>
              </a:rPr>
              <a:t>LINE</a:t>
            </a:r>
            <a:r>
              <a:rPr b="0" lang="zh-CN" sz="1600" strike="noStrike" u="none">
                <a:solidFill>
                  <a:srgbClr val="5a6378"/>
                </a:solidFill>
                <a:effectLst/>
                <a:uFillTx/>
                <a:latin typeface="メイリオ"/>
                <a:ea typeface="メイリオ"/>
              </a:rPr>
              <a:t>の友だち追加へつなげます</a:t>
            </a:r>
            <a:endParaRPr b="0" lang="en-US" sz="1600" strike="noStrike" u="non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サイトを離れようとした方</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（離脱防止ポップアップ）</a:t>
            </a:r>
            <a:endParaRPr b="0" lang="en-US" sz="1500" strike="noStrike" u="non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物件の</a:t>
            </a:r>
            <a:r>
              <a:rPr b="0" lang="en-US" sz="1500" strike="noStrike" u="none">
                <a:solidFill>
                  <a:srgbClr val="333333"/>
                </a:solidFill>
                <a:effectLst/>
                <a:uFillTx/>
                <a:latin typeface="メイリオ"/>
                <a:ea typeface="メイリオ"/>
              </a:rPr>
              <a:t>URL</a:t>
            </a:r>
            <a:r>
              <a:rPr b="0" lang="zh-CN" sz="1500" strike="noStrike" u="none">
                <a:solidFill>
                  <a:srgbClr val="333333"/>
                </a:solidFill>
                <a:effectLst/>
                <a:uFillTx/>
                <a:latin typeface="メイリオ"/>
                <a:ea typeface="メイリオ"/>
              </a:rPr>
              <a:t>を送るだけで仲介手数料</a:t>
            </a:r>
            <a:r>
              <a:rPr b="0" lang="en-US" sz="1500" strike="noStrike" u="none">
                <a:solidFill>
                  <a:srgbClr val="333333"/>
                </a:solidFill>
                <a:effectLst/>
                <a:uFillTx/>
                <a:latin typeface="メイリオ"/>
                <a:ea typeface="メイリオ"/>
              </a:rPr>
              <a:t>100</a:t>
            </a:r>
            <a:r>
              <a:rPr b="0" lang="zh-CN" sz="1500" strike="noStrike" u="none">
                <a:solidFill>
                  <a:srgbClr val="333333"/>
                </a:solidFill>
                <a:effectLst/>
                <a:uFillTx/>
                <a:latin typeface="メイリオ"/>
                <a:ea typeface="メイリオ"/>
              </a:rPr>
              <a:t>円</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a:t>
            </a:r>
            <a:r>
              <a:rPr b="0" lang="en-US" sz="1500" strike="noStrike" u="none">
                <a:solidFill>
                  <a:srgbClr val="333333"/>
                </a:solidFill>
                <a:effectLst/>
                <a:uFillTx/>
                <a:latin typeface="メイリオ"/>
                <a:ea typeface="メイリオ"/>
              </a:rPr>
              <a:t>100</a:t>
            </a:r>
            <a:r>
              <a:rPr b="0" lang="zh-CN" sz="1500" strike="noStrike" u="none">
                <a:solidFill>
                  <a:srgbClr val="333333"/>
                </a:solidFill>
                <a:effectLst/>
                <a:uFillTx/>
                <a:latin typeface="メイリオ"/>
                <a:ea typeface="メイリオ"/>
              </a:rPr>
              <a:t>円賃貸が対応できる物件に限ります）</a:t>
            </a:r>
            <a:endParaRPr b="0" lang="en-US" sz="1500" strike="noStrike" u="non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の友だち追加</a:t>
            </a:r>
            <a:endParaRPr b="0" lang="en-US" sz="1500" strike="noStrike" u="non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サイト内の「</a:t>
            </a:r>
            <a:r>
              <a:rPr b="0" lang="en-US" sz="1500" strike="noStrike" u="none">
                <a:solidFill>
                  <a:srgbClr val="333333"/>
                </a:solidFill>
                <a:effectLst/>
                <a:uFillTx/>
                <a:latin typeface="メイリオ"/>
                <a:ea typeface="メイリオ"/>
              </a:rPr>
              <a:t>LINE</a:t>
            </a:r>
            <a:r>
              <a:rPr b="0" lang="zh-CN" sz="1500" strike="noStrike" u="none">
                <a:solidFill>
                  <a:srgbClr val="333333"/>
                </a:solidFill>
                <a:effectLst/>
                <a:uFillTx/>
                <a:latin typeface="メイリオ"/>
                <a:ea typeface="メイリオ"/>
              </a:rPr>
              <a:t>でお問い合わせ」</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ボタン（全ページ）</a:t>
            </a:r>
            <a:endParaRPr b="0" lang="en-US" sz="1500" strike="noStrike" u="non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物件の</a:t>
            </a:r>
            <a:r>
              <a:rPr b="0" lang="en-US" sz="1500" strike="noStrike" u="none">
                <a:solidFill>
                  <a:srgbClr val="333333"/>
                </a:solidFill>
                <a:effectLst/>
                <a:uFillTx/>
                <a:latin typeface="メイリオ"/>
                <a:ea typeface="メイリオ"/>
              </a:rPr>
              <a:t>URL</a:t>
            </a:r>
            <a:r>
              <a:rPr b="0" lang="zh-CN" sz="1500" strike="noStrike" u="none">
                <a:solidFill>
                  <a:srgbClr val="333333"/>
                </a:solidFill>
                <a:effectLst/>
                <a:uFillTx/>
                <a:latin typeface="メイリオ"/>
                <a:ea typeface="メイリオ"/>
              </a:rPr>
              <a:t>・物件名・画像を送るだけで、</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空室確認から内見の手配まで</a:t>
            </a:r>
            <a:endParaRPr b="0" lang="en-US" sz="1500" strike="noStrike" u="non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の友だち追加</a:t>
            </a:r>
            <a:endParaRPr b="0" lang="en-US" sz="1500" strike="noStrike" u="non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fillRef idx="0"/>
          <a:effectRef idx="0"/>
          <a:fontRef idx="minor"/>
        </p:style>
        <p:txBody>
          <a:bodyPr lIns="45720" rIns="45720" tIns="45000" bIns="45000" anchor="t">
            <a:spAutoFit/>
          </a:bodyPr>
          <a:p>
            <a:pPr defTabSz="914400">
              <a:lnSpc>
                <a:spcPct val="100000"/>
              </a:lnSpc>
            </a:pPr>
            <a:r>
              <a:rPr b="0" lang="en-US" sz="1300" strike="noStrike" u="none">
                <a:solidFill>
                  <a:srgbClr val="7f7f7f"/>
                </a:solidFill>
                <a:effectLst/>
                <a:uFillTx/>
                <a:latin typeface="メイリオ"/>
                <a:ea typeface="メイリオ"/>
              </a:rPr>
              <a:t>※離脱防止ポップアップは、</a:t>
            </a:r>
            <a:r>
              <a:rPr b="0" lang="en-US" sz="1300" strike="noStrike" u="none">
                <a:solidFill>
                  <a:srgbClr val="7f7f7f"/>
                </a:solidFill>
                <a:effectLst/>
                <a:uFillTx/>
                <a:latin typeface="メイリオ"/>
                <a:ea typeface="メイリオ"/>
              </a:rPr>
              <a:t>LINE</a:t>
            </a:r>
            <a:r>
              <a:rPr b="0" lang="zh-CN" sz="1300" strike="noStrike" u="none">
                <a:solidFill>
                  <a:srgbClr val="7f7f7f"/>
                </a:solidFill>
                <a:effectLst/>
                <a:uFillTx/>
                <a:latin typeface="メイリオ"/>
                <a:ea typeface="メイリオ"/>
              </a:rPr>
              <a:t>公式アカウントとは別に導入する施策です（初期</a:t>
            </a:r>
            <a:r>
              <a:rPr b="0" lang="en-US" sz="1300" strike="noStrike" u="none">
                <a:solidFill>
                  <a:srgbClr val="7f7f7f"/>
                </a:solidFill>
                <a:effectLst/>
                <a:uFillTx/>
                <a:latin typeface="メイリオ"/>
                <a:ea typeface="メイリオ"/>
              </a:rPr>
              <a:t>1.5</a:t>
            </a:r>
            <a:r>
              <a:rPr b="0" lang="zh-CN" sz="1300" strike="noStrike" u="none">
                <a:solidFill>
                  <a:srgbClr val="7f7f7f"/>
                </a:solidFill>
                <a:effectLst/>
                <a:uFillTx/>
                <a:latin typeface="メイリオ"/>
                <a:ea typeface="メイリオ"/>
              </a:rPr>
              <a:t>万円・月</a:t>
            </a:r>
            <a:r>
              <a:rPr b="0" lang="en-US" sz="1300" strike="noStrike" u="none">
                <a:solidFill>
                  <a:srgbClr val="7f7f7f"/>
                </a:solidFill>
                <a:effectLst/>
                <a:uFillTx/>
                <a:latin typeface="メイリオ"/>
                <a:ea typeface="メイリオ"/>
              </a:rPr>
              <a:t>3</a:t>
            </a:r>
            <a:r>
              <a:rPr b="0" lang="zh-CN" sz="1300" strike="noStrike" u="none">
                <a:solidFill>
                  <a:srgbClr val="7f7f7f"/>
                </a:solidFill>
                <a:effectLst/>
                <a:uFillTx/>
                <a:latin typeface="メイリオ"/>
                <a:ea typeface="メイリオ"/>
              </a:rPr>
              <a:t>万円）。</a:t>
            </a:r>
            <a:endParaRPr b="0" lang="en-US" sz="1300" strike="noStrike" u="non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① 離脱防止ポップアップ</a:t>
            </a:r>
            <a:endParaRPr b="0" lang="en-US" sz="1500" strike="noStrike" u="non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② サイト内の「</a:t>
            </a: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でお問い合わせ」ボタン</a:t>
            </a:r>
            <a:endParaRPr b="0" lang="en-US" sz="1500" strike="noStrike" u="non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fillRef idx="0"/>
          <a:effectRef idx="0"/>
          <a:fontRef idx="minor"/>
        </p:style>
        <p:txBody>
          <a:bodyPr lIns="45720" rIns="45720" tIns="45000" bIns="45000" anchor="ctr">
            <a:spAutoFit/>
          </a:bodyPr>
          <a:p>
            <a:pPr defTabSz="914400">
              <a:lnSpc>
                <a:spcPct val="100000"/>
              </a:lnSpc>
            </a:pPr>
            <a:r>
              <a:rPr b="1" lang="zh-CN" sz="1400" strike="noStrike" u="none">
                <a:solidFill>
                  <a:srgbClr val="5a6378"/>
                </a:solidFill>
                <a:effectLst/>
                <a:uFillTx/>
                <a:latin typeface="メイリオ"/>
                <a:ea typeface="メイリオ"/>
              </a:rPr>
              <a:t>役割：</a:t>
            </a:r>
            <a:r>
              <a:rPr b="0" lang="zh-CN" sz="1400" strike="noStrike" u="none">
                <a:solidFill>
                  <a:srgbClr val="5a6378"/>
                </a:solidFill>
                <a:effectLst/>
                <a:uFillTx/>
                <a:latin typeface="メイリオ"/>
                <a:ea typeface="メイリオ"/>
              </a:rPr>
              <a:t>サイトを離れようとした方を引き留め、</a:t>
            </a: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の友だち追加につなげる</a:t>
            </a:r>
            <a:endParaRPr b="0" lang="en-US" sz="1400" strike="noStrike" u="non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fillRef idx="0"/>
          <a:effectRef idx="0"/>
          <a:fontRef idx="minor"/>
        </p:style>
        <p:txBody>
          <a:bodyPr lIns="45720" rIns="45720" tIns="45000" bIns="45000" anchor="ctr">
            <a:spAutoFit/>
          </a:bodyPr>
          <a:p>
            <a:pPr defTabSz="914400">
              <a:lnSpc>
                <a:spcPct val="100000"/>
              </a:lnSpc>
            </a:pPr>
            <a:r>
              <a:rPr b="1" lang="zh-CN" sz="1400" strike="noStrike" u="none">
                <a:solidFill>
                  <a:srgbClr val="5a6378"/>
                </a:solidFill>
                <a:effectLst/>
                <a:uFillTx/>
                <a:latin typeface="メイリオ"/>
                <a:ea typeface="メイリオ"/>
              </a:rPr>
              <a:t>役割：</a:t>
            </a:r>
            <a:r>
              <a:rPr b="0" lang="zh-CN" sz="1400" strike="noStrike" u="none">
                <a:solidFill>
                  <a:srgbClr val="5a6378"/>
                </a:solidFill>
                <a:effectLst/>
                <a:uFillTx/>
                <a:latin typeface="メイリオ"/>
                <a:ea typeface="メイリオ"/>
              </a:rPr>
              <a:t>問い合わせを考えている方を、</a:t>
            </a: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の友だち追加につなげる</a:t>
            </a:r>
            <a:endParaRPr b="0" lang="en-US" sz="1400" strike="noStrike" u="non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fillRef idx="0"/>
          <a:effectRef idx="0"/>
          <a:fontRef idx="minor"/>
        </p:style>
        <p:txBody>
          <a:bodyPr lIns="45720" rIns="45720" tIns="45000" bIns="45000" anchor="t">
            <a:spAutoFit/>
          </a:bodyPr>
          <a:p>
            <a:pPr defTabSz="914400">
              <a:lnSpc>
                <a:spcPct val="100000"/>
              </a:lnSpc>
            </a:pPr>
            <a:r>
              <a:rPr b="0" lang="en-US" sz="1300" strike="noStrike" u="none">
                <a:solidFill>
                  <a:srgbClr val="7f7f7f"/>
                </a:solidFill>
                <a:effectLst/>
                <a:uFillTx/>
                <a:latin typeface="メイリオ"/>
                <a:ea typeface="メイリオ"/>
              </a:rPr>
              <a:t>※サイトのボタンは、リンク先を友だち追加用の</a:t>
            </a:r>
            <a:r>
              <a:rPr b="0" lang="en-US" sz="1300" strike="noStrike" u="none">
                <a:solidFill>
                  <a:srgbClr val="7f7f7f"/>
                </a:solidFill>
                <a:effectLst/>
                <a:uFillTx/>
                <a:latin typeface="メイリオ"/>
                <a:ea typeface="メイリオ"/>
              </a:rPr>
              <a:t>URL</a:t>
            </a:r>
            <a:r>
              <a:rPr b="0" lang="zh-CN" sz="1300" strike="noStrike" u="none">
                <a:solidFill>
                  <a:srgbClr val="7f7f7f"/>
                </a:solidFill>
                <a:effectLst/>
                <a:uFillTx/>
                <a:latin typeface="メイリオ"/>
                <a:ea typeface="メイリオ"/>
              </a:rPr>
              <a:t>に変更します。</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離脱防止バナー</a:t>
            </a:r>
            <a:endParaRPr b="0" lang="en-US" sz="2000" strike="noStrike" u="non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CPF</a:t>
            </a:r>
            <a:r>
              <a:rPr b="1" lang="ja-JP" sz="2000" strike="noStrike" u="none">
                <a:solidFill>
                  <a:srgbClr val="002060"/>
                </a:solidFill>
                <a:effectLst/>
                <a:uFillTx/>
                <a:latin typeface="Meiryo"/>
                <a:ea typeface="Meiryo"/>
              </a:rPr>
              <a:t>広告</a:t>
            </a:r>
            <a:endParaRPr b="0" lang="en-US" sz="2000" strike="noStrike" u="non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サンクス</a:t>
            </a:r>
            <a:r>
              <a:rPr b="1" lang="en-US" sz="2000" strike="noStrike" u="none">
                <a:solidFill>
                  <a:srgbClr val="002060"/>
                </a:solidFill>
                <a:effectLst/>
                <a:uFillTx/>
                <a:latin typeface="Meiryo"/>
                <a:ea typeface="Meiryo"/>
              </a:rPr>
              <a:t>LINE</a:t>
            </a:r>
            <a:r>
              <a:rPr b="1" lang="ja-JP" sz="2000" strike="noStrike" u="none">
                <a:solidFill>
                  <a:srgbClr val="002060"/>
                </a:solidFill>
                <a:effectLst/>
                <a:uFillTx/>
                <a:latin typeface="Meiryo"/>
                <a:ea typeface="Meiryo"/>
              </a:rPr>
              <a:t>誘導</a:t>
            </a:r>
            <a:endParaRPr b="0" lang="en-US" sz="2000" strike="noStrike" u="non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事例：車買取</a:t>
            </a:r>
            <a:endParaRPr b="0" lang="en-US" sz="1400" strike="noStrike" u="none">
              <a:solidFill>
                <a:srgbClr val="000000"/>
              </a:solidFill>
              <a:effectLst/>
              <a:uFillTx/>
              <a:latin typeface="Arial"/>
            </a:endParaRPr>
          </a:p>
        </p:txBody>
      </p:sp>
      <p:pic>
        <p:nvPicPr>
          <p:cNvPr id="503" name="図 1" descr=""/>
          <p:cNvPicPr/>
          <p:nvPr/>
        </p:nvPicPr>
        <p:blipFill>
          <a:blip r:embed="rId1"/>
          <a:srcRect l="0" t="34582" r="0"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興味はあるが利用まで</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至らなかったユーザーを</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友だちとして囲い込む。</a:t>
            </a:r>
            <a:endParaRPr b="0" lang="en-US" sz="1400" strike="noStrike" u="non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en-US" sz="1400" strike="noStrike" u="none">
                <a:solidFill>
                  <a:schemeClr val="dk1"/>
                </a:solidFill>
                <a:effectLst/>
                <a:uFillTx/>
                <a:latin typeface="Meiryo"/>
                <a:ea typeface="Meiryo"/>
              </a:rPr>
              <a:t>CPF</a:t>
            </a:r>
            <a:r>
              <a:rPr b="0" lang="ja-JP" sz="1400" strike="noStrike" u="none">
                <a:solidFill>
                  <a:schemeClr val="dk1"/>
                </a:solidFill>
                <a:effectLst/>
                <a:uFillTx/>
                <a:latin typeface="Meiryo"/>
                <a:ea typeface="Meiryo"/>
              </a:rPr>
              <a:t>約</a:t>
            </a:r>
            <a:r>
              <a:rPr b="0" lang="en-US" sz="1400" strike="noStrike" u="none">
                <a:solidFill>
                  <a:schemeClr val="dk1"/>
                </a:solidFill>
                <a:effectLst/>
                <a:uFillTx/>
                <a:latin typeface="Meiryo"/>
                <a:ea typeface="Meiryo"/>
              </a:rPr>
              <a:t>100-200</a:t>
            </a:r>
            <a:r>
              <a:rPr b="0" lang="ja-JP" sz="1400" strike="noStrike" u="none">
                <a:solidFill>
                  <a:schemeClr val="dk1"/>
                </a:solidFill>
                <a:effectLst/>
                <a:uFillTx/>
                <a:latin typeface="Meiryo"/>
                <a:ea typeface="Meiryo"/>
              </a:rPr>
              <a:t>円台。</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かなり安価かつ成果報酬で</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友だちを増やす広告。</a:t>
            </a:r>
            <a:endParaRPr b="0" lang="en-US" sz="1400" strike="noStrike" u="non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事例：アパレル</a:t>
            </a:r>
            <a:endParaRPr b="0" lang="en-US" sz="1400" strike="noStrike" u="non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en-US" sz="1200" strike="noStrike" u="none">
                <a:solidFill>
                  <a:schemeClr val="dk1">
                    <a:lumMod val="50000"/>
                    <a:lumOff val="50000"/>
                  </a:schemeClr>
                </a:solidFill>
                <a:effectLst/>
                <a:uFillTx/>
                <a:latin typeface="Meiryo"/>
                <a:ea typeface="Meiryo"/>
              </a:rPr>
              <a:t>1</a:t>
            </a:r>
            <a:r>
              <a:rPr b="0" lang="ja-JP" sz="1200" strike="noStrike" u="none">
                <a:solidFill>
                  <a:schemeClr val="dk1">
                    <a:lumMod val="50000"/>
                    <a:lumOff val="50000"/>
                  </a:schemeClr>
                </a:solidFill>
                <a:effectLst/>
                <a:uFillTx/>
                <a:latin typeface="Meiryo"/>
                <a:ea typeface="Meiryo"/>
              </a:rPr>
              <a:t>人あたり</a:t>
            </a:r>
            <a:r>
              <a:rPr b="0" lang="en-US" sz="1200" strike="noStrike" u="none">
                <a:solidFill>
                  <a:schemeClr val="dk1">
                    <a:lumMod val="50000"/>
                    <a:lumOff val="50000"/>
                  </a:schemeClr>
                </a:solidFill>
                <a:effectLst/>
                <a:uFillTx/>
                <a:latin typeface="Meiryo"/>
                <a:ea typeface="Meiryo"/>
              </a:rPr>
              <a:t>50</a:t>
            </a:r>
            <a:r>
              <a:rPr b="0" lang="ja-JP" sz="1200" strike="noStrike" u="none">
                <a:solidFill>
                  <a:schemeClr val="dk1">
                    <a:lumMod val="50000"/>
                    <a:lumOff val="50000"/>
                  </a:schemeClr>
                </a:solidFill>
                <a:effectLst/>
                <a:uFillTx/>
                <a:latin typeface="Meiryo"/>
                <a:ea typeface="Meiryo"/>
              </a:rPr>
              <a:t>円で友だち獲得</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経由の購入</a:t>
            </a:r>
            <a:r>
              <a:rPr b="0" lang="en-US" sz="1200" strike="noStrike" u="none">
                <a:solidFill>
                  <a:schemeClr val="dk1">
                    <a:lumMod val="50000"/>
                    <a:lumOff val="50000"/>
                  </a:schemeClr>
                </a:solidFill>
                <a:effectLst/>
                <a:uFillTx/>
                <a:latin typeface="Meiryo"/>
                <a:ea typeface="Meiryo"/>
              </a:rPr>
              <a:t>1.5</a:t>
            </a:r>
            <a:r>
              <a:rPr b="0" lang="ja-JP" sz="1200" strike="noStrike" u="none">
                <a:solidFill>
                  <a:schemeClr val="dk1">
                    <a:lumMod val="50000"/>
                    <a:lumOff val="50000"/>
                  </a:schemeClr>
                </a:solidFill>
                <a:effectLst/>
                <a:uFillTx/>
                <a:latin typeface="Meiryo"/>
                <a:ea typeface="Meiryo"/>
              </a:rPr>
              <a:t>倍</a:t>
            </a:r>
            <a:endParaRPr b="0" lang="en-US" sz="1200" strike="noStrike" u="non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サンクスページに到達した</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ユーザーを自動で</a:t>
            </a:r>
            <a:r>
              <a:rPr b="0" lang="en-US" sz="1400" strike="noStrike" u="none">
                <a:solidFill>
                  <a:schemeClr val="dk1"/>
                </a:solidFill>
                <a:effectLst/>
                <a:uFillTx/>
                <a:latin typeface="Meiryo"/>
                <a:ea typeface="Meiryo"/>
              </a:rPr>
              <a:t>LINE</a:t>
            </a:r>
            <a:r>
              <a:rPr b="0" lang="ja-JP" sz="1400" strike="noStrike" u="none">
                <a:solidFill>
                  <a:schemeClr val="dk1"/>
                </a:solidFill>
                <a:effectLst/>
                <a:uFillTx/>
                <a:latin typeface="Meiryo"/>
                <a:ea typeface="Meiryo"/>
              </a:rPr>
              <a:t>に誘導。</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友だち追加、追客に活用可能。</a:t>
            </a:r>
            <a:endParaRPr b="0" lang="en-US" sz="1400" strike="noStrike" u="non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事例：美容医療</a:t>
            </a:r>
            <a:endParaRPr b="0" lang="en-US" sz="1400" strike="noStrike" u="none">
              <a:solidFill>
                <a:srgbClr val="000000"/>
              </a:solidFill>
              <a:effectLst/>
              <a:uFillTx/>
              <a:latin typeface="Arial"/>
            </a:endParaRPr>
          </a:p>
        </p:txBody>
      </p:sp>
      <p:pic>
        <p:nvPicPr>
          <p:cNvPr id="510" name="図 3" descr=""/>
          <p:cNvPicPr/>
          <p:nvPr/>
        </p:nvPicPr>
        <p:blipFill>
          <a:blip r:embed="rId2"/>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en-US" sz="1200" strike="noStrike" u="none">
                <a:solidFill>
                  <a:schemeClr val="dk1">
                    <a:lumMod val="50000"/>
                    <a:lumOff val="50000"/>
                  </a:schemeClr>
                </a:solidFill>
                <a:effectLst/>
                <a:uFillTx/>
                <a:latin typeface="Meiryo"/>
                <a:ea typeface="Meiryo"/>
              </a:rPr>
              <a:t>LP</a:t>
            </a:r>
            <a:r>
              <a:rPr b="0" lang="ja-JP" sz="1200" strike="noStrike" u="none">
                <a:solidFill>
                  <a:schemeClr val="dk1">
                    <a:lumMod val="50000"/>
                    <a:lumOff val="50000"/>
                  </a:schemeClr>
                </a:solidFill>
                <a:effectLst/>
                <a:uFillTx/>
                <a:latin typeface="Meiryo"/>
                <a:ea typeface="Meiryo"/>
              </a:rPr>
              <a:t>離脱ユーザーに対して</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誘導を実施。</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追加から</a:t>
            </a:r>
            <a:r>
              <a:rPr b="0" lang="en-US" sz="1200" strike="noStrike" u="none">
                <a:solidFill>
                  <a:schemeClr val="dk1">
                    <a:lumMod val="50000"/>
                    <a:lumOff val="50000"/>
                  </a:schemeClr>
                </a:solidFill>
                <a:effectLst/>
                <a:uFillTx/>
                <a:latin typeface="Meiryo"/>
                <a:ea typeface="Meiryo"/>
              </a:rPr>
              <a:t>20</a:t>
            </a:r>
            <a:r>
              <a:rPr b="0" lang="ja-JP" sz="1200" strike="noStrike" u="none">
                <a:solidFill>
                  <a:schemeClr val="dk1">
                    <a:lumMod val="50000"/>
                    <a:lumOff val="50000"/>
                  </a:schemeClr>
                </a:solidFill>
                <a:effectLst/>
                <a:uFillTx/>
                <a:latin typeface="Meiryo"/>
                <a:ea typeface="Meiryo"/>
              </a:rPr>
              <a:t>％が</a:t>
            </a:r>
            <a:r>
              <a:rPr b="0" lang="en-US" sz="1200" strike="noStrike" u="none">
                <a:solidFill>
                  <a:schemeClr val="dk1">
                    <a:lumMod val="50000"/>
                    <a:lumOff val="50000"/>
                  </a:schemeClr>
                </a:solidFill>
                <a:effectLst/>
                <a:uFillTx/>
                <a:latin typeface="Meiryo"/>
                <a:ea typeface="Meiryo"/>
              </a:rPr>
              <a:t>CV</a:t>
            </a:r>
            <a:endParaRPr b="0" lang="en-US" sz="1200" strike="noStrike" u="none">
              <a:solidFill>
                <a:srgbClr val="000000"/>
              </a:solidFill>
              <a:effectLst/>
              <a:uFillTx/>
              <a:latin typeface="Arial"/>
            </a:endParaRPr>
          </a:p>
          <a:p>
            <a:pPr defTabSz="914400">
              <a:lnSpc>
                <a:spcPct val="100000"/>
              </a:lnSpc>
            </a:pPr>
            <a:endParaRPr b="0" lang="en-US" sz="1200" strike="noStrike" u="non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ja-JP" sz="1200" strike="noStrike" u="none">
                <a:solidFill>
                  <a:schemeClr val="dk1">
                    <a:lumMod val="50000"/>
                    <a:lumOff val="50000"/>
                  </a:schemeClr>
                </a:solidFill>
                <a:effectLst/>
                <a:uFillTx/>
                <a:latin typeface="Meiryo"/>
                <a:ea typeface="Meiryo"/>
              </a:rPr>
              <a:t>導入後友だち増加数が</a:t>
            </a:r>
            <a:r>
              <a:rPr b="0" lang="en-US" sz="1200" strike="noStrike" u="none">
                <a:solidFill>
                  <a:schemeClr val="dk1">
                    <a:lumMod val="50000"/>
                    <a:lumOff val="50000"/>
                  </a:schemeClr>
                </a:solidFill>
                <a:effectLst/>
                <a:uFillTx/>
                <a:latin typeface="Meiryo"/>
                <a:ea typeface="Meiryo"/>
              </a:rPr>
              <a:t>1.5</a:t>
            </a:r>
            <a:r>
              <a:rPr b="0" lang="ja-JP" sz="1200" strike="noStrike" u="none">
                <a:solidFill>
                  <a:schemeClr val="dk1">
                    <a:lumMod val="50000"/>
                    <a:lumOff val="50000"/>
                  </a:schemeClr>
                </a:solidFill>
                <a:effectLst/>
                <a:uFillTx/>
                <a:latin typeface="Meiryo"/>
                <a:ea typeface="Meiryo"/>
              </a:rPr>
              <a:t>倍に。</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50000"/>
                    <a:lumOff val="50000"/>
                  </a:schemeClr>
                </a:solidFill>
                <a:effectLst/>
                <a:uFillTx/>
                <a:latin typeface="Meiryo"/>
                <a:ea typeface="Meiryo"/>
              </a:rPr>
              <a:t>実反響率も</a:t>
            </a:r>
            <a:r>
              <a:rPr b="0" lang="en-US" sz="1200" strike="noStrike" u="none">
                <a:solidFill>
                  <a:schemeClr val="dk1">
                    <a:lumMod val="50000"/>
                    <a:lumOff val="50000"/>
                  </a:schemeClr>
                </a:solidFill>
                <a:effectLst/>
                <a:uFillTx/>
                <a:latin typeface="Meiryo"/>
                <a:ea typeface="Meiryo"/>
              </a:rPr>
              <a:t>40%</a:t>
            </a:r>
            <a:r>
              <a:rPr b="0" lang="ja-JP" sz="1200" strike="noStrike" u="none">
                <a:solidFill>
                  <a:schemeClr val="dk1">
                    <a:lumMod val="50000"/>
                    <a:lumOff val="50000"/>
                  </a:schemeClr>
                </a:solidFill>
                <a:effectLst/>
                <a:uFillTx/>
                <a:latin typeface="Meiryo"/>
                <a:ea typeface="Meiryo"/>
              </a:rPr>
              <a:t>程度改善。</a:t>
            </a:r>
            <a:endParaRPr b="0" lang="en-US" sz="1200" strike="noStrike" u="non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通知メッセージ</a:t>
            </a:r>
            <a:endParaRPr b="0" lang="en-US" sz="2000" strike="noStrike" u="non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友だちではないユーザーに</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対して予約完了通知などを</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送り友だちを増やす。</a:t>
            </a:r>
            <a:endParaRPr b="0" lang="en-US" sz="1400" strike="noStrike" u="non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事例：宅配ピザ</a:t>
            </a:r>
            <a:endParaRPr b="0" lang="en-US" sz="1400" strike="noStrike" u="none">
              <a:solidFill>
                <a:srgbClr val="000000"/>
              </a:solidFill>
              <a:effectLst/>
              <a:uFillTx/>
              <a:latin typeface="Arial"/>
            </a:endParaRPr>
          </a:p>
        </p:txBody>
      </p:sp>
      <p:pic>
        <p:nvPicPr>
          <p:cNvPr id="517" name="図 40" descr=""/>
          <p:cNvPicPr/>
          <p:nvPr/>
        </p:nvPicPr>
        <p:blipFill>
          <a:blip r:embed="rId3"/>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ja-JP" sz="1200" strike="noStrike" u="none">
                <a:solidFill>
                  <a:schemeClr val="dk1">
                    <a:lumMod val="50000"/>
                    <a:lumOff val="50000"/>
                  </a:schemeClr>
                </a:solidFill>
                <a:effectLst/>
                <a:uFillTx/>
                <a:latin typeface="Meiryo"/>
                <a:ea typeface="Meiryo"/>
              </a:rPr>
              <a:t>通知メッセージ導入４ヶ月で</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50000"/>
                    <a:lumOff val="50000"/>
                  </a:schemeClr>
                </a:solidFill>
                <a:effectLst/>
                <a:uFillTx/>
                <a:latin typeface="Meiryo"/>
                <a:ea typeface="Meiryo"/>
              </a:rPr>
              <a:t>友だち数</a:t>
            </a:r>
            <a:r>
              <a:rPr b="0" lang="en-US" sz="1200" strike="noStrike" u="none">
                <a:solidFill>
                  <a:schemeClr val="dk1">
                    <a:lumMod val="50000"/>
                    <a:lumOff val="50000"/>
                  </a:schemeClr>
                </a:solidFill>
                <a:effectLst/>
                <a:uFillTx/>
                <a:latin typeface="Meiryo"/>
                <a:ea typeface="Meiryo"/>
              </a:rPr>
              <a:t>2</a:t>
            </a:r>
            <a:r>
              <a:rPr b="0" lang="ja-JP" sz="1200" strike="noStrike" u="none">
                <a:solidFill>
                  <a:schemeClr val="dk1">
                    <a:lumMod val="50000"/>
                    <a:lumOff val="50000"/>
                  </a:schemeClr>
                </a:solidFill>
                <a:effectLst/>
                <a:uFillTx/>
                <a:latin typeface="Meiryo"/>
                <a:ea typeface="Meiryo"/>
              </a:rPr>
              <a:t>倍</a:t>
            </a:r>
            <a:endParaRPr b="0" lang="en-US" sz="1200" strike="noStrike" u="non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4"/>
          <a:srcRect l="0" t="18238" r="0"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準顕在（獲得見込みが高い）層を効率よく取れる動線を用意し運用します。</a:t>
            </a:r>
            <a:endParaRPr b="0" lang="en-US" sz="1400" strike="noStrike" u="none">
              <a:solidFill>
                <a:srgbClr val="000000"/>
              </a:solidFill>
              <a:effectLst/>
              <a:uFillTx/>
              <a:latin typeface="Arial"/>
            </a:endParaRPr>
          </a:p>
          <a:p>
            <a:pPr algn="ctr" defTabSz="914400">
              <a:lnSpc>
                <a:spcPct val="100000"/>
              </a:lnSpc>
            </a:pPr>
            <a:r>
              <a:rPr b="0" lang="en-US" sz="1100" strike="noStrike" u="none">
                <a:solidFill>
                  <a:srgbClr val="ff0000"/>
                </a:solidFill>
                <a:effectLst/>
                <a:uFillTx/>
                <a:latin typeface="Meiryo"/>
                <a:ea typeface="Meiryo"/>
              </a:rPr>
              <a:t>※実施想定の友だち追加動線について、★を記載しております。</a:t>
            </a:r>
            <a:endParaRPr b="0" lang="en-US" sz="1100" strike="noStrike" u="non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23" name="星: 5 pt 14"/>
          <p:cNvSpPr/>
          <p:nvPr/>
        </p:nvSpPr>
        <p:spPr>
          <a:xfrm>
            <a:off x="9252720" y="167220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（ポップアップ </a:t>
            </a:r>
            <a:r>
              <a:rPr b="1" lang="en-US" sz="1600" strike="noStrike" u="none">
                <a:solidFill>
                  <a:srgbClr val="323366"/>
                </a:solidFill>
                <a:effectLst/>
                <a:uFillTx/>
                <a:latin typeface="メイリオ"/>
                <a:ea typeface="メイリオ"/>
              </a:rPr>
              <a:t>/ </a:t>
            </a:r>
            <a:r>
              <a:rPr b="1" lang="ja-JP" sz="1600" strike="noStrike" u="none">
                <a:solidFill>
                  <a:srgbClr val="323366"/>
                </a:solidFill>
                <a:effectLst/>
                <a:uFillTx/>
                <a:latin typeface="メイリオ"/>
                <a:ea typeface="メイリオ"/>
              </a:rPr>
              <a:t>離脱防止）</a:t>
            </a:r>
            <a:endParaRPr b="0" lang="en-US" sz="1600" strike="noStrike" u="non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ポップアップ</a:t>
              </a:r>
              <a:r>
                <a:rPr b="1" lang="en-US" sz="1500" strike="noStrike" u="none">
                  <a:solidFill>
                    <a:schemeClr val="lt1"/>
                  </a:solidFill>
                  <a:effectLst/>
                  <a:uFillTx/>
                  <a:latin typeface="Meiryo"/>
                  <a:ea typeface="Meiryo"/>
                </a:rPr>
                <a:t>(</a:t>
              </a:r>
              <a:r>
                <a:rPr b="1" lang="ja-JP" sz="1500" strike="noStrike" u="none">
                  <a:solidFill>
                    <a:schemeClr val="lt1"/>
                  </a:solidFill>
                  <a:effectLst/>
                  <a:uFillTx/>
                  <a:latin typeface="Meiryo"/>
                  <a:ea typeface="Meiryo"/>
                </a:rPr>
                <a:t>離脱防止 など</a:t>
              </a:r>
              <a:r>
                <a:rPr b="1" lang="en-US" sz="1500" strike="noStrike" u="none">
                  <a:solidFill>
                    <a:schemeClr val="lt1"/>
                  </a:solidFill>
                  <a:effectLst/>
                  <a:uFillTx/>
                  <a:latin typeface="Meiryo"/>
                  <a:ea typeface="Meiryo"/>
                </a:rPr>
                <a:t>)</a:t>
              </a:r>
              <a:endParaRPr b="0" lang="en-US" sz="1500" strike="noStrike" u="non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サイト上の特定アクションを起こしたユーザーに対して</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ポップアップの形で</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誘導の動線を提示。</a:t>
            </a:r>
            <a:endParaRPr b="0" lang="en-US" sz="1600" strike="noStrike" u="none">
              <a:solidFill>
                <a:srgbClr val="000000"/>
              </a:solidFill>
              <a:effectLst/>
              <a:uFillTx/>
              <a:latin typeface="Arial"/>
            </a:endParaRPr>
          </a:p>
        </p:txBody>
      </p:sp>
      <p:pic>
        <p:nvPicPr>
          <p:cNvPr id="529" name="図 5" descr=""/>
          <p:cNvPicPr/>
          <p:nvPr/>
        </p:nvPicPr>
        <p:blipFill>
          <a:blip r:embed="rId1"/>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rgbClr val="ff0000"/>
                </a:solidFill>
                <a:effectLst/>
                <a:uFillTx/>
                <a:latin typeface="Meiryo"/>
                <a:ea typeface="Meiryo"/>
              </a:rPr>
              <a:t>LINE</a:t>
            </a:r>
            <a:r>
              <a:rPr b="0" lang="ja-JP" sz="1050" strike="noStrike" u="none">
                <a:solidFill>
                  <a:srgbClr val="ff0000"/>
                </a:solidFill>
                <a:effectLst/>
                <a:uFillTx/>
                <a:latin typeface="Meiryo"/>
                <a:ea typeface="Meiryo"/>
              </a:rPr>
              <a:t>以外の注力動線への誘導も同バナーから実施が可能です。</a:t>
            </a:r>
            <a:endParaRPr b="0" lang="en-US" sz="1050" strike="noStrike" u="none">
              <a:solidFill>
                <a:srgbClr val="000000"/>
              </a:solidFill>
              <a:effectLst/>
              <a:uFillTx/>
              <a:latin typeface="Arial"/>
            </a:endParaRPr>
          </a:p>
        </p:txBody>
      </p:sp>
      <p:pic>
        <p:nvPicPr>
          <p:cNvPr id="531" name="図 10" descr=""/>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1.5</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pic>
        <p:nvPicPr>
          <p:cNvPr id="536" name="図 18" descr=""/>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pic>
        <p:nvPicPr>
          <p:cNvPr id="538" name="図 6" descr=""/>
          <p:cNvPicPr/>
          <p:nvPr/>
        </p:nvPicPr>
        <p:blipFill>
          <a:blip r:embed="rId4"/>
          <a:stretch/>
        </p:blipFill>
        <p:spPr>
          <a:xfrm>
            <a:off x="543240" y="4259880"/>
            <a:ext cx="5058720" cy="2191320"/>
          </a:xfrm>
          <a:prstGeom prst="rect">
            <a:avLst/>
          </a:prstGeom>
          <a:noFill/>
          <a:ln w="0">
            <a:noFill/>
          </a:ln>
        </p:spPr>
      </p:pic>
      <p:pic>
        <p:nvPicPr>
          <p:cNvPr id="539" name="図 13" descr=""/>
          <p:cNvPicPr/>
          <p:nvPr/>
        </p:nvPicPr>
        <p:blipFill>
          <a:blip r:embed="rId5"/>
          <a:stretch/>
        </p:blipFill>
        <p:spPr>
          <a:xfrm>
            <a:off x="579600" y="1977840"/>
            <a:ext cx="5022720" cy="22309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（ポップアップ </a:t>
            </a:r>
            <a:r>
              <a:rPr b="1" lang="en-US" sz="1600" strike="noStrike" u="none">
                <a:solidFill>
                  <a:srgbClr val="323366"/>
                </a:solidFill>
                <a:effectLst/>
                <a:uFillTx/>
                <a:latin typeface="メイリオ"/>
                <a:ea typeface="メイリオ"/>
              </a:rPr>
              <a:t>/ </a:t>
            </a:r>
            <a:r>
              <a:rPr b="1" lang="ja-JP" sz="1600" strike="noStrike" u="none">
                <a:solidFill>
                  <a:srgbClr val="323366"/>
                </a:solidFill>
                <a:effectLst/>
                <a:uFillTx/>
                <a:latin typeface="メイリオ"/>
                <a:ea typeface="メイリオ"/>
              </a:rPr>
              <a:t>離脱防止）</a:t>
            </a:r>
            <a:endParaRPr b="0" lang="en-US" sz="1600" strike="noStrike" u="non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ポップアップ</a:t>
              </a:r>
              <a:r>
                <a:rPr b="1" lang="en-US" sz="1500" strike="noStrike" u="none">
                  <a:solidFill>
                    <a:schemeClr val="lt1"/>
                  </a:solidFill>
                  <a:effectLst/>
                  <a:uFillTx/>
                  <a:latin typeface="Meiryo"/>
                  <a:ea typeface="Meiryo"/>
                </a:rPr>
                <a:t>(</a:t>
              </a:r>
              <a:r>
                <a:rPr b="1" lang="ja-JP" sz="1500" strike="noStrike" u="none">
                  <a:solidFill>
                    <a:schemeClr val="lt1"/>
                  </a:solidFill>
                  <a:effectLst/>
                  <a:uFillTx/>
                  <a:latin typeface="Meiryo"/>
                  <a:ea typeface="Meiryo"/>
                </a:rPr>
                <a:t>離脱防止 など</a:t>
              </a:r>
              <a:r>
                <a:rPr b="1" lang="en-US" sz="1500" strike="noStrike" u="none">
                  <a:solidFill>
                    <a:schemeClr val="lt1"/>
                  </a:solidFill>
                  <a:effectLst/>
                  <a:uFillTx/>
                  <a:latin typeface="Meiryo"/>
                  <a:ea typeface="Meiryo"/>
                </a:rPr>
                <a:t>)</a:t>
              </a:r>
              <a:endParaRPr b="0" lang="en-US" sz="1500" strike="noStrike" u="non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サイト上の特定アクションを起こしたユーザーに対して</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ポップアップの形で</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誘導の動線を提示。</a:t>
            </a:r>
            <a:endParaRPr b="0" lang="en-US" sz="1600" strike="noStrike" u="non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rgbClr val="ff0000"/>
                </a:solidFill>
                <a:effectLst/>
                <a:uFillTx/>
                <a:latin typeface="Meiryo"/>
                <a:ea typeface="Meiryo"/>
              </a:rPr>
              <a:t>LINE</a:t>
            </a:r>
            <a:r>
              <a:rPr b="0" lang="ja-JP" sz="1050" strike="noStrike" u="none">
                <a:solidFill>
                  <a:srgbClr val="ff0000"/>
                </a:solidFill>
                <a:effectLst/>
                <a:uFillTx/>
                <a:latin typeface="Meiryo"/>
                <a:ea typeface="Meiryo"/>
              </a:rPr>
              <a:t>以外の注力動線への誘導も同バナーから実施が可能です。</a:t>
            </a:r>
            <a:endParaRPr b="0" lang="en-US" sz="1050" strike="noStrike" u="non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1.5</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pic>
        <p:nvPicPr>
          <p:cNvPr id="548" name="図 9" descr=""/>
          <p:cNvPicPr/>
          <p:nvPr/>
        </p:nvPicPr>
        <p:blipFill>
          <a:blip r:embed="rId1"/>
          <a:stretch/>
        </p:blipFill>
        <p:spPr>
          <a:xfrm>
            <a:off x="1172160" y="1882080"/>
            <a:ext cx="7561440" cy="466128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（通知メッセージ）</a:t>
            </a:r>
            <a:endParaRPr b="0" lang="en-US" sz="1600" strike="noStrike" u="non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通知メッセージ</a:t>
              </a:r>
              <a:endParaRPr b="0" lang="en-US" sz="1500" strike="noStrike" u="non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上のアクションユーザー、貴社保有リスト をターゲット</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に友だち登録、ステータス通知を行うことが出来る機能です。</a:t>
            </a:r>
            <a:endParaRPr b="0" lang="en-US" sz="1600" strike="noStrike" u="non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8</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通数単価：</a:t>
            </a:r>
            <a:r>
              <a:rPr b="1" lang="en-US" sz="1050" strike="noStrike" u="none">
                <a:solidFill>
                  <a:srgbClr val="ffff00"/>
                </a:solidFill>
                <a:effectLst/>
                <a:uFillTx/>
                <a:latin typeface="Meiryo"/>
                <a:ea typeface="Meiryo"/>
              </a:rPr>
              <a:t>7</a:t>
            </a:r>
            <a:r>
              <a:rPr b="1" lang="ja-JP" sz="1050" strike="noStrike" u="none">
                <a:solidFill>
                  <a:srgbClr val="ffff00"/>
                </a:solidFill>
                <a:effectLst/>
                <a:uFillTx/>
                <a:latin typeface="Meiryo"/>
                <a:ea typeface="Meiryo"/>
              </a:rPr>
              <a:t>円</a:t>
            </a:r>
            <a:endParaRPr b="0" lang="en-US" sz="1050" strike="noStrike" u="non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pic>
        <p:nvPicPr>
          <p:cNvPr id="557" name="図 81" descr=""/>
          <p:cNvPicPr/>
          <p:nvPr/>
        </p:nvPicPr>
        <p:blipFill>
          <a:blip r:embed="rId1"/>
          <a:stretch/>
        </p:blipFill>
        <p:spPr>
          <a:xfrm>
            <a:off x="532440" y="4787640"/>
            <a:ext cx="3533040" cy="1714320"/>
          </a:xfrm>
          <a:prstGeom prst="rect">
            <a:avLst/>
          </a:prstGeom>
          <a:noFill/>
          <a:ln w="0">
            <a:noFill/>
          </a:ln>
        </p:spPr>
      </p:pic>
      <p:pic>
        <p:nvPicPr>
          <p:cNvPr id="558" name="図 83" descr=""/>
          <p:cNvPicPr/>
          <p:nvPr/>
        </p:nvPicPr>
        <p:blipFill>
          <a:blip r:embed="rId2"/>
          <a:stretch/>
        </p:blipFill>
        <p:spPr>
          <a:xfrm>
            <a:off x="4065840" y="4801320"/>
            <a:ext cx="1585800" cy="1700640"/>
          </a:xfrm>
          <a:prstGeom prst="rect">
            <a:avLst/>
          </a:prstGeom>
          <a:noFill/>
          <a:ln w="0">
            <a:noFill/>
          </a:ln>
        </p:spPr>
      </p:pic>
      <p:pic>
        <p:nvPicPr>
          <p:cNvPr id="559" name="図 85" descr=""/>
          <p:cNvPicPr/>
          <p:nvPr/>
        </p:nvPicPr>
        <p:blipFill>
          <a:blip r:embed="rId3"/>
          <a:stretch/>
        </p:blipFill>
        <p:spPr>
          <a:xfrm>
            <a:off x="5988600" y="2468160"/>
            <a:ext cx="3362040" cy="1976760"/>
          </a:xfrm>
          <a:prstGeom prst="rect">
            <a:avLst/>
          </a:prstGeom>
          <a:noFill/>
          <a:ln w="0">
            <a:noFill/>
          </a:ln>
        </p:spPr>
      </p:pic>
      <p:pic>
        <p:nvPicPr>
          <p:cNvPr id="560" name="図 87" descr=""/>
          <p:cNvPicPr/>
          <p:nvPr/>
        </p:nvPicPr>
        <p:blipFill>
          <a:blip r:embed="rId4"/>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dk1"/>
                </a:solidFill>
                <a:effectLst/>
                <a:uFillTx/>
                <a:latin typeface="メイリオ"/>
                <a:ea typeface="メイリオ"/>
              </a:rPr>
              <a:t>佐川急便</a:t>
            </a:r>
            <a:endParaRPr b="0" lang="en-US" sz="1100" strike="noStrike" u="non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dk1"/>
                </a:solidFill>
                <a:effectLst/>
                <a:uFillTx/>
                <a:latin typeface="メイリオ"/>
                <a:ea typeface="メイリオ"/>
              </a:rPr>
              <a:t>やまや（</a:t>
            </a:r>
            <a:r>
              <a:rPr b="0" lang="en-US" sz="1100" strike="noStrike" u="none">
                <a:solidFill>
                  <a:schemeClr val="dk1"/>
                </a:solidFill>
                <a:effectLst/>
                <a:uFillTx/>
                <a:latin typeface="メイリオ"/>
                <a:ea typeface="メイリオ"/>
              </a:rPr>
              <a:t>EC</a:t>
            </a:r>
            <a:r>
              <a:rPr b="0" lang="ja-JP"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Sales Partner</a:t>
            </a:r>
            <a:r>
              <a:rPr b="0" lang="ja-JP" sz="900" strike="noStrike" u="none">
                <a:solidFill>
                  <a:srgbClr val="ff0000"/>
                </a:solidFill>
                <a:effectLst/>
                <a:uFillTx/>
                <a:latin typeface="メイリオ"/>
                <a:ea typeface="メイリオ"/>
              </a:rPr>
              <a:t>、</a:t>
            </a:r>
            <a:r>
              <a:rPr b="0" lang="en-US" sz="900" strike="noStrike" u="none">
                <a:solidFill>
                  <a:srgbClr val="ff0000"/>
                </a:solidFill>
                <a:effectLst/>
                <a:uFillTx/>
                <a:latin typeface="メイリオ"/>
                <a:ea typeface="メイリオ"/>
              </a:rPr>
              <a:t>Tech Partner</a:t>
            </a:r>
            <a:r>
              <a:rPr b="0" lang="ja-JP" sz="900" strike="noStrike" u="none">
                <a:solidFill>
                  <a:srgbClr val="ff0000"/>
                </a:solidFill>
                <a:effectLst/>
                <a:uFillTx/>
                <a:latin typeface="メイリオ"/>
                <a:ea typeface="メイリオ"/>
              </a:rPr>
              <a:t>限定公開の</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を使用した機能です。</a:t>
            </a:r>
            <a:endParaRPr b="0" lang="en-US" sz="900" strike="noStrike" u="non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lumMod val="50000"/>
                    <a:lumOff val="50000"/>
                  </a:schemeClr>
                </a:solidFill>
                <a:effectLst/>
                <a:uFillTx/>
                <a:latin typeface="メイリオ"/>
                <a:ea typeface="メイリオ"/>
              </a:rPr>
              <a:t>利用可能シーン</a:t>
            </a:r>
            <a:endParaRPr b="0" lang="en-US" sz="1100" strike="noStrike" u="none">
              <a:solidFill>
                <a:srgbClr val="000000"/>
              </a:solidFill>
              <a:effectLst/>
              <a:uFillTx/>
              <a:latin typeface="Arial"/>
            </a:endParaRPr>
          </a:p>
        </p:txBody>
      </p:sp>
      <p:pic>
        <p:nvPicPr>
          <p:cNvPr id="565" name="図 6" descr=""/>
          <p:cNvPicPr/>
          <p:nvPr/>
        </p:nvPicPr>
        <p:blipFill>
          <a:blip r:embed="rId5"/>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900" strike="noStrike" u="none">
                <a:solidFill>
                  <a:srgbClr val="ff0000"/>
                </a:solidFill>
                <a:effectLst/>
                <a:uFillTx/>
                <a:latin typeface="メイリオ"/>
                <a:ea typeface="メイリオ"/>
              </a:rPr>
              <a:t>料金プランにより通数単価、利用可能機能が異なります。</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（通知メッセージ）</a:t>
            </a:r>
            <a:endParaRPr b="0" lang="en-US" sz="1600" strike="noStrike" u="non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通知メッセージ</a:t>
              </a:r>
              <a:endParaRPr b="0" lang="en-US" sz="1500" strike="noStrike" u="non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上のアクションユーザー、貴社保有リスト をターゲット</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に友だち登録、ステータス通知を行うことが出来る機能です。</a:t>
            </a:r>
            <a:endParaRPr b="0" lang="en-US" sz="1600" strike="noStrike" u="non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8</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通数単価：</a:t>
            </a:r>
            <a:r>
              <a:rPr b="1" lang="en-US" sz="1050" strike="noStrike" u="none">
                <a:solidFill>
                  <a:srgbClr val="ffff00"/>
                </a:solidFill>
                <a:effectLst/>
                <a:uFillTx/>
                <a:latin typeface="Meiryo"/>
                <a:ea typeface="Meiryo"/>
              </a:rPr>
              <a:t>7</a:t>
            </a:r>
            <a:r>
              <a:rPr b="1" lang="ja-JP" sz="1050" strike="noStrike" u="none">
                <a:solidFill>
                  <a:srgbClr val="ffff00"/>
                </a:solidFill>
                <a:effectLst/>
                <a:uFillTx/>
                <a:latin typeface="Meiryo"/>
                <a:ea typeface="Meiryo"/>
              </a:rPr>
              <a:t>円</a:t>
            </a:r>
            <a:endParaRPr b="0" lang="en-US" sz="1050" strike="noStrike" u="non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Sales Partner</a:t>
            </a:r>
            <a:r>
              <a:rPr b="0" lang="ja-JP" sz="900" strike="noStrike" u="none">
                <a:solidFill>
                  <a:srgbClr val="ff0000"/>
                </a:solidFill>
                <a:effectLst/>
                <a:uFillTx/>
                <a:latin typeface="メイリオ"/>
                <a:ea typeface="メイリオ"/>
              </a:rPr>
              <a:t>、</a:t>
            </a:r>
            <a:r>
              <a:rPr b="0" lang="en-US" sz="900" strike="noStrike" u="none">
                <a:solidFill>
                  <a:srgbClr val="ff0000"/>
                </a:solidFill>
                <a:effectLst/>
                <a:uFillTx/>
                <a:latin typeface="メイリオ"/>
                <a:ea typeface="メイリオ"/>
              </a:rPr>
              <a:t>Tech Partner</a:t>
            </a:r>
            <a:r>
              <a:rPr b="0" lang="ja-JP" sz="900" strike="noStrike" u="none">
                <a:solidFill>
                  <a:srgbClr val="ff0000"/>
                </a:solidFill>
                <a:effectLst/>
                <a:uFillTx/>
                <a:latin typeface="メイリオ"/>
                <a:ea typeface="メイリオ"/>
              </a:rPr>
              <a:t>限定公開の</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を使用した機能です。</a:t>
            </a:r>
            <a:endParaRPr b="0" lang="en-US" sz="900" strike="noStrike" u="non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900" strike="noStrike" u="none">
                <a:solidFill>
                  <a:srgbClr val="ff0000"/>
                </a:solidFill>
                <a:effectLst/>
                <a:uFillTx/>
                <a:latin typeface="メイリオ"/>
                <a:ea typeface="メイリオ"/>
              </a:rPr>
              <a:t>料金プランにより通数単価、利用可能機能が異なります。</a:t>
            </a:r>
            <a:endParaRPr b="0" lang="en-US" sz="900" strike="noStrike" u="none">
              <a:solidFill>
                <a:srgbClr val="000000"/>
              </a:solidFill>
              <a:effectLst/>
              <a:uFillTx/>
              <a:latin typeface="Arial"/>
            </a:endParaRPr>
          </a:p>
        </p:txBody>
      </p:sp>
      <p:pic>
        <p:nvPicPr>
          <p:cNvPr id="576" name="図 7" descr=""/>
          <p:cNvPicPr/>
          <p:nvPr/>
        </p:nvPicPr>
        <p:blipFill>
          <a:blip r:embed="rId1"/>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fillRef idx="0"/>
          <a:effectRef idx="0"/>
          <a:fontRef idx="minor"/>
        </p:style>
        <p:txBody>
          <a:bodyPr anchor="ctr">
            <a:noAutofit/>
          </a:bodyPr>
          <a:p>
            <a:pPr algn="ctr" defTabSz="914400">
              <a:lnSpc>
                <a:spcPct val="100000"/>
              </a:lnSpc>
              <a:tabLst>
                <a:tab algn="l" pos="0"/>
              </a:tabLst>
            </a:pPr>
            <a:r>
              <a:rPr b="0" lang="ja-JP" sz="1100" strike="noStrike" u="none">
                <a:solidFill>
                  <a:schemeClr val="lt1"/>
                </a:solidFill>
                <a:effectLst/>
                <a:uFillTx/>
                <a:latin typeface="Meiryo"/>
                <a:ea typeface="Meiryo"/>
              </a:rPr>
              <a:t>利用可能なシーン一例</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（サンクス</a:t>
            </a:r>
            <a:r>
              <a:rPr b="1" lang="en-US" sz="1600" strike="noStrike" u="none">
                <a:solidFill>
                  <a:srgbClr val="323366"/>
                </a:solidFill>
                <a:effectLst/>
                <a:uFillTx/>
                <a:latin typeface="メイリオ"/>
                <a:ea typeface="メイリオ"/>
              </a:rPr>
              <a:t>LINE</a:t>
            </a:r>
            <a:r>
              <a:rPr b="1" lang="ja-JP" sz="1600" strike="noStrike" u="none">
                <a:solidFill>
                  <a:srgbClr val="323366"/>
                </a:solidFill>
                <a:effectLst/>
                <a:uFillTx/>
                <a:latin typeface="メイリオ"/>
                <a:ea typeface="メイリオ"/>
              </a:rPr>
              <a:t>誘導）</a:t>
            </a:r>
            <a:endParaRPr b="0" lang="en-US" sz="1600" strike="noStrike" u="non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100" strike="noStrike" u="none">
                <a:solidFill>
                  <a:schemeClr val="dk1">
                    <a:lumMod val="50000"/>
                    <a:lumOff val="50000"/>
                  </a:schemeClr>
                </a:solidFill>
                <a:effectLst/>
                <a:uFillTx/>
                <a:latin typeface="メイリオ"/>
                <a:ea typeface="メイリオ"/>
              </a:rPr>
              <a:t>WEB</a:t>
            </a:r>
            <a:r>
              <a:rPr b="1" lang="ja-JP" sz="1100" strike="noStrike" u="none">
                <a:solidFill>
                  <a:schemeClr val="dk1">
                    <a:lumMod val="50000"/>
                    <a:lumOff val="50000"/>
                  </a:schemeClr>
                </a:solidFill>
                <a:effectLst/>
                <a:uFillTx/>
                <a:latin typeface="メイリオ"/>
                <a:ea typeface="メイリオ"/>
              </a:rPr>
              <a:t>サイト</a:t>
            </a:r>
            <a:endParaRPr b="0" lang="en-US" sz="1100" strike="noStrike" u="non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非</a:t>
            </a:r>
            <a:r>
              <a:rPr b="1" lang="en-US" sz="1100" strike="noStrike" u="none">
                <a:solidFill>
                  <a:schemeClr val="dk1"/>
                </a:solidFill>
                <a:effectLst/>
                <a:uFillTx/>
                <a:latin typeface="メイリオ"/>
                <a:ea typeface="メイリオ"/>
              </a:rPr>
              <a:t>LINE</a:t>
            </a:r>
            <a:r>
              <a:rPr b="1" lang="ja-JP" sz="1100" strike="noStrike" u="none">
                <a:solidFill>
                  <a:schemeClr val="dk1"/>
                </a:solidFill>
                <a:effectLst/>
                <a:uFillTx/>
                <a:latin typeface="メイリオ"/>
                <a:ea typeface="メイリオ"/>
              </a:rPr>
              <a:t>友だちの場合</a:t>
            </a:r>
            <a:endParaRPr b="0" lang="en-US" sz="1100" strike="noStrike" u="non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既存の</a:t>
            </a:r>
            <a:r>
              <a:rPr b="1" lang="en-US" sz="1100" strike="noStrike" u="none">
                <a:solidFill>
                  <a:schemeClr val="dk1"/>
                </a:solidFill>
                <a:effectLst/>
                <a:uFillTx/>
                <a:latin typeface="メイリオ"/>
                <a:ea typeface="メイリオ"/>
              </a:rPr>
              <a:t>LINE</a:t>
            </a:r>
            <a:r>
              <a:rPr b="1" lang="ja-JP" sz="1100" strike="noStrike" u="none">
                <a:solidFill>
                  <a:schemeClr val="dk1"/>
                </a:solidFill>
                <a:effectLst/>
                <a:uFillTx/>
                <a:latin typeface="メイリオ"/>
                <a:ea typeface="メイリオ"/>
              </a:rPr>
              <a:t>友だちの場合</a:t>
            </a:r>
            <a:endParaRPr b="0" lang="en-US" sz="1100" strike="noStrike" u="non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len="med" type="triangle" w="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len="med" type="triangle" w="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a:t>
            </a:r>
            <a:r>
              <a:rPr b="1" lang="en-US" sz="1100" strike="noStrike" u="none">
                <a:solidFill>
                  <a:schemeClr val="dk1"/>
                </a:solidFill>
                <a:effectLst/>
                <a:uFillTx/>
                <a:latin typeface="メイリオ"/>
                <a:ea typeface="メイリオ"/>
              </a:rPr>
              <a:t>D</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Y</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M</a:t>
            </a:r>
            <a:r>
              <a:rPr b="1" lang="ja-JP" sz="1100" strike="noStrike" u="none">
                <a:solidFill>
                  <a:schemeClr val="dk1"/>
                </a:solidFill>
                <a:effectLst/>
                <a:uFillTx/>
                <a:latin typeface="メイリオ"/>
                <a:ea typeface="メイリオ"/>
              </a:rPr>
              <a:t>ツ</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｜ルで</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L</a:t>
            </a:r>
            <a:br>
              <a:rPr sz="1100"/>
            </a:br>
            <a:r>
              <a:rPr b="1" lang="en-US" sz="1100" strike="noStrike" u="none">
                <a:solidFill>
                  <a:schemeClr val="dk1"/>
                </a:solidFill>
                <a:effectLst/>
                <a:uFillTx/>
                <a:latin typeface="メイリオ"/>
                <a:ea typeface="メイリオ"/>
              </a:rPr>
              <a:t>I</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N</a:t>
            </a:r>
            <a:br>
              <a:rPr sz="1100"/>
            </a:br>
            <a:r>
              <a:rPr b="1" lang="en-US" sz="1100" strike="noStrike" u="none">
                <a:solidFill>
                  <a:schemeClr val="dk1"/>
                </a:solidFill>
                <a:effectLst/>
                <a:uFillTx/>
                <a:latin typeface="メイリオ"/>
                <a:ea typeface="メイリオ"/>
              </a:rPr>
              <a:t>E</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動線</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に</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1"/>
          <a:srcRect l="0" t="4578" r="0" b="0"/>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2"/>
          <a:srcRect l="0" t="4578" r="0" b="0"/>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100" strike="noStrike" u="none">
                <a:solidFill>
                  <a:schemeClr val="dk1"/>
                </a:solidFill>
                <a:effectLst/>
                <a:uFillTx/>
                <a:latin typeface="メイリオ"/>
                <a:ea typeface="メイリオ"/>
              </a:rPr>
              <a:t>公式アカウントの友だち</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登録ページ</a:t>
            </a:r>
            <a:r>
              <a:rPr b="0" lang="ja-JP" sz="1100" strike="noStrike" u="none">
                <a:solidFill>
                  <a:schemeClr val="dk1"/>
                </a:solidFill>
                <a:effectLst/>
                <a:uFillTx/>
                <a:latin typeface="メイリオ"/>
                <a:ea typeface="メイリオ"/>
              </a:rPr>
              <a:t>へ遷移する。</a:t>
            </a:r>
            <a:endParaRPr b="0" lang="en-US" sz="1100" strike="noStrike" u="non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100" strike="noStrike" u="none">
                <a:solidFill>
                  <a:schemeClr val="dk1"/>
                </a:solidFill>
                <a:effectLst/>
                <a:uFillTx/>
                <a:latin typeface="メイリオ"/>
                <a:ea typeface="メイリオ"/>
              </a:rPr>
              <a:t>公式アカウントのトーク</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画面</a:t>
            </a:r>
            <a:r>
              <a:rPr b="0" lang="ja-JP" sz="1100" strike="noStrike" u="none">
                <a:solidFill>
                  <a:schemeClr val="dk1"/>
                </a:solidFill>
                <a:effectLst/>
                <a:uFillTx/>
                <a:latin typeface="メイリオ"/>
                <a:ea typeface="メイリオ"/>
              </a:rPr>
              <a:t>へ遷移する。</a:t>
            </a:r>
            <a:endParaRPr b="0" lang="en-US" sz="1100" strike="noStrike" u="none">
              <a:solidFill>
                <a:srgbClr val="000000"/>
              </a:solidFill>
              <a:effectLst/>
              <a:uFillTx/>
              <a:latin typeface="Arial"/>
            </a:endParaRPr>
          </a:p>
          <a:p>
            <a:pPr defTabSz="914400">
              <a:lnSpc>
                <a:spcPct val="100000"/>
              </a:lnSpc>
            </a:pPr>
            <a:r>
              <a:rPr b="0" lang="en-US" sz="1000" strike="noStrike" u="none">
                <a:solidFill>
                  <a:srgbClr val="ff0000"/>
                </a:solidFill>
                <a:effectLst/>
                <a:uFillTx/>
                <a:latin typeface="メイリオ"/>
                <a:ea typeface="メイリオ"/>
              </a:rPr>
              <a:t>※設定によりフォーム入力</a:t>
            </a:r>
            <a:endParaRPr b="0" lang="en-US" sz="1000" strike="noStrike" u="none">
              <a:solidFill>
                <a:srgbClr val="000000"/>
              </a:solidFill>
              <a:effectLst/>
              <a:uFillTx/>
              <a:latin typeface="Arial"/>
            </a:endParaRPr>
          </a:p>
          <a:p>
            <a:pPr defTabSz="914400">
              <a:lnSpc>
                <a:spcPct val="100000"/>
              </a:lnSpc>
            </a:pPr>
            <a:r>
              <a:rPr b="0" lang="ja-JP" sz="1000" strike="noStrike" u="none">
                <a:solidFill>
                  <a:srgbClr val="ff0000"/>
                </a:solidFill>
                <a:effectLst/>
                <a:uFillTx/>
                <a:latin typeface="メイリオ"/>
                <a:ea typeface="メイリオ"/>
              </a:rPr>
              <a:t>　内容を踏襲した入力画面</a:t>
            </a:r>
            <a:endParaRPr b="0" lang="en-US" sz="1000" strike="noStrike" u="none">
              <a:solidFill>
                <a:srgbClr val="000000"/>
              </a:solidFill>
              <a:effectLst/>
              <a:uFillTx/>
              <a:latin typeface="Arial"/>
            </a:endParaRPr>
          </a:p>
          <a:p>
            <a:pPr defTabSz="914400">
              <a:lnSpc>
                <a:spcPct val="100000"/>
              </a:lnSpc>
            </a:pPr>
            <a:r>
              <a:rPr b="0" lang="ja-JP" sz="1000" strike="noStrike" u="none">
                <a:solidFill>
                  <a:srgbClr val="ff0000"/>
                </a:solidFill>
                <a:effectLst/>
                <a:uFillTx/>
                <a:latin typeface="メイリオ"/>
                <a:ea typeface="メイリオ"/>
              </a:rPr>
              <a:t>　を表示させることが可能。</a:t>
            </a:r>
            <a:endParaRPr b="0" lang="en-US" sz="1000" strike="noStrike" u="none">
              <a:solidFill>
                <a:srgbClr val="000000"/>
              </a:solidFill>
              <a:effectLst/>
              <a:uFillTx/>
              <a:latin typeface="Arial"/>
            </a:endParaRPr>
          </a:p>
          <a:p>
            <a:pPr defTabSz="914400">
              <a:lnSpc>
                <a:spcPct val="100000"/>
              </a:lnSpc>
            </a:pPr>
            <a:endParaRPr b="0" lang="en-US" sz="1000" strike="noStrike" u="none">
              <a:solidFill>
                <a:srgbClr val="000000"/>
              </a:solidFill>
              <a:effectLst/>
              <a:uFillTx/>
              <a:latin typeface="Arial"/>
            </a:endParaRPr>
          </a:p>
          <a:p>
            <a:pPr defTabSz="914400">
              <a:lnSpc>
                <a:spcPct val="100000"/>
              </a:lnSpc>
            </a:pPr>
            <a:r>
              <a:rPr b="1" lang="en-US"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配信セグメントに利用可</a:t>
            </a:r>
            <a:endParaRPr b="0" lang="en-US" sz="1100" strike="noStrike" u="none">
              <a:solidFill>
                <a:srgbClr val="000000"/>
              </a:solidFill>
              <a:effectLst/>
              <a:uFillTx/>
              <a:latin typeface="Arial"/>
            </a:endParaRPr>
          </a:p>
        </p:txBody>
      </p:sp>
      <p:pic>
        <p:nvPicPr>
          <p:cNvPr id="591" name="図 55" descr=""/>
          <p:cNvPicPr/>
          <p:nvPr/>
        </p:nvPicPr>
        <p:blipFill>
          <a:blip r:embed="rId3"/>
          <a:stretch/>
        </p:blipFill>
        <p:spPr>
          <a:xfrm>
            <a:off x="8048160" y="3085200"/>
            <a:ext cx="1133280" cy="109800"/>
          </a:xfrm>
          <a:prstGeom prst="rect">
            <a:avLst/>
          </a:prstGeom>
          <a:noFill/>
          <a:ln w="0">
            <a:noFill/>
          </a:ln>
        </p:spPr>
      </p:pic>
      <p:pic>
        <p:nvPicPr>
          <p:cNvPr id="592" name="図 56" descr=""/>
          <p:cNvPicPr/>
          <p:nvPr/>
        </p:nvPicPr>
        <p:blipFill>
          <a:blip r:embed="rId4"/>
          <a:stretch/>
        </p:blipFill>
        <p:spPr>
          <a:xfrm>
            <a:off x="8377920" y="3091680"/>
            <a:ext cx="479520" cy="106200"/>
          </a:xfrm>
          <a:prstGeom prst="rect">
            <a:avLst/>
          </a:prstGeom>
          <a:noFill/>
          <a:ln w="0">
            <a:noFill/>
          </a:ln>
        </p:spPr>
      </p:pic>
      <p:pic>
        <p:nvPicPr>
          <p:cNvPr id="593" name="図 57" descr=""/>
          <p:cNvPicPr/>
          <p:nvPr/>
        </p:nvPicPr>
        <p:blipFill>
          <a:blip r:embed="rId5"/>
          <a:stretch/>
        </p:blipFill>
        <p:spPr>
          <a:xfrm>
            <a:off x="8395920" y="4322160"/>
            <a:ext cx="334080" cy="73800"/>
          </a:xfrm>
          <a:prstGeom prst="rect">
            <a:avLst/>
          </a:prstGeom>
          <a:noFill/>
          <a:ln w="0">
            <a:noFill/>
          </a:ln>
        </p:spPr>
      </p:pic>
      <p:pic>
        <p:nvPicPr>
          <p:cNvPr id="594" name="図 58" descr=""/>
          <p:cNvPicPr/>
          <p:nvPr/>
        </p:nvPicPr>
        <p:blipFill>
          <a:blip r:embed="rId6"/>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600" strike="noStrike" u="none">
                <a:solidFill>
                  <a:schemeClr val="dk1"/>
                </a:solidFill>
                <a:effectLst/>
                <a:uFillTx/>
                <a:latin typeface="メイリオ"/>
                <a:ea typeface="メイリオ"/>
              </a:rPr>
              <a:t>ロゴ</a:t>
            </a:r>
            <a:endParaRPr b="0" lang="en-US" sz="600" strike="noStrike" u="non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フォーム</a:t>
            </a:r>
            <a:endParaRPr b="0" lang="en-US" sz="1100" strike="noStrike" u="non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7"/>
          <a:srcRect l="0" t="4582" r="0" b="0"/>
          <a:stretch/>
        </p:blipFill>
        <p:spPr>
          <a:xfrm>
            <a:off x="663480" y="2289240"/>
            <a:ext cx="1047960" cy="1775160"/>
          </a:xfrm>
          <a:prstGeom prst="rect">
            <a:avLst/>
          </a:prstGeom>
          <a:noFill/>
          <a:ln w="0">
            <a:noFill/>
          </a:ln>
        </p:spPr>
      </p:pic>
      <p:pic>
        <p:nvPicPr>
          <p:cNvPr id="602" name="図 40" descr=""/>
          <p:cNvPicPr/>
          <p:nvPr/>
        </p:nvPicPr>
        <p:blipFill>
          <a:blip r:embed="rId8"/>
          <a:stretch/>
        </p:blipFill>
        <p:spPr>
          <a:xfrm>
            <a:off x="641160" y="2325600"/>
            <a:ext cx="494280" cy="85680"/>
          </a:xfrm>
          <a:prstGeom prst="rect">
            <a:avLst/>
          </a:prstGeom>
          <a:noFill/>
          <a:ln w="0">
            <a:noFill/>
          </a:ln>
        </p:spPr>
      </p:pic>
      <p:pic>
        <p:nvPicPr>
          <p:cNvPr id="603" name="図 41" descr=""/>
          <p:cNvPicPr/>
          <p:nvPr/>
        </p:nvPicPr>
        <p:blipFill>
          <a:blip r:embed="rId9"/>
          <a:stretch/>
        </p:blipFill>
        <p:spPr>
          <a:xfrm>
            <a:off x="630360" y="2328120"/>
            <a:ext cx="494280" cy="85680"/>
          </a:xfrm>
          <a:prstGeom prst="rect">
            <a:avLst/>
          </a:prstGeom>
          <a:noFill/>
          <a:ln w="0">
            <a:noFill/>
          </a:ln>
        </p:spPr>
      </p:pic>
      <p:pic>
        <p:nvPicPr>
          <p:cNvPr id="604" name="図 46" descr=""/>
          <p:cNvPicPr/>
          <p:nvPr/>
        </p:nvPicPr>
        <p:blipFill>
          <a:blip r:embed="rId10"/>
          <a:stretch/>
        </p:blipFill>
        <p:spPr>
          <a:xfrm>
            <a:off x="810000" y="3773160"/>
            <a:ext cx="494280" cy="85680"/>
          </a:xfrm>
          <a:prstGeom prst="rect">
            <a:avLst/>
          </a:prstGeom>
          <a:noFill/>
          <a:ln w="0">
            <a:noFill/>
          </a:ln>
        </p:spPr>
      </p:pic>
      <p:pic>
        <p:nvPicPr>
          <p:cNvPr id="605" name="図 54" descr=""/>
          <p:cNvPicPr/>
          <p:nvPr/>
        </p:nvPicPr>
        <p:blipFill>
          <a:blip r:embed="rId11"/>
          <a:stretch/>
        </p:blipFill>
        <p:spPr>
          <a:xfrm>
            <a:off x="647280" y="2445120"/>
            <a:ext cx="1075680" cy="1468080"/>
          </a:xfrm>
          <a:prstGeom prst="rect">
            <a:avLst/>
          </a:prstGeom>
          <a:noFill/>
          <a:ln w="0">
            <a:noFill/>
          </a:ln>
        </p:spPr>
      </p:pic>
      <p:pic>
        <p:nvPicPr>
          <p:cNvPr id="606" name="図 1023" descr=""/>
          <p:cNvPicPr/>
          <p:nvPr/>
        </p:nvPicPr>
        <p:blipFill>
          <a:blip r:embed="rId12"/>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000" strike="noStrike" u="none">
                <a:solidFill>
                  <a:srgbClr val="ff0000"/>
                </a:solidFill>
                <a:effectLst/>
                <a:uFillTx/>
                <a:latin typeface="メイリオ"/>
                <a:ea typeface="メイリオ"/>
              </a:rPr>
              <a:t>※</a:t>
            </a:r>
            <a:r>
              <a:rPr b="1" lang="ja-JP" sz="1000" strike="noStrike" u="none">
                <a:solidFill>
                  <a:srgbClr val="ff0000"/>
                </a:solidFill>
                <a:effectLst/>
                <a:uFillTx/>
                <a:latin typeface="メイリオ"/>
                <a:ea typeface="メイリオ"/>
              </a:rPr>
              <a:t>入力した内容を</a:t>
            </a:r>
            <a:endParaRPr b="0" lang="en-US" sz="1000" strike="noStrike" u="none">
              <a:solidFill>
                <a:srgbClr val="000000"/>
              </a:solidFill>
              <a:effectLst/>
              <a:uFillTx/>
              <a:latin typeface="Arial"/>
            </a:endParaRPr>
          </a:p>
          <a:p>
            <a:pPr algn="ctr" defTabSz="914400">
              <a:lnSpc>
                <a:spcPct val="100000"/>
              </a:lnSpc>
            </a:pPr>
            <a:r>
              <a:rPr b="1" lang="ja-JP" sz="1000" strike="noStrike" u="none">
                <a:solidFill>
                  <a:srgbClr val="ff0000"/>
                </a:solidFill>
                <a:effectLst/>
                <a:uFillTx/>
                <a:latin typeface="メイリオ"/>
                <a:ea typeface="メイリオ"/>
              </a:rPr>
              <a:t>トークに反映が可能。</a:t>
            </a:r>
            <a:endParaRPr b="0" lang="en-US" sz="1000" strike="noStrike" u="non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100" strike="noStrike" u="none">
                <a:solidFill>
                  <a:schemeClr val="lt1"/>
                </a:solidFill>
                <a:effectLst/>
                <a:uFillTx/>
                <a:latin typeface="メイリオ"/>
                <a:ea typeface="メイリオ"/>
              </a:rPr>
              <a:t>CV</a:t>
            </a:r>
            <a:endParaRPr b="0" lang="en-US" sz="1100" strike="noStrike" u="non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ja-JP" sz="1100" strike="noStrike" u="none">
                <a:solidFill>
                  <a:schemeClr val="dk1">
                    <a:lumMod val="50000"/>
                    <a:lumOff val="50000"/>
                  </a:schemeClr>
                </a:solidFill>
                <a:effectLst/>
                <a:uFillTx/>
                <a:latin typeface="メイリオ"/>
                <a:ea typeface="メイリオ"/>
              </a:rPr>
              <a:t>・購入完了</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・セミナー予約</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・登録完了</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・メルマガ登録</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・その他</a:t>
            </a:r>
            <a:endParaRPr b="0" lang="en-US" sz="1100" strike="noStrike" u="non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13"/>
          <a:srcRect l="0" t="4582" r="0" b="0"/>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4"/>
          <a:srcRect l="20275" t="0" r="23688" b="0"/>
          <a:stretch/>
        </p:blipFill>
        <p:spPr>
          <a:xfrm>
            <a:off x="3866400" y="4627080"/>
            <a:ext cx="394920" cy="529200"/>
          </a:xfrm>
          <a:prstGeom prst="rect">
            <a:avLst/>
          </a:prstGeom>
          <a:noFill/>
          <a:ln w="0">
            <a:noFill/>
          </a:ln>
        </p:spPr>
      </p:pic>
      <p:pic>
        <p:nvPicPr>
          <p:cNvPr id="613" name="図 1039" descr=""/>
          <p:cNvPicPr/>
          <p:nvPr/>
        </p:nvPicPr>
        <p:blipFill>
          <a:blip r:embed="rId15"/>
          <a:stretch/>
        </p:blipFill>
        <p:spPr>
          <a:xfrm>
            <a:off x="2955240" y="2332440"/>
            <a:ext cx="494280" cy="85680"/>
          </a:xfrm>
          <a:prstGeom prst="rect">
            <a:avLst/>
          </a:prstGeom>
          <a:noFill/>
          <a:ln w="0">
            <a:noFill/>
          </a:ln>
        </p:spPr>
      </p:pic>
      <p:pic>
        <p:nvPicPr>
          <p:cNvPr id="614" name="図 1040" descr=""/>
          <p:cNvPicPr/>
          <p:nvPr/>
        </p:nvPicPr>
        <p:blipFill>
          <a:blip r:embed="rId16"/>
          <a:stretch/>
        </p:blipFill>
        <p:spPr>
          <a:xfrm>
            <a:off x="2944440" y="2334960"/>
            <a:ext cx="494280" cy="85680"/>
          </a:xfrm>
          <a:prstGeom prst="rect">
            <a:avLst/>
          </a:prstGeom>
          <a:noFill/>
          <a:ln w="0">
            <a:noFill/>
          </a:ln>
        </p:spPr>
      </p:pic>
      <p:pic>
        <p:nvPicPr>
          <p:cNvPr id="615" name="図 1041" descr=""/>
          <p:cNvPicPr/>
          <p:nvPr/>
        </p:nvPicPr>
        <p:blipFill>
          <a:blip r:embed="rId1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en-US" sz="800" strike="noStrike" u="none">
                <a:solidFill>
                  <a:schemeClr val="lt1">
                    <a:lumMod val="85000"/>
                  </a:schemeClr>
                </a:solidFill>
                <a:effectLst/>
                <a:uFillTx/>
                <a:latin typeface="メイリオ"/>
                <a:ea typeface="メイリオ"/>
              </a:rPr>
              <a:t>※</a:t>
            </a:r>
            <a:r>
              <a:rPr b="1" lang="ja-JP" sz="800" strike="noStrike" u="none">
                <a:solidFill>
                  <a:schemeClr val="lt1">
                    <a:lumMod val="85000"/>
                  </a:schemeClr>
                </a:solidFill>
                <a:effectLst/>
                <a:uFillTx/>
                <a:latin typeface="メイリオ"/>
                <a:ea typeface="メイリオ"/>
              </a:rPr>
              <a:t>ユーザーの個人情報収集が</a:t>
            </a:r>
            <a:endParaRPr b="0" lang="en-US" sz="800" strike="noStrike" u="none">
              <a:solidFill>
                <a:srgbClr val="000000"/>
              </a:solidFill>
              <a:effectLst/>
              <a:uFillTx/>
              <a:latin typeface="Arial"/>
            </a:endParaRPr>
          </a:p>
          <a:p>
            <a:pPr algn="ctr" defTabSz="914400">
              <a:lnSpc>
                <a:spcPct val="100000"/>
              </a:lnSpc>
            </a:pPr>
            <a:r>
              <a:rPr b="1" lang="ja-JP" sz="800" strike="noStrike" u="none">
                <a:solidFill>
                  <a:schemeClr val="lt1">
                    <a:lumMod val="85000"/>
                  </a:schemeClr>
                </a:solidFill>
                <a:effectLst/>
                <a:uFillTx/>
                <a:latin typeface="メイリオ"/>
                <a:ea typeface="メイリオ"/>
              </a:rPr>
              <a:t>完了したタイミング</a:t>
            </a:r>
            <a:endParaRPr b="0" lang="en-US" sz="800" strike="noStrike" u="non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サンクス</a:t>
              </a:r>
              <a:r>
                <a:rPr b="1" lang="en-US" sz="1500" strike="noStrike" u="none">
                  <a:solidFill>
                    <a:schemeClr val="lt1"/>
                  </a:solidFill>
                  <a:effectLst/>
                  <a:uFillTx/>
                  <a:latin typeface="Meiryo"/>
                  <a:ea typeface="Meiryo"/>
                </a:rPr>
                <a:t>LINE</a:t>
              </a:r>
              <a:r>
                <a:rPr b="1" lang="ja-JP" sz="1500" strike="noStrike" u="none">
                  <a:solidFill>
                    <a:schemeClr val="lt1"/>
                  </a:solidFill>
                  <a:effectLst/>
                  <a:uFillTx/>
                  <a:latin typeface="Meiryo"/>
                  <a:ea typeface="Meiryo"/>
                </a:rPr>
                <a:t>誘導</a:t>
              </a:r>
              <a:endParaRPr b="0" lang="en-US" sz="1500" strike="noStrike" u="non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len="med" type="triangle" w="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len="med" type="triangle" w="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ja-JP" sz="1100" strike="noStrike" u="none">
                <a:solidFill>
                  <a:srgbClr val="00c057"/>
                </a:solidFill>
                <a:effectLst/>
                <a:uFillTx/>
                <a:latin typeface="メイリオ"/>
                <a:ea typeface="メイリオ"/>
              </a:rPr>
              <a:t>友だち追加後</a:t>
            </a:r>
            <a:endParaRPr b="0" lang="en-US" sz="1100" strike="noStrike" u="non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サンクス到達時の</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動線が弊社開発により可能に。</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費用を抑えての導入が可能で、新規反響の質改善に寄与。</a:t>
            </a:r>
            <a:endParaRPr b="0" lang="en-US" sz="1600" strike="noStrike" u="non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a:t>
            </a:r>
            <a:r>
              <a:rPr b="0" lang="ja-JP" sz="900" strike="noStrike" u="none">
                <a:solidFill>
                  <a:srgbClr val="ff0000"/>
                </a:solidFill>
                <a:effectLst/>
                <a:uFillTx/>
                <a:latin typeface="メイリオ"/>
                <a:ea typeface="メイリオ"/>
              </a:rPr>
              <a:t>暫定措置として導入済アカウントについては</a:t>
            </a:r>
            <a:r>
              <a:rPr b="0" lang="en-US" sz="900" strike="noStrike" u="none">
                <a:solidFill>
                  <a:srgbClr val="ff0000"/>
                </a:solidFill>
                <a:effectLst/>
                <a:uFillTx/>
                <a:latin typeface="メイリオ"/>
                <a:ea typeface="メイリオ"/>
              </a:rPr>
              <a:t>2026</a:t>
            </a:r>
            <a:r>
              <a:rPr b="0" lang="ja-JP" sz="900" strike="noStrike" u="none">
                <a:solidFill>
                  <a:srgbClr val="ff0000"/>
                </a:solidFill>
                <a:effectLst/>
                <a:uFillTx/>
                <a:latin typeface="メイリオ"/>
                <a:ea typeface="メイリオ"/>
              </a:rPr>
              <a:t>年</a:t>
            </a:r>
            <a:r>
              <a:rPr b="0" lang="en-US" sz="900" strike="noStrike" u="none">
                <a:solidFill>
                  <a:srgbClr val="ff0000"/>
                </a:solidFill>
                <a:effectLst/>
                <a:uFillTx/>
                <a:latin typeface="メイリオ"/>
                <a:ea typeface="メイリオ"/>
              </a:rPr>
              <a:t>7</a:t>
            </a:r>
            <a:r>
              <a:rPr b="0" lang="ja-JP" sz="900" strike="noStrike" u="none">
                <a:solidFill>
                  <a:srgbClr val="ff0000"/>
                </a:solidFill>
                <a:effectLst/>
                <a:uFillTx/>
                <a:latin typeface="メイリオ"/>
                <a:ea typeface="メイリオ"/>
              </a:rPr>
              <a:t>月～の価格改定の予定</a:t>
            </a:r>
            <a:endParaRPr b="0" lang="en-US" sz="900" strike="noStrike" u="non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a:t>
            </a:r>
            <a:r>
              <a:rPr b="0" lang="ja-JP" sz="900" strike="noStrike" u="none">
                <a:solidFill>
                  <a:srgbClr val="ff0000"/>
                </a:solidFill>
                <a:effectLst/>
                <a:uFillTx/>
                <a:latin typeface="メイリオ"/>
                <a:ea typeface="メイリオ"/>
              </a:rPr>
              <a:t>既存</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ツールとの併用についても、問題なく稼働が可能。</a:t>
            </a:r>
            <a:endParaRPr b="0" lang="en-US" sz="900" strike="noStrike" u="non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設定地点追加</a:t>
            </a:r>
            <a:endParaRPr b="0" lang="en-US" sz="1050" strike="noStrike" u="non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len="med" type="triangle" w="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0" lang="ja-JP" sz="1200" strike="noStrike" u="none">
                <a:solidFill>
                  <a:schemeClr val="dk1"/>
                </a:solidFill>
                <a:effectLst/>
                <a:uFillTx/>
                <a:latin typeface="メイリオ"/>
                <a:ea typeface="メイリオ"/>
              </a:rPr>
              <a:t>高開封率の</a:t>
            </a:r>
            <a:r>
              <a:rPr b="0" lang="en-US" sz="1200" strike="noStrike" u="none">
                <a:solidFill>
                  <a:schemeClr val="dk1"/>
                </a:solidFill>
                <a:effectLst/>
                <a:uFillTx/>
                <a:latin typeface="メイリオ"/>
                <a:ea typeface="メイリオ"/>
              </a:rPr>
              <a:t>LINE</a:t>
            </a:r>
            <a:r>
              <a:rPr b="0" lang="ja-JP" sz="1200" strike="noStrike" u="none">
                <a:solidFill>
                  <a:schemeClr val="dk1"/>
                </a:solidFill>
                <a:effectLst/>
                <a:uFillTx/>
                <a:latin typeface="メイリオ"/>
                <a:ea typeface="メイリオ"/>
              </a:rPr>
              <a:t>に誘導して反響→実売上への引上げ率、リピート率改善。</a:t>
            </a:r>
            <a:endParaRPr b="0" lang="en-US" sz="1200" strike="noStrike" u="none">
              <a:solidFill>
                <a:srgbClr val="000000"/>
              </a:solidFill>
              <a:effectLst/>
              <a:uFillTx/>
              <a:latin typeface="Arial"/>
            </a:endParaRPr>
          </a:p>
          <a:p>
            <a:pPr algn="ctr" defTabSz="914400">
              <a:lnSpc>
                <a:spcPct val="100000"/>
              </a:lnSpc>
            </a:pPr>
            <a:r>
              <a:rPr b="0" lang="en-US" sz="1200" strike="noStrike" u="none">
                <a:solidFill>
                  <a:schemeClr val="dk1"/>
                </a:solidFill>
                <a:effectLst/>
                <a:uFillTx/>
                <a:latin typeface="メイリオ"/>
                <a:ea typeface="メイリオ"/>
              </a:rPr>
              <a:t> </a:t>
            </a:r>
            <a:r>
              <a:rPr b="1" lang="ja-JP" sz="1200" strike="noStrike" u="none">
                <a:solidFill>
                  <a:srgbClr val="ff0000"/>
                </a:solidFill>
                <a:effectLst/>
                <a:uFillTx/>
                <a:latin typeface="メイリオ"/>
                <a:ea typeface="メイリオ"/>
              </a:rPr>
              <a:t>弊社運用の美容クリニック様では、予約後来院率にて</a:t>
            </a:r>
            <a:r>
              <a:rPr b="1" lang="en-US" sz="1200" strike="noStrike" u="none">
                <a:solidFill>
                  <a:srgbClr val="ff0000"/>
                </a:solidFill>
                <a:effectLst/>
                <a:uFillTx/>
                <a:latin typeface="メイリオ"/>
                <a:ea typeface="メイリオ"/>
              </a:rPr>
              <a:t>40-50%</a:t>
            </a:r>
            <a:r>
              <a:rPr b="1" lang="ja-JP" sz="1200" strike="noStrike" u="none">
                <a:solidFill>
                  <a:srgbClr val="ff0000"/>
                </a:solidFill>
                <a:effectLst/>
                <a:uFillTx/>
                <a:latin typeface="メイリオ"/>
                <a:ea typeface="メイリオ"/>
              </a:rPr>
              <a:t>程度の改善を実現</a:t>
            </a:r>
            <a:r>
              <a:rPr b="0" lang="ja-JP"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634" name="正方形/長方形 1"/>
          <p:cNvSpPr/>
          <p:nvPr/>
        </p:nvSpPr>
        <p:spPr>
          <a:xfrm>
            <a:off x="4245120" y="3038040"/>
            <a:ext cx="141552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費用感</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料金プランの比較</a:t>
            </a:r>
            <a:endParaRPr b="0" lang="en-US" sz="1400" strike="noStrike" u="none">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chemeClr val="dk1"/>
                </a:solidFill>
                <a:effectLst/>
                <a:uFillTx/>
                <a:latin typeface="メイリオ"/>
                <a:ea typeface="メイリオ"/>
              </a:rPr>
              <a:t>料金の払い方が異なる4つのプランをご用意しました。</a:t>
            </a:r>
            <a:endParaRPr b="0" lang="en-US" sz="1600" strike="noStrike" u="non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zh-CN" sz="1400" strike="noStrike" u="none">
                <a:solidFill>
                  <a:schemeClr val="lt1"/>
                </a:solidFill>
                <a:effectLst/>
                <a:uFillTx/>
                <a:latin typeface="メイリオ"/>
                <a:ea typeface="メイリオ"/>
              </a:rPr>
              <a:t>あらうち様向けプラン</a:t>
            </a:r>
            <a:endParaRPr b="0" lang="en-US" sz="1400" strike="noStrike" u="none">
              <a:solidFill>
                <a:srgbClr val="ffffff"/>
              </a:solidFill>
              <a:effectLst/>
              <a:uFillTx/>
              <a:latin typeface="Arial"/>
            </a:endParaRPr>
          </a:p>
        </p:txBody>
      </p:sp>
      <p:graphicFrame>
        <p:nvGraphicFramePr>
          <p:cNvPr id="639" name="料金プラン比較表 638"/>
          <p:cNvGraphicFramePr>
            <a:graphicFrameLocks noGrp="1"/>
          </p:cNvGraphicFramePr>
          <p:nvPr/>
        </p:nvGraphicFramePr>
        <p:xfrm>
          <a:off x="384048" y="1353312"/>
          <a:ext cx="9144000" cy="3346704"/>
        </p:xfrm>
        <a:graphic>
          <a:graphicData uri="http://schemas.openxmlformats.org/drawingml/2006/table">
            <a:tbl>
              <a:tblPr/>
              <a:tblGrid>
                <a:gridCol w="1554480"/>
                <a:gridCol w="1897380"/>
                <a:gridCol w="1897380"/>
                <a:gridCol w="1897380"/>
                <a:gridCol w="1897380"/>
              </a:tblGrid>
              <a:tr h="347472">
                <a:tc rowSpan="2">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gridSpan="3">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コンサル型（毎月固定）</a:t>
                      </a:r>
                      <a:endParaRPr lang="ja-JP" altLang="en-US" sz="12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h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h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成果報酬型（成果連動）</a:t>
                      </a:r>
                      <a:endParaRPr lang="ja-JP" altLang="en-US" sz="12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tr>
              <a:tr h="585216">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プラン④</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初期費用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月額コンサル費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10万円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58521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月額ツール・</a:t>
                      </a:r>
                      <a:br>
                        <a:rPr lang="ja-JP" altLang="en-US" sz="1300" b="1" dirty="0">
                          <a:solidFill>
                            <a:srgbClr val="1F285A"/>
                          </a:solidFill>
                          <a:latin typeface="メイリオ" panose="020B0604030504040204" pitchFamily="50" charset="-128"/>
                          <a:ea typeface="メイリオ" panose="020B0604030504040204" pitchFamily="50" charset="-128"/>
                        </a:rPr>
                      </a:br>
                      <a:r>
                        <a:rPr lang="ja-JP" altLang="en-US" sz="1300" b="1" dirty="0">
                          <a:solidFill>
                            <a:srgbClr val="1F285A"/>
                          </a:solidFill>
                          <a:latin typeface="メイリオ" panose="020B0604030504040204" pitchFamily="50" charset="-128"/>
                          <a:ea typeface="メイリオ" panose="020B0604030504040204" pitchFamily="50" charset="-128"/>
                        </a:rPr>
                        <a:t>LINE費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3.5万円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3.5万円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別途実費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確認中</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成果単価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8,000円／有効CV</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621792">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8.5万円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ツール利用料</a:t>
                      </a:r>
                      <a:br>
                        <a:rPr lang="ja-JP" altLang="en-US" sz="1400" b="1" dirty="0">
                          <a:solidFill>
                            <a:srgbClr val="1F285A"/>
                          </a:solidFill>
                          <a:latin typeface="メイリオ" panose="020B0604030504040204" pitchFamily="50" charset="-128"/>
                          <a:ea typeface="メイリオ" panose="020B0604030504040204" pitchFamily="50" charset="-128"/>
                        </a:rPr>
                      </a:br>
                      <a:r>
                        <a:rPr lang="ja-JP" altLang="en-US" sz="1400" b="1" dirty="0">
                          <a:solidFill>
                            <a:srgbClr val="1F285A"/>
                          </a:solidFill>
                          <a:latin typeface="メイリオ" panose="020B0604030504040204" pitchFamily="50" charset="-128"/>
                          <a:ea typeface="メイリオ" panose="020B0604030504040204" pitchFamily="50" charset="-128"/>
                        </a:rPr>
                        <a:t>＋手数料</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007A3D"/>
                          </a:solidFill>
                          <a:latin typeface="メイリオ" panose="020B0604030504040204" pitchFamily="50" charset="-128"/>
                          <a:ea typeface="メイリオ" panose="020B0604030504040204" pitchFamily="50" charset="-128"/>
                        </a:rPr>
                        <a:t>8,000円×</a:t>
                      </a:r>
                      <a:br>
                        <a:rPr lang="ja-JP" altLang="en-US" sz="1400" b="1" dirty="0">
                          <a:solidFill>
                            <a:srgbClr val="007A3D"/>
                          </a:solidFill>
                          <a:latin typeface="メイリオ" panose="020B0604030504040204" pitchFamily="50" charset="-128"/>
                          <a:ea typeface="メイリオ" panose="020B0604030504040204" pitchFamily="50" charset="-128"/>
                        </a:rPr>
                      </a:br>
                      <a:r>
                        <a:rPr lang="ja-JP" altLang="en-US" sz="1400" b="1" dirty="0">
                          <a:solidFill>
                            <a:srgbClr val="007A3D"/>
                          </a:solidFill>
                          <a:latin typeface="メイリオ" panose="020B0604030504040204" pitchFamily="50" charset="-128"/>
                          <a:ea typeface="メイリオ" panose="020B0604030504040204" pitchFamily="50" charset="-128"/>
                        </a:rPr>
                        <a:t>有効CV件数</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D5ECDC"/>
                    </a:solidFill>
                  </a:tcPr>
                </a:tc>
              </a:tr>
            </a:tbl>
          </a:graphicData>
        </a:graphic>
      </p:graphicFrame>
      <p:sp>
        <p:nvSpPr>
          <p:cNvPr id="640" name="コンサル型の説明"/>
          <p:cNvSpPr/>
          <p:nvPr/>
        </p:nvSpPr>
        <p:spPr>
          <a:xfrm>
            <a:off x="384048" y="4791456"/>
            <a:ext cx="4846320" cy="384048"/>
          </a:xfrm>
          <a:prstGeom prst="rect">
            <a:avLst/>
          </a:prstGeom>
          <a:solidFill>
            <a:srgbClr val="E8ECF6"/>
          </a:solidFill>
          <a:ln w="12700">
            <a:solidFill>
              <a:srgbClr val="1F285A"/>
            </a:solidFill>
          </a:ln>
        </p:spPr>
        <p:txBody>
          <a:bodyPr wrap="square" lIns="45720" tIns="18288" rIns="45720"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コンサル型（プラン①〜③）｜毎月の固定費でご提供</a:t>
            </a:r>
            <a:endParaRPr lang="ja-JP" altLang="en-US" sz="1250" dirty="0"/>
          </a:p>
        </p:txBody>
      </p:sp>
      <p:sp>
        <p:nvSpPr>
          <p:cNvPr id="641" name="成果報酬型の説明"/>
          <p:cNvSpPr/>
          <p:nvPr/>
        </p:nvSpPr>
        <p:spPr>
          <a:xfrm>
            <a:off x="5340096" y="4791456"/>
            <a:ext cx="4187952" cy="384048"/>
          </a:xfrm>
          <a:prstGeom prst="rect">
            <a:avLst/>
          </a:prstGeom>
          <a:solidFill>
            <a:srgbClr val="E6F4EA"/>
          </a:solidFill>
          <a:ln w="12700">
            <a:solidFill>
              <a:srgbClr val="00B050"/>
            </a:solidFill>
          </a:ln>
        </p:spPr>
        <p:txBody>
          <a:bodyPr wrap="square" lIns="45720" tIns="18288" rIns="45720" bIns="18288" rtlCol="0" anchor="ctr">
            <a:noAutofit/>
          </a:bodyPr>
          <a:lstStyle/>
          <a:p>
            <a:pPr algn="ctr">
              <a:buNone/>
            </a:pPr>
            <a:r>
              <a:rPr lang="ja-JP" altLang="en-US" sz="1250" b="1" dirty="0">
                <a:solidFill>
                  <a:srgbClr val="007A3D"/>
                </a:solidFill>
                <a:latin typeface="メイリオ" panose="020B0604030504040204" pitchFamily="50" charset="-128"/>
                <a:ea typeface="メイリオ" panose="020B0604030504040204" pitchFamily="50" charset="-128"/>
              </a:rPr>
              <a:t>成果報酬型（プラン④）｜有効CVの件数で変動</a:t>
            </a:r>
            <a:endParaRPr lang="ja-JP" altLang="en-US" sz="1250" dirty="0"/>
          </a:p>
        </p:txBody>
      </p:sp>
      <p:sp>
        <p:nvSpPr>
          <p:cNvPr id="642" name="注記"/>
          <p:cNvSpPr/>
          <p:nvPr/>
        </p:nvSpPr>
        <p:spPr>
          <a:xfrm>
            <a:off x="384048" y="5248656"/>
            <a:ext cx="9144000" cy="1243583"/>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※価格はあらうち様向けの個別提案価格です（DYMの標準価格ではありません）。初期費用21.5万円は4プラン共通です。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※コンサル型（プラン①〜③）と成果報酬型（プラン④）は別契約です。固定のコンサル費と成果報酬を併せて請求することはありません。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※プラン③は月額コンサル契約がありません。ツールを継続して利用する場合の利用料は別途実費です。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※プラン④は成果保証ではなく、実際の有効CV件数に応じた請求です（詳細は17ページ）。専用フォームの構築に必要な技術要件・ツール費用は確認中のため、確定次第ご案内します。</a:t>
            </a:r>
            <a:endParaRPr lang="ja-JP" altLang="en-US" sz="1100" dirty="0"/>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都度発注プラン</a:t>
            </a:r>
            <a:endParaRPr b="0" lang="en-US" sz="1400" strike="noStrike" u="non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chemeClr val="dk1"/>
                </a:solidFill>
                <a:effectLst/>
                <a:uFillTx/>
                <a:latin typeface="メイリオ"/>
                <a:ea typeface="メイリオ"/>
              </a:rPr>
              <a:t>LINEOA</a:t>
            </a:r>
            <a:r>
              <a:rPr b="1" lang="ja-JP" sz="1600" strike="noStrike" u="none">
                <a:solidFill>
                  <a:schemeClr val="dk1"/>
                </a:solidFill>
                <a:effectLst/>
                <a:uFillTx/>
                <a:latin typeface="メイリオ"/>
                <a:ea typeface="メイリオ"/>
              </a:rPr>
              <a:t>の運用業務・</a:t>
            </a:r>
            <a:r>
              <a:rPr b="1" lang="en-US" sz="1600" strike="noStrike" u="none">
                <a:solidFill>
                  <a:schemeClr val="dk1"/>
                </a:solidFill>
                <a:effectLst/>
                <a:uFillTx/>
                <a:latin typeface="メイリオ"/>
                <a:ea typeface="メイリオ"/>
              </a:rPr>
              <a:t>CR</a:t>
            </a:r>
            <a:r>
              <a:rPr b="1" lang="ja-JP" sz="1600" strike="noStrike" u="none">
                <a:solidFill>
                  <a:schemeClr val="dk1"/>
                </a:solidFill>
                <a:effectLst/>
                <a:uFillTx/>
                <a:latin typeface="メイリオ"/>
                <a:ea typeface="メイリオ"/>
              </a:rPr>
              <a:t>制作業務を一部外出ししてご依頼依頼も。</a:t>
            </a:r>
            <a:endParaRPr b="0" lang="en-US" sz="1600" strike="noStrike" u="none">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50" strike="noStrike" u="non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chemeClr val="dk1">
                    <a:lumMod val="65000"/>
                    <a:lumOff val="35000"/>
                  </a:schemeClr>
                </a:solidFill>
                <a:effectLst/>
                <a:uFillTx/>
                <a:latin typeface="メイリオ"/>
                <a:ea typeface="メイリオ"/>
              </a:rPr>
              <a:t>&lt;</a:t>
            </a:r>
            <a:r>
              <a:rPr b="0" lang="ja-JP" sz="1050" strike="noStrike" u="none">
                <a:solidFill>
                  <a:schemeClr val="dk1">
                    <a:lumMod val="65000"/>
                    <a:lumOff val="35000"/>
                  </a:schemeClr>
                </a:solidFill>
                <a:effectLst/>
                <a:uFillTx/>
                <a:latin typeface="メイリオ"/>
                <a:ea typeface="メイリオ"/>
              </a:rPr>
              <a:t>追加作業における費用感　</a:t>
            </a:r>
            <a:r>
              <a:rPr b="0" lang="en-US" sz="900" strike="noStrike" u="none">
                <a:solidFill>
                  <a:srgbClr val="ff0000"/>
                </a:solidFill>
                <a:effectLst/>
                <a:uFillTx/>
                <a:latin typeface="メイリオ"/>
                <a:ea typeface="メイリオ"/>
              </a:rPr>
              <a:t>※作業量により変動する可能性がございます</a:t>
            </a:r>
            <a:r>
              <a:rPr b="0" lang="en-US" sz="1050" strike="noStrike" u="none">
                <a:solidFill>
                  <a:schemeClr val="dk1">
                    <a:lumMod val="65000"/>
                    <a:lumOff val="35000"/>
                  </a:schemeClr>
                </a:solidFill>
                <a:effectLst/>
                <a:uFillTx/>
                <a:latin typeface="メイリオ"/>
                <a:ea typeface="メイリオ"/>
              </a:rPr>
              <a:t>&gt;</a:t>
            </a:r>
            <a:endParaRPr b="0" lang="en-US" sz="1050" strike="noStrike" u="none">
              <a:solidFill>
                <a:srgbClr val="000000"/>
              </a:solidFill>
              <a:effectLst/>
              <a:uFillTx/>
              <a:latin typeface="Arial"/>
            </a:endParaRPr>
          </a:p>
        </p:txBody>
      </p:sp>
      <p:graphicFrame>
        <p:nvGraphicFramePr>
          <p:cNvPr id="646" name="表 13"/>
          <p:cNvGraphicFramePr/>
          <p:nvPr/>
        </p:nvGraphicFramePr>
        <p:xfrm>
          <a:off x="706680" y="1862640"/>
          <a:ext cx="8543520" cy="4069440"/>
        </p:xfrm>
        <a:graphic>
          <a:graphicData uri="http://schemas.openxmlformats.org/drawingml/2006/table">
            <a:tbl>
              <a:tblPr/>
              <a:tblGrid>
                <a:gridCol w="1832400"/>
                <a:gridCol w="1140480"/>
                <a:gridCol w="1140480"/>
                <a:gridCol w="315360"/>
                <a:gridCol w="1832400"/>
                <a:gridCol w="1140480"/>
                <a:gridCol w="1140480"/>
              </a:tblGrid>
              <a:tr h="290520">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対応項目</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初期</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内容</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endParaRPr b="1"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対応項目</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初期</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月額</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アカウント開設</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API</a:t>
                      </a:r>
                      <a:r>
                        <a:rPr b="0" lang="ja-JP" sz="1100" strike="noStrike" u="none">
                          <a:solidFill>
                            <a:srgbClr val="000000"/>
                          </a:solidFill>
                          <a:effectLst/>
                          <a:uFillTx/>
                          <a:latin typeface="メイリオ"/>
                          <a:ea typeface="メイリオ"/>
                        </a:rPr>
                        <a:t>ツール導入</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プロフィール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ID</a:t>
                      </a:r>
                      <a:r>
                        <a:rPr b="0" lang="ja-JP" sz="1100" strike="noStrike" u="none">
                          <a:solidFill>
                            <a:srgbClr val="000000"/>
                          </a:solidFill>
                          <a:effectLst/>
                          <a:uFillTx/>
                          <a:latin typeface="メイリオ"/>
                          <a:ea typeface="メイリオ"/>
                        </a:rPr>
                        <a:t>連携</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50" strike="noStrike" u="none">
                          <a:solidFill>
                            <a:schemeClr val="dk1">
                              <a:lumMod val="50000"/>
                              <a:lumOff val="50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リッチメニュー</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ログイン</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50" strike="noStrike" u="none">
                          <a:solidFill>
                            <a:schemeClr val="dk1">
                              <a:lumMod val="50000"/>
                              <a:lumOff val="50000"/>
                            </a:schemeClr>
                          </a:solidFill>
                          <a:effectLst/>
                          <a:uFillTx/>
                          <a:latin typeface="メイリオ"/>
                          <a:ea typeface="メイリオ"/>
                        </a:rPr>
                        <a:t>¥0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あいさつメッセージ</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通知メッセージ</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初期アンケート</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¥50,000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チャットボット機能</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KW</a:t>
                      </a:r>
                      <a:r>
                        <a:rPr b="0" lang="ja-JP" sz="1100" strike="noStrike" u="none">
                          <a:solidFill>
                            <a:srgbClr val="000000"/>
                          </a:solidFill>
                          <a:effectLst/>
                          <a:uFillTx/>
                          <a:latin typeface="メイリオ"/>
                          <a:ea typeface="メイリオ"/>
                        </a:rPr>
                        <a:t>の自動応答</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Chat Plus</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¥30,000~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ステップ配信</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¥50,000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Call Plus</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セグメント配信</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決済</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チャットタグ管理</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予約管理</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チャット対応</a:t>
                      </a:r>
                      <a:r>
                        <a:rPr b="0" lang="en-US" sz="700" strike="noStrike" u="none">
                          <a:solidFill>
                            <a:srgbClr val="ff0000"/>
                          </a:solidFill>
                          <a:effectLst/>
                          <a:uFillTx/>
                          <a:latin typeface="メイリオ"/>
                          <a:ea typeface="メイリオ"/>
                        </a:rPr>
                        <a:t> </a:t>
                      </a:r>
                      <a:r>
                        <a:rPr b="0" lang="en-US" sz="700" strike="noStrike" u="none">
                          <a:solidFill>
                            <a:srgbClr val="ff0000"/>
                          </a:solidFill>
                          <a:effectLst/>
                          <a:uFillTx/>
                          <a:latin typeface="メイリオ"/>
                          <a:ea typeface="メイリオ"/>
                        </a:rPr>
                        <a:t>※サポートは可能</a:t>
                      </a:r>
                      <a:endParaRPr b="0" lang="en-US" sz="7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¥100,000</a:t>
                      </a:r>
                      <a:r>
                        <a:rPr b="0" lang="ja-JP" sz="1000" strike="noStrike" u="none">
                          <a:solidFill>
                            <a:srgbClr val="000000"/>
                          </a:solidFill>
                          <a:effectLst/>
                          <a:uFillTx/>
                          <a:latin typeface="メイリオ"/>
                          <a:ea typeface="メイリオ"/>
                        </a:rPr>
                        <a:t>～</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ja-JP" sz="600" strike="noStrike" u="none">
                          <a:solidFill>
                            <a:srgbClr val="000000"/>
                          </a:solidFill>
                          <a:effectLst/>
                          <a:uFillTx/>
                          <a:latin typeface="メイリオ"/>
                          <a:ea typeface="メイリオ"/>
                        </a:rPr>
                        <a:t>件数により変動</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GA(CRM)</a:t>
                      </a:r>
                      <a:r>
                        <a:rPr b="0" lang="ja-JP" sz="1100" strike="noStrike" u="none">
                          <a:solidFill>
                            <a:srgbClr val="000000"/>
                          </a:solidFill>
                          <a:effectLst/>
                          <a:uFillTx/>
                          <a:latin typeface="メイリオ"/>
                          <a:ea typeface="メイリオ"/>
                        </a:rPr>
                        <a:t>レポート連携</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クリエイティブ</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¥15,000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tabLst>
                          <a:tab algn="l" pos="0"/>
                        </a:tabLst>
                      </a:pPr>
                      <a:r>
                        <a:rPr b="0" lang="ja-JP" sz="600" strike="noStrike" u="none">
                          <a:solidFill>
                            <a:srgbClr val="000000"/>
                          </a:solidFill>
                          <a:effectLst/>
                          <a:uFillTx/>
                          <a:latin typeface="メイリオ"/>
                          <a:ea typeface="メイリオ"/>
                        </a:rPr>
                        <a:t>画像</a:t>
                      </a:r>
                      <a:r>
                        <a:rPr b="0" lang="en-US" sz="600" strike="noStrike" u="none">
                          <a:solidFill>
                            <a:srgbClr val="000000"/>
                          </a:solidFill>
                          <a:effectLst/>
                          <a:uFillTx/>
                          <a:latin typeface="メイリオ"/>
                          <a:ea typeface="メイリオ"/>
                        </a:rPr>
                        <a:t>1</a:t>
                      </a:r>
                      <a:r>
                        <a:rPr b="0" lang="ja-JP" sz="600" strike="noStrike" u="none">
                          <a:solidFill>
                            <a:srgbClr val="000000"/>
                          </a:solidFill>
                          <a:effectLst/>
                          <a:uFillTx/>
                          <a:latin typeface="メイリオ"/>
                          <a:ea typeface="メイリオ"/>
                        </a:rPr>
                        <a:t>枚での想定</a:t>
                      </a:r>
                      <a:endParaRPr b="0" lang="en-US" sz="600" strike="noStrike" u="none">
                        <a:solidFill>
                          <a:srgbClr val="000000"/>
                        </a:solidFill>
                        <a:effectLst/>
                        <a:uFillTx/>
                        <a:latin typeface="Arial"/>
                      </a:endParaRPr>
                    </a:p>
                    <a:p>
                      <a:pPr algn="ctr" defTabSz="914400">
                        <a:lnSpc>
                          <a:spcPct val="100000"/>
                        </a:lnSpc>
                        <a:tabLst>
                          <a:tab algn="l" pos="0"/>
                        </a:tabLst>
                      </a:pPr>
                      <a:r>
                        <a:rPr b="0" lang="en-US" sz="600" strike="noStrike" u="none">
                          <a:solidFill>
                            <a:srgbClr val="000000"/>
                          </a:solidFill>
                          <a:effectLst/>
                          <a:uFillTx/>
                          <a:latin typeface="メイリオ"/>
                          <a:ea typeface="メイリオ"/>
                        </a:rPr>
                        <a:t>※バナー、</a:t>
                      </a:r>
                      <a:r>
                        <a:rPr b="0" lang="en-US" sz="600" strike="noStrike" u="none">
                          <a:solidFill>
                            <a:srgbClr val="000000"/>
                          </a:solidFill>
                          <a:effectLst/>
                          <a:uFillTx/>
                          <a:latin typeface="メイリオ"/>
                          <a:ea typeface="メイリオ"/>
                        </a:rPr>
                        <a:t>HTML</a:t>
                      </a:r>
                      <a:r>
                        <a:rPr b="0" lang="ja-JP" sz="600" strike="noStrike" u="none">
                          <a:solidFill>
                            <a:srgbClr val="000000"/>
                          </a:solidFill>
                          <a:effectLst/>
                          <a:uFillTx/>
                          <a:latin typeface="メイリオ"/>
                          <a:ea typeface="メイリオ"/>
                        </a:rPr>
                        <a:t>メール等</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離脱防止ツール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¥15,000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tabLst>
                          <a:tab algn="l" pos="0"/>
                        </a:tabLst>
                      </a:pPr>
                      <a:r>
                        <a:rPr b="0" lang="ja-JP" sz="600" strike="noStrike" u="none">
                          <a:solidFill>
                            <a:srgbClr val="000000"/>
                          </a:solidFill>
                          <a:effectLst/>
                          <a:uFillTx/>
                          <a:latin typeface="メイリオ"/>
                          <a:ea typeface="メイリオ"/>
                        </a:rPr>
                        <a:t>画像</a:t>
                      </a:r>
                      <a:r>
                        <a:rPr b="0" lang="en-US" sz="600" strike="noStrike" u="none">
                          <a:solidFill>
                            <a:srgbClr val="000000"/>
                          </a:solidFill>
                          <a:effectLst/>
                          <a:uFillTx/>
                          <a:latin typeface="メイリオ"/>
                          <a:ea typeface="メイリオ"/>
                        </a:rPr>
                        <a:t>1</a:t>
                      </a:r>
                      <a:r>
                        <a:rPr b="0" lang="ja-JP" sz="600" strike="noStrike" u="none">
                          <a:solidFill>
                            <a:srgbClr val="000000"/>
                          </a:solidFill>
                          <a:effectLst/>
                          <a:uFillTx/>
                          <a:latin typeface="メイリオ"/>
                          <a:ea typeface="メイリオ"/>
                        </a:rPr>
                        <a:t>枚での想定</a:t>
                      </a:r>
                      <a:endParaRPr b="0" lang="en-US" sz="600" strike="noStrike" u="none">
                        <a:solidFill>
                          <a:srgbClr val="000000"/>
                        </a:solidFill>
                        <a:effectLst/>
                        <a:uFillTx/>
                        <a:latin typeface="Arial"/>
                      </a:endParaRPr>
                    </a:p>
                    <a:p>
                      <a:pPr algn="ctr" defTabSz="914400">
                        <a:lnSpc>
                          <a:spcPct val="100000"/>
                        </a:lnSpc>
                        <a:tabLst>
                          <a:tab algn="l" pos="0"/>
                        </a:tabLst>
                      </a:pPr>
                      <a:r>
                        <a:rPr b="0" lang="en-US" sz="600" strike="noStrike" u="none">
                          <a:solidFill>
                            <a:srgbClr val="000000"/>
                          </a:solidFill>
                          <a:effectLst/>
                          <a:uFillTx/>
                          <a:latin typeface="メイリオ"/>
                          <a:ea typeface="メイリオ"/>
                        </a:rPr>
                        <a:t>※バナー、</a:t>
                      </a:r>
                      <a:r>
                        <a:rPr b="0" lang="en-US" sz="600" strike="noStrike" u="none">
                          <a:solidFill>
                            <a:srgbClr val="000000"/>
                          </a:solidFill>
                          <a:effectLst/>
                          <a:uFillTx/>
                          <a:latin typeface="メイリオ"/>
                          <a:ea typeface="メイリオ"/>
                        </a:rPr>
                        <a:t>HTML</a:t>
                      </a:r>
                      <a:r>
                        <a:rPr b="0" lang="ja-JP" sz="600" strike="noStrike" u="none">
                          <a:solidFill>
                            <a:srgbClr val="000000"/>
                          </a:solidFill>
                          <a:effectLst/>
                          <a:uFillTx/>
                          <a:latin typeface="メイリオ"/>
                          <a:ea typeface="メイリオ"/>
                        </a:rPr>
                        <a:t>メール等</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投稿作成</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サンクス</a:t>
                      </a: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誘導ツール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400" strike="noStrike" u="none">
                <a:solidFill>
                  <a:srgbClr val="ff0000"/>
                </a:solidFill>
                <a:effectLst/>
                <a:uFillTx/>
                <a:latin typeface="メイリオ"/>
                <a:ea typeface="メイリオ"/>
              </a:rPr>
              <a:t>貴社リソースの状況に応じて都度発注でのご依頼も各単価で受けさせていただきます。</a:t>
            </a:r>
            <a:endParaRPr b="0" lang="en-US" sz="1400" strike="noStrike" u="non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650" name="正方形/長方形 1"/>
          <p:cNvSpPr/>
          <p:nvPr/>
        </p:nvSpPr>
        <p:spPr>
          <a:xfrm>
            <a:off x="3629520" y="3038040"/>
            <a:ext cx="26463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サポート体制</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400" strike="noStrike" u="none">
                <a:solidFill>
                  <a:schemeClr val="lt1"/>
                </a:solidFill>
                <a:effectLst/>
                <a:uFillTx/>
                <a:latin typeface="メイリオ"/>
                <a:ea typeface="メイリオ"/>
              </a:rPr>
              <a:t>WEB</a:t>
            </a:r>
            <a:r>
              <a:rPr b="0" lang="ja-JP" sz="2400" strike="noStrike" u="none">
                <a:solidFill>
                  <a:schemeClr val="lt1"/>
                </a:solidFill>
                <a:effectLst/>
                <a:uFillTx/>
                <a:latin typeface="メイリオ"/>
                <a:ea typeface="メイリオ"/>
              </a:rPr>
              <a:t>サイト上情報と連携させ、配信効果を数値化する</a:t>
            </a:r>
            <a:endParaRPr b="0" lang="en-US" sz="2400" strike="noStrike" u="none">
              <a:solidFill>
                <a:srgbClr val="ffffff"/>
              </a:solidFill>
              <a:effectLst/>
              <a:uFillTx/>
              <a:latin typeface="Arial"/>
            </a:endParaRPr>
          </a:p>
        </p:txBody>
      </p:sp>
      <p:pic>
        <p:nvPicPr>
          <p:cNvPr id="652" name="図 6" descr=""/>
          <p:cNvPicPr/>
          <p:nvPr/>
        </p:nvPicPr>
        <p:blipFill>
          <a:blip r:embed="rId1"/>
          <a:stretch/>
        </p:blipFill>
        <p:spPr>
          <a:xfrm>
            <a:off x="1183680" y="2131200"/>
            <a:ext cx="2498040" cy="1743840"/>
          </a:xfrm>
          <a:prstGeom prst="rect">
            <a:avLst/>
          </a:prstGeom>
          <a:noFill/>
          <a:ln w="0">
            <a:noFill/>
          </a:ln>
        </p:spPr>
      </p:pic>
      <p:pic>
        <p:nvPicPr>
          <p:cNvPr id="653" name="図 7" descr=""/>
          <p:cNvPicPr/>
          <p:nvPr/>
        </p:nvPicPr>
        <p:blipFill>
          <a:blip r:embed="rId2"/>
          <a:stretch/>
        </p:blipFill>
        <p:spPr>
          <a:xfrm>
            <a:off x="3456000" y="2402640"/>
            <a:ext cx="2392560" cy="1668240"/>
          </a:xfrm>
          <a:prstGeom prst="rect">
            <a:avLst/>
          </a:prstGeom>
          <a:noFill/>
          <a:ln w="0">
            <a:noFill/>
          </a:ln>
        </p:spPr>
      </p:pic>
      <p:pic>
        <p:nvPicPr>
          <p:cNvPr id="654" name="図 9" descr=""/>
          <p:cNvPicPr/>
          <p:nvPr/>
        </p:nvPicPr>
        <p:blipFill>
          <a:blip r:embed="rId3"/>
          <a:stretch/>
        </p:blipFill>
        <p:spPr>
          <a:xfrm>
            <a:off x="5697720" y="2676600"/>
            <a:ext cx="2431800" cy="1697760"/>
          </a:xfrm>
          <a:prstGeom prst="rect">
            <a:avLst/>
          </a:prstGeom>
          <a:noFill/>
          <a:ln w="0">
            <a:noFill/>
          </a:ln>
        </p:spPr>
      </p:pic>
      <p:pic>
        <p:nvPicPr>
          <p:cNvPr id="655" name="図 13" descr=""/>
          <p:cNvPicPr/>
          <p:nvPr/>
        </p:nvPicPr>
        <p:blipFill>
          <a:blip r:embed="rId4"/>
          <a:stretch/>
        </p:blipFill>
        <p:spPr>
          <a:xfrm>
            <a:off x="1158120" y="4165560"/>
            <a:ext cx="2416680" cy="1682280"/>
          </a:xfrm>
          <a:prstGeom prst="rect">
            <a:avLst/>
          </a:prstGeom>
          <a:noFill/>
          <a:ln w="0">
            <a:noFill/>
          </a:ln>
        </p:spPr>
      </p:pic>
      <p:pic>
        <p:nvPicPr>
          <p:cNvPr id="656" name="図 14" descr=""/>
          <p:cNvPicPr/>
          <p:nvPr/>
        </p:nvPicPr>
        <p:blipFill>
          <a:blip r:embed="rId5"/>
          <a:stretch/>
        </p:blipFill>
        <p:spPr>
          <a:xfrm>
            <a:off x="3434760" y="4410720"/>
            <a:ext cx="2416680" cy="1683000"/>
          </a:xfrm>
          <a:prstGeom prst="rect">
            <a:avLst/>
          </a:prstGeom>
          <a:noFill/>
          <a:ln w="0">
            <a:noFill/>
          </a:ln>
        </p:spPr>
      </p:pic>
      <p:pic>
        <p:nvPicPr>
          <p:cNvPr id="657" name="図 23" descr=""/>
          <p:cNvPicPr/>
          <p:nvPr/>
        </p:nvPicPr>
        <p:blipFill>
          <a:blip r:embed="rId6"/>
          <a:stretch/>
        </p:blipFill>
        <p:spPr>
          <a:xfrm>
            <a:off x="5697720" y="4687200"/>
            <a:ext cx="2426760" cy="1690560"/>
          </a:xfrm>
          <a:prstGeom prst="rect">
            <a:avLst/>
          </a:prstGeom>
          <a:noFill/>
          <a:ln w="0">
            <a:noFill/>
          </a:ln>
        </p:spPr>
      </p:pic>
      <p:pic>
        <p:nvPicPr>
          <p:cNvPr id="658" name="図 25" descr=""/>
          <p:cNvPicPr/>
          <p:nvPr/>
        </p:nvPicPr>
        <p:blipFill>
          <a:blip r:embed="rId7"/>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600" strike="noStrike" u="none">
                <a:solidFill>
                  <a:schemeClr val="lt1"/>
                </a:solidFill>
                <a:effectLst/>
                <a:uFillTx/>
                <a:latin typeface="メイリオ"/>
                <a:ea typeface="メイリオ"/>
              </a:rPr>
              <a:t>☑</a:t>
            </a:r>
            <a:endParaRPr b="0" lang="en-US" sz="3600" strike="noStrike" u="none">
              <a:solidFill>
                <a:srgbClr val="000000"/>
              </a:solidFill>
              <a:effectLst/>
              <a:uFillTx/>
              <a:latin typeface="Arial"/>
            </a:endParaRPr>
          </a:p>
        </p:txBody>
      </p:sp>
      <p:pic>
        <p:nvPicPr>
          <p:cNvPr id="660" name="Picture 2" descr="ロゴガイドライン｜LINEヤフー for Business"/>
          <p:cNvPicPr/>
          <p:nvPr/>
        </p:nvPicPr>
        <p:blipFill>
          <a:blip r:embed="rId8"/>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サポート体制（報告</a:t>
            </a:r>
            <a:r>
              <a:rPr b="1" lang="en-US" sz="1600" strike="noStrike" u="none">
                <a:solidFill>
                  <a:srgbClr val="002060"/>
                </a:solidFill>
                <a:effectLst/>
                <a:uFillTx/>
                <a:latin typeface="Meiryo"/>
                <a:ea typeface="Meiryo"/>
              </a:rPr>
              <a:t>FMT</a:t>
            </a:r>
            <a:r>
              <a:rPr b="1" lang="ja-JP" sz="1600" strike="noStrike" u="none">
                <a:solidFill>
                  <a:srgbClr val="002060"/>
                </a:solidFill>
                <a:effectLst/>
                <a:uFillTx/>
                <a:latin typeface="Meiryo"/>
                <a:ea typeface="Meiryo"/>
              </a:rPr>
              <a:t>）</a:t>
            </a:r>
            <a:endParaRPr b="0" lang="en-US" sz="1600" strike="noStrike" u="non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lt1"/>
                </a:solidFill>
                <a:effectLst/>
                <a:uFillTx/>
                <a:latin typeface="メイリオ"/>
                <a:ea typeface="メイリオ"/>
              </a:rPr>
              <a:t>レポートサンプル</a:t>
            </a:r>
            <a:endParaRPr b="0" lang="en-US" sz="2400" strike="noStrike" u="none">
              <a:solidFill>
                <a:srgbClr val="ffffff"/>
              </a:solidFill>
              <a:effectLst/>
              <a:uFillTx/>
              <a:latin typeface="Arial"/>
            </a:endParaRPr>
          </a:p>
          <a:p>
            <a:pPr algn="ctr" defTabSz="914400">
              <a:lnSpc>
                <a:spcPct val="100000"/>
              </a:lnSpc>
            </a:pPr>
            <a:r>
              <a:rPr b="0" lang="ja-JP" sz="1400" strike="noStrike" u="none">
                <a:solidFill>
                  <a:schemeClr val="lt1"/>
                </a:solidFill>
                <a:effectLst/>
                <a:uFillTx/>
                <a:latin typeface="メイリオ"/>
                <a:ea typeface="メイリオ"/>
              </a:rPr>
              <a:t>（貴社要望によりカスタマイズ予定）</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正方形/長方形 1"/>
          <p:cNvSpPr/>
          <p:nvPr/>
        </p:nvSpPr>
        <p:spPr>
          <a:xfrm>
            <a:off x="6757920" y="93600"/>
            <a:ext cx="1320480" cy="343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lt1"/>
                </a:solidFill>
                <a:effectLst/>
                <a:uFillTx/>
                <a:latin typeface="メイリオ"/>
                <a:ea typeface="メイリオ"/>
              </a:rPr>
              <a:t>効果計測</a:t>
            </a:r>
            <a:endParaRPr b="0" lang="en-US" sz="1100" strike="noStrike" u="none">
              <a:solidFill>
                <a:srgbClr val="000000"/>
              </a:solidFill>
              <a:effectLst/>
              <a:uFillTx/>
              <a:latin typeface="Arial"/>
            </a:endParaRPr>
          </a:p>
        </p:txBody>
      </p:sp>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pic>
        <p:nvPicPr>
          <p:cNvPr id="665" name="図 14" descr=""/>
          <p:cNvPicPr/>
          <p:nvPr/>
        </p:nvPicPr>
        <p:blipFill>
          <a:blip r:embed="rId1"/>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ツールなし</a:t>
            </a:r>
            <a:endParaRPr b="0" lang="en-US" sz="1200" strike="noStrike" u="non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ツールあり</a:t>
            </a:r>
            <a:endParaRPr b="0" lang="en-US" sz="1200" strike="noStrike" u="non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en-US" sz="1400" strike="noStrike" u="none">
                <a:solidFill>
                  <a:schemeClr val="dk1">
                    <a:lumMod val="50000"/>
                    <a:lumOff val="50000"/>
                  </a:schemeClr>
                </a:solidFill>
                <a:effectLst/>
                <a:uFillTx/>
                <a:latin typeface="メイリオ"/>
                <a:ea typeface="メイリオ"/>
              </a:rPr>
              <a:t>API</a:t>
            </a:r>
            <a:r>
              <a:rPr b="0" lang="ja-JP" sz="1400" strike="noStrike" u="none">
                <a:solidFill>
                  <a:schemeClr val="dk1">
                    <a:lumMod val="50000"/>
                    <a:lumOff val="50000"/>
                  </a:schemeClr>
                </a:solidFill>
                <a:effectLst/>
                <a:uFillTx/>
                <a:latin typeface="メイリオ"/>
                <a:ea typeface="メイリオ"/>
              </a:rPr>
              <a:t>ツール管理画面上にて</a:t>
            </a:r>
            <a:endParaRPr b="0" lang="en-US" sz="1400" strike="noStrike" u="none">
              <a:solidFill>
                <a:srgbClr val="000000"/>
              </a:solidFill>
              <a:effectLst/>
              <a:uFillTx/>
              <a:latin typeface="Arial"/>
            </a:endParaRPr>
          </a:p>
          <a:p>
            <a:pPr defTabSz="914400">
              <a:lnSpc>
                <a:spcPct val="100000"/>
              </a:lnSpc>
            </a:pPr>
            <a:r>
              <a:rPr b="0" lang="ja-JP" sz="1400" strike="noStrike" u="none">
                <a:solidFill>
                  <a:schemeClr val="dk1">
                    <a:lumMod val="50000"/>
                    <a:lumOff val="50000"/>
                  </a:schemeClr>
                </a:solidFill>
                <a:effectLst/>
                <a:uFillTx/>
                <a:latin typeface="メイリオ"/>
                <a:ea typeface="メイリオ"/>
              </a:rPr>
              <a:t>「特定期間に対する</a:t>
            </a: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数算出」が可能</a:t>
            </a:r>
            <a:endParaRPr b="0" lang="en-US" sz="1400" strike="noStrike" u="non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タグの設定に伴い、計測自体は可能だが</a:t>
            </a:r>
            <a:endParaRPr b="0" lang="en-US" sz="1400" strike="noStrike" u="none">
              <a:solidFill>
                <a:srgbClr val="000000"/>
              </a:solidFill>
              <a:effectLst/>
              <a:uFillTx/>
              <a:latin typeface="Arial"/>
            </a:endParaRPr>
          </a:p>
          <a:p>
            <a:pPr defTabSz="914400">
              <a:lnSpc>
                <a:spcPct val="100000"/>
              </a:lnSpc>
            </a:pP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数</a:t>
            </a:r>
            <a:r>
              <a:rPr b="0" lang="en-US" sz="1400" strike="noStrike" u="none">
                <a:solidFill>
                  <a:schemeClr val="dk1">
                    <a:lumMod val="50000"/>
                    <a:lumOff val="50000"/>
                  </a:schemeClr>
                </a:solidFill>
                <a:effectLst/>
                <a:uFillTx/>
                <a:latin typeface="メイリオ"/>
                <a:ea typeface="メイリオ"/>
              </a:rPr>
              <a:t>50</a:t>
            </a:r>
            <a:r>
              <a:rPr b="0" lang="ja-JP" sz="1400" strike="noStrike" u="none">
                <a:solidFill>
                  <a:schemeClr val="dk1">
                    <a:lumMod val="50000"/>
                    <a:lumOff val="50000"/>
                  </a:schemeClr>
                </a:solidFill>
                <a:effectLst/>
                <a:uFillTx/>
                <a:latin typeface="メイリオ"/>
                <a:ea typeface="メイリオ"/>
              </a:rPr>
              <a:t>件以上での数値計測となる（管理画面上）</a:t>
            </a:r>
            <a:endParaRPr b="0" lang="en-US" sz="1400" strike="noStrike" u="non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ja-JP" sz="1800" strike="noStrike" u="none">
                <a:solidFill>
                  <a:schemeClr val="dk1"/>
                </a:solidFill>
                <a:effectLst/>
                <a:uFillTx/>
                <a:latin typeface="メイリオ"/>
                <a:ea typeface="メイリオ"/>
              </a:rPr>
              <a:t>通常</a:t>
            </a:r>
            <a:endParaRPr b="0" lang="en-US" sz="1800" strike="noStrike" u="non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ツール有無</a:t>
            </a:r>
            <a:endParaRPr b="0" lang="en-US" sz="1200" strike="noStrike" u="none">
              <a:solidFill>
                <a:srgbClr val="ffffff"/>
              </a:solidFill>
              <a:effectLst/>
              <a:uFillTx/>
              <a:latin typeface="Arial"/>
            </a:endParaRPr>
          </a:p>
          <a:p>
            <a:pPr algn="ctr" defTabSz="914400">
              <a:lnSpc>
                <a:spcPct val="100000"/>
              </a:lnSpc>
            </a:pPr>
            <a:r>
              <a:rPr b="1" lang="ja-JP" sz="1200" strike="noStrike" u="none">
                <a:solidFill>
                  <a:schemeClr val="lt1"/>
                </a:solidFill>
                <a:effectLst/>
                <a:uFillTx/>
                <a:latin typeface="メイリオ"/>
                <a:ea typeface="メイリオ"/>
              </a:rPr>
              <a:t>に関わらず</a:t>
            </a:r>
            <a:endParaRPr b="0" lang="en-US" sz="1200" strike="noStrike" u="non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ja-JP" sz="1400" strike="noStrike" u="none">
                <a:solidFill>
                  <a:schemeClr val="dk1"/>
                </a:solidFill>
                <a:effectLst/>
                <a:uFillTx/>
                <a:latin typeface="メイリオ"/>
                <a:ea typeface="メイリオ"/>
              </a:rPr>
              <a:t>定期投稿、シナリオ、リッチメニュー等に設定の</a:t>
            </a:r>
            <a:endParaRPr b="0" lang="en-US" sz="1400" strike="noStrike" u="none">
              <a:solidFill>
                <a:srgbClr val="000000"/>
              </a:solidFill>
              <a:effectLst/>
              <a:uFillTx/>
              <a:latin typeface="Arial"/>
            </a:endParaRPr>
          </a:p>
          <a:p>
            <a:pPr defTabSz="914400">
              <a:lnSpc>
                <a:spcPct val="100000"/>
              </a:lnSpc>
            </a:pPr>
            <a:r>
              <a:rPr b="0" lang="ja-JP" sz="1400" strike="noStrike" u="none">
                <a:solidFill>
                  <a:schemeClr val="dk1"/>
                </a:solidFill>
                <a:effectLst/>
                <a:uFillTx/>
                <a:latin typeface="メイリオ"/>
                <a:ea typeface="メイリオ"/>
              </a:rPr>
              <a:t>リンクについて、</a:t>
            </a:r>
            <a:r>
              <a:rPr b="0" lang="en-US" sz="1400" strike="noStrike" u="none">
                <a:solidFill>
                  <a:srgbClr val="ff0000"/>
                </a:solidFill>
                <a:effectLst/>
                <a:uFillTx/>
                <a:latin typeface="メイリオ"/>
                <a:ea typeface="メイリオ"/>
              </a:rPr>
              <a:t>GA</a:t>
            </a:r>
            <a:r>
              <a:rPr b="0" lang="ja-JP" sz="1400" strike="noStrike" u="none">
                <a:solidFill>
                  <a:srgbClr val="ff0000"/>
                </a:solidFill>
                <a:effectLst/>
                <a:uFillTx/>
                <a:latin typeface="メイリオ"/>
                <a:ea typeface="メイリオ"/>
              </a:rPr>
              <a:t>、</a:t>
            </a:r>
            <a:r>
              <a:rPr b="0" lang="en-US" sz="1400" strike="noStrike" u="none">
                <a:solidFill>
                  <a:srgbClr val="ff0000"/>
                </a:solidFill>
                <a:effectLst/>
                <a:uFillTx/>
                <a:latin typeface="メイリオ"/>
                <a:ea typeface="メイリオ"/>
              </a:rPr>
              <a:t>MA</a:t>
            </a:r>
            <a:r>
              <a:rPr b="0" lang="ja-JP" sz="1400" strike="noStrike" u="none">
                <a:solidFill>
                  <a:srgbClr val="ff0000"/>
                </a:solidFill>
                <a:effectLst/>
                <a:uFillTx/>
                <a:latin typeface="メイリオ"/>
                <a:ea typeface="メイリオ"/>
              </a:rPr>
              <a:t>ツールでの計測可能</a:t>
            </a:r>
            <a:r>
              <a:rPr b="0" lang="ja-JP" sz="1400" strike="noStrike" u="none">
                <a:solidFill>
                  <a:schemeClr val="dk1"/>
                </a:solidFill>
                <a:effectLst/>
                <a:uFillTx/>
                <a:latin typeface="メイリオ"/>
                <a:ea typeface="メイリオ"/>
              </a:rPr>
              <a:t>に</a:t>
            </a:r>
            <a:endParaRPr b="0" lang="en-US" sz="1400" strike="noStrike" u="non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1800" strike="noStrike" u="none">
                <a:solidFill>
                  <a:schemeClr val="dk1"/>
                </a:solidFill>
                <a:effectLst/>
                <a:uFillTx/>
                <a:latin typeface="メイリオ"/>
                <a:ea typeface="メイリオ"/>
              </a:rPr>
              <a:t>DYM</a:t>
            </a:r>
            <a:endParaRPr b="0" lang="en-US" sz="1800" strike="noStrike" u="none">
              <a:solidFill>
                <a:srgbClr val="000000"/>
              </a:solidFill>
              <a:effectLst/>
              <a:uFillTx/>
              <a:latin typeface="Arial"/>
            </a:endParaRPr>
          </a:p>
        </p:txBody>
      </p:sp>
      <p:pic>
        <p:nvPicPr>
          <p:cNvPr id="675" name="図 26" descr=""/>
          <p:cNvPicPr/>
          <p:nvPr/>
        </p:nvPicPr>
        <p:blipFill>
          <a:blip r:embed="rId2"/>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GA</a:t>
            </a:r>
            <a:r>
              <a:rPr b="1" lang="ja-JP" sz="1400" strike="noStrike" u="none">
                <a:solidFill>
                  <a:schemeClr val="lt1"/>
                </a:solidFill>
                <a:effectLst/>
                <a:uFillTx/>
                <a:latin typeface="メイリオ"/>
                <a:ea typeface="メイリオ"/>
              </a:rPr>
              <a:t>レポート（日次）</a:t>
            </a:r>
            <a:r>
              <a:rPr b="1" lang="en-US" sz="1100" strike="noStrike" u="none">
                <a:solidFill>
                  <a:schemeClr val="lt1"/>
                </a:solidFill>
                <a:effectLst/>
                <a:uFillTx/>
                <a:latin typeface="メイリオ"/>
                <a:ea typeface="メイリオ"/>
              </a:rPr>
              <a:t> ※サンプル</a:t>
            </a:r>
            <a:endParaRPr b="0" lang="en-US" sz="1100" strike="noStrike" u="non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GA</a:t>
            </a:r>
            <a:r>
              <a:rPr b="1" lang="ja-JP" sz="1400" strike="noStrike" u="none">
                <a:solidFill>
                  <a:schemeClr val="lt1"/>
                </a:solidFill>
                <a:effectLst/>
                <a:uFillTx/>
                <a:latin typeface="メイリオ"/>
                <a:ea typeface="メイリオ"/>
              </a:rPr>
              <a:t>レポート（月次）</a:t>
            </a:r>
            <a:r>
              <a:rPr b="1" lang="en-US" sz="1100" strike="noStrike" u="none">
                <a:solidFill>
                  <a:schemeClr val="lt1"/>
                </a:solidFill>
                <a:effectLst/>
                <a:uFillTx/>
                <a:latin typeface="メイリオ"/>
                <a:ea typeface="メイリオ"/>
              </a:rPr>
              <a:t> ※サンプル</a:t>
            </a:r>
            <a:endParaRPr b="0" lang="en-US" sz="1100" strike="noStrike" u="non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r>
              <a:rPr b="0" lang="ja-JP" sz="1400" strike="noStrike" u="none">
                <a:solidFill>
                  <a:schemeClr val="dk1"/>
                </a:solidFill>
                <a:effectLst/>
                <a:uFillTx/>
                <a:latin typeface="メイリオ"/>
                <a:ea typeface="メイリオ"/>
              </a:rPr>
              <a:t>コンサル費用＋アカウント費用に対する効果を可視化し、課題点を都度確認できる体制に。</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投稿別</a:t>
            </a:r>
            <a:r>
              <a:rPr b="0" lang="en-US" sz="1400" strike="noStrike" u="none">
                <a:solidFill>
                  <a:schemeClr val="dk1"/>
                </a:solidFill>
                <a:effectLst/>
                <a:uFillTx/>
                <a:latin typeface="メイリオ"/>
                <a:ea typeface="メイリオ"/>
              </a:rPr>
              <a:t>×</a:t>
            </a:r>
            <a:r>
              <a:rPr b="0" lang="ja-JP" sz="1400" strike="noStrike" u="none">
                <a:solidFill>
                  <a:schemeClr val="dk1"/>
                </a:solidFill>
                <a:effectLst/>
                <a:uFillTx/>
                <a:latin typeface="メイリオ"/>
                <a:ea typeface="メイリオ"/>
              </a:rPr>
              <a:t>セグメント別でデータ化でき、</a:t>
            </a:r>
            <a:r>
              <a:rPr b="0" lang="en-US" sz="1400" strike="noStrike" u="none">
                <a:solidFill>
                  <a:schemeClr val="dk1"/>
                </a:solidFill>
                <a:effectLst/>
                <a:uFillTx/>
                <a:latin typeface="メイリオ"/>
                <a:ea typeface="メイリオ"/>
              </a:rPr>
              <a:t>AB</a:t>
            </a:r>
            <a:r>
              <a:rPr b="0" lang="ja-JP" sz="1400" strike="noStrike" u="none">
                <a:solidFill>
                  <a:schemeClr val="dk1"/>
                </a:solidFill>
                <a:effectLst/>
                <a:uFillTx/>
                <a:latin typeface="メイリオ"/>
                <a:ea typeface="メイリオ"/>
              </a:rPr>
              <a:t>テストとクリエイティブ検証を細かく実施。</a:t>
            </a:r>
            <a:endParaRPr b="0" lang="en-US" sz="1400" strike="noStrike" u="none">
              <a:solidFill>
                <a:srgbClr val="000000"/>
              </a:solidFill>
              <a:effectLst/>
              <a:uFillTx/>
              <a:latin typeface="Arial"/>
            </a:endParaRPr>
          </a:p>
        </p:txBody>
      </p:sp>
      <p:sp>
        <p:nvSpPr>
          <p:cNvPr id="68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サポート体制（報告</a:t>
            </a:r>
            <a:r>
              <a:rPr b="1" lang="en-US" sz="1600" strike="noStrike" u="none">
                <a:solidFill>
                  <a:srgbClr val="002060"/>
                </a:solidFill>
                <a:effectLst/>
                <a:uFillTx/>
                <a:latin typeface="Meiryo"/>
                <a:ea typeface="Meiryo"/>
              </a:rPr>
              <a:t>FMT</a:t>
            </a:r>
            <a:r>
              <a:rPr b="1" lang="ja-JP" sz="1600" strike="noStrike" u="none">
                <a:solidFill>
                  <a:srgbClr val="002060"/>
                </a:solidFill>
                <a:effectLst/>
                <a:uFillTx/>
                <a:latin typeface="Meiryo"/>
                <a:ea typeface="Meiryo"/>
              </a:rPr>
              <a:t>）</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600" strike="noStrike" u="none">
                <a:solidFill>
                  <a:schemeClr val="lt1"/>
                </a:solidFill>
                <a:effectLst/>
                <a:uFillTx/>
                <a:latin typeface="メイリオ"/>
                <a:ea typeface="メイリオ"/>
              </a:rPr>
              <a:t>弊社体制図</a:t>
            </a:r>
            <a:endParaRPr b="0" lang="en-US" sz="1600" strike="noStrike" u="non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chemeClr val="dk1">
                    <a:lumMod val="65000"/>
                    <a:lumOff val="35000"/>
                  </a:schemeClr>
                </a:solidFill>
                <a:effectLst/>
                <a:uFillTx/>
                <a:latin typeface="Meiryo"/>
                <a:ea typeface="Meiryo"/>
              </a:rPr>
              <a:t>GA</a:t>
            </a:r>
            <a:r>
              <a:rPr b="1" lang="ja-JP" sz="1600" strike="noStrike" u="none">
                <a:solidFill>
                  <a:schemeClr val="dk1">
                    <a:lumMod val="65000"/>
                    <a:lumOff val="35000"/>
                  </a:schemeClr>
                </a:solidFill>
                <a:effectLst/>
                <a:uFillTx/>
                <a:latin typeface="Meiryo"/>
                <a:ea typeface="Meiryo"/>
              </a:rPr>
              <a:t>及び</a:t>
            </a:r>
            <a:r>
              <a:rPr b="1" lang="en-US" sz="1600" strike="noStrike" u="none">
                <a:solidFill>
                  <a:schemeClr val="dk1">
                    <a:lumMod val="65000"/>
                    <a:lumOff val="35000"/>
                  </a:schemeClr>
                </a:solidFill>
                <a:effectLst/>
                <a:uFillTx/>
                <a:latin typeface="Meiryo"/>
                <a:ea typeface="Meiryo"/>
              </a:rPr>
              <a:t>MA</a:t>
            </a:r>
            <a:r>
              <a:rPr b="1" lang="ja-JP" sz="1600" strike="noStrike" u="none">
                <a:solidFill>
                  <a:schemeClr val="dk1">
                    <a:lumMod val="65000"/>
                    <a:lumOff val="35000"/>
                  </a:schemeClr>
                </a:solidFill>
                <a:effectLst/>
                <a:uFillTx/>
                <a:latin typeface="Meiryo"/>
                <a:ea typeface="Meiryo"/>
              </a:rPr>
              <a:t>ツール両面での計測ができるようパラメータ管理。</a:t>
            </a:r>
            <a:endParaRPr b="0" lang="en-US" sz="1600" strike="noStrike" u="none">
              <a:solidFill>
                <a:srgbClr val="000000"/>
              </a:solidFill>
              <a:effectLst/>
              <a:uFillTx/>
              <a:latin typeface="Arial"/>
            </a:endParaRPr>
          </a:p>
          <a:p>
            <a:pPr defTabSz="914400">
              <a:lnSpc>
                <a:spcPct val="100000"/>
              </a:lnSpc>
              <a:tabLst>
                <a:tab algn="l" pos="0"/>
              </a:tabLst>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公式アカウントの管理画面には出ない、サイト上の結果を紐づけ。</a:t>
            </a:r>
            <a:endParaRPr b="0" lang="en-US" sz="1600" strike="noStrike" u="none">
              <a:solidFill>
                <a:srgbClr val="000000"/>
              </a:solidFill>
              <a:effectLst/>
              <a:uFillTx/>
              <a:latin typeface="Arial"/>
            </a:endParaRPr>
          </a:p>
        </p:txBody>
      </p:sp>
      <p:sp>
        <p:nvSpPr>
          <p:cNvPr id="684"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体制図（イメージ）</a:t>
            </a:r>
            <a:endParaRPr b="0" lang="en-US" sz="1600" strike="noStrike" u="none">
              <a:solidFill>
                <a:srgbClr val="000000"/>
              </a:solidFill>
              <a:effectLst/>
              <a:uFillTx/>
              <a:latin typeface="Arial"/>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r>
              <a:rPr b="0" lang="ja-JP"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・本プロモーションの戦略立案 </a:t>
            </a:r>
            <a:r>
              <a:rPr b="0" lang="en-US"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方針決定</a:t>
            </a:r>
            <a:endParaRPr b="0" lang="en-US" sz="1200" strike="noStrike" u="non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3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・アカウント設計</a:t>
            </a: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・運用調整</a:t>
            </a:r>
            <a:endParaRPr b="0" lang="en-US" sz="1100" strike="noStrike" u="non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ja-JP" sz="1350" strike="noStrike" u="none">
                <a:solidFill>
                  <a:srgbClr val="ffffff"/>
                </a:solidFill>
                <a:effectLst/>
                <a:uFillTx/>
                <a:latin typeface="メイリオ"/>
                <a:ea typeface="メイリオ"/>
              </a:rPr>
              <a:t>リス・</a:t>
            </a:r>
            <a:r>
              <a:rPr b="1" lang="en-US" sz="1350" strike="noStrike" u="none">
                <a:solidFill>
                  <a:srgbClr val="ffffff"/>
                </a:solidFill>
                <a:effectLst/>
                <a:uFillTx/>
                <a:latin typeface="メイリオ"/>
                <a:ea typeface="メイリオ"/>
              </a:rPr>
              <a:t>SNS</a:t>
            </a:r>
            <a:r>
              <a:rPr b="1" lang="ja-JP" sz="1350" strike="noStrike" u="none">
                <a:solidFill>
                  <a:srgbClr val="ffffff"/>
                </a:solidFill>
                <a:effectLst/>
                <a:uFillTx/>
                <a:latin typeface="メイリオ"/>
                <a:ea typeface="メイリオ"/>
              </a:rPr>
              <a:t>運用</a:t>
            </a:r>
            <a:endParaRPr b="0" lang="en-US" sz="1350" strike="noStrike" u="non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r>
              <a:rPr b="0" lang="en-US" sz="1200" strike="noStrike" u="none">
                <a:solidFill>
                  <a:srgbClr val="1a1a1a"/>
                </a:solidFill>
                <a:effectLst/>
                <a:uFillTx/>
                <a:latin typeface="メイリオ"/>
                <a:ea typeface="メイリオ"/>
              </a:rPr>
              <a:t>  ・運用調整</a:t>
            </a:r>
            <a:endParaRPr b="0" lang="en-US" sz="1200" strike="noStrike" u="none">
              <a:solidFill>
                <a:srgbClr val="000000"/>
              </a:solidFill>
              <a:effectLst/>
              <a:uFillTx/>
              <a:latin typeface="Arial"/>
            </a:endParaRPr>
          </a:p>
          <a:p>
            <a:pPr defTabSz="914400">
              <a:lnSpc>
                <a:spcPct val="100000"/>
              </a:lnSpc>
            </a:pPr>
            <a:r>
              <a:rPr b="0" lang="en-US" sz="1200" strike="noStrike" u="none">
                <a:solidFill>
                  <a:srgbClr val="1a1a1a"/>
                </a:solidFill>
                <a:effectLst/>
                <a:uFillTx/>
                <a:latin typeface="メイリオ"/>
                <a:ea typeface="メイリオ"/>
              </a:rPr>
              <a:t> ・入稿作業</a:t>
            </a:r>
            <a:endParaRPr b="0" lang="en-US" sz="1200" strike="noStrike" u="non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200" strike="noStrike" u="none">
                <a:solidFill>
                  <a:srgbClr val="ffffff"/>
                </a:solidFill>
                <a:effectLst/>
                <a:uFillTx/>
                <a:latin typeface="メイリオ"/>
                <a:ea typeface="メイリオ"/>
              </a:rPr>
              <a:t>運用サポート</a:t>
            </a:r>
            <a:endParaRPr b="0" lang="en-US" sz="1200" strike="noStrike" u="non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1050" strike="noStrike" u="non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・バナー制作</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a:t>
            </a:r>
            <a:r>
              <a:rPr b="0" lang="en-US" sz="1200" strike="noStrike" u="none">
                <a:solidFill>
                  <a:srgbClr val="1a1a1a"/>
                </a:solidFill>
                <a:effectLst/>
                <a:uFillTx/>
                <a:latin typeface="メイリオ"/>
                <a:ea typeface="メイリオ"/>
              </a:rPr>
              <a:t>LP</a:t>
            </a:r>
            <a:r>
              <a:rPr b="0" lang="zh-CN" sz="1200" strike="noStrike" u="none">
                <a:solidFill>
                  <a:srgbClr val="1a1a1a"/>
                </a:solidFill>
                <a:effectLst/>
                <a:uFillTx/>
                <a:latin typeface="メイリオ"/>
                <a:ea typeface="メイリオ"/>
              </a:rPr>
              <a:t>制作</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・動画制作</a:t>
            </a:r>
            <a:endParaRPr b="0" lang="en-US" sz="1200" strike="noStrike" u="non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200" strike="noStrike" u="none">
                <a:solidFill>
                  <a:srgbClr val="ffffff"/>
                </a:solidFill>
                <a:effectLst/>
                <a:uFillTx/>
                <a:latin typeface="メイリオ"/>
                <a:ea typeface="メイリオ"/>
              </a:rPr>
              <a:t>制作</a:t>
            </a:r>
            <a:endParaRPr b="0" lang="en-US" sz="1200" strike="noStrike" u="non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fillRef idx="0"/>
          <a:effectRef idx="0"/>
          <a:fontRef idx="minor"/>
        </p:style>
        <p:txBody>
          <a:bodyPr lIns="90000" rIns="9000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媒体担当</a:t>
            </a:r>
            <a:endParaRPr b="0" lang="en-US" sz="1200" strike="noStrike" u="non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・アカウント設計</a:t>
            </a:r>
            <a:r>
              <a:rPr b="0" lang="ja-JP" sz="1100" strike="noStrike" u="none">
                <a:solidFill>
                  <a:srgbClr val="1a1a1a"/>
                </a:solidFill>
                <a:effectLst/>
                <a:uFillTx/>
                <a:latin typeface="メイリオ"/>
                <a:ea typeface="メイリオ"/>
              </a:rPr>
              <a:t>・運用調整</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1a1a1a"/>
                </a:solidFill>
                <a:effectLst/>
                <a:uFillTx/>
                <a:latin typeface="メイリオ"/>
                <a:ea typeface="メイリオ"/>
              </a:rPr>
              <a:t>・クリエイティブディレクション</a:t>
            </a: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en-US" sz="1350" strike="noStrike" u="none">
                <a:solidFill>
                  <a:srgbClr val="ffffff"/>
                </a:solidFill>
                <a:effectLst/>
                <a:uFillTx/>
                <a:latin typeface="メイリオ"/>
                <a:ea typeface="メイリオ"/>
              </a:rPr>
              <a:t>LINEOA</a:t>
            </a:r>
            <a:r>
              <a:rPr b="1" lang="zh-CN" sz="1350" strike="noStrike" u="none">
                <a:solidFill>
                  <a:srgbClr val="ffffff"/>
                </a:solidFill>
                <a:effectLst/>
                <a:uFillTx/>
                <a:latin typeface="メイリオ"/>
                <a:ea typeface="メイリオ"/>
              </a:rPr>
              <a:t>運用</a:t>
            </a:r>
            <a:endParaRPr b="0" lang="en-US" sz="1350" strike="noStrike" u="non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t">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・貴社担当との連絡やり取り全般</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・書</a:t>
            </a:r>
            <a:r>
              <a:rPr b="0" lang="ja-JP" sz="1200" strike="noStrike" u="none">
                <a:solidFill>
                  <a:srgbClr val="1a1a1a"/>
                </a:solidFill>
                <a:effectLst/>
                <a:uFillTx/>
                <a:latin typeface="メイリオ"/>
                <a:ea typeface="メイリオ"/>
              </a:rPr>
              <a:t>類の作成等、事務面までサポート</a:t>
            </a:r>
            <a:endParaRPr b="0" lang="en-US" sz="1200" strike="noStrike" u="non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350" strike="noStrike" u="none">
                <a:solidFill>
                  <a:srgbClr val="ffffff"/>
                </a:solidFill>
                <a:effectLst/>
                <a:uFillTx/>
                <a:latin typeface="メイリオ"/>
                <a:ea typeface="メイリオ"/>
              </a:rPr>
              <a:t>営業 </a:t>
            </a:r>
            <a:r>
              <a:rPr b="1" lang="en-US" sz="1350" strike="noStrike" u="none">
                <a:solidFill>
                  <a:srgbClr val="ffffff"/>
                </a:solidFill>
                <a:effectLst/>
                <a:uFillTx/>
                <a:latin typeface="メイリオ"/>
                <a:ea typeface="メイリオ"/>
              </a:rPr>
              <a:t>/ </a:t>
            </a:r>
            <a:r>
              <a:rPr b="1" lang="zh-CN" sz="1350" strike="noStrike" u="none">
                <a:solidFill>
                  <a:srgbClr val="ffffff"/>
                </a:solidFill>
                <a:effectLst/>
                <a:uFillTx/>
                <a:latin typeface="メイリオ"/>
                <a:ea typeface="メイリオ"/>
              </a:rPr>
              <a:t>フロント対応（サブ）</a:t>
            </a:r>
            <a:endParaRPr b="0" lang="en-US" sz="1350" strike="noStrike" u="non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ja-JP" sz="1350" strike="noStrike" u="none">
                <a:solidFill>
                  <a:srgbClr val="ffffff"/>
                </a:solidFill>
                <a:effectLst/>
                <a:uFillTx/>
                <a:latin typeface="メイリオ"/>
                <a:ea typeface="メイリオ"/>
              </a:rPr>
              <a:t>広告運用統括・コンサル</a:t>
            </a:r>
            <a:endParaRPr b="0" lang="en-US" sz="1350" strike="noStrike" u="non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t">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ja-JP" sz="1200" strike="noStrike" u="none">
                <a:solidFill>
                  <a:srgbClr val="1a1a1a"/>
                </a:solidFill>
                <a:effectLst/>
                <a:uFillTx/>
                <a:latin typeface="メイリオ"/>
                <a:ea typeface="メイリオ"/>
              </a:rPr>
              <a:t>　・本プロモーションの戦略立案 </a:t>
            </a:r>
            <a:r>
              <a:rPr b="0" lang="en-US"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方針決定　　　　・貴社ご担当者様との連絡やり取り全般</a:t>
            </a:r>
            <a:endParaRPr b="0" lang="en-US" sz="1200" strike="noStrike" u="non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350" strike="noStrike" u="none">
                <a:solidFill>
                  <a:srgbClr val="ffffff"/>
                </a:solidFill>
                <a:effectLst/>
                <a:uFillTx/>
                <a:latin typeface="メイリオ"/>
                <a:ea typeface="メイリオ"/>
              </a:rPr>
              <a:t>営業 </a:t>
            </a:r>
            <a:r>
              <a:rPr b="1" lang="en-US" sz="1350" strike="noStrike" u="none">
                <a:solidFill>
                  <a:srgbClr val="ffffff"/>
                </a:solidFill>
                <a:effectLst/>
                <a:uFillTx/>
                <a:latin typeface="メイリオ"/>
                <a:ea typeface="メイリオ"/>
              </a:rPr>
              <a:t>/ </a:t>
            </a:r>
            <a:r>
              <a:rPr b="1" lang="zh-CN" sz="1350" strike="noStrike" u="none">
                <a:solidFill>
                  <a:srgbClr val="ffffff"/>
                </a:solidFill>
                <a:effectLst/>
                <a:uFillTx/>
                <a:latin typeface="メイリオ"/>
                <a:ea typeface="メイリオ"/>
              </a:rPr>
              <a:t>フロント対応（</a:t>
            </a:r>
            <a:r>
              <a:rPr b="1" lang="ja-JP" sz="1350" strike="noStrike" u="none">
                <a:solidFill>
                  <a:srgbClr val="ffffff"/>
                </a:solidFill>
                <a:effectLst/>
                <a:uFillTx/>
                <a:latin typeface="メイリオ"/>
                <a:ea typeface="メイリオ"/>
              </a:rPr>
              <a:t>全体統括）　</a:t>
            </a:r>
            <a:endParaRPr b="0" lang="en-US" sz="1350" strike="noStrike" u="non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fillRef idx="0"/>
          <a:effectRef idx="0"/>
          <a:fontRef idx="minor"/>
        </p:style>
        <p:txBody>
          <a:bodyPr lIns="90000" rIns="90000" tIns="45000" bIns="45000" anchor="ctr">
            <a:noAutofit/>
          </a:bodyPr>
          <a:p>
            <a:pPr algn="ctr" defTabSz="914400">
              <a:lnSpc>
                <a:spcPct val="100000"/>
              </a:lnSpc>
            </a:pPr>
            <a:endParaRPr b="0" lang="en-US" sz="1200" strike="noStrike" u="non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704" name="Picture 2" descr=""/>
          <p:cNvPicPr/>
          <p:nvPr/>
        </p:nvPicPr>
        <p:blipFill>
          <a:blip r:embed="rId1"/>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2"/>
          <a:stretch/>
        </p:blipFill>
        <p:spPr>
          <a:xfrm>
            <a:off x="4973040" y="4459680"/>
            <a:ext cx="2356920" cy="855360"/>
          </a:xfrm>
          <a:prstGeom prst="rect">
            <a:avLst/>
          </a:prstGeom>
          <a:noFill/>
          <a:ln w="0">
            <a:noFill/>
          </a:ln>
        </p:spPr>
      </p:pic>
      <p:pic>
        <p:nvPicPr>
          <p:cNvPr id="706" name="図 48" descr=""/>
          <p:cNvPicPr/>
          <p:nvPr/>
        </p:nvPicPr>
        <p:blipFill>
          <a:blip r:embed="rId3"/>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4"/>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fillRef idx="0"/>
          <a:effectRef idx="0"/>
          <a:fontRef idx="minor"/>
        </p:style>
        <p:txBody>
          <a:bodyPr numCol="1" spcCol="0" anchor="t">
            <a:noAutofit/>
          </a:bodyPr>
          <a:p>
            <a:pPr defTabSz="914400">
              <a:lnSpc>
                <a:spcPct val="100000"/>
              </a:lnSpc>
            </a:pPr>
            <a:endParaRPr b="0" lang="en-US" sz="1800" strike="noStrike" u="none">
              <a:solidFill>
                <a:schemeClr val="dk1"/>
              </a:solidFill>
              <a:effectLst/>
              <a:uFillTx/>
              <a:latin typeface="Calibri"/>
            </a:endParaRPr>
          </a:p>
        </p:txBody>
      </p:sp>
      <p:pic>
        <p:nvPicPr>
          <p:cNvPr id="709" name="グラフィックス 54" descr=""/>
          <p:cNvPicPr/>
          <p:nvPr/>
        </p:nvPicPr>
        <p:blipFill>
          <a:blip r:embed="rId5">
            <a:extLst>
              <a:ext uri="{96DAC541-7B7A-43D3-8B79-37D633B846F1}">
                <asvg:svgBlip xmlns:asvg="http://schemas.microsoft.com/office/drawing/2016/SVG/main" r:embed="rId6"/>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7"/>
          <a:srcRect l="0" t="0" r="70057" b="0"/>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運用スケジュール</a:t>
            </a:r>
            <a:endParaRPr b="0" lang="en-US" sz="1600" strike="noStrike" u="none">
              <a:solidFill>
                <a:srgbClr val="000000"/>
              </a:solidFill>
              <a:effectLst/>
              <a:uFillTx/>
              <a:latin typeface="Arial"/>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STEP1</a:t>
            </a:r>
            <a:endParaRPr b="0" lang="en-US" sz="1800" strike="noStrike" u="non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STEP3</a:t>
            </a:r>
            <a:endParaRPr b="0" lang="en-US" sz="1800" strike="noStrike" u="non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STEP2</a:t>
            </a:r>
            <a:endParaRPr b="0" lang="en-US" sz="1800" strike="noStrike" u="non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STEP4</a:t>
            </a:r>
            <a:endParaRPr b="0" lang="en-US" sz="1800" strike="noStrike" u="non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STEP5</a:t>
            </a:r>
            <a:endParaRPr b="0" lang="en-US" sz="1800" strike="noStrike" u="non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お申込み（書類締結）</a:t>
            </a:r>
            <a:endParaRPr b="0" lang="en-US" sz="1800" strike="noStrike" u="non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連携の設定 </a:t>
            </a:r>
            <a:r>
              <a:rPr b="0" lang="en-US" sz="1800" strike="noStrike" u="none">
                <a:solidFill>
                  <a:schemeClr val="lt1">
                    <a:lumMod val="50000"/>
                  </a:schemeClr>
                </a:solidFill>
                <a:effectLst/>
                <a:uFillTx/>
                <a:latin typeface="メイリオ"/>
                <a:ea typeface="メイリオ"/>
              </a:rPr>
              <a:t>/ </a:t>
            </a:r>
            <a:r>
              <a:rPr b="0" lang="ja-JP" sz="1800" strike="noStrike" u="none">
                <a:solidFill>
                  <a:schemeClr val="lt1">
                    <a:lumMod val="50000"/>
                  </a:schemeClr>
                </a:solidFill>
                <a:effectLst/>
                <a:uFillTx/>
                <a:latin typeface="メイリオ"/>
                <a:ea typeface="メイリオ"/>
              </a:rPr>
              <a:t>タグ確認</a:t>
            </a:r>
            <a:endParaRPr b="0" lang="en-US" sz="1800" strike="noStrike" u="non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キックオフ</a:t>
            </a:r>
            <a:r>
              <a:rPr b="0" lang="en-US" sz="1800" strike="noStrike" u="none">
                <a:solidFill>
                  <a:schemeClr val="lt1">
                    <a:lumMod val="50000"/>
                  </a:schemeClr>
                </a:solidFill>
                <a:effectLst/>
                <a:uFillTx/>
                <a:latin typeface="メイリオ"/>
                <a:ea typeface="メイリオ"/>
              </a:rPr>
              <a:t>MTG</a:t>
            </a:r>
            <a:endParaRPr b="0" lang="en-US" sz="1800" strike="noStrike" u="non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初期設計の構築</a:t>
            </a:r>
            <a:endParaRPr b="0" lang="en-US" sz="1800" strike="noStrike" u="non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運用開始</a:t>
            </a:r>
            <a:endParaRPr b="0" lang="en-US" sz="1800" strike="noStrike" u="non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2400" strike="noStrike" u="none">
                <a:solidFill>
                  <a:schemeClr val="dk1"/>
                </a:solidFill>
                <a:effectLst/>
                <a:uFillTx/>
                <a:latin typeface="メイリオ"/>
                <a:ea typeface="メイリオ"/>
              </a:rPr>
              <a:t>サイト</a:t>
            </a:r>
            <a:r>
              <a:rPr b="0" lang="en-US" sz="2400" strike="noStrike" u="none">
                <a:solidFill>
                  <a:schemeClr val="dk1"/>
                </a:solidFill>
                <a:effectLst/>
                <a:uFillTx/>
                <a:latin typeface="メイリオ"/>
                <a:ea typeface="メイリオ"/>
              </a:rPr>
              <a:t>/LINE</a:t>
            </a:r>
            <a:r>
              <a:rPr b="0" lang="ja-JP" sz="2400" strike="noStrike" u="none">
                <a:solidFill>
                  <a:schemeClr val="dk1"/>
                </a:solidFill>
                <a:effectLst/>
                <a:uFillTx/>
                <a:latin typeface="メイリオ"/>
                <a:ea typeface="メイリオ"/>
              </a:rPr>
              <a:t>上への実装については、約</a:t>
            </a:r>
            <a:r>
              <a:rPr b="0" lang="en-US" sz="2400" strike="noStrike" u="none">
                <a:solidFill>
                  <a:schemeClr val="dk1"/>
                </a:solidFill>
                <a:effectLst/>
                <a:uFillTx/>
                <a:latin typeface="メイリオ"/>
                <a:ea typeface="メイリオ"/>
              </a:rPr>
              <a:t>1</a:t>
            </a:r>
            <a:r>
              <a:rPr b="0" lang="ja-JP" sz="2400" strike="noStrike" u="none">
                <a:solidFill>
                  <a:schemeClr val="dk1"/>
                </a:solidFill>
                <a:effectLst/>
                <a:uFillTx/>
                <a:latin typeface="メイリオ"/>
                <a:ea typeface="メイリオ"/>
              </a:rPr>
              <a:t>か月程度を頂き進行。</a:t>
            </a:r>
            <a:endParaRPr b="0" lang="en-US" sz="2400" strike="noStrike" u="non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200" strike="noStrike" u="none">
                <a:solidFill>
                  <a:schemeClr val="dk1">
                    <a:lumMod val="50000"/>
                    <a:lumOff val="50000"/>
                  </a:schemeClr>
                </a:solidFill>
                <a:effectLst/>
                <a:uFillTx/>
                <a:latin typeface="メイリオ"/>
                <a:ea typeface="メイリオ"/>
              </a:rPr>
              <a:t>※</a:t>
            </a:r>
            <a:r>
              <a:rPr b="0" lang="ja-JP" sz="1200" strike="noStrike" u="none">
                <a:solidFill>
                  <a:schemeClr val="dk1">
                    <a:lumMod val="50000"/>
                    <a:lumOff val="50000"/>
                  </a:schemeClr>
                </a:solidFill>
                <a:effectLst/>
                <a:uFillTx/>
                <a:latin typeface="メイリオ"/>
                <a:ea typeface="メイリオ"/>
              </a:rPr>
              <a:t>貴社作業・確認にかかる時間により前後する可能性がございます。</a:t>
            </a:r>
            <a:endParaRPr b="0" lang="en-US" sz="1200" strike="noStrike" u="non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len="med" type="triangle" w="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fillRef idx="0"/>
          <a:effectRef idx="0"/>
          <a:fontRef idx="minor"/>
        </p:style>
        <p:txBody>
          <a:bodyPr wrap="none" lIns="90000" rIns="90000" tIns="45000" bIns="45000" anchor="t">
            <a:spAutoFit/>
          </a:bodyPr>
          <a:p>
            <a:pPr defTabSz="914400">
              <a:lnSpc>
                <a:spcPct val="100000"/>
              </a:lnSpc>
            </a:pPr>
            <a:r>
              <a:rPr b="0" lang="ja-JP" sz="1200" strike="noStrike" u="none">
                <a:solidFill>
                  <a:schemeClr val="dk1"/>
                </a:solidFill>
                <a:effectLst/>
                <a:uFillTx/>
                <a:latin typeface="メイリオ"/>
                <a:ea typeface="メイリオ"/>
              </a:rPr>
              <a:t>約</a:t>
            </a:r>
            <a:r>
              <a:rPr b="0" lang="en-US" sz="1200" strike="noStrike" u="none">
                <a:solidFill>
                  <a:schemeClr val="dk1"/>
                </a:solidFill>
                <a:effectLst/>
                <a:uFillTx/>
                <a:latin typeface="メイリオ"/>
                <a:ea typeface="メイリオ"/>
              </a:rPr>
              <a:t>1</a:t>
            </a:r>
            <a:r>
              <a:rPr b="0" lang="ja-JP" sz="1200" strike="noStrike" u="none">
                <a:solidFill>
                  <a:schemeClr val="dk1"/>
                </a:solidFill>
                <a:effectLst/>
                <a:uFillTx/>
                <a:latin typeface="メイリオ"/>
                <a:ea typeface="メイリオ"/>
              </a:rPr>
              <a:t>か月</a:t>
            </a:r>
            <a:endParaRPr b="0" lang="en-US" sz="1200" strike="noStrike" u="non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800" strike="noStrike" u="none">
                <a:solidFill>
                  <a:schemeClr val="lt1">
                    <a:lumMod val="50000"/>
                  </a:schemeClr>
                </a:solidFill>
                <a:effectLst/>
                <a:uFillTx/>
                <a:latin typeface="メイリオ"/>
                <a:ea typeface="メイリオ"/>
              </a:rPr>
              <a:t>オーディエンスリスト作成</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タグ設定</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GA</a:t>
            </a:r>
            <a:r>
              <a:rPr b="0" lang="ja-JP" sz="800" strike="noStrike" u="none">
                <a:solidFill>
                  <a:schemeClr val="lt1">
                    <a:lumMod val="50000"/>
                  </a:schemeClr>
                </a:solidFill>
                <a:effectLst/>
                <a:uFillTx/>
                <a:latin typeface="メイリオ"/>
                <a:ea typeface="メイリオ"/>
              </a:rPr>
              <a:t>設定</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etc...</a:t>
            </a:r>
            <a:endParaRPr b="0" lang="en-US" sz="800" strike="noStrike" u="non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800" strike="noStrike" u="none">
                <a:solidFill>
                  <a:schemeClr val="lt1">
                    <a:lumMod val="50000"/>
                  </a:schemeClr>
                </a:solidFill>
                <a:effectLst/>
                <a:uFillTx/>
                <a:latin typeface="メイリオ"/>
                <a:ea typeface="メイリオ"/>
              </a:rPr>
              <a:t>リッチメニュー作成</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アンケート設計</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シナリオ設計</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etc...</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737" name="正方形/長方形 1"/>
          <p:cNvSpPr/>
          <p:nvPr/>
        </p:nvSpPr>
        <p:spPr>
          <a:xfrm>
            <a:off x="1460880" y="3038040"/>
            <a:ext cx="69843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3200" strike="noStrike" u="none">
                <a:solidFill>
                  <a:schemeClr val="dk1">
                    <a:lumMod val="75000"/>
                    <a:lumOff val="25000"/>
                  </a:schemeClr>
                </a:solidFill>
                <a:effectLst/>
                <a:uFillTx/>
                <a:latin typeface="メイリオ"/>
                <a:ea typeface="メイリオ"/>
              </a:rPr>
              <a:t>LINE</a:t>
            </a:r>
            <a:r>
              <a:rPr b="1" lang="ja-JP" sz="3200" strike="noStrike" u="none">
                <a:solidFill>
                  <a:schemeClr val="dk1">
                    <a:lumMod val="75000"/>
                    <a:lumOff val="25000"/>
                  </a:schemeClr>
                </a:solidFill>
                <a:effectLst/>
                <a:uFillTx/>
                <a:latin typeface="メイリオ"/>
                <a:ea typeface="メイリオ"/>
              </a:rPr>
              <a:t>公式アカウント運用のメリット</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ファン化・自社アプリ登録に対して、</a:t>
            </a:r>
            <a:r>
              <a:rPr b="0" lang="en-US" sz="1400" strike="noStrike" u="none">
                <a:solidFill>
                  <a:srgbClr val="343434"/>
                </a:solidFill>
                <a:effectLst/>
                <a:uFillTx/>
                <a:latin typeface="メイリオ"/>
                <a:ea typeface="メイリオ"/>
              </a:rPr>
              <a:t>”ハードルが高く感じる”ユーザーが増えている状況。</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離脱防止 </a:t>
            </a:r>
            <a:r>
              <a:rPr b="0" lang="en-US" sz="1400" strike="noStrike" u="none">
                <a:solidFill>
                  <a:srgbClr val="343434"/>
                </a:solidFill>
                <a:effectLst/>
                <a:uFillTx/>
                <a:latin typeface="メイリオ"/>
                <a:ea typeface="メイリオ"/>
              </a:rPr>
              <a:t>&gt;&gt; </a:t>
            </a:r>
            <a:r>
              <a:rPr b="0" lang="ja-JP" sz="1400" strike="noStrike" u="none">
                <a:solidFill>
                  <a:srgbClr val="343434"/>
                </a:solidFill>
                <a:effectLst/>
                <a:uFillTx/>
                <a:latin typeface="メイリオ"/>
                <a:ea typeface="メイリオ"/>
              </a:rPr>
              <a:t>友だち追加 </a:t>
            </a:r>
            <a:r>
              <a:rPr b="0" lang="en-US" sz="1400" strike="noStrike" u="none">
                <a:solidFill>
                  <a:srgbClr val="343434"/>
                </a:solidFill>
                <a:effectLst/>
                <a:uFillTx/>
                <a:latin typeface="メイリオ"/>
                <a:ea typeface="メイリオ"/>
              </a:rPr>
              <a:t>&gt;&gt; LINE</a:t>
            </a:r>
            <a:r>
              <a:rPr b="0" lang="ja-JP" sz="1400" strike="noStrike" u="none">
                <a:solidFill>
                  <a:srgbClr val="343434"/>
                </a:solidFill>
                <a:effectLst/>
                <a:uFillTx/>
                <a:latin typeface="メイリオ"/>
                <a:ea typeface="メイリオ"/>
              </a:rPr>
              <a:t>で学習 </a:t>
            </a:r>
            <a:r>
              <a:rPr b="0" lang="en-US" sz="1400" strike="noStrike" u="none">
                <a:solidFill>
                  <a:srgbClr val="343434"/>
                </a:solidFill>
                <a:effectLst/>
                <a:uFillTx/>
                <a:latin typeface="メイリオ"/>
                <a:ea typeface="メイリオ"/>
              </a:rPr>
              <a:t>&gt;&gt; </a:t>
            </a:r>
            <a:r>
              <a:rPr b="0" lang="ja-JP" sz="1400" strike="noStrike" u="none">
                <a:solidFill>
                  <a:srgbClr val="343434"/>
                </a:solidFill>
                <a:effectLst/>
                <a:uFillTx/>
                <a:latin typeface="メイリオ"/>
                <a:ea typeface="メイリオ"/>
              </a:rPr>
              <a:t>リード獲得・利用 の導線設計でハードル抑えつつ運営が可能。</a:t>
            </a:r>
            <a:endParaRPr b="0" lang="en-US" sz="1400" strike="noStrike" u="non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既存ユーザー</a:t>
            </a:r>
            <a:endParaRPr b="0" lang="en-US" sz="1200" strike="noStrike" u="non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リピート・ファン化</a:t>
            </a:r>
            <a:endParaRPr b="0" lang="en-US" sz="900" strike="noStrike" u="non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リード獲得層</a:t>
            </a:r>
            <a:endParaRPr b="0" lang="en-US" sz="1200" strike="noStrike" u="non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顕在層</a:t>
            </a:r>
            <a:endParaRPr b="0" lang="en-US" sz="1200" strike="noStrike" u="non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準顕在層</a:t>
            </a:r>
            <a:endParaRPr b="0" lang="en-US" sz="1200" strike="noStrike" u="non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潜在層</a:t>
            </a:r>
            <a:endParaRPr b="0" lang="en-US" sz="1200" strike="noStrike" u="non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興味関心なし 層</a:t>
            </a:r>
            <a:endParaRPr b="0" lang="en-US" sz="1200" strike="noStrike" u="non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a:t>
            </a:r>
            <a:r>
              <a:rPr b="1" lang="ja-JP" sz="900" strike="noStrike" u="none">
                <a:solidFill>
                  <a:schemeClr val="lt1"/>
                </a:solidFill>
                <a:effectLst/>
                <a:uFillTx/>
                <a:latin typeface="メイリオ"/>
                <a:ea typeface="メイリオ"/>
              </a:rPr>
              <a:t>過去の顧客データを活用</a:t>
            </a:r>
            <a:endParaRPr b="0" lang="en-US" sz="900" strike="noStrike" u="non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離脱防止バナーにて</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検討段階ユーザーを</a:t>
            </a:r>
            <a:r>
              <a:rPr b="1" lang="en-US" sz="900" strike="noStrike" u="none">
                <a:solidFill>
                  <a:schemeClr val="lt1"/>
                </a:solidFill>
                <a:effectLst/>
                <a:uFillTx/>
                <a:latin typeface="メイリオ"/>
                <a:ea typeface="メイリオ"/>
              </a:rPr>
              <a:t>LINE</a:t>
            </a:r>
            <a:r>
              <a:rPr b="1" lang="ja-JP" sz="900" strike="noStrike" u="none">
                <a:solidFill>
                  <a:schemeClr val="lt1"/>
                </a:solidFill>
                <a:effectLst/>
                <a:uFillTx/>
                <a:latin typeface="メイリオ"/>
                <a:ea typeface="メイリオ"/>
              </a:rPr>
              <a:t>誘導</a:t>
            </a:r>
            <a:endParaRPr b="0" lang="en-US" sz="900" strike="noStrike" u="non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接触、詳細ページ閲覧</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の動線での</a:t>
            </a:r>
            <a:r>
              <a:rPr b="1" lang="en-US" sz="900" strike="noStrike" u="none">
                <a:solidFill>
                  <a:schemeClr val="lt1"/>
                </a:solidFill>
                <a:effectLst/>
                <a:uFillTx/>
                <a:latin typeface="メイリオ"/>
                <a:ea typeface="メイリオ"/>
              </a:rPr>
              <a:t>LINE</a:t>
            </a:r>
            <a:r>
              <a:rPr b="1" lang="ja-JP" sz="900" strike="noStrike" u="none">
                <a:solidFill>
                  <a:schemeClr val="lt1"/>
                </a:solidFill>
                <a:effectLst/>
                <a:uFillTx/>
                <a:latin typeface="メイリオ"/>
                <a:ea typeface="メイリオ"/>
              </a:rPr>
              <a:t>誘導を整備</a:t>
            </a:r>
            <a:endParaRPr b="0" lang="en-US" sz="900" strike="noStrike" u="non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fillRef idx="0"/>
          <a:effectRef idx="0"/>
          <a:fontRef idx="minor"/>
        </p:style>
        <p:txBody>
          <a:bodyPr lIns="90000" rIns="90000" tIns="45000" bIns="45000" anchor="t">
            <a:spAutoFit/>
          </a:bodyPr>
          <a:p>
            <a:pPr algn="ctr" defTabSz="914400">
              <a:lnSpc>
                <a:spcPct val="100000"/>
              </a:lnSpc>
            </a:pPr>
            <a:r>
              <a:rPr b="0" lang="en-US" sz="1200" strike="noStrike" u="none">
                <a:solidFill>
                  <a:schemeClr val="lt1"/>
                </a:solidFill>
                <a:effectLst/>
                <a:uFillTx/>
                <a:latin typeface="メイリオ"/>
                <a:ea typeface="メイリオ"/>
              </a:rPr>
              <a:t>DYM</a:t>
            </a:r>
            <a:r>
              <a:rPr b="0" lang="ja-JP" sz="1200" strike="noStrike" u="none">
                <a:solidFill>
                  <a:schemeClr val="lt1"/>
                </a:solidFill>
                <a:effectLst/>
                <a:uFillTx/>
                <a:latin typeface="メイリオ"/>
                <a:ea typeface="メイリオ"/>
              </a:rPr>
              <a:t>施策</a:t>
            </a:r>
            <a:endParaRPr b="0" lang="en-US" sz="1200" strike="noStrike" u="non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fillRef idx="0"/>
          <a:effectRef idx="0"/>
          <a:fontRef idx="minor"/>
        </p:style>
        <p:txBody>
          <a:bodyPr lIns="90000" rIns="90000" tIns="45000" bIns="45000" anchor="t">
            <a:spAutoFit/>
          </a:bodyPr>
          <a:p>
            <a:pPr algn="ctr" defTabSz="914400">
              <a:lnSpc>
                <a:spcPct val="100000"/>
              </a:lnSpc>
            </a:pPr>
            <a:r>
              <a:rPr b="0" lang="ja-JP" sz="1200" strike="noStrike" u="none">
                <a:solidFill>
                  <a:schemeClr val="lt1"/>
                </a:solidFill>
                <a:effectLst/>
                <a:uFillTx/>
                <a:latin typeface="メイリオ"/>
                <a:ea typeface="メイリオ"/>
              </a:rPr>
              <a:t>現状施策</a:t>
            </a:r>
            <a:endParaRPr b="0" lang="en-US" sz="1200" strike="noStrike" u="non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定期購入・クロスセル</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商材への動線設計</a:t>
            </a:r>
            <a:endParaRPr b="0" lang="en-US" sz="900" strike="noStrike" u="non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※ID</a:t>
            </a:r>
            <a:r>
              <a:rPr b="1" lang="ja-JP" sz="900" strike="noStrike" u="none">
                <a:solidFill>
                  <a:schemeClr val="lt1"/>
                </a:solidFill>
                <a:effectLst/>
                <a:uFillTx/>
                <a:latin typeface="メイリオ"/>
                <a:ea typeface="メイリオ"/>
              </a:rPr>
              <a:t>連携特典等を表示</a:t>
            </a:r>
            <a:endParaRPr b="0" lang="en-US" sz="900" strike="noStrike" u="non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a:t>
            </a:r>
            <a:r>
              <a:rPr b="1" lang="ja-JP" sz="900" strike="noStrike" u="none">
                <a:solidFill>
                  <a:schemeClr val="lt1"/>
                </a:solidFill>
                <a:effectLst/>
                <a:uFillTx/>
                <a:latin typeface="メイリオ"/>
                <a:ea typeface="メイリオ"/>
              </a:rPr>
              <a:t>ミニアプリ・診断 → 特典</a:t>
            </a:r>
            <a:endParaRPr b="0" lang="en-US" sz="900" strike="noStrike" u="non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000" strike="noStrike" u="none">
                <a:solidFill>
                  <a:schemeClr val="lt1"/>
                </a:solidFill>
                <a:effectLst/>
                <a:uFillTx/>
                <a:latin typeface="メイリオ"/>
                <a:ea typeface="メイリオ"/>
              </a:rPr>
              <a:t>※</a:t>
            </a:r>
            <a:r>
              <a:rPr b="0" lang="ja-JP" sz="1000" strike="noStrike" u="none">
                <a:solidFill>
                  <a:schemeClr val="lt1"/>
                </a:solidFill>
                <a:effectLst/>
                <a:uFillTx/>
                <a:latin typeface="メイリオ"/>
                <a:ea typeface="メイリオ"/>
              </a:rPr>
              <a:t>長期施策として想定</a:t>
            </a:r>
            <a:endParaRPr b="0" lang="en-US" sz="1000" strike="noStrike" u="none">
              <a:solidFill>
                <a:srgbClr val="000000"/>
              </a:solidFill>
              <a:effectLst/>
              <a:uFillTx/>
              <a:latin typeface="Arial"/>
            </a:endParaRPr>
          </a:p>
        </p:txBody>
      </p:sp>
      <p:sp>
        <p:nvSpPr>
          <p:cNvPr id="772" name="台形 37"/>
          <p:cNvSpPr/>
          <p:nvPr/>
        </p:nvSpPr>
        <p:spPr>
          <a:xfrm flipV="1" rot="10800000">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dk1"/>
                </a:solidFill>
                <a:effectLst/>
                <a:uFillTx/>
                <a:latin typeface="メイリオ"/>
                <a:ea typeface="メイリオ"/>
              </a:rPr>
              <a:t>ヒアリングの上</a:t>
            </a:r>
            <a:endParaRPr b="0" lang="en-US" sz="1050" strike="noStrike" u="none">
              <a:solidFill>
                <a:srgbClr val="000000"/>
              </a:solidFill>
              <a:effectLst/>
              <a:uFillTx/>
              <a:latin typeface="Arial"/>
            </a:endParaRPr>
          </a:p>
          <a:p>
            <a:pPr algn="ctr" defTabSz="914400">
              <a:lnSpc>
                <a:spcPct val="100000"/>
              </a:lnSpc>
            </a:pPr>
            <a:r>
              <a:rPr b="1" lang="ja-JP" sz="1050" strike="noStrike" u="none">
                <a:solidFill>
                  <a:schemeClr val="dk1"/>
                </a:solidFill>
                <a:effectLst/>
                <a:uFillTx/>
                <a:latin typeface="メイリオ"/>
                <a:ea typeface="メイリオ"/>
              </a:rPr>
              <a:t>確定</a:t>
            </a:r>
            <a:endParaRPr b="0" lang="en-US" sz="1050" strike="noStrike" u="non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 </a:t>
            </a:r>
            <a:r>
              <a:rPr b="1" lang="ja-JP" sz="1200" strike="noStrike" u="none">
                <a:solidFill>
                  <a:schemeClr val="dk1"/>
                </a:solidFill>
                <a:effectLst/>
                <a:uFillTx/>
                <a:latin typeface="メイリオ"/>
                <a:ea typeface="メイリオ"/>
              </a:rPr>
              <a:t>ミニアプリ</a:t>
            </a:r>
            <a:endParaRPr b="0" lang="en-US" sz="1200" strike="noStrike" u="non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a:t>
            </a:r>
            <a:r>
              <a:rPr b="1" lang="ja-JP" sz="1200" strike="noStrike" u="none">
                <a:solidFill>
                  <a:schemeClr val="dk1"/>
                </a:solidFill>
                <a:effectLst/>
                <a:uFillTx/>
                <a:latin typeface="メイリオ"/>
                <a:ea typeface="メイリオ"/>
              </a:rPr>
              <a:t>友だち</a:t>
            </a:r>
            <a:endParaRPr b="0" lang="en-US" sz="1200" strike="noStrike" u="non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dk1"/>
                </a:solidFill>
                <a:effectLst/>
                <a:uFillTx/>
                <a:latin typeface="メイリオ"/>
                <a:ea typeface="メイリオ"/>
              </a:rPr>
              <a:t>離脱防止バナー</a:t>
            </a:r>
            <a:endParaRPr b="0" lang="en-US" sz="1200" strike="noStrike" u="non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lumMod val="65000"/>
                  </a:schemeClr>
                </a:solidFill>
                <a:effectLst/>
                <a:uFillTx/>
                <a:latin typeface="メイリオ"/>
                <a:ea typeface="メイリオ"/>
              </a:rPr>
              <a:t>接触</a:t>
            </a:r>
            <a:endParaRPr b="0" lang="en-US" sz="1200" strike="noStrike" u="non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dk1"/>
                </a:solidFill>
                <a:effectLst/>
                <a:uFillTx/>
                <a:latin typeface="メイリオ"/>
                <a:ea typeface="メイリオ"/>
              </a:rPr>
              <a:t>自社</a:t>
            </a:r>
            <a:r>
              <a:rPr b="1" lang="en-US" sz="1200" strike="noStrike" u="none">
                <a:solidFill>
                  <a:schemeClr val="dk1"/>
                </a:solidFill>
                <a:effectLst/>
                <a:uFillTx/>
                <a:latin typeface="メイリオ"/>
                <a:ea typeface="メイリオ"/>
              </a:rPr>
              <a:t>App/</a:t>
            </a:r>
            <a:r>
              <a:rPr b="1" lang="ja-JP" sz="1200" strike="noStrike" u="none">
                <a:solidFill>
                  <a:schemeClr val="dk1"/>
                </a:solidFill>
                <a:effectLst/>
                <a:uFillTx/>
                <a:latin typeface="メイリオ"/>
                <a:ea typeface="メイリオ"/>
              </a:rPr>
              <a:t>ネットワーク</a:t>
            </a:r>
            <a:endParaRPr b="0" lang="en-US" sz="1200" strike="noStrike" u="none">
              <a:solidFill>
                <a:srgbClr val="000000"/>
              </a:solidFill>
              <a:effectLst/>
              <a:uFillTx/>
              <a:latin typeface="Arial"/>
            </a:endParaRPr>
          </a:p>
          <a:p>
            <a:pPr algn="ctr" defTabSz="914400">
              <a:lnSpc>
                <a:spcPct val="100000"/>
              </a:lnSpc>
            </a:pPr>
            <a:r>
              <a:rPr b="1" lang="ja-JP" sz="1200" strike="noStrike" u="none">
                <a:solidFill>
                  <a:schemeClr val="dk1"/>
                </a:solidFill>
                <a:effectLst/>
                <a:uFillTx/>
                <a:latin typeface="メイリオ"/>
                <a:ea typeface="メイリオ"/>
              </a:rPr>
              <a:t>（</a:t>
            </a:r>
            <a:r>
              <a:rPr b="1" lang="en-US" sz="1200" strike="noStrike" u="none">
                <a:solidFill>
                  <a:schemeClr val="dk1"/>
                </a:solidFill>
                <a:effectLst/>
                <a:uFillTx/>
                <a:latin typeface="メイリオ"/>
                <a:ea typeface="メイリオ"/>
              </a:rPr>
              <a:t>ID</a:t>
            </a:r>
            <a:r>
              <a:rPr b="1" lang="ja-JP" sz="1200" strike="noStrike" u="none">
                <a:solidFill>
                  <a:schemeClr val="dk1"/>
                </a:solidFill>
                <a:effectLst/>
                <a:uFillTx/>
                <a:latin typeface="メイリオ"/>
                <a:ea typeface="メイリオ"/>
              </a:rPr>
              <a:t>連携等の開発）</a:t>
            </a:r>
            <a:endParaRPr b="0" lang="en-US" sz="1200" strike="noStrike" u="non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lumMod val="65000"/>
                  </a:schemeClr>
                </a:solidFill>
                <a:effectLst/>
                <a:uFillTx/>
                <a:latin typeface="メイリオ"/>
                <a:ea typeface="メイリオ"/>
              </a:rPr>
              <a:t>離脱</a:t>
            </a:r>
            <a:endParaRPr b="0" lang="en-US" sz="1200" strike="noStrike" u="non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a:t>
            </a:r>
            <a:r>
              <a:rPr b="1" lang="ja-JP" sz="1200" strike="noStrike" u="none">
                <a:solidFill>
                  <a:schemeClr val="dk1"/>
                </a:solidFill>
                <a:effectLst/>
                <a:uFillTx/>
                <a:latin typeface="メイリオ"/>
                <a:ea typeface="メイリオ"/>
              </a:rPr>
              <a:t>でログイン</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ユーザーコミュニケーションに、</a:t>
            </a:r>
            <a:r>
              <a:rPr b="0" lang="en-US" sz="1400" strike="noStrike" u="none">
                <a:solidFill>
                  <a:srgbClr val="343434"/>
                </a:solidFill>
                <a:effectLst/>
                <a:uFillTx/>
                <a:latin typeface="メイリオ"/>
                <a:ea typeface="メイリオ"/>
              </a:rPr>
              <a:t>LINE</a:t>
            </a:r>
            <a:r>
              <a:rPr b="0" lang="ja-JP" sz="1400" strike="noStrike" u="none">
                <a:solidFill>
                  <a:srgbClr val="343434"/>
                </a:solidFill>
                <a:effectLst/>
                <a:uFillTx/>
                <a:latin typeface="メイリオ"/>
                <a:ea typeface="メイリオ"/>
              </a:rPr>
              <a:t>公式アカウントを導入する法人が増加傾向。</a:t>
            </a:r>
            <a:endParaRPr b="0" lang="en-US" sz="1400" strike="noStrike" u="none">
              <a:solidFill>
                <a:srgbClr val="000000"/>
              </a:solidFill>
              <a:effectLst/>
              <a:uFillTx/>
              <a:latin typeface="Arial"/>
            </a:endParaRPr>
          </a:p>
          <a:p>
            <a:pPr algn="ctr" defTabSz="914400">
              <a:lnSpc>
                <a:spcPts val="2455"/>
              </a:lnSpc>
            </a:pPr>
            <a:r>
              <a:rPr b="1" lang="ja-JP" sz="1400" strike="noStrike" u="none">
                <a:solidFill>
                  <a:srgbClr val="343434"/>
                </a:solidFill>
                <a:effectLst/>
                <a:uFillTx/>
                <a:latin typeface="メイリオ"/>
                <a:ea typeface="メイリオ"/>
              </a:rPr>
              <a:t>開封率に関してはメールマガジンの</a:t>
            </a:r>
            <a:r>
              <a:rPr b="1" lang="en-US" sz="1400" strike="noStrike" u="none">
                <a:solidFill>
                  <a:srgbClr val="343434"/>
                </a:solidFill>
                <a:effectLst/>
                <a:uFillTx/>
                <a:latin typeface="メイリオ"/>
                <a:ea typeface="メイリオ"/>
              </a:rPr>
              <a:t>6</a:t>
            </a:r>
            <a:r>
              <a:rPr b="1" lang="ja-JP" sz="1400" strike="noStrike" u="none">
                <a:solidFill>
                  <a:srgbClr val="343434"/>
                </a:solidFill>
                <a:effectLst/>
                <a:uFillTx/>
                <a:latin typeface="メイリオ"/>
                <a:ea typeface="メイリオ"/>
              </a:rPr>
              <a:t>倍を誇る</a:t>
            </a:r>
            <a:r>
              <a:rPr b="0" lang="ja-JP" sz="1400" strike="noStrike" u="none">
                <a:solidFill>
                  <a:srgbClr val="343434"/>
                </a:solidFill>
                <a:effectLst/>
                <a:uFillTx/>
                <a:latin typeface="メイリオ"/>
                <a:ea typeface="メイリオ"/>
              </a:rPr>
              <a:t>と言われています。</a:t>
            </a:r>
            <a:endParaRPr b="0" lang="en-US" sz="1400" strike="noStrike" u="non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455"/>
                </a:lnSpc>
              </a:pPr>
              <a:r>
                <a:rPr b="0" lang="ja-JP" sz="1400" strike="noStrike" u="none">
                  <a:solidFill>
                    <a:srgbClr val="040606"/>
                  </a:solidFill>
                  <a:effectLst/>
                  <a:uFillTx/>
                  <a:latin typeface="メイリオ"/>
                  <a:ea typeface="メイリオ"/>
                </a:rPr>
                <a:t>　　　　</a:t>
              </a:r>
              <a:r>
                <a:rPr b="0" lang="ja-JP" sz="1400" strike="noStrike" u="none">
                  <a:solidFill>
                    <a:srgbClr val="040606"/>
                  </a:solidFill>
                  <a:effectLst/>
                  <a:uFillTx/>
                  <a:latin typeface="メイリオ"/>
                  <a:ea typeface="メイリオ"/>
                </a:rPr>
                <a:t>メールマガジン、テレマーケティング が主流</a:t>
              </a:r>
              <a:endParaRPr b="0" lang="en-US" sz="1400" strike="noStrike" u="non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0" lang="en-US" sz="1800" strike="noStrike" u="non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455"/>
                </a:lnSpc>
              </a:pPr>
              <a:r>
                <a:rPr b="1" lang="ja-JP" sz="1400" strike="noStrike" u="none">
                  <a:solidFill>
                    <a:srgbClr val="00b900"/>
                  </a:solidFill>
                  <a:effectLst/>
                  <a:uFillTx/>
                  <a:latin typeface="メイリオ"/>
                  <a:ea typeface="メイリオ"/>
                </a:rPr>
                <a:t>　　　　＋</a:t>
              </a:r>
              <a:r>
                <a:rPr b="1" lang="en-US" sz="1400" strike="noStrike" u="none">
                  <a:solidFill>
                    <a:srgbClr val="00b900"/>
                  </a:solidFill>
                  <a:effectLst/>
                  <a:uFillTx/>
                  <a:latin typeface="メイリオ"/>
                  <a:ea typeface="メイリオ"/>
                </a:rPr>
                <a:t>LINE</a:t>
              </a:r>
              <a:r>
                <a:rPr b="1" lang="ja-JP" sz="1400" strike="noStrike" u="none">
                  <a:solidFill>
                    <a:srgbClr val="00b900"/>
                  </a:solidFill>
                  <a:effectLst/>
                  <a:uFillTx/>
                  <a:latin typeface="メイリオ"/>
                  <a:ea typeface="メイリオ"/>
                </a:rPr>
                <a:t>公式アカウント </a:t>
              </a:r>
              <a:r>
                <a:rPr b="0" lang="ja-JP" sz="1400" strike="noStrike" u="none">
                  <a:solidFill>
                    <a:srgbClr val="00b900"/>
                  </a:solidFill>
                  <a:effectLst/>
                  <a:uFillTx/>
                  <a:latin typeface="メイリオ"/>
                  <a:ea typeface="メイリオ"/>
                </a:rPr>
                <a:t>が主流</a:t>
              </a:r>
              <a:endParaRPr b="0" lang="en-US" sz="1400" strike="noStrike" u="non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fillRef idx="0"/>
          <a:effectRef idx="0"/>
          <a:fontRef idx="minor"/>
        </p:style>
        <p:txBody>
          <a:bodyPr lIns="0" rIns="0" tIns="0" bIns="0" anchor="t">
            <a:spAutoFit/>
          </a:bodyPr>
          <a:p>
            <a:pPr algn="ctr" defTabSz="914400">
              <a:lnSpc>
                <a:spcPts val="2455"/>
              </a:lnSpc>
            </a:pPr>
            <a:r>
              <a:rPr b="0" lang="zh-CN" sz="1400" strike="noStrike" u="none">
                <a:solidFill>
                  <a:srgbClr val="040606"/>
                </a:solidFill>
                <a:effectLst/>
                <a:uFillTx/>
                <a:latin typeface="メイリオ"/>
                <a:ea typeface="メイリオ"/>
              </a:rPr>
              <a:t>メールマガジン</a:t>
            </a:r>
            <a:endParaRPr b="0" lang="en-US" sz="1400" strike="noStrike" u="non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0" lang="en-US" sz="1400" strike="noStrike" u="non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fillRef idx="0"/>
          <a:effectRef idx="0"/>
          <a:fontRef idx="minor"/>
        </p:style>
        <p:txBody>
          <a:bodyPr lIns="90000" rIns="90000" tIns="-38160" bIns="-38160" anchor="t">
            <a:noAutofit/>
          </a:bodyPr>
          <a:p>
            <a:endParaRPr b="0" lang="en-US" sz="1400" strike="noStrike" u="non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入力が面倒・間違いが発生</a:t>
            </a:r>
            <a:endParaRPr b="0" lang="en-US" sz="1400" strike="noStrike" u="non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fillRef idx="0"/>
          <a:effectRef idx="0"/>
          <a:fontRef idx="minor"/>
        </p:style>
        <p:txBody>
          <a:bodyPr lIns="90000" rIns="90000" tIns="-33840" bIns="-33840" anchor="t">
            <a:noAutofit/>
          </a:bodyPr>
          <a:p>
            <a:endParaRPr b="0" lang="en-US" sz="1400" strike="noStrike" u="non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迷惑メールなどに入る</a:t>
            </a:r>
            <a:endParaRPr b="0" lang="en-US" sz="1400" strike="noStrike" u="non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en-US" sz="1400" strike="noStrike" u="none">
                <a:solidFill>
                  <a:srgbClr val="040606"/>
                </a:solidFill>
                <a:effectLst/>
                <a:uFillTx/>
                <a:latin typeface="メイリオ"/>
                <a:ea typeface="メイリオ"/>
              </a:rPr>
              <a:t>10</a:t>
            </a:r>
            <a:r>
              <a:rPr b="0" lang="zh-CN" sz="1400" strike="noStrike" u="none">
                <a:solidFill>
                  <a:srgbClr val="040606"/>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en-US" sz="1400" strike="noStrike" u="none">
                <a:solidFill>
                  <a:srgbClr val="040606"/>
                </a:solidFill>
                <a:effectLst/>
                <a:uFillTx/>
                <a:latin typeface="メイリオ"/>
                <a:ea typeface="メイリオ"/>
              </a:rPr>
              <a:t>1</a:t>
            </a:r>
            <a:r>
              <a:rPr b="0" lang="zh-CN" sz="1400" strike="noStrike" u="none">
                <a:solidFill>
                  <a:srgbClr val="040606"/>
                </a:solidFill>
                <a:effectLst/>
                <a:uFillTx/>
                <a:latin typeface="メイリオ"/>
                <a:ea typeface="メイリオ"/>
              </a:rPr>
              <a:t>時間</a:t>
            </a:r>
            <a:endParaRPr b="0" lang="en-US" sz="1400" strike="noStrike" u="non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fillRef idx="0"/>
          <a:effectRef idx="0"/>
          <a:fontRef idx="minor"/>
        </p:style>
        <p:txBody>
          <a:bodyPr lIns="90000" rIns="90000" tIns="-37800" bIns="-37800" anchor="t">
            <a:noAutofit/>
          </a:bodyPr>
          <a:p>
            <a:endParaRPr b="0" lang="en-US" sz="1400" strike="noStrike" u="non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fillRef idx="0"/>
          <a:effectRef idx="0"/>
          <a:fontRef idx="minor"/>
        </p:style>
        <p:txBody>
          <a:bodyPr lIns="90000" rIns="90000" tIns="-38160" bIns="-38160" anchor="t">
            <a:noAutofit/>
          </a:bodyPr>
          <a:p>
            <a:endParaRPr b="0" lang="en-US" sz="1400" strike="noStrike" u="non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到達</a:t>
            </a:r>
            <a:endParaRPr b="0" lang="en-US" sz="1400" strike="noStrike" u="non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開封率</a:t>
            </a:r>
            <a:endParaRPr b="0" lang="en-US" sz="1400" strike="noStrike" u="non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開封まで</a:t>
            </a:r>
            <a:endParaRPr b="0" lang="en-US" sz="1400" strike="noStrike" u="non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1" lang="en-US" sz="1600" strike="noStrike" u="non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fillRef idx="0"/>
          <a:effectRef idx="0"/>
          <a:fontRef idx="minor"/>
        </p:style>
        <p:txBody>
          <a:bodyPr lIns="90000" rIns="90000" tIns="-33840" bIns="-33840" anchor="t">
            <a:noAutofit/>
          </a:bodyPr>
          <a:p>
            <a:endParaRPr b="1" lang="en-US" sz="1400" strike="noStrike" u="non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fillRef idx="0"/>
          <a:effectRef idx="0"/>
          <a:fontRef idx="minor"/>
        </p:style>
        <p:txBody>
          <a:bodyPr lIns="0" rIns="0" tIns="0" bIns="0" anchor="t">
            <a:spAutoFit/>
          </a:bodyPr>
          <a:p>
            <a:pPr algn="ctr" defTabSz="914400">
              <a:lnSpc>
                <a:spcPts val="2455"/>
              </a:lnSpc>
            </a:pPr>
            <a:r>
              <a:rPr b="1" lang="en-US" sz="1400" strike="noStrike" u="none">
                <a:solidFill>
                  <a:srgbClr val="00b449"/>
                </a:solidFill>
                <a:effectLst/>
                <a:uFillTx/>
                <a:latin typeface="メイリオ"/>
                <a:ea typeface="メイリオ"/>
              </a:rPr>
              <a:t>LINE</a:t>
            </a:r>
            <a:endParaRPr b="0" lang="en-US" sz="1400" strike="noStrike" u="non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fillRef idx="0"/>
            <a:effectRef idx="0"/>
            <a:fontRef idx="minor"/>
          </p:style>
          <p:txBody>
            <a:bodyPr lIns="90000" rIns="90000" tIns="45000" bIns="45000" anchor="t">
              <a:noAutofit/>
            </a:bodyPr>
            <a:p>
              <a:pPr defTabSz="914400">
                <a:lnSpc>
                  <a:spcPct val="100000"/>
                </a:lnSpc>
              </a:pPr>
              <a:endParaRPr b="1" lang="en-US" sz="1400" strike="noStrike" u="non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1" lang="en-US" sz="1400" strike="noStrike" u="non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zh-CN" sz="1400" strike="noStrike" u="none">
                <a:solidFill>
                  <a:srgbClr val="00b449"/>
                </a:solidFill>
                <a:effectLst/>
                <a:uFillTx/>
                <a:latin typeface="メイリオ"/>
                <a:ea typeface="メイリオ"/>
              </a:rPr>
              <a:t>確実に届く</a:t>
            </a:r>
            <a:endParaRPr b="0" lang="en-US" sz="1400" strike="noStrike" u="non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en-US" sz="1400" strike="noStrike" u="none">
                <a:solidFill>
                  <a:srgbClr val="00b449"/>
                </a:solidFill>
                <a:effectLst/>
                <a:uFillTx/>
                <a:latin typeface="メイリオ"/>
                <a:ea typeface="メイリオ"/>
              </a:rPr>
              <a:t>60</a:t>
            </a:r>
            <a:r>
              <a:rPr b="1" lang="zh-CN" sz="1400" strike="noStrike" u="none">
                <a:solidFill>
                  <a:srgbClr val="00b449"/>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en-US" sz="1400" strike="noStrike" u="none">
                <a:solidFill>
                  <a:srgbClr val="00b449"/>
                </a:solidFill>
                <a:effectLst/>
                <a:uFillTx/>
                <a:latin typeface="メイリオ"/>
                <a:ea typeface="メイリオ"/>
              </a:rPr>
              <a:t>15</a:t>
            </a:r>
            <a:r>
              <a:rPr b="1" lang="zh-CN" sz="1400" strike="noStrike" u="none">
                <a:solidFill>
                  <a:srgbClr val="00b449"/>
                </a:solidFill>
                <a:effectLst/>
                <a:uFillTx/>
                <a:latin typeface="メイリオ"/>
                <a:ea typeface="メイリオ"/>
              </a:rPr>
              <a:t>分</a:t>
            </a:r>
            <a:endParaRPr b="0" lang="en-US" sz="1400" strike="noStrike" u="non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zh-CN" sz="1400" strike="noStrike" u="none">
                <a:solidFill>
                  <a:srgbClr val="00b449"/>
                </a:solidFill>
                <a:effectLst/>
                <a:uFillTx/>
                <a:latin typeface="メイリオ"/>
                <a:ea typeface="メイリオ"/>
              </a:rPr>
              <a:t>ワンタップで追加</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zh-CN" sz="1400" strike="noStrike" u="none">
                <a:solidFill>
                  <a:srgbClr val="343434"/>
                </a:solidFill>
                <a:effectLst/>
                <a:uFillTx/>
                <a:latin typeface="メイリオ"/>
                <a:ea typeface="メイリオ"/>
              </a:rPr>
              <a:t>「今すぐ客」以外の</a:t>
            </a:r>
            <a:r>
              <a:rPr b="0" lang="ja-JP" sz="1400" strike="noStrike" u="none">
                <a:solidFill>
                  <a:srgbClr val="343434"/>
                </a:solidFill>
                <a:effectLst/>
                <a:uFillTx/>
                <a:latin typeface="メイリオ"/>
                <a:ea typeface="メイリオ"/>
              </a:rPr>
              <a:t>約</a:t>
            </a:r>
            <a:r>
              <a:rPr b="0" lang="en-US" sz="1400" strike="noStrike" u="none">
                <a:solidFill>
                  <a:srgbClr val="343434"/>
                </a:solidFill>
                <a:effectLst/>
                <a:uFillTx/>
                <a:latin typeface="メイリオ"/>
                <a:ea typeface="メイリオ"/>
              </a:rPr>
              <a:t>99</a:t>
            </a:r>
            <a:r>
              <a:rPr b="0" lang="ja-JP" sz="1400" strike="noStrike" u="none">
                <a:solidFill>
                  <a:srgbClr val="343434"/>
                </a:solidFill>
                <a:effectLst/>
                <a:uFillTx/>
                <a:latin typeface="メイリオ"/>
                <a:ea typeface="メイリオ"/>
              </a:rPr>
              <a:t>％の層をリストマーケティングで顧客に引き上げることが重要。</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結果として、リード獲得率向上、リピート率向上、売上向上に繋げる。</a:t>
            </a:r>
            <a:endParaRPr b="0" lang="en-US" sz="1400" strike="noStrike" u="non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len="sm" type="arrow" w="me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len="sm" type="arrow" w="me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fillRef idx="0"/>
          <a:effectRef idx="0"/>
          <a:fontRef idx="minor"/>
        </p:style>
        <p:txBody>
          <a:bodyPr lIns="0" rIns="0" tIns="0" bIns="0" anchor="t">
            <a:spAutoFit/>
          </a:bodyPr>
          <a:p>
            <a:pPr defTabSz="914400">
              <a:lnSpc>
                <a:spcPts val="1740"/>
              </a:lnSpc>
            </a:pPr>
            <a:r>
              <a:rPr b="1" lang="zh-CN" sz="1240" strike="noStrike" u="none">
                <a:solidFill>
                  <a:srgbClr val="494848"/>
                </a:solidFill>
                <a:effectLst/>
                <a:uFillTx/>
                <a:latin typeface="メイリオ"/>
                <a:ea typeface="メイリオ"/>
              </a:rPr>
              <a:t>必要性</a:t>
            </a:r>
            <a:endParaRPr b="0" lang="en-US" sz="1240" strike="noStrike" u="non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fillRef idx="0"/>
          <a:effectRef idx="0"/>
          <a:fontRef idx="minor"/>
        </p:style>
        <p:txBody>
          <a:bodyPr lIns="0" rIns="0" tIns="0" bIns="0" anchor="t">
            <a:spAutoFit/>
          </a:bodyPr>
          <a:p>
            <a:pPr defTabSz="914400">
              <a:lnSpc>
                <a:spcPts val="1740"/>
              </a:lnSpc>
            </a:pPr>
            <a:r>
              <a:rPr b="1" lang="zh-CN" sz="1240" strike="noStrike" u="none">
                <a:solidFill>
                  <a:srgbClr val="494848"/>
                </a:solidFill>
                <a:effectLst/>
                <a:uFillTx/>
                <a:latin typeface="メイリオ"/>
                <a:ea typeface="メイリオ"/>
              </a:rPr>
              <a:t>緊急性</a:t>
            </a:r>
            <a:endParaRPr b="0" lang="en-US" sz="1240" strike="noStrike" u="non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今すぐ客</a:t>
            </a:r>
            <a:endParaRPr b="0" lang="en-US" sz="1240" strike="noStrike" u="non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そのうち客</a:t>
            </a:r>
            <a:endParaRPr b="0" lang="en-US" sz="1240" strike="noStrike" u="non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ffffff"/>
                </a:solidFill>
                <a:effectLst/>
                <a:uFillTx/>
                <a:latin typeface="メイリオ"/>
                <a:ea typeface="メイリオ"/>
              </a:rPr>
              <a:t>まだまだ客</a:t>
            </a:r>
            <a:endParaRPr b="0" lang="en-US" sz="1240" strike="noStrike" u="non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お悩み客</a:t>
            </a:r>
            <a:endParaRPr b="0" lang="en-US" sz="1240" strike="noStrike" u="non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1-2</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9-9.5</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9-9.5</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ffffff"/>
                </a:solidFill>
                <a:effectLst/>
                <a:uFillTx/>
                <a:latin typeface="メイリオ"/>
                <a:ea typeface="メイリオ"/>
              </a:rPr>
              <a:t>80</a:t>
            </a:r>
            <a:r>
              <a:rPr b="0" lang="zh-CN" sz="1560" strike="noStrike" u="none">
                <a:solidFill>
                  <a:srgbClr val="ffffff"/>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zh-CN" sz="1200" strike="noStrike" u="none">
                <a:solidFill>
                  <a:srgbClr val="494848"/>
                </a:solidFill>
                <a:effectLst/>
                <a:uFillTx/>
                <a:latin typeface="メイリオ"/>
                <a:ea typeface="メイリオ"/>
              </a:rPr>
              <a:t>「今すぐ</a:t>
            </a:r>
            <a:r>
              <a:rPr b="1" lang="ja-JP" sz="1200" strike="noStrike" u="none">
                <a:solidFill>
                  <a:srgbClr val="494848"/>
                </a:solidFill>
                <a:effectLst/>
                <a:uFillTx/>
                <a:latin typeface="メイリオ"/>
                <a:ea typeface="メイリオ"/>
              </a:rPr>
              <a:t>顧客」を高い広告費を投資して獲得するのはリスクが大きい。</a:t>
            </a:r>
            <a:endParaRPr b="0" lang="en-US" sz="1200" strike="noStrike" u="non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zh-CN" sz="1200" strike="noStrike" u="none">
                <a:solidFill>
                  <a:srgbClr val="494848"/>
                </a:solidFill>
                <a:effectLst/>
                <a:uFillTx/>
                <a:latin typeface="メイリオ"/>
                <a:ea typeface="メイリオ"/>
              </a:rPr>
              <a:t>リストとして獲得するだけでなく</a:t>
            </a:r>
            <a:endParaRPr b="0" lang="en-US" sz="1200" strike="noStrike" u="none">
              <a:solidFill>
                <a:srgbClr val="000000"/>
              </a:solidFill>
              <a:effectLst/>
              <a:uFillTx/>
              <a:latin typeface="Arial"/>
            </a:endParaRPr>
          </a:p>
          <a:p>
            <a:pPr defTabSz="914400">
              <a:lnSpc>
                <a:spcPts val="2177"/>
              </a:lnSpc>
            </a:pPr>
            <a:r>
              <a:rPr b="1" lang="zh-CN" sz="1200" strike="noStrike" u="none">
                <a:solidFill>
                  <a:srgbClr val="494848"/>
                </a:solidFill>
                <a:effectLst/>
                <a:uFillTx/>
                <a:latin typeface="メイリオ"/>
                <a:ea typeface="メイリオ"/>
              </a:rPr>
              <a:t>「</a:t>
            </a:r>
            <a:r>
              <a:rPr b="1" lang="ja-JP" sz="1200" strike="noStrike" u="none">
                <a:solidFill>
                  <a:srgbClr val="494848"/>
                </a:solidFill>
                <a:effectLst/>
                <a:uFillTx/>
                <a:latin typeface="メイリオ"/>
                <a:ea typeface="メイリオ"/>
              </a:rPr>
              <a:t>将来的な顧客」教育を</a:t>
            </a:r>
            <a:r>
              <a:rPr b="1" lang="en-US" sz="1200" strike="noStrike" u="none">
                <a:solidFill>
                  <a:srgbClr val="494848"/>
                </a:solidFill>
                <a:effectLst/>
                <a:uFillTx/>
                <a:latin typeface="メイリオ"/>
                <a:ea typeface="メイリオ"/>
              </a:rPr>
              <a:t>LINE</a:t>
            </a:r>
            <a:r>
              <a:rPr b="1" lang="ja-JP" sz="1200" strike="noStrike" u="none">
                <a:solidFill>
                  <a:srgbClr val="494848"/>
                </a:solidFill>
                <a:effectLst/>
                <a:uFillTx/>
                <a:latin typeface="メイリオ"/>
                <a:ea typeface="メイリオ"/>
              </a:rPr>
              <a:t>上で構築し行う。</a:t>
            </a:r>
            <a:endParaRPr b="0" lang="en-US" sz="1200" strike="noStrike" u="non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200" strike="noStrike" u="none">
                <a:solidFill>
                  <a:srgbClr val="494848"/>
                </a:solidFill>
                <a:effectLst/>
                <a:uFillTx/>
                <a:latin typeface="メイリオ"/>
                <a:ea typeface="メイリオ"/>
              </a:rPr>
              <a:t>広告審査がないうえに、ユーザー接点を早めることで大量かつ高効率での獲得を見込むことが出来る。</a:t>
            </a:r>
            <a:endParaRPr b="0" lang="en-US" sz="1200" strike="noStrike" u="non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1400" strike="noStrike" u="none">
                <a:solidFill>
                  <a:schemeClr val="dk1"/>
                </a:solidFill>
                <a:effectLst/>
                <a:uFillTx/>
                <a:latin typeface="Meiryo"/>
                <a:ea typeface="Meiryo"/>
              </a:rPr>
              <a:t>WEB</a:t>
            </a:r>
            <a:r>
              <a:rPr b="0" lang="ja-JP" sz="1400" strike="noStrike" u="none">
                <a:solidFill>
                  <a:schemeClr val="dk1"/>
                </a:solidFill>
                <a:effectLst/>
                <a:uFillTx/>
                <a:latin typeface="Meiryo"/>
                <a:ea typeface="Meiryo"/>
              </a:rPr>
              <a:t>広告における</a:t>
            </a:r>
            <a:r>
              <a:rPr b="1" lang="ja-JP" sz="1400" strike="noStrike" u="none">
                <a:solidFill>
                  <a:schemeClr val="dk1"/>
                </a:solidFill>
                <a:effectLst/>
                <a:uFillTx/>
                <a:latin typeface="Meiryo"/>
                <a:ea typeface="Meiryo"/>
              </a:rPr>
              <a:t>競合性が高</a:t>
            </a:r>
            <a:r>
              <a:rPr b="0" lang="ja-JP" sz="1400" strike="noStrike" u="none">
                <a:solidFill>
                  <a:schemeClr val="dk1"/>
                </a:solidFill>
                <a:effectLst/>
                <a:uFillTx/>
                <a:latin typeface="Meiryo"/>
                <a:ea typeface="Meiryo"/>
              </a:rPr>
              <a:t>くなり</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rgbClr val="ff0000"/>
                </a:solidFill>
                <a:effectLst/>
                <a:uFillTx/>
                <a:latin typeface="Meiryo"/>
                <a:ea typeface="Meiryo"/>
              </a:rPr>
              <a:t>単価指標（</a:t>
            </a:r>
            <a:r>
              <a:rPr b="1" lang="en-US" sz="1400" strike="noStrike" u="none">
                <a:solidFill>
                  <a:srgbClr val="ff0000"/>
                </a:solidFill>
                <a:effectLst/>
                <a:uFillTx/>
                <a:latin typeface="Meiryo"/>
                <a:ea typeface="Meiryo"/>
              </a:rPr>
              <a:t>CPC</a:t>
            </a:r>
            <a:r>
              <a:rPr b="1" lang="ja-JP" sz="1400" strike="noStrike" u="none">
                <a:solidFill>
                  <a:srgbClr val="ff0000"/>
                </a:solidFill>
                <a:effectLst/>
                <a:uFillTx/>
                <a:latin typeface="Meiryo"/>
                <a:ea typeface="Meiryo"/>
              </a:rPr>
              <a:t>及び</a:t>
            </a:r>
            <a:r>
              <a:rPr b="1" lang="en-US" sz="1400" strike="noStrike" u="none">
                <a:solidFill>
                  <a:srgbClr val="ff0000"/>
                </a:solidFill>
                <a:effectLst/>
                <a:uFillTx/>
                <a:latin typeface="Meiryo"/>
                <a:ea typeface="Meiryo"/>
              </a:rPr>
              <a:t>CPA</a:t>
            </a:r>
            <a:r>
              <a:rPr b="1" lang="ja-JP" sz="1400" strike="noStrike" u="none">
                <a:solidFill>
                  <a:srgbClr val="ff0000"/>
                </a:solidFill>
                <a:effectLst/>
                <a:uFillTx/>
                <a:latin typeface="Meiryo"/>
                <a:ea typeface="Meiryo"/>
              </a:rPr>
              <a:t>）が高騰</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ja-JP" sz="1400" strike="noStrike" u="none">
                <a:solidFill>
                  <a:schemeClr val="dk1"/>
                </a:solidFill>
                <a:effectLst/>
                <a:uFillTx/>
                <a:latin typeface="Meiryo"/>
                <a:ea typeface="Meiryo"/>
              </a:rPr>
              <a:t>集客施策における</a:t>
            </a:r>
            <a:r>
              <a:rPr b="1" lang="en-US" sz="1400" strike="noStrike" u="none">
                <a:solidFill>
                  <a:schemeClr val="dk1"/>
                </a:solidFill>
                <a:effectLst/>
                <a:uFillTx/>
                <a:latin typeface="Meiryo"/>
                <a:ea typeface="Meiryo"/>
              </a:rPr>
              <a:t>CVR</a:t>
            </a:r>
            <a:r>
              <a:rPr b="1" lang="ja-JP" sz="1400" strike="noStrike" u="none">
                <a:solidFill>
                  <a:schemeClr val="dk1"/>
                </a:solidFill>
                <a:effectLst/>
                <a:uFillTx/>
                <a:latin typeface="Meiryo"/>
                <a:ea typeface="Meiryo"/>
              </a:rPr>
              <a:t>は高くても</a:t>
            </a:r>
            <a:r>
              <a:rPr b="1" lang="en-US" sz="1400" strike="noStrike" u="none">
                <a:solidFill>
                  <a:schemeClr val="dk1"/>
                </a:solidFill>
                <a:effectLst/>
                <a:uFillTx/>
                <a:latin typeface="Meiryo"/>
                <a:ea typeface="Meiryo"/>
              </a:rPr>
              <a:t>2%</a:t>
            </a:r>
            <a:r>
              <a:rPr b="1" lang="ja-JP" sz="1400" strike="noStrike" u="none">
                <a:solidFill>
                  <a:schemeClr val="dk1"/>
                </a:solidFill>
                <a:effectLst/>
                <a:uFillTx/>
                <a:latin typeface="Meiryo"/>
                <a:ea typeface="Meiryo"/>
              </a:rPr>
              <a:t>程度</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a:p>
            <a:pPr algn="ctr" defTabSz="914400">
              <a:lnSpc>
                <a:spcPct val="100000"/>
              </a:lnSpc>
            </a:pPr>
            <a:r>
              <a:rPr b="0" lang="en-US" sz="1400" strike="noStrike" u="none">
                <a:solidFill>
                  <a:srgbClr val="ff0000"/>
                </a:solidFill>
                <a:effectLst/>
                <a:uFillTx/>
                <a:latin typeface="Meiryo"/>
                <a:ea typeface="Meiryo"/>
              </a:rPr>
              <a:t>CV</a:t>
            </a:r>
            <a:r>
              <a:rPr b="0" lang="ja-JP" sz="1400" strike="noStrike" u="none">
                <a:solidFill>
                  <a:srgbClr val="ff0000"/>
                </a:solidFill>
                <a:effectLst/>
                <a:uFillTx/>
                <a:latin typeface="Meiryo"/>
                <a:ea typeface="Meiryo"/>
              </a:rPr>
              <a:t>に至らず離脱するユーザーが大部分</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800" strike="noStrike" u="none">
                <a:solidFill>
                  <a:schemeClr val="dk1"/>
                </a:solidFill>
                <a:effectLst/>
                <a:uFillTx/>
                <a:latin typeface="メイリオ"/>
                <a:ea typeface="メイリオ"/>
              </a:rPr>
              <a:t>CVR</a:t>
            </a:r>
            <a:endParaRPr b="0" lang="en-US" sz="1800" strike="noStrike" u="non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800" strike="noStrike" u="none">
                <a:solidFill>
                  <a:schemeClr val="dk1"/>
                </a:solidFill>
                <a:effectLst/>
                <a:uFillTx/>
                <a:latin typeface="メイリオ"/>
                <a:ea typeface="メイリオ"/>
              </a:rPr>
              <a:t>CPC</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利用年齢層により変動はするものの、</a:t>
            </a:r>
            <a:r>
              <a:rPr b="0" lang="en-US" sz="1400" strike="noStrike" u="none">
                <a:solidFill>
                  <a:srgbClr val="343434"/>
                </a:solidFill>
                <a:effectLst/>
                <a:uFillTx/>
                <a:latin typeface="メイリオ"/>
                <a:ea typeface="メイリオ"/>
              </a:rPr>
              <a:t>10-40</a:t>
            </a:r>
            <a:r>
              <a:rPr b="0" lang="ja-JP" sz="1400" strike="noStrike" u="none">
                <a:solidFill>
                  <a:srgbClr val="343434"/>
                </a:solidFill>
                <a:effectLst/>
                <a:uFillTx/>
                <a:latin typeface="メイリオ"/>
                <a:ea typeface="メイリオ"/>
              </a:rPr>
              <a:t>代を中心に電話、メールを忌避する動きが強まっている。</a:t>
            </a:r>
            <a:endParaRPr b="0" lang="en-US" sz="1400" strike="noStrike" u="none">
              <a:solidFill>
                <a:srgbClr val="000000"/>
              </a:solidFill>
              <a:effectLst/>
              <a:uFillTx/>
              <a:latin typeface="Arial"/>
            </a:endParaRPr>
          </a:p>
          <a:p>
            <a:pPr algn="ctr" defTabSz="914400">
              <a:lnSpc>
                <a:spcPts val="2455"/>
              </a:lnSpc>
            </a:pPr>
            <a:r>
              <a:rPr b="1" lang="ja-JP" sz="1400" strike="noStrike" u="none">
                <a:solidFill>
                  <a:srgbClr val="343434"/>
                </a:solidFill>
                <a:effectLst/>
                <a:uFillTx/>
                <a:latin typeface="メイリオ"/>
                <a:ea typeface="メイリオ"/>
              </a:rPr>
              <a:t>既存ユーザー以外の年齢層の獲得にあたって、利用率の高い</a:t>
            </a:r>
            <a:r>
              <a:rPr b="1" lang="en-US" sz="1400" strike="noStrike" u="none">
                <a:solidFill>
                  <a:srgbClr val="343434"/>
                </a:solidFill>
                <a:effectLst/>
                <a:uFillTx/>
                <a:latin typeface="メイリオ"/>
                <a:ea typeface="メイリオ"/>
              </a:rPr>
              <a:t>LINEOA</a:t>
            </a:r>
            <a:r>
              <a:rPr b="1" lang="ja-JP" sz="1400" strike="noStrike" u="none">
                <a:solidFill>
                  <a:srgbClr val="343434"/>
                </a:solidFill>
                <a:effectLst/>
                <a:uFillTx/>
                <a:latin typeface="メイリオ"/>
                <a:ea typeface="メイリオ"/>
              </a:rPr>
              <a:t>施策が非常に重要と想定</a:t>
            </a:r>
            <a:r>
              <a:rPr b="0" lang="ja-JP" sz="1400" strike="noStrike" u="none">
                <a:solidFill>
                  <a:srgbClr val="343434"/>
                </a:solidFill>
                <a:effectLst/>
                <a:uFillTx/>
                <a:latin typeface="メイリオ"/>
                <a:ea typeface="メイリオ"/>
              </a:rPr>
              <a:t>される。</a:t>
            </a:r>
            <a:endParaRPr b="0" lang="en-US" sz="1400" strike="noStrike" u="non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gridCol w="1833480"/>
                <a:gridCol w="1833480"/>
                <a:gridCol w="1833480"/>
                <a:gridCol w="1833480"/>
              </a:tblGrid>
              <a:tr h="499320">
                <a:tc>
                  <a:txBody>
                    <a:bodyPr lIns="6480" rIns="6480" tIns="6480" bIns="0" anchor="ctr">
                      <a:noAutofit/>
                    </a:bodyPr>
                    <a:p>
                      <a:pPr algn="ctr" defTabSz="914400">
                        <a:lnSpc>
                          <a:spcPct val="100000"/>
                        </a:lnSpc>
                      </a:pPr>
                      <a:r>
                        <a:rPr b="1" lang="ja-JP" sz="1050" strike="noStrike" u="none">
                          <a:solidFill>
                            <a:srgbClr val="000000"/>
                          </a:solidFill>
                          <a:effectLst/>
                          <a:uFillTx/>
                          <a:latin typeface="メイリオ"/>
                          <a:ea typeface="メイリオ"/>
                        </a:rPr>
                        <a:t>年齢層</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en-US" sz="1000" strike="noStrike" u="none">
                          <a:solidFill>
                            <a:srgbClr val="000000"/>
                          </a:solidFill>
                          <a:effectLst/>
                          <a:uFillTx/>
                          <a:latin typeface="メイリオ"/>
                          <a:ea typeface="メイリオ"/>
                        </a:rPr>
                        <a:t>LINE</a:t>
                      </a:r>
                      <a:r>
                        <a:rPr b="0" lang="ja-JP" sz="1000" strike="noStrike" u="none">
                          <a:solidFill>
                            <a:srgbClr val="000000"/>
                          </a:solidFill>
                          <a:effectLst/>
                          <a:uFillTx/>
                          <a:latin typeface="メイリオ"/>
                          <a:ea typeface="メイリオ"/>
                        </a:rPr>
                        <a:t>・チャット系</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メール・メルマガ</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電話</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主要な特徴・</a:t>
                      </a:r>
                      <a:r>
                        <a:rPr b="0" lang="en-US" sz="1000" strike="noStrike" u="none">
                          <a:solidFill>
                            <a:srgbClr val="000000"/>
                          </a:solidFill>
                          <a:effectLst/>
                          <a:uFillTx/>
                          <a:latin typeface="メイリオ"/>
                          <a:ea typeface="メイリオ"/>
                        </a:rPr>
                        <a:t>SNS</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10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20</a:t>
                      </a:r>
                      <a:r>
                        <a:rPr b="1" lang="ja-JP" sz="1050" strike="noStrike" u="none">
                          <a:solidFill>
                            <a:srgbClr val="000000"/>
                          </a:solidFill>
                          <a:effectLst/>
                          <a:uFillTx/>
                          <a:latin typeface="メイリオ"/>
                          <a:ea typeface="メイリオ"/>
                        </a:rPr>
                        <a:t>代　</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90%</a:t>
                      </a:r>
                      <a:r>
                        <a:rPr b="1" lang="ja-JP" sz="1000" strike="noStrike" u="none">
                          <a:solidFill>
                            <a:srgbClr val="000000"/>
                          </a:solidFill>
                          <a:effectLst/>
                          <a:uFillTx/>
                          <a:latin typeface="メイリオ"/>
                          <a:ea typeface="メイリオ"/>
                        </a:rPr>
                        <a:t>以上</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利用率：低</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利用率：極めて低</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Tiktok YouTube</a:t>
                      </a:r>
                      <a:r>
                        <a:rPr b="0" lang="ja-JP" sz="800" strike="noStrike" u="none">
                          <a:solidFill>
                            <a:srgbClr val="000000"/>
                          </a:solidFill>
                          <a:effectLst/>
                          <a:uFillTx/>
                          <a:latin typeface="メイリオ"/>
                          <a:ea typeface="メイリオ"/>
                        </a:rPr>
                        <a:t>が情報収集の起点。</a:t>
                      </a:r>
                      <a:br>
                        <a:rPr sz="800"/>
                      </a:br>
                      <a:r>
                        <a:rPr b="0" lang="en-US" sz="800" strike="noStrike" u="none">
                          <a:solidFill>
                            <a:srgbClr val="000000"/>
                          </a:solidFill>
                          <a:effectLst/>
                          <a:uFillTx/>
                          <a:latin typeface="メイリオ"/>
                          <a:ea typeface="メイリオ"/>
                        </a:rPr>
                        <a:t>Instagram</a:t>
                      </a:r>
                      <a:r>
                        <a:rPr b="0" lang="ja-JP" sz="800" strike="noStrike" u="none">
                          <a:solidFill>
                            <a:srgbClr val="000000"/>
                          </a:solidFill>
                          <a:effectLst/>
                          <a:uFillTx/>
                          <a:latin typeface="メイリオ"/>
                          <a:ea typeface="メイリオ"/>
                        </a:rPr>
                        <a:t>、</a:t>
                      </a:r>
                      <a:r>
                        <a:rPr b="0" lang="en-US" sz="800" strike="noStrike" u="none">
                          <a:solidFill>
                            <a:srgbClr val="000000"/>
                          </a:solidFill>
                          <a:effectLst/>
                          <a:uFillTx/>
                          <a:latin typeface="メイリオ"/>
                          <a:ea typeface="メイリオ"/>
                        </a:rPr>
                        <a:t>X</a:t>
                      </a:r>
                      <a:r>
                        <a:rPr b="0" lang="ja-JP" sz="800" strike="noStrike" u="none">
                          <a:solidFill>
                            <a:srgbClr val="000000"/>
                          </a:solidFill>
                          <a:effectLst/>
                          <a:uFillTx/>
                          <a:latin typeface="メイリオ"/>
                          <a:ea typeface="メイリオ"/>
                        </a:rPr>
                        <a:t>の</a:t>
                      </a:r>
                      <a:r>
                        <a:rPr b="0" lang="en-US" sz="800" strike="noStrike" u="none">
                          <a:solidFill>
                            <a:srgbClr val="000000"/>
                          </a:solidFill>
                          <a:effectLst/>
                          <a:uFillTx/>
                          <a:latin typeface="メイリオ"/>
                          <a:ea typeface="メイリオ"/>
                        </a:rPr>
                        <a:t>DM</a:t>
                      </a:r>
                      <a:r>
                        <a:rPr b="0" lang="ja-JP" sz="800" strike="noStrike" u="none">
                          <a:solidFill>
                            <a:srgbClr val="000000"/>
                          </a:solidFill>
                          <a:effectLst/>
                          <a:uFillTx/>
                          <a:latin typeface="メイリオ"/>
                          <a:ea typeface="メイリオ"/>
                        </a:rPr>
                        <a:t>も</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連絡網として活用。</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日常連絡の絶対的インフラ。</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企業や公式からの連絡は</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読まれない傾向。</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「電話恐怖症」を持つ人も。</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30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40</a:t>
                      </a:r>
                      <a:r>
                        <a:rPr b="1" lang="ja-JP" sz="1050" strike="noStrike" u="none">
                          <a:solidFill>
                            <a:srgbClr val="000000"/>
                          </a:solidFill>
                          <a:effectLst/>
                          <a:uFillTx/>
                          <a:latin typeface="メイリオ"/>
                          <a:ea typeface="メイリオ"/>
                        </a:rPr>
                        <a:t>代</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90%</a:t>
                      </a:r>
                      <a:r>
                        <a:rPr b="1" lang="ja-JP" sz="1000" strike="noStrike" u="none">
                          <a:solidFill>
                            <a:srgbClr val="000000"/>
                          </a:solidFill>
                          <a:effectLst/>
                          <a:uFillTx/>
                          <a:latin typeface="メイリオ"/>
                          <a:ea typeface="メイリオ"/>
                        </a:rPr>
                        <a:t>以上</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利用率：中</a:t>
                      </a:r>
                      <a:r>
                        <a:rPr b="1" lang="ja-JP" sz="1000" strike="noStrike" u="none">
                          <a:solidFill>
                            <a:srgbClr val="000000"/>
                          </a:solidFill>
                          <a:effectLst/>
                          <a:uFillTx/>
                          <a:latin typeface="メイリオ"/>
                          <a:ea typeface="メイリオ"/>
                        </a:rPr>
                        <a:t>〜高</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利用率：中</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Facebook</a:t>
                      </a:r>
                      <a:r>
                        <a:rPr b="0" lang="ja-JP" sz="800" strike="noStrike" u="none">
                          <a:solidFill>
                            <a:srgbClr val="000000"/>
                          </a:solidFill>
                          <a:effectLst/>
                          <a:uFillTx/>
                          <a:latin typeface="メイリオ"/>
                          <a:ea typeface="メイリオ"/>
                        </a:rPr>
                        <a:t>や</a:t>
                      </a:r>
                      <a:r>
                        <a:rPr b="0" lang="en-US" sz="800" strike="noStrike" u="none">
                          <a:solidFill>
                            <a:srgbClr val="000000"/>
                          </a:solidFill>
                          <a:effectLst/>
                          <a:uFillTx/>
                          <a:latin typeface="メイリオ"/>
                          <a:ea typeface="メイリオ"/>
                        </a:rPr>
                        <a:t>X</a:t>
                      </a:r>
                      <a:r>
                        <a:rPr b="0" lang="ja-JP" sz="800" strike="noStrike" u="none">
                          <a:solidFill>
                            <a:srgbClr val="000000"/>
                          </a:solidFill>
                          <a:effectLst/>
                          <a:uFillTx/>
                          <a:latin typeface="メイリオ"/>
                          <a:ea typeface="メイリオ"/>
                        </a:rPr>
                        <a:t>での情報収集が活発。</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プライベートの連絡網。</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仕事や、メルマガでの</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セールス情報に抵抗なし。</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プライベートでは減少傾向も</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仕事では必須。</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50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60</a:t>
                      </a:r>
                      <a:r>
                        <a:rPr b="1" lang="ja-JP" sz="1050" strike="noStrike" u="none">
                          <a:solidFill>
                            <a:srgbClr val="000000"/>
                          </a:solidFill>
                          <a:effectLst/>
                          <a:uFillTx/>
                          <a:latin typeface="メイリオ"/>
                          <a:ea typeface="メイリオ"/>
                        </a:rPr>
                        <a:t>代</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80%</a:t>
                      </a:r>
                      <a:r>
                        <a:rPr b="1" lang="ja-JP" sz="1000" strike="noStrike" u="none">
                          <a:solidFill>
                            <a:srgbClr val="000000"/>
                          </a:solidFill>
                          <a:effectLst/>
                          <a:uFillTx/>
                          <a:latin typeface="メイリオ"/>
                          <a:ea typeface="メイリオ"/>
                        </a:rPr>
                        <a:t>〜</a:t>
                      </a:r>
                      <a:r>
                        <a:rPr b="1" lang="en-US" sz="1000" strike="noStrike" u="none">
                          <a:solidFill>
                            <a:srgbClr val="000000"/>
                          </a:solidFill>
                          <a:effectLst/>
                          <a:uFillTx/>
                          <a:latin typeface="メイリオ"/>
                          <a:ea typeface="メイリオ"/>
                        </a:rPr>
                        <a:t>90%</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YouTube</a:t>
                      </a:r>
                      <a:r>
                        <a:rPr b="0" lang="ja-JP" sz="800" strike="noStrike" u="none">
                          <a:solidFill>
                            <a:srgbClr val="000000"/>
                          </a:solidFill>
                          <a:effectLst/>
                          <a:uFillTx/>
                          <a:latin typeface="メイリオ"/>
                          <a:ea typeface="メイリオ"/>
                        </a:rPr>
                        <a:t>での趣味動画視聴も普及。</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家族や友人との連絡で定着。</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最も好まれる企業からの</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情報受取ツール。</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予約や急ぎの用件で信頼性が高い。</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algn="ctr" defTabSz="914400">
                        <a:lnSpc>
                          <a:spcPct val="100000"/>
                        </a:lnSpc>
                      </a:pPr>
                      <a:r>
                        <a:rPr b="1" lang="en-US" sz="1050" strike="noStrike" u="none">
                          <a:solidFill>
                            <a:srgbClr val="000000"/>
                          </a:solidFill>
                          <a:effectLst/>
                          <a:uFillTx/>
                          <a:latin typeface="メイリオ"/>
                          <a:ea typeface="メイリオ"/>
                        </a:rPr>
                        <a:t>70</a:t>
                      </a:r>
                      <a:r>
                        <a:rPr b="1" lang="ja-JP" sz="1050" strike="noStrike" u="none">
                          <a:solidFill>
                            <a:srgbClr val="000000"/>
                          </a:solidFill>
                          <a:effectLst/>
                          <a:uFillTx/>
                          <a:latin typeface="メイリオ"/>
                          <a:ea typeface="メイリオ"/>
                        </a:rPr>
                        <a:t>代以上</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70%</a:t>
                      </a:r>
                      <a:r>
                        <a:rPr b="1" lang="ja-JP" sz="1000" strike="noStrike" u="none">
                          <a:solidFill>
                            <a:srgbClr val="000000"/>
                          </a:solidFill>
                          <a:effectLst/>
                          <a:uFillTx/>
                          <a:latin typeface="メイリオ"/>
                          <a:ea typeface="メイリオ"/>
                        </a:rPr>
                        <a:t>前後</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利用率：低い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利用率：最も高い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連絡手段としての電話が</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最優先される層。</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高齢者層にも普及が進む。</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操作に不慣れで到達率が下がる。</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重要な連絡や問い合わせは</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電話がメイン。</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fillRef idx="0"/>
          <a:effectRef idx="0"/>
          <a:fontRef idx="minor"/>
        </p:style>
        <p:txBody>
          <a:bodyPr anchor="ctr">
            <a:spAutoFit/>
          </a:bodyPr>
          <a:p>
            <a:pPr algn="ctr" defTabSz="914400">
              <a:lnSpc>
                <a:spcPct val="100000"/>
              </a:lnSpc>
            </a:pPr>
            <a:r>
              <a:rPr b="0" lang="en-US" sz="1400" strike="noStrike" u="none">
                <a:solidFill>
                  <a:schemeClr val="dk1"/>
                </a:solidFill>
                <a:effectLst/>
                <a:uFillTx/>
                <a:latin typeface="メイリオ"/>
                <a:ea typeface="メイリオ"/>
              </a:rPr>
              <a:t>LINE</a:t>
            </a:r>
            <a:r>
              <a:rPr b="0" lang="ja-JP" sz="1400" strike="noStrike" u="none">
                <a:solidFill>
                  <a:schemeClr val="dk1"/>
                </a:solidFill>
                <a:effectLst/>
                <a:uFillTx/>
                <a:latin typeface="メイリオ"/>
                <a:ea typeface="メイリオ"/>
              </a:rPr>
              <a:t>公式アカウントの施策内（開封率、クリック率、</a:t>
            </a:r>
            <a:r>
              <a:rPr b="0" lang="en-US" sz="1400" strike="noStrike" u="none">
                <a:solidFill>
                  <a:schemeClr val="dk1"/>
                </a:solidFill>
                <a:effectLst/>
                <a:uFillTx/>
                <a:latin typeface="メイリオ"/>
                <a:ea typeface="メイリオ"/>
              </a:rPr>
              <a:t>CV</a:t>
            </a:r>
            <a:r>
              <a:rPr b="0" lang="ja-JP" sz="1400" strike="noStrike" u="none">
                <a:solidFill>
                  <a:schemeClr val="dk1"/>
                </a:solidFill>
                <a:effectLst/>
                <a:uFillTx/>
                <a:latin typeface="メイリオ"/>
                <a:ea typeface="メイリオ"/>
              </a:rPr>
              <a:t>率）で高い水準の施策をご提供。</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初期設計のみのご依頼でも、大きく数値改善できるポイントの導入支援が可能です。</a:t>
            </a:r>
            <a:endParaRPr b="0" lang="en-US" sz="1400" strike="noStrike" u="non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endParaRPr b="0" lang="en-US" sz="1050" strike="noStrike" u="non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営業トスアップ</a:t>
            </a:r>
            <a:endParaRPr b="0" lang="en-US" sz="1050" strike="noStrike" u="non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len="med" type="triangle" w="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rgbClr val="ff0000"/>
                </a:solidFill>
                <a:effectLst/>
                <a:uFillTx/>
                <a:latin typeface="メイリオ"/>
                <a:ea typeface="メイリオ"/>
              </a:rPr>
              <a:t>（成果地点）</a:t>
            </a:r>
            <a:endParaRPr b="0" lang="en-US" sz="1100" strike="noStrike" u="non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通常メッセージ（企画投稿）</a:t>
            </a:r>
            <a:endParaRPr b="0" lang="en-US" sz="1050" strike="noStrike" u="non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通常メッセージ（ステップ配信投稿）</a:t>
            </a:r>
            <a:endParaRPr b="0" lang="en-US" sz="1050" strike="noStrike" u="non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その他指標（リッチメニュー、プロフ、挨拶メッセ）</a:t>
            </a:r>
            <a:endParaRPr b="0" lang="en-US" sz="1050" strike="noStrike" u="non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chemeClr val="dk2"/>
                </a:solidFill>
                <a:effectLst/>
                <a:uFillTx/>
                <a:latin typeface="メイリオ"/>
                <a:ea typeface="メイリオ"/>
              </a:rPr>
              <a:t>（</a:t>
            </a:r>
            <a:r>
              <a:rPr b="0" lang="en-US" sz="1100" strike="noStrike" u="none">
                <a:solidFill>
                  <a:schemeClr val="dk2"/>
                </a:solidFill>
                <a:effectLst/>
                <a:uFillTx/>
                <a:latin typeface="メイリオ"/>
                <a:ea typeface="メイリオ"/>
              </a:rPr>
              <a:t>LINE</a:t>
            </a:r>
            <a:r>
              <a:rPr b="0" lang="ja-JP" sz="1100" strike="noStrike" u="none">
                <a:solidFill>
                  <a:schemeClr val="dk2"/>
                </a:solidFill>
                <a:effectLst/>
                <a:uFillTx/>
                <a:latin typeface="メイリオ"/>
                <a:ea typeface="メイリオ"/>
              </a:rPr>
              <a:t>施策内）</a:t>
            </a:r>
            <a:endParaRPr b="0" lang="en-US" sz="1100" strike="noStrike" u="non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友だち追加</a:t>
            </a:r>
            <a:endParaRPr b="0" lang="en-US" sz="1050" strike="noStrike" u="non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000" strike="noStrike" u="none">
                <a:solidFill>
                  <a:schemeClr val="dk1"/>
                </a:solidFill>
                <a:effectLst/>
                <a:uFillTx/>
                <a:latin typeface="メイリオ"/>
                <a:ea typeface="メイリオ"/>
              </a:rPr>
              <a:t>アクティブ数</a:t>
            </a:r>
            <a:endParaRPr b="0" lang="en-US" sz="1000" strike="noStrike" u="none">
              <a:solidFill>
                <a:srgbClr val="000000"/>
              </a:solidFill>
              <a:effectLst/>
              <a:uFillTx/>
              <a:latin typeface="Arial"/>
            </a:endParaRPr>
          </a:p>
          <a:p>
            <a:pPr algn="ctr" defTabSz="914400">
              <a:lnSpc>
                <a:spcPct val="100000"/>
              </a:lnSpc>
            </a:pPr>
            <a:r>
              <a:rPr b="0" lang="ja-JP" sz="800" strike="noStrike" u="none">
                <a:solidFill>
                  <a:schemeClr val="dk1"/>
                </a:solidFill>
                <a:effectLst/>
                <a:uFillTx/>
                <a:latin typeface="メイリオ"/>
                <a:ea typeface="メイリオ"/>
              </a:rPr>
              <a:t>（非ブロック率）</a:t>
            </a:r>
            <a:endParaRPr b="0" lang="en-US" sz="800" strike="noStrike" u="non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000" strike="noStrike" u="none">
                <a:solidFill>
                  <a:schemeClr val="dk1"/>
                </a:solidFill>
                <a:effectLst/>
                <a:uFillTx/>
                <a:latin typeface="メイリオ"/>
                <a:ea typeface="メイリオ"/>
              </a:rPr>
              <a:t>セグメント率</a:t>
            </a:r>
            <a:endParaRPr b="0" lang="en-US" sz="1000" strike="noStrike" u="none">
              <a:solidFill>
                <a:srgbClr val="000000"/>
              </a:solidFill>
              <a:effectLst/>
              <a:uFillTx/>
              <a:latin typeface="Arial"/>
            </a:endParaRPr>
          </a:p>
          <a:p>
            <a:pPr algn="ctr" defTabSz="914400">
              <a:lnSpc>
                <a:spcPct val="100000"/>
              </a:lnSpc>
            </a:pPr>
            <a:r>
              <a:rPr b="0" lang="en-US" sz="1000" strike="noStrike" u="none">
                <a:solidFill>
                  <a:schemeClr val="dk1"/>
                </a:solidFill>
                <a:effectLst/>
                <a:uFillTx/>
                <a:latin typeface="メイリオ"/>
                <a:ea typeface="メイリオ"/>
              </a:rPr>
              <a:t>or</a:t>
            </a:r>
            <a:endParaRPr b="0" lang="en-US" sz="1000" strike="noStrike" u="none">
              <a:solidFill>
                <a:srgbClr val="000000"/>
              </a:solidFill>
              <a:effectLst/>
              <a:uFillTx/>
              <a:latin typeface="Arial"/>
            </a:endParaRPr>
          </a:p>
          <a:p>
            <a:pPr algn="ctr" defTabSz="914400">
              <a:lnSpc>
                <a:spcPct val="100000"/>
              </a:lnSpc>
            </a:pPr>
            <a:r>
              <a:rPr b="1" lang="ja-JP" sz="1000" strike="noStrike" u="none">
                <a:solidFill>
                  <a:schemeClr val="dk1"/>
                </a:solidFill>
                <a:effectLst/>
                <a:uFillTx/>
                <a:latin typeface="メイリオ"/>
                <a:ea typeface="メイリオ"/>
              </a:rPr>
              <a:t>ステップ配信設定数</a:t>
            </a:r>
            <a:endParaRPr b="0" lang="en-US" sz="1000" strike="noStrike" u="non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rgbClr val="00b050"/>
                </a:solidFill>
                <a:effectLst/>
                <a:uFillTx/>
                <a:latin typeface="メイリオ"/>
                <a:ea typeface="メイリオ"/>
              </a:rPr>
              <a:t>（ターゲット戦略）</a:t>
            </a:r>
            <a:endParaRPr b="0" lang="en-US" sz="1100" strike="noStrike" u="non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月間通数</a:t>
            </a:r>
            <a:endParaRPr b="0" lang="en-US" sz="1050" strike="noStrike" u="non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rgbClr val="ff0000"/>
                </a:solidFill>
                <a:effectLst/>
                <a:uFillTx/>
                <a:latin typeface="メイリオ"/>
                <a:ea typeface="メイリオ"/>
              </a:rPr>
              <a:t>85 </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800" strike="noStrike" u="none">
                <a:solidFill>
                  <a:srgbClr val="ff0000"/>
                </a:solidFill>
                <a:effectLst/>
                <a:uFillTx/>
                <a:latin typeface="メイリオ"/>
                <a:ea typeface="メイリオ"/>
              </a:rPr>
              <a:t>12.5 </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rgbClr val="ff0000"/>
                </a:solidFill>
                <a:effectLst/>
                <a:uFillTx/>
                <a:latin typeface="メイリオ"/>
                <a:ea typeface="メイリオ"/>
              </a:rPr>
              <a:t>0.5</a:t>
            </a:r>
            <a:r>
              <a:rPr b="1" lang="en-US" sz="1400" strike="noStrike" u="none">
                <a:solidFill>
                  <a:srgbClr val="ff0000"/>
                </a:solidFill>
                <a:effectLst/>
                <a:uFillTx/>
                <a:latin typeface="メイリオ"/>
                <a:ea typeface="メイリオ"/>
              </a:rPr>
              <a:t> %</a:t>
            </a:r>
            <a:endParaRPr b="0" lang="en-US" sz="1400" strike="noStrike" u="non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70 %</a:t>
            </a:r>
            <a:endParaRPr b="0" lang="en-US" sz="1400" strike="noStrike" u="non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8.25 %</a:t>
            </a:r>
            <a:endParaRPr b="0" lang="en-US" sz="1400" strike="noStrike" u="non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0.3 %</a:t>
            </a:r>
            <a:endParaRPr b="0" lang="en-US" sz="1400" strike="noStrike" u="non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rgbClr val="ffc000"/>
                </a:solidFill>
                <a:effectLst/>
                <a:uFillTx/>
                <a:latin typeface="メイリオ"/>
                <a:ea typeface="メイリオ"/>
              </a:rPr>
              <a:t>DYM</a:t>
            </a:r>
            <a:r>
              <a:rPr b="1" lang="ja-JP" sz="1200" strike="noStrike" u="none">
                <a:solidFill>
                  <a:srgbClr val="ffc000"/>
                </a:solidFill>
                <a:effectLst/>
                <a:uFillTx/>
                <a:latin typeface="メイリオ"/>
                <a:ea typeface="メイリオ"/>
              </a:rPr>
              <a:t>実績</a:t>
            </a:r>
            <a:endParaRPr b="0" lang="en-US" sz="1200" strike="noStrike" u="non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200" strike="noStrike" u="none">
                <a:solidFill>
                  <a:schemeClr val="lt1"/>
                </a:solidFill>
                <a:effectLst/>
                <a:uFillTx/>
                <a:latin typeface="メイリオ"/>
                <a:ea typeface="メイリオ"/>
              </a:rPr>
              <a:t>業界平均</a:t>
            </a:r>
            <a:endParaRPr b="0" lang="en-US" sz="1200" strike="noStrike" u="none">
              <a:solidFill>
                <a:srgbClr val="ffffff"/>
              </a:solidFill>
              <a:effectLst/>
              <a:uFillTx/>
              <a:latin typeface="Arial"/>
            </a:endParaRPr>
          </a:p>
          <a:p>
            <a:pPr algn="ctr" defTabSz="914400">
              <a:lnSpc>
                <a:spcPct val="100000"/>
              </a:lnSpc>
            </a:pPr>
            <a:r>
              <a:rPr b="1" lang="en-US" sz="800" strike="noStrike" u="none">
                <a:solidFill>
                  <a:schemeClr val="lt1"/>
                </a:solidFill>
                <a:effectLst/>
                <a:uFillTx/>
                <a:latin typeface="メイリオ"/>
                <a:ea typeface="メイリオ"/>
              </a:rPr>
              <a:t>(LINE</a:t>
            </a:r>
            <a:r>
              <a:rPr b="1" lang="ja-JP" sz="800" strike="noStrike" u="none">
                <a:solidFill>
                  <a:schemeClr val="lt1"/>
                </a:solidFill>
                <a:effectLst/>
                <a:uFillTx/>
                <a:latin typeface="メイリオ"/>
                <a:ea typeface="メイリオ"/>
              </a:rPr>
              <a:t>ヤフー社より共有）</a:t>
            </a:r>
            <a:endParaRPr b="0" lang="en-US" sz="800" strike="noStrike" u="non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rgbClr val="ffc000"/>
                </a:solidFill>
                <a:effectLst/>
                <a:uFillTx/>
                <a:latin typeface="メイリオ"/>
                <a:ea typeface="メイリオ"/>
              </a:rPr>
              <a:t>施策の流れ</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業態平均で</a:t>
            </a:r>
            <a:r>
              <a:rPr b="1" lang="ja-JP" sz="1400" strike="noStrike" u="none">
                <a:solidFill>
                  <a:srgbClr val="ff0000"/>
                </a:solidFill>
                <a:effectLst/>
                <a:uFillTx/>
                <a:latin typeface="メイリオ"/>
                <a:ea typeface="メイリオ"/>
              </a:rPr>
              <a:t>最大３</a:t>
            </a:r>
            <a:r>
              <a:rPr b="1" lang="en-US" sz="1400" strike="noStrike" u="none">
                <a:solidFill>
                  <a:srgbClr val="ff0000"/>
                </a:solidFill>
                <a:effectLst/>
                <a:uFillTx/>
                <a:latin typeface="メイリオ"/>
                <a:ea typeface="メイリオ"/>
              </a:rPr>
              <a:t>%</a:t>
            </a:r>
            <a:r>
              <a:rPr b="1" lang="ja-JP" sz="1400" strike="noStrike" u="none">
                <a:solidFill>
                  <a:srgbClr val="ff0000"/>
                </a:solidFill>
                <a:effectLst/>
                <a:uFillTx/>
                <a:latin typeface="メイリオ"/>
                <a:ea typeface="メイリオ"/>
              </a:rPr>
              <a:t>のユーザーは有効化</a:t>
            </a:r>
            <a:r>
              <a:rPr b="1" lang="en-US" sz="1400" strike="noStrike" u="none">
                <a:solidFill>
                  <a:srgbClr val="ff0000"/>
                </a:solidFill>
                <a:effectLst/>
                <a:uFillTx/>
                <a:latin typeface="メイリオ"/>
                <a:ea typeface="メイリオ"/>
              </a:rPr>
              <a:t>/</a:t>
            </a:r>
            <a:r>
              <a:rPr b="1" lang="ja-JP" sz="1400" strike="noStrike" u="none">
                <a:solidFill>
                  <a:srgbClr val="ff0000"/>
                </a:solidFill>
                <a:effectLst/>
                <a:uFillTx/>
                <a:latin typeface="メイリオ"/>
                <a:ea typeface="メイリオ"/>
              </a:rPr>
              <a:t>マネタイズ可能</a:t>
            </a:r>
            <a:r>
              <a:rPr b="0" lang="en-US" sz="1400" strike="noStrike" u="none">
                <a:solidFill>
                  <a:srgbClr val="343434"/>
                </a:solidFill>
                <a:effectLst/>
                <a:uFillTx/>
                <a:latin typeface="メイリオ"/>
                <a:ea typeface="メイリオ"/>
              </a:rPr>
              <a:t> とされている。</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貴社集客課題に合わせて、</a:t>
            </a:r>
            <a:r>
              <a:rPr b="0" lang="en-US" sz="1400" strike="noStrike" u="none">
                <a:solidFill>
                  <a:srgbClr val="343434"/>
                </a:solidFill>
                <a:effectLst/>
                <a:uFillTx/>
                <a:latin typeface="メイリオ"/>
                <a:ea typeface="メイリオ"/>
              </a:rPr>
              <a:t>LINE</a:t>
            </a:r>
            <a:r>
              <a:rPr b="0" lang="ja-JP" sz="1400" strike="noStrike" u="none">
                <a:solidFill>
                  <a:srgbClr val="343434"/>
                </a:solidFill>
                <a:effectLst/>
                <a:uFillTx/>
                <a:latin typeface="メイリオ"/>
                <a:ea typeface="メイリオ"/>
              </a:rPr>
              <a:t>公式アカウントの構築モデルを活用しながら集客効率を改善。</a:t>
            </a:r>
            <a:endParaRPr b="0" lang="en-US" sz="1400" strike="noStrike" u="non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200" strike="noStrike" u="none">
                <a:solidFill>
                  <a:schemeClr val="lt1"/>
                </a:solidFill>
                <a:effectLst/>
                <a:uFillTx/>
                <a:latin typeface="メイリオ"/>
                <a:ea typeface="メイリオ"/>
              </a:rPr>
              <a:t>流入元</a:t>
            </a:r>
            <a:endParaRPr b="0" lang="en-US" sz="1200" strike="noStrike" u="non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LINE</a:t>
            </a:r>
            <a:r>
              <a:rPr b="1" lang="ja-JP" sz="1200" strike="noStrike" u="none">
                <a:solidFill>
                  <a:schemeClr val="lt1"/>
                </a:solidFill>
                <a:effectLst/>
                <a:uFillTx/>
                <a:latin typeface="メイリオ"/>
                <a:ea typeface="メイリオ"/>
              </a:rPr>
              <a:t>誘導</a:t>
            </a:r>
            <a:endParaRPr b="0" lang="en-US" sz="1200" strike="noStrike" u="non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具体の施策方針</a:t>
            </a:r>
            <a:endParaRPr b="0" lang="en-US" sz="1200" strike="noStrike" u="non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離脱防止</a:t>
            </a:r>
            <a:endParaRPr b="0" lang="en-US" sz="900" strike="noStrike" u="none">
              <a:solidFill>
                <a:srgbClr val="000000"/>
              </a:solidFill>
              <a:effectLst/>
              <a:uFillTx/>
              <a:latin typeface="Arial"/>
            </a:endParaRPr>
          </a:p>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サイト上ポップアップ</a:t>
            </a:r>
            <a:endParaRPr b="0" lang="en-US" sz="900" strike="noStrike" u="non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離脱防止</a:t>
            </a:r>
            <a:endParaRPr b="0" lang="en-US" sz="900" strike="noStrike" u="none">
              <a:solidFill>
                <a:srgbClr val="000000"/>
              </a:solidFill>
              <a:effectLst/>
              <a:uFillTx/>
              <a:latin typeface="Arial"/>
            </a:endParaRPr>
          </a:p>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サイト上ポップアップ</a:t>
            </a:r>
            <a:endParaRPr b="0" lang="en-US" sz="900" strike="noStrike" u="non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75000"/>
                    <a:lumOff val="25000"/>
                  </a:schemeClr>
                </a:solidFill>
                <a:effectLst/>
                <a:uFillTx/>
                <a:latin typeface="メイリオ"/>
                <a:ea typeface="メイリオ"/>
              </a:rPr>
              <a:t>SEO</a:t>
            </a:r>
            <a:r>
              <a:rPr b="0" lang="ja-JP" sz="1000" strike="noStrike" u="none">
                <a:solidFill>
                  <a:schemeClr val="dk1">
                    <a:lumMod val="75000"/>
                    <a:lumOff val="25000"/>
                  </a:schemeClr>
                </a:solidFill>
                <a:effectLst/>
                <a:uFillTx/>
                <a:latin typeface="メイリオ"/>
                <a:ea typeface="メイリオ"/>
              </a:rPr>
              <a:t>・</a:t>
            </a:r>
            <a:r>
              <a:rPr b="0" lang="en-US" sz="1000" strike="noStrike" u="none">
                <a:solidFill>
                  <a:schemeClr val="dk1">
                    <a:lumMod val="75000"/>
                    <a:lumOff val="25000"/>
                  </a:schemeClr>
                </a:solidFill>
                <a:effectLst/>
                <a:uFillTx/>
                <a:latin typeface="メイリオ"/>
                <a:ea typeface="メイリオ"/>
              </a:rPr>
              <a:t>AIO</a:t>
            </a:r>
            <a:endParaRPr b="0" lang="en-US" sz="1000" strike="noStrike" u="non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75000"/>
                    <a:lumOff val="25000"/>
                  </a:schemeClr>
                </a:solidFill>
                <a:effectLst/>
                <a:uFillTx/>
                <a:latin typeface="メイリオ"/>
                <a:ea typeface="メイリオ"/>
              </a:rPr>
              <a:t>広告</a:t>
            </a:r>
            <a:endParaRPr b="0" lang="en-US" sz="1000" strike="noStrike" u="non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LINE</a:t>
            </a:r>
            <a:r>
              <a:rPr b="0" lang="ja-JP" sz="1000" strike="noStrike" u="none">
                <a:solidFill>
                  <a:schemeClr val="dk1">
                    <a:lumMod val="65000"/>
                    <a:lumOff val="35000"/>
                  </a:schemeClr>
                </a:solidFill>
                <a:effectLst/>
                <a:uFillTx/>
                <a:latin typeface="メイリオ"/>
                <a:ea typeface="メイリオ"/>
              </a:rPr>
              <a:t>広告（</a:t>
            </a:r>
            <a:r>
              <a:rPr b="0" lang="en-US" sz="1000" strike="noStrike" u="none">
                <a:solidFill>
                  <a:schemeClr val="dk1">
                    <a:lumMod val="65000"/>
                    <a:lumOff val="35000"/>
                  </a:schemeClr>
                </a:solidFill>
                <a:effectLst/>
                <a:uFillTx/>
                <a:latin typeface="メイリオ"/>
                <a:ea typeface="メイリオ"/>
              </a:rPr>
              <a:t>CPF</a:t>
            </a:r>
            <a:r>
              <a:rPr b="0" lang="ja-JP" sz="1000" strike="noStrike" u="none">
                <a:solidFill>
                  <a:schemeClr val="dk1">
                    <a:lumMod val="65000"/>
                    <a:lumOff val="35000"/>
                  </a:schemeClr>
                </a:solidFill>
                <a:effectLst/>
                <a:uFillTx/>
                <a:latin typeface="メイリオ"/>
                <a:ea typeface="メイリオ"/>
              </a:rPr>
              <a:t>配信）</a:t>
            </a:r>
            <a:endParaRPr b="0" lang="en-US" sz="1000" strike="noStrike" u="none">
              <a:solidFill>
                <a:srgbClr val="000000"/>
              </a:solidFill>
              <a:effectLst/>
              <a:uFillTx/>
              <a:latin typeface="Arial"/>
            </a:endParaRPr>
          </a:p>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サイト上ポップアップ</a:t>
            </a:r>
            <a:endParaRPr b="0" lang="en-US" sz="1000" strike="noStrike" u="non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通知メッセ</a:t>
            </a:r>
            <a:endParaRPr b="0" lang="en-US" sz="900" strike="noStrike" u="non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CV</a:t>
            </a:r>
            <a:r>
              <a:rPr b="0" lang="ja-JP" sz="1000" strike="noStrike" u="none">
                <a:solidFill>
                  <a:schemeClr val="dk1">
                    <a:lumMod val="65000"/>
                    <a:lumOff val="35000"/>
                  </a:schemeClr>
                </a:solidFill>
                <a:effectLst/>
                <a:uFillTx/>
                <a:latin typeface="メイリオ"/>
                <a:ea typeface="メイリオ"/>
              </a:rPr>
              <a:t>・</a:t>
            </a:r>
            <a:r>
              <a:rPr b="0" lang="en-US" sz="1000" strike="noStrike" u="none">
                <a:solidFill>
                  <a:schemeClr val="dk1">
                    <a:lumMod val="65000"/>
                    <a:lumOff val="35000"/>
                  </a:schemeClr>
                </a:solidFill>
                <a:effectLst/>
                <a:uFillTx/>
                <a:latin typeface="メイリオ"/>
                <a:ea typeface="メイリオ"/>
              </a:rPr>
              <a:t>mcv</a:t>
            </a:r>
            <a:r>
              <a:rPr b="0" lang="ja-JP" sz="1000" strike="noStrike" u="none">
                <a:solidFill>
                  <a:schemeClr val="dk1">
                    <a:lumMod val="65000"/>
                    <a:lumOff val="35000"/>
                  </a:schemeClr>
                </a:solidFill>
                <a:effectLst/>
                <a:uFillTx/>
                <a:latin typeface="メイリオ"/>
                <a:ea typeface="メイリオ"/>
              </a:rPr>
              <a:t>済</a:t>
            </a:r>
            <a:endParaRPr b="0" lang="en-US" sz="1000" strike="noStrike" u="non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サンクス</a:t>
            </a:r>
            <a:r>
              <a:rPr b="0" lang="en-US" sz="900" strike="noStrike" u="none">
                <a:solidFill>
                  <a:schemeClr val="dk1">
                    <a:lumMod val="65000"/>
                    <a:lumOff val="35000"/>
                  </a:schemeClr>
                </a:solidFill>
                <a:effectLst/>
                <a:uFillTx/>
                <a:latin typeface="メイリオ"/>
                <a:ea typeface="メイリオ"/>
              </a:rPr>
              <a:t>LINE</a:t>
            </a:r>
            <a:r>
              <a:rPr b="0" lang="ja-JP" sz="900" strike="noStrike" u="none">
                <a:solidFill>
                  <a:schemeClr val="dk1">
                    <a:lumMod val="65000"/>
                    <a:lumOff val="35000"/>
                  </a:schemeClr>
                </a:solidFill>
                <a:effectLst/>
                <a:uFillTx/>
                <a:latin typeface="メイリオ"/>
                <a:ea typeface="メイリオ"/>
              </a:rPr>
              <a:t>誘導</a:t>
            </a:r>
            <a:endParaRPr b="0" lang="en-US" sz="900" strike="noStrike" u="non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CV</a:t>
            </a:r>
            <a:r>
              <a:rPr b="0" lang="ja-JP" sz="1000" strike="noStrike" u="none">
                <a:solidFill>
                  <a:schemeClr val="dk1">
                    <a:lumMod val="65000"/>
                    <a:lumOff val="35000"/>
                  </a:schemeClr>
                </a:solidFill>
                <a:effectLst/>
                <a:uFillTx/>
                <a:latin typeface="メイリオ"/>
                <a:ea typeface="メイリオ"/>
              </a:rPr>
              <a:t>・</a:t>
            </a:r>
            <a:r>
              <a:rPr b="0" lang="en-US" sz="1000" strike="noStrike" u="none">
                <a:solidFill>
                  <a:schemeClr val="dk1">
                    <a:lumMod val="65000"/>
                    <a:lumOff val="35000"/>
                  </a:schemeClr>
                </a:solidFill>
                <a:effectLst/>
                <a:uFillTx/>
                <a:latin typeface="メイリオ"/>
                <a:ea typeface="メイリオ"/>
              </a:rPr>
              <a:t>mcv</a:t>
            </a:r>
            <a:r>
              <a:rPr b="0" lang="ja-JP" sz="1000" strike="noStrike" u="none">
                <a:solidFill>
                  <a:schemeClr val="dk1">
                    <a:lumMod val="65000"/>
                    <a:lumOff val="35000"/>
                  </a:schemeClr>
                </a:solidFill>
                <a:effectLst/>
                <a:uFillTx/>
                <a:latin typeface="メイリオ"/>
                <a:ea typeface="メイリオ"/>
              </a:rPr>
              <a:t>済</a:t>
            </a:r>
            <a:endParaRPr b="0" lang="en-US" sz="1000" strike="noStrike" u="non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保有リスト</a:t>
            </a:r>
            <a:endParaRPr b="0" lang="en-US" sz="1000" strike="noStrike" u="non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保有リスト</a:t>
            </a:r>
            <a:endParaRPr b="0" lang="en-US" sz="1000" strike="noStrike" u="non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通知メッセ</a:t>
            </a:r>
            <a:endParaRPr b="0" lang="en-US" sz="900" strike="noStrike" u="non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メルマガ・テレマ</a:t>
            </a:r>
            <a:endParaRPr b="0" lang="en-US" sz="900" strike="noStrike" u="none">
              <a:solidFill>
                <a:srgbClr val="000000"/>
              </a:solidFill>
              <a:effectLst/>
              <a:uFillTx/>
              <a:latin typeface="Arial"/>
            </a:endParaRPr>
          </a:p>
          <a:p>
            <a:pPr algn="ctr" defTabSz="914400">
              <a:lnSpc>
                <a:spcPct val="100000"/>
              </a:lnSpc>
            </a:pPr>
            <a:r>
              <a:rPr b="0" lang="en-US" sz="900" strike="noStrike" u="none">
                <a:solidFill>
                  <a:schemeClr val="dk1">
                    <a:lumMod val="65000"/>
                    <a:lumOff val="35000"/>
                  </a:schemeClr>
                </a:solidFill>
                <a:effectLst/>
                <a:uFillTx/>
                <a:latin typeface="メイリオ"/>
                <a:ea typeface="メイリオ"/>
              </a:rPr>
              <a:t>SNS</a:t>
            </a:r>
            <a:r>
              <a:rPr b="0" lang="ja-JP" sz="900" strike="noStrike" u="none">
                <a:solidFill>
                  <a:schemeClr val="dk1">
                    <a:lumMod val="65000"/>
                    <a:lumOff val="35000"/>
                  </a:schemeClr>
                </a:solidFill>
                <a:effectLst/>
                <a:uFillTx/>
                <a:latin typeface="メイリオ"/>
                <a:ea typeface="メイリオ"/>
              </a:rPr>
              <a:t>告知</a:t>
            </a:r>
            <a:endParaRPr b="0" lang="en-US" sz="900" strike="noStrike" u="non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zh-CN" sz="800" strike="noStrike" u="none">
                <a:solidFill>
                  <a:schemeClr val="lt1">
                    <a:lumMod val="65000"/>
                  </a:schemeClr>
                </a:solidFill>
                <a:effectLst/>
                <a:uFillTx/>
                <a:latin typeface="メイリオ"/>
                <a:ea typeface="メイリオ"/>
              </a:rPr>
              <a:t>あいさつ</a:t>
            </a:r>
            <a:r>
              <a:rPr b="0" lang="en-US" sz="800" strike="noStrike" u="none">
                <a:solidFill>
                  <a:schemeClr val="lt1">
                    <a:lumMod val="65000"/>
                  </a:schemeClr>
                </a:solidFill>
                <a:effectLst/>
                <a:uFillTx/>
                <a:latin typeface="メイリオ"/>
                <a:ea typeface="メイリオ"/>
              </a:rPr>
              <a:t>MSG</a:t>
            </a:r>
            <a:r>
              <a:rPr b="0" lang="zh-CN" sz="800" strike="noStrike" u="none">
                <a:solidFill>
                  <a:schemeClr val="lt1">
                    <a:lumMod val="65000"/>
                  </a:schemeClr>
                </a:solidFill>
                <a:effectLst/>
                <a:uFillTx/>
                <a:latin typeface="メイリオ"/>
                <a:ea typeface="メイリオ"/>
              </a:rPr>
              <a:t>＋</a:t>
            </a:r>
            <a:endParaRPr b="0" lang="en-US" sz="800" strike="noStrike" u="none">
              <a:solidFill>
                <a:srgbClr val="000000"/>
              </a:solidFill>
              <a:effectLst/>
              <a:uFillTx/>
              <a:latin typeface="Arial"/>
            </a:endParaRPr>
          </a:p>
          <a:p>
            <a:pPr defTabSz="914400">
              <a:lnSpc>
                <a:spcPct val="135000"/>
              </a:lnSpc>
            </a:pPr>
            <a:r>
              <a:rPr b="0" lang="zh-CN" sz="800" strike="noStrike" u="none">
                <a:solidFill>
                  <a:schemeClr val="lt1">
                    <a:lumMod val="65000"/>
                  </a:schemeClr>
                </a:solidFill>
                <a:effectLst/>
                <a:uFillTx/>
                <a:latin typeface="メイリオ"/>
                <a:ea typeface="メイリオ"/>
              </a:rPr>
              <a:t>登録特典</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資料</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診断</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自動送付</a:t>
            </a:r>
            <a:endParaRPr b="0" lang="en-US" sz="800" strike="noStrike" u="non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zh-CN" sz="800" strike="noStrike" u="none">
                <a:solidFill>
                  <a:schemeClr val="lt1">
                    <a:lumMod val="65000"/>
                  </a:schemeClr>
                </a:solidFill>
                <a:effectLst/>
                <a:uFillTx/>
                <a:latin typeface="メイリオ"/>
                <a:ea typeface="メイリオ"/>
              </a:rPr>
              <a:t>教育コンテンツ配信</a:t>
            </a:r>
            <a:endParaRPr b="0" lang="en-US" sz="800" strike="noStrike" u="none">
              <a:solidFill>
                <a:srgbClr val="000000"/>
              </a:solidFill>
              <a:effectLst/>
              <a:uFillTx/>
              <a:latin typeface="Arial"/>
            </a:endParaRPr>
          </a:p>
          <a:p>
            <a:pPr defTabSz="914400">
              <a:lnSpc>
                <a:spcPct val="135000"/>
              </a:lnSpc>
            </a:pPr>
            <a:r>
              <a:rPr b="0" lang="zh-CN" sz="800" strike="noStrike" u="none">
                <a:solidFill>
                  <a:schemeClr val="lt1">
                    <a:lumMod val="65000"/>
                  </a:schemeClr>
                </a:solidFill>
                <a:effectLst/>
                <a:uFillTx/>
                <a:latin typeface="メイリオ"/>
                <a:ea typeface="メイリオ"/>
              </a:rPr>
              <a:t>（週</a:t>
            </a:r>
            <a:r>
              <a:rPr b="0" lang="en-US" sz="800" strike="noStrike" u="none">
                <a:solidFill>
                  <a:schemeClr val="lt1">
                    <a:lumMod val="65000"/>
                  </a:schemeClr>
                </a:solidFill>
                <a:effectLst/>
                <a:uFillTx/>
                <a:latin typeface="メイリオ"/>
                <a:ea typeface="メイリオ"/>
              </a:rPr>
              <a:t>1</a:t>
            </a:r>
            <a:r>
              <a:rPr b="0" lang="zh-CN" sz="800" strike="noStrike" u="none">
                <a:solidFill>
                  <a:schemeClr val="lt1">
                    <a:lumMod val="65000"/>
                  </a:schemeClr>
                </a:solidFill>
                <a:effectLst/>
                <a:uFillTx/>
                <a:latin typeface="メイリオ"/>
                <a:ea typeface="メイリオ"/>
              </a:rPr>
              <a:t>）→ </a:t>
            </a:r>
            <a:r>
              <a:rPr b="0" lang="en-US" sz="800" strike="noStrike" u="none">
                <a:solidFill>
                  <a:schemeClr val="lt1">
                    <a:lumMod val="65000"/>
                  </a:schemeClr>
                </a:solidFill>
                <a:effectLst/>
                <a:uFillTx/>
                <a:latin typeface="メイリオ"/>
                <a:ea typeface="メイリオ"/>
              </a:rPr>
              <a:t>CV</a:t>
            </a:r>
            <a:r>
              <a:rPr b="0" lang="zh-CN" sz="800" strike="noStrike" u="none">
                <a:solidFill>
                  <a:schemeClr val="lt1">
                    <a:lumMod val="65000"/>
                  </a:schemeClr>
                </a:solidFill>
                <a:effectLst/>
                <a:uFillTx/>
                <a:latin typeface="メイリオ"/>
                <a:ea typeface="メイリオ"/>
              </a:rPr>
              <a:t>誘導オファー</a:t>
            </a:r>
            <a:endParaRPr b="0" lang="en-US" sz="800" strike="noStrike" u="non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endParaRPr b="0" lang="en-US" sz="900" strike="noStrike" u="non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endParaRPr b="0" lang="en-US" sz="900" strike="noStrike" u="non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len="med" type="triangle" w="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KW</a:t>
            </a:r>
            <a:r>
              <a:rPr b="0" lang="ja-JP" sz="800" strike="noStrike" u="none">
                <a:solidFill>
                  <a:schemeClr val="lt1">
                    <a:lumMod val="65000"/>
                  </a:schemeClr>
                </a:solidFill>
                <a:effectLst/>
                <a:uFillTx/>
                <a:latin typeface="メイリオ"/>
                <a:ea typeface="メイリオ"/>
              </a:rPr>
              <a:t>自動応答設定</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ユーザー意図別に即返信</a:t>
            </a:r>
            <a:endParaRPr b="0" lang="en-US" sz="800" strike="noStrike" u="non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ステップ配信（</a:t>
            </a:r>
            <a:r>
              <a:rPr b="0" lang="en-US" sz="800" strike="noStrike" u="none">
                <a:solidFill>
                  <a:schemeClr val="lt1">
                    <a:lumMod val="65000"/>
                  </a:schemeClr>
                </a:solidFill>
                <a:effectLst/>
                <a:uFillTx/>
                <a:latin typeface="メイリオ"/>
                <a:ea typeface="メイリオ"/>
              </a:rPr>
              <a:t>7</a:t>
            </a:r>
            <a:r>
              <a:rPr b="0" lang="ja-JP" sz="800" strike="noStrike" u="none">
                <a:solidFill>
                  <a:schemeClr val="lt1">
                    <a:lumMod val="65000"/>
                  </a:schemeClr>
                </a:solidFill>
                <a:effectLst/>
                <a:uFillTx/>
                <a:latin typeface="メイリオ"/>
                <a:ea typeface="メイリオ"/>
              </a:rPr>
              <a:t>〜</a:t>
            </a:r>
            <a:r>
              <a:rPr b="0" lang="en-US" sz="800" strike="noStrike" u="none">
                <a:solidFill>
                  <a:schemeClr val="lt1">
                    <a:lumMod val="65000"/>
                  </a:schemeClr>
                </a:solidFill>
                <a:effectLst/>
                <a:uFillTx/>
                <a:latin typeface="メイリオ"/>
                <a:ea typeface="メイリオ"/>
              </a:rPr>
              <a:t>14</a:t>
            </a:r>
            <a:r>
              <a:rPr b="0" lang="ja-JP" sz="800" strike="noStrike" u="none">
                <a:solidFill>
                  <a:schemeClr val="lt1">
                    <a:lumMod val="65000"/>
                  </a:schemeClr>
                </a:solidFill>
                <a:effectLst/>
                <a:uFillTx/>
                <a:latin typeface="メイリオ"/>
                <a:ea typeface="メイリオ"/>
              </a:rPr>
              <a:t>通）</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商談・申込への誘導</a:t>
            </a:r>
            <a:endParaRPr b="0" lang="en-US" sz="800" strike="noStrike" u="non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len="med" type="triangle" w="med"/>
          </a:ln>
        </p:spPr>
      </p:cxnSp>
      <p:sp>
        <p:nvSpPr>
          <p:cNvPr id="958" name="テキスト ボックス 102"/>
          <p:cNvSpPr/>
          <p:nvPr/>
        </p:nvSpPr>
        <p:spPr>
          <a:xfrm>
            <a:off x="7693200" y="1562760"/>
            <a:ext cx="1873800" cy="430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100" strike="noStrike" u="none">
                <a:solidFill>
                  <a:srgbClr val="ff0000"/>
                </a:solidFill>
                <a:effectLst/>
                <a:uFillTx/>
                <a:latin typeface="メイリオ"/>
                <a:ea typeface="メイリオ"/>
              </a:rPr>
              <a:t>CV</a:t>
            </a:r>
            <a:r>
              <a:rPr b="1" lang="ja-JP" sz="1100" strike="noStrike" u="none">
                <a:solidFill>
                  <a:srgbClr val="ff0000"/>
                </a:solidFill>
                <a:effectLst/>
                <a:uFillTx/>
                <a:latin typeface="メイリオ"/>
                <a:ea typeface="メイリオ"/>
              </a:rPr>
              <a:t>するユーザー割合</a:t>
            </a:r>
            <a:endParaRPr b="0" lang="en-US" sz="1100" strike="noStrike" u="none">
              <a:solidFill>
                <a:srgbClr val="000000"/>
              </a:solidFill>
              <a:effectLst/>
              <a:uFillTx/>
              <a:latin typeface="Arial"/>
            </a:endParaRPr>
          </a:p>
          <a:p>
            <a:pPr algn="ctr" defTabSz="914400">
              <a:lnSpc>
                <a:spcPct val="100000"/>
              </a:lnSpc>
            </a:pPr>
            <a:r>
              <a:rPr b="0" lang="en-US" sz="1000" strike="noStrike" u="none">
                <a:solidFill>
                  <a:srgbClr val="ff0000"/>
                </a:solidFill>
                <a:effectLst/>
                <a:uFillTx/>
                <a:latin typeface="メイリオ"/>
                <a:ea typeface="メイリオ"/>
              </a:rPr>
              <a:t>※平均値</a:t>
            </a:r>
            <a:endParaRPr b="0" lang="en-US" sz="1000" strike="noStrike" u="non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ja-JP" sz="2800" strike="noStrike" u="none">
                <a:solidFill>
                  <a:srgbClr val="ff0000"/>
                </a:solidFill>
                <a:effectLst/>
                <a:uFillTx/>
                <a:latin typeface="メイリオ"/>
                <a:ea typeface="メイリオ"/>
              </a:rPr>
              <a:t>３</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1.5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スクリーニングアンケート</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a:t>
            </a:r>
            <a:r>
              <a:rPr b="0" lang="en-US" sz="800" strike="noStrike" u="none">
                <a:solidFill>
                  <a:schemeClr val="lt1">
                    <a:lumMod val="65000"/>
                  </a:schemeClr>
                </a:solidFill>
                <a:effectLst/>
                <a:uFillTx/>
                <a:latin typeface="メイリオ"/>
                <a:ea typeface="メイリオ"/>
              </a:rPr>
              <a:t>3</a:t>
            </a:r>
            <a:r>
              <a:rPr b="0" lang="ja-JP" sz="800" strike="noStrike" u="none">
                <a:solidFill>
                  <a:schemeClr val="lt1">
                    <a:lumMod val="65000"/>
                  </a:schemeClr>
                </a:solidFill>
                <a:effectLst/>
                <a:uFillTx/>
                <a:latin typeface="メイリオ"/>
                <a:ea typeface="メイリオ"/>
              </a:rPr>
              <a:t>問）→ セグメント分類</a:t>
            </a:r>
            <a:endParaRPr b="0" lang="en-US" sz="800" strike="noStrike" u="non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セグメント別シナリオ配信</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ホットリード</a:t>
            </a:r>
            <a:r>
              <a:rPr b="0" lang="en-US" sz="800" strike="noStrike" u="none">
                <a:solidFill>
                  <a:schemeClr val="lt1">
                    <a:lumMod val="65000"/>
                  </a:schemeClr>
                </a:solidFill>
                <a:effectLst/>
                <a:uFillTx/>
                <a:latin typeface="メイリオ"/>
                <a:ea typeface="メイリオ"/>
              </a:rPr>
              <a:t>:</a:t>
            </a:r>
            <a:r>
              <a:rPr b="0" lang="ja-JP" sz="800" strike="noStrike" u="none">
                <a:solidFill>
                  <a:schemeClr val="lt1">
                    <a:lumMod val="65000"/>
                  </a:schemeClr>
                </a:solidFill>
                <a:effectLst/>
                <a:uFillTx/>
                <a:latin typeface="メイリオ"/>
                <a:ea typeface="メイリオ"/>
              </a:rPr>
              <a:t>即スタッフ対応</a:t>
            </a:r>
            <a:endParaRPr b="0" lang="en-US" sz="800" strike="noStrike" u="non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len="med" type="triangle" w="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サンクス自動</a:t>
            </a:r>
            <a:r>
              <a:rPr b="0" lang="en-US" sz="800" strike="noStrike" u="none">
                <a:solidFill>
                  <a:schemeClr val="lt1">
                    <a:lumMod val="65000"/>
                  </a:schemeClr>
                </a:solidFill>
                <a:effectLst/>
                <a:uFillTx/>
                <a:latin typeface="メイリオ"/>
                <a:ea typeface="メイリオ"/>
              </a:rPr>
              <a:t>MSG</a:t>
            </a:r>
            <a:r>
              <a:rPr b="0" lang="ja-JP" sz="800" strike="noStrike" u="none">
                <a:solidFill>
                  <a:schemeClr val="lt1">
                    <a:lumMod val="65000"/>
                  </a:schemeClr>
                </a:solidFill>
                <a:effectLst/>
                <a:uFillTx/>
                <a:latin typeface="メイリオ"/>
                <a:ea typeface="メイリオ"/>
              </a:rPr>
              <a:t>＋</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次のアクション案内</a:t>
            </a:r>
            <a:endParaRPr b="0" lang="en-US" sz="800" strike="noStrike" u="non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リマインド配信</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クロスセル・アップセル</a:t>
            </a:r>
            <a:endParaRPr b="0" lang="en-US" sz="800" strike="noStrike" u="non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len="med" type="triangle" w="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スクリーニング（</a:t>
            </a:r>
            <a:r>
              <a:rPr b="0" lang="en-US" sz="800" strike="noStrike" u="none">
                <a:solidFill>
                  <a:schemeClr val="lt1">
                    <a:lumMod val="65000"/>
                  </a:schemeClr>
                </a:solidFill>
                <a:effectLst/>
                <a:uFillTx/>
                <a:latin typeface="メイリオ"/>
                <a:ea typeface="メイリオ"/>
              </a:rPr>
              <a:t>3</a:t>
            </a:r>
            <a:r>
              <a:rPr b="0" lang="ja-JP" sz="800" strike="noStrike" u="none">
                <a:solidFill>
                  <a:schemeClr val="lt1">
                    <a:lumMod val="65000"/>
                  </a:schemeClr>
                </a:solidFill>
                <a:effectLst/>
                <a:uFillTx/>
                <a:latin typeface="メイリオ"/>
                <a:ea typeface="メイリオ"/>
              </a:rPr>
              <a:t>問）</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温度感・ニーズ把握</a:t>
            </a:r>
            <a:endParaRPr b="0" lang="en-US" sz="800" strike="noStrike" u="non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有効リード育成シナリオ</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商談・再購入誘導</a:t>
            </a:r>
            <a:endParaRPr b="0" lang="en-US" sz="800" strike="noStrike" u="non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len="med" type="triangle" w="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一斉配信でリスト活性化</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アンケートで属性把握</a:t>
            </a:r>
            <a:endParaRPr b="0" lang="en-US" sz="800" strike="noStrike" u="non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セグメント別ナーチャリング</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季節・タイミング別企画配信</a:t>
            </a:r>
            <a:endParaRPr b="0" lang="en-US" sz="800" strike="noStrike" u="non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len="med" type="triangle" w="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LINE</a:t>
            </a:r>
            <a:r>
              <a:rPr b="0" lang="ja-JP" sz="800" strike="noStrike" u="none">
                <a:solidFill>
                  <a:schemeClr val="lt1">
                    <a:lumMod val="65000"/>
                  </a:schemeClr>
                </a:solidFill>
                <a:effectLst/>
                <a:uFillTx/>
                <a:latin typeface="メイリオ"/>
                <a:ea typeface="メイリオ"/>
              </a:rPr>
              <a:t>移行キャンペーン</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（特典訴求で友だち追加促進）</a:t>
            </a:r>
            <a:endParaRPr b="0" lang="en-US" sz="800" strike="noStrike" u="non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LINE</a:t>
            </a:r>
            <a:r>
              <a:rPr b="0" lang="ja-JP" sz="800" strike="noStrike" u="none">
                <a:solidFill>
                  <a:schemeClr val="lt1">
                    <a:lumMod val="65000"/>
                  </a:schemeClr>
                </a:solidFill>
                <a:effectLst/>
                <a:uFillTx/>
                <a:latin typeface="メイリオ"/>
                <a:ea typeface="メイリオ"/>
              </a:rPr>
              <a:t>でリピート率向上</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紹介キャンペーン・</a:t>
            </a:r>
            <a:r>
              <a:rPr b="0" lang="en-US" sz="800" strike="noStrike" u="none">
                <a:solidFill>
                  <a:schemeClr val="lt1">
                    <a:lumMod val="65000"/>
                  </a:schemeClr>
                </a:solidFill>
                <a:effectLst/>
                <a:uFillTx/>
                <a:latin typeface="メイリオ"/>
                <a:ea typeface="メイリオ"/>
              </a:rPr>
              <a:t>LTV</a:t>
            </a:r>
            <a:r>
              <a:rPr b="0" lang="ja-JP" sz="800" strike="noStrike" u="none">
                <a:solidFill>
                  <a:schemeClr val="lt1">
                    <a:lumMod val="65000"/>
                  </a:schemeClr>
                </a:solidFill>
                <a:effectLst/>
                <a:uFillTx/>
                <a:latin typeface="メイリオ"/>
                <a:ea typeface="メイリオ"/>
              </a:rPr>
              <a:t>最大化</a:t>
            </a:r>
            <a:endParaRPr b="0" lang="en-US" sz="800" strike="noStrike" u="non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len="med" type="triangle" w="med"/>
          </a:ln>
        </p:spPr>
      </p:cxn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981" name="正方形/長方形 1"/>
          <p:cNvSpPr/>
          <p:nvPr/>
        </p:nvSpPr>
        <p:spPr>
          <a:xfrm>
            <a:off x="2808720" y="3038040"/>
            <a:ext cx="42879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中長期施策として</a:t>
            </a:r>
            <a:r>
              <a:rPr b="1" lang="en-US" sz="3200" strike="noStrike" u="none">
                <a:solidFill>
                  <a:schemeClr val="dk1">
                    <a:lumMod val="75000"/>
                    <a:lumOff val="25000"/>
                  </a:schemeClr>
                </a:solidFill>
                <a:effectLst/>
                <a:uFillTx/>
                <a:latin typeface="メイリオ"/>
                <a:ea typeface="メイリオ"/>
              </a:rPr>
              <a:t>…。</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　</a:t>
            </a:r>
            <a:r>
              <a:rPr b="1" lang="en-US" sz="1400" strike="noStrike" u="none">
                <a:solidFill>
                  <a:srgbClr val="ff0000"/>
                </a:solidFill>
                <a:effectLst/>
                <a:uFillTx/>
                <a:latin typeface="メイリオ"/>
                <a:ea typeface="メイリオ"/>
              </a:rPr>
              <a:t>[CRM</a:t>
            </a:r>
            <a:r>
              <a:rPr b="1" lang="ja-JP" sz="1400" strike="noStrike" u="none">
                <a:solidFill>
                  <a:srgbClr val="ff0000"/>
                </a:solidFill>
                <a:effectLst/>
                <a:uFillTx/>
                <a:latin typeface="メイリオ"/>
                <a:ea typeface="メイリオ"/>
              </a:rPr>
              <a:t>及び</a:t>
            </a:r>
            <a:r>
              <a:rPr b="1" lang="en-US" sz="1400" strike="noStrike" u="none">
                <a:solidFill>
                  <a:srgbClr val="ff0000"/>
                </a:solidFill>
                <a:effectLst/>
                <a:uFillTx/>
                <a:latin typeface="メイリオ"/>
                <a:ea typeface="メイリオ"/>
              </a:rPr>
              <a:t>API</a:t>
            </a:r>
            <a:r>
              <a:rPr b="1" lang="ja-JP" sz="1400" strike="noStrike" u="none">
                <a:solidFill>
                  <a:srgbClr val="ff0000"/>
                </a:solidFill>
                <a:effectLst/>
                <a:uFillTx/>
                <a:latin typeface="メイリオ"/>
                <a:ea typeface="メイリオ"/>
              </a:rPr>
              <a:t>ツールとの連携</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rgbClr val="073763"/>
                </a:solidFill>
                <a:effectLst/>
                <a:uFillTx/>
                <a:latin typeface="メイリオ"/>
                <a:ea typeface="メイリオ"/>
              </a:rPr>
              <a:t>「</a:t>
            </a:r>
            <a:r>
              <a:rPr b="0" lang="en-US" sz="1400" strike="noStrike" u="none">
                <a:solidFill>
                  <a:srgbClr val="073763"/>
                </a:solidFill>
                <a:effectLst/>
                <a:uFillTx/>
                <a:latin typeface="メイリオ"/>
                <a:ea typeface="メイリオ"/>
              </a:rPr>
              <a:t>CRM</a:t>
            </a:r>
            <a:r>
              <a:rPr b="0" lang="ja-JP" sz="1400" strike="noStrike" u="none">
                <a:solidFill>
                  <a:srgbClr val="073763"/>
                </a:solidFill>
                <a:effectLst/>
                <a:uFillTx/>
                <a:latin typeface="メイリオ"/>
                <a:ea typeface="メイリオ"/>
              </a:rPr>
              <a:t>側でどんな情報を取りたいか」が重要</a:t>
            </a:r>
            <a:br>
              <a:rPr sz="1400"/>
            </a:br>
            <a:r>
              <a:rPr b="1" lang="ja-JP" sz="1400" strike="noStrike" u="none">
                <a:solidFill>
                  <a:srgbClr val="073763"/>
                </a:solidFill>
                <a:effectLst/>
                <a:uFillTx/>
                <a:latin typeface="メイリオ"/>
                <a:ea typeface="メイリオ"/>
              </a:rPr>
              <a:t>要件定義</a:t>
            </a:r>
            <a:r>
              <a:rPr b="0" lang="ja-JP" sz="1400" strike="noStrike" u="none">
                <a:solidFill>
                  <a:srgbClr val="073763"/>
                </a:solidFill>
                <a:effectLst/>
                <a:uFillTx/>
                <a:latin typeface="メイリオ"/>
                <a:ea typeface="メイリオ"/>
              </a:rPr>
              <a:t>を先にする必要がある</a:t>
            </a:r>
            <a:endParaRPr b="0" lang="en-US" sz="1400" strike="noStrike" u="non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a:t>
            </a:r>
            <a:r>
              <a:rPr b="0" lang="en-US" sz="1200" strike="noStrike" u="none">
                <a:solidFill>
                  <a:schemeClr val="dk1">
                    <a:lumMod val="75000"/>
                    <a:lumOff val="25000"/>
                  </a:schemeClr>
                </a:solidFill>
                <a:effectLst/>
                <a:uFillTx/>
                <a:latin typeface="メイリオ"/>
                <a:ea typeface="メイリオ"/>
              </a:rPr>
              <a:t>CRM</a:t>
            </a:r>
            <a:r>
              <a:rPr b="0" lang="ja-JP" sz="1200" strike="noStrike" u="none">
                <a:solidFill>
                  <a:schemeClr val="dk1">
                    <a:lumMod val="75000"/>
                    <a:lumOff val="25000"/>
                  </a:schemeClr>
                </a:solidFill>
                <a:effectLst/>
                <a:uFillTx/>
                <a:latin typeface="メイリオ"/>
                <a:ea typeface="メイリオ"/>
              </a:rPr>
              <a:t>によるセグメント配信の違い</a:t>
            </a:r>
            <a:endParaRPr b="0" lang="en-US" sz="1200" strike="noStrike" u="non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200" strike="noStrike" u="none">
              <a:solidFill>
                <a:schemeClr val="dk1">
                  <a:lumMod val="75000"/>
                  <a:lumOff val="25000"/>
                </a:schemeClr>
              </a:solidFill>
              <a:effectLst/>
              <a:uFillTx/>
              <a:latin typeface="メイリオ"/>
              <a:ea typeface="メイリオ"/>
            </a:endParaRPr>
          </a:p>
        </p:txBody>
      </p:sp>
      <p:pic>
        <p:nvPicPr>
          <p:cNvPr id="986" name="図 5" descr=""/>
          <p:cNvPicPr/>
          <p:nvPr/>
        </p:nvPicPr>
        <p:blipFill>
          <a:blip r:embed="rId1"/>
          <a:stretch/>
        </p:blipFill>
        <p:spPr>
          <a:xfrm>
            <a:off x="767880" y="2097720"/>
            <a:ext cx="1748520" cy="1226520"/>
          </a:xfrm>
          <a:prstGeom prst="rect">
            <a:avLst/>
          </a:prstGeom>
          <a:noFill/>
          <a:ln w="0">
            <a:noFill/>
          </a:ln>
        </p:spPr>
      </p:pic>
      <p:pic>
        <p:nvPicPr>
          <p:cNvPr id="987" name="図 6" descr=""/>
          <p:cNvPicPr/>
          <p:nvPr/>
        </p:nvPicPr>
        <p:blipFill>
          <a:blip r:embed="rId2"/>
          <a:stretch/>
        </p:blipFill>
        <p:spPr>
          <a:xfrm>
            <a:off x="2629440" y="2290320"/>
            <a:ext cx="2165760" cy="762120"/>
          </a:xfrm>
          <a:prstGeom prst="rect">
            <a:avLst/>
          </a:prstGeom>
          <a:noFill/>
          <a:ln w="0">
            <a:noFill/>
          </a:ln>
        </p:spPr>
      </p:pic>
      <p:pic>
        <p:nvPicPr>
          <p:cNvPr id="988" name="図 7" descr=""/>
          <p:cNvPicPr/>
          <p:nvPr/>
        </p:nvPicPr>
        <p:blipFill>
          <a:blip r:embed="rId3"/>
          <a:stretch/>
        </p:blipFill>
        <p:spPr>
          <a:xfrm>
            <a:off x="732600" y="3382560"/>
            <a:ext cx="1896480" cy="592560"/>
          </a:xfrm>
          <a:prstGeom prst="rect">
            <a:avLst/>
          </a:prstGeom>
          <a:noFill/>
          <a:ln w="0">
            <a:noFill/>
          </a:ln>
        </p:spPr>
      </p:pic>
      <p:pic>
        <p:nvPicPr>
          <p:cNvPr id="989" name="図 9" descr=""/>
          <p:cNvPicPr/>
          <p:nvPr/>
        </p:nvPicPr>
        <p:blipFill>
          <a:blip r:embed="rId4"/>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▼参考：</a:t>
            </a:r>
            <a:r>
              <a:rPr b="0" lang="en-US" sz="1200" strike="noStrike" u="none">
                <a:solidFill>
                  <a:schemeClr val="dk1">
                    <a:lumMod val="75000"/>
                    <a:lumOff val="25000"/>
                  </a:schemeClr>
                </a:solidFill>
                <a:effectLst/>
                <a:uFillTx/>
                <a:latin typeface="メイリオ"/>
                <a:ea typeface="メイリオ"/>
              </a:rPr>
              <a:t>L</a:t>
            </a:r>
            <a:r>
              <a:rPr b="0" lang="ja-JP" sz="1200" strike="noStrike" u="none">
                <a:solidFill>
                  <a:schemeClr val="dk1">
                    <a:lumMod val="75000"/>
                    <a:lumOff val="25000"/>
                  </a:schemeClr>
                </a:solidFill>
                <a:effectLst/>
                <a:uFillTx/>
                <a:latin typeface="メイリオ"/>
                <a:ea typeface="メイリオ"/>
              </a:rPr>
              <a:t>ステップ</a:t>
            </a:r>
            <a:r>
              <a:rPr b="0" lang="en-US" sz="1200" strike="noStrike" u="none">
                <a:solidFill>
                  <a:schemeClr val="dk1">
                    <a:lumMod val="75000"/>
                    <a:lumOff val="25000"/>
                  </a:schemeClr>
                </a:solidFill>
                <a:effectLst/>
                <a:uFillTx/>
                <a:latin typeface="メイリオ"/>
                <a:ea typeface="メイリオ"/>
              </a:rPr>
              <a:t>API</a:t>
            </a:r>
            <a:r>
              <a:rPr b="0" lang="ja-JP" sz="1200" strike="noStrike" u="none">
                <a:solidFill>
                  <a:schemeClr val="dk1">
                    <a:lumMod val="75000"/>
                    <a:lumOff val="25000"/>
                  </a:schemeClr>
                </a:solidFill>
                <a:effectLst/>
                <a:uFillTx/>
                <a:latin typeface="メイリオ"/>
                <a:ea typeface="メイリオ"/>
              </a:rPr>
              <a:t>連携機能</a:t>
            </a:r>
            <a:endParaRPr b="0" lang="en-US" sz="1200" strike="noStrike" u="none">
              <a:solidFill>
                <a:srgbClr val="000000"/>
              </a:solidFill>
              <a:effectLst/>
              <a:uFillTx/>
              <a:latin typeface="Arial"/>
            </a:endParaRPr>
          </a:p>
        </p:txBody>
      </p:sp>
      <p:pic>
        <p:nvPicPr>
          <p:cNvPr id="992" name="図 12" descr=""/>
          <p:cNvPicPr/>
          <p:nvPr/>
        </p:nvPicPr>
        <p:blipFill>
          <a:blip r:embed="rId5"/>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fillRef idx="0"/>
          <a:effectRef idx="0"/>
          <a:fontRef idx="minor"/>
        </p:style>
        <p:txBody>
          <a:bodyPr anchor="ctr">
            <a:spAutoFit/>
          </a:bodyPr>
          <a:p>
            <a:pPr algn="ctr" defTabSz="914400">
              <a:lnSpc>
                <a:spcPct val="100000"/>
              </a:lnSpc>
            </a:pPr>
            <a:r>
              <a:rPr b="0" lang="en-US" sz="1400" strike="noStrike" u="none">
                <a:solidFill>
                  <a:schemeClr val="dk1"/>
                </a:solidFill>
                <a:effectLst/>
                <a:uFillTx/>
                <a:latin typeface="メイリオ"/>
                <a:ea typeface="メイリオ"/>
              </a:rPr>
              <a:t>CRM</a:t>
            </a:r>
            <a:r>
              <a:rPr b="0" lang="ja-JP" sz="1400" strike="noStrike" u="none">
                <a:solidFill>
                  <a:schemeClr val="dk1"/>
                </a:solidFill>
                <a:effectLst/>
                <a:uFillTx/>
                <a:latin typeface="メイリオ"/>
                <a:ea typeface="メイリオ"/>
              </a:rPr>
              <a:t>、</a:t>
            </a:r>
            <a:r>
              <a:rPr b="0" lang="en-US" sz="1400" strike="noStrike" u="none">
                <a:solidFill>
                  <a:schemeClr val="dk1"/>
                </a:solidFill>
                <a:effectLst/>
                <a:uFillTx/>
                <a:latin typeface="メイリオ"/>
                <a:ea typeface="メイリオ"/>
              </a:rPr>
              <a:t>API</a:t>
            </a:r>
            <a:r>
              <a:rPr b="0" lang="ja-JP" sz="1400" strike="noStrike" u="none">
                <a:solidFill>
                  <a:schemeClr val="dk1"/>
                </a:solidFill>
                <a:effectLst/>
                <a:uFillTx/>
                <a:latin typeface="メイリオ"/>
                <a:ea typeface="メイリオ"/>
              </a:rPr>
              <a:t>ツールで要件定義を行いつつ、効率化及び詳細なセグメント設計を目的として、</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貴社内の顧客管理（</a:t>
            </a:r>
            <a:r>
              <a:rPr b="0" lang="en-US" sz="1400" strike="noStrike" u="none">
                <a:solidFill>
                  <a:schemeClr val="dk1"/>
                </a:solidFill>
                <a:effectLst/>
                <a:uFillTx/>
                <a:latin typeface="メイリオ"/>
                <a:ea typeface="メイリオ"/>
              </a:rPr>
              <a:t>CRM</a:t>
            </a:r>
            <a:r>
              <a:rPr b="0" lang="ja-JP" sz="1400" strike="noStrike" u="none">
                <a:solidFill>
                  <a:schemeClr val="dk1"/>
                </a:solidFill>
                <a:effectLst/>
                <a:uFillTx/>
                <a:latin typeface="メイリオ"/>
                <a:ea typeface="メイリオ"/>
              </a:rPr>
              <a:t>）ツールとの連携の実施も可能です。</a:t>
            </a:r>
            <a:r>
              <a:rPr b="0" lang="en-US" sz="1100" strike="noStrike" u="none">
                <a:solidFill>
                  <a:srgbClr val="ff0000"/>
                </a:solidFill>
                <a:effectLst/>
                <a:uFillTx/>
                <a:latin typeface="メイリオ"/>
                <a:ea typeface="メイリオ"/>
              </a:rPr>
              <a:t> ※開発は別途費用</a:t>
            </a:r>
            <a:endParaRPr b="0" lang="en-US" sz="1100" strike="noStrike" u="none">
              <a:solidFill>
                <a:srgbClr val="000000"/>
              </a:solidFill>
              <a:effectLst/>
              <a:uFillTx/>
              <a:latin typeface="Arial"/>
            </a:endParaRPr>
          </a:p>
        </p:txBody>
      </p:sp>
      <p:pic>
        <p:nvPicPr>
          <p:cNvPr id="994" name="図 15" descr=""/>
          <p:cNvPicPr/>
          <p:nvPr/>
        </p:nvPicPr>
        <p:blipFill>
          <a:blip r:embed="rId6"/>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LINE</a:t>
            </a:r>
            <a:r>
              <a:rPr b="0" lang="ja-JP" sz="1200" strike="noStrike" u="none">
                <a:solidFill>
                  <a:schemeClr val="dk1">
                    <a:lumMod val="75000"/>
                    <a:lumOff val="25000"/>
                  </a:schemeClr>
                </a:solidFill>
                <a:effectLst/>
                <a:uFillTx/>
                <a:latin typeface="メイリオ"/>
                <a:ea typeface="メイリオ"/>
              </a:rPr>
              <a:t>公式と</a:t>
            </a:r>
            <a:r>
              <a:rPr b="0" lang="en-US" sz="1200" strike="noStrike" u="none">
                <a:solidFill>
                  <a:schemeClr val="dk1">
                    <a:lumMod val="75000"/>
                    <a:lumOff val="25000"/>
                  </a:schemeClr>
                </a:solidFill>
                <a:effectLst/>
                <a:uFillTx/>
                <a:latin typeface="メイリオ"/>
                <a:ea typeface="メイリオ"/>
              </a:rPr>
              <a:t>API</a:t>
            </a:r>
            <a:r>
              <a:rPr b="0" lang="ja-JP" sz="1200" strike="noStrike" u="none">
                <a:solidFill>
                  <a:schemeClr val="dk1">
                    <a:lumMod val="75000"/>
                    <a:lumOff val="25000"/>
                  </a:schemeClr>
                </a:solidFill>
                <a:effectLst/>
                <a:uFillTx/>
                <a:latin typeface="メイリオ"/>
                <a:ea typeface="メイリオ"/>
              </a:rPr>
              <a:t>ツール間の</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75000"/>
                    <a:lumOff val="25000"/>
                  </a:schemeClr>
                </a:solidFill>
                <a:effectLst/>
                <a:uFillTx/>
                <a:latin typeface="メイリオ"/>
                <a:ea typeface="メイリオ"/>
              </a:rPr>
              <a:t>情報連携</a:t>
            </a:r>
            <a:endParaRPr b="0" lang="en-US" sz="1200" strike="noStrike" u="non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ja-JP" sz="1200" strike="noStrike" u="none">
                <a:solidFill>
                  <a:schemeClr val="dk1">
                    <a:lumMod val="75000"/>
                    <a:lumOff val="25000"/>
                  </a:schemeClr>
                </a:solidFill>
                <a:effectLst/>
                <a:uFillTx/>
                <a:latin typeface="メイリオ"/>
                <a:ea typeface="メイリオ"/>
              </a:rPr>
              <a:t>メッセ送信</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600" strike="noStrike" u="none">
                <a:solidFill>
                  <a:schemeClr val="lt1"/>
                </a:solidFill>
                <a:effectLst/>
                <a:uFillTx/>
                <a:latin typeface="メイリオ"/>
                <a:ea typeface="メイリオ"/>
              </a:rPr>
              <a:t>ミニアプリ</a:t>
            </a:r>
            <a:endParaRPr b="0" lang="en-US" sz="1600" strike="noStrike" u="none">
              <a:solidFill>
                <a:srgbClr val="ffffff"/>
              </a:solidFill>
              <a:effectLst/>
              <a:uFillTx/>
              <a:latin typeface="Arial"/>
            </a:endParaRPr>
          </a:p>
        </p:txBody>
      </p:sp>
      <p:pic>
        <p:nvPicPr>
          <p:cNvPr id="999" name="図 14" descr=""/>
          <p:cNvPicPr/>
          <p:nvPr/>
        </p:nvPicPr>
        <p:blipFill>
          <a:blip r:embed="rId1"/>
          <a:stretch/>
        </p:blipFill>
        <p:spPr>
          <a:xfrm>
            <a:off x="394920" y="4223520"/>
            <a:ext cx="4883400" cy="2255040"/>
          </a:xfrm>
          <a:prstGeom prst="rect">
            <a:avLst/>
          </a:prstGeom>
          <a:noFill/>
          <a:ln w="0">
            <a:noFill/>
          </a:ln>
        </p:spPr>
      </p:pic>
      <p:pic>
        <p:nvPicPr>
          <p:cNvPr id="1000" name="図 15" descr=""/>
          <p:cNvPicPr/>
          <p:nvPr/>
        </p:nvPicPr>
        <p:blipFill>
          <a:blip r:embed="rId2"/>
          <a:stretch/>
        </p:blipFill>
        <p:spPr>
          <a:xfrm>
            <a:off x="5447520" y="4291920"/>
            <a:ext cx="4377240" cy="1962000"/>
          </a:xfrm>
          <a:prstGeom prst="rect">
            <a:avLst/>
          </a:prstGeom>
          <a:noFill/>
          <a:ln w="0">
            <a:noFill/>
          </a:ln>
        </p:spPr>
      </p:pic>
      <p:pic>
        <p:nvPicPr>
          <p:cNvPr id="1001" name="図 16" descr=""/>
          <p:cNvPicPr/>
          <p:nvPr/>
        </p:nvPicPr>
        <p:blipFill>
          <a:blip r:embed="rId3"/>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内で活用できるミニアプリでは、ゲームや抽選といった機能を</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アプリ開発よりも大幅に格安な価格帯で利用できるサービス。</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チャット</a:t>
            </a:r>
            <a:r>
              <a:rPr b="1" lang="en-US" sz="1600" strike="noStrike" u="none">
                <a:solidFill>
                  <a:schemeClr val="dk1">
                    <a:lumMod val="65000"/>
                    <a:lumOff val="35000"/>
                  </a:schemeClr>
                </a:solidFill>
                <a:effectLst/>
                <a:uFillTx/>
                <a:latin typeface="Meiryo"/>
                <a:ea typeface="Meiryo"/>
              </a:rPr>
              <a:t>Plus</a:t>
            </a:r>
            <a:r>
              <a:rPr b="1" lang="ja-JP" sz="1600" strike="noStrike" u="none">
                <a:solidFill>
                  <a:schemeClr val="dk1">
                    <a:lumMod val="65000"/>
                    <a:lumOff val="35000"/>
                  </a:schemeClr>
                </a:solidFill>
                <a:effectLst/>
                <a:uFillTx/>
                <a:latin typeface="Meiryo"/>
                <a:ea typeface="Meiryo"/>
              </a:rPr>
              <a:t>」は、</a:t>
            </a:r>
            <a:r>
              <a:rPr b="1" lang="en-US" sz="1600" strike="noStrike" u="none">
                <a:solidFill>
                  <a:schemeClr val="dk1">
                    <a:lumMod val="65000"/>
                    <a:lumOff val="35000"/>
                  </a:schemeClr>
                </a:solidFill>
                <a:effectLst/>
                <a:uFillTx/>
                <a:latin typeface="Meiryo"/>
                <a:ea typeface="Meiryo"/>
              </a:rPr>
              <a:t>FAQ</a:t>
            </a:r>
            <a:r>
              <a:rPr b="1" lang="ja-JP" sz="1600" strike="noStrike" u="none">
                <a:solidFill>
                  <a:schemeClr val="dk1">
                    <a:lumMod val="65000"/>
                    <a:lumOff val="35000"/>
                  </a:schemeClr>
                </a:solidFill>
                <a:effectLst/>
                <a:uFillTx/>
                <a:latin typeface="Meiryo"/>
                <a:ea typeface="Meiryo"/>
              </a:rPr>
              <a:t>をもとにした</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による自動応答や、</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有人でのチャット対応による細かなサポートを可能にするオプション機能。</a:t>
            </a:r>
            <a:endParaRPr b="0" lang="en-US" sz="1600" strike="noStrike" u="non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LINE</a:t>
            </a: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Chat Plus</a:t>
            </a:r>
            <a:endParaRPr b="0" lang="en-US" sz="1600" strike="noStrike" u="non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pic>
        <p:nvPicPr>
          <p:cNvPr id="1007" name="図 2" descr=""/>
          <p:cNvPicPr/>
          <p:nvPr/>
        </p:nvPicPr>
        <p:blipFill>
          <a:blip r:embed="rId1"/>
          <a:srcRect l="0" t="34311" r="0"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ホームページから気軽にチャットで</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問い合わせができるようになり</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資料請求や商品の購入に繋がる。</a:t>
            </a:r>
            <a:endParaRPr b="0" lang="en-US" sz="1600" strike="noStrike" u="non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自動応答と有人応答を使い分けることが</a:t>
            </a:r>
            <a:endParaRPr b="0" lang="en-US" sz="1560" strike="noStrike" u="none">
              <a:solidFill>
                <a:srgbClr val="000000"/>
              </a:solidFill>
              <a:effectLst/>
              <a:uFillTx/>
              <a:latin typeface="Arial"/>
            </a:endParaRPr>
          </a:p>
          <a:p>
            <a:pPr defTabSz="914400">
              <a:lnSpc>
                <a:spcPts val="2177"/>
              </a:lnSpc>
            </a:pPr>
            <a:r>
              <a:rPr b="1" lang="ja-JP" sz="1560" strike="noStrike" u="none">
                <a:solidFill>
                  <a:srgbClr val="494848"/>
                </a:solidFill>
                <a:effectLst/>
                <a:uFillTx/>
                <a:latin typeface="メイリオ"/>
                <a:ea typeface="メイリオ"/>
              </a:rPr>
              <a:t>できる</a:t>
            </a:r>
            <a:endParaRPr b="0" lang="en-US" sz="1560" strike="noStrike" u="non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「訪問者管理機能」により、ホームページに訪れたユーザーを一覧で見ることが可能</a:t>
            </a:r>
            <a:endParaRPr b="0" lang="en-US" sz="1560" strike="noStrike" u="non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公式</a:t>
            </a:r>
            <a:r>
              <a:rPr b="1" lang="en-US" sz="1560" strike="noStrike" u="none">
                <a:solidFill>
                  <a:srgbClr val="494848"/>
                </a:solidFill>
                <a:effectLst/>
                <a:uFillTx/>
                <a:latin typeface="メイリオ"/>
                <a:ea typeface="メイリオ"/>
              </a:rPr>
              <a:t>LINE</a:t>
            </a:r>
            <a:r>
              <a:rPr b="1" lang="ja-JP" sz="1560" strike="noStrike" u="none">
                <a:solidFill>
                  <a:srgbClr val="494848"/>
                </a:solidFill>
                <a:effectLst/>
                <a:uFillTx/>
                <a:latin typeface="メイリオ"/>
                <a:ea typeface="メイリオ"/>
              </a:rPr>
              <a:t>とチャットボットを連携し</a:t>
            </a:r>
            <a:endParaRPr b="0" lang="en-US" sz="1560" strike="noStrike" u="none">
              <a:solidFill>
                <a:srgbClr val="000000"/>
              </a:solidFill>
              <a:effectLst/>
              <a:uFillTx/>
              <a:latin typeface="Arial"/>
            </a:endParaRPr>
          </a:p>
          <a:p>
            <a:pPr defTabSz="914400">
              <a:lnSpc>
                <a:spcPts val="2177"/>
              </a:lnSpc>
            </a:pPr>
            <a:r>
              <a:rPr b="1" lang="en-US" sz="1560" strike="noStrike" u="none">
                <a:solidFill>
                  <a:srgbClr val="494848"/>
                </a:solidFill>
                <a:effectLst/>
                <a:uFillTx/>
                <a:latin typeface="メイリオ"/>
                <a:ea typeface="メイリオ"/>
              </a:rPr>
              <a:t>LINE</a:t>
            </a:r>
            <a:r>
              <a:rPr b="1" lang="ja-JP" sz="1560" strike="noStrike" u="none">
                <a:solidFill>
                  <a:srgbClr val="494848"/>
                </a:solidFill>
                <a:effectLst/>
                <a:uFillTx/>
                <a:latin typeface="メイリオ"/>
                <a:ea typeface="メイリオ"/>
              </a:rPr>
              <a:t>上でも同じチャットボットを活用</a:t>
            </a:r>
            <a:endParaRPr b="0" lang="en-US" sz="1560" strike="noStrike" u="none">
              <a:solidFill>
                <a:srgbClr val="000000"/>
              </a:solidFill>
              <a:effectLst/>
              <a:uFillTx/>
              <a:latin typeface="Arial"/>
            </a:endParaRPr>
          </a:p>
          <a:p>
            <a:pPr defTabSz="914400">
              <a:lnSpc>
                <a:spcPts val="2177"/>
              </a:lnSpc>
            </a:pPr>
            <a:r>
              <a:rPr b="1" lang="ja-JP" sz="1560" strike="noStrike" u="none">
                <a:solidFill>
                  <a:srgbClr val="494848"/>
                </a:solidFill>
                <a:effectLst/>
                <a:uFillTx/>
                <a:latin typeface="メイリオ"/>
                <a:ea typeface="メイリオ"/>
              </a:rPr>
              <a:t>できる</a:t>
            </a:r>
            <a:endParaRPr b="0" lang="en-US" sz="156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コール</a:t>
            </a:r>
            <a:r>
              <a:rPr b="1" lang="en-US" sz="1600" strike="noStrike" u="none">
                <a:solidFill>
                  <a:schemeClr val="dk1">
                    <a:lumMod val="65000"/>
                    <a:lumOff val="35000"/>
                  </a:schemeClr>
                </a:solidFill>
                <a:effectLst/>
                <a:uFillTx/>
                <a:latin typeface="Meiryo"/>
                <a:ea typeface="Meiryo"/>
              </a:rPr>
              <a:t>Plus</a:t>
            </a:r>
            <a:r>
              <a:rPr b="1" lang="ja-JP" sz="1600" strike="noStrike" u="none">
                <a:solidFill>
                  <a:schemeClr val="dk1">
                    <a:lumMod val="65000"/>
                    <a:lumOff val="35000"/>
                  </a:schemeClr>
                </a:solidFill>
                <a:effectLst/>
                <a:uFillTx/>
                <a:latin typeface="Meiryo"/>
                <a:ea typeface="Meiryo"/>
              </a:rPr>
              <a:t>」は、</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公式アカウントの有料オプション機能で、</a:t>
            </a:r>
            <a:endParaRPr b="0" lang="en-US" sz="1600" strike="noStrike" u="none">
              <a:solidFill>
                <a:srgbClr val="000000"/>
              </a:solidFill>
              <a:effectLst/>
              <a:uFillTx/>
              <a:latin typeface="Arial"/>
            </a:endParaRPr>
          </a:p>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公式アカウントからユーザーがカスタマーサポートに電話できるサービス。</a:t>
            </a:r>
            <a:endParaRPr b="0" lang="en-US" sz="1600" strike="noStrike" u="non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LINE</a:t>
            </a: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Call Plus</a:t>
            </a:r>
            <a:endParaRPr b="0" lang="en-US" sz="1600" strike="noStrike" u="none">
              <a:solidFill>
                <a:srgbClr val="ffffff"/>
              </a:solidFill>
              <a:effectLst/>
              <a:uFillTx/>
              <a:latin typeface="Arial"/>
            </a:endParaRPr>
          </a:p>
        </p:txBody>
      </p:sp>
      <p:pic>
        <p:nvPicPr>
          <p:cNvPr id="1024" name="図 5" descr=""/>
          <p:cNvPicPr/>
          <p:nvPr/>
        </p:nvPicPr>
        <p:blipFill>
          <a:blip r:embed="rId1"/>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000" strike="noStrike" u="none">
                <a:solidFill>
                  <a:schemeClr val="dk1">
                    <a:lumMod val="65000"/>
                    <a:lumOff val="35000"/>
                  </a:schemeClr>
                </a:solidFill>
                <a:effectLst/>
                <a:uFillTx/>
                <a:latin typeface="Meiryo"/>
                <a:ea typeface="Meiryo"/>
              </a:rPr>
              <a:t>引用：</a:t>
            </a:r>
            <a:r>
              <a:rPr b="1" lang="en-US" sz="1000" strike="noStrike" u="none">
                <a:solidFill>
                  <a:schemeClr val="dk1">
                    <a:lumMod val="65000"/>
                    <a:lumOff val="35000"/>
                  </a:schemeClr>
                </a:solidFill>
                <a:effectLst/>
                <a:uFillTx/>
                <a:latin typeface="Meiryo"/>
                <a:ea typeface="Meiryo"/>
              </a:rPr>
              <a:t>https://prtimes.jp/main/html/rd/p/000003920.000001594.html</a:t>
            </a:r>
            <a:endParaRPr b="0" lang="en-US" sz="1000" strike="noStrike" u="non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さらに「</a:t>
            </a:r>
            <a:r>
              <a:rPr b="1" lang="en-US" sz="1600" strike="noStrike" u="none">
                <a:solidFill>
                  <a:schemeClr val="dk1">
                    <a:lumMod val="65000"/>
                    <a:lumOff val="35000"/>
                  </a:schemeClr>
                </a:solidFill>
                <a:effectLst/>
                <a:uFillTx/>
                <a:latin typeface="Meiryo"/>
                <a:ea typeface="Meiryo"/>
              </a:rPr>
              <a:t>LINE Ai Call</a:t>
            </a:r>
            <a:r>
              <a:rPr b="1" lang="ja-JP" sz="1600" strike="noStrike" u="none">
                <a:solidFill>
                  <a:schemeClr val="dk1">
                    <a:lumMod val="65000"/>
                    <a:lumOff val="35000"/>
                  </a:schemeClr>
                </a:solidFill>
                <a:effectLst/>
                <a:uFillTx/>
                <a:latin typeface="Meiryo"/>
                <a:ea typeface="Meiryo"/>
              </a:rPr>
              <a:t>」を活用するとユーザーの要望に対して</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による自然な</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対話応答が可能に。要件に応じて</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と有人オペレータの振り分け業務効率化を支援。</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lt1"/>
                </a:solidFill>
                <a:effectLst/>
                <a:uFillTx/>
                <a:latin typeface="メイリオ"/>
                <a:ea typeface="メイリオ"/>
              </a:rPr>
              <a:t>LINE</a:t>
            </a:r>
            <a:r>
              <a:rPr b="1" lang="ja-JP" sz="1600" strike="noStrike" u="none">
                <a:solidFill>
                  <a:schemeClr val="lt1"/>
                </a:solidFill>
                <a:effectLst/>
                <a:uFillTx/>
                <a:latin typeface="メイリオ"/>
                <a:ea typeface="メイリオ"/>
              </a:rPr>
              <a:t>でログイン</a:t>
            </a:r>
            <a:endParaRPr b="0" lang="en-US" sz="1600" strike="noStrike" u="non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000" strike="noStrike" u="none">
                <a:solidFill>
                  <a:schemeClr val="dk1">
                    <a:lumMod val="65000"/>
                    <a:lumOff val="35000"/>
                  </a:schemeClr>
                </a:solidFill>
                <a:effectLst/>
                <a:uFillTx/>
                <a:latin typeface="Meiryo"/>
                <a:ea typeface="Meiryo"/>
              </a:rPr>
              <a:t>引用：</a:t>
            </a:r>
            <a:r>
              <a:rPr b="1" lang="en-US" sz="1000" strike="noStrike" u="none">
                <a:solidFill>
                  <a:schemeClr val="dk1">
                    <a:lumMod val="65000"/>
                    <a:lumOff val="35000"/>
                  </a:schemeClr>
                </a:solidFill>
                <a:effectLst/>
                <a:uFillTx/>
                <a:latin typeface="Meiryo"/>
                <a:ea typeface="Meiryo"/>
              </a:rPr>
              <a:t>https://prtimes.jp/main/html/rd/p/000003920.000001594.html</a:t>
            </a:r>
            <a:endParaRPr b="0" lang="en-US" sz="1000" strike="noStrike" u="none">
              <a:solidFill>
                <a:srgbClr val="000000"/>
              </a:solidFill>
              <a:effectLst/>
              <a:uFillTx/>
              <a:latin typeface="Arial"/>
            </a:endParaRPr>
          </a:p>
        </p:txBody>
      </p:sp>
      <p:pic>
        <p:nvPicPr>
          <p:cNvPr id="1031" name="図 2" descr=""/>
          <p:cNvPicPr/>
          <p:nvPr/>
        </p:nvPicPr>
        <p:blipFill>
          <a:blip r:embed="rId1"/>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でログイン」は、</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上のユーザー情報を活用して</a:t>
            </a:r>
            <a:r>
              <a:rPr b="1" lang="en-US" sz="1600" strike="noStrike" u="none">
                <a:solidFill>
                  <a:schemeClr val="dk1">
                    <a:lumMod val="65000"/>
                    <a:lumOff val="35000"/>
                  </a:schemeClr>
                </a:solidFill>
                <a:effectLst/>
                <a:uFillTx/>
                <a:latin typeface="Meiryo"/>
                <a:ea typeface="Meiryo"/>
              </a:rPr>
              <a:t>WEB</a:t>
            </a:r>
            <a:r>
              <a:rPr b="1" lang="ja-JP" sz="1600" strike="noStrike" u="none">
                <a:solidFill>
                  <a:schemeClr val="dk1">
                    <a:lumMod val="65000"/>
                    <a:lumOff val="35000"/>
                  </a:schemeClr>
                </a:solidFill>
                <a:effectLst/>
                <a:uFillTx/>
                <a:latin typeface="Meiryo"/>
                <a:ea typeface="Meiryo"/>
              </a:rPr>
              <a:t>サイト登録が出来る仕組み。</a:t>
            </a:r>
            <a:endParaRPr b="0" lang="en-US" sz="1600" strike="noStrike" u="none">
              <a:solidFill>
                <a:srgbClr val="000000"/>
              </a:solidFill>
              <a:effectLst/>
              <a:uFillTx/>
              <a:latin typeface="Arial"/>
            </a:endParaRPr>
          </a:p>
          <a:p>
            <a:pPr defTabSz="914400">
              <a:lnSpc>
                <a:spcPct val="100000"/>
              </a:lnSpc>
            </a:pPr>
            <a:r>
              <a:rPr b="1" lang="en-US" sz="1600" strike="noStrike" u="none">
                <a:solidFill>
                  <a:schemeClr val="dk1">
                    <a:lumMod val="65000"/>
                    <a:lumOff val="35000"/>
                  </a:schemeClr>
                </a:solidFill>
                <a:effectLst/>
                <a:uFillTx/>
                <a:latin typeface="Meiryo"/>
                <a:ea typeface="Meiryo"/>
              </a:rPr>
              <a:t>ID</a:t>
            </a:r>
            <a:r>
              <a:rPr b="1" lang="ja-JP" sz="1600" strike="noStrike" u="none">
                <a:solidFill>
                  <a:schemeClr val="dk1">
                    <a:lumMod val="65000"/>
                    <a:lumOff val="35000"/>
                  </a:schemeClr>
                </a:solidFill>
                <a:effectLst/>
                <a:uFillTx/>
                <a:latin typeface="Meiryo"/>
                <a:ea typeface="Meiryo"/>
              </a:rPr>
              <a:t>連携を完了することにより、サービス</a:t>
            </a:r>
            <a:r>
              <a:rPr b="1" lang="en-US" sz="1600" strike="noStrike" u="none">
                <a:solidFill>
                  <a:schemeClr val="dk1">
                    <a:lumMod val="65000"/>
                    <a:lumOff val="35000"/>
                  </a:schemeClr>
                </a:solidFill>
                <a:effectLst/>
                <a:uFillTx/>
                <a:latin typeface="Meiryo"/>
                <a:ea typeface="Meiryo"/>
              </a:rPr>
              <a:t>(WEB) ⇔ LINE </a:t>
            </a:r>
            <a:r>
              <a:rPr b="1" lang="ja-JP" sz="1600" strike="noStrike" u="none">
                <a:solidFill>
                  <a:schemeClr val="dk1">
                    <a:lumMod val="65000"/>
                    <a:lumOff val="35000"/>
                  </a:schemeClr>
                </a:solidFill>
                <a:effectLst/>
                <a:uFillTx/>
                <a:latin typeface="Meiryo"/>
                <a:ea typeface="Meiryo"/>
              </a:rPr>
              <a:t>での効果的なメッセージが可能に。</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オフライン動線</a:t>
            </a:r>
            <a:endParaRPr b="0" lang="en-US" sz="2000" strike="noStrike" u="none">
              <a:solidFill>
                <a:srgbClr val="000000"/>
              </a:solidFill>
              <a:effectLst/>
              <a:uFillTx/>
              <a:latin typeface="Arial"/>
            </a:endParaRPr>
          </a:p>
          <a:p>
            <a:pPr algn="ctr" defTabSz="914400">
              <a:lnSpc>
                <a:spcPct val="100000"/>
              </a:lnSpc>
            </a:pPr>
            <a:r>
              <a:rPr b="1" lang="ja-JP" sz="1400" strike="noStrike" u="none">
                <a:solidFill>
                  <a:srgbClr val="002060"/>
                </a:solidFill>
                <a:effectLst/>
                <a:uFillTx/>
                <a:latin typeface="Meiryo"/>
                <a:ea typeface="Meiryo"/>
              </a:rPr>
              <a:t>ニュースリリース等</a:t>
            </a:r>
            <a:endParaRPr b="0" lang="en-US" sz="1400" strike="noStrike" u="non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WEB</a:t>
            </a:r>
            <a:r>
              <a:rPr b="1" lang="ja-JP" sz="2000" strike="noStrike" u="none">
                <a:solidFill>
                  <a:srgbClr val="002060"/>
                </a:solidFill>
                <a:effectLst/>
                <a:uFillTx/>
                <a:latin typeface="Meiryo"/>
                <a:ea typeface="Meiryo"/>
              </a:rPr>
              <a:t>サイト動線整備</a:t>
            </a:r>
            <a:endParaRPr b="0" lang="en-US" sz="2000" strike="noStrike" u="non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友だち紹介</a:t>
            </a:r>
            <a:endParaRPr b="0" lang="en-US" sz="2000" strike="noStrike" u="none">
              <a:solidFill>
                <a:srgbClr val="000000"/>
              </a:solidFill>
              <a:effectLst/>
              <a:uFillTx/>
              <a:latin typeface="Arial"/>
            </a:endParaRPr>
          </a:p>
          <a:p>
            <a:pPr algn="ctr" defTabSz="914400">
              <a:lnSpc>
                <a:spcPct val="100000"/>
              </a:lnSpc>
            </a:pPr>
            <a:r>
              <a:rPr b="1" lang="ja-JP" sz="1200" strike="noStrike" u="none">
                <a:solidFill>
                  <a:srgbClr val="002060"/>
                </a:solidFill>
                <a:effectLst/>
                <a:uFillTx/>
                <a:latin typeface="Meiryo"/>
                <a:ea typeface="Meiryo"/>
              </a:rPr>
              <a:t>（</a:t>
            </a:r>
            <a:r>
              <a:rPr b="1" lang="en-US" sz="1200" strike="noStrike" u="none">
                <a:solidFill>
                  <a:srgbClr val="002060"/>
                </a:solidFill>
                <a:effectLst/>
                <a:uFillTx/>
                <a:latin typeface="Meiryo"/>
                <a:ea typeface="Meiryo"/>
              </a:rPr>
              <a:t>LINE</a:t>
            </a:r>
            <a:r>
              <a:rPr b="1" lang="ja-JP" sz="1200" strike="noStrike" u="none">
                <a:solidFill>
                  <a:srgbClr val="002060"/>
                </a:solidFill>
                <a:effectLst/>
                <a:uFillTx/>
                <a:latin typeface="Meiryo"/>
                <a:ea typeface="Meiryo"/>
              </a:rPr>
              <a:t>ポイントコネクト）</a:t>
            </a:r>
            <a:endParaRPr b="0" lang="en-US" sz="1200" strike="noStrike" u="non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LINE</a:t>
            </a:r>
            <a:r>
              <a:rPr b="1" lang="ja-JP" sz="2000" strike="noStrike" u="none">
                <a:solidFill>
                  <a:srgbClr val="002060"/>
                </a:solidFill>
                <a:effectLst/>
                <a:uFillTx/>
                <a:latin typeface="Meiryo"/>
                <a:ea typeface="Meiryo"/>
              </a:rPr>
              <a:t>ポイント</a:t>
            </a:r>
            <a:r>
              <a:rPr b="1" lang="en-US" sz="2000" strike="noStrike" u="none">
                <a:solidFill>
                  <a:srgbClr val="002060"/>
                </a:solidFill>
                <a:effectLst/>
                <a:uFillTx/>
                <a:latin typeface="Meiryo"/>
                <a:ea typeface="Meiryo"/>
              </a:rPr>
              <a:t>Ads</a:t>
            </a:r>
            <a:endParaRPr b="0" lang="en-US" sz="2000" strike="noStrike" u="non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スタンプ施策</a:t>
            </a:r>
            <a:endParaRPr b="0" lang="en-US" sz="2000" strike="noStrike" u="non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CPF</a:t>
            </a:r>
            <a:r>
              <a:rPr b="1" lang="ja-JP" sz="2000" strike="noStrike" u="none">
                <a:solidFill>
                  <a:srgbClr val="002060"/>
                </a:solidFill>
                <a:effectLst/>
                <a:uFillTx/>
                <a:latin typeface="Meiryo"/>
                <a:ea typeface="Meiryo"/>
              </a:rPr>
              <a:t>広告</a:t>
            </a:r>
            <a:endParaRPr b="0" lang="en-US" sz="2000" strike="noStrike" u="non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コンサル発注</a:t>
            </a:r>
            <a:r>
              <a:rPr b="0" lang="ja-JP" sz="1200" strike="noStrike" u="none">
                <a:solidFill>
                  <a:schemeClr val="dk1"/>
                </a:solidFill>
                <a:effectLst/>
                <a:uFillTx/>
                <a:latin typeface="Meiryo"/>
                <a:ea typeface="Meiryo"/>
              </a:rPr>
              <a:t>であれば </a:t>
            </a:r>
            <a:r>
              <a:rPr b="1" lang="ja-JP" sz="1800" strike="noStrike" u="none">
                <a:solidFill>
                  <a:srgbClr val="ff0000"/>
                </a:solidFill>
                <a:effectLst/>
                <a:uFillTx/>
                <a:latin typeface="Meiryo"/>
                <a:ea typeface="Meiryo"/>
              </a:rPr>
              <a:t>無償</a:t>
            </a:r>
            <a:endParaRPr b="0" lang="en-US" sz="1800" strike="noStrike" u="non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コンサル発注</a:t>
            </a:r>
            <a:r>
              <a:rPr b="0" lang="ja-JP" sz="1200" strike="noStrike" u="none">
                <a:solidFill>
                  <a:schemeClr val="dk1"/>
                </a:solidFill>
                <a:effectLst/>
                <a:uFillTx/>
                <a:latin typeface="Meiryo"/>
                <a:ea typeface="Meiryo"/>
              </a:rPr>
              <a:t>であれば </a:t>
            </a:r>
            <a:r>
              <a:rPr b="1" lang="ja-JP" sz="1800" strike="noStrike" u="none">
                <a:solidFill>
                  <a:srgbClr val="ff0000"/>
                </a:solidFill>
                <a:effectLst/>
                <a:uFillTx/>
                <a:latin typeface="Meiryo"/>
                <a:ea typeface="Meiryo"/>
              </a:rPr>
              <a:t>無償</a:t>
            </a:r>
            <a:endParaRPr b="0" lang="en-US" sz="1800" strike="noStrike" u="non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800" strike="noStrike" u="none">
                <a:solidFill>
                  <a:schemeClr val="dk1">
                    <a:lumMod val="50000"/>
                    <a:lumOff val="50000"/>
                  </a:schemeClr>
                </a:solidFill>
                <a:effectLst/>
                <a:uFillTx/>
                <a:latin typeface="Meiryo"/>
                <a:ea typeface="Meiryo"/>
              </a:rPr>
              <a:t>サービス停止中</a:t>
            </a:r>
            <a:endParaRPr b="0" lang="en-US" sz="1800" strike="noStrike" u="non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（期間合計）</a:t>
            </a:r>
            <a:endParaRPr b="0" lang="en-US" sz="1200" strike="noStrike" u="non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（期間合計）</a:t>
            </a:r>
            <a:endParaRPr b="0" lang="en-US" sz="1200" strike="noStrike" u="non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a:t>
            </a:r>
            <a:r>
              <a:rPr b="0" lang="en-US" sz="1200" strike="noStrike" u="none">
                <a:solidFill>
                  <a:schemeClr val="dk1"/>
                </a:solidFill>
                <a:effectLst/>
                <a:uFillTx/>
                <a:latin typeface="Meiryo"/>
                <a:ea typeface="Meiryo"/>
              </a:rPr>
              <a:t>1</a:t>
            </a:r>
            <a:r>
              <a:rPr b="0" lang="ja-JP" sz="1200" strike="noStrike" u="none">
                <a:solidFill>
                  <a:schemeClr val="dk1"/>
                </a:solidFill>
                <a:effectLst/>
                <a:uFillTx/>
                <a:latin typeface="Meiryo"/>
                <a:ea typeface="Meiryo"/>
              </a:rPr>
              <a:t>ヶ月</a:t>
            </a:r>
            <a:r>
              <a:rPr b="0" lang="en-US" sz="1200" strike="noStrike" u="none">
                <a:solidFill>
                  <a:schemeClr val="dk1"/>
                </a:solidFill>
                <a:effectLst/>
                <a:uFillTx/>
                <a:latin typeface="Meiryo"/>
                <a:ea typeface="Meiryo"/>
              </a:rPr>
              <a:t>~</a:t>
            </a:r>
            <a:r>
              <a:rPr b="0" lang="ja-JP" sz="1200" strike="noStrike" u="none">
                <a:solidFill>
                  <a:schemeClr val="dk1"/>
                </a:solidFill>
                <a:effectLst/>
                <a:uFillTx/>
                <a:latin typeface="Meiryo"/>
                <a:ea typeface="Meiryo"/>
              </a:rPr>
              <a:t>）</a:t>
            </a:r>
            <a:endParaRPr b="0" lang="en-US" sz="1200" strike="noStrike" u="non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600" strike="noStrike" u="none">
                <a:solidFill>
                  <a:schemeClr val="dk1">
                    <a:lumMod val="65000"/>
                    <a:lumOff val="35000"/>
                  </a:schemeClr>
                </a:solidFill>
                <a:effectLst/>
                <a:uFillTx/>
                <a:latin typeface="Meiryo"/>
                <a:ea typeface="Meiryo"/>
              </a:rPr>
              <a:t>各拡張施策についても</a:t>
            </a:r>
            <a:r>
              <a:rPr b="1" lang="en-US" sz="1600" strike="noStrike" u="none">
                <a:solidFill>
                  <a:schemeClr val="dk1">
                    <a:lumMod val="65000"/>
                    <a:lumOff val="35000"/>
                  </a:schemeClr>
                </a:solidFill>
                <a:effectLst/>
                <a:uFillTx/>
                <a:latin typeface="Meiryo"/>
                <a:ea typeface="Meiryo"/>
              </a:rPr>
              <a:t>MIN</a:t>
            </a:r>
            <a:r>
              <a:rPr b="1" lang="ja-JP" sz="1600" strike="noStrike" u="none">
                <a:solidFill>
                  <a:schemeClr val="dk1">
                    <a:lumMod val="65000"/>
                    <a:lumOff val="35000"/>
                  </a:schemeClr>
                </a:solidFill>
                <a:effectLst/>
                <a:uFillTx/>
                <a:latin typeface="Meiryo"/>
                <a:ea typeface="Meiryo"/>
              </a:rPr>
              <a:t>金額からの発注、動線設計が可能です。</a:t>
            </a:r>
            <a:endParaRPr b="0" lang="en-US" sz="1600" strike="noStrike" u="none">
              <a:solidFill>
                <a:srgbClr val="000000"/>
              </a:solidFill>
              <a:effectLst/>
              <a:uFillTx/>
              <a:latin typeface="Arial"/>
            </a:endParaRPr>
          </a:p>
          <a:p>
            <a:pPr algn="ct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友だち追加後の動線設計（特に友だち追加後すぐ）の検証後の拡大施策として用意。</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pic>
        <p:nvPicPr>
          <p:cNvPr id="1060" name="図 51" descr=""/>
          <p:cNvPicPr/>
          <p:nvPr/>
        </p:nvPicPr>
        <p:blipFill>
          <a:blip r:embed="rId1"/>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lt1"/>
                </a:solidFill>
                <a:effectLst/>
                <a:uFillTx/>
                <a:latin typeface="メイリオ"/>
                <a:ea typeface="メイリオ"/>
              </a:rPr>
              <a:t>LINE</a:t>
            </a:r>
            <a:r>
              <a:rPr b="1" lang="ja-JP" sz="1600" strike="noStrike" u="none">
                <a:solidFill>
                  <a:schemeClr val="lt1"/>
                </a:solidFill>
                <a:effectLst/>
                <a:uFillTx/>
                <a:latin typeface="メイリオ"/>
                <a:ea typeface="メイリオ"/>
              </a:rPr>
              <a:t>広告</a:t>
            </a:r>
            <a:r>
              <a:rPr b="1" lang="ja-JP" sz="1200" strike="noStrike" u="none">
                <a:solidFill>
                  <a:schemeClr val="lt1"/>
                </a:solidFill>
                <a:effectLst/>
                <a:uFillTx/>
                <a:latin typeface="メイリオ"/>
                <a:ea typeface="メイリオ"/>
              </a:rPr>
              <a:t>（友だち追加）</a:t>
            </a:r>
            <a:endParaRPr b="0" lang="en-US" sz="1200" strike="noStrike" u="none">
              <a:solidFill>
                <a:srgbClr val="ffffff"/>
              </a:solidFill>
              <a:effectLst/>
              <a:uFillTx/>
              <a:latin typeface="Arial"/>
            </a:endParaRPr>
          </a:p>
          <a:p>
            <a:pPr algn="ctr" defTabSz="914400">
              <a:lnSpc>
                <a:spcPct val="100000"/>
              </a:lnSpc>
            </a:pPr>
            <a:r>
              <a:rPr b="1" lang="en-US" sz="1200" strike="noStrike" u="none">
                <a:solidFill>
                  <a:srgbClr val="ffff00"/>
                </a:solidFill>
                <a:effectLst/>
                <a:uFillTx/>
                <a:latin typeface="メイリオ"/>
                <a:ea typeface="メイリオ"/>
              </a:rPr>
              <a:t>※CPF</a:t>
            </a:r>
            <a:r>
              <a:rPr b="1" lang="ja-JP" sz="1200" strike="noStrike" u="none">
                <a:solidFill>
                  <a:srgbClr val="ffff00"/>
                </a:solidFill>
                <a:effectLst/>
                <a:uFillTx/>
                <a:latin typeface="メイリオ"/>
                <a:ea typeface="メイリオ"/>
              </a:rPr>
              <a:t>広告※</a:t>
            </a:r>
            <a:endParaRPr b="0" lang="en-US" sz="1200" strike="noStrike" u="non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公式アカウントの友だちを増やすための広告を、</a:t>
            </a:r>
            <a:br>
              <a:rPr sz="1600"/>
            </a:b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広告の管理画面より</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アプリ内で掲載できる機能。</a:t>
            </a:r>
            <a:endParaRPr b="0" lang="en-US" sz="1600" strike="noStrike" u="non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rgbClr val="0070c0"/>
                  </a:solidFill>
                  <a:effectLst/>
                  <a:uFillTx/>
                  <a:latin typeface="Meiryo"/>
                  <a:ea typeface="Meiryo"/>
                </a:rPr>
                <a:t>LINE</a:t>
              </a:r>
              <a:r>
                <a:rPr b="1" lang="ja-JP" sz="1200" strike="noStrike" u="none">
                  <a:solidFill>
                    <a:srgbClr val="0070c0"/>
                  </a:solidFill>
                  <a:effectLst/>
                  <a:uFillTx/>
                  <a:latin typeface="Meiryo"/>
                  <a:ea typeface="Meiryo"/>
                </a:rPr>
                <a:t>公式アカウントまでの導線</a:t>
              </a:r>
              <a:endParaRPr b="0" lang="en-US" sz="1200" strike="noStrike" u="non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rgbClr val="0070c0"/>
                  </a:solidFill>
                  <a:effectLst/>
                  <a:uFillTx/>
                  <a:latin typeface="Meiryo"/>
                  <a:ea typeface="Meiryo"/>
                </a:rPr>
                <a:t>「友だち追加広告」との違い</a:t>
              </a:r>
              <a:endParaRPr b="0" lang="en-US" sz="1200" strike="noStrike" u="none">
                <a:solidFill>
                  <a:srgbClr val="000000"/>
                </a:solidFill>
                <a:effectLst/>
                <a:uFillTx/>
                <a:latin typeface="Arial"/>
              </a:endParaRPr>
            </a:p>
          </p:txBody>
        </p:sp>
      </p:grpSp>
      <p:pic>
        <p:nvPicPr>
          <p:cNvPr id="1069" name="table" descr=""/>
          <p:cNvPicPr/>
          <p:nvPr/>
        </p:nvPicPr>
        <p:blipFill>
          <a:blip r:embed="rId2"/>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pic>
        <p:nvPicPr>
          <p:cNvPr id="1071" name="図 62" descr=""/>
          <p:cNvPicPr/>
          <p:nvPr/>
        </p:nvPicPr>
        <p:blipFill>
          <a:blip r:embed="rId3"/>
          <a:srcRect l="35512" t="0" r="35510" b="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200" strike="noStrike" u="none">
                <a:solidFill>
                  <a:srgbClr val="000000"/>
                </a:solidFill>
                <a:effectLst/>
                <a:uFillTx/>
                <a:latin typeface="メイリオ"/>
                <a:ea typeface="メイリオ"/>
              </a:rPr>
              <a:t>LINE</a:t>
            </a:r>
            <a:r>
              <a:rPr b="0" lang="ja-JP" sz="1200" strike="noStrike" u="none">
                <a:solidFill>
                  <a:srgbClr val="000000"/>
                </a:solidFill>
                <a:effectLst/>
                <a:uFillTx/>
                <a:latin typeface="メイリオ"/>
                <a:ea typeface="メイリオ"/>
              </a:rPr>
              <a:t>アプリ内から</a:t>
            </a:r>
            <a:br>
              <a:rPr sz="1200"/>
            </a:br>
            <a:r>
              <a:rPr b="0" lang="ja-JP" sz="1200" strike="noStrike" u="none">
                <a:solidFill>
                  <a:srgbClr val="000000"/>
                </a:solidFill>
                <a:effectLst/>
                <a:uFillTx/>
                <a:latin typeface="メイリオ"/>
                <a:ea typeface="メイリオ"/>
              </a:rPr>
              <a:t>自社アカウントに</a:t>
            </a:r>
            <a:r>
              <a:rPr b="1" lang="en-US" sz="1600" strike="noStrike" u="none">
                <a:solidFill>
                  <a:srgbClr val="33cc33"/>
                </a:solidFill>
                <a:effectLst/>
                <a:uFillTx/>
                <a:latin typeface="メイリオ"/>
                <a:ea typeface="メイリオ"/>
              </a:rPr>
              <a:t>“直接”</a:t>
            </a:r>
            <a:r>
              <a:rPr b="0" lang="ja-JP" sz="1200" strike="noStrike" u="none">
                <a:solidFill>
                  <a:srgbClr val="000000"/>
                </a:solidFill>
                <a:effectLst/>
                <a:uFillTx/>
                <a:latin typeface="メイリオ"/>
                <a:ea typeface="メイリオ"/>
              </a:rPr>
              <a:t>誘導</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fillRef idx="0"/>
          <a:effectRef idx="0"/>
          <a:fontRef idx="minor"/>
        </p:style>
        <p:txBody>
          <a:bodyPr lIns="90000" rIns="90000" tIns="45000" bIns="45000" anchor="ctr">
            <a:spAutoFit/>
          </a:bodyPr>
          <a:p>
            <a:pPr defTabSz="914400">
              <a:lnSpc>
                <a:spcPct val="100000"/>
              </a:lnSpc>
              <a:spcBef>
                <a:spcPts val="167"/>
              </a:spcBef>
            </a:pPr>
            <a:r>
              <a:rPr b="1" lang="ja-JP" sz="830" strike="noStrike" u="none">
                <a:solidFill>
                  <a:srgbClr val="000000"/>
                </a:solidFill>
                <a:effectLst/>
                <a:uFillTx/>
                <a:latin typeface="メイリオ"/>
                <a:ea typeface="メイリオ"/>
              </a:rPr>
              <a:t>株式会社</a:t>
            </a:r>
            <a:r>
              <a:rPr b="1" lang="en-US" sz="830" strike="noStrike" u="none">
                <a:solidFill>
                  <a:srgbClr val="000000"/>
                </a:solidFill>
                <a:effectLst/>
                <a:uFillTx/>
                <a:latin typeface="メイリオ"/>
                <a:ea typeface="メイリオ"/>
              </a:rPr>
              <a:t>DYM</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141-0032</a:t>
            </a:r>
            <a:r>
              <a:rPr b="1" lang="ja-JP" sz="830" strike="noStrike" u="none">
                <a:solidFill>
                  <a:srgbClr val="000000"/>
                </a:solidFill>
                <a:effectLst/>
                <a:uFillTx/>
                <a:latin typeface="メイリオ"/>
                <a:ea typeface="メイリオ"/>
              </a:rPr>
              <a:t>　東京都品川区大崎</a:t>
            </a:r>
            <a:r>
              <a:rPr b="1" lang="en-US" sz="830" strike="noStrike" u="none">
                <a:solidFill>
                  <a:srgbClr val="000000"/>
                </a:solidFill>
                <a:effectLst/>
                <a:uFillTx/>
                <a:latin typeface="メイリオ"/>
                <a:ea typeface="メイリオ"/>
              </a:rPr>
              <a:t>1-11-2</a:t>
            </a:r>
            <a:r>
              <a:rPr b="1" lang="ja-JP" sz="830" strike="noStrike" u="none">
                <a:solidFill>
                  <a:srgbClr val="000000"/>
                </a:solidFill>
                <a:effectLst/>
                <a:uFillTx/>
                <a:latin typeface="メイリオ"/>
                <a:ea typeface="メイリオ"/>
              </a:rPr>
              <a:t>　ゲートシティ大崎イーストタワー</a:t>
            </a:r>
            <a:r>
              <a:rPr b="1" lang="en-US" sz="830" strike="noStrike" u="none">
                <a:solidFill>
                  <a:srgbClr val="000000"/>
                </a:solidFill>
                <a:effectLst/>
                <a:uFillTx/>
                <a:latin typeface="メイリオ"/>
                <a:ea typeface="メイリオ"/>
              </a:rPr>
              <a:t>10</a:t>
            </a:r>
            <a:r>
              <a:rPr b="1" lang="ja-JP" sz="830" strike="noStrike" u="none">
                <a:solidFill>
                  <a:srgbClr val="000000"/>
                </a:solidFill>
                <a:effectLst/>
                <a:uFillTx/>
                <a:latin typeface="メイリオ"/>
                <a:ea typeface="メイリオ"/>
              </a:rPr>
              <a:t>階</a:t>
            </a:r>
            <a:endParaRPr b="0" lang="en-US" sz="830" strike="noStrike" u="none">
              <a:solidFill>
                <a:srgbClr val="000000"/>
              </a:solidFill>
              <a:effectLst/>
              <a:uFillTx/>
              <a:latin typeface="Arial"/>
            </a:endParaRPr>
          </a:p>
          <a:p>
            <a:pPr defTabSz="914400">
              <a:lnSpc>
                <a:spcPct val="100000"/>
              </a:lnSpc>
              <a:spcBef>
                <a:spcPts val="167"/>
              </a:spcBef>
            </a:pPr>
            <a:r>
              <a:rPr b="1" lang="en-US" sz="830" strike="noStrike" u="none">
                <a:solidFill>
                  <a:srgbClr val="000000"/>
                </a:solidFill>
                <a:effectLst/>
                <a:uFillTx/>
                <a:latin typeface="メイリオ"/>
                <a:ea typeface="メイリオ"/>
              </a:rPr>
              <a:t>TEL: 03-5745-0200</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FAX: 03-3779-8720 </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http://dym.asia   </a:t>
            </a:r>
            <a:r>
              <a:rPr b="1" lang="ja-JP" sz="830" strike="noStrike" u="none">
                <a:solidFill>
                  <a:srgbClr val="000000"/>
                </a:solidFill>
                <a:effectLst/>
                <a:uFillTx/>
                <a:latin typeface="メイリオ"/>
                <a:ea typeface="メイリオ"/>
              </a:rPr>
              <a:t>代表取締役　水谷佑毅</a:t>
            </a:r>
            <a:endParaRPr b="0" lang="en-US" sz="830" strike="noStrike" u="none">
              <a:solidFill>
                <a:srgbClr val="000000"/>
              </a:solidFill>
              <a:effectLst/>
              <a:uFillTx/>
              <a:latin typeface="Arial"/>
            </a:endParaRPr>
          </a:p>
        </p:txBody>
      </p:sp>
      <p:pic>
        <p:nvPicPr>
          <p:cNvPr id="1074" name="図 1" descr=""/>
          <p:cNvPicPr/>
          <p:nvPr/>
        </p:nvPicPr>
        <p:blipFill>
          <a:blip r:embed="rId1"/>
          <a:srcRect l="-1652" t="0" r="-11179" b="0"/>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trike="noStrike" u="non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360"/>
              </a:spcBef>
            </a:pPr>
            <a:r>
              <a:rPr b="1" lang="ja-JP" sz="1800" strike="noStrike" u="none">
                <a:solidFill>
                  <a:srgbClr val="000000"/>
                </a:solidFill>
                <a:effectLst/>
                <a:uFillTx/>
                <a:latin typeface="メイリオ"/>
                <a:ea typeface="メイリオ"/>
              </a:rPr>
              <a:t>貴社の明るい未来に必ず貢献致します。</a:t>
            </a:r>
            <a:endParaRPr b="0" lang="en-US" sz="1800" strike="noStrike" u="non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47"/>
              </a:spcBef>
            </a:pPr>
            <a:r>
              <a:rPr b="0" lang="ja-JP" sz="740" strike="noStrike" u="none">
                <a:solidFill>
                  <a:srgbClr val="ffffff"/>
                </a:solidFill>
                <a:effectLst/>
                <a:uFillTx/>
                <a:latin typeface="メイリオ"/>
                <a:ea typeface="メイリオ"/>
              </a:rPr>
              <a:t>本社</a:t>
            </a:r>
            <a:endParaRPr b="0" lang="en-US" sz="740" strike="noStrike" u="non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59"/>
              </a:spcBef>
            </a:pPr>
            <a:r>
              <a:rPr b="0" lang="ja-JP" sz="800" strike="noStrike" u="none">
                <a:solidFill>
                  <a:srgbClr val="ffffff"/>
                </a:solidFill>
                <a:effectLst/>
                <a:uFillTx/>
                <a:latin typeface="メイリオ"/>
                <a:ea typeface="メイリオ"/>
              </a:rPr>
              <a:t>本社</a:t>
            </a:r>
            <a:endParaRPr b="0" lang="en-US" sz="800" strike="noStrike" u="non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2"/>
            <a:srcRect l="3642" t="0" r="4070" b="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3"/>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4"/>
            <a:srcRect l="10699" t="0" r="10360" b="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5"/>
            <a:srcRect l="2513" t="12878" r="2480" b="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6"/>
            <a:srcRect l="8592" t="0" r="6764" b="0"/>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zh-CN" sz="1400" strike="noStrike" u="none">
                <a:solidFill>
                  <a:schemeClr val="lt1"/>
                </a:solidFill>
                <a:effectLst/>
                <a:uFillTx/>
                <a:latin typeface="メイリオ"/>
                <a:ea typeface="メイリオ"/>
              </a:rPr>
              <a:t>あらうち様向けプラン</a:t>
            </a:r>
            <a:endParaRPr b="0" lang="en-US" sz="1400" strike="noStrike" u="non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運用内容の比較</a:t>
            </a:r>
            <a:endParaRPr b="0" lang="en-US" sz="1400" strike="noStrike" u="non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chemeClr val="dk1"/>
                </a:solidFill>
                <a:effectLst/>
                <a:uFillTx/>
                <a:latin typeface="メイリオ"/>
                <a:ea typeface="メイリオ"/>
              </a:rPr>
              <a:t>コンサル型の運用内容を比較します（プラン④は17ページ）。</a:t>
            </a:r>
            <a:endParaRPr b="0" lang="en-US" sz="1600" strike="noStrike" u="none">
              <a:solidFill>
                <a:srgbClr val="000000"/>
              </a:solidFill>
              <a:effectLst/>
              <a:uFillTx/>
              <a:latin typeface="Arial"/>
            </a:endParaRPr>
          </a:p>
        </p:txBody>
      </p:sp>
      <p:graphicFrame>
        <p:nvGraphicFramePr>
          <p:cNvPr id="6" name="運用内容比較表 5"/>
          <p:cNvGraphicFramePr>
            <a:graphicFrameLocks noGrp="1"/>
          </p:cNvGraphicFramePr>
          <p:nvPr/>
        </p:nvGraphicFramePr>
        <p:xfrm>
          <a:off x="384048" y="1353312"/>
          <a:ext cx="9144000" cy="3456432"/>
        </p:xfrm>
        <a:graphic>
          <a:graphicData uri="http://schemas.openxmlformats.org/drawingml/2006/table">
            <a:tbl>
              <a:tblPr/>
              <a:tblGrid>
                <a:gridCol w="1554480"/>
                <a:gridCol w="1897380"/>
                <a:gridCol w="1897380"/>
                <a:gridCol w="1897380"/>
                <a:gridCol w="1897380"/>
              </a:tblGrid>
              <a:tr h="566928">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プラン④</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tr>
              <a:tr h="603504">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8.5万円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ツール利用料</a:t>
                      </a:r>
                      <a:br>
                        <a:rPr lang="ja-JP" altLang="en-US" sz="1400" b="1" dirty="0">
                          <a:solidFill>
                            <a:srgbClr val="1F285A"/>
                          </a:solidFill>
                          <a:latin typeface="メイリオ" panose="020B0604030504040204" pitchFamily="50" charset="-128"/>
                          <a:ea typeface="メイリオ" panose="020B0604030504040204" pitchFamily="50" charset="-128"/>
                        </a:rPr>
                      </a:br>
                      <a:r>
                        <a:rPr lang="ja-JP" altLang="en-US" sz="1400" b="1" dirty="0">
                          <a:solidFill>
                            <a:srgbClr val="1F285A"/>
                          </a:solidFill>
                          <a:latin typeface="メイリオ" panose="020B0604030504040204" pitchFamily="50" charset="-128"/>
                          <a:ea typeface="メイリオ" panose="020B0604030504040204" pitchFamily="50" charset="-128"/>
                        </a:rPr>
                        <a:t>＋手数料</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007A3D"/>
                          </a:solidFill>
                          <a:latin typeface="メイリオ" panose="020B0604030504040204" pitchFamily="50" charset="-128"/>
                          <a:ea typeface="メイリオ" panose="020B0604030504040204" pitchFamily="50" charset="-128"/>
                        </a:rPr>
                        <a:t>8,000円×</a:t>
                      </a:r>
                      <a:br>
                        <a:rPr lang="ja-JP" altLang="en-US" sz="1400" b="1" dirty="0">
                          <a:solidFill>
                            <a:srgbClr val="007A3D"/>
                          </a:solidFill>
                          <a:latin typeface="メイリオ" panose="020B0604030504040204" pitchFamily="50" charset="-128"/>
                          <a:ea typeface="メイリオ" panose="020B0604030504040204" pitchFamily="50" charset="-128"/>
                        </a:rPr>
                      </a:br>
                      <a:r>
                        <a:rPr lang="ja-JP" altLang="en-US" sz="1400" b="1" dirty="0">
                          <a:solidFill>
                            <a:srgbClr val="007A3D"/>
                          </a:solidFill>
                          <a:latin typeface="メイリオ" panose="020B0604030504040204" pitchFamily="50" charset="-128"/>
                          <a:ea typeface="メイリオ" panose="020B0604030504040204" pitchFamily="50" charset="-128"/>
                        </a:rPr>
                        <a:t>有効CV件数</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D5ECDC"/>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月4〜5本</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月1〜2本</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rowSpan="5">
                  <a:txBody>
                    <a:bodyPr/>
                    <a:lstStyle/>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専用フォームで</a:t>
                      </a:r>
                      <a:br>
                        <a:rPr lang="ja-JP" altLang="en-US" sz="1300" b="1" dirty="0">
                          <a:solidFill>
                            <a:srgbClr val="007A3D"/>
                          </a:solidFill>
                          <a:latin typeface="メイリオ" panose="020B0604030504040204" pitchFamily="50" charset="-128"/>
                          <a:ea typeface="メイリオ" panose="020B0604030504040204" pitchFamily="50" charset="-128"/>
                        </a:rPr>
                      </a:br>
                      <a:r>
                        <a:rPr lang="ja-JP" altLang="en-US" sz="1300" b="1" dirty="0">
                          <a:solidFill>
                            <a:srgbClr val="007A3D"/>
                          </a:solidFill>
                          <a:latin typeface="メイリオ" panose="020B0604030504040204" pitchFamily="50" charset="-128"/>
                          <a:ea typeface="メイリオ" panose="020B0604030504040204" pitchFamily="50" charset="-128"/>
                        </a:rPr>
                        <a:t>有効CVを計測し、</a:t>
                      </a:r>
                      <a:endParaRPr lang="ja-JP" altLang="en-US" sz="1300" dirty="0"/>
                    </a:p>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件数に応じて</a:t>
                      </a:r>
                      <a:br>
                        <a:rPr lang="ja-JP" altLang="en-US" sz="1300" b="1" dirty="0">
                          <a:solidFill>
                            <a:srgbClr val="007A3D"/>
                          </a:solidFill>
                          <a:latin typeface="メイリオ" panose="020B0604030504040204" pitchFamily="50" charset="-128"/>
                          <a:ea typeface="メイリオ" panose="020B0604030504040204" pitchFamily="50" charset="-128"/>
                        </a:rPr>
                      </a:br>
                      <a:r>
                        <a:rPr lang="ja-JP" altLang="en-US" sz="1300" b="1" dirty="0">
                          <a:solidFill>
                            <a:srgbClr val="007A3D"/>
                          </a:solidFill>
                          <a:latin typeface="メイリオ" panose="020B0604030504040204" pitchFamily="50" charset="-128"/>
                          <a:ea typeface="メイリオ" panose="020B0604030504040204" pitchFamily="50" charset="-128"/>
                        </a:rPr>
                        <a:t>成果報酬をご請求</a:t>
                      </a:r>
                      <a:endParaRPr lang="ja-JP" altLang="en-US" sz="1300" dirty="0"/>
                    </a:p>
                    <a:p>
                      <a:pPr algn="ctr">
                        <a:buNone/>
                      </a:pPr>
                      <a:r>
                        <a:rPr lang="ja-JP" altLang="en-US" sz="1200" b="1" dirty="0">
                          <a:solidFill>
                            <a:srgbClr val="007A3D"/>
                          </a:solidFill>
                          <a:latin typeface="メイリオ" panose="020B0604030504040204" pitchFamily="50" charset="-128"/>
                          <a:ea typeface="メイリオ" panose="020B0604030504040204" pitchFamily="50" charset="-128"/>
                        </a:rPr>
                        <a:t>（17ページ）</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10通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初期導入支援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継続改善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限定的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必要に応じ別途見積</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bl>
          </a:graphicData>
        </a:graphic>
      </p:graphicFrame>
      <p:sp>
        <p:nvSpPr>
          <p:cNvPr id="7" name="注記"/>
          <p:cNvSpPr/>
          <p:nvPr/>
        </p:nvSpPr>
        <p:spPr>
          <a:xfrm>
            <a:off x="384048" y="4992624"/>
            <a:ext cx="9144000" cy="1499615"/>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※API連携・開発は基本料金に含まれません。必要に応じて、プラン①で別途お見積りします。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※13ページの試算（6か月目に月23件）は、プラン①｜総合運用の基本施策を対象としたものです。プラン②・③の成果は含みません。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※プラン④の参考試算（月間の有効CV 23件（仮））は、17ページに記載しています。</a:t>
            </a:r>
            <a:endParaRPr lang="ja-JP" altLang="en-US" sz="11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zh-CN" sz="1400" strike="noStrike" u="none">
                <a:solidFill>
                  <a:schemeClr val="lt1"/>
                </a:solidFill>
                <a:effectLst/>
                <a:uFillTx/>
                <a:latin typeface="メイリオ"/>
                <a:ea typeface="メイリオ"/>
              </a:rPr>
              <a:t>あらうち様向けプラン</a:t>
            </a:r>
            <a:endParaRPr b="0" lang="en-US" sz="1400" strike="noStrike" u="non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プラン④｜成果報酬型</a:t>
            </a:r>
            <a:endParaRPr b="0" lang="en-US" sz="1400" strike="noStrike" u="non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chemeClr val="dk1"/>
                </a:solidFill>
                <a:effectLst/>
                <a:uFillTx/>
                <a:latin typeface="メイリオ"/>
                <a:ea typeface="メイリオ"/>
              </a:rPr>
              <a:t>固定のコンサル費はなく、有効CVの件数に応じてご請求します。</a:t>
            </a:r>
            <a:endParaRPr b="0" lang="en-US" sz="1600" strike="noStrike" u="none">
              <a:solidFill>
                <a:srgbClr val="000000"/>
              </a:solidFill>
              <a:effectLst/>
              <a:uFillTx/>
              <a:latin typeface="Arial"/>
            </a:endParaRPr>
          </a:p>
        </p:txBody>
      </p:sp>
      <p:sp>
        <p:nvSpPr>
          <p:cNvPr id="6" name="見出し：有効CVの数え方"/>
          <p:cNvSpPr/>
          <p:nvPr/>
        </p:nvSpPr>
        <p:spPr>
          <a:xfrm>
            <a:off x="384048" y="1335024"/>
            <a:ext cx="4572000" cy="274320"/>
          </a:xfrm>
          <a:prstGeom prst="rect">
            <a:avLst/>
          </a:prstGeom>
          <a:noFill/>
          <a:ln>
            <a:noFill/>
          </a:ln>
        </p:spPr>
        <p:txBody>
          <a:bodyPr wrap="square" lIns="18288" tIns="0" rIns="18288"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有効CVの数え方</a:t>
            </a:r>
            <a:endParaRPr lang="ja-JP" altLang="en-US" sz="1300" dirty="0"/>
          </a:p>
        </p:txBody>
      </p:sp>
      <p:sp>
        <p:nvSpPr>
          <p:cNvPr id="7" name="流れ1の見出し"/>
          <p:cNvSpPr/>
          <p:nvPr/>
        </p:nvSpPr>
        <p:spPr>
          <a:xfrm>
            <a:off x="384048"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1　友だち</a:t>
            </a:r>
            <a:endParaRPr lang="ja-JP" altLang="en-US" sz="1300" dirty="0"/>
          </a:p>
        </p:txBody>
      </p:sp>
      <p:sp>
        <p:nvSpPr>
          <p:cNvPr id="8" name="流れ1の内容"/>
          <p:cNvSpPr/>
          <p:nvPr/>
        </p:nvSpPr>
        <p:spPr>
          <a:xfrm>
            <a:off x="384048"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新規・既存の友だち</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どちらも成果の対象です</a:t>
            </a:r>
            <a:endParaRPr lang="ja-JP" altLang="en-US" sz="1200" dirty="0"/>
          </a:p>
        </p:txBody>
      </p:sp>
      <p:sp>
        <p:nvSpPr>
          <p:cNvPr id="9" name="矢印1"/>
          <p:cNvSpPr/>
          <p:nvPr/>
        </p:nvSpPr>
        <p:spPr>
          <a:xfrm>
            <a:off x="2496311" y="2221991"/>
            <a:ext cx="201168" cy="219456"/>
          </a:xfrm>
          <a:prstGeom prst="rightArrow">
            <a:avLst/>
          </a:prstGeom>
          <a:solidFill>
            <a:srgbClr val="7F7F7F"/>
          </a:solidFill>
          <a:ln>
            <a:noFill/>
          </a:ln>
        </p:spPr>
      </p:sp>
      <p:sp>
        <p:nvSpPr>
          <p:cNvPr id="10" name="流れ2の見出し"/>
          <p:cNvSpPr/>
          <p:nvPr/>
        </p:nvSpPr>
        <p:spPr>
          <a:xfrm>
            <a:off x="2724911"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2　専用フォーム</a:t>
            </a:r>
            <a:endParaRPr lang="ja-JP" altLang="en-US" sz="1300" dirty="0"/>
          </a:p>
        </p:txBody>
      </p:sp>
      <p:sp>
        <p:nvSpPr>
          <p:cNvPr id="11" name="流れ2の内容"/>
          <p:cNvSpPr/>
          <p:nvPr/>
        </p:nvSpPr>
        <p:spPr>
          <a:xfrm>
            <a:off x="2724911"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LINE上の専用フォームで</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物件情報を送信（CV地点）</a:t>
            </a:r>
            <a:endParaRPr lang="ja-JP" altLang="en-US" sz="1200" dirty="0"/>
          </a:p>
        </p:txBody>
      </p:sp>
      <p:sp>
        <p:nvSpPr>
          <p:cNvPr id="12" name="矢印2"/>
          <p:cNvSpPr/>
          <p:nvPr/>
        </p:nvSpPr>
        <p:spPr>
          <a:xfrm>
            <a:off x="4837176" y="2221991"/>
            <a:ext cx="201168" cy="219456"/>
          </a:xfrm>
          <a:prstGeom prst="rightArrow">
            <a:avLst/>
          </a:prstGeom>
          <a:solidFill>
            <a:srgbClr val="7F7F7F"/>
          </a:solidFill>
          <a:ln>
            <a:noFill/>
          </a:ln>
        </p:spPr>
      </p:sp>
      <p:sp>
        <p:nvSpPr>
          <p:cNvPr id="13" name="流れ3の見出し"/>
          <p:cNvSpPr/>
          <p:nvPr/>
        </p:nvSpPr>
        <p:spPr>
          <a:xfrm>
            <a:off x="5065775"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3　有効CVの集計</a:t>
            </a:r>
            <a:endParaRPr lang="ja-JP" altLang="en-US" sz="1300" dirty="0"/>
          </a:p>
        </p:txBody>
      </p:sp>
      <p:sp>
        <p:nvSpPr>
          <p:cNvPr id="14" name="流れ3の内容"/>
          <p:cNvSpPr/>
          <p:nvPr/>
        </p:nvSpPr>
        <p:spPr>
          <a:xfrm>
            <a:off x="5065775"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有効CVとして集計</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重複・テスト送信などの</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無効CVは除外</a:t>
            </a:r>
            <a:endParaRPr lang="ja-JP" altLang="en-US" sz="1200" dirty="0"/>
          </a:p>
        </p:txBody>
      </p:sp>
      <p:sp>
        <p:nvSpPr>
          <p:cNvPr id="15" name="矢印3"/>
          <p:cNvSpPr/>
          <p:nvPr/>
        </p:nvSpPr>
        <p:spPr>
          <a:xfrm>
            <a:off x="7178039" y="2221991"/>
            <a:ext cx="201168" cy="219456"/>
          </a:xfrm>
          <a:prstGeom prst="rightArrow">
            <a:avLst/>
          </a:prstGeom>
          <a:solidFill>
            <a:srgbClr val="7F7F7F"/>
          </a:solidFill>
          <a:ln>
            <a:noFill/>
          </a:ln>
        </p:spPr>
      </p:sp>
      <p:sp>
        <p:nvSpPr>
          <p:cNvPr id="16" name="流れ4の見出し"/>
          <p:cNvSpPr/>
          <p:nvPr/>
        </p:nvSpPr>
        <p:spPr>
          <a:xfrm>
            <a:off x="7406640" y="1645920"/>
            <a:ext cx="2084831" cy="365760"/>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4　成果報酬</a:t>
            </a:r>
            <a:endParaRPr lang="ja-JP" altLang="en-US" sz="1300" dirty="0"/>
          </a:p>
        </p:txBody>
      </p:sp>
      <p:sp>
        <p:nvSpPr>
          <p:cNvPr id="17" name="流れ4の内容"/>
          <p:cNvSpPr/>
          <p:nvPr/>
        </p:nvSpPr>
        <p:spPr>
          <a:xfrm>
            <a:off x="7406640"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有効CV件数 × 8,000円を</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月額成果報酬として</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ご請求します</a:t>
            </a:r>
            <a:endParaRPr lang="ja-JP" altLang="en-US" sz="1200" dirty="0"/>
          </a:p>
        </p:txBody>
      </p:sp>
      <p:sp>
        <p:nvSpPr>
          <p:cNvPr id="18" name="見出し：料金"/>
          <p:cNvSpPr/>
          <p:nvPr/>
        </p:nvSpPr>
        <p:spPr>
          <a:xfrm>
            <a:off x="384048" y="3200400"/>
            <a:ext cx="4434840" cy="329184"/>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料金（プラン④）</a:t>
            </a:r>
            <a:endParaRPr lang="ja-JP" altLang="en-US" sz="1300" dirty="0"/>
          </a:p>
        </p:txBody>
      </p:sp>
      <p:graphicFrame>
        <p:nvGraphicFramePr>
          <p:cNvPr id="19" name="料金表 18"/>
          <p:cNvGraphicFramePr>
            <a:graphicFrameLocks noGrp="1"/>
          </p:cNvGraphicFramePr>
          <p:nvPr/>
        </p:nvGraphicFramePr>
        <p:xfrm>
          <a:off x="384048" y="3529584"/>
          <a:ext cx="4434840" cy="1609344"/>
        </p:xfrm>
        <a:graphic>
          <a:graphicData uri="http://schemas.openxmlformats.org/drawingml/2006/table">
            <a:tbl>
              <a:tblPr/>
              <a:tblGrid>
                <a:gridCol w="1965960"/>
                <a:gridCol w="2468880"/>
              </a:tblGrid>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初期費用</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215,000円</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月額固定コンサル費</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成果単価</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8,000円／有効CV</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月額成果報酬</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007A3D"/>
                          </a:solidFill>
                          <a:latin typeface="メイリオ" panose="020B0604030504040204" pitchFamily="50" charset="-128"/>
                          <a:ea typeface="メイリオ" panose="020B0604030504040204" pitchFamily="50" charset="-128"/>
                        </a:rPr>
                        <a:t>有効CV件数 × 8,000円</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20" name="見出し：参考試算"/>
          <p:cNvSpPr/>
          <p:nvPr/>
        </p:nvSpPr>
        <p:spPr>
          <a:xfrm>
            <a:off x="5029200" y="3200400"/>
            <a:ext cx="4498848" cy="329184"/>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参考試算（月間）※成果保証ではありません</a:t>
            </a:r>
            <a:endParaRPr lang="ja-JP" altLang="en-US" sz="1300" dirty="0"/>
          </a:p>
        </p:txBody>
      </p:sp>
      <p:sp>
        <p:nvSpPr>
          <p:cNvPr id="21" name="参考試算"/>
          <p:cNvSpPr/>
          <p:nvPr/>
        </p:nvSpPr>
        <p:spPr>
          <a:xfrm>
            <a:off x="5029200" y="3529584"/>
            <a:ext cx="4498848" cy="1609344"/>
          </a:xfrm>
          <a:prstGeom prst="rect">
            <a:avLst/>
          </a:prstGeom>
          <a:solidFill>
            <a:srgbClr val="F4F7FF"/>
          </a:solidFill>
          <a:ln w="9525">
            <a:solidFill>
              <a:srgbClr val="D9D9D9"/>
            </a:solidFill>
          </a:ln>
        </p:spPr>
        <p:txBody>
          <a:bodyPr wrap="square" lIns="137160" tIns="54864" rIns="109728" bIns="54864" rtlCol="0" anchor="ctr">
            <a:noAutofit/>
          </a:bodyPr>
          <a:lstStyle/>
          <a:p>
            <a:pPr algn="l">
              <a:spcAft>
                <a:spcPts val="300"/>
              </a:spcAft>
              <a:buNone/>
            </a:pPr>
            <a:r>
              <a:rPr lang="ja-JP" altLang="en-US" sz="1300" b="1" dirty="0">
                <a:solidFill>
                  <a:srgbClr val="333333"/>
                </a:solidFill>
                <a:latin typeface="メイリオ" panose="020B0604030504040204" pitchFamily="50" charset="-128"/>
                <a:ea typeface="メイリオ" panose="020B0604030504040204" pitchFamily="50" charset="-128"/>
              </a:rPr>
              <a:t>月間の有効CV　23件（仮）</a:t>
            </a:r>
            <a:endParaRPr lang="ja-JP" altLang="en-US" sz="1300" dirty="0"/>
          </a:p>
          <a:p>
            <a:pPr algn="l">
              <a:spcAft>
                <a:spcPts val="300"/>
              </a:spcAft>
              <a:buNone/>
            </a:pPr>
            <a:r>
              <a:rPr lang="ja-JP" altLang="en-US" sz="1300" b="1" dirty="0">
                <a:solidFill>
                  <a:srgbClr val="333333"/>
                </a:solidFill>
                <a:latin typeface="メイリオ" panose="020B0604030504040204" pitchFamily="50" charset="-128"/>
                <a:ea typeface="メイリオ" panose="020B0604030504040204" pitchFamily="50" charset="-128"/>
              </a:rPr>
              <a:t>成果単価　8,000円／有効CV</a:t>
            </a:r>
            <a:endParaRPr lang="ja-JP" altLang="en-US" sz="1300" dirty="0"/>
          </a:p>
          <a:p>
            <a:pPr algn="l">
              <a:spcAft>
                <a:spcPts val="300"/>
              </a:spcAft>
              <a:buNone/>
            </a:pPr>
            <a:r>
              <a:rPr lang="ja-JP" altLang="en-US" sz="1400" b="1" dirty="0">
                <a:solidFill>
                  <a:srgbClr val="333333"/>
                </a:solidFill>
                <a:latin typeface="メイリオ" panose="020B0604030504040204" pitchFamily="50" charset="-128"/>
                <a:ea typeface="メイリオ" panose="020B0604030504040204" pitchFamily="50" charset="-128"/>
              </a:rPr>
              <a:t>月間成果報酬　</a:t>
            </a:r>
            <a:r>
              <a:rPr lang="ja-JP" altLang="en-US" sz="2200" b="1" dirty="0">
                <a:solidFill>
                  <a:srgbClr val="C00000"/>
                </a:solidFill>
                <a:latin typeface="メイリオ" panose="020B0604030504040204" pitchFamily="50" charset="-128"/>
                <a:ea typeface="メイリオ" panose="020B0604030504040204" pitchFamily="50" charset="-128"/>
              </a:rPr>
              <a:t>184,000円（試算）</a:t>
            </a:r>
            <a:endParaRPr lang="ja-JP" altLang="en-US" sz="1300" dirty="0"/>
          </a:p>
          <a:p>
            <a:pPr algn="l">
              <a:spcAft>
                <a:spcPts val="3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13ページの試算（6か月目）の23件を参考値にしています。</a:t>
            </a:r>
            <a:br>
              <a:rPr lang="ja-JP" altLang="en-US" sz="1100" b="0" dirty="0">
                <a:solidFill>
                  <a:srgbClr val="444444"/>
                </a:solidFill>
                <a:latin typeface="メイリオ" panose="020B0604030504040204" pitchFamily="50" charset="-128"/>
                <a:ea typeface="メイリオ" panose="020B0604030504040204" pitchFamily="50" charset="-128"/>
              </a:rPr>
            </a:br>
            <a:r>
              <a:rPr lang="ja-JP" altLang="en-US" sz="1100" b="0" dirty="0">
                <a:solidFill>
                  <a:srgbClr val="444444"/>
                </a:solidFill>
                <a:latin typeface="メイリオ" panose="020B0604030504040204" pitchFamily="50" charset="-128"/>
                <a:ea typeface="メイリオ" panose="020B0604030504040204" pitchFamily="50" charset="-128"/>
              </a:rPr>
              <a:t>実際の有効CV件数に応じたご請求です。</a:t>
            </a:r>
            <a:endParaRPr lang="ja-JP" altLang="en-US" sz="1300" dirty="0"/>
          </a:p>
        </p:txBody>
      </p:sp>
      <p:sp>
        <p:nvSpPr>
          <p:cNvPr id="22" name="注記"/>
          <p:cNvSpPr/>
          <p:nvPr/>
        </p:nvSpPr>
        <p:spPr>
          <a:xfrm>
            <a:off x="384048" y="5230368"/>
            <a:ext cx="9144000" cy="1261872"/>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※成果の対象は、新規・既存の友だちの両方です。CV地点は、LINE上の専用フォームからの物件情報の送信です。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※専用フォームの設置・計測により、有効CV数を把握します。重複・テスト送信などの無効CVは成果対象から除外します。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※コンサル型（プラン①〜③）と成果報酬型（プラン④）は別契約です。固定のコンサル費と成果報酬を併せて請求することはありません。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※専用フォームの構築に必要な技術要件・ツール費用は確認中です。確定次第ご案内します。</a:t>
            </a:r>
            <a:endParaRPr lang="ja-JP" altLang="en-US" sz="1100" dirty="0"/>
          </a:p>
        </p:txBody>
      </p:sp>
    </p:spTree>
  </p:cSld>
  <p:clrMapOvr>
    <a:masterClrMapping/>
  </p:clrMapOvr>
</p:sld>
</file>

<file path=ppt/theme/theme1.xml><?xml version="1.0" encoding="utf-8"?>
<a:theme xmlns:a="http://schemas.openxmlformats.org/drawingml/2006/main" xmlns:r="http://schemas.openxmlformats.org/officeDocument/2006/relationships"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143137</TotalTime>
  <Application>LibreOffice/25.2.3.2$Linux_X86_64 LibreOffice_project/520$Build-2</Application>
  <AppVersion>15.0000</AppVersion>
  <Words>5594</Words>
  <Paragraphs>1142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2015-09-04T09:21:15Z</dcterms:created>
  <dc:creator>中村 駿</dc:creator>
  <dc:description/>
  <dc:language>en-US</dc:language>
  <cp:lastModifiedBy>殿村 亮太</cp:lastModifiedBy>
  <cp:lastPrinted>2022-11-01T11:38:14Z</cp:lastPrinted>
  <dcterms:modified xsi:type="dcterms:W3CDTF">2026-10-12T04:56:31Z</dcterms:modified>
  <cp:revision>1962</cp:revision>
  <dc:subject/>
  <dc:title>PowerPoint プレゼンテーション</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