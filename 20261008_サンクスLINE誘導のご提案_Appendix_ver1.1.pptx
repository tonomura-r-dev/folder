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7" r:id="rId3"/>
    <p:sldId id="256" r:id="rId4"/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e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hyperlink" Target="https://youtube.com/shorts/0qI4QgrOppQ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950095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CVの取りこぼしを減らし施策全体のCPAを改善</a:t>
            </a:r>
            <a:endParaRPr sz="1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5750" y="3950096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60500" y="4741330"/>
            <a:ext cx="258374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  <a:endParaRPr sz="140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753750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600749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E32FF46F-8EC5-84E2-0196-27AFC801F6CB}"/>
              </a:ext>
            </a:extLst>
          </p:cNvPr>
          <p:cNvSpPr/>
          <p:nvPr/>
        </p:nvSpPr>
        <p:spPr>
          <a:xfrm>
            <a:off x="8065876" y="985508"/>
            <a:ext cx="1274130" cy="324000"/>
          </a:xfrm>
          <a:prstGeom prst="roundRect">
            <a:avLst>
              <a:gd name="adj" fmla="val 39249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重要性 </a:t>
            </a:r>
            <a:r>
              <a:rPr lang="en-US" altLang="ja-JP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UP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サンクスLINE｜導入・活用実績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LINE活用の参考事例と、サンクスLINE誘導ツールの導入実績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980000"/>
            <a:ext cx="3131999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クリニック｜LINE活用による来院率改善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400" y="2250000"/>
            <a:ext cx="1548000" cy="19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LINEヤフーの参考事例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1999" y="2034000"/>
            <a:ext cx="990000" cy="413999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3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6000" y="2034000"/>
            <a:ext cx="990000" cy="413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7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0000" y="2034000"/>
            <a:ext cx="990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前日のお知らせ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2000" y="1853999"/>
            <a:ext cx="2034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2000" y="2051999"/>
            <a:ext cx="2034000" cy="503999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400" y="5993999"/>
            <a:ext cx="8629200" cy="34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※上段はLINEヤフーの参考事例（LINE活用による来院率の改善例）。サンクスLINE誘導ツールの実績とは別。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※下段はサンクスLINE誘導ツール導入前後の友だち増加数（人材業界）。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53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3500" y="3978000"/>
            <a:ext cx="8619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86" y="1899562"/>
            <a:ext cx="1439613" cy="17988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11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681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1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7874" y="2700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  <a:endParaRPr sz="10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86" y="1899562"/>
            <a:ext cx="1439613" cy="179887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096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9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8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altLang="ja-JP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lang="ja-JP" alt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66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6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2875" y="2700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28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8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886" y="4257562"/>
            <a:ext cx="1439613" cy="179887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11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681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21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17874" y="5058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86" y="4257562"/>
            <a:ext cx="1439613" cy="1798875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6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9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8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66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6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2875" y="5058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8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8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6516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契約・購入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31517"/>
            <a:ext cx="9111472" cy="31696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が低い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を入り口とし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でナーチャリングを経て、契約・購入につなげる。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2592000"/>
            <a:ext cx="969545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3066258"/>
            <a:ext cx="706295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510670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778881" y="3066258"/>
            <a:ext cx="84784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36386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841136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762102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966852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818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92568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3534" y="2592000"/>
            <a:ext cx="15835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218284" y="2964691"/>
            <a:ext cx="12033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7494749" y="2592000"/>
            <a:ext cx="177750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699499" y="3066257"/>
            <a:ext cx="139725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3500" y="2160000"/>
            <a:ext cx="3177102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500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227" y="2160000"/>
            <a:ext cx="543702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5227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27914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8102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8102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58102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4115" y="3996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04115" y="4302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4115" y="4608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4115" y="4913999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500" y="5578981"/>
            <a:ext cx="8628750" cy="578038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ハードルが低い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を獲得するため該当のページ制作から、</a:t>
            </a:r>
            <a:endParaRPr lang="en-US" altLang="ja-JP"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誘導・ナーチャリングを一気通貫で対応可能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友だち追加直後で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率が高い時に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ユーザーの検討行動に合わせた配信を設計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481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25" y="1842343"/>
            <a:ext cx="2515500" cy="51032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</a:t>
            </a: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索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LY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生データ）</a:t>
            </a:r>
            <a:endParaRPr lang="en-US"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⇒ユーザーの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ニーズを把握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350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5206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750" y="1987330"/>
            <a:ext cx="251550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075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9312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7999" y="1987330"/>
            <a:ext cx="295425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追加直後で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が起きやすい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317999" y="2443339"/>
            <a:ext cx="295425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202875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Right Arrow 18"/>
          <p:cNvSpPr/>
          <p:nvPr/>
        </p:nvSpPr>
        <p:spPr>
          <a:xfrm>
            <a:off x="6040124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cxnSp>
        <p:nvCxnSpPr>
          <p:cNvPr id="20" name="Connector 19"/>
          <p:cNvCxnSpPr/>
          <p:nvPr/>
        </p:nvCxnSpPr>
        <p:spPr>
          <a:xfrm>
            <a:off x="848250" y="4171339"/>
            <a:ext cx="22815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25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900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250" y="2839339"/>
            <a:ext cx="234000" cy="180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UU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856" y="4178539"/>
            <a:ext cx="334788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-15日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77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-7日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581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396" y="4178539"/>
            <a:ext cx="559209" cy="307195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(検索起点)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396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3日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900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4798" y="4178539"/>
            <a:ext cx="28990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15日</a:t>
            </a:r>
          </a:p>
        </p:txBody>
      </p:sp>
      <p:sp>
        <p:nvSpPr>
          <p:cNvPr id="31" name="Oval 30"/>
          <p:cNvSpPr/>
          <p:nvPr/>
        </p:nvSpPr>
        <p:spPr>
          <a:xfrm>
            <a:off x="2174974" y="27448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35274" y="2744831"/>
            <a:ext cx="218467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73582" y="280076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35968" y="30486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7339" y="307113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66087" y="307201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626387" y="3072012"/>
            <a:ext cx="14908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24222" y="307361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32481" y="310039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75299" y="31142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8154" y="31379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08454" y="3137999"/>
            <a:ext cx="15143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43256" y="32097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195314" y="321725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01768" y="330026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2965" y="34087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23265" y="3408746"/>
            <a:ext cx="9905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64070" y="34699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012988" y="350577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4709" y="35137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695035" y="352781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755335" y="3527816"/>
            <a:ext cx="10120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754402" y="35286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22114" y="3536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870393" y="35601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490680" y="356701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50980" y="3567010"/>
            <a:ext cx="13284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03295" y="36182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07748" y="36650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79031" y="367068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798546" y="367960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858846" y="3679609"/>
            <a:ext cx="12259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346384" y="36839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708212" y="372825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85936" y="37845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973201" y="380867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033501" y="3808677"/>
            <a:ext cx="19684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434276" y="382729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02102" y="384878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103102" y="385231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431684" y="385694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491984" y="3856944"/>
            <a:ext cx="10899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57112" y="38912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071759" y="39109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27210" y="39132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094264" y="39238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154564" y="3923847"/>
            <a:ext cx="9079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09761" y="393643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344056" y="39393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61964" y="394440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896624" y="394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956924" y="3948694"/>
            <a:ext cx="212923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47040" y="39581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489551" y="39853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382012" y="40198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6" name="Oval 85"/>
          <p:cNvSpPr/>
          <p:nvPr/>
        </p:nvSpPr>
        <p:spPr>
          <a:xfrm>
            <a:off x="1606119" y="40260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7" name="Rounded Rectangle 86"/>
          <p:cNvSpPr/>
          <p:nvPr/>
        </p:nvSpPr>
        <p:spPr>
          <a:xfrm>
            <a:off x="1666419" y="4026047"/>
            <a:ext cx="157281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8" name="Oval 87"/>
          <p:cNvSpPr/>
          <p:nvPr/>
        </p:nvSpPr>
        <p:spPr>
          <a:xfrm>
            <a:off x="2189770" y="402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9" name="Oval 88"/>
          <p:cNvSpPr/>
          <p:nvPr/>
        </p:nvSpPr>
        <p:spPr>
          <a:xfrm>
            <a:off x="2581579" y="40306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0" name="Oval 89"/>
          <p:cNvSpPr/>
          <p:nvPr/>
        </p:nvSpPr>
        <p:spPr>
          <a:xfrm>
            <a:off x="1908993" y="403718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1" name="Oval 90"/>
          <p:cNvSpPr/>
          <p:nvPr/>
        </p:nvSpPr>
        <p:spPr>
          <a:xfrm>
            <a:off x="2276001" y="40416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2" name="Rounded Rectangle 91"/>
          <p:cNvSpPr/>
          <p:nvPr/>
        </p:nvSpPr>
        <p:spPr>
          <a:xfrm>
            <a:off x="2336301" y="4041628"/>
            <a:ext cx="10704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3" name="Oval 92"/>
          <p:cNvSpPr/>
          <p:nvPr/>
        </p:nvSpPr>
        <p:spPr>
          <a:xfrm>
            <a:off x="1866016" y="40485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4" name="Oval 93"/>
          <p:cNvSpPr/>
          <p:nvPr/>
        </p:nvSpPr>
        <p:spPr>
          <a:xfrm>
            <a:off x="2081942" y="40498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5" name="Oval 94"/>
          <p:cNvSpPr/>
          <p:nvPr/>
        </p:nvSpPr>
        <p:spPr>
          <a:xfrm>
            <a:off x="2175240" y="406040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6" name="Oval 95"/>
          <p:cNvSpPr/>
          <p:nvPr/>
        </p:nvSpPr>
        <p:spPr>
          <a:xfrm>
            <a:off x="2165289" y="40621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7" name="Rounded Rectangle 96"/>
          <p:cNvSpPr/>
          <p:nvPr/>
        </p:nvSpPr>
        <p:spPr>
          <a:xfrm>
            <a:off x="2225589" y="4062120"/>
            <a:ext cx="15924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8" name="Oval 97"/>
          <p:cNvSpPr/>
          <p:nvPr/>
        </p:nvSpPr>
        <p:spPr>
          <a:xfrm>
            <a:off x="2365996" y="40650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9" name="Oval 98"/>
          <p:cNvSpPr/>
          <p:nvPr/>
        </p:nvSpPr>
        <p:spPr>
          <a:xfrm>
            <a:off x="2318492" y="407152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0" name="Oval 99"/>
          <p:cNvSpPr/>
          <p:nvPr/>
        </p:nvSpPr>
        <p:spPr>
          <a:xfrm>
            <a:off x="2545675" y="407693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1" name="Oval 100"/>
          <p:cNvSpPr/>
          <p:nvPr/>
        </p:nvSpPr>
        <p:spPr>
          <a:xfrm>
            <a:off x="1355620" y="40783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2" name="Rounded Rectangle 101"/>
          <p:cNvSpPr/>
          <p:nvPr/>
        </p:nvSpPr>
        <p:spPr>
          <a:xfrm>
            <a:off x="1415920" y="4078332"/>
            <a:ext cx="9130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3" name="Oval 102"/>
          <p:cNvSpPr/>
          <p:nvPr/>
        </p:nvSpPr>
        <p:spPr>
          <a:xfrm>
            <a:off x="1764247" y="40785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4" name="Oval 103"/>
          <p:cNvSpPr/>
          <p:nvPr/>
        </p:nvSpPr>
        <p:spPr>
          <a:xfrm>
            <a:off x="1722435" y="407970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5" name="Oval 104"/>
          <p:cNvSpPr/>
          <p:nvPr/>
        </p:nvSpPr>
        <p:spPr>
          <a:xfrm>
            <a:off x="2021203" y="407992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6" name="Oval 105"/>
          <p:cNvSpPr/>
          <p:nvPr/>
        </p:nvSpPr>
        <p:spPr>
          <a:xfrm>
            <a:off x="1615776" y="40828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7" name="Rounded Rectangle 106"/>
          <p:cNvSpPr/>
          <p:nvPr/>
        </p:nvSpPr>
        <p:spPr>
          <a:xfrm>
            <a:off x="1676076" y="4082821"/>
            <a:ext cx="157262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8" name="Oval 107"/>
          <p:cNvSpPr/>
          <p:nvPr/>
        </p:nvSpPr>
        <p:spPr>
          <a:xfrm>
            <a:off x="2054659" y="408517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9" name="Oval 108"/>
          <p:cNvSpPr/>
          <p:nvPr/>
        </p:nvSpPr>
        <p:spPr>
          <a:xfrm>
            <a:off x="1391304" y="408677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0" name="Oval 109"/>
          <p:cNvSpPr/>
          <p:nvPr/>
        </p:nvSpPr>
        <p:spPr>
          <a:xfrm>
            <a:off x="2150492" y="40878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1" name="Oval 110"/>
          <p:cNvSpPr/>
          <p:nvPr/>
        </p:nvSpPr>
        <p:spPr>
          <a:xfrm>
            <a:off x="2342302" y="408821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2" name="Rounded Rectangle 111"/>
          <p:cNvSpPr/>
          <p:nvPr/>
        </p:nvSpPr>
        <p:spPr>
          <a:xfrm>
            <a:off x="2402602" y="4088218"/>
            <a:ext cx="21654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3" name="Oval 112"/>
          <p:cNvSpPr/>
          <p:nvPr/>
        </p:nvSpPr>
        <p:spPr>
          <a:xfrm>
            <a:off x="1876813" y="40885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4" name="Oval 113"/>
          <p:cNvSpPr/>
          <p:nvPr/>
        </p:nvSpPr>
        <p:spPr>
          <a:xfrm>
            <a:off x="1624306" y="408953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5" name="Oval 114"/>
          <p:cNvSpPr/>
          <p:nvPr/>
        </p:nvSpPr>
        <p:spPr>
          <a:xfrm>
            <a:off x="2138041" y="409004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6" name="Oval 115"/>
          <p:cNvSpPr/>
          <p:nvPr/>
        </p:nvSpPr>
        <p:spPr>
          <a:xfrm>
            <a:off x="2101194" y="40917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7" name="Rounded Rectangle 116"/>
          <p:cNvSpPr/>
          <p:nvPr/>
        </p:nvSpPr>
        <p:spPr>
          <a:xfrm>
            <a:off x="2161494" y="4091711"/>
            <a:ext cx="20138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8" name="Oval 117"/>
          <p:cNvSpPr/>
          <p:nvPr/>
        </p:nvSpPr>
        <p:spPr>
          <a:xfrm>
            <a:off x="2247349" y="4092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3480750" y="2515339"/>
            <a:ext cx="102375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72500" y="2515339"/>
            <a:ext cx="102375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80750" y="2947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63000" y="3145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972500" y="2947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80750" y="3541338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63000" y="3739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972500" y="3541338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80750" y="4135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63000" y="4333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4972500" y="4135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673313" y="4770998"/>
            <a:ext cx="2322937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配信内容・順番・タイミングを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7166249" y="2623339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058249" y="2515339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5" name="TextBox 134"/>
          <p:cNvSpPr txBox="1"/>
          <p:nvPr/>
        </p:nvSpPr>
        <p:spPr>
          <a:xfrm>
            <a:off x="6317999" y="2520524"/>
            <a:ext cx="73125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37" name="Oval 136"/>
          <p:cNvSpPr/>
          <p:nvPr/>
        </p:nvSpPr>
        <p:spPr>
          <a:xfrm>
            <a:off x="7058249" y="2923167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8" name="TextBox 137"/>
          <p:cNvSpPr txBox="1"/>
          <p:nvPr/>
        </p:nvSpPr>
        <p:spPr>
          <a:xfrm>
            <a:off x="6317999" y="2936816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70999" y="2868646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140" name="Oval 139"/>
          <p:cNvSpPr/>
          <p:nvPr/>
        </p:nvSpPr>
        <p:spPr>
          <a:xfrm>
            <a:off x="7058249" y="3561721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1" name="TextBox 140"/>
          <p:cNvSpPr txBox="1"/>
          <p:nvPr/>
        </p:nvSpPr>
        <p:spPr>
          <a:xfrm>
            <a:off x="6317999" y="3575371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70999" y="350720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058249" y="425053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4" name="TextBox 143"/>
          <p:cNvSpPr txBox="1"/>
          <p:nvPr/>
        </p:nvSpPr>
        <p:spPr>
          <a:xfrm>
            <a:off x="6317999" y="4264188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70999" y="4196018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契約・利用</a:t>
            </a: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オファ</a:t>
            </a:r>
            <a:r>
              <a:rPr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3500" y="5841474"/>
            <a:ext cx="8628750" cy="34105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  <a:endParaRPr sz="2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0" name="二等辺三角形 149">
            <a:extLst>
              <a:ext uri="{FF2B5EF4-FFF2-40B4-BE49-F238E27FC236}">
                <a16:creationId xmlns:a16="http://schemas.microsoft.com/office/drawing/2014/main" id="{45749858-75C5-B795-5AA4-35BD51777768}"/>
              </a:ext>
            </a:extLst>
          </p:cNvPr>
          <p:cNvSpPr/>
          <p:nvPr/>
        </p:nvSpPr>
        <p:spPr>
          <a:xfrm rot="10800000">
            <a:off x="7082247" y="5077100"/>
            <a:ext cx="171834" cy="290396"/>
          </a:xfrm>
          <a:prstGeom prst="triangle">
            <a:avLst/>
          </a:prstGeom>
          <a:solidFill>
            <a:srgbClr val="00B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152" name="Rounded Rectangle 144">
            <a:extLst>
              <a:ext uri="{FF2B5EF4-FFF2-40B4-BE49-F238E27FC236}">
                <a16:creationId xmlns:a16="http://schemas.microsoft.com/office/drawing/2014/main" id="{9271364C-3269-6287-1367-C96CC9B7B278}"/>
              </a:ext>
            </a:extLst>
          </p:cNvPr>
          <p:cNvSpPr/>
          <p:nvPr/>
        </p:nvSpPr>
        <p:spPr>
          <a:xfrm>
            <a:off x="7370999" y="502575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以降もナーチャリング対象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131">
            <a:extLst>
              <a:ext uri="{FF2B5EF4-FFF2-40B4-BE49-F238E27FC236}">
                <a16:creationId xmlns:a16="http://schemas.microsoft.com/office/drawing/2014/main" id="{23F6D43A-CEDB-036F-68BB-B6F0EF86E65C}"/>
              </a:ext>
            </a:extLst>
          </p:cNvPr>
          <p:cNvSpPr txBox="1"/>
          <p:nvPr/>
        </p:nvSpPr>
        <p:spPr>
          <a:xfrm>
            <a:off x="643500" y="4768226"/>
            <a:ext cx="2486250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検討後に何を検索しているか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ユーザーの不安・比較軸</a:t>
            </a:r>
            <a:endParaRPr lang="en-US" altLang="ja-JP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・関心テーマを把握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2112258"/>
            <a:ext cx="1985344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65219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96812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228406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911185"/>
            <a:ext cx="1941469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  <a:endParaRPr sz="10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7185"/>
            <a:ext cx="2925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5043465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194665"/>
            <a:ext cx="48502" cy="179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45875" y="5175187"/>
            <a:ext cx="3772348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2742188" y="5529465"/>
            <a:ext cx="0" cy="341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4000" y="5194665"/>
            <a:ext cx="58704" cy="179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016375" y="5175187"/>
            <a:ext cx="4565854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88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  <a:r>
              <a:rPr lang="ja-JP" altLang="en-US" sz="10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126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9563" y="5545867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4797000" y="5151465"/>
            <a:ext cx="0" cy="791997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0813" y="6016994"/>
            <a:ext cx="8628750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